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ags/tag2.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4195" r:id="rId4"/>
  </p:sldMasterIdLst>
  <p:notesMasterIdLst>
    <p:notesMasterId r:id="rId155"/>
  </p:notesMasterIdLst>
  <p:handoutMasterIdLst>
    <p:handoutMasterId r:id="rId156"/>
  </p:handoutMasterIdLst>
  <p:sldIdLst>
    <p:sldId id="2147483309" r:id="rId5"/>
    <p:sldId id="323" r:id="rId6"/>
    <p:sldId id="316" r:id="rId7"/>
    <p:sldId id="2147483316" r:id="rId8"/>
    <p:sldId id="2147483311" r:id="rId9"/>
    <p:sldId id="2147483312" r:id="rId10"/>
    <p:sldId id="256" r:id="rId11"/>
    <p:sldId id="258" r:id="rId12"/>
    <p:sldId id="2147483313" r:id="rId13"/>
    <p:sldId id="259" r:id="rId14"/>
    <p:sldId id="260" r:id="rId15"/>
    <p:sldId id="261" r:id="rId16"/>
    <p:sldId id="2147483314" r:id="rId17"/>
    <p:sldId id="257" r:id="rId18"/>
    <p:sldId id="262" r:id="rId19"/>
    <p:sldId id="2147483315" r:id="rId20"/>
    <p:sldId id="263" r:id="rId21"/>
    <p:sldId id="264" r:id="rId22"/>
    <p:sldId id="265" r:id="rId23"/>
    <p:sldId id="266" r:id="rId24"/>
    <p:sldId id="294" r:id="rId25"/>
    <p:sldId id="271" r:id="rId26"/>
    <p:sldId id="320" r:id="rId27"/>
    <p:sldId id="2147482999" r:id="rId28"/>
    <p:sldId id="2147482785" r:id="rId29"/>
    <p:sldId id="2147482907" r:id="rId30"/>
    <p:sldId id="2147470404" r:id="rId31"/>
    <p:sldId id="2147308440" r:id="rId32"/>
    <p:sldId id="2147482910" r:id="rId33"/>
    <p:sldId id="2147483557" r:id="rId34"/>
    <p:sldId id="2147482774" r:id="rId35"/>
    <p:sldId id="2147483033" r:id="rId36"/>
    <p:sldId id="2147482898" r:id="rId37"/>
    <p:sldId id="307" r:id="rId38"/>
    <p:sldId id="2147483254" r:id="rId39"/>
    <p:sldId id="2147483255" r:id="rId40"/>
    <p:sldId id="2147483256" r:id="rId41"/>
    <p:sldId id="2147483633" r:id="rId42"/>
    <p:sldId id="2147483634" r:id="rId43"/>
    <p:sldId id="2147483635" r:id="rId44"/>
    <p:sldId id="2147483636" r:id="rId45"/>
    <p:sldId id="2147483637" r:id="rId46"/>
    <p:sldId id="2147483646" r:id="rId47"/>
    <p:sldId id="2147483647" r:id="rId48"/>
    <p:sldId id="2147483645" r:id="rId49"/>
    <p:sldId id="308" r:id="rId50"/>
    <p:sldId id="309" r:id="rId51"/>
    <p:sldId id="310" r:id="rId52"/>
    <p:sldId id="324" r:id="rId53"/>
    <p:sldId id="325" r:id="rId54"/>
    <p:sldId id="326" r:id="rId55"/>
    <p:sldId id="327" r:id="rId56"/>
    <p:sldId id="328" r:id="rId57"/>
    <p:sldId id="395" r:id="rId58"/>
    <p:sldId id="330" r:id="rId59"/>
    <p:sldId id="331" r:id="rId60"/>
    <p:sldId id="332" r:id="rId61"/>
    <p:sldId id="333" r:id="rId62"/>
    <p:sldId id="334" r:id="rId63"/>
    <p:sldId id="335" r:id="rId64"/>
    <p:sldId id="336" r:id="rId65"/>
    <p:sldId id="337" r:id="rId66"/>
    <p:sldId id="338" r:id="rId67"/>
    <p:sldId id="339" r:id="rId68"/>
    <p:sldId id="340" r:id="rId69"/>
    <p:sldId id="341" r:id="rId70"/>
    <p:sldId id="342" r:id="rId71"/>
    <p:sldId id="343" r:id="rId72"/>
    <p:sldId id="344" r:id="rId73"/>
    <p:sldId id="345" r:id="rId74"/>
    <p:sldId id="346" r:id="rId75"/>
    <p:sldId id="347" r:id="rId76"/>
    <p:sldId id="348" r:id="rId77"/>
    <p:sldId id="277" r:id="rId78"/>
    <p:sldId id="425" r:id="rId79"/>
    <p:sldId id="278" r:id="rId80"/>
    <p:sldId id="415" r:id="rId81"/>
    <p:sldId id="426" r:id="rId82"/>
    <p:sldId id="349" r:id="rId83"/>
    <p:sldId id="267" r:id="rId84"/>
    <p:sldId id="268" r:id="rId85"/>
    <p:sldId id="282" r:id="rId86"/>
    <p:sldId id="281" r:id="rId87"/>
    <p:sldId id="2147483392" r:id="rId88"/>
    <p:sldId id="272" r:id="rId89"/>
    <p:sldId id="2147483391" r:id="rId90"/>
    <p:sldId id="269" r:id="rId91"/>
    <p:sldId id="293" r:id="rId92"/>
    <p:sldId id="292" r:id="rId93"/>
    <p:sldId id="350" r:id="rId94"/>
    <p:sldId id="351" r:id="rId95"/>
    <p:sldId id="352" r:id="rId96"/>
    <p:sldId id="353" r:id="rId97"/>
    <p:sldId id="354" r:id="rId98"/>
    <p:sldId id="355" r:id="rId99"/>
    <p:sldId id="356" r:id="rId100"/>
    <p:sldId id="357" r:id="rId101"/>
    <p:sldId id="358" r:id="rId102"/>
    <p:sldId id="359" r:id="rId103"/>
    <p:sldId id="360" r:id="rId104"/>
    <p:sldId id="361" r:id="rId105"/>
    <p:sldId id="362" r:id="rId106"/>
    <p:sldId id="363" r:id="rId107"/>
    <p:sldId id="364" r:id="rId108"/>
    <p:sldId id="365" r:id="rId109"/>
    <p:sldId id="2147483270" r:id="rId110"/>
    <p:sldId id="319" r:id="rId111"/>
    <p:sldId id="270" r:id="rId112"/>
    <p:sldId id="273" r:id="rId113"/>
    <p:sldId id="274" r:id="rId114"/>
    <p:sldId id="317" r:id="rId115"/>
    <p:sldId id="2147483644" r:id="rId116"/>
    <p:sldId id="275" r:id="rId117"/>
    <p:sldId id="276" r:id="rId118"/>
    <p:sldId id="2147483604" r:id="rId119"/>
    <p:sldId id="2147483591" r:id="rId120"/>
    <p:sldId id="279" r:id="rId121"/>
    <p:sldId id="280" r:id="rId122"/>
    <p:sldId id="2147483598" r:id="rId123"/>
    <p:sldId id="283" r:id="rId124"/>
    <p:sldId id="284" r:id="rId125"/>
    <p:sldId id="285" r:id="rId126"/>
    <p:sldId id="286" r:id="rId127"/>
    <p:sldId id="287" r:id="rId128"/>
    <p:sldId id="288" r:id="rId129"/>
    <p:sldId id="289" r:id="rId130"/>
    <p:sldId id="290" r:id="rId131"/>
    <p:sldId id="291" r:id="rId132"/>
    <p:sldId id="295" r:id="rId133"/>
    <p:sldId id="296" r:id="rId134"/>
    <p:sldId id="297" r:id="rId135"/>
    <p:sldId id="298" r:id="rId136"/>
    <p:sldId id="390" r:id="rId137"/>
    <p:sldId id="299" r:id="rId138"/>
    <p:sldId id="300" r:id="rId139"/>
    <p:sldId id="301" r:id="rId140"/>
    <p:sldId id="302" r:id="rId141"/>
    <p:sldId id="303" r:id="rId142"/>
    <p:sldId id="2147483640" r:id="rId143"/>
    <p:sldId id="2147483579" r:id="rId144"/>
    <p:sldId id="2147483638" r:id="rId145"/>
    <p:sldId id="304" r:id="rId146"/>
    <p:sldId id="305" r:id="rId147"/>
    <p:sldId id="306" r:id="rId148"/>
    <p:sldId id="311" r:id="rId149"/>
    <p:sldId id="312" r:id="rId150"/>
    <p:sldId id="313" r:id="rId151"/>
    <p:sldId id="314" r:id="rId152"/>
    <p:sldId id="315" r:id="rId153"/>
    <p:sldId id="403" r:id="rId154"/>
  </p:sldIdLst>
  <p:sldSz cx="12188825" cy="6858000"/>
  <p:notesSz cx="6858000" cy="9144000"/>
  <p:custDataLst>
    <p:tags r:id="rId157"/>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28FA8F22-B9AF-4E0B-AE4A-0D9C512118D8}">
          <p14:sldIdLst>
            <p14:sldId id="2147483309"/>
            <p14:sldId id="323"/>
            <p14:sldId id="316"/>
          </p14:sldIdLst>
        </p14:section>
        <p14:section name="1.1" id="{15D0C516-A15C-4104-AA94-221BB9F4EC8C}">
          <p14:sldIdLst>
            <p14:sldId id="2147483316"/>
            <p14:sldId id="2147483311"/>
            <p14:sldId id="2147483312"/>
            <p14:sldId id="256"/>
            <p14:sldId id="258"/>
            <p14:sldId id="2147483313"/>
            <p14:sldId id="259"/>
            <p14:sldId id="260"/>
            <p14:sldId id="261"/>
            <p14:sldId id="2147483314"/>
            <p14:sldId id="257"/>
            <p14:sldId id="262"/>
            <p14:sldId id="2147483315"/>
            <p14:sldId id="263"/>
            <p14:sldId id="264"/>
            <p14:sldId id="265"/>
            <p14:sldId id="266"/>
          </p14:sldIdLst>
        </p14:section>
        <p14:section name="1.2" id="{90188AAF-72CF-4C13-A7F4-F128DC3324F8}">
          <p14:sldIdLst>
            <p14:sldId id="294"/>
            <p14:sldId id="271"/>
            <p14:sldId id="320"/>
            <p14:sldId id="2147482999"/>
            <p14:sldId id="2147482785"/>
            <p14:sldId id="2147482907"/>
            <p14:sldId id="2147470404"/>
            <p14:sldId id="2147308440"/>
            <p14:sldId id="2147482910"/>
            <p14:sldId id="2147483557"/>
            <p14:sldId id="2147482774"/>
            <p14:sldId id="2147483033"/>
            <p14:sldId id="2147482898"/>
            <p14:sldId id="307"/>
            <p14:sldId id="2147483254"/>
            <p14:sldId id="2147483255"/>
            <p14:sldId id="2147483256"/>
            <p14:sldId id="2147483633"/>
            <p14:sldId id="2147483634"/>
            <p14:sldId id="2147483635"/>
            <p14:sldId id="2147483636"/>
            <p14:sldId id="2147483637"/>
            <p14:sldId id="2147483646"/>
            <p14:sldId id="2147483647"/>
            <p14:sldId id="2147483645"/>
            <p14:sldId id="308"/>
            <p14:sldId id="309"/>
            <p14:sldId id="310"/>
            <p14:sldId id="324"/>
            <p14:sldId id="325"/>
            <p14:sldId id="326"/>
            <p14:sldId id="327"/>
            <p14:sldId id="328"/>
            <p14:sldId id="395"/>
            <p14:sldId id="330"/>
            <p14:sldId id="331"/>
            <p14:sldId id="332"/>
            <p14:sldId id="333"/>
            <p14:sldId id="334"/>
            <p14:sldId id="335"/>
            <p14:sldId id="336"/>
            <p14:sldId id="337"/>
            <p14:sldId id="338"/>
            <p14:sldId id="339"/>
            <p14:sldId id="340"/>
            <p14:sldId id="341"/>
            <p14:sldId id="342"/>
            <p14:sldId id="343"/>
            <p14:sldId id="344"/>
            <p14:sldId id="345"/>
            <p14:sldId id="346"/>
            <p14:sldId id="347"/>
            <p14:sldId id="348"/>
            <p14:sldId id="277"/>
            <p14:sldId id="425"/>
            <p14:sldId id="278"/>
            <p14:sldId id="415"/>
            <p14:sldId id="426"/>
          </p14:sldIdLst>
        </p14:section>
        <p14:section name="1.3" id="{89FC09EB-D831-4B1C-83E7-DD7ECFE63799}">
          <p14:sldIdLst>
            <p14:sldId id="349"/>
            <p14:sldId id="267"/>
            <p14:sldId id="268"/>
            <p14:sldId id="282"/>
            <p14:sldId id="281"/>
            <p14:sldId id="2147483392"/>
            <p14:sldId id="272"/>
            <p14:sldId id="2147483391"/>
            <p14:sldId id="269"/>
            <p14:sldId id="293"/>
            <p14:sldId id="292"/>
          </p14:sldIdLst>
        </p14:section>
        <p14:section name="2.1" id="{D15869B9-EF6A-438B-9205-B5F02FD94B63}">
          <p14:sldIdLst>
            <p14:sldId id="350"/>
            <p14:sldId id="351"/>
            <p14:sldId id="352"/>
            <p14:sldId id="353"/>
            <p14:sldId id="354"/>
            <p14:sldId id="355"/>
            <p14:sldId id="356"/>
            <p14:sldId id="357"/>
            <p14:sldId id="358"/>
            <p14:sldId id="359"/>
            <p14:sldId id="360"/>
            <p14:sldId id="361"/>
            <p14:sldId id="362"/>
            <p14:sldId id="363"/>
            <p14:sldId id="364"/>
            <p14:sldId id="365"/>
            <p14:sldId id="2147483270"/>
            <p14:sldId id="319"/>
          </p14:sldIdLst>
        </p14:section>
        <p14:section name="2.2" id="{F20F0214-4510-4004-9780-C2EEBEDF3993}">
          <p14:sldIdLst>
            <p14:sldId id="270"/>
            <p14:sldId id="273"/>
            <p14:sldId id="274"/>
            <p14:sldId id="317"/>
            <p14:sldId id="2147483644"/>
            <p14:sldId id="275"/>
            <p14:sldId id="276"/>
            <p14:sldId id="2147483604"/>
            <p14:sldId id="2147483591"/>
            <p14:sldId id="279"/>
            <p14:sldId id="280"/>
            <p14:sldId id="2147483598"/>
          </p14:sldIdLst>
        </p14:section>
        <p14:section name="2.3" id="{49C97536-5683-4E3C-876E-5DB185A076AB}">
          <p14:sldIdLst>
            <p14:sldId id="283"/>
            <p14:sldId id="284"/>
            <p14:sldId id="285"/>
            <p14:sldId id="286"/>
            <p14:sldId id="287"/>
            <p14:sldId id="288"/>
            <p14:sldId id="289"/>
            <p14:sldId id="290"/>
            <p14:sldId id="291"/>
            <p14:sldId id="295"/>
            <p14:sldId id="296"/>
            <p14:sldId id="297"/>
            <p14:sldId id="298"/>
          </p14:sldIdLst>
        </p14:section>
        <p14:section name="3.1" id="{D7752DA4-EFE8-4CE2-94B0-916A2F65FEAD}">
          <p14:sldIdLst>
            <p14:sldId id="390"/>
            <p14:sldId id="299"/>
            <p14:sldId id="300"/>
            <p14:sldId id="301"/>
            <p14:sldId id="302"/>
            <p14:sldId id="303"/>
            <p14:sldId id="2147483640"/>
            <p14:sldId id="2147483579"/>
            <p14:sldId id="2147483638"/>
          </p14:sldIdLst>
        </p14:section>
        <p14:section name="3.3" id="{9996B701-EBD4-4E37-92D6-5ABF664751C1}">
          <p14:sldIdLst>
            <p14:sldId id="304"/>
            <p14:sldId id="305"/>
            <p14:sldId id="306"/>
            <p14:sldId id="311"/>
            <p14:sldId id="312"/>
            <p14:sldId id="313"/>
            <p14:sldId id="314"/>
            <p14:sldId id="315"/>
          </p14:sldIdLst>
        </p14:section>
        <p14:section name="END" id="{3660D39E-A9FB-4439-AE99-A558E7CAFD33}">
          <p14:sldIdLst>
            <p14:sldId id="403"/>
          </p14:sldIdLst>
        </p14:section>
        <p14:section name="Default Section" id="{15A4198F-8653-4EB4-9BF7-C61FC51E9A81}">
          <p14:sldIdLst/>
        </p14:section>
      </p14:sectionLst>
    </p:ext>
    <p:ext uri="{EFAFB233-063F-42B5-8137-9DF3F51BA10A}">
      <p15:sldGuideLst xmlns:p15="http://schemas.microsoft.com/office/powerpoint/2012/main"/>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2" name="Author" initials="A" lastIdx="43" clrIdx="1"/>
  <p:cmAuthor id="3" name="Wendy Ouellette" initials="WO" lastIdx="1" clrIdx="2">
    <p:extLst>
      <p:ext uri="{19B8F6BF-5375-455C-9EA6-DF929625EA0E}">
        <p15:presenceInfo xmlns:p15="http://schemas.microsoft.com/office/powerpoint/2012/main" userId="S::wouellette@vmware.com::1423423b-46e9-448d-b172-f148f3fbf4f8"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7999B"/>
    <a:srgbClr val="99999B"/>
    <a:srgbClr val="CC092F"/>
    <a:srgbClr val="E2E3E4"/>
    <a:srgbClr val="E68C28"/>
    <a:srgbClr val="FFFFFF"/>
    <a:srgbClr val="53565A"/>
    <a:srgbClr val="37FF9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E25E649-3F16-4E02-A733-19D2CDBF48F0}">
  <a:tblStyle styleId="{EB9631B5-78F2-41C9-869B-9F39066F8104}" styleName="Medium Style 3 - Accent 4">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4"/>
          </a:solidFill>
        </a:fill>
      </a:tcStyle>
    </a:lastCol>
    <a:firstCol>
      <a:tcTxStyle b="on">
        <a:fontRef idx="minor">
          <a:scrgbClr r="0" g="0" b="0"/>
        </a:fontRef>
        <a:schemeClr val="lt1"/>
      </a:tcTxStyle>
      <a:tcStyle>
        <a:tcBdr/>
        <a:fill>
          <a:solidFill>
            <a:schemeClr val="accent4"/>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D113A9D2-9D6B-4929-AA2D-F23B5EE8CBE7}" styleName="Themed Style 2 - Accent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Themed Style 2 - Accent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125E5076-3810-47DD-B79F-674D7AD40C01}" styleName="Dark Style 1 - Accen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7" autoAdjust="0"/>
    <p:restoredTop sz="80132" autoAdjust="0"/>
  </p:normalViewPr>
  <p:slideViewPr>
    <p:cSldViewPr snapToGrid="0">
      <p:cViewPr varScale="1">
        <p:scale>
          <a:sx n="77" d="100"/>
          <a:sy n="77" d="100"/>
        </p:scale>
        <p:origin x="917" y="50"/>
      </p:cViewPr>
      <p:guideLst/>
    </p:cSldViewPr>
  </p:slideViewPr>
  <p:notesTextViewPr>
    <p:cViewPr>
      <p:scale>
        <a:sx n="3" d="2"/>
        <a:sy n="3" d="2"/>
      </p:scale>
      <p:origin x="0" y="0"/>
    </p:cViewPr>
  </p:notesTextViewPr>
  <p:sorterViewPr>
    <p:cViewPr varScale="1">
      <p:scale>
        <a:sx n="100" d="100"/>
        <a:sy n="100" d="100"/>
      </p:scale>
      <p:origin x="0" y="-10340"/>
    </p:cViewPr>
  </p:sorterViewPr>
  <p:notesViewPr>
    <p:cSldViewPr snapToGrid="0">
      <p:cViewPr varScale="1">
        <p:scale>
          <a:sx n="119" d="100"/>
          <a:sy n="119" d="100"/>
        </p:scale>
        <p:origin x="4136" y="8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presProps" Target="presProps.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viewProps" Target="viewProps.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slide" Target="slides/slide104.xml"/><Relationship Id="rId124" Type="http://schemas.openxmlformats.org/officeDocument/2006/relationships/slide" Target="slides/slide120.xml"/><Relationship Id="rId129" Type="http://schemas.openxmlformats.org/officeDocument/2006/relationships/slide" Target="slides/slide125.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40" Type="http://schemas.openxmlformats.org/officeDocument/2006/relationships/slide" Target="slides/slide136.xml"/><Relationship Id="rId145" Type="http://schemas.openxmlformats.org/officeDocument/2006/relationships/slide" Target="slides/slide141.xml"/><Relationship Id="rId161"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23" Type="http://schemas.openxmlformats.org/officeDocument/2006/relationships/slide" Target="slides/slide19.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119" Type="http://schemas.openxmlformats.org/officeDocument/2006/relationships/slide" Target="slides/slide115.xml"/><Relationship Id="rId44" Type="http://schemas.openxmlformats.org/officeDocument/2006/relationships/slide" Target="slides/slide40.xml"/><Relationship Id="rId60" Type="http://schemas.openxmlformats.org/officeDocument/2006/relationships/slide" Target="slides/slide56.xml"/><Relationship Id="rId65" Type="http://schemas.openxmlformats.org/officeDocument/2006/relationships/slide" Target="slides/slide61.xml"/><Relationship Id="rId81" Type="http://schemas.openxmlformats.org/officeDocument/2006/relationships/slide" Target="slides/slide77.xml"/><Relationship Id="rId86" Type="http://schemas.openxmlformats.org/officeDocument/2006/relationships/slide" Target="slides/slide82.xml"/><Relationship Id="rId130" Type="http://schemas.openxmlformats.org/officeDocument/2006/relationships/slide" Target="slides/slide126.xml"/><Relationship Id="rId135" Type="http://schemas.openxmlformats.org/officeDocument/2006/relationships/slide" Target="slides/slide131.xml"/><Relationship Id="rId151" Type="http://schemas.openxmlformats.org/officeDocument/2006/relationships/slide" Target="slides/slide147.xml"/><Relationship Id="rId156" Type="http://schemas.openxmlformats.org/officeDocument/2006/relationships/handoutMaster" Target="handoutMasters/handoutMaster1.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slide" Target="slides/slide116.xml"/><Relationship Id="rId125" Type="http://schemas.openxmlformats.org/officeDocument/2006/relationships/slide" Target="slides/slide121.xml"/><Relationship Id="rId141" Type="http://schemas.openxmlformats.org/officeDocument/2006/relationships/slide" Target="slides/slide137.xml"/><Relationship Id="rId146" Type="http://schemas.openxmlformats.org/officeDocument/2006/relationships/slide" Target="slides/slide142.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162" Type="http://schemas.openxmlformats.org/officeDocument/2006/relationships/tableStyles" Target="tableStyles.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 Id="rId131" Type="http://schemas.openxmlformats.org/officeDocument/2006/relationships/slide" Target="slides/slide127.xml"/><Relationship Id="rId136" Type="http://schemas.openxmlformats.org/officeDocument/2006/relationships/slide" Target="slides/slide132.xml"/><Relationship Id="rId157" Type="http://schemas.openxmlformats.org/officeDocument/2006/relationships/tags" Target="tags/tag1.xml"/><Relationship Id="rId61" Type="http://schemas.openxmlformats.org/officeDocument/2006/relationships/slide" Target="slides/slide57.xml"/><Relationship Id="rId82" Type="http://schemas.openxmlformats.org/officeDocument/2006/relationships/slide" Target="slides/slide78.xml"/><Relationship Id="rId152" Type="http://schemas.openxmlformats.org/officeDocument/2006/relationships/slide" Target="slides/slide14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commentAuthors" Target="commentAuthors.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48" Type="http://schemas.openxmlformats.org/officeDocument/2006/relationships/slide" Target="slides/slide144.xml"/><Relationship Id="rId4" Type="http://schemas.openxmlformats.org/officeDocument/2006/relationships/slideMaster" Target="slideMasters/slideMaster1.xml"/><Relationship Id="rId9" Type="http://schemas.openxmlformats.org/officeDocument/2006/relationships/slide" Target="slides/slide5.xml"/><Relationship Id="rId26" Type="http://schemas.openxmlformats.org/officeDocument/2006/relationships/slide" Target="slides/slide22.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6" Type="http://schemas.openxmlformats.org/officeDocument/2006/relationships/slide" Target="slides/slide12.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notesMaster" Target="notesMasters/notes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FB004553-04C5-4BB3-AD4E-8B2EF3CDDAF9}" type="datetimeFigureOut">
              <a:rPr lang="en-US" smtClean="0"/>
              <a:t>5/29/2026</a:t>
            </a:fld>
            <a:endParaRPr lang="en-US" dirty="0"/>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2E6A881F-0910-47D3-BD01-4F68834EC353}" type="slidenum">
              <a:rPr lang="en-US" smtClean="0"/>
              <a:t>‹#›</a:t>
            </a:fld>
            <a:endParaRPr lang="en-US" dirty="0"/>
          </a:p>
        </p:txBody>
      </p:sp>
    </p:spTree>
    <p:extLst>
      <p:ext uri="{BB962C8B-B14F-4D97-AF65-F5344CB8AC3E}">
        <p14:creationId xmlns:p14="http://schemas.microsoft.com/office/powerpoint/2010/main" val="32686676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mn-l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mn-lt"/>
              </a:defRPr>
            </a:lvl1pPr>
          </a:lstStyle>
          <a:p>
            <a:fld id="{3CB6F0DB-E055-41D0-9102-627A646E4242}" type="datetimeFigureOut">
              <a:rPr lang="en-US" smtClean="0"/>
              <a:pPr/>
              <a:t>5/29/2026</a:t>
            </a:fld>
            <a:endParaRPr lang="en-US" dirty="0"/>
          </a:p>
        </p:txBody>
      </p:sp>
      <p:sp>
        <p:nvSpPr>
          <p:cNvPr id="4" name="Slide Image Placeholder 3"/>
          <p:cNvSpPr>
            <a:spLocks noGrp="1" noRot="1" noChangeAspect="1"/>
          </p:cNvSpPr>
          <p:nvPr>
            <p:ph type="sldImg" idx="2"/>
          </p:nvPr>
        </p:nvSpPr>
        <p:spPr>
          <a:xfrm>
            <a:off x="788988" y="609600"/>
            <a:ext cx="5280025" cy="29718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457200" y="3810000"/>
            <a:ext cx="5943600" cy="4876800"/>
          </a:xfrm>
          <a:prstGeom prst="rect">
            <a:avLst/>
          </a:prstGeom>
        </p:spPr>
        <p:txBody>
          <a:bodyPr vert="horz" lIns="0" tIns="0" rIns="0" bIns="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mn-l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mn-lt"/>
              </a:defRPr>
            </a:lvl1pPr>
          </a:lstStyle>
          <a:p>
            <a:fld id="{9F4FBC3A-A12C-40F9-BB8D-BC30C7901396}" type="slidenum">
              <a:rPr lang="en-US" smtClean="0"/>
              <a:pPr/>
              <a:t>‹#›</a:t>
            </a:fld>
            <a:endParaRPr lang="en-US" dirty="0"/>
          </a:p>
        </p:txBody>
      </p:sp>
    </p:spTree>
    <p:extLst>
      <p:ext uri="{BB962C8B-B14F-4D97-AF65-F5344CB8AC3E}">
        <p14:creationId xmlns:p14="http://schemas.microsoft.com/office/powerpoint/2010/main" val="201290979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s://docs.vmware.com/en/VMware-Cloud-Foundation/index.html" TargetMode="External"/><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3" Type="http://schemas.openxmlformats.org/officeDocument/2006/relationships/hyperlink" Target="https://docs.vmware.com/en/VMware-Cloud-Foundation/index.html" TargetMode="External"/><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docs.vmware.com/en/VMware-Cloud-Foundation/index.html" TargetMode="External"/><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techdocs.broadcom.com/us/en/vmware-cis/vcf.html" TargetMode="External"/><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3" Type="http://schemas.openxmlformats.org/officeDocument/2006/relationships/hyperlink" Target="https://techdocs.broadcom.com/us/en/vmware-cis/vcf.html" TargetMode="External"/><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3" Type="http://schemas.openxmlformats.org/officeDocument/2006/relationships/hyperlink" Target="https://docs.vmware.com/en/VMware-Cloud-Foundation/index.html" TargetMode="External"/><Relationship Id="rId2" Type="http://schemas.openxmlformats.org/officeDocument/2006/relationships/slide" Target="../slides/slide22.xml"/><Relationship Id="rId1" Type="http://schemas.openxmlformats.org/officeDocument/2006/relationships/notesMaster" Target="../notesMasters/notesMaster1.xml"/><Relationship Id="rId5" Type="http://schemas.openxmlformats.org/officeDocument/2006/relationships/hyperlink" Target="https://docs.vmware.com/en/VMware-vSphere/index.html" TargetMode="External"/><Relationship Id="rId4" Type="http://schemas.openxmlformats.org/officeDocument/2006/relationships/hyperlink" Target="https://www.vmware.com/resources/compatibility/search.php" TargetMode="External"/></Relationships>
</file>

<file path=ppt/notesSlides/_rels/notesSlide23.xml.rels><?xml version="1.0" encoding="UTF-8" standalone="yes"?>
<Relationships xmlns="http://schemas.openxmlformats.org/package/2006/relationships"><Relationship Id="rId3" Type="http://schemas.openxmlformats.org/officeDocument/2006/relationships/hyperlink" Target="https://www.vmware.com/resources/compatibility/search.php" TargetMode="External"/><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3" Type="http://schemas.openxmlformats.org/officeDocument/2006/relationships/hyperlink" Target="https://docs.vmware.com/en/VMware-HCX/index.html" TargetMode="External"/><Relationship Id="rId2" Type="http://schemas.openxmlformats.org/officeDocument/2006/relationships/slide" Target="../slides/slide53.xml"/><Relationship Id="rId1" Type="http://schemas.openxmlformats.org/officeDocument/2006/relationships/notesMaster" Target="../notesMasters/notesMaster1.xml"/><Relationship Id="rId4" Type="http://schemas.openxmlformats.org/officeDocument/2006/relationships/hyperlink" Target="https://configmax.esp.vmware.com/guest?vmwareproduct=VMware%20HCX&amp;release=VMware%20HCX%204.9&amp;categories=41-0" TargetMode="Externa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3" Type="http://schemas.openxmlformats.org/officeDocument/2006/relationships/hyperlink" Target="https://techdocs.broadcom.com/us/en/vmware-cis/vcf.html" TargetMode="External"/><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3" Type="http://schemas.openxmlformats.org/officeDocument/2006/relationships/hyperlink" Target="https://techdocs.broadcom.com/us/en/vmware-cis/vcf/vcf-9-0-and-later/9-1/fleet-management.html" TargetMode="External"/><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3" Type="http://schemas.openxmlformats.org/officeDocument/2006/relationships/hyperlink" Target="https://techdocs.broadcom.com/us/en/vmware-cis/vcf/vcf-9-0-and-later/9-1/fleet-management.html" TargetMode="External"/><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3" Type="http://schemas.openxmlformats.org/officeDocument/2006/relationships/hyperlink" Target="https://techdocs.broadcom.com/us/en/vmware-cis/vcf.html" TargetMode="External"/><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3" Type="http://schemas.openxmlformats.org/officeDocument/2006/relationships/hyperlink" Target="https://techdocs.broadcom.com/us/en/vmware-cis/vcf/vcf-9-0-and-later/9-1/fleet-management.html" TargetMode="External"/><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Key Message: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Opening slide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Talk Track: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Welcome! My name is Kyle Gleed and I am part of the </a:t>
            </a:r>
            <a:r>
              <a:rPr lang="en-US" b="1" dirty="0"/>
              <a:t>VMware Cloud Foundation Technical Marketing team</a:t>
            </a:r>
            <a:r>
              <a:rPr lang="en-US" dirty="0"/>
              <a:t> at Broadcom. In this presentation, my </a:t>
            </a:r>
            <a:r>
              <a:rPr lang="en-US" b="1" dirty="0"/>
              <a:t>colleagues and I</a:t>
            </a:r>
            <a:r>
              <a:rPr lang="en-US" dirty="0"/>
              <a:t> will provide an overview of VMware Cloud Foundation.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Notes: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Resources: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To gain a greater understanding of VCF features, key concepts and how they are used please refer to the VCF Master Technical (Deep Div)e presentation.</a:t>
            </a:r>
          </a:p>
          <a:p>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VMware Cloud Foundation 9.0 Release Notes: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u="sng" kern="0" dirty="0">
                <a:solidFill>
                  <a:srgbClr val="0563C1"/>
                </a:solidFill>
                <a:effectLst/>
                <a:latin typeface="Arial" panose="020B0604020202020204" pitchFamily="34" charset="0"/>
                <a:ea typeface="Times New Roman" panose="02020603050405020304" pitchFamily="18" charset="0"/>
                <a:hlinkClick r:id="rId3"/>
              </a:rPr>
              <a:t>https://docs.vmware.com/en/VMware-Cloud-Foundation/index.html</a:t>
            </a:r>
            <a:r>
              <a:rPr lang="en-US" sz="1800" kern="0" dirty="0">
                <a:effectLst/>
                <a:latin typeface="Arial" panose="020B0604020202020204" pitchFamily="34" charset="0"/>
                <a:ea typeface="Times New Roman" panose="02020603050405020304" pitchFamily="18" charset="0"/>
              </a:rPr>
              <a:t> </a:t>
            </a:r>
            <a:endParaRPr lang="en-US" strike="noStrike" baseline="0" dirty="0">
              <a:latin typeface="Arial" panose="020B0604020202020204" pitchFamily="34" charset="0"/>
            </a:endParaRPr>
          </a:p>
          <a:p>
            <a:endParaRPr lang="en-US" strike="noStrike" baseline="0" dirty="0">
              <a:latin typeface="Arial" panose="020B0604020202020204" pitchFamily="34" charset="0"/>
            </a:endParaRPr>
          </a:p>
          <a:p>
            <a:endParaRPr lang="en-US" dirty="0">
              <a:latin typeface="Arial" panose="020B0604020202020204" pitchFamily="34" charset="0"/>
            </a:endParaRPr>
          </a:p>
          <a:p>
            <a:endParaRPr lang="en-US" dirty="0">
              <a:latin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u="none" strike="noStrike" kern="1200" cap="none" spc="0" normalizeH="0" baseline="0" noProof="0" smtClean="0">
                <a:ln>
                  <a:noFill/>
                </a:ln>
                <a:solidFill>
                  <a:srgbClr val="717074"/>
                </a:solidFill>
                <a:effectLst/>
                <a:uLnTx/>
                <a:uFillTx/>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u="none" strike="noStrike" kern="1200" cap="none" spc="0" normalizeH="0" baseline="0" noProof="0" dirty="0">
              <a:ln>
                <a:noFill/>
              </a:ln>
              <a:solidFill>
                <a:srgbClr val="717074"/>
              </a:solidFill>
              <a:effectLst/>
              <a:uLnTx/>
              <a:uFillTx/>
              <a:ea typeface="+mn-ea"/>
              <a:cs typeface="+mn-cs"/>
            </a:endParaRPr>
          </a:p>
        </p:txBody>
      </p:sp>
    </p:spTree>
    <p:extLst>
      <p:ext uri="{BB962C8B-B14F-4D97-AF65-F5344CB8AC3E}">
        <p14:creationId xmlns:p14="http://schemas.microsoft.com/office/powerpoint/2010/main" val="4626926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9"/>
        <p:cNvGrpSpPr/>
        <p:nvPr/>
      </p:nvGrpSpPr>
      <p:grpSpPr>
        <a:xfrm>
          <a:off x="0" y="0"/>
          <a:ext cx="0" cy="0"/>
          <a:chOff x="0" y="0"/>
          <a:chExt cx="0" cy="0"/>
        </a:xfrm>
      </p:grpSpPr>
      <p:sp>
        <p:nvSpPr>
          <p:cNvPr id="6990" name="Google Shape;6990;g33a8758401b_11_700: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Key Message: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Agenda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Talk Track: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We’ll begin by first looking at the business initiatives and associated use cases that are driving private cloud adoption with VMware cloud foundation.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We’ll then dive into the areas of </a:t>
            </a:r>
            <a:r>
              <a:rPr lang="en-US" b="1" dirty="0"/>
              <a:t>infrastructure modernization</a:t>
            </a:r>
            <a:r>
              <a:rPr lang="en-US" dirty="0"/>
              <a:t>, </a:t>
            </a:r>
            <a:r>
              <a:rPr lang="en-US" b="1" dirty="0"/>
              <a:t>application modernization</a:t>
            </a:r>
            <a:r>
              <a:rPr lang="en-US" dirty="0"/>
              <a:t>, and </a:t>
            </a:r>
            <a:r>
              <a:rPr lang="en-US" b="1" dirty="0"/>
              <a:t>security modernization</a:t>
            </a:r>
            <a:r>
              <a:rPr lang="en-US" dirty="0"/>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Notes: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Resources:</a:t>
            </a:r>
          </a:p>
          <a:p>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VMware Cloud Foundation 9.0 Release Notes: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u="sng" kern="0" dirty="0">
                <a:solidFill>
                  <a:srgbClr val="0563C1"/>
                </a:solidFill>
                <a:effectLst/>
                <a:latin typeface="Arial" panose="020B0604020202020204" pitchFamily="34" charset="0"/>
                <a:ea typeface="Times New Roman" panose="02020603050405020304" pitchFamily="18" charset="0"/>
                <a:hlinkClick r:id="rId3"/>
              </a:rPr>
              <a:t>https://docs.vmware.com/en/VMware-Cloud-Foundation/index.html</a:t>
            </a:r>
            <a:r>
              <a:rPr lang="en-US" sz="1800" kern="0" dirty="0">
                <a:effectLst/>
                <a:latin typeface="Arial" panose="020B0604020202020204" pitchFamily="34" charset="0"/>
                <a:ea typeface="Times New Roman" panose="02020603050405020304" pitchFamily="18" charset="0"/>
              </a:rPr>
              <a:t> </a:t>
            </a:r>
            <a:endParaRPr lang="en-US" strike="noStrike" baseline="0" dirty="0">
              <a:latin typeface="Arial" panose="020B0604020202020204" pitchFamily="34" charset="0"/>
            </a:endParaRPr>
          </a:p>
          <a:p>
            <a:endParaRPr lang="en-US" strike="noStrike" baseline="0" dirty="0">
              <a:latin typeface="Arial" panose="020B0604020202020204" pitchFamily="34" charset="0"/>
            </a:endParaRPr>
          </a:p>
          <a:p>
            <a:endParaRPr lang="en-US" dirty="0">
              <a:latin typeface="Arial" panose="020B0604020202020204" pitchFamily="34" charset="0"/>
            </a:endParaRPr>
          </a:p>
          <a:p>
            <a:pPr marL="0" lvl="0" indent="0" algn="l" rtl="0">
              <a:lnSpc>
                <a:spcPct val="100000"/>
              </a:lnSpc>
              <a:spcBef>
                <a:spcPts val="0"/>
              </a:spcBef>
              <a:spcAft>
                <a:spcPts val="0"/>
              </a:spcAft>
              <a:buSzPts val="1400"/>
              <a:buNone/>
            </a:pPr>
            <a:endParaRPr dirty="0"/>
          </a:p>
        </p:txBody>
      </p:sp>
      <p:sp>
        <p:nvSpPr>
          <p:cNvPr id="6991" name="Google Shape;6991;g33a8758401b_11_700: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0"/>
        <p:cNvGrpSpPr/>
        <p:nvPr/>
      </p:nvGrpSpPr>
      <p:grpSpPr>
        <a:xfrm>
          <a:off x="0" y="0"/>
          <a:ext cx="0" cy="0"/>
          <a:chOff x="0" y="0"/>
          <a:chExt cx="0" cy="0"/>
        </a:xfrm>
      </p:grpSpPr>
      <p:sp>
        <p:nvSpPr>
          <p:cNvPr id="991" name="Google Shape;991;g36c36515e95_0_2260:notes"/>
          <p:cNvSpPr>
            <a:spLocks noGrp="1" noRot="1" noChangeAspect="1"/>
          </p:cNvSpPr>
          <p:nvPr>
            <p:ph type="sldImg" idx="2"/>
          </p:nvPr>
        </p:nvSpPr>
        <p:spPr>
          <a:xfrm>
            <a:off x="382588" y="685800"/>
            <a:ext cx="6094412"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992" name="Google Shape;992;g36c36515e95_0_226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Key Message: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Before we jump into our overview of VMware Cloud Foundation 9.1, let’s review the key business initiatives that are driving private cloud adoption and their supporting use cases.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Talk Track: </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Before we jump into our overview of VMware Cloud Foundation 9.1, let’s review the key business initiatives that are driving private cloud adoption and their supporting use cases.</a:t>
            </a:r>
          </a:p>
          <a:p>
            <a:pPr marL="0" lvl="0" indent="0" algn="l" rtl="0">
              <a:lnSpc>
                <a:spcPct val="115000"/>
              </a:lnSpc>
              <a:spcBef>
                <a:spcPts val="0"/>
              </a:spcBef>
              <a:spcAft>
                <a:spcPts val="0"/>
              </a:spcAft>
              <a:buClr>
                <a:schemeClr val="dk1"/>
              </a:buClr>
              <a:buSzPts val="1400"/>
              <a:buFont typeface="Arial"/>
              <a:buNone/>
            </a:pPr>
            <a:endParaRPr dirty="0"/>
          </a:p>
          <a:p>
            <a:pPr marL="0" lvl="0" indent="0" algn="l" rtl="0">
              <a:lnSpc>
                <a:spcPct val="115000"/>
              </a:lnSpc>
              <a:spcBef>
                <a:spcPts val="0"/>
              </a:spcBef>
              <a:spcAft>
                <a:spcPts val="0"/>
              </a:spcAft>
              <a:buClr>
                <a:schemeClr val="dk1"/>
              </a:buClr>
              <a:buSzPts val="1400"/>
              <a:buFont typeface="Arial"/>
              <a:buNone/>
            </a:pPr>
            <a:r>
              <a:rPr lang="en" dirty="0"/>
              <a:t>First, under </a:t>
            </a:r>
            <a:r>
              <a:rPr lang="en" b="1" dirty="0"/>
              <a:t>Infrastructure Modernization</a:t>
            </a:r>
            <a:r>
              <a:rPr lang="en" dirty="0"/>
              <a:t>, we are seeing customers building private cloud platforms to not just update their outdated and aging infrastructure — but to also modernizing their core data centers with automated provisioning and full-stack lifecycle management.  Under the infrastructure modernization </a:t>
            </a:r>
            <a:r>
              <a:rPr lang="en-US" dirty="0"/>
              <a:t>initiative</a:t>
            </a:r>
            <a:r>
              <a:rPr lang="en" dirty="0"/>
              <a:t> we are enabling the following use cases – (1) building and deploying private cloud infrastructure on-premises, (2) optimizing infrastructure and operations, and (3) extending the data center to the edge and to the cloud.</a:t>
            </a:r>
          </a:p>
          <a:p>
            <a:pPr marL="0" lvl="0" indent="0" algn="l" rtl="0">
              <a:lnSpc>
                <a:spcPct val="115000"/>
              </a:lnSpc>
              <a:spcBef>
                <a:spcPts val="0"/>
              </a:spcBef>
              <a:spcAft>
                <a:spcPts val="0"/>
              </a:spcAft>
              <a:buClr>
                <a:schemeClr val="dk1"/>
              </a:buClr>
              <a:buSzPts val="1400"/>
              <a:buFont typeface="Arial"/>
              <a:buNone/>
            </a:pPr>
            <a:endParaRPr lang="en" dirty="0"/>
          </a:p>
          <a:p>
            <a:pPr marL="0" marR="0" lvl="0" indent="0" algn="l" defTabSz="914400" rtl="0" eaLnBrk="1" fontAlgn="auto" latinLnBrk="0" hangingPunct="1">
              <a:lnSpc>
                <a:spcPct val="115000"/>
              </a:lnSpc>
              <a:spcBef>
                <a:spcPts val="0"/>
              </a:spcBef>
              <a:spcAft>
                <a:spcPts val="0"/>
              </a:spcAft>
              <a:buClr>
                <a:schemeClr val="dk1"/>
              </a:buClr>
              <a:buSzPts val="1400"/>
              <a:buFont typeface="Arial"/>
              <a:buNone/>
              <a:tabLst/>
              <a:defRPr/>
            </a:pPr>
            <a:r>
              <a:rPr lang="en-US" dirty="0"/>
              <a:t>Next, under </a:t>
            </a:r>
            <a:r>
              <a:rPr lang="en-US" b="1" dirty="0"/>
              <a:t>Application Modernization</a:t>
            </a:r>
            <a:r>
              <a:rPr lang="en-US" dirty="0"/>
              <a:t>,  we are seeing customers adopt new technologies in order to accelerate application development. In addition, they are incorporating DevOps principles like infrastructure as code and running Kubernetes clusters alongside VMs on shared infrastructure.  And of course, Private AI is always top of mind.   Under this business initiative we are enabling the following </a:t>
            </a:r>
            <a:r>
              <a:rPr lang="en" dirty="0"/>
              <a:t>use cases –</a:t>
            </a:r>
            <a:r>
              <a:rPr lang="en-US" dirty="0"/>
              <a:t>  (1) Enabling self-service infrastructure, (2) build run and mange Kubernetes, and (3) build, run, and manage, Private AI applications.</a:t>
            </a:r>
            <a:endParaRPr lang="en" dirty="0"/>
          </a:p>
          <a:p>
            <a:pPr marL="0" lvl="0" indent="0" algn="l" rtl="0">
              <a:lnSpc>
                <a:spcPct val="115000"/>
              </a:lnSpc>
              <a:spcBef>
                <a:spcPts val="0"/>
              </a:spcBef>
              <a:spcAft>
                <a:spcPts val="0"/>
              </a:spcAft>
              <a:buClr>
                <a:schemeClr val="dk1"/>
              </a:buClr>
              <a:buSzPts val="1400"/>
              <a:buFont typeface="Arial"/>
              <a:buNone/>
            </a:pPr>
            <a:endParaRPr lang="en" dirty="0"/>
          </a:p>
          <a:p>
            <a:pPr marL="0" marR="0" lvl="0" indent="0" algn="l" defTabSz="914400" rtl="0" eaLnBrk="1" fontAlgn="auto" latinLnBrk="0" hangingPunct="1">
              <a:lnSpc>
                <a:spcPct val="115000"/>
              </a:lnSpc>
              <a:spcBef>
                <a:spcPts val="0"/>
              </a:spcBef>
              <a:spcAft>
                <a:spcPts val="0"/>
              </a:spcAft>
              <a:buClr>
                <a:schemeClr val="dk1"/>
              </a:buClr>
              <a:buSzPts val="1400"/>
              <a:buFont typeface="Arial"/>
              <a:buNone/>
              <a:tabLst/>
              <a:defRPr/>
            </a:pPr>
            <a:r>
              <a:rPr lang="en" dirty="0"/>
              <a:t>Finally, under Security </a:t>
            </a:r>
            <a:r>
              <a:rPr lang="en" b="1" dirty="0"/>
              <a:t>Modernization</a:t>
            </a:r>
            <a:r>
              <a:rPr lang="en" dirty="0"/>
              <a:t>, customers are turning to the private cloud to become more secure and be better protected. Under the security modernization initiative VCF is delivering on the following use cases –  (1) strengthening compliance and hardening infrastructure (2) bolstering lateral security and intrusion prevention and detection, and (3) accelerating recovery from ransomware and other disasters.</a:t>
            </a:r>
          </a:p>
          <a:p>
            <a:pPr marL="0" marR="0" lvl="0" indent="0" algn="l" defTabSz="914400" rtl="0" eaLnBrk="1" fontAlgn="auto" latinLnBrk="0" hangingPunct="1">
              <a:lnSpc>
                <a:spcPct val="115000"/>
              </a:lnSpc>
              <a:spcBef>
                <a:spcPts val="0"/>
              </a:spcBef>
              <a:spcAft>
                <a:spcPts val="0"/>
              </a:spcAft>
              <a:buClr>
                <a:schemeClr val="dk1"/>
              </a:buClr>
              <a:buSzPts val="1400"/>
              <a:buFont typeface="Arial"/>
              <a:buNone/>
              <a:tabLst/>
              <a:defRPr/>
            </a:pPr>
            <a:endParaRPr lang="en" dirty="0"/>
          </a:p>
          <a:p>
            <a:pPr marL="0" marR="0" lvl="0" indent="0" algn="l" defTabSz="914400" rtl="0" eaLnBrk="1" fontAlgn="auto" latinLnBrk="0" hangingPunct="1">
              <a:lnSpc>
                <a:spcPct val="115000"/>
              </a:lnSpc>
              <a:spcBef>
                <a:spcPts val="0"/>
              </a:spcBef>
              <a:spcAft>
                <a:spcPts val="0"/>
              </a:spcAft>
              <a:buClr>
                <a:schemeClr val="dk1"/>
              </a:buClr>
              <a:buSzPts val="1400"/>
              <a:buFont typeface="Arial"/>
              <a:buNone/>
              <a:tabLst/>
              <a:defRPr/>
            </a:pPr>
            <a:r>
              <a:rPr lang="en-US" dirty="0"/>
              <a:t>As we continue through this presentation keep these business initiatives in mind consider how each capability and feature that is discussed ties back to these key initiatives and how it is helping Cloud Foundation achieve the targeted use cases and provide the industries best private cloud platform.</a:t>
            </a:r>
            <a:endParaRPr lang="en-US" sz="1200" b="1"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Notes: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rPr>
              <a:t>Resources:</a:t>
            </a:r>
          </a:p>
          <a:p>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rPr>
              <a:t>VMware Cloud Foundation 9.0 Release Notes: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u="sng" kern="0" dirty="0">
                <a:solidFill>
                  <a:srgbClr val="0563C1"/>
                </a:solidFill>
                <a:effectLst/>
                <a:latin typeface="Arial" panose="020B0604020202020204" pitchFamily="34" charset="0"/>
                <a:ea typeface="Times New Roman" panose="02020603050405020304" pitchFamily="18" charset="0"/>
                <a:hlinkClick r:id="rId3"/>
              </a:rPr>
              <a:t>https://docs.vmware.com/en/VMware-Cloud-Foundation/index.html</a:t>
            </a:r>
            <a:r>
              <a:rPr lang="en-US" sz="1800" kern="0" dirty="0">
                <a:effectLst/>
                <a:latin typeface="Arial" panose="020B0604020202020204" pitchFamily="34" charset="0"/>
                <a:ea typeface="Times New Roman" panose="02020603050405020304" pitchFamily="18" charset="0"/>
              </a:rPr>
              <a:t> </a:t>
            </a:r>
            <a:endParaRPr lang="en-US" strike="noStrike" baseline="0" dirty="0">
              <a:latin typeface="Arial" panose="020B0604020202020204" pitchFamily="34" charset="0"/>
            </a:endParaRPr>
          </a:p>
          <a:p>
            <a:pPr marL="0" lvl="0" indent="0" algn="l" rtl="0">
              <a:lnSpc>
                <a:spcPct val="115000"/>
              </a:lnSpc>
              <a:spcBef>
                <a:spcPts val="0"/>
              </a:spcBef>
              <a:spcAft>
                <a:spcPts val="0"/>
              </a:spcAft>
              <a:buClr>
                <a:schemeClr val="dk1"/>
              </a:buClr>
              <a:buSzPts val="1400"/>
              <a:buFont typeface="Arial"/>
              <a:buNone/>
            </a:pPr>
            <a:endParaRPr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1">
          <a:extLst>
            <a:ext uri="{FF2B5EF4-FFF2-40B4-BE49-F238E27FC236}">
              <a16:creationId xmlns:a16="http://schemas.microsoft.com/office/drawing/2014/main" id="{C9A9C7F4-AA72-125A-DA14-E4CAF9CA0A9B}"/>
            </a:ext>
          </a:extLst>
        </p:cNvPr>
        <p:cNvGrpSpPr/>
        <p:nvPr/>
      </p:nvGrpSpPr>
      <p:grpSpPr>
        <a:xfrm>
          <a:off x="0" y="0"/>
          <a:ext cx="0" cy="0"/>
          <a:chOff x="0" y="0"/>
          <a:chExt cx="0" cy="0"/>
        </a:xfrm>
      </p:grpSpPr>
      <p:sp>
        <p:nvSpPr>
          <p:cNvPr id="2872" name="Google Shape;2872;p39:notes">
            <a:extLst>
              <a:ext uri="{FF2B5EF4-FFF2-40B4-BE49-F238E27FC236}">
                <a16:creationId xmlns:a16="http://schemas.microsoft.com/office/drawing/2014/main" id="{6AA3409F-C944-8AA6-B762-5C84242BBDE3}"/>
              </a:ext>
            </a:extLst>
          </p:cNvPr>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2873" name="Google Shape;2873;p39:notes">
            <a:extLst>
              <a:ext uri="{FF2B5EF4-FFF2-40B4-BE49-F238E27FC236}">
                <a16:creationId xmlns:a16="http://schemas.microsoft.com/office/drawing/2014/main" id="{0D3958E6-2633-404A-DB08-15128C57E90A}"/>
              </a:ext>
            </a:extLst>
          </p:cNvPr>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200" b="1" u="none" strike="noStrike" dirty="0">
                <a:solidFill>
                  <a:schemeClr val="dk1"/>
                </a:solidFill>
                <a:latin typeface="Arial" panose="020B0604020202020204" pitchFamily="34" charset="0"/>
                <a:sym typeface="Arial"/>
              </a:rPr>
              <a:t>Key Message:</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200" b="0" u="none" strike="noStrike" dirty="0">
                <a:solidFill>
                  <a:schemeClr val="dk1"/>
                </a:solidFill>
                <a:latin typeface="Arial" panose="020B0604020202020204" pitchFamily="34" charset="0"/>
                <a:sym typeface="Arial"/>
              </a:rPr>
              <a:t>VCF Architecture</a:t>
            </a:r>
            <a:br>
              <a:rPr lang="en-US" sz="1200" u="none" strike="noStrike" dirty="0">
                <a:solidFill>
                  <a:schemeClr val="dk1"/>
                </a:solidFill>
                <a:latin typeface="Arial" panose="020B0604020202020204" pitchFamily="34" charset="0"/>
                <a:sym typeface="Arial"/>
              </a:rPr>
            </a:br>
            <a:br>
              <a:rPr lang="en-US" sz="1200" u="none" strike="noStrike" dirty="0">
                <a:solidFill>
                  <a:schemeClr val="dk1"/>
                </a:solidFill>
                <a:latin typeface="Arial" panose="020B0604020202020204" pitchFamily="34" charset="0"/>
                <a:sym typeface="Arial"/>
              </a:rPr>
            </a:br>
            <a:r>
              <a:rPr lang="en-US" sz="1200" b="1" u="none" strike="noStrike" dirty="0">
                <a:solidFill>
                  <a:schemeClr val="dk1"/>
                </a:solidFill>
                <a:latin typeface="Arial" panose="020B0604020202020204" pitchFamily="34" charset="0"/>
                <a:sym typeface="Arial"/>
              </a:rPr>
              <a:t>Talk Track: </a:t>
            </a:r>
            <a:br>
              <a:rPr lang="en-US" sz="1200" u="none" strike="noStrike" dirty="0">
                <a:solidFill>
                  <a:schemeClr val="dk1"/>
                </a:solidFill>
                <a:latin typeface="Arial" panose="020B0604020202020204" pitchFamily="34" charset="0"/>
                <a:sym typeface="Arial"/>
              </a:rPr>
            </a:br>
            <a:r>
              <a:rPr lang="en-US" dirty="0"/>
              <a:t>Lets start by looking at the high level architecture of VCF.</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b="1" dirty="0">
              <a:latin typeface="Arial" panose="020B0604020202020204" pitchFamily="34" charset="0"/>
            </a:endParaRPr>
          </a:p>
          <a:p>
            <a:pPr marL="0" lvl="0" indent="0" algn="l" rtl="0">
              <a:spcBef>
                <a:spcPts val="0"/>
              </a:spcBef>
              <a:spcAft>
                <a:spcPts val="0"/>
              </a:spcAft>
              <a:buNone/>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References:</a:t>
            </a:r>
          </a:p>
          <a:p>
            <a:pPr marL="0" lvl="0" indent="0" algn="l" rtl="0">
              <a:spcBef>
                <a:spcPts val="0"/>
              </a:spcBef>
              <a:spcAft>
                <a:spcPts val="0"/>
              </a:spcAft>
              <a:buNone/>
            </a:pPr>
            <a:endParaRPr dirty="0">
              <a:latin typeface="Arial" panose="020B0604020202020204" pitchFamily="34" charset="0"/>
            </a:endParaRPr>
          </a:p>
        </p:txBody>
      </p:sp>
      <p:sp>
        <p:nvSpPr>
          <p:cNvPr id="2874" name="Google Shape;2874;p39:notes">
            <a:extLst>
              <a:ext uri="{FF2B5EF4-FFF2-40B4-BE49-F238E27FC236}">
                <a16:creationId xmlns:a16="http://schemas.microsoft.com/office/drawing/2014/main" id="{72264389-678E-F353-2260-2C437BC33D93}"/>
              </a:ext>
            </a:extLst>
          </p:cNvPr>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u="none" strike="noStrike" kern="0" cap="none" spc="0" normalizeH="0" baseline="0" noProof="0">
                <a:ln>
                  <a:noFill/>
                </a:ln>
                <a:solidFill>
                  <a:srgbClr val="717074"/>
                </a:solidFill>
                <a:effectLst/>
                <a:uLnTx/>
                <a:uFillTx/>
                <a:latin typeface="Arial" panose="020B0604020202020204" pitchFamily="34" charset="0"/>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4</a:t>
            </a:fld>
            <a:endParaRPr kumimoji="0" sz="1200" u="none" strike="noStrike" kern="0" cap="none" spc="0" normalizeH="0" baseline="0" noProof="0" dirty="0">
              <a:ln>
                <a:noFill/>
              </a:ln>
              <a:solidFill>
                <a:srgbClr val="717074"/>
              </a:solidFill>
              <a:effectLst/>
              <a:uLnTx/>
              <a:uFillTx/>
              <a:latin typeface="Arial" panose="020B0604020202020204" pitchFamily="34" charset="0"/>
              <a:cs typeface="Arial"/>
              <a:sym typeface="Arial"/>
            </a:endParaRPr>
          </a:p>
        </p:txBody>
      </p:sp>
    </p:spTree>
    <p:extLst>
      <p:ext uri="{BB962C8B-B14F-4D97-AF65-F5344CB8AC3E}">
        <p14:creationId xmlns:p14="http://schemas.microsoft.com/office/powerpoint/2010/main" val="20772980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84A9F4-355F-FFE9-973B-17F3FE920C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19D346-79AC-F67D-13E8-200BF0484057}"/>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CBE30229-6113-8548-2BC9-952153AD3BE8}"/>
              </a:ext>
            </a:extLst>
          </p:cNvPr>
          <p:cNvSpPr>
            <a:spLocks noGrp="1"/>
          </p:cNvSpPr>
          <p:nvPr>
            <p:ph type="body" idx="1"/>
          </p:nvPr>
        </p:nvSpPr>
        <p:spPr/>
        <p:txBody>
          <a:bodyPr>
            <a:normAutofit fontScale="850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kern="1200" baseline="0" dirty="0">
                <a:solidFill>
                  <a:schemeClr val="tx1"/>
                </a:solidFill>
                <a:latin typeface="Arial" panose="020B0604020202020204" pitchFamily="34" charset="0"/>
                <a:ea typeface="+mn-ea"/>
                <a:cs typeface="+mn-cs"/>
              </a:rPr>
              <a:t>A VCF private cloud is implemented on a modular architecture that combines workload domains into VCF Instances, which are further combined into VCF Fleets.   VCF Fleets are centrally managed from central instance of VCF Operations and Automation.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kern="1200" baseline="0" dirty="0">
              <a:solidFill>
                <a:schemeClr val="tx1"/>
              </a:solidFill>
              <a:latin typeface="Arial" panose="020B0604020202020204" pitchFamily="34" charset="0"/>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strike="noStrike"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Workload Domain</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At the core of the VCF architecture is the </a:t>
            </a:r>
            <a:r>
              <a:rPr lang="en-US" b="1" dirty="0"/>
              <a:t>workload domain</a:t>
            </a:r>
            <a:r>
              <a:rPr lang="en-US" dirty="0"/>
              <a:t>.  A </a:t>
            </a:r>
            <a:r>
              <a:rPr lang="en-US" b="1" dirty="0"/>
              <a:t>Workload Domain</a:t>
            </a:r>
            <a:r>
              <a:rPr lang="en-US" dirty="0"/>
              <a:t> is a logical unit of application-ready infrastructure that groups ESX hosts into one or more vSphere clusters each providing specific performance, availability, or security characteristics.</a:t>
            </a: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indent="0" algn="l" defTabSz="914400" rtl="0" eaLnBrk="1" fontAlgn="auto" latinLnBrk="0" hangingPunct="1">
              <a:lnSpc>
                <a:spcPct val="100000"/>
              </a:lnSpc>
              <a:spcBef>
                <a:spcPts val="0"/>
              </a:spcBef>
              <a:spcAft>
                <a:spcPts val="0"/>
              </a:spcAft>
              <a:buClrTx/>
              <a:buSzTx/>
              <a:buFontTx/>
              <a:buNone/>
              <a:tabLst/>
              <a:defRPr/>
            </a:pPr>
            <a:r>
              <a:rPr lang="en-US" dirty="0"/>
              <a:t>Think of a workload domain as a standardized, repeatable unit of private cloud capacity—bundling compute, storage, and networking into an isolated pool. Because workload domains are managed through automation, you can create, scale, or delete them on demand. In addition, each workload domain is managed and life-cycled independently.</a:t>
            </a:r>
            <a:endParaRPr lang="en-US" dirty="0">
              <a:solidFill>
                <a:schemeClr val="tx1"/>
              </a:solidFill>
              <a:latin typeface="Arial" panose="020B0604020202020204" pitchFamily="34" charset="0"/>
            </a:endParaRPr>
          </a:p>
          <a:p>
            <a:endParaRPr lang="en-US" dirty="0"/>
          </a:p>
          <a:p>
            <a:r>
              <a:rPr lang="en-US" b="1" dirty="0"/>
              <a:t>VCF Instance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One or more workload domains are logically combined into a </a:t>
            </a:r>
            <a:r>
              <a:rPr lang="en-US" b="1" dirty="0"/>
              <a:t>VCF Instance.   </a:t>
            </a:r>
            <a:r>
              <a:rPr lang="en-US" dirty="0"/>
              <a:t>A </a:t>
            </a:r>
            <a:r>
              <a:rPr lang="en-US" b="1" dirty="0"/>
              <a:t>VCF Instance</a:t>
            </a:r>
            <a:r>
              <a:rPr lang="en-US" dirty="0"/>
              <a:t> represents the collection of workload domains within a single location or site. VCF Instances shared a common software depot and collection of VCF management services.</a:t>
            </a:r>
          </a:p>
          <a:p>
            <a:endParaRPr lang="en-US" b="0" dirty="0"/>
          </a:p>
          <a:p>
            <a:r>
              <a:rPr lang="en-US" b="1" dirty="0"/>
              <a:t>VCF Fleet</a:t>
            </a:r>
          </a:p>
          <a:p>
            <a:r>
              <a:rPr lang="en-US" b="0" dirty="0"/>
              <a:t>VCF Instances are then grouped into </a:t>
            </a:r>
            <a:r>
              <a:rPr lang="en-US" b="1" dirty="0"/>
              <a:t>VCF fleets. </a:t>
            </a:r>
            <a:r>
              <a:rPr lang="en-US" b="0" dirty="0"/>
              <a:t>Each VCF Fleet is managed from a set of centralized services that are provided by a dedicated instance of VCF Operations and Automation.</a:t>
            </a:r>
          </a:p>
          <a:p>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r>
              <a:rPr lang="en-US" sz="1200" b="0" u="none" strike="noStrike" kern="1200" dirty="0">
                <a:solidFill>
                  <a:schemeClr val="tx1"/>
                </a:solidFill>
                <a:effectLst/>
                <a:latin typeface="Arial" panose="020B0604020202020204" pitchFamily="34" charset="0"/>
                <a:ea typeface="+mn-ea"/>
                <a:cs typeface="+mn-cs"/>
              </a:rPr>
              <a:t>Refer to the VMware Cloud Foundation Design Guide for further information on Workload Domains:</a:t>
            </a:r>
            <a:br>
              <a:rPr lang="en-US" sz="1200" b="0" u="none" strike="noStrike" kern="1200" dirty="0">
                <a:solidFill>
                  <a:schemeClr val="tx1"/>
                </a:solidFill>
                <a:effectLst/>
                <a:latin typeface="Arial" panose="020B0604020202020204" pitchFamily="34" charset="0"/>
                <a:ea typeface="+mn-ea"/>
                <a:cs typeface="+mn-cs"/>
              </a:rPr>
            </a:br>
            <a:r>
              <a:rPr lang="en-AU" dirty="0">
                <a:effectLst/>
                <a:latin typeface="Helvetica Neue" panose="02000503000000020004" pitchFamily="2" charset="0"/>
                <a:hlinkClick r:id="rId3"/>
              </a:rPr>
              <a:t>https://techdocs.broadcom.com/us/en/vmware-cis/vcf.html</a:t>
            </a:r>
            <a:r>
              <a:rPr lang="en-AU" dirty="0">
                <a:effectLst/>
                <a:latin typeface="Helvetica Neue" panose="02000503000000020004" pitchFamily="2"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AU" dirty="0">
              <a:effectLst/>
              <a:latin typeface="Helvetica Neue" panose="02000503000000020004"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u="none" strike="noStrike" kern="1200" dirty="0">
                <a:solidFill>
                  <a:schemeClr val="tx1"/>
                </a:solidFill>
                <a:effectLst/>
                <a:latin typeface="Arial" panose="020B0604020202020204" pitchFamily="34" charset="0"/>
                <a:ea typeface="+mn-ea"/>
                <a:cs typeface="+mn-cs"/>
              </a:rPr>
              <a:t>Refer to Getting Started Guide for further information on Getting Started with VMware Cloud Foundation:</a:t>
            </a:r>
            <a:br>
              <a:rPr lang="en-US" sz="1200" b="0" u="none" strike="noStrike" kern="1200" dirty="0">
                <a:solidFill>
                  <a:schemeClr val="tx1"/>
                </a:solidFill>
                <a:effectLst/>
                <a:latin typeface="Arial" panose="020B0604020202020204" pitchFamily="34" charset="0"/>
                <a:ea typeface="+mn-ea"/>
                <a:cs typeface="+mn-cs"/>
              </a:rPr>
            </a:br>
            <a:r>
              <a:rPr lang="en-AU" dirty="0">
                <a:effectLst/>
                <a:latin typeface="Helvetica Neue" panose="02000503000000020004" pitchFamily="2" charset="0"/>
                <a:hlinkClick r:id="rId3"/>
              </a:rPr>
              <a:t>https://techdocs.broadcom.com/us/en/vmware-cis/vcf.html</a:t>
            </a:r>
            <a:r>
              <a:rPr lang="en-AU" dirty="0">
                <a:effectLst/>
                <a:latin typeface="Helvetica Neue" panose="02000503000000020004" pitchFamily="2" charset="0"/>
              </a:rPr>
              <a:t> </a:t>
            </a:r>
          </a:p>
        </p:txBody>
      </p:sp>
      <p:sp>
        <p:nvSpPr>
          <p:cNvPr id="4" name="Slide Number Placeholder 3">
            <a:extLst>
              <a:ext uri="{FF2B5EF4-FFF2-40B4-BE49-F238E27FC236}">
                <a16:creationId xmlns:a16="http://schemas.microsoft.com/office/drawing/2014/main" id="{D2659DA0-478A-5A17-C0A5-D9B30594DAD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2847356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7736D7-D07C-17F8-9F4F-1C3AAB4AB1D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37690A-CCC4-8001-CCAB-9E2D9013148C}"/>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14EDEF7B-3548-5CB9-EDD5-857AEA4C5B0E}"/>
              </a:ext>
            </a:extLst>
          </p:cNvPr>
          <p:cNvSpPr>
            <a:spLocks noGrp="1"/>
          </p:cNvSpPr>
          <p:nvPr>
            <p:ph type="body" idx="1"/>
          </p:nvPr>
        </p:nvSpPr>
        <p:spPr/>
        <p:txBody>
          <a:bodyPr>
            <a:normAutofit fontScale="92500"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VCF Fleets provide the centralized management framework to scale independent VCF Instances into a resilient, multi-region Private Cloud.</a:t>
            </a:r>
            <a:endParaRPr lang="en-US" sz="1200" b="1" kern="1200" baseline="0" dirty="0">
              <a:solidFill>
                <a:schemeClr val="tx1"/>
              </a:solidFill>
              <a:latin typeface="Arial" panose="020B0604020202020204" pitchFamily="34" charset="0"/>
              <a:ea typeface="+mn-ea"/>
              <a:cs typeface="+mn-cs"/>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endParaRPr lang="en-US" b="0" dirty="0"/>
          </a:p>
          <a:p>
            <a:r>
              <a:rPr lang="en-US" b="0" dirty="0"/>
              <a:t>Finaly, </a:t>
            </a:r>
            <a:r>
              <a:rPr lang="en-US" dirty="0"/>
              <a:t>A </a:t>
            </a:r>
            <a:r>
              <a:rPr lang="en-US" b="1" dirty="0"/>
              <a:t>VCF Private Cloud</a:t>
            </a:r>
            <a:r>
              <a:rPr lang="en-US" dirty="0"/>
              <a:t> aggregates one or more </a:t>
            </a:r>
            <a:r>
              <a:rPr lang="en-US" b="1" dirty="0"/>
              <a:t>Fleets</a:t>
            </a:r>
            <a:r>
              <a:rPr lang="en-US" dirty="0"/>
              <a:t> into a unified operational environment.</a:t>
            </a: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beauty of this architecture lies in its modularity, allowing a private cloud to scale from a single-site deployment to a massive, global operation. For a small organization, a </a:t>
            </a:r>
            <a:r>
              <a:rPr lang="en-US" b="1" dirty="0"/>
              <a:t>VCF Private Cloud</a:t>
            </a:r>
            <a:r>
              <a:rPr lang="en-US" dirty="0"/>
              <a:t> might consist of a single </a:t>
            </a:r>
            <a:r>
              <a:rPr lang="en-US" b="1" dirty="0"/>
              <a:t>Fleet</a:t>
            </a:r>
            <a:r>
              <a:rPr lang="en-US" dirty="0"/>
              <a:t> containing just one </a:t>
            </a:r>
            <a:r>
              <a:rPr lang="en-US" b="1" dirty="0"/>
              <a:t>Instance</a:t>
            </a:r>
            <a:r>
              <a:rPr lang="en-US" dirty="0"/>
              <a:t> with two or three </a:t>
            </a:r>
            <a:r>
              <a:rPr lang="en-US" b="1" dirty="0"/>
              <a:t>Workload Domains</a:t>
            </a:r>
            <a:r>
              <a:rPr lang="en-US" dirty="0"/>
              <a:t>—providing a simple, automated footprint. As an enterprise grows, it can gain flexibility by adding multiple Instances across different geographic regions to ensure low latency and disaster recovery, all while maintaining unified visibility through the Fleet’s centralized operations. For the largest global entities, the ability to aggregate multiple Fleets into a singular Private Cloud means they can maintain regional autonomy and compliance standards while still benefiting from a high-level, cohesive operational strategy that spans thousands of hosts across the globe.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r>
              <a:rPr lang="en-US" sz="1200" b="0" u="none" strike="noStrike" kern="1200" dirty="0">
                <a:solidFill>
                  <a:schemeClr val="tx1"/>
                </a:solidFill>
                <a:effectLst/>
                <a:latin typeface="Arial" panose="020B0604020202020204" pitchFamily="34" charset="0"/>
                <a:ea typeface="+mn-ea"/>
                <a:cs typeface="+mn-cs"/>
              </a:rPr>
              <a:t>Refer to the VMware Cloud Foundation Design Guide for further information on Workload Domains:</a:t>
            </a:r>
            <a:br>
              <a:rPr lang="en-US" sz="1200" b="0" u="none" strike="noStrike" kern="1200" dirty="0">
                <a:solidFill>
                  <a:schemeClr val="tx1"/>
                </a:solidFill>
                <a:effectLst/>
                <a:latin typeface="Arial" panose="020B0604020202020204" pitchFamily="34" charset="0"/>
                <a:ea typeface="+mn-ea"/>
                <a:cs typeface="+mn-cs"/>
              </a:rPr>
            </a:br>
            <a:r>
              <a:rPr lang="en-AU" dirty="0">
                <a:effectLst/>
                <a:latin typeface="Helvetica Neue" panose="02000503000000020004" pitchFamily="2" charset="0"/>
                <a:hlinkClick r:id="rId3"/>
              </a:rPr>
              <a:t>https://techdocs.broadcom.com/us/en/vmware-cis/vcf.html</a:t>
            </a:r>
            <a:r>
              <a:rPr lang="en-AU" dirty="0">
                <a:effectLst/>
                <a:latin typeface="Helvetica Neue" panose="02000503000000020004" pitchFamily="2"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AU" dirty="0">
              <a:effectLst/>
              <a:latin typeface="Helvetica Neue" panose="02000503000000020004"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u="none" strike="noStrike" kern="1200" dirty="0">
                <a:solidFill>
                  <a:schemeClr val="tx1"/>
                </a:solidFill>
                <a:effectLst/>
                <a:latin typeface="Arial" panose="020B0604020202020204" pitchFamily="34" charset="0"/>
                <a:ea typeface="+mn-ea"/>
                <a:cs typeface="+mn-cs"/>
              </a:rPr>
              <a:t>Refer to Getting Started Guide for further information on Getting Started with VMware Cloud Foundation:</a:t>
            </a:r>
            <a:br>
              <a:rPr lang="en-US" sz="1200" b="0" u="none" strike="noStrike" kern="1200" dirty="0">
                <a:solidFill>
                  <a:schemeClr val="tx1"/>
                </a:solidFill>
                <a:effectLst/>
                <a:latin typeface="Arial" panose="020B0604020202020204" pitchFamily="34" charset="0"/>
                <a:ea typeface="+mn-ea"/>
                <a:cs typeface="+mn-cs"/>
              </a:rPr>
            </a:br>
            <a:r>
              <a:rPr lang="en-AU" dirty="0">
                <a:effectLst/>
                <a:latin typeface="Helvetica Neue" panose="02000503000000020004" pitchFamily="2" charset="0"/>
                <a:hlinkClick r:id="rId3"/>
              </a:rPr>
              <a:t>https://techdocs.broadcom.com/us/en/vmware-cis/vcf.html</a:t>
            </a:r>
            <a:r>
              <a:rPr lang="en-AU" dirty="0">
                <a:effectLst/>
                <a:latin typeface="Helvetica Neue" panose="02000503000000020004" pitchFamily="2" charset="0"/>
              </a:rPr>
              <a:t> </a:t>
            </a:r>
          </a:p>
        </p:txBody>
      </p:sp>
      <p:sp>
        <p:nvSpPr>
          <p:cNvPr id="4" name="Slide Number Placeholder 3">
            <a:extLst>
              <a:ext uri="{FF2B5EF4-FFF2-40B4-BE49-F238E27FC236}">
                <a16:creationId xmlns:a16="http://schemas.microsoft.com/office/drawing/2014/main" id="{CCEC55B0-C92C-0C7A-11A7-54ECF8BEAC2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41671770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1">
          <a:extLst>
            <a:ext uri="{FF2B5EF4-FFF2-40B4-BE49-F238E27FC236}">
              <a16:creationId xmlns:a16="http://schemas.microsoft.com/office/drawing/2014/main" id="{29B0D5C4-ECBA-F7BD-22E1-5110BCC4ABDF}"/>
            </a:ext>
          </a:extLst>
        </p:cNvPr>
        <p:cNvGrpSpPr/>
        <p:nvPr/>
      </p:nvGrpSpPr>
      <p:grpSpPr>
        <a:xfrm>
          <a:off x="0" y="0"/>
          <a:ext cx="0" cy="0"/>
          <a:chOff x="0" y="0"/>
          <a:chExt cx="0" cy="0"/>
        </a:xfrm>
      </p:grpSpPr>
      <p:sp>
        <p:nvSpPr>
          <p:cNvPr id="2872" name="Google Shape;2872;p39:notes">
            <a:extLst>
              <a:ext uri="{FF2B5EF4-FFF2-40B4-BE49-F238E27FC236}">
                <a16:creationId xmlns:a16="http://schemas.microsoft.com/office/drawing/2014/main" id="{C4419D0E-3810-C1D4-7E9F-561F859867FA}"/>
              </a:ext>
            </a:extLst>
          </p:cNvPr>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2873" name="Google Shape;2873;p39:notes">
            <a:extLst>
              <a:ext uri="{FF2B5EF4-FFF2-40B4-BE49-F238E27FC236}">
                <a16:creationId xmlns:a16="http://schemas.microsoft.com/office/drawing/2014/main" id="{7563F145-A552-A560-61B7-FB5645BE0B3C}"/>
              </a:ext>
            </a:extLst>
          </p:cNvPr>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200" b="1" u="none" strike="noStrike" dirty="0">
                <a:solidFill>
                  <a:schemeClr val="dk1"/>
                </a:solidFill>
                <a:latin typeface="Arial" panose="020B0604020202020204" pitchFamily="34" charset="0"/>
                <a:sym typeface="Arial"/>
              </a:rPr>
              <a:t>Key Message:</a:t>
            </a:r>
            <a:br>
              <a:rPr lang="en-US" sz="1200" u="none" strike="noStrike" dirty="0">
                <a:solidFill>
                  <a:schemeClr val="dk1"/>
                </a:solidFill>
                <a:latin typeface="Arial" panose="020B0604020202020204" pitchFamily="34" charset="0"/>
                <a:sym typeface="Arial"/>
              </a:rPr>
            </a:br>
            <a:br>
              <a:rPr lang="en-US" sz="1200" u="none" strike="noStrike" dirty="0">
                <a:solidFill>
                  <a:schemeClr val="dk1"/>
                </a:solidFill>
                <a:latin typeface="Arial" panose="020B0604020202020204" pitchFamily="34" charset="0"/>
                <a:sym typeface="Arial"/>
              </a:rPr>
            </a:br>
            <a:r>
              <a:rPr lang="en-US" sz="1200" b="1" u="none" strike="noStrike" dirty="0">
                <a:solidFill>
                  <a:schemeClr val="dk1"/>
                </a:solidFill>
                <a:latin typeface="Arial" panose="020B0604020202020204" pitchFamily="34" charset="0"/>
                <a:sym typeface="Arial"/>
              </a:rPr>
              <a:t>Talk Track: </a:t>
            </a:r>
            <a:br>
              <a:rPr lang="en-US" sz="1200" u="none" strike="noStrike" dirty="0">
                <a:solidFill>
                  <a:schemeClr val="dk1"/>
                </a:solidFill>
                <a:latin typeface="Arial" panose="020B0604020202020204" pitchFamily="34" charset="0"/>
                <a:sym typeface="Arial"/>
              </a:rPr>
            </a:br>
            <a:r>
              <a:rPr lang="en-US" dirty="0"/>
              <a:t>Now that we’ve covered the </a:t>
            </a:r>
            <a:r>
              <a:rPr lang="en-US" b="1" dirty="0"/>
              <a:t>high-level VCF architecture</a:t>
            </a:r>
            <a:r>
              <a:rPr lang="en-US" dirty="0"/>
              <a:t>, it’s time to move from theory to practice. In this next section, I’ll dive into the technical implementation—specifically, how we use the </a:t>
            </a:r>
            <a:r>
              <a:rPr lang="en-US" b="1" dirty="0"/>
              <a:t>VCF Installer</a:t>
            </a:r>
            <a:r>
              <a:rPr lang="en-US" dirty="0"/>
              <a:t> to build and deploy a VCF Private Cloud.</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b="1" dirty="0">
              <a:latin typeface="Arial" panose="020B0604020202020204" pitchFamily="34" charset="0"/>
            </a:endParaRPr>
          </a:p>
          <a:p>
            <a:pPr marL="0" lvl="0" indent="0" algn="l" rtl="0">
              <a:spcBef>
                <a:spcPts val="0"/>
              </a:spcBef>
              <a:spcAft>
                <a:spcPts val="0"/>
              </a:spcAft>
              <a:buNone/>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References:</a:t>
            </a:r>
          </a:p>
          <a:p>
            <a:pPr marL="0" lvl="0" indent="0" algn="l" rtl="0">
              <a:spcBef>
                <a:spcPts val="0"/>
              </a:spcBef>
              <a:spcAft>
                <a:spcPts val="0"/>
              </a:spcAft>
              <a:buNone/>
            </a:pPr>
            <a:endParaRPr dirty="0">
              <a:latin typeface="Arial" panose="020B0604020202020204" pitchFamily="34" charset="0"/>
            </a:endParaRPr>
          </a:p>
        </p:txBody>
      </p:sp>
      <p:sp>
        <p:nvSpPr>
          <p:cNvPr id="2874" name="Google Shape;2874;p39:notes">
            <a:extLst>
              <a:ext uri="{FF2B5EF4-FFF2-40B4-BE49-F238E27FC236}">
                <a16:creationId xmlns:a16="http://schemas.microsoft.com/office/drawing/2014/main" id="{1C46CF9A-08EF-B1A2-59D4-32CF8A48818D}"/>
              </a:ext>
            </a:extLst>
          </p:cNvPr>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u="none" strike="noStrike" kern="0" cap="none" spc="0" normalizeH="0" baseline="0" noProof="0">
                <a:ln>
                  <a:noFill/>
                </a:ln>
                <a:solidFill>
                  <a:srgbClr val="717074"/>
                </a:solidFill>
                <a:effectLst/>
                <a:uLnTx/>
                <a:uFillTx/>
                <a:latin typeface="Arial" panose="020B0604020202020204" pitchFamily="34" charset="0"/>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7</a:t>
            </a:fld>
            <a:endParaRPr kumimoji="0" sz="1200" u="none" strike="noStrike" kern="0" cap="none" spc="0" normalizeH="0" baseline="0" noProof="0" dirty="0">
              <a:ln>
                <a:noFill/>
              </a:ln>
              <a:solidFill>
                <a:srgbClr val="717074"/>
              </a:solidFill>
              <a:effectLst/>
              <a:uLnTx/>
              <a:uFillTx/>
              <a:latin typeface="Arial" panose="020B0604020202020204" pitchFamily="34" charset="0"/>
              <a:cs typeface="Arial"/>
              <a:sym typeface="Arial"/>
            </a:endParaRPr>
          </a:p>
        </p:txBody>
      </p:sp>
    </p:spTree>
    <p:extLst>
      <p:ext uri="{BB962C8B-B14F-4D97-AF65-F5344CB8AC3E}">
        <p14:creationId xmlns:p14="http://schemas.microsoft.com/office/powerpoint/2010/main" val="344420640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3161D4-2AE2-3278-196F-FB5F4A2FC1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FA2193-98A3-8687-E846-F36CFF75FDCE}"/>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CCFDA7F8-1B0C-3C95-22E1-6AADAF91ACDA}"/>
              </a:ext>
            </a:extLst>
          </p:cNvPr>
          <p:cNvSpPr>
            <a:spLocks noGrp="1"/>
          </p:cNvSpPr>
          <p:nvPr>
            <p:ph type="body" idx="1"/>
          </p:nvPr>
        </p:nvSpPr>
        <p:spPr/>
        <p:txBody>
          <a:bodyPr>
            <a:normAutofit fontScale="92500"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The </a:t>
            </a:r>
            <a:r>
              <a:rPr lang="en-US" b="1" dirty="0"/>
              <a:t>VCF Installer</a:t>
            </a:r>
            <a:r>
              <a:rPr lang="en-US" dirty="0"/>
              <a:t> is a lightweight, unified appliance that simplifies the "Day 0" experience by providing a streamlined path from initial download to staging the core installation binaries.</a:t>
            </a: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r>
              <a:rPr lang="en-US" dirty="0"/>
              <a:t>To deploy Cloud Foundation you use the </a:t>
            </a:r>
            <a:r>
              <a:rPr lang="en-US" b="1" dirty="0"/>
              <a:t>VCF Installer</a:t>
            </a:r>
            <a:r>
              <a:rPr lang="en-US" dirty="0"/>
              <a:t>. </a:t>
            </a:r>
          </a:p>
          <a:p>
            <a:endParaRPr lang="en-US" dirty="0"/>
          </a:p>
          <a:p>
            <a:r>
              <a:rPr lang="en-US" dirty="0"/>
              <a:t>The VCF installer is easily downloaded as a single OVA file directly from the Broadcom software portal. The initial setup is remarkably lightweight; when you deploy the appliance, you only need to provide basic IP information to get it on the network. </a:t>
            </a:r>
          </a:p>
          <a:p>
            <a:endParaRPr lang="en-US" dirty="0"/>
          </a:p>
          <a:p>
            <a:r>
              <a:rPr lang="en-US" dirty="0"/>
              <a:t>Once deployed, you configure the software depot and download the binaries needed to deploy VCF.  </a:t>
            </a:r>
          </a:p>
          <a:p>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It’s worth noting that we support both </a:t>
            </a:r>
            <a:r>
              <a:rPr lang="en-US" b="1" dirty="0"/>
              <a:t>online</a:t>
            </a:r>
            <a:r>
              <a:rPr lang="en-US" dirty="0"/>
              <a:t> and </a:t>
            </a:r>
            <a:r>
              <a:rPr lang="en-US" b="1" dirty="0"/>
              <a:t>offline</a:t>
            </a:r>
            <a:r>
              <a:rPr lang="en-US" dirty="0"/>
              <a:t> depots. If your environment is air-gapped, you’ll use our VCF Download tool to fetch those binaries and move them to a local web server—but we’ll dive deeper into that workflow a bit later."</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br>
              <a:rPr lang="en-US" sz="1200" b="1" u="none" strike="noStrike" kern="1200" dirty="0">
                <a:solidFill>
                  <a:schemeClr val="tx1"/>
                </a:solidFill>
                <a:effectLst/>
              </a:rPr>
            </a:br>
            <a:endParaRPr lang="en-AU" dirty="0">
              <a:solidFill>
                <a:srgbClr val="DCA10D"/>
              </a:solidFill>
              <a:effectLst/>
              <a:latin typeface="Helvetica Neue" panose="02000503000000020004" pitchFamily="2" charset="0"/>
            </a:endParaRPr>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CCD02A9D-45F2-8295-2078-F37CFC9C755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5478392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782553-BF70-C699-456F-FE9B807E1EF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6D7C4C-CE52-6E11-52B6-9E521387F6A6}"/>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D3EF18C7-53F2-4145-D9F0-6FC3B7929B07}"/>
              </a:ext>
            </a:extLst>
          </p:cNvPr>
          <p:cNvSpPr>
            <a:spLocks noGrp="1"/>
          </p:cNvSpPr>
          <p:nvPr>
            <p:ph type="body" idx="1"/>
          </p:nvPr>
        </p:nvSpPr>
        <p:spPr/>
        <p:txBody>
          <a:bodyPr>
            <a:normAutofit fontScale="850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The </a:t>
            </a:r>
            <a:r>
              <a:rPr lang="en-US" b="1" dirty="0"/>
              <a:t>VCF Installer</a:t>
            </a:r>
            <a:r>
              <a:rPr lang="en-US" dirty="0"/>
              <a:t> is a lightweight, unified appliance that simplifies the "Day 0" experience by providing a streamlined path from initial download to staging the core installation binaries.</a:t>
            </a: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endParaRPr lang="en-US" dirty="0"/>
          </a:p>
          <a:p>
            <a:r>
              <a:rPr lang="en-US" dirty="0"/>
              <a:t>Once deployed, you configure the software depot and download the VCF software binaries.  </a:t>
            </a:r>
          </a:p>
          <a:p>
            <a:endParaRPr lang="en-US" dirty="0"/>
          </a:p>
          <a:p>
            <a:r>
              <a:rPr lang="en-US" dirty="0"/>
              <a:t>The software depot provides a single location for downloading all the required VCF binaries in addition, the binary downloads are secured with your Broadcom activation Code.</a:t>
            </a:r>
          </a:p>
          <a:p>
            <a:endParaRPr lang="en-US" dirty="0"/>
          </a:p>
          <a:p>
            <a:r>
              <a:rPr lang="en-US" dirty="0"/>
              <a:t>The VCF Installer supports using either an “online” software depot for when internet access is available, or an “offline” software depot for when the site is not connected to the internet.  Thus providing support for both connected and disconnected sites.   </a:t>
            </a:r>
          </a:p>
          <a:p>
            <a:endParaRPr lang="en-US" b="0" dirty="0"/>
          </a:p>
          <a:p>
            <a:r>
              <a:rPr lang="en-US" b="0" dirty="0"/>
              <a:t>The online depot is the easiest to use as you simply register the software depot over the internet after which you can immediately begin downloading the VCF binaries.   If you use the offline depot, there are additional steps as you will first need to setup an external web server and use the VCF download tool to download the VCF Binaries and copy them to the web server.   </a:t>
            </a:r>
          </a:p>
          <a:p>
            <a:endParaRPr lang="en-US" i="1" dirty="0"/>
          </a:p>
          <a:p>
            <a:r>
              <a:rPr lang="en-US" i="1" dirty="0"/>
              <a:t>In either case, once the depot has been configured and the binaries downloaded, you are ready to begin the VCF deployment...</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It’s worth noting that we support both </a:t>
            </a:r>
            <a:r>
              <a:rPr lang="en-US" b="1" dirty="0"/>
              <a:t>online</a:t>
            </a:r>
            <a:r>
              <a:rPr lang="en-US" dirty="0"/>
              <a:t> and </a:t>
            </a:r>
            <a:r>
              <a:rPr lang="en-US" b="1" dirty="0"/>
              <a:t>offline</a:t>
            </a:r>
            <a:r>
              <a:rPr lang="en-US" dirty="0"/>
              <a:t> depots. If your environment is air-gapped, you’ll use our VCF Download tool to fetch those binaries and move them to a local web server—but we’ll dive deeper into that workflow a bit later."</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br>
              <a:rPr lang="en-US" sz="1200" b="1" u="none" strike="noStrike" kern="1200" dirty="0">
                <a:solidFill>
                  <a:schemeClr val="tx1"/>
                </a:solidFill>
                <a:effectLst/>
              </a:rPr>
            </a:br>
            <a:endParaRPr lang="en-AU" dirty="0">
              <a:solidFill>
                <a:srgbClr val="DCA10D"/>
              </a:solidFill>
              <a:effectLst/>
              <a:latin typeface="Helvetica Neue" panose="02000503000000020004" pitchFamily="2" charset="0"/>
            </a:endParaRPr>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50504873-F7E3-FE49-F0F3-B77AB759FE2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3437861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048368-177A-2C99-4B3C-81A71FE8603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566D1A-55ED-A726-0B49-685C6AD14F94}"/>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CAD16FDD-DBF3-EC2C-C308-1E1E11CDFC81}"/>
              </a:ext>
            </a:extLst>
          </p:cNvPr>
          <p:cNvSpPr>
            <a:spLocks noGrp="1"/>
          </p:cNvSpPr>
          <p:nvPr>
            <p:ph type="body" idx="1"/>
          </p:nvPr>
        </p:nvSpPr>
        <p:spPr/>
        <p:txBody>
          <a:bodyPr>
            <a:normAutofit fontScale="77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Whether using the </a:t>
            </a:r>
            <a:r>
              <a:rPr lang="en-US" b="1" dirty="0"/>
              <a:t>intuitive UI wizard</a:t>
            </a:r>
            <a:r>
              <a:rPr lang="en-US" dirty="0"/>
              <a:t> or </a:t>
            </a:r>
            <a:r>
              <a:rPr lang="en-US" b="1" dirty="0"/>
              <a:t>automated JSON imports</a:t>
            </a:r>
            <a:r>
              <a:rPr lang="en-US" dirty="0"/>
              <a:t>, VCF ensures deployment success through a rigorous validation engine that catches environmental issues before the installation begins.</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strike="noStrike" dirty="0">
                <a:solidFill>
                  <a:schemeClr val="tx1"/>
                </a:solidFill>
                <a:latin typeface="Arial" panose="020B0604020202020204" pitchFamily="34" charset="0"/>
              </a:rPr>
              <a:t>Deploying Cloud Foundation with the VCF installer is easy and efficient.   </a:t>
            </a:r>
            <a:r>
              <a:rPr lang="en-US" dirty="0"/>
              <a:t>In most cases, especially when doing a first-time deployment, you will use the </a:t>
            </a:r>
            <a:r>
              <a:rPr lang="en-US" b="1" dirty="0"/>
              <a:t>wizard-driven UI</a:t>
            </a:r>
            <a:r>
              <a:rPr lang="en-US" dirty="0"/>
              <a:t>.  This intuitive UI guides you through the deployment prompting you each step of the way for the required input parameters.  Once all the parameters have been provided, an extensive validation of the target environment is performed.  Upon successful validation, the installer proceeds to automate the deployment of the VCF Fleet.  During the deployment you can track the progress directly from the installer UI.</a:t>
            </a:r>
          </a:p>
          <a:p>
            <a:endParaRPr lang="en-US" dirty="0"/>
          </a:p>
          <a:p>
            <a:r>
              <a:rPr lang="en-US" dirty="0"/>
              <a:t>Along with using the intuitive wizard-driven UI, the VCF Installer also supports providing the site specific parameters using a using JSON file.   This is helpful when needing to do a custom deployment or in situations where you will do repeated installations.   In these advanced scenarios you simply save the input parameters in a JSON file that you then import into the VCF installer to be validated.   </a:t>
            </a:r>
          </a:p>
          <a:p>
            <a:endParaRPr lang="en-US" dirty="0"/>
          </a:p>
          <a:p>
            <a:r>
              <a:rPr lang="en-US" dirty="0"/>
              <a:t>In fact, we find that many customers like to use the wizard to do their first deployment and then save that configuration as a JSON template that they can then use for future deployments.</a:t>
            </a:r>
          </a:p>
          <a:p>
            <a:endParaRPr lang="en-US" dirty="0"/>
          </a:p>
          <a:p>
            <a:r>
              <a:rPr lang="en-US" dirty="0"/>
              <a:t>In either case, the VCF installer makes deploying Cloud Foundation easy.   You simply provided the required input parameters, let the installer perform its extensive validation of the environment, and when ready let to automate the deployment the VCF Fleet.</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Regardless of the method you choose, the installer includes a rigorous </a:t>
            </a:r>
            <a:r>
              <a:rPr lang="en-US" b="1" dirty="0"/>
              <a:t>validation engine</a:t>
            </a:r>
            <a:r>
              <a:rPr lang="en-US" dirty="0"/>
              <a:t>. Before a single service is actually deployed, it checks your environment against every prerequisite. If it finds a mismatch, you can save your progress, fix the infrastructure issue, and come back to re-validate without starting from scratch."</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br>
              <a:rPr lang="en-US" sz="1200" b="1" u="none" strike="noStrike" kern="1200" dirty="0">
                <a:solidFill>
                  <a:schemeClr val="tx1"/>
                </a:solidFill>
                <a:effectLst/>
              </a:rPr>
            </a:br>
            <a:endParaRPr lang="en-AU" dirty="0">
              <a:solidFill>
                <a:srgbClr val="DCA10D"/>
              </a:solidFill>
              <a:effectLst/>
              <a:latin typeface="Helvetica Neue" panose="02000503000000020004" pitchFamily="2" charset="0"/>
            </a:endParaRPr>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EAF312DA-70D6-05E5-2D20-EDE85AD2105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2571613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FB4C88-EBC2-914E-699F-5597F8531B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143D33-8A2A-472D-EFEE-79F63B210518}"/>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32DF82C2-BB11-DE15-FC0C-7006EF8F2273}"/>
              </a:ext>
            </a:extLst>
          </p:cNvPr>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The VCF Installer is a long-term management tool that enables you to </a:t>
            </a:r>
            <a:r>
              <a:rPr lang="en-US" b="1" dirty="0"/>
              <a:t>seamlessly expand your fleet</a:t>
            </a:r>
            <a:r>
              <a:rPr lang="en-US" dirty="0"/>
              <a:t> or add deferred components as your infrastructure requirements evolve.</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r>
              <a:rPr lang="en-US" dirty="0"/>
              <a:t>The VCF Installer is not only used for doing new 'greenfield’ VCF deployments but also used to add VCF instances to existing fleets.   </a:t>
            </a:r>
          </a:p>
          <a:p>
            <a:endParaRPr lang="en-US" dirty="0"/>
          </a:p>
          <a:p>
            <a:r>
              <a:rPr lang="en-US" dirty="0"/>
              <a:t>In addition, the installer supports advanced deployments.  For example, you may want to </a:t>
            </a:r>
            <a:r>
              <a:rPr lang="en-US" b="1" dirty="0"/>
              <a:t>defer some components at the time of the initial deployment and return to to deploy them later</a:t>
            </a:r>
            <a:r>
              <a:rPr lang="en-US" dirty="0"/>
              <a:t>. Consider a custom deployment where you want VCF Operations and VCF Automation to run on virtual networks rather than traditional VLANs, To do this, you would select the ’deferred components’ path in order to quickly stand up the core fleet components and then after you have configured the virtual networks, re-run the installer later to add the deferred components. </a:t>
            </a:r>
          </a:p>
          <a:p>
            <a:endParaRPr lang="en-US" dirty="0"/>
          </a:p>
          <a:p>
            <a:r>
              <a:rPr lang="en-US" dirty="0"/>
              <a:t>This flexibility allows you to deploy and scale your private cloud at a pace that matches your specific networking or business requirements.”</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br>
              <a:rPr lang="en-US" sz="1200" b="1" u="none" strike="noStrike" kern="1200" dirty="0">
                <a:solidFill>
                  <a:schemeClr val="tx1"/>
                </a:solidFill>
                <a:effectLst/>
              </a:rPr>
            </a:br>
            <a:endParaRPr lang="en-AU" dirty="0">
              <a:solidFill>
                <a:srgbClr val="DCA10D"/>
              </a:solidFill>
              <a:effectLst/>
              <a:latin typeface="Helvetica Neue" panose="02000503000000020004" pitchFamily="2" charset="0"/>
            </a:endParaRPr>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7EAAD659-70D3-8156-0CA0-F47949C9681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6395518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F6DE05-2BCB-6B23-3CCB-C09C7257528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CDC8AC-4BB7-EB82-059E-3E1BB82B496C}"/>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19A65106-7BE1-6207-11B3-DCD2EB7D0F9E}"/>
              </a:ext>
            </a:extLst>
          </p:cNvPr>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VCF provides a low-friction entry point through </a:t>
            </a:r>
            <a:r>
              <a:rPr lang="en-US" b="1" dirty="0"/>
              <a:t>convergence</a:t>
            </a:r>
            <a:r>
              <a:rPr lang="en-US" dirty="0"/>
              <a:t>, allowing you to transform existing vSphere environments into fully managed VCF workload domains without a complete "rip-and-replace."</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strike="noStrike"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Beyond greenfield deployments, we know many of you aren't starting from a blank slate...</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strike="noStrike" dirty="0">
              <a:solidFill>
                <a:schemeClr val="tx1"/>
              </a:solidFill>
              <a:latin typeface="Arial" panose="020B0604020202020204" pitchFamily="34" charset="0"/>
            </a:endParaRPr>
          </a:p>
          <a:p>
            <a:r>
              <a:rPr lang="en-US" dirty="0"/>
              <a:t>This brings us to a key feature of the VCF Installer that is referred to as </a:t>
            </a:r>
            <a:r>
              <a:rPr lang="en-US" b="1" dirty="0"/>
              <a:t>Convergence</a:t>
            </a:r>
            <a:r>
              <a:rPr lang="en-US" dirty="0"/>
              <a:t>. </a:t>
            </a:r>
          </a:p>
          <a:p>
            <a:endParaRPr lang="en-US" dirty="0"/>
          </a:p>
          <a:p>
            <a:r>
              <a:rPr lang="en-US" dirty="0"/>
              <a:t>If you already have a vSphere environment running—meaning a vCenter and one or more clusters—you don't have to tear it down or fuss with migrating workloads in order to move to VCF. You can simply  point the installer at that existing vSphere environment and 'converge' it into a VCF workload domain.</a:t>
            </a:r>
          </a:p>
          <a:p>
            <a:endParaRPr lang="en-US" dirty="0"/>
          </a:p>
          <a:p>
            <a:r>
              <a:rPr lang="en-US" dirty="0"/>
              <a:t>When doing a converge deployment, the installer first validates the existing components and then deploys any additional component needed to convert the environment into a VCF instance —such as NSX, VCF Management Services, and Operations.</a:t>
            </a:r>
          </a:p>
          <a:p>
            <a:endParaRPr lang="en-US" dirty="0"/>
          </a:p>
          <a:p>
            <a:r>
              <a:rPr lang="en-US" dirty="0"/>
              <a:t>This makes it very easy to get started with VCF as you can simply identify an existing vSphere environment and use it to build your first VCF instance.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During this process, the validation engine is especially critical. It will assess your existing host capacity to ensure you have the capacity required for the new management components. It’s also smart enough to recognize if you already have some of these components deployed, opting to integrate with existing services rather than duplicating them."</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br>
              <a:rPr lang="en-US" sz="1200" b="1" u="none" strike="noStrike" kern="1200" dirty="0">
                <a:solidFill>
                  <a:schemeClr val="tx1"/>
                </a:solidFill>
                <a:effectLst/>
              </a:rPr>
            </a:br>
            <a:endParaRPr lang="en-AU" dirty="0">
              <a:solidFill>
                <a:srgbClr val="DCA10D"/>
              </a:solidFill>
              <a:effectLst/>
              <a:latin typeface="Helvetica Neue" panose="02000503000000020004" pitchFamily="2" charset="0"/>
            </a:endParaRPr>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B2EE4576-23A5-F3E2-83B0-71F361D9D73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48135194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DE7209-80D4-5FED-AC1D-85E64C39892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FB0B2E-E558-5D5D-6B83-795A9795F632}"/>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A324C9D0-166B-F1D7-DF24-B56CC5B65EF4}"/>
              </a:ext>
            </a:extLst>
          </p:cNvPr>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With support for </a:t>
            </a:r>
            <a:r>
              <a:rPr lang="en-US" b="1" dirty="0"/>
              <a:t>offline air-gapped environments</a:t>
            </a:r>
            <a:r>
              <a:rPr lang="en-US" dirty="0"/>
              <a:t>, a choice between </a:t>
            </a:r>
            <a:r>
              <a:rPr lang="en-US" b="1" dirty="0"/>
              <a:t>Simple or High Availability</a:t>
            </a:r>
            <a:r>
              <a:rPr lang="en-US" dirty="0"/>
              <a:t> modes, and new </a:t>
            </a:r>
            <a:r>
              <a:rPr lang="en-US" b="1" dirty="0"/>
              <a:t>built-in resource guidance</a:t>
            </a:r>
            <a:r>
              <a:rPr lang="en-US" dirty="0"/>
              <a:t>, the VCF Installer takes the guesswork out of complex enterprise planning.</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r>
              <a:rPr lang="en-US" dirty="0"/>
              <a:t>The VCF Installer also includes </a:t>
            </a:r>
            <a:r>
              <a:rPr lang="en-US" b="1" dirty="0"/>
              <a:t>Built-in Planning Guidance</a:t>
            </a:r>
            <a:r>
              <a:rPr lang="en-US" dirty="0"/>
              <a:t>. </a:t>
            </a:r>
          </a:p>
          <a:p>
            <a:endParaRPr lang="en-US" dirty="0"/>
          </a:p>
          <a:p>
            <a:r>
              <a:rPr lang="en-US" dirty="0"/>
              <a:t>Early in the VCF Installer wizard workflow, the installer will factor in your deployment choices—things like your choice of storage, choice of the high availability model vs. simple model, and size of deployment—and calculate how much CPU, RAM, and Storage you’ll need, along with the required VLANs, FQDNs and IPs.  This helps take the guesswork out of trying to predict the resources you will need for your deployment ensuring you’re ready to go before you hit that final 'deploy' button."</a:t>
            </a:r>
          </a:p>
          <a:p>
            <a:endParaRPr lang="en-US" dirty="0"/>
          </a:p>
          <a:p>
            <a:r>
              <a:rPr lang="en-US" i="1" dirty="0"/>
              <a:t>That covers the core capabilities of the VCF Installer.  Next, we will look at the lifecycle management capabilities of Cloud Foundation. </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a:extLst>
              <a:ext uri="{FF2B5EF4-FFF2-40B4-BE49-F238E27FC236}">
                <a16:creationId xmlns:a16="http://schemas.microsoft.com/office/drawing/2014/main" id="{C2BF4400-FC16-9617-60EF-79C87D6998B9}"/>
              </a:ext>
            </a:extLst>
          </p:cNvPr>
          <p:cNvSpPr>
            <a:spLocks noGrp="1"/>
          </p:cNvSpPr>
          <p:nvPr>
            <p:ph type="sldNum" sz="quarter" idx="5"/>
          </p:nvPr>
        </p:nvSpPr>
        <p:spPr/>
        <p:txBody>
          <a:bodyPr/>
          <a:lstStyle/>
          <a:p>
            <a:fld id="{9F4FBC3A-A12C-40F9-BB8D-BC30C7901396}" type="slidenum">
              <a:rPr lang="en-US" smtClean="0"/>
              <a:pPr/>
              <a:t>13</a:t>
            </a:fld>
            <a:endParaRPr lang="en-US" dirty="0"/>
          </a:p>
        </p:txBody>
      </p:sp>
    </p:spTree>
    <p:extLst>
      <p:ext uri="{BB962C8B-B14F-4D97-AF65-F5344CB8AC3E}">
        <p14:creationId xmlns:p14="http://schemas.microsoft.com/office/powerpoint/2010/main" val="23096680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1">
          <a:extLst>
            <a:ext uri="{FF2B5EF4-FFF2-40B4-BE49-F238E27FC236}">
              <a16:creationId xmlns:a16="http://schemas.microsoft.com/office/drawing/2014/main" id="{00912BE2-64E0-C510-7590-D63F91856AEF}"/>
            </a:ext>
          </a:extLst>
        </p:cNvPr>
        <p:cNvGrpSpPr/>
        <p:nvPr/>
      </p:nvGrpSpPr>
      <p:grpSpPr>
        <a:xfrm>
          <a:off x="0" y="0"/>
          <a:ext cx="0" cy="0"/>
          <a:chOff x="0" y="0"/>
          <a:chExt cx="0" cy="0"/>
        </a:xfrm>
      </p:grpSpPr>
      <p:sp>
        <p:nvSpPr>
          <p:cNvPr id="2872" name="Google Shape;2872;p39:notes">
            <a:extLst>
              <a:ext uri="{FF2B5EF4-FFF2-40B4-BE49-F238E27FC236}">
                <a16:creationId xmlns:a16="http://schemas.microsoft.com/office/drawing/2014/main" id="{34B7A98B-EB2F-DDE6-2879-CBA017A38D01}"/>
              </a:ext>
            </a:extLst>
          </p:cNvPr>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2873" name="Google Shape;2873;p39:notes">
            <a:extLst>
              <a:ext uri="{FF2B5EF4-FFF2-40B4-BE49-F238E27FC236}">
                <a16:creationId xmlns:a16="http://schemas.microsoft.com/office/drawing/2014/main" id="{95D48934-D002-E7BB-C040-2D401A9A8CFB}"/>
              </a:ext>
            </a:extLst>
          </p:cNvPr>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200" b="1" u="none" strike="noStrike" dirty="0">
                <a:solidFill>
                  <a:schemeClr val="dk1"/>
                </a:solidFill>
                <a:latin typeface="Arial" panose="020B0604020202020204" pitchFamily="34" charset="0"/>
                <a:sym typeface="Arial"/>
              </a:rPr>
              <a:t>Key Message:</a:t>
            </a:r>
            <a:br>
              <a:rPr lang="en-US" sz="1200" u="none" strike="noStrike" dirty="0">
                <a:solidFill>
                  <a:schemeClr val="dk1"/>
                </a:solidFill>
                <a:latin typeface="Arial" panose="020B0604020202020204" pitchFamily="34" charset="0"/>
                <a:sym typeface="Arial"/>
              </a:rPr>
            </a:br>
            <a:r>
              <a:rPr lang="en-US" dirty="0"/>
              <a:t>After we use the </a:t>
            </a:r>
            <a:r>
              <a:rPr lang="en-US" b="1" dirty="0"/>
              <a:t>VCF Installer</a:t>
            </a:r>
            <a:r>
              <a:rPr lang="en-US" dirty="0"/>
              <a:t> to deploy our VCF Fleet, our focus immediately shifts from deployment to maintenance. In this next section, we’ll explore how when it comes to managing software updates, </a:t>
            </a:r>
            <a:r>
              <a:rPr lang="en-US" b="1" dirty="0"/>
              <a:t>VCF Operations</a:t>
            </a:r>
            <a:r>
              <a:rPr lang="en-US" dirty="0"/>
              <a:t> takes the reins—providing a centralized, automated approach to the ongoing patching and upgrading of your entire VCF fleet.</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br>
              <a:rPr lang="en-US" sz="1200" u="none" strike="noStrike" dirty="0">
                <a:solidFill>
                  <a:schemeClr val="dk1"/>
                </a:solidFill>
                <a:latin typeface="Arial" panose="020B0604020202020204" pitchFamily="34" charset="0"/>
                <a:sym typeface="Arial"/>
              </a:rPr>
            </a:br>
            <a:r>
              <a:rPr lang="en-US" sz="1200" b="1" u="none" strike="noStrike" dirty="0">
                <a:solidFill>
                  <a:schemeClr val="dk1"/>
                </a:solidFill>
                <a:latin typeface="Arial" panose="020B0604020202020204" pitchFamily="34" charset="0"/>
                <a:sym typeface="Arial"/>
              </a:rPr>
              <a:t>Talk Track: </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After we use the </a:t>
            </a:r>
            <a:r>
              <a:rPr lang="en-US" b="1" dirty="0"/>
              <a:t>VCF Installer</a:t>
            </a:r>
            <a:r>
              <a:rPr lang="en-US" dirty="0"/>
              <a:t> to deploy our VCF Fleet, our focus immediately shifts from deployment to maintenance. In this next section, we’ll explore how when it comes to managing software updates, </a:t>
            </a:r>
            <a:r>
              <a:rPr lang="en-US" b="1" dirty="0"/>
              <a:t>VCF Operations</a:t>
            </a:r>
            <a:r>
              <a:rPr lang="en-US" dirty="0"/>
              <a:t> takes the reins—providing a centralized, automated approach to the ongoing patching and upgrading of your entire VCF fleet.</a:t>
            </a:r>
            <a:br>
              <a:rPr lang="en-US" sz="1200" u="none" strike="noStrike" dirty="0">
                <a:solidFill>
                  <a:schemeClr val="dk1"/>
                </a:solidFill>
                <a:latin typeface="Arial" panose="020B0604020202020204" pitchFamily="34" charset="0"/>
                <a:sym typeface="Arial"/>
              </a:rPr>
            </a:b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b="1" dirty="0">
              <a:latin typeface="Arial" panose="020B0604020202020204" pitchFamily="34" charset="0"/>
            </a:endParaRPr>
          </a:p>
          <a:p>
            <a:pPr marL="0" lvl="0" indent="0" algn="l" rtl="0">
              <a:spcBef>
                <a:spcPts val="0"/>
              </a:spcBef>
              <a:spcAft>
                <a:spcPts val="0"/>
              </a:spcAft>
              <a:buNone/>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References:</a:t>
            </a:r>
          </a:p>
          <a:p>
            <a:pPr marL="0" lvl="0" indent="0" algn="l" rtl="0">
              <a:spcBef>
                <a:spcPts val="0"/>
              </a:spcBef>
              <a:spcAft>
                <a:spcPts val="0"/>
              </a:spcAft>
              <a:buNone/>
            </a:pPr>
            <a:endParaRPr dirty="0">
              <a:latin typeface="Arial" panose="020B0604020202020204" pitchFamily="34" charset="0"/>
            </a:endParaRPr>
          </a:p>
        </p:txBody>
      </p:sp>
      <p:sp>
        <p:nvSpPr>
          <p:cNvPr id="2874" name="Google Shape;2874;p39:notes">
            <a:extLst>
              <a:ext uri="{FF2B5EF4-FFF2-40B4-BE49-F238E27FC236}">
                <a16:creationId xmlns:a16="http://schemas.microsoft.com/office/drawing/2014/main" id="{332404E6-96F2-2DB5-A638-37B3D2BF1258}"/>
              </a:ext>
            </a:extLst>
          </p:cNvPr>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u="none" strike="noStrike" kern="0" cap="none" spc="0" normalizeH="0" baseline="0" noProof="0">
                <a:ln>
                  <a:noFill/>
                </a:ln>
                <a:solidFill>
                  <a:srgbClr val="717074"/>
                </a:solidFill>
                <a:effectLst/>
                <a:uLnTx/>
                <a:uFillTx/>
                <a:latin typeface="Arial" panose="020B0604020202020204" pitchFamily="34" charset="0"/>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14</a:t>
            </a:fld>
            <a:endParaRPr kumimoji="0" sz="1200" u="none" strike="noStrike" kern="0" cap="none" spc="0" normalizeH="0" baseline="0" noProof="0" dirty="0">
              <a:ln>
                <a:noFill/>
              </a:ln>
              <a:solidFill>
                <a:srgbClr val="717074"/>
              </a:solidFill>
              <a:effectLst/>
              <a:uLnTx/>
              <a:uFillTx/>
              <a:latin typeface="Arial" panose="020B0604020202020204" pitchFamily="34" charset="0"/>
              <a:cs typeface="Arial"/>
              <a:sym typeface="Arial"/>
            </a:endParaRPr>
          </a:p>
        </p:txBody>
      </p:sp>
    </p:spTree>
    <p:extLst>
      <p:ext uri="{BB962C8B-B14F-4D97-AF65-F5344CB8AC3E}">
        <p14:creationId xmlns:p14="http://schemas.microsoft.com/office/powerpoint/2010/main" val="38566321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B298FB-D566-B7B7-A040-31D2F312A7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C5E58D-B4BA-DC56-57E4-15B58D3FAB03}"/>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5D69B5FF-5C09-A718-3E1B-449C3958531D}"/>
              </a:ext>
            </a:extLst>
          </p:cNvPr>
          <p:cNvSpPr>
            <a:spLocks noGrp="1"/>
          </p:cNvSpPr>
          <p:nvPr>
            <p:ph type="body" idx="1"/>
          </p:nvPr>
        </p:nvSpPr>
        <p:spPr/>
        <p:txBody>
          <a:bodyPr>
            <a:normAutofit fontScale="92500"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VCF Operations provides a "single pane of glass" for the entire private cloud, eliminating the complexity of managing disparate software stacks and interfaces.</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endParaRPr lang="en-US" dirty="0"/>
          </a:p>
          <a:p>
            <a:r>
              <a:rPr lang="en-US" dirty="0"/>
              <a:t>In VCF, we have consolidated lifecycle management across the entire VCF fleet into a single, unified interface within </a:t>
            </a:r>
            <a:r>
              <a:rPr lang="en-US" b="1" dirty="0"/>
              <a:t>VCF Operations</a:t>
            </a:r>
            <a:r>
              <a:rPr lang="en-US" dirty="0"/>
              <a:t>. You no longer need to jump between different UIs or spend time researching interoperability and compatibility matrices. VCF consolidates everything into one place and guides you through the process of updating each component.  </a:t>
            </a:r>
          </a:p>
          <a:p>
            <a:endParaRPr lang="en-US" dirty="0"/>
          </a:p>
          <a:p>
            <a:r>
              <a:rPr lang="en-US" dirty="0"/>
              <a:t>From VCF Operations you are able to view, plan, and upgrade both the VCF Fleet components and the individual workload domains that make up your VCF instances.   </a:t>
            </a:r>
          </a:p>
          <a:p>
            <a:endParaRPr lang="en-US" dirty="0"/>
          </a:p>
          <a:p>
            <a:r>
              <a:rPr lang="en-US" dirty="0"/>
              <a:t>By centralizing the core components and the management components into VCF Operations, VCF ensures a consistent, repeatable experience for tracking and applying software updates across your entire private cloud."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VCF Lifecycle Management is an orchestrator, not a replacement for native component tools. It coordinates updates by leveraging existing technologies like </a:t>
            </a:r>
            <a:r>
              <a:rPr lang="en-US" b="1" dirty="0"/>
              <a:t>vSphere Lifecycle Manager (vLCM)</a:t>
            </a:r>
            <a:r>
              <a:rPr lang="en-US" dirty="0"/>
              <a:t> and </a:t>
            </a:r>
            <a:r>
              <a:rPr lang="en-US" b="1" dirty="0"/>
              <a:t>ESX Live Patch</a:t>
            </a:r>
            <a:r>
              <a:rPr lang="en-US" dirty="0"/>
              <a:t>. Because VCF supports features like </a:t>
            </a:r>
            <a:r>
              <a:rPr lang="en-US" b="1" dirty="0"/>
              <a:t>Reduced Downtime Upgrades</a:t>
            </a:r>
            <a:r>
              <a:rPr lang="en-US" dirty="0"/>
              <a:t> for vCenter and ESX, you can be confident that the latest vSphere and NSX patching innovations are fully integrated into the VCF workflow.</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a:extLst>
              <a:ext uri="{FF2B5EF4-FFF2-40B4-BE49-F238E27FC236}">
                <a16:creationId xmlns:a16="http://schemas.microsoft.com/office/drawing/2014/main" id="{66AC60E5-0F7C-1ED8-1687-95A8FAA3B93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68119836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EE03BA-BA8E-7119-4599-54365B8DC7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706762-B78C-D3BC-EB18-611477BC7506}"/>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D8A47B24-D9AB-2576-08E7-8038BBD88F39}"/>
              </a:ext>
            </a:extLst>
          </p:cNvPr>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VCF Operations provides a "single pane of glass" for the entire private cloud, eliminating the complexity of managing disparate software stacks and interfaces.</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endParaRPr lang="en-US" dirty="0"/>
          </a:p>
          <a:p>
            <a:r>
              <a:rPr lang="en-US" dirty="0"/>
              <a:t>Within VCF Operations, lifecycle management is divided into two sections:</a:t>
            </a:r>
          </a:p>
          <a:p>
            <a:endParaRPr lang="en-US" dirty="0"/>
          </a:p>
          <a:p>
            <a:r>
              <a:rPr lang="en-US" b="1" dirty="0"/>
              <a:t>The management Components </a:t>
            </a:r>
            <a:r>
              <a:rPr lang="en-US" b="0" dirty="0"/>
              <a:t>which include things like VCF Operations, </a:t>
            </a:r>
            <a:r>
              <a:rPr lang="en-US" dirty="0"/>
              <a:t>VCF Automation, VCF Logs, and VCF Operations for Networks.  These components are managed and updated as part of the VCF management services.    </a:t>
            </a:r>
          </a:p>
          <a:p>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The VCF Instances </a:t>
            </a:r>
            <a:r>
              <a:rPr lang="en-US" b="0" dirty="0"/>
              <a:t>which are the core SDDC components that make up the workload domains that run within each VCF instance.  These include the SDDC Managers, vCenter Servers, NSX Managers, and ESX hosts.  </a:t>
            </a:r>
          </a:p>
          <a:p>
            <a:endParaRPr lang="en-US" dirty="0"/>
          </a:p>
          <a:p>
            <a:r>
              <a:rPr lang="en-US" dirty="0"/>
              <a:t>By centralizing the core components and the management components into VCF Operations, VCF ensures a consistent, repeatable experience for tracking and applying software updates across your entire private cloud."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VCF Lifecycle Management is an orchestrator, not a replacement for native component tools. It coordinates updates by leveraging existing technologies like </a:t>
            </a:r>
            <a:r>
              <a:rPr lang="en-US" b="1" dirty="0"/>
              <a:t>vSphere Lifecycle Manager (vLCM)</a:t>
            </a:r>
            <a:r>
              <a:rPr lang="en-US" dirty="0"/>
              <a:t> and </a:t>
            </a:r>
            <a:r>
              <a:rPr lang="en-US" b="1" dirty="0"/>
              <a:t>ESX Live Patch</a:t>
            </a:r>
            <a:r>
              <a:rPr lang="en-US" dirty="0"/>
              <a:t>. Because VCF supports features like </a:t>
            </a:r>
            <a:r>
              <a:rPr lang="en-US" b="1" dirty="0"/>
              <a:t>Reduced Downtime Upgrades</a:t>
            </a:r>
            <a:r>
              <a:rPr lang="en-US" dirty="0"/>
              <a:t> for vCenter and ESX, you can be confident that the latest vSphere and NSX patching innovations are fully integrated into the VCF workflow.</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a:extLst>
              <a:ext uri="{FF2B5EF4-FFF2-40B4-BE49-F238E27FC236}">
                <a16:creationId xmlns:a16="http://schemas.microsoft.com/office/drawing/2014/main" id="{53CB0664-D75C-471C-557C-EBA06CBAAA5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16244162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DD353-DC5B-BE5B-C920-82C00C0309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869C6C-7033-E21B-6420-4ACFE4EC9E24}"/>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FD9CD32D-1D04-EE0B-D582-BD941B1CFC8B}"/>
              </a:ext>
            </a:extLst>
          </p:cNvPr>
          <p:cNvSpPr>
            <a:spLocks noGrp="1"/>
          </p:cNvSpPr>
          <p:nvPr>
            <p:ph type="body" idx="1"/>
          </p:nvPr>
        </p:nvSpPr>
        <p:spPr/>
        <p:txBody>
          <a:bodyPr>
            <a:normAutofit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The central software depot automates the retrieval and staging of binaries, giving administrators flexible, scheduled control over both online and offline update sources.</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r>
              <a:rPr lang="en-US" dirty="0"/>
              <a:t>Of course,  the process for tracking and managing software updates for the private cloud starts with setting up a software depot and downloading binaries.  Similar to the VCF Installer, VCF Operations provides you a choice in how to configure your software depot - you can choose between a </a:t>
            </a:r>
            <a:r>
              <a:rPr lang="en-US" b="1" dirty="0"/>
              <a:t>Connected Depot, </a:t>
            </a:r>
            <a:r>
              <a:rPr lang="en-US" b="0" dirty="0"/>
              <a:t>an</a:t>
            </a:r>
            <a:r>
              <a:rPr lang="en-US" b="1" dirty="0"/>
              <a:t> Offline</a:t>
            </a:r>
            <a:r>
              <a:rPr lang="en-US" dirty="0"/>
              <a:t> </a:t>
            </a:r>
            <a:r>
              <a:rPr lang="en-US" b="1" dirty="0"/>
              <a:t>depot</a:t>
            </a:r>
            <a:r>
              <a:rPr lang="en-US" dirty="0"/>
              <a:t>, or a </a:t>
            </a:r>
            <a:r>
              <a:rPr lang="en-US" b="1" dirty="0"/>
              <a:t>Disconnected Depot</a:t>
            </a:r>
            <a:r>
              <a:rPr lang="en-US" dirty="0"/>
              <a:t>.  We’ll discuss these in more detail in a minute.</a:t>
            </a:r>
          </a:p>
          <a:p>
            <a:endParaRPr lang="en-US" dirty="0"/>
          </a:p>
          <a:p>
            <a:r>
              <a:rPr lang="en-US" dirty="0"/>
              <a:t>One thing worth noting here is that the default software depot configuration—including your access code—is automatically carried over from the VCF Installer during deployment.   However, you can switch your software depot types at anytime, although , you only be connected to one type of depot at a time.</a:t>
            </a:r>
          </a:p>
          <a:p>
            <a:endParaRPr lang="en-US" dirty="0"/>
          </a:p>
          <a:p>
            <a:r>
              <a:rPr lang="en-US" dirty="0"/>
              <a:t>Once connected to a software depot, you have a centralized view into all available software binaries and updates – to include upgrades packages, component security patches, as well as new installation binaries.  </a:t>
            </a:r>
          </a:p>
          <a:p>
            <a:endParaRPr lang="en-US" dirty="0"/>
          </a:p>
          <a:p>
            <a:r>
              <a:rPr lang="en-US" dirty="0"/>
              <a:t>Also, you can choose when to download the binaries.   You can choose to download binaries manually or schedule them for off-peak hours to save bandwidth.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US" dirty="0"/>
              <a:t>Just keep in mind that you only connect to one depot type at a time; switching from an online to an offline source will replace your existing connection.</a:t>
            </a: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a:extLst>
              <a:ext uri="{FF2B5EF4-FFF2-40B4-BE49-F238E27FC236}">
                <a16:creationId xmlns:a16="http://schemas.microsoft.com/office/drawing/2014/main" id="{165B5820-9224-1EAB-B817-4AA256CF5D2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05711414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normAutofit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Secure, air-gapped sites maintain full operational parity with connected environments by using the VCF Download Tool to orchestrate offline binary management.</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connected depot is the quickest and easiest way to get the VCF binaries.   However, this is not practical for disconnected sites.  For these sites provide support for the disconnected and offline depots.  </a:t>
            </a:r>
            <a:br>
              <a:rPr lang="en-US" dirty="0"/>
            </a:br>
            <a:br>
              <a:rPr lang="en-US" dirty="0"/>
            </a:br>
            <a:r>
              <a:rPr lang="en-US" dirty="0"/>
              <a:t>In order to configure a disconnected or offline depot you will need to use the VCF Download Tool.</a:t>
            </a:r>
          </a:p>
          <a:p>
            <a:endParaRPr lang="en-US" dirty="0"/>
          </a:p>
          <a:p>
            <a:r>
              <a:rPr lang="en-US" dirty="0"/>
              <a:t>The VCF Download Tool is a command-line utility that you will need to download separately and run on a machine that has internet access.  After registering the tool and receiving an access code, you can use it to securely download the VCF software binaries and patches. Once downloaded, can then either upload them directly to VCF Operations—known as a </a:t>
            </a:r>
            <a:r>
              <a:rPr lang="en-US" b="1" dirty="0"/>
              <a:t>Disconnected Depot</a:t>
            </a:r>
            <a:r>
              <a:rPr lang="en-US" dirty="0"/>
              <a:t>—or upload them to a local web server and configure it to act as an </a:t>
            </a:r>
            <a:r>
              <a:rPr lang="en-US" b="1" dirty="0"/>
              <a:t>Offline Depot</a:t>
            </a:r>
            <a:r>
              <a:rPr lang="en-US" dirty="0"/>
              <a:t>. </a:t>
            </a:r>
          </a:p>
          <a:p>
            <a:endParaRPr lang="en-US" dirty="0"/>
          </a:p>
          <a:p>
            <a:r>
              <a:rPr lang="en-US" dirty="0"/>
              <a:t>While the disconnected and offline depots do require some extra setup, they ensure that even disconnected sites can benefit from the same automated lifecycle efficiencies as a connected site.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42258486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normAutofit fontScale="92500"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Intelligent upgrade planning removes the guesswork of component interoperability by automatically enforcing the correct installation sequence across the SDDC stack.</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r>
              <a:rPr lang="en-US" dirty="0"/>
              <a:t>Once the software depot has been setup and the binaries downloaded, you are ready to plan for your software updates.  This is where the intelligence of VCF really shines. Instead of spending time researching how to upgrade each component and manually cross-referencing compatibility matrices, you simply tell VCF if you want to apply a patch or perform an upgrade.</a:t>
            </a:r>
          </a:p>
          <a:p>
            <a:endParaRPr lang="en-US" dirty="0"/>
          </a:p>
          <a:p>
            <a:r>
              <a:rPr lang="en-US" dirty="0"/>
              <a:t>VCF automatically evaluates your current version against your desired target version and generates a step-by-step </a:t>
            </a:r>
            <a:r>
              <a:rPr lang="en-US" b="1" dirty="0"/>
              <a:t>Plan that you follow to apply the updates</a:t>
            </a:r>
            <a:r>
              <a:rPr lang="en-US" dirty="0"/>
              <a:t>. </a:t>
            </a:r>
          </a:p>
          <a:p>
            <a:endParaRPr lang="en-US" dirty="0"/>
          </a:p>
          <a:p>
            <a:r>
              <a:rPr lang="en-US" dirty="0"/>
              <a:t>In this slide I’m showing an example of the plan that was created to upgrade a workload domain from VCF 5.2 to VCF 9.1.  We can see that this plan  involves 5-steps – we start by staging the vCenter upgrade, we then upgrade NSX and switch to the new vCenter, we then upgrade the ESX hosts and finish by upgrading the NSX Edge nodes. </a:t>
            </a:r>
          </a:p>
          <a:p>
            <a:endParaRPr lang="en-US" dirty="0"/>
          </a:p>
          <a:p>
            <a:r>
              <a:rPr lang="en-US" dirty="0"/>
              <a:t>VCF understands the interdependencies between vCenter, NSX, and ESX, ensuring that every component is updated in the exact order required.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tx1"/>
                </a:solidFill>
                <a:latin typeface="Arial" panose="020B0604020202020204" pitchFamily="34" charset="0"/>
              </a:rPr>
              <a:t>Do note that patches and upgrades within a Cloud Foundation private cloud are applied to each workload domain independently.   This eliminates the need to upgrade everything at once allowing you to seamlessly roll updates in over time.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3322573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1B8E8C-C7DF-315F-E4A6-C830CCE5E81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57EBEA-2787-C509-F503-F896B8E56B77}"/>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801C6D16-7DD4-1ED8-8DD4-F4AD441B7262}"/>
              </a:ext>
            </a:extLst>
          </p:cNvPr>
          <p:cNvSpPr>
            <a:spLocks noGrp="1"/>
          </p:cNvSpPr>
          <p:nvPr>
            <p:ph type="body" idx="1"/>
          </p:nvPr>
        </p:nvSpPr>
        <p:spPr/>
        <p:txBody>
          <a:bodyPr>
            <a:normAutofit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baseline="0" dirty="0">
                <a:solidFill>
                  <a:schemeClr val="tx1"/>
                </a:solidFill>
                <a:latin typeface="Arial" panose="020B0604020202020204" pitchFamily="34" charset="0"/>
                <a:ea typeface="+mn-ea"/>
                <a:cs typeface="+mn-cs"/>
              </a:rPr>
              <a:t>Key Message:</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Continuous and automated pre-checks shift lifecycle management from reactive troubleshooting to proactive validation, ensuring a high success rate for every update.</a:t>
            </a:r>
            <a:endParaRPr lang="en-US" sz="1200" b="1" dirty="0">
              <a:solidFill>
                <a:schemeClr val="tx1"/>
              </a:solidFill>
              <a:latin typeface="Arial" panose="020B0604020202020204" pitchFamily="34" charset="0"/>
            </a:endParaRPr>
          </a:p>
          <a:p>
            <a:pPr lvl="2">
              <a:spcBef>
                <a:spcPts val="600"/>
              </a:spcBef>
              <a:buFont typeface="Arial" panose="020B0604020202020204" pitchFamily="34" charset="0"/>
              <a:buChar cha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trike="noStrike" dirty="0">
                <a:solidFill>
                  <a:schemeClr val="tx1"/>
                </a:solidFill>
                <a:latin typeface="Arial" panose="020B0604020202020204" pitchFamily="34" charset="0"/>
              </a:rPr>
              <a:t>Talk Track:</a:t>
            </a:r>
          </a:p>
          <a:p>
            <a:endParaRPr lang="en-US" dirty="0"/>
          </a:p>
          <a:p>
            <a:r>
              <a:rPr lang="en-US" dirty="0"/>
              <a:t>Finally, I’d like to wrap up this section by calling out what is perhaps the most critical step to applying software updates in Cloud Foundation.   This is running a </a:t>
            </a:r>
            <a:r>
              <a:rPr lang="en-US" b="1" dirty="0"/>
              <a:t>Pre-check</a:t>
            </a:r>
            <a:r>
              <a:rPr lang="en-US" dirty="0"/>
              <a:t>. </a:t>
            </a:r>
          </a:p>
          <a:p>
            <a:endParaRPr lang="en-US" dirty="0"/>
          </a:p>
          <a:p>
            <a:r>
              <a:rPr lang="en-US" dirty="0"/>
              <a:t>VCF provides pre-checks at both the </a:t>
            </a:r>
            <a:r>
              <a:rPr lang="en-US" b="1" dirty="0"/>
              <a:t>Domain</a:t>
            </a:r>
            <a:r>
              <a:rPr lang="en-US" dirty="0"/>
              <a:t> and </a:t>
            </a:r>
            <a:r>
              <a:rPr lang="en-US" b="1" dirty="0"/>
              <a:t>Component</a:t>
            </a:r>
            <a:r>
              <a:rPr lang="en-US" dirty="0"/>
              <a:t> levels. These checks help to validate the health of the domain prior to attempting an upgrade.  The checks look for everything from general health issues to specific upgrade readiness blockers. We are constantly updating these checks with every release to account for the latest known issues and environmental variables.</a:t>
            </a:r>
          </a:p>
          <a:p>
            <a:endParaRPr lang="en-US" dirty="0"/>
          </a:p>
          <a:p>
            <a:r>
              <a:rPr lang="en-US" dirty="0"/>
              <a:t>While these are run before an upgrade, we recommend running them routinely as part of your standard operations. By proactively identifying and resolving health warnings—which you can export via CSV for deeper analysis—you ensure your environment is always 'upgrade-ready.' This instills confidence that when you do decide to move to the next version, the process will be smooth and successful.</a:t>
            </a:r>
          </a:p>
          <a:p>
            <a:endParaRPr lang="en-US" dirty="0"/>
          </a:p>
          <a:p>
            <a:r>
              <a:rPr lang="en-US" dirty="0"/>
              <a:t>This concludes this section on building and deploying a private cloud.   I’ll now hand it off to the next presenter to continue with the cloud foundation overview.</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chemeClr val="tx1"/>
                </a:solidFill>
                <a:latin typeface="Arial" panose="020B0604020202020204" pitchFamily="34" charset="0"/>
              </a:rPr>
              <a:t>Notes:</a:t>
            </a:r>
            <a:endParaRPr lang="en-US" sz="1200" u="none" strike="noStrike" kern="1200" dirty="0">
              <a:solidFill>
                <a:schemeClr val="tx1"/>
              </a:solidFill>
              <a:effectLst/>
              <a:latin typeface="Arial" panose="020B0604020202020204" pitchFamily="34" charset="0"/>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br>
              <a:rPr lang="en-US" sz="1200" b="1" u="none" strike="noStrike" kern="1200" dirty="0">
                <a:solidFill>
                  <a:schemeClr val="tx1"/>
                </a:solidFill>
                <a:effectLst/>
                <a:latin typeface="Arial" panose="020B0604020202020204" pitchFamily="34" charset="0"/>
                <a:ea typeface="+mn-ea"/>
                <a:cs typeface="+mn-cs"/>
              </a:rPr>
            </a:br>
            <a:endParaRPr lang="en-US" dirty="0"/>
          </a:p>
        </p:txBody>
      </p:sp>
      <p:sp>
        <p:nvSpPr>
          <p:cNvPr id="4" name="Slide Number Placeholder 3">
            <a:extLst>
              <a:ext uri="{FF2B5EF4-FFF2-40B4-BE49-F238E27FC236}">
                <a16:creationId xmlns:a16="http://schemas.microsoft.com/office/drawing/2014/main" id="{F7851BDF-28B4-BFAE-8BB5-2F9D7312CE5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57291402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14"/>
        <p:cNvGrpSpPr/>
        <p:nvPr/>
      </p:nvGrpSpPr>
      <p:grpSpPr>
        <a:xfrm>
          <a:off x="0" y="0"/>
          <a:ext cx="0" cy="0"/>
          <a:chOff x="0" y="0"/>
          <a:chExt cx="0" cy="0"/>
        </a:xfrm>
      </p:grpSpPr>
      <p:sp>
        <p:nvSpPr>
          <p:cNvPr id="11315" name="Google Shape;11315;p39: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1316" name="Google Shape;11316;p39: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Key Message:</a:t>
            </a:r>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Talk Track: </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br>
              <a:rPr lang="en-US" sz="1200" u="none" strike="noStrike">
                <a:solidFill>
                  <a:schemeClr val="dk1"/>
                </a:solidFill>
                <a:latin typeface="Arial"/>
                <a:ea typeface="Arial"/>
                <a:cs typeface="Arial"/>
                <a:sym typeface="Arial"/>
              </a:rPr>
            </a:br>
            <a:r>
              <a:rPr lang="en-US" sz="1200" u="none" strike="noStrike">
                <a:solidFill>
                  <a:schemeClr val="dk1"/>
                </a:solidFill>
                <a:latin typeface="Arial"/>
                <a:ea typeface="Arial"/>
                <a:cs typeface="Arial"/>
                <a:sym typeface="Arial"/>
              </a:rPr>
              <a:t>Now, let’s take a look at how storage is configured and utilized within VMware Cloud Foundation.</a:t>
            </a:r>
            <a:endParaRPr>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Notes:</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Resources: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1317" name="Google Shape;11317;p39: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u="none" strike="noStrike" cap="none">
                <a:solidFill>
                  <a:srgbClr val="717074"/>
                </a:solidFill>
              </a:rPr>
              <a:t>21</a:t>
            </a:fld>
            <a:endParaRPr sz="1200" u="none" strike="noStrike" cap="none">
              <a:solidFill>
                <a:srgbClr val="717074"/>
              </a:solidFill>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14">
          <a:extLst>
            <a:ext uri="{FF2B5EF4-FFF2-40B4-BE49-F238E27FC236}">
              <a16:creationId xmlns:a16="http://schemas.microsoft.com/office/drawing/2014/main" id="{35A4C6E9-3F71-AE5A-6ACE-360AD93F2289}"/>
            </a:ext>
          </a:extLst>
        </p:cNvPr>
        <p:cNvGrpSpPr/>
        <p:nvPr/>
      </p:nvGrpSpPr>
      <p:grpSpPr>
        <a:xfrm>
          <a:off x="0" y="0"/>
          <a:ext cx="0" cy="0"/>
          <a:chOff x="0" y="0"/>
          <a:chExt cx="0" cy="0"/>
        </a:xfrm>
      </p:grpSpPr>
      <p:sp>
        <p:nvSpPr>
          <p:cNvPr id="3515" name="Google Shape;3515;p49:notes">
            <a:extLst>
              <a:ext uri="{FF2B5EF4-FFF2-40B4-BE49-F238E27FC236}">
                <a16:creationId xmlns:a16="http://schemas.microsoft.com/office/drawing/2014/main" id="{5F245D28-50CC-4F60-F4BA-6030730A077A}"/>
              </a:ext>
            </a:extLst>
          </p:cNvPr>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516" name="Google Shape;3516;p49:notes">
            <a:extLst>
              <a:ext uri="{FF2B5EF4-FFF2-40B4-BE49-F238E27FC236}">
                <a16:creationId xmlns:a16="http://schemas.microsoft.com/office/drawing/2014/main" id="{61AF3118-D888-AC4A-FE7D-33C55D132D90}"/>
              </a:ext>
            </a:extLst>
          </p:cNvPr>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fontScale="92500" lnSpcReduction="10000"/>
          </a:bodyPr>
          <a:lstStyle/>
          <a:p>
            <a:pPr marL="0" marR="0" lvl="0" indent="0" algn="l" rtl="0">
              <a:lnSpc>
                <a:spcPct val="80000"/>
              </a:lnSpc>
              <a:spcBef>
                <a:spcPts val="0"/>
              </a:spcBef>
              <a:spcAft>
                <a:spcPts val="0"/>
              </a:spcAft>
              <a:buClr>
                <a:schemeClr val="dk1"/>
              </a:buClr>
              <a:buSzPts val="480"/>
              <a:buFont typeface="Arial"/>
              <a:buNone/>
            </a:pPr>
            <a:r>
              <a:rPr lang="en-US" sz="480" b="1" u="none" strike="noStrike" dirty="0">
                <a:solidFill>
                  <a:schemeClr val="dk1"/>
                </a:solidFill>
                <a:latin typeface="Arial" panose="020B0604020202020204" pitchFamily="34" charset="0"/>
                <a:sym typeface="Arial"/>
              </a:rPr>
              <a:t>Presenter note – this slide contains animation</a:t>
            </a:r>
            <a:endParaRPr b="1"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sz="480" b="1"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b="1" dirty="0">
                <a:latin typeface="Arial" panose="020B0604020202020204" pitchFamily="34" charset="0"/>
              </a:rPr>
              <a:t>Key Message:</a:t>
            </a:r>
            <a:endParaRPr b="1"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latin typeface="Arial" panose="020B0604020202020204" pitchFamily="34" charset="0"/>
              </a:rPr>
              <a:t>VMware Cloud Foundation defines two (2) categories of storage - Principal storage and Supplemental storage.</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sz="480"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b="1" dirty="0">
                <a:latin typeface="Arial" panose="020B0604020202020204" pitchFamily="34" charset="0"/>
              </a:rPr>
              <a:t>Talk Track:</a:t>
            </a:r>
            <a:endParaRPr b="1" dirty="0">
              <a:latin typeface="Arial" panose="020B0604020202020204" pitchFamily="34" charset="0"/>
            </a:endParaRPr>
          </a:p>
          <a:p>
            <a:pPr marL="0" marR="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VMware Cloud Foundation provides flexible storage support for Workload Domains to satisfy a broad range of customer application requirements.</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Cloud Foundation defines two (2) categories of storage. </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Principal storage is the storage type selected when creating a new domain</a:t>
            </a:r>
            <a:endParaRPr dirty="0">
              <a:latin typeface="Arial" panose="020B0604020202020204" pitchFamily="34" charset="0"/>
            </a:endParaRPr>
          </a:p>
          <a:p>
            <a:pPr marL="0" marR="0" lvl="0" indent="0" algn="l" defTabSz="914400" rtl="0" eaLnBrk="1" fontAlgn="auto" latinLnBrk="0" hangingPunct="1">
              <a:lnSpc>
                <a:spcPct val="80000"/>
              </a:lnSpc>
              <a:spcBef>
                <a:spcPts val="0"/>
              </a:spcBef>
              <a:spcAft>
                <a:spcPts val="0"/>
              </a:spcAft>
              <a:buClr>
                <a:schemeClr val="dk1"/>
              </a:buClr>
              <a:buSzPts val="480"/>
              <a:buFont typeface="Arial"/>
              <a:buNone/>
              <a:tabLst/>
              <a:defRPr/>
            </a:pPr>
            <a:r>
              <a:rPr lang="en-US" sz="480" dirty="0">
                <a:solidFill>
                  <a:schemeClr val="dk1"/>
                </a:solidFill>
                <a:latin typeface="Arial" panose="020B0604020202020204" pitchFamily="34" charset="0"/>
                <a:sym typeface="Arial"/>
              </a:rPr>
              <a:t>During the initial deployment of a new Cloud Foundation instance, the management domain is configured using one of three storage types.  vSAN HCI is</a:t>
            </a:r>
            <a:r>
              <a:rPr lang="en-US" sz="480" dirty="0">
                <a:solidFill>
                  <a:schemeClr val="dk1"/>
                </a:solidFill>
                <a:latin typeface="Arial" panose="020B0604020202020204" pitchFamily="34" charset="0"/>
              </a:rPr>
              <a:t> recommended for use in the management domain.  </a:t>
            </a:r>
          </a:p>
          <a:p>
            <a:pPr marL="0" marR="0" lvl="0" indent="0" algn="l" defTabSz="914400" rtl="0" eaLnBrk="1" fontAlgn="auto" latinLnBrk="0" hangingPunct="1">
              <a:lnSpc>
                <a:spcPct val="80000"/>
              </a:lnSpc>
              <a:spcBef>
                <a:spcPts val="0"/>
              </a:spcBef>
              <a:spcAft>
                <a:spcPts val="0"/>
              </a:spcAft>
              <a:buClr>
                <a:schemeClr val="dk1"/>
              </a:buClr>
              <a:buSzPts val="480"/>
              <a:buFont typeface="Arial"/>
              <a:buNone/>
              <a:tabLst/>
              <a:defRPr/>
            </a:pPr>
            <a:endParaRPr sz="480" dirty="0">
              <a:solidFill>
                <a:schemeClr val="dk1"/>
              </a:solidFill>
              <a:latin typeface="Arial" panose="020B0604020202020204" pitchFamily="34" charset="0"/>
              <a:sym typeface="Arial"/>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&lt;click&gt;</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When an additional workload domain or cluster is created, the customer is given several additional storage options to choose from.  vSAN can be deployed as </a:t>
            </a:r>
            <a:r>
              <a:rPr lang="en-AU" sz="480" dirty="0">
                <a:solidFill>
                  <a:schemeClr val="dk1"/>
                </a:solidFill>
                <a:latin typeface="Arial" panose="020B0604020202020204" pitchFamily="34" charset="0"/>
                <a:sym typeface="Arial"/>
              </a:rPr>
              <a:t>hyperconverged (</a:t>
            </a:r>
            <a:r>
              <a:rPr lang="en-AU" sz="480" dirty="0" err="1">
                <a:solidFill>
                  <a:schemeClr val="dk1"/>
                </a:solidFill>
                <a:latin typeface="Arial" panose="020B0604020202020204" pitchFamily="34" charset="0"/>
                <a:sym typeface="Arial"/>
              </a:rPr>
              <a:t>vSAN</a:t>
            </a:r>
            <a:r>
              <a:rPr lang="en-AU" sz="480" dirty="0">
                <a:solidFill>
                  <a:schemeClr val="dk1"/>
                </a:solidFill>
                <a:latin typeface="Arial" panose="020B0604020202020204" pitchFamily="34" charset="0"/>
                <a:sym typeface="Arial"/>
              </a:rPr>
              <a:t> HCI), disaggregated (using </a:t>
            </a:r>
            <a:r>
              <a:rPr lang="en-AU" sz="480" dirty="0" err="1">
                <a:solidFill>
                  <a:schemeClr val="dk1"/>
                </a:solidFill>
                <a:latin typeface="Arial" panose="020B0604020202020204" pitchFamily="34" charset="0"/>
                <a:sym typeface="Arial"/>
              </a:rPr>
              <a:t>vSAN</a:t>
            </a:r>
            <a:r>
              <a:rPr lang="en-AU" sz="480" dirty="0">
                <a:solidFill>
                  <a:schemeClr val="dk1"/>
                </a:solidFill>
                <a:latin typeface="Arial" panose="020B0604020202020204" pitchFamily="34" charset="0"/>
                <a:sym typeface="Arial"/>
              </a:rPr>
              <a:t> storage clusters) or as remote </a:t>
            </a:r>
            <a:r>
              <a:rPr lang="en-AU" sz="480" dirty="0" err="1">
                <a:solidFill>
                  <a:schemeClr val="dk1"/>
                </a:solidFill>
                <a:latin typeface="Arial" panose="020B0604020202020204" pitchFamily="34" charset="0"/>
                <a:sym typeface="Arial"/>
              </a:rPr>
              <a:t>vSAN</a:t>
            </a:r>
            <a:r>
              <a:rPr lang="en-AU" sz="480" dirty="0">
                <a:solidFill>
                  <a:schemeClr val="dk1"/>
                </a:solidFill>
                <a:latin typeface="Arial" panose="020B0604020202020204" pitchFamily="34" charset="0"/>
                <a:sym typeface="Arial"/>
              </a:rPr>
              <a:t> datastore.</a:t>
            </a:r>
          </a:p>
          <a:p>
            <a:pPr marL="0" lvl="0" indent="0" algn="l" rtl="0">
              <a:lnSpc>
                <a:spcPct val="80000"/>
              </a:lnSpc>
              <a:spcBef>
                <a:spcPts val="0"/>
              </a:spcBef>
              <a:spcAft>
                <a:spcPts val="0"/>
              </a:spcAft>
              <a:buClr>
                <a:schemeClr val="dk1"/>
              </a:buClr>
              <a:buSzPts val="480"/>
              <a:buFont typeface="Arial"/>
              <a:buNone/>
            </a:pPr>
            <a:r>
              <a:rPr lang="en-AU" sz="480" dirty="0">
                <a:solidFill>
                  <a:schemeClr val="dk1"/>
                </a:solidFill>
                <a:latin typeface="Arial" panose="020B0604020202020204" pitchFamily="34" charset="0"/>
                <a:sym typeface="Arial"/>
              </a:rPr>
              <a:t>Workload domains can also configured using NFS or VMFS on FC.</a:t>
            </a: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Having the flexibility to choose from a selection of different storage types allows customers to leverage their existing investments in storage hardware while also providing an easy on-ramp to move their workloads and applications to vSAN when they are ready.</a:t>
            </a:r>
            <a:endParaRPr dirty="0">
              <a:latin typeface="Arial" panose="020B0604020202020204" pitchFamily="34" charset="0"/>
            </a:endParaRPr>
          </a:p>
          <a:p>
            <a:pPr marL="0" marR="0" lvl="0" indent="0" algn="l" rtl="0">
              <a:lnSpc>
                <a:spcPct val="80000"/>
              </a:lnSpc>
              <a:spcBef>
                <a:spcPts val="0"/>
              </a:spcBef>
              <a:spcAft>
                <a:spcPts val="0"/>
              </a:spcAft>
              <a:buClr>
                <a:schemeClr val="dk1"/>
              </a:buClr>
              <a:buSzPts val="480"/>
              <a:buFont typeface="Arial"/>
              <a:buNone/>
            </a:pPr>
            <a:endParaRPr sz="480" dirty="0">
              <a:solidFill>
                <a:schemeClr val="dk1"/>
              </a:solidFill>
              <a:latin typeface="Arial" panose="020B0604020202020204" pitchFamily="34" charset="0"/>
              <a:sym typeface="Arial"/>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&lt;click&gt;</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Supplemental storage is the second storage type defined by Cloud Foundation. </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While Principal Storage is used when configuring a workload domain or cluster, Supplemental Storage can be used to add storage capacity to any domain or cluster, including the management domain. </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sz="480" dirty="0">
              <a:solidFill>
                <a:schemeClr val="dk1"/>
              </a:solidFill>
              <a:latin typeface="Arial" panose="020B0604020202020204" pitchFamily="34" charset="0"/>
              <a:sym typeface="Arial"/>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Supplemental storage options include:</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vSAN Storage Clusters, vSAN remote datastores, NFS options NFSv3 and NFSv4.1 as well as VMFS on FC, VMFS on iSCSI, NVMe/FC, and now NVMe/TCP.</a:t>
            </a:r>
            <a:endParaRPr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sz="480" dirty="0">
              <a:solidFill>
                <a:schemeClr val="dk1"/>
              </a:solidFill>
              <a:latin typeface="Arial" panose="020B0604020202020204" pitchFamily="34" charset="0"/>
              <a:sym typeface="Arial"/>
            </a:endParaRPr>
          </a:p>
          <a:p>
            <a:pPr marL="0" marR="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It is important to point out that adding and scaling any storage type other than vSAN is a manual process… just as it would be in a traditional environment using hardware-based storage solutions.   </a:t>
            </a:r>
            <a:endParaRPr dirty="0">
              <a:latin typeface="Arial" panose="020B0604020202020204" pitchFamily="34" charset="0"/>
            </a:endParaRPr>
          </a:p>
          <a:p>
            <a:pPr marL="0" marR="0" lvl="0" indent="0" algn="l" rtl="0">
              <a:lnSpc>
                <a:spcPct val="80000"/>
              </a:lnSpc>
              <a:spcBef>
                <a:spcPts val="0"/>
              </a:spcBef>
              <a:spcAft>
                <a:spcPts val="0"/>
              </a:spcAft>
              <a:buClr>
                <a:schemeClr val="dk1"/>
              </a:buClr>
              <a:buSzPts val="480"/>
              <a:buFont typeface="Arial"/>
              <a:buNone/>
            </a:pPr>
            <a:r>
              <a:rPr lang="en-US" sz="480" dirty="0">
                <a:solidFill>
                  <a:schemeClr val="dk1"/>
                </a:solidFill>
                <a:latin typeface="Arial" panose="020B0604020202020204" pitchFamily="34" charset="0"/>
                <a:sym typeface="Arial"/>
              </a:rPr>
              <a:t>When vSAN is not used, the customer is responsible for maintaining server firmware/drivers and plug-ins in accordance with the VMware Compatibility Guide.  </a:t>
            </a:r>
            <a:r>
              <a:rPr lang="en-US" sz="480" u="none" strike="noStrike" cap="none" dirty="0">
                <a:solidFill>
                  <a:srgbClr val="717074"/>
                </a:solidFill>
                <a:latin typeface="Arial" panose="020B0604020202020204" pitchFamily="34" charset="0"/>
                <a:sym typeface="Arial"/>
              </a:rPr>
              <a:t>If a customer is using VMFS on FC it is important that they also check HCL for FC array &amp; HBA compatibility.</a:t>
            </a:r>
            <a:endParaRPr sz="480"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sz="480"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b="1" dirty="0">
                <a:latin typeface="Arial" panose="020B0604020202020204" pitchFamily="34" charset="0"/>
              </a:rPr>
              <a:t>Notes:</a:t>
            </a:r>
            <a:endParaRPr b="1" dirty="0">
              <a:latin typeface="Arial" panose="020B0604020202020204" pitchFamily="34" charset="0"/>
            </a:endParaRPr>
          </a:p>
          <a:p>
            <a:pPr marL="0" marR="0" lvl="0" indent="0" algn="l" rtl="0">
              <a:lnSpc>
                <a:spcPct val="80000"/>
              </a:lnSpc>
              <a:spcBef>
                <a:spcPts val="0"/>
              </a:spcBef>
              <a:spcAft>
                <a:spcPts val="0"/>
              </a:spcAft>
              <a:buClr>
                <a:srgbClr val="717074"/>
              </a:buClr>
              <a:buSzPts val="640"/>
              <a:buFont typeface="Arial"/>
              <a:buNone/>
            </a:pPr>
            <a:r>
              <a:rPr lang="en-US" sz="640" u="sng" strike="noStrike" cap="none" dirty="0">
                <a:solidFill>
                  <a:srgbClr val="717074"/>
                </a:solidFill>
                <a:latin typeface="Arial" panose="020B0604020202020204" pitchFamily="34" charset="0"/>
                <a:sym typeface="Arial"/>
              </a:rPr>
              <a:t>Principal Storage:  </a:t>
            </a:r>
            <a:endParaRPr dirty="0">
              <a:latin typeface="Arial" panose="020B0604020202020204" pitchFamily="34" charset="0"/>
            </a:endParaRPr>
          </a:p>
          <a:p>
            <a:pPr marL="742950" marR="0" lvl="1" indent="-285750" algn="l" rtl="0">
              <a:lnSpc>
                <a:spcPct val="80000"/>
              </a:lnSpc>
              <a:spcBef>
                <a:spcPts val="0"/>
              </a:spcBef>
              <a:spcAft>
                <a:spcPts val="0"/>
              </a:spcAft>
              <a:buClr>
                <a:srgbClr val="717074"/>
              </a:buClr>
              <a:buSzPts val="560"/>
              <a:buFont typeface="Arial"/>
              <a:buChar char="•"/>
            </a:pPr>
            <a:r>
              <a:rPr lang="en-US" sz="560" u="none" strike="noStrike" cap="none" dirty="0">
                <a:solidFill>
                  <a:srgbClr val="717074"/>
                </a:solidFill>
                <a:latin typeface="Arial" panose="020B0604020202020204" pitchFamily="34" charset="0"/>
                <a:sym typeface="Arial"/>
              </a:rPr>
              <a:t>Provisioning is automated in VCF Operations when creating Workload Domain(s).</a:t>
            </a:r>
            <a:endParaRPr dirty="0">
              <a:latin typeface="Arial" panose="020B0604020202020204" pitchFamily="34" charset="0"/>
            </a:endParaRPr>
          </a:p>
          <a:p>
            <a:pPr marL="0" marR="0" lvl="0" indent="0" algn="l" rtl="0">
              <a:lnSpc>
                <a:spcPct val="80000"/>
              </a:lnSpc>
              <a:spcBef>
                <a:spcPts val="0"/>
              </a:spcBef>
              <a:spcAft>
                <a:spcPts val="0"/>
              </a:spcAft>
              <a:buClr>
                <a:schemeClr val="dk1"/>
              </a:buClr>
              <a:buSzPts val="640"/>
              <a:buFont typeface="Arial"/>
              <a:buNone/>
            </a:pPr>
            <a:endParaRPr sz="640" u="none" strike="noStrike" cap="none" dirty="0">
              <a:solidFill>
                <a:srgbClr val="717074"/>
              </a:solidFill>
              <a:latin typeface="Arial" panose="020B0604020202020204" pitchFamily="34" charset="0"/>
              <a:sym typeface="Arial"/>
            </a:endParaRPr>
          </a:p>
          <a:p>
            <a:pPr marL="0" marR="0" lvl="0" indent="0" algn="l" rtl="0">
              <a:lnSpc>
                <a:spcPct val="80000"/>
              </a:lnSpc>
              <a:spcBef>
                <a:spcPts val="0"/>
              </a:spcBef>
              <a:spcAft>
                <a:spcPts val="0"/>
              </a:spcAft>
              <a:buClr>
                <a:srgbClr val="717074"/>
              </a:buClr>
              <a:buSzPts val="640"/>
              <a:buFont typeface="Arial"/>
              <a:buNone/>
            </a:pPr>
            <a:r>
              <a:rPr lang="en-US" sz="640" u="sng" strike="noStrike" cap="none" dirty="0">
                <a:solidFill>
                  <a:srgbClr val="717074"/>
                </a:solidFill>
                <a:latin typeface="Arial" panose="020B0604020202020204" pitchFamily="34" charset="0"/>
                <a:sym typeface="Arial"/>
              </a:rPr>
              <a:t>Supplemental Storage:</a:t>
            </a:r>
            <a:endParaRPr dirty="0">
              <a:latin typeface="Arial" panose="020B0604020202020204" pitchFamily="34" charset="0"/>
            </a:endParaRPr>
          </a:p>
          <a:p>
            <a:pPr marL="742950" marR="0" lvl="1" indent="-285750" algn="l" rtl="0">
              <a:lnSpc>
                <a:spcPct val="80000"/>
              </a:lnSpc>
              <a:spcBef>
                <a:spcPts val="0"/>
              </a:spcBef>
              <a:spcAft>
                <a:spcPts val="0"/>
              </a:spcAft>
              <a:buClr>
                <a:srgbClr val="717074"/>
              </a:buClr>
              <a:buSzPts val="560"/>
              <a:buFont typeface="Arial"/>
              <a:buChar char="•"/>
            </a:pPr>
            <a:r>
              <a:rPr lang="en-US" sz="560" u="none" strike="noStrike" cap="none" dirty="0">
                <a:solidFill>
                  <a:srgbClr val="717074"/>
                </a:solidFill>
                <a:latin typeface="Arial" panose="020B0604020202020204" pitchFamily="34" charset="0"/>
                <a:sym typeface="Arial"/>
              </a:rPr>
              <a:t>Targets:</a:t>
            </a:r>
            <a:endParaRPr dirty="0">
              <a:latin typeface="Arial" panose="020B0604020202020204" pitchFamily="34" charset="0"/>
            </a:endParaRPr>
          </a:p>
          <a:p>
            <a:pPr marL="1200150" marR="0" lvl="2" indent="-285750" algn="l" rtl="0">
              <a:lnSpc>
                <a:spcPct val="80000"/>
              </a:lnSpc>
              <a:spcBef>
                <a:spcPts val="0"/>
              </a:spcBef>
              <a:spcAft>
                <a:spcPts val="0"/>
              </a:spcAft>
              <a:buClr>
                <a:srgbClr val="717074"/>
              </a:buClr>
              <a:buSzPts val="480"/>
              <a:buFont typeface="Arial"/>
              <a:buChar char="•"/>
            </a:pPr>
            <a:r>
              <a:rPr lang="en-US" sz="480" u="none" strike="noStrike" cap="none" dirty="0">
                <a:solidFill>
                  <a:srgbClr val="717074"/>
                </a:solidFill>
                <a:latin typeface="Arial" panose="020B0604020202020204" pitchFamily="34" charset="0"/>
                <a:sym typeface="Arial"/>
              </a:rPr>
              <a:t>Data protection (File/Image backups).</a:t>
            </a:r>
            <a:endParaRPr dirty="0">
              <a:latin typeface="Arial" panose="020B0604020202020204" pitchFamily="34" charset="0"/>
            </a:endParaRPr>
          </a:p>
          <a:p>
            <a:pPr marL="1200150" marR="0" lvl="2" indent="-285750" algn="l" rtl="0">
              <a:lnSpc>
                <a:spcPct val="80000"/>
              </a:lnSpc>
              <a:spcBef>
                <a:spcPts val="0"/>
              </a:spcBef>
              <a:spcAft>
                <a:spcPts val="0"/>
              </a:spcAft>
              <a:buClr>
                <a:srgbClr val="717074"/>
              </a:buClr>
              <a:buSzPts val="480"/>
              <a:buFont typeface="Arial"/>
              <a:buChar char="•"/>
            </a:pPr>
            <a:r>
              <a:rPr lang="en-US" sz="480" u="none" strike="noStrike" cap="none" dirty="0">
                <a:solidFill>
                  <a:srgbClr val="717074"/>
                </a:solidFill>
                <a:latin typeface="Arial" panose="020B0604020202020204" pitchFamily="34" charset="0"/>
                <a:sym typeface="Arial"/>
              </a:rPr>
              <a:t>Data at rest (templates, backups, archives).</a:t>
            </a:r>
            <a:endParaRPr dirty="0">
              <a:latin typeface="Arial" panose="020B0604020202020204" pitchFamily="34" charset="0"/>
            </a:endParaRPr>
          </a:p>
          <a:p>
            <a:pPr marL="1200150" marR="0" lvl="2" indent="-285750" algn="l" rtl="0">
              <a:lnSpc>
                <a:spcPct val="80000"/>
              </a:lnSpc>
              <a:spcBef>
                <a:spcPts val="0"/>
              </a:spcBef>
              <a:spcAft>
                <a:spcPts val="0"/>
              </a:spcAft>
              <a:buClr>
                <a:srgbClr val="717074"/>
              </a:buClr>
              <a:buSzPts val="480"/>
              <a:buFont typeface="Arial"/>
              <a:buChar char="•"/>
            </a:pPr>
            <a:r>
              <a:rPr lang="en-US" sz="480" u="none" strike="noStrike" cap="none" dirty="0">
                <a:solidFill>
                  <a:srgbClr val="717074"/>
                </a:solidFill>
                <a:latin typeface="Arial" panose="020B0604020202020204" pitchFamily="34" charset="0"/>
                <a:sym typeface="Arial"/>
              </a:rPr>
              <a:t>Migration to a full SDDC.</a:t>
            </a:r>
            <a:endParaRPr dirty="0">
              <a:latin typeface="Arial" panose="020B0604020202020204" pitchFamily="34" charset="0"/>
            </a:endParaRPr>
          </a:p>
          <a:p>
            <a:pPr marL="742950" marR="0" lvl="1" indent="-285750" algn="l" rtl="0">
              <a:lnSpc>
                <a:spcPct val="80000"/>
              </a:lnSpc>
              <a:spcBef>
                <a:spcPts val="0"/>
              </a:spcBef>
              <a:spcAft>
                <a:spcPts val="0"/>
              </a:spcAft>
              <a:buClr>
                <a:srgbClr val="717074"/>
              </a:buClr>
              <a:buSzPts val="560"/>
              <a:buFont typeface="Arial"/>
              <a:buChar char="•"/>
            </a:pPr>
            <a:r>
              <a:rPr lang="en-US" sz="560" u="none" strike="noStrike" cap="none" dirty="0">
                <a:solidFill>
                  <a:srgbClr val="717074"/>
                </a:solidFill>
                <a:latin typeface="Arial" panose="020B0604020202020204" pitchFamily="34" charset="0"/>
                <a:sym typeface="Arial"/>
              </a:rPr>
              <a:t>Connect/mount:</a:t>
            </a:r>
            <a:endParaRPr dirty="0">
              <a:latin typeface="Arial" panose="020B0604020202020204" pitchFamily="34" charset="0"/>
            </a:endParaRPr>
          </a:p>
          <a:p>
            <a:pPr marL="1200150" marR="0" lvl="2" indent="-285750" algn="l" rtl="0">
              <a:lnSpc>
                <a:spcPct val="80000"/>
              </a:lnSpc>
              <a:spcBef>
                <a:spcPts val="0"/>
              </a:spcBef>
              <a:spcAft>
                <a:spcPts val="0"/>
              </a:spcAft>
              <a:buClr>
                <a:srgbClr val="717074"/>
              </a:buClr>
              <a:buSzPts val="480"/>
              <a:buFont typeface="Arial"/>
              <a:buChar char="•"/>
            </a:pPr>
            <a:r>
              <a:rPr lang="en-US" sz="480" u="none" strike="noStrike" cap="none" dirty="0">
                <a:solidFill>
                  <a:srgbClr val="717074"/>
                </a:solidFill>
                <a:latin typeface="Arial" panose="020B0604020202020204" pitchFamily="34" charset="0"/>
                <a:sym typeface="Arial"/>
              </a:rPr>
              <a:t>Use vSphere web client to connect storage to workload domains.</a:t>
            </a:r>
            <a:endParaRPr dirty="0">
              <a:latin typeface="Arial" panose="020B0604020202020204" pitchFamily="34" charset="0"/>
            </a:endParaRPr>
          </a:p>
          <a:p>
            <a:pPr marL="914400" marR="0" lvl="2" indent="0" algn="l" rtl="0">
              <a:lnSpc>
                <a:spcPct val="80000"/>
              </a:lnSpc>
              <a:spcBef>
                <a:spcPts val="0"/>
              </a:spcBef>
              <a:spcAft>
                <a:spcPts val="0"/>
              </a:spcAft>
              <a:buClr>
                <a:schemeClr val="dk1"/>
              </a:buClr>
              <a:buSzPts val="480"/>
              <a:buFont typeface="Arial"/>
              <a:buNone/>
            </a:pPr>
            <a:endParaRPr sz="480" u="none" strike="noStrike" cap="none" dirty="0">
              <a:solidFill>
                <a:srgbClr val="717074"/>
              </a:solidFill>
              <a:latin typeface="Arial" panose="020B0604020202020204" pitchFamily="34" charset="0"/>
              <a:sym typeface="Arial"/>
            </a:endParaRPr>
          </a:p>
          <a:p>
            <a:pPr marL="0" marR="0" lvl="0" indent="0" algn="l" rtl="0">
              <a:lnSpc>
                <a:spcPct val="80000"/>
              </a:lnSpc>
              <a:spcBef>
                <a:spcPts val="0"/>
              </a:spcBef>
              <a:spcAft>
                <a:spcPts val="0"/>
              </a:spcAft>
              <a:buClr>
                <a:srgbClr val="717074"/>
              </a:buClr>
              <a:buSzPts val="480"/>
              <a:buFont typeface="Arial"/>
              <a:buNone/>
            </a:pPr>
            <a:r>
              <a:rPr lang="en-US" sz="480" u="sng" strike="noStrike" cap="none" dirty="0">
                <a:solidFill>
                  <a:srgbClr val="717074"/>
                </a:solidFill>
                <a:latin typeface="Arial" panose="020B0604020202020204" pitchFamily="34" charset="0"/>
                <a:sym typeface="Arial"/>
              </a:rPr>
              <a:t>vSAN Storage:</a:t>
            </a:r>
            <a:endParaRPr dirty="0">
              <a:latin typeface="Arial" panose="020B0604020202020204" pitchFamily="34" charset="0"/>
            </a:endParaRPr>
          </a:p>
          <a:p>
            <a:pPr marL="0" marR="0" lvl="0" indent="0" algn="l" rtl="0">
              <a:lnSpc>
                <a:spcPct val="80000"/>
              </a:lnSpc>
              <a:spcBef>
                <a:spcPts val="0"/>
              </a:spcBef>
              <a:spcAft>
                <a:spcPts val="0"/>
              </a:spcAft>
              <a:buClr>
                <a:srgbClr val="717074"/>
              </a:buClr>
              <a:buSzPts val="480"/>
              <a:buFont typeface="Arial"/>
              <a:buNone/>
            </a:pPr>
            <a:r>
              <a:rPr lang="en-US" sz="480" u="none" strike="noStrike" cap="none" dirty="0">
                <a:solidFill>
                  <a:srgbClr val="717074"/>
                </a:solidFill>
                <a:latin typeface="Arial" panose="020B0604020202020204" pitchFamily="34" charset="0"/>
                <a:sym typeface="Arial"/>
              </a:rPr>
              <a:t>VCF provides support for clusters configured using vSAN Original Storage Architecture (vSAN OSA) and vSAN Express Storage Architecture (vSAN ESA). </a:t>
            </a:r>
            <a:endParaRPr dirty="0">
              <a:latin typeface="Arial" panose="020B0604020202020204" pitchFamily="34" charset="0"/>
            </a:endParaRPr>
          </a:p>
          <a:p>
            <a:pPr marL="0" marR="0" lvl="0" indent="0" algn="l" rtl="0">
              <a:lnSpc>
                <a:spcPct val="80000"/>
              </a:lnSpc>
              <a:spcBef>
                <a:spcPts val="0"/>
              </a:spcBef>
              <a:spcAft>
                <a:spcPts val="0"/>
              </a:spcAft>
              <a:buClr>
                <a:schemeClr val="dk1"/>
              </a:buClr>
              <a:buSzPts val="480"/>
              <a:buFont typeface="Arial"/>
              <a:buNone/>
            </a:pPr>
            <a:endParaRPr sz="480" u="none" strike="noStrike" cap="none" dirty="0">
              <a:solidFill>
                <a:srgbClr val="717074"/>
              </a:solidFill>
              <a:latin typeface="Arial" panose="020B0604020202020204" pitchFamily="34" charset="0"/>
              <a:sym typeface="Arial"/>
            </a:endParaRPr>
          </a:p>
          <a:p>
            <a:pPr marL="0" marR="0" lvl="0" indent="0" algn="l" rtl="0">
              <a:lnSpc>
                <a:spcPct val="80000"/>
              </a:lnSpc>
              <a:spcBef>
                <a:spcPts val="0"/>
              </a:spcBef>
              <a:spcAft>
                <a:spcPts val="0"/>
              </a:spcAft>
              <a:buClr>
                <a:srgbClr val="717074"/>
              </a:buClr>
              <a:buSzPts val="480"/>
              <a:buFont typeface="Arial"/>
              <a:buNone/>
            </a:pPr>
            <a:r>
              <a:rPr lang="en-US" sz="480" u="none" strike="noStrike" cap="none" dirty="0">
                <a:solidFill>
                  <a:srgbClr val="717074"/>
                </a:solidFill>
                <a:latin typeface="Arial" panose="020B0604020202020204" pitchFamily="34" charset="0"/>
                <a:sym typeface="Arial"/>
              </a:rPr>
              <a:t>vSAN can be configured as local or remote.  vSAN local storage is a principal storage option which leverages local storage from the hosts configured as part of the cluster. </a:t>
            </a:r>
          </a:p>
          <a:p>
            <a:pPr marL="0" marR="0" lvl="0" indent="0" algn="l" rtl="0">
              <a:lnSpc>
                <a:spcPct val="80000"/>
              </a:lnSpc>
              <a:spcBef>
                <a:spcPts val="0"/>
              </a:spcBef>
              <a:spcAft>
                <a:spcPts val="0"/>
              </a:spcAft>
              <a:buClr>
                <a:srgbClr val="717074"/>
              </a:buClr>
              <a:buSzPts val="480"/>
              <a:buFont typeface="Arial"/>
              <a:buNone/>
            </a:pPr>
            <a:r>
              <a:rPr lang="en-US" sz="480" u="none" strike="noStrike" cap="none" dirty="0">
                <a:solidFill>
                  <a:srgbClr val="717074"/>
                </a:solidFill>
                <a:latin typeface="Arial" panose="020B0604020202020204" pitchFamily="34" charset="0"/>
                <a:sym typeface="Arial"/>
              </a:rPr>
              <a:t> </a:t>
            </a:r>
            <a:endParaRPr sz="480" dirty="0">
              <a:solidFill>
                <a:srgbClr val="333333"/>
              </a:solidFill>
              <a:latin typeface="Arial" panose="020B0604020202020204" pitchFamily="34" charset="0"/>
              <a:sym typeface="Arial"/>
            </a:endParaRPr>
          </a:p>
          <a:p>
            <a:pPr marL="0" lvl="0" indent="0" algn="l" rtl="0">
              <a:lnSpc>
                <a:spcPct val="80000"/>
              </a:lnSpc>
              <a:spcBef>
                <a:spcPts val="0"/>
              </a:spcBef>
              <a:spcAft>
                <a:spcPts val="0"/>
              </a:spcAft>
              <a:buClr>
                <a:srgbClr val="333333"/>
              </a:buClr>
              <a:buSzPts val="480"/>
              <a:buFont typeface="Arial"/>
              <a:buNone/>
            </a:pPr>
            <a:r>
              <a:rPr lang="en-US" sz="480" u="sng" dirty="0" err="1">
                <a:solidFill>
                  <a:srgbClr val="333333"/>
                </a:solidFill>
                <a:latin typeface="Arial" panose="020B0604020202020204" pitchFamily="34" charset="0"/>
                <a:sym typeface="Arial"/>
              </a:rPr>
              <a:t>NVMeof</a:t>
            </a:r>
            <a:r>
              <a:rPr lang="en-US" sz="480" u="sng" dirty="0">
                <a:solidFill>
                  <a:srgbClr val="333333"/>
                </a:solidFill>
                <a:latin typeface="Arial" panose="020B0604020202020204" pitchFamily="34" charset="0"/>
                <a:sym typeface="Arial"/>
              </a:rPr>
              <a:t>/TCP:</a:t>
            </a:r>
            <a:endParaRPr dirty="0">
              <a:latin typeface="Arial" panose="020B0604020202020204" pitchFamily="34" charset="0"/>
            </a:endParaRPr>
          </a:p>
          <a:p>
            <a:pPr marL="0" marR="0" lvl="0" indent="0" algn="l" defTabSz="914400" rtl="0" eaLnBrk="1" fontAlgn="auto" latinLnBrk="0" hangingPunct="1">
              <a:lnSpc>
                <a:spcPct val="80000"/>
              </a:lnSpc>
              <a:spcBef>
                <a:spcPts val="0"/>
              </a:spcBef>
              <a:spcAft>
                <a:spcPts val="0"/>
              </a:spcAft>
              <a:buClr>
                <a:schemeClr val="dk1"/>
              </a:buClr>
              <a:buSzPts val="480"/>
              <a:buFont typeface="Arial"/>
              <a:buNone/>
              <a:tabLst/>
              <a:defRPr/>
            </a:pPr>
            <a:r>
              <a:rPr lang="en-US" sz="480" dirty="0">
                <a:latin typeface="Arial" panose="020B0604020202020204" pitchFamily="34" charset="0"/>
              </a:rPr>
              <a:t>VMware Cloud Foundation includes added supplemental storage support for </a:t>
            </a:r>
            <a:r>
              <a:rPr lang="en-US" sz="480" dirty="0">
                <a:solidFill>
                  <a:srgbClr val="0E101A"/>
                </a:solidFill>
                <a:latin typeface="Arial" panose="020B0604020202020204" pitchFamily="34" charset="0"/>
                <a:sym typeface="Arial"/>
              </a:rPr>
              <a:t>NVMe-TCP.   Cloud Administrators can utilize the benefits of using </a:t>
            </a:r>
            <a:r>
              <a:rPr lang="en-US" sz="480" dirty="0" err="1">
                <a:solidFill>
                  <a:srgbClr val="0E101A"/>
                </a:solidFill>
                <a:latin typeface="Arial" panose="020B0604020202020204" pitchFamily="34" charset="0"/>
                <a:sym typeface="Arial"/>
              </a:rPr>
              <a:t>NVMeoF</a:t>
            </a:r>
            <a:r>
              <a:rPr lang="en-US" sz="480" dirty="0">
                <a:solidFill>
                  <a:srgbClr val="0E101A"/>
                </a:solidFill>
                <a:latin typeface="Arial" panose="020B0604020202020204" pitchFamily="34" charset="0"/>
                <a:sym typeface="Arial"/>
              </a:rPr>
              <a:t> storage in a standard ethernet-based networking environment.  The use of </a:t>
            </a:r>
            <a:r>
              <a:rPr lang="en-US" sz="480" dirty="0" err="1">
                <a:solidFill>
                  <a:srgbClr val="0E101A"/>
                </a:solidFill>
                <a:latin typeface="Arial" panose="020B0604020202020204" pitchFamily="34" charset="0"/>
                <a:sym typeface="Arial"/>
              </a:rPr>
              <a:t>NVMe</a:t>
            </a:r>
            <a:r>
              <a:rPr lang="en-US" sz="480" dirty="0">
                <a:solidFill>
                  <a:srgbClr val="0E101A"/>
                </a:solidFill>
                <a:latin typeface="Arial" panose="020B0604020202020204" pitchFamily="34" charset="0"/>
                <a:sym typeface="Arial"/>
              </a:rPr>
              <a:t>/TCP is more cost efficient and negates the need to deploy a </a:t>
            </a:r>
            <a:r>
              <a:rPr lang="en-US" sz="480" dirty="0" err="1">
                <a:solidFill>
                  <a:srgbClr val="0E101A"/>
                </a:solidFill>
                <a:latin typeface="Arial" panose="020B0604020202020204" pitchFamily="34" charset="0"/>
                <a:sym typeface="Arial"/>
              </a:rPr>
              <a:t>fibre</a:t>
            </a:r>
            <a:r>
              <a:rPr lang="en-US" sz="480" dirty="0">
                <a:solidFill>
                  <a:srgbClr val="0E101A"/>
                </a:solidFill>
                <a:latin typeface="Arial" panose="020B0604020202020204" pitchFamily="34" charset="0"/>
                <a:sym typeface="Arial"/>
              </a:rPr>
              <a:t> channel fabric.</a:t>
            </a:r>
            <a:br>
              <a:rPr lang="en-US" sz="480" dirty="0">
                <a:solidFill>
                  <a:srgbClr val="0E101A"/>
                </a:solidFill>
                <a:latin typeface="Arial" panose="020B0604020202020204" pitchFamily="34" charset="0"/>
                <a:sym typeface="Arial"/>
              </a:rPr>
            </a:br>
            <a:r>
              <a:rPr lang="en-US" sz="720" dirty="0" err="1">
                <a:solidFill>
                  <a:srgbClr val="0E101A"/>
                </a:solidFill>
                <a:latin typeface="Arial" panose="020B0604020202020204" pitchFamily="34" charset="0"/>
                <a:sym typeface="Arial"/>
              </a:rPr>
              <a:t>NVMe</a:t>
            </a:r>
            <a:r>
              <a:rPr lang="en-US" sz="720" dirty="0">
                <a:solidFill>
                  <a:srgbClr val="0E101A"/>
                </a:solidFill>
                <a:latin typeface="Arial" panose="020B0604020202020204" pitchFamily="34" charset="0"/>
                <a:sym typeface="Arial"/>
              </a:rPr>
              <a:t> Storage an be added by creating a new VMFS datastore which can be done quickly by following the steps in the </a:t>
            </a:r>
            <a:r>
              <a:rPr lang="en-AU" sz="800" dirty="0">
                <a:solidFill>
                  <a:srgbClr val="000000"/>
                </a:solidFill>
                <a:effectLst/>
                <a:latin typeface="Arial" panose="020B0604020202020204" pitchFamily="34" charset="0"/>
              </a:rPr>
              <a:t>VMware vSphere Product Documentation.</a:t>
            </a:r>
          </a:p>
          <a:p>
            <a:pPr marL="0" marR="0" lvl="0" indent="0" algn="l" defTabSz="914400" rtl="0" eaLnBrk="1" fontAlgn="auto" latinLnBrk="0" hangingPunct="1">
              <a:lnSpc>
                <a:spcPct val="80000"/>
              </a:lnSpc>
              <a:spcBef>
                <a:spcPts val="0"/>
              </a:spcBef>
              <a:spcAft>
                <a:spcPts val="0"/>
              </a:spcAft>
              <a:buClr>
                <a:schemeClr val="dk1"/>
              </a:buClr>
              <a:buSzPts val="480"/>
              <a:buFont typeface="Arial"/>
              <a:buNone/>
              <a:tabLst/>
              <a:defRPr/>
            </a:pPr>
            <a:endParaRPr sz="480" u="none" strike="noStrike" cap="none" dirty="0">
              <a:solidFill>
                <a:srgbClr val="717074"/>
              </a:solidFill>
              <a:latin typeface="Arial" panose="020B0604020202020204" pitchFamily="34" charset="0"/>
              <a:sym typeface="Arial"/>
            </a:endParaRPr>
          </a:p>
          <a:p>
            <a:pPr marL="0" marR="0" lvl="0" indent="0" algn="l" rtl="0">
              <a:lnSpc>
                <a:spcPct val="80000"/>
              </a:lnSpc>
              <a:spcBef>
                <a:spcPts val="0"/>
              </a:spcBef>
              <a:spcAft>
                <a:spcPts val="0"/>
              </a:spcAft>
              <a:buClr>
                <a:srgbClr val="717074"/>
              </a:buClr>
              <a:buSzPts val="480"/>
              <a:buFont typeface="Arial"/>
              <a:buNone/>
            </a:pPr>
            <a:r>
              <a:rPr lang="en-US" sz="480" u="sng" strike="noStrike" cap="none" dirty="0">
                <a:solidFill>
                  <a:srgbClr val="717074"/>
                </a:solidFill>
                <a:latin typeface="Arial" panose="020B0604020202020204" pitchFamily="34" charset="0"/>
                <a:sym typeface="Arial"/>
              </a:rPr>
              <a:t>iSCSI:</a:t>
            </a:r>
            <a:endParaRPr dirty="0">
              <a:latin typeface="Arial" panose="020B0604020202020204" pitchFamily="34" charset="0"/>
            </a:endParaRPr>
          </a:p>
          <a:p>
            <a:pPr marL="0" lvl="0" indent="0" algn="l" rtl="0">
              <a:lnSpc>
                <a:spcPct val="80000"/>
              </a:lnSpc>
              <a:spcBef>
                <a:spcPts val="0"/>
              </a:spcBef>
              <a:spcAft>
                <a:spcPts val="0"/>
              </a:spcAft>
              <a:buClr>
                <a:srgbClr val="7F7F7F"/>
              </a:buClr>
              <a:buSzPts val="720"/>
              <a:buFont typeface="Calibri"/>
              <a:buNone/>
            </a:pPr>
            <a:r>
              <a:rPr lang="en-US" sz="720" u="none" strike="noStrike" dirty="0">
                <a:solidFill>
                  <a:srgbClr val="7F7F7F"/>
                </a:solidFill>
                <a:latin typeface="Arial" panose="020B0604020202020204" pitchFamily="34" charset="0"/>
                <a:ea typeface="Calibri"/>
                <a:cs typeface="Arial" panose="020B0604020202020204" pitchFamily="34" charset="0"/>
                <a:sym typeface="Calibri"/>
              </a:rPr>
              <a:t>VMware Cloud Foundation supports the use of iSCSI when for supplemental storage in any domain.  Admins can register a VASA provider to configure iSCSI using APIs provided by the storage vendor.  For a list of supported VASA providers please check the VMware Compatibility Guide. Once the VASA provider is configured, the user can then create a Network pool from the vSphere client to provide IP addresses for the VASA endpoints.</a:t>
            </a:r>
            <a:endParaRPr sz="720" u="none" strike="noStrike" dirty="0">
              <a:solidFill>
                <a:srgbClr val="000000"/>
              </a:solidFill>
              <a:latin typeface="Arial" panose="020B0604020202020204" pitchFamily="34" charset="0"/>
              <a:ea typeface="Calibri"/>
              <a:cs typeface="Arial" panose="020B0604020202020204" pitchFamily="34" charset="0"/>
              <a:sym typeface="Calibri"/>
            </a:endParaRPr>
          </a:p>
          <a:p>
            <a:pPr marL="0" lvl="0" indent="0" algn="l" rtl="0">
              <a:lnSpc>
                <a:spcPct val="80000"/>
              </a:lnSpc>
              <a:spcBef>
                <a:spcPts val="0"/>
              </a:spcBef>
              <a:spcAft>
                <a:spcPts val="0"/>
              </a:spcAft>
              <a:buClr>
                <a:srgbClr val="7F7F7F"/>
              </a:buClr>
              <a:buSzPts val="720"/>
              <a:buFont typeface="Calibri"/>
              <a:buNone/>
            </a:pPr>
            <a:endParaRPr lang="en-US" sz="720" u="none" strike="noStrike" dirty="0">
              <a:solidFill>
                <a:srgbClr val="7F7F7F"/>
              </a:solidFill>
              <a:latin typeface="Arial" panose="020B0604020202020204" pitchFamily="34" charset="0"/>
              <a:ea typeface="Calibri"/>
              <a:cs typeface="Arial" panose="020B0604020202020204" pitchFamily="34" charset="0"/>
              <a:sym typeface="Calibri"/>
            </a:endParaRPr>
          </a:p>
          <a:p>
            <a:pPr marL="0" lvl="0" indent="0" algn="l" rtl="0">
              <a:lnSpc>
                <a:spcPct val="80000"/>
              </a:lnSpc>
              <a:spcBef>
                <a:spcPts val="0"/>
              </a:spcBef>
              <a:spcAft>
                <a:spcPts val="0"/>
              </a:spcAft>
              <a:buClr>
                <a:srgbClr val="7F7F7F"/>
              </a:buClr>
              <a:buSzPts val="720"/>
              <a:buFont typeface="Calibri"/>
              <a:buNone/>
            </a:pPr>
            <a:r>
              <a:rPr lang="en-US" sz="720" u="sng" strike="noStrike" dirty="0">
                <a:solidFill>
                  <a:srgbClr val="7F7F7F"/>
                </a:solidFill>
                <a:latin typeface="Arial" panose="020B0604020202020204" pitchFamily="34" charset="0"/>
                <a:ea typeface="Calibri"/>
                <a:cs typeface="Arial" panose="020B0604020202020204" pitchFamily="34" charset="0"/>
                <a:sym typeface="Calibri"/>
              </a:rPr>
              <a:t>vSAN Storage Clusters (formerly vSAN Max):</a:t>
            </a:r>
          </a:p>
          <a:p>
            <a:pPr marL="0" lvl="0" indent="0" algn="l" rtl="0">
              <a:lnSpc>
                <a:spcPct val="80000"/>
              </a:lnSpc>
              <a:spcBef>
                <a:spcPts val="0"/>
              </a:spcBef>
              <a:spcAft>
                <a:spcPts val="0"/>
              </a:spcAft>
              <a:buClr>
                <a:srgbClr val="7F7F7F"/>
              </a:buClr>
              <a:buSzPts val="720"/>
              <a:buFont typeface="Calibri"/>
              <a:buNone/>
            </a:pPr>
            <a:r>
              <a:rPr lang="en-US" sz="700" dirty="0">
                <a:latin typeface="Arial" panose="020B0604020202020204" pitchFamily="34" charset="0"/>
              </a:rPr>
              <a:t>vSAN 8 U3 also brings support of vSAN Storage Clusters (formerly known as vSAN Max) as principal storage in VMware Cloud Foundation 5.2. </a:t>
            </a:r>
            <a:r>
              <a:rPr lang="en-US" sz="700" u="none" strike="noStrike" dirty="0">
                <a:solidFill>
                  <a:srgbClr val="000000"/>
                </a:solidFill>
                <a:latin typeface="Arial" panose="020B0604020202020204" pitchFamily="34" charset="0"/>
                <a:ea typeface="Calibri"/>
                <a:cs typeface="Arial" panose="020B0604020202020204" pitchFamily="34" charset="0"/>
                <a:sym typeface="Calibri"/>
              </a:rPr>
              <a:t>vSAN Storage Clusters leverages vSAN ESA architecture providing a </a:t>
            </a:r>
            <a:r>
              <a:rPr lang="en-AU" sz="1050" dirty="0">
                <a:solidFill>
                  <a:srgbClr val="304351"/>
                </a:solidFill>
                <a:effectLst/>
                <a:highlight>
                  <a:srgbClr val="FFFFFF"/>
                </a:highlight>
                <a:latin typeface="Arial" panose="020B0604020202020204" pitchFamily="34" charset="0"/>
              </a:rPr>
              <a:t>disaggregated HCI solution that allows for the independent scaling of storage resources from compute resources. It enables businesses to adapt to changing needs quickly, ensuring storage capabilities align precisely with demand. This adaptability supports dynamic workloads and growth, significantly enhancing IT infrastructure’s flexibility and scalability</a:t>
            </a:r>
          </a:p>
          <a:p>
            <a:pPr marL="0" lvl="0" indent="0" algn="l" rtl="0">
              <a:lnSpc>
                <a:spcPct val="80000"/>
              </a:lnSpc>
              <a:spcBef>
                <a:spcPts val="0"/>
              </a:spcBef>
              <a:spcAft>
                <a:spcPts val="0"/>
              </a:spcAft>
              <a:buClr>
                <a:srgbClr val="7F7F7F"/>
              </a:buClr>
              <a:buSzPts val="720"/>
              <a:buFont typeface="Calibri"/>
              <a:buNone/>
            </a:pPr>
            <a:endParaRPr lang="en-AU" sz="1050" u="none" strike="noStrike" dirty="0">
              <a:solidFill>
                <a:srgbClr val="304351"/>
              </a:solidFill>
              <a:effectLst/>
              <a:highlight>
                <a:srgbClr val="FFFFFF"/>
              </a:highlight>
              <a:latin typeface="Arial" panose="020B0604020202020204" pitchFamily="34" charset="0"/>
              <a:ea typeface="Calibri"/>
              <a:cs typeface="Arial" panose="020B0604020202020204" pitchFamily="34" charset="0"/>
              <a:sym typeface="Calibri"/>
            </a:endParaRPr>
          </a:p>
          <a:p>
            <a:pPr marL="0" lvl="0" indent="0" algn="l" rtl="0">
              <a:lnSpc>
                <a:spcPct val="80000"/>
              </a:lnSpc>
              <a:spcBef>
                <a:spcPts val="0"/>
              </a:spcBef>
              <a:spcAft>
                <a:spcPts val="0"/>
              </a:spcAft>
              <a:buClr>
                <a:srgbClr val="7F7F7F"/>
              </a:buClr>
              <a:buSzPts val="720"/>
              <a:buFont typeface="Calibri"/>
              <a:buNone/>
            </a:pPr>
            <a:r>
              <a:rPr lang="en-AU" sz="1050" u="sng" strike="noStrike" dirty="0">
                <a:solidFill>
                  <a:srgbClr val="304351"/>
                </a:solidFill>
                <a:effectLst/>
                <a:highlight>
                  <a:srgbClr val="FFFFFF"/>
                </a:highlight>
                <a:latin typeface="Arial" panose="020B0604020202020204" pitchFamily="34" charset="0"/>
                <a:ea typeface="Calibri"/>
                <a:cs typeface="Arial" panose="020B0604020202020204" pitchFamily="34" charset="0"/>
                <a:sym typeface="Calibri"/>
              </a:rPr>
              <a:t>VCF Import:</a:t>
            </a:r>
          </a:p>
          <a:p>
            <a:pPr marL="0" lvl="0" indent="0" algn="l" rtl="0">
              <a:lnSpc>
                <a:spcPct val="80000"/>
              </a:lnSpc>
              <a:spcBef>
                <a:spcPts val="0"/>
              </a:spcBef>
              <a:spcAft>
                <a:spcPts val="0"/>
              </a:spcAft>
              <a:buClr>
                <a:srgbClr val="7F7F7F"/>
              </a:buClr>
              <a:buSzPts val="720"/>
              <a:buFont typeface="Calibri"/>
              <a:buNone/>
            </a:pPr>
            <a:r>
              <a:rPr lang="en-AU" sz="800" dirty="0"/>
              <a:t>If you use the VCF Operations to converge an existing vSphere environment to a VCF management domain, that management domain can use VMFS-FC and NFS v3 as principal storage, in addition to </a:t>
            </a:r>
            <a:r>
              <a:rPr lang="en-AU" sz="800" dirty="0" err="1"/>
              <a:t>vSAN</a:t>
            </a:r>
            <a:endParaRPr lang="en-AU" sz="800" dirty="0"/>
          </a:p>
          <a:p>
            <a:pPr marL="0" lvl="0" indent="0" algn="l" rtl="0">
              <a:lnSpc>
                <a:spcPct val="80000"/>
              </a:lnSpc>
              <a:spcBef>
                <a:spcPts val="0"/>
              </a:spcBef>
              <a:spcAft>
                <a:spcPts val="0"/>
              </a:spcAft>
              <a:buClr>
                <a:srgbClr val="7F7F7F"/>
              </a:buClr>
              <a:buSzPts val="720"/>
              <a:buFont typeface="Calibri"/>
              <a:buNone/>
            </a:pPr>
            <a:endParaRPr lang="en-AU" sz="800" u="none" strike="noStrike" dirty="0">
              <a:solidFill>
                <a:srgbClr val="000000"/>
              </a:solidFill>
              <a:latin typeface="Arial" panose="020B0604020202020204" pitchFamily="34" charset="0"/>
              <a:ea typeface="Calibri"/>
              <a:cs typeface="Arial" panose="020B0604020202020204" pitchFamily="34" charset="0"/>
              <a:sym typeface="Calibri"/>
            </a:endParaRPr>
          </a:p>
          <a:p>
            <a:pPr marL="0" lvl="0" indent="0" algn="l" rtl="0">
              <a:lnSpc>
                <a:spcPct val="80000"/>
              </a:lnSpc>
              <a:spcBef>
                <a:spcPts val="0"/>
              </a:spcBef>
              <a:spcAft>
                <a:spcPts val="0"/>
              </a:spcAft>
              <a:buClr>
                <a:srgbClr val="7F7F7F"/>
              </a:buClr>
              <a:buSzPts val="720"/>
              <a:buFont typeface="Calibri"/>
              <a:buNone/>
            </a:pPr>
            <a:r>
              <a:rPr lang="en-AU" sz="800" u="sng" strike="noStrike" dirty="0">
                <a:solidFill>
                  <a:srgbClr val="000000"/>
                </a:solidFill>
                <a:latin typeface="Arial" panose="020B0604020202020204" pitchFamily="34" charset="0"/>
                <a:ea typeface="Calibri"/>
                <a:cs typeface="Arial" panose="020B0604020202020204" pitchFamily="34" charset="0"/>
                <a:sym typeface="Calibri"/>
              </a:rPr>
              <a:t>Virtual Volumes (</a:t>
            </a:r>
            <a:r>
              <a:rPr lang="en-AU" sz="800" u="sng" strike="noStrike" dirty="0" err="1">
                <a:solidFill>
                  <a:srgbClr val="000000"/>
                </a:solidFill>
                <a:latin typeface="Arial" panose="020B0604020202020204" pitchFamily="34" charset="0"/>
                <a:ea typeface="Calibri"/>
                <a:cs typeface="Arial" panose="020B0604020202020204" pitchFamily="34" charset="0"/>
                <a:sym typeface="Calibri"/>
              </a:rPr>
              <a:t>vVols</a:t>
            </a:r>
            <a:r>
              <a:rPr lang="en-AU" sz="800" u="sng" strike="noStrike" dirty="0">
                <a:solidFill>
                  <a:srgbClr val="000000"/>
                </a:solidFill>
                <a:latin typeface="Arial" panose="020B0604020202020204" pitchFamily="34" charset="0"/>
                <a:ea typeface="Calibri"/>
                <a:cs typeface="Arial" panose="020B0604020202020204" pitchFamily="34" charset="0"/>
                <a:sym typeface="Calibri"/>
              </a:rPr>
              <a:t>)</a:t>
            </a:r>
            <a:br>
              <a:rPr lang="en-AU" sz="800" u="none" strike="noStrike" dirty="0">
                <a:solidFill>
                  <a:srgbClr val="000000"/>
                </a:solidFill>
                <a:latin typeface="Arial" panose="020B0604020202020204" pitchFamily="34" charset="0"/>
                <a:ea typeface="Calibri"/>
                <a:cs typeface="Arial" panose="020B0604020202020204" pitchFamily="34" charset="0"/>
                <a:sym typeface="Calibri"/>
              </a:rPr>
            </a:br>
            <a:r>
              <a:rPr lang="en-AU" sz="800" u="none" strike="noStrike" dirty="0" err="1">
                <a:solidFill>
                  <a:srgbClr val="000000"/>
                </a:solidFill>
                <a:latin typeface="Arial" panose="020B0604020202020204" pitchFamily="34" charset="0"/>
                <a:ea typeface="Calibri"/>
                <a:cs typeface="Arial" panose="020B0604020202020204" pitchFamily="34" charset="0"/>
                <a:sym typeface="Calibri"/>
              </a:rPr>
              <a:t>vVols</a:t>
            </a:r>
            <a:r>
              <a:rPr lang="en-AU" sz="800" u="none" strike="noStrike" dirty="0">
                <a:solidFill>
                  <a:srgbClr val="000000"/>
                </a:solidFill>
                <a:latin typeface="Arial" panose="020B0604020202020204" pitchFamily="34" charset="0"/>
                <a:ea typeface="Calibri"/>
                <a:cs typeface="Arial" panose="020B0604020202020204" pitchFamily="34" charset="0"/>
                <a:sym typeface="Calibri"/>
              </a:rPr>
              <a:t> will be deprecated beginning with VVF/VCF 9.0 and will be fully disabled in in an upcoming release of VVF and VCF.</a:t>
            </a:r>
          </a:p>
          <a:p>
            <a:pPr marL="0" lvl="0" indent="0" algn="l" rtl="0">
              <a:lnSpc>
                <a:spcPct val="80000"/>
              </a:lnSpc>
              <a:spcBef>
                <a:spcPts val="0"/>
              </a:spcBef>
              <a:spcAft>
                <a:spcPts val="0"/>
              </a:spcAft>
              <a:buClr>
                <a:srgbClr val="7F7F7F"/>
              </a:buClr>
              <a:buSzPts val="720"/>
              <a:buFont typeface="Calibri"/>
              <a:buNone/>
            </a:pPr>
            <a:r>
              <a:rPr lang="en-AU" sz="800" u="none" strike="noStrike" dirty="0">
                <a:solidFill>
                  <a:srgbClr val="000000"/>
                </a:solidFill>
                <a:latin typeface="Arial" panose="020B0604020202020204" pitchFamily="34" charset="0"/>
                <a:ea typeface="Calibri"/>
                <a:cs typeface="Arial" panose="020B0604020202020204" pitchFamily="34" charset="0"/>
                <a:sym typeface="Calibri"/>
              </a:rPr>
              <a:t>Limited time support for customers in 9.0 may be considered on a case-by-case basis under TQR/RPQ until </a:t>
            </a:r>
            <a:r>
              <a:rPr lang="en-AU" sz="800" u="none" strike="noStrike" dirty="0" err="1">
                <a:solidFill>
                  <a:srgbClr val="000000"/>
                </a:solidFill>
                <a:latin typeface="Arial" panose="020B0604020202020204" pitchFamily="34" charset="0"/>
                <a:ea typeface="Calibri"/>
                <a:cs typeface="Arial" panose="020B0604020202020204" pitchFamily="34" charset="0"/>
                <a:sym typeface="Calibri"/>
              </a:rPr>
              <a:t>vVol</a:t>
            </a:r>
            <a:r>
              <a:rPr lang="en-AU" sz="800" u="none" strike="noStrike" dirty="0">
                <a:solidFill>
                  <a:srgbClr val="000000"/>
                </a:solidFill>
                <a:latin typeface="Arial" panose="020B0604020202020204" pitchFamily="34" charset="0"/>
                <a:ea typeface="Calibri"/>
                <a:cs typeface="Arial" panose="020B0604020202020204" pitchFamily="34" charset="0"/>
                <a:sym typeface="Calibri"/>
              </a:rPr>
              <a:t> capabilities are fully disabled.</a:t>
            </a:r>
          </a:p>
          <a:p>
            <a:pPr marL="0" lvl="0" indent="0" algn="l" rtl="0">
              <a:lnSpc>
                <a:spcPct val="80000"/>
              </a:lnSpc>
              <a:spcBef>
                <a:spcPts val="0"/>
              </a:spcBef>
              <a:spcAft>
                <a:spcPts val="0"/>
              </a:spcAft>
              <a:buClr>
                <a:srgbClr val="7F7F7F"/>
              </a:buClr>
              <a:buSzPts val="720"/>
              <a:buFont typeface="Calibri"/>
              <a:buNone/>
            </a:pPr>
            <a:endParaRPr sz="480"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AU" sz="480" b="1" dirty="0">
                <a:latin typeface="Arial" panose="020B0604020202020204" pitchFamily="34" charset="0"/>
              </a:rPr>
              <a:t>Resources:</a:t>
            </a:r>
            <a:endParaRPr b="1"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US" sz="480" dirty="0">
                <a:latin typeface="Arial" panose="020B0604020202020204" pitchFamily="34" charset="0"/>
              </a:rPr>
              <a:t>For further information on Cloud Foundation storage please consult the Cloud Foundation Operations and Administration Guide.</a:t>
            </a:r>
            <a:endParaRPr lang="en-US" sz="1200" u="none" dirty="0">
              <a:solidFill>
                <a:schemeClr val="dk1"/>
              </a:solidFill>
              <a:effectLst/>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AU" sz="1050" u="sng" dirty="0">
                <a:solidFill>
                  <a:srgbClr val="DCA10D"/>
                </a:solidFill>
                <a:effectLst/>
                <a:latin typeface="Arial" panose="020B0604020202020204" pitchFamily="34" charset="0"/>
                <a:hlinkClick r:id="rId3"/>
              </a:rPr>
              <a:t>https://docs.vmware.com/en/VMware-Cloud-Foundation/index.html</a:t>
            </a:r>
            <a:r>
              <a:rPr lang="en-AU" sz="1050" dirty="0">
                <a:solidFill>
                  <a:srgbClr val="000000"/>
                </a:solidFill>
                <a:effectLst/>
                <a:latin typeface="Arial" panose="020B0604020202020204" pitchFamily="34" charset="0"/>
              </a:rPr>
              <a:t> </a:t>
            </a:r>
          </a:p>
          <a:p>
            <a:pPr marL="0" lvl="0" indent="0" algn="l" rtl="0">
              <a:lnSpc>
                <a:spcPct val="80000"/>
              </a:lnSpc>
              <a:spcBef>
                <a:spcPts val="0"/>
              </a:spcBef>
              <a:spcAft>
                <a:spcPts val="0"/>
              </a:spcAft>
              <a:buClr>
                <a:schemeClr val="dk1"/>
              </a:buClr>
              <a:buSzPts val="480"/>
              <a:buFont typeface="Arial"/>
              <a:buNone/>
            </a:pPr>
            <a:endParaRPr lang="en-AU" sz="1050" dirty="0">
              <a:solidFill>
                <a:srgbClr val="000000"/>
              </a:solidFill>
              <a:effectLst/>
              <a:latin typeface="Arial" panose="020B0604020202020204" pitchFamily="34" charset="0"/>
            </a:endParaRPr>
          </a:p>
          <a:p>
            <a:pPr marL="0" marR="0" lvl="0" indent="0" algn="l" defTabSz="914400" rtl="0" eaLnBrk="1" fontAlgn="auto" latinLnBrk="0" hangingPunct="1">
              <a:lnSpc>
                <a:spcPct val="80000"/>
              </a:lnSpc>
              <a:spcBef>
                <a:spcPts val="0"/>
              </a:spcBef>
              <a:spcAft>
                <a:spcPts val="0"/>
              </a:spcAft>
              <a:buClr>
                <a:schemeClr val="dk1"/>
              </a:buClr>
              <a:buSzPts val="480"/>
              <a:buFont typeface="Arial"/>
              <a:buNone/>
              <a:tabLst/>
              <a:defRPr/>
            </a:pPr>
            <a:r>
              <a:rPr lang="en-AU" sz="1050" dirty="0">
                <a:solidFill>
                  <a:srgbClr val="000000"/>
                </a:solidFill>
                <a:effectLst/>
                <a:latin typeface="Arial" panose="020B0604020202020204" pitchFamily="34" charset="0"/>
              </a:rPr>
              <a:t>VMware Compatibility Guide:</a:t>
            </a:r>
            <a:br>
              <a:rPr lang="en-AU" sz="1050" dirty="0">
                <a:solidFill>
                  <a:srgbClr val="000000"/>
                </a:solidFill>
                <a:effectLst/>
                <a:latin typeface="Arial" panose="020B0604020202020204" pitchFamily="34" charset="0"/>
              </a:rPr>
            </a:br>
            <a:r>
              <a:rPr lang="en-AU" sz="1400" dirty="0">
                <a:solidFill>
                  <a:srgbClr val="DCA10D"/>
                </a:solidFill>
                <a:effectLst/>
                <a:latin typeface="Arial" panose="020B0604020202020204" pitchFamily="34" charset="0"/>
                <a:hlinkClick r:id="rId4"/>
              </a:rPr>
              <a:t>https://www.vmware.com/resources/compatibility/search.php</a:t>
            </a:r>
            <a:r>
              <a:rPr lang="en-AU" sz="1400" dirty="0">
                <a:solidFill>
                  <a:srgbClr val="000000"/>
                </a:solidFill>
                <a:effectLst/>
                <a:latin typeface="Arial" panose="020B0604020202020204" pitchFamily="34" charset="0"/>
              </a:rPr>
              <a:t> </a:t>
            </a:r>
            <a:endParaRPr lang="en-AU" sz="1400" dirty="0">
              <a:solidFill>
                <a:srgbClr val="DCA10D"/>
              </a:solidFill>
              <a:effectLst/>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lang="en-AU" sz="1050" dirty="0">
              <a:solidFill>
                <a:srgbClr val="000000"/>
              </a:solidFill>
              <a:effectLst/>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r>
              <a:rPr lang="en-AU" sz="1050" dirty="0">
                <a:solidFill>
                  <a:srgbClr val="000000"/>
                </a:solidFill>
                <a:effectLst/>
                <a:latin typeface="Arial" panose="020B0604020202020204" pitchFamily="34" charset="0"/>
              </a:rPr>
              <a:t>VMware vSphere Product Documentation:</a:t>
            </a:r>
          </a:p>
          <a:p>
            <a:pPr marL="0" marR="0" lvl="0" indent="0" algn="l" defTabSz="914400" rtl="0" eaLnBrk="1" fontAlgn="auto" latinLnBrk="0" hangingPunct="1">
              <a:lnSpc>
                <a:spcPct val="80000"/>
              </a:lnSpc>
              <a:spcBef>
                <a:spcPts val="0"/>
              </a:spcBef>
              <a:spcAft>
                <a:spcPts val="0"/>
              </a:spcAft>
              <a:buClr>
                <a:schemeClr val="dk1"/>
              </a:buClr>
              <a:buSzPts val="480"/>
              <a:buFont typeface="Arial"/>
              <a:buNone/>
              <a:tabLst/>
              <a:defRPr/>
            </a:pPr>
            <a:r>
              <a:rPr lang="en-AU" sz="1400" dirty="0">
                <a:solidFill>
                  <a:srgbClr val="DCA10D"/>
                </a:solidFill>
                <a:effectLst/>
                <a:latin typeface="Arial" panose="020B0604020202020204" pitchFamily="34" charset="0"/>
                <a:hlinkClick r:id="rId5"/>
              </a:rPr>
              <a:t>https://docs.vmware.com/en/VMware-vSphere/index.html</a:t>
            </a:r>
            <a:r>
              <a:rPr lang="en-AU" sz="1400" dirty="0">
                <a:solidFill>
                  <a:srgbClr val="000000"/>
                </a:solidFill>
                <a:effectLst/>
                <a:latin typeface="Arial" panose="020B0604020202020204" pitchFamily="34" charset="0"/>
              </a:rPr>
              <a:t> </a:t>
            </a:r>
            <a:endParaRPr sz="480" u="none" strike="noStrike" dirty="0">
              <a:solidFill>
                <a:schemeClr val="dk1"/>
              </a:solidFill>
              <a:latin typeface="Arial" panose="020B0604020202020204" pitchFamily="34" charset="0"/>
              <a:sym typeface="Arial"/>
            </a:endParaRPr>
          </a:p>
          <a:p>
            <a:pPr marL="0" lvl="0" indent="0" algn="l" rtl="0">
              <a:lnSpc>
                <a:spcPct val="80000"/>
              </a:lnSpc>
              <a:spcBef>
                <a:spcPts val="0"/>
              </a:spcBef>
              <a:spcAft>
                <a:spcPts val="0"/>
              </a:spcAft>
              <a:buClr>
                <a:schemeClr val="dk1"/>
              </a:buClr>
              <a:buSzPts val="480"/>
              <a:buFont typeface="Arial"/>
              <a:buNone/>
            </a:pPr>
            <a:endParaRPr sz="480" dirty="0">
              <a:latin typeface="Arial" panose="020B0604020202020204" pitchFamily="34" charset="0"/>
            </a:endParaRPr>
          </a:p>
          <a:p>
            <a:pPr marL="0" lvl="0" indent="0" algn="l" rtl="0">
              <a:lnSpc>
                <a:spcPct val="80000"/>
              </a:lnSpc>
              <a:spcBef>
                <a:spcPts val="0"/>
              </a:spcBef>
              <a:spcAft>
                <a:spcPts val="0"/>
              </a:spcAft>
              <a:buClr>
                <a:schemeClr val="dk1"/>
              </a:buClr>
              <a:buSzPts val="480"/>
              <a:buFont typeface="Arial"/>
              <a:buNone/>
            </a:pPr>
            <a:endParaRPr sz="480" dirty="0">
              <a:latin typeface="Arial" panose="020B0604020202020204" pitchFamily="34" charset="0"/>
            </a:endParaRPr>
          </a:p>
        </p:txBody>
      </p:sp>
      <p:sp>
        <p:nvSpPr>
          <p:cNvPr id="3517" name="Google Shape;3517;p49:notes">
            <a:extLst>
              <a:ext uri="{FF2B5EF4-FFF2-40B4-BE49-F238E27FC236}">
                <a16:creationId xmlns:a16="http://schemas.microsoft.com/office/drawing/2014/main" id="{A1AF0F72-C818-700D-789C-BC58A78D88A5}"/>
              </a:ext>
            </a:extLst>
          </p:cNvPr>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panose="020B0604020202020204" pitchFamily="34" charset="0"/>
                <a:ea typeface="+mn-ea"/>
                <a:cs typeface="+mn-cs"/>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22</a:t>
            </a:fld>
            <a:endParaRPr kumimoji="0" sz="12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sym typeface="Arial"/>
            </a:endParaRPr>
          </a:p>
        </p:txBody>
      </p:sp>
    </p:spTree>
    <p:extLst>
      <p:ext uri="{BB962C8B-B14F-4D97-AF65-F5344CB8AC3E}">
        <p14:creationId xmlns:p14="http://schemas.microsoft.com/office/powerpoint/2010/main" val="5297862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D049C2-7C7D-4842-07CE-ED285A3881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652334-0F91-FF34-68C6-3AF453052F2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98CBB0-FA96-FB22-2E31-5DE536BB4BEC}"/>
              </a:ext>
            </a:extLst>
          </p:cNvPr>
          <p:cNvSpPr>
            <a:spLocks noGrp="1"/>
          </p:cNvSpPr>
          <p:nvPr>
            <p:ph type="body" idx="1"/>
          </p:nvPr>
        </p:nvSpPr>
        <p:spPr/>
        <p:txBody>
          <a:bodyPr>
            <a:normAutofit fontScale="85000" lnSpcReduction="10000"/>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rPr>
              <a:t>Key Message: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u="none" strike="noStrike" kern="1200" dirty="0">
                <a:solidFill>
                  <a:schemeClr val="tx1"/>
                </a:solidFill>
                <a:effectLst/>
                <a:latin typeface="Arial" panose="020B0604020202020204" pitchFamily="34" charset="0"/>
                <a:ea typeface="+mn-ea"/>
                <a:cs typeface="+mn-cs"/>
              </a:rPr>
              <a:t>Summary of different storage options within VCF and their capabilities.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rPr>
              <a:t>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rPr>
              <a:t>What we can see here are the different storage options available within a VCF deployment</a:t>
            </a:r>
            <a:r>
              <a:rPr lang="en-US" sz="1200" u="none" strike="noStrike" kern="1200" dirty="0">
                <a:solidFill>
                  <a:schemeClr val="tx1"/>
                </a:solidFill>
                <a:effectLst/>
                <a:latin typeface="Arial" panose="020B0604020202020204" pitchFamily="34" charset="0"/>
                <a:ea typeface="+mn-ea"/>
                <a:cs typeface="+mn-cs"/>
              </a:rPr>
              <a:t>…and their capabilities.  </a:t>
            </a:r>
          </a:p>
          <a:p>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latin typeface="Arial" panose="020B0604020202020204" pitchFamily="34" charset="0"/>
              </a:rPr>
              <a:t>Using vSAN provides the customer with a full software defined solution.  It is flexible, it’s quick to configure and easy to manage and change at a per workload-level with storage policy-based management.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latin typeface="Arial" panose="020B0604020202020204" pitchFamily="34" charset="0"/>
              </a:rPr>
              <a:t>vSAN can be configured for aggregated storage (using vSAN HCI) and disaggregated storage using vSAN Storage Clusters (formerly known as vSAN Max).</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latin typeface="Arial" panose="020B0604020202020204" pitchFamily="34" charset="0"/>
              </a:rPr>
              <a:t>Storage Policy-based Management (SPBM) removes the need for manual hardware configuration and potential disruption when inevitable changes are needed later down the track.  vSAN is also very easy to scale, allowing you to add compute and storage together when it is needed without the need to plan up-front for growth capacity.  vSAN is also fully lifecycle managed, patched and upgraded which is completely automated </a:t>
            </a:r>
            <a:r>
              <a:rPr lang="en-US" sz="1200" strike="noStrike" dirty="0">
                <a:solidFill>
                  <a:schemeClr val="tx1"/>
                </a:solidFill>
                <a:latin typeface="Arial" panose="020B0604020202020204" pitchFamily="34" charset="0"/>
              </a:rPr>
              <a:t>when used with Cloud Foundation.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latin typeface="Arial" panose="020B0604020202020204" pitchFamily="34" charset="0"/>
              </a:rPr>
              <a:t>Cloud Foundation supports stretched clusters when using vSAN (both vSAN OSA and vSAN ESA).</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latin typeface="Arial" panose="020B0604020202020204" pitchFamily="34" charset="0"/>
              </a:rPr>
              <a:t>Administrators can also configure multiple remote clusters using vSAN, NFS, VMFS on FC</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tx1"/>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latin typeface="Arial" panose="020B0604020202020204" pitchFamily="34" charset="0"/>
              </a:rPr>
              <a:t>It’s for these reasons why VMware recommends using vSAN with Cloud Foundation.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u="none" strike="noStrike" kern="1200" dirty="0">
              <a:solidFill>
                <a:schemeClr val="tx1"/>
              </a:solidFill>
              <a:effectLst/>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Notes: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Arial" panose="020B0604020202020204" pitchFamily="34" charset="0"/>
                <a:ea typeface="+mn-ea"/>
                <a:cs typeface="+mn-cs"/>
              </a:rPr>
              <a:t>-   It is important to point out that adding and scaling any storage type other than vSAN is a manual process</a:t>
            </a:r>
            <a:r>
              <a:rPr lang="en-US" sz="1200" strike="noStrike" kern="1200" dirty="0">
                <a:solidFill>
                  <a:schemeClr val="tx1"/>
                </a:solidFill>
                <a:effectLst/>
                <a:latin typeface="Arial" panose="020B0604020202020204" pitchFamily="34" charset="0"/>
                <a:ea typeface="+mn-ea"/>
                <a:cs typeface="+mn-cs"/>
              </a:rPr>
              <a:t>… just as it would be in a traditional environment which uses hardware-based storage solutions.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strike="noStrike" kern="1200" dirty="0">
                <a:solidFill>
                  <a:schemeClr val="tx1"/>
                </a:solidFill>
                <a:effectLst/>
                <a:latin typeface="Arial" panose="020B0604020202020204" pitchFamily="34" charset="0"/>
                <a:ea typeface="+mn-ea"/>
                <a:cs typeface="+mn-cs"/>
              </a:rPr>
              <a:t>-   When vSAN isn’t used, the customer is responsible for maintaining server Firmware/Drivers and plug-ins in accordance with the VMware Compatibility Guide.  </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kumimoji="0" lang="en-US" sz="1200" u="none" strike="noStrike" kern="1200" cap="none" spc="0" normalizeH="0" baseline="0" noProof="0" dirty="0">
                <a:ln>
                  <a:noFill/>
                </a:ln>
                <a:solidFill>
                  <a:srgbClr val="717074"/>
                </a:solidFill>
                <a:effectLst/>
                <a:uLnTx/>
                <a:uFillTx/>
                <a:latin typeface="Arial" panose="020B0604020202020204" pitchFamily="34" charset="0"/>
                <a:ea typeface="+mn-ea"/>
                <a:cs typeface="+mn-cs"/>
              </a:rPr>
              <a:t>If a customer is using VMFS on FC it is important that they also check HCL for FC array &amp; HBA compatibility.</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kumimoji="0" lang="en-US" sz="120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Arial" panose="020B0604020202020204" pitchFamily="34" charset="0"/>
                <a:ea typeface="+mn-ea"/>
                <a:cs typeface="+mn-cs"/>
              </a:rPr>
              <a:t>Resources: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rPr>
              <a:t>VMware Compatibility Guide:</a:t>
            </a:r>
          </a:p>
          <a:p>
            <a:pPr marL="0" marR="0" lvl="0" indent="0" algn="l" defTabSz="914400" rtl="0" eaLnBrk="1" fontAlgn="auto" latinLnBrk="0" hangingPunct="1">
              <a:lnSpc>
                <a:spcPct val="100000"/>
              </a:lnSpc>
              <a:spcBef>
                <a:spcPts val="0"/>
              </a:spcBef>
              <a:spcAft>
                <a:spcPts val="0"/>
              </a:spcAft>
              <a:buClrTx/>
              <a:buSzTx/>
              <a:buFontTx/>
              <a:buNone/>
              <a:tabLst/>
              <a:defRPr/>
            </a:pPr>
            <a:r>
              <a:rPr lang="en-AU" sz="1800" u="sng" kern="100" dirty="0">
                <a:solidFill>
                  <a:srgbClr val="0563C1"/>
                </a:solidFill>
                <a:effectLst/>
                <a:latin typeface="Arial" panose="020B0604020202020204" pitchFamily="34" charset="0"/>
                <a:ea typeface="Calibri" panose="020F0502020204030204" pitchFamily="34" charset="0"/>
                <a:cs typeface="Arial" panose="020B0604020202020204" pitchFamily="34" charset="0"/>
                <a:hlinkClick r:id="rId3"/>
              </a:rPr>
              <a:t>https://www.vmware.com/resources/compatibility/search.php</a:t>
            </a:r>
            <a:r>
              <a:rPr lang="en-AU" sz="1800" kern="100" dirty="0">
                <a:effectLst/>
                <a:latin typeface="Arial" panose="020B0604020202020204" pitchFamily="34" charset="0"/>
                <a:ea typeface="Calibri" panose="020F0502020204030204" pitchFamily="34" charset="0"/>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Arial" panose="020B0604020202020204" pitchFamily="34" charset="0"/>
              </a:rPr>
              <a:t>(ESX Host, vSAN, storage compatibility and more)</a:t>
            </a:r>
          </a:p>
          <a:p>
            <a:endParaRPr lang="en-US" dirty="0">
              <a:latin typeface="Arial" panose="020B0604020202020204" pitchFamily="34" charset="0"/>
            </a:endParaRPr>
          </a:p>
          <a:p>
            <a:endParaRPr lang="en-US" dirty="0">
              <a:latin typeface="Arial" panose="020B0604020202020204" pitchFamily="34" charset="0"/>
            </a:endParaRPr>
          </a:p>
          <a:p>
            <a:endParaRPr lang="en-US" dirty="0">
              <a:latin typeface="Arial" panose="020B0604020202020204" pitchFamily="34" charset="0"/>
            </a:endParaRPr>
          </a:p>
        </p:txBody>
      </p:sp>
      <p:sp>
        <p:nvSpPr>
          <p:cNvPr id="4" name="Slide Number Placeholder 3">
            <a:extLst>
              <a:ext uri="{FF2B5EF4-FFF2-40B4-BE49-F238E27FC236}">
                <a16:creationId xmlns:a16="http://schemas.microsoft.com/office/drawing/2014/main" id="{11FA3E18-0BF4-4F5E-8EF3-19C051C05A2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9057932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Key Message/Talk track:</a:t>
            </a:r>
          </a:p>
          <a:p>
            <a:pPr defTabSz="903825">
              <a:defRPr/>
            </a:pPr>
            <a:r>
              <a:rPr lang="en-US" b="0" dirty="0"/>
              <a:t>Traditional three-tier architectures have been powering data centers for many years, but have been hampered by fundamental limitations, including the use of proprietary hardware, and the need for special teams to manage specific aspects of the architecture.  </a:t>
            </a:r>
            <a:r>
              <a:rPr lang="en-US" b="1" dirty="0"/>
              <a:t>A fully integrated solution like vSAN can remove dependencies from hardware feature sets.  </a:t>
            </a:r>
            <a:r>
              <a:rPr lang="en-US" dirty="0"/>
              <a:t>By abstracting these features away from underlying hardware, you can address and apply the RIGHT</a:t>
            </a:r>
            <a:r>
              <a:rPr lang="en-US" baseline="0" dirty="0"/>
              <a:t> settings in the RIGHT way for each workload running in a data center.  Being able to apply these settings in a granular way, using software, is quickly turning into a requirement.  </a:t>
            </a:r>
            <a:endParaRPr lang="en-US" dirty="0"/>
          </a:p>
          <a:p>
            <a:pPr defTabSz="903825">
              <a:defRPr/>
            </a:pPr>
            <a:r>
              <a:rPr lang="en-US" dirty="0"/>
              <a:t>----------------------------------</a:t>
            </a:r>
          </a:p>
          <a:p>
            <a:r>
              <a:rPr lang="en-US" b="1" dirty="0"/>
              <a:t>Overview:</a:t>
            </a:r>
          </a:p>
          <a:p>
            <a:pPr marL="171450" indent="-171450">
              <a:buFont typeface="Arial" panose="020B0604020202020204" pitchFamily="34" charset="0"/>
              <a:buChar char="•"/>
            </a:pPr>
            <a:r>
              <a:rPr lang="en-US" b="0" dirty="0"/>
              <a:t>Legacy Three-Tier</a:t>
            </a:r>
          </a:p>
          <a:p>
            <a:pPr marL="628650" lvl="1" indent="-171450">
              <a:spcBef>
                <a:spcPts val="0"/>
              </a:spcBef>
              <a:spcAft>
                <a:spcPts val="200"/>
              </a:spcAft>
              <a:buClrTx/>
              <a:buFont typeface="Arial" panose="020B0604020202020204" pitchFamily="34" charset="0"/>
              <a:buChar char="•"/>
            </a:pPr>
            <a:r>
              <a:rPr lang="en-US" sz="1200" dirty="0">
                <a:solidFill>
                  <a:schemeClr val="bg1"/>
                </a:solidFill>
                <a:latin typeface="Arial" panose="020B0604020202020204" pitchFamily="34" charset="0"/>
              </a:rPr>
              <a:t>Proprietary storage hardware</a:t>
            </a:r>
          </a:p>
          <a:p>
            <a:pPr marL="628650" lvl="1" indent="-171450">
              <a:spcBef>
                <a:spcPts val="0"/>
              </a:spcBef>
              <a:spcAft>
                <a:spcPts val="200"/>
              </a:spcAft>
              <a:buClrTx/>
              <a:buFont typeface="Arial" panose="020B0604020202020204" pitchFamily="34" charset="0"/>
              <a:buChar char="•"/>
            </a:pPr>
            <a:r>
              <a:rPr lang="en-US" sz="1200" dirty="0">
                <a:solidFill>
                  <a:schemeClr val="bg1"/>
                </a:solidFill>
                <a:latin typeface="Arial" panose="020B0604020202020204" pitchFamily="34" charset="0"/>
              </a:rPr>
              <a:t>Limited scalability</a:t>
            </a:r>
          </a:p>
          <a:p>
            <a:pPr marL="628650" lvl="1" indent="-171450">
              <a:spcBef>
                <a:spcPts val="0"/>
              </a:spcBef>
              <a:spcAft>
                <a:spcPts val="200"/>
              </a:spcAft>
              <a:buClrTx/>
              <a:buFont typeface="Arial" panose="020B0604020202020204" pitchFamily="34" charset="0"/>
              <a:buChar char="•"/>
            </a:pPr>
            <a:r>
              <a:rPr lang="en-US" sz="1200" dirty="0">
                <a:solidFill>
                  <a:schemeClr val="bg1"/>
                </a:solidFill>
              </a:rPr>
              <a:t>Siloed management</a:t>
            </a:r>
          </a:p>
          <a:p>
            <a:pPr marL="628650" lvl="1" indent="-171450">
              <a:spcBef>
                <a:spcPts val="0"/>
              </a:spcBef>
              <a:spcAft>
                <a:spcPts val="200"/>
              </a:spcAft>
              <a:buClrTx/>
              <a:buFont typeface="Arial" panose="020B0604020202020204" pitchFamily="34" charset="0"/>
              <a:buChar char="•"/>
            </a:pPr>
            <a:r>
              <a:rPr lang="en-US" sz="1200" dirty="0">
                <a:solidFill>
                  <a:schemeClr val="bg1"/>
                </a:solidFill>
              </a:rPr>
              <a:t>Inflexible</a:t>
            </a:r>
            <a:endParaRPr lang="en-GB" sz="1200" dirty="0">
              <a:solidFill>
                <a:schemeClr val="bg1"/>
              </a:solidFill>
              <a:latin typeface="Arial" panose="020B0604020202020204" pitchFamily="34" charset="0"/>
            </a:endParaRPr>
          </a:p>
          <a:p>
            <a:pPr marL="171450" indent="-171450">
              <a:buFont typeface="Arial" panose="020B0604020202020204" pitchFamily="34" charset="0"/>
              <a:buChar char="•"/>
            </a:pPr>
            <a:r>
              <a:rPr lang="en-US" dirty="0"/>
              <a:t>Hyperconverged</a:t>
            </a:r>
          </a:p>
          <a:p>
            <a:pPr marL="628650" lvl="1" indent="-171450">
              <a:spcBef>
                <a:spcPts val="0"/>
              </a:spcBef>
              <a:spcAft>
                <a:spcPts val="200"/>
              </a:spcAft>
              <a:buClrTx/>
              <a:buFont typeface="Arial" panose="020B0604020202020204" pitchFamily="34" charset="0"/>
              <a:buChar char="•"/>
            </a:pPr>
            <a:r>
              <a:rPr lang="en-US" sz="1200" dirty="0">
                <a:solidFill>
                  <a:schemeClr val="bg1"/>
                </a:solidFill>
                <a:latin typeface="Arial" panose="020B0604020202020204" pitchFamily="34" charset="0"/>
              </a:rPr>
              <a:t>Commodity server hardware</a:t>
            </a:r>
          </a:p>
          <a:p>
            <a:pPr marL="628650" lvl="1" indent="-171450">
              <a:spcBef>
                <a:spcPts val="0"/>
              </a:spcBef>
              <a:spcAft>
                <a:spcPts val="200"/>
              </a:spcAft>
              <a:buClrTx/>
              <a:buFont typeface="Arial" panose="020B0604020202020204" pitchFamily="34" charset="0"/>
              <a:buChar char="•"/>
            </a:pPr>
            <a:r>
              <a:rPr lang="en-US" sz="1200" dirty="0">
                <a:solidFill>
                  <a:schemeClr val="bg1"/>
                </a:solidFill>
                <a:latin typeface="Arial" panose="020B0604020202020204" pitchFamily="34" charset="0"/>
              </a:rPr>
              <a:t>Distributed scale-out storage</a:t>
            </a:r>
          </a:p>
          <a:p>
            <a:pPr marL="628650" lvl="1" indent="-171450">
              <a:spcBef>
                <a:spcPts val="0"/>
              </a:spcBef>
              <a:spcAft>
                <a:spcPts val="200"/>
              </a:spcAft>
              <a:buClrTx/>
              <a:buFont typeface="Arial" panose="020B0604020202020204" pitchFamily="34" charset="0"/>
              <a:buChar char="•"/>
            </a:pPr>
            <a:r>
              <a:rPr lang="en-US" sz="1200" dirty="0">
                <a:solidFill>
                  <a:schemeClr val="bg1"/>
                </a:solidFill>
              </a:rPr>
              <a:t>Common management</a:t>
            </a:r>
          </a:p>
          <a:p>
            <a:pPr marL="628650" lvl="1" indent="-171450">
              <a:spcBef>
                <a:spcPts val="0"/>
              </a:spcBef>
              <a:spcAft>
                <a:spcPts val="200"/>
              </a:spcAft>
              <a:buClrTx/>
              <a:buFont typeface="Arial" panose="020B0604020202020204" pitchFamily="34" charset="0"/>
              <a:buChar char="•"/>
            </a:pPr>
            <a:r>
              <a:rPr lang="en-US" sz="1200" dirty="0">
                <a:solidFill>
                  <a:schemeClr val="bg1"/>
                </a:solidFill>
              </a:rPr>
              <a:t>Highly flexible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87212626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47500" lnSpcReduction="20000"/>
          </a:bodyPr>
          <a:lstStyle/>
          <a:p>
            <a:r>
              <a:rPr lang="en-US" sz="1200" b="1" dirty="0"/>
              <a:t>Key Message/Talk track:</a:t>
            </a:r>
          </a:p>
          <a:p>
            <a:r>
              <a:rPr lang="en-US" sz="1200" b="0" dirty="0"/>
              <a:t>Back in 2022, VMware introduced the revolutionary Express Storage Architecture (ESA).  This is our next generation storage architecture, written specifically for modern high-performance hardware that not only delivers unprecedented levels of performance and efficiency, but allows us to introduce new capabilities not previously possible.  With vSAN ESA, you can easily choose by one of two deployment options.  Aggregated vSAN HCI clusters, or disaggregated vSAN Storage Clusters.  No matter what you choose,   The vSAN Express Storage Architecture unlocks the capabilities of modern hardware to allow the workloads of today and tomorrow perform as the hardware allows.</a:t>
            </a:r>
            <a:endParaRPr lang="en-US" sz="1200" b="1" dirty="0"/>
          </a:p>
          <a:p>
            <a:r>
              <a:rPr lang="en-US" sz="1200" dirty="0"/>
              <a:t>----------------------------------</a:t>
            </a:r>
          </a:p>
          <a:p>
            <a:r>
              <a:rPr lang="en-US" sz="1200" b="1" dirty="0"/>
              <a:t>Overview:</a:t>
            </a:r>
          </a:p>
          <a:p>
            <a:pPr marL="171450" indent="-171450">
              <a:buFont typeface="Arial" panose="020B0604020202020204" pitchFamily="34" charset="0"/>
              <a:buChar char="•"/>
            </a:pPr>
            <a:r>
              <a:rPr lang="en-US" b="1" dirty="0">
                <a:solidFill>
                  <a:schemeClr val="tx2"/>
                </a:solidFill>
                <a:latin typeface="Arial" panose="020B0604020202020204" pitchFamily="34" charset="0"/>
              </a:rPr>
              <a:t>Next generation </a:t>
            </a:r>
            <a:r>
              <a:rPr lang="en-US" dirty="0"/>
              <a:t>storage architecture for the workloads of today and tomorrow</a:t>
            </a:r>
          </a:p>
          <a:p>
            <a:pPr marL="171450" indent="-171450">
              <a:buFont typeface="Arial" panose="020B0604020202020204" pitchFamily="34" charset="0"/>
              <a:buChar char="•"/>
            </a:pPr>
            <a:r>
              <a:rPr lang="en-US" dirty="0"/>
              <a:t>Optional, </a:t>
            </a:r>
            <a:r>
              <a:rPr lang="en-US" b="1" dirty="0">
                <a:solidFill>
                  <a:schemeClr val="tx2"/>
                </a:solidFill>
                <a:latin typeface="Arial" panose="020B0604020202020204" pitchFamily="34" charset="0"/>
              </a:rPr>
              <a:t>alternative architecture </a:t>
            </a:r>
            <a:r>
              <a:rPr lang="en-US" dirty="0"/>
              <a:t>to the vSAN original storage architecture</a:t>
            </a:r>
          </a:p>
          <a:p>
            <a:pPr marL="171450" indent="-171450">
              <a:buFont typeface="Arial" panose="020B0604020202020204" pitchFamily="34" charset="0"/>
              <a:buChar char="•"/>
            </a:pPr>
            <a:r>
              <a:rPr lang="en-US" dirty="0"/>
              <a:t>Available when running on qualified hardware in ESA </a:t>
            </a:r>
            <a:r>
              <a:rPr lang="en-US" b="1" dirty="0">
                <a:solidFill>
                  <a:schemeClr val="tx2"/>
                </a:solidFill>
                <a:latin typeface="Arial" panose="020B0604020202020204" pitchFamily="34" charset="0"/>
              </a:rPr>
              <a:t>approved vSAN ReadyNodes</a:t>
            </a:r>
          </a:p>
          <a:p>
            <a:pPr marL="171450" indent="-171450">
              <a:buFont typeface="Arial" panose="020B0604020202020204" pitchFamily="34" charset="0"/>
              <a:buChar char="•"/>
            </a:pPr>
            <a:r>
              <a:rPr lang="en-US" dirty="0"/>
              <a:t>Powers aggregated </a:t>
            </a:r>
            <a:r>
              <a:rPr lang="en-US" b="1" dirty="0">
                <a:solidFill>
                  <a:schemeClr val="tx1"/>
                </a:solidFill>
                <a:latin typeface="Arial" panose="020B0604020202020204" pitchFamily="34" charset="0"/>
              </a:rPr>
              <a:t>vSAN HCI Clusters</a:t>
            </a:r>
            <a:r>
              <a:rPr lang="en-US" dirty="0"/>
              <a:t> and disaggregated</a:t>
            </a:r>
            <a:r>
              <a:rPr lang="en-US" dirty="0">
                <a:solidFill>
                  <a:schemeClr val="tx1"/>
                </a:solidFill>
                <a:latin typeface="Arial" panose="020B0604020202020204" pitchFamily="34" charset="0"/>
              </a:rPr>
              <a:t> vSAN Storage Clusters</a:t>
            </a:r>
          </a:p>
          <a:p>
            <a:pPr marL="0" indent="0">
              <a:spcBef>
                <a:spcPts val="1779"/>
              </a:spcBef>
              <a:buFont typeface="Arial" panose="020B0604020202020204" pitchFamily="34" charset="0"/>
              <a:buNone/>
            </a:pPr>
            <a:r>
              <a:rPr lang="en-US" dirty="0"/>
              <a:t>----------------------------------</a:t>
            </a:r>
          </a:p>
          <a:p>
            <a:r>
              <a:rPr lang="en-US" b="1" dirty="0"/>
              <a:t>Details: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N/A</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We want to make it very clear that while this new, optional architecture within vSAN introduces new patented technologies offering unprecedented new capabilities, vSAN was not “rewritten.”  In fact, you’ll find many aspect of vSAN, such as the Distributed Object Manager (DOM), the Cluster Level Object Manager (CLOM) and the Cluster Management and Monitoring Directory Service (CMMDS) in place just like past editions, as it solves many of the great challenges of a distributed storage system.  The new architecture simply helps address our ability to capitalize on the capabilities of this latest generation of high-performance hardware.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The vSAN ESA is not a “replacement” architecture, but an alternative architecture optimized for high performing, modern hardware.  vSAN remains as a single product, but now includes the architectural capability to accommodate for these next generation hardware devices.  It should not be positioned as a “rewrite” or a replacement in any way.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Do not reference the ESA and vSAN’s original storage architecture as “new” and “old”  or any variation of that, as this can have a negative connotation toward previous editions of vSAN.  While the vSAN ESA is the storage architecture where all future development efforts will be focused on, VMware is committing to ongoing support of the original storage architecture for many years to come.  The official naming reference for the original storage architecture should be “Original Storage Architecture” abbreviated to OSA only when absolutely necessary.”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The internal name for our durable log-structured file system is “zDOM.”  This is an engineering-centric name, and not intended as a public reference.  One can refer to it as the “vSAN log-structured file system” or vSAN LFS when necessary.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Note that the references to “log-structured file system” do not refer in any way to a traditional file system such as NTFS, ext4, etc.  It is a common industry reference to a method of how data and metadata are written to a circular log buffer and persisted to the storage subsystem.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cap="none" normalizeH="0" baseline="0" dirty="0">
                <a:ln>
                  <a:noFill/>
                </a:ln>
                <a:solidFill>
                  <a:schemeClr val="tx1"/>
                </a:solidFill>
                <a:effectLst/>
                <a:latin typeface="Arial" charset="0"/>
                <a:cs typeface="Arial" charset="0"/>
              </a:rPr>
              <a:t>Please note:  Specific terms and details not readily available in the UI or KB articles, deemed as intellectual property, or sensitive have been obfuscated.  Even the information here should be treated as sensitive, and should not necessarily be shared with external audiences.  There is generally no need to use the terms CMMDS, CLOM, DOM, and LSOM with customers verbally, in correspondence, or in any published material.  These are internal terms that are provided to help you better understand how vSAN works. Generalized terms such as “vSAN’s object manager…” will suffice in most cases. </a:t>
            </a:r>
            <a:endParaRPr lang="en-US" b="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The vSAN ESA is not a “replacement” architecture, but an alternative architecture optimized for high performing, modern hardware.  vSAN remains as a single product, but now includes the architectural capability to accommodate for these next generation hardware devices.  It should NOT be positioned as a “rewrite” or a replacement in any way.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Do not reference the ESA and vSAN’s classic architecture as “new” and “old”  or any variation of that, as this can have a negative connotation toward previous editions of vSAN.  While the vSAN ESA is the storage architecture where all future development efforts will be focused on, VMware is committing to ongoing support of the classic architecture for many years to come.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The internal name for our durable log-structured file system is “zDOM.”  This is an engineering-centric name, and not intended as a public reference.  One can refer to it as the “vSAN log-structured file system” or “vSAN LFS” when necessary.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Note that the references to “log-structured file system” do not refer in any way to a traditional file system such as NTFS, ext4, etc.  It is a common industry reference to a method of how data and metadata are written to a circular log buffer and persisted to the storage subsystem.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cap="none" normalizeH="0" baseline="0" dirty="0">
                <a:ln>
                  <a:noFill/>
                </a:ln>
                <a:solidFill>
                  <a:schemeClr val="tx1"/>
                </a:solidFill>
                <a:effectLst/>
                <a:latin typeface="Arial" charset="0"/>
                <a:cs typeface="Arial" charset="0"/>
              </a:rPr>
              <a:t>Please note:  Specific terms and details not readily available in the UI or KB articles, deemed as intellectual property, or sensitive have been obfuscated.  Even the information here should be treated as sensitive, and should not necessarily be shared with external audiences.  There is generally no need to use the terms CMMDS, CLOM, DOM, and LSOM with customers verbally, in correspondence, or in any published material.  These are internal terms that are provided to help you better understand how vSAN works. Generalized terms such as “vSAN’s object manager…” will suffice in most cases. </a:t>
            </a:r>
            <a:endParaRPr lang="en-US" sz="1200" b="0" kern="1200" baseline="0" dirty="0">
              <a:solidFill>
                <a:schemeClr val="tx1"/>
              </a:solidFill>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latin typeface="Arial" panose="020B0604020202020204" pitchFamily="34" charset="0"/>
                <a:ea typeface="+mn-ea"/>
                <a:cs typeface="+mn-cs"/>
              </a:rPr>
              <a:t>----------------------------------</a:t>
            </a:r>
          </a:p>
          <a:p>
            <a:r>
              <a:rPr lang="en-US" sz="1200" b="1" kern="1200" baseline="0" dirty="0">
                <a:solidFill>
                  <a:schemeClr val="tx1"/>
                </a:solidFill>
                <a:latin typeface="Arial" panose="020B0604020202020204" pitchFamily="34" charset="0"/>
                <a:ea typeface="+mn-ea"/>
                <a:cs typeface="+mn-cs"/>
              </a:rPr>
              <a:t>Additional Information:</a:t>
            </a:r>
          </a:p>
          <a:p>
            <a:pPr marL="169495" indent="-169495">
              <a:buFont typeface="Arial" panose="020B0604020202020204" pitchFamily="34" charset="0"/>
              <a:buChar char="•"/>
            </a:pPr>
            <a:r>
              <a:rPr lang="en-US" dirty="0"/>
              <a:t>Blog:  https://</a:t>
            </a:r>
            <a:r>
              <a:rPr lang="en-US" dirty="0" err="1"/>
              <a:t>blogs.vmware.com</a:t>
            </a:r>
            <a:r>
              <a:rPr lang="en-US" dirty="0"/>
              <a:t>/cloud-foundation/2022/08/30/an-introduction-to-the-</a:t>
            </a:r>
            <a:r>
              <a:rPr lang="en-US" dirty="0" err="1"/>
              <a:t>vsan</a:t>
            </a:r>
            <a:r>
              <a:rPr lang="en-US" dirty="0"/>
              <a:t>-express-storage-architecture/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25569900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B05702-CC13-CF24-AF30-BE7C40F2FE7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45B4E6-6FCE-FCAE-734C-13A55C1C3BA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642155-D5AD-81AB-5FD8-46DD29B9AB05}"/>
              </a:ext>
            </a:extLst>
          </p:cNvPr>
          <p:cNvSpPr>
            <a:spLocks noGrp="1"/>
          </p:cNvSpPr>
          <p:nvPr>
            <p:ph type="body" idx="1"/>
          </p:nvPr>
        </p:nvSpPr>
        <p:spPr/>
        <p:txBody>
          <a:bodyPr>
            <a:normAutofit fontScale="85000" lnSpcReduction="10000"/>
          </a:bodyPr>
          <a:lstStyle/>
          <a:p>
            <a:r>
              <a:rPr lang="en-US" b="1" dirty="0"/>
              <a:t>Key Message/Talk track:</a:t>
            </a:r>
          </a:p>
          <a:p>
            <a:r>
              <a:rPr lang="en-US" baseline="0" dirty="0"/>
              <a:t>The tremendous efficiency of vSAN means that it can run more VMs per host than other HCI systems not integrated into the hypervisor.  And not only that, but do with much more consistent levels of performance and tighter integration</a:t>
            </a:r>
            <a:r>
              <a:rPr lang="en-US" b="1" baseline="0" dirty="0"/>
              <a:t>.  This ability to scale up and out – often not possible in the same way when using storage arrays - means that users can strategically design their vSAN powered cluster to accommodate growth that best reflects the needs of their organization.</a:t>
            </a:r>
          </a:p>
          <a:p>
            <a:r>
              <a:rPr lang="en-US" baseline="0" dirty="0"/>
              <a:t> </a:t>
            </a:r>
            <a:r>
              <a:rPr lang="en-US" dirty="0"/>
              <a:t>----------------------------------</a:t>
            </a:r>
          </a:p>
          <a:p>
            <a:r>
              <a:rPr lang="en-US" b="1" dirty="0"/>
              <a:t>Overview:</a:t>
            </a:r>
          </a:p>
          <a:p>
            <a:pPr marL="171450" indent="-171450">
              <a:buFont typeface="Arial" panose="020B0604020202020204" pitchFamily="34" charset="0"/>
              <a:buChar char="•"/>
            </a:pPr>
            <a:r>
              <a:rPr lang="en-US" dirty="0"/>
              <a:t>Add capacity the way you want</a:t>
            </a:r>
          </a:p>
          <a:p>
            <a:pPr marL="171450" indent="-171450">
              <a:buFont typeface="Arial" panose="020B0604020202020204" pitchFamily="34" charset="0"/>
              <a:buChar char="•"/>
            </a:pPr>
            <a:r>
              <a:rPr lang="en-US" dirty="0"/>
              <a:t>Scale </a:t>
            </a:r>
            <a:r>
              <a:rPr lang="en-US" b="1" dirty="0"/>
              <a:t>UP</a:t>
            </a:r>
            <a:r>
              <a:rPr lang="en-US" dirty="0"/>
              <a:t> by adding drives</a:t>
            </a:r>
          </a:p>
          <a:p>
            <a:pPr marL="171450" indent="-171450">
              <a:buFont typeface="Arial" panose="020B0604020202020204" pitchFamily="34" charset="0"/>
              <a:buChar char="•"/>
            </a:pPr>
            <a:r>
              <a:rPr lang="en-US" dirty="0"/>
              <a:t>Scale </a:t>
            </a:r>
            <a:r>
              <a:rPr lang="en-US" b="1" dirty="0"/>
              <a:t>OUT</a:t>
            </a:r>
            <a:r>
              <a:rPr lang="en-US" dirty="0"/>
              <a:t> by adding hosts</a:t>
            </a:r>
          </a:p>
          <a:p>
            <a:pPr marL="171450" indent="-171450">
              <a:buFont typeface="Arial" panose="020B0604020202020204" pitchFamily="34" charset="0"/>
              <a:buChar char="•"/>
            </a:pPr>
            <a:r>
              <a:rPr lang="en-US" dirty="0"/>
              <a:t>Agile, cost-effective cluster designs</a:t>
            </a:r>
          </a:p>
          <a:p>
            <a:r>
              <a:rPr lang="en-US" dirty="0"/>
              <a:t>----------------------------------</a:t>
            </a:r>
          </a:p>
          <a:p>
            <a:r>
              <a:rPr lang="en-US" b="1" dirty="0"/>
              <a:t>Details:</a:t>
            </a:r>
          </a:p>
          <a:p>
            <a:pPr marL="171450" indent="-171450">
              <a:buFont typeface="Arial" panose="020B0604020202020204" pitchFamily="34" charset="0"/>
              <a:buChar char="•"/>
            </a:pPr>
            <a:r>
              <a:rPr lang="en-US" dirty="0"/>
              <a:t>The</a:t>
            </a:r>
            <a:r>
              <a:rPr lang="en-US" baseline="0" dirty="0"/>
              <a:t> difference in VM per host density is NOT a trivial amount.  Actual real world environments have suggested competing solutions can only get ½ to 1/3</a:t>
            </a:r>
            <a:r>
              <a:rPr lang="en-US" baseline="30000" dirty="0"/>
              <a:t>rd</a:t>
            </a:r>
            <a:r>
              <a:rPr lang="en-US" baseline="0" dirty="0"/>
              <a:t> the number of VMs per host, and lacking the consistency in performance that an in-kernel solution like vSAN has.</a:t>
            </a:r>
            <a:endParaRPr lang="en-US" dirty="0"/>
          </a:p>
          <a:p>
            <a:pPr marL="169495" indent="-169495">
              <a:buFont typeface="Arial" panose="020B0604020202020204" pitchFamily="34" charset="0"/>
              <a:buChar char="•"/>
            </a:pPr>
            <a:r>
              <a:rPr lang="en-US" b="1" dirty="0"/>
              <a:t>Designing vSAN hosts for future “scale up” expansion is an extremely powerful message that resonates with customers </a:t>
            </a:r>
            <a:r>
              <a:rPr lang="en-US" b="0" dirty="0"/>
              <a:t>(e.g. Add capacity without any new hosts or licensing).  </a:t>
            </a:r>
            <a:r>
              <a:rPr lang="en-US" dirty="0"/>
              <a:t>See “Options in Scalability” that provides details and illustrations on how scale up expansion works.  </a:t>
            </a:r>
            <a:r>
              <a:rPr lang="en-US" dirty="0" err="1"/>
              <a:t>VirtualBlocks</a:t>
            </a:r>
            <a:r>
              <a:rPr lang="en-US" dirty="0"/>
              <a:t> blog post at:  https://</a:t>
            </a:r>
            <a:r>
              <a:rPr lang="en-US" dirty="0" err="1"/>
              <a:t>blogs.vmware.com</a:t>
            </a:r>
            <a:r>
              <a:rPr lang="en-US" dirty="0"/>
              <a:t>/virtualblocks/2016/09/15/options-scalability-virtual-san/ </a:t>
            </a:r>
          </a:p>
          <a:p>
            <a:pPr marL="169495" indent="-169495">
              <a:buFont typeface="Arial" panose="020B0604020202020204" pitchFamily="34" charset="0"/>
              <a:buChar char="•"/>
            </a:pPr>
            <a:r>
              <a:rPr lang="en-US" dirty="0"/>
              <a:t>Some current scaling limits PER cluster are current set to:</a:t>
            </a:r>
          </a:p>
          <a:p>
            <a:pPr marL="626695" lvl="1" indent="-169495">
              <a:buFont typeface="Arial" panose="020B0604020202020204" pitchFamily="34" charset="0"/>
              <a:buChar char="•"/>
            </a:pPr>
            <a:r>
              <a:rPr lang="en-US" dirty="0"/>
              <a:t>Max cluster size:  64 hosts</a:t>
            </a:r>
          </a:p>
          <a:p>
            <a:pPr marL="626695" lvl="1" indent="-169495">
              <a:buFont typeface="Arial" panose="020B0604020202020204" pitchFamily="34" charset="0"/>
              <a:buChar char="•"/>
            </a:pPr>
            <a:r>
              <a:rPr lang="en-US" dirty="0"/>
              <a:t>Max stretched cluster size:  15 hosts + 15 hosts + 1 witness host</a:t>
            </a:r>
          </a:p>
          <a:p>
            <a:pPr marL="626695" lvl="1" indent="-169495">
              <a:buFont typeface="Arial" panose="020B0604020202020204" pitchFamily="34" charset="0"/>
              <a:buChar char="•"/>
            </a:pPr>
            <a:r>
              <a:rPr lang="en-US" dirty="0"/>
              <a:t>Max components:  9,000 per ESX host</a:t>
            </a:r>
          </a:p>
          <a:p>
            <a:pPr marL="626695" lvl="1" indent="-169495">
              <a:buFont typeface="Arial" panose="020B0604020202020204" pitchFamily="34" charset="0"/>
              <a:buChar char="•"/>
            </a:pPr>
            <a:r>
              <a:rPr lang="en-US" dirty="0"/>
              <a:t>Max witness components:  45,000 per ESX host</a:t>
            </a:r>
          </a:p>
          <a:p>
            <a:pPr marL="626695" lvl="1" indent="-169495">
              <a:buFont typeface="Arial" panose="020B0604020202020204" pitchFamily="34" charset="0"/>
              <a:buChar char="•"/>
            </a:pPr>
            <a:r>
              <a:rPr lang="en-US" dirty="0"/>
              <a:t>Max VMDK size:  62TB</a:t>
            </a:r>
          </a:p>
          <a:p>
            <a:pPr marL="626695" lvl="1" indent="-169495">
              <a:buFont typeface="Arial" panose="020B0604020202020204" pitchFamily="34" charset="0"/>
              <a:buChar char="•"/>
            </a:pPr>
            <a:r>
              <a:rPr lang="en-US" dirty="0"/>
              <a:t>6,400 VMs per cluster (limitation of vSphere HA)</a:t>
            </a:r>
          </a:p>
          <a:p>
            <a:pPr marL="169495" indent="-169495">
              <a:buFont typeface="Arial" panose="020B0604020202020204" pitchFamily="34" charset="0"/>
              <a:buChar char="•"/>
            </a:pPr>
            <a:r>
              <a:rPr lang="en-US" dirty="0"/>
              <a:t>A full listing of vSAN Limits and design considerations can be found here:  https://</a:t>
            </a:r>
            <a:r>
              <a:rPr lang="en-US" dirty="0" err="1"/>
              <a:t>storagehub.vmware.com</a:t>
            </a:r>
            <a:r>
              <a:rPr lang="en-US" dirty="0"/>
              <a:t>/t/vmware-vsan/vmware-r-vsan-tm-design-and-sizing-guide/ as well as common FAQs found at:  https://</a:t>
            </a:r>
            <a:r>
              <a:rPr lang="en-US" dirty="0" err="1"/>
              <a:t>storagehub.vmware.com</a:t>
            </a:r>
            <a:r>
              <a:rPr lang="en-US" dirty="0"/>
              <a:t>/t/vmware-vsan/vsan-frequently-asked-questions-faq/architecture/ </a:t>
            </a:r>
          </a:p>
          <a:p>
            <a:pPr marL="0" indent="0">
              <a:buFont typeface="Arial" panose="020B0604020202020204" pitchFamily="34" charset="0"/>
              <a:buNone/>
            </a:pPr>
            <a:r>
              <a:rPr lang="en-US" dirty="0"/>
              <a:t>----------------------------------</a:t>
            </a:r>
          </a:p>
          <a:p>
            <a:r>
              <a:rPr lang="en-US" sz="1200" b="1" kern="1200" baseline="0" dirty="0">
                <a:solidFill>
                  <a:schemeClr val="tx1"/>
                </a:solidFill>
                <a:latin typeface="Arial" panose="020B0604020202020204" pitchFamily="34" charset="0"/>
                <a:ea typeface="+mn-ea"/>
                <a:cs typeface="+mn-cs"/>
              </a:rPr>
              <a:t>Additional Information: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TBD</a:t>
            </a:r>
          </a:p>
          <a:p>
            <a:endParaRPr lang="en-US" dirty="0"/>
          </a:p>
        </p:txBody>
      </p:sp>
      <p:sp>
        <p:nvSpPr>
          <p:cNvPr id="4" name="Slide Number Placeholder 3">
            <a:extLst>
              <a:ext uri="{FF2B5EF4-FFF2-40B4-BE49-F238E27FC236}">
                <a16:creationId xmlns:a16="http://schemas.microsoft.com/office/drawing/2014/main" id="{71E3452D-7084-7ED9-CC09-2857642F165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49858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b="1" dirty="0"/>
              <a:t>Key Message/Talk track:</a:t>
            </a:r>
          </a:p>
          <a:p>
            <a:r>
              <a:rPr lang="en-US" dirty="0"/>
              <a:t>vSAN offers a number of data services to help you address your organization’s unique needs.  While vSAN can run hundreds of VMs per host in a vSAN cluster, additional data services are available to extend the functionality of vSAN.  Take for example the vSAN iSCSI target service, where you can create an iSCSI target on vSAN so that a legacy physical server running an application can mount that iSCSI volume.  Or perhaps your organization needs file services.  vSAN File Services offers the ability to create SMB and NFS shares to work with both traditional and cloud native workloads. vSAN also offers native S3 compatible object storage.  This has been announced as a “technical preview” available in a patch release of VCF 9.1.  And finally, vSAN offers the ability to ensure the highest levels of security through data-at-rest encryption and data-in-transit encryption offerings.  All of this adds up to a highly flexible, robust, and secure storage solution. </a:t>
            </a:r>
          </a:p>
          <a:p>
            <a:r>
              <a:rPr lang="en-US" dirty="0"/>
              <a:t>----------------------------------</a:t>
            </a:r>
          </a:p>
          <a:p>
            <a:r>
              <a:rPr lang="en-US" b="1" dirty="0"/>
              <a:t>Overview:</a:t>
            </a:r>
          </a:p>
          <a:p>
            <a:pPr marL="171450" indent="-171450">
              <a:buFont typeface="Arial" panose="020B0604020202020204" pitchFamily="34" charset="0"/>
              <a:buChar char="•"/>
            </a:pPr>
            <a:r>
              <a:rPr lang="en-US" dirty="0"/>
              <a:t>Extend vSAN </a:t>
            </a:r>
            <a:r>
              <a:rPr lang="en-US" b="1" dirty="0"/>
              <a:t>beyond native VM storage</a:t>
            </a:r>
          </a:p>
          <a:p>
            <a:pPr marL="171450" indent="-171450">
              <a:buFont typeface="Arial" panose="020B0604020202020204" pitchFamily="34" charset="0"/>
              <a:buChar char="•"/>
            </a:pPr>
            <a:r>
              <a:rPr lang="en-US" dirty="0"/>
              <a:t>Enable/disable based on </a:t>
            </a:r>
            <a:r>
              <a:rPr lang="en-US" b="1" dirty="0"/>
              <a:t>organizational needs</a:t>
            </a:r>
          </a:p>
          <a:p>
            <a:pPr marL="628650" lvl="1" indent="-171450">
              <a:buFont typeface="Arial" panose="020B0604020202020204" pitchFamily="34" charset="0"/>
              <a:buChar char="•"/>
            </a:pPr>
            <a:r>
              <a:rPr lang="en-US" dirty="0"/>
              <a:t>SMB and NFS file services</a:t>
            </a:r>
          </a:p>
          <a:p>
            <a:pPr marL="628650" lvl="1" indent="-171450">
              <a:buFont typeface="Arial" panose="020B0604020202020204" pitchFamily="34" charset="0"/>
              <a:buChar char="•"/>
            </a:pPr>
            <a:r>
              <a:rPr lang="en-US" dirty="0"/>
              <a:t>iSCSI block access for legacy workloads</a:t>
            </a:r>
          </a:p>
          <a:p>
            <a:pPr marL="628650" lvl="1" indent="-171450">
              <a:buFont typeface="Arial" panose="020B0604020202020204" pitchFamily="34" charset="0"/>
              <a:buChar char="•"/>
            </a:pPr>
            <a:r>
              <a:rPr lang="en-US" dirty="0"/>
              <a:t>S3 compatible object storage*</a:t>
            </a:r>
          </a:p>
          <a:p>
            <a:pPr marL="171450" indent="-171450">
              <a:buFont typeface="Arial" panose="020B0604020202020204" pitchFamily="34" charset="0"/>
              <a:buChar char="•"/>
            </a:pPr>
            <a:r>
              <a:rPr lang="en-US" dirty="0"/>
              <a:t>Provide FIPS validated </a:t>
            </a:r>
            <a:r>
              <a:rPr lang="en-US" b="1" dirty="0"/>
              <a:t>data-at-rest</a:t>
            </a:r>
            <a:r>
              <a:rPr lang="en-US" dirty="0"/>
              <a:t> and </a:t>
            </a:r>
            <a:r>
              <a:rPr lang="en-US" b="1" dirty="0"/>
              <a:t>data-in-transit encryption</a:t>
            </a:r>
          </a:p>
          <a:p>
            <a:r>
              <a:rPr lang="en-US" sz="1200" dirty="0"/>
              <a:t>----------------------------------</a:t>
            </a:r>
          </a:p>
          <a:p>
            <a:r>
              <a:rPr lang="en-US" sz="1200" b="1" dirty="0"/>
              <a:t>Details:</a:t>
            </a:r>
            <a:endParaRPr lang="en-US" sz="1200" dirty="0"/>
          </a:p>
          <a:p>
            <a:pPr marL="171450" lvl="0" indent="-171450">
              <a:buFont typeface="Arial" panose="020B0604020202020204" pitchFamily="34" charset="0"/>
              <a:buChar char="•"/>
            </a:pPr>
            <a:r>
              <a:rPr lang="en-US" sz="1200" kern="1200" dirty="0">
                <a:solidFill>
                  <a:schemeClr val="tx1"/>
                </a:solidFill>
                <a:effectLst/>
                <a:latin typeface="Arial" panose="020B0604020202020204" pitchFamily="34" charset="0"/>
                <a:ea typeface="+mn-ea"/>
                <a:cs typeface="+mn-cs"/>
              </a:rPr>
              <a:t>Some features subject to licensing requirements and depend on the architecture used.  (OSA versus ESA)</a:t>
            </a:r>
            <a:endParaRPr lang="en-US" sz="2000" b="1" dirty="0"/>
          </a:p>
          <a:p>
            <a:pPr marL="0" indent="0">
              <a:buFont typeface="Arial" panose="020B0604020202020204" pitchFamily="34" charset="0"/>
              <a:buNone/>
            </a:pPr>
            <a:r>
              <a:rPr lang="en-US" dirty="0"/>
              <a:t>----------------------------------</a:t>
            </a:r>
          </a:p>
          <a:p>
            <a:r>
              <a:rPr lang="en-US" sz="1200" b="1" kern="1200" baseline="0" dirty="0">
                <a:solidFill>
                  <a:schemeClr val="tx1"/>
                </a:solidFill>
                <a:latin typeface="Arial" panose="020B0604020202020204" pitchFamily="34" charset="0"/>
                <a:ea typeface="+mn-ea"/>
                <a:cs typeface="+mn-cs"/>
              </a:rPr>
              <a:t>Additional Information: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vSAN iSCSI Target Usage Guide:  https://</a:t>
            </a:r>
            <a:r>
              <a:rPr lang="en-US" dirty="0" err="1"/>
              <a:t>www.vmware.com</a:t>
            </a:r>
            <a:r>
              <a:rPr lang="en-US" dirty="0"/>
              <a:t>/docs/</a:t>
            </a:r>
            <a:r>
              <a:rPr lang="en-US" dirty="0" err="1"/>
              <a:t>vmw</a:t>
            </a:r>
            <a:r>
              <a:rPr lang="en-US" dirty="0"/>
              <a:t>-</a:t>
            </a:r>
            <a:r>
              <a:rPr lang="en-US" dirty="0" err="1"/>
              <a:t>vsan</a:t>
            </a:r>
            <a:r>
              <a:rPr lang="en-US" dirty="0"/>
              <a:t>-</a:t>
            </a:r>
            <a:r>
              <a:rPr lang="en-US" dirty="0" err="1"/>
              <a:t>iscsi</a:t>
            </a:r>
            <a:r>
              <a:rPr lang="en-US" dirty="0"/>
              <a:t>-target-usage-guide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vSAN File Services:  https://</a:t>
            </a:r>
            <a:r>
              <a:rPr lang="en-US" dirty="0" err="1"/>
              <a:t>www.vmware.com</a:t>
            </a:r>
            <a:r>
              <a:rPr lang="en-US" dirty="0"/>
              <a:t>/docs/</a:t>
            </a:r>
            <a:r>
              <a:rPr lang="en-US" dirty="0" err="1"/>
              <a:t>vmw</a:t>
            </a:r>
            <a:r>
              <a:rPr lang="en-US" dirty="0"/>
              <a:t>-</a:t>
            </a:r>
            <a:r>
              <a:rPr lang="en-US" dirty="0" err="1"/>
              <a:t>vsan</a:t>
            </a:r>
            <a:r>
              <a:rPr lang="en-US" dirty="0"/>
              <a:t>-file-services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vSAN Encryption Services:  https://</a:t>
            </a:r>
            <a:r>
              <a:rPr lang="en-US" dirty="0" err="1"/>
              <a:t>www.vmware.com</a:t>
            </a:r>
            <a:r>
              <a:rPr lang="en-US" dirty="0"/>
              <a:t>/docs/</a:t>
            </a:r>
            <a:r>
              <a:rPr lang="en-US" dirty="0" err="1"/>
              <a:t>vmw</a:t>
            </a:r>
            <a:r>
              <a:rPr lang="en-US" dirty="0"/>
              <a:t>-</a:t>
            </a:r>
            <a:r>
              <a:rPr lang="en-US" dirty="0" err="1"/>
              <a:t>vsan</a:t>
            </a:r>
            <a:r>
              <a:rPr lang="en-US" dirty="0"/>
              <a:t>-encryption-services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9832565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32500" lnSpcReduction="20000"/>
          </a:bodyPr>
          <a:lstStyle/>
          <a:p>
            <a:r>
              <a:rPr lang="en-US" sz="1200" b="1" dirty="0"/>
              <a:t>Key Message/Talk track:</a:t>
            </a:r>
          </a:p>
          <a:p>
            <a:r>
              <a:rPr lang="en-US" sz="1200" b="0" dirty="0"/>
              <a:t>Administrators responsible for the health and well-being of an environment have a lot to think about.   vSAN includes an innovative cluster health status and troubleshooting dashboard.  </a:t>
            </a:r>
            <a:r>
              <a:rPr lang="en-US" sz="1200" b="1" dirty="0"/>
              <a:t>It helps answer the basic questions of, “Is my cluster and the workloads it serves in a health state?” and if not, how sever is the condition?  …and should the issue be resolved?  </a:t>
            </a:r>
            <a:r>
              <a:rPr lang="en-US" sz="1200" b="0" dirty="0"/>
              <a:t>It provides that information that traditional health alerts alone cannot. For each vSAN cluster, vSAN Health will provide a quick at-a-glance score of the condition of a cluster so an administrator can easily determine if all is good, and if not, how impactful any identified issues are.  The new mechanism used a sophisticated method of weighing triggered health checks, and aligns them with common pillars of responsibility.  It will then provide the most important, impactful triggered health findings in an order of priority so that an administrator can resolve issues quickly and easily. </a:t>
            </a:r>
          </a:p>
          <a:p>
            <a:r>
              <a:rPr lang="en-US" sz="1200" dirty="0"/>
              <a:t>----------------------------------</a:t>
            </a:r>
          </a:p>
          <a:p>
            <a:r>
              <a:rPr lang="en-US" sz="1200" b="1" dirty="0"/>
              <a:t>Overview:</a:t>
            </a:r>
          </a:p>
          <a:p>
            <a:pPr marL="171450" indent="-171450">
              <a:buFont typeface="Arial" panose="020B0604020202020204" pitchFamily="34" charset="0"/>
              <a:buChar char="•"/>
            </a:pPr>
            <a:r>
              <a:rPr lang="en-US" dirty="0"/>
              <a:t>Provides </a:t>
            </a:r>
            <a:r>
              <a:rPr lang="en-US" b="1" dirty="0"/>
              <a:t>cluster health score </a:t>
            </a:r>
            <a:r>
              <a:rPr lang="en-US" dirty="0"/>
              <a:t>for </a:t>
            </a:r>
            <a:r>
              <a:rPr lang="en-US" b="1" dirty="0"/>
              <a:t>at-a-glance</a:t>
            </a:r>
            <a:r>
              <a:rPr lang="en-US" dirty="0"/>
              <a:t> condition of </a:t>
            </a:r>
            <a:r>
              <a:rPr lang="en-US" b="1" dirty="0"/>
              <a:t>cluster</a:t>
            </a:r>
          </a:p>
          <a:p>
            <a:pPr marL="171450" indent="-171450">
              <a:buFont typeface="Arial" panose="020B0604020202020204" pitchFamily="34" charset="0"/>
              <a:buChar char="•"/>
            </a:pPr>
            <a:r>
              <a:rPr lang="en-US" b="1" dirty="0"/>
              <a:t>Prioritizes </a:t>
            </a:r>
            <a:r>
              <a:rPr lang="en-US" dirty="0"/>
              <a:t>identified issues to </a:t>
            </a:r>
            <a:r>
              <a:rPr lang="en-US" b="1" dirty="0"/>
              <a:t>help address </a:t>
            </a:r>
            <a:r>
              <a:rPr lang="en-US" dirty="0"/>
              <a:t>most important condition </a:t>
            </a:r>
            <a:r>
              <a:rPr lang="en-US" b="1" dirty="0"/>
              <a:t>first</a:t>
            </a:r>
          </a:p>
          <a:p>
            <a:pPr marL="171450" indent="-171450">
              <a:buFont typeface="Arial" panose="020B0604020202020204" pitchFamily="34" charset="0"/>
              <a:buChar char="•"/>
            </a:pPr>
            <a:r>
              <a:rPr lang="en-US" b="1" dirty="0"/>
              <a:t>Weighs issues </a:t>
            </a:r>
            <a:r>
              <a:rPr lang="en-US" dirty="0"/>
              <a:t>using common Administrator </a:t>
            </a:r>
            <a:r>
              <a:rPr lang="en-US" b="1" dirty="0"/>
              <a:t>responsibilities</a:t>
            </a:r>
          </a:p>
          <a:p>
            <a:pPr marL="628650" lvl="1" indent="-171450">
              <a:buFont typeface="Arial" panose="020B0604020202020204" pitchFamily="34" charset="0"/>
              <a:buChar char="•"/>
            </a:pPr>
            <a:r>
              <a:rPr lang="en-US" dirty="0"/>
              <a:t>Data availability</a:t>
            </a:r>
          </a:p>
          <a:p>
            <a:pPr marL="628650" lvl="1" indent="-171450">
              <a:buFont typeface="Arial" panose="020B0604020202020204" pitchFamily="34" charset="0"/>
              <a:buChar char="•"/>
            </a:pPr>
            <a:r>
              <a:rPr lang="en-US" dirty="0"/>
              <a:t>Performance</a:t>
            </a:r>
          </a:p>
          <a:p>
            <a:pPr marL="628650" lvl="1" indent="-171450">
              <a:buFont typeface="Arial" panose="020B0604020202020204" pitchFamily="34" charset="0"/>
              <a:buChar char="•"/>
            </a:pPr>
            <a:r>
              <a:rPr lang="en-US" dirty="0"/>
              <a:t>Capacity utilization</a:t>
            </a:r>
          </a:p>
          <a:p>
            <a:pPr marL="628650" lvl="1" indent="-171450">
              <a:buFont typeface="Arial" panose="020B0604020202020204" pitchFamily="34" charset="0"/>
              <a:buChar char="•"/>
            </a:pPr>
            <a:r>
              <a:rPr lang="en-US" dirty="0"/>
              <a:t>Efficiency &amp; Compliance</a:t>
            </a:r>
          </a:p>
          <a:p>
            <a:pPr marL="171450" indent="-171450">
              <a:buFont typeface="Arial" panose="020B0604020202020204" pitchFamily="34" charset="0"/>
              <a:buChar char="•"/>
            </a:pPr>
            <a:r>
              <a:rPr lang="en-US" b="1" dirty="0"/>
              <a:t>Take action </a:t>
            </a:r>
            <a:r>
              <a:rPr lang="en-US" dirty="0"/>
              <a:t>on the </a:t>
            </a:r>
            <a:r>
              <a:rPr lang="en-US" b="1" dirty="0"/>
              <a:t>most important issue</a:t>
            </a:r>
            <a:r>
              <a:rPr lang="en-US" dirty="0"/>
              <a:t>, first</a:t>
            </a:r>
            <a:endParaRPr lang="en-US" b="1" dirty="0"/>
          </a:p>
          <a:p>
            <a:pPr marL="0" indent="0">
              <a:spcBef>
                <a:spcPts val="1779"/>
              </a:spcBef>
              <a:buFont typeface="Arial" panose="020B0604020202020204" pitchFamily="34" charset="0"/>
              <a:buNone/>
            </a:pPr>
            <a:r>
              <a:rPr lang="en-US" dirty="0"/>
              <a:t>----------------------------------</a:t>
            </a:r>
          </a:p>
          <a:p>
            <a:r>
              <a:rPr lang="en-US" b="1" dirty="0"/>
              <a:t>Details:</a:t>
            </a:r>
            <a:endParaRPr lang="en-US" b="0" u="none" dirty="0"/>
          </a:p>
          <a:p>
            <a:pPr marL="171450" indent="-171450">
              <a:buFont typeface="Arial" panose="020B0604020202020204" pitchFamily="34" charset="0"/>
              <a:buChar char="•"/>
            </a:pPr>
            <a:r>
              <a:rPr lang="en-US" b="0" u="none" dirty="0"/>
              <a:t>The Skyline Health checks for vSAN allows administrators to verify the status of well over a hundred discrete health checks.  While this can be useful, it lacks in its usefulness to administrators in the following ways:</a:t>
            </a:r>
          </a:p>
          <a:p>
            <a:pPr marL="628650" lvl="1" indent="-171450">
              <a:buFont typeface="Arial" panose="020B0604020202020204" pitchFamily="34" charset="0"/>
              <a:buChar char="•"/>
            </a:pPr>
            <a:r>
              <a:rPr lang="en-US" b="0" u="none" dirty="0"/>
              <a:t>Does not convey health condition in a way that is in alignment with common administrative pillars of responsibility (e.g. Availability of data and services, Performance SLAs, etc.)</a:t>
            </a:r>
          </a:p>
          <a:p>
            <a:pPr marL="628650" lvl="1" indent="-171450">
              <a:buFont typeface="Arial" panose="020B0604020202020204" pitchFamily="34" charset="0"/>
              <a:buChar char="•"/>
            </a:pPr>
            <a:r>
              <a:rPr lang="en-US" b="0" u="none" dirty="0"/>
              <a:t>Does not convey health severity</a:t>
            </a:r>
            <a:r>
              <a:rPr lang="en-US" b="1" u="none" dirty="0"/>
              <a:t>.  </a:t>
            </a:r>
            <a:r>
              <a:rPr lang="en-US" b="0" u="none" dirty="0"/>
              <a:t>What type of impact the triggered health check(s) may have on a cluster</a:t>
            </a:r>
          </a:p>
          <a:p>
            <a:pPr marL="628650" lvl="1" indent="-171450">
              <a:buFont typeface="Arial" panose="020B0604020202020204" pitchFamily="34" charset="0"/>
              <a:buChar char="•"/>
            </a:pPr>
            <a:r>
              <a:rPr lang="en-US" b="0" u="none" dirty="0"/>
              <a:t>Does not provide a correlation of triggered health checks and their relationship to one another. (until vSAN 7 U3)</a:t>
            </a:r>
          </a:p>
          <a:p>
            <a:pPr marL="628650" lvl="1" indent="-171450">
              <a:buFont typeface="Arial" panose="020B0604020202020204" pitchFamily="34" charset="0"/>
              <a:buChar char="•"/>
            </a:pPr>
            <a:r>
              <a:rPr lang="en-US" b="0" u="none" dirty="0"/>
              <a:t>It presents triggered health checks in arbitrary form, visually presenting a more benign triggered health check with a more important triggered health check equally – which can be misleading in terms of what to address first.</a:t>
            </a:r>
          </a:p>
          <a:p>
            <a:pPr marL="628650" lvl="1" indent="-171450">
              <a:buFont typeface="Arial" panose="020B0604020202020204" pitchFamily="34" charset="0"/>
              <a:buChar char="•"/>
            </a:pPr>
            <a:r>
              <a:rPr lang="en-US" b="0" u="none" dirty="0"/>
              <a:t>More health checks added to a list exacerbates the problem of which triggered health check to address first.</a:t>
            </a:r>
          </a:p>
          <a:p>
            <a:pPr marL="628650" lvl="1" indent="-171450">
              <a:buFont typeface="Arial" panose="020B0604020202020204" pitchFamily="34" charset="0"/>
              <a:buChar char="•"/>
            </a:pPr>
            <a:r>
              <a:rPr lang="en-US" b="0" u="none" dirty="0"/>
              <a:t>Methods and order of remediation were unclear for many users.</a:t>
            </a:r>
          </a:p>
          <a:p>
            <a:pPr marL="171450" indent="-171450">
              <a:buFont typeface="Arial" panose="020B0604020202020204" pitchFamily="34" charset="0"/>
              <a:buChar char="•"/>
            </a:pPr>
            <a:r>
              <a:rPr lang="en-US" b="0" u="none" dirty="0"/>
              <a:t>vSAN 8 U1 introduces an all-new simplified way understand the health or status of a cluster, and remediate issues in a prioritized way.</a:t>
            </a:r>
          </a:p>
          <a:p>
            <a:pPr marL="628650" lvl="1" indent="-171450">
              <a:buFont typeface="Arial" panose="020B0604020202020204" pitchFamily="34" charset="0"/>
              <a:buChar char="•"/>
            </a:pPr>
            <a:r>
              <a:rPr lang="en-US" b="0" u="none" dirty="0"/>
              <a:t>Quickly identify the status of a cluster (e.g. “Do I need to address an issue now, or is it just a small matter that can wait?”)</a:t>
            </a:r>
          </a:p>
          <a:p>
            <a:pPr marL="628650" lvl="1" indent="-171450">
              <a:buFont typeface="Arial" panose="020B0604020202020204" pitchFamily="34" charset="0"/>
              <a:buChar char="•"/>
            </a:pPr>
            <a:r>
              <a:rPr lang="en-US" b="0" u="none" dirty="0"/>
              <a:t>Provides a summed, weighted value of triggered health checks to indicate severity, and priority.</a:t>
            </a:r>
          </a:p>
          <a:p>
            <a:pPr marL="628650" lvl="1" indent="-171450">
              <a:buFont typeface="Arial" panose="020B0604020202020204" pitchFamily="34" charset="0"/>
              <a:buChar char="•"/>
            </a:pPr>
            <a:r>
              <a:rPr lang="en-US" b="0" u="none" dirty="0"/>
              <a:t>Understand how any triggered health checks are impacting core administrator responsibilities</a:t>
            </a:r>
          </a:p>
          <a:p>
            <a:pPr marL="628650" lvl="1" indent="-171450">
              <a:buFont typeface="Arial" panose="020B0604020202020204" pitchFamily="34" charset="0"/>
              <a:buChar char="•"/>
            </a:pPr>
            <a:r>
              <a:rPr lang="en-US" b="0" u="none" dirty="0"/>
              <a:t>Gives a priority of remediation for triggered health checks.</a:t>
            </a:r>
          </a:p>
          <a:p>
            <a:pPr marL="628650" lvl="1" indent="-171450">
              <a:buFont typeface="Arial" panose="020B0604020202020204" pitchFamily="34" charset="0"/>
              <a:buChar char="•"/>
            </a:pPr>
            <a:r>
              <a:rPr lang="en-US" b="0" u="none" dirty="0"/>
              <a:t>Simplified steps for remediation in UI (manual or automated depending on the circumstances)</a:t>
            </a:r>
          </a:p>
          <a:p>
            <a:pPr marL="628650" lvl="1" indent="-171450">
              <a:buFont typeface="Arial" panose="020B0604020202020204" pitchFamily="34" charset="0"/>
              <a:buChar char="•"/>
            </a:pPr>
            <a:r>
              <a:rPr lang="en-US" b="0" u="none" dirty="0"/>
              <a:t>Provides a historical view of this cluster health score.</a:t>
            </a:r>
          </a:p>
          <a:p>
            <a:pPr marL="171450" lvl="0" indent="-171450">
              <a:buFont typeface="Arial" panose="020B0604020202020204" pitchFamily="34" charset="0"/>
              <a:buChar char="•"/>
            </a:pPr>
            <a:r>
              <a:rPr lang="en-US" b="0" u="none" dirty="0"/>
              <a:t>The new cluster health score and troubleshooting framework in vSAN uses a sophisticated algorithm to determine the score of a cluster so that triggered checks are accounted for with the appropriate level of severity.  It does so through the following ways:</a:t>
            </a:r>
          </a:p>
          <a:p>
            <a:pPr marL="628650" lvl="1" indent="-171450">
              <a:buFont typeface="Arial" panose="020B0604020202020204" pitchFamily="34" charset="0"/>
              <a:buChar char="•"/>
            </a:pPr>
            <a:r>
              <a:rPr lang="en-US" b="1" u="none" dirty="0"/>
              <a:t>Category Factor.  </a:t>
            </a:r>
            <a:r>
              <a:rPr lang="en-US" b="0" u="none" dirty="0"/>
              <a:t>All health checks fall into one of 4 general categories.  They are “</a:t>
            </a:r>
            <a:r>
              <a:rPr lang="en-US" b="1" u="none" dirty="0"/>
              <a:t>Availability</a:t>
            </a:r>
            <a:r>
              <a:rPr lang="en-US" b="0" u="none" dirty="0"/>
              <a:t>,” “</a:t>
            </a:r>
            <a:r>
              <a:rPr lang="en-US" b="1" u="none" dirty="0"/>
              <a:t>Performance</a:t>
            </a:r>
            <a:r>
              <a:rPr lang="en-US" b="0" u="none" dirty="0"/>
              <a:t>,” “</a:t>
            </a:r>
            <a:r>
              <a:rPr lang="en-US" b="1" u="none" dirty="0"/>
              <a:t>Capacity Utilization</a:t>
            </a:r>
            <a:r>
              <a:rPr lang="en-US" b="0" u="none" dirty="0"/>
              <a:t>” and “</a:t>
            </a:r>
            <a:r>
              <a:rPr lang="en-US" b="1" u="none" dirty="0"/>
              <a:t>Efficiency and Compliance</a:t>
            </a:r>
            <a:r>
              <a:rPr lang="en-US" b="0" u="none" dirty="0"/>
              <a:t>.”  These categories are weighted to align with typical administrator pillars of responsibility.  (Example. Efficiency and compliance isn’t important if none of the data is available in the first place).  Some categories like “Availability</a:t>
            </a:r>
            <a:r>
              <a:rPr lang="en-US" b="1" u="none" dirty="0"/>
              <a:t>”</a:t>
            </a:r>
            <a:r>
              <a:rPr lang="en-US" b="0" u="none" dirty="0"/>
              <a:t> have an additional level of distinction between data availability, and infrastructure availability to be more accurate in its scoring.</a:t>
            </a:r>
          </a:p>
          <a:p>
            <a:pPr marL="628650" lvl="1" indent="-171450">
              <a:buFont typeface="Arial" panose="020B0604020202020204" pitchFamily="34" charset="0"/>
              <a:buChar char="•"/>
            </a:pPr>
            <a:r>
              <a:rPr lang="en-US" b="1" u="none" dirty="0"/>
              <a:t>Priority factor.  </a:t>
            </a:r>
            <a:r>
              <a:rPr lang="en-US" b="0" u="none" dirty="0"/>
              <a:t>This helps give a weight to a triggered heath check within a category, aggregating the weight of the triggered health checks.</a:t>
            </a:r>
          </a:p>
          <a:p>
            <a:pPr marL="171450" lvl="0" indent="-171450">
              <a:buFont typeface="Arial" panose="020B0604020202020204" pitchFamily="34" charset="0"/>
              <a:buChar char="•"/>
            </a:pPr>
            <a:r>
              <a:rPr lang="en-US" b="0" u="none" dirty="0"/>
              <a:t>The cluster score ranges from 0-100, with 100 being a perfectly healthy cluster based on the condition of the health checks.</a:t>
            </a:r>
          </a:p>
          <a:p>
            <a:pPr marL="171450" lvl="0" indent="-171450">
              <a:buFont typeface="Arial" panose="020B0604020202020204" pitchFamily="34" charset="0"/>
              <a:buChar char="•"/>
            </a:pPr>
            <a:r>
              <a:rPr lang="en-US" b="0" u="none" dirty="0"/>
              <a:t>Triggered alerts that are silenced will still be deducted from the total score.</a:t>
            </a:r>
          </a:p>
          <a:p>
            <a:pPr marL="171450" lvl="0" indent="-171450">
              <a:buFont typeface="Arial" panose="020B0604020202020204" pitchFamily="34" charset="0"/>
              <a:buChar char="•"/>
            </a:pPr>
            <a:r>
              <a:rPr lang="en-US" b="0" u="none" dirty="0"/>
              <a:t>The cluster score dial has line breaks that denote three general states of the cluster.  This mimics, but in a much more accurate way, a common task administrators perform in quickly opening up vCenter server and randomly checking health checks, but in an arbitrary way.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81-100</a:t>
            </a:r>
            <a:r>
              <a:rPr lang="en-US" b="0" u="none" dirty="0"/>
              <a:t>.  On Target/Healthy - No attention required</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1" u="none" dirty="0"/>
              <a:t>61-80.   </a:t>
            </a:r>
            <a:r>
              <a:rPr lang="en-US" b="0" u="none" dirty="0"/>
              <a:t>Degraded health - Attention suggested.</a:t>
            </a:r>
          </a:p>
          <a:p>
            <a:pPr marL="628650" lvl="1" indent="-171450">
              <a:buFont typeface="Arial" panose="020B0604020202020204" pitchFamily="34" charset="0"/>
              <a:buChar char="•"/>
            </a:pPr>
            <a:r>
              <a:rPr lang="en-US" b="1" u="none" dirty="0"/>
              <a:t>0-60.  </a:t>
            </a:r>
            <a:r>
              <a:rPr lang="en-US" b="0" u="none" dirty="0"/>
              <a:t>Unhealthy - Attention required</a:t>
            </a:r>
          </a:p>
          <a:p>
            <a:pPr marL="171450" lvl="0" indent="-171450">
              <a:buFont typeface="Arial" panose="020B0604020202020204" pitchFamily="34" charset="0"/>
              <a:buChar char="•"/>
            </a:pPr>
            <a:r>
              <a:rPr lang="en-US" b="0" u="none" dirty="0"/>
              <a:t>Given the defined categories, one will find that if there are any triggered issues regarding “availability” (where data is unavailable, and not just degraded in prescribed resilience) it </a:t>
            </a:r>
            <a:r>
              <a:rPr lang="en-US" b="1" u="none" dirty="0"/>
              <a:t>will always </a:t>
            </a:r>
            <a:r>
              <a:rPr lang="en-US" b="0" u="none" dirty="0"/>
              <a:t>reduce the total cluster health score enough to where the scoring will be in the “Unhealthy – Attention required” range.</a:t>
            </a:r>
          </a:p>
          <a:p>
            <a:pPr marL="171450" lvl="0" indent="-171450">
              <a:buFont typeface="Arial" panose="020B0604020202020204" pitchFamily="34" charset="0"/>
              <a:buChar char="•"/>
            </a:pPr>
            <a:r>
              <a:rPr lang="en-US" b="0" u="none" dirty="0"/>
              <a:t>This capability is designed to prevent false positives from operational tasks, or the designed behavior of vSAN in how the types of conditions of alerts are weighted.  The vSAN health checks for vSAN </a:t>
            </a:r>
            <a:r>
              <a:rPr lang="en-US" b="1" u="none" dirty="0"/>
              <a:t>can distinguish between data unavailability versus data still available but degraded in its level of prescribed resilience.  </a:t>
            </a:r>
            <a:r>
              <a:rPr lang="en-US" b="0" u="none" dirty="0"/>
              <a:t>For example, a triggered health check of “vSAN Object Health” will impact a health score much more so if it is unavailable, than if it is available, but degraded due to a “reduced level of resilience” condition that could have been invoked by a planned EMM event using the “ensure accessibility” option.  It methodology is also applicable to device and host failures.</a:t>
            </a:r>
          </a:p>
          <a:p>
            <a:pPr marL="171450" lvl="0" indent="-171450">
              <a:buFont typeface="Arial" panose="020B0604020202020204" pitchFamily="34" charset="0"/>
              <a:buChar char="•"/>
            </a:pPr>
            <a:r>
              <a:rPr lang="en-US" b="0" u="none" dirty="0"/>
              <a:t>The “Capacity Utilization” and the “Efficiency and Compliance” categories attempt to convey to the administrator if they are utilizing their purchased resources optimally.  Anything that subtracts from the aggregate sum of resources could be deemed a reduction in efficiency because the cost of providing the services was increased relative to the loss of resources.  </a:t>
            </a:r>
          </a:p>
          <a:p>
            <a:pPr marL="171450" lvl="0" indent="-171450">
              <a:buFont typeface="Arial" panose="020B0604020202020204" pitchFamily="34" charset="0"/>
              <a:buChar char="•"/>
            </a:pPr>
            <a:r>
              <a:rPr lang="en-US" b="0" u="none" dirty="0"/>
              <a:t>Rendering a cluster health score sets the stage for the other aspect of this feature:  </a:t>
            </a:r>
            <a:r>
              <a:rPr lang="en-US" b="1" u="none" dirty="0"/>
              <a:t>The prioritized order of remediation of outstanding issues, with improved guidance for the triggered issues.</a:t>
            </a:r>
            <a:r>
              <a:rPr lang="en-US" b="0" u="none" dirty="0"/>
              <a:t> </a:t>
            </a:r>
          </a:p>
          <a:p>
            <a:pPr marL="171450" lvl="0" indent="-171450">
              <a:buFont typeface="Arial" panose="020B0604020202020204" pitchFamily="34" charset="0"/>
              <a:buChar char="•"/>
            </a:pPr>
            <a:r>
              <a:rPr lang="en-US" b="0" u="none" dirty="0"/>
              <a:t>The UX deemphasizes the simple enumeration of green health checks for the reasons described in bullet point #1, and prioritizes triggered health checks in priority of 1.) Level of impact on the cluster, and 2.) the hierarchal relationship that the triggered health checks have to each other.  </a:t>
            </a:r>
          </a:p>
          <a:p>
            <a:pPr marL="171450" lvl="0" indent="-171450">
              <a:buFont typeface="Arial" panose="020B0604020202020204" pitchFamily="34" charset="0"/>
              <a:buChar char="•"/>
            </a:pPr>
            <a:r>
              <a:rPr lang="en-US" b="0" u="none" dirty="0"/>
              <a:t>“Health Findings” will be presented in a list below the cluster health score and score timeline.  It will be sorted by a “recommend” (e.g. “root cause”) order of remediation.</a:t>
            </a:r>
          </a:p>
          <a:p>
            <a:pPr marL="171450" lvl="0" indent="-171450">
              <a:buFont typeface="Arial" panose="020B0604020202020204" pitchFamily="34" charset="0"/>
              <a:buChar char="•"/>
            </a:pPr>
            <a:r>
              <a:rPr lang="en-US" b="0" u="none" dirty="0"/>
              <a:t>The triggered health findings will always be sorted by “root cause” by default.  It can also be sorted by:</a:t>
            </a:r>
          </a:p>
          <a:p>
            <a:pPr marL="628650" lvl="1" indent="-171450">
              <a:buFont typeface="Arial" panose="020B0604020202020204" pitchFamily="34" charset="0"/>
              <a:buChar char="•"/>
            </a:pPr>
            <a:r>
              <a:rPr lang="en-US" b="0" u="none" dirty="0"/>
              <a:t>Occurred on</a:t>
            </a:r>
          </a:p>
          <a:p>
            <a:pPr marL="628650" lvl="1" indent="-171450">
              <a:buFont typeface="Arial" panose="020B0604020202020204" pitchFamily="34" charset="0"/>
              <a:buChar char="•"/>
            </a:pPr>
            <a:r>
              <a:rPr lang="en-US" b="0" u="none" dirty="0"/>
              <a:t>Status</a:t>
            </a:r>
          </a:p>
          <a:p>
            <a:pPr marL="628650" lvl="1" indent="-171450">
              <a:buFont typeface="Arial" panose="020B0604020202020204" pitchFamily="34" charset="0"/>
              <a:buChar char="•"/>
            </a:pPr>
            <a:r>
              <a:rPr lang="en-US" b="0" u="none" dirty="0"/>
              <a:t>Score</a:t>
            </a:r>
          </a:p>
          <a:p>
            <a:pPr marL="628650" lvl="1" indent="-171450">
              <a:buFont typeface="Arial" panose="020B0604020202020204" pitchFamily="34" charset="0"/>
              <a:buChar char="•"/>
            </a:pPr>
            <a:r>
              <a:rPr lang="en-US" b="0" u="none" dirty="0"/>
              <a:t>Category</a:t>
            </a:r>
          </a:p>
          <a:p>
            <a:pPr marL="628650" lvl="1" indent="-171450">
              <a:buFont typeface="Arial" panose="020B0604020202020204" pitchFamily="34" charset="0"/>
              <a:buChar char="•"/>
            </a:pPr>
            <a:r>
              <a:rPr lang="en-US" b="0" u="none" dirty="0"/>
              <a:t>Impact area</a:t>
            </a:r>
          </a:p>
          <a:p>
            <a:pPr marL="171450" lvl="0" indent="-171450">
              <a:buFont typeface="Arial" panose="020B0604020202020204" pitchFamily="34" charset="0"/>
              <a:buChar char="•"/>
            </a:pPr>
            <a:r>
              <a:rPr lang="en-US" b="0" u="none" dirty="0"/>
              <a:t>The remediation will always surface the root cause of the issue.  For example, in the event of a data availability issue, there may be an “object health” warning that is most certainly important, but this in many ways is a symptom-based health check.  There may also be a  “network partition” alert associated with this issue, where it is a symptom of the related issue.  vSAN health will recognize this, and present the “root cause” alert “e.g. “vSAN </a:t>
            </a:r>
            <a:r>
              <a:rPr lang="en-US" b="0" u="none" dirty="0" err="1"/>
              <a:t>vmknic</a:t>
            </a:r>
            <a:r>
              <a:rPr lang="en-US" b="0" u="none" dirty="0"/>
              <a:t> is not configured” as the first order of resolving the issue.  </a:t>
            </a:r>
          </a:p>
          <a:p>
            <a:pPr marL="171450" lvl="0" indent="-171450">
              <a:buFont typeface="Arial" panose="020B0604020202020204" pitchFamily="34" charset="0"/>
              <a:buChar char="•"/>
            </a:pPr>
            <a:r>
              <a:rPr lang="en-US" b="0" u="none" dirty="0"/>
              <a:t>The dashboard deemphasizes an enumerated list of health checks that have passed, as the details of passed health checks have limited relevance.  They are however visible by selecting the “Healthy” tab in the “Health Findings” of the Cluster dashboard.</a:t>
            </a:r>
          </a:p>
          <a:p>
            <a:pPr marL="171450" lvl="0" indent="-171450">
              <a:buFont typeface="Arial" panose="020B0604020202020204" pitchFamily="34" charset="0"/>
              <a:buChar char="•"/>
            </a:pPr>
            <a:r>
              <a:rPr lang="en-US" b="0" u="none" dirty="0"/>
              <a:t>The guidance in many of the triggered health checks have improved.  While we aim to have semi-automated “fix issue” workflows in place, enhancements in the guidance should help customers resolve issues more quickly.</a:t>
            </a:r>
          </a:p>
          <a:p>
            <a:pPr marL="171450" indent="-171450">
              <a:buFont typeface="Arial" panose="020B0604020202020204" pitchFamily="34" charset="0"/>
              <a:buChar char="•"/>
            </a:pPr>
            <a:r>
              <a:rPr lang="en-US" b="0" u="none" dirty="0"/>
              <a:t>This new capability builds off of the vSAN Health Check correlation capability introduced in vSAN 7 U3.  This health check correlation capability introduced the ability for various health checks to understand the relationship of one health check to another for improved levels of troubleshooting.  These relationship mapping of the health checks grows more sophisticated with each release, and plays a critical role in helping the administrator address the root cause of a triggered issue.</a:t>
            </a:r>
          </a:p>
          <a:p>
            <a:pPr marL="171450" indent="-171450">
              <a:buFont typeface="Arial" panose="020B0604020202020204" pitchFamily="34" charset="0"/>
              <a:buChar char="•"/>
            </a:pPr>
            <a:r>
              <a:rPr lang="en-US" b="0" u="none" dirty="0"/>
              <a:t>At this time, the majority of the checks in the vSAN health check engine are focused availability. As a result, the cluster scoring, identification of issues, and direct paths for remediation are the strongest with availability concerns.  As our health check engine continues to add more checks for performance, capacity utilization, and efficiency, it will become more effective and important to the understanding of the conditions of cluster health in those areas, and offer more sophisticated methods for remediation.</a:t>
            </a:r>
          </a:p>
          <a:p>
            <a:pPr marL="171450" indent="-171450">
              <a:buFont typeface="Arial" panose="020B0604020202020204" pitchFamily="34" charset="0"/>
              <a:buChar char="•"/>
            </a:pPr>
            <a:r>
              <a:rPr lang="en-US" b="0" u="none" dirty="0"/>
              <a:t>A cross-BG effort has transitioned the “health Check” terminology across vCenter Server to “Health Findings.”  They mean the same thing, but for all future UI references, you will see the term “health findings” used.</a:t>
            </a:r>
          </a:p>
          <a:p>
            <a:pPr marL="171450" indent="-171450">
              <a:buFont typeface="Arial" panose="020B0604020202020204" pitchFamily="34" charset="0"/>
              <a:buChar char="•"/>
            </a:pPr>
            <a:r>
              <a:rPr lang="en-US" b="0" u="none" dirty="0"/>
              <a:t>Note that for all time based-metrics, the formatting of dates across a time-line can be adjusted to suit a country of origin.  Clicking on the “My Preferences” will provide a time format and language selection that can either be set for the browser default, or to a specific language.</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Cluster health scoring mechanism mimics an approach often practiced by seasoned administrators, where issues are identified, weighted, and steps for remediation are prioritized.  However, vSAN Health is able to achieve these practices in a similar way for all customers, regardless of skillset.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latin typeface="Arial" panose="020B0604020202020204" pitchFamily="34" charset="0"/>
                <a:ea typeface="+mn-ea"/>
                <a:cs typeface="+mn-cs"/>
              </a:rPr>
              <a:t>----------------------------------</a:t>
            </a:r>
          </a:p>
          <a:p>
            <a:r>
              <a:rPr lang="en-US" sz="1200" b="1" kern="1200" baseline="0" dirty="0">
                <a:solidFill>
                  <a:schemeClr val="tx1"/>
                </a:solidFill>
                <a:latin typeface="Arial" panose="020B0604020202020204" pitchFamily="34" charset="0"/>
                <a:ea typeface="+mn-ea"/>
                <a:cs typeface="+mn-cs"/>
              </a:rPr>
              <a:t>Additional Information:</a:t>
            </a:r>
          </a:p>
          <a:p>
            <a:pPr marL="169495" indent="-169495">
              <a:buFont typeface="Arial" panose="020B0604020202020204" pitchFamily="34" charset="0"/>
              <a:buChar char="•"/>
            </a:pPr>
            <a:r>
              <a:rPr lang="en-US" dirty="0"/>
              <a:t>TBD</a:t>
            </a:r>
            <a:endParaRPr lang="en-US" sz="1200" dirty="0">
              <a:solidFill>
                <a:schemeClr val="tx2"/>
              </a:solidFill>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34482794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63967D-C242-6458-1BFF-AC7D1E0A0D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720026-59BC-88A7-B29D-7771645476D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A27F794-6342-23D8-4FA9-7CA6078EB622}"/>
              </a:ext>
            </a:extLst>
          </p:cNvPr>
          <p:cNvSpPr>
            <a:spLocks noGrp="1"/>
          </p:cNvSpPr>
          <p:nvPr>
            <p:ph type="body" idx="1"/>
          </p:nvPr>
        </p:nvSpPr>
        <p:spPr/>
        <p:txBody>
          <a:bodyPr>
            <a:normAutofit fontScale="77500" lnSpcReduction="20000"/>
          </a:bodyPr>
          <a:lstStyle/>
          <a:p>
            <a:r>
              <a:rPr lang="en-US" sz="1200" b="1" kern="1200" baseline="0" dirty="0">
                <a:solidFill>
                  <a:schemeClr val="tx1"/>
                </a:solidFill>
                <a:latin typeface="Arial" panose="020B0604020202020204" pitchFamily="34" charset="0"/>
                <a:ea typeface="+mn-ea"/>
                <a:cs typeface="+mn-cs"/>
              </a:rPr>
              <a:t>Key Message/Talk track:</a:t>
            </a:r>
          </a:p>
          <a:p>
            <a:r>
              <a:rPr lang="en-US" sz="1200" b="1" kern="1200" baseline="0" dirty="0">
                <a:solidFill>
                  <a:schemeClr val="tx1"/>
                </a:solidFill>
                <a:latin typeface="Arial" panose="020B0604020202020204" pitchFamily="34" charset="0"/>
                <a:ea typeface="+mn-ea"/>
                <a:cs typeface="+mn-cs"/>
              </a:rPr>
              <a:t>vSAN supports all different types of workloads and topologies. </a:t>
            </a:r>
            <a:r>
              <a:rPr lang="en-US" sz="1200" b="0" kern="1200" baseline="0" dirty="0">
                <a:solidFill>
                  <a:schemeClr val="tx1"/>
                </a:solidFill>
                <a:latin typeface="Arial" panose="020B0604020202020204" pitchFamily="34" charset="0"/>
                <a:ea typeface="+mn-ea"/>
                <a:cs typeface="+mn-cs"/>
              </a:rPr>
              <a:t> Run business critical applications along-side other applications or carve out clusters focused on specific application requirements.  Whether they be VDI workloads, business critical workloads, cloud native applications, or common IT service workloads, not only can you easily meet the needs of the application, but the flexibility of the architecture allows you to deliver those services in many different ways.  House them in a central data center, or perhaps a stretched cluster that spans two physical sites.  Maybe an organization has several branch offices, or perhaps they want the flexibility to expand resources by using the cloud.  vSAN can meet all of these demands, and more, all by using a single management plane: vCenter Server.</a:t>
            </a:r>
          </a:p>
          <a:p>
            <a:r>
              <a:rPr lang="en-US" sz="1200" b="0" kern="1200" baseline="0" dirty="0">
                <a:solidFill>
                  <a:schemeClr val="tx1"/>
                </a:solidFill>
                <a:latin typeface="Arial" panose="020B0604020202020204" pitchFamily="34" charset="0"/>
                <a:ea typeface="+mn-ea"/>
                <a:cs typeface="+mn-cs"/>
              </a:rPr>
              <a:t>----------------------------------</a:t>
            </a:r>
          </a:p>
          <a:p>
            <a:r>
              <a:rPr lang="en-US" sz="1200" b="1" kern="1200" baseline="0" dirty="0">
                <a:solidFill>
                  <a:schemeClr val="tx1"/>
                </a:solidFill>
                <a:latin typeface="Arial" panose="020B0604020202020204" pitchFamily="34" charset="0"/>
                <a:ea typeface="+mn-ea"/>
                <a:cs typeface="+mn-cs"/>
              </a:rPr>
              <a:t>Overview:</a:t>
            </a:r>
          </a:p>
          <a:p>
            <a:pPr marL="171450" indent="-171450">
              <a:buFont typeface="Arial" panose="020B0604020202020204" pitchFamily="34" charset="0"/>
              <a:buChar char="•"/>
            </a:pPr>
            <a:r>
              <a:rPr lang="en-US" dirty="0"/>
              <a:t>Power </a:t>
            </a:r>
            <a:r>
              <a:rPr lang="en-US" b="1" dirty="0"/>
              <a:t>multiple application types </a:t>
            </a:r>
            <a:r>
              <a:rPr lang="en-US" dirty="0"/>
              <a:t>using vSAN</a:t>
            </a:r>
          </a:p>
          <a:p>
            <a:pPr marL="628650" lvl="1" indent="-171450">
              <a:buFont typeface="Arial" panose="020B0604020202020204" pitchFamily="34" charset="0"/>
              <a:buChar char="•"/>
            </a:pPr>
            <a:r>
              <a:rPr lang="en-US" dirty="0"/>
              <a:t>Business Critical Apps (BCA)</a:t>
            </a:r>
          </a:p>
          <a:p>
            <a:pPr marL="628650" lvl="1" indent="-171450">
              <a:buFont typeface="Arial" panose="020B0604020202020204" pitchFamily="34" charset="0"/>
              <a:buChar char="•"/>
            </a:pPr>
            <a:r>
              <a:rPr lang="en-US" dirty="0"/>
              <a:t>Cloud Native Apps (CNA)</a:t>
            </a:r>
          </a:p>
          <a:p>
            <a:pPr marL="628650" lvl="1" indent="-171450">
              <a:buFont typeface="Arial" panose="020B0604020202020204" pitchFamily="34" charset="0"/>
              <a:buChar char="•"/>
            </a:pPr>
            <a:r>
              <a:rPr lang="en-US" dirty="0"/>
              <a:t>IT Core Infrastructure </a:t>
            </a:r>
            <a:r>
              <a:rPr lang="en-US" dirty="0" err="1"/>
              <a:t>svcs</a:t>
            </a:r>
            <a:r>
              <a:rPr lang="en-US" dirty="0"/>
              <a:t>.</a:t>
            </a:r>
          </a:p>
          <a:p>
            <a:pPr marL="628650" lvl="1" indent="-171450">
              <a:buFont typeface="Arial" panose="020B0604020202020204" pitchFamily="34" charset="0"/>
              <a:buChar char="•"/>
            </a:pPr>
            <a:r>
              <a:rPr lang="en-US" dirty="0"/>
              <a:t>Virtual desktops (VDI)</a:t>
            </a:r>
          </a:p>
          <a:p>
            <a:pPr marL="628650" lvl="1" indent="-171450">
              <a:buFont typeface="Arial" panose="020B0604020202020204" pitchFamily="34" charset="0"/>
              <a:buChar char="•"/>
            </a:pPr>
            <a:r>
              <a:rPr lang="en-US" dirty="0"/>
              <a:t>Edge (2-Node Clusters)</a:t>
            </a:r>
          </a:p>
          <a:p>
            <a:pPr marL="171450" indent="-171450">
              <a:buFont typeface="Arial" panose="020B0604020202020204" pitchFamily="34" charset="0"/>
              <a:buChar char="•"/>
            </a:pPr>
            <a:r>
              <a:rPr lang="en-US" b="1" dirty="0"/>
              <a:t>Easily adapt</a:t>
            </a:r>
            <a:r>
              <a:rPr lang="en-US" dirty="0"/>
              <a:t> configuration to evolving needs</a:t>
            </a:r>
          </a:p>
          <a:p>
            <a:pPr marL="171450" indent="-171450">
              <a:buFont typeface="Arial" panose="020B0604020202020204" pitchFamily="34" charset="0"/>
              <a:buChar char="•"/>
            </a:pPr>
            <a:r>
              <a:rPr lang="en-US" dirty="0"/>
              <a:t>Use </a:t>
            </a:r>
            <a:r>
              <a:rPr lang="en-US" b="1" dirty="0"/>
              <a:t>multiple topologies </a:t>
            </a:r>
            <a:r>
              <a:rPr lang="en-US" dirty="0"/>
              <a:t>across environment</a:t>
            </a:r>
          </a:p>
          <a:p>
            <a:pPr marL="171450" indent="-171450">
              <a:buFont typeface="Arial" panose="020B0604020202020204" pitchFamily="34" charset="0"/>
              <a:buChar char="•"/>
            </a:pPr>
            <a:r>
              <a:rPr lang="en-US" dirty="0"/>
              <a:t>Manage through single interface</a:t>
            </a:r>
          </a:p>
          <a:p>
            <a:pPr marL="0" indent="0">
              <a:buFont typeface="Arial" panose="020B0604020202020204" pitchFamily="34" charset="0"/>
              <a:buNone/>
            </a:pPr>
            <a:r>
              <a:rPr lang="en-US" sz="1200" kern="1200" baseline="0" dirty="0">
                <a:solidFill>
                  <a:schemeClr val="tx1"/>
                </a:solidFill>
                <a:latin typeface="Arial" panose="020B0604020202020204" pitchFamily="34" charset="0"/>
                <a:ea typeface="+mn-ea"/>
                <a:cs typeface="+mn-cs"/>
              </a:rPr>
              <a:t>----------------------------------</a:t>
            </a:r>
          </a:p>
          <a:p>
            <a:r>
              <a:rPr lang="en-US" sz="1200" b="1" kern="1200" baseline="0" dirty="0">
                <a:solidFill>
                  <a:schemeClr val="tx1"/>
                </a:solidFill>
                <a:latin typeface="Arial" panose="020B0604020202020204" pitchFamily="34" charset="0"/>
                <a:ea typeface="+mn-ea"/>
                <a:cs typeface="+mn-cs"/>
              </a:rPr>
              <a:t>Details:</a:t>
            </a:r>
          </a:p>
          <a:p>
            <a:pPr marL="171450" indent="-171450">
              <a:buFont typeface="Arial" panose="020B0604020202020204" pitchFamily="34" charset="0"/>
              <a:buChar char="•"/>
            </a:pPr>
            <a:r>
              <a:rPr lang="en-US" dirty="0"/>
              <a:t>Flexibility in topologies could include, but are not limited to:</a:t>
            </a:r>
          </a:p>
          <a:p>
            <a:pPr marL="628650" lvl="1" indent="-171450">
              <a:buFont typeface="Arial" panose="020B0604020202020204" pitchFamily="34" charset="0"/>
              <a:buChar char="•"/>
            </a:pPr>
            <a:r>
              <a:rPr lang="en-US" dirty="0"/>
              <a:t>Standard clusters carved up to meet specific business needs</a:t>
            </a:r>
          </a:p>
          <a:p>
            <a:pPr marL="628650" lvl="1" indent="-171450">
              <a:buFont typeface="Arial" panose="020B0604020202020204" pitchFamily="34" charset="0"/>
              <a:buChar char="•"/>
            </a:pPr>
            <a:r>
              <a:rPr lang="en-US" dirty="0"/>
              <a:t>Standard clusters using explicit fault domains</a:t>
            </a:r>
          </a:p>
          <a:p>
            <a:pPr marL="628650" lvl="1" indent="-171450">
              <a:buFont typeface="Arial" panose="020B0604020202020204" pitchFamily="34" charset="0"/>
              <a:buChar char="•"/>
            </a:pPr>
            <a:r>
              <a:rPr lang="en-US" dirty="0"/>
              <a:t>Standard clusters using HCI-Mesh</a:t>
            </a:r>
          </a:p>
          <a:p>
            <a:pPr marL="628650" lvl="1" indent="-171450">
              <a:buFont typeface="Arial" panose="020B0604020202020204" pitchFamily="34" charset="0"/>
              <a:buChar char="•"/>
            </a:pPr>
            <a:r>
              <a:rPr lang="en-US" dirty="0"/>
              <a:t>Hybrid-cloud configurations using a blend of hardware on premises and in the cloud</a:t>
            </a:r>
          </a:p>
          <a:p>
            <a:pPr marL="628650" lvl="1" indent="-171450">
              <a:buFont typeface="Arial" panose="020B0604020202020204" pitchFamily="34" charset="0"/>
              <a:buChar char="•"/>
            </a:pPr>
            <a:r>
              <a:rPr lang="en-US" dirty="0"/>
              <a:t>Stretched clusters</a:t>
            </a:r>
          </a:p>
          <a:p>
            <a:pPr marL="628650" lvl="1" indent="-171450">
              <a:buFont typeface="Arial" panose="020B0604020202020204" pitchFamily="34" charset="0"/>
              <a:buChar char="•"/>
            </a:pPr>
            <a:r>
              <a:rPr lang="en-US" dirty="0"/>
              <a:t>2-Node clusters</a:t>
            </a:r>
          </a:p>
          <a:p>
            <a:pPr marL="628650" lvl="1" indent="-171450">
              <a:buFont typeface="Arial" panose="020B0604020202020204" pitchFamily="34" charset="0"/>
              <a:buChar char="•"/>
            </a:pPr>
            <a:r>
              <a:rPr lang="en-US" dirty="0"/>
              <a:t>Clusters connected to </a:t>
            </a:r>
            <a:r>
              <a:rPr lang="en-US" dirty="0" err="1"/>
              <a:t>DRaaS</a:t>
            </a:r>
            <a:endParaRPr lang="en-US" dirty="0"/>
          </a:p>
          <a:p>
            <a:pPr marL="171450" lvl="0" indent="-171450">
              <a:buFont typeface="Arial" panose="020B0604020202020204" pitchFamily="34" charset="0"/>
              <a:buChar char="•"/>
            </a:pPr>
            <a:r>
              <a:rPr lang="en-US" dirty="0"/>
              <a:t>The emphasis of this slide is focused on traditional application.  Cloud native apps can be intermingled in this, but it is not shown for clarity.  </a:t>
            </a:r>
          </a:p>
          <a:p>
            <a:pPr marL="0" indent="0">
              <a:buFont typeface="Arial" panose="020B0604020202020204" pitchFamily="34" charset="0"/>
              <a:buNone/>
            </a:pPr>
            <a:r>
              <a:rPr lang="en-US" dirty="0"/>
              <a:t>----------------------------------</a:t>
            </a:r>
          </a:p>
          <a:p>
            <a:r>
              <a:rPr lang="en-US" sz="1200" b="1" kern="1200" baseline="0" dirty="0">
                <a:solidFill>
                  <a:schemeClr val="tx1"/>
                </a:solidFill>
                <a:latin typeface="Arial" panose="020B0604020202020204" pitchFamily="34" charset="0"/>
                <a:ea typeface="+mn-ea"/>
                <a:cs typeface="+mn-cs"/>
              </a:rPr>
              <a:t>Additional Information:</a:t>
            </a:r>
          </a:p>
          <a:p>
            <a:r>
              <a:rPr lang="en-US" dirty="0"/>
              <a:t>Use case:  vSAN in Industrial Environments:  https://</a:t>
            </a:r>
            <a:r>
              <a:rPr lang="en-US" dirty="0" err="1"/>
              <a:t>blogs.vmware.com</a:t>
            </a:r>
            <a:r>
              <a:rPr lang="en-US" dirty="0"/>
              <a:t>/cloud-foundation/2021/03/26/</a:t>
            </a:r>
            <a:r>
              <a:rPr lang="en-US" dirty="0" err="1"/>
              <a:t>vsan</a:t>
            </a:r>
            <a:r>
              <a:rPr lang="en-US" dirty="0"/>
              <a:t>-in-industrial-environments/ </a:t>
            </a:r>
          </a:p>
          <a:p>
            <a:r>
              <a:rPr lang="en-US" dirty="0"/>
              <a:t>Use case:  vSAN in Healthcare:  https://</a:t>
            </a:r>
            <a:r>
              <a:rPr lang="en-US" dirty="0" err="1"/>
              <a:t>blogs.vmware.com</a:t>
            </a:r>
            <a:r>
              <a:rPr lang="en-US" dirty="0"/>
              <a:t>/cloud-foundation/2021/06/16/</a:t>
            </a:r>
            <a:r>
              <a:rPr lang="en-US" dirty="0" err="1"/>
              <a:t>vsan</a:t>
            </a:r>
            <a:r>
              <a:rPr lang="en-US" dirty="0"/>
              <a:t>-in-healthcare/ </a:t>
            </a:r>
          </a:p>
          <a:p>
            <a:r>
              <a:rPr lang="en-US" dirty="0"/>
              <a:t>Use case:  vSAN Powering Biotech:  https://</a:t>
            </a:r>
            <a:r>
              <a:rPr lang="en-US" dirty="0" err="1"/>
              <a:t>blogs.vmware.com</a:t>
            </a:r>
            <a:r>
              <a:rPr lang="en-US" dirty="0"/>
              <a:t>/cloud-foundation/2021/04/07/</a:t>
            </a:r>
            <a:r>
              <a:rPr lang="en-US" dirty="0" err="1"/>
              <a:t>vsan</a:t>
            </a:r>
            <a:r>
              <a:rPr lang="en-US" dirty="0"/>
              <a:t>-powering-biotech/</a:t>
            </a:r>
          </a:p>
          <a:p>
            <a:r>
              <a:rPr lang="en-US" dirty="0"/>
              <a:t>Use case:  Multitenancy in vSAN:  https://</a:t>
            </a:r>
            <a:r>
              <a:rPr lang="en-US" dirty="0" err="1"/>
              <a:t>blogs.vmware.com</a:t>
            </a:r>
            <a:r>
              <a:rPr lang="en-US" dirty="0"/>
              <a:t>/cloud-foundation/2022/09/23/multitenancy-in-</a:t>
            </a:r>
            <a:r>
              <a:rPr lang="en-US" dirty="0" err="1"/>
              <a:t>vsan</a:t>
            </a:r>
            <a:r>
              <a:rPr lang="en-US" dirty="0"/>
              <a:t>/</a:t>
            </a:r>
          </a:p>
          <a:p>
            <a:endParaRPr lang="en-US" dirty="0"/>
          </a:p>
        </p:txBody>
      </p:sp>
      <p:sp>
        <p:nvSpPr>
          <p:cNvPr id="4" name="Slide Number Placeholder 3">
            <a:extLst>
              <a:ext uri="{FF2B5EF4-FFF2-40B4-BE49-F238E27FC236}">
                <a16:creationId xmlns:a16="http://schemas.microsoft.com/office/drawing/2014/main" id="{3C8E4451-3078-1D5E-C55B-80D1569A732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5317035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85000" lnSpcReduction="20000"/>
          </a:bodyPr>
          <a:lstStyle/>
          <a:p>
            <a:r>
              <a:rPr lang="en-US" sz="1200" b="1" dirty="0"/>
              <a:t>Key Message/Talk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t>vSAN can be deployed in different ways.  The two primary deployment options are aggregated “vSAN HCI” clusters and disaggregated “vSAN storage clusters.”  vSAN HCI clusters are what most people think of when they hear “hyperconverged” where storage resources are provided on the same hosts that provide memory and compute resources.  But vSAN can be deploy in a disaggregated way, where a cluster can be deployed for the single purpose of providing centralized shared storage for vSphere clusters.  Which deployment option is right for you? </a:t>
            </a:r>
            <a:r>
              <a:rPr lang="en-US" sz="1800" kern="0" dirty="0">
                <a:effectLst/>
                <a:latin typeface="Calibri" panose="020F0502020204030204" pitchFamily="34" charset="0"/>
                <a:ea typeface="Times New Roman" panose="02020603050405020304" pitchFamily="18" charset="0"/>
                <a:cs typeface="Calibri" panose="020F0502020204030204" pitchFamily="34" charset="0"/>
              </a:rPr>
              <a:t>The circumstances or requirements you have in your environment may favor one deployment option over the other, but in most cases, it does not mean that a specific deployment option should be excluded from consideration.  Whatever is chosen, vSAN HCI clusters can happily coexist with vSAN storage clusters, as they are all managed in the very same way, using the very same software.</a:t>
            </a:r>
            <a:endParaRPr lang="en-US" sz="1800" kern="100" dirty="0">
              <a:effectLst/>
              <a:latin typeface="Calibri" panose="020F0502020204030204" pitchFamily="34" charset="0"/>
              <a:ea typeface="Calibri" panose="020F0502020204030204" pitchFamily="34" charset="0"/>
              <a:cs typeface="Arial" panose="020B0604020202020204" pitchFamily="34" charset="0"/>
            </a:endParaRPr>
          </a:p>
          <a:p>
            <a:r>
              <a:rPr lang="en-US" sz="1200" dirty="0"/>
              <a:t>----------------------------------</a:t>
            </a:r>
          </a:p>
          <a:p>
            <a:r>
              <a:rPr lang="en-US" sz="1200" b="1" dirty="0"/>
              <a:t>Overview:</a:t>
            </a:r>
          </a:p>
          <a:p>
            <a:pPr marL="171450" indent="-171450">
              <a:buFont typeface="Arial" panose="020B0604020202020204" pitchFamily="34" charset="0"/>
              <a:buChar char="•"/>
            </a:pPr>
            <a:r>
              <a:rPr lang="en-US" b="1" dirty="0">
                <a:solidFill>
                  <a:schemeClr val="accent5"/>
                </a:solidFill>
              </a:rPr>
              <a:t>vSAN HCI</a:t>
            </a:r>
          </a:p>
          <a:p>
            <a:pPr marL="628650" lvl="1" indent="-171450">
              <a:spcAft>
                <a:spcPts val="600"/>
              </a:spcAft>
              <a:buFont typeface="Arial" panose="020B0604020202020204" pitchFamily="34" charset="0"/>
              <a:buChar char="•"/>
            </a:pPr>
            <a:r>
              <a:rPr lang="en-US" sz="1200" b="1" dirty="0">
                <a:solidFill>
                  <a:schemeClr val="accent1"/>
                </a:solidFill>
              </a:rPr>
              <a:t>Unified lifecycle management </a:t>
            </a:r>
            <a:r>
              <a:rPr lang="en-US" sz="1200" dirty="0">
                <a:solidFill>
                  <a:schemeClr val="tx2"/>
                </a:solidFill>
              </a:rPr>
              <a:t>of storage and compute resources</a:t>
            </a:r>
          </a:p>
          <a:p>
            <a:pPr marL="628650" lvl="1" indent="-171450">
              <a:spcAft>
                <a:spcPts val="600"/>
              </a:spcAft>
              <a:buFont typeface="Arial" panose="020B0604020202020204" pitchFamily="34" charset="0"/>
              <a:buChar char="•"/>
            </a:pPr>
            <a:r>
              <a:rPr lang="en-US" sz="1200" b="1" dirty="0">
                <a:solidFill>
                  <a:schemeClr val="accent1"/>
                </a:solidFill>
              </a:rPr>
              <a:t>Symmetrical scaling </a:t>
            </a:r>
            <a:r>
              <a:rPr lang="en-US" sz="1200" dirty="0">
                <a:solidFill>
                  <a:schemeClr val="tx2"/>
                </a:solidFill>
              </a:rPr>
              <a:t>of storage and compute resources</a:t>
            </a:r>
          </a:p>
          <a:p>
            <a:pPr marL="628650" lvl="1" indent="-171450">
              <a:spcAft>
                <a:spcPts val="600"/>
              </a:spcAft>
              <a:buFont typeface="Arial" panose="020B0604020202020204" pitchFamily="34" charset="0"/>
              <a:buChar char="•"/>
            </a:pPr>
            <a:r>
              <a:rPr lang="en-US" sz="1200" dirty="0">
                <a:solidFill>
                  <a:schemeClr val="tx2"/>
                </a:solidFill>
              </a:rPr>
              <a:t>Treats storage as a </a:t>
            </a:r>
            <a:r>
              <a:rPr lang="en-US" sz="1200" b="1" dirty="0">
                <a:solidFill>
                  <a:schemeClr val="accent1"/>
                </a:solidFill>
              </a:rPr>
              <a:t>resource of the cluster</a:t>
            </a:r>
            <a:endParaRPr lang="en-US" b="1" dirty="0">
              <a:solidFill>
                <a:schemeClr val="accent5"/>
              </a:solidFill>
            </a:endParaRPr>
          </a:p>
          <a:p>
            <a:pPr marL="171450" indent="-171450">
              <a:buFont typeface="Arial" panose="020B0604020202020204" pitchFamily="34" charset="0"/>
              <a:buChar char="•"/>
            </a:pPr>
            <a:r>
              <a:rPr lang="en-US" b="1" dirty="0">
                <a:solidFill>
                  <a:schemeClr val="accent5"/>
                </a:solidFill>
              </a:rPr>
              <a:t>vSAN Storage Clusters</a:t>
            </a:r>
          </a:p>
          <a:p>
            <a:pPr marL="628650" lvl="1" indent="-171450">
              <a:spcAft>
                <a:spcPts val="600"/>
              </a:spcAft>
              <a:buFont typeface="Arial" panose="020B0604020202020204" pitchFamily="34" charset="0"/>
              <a:buChar char="•"/>
            </a:pPr>
            <a:r>
              <a:rPr lang="en-US" sz="1200" b="1" dirty="0">
                <a:solidFill>
                  <a:schemeClr val="accent1"/>
                </a:solidFill>
              </a:rPr>
              <a:t>Independent lifecycle management </a:t>
            </a:r>
            <a:r>
              <a:rPr lang="en-US" sz="1200" dirty="0">
                <a:solidFill>
                  <a:schemeClr val="tx2"/>
                </a:solidFill>
              </a:rPr>
              <a:t>of storage and compute resources</a:t>
            </a:r>
          </a:p>
          <a:p>
            <a:pPr marL="628650" lvl="1" indent="-171450">
              <a:spcAft>
                <a:spcPts val="600"/>
              </a:spcAft>
              <a:buFont typeface="Arial" panose="020B0604020202020204" pitchFamily="34" charset="0"/>
              <a:buChar char="•"/>
            </a:pPr>
            <a:r>
              <a:rPr lang="en-US" sz="1200" b="1" dirty="0">
                <a:solidFill>
                  <a:schemeClr val="accent1"/>
                </a:solidFill>
              </a:rPr>
              <a:t>Asymmetrical scaling </a:t>
            </a:r>
            <a:r>
              <a:rPr lang="en-US" sz="1200" dirty="0">
                <a:solidFill>
                  <a:schemeClr val="tx2"/>
                </a:solidFill>
              </a:rPr>
              <a:t>of storage and compute resources</a:t>
            </a:r>
          </a:p>
          <a:p>
            <a:pPr marL="628650" lvl="1" indent="-171450">
              <a:spcAft>
                <a:spcPts val="600"/>
              </a:spcAft>
              <a:buFont typeface="Arial" panose="020B0604020202020204" pitchFamily="34" charset="0"/>
              <a:buChar char="•"/>
            </a:pPr>
            <a:r>
              <a:rPr lang="en-US" sz="1200" b="1" dirty="0">
                <a:solidFill>
                  <a:schemeClr val="accent1"/>
                </a:solidFill>
              </a:rPr>
              <a:t>Extreme capacity </a:t>
            </a:r>
            <a:r>
              <a:rPr lang="en-US" sz="1200" dirty="0">
                <a:solidFill>
                  <a:schemeClr val="tx2"/>
                </a:solidFill>
              </a:rPr>
              <a:t>can serve many clusters</a:t>
            </a:r>
          </a:p>
          <a:p>
            <a:pPr marL="628650" lvl="1" indent="-171450">
              <a:spcAft>
                <a:spcPts val="600"/>
              </a:spcAft>
              <a:buFont typeface="Arial" panose="020B0604020202020204" pitchFamily="34" charset="0"/>
              <a:buChar char="•"/>
            </a:pPr>
            <a:r>
              <a:rPr lang="en-US" sz="1200" dirty="0">
                <a:solidFill>
                  <a:schemeClr val="tx2"/>
                </a:solidFill>
              </a:rPr>
              <a:t>Decoupled vSphere clusters can be sized to </a:t>
            </a:r>
            <a:r>
              <a:rPr lang="en-US" sz="1200" b="1" dirty="0">
                <a:solidFill>
                  <a:schemeClr val="accent1"/>
                </a:solidFill>
              </a:rPr>
              <a:t>optimize application licensing</a:t>
            </a:r>
            <a:endParaRPr lang="en-US" dirty="0"/>
          </a:p>
          <a:p>
            <a:pPr marL="0" indent="0">
              <a:spcBef>
                <a:spcPts val="1779"/>
              </a:spcBef>
              <a:buFont typeface="Arial" panose="020B0604020202020204" pitchFamily="34" charset="0"/>
              <a:buNone/>
            </a:pPr>
            <a:r>
              <a:rPr lang="en-US" dirty="0"/>
              <a:t>----------------------------------</a:t>
            </a:r>
          </a:p>
          <a:p>
            <a:r>
              <a:rPr lang="en-US" b="1" dirty="0"/>
              <a:t>Details: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See the document referenced below</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latin typeface="Arial" panose="020B0604020202020204" pitchFamily="34" charset="0"/>
                <a:ea typeface="+mn-ea"/>
                <a:cs typeface="+mn-cs"/>
              </a:rPr>
              <a:t>----------------------------------</a:t>
            </a:r>
          </a:p>
          <a:p>
            <a:r>
              <a:rPr lang="en-US" sz="1200" b="1" kern="1200" baseline="0" dirty="0">
                <a:solidFill>
                  <a:schemeClr val="tx1"/>
                </a:solidFill>
                <a:latin typeface="Arial" panose="020B0604020202020204" pitchFamily="34" charset="0"/>
                <a:ea typeface="+mn-ea"/>
                <a:cs typeface="+mn-cs"/>
              </a:rPr>
              <a:t>Additional Information:</a:t>
            </a:r>
          </a:p>
          <a:p>
            <a:pPr marL="169495" indent="-169495">
              <a:buFont typeface="Arial" panose="020B0604020202020204" pitchFamily="34" charset="0"/>
              <a:buChar char="•"/>
            </a:pPr>
            <a:r>
              <a:rPr lang="en-US" dirty="0"/>
              <a:t>Asset detailing this decision-making process:  https://blogs.vmware.com/cloud-foundation/2024/01/22/vsan-hci-or-storage-clusters-which-deployment-option-is-right-for-you/</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65937076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85000" lnSpcReduction="20000"/>
          </a:bodyPr>
          <a:lstStyle/>
          <a:p>
            <a:r>
              <a:rPr lang="en-US" sz="1200" b="1" dirty="0"/>
              <a:t>Key Message/Talk track:</a:t>
            </a:r>
          </a:p>
          <a:p>
            <a:r>
              <a:rPr lang="en-US" sz="1200" b="0" dirty="0"/>
              <a:t>It is the Express Storage Architecture that makes vSAN so unique in its abilities to deliver performance, efficiency, and new capabilities like never before.  </a:t>
            </a:r>
            <a:r>
              <a:rPr lang="en-US" sz="1200" b="1" dirty="0"/>
              <a:t>The best way to think of vSAN ESA is that it provides a better way for vSAN to process and store data efficiently.  </a:t>
            </a:r>
            <a:r>
              <a:rPr lang="en-US" sz="1200" b="0" dirty="0"/>
              <a:t>A new fast and efficient data path paired with an efficient and resilient data structure give our users the ability store and access data fast and efficiently.  vSAN ESA also provides its own snapshot engine that is meets high levels of performance and scalability, not only maintaining full compatibility for our partners providing backup solutions, but new capabilities courtesy of vSAN Protection and Recovery.  And finally, the vSAN Express Storage Architecture makes administering an environment easier in a myriad of ways.</a:t>
            </a:r>
            <a:endParaRPr lang="en-US" sz="1200" b="1" dirty="0"/>
          </a:p>
          <a:p>
            <a:r>
              <a:rPr lang="en-US" sz="1200" dirty="0"/>
              <a:t>----------------------------------</a:t>
            </a:r>
          </a:p>
          <a:p>
            <a:r>
              <a:rPr lang="en-US" sz="1200" b="1" dirty="0"/>
              <a:t>Overview:</a:t>
            </a:r>
          </a:p>
          <a:p>
            <a:pPr marL="171450" indent="-171450">
              <a:buFont typeface="Arial" panose="020B0604020202020204" pitchFamily="34" charset="0"/>
              <a:buChar char="•"/>
            </a:pPr>
            <a:r>
              <a:rPr lang="en-US" b="1" dirty="0">
                <a:solidFill>
                  <a:schemeClr val="accent4"/>
                </a:solidFill>
              </a:rPr>
              <a:t>Highly adaptable </a:t>
            </a:r>
            <a:r>
              <a:rPr lang="en-US" dirty="0"/>
              <a:t>to the hardware of today and tomorrow</a:t>
            </a:r>
          </a:p>
          <a:p>
            <a:pPr marL="171450" indent="-171450">
              <a:buFont typeface="Arial" panose="020B0604020202020204" pitchFamily="34" charset="0"/>
              <a:buChar char="•"/>
            </a:pPr>
            <a:r>
              <a:rPr lang="en-US" dirty="0"/>
              <a:t>Stores data </a:t>
            </a:r>
            <a:r>
              <a:rPr lang="en-US" b="1" dirty="0">
                <a:solidFill>
                  <a:schemeClr val="accent4"/>
                </a:solidFill>
              </a:rPr>
              <a:t>efficiently</a:t>
            </a:r>
            <a:r>
              <a:rPr lang="en-US" dirty="0"/>
              <a:t> while meeting </a:t>
            </a:r>
            <a:r>
              <a:rPr lang="en-US" b="1" dirty="0">
                <a:solidFill>
                  <a:schemeClr val="accent4"/>
                </a:solidFill>
              </a:rPr>
              <a:t>performance requirements</a:t>
            </a:r>
          </a:p>
          <a:p>
            <a:pPr marL="171450" indent="-171450">
              <a:buFont typeface="Arial" panose="020B0604020202020204" pitchFamily="34" charset="0"/>
              <a:buChar char="•"/>
            </a:pPr>
            <a:r>
              <a:rPr lang="en-US" dirty="0"/>
              <a:t>Higher </a:t>
            </a:r>
            <a:r>
              <a:rPr lang="en-US" b="1" dirty="0">
                <a:solidFill>
                  <a:schemeClr val="accent4"/>
                </a:solidFill>
              </a:rPr>
              <a:t>levels of resilience </a:t>
            </a:r>
            <a:r>
              <a:rPr lang="en-US" dirty="0"/>
              <a:t>without compromise</a:t>
            </a:r>
            <a:endParaRPr lang="en-US" b="1" dirty="0">
              <a:solidFill>
                <a:schemeClr val="accent4"/>
              </a:solidFill>
            </a:endParaRPr>
          </a:p>
          <a:p>
            <a:pPr marL="171450" indent="-171450">
              <a:buFont typeface="Arial" panose="020B0604020202020204" pitchFamily="34" charset="0"/>
              <a:buChar char="•"/>
            </a:pPr>
            <a:r>
              <a:rPr lang="en-US" dirty="0"/>
              <a:t>Native, scalable </a:t>
            </a:r>
            <a:r>
              <a:rPr lang="en-US" b="1" dirty="0">
                <a:solidFill>
                  <a:schemeClr val="accent4"/>
                </a:solidFill>
              </a:rPr>
              <a:t>snapshots</a:t>
            </a:r>
          </a:p>
          <a:p>
            <a:pPr marL="171450" indent="-171450">
              <a:buFont typeface="Arial" panose="020B0604020202020204" pitchFamily="34" charset="0"/>
              <a:buChar char="•"/>
            </a:pPr>
            <a:r>
              <a:rPr lang="en-US" b="1" dirty="0">
                <a:solidFill>
                  <a:schemeClr val="accent4"/>
                </a:solidFill>
              </a:rPr>
              <a:t>Simplifies</a:t>
            </a:r>
            <a:r>
              <a:rPr lang="en-US" dirty="0"/>
              <a:t> administration and serviceability</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u="none" dirty="0"/>
              <a:t>Technical details provided in the subsequent slides.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The vSAN ESA is not a “replacement” architecture, but an alternative architecture optimized for high performing, modern hardware.  vSAN remains as a single product, but now includes the architectural capability to accommodate for these next generation hardware devices.  It should NOT be positioned as a “rewrite” or a replacement in any way.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u="none" dirty="0"/>
              <a:t>Do not reference the ESA and vSAN’s original storage architecture as “new” and “old”  or any variation of that, as this can have a negative connotation toward previous editions of vSAN.  While the vSAN ESA is the storage architecture where all future development efforts will be focused on, VMware is committing to ongoing support of the original storage architecture for many years to come. The official naming reference for the original storage architecture should be “Original Storage Architecture” abbreviated to OSA only when absolutely necessary.”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latin typeface="Metropolis" panose="00000500000000000000" pitchFamily="50" charset="0"/>
                <a:ea typeface="+mn-ea"/>
                <a:cs typeface="+mn-cs"/>
              </a:rPr>
              <a:t>----------------------------------</a:t>
            </a:r>
          </a:p>
          <a:p>
            <a:r>
              <a:rPr lang="en-US" sz="1200" b="1" kern="1200" baseline="0" dirty="0">
                <a:solidFill>
                  <a:schemeClr val="tx1"/>
                </a:solidFill>
                <a:latin typeface="Metropolis" panose="00000500000000000000" pitchFamily="50" charset="0"/>
                <a:ea typeface="+mn-ea"/>
                <a:cs typeface="+mn-cs"/>
              </a:rPr>
              <a:t>Additional Information:</a:t>
            </a:r>
          </a:p>
          <a:p>
            <a:pPr marL="169495" indent="-169495">
              <a:buFont typeface="Arial" panose="020B0604020202020204" pitchFamily="34" charset="0"/>
              <a:buChar char="•"/>
            </a:pPr>
            <a:r>
              <a:rPr lang="en-US" sz="1200" dirty="0">
                <a:solidFill>
                  <a:schemeClr val="tx2"/>
                </a:solidFill>
              </a:rPr>
              <a:t>Blog:  https://</a:t>
            </a:r>
            <a:r>
              <a:rPr lang="en-US" sz="1200" dirty="0" err="1">
                <a:solidFill>
                  <a:schemeClr val="tx2"/>
                </a:solidFill>
              </a:rPr>
              <a:t>blogs.vmware.com</a:t>
            </a:r>
            <a:r>
              <a:rPr lang="en-US" sz="1200" dirty="0">
                <a:solidFill>
                  <a:schemeClr val="tx2"/>
                </a:solidFill>
              </a:rPr>
              <a:t>/cloud-foundation/2022/08/30/an-introduction-to-the-</a:t>
            </a:r>
            <a:r>
              <a:rPr lang="en-US" sz="1200" dirty="0" err="1">
                <a:solidFill>
                  <a:schemeClr val="tx2"/>
                </a:solidFill>
              </a:rPr>
              <a:t>vsan</a:t>
            </a:r>
            <a:r>
              <a:rPr lang="en-US" sz="1200" dirty="0">
                <a:solidFill>
                  <a:schemeClr val="tx2"/>
                </a:solidFill>
              </a:rPr>
              <a:t>-express-storage-architecture/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5704051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E6C627-51FE-98AA-41D0-9E422DE705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7FA441-7008-71D7-128E-5815E1C5B6E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F4D27F-11E7-9CF4-C67D-7F8F4904FA27}"/>
              </a:ext>
            </a:extLst>
          </p:cNvPr>
          <p:cNvSpPr>
            <a:spLocks noGrp="1"/>
          </p:cNvSpPr>
          <p:nvPr>
            <p:ph type="body" idx="1"/>
          </p:nvPr>
        </p:nvSpPr>
        <p:spPr/>
        <p:txBody>
          <a:bodyPr>
            <a:normAutofit fontScale="40000" lnSpcReduction="20000"/>
          </a:bodyPr>
          <a:lstStyle/>
          <a:p>
            <a:r>
              <a:rPr lang="en-US" sz="1200" b="1" dirty="0"/>
              <a:t>Key Message/Talk track:</a:t>
            </a:r>
          </a:p>
          <a:p>
            <a:r>
              <a:rPr lang="en-US" sz="1200" b="1" dirty="0"/>
              <a:t>The Express Storage Architecture allows customers to provide a platform that serves and stores data faster and more efficiently than ever before. </a:t>
            </a:r>
            <a:r>
              <a:rPr lang="en-US" sz="1200" b="0" dirty="0"/>
              <a:t> But of course, it is not just about performance and efficiency.  It is about having a platform that demonstrates the agility needed to support a variety of use cases, while making sure that it is easy, and intuitive to deploy, operate, and optimize.  </a:t>
            </a:r>
            <a:endParaRPr lang="en-US" sz="1200" b="1" dirty="0"/>
          </a:p>
          <a:p>
            <a:r>
              <a:rPr lang="en-US" sz="1200" dirty="0"/>
              <a:t>----------------------------------</a:t>
            </a:r>
          </a:p>
          <a:p>
            <a:r>
              <a:rPr lang="en-US" sz="1200" b="1" dirty="0"/>
              <a:t>Overview:</a:t>
            </a:r>
          </a:p>
          <a:p>
            <a:pPr marL="171450" indent="-171450">
              <a:spcAft>
                <a:spcPts val="1200"/>
              </a:spcAft>
              <a:buFont typeface="Arial" panose="020B0604020202020204" pitchFamily="34" charset="0"/>
              <a:buChar char="•"/>
            </a:pPr>
            <a:r>
              <a:rPr lang="en-US" sz="1200" dirty="0">
                <a:solidFill>
                  <a:schemeClr val="tx2"/>
                </a:solidFill>
              </a:rPr>
              <a:t>Better Performance &amp; Scalability</a:t>
            </a:r>
          </a:p>
          <a:p>
            <a:pPr marL="742950" lvl="1" indent="-285750">
              <a:spcAft>
                <a:spcPts val="1200"/>
              </a:spcAft>
              <a:buFont typeface="Arial" panose="020B0604020202020204" pitchFamily="34" charset="0"/>
              <a:buChar char="•"/>
            </a:pPr>
            <a:r>
              <a:rPr lang="en-US" sz="1400" b="1" dirty="0">
                <a:solidFill>
                  <a:schemeClr val="accent4">
                    <a:lumMod val="75000"/>
                  </a:schemeClr>
                </a:solidFill>
              </a:rPr>
              <a:t>Consistent, scale-out </a:t>
            </a:r>
            <a:r>
              <a:rPr lang="en-US" sz="1400" dirty="0">
                <a:solidFill>
                  <a:schemeClr val="tx2"/>
                </a:solidFill>
              </a:rPr>
              <a:t>performance beating traditional storage</a:t>
            </a:r>
          </a:p>
          <a:p>
            <a:pPr marL="742950" lvl="1" indent="-285750">
              <a:spcAft>
                <a:spcPts val="1200"/>
              </a:spcAft>
              <a:buFont typeface="Arial" panose="020B0604020202020204" pitchFamily="34" charset="0"/>
              <a:buChar char="•"/>
            </a:pPr>
            <a:r>
              <a:rPr lang="en-US" sz="1400" dirty="0">
                <a:solidFill>
                  <a:schemeClr val="tx2"/>
                </a:solidFill>
              </a:rPr>
              <a:t>Consistent </a:t>
            </a:r>
            <a:r>
              <a:rPr lang="en-US" sz="1400" b="1" dirty="0">
                <a:solidFill>
                  <a:schemeClr val="accent4">
                    <a:lumMod val="75000"/>
                  </a:schemeClr>
                </a:solidFill>
              </a:rPr>
              <a:t>low latency </a:t>
            </a:r>
          </a:p>
          <a:p>
            <a:pPr marL="742950" lvl="1" indent="-285750">
              <a:spcAft>
                <a:spcPts val="1200"/>
              </a:spcAft>
              <a:buFont typeface="Arial" panose="020B0604020202020204" pitchFamily="34" charset="0"/>
              <a:buChar char="•"/>
            </a:pPr>
            <a:r>
              <a:rPr lang="en-US" sz="1400" dirty="0">
                <a:solidFill>
                  <a:schemeClr val="tx2"/>
                </a:solidFill>
              </a:rPr>
              <a:t>Adaptive write path for </a:t>
            </a:r>
            <a:r>
              <a:rPr lang="en-US" sz="1400" b="1" dirty="0">
                <a:solidFill>
                  <a:schemeClr val="accent4">
                    <a:lumMod val="75000"/>
                  </a:schemeClr>
                </a:solidFill>
              </a:rPr>
              <a:t>maximum throughput</a:t>
            </a:r>
          </a:p>
          <a:p>
            <a:pPr marL="742950" lvl="1" indent="-285750">
              <a:spcAft>
                <a:spcPts val="1200"/>
              </a:spcAft>
              <a:buFont typeface="Arial" panose="020B0604020202020204" pitchFamily="34" charset="0"/>
              <a:buChar char="•"/>
            </a:pPr>
            <a:r>
              <a:rPr lang="en-US" sz="1400" dirty="0">
                <a:solidFill>
                  <a:schemeClr val="tx2"/>
                </a:solidFill>
              </a:rPr>
              <a:t>Supports latest CPU/server platform with fast and high capacity NVMe devices</a:t>
            </a:r>
          </a:p>
          <a:p>
            <a:pPr marL="171450" indent="-171450">
              <a:buFont typeface="Arial" panose="020B0604020202020204" pitchFamily="34" charset="0"/>
              <a:buChar char="•"/>
            </a:pPr>
            <a:r>
              <a:rPr lang="en-US" dirty="0"/>
              <a:t>Supreme Resource &amp; Space Efficiency</a:t>
            </a:r>
          </a:p>
          <a:p>
            <a:pPr marL="742950" lvl="1" indent="-285750">
              <a:spcAft>
                <a:spcPts val="1200"/>
              </a:spcAft>
              <a:buFont typeface="Arial" panose="020B0604020202020204" pitchFamily="34" charset="0"/>
              <a:buChar char="•"/>
            </a:pPr>
            <a:r>
              <a:rPr lang="en-US" sz="1400" b="1" dirty="0">
                <a:solidFill>
                  <a:schemeClr val="accent2"/>
                </a:solidFill>
              </a:rPr>
              <a:t>RAID-5/6 at the performance of RAID-1</a:t>
            </a:r>
          </a:p>
          <a:p>
            <a:pPr marL="742950" lvl="1" indent="-285750">
              <a:spcAft>
                <a:spcPts val="1200"/>
              </a:spcAft>
              <a:buFont typeface="Arial" panose="020B0604020202020204" pitchFamily="34" charset="0"/>
              <a:buChar char="•"/>
            </a:pPr>
            <a:r>
              <a:rPr lang="en-US" sz="1400" b="1" dirty="0">
                <a:solidFill>
                  <a:schemeClr val="accent2"/>
                </a:solidFill>
              </a:rPr>
              <a:t>Global deduplication</a:t>
            </a:r>
            <a:r>
              <a:rPr lang="en-US" sz="1400" dirty="0"/>
              <a:t> without compromise on performance or security</a:t>
            </a:r>
          </a:p>
          <a:p>
            <a:pPr marL="742950" lvl="1" indent="-285750">
              <a:spcAft>
                <a:spcPts val="1200"/>
              </a:spcAft>
              <a:buFont typeface="Arial" panose="020B0604020202020204" pitchFamily="34" charset="0"/>
              <a:buChar char="•"/>
            </a:pPr>
            <a:r>
              <a:rPr lang="en-US" sz="1400" b="1" dirty="0">
                <a:solidFill>
                  <a:schemeClr val="accent2"/>
                </a:solidFill>
              </a:rPr>
              <a:t>Lower overheads </a:t>
            </a:r>
            <a:r>
              <a:rPr lang="en-US" sz="1400" dirty="0"/>
              <a:t>with single-tier architecture</a:t>
            </a:r>
          </a:p>
          <a:p>
            <a:pPr marL="742950" lvl="1" indent="-285750">
              <a:spcAft>
                <a:spcPts val="1200"/>
              </a:spcAft>
              <a:buFont typeface="Arial" panose="020B0604020202020204" pitchFamily="34" charset="0"/>
              <a:buChar char="•"/>
            </a:pPr>
            <a:r>
              <a:rPr lang="en-US" sz="1400" dirty="0"/>
              <a:t>Lower CPU/Memory usage per I/O processed</a:t>
            </a:r>
          </a:p>
          <a:p>
            <a:pPr marL="742950" lvl="1" indent="-285750">
              <a:spcAft>
                <a:spcPts val="1200"/>
              </a:spcAft>
              <a:buFont typeface="Arial" panose="020B0604020202020204" pitchFamily="34" charset="0"/>
              <a:buChar char="•"/>
            </a:pPr>
            <a:r>
              <a:rPr lang="en-US" sz="1400" dirty="0"/>
              <a:t>New data compression capabilities</a:t>
            </a:r>
          </a:p>
          <a:p>
            <a:pPr marL="171450" indent="-171450">
              <a:buFont typeface="Arial" panose="020B0604020202020204" pitchFamily="34" charset="0"/>
              <a:buChar char="•"/>
            </a:pPr>
            <a:r>
              <a:rPr lang="en-US" dirty="0"/>
              <a:t>Better Resilience</a:t>
            </a:r>
          </a:p>
          <a:p>
            <a:pPr marL="742950" lvl="1" indent="-285750">
              <a:spcAft>
                <a:spcPts val="1200"/>
              </a:spcAft>
              <a:buFont typeface="Arial" panose="020B0604020202020204" pitchFamily="34" charset="0"/>
              <a:buChar char="•"/>
            </a:pPr>
            <a:r>
              <a:rPr lang="en-US" sz="1400" b="1" dirty="0">
                <a:solidFill>
                  <a:schemeClr val="accent1"/>
                </a:solidFill>
              </a:rPr>
              <a:t>Reduced failure domains </a:t>
            </a:r>
            <a:r>
              <a:rPr lang="en-US" sz="1400" dirty="0"/>
              <a:t>improve availability upon device failure</a:t>
            </a:r>
          </a:p>
          <a:p>
            <a:pPr marL="742950" lvl="1" indent="-285750">
              <a:spcAft>
                <a:spcPts val="1200"/>
              </a:spcAft>
              <a:buFont typeface="Arial" panose="020B0604020202020204" pitchFamily="34" charset="0"/>
              <a:buChar char="•"/>
            </a:pPr>
            <a:r>
              <a:rPr lang="en-US" sz="1400" b="1" dirty="0">
                <a:solidFill>
                  <a:schemeClr val="accent1"/>
                </a:solidFill>
              </a:rPr>
              <a:t>Native, scalable snapshots </a:t>
            </a:r>
            <a:r>
              <a:rPr lang="en-US" sz="1400" dirty="0"/>
              <a:t>with minimal performance impact</a:t>
            </a:r>
          </a:p>
          <a:p>
            <a:pPr marL="742950" lvl="1" indent="-285750">
              <a:spcAft>
                <a:spcPts val="1200"/>
              </a:spcAft>
              <a:buFont typeface="Arial" panose="020B0604020202020204" pitchFamily="34" charset="0"/>
              <a:buChar char="•"/>
            </a:pPr>
            <a:r>
              <a:rPr lang="en-US" sz="1400" dirty="0"/>
              <a:t>Improved encryption in-transit and at-rest </a:t>
            </a:r>
          </a:p>
          <a:p>
            <a:pPr marL="742950" lvl="1" indent="-285750">
              <a:spcAft>
                <a:spcPts val="1200"/>
              </a:spcAft>
              <a:buFont typeface="Arial" panose="020B0604020202020204" pitchFamily="34" charset="0"/>
              <a:buChar char="•"/>
            </a:pPr>
            <a:r>
              <a:rPr lang="en-US" sz="1400" dirty="0"/>
              <a:t>Durable data during planned and unplanned events</a:t>
            </a:r>
          </a:p>
          <a:p>
            <a:pPr marL="742950" lvl="1" indent="-285750">
              <a:spcAft>
                <a:spcPts val="1200"/>
              </a:spcAft>
              <a:buFont typeface="Arial" panose="020B0604020202020204" pitchFamily="34" charset="0"/>
              <a:buChar char="•"/>
            </a:pPr>
            <a:r>
              <a:rPr lang="en-US" sz="1400" dirty="0"/>
              <a:t>Automated resilience using Auto-RAID</a:t>
            </a:r>
          </a:p>
          <a:p>
            <a:pPr marL="0" indent="0">
              <a:spcBef>
                <a:spcPts val="1779"/>
              </a:spcBef>
              <a:buFont typeface="Arial" panose="020B0604020202020204" pitchFamily="34" charset="0"/>
              <a:buNone/>
            </a:pPr>
            <a:r>
              <a:rPr lang="en-US" dirty="0"/>
              <a:t>----------------------------------</a:t>
            </a:r>
          </a:p>
          <a:p>
            <a:r>
              <a:rPr lang="en-US" b="1" dirty="0"/>
              <a:t>Details:</a:t>
            </a:r>
          </a:p>
          <a:p>
            <a:pPr marL="171450" indent="-171450">
              <a:buFont typeface="Arial" panose="020B0604020202020204" pitchFamily="34" charset="0"/>
              <a:buChar char="•"/>
            </a:pPr>
            <a:r>
              <a:rPr lang="en-US" b="0" u="none" dirty="0"/>
              <a:t>The performance claims are generalized in this presentation.  Additional material will be provided that will demonstrate referenceable and quantifiable improvements when compared to vSAN using the original storage architecture.  As with any performance and efficiency claims, it is subject to several environmental conditions, such as hardware, workload characteristics, data services used, etc.</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u="sng" dirty="0"/>
              <a:t>Positioning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b="0" dirty="0"/>
              <a:t>The Express Storage Architecture has numerous architectural details that provide several positive benefits to the customer, but many of them (especially performance and efficiency improvements) are implementation details that will be transparent to the administrator.  They are, however, important to the concept of doing more with less to drive down costs.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kern="1200" baseline="0" dirty="0">
                <a:solidFill>
                  <a:schemeClr val="tx1"/>
                </a:solidFill>
                <a:latin typeface="Arial" panose="020B0604020202020204" pitchFamily="34" charset="0"/>
                <a:ea typeface="+mn-ea"/>
                <a:cs typeface="+mn-cs"/>
              </a:rPr>
              <a:t>----------------------------------</a:t>
            </a:r>
          </a:p>
          <a:p>
            <a:r>
              <a:rPr lang="en-US" sz="1200" b="1" kern="1200" baseline="0" dirty="0">
                <a:solidFill>
                  <a:schemeClr val="tx1"/>
                </a:solidFill>
                <a:latin typeface="Arial" panose="020B0604020202020204" pitchFamily="34" charset="0"/>
                <a:ea typeface="+mn-ea"/>
                <a:cs typeface="+mn-cs"/>
              </a:rPr>
              <a:t>Additional Information:</a:t>
            </a:r>
          </a:p>
          <a:p>
            <a:pPr marL="169495" indent="-169495">
              <a:buFont typeface="Arial" panose="020B0604020202020204" pitchFamily="34" charset="0"/>
              <a:buChar char="•"/>
            </a:pPr>
            <a:r>
              <a:rPr lang="en-US" dirty="0"/>
              <a:t>TBD</a:t>
            </a:r>
            <a:endParaRPr lang="en-US" sz="1200" dirty="0">
              <a:solidFill>
                <a:schemeClr val="tx2"/>
              </a:solidFill>
            </a:endParaRPr>
          </a:p>
          <a:p>
            <a:endParaRPr lang="en-US" dirty="0"/>
          </a:p>
        </p:txBody>
      </p:sp>
      <p:sp>
        <p:nvSpPr>
          <p:cNvPr id="4" name="Slide Number Placeholder 3">
            <a:extLst>
              <a:ext uri="{FF2B5EF4-FFF2-40B4-BE49-F238E27FC236}">
                <a16:creationId xmlns:a16="http://schemas.microsoft.com/office/drawing/2014/main" id="{E223098F-245D-CAF1-86E7-DBDE9BE2432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37737189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Message/Talk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rgbClr val="262626"/>
                </a:solidFill>
                <a:effectLst/>
                <a:latin typeface="Metropolis Light" panose="00000400000000000000" pitchFamily="2" charset="0"/>
                <a:ea typeface="Metropolis Light" panose="00000400000000000000" pitchFamily="2" charset="0"/>
                <a:cs typeface="Times New Roman" panose="02020603050405020304" pitchFamily="18" charset="0"/>
              </a:rPr>
              <a:t>Simply put, vSAN is the premier storage platform for VMware Cloud Foundation.  Ask yourself the questions:  “</a:t>
            </a:r>
            <a:r>
              <a:rPr lang="en-US" i="1" dirty="0">
                <a:solidFill>
                  <a:schemeClr val="bg1"/>
                </a:solidFill>
                <a:latin typeface="Metropolis Light" panose="00000400000000000000" pitchFamily="2" charset="0"/>
              </a:rPr>
              <a:t>You’ve trusted the hypervisor to manage your workloads.  Why not let it manage your storage?”  “vSAN is a part of the hypervisor and licensing.   Why not use it?  </a:t>
            </a:r>
            <a:r>
              <a:rPr lang="en-US" i="0" dirty="0">
                <a:solidFill>
                  <a:schemeClr val="bg1"/>
                </a:solidFill>
                <a:latin typeface="Metropolis Light" panose="00000400000000000000" pitchFamily="2" charset="0"/>
              </a:rPr>
              <a:t>vSAN allows you to manage and protect your workloads at the VM level for unprecedented levels of control, visibility, and protection.</a:t>
            </a:r>
            <a:endParaRPr lang="en-US" i="1" dirty="0">
              <a:solidFill>
                <a:schemeClr val="bg1"/>
              </a:solidFill>
              <a:latin typeface="Metropolis Light" panose="000004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i="1" dirty="0">
              <a:solidFill>
                <a:schemeClr val="bg1"/>
              </a:solidFill>
              <a:latin typeface="Metropolis Light" panose="000004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rgbClr val="262626"/>
              </a:solidFill>
              <a:effectLst/>
              <a:latin typeface="Metropolis Light" panose="00000400000000000000" pitchFamily="2" charset="0"/>
              <a:ea typeface="Metropolis Light" panose="00000400000000000000" pitchFamily="2" charset="0"/>
              <a:cs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31388150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52"/>
        <p:cNvGrpSpPr/>
        <p:nvPr/>
      </p:nvGrpSpPr>
      <p:grpSpPr>
        <a:xfrm>
          <a:off x="0" y="0"/>
          <a:ext cx="0" cy="0"/>
          <a:chOff x="0" y="0"/>
          <a:chExt cx="0" cy="0"/>
        </a:xfrm>
      </p:grpSpPr>
      <p:sp>
        <p:nvSpPr>
          <p:cNvPr id="12753" name="Google Shape;12753;p52: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2754" name="Google Shape;12754;p52: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90000"/>
              </a:lnSpc>
              <a:spcBef>
                <a:spcPts val="0"/>
              </a:spcBef>
              <a:spcAft>
                <a:spcPts val="0"/>
              </a:spcAft>
              <a:buClr>
                <a:schemeClr val="dk1"/>
              </a:buClr>
              <a:buSzPts val="1200"/>
              <a:buFont typeface="Arial"/>
              <a:buNone/>
            </a:pPr>
            <a:r>
              <a:rPr lang="en-US" sz="1200" b="1">
                <a:solidFill>
                  <a:schemeClr val="dk1"/>
                </a:solidFill>
                <a:latin typeface="Arial"/>
                <a:ea typeface="Arial"/>
                <a:cs typeface="Arial"/>
                <a:sym typeface="Arial"/>
              </a:rPr>
              <a:t>Key Message:</a:t>
            </a:r>
            <a:endParaRPr/>
          </a:p>
          <a:p>
            <a:pPr marL="0" marR="0" lvl="0" indent="0" algn="l" rtl="0">
              <a:lnSpc>
                <a:spcPct val="90000"/>
              </a:lnSpc>
              <a:spcBef>
                <a:spcPts val="0"/>
              </a:spcBef>
              <a:spcAft>
                <a:spcPts val="0"/>
              </a:spcAft>
              <a:buClr>
                <a:schemeClr val="dk1"/>
              </a:buClr>
              <a:buSzPts val="1200"/>
              <a:buFont typeface="Arial"/>
              <a:buNone/>
            </a:pPr>
            <a:r>
              <a:rPr lang="en-US" sz="1200">
                <a:solidFill>
                  <a:schemeClr val="dk1"/>
                </a:solidFill>
                <a:latin typeface="Arial"/>
                <a:ea typeface="Arial"/>
                <a:cs typeface="Arial"/>
                <a:sym typeface="Arial"/>
              </a:rPr>
              <a:t>Networking is a core component of Cloud Foundation's software defined capabilities.</a:t>
            </a:r>
            <a:endParaRPr/>
          </a:p>
          <a:p>
            <a:pPr marL="0" marR="0" lvl="0" indent="0" algn="l" rtl="0">
              <a:lnSpc>
                <a:spcPct val="90000"/>
              </a:lnSpc>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Talk Track: (50)</a:t>
            </a:r>
            <a:endParaRPr/>
          </a:p>
          <a:p>
            <a:pPr marL="0" marR="0" lvl="0" indent="0" algn="l" rtl="0">
              <a:lnSpc>
                <a:spcPct val="90000"/>
              </a:lnSpc>
              <a:spcBef>
                <a:spcPts val="0"/>
              </a:spcBef>
              <a:spcAft>
                <a:spcPts val="0"/>
              </a:spcAft>
              <a:buClr>
                <a:schemeClr val="dk1"/>
              </a:buClr>
              <a:buSzPts val="1200"/>
              <a:buFont typeface="Arial"/>
              <a:buNone/>
            </a:pPr>
            <a:r>
              <a:rPr lang="en-US" sz="1200" u="none">
                <a:solidFill>
                  <a:schemeClr val="dk1"/>
                </a:solidFill>
                <a:latin typeface="Arial"/>
                <a:ea typeface="Arial"/>
                <a:cs typeface="Arial"/>
                <a:sym typeface="Arial"/>
              </a:rPr>
              <a:t>The public cloud (as we know it) is built upon and heavily leverages  software defined networking.  VMware NSX is an inherent part of Cloud Foundation and allows IT teams to deliver similar cloud-like capabilities into the data center.</a:t>
            </a:r>
            <a:endParaRPr/>
          </a:p>
          <a:p>
            <a:pPr marL="0" marR="0" lvl="0" indent="0" algn="l" rtl="0">
              <a:lnSpc>
                <a:spcPct val="90000"/>
              </a:lnSpc>
              <a:spcBef>
                <a:spcPts val="0"/>
              </a:spcBef>
              <a:spcAft>
                <a:spcPts val="0"/>
              </a:spcAft>
              <a:buClr>
                <a:schemeClr val="dk1"/>
              </a:buClr>
              <a:buSzPts val="1200"/>
              <a:buFont typeface="Arial"/>
              <a:buNone/>
            </a:pPr>
            <a:endParaRPr sz="1200" u="none">
              <a:solidFill>
                <a:schemeClr val="dk1"/>
              </a:solidFill>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a:solidFill>
                  <a:schemeClr val="dk1"/>
                </a:solidFill>
                <a:latin typeface="Arial"/>
                <a:ea typeface="Arial"/>
                <a:cs typeface="Arial"/>
                <a:sym typeface="Arial"/>
              </a:rPr>
              <a:t>Software Defined Networking and Security with NSX removes the need to individually configure networking and security components manually.  Switched and routed networks can be provisioned and managed with ease to support the changing needs of your applications.  It removes the complexities associated with provisioning and managing traditional networking infrastructure allowing you to build and scale it in software using automation.</a:t>
            </a:r>
            <a:endParaRPr/>
          </a:p>
          <a:p>
            <a:pPr marL="0" lvl="0" indent="0" algn="l" rtl="0">
              <a:lnSpc>
                <a:spcPct val="90000"/>
              </a:lnSpc>
              <a:spcBef>
                <a:spcPts val="0"/>
              </a:spcBef>
              <a:spcAft>
                <a:spcPts val="0"/>
              </a:spcAft>
              <a:buNone/>
            </a:pPr>
            <a:endParaRPr sz="1200">
              <a:solidFill>
                <a:schemeClr val="dk1"/>
              </a:solidFill>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u="none">
                <a:solidFill>
                  <a:schemeClr val="dk1"/>
                </a:solidFill>
                <a:latin typeface="Arial"/>
                <a:ea typeface="Arial"/>
                <a:cs typeface="Arial"/>
                <a:sym typeface="Arial"/>
              </a:rPr>
              <a:t>SDDC Manager takes NSX even further adding automation capabilities.  Administrators can</a:t>
            </a:r>
            <a:r>
              <a:rPr lang="en-US" sz="1200">
                <a:solidFill>
                  <a:schemeClr val="dk1"/>
                </a:solidFill>
                <a:latin typeface="Arial"/>
                <a:ea typeface="Arial"/>
                <a:cs typeface="Arial"/>
                <a:sym typeface="Arial"/>
              </a:rPr>
              <a:t> build, scale and lifecycle manage networking and security as part of the full platform stack.</a:t>
            </a:r>
            <a:endParaRPr/>
          </a:p>
          <a:p>
            <a:pPr marL="0" marR="0" lvl="0" indent="0" algn="l" rtl="0">
              <a:lnSpc>
                <a:spcPct val="90000"/>
              </a:lnSpc>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Notes:</a:t>
            </a:r>
            <a:endParaRPr/>
          </a:p>
          <a:p>
            <a:pPr marL="0" marR="0" lvl="0" indent="0" algn="l" rtl="0">
              <a:lnSpc>
                <a:spcPct val="90000"/>
              </a:lnSpc>
              <a:spcBef>
                <a:spcPts val="0"/>
              </a:spcBef>
              <a:spcAft>
                <a:spcPts val="0"/>
              </a:spcAft>
              <a:buClr>
                <a:schemeClr val="dk1"/>
              </a:buClr>
              <a:buSzPts val="1200"/>
              <a:buFont typeface="Arial"/>
              <a:buNone/>
            </a:pPr>
            <a:r>
              <a:rPr lang="en-US" sz="1200">
                <a:solidFill>
                  <a:schemeClr val="dk1"/>
                </a:solidFill>
                <a:latin typeface="Arial"/>
                <a:ea typeface="Arial"/>
                <a:cs typeface="Arial"/>
                <a:sym typeface="Arial"/>
              </a:rPr>
              <a:t>Cloud Foundation delivers a complete SDDC platform where all elements of infrastructure (compute, storage, networking, security and lifecycle management) are virtualized and abstracted from the underlying hardware.  Having these capabilities allows IT Teams to deliver an unprecedented level of flexibility within the data center allowing them to best service the needs of their applications and services without disruption and in less time.</a:t>
            </a:r>
            <a:endParaRPr/>
          </a:p>
          <a:p>
            <a:pPr marL="0" marR="0" lvl="0" indent="0" algn="l" rtl="0">
              <a:lnSpc>
                <a:spcPct val="90000"/>
              </a:lnSpc>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References:</a:t>
            </a:r>
            <a:endParaRPr/>
          </a:p>
          <a:p>
            <a:pPr marL="0" lvl="0" indent="0" algn="l" rtl="0">
              <a:lnSpc>
                <a:spcPct val="90000"/>
              </a:lnSpc>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lnSpc>
                <a:spcPct val="90000"/>
              </a:lnSpc>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lnSpc>
                <a:spcPct val="90000"/>
              </a:lnSpc>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lnSpc>
                <a:spcPct val="90000"/>
              </a:lnSpc>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2755" name="Google Shape;12755;p52: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34</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5B0CEE-77C1-1076-0D19-6F8598CF14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157AE1-7AEF-8C39-BD91-34BEB6EE76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2AD2857-75BB-A084-6A77-940724428975}"/>
              </a:ext>
            </a:extLst>
          </p:cNvPr>
          <p:cNvSpPr>
            <a:spLocks noGrp="1"/>
          </p:cNvSpPr>
          <p:nvPr>
            <p:ph type="body" idx="1"/>
          </p:nvPr>
        </p:nvSpPr>
        <p:spPr/>
        <p:txBody>
          <a:bodyPr>
            <a:normAutofit lnSpcReduction="1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endParaRPr lang="en-US" dirty="0"/>
          </a:p>
          <a:p>
            <a:r>
              <a:rPr lang="en-US" b="1" dirty="0"/>
              <a:t>Key Message:</a:t>
            </a:r>
            <a:br>
              <a:rPr lang="en-US" dirty="0"/>
            </a:br>
            <a:r>
              <a:rPr lang="en-US" dirty="0"/>
              <a:t>VCF virtual networking makes private cloud networking simpler, more flexible, and more secure. It helps teams connect virtual machines and containers, see network traffic more clearly, move workloads more easily, and protect apps and data with built-in security.</a:t>
            </a:r>
          </a:p>
          <a:p>
            <a:endParaRPr lang="en-US" b="1" dirty="0"/>
          </a:p>
          <a:p>
            <a:r>
              <a:rPr lang="en-US" b="1" dirty="0"/>
              <a:t>Talk Track:</a:t>
            </a:r>
            <a:br>
              <a:rPr lang="en-US" dirty="0"/>
            </a:br>
            <a:r>
              <a:rPr lang="en-US" dirty="0"/>
              <a:t>Traditional networks can be slow to change and hard to scale. </a:t>
            </a:r>
          </a:p>
          <a:p>
            <a:r>
              <a:rPr lang="en-US" dirty="0"/>
              <a:t>VCF virtual networking with NSX solves this by abstracting networking in software instead of relying only on hardware. </a:t>
            </a:r>
          </a:p>
          <a:p>
            <a:r>
              <a:rPr lang="en-US" dirty="0"/>
              <a:t>Setting up and managing networking, security, and services is faster and easier thanks to virtual networking.</a:t>
            </a:r>
          </a:p>
          <a:p>
            <a:r>
              <a:rPr lang="en-US" b="1" dirty="0"/>
              <a:t>&lt;click 1&gt;</a:t>
            </a:r>
            <a:br>
              <a:rPr lang="en-US" dirty="0"/>
            </a:br>
            <a:r>
              <a:rPr lang="en-US" dirty="0"/>
              <a:t>VCF virtual networking also works well with containers and Kubernetes. </a:t>
            </a:r>
          </a:p>
          <a:p>
            <a:r>
              <a:rPr lang="en-US" dirty="0"/>
              <a:t>It gives virtual machines and containers the same networking and security policies, which makes hybrid environments easier to manage.</a:t>
            </a:r>
          </a:p>
          <a:p>
            <a:r>
              <a:rPr lang="en-US" b="1" dirty="0"/>
              <a:t>&lt;click 2&gt;</a:t>
            </a:r>
            <a:br>
              <a:rPr lang="en-US" dirty="0"/>
            </a:br>
            <a:r>
              <a:rPr lang="en-US" dirty="0"/>
              <a:t>VCF virtual networking gives admins a clear view of network traffic and security rules. </a:t>
            </a:r>
          </a:p>
          <a:p>
            <a:r>
              <a:rPr lang="en-US" dirty="0"/>
              <a:t>This helps them find problems faster, improve performance, and reduce downtime.</a:t>
            </a:r>
          </a:p>
          <a:p>
            <a:r>
              <a:rPr lang="en-US" b="1" dirty="0"/>
              <a:t>&lt;click 3&gt;</a:t>
            </a:r>
            <a:br>
              <a:rPr lang="en-US" dirty="0"/>
            </a:br>
            <a:r>
              <a:rPr lang="en-US" dirty="0"/>
              <a:t>Virtual networking makes it easier to move workloads between data centers and the cloud. </a:t>
            </a:r>
          </a:p>
          <a:p>
            <a:r>
              <a:rPr lang="en-US" dirty="0"/>
              <a:t>Because policies stay consistent, apps can move with less rework and less risk.</a:t>
            </a:r>
          </a:p>
          <a:p>
            <a:r>
              <a:rPr lang="en-US" b="1" dirty="0"/>
              <a:t>&lt;click 4&gt;</a:t>
            </a:r>
            <a:br>
              <a:rPr lang="en-US" dirty="0"/>
            </a:br>
            <a:r>
              <a:rPr lang="en-US" dirty="0"/>
              <a:t>With vDefend add-on services, VCF virtual networking adds stronger security. </a:t>
            </a:r>
          </a:p>
          <a:p>
            <a:r>
              <a:rPr lang="en-US" dirty="0"/>
              <a:t>It helps stop threats, reduce blind spots, and better protect applications and data across the environment.</a:t>
            </a:r>
          </a:p>
          <a:p>
            <a:endParaRPr lang="en-US" b="1" dirty="0"/>
          </a:p>
          <a:p>
            <a:endParaRPr lang="en-US" b="1" dirty="0"/>
          </a:p>
          <a:p>
            <a:endParaRPr lang="en-US" b="1" dirty="0"/>
          </a:p>
          <a:p>
            <a:endParaRPr lang="en-US" b="1" dirty="0"/>
          </a:p>
        </p:txBody>
      </p:sp>
      <p:sp>
        <p:nvSpPr>
          <p:cNvPr id="4" name="Slide Number Placeholder 3">
            <a:extLst>
              <a:ext uri="{FF2B5EF4-FFF2-40B4-BE49-F238E27FC236}">
                <a16:creationId xmlns:a16="http://schemas.microsoft.com/office/drawing/2014/main" id="{C192C116-6B6C-8BAE-C9FC-660A87584EE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27226892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a:extLst>
            <a:ext uri="{FF2B5EF4-FFF2-40B4-BE49-F238E27FC236}">
              <a16:creationId xmlns:a16="http://schemas.microsoft.com/office/drawing/2014/main" id="{01817E05-C5E9-3F8E-4B38-D21DE5916E37}"/>
            </a:ext>
          </a:extLst>
        </p:cNvPr>
        <p:cNvGrpSpPr/>
        <p:nvPr/>
      </p:nvGrpSpPr>
      <p:grpSpPr>
        <a:xfrm>
          <a:off x="0" y="0"/>
          <a:ext cx="0" cy="0"/>
          <a:chOff x="0" y="0"/>
          <a:chExt cx="0" cy="0"/>
        </a:xfrm>
      </p:grpSpPr>
      <p:sp>
        <p:nvSpPr>
          <p:cNvPr id="10293" name="Google Shape;10293;p69:notes">
            <a:extLst>
              <a:ext uri="{FF2B5EF4-FFF2-40B4-BE49-F238E27FC236}">
                <a16:creationId xmlns:a16="http://schemas.microsoft.com/office/drawing/2014/main" id="{9477376B-51AF-4CB0-5399-8407BF493A7E}"/>
              </a:ext>
            </a:extLst>
          </p:cNvPr>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294" name="Google Shape;10294;p69:notes">
            <a:extLst>
              <a:ext uri="{FF2B5EF4-FFF2-40B4-BE49-F238E27FC236}">
                <a16:creationId xmlns:a16="http://schemas.microsoft.com/office/drawing/2014/main" id="{6DFE373E-7E8F-C993-748A-F5B5DD4FBC95}"/>
              </a:ext>
            </a:extLst>
          </p:cNvPr>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None/>
            </a:pPr>
            <a:r>
              <a:rPr lang="en-US" sz="900" b="1" dirty="0">
                <a:solidFill>
                  <a:schemeClr val="dk1"/>
                </a:solidFill>
                <a:latin typeface="Arial"/>
                <a:ea typeface="Arial"/>
                <a:cs typeface="Arial"/>
                <a:sym typeface="Arial"/>
              </a:rPr>
              <a:t>Presenter Note:  </a:t>
            </a:r>
            <a:r>
              <a:rPr lang="en-US" sz="900" b="1" dirty="0">
                <a:latin typeface="Arial"/>
                <a:ea typeface="Arial"/>
                <a:cs typeface="Arial"/>
                <a:sym typeface="Arial"/>
              </a:rPr>
              <a:t>This slide contains animation.</a:t>
            </a:r>
            <a:endParaRPr lang="en-US" sz="900"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sz="839" dirty="0">
              <a:solidFill>
                <a:schemeClr val="dk1"/>
              </a:solidFill>
              <a:latin typeface="Arial"/>
              <a:ea typeface="Arial"/>
              <a:cs typeface="Arial"/>
              <a:sym typeface="Arial"/>
            </a:endParaRPr>
          </a:p>
          <a:p>
            <a:r>
              <a:rPr lang="en-US" sz="900" b="1" dirty="0"/>
              <a:t>Talk Track:</a:t>
            </a:r>
            <a:br>
              <a:rPr lang="en-US" sz="900" dirty="0"/>
            </a:br>
            <a:r>
              <a:rPr lang="en-US" sz="900" dirty="0"/>
              <a:t>Networking has changed. It is no longer about configuring hardware. It is now focused on the needs of the application. </a:t>
            </a:r>
          </a:p>
          <a:p>
            <a:r>
              <a:rPr lang="en-US" sz="900" dirty="0"/>
              <a:t>VCF provides virtual networking and security services that help you see your apps, traffic, and security policies more clearly.</a:t>
            </a:r>
          </a:p>
          <a:p>
            <a:r>
              <a:rPr lang="en-US" sz="900" b="1" dirty="0"/>
              <a:t>&lt;click 1&gt;</a:t>
            </a:r>
            <a:br>
              <a:rPr lang="en-US" sz="900" dirty="0"/>
            </a:br>
            <a:r>
              <a:rPr lang="en-US" sz="900" dirty="0"/>
              <a:t>The main idea is to move complexity out of the physical network. Because policies are software-based, they are easier to apply, manage, and keep aligned with each application’s needs.</a:t>
            </a:r>
          </a:p>
          <a:p>
            <a:r>
              <a:rPr lang="en-US" sz="900" b="1" dirty="0"/>
              <a:t>&lt;click 2&gt;</a:t>
            </a:r>
            <a:br>
              <a:rPr lang="en-US" sz="900" dirty="0"/>
            </a:br>
            <a:r>
              <a:rPr lang="en-US" sz="900" dirty="0"/>
              <a:t>This also makes the physical network simpler. Its main job is limited to providing a reliable, highly available foundation, while the virtual network handles most of the intelligence.</a:t>
            </a:r>
          </a:p>
          <a:p>
            <a:pPr marL="0" lvl="0" indent="0" algn="l" rtl="0">
              <a:lnSpc>
                <a:spcPct val="80000"/>
              </a:lnSpc>
              <a:spcBef>
                <a:spcPts val="0"/>
              </a:spcBef>
              <a:spcAft>
                <a:spcPts val="0"/>
              </a:spcAft>
              <a:buNone/>
            </a:pPr>
            <a:endParaRPr lang="en-US" sz="839"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839" b="1" dirty="0">
                <a:solidFill>
                  <a:schemeClr val="dk1"/>
                </a:solidFill>
                <a:latin typeface="Arial"/>
                <a:ea typeface="Arial"/>
                <a:cs typeface="Arial"/>
                <a:sym typeface="Arial"/>
              </a:rPr>
              <a:t>Notes:</a:t>
            </a:r>
            <a:endParaRPr sz="839" dirty="0">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839"/>
              <a:buFont typeface="Arial"/>
              <a:buNone/>
            </a:pPr>
            <a:r>
              <a:rPr lang="en-US" sz="839" b="0" dirty="0">
                <a:solidFill>
                  <a:schemeClr val="dk1"/>
                </a:solidFill>
                <a:latin typeface="Arial"/>
                <a:ea typeface="Arial"/>
                <a:cs typeface="Arial"/>
                <a:sym typeface="Arial"/>
              </a:rPr>
              <a:t>* Security features are consumed as an add-on NSX license (VMware vDefend).</a:t>
            </a:r>
            <a:endParaRPr dirty="0"/>
          </a:p>
          <a:p>
            <a:pPr marL="0" lvl="0" indent="0" algn="l" rtl="0">
              <a:lnSpc>
                <a:spcPct val="80000"/>
              </a:lnSpc>
              <a:spcBef>
                <a:spcPts val="0"/>
              </a:spcBef>
              <a:spcAft>
                <a:spcPts val="0"/>
              </a:spcAft>
              <a:buNone/>
            </a:pPr>
            <a:endParaRPr sz="839" b="0"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839" b="0" dirty="0">
                <a:solidFill>
                  <a:schemeClr val="dk1"/>
                </a:solidFill>
                <a:latin typeface="Arial"/>
                <a:ea typeface="Arial"/>
                <a:cs typeface="Arial"/>
                <a:sym typeface="Arial"/>
              </a:rPr>
              <a:t>Other advantages of software-defined networking as expressed as part of VMware Cloud Foundation:</a:t>
            </a:r>
            <a:endParaRPr dirty="0"/>
          </a:p>
          <a:p>
            <a:pPr marL="0" lvl="0" indent="0" algn="l" rtl="0">
              <a:lnSpc>
                <a:spcPct val="80000"/>
              </a:lnSpc>
              <a:spcBef>
                <a:spcPts val="0"/>
              </a:spcBef>
              <a:spcAft>
                <a:spcPts val="0"/>
              </a:spcAft>
              <a:buNone/>
            </a:pPr>
            <a:endParaRPr sz="839"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839" dirty="0">
                <a:solidFill>
                  <a:schemeClr val="dk1"/>
                </a:solidFill>
                <a:latin typeface="Arial"/>
                <a:ea typeface="Arial"/>
                <a:cs typeface="Arial"/>
                <a:sym typeface="Arial"/>
              </a:rPr>
              <a:t>1.) Abstraction through encapsulation – traffic can now simply transit (bypass) over the hardware layer by making use of encapsulation technologies.</a:t>
            </a:r>
            <a:endParaRPr dirty="0"/>
          </a:p>
          <a:p>
            <a:pPr marL="0" lvl="0" indent="0" algn="l" rtl="0">
              <a:lnSpc>
                <a:spcPct val="80000"/>
              </a:lnSpc>
              <a:spcBef>
                <a:spcPts val="0"/>
              </a:spcBef>
              <a:spcAft>
                <a:spcPts val="0"/>
              </a:spcAft>
              <a:buNone/>
            </a:pPr>
            <a:r>
              <a:rPr lang="en-US" sz="839" dirty="0">
                <a:solidFill>
                  <a:schemeClr val="dk1"/>
                </a:solidFill>
                <a:latin typeface="Arial"/>
                <a:ea typeface="Arial"/>
                <a:cs typeface="Arial"/>
                <a:sym typeface="Arial"/>
              </a:rPr>
              <a:t>2.) Integrated networking across application frameworks (this means that routing and switching policies can be applied at application-level and across the entire SDDC)</a:t>
            </a:r>
            <a:endParaRPr dirty="0"/>
          </a:p>
          <a:p>
            <a:pPr marL="0" lvl="0" indent="0" algn="l" rtl="0">
              <a:lnSpc>
                <a:spcPct val="80000"/>
              </a:lnSpc>
              <a:spcBef>
                <a:spcPts val="0"/>
              </a:spcBef>
              <a:spcAft>
                <a:spcPts val="0"/>
              </a:spcAft>
              <a:buNone/>
            </a:pPr>
            <a:r>
              <a:rPr lang="en-US" sz="839" dirty="0">
                <a:solidFill>
                  <a:schemeClr val="dk1"/>
                </a:solidFill>
                <a:latin typeface="Arial"/>
                <a:ea typeface="Arial"/>
                <a:cs typeface="Arial"/>
                <a:sym typeface="Arial"/>
              </a:rPr>
              <a:t>3.) Integrated security throughout the data center by introducing the concept of micro-segmentation (application-focused firewalling)</a:t>
            </a:r>
            <a:endParaRPr dirty="0"/>
          </a:p>
          <a:p>
            <a:pPr marL="0" lvl="0" indent="0" algn="l" rtl="0">
              <a:lnSpc>
                <a:spcPct val="80000"/>
              </a:lnSpc>
              <a:spcBef>
                <a:spcPts val="0"/>
              </a:spcBef>
              <a:spcAft>
                <a:spcPts val="0"/>
              </a:spcAft>
              <a:buNone/>
            </a:pPr>
            <a:r>
              <a:rPr lang="en-US" sz="839" dirty="0">
                <a:solidFill>
                  <a:schemeClr val="dk1"/>
                </a:solidFill>
                <a:latin typeface="Arial"/>
                <a:ea typeface="Arial"/>
                <a:cs typeface="Arial"/>
                <a:sym typeface="Arial"/>
              </a:rPr>
              <a:t>4.) Single pane of glass for troubleshooting</a:t>
            </a:r>
            <a:endParaRPr dirty="0"/>
          </a:p>
          <a:p>
            <a:pPr marL="0" lvl="0" indent="0" algn="l" rtl="0">
              <a:lnSpc>
                <a:spcPct val="80000"/>
              </a:lnSpc>
              <a:spcBef>
                <a:spcPts val="0"/>
              </a:spcBef>
              <a:spcAft>
                <a:spcPts val="0"/>
              </a:spcAft>
              <a:buNone/>
            </a:pPr>
            <a:endParaRPr sz="839"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839" b="1" dirty="0"/>
              <a:t>Resources:</a:t>
            </a:r>
            <a:endParaRPr dirty="0"/>
          </a:p>
          <a:p>
            <a:pPr marL="0" marR="0" algn="l">
              <a:spcBef>
                <a:spcPts val="0"/>
              </a:spcBef>
              <a:spcAft>
                <a:spcPts val="0"/>
              </a:spcAft>
            </a:pPr>
            <a:r>
              <a:rPr lang="en-AU" sz="900" b="0" i="0" u="none" strike="noStrike" dirty="0">
                <a:solidFill>
                  <a:srgbClr val="000000"/>
                </a:solidFill>
                <a:effectLst/>
                <a:latin typeface="Calibri" panose="020F0502020204030204" pitchFamily="34" charset="0"/>
              </a:rPr>
              <a:t>For further information on Cloud Foundation networking please refer to the VCF Design Guide</a:t>
            </a:r>
          </a:p>
          <a:p>
            <a:pPr marL="0" lvl="0" indent="0" algn="l" rtl="0">
              <a:lnSpc>
                <a:spcPct val="80000"/>
              </a:lnSpc>
              <a:spcBef>
                <a:spcPts val="0"/>
              </a:spcBef>
              <a:spcAft>
                <a:spcPts val="0"/>
              </a:spcAft>
              <a:buNone/>
            </a:pPr>
            <a:endParaRPr sz="839" dirty="0">
              <a:solidFill>
                <a:schemeClr val="dk1"/>
              </a:solidFill>
              <a:latin typeface="Arial"/>
              <a:ea typeface="Arial"/>
              <a:cs typeface="Arial"/>
              <a:sym typeface="Arial"/>
            </a:endParaRPr>
          </a:p>
        </p:txBody>
      </p:sp>
      <p:sp>
        <p:nvSpPr>
          <p:cNvPr id="10295" name="Google Shape;10295;p69:notes">
            <a:extLst>
              <a:ext uri="{FF2B5EF4-FFF2-40B4-BE49-F238E27FC236}">
                <a16:creationId xmlns:a16="http://schemas.microsoft.com/office/drawing/2014/main" id="{03D06D9D-C497-CB53-FEA2-0ABD48E015B4}"/>
              </a:ext>
            </a:extLst>
          </p:cNvPr>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36</a:t>
            </a:fld>
            <a:endParaRPr kumimoji="0" sz="1200" b="0" i="0" u="none" strike="noStrike" kern="120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231584805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6F5894-09CB-5BB7-18C0-1BE9210BB99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9BCC9C-A52F-7A92-8E3D-5A4171AB43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AD1527-14E6-085F-0AB2-DB7D4A04906C}"/>
              </a:ext>
            </a:extLst>
          </p:cNvPr>
          <p:cNvSpPr>
            <a:spLocks noGrp="1"/>
          </p:cNvSpPr>
          <p:nvPr>
            <p:ph type="body" idx="1"/>
          </p:nvPr>
        </p:nvSpPr>
        <p:spPr/>
        <p:txBody>
          <a:bodyPr>
            <a:normAutofit fontScale="925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lang="en-US" sz="1200"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r>
              <a:rPr lang="en-US" dirty="0"/>
              <a:t>Using vSphere networking with VCF requires tight coordination with physical infrastructure, creating delays and making full automation complex and often unfeasible.</a:t>
            </a:r>
          </a:p>
          <a:p>
            <a:endParaRPr lang="en-AU" sz="1200" b="1" kern="1200" dirty="0">
              <a:solidFill>
                <a:schemeClr val="tx1"/>
              </a:solidFill>
              <a:effectLst/>
              <a:latin typeface="+mn-lt"/>
              <a:ea typeface="+mn-ea"/>
              <a:cs typeface="+mn-cs"/>
            </a:endParaRPr>
          </a:p>
          <a:p>
            <a:r>
              <a:rPr lang="en-AU" sz="1200" b="1" kern="1200" dirty="0">
                <a:solidFill>
                  <a:schemeClr val="tx1"/>
                </a:solidFill>
                <a:effectLst/>
                <a:latin typeface="+mn-lt"/>
                <a:ea typeface="+mn-ea"/>
                <a:cs typeface="+mn-cs"/>
              </a:rPr>
              <a:t>Talk Track:</a:t>
            </a:r>
          </a:p>
          <a:p>
            <a:r>
              <a:rPr lang="en-US" dirty="0"/>
              <a:t>Let’s compare physical-based networking and virtual networking in VCF.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When running VCF with traditional vSphere networking, coordination with the physical network is necessary. </a:t>
            </a:r>
          </a:p>
          <a:p>
            <a:r>
              <a:rPr lang="en-US" dirty="0"/>
              <a:t>For example, deploying a new application involves attaching its VMs or containers to dvportgroups</a:t>
            </a:r>
          </a:p>
          <a:p>
            <a:endParaRPr lang="en-US" dirty="0"/>
          </a:p>
          <a:p>
            <a:r>
              <a:rPr lang="en-US" b="1" dirty="0"/>
              <a:t>&lt;click 1&gt;</a:t>
            </a:r>
          </a:p>
          <a:p>
            <a:r>
              <a:rPr lang="en-US" dirty="0"/>
              <a:t>Those dvportgroups must then be mapped to corresponding VLANs in the physical fabric. </a:t>
            </a:r>
          </a:p>
          <a:p>
            <a:r>
              <a:rPr lang="en-US" dirty="0"/>
              <a:t>Even with advanced technologies like EVPN, coordination between application and network teams cannot be avoided.</a:t>
            </a:r>
          </a:p>
          <a:p>
            <a:endParaRPr lang="en-US" dirty="0"/>
          </a:p>
          <a:p>
            <a:r>
              <a:rPr lang="en-US" b="1" dirty="0"/>
              <a:t>&lt;click 2&gt;</a:t>
            </a:r>
          </a:p>
          <a:p>
            <a:r>
              <a:rPr lang="en-US" dirty="0"/>
              <a:t>Beyond Layer 2, deployments require changes to routing, load balancing, security, and more.</a:t>
            </a:r>
          </a:p>
          <a:p>
            <a:r>
              <a:rPr lang="en-US" dirty="0"/>
              <a:t>This typically involves multiple teams. </a:t>
            </a:r>
          </a:p>
          <a:p>
            <a:r>
              <a:rPr lang="en-US" dirty="0"/>
              <a:t>In many organizations, these interactions rely on ticketing systems, introducing delays that can span weeks. </a:t>
            </a:r>
          </a:p>
          <a:p>
            <a:r>
              <a:rPr lang="en-US" dirty="0"/>
              <a:t>And the number of independent configuration touchpoints makes end-to-end automation extremely difficult, if not impossible.</a:t>
            </a:r>
          </a:p>
          <a:p>
            <a:endParaRPr lang="en-US" dirty="0"/>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sz="1200" b="1" dirty="0">
              <a:latin typeface="Arial" panose="020B0604020202020204" pitchFamily="34" charset="0"/>
            </a:endParaRPr>
          </a:p>
          <a:p>
            <a:pPr marL="0" lvl="0" indent="0" algn="l" rtl="0">
              <a:spcBef>
                <a:spcPts val="0"/>
              </a:spcBef>
              <a:spcAft>
                <a:spcPts val="0"/>
              </a:spcAft>
              <a:buNone/>
            </a:pPr>
            <a:endParaRPr lang="en-US" sz="1200" b="1"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Resources:</a:t>
            </a:r>
          </a:p>
          <a:p>
            <a:endParaRPr lang="en-US" dirty="0"/>
          </a:p>
        </p:txBody>
      </p:sp>
      <p:sp>
        <p:nvSpPr>
          <p:cNvPr id="4" name="Slide Number Placeholder 3">
            <a:extLst>
              <a:ext uri="{FF2B5EF4-FFF2-40B4-BE49-F238E27FC236}">
                <a16:creationId xmlns:a16="http://schemas.microsoft.com/office/drawing/2014/main" id="{835F4CB2-9A7C-2129-A09B-184D0478100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44288124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DFD0A7-EBCC-6E1D-D1D8-CA1807E0FA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961B9E9-1FBC-4BEE-4C17-88BE9E0ABA6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D1E5D4A-FD2D-1B5E-6AD8-DBCC154DB465}"/>
              </a:ext>
            </a:extLst>
          </p:cNvPr>
          <p:cNvSpPr>
            <a:spLocks noGrp="1"/>
          </p:cNvSpPr>
          <p:nvPr>
            <p:ph type="body" idx="1"/>
          </p:nvPr>
        </p:nvSpPr>
        <p:spPr/>
        <p:txBody>
          <a:bodyPr>
            <a:normAutofit fontScale="92500" lnSpcReduction="1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lang="en-US" sz="1200"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r>
              <a:rPr lang="en-US" dirty="0"/>
              <a:t>NSX enables seamless, scalable virtual networking over existing IP infrastructure, with no physical network changes required.</a:t>
            </a:r>
            <a:endParaRPr lang="en-AU" sz="1200" b="1" kern="1200" dirty="0">
              <a:solidFill>
                <a:schemeClr val="tx1"/>
              </a:solidFill>
              <a:effectLst/>
              <a:latin typeface="+mn-lt"/>
              <a:ea typeface="+mn-ea"/>
              <a:cs typeface="+mn-cs"/>
            </a:endParaRPr>
          </a:p>
          <a:p>
            <a:endParaRPr lang="en-AU" sz="1200" b="1" kern="1200" dirty="0">
              <a:solidFill>
                <a:schemeClr val="tx1"/>
              </a:solidFill>
              <a:effectLst/>
              <a:latin typeface="+mn-lt"/>
              <a:ea typeface="+mn-ea"/>
              <a:cs typeface="+mn-cs"/>
            </a:endParaRPr>
          </a:p>
          <a:p>
            <a:r>
              <a:rPr lang="en-AU" sz="1200" b="1" kern="1200" dirty="0">
                <a:solidFill>
                  <a:schemeClr val="tx1"/>
                </a:solidFill>
                <a:effectLst/>
                <a:latin typeface="+mn-lt"/>
                <a:ea typeface="+mn-ea"/>
                <a:cs typeface="+mn-cs"/>
              </a:rPr>
              <a:t>Talk Track:</a:t>
            </a:r>
          </a:p>
          <a:p>
            <a:pPr>
              <a:buNone/>
            </a:pPr>
            <a:r>
              <a:rPr lang="en-US" dirty="0"/>
              <a:t>VCF includes NSX virtual networking.</a:t>
            </a:r>
            <a:br>
              <a:rPr lang="en-US" dirty="0"/>
            </a:br>
            <a:r>
              <a:rPr lang="en-US" dirty="0"/>
              <a:t>With virtual networking, workloads can be connected to virtual networks that we call subnets. Those subnets are completely independent of the physical infrastructure.</a:t>
            </a:r>
          </a:p>
          <a:p>
            <a:pPr>
              <a:buNone/>
            </a:pPr>
            <a:endParaRPr lang="en-US" dirty="0"/>
          </a:p>
          <a:p>
            <a:pPr>
              <a:buNone/>
            </a:pPr>
            <a:r>
              <a:rPr lang="en-US" b="1" dirty="0"/>
              <a:t>&lt;click 1&gt; </a:t>
            </a:r>
          </a:p>
          <a:p>
            <a:pPr>
              <a:buNone/>
            </a:pPr>
            <a:r>
              <a:rPr lang="en-US" dirty="0"/>
              <a:t>For example, here we create subnet X using NSX. The VMs attached to this network immediately get Layer 2 connectivity—no additional configuration is needed anywhere else. </a:t>
            </a:r>
          </a:p>
          <a:p>
            <a:pPr>
              <a:buNone/>
            </a:pPr>
            <a:r>
              <a:rPr lang="en-US" dirty="0"/>
              <a:t>How is this achieved? </a:t>
            </a:r>
          </a:p>
          <a:p>
            <a:pPr>
              <a:buNone/>
            </a:pPr>
            <a:endParaRPr lang="en-US" dirty="0"/>
          </a:p>
          <a:p>
            <a:pPr>
              <a:buNone/>
            </a:pPr>
            <a:r>
              <a:rPr lang="en-US" b="1" dirty="0"/>
              <a:t>&lt;click 2&gt; </a:t>
            </a:r>
          </a:p>
          <a:p>
            <a:pPr>
              <a:buNone/>
            </a:pPr>
            <a:r>
              <a:rPr lang="en-US" dirty="0"/>
              <a:t>NSX automatically establishes tunnels between the hosts. No user intervention is required. </a:t>
            </a:r>
          </a:p>
          <a:p>
            <a:pPr>
              <a:buNone/>
            </a:pPr>
            <a:endParaRPr lang="en-US" dirty="0"/>
          </a:p>
          <a:p>
            <a:pPr>
              <a:buNone/>
            </a:pPr>
            <a:r>
              <a:rPr lang="en-US" b="1" dirty="0"/>
              <a:t>&lt;click 3&gt; </a:t>
            </a:r>
          </a:p>
          <a:p>
            <a:pPr>
              <a:buNone/>
            </a:pPr>
            <a:r>
              <a:rPr lang="en-US" dirty="0"/>
              <a:t>When traffic for a subnet needs to be carried between hosts, NSX encapsulates it and sends it over the physical infrastructure. </a:t>
            </a:r>
          </a:p>
          <a:p>
            <a:pPr>
              <a:buNone/>
            </a:pPr>
            <a:r>
              <a:rPr lang="en-US" dirty="0"/>
              <a:t>The physical network only sees standard IP traffic between hosts. </a:t>
            </a:r>
          </a:p>
          <a:p>
            <a:pPr>
              <a:buNone/>
            </a:pPr>
            <a:r>
              <a:rPr lang="en-US" dirty="0"/>
              <a:t>It’s unaware of the underlying virtual network, which only exists within NSX. </a:t>
            </a:r>
          </a:p>
          <a:p>
            <a:pPr>
              <a:buNone/>
            </a:pPr>
            <a:endParaRPr lang="en-US" dirty="0"/>
          </a:p>
          <a:p>
            <a:pPr>
              <a:buNone/>
            </a:pPr>
            <a:r>
              <a:rPr lang="en-US" b="1" dirty="0"/>
              <a:t>&lt;click 4&gt; </a:t>
            </a:r>
          </a:p>
          <a:p>
            <a:pPr>
              <a:buNone/>
            </a:pPr>
            <a:r>
              <a:rPr lang="en-US" dirty="0"/>
              <a:t>This allows NSX to instantiate any number of virtual networks over the same set of tunnels, without requiring any configuration on the physical network side. </a:t>
            </a:r>
          </a:p>
          <a:p>
            <a:pPr>
              <a:buNone/>
            </a:pPr>
            <a:endParaRPr lang="en-US" dirty="0"/>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sz="1200" b="1" dirty="0">
              <a:latin typeface="Arial" panose="020B0604020202020204" pitchFamily="34" charset="0"/>
            </a:endParaRPr>
          </a:p>
          <a:p>
            <a:pPr marL="0" lvl="0" indent="0" algn="l" rtl="0">
              <a:spcBef>
                <a:spcPts val="0"/>
              </a:spcBef>
              <a:spcAft>
                <a:spcPts val="0"/>
              </a:spcAft>
              <a:buNone/>
            </a:pPr>
            <a:endParaRPr lang="en-US" sz="1200" b="1"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Resources:</a:t>
            </a:r>
          </a:p>
          <a:p>
            <a:pPr>
              <a:buNone/>
            </a:pPr>
            <a:endParaRPr lang="en-US" dirty="0"/>
          </a:p>
        </p:txBody>
      </p:sp>
      <p:sp>
        <p:nvSpPr>
          <p:cNvPr id="4" name="Slide Number Placeholder 3">
            <a:extLst>
              <a:ext uri="{FF2B5EF4-FFF2-40B4-BE49-F238E27FC236}">
                <a16:creationId xmlns:a16="http://schemas.microsoft.com/office/drawing/2014/main" id="{EE40A5AC-5583-C1F2-D2B5-54354BE8EF2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03005209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C1E40F-4E3B-719B-1F27-5BB20818ED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556FBD-915B-88B2-7019-CD46C1F2E1D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762F2BA-49BE-A0B6-6A6C-C53B9B1E76F9}"/>
              </a:ext>
            </a:extLst>
          </p:cNvPr>
          <p:cNvSpPr>
            <a:spLocks noGrp="1"/>
          </p:cNvSpPr>
          <p:nvPr>
            <p:ph type="body" idx="1"/>
          </p:nvPr>
        </p:nvSpPr>
        <p:spPr/>
        <p:txBody>
          <a:bodyPr>
            <a:normAutofit lnSpcReduction="1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lang="en-US" sz="1200"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r>
              <a:rPr lang="en-US" dirty="0"/>
              <a:t>NSX delivers a full virtual networking stack with centralized, API-driven control—enabling cloud-like automation and simplicity on a standard IP fabric.</a:t>
            </a:r>
          </a:p>
          <a:p>
            <a:endParaRPr lang="en-AU" sz="1200" b="1" kern="1200" dirty="0">
              <a:solidFill>
                <a:schemeClr val="tx1"/>
              </a:solidFill>
              <a:effectLst/>
              <a:latin typeface="+mn-lt"/>
              <a:ea typeface="+mn-ea"/>
              <a:cs typeface="+mn-cs"/>
            </a:endParaRPr>
          </a:p>
          <a:p>
            <a:r>
              <a:rPr lang="en-AU" sz="1200" b="1" kern="1200" dirty="0">
                <a:solidFill>
                  <a:schemeClr val="tx1"/>
                </a:solidFill>
                <a:effectLst/>
                <a:latin typeface="+mn-lt"/>
                <a:ea typeface="+mn-ea"/>
                <a:cs typeface="+mn-cs"/>
              </a:rPr>
              <a:t>Talk Track:</a:t>
            </a:r>
          </a:p>
          <a:p>
            <a:endParaRPr lang="en-US" dirty="0"/>
          </a:p>
          <a:p>
            <a:pPr>
              <a:buNone/>
            </a:pPr>
            <a:r>
              <a:rPr lang="en-US" dirty="0"/>
              <a:t>Of course, NSX offers much more than just virtual Layer 2 networking.</a:t>
            </a:r>
            <a:br>
              <a:rPr lang="en-US" dirty="0"/>
            </a:br>
            <a:r>
              <a:rPr lang="en-US" dirty="0"/>
              <a:t>In fact, NSX builds a complete virtual networking stack on top of those virtual networks.</a:t>
            </a:r>
          </a:p>
          <a:p>
            <a:pPr>
              <a:buNone/>
            </a:pPr>
            <a:endParaRPr lang="en-US" dirty="0"/>
          </a:p>
          <a:p>
            <a:pPr>
              <a:buNone/>
            </a:pPr>
            <a:r>
              <a:rPr lang="en-US" b="1" dirty="0"/>
              <a:t>&lt;click 1&gt; </a:t>
            </a:r>
          </a:p>
          <a:p>
            <a:pPr>
              <a:buNone/>
            </a:pPr>
            <a:r>
              <a:rPr lang="en-US" dirty="0"/>
              <a:t>With NSX, all you need is a simple IP fabric.  There’s no need to manage a variety of appliances in the physical network. </a:t>
            </a:r>
          </a:p>
          <a:p>
            <a:pPr>
              <a:buNone/>
            </a:pPr>
            <a:r>
              <a:rPr lang="en-US" dirty="0"/>
              <a:t>Application deployment now only involves configuring virtual components. </a:t>
            </a:r>
          </a:p>
          <a:p>
            <a:pPr>
              <a:buNone/>
            </a:pPr>
            <a:endParaRPr lang="en-US" dirty="0"/>
          </a:p>
          <a:p>
            <a:pPr>
              <a:buNone/>
            </a:pPr>
            <a:r>
              <a:rPr lang="en-US" b="1" dirty="0"/>
              <a:t>&lt;click 2&gt; </a:t>
            </a:r>
          </a:p>
          <a:p>
            <a:pPr>
              <a:buNone/>
            </a:pPr>
            <a:r>
              <a:rPr lang="en-US" dirty="0"/>
              <a:t>And because all those components are managed by NSX, you can deploy your application through a single configuration point. </a:t>
            </a:r>
          </a:p>
          <a:p>
            <a:pPr>
              <a:buNone/>
            </a:pPr>
            <a:r>
              <a:rPr lang="en-US" dirty="0"/>
              <a:t>With NSX’s intent-based model, multiple networking features can even be configured in a single REST API call. </a:t>
            </a:r>
          </a:p>
          <a:p>
            <a:pPr>
              <a:buNone/>
            </a:pPr>
            <a:r>
              <a:rPr lang="en-US" dirty="0"/>
              <a:t>This API driven architecture makes automation straightforward. </a:t>
            </a:r>
          </a:p>
          <a:p>
            <a:pPr>
              <a:buNone/>
            </a:pPr>
            <a:r>
              <a:rPr lang="en-US" dirty="0"/>
              <a:t>These benefits are well established in the public cloud—and with VCF, which integrates compute, storage, and virtual networking—you now get that same experience in your private cloud.</a:t>
            </a:r>
          </a:p>
          <a:p>
            <a:pPr>
              <a:buNone/>
            </a:pPr>
            <a:endParaRPr lang="en-US" dirty="0"/>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sz="1200" b="1" dirty="0">
              <a:latin typeface="Arial" panose="020B0604020202020204" pitchFamily="34" charset="0"/>
            </a:endParaRPr>
          </a:p>
          <a:p>
            <a:pPr marL="0" lvl="0" indent="0" algn="l" rtl="0">
              <a:spcBef>
                <a:spcPts val="0"/>
              </a:spcBef>
              <a:spcAft>
                <a:spcPts val="0"/>
              </a:spcAft>
              <a:buNone/>
            </a:pPr>
            <a:endParaRPr lang="en-US" sz="1200" b="1"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Resources:</a:t>
            </a:r>
          </a:p>
          <a:p>
            <a:pPr>
              <a:buNone/>
            </a:pPr>
            <a:endParaRPr lang="en-US" dirty="0"/>
          </a:p>
        </p:txBody>
      </p:sp>
      <p:sp>
        <p:nvSpPr>
          <p:cNvPr id="4" name="Slide Number Placeholder 3">
            <a:extLst>
              <a:ext uri="{FF2B5EF4-FFF2-40B4-BE49-F238E27FC236}">
                <a16:creationId xmlns:a16="http://schemas.microsoft.com/office/drawing/2014/main" id="{31D89A66-0915-967A-BC78-8799BE0E8FF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55571160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E9B054-0D4F-8848-9A40-39B42203308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6A2164-B7C4-0D90-6039-F49EC94C20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F672E7-AA0A-74B8-8BF4-5DDB9F5BCE44}"/>
              </a:ext>
            </a:extLst>
          </p:cNvPr>
          <p:cNvSpPr>
            <a:spLocks noGrp="1"/>
          </p:cNvSpPr>
          <p:nvPr>
            <p:ph type="body" idx="1"/>
          </p:nvPr>
        </p:nvSpPr>
        <p:spPr/>
        <p:txBody>
          <a:bodyPr>
            <a:normAutofit fontScale="92500" lnSpcReduction="2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lang="en-US" sz="1200"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AU" sz="1200" b="0" kern="1200" dirty="0">
                <a:solidFill>
                  <a:schemeClr val="tx1"/>
                </a:solidFill>
                <a:effectLst/>
                <a:latin typeface="+mn-lt"/>
                <a:ea typeface="+mn-ea"/>
                <a:cs typeface="+mn-cs"/>
              </a:rPr>
              <a:t>NSX enables flexible, location-independent networking that supports workload mobility, simplified disaster recovery, and scalable multi-site deployments—all over standard IP infrastructure.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AU" sz="1200" b="1"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AU" sz="1200" b="1" kern="1200" dirty="0">
                <a:solidFill>
                  <a:schemeClr val="tx1"/>
                </a:solidFill>
                <a:effectLst/>
                <a:latin typeface="+mn-lt"/>
                <a:ea typeface="+mn-ea"/>
                <a:cs typeface="+mn-cs"/>
              </a:rPr>
              <a:t>Talk Track:</a:t>
            </a:r>
            <a:endParaRPr lang="en-US" dirty="0"/>
          </a:p>
          <a:p>
            <a:pPr>
              <a:buNone/>
            </a:pPr>
            <a:r>
              <a:rPr lang="en-US" dirty="0"/>
              <a:t>NSX virtual networking unlocks several additional use cases.</a:t>
            </a:r>
            <a:br>
              <a:rPr lang="en-US" dirty="0"/>
            </a:br>
            <a:r>
              <a:rPr lang="en-US" dirty="0"/>
              <a:t>In traditional data centers using physical appliances, workloads are often tied to specific locations—creating silos and limiting flexibility.</a:t>
            </a:r>
          </a:p>
          <a:p>
            <a:pPr>
              <a:buNone/>
            </a:pPr>
            <a:endParaRPr lang="en-US" dirty="0"/>
          </a:p>
          <a:p>
            <a:pPr>
              <a:buNone/>
            </a:pPr>
            <a:r>
              <a:rPr lang="en-US" b="1" dirty="0"/>
              <a:t>&lt;click 1&gt; </a:t>
            </a:r>
          </a:p>
          <a:p>
            <a:pPr>
              <a:buNone/>
            </a:pPr>
            <a:r>
              <a:rPr lang="en-US" dirty="0"/>
              <a:t>With virtualized networking, workloads become mobile. VMs can move freely across the data center, enabling optimal compute utilization and better redundancy. </a:t>
            </a:r>
          </a:p>
          <a:p>
            <a:pPr>
              <a:buNone/>
            </a:pPr>
            <a:endParaRPr lang="en-US" dirty="0"/>
          </a:p>
          <a:p>
            <a:pPr>
              <a:buNone/>
            </a:pPr>
            <a:r>
              <a:rPr lang="en-US" b="1" dirty="0"/>
              <a:t>&lt;click 2&gt; </a:t>
            </a:r>
          </a:p>
          <a:p>
            <a:pPr>
              <a:buNone/>
            </a:pPr>
            <a:r>
              <a:rPr lang="en-US" dirty="0"/>
              <a:t>Because NSX virtual networks operate over basic IP connectivity, they can be extended across racks—or even between data centers—without requiring complex overlays deployed in the physical infrastructure. </a:t>
            </a:r>
          </a:p>
          <a:p>
            <a:pPr>
              <a:buNone/>
            </a:pPr>
            <a:endParaRPr lang="en-US" dirty="0"/>
          </a:p>
          <a:p>
            <a:pPr>
              <a:buNone/>
            </a:pPr>
            <a:r>
              <a:rPr lang="en-US" b="1" dirty="0"/>
              <a:t>&lt;click 3&gt; </a:t>
            </a:r>
          </a:p>
          <a:p>
            <a:pPr>
              <a:buNone/>
            </a:pPr>
            <a:r>
              <a:rPr lang="en-US" dirty="0"/>
              <a:t>This flexibility is the foundation for simplified disaster recovery. </a:t>
            </a:r>
          </a:p>
          <a:p>
            <a:pPr>
              <a:buNone/>
            </a:pPr>
            <a:endParaRPr lang="en-US" dirty="0"/>
          </a:p>
          <a:p>
            <a:pPr>
              <a:buNone/>
            </a:pPr>
            <a:r>
              <a:rPr lang="en-US" b="1" dirty="0"/>
              <a:t>&lt;click 4&gt; </a:t>
            </a:r>
          </a:p>
          <a:p>
            <a:pPr>
              <a:buNone/>
            </a:pPr>
            <a:r>
              <a:rPr lang="en-US" dirty="0"/>
              <a:t>When a site fails, its networking environment can be instantly re-created at the backup site, where workloads can be redeployed. </a:t>
            </a:r>
          </a:p>
          <a:p>
            <a:pPr>
              <a:buNone/>
            </a:pPr>
            <a:endParaRPr lang="en-US" dirty="0"/>
          </a:p>
          <a:p>
            <a:pPr>
              <a:buNone/>
            </a:pPr>
            <a:r>
              <a:rPr lang="en-US" b="1" dirty="0"/>
              <a:t>&lt;click 5&gt; </a:t>
            </a:r>
          </a:p>
          <a:p>
            <a:pPr>
              <a:buNone/>
            </a:pPr>
            <a:r>
              <a:rPr lang="en-US" dirty="0"/>
              <a:t>More advanced multi-site deployments are also possible. NSX allows dynamic extension and instantiation of networking infrastructure, all managed from a central control point.</a:t>
            </a:r>
          </a:p>
          <a:p>
            <a:pPr>
              <a:buNone/>
            </a:pPr>
            <a:endParaRPr lang="en-US" dirty="0"/>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sz="1200" b="1" dirty="0">
              <a:latin typeface="Arial" panose="020B0604020202020204" pitchFamily="34" charset="0"/>
            </a:endParaRPr>
          </a:p>
          <a:p>
            <a:pPr marL="0" lvl="0" indent="0" algn="l" rtl="0">
              <a:spcBef>
                <a:spcPts val="0"/>
              </a:spcBef>
              <a:spcAft>
                <a:spcPts val="0"/>
              </a:spcAft>
              <a:buNone/>
            </a:pPr>
            <a:endParaRPr lang="en-US" sz="1200" b="1"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Resources:</a:t>
            </a:r>
          </a:p>
          <a:p>
            <a:pPr>
              <a:buNone/>
            </a:pPr>
            <a:endParaRPr lang="en-US" dirty="0"/>
          </a:p>
        </p:txBody>
      </p:sp>
      <p:sp>
        <p:nvSpPr>
          <p:cNvPr id="4" name="Slide Number Placeholder 3">
            <a:extLst>
              <a:ext uri="{FF2B5EF4-FFF2-40B4-BE49-F238E27FC236}">
                <a16:creationId xmlns:a16="http://schemas.microsoft.com/office/drawing/2014/main" id="{1F8D4D72-A362-70B4-3091-585689B8A54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33003921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FA16C2-EF9E-FA69-811C-F216999A0F3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8EF1183-AF8B-3085-F472-21BB603102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EA28EC-4CB0-11B7-6A1C-651C4A960D31}"/>
              </a:ext>
            </a:extLst>
          </p:cNvPr>
          <p:cNvSpPr>
            <a:spLocks noGrp="1"/>
          </p:cNvSpPr>
          <p:nvPr>
            <p:ph type="body" idx="1"/>
          </p:nvPr>
        </p:nvSpPr>
        <p:spPr/>
        <p:txBody>
          <a:bodyPr>
            <a:normAutofit fontScale="85000" lnSpcReduction="1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lang="en-US" sz="1200" dirty="0">
              <a:solidFill>
                <a:schemeClr val="dk1"/>
              </a:solidFill>
              <a:latin typeface="Arial"/>
              <a:ea typeface="Arial"/>
              <a:cs typeface="Arial"/>
              <a:sym typeface="Arial"/>
            </a:endParaRPr>
          </a:p>
          <a:p>
            <a:pPr marL="0" lvl="0" indent="0" algn="l" rtl="0">
              <a:lnSpc>
                <a:spcPct val="80000"/>
              </a:lnSpc>
              <a:spcBef>
                <a:spcPts val="0"/>
              </a:spcBef>
              <a:spcAft>
                <a:spcPts val="0"/>
              </a:spcAft>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r>
              <a:rPr lang="en-AU" sz="1200" b="0" kern="1200" dirty="0">
                <a:solidFill>
                  <a:schemeClr val="tx1"/>
                </a:solidFill>
                <a:effectLst/>
                <a:latin typeface="+mn-lt"/>
                <a:ea typeface="+mn-ea"/>
                <a:cs typeface="+mn-cs"/>
              </a:rPr>
              <a:t>NSX is automatically deployed in VCF, with NSX Manager, host TEPs, and optional edge nodes/virtual network appliances providing a fully integrated virtual networking stack over a shared IP fabric.</a:t>
            </a:r>
          </a:p>
          <a:p>
            <a:endParaRPr lang="en-AU" sz="1200" b="1" kern="1200" dirty="0">
              <a:solidFill>
                <a:schemeClr val="tx1"/>
              </a:solidFill>
              <a:effectLst/>
              <a:latin typeface="+mn-lt"/>
              <a:ea typeface="+mn-ea"/>
              <a:cs typeface="+mn-cs"/>
            </a:endParaRPr>
          </a:p>
          <a:p>
            <a:r>
              <a:rPr lang="en-AU" sz="1200" b="1" kern="1200" dirty="0">
                <a:solidFill>
                  <a:schemeClr val="tx1"/>
                </a:solidFill>
                <a:effectLst/>
                <a:latin typeface="+mn-lt"/>
                <a:ea typeface="+mn-ea"/>
                <a:cs typeface="+mn-cs"/>
              </a:rPr>
              <a:t>Talk Track:</a:t>
            </a:r>
          </a:p>
          <a:p>
            <a:pPr>
              <a:buNone/>
            </a:pPr>
            <a:r>
              <a:rPr lang="en-US" dirty="0"/>
              <a:t>NSX is integrated into VCF and automatically deployed through VCF operations.</a:t>
            </a:r>
            <a:br>
              <a:rPr lang="en-US" dirty="0"/>
            </a:br>
            <a:r>
              <a:rPr lang="en-US" dirty="0"/>
              <a:t>At the core of NSX is the NSX Manager, which handles both the control and management planes.</a:t>
            </a:r>
            <a:br>
              <a:rPr lang="en-US" dirty="0"/>
            </a:br>
            <a:r>
              <a:rPr lang="en-US" dirty="0"/>
              <a:t>In smaller environments, it can run as a single VM protected by vSphere HA.</a:t>
            </a:r>
            <a:br>
              <a:rPr lang="en-US" dirty="0"/>
            </a:br>
            <a:r>
              <a:rPr lang="en-US" dirty="0"/>
              <a:t>More commonly, it runs as a cluster of three VMs for scale and redundancy.</a:t>
            </a:r>
            <a:br>
              <a:rPr lang="en-US" dirty="0"/>
            </a:br>
            <a:r>
              <a:rPr lang="en-US" dirty="0"/>
              <a:t>NSX Manager is tightly coupled with vCenter, which acts as the compute manager.</a:t>
            </a:r>
            <a:br>
              <a:rPr lang="en-US" dirty="0"/>
            </a:br>
            <a:r>
              <a:rPr lang="en-US" dirty="0"/>
              <a:t>Both components connect to a shared “VM Management Network” within VCF.</a:t>
            </a:r>
          </a:p>
          <a:p>
            <a:pPr>
              <a:buNone/>
            </a:pPr>
            <a:endParaRPr lang="en-US" dirty="0"/>
          </a:p>
          <a:p>
            <a:pPr>
              <a:buNone/>
            </a:pPr>
            <a:r>
              <a:rPr lang="en-US" b="1" dirty="0"/>
              <a:t>&lt;click 1&gt; </a:t>
            </a:r>
          </a:p>
          <a:p>
            <a:pPr>
              <a:buNone/>
            </a:pPr>
            <a:r>
              <a:rPr lang="en-US" dirty="0"/>
              <a:t>Each ESX host is automatically configured by VCF with Tunnel Endpoints, or TEPs. </a:t>
            </a:r>
          </a:p>
          <a:p>
            <a:pPr>
              <a:buNone/>
            </a:pPr>
            <a:r>
              <a:rPr lang="en-US" dirty="0"/>
              <a:t>Those TEPs are vmkernel interfaces that are used to establish tunnels between hosts and enable virtual networks over the physical infrastructure.</a:t>
            </a:r>
          </a:p>
          <a:p>
            <a:pPr>
              <a:buNone/>
            </a:pPr>
            <a:endParaRPr lang="en-US" dirty="0"/>
          </a:p>
          <a:p>
            <a:pPr>
              <a:buNone/>
            </a:pPr>
            <a:r>
              <a:rPr lang="en-US" b="1" dirty="0"/>
              <a:t>&lt;click 2&gt; </a:t>
            </a:r>
          </a:p>
          <a:p>
            <a:pPr>
              <a:buNone/>
            </a:pPr>
            <a:r>
              <a:rPr lang="en-US" dirty="0"/>
              <a:t>VCF also includes the appropriate guided workflows for easily deploying optional appliances that run centralized virtual network services like DHCP, load balancers, stateful NAT etc.</a:t>
            </a:r>
          </a:p>
          <a:p>
            <a:pPr>
              <a:buNone/>
            </a:pPr>
            <a:r>
              <a:rPr lang="en-US" dirty="0"/>
              <a:t>Two kinds of appliances are available in NSX. </a:t>
            </a:r>
          </a:p>
          <a:p>
            <a:pPr>
              <a:buNone/>
            </a:pPr>
            <a:endParaRPr lang="en-US" dirty="0"/>
          </a:p>
          <a:p>
            <a:pPr>
              <a:buNone/>
            </a:pPr>
            <a:r>
              <a:rPr lang="en-US" b="1" dirty="0"/>
              <a:t>&lt;click 3&gt;</a:t>
            </a:r>
          </a:p>
          <a:p>
            <a:pPr>
              <a:buNone/>
            </a:pPr>
            <a:r>
              <a:rPr lang="en-US" dirty="0"/>
              <a:t>The edge nodes are transport nodes with their TEPs connected to either the “NSX Overlay Network” or the “Edge Overlay Network.” </a:t>
            </a:r>
          </a:p>
          <a:p>
            <a:pPr>
              <a:buNone/>
            </a:pPr>
            <a:endParaRPr lang="en-US" dirty="0"/>
          </a:p>
          <a:p>
            <a:pPr>
              <a:buNone/>
            </a:pPr>
            <a:r>
              <a:rPr lang="en-US" b="1" dirty="0"/>
              <a:t>&lt;</a:t>
            </a:r>
            <a:r>
              <a:rPr lang="en-US" b="1"/>
              <a:t>click 4&gt;</a:t>
            </a:r>
            <a:endParaRPr lang="en-US" b="1" dirty="0"/>
          </a:p>
          <a:p>
            <a:pPr>
              <a:buNone/>
            </a:pPr>
            <a:r>
              <a:rPr lang="en-US" dirty="0"/>
              <a:t>VCF 9.1 introduces a new virtual network appliance, or VNA, that is simpler to deploy as it does not even require dedicated TEP connectivity.</a:t>
            </a:r>
          </a:p>
          <a:p>
            <a:pPr>
              <a:buNone/>
            </a:pPr>
            <a:endParaRPr lang="en-US" dirty="0"/>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sz="1200" b="1" dirty="0">
              <a:latin typeface="Arial" panose="020B0604020202020204" pitchFamily="34" charset="0"/>
            </a:endParaRPr>
          </a:p>
          <a:p>
            <a:pPr marL="0" lvl="0" indent="0" algn="l" rtl="0">
              <a:spcBef>
                <a:spcPts val="0"/>
              </a:spcBef>
              <a:spcAft>
                <a:spcPts val="0"/>
              </a:spcAft>
              <a:buNone/>
            </a:pPr>
            <a:endParaRPr lang="en-US" sz="1200" b="1"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Resources:</a:t>
            </a:r>
          </a:p>
          <a:p>
            <a:pPr>
              <a:buNone/>
            </a:pPr>
            <a:endParaRPr lang="en-US" dirty="0"/>
          </a:p>
        </p:txBody>
      </p:sp>
      <p:sp>
        <p:nvSpPr>
          <p:cNvPr id="4" name="Slide Number Placeholder 3">
            <a:extLst>
              <a:ext uri="{FF2B5EF4-FFF2-40B4-BE49-F238E27FC236}">
                <a16:creationId xmlns:a16="http://schemas.microsoft.com/office/drawing/2014/main" id="{B2ED90BF-2F16-1695-66F1-6A074171B65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60412043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lnSpc>
                <a:spcPct val="80000"/>
              </a:lnSpc>
              <a:spcBef>
                <a:spcPts val="0"/>
              </a:spcBef>
              <a:spcAft>
                <a:spcPts val="0"/>
              </a:spcAft>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NSX’s virtual networking stack includes centralized services on edge nodes and can be extended with advanced security features.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dirty="0">
              <a:solidFill>
                <a:schemeClr val="dk1"/>
              </a:solidFill>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dk1"/>
                </a:solidFill>
                <a:latin typeface="Arial"/>
                <a:ea typeface="Arial"/>
                <a:cs typeface="Arial"/>
                <a:sym typeface="Arial"/>
              </a:rPr>
              <a:t>Talk Track:</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Here’s a selection of key features offered by the NSX virtual networking stack.</a:t>
            </a:r>
          </a:p>
          <a:p>
            <a:pPr>
              <a:buNone/>
            </a:pPr>
            <a:r>
              <a:rPr lang="en-US" dirty="0"/>
              <a:t>Stateful services typically run centralized on an appliance and require edge nodes or virtual network appliances.</a:t>
            </a:r>
          </a:p>
          <a:p>
            <a:r>
              <a:rPr lang="en-US" dirty="0"/>
              <a:t>And while NSX includes core networking capabilities out of the box, advanced security features are available as add-ons.</a:t>
            </a:r>
          </a:p>
          <a:p>
            <a:endParaRPr lang="en-US" dirty="0"/>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sz="1200" b="1" dirty="0">
              <a:latin typeface="Arial" panose="020B0604020202020204" pitchFamily="34" charset="0"/>
            </a:endParaRPr>
          </a:p>
          <a:p>
            <a:pPr marL="0" lvl="0" indent="0" algn="l" rtl="0">
              <a:spcBef>
                <a:spcPts val="0"/>
              </a:spcBef>
              <a:spcAft>
                <a:spcPts val="0"/>
              </a:spcAft>
              <a:buNone/>
            </a:pPr>
            <a:endParaRPr lang="en-US" sz="1200" b="1"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Resources: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05337042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2FF82F-C57B-C0D0-3C77-B8021393A9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D98BDA-897C-02CA-DC3F-41E6B517C4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8AE3956-2654-36A0-A60E-400DBD0C8C63}"/>
              </a:ext>
            </a:extLst>
          </p:cNvPr>
          <p:cNvSpPr>
            <a:spLocks noGrp="1"/>
          </p:cNvSpPr>
          <p:nvPr>
            <p:ph type="body" idx="1"/>
          </p:nvPr>
        </p:nvSpPr>
        <p:spPr/>
        <p:txBody>
          <a:bodyPr>
            <a:normAutofit fontScale="77500" lnSpcReduction="2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spcBef>
                <a:spcPts val="0"/>
              </a:spcBef>
              <a:spcAft>
                <a:spcPts val="0"/>
              </a:spcAft>
              <a:buNone/>
            </a:pPr>
            <a:endParaRPr lang="en-US" sz="120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Key Message:</a:t>
            </a:r>
          </a:p>
          <a:p>
            <a:pPr marL="0" marR="0" lvl="0" indent="0" algn="l" rtl="0">
              <a:lnSpc>
                <a:spcPct val="100000"/>
              </a:lnSpc>
              <a:spcBef>
                <a:spcPts val="0"/>
              </a:spcBef>
              <a:spcAft>
                <a:spcPts val="0"/>
              </a:spcAft>
              <a:buClr>
                <a:schemeClr val="dk1"/>
              </a:buClr>
              <a:buSzPts val="1200"/>
              <a:buFont typeface="Arial"/>
              <a:buNone/>
            </a:pPr>
            <a:r>
              <a:rPr lang="en-US" sz="1200" b="0" dirty="0">
                <a:solidFill>
                  <a:schemeClr val="dk1"/>
                </a:solidFill>
                <a:latin typeface="Arial"/>
                <a:cs typeface="Arial"/>
                <a:sym typeface="Arial"/>
              </a:rPr>
              <a:t>Virtual Private Cloud configuration is split into multiple roles, matching the different responsibilities required in a multi-tenant environment. </a:t>
            </a:r>
          </a:p>
          <a:p>
            <a:pPr marL="0" marR="0" lvl="0" indent="0" algn="l" rtl="0">
              <a:lnSpc>
                <a:spcPct val="100000"/>
              </a:lnSpc>
              <a:spcBef>
                <a:spcPts val="0"/>
              </a:spcBef>
              <a:spcAft>
                <a:spcPts val="0"/>
              </a:spcAft>
              <a:buClr>
                <a:schemeClr val="dk1"/>
              </a:buClr>
              <a:buSzPts val="1200"/>
              <a:buFont typeface="Arial"/>
              <a:buNone/>
            </a:pPr>
            <a:r>
              <a:rPr lang="en-US" sz="1200" b="0" dirty="0">
                <a:solidFill>
                  <a:schemeClr val="dk1"/>
                </a:solidFill>
                <a:latin typeface="Arial"/>
                <a:cs typeface="Arial"/>
                <a:sym typeface="Arial"/>
              </a:rPr>
              <a:t>One of the main benefit of this model is that it shields VPC admin (a VI admin for example) from complex networking configurations that are pre-configured by the upper tiers (enterprise admin/project admin.)</a:t>
            </a:r>
            <a:endParaRPr lang="en-US" b="0" dirty="0"/>
          </a:p>
          <a:p>
            <a:pPr marL="0" lvl="0" indent="0" algn="l" rtl="0">
              <a:spcBef>
                <a:spcPts val="0"/>
              </a:spcBef>
              <a:spcAft>
                <a:spcPts val="0"/>
              </a:spcAft>
              <a:buNone/>
            </a:pPr>
            <a:br>
              <a:rPr lang="en-US" sz="1200" b="0" dirty="0">
                <a:solidFill>
                  <a:schemeClr val="dk1"/>
                </a:solidFill>
                <a:latin typeface="Arial"/>
                <a:ea typeface="Arial"/>
                <a:cs typeface="Arial"/>
                <a:sym typeface="Arial"/>
              </a:rPr>
            </a:br>
            <a:r>
              <a:rPr lang="en-US" sz="1200" b="1" dirty="0">
                <a:solidFill>
                  <a:schemeClr val="dk1"/>
                </a:solidFill>
                <a:latin typeface="Arial"/>
                <a:ea typeface="Arial"/>
                <a:cs typeface="Arial"/>
                <a:sym typeface="Arial"/>
              </a:rPr>
              <a:t>Talk Track:</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A Virtual Private Cloud, or VPC, is a logically isolated, tenant-specific virtual network that provides dedicated routing, switching, and security services. </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In VCF, the model defines clear roles to support multi-tenancy and enables self-service capabilities for end users. </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The first role is the </a:t>
            </a:r>
            <a:r>
              <a:rPr lang="en-US" b="1" dirty="0"/>
              <a:t>Enterprise Admin</a:t>
            </a:r>
            <a:r>
              <a:rPr lang="en-US" dirty="0"/>
              <a:t>, who owns the VCF infrastructure and manages the connection to the physical network.</a:t>
            </a:r>
          </a:p>
          <a:p>
            <a:pPr marL="0" lvl="0" indent="0" algn="l" rtl="0">
              <a:spcBef>
                <a:spcPts val="0"/>
              </a:spcBef>
              <a:spcAft>
                <a:spcPts val="0"/>
              </a:spcAft>
              <a:buNone/>
            </a:pPr>
            <a:endParaRPr lang="en-US" dirty="0"/>
          </a:p>
          <a:p>
            <a:pPr marL="0" lvl="0" indent="0" algn="l" rtl="0">
              <a:spcBef>
                <a:spcPts val="0"/>
              </a:spcBef>
              <a:spcAft>
                <a:spcPts val="0"/>
              </a:spcAft>
              <a:buNone/>
            </a:pPr>
            <a:r>
              <a:rPr lang="en-US" b="1" dirty="0"/>
              <a:t>&lt;click 1&gt;</a:t>
            </a:r>
          </a:p>
          <a:p>
            <a:pPr marL="0" lvl="0" indent="0" algn="l" rtl="0">
              <a:spcBef>
                <a:spcPts val="0"/>
              </a:spcBef>
              <a:spcAft>
                <a:spcPts val="0"/>
              </a:spcAft>
              <a:buNone/>
            </a:pPr>
            <a:r>
              <a:rPr lang="en-US" dirty="0"/>
              <a:t>The Enterprise Admin is responsible for coordinating with the physical network to ensure proper connectivity.</a:t>
            </a:r>
          </a:p>
          <a:p>
            <a:pPr marL="0" lvl="0" indent="0" algn="l" rtl="0">
              <a:spcBef>
                <a:spcPts val="0"/>
              </a:spcBef>
              <a:spcAft>
                <a:spcPts val="0"/>
              </a:spcAft>
              <a:buNone/>
            </a:pPr>
            <a:r>
              <a:rPr lang="en-US" dirty="0"/>
              <a:t>They also create "projects," which represent the first level of tenancy. The enterprise admin can assign resources, quotas and limits to those projects.</a:t>
            </a:r>
          </a:p>
          <a:p>
            <a:pPr marL="0" lvl="0" indent="0" algn="l" rtl="0">
              <a:spcBef>
                <a:spcPts val="0"/>
              </a:spcBef>
              <a:spcAft>
                <a:spcPts val="0"/>
              </a:spcAft>
              <a:buNone/>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b="1" dirty="0"/>
              <a:t>&lt;click 2&gt;</a:t>
            </a:r>
          </a:p>
          <a:p>
            <a:pPr marL="0" indent="0">
              <a:buFont typeface="Arial" panose="020B0604020202020204" pitchFamily="34" charset="0"/>
              <a:buNone/>
            </a:pPr>
            <a:r>
              <a:rPr lang="en-US" dirty="0"/>
              <a:t>Next, the </a:t>
            </a:r>
            <a:r>
              <a:rPr lang="en-US" b="1" dirty="0"/>
              <a:t>Project Admin </a:t>
            </a:r>
            <a:r>
              <a:rPr lang="en-US" dirty="0"/>
              <a:t>steps in to manage the resources delegated by the Enterprise Admin, but without direct access to the physical infrastructure.</a:t>
            </a:r>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b="1" dirty="0"/>
              <a:t>&lt;click 3&gt;</a:t>
            </a:r>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dirty="0"/>
              <a:t>The Project Admin is responsible for creating and managing VPCs, which represent the second level of tenancy.</a:t>
            </a:r>
          </a:p>
          <a:p>
            <a:pPr marL="0" indent="0">
              <a:buFont typeface="Arial" panose="020B0604020202020204" pitchFamily="34" charset="0"/>
              <a:buNone/>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b="1" dirty="0"/>
              <a:t>&lt;click 4&gt;</a:t>
            </a:r>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dirty="0"/>
              <a:t>Finally, we have the </a:t>
            </a:r>
            <a:r>
              <a:rPr lang="en-US" b="1" dirty="0"/>
              <a:t>VPC Admin</a:t>
            </a:r>
            <a:r>
              <a:rPr lang="en-US" dirty="0"/>
              <a:t>, who acts as the end user in this model.</a:t>
            </a:r>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endParaRPr lang="en-US" dirty="0"/>
          </a:p>
          <a:p>
            <a:pPr marL="0" indent="0">
              <a:buFont typeface="Arial" panose="020B0604020202020204" pitchFamily="34" charset="0"/>
              <a:buNone/>
            </a:pPr>
            <a:r>
              <a:rPr lang="en-US" dirty="0"/>
              <a:t>The VPC Admin can independently create virtual networks—called subnets—</a:t>
            </a:r>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dirty="0"/>
              <a:t>and easily attach workloads to these networks.</a:t>
            </a:r>
          </a:p>
          <a:p>
            <a:pPr marL="0" indent="0">
              <a:buFont typeface="Arial" panose="020B0604020202020204" pitchFamily="34" charset="0"/>
              <a:buNone/>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panose="020B0604020202020204" pitchFamily="34" charset="0"/>
              <a:buNone/>
              <a:tabLst/>
              <a:defRPr/>
            </a:pPr>
            <a:r>
              <a:rPr lang="en-US" b="1" dirty="0"/>
              <a:t>&lt;click 5&gt;</a:t>
            </a:r>
          </a:p>
          <a:p>
            <a:pPr marL="0" indent="0">
              <a:buFont typeface="Arial" panose="020B0604020202020204" pitchFamily="34" charset="0"/>
              <a:buNone/>
            </a:pPr>
            <a:r>
              <a:rPr lang="en-US" dirty="0"/>
              <a:t>A key benefit of this model is that the VPC Admin can fully leverage networking services without requiring in-depth networking expertise. </a:t>
            </a:r>
          </a:p>
          <a:p>
            <a:pPr marL="0" indent="0">
              <a:buFont typeface="Arial" panose="020B0604020202020204" pitchFamily="34" charset="0"/>
              <a:buNone/>
            </a:pPr>
            <a:r>
              <a:rPr lang="en-US" dirty="0"/>
              <a:t>This is possible because the Enterprise and Project Admins pre-configure the underlying network and resource allocations, enabling true self-service with minimal need for additional support.</a:t>
            </a:r>
          </a:p>
          <a:p>
            <a:pPr marL="0" indent="0">
              <a:buFont typeface="Arial" panose="020B0604020202020204" pitchFamily="34" charset="0"/>
              <a:buNone/>
            </a:pPr>
            <a:endParaRPr lang="en-US" dirty="0"/>
          </a:p>
          <a:p>
            <a:pPr marL="0" indent="0">
              <a:buFont typeface="Arial" panose="020B0604020202020204" pitchFamily="34" charset="0"/>
              <a:buNone/>
            </a:pPr>
            <a:r>
              <a:rPr lang="en-US" b="1" dirty="0"/>
              <a:t>Notes:</a:t>
            </a:r>
          </a:p>
          <a:p>
            <a:pPr marL="0" indent="0">
              <a:buFont typeface="Arial" panose="020B0604020202020204" pitchFamily="34" charset="0"/>
              <a:buNone/>
            </a:pPr>
            <a:endParaRPr lang="en-US" b="1" dirty="0"/>
          </a:p>
          <a:p>
            <a:pPr marL="0" indent="0">
              <a:buFont typeface="Arial" panose="020B0604020202020204" pitchFamily="34" charset="0"/>
              <a:buNone/>
            </a:pPr>
            <a:r>
              <a:rPr lang="en-US" b="1" dirty="0"/>
              <a:t>Resources:</a:t>
            </a:r>
          </a:p>
          <a:p>
            <a:endParaRPr lang="en-US" dirty="0"/>
          </a:p>
        </p:txBody>
      </p:sp>
      <p:sp>
        <p:nvSpPr>
          <p:cNvPr id="4" name="Slide Number Placeholder 3">
            <a:extLst>
              <a:ext uri="{FF2B5EF4-FFF2-40B4-BE49-F238E27FC236}">
                <a16:creationId xmlns:a16="http://schemas.microsoft.com/office/drawing/2014/main" id="{3A424DEC-8AC2-76F3-A19F-060EA5E8318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4149633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2527CC-E2C0-6654-FB3A-C30E9382F2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E7B57C-76DD-56F1-BFA8-C54B271851E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F6CDF4F-D28D-5DCF-0B96-94FA653141B4}"/>
              </a:ext>
            </a:extLst>
          </p:cNvPr>
          <p:cNvSpPr>
            <a:spLocks noGrp="1"/>
          </p:cNvSpPr>
          <p:nvPr>
            <p:ph type="body" idx="1"/>
          </p:nvPr>
        </p:nvSpPr>
        <p:spPr/>
        <p:txBody>
          <a:bodyPr>
            <a:normAutofit/>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spcBef>
                <a:spcPts val="0"/>
              </a:spcBef>
              <a:spcAft>
                <a:spcPts val="0"/>
              </a:spcAft>
              <a:buNone/>
            </a:pPr>
            <a:endParaRPr lang="en-US" sz="120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Key Message:</a:t>
            </a:r>
          </a:p>
          <a:p>
            <a:pPr marL="0" marR="0" lvl="0" indent="0" algn="l" rtl="0">
              <a:lnSpc>
                <a:spcPct val="100000"/>
              </a:lnSpc>
              <a:spcBef>
                <a:spcPts val="0"/>
              </a:spcBef>
              <a:spcAft>
                <a:spcPts val="0"/>
              </a:spcAft>
              <a:buClr>
                <a:schemeClr val="dk1"/>
              </a:buClr>
              <a:buSzPts val="1200"/>
              <a:buFont typeface="Arial"/>
              <a:buNone/>
            </a:pPr>
            <a:r>
              <a:rPr lang="en-US" dirty="0"/>
              <a:t>With VCF 9.0, VPCs are fully integrated across the platform, exposed as first-class objects in vCenter where the default project is fully configurable by the vCenter Admin, who can easily connect VMs to subnets or DVPGs directly from the UI.</a:t>
            </a:r>
            <a:endParaRPr lang="en-US" sz="1200" b="0" dirty="0">
              <a:solidFill>
                <a:schemeClr val="dk1"/>
              </a:solidFill>
              <a:latin typeface="Arial"/>
              <a:cs typeface="Arial"/>
              <a:sym typeface="Arial"/>
            </a:endParaRPr>
          </a:p>
          <a:p>
            <a:pPr marL="0" lvl="0" indent="0" algn="l" rtl="0">
              <a:spcBef>
                <a:spcPts val="0"/>
              </a:spcBef>
              <a:spcAft>
                <a:spcPts val="0"/>
              </a:spcAft>
              <a:buNone/>
            </a:pPr>
            <a:br>
              <a:rPr lang="en-US" sz="1200" dirty="0">
                <a:solidFill>
                  <a:schemeClr val="dk1"/>
                </a:solidFill>
                <a:latin typeface="Arial"/>
                <a:ea typeface="Arial"/>
                <a:cs typeface="Arial"/>
                <a:sym typeface="Arial"/>
              </a:rPr>
            </a:br>
            <a:r>
              <a:rPr lang="en-US" sz="1200" b="1" dirty="0">
                <a:solidFill>
                  <a:schemeClr val="dk1"/>
                </a:solidFill>
                <a:latin typeface="Arial"/>
                <a:ea typeface="Arial"/>
                <a:cs typeface="Arial"/>
                <a:sym typeface="Arial"/>
              </a:rPr>
              <a:t>Talk Track:</a:t>
            </a:r>
          </a:p>
          <a:p>
            <a:pPr marL="0" lvl="0" indent="0" algn="l" rtl="0">
              <a:spcBef>
                <a:spcPts val="0"/>
              </a:spcBef>
              <a:spcAft>
                <a:spcPts val="0"/>
              </a:spcAft>
              <a:buNone/>
            </a:pPr>
            <a:r>
              <a:rPr lang="en-US" dirty="0"/>
              <a:t>The VPC concept is fully integrated and consumable across the different components of VCF. </a:t>
            </a:r>
          </a:p>
          <a:p>
            <a:pPr marL="0" lvl="0" indent="0" algn="l" rtl="0">
              <a:spcBef>
                <a:spcPts val="0"/>
              </a:spcBef>
              <a:spcAft>
                <a:spcPts val="0"/>
              </a:spcAft>
              <a:buNone/>
            </a:pPr>
            <a:r>
              <a:rPr lang="en-US" dirty="0"/>
              <a:t>VCF automation leverages VPC objects, and VPCs are now exposed as first-class objects directly within vCenter.</a:t>
            </a:r>
          </a:p>
          <a:p>
            <a:pPr marL="0" lvl="0" indent="0" algn="l" rtl="0">
              <a:spcBef>
                <a:spcPts val="0"/>
              </a:spcBef>
              <a:spcAft>
                <a:spcPts val="0"/>
              </a:spcAft>
              <a:buNone/>
            </a:pPr>
            <a:r>
              <a:rPr lang="en-US" dirty="0"/>
              <a:t>In fact, a default project is pre-created in vCenter and is fully configurable by the vCenter Admin.</a:t>
            </a:r>
          </a:p>
          <a:p>
            <a:pPr marL="0" lvl="0" indent="0" algn="l" rtl="0">
              <a:spcBef>
                <a:spcPts val="0"/>
              </a:spcBef>
              <a:spcAft>
                <a:spcPts val="0"/>
              </a:spcAft>
              <a:buNone/>
            </a:pPr>
            <a:r>
              <a:rPr lang="en-US" dirty="0"/>
              <a:t>Other, non-default projects appear in vCenter as read-only and cannot be modified from there.</a:t>
            </a:r>
          </a:p>
          <a:p>
            <a:pPr marL="0" lvl="0" indent="0" algn="l" rtl="0">
              <a:spcBef>
                <a:spcPts val="0"/>
              </a:spcBef>
              <a:spcAft>
                <a:spcPts val="0"/>
              </a:spcAft>
              <a:buNone/>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b="1" dirty="0"/>
              <a:t>&lt;click 1&gt;</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vCenter also displays subnets directly its the UI, allowing you to easily connect a VM to a subnet, the same way you would attach a VM to a DVPG. </a:t>
            </a:r>
          </a:p>
          <a:p>
            <a:pPr marL="0" lvl="0" indent="0" algn="l" rtl="0">
              <a:spcBef>
                <a:spcPts val="0"/>
              </a:spcBef>
              <a:spcAft>
                <a:spcPts val="0"/>
              </a:spcAft>
              <a:buNone/>
            </a:pPr>
            <a:endParaRPr lang="en-US" b="1" dirty="0"/>
          </a:p>
          <a:p>
            <a:pPr marL="0" lvl="0" indent="0" algn="l" rtl="0">
              <a:spcBef>
                <a:spcPts val="0"/>
              </a:spcBef>
              <a:spcAft>
                <a:spcPts val="0"/>
              </a:spcAft>
              <a:buNone/>
            </a:pPr>
            <a:r>
              <a:rPr lang="en-US" b="1" dirty="0"/>
              <a:t>Notes:</a:t>
            </a:r>
            <a:br>
              <a:rPr lang="en-US" dirty="0"/>
            </a:br>
            <a:endParaRPr lang="en-US" dirty="0"/>
          </a:p>
          <a:p>
            <a:pPr marL="0" indent="0">
              <a:buFont typeface="Arial" panose="020B0604020202020204" pitchFamily="34" charset="0"/>
              <a:buNone/>
            </a:pPr>
            <a:r>
              <a:rPr lang="en-US" b="1" dirty="0"/>
              <a:t>Resources:</a:t>
            </a:r>
            <a:br>
              <a:rPr lang="en-US" dirty="0"/>
            </a:br>
            <a:endParaRPr lang="en-US" dirty="0"/>
          </a:p>
        </p:txBody>
      </p:sp>
      <p:sp>
        <p:nvSpPr>
          <p:cNvPr id="4" name="Slide Number Placeholder 3">
            <a:extLst>
              <a:ext uri="{FF2B5EF4-FFF2-40B4-BE49-F238E27FC236}">
                <a16:creationId xmlns:a16="http://schemas.microsoft.com/office/drawing/2014/main" id="{72CF3AC4-CB4E-E391-4EF1-75737ED7C64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60327149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06D75F-B9E1-260D-9C1B-F505E76623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FEE514-35C3-60E4-29E4-B63F02ADD31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9B6EF08-F017-AEB1-D674-DA8517E12E16}"/>
              </a:ext>
            </a:extLst>
          </p:cNvPr>
          <p:cNvSpPr>
            <a:spLocks noGrp="1"/>
          </p:cNvSpPr>
          <p:nvPr>
            <p:ph type="body" idx="1"/>
          </p:nvPr>
        </p:nvSpPr>
        <p:spPr/>
        <p:txBody>
          <a:bodyPr>
            <a:normAutofit fontScale="85000" lnSpcReduction="20000"/>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spcBef>
                <a:spcPts val="0"/>
              </a:spcBef>
              <a:spcAft>
                <a:spcPts val="0"/>
              </a:spcAft>
              <a:buNone/>
            </a:pPr>
            <a:endParaRPr lang="en-US" sz="120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Key Message:</a:t>
            </a:r>
          </a:p>
          <a:p>
            <a:pPr marL="0" marR="0" lvl="0" indent="0" algn="l" rtl="0">
              <a:lnSpc>
                <a:spcPct val="100000"/>
              </a:lnSpc>
              <a:spcBef>
                <a:spcPts val="0"/>
              </a:spcBef>
              <a:spcAft>
                <a:spcPts val="0"/>
              </a:spcAft>
              <a:buClr>
                <a:schemeClr val="dk1"/>
              </a:buClr>
              <a:buSzPts val="1200"/>
              <a:buFont typeface="Arial"/>
              <a:buNone/>
            </a:pPr>
            <a:r>
              <a:rPr lang="en-US" dirty="0"/>
              <a:t>The multi-tier gateway model enables Enterprise, Project, and VPC Admins to make independent connectivity decisions, with Project Admins using transit gateways to connect projects to external networks, and VPC Admins leveraging VPC gateways to connect subnets within each VPC.</a:t>
            </a:r>
            <a:endParaRPr lang="en-US" sz="120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br>
              <a:rPr lang="en-US" sz="1200" dirty="0">
                <a:solidFill>
                  <a:schemeClr val="dk1"/>
                </a:solidFill>
                <a:latin typeface="Arial"/>
                <a:ea typeface="Arial"/>
                <a:cs typeface="Arial"/>
                <a:sym typeface="Arial"/>
              </a:rPr>
            </a:br>
            <a:r>
              <a:rPr lang="en-US" sz="1200" b="1" dirty="0">
                <a:solidFill>
                  <a:schemeClr val="dk1"/>
                </a:solidFill>
                <a:latin typeface="Arial"/>
                <a:ea typeface="Arial"/>
                <a:cs typeface="Arial"/>
                <a:sym typeface="Arial"/>
              </a:rPr>
              <a:t>Talk Track:</a:t>
            </a:r>
          </a:p>
          <a:p>
            <a:pPr marL="0" lvl="0" indent="0" algn="l" rtl="0">
              <a:spcBef>
                <a:spcPts val="0"/>
              </a:spcBef>
              <a:spcAft>
                <a:spcPts val="0"/>
              </a:spcAft>
              <a:buNone/>
            </a:pPr>
            <a:r>
              <a:rPr lang="en-US" dirty="0"/>
              <a:t>We’ve seen that the VPC model defines three distinct roles, three different tiers, each with clear responsibilities. </a:t>
            </a:r>
          </a:p>
          <a:p>
            <a:pPr marL="0" lvl="0" indent="0" algn="l" rtl="0">
              <a:spcBef>
                <a:spcPts val="0"/>
              </a:spcBef>
              <a:spcAft>
                <a:spcPts val="0"/>
              </a:spcAft>
              <a:buNone/>
            </a:pPr>
            <a:r>
              <a:rPr lang="en-US" dirty="0"/>
              <a:t>Let’s delve into the virtual networking components providing connectivity at each tier.</a:t>
            </a:r>
          </a:p>
          <a:p>
            <a:pPr marL="0" lvl="0" indent="0" algn="l" rtl="0">
              <a:spcBef>
                <a:spcPts val="0"/>
              </a:spcBef>
              <a:spcAft>
                <a:spcPts val="0"/>
              </a:spcAft>
              <a:buNone/>
            </a:pPr>
            <a:r>
              <a:rPr lang="en-US" dirty="0"/>
              <a:t>The Enterprise Admin manages interactions with the physical network and provides connectivity options to Project Admins by defining "</a:t>
            </a:r>
            <a:r>
              <a:rPr lang="en-US" b="1" dirty="0"/>
              <a:t>external connections</a:t>
            </a:r>
            <a:r>
              <a:rPr lang="en-US" dirty="0"/>
              <a:t>." </a:t>
            </a:r>
          </a:p>
          <a:p>
            <a:pPr marL="0" lvl="0" indent="0" algn="l" rtl="0">
              <a:spcBef>
                <a:spcPts val="0"/>
              </a:spcBef>
              <a:spcAft>
                <a:spcPts val="0"/>
              </a:spcAft>
              <a:buNone/>
            </a:pPr>
            <a:r>
              <a:rPr lang="en-US" dirty="0"/>
              <a:t>These external connections are profiles that describe how access to the physical network is delivered.</a:t>
            </a:r>
          </a:p>
          <a:p>
            <a:pPr marL="0" indent="0">
              <a:buFont typeface="Arial" panose="020B0604020202020204" pitchFamily="34" charset="0"/>
              <a:buNone/>
            </a:pPr>
            <a:endParaRPr lang="en-US" dirty="0"/>
          </a:p>
          <a:p>
            <a:pPr marL="0" indent="0">
              <a:buFont typeface="Arial" panose="020B0604020202020204" pitchFamily="34" charset="0"/>
              <a:buNone/>
            </a:pPr>
            <a:r>
              <a:rPr lang="en-US" b="1" dirty="0"/>
              <a:t>&lt;click 1&gt;</a:t>
            </a:r>
          </a:p>
          <a:p>
            <a:pPr marL="0" indent="0">
              <a:buFont typeface="Arial" panose="020B0604020202020204" pitchFamily="34" charset="0"/>
              <a:buNone/>
            </a:pPr>
            <a:r>
              <a:rPr lang="en-US" dirty="0"/>
              <a:t>An external connection can represent either a connection centralized through a virtual router called a Tier-0 gateway, or direct access to the physical infrastructure via VLAN or VXLAN .</a:t>
            </a:r>
          </a:p>
          <a:p>
            <a:pPr marL="0" indent="0">
              <a:buFont typeface="Arial" panose="020B0604020202020204" pitchFamily="34" charset="0"/>
              <a:buNone/>
            </a:pPr>
            <a:endParaRPr lang="en-US" dirty="0"/>
          </a:p>
          <a:p>
            <a:pPr marL="0" indent="0">
              <a:buFont typeface="Arial" panose="020B0604020202020204" pitchFamily="34" charset="0"/>
              <a:buNone/>
            </a:pPr>
            <a:r>
              <a:rPr lang="en-US" b="1" dirty="0"/>
              <a:t>&lt;click 2&gt;</a:t>
            </a:r>
          </a:p>
          <a:p>
            <a:pPr marL="0" indent="0">
              <a:buFont typeface="Arial" panose="020B0604020202020204" pitchFamily="34" charset="0"/>
              <a:buNone/>
            </a:pPr>
            <a:r>
              <a:rPr lang="en-US" dirty="0"/>
              <a:t>The Project Admin, who has no direct access to the physical infrastructure, manages a virtual router called the </a:t>
            </a:r>
            <a:r>
              <a:rPr lang="en-US" b="0" dirty="0"/>
              <a:t>transit gateway</a:t>
            </a:r>
            <a:r>
              <a:rPr lang="en-US" dirty="0"/>
              <a:t>. </a:t>
            </a:r>
          </a:p>
          <a:p>
            <a:pPr marL="0" indent="0">
              <a:buFont typeface="Arial" panose="020B0604020202020204" pitchFamily="34" charset="0"/>
              <a:buNone/>
            </a:pPr>
            <a:r>
              <a:rPr lang="en-US" dirty="0"/>
              <a:t>By attaching the transit gateway to an external connection exposed by the Enterprise Admin, the Project Admin defines how the project connects to the external network. </a:t>
            </a:r>
          </a:p>
          <a:p>
            <a:pPr marL="0" indent="0">
              <a:buFont typeface="Arial" panose="020B0604020202020204" pitchFamily="34" charset="0"/>
              <a:buNone/>
            </a:pPr>
            <a:r>
              <a:rPr lang="en-US" dirty="0"/>
              <a:t>The choice of external connection also determines whether the transit gateway will function in a distributed or centralized mode.</a:t>
            </a:r>
          </a:p>
          <a:p>
            <a:pPr marL="0" indent="0">
              <a:buFont typeface="Arial" panose="020B0604020202020204" pitchFamily="34" charset="0"/>
              <a:buNone/>
            </a:pPr>
            <a:endParaRPr lang="en-US" dirty="0"/>
          </a:p>
          <a:p>
            <a:pPr marL="0" indent="0">
              <a:buFont typeface="Arial" panose="020B0604020202020204" pitchFamily="34" charset="0"/>
              <a:buNone/>
            </a:pPr>
            <a:r>
              <a:rPr lang="en-US" b="1" dirty="0"/>
              <a:t>&lt;click 3&gt;</a:t>
            </a:r>
          </a:p>
          <a:p>
            <a:pPr marL="0" indent="0">
              <a:buFont typeface="Arial" panose="020B0604020202020204" pitchFamily="34" charset="0"/>
              <a:buNone/>
            </a:pPr>
            <a:r>
              <a:rPr lang="en-US" dirty="0"/>
              <a:t>Finally, within each VPC, a </a:t>
            </a:r>
            <a:r>
              <a:rPr lang="en-US" b="1" dirty="0"/>
              <a:t>VPC gateway</a:t>
            </a:r>
            <a:r>
              <a:rPr lang="en-US" dirty="0"/>
              <a:t> is deployed. </a:t>
            </a:r>
          </a:p>
          <a:p>
            <a:pPr marL="0" indent="0">
              <a:buFont typeface="Arial" panose="020B0604020202020204" pitchFamily="34" charset="0"/>
              <a:buNone/>
            </a:pPr>
            <a:r>
              <a:rPr lang="en-US" dirty="0"/>
              <a:t>The VPC gateway connects internal subnets and provides external connectivity by routing through the transit gateway.</a:t>
            </a:r>
          </a:p>
          <a:p>
            <a:pPr marL="0" indent="0">
              <a:buFont typeface="Arial" panose="020B0604020202020204" pitchFamily="34" charset="0"/>
              <a:buNone/>
            </a:pPr>
            <a:endParaRPr lang="en-US" dirty="0"/>
          </a:p>
          <a:p>
            <a:pPr marL="0" lvl="0" indent="0" algn="l" rtl="0">
              <a:spcBef>
                <a:spcPts val="0"/>
              </a:spcBef>
              <a:spcAft>
                <a:spcPts val="0"/>
              </a:spcAft>
              <a:buNone/>
            </a:pPr>
            <a:r>
              <a:rPr lang="en-US" b="1" dirty="0"/>
              <a:t>Notes:</a:t>
            </a:r>
            <a:br>
              <a:rPr lang="en-US" dirty="0"/>
            </a:br>
            <a:endParaRPr lang="en-US" dirty="0"/>
          </a:p>
          <a:p>
            <a:pPr marL="0" indent="0">
              <a:buFont typeface="Arial" panose="020B0604020202020204" pitchFamily="34" charset="0"/>
              <a:buNone/>
            </a:pPr>
            <a:r>
              <a:rPr lang="en-US" b="1" dirty="0"/>
              <a:t>Resources:</a:t>
            </a:r>
            <a:br>
              <a:rPr lang="en-US" dirty="0"/>
            </a:br>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CC4EA8AD-69E8-355B-A215-A80C1E7C4C7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87367112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56B2CA-8C49-D1E7-4FCC-411269314CA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CC4B9E-40FE-4611-FF13-86C8AEB2760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C1F387-0247-E271-625E-FABFE4451600}"/>
              </a:ext>
            </a:extLst>
          </p:cNvPr>
          <p:cNvSpPr>
            <a:spLocks noGrp="1"/>
          </p:cNvSpPr>
          <p:nvPr>
            <p:ph type="body" idx="1"/>
          </p:nvPr>
        </p:nvSpPr>
        <p:spPr/>
        <p:txBody>
          <a:bodyPr>
            <a:normAutofit/>
          </a:bodyPr>
          <a:lstStyle/>
          <a:p>
            <a:pPr marL="0" lvl="0" indent="0" algn="l" rtl="0">
              <a:spcBef>
                <a:spcPts val="0"/>
              </a:spcBef>
              <a:spcAft>
                <a:spcPts val="0"/>
              </a:spcAft>
              <a:buNone/>
            </a:pPr>
            <a:r>
              <a:rPr lang="en-US" sz="1200" b="1" dirty="0">
                <a:solidFill>
                  <a:schemeClr val="dk1"/>
                </a:solidFill>
                <a:latin typeface="Arial"/>
                <a:ea typeface="Arial"/>
                <a:cs typeface="Arial"/>
                <a:sym typeface="Arial"/>
              </a:rPr>
              <a:t>Presenter Note:  </a:t>
            </a:r>
            <a:r>
              <a:rPr lang="en-US" sz="1200" b="1" dirty="0">
                <a:latin typeface="Arial"/>
                <a:ea typeface="Arial"/>
                <a:cs typeface="Arial"/>
                <a:sym typeface="Arial"/>
              </a:rPr>
              <a:t>This slide contains animation.</a:t>
            </a:r>
            <a:endParaRPr lang="en-US" sz="1200" b="1" dirty="0">
              <a:solidFill>
                <a:schemeClr val="dk1"/>
              </a:solidFill>
              <a:latin typeface="Arial"/>
              <a:ea typeface="Arial"/>
              <a:cs typeface="Arial"/>
              <a:sym typeface="Arial"/>
            </a:endParaRPr>
          </a:p>
          <a:p>
            <a:pPr marL="0" lvl="0" indent="0" algn="l" rtl="0">
              <a:spcBef>
                <a:spcPts val="0"/>
              </a:spcBef>
              <a:spcAft>
                <a:spcPts val="0"/>
              </a:spcAft>
              <a:buNone/>
            </a:pPr>
            <a:endParaRPr lang="en-US" sz="120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Key Message:</a:t>
            </a:r>
            <a:endParaRPr lang="en-US" sz="1200" dirty="0">
              <a:solidFill>
                <a:schemeClr val="dk1"/>
              </a:solidFill>
              <a:latin typeface="Arial"/>
              <a:ea typeface="Arial"/>
              <a:cs typeface="Arial"/>
              <a:sym typeface="Arial"/>
            </a:endParaRPr>
          </a:p>
          <a:p>
            <a:pPr marL="0" lvl="0" indent="0" algn="l" rtl="0">
              <a:spcBef>
                <a:spcPts val="0"/>
              </a:spcBef>
              <a:spcAft>
                <a:spcPts val="0"/>
              </a:spcAft>
              <a:buNone/>
            </a:pPr>
            <a:r>
              <a:rPr lang="en-US" sz="1200" dirty="0">
                <a:solidFill>
                  <a:schemeClr val="dk1"/>
                </a:solidFill>
                <a:latin typeface="Arial"/>
                <a:ea typeface="Arial"/>
                <a:cs typeface="Arial"/>
                <a:sym typeface="Arial"/>
              </a:rPr>
              <a:t>When attaching to a centralized external connection, the transit gateway is running on an edge node and is attached to a Tier0 gateway. </a:t>
            </a:r>
          </a:p>
          <a:p>
            <a:pPr marL="0" lvl="0" indent="0" algn="l" rtl="0">
              <a:spcBef>
                <a:spcPts val="0"/>
              </a:spcBef>
              <a:spcAft>
                <a:spcPts val="0"/>
              </a:spcAft>
              <a:buNone/>
            </a:pPr>
            <a:r>
              <a:rPr lang="en-US" sz="1200" dirty="0">
                <a:solidFill>
                  <a:schemeClr val="dk1"/>
                </a:solidFill>
                <a:latin typeface="Arial"/>
                <a:ea typeface="Arial"/>
                <a:cs typeface="Arial"/>
                <a:sym typeface="Arial"/>
              </a:rPr>
              <a:t>This is the most traditional connectivity model and offers all NSX services.</a:t>
            </a:r>
          </a:p>
          <a:p>
            <a:pPr marL="0" lvl="0" indent="0" algn="l" rtl="0">
              <a:spcBef>
                <a:spcPts val="0"/>
              </a:spcBef>
              <a:spcAft>
                <a:spcPts val="0"/>
              </a:spcAft>
              <a:buNone/>
            </a:pPr>
            <a:br>
              <a:rPr lang="en-US" sz="1200" dirty="0">
                <a:solidFill>
                  <a:schemeClr val="dk1"/>
                </a:solidFill>
                <a:latin typeface="Arial"/>
                <a:ea typeface="Arial"/>
                <a:cs typeface="Arial"/>
                <a:sym typeface="Arial"/>
              </a:rPr>
            </a:br>
            <a:r>
              <a:rPr lang="en-US" sz="1200" b="1" dirty="0">
                <a:solidFill>
                  <a:schemeClr val="dk1"/>
                </a:solidFill>
                <a:latin typeface="Arial"/>
                <a:ea typeface="Arial"/>
                <a:cs typeface="Arial"/>
                <a:sym typeface="Arial"/>
              </a:rPr>
              <a:t>Talk Track:</a:t>
            </a:r>
          </a:p>
          <a:p>
            <a:r>
              <a:rPr lang="en-US" dirty="0"/>
              <a:t>When the transit gateway uses a centralized external connection, it runs on edge nodes.</a:t>
            </a:r>
            <a:br>
              <a:rPr lang="en-US" dirty="0"/>
            </a:br>
            <a:r>
              <a:rPr lang="en-US" dirty="0"/>
              <a:t>Through the centralized external connection, the transit gateway attaches to a Tier-0 gateway, which provides access to the physical network.</a:t>
            </a:r>
          </a:p>
          <a:p>
            <a:r>
              <a:rPr lang="en-US" dirty="0"/>
              <a:t>&lt;click&gt;</a:t>
            </a:r>
          </a:p>
          <a:p>
            <a:r>
              <a:rPr lang="en-US" dirty="0"/>
              <a:t>As a result, all traffic entering or leaving the VCF virtual network, what we call North/South traffic, must go through the edge nodes.</a:t>
            </a:r>
            <a:br>
              <a:rPr lang="en-US" dirty="0"/>
            </a:br>
            <a:r>
              <a:rPr lang="en-US" dirty="0"/>
              <a:t>The edge nodes also run all centralized services, so they must be sized correctly for both traffic load and service requirements.</a:t>
            </a:r>
          </a:p>
          <a:p>
            <a:r>
              <a:rPr lang="en-US" dirty="0"/>
              <a:t>&lt;click&gt;</a:t>
            </a:r>
          </a:p>
          <a:p>
            <a:r>
              <a:rPr lang="en-US" dirty="0"/>
              <a:t>The VPC gateway is distributed across the hosts and the edge nodes.</a:t>
            </a:r>
            <a:br>
              <a:rPr lang="en-US" dirty="0"/>
            </a:br>
            <a:r>
              <a:rPr lang="en-US" dirty="0"/>
              <a:t>Traffic between workloads inside VCF does not necessarily need to go through the edge nodes.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lvl="0" indent="0" algn="l" rtl="0">
              <a:spcBef>
                <a:spcPts val="0"/>
              </a:spcBef>
              <a:spcAft>
                <a:spcPts val="0"/>
              </a:spcAft>
              <a:buNone/>
            </a:pPr>
            <a:r>
              <a:rPr lang="en-US" b="1" dirty="0"/>
              <a:t>Notes:</a:t>
            </a:r>
            <a:br>
              <a:rPr lang="en-US" dirty="0"/>
            </a:br>
            <a:endParaRPr lang="en-US" dirty="0"/>
          </a:p>
          <a:p>
            <a:pPr marL="0" indent="0">
              <a:buFont typeface="Arial" panose="020B0604020202020204" pitchFamily="34" charset="0"/>
              <a:buNone/>
            </a:pPr>
            <a:r>
              <a:rPr lang="en-US" b="1" dirty="0"/>
              <a:t>Resources:</a:t>
            </a:r>
            <a:br>
              <a:rPr lang="en-US" dirty="0"/>
            </a:br>
            <a:endParaRPr lang="en-US" dirty="0"/>
          </a:p>
          <a:p>
            <a:endParaRPr lang="en-US" dirty="0"/>
          </a:p>
        </p:txBody>
      </p:sp>
      <p:sp>
        <p:nvSpPr>
          <p:cNvPr id="4" name="Slide Number Placeholder 3">
            <a:extLst>
              <a:ext uri="{FF2B5EF4-FFF2-40B4-BE49-F238E27FC236}">
                <a16:creationId xmlns:a16="http://schemas.microsoft.com/office/drawing/2014/main" id="{F5E1D376-02DA-A781-679A-45DB695F908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35875406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EBB908-5A3A-4A34-AC75-1BFB85CED1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1D8B91-0C9D-3D47-741B-88D5E7829A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7E320B2-EF4B-20F3-52EB-D2A35587D427}"/>
              </a:ext>
            </a:extLst>
          </p:cNvPr>
          <p:cNvSpPr>
            <a:spLocks noGrp="1"/>
          </p:cNvSpPr>
          <p:nvPr>
            <p:ph type="body" idx="1"/>
          </p:nvPr>
        </p:nvSpPr>
        <p:spPr/>
        <p:txBody>
          <a:bodyPr>
            <a:normAutofit fontScale="92500" lnSpcReduction="10000"/>
          </a:bodyPr>
          <a:lstStyle/>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Key Message:</a:t>
            </a:r>
            <a:endParaRPr lang="en-US" sz="1200" b="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b="0" dirty="0"/>
              <a:t>VCF 9.0 simplifies VPC deployment by removing the need for NSX Edge appliances, allowing ESX hosts to route external traffic directly via a distributed external connection. </a:t>
            </a:r>
          </a:p>
          <a:p>
            <a:pPr marL="0" marR="0" lvl="0" indent="0" algn="l" rtl="0">
              <a:lnSpc>
                <a:spcPct val="100000"/>
              </a:lnSpc>
              <a:spcBef>
                <a:spcPts val="0"/>
              </a:spcBef>
              <a:spcAft>
                <a:spcPts val="0"/>
              </a:spcAft>
              <a:buClr>
                <a:schemeClr val="dk1"/>
              </a:buClr>
              <a:buSzPts val="1200"/>
              <a:buFont typeface="Arial"/>
              <a:buNone/>
            </a:pPr>
            <a:r>
              <a:rPr lang="en-US" b="0" dirty="0"/>
              <a:t>This reduces complexity </a:t>
            </a:r>
          </a:p>
          <a:p>
            <a:pPr marL="0" marR="0" lvl="0" indent="0" algn="l" rtl="0">
              <a:lnSpc>
                <a:spcPct val="100000"/>
              </a:lnSpc>
              <a:spcBef>
                <a:spcPts val="0"/>
              </a:spcBef>
              <a:spcAft>
                <a:spcPts val="0"/>
              </a:spcAft>
              <a:buClr>
                <a:schemeClr val="dk1"/>
              </a:buClr>
              <a:buSzPts val="1200"/>
              <a:buFont typeface="Arial"/>
              <a:buNone/>
            </a:pPr>
            <a:endParaRPr lang="en-US" sz="1200" b="0"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Talk Track:</a:t>
            </a:r>
          </a:p>
          <a:p>
            <a:r>
              <a:rPr lang="en-US" dirty="0"/>
              <a:t>With the distributed external connection, the NSX Edge becomes optional.</a:t>
            </a:r>
          </a:p>
          <a:p>
            <a:r>
              <a:rPr lang="en-US" dirty="0"/>
              <a:t>In this model, the transit gateway connects directly to the physical network. </a:t>
            </a:r>
          </a:p>
          <a:p>
            <a:r>
              <a:rPr lang="en-US" dirty="0"/>
              <a:t>The key requirement, which is a new constraint,  is that all ESX hosts must be connected to the same physical VLAN. </a:t>
            </a:r>
          </a:p>
          <a:p>
            <a:r>
              <a:rPr lang="en-US" b="1" dirty="0"/>
              <a:t>&lt;click&gt;</a:t>
            </a:r>
          </a:p>
          <a:p>
            <a:r>
              <a:rPr lang="en-US" dirty="0"/>
              <a:t>A major benefit is that north/south traffic is distributed across the hosts. </a:t>
            </a:r>
          </a:p>
          <a:p>
            <a:r>
              <a:rPr lang="en-US" dirty="0"/>
              <a:t>This improves performance and lowers latency.</a:t>
            </a:r>
          </a:p>
          <a:p>
            <a:r>
              <a:rPr lang="en-US" dirty="0"/>
              <a:t>The design is also simpler. </a:t>
            </a:r>
          </a:p>
          <a:p>
            <a:r>
              <a:rPr lang="en-US" dirty="0"/>
              <a:t>There is no need to deploy NSX Edges or configure routing protocols on them.</a:t>
            </a:r>
          </a:p>
          <a:p>
            <a:r>
              <a:rPr lang="en-US" b="1" dirty="0"/>
              <a:t>&lt;click&gt;</a:t>
            </a:r>
          </a:p>
          <a:p>
            <a:r>
              <a:rPr lang="en-US" dirty="0"/>
              <a:t>When centralized services are required, they can run on virtual network appliances. </a:t>
            </a:r>
          </a:p>
          <a:p>
            <a:r>
              <a:rPr lang="en-US" dirty="0"/>
              <a:t>The VNAs are easy to deploy because they do not require TEP connectivity or routing protocol setup. </a:t>
            </a:r>
          </a:p>
          <a:p>
            <a:r>
              <a:rPr lang="en-US" b="1" dirty="0"/>
              <a:t>&lt;click&gt;</a:t>
            </a:r>
          </a:p>
          <a:p>
            <a:r>
              <a:rPr lang="en-US" dirty="0"/>
              <a:t>Also, only the traffic that needs stateful services is directed to the VNA. </a:t>
            </a:r>
          </a:p>
          <a:p>
            <a:r>
              <a:rPr lang="en-US" dirty="0"/>
              <a:t>All other traffic can go directly to the physical network through the transit gateway uplink connected to the VLAN.</a:t>
            </a:r>
          </a:p>
          <a:p>
            <a:r>
              <a:rPr lang="en-US" b="1" dirty="0"/>
              <a:t>&lt;click&gt;</a:t>
            </a:r>
          </a:p>
          <a:p>
            <a:r>
              <a:rPr lang="en-US" dirty="0"/>
              <a:t>Finally, as in the previous model, traffic between VCF workloads stays tunneled between hosts. It does not need to leave the VCF environment through the VLAN uplinks.</a:t>
            </a:r>
          </a:p>
          <a:p>
            <a:pPr marL="0" lvl="0" indent="0" algn="l" rtl="0">
              <a:spcBef>
                <a:spcPts val="0"/>
              </a:spcBef>
              <a:spcAft>
                <a:spcPts val="0"/>
              </a:spcAft>
              <a:buNone/>
            </a:pPr>
            <a:endParaRPr lang="en-US" dirty="0"/>
          </a:p>
          <a:p>
            <a:pPr marL="0" lvl="0" indent="0" algn="l" rtl="0">
              <a:spcBef>
                <a:spcPts val="0"/>
              </a:spcBef>
              <a:spcAft>
                <a:spcPts val="0"/>
              </a:spcAft>
              <a:buNone/>
            </a:pPr>
            <a:r>
              <a:rPr lang="en-US" b="1" dirty="0"/>
              <a:t>Notes:</a:t>
            </a:r>
            <a:br>
              <a:rPr lang="en-US" dirty="0"/>
            </a:br>
            <a:endParaRPr lang="en-US" dirty="0"/>
          </a:p>
          <a:p>
            <a:pPr marL="0" indent="0">
              <a:buFont typeface="Arial" panose="020B0604020202020204" pitchFamily="34" charset="0"/>
              <a:buNone/>
            </a:pPr>
            <a:r>
              <a:rPr lang="en-US" b="1" dirty="0"/>
              <a:t>Resources:</a:t>
            </a:r>
            <a:br>
              <a:rPr lang="en-US" dirty="0"/>
            </a:br>
            <a:endParaRPr lang="en-US" dirty="0"/>
          </a:p>
        </p:txBody>
      </p:sp>
      <p:sp>
        <p:nvSpPr>
          <p:cNvPr id="4" name="Slide Number Placeholder 3">
            <a:extLst>
              <a:ext uri="{FF2B5EF4-FFF2-40B4-BE49-F238E27FC236}">
                <a16:creationId xmlns:a16="http://schemas.microsoft.com/office/drawing/2014/main" id="{89ECD487-CC56-C2C7-7705-71D53DF4CF9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4182385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892357-4CA9-DE67-A10E-6A973B8098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7EA29E-27A7-61EA-ED7F-634D273BCD1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5DD9A0-FF15-0269-5387-956C41F0B36D}"/>
              </a:ext>
            </a:extLst>
          </p:cNvPr>
          <p:cNvSpPr>
            <a:spLocks noGrp="1"/>
          </p:cNvSpPr>
          <p:nvPr>
            <p:ph type="body" idx="1"/>
          </p:nvPr>
        </p:nvSpPr>
        <p:spPr/>
        <p:txBody>
          <a:bodyPr>
            <a:normAutofit/>
          </a:bodyPr>
          <a:lstStyle/>
          <a:p>
            <a:pPr marL="0" marR="0" lvl="0" indent="0" algn="l" rtl="0">
              <a:lnSpc>
                <a:spcPct val="100000"/>
              </a:lnSpc>
              <a:spcBef>
                <a:spcPts val="0"/>
              </a:spcBef>
              <a:spcAft>
                <a:spcPts val="0"/>
              </a:spcAft>
              <a:buClr>
                <a:schemeClr val="dk1"/>
              </a:buClr>
              <a:buSzPts val="1200"/>
              <a:buFont typeface="Arial"/>
              <a:buNone/>
            </a:pPr>
            <a:r>
              <a:rPr lang="en-US" sz="1200" b="1" dirty="0">
                <a:solidFill>
                  <a:schemeClr val="dk1"/>
                </a:solidFill>
                <a:latin typeface="Arial"/>
                <a:ea typeface="Arial"/>
                <a:cs typeface="Arial"/>
                <a:sym typeface="Arial"/>
              </a:rPr>
              <a:t>Key Message:</a:t>
            </a:r>
            <a:endParaRPr lang="en-US" sz="1200" b="0" dirty="0">
              <a:solidFill>
                <a:schemeClr val="dk1"/>
              </a:solidFill>
              <a:latin typeface="Arial"/>
              <a:ea typeface="Arial"/>
              <a:cs typeface="Arial"/>
              <a:sym typeface="Arial"/>
            </a:endParaRPr>
          </a:p>
          <a:p>
            <a:pPr marL="0" lvl="0" indent="0" algn="l" rtl="0">
              <a:spcBef>
                <a:spcPts val="0"/>
              </a:spcBef>
              <a:spcAft>
                <a:spcPts val="0"/>
              </a:spcAft>
              <a:buNone/>
            </a:pPr>
            <a:r>
              <a:rPr lang="en-US" dirty="0"/>
              <a:t>VCF 9.1 adds a VXLAN external connectivity option for EVPN/VXLAN fabrics. No edge, no need for connecting ESX hosts directly to a VLAN.</a:t>
            </a:r>
          </a:p>
          <a:p>
            <a:pPr marL="0" lvl="0" indent="0" algn="l" rtl="0">
              <a:spcBef>
                <a:spcPts val="0"/>
              </a:spcBef>
              <a:spcAft>
                <a:spcPts val="0"/>
              </a:spcAft>
              <a:buNone/>
            </a:pPr>
            <a:r>
              <a:rPr lang="en-US" dirty="0"/>
              <a:t>Be careful that VNA support has no been delivered yet. </a:t>
            </a:r>
          </a:p>
          <a:p>
            <a:pPr marL="0" lvl="0" indent="0" algn="l" rtl="0">
              <a:spcBef>
                <a:spcPts val="0"/>
              </a:spcBef>
              <a:spcAft>
                <a:spcPts val="0"/>
              </a:spcAft>
              <a:buNone/>
            </a:pPr>
            <a:br>
              <a:rPr lang="en-US" sz="1200" b="0" dirty="0">
                <a:solidFill>
                  <a:schemeClr val="dk1"/>
                </a:solidFill>
                <a:latin typeface="Arial"/>
                <a:ea typeface="Arial"/>
                <a:cs typeface="Arial"/>
                <a:sym typeface="Arial"/>
              </a:rPr>
            </a:br>
            <a:r>
              <a:rPr lang="en-US" sz="1200" b="1" dirty="0">
                <a:solidFill>
                  <a:schemeClr val="dk1"/>
                </a:solidFill>
                <a:latin typeface="Arial"/>
                <a:ea typeface="Arial"/>
                <a:cs typeface="Arial"/>
                <a:sym typeface="Arial"/>
              </a:rPr>
              <a:t>Talk Track:</a:t>
            </a:r>
          </a:p>
          <a:p>
            <a:r>
              <a:rPr lang="en-US" dirty="0"/>
              <a:t>VCF 9.1 adds a new VXLAN external connectivity option for environments using an EVPN/VXLAN fabric.</a:t>
            </a:r>
          </a:p>
          <a:p>
            <a:r>
              <a:rPr lang="en-US" dirty="0"/>
              <a:t>With this model, transit gateways communicate directly to the EVPN gateways in the physical network using VXLAN.</a:t>
            </a:r>
          </a:p>
          <a:p>
            <a:r>
              <a:rPr lang="en-US" dirty="0"/>
              <a:t>Like the other distributed model, it does not require NSX Edges. But it also removes the need to place all ESX hosts on the same VLAN.</a:t>
            </a:r>
          </a:p>
          <a:p>
            <a:r>
              <a:rPr lang="en-US" b="1" dirty="0"/>
              <a:t>&lt;click&gt;</a:t>
            </a:r>
          </a:p>
          <a:p>
            <a:r>
              <a:rPr lang="en-US" dirty="0"/>
              <a:t>A route controller is needed to handle control-plane coordination with the EVPN gateways.</a:t>
            </a:r>
          </a:p>
          <a:p>
            <a:r>
              <a:rPr lang="en-US" dirty="0"/>
              <a:t>The key point is that, unlike a Tier-0 gateway, the route controller is not in the traffic path. It only supports the control plane, so it does not need to scale based on data traffic.</a:t>
            </a:r>
          </a:p>
          <a:p>
            <a:pPr marL="0" lvl="0" indent="0" algn="l" rtl="0">
              <a:spcBef>
                <a:spcPts val="0"/>
              </a:spcBef>
              <a:spcAft>
                <a:spcPts val="0"/>
              </a:spcAft>
              <a:buNone/>
            </a:pPr>
            <a:endParaRPr lang="en-US" dirty="0"/>
          </a:p>
          <a:p>
            <a:pPr marL="0" lvl="0" indent="0" algn="l" rtl="0">
              <a:spcBef>
                <a:spcPts val="0"/>
              </a:spcBef>
              <a:spcAft>
                <a:spcPts val="0"/>
              </a:spcAft>
              <a:buNone/>
            </a:pPr>
            <a:r>
              <a:rPr lang="en-US" b="1" dirty="0"/>
              <a:t>Notes:</a:t>
            </a:r>
          </a:p>
          <a:p>
            <a:pPr marL="0" lvl="0" indent="0" algn="l" rtl="0">
              <a:spcBef>
                <a:spcPts val="0"/>
              </a:spcBef>
              <a:spcAft>
                <a:spcPts val="0"/>
              </a:spcAft>
              <a:buNone/>
            </a:pPr>
            <a:r>
              <a:rPr lang="en-US" b="0" dirty="0"/>
              <a:t>VNAs are not yet available for the VXLAN external connection. They should be available in a maintenance release (9.1.1 potentially) but until then, there’s no centralized services possible with this model.</a:t>
            </a:r>
            <a:br>
              <a:rPr lang="en-US" dirty="0"/>
            </a:br>
            <a:endParaRPr lang="en-US" dirty="0"/>
          </a:p>
          <a:p>
            <a:pPr marL="0" indent="0">
              <a:buFont typeface="Arial" panose="020B0604020202020204" pitchFamily="34" charset="0"/>
              <a:buNone/>
            </a:pPr>
            <a:r>
              <a:rPr lang="en-US" b="1" dirty="0"/>
              <a:t>Resources:</a:t>
            </a:r>
            <a:br>
              <a:rPr lang="en-US" dirty="0"/>
            </a:br>
            <a:endParaRPr lang="en-US" dirty="0"/>
          </a:p>
        </p:txBody>
      </p:sp>
      <p:sp>
        <p:nvSpPr>
          <p:cNvPr id="4" name="Slide Number Placeholder 3">
            <a:extLst>
              <a:ext uri="{FF2B5EF4-FFF2-40B4-BE49-F238E27FC236}">
                <a16:creationId xmlns:a16="http://schemas.microsoft.com/office/drawing/2014/main" id="{89CF0D02-D1D2-E762-1423-3F01A9EE7DC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69988610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35"/>
        <p:cNvGrpSpPr/>
        <p:nvPr/>
      </p:nvGrpSpPr>
      <p:grpSpPr>
        <a:xfrm>
          <a:off x="0" y="0"/>
          <a:ext cx="0" cy="0"/>
          <a:chOff x="0" y="0"/>
          <a:chExt cx="0" cy="0"/>
        </a:xfrm>
      </p:grpSpPr>
      <p:sp>
        <p:nvSpPr>
          <p:cNvPr id="14236" name="Google Shape;14236;p69: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237" name="Google Shape;14237;p69: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Clr>
                <a:schemeClr val="dk1"/>
              </a:buClr>
              <a:buSzPts val="1200"/>
              <a:buFont typeface="Arial"/>
              <a:buNone/>
            </a:pPr>
            <a:r>
              <a:rPr lang="en-US" sz="1200" u="none" strike="noStrike">
                <a:solidFill>
                  <a:schemeClr val="dk1"/>
                </a:solidFill>
                <a:latin typeface="Arial"/>
                <a:ea typeface="Arial"/>
                <a:cs typeface="Arial"/>
                <a:sym typeface="Arial"/>
              </a:rPr>
              <a:t>Key Message:</a:t>
            </a:r>
            <a:endParaRPr/>
          </a:p>
          <a:p>
            <a:pPr marL="0" lvl="0" indent="0" algn="l" rtl="0">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u="none" strike="noStrike">
                <a:solidFill>
                  <a:schemeClr val="dk1"/>
                </a:solidFill>
                <a:latin typeface="Arial"/>
                <a:ea typeface="Arial"/>
                <a:cs typeface="Arial"/>
                <a:sym typeface="Arial"/>
              </a:rPr>
              <a:t>Talk Track:  </a:t>
            </a:r>
            <a:endParaRPr/>
          </a:p>
          <a:p>
            <a:pPr marL="0" lvl="0" indent="0" algn="l" rtl="0">
              <a:spcBef>
                <a:spcPts val="0"/>
              </a:spcBef>
              <a:spcAft>
                <a:spcPts val="0"/>
              </a:spcAft>
              <a:buClr>
                <a:schemeClr val="dk1"/>
              </a:buClr>
              <a:buSzPts val="1200"/>
              <a:buFont typeface="Arial"/>
              <a:buNone/>
            </a:pPr>
            <a:r>
              <a:rPr lang="en-US" sz="1200" u="none" strike="noStrike">
                <a:solidFill>
                  <a:schemeClr val="dk1"/>
                </a:solidFill>
                <a:latin typeface="Arial"/>
                <a:ea typeface="Arial"/>
                <a:cs typeface="Arial"/>
                <a:sym typeface="Arial"/>
              </a:rPr>
              <a:t>Next, we look at workload migration and some of the enhancements we’ve made to HCX.</a:t>
            </a:r>
            <a:endParaRPr sz="120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a:latin typeface="Arial"/>
                <a:ea typeface="Arial"/>
                <a:cs typeface="Arial"/>
                <a:sym typeface="Arial"/>
              </a:rPr>
              <a:t>Notes:</a:t>
            </a:r>
            <a:endParaRPr/>
          </a:p>
          <a:p>
            <a:pPr marL="0" marR="0" lvl="0" indent="0" algn="l" rtl="0">
              <a:lnSpc>
                <a:spcPct val="10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a:latin typeface="Arial"/>
                <a:ea typeface="Arial"/>
                <a:cs typeface="Arial"/>
                <a:sym typeface="Arial"/>
              </a:rPr>
              <a:t>Resources:</a:t>
            </a:r>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4238" name="Google Shape;14238;p69: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49</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43"/>
        <p:cNvGrpSpPr/>
        <p:nvPr/>
      </p:nvGrpSpPr>
      <p:grpSpPr>
        <a:xfrm>
          <a:off x="0" y="0"/>
          <a:ext cx="0" cy="0"/>
          <a:chOff x="0" y="0"/>
          <a:chExt cx="0" cy="0"/>
        </a:xfrm>
      </p:grpSpPr>
      <p:sp>
        <p:nvSpPr>
          <p:cNvPr id="14244" name="Google Shape;14244;p70: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245" name="Google Shape;14245;p70: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80000"/>
              </a:lnSpc>
              <a:spcBef>
                <a:spcPts val="0"/>
              </a:spcBef>
              <a:spcAft>
                <a:spcPts val="0"/>
              </a:spcAft>
              <a:buClr>
                <a:schemeClr val="dk1"/>
              </a:buClr>
              <a:buSzPts val="1110"/>
              <a:buFont typeface="Arial"/>
              <a:buNone/>
            </a:pPr>
            <a:r>
              <a:rPr lang="en-US" sz="1110" b="1">
                <a:latin typeface="Arial"/>
                <a:ea typeface="Arial"/>
                <a:cs typeface="Arial"/>
                <a:sym typeface="Arial"/>
              </a:rPr>
              <a:t>Presenter note: This slide contains animation</a:t>
            </a:r>
            <a:endParaRPr sz="1110" b="1">
              <a:latin typeface="Arial"/>
              <a:ea typeface="Arial"/>
              <a:cs typeface="Arial"/>
              <a:sym typeface="Arial"/>
            </a:endParaRPr>
          </a:p>
          <a:p>
            <a:pPr marL="0" marR="0" lvl="0" indent="0" algn="l" rtl="0">
              <a:lnSpc>
                <a:spcPct val="80000"/>
              </a:lnSpc>
              <a:spcBef>
                <a:spcPts val="0"/>
              </a:spcBef>
              <a:spcAft>
                <a:spcPts val="0"/>
              </a:spcAft>
              <a:buClr>
                <a:schemeClr val="dk1"/>
              </a:buClr>
              <a:buSzPts val="1110"/>
              <a:buFont typeface="Arial"/>
              <a:buNone/>
            </a:pPr>
            <a:endParaRPr sz="1110" b="1">
              <a:latin typeface="Arial"/>
              <a:ea typeface="Arial"/>
              <a:cs typeface="Arial"/>
              <a:sym typeface="Arial"/>
            </a:endParaRPr>
          </a:p>
          <a:p>
            <a:pPr marL="0" marR="0" lvl="0" indent="0" algn="l" rtl="0">
              <a:lnSpc>
                <a:spcPct val="80000"/>
              </a:lnSpc>
              <a:spcBef>
                <a:spcPts val="0"/>
              </a:spcBef>
              <a:spcAft>
                <a:spcPts val="0"/>
              </a:spcAft>
              <a:buClr>
                <a:schemeClr val="dk1"/>
              </a:buClr>
              <a:buSzPts val="1110"/>
              <a:buFont typeface="Arial"/>
              <a:buNone/>
            </a:pPr>
            <a:r>
              <a:rPr lang="en-US" sz="1110" b="1">
                <a:latin typeface="Arial"/>
                <a:ea typeface="Arial"/>
                <a:cs typeface="Arial"/>
                <a:sym typeface="Arial"/>
              </a:rPr>
              <a:t>Key Message:</a:t>
            </a:r>
            <a:endParaRPr sz="1110" b="1">
              <a:latin typeface="Arial"/>
              <a:ea typeface="Arial"/>
              <a:cs typeface="Arial"/>
              <a:sym typeface="Arial"/>
            </a:endParaRPr>
          </a:p>
          <a:p>
            <a:pPr marL="0" marR="0" lvl="0" indent="0" algn="l" rtl="0">
              <a:lnSpc>
                <a:spcPct val="80000"/>
              </a:lnSpc>
              <a:spcBef>
                <a:spcPts val="0"/>
              </a:spcBef>
              <a:spcAft>
                <a:spcPts val="0"/>
              </a:spcAft>
              <a:buClr>
                <a:schemeClr val="dk1"/>
              </a:buClr>
              <a:buSzPts val="1110"/>
              <a:buFont typeface="Arial"/>
              <a:buNone/>
            </a:pPr>
            <a:r>
              <a:rPr lang="en-US" sz="1110">
                <a:latin typeface="Arial"/>
                <a:ea typeface="Arial"/>
                <a:cs typeface="Arial"/>
                <a:sym typeface="Arial"/>
              </a:rPr>
              <a:t>HCX provides both Networking and Migration Types for an end-to-end migration.</a:t>
            </a:r>
            <a:endParaRPr>
              <a:latin typeface="Arial"/>
              <a:ea typeface="Arial"/>
              <a:cs typeface="Arial"/>
              <a:sym typeface="Arial"/>
            </a:endParaRPr>
          </a:p>
          <a:p>
            <a:pPr marL="0" marR="0" lvl="0" indent="0" algn="l" rtl="0">
              <a:lnSpc>
                <a:spcPct val="80000"/>
              </a:lnSpc>
              <a:spcBef>
                <a:spcPts val="0"/>
              </a:spcBef>
              <a:spcAft>
                <a:spcPts val="0"/>
              </a:spcAft>
              <a:buClr>
                <a:schemeClr val="dk1"/>
              </a:buClr>
              <a:buSzPts val="1110"/>
              <a:buFont typeface="Arial"/>
              <a:buNone/>
            </a:pPr>
            <a:endParaRPr sz="1110">
              <a:latin typeface="Arial"/>
              <a:ea typeface="Arial"/>
              <a:cs typeface="Arial"/>
              <a:sym typeface="Arial"/>
            </a:endParaRPr>
          </a:p>
          <a:p>
            <a:pPr marL="0" marR="0" lvl="0" indent="0" algn="l" rtl="0">
              <a:lnSpc>
                <a:spcPct val="80000"/>
              </a:lnSpc>
              <a:spcBef>
                <a:spcPts val="0"/>
              </a:spcBef>
              <a:spcAft>
                <a:spcPts val="0"/>
              </a:spcAft>
              <a:buClr>
                <a:schemeClr val="dk1"/>
              </a:buClr>
              <a:buSzPts val="1110"/>
              <a:buFont typeface="Arial"/>
              <a:buNone/>
            </a:pPr>
            <a:r>
              <a:rPr lang="en-US" sz="1110" b="1">
                <a:latin typeface="Arial"/>
                <a:ea typeface="Arial"/>
                <a:cs typeface="Arial"/>
                <a:sym typeface="Arial"/>
              </a:rPr>
              <a:t>Talk Track: </a:t>
            </a:r>
            <a:endParaRPr sz="1110" b="1">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r>
              <a:rPr lang="en-US" sz="1110">
                <a:latin typeface="Arial"/>
                <a:ea typeface="Arial"/>
                <a:cs typeface="Arial"/>
                <a:sym typeface="Arial"/>
              </a:rPr>
              <a:t>VMware HCX is the solution that’s build ground up for Workload migration and mobility.</a:t>
            </a:r>
            <a:endParaRPr>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r>
              <a:rPr lang="en-US" sz="1110">
                <a:latin typeface="Arial"/>
                <a:ea typeface="Arial"/>
                <a:cs typeface="Arial"/>
                <a:sym typeface="Arial"/>
              </a:rPr>
              <a:t>We achieve this by providing 2 pillars: HCX Networking and HCX Migration Types.</a:t>
            </a:r>
            <a:endParaRPr>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r>
              <a:rPr lang="en-US" sz="1110">
                <a:latin typeface="Arial"/>
                <a:ea typeface="Arial"/>
                <a:cs typeface="Arial"/>
                <a:sym typeface="Arial"/>
              </a:rPr>
              <a:t> </a:t>
            </a:r>
            <a:endParaRPr sz="1110">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r>
              <a:rPr lang="en-US" sz="1110">
                <a:latin typeface="Arial"/>
                <a:ea typeface="Arial"/>
                <a:cs typeface="Arial"/>
                <a:sym typeface="Arial"/>
              </a:rPr>
              <a:t>First HCX automatically builds a secure, fast, and robust networking pipeline between the sites. </a:t>
            </a:r>
            <a:endParaRPr>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r>
              <a:rPr lang="en-US" sz="1110">
                <a:latin typeface="Arial"/>
                <a:ea typeface="Arial"/>
                <a:cs typeface="Arial"/>
                <a:sym typeface="Arial"/>
              </a:rPr>
              <a:t>HCX also allows customer to add other optional capabilities like L2 Extension, Encryption, Traffic Engineering, Mobility Optimization Networking (MON), etc.</a:t>
            </a:r>
            <a:endParaRPr>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endParaRPr sz="1110">
              <a:latin typeface="Arial"/>
              <a:ea typeface="Arial"/>
              <a:cs typeface="Arial"/>
              <a:sym typeface="Arial"/>
            </a:endParaRPr>
          </a:p>
          <a:p>
            <a:pPr marL="0" lvl="0" indent="0" algn="l" rtl="0">
              <a:lnSpc>
                <a:spcPct val="80000"/>
              </a:lnSpc>
              <a:spcBef>
                <a:spcPts val="0"/>
              </a:spcBef>
              <a:spcAft>
                <a:spcPts val="0"/>
              </a:spcAft>
              <a:buClr>
                <a:schemeClr val="dk1"/>
              </a:buClr>
              <a:buSzPts val="1200"/>
              <a:buFont typeface="Arial"/>
              <a:buNone/>
            </a:pPr>
            <a:r>
              <a:rPr lang="en-US" sz="1110">
                <a:latin typeface="Arial"/>
                <a:ea typeface="Arial"/>
                <a:cs typeface="Arial"/>
                <a:sym typeface="Arial"/>
              </a:rPr>
              <a:t>On top of that HCX gives customer option on using different Migrations Types that suited the customer use case. </a:t>
            </a:r>
            <a:r>
              <a:rPr lang="en-US" sz="1665">
                <a:latin typeface="Arial"/>
                <a:ea typeface="Arial"/>
                <a:cs typeface="Arial"/>
                <a:sym typeface="Arial"/>
              </a:rPr>
              <a:t>We will go over these migration types in details in following slides</a:t>
            </a:r>
            <a:endParaRPr/>
          </a:p>
          <a:p>
            <a:pPr marL="0" lvl="0" indent="0" algn="l" rtl="0">
              <a:lnSpc>
                <a:spcPct val="80000"/>
              </a:lnSpc>
              <a:spcBef>
                <a:spcPts val="0"/>
              </a:spcBef>
              <a:spcAft>
                <a:spcPts val="0"/>
              </a:spcAft>
              <a:buClr>
                <a:schemeClr val="dk1"/>
              </a:buClr>
              <a:buSzPts val="1200"/>
              <a:buFont typeface="Arial"/>
              <a:buNone/>
            </a:pPr>
            <a:endParaRPr sz="1665">
              <a:latin typeface="Arial"/>
              <a:ea typeface="Arial"/>
              <a:cs typeface="Arial"/>
              <a:sym typeface="Arial"/>
            </a:endParaRPr>
          </a:p>
          <a:p>
            <a:pPr marL="0" marR="0" lvl="0" indent="0" algn="l" rtl="0">
              <a:lnSpc>
                <a:spcPct val="100000"/>
              </a:lnSpc>
              <a:spcBef>
                <a:spcPts val="0"/>
              </a:spcBef>
              <a:spcAft>
                <a:spcPts val="0"/>
              </a:spcAft>
              <a:buClr>
                <a:schemeClr val="dk1"/>
              </a:buClr>
              <a:buSzPts val="1100"/>
              <a:buFont typeface="Arial"/>
              <a:buNone/>
            </a:pPr>
            <a:r>
              <a:rPr lang="en-US" sz="1100" b="1">
                <a:latin typeface="Arial"/>
                <a:ea typeface="Arial"/>
                <a:cs typeface="Arial"/>
                <a:sym typeface="Arial"/>
              </a:rPr>
              <a:t>Notes:</a:t>
            </a:r>
            <a:endParaRPr/>
          </a:p>
          <a:p>
            <a:pPr marL="0" marR="0" lvl="0" indent="0" algn="l" rtl="0">
              <a:lnSpc>
                <a:spcPct val="100000"/>
              </a:lnSpc>
              <a:spcBef>
                <a:spcPts val="0"/>
              </a:spcBef>
              <a:spcAft>
                <a:spcPts val="0"/>
              </a:spcAft>
              <a:buClr>
                <a:schemeClr val="dk1"/>
              </a:buClr>
              <a:buSzPts val="1100"/>
              <a:buFont typeface="Arial"/>
              <a:buNone/>
            </a:pPr>
            <a:endParaRPr sz="1100" b="1">
              <a:latin typeface="Arial"/>
              <a:ea typeface="Arial"/>
              <a:cs typeface="Arial"/>
              <a:sym typeface="Arial"/>
            </a:endParaRPr>
          </a:p>
          <a:p>
            <a:pPr marL="0" marR="0" lvl="0" indent="0" algn="l" rtl="0">
              <a:lnSpc>
                <a:spcPct val="100000"/>
              </a:lnSpc>
              <a:spcBef>
                <a:spcPts val="0"/>
              </a:spcBef>
              <a:spcAft>
                <a:spcPts val="0"/>
              </a:spcAft>
              <a:buClr>
                <a:schemeClr val="dk1"/>
              </a:buClr>
              <a:buSzPts val="1100"/>
              <a:buFont typeface="Arial"/>
              <a:buNone/>
            </a:pPr>
            <a:r>
              <a:rPr lang="en-US" sz="1100" b="1">
                <a:latin typeface="Arial"/>
                <a:ea typeface="Arial"/>
                <a:cs typeface="Arial"/>
                <a:sym typeface="Arial"/>
              </a:rPr>
              <a:t>Resources:</a:t>
            </a:r>
            <a:endParaRPr/>
          </a:p>
          <a:p>
            <a:pPr marL="0" lvl="0" indent="0" algn="l" rtl="0">
              <a:lnSpc>
                <a:spcPct val="80000"/>
              </a:lnSpc>
              <a:spcBef>
                <a:spcPts val="0"/>
              </a:spcBef>
              <a:spcAft>
                <a:spcPts val="0"/>
              </a:spcAft>
              <a:buClr>
                <a:schemeClr val="dk1"/>
              </a:buClr>
              <a:buSzPts val="1200"/>
              <a:buFont typeface="Arial"/>
              <a:buNone/>
            </a:pPr>
            <a:endParaRPr sz="1110">
              <a:latin typeface="Arial"/>
              <a:ea typeface="Arial"/>
              <a:cs typeface="Arial"/>
              <a:sym typeface="Arial"/>
            </a:endParaRPr>
          </a:p>
        </p:txBody>
      </p:sp>
      <p:sp>
        <p:nvSpPr>
          <p:cNvPr id="14246" name="Google Shape;14246;p70: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50</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92"/>
        <p:cNvGrpSpPr/>
        <p:nvPr/>
      </p:nvGrpSpPr>
      <p:grpSpPr>
        <a:xfrm>
          <a:off x="0" y="0"/>
          <a:ext cx="0" cy="0"/>
          <a:chOff x="0" y="0"/>
          <a:chExt cx="0" cy="0"/>
        </a:xfrm>
      </p:grpSpPr>
      <p:sp>
        <p:nvSpPr>
          <p:cNvPr id="14393" name="Google Shape;14393;p71: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394" name="Google Shape;14394;p71: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90000"/>
              </a:lnSpc>
              <a:spcBef>
                <a:spcPts val="0"/>
              </a:spcBef>
              <a:spcAft>
                <a:spcPts val="0"/>
              </a:spcAft>
              <a:buClr>
                <a:schemeClr val="dk1"/>
              </a:buClr>
              <a:buSzPts val="900"/>
              <a:buFont typeface="Arial"/>
              <a:buNone/>
            </a:pPr>
            <a:r>
              <a:rPr lang="en-US" sz="900" b="1">
                <a:latin typeface="Arial"/>
                <a:ea typeface="Arial"/>
                <a:cs typeface="Arial"/>
                <a:sym typeface="Arial"/>
              </a:rPr>
              <a:t>Key Message:</a:t>
            </a:r>
            <a:endParaRPr/>
          </a:p>
          <a:p>
            <a:pPr marL="0" marR="0" lvl="0" indent="0" algn="l" rtl="0">
              <a:lnSpc>
                <a:spcPct val="90000"/>
              </a:lnSpc>
              <a:spcBef>
                <a:spcPts val="0"/>
              </a:spcBef>
              <a:spcAft>
                <a:spcPts val="0"/>
              </a:spcAft>
              <a:buClr>
                <a:schemeClr val="dk1"/>
              </a:buClr>
              <a:buSzPts val="900"/>
              <a:buFont typeface="Arial"/>
              <a:buNone/>
            </a:pPr>
            <a:r>
              <a:rPr lang="en-US" sz="900">
                <a:latin typeface="Arial"/>
                <a:ea typeface="Arial"/>
                <a:cs typeface="Arial"/>
                <a:sym typeface="Arial"/>
              </a:rPr>
              <a:t>HCX workload migration to VCF in a greenfield environment.</a:t>
            </a:r>
            <a:endParaRPr>
              <a:latin typeface="Arial"/>
              <a:ea typeface="Arial"/>
              <a:cs typeface="Arial"/>
              <a:sym typeface="Arial"/>
            </a:endParaRPr>
          </a:p>
          <a:p>
            <a:pPr marL="0" marR="0" lvl="0" indent="0" algn="l" rtl="0">
              <a:lnSpc>
                <a:spcPct val="90000"/>
              </a:lnSpc>
              <a:spcBef>
                <a:spcPts val="0"/>
              </a:spcBef>
              <a:spcAft>
                <a:spcPts val="0"/>
              </a:spcAft>
              <a:buClr>
                <a:schemeClr val="dk1"/>
              </a:buClr>
              <a:buSzPts val="900"/>
              <a:buFont typeface="Arial"/>
              <a:buNone/>
            </a:pPr>
            <a:endParaRPr sz="900">
              <a:latin typeface="Arial"/>
              <a:ea typeface="Arial"/>
              <a:cs typeface="Arial"/>
              <a:sym typeface="Arial"/>
            </a:endParaRPr>
          </a:p>
          <a:p>
            <a:pPr marL="0" marR="0" lvl="0" indent="0" algn="l" rtl="0">
              <a:lnSpc>
                <a:spcPct val="90000"/>
              </a:lnSpc>
              <a:spcBef>
                <a:spcPts val="0"/>
              </a:spcBef>
              <a:spcAft>
                <a:spcPts val="0"/>
              </a:spcAft>
              <a:buClr>
                <a:schemeClr val="dk1"/>
              </a:buClr>
              <a:buSzPts val="900"/>
              <a:buFont typeface="Arial"/>
              <a:buNone/>
            </a:pPr>
            <a:r>
              <a:rPr lang="en-US" sz="900" b="1">
                <a:latin typeface="Arial"/>
                <a:ea typeface="Arial"/>
                <a:cs typeface="Arial"/>
                <a:sym typeface="Arial"/>
              </a:rPr>
              <a:t>Talk Track: </a:t>
            </a:r>
            <a:endParaRPr b="1">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a:latin typeface="Arial"/>
                <a:ea typeface="Arial"/>
                <a:cs typeface="Arial"/>
                <a:sym typeface="Arial"/>
              </a:rPr>
              <a:t>On this slide we have provided multiple scenarios and HCX values for migration into a greenfield environment but let's talk about a common scenario in details.</a:t>
            </a:r>
            <a:endParaRPr>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a:latin typeface="Arial"/>
                <a:ea typeface="Arial"/>
                <a:cs typeface="Arial"/>
                <a:sym typeface="Arial"/>
              </a:rPr>
              <a:t> </a:t>
            </a:r>
            <a:endParaRPr>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a:latin typeface="Arial"/>
                <a:ea typeface="Arial"/>
                <a:cs typeface="Arial"/>
                <a:sym typeface="Arial"/>
              </a:rPr>
              <a:t>For example, we see a lot of customers moving to VCF private cloud during their hardware refresh cycles. During the hardware upgrade customer deploys the VCF on the brand-new hardware and can use HCX to migrate the workload from legacy side (all the way from vSphere 6.x) to the new VCF without any disruptions to the services. This migration can be done as Lift-&amp;-Shift approach where the entire Data Center migrate at once or, as a Wave migrations where certain application(s) or workloads from certain racks migrate first and others follow suit at different time, in that approach HCX can also provide L2 Extension so workloads can continue to communicate between sites, and nothing breaks. </a:t>
            </a:r>
            <a:endParaRPr>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a:latin typeface="Arial"/>
                <a:ea typeface="Arial"/>
                <a:cs typeface="Arial"/>
                <a:sym typeface="Arial"/>
              </a:rPr>
              <a:t> </a:t>
            </a:r>
            <a:endParaRPr>
              <a:latin typeface="Arial"/>
              <a:ea typeface="Arial"/>
              <a:cs typeface="Arial"/>
              <a:sym typeface="Arial"/>
            </a:endParaRPr>
          </a:p>
          <a:p>
            <a:pPr marL="0" marR="0" lvl="0" indent="0" algn="l" rtl="0">
              <a:lnSpc>
                <a:spcPct val="90000"/>
              </a:lnSpc>
              <a:spcBef>
                <a:spcPts val="0"/>
              </a:spcBef>
              <a:spcAft>
                <a:spcPts val="0"/>
              </a:spcAft>
              <a:buClr>
                <a:schemeClr val="dk1"/>
              </a:buClr>
              <a:buSzPts val="1200"/>
              <a:buFont typeface="Arial"/>
              <a:buNone/>
            </a:pPr>
            <a:r>
              <a:rPr lang="en-US" sz="1200">
                <a:latin typeface="Arial"/>
                <a:ea typeface="Arial"/>
                <a:cs typeface="Arial"/>
                <a:sym typeface="Arial"/>
              </a:rPr>
              <a:t>With both approaches HCX also provides capabilities to retain IP address and MAC address on the VM and can live migrate large amount of VMs simultaneously without the need of rebooting it. </a:t>
            </a:r>
            <a:endParaRPr>
              <a:latin typeface="Arial"/>
              <a:ea typeface="Arial"/>
              <a:cs typeface="Arial"/>
              <a:sym typeface="Arial"/>
            </a:endParaRPr>
          </a:p>
          <a:p>
            <a:pPr marL="0" lvl="0" indent="0" algn="l" rtl="0">
              <a:lnSpc>
                <a:spcPct val="90000"/>
              </a:lnSpc>
              <a:spcBef>
                <a:spcPts val="0"/>
              </a:spcBef>
              <a:spcAft>
                <a:spcPts val="0"/>
              </a:spcAft>
              <a:buClr>
                <a:schemeClr val="dk1"/>
              </a:buClr>
              <a:buSzPts val="1020"/>
              <a:buFont typeface="Arial"/>
              <a:buNone/>
            </a:pPr>
            <a:endParaRPr sz="900">
              <a:latin typeface="Arial"/>
              <a:ea typeface="Arial"/>
              <a:cs typeface="Arial"/>
              <a:sym typeface="Arial"/>
            </a:endParaRPr>
          </a:p>
          <a:p>
            <a:pPr marL="0" marR="0" lvl="0" indent="0" algn="l" rtl="0">
              <a:lnSpc>
                <a:spcPct val="100000"/>
              </a:lnSpc>
              <a:spcBef>
                <a:spcPts val="0"/>
              </a:spcBef>
              <a:spcAft>
                <a:spcPts val="0"/>
              </a:spcAft>
              <a:buClr>
                <a:schemeClr val="dk1"/>
              </a:buClr>
              <a:buSzPts val="900"/>
              <a:buFont typeface="Arial"/>
              <a:buNone/>
            </a:pPr>
            <a:r>
              <a:rPr lang="en-US" sz="900" b="1">
                <a:latin typeface="Arial"/>
                <a:ea typeface="Arial"/>
                <a:cs typeface="Arial"/>
                <a:sym typeface="Arial"/>
              </a:rPr>
              <a:t>Notes:</a:t>
            </a:r>
            <a:endParaRPr/>
          </a:p>
          <a:p>
            <a:pPr marL="0" marR="0" lvl="0" indent="0" algn="l" rtl="0">
              <a:lnSpc>
                <a:spcPct val="100000"/>
              </a:lnSpc>
              <a:spcBef>
                <a:spcPts val="0"/>
              </a:spcBef>
              <a:spcAft>
                <a:spcPts val="0"/>
              </a:spcAft>
              <a:buClr>
                <a:schemeClr val="dk1"/>
              </a:buClr>
              <a:buSzPts val="900"/>
              <a:buFont typeface="Arial"/>
              <a:buNone/>
            </a:pPr>
            <a:endParaRPr sz="900" b="1">
              <a:latin typeface="Arial"/>
              <a:ea typeface="Arial"/>
              <a:cs typeface="Arial"/>
              <a:sym typeface="Arial"/>
            </a:endParaRPr>
          </a:p>
          <a:p>
            <a:pPr marL="0" marR="0" lvl="0" indent="0" algn="l" rtl="0">
              <a:lnSpc>
                <a:spcPct val="100000"/>
              </a:lnSpc>
              <a:spcBef>
                <a:spcPts val="0"/>
              </a:spcBef>
              <a:spcAft>
                <a:spcPts val="0"/>
              </a:spcAft>
              <a:buClr>
                <a:schemeClr val="dk1"/>
              </a:buClr>
              <a:buSzPts val="900"/>
              <a:buFont typeface="Arial"/>
              <a:buNone/>
            </a:pPr>
            <a:r>
              <a:rPr lang="en-US" sz="900" b="1">
                <a:latin typeface="Arial"/>
                <a:ea typeface="Arial"/>
                <a:cs typeface="Arial"/>
                <a:sym typeface="Arial"/>
              </a:rPr>
              <a:t>Resources:</a:t>
            </a:r>
            <a:endParaRPr/>
          </a:p>
          <a:p>
            <a:pPr marL="0" lvl="0" indent="0" algn="l" rtl="0">
              <a:spcBef>
                <a:spcPts val="0"/>
              </a:spcBef>
              <a:spcAft>
                <a:spcPts val="0"/>
              </a:spcAft>
              <a:buNone/>
            </a:pPr>
            <a:endParaRPr/>
          </a:p>
        </p:txBody>
      </p:sp>
      <p:sp>
        <p:nvSpPr>
          <p:cNvPr id="14395" name="Google Shape;14395;p71: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51</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42"/>
        <p:cNvGrpSpPr/>
        <p:nvPr/>
      </p:nvGrpSpPr>
      <p:grpSpPr>
        <a:xfrm>
          <a:off x="0" y="0"/>
          <a:ext cx="0" cy="0"/>
          <a:chOff x="0" y="0"/>
          <a:chExt cx="0" cy="0"/>
        </a:xfrm>
      </p:grpSpPr>
      <p:sp>
        <p:nvSpPr>
          <p:cNvPr id="14443" name="Google Shape;14443;p72: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444" name="Google Shape;14444;p72: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80000"/>
              </a:lnSpc>
              <a:spcBef>
                <a:spcPts val="0"/>
              </a:spcBef>
              <a:spcAft>
                <a:spcPts val="0"/>
              </a:spcAft>
              <a:buClr>
                <a:schemeClr val="dk1"/>
              </a:buClr>
              <a:buSzPts val="1000"/>
              <a:buFont typeface="Arial"/>
              <a:buNone/>
            </a:pPr>
            <a:r>
              <a:rPr lang="en-US" sz="1000" b="1">
                <a:latin typeface="Arial"/>
                <a:ea typeface="Arial"/>
                <a:cs typeface="Arial"/>
                <a:sym typeface="Arial"/>
              </a:rPr>
              <a:t>Key Message:</a:t>
            </a:r>
            <a:endParaRPr/>
          </a:p>
          <a:p>
            <a:pPr marL="0" marR="0" lvl="0" indent="0" algn="l" rtl="0">
              <a:lnSpc>
                <a:spcPct val="80000"/>
              </a:lnSpc>
              <a:spcBef>
                <a:spcPts val="0"/>
              </a:spcBef>
              <a:spcAft>
                <a:spcPts val="0"/>
              </a:spcAft>
              <a:buClr>
                <a:schemeClr val="dk1"/>
              </a:buClr>
              <a:buSzPts val="1000"/>
              <a:buFont typeface="Arial"/>
              <a:buNone/>
            </a:pPr>
            <a:r>
              <a:rPr lang="en-US" sz="1000">
                <a:latin typeface="Arial"/>
                <a:ea typeface="Arial"/>
                <a:cs typeface="Arial"/>
                <a:sym typeface="Arial"/>
              </a:rPr>
              <a:t>HCX workload migration to VCF in a brownfield environment (within same vCenter – between clusters)</a:t>
            </a:r>
            <a:endParaRPr>
              <a:latin typeface="Arial"/>
              <a:ea typeface="Arial"/>
              <a:cs typeface="Arial"/>
              <a:sym typeface="Arial"/>
            </a:endParaRPr>
          </a:p>
          <a:p>
            <a:pPr marL="0" marR="0" lvl="0" indent="0" algn="l" rtl="0">
              <a:lnSpc>
                <a:spcPct val="80000"/>
              </a:lnSpc>
              <a:spcBef>
                <a:spcPts val="0"/>
              </a:spcBef>
              <a:spcAft>
                <a:spcPts val="0"/>
              </a:spcAft>
              <a:buClr>
                <a:schemeClr val="dk1"/>
              </a:buClr>
              <a:buSzPts val="800"/>
              <a:buFont typeface="Arial"/>
              <a:buNone/>
            </a:pPr>
            <a:endParaRPr sz="800">
              <a:latin typeface="Arial"/>
              <a:ea typeface="Arial"/>
              <a:cs typeface="Arial"/>
              <a:sym typeface="Arial"/>
            </a:endParaRPr>
          </a:p>
          <a:p>
            <a:pPr marL="0" marR="0" lvl="0" indent="0" algn="l" rtl="0">
              <a:lnSpc>
                <a:spcPct val="80000"/>
              </a:lnSpc>
              <a:spcBef>
                <a:spcPts val="0"/>
              </a:spcBef>
              <a:spcAft>
                <a:spcPts val="0"/>
              </a:spcAft>
              <a:buClr>
                <a:schemeClr val="dk1"/>
              </a:buClr>
              <a:buSzPts val="800"/>
              <a:buFont typeface="Arial"/>
              <a:buNone/>
            </a:pPr>
            <a:r>
              <a:rPr lang="en-US" sz="800" b="1">
                <a:latin typeface="Arial"/>
                <a:ea typeface="Arial"/>
                <a:cs typeface="Arial"/>
                <a:sym typeface="Arial"/>
              </a:rPr>
              <a:t>Talk Track: </a:t>
            </a:r>
            <a:endParaRPr b="1">
              <a:latin typeface="Arial"/>
              <a:ea typeface="Arial"/>
              <a:cs typeface="Arial"/>
              <a:sym typeface="Arial"/>
            </a:endParaRPr>
          </a:p>
          <a:p>
            <a:pPr marL="0" marR="0" lvl="0" indent="0" algn="l" rtl="0">
              <a:lnSpc>
                <a:spcPct val="80000"/>
              </a:lnSpc>
              <a:spcBef>
                <a:spcPts val="0"/>
              </a:spcBef>
              <a:spcAft>
                <a:spcPts val="0"/>
              </a:spcAft>
              <a:buClr>
                <a:schemeClr val="dk1"/>
              </a:buClr>
              <a:buSzPts val="1200"/>
              <a:buFont typeface="Arial"/>
              <a:buNone/>
            </a:pPr>
            <a:r>
              <a:rPr lang="en-US" sz="1200">
                <a:latin typeface="Arial"/>
                <a:ea typeface="Arial"/>
                <a:cs typeface="Arial"/>
                <a:sym typeface="Arial"/>
              </a:rPr>
              <a:t>On this slide we have provided multiple scenarios and HCX values for migration into a greenfield environment but let's talk about a common scenario in details.</a:t>
            </a:r>
            <a:endParaRPr>
              <a:latin typeface="Arial"/>
              <a:ea typeface="Arial"/>
              <a:cs typeface="Arial"/>
              <a:sym typeface="Arial"/>
            </a:endParaRPr>
          </a:p>
          <a:p>
            <a:pPr marL="0" marR="0" lvl="0" indent="0" algn="l" rtl="0">
              <a:lnSpc>
                <a:spcPct val="80000"/>
              </a:lnSpc>
              <a:spcBef>
                <a:spcPts val="0"/>
              </a:spcBef>
              <a:spcAft>
                <a:spcPts val="0"/>
              </a:spcAft>
              <a:buClr>
                <a:schemeClr val="dk1"/>
              </a:buClr>
              <a:buSzPts val="1200"/>
              <a:buFont typeface="Arial"/>
              <a:buNone/>
            </a:pPr>
            <a:r>
              <a:rPr lang="en-US" sz="1200">
                <a:latin typeface="Arial"/>
                <a:ea typeface="Arial"/>
                <a:cs typeface="Arial"/>
                <a:sym typeface="Arial"/>
              </a:rPr>
              <a:t> </a:t>
            </a:r>
            <a:endParaRPr>
              <a:latin typeface="Arial"/>
              <a:ea typeface="Arial"/>
              <a:cs typeface="Arial"/>
              <a:sym typeface="Arial"/>
            </a:endParaRPr>
          </a:p>
          <a:p>
            <a:pPr marL="0" marR="0" lvl="0" indent="0" algn="l" rtl="0">
              <a:lnSpc>
                <a:spcPct val="80000"/>
              </a:lnSpc>
              <a:spcBef>
                <a:spcPts val="0"/>
              </a:spcBef>
              <a:spcAft>
                <a:spcPts val="0"/>
              </a:spcAft>
              <a:buClr>
                <a:schemeClr val="dk1"/>
              </a:buClr>
              <a:buSzPts val="1200"/>
              <a:buFont typeface="Arial"/>
              <a:buNone/>
            </a:pPr>
            <a:r>
              <a:rPr lang="en-US" sz="1200">
                <a:latin typeface="Arial"/>
                <a:ea typeface="Arial"/>
                <a:cs typeface="Arial"/>
                <a:sym typeface="Arial"/>
              </a:rPr>
              <a:t>Some customers simply don’t have enough hardware resources to lift-&amp;-shift the entire DC or migrate to a different vCenter. In such case HCX can also help migrate large number of VMs within the same vCenter but between different clusters. For migration within the same vCenter cluster vMotion from vSphere is recommended as HCX won’t work in that case. </a:t>
            </a:r>
            <a:endParaRPr>
              <a:latin typeface="Arial"/>
              <a:ea typeface="Arial"/>
              <a:cs typeface="Arial"/>
              <a:sym typeface="Arial"/>
            </a:endParaRPr>
          </a:p>
          <a:p>
            <a:pPr marL="0" marR="0" lvl="0" indent="0" algn="l" rtl="0">
              <a:lnSpc>
                <a:spcPct val="80000"/>
              </a:lnSpc>
              <a:spcBef>
                <a:spcPts val="0"/>
              </a:spcBef>
              <a:spcAft>
                <a:spcPts val="0"/>
              </a:spcAft>
              <a:buClr>
                <a:schemeClr val="dk1"/>
              </a:buClr>
              <a:buSzPts val="1200"/>
              <a:buFont typeface="Arial"/>
              <a:buNone/>
            </a:pPr>
            <a:r>
              <a:rPr lang="en-US" sz="1200">
                <a:latin typeface="Arial"/>
                <a:ea typeface="Arial"/>
                <a:cs typeface="Arial"/>
                <a:sym typeface="Arial"/>
              </a:rPr>
              <a:t> </a:t>
            </a:r>
            <a:endParaRPr>
              <a:latin typeface="Arial"/>
              <a:ea typeface="Arial"/>
              <a:cs typeface="Arial"/>
              <a:sym typeface="Arial"/>
            </a:endParaRPr>
          </a:p>
          <a:p>
            <a:pPr marL="0" marR="0" lvl="0" indent="0" algn="l" rtl="0">
              <a:lnSpc>
                <a:spcPct val="80000"/>
              </a:lnSpc>
              <a:spcBef>
                <a:spcPts val="0"/>
              </a:spcBef>
              <a:spcAft>
                <a:spcPts val="0"/>
              </a:spcAft>
              <a:buClr>
                <a:schemeClr val="dk1"/>
              </a:buClr>
              <a:buSzPts val="1200"/>
              <a:buFont typeface="Arial"/>
              <a:buNone/>
            </a:pPr>
            <a:r>
              <a:rPr lang="en-US" sz="1200">
                <a:latin typeface="Arial"/>
                <a:ea typeface="Arial"/>
                <a:cs typeface="Arial"/>
                <a:sym typeface="Arial"/>
              </a:rPr>
              <a:t>Couple of common use-cases are cluster rebalancing and cross vendor migration (AMD to/from Intel) for CPU hardware change customer can use HCX Bulk Migration type which requires the VM reboot. But customer can do a large-scale migration (up to 1000 VM) and they still have option to retain IP and MAC address and option to migrate from VLAN to NSX or VLAN to VLAN based network.</a:t>
            </a:r>
            <a:endParaRPr/>
          </a:p>
          <a:p>
            <a:pPr marL="0" marR="0" lvl="0" indent="0" algn="l" rtl="0">
              <a:lnSpc>
                <a:spcPct val="80000"/>
              </a:lnSpc>
              <a:spcBef>
                <a:spcPts val="0"/>
              </a:spcBef>
              <a:spcAft>
                <a:spcPts val="0"/>
              </a:spcAft>
              <a:buClr>
                <a:schemeClr val="dk1"/>
              </a:buClr>
              <a:buSzPts val="1200"/>
              <a:buFont typeface="Arial"/>
              <a:buNone/>
            </a:pPr>
            <a:endParaRPr sz="1200">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b="1">
                <a:latin typeface="Arial"/>
                <a:ea typeface="Arial"/>
                <a:cs typeface="Arial"/>
                <a:sym typeface="Arial"/>
              </a:rPr>
              <a:t>Notes:</a:t>
            </a:r>
            <a:endParaRPr/>
          </a:p>
          <a:p>
            <a:pPr marL="0" marR="0" lvl="0" indent="0" algn="l" rtl="0">
              <a:lnSpc>
                <a:spcPct val="100000"/>
              </a:lnSpc>
              <a:spcBef>
                <a:spcPts val="0"/>
              </a:spcBef>
              <a:spcAft>
                <a:spcPts val="0"/>
              </a:spcAft>
              <a:buClr>
                <a:schemeClr val="dk1"/>
              </a:buClr>
              <a:buSzPts val="1200"/>
              <a:buFont typeface="Arial"/>
              <a:buNone/>
            </a:pPr>
            <a:endParaRPr b="1">
              <a:latin typeface="Arial"/>
              <a:ea typeface="Arial"/>
              <a:cs typeface="Arial"/>
              <a:sym typeface="Arial"/>
            </a:endParaRPr>
          </a:p>
          <a:p>
            <a:pPr marL="0" marR="0" lvl="0" indent="0" algn="l" rtl="0">
              <a:lnSpc>
                <a:spcPct val="100000"/>
              </a:lnSpc>
              <a:spcBef>
                <a:spcPts val="0"/>
              </a:spcBef>
              <a:spcAft>
                <a:spcPts val="0"/>
              </a:spcAft>
              <a:buClr>
                <a:schemeClr val="dk1"/>
              </a:buClr>
              <a:buSzPts val="1200"/>
              <a:buFont typeface="Arial"/>
              <a:buNone/>
            </a:pPr>
            <a:r>
              <a:rPr lang="en-US" b="1">
                <a:latin typeface="Arial"/>
                <a:ea typeface="Arial"/>
                <a:cs typeface="Arial"/>
                <a:sym typeface="Arial"/>
              </a:rPr>
              <a:t>Resources:</a:t>
            </a:r>
            <a:endParaRPr/>
          </a:p>
          <a:p>
            <a:pPr marL="0" marR="0" lvl="0" indent="0" algn="l" rtl="0">
              <a:lnSpc>
                <a:spcPct val="80000"/>
              </a:lnSpc>
              <a:spcBef>
                <a:spcPts val="0"/>
              </a:spcBef>
              <a:spcAft>
                <a:spcPts val="0"/>
              </a:spcAft>
              <a:buClr>
                <a:schemeClr val="dk1"/>
              </a:buClr>
              <a:buSzPts val="1200"/>
              <a:buFont typeface="Arial"/>
              <a:buNone/>
            </a:pPr>
            <a:endParaRPr>
              <a:latin typeface="Arial"/>
              <a:ea typeface="Arial"/>
              <a:cs typeface="Arial"/>
              <a:sym typeface="Arial"/>
            </a:endParaRPr>
          </a:p>
          <a:p>
            <a:pPr marL="0" lvl="0" indent="0" algn="l" rtl="0">
              <a:spcBef>
                <a:spcPts val="0"/>
              </a:spcBef>
              <a:spcAft>
                <a:spcPts val="0"/>
              </a:spcAft>
              <a:buNone/>
            </a:pPr>
            <a:endParaRPr/>
          </a:p>
        </p:txBody>
      </p:sp>
      <p:sp>
        <p:nvSpPr>
          <p:cNvPr id="14445" name="Google Shape;14445;p72: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52</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00"/>
        <p:cNvGrpSpPr/>
        <p:nvPr/>
      </p:nvGrpSpPr>
      <p:grpSpPr>
        <a:xfrm>
          <a:off x="0" y="0"/>
          <a:ext cx="0" cy="0"/>
          <a:chOff x="0" y="0"/>
          <a:chExt cx="0" cy="0"/>
        </a:xfrm>
      </p:grpSpPr>
      <p:sp>
        <p:nvSpPr>
          <p:cNvPr id="14501" name="Google Shape;14501;p73: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502" name="Google Shape;14502;p73: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70000"/>
              </a:lnSpc>
              <a:spcBef>
                <a:spcPts val="0"/>
              </a:spcBef>
              <a:spcAft>
                <a:spcPts val="0"/>
              </a:spcAft>
              <a:buClr>
                <a:schemeClr val="dk1"/>
              </a:buClr>
              <a:buSzPts val="570"/>
              <a:buFont typeface="Arial"/>
              <a:buNone/>
            </a:pPr>
            <a:r>
              <a:rPr lang="en-US" sz="570" b="1">
                <a:latin typeface="Arial"/>
                <a:ea typeface="Arial"/>
                <a:cs typeface="Arial"/>
                <a:sym typeface="Arial"/>
              </a:rPr>
              <a:t>Presenter note: This slide contains animation</a:t>
            </a:r>
            <a:endParaRPr sz="570" b="1">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endParaRPr sz="570" b="1">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b="1">
                <a:latin typeface="Arial"/>
                <a:ea typeface="Arial"/>
                <a:cs typeface="Arial"/>
                <a:sym typeface="Arial"/>
              </a:rPr>
              <a:t>Key Message:</a:t>
            </a:r>
            <a:endParaRPr sz="570" b="1">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HCX has many options for VM migration.</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endParaRPr sz="570">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b="1">
                <a:latin typeface="Arial"/>
                <a:ea typeface="Arial"/>
                <a:cs typeface="Arial"/>
                <a:sym typeface="Arial"/>
              </a:rPr>
              <a:t>Talk Track: </a:t>
            </a:r>
            <a:endParaRPr sz="570" b="1">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HCX has several migration types. Each of these migration options helps to address specific customer application migration use-cases.</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Let's dive into the technical details on each of these as they pertain to HCX when used with VMware Cloud Foundation.</a:t>
            </a:r>
            <a:endParaRPr/>
          </a:p>
          <a:p>
            <a:pPr marL="0" marR="0" lvl="0" indent="0" algn="l" rtl="0">
              <a:lnSpc>
                <a:spcPct val="7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u="sng">
                <a:latin typeface="Arial"/>
                <a:ea typeface="Arial"/>
                <a:cs typeface="Arial"/>
                <a:sym typeface="Arial"/>
              </a:rPr>
              <a:t>Bulk Migration</a:t>
            </a:r>
            <a:endParaRPr u="sng">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HCX Bulk Migration uses the host-based replication protocol to copy the disks of the VM to the target site. The VM can remain powered on during this disk replication period. Once the disk replication is complete, a delta sync occurs on the disk(s). After the delta sync is complete, HCX proceeds with the switchover process. During the switchover phase, the source VM is powered off, and the replica is powered on in the target site. The switch over process can run immediately or wait until a scheduled downtime window. The downtime period of a bulk migration is concise.</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The workflow for this process is: power-off source, then, power-on target.  Bulk migration, as the name implies and can occur on multiple VMs at once.  </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Bulk Migrations do not require Layer 2 extension but are recommended for a faster switchover.  Personalization scripts can be run during the switchover phase allowing you to change the IP address or make other VM modifications.</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Additional HCX automated options include; updating the VM tools driver(s), and VM Hardware level. These settings are all selectable from the HCX UI. They are then executed immediately to the target side replica VM during the switchover process.</a:t>
            </a:r>
            <a:endParaRPr/>
          </a:p>
          <a:p>
            <a:pPr marL="0" marR="0" lvl="0" indent="0" algn="l" rtl="0">
              <a:lnSpc>
                <a:spcPct val="7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&lt;click&gt;</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u="sng">
                <a:latin typeface="Arial"/>
                <a:ea typeface="Arial"/>
                <a:cs typeface="Arial"/>
                <a:sym typeface="Arial"/>
              </a:rPr>
              <a:t>Replication Assisted vMotion (RAV).</a:t>
            </a:r>
            <a:endParaRPr u="sng">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RAV combines the power of vSphere Replication and vMotion. This advance migration service allows you to live migrate multiple VMs all at once. Select all the VMs you would like to migrate, and HCX begins the process of replicating the VM state to the target site. When it is time to migrate, HCX then switches from replication to vMotion and moves the active state of the VM.</a:t>
            </a:r>
            <a:endParaRPr/>
          </a:p>
          <a:p>
            <a:pPr marL="0" marR="0" lvl="0" indent="0" algn="l" rtl="0">
              <a:lnSpc>
                <a:spcPct val="7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&lt;click&gt;</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u="sng">
                <a:latin typeface="Arial"/>
                <a:ea typeface="Arial"/>
                <a:cs typeface="Arial"/>
                <a:sym typeface="Arial"/>
              </a:rPr>
              <a:t>HCX Assisted vMotion </a:t>
            </a:r>
            <a:r>
              <a:rPr lang="en-US" sz="570" u="none">
                <a:latin typeface="Arial"/>
                <a:ea typeface="Arial"/>
                <a:cs typeface="Arial"/>
                <a:sym typeface="Arial"/>
              </a:rPr>
              <a:t>– launched in VCF 5.2.</a:t>
            </a:r>
            <a:endParaRPr u="none">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Using HCX Assisted vMotion leverages the VMware vMotion protocol to move a live VM to the target site.  During the migration, HCX copies the active state of the virtual machine, including virtual disks, CPU cycles, RAM, IP address, and MAC address. HCX Orchestrate the vMotion of multiple VMs with almost line-rate speed. Listed in the HCX documentation are several prerequisites for HCX vMotion.</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Some essential perquisites include.</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 The VM virtual hardware is version 9 or above.</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 The Layer 2 network subnet of the VM you are migrating is extended from source to target.</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 HCX vMotion requires 150 Mbps or higher throughput capability.</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HCX provides a simple user interface for extending a Layer 2 network. Once you have extended the network, you can proceed to live-migrate one VM at a time. You also have the option to select upgrading the VM tools or VM hardware during HCX vMotion. </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Note: Selecting these options does not automatically update either of these components during the vMotion process. Instead, it creates a pending operation in the VM. These updates are then completed after the next reboot of the VM, as these changes require the VM to be powered off.</a:t>
            </a:r>
            <a:endParaRPr/>
          </a:p>
          <a:p>
            <a:pPr marL="0" marR="0" lvl="0" indent="0" algn="l" rtl="0">
              <a:lnSpc>
                <a:spcPct val="7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70000"/>
              </a:lnSpc>
              <a:spcBef>
                <a:spcPts val="0"/>
              </a:spcBef>
              <a:spcAft>
                <a:spcPts val="0"/>
              </a:spcAft>
              <a:buClr>
                <a:srgbClr val="467886"/>
              </a:buClr>
              <a:buSzPts val="570"/>
              <a:buFont typeface="Arial"/>
              <a:buNone/>
            </a:pPr>
            <a:r>
              <a:rPr lang="en-US" sz="570" u="none">
                <a:solidFill>
                  <a:srgbClr val="467886"/>
                </a:solidFill>
                <a:latin typeface="Arial"/>
                <a:ea typeface="Arial"/>
                <a:cs typeface="Arial"/>
                <a:sym typeface="Arial"/>
              </a:rPr>
              <a:t>&lt;click&gt;</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u="sng">
                <a:latin typeface="Arial"/>
                <a:ea typeface="Arial"/>
                <a:cs typeface="Arial"/>
                <a:sym typeface="Arial"/>
              </a:rPr>
              <a:t>vMotion</a:t>
            </a:r>
            <a:endParaRPr u="sng">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You can also do a regular vMotion of 1 VM at a time with HCX. This is same vMotion that you are familiar from vCenter and can also be executed for HCX UI.</a:t>
            </a:r>
            <a:endParaRPr/>
          </a:p>
          <a:p>
            <a:pPr marL="0" marR="0" lvl="0" indent="0" algn="l" rtl="0">
              <a:lnSpc>
                <a:spcPct val="7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&lt;click&gt;</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u="sng">
                <a:latin typeface="Arial"/>
                <a:ea typeface="Arial"/>
                <a:cs typeface="Arial"/>
                <a:sym typeface="Arial"/>
              </a:rPr>
              <a:t>Cold Migration</a:t>
            </a:r>
            <a:endParaRPr u="sng">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HCX has a third method for VM migration, this option is not listed in the UI for migration and is dependent on the power status of the VM you have chosen to migrate. If the VM is powered off, a cold migration process occurs by default. Cold migration uses the NFC protocol to migrate the virtual machine. During a cold migration, the virtual machine IP address and MAC address remain preserved. Cold migrations must satisfy the same requirements as vMotion.</a:t>
            </a:r>
            <a:endParaRPr/>
          </a:p>
          <a:p>
            <a:pPr marL="0" marR="0" lvl="0" indent="0" algn="l" rtl="0">
              <a:lnSpc>
                <a:spcPct val="70000"/>
              </a:lnSpc>
              <a:spcBef>
                <a:spcPts val="0"/>
              </a:spcBef>
              <a:spcAft>
                <a:spcPts val="0"/>
              </a:spcAft>
              <a:buClr>
                <a:schemeClr val="dk1"/>
              </a:buClr>
              <a:buSzPts val="1200"/>
              <a:buFont typeface="Arial"/>
              <a:buNone/>
            </a:pP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&lt;click&gt;</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u="sng">
                <a:latin typeface="Arial"/>
                <a:ea typeface="Arial"/>
                <a:cs typeface="Arial"/>
                <a:sym typeface="Arial"/>
              </a:rPr>
              <a:t>OS Assisted Migration (OSAM)</a:t>
            </a:r>
            <a:endParaRPr u="sng">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OSAM enables you to migrate application VMs that are running in other hypervisors such as KVM and Hyper-V into a vSphere-based hypervisor environment (VCF).</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OSAM is an agent-based migration service that copies the state of a VM and recreates it in a vSphere Environment. The migration process is a warm migration, once the VM is copied to the target site. HCX powers-off the source, and powers-on the target VM.</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endParaRPr sz="570">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b="1">
                <a:latin typeface="Arial"/>
                <a:ea typeface="Arial"/>
                <a:cs typeface="Arial"/>
                <a:sym typeface="Arial"/>
              </a:rPr>
              <a:t>Notes:  </a:t>
            </a:r>
            <a:endParaRPr b="1">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From VCF 5.1, VCF includes entitlement to both HCX Advanced and HCX Enterprise licenses.</a:t>
            </a:r>
            <a:endParaRPr/>
          </a:p>
          <a:p>
            <a:pPr marL="0" marR="0" lvl="0" indent="0" algn="l" rtl="0">
              <a:lnSpc>
                <a:spcPct val="70000"/>
              </a:lnSpc>
              <a:spcBef>
                <a:spcPts val="0"/>
              </a:spcBef>
              <a:spcAft>
                <a:spcPts val="0"/>
              </a:spcAft>
              <a:buClr>
                <a:schemeClr val="dk1"/>
              </a:buClr>
              <a:buSzPts val="800"/>
              <a:buFont typeface="Arial"/>
              <a:buNone/>
            </a:pPr>
            <a:r>
              <a:rPr lang="en-US" sz="800">
                <a:latin typeface="Arial"/>
                <a:ea typeface="Arial"/>
                <a:cs typeface="Arial"/>
                <a:sym typeface="Arial"/>
              </a:rPr>
              <a:t>With VCF 5.2 the total number of VMs migration limit has been increased to 1000VMs. For further information on the number of HCX migrations supported please refer to the VMware ConfigMax site</a:t>
            </a:r>
            <a:endParaRPr>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endParaRPr sz="570">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b="1">
                <a:latin typeface="Arial"/>
                <a:ea typeface="Arial"/>
                <a:cs typeface="Arial"/>
                <a:sym typeface="Arial"/>
              </a:rPr>
              <a:t>Resources:</a:t>
            </a:r>
            <a:endParaRPr sz="570" b="1">
              <a:latin typeface="Arial"/>
              <a:ea typeface="Arial"/>
              <a:cs typeface="Arial"/>
              <a:sym typeface="Arial"/>
            </a:endParaRPr>
          </a:p>
          <a:p>
            <a:pPr marL="0" marR="0" lvl="0" indent="0" algn="l" rtl="0">
              <a:lnSpc>
                <a:spcPct val="70000"/>
              </a:lnSpc>
              <a:spcBef>
                <a:spcPts val="0"/>
              </a:spcBef>
              <a:spcAft>
                <a:spcPts val="0"/>
              </a:spcAft>
              <a:buClr>
                <a:srgbClr val="000000"/>
              </a:buClr>
              <a:buSzPts val="1400"/>
              <a:buFont typeface="Arial"/>
              <a:buNone/>
            </a:pPr>
            <a:r>
              <a:rPr lang="en-US" sz="570">
                <a:latin typeface="Arial"/>
                <a:ea typeface="Arial"/>
                <a:cs typeface="Arial"/>
                <a:sym typeface="Arial"/>
              </a:rPr>
              <a:t>For further information on HCX migration approaches please refer the VMware HCX documentation:</a:t>
            </a:r>
            <a:br>
              <a:rPr lang="en-US" sz="570">
                <a:latin typeface="Arial"/>
                <a:ea typeface="Arial"/>
                <a:cs typeface="Arial"/>
                <a:sym typeface="Arial"/>
              </a:rPr>
            </a:br>
            <a:r>
              <a:rPr lang="en-US" sz="1050" u="sng">
                <a:solidFill>
                  <a:srgbClr val="DCA10D"/>
                </a:solidFill>
                <a:latin typeface="Arial"/>
                <a:ea typeface="Arial"/>
                <a:cs typeface="Arial"/>
                <a:sym typeface="Arial"/>
                <a:hlinkClick r:id="rId3">
                  <a:extLst>
                    <a:ext uri="{A12FA001-AC4F-418D-AE19-62706E023703}">
                      <ahyp:hlinkClr xmlns:ahyp="http://schemas.microsoft.com/office/drawing/2018/hyperlinkcolor" val="tx"/>
                    </a:ext>
                  </a:extLst>
                </a:hlinkClick>
              </a:rPr>
              <a:t>https://docs.vmware.com/en/VMware-HCX/index.html</a:t>
            </a:r>
            <a:r>
              <a:rPr lang="en-US" sz="1050">
                <a:solidFill>
                  <a:srgbClr val="000000"/>
                </a:solidFill>
                <a:latin typeface="Arial"/>
                <a:ea typeface="Arial"/>
                <a:cs typeface="Arial"/>
                <a:sym typeface="Arial"/>
              </a:rPr>
              <a:t> </a:t>
            </a:r>
            <a:endParaRPr sz="1050">
              <a:solidFill>
                <a:srgbClr val="DCA10D"/>
              </a:solidFill>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endParaRPr sz="570">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r>
              <a:rPr lang="en-US" sz="570">
                <a:latin typeface="Arial"/>
                <a:ea typeface="Arial"/>
                <a:cs typeface="Arial"/>
                <a:sym typeface="Arial"/>
              </a:rPr>
              <a:t>VMware ConfigMax site:</a:t>
            </a:r>
            <a:endParaRPr sz="1200">
              <a:solidFill>
                <a:schemeClr val="dk1"/>
              </a:solidFill>
              <a:latin typeface="Arial"/>
              <a:ea typeface="Arial"/>
              <a:cs typeface="Arial"/>
              <a:sym typeface="Arial"/>
            </a:endParaRPr>
          </a:p>
          <a:p>
            <a:pPr marL="0" marR="0" lvl="0" indent="0" algn="l" rtl="0">
              <a:lnSpc>
                <a:spcPct val="70000"/>
              </a:lnSpc>
              <a:spcBef>
                <a:spcPts val="0"/>
              </a:spcBef>
              <a:spcAft>
                <a:spcPts val="0"/>
              </a:spcAft>
              <a:buClr>
                <a:srgbClr val="DCA10D"/>
              </a:buClr>
              <a:buSzPts val="1050"/>
              <a:buFont typeface="Arial"/>
              <a:buNone/>
            </a:pPr>
            <a:r>
              <a:rPr lang="en-US" sz="1050" u="sng">
                <a:solidFill>
                  <a:srgbClr val="DCA10D"/>
                </a:solidFill>
                <a:latin typeface="Arial"/>
                <a:ea typeface="Arial"/>
                <a:cs typeface="Arial"/>
                <a:sym typeface="Arial"/>
                <a:hlinkClick r:id="rId4">
                  <a:extLst>
                    <a:ext uri="{A12FA001-AC4F-418D-AE19-62706E023703}">
                      <ahyp:hlinkClr xmlns:ahyp="http://schemas.microsoft.com/office/drawing/2018/hyperlinkcolor" val="tx"/>
                    </a:ext>
                  </a:extLst>
                </a:hlinkClick>
              </a:rPr>
              <a:t>https://configmax.esp.vmware.com/guest?vmwareproduct=VMware%20HCX&amp;release=VMware%20HCX%204.9&amp;categories=41-0</a:t>
            </a:r>
            <a:r>
              <a:rPr lang="en-US" sz="1050">
                <a:solidFill>
                  <a:srgbClr val="000000"/>
                </a:solidFill>
                <a:latin typeface="Arial"/>
                <a:ea typeface="Arial"/>
                <a:cs typeface="Arial"/>
                <a:sym typeface="Arial"/>
              </a:rPr>
              <a:t> </a:t>
            </a:r>
            <a:endParaRPr sz="1050">
              <a:solidFill>
                <a:srgbClr val="DCA10D"/>
              </a:solidFill>
              <a:latin typeface="Arial"/>
              <a:ea typeface="Arial"/>
              <a:cs typeface="Arial"/>
              <a:sym typeface="Arial"/>
            </a:endParaRPr>
          </a:p>
          <a:p>
            <a:pPr marL="0" marR="0" lvl="0" indent="0" algn="l" rtl="0">
              <a:lnSpc>
                <a:spcPct val="70000"/>
              </a:lnSpc>
              <a:spcBef>
                <a:spcPts val="0"/>
              </a:spcBef>
              <a:spcAft>
                <a:spcPts val="0"/>
              </a:spcAft>
              <a:buClr>
                <a:schemeClr val="dk1"/>
              </a:buClr>
              <a:buSzPts val="570"/>
              <a:buFont typeface="Arial"/>
              <a:buNone/>
            </a:pPr>
            <a:endParaRPr sz="570">
              <a:latin typeface="Arial"/>
              <a:ea typeface="Arial"/>
              <a:cs typeface="Arial"/>
              <a:sym typeface="Arial"/>
            </a:endParaRPr>
          </a:p>
        </p:txBody>
      </p:sp>
      <p:sp>
        <p:nvSpPr>
          <p:cNvPr id="14503" name="Google Shape;14503;p73: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53</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7500" lnSpcReduction="20000"/>
          </a:bodyPr>
          <a:lstStyle/>
          <a:p>
            <a:pPr marL="0" lvl="0" indent="0" algn="l" rtl="0">
              <a:lnSpc>
                <a:spcPct val="100000"/>
              </a:lnSpc>
              <a:spcBef>
                <a:spcPts val="0"/>
              </a:spcBef>
              <a:spcAft>
                <a:spcPts val="0"/>
              </a:spcAft>
              <a:buClr>
                <a:schemeClr val="dk1"/>
              </a:buClr>
              <a:buSzPts val="1400"/>
              <a:buFont typeface="Arial"/>
              <a:buNone/>
            </a:pPr>
            <a:r>
              <a:rPr lang="en-US" b="1" u="none" dirty="0"/>
              <a:t>Key Message: </a:t>
            </a:r>
            <a:r>
              <a:rPr lang="en-US" b="0" u="none" dirty="0"/>
              <a:t>HCX support multiple scenarios to easy the workload migration to VCF</a:t>
            </a:r>
          </a:p>
          <a:p>
            <a:pPr marL="0" lvl="0" indent="0" algn="l" rtl="0">
              <a:lnSpc>
                <a:spcPct val="100000"/>
              </a:lnSpc>
              <a:spcBef>
                <a:spcPts val="0"/>
              </a:spcBef>
              <a:spcAft>
                <a:spcPts val="0"/>
              </a:spcAft>
              <a:buClr>
                <a:schemeClr val="dk1"/>
              </a:buClr>
              <a:buSzPts val="1400"/>
              <a:buFont typeface="Arial"/>
              <a:buNone/>
            </a:pPr>
            <a:endParaRPr lang="en-US" b="0" u="sng" dirty="0"/>
          </a:p>
          <a:p>
            <a:pPr>
              <a:buNone/>
            </a:pPr>
            <a:r>
              <a:rPr lang="en-US" b="1" u="none" dirty="0"/>
              <a:t>Talk Track: </a:t>
            </a:r>
          </a:p>
          <a:p>
            <a:pPr>
              <a:buNone/>
            </a:pPr>
            <a:r>
              <a:rPr lang="en-US" dirty="0"/>
              <a:t>Embarking on a migration to VMware Cloud Foundation (VCF) often means consolidating workloads from a multitude of different environments, network topologies, and even hypervisor platforms. This complexity can seem daunting, but HCX is engineered precisely to address this challenge, offering unparalleled flexibility and broad compatibility to streamline your VCF adoption journey.</a:t>
            </a:r>
          </a:p>
          <a:p>
            <a:pPr>
              <a:buNone/>
            </a:pPr>
            <a:endParaRPr lang="en-US" dirty="0"/>
          </a:p>
          <a:p>
            <a:pPr>
              <a:buNone/>
            </a:pPr>
            <a:r>
              <a:rPr lang="en-US" dirty="0"/>
              <a:t>HCX acts as a universal adapter, simplifying migrations regardless of your starting point. Its strength lies in supporting an extensive range of source and destination configurations:</a:t>
            </a:r>
          </a:p>
          <a:p>
            <a:pPr>
              <a:buNone/>
            </a:pPr>
            <a:endParaRPr lang="en-US" dirty="0"/>
          </a:p>
          <a:p>
            <a:pPr>
              <a:buFont typeface="Arial" panose="020B0604020202020204" pitchFamily="34" charset="0"/>
              <a:buChar char="•"/>
            </a:pPr>
            <a:r>
              <a:rPr lang="en-US" b="0" u="sng" dirty="0"/>
              <a:t>Network Diversity: </a:t>
            </a:r>
            <a:r>
              <a:rPr lang="en-US" dirty="0"/>
              <a:t>HCX seamlessly handles various networking constructs. Whether your workloads currently run on:</a:t>
            </a:r>
          </a:p>
          <a:p>
            <a:pPr marL="742950" lvl="1" indent="-285750">
              <a:buFont typeface="Arial" panose="020B0604020202020204" pitchFamily="34" charset="0"/>
              <a:buChar char="•"/>
            </a:pPr>
            <a:r>
              <a:rPr lang="en-US" dirty="0"/>
              <a:t>Traditional </a:t>
            </a:r>
            <a:r>
              <a:rPr lang="en-US" b="0" u="sng" dirty="0"/>
              <a:t>VLANs</a:t>
            </a:r>
            <a:r>
              <a:rPr lang="en-US" dirty="0"/>
              <a:t> (like those backed by vSphere Distributed Port Groups)</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t>Modern </a:t>
            </a:r>
            <a:r>
              <a:rPr lang="en-US" b="0" u="sng" dirty="0"/>
              <a:t>NSX Segments </a:t>
            </a:r>
            <a:r>
              <a:rPr lang="en-US" b="0" dirty="0"/>
              <a:t>or </a:t>
            </a:r>
            <a:r>
              <a:rPr lang="en-US" b="0" u="sng" dirty="0"/>
              <a:t>NSX-VLAN Segments</a:t>
            </a:r>
          </a:p>
          <a:p>
            <a:pPr marL="742950" lvl="1" indent="-285750">
              <a:buFont typeface="Arial" panose="020B0604020202020204" pitchFamily="34" charset="0"/>
              <a:buChar char="•"/>
            </a:pPr>
            <a:r>
              <a:rPr lang="en-US" dirty="0"/>
              <a:t>Advanced multi-site </a:t>
            </a:r>
            <a:r>
              <a:rPr lang="en-US" b="0" u="sng" dirty="0"/>
              <a:t>NSX Global Segments</a:t>
            </a:r>
          </a:p>
          <a:p>
            <a:pPr marL="742950" lvl="1" indent="-285750">
              <a:buFont typeface="Arial" panose="020B0604020202020204" pitchFamily="34" charset="0"/>
              <a:buChar char="•"/>
            </a:pPr>
            <a:r>
              <a:rPr lang="en-US" dirty="0"/>
              <a:t>Or need to land in </a:t>
            </a:r>
            <a:r>
              <a:rPr lang="en-US" b="0" u="sng" dirty="0"/>
              <a:t>VPC Subnets </a:t>
            </a:r>
            <a:r>
              <a:rPr lang="en-US" dirty="0"/>
              <a:t>within VCF, HCX provides the migration paths and crucial L2 Network Extension capabilities to ensure smooth transitions and maintain connectivity.</a:t>
            </a:r>
          </a:p>
          <a:p>
            <a:pPr>
              <a:buFont typeface="Arial" panose="020B0604020202020204" pitchFamily="34" charset="0"/>
              <a:buChar char="•"/>
            </a:pPr>
            <a:endParaRPr lang="en-US" b="1" dirty="0"/>
          </a:p>
          <a:p>
            <a:pPr>
              <a:buFont typeface="Arial" panose="020B0604020202020204" pitchFamily="34" charset="0"/>
              <a:buChar char="•"/>
            </a:pPr>
            <a:r>
              <a:rPr lang="en-US" b="0" u="sng" dirty="0"/>
              <a:t>Platform Heterogeneity: </a:t>
            </a:r>
            <a:r>
              <a:rPr lang="en-US" dirty="0"/>
              <a:t>Migration isn't limited to VMware environments. HCX includes dedicated workflows to migrate workloads directly from non-vSphere platforms, specifically supporting </a:t>
            </a:r>
            <a:r>
              <a:rPr lang="en-US" b="0" u="sng" dirty="0"/>
              <a:t>KVM and Hyper-V </a:t>
            </a:r>
            <a:r>
              <a:rPr lang="en-US" dirty="0"/>
              <a:t>sources, bringing them into your VCF environment.</a:t>
            </a:r>
          </a:p>
          <a:p>
            <a:pPr>
              <a:buFont typeface="Arial" panose="020B0604020202020204" pitchFamily="34" charset="0"/>
              <a:buChar char="•"/>
            </a:pPr>
            <a:endParaRPr lang="en-US" b="1" dirty="0"/>
          </a:p>
          <a:p>
            <a:pPr>
              <a:buFont typeface="Arial" panose="020B0604020202020204" pitchFamily="34" charset="0"/>
              <a:buChar char="•"/>
            </a:pPr>
            <a:r>
              <a:rPr lang="en-US" b="0" u="sng" dirty="0"/>
              <a:t>Legacy vSphere Support: </a:t>
            </a:r>
            <a:r>
              <a:rPr lang="en-US" dirty="0"/>
              <a:t>Age is not a barrier. HCX is designed to connect to and migrate workloads from </a:t>
            </a:r>
            <a:r>
              <a:rPr lang="en-US" b="0" u="sng" dirty="0"/>
              <a:t>any source vCenter version</a:t>
            </a:r>
            <a:r>
              <a:rPr lang="en-US" dirty="0"/>
              <a:t>, enabling you to modernize even your oldest vSphere estates directly onto the VCF platform.</a:t>
            </a:r>
          </a:p>
          <a:p>
            <a:pPr>
              <a:buFont typeface="Arial" panose="020B0604020202020204" pitchFamily="34" charset="0"/>
              <a:buChar char="•"/>
            </a:pPr>
            <a:endParaRPr lang="en-US" b="1" dirty="0"/>
          </a:p>
          <a:p>
            <a:pPr>
              <a:buFont typeface="Arial" panose="020B0604020202020204" pitchFamily="34" charset="0"/>
              <a:buChar char="•"/>
            </a:pPr>
            <a:r>
              <a:rPr lang="en-US" b="0" u="sng" dirty="0"/>
              <a:t>Modern Application Platforms: </a:t>
            </a:r>
            <a:r>
              <a:rPr lang="en-US" dirty="0"/>
              <a:t>Looking ahead, HCX also facilitates </a:t>
            </a:r>
            <a:r>
              <a:rPr lang="en-US" b="0" u="sng" dirty="0"/>
              <a:t>Supervisor Cluster Onboarding, </a:t>
            </a:r>
            <a:r>
              <a:rPr lang="en-US" dirty="0"/>
              <a:t>assisting in bringing your Kubernetes workloads into your VCF-managed environment.</a:t>
            </a:r>
          </a:p>
          <a:p>
            <a:pPr>
              <a:buNone/>
            </a:pPr>
            <a:endParaRPr lang="en-US" dirty="0"/>
          </a:p>
          <a:p>
            <a:pPr>
              <a:buNone/>
            </a:pPr>
            <a:r>
              <a:rPr lang="en-US" dirty="0"/>
              <a:t>This extensive compatibility is powered by HCX's robust migration mechanisms – including Bulk Migration, Replication-Assisted vMotion (RAV), OS Assisted Migration, and– ensuring you can choose the right method for each workload with minimal disruption.</a:t>
            </a:r>
          </a:p>
          <a:p>
            <a:pPr>
              <a:buNone/>
            </a:pPr>
            <a:endParaRPr lang="en-US" dirty="0"/>
          </a:p>
          <a:p>
            <a:pPr>
              <a:buNone/>
            </a:pPr>
            <a:r>
              <a:rPr lang="en-US" dirty="0"/>
              <a:t>In summary, HCX removes the friction typically associated with migrating from diverse and heterogeneous environments. By offering extensive support across numerous network types, multiple hypervisors, all vSphere versions, and even modern application platforms, HCX stands out as the key enabler to simplify, de-risk, and accelerate </a:t>
            </a:r>
            <a:r>
              <a:rPr lang="en-US" i="1" dirty="0"/>
              <a:t>your specific</a:t>
            </a:r>
            <a:r>
              <a:rPr lang="en-US" dirty="0"/>
              <a:t> workload migration path to VMware Cloud Foundation.</a:t>
            </a:r>
          </a:p>
          <a:p>
            <a:pPr>
              <a:buNone/>
            </a:pPr>
            <a:endParaRPr lang="en-US" b="0" u="none" dirty="0"/>
          </a:p>
          <a:p>
            <a:pPr>
              <a:buNone/>
            </a:pPr>
            <a:r>
              <a:rPr lang="en-US" b="0" u="none" dirty="0"/>
              <a:t>Here are some examples of the scenario HCX support…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u="none" dirty="0"/>
              <a:t>&lt;click&gt; &lt;click&gt; &lt;click&gt; &lt;click&gt;</a:t>
            </a:r>
          </a:p>
          <a:p>
            <a:pPr marL="0" lvl="0" indent="0" algn="l" rtl="0">
              <a:lnSpc>
                <a:spcPct val="100000"/>
              </a:lnSpc>
              <a:spcBef>
                <a:spcPts val="0"/>
              </a:spcBef>
              <a:spcAft>
                <a:spcPts val="0"/>
              </a:spcAft>
              <a:buClr>
                <a:schemeClr val="dk1"/>
              </a:buClr>
              <a:buSzPts val="1400"/>
              <a:buFont typeface="Arial"/>
              <a:buNone/>
            </a:pPr>
            <a:endParaRPr lang="en-US" b="0" dirty="0"/>
          </a:p>
          <a:p>
            <a:pPr marL="0" lvl="0" indent="0" algn="l" rtl="0">
              <a:lnSpc>
                <a:spcPct val="100000"/>
              </a:lnSpc>
              <a:spcBef>
                <a:spcPts val="0"/>
              </a:spcBef>
              <a:spcAft>
                <a:spcPts val="0"/>
              </a:spcAft>
              <a:buClr>
                <a:schemeClr val="dk1"/>
              </a:buClr>
              <a:buSzPts val="1400"/>
              <a:buFont typeface="Arial"/>
              <a:buNone/>
            </a:pPr>
            <a:r>
              <a:rPr lang="en-US" b="1" dirty="0"/>
              <a:t>Notes: </a:t>
            </a:r>
            <a:br>
              <a:rPr lang="en-US" b="1" dirty="0"/>
            </a:br>
            <a:br>
              <a:rPr lang="en-US" b="1" dirty="0"/>
            </a:br>
            <a:r>
              <a:rPr lang="en-US" b="1" dirty="0"/>
              <a:t>Resources: </a:t>
            </a:r>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smtClean="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254922804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48"/>
        <p:cNvGrpSpPr/>
        <p:nvPr/>
      </p:nvGrpSpPr>
      <p:grpSpPr>
        <a:xfrm>
          <a:off x="0" y="0"/>
          <a:ext cx="0" cy="0"/>
          <a:chOff x="0" y="0"/>
          <a:chExt cx="0" cy="0"/>
        </a:xfrm>
      </p:grpSpPr>
      <p:sp>
        <p:nvSpPr>
          <p:cNvPr id="14649" name="Google Shape;14649;p75: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650" name="Google Shape;14650;p7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lnSpcReduction="10000"/>
          </a:bodyPr>
          <a:lstStyle/>
          <a:p>
            <a:pPr marL="0" lvl="0" indent="0" algn="l" rtl="0">
              <a:lnSpc>
                <a:spcPct val="80000"/>
              </a:lnSpc>
              <a:spcBef>
                <a:spcPts val="0"/>
              </a:spcBef>
              <a:spcAft>
                <a:spcPts val="0"/>
              </a:spcAft>
              <a:buNone/>
            </a:pPr>
            <a:r>
              <a:rPr lang="en-US" sz="930" b="1">
                <a:latin typeface="Arial"/>
                <a:ea typeface="Arial"/>
                <a:cs typeface="Arial"/>
                <a:sym typeface="Arial"/>
              </a:rPr>
              <a:t>Key Message:</a:t>
            </a:r>
            <a:br>
              <a:rPr lang="en-US" sz="930">
                <a:latin typeface="Arial"/>
                <a:ea typeface="Arial"/>
                <a:cs typeface="Arial"/>
                <a:sym typeface="Arial"/>
              </a:rPr>
            </a:br>
            <a:r>
              <a:rPr lang="en-US" sz="930">
                <a:latin typeface="Arial"/>
                <a:ea typeface="Arial"/>
                <a:cs typeface="Arial"/>
                <a:sym typeface="Arial"/>
              </a:rPr>
              <a:t>The latest update in VCF Operations for networks (version 9.0) introduces enhanced Migration Planning capabilities, allowing for a more streamlined and informed approach to migrating workloads to VCF.</a:t>
            </a:r>
            <a:endParaRPr/>
          </a:p>
          <a:p>
            <a:pPr marL="0" lvl="0" indent="0" algn="l" rtl="0">
              <a:lnSpc>
                <a:spcPct val="80000"/>
              </a:lnSpc>
              <a:spcBef>
                <a:spcPts val="0"/>
              </a:spcBef>
              <a:spcAft>
                <a:spcPts val="0"/>
              </a:spcAft>
              <a:buNone/>
            </a:pPr>
            <a:endParaRPr sz="930" b="1">
              <a:latin typeface="Arial"/>
              <a:ea typeface="Arial"/>
              <a:cs typeface="Arial"/>
              <a:sym typeface="Arial"/>
            </a:endParaRPr>
          </a:p>
          <a:p>
            <a:pPr marL="0" lvl="0" indent="0" algn="l" rtl="0">
              <a:lnSpc>
                <a:spcPct val="80000"/>
              </a:lnSpc>
              <a:spcBef>
                <a:spcPts val="0"/>
              </a:spcBef>
              <a:spcAft>
                <a:spcPts val="0"/>
              </a:spcAft>
              <a:buNone/>
            </a:pPr>
            <a:r>
              <a:rPr lang="en-US" sz="930" b="1">
                <a:latin typeface="Arial"/>
                <a:ea typeface="Arial"/>
                <a:cs typeface="Arial"/>
                <a:sym typeface="Arial"/>
              </a:rPr>
              <a:t>Talk Track:</a:t>
            </a:r>
            <a:endParaRPr sz="930">
              <a:latin typeface="Arial"/>
              <a:ea typeface="Arial"/>
              <a:cs typeface="Arial"/>
              <a:sym typeface="Arial"/>
            </a:endParaRPr>
          </a:p>
          <a:p>
            <a:pPr marL="0" lvl="0" indent="0" algn="l" rtl="0">
              <a:lnSpc>
                <a:spcPct val="80000"/>
              </a:lnSpc>
              <a:spcBef>
                <a:spcPts val="0"/>
              </a:spcBef>
              <a:spcAft>
                <a:spcPts val="0"/>
              </a:spcAft>
              <a:buNone/>
            </a:pPr>
            <a:r>
              <a:rPr lang="en-US" sz="930">
                <a:solidFill>
                  <a:srgbClr val="0E0E0E"/>
                </a:solidFill>
                <a:latin typeface="Arial"/>
                <a:ea typeface="Arial"/>
                <a:cs typeface="Arial"/>
                <a:sym typeface="Arial"/>
              </a:rPr>
              <a:t>Let’s start by taking a look at some of the key features of the Migration Planning in this release. One of the most powerful aspects of this feature is how it allows users to define the scope of migration, either using specific applications or members of those applications. This flexibility makes it much easier to identify and manage the applications that are critical for migration while also uncovering the necessary application and network dependencies.</a:t>
            </a:r>
            <a:endParaRPr/>
          </a:p>
          <a:p>
            <a:pPr marL="0" lvl="0" indent="0" algn="l" rtl="0">
              <a:lnSpc>
                <a:spcPct val="80000"/>
              </a:lnSpc>
              <a:spcBef>
                <a:spcPts val="0"/>
              </a:spcBef>
              <a:spcAft>
                <a:spcPts val="0"/>
              </a:spcAft>
              <a:buNone/>
            </a:pPr>
            <a:br>
              <a:rPr lang="en-US" sz="930">
                <a:solidFill>
                  <a:srgbClr val="0E0E0E"/>
                </a:solidFill>
                <a:latin typeface="Arial"/>
                <a:ea typeface="Arial"/>
                <a:cs typeface="Arial"/>
                <a:sym typeface="Arial"/>
              </a:rPr>
            </a:br>
            <a:r>
              <a:rPr lang="en-US" sz="930">
                <a:solidFill>
                  <a:srgbClr val="0E0E0E"/>
                </a:solidFill>
                <a:latin typeface="Arial"/>
                <a:ea typeface="Arial"/>
                <a:cs typeface="Arial"/>
                <a:sym typeface="Arial"/>
              </a:rPr>
              <a:t>Another important aspect to highlight is the creation of migration waves. This concept breaks down the overall migration process into more manageable steps, enabling you to focus on smaller, defined groups of resources at a time. With migration waves, you can better plan and execute your strategy in a phased approach, minimizing risk and complexity.</a:t>
            </a:r>
            <a:endParaRPr/>
          </a:p>
          <a:p>
            <a:pPr marL="0" lvl="0" indent="0" algn="l" rtl="0">
              <a:lnSpc>
                <a:spcPct val="80000"/>
              </a:lnSpc>
              <a:spcBef>
                <a:spcPts val="0"/>
              </a:spcBef>
              <a:spcAft>
                <a:spcPts val="0"/>
              </a:spcAft>
              <a:buNone/>
            </a:pPr>
            <a:endParaRPr sz="930">
              <a:solidFill>
                <a:srgbClr val="0E0E0E"/>
              </a:solidFill>
              <a:latin typeface="Arial"/>
              <a:ea typeface="Arial"/>
              <a:cs typeface="Arial"/>
              <a:sym typeface="Arial"/>
            </a:endParaRPr>
          </a:p>
          <a:p>
            <a:pPr marL="0" lvl="0" indent="0" algn="l" rtl="0">
              <a:lnSpc>
                <a:spcPct val="80000"/>
              </a:lnSpc>
              <a:spcBef>
                <a:spcPts val="0"/>
              </a:spcBef>
              <a:spcAft>
                <a:spcPts val="0"/>
              </a:spcAft>
              <a:buNone/>
            </a:pPr>
            <a:r>
              <a:rPr lang="en-US" sz="930">
                <a:solidFill>
                  <a:srgbClr val="0E0E0E"/>
                </a:solidFill>
                <a:latin typeface="Arial"/>
                <a:ea typeface="Arial"/>
                <a:cs typeface="Arial"/>
                <a:sym typeface="Arial"/>
              </a:rPr>
              <a:t>Next, we have an overview of resource consumption. This feature provides insight into the usage of memory, cores, and storage, helping you to effectively plan for any resource limitations that could affect your migration. Having this data at hand ensures you’re not only making informed decisions but also optimizing resource allocation as you move through the migration.</a:t>
            </a:r>
            <a:endParaRPr/>
          </a:p>
          <a:p>
            <a:pPr marL="0" lvl="0" indent="0" algn="l" rtl="0">
              <a:lnSpc>
                <a:spcPct val="80000"/>
              </a:lnSpc>
              <a:spcBef>
                <a:spcPts val="0"/>
              </a:spcBef>
              <a:spcAft>
                <a:spcPts val="0"/>
              </a:spcAft>
              <a:buNone/>
            </a:pPr>
            <a:endParaRPr sz="930">
              <a:solidFill>
                <a:srgbClr val="0E0E0E"/>
              </a:solidFill>
              <a:latin typeface="Arial"/>
              <a:ea typeface="Arial"/>
              <a:cs typeface="Arial"/>
              <a:sym typeface="Arial"/>
            </a:endParaRPr>
          </a:p>
          <a:p>
            <a:pPr marL="0" lvl="0" indent="0" algn="l" rtl="0">
              <a:lnSpc>
                <a:spcPct val="80000"/>
              </a:lnSpc>
              <a:spcBef>
                <a:spcPts val="0"/>
              </a:spcBef>
              <a:spcAft>
                <a:spcPts val="0"/>
              </a:spcAft>
              <a:buNone/>
            </a:pPr>
            <a:r>
              <a:rPr lang="en-US" sz="930">
                <a:solidFill>
                  <a:srgbClr val="0E0E0E"/>
                </a:solidFill>
                <a:latin typeface="Arial"/>
                <a:ea typeface="Arial"/>
                <a:cs typeface="Arial"/>
                <a:sym typeface="Arial"/>
              </a:rPr>
              <a:t>Lastly, I want to emphasize the Commit feature. This is a key tool for creating mobility groups, which can then be committed to HCX. This capability facilitates smooth, seamless migrations by allowing users to prepare these groups in advance, ensuring they are ready for HCX at the right time.</a:t>
            </a:r>
            <a:endParaRPr/>
          </a:p>
          <a:p>
            <a:pPr marL="0" lvl="0" indent="0" algn="l" rtl="0">
              <a:lnSpc>
                <a:spcPct val="80000"/>
              </a:lnSpc>
              <a:spcBef>
                <a:spcPts val="0"/>
              </a:spcBef>
              <a:spcAft>
                <a:spcPts val="0"/>
              </a:spcAft>
              <a:buNone/>
            </a:pPr>
            <a:endParaRPr sz="930" b="1">
              <a:latin typeface="Arial"/>
              <a:ea typeface="Arial"/>
              <a:cs typeface="Arial"/>
              <a:sym typeface="Arial"/>
            </a:endParaRPr>
          </a:p>
          <a:p>
            <a:pPr marL="0" lvl="0" indent="0" algn="l" rtl="0">
              <a:lnSpc>
                <a:spcPct val="80000"/>
              </a:lnSpc>
              <a:spcBef>
                <a:spcPts val="0"/>
              </a:spcBef>
              <a:spcAft>
                <a:spcPts val="0"/>
              </a:spcAft>
              <a:buNone/>
            </a:pPr>
            <a:r>
              <a:rPr lang="en-US" sz="930" b="1">
                <a:latin typeface="Arial"/>
                <a:ea typeface="Arial"/>
                <a:cs typeface="Arial"/>
                <a:sym typeface="Arial"/>
              </a:rPr>
              <a:t>Key Benefits:</a:t>
            </a:r>
            <a:endParaRPr sz="930">
              <a:latin typeface="Arial"/>
              <a:ea typeface="Arial"/>
              <a:cs typeface="Arial"/>
              <a:sym typeface="Arial"/>
            </a:endParaRPr>
          </a:p>
          <a:p>
            <a:pPr marL="0" lvl="0" indent="-59055" algn="l" rtl="0">
              <a:lnSpc>
                <a:spcPct val="80000"/>
              </a:lnSpc>
              <a:spcBef>
                <a:spcPts val="0"/>
              </a:spcBef>
              <a:spcAft>
                <a:spcPts val="0"/>
              </a:spcAft>
              <a:buClr>
                <a:schemeClr val="dk1"/>
              </a:buClr>
              <a:buSzPts val="930"/>
              <a:buFont typeface="Arial"/>
              <a:buChar char="•"/>
            </a:pPr>
            <a:r>
              <a:rPr lang="en-US" sz="930" i="1">
                <a:latin typeface="Arial"/>
                <a:ea typeface="Arial"/>
                <a:cs typeface="Arial"/>
                <a:sym typeface="Arial"/>
              </a:rPr>
              <a:t>Efficient Migration Planning</a:t>
            </a:r>
            <a:r>
              <a:rPr lang="en-US" sz="930">
                <a:latin typeface="Arial"/>
                <a:ea typeface="Arial"/>
                <a:cs typeface="Arial"/>
                <a:sym typeface="Arial"/>
              </a:rPr>
              <a:t>: Users can easily define the migration scope based on applications and understand dependencies, ensuring no critical elements are overlooked.</a:t>
            </a:r>
            <a:endParaRPr/>
          </a:p>
          <a:p>
            <a:pPr marL="0" lvl="0" indent="-59055" algn="l" rtl="0">
              <a:lnSpc>
                <a:spcPct val="80000"/>
              </a:lnSpc>
              <a:spcBef>
                <a:spcPts val="0"/>
              </a:spcBef>
              <a:spcAft>
                <a:spcPts val="0"/>
              </a:spcAft>
              <a:buClr>
                <a:schemeClr val="dk1"/>
              </a:buClr>
              <a:buSzPts val="930"/>
              <a:buFont typeface="Arial"/>
              <a:buChar char="•"/>
            </a:pPr>
            <a:r>
              <a:rPr lang="en-US" sz="930" i="1">
                <a:latin typeface="Arial"/>
                <a:ea typeface="Arial"/>
                <a:cs typeface="Arial"/>
                <a:sym typeface="Arial"/>
              </a:rPr>
              <a:t>Informed Decision-Making</a:t>
            </a:r>
            <a:r>
              <a:rPr lang="en-US" sz="930">
                <a:latin typeface="Arial"/>
                <a:ea typeface="Arial"/>
                <a:cs typeface="Arial"/>
                <a:sym typeface="Arial"/>
              </a:rPr>
              <a:t>: The discovery of application and network dependencies reduces the risk of errors during migration, enhancing reliability.</a:t>
            </a:r>
            <a:endParaRPr/>
          </a:p>
          <a:p>
            <a:pPr marL="0" lvl="0" indent="-59055" algn="l" rtl="0">
              <a:lnSpc>
                <a:spcPct val="80000"/>
              </a:lnSpc>
              <a:spcBef>
                <a:spcPts val="0"/>
              </a:spcBef>
              <a:spcAft>
                <a:spcPts val="0"/>
              </a:spcAft>
              <a:buClr>
                <a:schemeClr val="dk1"/>
              </a:buClr>
              <a:buSzPts val="930"/>
              <a:buFont typeface="Arial"/>
              <a:buChar char="•"/>
            </a:pPr>
            <a:r>
              <a:rPr lang="en-US" sz="930" i="1">
                <a:latin typeface="Arial"/>
                <a:ea typeface="Arial"/>
                <a:cs typeface="Arial"/>
                <a:sym typeface="Arial"/>
              </a:rPr>
              <a:t>Resource Awareness</a:t>
            </a:r>
            <a:r>
              <a:rPr lang="en-US" sz="930">
                <a:latin typeface="Arial"/>
                <a:ea typeface="Arial"/>
                <a:cs typeface="Arial"/>
                <a:sym typeface="Arial"/>
              </a:rPr>
              <a:t>: The detailed overview of resource consumption ensures that users are fully aware of the infrastructure requirements before starting the migration process.</a:t>
            </a:r>
            <a:endParaRPr/>
          </a:p>
          <a:p>
            <a:pPr marL="0" lvl="0" indent="-59055" algn="l" rtl="0">
              <a:lnSpc>
                <a:spcPct val="80000"/>
              </a:lnSpc>
              <a:spcBef>
                <a:spcPts val="0"/>
              </a:spcBef>
              <a:spcAft>
                <a:spcPts val="0"/>
              </a:spcAft>
              <a:buClr>
                <a:schemeClr val="dk1"/>
              </a:buClr>
              <a:buSzPts val="930"/>
              <a:buFont typeface="Arial"/>
              <a:buChar char="•"/>
            </a:pPr>
            <a:r>
              <a:rPr lang="en-US" sz="930" i="1">
                <a:latin typeface="Arial"/>
                <a:ea typeface="Arial"/>
                <a:cs typeface="Arial"/>
                <a:sym typeface="Arial"/>
              </a:rPr>
              <a:t>Flexibility with Migration Waves</a:t>
            </a:r>
            <a:r>
              <a:rPr lang="en-US" sz="930">
                <a:latin typeface="Arial"/>
                <a:ea typeface="Arial"/>
                <a:cs typeface="Arial"/>
                <a:sym typeface="Arial"/>
              </a:rPr>
              <a:t>: Breaking down the migration into waves allows for phased implementation, reducing potential downtime and disruptions.</a:t>
            </a:r>
            <a:endParaRPr/>
          </a:p>
          <a:p>
            <a:pPr marL="0" lvl="0" indent="0" algn="l" rtl="0">
              <a:lnSpc>
                <a:spcPct val="80000"/>
              </a:lnSpc>
              <a:spcBef>
                <a:spcPts val="0"/>
              </a:spcBef>
              <a:spcAft>
                <a:spcPts val="0"/>
              </a:spcAft>
              <a:buNone/>
            </a:pPr>
            <a:endParaRPr sz="930" b="1">
              <a:latin typeface="Arial"/>
              <a:ea typeface="Arial"/>
              <a:cs typeface="Arial"/>
              <a:sym typeface="Arial"/>
            </a:endParaRPr>
          </a:p>
          <a:p>
            <a:pPr marL="0" lvl="0" indent="0" algn="l" rtl="0">
              <a:lnSpc>
                <a:spcPct val="80000"/>
              </a:lnSpc>
              <a:spcBef>
                <a:spcPts val="0"/>
              </a:spcBef>
              <a:spcAft>
                <a:spcPts val="0"/>
              </a:spcAft>
              <a:buNone/>
            </a:pPr>
            <a:r>
              <a:rPr lang="en-US" sz="930" b="1">
                <a:latin typeface="Arial"/>
                <a:ea typeface="Arial"/>
                <a:cs typeface="Arial"/>
                <a:sym typeface="Arial"/>
              </a:rPr>
              <a:t>Customer Outcomes:</a:t>
            </a:r>
            <a:endParaRPr sz="930">
              <a:latin typeface="Arial"/>
              <a:ea typeface="Arial"/>
              <a:cs typeface="Arial"/>
              <a:sym typeface="Arial"/>
            </a:endParaRPr>
          </a:p>
          <a:p>
            <a:pPr marL="0" lvl="0" indent="-59055" algn="l" rtl="0">
              <a:lnSpc>
                <a:spcPct val="80000"/>
              </a:lnSpc>
              <a:spcBef>
                <a:spcPts val="0"/>
              </a:spcBef>
              <a:spcAft>
                <a:spcPts val="0"/>
              </a:spcAft>
              <a:buClr>
                <a:schemeClr val="dk1"/>
              </a:buClr>
              <a:buSzPts val="930"/>
              <a:buFont typeface="Arial"/>
              <a:buChar char="•"/>
            </a:pPr>
            <a:r>
              <a:rPr lang="en-US" sz="930">
                <a:latin typeface="Arial"/>
                <a:ea typeface="Arial"/>
                <a:cs typeface="Arial"/>
                <a:sym typeface="Arial"/>
              </a:rPr>
              <a:t>Customers will experience smoother, more efficient migration to VCF with a clear understanding of resource needs and dependencies.</a:t>
            </a:r>
            <a:endParaRPr/>
          </a:p>
          <a:p>
            <a:pPr marL="0" lvl="0" indent="-59055" algn="l" rtl="0">
              <a:lnSpc>
                <a:spcPct val="80000"/>
              </a:lnSpc>
              <a:spcBef>
                <a:spcPts val="0"/>
              </a:spcBef>
              <a:spcAft>
                <a:spcPts val="0"/>
              </a:spcAft>
              <a:buClr>
                <a:schemeClr val="dk1"/>
              </a:buClr>
              <a:buSzPts val="930"/>
              <a:buFont typeface="Arial"/>
              <a:buChar char="•"/>
            </a:pPr>
            <a:r>
              <a:rPr lang="en-US" sz="930">
                <a:latin typeface="Arial"/>
                <a:ea typeface="Arial"/>
                <a:cs typeface="Arial"/>
                <a:sym typeface="Arial"/>
              </a:rPr>
              <a:t>By using migration waves, they can minimize operational risk and downtime during migrations.</a:t>
            </a:r>
            <a:endParaRPr/>
          </a:p>
          <a:p>
            <a:pPr marL="0" lvl="0" indent="-59055" algn="l" rtl="0">
              <a:lnSpc>
                <a:spcPct val="80000"/>
              </a:lnSpc>
              <a:spcBef>
                <a:spcPts val="0"/>
              </a:spcBef>
              <a:spcAft>
                <a:spcPts val="0"/>
              </a:spcAft>
              <a:buClr>
                <a:schemeClr val="dk1"/>
              </a:buClr>
              <a:buSzPts val="930"/>
              <a:buFont typeface="Arial"/>
              <a:buChar char="•"/>
            </a:pPr>
            <a:r>
              <a:rPr lang="en-US" sz="930">
                <a:latin typeface="Arial"/>
                <a:ea typeface="Arial"/>
                <a:cs typeface="Arial"/>
                <a:sym typeface="Arial"/>
              </a:rPr>
              <a:t>The ability to commit mobility groups for HCX ensures a seamless handoff, making the process more flexible and adaptable to different infrastructure environments.</a:t>
            </a:r>
            <a:endParaRPr/>
          </a:p>
          <a:p>
            <a:pPr marL="0" lvl="0" indent="0" algn="l" rtl="0">
              <a:lnSpc>
                <a:spcPct val="94999"/>
              </a:lnSpc>
              <a:spcBef>
                <a:spcPts val="0"/>
              </a:spcBef>
              <a:spcAft>
                <a:spcPts val="0"/>
              </a:spcAft>
              <a:buNone/>
            </a:pPr>
            <a:endParaRPr sz="930"/>
          </a:p>
          <a:p>
            <a:pPr marL="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latin typeface="Arial"/>
                <a:ea typeface="Arial"/>
                <a:cs typeface="Arial"/>
                <a:sym typeface="Arial"/>
              </a:rPr>
              <a:t>Notes:</a:t>
            </a:r>
            <a:endParaRPr/>
          </a:p>
          <a:p>
            <a:pPr marL="0" lvl="0" indent="0" algn="l" rtl="0">
              <a:lnSpc>
                <a:spcPct val="80000"/>
              </a:lnSpc>
              <a:spcBef>
                <a:spcPts val="0"/>
              </a:spcBef>
              <a:spcAft>
                <a:spcPts val="0"/>
              </a:spcAft>
              <a:buClr>
                <a:schemeClr val="dk1"/>
              </a:buClr>
              <a:buSzPts val="930"/>
              <a:buFont typeface="Arial"/>
              <a:buNone/>
            </a:pPr>
            <a:endParaRPr sz="930" b="1"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latin typeface="Arial"/>
                <a:ea typeface="Arial"/>
                <a:cs typeface="Arial"/>
                <a:sym typeface="Arial"/>
              </a:rPr>
              <a:t>Resources:</a:t>
            </a:r>
            <a:endParaRPr/>
          </a:p>
          <a:p>
            <a:pPr marL="0" lvl="0" indent="0" algn="l" rtl="0">
              <a:lnSpc>
                <a:spcPct val="94999"/>
              </a:lnSpc>
              <a:spcBef>
                <a:spcPts val="0"/>
              </a:spcBef>
              <a:spcAft>
                <a:spcPts val="0"/>
              </a:spcAft>
              <a:buNone/>
            </a:pPr>
            <a:endParaRPr sz="930"/>
          </a:p>
          <a:p>
            <a:pPr marL="0" lvl="0" indent="0" algn="l" rtl="0">
              <a:lnSpc>
                <a:spcPct val="80000"/>
              </a:lnSpc>
              <a:spcBef>
                <a:spcPts val="0"/>
              </a:spcBef>
              <a:spcAft>
                <a:spcPts val="0"/>
              </a:spcAft>
              <a:buNone/>
            </a:pPr>
            <a:endParaRPr sz="930"/>
          </a:p>
        </p:txBody>
      </p:sp>
      <p:sp>
        <p:nvSpPr>
          <p:cNvPr id="14651" name="Google Shape;14651;p7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55</a:t>
            </a:fld>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9"/>
        <p:cNvGrpSpPr/>
        <p:nvPr/>
      </p:nvGrpSpPr>
      <p:grpSpPr>
        <a:xfrm>
          <a:off x="0" y="0"/>
          <a:ext cx="0" cy="0"/>
          <a:chOff x="0" y="0"/>
          <a:chExt cx="0" cy="0"/>
        </a:xfrm>
      </p:grpSpPr>
      <p:sp>
        <p:nvSpPr>
          <p:cNvPr id="14660" name="Google Shape;14660;p76: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661" name="Google Shape;14661;p76: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Clr>
                <a:schemeClr val="dk1"/>
              </a:buClr>
              <a:buSzPts val="1200"/>
              <a:buFont typeface="Arial"/>
              <a:buNone/>
            </a:pPr>
            <a:endParaRPr sz="120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4662" name="Google Shape;14662;p76: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56</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67"/>
        <p:cNvGrpSpPr/>
        <p:nvPr/>
      </p:nvGrpSpPr>
      <p:grpSpPr>
        <a:xfrm>
          <a:off x="0" y="0"/>
          <a:ext cx="0" cy="0"/>
          <a:chOff x="0" y="0"/>
          <a:chExt cx="0" cy="0"/>
        </a:xfrm>
      </p:grpSpPr>
      <p:sp>
        <p:nvSpPr>
          <p:cNvPr id="14668" name="Google Shape;14668;p77: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669" name="Google Shape;14669;p77: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marR="0" lvl="0" indent="0" algn="l" rtl="0">
              <a:lnSpc>
                <a:spcPct val="80000"/>
              </a:lnSpc>
              <a:spcBef>
                <a:spcPts val="0"/>
              </a:spcBef>
              <a:spcAft>
                <a:spcPts val="0"/>
              </a:spcAft>
              <a:buClr>
                <a:schemeClr val="dk2"/>
              </a:buClr>
              <a:buSzPts val="1100"/>
              <a:buFont typeface="Arial"/>
              <a:buNone/>
            </a:pPr>
            <a:r>
              <a:rPr lang="en-US" sz="1050" b="1" u="none" strike="noStrike">
                <a:solidFill>
                  <a:schemeClr val="dk1"/>
                </a:solidFill>
                <a:latin typeface="Arial"/>
                <a:ea typeface="Arial"/>
                <a:cs typeface="Arial"/>
                <a:sym typeface="Arial"/>
              </a:rPr>
              <a:t>SLIDE CONTAINS ANIMATION</a:t>
            </a:r>
            <a:endParaRPr/>
          </a:p>
          <a:p>
            <a:pPr marL="0" marR="0" lvl="0" indent="0" algn="l" rtl="0">
              <a:lnSpc>
                <a:spcPct val="80000"/>
              </a:lnSpc>
              <a:spcBef>
                <a:spcPts val="0"/>
              </a:spcBef>
              <a:spcAft>
                <a:spcPts val="0"/>
              </a:spcAft>
              <a:buClr>
                <a:schemeClr val="dk2"/>
              </a:buClr>
              <a:buSzPts val="1100"/>
              <a:buFont typeface="Arial"/>
              <a:buNone/>
            </a:pPr>
            <a:endParaRPr sz="1050" b="1"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2"/>
              </a:buClr>
              <a:buSzPts val="1100"/>
              <a:buFont typeface="Arial"/>
              <a:buNone/>
            </a:pPr>
            <a:r>
              <a:rPr lang="en-US" sz="1050" b="1" u="none" strike="noStrike">
                <a:solidFill>
                  <a:schemeClr val="dk1"/>
                </a:solidFill>
                <a:latin typeface="Arial"/>
                <a:ea typeface="Arial"/>
                <a:cs typeface="Arial"/>
                <a:sym typeface="Arial"/>
              </a:rPr>
              <a:t>Key Message:</a:t>
            </a:r>
            <a:endParaRPr/>
          </a:p>
          <a:p>
            <a:pPr marL="0" lvl="0" indent="0" algn="l" rtl="0">
              <a:lnSpc>
                <a:spcPct val="80000"/>
              </a:lnSpc>
              <a:spcBef>
                <a:spcPts val="0"/>
              </a:spcBef>
              <a:spcAft>
                <a:spcPts val="0"/>
              </a:spcAft>
              <a:buClr>
                <a:schemeClr val="dk2"/>
              </a:buClr>
              <a:buSzPts val="1100"/>
              <a:buFont typeface="Arial"/>
              <a:buNone/>
            </a:pPr>
            <a:r>
              <a:rPr lang="en-US" sz="1050">
                <a:solidFill>
                  <a:schemeClr val="dk2"/>
                </a:solidFill>
                <a:latin typeface="Inter"/>
                <a:ea typeface="Inter"/>
                <a:cs typeface="Inter"/>
                <a:sym typeface="Inter"/>
              </a:rPr>
              <a:t>VMware Cloud Foundation Operations centers on four aspects to run private cloud infrastructure: Build, Manage, Operate, and Protect.  These four operational aspects transform infrastructure management into a resilient, automated private cloud platform that adapts to enterprise demands.</a:t>
            </a:r>
            <a:endParaRPr/>
          </a:p>
          <a:p>
            <a:pPr marL="0" lvl="0" indent="0" algn="l" rtl="0">
              <a:lnSpc>
                <a:spcPct val="80000"/>
              </a:lnSpc>
              <a:spcBef>
                <a:spcPts val="0"/>
              </a:spcBef>
              <a:spcAft>
                <a:spcPts val="0"/>
              </a:spcAft>
              <a:buClr>
                <a:schemeClr val="dk2"/>
              </a:buClr>
              <a:buSzPts val="1100"/>
              <a:buFont typeface="Arial"/>
              <a:buNone/>
            </a:pPr>
            <a:endParaRPr sz="1050">
              <a:solidFill>
                <a:schemeClr val="dk2"/>
              </a:solidFill>
              <a:latin typeface="Inter"/>
              <a:ea typeface="Inter"/>
              <a:cs typeface="Inter"/>
              <a:sym typeface="Inter"/>
            </a:endParaRPr>
          </a:p>
          <a:p>
            <a:pPr marL="0" marR="0" lvl="0" indent="0" algn="l" rtl="0">
              <a:lnSpc>
                <a:spcPct val="80000"/>
              </a:lnSpc>
              <a:spcBef>
                <a:spcPts val="0"/>
              </a:spcBef>
              <a:spcAft>
                <a:spcPts val="0"/>
              </a:spcAft>
              <a:buClr>
                <a:schemeClr val="dk2"/>
              </a:buClr>
              <a:buSzPts val="1100"/>
              <a:buFont typeface="Arial"/>
              <a:buNone/>
            </a:pPr>
            <a:r>
              <a:rPr lang="en-US" sz="1050" b="1" u="none" strike="noStrike">
                <a:solidFill>
                  <a:schemeClr val="dk1"/>
                </a:solidFill>
                <a:latin typeface="Arial"/>
                <a:ea typeface="Arial"/>
                <a:cs typeface="Arial"/>
                <a:sym typeface="Arial"/>
              </a:rPr>
              <a:t>Talk Track:</a:t>
            </a:r>
            <a:endParaRPr/>
          </a:p>
          <a:p>
            <a:pPr marL="0" marR="0" lvl="0" indent="0" algn="l" rtl="0">
              <a:lnSpc>
                <a:spcPct val="80000"/>
              </a:lnSpc>
              <a:spcBef>
                <a:spcPts val="0"/>
              </a:spcBef>
              <a:spcAft>
                <a:spcPts val="0"/>
              </a:spcAft>
              <a:buClr>
                <a:schemeClr val="dk2"/>
              </a:buClr>
              <a:buSzPts val="1100"/>
              <a:buFont typeface="Arial"/>
              <a:buNone/>
            </a:pPr>
            <a:r>
              <a:rPr lang="en-US" sz="1050">
                <a:solidFill>
                  <a:schemeClr val="dk2"/>
                </a:solidFill>
                <a:latin typeface="Inter"/>
                <a:ea typeface="Inter"/>
                <a:cs typeface="Inter"/>
                <a:sym typeface="Inter"/>
              </a:rPr>
              <a:t>VCF Operations centers on four aspects to run private cloud infrastructure: Build, Manage, Operate, and Protect.  These four operational aspects transform infrastructure management into a resilient, automated private cloud platform that adapts to enterprise demands.</a:t>
            </a:r>
            <a:endParaRPr/>
          </a:p>
          <a:p>
            <a:pPr marL="0" marR="0" lvl="0" indent="0" algn="l" rtl="0">
              <a:lnSpc>
                <a:spcPct val="80000"/>
              </a:lnSpc>
              <a:spcBef>
                <a:spcPts val="0"/>
              </a:spcBef>
              <a:spcAft>
                <a:spcPts val="0"/>
              </a:spcAft>
              <a:buClr>
                <a:schemeClr val="dk2"/>
              </a:buClr>
              <a:buSzPts val="1100"/>
              <a:buFont typeface="Arial"/>
              <a:buNone/>
            </a:pPr>
            <a:endParaRPr sz="1050">
              <a:solidFill>
                <a:schemeClr val="dk2"/>
              </a:solidFill>
              <a:latin typeface="Inter"/>
              <a:ea typeface="Inter"/>
              <a:cs typeface="Inter"/>
              <a:sym typeface="Inter"/>
            </a:endParaRPr>
          </a:p>
          <a:p>
            <a:pPr marL="0" marR="0" lvl="0" indent="0" algn="l" rtl="0">
              <a:lnSpc>
                <a:spcPct val="80000"/>
              </a:lnSpc>
              <a:spcBef>
                <a:spcPts val="0"/>
              </a:spcBef>
              <a:spcAft>
                <a:spcPts val="0"/>
              </a:spcAft>
              <a:buClr>
                <a:schemeClr val="dk2"/>
              </a:buClr>
              <a:buSzPts val="1100"/>
              <a:buFont typeface="Arial"/>
              <a:buNone/>
            </a:pPr>
            <a:r>
              <a:rPr lang="en-US" sz="1050" b="1">
                <a:solidFill>
                  <a:schemeClr val="dk2"/>
                </a:solidFill>
                <a:latin typeface="Inter"/>
                <a:ea typeface="Inter"/>
                <a:cs typeface="Inter"/>
                <a:sym typeface="Inter"/>
              </a:rPr>
              <a:t>&lt;CLICK&gt;</a:t>
            </a:r>
            <a:endParaRPr/>
          </a:p>
          <a:p>
            <a:pPr marL="0" marR="0" lvl="0" indent="0" algn="l" rtl="0">
              <a:lnSpc>
                <a:spcPct val="80000"/>
              </a:lnSpc>
              <a:spcBef>
                <a:spcPts val="0"/>
              </a:spcBef>
              <a:spcAft>
                <a:spcPts val="0"/>
              </a:spcAft>
              <a:buClr>
                <a:schemeClr val="dk2"/>
              </a:buClr>
              <a:buSzPts val="1100"/>
              <a:buFont typeface="Arial"/>
              <a:buNone/>
            </a:pPr>
            <a:endParaRPr sz="1050" b="0"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2"/>
              </a:buClr>
              <a:buSzPts val="1100"/>
              <a:buFont typeface="Arial"/>
              <a:buNone/>
            </a:pPr>
            <a:r>
              <a:rPr lang="en-US" sz="1050" b="0" u="none" strike="noStrike">
                <a:solidFill>
                  <a:schemeClr val="dk1"/>
                </a:solidFill>
                <a:latin typeface="Arial"/>
                <a:ea typeface="Arial"/>
                <a:cs typeface="Arial"/>
                <a:sym typeface="Arial"/>
              </a:rPr>
              <a:t>We have already discussed how to BUILD your VCF cloud, now let’s discuss how to make MANAGING that cloud on a day-to-day basis as simple as possible.  </a:t>
            </a:r>
            <a:r>
              <a:rPr lang="en-US" sz="1050" b="0">
                <a:solidFill>
                  <a:schemeClr val="dk2"/>
                </a:solidFill>
                <a:latin typeface="Inter"/>
                <a:ea typeface="Inter"/>
                <a:cs typeface="Inter"/>
                <a:sym typeface="Inter"/>
              </a:rPr>
              <a:t>VCF Operations expands cloud management across your VCF fleet through diverse environments while maintaining centralized control over single sign-on, licensing, certificates, and passwords.  VCF Operations then helps reduce operational costs with cost visibility and chargeback capabilities, allowing IT teams to focus on maximizing resource capacity of the infrastructure. </a:t>
            </a:r>
            <a:endParaRPr sz="1050" b="0">
              <a:solidFill>
                <a:schemeClr val="dk2"/>
              </a:solidFill>
              <a:latin typeface="Inter"/>
              <a:ea typeface="Inter"/>
              <a:cs typeface="Inter"/>
              <a:sym typeface="Inter"/>
            </a:endParaRPr>
          </a:p>
          <a:p>
            <a:pPr marL="0" lvl="0" indent="0" algn="l" rtl="0">
              <a:lnSpc>
                <a:spcPct val="80000"/>
              </a:lnSpc>
              <a:spcBef>
                <a:spcPts val="0"/>
              </a:spcBef>
              <a:spcAft>
                <a:spcPts val="0"/>
              </a:spcAft>
              <a:buClr>
                <a:schemeClr val="dk2"/>
              </a:buClr>
              <a:buSzPts val="1100"/>
              <a:buFont typeface="Arial"/>
              <a:buNone/>
            </a:pPr>
            <a:endParaRPr sz="1050">
              <a:solidFill>
                <a:schemeClr val="dk2"/>
              </a:solidFill>
              <a:latin typeface="Inter"/>
              <a:ea typeface="Inter"/>
              <a:cs typeface="Inter"/>
              <a:sym typeface="Inter"/>
            </a:endParaRPr>
          </a:p>
          <a:p>
            <a:pPr marL="0" marR="0" lvl="0" indent="0" algn="l" rtl="0">
              <a:lnSpc>
                <a:spcPct val="80000"/>
              </a:lnSpc>
              <a:spcBef>
                <a:spcPts val="0"/>
              </a:spcBef>
              <a:spcAft>
                <a:spcPts val="0"/>
              </a:spcAft>
              <a:buClr>
                <a:srgbClr val="000000"/>
              </a:buClr>
              <a:buSzPts val="1400"/>
              <a:buFont typeface="Arial"/>
              <a:buNone/>
            </a:pPr>
            <a:endParaRPr sz="1050">
              <a:solidFill>
                <a:schemeClr val="dk2"/>
              </a:solidFill>
              <a:latin typeface="Inter"/>
              <a:ea typeface="Inter"/>
              <a:cs typeface="Inter"/>
              <a:sym typeface="Inter"/>
            </a:endParaRPr>
          </a:p>
        </p:txBody>
      </p:sp>
      <p:sp>
        <p:nvSpPr>
          <p:cNvPr id="14670" name="Google Shape;14670;p77: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l" rtl="0">
              <a:lnSpc>
                <a:spcPct val="100000"/>
              </a:lnSpc>
              <a:spcBef>
                <a:spcPts val="0"/>
              </a:spcBef>
              <a:spcAft>
                <a:spcPts val="0"/>
              </a:spcAft>
              <a:buClr>
                <a:srgbClr val="717074"/>
              </a:buClr>
              <a:buSzPts val="1400"/>
              <a:buFont typeface="Arial"/>
              <a:buNone/>
            </a:pPr>
            <a:fld id="{00000000-1234-1234-1234-123412341234}" type="slidenum">
              <a:rPr lang="en-US" sz="1200" b="0" i="0" u="none" strike="noStrike" cap="none">
                <a:solidFill>
                  <a:srgbClr val="717074"/>
                </a:solidFill>
                <a:latin typeface="Arial"/>
                <a:ea typeface="Arial"/>
                <a:cs typeface="Arial"/>
                <a:sym typeface="Arial"/>
              </a:rPr>
              <a:t>57</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4"/>
        <p:cNvGrpSpPr/>
        <p:nvPr/>
      </p:nvGrpSpPr>
      <p:grpSpPr>
        <a:xfrm>
          <a:off x="0" y="0"/>
          <a:ext cx="0" cy="0"/>
          <a:chOff x="0" y="0"/>
          <a:chExt cx="0" cy="0"/>
        </a:xfrm>
      </p:grpSpPr>
      <p:sp>
        <p:nvSpPr>
          <p:cNvPr id="14695" name="Google Shape;14695;p7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696" name="Google Shape;14696;p7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80000"/>
              </a:lnSpc>
              <a:spcBef>
                <a:spcPts val="0"/>
              </a:spcBef>
              <a:spcAft>
                <a:spcPts val="0"/>
              </a:spcAft>
              <a:buClr>
                <a:schemeClr val="dk1"/>
              </a:buClr>
              <a:buSzPts val="800"/>
              <a:buFont typeface="Arial"/>
              <a:buNone/>
            </a:pPr>
            <a:r>
              <a:rPr lang="en-US" sz="1200" b="1" u="none" strike="noStrike">
                <a:solidFill>
                  <a:schemeClr val="dk1"/>
                </a:solidFill>
                <a:latin typeface="Arial"/>
                <a:ea typeface="Arial"/>
                <a:cs typeface="Arial"/>
                <a:sym typeface="Arial"/>
              </a:rPr>
              <a:t>Key Message:</a:t>
            </a:r>
            <a:endParaRPr/>
          </a:p>
          <a:p>
            <a:pPr marL="0" marR="0" lvl="0" indent="0" algn="l" rtl="0">
              <a:lnSpc>
                <a:spcPct val="80000"/>
              </a:lnSpc>
              <a:spcBef>
                <a:spcPts val="0"/>
              </a:spcBef>
              <a:spcAft>
                <a:spcPts val="0"/>
              </a:spcAft>
              <a:buClr>
                <a:schemeClr val="dk1"/>
              </a:buClr>
              <a:buSzPts val="800"/>
              <a:buFont typeface="Arial"/>
              <a:buNone/>
            </a:pPr>
            <a:r>
              <a:rPr lang="en-US" sz="1200" b="0" u="none" strike="noStrike">
                <a:solidFill>
                  <a:schemeClr val="dk1"/>
                </a:solidFill>
                <a:latin typeface="Arial"/>
                <a:ea typeface="Arial"/>
                <a:cs typeface="Arial"/>
                <a:sym typeface="Arial"/>
              </a:rPr>
              <a:t>VCF 9.1 introduces new navigation making it easier for Administrators to perform common tasks.  The VCF Operations console consolidates fleet management activities under the Manage tab.</a:t>
            </a:r>
            <a:br>
              <a:rPr lang="en-US" sz="1200" b="1" u="none" strike="noStrike">
                <a:solidFill>
                  <a:schemeClr val="dk1"/>
                </a:solidFill>
                <a:latin typeface="Arial"/>
                <a:ea typeface="Arial"/>
                <a:cs typeface="Arial"/>
                <a:sym typeface="Arial"/>
              </a:rPr>
            </a:br>
            <a:endParaRPr sz="1200" b="1"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800"/>
              <a:buFont typeface="Arial"/>
              <a:buNone/>
            </a:pPr>
            <a:r>
              <a:rPr lang="en-US" sz="1200" b="1" u="none" strike="noStrike">
                <a:solidFill>
                  <a:schemeClr val="dk1"/>
                </a:solidFill>
                <a:latin typeface="Arial"/>
                <a:ea typeface="Arial"/>
                <a:cs typeface="Arial"/>
                <a:sym typeface="Arial"/>
              </a:rPr>
              <a:t>Talk Track:</a:t>
            </a:r>
            <a:endParaRPr/>
          </a:p>
          <a:p>
            <a:pPr marL="0" lvl="0" indent="0" algn="l" rtl="0">
              <a:lnSpc>
                <a:spcPct val="80000"/>
              </a:lnSpc>
              <a:spcBef>
                <a:spcPts val="0"/>
              </a:spcBef>
              <a:spcAft>
                <a:spcPts val="0"/>
              </a:spcAft>
              <a:buClr>
                <a:schemeClr val="dk1"/>
              </a:buClr>
              <a:buSzPts val="800"/>
              <a:buFont typeface="Arial"/>
              <a:buNone/>
            </a:pPr>
            <a:r>
              <a:rPr lang="en-US" sz="1200" u="none" strike="noStrike">
                <a:solidFill>
                  <a:schemeClr val="dk1"/>
                </a:solidFill>
                <a:latin typeface="Arial"/>
                <a:ea typeface="Arial"/>
                <a:cs typeface="Arial"/>
                <a:sym typeface="Arial"/>
              </a:rPr>
              <a:t>VCF Operations is the primary administrative console for administrators to manage the underlying VCF infrastructure and management components.</a:t>
            </a:r>
            <a:br>
              <a:rPr lang="en-US" sz="1200" u="none" strike="noStrike">
                <a:solidFill>
                  <a:schemeClr val="dk1"/>
                </a:solidFill>
                <a:latin typeface="Arial"/>
                <a:ea typeface="Arial"/>
                <a:cs typeface="Arial"/>
                <a:sym typeface="Arial"/>
              </a:rPr>
            </a:br>
            <a:r>
              <a:rPr lang="en-US" sz="1200" u="none" strike="noStrike">
                <a:solidFill>
                  <a:schemeClr val="dk1"/>
                </a:solidFill>
                <a:latin typeface="Arial"/>
                <a:ea typeface="Arial"/>
                <a:cs typeface="Arial"/>
                <a:sym typeface="Arial"/>
              </a:rPr>
              <a:t>New navigation includes a new section called “Fleet Management” which conveniently groups fleet related activities for quick access.</a:t>
            </a:r>
            <a:endParaRPr/>
          </a:p>
          <a:p>
            <a:pPr marL="0" lvl="0" indent="0" algn="l" rtl="0">
              <a:lnSpc>
                <a:spcPct val="80000"/>
              </a:lnSpc>
              <a:spcBef>
                <a:spcPts val="0"/>
              </a:spcBef>
              <a:spcAft>
                <a:spcPts val="0"/>
              </a:spcAft>
              <a:buClr>
                <a:schemeClr val="dk1"/>
              </a:buClr>
              <a:buSzPts val="800"/>
              <a:buFont typeface="Arial"/>
              <a:buNone/>
            </a:pPr>
            <a:endParaRPr sz="1200"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800"/>
              <a:buFont typeface="Arial"/>
              <a:buNone/>
            </a:pPr>
            <a:r>
              <a:rPr lang="en-US" sz="1200" u="none" strike="noStrike">
                <a:solidFill>
                  <a:schemeClr val="dk1"/>
                </a:solidFill>
                <a:latin typeface="Arial"/>
                <a:ea typeface="Arial"/>
                <a:cs typeface="Arial"/>
                <a:sym typeface="Arial"/>
              </a:rPr>
              <a:t>In this section, administrators will find important configuration interfaces for essential tasks such as:</a:t>
            </a:r>
            <a:endParaRPr/>
          </a:p>
          <a:p>
            <a:pPr marL="171450" lvl="0" indent="-171450" algn="l" rtl="0">
              <a:lnSpc>
                <a:spcPct val="80000"/>
              </a:lnSpc>
              <a:spcBef>
                <a:spcPts val="0"/>
              </a:spcBef>
              <a:spcAft>
                <a:spcPts val="0"/>
              </a:spcAft>
              <a:buClr>
                <a:schemeClr val="dk1"/>
              </a:buClr>
              <a:buSzPts val="800"/>
              <a:buFont typeface="Arial"/>
              <a:buChar char="•"/>
            </a:pPr>
            <a:r>
              <a:rPr lang="en-US" sz="1200" u="none" strike="noStrike">
                <a:solidFill>
                  <a:schemeClr val="dk1"/>
                </a:solidFill>
                <a:latin typeface="Arial"/>
                <a:ea typeface="Arial"/>
                <a:cs typeface="Arial"/>
                <a:sym typeface="Arial"/>
              </a:rPr>
              <a:t>Setting up VCF Single Sign-On and identity and Access Management for seamless management of VCF components such as NSX Manager and VCF Automation</a:t>
            </a:r>
            <a:endParaRPr/>
          </a:p>
          <a:p>
            <a:pPr marL="171450" lvl="0" indent="-171450" algn="l" rtl="0">
              <a:lnSpc>
                <a:spcPct val="80000"/>
              </a:lnSpc>
              <a:spcBef>
                <a:spcPts val="0"/>
              </a:spcBef>
              <a:spcAft>
                <a:spcPts val="0"/>
              </a:spcAft>
              <a:buClr>
                <a:schemeClr val="dk1"/>
              </a:buClr>
              <a:buSzPts val="800"/>
              <a:buFont typeface="Arial"/>
              <a:buChar char="•"/>
            </a:pPr>
            <a:r>
              <a:rPr lang="en-US" sz="1200" u="none" strike="noStrike">
                <a:solidFill>
                  <a:schemeClr val="dk1"/>
                </a:solidFill>
                <a:latin typeface="Arial"/>
                <a:ea typeface="Arial"/>
                <a:cs typeface="Arial"/>
                <a:sym typeface="Arial"/>
              </a:rPr>
              <a:t>Viewing and updating security certificates for management appliances and ESX hosts within a fleet.</a:t>
            </a:r>
            <a:endParaRPr/>
          </a:p>
          <a:p>
            <a:pPr marL="171450" lvl="0" indent="-171450" algn="l" rtl="0">
              <a:lnSpc>
                <a:spcPct val="80000"/>
              </a:lnSpc>
              <a:spcBef>
                <a:spcPts val="0"/>
              </a:spcBef>
              <a:spcAft>
                <a:spcPts val="0"/>
              </a:spcAft>
              <a:buClr>
                <a:schemeClr val="dk1"/>
              </a:buClr>
              <a:buSzPts val="800"/>
              <a:buFont typeface="Arial"/>
              <a:buChar char="•"/>
            </a:pPr>
            <a:r>
              <a:rPr lang="en-US" sz="1200" u="none" strike="noStrike">
                <a:solidFill>
                  <a:schemeClr val="dk1"/>
                </a:solidFill>
                <a:latin typeface="Arial"/>
                <a:ea typeface="Arial"/>
                <a:cs typeface="Arial"/>
                <a:sym typeface="Arial"/>
              </a:rPr>
              <a:t>Configuration management and tags</a:t>
            </a:r>
            <a:endParaRPr/>
          </a:p>
          <a:p>
            <a:pPr marL="171450" lvl="0" indent="-171450" algn="l" rtl="0">
              <a:lnSpc>
                <a:spcPct val="80000"/>
              </a:lnSpc>
              <a:spcBef>
                <a:spcPts val="0"/>
              </a:spcBef>
              <a:spcAft>
                <a:spcPts val="0"/>
              </a:spcAft>
              <a:buClr>
                <a:schemeClr val="dk1"/>
              </a:buClr>
              <a:buSzPts val="800"/>
              <a:buFont typeface="Arial"/>
              <a:buChar char="•"/>
            </a:pPr>
            <a:r>
              <a:rPr lang="en-US" sz="1200" u="none" strike="noStrike">
                <a:solidFill>
                  <a:schemeClr val="dk1"/>
                </a:solidFill>
                <a:latin typeface="Arial"/>
                <a:ea typeface="Arial"/>
                <a:cs typeface="Arial"/>
                <a:sym typeface="Arial"/>
              </a:rPr>
              <a:t>Password and password policy management</a:t>
            </a:r>
            <a:endParaRPr/>
          </a:p>
          <a:p>
            <a:pPr marL="0" lvl="0" indent="0" algn="l" rtl="0">
              <a:lnSpc>
                <a:spcPct val="80000"/>
              </a:lnSpc>
              <a:spcBef>
                <a:spcPts val="0"/>
              </a:spcBef>
              <a:spcAft>
                <a:spcPts val="0"/>
              </a:spcAft>
              <a:buClr>
                <a:schemeClr val="dk1"/>
              </a:buClr>
              <a:buSzPts val="800"/>
              <a:buFont typeface="Arial"/>
              <a:buNone/>
            </a:pPr>
            <a:endParaRPr sz="1200"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800"/>
              <a:buFont typeface="Arial"/>
              <a:buNone/>
            </a:pPr>
            <a:r>
              <a:rPr lang="en-US" sz="1200" b="1" u="none" strike="noStrike">
                <a:solidFill>
                  <a:schemeClr val="dk1"/>
                </a:solidFill>
                <a:latin typeface="Arial"/>
                <a:ea typeface="Arial"/>
                <a:cs typeface="Arial"/>
                <a:sym typeface="Arial"/>
              </a:rPr>
              <a:t>Notes:</a:t>
            </a:r>
            <a:endParaRPr/>
          </a:p>
          <a:p>
            <a:pPr marL="171450" marR="0" lvl="0" indent="-171450" algn="l" rtl="0">
              <a:lnSpc>
                <a:spcPct val="60000"/>
              </a:lnSpc>
              <a:spcBef>
                <a:spcPts val="0"/>
              </a:spcBef>
              <a:spcAft>
                <a:spcPts val="0"/>
              </a:spcAft>
              <a:buClr>
                <a:schemeClr val="dk1"/>
              </a:buClr>
              <a:buSzPts val="930"/>
              <a:buFont typeface="Arial"/>
              <a:buChar char="-"/>
            </a:pPr>
            <a:r>
              <a:rPr lang="en-US" sz="2400" b="0" u="none" strike="noStrike">
                <a:solidFill>
                  <a:schemeClr val="dk1"/>
                </a:solidFill>
                <a:latin typeface="Arial"/>
                <a:ea typeface="Arial"/>
                <a:cs typeface="Arial"/>
                <a:sym typeface="Arial"/>
              </a:rPr>
              <a:t>This is just an intro slide to the concept of Fleet Management.</a:t>
            </a:r>
            <a:endParaRPr/>
          </a:p>
          <a:p>
            <a:pPr marL="0" lvl="0" indent="0" algn="l" rtl="0">
              <a:lnSpc>
                <a:spcPct val="80000"/>
              </a:lnSpc>
              <a:spcBef>
                <a:spcPts val="0"/>
              </a:spcBef>
              <a:spcAft>
                <a:spcPts val="0"/>
              </a:spcAft>
              <a:buClr>
                <a:schemeClr val="dk1"/>
              </a:buClr>
              <a:buSzPts val="800"/>
              <a:buFont typeface="Arial"/>
              <a:buNone/>
            </a:pPr>
            <a:endParaRPr sz="1200">
              <a:latin typeface="Arial"/>
              <a:ea typeface="Arial"/>
              <a:cs typeface="Arial"/>
              <a:sym typeface="Arial"/>
            </a:endParaRPr>
          </a:p>
          <a:p>
            <a:pPr marL="0" lvl="0" indent="0" algn="l" rtl="0">
              <a:lnSpc>
                <a:spcPct val="80000"/>
              </a:lnSpc>
              <a:spcBef>
                <a:spcPts val="0"/>
              </a:spcBef>
              <a:spcAft>
                <a:spcPts val="0"/>
              </a:spcAft>
              <a:buClr>
                <a:schemeClr val="dk1"/>
              </a:buClr>
              <a:buSzPts val="800"/>
              <a:buFont typeface="Arial"/>
              <a:buNone/>
            </a:pPr>
            <a:r>
              <a:rPr lang="en-US" sz="1200" b="1" u="none" strike="noStrike">
                <a:solidFill>
                  <a:schemeClr val="dk1"/>
                </a:solidFill>
                <a:latin typeface="Arial"/>
                <a:ea typeface="Arial"/>
                <a:cs typeface="Arial"/>
                <a:sym typeface="Arial"/>
              </a:rPr>
              <a:t>Resources:</a:t>
            </a:r>
            <a:endParaRPr/>
          </a:p>
          <a:p>
            <a:pPr marL="0" marR="0" lvl="0" indent="0" algn="l" rtl="0">
              <a:lnSpc>
                <a:spcPct val="100000"/>
              </a:lnSpc>
              <a:spcBef>
                <a:spcPts val="0"/>
              </a:spcBef>
              <a:spcAft>
                <a:spcPts val="0"/>
              </a:spcAft>
              <a:buClr>
                <a:schemeClr val="dk1"/>
              </a:buClr>
              <a:buSzPts val="1200"/>
              <a:buFont typeface="Arial"/>
              <a:buNone/>
            </a:pPr>
            <a:r>
              <a:rPr lang="en-US" sz="1200" b="0" u="none" strike="noStrike">
                <a:solidFill>
                  <a:schemeClr val="dk1"/>
                </a:solidFill>
                <a:latin typeface="Arial"/>
                <a:ea typeface="Arial"/>
                <a:cs typeface="Arial"/>
                <a:sym typeface="Arial"/>
              </a:rPr>
              <a:t>Refer to the VMware Cloud Foundation Operations Guide for further information</a:t>
            </a:r>
            <a:br>
              <a:rPr lang="en-US" sz="1200" b="0" u="none" strike="noStrike">
                <a:solidFill>
                  <a:schemeClr val="dk1"/>
                </a:solidFill>
                <a:latin typeface="Arial"/>
                <a:ea typeface="Arial"/>
                <a:cs typeface="Arial"/>
                <a:sym typeface="Arial"/>
              </a:rPr>
            </a:br>
            <a:r>
              <a:rPr lang="en-US" sz="1200" u="sng">
                <a:solidFill>
                  <a:schemeClr val="hlink"/>
                </a:solidFill>
                <a:latin typeface="Helvetica Neue"/>
                <a:ea typeface="Helvetica Neue"/>
                <a:cs typeface="Helvetica Neue"/>
                <a:sym typeface="Helvetica Neue"/>
                <a:hlinkClick r:id="rId3"/>
              </a:rPr>
              <a:t>https://techdocs.broadcom.com/us/en/vmware-cis/vcf.html</a:t>
            </a:r>
            <a:r>
              <a:rPr lang="en-US" sz="1200">
                <a:latin typeface="Helvetica Neue"/>
                <a:ea typeface="Helvetica Neue"/>
                <a:cs typeface="Helvetica Neue"/>
                <a:sym typeface="Helvetica Neue"/>
              </a:rPr>
              <a:t> </a:t>
            </a:r>
            <a:endParaRPr/>
          </a:p>
          <a:p>
            <a:pPr marL="0" lvl="0" indent="0" algn="l" rtl="0">
              <a:spcBef>
                <a:spcPts val="0"/>
              </a:spcBef>
              <a:spcAft>
                <a:spcPts val="0"/>
              </a:spcAft>
              <a:buNone/>
            </a:pPr>
            <a:endParaRPr/>
          </a:p>
        </p:txBody>
      </p:sp>
      <p:sp>
        <p:nvSpPr>
          <p:cNvPr id="14697" name="Google Shape;14697;p7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58</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04"/>
        <p:cNvGrpSpPr/>
        <p:nvPr/>
      </p:nvGrpSpPr>
      <p:grpSpPr>
        <a:xfrm>
          <a:off x="0" y="0"/>
          <a:ext cx="0" cy="0"/>
          <a:chOff x="0" y="0"/>
          <a:chExt cx="0" cy="0"/>
        </a:xfrm>
      </p:grpSpPr>
      <p:sp>
        <p:nvSpPr>
          <p:cNvPr id="14705" name="Google Shape;14705;p79: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706" name="Google Shape;14706;p79: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lnSpcReduction="10000"/>
          </a:bodyPr>
          <a:lstStyle/>
          <a:p>
            <a:pPr marL="0" lvl="0" indent="0" algn="l" rtl="0">
              <a:lnSpc>
                <a:spcPct val="70000"/>
              </a:lnSpc>
              <a:spcBef>
                <a:spcPts val="0"/>
              </a:spcBef>
              <a:spcAft>
                <a:spcPts val="0"/>
              </a:spcAft>
              <a:buClr>
                <a:schemeClr val="dk2"/>
              </a:buClr>
              <a:buSzPts val="1100"/>
              <a:buFont typeface="Arial"/>
              <a:buNone/>
            </a:pPr>
            <a:r>
              <a:rPr lang="en-US" sz="930" b="1">
                <a:solidFill>
                  <a:schemeClr val="dk2"/>
                </a:solidFill>
              </a:rPr>
              <a:t>Key Message:</a:t>
            </a:r>
            <a:endParaRPr sz="930">
              <a:solidFill>
                <a:schemeClr val="dk2"/>
              </a:solidFill>
            </a:endParaRPr>
          </a:p>
          <a:p>
            <a:pPr marL="0" lvl="0" indent="0" algn="l" rtl="0">
              <a:lnSpc>
                <a:spcPct val="70000"/>
              </a:lnSpc>
              <a:spcBef>
                <a:spcPts val="0"/>
              </a:spcBef>
              <a:spcAft>
                <a:spcPts val="0"/>
              </a:spcAft>
              <a:buClr>
                <a:schemeClr val="dk2"/>
              </a:buClr>
              <a:buSzPts val="1100"/>
              <a:buFont typeface="Arial"/>
              <a:buNone/>
            </a:pPr>
            <a:r>
              <a:rPr lang="en-US" sz="930">
                <a:solidFill>
                  <a:schemeClr val="dk2"/>
                </a:solidFill>
              </a:rPr>
              <a:t>VCF Operations includes enhanced workflows to configure Iden</a:t>
            </a:r>
            <a:r>
              <a:rPr lang="en-US" sz="930">
                <a:solidFill>
                  <a:srgbClr val="000000"/>
                </a:solidFill>
                <a:latin typeface="Arial"/>
                <a:ea typeface="Arial"/>
                <a:cs typeface="Arial"/>
                <a:sym typeface="Arial"/>
              </a:rPr>
              <a:t>tity and Access Management (IAM) for VCF components end-to-end.  </a:t>
            </a:r>
            <a:r>
              <a:rPr lang="en-US" sz="930">
                <a:solidFill>
                  <a:schemeClr val="dk2"/>
                </a:solidFill>
              </a:rPr>
              <a:t>The workflow </a:t>
            </a:r>
            <a:r>
              <a:rPr lang="en-US" sz="930">
                <a:solidFill>
                  <a:srgbClr val="000000"/>
                </a:solidFill>
                <a:latin typeface="Arial"/>
                <a:ea typeface="Arial"/>
                <a:cs typeface="Arial"/>
                <a:sym typeface="Arial"/>
              </a:rPr>
              <a:t>streamlines SSO and IDP configuration which now includes VCF-level role assignment.</a:t>
            </a:r>
            <a:endParaRPr sz="930">
              <a:solidFill>
                <a:schemeClr val="dk2"/>
              </a:solidFill>
            </a:endParaRPr>
          </a:p>
          <a:p>
            <a:pPr marL="0" lvl="0" indent="0" algn="l" rtl="0">
              <a:lnSpc>
                <a:spcPct val="70000"/>
              </a:lnSpc>
              <a:spcBef>
                <a:spcPts val="0"/>
              </a:spcBef>
              <a:spcAft>
                <a:spcPts val="0"/>
              </a:spcAft>
              <a:buClr>
                <a:schemeClr val="dk2"/>
              </a:buClr>
              <a:buSzPts val="1100"/>
              <a:buFont typeface="Arial"/>
              <a:buNone/>
            </a:pPr>
            <a:endParaRPr sz="930">
              <a:solidFill>
                <a:schemeClr val="dk2"/>
              </a:solidFill>
            </a:endParaRPr>
          </a:p>
          <a:p>
            <a:pPr marL="0" lvl="0" indent="0" algn="l" rtl="0">
              <a:lnSpc>
                <a:spcPct val="70000"/>
              </a:lnSpc>
              <a:spcBef>
                <a:spcPts val="0"/>
              </a:spcBef>
              <a:spcAft>
                <a:spcPts val="0"/>
              </a:spcAft>
              <a:buClr>
                <a:schemeClr val="dk2"/>
              </a:buClr>
              <a:buSzPts val="1100"/>
              <a:buFont typeface="Arial"/>
              <a:buNone/>
            </a:pPr>
            <a:r>
              <a:rPr lang="en-US" sz="930" b="1">
                <a:solidFill>
                  <a:schemeClr val="dk2"/>
                </a:solidFill>
              </a:rPr>
              <a:t>Talk Track:</a:t>
            </a:r>
            <a:endParaRPr/>
          </a:p>
          <a:p>
            <a:pPr marL="0" lvl="0" indent="0" algn="l" rtl="0">
              <a:lnSpc>
                <a:spcPct val="70000"/>
              </a:lnSpc>
              <a:spcBef>
                <a:spcPts val="0"/>
              </a:spcBef>
              <a:spcAft>
                <a:spcPts val="0"/>
              </a:spcAft>
              <a:buClr>
                <a:schemeClr val="dk2"/>
              </a:buClr>
              <a:buSzPts val="1100"/>
              <a:buFont typeface="Arial"/>
              <a:buNone/>
            </a:pPr>
            <a:r>
              <a:rPr lang="en-US" sz="930">
                <a:solidFill>
                  <a:schemeClr val="dk2"/>
                </a:solidFill>
              </a:rPr>
              <a:t>VCF Operations </a:t>
            </a:r>
            <a:r>
              <a:rPr lang="en-US" sz="930" b="0">
                <a:solidFill>
                  <a:schemeClr val="dk2"/>
                </a:solidFill>
              </a:rPr>
              <a:t>includes enhanced workflows which further streamline </a:t>
            </a:r>
            <a:r>
              <a:rPr lang="en-US" sz="930" b="0">
                <a:solidFill>
                  <a:schemeClr val="dk1"/>
                </a:solidFill>
              </a:rPr>
              <a:t>the configuration of Single Sign-on and Identity and Access Management for VCF components within or across VCF instances.  SSO and IAM can be configured end-to-end for VCF instance components (vCenter and NSX) and VCF management components (VCF Operations, VCF Automation, Operations for Logs, Operations for Networks, HCX and Orchestrator).</a:t>
            </a:r>
            <a:endParaRPr/>
          </a:p>
          <a:p>
            <a:pPr marL="0" marR="0" lvl="0" indent="0" algn="l" rtl="0">
              <a:lnSpc>
                <a:spcPct val="70000"/>
              </a:lnSpc>
              <a:spcBef>
                <a:spcPts val="0"/>
              </a:spcBef>
              <a:spcAft>
                <a:spcPts val="0"/>
              </a:spcAft>
              <a:buClr>
                <a:schemeClr val="dk2"/>
              </a:buClr>
              <a:buSzPts val="1100"/>
              <a:buFont typeface="Arial"/>
              <a:buNone/>
            </a:pPr>
            <a:r>
              <a:rPr lang="en-US" sz="930">
                <a:solidFill>
                  <a:srgbClr val="000000"/>
                </a:solidFill>
                <a:latin typeface="Arial"/>
                <a:ea typeface="Arial"/>
                <a:cs typeface="Arial"/>
                <a:sym typeface="Arial"/>
              </a:rPr>
              <a:t>The “Configure VCF SSO” workflow is intuitive and quick to run and offers the Admin many different configuration options.</a:t>
            </a:r>
            <a:endParaRPr/>
          </a:p>
          <a:p>
            <a:pPr marL="0" marR="0" lvl="0" indent="0" algn="l" rtl="0">
              <a:lnSpc>
                <a:spcPct val="70000"/>
              </a:lnSpc>
              <a:spcBef>
                <a:spcPts val="0"/>
              </a:spcBef>
              <a:spcAft>
                <a:spcPts val="0"/>
              </a:spcAft>
              <a:buClr>
                <a:schemeClr val="dk2"/>
              </a:buClr>
              <a:buSzPts val="1100"/>
              <a:buFont typeface="Arial"/>
              <a:buNone/>
            </a:pPr>
            <a:endParaRPr sz="930">
              <a:solidFill>
                <a:srgbClr val="000000"/>
              </a:solidFill>
              <a:latin typeface="Arial"/>
              <a:ea typeface="Arial"/>
              <a:cs typeface="Arial"/>
              <a:sym typeface="Arial"/>
            </a:endParaRPr>
          </a:p>
          <a:p>
            <a:pPr marL="0" lvl="0" indent="0" algn="l" rtl="0">
              <a:lnSpc>
                <a:spcPct val="80000"/>
              </a:lnSpc>
              <a:spcBef>
                <a:spcPts val="0"/>
              </a:spcBef>
              <a:spcAft>
                <a:spcPts val="0"/>
              </a:spcAft>
              <a:buNone/>
            </a:pPr>
            <a:r>
              <a:rPr lang="en-US" sz="930" b="0"/>
              <a:t>The</a:t>
            </a:r>
            <a:r>
              <a:rPr lang="en-US" sz="930" b="1"/>
              <a:t> Identity Broker </a:t>
            </a:r>
            <a:r>
              <a:rPr lang="en-US" sz="930" b="0"/>
              <a:t>is configured  to </a:t>
            </a:r>
            <a:r>
              <a:rPr lang="en-US" sz="930"/>
              <a:t>connect VCF components to a externally managed </a:t>
            </a:r>
            <a:r>
              <a:rPr lang="en-US" sz="930" b="1"/>
              <a:t>Identity Provider </a:t>
            </a:r>
            <a:r>
              <a:rPr lang="en-US" sz="930"/>
              <a:t>or Directory Service.</a:t>
            </a:r>
            <a:endParaRPr sz="930">
              <a:solidFill>
                <a:schemeClr val="dk2"/>
              </a:solidFill>
              <a:latin typeface="Arial"/>
              <a:ea typeface="Arial"/>
              <a:cs typeface="Arial"/>
              <a:sym typeface="Arial"/>
            </a:endParaRPr>
          </a:p>
          <a:p>
            <a:pPr marL="0" lvl="0" indent="0" algn="l" rtl="0">
              <a:lnSpc>
                <a:spcPct val="80000"/>
              </a:lnSpc>
              <a:spcBef>
                <a:spcPts val="0"/>
              </a:spcBef>
              <a:spcAft>
                <a:spcPts val="0"/>
              </a:spcAft>
              <a:buNone/>
            </a:pPr>
            <a:r>
              <a:rPr lang="en-US" sz="930" b="0">
                <a:solidFill>
                  <a:schemeClr val="dk2"/>
                </a:solidFill>
                <a:latin typeface="Arial"/>
                <a:ea typeface="Arial"/>
                <a:cs typeface="Arial"/>
                <a:sym typeface="Arial"/>
              </a:rPr>
              <a:t>- Modern Identity providers include Symantec Identity Security for VCF (IDSP), OKTA, Microsoft ADFS, Microsoft Entra ID, Ping or any (generic) SAML 2.0 provider.</a:t>
            </a:r>
            <a:endParaRPr/>
          </a:p>
          <a:p>
            <a:pPr marL="0" lvl="0" indent="0" algn="l" rtl="0">
              <a:lnSpc>
                <a:spcPct val="80000"/>
              </a:lnSpc>
              <a:spcBef>
                <a:spcPts val="0"/>
              </a:spcBef>
              <a:spcAft>
                <a:spcPts val="0"/>
              </a:spcAft>
              <a:buNone/>
            </a:pPr>
            <a:r>
              <a:rPr lang="en-US" sz="930">
                <a:solidFill>
                  <a:schemeClr val="dk2"/>
                </a:solidFill>
                <a:latin typeface="Arial"/>
                <a:ea typeface="Arial"/>
                <a:cs typeface="Arial"/>
                <a:sym typeface="Arial"/>
              </a:rPr>
              <a:t>- Directory-based services can be configured using either Active Directory/LDAP or Open LDAP.</a:t>
            </a:r>
            <a:endParaRPr/>
          </a:p>
          <a:p>
            <a:pPr marL="0" lvl="0" indent="0" algn="l" rtl="0">
              <a:lnSpc>
                <a:spcPct val="80000"/>
              </a:lnSpc>
              <a:spcBef>
                <a:spcPts val="0"/>
              </a:spcBef>
              <a:spcAft>
                <a:spcPts val="0"/>
              </a:spcAft>
              <a:buNone/>
            </a:pPr>
            <a:endParaRPr sz="930" strike="noStrike">
              <a:solidFill>
                <a:schemeClr val="accent2"/>
              </a:solidFill>
            </a:endParaRPr>
          </a:p>
          <a:p>
            <a:pPr marL="0" lvl="0" indent="0" algn="l" rtl="0">
              <a:lnSpc>
                <a:spcPct val="80000"/>
              </a:lnSpc>
              <a:spcBef>
                <a:spcPts val="0"/>
              </a:spcBef>
              <a:spcAft>
                <a:spcPts val="0"/>
              </a:spcAft>
              <a:buNone/>
            </a:pPr>
            <a:r>
              <a:rPr lang="en-US" sz="930"/>
              <a:t>The workflow then assigns access to SSO users/groups to each VCF management component.  Users and groups</a:t>
            </a:r>
            <a:r>
              <a:rPr lang="en-US" sz="930">
                <a:solidFill>
                  <a:schemeClr val="accent2"/>
                </a:solidFill>
              </a:rPr>
              <a:t> are then assigned VCF-specific roles or custom roles and granted management access.  By assigning user and group access, Admins can ensure VCF components are secure and compliant.</a:t>
            </a:r>
            <a:endParaRPr sz="930"/>
          </a:p>
          <a:p>
            <a:pPr marL="0" lvl="0" indent="0" algn="l" rtl="0">
              <a:lnSpc>
                <a:spcPct val="70000"/>
              </a:lnSpc>
              <a:spcBef>
                <a:spcPts val="0"/>
              </a:spcBef>
              <a:spcAft>
                <a:spcPts val="0"/>
              </a:spcAft>
              <a:buClr>
                <a:schemeClr val="dk2"/>
              </a:buClr>
              <a:buSzPts val="1100"/>
              <a:buFont typeface="Arial"/>
              <a:buNone/>
            </a:pPr>
            <a:endParaRPr sz="930">
              <a:solidFill>
                <a:schemeClr val="dk2"/>
              </a:solidFill>
            </a:endParaRPr>
          </a:p>
          <a:p>
            <a:pPr marL="0" marR="0" lvl="0" indent="0" algn="l" rtl="0">
              <a:lnSpc>
                <a:spcPct val="70000"/>
              </a:lnSpc>
              <a:spcBef>
                <a:spcPts val="0"/>
              </a:spcBef>
              <a:spcAft>
                <a:spcPts val="0"/>
              </a:spcAft>
              <a:buClr>
                <a:schemeClr val="dk2"/>
              </a:buClr>
              <a:buSzPts val="1100"/>
              <a:buFont typeface="Arial"/>
              <a:buNone/>
            </a:pPr>
            <a:r>
              <a:rPr lang="en-US" sz="930" b="1">
                <a:solidFill>
                  <a:schemeClr val="dk2"/>
                </a:solidFill>
              </a:rPr>
              <a:t>Notes:</a:t>
            </a:r>
            <a:endParaRPr/>
          </a:p>
          <a:p>
            <a:pPr marL="171450" marR="0" lvl="0" indent="-171450" algn="l" rtl="0">
              <a:lnSpc>
                <a:spcPct val="70000"/>
              </a:lnSpc>
              <a:spcBef>
                <a:spcPts val="0"/>
              </a:spcBef>
              <a:spcAft>
                <a:spcPts val="0"/>
              </a:spcAft>
              <a:buClr>
                <a:schemeClr val="dk2"/>
              </a:buClr>
              <a:buSzPts val="1100"/>
              <a:buFont typeface="Arial"/>
              <a:buChar char="-"/>
            </a:pPr>
            <a:r>
              <a:rPr lang="en-US" sz="930" b="0">
                <a:solidFill>
                  <a:schemeClr val="dk2"/>
                </a:solidFill>
              </a:rPr>
              <a:t>Custom VCF Roles and Custom vCenter roles are separate features and are not to be confused.</a:t>
            </a:r>
            <a:endParaRPr/>
          </a:p>
          <a:p>
            <a:pPr marL="171450" marR="0" lvl="0" indent="-171450" algn="l" rtl="0">
              <a:lnSpc>
                <a:spcPct val="70000"/>
              </a:lnSpc>
              <a:spcBef>
                <a:spcPts val="0"/>
              </a:spcBef>
              <a:spcAft>
                <a:spcPts val="0"/>
              </a:spcAft>
              <a:buClr>
                <a:schemeClr val="dk2"/>
              </a:buClr>
              <a:buSzPts val="1100"/>
              <a:buFont typeface="Arial"/>
              <a:buChar char="-"/>
            </a:pPr>
            <a:r>
              <a:rPr lang="en-US" sz="930" b="0">
                <a:solidFill>
                  <a:schemeClr val="dk2"/>
                </a:solidFill>
              </a:rPr>
              <a:t>VCF roles and Custom roles can be defined globally and enforced locally.</a:t>
            </a:r>
            <a:br>
              <a:rPr lang="en-US" sz="930" b="0">
                <a:solidFill>
                  <a:schemeClr val="dk2"/>
                </a:solidFill>
              </a:rPr>
            </a:br>
            <a:endParaRPr sz="930">
              <a:solidFill>
                <a:schemeClr val="dk2"/>
              </a:solidFill>
            </a:endParaRPr>
          </a:p>
          <a:p>
            <a:pPr marL="0" lvl="0" indent="0" algn="l" rtl="0">
              <a:lnSpc>
                <a:spcPct val="70000"/>
              </a:lnSpc>
              <a:spcBef>
                <a:spcPts val="0"/>
              </a:spcBef>
              <a:spcAft>
                <a:spcPts val="0"/>
              </a:spcAft>
              <a:buClr>
                <a:schemeClr val="dk2"/>
              </a:buClr>
              <a:buSzPts val="1100"/>
              <a:buFont typeface="Arial"/>
              <a:buNone/>
            </a:pPr>
            <a:r>
              <a:rPr lang="en-US" sz="930" b="1">
                <a:solidFill>
                  <a:schemeClr val="dk2"/>
                </a:solidFill>
              </a:rPr>
              <a:t>Resources:</a:t>
            </a:r>
            <a:endParaRPr/>
          </a:p>
          <a:p>
            <a:pPr marL="0" marR="0" lvl="0" indent="0" algn="l" rtl="0">
              <a:lnSpc>
                <a:spcPct val="70000"/>
              </a:lnSpc>
              <a:spcBef>
                <a:spcPts val="0"/>
              </a:spcBef>
              <a:spcAft>
                <a:spcPts val="0"/>
              </a:spcAft>
              <a:buClr>
                <a:schemeClr val="dk2"/>
              </a:buClr>
              <a:buSzPts val="1100"/>
              <a:buFont typeface="Arial"/>
              <a:buNone/>
            </a:pPr>
            <a:r>
              <a:rPr lang="en-US" sz="930" b="0"/>
              <a:t>Please refer to the VCF 9.1 Fleet Management Documentation for additional information</a:t>
            </a:r>
            <a:br>
              <a:rPr lang="en-US" sz="930" b="0"/>
            </a:br>
            <a:r>
              <a:rPr lang="en-US" sz="930" b="0" i="0" u="sng" strike="noStrike" cap="none">
                <a:solidFill>
                  <a:schemeClr val="dk1"/>
                </a:solidFill>
                <a:latin typeface="Arial"/>
                <a:ea typeface="Arial"/>
                <a:cs typeface="Arial"/>
                <a:sym typeface="Arial"/>
                <a:hlinkClick r:id="rId3">
                  <a:extLst>
                    <a:ext uri="{A12FA001-AC4F-418D-AE19-62706E023703}">
                      <ahyp:hlinkClr xmlns:ahyp="http://schemas.microsoft.com/office/drawing/2018/hyperlinkcolor" val="tx"/>
                    </a:ext>
                  </a:extLst>
                </a:hlinkClick>
              </a:rPr>
              <a:t>https://techdocs.broadcom.com/us/en/vmware-cis/vcf/vcf-9-0-and-later/9-1/fleet-management.html</a:t>
            </a:r>
            <a:r>
              <a:rPr lang="en-US" sz="930" b="0" i="0" u="none" strike="noStrike" cap="none">
                <a:solidFill>
                  <a:schemeClr val="dk1"/>
                </a:solidFill>
                <a:latin typeface="Arial"/>
                <a:ea typeface="Arial"/>
                <a:cs typeface="Arial"/>
                <a:sym typeface="Arial"/>
              </a:rPr>
              <a:t> </a:t>
            </a:r>
            <a:endParaRPr/>
          </a:p>
          <a:p>
            <a:pPr marL="0" marR="0" lvl="0" indent="0" algn="l" rtl="0">
              <a:lnSpc>
                <a:spcPct val="70000"/>
              </a:lnSpc>
              <a:spcBef>
                <a:spcPts val="0"/>
              </a:spcBef>
              <a:spcAft>
                <a:spcPts val="0"/>
              </a:spcAft>
              <a:buClr>
                <a:schemeClr val="dk2"/>
              </a:buClr>
              <a:buSzPts val="1100"/>
              <a:buFont typeface="Arial"/>
              <a:buNone/>
            </a:pPr>
            <a:endParaRPr sz="930" b="0" i="0" u="none" strike="noStrike" cap="none">
              <a:solidFill>
                <a:schemeClr val="dk1"/>
              </a:solidFill>
              <a:latin typeface="Arial"/>
              <a:ea typeface="Arial"/>
              <a:cs typeface="Arial"/>
              <a:sym typeface="Arial"/>
            </a:endParaRPr>
          </a:p>
          <a:p>
            <a:pPr marL="0" lvl="0" indent="0" algn="l" rtl="0">
              <a:lnSpc>
                <a:spcPct val="70000"/>
              </a:lnSpc>
              <a:spcBef>
                <a:spcPts val="0"/>
              </a:spcBef>
              <a:spcAft>
                <a:spcPts val="0"/>
              </a:spcAft>
              <a:buClr>
                <a:schemeClr val="dk2"/>
              </a:buClr>
              <a:buSzPts val="1100"/>
              <a:buFont typeface="Arial"/>
              <a:buNone/>
            </a:pPr>
            <a:br>
              <a:rPr lang="en-US" sz="930">
                <a:solidFill>
                  <a:schemeClr val="dk2"/>
                </a:solidFill>
              </a:rPr>
            </a:br>
            <a:r>
              <a:rPr lang="en-US" sz="930">
                <a:solidFill>
                  <a:schemeClr val="dk2"/>
                </a:solidFill>
              </a:rPr>
              <a:t>--------</a:t>
            </a:r>
            <a:endParaRPr/>
          </a:p>
          <a:p>
            <a:pPr marL="171450" marR="0" lvl="0" indent="-171450" algn="l" rtl="0">
              <a:lnSpc>
                <a:spcPct val="70000"/>
              </a:lnSpc>
              <a:spcBef>
                <a:spcPts val="0"/>
              </a:spcBef>
              <a:spcAft>
                <a:spcPts val="0"/>
              </a:spcAft>
              <a:buClr>
                <a:schemeClr val="dk2"/>
              </a:buClr>
              <a:buSzPts val="1100"/>
              <a:buFont typeface="Arial"/>
              <a:buChar char="-"/>
            </a:pPr>
            <a:r>
              <a:rPr lang="en-US" sz="930">
                <a:solidFill>
                  <a:schemeClr val="dk2"/>
                </a:solidFill>
              </a:rPr>
              <a:t>AF notes to delete:</a:t>
            </a:r>
            <a:br>
              <a:rPr lang="en-US" sz="930">
                <a:solidFill>
                  <a:schemeClr val="dk2"/>
                </a:solidFill>
              </a:rPr>
            </a:br>
            <a:br>
              <a:rPr lang="en-US" sz="930">
                <a:solidFill>
                  <a:schemeClr val="dk2"/>
                </a:solidFill>
              </a:rPr>
            </a:br>
            <a:r>
              <a:rPr lang="en-US" sz="930" b="0">
                <a:solidFill>
                  <a:schemeClr val="dk2"/>
                </a:solidFill>
              </a:rPr>
              <a:t>From DZ</a:t>
            </a:r>
            <a:br>
              <a:rPr lang="en-US" sz="930" b="0">
                <a:solidFill>
                  <a:schemeClr val="dk2"/>
                </a:solidFill>
              </a:rPr>
            </a:br>
            <a:r>
              <a:rPr lang="en-US" sz="930" b="0">
                <a:solidFill>
                  <a:schemeClr val="dk2"/>
                </a:solidFill>
              </a:rPr>
              <a:t>Need to configure SSO first before the API client can be configured.</a:t>
            </a:r>
            <a:endParaRPr/>
          </a:p>
          <a:p>
            <a:pPr marL="171450" marR="0" lvl="0" indent="-171450" algn="l" rtl="0">
              <a:lnSpc>
                <a:spcPct val="70000"/>
              </a:lnSpc>
              <a:spcBef>
                <a:spcPts val="0"/>
              </a:spcBef>
              <a:spcAft>
                <a:spcPts val="0"/>
              </a:spcAft>
              <a:buClr>
                <a:schemeClr val="dk2"/>
              </a:buClr>
              <a:buSzPts val="1100"/>
              <a:buFont typeface="Arial"/>
              <a:buChar char="-"/>
            </a:pPr>
            <a:r>
              <a:rPr lang="en-US" sz="930" b="0">
                <a:solidFill>
                  <a:schemeClr val="dk2"/>
                </a:solidFill>
              </a:rPr>
              <a:t>After this you then go in and configure the API client.  The API client is what other 3</a:t>
            </a:r>
            <a:r>
              <a:rPr lang="en-US" sz="930" b="0" baseline="30000">
                <a:solidFill>
                  <a:schemeClr val="dk2"/>
                </a:solidFill>
              </a:rPr>
              <a:t>rd</a:t>
            </a:r>
            <a:r>
              <a:rPr lang="en-US" sz="930" b="0">
                <a:solidFill>
                  <a:schemeClr val="dk2"/>
                </a:solidFill>
              </a:rPr>
              <a:t> party systems use to programmatically interact with VCF</a:t>
            </a:r>
            <a:br>
              <a:rPr lang="en-US" sz="930" b="0">
                <a:solidFill>
                  <a:schemeClr val="dk2"/>
                </a:solidFill>
              </a:rPr>
            </a:br>
            <a:r>
              <a:rPr lang="en-US" sz="930" b="0">
                <a:solidFill>
                  <a:schemeClr val="dk2"/>
                </a:solidFill>
              </a:rPr>
              <a:t>Give the API client a name, select the scope of VIDB (all or partial vCenter), give it a VCF role or a custom VCF role and select an expiry for the API client.</a:t>
            </a:r>
            <a:br>
              <a:rPr lang="en-US" sz="930" b="0">
                <a:solidFill>
                  <a:schemeClr val="dk2"/>
                </a:solidFill>
              </a:rPr>
            </a:br>
            <a:r>
              <a:rPr lang="en-US" sz="930" b="0">
                <a:solidFill>
                  <a:schemeClr val="dk2"/>
                </a:solidFill>
              </a:rPr>
              <a:t>Think of the API client as a service account generally used by non-humans.</a:t>
            </a:r>
            <a:br>
              <a:rPr lang="en-US" sz="930" b="0">
                <a:solidFill>
                  <a:schemeClr val="dk2"/>
                </a:solidFill>
              </a:rPr>
            </a:br>
            <a:r>
              <a:rPr lang="en-US" sz="930" b="0">
                <a:solidFill>
                  <a:schemeClr val="dk2"/>
                </a:solidFill>
              </a:rPr>
              <a:t>For example you have a third party system that has API access to VCF.  VCF generates a token for these 3</a:t>
            </a:r>
            <a:r>
              <a:rPr lang="en-US" sz="930" b="0" baseline="30000">
                <a:solidFill>
                  <a:schemeClr val="dk2"/>
                </a:solidFill>
              </a:rPr>
              <a:t>rd</a:t>
            </a:r>
            <a:r>
              <a:rPr lang="en-US" sz="930" b="0">
                <a:solidFill>
                  <a:schemeClr val="dk2"/>
                </a:solidFill>
              </a:rPr>
              <a:t> party systems (service accounts) to use which have an expiry date.  Keeps things much more secure.</a:t>
            </a:r>
            <a:br>
              <a:rPr lang="en-US" sz="930" b="0">
                <a:solidFill>
                  <a:schemeClr val="dk2"/>
                </a:solidFill>
              </a:rPr>
            </a:br>
            <a:r>
              <a:rPr lang="en-US" sz="930" b="0">
                <a:solidFill>
                  <a:schemeClr val="dk2"/>
                </a:solidFill>
              </a:rPr>
              <a:t>The API token is requested by the 3</a:t>
            </a:r>
            <a:r>
              <a:rPr lang="en-US" sz="930" b="0" baseline="30000">
                <a:solidFill>
                  <a:schemeClr val="dk2"/>
                </a:solidFill>
              </a:rPr>
              <a:t>rd</a:t>
            </a:r>
            <a:r>
              <a:rPr lang="en-US" sz="930" b="0">
                <a:solidFill>
                  <a:schemeClr val="dk2"/>
                </a:solidFill>
              </a:rPr>
              <a:t> party (not human).  Humans would typically use SSO based access.</a:t>
            </a:r>
            <a:endParaRPr/>
          </a:p>
          <a:p>
            <a:pPr marL="171450" marR="0" lvl="0" indent="-101600" algn="l" rtl="0">
              <a:lnSpc>
                <a:spcPct val="70000"/>
              </a:lnSpc>
              <a:spcBef>
                <a:spcPts val="0"/>
              </a:spcBef>
              <a:spcAft>
                <a:spcPts val="0"/>
              </a:spcAft>
              <a:buClr>
                <a:schemeClr val="dk2"/>
              </a:buClr>
              <a:buSzPts val="1100"/>
              <a:buFont typeface="Arial"/>
              <a:buNone/>
            </a:pPr>
            <a:endParaRPr sz="930" b="0">
              <a:solidFill>
                <a:schemeClr val="dk2"/>
              </a:solidFill>
            </a:endParaRPr>
          </a:p>
          <a:p>
            <a:pPr marL="171450" marR="0" lvl="0" indent="-171450" algn="l" rtl="0">
              <a:lnSpc>
                <a:spcPct val="70000"/>
              </a:lnSpc>
              <a:spcBef>
                <a:spcPts val="0"/>
              </a:spcBef>
              <a:spcAft>
                <a:spcPts val="0"/>
              </a:spcAft>
              <a:buClr>
                <a:schemeClr val="dk2"/>
              </a:buClr>
              <a:buSzPts val="1100"/>
              <a:buFont typeface="Arial"/>
              <a:buChar char="-"/>
            </a:pPr>
            <a:br>
              <a:rPr lang="en-US" sz="930" b="0">
                <a:solidFill>
                  <a:schemeClr val="dk2"/>
                </a:solidFill>
              </a:rPr>
            </a:br>
            <a:br>
              <a:rPr lang="en-US" sz="930" b="0">
                <a:solidFill>
                  <a:schemeClr val="dk2"/>
                </a:solidFill>
              </a:rPr>
            </a:br>
            <a:endParaRPr sz="930">
              <a:solidFill>
                <a:schemeClr val="dk2"/>
              </a:solidFill>
            </a:endParaRPr>
          </a:p>
          <a:p>
            <a:pPr marL="0" marR="0" lvl="0" indent="0" algn="l" rtl="0">
              <a:lnSpc>
                <a:spcPct val="80000"/>
              </a:lnSpc>
              <a:spcBef>
                <a:spcPts val="1200"/>
              </a:spcBef>
              <a:spcAft>
                <a:spcPts val="0"/>
              </a:spcAft>
              <a:buClr>
                <a:srgbClr val="000000"/>
              </a:buClr>
              <a:buSzPts val="1400"/>
              <a:buFont typeface="Arial"/>
              <a:buNone/>
            </a:pPr>
            <a:endParaRPr sz="930"/>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p:txBody>
      </p:sp>
      <p:sp>
        <p:nvSpPr>
          <p:cNvPr id="14707" name="Google Shape;14707;p79: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59</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71"/>
        <p:cNvGrpSpPr/>
        <p:nvPr/>
      </p:nvGrpSpPr>
      <p:grpSpPr>
        <a:xfrm>
          <a:off x="0" y="0"/>
          <a:ext cx="0" cy="0"/>
          <a:chOff x="0" y="0"/>
          <a:chExt cx="0" cy="0"/>
        </a:xfrm>
      </p:grpSpPr>
      <p:sp>
        <p:nvSpPr>
          <p:cNvPr id="14772" name="Google Shape;14772;p80: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773" name="Google Shape;14773;p80: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80000"/>
              </a:lnSpc>
              <a:spcBef>
                <a:spcPts val="0"/>
              </a:spcBef>
              <a:spcAft>
                <a:spcPts val="0"/>
              </a:spcAft>
              <a:buNone/>
            </a:pPr>
            <a:r>
              <a:rPr lang="en-US" sz="840" b="1" u="none" strike="noStrike">
                <a:solidFill>
                  <a:schemeClr val="dk1"/>
                </a:solidFill>
              </a:rPr>
              <a:t>Key Message:</a:t>
            </a:r>
            <a:endParaRPr sz="840" u="none" strike="noStrike">
              <a:solidFill>
                <a:schemeClr val="dk1"/>
              </a:solidFill>
            </a:endParaRPr>
          </a:p>
          <a:p>
            <a:pPr marL="0" lvl="0" indent="0" algn="l" rtl="0">
              <a:lnSpc>
                <a:spcPct val="80000"/>
              </a:lnSpc>
              <a:spcBef>
                <a:spcPts val="0"/>
              </a:spcBef>
              <a:spcAft>
                <a:spcPts val="0"/>
              </a:spcAft>
              <a:buNone/>
            </a:pPr>
            <a:r>
              <a:rPr lang="en-US" sz="840"/>
              <a:t>VMware Cloud Foundation 9 Delivers A Powerful New Approach to Certificate Management</a:t>
            </a:r>
            <a:endParaRPr/>
          </a:p>
          <a:p>
            <a:pPr marL="0" lvl="0" indent="0" algn="l" rtl="0">
              <a:lnSpc>
                <a:spcPct val="80000"/>
              </a:lnSpc>
              <a:spcBef>
                <a:spcPts val="0"/>
              </a:spcBef>
              <a:spcAft>
                <a:spcPts val="0"/>
              </a:spcAft>
              <a:buNone/>
            </a:pPr>
            <a:endParaRPr sz="840"/>
          </a:p>
          <a:p>
            <a:pPr marL="0" marR="0" lvl="0" indent="0" algn="l" rtl="0">
              <a:lnSpc>
                <a:spcPct val="80000"/>
              </a:lnSpc>
              <a:spcBef>
                <a:spcPts val="0"/>
              </a:spcBef>
              <a:spcAft>
                <a:spcPts val="0"/>
              </a:spcAft>
              <a:buClr>
                <a:schemeClr val="dk1"/>
              </a:buClr>
              <a:buSzPts val="839"/>
              <a:buFont typeface="Arial"/>
              <a:buNone/>
            </a:pPr>
            <a:r>
              <a:rPr lang="en-US" sz="840" b="1" u="none" strike="noStrike">
                <a:solidFill>
                  <a:schemeClr val="dk1"/>
                </a:solidFill>
              </a:rPr>
              <a:t>Talk Track: </a:t>
            </a:r>
            <a:endParaRPr sz="840"/>
          </a:p>
          <a:p>
            <a:pPr marL="0" lvl="0" indent="0" algn="l" rtl="0">
              <a:lnSpc>
                <a:spcPct val="80000"/>
              </a:lnSpc>
              <a:spcBef>
                <a:spcPts val="0"/>
              </a:spcBef>
              <a:spcAft>
                <a:spcPts val="0"/>
              </a:spcAft>
              <a:buNone/>
            </a:pPr>
            <a:r>
              <a:rPr lang="en-US" sz="840"/>
              <a:t>VCF 9.x introduces a completely revamped certificate management experience, bringing both the infrastructure and management components under one umbrella. Administrators now have greater flexibility in their certificate management approach, with the ability to leverage existing Microsoft Active Directory Certificate Services CAs, utilize the open-source OpenSSL for certificate generation, or even generate certificate requests for use with external CAs.</a:t>
            </a:r>
            <a:endParaRPr/>
          </a:p>
          <a:p>
            <a:pPr marL="0" lvl="0" indent="0" algn="l" rtl="0">
              <a:lnSpc>
                <a:spcPct val="80000"/>
              </a:lnSpc>
              <a:spcBef>
                <a:spcPts val="0"/>
              </a:spcBef>
              <a:spcAft>
                <a:spcPts val="0"/>
              </a:spcAft>
              <a:buNone/>
            </a:pPr>
            <a:endParaRPr sz="840"/>
          </a:p>
          <a:p>
            <a:pPr marL="0" lvl="0" indent="0" algn="l" rtl="0">
              <a:lnSpc>
                <a:spcPct val="80000"/>
              </a:lnSpc>
              <a:spcBef>
                <a:spcPts val="0"/>
              </a:spcBef>
              <a:spcAft>
                <a:spcPts val="0"/>
              </a:spcAft>
              <a:buNone/>
            </a:pPr>
            <a:r>
              <a:rPr lang="en-US" sz="840"/>
              <a:t>One of the key enhancements in VCF 9 is the automatic certificate renewal functionality when using integrated CAs. This streamlines the process, ensuring certificates are automatically renewed and replaced for compatible components, eliminating the need for manual intervention. The new certificate management infrastructure also integrates with VCF Operations alerts, providing timely notifications about expiring certificates and upcoming renewals, enabling proactive management and minimizing potential disruptions.</a:t>
            </a:r>
            <a:endParaRPr/>
          </a:p>
          <a:p>
            <a:pPr marL="0" lvl="0" indent="0" algn="l" rtl="0">
              <a:lnSpc>
                <a:spcPct val="80000"/>
              </a:lnSpc>
              <a:spcBef>
                <a:spcPts val="0"/>
              </a:spcBef>
              <a:spcAft>
                <a:spcPts val="0"/>
              </a:spcAft>
              <a:buNone/>
            </a:pPr>
            <a:endParaRPr sz="840"/>
          </a:p>
          <a:p>
            <a:pPr marL="0" marR="0" lvl="0" indent="0" algn="l" rtl="0">
              <a:lnSpc>
                <a:spcPct val="80000"/>
              </a:lnSpc>
              <a:spcBef>
                <a:spcPts val="0"/>
              </a:spcBef>
              <a:spcAft>
                <a:spcPts val="0"/>
              </a:spcAft>
              <a:buClr>
                <a:schemeClr val="dk1"/>
              </a:buClr>
              <a:buSzPts val="839"/>
              <a:buFont typeface="Arial"/>
              <a:buNone/>
            </a:pPr>
            <a:r>
              <a:rPr lang="en-US" sz="840" b="0" i="0" u="none">
                <a:solidFill>
                  <a:schemeClr val="dk1"/>
                </a:solidFill>
                <a:latin typeface="Arial"/>
                <a:ea typeface="Arial"/>
                <a:cs typeface="Arial"/>
                <a:sym typeface="Arial"/>
              </a:rPr>
              <a:t>VCF Operations 9.1 includes the ability to manage certificates for VCF 5.2.x components (such as vCenter, NSX, and ESX hosts) which is useful in mixed-mode deployments.  The VCF Operations console also provides support for managing certificates for standalone vCenter and ESX hosts for 8.0 U3.  Certificates for VCF Operations workload mobility (formerly HCX) and AVI load balancers can also be managed when they are deployed or upgraded for VCF version 9.1.</a:t>
            </a:r>
            <a:endParaRPr/>
          </a:p>
          <a:p>
            <a:pPr marL="0" marR="0" lvl="0" indent="0" algn="l" rtl="0">
              <a:lnSpc>
                <a:spcPct val="80000"/>
              </a:lnSpc>
              <a:spcBef>
                <a:spcPts val="0"/>
              </a:spcBef>
              <a:spcAft>
                <a:spcPts val="0"/>
              </a:spcAft>
              <a:buClr>
                <a:schemeClr val="dk1"/>
              </a:buClr>
              <a:buSzPts val="840"/>
              <a:buFont typeface="Arial"/>
              <a:buNone/>
            </a:pPr>
            <a:endParaRPr sz="840" b="0" i="0">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839"/>
              <a:buFont typeface="Arial"/>
              <a:buNone/>
            </a:pPr>
            <a:r>
              <a:rPr lang="en-US" sz="840" b="0" i="0">
                <a:solidFill>
                  <a:schemeClr val="dk1"/>
                </a:solidFill>
                <a:latin typeface="Arial"/>
                <a:ea typeface="Arial"/>
                <a:cs typeface="Arial"/>
                <a:sym typeface="Arial"/>
              </a:rPr>
              <a:t>Operators can now perform bulk certificate operations.  Certificate signing requests, certificate renewals and certificate import operations can all be performed in bulk, reducing time and further streamlining certificate management operations. The VCF Operations API can be used for third-party integration and automation of certificate management for all VCF components.  </a:t>
            </a:r>
            <a:endParaRPr/>
          </a:p>
          <a:p>
            <a:pPr marL="0" lvl="0" indent="0" algn="l" rtl="0">
              <a:lnSpc>
                <a:spcPct val="80000"/>
              </a:lnSpc>
              <a:spcBef>
                <a:spcPts val="0"/>
              </a:spcBef>
              <a:spcAft>
                <a:spcPts val="0"/>
              </a:spcAft>
              <a:buNone/>
            </a:pPr>
            <a:endParaRPr sz="840"/>
          </a:p>
          <a:p>
            <a:pPr marL="0" lvl="0" indent="0" algn="l" rtl="0">
              <a:lnSpc>
                <a:spcPct val="80000"/>
              </a:lnSpc>
              <a:spcBef>
                <a:spcPts val="0"/>
              </a:spcBef>
              <a:spcAft>
                <a:spcPts val="0"/>
              </a:spcAft>
              <a:buNone/>
            </a:pPr>
            <a:r>
              <a:rPr lang="en-US" sz="840"/>
              <a:t>Overall, VCF 9's certificate management capabilities represent a significant step forward in managing and securing your cloud infrastructure. This new approach delivers enhanced flexibility, increased automation, and improved compliance, ultimately making your cloud environment more secure and efficient.</a:t>
            </a:r>
            <a:endParaRPr/>
          </a:p>
          <a:p>
            <a:pPr marL="171450" marR="0" lvl="0" indent="-118110" algn="l" rtl="0">
              <a:lnSpc>
                <a:spcPct val="80000"/>
              </a:lnSpc>
              <a:spcBef>
                <a:spcPts val="0"/>
              </a:spcBef>
              <a:spcAft>
                <a:spcPts val="0"/>
              </a:spcAft>
              <a:buClr>
                <a:schemeClr val="dk1"/>
              </a:buClr>
              <a:buSzPts val="840"/>
              <a:buFont typeface="Arial"/>
              <a:buNone/>
            </a:pPr>
            <a:endParaRPr sz="840" b="0" i="0"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839"/>
              <a:buFont typeface="Arial"/>
              <a:buNone/>
            </a:pPr>
            <a:r>
              <a:rPr lang="en-US" sz="840" b="1" i="0" u="none" strike="noStrike">
                <a:solidFill>
                  <a:schemeClr val="dk1"/>
                </a:solidFill>
                <a:latin typeface="Arial"/>
                <a:ea typeface="Arial"/>
                <a:cs typeface="Arial"/>
                <a:sym typeface="Arial"/>
              </a:rPr>
              <a:t>Notes:</a:t>
            </a:r>
            <a:endParaRPr/>
          </a:p>
          <a:p>
            <a:pPr marL="171450" marR="0" lvl="0" indent="-171450" algn="l" rtl="0">
              <a:lnSpc>
                <a:spcPct val="80000"/>
              </a:lnSpc>
              <a:spcBef>
                <a:spcPts val="0"/>
              </a:spcBef>
              <a:spcAft>
                <a:spcPts val="0"/>
              </a:spcAft>
              <a:buClr>
                <a:schemeClr val="dk1"/>
              </a:buClr>
              <a:buSzPts val="839"/>
              <a:buFont typeface="Arial"/>
              <a:buChar char="-"/>
            </a:pPr>
            <a:r>
              <a:rPr lang="en-US" sz="840" b="0" i="0" u="none" strike="noStrike">
                <a:solidFill>
                  <a:schemeClr val="dk1"/>
                </a:solidFill>
                <a:latin typeface="Arial"/>
                <a:ea typeface="Arial"/>
                <a:cs typeface="Arial"/>
                <a:sym typeface="Arial"/>
              </a:rPr>
              <a:t>Prior versions of VCF provided certificate management at a per VCF instance-level.  Certificate management can be performed at a fleet-level from VCF 9.1.</a:t>
            </a:r>
            <a:endParaRPr/>
          </a:p>
          <a:p>
            <a:pPr marL="171450" marR="0" lvl="0" indent="-171450" algn="l" rtl="0">
              <a:lnSpc>
                <a:spcPct val="80000"/>
              </a:lnSpc>
              <a:spcBef>
                <a:spcPts val="0"/>
              </a:spcBef>
              <a:spcAft>
                <a:spcPts val="0"/>
              </a:spcAft>
              <a:buClr>
                <a:schemeClr val="dk1"/>
              </a:buClr>
              <a:buSzPts val="839"/>
              <a:buFont typeface="Arial"/>
              <a:buChar char="-"/>
            </a:pPr>
            <a:r>
              <a:rPr lang="en-US" sz="840" strike="noStrike"/>
              <a:t>Certificate management for HCX and the Avi LB requires the installation of management packs.  The management pack for each component provides both password and certificate management integration.</a:t>
            </a:r>
            <a:endParaRPr sz="840" b="0" i="0" u="none" strike="noStrike">
              <a:solidFill>
                <a:schemeClr val="dk1"/>
              </a:solidFill>
              <a:latin typeface="Arial"/>
              <a:ea typeface="Arial"/>
              <a:cs typeface="Arial"/>
              <a:sym typeface="Arial"/>
            </a:endParaRPr>
          </a:p>
          <a:p>
            <a:pPr marL="171450" marR="0" lvl="0" indent="-171450" algn="l" rtl="0">
              <a:lnSpc>
                <a:spcPct val="80000"/>
              </a:lnSpc>
              <a:spcBef>
                <a:spcPts val="0"/>
              </a:spcBef>
              <a:spcAft>
                <a:spcPts val="0"/>
              </a:spcAft>
              <a:buClr>
                <a:schemeClr val="dk1"/>
              </a:buClr>
              <a:buSzPts val="839"/>
              <a:buFont typeface="Arial"/>
              <a:buChar char="-"/>
            </a:pPr>
            <a:r>
              <a:rPr lang="en-US" sz="840" b="0" i="0" u="none" strike="noStrike">
                <a:solidFill>
                  <a:schemeClr val="dk1"/>
                </a:solidFill>
                <a:latin typeface="Arial"/>
                <a:ea typeface="Arial"/>
                <a:cs typeface="Arial"/>
                <a:sym typeface="Arial"/>
              </a:rPr>
              <a:t>A Certificate Authority (CA) is configured at a VCF fleet-level from VCF 9.1 and is no longer configured at a per VCF instance-level.</a:t>
            </a:r>
            <a:endParaRPr/>
          </a:p>
          <a:p>
            <a:pPr marL="171450" marR="0" lvl="0" indent="-171450" algn="l" rtl="0">
              <a:lnSpc>
                <a:spcPct val="80000"/>
              </a:lnSpc>
              <a:spcBef>
                <a:spcPts val="0"/>
              </a:spcBef>
              <a:spcAft>
                <a:spcPts val="0"/>
              </a:spcAft>
              <a:buClr>
                <a:schemeClr val="dk1"/>
              </a:buClr>
              <a:buSzPts val="839"/>
              <a:buFont typeface="Arial"/>
              <a:buChar char="-"/>
            </a:pPr>
            <a:r>
              <a:rPr lang="en-US" sz="840" b="0" i="0" u="none" strike="noStrike">
                <a:solidFill>
                  <a:schemeClr val="dk1"/>
                </a:solidFill>
                <a:latin typeface="Arial"/>
                <a:ea typeface="Arial"/>
                <a:cs typeface="Arial"/>
                <a:sym typeface="Arial"/>
              </a:rPr>
              <a:t>VCF 9.0 supported Microsoft CA and Open SSL for VCF instance components (vCenter, NSX and ESX).  VCF 9.0 management components could be configured only using Microsoft CAs.  VCF 9.1 includes expanded support for Microsoft CAs and Open SSL for VCF instance and VCF management components.</a:t>
            </a:r>
            <a:endParaRPr/>
          </a:p>
          <a:p>
            <a:pPr marL="171450" marR="0" lvl="0" indent="-171450" algn="l" rtl="0">
              <a:lnSpc>
                <a:spcPct val="80000"/>
              </a:lnSpc>
              <a:spcBef>
                <a:spcPts val="0"/>
              </a:spcBef>
              <a:spcAft>
                <a:spcPts val="0"/>
              </a:spcAft>
              <a:buClr>
                <a:schemeClr val="dk1"/>
              </a:buClr>
              <a:buSzPts val="839"/>
              <a:buFont typeface="Arial"/>
              <a:buChar char="-"/>
            </a:pPr>
            <a:r>
              <a:rPr lang="en-US" sz="840" b="0" i="0" u="none" strike="noStrike" cap="none">
                <a:solidFill>
                  <a:schemeClr val="dk1"/>
                </a:solidFill>
                <a:latin typeface="Arial"/>
                <a:ea typeface="Arial"/>
                <a:cs typeface="Arial"/>
                <a:sym typeface="Arial"/>
              </a:rPr>
              <a:t>From VCF 9.1 Administrators can view running password management tasks from within VCF Operations.</a:t>
            </a:r>
            <a:endParaRPr/>
          </a:p>
          <a:p>
            <a:pPr marL="171450" marR="0" lvl="0" indent="-171450" algn="l" rtl="0">
              <a:lnSpc>
                <a:spcPct val="80000"/>
              </a:lnSpc>
              <a:spcBef>
                <a:spcPts val="0"/>
              </a:spcBef>
              <a:spcAft>
                <a:spcPts val="0"/>
              </a:spcAft>
              <a:buClr>
                <a:schemeClr val="dk1"/>
              </a:buClr>
              <a:buSzPts val="839"/>
              <a:buFont typeface="Arial"/>
              <a:buChar char="-"/>
            </a:pPr>
            <a:r>
              <a:rPr lang="en-US" sz="840" b="0" u="none"/>
              <a:t>From VCF 9.1 Administrators can activate certificate autorenewal for VCF 5.2.x components.</a:t>
            </a:r>
            <a:endParaRPr/>
          </a:p>
          <a:p>
            <a:pPr marL="171450" marR="0" lvl="0" indent="-171450" algn="l" rtl="0">
              <a:lnSpc>
                <a:spcPct val="80000"/>
              </a:lnSpc>
              <a:spcBef>
                <a:spcPts val="0"/>
              </a:spcBef>
              <a:spcAft>
                <a:spcPts val="0"/>
              </a:spcAft>
              <a:buClr>
                <a:schemeClr val="dk1"/>
              </a:buClr>
              <a:buSzPts val="839"/>
              <a:buFont typeface="Arial"/>
              <a:buChar char="-"/>
            </a:pPr>
            <a:r>
              <a:rPr lang="en-US" sz="840" b="0" u="none"/>
              <a:t>Certificates for all VCF components in a VCF fleet are auto-renewed upon enabling certificate Auto-renewal.</a:t>
            </a:r>
            <a:endParaRPr/>
          </a:p>
          <a:p>
            <a:pPr marL="0" lvl="0" indent="0" algn="l" rtl="0">
              <a:lnSpc>
                <a:spcPct val="80000"/>
              </a:lnSpc>
              <a:spcBef>
                <a:spcPts val="0"/>
              </a:spcBef>
              <a:spcAft>
                <a:spcPts val="0"/>
              </a:spcAft>
              <a:buNone/>
            </a:pPr>
            <a:endParaRPr sz="840" b="0"/>
          </a:p>
          <a:p>
            <a:pPr marL="0" marR="0" lvl="0" indent="0" algn="l" rtl="0">
              <a:lnSpc>
                <a:spcPct val="80000"/>
              </a:lnSpc>
              <a:spcBef>
                <a:spcPts val="0"/>
              </a:spcBef>
              <a:spcAft>
                <a:spcPts val="0"/>
              </a:spcAft>
              <a:buClr>
                <a:schemeClr val="dk1"/>
              </a:buClr>
              <a:buSzPts val="839"/>
              <a:buFont typeface="Arial"/>
              <a:buNone/>
            </a:pPr>
            <a:r>
              <a:rPr lang="en-US" sz="840" b="1" i="0" u="none" strike="noStrike">
                <a:solidFill>
                  <a:schemeClr val="dk1"/>
                </a:solidFill>
                <a:latin typeface="Arial"/>
                <a:ea typeface="Arial"/>
                <a:cs typeface="Arial"/>
                <a:sym typeface="Arial"/>
              </a:rPr>
              <a:t>Resources:</a:t>
            </a:r>
            <a:br>
              <a:rPr lang="en-US" sz="840" b="1" i="0" u="none" strike="noStrike">
                <a:solidFill>
                  <a:schemeClr val="dk1"/>
                </a:solidFill>
                <a:latin typeface="Arial"/>
                <a:ea typeface="Arial"/>
                <a:cs typeface="Arial"/>
                <a:sym typeface="Arial"/>
              </a:rPr>
            </a:br>
            <a:r>
              <a:rPr lang="en-US" sz="840" b="0"/>
              <a:t>Please refer to the VCF 9.1 Fleet Management Documentation for additional information</a:t>
            </a:r>
            <a:br>
              <a:rPr lang="en-US" sz="840" b="0"/>
            </a:br>
            <a:r>
              <a:rPr lang="en-US" sz="840" b="0" u="sng">
                <a:solidFill>
                  <a:schemeClr val="dk1"/>
                </a:solidFill>
                <a:latin typeface="Arial"/>
                <a:ea typeface="Arial"/>
                <a:cs typeface="Arial"/>
                <a:sym typeface="Arial"/>
                <a:hlinkClick r:id="rId3">
                  <a:extLst>
                    <a:ext uri="{A12FA001-AC4F-418D-AE19-62706E023703}">
                      <ahyp:hlinkClr xmlns:ahyp="http://schemas.microsoft.com/office/drawing/2018/hyperlinkcolor" val="tx"/>
                    </a:ext>
                  </a:extLst>
                </a:hlinkClick>
              </a:rPr>
              <a:t>https://techdocs.broadcom.com/us/en/vmware-cis/vcf/vcf-9-0-and-later/9-1/fleet-management.html</a:t>
            </a:r>
            <a:r>
              <a:rPr lang="en-US" sz="840" b="0">
                <a:solidFill>
                  <a:schemeClr val="dk1"/>
                </a:solidFill>
                <a:latin typeface="Arial"/>
                <a:ea typeface="Arial"/>
                <a:cs typeface="Arial"/>
                <a:sym typeface="Arial"/>
              </a:rPr>
              <a:t> </a:t>
            </a:r>
            <a:endParaRPr/>
          </a:p>
          <a:p>
            <a:pPr marL="0" lvl="0" indent="0" algn="l" rtl="0">
              <a:lnSpc>
                <a:spcPct val="80000"/>
              </a:lnSpc>
              <a:spcBef>
                <a:spcPts val="0"/>
              </a:spcBef>
              <a:spcAft>
                <a:spcPts val="0"/>
              </a:spcAft>
              <a:buNone/>
            </a:pPr>
            <a:endParaRPr sz="840" b="1" i="0"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None/>
            </a:pPr>
            <a:endParaRPr sz="840"/>
          </a:p>
          <a:p>
            <a:pPr marL="0" lvl="0" indent="0" algn="l" rtl="0">
              <a:lnSpc>
                <a:spcPct val="80000"/>
              </a:lnSpc>
              <a:spcBef>
                <a:spcPts val="0"/>
              </a:spcBef>
              <a:spcAft>
                <a:spcPts val="0"/>
              </a:spcAft>
              <a:buNone/>
            </a:pPr>
            <a:endParaRPr sz="840"/>
          </a:p>
        </p:txBody>
      </p:sp>
      <p:sp>
        <p:nvSpPr>
          <p:cNvPr id="14774" name="Google Shape;14774;p80: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60</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4"/>
        <p:cNvGrpSpPr/>
        <p:nvPr/>
      </p:nvGrpSpPr>
      <p:grpSpPr>
        <a:xfrm>
          <a:off x="0" y="0"/>
          <a:ext cx="0" cy="0"/>
          <a:chOff x="0" y="0"/>
          <a:chExt cx="0" cy="0"/>
        </a:xfrm>
      </p:grpSpPr>
      <p:sp>
        <p:nvSpPr>
          <p:cNvPr id="14865" name="Google Shape;14865;p81: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866" name="Google Shape;14866;p81: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rPr>
              <a:t>Key Message:</a:t>
            </a:r>
            <a:br>
              <a:rPr lang="en-US" sz="930" u="none" strike="noStrike">
                <a:solidFill>
                  <a:schemeClr val="dk1"/>
                </a:solidFill>
              </a:rPr>
            </a:br>
            <a:r>
              <a:rPr lang="en-US" sz="930" b="0" u="none" strike="noStrike">
                <a:solidFill>
                  <a:schemeClr val="dk1"/>
                </a:solidFill>
              </a:rPr>
              <a:t>Streamlined Password Management for Enhanced Security and Efficiency</a:t>
            </a:r>
            <a:endParaRPr/>
          </a:p>
          <a:p>
            <a:pPr marL="0" lvl="0" indent="0" algn="l" rtl="0">
              <a:lnSpc>
                <a:spcPct val="80000"/>
              </a:lnSpc>
              <a:spcBef>
                <a:spcPts val="0"/>
              </a:spcBef>
              <a:spcAft>
                <a:spcPts val="0"/>
              </a:spcAft>
              <a:buNone/>
            </a:pPr>
            <a:endParaRPr sz="930" u="none" strike="noStrike">
              <a:solidFill>
                <a:schemeClr val="dk1"/>
              </a:solidFill>
            </a:endParaRPr>
          </a:p>
          <a:p>
            <a:pPr marL="0" marR="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rPr>
              <a:t>Talk Track: </a:t>
            </a:r>
            <a:endParaRPr/>
          </a:p>
          <a:p>
            <a:pPr marL="0" marR="0" lvl="0" indent="0" algn="l" rtl="0">
              <a:lnSpc>
                <a:spcPct val="80000"/>
              </a:lnSpc>
              <a:spcBef>
                <a:spcPts val="0"/>
              </a:spcBef>
              <a:spcAft>
                <a:spcPts val="0"/>
              </a:spcAft>
              <a:buClr>
                <a:schemeClr val="dk1"/>
              </a:buClr>
              <a:buSzPts val="930"/>
              <a:buFont typeface="Arial"/>
              <a:buNone/>
            </a:pPr>
            <a:r>
              <a:rPr lang="en-US" sz="930" b="0" u="none" strike="noStrike">
                <a:solidFill>
                  <a:schemeClr val="dk1"/>
                </a:solidFill>
              </a:rPr>
              <a:t>VMware Cloud Foundation 9.x introduces a centralized and unified password management experience, which helps to simplify the process of securing your VCF environment.</a:t>
            </a:r>
            <a:endParaRPr/>
          </a:p>
          <a:p>
            <a:pPr marL="0" marR="0" lvl="0" indent="0" algn="l" rtl="0">
              <a:lnSpc>
                <a:spcPct val="80000"/>
              </a:lnSpc>
              <a:spcBef>
                <a:spcPts val="0"/>
              </a:spcBef>
              <a:spcAft>
                <a:spcPts val="0"/>
              </a:spcAft>
              <a:buClr>
                <a:schemeClr val="dk1"/>
              </a:buClr>
              <a:buSzPts val="930"/>
              <a:buFont typeface="Arial"/>
              <a:buNone/>
            </a:pPr>
            <a:r>
              <a:rPr lang="en-US" sz="930" b="0" u="none" strike="noStrike">
                <a:solidFill>
                  <a:schemeClr val="dk1"/>
                </a:solidFill>
              </a:rPr>
              <a:t>The new VCF Operations interface brings centralized control: You can manage and update passwords for both infrastructure and management components from a single location.</a:t>
            </a:r>
            <a:endParaRPr/>
          </a:p>
          <a:p>
            <a:pPr marL="0" marR="0" lvl="0" indent="0" algn="l" rtl="0">
              <a:lnSpc>
                <a:spcPct val="80000"/>
              </a:lnSpc>
              <a:spcBef>
                <a:spcPts val="0"/>
              </a:spcBef>
              <a:spcAft>
                <a:spcPts val="0"/>
              </a:spcAft>
              <a:buClr>
                <a:schemeClr val="dk1"/>
              </a:buClr>
              <a:buSzPts val="930"/>
              <a:buFont typeface="Arial"/>
              <a:buNone/>
            </a:pPr>
            <a:endParaRPr sz="930" b="0" i="0"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930"/>
              <a:buFont typeface="Arial"/>
              <a:buNone/>
            </a:pPr>
            <a:r>
              <a:rPr lang="en-US" sz="930" b="0" i="0" u="none" strike="noStrike">
                <a:solidFill>
                  <a:schemeClr val="dk1"/>
                </a:solidFill>
                <a:latin typeface="Arial"/>
                <a:ea typeface="Arial"/>
                <a:cs typeface="Arial"/>
                <a:sym typeface="Arial"/>
              </a:rPr>
              <a:t>&lt;click 1&gt;</a:t>
            </a:r>
            <a:endParaRPr/>
          </a:p>
          <a:p>
            <a:pPr marL="0" marR="0" lvl="0" indent="0" algn="l" rtl="0">
              <a:lnSpc>
                <a:spcPct val="80000"/>
              </a:lnSpc>
              <a:spcBef>
                <a:spcPts val="0"/>
              </a:spcBef>
              <a:spcAft>
                <a:spcPts val="0"/>
              </a:spcAft>
              <a:buClr>
                <a:schemeClr val="dk1"/>
              </a:buClr>
              <a:buSzPts val="930"/>
              <a:buFont typeface="Arial"/>
              <a:buNone/>
            </a:pPr>
            <a:r>
              <a:rPr lang="en-US" sz="930" b="0" i="0">
                <a:solidFill>
                  <a:schemeClr val="dk1"/>
                </a:solidFill>
                <a:latin typeface="Arial"/>
                <a:ea typeface="Arial"/>
                <a:cs typeface="Arial"/>
                <a:sym typeface="Arial"/>
              </a:rPr>
              <a:t>VCF Operations 9.1 further extends on these capabilities</a:t>
            </a:r>
            <a:r>
              <a:rPr lang="en-US" sz="930" b="0" i="0" strike="noStrike">
                <a:solidFill>
                  <a:schemeClr val="dk1"/>
                </a:solidFill>
                <a:latin typeface="Arial"/>
                <a:ea typeface="Arial"/>
                <a:cs typeface="Arial"/>
                <a:sym typeface="Arial"/>
              </a:rPr>
              <a:t> </a:t>
            </a:r>
            <a:r>
              <a:rPr lang="en-US" sz="930" b="0" i="0">
                <a:solidFill>
                  <a:schemeClr val="dk1"/>
                </a:solidFill>
                <a:latin typeface="Arial"/>
                <a:ea typeface="Arial"/>
                <a:cs typeface="Arial"/>
                <a:sym typeface="Arial"/>
              </a:rPr>
              <a:t>to include VCF 5.2.x components within your VCF 9.1 environment, such as vCenter, NSX, and ESX hosts. Standalone vCenter and ESX hosts from version vSphere 8.0 U3 and later are also supported.</a:t>
            </a:r>
            <a:r>
              <a:rPr lang="en-US" sz="930" b="0" i="0" strike="noStrike">
                <a:solidFill>
                  <a:schemeClr val="dk1"/>
                </a:solidFill>
                <a:latin typeface="Arial"/>
                <a:ea typeface="Arial"/>
                <a:cs typeface="Arial"/>
                <a:sym typeface="Arial"/>
              </a:rPr>
              <a:t>  </a:t>
            </a:r>
            <a:r>
              <a:rPr lang="en-US" sz="930" b="0" i="0">
                <a:solidFill>
                  <a:schemeClr val="dk1"/>
                </a:solidFill>
                <a:latin typeface="Arial"/>
                <a:ea typeface="Arial"/>
                <a:cs typeface="Arial"/>
                <a:sym typeface="Arial"/>
              </a:rPr>
              <a:t>In addition, you can manage passwords for VCF Operations workload mobility (formerly known as HCX) and AVI load balancers which are deployed or upgraded to VCF 9.1.</a:t>
            </a:r>
            <a:endParaRPr/>
          </a:p>
          <a:p>
            <a:pPr marL="0" marR="0" lvl="0" indent="0" algn="l" rtl="0">
              <a:lnSpc>
                <a:spcPct val="80000"/>
              </a:lnSpc>
              <a:spcBef>
                <a:spcPts val="0"/>
              </a:spcBef>
              <a:spcAft>
                <a:spcPts val="0"/>
              </a:spcAft>
              <a:buClr>
                <a:schemeClr val="dk1"/>
              </a:buClr>
              <a:buSzPts val="930"/>
              <a:buFont typeface="Arial"/>
              <a:buNone/>
            </a:pPr>
            <a:endParaRPr sz="930" b="0" i="0"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930"/>
              <a:buFont typeface="Arial"/>
              <a:buNone/>
            </a:pPr>
            <a:r>
              <a:rPr lang="en-US" sz="930" b="0" i="0" strike="noStrike">
                <a:solidFill>
                  <a:schemeClr val="dk1"/>
                </a:solidFill>
                <a:latin typeface="Arial"/>
                <a:ea typeface="Arial"/>
                <a:cs typeface="Arial"/>
                <a:sym typeface="Arial"/>
              </a:rPr>
              <a:t>&lt;click 2&gt;</a:t>
            </a:r>
            <a:endParaRPr/>
          </a:p>
          <a:p>
            <a:pPr marL="0" marR="0" lvl="0" indent="0" algn="l" rtl="0">
              <a:lnSpc>
                <a:spcPct val="80000"/>
              </a:lnSpc>
              <a:spcBef>
                <a:spcPts val="0"/>
              </a:spcBef>
              <a:spcAft>
                <a:spcPts val="0"/>
              </a:spcAft>
              <a:buClr>
                <a:schemeClr val="dk1"/>
              </a:buClr>
              <a:buSzPts val="930"/>
              <a:buFont typeface="Arial"/>
              <a:buNone/>
            </a:pPr>
            <a:r>
              <a:rPr lang="en-US" sz="930" b="0" i="0" strike="noStrike">
                <a:solidFill>
                  <a:schemeClr val="dk1"/>
                </a:solidFill>
                <a:latin typeface="Arial"/>
                <a:ea typeface="Arial"/>
                <a:cs typeface="Arial"/>
                <a:sym typeface="Arial"/>
              </a:rPr>
              <a:t>Perhaps the biggest enhancement for password management in VCF 9.1 is the ability for </a:t>
            </a:r>
            <a:r>
              <a:rPr lang="en-US" sz="930" b="0" i="0">
                <a:solidFill>
                  <a:schemeClr val="dk1"/>
                </a:solidFill>
                <a:latin typeface="Arial"/>
                <a:ea typeface="Arial"/>
                <a:cs typeface="Arial"/>
                <a:sym typeface="Arial"/>
              </a:rPr>
              <a:t>Admins to create and assign uniform password policies across VCF components</a:t>
            </a:r>
            <a:r>
              <a:rPr lang="en-US" sz="930" b="0" i="0" baseline="30000">
                <a:solidFill>
                  <a:schemeClr val="dk1"/>
                </a:solidFill>
                <a:latin typeface="Arial"/>
                <a:ea typeface="Arial"/>
                <a:cs typeface="Arial"/>
                <a:sym typeface="Arial"/>
              </a:rPr>
              <a:t>1</a:t>
            </a:r>
            <a:r>
              <a:rPr lang="en-US" sz="930" b="0" i="0">
                <a:solidFill>
                  <a:schemeClr val="dk1"/>
                </a:solidFill>
                <a:latin typeface="Arial"/>
                <a:ea typeface="Arial"/>
                <a:cs typeface="Arial"/>
                <a:sym typeface="Arial"/>
              </a:rPr>
              <a:t>. Password policies define password length, complexity requirements, account lockout settings, expiry and change intervals, and re-use settings.  Once created these policies can then be assigned at a VCF Fleet-level or to VCF components</a:t>
            </a:r>
            <a:r>
              <a:rPr lang="en-US" sz="930" b="0" i="0" baseline="30000">
                <a:solidFill>
                  <a:schemeClr val="dk1"/>
                </a:solidFill>
                <a:latin typeface="Arial"/>
                <a:ea typeface="Arial"/>
                <a:cs typeface="Arial"/>
                <a:sym typeface="Arial"/>
              </a:rPr>
              <a:t>2</a:t>
            </a:r>
            <a:r>
              <a:rPr lang="en-US" sz="930" b="0" i="0">
                <a:solidFill>
                  <a:schemeClr val="dk1"/>
                </a:solidFill>
                <a:latin typeface="Arial"/>
                <a:ea typeface="Arial"/>
                <a:cs typeface="Arial"/>
                <a:sym typeface="Arial"/>
              </a:rPr>
              <a:t>.</a:t>
            </a:r>
            <a:r>
              <a:rPr lang="en-US" sz="930" b="0" i="0" strike="noStrike">
                <a:solidFill>
                  <a:schemeClr val="dk1"/>
                </a:solidFill>
                <a:latin typeface="Arial"/>
                <a:ea typeface="Arial"/>
                <a:cs typeface="Arial"/>
                <a:sym typeface="Arial"/>
              </a:rPr>
              <a:t>  </a:t>
            </a:r>
            <a:endParaRPr/>
          </a:p>
          <a:p>
            <a:pPr marL="0" marR="0" lvl="0" indent="0" algn="l" rtl="0">
              <a:lnSpc>
                <a:spcPct val="80000"/>
              </a:lnSpc>
              <a:spcBef>
                <a:spcPts val="0"/>
              </a:spcBef>
              <a:spcAft>
                <a:spcPts val="0"/>
              </a:spcAft>
              <a:buClr>
                <a:schemeClr val="dk1"/>
              </a:buClr>
              <a:buSzPts val="930"/>
              <a:buFont typeface="Arial"/>
              <a:buNone/>
            </a:pPr>
            <a:endParaRPr sz="930" b="0" i="0"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930"/>
              <a:buFont typeface="Arial"/>
              <a:buNone/>
            </a:pPr>
            <a:r>
              <a:rPr lang="en-US" sz="930" b="0" i="0" strike="noStrike">
                <a:solidFill>
                  <a:schemeClr val="dk1"/>
                </a:solidFill>
                <a:latin typeface="Arial"/>
                <a:ea typeface="Arial"/>
                <a:cs typeface="Arial"/>
                <a:sym typeface="Arial"/>
              </a:rPr>
              <a:t>&lt;click 3&gt;</a:t>
            </a:r>
            <a:endParaRPr/>
          </a:p>
          <a:p>
            <a:pPr marL="0" marR="0" lvl="0" indent="0" algn="l" rtl="0">
              <a:lnSpc>
                <a:spcPct val="80000"/>
              </a:lnSpc>
              <a:spcBef>
                <a:spcPts val="0"/>
              </a:spcBef>
              <a:spcAft>
                <a:spcPts val="0"/>
              </a:spcAft>
              <a:buClr>
                <a:schemeClr val="dk1"/>
              </a:buClr>
              <a:buSzPts val="930"/>
              <a:buFont typeface="Arial"/>
              <a:buNone/>
            </a:pPr>
            <a:r>
              <a:rPr lang="en-US" sz="930" b="0" i="0" strike="noStrike">
                <a:solidFill>
                  <a:schemeClr val="dk1"/>
                </a:solidFill>
                <a:latin typeface="Arial"/>
                <a:ea typeface="Arial"/>
                <a:cs typeface="Arial"/>
                <a:sym typeface="Arial"/>
              </a:rPr>
              <a:t>A password compliance check can be run at any time to notify the operator of password policy compliance or non-compliance.  </a:t>
            </a:r>
            <a:endParaRPr/>
          </a:p>
          <a:p>
            <a:pPr marL="0" marR="0" lvl="0" indent="0" algn="l" rtl="0">
              <a:lnSpc>
                <a:spcPct val="80000"/>
              </a:lnSpc>
              <a:spcBef>
                <a:spcPts val="0"/>
              </a:spcBef>
              <a:spcAft>
                <a:spcPts val="0"/>
              </a:spcAft>
              <a:buClr>
                <a:schemeClr val="dk1"/>
              </a:buClr>
              <a:buSzPts val="930"/>
              <a:buFont typeface="Arial"/>
              <a:buNone/>
            </a:pPr>
            <a:endParaRPr sz="930" b="0" i="0"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930"/>
              <a:buFont typeface="Arial"/>
              <a:buNone/>
            </a:pPr>
            <a:r>
              <a:rPr lang="en-US" sz="930" b="0" i="0" strike="noStrike">
                <a:solidFill>
                  <a:schemeClr val="dk1"/>
                </a:solidFill>
                <a:latin typeface="Arial"/>
                <a:ea typeface="Arial"/>
                <a:cs typeface="Arial"/>
                <a:sym typeface="Arial"/>
              </a:rPr>
              <a:t>&lt;click 4&gt;</a:t>
            </a:r>
            <a:endParaRPr/>
          </a:p>
          <a:p>
            <a:pPr marL="0" marR="0" lvl="0" indent="0" algn="l" rtl="0">
              <a:lnSpc>
                <a:spcPct val="80000"/>
              </a:lnSpc>
              <a:spcBef>
                <a:spcPts val="0"/>
              </a:spcBef>
              <a:spcAft>
                <a:spcPts val="0"/>
              </a:spcAft>
              <a:buClr>
                <a:schemeClr val="dk1"/>
              </a:buClr>
              <a:buSzPts val="930"/>
              <a:buFont typeface="Arial"/>
              <a:buNone/>
            </a:pPr>
            <a:r>
              <a:rPr lang="en-US" sz="930" b="0" i="0" strike="noStrike">
                <a:solidFill>
                  <a:schemeClr val="dk1"/>
                </a:solidFill>
                <a:latin typeface="Arial"/>
                <a:ea typeface="Arial"/>
                <a:cs typeface="Arial"/>
                <a:sym typeface="Arial"/>
              </a:rPr>
              <a:t>This allows the operator to view the current and desired definitions and perform a one click remediate function.</a:t>
            </a:r>
            <a:endParaRPr/>
          </a:p>
          <a:p>
            <a:pPr marL="0" marR="0" lvl="0" indent="0" algn="l" rtl="0">
              <a:lnSpc>
                <a:spcPct val="80000"/>
              </a:lnSpc>
              <a:spcBef>
                <a:spcPts val="0"/>
              </a:spcBef>
              <a:spcAft>
                <a:spcPts val="0"/>
              </a:spcAft>
              <a:buClr>
                <a:schemeClr val="dk1"/>
              </a:buClr>
              <a:buSzPts val="930"/>
              <a:buFont typeface="Arial"/>
              <a:buNone/>
            </a:pPr>
            <a:endParaRPr sz="930" b="0" i="0"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930"/>
              <a:buFont typeface="Arial"/>
              <a:buNone/>
            </a:pPr>
            <a:r>
              <a:rPr lang="en-US" sz="930" b="0" i="0">
                <a:solidFill>
                  <a:schemeClr val="dk1"/>
                </a:solidFill>
                <a:latin typeface="Arial"/>
                <a:ea typeface="Arial"/>
                <a:cs typeface="Arial"/>
                <a:sym typeface="Arial"/>
              </a:rPr>
              <a:t>VCF operations 9.1 has also been engineered to integrate with third party tools from the API such as enterprise password vaults.  We’ve also enhanced our password security and no longer stors break-glass account passwords, eliminating the need for password remediation. </a:t>
            </a:r>
            <a:endParaRPr sz="930" b="0" u="none" strike="noStrike">
              <a:solidFill>
                <a:schemeClr val="dk1"/>
              </a:solidFill>
            </a:endParaRPr>
          </a:p>
          <a:p>
            <a:pPr marL="0" marR="0" lvl="0" indent="0" algn="l" rtl="0">
              <a:lnSpc>
                <a:spcPct val="80000"/>
              </a:lnSpc>
              <a:spcBef>
                <a:spcPts val="0"/>
              </a:spcBef>
              <a:spcAft>
                <a:spcPts val="0"/>
              </a:spcAft>
              <a:buClr>
                <a:schemeClr val="dk1"/>
              </a:buClr>
              <a:buSzPts val="930"/>
              <a:buFont typeface="Arial"/>
              <a:buNone/>
            </a:pPr>
            <a:endParaRPr sz="930" b="0" u="none" strike="noStrike">
              <a:solidFill>
                <a:schemeClr val="dk1"/>
              </a:solidFill>
            </a:endParaRPr>
          </a:p>
          <a:p>
            <a:pPr marL="0" marR="0" lvl="0" indent="0" algn="l" rtl="0">
              <a:lnSpc>
                <a:spcPct val="80000"/>
              </a:lnSpc>
              <a:spcBef>
                <a:spcPts val="0"/>
              </a:spcBef>
              <a:spcAft>
                <a:spcPts val="0"/>
              </a:spcAft>
              <a:buClr>
                <a:schemeClr val="dk1"/>
              </a:buClr>
              <a:buSzPts val="930"/>
              <a:buFont typeface="Arial"/>
              <a:buNone/>
            </a:pPr>
            <a:r>
              <a:rPr lang="en-US" sz="930" b="0" u="none" strike="noStrike">
                <a:solidFill>
                  <a:schemeClr val="dk1"/>
                </a:solidFill>
              </a:rPr>
              <a:t>Integration with VCF Operations also brings another benefit: Administrators </a:t>
            </a:r>
            <a:r>
              <a:rPr lang="en-US" sz="930" b="0" i="0">
                <a:solidFill>
                  <a:schemeClr val="dk1"/>
                </a:solidFill>
                <a:latin typeface="Arial"/>
                <a:ea typeface="Arial"/>
                <a:cs typeface="Arial"/>
                <a:sym typeface="Arial"/>
              </a:rPr>
              <a:t>can view running password management tasks and </a:t>
            </a:r>
            <a:r>
              <a:rPr lang="en-US" sz="930" b="0" u="none" strike="noStrike">
                <a:solidFill>
                  <a:schemeClr val="dk1"/>
                </a:solidFill>
              </a:rPr>
              <a:t>will receive timely alerts when passwords are approaching expiration, minimizing security risks and downtime.</a:t>
            </a:r>
            <a:endParaRPr/>
          </a:p>
          <a:p>
            <a:pPr marL="0" lvl="0" indent="0" algn="l" rtl="0">
              <a:lnSpc>
                <a:spcPct val="80000"/>
              </a:lnSpc>
              <a:spcBef>
                <a:spcPts val="0"/>
              </a:spcBef>
              <a:spcAft>
                <a:spcPts val="0"/>
              </a:spcAft>
              <a:buNone/>
            </a:pPr>
            <a:endParaRPr sz="930"/>
          </a:p>
          <a:p>
            <a:pPr marL="0" marR="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rPr>
              <a:t>Notes:</a:t>
            </a:r>
            <a:endParaRPr sz="930" u="none" strike="noStrike">
              <a:solidFill>
                <a:schemeClr val="dk1"/>
              </a:solidFill>
            </a:endParaRPr>
          </a:p>
          <a:p>
            <a:pPr marL="0" marR="0" lvl="0" indent="0" algn="l" rtl="0">
              <a:lnSpc>
                <a:spcPct val="80000"/>
              </a:lnSpc>
              <a:spcBef>
                <a:spcPts val="0"/>
              </a:spcBef>
              <a:spcAft>
                <a:spcPts val="0"/>
              </a:spcAft>
              <a:buClr>
                <a:schemeClr val="dk1"/>
              </a:buClr>
              <a:buSzPts val="930"/>
              <a:buFont typeface="Arial"/>
              <a:buNone/>
            </a:pPr>
            <a:endParaRPr sz="930" u="none" strike="noStrike">
              <a:solidFill>
                <a:schemeClr val="dk1"/>
              </a:solidFill>
            </a:endParaRPr>
          </a:p>
          <a:p>
            <a:pPr marL="0" lvl="0" indent="0" algn="l" rtl="0">
              <a:lnSpc>
                <a:spcPct val="80000"/>
              </a:lnSpc>
              <a:spcBef>
                <a:spcPts val="0"/>
              </a:spcBef>
              <a:spcAft>
                <a:spcPts val="0"/>
              </a:spcAft>
              <a:buNone/>
            </a:pPr>
            <a:r>
              <a:rPr lang="en-US" sz="930" b="1" u="none" strike="noStrike">
                <a:solidFill>
                  <a:schemeClr val="dk1"/>
                </a:solidFill>
              </a:rPr>
              <a:t>Resources:</a:t>
            </a:r>
            <a:endParaRPr sz="930">
              <a:solidFill>
                <a:srgbClr val="DCA10D"/>
              </a:solidFill>
              <a:latin typeface="Helvetica Neue"/>
              <a:ea typeface="Helvetica Neue"/>
              <a:cs typeface="Helvetica Neue"/>
              <a:sym typeface="Helvetica Neue"/>
            </a:endParaRPr>
          </a:p>
          <a:p>
            <a:pPr marL="0" marR="0" lvl="0" indent="0" algn="l" rtl="0">
              <a:lnSpc>
                <a:spcPct val="80000"/>
              </a:lnSpc>
              <a:spcBef>
                <a:spcPts val="0"/>
              </a:spcBef>
              <a:spcAft>
                <a:spcPts val="0"/>
              </a:spcAft>
              <a:buClr>
                <a:schemeClr val="dk1"/>
              </a:buClr>
              <a:buSzPts val="930"/>
              <a:buFont typeface="Helvetica Neue"/>
              <a:buNone/>
            </a:pPr>
            <a:r>
              <a:rPr lang="en-US" sz="930">
                <a:latin typeface="Helvetica Neue"/>
                <a:ea typeface="Helvetica Neue"/>
                <a:cs typeface="Helvetica Neue"/>
                <a:sym typeface="Helvetica Neue"/>
              </a:rPr>
              <a:t>Refer to the VMware Cloud Foundation Operations Guide for further information</a:t>
            </a:r>
            <a:br>
              <a:rPr lang="en-US" sz="930">
                <a:latin typeface="Helvetica Neue"/>
                <a:ea typeface="Helvetica Neue"/>
                <a:cs typeface="Helvetica Neue"/>
                <a:sym typeface="Helvetica Neue"/>
              </a:rPr>
            </a:br>
            <a:r>
              <a:rPr lang="en-US" sz="930" u="sng">
                <a:solidFill>
                  <a:schemeClr val="hlink"/>
                </a:solidFill>
                <a:latin typeface="Helvetica Neue"/>
                <a:ea typeface="Helvetica Neue"/>
                <a:cs typeface="Helvetica Neue"/>
                <a:sym typeface="Helvetica Neue"/>
                <a:hlinkClick r:id="rId3"/>
              </a:rPr>
              <a:t>https://techdocs.broadcom.com/us/en/vmware-cis/vcf.html</a:t>
            </a:r>
            <a:r>
              <a:rPr lang="en-US" sz="930">
                <a:latin typeface="Helvetica Neue"/>
                <a:ea typeface="Helvetica Neue"/>
                <a:cs typeface="Helvetica Neue"/>
                <a:sym typeface="Helvetica Neue"/>
              </a:rPr>
              <a:t> </a:t>
            </a:r>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p:txBody>
      </p:sp>
      <p:sp>
        <p:nvSpPr>
          <p:cNvPr id="14867" name="Google Shape;14867;p81: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61</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83"/>
        <p:cNvGrpSpPr/>
        <p:nvPr/>
      </p:nvGrpSpPr>
      <p:grpSpPr>
        <a:xfrm>
          <a:off x="0" y="0"/>
          <a:ext cx="0" cy="0"/>
          <a:chOff x="0" y="0"/>
          <a:chExt cx="0" cy="0"/>
        </a:xfrm>
      </p:grpSpPr>
      <p:sp>
        <p:nvSpPr>
          <p:cNvPr id="14884" name="Google Shape;14884;p82: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885" name="Google Shape;14885;p82: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80000"/>
              </a:lnSpc>
              <a:spcBef>
                <a:spcPts val="0"/>
              </a:spcBef>
              <a:spcAft>
                <a:spcPts val="0"/>
              </a:spcAft>
              <a:buClr>
                <a:schemeClr val="dk1"/>
              </a:buClr>
              <a:buSzPts val="839"/>
              <a:buFont typeface="Arial"/>
              <a:buNone/>
            </a:pPr>
            <a:r>
              <a:rPr lang="en-US" sz="840" b="1"/>
              <a:t>Presenter Note:  This slide contains animation.</a:t>
            </a:r>
            <a:endParaRPr/>
          </a:p>
          <a:p>
            <a:pPr marL="0" marR="0" lvl="0" indent="0" algn="l" rtl="0">
              <a:lnSpc>
                <a:spcPct val="80000"/>
              </a:lnSpc>
              <a:spcBef>
                <a:spcPts val="0"/>
              </a:spcBef>
              <a:spcAft>
                <a:spcPts val="0"/>
              </a:spcAft>
              <a:buClr>
                <a:schemeClr val="dk1"/>
              </a:buClr>
              <a:buSzPts val="840"/>
              <a:buFont typeface="Arial"/>
              <a:buNone/>
            </a:pPr>
            <a:endParaRPr sz="840" b="1"/>
          </a:p>
          <a:p>
            <a:pPr marL="0" marR="0" lvl="0" indent="0" algn="l" rtl="0">
              <a:lnSpc>
                <a:spcPct val="80000"/>
              </a:lnSpc>
              <a:spcBef>
                <a:spcPts val="0"/>
              </a:spcBef>
              <a:spcAft>
                <a:spcPts val="0"/>
              </a:spcAft>
              <a:buClr>
                <a:schemeClr val="dk1"/>
              </a:buClr>
              <a:buSzPts val="839"/>
              <a:buFont typeface="Arial"/>
              <a:buNone/>
            </a:pPr>
            <a:r>
              <a:rPr lang="en-US" sz="840" b="1"/>
              <a:t>Key Message:</a:t>
            </a:r>
            <a:br>
              <a:rPr lang="en-US" sz="840"/>
            </a:br>
            <a:r>
              <a:rPr lang="en-US" sz="840"/>
              <a:t>VCF Operations has been further enhanced for VCF 9.1 additional capabilities for fleet-level configuration management with the addition of cluster-level templates to define the desired state of a cluster.</a:t>
            </a:r>
            <a:endParaRPr/>
          </a:p>
          <a:p>
            <a:pPr marL="0" marR="0" lvl="0" indent="0" algn="l" rtl="0">
              <a:lnSpc>
                <a:spcPct val="80000"/>
              </a:lnSpc>
              <a:spcBef>
                <a:spcPts val="0"/>
              </a:spcBef>
              <a:spcAft>
                <a:spcPts val="0"/>
              </a:spcAft>
              <a:buClr>
                <a:schemeClr val="dk1"/>
              </a:buClr>
              <a:buSzPts val="840"/>
              <a:buFont typeface="Arial"/>
              <a:buNone/>
            </a:pPr>
            <a:endParaRPr sz="840" b="1" i="0"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839"/>
              <a:buFont typeface="Arial"/>
              <a:buNone/>
            </a:pPr>
            <a:r>
              <a:rPr lang="en-US" sz="840" b="1" i="0" u="none" strike="noStrike">
                <a:solidFill>
                  <a:schemeClr val="dk1"/>
                </a:solidFill>
                <a:latin typeface="Arial"/>
                <a:ea typeface="Arial"/>
                <a:cs typeface="Arial"/>
                <a:sym typeface="Arial"/>
              </a:rPr>
              <a:t>Talk Track:</a:t>
            </a:r>
            <a:endParaRPr sz="840" b="0" i="0" u="none" strike="noStrike">
              <a:solidFill>
                <a:schemeClr val="dk1"/>
              </a:solidFill>
              <a:latin typeface="Arial"/>
              <a:ea typeface="Arial"/>
              <a:cs typeface="Arial"/>
              <a:sym typeface="Arial"/>
            </a:endParaRPr>
          </a:p>
          <a:p>
            <a:pPr marL="0" lvl="0" indent="0" algn="l" rtl="0">
              <a:lnSpc>
                <a:spcPct val="30000"/>
              </a:lnSpc>
              <a:spcBef>
                <a:spcPts val="0"/>
              </a:spcBef>
              <a:spcAft>
                <a:spcPts val="0"/>
              </a:spcAft>
              <a:buClr>
                <a:schemeClr val="dk1"/>
              </a:buClr>
              <a:buSzPts val="713"/>
              <a:buFont typeface="Arial"/>
              <a:buNone/>
            </a:pPr>
            <a:r>
              <a:rPr lang="en-US" sz="840" b="0">
                <a:solidFill>
                  <a:schemeClr val="dk1"/>
                </a:solidFill>
                <a:latin typeface="Arial"/>
                <a:ea typeface="Arial"/>
                <a:cs typeface="Arial"/>
                <a:sym typeface="Arial"/>
              </a:rPr>
              <a:t>When it comes to Configuration Management, Admins face the challenge of enforcing global and regional standards as they struggle to manage configuration drifts across hosts, clusters, VCs, and SDDCs. The process is manual, tedious, prone to error, hard-to-track, and often requires them to use multiple technologies and interfaces. </a:t>
            </a:r>
            <a:endParaRPr sz="840"/>
          </a:p>
          <a:p>
            <a:pPr marL="0" lvl="0" indent="0" algn="l" rtl="0">
              <a:lnSpc>
                <a:spcPct val="30000"/>
              </a:lnSpc>
              <a:spcBef>
                <a:spcPts val="0"/>
              </a:spcBef>
              <a:spcAft>
                <a:spcPts val="0"/>
              </a:spcAft>
              <a:buClr>
                <a:schemeClr val="dk1"/>
              </a:buClr>
              <a:buSzPts val="713"/>
              <a:buFont typeface="Arial"/>
              <a:buNone/>
            </a:pPr>
            <a:endParaRPr sz="840" b="0">
              <a:solidFill>
                <a:schemeClr val="dk1"/>
              </a:solidFill>
              <a:latin typeface="Arial"/>
              <a:ea typeface="Arial"/>
              <a:cs typeface="Arial"/>
              <a:sym typeface="Arial"/>
            </a:endParaRPr>
          </a:p>
          <a:p>
            <a:pPr marL="0" marR="0" lvl="0" indent="0" algn="l" rtl="0">
              <a:lnSpc>
                <a:spcPct val="30000"/>
              </a:lnSpc>
              <a:spcBef>
                <a:spcPts val="0"/>
              </a:spcBef>
              <a:spcAft>
                <a:spcPts val="0"/>
              </a:spcAft>
              <a:buClr>
                <a:schemeClr val="dk1"/>
              </a:buClr>
              <a:buSzPts val="713"/>
              <a:buFont typeface="Arial"/>
              <a:buNone/>
            </a:pPr>
            <a:r>
              <a:rPr lang="en-US" sz="840" b="0">
                <a:solidFill>
                  <a:schemeClr val="dk1"/>
                </a:solidFill>
                <a:latin typeface="Arial"/>
                <a:ea typeface="Arial"/>
                <a:cs typeface="Arial"/>
                <a:sym typeface="Arial"/>
              </a:rPr>
              <a:t>Unified Configuration Management within VCF alleviates these challenges by preventing misconfiguration from going unnoticed, reducing the risk of security breaches, and keeping their environment running smoothly with the following enhancements and capabilities:</a:t>
            </a:r>
            <a:endParaRPr sz="840"/>
          </a:p>
          <a:p>
            <a:pPr marL="0" marR="0" lvl="0" indent="0" algn="l" rtl="0">
              <a:lnSpc>
                <a:spcPct val="80000"/>
              </a:lnSpc>
              <a:spcBef>
                <a:spcPts val="0"/>
              </a:spcBef>
              <a:spcAft>
                <a:spcPts val="0"/>
              </a:spcAft>
              <a:buClr>
                <a:schemeClr val="dk1"/>
              </a:buClr>
              <a:buSzPts val="840"/>
              <a:buFont typeface="Arial"/>
              <a:buNone/>
            </a:pPr>
            <a:endParaRPr sz="840"/>
          </a:p>
          <a:p>
            <a:pPr marL="0" marR="0" lvl="0" indent="0" algn="l" rtl="0">
              <a:lnSpc>
                <a:spcPct val="80000"/>
              </a:lnSpc>
              <a:spcBef>
                <a:spcPts val="0"/>
              </a:spcBef>
              <a:spcAft>
                <a:spcPts val="0"/>
              </a:spcAft>
              <a:buClr>
                <a:schemeClr val="dk1"/>
              </a:buClr>
              <a:buSzPts val="839"/>
              <a:buFont typeface="Arial"/>
              <a:buNone/>
            </a:pPr>
            <a:r>
              <a:rPr lang="en-US" sz="840" strike="noStrike"/>
              <a:t>Desired state </a:t>
            </a:r>
            <a:r>
              <a:rPr lang="en-US" sz="840"/>
              <a:t>templates (formerly known as configuration templates) can now be configured at a vCenter or a cluster-level, which is new in this release.  This allows Administrators the option to configure policies at a more granular cluster-level where required…and eliminate the need for configuring and monitoring changes manually down to a host level.</a:t>
            </a:r>
            <a:br>
              <a:rPr lang="en-US" sz="840"/>
            </a:br>
            <a:br>
              <a:rPr lang="en-US" sz="840"/>
            </a:br>
            <a:r>
              <a:rPr lang="en-US" sz="840"/>
              <a:t>The process to </a:t>
            </a:r>
            <a:r>
              <a:rPr lang="en-US" sz="840" strike="noStrike"/>
              <a:t>configure a cluster-level </a:t>
            </a:r>
            <a:r>
              <a:rPr lang="en-US" sz="840"/>
              <a:t>template differs from a vCenter template and leverages its configuration from vSphere Configuration profiles (VCP).  If a vSphere configuration profile has not been created, the VCF Operations workflow will guide the user through the configuration process and redirect them to the vSphere client.</a:t>
            </a:r>
            <a:br>
              <a:rPr lang="en-US" sz="840"/>
            </a:br>
            <a:br>
              <a:rPr lang="en-US" sz="840"/>
            </a:br>
            <a:r>
              <a:rPr lang="en-US" sz="840"/>
              <a:t>Drifts or changes from the </a:t>
            </a:r>
            <a:r>
              <a:rPr lang="en-US" sz="840" strike="noStrike"/>
              <a:t>monitored </a:t>
            </a:r>
            <a:r>
              <a:rPr lang="en-US" sz="840"/>
              <a:t>configuration can be viewed at an VCF instance, vCenter or cluster level through VCF Operations.</a:t>
            </a:r>
            <a:endParaRPr/>
          </a:p>
          <a:p>
            <a:pPr marL="0" marR="0" lvl="0" indent="0" algn="l" rtl="0">
              <a:lnSpc>
                <a:spcPct val="80000"/>
              </a:lnSpc>
              <a:spcBef>
                <a:spcPts val="0"/>
              </a:spcBef>
              <a:spcAft>
                <a:spcPts val="0"/>
              </a:spcAft>
              <a:buClr>
                <a:schemeClr val="dk1"/>
              </a:buClr>
              <a:buSzPts val="840"/>
              <a:buFont typeface="Arial"/>
              <a:buNone/>
            </a:pPr>
            <a:endParaRPr sz="840"/>
          </a:p>
          <a:p>
            <a:pPr marL="0" marR="0" lvl="0" indent="0" algn="l" rtl="0">
              <a:lnSpc>
                <a:spcPct val="80000"/>
              </a:lnSpc>
              <a:spcBef>
                <a:spcPts val="0"/>
              </a:spcBef>
              <a:spcAft>
                <a:spcPts val="0"/>
              </a:spcAft>
              <a:buClr>
                <a:schemeClr val="dk1"/>
              </a:buClr>
              <a:buSzPts val="839"/>
              <a:buFont typeface="Arial"/>
              <a:buNone/>
            </a:pPr>
            <a:r>
              <a:rPr lang="en-US" sz="840"/>
              <a:t>In alignment with vCenter desired state templates, cluster templates can also be integrated with GitHub or GitLab repositories.</a:t>
            </a:r>
            <a:br>
              <a:rPr lang="en-US" sz="840"/>
            </a:br>
            <a:br>
              <a:rPr lang="en-US" sz="840"/>
            </a:br>
            <a:r>
              <a:rPr lang="en-US" sz="840"/>
              <a:t>Drift detection for vCenters or clusters can be scheduled to run at a particular date and time or it can be run on-demand.  </a:t>
            </a:r>
            <a:endParaRPr/>
          </a:p>
          <a:p>
            <a:pPr marL="0" marR="0" lvl="0" indent="0" algn="l" rtl="0">
              <a:lnSpc>
                <a:spcPct val="80000"/>
              </a:lnSpc>
              <a:spcBef>
                <a:spcPts val="0"/>
              </a:spcBef>
              <a:spcAft>
                <a:spcPts val="0"/>
              </a:spcAft>
              <a:buClr>
                <a:schemeClr val="dk1"/>
              </a:buClr>
              <a:buSzPts val="840"/>
              <a:buFont typeface="Arial"/>
              <a:buNone/>
            </a:pPr>
            <a:endParaRPr sz="840"/>
          </a:p>
          <a:p>
            <a:pPr marL="0" marR="0" lvl="0" indent="0" algn="l" rtl="0">
              <a:lnSpc>
                <a:spcPct val="80000"/>
              </a:lnSpc>
              <a:spcBef>
                <a:spcPts val="0"/>
              </a:spcBef>
              <a:spcAft>
                <a:spcPts val="0"/>
              </a:spcAft>
              <a:buClr>
                <a:schemeClr val="dk1"/>
              </a:buClr>
              <a:buSzPts val="839"/>
              <a:buFont typeface="Arial"/>
              <a:buNone/>
            </a:pPr>
            <a:r>
              <a:rPr lang="en-US" sz="840"/>
              <a:t>&lt;click 1&gt;</a:t>
            </a:r>
            <a:endParaRPr/>
          </a:p>
          <a:p>
            <a:pPr marL="0" marR="0" lvl="0" indent="0" algn="l" rtl="0">
              <a:lnSpc>
                <a:spcPct val="80000"/>
              </a:lnSpc>
              <a:spcBef>
                <a:spcPts val="0"/>
              </a:spcBef>
              <a:spcAft>
                <a:spcPts val="0"/>
              </a:spcAft>
              <a:buClr>
                <a:schemeClr val="dk1"/>
              </a:buClr>
              <a:buSzPts val="839"/>
              <a:buFont typeface="Arial"/>
              <a:buNone/>
            </a:pPr>
            <a:r>
              <a:rPr lang="en-US" sz="840"/>
              <a:t>VCF Operations provides users with the option to download a JSON Remediation File or CSV to assist in identifying host configuration changes at a cluster level.</a:t>
            </a:r>
            <a:br>
              <a:rPr lang="en-US" sz="840"/>
            </a:br>
            <a:br>
              <a:rPr lang="en-US" sz="840"/>
            </a:br>
            <a:r>
              <a:rPr lang="en-US" sz="840"/>
              <a:t>Administrators can also download a drift status report in PDF or XLS to view vCenter and cluster level configuration changes.</a:t>
            </a:r>
            <a:br>
              <a:rPr lang="en-US" sz="840"/>
            </a:br>
            <a:br>
              <a:rPr lang="en-US" sz="840"/>
            </a:br>
            <a:r>
              <a:rPr lang="en-US" sz="840" b="1" i="0" u="none" strike="noStrike">
                <a:solidFill>
                  <a:schemeClr val="dk1"/>
                </a:solidFill>
                <a:latin typeface="Arial"/>
                <a:ea typeface="Arial"/>
                <a:cs typeface="Arial"/>
                <a:sym typeface="Arial"/>
              </a:rPr>
              <a:t>Notes:</a:t>
            </a:r>
            <a:endParaRPr/>
          </a:p>
          <a:p>
            <a:pPr marL="171450" lvl="0" indent="-171450" algn="l" rtl="0">
              <a:lnSpc>
                <a:spcPct val="80000"/>
              </a:lnSpc>
              <a:spcBef>
                <a:spcPts val="0"/>
              </a:spcBef>
              <a:spcAft>
                <a:spcPts val="0"/>
              </a:spcAft>
              <a:buClr>
                <a:schemeClr val="dk1"/>
              </a:buClr>
              <a:buSzPts val="839"/>
              <a:buFont typeface="Arial"/>
              <a:buChar char="-"/>
            </a:pPr>
            <a:r>
              <a:rPr lang="en-US" sz="840" b="0"/>
              <a:t>Configuring a Cluster Template first requires setting up a vSphere Configuration Profile (VCP). A VCP is used to apply cluster-level ESX host settings and not vCenter-level settings. A VCP cluster is a cluster which has a vSphere Configuration Profile enabled. </a:t>
            </a:r>
            <a:endParaRPr/>
          </a:p>
          <a:p>
            <a:pPr marL="171450" lvl="0" indent="-171450" algn="l" rtl="0">
              <a:lnSpc>
                <a:spcPct val="80000"/>
              </a:lnSpc>
              <a:spcBef>
                <a:spcPts val="0"/>
              </a:spcBef>
              <a:spcAft>
                <a:spcPts val="0"/>
              </a:spcAft>
              <a:buClr>
                <a:schemeClr val="dk1"/>
              </a:buClr>
              <a:buSzPts val="839"/>
              <a:buFont typeface="Arial"/>
              <a:buChar char="-"/>
            </a:pPr>
            <a:r>
              <a:rPr lang="en-US" sz="840" b="0"/>
              <a:t>When creating a cluster template, VCF Operations provides a link to configure a VCP if it is not present.</a:t>
            </a:r>
            <a:endParaRPr/>
          </a:p>
          <a:p>
            <a:pPr marL="171450" lvl="0" indent="-171450" algn="l" rtl="0">
              <a:lnSpc>
                <a:spcPct val="80000"/>
              </a:lnSpc>
              <a:spcBef>
                <a:spcPts val="0"/>
              </a:spcBef>
              <a:spcAft>
                <a:spcPts val="0"/>
              </a:spcAft>
              <a:buClr>
                <a:schemeClr val="dk1"/>
              </a:buClr>
              <a:buSzPts val="839"/>
              <a:buFont typeface="Arial"/>
              <a:buChar char="-"/>
            </a:pPr>
            <a:r>
              <a:rPr lang="en-US" sz="840" b="0"/>
              <a:t>If an environment is configured with both vCenter and cluster templates the policies set at the cluster-level take precedence.</a:t>
            </a:r>
            <a:endParaRPr/>
          </a:p>
          <a:p>
            <a:pPr marL="171450" lvl="0" indent="-171450" algn="l" rtl="0">
              <a:lnSpc>
                <a:spcPct val="80000"/>
              </a:lnSpc>
              <a:spcBef>
                <a:spcPts val="0"/>
              </a:spcBef>
              <a:spcAft>
                <a:spcPts val="0"/>
              </a:spcAft>
              <a:buClr>
                <a:schemeClr val="dk1"/>
              </a:buClr>
              <a:buSzPts val="839"/>
              <a:buFont typeface="Arial"/>
              <a:buChar char="-"/>
            </a:pPr>
            <a:r>
              <a:rPr lang="en-US" sz="840" b="0"/>
              <a:t>Only one desired state template can be associated to each policy (VCP clusters only). Policies to which a template has already been assigned will not be available to select.</a:t>
            </a:r>
            <a:endParaRPr/>
          </a:p>
          <a:p>
            <a:pPr marL="171450" lvl="0" indent="-118110" algn="l" rtl="0">
              <a:lnSpc>
                <a:spcPct val="80000"/>
              </a:lnSpc>
              <a:spcBef>
                <a:spcPts val="0"/>
              </a:spcBef>
              <a:spcAft>
                <a:spcPts val="0"/>
              </a:spcAft>
              <a:buClr>
                <a:schemeClr val="dk1"/>
              </a:buClr>
              <a:buSzPts val="840"/>
              <a:buFont typeface="Arial"/>
              <a:buNone/>
            </a:pPr>
            <a:endParaRPr sz="840" b="0" i="0"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839"/>
              <a:buFont typeface="Arial"/>
              <a:buNone/>
            </a:pPr>
            <a:r>
              <a:rPr lang="en-US" sz="840" b="1" i="0" u="none" strike="noStrike">
                <a:solidFill>
                  <a:schemeClr val="dk1"/>
                </a:solidFill>
                <a:latin typeface="Arial"/>
                <a:ea typeface="Arial"/>
                <a:cs typeface="Arial"/>
                <a:sym typeface="Arial"/>
              </a:rPr>
              <a:t>Resources:</a:t>
            </a:r>
            <a:endParaRPr sz="840" b="0" i="0"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1"/>
              </a:buClr>
              <a:buSzPts val="839"/>
              <a:buFont typeface="Arial"/>
              <a:buNone/>
            </a:pPr>
            <a:r>
              <a:rPr lang="en-US" sz="840" b="0"/>
              <a:t>Please refer to the VCF 9.1 Fleet Management Documentation for additional information</a:t>
            </a:r>
            <a:br>
              <a:rPr lang="en-US" sz="840" b="0"/>
            </a:br>
            <a:r>
              <a:rPr lang="en-US" sz="840" b="0" u="sng">
                <a:solidFill>
                  <a:schemeClr val="dk1"/>
                </a:solidFill>
                <a:latin typeface="Arial"/>
                <a:ea typeface="Arial"/>
                <a:cs typeface="Arial"/>
                <a:sym typeface="Arial"/>
                <a:hlinkClick r:id="rId3">
                  <a:extLst>
                    <a:ext uri="{A12FA001-AC4F-418D-AE19-62706E023703}">
                      <ahyp:hlinkClr xmlns:ahyp="http://schemas.microsoft.com/office/drawing/2018/hyperlinkcolor" val="tx"/>
                    </a:ext>
                  </a:extLst>
                </a:hlinkClick>
              </a:rPr>
              <a:t>https://techdocs.broadcom.com/us/en/vmware-cis/vcf/vcf-9-0-and-later/9-1/fleet-management.html</a:t>
            </a:r>
            <a:r>
              <a:rPr lang="en-US" sz="840" b="0">
                <a:solidFill>
                  <a:schemeClr val="dk1"/>
                </a:solidFill>
                <a:latin typeface="Arial"/>
                <a:ea typeface="Arial"/>
                <a:cs typeface="Arial"/>
                <a:sym typeface="Arial"/>
              </a:rPr>
              <a:t> </a:t>
            </a:r>
            <a:endParaRPr/>
          </a:p>
          <a:p>
            <a:pPr marL="0" lvl="0" indent="0" algn="l" rtl="0">
              <a:lnSpc>
                <a:spcPct val="80000"/>
              </a:lnSpc>
              <a:spcBef>
                <a:spcPts val="0"/>
              </a:spcBef>
              <a:spcAft>
                <a:spcPts val="0"/>
              </a:spcAft>
              <a:buNone/>
            </a:pPr>
            <a:endParaRPr sz="840" b="0" i="0" u="none" strike="noStrike">
              <a:solidFill>
                <a:schemeClr val="dk1"/>
              </a:solidFill>
              <a:latin typeface="Arial"/>
              <a:ea typeface="Arial"/>
              <a:cs typeface="Arial"/>
              <a:sym typeface="Arial"/>
            </a:endParaRPr>
          </a:p>
        </p:txBody>
      </p:sp>
      <p:sp>
        <p:nvSpPr>
          <p:cNvPr id="14886" name="Google Shape;14886;p82: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62</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1"/>
        <p:cNvGrpSpPr/>
        <p:nvPr/>
      </p:nvGrpSpPr>
      <p:grpSpPr>
        <a:xfrm>
          <a:off x="0" y="0"/>
          <a:ext cx="0" cy="0"/>
          <a:chOff x="0" y="0"/>
          <a:chExt cx="0" cy="0"/>
        </a:xfrm>
      </p:grpSpPr>
      <p:sp>
        <p:nvSpPr>
          <p:cNvPr id="14902" name="Google Shape;14902;p83: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03" name="Google Shape;14903;p83: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80000"/>
              </a:lnSpc>
              <a:spcBef>
                <a:spcPts val="0"/>
              </a:spcBef>
              <a:spcAft>
                <a:spcPts val="0"/>
              </a:spcAft>
              <a:buClr>
                <a:srgbClr val="222222"/>
              </a:buClr>
              <a:buSzPts val="1400"/>
              <a:buFont typeface="Arial"/>
              <a:buNone/>
            </a:pPr>
            <a:r>
              <a:rPr lang="en-US" sz="1110" b="1" i="0">
                <a:solidFill>
                  <a:srgbClr val="222222"/>
                </a:solidFill>
                <a:latin typeface="Arial"/>
                <a:ea typeface="Arial"/>
                <a:cs typeface="Arial"/>
                <a:sym typeface="Arial"/>
              </a:rPr>
              <a:t>Key Message:</a:t>
            </a:r>
            <a:endParaRPr/>
          </a:p>
          <a:p>
            <a:pPr marL="0" marR="0" lvl="0" indent="0" algn="l" rtl="0">
              <a:lnSpc>
                <a:spcPct val="80000"/>
              </a:lnSpc>
              <a:spcBef>
                <a:spcPts val="0"/>
              </a:spcBef>
              <a:spcAft>
                <a:spcPts val="0"/>
              </a:spcAft>
              <a:buClr>
                <a:srgbClr val="000000"/>
              </a:buClr>
              <a:buSzPts val="1400"/>
              <a:buFont typeface="Arial"/>
              <a:buNone/>
            </a:pPr>
            <a:r>
              <a:rPr lang="en-US" sz="1110" b="0" i="0">
                <a:solidFill>
                  <a:srgbClr val="222222"/>
                </a:solidFill>
                <a:latin typeface="Arial"/>
                <a:ea typeface="Arial"/>
                <a:cs typeface="Arial"/>
                <a:sym typeface="Arial"/>
              </a:rPr>
              <a:t>VCF Capacity Management tools help ensure that your organization's infrastructure has sufficient resources (such as computing power, storage, and memory capacity) to meet current and future demands. </a:t>
            </a:r>
            <a:endParaRPr/>
          </a:p>
          <a:p>
            <a:pPr marL="0" lvl="0" indent="0" algn="l" rtl="0">
              <a:lnSpc>
                <a:spcPct val="80000"/>
              </a:lnSpc>
              <a:spcBef>
                <a:spcPts val="0"/>
              </a:spcBef>
              <a:spcAft>
                <a:spcPts val="0"/>
              </a:spcAft>
              <a:buClr>
                <a:schemeClr val="dk1"/>
              </a:buClr>
              <a:buSzPts val="1400"/>
              <a:buFont typeface="Arial"/>
              <a:buNone/>
            </a:pPr>
            <a:endParaRPr sz="1110" b="0" i="0">
              <a:solidFill>
                <a:srgbClr val="222222"/>
              </a:solidFill>
              <a:latin typeface="Arial"/>
              <a:ea typeface="Arial"/>
              <a:cs typeface="Arial"/>
              <a:sym typeface="Arial"/>
            </a:endParaRPr>
          </a:p>
          <a:p>
            <a:pPr marL="0" lvl="0" indent="0" algn="l" rtl="0">
              <a:lnSpc>
                <a:spcPct val="80000"/>
              </a:lnSpc>
              <a:spcBef>
                <a:spcPts val="0"/>
              </a:spcBef>
              <a:spcAft>
                <a:spcPts val="0"/>
              </a:spcAft>
              <a:buClr>
                <a:srgbClr val="222222"/>
              </a:buClr>
              <a:buSzPts val="1400"/>
              <a:buFont typeface="Arial"/>
              <a:buNone/>
            </a:pPr>
            <a:r>
              <a:rPr lang="en-US" sz="1110" b="1" i="0">
                <a:solidFill>
                  <a:srgbClr val="222222"/>
                </a:solidFill>
                <a:latin typeface="Arial"/>
                <a:ea typeface="Arial"/>
                <a:cs typeface="Arial"/>
                <a:sym typeface="Arial"/>
              </a:rPr>
              <a:t>Talk Track:</a:t>
            </a:r>
            <a:endParaRPr/>
          </a:p>
          <a:p>
            <a:pPr marL="0" lvl="0" indent="0" algn="l" rtl="0">
              <a:lnSpc>
                <a:spcPct val="80000"/>
              </a:lnSpc>
              <a:spcBef>
                <a:spcPts val="0"/>
              </a:spcBef>
              <a:spcAft>
                <a:spcPts val="0"/>
              </a:spcAft>
              <a:buClr>
                <a:srgbClr val="222222"/>
              </a:buClr>
              <a:buSzPts val="1400"/>
              <a:buFont typeface="Arial"/>
              <a:buNone/>
            </a:pPr>
            <a:r>
              <a:rPr lang="en-US" sz="1110" b="0" i="0">
                <a:solidFill>
                  <a:srgbClr val="222222"/>
                </a:solidFill>
                <a:latin typeface="Arial"/>
                <a:ea typeface="Arial"/>
                <a:cs typeface="Arial"/>
                <a:sym typeface="Arial"/>
              </a:rPr>
              <a:t>Capacity management in IT involves ensuring that an organization's infrastructure has sufficient resources (such as computing power, storage, and memory capacity) to meet current and future demands.  And to effectively perform Capacity Management, you need a combination of accurate data analysis, strategic planning, and  automation tools to help you monitor and adjust capacity in real-time.</a:t>
            </a:r>
            <a:endParaRPr sz="1110" b="0" i="0">
              <a:solidFill>
                <a:srgbClr val="565656"/>
              </a:solidFill>
              <a:latin typeface="Arial"/>
              <a:ea typeface="Arial"/>
              <a:cs typeface="Arial"/>
              <a:sym typeface="Arial"/>
            </a:endParaRPr>
          </a:p>
          <a:p>
            <a:pPr marL="0" lvl="0" indent="0" algn="l" rtl="0">
              <a:lnSpc>
                <a:spcPct val="80000"/>
              </a:lnSpc>
              <a:spcBef>
                <a:spcPts val="0"/>
              </a:spcBef>
              <a:spcAft>
                <a:spcPts val="0"/>
              </a:spcAft>
              <a:buClr>
                <a:schemeClr val="dk1"/>
              </a:buClr>
              <a:buSzPts val="1400"/>
              <a:buFont typeface="Arial"/>
              <a:buNone/>
            </a:pPr>
            <a:endParaRPr sz="1110" b="0" i="0">
              <a:solidFill>
                <a:srgbClr val="222222"/>
              </a:solidFill>
              <a:latin typeface="Arial"/>
              <a:ea typeface="Arial"/>
              <a:cs typeface="Arial"/>
              <a:sym typeface="Arial"/>
            </a:endParaRPr>
          </a:p>
          <a:p>
            <a:pPr marL="0" lvl="0" indent="0" algn="l" rtl="0">
              <a:lnSpc>
                <a:spcPct val="80000"/>
              </a:lnSpc>
              <a:spcBef>
                <a:spcPts val="0"/>
              </a:spcBef>
              <a:spcAft>
                <a:spcPts val="0"/>
              </a:spcAft>
              <a:buClr>
                <a:srgbClr val="222222"/>
              </a:buClr>
              <a:buSzPts val="1400"/>
              <a:buFont typeface="Arial"/>
              <a:buNone/>
            </a:pPr>
            <a:r>
              <a:rPr lang="en-US" sz="1110" b="0" i="0">
                <a:solidFill>
                  <a:srgbClr val="222222"/>
                </a:solidFill>
                <a:latin typeface="Arial"/>
                <a:ea typeface="Arial"/>
                <a:cs typeface="Arial"/>
                <a:sym typeface="Arial"/>
              </a:rPr>
              <a:t>And this is where VCF shines. With it, you can:</a:t>
            </a:r>
            <a:endParaRPr/>
          </a:p>
          <a:p>
            <a:pPr marL="0" lvl="0" indent="0" algn="l" rtl="0">
              <a:lnSpc>
                <a:spcPct val="80000"/>
              </a:lnSpc>
              <a:spcBef>
                <a:spcPts val="0"/>
              </a:spcBef>
              <a:spcAft>
                <a:spcPts val="0"/>
              </a:spcAft>
              <a:buClr>
                <a:srgbClr val="565656"/>
              </a:buClr>
              <a:buSzPts val="1400"/>
              <a:buFont typeface="Arial"/>
              <a:buNone/>
            </a:pPr>
            <a:r>
              <a:rPr lang="en-US" sz="1110" b="0" i="0">
                <a:solidFill>
                  <a:srgbClr val="565656"/>
                </a:solidFill>
                <a:latin typeface="Arial"/>
                <a:ea typeface="Arial"/>
                <a:cs typeface="Arial"/>
                <a:sym typeface="Arial"/>
              </a:rPr>
              <a:t>- Set capacity thresholds and risk levels</a:t>
            </a:r>
            <a:endParaRPr/>
          </a:p>
          <a:p>
            <a:pPr marL="0" lvl="0" indent="0" algn="l" rtl="0">
              <a:lnSpc>
                <a:spcPct val="80000"/>
              </a:lnSpc>
              <a:spcBef>
                <a:spcPts val="0"/>
              </a:spcBef>
              <a:spcAft>
                <a:spcPts val="0"/>
              </a:spcAft>
              <a:buClr>
                <a:srgbClr val="565656"/>
              </a:buClr>
              <a:buSzPts val="1400"/>
              <a:buFont typeface="Arial"/>
              <a:buNone/>
            </a:pPr>
            <a:r>
              <a:rPr lang="en-US" sz="1110" b="0" i="0">
                <a:solidFill>
                  <a:srgbClr val="565656"/>
                </a:solidFill>
                <a:latin typeface="Arial"/>
                <a:ea typeface="Arial"/>
                <a:cs typeface="Arial"/>
                <a:sym typeface="Arial"/>
              </a:rPr>
              <a:t>- Assess the current state of your environment’s current capacity and predict shortfalls in the future.</a:t>
            </a:r>
            <a:endParaRPr/>
          </a:p>
          <a:p>
            <a:pPr marL="0" lvl="0" indent="0" algn="l" rtl="0">
              <a:lnSpc>
                <a:spcPct val="80000"/>
              </a:lnSpc>
              <a:spcBef>
                <a:spcPts val="0"/>
              </a:spcBef>
              <a:spcAft>
                <a:spcPts val="0"/>
              </a:spcAft>
              <a:buClr>
                <a:srgbClr val="565656"/>
              </a:buClr>
              <a:buSzPts val="1400"/>
              <a:buFont typeface="Arial"/>
              <a:buNone/>
            </a:pPr>
            <a:r>
              <a:rPr lang="en-US" sz="1110" b="0" i="0">
                <a:solidFill>
                  <a:srgbClr val="565656"/>
                </a:solidFill>
                <a:latin typeface="Arial"/>
                <a:ea typeface="Arial"/>
                <a:cs typeface="Arial"/>
                <a:sym typeface="Arial"/>
              </a:rPr>
              <a:t>- See most constrained resources</a:t>
            </a:r>
            <a:endParaRPr sz="1110">
              <a:latin typeface="Arial"/>
              <a:ea typeface="Arial"/>
              <a:cs typeface="Arial"/>
              <a:sym typeface="Arial"/>
            </a:endParaRPr>
          </a:p>
          <a:p>
            <a:pPr marL="0" lvl="0" indent="0" algn="l" rtl="0">
              <a:lnSpc>
                <a:spcPct val="80000"/>
              </a:lnSpc>
              <a:spcBef>
                <a:spcPts val="0"/>
              </a:spcBef>
              <a:spcAft>
                <a:spcPts val="0"/>
              </a:spcAft>
              <a:buClr>
                <a:srgbClr val="565656"/>
              </a:buClr>
              <a:buSzPts val="1400"/>
              <a:buFont typeface="Arial"/>
              <a:buNone/>
            </a:pPr>
            <a:r>
              <a:rPr lang="en-US" sz="1110" b="0" i="0">
                <a:solidFill>
                  <a:srgbClr val="565656"/>
                </a:solidFill>
                <a:latin typeface="Arial"/>
                <a:ea typeface="Arial"/>
                <a:cs typeface="Arial"/>
                <a:sym typeface="Arial"/>
              </a:rPr>
              <a:t>- Identify resources that can be reclaimed and rightsized</a:t>
            </a:r>
            <a:endParaRPr sz="1110">
              <a:latin typeface="Arial"/>
              <a:ea typeface="Arial"/>
              <a:cs typeface="Arial"/>
              <a:sym typeface="Arial"/>
            </a:endParaRPr>
          </a:p>
          <a:p>
            <a:pPr marL="0" lvl="0" indent="0" algn="l" rtl="0">
              <a:lnSpc>
                <a:spcPct val="80000"/>
              </a:lnSpc>
              <a:spcBef>
                <a:spcPts val="0"/>
              </a:spcBef>
              <a:spcAft>
                <a:spcPts val="0"/>
              </a:spcAft>
              <a:buClr>
                <a:srgbClr val="565656"/>
              </a:buClr>
              <a:buSzPts val="1400"/>
              <a:buFont typeface="Arial"/>
              <a:buNone/>
            </a:pPr>
            <a:r>
              <a:rPr lang="en-US" sz="1110" b="0" i="0">
                <a:solidFill>
                  <a:srgbClr val="565656"/>
                </a:solidFill>
                <a:latin typeface="Arial"/>
                <a:ea typeface="Arial"/>
                <a:cs typeface="Arial"/>
                <a:sym typeface="Arial"/>
              </a:rPr>
              <a:t>- Forecast the performance (and financial) impact of adding and removing workloads or infrastructure (e.g., new servers) to and from you’re your environment with What-If Scenario/Workload Planning Tools.</a:t>
            </a:r>
            <a:endParaRPr/>
          </a:p>
          <a:p>
            <a:pPr marL="171450" lvl="0" indent="-82550" algn="l" rtl="0">
              <a:lnSpc>
                <a:spcPct val="80000"/>
              </a:lnSpc>
              <a:spcBef>
                <a:spcPts val="0"/>
              </a:spcBef>
              <a:spcAft>
                <a:spcPts val="0"/>
              </a:spcAft>
              <a:buClr>
                <a:schemeClr val="dk1"/>
              </a:buClr>
              <a:buSzPts val="1400"/>
              <a:buFont typeface="Arial"/>
              <a:buNone/>
            </a:pPr>
            <a:endParaRPr sz="1110" b="0" i="0">
              <a:solidFill>
                <a:srgbClr val="565656"/>
              </a:solidFill>
              <a:latin typeface="Arial"/>
              <a:ea typeface="Arial"/>
              <a:cs typeface="Arial"/>
              <a:sym typeface="Arial"/>
            </a:endParaRPr>
          </a:p>
          <a:p>
            <a:pPr marL="0" lvl="0" indent="0" algn="l" rtl="0">
              <a:lnSpc>
                <a:spcPct val="80000"/>
              </a:lnSpc>
              <a:spcBef>
                <a:spcPts val="0"/>
              </a:spcBef>
              <a:spcAft>
                <a:spcPts val="0"/>
              </a:spcAft>
              <a:buClr>
                <a:srgbClr val="565656"/>
              </a:buClr>
              <a:buSzPts val="1400"/>
              <a:buFont typeface="Arial"/>
              <a:buNone/>
            </a:pPr>
            <a:r>
              <a:rPr lang="en-US" sz="1110" b="0" i="0">
                <a:solidFill>
                  <a:srgbClr val="565656"/>
                </a:solidFill>
                <a:latin typeface="Arial"/>
                <a:ea typeface="Arial"/>
                <a:cs typeface="Arial"/>
                <a:sym typeface="Arial"/>
              </a:rPr>
              <a:t>These capabilities provide the following benefits:</a:t>
            </a:r>
            <a:endParaRPr/>
          </a:p>
          <a:p>
            <a:pPr marL="0" lvl="0" indent="0" algn="l" rtl="0">
              <a:lnSpc>
                <a:spcPct val="80000"/>
              </a:lnSpc>
              <a:spcBef>
                <a:spcPts val="0"/>
              </a:spcBef>
              <a:spcAft>
                <a:spcPts val="0"/>
              </a:spcAft>
              <a:buClr>
                <a:schemeClr val="dk1"/>
              </a:buClr>
              <a:buSzPts val="1400"/>
              <a:buFont typeface="Arial"/>
              <a:buNone/>
            </a:pPr>
            <a:r>
              <a:rPr lang="en-US" sz="1110">
                <a:latin typeface="Arial"/>
                <a:ea typeface="Arial"/>
                <a:cs typeface="Arial"/>
                <a:sym typeface="Arial"/>
              </a:rPr>
              <a:t>- Ensures that hardware, software, and infrastructure are used efficiently, reduce waste and avoid over-provisioning</a:t>
            </a:r>
            <a:endParaRPr/>
          </a:p>
          <a:p>
            <a:pPr marL="0" lvl="0" indent="0" algn="l" rtl="0">
              <a:lnSpc>
                <a:spcPct val="80000"/>
              </a:lnSpc>
              <a:spcBef>
                <a:spcPts val="0"/>
              </a:spcBef>
              <a:spcAft>
                <a:spcPts val="0"/>
              </a:spcAft>
              <a:buClr>
                <a:schemeClr val="dk1"/>
              </a:buClr>
              <a:buSzPts val="1400"/>
              <a:buFont typeface="Arial"/>
              <a:buNone/>
            </a:pPr>
            <a:r>
              <a:rPr lang="en-US" sz="1110">
                <a:latin typeface="Arial"/>
                <a:ea typeface="Arial"/>
                <a:cs typeface="Arial"/>
                <a:sym typeface="Arial"/>
              </a:rPr>
              <a:t>- Prevent unnecessary spending on IT resources by aligning capacity with actual demand and identifying opportunities for consolidation or decommissioning.</a:t>
            </a:r>
            <a:endParaRPr/>
          </a:p>
          <a:p>
            <a:pPr marL="0" lvl="0" indent="0" algn="l" rtl="0">
              <a:lnSpc>
                <a:spcPct val="80000"/>
              </a:lnSpc>
              <a:spcBef>
                <a:spcPts val="0"/>
              </a:spcBef>
              <a:spcAft>
                <a:spcPts val="0"/>
              </a:spcAft>
              <a:buClr>
                <a:schemeClr val="dk1"/>
              </a:buClr>
              <a:buSzPts val="1400"/>
              <a:buFont typeface="Arial"/>
              <a:buNone/>
            </a:pPr>
            <a:r>
              <a:rPr lang="en-US" sz="1110">
                <a:latin typeface="Arial"/>
                <a:ea typeface="Arial"/>
                <a:cs typeface="Arial"/>
                <a:sym typeface="Arial"/>
              </a:rPr>
              <a:t>- Help maintain system performance and availability by proactively addressing capacity constraints before they impact users.</a:t>
            </a:r>
            <a:endParaRPr/>
          </a:p>
          <a:p>
            <a:pPr marL="0" lvl="0" indent="0" algn="l" rtl="0">
              <a:lnSpc>
                <a:spcPct val="80000"/>
              </a:lnSpc>
              <a:spcBef>
                <a:spcPts val="0"/>
              </a:spcBef>
              <a:spcAft>
                <a:spcPts val="0"/>
              </a:spcAft>
              <a:buClr>
                <a:schemeClr val="dk1"/>
              </a:buClr>
              <a:buSzPts val="1400"/>
              <a:buFont typeface="Arial"/>
              <a:buNone/>
            </a:pPr>
            <a:r>
              <a:rPr lang="en-US" sz="1110">
                <a:latin typeface="Arial"/>
                <a:ea typeface="Arial"/>
                <a:cs typeface="Arial"/>
                <a:sym typeface="Arial"/>
              </a:rPr>
              <a:t>- Forecast future capacity needs, making it easier to scale services up or down as demand changes.</a:t>
            </a:r>
            <a:endParaRPr/>
          </a:p>
          <a:p>
            <a:pPr marL="0" lvl="0" indent="0" algn="l" rtl="0">
              <a:lnSpc>
                <a:spcPct val="80000"/>
              </a:lnSpc>
              <a:spcBef>
                <a:spcPts val="0"/>
              </a:spcBef>
              <a:spcAft>
                <a:spcPts val="0"/>
              </a:spcAft>
              <a:buClr>
                <a:schemeClr val="dk1"/>
              </a:buClr>
              <a:buSzPts val="1110"/>
              <a:buFont typeface="Arial"/>
              <a:buNone/>
            </a:pPr>
            <a:endParaRPr sz="1110"/>
          </a:p>
          <a:p>
            <a:pPr marL="0" lvl="0" indent="0" algn="l" rtl="0">
              <a:lnSpc>
                <a:spcPct val="80000"/>
              </a:lnSpc>
              <a:spcBef>
                <a:spcPts val="0"/>
              </a:spcBef>
              <a:spcAft>
                <a:spcPts val="0"/>
              </a:spcAft>
              <a:buClr>
                <a:schemeClr val="dk1"/>
              </a:buClr>
              <a:buSzPts val="1110"/>
              <a:buFont typeface="Arial"/>
              <a:buNone/>
            </a:pPr>
            <a:r>
              <a:rPr lang="en-US" sz="1110" b="1"/>
              <a:t>Notes:</a:t>
            </a:r>
            <a:br>
              <a:rPr lang="en-US" sz="1110" b="1"/>
            </a:br>
            <a:br>
              <a:rPr lang="en-US" sz="1110" b="1"/>
            </a:br>
            <a:r>
              <a:rPr lang="en-US" sz="1110" b="1"/>
              <a:t>Resources:</a:t>
            </a:r>
            <a:endParaRPr/>
          </a:p>
        </p:txBody>
      </p:sp>
      <p:sp>
        <p:nvSpPr>
          <p:cNvPr id="14904" name="Google Shape;14904;p83: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63</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13"/>
        <p:cNvGrpSpPr/>
        <p:nvPr/>
      </p:nvGrpSpPr>
      <p:grpSpPr>
        <a:xfrm>
          <a:off x="0" y="0"/>
          <a:ext cx="0" cy="0"/>
          <a:chOff x="0" y="0"/>
          <a:chExt cx="0" cy="0"/>
        </a:xfrm>
      </p:grpSpPr>
      <p:sp>
        <p:nvSpPr>
          <p:cNvPr id="14914" name="Google Shape;14914;p84: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15" name="Google Shape;14915;p84: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None/>
            </a:pPr>
            <a:r>
              <a:rPr lang="en-US" b="1" i="0">
                <a:solidFill>
                  <a:srgbClr val="222222"/>
                </a:solidFill>
                <a:highlight>
                  <a:srgbClr val="FFFFFF"/>
                </a:highlight>
                <a:latin typeface="Arial"/>
                <a:ea typeface="Arial"/>
                <a:cs typeface="Arial"/>
                <a:sym typeface="Arial"/>
              </a:rPr>
              <a:t>Key Message:</a:t>
            </a:r>
            <a:endParaRPr/>
          </a:p>
          <a:p>
            <a:pPr marL="0" lvl="0" indent="0" algn="l" rtl="0">
              <a:spcBef>
                <a:spcPts val="0"/>
              </a:spcBef>
              <a:spcAft>
                <a:spcPts val="0"/>
              </a:spcAft>
              <a:buNone/>
            </a:pPr>
            <a:r>
              <a:rPr lang="en-US" b="0" i="0">
                <a:solidFill>
                  <a:srgbClr val="222222"/>
                </a:solidFill>
                <a:highlight>
                  <a:srgbClr val="FFFFFF"/>
                </a:highlight>
                <a:latin typeface="Arial"/>
                <a:ea typeface="Arial"/>
                <a:cs typeface="Arial"/>
                <a:sym typeface="Arial"/>
              </a:rPr>
              <a:t>The FinOps capabilities within VCF integrates financial management with operational processes. With it, Organizations can track, forecast, and optimize their spending on IT resources and services efficiently and effectively. </a:t>
            </a:r>
            <a:endParaRPr/>
          </a:p>
          <a:p>
            <a:pPr marL="0" lvl="0" indent="0" algn="l" rtl="0">
              <a:spcBef>
                <a:spcPts val="0"/>
              </a:spcBef>
              <a:spcAft>
                <a:spcPts val="0"/>
              </a:spcAft>
              <a:buNone/>
            </a:pPr>
            <a:endParaRPr>
              <a:latin typeface="Arial"/>
              <a:ea typeface="Arial"/>
              <a:cs typeface="Arial"/>
              <a:sym typeface="Arial"/>
            </a:endParaRPr>
          </a:p>
          <a:p>
            <a:pPr marL="0" lvl="0" indent="0" algn="l" rtl="0">
              <a:spcBef>
                <a:spcPts val="0"/>
              </a:spcBef>
              <a:spcAft>
                <a:spcPts val="0"/>
              </a:spcAft>
              <a:buNone/>
            </a:pPr>
            <a:r>
              <a:rPr lang="en-US" b="1" i="0">
                <a:solidFill>
                  <a:srgbClr val="222222"/>
                </a:solidFill>
                <a:highlight>
                  <a:srgbClr val="FFFFFF"/>
                </a:highlight>
                <a:latin typeface="Arial"/>
                <a:ea typeface="Arial"/>
                <a:cs typeface="Arial"/>
                <a:sym typeface="Arial"/>
              </a:rPr>
              <a:t>Talk Track:</a:t>
            </a:r>
            <a:endParaRPr/>
          </a:p>
          <a:p>
            <a:pPr marL="0" lvl="0" indent="0" algn="l" rtl="0">
              <a:spcBef>
                <a:spcPts val="0"/>
              </a:spcBef>
              <a:spcAft>
                <a:spcPts val="0"/>
              </a:spcAft>
              <a:buNone/>
            </a:pPr>
            <a:r>
              <a:rPr lang="en-US" b="0" i="0">
                <a:solidFill>
                  <a:srgbClr val="222222"/>
                </a:solidFill>
                <a:highlight>
                  <a:srgbClr val="FFFFFF"/>
                </a:highlight>
                <a:latin typeface="Arial"/>
                <a:ea typeface="Arial"/>
                <a:cs typeface="Arial"/>
                <a:sym typeface="Arial"/>
              </a:rPr>
              <a:t>The FinOps capabilities within VCF integrates financial management with operational processes. With it, Organizations can track, forecast, and optimize their spending on IT resources and services efficiently and effectively with a variety of tools including:</a:t>
            </a:r>
            <a:endParaRPr sz="1200" b="1" i="0" u="none">
              <a:solidFill>
                <a:srgbClr val="222222"/>
              </a:solidFill>
              <a:highlight>
                <a:srgbClr val="FFFFFF"/>
              </a:highlight>
              <a:latin typeface="Arial"/>
              <a:ea typeface="Arial"/>
              <a:cs typeface="Arial"/>
              <a:sym typeface="Arial"/>
            </a:endParaRPr>
          </a:p>
          <a:p>
            <a:pPr marL="171450" lvl="0" indent="-171450" algn="l" rtl="0">
              <a:spcBef>
                <a:spcPts val="0"/>
              </a:spcBef>
              <a:spcAft>
                <a:spcPts val="0"/>
              </a:spcAft>
              <a:buClr>
                <a:schemeClr val="dk1"/>
              </a:buClr>
              <a:buSzPts val="1200"/>
              <a:buFont typeface="Arial"/>
              <a:buChar char="-"/>
            </a:pPr>
            <a:r>
              <a:rPr lang="en-US" sz="1200" b="0" u="sng">
                <a:latin typeface="Arial"/>
                <a:ea typeface="Arial"/>
                <a:cs typeface="Arial"/>
                <a:sym typeface="Arial"/>
              </a:rPr>
              <a:t>VCF’s C</a:t>
            </a:r>
            <a:r>
              <a:rPr lang="en-US" b="0" u="sng">
                <a:latin typeface="Arial"/>
                <a:ea typeface="Arial"/>
                <a:cs typeface="Arial"/>
                <a:sym typeface="Arial"/>
              </a:rPr>
              <a:t>ost Overview page (shown here</a:t>
            </a:r>
            <a:r>
              <a:rPr lang="en-US" b="1">
                <a:latin typeface="Arial"/>
                <a:ea typeface="Arial"/>
                <a:cs typeface="Arial"/>
                <a:sym typeface="Arial"/>
              </a:rPr>
              <a:t>) </a:t>
            </a:r>
            <a:r>
              <a:rPr lang="en-US" b="0">
                <a:latin typeface="Arial"/>
                <a:ea typeface="Arial"/>
                <a:cs typeface="Arial"/>
                <a:sym typeface="Arial"/>
              </a:rPr>
              <a:t>allows you to see the total cost of ownership, potential savings, and realized savings for your environment in a single location.</a:t>
            </a:r>
            <a:endParaRPr/>
          </a:p>
          <a:p>
            <a:pPr marL="171450" lvl="0" indent="-171450" algn="l" rtl="0">
              <a:spcBef>
                <a:spcPts val="0"/>
              </a:spcBef>
              <a:spcAft>
                <a:spcPts val="0"/>
              </a:spcAft>
              <a:buClr>
                <a:schemeClr val="dk1"/>
              </a:buClr>
              <a:buSzPts val="1200"/>
              <a:buFont typeface="Arial"/>
              <a:buChar char="-"/>
            </a:pPr>
            <a:r>
              <a:rPr lang="en-US" b="0">
                <a:latin typeface="Arial"/>
                <a:ea typeface="Arial"/>
                <a:cs typeface="Arial"/>
                <a:sym typeface="Arial"/>
              </a:rPr>
              <a:t>Highly customizable </a:t>
            </a:r>
            <a:r>
              <a:rPr lang="en-US" b="0" u="sng">
                <a:latin typeface="Arial"/>
                <a:ea typeface="Arial"/>
                <a:cs typeface="Arial"/>
                <a:sym typeface="Arial"/>
              </a:rPr>
              <a:t>OOTB costing and pricing dashboards </a:t>
            </a:r>
            <a:r>
              <a:rPr lang="en-US" b="0">
                <a:latin typeface="Arial"/>
                <a:ea typeface="Arial"/>
                <a:cs typeface="Arial"/>
                <a:sym typeface="Arial"/>
              </a:rPr>
              <a:t>with interactive widgets that allow you to drill down into more financial detail  for reporting purposes.</a:t>
            </a:r>
            <a:endParaRPr/>
          </a:p>
          <a:p>
            <a:pPr marL="171450" lvl="0" indent="-171450" algn="l" rtl="0">
              <a:spcBef>
                <a:spcPts val="0"/>
              </a:spcBef>
              <a:spcAft>
                <a:spcPts val="0"/>
              </a:spcAft>
              <a:buClr>
                <a:schemeClr val="dk1"/>
              </a:buClr>
              <a:buSzPts val="1200"/>
              <a:buFont typeface="Arial"/>
              <a:buChar char="-"/>
            </a:pPr>
            <a:r>
              <a:rPr lang="en-US" b="0">
                <a:latin typeface="Arial"/>
                <a:ea typeface="Arial"/>
                <a:cs typeface="Arial"/>
                <a:sym typeface="Arial"/>
              </a:rPr>
              <a:t>Showback and </a:t>
            </a:r>
            <a:r>
              <a:rPr lang="en-US" b="0" u="sng">
                <a:latin typeface="Arial"/>
                <a:ea typeface="Arial"/>
                <a:cs typeface="Arial"/>
                <a:sym typeface="Arial"/>
              </a:rPr>
              <a:t>Chargeback Tools </a:t>
            </a:r>
            <a:r>
              <a:rPr lang="en-US" b="0">
                <a:latin typeface="Arial"/>
                <a:ea typeface="Arial"/>
                <a:cs typeface="Arial"/>
                <a:sym typeface="Arial"/>
              </a:rPr>
              <a:t>that allow you to see what your spending vs what you’re charging your tenants. </a:t>
            </a:r>
            <a:endParaRPr/>
          </a:p>
          <a:p>
            <a:pPr marL="171450" lvl="0" indent="-171450" algn="l" rtl="0">
              <a:spcBef>
                <a:spcPts val="0"/>
              </a:spcBef>
              <a:spcAft>
                <a:spcPts val="0"/>
              </a:spcAft>
              <a:buClr>
                <a:schemeClr val="dk1"/>
              </a:buClr>
              <a:buSzPts val="1200"/>
              <a:buFont typeface="Arial"/>
              <a:buChar char="-"/>
            </a:pPr>
            <a:r>
              <a:rPr lang="en-US" b="0">
                <a:latin typeface="Arial"/>
                <a:ea typeface="Arial"/>
                <a:cs typeface="Arial"/>
                <a:sym typeface="Arial"/>
              </a:rPr>
              <a:t>And planning tools that allow you to perform </a:t>
            </a:r>
            <a:r>
              <a:rPr lang="en-US" b="0" u="sng">
                <a:latin typeface="Arial"/>
                <a:ea typeface="Arial"/>
                <a:cs typeface="Arial"/>
                <a:sym typeface="Arial"/>
              </a:rPr>
              <a:t>What-If Analysis </a:t>
            </a:r>
            <a:r>
              <a:rPr lang="en-US" b="0">
                <a:latin typeface="Arial"/>
                <a:ea typeface="Arial"/>
                <a:cs typeface="Arial"/>
                <a:sym typeface="Arial"/>
              </a:rPr>
              <a:t>to see the financial impact of scaling your infrastructure (such as additional VMs or Clusters), before making a final decision.</a:t>
            </a:r>
            <a:endParaRPr/>
          </a:p>
          <a:p>
            <a:pPr marL="0" lvl="0" indent="0" algn="l" rtl="0">
              <a:spcBef>
                <a:spcPts val="0"/>
              </a:spcBef>
              <a:spcAft>
                <a:spcPts val="0"/>
              </a:spcAft>
              <a:buNone/>
            </a:pPr>
            <a:endParaRPr/>
          </a:p>
          <a:p>
            <a:pPr marL="0" lvl="0" indent="0" algn="l" rtl="0">
              <a:spcBef>
                <a:spcPts val="0"/>
              </a:spcBef>
              <a:spcAft>
                <a:spcPts val="0"/>
              </a:spcAft>
              <a:buNone/>
            </a:pPr>
            <a:r>
              <a:rPr lang="en-US" b="1"/>
              <a:t>Notes:</a:t>
            </a:r>
            <a:br>
              <a:rPr lang="en-US" b="1"/>
            </a:br>
            <a:br>
              <a:rPr lang="en-US" b="1"/>
            </a:br>
            <a:r>
              <a:rPr lang="en-US" b="1"/>
              <a:t>Resources:</a:t>
            </a:r>
            <a:endParaRPr/>
          </a:p>
        </p:txBody>
      </p:sp>
      <p:sp>
        <p:nvSpPr>
          <p:cNvPr id="14916" name="Google Shape;14916;p84: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64</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25"/>
        <p:cNvGrpSpPr/>
        <p:nvPr/>
      </p:nvGrpSpPr>
      <p:grpSpPr>
        <a:xfrm>
          <a:off x="0" y="0"/>
          <a:ext cx="0" cy="0"/>
          <a:chOff x="0" y="0"/>
          <a:chExt cx="0" cy="0"/>
        </a:xfrm>
      </p:grpSpPr>
      <p:sp>
        <p:nvSpPr>
          <p:cNvPr id="14926" name="Google Shape;14926;p85: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27" name="Google Shape;14927;p8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Key Message:</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Talk Track:</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Notes: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Resources: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4928" name="Google Shape;14928;p8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65</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33"/>
        <p:cNvGrpSpPr/>
        <p:nvPr/>
      </p:nvGrpSpPr>
      <p:grpSpPr>
        <a:xfrm>
          <a:off x="0" y="0"/>
          <a:ext cx="0" cy="0"/>
          <a:chOff x="0" y="0"/>
          <a:chExt cx="0" cy="0"/>
        </a:xfrm>
      </p:grpSpPr>
      <p:sp>
        <p:nvSpPr>
          <p:cNvPr id="14934" name="Google Shape;14934;p86: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35" name="Google Shape;14935;p86: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marR="0" lvl="0" indent="0" algn="l" rtl="0">
              <a:lnSpc>
                <a:spcPct val="80000"/>
              </a:lnSpc>
              <a:spcBef>
                <a:spcPts val="0"/>
              </a:spcBef>
              <a:spcAft>
                <a:spcPts val="0"/>
              </a:spcAft>
              <a:buClr>
                <a:schemeClr val="dk2"/>
              </a:buClr>
              <a:buSzPts val="1100"/>
              <a:buFont typeface="Arial"/>
              <a:buNone/>
            </a:pPr>
            <a:r>
              <a:rPr lang="en-US" sz="1050" b="1" u="none" strike="noStrike">
                <a:solidFill>
                  <a:schemeClr val="dk1"/>
                </a:solidFill>
                <a:latin typeface="Arial"/>
                <a:ea typeface="Arial"/>
                <a:cs typeface="Arial"/>
                <a:sym typeface="Arial"/>
              </a:rPr>
              <a:t>SLIDE CONTAINS ANIMATION</a:t>
            </a:r>
            <a:endParaRPr/>
          </a:p>
          <a:p>
            <a:pPr marL="0" marR="0" lvl="0" indent="0" algn="l" rtl="0">
              <a:lnSpc>
                <a:spcPct val="80000"/>
              </a:lnSpc>
              <a:spcBef>
                <a:spcPts val="0"/>
              </a:spcBef>
              <a:spcAft>
                <a:spcPts val="0"/>
              </a:spcAft>
              <a:buClr>
                <a:schemeClr val="dk2"/>
              </a:buClr>
              <a:buSzPts val="1100"/>
              <a:buFont typeface="Arial"/>
              <a:buNone/>
            </a:pPr>
            <a:endParaRPr sz="1050" b="1" u="none" strike="noStrike">
              <a:solidFill>
                <a:schemeClr val="dk1"/>
              </a:solidFill>
              <a:latin typeface="Arial"/>
              <a:ea typeface="Arial"/>
              <a:cs typeface="Arial"/>
              <a:sym typeface="Arial"/>
            </a:endParaRPr>
          </a:p>
          <a:p>
            <a:pPr marL="0" marR="0" lvl="0" indent="0" algn="l" rtl="0">
              <a:lnSpc>
                <a:spcPct val="80000"/>
              </a:lnSpc>
              <a:spcBef>
                <a:spcPts val="0"/>
              </a:spcBef>
              <a:spcAft>
                <a:spcPts val="0"/>
              </a:spcAft>
              <a:buClr>
                <a:schemeClr val="dk2"/>
              </a:buClr>
              <a:buSzPts val="1100"/>
              <a:buFont typeface="Arial"/>
              <a:buNone/>
            </a:pPr>
            <a:r>
              <a:rPr lang="en-US" sz="1050" b="1" u="none" strike="noStrike">
                <a:solidFill>
                  <a:schemeClr val="dk1"/>
                </a:solidFill>
                <a:latin typeface="Arial"/>
                <a:ea typeface="Arial"/>
                <a:cs typeface="Arial"/>
                <a:sym typeface="Arial"/>
              </a:rPr>
              <a:t>Key Message:</a:t>
            </a:r>
            <a:endParaRPr/>
          </a:p>
          <a:p>
            <a:pPr marL="0" lvl="0" indent="0" algn="l" rtl="0">
              <a:lnSpc>
                <a:spcPct val="80000"/>
              </a:lnSpc>
              <a:spcBef>
                <a:spcPts val="0"/>
              </a:spcBef>
              <a:spcAft>
                <a:spcPts val="0"/>
              </a:spcAft>
              <a:buClr>
                <a:schemeClr val="dk2"/>
              </a:buClr>
              <a:buSzPts val="1100"/>
              <a:buFont typeface="Arial"/>
              <a:buNone/>
            </a:pPr>
            <a:r>
              <a:rPr lang="en-US" sz="1050">
                <a:solidFill>
                  <a:schemeClr val="dk2"/>
                </a:solidFill>
                <a:latin typeface="Inter"/>
                <a:ea typeface="Inter"/>
                <a:cs typeface="Inter"/>
                <a:sym typeface="Inter"/>
              </a:rPr>
              <a:t>VMware Cloud Foundation Operations centers on four aspects to run private cloud infrastructure: Build, Manage, Operate, and Protect.  These four operational aspects transform infrastructure management into a resilient, automated private cloud platform that adapts to enterprise demands.</a:t>
            </a:r>
            <a:endParaRPr/>
          </a:p>
          <a:p>
            <a:pPr marL="0" lvl="0" indent="0" algn="l" rtl="0">
              <a:lnSpc>
                <a:spcPct val="80000"/>
              </a:lnSpc>
              <a:spcBef>
                <a:spcPts val="0"/>
              </a:spcBef>
              <a:spcAft>
                <a:spcPts val="0"/>
              </a:spcAft>
              <a:buClr>
                <a:schemeClr val="dk2"/>
              </a:buClr>
              <a:buSzPts val="1100"/>
              <a:buFont typeface="Arial"/>
              <a:buNone/>
            </a:pPr>
            <a:endParaRPr sz="1050">
              <a:solidFill>
                <a:schemeClr val="dk2"/>
              </a:solidFill>
              <a:latin typeface="Inter"/>
              <a:ea typeface="Inter"/>
              <a:cs typeface="Inter"/>
              <a:sym typeface="Inter"/>
            </a:endParaRPr>
          </a:p>
          <a:p>
            <a:pPr marL="0" marR="0" lvl="0" indent="0" algn="l" rtl="0">
              <a:lnSpc>
                <a:spcPct val="80000"/>
              </a:lnSpc>
              <a:spcBef>
                <a:spcPts val="0"/>
              </a:spcBef>
              <a:spcAft>
                <a:spcPts val="0"/>
              </a:spcAft>
              <a:buClr>
                <a:schemeClr val="dk2"/>
              </a:buClr>
              <a:buSzPts val="1100"/>
              <a:buFont typeface="Arial"/>
              <a:buNone/>
            </a:pPr>
            <a:r>
              <a:rPr lang="en-US" sz="1050" b="1" u="none" strike="noStrike">
                <a:solidFill>
                  <a:schemeClr val="dk1"/>
                </a:solidFill>
                <a:latin typeface="Arial"/>
                <a:ea typeface="Arial"/>
                <a:cs typeface="Arial"/>
                <a:sym typeface="Arial"/>
              </a:rPr>
              <a:t>Talk Track:</a:t>
            </a:r>
            <a:endParaRPr/>
          </a:p>
          <a:p>
            <a:pPr marL="0" marR="0" lvl="0" indent="0" algn="l" rtl="0">
              <a:lnSpc>
                <a:spcPct val="80000"/>
              </a:lnSpc>
              <a:spcBef>
                <a:spcPts val="0"/>
              </a:spcBef>
              <a:spcAft>
                <a:spcPts val="0"/>
              </a:spcAft>
              <a:buClr>
                <a:schemeClr val="dk2"/>
              </a:buClr>
              <a:buSzPts val="1100"/>
              <a:buFont typeface="Arial"/>
              <a:buNone/>
            </a:pPr>
            <a:r>
              <a:rPr lang="en-US" sz="1050">
                <a:solidFill>
                  <a:schemeClr val="dk2"/>
                </a:solidFill>
                <a:latin typeface="Inter"/>
                <a:ea typeface="Inter"/>
                <a:cs typeface="Inter"/>
                <a:sym typeface="Inter"/>
              </a:rPr>
              <a:t>Now let's turn our attention to Operating the private cloud where VCF Operations provides:</a:t>
            </a:r>
            <a:endParaRPr/>
          </a:p>
          <a:p>
            <a:pPr marL="171450" marR="0" lvl="0" indent="-171450" algn="l" rtl="0">
              <a:lnSpc>
                <a:spcPct val="80000"/>
              </a:lnSpc>
              <a:spcBef>
                <a:spcPts val="0"/>
              </a:spcBef>
              <a:spcAft>
                <a:spcPts val="0"/>
              </a:spcAft>
              <a:buClr>
                <a:schemeClr val="dk2"/>
              </a:buClr>
              <a:buSzPts val="1100"/>
              <a:buFont typeface="Arial"/>
              <a:buChar char="•"/>
            </a:pPr>
            <a:r>
              <a:rPr lang="en-US" sz="1050">
                <a:solidFill>
                  <a:schemeClr val="dk2"/>
                </a:solidFill>
                <a:latin typeface="Inter"/>
                <a:ea typeface="Inter"/>
                <a:cs typeface="Inter"/>
                <a:sym typeface="Inter"/>
              </a:rPr>
              <a:t>Real-time infrastructure monitoring delivering comprehensive visibility into system health and performance metrics</a:t>
            </a:r>
            <a:endParaRPr/>
          </a:p>
          <a:p>
            <a:pPr marL="171450" marR="0" lvl="0" indent="-171450" algn="l" rtl="0">
              <a:lnSpc>
                <a:spcPct val="80000"/>
              </a:lnSpc>
              <a:spcBef>
                <a:spcPts val="0"/>
              </a:spcBef>
              <a:spcAft>
                <a:spcPts val="0"/>
              </a:spcAft>
              <a:buClr>
                <a:schemeClr val="dk2"/>
              </a:buClr>
              <a:buSzPts val="1100"/>
              <a:buFont typeface="Arial"/>
              <a:buChar char="•"/>
            </a:pPr>
            <a:r>
              <a:rPr lang="en-US" sz="1050">
                <a:solidFill>
                  <a:schemeClr val="dk2"/>
                </a:solidFill>
                <a:latin typeface="Inter"/>
                <a:ea typeface="Inter"/>
                <a:cs typeface="Inter"/>
                <a:sym typeface="Inter"/>
              </a:rPr>
              <a:t>Optimizations for both modern containerized workloads running on VMware vSphere Kubernetes Service (VKS) and existing virtual machine workloads</a:t>
            </a:r>
            <a:endParaRPr/>
          </a:p>
          <a:p>
            <a:pPr marL="171450" marR="0" lvl="0" indent="-171450" algn="l" rtl="0">
              <a:lnSpc>
                <a:spcPct val="80000"/>
              </a:lnSpc>
              <a:spcBef>
                <a:spcPts val="0"/>
              </a:spcBef>
              <a:spcAft>
                <a:spcPts val="0"/>
              </a:spcAft>
              <a:buClr>
                <a:schemeClr val="dk2"/>
              </a:buClr>
              <a:buSzPts val="1100"/>
              <a:buFont typeface="Arial"/>
              <a:buChar char="•"/>
            </a:pPr>
            <a:r>
              <a:rPr lang="en-US" sz="1050">
                <a:solidFill>
                  <a:schemeClr val="dk2"/>
                </a:solidFill>
                <a:latin typeface="Inter"/>
                <a:ea typeface="Inter"/>
                <a:cs typeface="Inter"/>
                <a:sym typeface="Inter"/>
              </a:rPr>
              <a:t>And streamlined troubleshooting processes that reduce mean time to resolution (MTTR), shifting operations from reactive incident response to proactive performance optimization</a:t>
            </a:r>
            <a:endParaRPr sz="1050">
              <a:solidFill>
                <a:schemeClr val="dk2"/>
              </a:solidFill>
              <a:latin typeface="Inter"/>
              <a:ea typeface="Inter"/>
              <a:cs typeface="Inter"/>
              <a:sym typeface="Inter"/>
            </a:endParaRPr>
          </a:p>
        </p:txBody>
      </p:sp>
      <p:sp>
        <p:nvSpPr>
          <p:cNvPr id="14936" name="Google Shape;14936;p86: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lvl="0" indent="0" algn="l" rtl="0">
              <a:lnSpc>
                <a:spcPct val="100000"/>
              </a:lnSpc>
              <a:spcBef>
                <a:spcPts val="0"/>
              </a:spcBef>
              <a:spcAft>
                <a:spcPts val="0"/>
              </a:spcAft>
              <a:buClr>
                <a:schemeClr val="dk1"/>
              </a:buClr>
              <a:buSzPts val="1400"/>
              <a:buFont typeface="Arial"/>
              <a:buNone/>
            </a:pPr>
            <a:fld id="{00000000-1234-1234-1234-123412341234}" type="slidenum">
              <a:rPr lang="en-US"/>
              <a:t>66</a:t>
            </a:fld>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60"/>
        <p:cNvGrpSpPr/>
        <p:nvPr/>
      </p:nvGrpSpPr>
      <p:grpSpPr>
        <a:xfrm>
          <a:off x="0" y="0"/>
          <a:ext cx="0" cy="0"/>
          <a:chOff x="0" y="0"/>
          <a:chExt cx="0" cy="0"/>
        </a:xfrm>
      </p:grpSpPr>
      <p:sp>
        <p:nvSpPr>
          <p:cNvPr id="14961" name="Google Shape;14961;p87: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62" name="Google Shape;14962;p87: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90000"/>
              </a:lnSpc>
              <a:spcBef>
                <a:spcPts val="0"/>
              </a:spcBef>
              <a:spcAft>
                <a:spcPts val="0"/>
              </a:spcAft>
              <a:buClr>
                <a:srgbClr val="21333B"/>
              </a:buClr>
              <a:buSzPts val="1200"/>
              <a:buFont typeface="Arial"/>
              <a:buNone/>
            </a:pPr>
            <a:r>
              <a:rPr lang="en-US" b="1" i="0">
                <a:solidFill>
                  <a:srgbClr val="21333B"/>
                </a:solidFill>
                <a:latin typeface="Arial"/>
                <a:ea typeface="Arial"/>
                <a:cs typeface="Arial"/>
                <a:sym typeface="Arial"/>
              </a:rPr>
              <a:t>Key Message:</a:t>
            </a:r>
            <a:endParaRPr/>
          </a:p>
          <a:p>
            <a:pPr marL="0" lvl="0" indent="0" algn="l" rtl="0">
              <a:lnSpc>
                <a:spcPct val="90000"/>
              </a:lnSpc>
              <a:spcBef>
                <a:spcPts val="0"/>
              </a:spcBef>
              <a:spcAft>
                <a:spcPts val="0"/>
              </a:spcAft>
              <a:buClr>
                <a:schemeClr val="dk1"/>
              </a:buClr>
              <a:buSzPts val="1200"/>
              <a:buFont typeface="Arial"/>
              <a:buNone/>
            </a:pPr>
            <a:r>
              <a:rPr lang="en-US"/>
              <a:t>VCF’s Diagnostic Findings and VCF Health provides a </a:t>
            </a:r>
            <a:r>
              <a:rPr lang="en-US" sz="1200">
                <a:latin typeface="Calibri"/>
                <a:ea typeface="Calibri"/>
                <a:cs typeface="Calibri"/>
                <a:sym typeface="Calibri"/>
              </a:rPr>
              <a:t>single-pane-of-glass to correlate issues across your infrastructure.</a:t>
            </a:r>
            <a:endParaRPr/>
          </a:p>
          <a:p>
            <a:pPr marL="0" lvl="0" indent="0" algn="l" rtl="0">
              <a:lnSpc>
                <a:spcPct val="90000"/>
              </a:lnSpc>
              <a:spcBef>
                <a:spcPts val="0"/>
              </a:spcBef>
              <a:spcAft>
                <a:spcPts val="0"/>
              </a:spcAft>
              <a:buClr>
                <a:schemeClr val="dk1"/>
              </a:buClr>
              <a:buSzPts val="1200"/>
              <a:buFont typeface="Arial"/>
              <a:buNone/>
            </a:pPr>
            <a:endParaRPr b="1" i="0">
              <a:solidFill>
                <a:srgbClr val="21333B"/>
              </a:solidFill>
              <a:latin typeface="Arial"/>
              <a:ea typeface="Arial"/>
              <a:cs typeface="Arial"/>
              <a:sym typeface="Arial"/>
            </a:endParaRPr>
          </a:p>
          <a:p>
            <a:pPr marL="0" lvl="0" indent="0" algn="l" rtl="0">
              <a:lnSpc>
                <a:spcPct val="90000"/>
              </a:lnSpc>
              <a:spcBef>
                <a:spcPts val="0"/>
              </a:spcBef>
              <a:spcAft>
                <a:spcPts val="0"/>
              </a:spcAft>
              <a:buClr>
                <a:srgbClr val="21333B"/>
              </a:buClr>
              <a:buSzPts val="1200"/>
              <a:buFont typeface="Arial"/>
              <a:buNone/>
            </a:pPr>
            <a:r>
              <a:rPr lang="en-US" b="1" i="0">
                <a:solidFill>
                  <a:srgbClr val="21333B"/>
                </a:solidFill>
                <a:latin typeface="Arial"/>
                <a:ea typeface="Arial"/>
                <a:cs typeface="Arial"/>
                <a:sym typeface="Arial"/>
              </a:rPr>
              <a:t>Talk Track:</a:t>
            </a:r>
            <a:endParaRPr/>
          </a:p>
          <a:p>
            <a:pPr marL="0" lvl="0" indent="0" algn="l" rtl="0">
              <a:lnSpc>
                <a:spcPct val="90000"/>
              </a:lnSpc>
              <a:spcBef>
                <a:spcPts val="0"/>
              </a:spcBef>
              <a:spcAft>
                <a:spcPts val="0"/>
              </a:spcAft>
              <a:buClr>
                <a:schemeClr val="dk1"/>
              </a:buClr>
              <a:buSzPts val="1200"/>
              <a:buFont typeface="Arial"/>
              <a:buNone/>
            </a:pPr>
            <a:r>
              <a:rPr lang="en-US"/>
              <a:t>VCF’s Diagnostic Findings and VCF Health provides a </a:t>
            </a:r>
            <a:r>
              <a:rPr lang="en-US" sz="1200">
                <a:latin typeface="Calibri"/>
                <a:ea typeface="Calibri"/>
                <a:cs typeface="Calibri"/>
                <a:sym typeface="Calibri"/>
              </a:rPr>
              <a:t>single-pane-of-glass to correlate issues across your infrastructure. </a:t>
            </a:r>
            <a:br>
              <a:rPr lang="en-US"/>
            </a:br>
            <a:endParaRPr b="0" i="0">
              <a:solidFill>
                <a:srgbClr val="21333B"/>
              </a:solidFill>
              <a:latin typeface="Arial"/>
              <a:ea typeface="Arial"/>
              <a:cs typeface="Arial"/>
              <a:sym typeface="Arial"/>
            </a:endParaRPr>
          </a:p>
          <a:p>
            <a:pPr marL="0" lvl="0" indent="0" algn="l" rtl="0">
              <a:lnSpc>
                <a:spcPct val="90000"/>
              </a:lnSpc>
              <a:spcBef>
                <a:spcPts val="0"/>
              </a:spcBef>
              <a:spcAft>
                <a:spcPts val="0"/>
              </a:spcAft>
              <a:buClr>
                <a:schemeClr val="dk1"/>
              </a:buClr>
              <a:buSzPts val="1200"/>
              <a:buFont typeface="Calibri"/>
              <a:buNone/>
            </a:pPr>
            <a:r>
              <a:rPr lang="en-US" sz="1200">
                <a:latin typeface="Calibri"/>
                <a:ea typeface="Calibri"/>
                <a:cs typeface="Calibri"/>
                <a:sym typeface="Calibri"/>
              </a:rPr>
              <a:t>With these tools, you can m</a:t>
            </a:r>
            <a:r>
              <a:rPr lang="en-US" b="0" i="0">
                <a:solidFill>
                  <a:srgbClr val="F1F6F8"/>
                </a:solidFill>
                <a:latin typeface="Arial"/>
                <a:ea typeface="Arial"/>
                <a:cs typeface="Arial"/>
                <a:sym typeface="Arial"/>
              </a:rPr>
              <a:t>onitor the operational state of critical components, such as VCF Instances, ESX hosts, vCenters, vSAN Clusters, and NSX Instances, to ensure everything is functioning correctly, ranging from issues related to vMotion, Snapshots, vSphere High Availability, vSAN Health, NTP, and DNS… the list goes on and on. </a:t>
            </a:r>
            <a:endParaRPr/>
          </a:p>
          <a:p>
            <a:pPr marL="0" lvl="0" indent="0" algn="l" rtl="0">
              <a:lnSpc>
                <a:spcPct val="90000"/>
              </a:lnSpc>
              <a:spcBef>
                <a:spcPts val="0"/>
              </a:spcBef>
              <a:spcAft>
                <a:spcPts val="0"/>
              </a:spcAft>
              <a:buClr>
                <a:schemeClr val="dk1"/>
              </a:buClr>
              <a:buSzPts val="1200"/>
              <a:buFont typeface="Arial"/>
              <a:buNone/>
            </a:pPr>
            <a:endParaRPr b="0" i="0">
              <a:solidFill>
                <a:srgbClr val="F1F6F8"/>
              </a:solidFill>
              <a:latin typeface="Arial"/>
              <a:ea typeface="Arial"/>
              <a:cs typeface="Arial"/>
              <a:sym typeface="Arial"/>
            </a:endParaRPr>
          </a:p>
          <a:p>
            <a:pPr marL="0" lvl="0" indent="0" algn="l" rtl="0">
              <a:lnSpc>
                <a:spcPct val="90000"/>
              </a:lnSpc>
              <a:spcBef>
                <a:spcPts val="0"/>
              </a:spcBef>
              <a:spcAft>
                <a:spcPts val="0"/>
              </a:spcAft>
              <a:buClr>
                <a:srgbClr val="F1F6F8"/>
              </a:buClr>
              <a:buSzPts val="1200"/>
              <a:buFont typeface="Arial"/>
              <a:buNone/>
            </a:pPr>
            <a:r>
              <a:rPr lang="en-US" b="0" i="0">
                <a:solidFill>
                  <a:srgbClr val="F1F6F8"/>
                </a:solidFill>
                <a:latin typeface="Arial"/>
                <a:ea typeface="Arial"/>
                <a:cs typeface="Arial"/>
                <a:sym typeface="Arial"/>
              </a:rPr>
              <a:t>And if an issue, such as a Security Advisory Finding that requires immediate attention is identified, you can see impacted objects and get recommendations on how to remediate the issue yourself. </a:t>
            </a:r>
            <a:endParaRPr/>
          </a:p>
          <a:p>
            <a:pPr marL="0" lvl="0" indent="0" algn="l" rtl="0">
              <a:lnSpc>
                <a:spcPct val="90000"/>
              </a:lnSpc>
              <a:spcBef>
                <a:spcPts val="0"/>
              </a:spcBef>
              <a:spcAft>
                <a:spcPts val="0"/>
              </a:spcAft>
              <a:buClr>
                <a:schemeClr val="dk1"/>
              </a:buClr>
              <a:buSzPts val="1200"/>
              <a:buFont typeface="Arial"/>
              <a:buNone/>
            </a:pPr>
            <a:endParaRPr b="0" i="0">
              <a:solidFill>
                <a:srgbClr val="F1F6F8"/>
              </a:solidFill>
              <a:latin typeface="Arial"/>
              <a:ea typeface="Arial"/>
              <a:cs typeface="Arial"/>
              <a:sym typeface="Arial"/>
            </a:endParaRPr>
          </a:p>
          <a:p>
            <a:pPr marL="0" lvl="0" indent="0" algn="l" rtl="0">
              <a:lnSpc>
                <a:spcPct val="90000"/>
              </a:lnSpc>
              <a:spcBef>
                <a:spcPts val="0"/>
              </a:spcBef>
              <a:spcAft>
                <a:spcPts val="0"/>
              </a:spcAft>
              <a:buClr>
                <a:srgbClr val="F1F6F8"/>
              </a:buClr>
              <a:buSzPts val="1200"/>
              <a:buFont typeface="Arial"/>
              <a:buNone/>
            </a:pPr>
            <a:r>
              <a:rPr lang="en-US" b="0" i="0">
                <a:solidFill>
                  <a:srgbClr val="F1F6F8"/>
                </a:solidFill>
                <a:latin typeface="Arial"/>
                <a:ea typeface="Arial"/>
                <a:cs typeface="Arial"/>
                <a:sym typeface="Arial"/>
              </a:rPr>
              <a:t>And, in addition to self-service remediation, you can even send Log Bundles to our support team, via VCF’s Log Assist tool, to speed discovery and drive faster resolution for issues that you can’t resolve on your own. </a:t>
            </a:r>
            <a:endParaRPr b="0" i="0">
              <a:solidFill>
                <a:srgbClr val="21333B"/>
              </a:solidFill>
              <a:latin typeface="Arial"/>
              <a:ea typeface="Arial"/>
              <a:cs typeface="Arial"/>
              <a:sym typeface="Arial"/>
            </a:endParaRPr>
          </a:p>
          <a:p>
            <a:pPr marL="0" lvl="0" indent="0" algn="l" rtl="0">
              <a:lnSpc>
                <a:spcPct val="90000"/>
              </a:lnSpc>
              <a:spcBef>
                <a:spcPts val="0"/>
              </a:spcBef>
              <a:spcAft>
                <a:spcPts val="0"/>
              </a:spcAft>
              <a:buClr>
                <a:schemeClr val="dk1"/>
              </a:buClr>
              <a:buSzPts val="1200"/>
              <a:buFont typeface="Arial"/>
              <a:buNone/>
            </a:pPr>
            <a:endParaRPr b="0" i="0">
              <a:solidFill>
                <a:srgbClr val="21333B"/>
              </a:solidFill>
              <a:latin typeface="Arial"/>
              <a:ea typeface="Arial"/>
              <a:cs typeface="Arial"/>
              <a:sym typeface="Arial"/>
            </a:endParaRPr>
          </a:p>
          <a:p>
            <a:pPr marL="0" lvl="0" indent="0" algn="l" rtl="0">
              <a:lnSpc>
                <a:spcPct val="90000"/>
              </a:lnSpc>
              <a:spcBef>
                <a:spcPts val="0"/>
              </a:spcBef>
              <a:spcAft>
                <a:spcPts val="0"/>
              </a:spcAft>
              <a:buClr>
                <a:srgbClr val="21333B"/>
              </a:buClr>
              <a:buSzPts val="1200"/>
              <a:buFont typeface="Arial"/>
              <a:buNone/>
            </a:pPr>
            <a:r>
              <a:rPr lang="en-US" b="0" i="0">
                <a:solidFill>
                  <a:srgbClr val="21333B"/>
                </a:solidFill>
                <a:latin typeface="Arial"/>
                <a:ea typeface="Arial"/>
                <a:cs typeface="Arial"/>
                <a:sym typeface="Arial"/>
              </a:rPr>
              <a:t>All in All, VCF Diagnostics and Health helps you to: </a:t>
            </a:r>
            <a:endParaRPr/>
          </a:p>
          <a:p>
            <a:pPr marL="0" lvl="0" indent="0" algn="l" rtl="0">
              <a:lnSpc>
                <a:spcPct val="90000"/>
              </a:lnSpc>
              <a:spcBef>
                <a:spcPts val="0"/>
              </a:spcBef>
              <a:spcAft>
                <a:spcPts val="0"/>
              </a:spcAft>
              <a:buClr>
                <a:schemeClr val="dk1"/>
              </a:buClr>
              <a:buSzPts val="1200"/>
              <a:buFont typeface="Arial"/>
              <a:buNone/>
            </a:pPr>
            <a:r>
              <a:rPr lang="en-US"/>
              <a:t>- Increase visibility &amp; speeds discovery</a:t>
            </a:r>
            <a:endParaRPr/>
          </a:p>
          <a:p>
            <a:pPr marL="0" lvl="0" indent="0" algn="l" rtl="0">
              <a:lnSpc>
                <a:spcPct val="90000"/>
              </a:lnSpc>
              <a:spcBef>
                <a:spcPts val="0"/>
              </a:spcBef>
              <a:spcAft>
                <a:spcPts val="0"/>
              </a:spcAft>
              <a:buClr>
                <a:schemeClr val="dk1"/>
              </a:buClr>
              <a:buSzPts val="1200"/>
              <a:buFont typeface="Arial"/>
              <a:buNone/>
            </a:pPr>
            <a:r>
              <a:rPr lang="en-US"/>
              <a:t>- Drive faster resolution</a:t>
            </a:r>
            <a:endParaRPr/>
          </a:p>
          <a:p>
            <a:pPr marL="0" lvl="0" indent="0" algn="l" rtl="0">
              <a:lnSpc>
                <a:spcPct val="90000"/>
              </a:lnSpc>
              <a:spcBef>
                <a:spcPts val="0"/>
              </a:spcBef>
              <a:spcAft>
                <a:spcPts val="0"/>
              </a:spcAft>
              <a:buClr>
                <a:schemeClr val="dk1"/>
              </a:buClr>
              <a:buSzPts val="1200"/>
              <a:buFont typeface="Arial"/>
              <a:buNone/>
            </a:pPr>
            <a:r>
              <a:rPr lang="en-US"/>
              <a:t>- Improve environment stability and resiliency. </a:t>
            </a:r>
            <a:endParaRPr/>
          </a:p>
          <a:p>
            <a:pPr marL="0" lvl="0" indent="0" algn="l" rtl="0">
              <a:lnSpc>
                <a:spcPct val="90000"/>
              </a:lnSpc>
              <a:spcBef>
                <a:spcPts val="0"/>
              </a:spcBef>
              <a:spcAft>
                <a:spcPts val="0"/>
              </a:spcAft>
              <a:buClr>
                <a:schemeClr val="dk1"/>
              </a:buClr>
              <a:buSzPts val="1200"/>
              <a:buFont typeface="Arial"/>
              <a:buNone/>
            </a:pPr>
            <a:endParaRPr/>
          </a:p>
          <a:p>
            <a:pPr marL="0" lvl="0" indent="0" algn="l" rtl="0">
              <a:lnSpc>
                <a:spcPct val="90000"/>
              </a:lnSpc>
              <a:spcBef>
                <a:spcPts val="0"/>
              </a:spcBef>
              <a:spcAft>
                <a:spcPts val="0"/>
              </a:spcAft>
              <a:buClr>
                <a:schemeClr val="dk1"/>
              </a:buClr>
              <a:buSzPts val="1200"/>
              <a:buFont typeface="Arial"/>
              <a:buNone/>
            </a:pPr>
            <a:r>
              <a:rPr lang="en-US" b="1"/>
              <a:t>Notes</a:t>
            </a:r>
            <a:br>
              <a:rPr lang="en-US" b="1"/>
            </a:br>
            <a:br>
              <a:rPr lang="en-US" b="1"/>
            </a:br>
            <a:r>
              <a:rPr lang="en-US" b="1"/>
              <a:t>Resources:</a:t>
            </a:r>
            <a:endParaRPr/>
          </a:p>
          <a:p>
            <a:pPr marL="0" lvl="0" indent="0" algn="l" rtl="0">
              <a:lnSpc>
                <a:spcPct val="90000"/>
              </a:lnSpc>
              <a:spcBef>
                <a:spcPts val="0"/>
              </a:spcBef>
              <a:spcAft>
                <a:spcPts val="0"/>
              </a:spcAft>
              <a:buClr>
                <a:schemeClr val="dk1"/>
              </a:buClr>
              <a:buSzPts val="1200"/>
              <a:buFont typeface="Arial"/>
              <a:buNone/>
            </a:pPr>
            <a:endParaRPr/>
          </a:p>
          <a:p>
            <a:pPr marL="0" lvl="0" indent="0" algn="l" rtl="0">
              <a:lnSpc>
                <a:spcPct val="90000"/>
              </a:lnSpc>
              <a:spcBef>
                <a:spcPts val="0"/>
              </a:spcBef>
              <a:spcAft>
                <a:spcPts val="0"/>
              </a:spcAft>
              <a:buClr>
                <a:schemeClr val="dk1"/>
              </a:buClr>
              <a:buSzPts val="1200"/>
              <a:buFont typeface="Arial"/>
              <a:buNone/>
            </a:pPr>
            <a:endParaRPr/>
          </a:p>
          <a:p>
            <a:pPr marL="0" lvl="0" indent="0" algn="l" rtl="0">
              <a:lnSpc>
                <a:spcPct val="90000"/>
              </a:lnSpc>
              <a:spcBef>
                <a:spcPts val="0"/>
              </a:spcBef>
              <a:spcAft>
                <a:spcPts val="0"/>
              </a:spcAft>
              <a:buClr>
                <a:schemeClr val="dk1"/>
              </a:buClr>
              <a:buSzPts val="1200"/>
              <a:buFont typeface="Arial"/>
              <a:buNone/>
            </a:pPr>
            <a:endParaRPr/>
          </a:p>
          <a:p>
            <a:pPr marL="0" lvl="0" indent="0" algn="l" rtl="0">
              <a:lnSpc>
                <a:spcPct val="90000"/>
              </a:lnSpc>
              <a:spcBef>
                <a:spcPts val="0"/>
              </a:spcBef>
              <a:spcAft>
                <a:spcPts val="0"/>
              </a:spcAft>
              <a:buClr>
                <a:schemeClr val="dk1"/>
              </a:buClr>
              <a:buSzPts val="1200"/>
              <a:buFont typeface="Arial"/>
              <a:buNone/>
            </a:pPr>
            <a:endParaRPr/>
          </a:p>
        </p:txBody>
      </p:sp>
      <p:sp>
        <p:nvSpPr>
          <p:cNvPr id="14963" name="Google Shape;14963;p87: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67</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72"/>
        <p:cNvGrpSpPr/>
        <p:nvPr/>
      </p:nvGrpSpPr>
      <p:grpSpPr>
        <a:xfrm>
          <a:off x="0" y="0"/>
          <a:ext cx="0" cy="0"/>
          <a:chOff x="0" y="0"/>
          <a:chExt cx="0" cy="0"/>
        </a:xfrm>
      </p:grpSpPr>
      <p:sp>
        <p:nvSpPr>
          <p:cNvPr id="14973" name="Google Shape;14973;p8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74" name="Google Shape;14974;p8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12700" lvl="0" indent="0" algn="l" rtl="0">
              <a:lnSpc>
                <a:spcPct val="60000"/>
              </a:lnSpc>
              <a:spcBef>
                <a:spcPts val="0"/>
              </a:spcBef>
              <a:spcAft>
                <a:spcPts val="0"/>
              </a:spcAft>
              <a:buClr>
                <a:schemeClr val="dk1"/>
              </a:buClr>
              <a:buSzPts val="1200"/>
              <a:buFont typeface="Arial"/>
              <a:buNone/>
            </a:pPr>
            <a:r>
              <a:rPr lang="en-US" sz="1020" b="1" i="0" u="none" strike="noStrike">
                <a:latin typeface="Arial"/>
                <a:ea typeface="Arial"/>
                <a:cs typeface="Arial"/>
                <a:sym typeface="Arial"/>
              </a:rPr>
              <a:t>Key Message:</a:t>
            </a:r>
            <a:endParaRPr sz="1020">
              <a:latin typeface="Arial"/>
              <a:ea typeface="Arial"/>
              <a:cs typeface="Arial"/>
              <a:sym typeface="Arial"/>
            </a:endParaRPr>
          </a:p>
          <a:p>
            <a:pPr marL="19050" lvl="0" indent="0" algn="l" rtl="0">
              <a:lnSpc>
                <a:spcPct val="60000"/>
              </a:lnSpc>
              <a:spcBef>
                <a:spcPts val="0"/>
              </a:spcBef>
              <a:spcAft>
                <a:spcPts val="0"/>
              </a:spcAft>
              <a:buClr>
                <a:schemeClr val="dk1"/>
              </a:buClr>
              <a:buSzPts val="1100"/>
              <a:buFont typeface="Arial"/>
              <a:buNone/>
            </a:pPr>
            <a:r>
              <a:rPr lang="en-US" sz="1020" b="0" i="0" u="none" strike="noStrike">
                <a:latin typeface="Arial"/>
                <a:ea typeface="Arial"/>
                <a:cs typeface="Arial"/>
                <a:sym typeface="Arial"/>
              </a:rPr>
              <a:t>Continuous Performance monitoring is all about </a:t>
            </a:r>
            <a:r>
              <a:rPr lang="en-US" sz="1020" b="0" i="0" u="none" strike="noStrike" cap="none">
                <a:latin typeface="Arial"/>
                <a:ea typeface="Arial"/>
                <a:cs typeface="Arial"/>
                <a:sym typeface="Arial"/>
              </a:rPr>
              <a:t>ensuring your VCF objects have access to the resources they need to run properly across their lifecycle.​  </a:t>
            </a:r>
            <a:endParaRPr/>
          </a:p>
          <a:p>
            <a:pPr marL="19050" lvl="0" indent="0" algn="l" rtl="0">
              <a:lnSpc>
                <a:spcPct val="60000"/>
              </a:lnSpc>
              <a:spcBef>
                <a:spcPts val="0"/>
              </a:spcBef>
              <a:spcAft>
                <a:spcPts val="0"/>
              </a:spcAft>
              <a:buClr>
                <a:schemeClr val="dk1"/>
              </a:buClr>
              <a:buSzPts val="1100"/>
              <a:buFont typeface="Arial"/>
              <a:buNone/>
            </a:pPr>
            <a:r>
              <a:rPr lang="en-US" sz="1020" b="0" i="0" u="none" strike="noStrike" cap="none">
                <a:latin typeface="Arial"/>
                <a:ea typeface="Arial"/>
                <a:cs typeface="Arial"/>
                <a:sym typeface="Arial"/>
              </a:rPr>
              <a:t>Achieve </a:t>
            </a:r>
            <a:r>
              <a:rPr lang="en-US" sz="1020" b="0" i="0" u="none" strike="noStrike">
                <a:latin typeface="Arial"/>
                <a:ea typeface="Arial"/>
                <a:cs typeface="Arial"/>
                <a:sym typeface="Arial"/>
              </a:rPr>
              <a:t>faster time to resolution of issues to realize better performance at lower costs with AI-driven troubleshooting and remediation.</a:t>
            </a:r>
            <a:endParaRPr sz="1020">
              <a:latin typeface="Arial"/>
              <a:ea typeface="Arial"/>
              <a:cs typeface="Arial"/>
              <a:sym typeface="Arial"/>
            </a:endParaRPr>
          </a:p>
          <a:p>
            <a:pPr marL="12700" lvl="0" indent="0" algn="l" rtl="0">
              <a:lnSpc>
                <a:spcPct val="60000"/>
              </a:lnSpc>
              <a:spcBef>
                <a:spcPts val="0"/>
              </a:spcBef>
              <a:spcAft>
                <a:spcPts val="0"/>
              </a:spcAft>
              <a:buClr>
                <a:schemeClr val="dk1"/>
              </a:buClr>
              <a:buSzPts val="1200"/>
              <a:buFont typeface="Arial"/>
              <a:buNone/>
            </a:pPr>
            <a:endParaRPr sz="1020" i="0" u="none" strike="noStrike">
              <a:latin typeface="Arial"/>
              <a:ea typeface="Arial"/>
              <a:cs typeface="Arial"/>
              <a:sym typeface="Arial"/>
            </a:endParaRPr>
          </a:p>
          <a:p>
            <a:pPr marL="12700" lvl="0" indent="0" algn="l" rtl="0">
              <a:lnSpc>
                <a:spcPct val="60000"/>
              </a:lnSpc>
              <a:spcBef>
                <a:spcPts val="0"/>
              </a:spcBef>
              <a:spcAft>
                <a:spcPts val="0"/>
              </a:spcAft>
              <a:buClr>
                <a:schemeClr val="dk1"/>
              </a:buClr>
              <a:buSzPts val="1200"/>
              <a:buFont typeface="Arial"/>
              <a:buNone/>
            </a:pPr>
            <a:r>
              <a:rPr lang="en-US" sz="1020" b="1" i="0" u="none" strike="noStrike">
                <a:latin typeface="Arial"/>
                <a:ea typeface="Arial"/>
                <a:cs typeface="Arial"/>
                <a:sym typeface="Arial"/>
              </a:rPr>
              <a:t>Talk Track:</a:t>
            </a:r>
            <a:endParaRPr sz="102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020" b="0" i="0" u="none" strike="noStrike">
                <a:latin typeface="Arial"/>
                <a:ea typeface="Arial"/>
                <a:cs typeface="Arial"/>
                <a:sym typeface="Arial"/>
              </a:rPr>
              <a:t>The </a:t>
            </a:r>
            <a:r>
              <a:rPr lang="en-US" sz="1020" b="0" i="0" u="none" strike="noStrike" cap="none">
                <a:latin typeface="Arial"/>
                <a:ea typeface="Arial"/>
                <a:cs typeface="Arial"/>
                <a:sym typeface="Arial"/>
              </a:rPr>
              <a:t>ability to troubleshoot and remediate issues lies at the heart of infrastructure and application performance management of your VCF environment.​</a:t>
            </a:r>
            <a:endParaRPr sz="102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020" b="0" i="0" u="none" strike="noStrike" cap="none">
                <a:latin typeface="Arial"/>
                <a:ea typeface="Arial"/>
                <a:cs typeface="Arial"/>
                <a:sym typeface="Arial"/>
              </a:rPr>
              <a:t>When an alert is triggered on an object, you can use VCF Operations’ Troubleshooting Workbench and its AI-based analytics to perform advanced troubleshooting tasks. ​</a:t>
            </a:r>
            <a:endParaRPr/>
          </a:p>
          <a:p>
            <a:pPr marL="44450" marR="0" lvl="0" indent="0" algn="l" rtl="0">
              <a:lnSpc>
                <a:spcPct val="70000"/>
              </a:lnSpc>
              <a:spcBef>
                <a:spcPts val="0"/>
              </a:spcBef>
              <a:spcAft>
                <a:spcPts val="0"/>
              </a:spcAft>
              <a:buClr>
                <a:schemeClr val="dk1"/>
              </a:buClr>
              <a:buSzPts val="1100"/>
              <a:buFont typeface="Arial"/>
              <a:buNone/>
            </a:pPr>
            <a:endParaRPr sz="102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020" b="0" i="0" u="none" strike="noStrike" cap="none">
                <a:latin typeface="Arial"/>
                <a:ea typeface="Arial"/>
                <a:cs typeface="Arial"/>
                <a:sym typeface="Arial"/>
              </a:rPr>
              <a:t>VCF Operations narrows down the potential sources of an issue by correlating similar metrics or objects to check for trends or patterns.​  It looks for potential evidence of a problem such as events for metrics that have breached usual behavior parameters, major configuration changes, or metrics that have shown a drastic change within a selected scope and time.​</a:t>
            </a:r>
            <a:endParaRPr/>
          </a:p>
          <a:p>
            <a:pPr marL="44450" marR="0" lvl="0" indent="0" algn="l" rtl="0">
              <a:lnSpc>
                <a:spcPct val="70000"/>
              </a:lnSpc>
              <a:spcBef>
                <a:spcPts val="0"/>
              </a:spcBef>
              <a:spcAft>
                <a:spcPts val="0"/>
              </a:spcAft>
              <a:buClr>
                <a:schemeClr val="dk1"/>
              </a:buClr>
              <a:buSzPts val="1100"/>
              <a:buFont typeface="Arial"/>
              <a:buNone/>
            </a:pPr>
            <a:endParaRPr sz="102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020" b="0" i="0" u="none" strike="noStrike" cap="none">
                <a:latin typeface="Arial"/>
                <a:ea typeface="Arial"/>
                <a:cs typeface="Arial"/>
                <a:sym typeface="Arial"/>
              </a:rPr>
              <a:t>It then ties into VCF Operations for Logs, VMware’s log management solution, for “last mile” root cause analysis to determine the specific source.​  At that point, VCF Operations provides guided recommendations on how to fix the issue.​  It also provides you the option to have the system automatically apply the recommended fix should a similar issue reoccur in the future.​</a:t>
            </a:r>
            <a:endParaRPr/>
          </a:p>
          <a:p>
            <a:pPr marL="44450" marR="0" lvl="0" indent="0" algn="l" rtl="0">
              <a:lnSpc>
                <a:spcPct val="70000"/>
              </a:lnSpc>
              <a:spcBef>
                <a:spcPts val="0"/>
              </a:spcBef>
              <a:spcAft>
                <a:spcPts val="0"/>
              </a:spcAft>
              <a:buClr>
                <a:schemeClr val="dk1"/>
              </a:buClr>
              <a:buSzPts val="1100"/>
              <a:buFont typeface="Arial"/>
              <a:buNone/>
            </a:pPr>
            <a:endParaRPr sz="1020" b="0" i="0" u="none" strike="noStrike" cap="none">
              <a:latin typeface="Arial"/>
              <a:ea typeface="Arial"/>
              <a:cs typeface="Arial"/>
              <a:sym typeface="Arial"/>
            </a:endParaRPr>
          </a:p>
          <a:p>
            <a:pPr marL="0" marR="0" lvl="0" indent="0" algn="l" rtl="0">
              <a:lnSpc>
                <a:spcPct val="70000"/>
              </a:lnSpc>
              <a:spcBef>
                <a:spcPts val="0"/>
              </a:spcBef>
              <a:spcAft>
                <a:spcPts val="0"/>
              </a:spcAft>
              <a:buClr>
                <a:schemeClr val="dk2"/>
              </a:buClr>
              <a:buSzPts val="1100"/>
              <a:buFont typeface="Arial"/>
              <a:buNone/>
            </a:pPr>
            <a:r>
              <a:rPr lang="en-US" sz="1020">
                <a:solidFill>
                  <a:schemeClr val="dk2"/>
                </a:solidFill>
              </a:rPr>
              <a:t>VCF Operations also provides more granular metrics collection and visualization to enable deeper visibility into application workload performance and facilitate troubleshooting.</a:t>
            </a:r>
            <a:r>
              <a:rPr lang="en-US" sz="1020">
                <a:solidFill>
                  <a:schemeClr val="dk1"/>
                </a:solidFill>
              </a:rPr>
              <a:t> </a:t>
            </a:r>
            <a:r>
              <a:rPr lang="en-US" sz="1020">
                <a:solidFill>
                  <a:schemeClr val="dk2"/>
                </a:solidFill>
              </a:rPr>
              <a:t>The real time metrics are collected every 20 second with an optional ability to configure as low as 2-second metrics collection for ESX hosts. To access the real time metrics, navigate to the Real Time tab under troubleshooting workbench.</a:t>
            </a:r>
            <a:endParaRPr sz="1020">
              <a:solidFill>
                <a:schemeClr val="dk1"/>
              </a:solidFill>
            </a:endParaRPr>
          </a:p>
          <a:p>
            <a:pPr marL="0" marR="0" lvl="0" indent="0" algn="l" rtl="0">
              <a:lnSpc>
                <a:spcPct val="70000"/>
              </a:lnSpc>
              <a:spcBef>
                <a:spcPts val="0"/>
              </a:spcBef>
              <a:spcAft>
                <a:spcPts val="0"/>
              </a:spcAft>
              <a:buClr>
                <a:schemeClr val="dk2"/>
              </a:buClr>
              <a:buSzPts val="1100"/>
              <a:buFont typeface="Arial"/>
              <a:buNone/>
            </a:pPr>
            <a:endParaRPr sz="1020"/>
          </a:p>
          <a:p>
            <a:pPr marL="0" marR="0" lvl="0" indent="0" algn="l" rtl="0">
              <a:lnSpc>
                <a:spcPct val="70000"/>
              </a:lnSpc>
              <a:spcBef>
                <a:spcPts val="0"/>
              </a:spcBef>
              <a:spcAft>
                <a:spcPts val="0"/>
              </a:spcAft>
              <a:buClr>
                <a:schemeClr val="dk2"/>
              </a:buClr>
              <a:buSzPts val="1100"/>
              <a:buFont typeface="Arial"/>
              <a:buNone/>
            </a:pPr>
            <a:r>
              <a:rPr lang="en-US" sz="1020">
                <a:solidFill>
                  <a:schemeClr val="dk2"/>
                </a:solidFill>
              </a:rPr>
              <a:t>In addition to real time metrics collection, the troubleshooting workbench also includes a “TopN” tab allowing admins to readily identify the “top”</a:t>
            </a:r>
            <a:r>
              <a:rPr lang="en-US" sz="1020" b="0" i="0" u="none" strike="noStrike" cap="none">
                <a:solidFill>
                  <a:srgbClr val="000000"/>
                </a:solidFill>
                <a:latin typeface="Arial"/>
                <a:ea typeface="Arial"/>
                <a:cs typeface="Arial"/>
                <a:sym typeface="Arial"/>
              </a:rPr>
              <a:t> VM, Host, Cluster, Datacenter, NSX, and vSAN objects.</a:t>
            </a:r>
            <a:endParaRPr sz="1020">
              <a:solidFill>
                <a:schemeClr val="dk2"/>
              </a:solidFill>
            </a:endParaRPr>
          </a:p>
          <a:p>
            <a:pPr marL="0" marR="0" lvl="0" indent="0" algn="l" rtl="0">
              <a:lnSpc>
                <a:spcPct val="70000"/>
              </a:lnSpc>
              <a:spcBef>
                <a:spcPts val="0"/>
              </a:spcBef>
              <a:spcAft>
                <a:spcPts val="0"/>
              </a:spcAft>
              <a:buClr>
                <a:schemeClr val="dk2"/>
              </a:buClr>
              <a:buSzPts val="1100"/>
              <a:buFont typeface="Arial"/>
              <a:buNone/>
            </a:pPr>
            <a:endParaRPr sz="1020">
              <a:solidFill>
                <a:schemeClr val="dk2"/>
              </a:solidFill>
            </a:endParaRPr>
          </a:p>
          <a:p>
            <a:pPr marL="0" marR="0" lvl="0" indent="0" algn="l" rtl="0">
              <a:lnSpc>
                <a:spcPct val="70000"/>
              </a:lnSpc>
              <a:spcBef>
                <a:spcPts val="0"/>
              </a:spcBef>
              <a:spcAft>
                <a:spcPts val="0"/>
              </a:spcAft>
              <a:buClr>
                <a:schemeClr val="dk2"/>
              </a:buClr>
              <a:buSzPts val="1100"/>
              <a:buFont typeface="Arial"/>
              <a:buNone/>
            </a:pPr>
            <a:r>
              <a:rPr lang="en-US" sz="1020">
                <a:solidFill>
                  <a:schemeClr val="dk2"/>
                </a:solidFill>
              </a:rPr>
              <a:t>The troubleshooting workbench also provides a notes section where you can capture and store notes amongst other teammates.  These notes are readily available to anyone who logs on to the VCF Operations troubleshooting workbench helping to document troubleshooting findings and to facilitate collaboration.</a:t>
            </a:r>
            <a:endParaRPr/>
          </a:p>
          <a:p>
            <a:pPr marL="44450" marR="0" lvl="0" indent="0" algn="l" rtl="0">
              <a:lnSpc>
                <a:spcPct val="70000"/>
              </a:lnSpc>
              <a:spcBef>
                <a:spcPts val="0"/>
              </a:spcBef>
              <a:spcAft>
                <a:spcPts val="0"/>
              </a:spcAft>
              <a:buClr>
                <a:schemeClr val="dk1"/>
              </a:buClr>
              <a:buSzPts val="1100"/>
              <a:buFont typeface="Arial"/>
              <a:buNone/>
            </a:pPr>
            <a:endParaRPr sz="102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020" b="0" i="0" u="none" strike="noStrike" cap="none">
                <a:latin typeface="Arial"/>
                <a:ea typeface="Arial"/>
                <a:cs typeface="Arial"/>
                <a:sym typeface="Arial"/>
              </a:rPr>
              <a:t>With VCF Operations issues can be resolved faster, reducing the MTTR, ensuring your SLAs with the business are met.​</a:t>
            </a:r>
            <a:endParaRPr sz="102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020" b="0" i="0" u="none" strike="noStrike" cap="none">
                <a:latin typeface="Arial"/>
                <a:ea typeface="Arial"/>
                <a:cs typeface="Arial"/>
                <a:sym typeface="Arial"/>
              </a:rPr>
              <a:t>Plus, since transparency and communication are critical to IT’s relationship with the business, VCF Operations can notify important stakeholders via alert notifications and reports of any issues that pop up.​</a:t>
            </a:r>
            <a:endParaRPr sz="1020">
              <a:latin typeface="Arial"/>
              <a:ea typeface="Arial"/>
              <a:cs typeface="Arial"/>
              <a:sym typeface="Arial"/>
            </a:endParaRPr>
          </a:p>
          <a:p>
            <a:pPr marL="0" lvl="0" indent="0" algn="l" rtl="0">
              <a:lnSpc>
                <a:spcPct val="80000"/>
              </a:lnSpc>
              <a:spcBef>
                <a:spcPts val="0"/>
              </a:spcBef>
              <a:spcAft>
                <a:spcPts val="0"/>
              </a:spcAft>
              <a:buNone/>
            </a:pPr>
            <a:endParaRPr sz="1020"/>
          </a:p>
          <a:p>
            <a:pPr marL="0" lvl="0" indent="0" algn="l" rtl="0">
              <a:lnSpc>
                <a:spcPct val="80000"/>
              </a:lnSpc>
              <a:spcBef>
                <a:spcPts val="0"/>
              </a:spcBef>
              <a:spcAft>
                <a:spcPts val="0"/>
              </a:spcAft>
              <a:buNone/>
            </a:pPr>
            <a:r>
              <a:rPr lang="en-US" sz="1020" b="1"/>
              <a:t>Notes:</a:t>
            </a:r>
            <a:br>
              <a:rPr lang="en-US" sz="1020" b="1"/>
            </a:br>
            <a:br>
              <a:rPr lang="en-US" sz="1020" b="1"/>
            </a:br>
            <a:r>
              <a:rPr lang="en-US" sz="1020" b="1"/>
              <a:t>Resources:</a:t>
            </a:r>
            <a:endParaRPr/>
          </a:p>
        </p:txBody>
      </p:sp>
      <p:sp>
        <p:nvSpPr>
          <p:cNvPr id="14975" name="Google Shape;14975;p8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68</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81"/>
        <p:cNvGrpSpPr/>
        <p:nvPr/>
      </p:nvGrpSpPr>
      <p:grpSpPr>
        <a:xfrm>
          <a:off x="0" y="0"/>
          <a:ext cx="0" cy="0"/>
          <a:chOff x="0" y="0"/>
          <a:chExt cx="0" cy="0"/>
        </a:xfrm>
      </p:grpSpPr>
      <p:sp>
        <p:nvSpPr>
          <p:cNvPr id="14982" name="Google Shape;14982;p89: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83" name="Google Shape;14983;p89: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80000"/>
              </a:lnSpc>
              <a:spcBef>
                <a:spcPts val="0"/>
              </a:spcBef>
              <a:spcAft>
                <a:spcPts val="0"/>
              </a:spcAft>
              <a:buClr>
                <a:schemeClr val="dk1"/>
              </a:buClr>
              <a:buSzPts val="930"/>
              <a:buFont typeface="Arial"/>
              <a:buNone/>
            </a:pPr>
            <a:r>
              <a:rPr lang="en-US" sz="930" b="1"/>
              <a:t>Key Message:</a:t>
            </a:r>
            <a:endParaRPr/>
          </a:p>
          <a:p>
            <a:pPr marL="0" lvl="0" indent="0" algn="l" rtl="0">
              <a:lnSpc>
                <a:spcPct val="80000"/>
              </a:lnSpc>
              <a:spcBef>
                <a:spcPts val="0"/>
              </a:spcBef>
              <a:spcAft>
                <a:spcPts val="0"/>
              </a:spcAft>
              <a:buNone/>
            </a:pPr>
            <a:r>
              <a:rPr lang="en-US" sz="930"/>
              <a:t>VCF Operations provides complete network view with real-time health monitoring, traffic analysis, and application insights.</a:t>
            </a:r>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Clr>
                <a:schemeClr val="dk1"/>
              </a:buClr>
              <a:buSzPts val="930"/>
              <a:buFont typeface="Arial"/>
              <a:buNone/>
            </a:pPr>
            <a:r>
              <a:rPr lang="en-US" sz="930" b="1"/>
              <a:t>Talk Track:</a:t>
            </a:r>
            <a:endParaRPr/>
          </a:p>
          <a:p>
            <a:pPr marL="0" marR="0" lvl="0" indent="0" algn="l" rtl="0">
              <a:lnSpc>
                <a:spcPct val="80000"/>
              </a:lnSpc>
              <a:spcBef>
                <a:spcPts val="0"/>
              </a:spcBef>
              <a:spcAft>
                <a:spcPts val="0"/>
              </a:spcAft>
              <a:buClr>
                <a:schemeClr val="dk1"/>
              </a:buClr>
              <a:buSzPts val="930"/>
              <a:buFont typeface="Arial"/>
              <a:buNone/>
            </a:pPr>
            <a:r>
              <a:rPr lang="en-US" sz="930"/>
              <a:t>VCF Operations provides a dedicated Network monitoring and diagnostics visibility across your VCF environment. </a:t>
            </a:r>
            <a:r>
              <a:rPr lang="en-US" sz="930">
                <a:solidFill>
                  <a:schemeClr val="dk2"/>
                </a:solidFill>
                <a:latin typeface="Arial"/>
                <a:ea typeface="Arial"/>
                <a:cs typeface="Arial"/>
                <a:sym typeface="Arial"/>
              </a:rPr>
              <a:t>We are transforming network management from reactive troubleshooting to proactive observability.  Our </a:t>
            </a:r>
            <a:r>
              <a:rPr lang="en-US" sz="930" b="1">
                <a:solidFill>
                  <a:schemeClr val="dk2"/>
                </a:solidFill>
                <a:latin typeface="Arial"/>
                <a:ea typeface="Arial"/>
                <a:cs typeface="Arial"/>
                <a:sym typeface="Arial"/>
              </a:rPr>
              <a:t>NSX Health Diagnostics </a:t>
            </a:r>
            <a:r>
              <a:rPr lang="en-US" sz="930">
                <a:solidFill>
                  <a:schemeClr val="dk2"/>
                </a:solidFill>
                <a:latin typeface="Arial"/>
                <a:ea typeface="Arial"/>
                <a:cs typeface="Arial"/>
                <a:sym typeface="Arial"/>
              </a:rPr>
              <a:t>framework provides an automated health view of network across your entire fleet—monitoring everything from NSX Manager cluster stability to individual Edge data path performance and ESX host connectivity. </a:t>
            </a:r>
            <a:endParaRPr/>
          </a:p>
          <a:p>
            <a:pPr marL="0" marR="0" lvl="0" indent="0" algn="l" rtl="0">
              <a:lnSpc>
                <a:spcPct val="80000"/>
              </a:lnSpc>
              <a:spcBef>
                <a:spcPts val="0"/>
              </a:spcBef>
              <a:spcAft>
                <a:spcPts val="0"/>
              </a:spcAft>
              <a:buClr>
                <a:schemeClr val="dk1"/>
              </a:buClr>
              <a:buSzPts val="930"/>
              <a:buFont typeface="Arial"/>
              <a:buNone/>
            </a:pPr>
            <a:endParaRPr sz="930">
              <a:solidFill>
                <a:schemeClr val="dk2"/>
              </a:solidFill>
              <a:latin typeface="Arial"/>
              <a:ea typeface="Arial"/>
              <a:cs typeface="Arial"/>
              <a:sym typeface="Arial"/>
            </a:endParaRPr>
          </a:p>
          <a:p>
            <a:pPr marL="0" marR="0" lvl="0" indent="0" algn="l" rtl="0">
              <a:lnSpc>
                <a:spcPct val="80000"/>
              </a:lnSpc>
              <a:spcBef>
                <a:spcPts val="0"/>
              </a:spcBef>
              <a:spcAft>
                <a:spcPts val="0"/>
              </a:spcAft>
              <a:buClr>
                <a:schemeClr val="dk2"/>
              </a:buClr>
              <a:buSzPts val="930"/>
              <a:buFont typeface="Arial"/>
              <a:buNone/>
            </a:pPr>
            <a:r>
              <a:rPr lang="en-US" sz="930">
                <a:solidFill>
                  <a:schemeClr val="dk2"/>
                </a:solidFill>
                <a:latin typeface="Arial"/>
                <a:ea typeface="Arial"/>
                <a:cs typeface="Arial"/>
                <a:sym typeface="Arial"/>
              </a:rPr>
              <a:t>To support customers modernization journey, VCF Operations includes </a:t>
            </a:r>
            <a:r>
              <a:rPr lang="en-US" sz="930" b="1">
                <a:solidFill>
                  <a:schemeClr val="dk2"/>
                </a:solidFill>
                <a:latin typeface="Arial"/>
                <a:ea typeface="Arial"/>
                <a:cs typeface="Arial"/>
                <a:sym typeface="Arial"/>
              </a:rPr>
              <a:t>Guided VPC Analysis</a:t>
            </a:r>
            <a:r>
              <a:rPr lang="en-US" sz="930">
                <a:solidFill>
                  <a:schemeClr val="dk2"/>
                </a:solidFill>
                <a:latin typeface="Arial"/>
                <a:ea typeface="Arial"/>
                <a:cs typeface="Arial"/>
                <a:sym typeface="Arial"/>
              </a:rPr>
              <a:t>, which evaluates customers current VDS configurations and provides a data-driven roadmap to adopt VPCs significantly improving workload mobility and reducing TCO. This is all backed by Real-time Metrics, giving you second-by-second visibility into API request rates and resource utilization to catch issues before they impact your users. </a:t>
            </a:r>
            <a:endParaRPr/>
          </a:p>
          <a:p>
            <a:pPr marL="0" marR="0" lvl="0" indent="0" algn="l" rtl="0">
              <a:lnSpc>
                <a:spcPct val="80000"/>
              </a:lnSpc>
              <a:spcBef>
                <a:spcPts val="0"/>
              </a:spcBef>
              <a:spcAft>
                <a:spcPts val="0"/>
              </a:spcAft>
              <a:buClr>
                <a:schemeClr val="dk1"/>
              </a:buClr>
              <a:buSzPts val="930"/>
              <a:buFont typeface="Arial"/>
              <a:buNone/>
            </a:pPr>
            <a:endParaRPr sz="930">
              <a:solidFill>
                <a:schemeClr val="dk2"/>
              </a:solidFill>
              <a:latin typeface="Arial"/>
              <a:ea typeface="Arial"/>
              <a:cs typeface="Arial"/>
              <a:sym typeface="Arial"/>
            </a:endParaRPr>
          </a:p>
          <a:p>
            <a:pPr marL="0" lvl="0" indent="0" algn="l" rtl="0">
              <a:lnSpc>
                <a:spcPct val="80000"/>
              </a:lnSpc>
              <a:spcBef>
                <a:spcPts val="0"/>
              </a:spcBef>
              <a:spcAft>
                <a:spcPts val="0"/>
              </a:spcAft>
              <a:buClr>
                <a:schemeClr val="dk1"/>
              </a:buClr>
              <a:buSzPts val="930"/>
              <a:buFont typeface="Arial"/>
              <a:buNone/>
            </a:pPr>
            <a:r>
              <a:rPr lang="en-US" sz="930"/>
              <a:t>VCF Operations also provides a complete overview of your network inventory, helping users monitor the health of your components in real time. You also gain quick access to a traffic summary and flow analysis, making it easier to detect and troubleshoot issues.</a:t>
            </a:r>
            <a:endParaRPr/>
          </a:p>
          <a:p>
            <a:pPr marL="0" lvl="0" indent="0" algn="l" rtl="0">
              <a:lnSpc>
                <a:spcPct val="80000"/>
              </a:lnSpc>
              <a:spcBef>
                <a:spcPts val="0"/>
              </a:spcBef>
              <a:spcAft>
                <a:spcPts val="0"/>
              </a:spcAft>
              <a:buClr>
                <a:schemeClr val="dk1"/>
              </a:buClr>
              <a:buSzPts val="930"/>
              <a:buFont typeface="Arial"/>
              <a:buNone/>
            </a:pPr>
            <a:r>
              <a:rPr lang="en-US" sz="930"/>
              <a:t>Additionally, application insights allow you to understand how network health impacts workloads.</a:t>
            </a:r>
            <a:endParaRPr/>
          </a:p>
          <a:p>
            <a:pPr marL="0" lvl="0" indent="0" algn="l" rtl="0">
              <a:lnSpc>
                <a:spcPct val="80000"/>
              </a:lnSpc>
              <a:spcBef>
                <a:spcPts val="0"/>
              </a:spcBef>
              <a:spcAft>
                <a:spcPts val="0"/>
              </a:spcAft>
              <a:buNone/>
            </a:pPr>
            <a:r>
              <a:rPr lang="en-US" sz="930"/>
              <a:t>The dashboard centralizes all this information, providing a one-stop view that makes troubleshooting faster and network management more effective.</a:t>
            </a:r>
            <a:endParaRPr sz="930">
              <a:solidFill>
                <a:schemeClr val="dk2"/>
              </a:solidFill>
              <a:latin typeface="Arial"/>
              <a:ea typeface="Arial"/>
              <a:cs typeface="Arial"/>
              <a:sym typeface="Arial"/>
            </a:endParaRPr>
          </a:p>
          <a:p>
            <a:pPr marL="0" marR="0" lvl="0" indent="0" algn="l" rtl="0">
              <a:lnSpc>
                <a:spcPct val="105454"/>
              </a:lnSpc>
              <a:spcBef>
                <a:spcPts val="800"/>
              </a:spcBef>
              <a:spcAft>
                <a:spcPts val="0"/>
              </a:spcAft>
              <a:buClr>
                <a:schemeClr val="dk1"/>
              </a:buClr>
              <a:buSzPts val="1100"/>
              <a:buFont typeface="Arial"/>
              <a:buNone/>
            </a:pPr>
            <a:endParaRPr sz="930">
              <a:solidFill>
                <a:schemeClr val="dk2"/>
              </a:solidFill>
              <a:latin typeface="Arial"/>
              <a:ea typeface="Arial"/>
              <a:cs typeface="Arial"/>
              <a:sym typeface="Arial"/>
            </a:endParaRPr>
          </a:p>
          <a:p>
            <a:pPr marL="0" marR="0" lvl="0" indent="0" algn="l" rtl="0">
              <a:lnSpc>
                <a:spcPct val="105454"/>
              </a:lnSpc>
              <a:spcBef>
                <a:spcPts val="800"/>
              </a:spcBef>
              <a:spcAft>
                <a:spcPts val="0"/>
              </a:spcAft>
              <a:buClr>
                <a:schemeClr val="dk2"/>
              </a:buClr>
              <a:buSzPts val="1100"/>
              <a:buFont typeface="Arial"/>
              <a:buNone/>
            </a:pPr>
            <a:r>
              <a:rPr lang="en-US" sz="930">
                <a:solidFill>
                  <a:schemeClr val="dk2"/>
                </a:solidFill>
                <a:latin typeface="Arial"/>
                <a:ea typeface="Arial"/>
                <a:cs typeface="Arial"/>
                <a:sym typeface="Arial"/>
              </a:rPr>
              <a:t>Finally, we’ve extended this visibility into the modern application layer with </a:t>
            </a:r>
            <a:r>
              <a:rPr lang="en-US" sz="930" b="1">
                <a:solidFill>
                  <a:schemeClr val="dk2"/>
                </a:solidFill>
                <a:latin typeface="Arial"/>
                <a:ea typeface="Arial"/>
                <a:cs typeface="Arial"/>
                <a:sym typeface="Arial"/>
              </a:rPr>
              <a:t>VKS Workload Monitoring</a:t>
            </a:r>
            <a:r>
              <a:rPr lang="en-US" sz="930">
                <a:solidFill>
                  <a:schemeClr val="dk2"/>
                </a:solidFill>
                <a:latin typeface="Arial"/>
                <a:ea typeface="Arial"/>
                <a:cs typeface="Arial"/>
                <a:sym typeface="Arial"/>
              </a:rPr>
              <a:t>, allowing customers to visualize container flows and microservices communication directly alongside your traditional infrastructure. Together, these capabilities ensure your private cloud network remains resilient, scalable, and ready for the next generation of workloads.</a:t>
            </a:r>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Clr>
                <a:schemeClr val="dk1"/>
              </a:buClr>
              <a:buSzPts val="930"/>
              <a:buFont typeface="Arial"/>
              <a:buNone/>
            </a:pPr>
            <a:r>
              <a:rPr lang="en-US" sz="930" b="1"/>
              <a:t>Key Benefits:</a:t>
            </a:r>
            <a:endParaRPr sz="930"/>
          </a:p>
          <a:p>
            <a:pPr marL="0" lvl="0" indent="0" algn="l" rtl="0">
              <a:lnSpc>
                <a:spcPct val="80000"/>
              </a:lnSpc>
              <a:spcBef>
                <a:spcPts val="0"/>
              </a:spcBef>
              <a:spcAft>
                <a:spcPts val="0"/>
              </a:spcAft>
              <a:buClr>
                <a:schemeClr val="dk1"/>
              </a:buClr>
              <a:buSzPts val="930"/>
              <a:buFont typeface="Arial"/>
              <a:buNone/>
            </a:pPr>
            <a:r>
              <a:rPr lang="en-US" sz="930" b="0" u="sng"/>
              <a:t>Comprehensive visibility: </a:t>
            </a:r>
            <a:r>
              <a:rPr lang="en-US" sz="930"/>
              <a:t>Get a full view of the entire VCF network from a single dashboard.</a:t>
            </a:r>
            <a:endParaRPr/>
          </a:p>
          <a:p>
            <a:pPr marL="0" lvl="0" indent="0" algn="l" rtl="0">
              <a:lnSpc>
                <a:spcPct val="80000"/>
              </a:lnSpc>
              <a:spcBef>
                <a:spcPts val="0"/>
              </a:spcBef>
              <a:spcAft>
                <a:spcPts val="0"/>
              </a:spcAft>
              <a:buClr>
                <a:schemeClr val="dk1"/>
              </a:buClr>
              <a:buSzPts val="930"/>
              <a:buFont typeface="Arial"/>
              <a:buNone/>
            </a:pPr>
            <a:r>
              <a:rPr lang="en-US" sz="930" b="0" u="sng"/>
              <a:t>Proactive troubleshooting: </a:t>
            </a:r>
            <a:r>
              <a:rPr lang="en-US" sz="930"/>
              <a:t>Quickly identify and resolve traffic and health issues with real-time flow insights.</a:t>
            </a:r>
            <a:endParaRPr/>
          </a:p>
          <a:p>
            <a:pPr marL="0" lvl="0" indent="0" algn="l" rtl="0">
              <a:lnSpc>
                <a:spcPct val="80000"/>
              </a:lnSpc>
              <a:spcBef>
                <a:spcPts val="0"/>
              </a:spcBef>
              <a:spcAft>
                <a:spcPts val="0"/>
              </a:spcAft>
              <a:buClr>
                <a:schemeClr val="dk1"/>
              </a:buClr>
              <a:buSzPts val="930"/>
              <a:buFont typeface="Arial"/>
              <a:buNone/>
            </a:pPr>
            <a:r>
              <a:rPr lang="en-US" sz="930" b="0" u="sng"/>
              <a:t>Operational efficiency: </a:t>
            </a:r>
            <a:r>
              <a:rPr lang="en-US" sz="930"/>
              <a:t>Reduce the time needed to monitor, analyze, and maintain network health.</a:t>
            </a:r>
            <a:endParaRPr/>
          </a:p>
          <a:p>
            <a:pPr marL="0" lvl="0" indent="0" algn="l" rtl="0">
              <a:lnSpc>
                <a:spcPct val="80000"/>
              </a:lnSpc>
              <a:spcBef>
                <a:spcPts val="0"/>
              </a:spcBef>
              <a:spcAft>
                <a:spcPts val="0"/>
              </a:spcAft>
              <a:buClr>
                <a:schemeClr val="dk1"/>
              </a:buClr>
              <a:buSzPts val="930"/>
              <a:buFont typeface="Arial"/>
              <a:buNone/>
            </a:pPr>
            <a:endParaRPr sz="930"/>
          </a:p>
          <a:p>
            <a:pPr marL="0" lvl="0" indent="0" algn="l" rtl="0">
              <a:lnSpc>
                <a:spcPct val="80000"/>
              </a:lnSpc>
              <a:spcBef>
                <a:spcPts val="0"/>
              </a:spcBef>
              <a:spcAft>
                <a:spcPts val="0"/>
              </a:spcAft>
              <a:buClr>
                <a:schemeClr val="dk1"/>
              </a:buClr>
              <a:buSzPts val="930"/>
              <a:buFont typeface="Arial"/>
              <a:buNone/>
            </a:pPr>
            <a:r>
              <a:rPr lang="en-US" sz="930" b="1"/>
              <a:t>Notes:</a:t>
            </a:r>
            <a:br>
              <a:rPr lang="en-US" sz="930" b="1"/>
            </a:br>
            <a:br>
              <a:rPr lang="en-US" sz="930" b="1"/>
            </a:br>
            <a:r>
              <a:rPr lang="en-US" sz="930" b="1"/>
              <a:t>Resources:</a:t>
            </a:r>
            <a:endParaRPr/>
          </a:p>
          <a:p>
            <a:pPr marL="0" lvl="0" indent="0" algn="l" rtl="0">
              <a:lnSpc>
                <a:spcPct val="80000"/>
              </a:lnSpc>
              <a:spcBef>
                <a:spcPts val="0"/>
              </a:spcBef>
              <a:spcAft>
                <a:spcPts val="0"/>
              </a:spcAft>
              <a:buClr>
                <a:schemeClr val="dk1"/>
              </a:buClr>
              <a:buSzPts val="930"/>
              <a:buFont typeface="Arial"/>
              <a:buNone/>
            </a:pPr>
            <a:endParaRPr sz="930" b="1"/>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endParaRPr sz="930"/>
          </a:p>
          <a:p>
            <a:pPr marL="12700" lvl="0" indent="0" algn="l" rtl="0">
              <a:lnSpc>
                <a:spcPct val="60000"/>
              </a:lnSpc>
              <a:spcBef>
                <a:spcPts val="0"/>
              </a:spcBef>
              <a:spcAft>
                <a:spcPts val="0"/>
              </a:spcAft>
              <a:buClr>
                <a:schemeClr val="dk1"/>
              </a:buClr>
              <a:buSzPts val="1200"/>
              <a:buFont typeface="Arial"/>
              <a:buNone/>
            </a:pPr>
            <a:endParaRPr sz="930" b="1"/>
          </a:p>
        </p:txBody>
      </p:sp>
      <p:sp>
        <p:nvSpPr>
          <p:cNvPr id="14984" name="Google Shape;14984;p89: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69</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0"/>
        <p:cNvGrpSpPr/>
        <p:nvPr/>
      </p:nvGrpSpPr>
      <p:grpSpPr>
        <a:xfrm>
          <a:off x="0" y="0"/>
          <a:ext cx="0" cy="0"/>
          <a:chOff x="0" y="0"/>
          <a:chExt cx="0" cy="0"/>
        </a:xfrm>
      </p:grpSpPr>
      <p:sp>
        <p:nvSpPr>
          <p:cNvPr id="14991" name="Google Shape;14991;p90: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992" name="Google Shape;14992;p90: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80000"/>
              </a:lnSpc>
              <a:spcBef>
                <a:spcPts val="0"/>
              </a:spcBef>
              <a:spcAft>
                <a:spcPts val="0"/>
              </a:spcAft>
              <a:buNone/>
            </a:pPr>
            <a:r>
              <a:rPr lang="en-US" sz="930" b="1"/>
              <a:t>Key Message:</a:t>
            </a:r>
            <a:endParaRPr sz="930"/>
          </a:p>
          <a:p>
            <a:pPr marL="0" lvl="0" indent="0" algn="l" rtl="0">
              <a:lnSpc>
                <a:spcPct val="80000"/>
              </a:lnSpc>
              <a:spcBef>
                <a:spcPts val="0"/>
              </a:spcBef>
              <a:spcAft>
                <a:spcPts val="0"/>
              </a:spcAft>
              <a:buNone/>
            </a:pPr>
            <a:r>
              <a:rPr lang="en-US" sz="930"/>
              <a:t>VMware Cloud Foundation Operations streamlines storage management by consolidating key insights into a unified view, enabling proactive optimization, efficient resource allocation, and minimized downtime.</a:t>
            </a:r>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r>
              <a:rPr lang="en-US" sz="930" b="1"/>
              <a:t>Talk Track:</a:t>
            </a:r>
            <a:endParaRPr sz="930"/>
          </a:p>
          <a:p>
            <a:pPr marL="0" lvl="0" indent="0" algn="l" rtl="0">
              <a:lnSpc>
                <a:spcPct val="80000"/>
              </a:lnSpc>
              <a:spcBef>
                <a:spcPts val="0"/>
              </a:spcBef>
              <a:spcAft>
                <a:spcPts val="0"/>
              </a:spcAft>
              <a:buNone/>
            </a:pPr>
            <a:r>
              <a:rPr lang="en-US" sz="930"/>
              <a:t>VMware Cloud Foundation Operations centralizes storage management, providing a unified view of your entire storage environment. With a centralized storage inventory, you gain complete visibility, simplify capacity planning, and ensure efficient resource allocation. This eliminates the need to navigate multiple tools, streamlining operations and saving time.</a:t>
            </a:r>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r>
              <a:rPr lang="en-US" sz="930"/>
              <a:t>Understanding storage usage is crucial, and VCF Operations excels at utilization trend analysis. By tracking consumption patterns, you can proactively optimize resource allocation, prevent bottlenecks, ensure consistent performance, and avoid potential disruptions. Additionally, vSAN Cluster Health monitoring offers real-time insights, enabling you to quickly address issues and maintain optimal storage availability, minimizing downtime and maximizing uptime.</a:t>
            </a:r>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None/>
            </a:pPr>
            <a:r>
              <a:rPr lang="en-US" sz="930"/>
              <a:t>Storage Distribution insights reveal how storage is allocated across clusters and workloads. This detailed view empowers you to manage resources efficiently and troubleshoot issues, ensuring optimal performance and resource utilization. Finally, Alert Trends allows you to analyze storage-related alert trends, facilitating proactive issue resolution and minimizing potential downtime. By consolidating these storage insights, VCF Operations simplifies management, optimizes performance, and ensures the continuous availability of your critical data.</a:t>
            </a:r>
            <a:endParaRPr/>
          </a:p>
          <a:p>
            <a:pPr marL="0" lvl="0" indent="0" algn="l" rtl="0">
              <a:lnSpc>
                <a:spcPct val="80000"/>
              </a:lnSpc>
              <a:spcBef>
                <a:spcPts val="0"/>
              </a:spcBef>
              <a:spcAft>
                <a:spcPts val="0"/>
              </a:spcAft>
              <a:buNone/>
            </a:pPr>
            <a:endParaRPr sz="930">
              <a:latin typeface="Quattrocento Sans"/>
              <a:ea typeface="Quattrocento Sans"/>
              <a:cs typeface="Quattrocento Sans"/>
              <a:sym typeface="Quattrocento Sans"/>
            </a:endParaRPr>
          </a:p>
          <a:p>
            <a:pPr marL="0" lvl="0" indent="0" algn="l" rtl="0">
              <a:lnSpc>
                <a:spcPct val="80000"/>
              </a:lnSpc>
              <a:spcBef>
                <a:spcPts val="0"/>
              </a:spcBef>
              <a:spcAft>
                <a:spcPts val="0"/>
              </a:spcAft>
              <a:buNone/>
            </a:pPr>
            <a:r>
              <a:rPr lang="en-US" sz="930">
                <a:latin typeface="Quattrocento Sans"/>
                <a:ea typeface="Quattrocento Sans"/>
                <a:cs typeface="Quattrocento Sans"/>
                <a:sym typeface="Quattrocento Sans"/>
              </a:rPr>
              <a:t>VCF Operations also provides a new vSAN Diagnostic check option, which enables users to run live diagnostics on vSAN clusters. Admins can now run diagnostics checks on clusters facing performance issues and Ops provides insights and recommendations to improve storage performance</a:t>
            </a:r>
            <a:endParaRPr/>
          </a:p>
          <a:p>
            <a:pPr marL="0" lvl="0" indent="0" algn="l" rtl="0">
              <a:lnSpc>
                <a:spcPct val="80000"/>
              </a:lnSpc>
              <a:spcBef>
                <a:spcPts val="0"/>
              </a:spcBef>
              <a:spcAft>
                <a:spcPts val="0"/>
              </a:spcAft>
              <a:buNone/>
            </a:pPr>
            <a:endParaRPr sz="930">
              <a:latin typeface="Quattrocento Sans"/>
              <a:ea typeface="Quattrocento Sans"/>
              <a:cs typeface="Quattrocento Sans"/>
              <a:sym typeface="Quattrocento Sans"/>
            </a:endParaRPr>
          </a:p>
          <a:p>
            <a:pPr marL="0" marR="0" lvl="0" indent="0" algn="l" rtl="0">
              <a:lnSpc>
                <a:spcPct val="80000"/>
              </a:lnSpc>
              <a:spcBef>
                <a:spcPts val="0"/>
              </a:spcBef>
              <a:spcAft>
                <a:spcPts val="0"/>
              </a:spcAft>
              <a:buClr>
                <a:srgbClr val="172B4D"/>
              </a:buClr>
              <a:buSzPts val="930"/>
              <a:buFont typeface="Arial"/>
              <a:buNone/>
            </a:pPr>
            <a:r>
              <a:rPr lang="en-US" sz="930">
                <a:solidFill>
                  <a:srgbClr val="172B4D"/>
                </a:solidFill>
                <a:highlight>
                  <a:srgbClr val="F1F2F4"/>
                </a:highlight>
              </a:rPr>
              <a:t>VCF Operations integrates the vCenter vSAN health workflows, including detailed alert views and guided remediation steps, directly into the Storage Operations screen and </a:t>
            </a:r>
            <a:r>
              <a:rPr lang="en-US" sz="930">
                <a:solidFill>
                  <a:schemeClr val="dk1"/>
                </a:solidFill>
                <a:latin typeface="Arial"/>
                <a:ea typeface="Arial"/>
                <a:cs typeface="Arial"/>
                <a:sym typeface="Arial"/>
              </a:rPr>
              <a:t>includes the </a:t>
            </a:r>
            <a:r>
              <a:rPr lang="en-US" sz="930" b="1">
                <a:solidFill>
                  <a:schemeClr val="dk1"/>
                </a:solidFill>
                <a:latin typeface="Arial"/>
                <a:ea typeface="Arial"/>
                <a:cs typeface="Arial"/>
                <a:sym typeface="Arial"/>
              </a:rPr>
              <a:t>Proactive Performance Insights </a:t>
            </a:r>
            <a:r>
              <a:rPr lang="en-US" sz="930">
                <a:solidFill>
                  <a:schemeClr val="dk1"/>
                </a:solidFill>
                <a:latin typeface="Arial"/>
                <a:ea typeface="Arial"/>
                <a:cs typeface="Arial"/>
                <a:sym typeface="Arial"/>
              </a:rPr>
              <a:t>feature which automatically runs </a:t>
            </a:r>
            <a:r>
              <a:rPr lang="en-US" sz="930" b="1">
                <a:solidFill>
                  <a:schemeClr val="dk1"/>
                </a:solidFill>
                <a:latin typeface="Arial"/>
                <a:ea typeface="Arial"/>
                <a:cs typeface="Arial"/>
                <a:sym typeface="Arial"/>
              </a:rPr>
              <a:t>diagnostics</a:t>
            </a:r>
            <a:r>
              <a:rPr lang="en-US" sz="930">
                <a:solidFill>
                  <a:schemeClr val="dk1"/>
                </a:solidFill>
                <a:latin typeface="Arial"/>
                <a:ea typeface="Arial"/>
                <a:cs typeface="Arial"/>
                <a:sym typeface="Arial"/>
              </a:rPr>
              <a:t> for vSAN clusters every hour using performance metrics collected from the last 60 minutes.</a:t>
            </a:r>
            <a:endParaRPr/>
          </a:p>
          <a:p>
            <a:pPr marL="171450" lvl="0" indent="-171450" algn="l" rtl="0">
              <a:lnSpc>
                <a:spcPct val="80000"/>
              </a:lnSpc>
              <a:spcBef>
                <a:spcPts val="0"/>
              </a:spcBef>
              <a:spcAft>
                <a:spcPts val="0"/>
              </a:spcAft>
              <a:buClr>
                <a:schemeClr val="dk1"/>
              </a:buClr>
              <a:buSzPts val="930"/>
              <a:buFont typeface="Arial"/>
              <a:buChar char="•"/>
            </a:pPr>
            <a:r>
              <a:rPr lang="en-US" sz="930">
                <a:solidFill>
                  <a:schemeClr val="dk1"/>
                </a:solidFill>
                <a:latin typeface="Arial"/>
                <a:ea typeface="Arial"/>
                <a:cs typeface="Arial"/>
                <a:sym typeface="Arial"/>
              </a:rPr>
              <a:t>   If no issue is detected during a diagnostics run, no action is taken.</a:t>
            </a:r>
            <a:endParaRPr/>
          </a:p>
          <a:p>
            <a:pPr marL="171450" lvl="0" indent="-171450" algn="l" rtl="0">
              <a:lnSpc>
                <a:spcPct val="80000"/>
              </a:lnSpc>
              <a:spcBef>
                <a:spcPts val="0"/>
              </a:spcBef>
              <a:spcAft>
                <a:spcPts val="0"/>
              </a:spcAft>
              <a:buClr>
                <a:schemeClr val="dk1"/>
              </a:buClr>
              <a:buSzPts val="930"/>
              <a:buFont typeface="Arial"/>
              <a:buChar char="•"/>
            </a:pPr>
            <a:r>
              <a:rPr lang="en-US" sz="930">
                <a:solidFill>
                  <a:schemeClr val="dk1"/>
                </a:solidFill>
                <a:latin typeface="Arial"/>
                <a:ea typeface="Arial"/>
                <a:cs typeface="Arial"/>
                <a:sym typeface="Arial"/>
              </a:rPr>
              <a:t>   If an issue is found, a </a:t>
            </a:r>
            <a:r>
              <a:rPr lang="en-US" sz="930" b="1">
                <a:solidFill>
                  <a:schemeClr val="dk1"/>
                </a:solidFill>
                <a:latin typeface="Arial"/>
                <a:ea typeface="Arial"/>
                <a:cs typeface="Arial"/>
                <a:sym typeface="Arial"/>
              </a:rPr>
              <a:t>Performance Insight</a:t>
            </a:r>
            <a:r>
              <a:rPr lang="en-US" sz="930">
                <a:solidFill>
                  <a:schemeClr val="dk1"/>
                </a:solidFill>
                <a:latin typeface="Arial"/>
                <a:ea typeface="Arial"/>
                <a:cs typeface="Arial"/>
                <a:sym typeface="Arial"/>
              </a:rPr>
              <a:t> of type </a:t>
            </a:r>
            <a:r>
              <a:rPr lang="en-US" sz="930" b="1">
                <a:solidFill>
                  <a:schemeClr val="dk1"/>
                </a:solidFill>
                <a:latin typeface="Arial"/>
                <a:ea typeface="Arial"/>
                <a:cs typeface="Arial"/>
                <a:sym typeface="Arial"/>
              </a:rPr>
              <a:t>“Proactive Insight”</a:t>
            </a:r>
            <a:r>
              <a:rPr lang="en-US" sz="930">
                <a:solidFill>
                  <a:schemeClr val="dk1"/>
                </a:solidFill>
                <a:latin typeface="Arial"/>
                <a:ea typeface="Arial"/>
                <a:cs typeface="Arial"/>
                <a:sym typeface="Arial"/>
              </a:rPr>
              <a:t> is created.</a:t>
            </a:r>
            <a:endParaRPr/>
          </a:p>
          <a:p>
            <a:pPr marL="171450" lvl="0" indent="-171450" algn="l" rtl="0">
              <a:lnSpc>
                <a:spcPct val="80000"/>
              </a:lnSpc>
              <a:spcBef>
                <a:spcPts val="0"/>
              </a:spcBef>
              <a:spcAft>
                <a:spcPts val="0"/>
              </a:spcAft>
              <a:buClr>
                <a:schemeClr val="dk1"/>
              </a:buClr>
              <a:buSzPts val="930"/>
              <a:buFont typeface="Arial"/>
              <a:buChar char="•"/>
            </a:pPr>
            <a:r>
              <a:rPr lang="en-US" sz="930">
                <a:solidFill>
                  <a:schemeClr val="dk1"/>
                </a:solidFill>
                <a:latin typeface="Arial"/>
                <a:ea typeface="Arial"/>
                <a:cs typeface="Arial"/>
                <a:sym typeface="Arial"/>
              </a:rPr>
              <a:t>   These insights are automatically deleted once subsequent diagnostics detect no further issues.</a:t>
            </a:r>
            <a:endParaRPr/>
          </a:p>
          <a:p>
            <a:pPr marL="0" lvl="0" indent="0" algn="l" rtl="0">
              <a:lnSpc>
                <a:spcPct val="70000"/>
              </a:lnSpc>
              <a:spcBef>
                <a:spcPts val="800"/>
              </a:spcBef>
              <a:spcAft>
                <a:spcPts val="0"/>
              </a:spcAft>
              <a:buClr>
                <a:schemeClr val="dk1"/>
              </a:buClr>
              <a:buSzPts val="1100"/>
              <a:buFont typeface="Arial"/>
              <a:buNone/>
            </a:pPr>
            <a:endParaRPr sz="930">
              <a:solidFill>
                <a:schemeClr val="dk2"/>
              </a:solidFill>
            </a:endParaRPr>
          </a:p>
          <a:p>
            <a:pPr marL="0" lvl="0" indent="0" algn="l" rtl="0">
              <a:lnSpc>
                <a:spcPct val="80000"/>
              </a:lnSpc>
              <a:spcBef>
                <a:spcPts val="0"/>
              </a:spcBef>
              <a:spcAft>
                <a:spcPts val="0"/>
              </a:spcAft>
              <a:buNone/>
            </a:pPr>
            <a:r>
              <a:rPr lang="en-US" sz="930">
                <a:solidFill>
                  <a:schemeClr val="dk1"/>
                </a:solidFill>
                <a:latin typeface="Arial"/>
                <a:ea typeface="Arial"/>
                <a:cs typeface="Arial"/>
                <a:sym typeface="Arial"/>
              </a:rPr>
              <a:t>These Insights provide the users with clear identification of the problematic vSAN cluster(s) , plausible root causes for the performance deviation and Step-by-step guidance on how to remediate the identified issues.</a:t>
            </a:r>
            <a:endParaRPr/>
          </a:p>
          <a:p>
            <a:pPr marL="0" marR="0" lvl="0" indent="0" algn="l" rtl="0">
              <a:lnSpc>
                <a:spcPct val="80000"/>
              </a:lnSpc>
              <a:spcBef>
                <a:spcPts val="0"/>
              </a:spcBef>
              <a:spcAft>
                <a:spcPts val="0"/>
              </a:spcAft>
              <a:buClr>
                <a:schemeClr val="dk1"/>
              </a:buClr>
              <a:buSzPts val="930"/>
              <a:buFont typeface="Arial"/>
              <a:buNone/>
            </a:pPr>
            <a:endParaRPr sz="930">
              <a:solidFill>
                <a:srgbClr val="172B4D"/>
              </a:solidFill>
              <a:highlight>
                <a:srgbClr val="F1F2F4"/>
              </a:highlight>
            </a:endParaRPr>
          </a:p>
          <a:p>
            <a:pPr marL="0" lvl="0" indent="0" algn="l" rtl="0">
              <a:lnSpc>
                <a:spcPct val="80000"/>
              </a:lnSpc>
              <a:spcBef>
                <a:spcPts val="0"/>
              </a:spcBef>
              <a:spcAft>
                <a:spcPts val="0"/>
              </a:spcAft>
              <a:buNone/>
            </a:pPr>
            <a:endParaRPr sz="930">
              <a:latin typeface="Quattrocento Sans"/>
              <a:ea typeface="Quattrocento Sans"/>
              <a:cs typeface="Quattrocento Sans"/>
              <a:sym typeface="Quattrocento Sans"/>
            </a:endParaRPr>
          </a:p>
          <a:p>
            <a:pPr marL="0" lvl="0" indent="0" algn="l" rtl="0">
              <a:lnSpc>
                <a:spcPct val="80000"/>
              </a:lnSpc>
              <a:spcBef>
                <a:spcPts val="0"/>
              </a:spcBef>
              <a:spcAft>
                <a:spcPts val="0"/>
              </a:spcAft>
              <a:buNone/>
            </a:pPr>
            <a:endParaRPr sz="930"/>
          </a:p>
          <a:p>
            <a:pPr marL="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latin typeface="Arial"/>
                <a:ea typeface="Arial"/>
                <a:cs typeface="Arial"/>
                <a:sym typeface="Arial"/>
              </a:rPr>
              <a:t>Notes:</a:t>
            </a:r>
            <a:endParaRPr/>
          </a:p>
          <a:p>
            <a:pPr marL="0" lvl="0" indent="0" algn="l" rtl="0">
              <a:lnSpc>
                <a:spcPct val="80000"/>
              </a:lnSpc>
              <a:spcBef>
                <a:spcPts val="0"/>
              </a:spcBef>
              <a:spcAft>
                <a:spcPts val="0"/>
              </a:spcAft>
              <a:buClr>
                <a:schemeClr val="dk1"/>
              </a:buClr>
              <a:buSzPts val="930"/>
              <a:buFont typeface="Arial"/>
              <a:buNone/>
            </a:pPr>
            <a:endParaRPr sz="930" b="1"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930"/>
              <a:buFont typeface="Arial"/>
              <a:buNone/>
            </a:pPr>
            <a:r>
              <a:rPr lang="en-US" sz="930" b="1" u="none" strike="noStrike">
                <a:solidFill>
                  <a:schemeClr val="dk1"/>
                </a:solidFill>
                <a:latin typeface="Arial"/>
                <a:ea typeface="Arial"/>
                <a:cs typeface="Arial"/>
                <a:sym typeface="Arial"/>
              </a:rPr>
              <a:t>Resources:</a:t>
            </a:r>
            <a:endParaRPr/>
          </a:p>
          <a:p>
            <a:pPr marL="0" lvl="0" indent="0" algn="l" rtl="0">
              <a:lnSpc>
                <a:spcPct val="80000"/>
              </a:lnSpc>
              <a:spcBef>
                <a:spcPts val="0"/>
              </a:spcBef>
              <a:spcAft>
                <a:spcPts val="0"/>
              </a:spcAft>
              <a:buNone/>
            </a:pPr>
            <a:endParaRPr sz="930"/>
          </a:p>
        </p:txBody>
      </p:sp>
      <p:sp>
        <p:nvSpPr>
          <p:cNvPr id="14993" name="Google Shape;14993;p90: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70</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9"/>
        <p:cNvGrpSpPr/>
        <p:nvPr/>
      </p:nvGrpSpPr>
      <p:grpSpPr>
        <a:xfrm>
          <a:off x="0" y="0"/>
          <a:ext cx="0" cy="0"/>
          <a:chOff x="0" y="0"/>
          <a:chExt cx="0" cy="0"/>
        </a:xfrm>
      </p:grpSpPr>
      <p:sp>
        <p:nvSpPr>
          <p:cNvPr id="15000" name="Google Shape;15000;p91: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001" name="Google Shape;15001;p91: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90000"/>
              </a:lnSpc>
              <a:spcBef>
                <a:spcPts val="0"/>
              </a:spcBef>
              <a:spcAft>
                <a:spcPts val="0"/>
              </a:spcAft>
              <a:buClr>
                <a:schemeClr val="dk1"/>
              </a:buClr>
              <a:buSzPts val="1200"/>
              <a:buFont typeface="Arial"/>
              <a:buNone/>
            </a:pPr>
            <a:r>
              <a:rPr lang="en-US" sz="1200" b="1"/>
              <a:t>Key Message:</a:t>
            </a:r>
            <a:br>
              <a:rPr lang="en-US" sz="1200"/>
            </a:br>
            <a:r>
              <a:rPr lang="en-US" sz="1200"/>
              <a:t>Log Operations simplifies the collection, forwarding, and analysis of logs across all VCF components, accelerating troubleshooting while improving consistency and control.</a:t>
            </a:r>
            <a:endParaRPr/>
          </a:p>
          <a:p>
            <a:pPr marL="0" lvl="0" indent="0" algn="l" rtl="0">
              <a:lnSpc>
                <a:spcPct val="90000"/>
              </a:lnSpc>
              <a:spcBef>
                <a:spcPts val="0"/>
              </a:spcBef>
              <a:spcAft>
                <a:spcPts val="0"/>
              </a:spcAft>
              <a:buClr>
                <a:schemeClr val="dk1"/>
              </a:buClr>
              <a:buSzPts val="1200"/>
              <a:buFont typeface="Arial"/>
              <a:buNone/>
            </a:pPr>
            <a:br>
              <a:rPr lang="en-US" sz="1200"/>
            </a:br>
            <a:r>
              <a:rPr lang="en-US" sz="1200" b="1"/>
              <a:t>Talk Track:</a:t>
            </a:r>
            <a:br>
              <a:rPr lang="en-US" sz="1200"/>
            </a:br>
            <a:r>
              <a:rPr lang="en-US" sz="1200"/>
              <a:t>Log collection is unified across all VCF components, making it easier to detect and resolve issues quickly.</a:t>
            </a:r>
            <a:br>
              <a:rPr lang="en-US" sz="1200"/>
            </a:br>
            <a:r>
              <a:rPr lang="en-US" sz="1200"/>
              <a:t>Admins can use a simplified workflow to configure log collection using common protocols like TCP, UDP, or SSL.</a:t>
            </a:r>
            <a:br>
              <a:rPr lang="en-US" sz="1200"/>
            </a:br>
            <a:r>
              <a:rPr lang="en-US" sz="1200"/>
              <a:t>You also gain granular control to start or stop log collection per component.</a:t>
            </a:r>
            <a:endParaRPr/>
          </a:p>
          <a:p>
            <a:pPr marL="0" lvl="0" indent="0" algn="l" rtl="0">
              <a:lnSpc>
                <a:spcPct val="90000"/>
              </a:lnSpc>
              <a:spcBef>
                <a:spcPts val="0"/>
              </a:spcBef>
              <a:spcAft>
                <a:spcPts val="0"/>
              </a:spcAft>
              <a:buClr>
                <a:schemeClr val="dk1"/>
              </a:buClr>
              <a:buSzPts val="1200"/>
              <a:buFont typeface="Arial"/>
              <a:buNone/>
            </a:pPr>
            <a:br>
              <a:rPr lang="en-US" sz="1200"/>
            </a:br>
            <a:r>
              <a:rPr lang="en-US" sz="1200"/>
              <a:t>Logs can be compared side by side, enabling streamlined analysis of issues across different time periods or services.</a:t>
            </a:r>
            <a:br>
              <a:rPr lang="en-US" sz="1200"/>
            </a:br>
            <a:r>
              <a:rPr lang="en-US" sz="1200"/>
              <a:t>Plus, log widgets and alerts are built into the VCF Operations framework, offering a consistent and centralized experience.</a:t>
            </a:r>
            <a:br>
              <a:rPr lang="en-US" sz="1200"/>
            </a:br>
            <a:r>
              <a:rPr lang="en-US" sz="1200"/>
              <a:t>All of this is powered by a unified cloud proxy that supports both metrics and logs, reducing complexity and improving reliability.</a:t>
            </a:r>
            <a:endParaRPr/>
          </a:p>
          <a:p>
            <a:pPr marL="0" lvl="0" indent="0" algn="l" rtl="0">
              <a:lnSpc>
                <a:spcPct val="90000"/>
              </a:lnSpc>
              <a:spcBef>
                <a:spcPts val="0"/>
              </a:spcBef>
              <a:spcAft>
                <a:spcPts val="0"/>
              </a:spcAft>
              <a:buClr>
                <a:schemeClr val="dk1"/>
              </a:buClr>
              <a:buSzPts val="1200"/>
              <a:buFont typeface="Arial"/>
              <a:buNone/>
            </a:pPr>
            <a:br>
              <a:rPr lang="en-US" sz="1200"/>
            </a:br>
            <a:endParaRPr sz="1200"/>
          </a:p>
          <a:p>
            <a:pPr marL="0" lvl="0" indent="0" algn="l" rtl="0">
              <a:lnSpc>
                <a:spcPct val="90000"/>
              </a:lnSpc>
              <a:spcBef>
                <a:spcPts val="0"/>
              </a:spcBef>
              <a:spcAft>
                <a:spcPts val="0"/>
              </a:spcAft>
              <a:buClr>
                <a:schemeClr val="dk1"/>
              </a:buClr>
              <a:buSzPts val="1200"/>
              <a:buFont typeface="Arial"/>
              <a:buNone/>
            </a:pPr>
            <a:r>
              <a:rPr lang="en-US" sz="1200" b="1"/>
              <a:t>Key Benefits:</a:t>
            </a:r>
            <a:endParaRPr sz="1200"/>
          </a:p>
          <a:p>
            <a:pPr marL="0" lvl="0" indent="0" algn="l" rtl="0">
              <a:lnSpc>
                <a:spcPct val="90000"/>
              </a:lnSpc>
              <a:spcBef>
                <a:spcPts val="0"/>
              </a:spcBef>
              <a:spcAft>
                <a:spcPts val="0"/>
              </a:spcAft>
              <a:buClr>
                <a:schemeClr val="dk1"/>
              </a:buClr>
              <a:buSzPts val="1200"/>
              <a:buFont typeface="Arial"/>
              <a:buNone/>
            </a:pPr>
            <a:r>
              <a:rPr lang="en-US" sz="1200" b="0" u="sng"/>
              <a:t>Faster issue detection and resolution </a:t>
            </a:r>
            <a:r>
              <a:rPr lang="en-US" sz="1200"/>
              <a:t>with centralized log access.</a:t>
            </a:r>
            <a:endParaRPr/>
          </a:p>
          <a:p>
            <a:pPr marL="0" lvl="0" indent="0" algn="l" rtl="0">
              <a:lnSpc>
                <a:spcPct val="90000"/>
              </a:lnSpc>
              <a:spcBef>
                <a:spcPts val="0"/>
              </a:spcBef>
              <a:spcAft>
                <a:spcPts val="0"/>
              </a:spcAft>
              <a:buClr>
                <a:schemeClr val="dk1"/>
              </a:buClr>
              <a:buSzPts val="1200"/>
              <a:buFont typeface="Arial"/>
              <a:buNone/>
            </a:pPr>
            <a:r>
              <a:rPr lang="en-US" sz="1200" b="0" u="sng"/>
              <a:t>Improved efficiency </a:t>
            </a:r>
            <a:r>
              <a:rPr lang="en-US" sz="1200"/>
              <a:t>through a simplified and automated logging workflow.</a:t>
            </a:r>
            <a:endParaRPr/>
          </a:p>
          <a:p>
            <a:pPr marL="0" lvl="0" indent="0" algn="l" rtl="0">
              <a:lnSpc>
                <a:spcPct val="90000"/>
              </a:lnSpc>
              <a:spcBef>
                <a:spcPts val="0"/>
              </a:spcBef>
              <a:spcAft>
                <a:spcPts val="0"/>
              </a:spcAft>
              <a:buClr>
                <a:schemeClr val="dk1"/>
              </a:buClr>
              <a:buSzPts val="1200"/>
              <a:buFont typeface="Arial"/>
              <a:buNone/>
            </a:pPr>
            <a:r>
              <a:rPr lang="en-US" sz="1200" b="0" u="sng"/>
              <a:t>Reduced human error </a:t>
            </a:r>
            <a:r>
              <a:rPr lang="en-US" sz="1200"/>
              <a:t>via consistent log collection and configuration.</a:t>
            </a:r>
            <a:endParaRPr/>
          </a:p>
          <a:p>
            <a:pPr marL="0" lvl="0" indent="0" algn="l" rtl="0">
              <a:lnSpc>
                <a:spcPct val="90000"/>
              </a:lnSpc>
              <a:spcBef>
                <a:spcPts val="0"/>
              </a:spcBef>
              <a:spcAft>
                <a:spcPts val="0"/>
              </a:spcAft>
              <a:buClr>
                <a:schemeClr val="dk1"/>
              </a:buClr>
              <a:buSzPts val="1200"/>
              <a:buFont typeface="Arial"/>
              <a:buNone/>
            </a:pPr>
            <a:r>
              <a:rPr lang="en-US" sz="1200" b="0" u="sng"/>
              <a:t>Comprehensive control and flexibility </a:t>
            </a:r>
            <a:r>
              <a:rPr lang="en-US" sz="1200"/>
              <a:t>with protocol and component-specific log settings.</a:t>
            </a:r>
            <a:endParaRPr/>
          </a:p>
          <a:p>
            <a:pPr marL="0" lvl="0" indent="0" algn="l" rtl="0">
              <a:lnSpc>
                <a:spcPct val="90000"/>
              </a:lnSpc>
              <a:spcBef>
                <a:spcPts val="0"/>
              </a:spcBef>
              <a:spcAft>
                <a:spcPts val="0"/>
              </a:spcAft>
              <a:buClr>
                <a:schemeClr val="dk1"/>
              </a:buClr>
              <a:buSzPts val="1200"/>
              <a:buFont typeface="Arial"/>
              <a:buNone/>
            </a:pPr>
            <a:endParaRPr sz="1200" b="0" u="none"/>
          </a:p>
          <a:p>
            <a:pPr marL="0" lvl="0" indent="0" algn="l" rtl="0">
              <a:lnSpc>
                <a:spcPct val="90000"/>
              </a:lnSpc>
              <a:spcBef>
                <a:spcPts val="0"/>
              </a:spcBef>
              <a:spcAft>
                <a:spcPts val="0"/>
              </a:spcAft>
              <a:buClr>
                <a:schemeClr val="dk1"/>
              </a:buClr>
              <a:buSzPts val="1200"/>
              <a:buFont typeface="Arial"/>
              <a:buNone/>
            </a:pPr>
            <a:r>
              <a:rPr lang="en-US" sz="1200" b="1" u="none"/>
              <a:t>Notes:</a:t>
            </a:r>
            <a:br>
              <a:rPr lang="en-US" sz="1200" b="1" u="none"/>
            </a:br>
            <a:br>
              <a:rPr lang="en-US" sz="1200" b="1" u="none"/>
            </a:br>
            <a:r>
              <a:rPr lang="en-US" sz="1200" b="1" u="none"/>
              <a:t>Resources:</a:t>
            </a:r>
            <a:endParaRPr/>
          </a:p>
          <a:p>
            <a:pPr marL="0" lvl="0" indent="0" algn="l" rtl="0">
              <a:lnSpc>
                <a:spcPct val="90000"/>
              </a:lnSpc>
              <a:spcBef>
                <a:spcPts val="0"/>
              </a:spcBef>
              <a:spcAft>
                <a:spcPts val="0"/>
              </a:spcAft>
              <a:buClr>
                <a:schemeClr val="dk1"/>
              </a:buClr>
              <a:buSzPts val="1000"/>
              <a:buFont typeface="Arial"/>
              <a:buNone/>
            </a:pPr>
            <a:endParaRPr sz="1000" b="0" u="none"/>
          </a:p>
          <a:p>
            <a:pPr marL="0" lvl="0" indent="0" algn="l" rtl="0">
              <a:lnSpc>
                <a:spcPct val="90000"/>
              </a:lnSpc>
              <a:spcBef>
                <a:spcPts val="0"/>
              </a:spcBef>
              <a:spcAft>
                <a:spcPts val="0"/>
              </a:spcAft>
              <a:buClr>
                <a:schemeClr val="dk1"/>
              </a:buClr>
              <a:buSzPts val="1200"/>
              <a:buFont typeface="Arial"/>
              <a:buNone/>
            </a:pPr>
            <a:endParaRPr/>
          </a:p>
          <a:p>
            <a:pPr marL="0" lvl="0" indent="0" algn="l" rtl="0">
              <a:lnSpc>
                <a:spcPct val="90000"/>
              </a:lnSpc>
              <a:spcBef>
                <a:spcPts val="0"/>
              </a:spcBef>
              <a:spcAft>
                <a:spcPts val="0"/>
              </a:spcAft>
              <a:buClr>
                <a:schemeClr val="dk1"/>
              </a:buClr>
              <a:buSzPts val="1200"/>
              <a:buFont typeface="Arial"/>
              <a:buNone/>
            </a:pPr>
            <a:endParaRPr/>
          </a:p>
          <a:p>
            <a:pPr marL="0" lvl="0" indent="0" algn="l" rtl="0">
              <a:spcBef>
                <a:spcPts val="0"/>
              </a:spcBef>
              <a:spcAft>
                <a:spcPts val="0"/>
              </a:spcAft>
              <a:buNone/>
            </a:pPr>
            <a:endParaRPr/>
          </a:p>
        </p:txBody>
      </p:sp>
      <p:sp>
        <p:nvSpPr>
          <p:cNvPr id="15002" name="Google Shape;15002;p91: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71</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09"/>
        <p:cNvGrpSpPr/>
        <p:nvPr/>
      </p:nvGrpSpPr>
      <p:grpSpPr>
        <a:xfrm>
          <a:off x="0" y="0"/>
          <a:ext cx="0" cy="0"/>
          <a:chOff x="0" y="0"/>
          <a:chExt cx="0" cy="0"/>
        </a:xfrm>
      </p:grpSpPr>
      <p:sp>
        <p:nvSpPr>
          <p:cNvPr id="15010" name="Google Shape;15010;p92: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011" name="Google Shape;15011;p92: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12700" lvl="0" indent="0" algn="l" rtl="0">
              <a:lnSpc>
                <a:spcPct val="50000"/>
              </a:lnSpc>
              <a:spcBef>
                <a:spcPts val="0"/>
              </a:spcBef>
              <a:spcAft>
                <a:spcPts val="0"/>
              </a:spcAft>
              <a:buClr>
                <a:schemeClr val="dk1"/>
              </a:buClr>
              <a:buSzPts val="1200"/>
              <a:buFont typeface="Arial"/>
              <a:buNone/>
            </a:pPr>
            <a:r>
              <a:rPr lang="en-US" sz="1200" b="1" i="0" u="none" strike="noStrike"/>
              <a:t>Key Message:</a:t>
            </a:r>
            <a:endParaRPr sz="1200"/>
          </a:p>
          <a:p>
            <a:pPr marL="19050" lvl="0" indent="0" algn="l" rtl="0">
              <a:lnSpc>
                <a:spcPct val="50000"/>
              </a:lnSpc>
              <a:spcBef>
                <a:spcPts val="0"/>
              </a:spcBef>
              <a:spcAft>
                <a:spcPts val="0"/>
              </a:spcAft>
              <a:buClr>
                <a:schemeClr val="dk1"/>
              </a:buClr>
              <a:buSzPts val="1100"/>
              <a:buFont typeface="Arial"/>
              <a:buNone/>
            </a:pPr>
            <a:r>
              <a:rPr lang="en-US" sz="1200" b="0" i="0" u="none" strike="noStrike">
                <a:latin typeface="Arial"/>
                <a:ea typeface="Arial"/>
                <a:cs typeface="Arial"/>
                <a:sym typeface="Arial"/>
              </a:rPr>
              <a:t>Continuous Performance monitoring is all about </a:t>
            </a:r>
            <a:r>
              <a:rPr lang="en-US" sz="1200" b="0" i="0" u="none" strike="noStrike" cap="none">
                <a:latin typeface="Arial"/>
                <a:ea typeface="Arial"/>
                <a:cs typeface="Arial"/>
                <a:sym typeface="Arial"/>
              </a:rPr>
              <a:t>ensuring your VCF objects have access to the resources they need to run properly across their lifecycle.​ </a:t>
            </a:r>
            <a:endParaRPr/>
          </a:p>
          <a:p>
            <a:pPr marL="19050" lvl="0" indent="0" algn="l" rtl="0">
              <a:lnSpc>
                <a:spcPct val="5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Ensure critical applications are running properly by monitoring their performance, availability and end-user experience.​</a:t>
            </a:r>
            <a:endParaRPr sz="1200"/>
          </a:p>
          <a:p>
            <a:pPr marL="12700" lvl="0" indent="0" algn="l" rtl="0">
              <a:lnSpc>
                <a:spcPct val="50000"/>
              </a:lnSpc>
              <a:spcBef>
                <a:spcPts val="0"/>
              </a:spcBef>
              <a:spcAft>
                <a:spcPts val="0"/>
              </a:spcAft>
              <a:buClr>
                <a:schemeClr val="dk1"/>
              </a:buClr>
              <a:buSzPts val="1200"/>
              <a:buFont typeface="Arial"/>
              <a:buNone/>
            </a:pPr>
            <a:endParaRPr sz="1200" b="1" i="0" u="none" strike="noStrike"/>
          </a:p>
          <a:p>
            <a:pPr marL="12700" lvl="0" indent="0" algn="l" rtl="0">
              <a:lnSpc>
                <a:spcPct val="50000"/>
              </a:lnSpc>
              <a:spcBef>
                <a:spcPts val="0"/>
              </a:spcBef>
              <a:spcAft>
                <a:spcPts val="0"/>
              </a:spcAft>
              <a:buClr>
                <a:schemeClr val="dk1"/>
              </a:buClr>
              <a:buSzPts val="1200"/>
              <a:buFont typeface="Arial"/>
              <a:buNone/>
            </a:pPr>
            <a:r>
              <a:rPr lang="en-US" sz="1200" b="1" i="0" u="none" strike="noStrike"/>
              <a:t>Talk Track:</a:t>
            </a:r>
            <a:endParaRPr sz="1200"/>
          </a:p>
          <a:p>
            <a:pPr marL="44450" marR="0" lvl="0" indent="0" algn="l" rtl="0">
              <a:lnSpc>
                <a:spcPct val="70000"/>
              </a:lnSpc>
              <a:spcBef>
                <a:spcPts val="0"/>
              </a:spcBef>
              <a:spcAft>
                <a:spcPts val="0"/>
              </a:spcAft>
              <a:buClr>
                <a:schemeClr val="dk1"/>
              </a:buClr>
              <a:buSzPts val="1100"/>
              <a:buFont typeface="Arial"/>
              <a:buNone/>
            </a:pPr>
            <a:r>
              <a:rPr lang="en-US" sz="1200" b="0" i="0" u="none" strike="noStrike">
                <a:latin typeface="Arial"/>
                <a:ea typeface="Arial"/>
                <a:cs typeface="Arial"/>
                <a:sym typeface="Arial"/>
              </a:rPr>
              <a:t>The purpose of </a:t>
            </a:r>
            <a:r>
              <a:rPr lang="en-US" sz="1200" b="0" i="0" u="none" strike="noStrike" cap="none">
                <a:latin typeface="Arial"/>
                <a:ea typeface="Arial"/>
                <a:cs typeface="Arial"/>
                <a:sym typeface="Arial"/>
              </a:rPr>
              <a:t>infrastructure is to serve the needs of your applications (native or containerized) which in turn serve the needs of your business.​</a:t>
            </a:r>
            <a:endParaRPr sz="1200"/>
          </a:p>
          <a:p>
            <a:pPr marL="44450" marR="0" lvl="0" indent="0" algn="l" rtl="0">
              <a:lnSpc>
                <a:spcPct val="7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Hence, understanding and ensuring the health and performance of your applications running on VCF – not just the infrastructure on which they run – is critical.​</a:t>
            </a:r>
            <a:endParaRPr/>
          </a:p>
          <a:p>
            <a:pPr marL="44450" marR="0" lvl="0" indent="0" algn="l" rtl="0">
              <a:lnSpc>
                <a:spcPct val="70000"/>
              </a:lnSpc>
              <a:spcBef>
                <a:spcPts val="0"/>
              </a:spcBef>
              <a:spcAft>
                <a:spcPts val="0"/>
              </a:spcAft>
              <a:buClr>
                <a:schemeClr val="dk1"/>
              </a:buClr>
              <a:buSzPts val="1100"/>
              <a:buFont typeface="Arial"/>
              <a:buNone/>
            </a:pPr>
            <a:endParaRPr sz="1200"/>
          </a:p>
          <a:p>
            <a:pPr marL="44450" marR="0" lvl="0" indent="0" algn="l" rtl="0">
              <a:lnSpc>
                <a:spcPct val="7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VCF Operations monitors popular and mission-critical application services like Java application, PostgreSQL, Nginx, etc.​</a:t>
            </a:r>
            <a:endParaRPr/>
          </a:p>
          <a:p>
            <a:pPr marL="44450" marR="0" lvl="0" indent="0" algn="l" rtl="0">
              <a:lnSpc>
                <a:spcPct val="70000"/>
              </a:lnSpc>
              <a:spcBef>
                <a:spcPts val="0"/>
              </a:spcBef>
              <a:spcAft>
                <a:spcPts val="0"/>
              </a:spcAft>
              <a:buClr>
                <a:schemeClr val="dk1"/>
              </a:buClr>
              <a:buSzPts val="1100"/>
              <a:buFont typeface="Arial"/>
              <a:buNone/>
            </a:pPr>
            <a:endParaRPr sz="1200"/>
          </a:p>
          <a:p>
            <a:pPr marL="44450" marR="0" lvl="0" indent="0" algn="l" rtl="0">
              <a:lnSpc>
                <a:spcPct val="7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The first step for understanding infrastructure is to use application discovery which uses machine learning and traffic flows to map out which VMs are part of an application. This helps with defining what the application boundaries are so that users know how much traffic bandwidth is used as well as where applications are communicating with other applications.​</a:t>
            </a:r>
            <a:endParaRPr sz="1200"/>
          </a:p>
          <a:p>
            <a:pPr marL="44450" marR="0" lvl="0" indent="0" algn="l" rtl="0">
              <a:lnSpc>
                <a:spcPct val="70000"/>
              </a:lnSpc>
              <a:spcBef>
                <a:spcPts val="0"/>
              </a:spcBef>
              <a:spcAft>
                <a:spcPts val="0"/>
              </a:spcAft>
              <a:buClr>
                <a:schemeClr val="dk1"/>
              </a:buClr>
              <a:buSzPts val="1100"/>
              <a:buFont typeface="Arial"/>
              <a:buNone/>
            </a:pPr>
            <a:endParaRPr sz="1200" b="0" i="0" u="none" strike="noStrike" cap="none">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Telegraf provides in depth agent-based application monitoring with OOTB 200+ apps supported with the open source telegraf agent​.</a:t>
            </a:r>
            <a:endParaRPr/>
          </a:p>
          <a:p>
            <a:pPr marL="44450" marR="0" lvl="0" indent="0" algn="l" rtl="0">
              <a:lnSpc>
                <a:spcPct val="70000"/>
              </a:lnSpc>
              <a:spcBef>
                <a:spcPts val="0"/>
              </a:spcBef>
              <a:spcAft>
                <a:spcPts val="0"/>
              </a:spcAft>
              <a:buClr>
                <a:schemeClr val="dk1"/>
              </a:buClr>
              <a:buSzPts val="1100"/>
              <a:buFont typeface="Arial"/>
              <a:buNone/>
            </a:pPr>
            <a:endParaRPr sz="1200"/>
          </a:p>
          <a:p>
            <a:pPr marL="44450" marR="0" lvl="0" indent="0" algn="l" rtl="0">
              <a:lnSpc>
                <a:spcPct val="7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VCF Operations helps eliminate customer-impacting issues by leveraging flexible tracing and analytics using logs and metrics.​ Our ability to correlate between issues makes it much easier to identify where a problem lies – in the infrastructure or the application layer -- thus creating a more collaborative and proactive problem-solving environment among teams.​</a:t>
            </a:r>
            <a:endParaRPr/>
          </a:p>
          <a:p>
            <a:pPr marL="44450" marR="0" lvl="0" indent="0" algn="l" rtl="0">
              <a:lnSpc>
                <a:spcPct val="70000"/>
              </a:lnSpc>
              <a:spcBef>
                <a:spcPts val="0"/>
              </a:spcBef>
              <a:spcAft>
                <a:spcPts val="0"/>
              </a:spcAft>
              <a:buClr>
                <a:schemeClr val="dk1"/>
              </a:buClr>
              <a:buSzPts val="1100"/>
              <a:buFont typeface="Arial"/>
              <a:buNone/>
            </a:pPr>
            <a:endParaRPr sz="1200"/>
          </a:p>
          <a:p>
            <a:pPr marL="44450" marR="0" lvl="0" indent="0" algn="l" rtl="0">
              <a:lnSpc>
                <a:spcPct val="70000"/>
              </a:lnSpc>
              <a:spcBef>
                <a:spcPts val="0"/>
              </a:spcBef>
              <a:spcAft>
                <a:spcPts val="0"/>
              </a:spcAft>
              <a:buClr>
                <a:schemeClr val="dk1"/>
              </a:buClr>
              <a:buSzPts val="1100"/>
              <a:buFont typeface="Arial"/>
              <a:buNone/>
            </a:pPr>
            <a:r>
              <a:rPr lang="en-US" sz="1200"/>
              <a:t>VCF Operations also provides Management Pack Builder which is a no-code tool for creating custom management packs. Users can bring new data into VCF Operations from an HTTP API or Prometheus end points.</a:t>
            </a:r>
            <a:endParaRPr/>
          </a:p>
          <a:p>
            <a:pPr marL="44450" marR="0" lvl="0" indent="0" algn="l" rtl="0">
              <a:lnSpc>
                <a:spcPct val="70000"/>
              </a:lnSpc>
              <a:spcBef>
                <a:spcPts val="0"/>
              </a:spcBef>
              <a:spcAft>
                <a:spcPts val="0"/>
              </a:spcAft>
              <a:buClr>
                <a:schemeClr val="dk1"/>
              </a:buClr>
              <a:buSzPts val="1100"/>
              <a:buFont typeface="Arial"/>
              <a:buNone/>
            </a:pPr>
            <a:endParaRPr sz="1200"/>
          </a:p>
          <a:p>
            <a:pPr marL="44450" marR="0" lvl="0" indent="0" algn="l" rtl="0">
              <a:lnSpc>
                <a:spcPct val="70000"/>
              </a:lnSpc>
              <a:spcBef>
                <a:spcPts val="0"/>
              </a:spcBef>
              <a:spcAft>
                <a:spcPts val="0"/>
              </a:spcAft>
              <a:buClr>
                <a:schemeClr val="dk1"/>
              </a:buClr>
              <a:buSzPts val="1100"/>
              <a:buFont typeface="Arial"/>
              <a:buNone/>
            </a:pPr>
            <a:r>
              <a:rPr lang="en-US" sz="1200" b="0" i="0" u="none" strike="noStrike" cap="none">
                <a:latin typeface="Arial"/>
                <a:ea typeface="Arial"/>
                <a:cs typeface="Arial"/>
                <a:sym typeface="Arial"/>
              </a:rPr>
              <a:t>With VMware application </a:t>
            </a:r>
            <a:r>
              <a:rPr lang="en-US" sz="1200" b="0" i="0" u="none" strike="noStrike">
                <a:latin typeface="Arial"/>
                <a:ea typeface="Arial"/>
                <a:cs typeface="Arial"/>
                <a:sym typeface="Arial"/>
              </a:rPr>
              <a:t>monitoring, you can deliver significantly faster mean time to resolution (MTTR), helping you meet and exceed your SLAs.</a:t>
            </a:r>
            <a:r>
              <a:rPr lang="en-US" sz="1200" b="0" i="0">
                <a:latin typeface="Arial"/>
                <a:ea typeface="Arial"/>
                <a:cs typeface="Arial"/>
                <a:sym typeface="Arial"/>
              </a:rPr>
              <a:t>​</a:t>
            </a:r>
            <a:endParaRPr/>
          </a:p>
          <a:p>
            <a:pPr marL="44450" marR="0" lvl="0" indent="0" algn="l" rtl="0">
              <a:lnSpc>
                <a:spcPct val="70000"/>
              </a:lnSpc>
              <a:spcBef>
                <a:spcPts val="0"/>
              </a:spcBef>
              <a:spcAft>
                <a:spcPts val="0"/>
              </a:spcAft>
              <a:buClr>
                <a:schemeClr val="dk1"/>
              </a:buClr>
              <a:buSzPts val="1100"/>
              <a:buFont typeface="Arial"/>
              <a:buNone/>
            </a:pPr>
            <a:endParaRPr sz="1200" b="0" i="0">
              <a:latin typeface="Arial"/>
              <a:ea typeface="Arial"/>
              <a:cs typeface="Arial"/>
              <a:sym typeface="Arial"/>
            </a:endParaRPr>
          </a:p>
          <a:p>
            <a:pPr marL="44450" marR="0" lvl="0" indent="0" algn="l" rtl="0">
              <a:lnSpc>
                <a:spcPct val="70000"/>
              </a:lnSpc>
              <a:spcBef>
                <a:spcPts val="0"/>
              </a:spcBef>
              <a:spcAft>
                <a:spcPts val="0"/>
              </a:spcAft>
              <a:buClr>
                <a:schemeClr val="dk1"/>
              </a:buClr>
              <a:buSzPts val="1100"/>
              <a:buFont typeface="Arial"/>
              <a:buNone/>
            </a:pPr>
            <a:r>
              <a:rPr lang="en-US" sz="1200" b="1" i="0">
                <a:latin typeface="Arial"/>
                <a:ea typeface="Arial"/>
                <a:cs typeface="Arial"/>
                <a:sym typeface="Arial"/>
              </a:rPr>
              <a:t>Notes:</a:t>
            </a:r>
            <a:br>
              <a:rPr lang="en-US" sz="1200" b="1" i="0">
                <a:latin typeface="Arial"/>
                <a:ea typeface="Arial"/>
                <a:cs typeface="Arial"/>
                <a:sym typeface="Arial"/>
              </a:rPr>
            </a:br>
            <a:br>
              <a:rPr lang="en-US" sz="1200" b="1" i="0">
                <a:latin typeface="Arial"/>
                <a:ea typeface="Arial"/>
                <a:cs typeface="Arial"/>
                <a:sym typeface="Arial"/>
              </a:rPr>
            </a:br>
            <a:r>
              <a:rPr lang="en-US" sz="1200" b="1" i="0">
                <a:latin typeface="Arial"/>
                <a:ea typeface="Arial"/>
                <a:cs typeface="Arial"/>
                <a:sym typeface="Arial"/>
              </a:rPr>
              <a:t>Resources:</a:t>
            </a:r>
            <a:endParaRPr/>
          </a:p>
          <a:p>
            <a:pPr marL="0" lvl="0" indent="0" algn="l" rtl="0">
              <a:lnSpc>
                <a:spcPct val="80000"/>
              </a:lnSpc>
              <a:spcBef>
                <a:spcPts val="0"/>
              </a:spcBef>
              <a:spcAft>
                <a:spcPts val="0"/>
              </a:spcAft>
              <a:buClr>
                <a:schemeClr val="dk1"/>
              </a:buClr>
              <a:buSzPts val="1200"/>
              <a:buFont typeface="Arial"/>
              <a:buNone/>
            </a:pPr>
            <a:endParaRPr sz="1200"/>
          </a:p>
          <a:p>
            <a:pPr marL="0" lvl="0" indent="0" algn="l" rtl="0">
              <a:lnSpc>
                <a:spcPct val="80000"/>
              </a:lnSpc>
              <a:spcBef>
                <a:spcPts val="0"/>
              </a:spcBef>
              <a:spcAft>
                <a:spcPts val="0"/>
              </a:spcAft>
              <a:buClr>
                <a:schemeClr val="dk1"/>
              </a:buClr>
              <a:buSzPts val="1200"/>
              <a:buFont typeface="Arial"/>
              <a:buNone/>
            </a:pPr>
            <a:endParaRPr sz="1200"/>
          </a:p>
          <a:p>
            <a:pPr marL="0" lvl="0" indent="0" algn="l" rtl="0">
              <a:spcBef>
                <a:spcPts val="0"/>
              </a:spcBef>
              <a:spcAft>
                <a:spcPts val="0"/>
              </a:spcAft>
              <a:buNone/>
            </a:pPr>
            <a:endParaRPr/>
          </a:p>
        </p:txBody>
      </p:sp>
      <p:sp>
        <p:nvSpPr>
          <p:cNvPr id="15012" name="Google Shape;15012;p92: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72</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19"/>
        <p:cNvGrpSpPr/>
        <p:nvPr/>
      </p:nvGrpSpPr>
      <p:grpSpPr>
        <a:xfrm>
          <a:off x="0" y="0"/>
          <a:ext cx="0" cy="0"/>
          <a:chOff x="0" y="0"/>
          <a:chExt cx="0" cy="0"/>
        </a:xfrm>
      </p:grpSpPr>
      <p:sp>
        <p:nvSpPr>
          <p:cNvPr id="15020" name="Google Shape;15020;p93: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021" name="Google Shape;15021;p93: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70000"/>
              </a:lnSpc>
              <a:spcBef>
                <a:spcPts val="0"/>
              </a:spcBef>
              <a:spcAft>
                <a:spcPts val="0"/>
              </a:spcAft>
              <a:buClr>
                <a:schemeClr val="dk1"/>
              </a:buClr>
              <a:buSzPts val="1100"/>
              <a:buFont typeface="Arial"/>
              <a:buNone/>
            </a:pPr>
            <a:r>
              <a:rPr lang="en-US" sz="660" b="1">
                <a:latin typeface="Arial"/>
                <a:ea typeface="Arial"/>
                <a:cs typeface="Arial"/>
                <a:sym typeface="Arial"/>
              </a:rPr>
              <a:t>Key Message: </a:t>
            </a:r>
            <a:r>
              <a:rPr lang="en-US" sz="660">
                <a:solidFill>
                  <a:schemeClr val="dk2"/>
                </a:solidFill>
              </a:rPr>
              <a:t>VKS Observability improvements with Out of the box metrics for VKS supervisor and guest clusters</a:t>
            </a:r>
            <a:endParaRPr/>
          </a:p>
          <a:p>
            <a:pPr marL="0" lvl="0" indent="0" algn="l" rtl="0">
              <a:lnSpc>
                <a:spcPct val="80000"/>
              </a:lnSpc>
              <a:spcBef>
                <a:spcPts val="0"/>
              </a:spcBef>
              <a:spcAft>
                <a:spcPts val="0"/>
              </a:spcAft>
              <a:buNone/>
            </a:pPr>
            <a:endParaRPr sz="660" b="1">
              <a:solidFill>
                <a:srgbClr val="005C8A"/>
              </a:solidFill>
              <a:latin typeface="Arial"/>
              <a:ea typeface="Arial"/>
              <a:cs typeface="Arial"/>
              <a:sym typeface="Arial"/>
            </a:endParaRPr>
          </a:p>
          <a:p>
            <a:pPr marL="0" lvl="0" indent="0" algn="l" rtl="0">
              <a:lnSpc>
                <a:spcPct val="80000"/>
              </a:lnSpc>
              <a:spcBef>
                <a:spcPts val="0"/>
              </a:spcBef>
              <a:spcAft>
                <a:spcPts val="0"/>
              </a:spcAft>
              <a:buNone/>
            </a:pPr>
            <a:r>
              <a:rPr lang="en-US" sz="660" b="1">
                <a:latin typeface="Arial"/>
                <a:ea typeface="Arial"/>
                <a:cs typeface="Arial"/>
                <a:sym typeface="Arial"/>
              </a:rPr>
              <a:t>Talk Track:</a:t>
            </a:r>
            <a:endParaRPr/>
          </a:p>
          <a:p>
            <a:pPr marL="0" marR="0" lvl="0" indent="0" algn="l" rtl="0">
              <a:lnSpc>
                <a:spcPct val="105454"/>
              </a:lnSpc>
              <a:spcBef>
                <a:spcPts val="0"/>
              </a:spcBef>
              <a:spcAft>
                <a:spcPts val="0"/>
              </a:spcAft>
              <a:buClr>
                <a:schemeClr val="dk2"/>
              </a:buClr>
              <a:buSzPts val="1100"/>
              <a:buFont typeface="Arial"/>
              <a:buNone/>
            </a:pPr>
            <a:r>
              <a:rPr lang="en-US" sz="660">
                <a:solidFill>
                  <a:schemeClr val="dk2"/>
                </a:solidFill>
              </a:rPr>
              <a:t>VKS is the native Kubernetes service in VCF for customers to run containerized workloads in a conformant Kubernetes cluster. VCF Operations automates monitoring for VKS supervisor clusters (control pane) and guest clusters.. The process of installing Prometheus and Telegraf agents on VKS clusters is hands-free and requires no “extra steps”. This is done using the Add-ons Management Framework available since the VKS 3.6.0 release helping </a:t>
            </a:r>
            <a:r>
              <a:rPr lang="en-US" sz="660">
                <a:solidFill>
                  <a:srgbClr val="000000"/>
                </a:solidFill>
                <a:latin typeface="Arial"/>
                <a:ea typeface="Arial"/>
                <a:cs typeface="Arial"/>
                <a:sym typeface="Arial"/>
              </a:rPr>
              <a:t>admins spend less time setting up monitoring. </a:t>
            </a:r>
            <a:endParaRPr sz="660">
              <a:solidFill>
                <a:schemeClr val="dk2"/>
              </a:solidFill>
            </a:endParaRPr>
          </a:p>
          <a:p>
            <a:pPr marL="0" lvl="0" indent="0" algn="l" rtl="0">
              <a:lnSpc>
                <a:spcPct val="105454"/>
              </a:lnSpc>
              <a:spcBef>
                <a:spcPts val="800"/>
              </a:spcBef>
              <a:spcAft>
                <a:spcPts val="0"/>
              </a:spcAft>
              <a:buClr>
                <a:schemeClr val="dk1"/>
              </a:buClr>
              <a:buSzPts val="1100"/>
              <a:buFont typeface="Arial"/>
              <a:buNone/>
            </a:pPr>
            <a:endParaRPr sz="660">
              <a:solidFill>
                <a:schemeClr val="dk2"/>
              </a:solidFill>
            </a:endParaRPr>
          </a:p>
          <a:p>
            <a:pPr marL="0" lvl="0" indent="0" algn="l" rtl="0">
              <a:lnSpc>
                <a:spcPct val="105454"/>
              </a:lnSpc>
              <a:spcBef>
                <a:spcPts val="800"/>
              </a:spcBef>
              <a:spcAft>
                <a:spcPts val="0"/>
              </a:spcAft>
              <a:buClr>
                <a:schemeClr val="dk2"/>
              </a:buClr>
              <a:buSzPts val="1100"/>
              <a:buFont typeface="Arial"/>
              <a:buNone/>
            </a:pPr>
            <a:r>
              <a:rPr lang="en-US" sz="660">
                <a:solidFill>
                  <a:schemeClr val="dk2"/>
                </a:solidFill>
              </a:rPr>
              <a:t>The Kubernetes monitoring covers aspects like utilization, availability, and performance. </a:t>
            </a:r>
            <a:endParaRPr/>
          </a:p>
          <a:p>
            <a:pPr marL="0" lvl="0" indent="0" algn="l" rtl="0">
              <a:lnSpc>
                <a:spcPct val="75000"/>
              </a:lnSpc>
              <a:spcBef>
                <a:spcPts val="1200"/>
              </a:spcBef>
              <a:spcAft>
                <a:spcPts val="0"/>
              </a:spcAft>
              <a:buNone/>
            </a:pPr>
            <a:endParaRPr sz="660" b="0" u="none">
              <a:solidFill>
                <a:srgbClr val="156082"/>
              </a:solidFill>
              <a:latin typeface="Arial"/>
              <a:ea typeface="Arial"/>
              <a:cs typeface="Arial"/>
              <a:sym typeface="Arial"/>
            </a:endParaRPr>
          </a:p>
          <a:p>
            <a:pPr marL="0" marR="0" lvl="0" indent="0" algn="l" rtl="0">
              <a:lnSpc>
                <a:spcPct val="75000"/>
              </a:lnSpc>
              <a:spcBef>
                <a:spcPts val="1200"/>
              </a:spcBef>
              <a:spcAft>
                <a:spcPts val="0"/>
              </a:spcAft>
              <a:buClr>
                <a:srgbClr val="000000"/>
              </a:buClr>
              <a:buSzPts val="1400"/>
              <a:buFont typeface="Arial"/>
              <a:buNone/>
            </a:pPr>
            <a:r>
              <a:rPr lang="en-US" sz="660">
                <a:solidFill>
                  <a:srgbClr val="000000"/>
                </a:solidFill>
                <a:latin typeface="Arial"/>
                <a:ea typeface="Arial"/>
                <a:cs typeface="Arial"/>
                <a:sym typeface="Arial"/>
              </a:rPr>
              <a:t>So, every time a Supervisor is created in vCenter, it will start reporting into VCF Ops, so you don’t have to do any installation or download anything from the marketplace to set this up. </a:t>
            </a:r>
            <a:endParaRPr/>
          </a:p>
          <a:p>
            <a:pPr marL="0" marR="0" lvl="0" indent="0" algn="l" rtl="0">
              <a:lnSpc>
                <a:spcPct val="75000"/>
              </a:lnSpc>
              <a:spcBef>
                <a:spcPts val="1200"/>
              </a:spcBef>
              <a:spcAft>
                <a:spcPts val="0"/>
              </a:spcAft>
              <a:buClr>
                <a:srgbClr val="000000"/>
              </a:buClr>
              <a:buSzPts val="1400"/>
              <a:buFont typeface="Arial"/>
              <a:buNone/>
            </a:pPr>
            <a:endParaRPr sz="660">
              <a:solidFill>
                <a:srgbClr val="000000"/>
              </a:solidFill>
              <a:latin typeface="Arial"/>
              <a:ea typeface="Arial"/>
              <a:cs typeface="Arial"/>
              <a:sym typeface="Arial"/>
            </a:endParaRPr>
          </a:p>
          <a:p>
            <a:pPr marL="0" marR="0" lvl="0" indent="0" algn="l" rtl="0">
              <a:lnSpc>
                <a:spcPct val="75000"/>
              </a:lnSpc>
              <a:spcBef>
                <a:spcPts val="1200"/>
              </a:spcBef>
              <a:spcAft>
                <a:spcPts val="0"/>
              </a:spcAft>
              <a:buClr>
                <a:srgbClr val="000000"/>
              </a:buClr>
              <a:buSzPts val="1400"/>
              <a:buFont typeface="Arial"/>
              <a:buNone/>
            </a:pPr>
            <a:r>
              <a:rPr lang="en-US" sz="660">
                <a:solidFill>
                  <a:srgbClr val="000000"/>
                </a:solidFill>
                <a:latin typeface="Arial"/>
                <a:ea typeface="Arial"/>
                <a:cs typeface="Arial"/>
                <a:sym typeface="Arial"/>
              </a:rPr>
              <a:t>So, you will see the whole Kubernetes constructs of the supervisor, the overall topology showing the Kubernetes constructs like the Namespaces, deployments, the nodes, pods and containers. and then you see the vCenter constructs because you are creating the supervisor on the VC which is a collection of vSphere clusters and it will have namespaces on top of that and then the workloads in them so all those topology mapping will be built for you.</a:t>
            </a:r>
            <a:endParaRPr/>
          </a:p>
          <a:p>
            <a:pPr marL="0" marR="0" lvl="0" indent="0" algn="l" rtl="0">
              <a:lnSpc>
                <a:spcPct val="75000"/>
              </a:lnSpc>
              <a:spcBef>
                <a:spcPts val="1200"/>
              </a:spcBef>
              <a:spcAft>
                <a:spcPts val="0"/>
              </a:spcAft>
              <a:buClr>
                <a:srgbClr val="000000"/>
              </a:buClr>
              <a:buSzPts val="1400"/>
              <a:buFont typeface="Arial"/>
              <a:buNone/>
            </a:pPr>
            <a:endParaRPr sz="660">
              <a:solidFill>
                <a:srgbClr val="000000"/>
              </a:solidFill>
              <a:latin typeface="Arial"/>
              <a:ea typeface="Arial"/>
              <a:cs typeface="Arial"/>
              <a:sym typeface="Arial"/>
            </a:endParaRPr>
          </a:p>
          <a:p>
            <a:pPr marL="0" marR="0" lvl="0" indent="0" algn="l" rtl="0">
              <a:lnSpc>
                <a:spcPct val="75000"/>
              </a:lnSpc>
              <a:spcBef>
                <a:spcPts val="1200"/>
              </a:spcBef>
              <a:spcAft>
                <a:spcPts val="0"/>
              </a:spcAft>
              <a:buClr>
                <a:srgbClr val="000000"/>
              </a:buClr>
              <a:buSzPts val="1400"/>
              <a:buFont typeface="Arial"/>
              <a:buNone/>
            </a:pPr>
            <a:r>
              <a:rPr lang="en-US" sz="660">
                <a:solidFill>
                  <a:srgbClr val="000000"/>
                </a:solidFill>
                <a:latin typeface="Arial"/>
                <a:ea typeface="Arial"/>
                <a:cs typeface="Arial"/>
                <a:sym typeface="Arial"/>
              </a:rPr>
              <a:t>Also, different performance KPI metrics for the supervisor like the CPU ,memory, disk, the nodes, pods and the container level metrics.</a:t>
            </a:r>
            <a:endParaRPr sz="660">
              <a:latin typeface="Arial"/>
              <a:ea typeface="Arial"/>
              <a:cs typeface="Arial"/>
              <a:sym typeface="Arial"/>
            </a:endParaRPr>
          </a:p>
          <a:p>
            <a:pPr marL="0" marR="0" lvl="0" indent="0" algn="l" rtl="0">
              <a:lnSpc>
                <a:spcPct val="75000"/>
              </a:lnSpc>
              <a:spcBef>
                <a:spcPts val="1200"/>
              </a:spcBef>
              <a:spcAft>
                <a:spcPts val="0"/>
              </a:spcAft>
              <a:buClr>
                <a:srgbClr val="000000"/>
              </a:buClr>
              <a:buSzPts val="1400"/>
              <a:buFont typeface="Arial"/>
              <a:buNone/>
            </a:pPr>
            <a:endParaRPr sz="660">
              <a:solidFill>
                <a:srgbClr val="000000"/>
              </a:solidFill>
              <a:latin typeface="Arial"/>
              <a:ea typeface="Arial"/>
              <a:cs typeface="Arial"/>
              <a:sym typeface="Arial"/>
            </a:endParaRPr>
          </a:p>
          <a:p>
            <a:pPr marL="0" marR="0" lvl="0" indent="0" algn="l" rtl="0">
              <a:lnSpc>
                <a:spcPct val="75000"/>
              </a:lnSpc>
              <a:spcBef>
                <a:spcPts val="1200"/>
              </a:spcBef>
              <a:spcAft>
                <a:spcPts val="0"/>
              </a:spcAft>
              <a:buClr>
                <a:srgbClr val="000000"/>
              </a:buClr>
              <a:buSzPts val="1400"/>
              <a:buFont typeface="Arial"/>
              <a:buNone/>
            </a:pPr>
            <a:r>
              <a:rPr lang="en-US" sz="660">
                <a:solidFill>
                  <a:srgbClr val="000000"/>
                </a:solidFill>
                <a:latin typeface="Arial"/>
                <a:ea typeface="Arial"/>
                <a:cs typeface="Arial"/>
                <a:sym typeface="Arial"/>
              </a:rPr>
              <a:t>We are pushing some OOTB content for the supervisor and VKS clusters. Additionally, new control pane metrics have been included in these dashboards as control pane forms a very important component for supervisor and VKS clusters. Some of the issues we notice where the control pane components are misbehaving and because of it the applications run into degraded state within k8s so we want to provide some insights for these critical components, they at least know, we point them in this direction that this is where things would be going wrong and continue to DEBUG further. So, these dashboards provides pointers in that direction for troubleshooting issues. </a:t>
            </a:r>
            <a:endParaRPr/>
          </a:p>
          <a:p>
            <a:pPr marL="0" marR="0" lvl="0" indent="0" algn="l" rtl="0">
              <a:lnSpc>
                <a:spcPct val="75000"/>
              </a:lnSpc>
              <a:spcBef>
                <a:spcPts val="1200"/>
              </a:spcBef>
              <a:spcAft>
                <a:spcPts val="0"/>
              </a:spcAft>
              <a:buClr>
                <a:srgbClr val="000000"/>
              </a:buClr>
              <a:buSzPts val="1400"/>
              <a:buFont typeface="Arial"/>
              <a:buNone/>
            </a:pPr>
            <a:endParaRPr sz="660">
              <a:solidFill>
                <a:srgbClr val="000000"/>
              </a:solidFill>
              <a:latin typeface="Arial"/>
              <a:ea typeface="Arial"/>
              <a:cs typeface="Arial"/>
              <a:sym typeface="Arial"/>
            </a:endParaRPr>
          </a:p>
          <a:p>
            <a:pPr marL="0" marR="0" lvl="0" indent="0" algn="l" rtl="0">
              <a:lnSpc>
                <a:spcPct val="75000"/>
              </a:lnSpc>
              <a:spcBef>
                <a:spcPts val="1200"/>
              </a:spcBef>
              <a:spcAft>
                <a:spcPts val="0"/>
              </a:spcAft>
              <a:buClr>
                <a:srgbClr val="000000"/>
              </a:buClr>
              <a:buSzPts val="1400"/>
              <a:buFont typeface="Arial"/>
              <a:buNone/>
            </a:pPr>
            <a:r>
              <a:rPr lang="en-US" sz="660">
                <a:solidFill>
                  <a:schemeClr val="dk2"/>
                </a:solidFill>
                <a:latin typeface="Arial"/>
                <a:ea typeface="Arial"/>
                <a:cs typeface="Arial"/>
                <a:sym typeface="Arial"/>
              </a:rPr>
              <a:t>Finally, we’ve extended this visibility into the modern application layer by support </a:t>
            </a:r>
            <a:r>
              <a:rPr lang="en-US" sz="660" b="1">
                <a:solidFill>
                  <a:schemeClr val="dk2"/>
                </a:solidFill>
                <a:latin typeface="Arial"/>
                <a:ea typeface="Arial"/>
                <a:cs typeface="Arial"/>
                <a:sym typeface="Arial"/>
              </a:rPr>
              <a:t>Antrea CNI Network flows</a:t>
            </a:r>
            <a:r>
              <a:rPr lang="en-US" sz="660">
                <a:solidFill>
                  <a:schemeClr val="dk2"/>
                </a:solidFill>
                <a:latin typeface="Arial"/>
                <a:ea typeface="Arial"/>
                <a:cs typeface="Arial"/>
                <a:sym typeface="Arial"/>
              </a:rPr>
              <a:t>, allowing customers to visualize container flows and microservices communication directly alongside your traditional infrastructure. Together, these capabilities ensure your private cloud network remains resilient, scalable, and ready for the next generation of workloads.</a:t>
            </a:r>
            <a:endParaRPr/>
          </a:p>
          <a:p>
            <a:pPr marL="0" marR="0" lvl="0" indent="0" algn="l" rtl="0">
              <a:lnSpc>
                <a:spcPct val="75000"/>
              </a:lnSpc>
              <a:spcBef>
                <a:spcPts val="1200"/>
              </a:spcBef>
              <a:spcAft>
                <a:spcPts val="0"/>
              </a:spcAft>
              <a:buClr>
                <a:srgbClr val="000000"/>
              </a:buClr>
              <a:buSzPts val="1400"/>
              <a:buFont typeface="Arial"/>
              <a:buNone/>
            </a:pPr>
            <a:endParaRPr sz="660">
              <a:latin typeface="Arial"/>
              <a:ea typeface="Arial"/>
              <a:cs typeface="Arial"/>
              <a:sym typeface="Arial"/>
            </a:endParaRPr>
          </a:p>
          <a:p>
            <a:pPr marL="0" lvl="0" indent="0" algn="l" rtl="0">
              <a:lnSpc>
                <a:spcPct val="80000"/>
              </a:lnSpc>
              <a:spcBef>
                <a:spcPts val="0"/>
              </a:spcBef>
              <a:spcAft>
                <a:spcPts val="0"/>
              </a:spcAft>
              <a:buNone/>
            </a:pPr>
            <a:endParaRPr sz="660"/>
          </a:p>
          <a:p>
            <a:pPr marL="0" lvl="0" indent="0" algn="l" rtl="0">
              <a:lnSpc>
                <a:spcPct val="80000"/>
              </a:lnSpc>
              <a:spcBef>
                <a:spcPts val="0"/>
              </a:spcBef>
              <a:spcAft>
                <a:spcPts val="0"/>
              </a:spcAft>
              <a:buClr>
                <a:schemeClr val="dk1"/>
              </a:buClr>
              <a:buSzPts val="660"/>
              <a:buFont typeface="Arial"/>
              <a:buNone/>
            </a:pPr>
            <a:r>
              <a:rPr lang="en-US" sz="660" b="1" u="none" strike="noStrike">
                <a:solidFill>
                  <a:schemeClr val="dk1"/>
                </a:solidFill>
                <a:latin typeface="Arial"/>
                <a:ea typeface="Arial"/>
                <a:cs typeface="Arial"/>
                <a:sym typeface="Arial"/>
              </a:rPr>
              <a:t>Notes:</a:t>
            </a:r>
            <a:endParaRPr/>
          </a:p>
          <a:p>
            <a:pPr marL="0" lvl="0" indent="0" algn="l" rtl="0">
              <a:lnSpc>
                <a:spcPct val="80000"/>
              </a:lnSpc>
              <a:spcBef>
                <a:spcPts val="0"/>
              </a:spcBef>
              <a:spcAft>
                <a:spcPts val="0"/>
              </a:spcAft>
              <a:buClr>
                <a:schemeClr val="dk1"/>
              </a:buClr>
              <a:buSzPts val="660"/>
              <a:buFont typeface="Arial"/>
              <a:buNone/>
            </a:pPr>
            <a:endParaRPr sz="660" b="1" u="none" strike="noStrike">
              <a:solidFill>
                <a:schemeClr val="dk1"/>
              </a:solidFill>
              <a:latin typeface="Arial"/>
              <a:ea typeface="Arial"/>
              <a:cs typeface="Arial"/>
              <a:sym typeface="Arial"/>
            </a:endParaRPr>
          </a:p>
          <a:p>
            <a:pPr marL="0" lvl="0" indent="0" algn="l" rtl="0">
              <a:lnSpc>
                <a:spcPct val="80000"/>
              </a:lnSpc>
              <a:spcBef>
                <a:spcPts val="0"/>
              </a:spcBef>
              <a:spcAft>
                <a:spcPts val="0"/>
              </a:spcAft>
              <a:buClr>
                <a:schemeClr val="dk1"/>
              </a:buClr>
              <a:buSzPts val="660"/>
              <a:buFont typeface="Arial"/>
              <a:buNone/>
            </a:pPr>
            <a:r>
              <a:rPr lang="en-US" sz="660" b="1" u="none" strike="noStrike">
                <a:solidFill>
                  <a:schemeClr val="dk1"/>
                </a:solidFill>
                <a:latin typeface="Arial"/>
                <a:ea typeface="Arial"/>
                <a:cs typeface="Arial"/>
                <a:sym typeface="Arial"/>
              </a:rPr>
              <a:t>Resources:</a:t>
            </a:r>
            <a:endParaRPr/>
          </a:p>
          <a:p>
            <a:pPr marL="0" lvl="0" indent="0" algn="l" rtl="0">
              <a:lnSpc>
                <a:spcPct val="80000"/>
              </a:lnSpc>
              <a:spcBef>
                <a:spcPts val="0"/>
              </a:spcBef>
              <a:spcAft>
                <a:spcPts val="0"/>
              </a:spcAft>
              <a:buNone/>
            </a:pPr>
            <a:endParaRPr sz="660"/>
          </a:p>
        </p:txBody>
      </p:sp>
      <p:sp>
        <p:nvSpPr>
          <p:cNvPr id="15022" name="Google Shape;15022;p93: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73</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1">
          <a:extLst>
            <a:ext uri="{FF2B5EF4-FFF2-40B4-BE49-F238E27FC236}">
              <a16:creationId xmlns:a16="http://schemas.microsoft.com/office/drawing/2014/main" id="{C9A9C7F4-AA72-125A-DA14-E4CAF9CA0A9B}"/>
            </a:ext>
          </a:extLst>
        </p:cNvPr>
        <p:cNvGrpSpPr/>
        <p:nvPr/>
      </p:nvGrpSpPr>
      <p:grpSpPr>
        <a:xfrm>
          <a:off x="0" y="0"/>
          <a:ext cx="0" cy="0"/>
          <a:chOff x="0" y="0"/>
          <a:chExt cx="0" cy="0"/>
        </a:xfrm>
      </p:grpSpPr>
      <p:sp>
        <p:nvSpPr>
          <p:cNvPr id="2872" name="Google Shape;2872;p39:notes">
            <a:extLst>
              <a:ext uri="{FF2B5EF4-FFF2-40B4-BE49-F238E27FC236}">
                <a16:creationId xmlns:a16="http://schemas.microsoft.com/office/drawing/2014/main" id="{6AA3409F-C944-8AA6-B762-5C84242BBDE3}"/>
              </a:ext>
            </a:extLst>
          </p:cNvPr>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2873" name="Google Shape;2873;p39:notes">
            <a:extLst>
              <a:ext uri="{FF2B5EF4-FFF2-40B4-BE49-F238E27FC236}">
                <a16:creationId xmlns:a16="http://schemas.microsoft.com/office/drawing/2014/main" id="{0D3958E6-2633-404A-DB08-15128C57E90A}"/>
              </a:ext>
            </a:extLst>
          </p:cNvPr>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200" b="1" u="none" strike="noStrike" dirty="0">
                <a:solidFill>
                  <a:schemeClr val="dk1"/>
                </a:solidFill>
                <a:latin typeface="Arial" panose="020B0604020202020204" pitchFamily="34" charset="0"/>
                <a:sym typeface="Arial"/>
              </a:rPr>
              <a:t>Key Message:</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sz="1200" b="0" u="none" strike="noStrike" dirty="0">
                <a:solidFill>
                  <a:schemeClr val="dk1"/>
                </a:solidFill>
                <a:latin typeface="Arial" panose="020B0604020202020204" pitchFamily="34" charset="0"/>
                <a:sym typeface="Arial"/>
              </a:rPr>
              <a:t>VCF Architecture</a:t>
            </a:r>
            <a:br>
              <a:rPr lang="en-US" sz="1200" u="none" strike="noStrike" dirty="0">
                <a:solidFill>
                  <a:schemeClr val="dk1"/>
                </a:solidFill>
                <a:latin typeface="Arial" panose="020B0604020202020204" pitchFamily="34" charset="0"/>
                <a:sym typeface="Arial"/>
              </a:rPr>
            </a:br>
            <a:br>
              <a:rPr lang="en-US" sz="1200" u="none" strike="noStrike" dirty="0">
                <a:solidFill>
                  <a:schemeClr val="dk1"/>
                </a:solidFill>
                <a:latin typeface="Arial" panose="020B0604020202020204" pitchFamily="34" charset="0"/>
                <a:sym typeface="Arial"/>
              </a:rPr>
            </a:br>
            <a:r>
              <a:rPr lang="en-US" sz="1200" b="1" u="none" strike="noStrike" dirty="0">
                <a:solidFill>
                  <a:schemeClr val="dk1"/>
                </a:solidFill>
                <a:latin typeface="Arial" panose="020B0604020202020204" pitchFamily="34" charset="0"/>
                <a:sym typeface="Arial"/>
              </a:rPr>
              <a:t>Talk Track: </a:t>
            </a:r>
            <a:br>
              <a:rPr lang="en-US" sz="1200" u="none" strike="noStrike" dirty="0">
                <a:solidFill>
                  <a:schemeClr val="dk1"/>
                </a:solidFill>
                <a:latin typeface="Arial" panose="020B0604020202020204" pitchFamily="34" charset="0"/>
                <a:sym typeface="Arial"/>
              </a:rPr>
            </a:br>
            <a:r>
              <a:rPr lang="en-US" dirty="0"/>
              <a:t>Lets start by looking at the high level architecture of VCF.</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Notes:</a:t>
            </a:r>
            <a:endParaRPr lang="en-US" b="1" dirty="0">
              <a:latin typeface="Arial" panose="020B0604020202020204" pitchFamily="34" charset="0"/>
            </a:endParaRPr>
          </a:p>
          <a:p>
            <a:pPr marL="0" lvl="0" indent="0" algn="l" rtl="0">
              <a:spcBef>
                <a:spcPts val="0"/>
              </a:spcBef>
              <a:spcAft>
                <a:spcPts val="0"/>
              </a:spcAft>
              <a:buNone/>
            </a:pPr>
            <a:endParaRPr lang="en-US" sz="1200" u="none" strike="noStrike" dirty="0">
              <a:solidFill>
                <a:schemeClr val="dk1"/>
              </a:solidFill>
              <a:latin typeface="Arial" panose="020B0604020202020204" pitchFamily="34" charset="0"/>
              <a:sym typeface="Arial"/>
            </a:endParaRPr>
          </a:p>
          <a:p>
            <a:pPr marL="0" lvl="0" indent="0" algn="l" rtl="0">
              <a:spcBef>
                <a:spcPts val="0"/>
              </a:spcBef>
              <a:spcAft>
                <a:spcPts val="0"/>
              </a:spcAft>
              <a:buNone/>
            </a:pPr>
            <a:r>
              <a:rPr lang="en-US" sz="1200" b="1" u="none" strike="noStrike" dirty="0">
                <a:solidFill>
                  <a:schemeClr val="dk1"/>
                </a:solidFill>
                <a:latin typeface="Arial" panose="020B0604020202020204" pitchFamily="34" charset="0"/>
                <a:sym typeface="Arial"/>
              </a:rPr>
              <a:t>References:</a:t>
            </a:r>
          </a:p>
          <a:p>
            <a:pPr marL="0" lvl="0" indent="0" algn="l" rtl="0">
              <a:spcBef>
                <a:spcPts val="0"/>
              </a:spcBef>
              <a:spcAft>
                <a:spcPts val="0"/>
              </a:spcAft>
              <a:buNone/>
            </a:pPr>
            <a:endParaRPr dirty="0">
              <a:latin typeface="Arial" panose="020B0604020202020204" pitchFamily="34" charset="0"/>
            </a:endParaRPr>
          </a:p>
        </p:txBody>
      </p:sp>
      <p:sp>
        <p:nvSpPr>
          <p:cNvPr id="2874" name="Google Shape;2874;p39:notes">
            <a:extLst>
              <a:ext uri="{FF2B5EF4-FFF2-40B4-BE49-F238E27FC236}">
                <a16:creationId xmlns:a16="http://schemas.microsoft.com/office/drawing/2014/main" id="{72264389-678E-F353-2260-2C437BC33D93}"/>
              </a:ext>
            </a:extLst>
          </p:cNvPr>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panose="020B0604020202020204" pitchFamily="34" charset="0"/>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74</a:t>
            </a:fld>
            <a:endParaRPr kumimoji="0" sz="1200" b="0" i="0" u="none" strike="noStrike" kern="0" cap="none" spc="0" normalizeH="0" baseline="0" noProof="0" dirty="0">
              <a:ln>
                <a:noFill/>
              </a:ln>
              <a:solidFill>
                <a:srgbClr val="717074"/>
              </a:solidFill>
              <a:effectLst/>
              <a:uLnTx/>
              <a:uFillTx/>
              <a:latin typeface="Arial" panose="020B0604020202020204" pitchFamily="34" charset="0"/>
              <a:cs typeface="Arial"/>
              <a:sym typeface="Arial"/>
            </a:endParaRPr>
          </a:p>
        </p:txBody>
      </p:sp>
    </p:spTree>
    <p:extLst>
      <p:ext uri="{BB962C8B-B14F-4D97-AF65-F5344CB8AC3E}">
        <p14:creationId xmlns:p14="http://schemas.microsoft.com/office/powerpoint/2010/main" val="207729806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2"/>
        <p:cNvGrpSpPr/>
        <p:nvPr/>
      </p:nvGrpSpPr>
      <p:grpSpPr>
        <a:xfrm>
          <a:off x="0" y="0"/>
          <a:ext cx="0" cy="0"/>
          <a:chOff x="0" y="0"/>
          <a:chExt cx="0" cy="0"/>
        </a:xfrm>
      </p:grpSpPr>
      <p:sp>
        <p:nvSpPr>
          <p:cNvPr id="2343" name="Google Shape;2343;p16:notes"/>
          <p:cNvSpPr txBox="1">
            <a:spLocks noGrp="1"/>
          </p:cNvSpPr>
          <p:nvPr>
            <p:ph type="body" idx="1"/>
          </p:nvPr>
        </p:nvSpPr>
        <p:spPr>
          <a:xfrm>
            <a:off x="487680" y="4000500"/>
            <a:ext cx="6339840" cy="5120640"/>
          </a:xfrm>
          <a:prstGeom prst="rect">
            <a:avLst/>
          </a:prstGeom>
        </p:spPr>
        <p:txBody>
          <a:bodyPr spcFirstLastPara="1" wrap="square" lIns="0" tIns="0" rIns="0" bIns="0" anchor="t" anchorCtr="0">
            <a:noAutofit/>
          </a:bodyPr>
          <a:lstStyle/>
          <a:p>
            <a:pPr marL="0" lvl="0" indent="0" algn="l" rtl="0">
              <a:spcBef>
                <a:spcPts val="0"/>
              </a:spcBef>
              <a:spcAft>
                <a:spcPts val="0"/>
              </a:spcAft>
              <a:buNone/>
            </a:pPr>
            <a:endParaRPr dirty="0"/>
          </a:p>
        </p:txBody>
      </p:sp>
      <p:sp>
        <p:nvSpPr>
          <p:cNvPr id="2344" name="Google Shape;2344;p16:notes"/>
          <p:cNvSpPr>
            <a:spLocks noGrp="1" noRot="1" noChangeAspect="1"/>
          </p:cNvSpPr>
          <p:nvPr>
            <p:ph type="sldImg" idx="2"/>
          </p:nvPr>
        </p:nvSpPr>
        <p:spPr>
          <a:xfrm>
            <a:off x="884238" y="639763"/>
            <a:ext cx="5546725" cy="3121025"/>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0654990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2"/>
        <p:cNvGrpSpPr/>
        <p:nvPr/>
      </p:nvGrpSpPr>
      <p:grpSpPr>
        <a:xfrm>
          <a:off x="0" y="0"/>
          <a:ext cx="0" cy="0"/>
          <a:chOff x="0" y="0"/>
          <a:chExt cx="0" cy="0"/>
        </a:xfrm>
      </p:grpSpPr>
      <p:sp>
        <p:nvSpPr>
          <p:cNvPr id="2063" name="Google Shape;2063;p5:notes"/>
          <p:cNvSpPr>
            <a:spLocks noGrp="1" noRot="1" noChangeAspect="1"/>
          </p:cNvSpPr>
          <p:nvPr>
            <p:ph type="sldImg" idx="2"/>
          </p:nvPr>
        </p:nvSpPr>
        <p:spPr>
          <a:xfrm>
            <a:off x="884238" y="639763"/>
            <a:ext cx="5546725" cy="312102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64" name="Google Shape;2064;p5:notes"/>
          <p:cNvSpPr txBox="1">
            <a:spLocks noGrp="1"/>
          </p:cNvSpPr>
          <p:nvPr>
            <p:ph type="body" idx="1"/>
          </p:nvPr>
        </p:nvSpPr>
        <p:spPr>
          <a:xfrm>
            <a:off x="487680" y="4000500"/>
            <a:ext cx="6339840" cy="5120640"/>
          </a:xfrm>
          <a:prstGeom prst="rect">
            <a:avLst/>
          </a:prstGeom>
          <a:noFill/>
          <a:ln>
            <a:noFill/>
          </a:ln>
        </p:spPr>
        <p:txBody>
          <a:bodyPr spcFirstLastPara="1" wrap="square" lIns="0" tIns="0" rIns="0" bIns="0" anchor="t" anchorCtr="0">
            <a:normAutofit fontScale="92500" lnSpcReduction="20000"/>
          </a:bodyPr>
          <a:lstStyle/>
          <a:p>
            <a:r>
              <a:rPr lang="en-US" dirty="0"/>
              <a:t>Building on the momentum from VCF 9.0, we are delivering an automation experience with unprecedented consistency. By placing </a:t>
            </a:r>
            <a:r>
              <a:rPr lang="en-US" b="1" dirty="0"/>
              <a:t>API-first design</a:t>
            </a:r>
            <a:r>
              <a:rPr lang="en-US" dirty="0"/>
              <a:t> at the heart of the VCF stack, we ensure that our developer experience is backed by a robust, programmatic API contract.</a:t>
            </a:r>
          </a:p>
          <a:p>
            <a:r>
              <a:rPr lang="en-US" dirty="0"/>
              <a:t>With the release of VCF 9.1, we are excited to introduce new OpenAPI specifications, expanded SDK coverage, consistent authentication via </a:t>
            </a:r>
            <a:r>
              <a:rPr lang="en-US" b="1" dirty="0"/>
              <a:t>OAuth 2.0</a:t>
            </a:r>
            <a:r>
              <a:rPr lang="en-US" dirty="0"/>
              <a:t>, and broader capabilities for </a:t>
            </a:r>
            <a:r>
              <a:rPr lang="en-US" b="1" dirty="0"/>
              <a:t>VCF </a:t>
            </a:r>
            <a:r>
              <a:rPr lang="en-US" b="1" dirty="0" err="1"/>
              <a:t>PowerCLI</a:t>
            </a:r>
            <a:r>
              <a:rPr lang="en-US" dirty="0"/>
              <a:t>.</a:t>
            </a:r>
          </a:p>
          <a:p>
            <a:r>
              <a:rPr lang="en-US" b="1" dirty="0"/>
              <a:t>OpenAPI Specifications</a:t>
            </a:r>
          </a:p>
          <a:p>
            <a:r>
              <a:rPr lang="en-US" dirty="0"/>
              <a:t>When we talk about OpenAPI, think of it as the foundational blueprint for the entire Software-Defined Data Center. It is more than just documentation; it is a human-readable API contract that serves two business-critical roles:</a:t>
            </a:r>
          </a:p>
          <a:p>
            <a:pPr>
              <a:buFont typeface="Arial" panose="020B0604020202020204" pitchFamily="34" charset="0"/>
              <a:buChar char="•"/>
            </a:pPr>
            <a:r>
              <a:rPr lang="en-US" b="1" dirty="0"/>
              <a:t>First, it provides a Universal Definition:</a:t>
            </a:r>
            <a:r>
              <a:rPr lang="en-US" dirty="0"/>
              <a:t> Every endpoint, parameter, and response across the VCF stack is explicitly defined. This eliminates the guesswork that usually plagues infrastructure automation. Your teams know exactly what to send and exactly what to expect in return.</a:t>
            </a:r>
          </a:p>
          <a:p>
            <a:pPr>
              <a:buFont typeface="Arial" panose="020B0604020202020204" pitchFamily="34" charset="0"/>
              <a:buChar char="•"/>
            </a:pPr>
            <a:r>
              <a:rPr lang="en-US" b="1" dirty="0"/>
              <a:t>Second, it enables Seamless Translation:</a:t>
            </a:r>
            <a:r>
              <a:rPr lang="en-US" dirty="0"/>
              <a:t> Because these specs are machine-readable, they act as a "gold master" that feeds our automation tools. We can automatically translate these endpoints into Software Development Kits (SDKs) and CLI commands, which virtually eliminates manual coding errors and ensures our tooling is always consistent with VCF APIs.</a:t>
            </a:r>
          </a:p>
          <a:p>
            <a:r>
              <a:rPr lang="en-US" b="1" dirty="0"/>
              <a:t>In short: The spec drives the tool, not the other way around.</a:t>
            </a:r>
            <a:r>
              <a:rPr lang="en-US" dirty="0"/>
              <a:t> </a:t>
            </a:r>
          </a:p>
          <a:p>
            <a:r>
              <a:rPr lang="en-US" dirty="0"/>
              <a:t>Starting with VCF 9.0, we offered OpenAPI specifications for SDDC Manager and vSphere APIs. With VCF 9.1, we are expanding this coverage by offering new API specifications for </a:t>
            </a:r>
            <a:r>
              <a:rPr lang="en-US" b="1" dirty="0"/>
              <a:t>VCF NSX, VCF Operations, VCF Operations for Networks, and Log Management.</a:t>
            </a:r>
          </a:p>
          <a:p>
            <a:endParaRPr lang="en-US" dirty="0"/>
          </a:p>
          <a:p>
            <a:r>
              <a:rPr lang="en-US" b="1" dirty="0"/>
              <a:t>Expanding VCF SDK Coverage</a:t>
            </a:r>
          </a:p>
          <a:p>
            <a:r>
              <a:rPr lang="en-US" dirty="0"/>
              <a:t>In VCF 9.0, we introduced our first unified SDK for VCF, enabling developers to work with a single, consumable library. Developers no longer need to download and install separate libraries to interact with various VCF components. </a:t>
            </a:r>
          </a:p>
          <a:p>
            <a:r>
              <a:rPr lang="en-US" dirty="0"/>
              <a:t>While 9.0 provided unified SDK coverage for vSphere, </a:t>
            </a:r>
            <a:r>
              <a:rPr lang="en-US" dirty="0" err="1"/>
              <a:t>vSAN</a:t>
            </a:r>
            <a:r>
              <a:rPr lang="en-US" dirty="0"/>
              <a:t>, VCF Installer, and SDDC Manager, </a:t>
            </a:r>
            <a:r>
              <a:rPr lang="en-US" b="1" dirty="0"/>
              <a:t>VCF 9.1 extends this coverage to VCF NSX, VCF Operations, VCF Operations for Networks, and Log Management.</a:t>
            </a:r>
          </a:p>
          <a:p>
            <a:endParaRPr lang="en-US" dirty="0"/>
          </a:p>
          <a:p>
            <a:r>
              <a:rPr lang="en-US" b="1" dirty="0"/>
              <a:t>OAuth 2.0 Authentication</a:t>
            </a:r>
          </a:p>
          <a:p>
            <a:r>
              <a:rPr lang="en-US" dirty="0"/>
              <a:t>OAuth-based authentication is becoming the standard, consistent method for authenticating across VCF stacks. While components such as VCF Operations and VCF Automation already offer OAuth-based authentication, </a:t>
            </a:r>
            <a:r>
              <a:rPr lang="en-US" b="1" dirty="0"/>
              <a:t>starting with VCF 9.1, we are introducing OAuth-based authentication to vSphere as well.</a:t>
            </a:r>
            <a:endParaRPr lang="en-US" dirty="0"/>
          </a:p>
          <a:p>
            <a:r>
              <a:rPr lang="en-US" b="1" dirty="0"/>
              <a:t>VCF </a:t>
            </a:r>
            <a:r>
              <a:rPr lang="en-US" b="1" dirty="0" err="1"/>
              <a:t>PowerCLI</a:t>
            </a:r>
            <a:endParaRPr lang="en-US" b="1" dirty="0"/>
          </a:p>
          <a:p>
            <a:r>
              <a:rPr lang="en-US" dirty="0"/>
              <a:t>We are also introducing new cmdlets and significant enhancements to </a:t>
            </a:r>
            <a:r>
              <a:rPr lang="en-US" b="1" dirty="0"/>
              <a:t>VCF </a:t>
            </a:r>
            <a:r>
              <a:rPr lang="en-US" b="1" dirty="0" err="1"/>
              <a:t>PowerCLI</a:t>
            </a:r>
            <a:r>
              <a:rPr lang="en-US" dirty="0"/>
              <a:t>, ensuring that PowerShell users benefit from the same deep API integration as our SDK developers.</a:t>
            </a:r>
          </a:p>
        </p:txBody>
      </p:sp>
      <p:sp>
        <p:nvSpPr>
          <p:cNvPr id="2065" name="Google Shape;2065;p5:notes"/>
          <p:cNvSpPr txBox="1">
            <a:spLocks noGrp="1"/>
          </p:cNvSpPr>
          <p:nvPr>
            <p:ph type="sldNum" idx="12"/>
          </p:nvPr>
        </p:nvSpPr>
        <p:spPr>
          <a:xfrm>
            <a:off x="4143587" y="9119474"/>
            <a:ext cx="3169920" cy="480060"/>
          </a:xfrm>
          <a:prstGeom prst="rect">
            <a:avLst/>
          </a:prstGeom>
          <a:noFill/>
          <a:ln>
            <a:noFill/>
          </a:ln>
        </p:spPr>
        <p:txBody>
          <a:bodyPr spcFirstLastPara="1" wrap="square" lIns="96650" tIns="48325" rIns="96650" bIns="48325"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76</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VCF OpenAPI Specifications are available at Broadcom Developer Portal and also on </a:t>
            </a:r>
            <a:r>
              <a:rPr lang="en-US" dirty="0" err="1"/>
              <a:t>Github</a:t>
            </a:r>
            <a:r>
              <a:rPr lang="en-US" dirty="0"/>
              <a:t> Repository. Visit the following links to download the VCF OpenAPI Specifications</a:t>
            </a:r>
          </a:p>
          <a:p>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77</a:t>
            </a:fld>
            <a:endParaRPr kumimoji="0" lang="en-US" sz="1300" b="0" i="0" u="none" strike="noStrike" kern="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379641263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300" b="0" i="0" u="none" strike="noStrike" kern="0" cap="none" spc="0" normalizeH="0" baseline="0" noProof="0" smtClean="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78</a:t>
            </a:fld>
            <a:endParaRPr kumimoji="0" lang="en-US" sz="1300" b="0" i="0" u="none" strike="noStrike" kern="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67515313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28"/>
        <p:cNvGrpSpPr/>
        <p:nvPr/>
      </p:nvGrpSpPr>
      <p:grpSpPr>
        <a:xfrm>
          <a:off x="0" y="0"/>
          <a:ext cx="0" cy="0"/>
          <a:chOff x="0" y="0"/>
          <a:chExt cx="0" cy="0"/>
        </a:xfrm>
      </p:grpSpPr>
      <p:sp>
        <p:nvSpPr>
          <p:cNvPr id="15029" name="Google Shape;15029;p94: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030" name="Google Shape;15030;p94: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Key Message:</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Talk Track:</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Notes: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Resources: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5031" name="Google Shape;15031;p94: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u="none" strike="noStrike" cap="none">
                <a:solidFill>
                  <a:srgbClr val="717074"/>
                </a:solidFill>
              </a:rPr>
              <a:t>79</a:t>
            </a:fld>
            <a:endParaRPr sz="1200" u="none" strike="noStrike" cap="none">
              <a:solidFill>
                <a:srgbClr val="717074"/>
              </a:solidFill>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3"/>
        <p:cNvGrpSpPr/>
        <p:nvPr/>
      </p:nvGrpSpPr>
      <p:grpSpPr>
        <a:xfrm>
          <a:off x="0" y="0"/>
          <a:ext cx="0" cy="0"/>
          <a:chOff x="0" y="0"/>
          <a:chExt cx="0" cy="0"/>
        </a:xfrm>
      </p:grpSpPr>
      <p:sp>
        <p:nvSpPr>
          <p:cNvPr id="2504" name="Google Shape;2504;p6: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505" name="Google Shape;2505;p6: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fontScale="92500" lnSpcReduction="10000"/>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marR="0" lvl="0" indent="0" algn="l" defTabSz="914400" rtl="0" eaLnBrk="1" fontAlgn="auto" latinLnBrk="0" hangingPunct="1">
              <a:lnSpc>
                <a:spcPct val="100000"/>
              </a:lnSpc>
              <a:spcBef>
                <a:spcPts val="0"/>
              </a:spcBef>
              <a:spcAft>
                <a:spcPts val="0"/>
              </a:spcAft>
              <a:buClr>
                <a:schemeClr val="dk1"/>
              </a:buClr>
              <a:buSzPts val="1200"/>
              <a:buFont typeface="Arial"/>
              <a:buNone/>
              <a:tabLst/>
              <a:defRPr/>
            </a:pPr>
            <a:r>
              <a:rPr lang="en-US" dirty="0">
                <a:solidFill>
                  <a:schemeClr val="dk2"/>
                </a:solidFill>
              </a:rPr>
              <a:t>VCF Edge Overview - Standardize operations. Accelerate AI. Secure perimeter</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lnSpc>
                <a:spcPct val="115000"/>
              </a:lnSpc>
              <a:spcBef>
                <a:spcPts val="800"/>
              </a:spcBef>
              <a:spcAft>
                <a:spcPts val="0"/>
              </a:spcAft>
              <a:buClr>
                <a:schemeClr val="dk2"/>
              </a:buClr>
              <a:buSzPts val="1100"/>
              <a:buFont typeface="Arial"/>
              <a:buNone/>
            </a:pPr>
            <a:r>
              <a:rPr lang="en-US" dirty="0">
                <a:solidFill>
                  <a:schemeClr val="dk2"/>
                </a:solidFill>
              </a:rPr>
              <a:t>VCF Edge Overview - Standardize operations. Accelerate AI. Secure perimeter</a:t>
            </a:r>
          </a:p>
          <a:p>
            <a:pPr marL="0" lvl="0" indent="0" algn="l" rtl="0">
              <a:lnSpc>
                <a:spcPct val="115000"/>
              </a:lnSpc>
              <a:spcBef>
                <a:spcPts val="800"/>
              </a:spcBef>
              <a:spcAft>
                <a:spcPts val="0"/>
              </a:spcAft>
              <a:buClr>
                <a:schemeClr val="dk2"/>
              </a:buClr>
              <a:buSzPts val="1100"/>
              <a:buFont typeface="Arial"/>
              <a:buNone/>
            </a:pPr>
            <a:endParaRPr dirty="0">
              <a:solidFill>
                <a:schemeClr val="dk2"/>
              </a:solidFill>
            </a:endParaRPr>
          </a:p>
          <a:p>
            <a:pPr marL="0" lvl="0" indent="0" algn="l" rtl="0">
              <a:lnSpc>
                <a:spcPct val="115000"/>
              </a:lnSpc>
              <a:spcBef>
                <a:spcPts val="800"/>
              </a:spcBef>
              <a:spcAft>
                <a:spcPts val="0"/>
              </a:spcAft>
              <a:buClr>
                <a:schemeClr val="dk2"/>
              </a:buClr>
              <a:buSzPts val="1100"/>
              <a:buFont typeface="Arial"/>
              <a:buNone/>
            </a:pPr>
            <a:r>
              <a:rPr lang="en-US" sz="1200" dirty="0">
                <a:solidFill>
                  <a:schemeClr val="dk2"/>
                </a:solidFill>
              </a:rPr>
              <a:t>Here's the feature map for VCF Edge, organized by our three pillars.</a:t>
            </a:r>
          </a:p>
          <a:p>
            <a:pPr marL="0" lvl="0" indent="0" algn="l" rtl="0">
              <a:lnSpc>
                <a:spcPct val="115000"/>
              </a:lnSpc>
              <a:spcBef>
                <a:spcPts val="800"/>
              </a:spcBef>
              <a:spcAft>
                <a:spcPts val="0"/>
              </a:spcAft>
              <a:buClr>
                <a:schemeClr val="dk2"/>
              </a:buClr>
              <a:buSzPts val="1100"/>
              <a:buFont typeface="Arial"/>
              <a:buNone/>
            </a:pPr>
            <a:endParaRPr dirty="0"/>
          </a:p>
          <a:p>
            <a:pPr marL="228600" lvl="0" indent="-228600" algn="l" rtl="0">
              <a:lnSpc>
                <a:spcPct val="115000"/>
              </a:lnSpc>
              <a:spcBef>
                <a:spcPts val="1200"/>
              </a:spcBef>
              <a:spcAft>
                <a:spcPts val="0"/>
              </a:spcAft>
              <a:buClr>
                <a:schemeClr val="dk2"/>
              </a:buClr>
              <a:buSzPts val="1100"/>
              <a:buFont typeface="+mj-lt"/>
              <a:buAutoNum type="arabicPeriod"/>
            </a:pPr>
            <a:r>
              <a:rPr lang="en-US" b="1" dirty="0">
                <a:solidFill>
                  <a:schemeClr val="dk2"/>
                </a:solidFill>
              </a:rPr>
              <a:t>Operate Thousands of Edge Sites as One: </a:t>
            </a:r>
            <a:r>
              <a:rPr lang="en-US" sz="1200" b="0" dirty="0">
                <a:solidFill>
                  <a:schemeClr val="dk2"/>
                </a:solidFill>
              </a:rPr>
              <a:t>R</a:t>
            </a:r>
            <a:r>
              <a:rPr lang="en-US" sz="1200" dirty="0">
                <a:solidFill>
                  <a:schemeClr val="dk2"/>
                </a:solidFill>
              </a:rPr>
              <a:t>ight-sized deployments from one to three-plus nodes, fleet-scale automation with zero-touch provisioning, day-0 activation scripts, and expanded fleet capacity. As you can see in the first pillar, we support Single-Node deployments. This is huge because it allows you to bring VCF to locations where space and power were previously a barrier. Centralized Fleet Management: Deploy and scale across thousands of sites with zero touch automation.</a:t>
            </a:r>
            <a:endParaRPr dirty="0"/>
          </a:p>
          <a:p>
            <a:pPr marL="228600" lvl="0" indent="-228600" algn="l" rtl="0">
              <a:lnSpc>
                <a:spcPct val="115000"/>
              </a:lnSpc>
              <a:spcBef>
                <a:spcPts val="1200"/>
              </a:spcBef>
              <a:spcAft>
                <a:spcPts val="0"/>
              </a:spcAft>
              <a:buClr>
                <a:schemeClr val="dk2"/>
              </a:buClr>
              <a:buSzPts val="1100"/>
              <a:buFont typeface="+mj-lt"/>
              <a:buAutoNum type="arabicPeriod"/>
            </a:pPr>
            <a:r>
              <a:rPr lang="en-US" sz="1200" b="1" dirty="0">
                <a:solidFill>
                  <a:schemeClr val="dk2"/>
                </a:solidFill>
              </a:rPr>
              <a:t>AI-Ready and Cloud-Native Edge: </a:t>
            </a:r>
            <a:r>
              <a:rPr lang="en-US" sz="1200" b="0" dirty="0">
                <a:solidFill>
                  <a:schemeClr val="dk2"/>
                </a:solidFill>
              </a:rPr>
              <a:t>U</a:t>
            </a:r>
            <a:r>
              <a:rPr lang="en-US" sz="1200" dirty="0">
                <a:solidFill>
                  <a:schemeClr val="dk2"/>
                </a:solidFill>
              </a:rPr>
              <a:t>nified application runtime with accelerated workload deployment, simplified Container-as-a-Service, GPU support for AI workloads, and continuous delivery through GitOps and Content Library. Modern App Acceleration: Bringing GPU-powered AI and GitOps automation to the farthest edge</a:t>
            </a:r>
            <a:endParaRPr dirty="0"/>
          </a:p>
          <a:p>
            <a:pPr marL="228600" lvl="0" indent="-228600" algn="l" rtl="0">
              <a:lnSpc>
                <a:spcPct val="115000"/>
              </a:lnSpc>
              <a:spcBef>
                <a:spcPts val="1200"/>
              </a:spcBef>
              <a:spcAft>
                <a:spcPts val="0"/>
              </a:spcAft>
              <a:buClr>
                <a:schemeClr val="dk2"/>
              </a:buClr>
              <a:buSzPts val="1100"/>
              <a:buFont typeface="+mj-lt"/>
              <a:buAutoNum type="arabicPeriod"/>
            </a:pPr>
            <a:r>
              <a:rPr lang="en-US" sz="1200" b="1" dirty="0">
                <a:solidFill>
                  <a:schemeClr val="dk2"/>
                </a:solidFill>
              </a:rPr>
              <a:t>Secure and Resilient Edge:</a:t>
            </a:r>
            <a:r>
              <a:rPr lang="en-US" sz="1200" dirty="0">
                <a:solidFill>
                  <a:schemeClr val="dk2"/>
                </a:solidFill>
              </a:rPr>
              <a:t> Autonomous fleet compliance with desired-state configuration management, FIPS 140-3 and STIG certification support, namespace-scoped secret management, hardened security with non-disruptive live patching, enhanced confidential computing, and hardware root of trust.</a:t>
            </a:r>
            <a:endParaRPr dirty="0"/>
          </a:p>
        </p:txBody>
      </p:sp>
      <p:sp>
        <p:nvSpPr>
          <p:cNvPr id="2506" name="Google Shape;2506;p6: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80</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7"/>
        <p:cNvGrpSpPr/>
        <p:nvPr/>
      </p:nvGrpSpPr>
      <p:grpSpPr>
        <a:xfrm>
          <a:off x="0" y="0"/>
          <a:ext cx="0" cy="0"/>
          <a:chOff x="0" y="0"/>
          <a:chExt cx="0" cy="0"/>
        </a:xfrm>
      </p:grpSpPr>
      <p:sp>
        <p:nvSpPr>
          <p:cNvPr id="2858" name="Google Shape;2858;g3d5857bf97d_1_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859" name="Google Shape;2859;g3d5857bf97d_1_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050" b="1" u="none" strike="noStrike" dirty="0">
                <a:solidFill>
                  <a:schemeClr val="dk1"/>
                </a:solidFill>
                <a:latin typeface="+mn-lt"/>
                <a:ea typeface="Arial"/>
                <a:cs typeface="Arial"/>
                <a:sym typeface="Arial"/>
              </a:rPr>
              <a:t>Key Message:</a:t>
            </a:r>
            <a:endParaRPr lang="en-US" sz="1050" b="1" dirty="0">
              <a:latin typeface="+mn-lt"/>
              <a:ea typeface="Arial"/>
              <a:cs typeface="Arial"/>
              <a:sym typeface="Arial"/>
            </a:endParaRPr>
          </a:p>
          <a:p>
            <a:pPr marL="0" marR="0" lvl="0" indent="0" algn="l" defTabSz="914400" rtl="0" eaLnBrk="1" fontAlgn="auto" latinLnBrk="0" hangingPunct="1">
              <a:lnSpc>
                <a:spcPct val="100000"/>
              </a:lnSpc>
              <a:spcBef>
                <a:spcPts val="0"/>
              </a:spcBef>
              <a:spcAft>
                <a:spcPts val="0"/>
              </a:spcAft>
              <a:buClr>
                <a:schemeClr val="dk1"/>
              </a:buClr>
              <a:buSzPts val="1200"/>
              <a:buFont typeface="Arial"/>
              <a:buNone/>
              <a:tabLst/>
              <a:defRPr/>
            </a:pPr>
            <a:r>
              <a:rPr lang="en-US" sz="1050" dirty="0">
                <a:solidFill>
                  <a:schemeClr val="dk2"/>
                </a:solidFill>
              </a:rPr>
              <a:t>VCF Edge gives you three flexible deployment options, matched to real-world site requirements.</a:t>
            </a:r>
          </a:p>
          <a:p>
            <a:pPr marL="0" lvl="0" indent="0" algn="l" rtl="0">
              <a:spcBef>
                <a:spcPts val="0"/>
              </a:spcBef>
              <a:spcAft>
                <a:spcPts val="0"/>
              </a:spcAft>
              <a:buClr>
                <a:schemeClr val="dk1"/>
              </a:buClr>
              <a:buSzPts val="1200"/>
              <a:buFont typeface="Arial"/>
              <a:buNone/>
            </a:pPr>
            <a:endParaRPr lang="en-US" sz="105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050" b="1" u="none" strike="noStrike" dirty="0">
                <a:solidFill>
                  <a:schemeClr val="dk1"/>
                </a:solidFill>
                <a:latin typeface="+mn-lt"/>
                <a:ea typeface="Arial"/>
                <a:cs typeface="Arial"/>
                <a:sym typeface="Arial"/>
              </a:rPr>
              <a:t>Talk Track:</a:t>
            </a:r>
            <a:endParaRPr lang="en-US" sz="1050" b="1" dirty="0">
              <a:latin typeface="+mn-lt"/>
              <a:ea typeface="Arial"/>
              <a:cs typeface="Arial"/>
              <a:sym typeface="Arial"/>
            </a:endParaRPr>
          </a:p>
          <a:p>
            <a:pPr marL="0" lvl="0" indent="0" algn="l" rtl="0">
              <a:lnSpc>
                <a:spcPct val="115000"/>
              </a:lnSpc>
              <a:spcBef>
                <a:spcPts val="800"/>
              </a:spcBef>
              <a:spcAft>
                <a:spcPts val="0"/>
              </a:spcAft>
              <a:buClr>
                <a:schemeClr val="dk2"/>
              </a:buClr>
              <a:buSzPts val="1100"/>
              <a:buFont typeface="Arial"/>
              <a:buNone/>
            </a:pPr>
            <a:r>
              <a:rPr lang="en-US" sz="1050" dirty="0">
                <a:solidFill>
                  <a:schemeClr val="dk2"/>
                </a:solidFill>
              </a:rPr>
              <a:t>VCF Edge gives you three flexible deployment options, matched to real-world site requirements.</a:t>
            </a:r>
          </a:p>
          <a:p>
            <a:pPr marL="0" lvl="0" indent="0" algn="l" rtl="0">
              <a:lnSpc>
                <a:spcPct val="115000"/>
              </a:lnSpc>
              <a:spcBef>
                <a:spcPts val="800"/>
              </a:spcBef>
              <a:spcAft>
                <a:spcPts val="0"/>
              </a:spcAft>
              <a:buClr>
                <a:schemeClr val="dk2"/>
              </a:buClr>
              <a:buSzPts val="1100"/>
              <a:buFont typeface="Arial"/>
              <a:buNone/>
            </a:pPr>
            <a:endParaRPr sz="1050" dirty="0">
              <a:solidFill>
                <a:schemeClr val="dk2"/>
              </a:solidFill>
            </a:endParaRPr>
          </a:p>
          <a:p>
            <a:pPr marL="171450" lvl="0" indent="-171450" algn="l" rtl="0">
              <a:lnSpc>
                <a:spcPct val="115000"/>
              </a:lnSpc>
              <a:spcBef>
                <a:spcPts val="1200"/>
              </a:spcBef>
              <a:spcAft>
                <a:spcPts val="0"/>
              </a:spcAft>
              <a:buClr>
                <a:schemeClr val="dk2"/>
              </a:buClr>
              <a:buSzPts val="1100"/>
              <a:buFont typeface="Arial" panose="020B0604020202020204" pitchFamily="34" charset="0"/>
              <a:buChar char="•"/>
            </a:pPr>
            <a:r>
              <a:rPr lang="en-US" sz="1050" dirty="0">
                <a:solidFill>
                  <a:schemeClr val="dk2"/>
                </a:solidFill>
              </a:rPr>
              <a:t>A single-node deployment delivers a minimal footprint with vSphere and vSphere Kubernetes Service, ideal for the most space constrained locations. </a:t>
            </a:r>
          </a:p>
          <a:p>
            <a:pPr marL="171450" lvl="0" indent="-171450" algn="l" rtl="0">
              <a:lnSpc>
                <a:spcPct val="115000"/>
              </a:lnSpc>
              <a:spcBef>
                <a:spcPts val="1200"/>
              </a:spcBef>
              <a:spcAft>
                <a:spcPts val="0"/>
              </a:spcAft>
              <a:buClr>
                <a:schemeClr val="dk2"/>
              </a:buClr>
              <a:buSzPts val="1100"/>
              <a:buFont typeface="Arial" panose="020B0604020202020204" pitchFamily="34" charset="0"/>
              <a:buChar char="•"/>
            </a:pPr>
            <a:r>
              <a:rPr lang="en-US" sz="1050" dirty="0">
                <a:solidFill>
                  <a:schemeClr val="dk2"/>
                </a:solidFill>
              </a:rPr>
              <a:t>A two-node deployment adds high availability using vSAN with a witness appliance or external storage, the sweet spot for retail and branch office scenarios where uptime matters.</a:t>
            </a:r>
          </a:p>
          <a:p>
            <a:pPr marL="171450" lvl="0" indent="-171450" algn="l" rtl="0">
              <a:lnSpc>
                <a:spcPct val="115000"/>
              </a:lnSpc>
              <a:spcBef>
                <a:spcPts val="1200"/>
              </a:spcBef>
              <a:spcAft>
                <a:spcPts val="0"/>
              </a:spcAft>
              <a:buClr>
                <a:schemeClr val="dk2"/>
              </a:buClr>
              <a:buSzPts val="1100"/>
              <a:buFont typeface="Arial" panose="020B0604020202020204" pitchFamily="34" charset="0"/>
              <a:buChar char="•"/>
            </a:pPr>
            <a:r>
              <a:rPr lang="en-US" sz="1050" dirty="0">
                <a:solidFill>
                  <a:schemeClr val="dk2"/>
                </a:solidFill>
              </a:rPr>
              <a:t>A three plus node multi-cluster configurations delivers scalable, autonomous operations for data intensive sites running real-time analytics or AI.</a:t>
            </a:r>
          </a:p>
          <a:p>
            <a:pPr marL="0" lvl="0" indent="0" algn="l" rtl="0">
              <a:lnSpc>
                <a:spcPct val="115000"/>
              </a:lnSpc>
              <a:spcBef>
                <a:spcPts val="1200"/>
              </a:spcBef>
              <a:spcAft>
                <a:spcPts val="0"/>
              </a:spcAft>
              <a:buClr>
                <a:schemeClr val="dk2"/>
              </a:buClr>
              <a:buSzPts val="1100"/>
              <a:buFont typeface="Arial"/>
              <a:buNone/>
            </a:pPr>
            <a:endParaRPr sz="1050" dirty="0">
              <a:solidFill>
                <a:schemeClr val="dk2"/>
              </a:solidFill>
            </a:endParaRPr>
          </a:p>
          <a:p>
            <a:pPr marL="0" lvl="0" indent="0" algn="l" rtl="0">
              <a:lnSpc>
                <a:spcPct val="115000"/>
              </a:lnSpc>
              <a:spcBef>
                <a:spcPts val="1200"/>
              </a:spcBef>
              <a:spcAft>
                <a:spcPts val="1200"/>
              </a:spcAft>
              <a:buClr>
                <a:schemeClr val="dk2"/>
              </a:buClr>
              <a:buSzPts val="1100"/>
              <a:buFont typeface="Arial"/>
              <a:buNone/>
            </a:pPr>
            <a:r>
              <a:rPr lang="en-US" sz="1050" dirty="0">
                <a:solidFill>
                  <a:schemeClr val="dk2"/>
                </a:solidFill>
              </a:rPr>
              <a:t>All three topologies support air-gapped and disconnected designs. You're not locked into specific hardware. We certify high performance ruggedized servers across vendors. And the key point: regardless of topology, the operating model is identical. You manage a single node the same way you manage a full cluster. One platform, consistent operations</a:t>
            </a:r>
            <a:endParaRPr sz="1100" dirty="0">
              <a:solidFill>
                <a:srgbClr val="888888"/>
              </a:solidFill>
            </a:endParaRPr>
          </a:p>
        </p:txBody>
      </p:sp>
      <p:sp>
        <p:nvSpPr>
          <p:cNvPr id="2860" name="Google Shape;2860;g3d5857bf97d_1_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81</a:t>
            </a:fld>
            <a:endParaRPr kumimoji="0" sz="1200" b="0" i="0" u="none" strike="noStrike" kern="1200" cap="none" spc="0" normalizeH="0" baseline="0" noProof="0">
              <a:ln>
                <a:noFill/>
              </a:ln>
              <a:solidFill>
                <a:srgbClr val="717074"/>
              </a:solidFill>
              <a:effectLst/>
              <a:uLnTx/>
              <a:uFillTx/>
              <a:latin typeface="Arial"/>
              <a:ea typeface="+mn-ea"/>
              <a:cs typeface="+mn-cs"/>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1"/>
        <p:cNvGrpSpPr/>
        <p:nvPr/>
      </p:nvGrpSpPr>
      <p:grpSpPr>
        <a:xfrm>
          <a:off x="0" y="0"/>
          <a:ext cx="0" cy="0"/>
          <a:chOff x="0" y="0"/>
          <a:chExt cx="0" cy="0"/>
        </a:xfrm>
      </p:grpSpPr>
      <p:sp>
        <p:nvSpPr>
          <p:cNvPr id="6942" name="Google Shape;6942;p74:notes"/>
          <p:cNvSpPr txBox="1">
            <a:spLocks noGrp="1"/>
          </p:cNvSpPr>
          <p:nvPr>
            <p:ph type="body" idx="1"/>
          </p:nvPr>
        </p:nvSpPr>
        <p:spPr>
          <a:xfrm>
            <a:off x="457200" y="3810000"/>
            <a:ext cx="5943600" cy="48768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marR="0" lvl="0" indent="0" algn="l" defTabSz="914400" rtl="0" eaLnBrk="1" fontAlgn="auto" latinLnBrk="0" hangingPunct="1">
              <a:lnSpc>
                <a:spcPct val="100000"/>
              </a:lnSpc>
              <a:spcBef>
                <a:spcPts val="0"/>
              </a:spcBef>
              <a:spcAft>
                <a:spcPts val="0"/>
              </a:spcAft>
              <a:buClr>
                <a:schemeClr val="dk1"/>
              </a:buClr>
              <a:buSzPts val="1200"/>
              <a:buFont typeface="Arial"/>
              <a:buNone/>
              <a:tabLst/>
              <a:defRPr/>
            </a:pPr>
            <a:r>
              <a:rPr lang="en-IN" sz="1200" b="0" i="0" kern="1200" dirty="0">
                <a:solidFill>
                  <a:schemeClr val="tx1"/>
                </a:solidFill>
                <a:effectLst/>
                <a:latin typeface="+mn-lt"/>
                <a:ea typeface="+mn-ea"/>
                <a:cs typeface="+mn-cs"/>
              </a:rPr>
              <a:t>Deploying infrastructure to hundreds or thousands of edge sites has traditionally required skilled technicians at every location. VCF Edge changes that with Zero Touch Provisioning (ZTP).</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r>
              <a:rPr lang="en-IN" sz="1200" b="0" i="0" kern="1200" dirty="0">
                <a:solidFill>
                  <a:schemeClr val="tx1"/>
                </a:solidFill>
                <a:effectLst/>
                <a:latin typeface="+mn-lt"/>
                <a:ea typeface="+mn-ea"/>
                <a:cs typeface="+mn-cs"/>
              </a:rPr>
              <a:t>Deploying infrastructure to hundreds or thousands of edge sites has traditionally required skilled technicians at every location. VCF Edge changes that with Zero Touch Provisioning (ZTP).</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Here is the workflow: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First, you configure ZTP in vCenter at your central data center. You define deploy rules, image profiles, and cluster assignments.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Second, you ship physical hosts to the edge site. When they power on and connect to the network, they automatically reach back to vCenter, download the ESX image, and register themselves.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Third, an automation script configures the cluster - vDS, vSAN, DRS, HA, Supervisor deployment, Supervisor services like Argo CD and the foundation load balancer.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Fourth, you configure </a:t>
            </a:r>
            <a:r>
              <a:rPr lang="en-IN" sz="1200" b="0" i="0" kern="1200" dirty="0" err="1">
                <a:solidFill>
                  <a:schemeClr val="tx1"/>
                </a:solidFill>
                <a:effectLst/>
                <a:latin typeface="+mn-lt"/>
                <a:ea typeface="+mn-ea"/>
                <a:cs typeface="+mn-cs"/>
              </a:rPr>
              <a:t>ArgoCD</a:t>
            </a:r>
            <a:r>
              <a:rPr lang="en-IN" sz="1200" b="0" i="0" kern="1200" dirty="0">
                <a:solidFill>
                  <a:schemeClr val="tx1"/>
                </a:solidFill>
                <a:effectLst/>
                <a:latin typeface="+mn-lt"/>
                <a:ea typeface="+mn-ea"/>
                <a:cs typeface="+mn-cs"/>
              </a:rPr>
              <a:t> and deploy applications through GitOps by defining your application YAML in a git repository.</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The result: edge sites go from bare metal to production-ready without a single on-site configuration step. This is how you scale edge deployments from dozens to thousands.</a:t>
            </a:r>
          </a:p>
          <a:p>
            <a:pPr marL="0" lvl="0" indent="0" algn="l" rtl="0">
              <a:spcBef>
                <a:spcPts val="0"/>
              </a:spcBef>
              <a:spcAft>
                <a:spcPts val="0"/>
              </a:spcAft>
              <a:buNone/>
            </a:pPr>
            <a:endParaRPr i="0" dirty="0"/>
          </a:p>
        </p:txBody>
      </p:sp>
      <p:sp>
        <p:nvSpPr>
          <p:cNvPr id="6943" name="Google Shape;6943;p74: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6"/>
        <p:cNvGrpSpPr/>
        <p:nvPr/>
      </p:nvGrpSpPr>
      <p:grpSpPr>
        <a:xfrm>
          <a:off x="0" y="0"/>
          <a:ext cx="0" cy="0"/>
          <a:chOff x="0" y="0"/>
          <a:chExt cx="0" cy="0"/>
        </a:xfrm>
      </p:grpSpPr>
      <p:sp>
        <p:nvSpPr>
          <p:cNvPr id="6847" name="Google Shape;6847;p73:notes"/>
          <p:cNvSpPr txBox="1">
            <a:spLocks noGrp="1"/>
          </p:cNvSpPr>
          <p:nvPr>
            <p:ph type="body" idx="1"/>
          </p:nvPr>
        </p:nvSpPr>
        <p:spPr>
          <a:xfrm>
            <a:off x="457200" y="3810000"/>
            <a:ext cx="5943600" cy="48768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IN" sz="1200" b="0" i="0" kern="1200" dirty="0">
                <a:solidFill>
                  <a:schemeClr val="tx1"/>
                </a:solidFill>
                <a:effectLst/>
                <a:latin typeface="+mn-lt"/>
                <a:ea typeface="+mn-ea"/>
                <a:cs typeface="+mn-cs"/>
              </a:rPr>
              <a:t>activation timeline </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r>
              <a:rPr lang="en-IN" sz="1200" b="0" i="0" kern="1200" dirty="0">
                <a:solidFill>
                  <a:schemeClr val="tx1"/>
                </a:solidFill>
                <a:effectLst/>
                <a:latin typeface="+mn-lt"/>
                <a:ea typeface="+mn-ea"/>
                <a:cs typeface="+mn-cs"/>
              </a:rPr>
              <a:t>Let me walk through the activation timeline in more detail, because this is where the operational savings really compound.</a:t>
            </a:r>
          </a:p>
          <a:p>
            <a:endParaRPr lang="en-IN" sz="1200" b="0" i="0" kern="1200" dirty="0">
              <a:solidFill>
                <a:schemeClr val="tx1"/>
              </a:solidFill>
              <a:effectLst/>
              <a:latin typeface="+mn-lt"/>
              <a:ea typeface="+mn-ea"/>
              <a:cs typeface="+mn-cs"/>
            </a:endParaRPr>
          </a:p>
          <a:p>
            <a:r>
              <a:rPr lang="en-IN" sz="1200" b="1" i="0" kern="1200" dirty="0">
                <a:solidFill>
                  <a:schemeClr val="tx1"/>
                </a:solidFill>
                <a:effectLst/>
                <a:latin typeface="+mn-lt"/>
                <a:ea typeface="+mn-ea"/>
                <a:cs typeface="+mn-cs"/>
              </a:rPr>
              <a:t>Day Zero is infrastructure provisioning:</a:t>
            </a:r>
            <a:r>
              <a:rPr lang="en-IN" sz="1200" b="0" i="0" kern="1200" dirty="0">
                <a:solidFill>
                  <a:schemeClr val="tx1"/>
                </a:solidFill>
                <a:effectLst/>
                <a:latin typeface="+mn-lt"/>
                <a:ea typeface="+mn-ea"/>
                <a:cs typeface="+mn-cs"/>
              </a:rPr>
              <a:t> You pre-configure vCenter with Auto-Deploy rules and desired-state configuration profiles. Hosts ship to the edge site. When powered on, each host receives an IP address via DHCP or static assignment, establishes a connection back to vCenter, downloads and installs the ESX image, and is automatically assigned to the destination cluster by the ZTP deploy rule.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From there, a PowerShell script configures the vSphere cluster, sets up storage policies, deploys Supervisor and Supervisor services including Argo CD, and enables vSphere Configuration Profiles (VCP) for ongoing drift management.</a:t>
            </a:r>
          </a:p>
          <a:p>
            <a:endParaRPr lang="en-IN" sz="1200" b="0" i="0" kern="1200" dirty="0">
              <a:solidFill>
                <a:schemeClr val="tx1"/>
              </a:solidFill>
              <a:effectLst/>
              <a:latin typeface="+mn-lt"/>
              <a:ea typeface="+mn-ea"/>
              <a:cs typeface="+mn-cs"/>
            </a:endParaRPr>
          </a:p>
          <a:p>
            <a:r>
              <a:rPr lang="en-IN" sz="1200" b="1" i="0" kern="1200" dirty="0">
                <a:solidFill>
                  <a:schemeClr val="tx1"/>
                </a:solidFill>
                <a:effectLst/>
                <a:latin typeface="+mn-lt"/>
                <a:ea typeface="+mn-ea"/>
                <a:cs typeface="+mn-cs"/>
              </a:rPr>
              <a:t>Day One shifts to pull-based workload management via Git</a:t>
            </a:r>
            <a:r>
              <a:rPr lang="en-IN" sz="1200" b="0" i="0" kern="1200" dirty="0">
                <a:solidFill>
                  <a:schemeClr val="tx1"/>
                </a:solidFill>
                <a:effectLst/>
                <a:latin typeface="+mn-lt"/>
                <a:ea typeface="+mn-ea"/>
                <a:cs typeface="+mn-cs"/>
              </a:rPr>
              <a:t>. The edge cluster links to a Git repository - your single source of truth. Application manifests and workload definitions are stored in Git. Admins push changes through pull requests. The Argo CD controller watches for changes to the git repository, detects drift, and auto-corrects. Workloads deploy automatically per manifest, no manual intervention at the edge site, full audit trail through Git commit history.</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This two-phase model - automated infrastructure on Day Zero, GitOps-driven workloads on Day One is what makes VCF Edge operationally sustainable at thousands of sites.</a:t>
            </a:r>
          </a:p>
          <a:p>
            <a:pPr marL="0" lvl="0" indent="0" algn="l" rtl="0">
              <a:spcBef>
                <a:spcPts val="0"/>
              </a:spcBef>
              <a:spcAft>
                <a:spcPts val="0"/>
              </a:spcAft>
              <a:buNone/>
            </a:pPr>
            <a:endParaRPr i="0" dirty="0"/>
          </a:p>
        </p:txBody>
      </p:sp>
      <p:sp>
        <p:nvSpPr>
          <p:cNvPr id="6848" name="Google Shape;6848;p73: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2"/>
        <p:cNvGrpSpPr/>
        <p:nvPr/>
      </p:nvGrpSpPr>
      <p:grpSpPr>
        <a:xfrm>
          <a:off x="0" y="0"/>
          <a:ext cx="0" cy="0"/>
          <a:chOff x="0" y="0"/>
          <a:chExt cx="0" cy="0"/>
        </a:xfrm>
      </p:grpSpPr>
      <p:sp>
        <p:nvSpPr>
          <p:cNvPr id="5513" name="Google Shape;5513;p21: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14" name="Google Shape;5514;p21: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lnSpcReduction="10000"/>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dirty="0"/>
              <a:t>The Industrial Virtual Switch (</a:t>
            </a:r>
            <a:r>
              <a:rPr lang="en-US" dirty="0" err="1"/>
              <a:t>IvS</a:t>
            </a:r>
            <a:r>
              <a:rPr lang="en-US" dirty="0"/>
              <a:t>) is an NSX virtual switch configuration designed to support real-time PROFINET communication over industrial Ethernet networks</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b="1" dirty="0"/>
              <a:t>Talk Track:</a:t>
            </a:r>
            <a:endParaRPr dirty="0"/>
          </a:p>
          <a:p>
            <a:pPr marL="0" lvl="0" indent="0" algn="l" rtl="0">
              <a:spcBef>
                <a:spcPts val="0"/>
              </a:spcBef>
              <a:spcAft>
                <a:spcPts val="0"/>
              </a:spcAft>
              <a:buClr>
                <a:schemeClr val="dk1"/>
              </a:buClr>
              <a:buSzPts val="1200"/>
              <a:buFont typeface="Arial"/>
              <a:buNone/>
            </a:pPr>
            <a:r>
              <a:rPr lang="en-US" dirty="0"/>
              <a:t>The Industrial Virtual Switch (IvS) is an NSX virtual switch configuration designed to support real-time PROFINET communication over industrial Ethernet networks, ensuring low latency and bounded jitter. This is especially useful in the Operational Technology (OT) world use-cases where low latency and real-time deterministic responses are required such as controlling robotic arms on a manufacturing floor.</a:t>
            </a:r>
            <a:endParaRPr dirty="0"/>
          </a:p>
          <a:p>
            <a:pPr marL="0" lvl="0" indent="0" algn="l" rtl="0">
              <a:spcBef>
                <a:spcPts val="0"/>
              </a:spcBef>
              <a:spcAft>
                <a:spcPts val="0"/>
              </a:spcAft>
              <a:buClr>
                <a:schemeClr val="dk1"/>
              </a:buClr>
              <a:buSzPts val="1200"/>
              <a:buFont typeface="Arial"/>
              <a:buNone/>
            </a:pPr>
            <a:endParaRPr b="1" dirty="0"/>
          </a:p>
          <a:p>
            <a:pPr marL="0" lvl="0" indent="0" algn="l" rtl="0">
              <a:spcBef>
                <a:spcPts val="0"/>
              </a:spcBef>
              <a:spcAft>
                <a:spcPts val="0"/>
              </a:spcAft>
              <a:buNone/>
            </a:pPr>
            <a:r>
              <a:rPr lang="en-US" dirty="0"/>
              <a:t>IvS enables the forwarding of PROFINET traffic between virtual Programmable Logic Controllers (vPLCs) running on ESXi hosts and I/O devices located outside the vSphere cluster. IvS also supports the Parallel Redundancy Protocol (PRP), providing seamless network redundancy and high availability for traffic across two distinct LANs. Additionally, IvS is natively optimized and tuned for PROFINET performance.</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US" dirty="0"/>
              <a:t>The following considerations apply to IvS configuration and use:</a:t>
            </a:r>
            <a:endParaRPr dirty="0"/>
          </a:p>
          <a:p>
            <a:pPr marL="0" lvl="0" indent="0" algn="l" rtl="0">
              <a:spcBef>
                <a:spcPts val="0"/>
              </a:spcBef>
              <a:spcAft>
                <a:spcPts val="0"/>
              </a:spcAft>
              <a:buNone/>
            </a:pPr>
            <a:endParaRPr dirty="0"/>
          </a:p>
          <a:p>
            <a:pPr marL="171450" lvl="0" indent="-171450" algn="l" rtl="0">
              <a:spcBef>
                <a:spcPts val="0"/>
              </a:spcBef>
              <a:spcAft>
                <a:spcPts val="0"/>
              </a:spcAft>
              <a:buClr>
                <a:schemeClr val="dk1"/>
              </a:buClr>
              <a:buSzPts val="1200"/>
              <a:buFont typeface="Arial"/>
              <a:buChar char="•"/>
            </a:pPr>
            <a:r>
              <a:rPr lang="en-US" dirty="0"/>
              <a:t>A maximum of two Industrial vSwitches are supported per Transport Node Profile and per vSphere host, and they can only be configured on VLAN transport zones.</a:t>
            </a:r>
            <a:endParaRPr dirty="0"/>
          </a:p>
          <a:p>
            <a:pPr marL="171450" lvl="0" indent="-171450" algn="l" rtl="0">
              <a:spcBef>
                <a:spcPts val="0"/>
              </a:spcBef>
              <a:spcAft>
                <a:spcPts val="0"/>
              </a:spcAft>
              <a:buClr>
                <a:schemeClr val="dk1"/>
              </a:buClr>
              <a:buSzPts val="1200"/>
              <a:buFont typeface="Arial"/>
              <a:buChar char="•"/>
            </a:pPr>
            <a:r>
              <a:rPr lang="en-US" dirty="0"/>
              <a:t>PRP can only be configured and enabled on one IvS per host.</a:t>
            </a:r>
            <a:endParaRPr dirty="0"/>
          </a:p>
          <a:p>
            <a:pPr marL="171450" lvl="0" indent="-171450" algn="l" rtl="0">
              <a:spcBef>
                <a:spcPts val="0"/>
              </a:spcBef>
              <a:spcAft>
                <a:spcPts val="0"/>
              </a:spcAft>
              <a:buClr>
                <a:schemeClr val="dk1"/>
              </a:buClr>
              <a:buSzPts val="1200"/>
              <a:buFont typeface="Arial"/>
              <a:buChar char="•"/>
            </a:pPr>
            <a:r>
              <a:rPr lang="en-US" dirty="0"/>
              <a:t>Deterministic latency for packets forwarded in Industrial vSwitch is not guaranteed to be bounded during vMotion, software upgrade, or configuration changes.</a:t>
            </a:r>
            <a:endParaRPr dirty="0"/>
          </a:p>
          <a:p>
            <a:pPr marL="171450" lvl="0" indent="-171450" algn="l" rtl="0">
              <a:spcBef>
                <a:spcPts val="0"/>
              </a:spcBef>
              <a:spcAft>
                <a:spcPts val="0"/>
              </a:spcAft>
              <a:buClr>
                <a:schemeClr val="dk1"/>
              </a:buClr>
              <a:buSzPts val="1200"/>
              <a:buFont typeface="Arial"/>
              <a:buChar char="•"/>
            </a:pPr>
            <a:r>
              <a:rPr lang="en-US" dirty="0"/>
              <a:t>For virtual machines connected to the IvS to leverage the supported features, only vmxnet3 interfaces using the latest driver version 1.9 or later are supported. Latency Sensitivity High is also required for the VM settings.</a:t>
            </a:r>
            <a:endParaRPr dirty="0"/>
          </a:p>
          <a:p>
            <a:pPr marL="0" lvl="0" indent="0" algn="l" rtl="0">
              <a:spcBef>
                <a:spcPts val="0"/>
              </a:spcBef>
              <a:spcAft>
                <a:spcPts val="0"/>
              </a:spcAft>
              <a:buClr>
                <a:schemeClr val="dk1"/>
              </a:buClr>
              <a:buSzPts val="1200"/>
              <a:buFont typeface="Arial"/>
              <a:buNone/>
            </a:pPr>
            <a:endParaRPr b="1" dirty="0"/>
          </a:p>
        </p:txBody>
      </p:sp>
      <p:sp>
        <p:nvSpPr>
          <p:cNvPr id="5515" name="Google Shape;5515;p21: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84</a:t>
            </a:fld>
            <a:endParaRPr kumimoji="0" sz="1200" b="0" i="0" u="none" strike="noStrike" kern="120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5">
          <a:extLst>
            <a:ext uri="{FF2B5EF4-FFF2-40B4-BE49-F238E27FC236}">
              <a16:creationId xmlns:a16="http://schemas.microsoft.com/office/drawing/2014/main" id="{CCDACB6D-35AC-76C4-625B-FAAD5B1C4E4A}"/>
            </a:ext>
          </a:extLst>
        </p:cNvPr>
        <p:cNvGrpSpPr/>
        <p:nvPr/>
      </p:nvGrpSpPr>
      <p:grpSpPr>
        <a:xfrm>
          <a:off x="0" y="0"/>
          <a:ext cx="0" cy="0"/>
          <a:chOff x="0" y="0"/>
          <a:chExt cx="0" cy="0"/>
        </a:xfrm>
      </p:grpSpPr>
      <p:sp>
        <p:nvSpPr>
          <p:cNvPr id="3086" name="Google Shape;3086;p9:notes">
            <a:extLst>
              <a:ext uri="{FF2B5EF4-FFF2-40B4-BE49-F238E27FC236}">
                <a16:creationId xmlns:a16="http://schemas.microsoft.com/office/drawing/2014/main" id="{28E56BEB-3192-6E2D-0613-5001134DB720}"/>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087" name="Google Shape;3087;p9:notes">
            <a:extLst>
              <a:ext uri="{FF2B5EF4-FFF2-40B4-BE49-F238E27FC236}">
                <a16:creationId xmlns:a16="http://schemas.microsoft.com/office/drawing/2014/main" id="{B56F9DDE-AD6D-034D-8E50-DB37FCFF9285}"/>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fontScale="55000" lnSpcReduction="20000"/>
          </a:bodyPr>
          <a:lstStyle/>
          <a:p>
            <a:pPr marL="0" lvl="0" indent="0" algn="l" rtl="0">
              <a:spcBef>
                <a:spcPts val="0"/>
              </a:spcBef>
              <a:spcAft>
                <a:spcPts val="0"/>
              </a:spcAft>
              <a:buClr>
                <a:schemeClr val="dk1"/>
              </a:buClr>
              <a:buSzPts val="1200"/>
              <a:buFont typeface="Arial"/>
              <a:buNone/>
            </a:pPr>
            <a:r>
              <a:rPr lang="en-US" sz="1800" b="1" u="none" strike="noStrike" dirty="0">
                <a:solidFill>
                  <a:schemeClr val="dk1"/>
                </a:solidFill>
                <a:latin typeface="+mn-lt"/>
                <a:ea typeface="Arial"/>
                <a:cs typeface="Arial"/>
                <a:sym typeface="Arial"/>
              </a:rPr>
              <a:t>Key Message:</a:t>
            </a:r>
            <a:endParaRPr lang="en-US" sz="1800" b="1" dirty="0">
              <a:latin typeface="+mn-lt"/>
              <a:ea typeface="Arial"/>
              <a:cs typeface="Arial"/>
              <a:sym typeface="Arial"/>
            </a:endParaRPr>
          </a:p>
          <a:p>
            <a:pPr marL="0" marR="0" lvl="0" indent="0" algn="l" defTabSz="914400" rtl="0" eaLnBrk="1" fontAlgn="auto" latinLnBrk="0" hangingPunct="1">
              <a:lnSpc>
                <a:spcPct val="100000"/>
              </a:lnSpc>
              <a:spcBef>
                <a:spcPts val="0"/>
              </a:spcBef>
              <a:spcAft>
                <a:spcPts val="0"/>
              </a:spcAft>
              <a:buClr>
                <a:schemeClr val="dk1"/>
              </a:buClr>
              <a:buSzPts val="1200"/>
              <a:buFont typeface="Arial"/>
              <a:buNone/>
              <a:tabLst/>
              <a:defRPr/>
            </a:pPr>
            <a:r>
              <a:rPr lang="en-IN" sz="1800" dirty="0"/>
              <a:t>Edge AI is transforming how and where intelligence is applied — by bringing compute and inference closer to where data is generated.</a:t>
            </a:r>
          </a:p>
          <a:p>
            <a:pPr marL="0" lvl="0" indent="0" algn="l" rtl="0">
              <a:spcBef>
                <a:spcPts val="0"/>
              </a:spcBef>
              <a:spcAft>
                <a:spcPts val="0"/>
              </a:spcAft>
              <a:buClr>
                <a:schemeClr val="dk1"/>
              </a:buClr>
              <a:buSzPts val="1200"/>
              <a:buFont typeface="Arial"/>
              <a:buNone/>
            </a:pPr>
            <a:endParaRPr lang="en-US" sz="1800" b="1" u="none" strike="noStrike" dirty="0">
              <a:solidFill>
                <a:schemeClr val="dk1"/>
              </a:solidFill>
              <a:latin typeface="+mn-lt"/>
              <a:ea typeface="Arial"/>
              <a:cs typeface="Arial"/>
              <a:sym typeface="Arial"/>
            </a:endParaRPr>
          </a:p>
          <a:p>
            <a:pPr marL="0" marR="0" lvl="0" indent="0" algn="l" rtl="0">
              <a:lnSpc>
                <a:spcPct val="130000"/>
              </a:lnSpc>
              <a:spcBef>
                <a:spcPts val="0"/>
              </a:spcBef>
              <a:spcAft>
                <a:spcPts val="0"/>
              </a:spcAft>
              <a:buClr>
                <a:schemeClr val="dk1"/>
              </a:buClr>
              <a:buSzPts val="1800"/>
              <a:buFont typeface="Calibri"/>
              <a:buNone/>
            </a:pPr>
            <a:r>
              <a:rPr lang="en-US" sz="1800" b="1" dirty="0">
                <a:latin typeface="Metropolis" panose="00000500000000000000" pitchFamily="2" charset="0"/>
              </a:rPr>
              <a:t>Talk Track:</a:t>
            </a:r>
          </a:p>
          <a:p>
            <a:r>
              <a:rPr lang="en-IN" sz="1800" dirty="0"/>
              <a:t>Edge AI is transforming how and where intelligence is applied — by bringing compute and inference closer to where data is generated.</a:t>
            </a:r>
          </a:p>
          <a:p>
            <a:endParaRPr lang="en-IN" sz="1800" dirty="0"/>
          </a:p>
          <a:p>
            <a:r>
              <a:rPr lang="en-IN" sz="1800" dirty="0"/>
              <a:t>Instead of sending data back to the cloud or data center, AI models now run locally — at the edge — enabling </a:t>
            </a:r>
            <a:r>
              <a:rPr lang="en-IN" sz="1800" b="1" dirty="0"/>
              <a:t>real-time decisions</a:t>
            </a:r>
            <a:r>
              <a:rPr lang="en-IN" sz="1800" dirty="0"/>
              <a:t>, lower latency, and reduced bandwidth usage. Think of use cases like smart cameras detecting anomalies, predictive maintenance on factory equipment, or autonomous systems in retail and utilities — all happening instantly, on-site.</a:t>
            </a:r>
          </a:p>
          <a:p>
            <a:endParaRPr lang="en-IN" sz="1800" dirty="0"/>
          </a:p>
          <a:p>
            <a:r>
              <a:rPr lang="en-IN" sz="1800" dirty="0"/>
              <a:t>VMware’s edge infrastructure supports this shift by providing a </a:t>
            </a:r>
            <a:r>
              <a:rPr lang="en-IN" sz="1800" b="1" dirty="0"/>
              <a:t>secure, scalable, and consistent platform</a:t>
            </a:r>
            <a:r>
              <a:rPr lang="en-IN" sz="1800" dirty="0"/>
              <a:t> to deploy and manage AI workloads — from the core to remote edge locations.</a:t>
            </a:r>
          </a:p>
          <a:p>
            <a:endParaRPr lang="en-IN" sz="1800" dirty="0"/>
          </a:p>
          <a:p>
            <a:r>
              <a:rPr lang="en-IN" sz="1800" dirty="0"/>
              <a:t>Customers have the option to deploy VMware Private AI Foundation with Nvidia at the Data Center to fine tune models on their specific data and build AI applications that can be deployed at edge locations powered by CPUs/GPUs. This also enables DevOps-style workflows and GitOps automation, so teams can </a:t>
            </a:r>
            <a:r>
              <a:rPr lang="en-IN" sz="1800" b="1" dirty="0"/>
              <a:t>train in the cloud and deploy at the edge</a:t>
            </a:r>
            <a:r>
              <a:rPr lang="en-IN" sz="1800" dirty="0"/>
              <a:t>, seamlessly.</a:t>
            </a:r>
          </a:p>
          <a:p>
            <a:endParaRPr lang="en-IN" sz="1800" dirty="0"/>
          </a:p>
          <a:p>
            <a:r>
              <a:rPr lang="en-IN" sz="1800" dirty="0"/>
              <a:t>Edge AI isn’t just about speed — it’s about enabling smarter, safer, and more autonomous operations — exactly where they’re needed most.</a:t>
            </a:r>
          </a:p>
          <a:p>
            <a:pPr marL="0" marR="0" lvl="0" indent="0" algn="l" rtl="0">
              <a:lnSpc>
                <a:spcPct val="130000"/>
              </a:lnSpc>
              <a:spcBef>
                <a:spcPts val="0"/>
              </a:spcBef>
              <a:spcAft>
                <a:spcPts val="0"/>
              </a:spcAft>
              <a:buClr>
                <a:schemeClr val="dk1"/>
              </a:buClr>
              <a:buSzPts val="1800"/>
              <a:buFont typeface="Calibri"/>
              <a:buNone/>
            </a:pPr>
            <a:endParaRPr sz="1800" b="0" dirty="0">
              <a:latin typeface="Metropolis" panose="00000500000000000000" pitchFamily="2" charset="0"/>
            </a:endParaRPr>
          </a:p>
        </p:txBody>
      </p:sp>
      <p:sp>
        <p:nvSpPr>
          <p:cNvPr id="3088" name="Google Shape;3088;p9:notes">
            <a:extLst>
              <a:ext uri="{FF2B5EF4-FFF2-40B4-BE49-F238E27FC236}">
                <a16:creationId xmlns:a16="http://schemas.microsoft.com/office/drawing/2014/main" id="{33AF3CC5-7DC9-0707-62E4-16FBF260BFD4}"/>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Metropolis" panose="00000500000000000000" pitchFamily="2" charset="0"/>
                <a:ea typeface="+mn-ea"/>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85</a:t>
            </a:fld>
            <a:endParaRPr kumimoji="0" sz="1200" b="0" i="0" u="none" strike="noStrike" kern="1200" cap="none" spc="0" normalizeH="0" baseline="0" noProof="0" dirty="0">
              <a:ln>
                <a:noFill/>
              </a:ln>
              <a:solidFill>
                <a:srgbClr val="717074"/>
              </a:solidFill>
              <a:effectLst/>
              <a:uLnTx/>
              <a:uFillTx/>
              <a:latin typeface="Metropolis" panose="00000500000000000000" pitchFamily="2" charset="0"/>
              <a:ea typeface="+mn-ea"/>
              <a:cs typeface="Arial"/>
              <a:sym typeface="Arial"/>
            </a:endParaRPr>
          </a:p>
        </p:txBody>
      </p:sp>
    </p:spTree>
    <p:extLst>
      <p:ext uri="{BB962C8B-B14F-4D97-AF65-F5344CB8AC3E}">
        <p14:creationId xmlns:p14="http://schemas.microsoft.com/office/powerpoint/2010/main" val="108889273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9"/>
        <p:cNvGrpSpPr/>
        <p:nvPr/>
      </p:nvGrpSpPr>
      <p:grpSpPr>
        <a:xfrm>
          <a:off x="0" y="0"/>
          <a:ext cx="0" cy="0"/>
          <a:chOff x="0" y="0"/>
          <a:chExt cx="0" cy="0"/>
        </a:xfrm>
      </p:grpSpPr>
      <p:sp>
        <p:nvSpPr>
          <p:cNvPr id="1410" name="Google Shape;1410;g395e940b0ae_0_453: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1411" name="Google Shape;1411;g395e940b0ae_0_453: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IN" sz="1200" b="0" i="0" kern="1200" dirty="0">
                <a:solidFill>
                  <a:schemeClr val="tx1"/>
                </a:solidFill>
                <a:effectLst/>
                <a:latin typeface="+mn-lt"/>
                <a:ea typeface="+mn-ea"/>
                <a:cs typeface="+mn-cs"/>
              </a:rPr>
              <a:t>VCF Edge is certified on a broad range of ruggedized and purpose-built edge platforms from major vendors.</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r>
              <a:rPr lang="en-IN" sz="1200" b="0" i="0" kern="1200" dirty="0">
                <a:solidFill>
                  <a:schemeClr val="tx1"/>
                </a:solidFill>
                <a:effectLst/>
                <a:latin typeface="+mn-lt"/>
                <a:ea typeface="+mn-ea"/>
                <a:cs typeface="+mn-cs"/>
              </a:rPr>
              <a:t>Let me highlight some examples from our rich hardware ecosystem. VCF Edge is certified on a broad range of ruggedized and purpose-built edge platforms from major vendors.</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For manufacturing and utilities, we certify platforms like the Dell XR4000 and XR12 series and the HPE ProLiant DL380, built for harsh industrial environments.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For </a:t>
            </a:r>
            <a:r>
              <a:rPr lang="en-IN" sz="1200" b="0" i="0" kern="1200" dirty="0" err="1">
                <a:solidFill>
                  <a:schemeClr val="tx1"/>
                </a:solidFill>
                <a:effectLst/>
                <a:latin typeface="+mn-lt"/>
                <a:ea typeface="+mn-ea"/>
                <a:cs typeface="+mn-cs"/>
              </a:rPr>
              <a:t>defense</a:t>
            </a:r>
            <a:r>
              <a:rPr lang="en-IN" sz="1200" b="0" i="0" kern="1200" dirty="0">
                <a:solidFill>
                  <a:schemeClr val="tx1"/>
                </a:solidFill>
                <a:effectLst/>
                <a:latin typeface="+mn-lt"/>
                <a:ea typeface="+mn-ea"/>
                <a:cs typeface="+mn-cs"/>
              </a:rPr>
              <a:t> and tactical operations, we support the Cubic M3 for naval deployments, the </a:t>
            </a:r>
            <a:r>
              <a:rPr lang="en-IN" sz="1200" b="0" i="0" kern="1200" dirty="0" err="1">
                <a:solidFill>
                  <a:schemeClr val="tx1"/>
                </a:solidFill>
                <a:effectLst/>
                <a:latin typeface="+mn-lt"/>
                <a:ea typeface="+mn-ea"/>
                <a:cs typeface="+mn-cs"/>
              </a:rPr>
              <a:t>Pacstar</a:t>
            </a:r>
            <a:r>
              <a:rPr lang="en-IN" sz="1200" b="0" i="0" kern="1200" dirty="0">
                <a:solidFill>
                  <a:schemeClr val="tx1"/>
                </a:solidFill>
                <a:effectLst/>
                <a:latin typeface="+mn-lt"/>
                <a:ea typeface="+mn-ea"/>
                <a:cs typeface="+mn-cs"/>
              </a:rPr>
              <a:t> 451 and 452 for army tactical systems, and the Klas </a:t>
            </a:r>
            <a:r>
              <a:rPr lang="en-IN" sz="1200" b="0" i="0" kern="1200" dirty="0" err="1">
                <a:solidFill>
                  <a:schemeClr val="tx1"/>
                </a:solidFill>
                <a:effectLst/>
                <a:latin typeface="+mn-lt"/>
                <a:ea typeface="+mn-ea"/>
                <a:cs typeface="+mn-cs"/>
              </a:rPr>
              <a:t>VoyagerVM</a:t>
            </a:r>
            <a:r>
              <a:rPr lang="en-IN" sz="1200" b="0" i="0" kern="1200" dirty="0">
                <a:solidFill>
                  <a:schemeClr val="tx1"/>
                </a:solidFill>
                <a:effectLst/>
                <a:latin typeface="+mn-lt"/>
                <a:ea typeface="+mn-ea"/>
                <a:cs typeface="+mn-cs"/>
              </a:rPr>
              <a:t> 4.0 for field operations.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For retail and branch scenarios, the Cisco UCS XE9305, XE220, and XE240 along with the Lenovo SE 350 provide compact, reliable form factors.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And for edge AI workloads, the Lenovo SE 450 and Supermicro WIO platforms deliver GPU-capable compute in edge-optimized designs.</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Importantly, ODM self-certification is expected to expand this list further. </a:t>
            </a:r>
          </a:p>
          <a:p>
            <a:endParaRPr lang="en-IN" sz="1200" b="0" i="0" kern="1200" dirty="0">
              <a:solidFill>
                <a:schemeClr val="tx1"/>
              </a:solidFill>
              <a:effectLst/>
              <a:latin typeface="+mn-lt"/>
              <a:ea typeface="+mn-ea"/>
              <a:cs typeface="+mn-cs"/>
            </a:endParaRPr>
          </a:p>
          <a:p>
            <a:r>
              <a:rPr lang="en-IN" sz="1200" b="0" i="0" kern="1200" dirty="0">
                <a:solidFill>
                  <a:schemeClr val="tx1"/>
                </a:solidFill>
                <a:effectLst/>
                <a:latin typeface="+mn-lt"/>
                <a:ea typeface="+mn-ea"/>
                <a:cs typeface="+mn-cs"/>
              </a:rPr>
              <a:t>These platforms are highly versatile. The categories shown are illustrative. Any certified platform can be deployed across different edge environments based on your requirements.</a:t>
            </a:r>
          </a:p>
        </p:txBody>
      </p:sp>
      <p:sp>
        <p:nvSpPr>
          <p:cNvPr id="1412" name="Google Shape;1412;g395e940b0ae_0_453: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Tx/>
              <a:buSzPts val="1400"/>
              <a:buFontTx/>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Pts val="1400"/>
                <a:buFontTx/>
                <a:buNone/>
                <a:tabLst/>
                <a:defRPr/>
              </a:pPr>
              <a:t>86</a:t>
            </a:fld>
            <a:endParaRPr kumimoji="0" sz="1200" b="0" i="0" u="none" strike="noStrike" kern="1200" cap="none" spc="0" normalizeH="0" baseline="0" noProof="0">
              <a:ln>
                <a:noFill/>
              </a:ln>
              <a:solidFill>
                <a:srgbClr val="717074"/>
              </a:solidFill>
              <a:effectLst/>
              <a:uLnTx/>
              <a:uFillTx/>
              <a:latin typeface="Arial"/>
              <a:ea typeface="+mn-ea"/>
              <a:cs typeface="+mn-cs"/>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3"/>
        <p:cNvGrpSpPr/>
        <p:nvPr/>
      </p:nvGrpSpPr>
      <p:grpSpPr>
        <a:xfrm>
          <a:off x="0" y="0"/>
          <a:ext cx="0" cy="0"/>
          <a:chOff x="0" y="0"/>
          <a:chExt cx="0" cy="0"/>
        </a:xfrm>
      </p:grpSpPr>
      <p:sp>
        <p:nvSpPr>
          <p:cNvPr id="10214" name="Google Shape;10214;g3d26d4b2bfc_1_14: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15" name="Google Shape;10215;g3d26d4b2bfc_1_14:notes"/>
          <p:cNvSpPr txBox="1">
            <a:spLocks noGrp="1"/>
          </p:cNvSpPr>
          <p:nvPr>
            <p:ph type="body" idx="1"/>
          </p:nvPr>
        </p:nvSpPr>
        <p:spPr>
          <a:xfrm>
            <a:off x="457200" y="3810000"/>
            <a:ext cx="5943600" cy="48768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IN" dirty="0"/>
              <a:t>real-world manufacturing deployment </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r>
              <a:rPr lang="en-IN" dirty="0"/>
              <a:t>Let’s see a real-world manufacturing deployment to make the VCF Edge capabilities concrete.</a:t>
            </a:r>
          </a:p>
          <a:p>
            <a:endParaRPr lang="en-IN" dirty="0"/>
          </a:p>
          <a:p>
            <a:r>
              <a:rPr lang="en-IN" dirty="0"/>
              <a:t>This architecture diagram represents a typical manufacturing edge site with four production lines running mission-critical industrial control systems. On the left, you see the central data center providing centralized management through VCF Fleet, vCenter, VCF Operations, and license services. All management traffic flows over WAN/MPLS connections through the TOR network fabric.</a:t>
            </a:r>
          </a:p>
          <a:p>
            <a:endParaRPr lang="en-IN" dirty="0"/>
          </a:p>
          <a:p>
            <a:r>
              <a:rPr lang="en-IN" dirty="0"/>
              <a:t>The edge site itself is divided into two domains. First, the ESX workload domain on the left handles real-time industrial workloads using Industrial vSwitch configured in NSX, that's the specialized networking stack for deterministic, low-latency OT traffic. You see the real-time cluster with three nodes running vPLC instances on four separate VLANs: VLAN 100, 200, 300, and 400, each representing a production line. These VLANs are fully isolated for safety and operational reasons.</a:t>
            </a:r>
          </a:p>
          <a:p>
            <a:endParaRPr lang="en-IN" dirty="0"/>
          </a:p>
          <a:p>
            <a:r>
              <a:rPr lang="en-IN" dirty="0"/>
              <a:t>The non-real-time cluster on the right runs engineering VMs, MES and SCADA systems for production management, and the Historian for data collection. At the bottom, you see the management VDS and a VDS  specifically for Industrial vSwitch, running on a separate RT cluster strictly for the production floor.</a:t>
            </a:r>
          </a:p>
          <a:p>
            <a:endParaRPr lang="en-IN" dirty="0"/>
          </a:p>
          <a:p>
            <a:r>
              <a:rPr lang="en-IN" dirty="0"/>
              <a:t>On the far right, the production floor shows four lines with </a:t>
            </a:r>
            <a:r>
              <a:rPr lang="en-IN" dirty="0" err="1"/>
              <a:t>RedBox</a:t>
            </a:r>
            <a:r>
              <a:rPr lang="en-IN" dirty="0"/>
              <a:t> gateways providing protocol translation, PROFINET endpoints for industrial networking, and HMI terminals for operator interaction. Each line is network-segmented to prevent cross-contamination and ensure deterministic performance.</a:t>
            </a:r>
          </a:p>
          <a:p>
            <a:endParaRPr lang="en-IN" dirty="0"/>
          </a:p>
          <a:p>
            <a:r>
              <a:rPr lang="en-IN" dirty="0"/>
              <a:t>This is a converged infrastructure platform. Traditional manufacturing IT ran on separate systems: SCADA on one server, MES on another, vPLCs on dedicated hardware. VCF Edge consolidates all of this onto a single platform while maintaining the hard real-time guarantees required for industrial automation. And because it's VCF, the entire site is managed centrally from the data center, no on-site IT staff required.</a:t>
            </a:r>
          </a:p>
          <a:p>
            <a:pPr marL="0" lvl="0" indent="0" algn="l" rtl="0">
              <a:spcBef>
                <a:spcPts val="0"/>
              </a:spcBef>
              <a:spcAft>
                <a:spcPts val="0"/>
              </a:spcAft>
              <a:buNone/>
            </a:pPr>
            <a:endParaRPr dirty="0"/>
          </a:p>
        </p:txBody>
      </p:sp>
      <p:sp>
        <p:nvSpPr>
          <p:cNvPr id="10216" name="Google Shape;10216;g3d26d4b2bfc_1_14:notes"/>
          <p:cNvSpPr txBox="1">
            <a:spLocks noGrp="1"/>
          </p:cNvSpPr>
          <p:nvPr>
            <p:ph type="sldNum" idx="12"/>
          </p:nvPr>
        </p:nvSpPr>
        <p:spPr>
          <a:xfrm>
            <a:off x="3884613" y="8685213"/>
            <a:ext cx="2971800" cy="457200"/>
          </a:xfrm>
          <a:prstGeom prst="rect">
            <a:avLst/>
          </a:prstGeom>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87</a:t>
            </a:fld>
            <a:endParaRPr kumimoji="0" sz="1200" b="0" i="0" u="none" strike="noStrike" kern="1200" cap="none" spc="0" normalizeH="0" baseline="0" noProof="0">
              <a:ln>
                <a:noFill/>
              </a:ln>
              <a:solidFill>
                <a:srgbClr val="717074"/>
              </a:solidFill>
              <a:effectLst/>
              <a:uLnTx/>
              <a:uFillTx/>
              <a:latin typeface="Arial"/>
              <a:ea typeface="+mn-ea"/>
              <a:cs typeface="+mn-cs"/>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7"/>
        <p:cNvGrpSpPr/>
        <p:nvPr/>
      </p:nvGrpSpPr>
      <p:grpSpPr>
        <a:xfrm>
          <a:off x="0" y="0"/>
          <a:ext cx="0" cy="0"/>
          <a:chOff x="0" y="0"/>
          <a:chExt cx="0" cy="0"/>
        </a:xfrm>
      </p:grpSpPr>
      <p:sp>
        <p:nvSpPr>
          <p:cNvPr id="10208" name="Google Shape;10208;g3d26d4b2bfc_1_7: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9" name="Google Shape;10209;g3d26d4b2bfc_1_7:notes"/>
          <p:cNvSpPr txBox="1">
            <a:spLocks noGrp="1"/>
          </p:cNvSpPr>
          <p:nvPr>
            <p:ph type="body" idx="1"/>
          </p:nvPr>
        </p:nvSpPr>
        <p:spPr>
          <a:xfrm>
            <a:off x="457200" y="3810000"/>
            <a:ext cx="5943600" cy="48768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IN" dirty="0"/>
              <a:t>retail deployment</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r>
              <a:rPr lang="en-IN" dirty="0"/>
              <a:t>Now let's look at a retail deployment. This architecture shows a typical store location running on VCF Edge in a compact two-to-three ESX host configuration.</a:t>
            </a:r>
          </a:p>
          <a:p>
            <a:endParaRPr lang="en-IN" dirty="0"/>
          </a:p>
          <a:p>
            <a:r>
              <a:rPr lang="en-IN" dirty="0"/>
              <a:t>Again, the central data center on the left provides centralized management: vSAN Witness Node for two-node HA, Management Domain with VCF Operations and vCenter, NTP and DNS services, plus content library for image distribution. The witness connects over WAN/MPLS with witness and management traffic.</a:t>
            </a:r>
          </a:p>
          <a:p>
            <a:endParaRPr lang="en-IN" dirty="0"/>
          </a:p>
          <a:p>
            <a:r>
              <a:rPr lang="en-IN" dirty="0"/>
              <a:t>The retail edge site is built on a VCF Edge cluster with shared vSAN datastore across all ESX hosts. The network fabric uses a TOR switch with L2/L3 capabilities and VLAN segmentation to separate services by function.</a:t>
            </a:r>
          </a:p>
          <a:p>
            <a:endParaRPr lang="en-IN" dirty="0"/>
          </a:p>
          <a:p>
            <a:r>
              <a:rPr lang="en-IN" dirty="0"/>
              <a:t>In the middle, you see the ESX hypervisor layer and the vSphere Supervisor, which is the Kubernetes control plane running directly on ESX. This is where the container-as-a-service capability and VKS capability mentioned earlier comes into play.</a:t>
            </a:r>
          </a:p>
          <a:p>
            <a:endParaRPr lang="en-IN" dirty="0"/>
          </a:p>
          <a:p>
            <a:r>
              <a:rPr lang="en-IN" dirty="0"/>
              <a:t>The VKS clusters section shows multiple workload clusters: payment processing, pricing engine, transaction engine, and computer vision for customer experience. These pull container images from Harbor, the integrated container registry, and use </a:t>
            </a:r>
            <a:r>
              <a:rPr lang="en-IN" dirty="0" err="1"/>
              <a:t>ArgoCD</a:t>
            </a:r>
            <a:r>
              <a:rPr lang="en-IN" dirty="0"/>
              <a:t> as the GitOps operator for automated deployments. No manual app deployment at the store.</a:t>
            </a:r>
          </a:p>
          <a:p>
            <a:endParaRPr lang="en-IN" dirty="0"/>
          </a:p>
          <a:p>
            <a:r>
              <a:rPr lang="en-IN" dirty="0"/>
              <a:t>Below that, you see the retail application VMs running traditional VM-based workloads: patient profile for healthcare retail, inventory and stock management, and prescription management for pharmacy applications. These are monolithic apps that haven't been containerized yet, running alongside the modern containerized workloads on the same platform.</a:t>
            </a:r>
          </a:p>
          <a:p>
            <a:endParaRPr lang="en-IN" dirty="0"/>
          </a:p>
          <a:p>
            <a:r>
              <a:rPr lang="en-IN" dirty="0"/>
              <a:t>On the far right, the users and clients section shows what the store staff and customers interact with: self-checkout kiosks, CV and safety cameras for loss prevention and customer analytics, CX analytics for experience optimization, and pharmacy prescription management terminals.</a:t>
            </a:r>
          </a:p>
          <a:p>
            <a:endParaRPr lang="en-IN" dirty="0"/>
          </a:p>
          <a:p>
            <a:r>
              <a:rPr lang="en-IN" dirty="0"/>
              <a:t>This is operational consistency in action. Every store location runs the same VCF Edge platform. When corporate IT needs to deploy a new pricing algorithm, they push it to Git. </a:t>
            </a:r>
            <a:r>
              <a:rPr lang="en-IN" dirty="0" err="1"/>
              <a:t>ArgoCD</a:t>
            </a:r>
            <a:r>
              <a:rPr lang="en-IN" dirty="0"/>
              <a:t> detects the change and rolls it out automatically to every store in the fleet. No on-site IT, no store-by-store deployment windows.</a:t>
            </a:r>
          </a:p>
          <a:p>
            <a:pPr marL="0" lvl="0" indent="0" algn="l" rtl="0">
              <a:spcBef>
                <a:spcPts val="0"/>
              </a:spcBef>
              <a:spcAft>
                <a:spcPts val="0"/>
              </a:spcAft>
              <a:buNone/>
            </a:pPr>
            <a:endParaRPr dirty="0"/>
          </a:p>
        </p:txBody>
      </p:sp>
      <p:sp>
        <p:nvSpPr>
          <p:cNvPr id="10210" name="Google Shape;10210;g3d26d4b2bfc_1_7:notes"/>
          <p:cNvSpPr txBox="1">
            <a:spLocks noGrp="1"/>
          </p:cNvSpPr>
          <p:nvPr>
            <p:ph type="sldNum" idx="12"/>
          </p:nvPr>
        </p:nvSpPr>
        <p:spPr>
          <a:xfrm>
            <a:off x="3884613" y="8685213"/>
            <a:ext cx="2971800" cy="457200"/>
          </a:xfrm>
          <a:prstGeom prst="rect">
            <a:avLst/>
          </a:prstGeom>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88</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1"/>
        <p:cNvGrpSpPr/>
        <p:nvPr/>
      </p:nvGrpSpPr>
      <p:grpSpPr>
        <a:xfrm>
          <a:off x="0" y="0"/>
          <a:ext cx="0" cy="0"/>
          <a:chOff x="0" y="0"/>
          <a:chExt cx="0" cy="0"/>
        </a:xfrm>
      </p:grpSpPr>
      <p:sp>
        <p:nvSpPr>
          <p:cNvPr id="10202" name="Google Shape;10202;g3d26d4b2bfc_1_0: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3" name="Google Shape;10203;g3d26d4b2bfc_1_0:notes"/>
          <p:cNvSpPr txBox="1">
            <a:spLocks noGrp="1"/>
          </p:cNvSpPr>
          <p:nvPr>
            <p:ph type="body" idx="1"/>
          </p:nvPr>
        </p:nvSpPr>
        <p:spPr>
          <a:xfrm>
            <a:off x="457200" y="3810000"/>
            <a:ext cx="5943600" cy="48768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Key Message:</a:t>
            </a:r>
            <a:endParaRPr lang="en-US" b="1" dirty="0">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IN" dirty="0"/>
              <a:t>government and </a:t>
            </a:r>
            <a:r>
              <a:rPr lang="en-IN" dirty="0" err="1"/>
              <a:t>defense</a:t>
            </a:r>
            <a:r>
              <a:rPr lang="en-IN" dirty="0"/>
              <a:t> deployment</a:t>
            </a:r>
          </a:p>
          <a:p>
            <a:pPr marL="0" lvl="0" indent="0" algn="l" rtl="0">
              <a:spcBef>
                <a:spcPts val="0"/>
              </a:spcBef>
              <a:spcAft>
                <a:spcPts val="0"/>
              </a:spcAft>
              <a:buClr>
                <a:schemeClr val="dk1"/>
              </a:buClr>
              <a:buSzPts val="1200"/>
              <a:buFont typeface="Arial"/>
              <a:buNone/>
            </a:pPr>
            <a:endParaRPr lang="en-US" sz="1200" b="1" u="none" strike="noStrike" dirty="0">
              <a:solidFill>
                <a:schemeClr val="dk1"/>
              </a:solidFill>
              <a:latin typeface="+mn-lt"/>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mn-lt"/>
                <a:ea typeface="Arial"/>
                <a:cs typeface="Arial"/>
                <a:sym typeface="Arial"/>
              </a:rPr>
              <a:t>Talk Track:</a:t>
            </a:r>
            <a:endParaRPr lang="en-US" b="1" dirty="0">
              <a:latin typeface="+mn-lt"/>
              <a:ea typeface="Arial"/>
              <a:cs typeface="Arial"/>
              <a:sym typeface="Arial"/>
            </a:endParaRPr>
          </a:p>
          <a:p>
            <a:r>
              <a:rPr lang="en-IN" dirty="0"/>
              <a:t>This final reference architecture represents the most demanding edge environment: a fully disconnected, degraded, intermittent, or limited connectivity deployment for government and </a:t>
            </a:r>
            <a:r>
              <a:rPr lang="en-IN" dirty="0" err="1"/>
              <a:t>defense</a:t>
            </a:r>
            <a:r>
              <a:rPr lang="en-IN" dirty="0"/>
              <a:t> applications. This is Situation Awareness using ATAK, the Android Tactical Assault Kit used by military and first responder teams in the field.</a:t>
            </a:r>
          </a:p>
          <a:p>
            <a:endParaRPr lang="en-IN" dirty="0"/>
          </a:p>
          <a:p>
            <a:r>
              <a:rPr lang="en-IN" dirty="0"/>
              <a:t>The central data center on the left provides the management domain, but notice the connectivity model. This edge site uses a vSAN Witness Node in a two-node cluster configuration, but the witness connects over SATCOM/WAN - satellite communication, with ground station and RF uplinks providing the only connection back to central management. The link status indicator at the bottom shows three states: connected, degraded DIL, and denied or air-gap. This site must operate autonomously when connectivity is lost.</a:t>
            </a:r>
          </a:p>
          <a:p>
            <a:endParaRPr lang="en-IN" dirty="0"/>
          </a:p>
          <a:p>
            <a:r>
              <a:rPr lang="en-IN" dirty="0"/>
              <a:t>The edge site architecture mirrors the retail example but with mission-specific workloads. The DIL WAN connection uses satellite and RF uplink. The TOR network fabric uses L2/L3 with VLAN-segmented services. Two-Three ESX hosts provide the physical compute layer with vSAN datastore for shared storage.</a:t>
            </a:r>
          </a:p>
          <a:p>
            <a:endParaRPr lang="en-IN" dirty="0"/>
          </a:p>
          <a:p>
            <a:r>
              <a:rPr lang="en-IN" dirty="0"/>
              <a:t>The vSphere Supervisor runs the Kubernetes control plane with one or more VKS clusters: AI model serving for computer vision and ISR workloads, sensor fusion for integrating data from multiple sources, and ingress controller for managing external access. These workloads must continue running even when the site loses satellite connectivity.</a:t>
            </a:r>
          </a:p>
          <a:p>
            <a:endParaRPr lang="en-IN" dirty="0"/>
          </a:p>
          <a:p>
            <a:r>
              <a:rPr lang="en-IN" dirty="0"/>
              <a:t>The mission application VMs at the bottom show the tactical software stack: </a:t>
            </a:r>
            <a:r>
              <a:rPr lang="en-IN" dirty="0" err="1"/>
              <a:t>OpenTAK</a:t>
            </a:r>
            <a:r>
              <a:rPr lang="en-IN" dirty="0"/>
              <a:t> Server as the ATAK backend, Mumble for voice and PTT communication, and </a:t>
            </a:r>
            <a:r>
              <a:rPr lang="en-IN" dirty="0" err="1"/>
              <a:t>MediaMTX</a:t>
            </a:r>
            <a:r>
              <a:rPr lang="en-IN" dirty="0"/>
              <a:t> for video streaming from drones and ground sensors. These are the collaboration tools that battlefield commanders and first responders rely on.</a:t>
            </a:r>
          </a:p>
          <a:p>
            <a:endParaRPr lang="en-IN" dirty="0"/>
          </a:p>
          <a:p>
            <a:r>
              <a:rPr lang="en-IN" dirty="0"/>
              <a:t>On the far right, the users and clients section shows the field devices: enemy recognition systems using computer vision, geospatial and situational awareness displays showing the common operating picture, real-time telemetry from sensors and systems, and ATAK client devices used by personnel in the field.</a:t>
            </a:r>
          </a:p>
          <a:p>
            <a:endParaRPr lang="en-IN" dirty="0"/>
          </a:p>
          <a:p>
            <a:r>
              <a:rPr lang="en-IN" dirty="0"/>
              <a:t>The critical point here is reserved capacity licensing. This site may go weeks or months without a license check-in. In traditional licensing models, it would eventually go out of compliance and stop functioning. With VCF Edge reserved capacity, the site remains fully licensed and operational regardless of connectivity. The mission doesn't stop because of a licensing timeout.</a:t>
            </a:r>
          </a:p>
          <a:p>
            <a:endParaRPr lang="en-IN" dirty="0"/>
          </a:p>
          <a:p>
            <a:r>
              <a:rPr lang="en-IN" dirty="0"/>
              <a:t>This is VCF Edge at the extreme: supporting life-or-death decision-making in contested, disconnected environments where traditional cloud or even traditional on-premises infrastructure simply can't operate.</a:t>
            </a:r>
          </a:p>
          <a:p>
            <a:pPr marL="0" lvl="0" indent="0" algn="l" rtl="0">
              <a:spcBef>
                <a:spcPts val="0"/>
              </a:spcBef>
              <a:spcAft>
                <a:spcPts val="0"/>
              </a:spcAft>
              <a:buNone/>
            </a:pPr>
            <a:endParaRPr dirty="0"/>
          </a:p>
        </p:txBody>
      </p:sp>
      <p:sp>
        <p:nvSpPr>
          <p:cNvPr id="10204" name="Google Shape;10204;g3d26d4b2bfc_1_0:notes"/>
          <p:cNvSpPr txBox="1">
            <a:spLocks noGrp="1"/>
          </p:cNvSpPr>
          <p:nvPr>
            <p:ph type="sldNum" idx="12"/>
          </p:nvPr>
        </p:nvSpPr>
        <p:spPr>
          <a:xfrm>
            <a:off x="3884613" y="8685213"/>
            <a:ext cx="2971800" cy="457200"/>
          </a:xfrm>
          <a:prstGeom prst="rect">
            <a:avLst/>
          </a:prstGeom>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89</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36"/>
        <p:cNvGrpSpPr/>
        <p:nvPr/>
      </p:nvGrpSpPr>
      <p:grpSpPr>
        <a:xfrm>
          <a:off x="0" y="0"/>
          <a:ext cx="0" cy="0"/>
          <a:chOff x="0" y="0"/>
          <a:chExt cx="0" cy="0"/>
        </a:xfrm>
      </p:grpSpPr>
      <p:sp>
        <p:nvSpPr>
          <p:cNvPr id="15037" name="Google Shape;15037;p95: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038" name="Google Shape;15038;p9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Key Message:</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Talk Track:</a:t>
            </a:r>
            <a:endParaRPr b="1">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Notes: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a:solidFill>
                  <a:schemeClr val="dk1"/>
                </a:solidFill>
                <a:latin typeface="Arial"/>
                <a:ea typeface="Arial"/>
                <a:cs typeface="Arial"/>
                <a:sym typeface="Arial"/>
              </a:rPr>
              <a:t>Resources:</a:t>
            </a:r>
            <a:endParaRPr sz="1200" b="1"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a:latin typeface="Arial"/>
              <a:ea typeface="Arial"/>
              <a:cs typeface="Arial"/>
              <a:sym typeface="Arial"/>
            </a:endParaRPr>
          </a:p>
        </p:txBody>
      </p:sp>
      <p:sp>
        <p:nvSpPr>
          <p:cNvPr id="15039" name="Google Shape;15039;p9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u="none" strike="noStrike" cap="none">
                <a:solidFill>
                  <a:srgbClr val="717074"/>
                </a:solidFill>
              </a:rPr>
              <a:t>90</a:t>
            </a:fld>
            <a:endParaRPr sz="1200" u="none" strike="noStrike" cap="none">
              <a:solidFill>
                <a:srgbClr val="717074"/>
              </a:solidFill>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44"/>
        <p:cNvGrpSpPr/>
        <p:nvPr/>
      </p:nvGrpSpPr>
      <p:grpSpPr>
        <a:xfrm>
          <a:off x="0" y="0"/>
          <a:ext cx="0" cy="0"/>
          <a:chOff x="0" y="0"/>
          <a:chExt cx="0" cy="0"/>
        </a:xfrm>
      </p:grpSpPr>
      <p:sp>
        <p:nvSpPr>
          <p:cNvPr id="15045" name="Google Shape;15045;p96: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1975" cap="flat" cmpd="sng">
            <a:solidFill>
              <a:srgbClr val="000000"/>
            </a:solidFill>
            <a:prstDash val="solid"/>
            <a:round/>
            <a:headEnd type="none" w="sm" len="sm"/>
            <a:tailEnd type="none" w="sm" len="sm"/>
          </a:ln>
        </p:spPr>
      </p:sp>
      <p:sp>
        <p:nvSpPr>
          <p:cNvPr id="15046" name="Google Shape;15046;p96: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marR="0" lvl="0" indent="0" algn="l" rtl="0">
              <a:lnSpc>
                <a:spcPct val="115000"/>
              </a:lnSpc>
              <a:spcBef>
                <a:spcPts val="0"/>
              </a:spcBef>
              <a:spcAft>
                <a:spcPts val="0"/>
              </a:spcAft>
              <a:buClr>
                <a:schemeClr val="dk1"/>
              </a:buClr>
              <a:buSzPts val="450"/>
              <a:buFont typeface="Arial"/>
              <a:buNone/>
            </a:pPr>
            <a:r>
              <a:rPr lang="en-US" sz="1200" b="1" u="sng">
                <a:solidFill>
                  <a:schemeClr val="dk2"/>
                </a:solidFill>
                <a:latin typeface="Arial"/>
                <a:ea typeface="Arial"/>
                <a:cs typeface="Arial"/>
                <a:sym typeface="Arial"/>
              </a:rPr>
              <a:t>Key Message:</a:t>
            </a:r>
            <a:endParaRPr/>
          </a:p>
          <a:p>
            <a:pPr marL="0" marR="0" lvl="0" indent="0" algn="l" rtl="0">
              <a:lnSpc>
                <a:spcPct val="115000"/>
              </a:lnSpc>
              <a:spcBef>
                <a:spcPts val="0"/>
              </a:spcBef>
              <a:spcAft>
                <a:spcPts val="0"/>
              </a:spcAft>
              <a:buClr>
                <a:schemeClr val="dk1"/>
              </a:buClr>
              <a:buSzPts val="450"/>
              <a:buFont typeface="Arial"/>
              <a:buNone/>
            </a:pPr>
            <a:r>
              <a:rPr lang="en-US"/>
              <a:t>In short, VCF 9.x enables IT to deliver a self-service private cloud for application teams to build, run, and manage all types of applications on a single platform.</a:t>
            </a:r>
            <a:endParaRPr/>
          </a:p>
          <a:p>
            <a:pPr marL="0" marR="0" lvl="0" indent="0" algn="l" rtl="0">
              <a:lnSpc>
                <a:spcPct val="115000"/>
              </a:lnSpc>
              <a:spcBef>
                <a:spcPts val="0"/>
              </a:spcBef>
              <a:spcAft>
                <a:spcPts val="0"/>
              </a:spcAft>
              <a:buClr>
                <a:schemeClr val="dk1"/>
              </a:buClr>
              <a:buSzPts val="450"/>
              <a:buFont typeface="Arial"/>
              <a:buNone/>
            </a:pPr>
            <a:endParaRPr sz="1200" b="1" u="sng">
              <a:solidFill>
                <a:schemeClr val="dk2"/>
              </a:solidFill>
              <a:latin typeface="Arial"/>
              <a:ea typeface="Arial"/>
              <a:cs typeface="Arial"/>
              <a:sym typeface="Arial"/>
            </a:endParaRPr>
          </a:p>
          <a:p>
            <a:pPr marL="0" marR="0" lvl="0" indent="0" algn="l" rtl="0">
              <a:lnSpc>
                <a:spcPct val="115000"/>
              </a:lnSpc>
              <a:spcBef>
                <a:spcPts val="0"/>
              </a:spcBef>
              <a:spcAft>
                <a:spcPts val="0"/>
              </a:spcAft>
              <a:buClr>
                <a:schemeClr val="dk1"/>
              </a:buClr>
              <a:buSzPts val="450"/>
              <a:buFont typeface="Arial"/>
              <a:buNone/>
            </a:pPr>
            <a:r>
              <a:rPr lang="en-US" sz="1200" b="1" u="sng">
                <a:solidFill>
                  <a:schemeClr val="dk2"/>
                </a:solidFill>
                <a:latin typeface="Arial"/>
                <a:ea typeface="Arial"/>
                <a:cs typeface="Arial"/>
                <a:sym typeface="Arial"/>
              </a:rPr>
              <a:t>Talk Track:</a:t>
            </a:r>
            <a:endParaRPr sz="1200" u="sng">
              <a:solidFill>
                <a:schemeClr val="dk2"/>
              </a:solidFill>
            </a:endParaRPr>
          </a:p>
          <a:p>
            <a:pPr marL="0" lvl="0" indent="0" algn="l" rtl="0">
              <a:spcBef>
                <a:spcPts val="0"/>
              </a:spcBef>
              <a:spcAft>
                <a:spcPts val="0"/>
              </a:spcAft>
              <a:buClr>
                <a:schemeClr val="dk1"/>
              </a:buClr>
              <a:buSzPts val="1200"/>
              <a:buFont typeface="Arial"/>
              <a:buNone/>
            </a:pPr>
            <a:r>
              <a:rPr lang="en-US"/>
              <a:t>In short, VCF 9.x enables IT to deliver a self-service private cloud for application teams to build, run, and manage all types of applications on a single platform.</a:t>
            </a:r>
            <a:endParaRPr/>
          </a:p>
          <a:p>
            <a:pPr marL="0" lvl="0" indent="0" algn="l" rtl="0">
              <a:spcBef>
                <a:spcPts val="0"/>
              </a:spcBef>
              <a:spcAft>
                <a:spcPts val="0"/>
              </a:spcAft>
              <a:buClr>
                <a:schemeClr val="dk1"/>
              </a:buClr>
              <a:buSzPts val="1200"/>
              <a:buFont typeface="Arial"/>
              <a:buNone/>
            </a:pPr>
            <a:endParaRPr sz="1200"/>
          </a:p>
          <a:p>
            <a:pPr marL="0" lvl="0" indent="0" algn="l" rtl="0">
              <a:spcBef>
                <a:spcPts val="0"/>
              </a:spcBef>
              <a:spcAft>
                <a:spcPts val="0"/>
              </a:spcAft>
              <a:buClr>
                <a:schemeClr val="dk1"/>
              </a:buClr>
              <a:buSzPts val="1200"/>
              <a:buFont typeface="Arial"/>
              <a:buNone/>
            </a:pPr>
            <a:r>
              <a:rPr lang="en-US" sz="1200"/>
              <a:t>This groundbreaking release brings a host of new cloud infrastructure automation capabilities t</a:t>
            </a:r>
            <a:r>
              <a:rPr lang="en-US"/>
              <a:t>hat can help inexperienced VI Admins evolve into an Enterprise IT Admin (Cloud Admin), a Provider (of IT Services).</a:t>
            </a:r>
            <a:endParaRPr/>
          </a:p>
          <a:p>
            <a:pPr marL="0" lvl="0" indent="0" algn="l" rtl="0">
              <a:spcBef>
                <a:spcPts val="0"/>
              </a:spcBef>
              <a:spcAft>
                <a:spcPts val="0"/>
              </a:spcAft>
              <a:buClr>
                <a:schemeClr val="dk1"/>
              </a:buClr>
              <a:buSzPts val="1200"/>
              <a:buFont typeface="Arial"/>
              <a:buNone/>
            </a:pPr>
            <a:endParaRPr/>
          </a:p>
          <a:p>
            <a:pPr marL="0" lvl="0" indent="0" algn="l" rtl="0">
              <a:spcBef>
                <a:spcPts val="0"/>
              </a:spcBef>
              <a:spcAft>
                <a:spcPts val="0"/>
              </a:spcAft>
              <a:buClr>
                <a:schemeClr val="dk1"/>
              </a:buClr>
              <a:buSzPts val="1200"/>
              <a:buFont typeface="Arial"/>
              <a:buNone/>
            </a:pPr>
            <a:r>
              <a:rPr lang="en-US"/>
              <a:t>You can deliver a unified cloud consumption experience to your Consumers, the application teams, including developers and DevOps engineers, through the solution’s Modern Cloud Interface and enable them with Infrastructure as Code, Private AI Automation, and Orchestration &amp; Extensibility.  </a:t>
            </a:r>
            <a:endParaRPr/>
          </a:p>
          <a:p>
            <a:pPr marL="0" lvl="0" indent="0" algn="l" rtl="0">
              <a:spcBef>
                <a:spcPts val="0"/>
              </a:spcBef>
              <a:spcAft>
                <a:spcPts val="0"/>
              </a:spcAft>
              <a:buClr>
                <a:schemeClr val="dk1"/>
              </a:buClr>
              <a:buSzPts val="1200"/>
              <a:buFont typeface="Arial"/>
              <a:buNone/>
            </a:pPr>
            <a:endParaRPr/>
          </a:p>
          <a:p>
            <a:pPr marL="0" lvl="0" indent="0" algn="l" rtl="0">
              <a:spcBef>
                <a:spcPts val="0"/>
              </a:spcBef>
              <a:spcAft>
                <a:spcPts val="0"/>
              </a:spcAft>
              <a:buClr>
                <a:schemeClr val="dk1"/>
              </a:buClr>
              <a:buSzPts val="1200"/>
              <a:buFont typeface="Arial"/>
              <a:buNone/>
            </a:pPr>
            <a:r>
              <a:rPr lang="en-US"/>
              <a:t>Application teams are no longer forced to worry about the intricacies of the underlying infrastructure and can focus on application development. </a:t>
            </a:r>
            <a:endParaRPr/>
          </a:p>
          <a:p>
            <a:pPr marL="0" lvl="0" indent="0" algn="l" rtl="0">
              <a:spcBef>
                <a:spcPts val="0"/>
              </a:spcBef>
              <a:spcAft>
                <a:spcPts val="0"/>
              </a:spcAft>
              <a:buClr>
                <a:schemeClr val="dk1"/>
              </a:buClr>
              <a:buSzPts val="1200"/>
              <a:buFont typeface="Arial"/>
              <a:buNone/>
            </a:pPr>
            <a:endParaRPr/>
          </a:p>
          <a:p>
            <a:pPr marL="0" lvl="0" indent="0" algn="l" rtl="0">
              <a:spcBef>
                <a:spcPts val="0"/>
              </a:spcBef>
              <a:spcAft>
                <a:spcPts val="0"/>
              </a:spcAft>
              <a:buClr>
                <a:schemeClr val="dk1"/>
              </a:buClr>
              <a:buSzPts val="1200"/>
              <a:buFont typeface="Arial"/>
              <a:buNone/>
            </a:pPr>
            <a:r>
              <a:rPr lang="en-US"/>
              <a:t>It accomplishes this in a secure private cloud environment, complete with governance &amp; policies, tenant management, content management, and workload lifecycle management to help you scale cloud governance.</a:t>
            </a:r>
            <a:endParaRPr/>
          </a:p>
          <a:p>
            <a:pPr marL="0" lvl="0" indent="0" algn="l" rtl="0">
              <a:spcBef>
                <a:spcPts val="0"/>
              </a:spcBef>
              <a:spcAft>
                <a:spcPts val="0"/>
              </a:spcAft>
              <a:buClr>
                <a:schemeClr val="dk1"/>
              </a:buClr>
              <a:buSzPts val="1200"/>
              <a:buFont typeface="Arial"/>
              <a:buNone/>
            </a:pPr>
            <a:endParaRPr/>
          </a:p>
          <a:p>
            <a:pPr marL="0" lvl="0" indent="0" algn="l" rtl="0">
              <a:spcBef>
                <a:spcPts val="0"/>
              </a:spcBef>
              <a:spcAft>
                <a:spcPts val="0"/>
              </a:spcAft>
              <a:buClr>
                <a:schemeClr val="dk1"/>
              </a:buClr>
              <a:buSzPts val="1200"/>
              <a:buFont typeface="Arial"/>
              <a:buNone/>
            </a:pPr>
            <a:endParaRPr/>
          </a:p>
        </p:txBody>
      </p:sp>
      <p:sp>
        <p:nvSpPr>
          <p:cNvPr id="15047" name="Google Shape;15047;p96:notes"/>
          <p:cNvSpPr txBox="1">
            <a:spLocks noGrp="1"/>
          </p:cNvSpPr>
          <p:nvPr>
            <p:ph type="sldNum" idx="12"/>
          </p:nvPr>
        </p:nvSpPr>
        <p:spPr>
          <a:xfrm>
            <a:off x="3884613" y="8685213"/>
            <a:ext cx="2971800" cy="457200"/>
          </a:xfrm>
          <a:prstGeom prst="rect">
            <a:avLst/>
          </a:prstGeom>
          <a:noFill/>
          <a:ln>
            <a:noFill/>
          </a:ln>
        </p:spPr>
        <p:txBody>
          <a:bodyPr spcFirstLastPara="1" wrap="square" lIns="91100" tIns="45550" rIns="91100" bIns="4555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400" b="0" i="0" u="none" strike="noStrike" cap="none">
                <a:solidFill>
                  <a:srgbClr val="000000"/>
                </a:solidFill>
                <a:latin typeface="Arial"/>
                <a:ea typeface="Arial"/>
                <a:cs typeface="Arial"/>
                <a:sym typeface="Arial"/>
              </a:rPr>
              <a:t>91</a:t>
            </a:fld>
            <a:endParaRPr sz="14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31"/>
        <p:cNvGrpSpPr/>
        <p:nvPr/>
      </p:nvGrpSpPr>
      <p:grpSpPr>
        <a:xfrm>
          <a:off x="0" y="0"/>
          <a:ext cx="0" cy="0"/>
          <a:chOff x="0" y="0"/>
          <a:chExt cx="0" cy="0"/>
        </a:xfrm>
      </p:grpSpPr>
      <p:sp>
        <p:nvSpPr>
          <p:cNvPr id="15132" name="Google Shape;15132;p97: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450"/>
              <a:buFont typeface="Arial"/>
              <a:buNone/>
            </a:pPr>
            <a:r>
              <a:rPr lang="en-US" sz="1400" b="1" u="sng">
                <a:solidFill>
                  <a:schemeClr val="dk2"/>
                </a:solidFill>
              </a:rPr>
              <a:t>Key Message:</a:t>
            </a:r>
            <a:endParaRPr sz="1400" b="1" u="sng">
              <a:solidFill>
                <a:schemeClr val="dk2"/>
              </a:solidFill>
            </a:endParaRPr>
          </a:p>
          <a:p>
            <a:pPr marL="0" lvl="0" indent="0" algn="l" rtl="0">
              <a:lnSpc>
                <a:spcPct val="115000"/>
              </a:lnSpc>
              <a:spcBef>
                <a:spcPts val="0"/>
              </a:spcBef>
              <a:spcAft>
                <a:spcPts val="0"/>
              </a:spcAft>
              <a:buClr>
                <a:schemeClr val="dk1"/>
              </a:buClr>
              <a:buSzPts val="450"/>
              <a:buFont typeface="Arial"/>
              <a:buNone/>
            </a:pPr>
            <a:endParaRPr sz="1400" b="1" u="sng">
              <a:solidFill>
                <a:schemeClr val="dk2"/>
              </a:solidFill>
            </a:endParaRPr>
          </a:p>
          <a:p>
            <a:pPr marL="0" lvl="0" indent="0" algn="l" rtl="0">
              <a:lnSpc>
                <a:spcPct val="115000"/>
              </a:lnSpc>
              <a:spcBef>
                <a:spcPts val="0"/>
              </a:spcBef>
              <a:spcAft>
                <a:spcPts val="0"/>
              </a:spcAft>
              <a:buClr>
                <a:schemeClr val="dk1"/>
              </a:buClr>
              <a:buSzPts val="450"/>
              <a:buFont typeface="Arial"/>
              <a:buNone/>
            </a:pPr>
            <a:r>
              <a:rPr lang="en-US" sz="1400">
                <a:solidFill>
                  <a:schemeClr val="dk2"/>
                </a:solidFill>
              </a:rPr>
              <a:t>VCF Automation provides a set of private cloud services for VCFcustomers for their applications across the Organization.</a:t>
            </a:r>
            <a:endParaRPr sz="1600" b="1">
              <a:solidFill>
                <a:schemeClr val="dk2"/>
              </a:solidFill>
            </a:endParaRPr>
          </a:p>
          <a:p>
            <a:pPr marL="0" lvl="0" indent="0" algn="l" rtl="0">
              <a:lnSpc>
                <a:spcPct val="115000"/>
              </a:lnSpc>
              <a:spcBef>
                <a:spcPts val="0"/>
              </a:spcBef>
              <a:spcAft>
                <a:spcPts val="0"/>
              </a:spcAft>
              <a:buClr>
                <a:schemeClr val="dk1"/>
              </a:buClr>
              <a:buSzPts val="450"/>
              <a:buFont typeface="Arial"/>
              <a:buNone/>
            </a:pPr>
            <a:endParaRPr sz="1400" b="1">
              <a:solidFill>
                <a:schemeClr val="dk2"/>
              </a:solidFill>
            </a:endParaRPr>
          </a:p>
          <a:p>
            <a:pPr marL="0" lvl="0" indent="0" algn="l" rtl="0">
              <a:lnSpc>
                <a:spcPct val="115000"/>
              </a:lnSpc>
              <a:spcBef>
                <a:spcPts val="0"/>
              </a:spcBef>
              <a:spcAft>
                <a:spcPts val="0"/>
              </a:spcAft>
              <a:buClr>
                <a:schemeClr val="dk1"/>
              </a:buClr>
              <a:buSzPts val="450"/>
              <a:buFont typeface="Arial"/>
              <a:buNone/>
            </a:pPr>
            <a:r>
              <a:rPr lang="en-US" sz="1400" b="1" u="sng">
                <a:solidFill>
                  <a:schemeClr val="dk2"/>
                </a:solidFill>
              </a:rPr>
              <a:t>Talk Track:</a:t>
            </a:r>
            <a:endParaRPr sz="1400" b="1" u="sng">
              <a:solidFill>
                <a:schemeClr val="dk2"/>
              </a:solidFill>
            </a:endParaRPr>
          </a:p>
          <a:p>
            <a:pPr marL="0" lvl="0" indent="0" algn="l" rtl="0">
              <a:lnSpc>
                <a:spcPct val="115000"/>
              </a:lnSpc>
              <a:spcBef>
                <a:spcPts val="0"/>
              </a:spcBef>
              <a:spcAft>
                <a:spcPts val="0"/>
              </a:spcAft>
              <a:buClr>
                <a:schemeClr val="dk1"/>
              </a:buClr>
              <a:buSzPts val="450"/>
              <a:buFont typeface="Arial"/>
              <a:buNone/>
            </a:pPr>
            <a:endParaRPr sz="1400" b="1" u="sng">
              <a:solidFill>
                <a:schemeClr val="dk2"/>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Modern Runtime Enablement empowers Consumers. </a:t>
            </a:r>
            <a:r>
              <a:rPr lang="en-US" sz="1000">
                <a:solidFill>
                  <a:srgbClr val="717074"/>
                </a:solidFill>
              </a:rPr>
              <a:t>Consumers within their </a:t>
            </a:r>
            <a:r>
              <a:rPr lang="en-US" sz="1000" b="1">
                <a:solidFill>
                  <a:srgbClr val="717074"/>
                </a:solidFill>
              </a:rPr>
              <a:t>vSphere Namespace</a:t>
            </a:r>
            <a:r>
              <a:rPr lang="en-US" sz="1000">
                <a:solidFill>
                  <a:srgbClr val="717074"/>
                </a:solidFill>
              </a:rPr>
              <a:t> have the flexibility to select and deploy workloads using </a:t>
            </a:r>
            <a:r>
              <a:rPr lang="en-US" sz="1000" b="1">
                <a:solidFill>
                  <a:srgbClr val="717074"/>
                </a:solidFill>
              </a:rPr>
              <a:t>three modern runtimes</a:t>
            </a:r>
            <a:r>
              <a:rPr lang="en-US" sz="1000">
                <a:solidFill>
                  <a:srgbClr val="717074"/>
                </a:solidFill>
              </a:rPr>
              <a:t>:</a:t>
            </a: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VKS</a:t>
            </a:r>
            <a:r>
              <a:rPr lang="en-US" sz="1000">
                <a:solidFill>
                  <a:srgbClr val="717074"/>
                </a:solidFill>
              </a:rPr>
              <a:t> – Deploy conformant Kubernetes clusters to run cloud-native applications. </a:t>
            </a:r>
            <a:r>
              <a:rPr lang="en-US" sz="1000" b="1">
                <a:solidFill>
                  <a:srgbClr val="717074"/>
                </a:solidFill>
              </a:rPr>
              <a:t>Virtual Machines (VMs)</a:t>
            </a:r>
            <a:r>
              <a:rPr lang="en-US" sz="1000">
                <a:solidFill>
                  <a:srgbClr val="717074"/>
                </a:solidFill>
              </a:rPr>
              <a:t> – Launch VMs with support for </a:t>
            </a:r>
            <a:r>
              <a:rPr lang="en-US" sz="1000" b="1">
                <a:solidFill>
                  <a:srgbClr val="717074"/>
                </a:solidFill>
              </a:rPr>
              <a:t>cloud-init</a:t>
            </a:r>
            <a:r>
              <a:rPr lang="en-US" sz="1000">
                <a:solidFill>
                  <a:srgbClr val="717074"/>
                </a:solidFill>
              </a:rPr>
              <a:t>, enabling post-install customization. </a:t>
            </a:r>
            <a:r>
              <a:rPr lang="en-US" sz="1000" b="1">
                <a:solidFill>
                  <a:srgbClr val="717074"/>
                </a:solidFill>
              </a:rPr>
              <a:t>vSphere Pods</a:t>
            </a:r>
            <a:r>
              <a:rPr lang="en-US" sz="1000">
                <a:solidFill>
                  <a:srgbClr val="717074"/>
                </a:solidFill>
              </a:rPr>
              <a:t> – Deploy containers using a lightweight, secure, and high-performance container runtime. This offers complete isolation with </a:t>
            </a:r>
            <a:r>
              <a:rPr lang="en-US" sz="1000" b="1">
                <a:solidFill>
                  <a:srgbClr val="717074"/>
                </a:solidFill>
              </a:rPr>
              <a:t>no shared kernel</a:t>
            </a:r>
            <a:r>
              <a:rPr lang="en-US" sz="1000">
                <a:solidFill>
                  <a:srgbClr val="717074"/>
                </a:solidFill>
              </a:rPr>
              <a:t>, effectively eliminating the concept of a noisy neighbor.</a:t>
            </a: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Integrated Infrastructure Services provide a modern architecture. </a:t>
            </a:r>
            <a:r>
              <a:rPr lang="en-US" sz="1000">
                <a:solidFill>
                  <a:srgbClr val="717074"/>
                </a:solidFill>
              </a:rPr>
              <a:t>Alongside these runtimes, three core infrastructure service categories provide deep integration and support:</a:t>
            </a: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Load Balancing </a:t>
            </a:r>
            <a:r>
              <a:rPr lang="en-US" sz="1100">
                <a:solidFill>
                  <a:srgbClr val="717074"/>
                </a:solidFill>
              </a:rPr>
              <a:t>- </a:t>
            </a:r>
            <a:r>
              <a:rPr lang="en-US" sz="1000">
                <a:solidFill>
                  <a:srgbClr val="717074"/>
                </a:solidFill>
              </a:rPr>
              <a:t>Built-in </a:t>
            </a:r>
            <a:r>
              <a:rPr lang="en-US" sz="1000" b="1">
                <a:solidFill>
                  <a:srgbClr val="717074"/>
                </a:solidFill>
              </a:rPr>
              <a:t>L4 load balancing</a:t>
            </a:r>
            <a:r>
              <a:rPr lang="en-US" sz="1000">
                <a:solidFill>
                  <a:srgbClr val="717074"/>
                </a:solidFill>
              </a:rPr>
              <a:t> across all runtime types. </a:t>
            </a:r>
            <a:r>
              <a:rPr lang="en-US" sz="1000" b="1">
                <a:solidFill>
                  <a:srgbClr val="717074"/>
                </a:solidFill>
              </a:rPr>
              <a:t>Networking </a:t>
            </a:r>
            <a:r>
              <a:rPr lang="en-US" sz="1000">
                <a:solidFill>
                  <a:srgbClr val="717074"/>
                </a:solidFill>
              </a:rPr>
              <a:t>support for the </a:t>
            </a:r>
            <a:r>
              <a:rPr lang="en-US" sz="1000" b="1">
                <a:solidFill>
                  <a:srgbClr val="717074"/>
                </a:solidFill>
              </a:rPr>
              <a:t>Virtual Private Cloud (VPC)</a:t>
            </a:r>
            <a:r>
              <a:rPr lang="en-US" sz="1000">
                <a:solidFill>
                  <a:srgbClr val="717074"/>
                </a:solidFill>
              </a:rPr>
              <a:t> network model, allowing consumers to leverage subnets</a:t>
            </a:r>
            <a:r>
              <a:rPr lang="en-US" sz="1100">
                <a:solidFill>
                  <a:srgbClr val="717074"/>
                </a:solidFill>
              </a:rPr>
              <a:t>: </a:t>
            </a:r>
            <a:r>
              <a:rPr lang="en-US" sz="1000" b="1">
                <a:solidFill>
                  <a:srgbClr val="717074"/>
                </a:solidFill>
              </a:rPr>
              <a:t>Private Subnets - not routable outside the VPC</a:t>
            </a:r>
            <a:r>
              <a:rPr lang="en-US" sz="1100">
                <a:solidFill>
                  <a:srgbClr val="717074"/>
                </a:solidFill>
              </a:rPr>
              <a:t> | </a:t>
            </a:r>
            <a:r>
              <a:rPr lang="en-US" sz="1000" b="1">
                <a:solidFill>
                  <a:srgbClr val="717074"/>
                </a:solidFill>
              </a:rPr>
              <a:t>Private internal Subnet - routable only within the Organization boundary defined via Tenant Transit Gateway </a:t>
            </a:r>
            <a:r>
              <a:rPr lang="en-US" sz="1100">
                <a:solidFill>
                  <a:srgbClr val="717074"/>
                </a:solidFill>
              </a:rPr>
              <a:t> | </a:t>
            </a:r>
            <a:r>
              <a:rPr lang="en-US" sz="1000" b="1">
                <a:solidFill>
                  <a:srgbClr val="717074"/>
                </a:solidFill>
              </a:rPr>
              <a:t>Public Subnet - Public-facing networks</a:t>
            </a:r>
            <a:r>
              <a:rPr lang="en-US" sz="1000">
                <a:solidFill>
                  <a:srgbClr val="717074"/>
                </a:solidFill>
              </a:rPr>
              <a:t> within the enterprise footprint, using flexible subnetting.</a:t>
            </a: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Storage </a:t>
            </a:r>
            <a:r>
              <a:rPr lang="en-US" sz="1000">
                <a:solidFill>
                  <a:srgbClr val="717074"/>
                </a:solidFill>
              </a:rPr>
              <a:t>Integration with vSAN and 3</a:t>
            </a:r>
            <a:r>
              <a:rPr lang="en-US" sz="1700" baseline="30000">
                <a:solidFill>
                  <a:srgbClr val="717074"/>
                </a:solidFill>
              </a:rPr>
              <a:t>rd</a:t>
            </a:r>
            <a:r>
              <a:rPr lang="en-US" sz="1000">
                <a:solidFill>
                  <a:srgbClr val="717074"/>
                </a:solidFill>
              </a:rPr>
              <a:t> Party Storage vendors. Support for </a:t>
            </a:r>
            <a:r>
              <a:rPr lang="en-US" sz="1000" b="1">
                <a:solidFill>
                  <a:srgbClr val="717074"/>
                </a:solidFill>
              </a:rPr>
              <a:t>Persistent Volume Claims</a:t>
            </a:r>
            <a:r>
              <a:rPr lang="en-US" sz="1000">
                <a:solidFill>
                  <a:srgbClr val="717074"/>
                </a:solidFill>
              </a:rPr>
              <a:t> (PVCs), including, </a:t>
            </a:r>
            <a:r>
              <a:rPr lang="en-US" sz="1000" b="1">
                <a:solidFill>
                  <a:srgbClr val="717074"/>
                </a:solidFill>
              </a:rPr>
              <a:t>ReadWriteOnce (RWO) | ReadWriteMany (RWX)</a:t>
            </a:r>
            <a:r>
              <a:rPr lang="en-US" sz="1000">
                <a:solidFill>
                  <a:srgbClr val="717074"/>
                </a:solidFill>
              </a:rPr>
              <a:t> access modes | Access to multiple storage classes based on performance and availability requirements.</a:t>
            </a: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Other VCF Services</a:t>
            </a:r>
            <a:endParaRPr sz="1000" b="1">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a:solidFill>
                  <a:srgbClr val="717074"/>
                </a:solidFill>
              </a:rPr>
              <a:t>Consumers also have the ability to leverage many services available through a single declarative API (Supervisor API) which can be access to additional capabilities during or after workload deployment:</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1.</a:t>
            </a:r>
            <a:r>
              <a:rPr lang="en-US" sz="1000" b="1">
                <a:solidFill>
                  <a:srgbClr val="717074"/>
                </a:solidFill>
              </a:rPr>
              <a:t>Multi-cluster Kubernetes management</a:t>
            </a:r>
            <a:endParaRPr sz="1000" b="1">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2.</a:t>
            </a:r>
            <a:r>
              <a:rPr lang="en-US" sz="1000" b="1">
                <a:solidFill>
                  <a:srgbClr val="717074"/>
                </a:solidFill>
              </a:rPr>
              <a:t>Private container registries</a:t>
            </a:r>
            <a:r>
              <a:rPr lang="en-US" sz="1000">
                <a:solidFill>
                  <a:srgbClr val="717074"/>
                </a:solidFill>
              </a:rPr>
              <a:t> for hosting OCI-compliant images</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3.</a:t>
            </a:r>
            <a:r>
              <a:rPr lang="en-US" sz="1000" b="1">
                <a:solidFill>
                  <a:srgbClr val="717074"/>
                </a:solidFill>
              </a:rPr>
              <a:t>Service mesh integration</a:t>
            </a:r>
            <a:r>
              <a:rPr lang="en-US" sz="1000">
                <a:solidFill>
                  <a:srgbClr val="717074"/>
                </a:solidFill>
              </a:rPr>
              <a:t> for simplifying service-to-service communication and observability</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4.</a:t>
            </a:r>
            <a:r>
              <a:rPr lang="en-US" sz="1000" b="1">
                <a:solidFill>
                  <a:srgbClr val="717074"/>
                </a:solidFill>
              </a:rPr>
              <a:t>Backup and restore</a:t>
            </a:r>
            <a:r>
              <a:rPr lang="en-US" sz="1000">
                <a:solidFill>
                  <a:srgbClr val="717074"/>
                </a:solidFill>
              </a:rPr>
              <a:t> using integrated </a:t>
            </a:r>
            <a:r>
              <a:rPr lang="en-US" sz="1000" b="1">
                <a:solidFill>
                  <a:srgbClr val="717074"/>
                </a:solidFill>
              </a:rPr>
              <a:t>Velero-based</a:t>
            </a:r>
            <a:r>
              <a:rPr lang="en-US" sz="1000">
                <a:solidFill>
                  <a:srgbClr val="717074"/>
                </a:solidFill>
              </a:rPr>
              <a:t> services</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5.</a:t>
            </a:r>
            <a:r>
              <a:rPr lang="en-US" sz="1000" b="1">
                <a:solidFill>
                  <a:srgbClr val="717074"/>
                </a:solidFill>
              </a:rPr>
              <a:t>GitOps workflows</a:t>
            </a:r>
            <a:r>
              <a:rPr lang="en-US" sz="1000">
                <a:solidFill>
                  <a:srgbClr val="717074"/>
                </a:solidFill>
              </a:rPr>
              <a:t> using consumer-deployed </a:t>
            </a:r>
            <a:r>
              <a:rPr lang="en-US" sz="1000" b="1">
                <a:solidFill>
                  <a:srgbClr val="717074"/>
                </a:solidFill>
              </a:rPr>
              <a:t>Argo CD</a:t>
            </a:r>
            <a:r>
              <a:rPr lang="en-US" sz="1000">
                <a:solidFill>
                  <a:srgbClr val="717074"/>
                </a:solidFill>
              </a:rPr>
              <a:t>, fully compatible with Supervisor-based deployments</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6.</a:t>
            </a:r>
            <a:r>
              <a:rPr lang="en-US" sz="1000" b="1">
                <a:solidFill>
                  <a:srgbClr val="717074"/>
                </a:solidFill>
              </a:rPr>
              <a:t>Secrets Management</a:t>
            </a:r>
            <a:r>
              <a:rPr lang="en-US" sz="1000">
                <a:solidFill>
                  <a:srgbClr val="717074"/>
                </a:solidFill>
              </a:rPr>
              <a:t> – Secure storage and lifecycle management of sensitive data.</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7.</a:t>
            </a:r>
            <a:r>
              <a:rPr lang="en-US" sz="1000" b="1">
                <a:solidFill>
                  <a:srgbClr val="717074"/>
                </a:solidFill>
              </a:rPr>
              <a:t>Policy Service</a:t>
            </a:r>
            <a:r>
              <a:rPr lang="en-US" sz="1000">
                <a:solidFill>
                  <a:srgbClr val="717074"/>
                </a:solidFill>
              </a:rPr>
              <a:t> – Define and enforce organizational policies for compliance, security, and operational governance.</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8.</a:t>
            </a:r>
            <a:r>
              <a:rPr lang="en-US" sz="1000" b="1">
                <a:solidFill>
                  <a:srgbClr val="717074"/>
                </a:solidFill>
              </a:rPr>
              <a:t>Self-managed databases or object stores</a:t>
            </a:r>
            <a:r>
              <a:rPr lang="en-US" sz="1000">
                <a:solidFill>
                  <a:srgbClr val="717074"/>
                </a:solidFill>
              </a:rPr>
              <a:t>, or </a:t>
            </a:r>
            <a:r>
              <a:rPr lang="en-US" sz="1000" b="1">
                <a:solidFill>
                  <a:srgbClr val="717074"/>
                </a:solidFill>
              </a:rPr>
              <a:t>Managed services</a:t>
            </a:r>
            <a:r>
              <a:rPr lang="en-US" sz="1000">
                <a:solidFill>
                  <a:srgbClr val="717074"/>
                </a:solidFill>
              </a:rPr>
              <a:t> provided within the platform ecosystem.</a:t>
            </a:r>
            <a:endParaRPr sz="1000">
              <a:solidFill>
                <a:srgbClr val="717074"/>
              </a:solidFill>
            </a:endParaRPr>
          </a:p>
          <a:p>
            <a:pPr marL="12700" lvl="0" indent="0" algn="l" rtl="0">
              <a:lnSpc>
                <a:spcPct val="60000"/>
              </a:lnSpc>
              <a:spcBef>
                <a:spcPts val="0"/>
              </a:spcBef>
              <a:spcAft>
                <a:spcPts val="0"/>
              </a:spcAft>
              <a:buClr>
                <a:schemeClr val="dk1"/>
              </a:buClr>
              <a:buSzPts val="1100"/>
              <a:buFont typeface="Arial"/>
              <a:buNone/>
            </a:pPr>
            <a:r>
              <a:rPr lang="en-US" sz="1100">
                <a:solidFill>
                  <a:srgbClr val="717074"/>
                </a:solidFill>
              </a:rPr>
              <a:t>9.</a:t>
            </a:r>
            <a:r>
              <a:rPr lang="en-US" sz="1000" b="1">
                <a:solidFill>
                  <a:srgbClr val="717074"/>
                </a:solidFill>
              </a:rPr>
              <a:t>AI-powered services</a:t>
            </a:r>
            <a:r>
              <a:rPr lang="en-US" sz="1000">
                <a:solidFill>
                  <a:srgbClr val="717074"/>
                </a:solidFill>
              </a:rPr>
              <a:t>, delivering an </a:t>
            </a:r>
            <a:r>
              <a:rPr lang="en-US" sz="1000" b="1">
                <a:solidFill>
                  <a:srgbClr val="717074"/>
                </a:solidFill>
              </a:rPr>
              <a:t>out-of-the-box (OOTB) experience</a:t>
            </a:r>
            <a:r>
              <a:rPr lang="en-US" sz="1000">
                <a:solidFill>
                  <a:srgbClr val="717074"/>
                </a:solidFill>
              </a:rPr>
              <a:t> to jumpstart their </a:t>
            </a:r>
            <a:r>
              <a:rPr lang="en-US" sz="1000" b="1">
                <a:solidFill>
                  <a:srgbClr val="717074"/>
                </a:solidFill>
              </a:rPr>
              <a:t>GenAI journey</a:t>
            </a:r>
            <a:r>
              <a:rPr lang="en-US" sz="1000">
                <a:solidFill>
                  <a:srgbClr val="717074"/>
                </a:solidFill>
              </a:rPr>
              <a:t> with real, tangible use cases.</a:t>
            </a:r>
            <a:endParaRPr sz="1000">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b="1">
                <a:solidFill>
                  <a:srgbClr val="717074"/>
                </a:solidFill>
              </a:rPr>
              <a:t>A Consistent, Extensible API Experience</a:t>
            </a:r>
            <a:endParaRPr sz="1000" b="1">
              <a:solidFill>
                <a:srgbClr val="717074"/>
              </a:solidFill>
            </a:endParaRPr>
          </a:p>
          <a:p>
            <a:pPr marL="0" lvl="0" indent="0" algn="l" rtl="0">
              <a:lnSpc>
                <a:spcPct val="60000"/>
              </a:lnSpc>
              <a:spcBef>
                <a:spcPts val="0"/>
              </a:spcBef>
              <a:spcAft>
                <a:spcPts val="0"/>
              </a:spcAft>
              <a:buClr>
                <a:schemeClr val="dk1"/>
              </a:buClr>
              <a:buSzPts val="1100"/>
              <a:buFont typeface="Arial"/>
              <a:buNone/>
            </a:pPr>
            <a:r>
              <a:rPr lang="en-US" sz="1000">
                <a:solidFill>
                  <a:srgbClr val="717074"/>
                </a:solidFill>
              </a:rPr>
              <a:t>The </a:t>
            </a:r>
            <a:r>
              <a:rPr lang="en-US" sz="1000" b="1">
                <a:solidFill>
                  <a:srgbClr val="717074"/>
                </a:solidFill>
              </a:rPr>
              <a:t>Supervisor API</a:t>
            </a:r>
            <a:r>
              <a:rPr lang="en-US" sz="1000">
                <a:solidFill>
                  <a:srgbClr val="717074"/>
                </a:solidFill>
              </a:rPr>
              <a:t> provides a </a:t>
            </a:r>
            <a:r>
              <a:rPr lang="en-US" sz="1000" b="1">
                <a:solidFill>
                  <a:srgbClr val="717074"/>
                </a:solidFill>
              </a:rPr>
              <a:t>single, declarative interface</a:t>
            </a:r>
            <a:r>
              <a:rPr lang="en-US" sz="1000">
                <a:solidFill>
                  <a:srgbClr val="717074"/>
                </a:solidFill>
              </a:rPr>
              <a:t> for all services. This enables seamless onboarding of new services without breaking existing consumer integrations. A consistent experience for both </a:t>
            </a:r>
            <a:r>
              <a:rPr lang="en-US" sz="1000" b="1">
                <a:solidFill>
                  <a:srgbClr val="717074"/>
                </a:solidFill>
              </a:rPr>
              <a:t>internal development teams</a:t>
            </a:r>
            <a:r>
              <a:rPr lang="en-US" sz="1000">
                <a:solidFill>
                  <a:srgbClr val="717074"/>
                </a:solidFill>
              </a:rPr>
              <a:t> and </a:t>
            </a:r>
            <a:r>
              <a:rPr lang="en-US" sz="1000" b="1">
                <a:solidFill>
                  <a:srgbClr val="717074"/>
                </a:solidFill>
              </a:rPr>
              <a:t>third-party ISVs or customers</a:t>
            </a:r>
            <a:r>
              <a:rPr lang="en-US" sz="1000">
                <a:solidFill>
                  <a:srgbClr val="717074"/>
                </a:solidFill>
              </a:rPr>
              <a:t>, who can extend the platform’s capabilities in the same standardized way.</a:t>
            </a:r>
            <a:endParaRPr sz="1000">
              <a:solidFill>
                <a:srgbClr val="717074"/>
              </a:solidFill>
            </a:endParaRPr>
          </a:p>
          <a:p>
            <a:pPr marL="0" lvl="0" indent="0" algn="l" rtl="0">
              <a:lnSpc>
                <a:spcPct val="115000"/>
              </a:lnSpc>
              <a:spcBef>
                <a:spcPts val="0"/>
              </a:spcBef>
              <a:spcAft>
                <a:spcPts val="0"/>
              </a:spcAft>
              <a:buClr>
                <a:schemeClr val="dk1"/>
              </a:buClr>
              <a:buSzPts val="450"/>
              <a:buFont typeface="Arial"/>
              <a:buNone/>
            </a:pPr>
            <a:endParaRPr sz="1400" b="1" u="sng">
              <a:solidFill>
                <a:schemeClr val="dk2"/>
              </a:solidFill>
            </a:endParaRPr>
          </a:p>
        </p:txBody>
      </p:sp>
      <p:sp>
        <p:nvSpPr>
          <p:cNvPr id="15133" name="Google Shape;15133;p97: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11"/>
        <p:cNvGrpSpPr/>
        <p:nvPr/>
      </p:nvGrpSpPr>
      <p:grpSpPr>
        <a:xfrm>
          <a:off x="0" y="0"/>
          <a:ext cx="0" cy="0"/>
          <a:chOff x="0" y="0"/>
          <a:chExt cx="0" cy="0"/>
        </a:xfrm>
      </p:grpSpPr>
      <p:sp>
        <p:nvSpPr>
          <p:cNvPr id="15212" name="Google Shape;15212;p9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Clr>
                <a:schemeClr val="dk1"/>
              </a:buClr>
              <a:buSzPts val="1200"/>
              <a:buFont typeface="Arial"/>
              <a:buNone/>
            </a:pPr>
            <a:r>
              <a:rPr lang="en-US" sz="1200" b="1"/>
              <a:t>Key Message:</a:t>
            </a:r>
            <a:endParaRPr/>
          </a:p>
          <a:p>
            <a:pPr marL="0" lvl="0" indent="0" algn="l" rtl="0">
              <a:spcBef>
                <a:spcPts val="0"/>
              </a:spcBef>
              <a:spcAft>
                <a:spcPts val="0"/>
              </a:spcAft>
              <a:buClr>
                <a:schemeClr val="dk1"/>
              </a:buClr>
              <a:buSzPts val="1200"/>
              <a:buFont typeface="Arial"/>
              <a:buNone/>
            </a:pPr>
            <a:r>
              <a:rPr lang="en-US"/>
              <a:t>A view into VCF Private Cloud Experience for each Persona.</a:t>
            </a:r>
            <a:br>
              <a:rPr lang="en-US" sz="1200"/>
            </a:br>
            <a:br>
              <a:rPr lang="en-US" sz="1200"/>
            </a:br>
            <a:r>
              <a:rPr lang="en-US" sz="1200" b="1"/>
              <a:t>Talk Track:</a:t>
            </a:r>
            <a:endParaRPr/>
          </a:p>
          <a:p>
            <a:pPr marL="0" lvl="0" indent="0" algn="l" rtl="0">
              <a:spcBef>
                <a:spcPts val="0"/>
              </a:spcBef>
              <a:spcAft>
                <a:spcPts val="0"/>
              </a:spcAft>
              <a:buClr>
                <a:schemeClr val="dk1"/>
              </a:buClr>
              <a:buSzPts val="1200"/>
              <a:buFont typeface="Arial"/>
              <a:buNone/>
            </a:pPr>
            <a:r>
              <a:rPr lang="en-US" sz="1200"/>
              <a:t>Let’s walk through key personas for adoption and consumption of VCF from a VCF Automation context.</a:t>
            </a:r>
            <a:endParaRPr/>
          </a:p>
          <a:p>
            <a:pPr marL="0" lvl="0" indent="0" algn="l" rtl="0">
              <a:spcBef>
                <a:spcPts val="0"/>
              </a:spcBef>
              <a:spcAft>
                <a:spcPts val="0"/>
              </a:spcAft>
              <a:buClr>
                <a:schemeClr val="dk1"/>
              </a:buClr>
              <a:buSzPts val="1200"/>
              <a:buFont typeface="Arial"/>
              <a:buNone/>
            </a:pPr>
            <a:endParaRPr sz="1200"/>
          </a:p>
          <a:p>
            <a:pPr marL="0" lvl="0" indent="0" algn="l" rtl="0">
              <a:spcBef>
                <a:spcPts val="0"/>
              </a:spcBef>
              <a:spcAft>
                <a:spcPts val="0"/>
              </a:spcAft>
              <a:buClr>
                <a:schemeClr val="dk1"/>
              </a:buClr>
              <a:buSzPts val="1200"/>
              <a:buFont typeface="Arial"/>
              <a:buNone/>
            </a:pPr>
            <a:r>
              <a:rPr lang="en-US" sz="1200">
                <a:latin typeface="Arial"/>
                <a:ea typeface="Arial"/>
                <a:cs typeface="Arial"/>
                <a:sym typeface="Arial"/>
              </a:rPr>
              <a:t>There are two types of users, the “Provider” (of IT services) and the “Consumer” (the consumers of the private cloud).  (Note, personas are on a continuum, and the role is relative to who is receiving services vs providing services.)  </a:t>
            </a:r>
            <a:endParaRPr/>
          </a:p>
          <a:p>
            <a:pPr marL="0" lvl="0" indent="0" algn="l" rtl="0">
              <a:spcBef>
                <a:spcPts val="0"/>
              </a:spcBef>
              <a:spcAft>
                <a:spcPts val="0"/>
              </a:spcAft>
              <a:buClr>
                <a:schemeClr val="dk1"/>
              </a:buClr>
              <a:buSzPts val="1200"/>
              <a:buFont typeface="Arial"/>
              <a:buNone/>
            </a:pPr>
            <a:endParaRPr sz="1200"/>
          </a:p>
          <a:p>
            <a:pPr marL="0" marR="0" lvl="0" indent="0" algn="l" rtl="0">
              <a:lnSpc>
                <a:spcPct val="90000"/>
              </a:lnSpc>
              <a:spcBef>
                <a:spcPts val="0"/>
              </a:spcBef>
              <a:spcAft>
                <a:spcPts val="0"/>
              </a:spcAft>
              <a:buClr>
                <a:srgbClr val="000000"/>
              </a:buClr>
              <a:buSzPts val="1600"/>
              <a:buFont typeface="Arial"/>
              <a:buNone/>
            </a:pPr>
            <a:r>
              <a:rPr lang="en-US" sz="1200">
                <a:latin typeface="Arial"/>
                <a:ea typeface="Arial"/>
                <a:cs typeface="Arial"/>
                <a:sym typeface="Arial"/>
              </a:rPr>
              <a:t>The providers are concerned with organizing infrastructure resources among tenants and LOBs, setting up networking, managing tenant utilization and chargeback, and managing the services ecosystem for Tenants.</a:t>
            </a:r>
            <a:endParaRPr sz="1050">
              <a:latin typeface="Arial"/>
              <a:ea typeface="Arial"/>
              <a:cs typeface="Arial"/>
              <a:sym typeface="Arial"/>
            </a:endParaRPr>
          </a:p>
          <a:p>
            <a:pPr marL="0" lvl="0" indent="0" algn="l" rtl="0">
              <a:spcBef>
                <a:spcPts val="0"/>
              </a:spcBef>
              <a:spcAft>
                <a:spcPts val="0"/>
              </a:spcAft>
              <a:buClr>
                <a:schemeClr val="dk1"/>
              </a:buClr>
              <a:buSzPts val="1200"/>
              <a:buFont typeface="Arial"/>
              <a:buNone/>
            </a:pPr>
            <a:endParaRPr sz="1200">
              <a:latin typeface="Arial"/>
              <a:ea typeface="Arial"/>
              <a:cs typeface="Arial"/>
              <a:sym typeface="Arial"/>
            </a:endParaRPr>
          </a:p>
          <a:p>
            <a:pPr marL="0" marR="0" lvl="0" indent="0" algn="l" rtl="0">
              <a:lnSpc>
                <a:spcPct val="90000"/>
              </a:lnSpc>
              <a:spcBef>
                <a:spcPts val="0"/>
              </a:spcBef>
              <a:spcAft>
                <a:spcPts val="0"/>
              </a:spcAft>
              <a:buClr>
                <a:srgbClr val="000000"/>
              </a:buClr>
              <a:buSzPts val="1600"/>
              <a:buFont typeface="Arial"/>
              <a:buNone/>
            </a:pPr>
            <a:r>
              <a:rPr lang="en-US" sz="1200">
                <a:latin typeface="Arial"/>
                <a:ea typeface="Arial"/>
                <a:cs typeface="Arial"/>
                <a:sym typeface="Arial"/>
              </a:rPr>
              <a:t>The Org Admin enables the new consumption experience with projects, vSphere namespaces, and VPCs. They create and enforce policies for quotas, leases, approvals, IaaS policies, and can also manage Content.</a:t>
            </a:r>
            <a:endParaRPr/>
          </a:p>
          <a:p>
            <a:pPr marL="0" lvl="0" indent="0" algn="l" rtl="0">
              <a:spcBef>
                <a:spcPts val="0"/>
              </a:spcBef>
              <a:spcAft>
                <a:spcPts val="0"/>
              </a:spcAft>
              <a:buClr>
                <a:schemeClr val="dk1"/>
              </a:buClr>
              <a:buSzPts val="1200"/>
              <a:buFont typeface="Arial"/>
              <a:buNone/>
            </a:pPr>
            <a:endParaRPr sz="1200"/>
          </a:p>
          <a:p>
            <a:pPr marL="0" marR="0" lvl="0" indent="0" algn="l" rtl="0">
              <a:lnSpc>
                <a:spcPct val="90000"/>
              </a:lnSpc>
              <a:spcBef>
                <a:spcPts val="0"/>
              </a:spcBef>
              <a:spcAft>
                <a:spcPts val="0"/>
              </a:spcAft>
              <a:buClr>
                <a:srgbClr val="000000"/>
              </a:buClr>
              <a:buSzPts val="1600"/>
              <a:buFont typeface="Arial"/>
              <a:buNone/>
            </a:pPr>
            <a:r>
              <a:rPr lang="en-US" sz="1200"/>
              <a:t>End users can consume </a:t>
            </a:r>
            <a:r>
              <a:rPr lang="en-US" sz="1200">
                <a:latin typeface="Arial"/>
                <a:ea typeface="Arial"/>
                <a:cs typeface="Arial"/>
                <a:sym typeface="Arial"/>
              </a:rPr>
              <a:t>Self-service IaaS services and the Catalog, perform day 2 operations on workloads and IaaS services, and gain visibility into Workload Operations.</a:t>
            </a:r>
            <a:endParaRPr/>
          </a:p>
          <a:p>
            <a:pPr marL="0" marR="0" lvl="0" indent="0" algn="l" rtl="0">
              <a:lnSpc>
                <a:spcPct val="100000"/>
              </a:lnSpc>
              <a:spcBef>
                <a:spcPts val="0"/>
              </a:spcBef>
              <a:spcAft>
                <a:spcPts val="0"/>
              </a:spcAft>
              <a:buClr>
                <a:schemeClr val="dk1"/>
              </a:buClr>
              <a:buSzPts val="1200"/>
              <a:buFont typeface="Arial"/>
              <a:buNone/>
            </a:pPr>
            <a:endParaRPr sz="1200" b="0" i="0" u="none" strike="noStrike">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a:t>Notes:</a:t>
            </a:r>
            <a:br>
              <a:rPr lang="en-US" sz="1200"/>
            </a:br>
            <a:br>
              <a:rPr lang="en-US" sz="1200"/>
            </a:br>
            <a:r>
              <a:rPr lang="en-US" sz="1200" b="1"/>
              <a:t>Resources:</a:t>
            </a:r>
            <a:endParaRPr/>
          </a:p>
        </p:txBody>
      </p:sp>
      <p:sp>
        <p:nvSpPr>
          <p:cNvPr id="15213" name="Google Shape;15213;p9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31"/>
        <p:cNvGrpSpPr/>
        <p:nvPr/>
      </p:nvGrpSpPr>
      <p:grpSpPr>
        <a:xfrm>
          <a:off x="0" y="0"/>
          <a:ext cx="0" cy="0"/>
          <a:chOff x="0" y="0"/>
          <a:chExt cx="0" cy="0"/>
        </a:xfrm>
      </p:grpSpPr>
      <p:sp>
        <p:nvSpPr>
          <p:cNvPr id="15232" name="Google Shape;15232;p9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233" name="Google Shape;15233;p9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marR="0" lvl="0" indent="0" algn="l" rtl="0">
              <a:lnSpc>
                <a:spcPct val="50000"/>
              </a:lnSpc>
              <a:spcBef>
                <a:spcPts val="0"/>
              </a:spcBef>
              <a:spcAft>
                <a:spcPts val="0"/>
              </a:spcAft>
              <a:buClr>
                <a:schemeClr val="dk1"/>
              </a:buClr>
              <a:buSzPts val="1100"/>
              <a:buFont typeface="Arial"/>
              <a:buNone/>
            </a:pPr>
            <a:r>
              <a:rPr lang="en-US" sz="407" b="1"/>
              <a:t>Presenter Note:  This slide contains animation</a:t>
            </a:r>
            <a:endParaRPr sz="660"/>
          </a:p>
          <a:p>
            <a:pPr marL="0" lvl="0" indent="0" algn="l" rtl="0">
              <a:lnSpc>
                <a:spcPct val="70000"/>
              </a:lnSpc>
              <a:spcBef>
                <a:spcPts val="0"/>
              </a:spcBef>
              <a:spcAft>
                <a:spcPts val="0"/>
              </a:spcAft>
              <a:buClr>
                <a:schemeClr val="dk1"/>
              </a:buClr>
              <a:buSzPts val="610"/>
              <a:buFont typeface="Arial"/>
              <a:buNone/>
            </a:pPr>
            <a:endParaRPr sz="611"/>
          </a:p>
          <a:p>
            <a:pPr marL="0" lvl="0" indent="0" algn="l" rtl="0">
              <a:lnSpc>
                <a:spcPct val="70000"/>
              </a:lnSpc>
              <a:spcBef>
                <a:spcPts val="0"/>
              </a:spcBef>
              <a:spcAft>
                <a:spcPts val="0"/>
              </a:spcAft>
              <a:buClr>
                <a:schemeClr val="dk1"/>
              </a:buClr>
              <a:buSzPts val="407"/>
              <a:buFont typeface="Arial"/>
              <a:buNone/>
            </a:pPr>
            <a:r>
              <a:rPr lang="en-US" sz="407" b="1"/>
              <a:t>Key Message:</a:t>
            </a:r>
            <a:endParaRPr sz="660"/>
          </a:p>
          <a:p>
            <a:pPr marL="0" marR="0" lvl="0" indent="0" algn="l" rtl="0">
              <a:lnSpc>
                <a:spcPct val="70000"/>
              </a:lnSpc>
              <a:spcBef>
                <a:spcPts val="0"/>
              </a:spcBef>
              <a:spcAft>
                <a:spcPts val="0"/>
              </a:spcAft>
              <a:buClr>
                <a:schemeClr val="dk1"/>
              </a:buClr>
              <a:buSzPts val="1017"/>
              <a:buFont typeface="Arial"/>
              <a:buNone/>
            </a:pPr>
            <a:r>
              <a:rPr lang="en-US" sz="560"/>
              <a:t>VCF Automation isn’t just a simple VM provisioning tool. It provides Governance and Consumption models for enterprise and service providers, traditional and modern workloads along with Self-service IaaS and Catalogs.</a:t>
            </a:r>
            <a:endParaRPr sz="407"/>
          </a:p>
          <a:p>
            <a:pPr marL="0" lvl="0" indent="0" algn="l" rtl="0">
              <a:lnSpc>
                <a:spcPct val="70000"/>
              </a:lnSpc>
              <a:spcBef>
                <a:spcPts val="0"/>
              </a:spcBef>
              <a:spcAft>
                <a:spcPts val="0"/>
              </a:spcAft>
              <a:buClr>
                <a:schemeClr val="dk1"/>
              </a:buClr>
              <a:buSzPts val="737"/>
              <a:buFont typeface="Arial"/>
              <a:buNone/>
            </a:pPr>
            <a:br>
              <a:rPr lang="en-US" sz="737"/>
            </a:br>
            <a:r>
              <a:rPr lang="en-US" sz="737" b="1"/>
              <a:t>Talk Track:</a:t>
            </a:r>
            <a:endParaRPr sz="574"/>
          </a:p>
          <a:p>
            <a:pPr marL="0" lvl="0" indent="0" algn="l" rtl="0">
              <a:lnSpc>
                <a:spcPct val="50000"/>
              </a:lnSpc>
              <a:spcBef>
                <a:spcPts val="0"/>
              </a:spcBef>
              <a:spcAft>
                <a:spcPts val="0"/>
              </a:spcAft>
              <a:buClr>
                <a:schemeClr val="dk1"/>
              </a:buClr>
              <a:buSzPts val="1100"/>
              <a:buFont typeface="Arial"/>
              <a:buNone/>
            </a:pPr>
            <a:r>
              <a:rPr lang="en-US" sz="574"/>
              <a:t>By now, you probably understand that VCF Automation powers the private cloud self-service experience and isn’t just a simple VM provisioning tool.  In VCF Automation, there are three new concepts that you need to be aware of.​</a:t>
            </a:r>
            <a:endParaRPr sz="990"/>
          </a:p>
          <a:p>
            <a:pPr marL="0" lvl="0" indent="0" algn="l" rtl="0">
              <a:lnSpc>
                <a:spcPct val="50000"/>
              </a:lnSpc>
              <a:spcBef>
                <a:spcPts val="0"/>
              </a:spcBef>
              <a:spcAft>
                <a:spcPts val="0"/>
              </a:spcAft>
              <a:buClr>
                <a:schemeClr val="dk1"/>
              </a:buClr>
              <a:buSzPts val="1100"/>
              <a:buFont typeface="Arial"/>
              <a:buNone/>
            </a:pPr>
            <a:r>
              <a:rPr lang="en-US" sz="574"/>
              <a:t>​</a:t>
            </a:r>
            <a:endParaRPr sz="990"/>
          </a:p>
          <a:p>
            <a:pPr marL="0" lvl="0" indent="0" algn="l" rtl="0">
              <a:lnSpc>
                <a:spcPct val="50000"/>
              </a:lnSpc>
              <a:spcBef>
                <a:spcPts val="0"/>
              </a:spcBef>
              <a:spcAft>
                <a:spcPts val="0"/>
              </a:spcAft>
              <a:buClr>
                <a:schemeClr val="dk1"/>
              </a:buClr>
              <a:buSzPts val="1100"/>
              <a:buFont typeface="Arial"/>
              <a:buNone/>
            </a:pPr>
            <a:r>
              <a:rPr lang="en-US" sz="574"/>
              <a:t>VCF Automation introduces three types of governance &amp; consumption models.​</a:t>
            </a:r>
            <a:endParaRPr sz="990"/>
          </a:p>
          <a:p>
            <a:pPr marL="0" lvl="0" indent="0" algn="l" rtl="0">
              <a:lnSpc>
                <a:spcPct val="50000"/>
              </a:lnSpc>
              <a:spcBef>
                <a:spcPts val="0"/>
              </a:spcBef>
              <a:spcAft>
                <a:spcPts val="0"/>
              </a:spcAft>
              <a:buClr>
                <a:schemeClr val="dk1"/>
              </a:buClr>
              <a:buSzPts val="1100"/>
              <a:buFont typeface="Arial"/>
              <a:buNone/>
            </a:pPr>
            <a:r>
              <a:rPr lang="en-US" sz="574"/>
              <a:t>​</a:t>
            </a:r>
            <a:endParaRPr sz="990"/>
          </a:p>
          <a:p>
            <a:pPr marL="228600" lvl="0" indent="-228600" algn="l" rtl="0">
              <a:lnSpc>
                <a:spcPct val="50000"/>
              </a:lnSpc>
              <a:spcBef>
                <a:spcPts val="0"/>
              </a:spcBef>
              <a:spcAft>
                <a:spcPts val="0"/>
              </a:spcAft>
              <a:buClr>
                <a:schemeClr val="dk1"/>
              </a:buClr>
              <a:buSzPts val="1700"/>
              <a:buFont typeface="Play"/>
              <a:buAutoNum type="arabicPeriod"/>
            </a:pPr>
            <a:r>
              <a:rPr lang="en-US" sz="574"/>
              <a:t>The Enterprise/Service Provider Governance &amp; Consumption model is about whether a customer requires multi-tenancy or not.</a:t>
            </a:r>
            <a:endParaRPr sz="990"/>
          </a:p>
          <a:p>
            <a:pPr marL="457200" lvl="1" indent="0" algn="l" rtl="0">
              <a:lnSpc>
                <a:spcPct val="50000"/>
              </a:lnSpc>
              <a:spcBef>
                <a:spcPts val="0"/>
              </a:spcBef>
              <a:spcAft>
                <a:spcPts val="0"/>
              </a:spcAft>
              <a:buClr>
                <a:schemeClr val="dk1"/>
              </a:buClr>
              <a:buSzPts val="1100"/>
              <a:buFont typeface="Play"/>
              <a:buNone/>
            </a:pPr>
            <a:r>
              <a:rPr lang="en-US" sz="574"/>
              <a:t>Multi-tenancy is a cloud computing architecture where a single instance of software and/or infrastructure serves multiple “customers,” known as tenants (organizations), while keeping their data, processes, and infrastructure (compute, storage, network) isolated from one another.  In other words, each organization has a dedicated environment.  ​</a:t>
            </a:r>
            <a:endParaRPr sz="990"/>
          </a:p>
          <a:p>
            <a:pPr marL="457200" lvl="1" indent="0" algn="l" rtl="0">
              <a:lnSpc>
                <a:spcPct val="50000"/>
              </a:lnSpc>
              <a:spcBef>
                <a:spcPts val="0"/>
              </a:spcBef>
              <a:spcAft>
                <a:spcPts val="0"/>
              </a:spcAft>
              <a:buClr>
                <a:schemeClr val="dk1"/>
              </a:buClr>
              <a:buSzPts val="1100"/>
              <a:buFont typeface="Arial"/>
              <a:buNone/>
            </a:pPr>
            <a:endParaRPr sz="574"/>
          </a:p>
          <a:p>
            <a:pPr marL="457200" lvl="1" indent="0" algn="l" rtl="0">
              <a:lnSpc>
                <a:spcPct val="50000"/>
              </a:lnSpc>
              <a:spcBef>
                <a:spcPts val="0"/>
              </a:spcBef>
              <a:spcAft>
                <a:spcPts val="0"/>
              </a:spcAft>
              <a:buClr>
                <a:schemeClr val="dk1"/>
              </a:buClr>
              <a:buSzPts val="1100"/>
              <a:buFont typeface="Arial"/>
              <a:buNone/>
            </a:pPr>
            <a:r>
              <a:rPr lang="en-US" sz="574"/>
              <a:t>Many Enterprise customers may not require such a type of multi-tenancy, and a single-tenant model is sufficient (sharing infrastructure resources, but segregating data/process via RBAC, etc.).  Historically, “Aria Automation” supported this type of Enterprise customer.  ​</a:t>
            </a:r>
            <a:endParaRPr sz="990"/>
          </a:p>
          <a:p>
            <a:pPr marL="457200" lvl="1" indent="0" algn="l" rtl="0">
              <a:lnSpc>
                <a:spcPct val="50000"/>
              </a:lnSpc>
              <a:spcBef>
                <a:spcPts val="0"/>
              </a:spcBef>
              <a:spcAft>
                <a:spcPts val="0"/>
              </a:spcAft>
              <a:buClr>
                <a:schemeClr val="dk1"/>
              </a:buClr>
              <a:buSzPts val="1100"/>
              <a:buFont typeface="Arial"/>
              <a:buNone/>
            </a:pPr>
            <a:endParaRPr sz="574"/>
          </a:p>
          <a:p>
            <a:pPr marL="457200" lvl="1" indent="0" algn="l" rtl="0">
              <a:lnSpc>
                <a:spcPct val="50000"/>
              </a:lnSpc>
              <a:spcBef>
                <a:spcPts val="0"/>
              </a:spcBef>
              <a:spcAft>
                <a:spcPts val="0"/>
              </a:spcAft>
              <a:buClr>
                <a:schemeClr val="dk1"/>
              </a:buClr>
              <a:buSzPts val="1100"/>
              <a:buFont typeface="Arial"/>
              <a:buNone/>
            </a:pPr>
            <a:r>
              <a:rPr lang="en-US" sz="574"/>
              <a:t>Enterprises that operate like Service Providers (e.g., Broadcom) may require multi-tenancy that has infrastructure isolation requirements.  Historically, “vCD” supported this type of Enterprise customer.  VCF Automation can support both kinds of Enterprise customers.​</a:t>
            </a:r>
            <a:endParaRPr sz="990"/>
          </a:p>
          <a:p>
            <a:pPr marL="457200" lvl="1" indent="0" algn="l" rtl="0">
              <a:lnSpc>
                <a:spcPct val="50000"/>
              </a:lnSpc>
              <a:spcBef>
                <a:spcPts val="0"/>
              </a:spcBef>
              <a:spcAft>
                <a:spcPts val="0"/>
              </a:spcAft>
              <a:buClr>
                <a:schemeClr val="dk1"/>
              </a:buClr>
              <a:buSzPts val="1100"/>
              <a:buFont typeface="Arial"/>
              <a:buNone/>
            </a:pPr>
            <a:endParaRPr sz="574"/>
          </a:p>
          <a:p>
            <a:pPr marL="457200" lvl="1" indent="0" algn="l" rtl="0">
              <a:lnSpc>
                <a:spcPct val="50000"/>
              </a:lnSpc>
              <a:spcBef>
                <a:spcPts val="0"/>
              </a:spcBef>
              <a:spcAft>
                <a:spcPts val="0"/>
              </a:spcAft>
              <a:buClr>
                <a:schemeClr val="dk1"/>
              </a:buClr>
              <a:buSzPts val="1100"/>
              <a:buFont typeface="Arial"/>
              <a:buNone/>
            </a:pPr>
            <a:r>
              <a:rPr lang="en-US" sz="574"/>
              <a:t>Most Enterprise customers may not care about multi-tenancy, so determine how much time you want to spend discussing this model, depending on your customer.​</a:t>
            </a:r>
            <a:endParaRPr sz="990"/>
          </a:p>
          <a:p>
            <a:pPr marL="457200" lvl="1" indent="0" algn="l" rtl="0">
              <a:lnSpc>
                <a:spcPct val="50000"/>
              </a:lnSpc>
              <a:spcBef>
                <a:spcPts val="0"/>
              </a:spcBef>
              <a:spcAft>
                <a:spcPts val="0"/>
              </a:spcAft>
              <a:buClr>
                <a:schemeClr val="dk1"/>
              </a:buClr>
              <a:buSzPts val="1100"/>
              <a:buFont typeface="Arial"/>
              <a:buNone/>
            </a:pPr>
            <a:endParaRPr sz="574"/>
          </a:p>
          <a:p>
            <a:pPr marL="0" lvl="0" indent="0" algn="l" rtl="0">
              <a:lnSpc>
                <a:spcPct val="50000"/>
              </a:lnSpc>
              <a:spcBef>
                <a:spcPts val="0"/>
              </a:spcBef>
              <a:spcAft>
                <a:spcPts val="0"/>
              </a:spcAft>
              <a:buClr>
                <a:schemeClr val="dk1"/>
              </a:buClr>
              <a:buSzPts val="1100"/>
              <a:buFont typeface="Arial"/>
              <a:buNone/>
            </a:pPr>
            <a:r>
              <a:rPr lang="en-US" sz="574"/>
              <a:t>&lt;click&gt;</a:t>
            </a:r>
            <a:endParaRPr sz="990"/>
          </a:p>
          <a:p>
            <a:pPr marL="0" lvl="0" indent="0" algn="l" rtl="0">
              <a:lnSpc>
                <a:spcPct val="50000"/>
              </a:lnSpc>
              <a:spcBef>
                <a:spcPts val="0"/>
              </a:spcBef>
              <a:spcAft>
                <a:spcPts val="0"/>
              </a:spcAft>
              <a:buClr>
                <a:schemeClr val="dk1"/>
              </a:buClr>
              <a:buSzPts val="1100"/>
              <a:buFont typeface="Arial"/>
              <a:buNone/>
            </a:pPr>
            <a:r>
              <a:rPr lang="en-US" sz="574"/>
              <a:t>2. The Traditional/Modern Workload Governance &amp; Consumption model is about whether you need to support all types of apps (AI, K8s, VM-based) or only VM-based apps.​</a:t>
            </a:r>
            <a:endParaRPr sz="990"/>
          </a:p>
          <a:p>
            <a:pPr marL="457200" lvl="1" indent="0" algn="l" rtl="0">
              <a:lnSpc>
                <a:spcPct val="50000"/>
              </a:lnSpc>
              <a:spcBef>
                <a:spcPts val="0"/>
              </a:spcBef>
              <a:spcAft>
                <a:spcPts val="0"/>
              </a:spcAft>
              <a:buClr>
                <a:schemeClr val="dk1"/>
              </a:buClr>
              <a:buSzPts val="1100"/>
              <a:buFont typeface="Play"/>
              <a:buNone/>
            </a:pPr>
            <a:r>
              <a:rPr lang="en-US" sz="574"/>
              <a:t>It is very important to be aware that the default experience for VCF Automation supports all types of apps, delivered via the “Org for All Apps” experience.  This is the new model that VMware would like all customers to adopt and consume.  It is the strategic direction of the VCF product.  The Supervisor technology in the underlying vSphere, enables this experience.​</a:t>
            </a:r>
            <a:endParaRPr sz="990"/>
          </a:p>
          <a:p>
            <a:pPr marL="457200" lvl="1" indent="0" algn="l" rtl="0">
              <a:lnSpc>
                <a:spcPct val="50000"/>
              </a:lnSpc>
              <a:spcBef>
                <a:spcPts val="0"/>
              </a:spcBef>
              <a:spcAft>
                <a:spcPts val="0"/>
              </a:spcAft>
              <a:buClr>
                <a:schemeClr val="dk1"/>
              </a:buClr>
              <a:buSzPts val="1100"/>
              <a:buFont typeface="Play"/>
              <a:buNone/>
            </a:pPr>
            <a:endParaRPr sz="574"/>
          </a:p>
          <a:p>
            <a:pPr marL="457200" lvl="1" indent="0" algn="l" rtl="0">
              <a:lnSpc>
                <a:spcPct val="50000"/>
              </a:lnSpc>
              <a:spcBef>
                <a:spcPts val="0"/>
              </a:spcBef>
              <a:spcAft>
                <a:spcPts val="0"/>
              </a:spcAft>
              <a:buClr>
                <a:schemeClr val="dk1"/>
              </a:buClr>
              <a:buSzPts val="1100"/>
              <a:buFont typeface="Play"/>
              <a:buNone/>
            </a:pPr>
            <a:r>
              <a:rPr lang="en-US" sz="574"/>
              <a:t>However, some customers, including existing “Aria Automation” customers, may not be ready for this experience.  In that case, as a “back pocket” solution, we also offer an “Org for VM Apps” experience that provides an Aria Automation 8.x experience for VM-only workloads.  We highly encourage customers to adopt the new default experience; however, we understand that it may take time for some customers to adopt this newer model.​</a:t>
            </a:r>
            <a:endParaRPr sz="990"/>
          </a:p>
          <a:p>
            <a:pPr marL="914400" lvl="1" indent="-228600" algn="l" rtl="0">
              <a:lnSpc>
                <a:spcPct val="50000"/>
              </a:lnSpc>
              <a:spcBef>
                <a:spcPts val="0"/>
              </a:spcBef>
              <a:spcAft>
                <a:spcPts val="0"/>
              </a:spcAft>
              <a:buClr>
                <a:schemeClr val="dk1"/>
              </a:buClr>
              <a:buSzPts val="1400"/>
              <a:buFont typeface="Arial"/>
              <a:buNone/>
            </a:pPr>
            <a:endParaRPr sz="574"/>
          </a:p>
          <a:p>
            <a:pPr marL="914400" lvl="1" indent="-355600" algn="l" rtl="0">
              <a:lnSpc>
                <a:spcPct val="50000"/>
              </a:lnSpc>
              <a:spcBef>
                <a:spcPts val="0"/>
              </a:spcBef>
              <a:spcAft>
                <a:spcPts val="0"/>
              </a:spcAft>
              <a:buClr>
                <a:schemeClr val="dk1"/>
              </a:buClr>
              <a:buSzPts val="2000"/>
              <a:buFont typeface="Arial"/>
              <a:buChar char="●"/>
            </a:pPr>
            <a:r>
              <a:rPr lang="en-US" sz="574"/>
              <a:t>Organization for All Apps is an organization used to run a wide variety of applications, including VMs, Kubernetes, data services, etc. This organization type can be used to create multiple tenants with secure infrastructure isolation, quotas, and chargeback.​</a:t>
            </a:r>
            <a:endParaRPr sz="990"/>
          </a:p>
          <a:p>
            <a:pPr marL="914400" lvl="1" indent="-355600" algn="l" rtl="0">
              <a:lnSpc>
                <a:spcPct val="50000"/>
              </a:lnSpc>
              <a:spcBef>
                <a:spcPts val="0"/>
              </a:spcBef>
              <a:spcAft>
                <a:spcPts val="0"/>
              </a:spcAft>
              <a:buClr>
                <a:schemeClr val="dk1"/>
              </a:buClr>
              <a:buSzPts val="2000"/>
              <a:buFont typeface="Arial"/>
              <a:buChar char="●"/>
            </a:pPr>
            <a:r>
              <a:rPr lang="en-US" sz="574"/>
              <a:t>Organization for VM Apps is an organization used to support VM-based applications, powered by vSphere clusters.  VMware Aria Automation customers can use this organization to continue to leverage the Aria Automation capabilities to provision VM-based applications via catalogs, apply policies, etc. ​</a:t>
            </a:r>
            <a:endParaRPr sz="990"/>
          </a:p>
          <a:p>
            <a:pPr marL="457200" lvl="1" indent="0" algn="l" rtl="0">
              <a:lnSpc>
                <a:spcPct val="50000"/>
              </a:lnSpc>
              <a:spcBef>
                <a:spcPts val="0"/>
              </a:spcBef>
              <a:spcAft>
                <a:spcPts val="0"/>
              </a:spcAft>
              <a:buClr>
                <a:schemeClr val="dk1"/>
              </a:buClr>
              <a:buSzPts val="1100"/>
              <a:buFont typeface="Arial"/>
              <a:buNone/>
            </a:pPr>
            <a:endParaRPr sz="574"/>
          </a:p>
          <a:p>
            <a:pPr marL="0" lvl="0" indent="0" algn="l" rtl="0">
              <a:lnSpc>
                <a:spcPct val="50000"/>
              </a:lnSpc>
              <a:spcBef>
                <a:spcPts val="0"/>
              </a:spcBef>
              <a:spcAft>
                <a:spcPts val="0"/>
              </a:spcAft>
              <a:buClr>
                <a:schemeClr val="dk1"/>
              </a:buClr>
              <a:buSzPts val="1100"/>
              <a:buFont typeface="Arial"/>
              <a:buNone/>
            </a:pPr>
            <a:r>
              <a:rPr lang="en-US" sz="574"/>
              <a:t>	NOTE:  We are NOT forcing existing customers to migrate from the old experience to the new experience.  Customers are encouraged to explore the new experience and adopt/transition at their own pace.​</a:t>
            </a:r>
            <a:br>
              <a:rPr lang="en-US" sz="574"/>
            </a:br>
            <a:br>
              <a:rPr lang="en-US" sz="574"/>
            </a:br>
            <a:r>
              <a:rPr lang="en-US" sz="574"/>
              <a:t>3. Self-Service IaaS/Self-Service Catalog is about providing a flexible consumption/control model with a choice of consumption methods.​</a:t>
            </a:r>
            <a:endParaRPr sz="990"/>
          </a:p>
          <a:p>
            <a:pPr marL="457200" lvl="1" indent="0" algn="l" rtl="0">
              <a:lnSpc>
                <a:spcPct val="50000"/>
              </a:lnSpc>
              <a:spcBef>
                <a:spcPts val="0"/>
              </a:spcBef>
              <a:spcAft>
                <a:spcPts val="0"/>
              </a:spcAft>
              <a:buClr>
                <a:schemeClr val="dk1"/>
              </a:buClr>
              <a:buSzPts val="1100"/>
              <a:buFont typeface="Play"/>
              <a:buNone/>
            </a:pPr>
            <a:endParaRPr sz="574"/>
          </a:p>
          <a:p>
            <a:pPr marL="457200" lvl="1" indent="0" algn="l" rtl="0">
              <a:lnSpc>
                <a:spcPct val="50000"/>
              </a:lnSpc>
              <a:spcBef>
                <a:spcPts val="0"/>
              </a:spcBef>
              <a:spcAft>
                <a:spcPts val="0"/>
              </a:spcAft>
              <a:buClr>
                <a:schemeClr val="dk1"/>
              </a:buClr>
              <a:buSzPts val="1100"/>
              <a:buFont typeface="Play"/>
              <a:buNone/>
            </a:pPr>
            <a:r>
              <a:rPr lang="en-US" sz="574"/>
              <a:t>Organizations (based on their internal policies and operational styles) can choose how much control they want to enforce.  Organizations can balance the right amount of self-service consumption and apply controls at varying levels in various environments and stages of an application's lifecycle (conception, development, deployment, management, maintenance, and retirement).​</a:t>
            </a:r>
            <a:endParaRPr sz="990"/>
          </a:p>
          <a:p>
            <a:pPr marL="457200" lvl="1" indent="0" algn="l" rtl="0">
              <a:lnSpc>
                <a:spcPct val="50000"/>
              </a:lnSpc>
              <a:spcBef>
                <a:spcPts val="0"/>
              </a:spcBef>
              <a:spcAft>
                <a:spcPts val="0"/>
              </a:spcAft>
              <a:buClr>
                <a:schemeClr val="dk1"/>
              </a:buClr>
              <a:buSzPts val="1100"/>
              <a:buFont typeface="Play"/>
              <a:buNone/>
            </a:pPr>
            <a:endParaRPr sz="574"/>
          </a:p>
          <a:p>
            <a:pPr marL="457200" lvl="1" indent="0" algn="l" rtl="0">
              <a:lnSpc>
                <a:spcPct val="50000"/>
              </a:lnSpc>
              <a:spcBef>
                <a:spcPts val="0"/>
              </a:spcBef>
              <a:spcAft>
                <a:spcPts val="0"/>
              </a:spcAft>
              <a:buClr>
                <a:schemeClr val="dk1"/>
              </a:buClr>
              <a:buSzPts val="1100"/>
              <a:buFont typeface="Play"/>
              <a:buNone/>
            </a:pPr>
            <a:r>
              <a:rPr lang="en-US" sz="574"/>
              <a:t>The Self-Service Catalog is a Provider-oriented approach, which is ideal for production environments, where the Provider (e.g., a Platform Engineer) offers a curated catalog with pre-approved standardized application blueprints.  This is the approach that “Aria Automation” has always supported.​</a:t>
            </a:r>
            <a:endParaRPr sz="990"/>
          </a:p>
          <a:p>
            <a:pPr marL="457200" lvl="1" indent="0" algn="l" rtl="0">
              <a:lnSpc>
                <a:spcPct val="50000"/>
              </a:lnSpc>
              <a:spcBef>
                <a:spcPts val="0"/>
              </a:spcBef>
              <a:spcAft>
                <a:spcPts val="0"/>
              </a:spcAft>
              <a:buClr>
                <a:schemeClr val="dk1"/>
              </a:buClr>
              <a:buSzPts val="1100"/>
              <a:buFont typeface="Play"/>
              <a:buNone/>
            </a:pPr>
            <a:endParaRPr sz="574"/>
          </a:p>
          <a:p>
            <a:pPr marL="457200" lvl="1" indent="0" algn="l" rtl="0">
              <a:lnSpc>
                <a:spcPct val="50000"/>
              </a:lnSpc>
              <a:spcBef>
                <a:spcPts val="0"/>
              </a:spcBef>
              <a:spcAft>
                <a:spcPts val="0"/>
              </a:spcAft>
              <a:buClr>
                <a:schemeClr val="dk1"/>
              </a:buClr>
              <a:buSzPts val="1100"/>
              <a:buFont typeface="Play"/>
              <a:buNone/>
            </a:pPr>
            <a:endParaRPr sz="574">
              <a:solidFill>
                <a:srgbClr val="444444"/>
              </a:solidFill>
              <a:highlight>
                <a:srgbClr val="F5F5F5"/>
              </a:highlight>
              <a:latin typeface="Arial"/>
              <a:ea typeface="Arial"/>
              <a:cs typeface="Arial"/>
              <a:sym typeface="Arial"/>
            </a:endParaRPr>
          </a:p>
          <a:p>
            <a:pPr marL="0" lvl="0" indent="0" algn="l" rtl="0">
              <a:lnSpc>
                <a:spcPct val="65000"/>
              </a:lnSpc>
              <a:spcBef>
                <a:spcPts val="0"/>
              </a:spcBef>
              <a:spcAft>
                <a:spcPts val="0"/>
              </a:spcAft>
              <a:buClr>
                <a:schemeClr val="dk1"/>
              </a:buClr>
              <a:buSzPts val="1100"/>
              <a:buFont typeface="Arial"/>
              <a:buNone/>
            </a:pPr>
            <a:r>
              <a:rPr lang="en-US" sz="574">
                <a:solidFill>
                  <a:srgbClr val="444444"/>
                </a:solidFill>
                <a:highlight>
                  <a:srgbClr val="F5F5F5"/>
                </a:highlight>
                <a:latin typeface="Arial"/>
                <a:ea typeface="Arial"/>
                <a:cs typeface="Arial"/>
                <a:sym typeface="Arial"/>
              </a:rPr>
              <a:t>​</a:t>
            </a:r>
            <a:endParaRPr sz="990"/>
          </a:p>
          <a:p>
            <a:pPr marL="0" lvl="0" indent="0" algn="l" rtl="0">
              <a:lnSpc>
                <a:spcPct val="70000"/>
              </a:lnSpc>
              <a:spcBef>
                <a:spcPts val="0"/>
              </a:spcBef>
              <a:spcAft>
                <a:spcPts val="0"/>
              </a:spcAft>
              <a:buClr>
                <a:schemeClr val="dk1"/>
              </a:buClr>
              <a:buSzPts val="407"/>
              <a:buFont typeface="Arial"/>
              <a:buNone/>
            </a:pPr>
            <a:r>
              <a:rPr lang="en-US" sz="407" b="1"/>
              <a:t>Notes:</a:t>
            </a:r>
            <a:br>
              <a:rPr lang="en-US" sz="407"/>
            </a:br>
            <a:br>
              <a:rPr lang="en-US" sz="407"/>
            </a:br>
            <a:r>
              <a:rPr lang="en-US" sz="407" b="1"/>
              <a:t>Resources:</a:t>
            </a:r>
            <a:br>
              <a:rPr lang="en-US" sz="407"/>
            </a:br>
            <a:endParaRPr sz="244"/>
          </a:p>
          <a:p>
            <a:pPr marL="457200" marR="0" lvl="0" indent="-228600" algn="l" rtl="0">
              <a:lnSpc>
                <a:spcPct val="30000"/>
              </a:lnSpc>
              <a:spcBef>
                <a:spcPts val="0"/>
              </a:spcBef>
              <a:spcAft>
                <a:spcPts val="0"/>
              </a:spcAft>
              <a:buClr>
                <a:srgbClr val="000000"/>
              </a:buClr>
              <a:buSzPts val="1400"/>
              <a:buFont typeface="Arial"/>
              <a:buNone/>
            </a:pPr>
            <a:endParaRPr sz="100"/>
          </a:p>
          <a:p>
            <a:pPr marL="0" lvl="0" indent="0" algn="l" rtl="0">
              <a:lnSpc>
                <a:spcPct val="70000"/>
              </a:lnSpc>
              <a:spcBef>
                <a:spcPts val="0"/>
              </a:spcBef>
              <a:spcAft>
                <a:spcPts val="0"/>
              </a:spcAft>
              <a:buClr>
                <a:schemeClr val="dk1"/>
              </a:buClr>
              <a:buSzPts val="610"/>
              <a:buFont typeface="Arial"/>
              <a:buNone/>
            </a:pPr>
            <a:endParaRPr sz="611"/>
          </a:p>
        </p:txBody>
      </p:sp>
      <p:sp>
        <p:nvSpPr>
          <p:cNvPr id="15234" name="Google Shape;15234;p9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94</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36"/>
        <p:cNvGrpSpPr/>
        <p:nvPr/>
      </p:nvGrpSpPr>
      <p:grpSpPr>
        <a:xfrm>
          <a:off x="0" y="0"/>
          <a:ext cx="0" cy="0"/>
          <a:chOff x="0" y="0"/>
          <a:chExt cx="0" cy="0"/>
        </a:xfrm>
      </p:grpSpPr>
      <p:sp>
        <p:nvSpPr>
          <p:cNvPr id="15337" name="Google Shape;15337;p10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338" name="Google Shape;15338;p10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lnSpc>
                <a:spcPct val="60000"/>
              </a:lnSpc>
              <a:spcBef>
                <a:spcPts val="0"/>
              </a:spcBef>
              <a:spcAft>
                <a:spcPts val="0"/>
              </a:spcAft>
              <a:buClr>
                <a:schemeClr val="dk1"/>
              </a:buClr>
              <a:buSzPts val="612"/>
              <a:buFont typeface="Arial"/>
              <a:buNone/>
            </a:pPr>
            <a:r>
              <a:rPr lang="en-US" sz="613" b="1" i="0"/>
              <a:t>Presenter Note:  This slide contains animation</a:t>
            </a:r>
            <a:endParaRPr sz="1063"/>
          </a:p>
          <a:p>
            <a:pPr marL="0" lvl="0" indent="0" algn="l" rtl="0">
              <a:lnSpc>
                <a:spcPct val="60000"/>
              </a:lnSpc>
              <a:spcBef>
                <a:spcPts val="0"/>
              </a:spcBef>
              <a:spcAft>
                <a:spcPts val="0"/>
              </a:spcAft>
              <a:buClr>
                <a:schemeClr val="dk1"/>
              </a:buClr>
              <a:buSzPts val="612"/>
              <a:buFont typeface="Arial"/>
              <a:buNone/>
            </a:pPr>
            <a:endParaRPr sz="613" b="1" i="0"/>
          </a:p>
          <a:p>
            <a:pPr marL="0" lvl="0" indent="0" algn="l" rtl="0">
              <a:lnSpc>
                <a:spcPct val="60000"/>
              </a:lnSpc>
              <a:spcBef>
                <a:spcPts val="0"/>
              </a:spcBef>
              <a:spcAft>
                <a:spcPts val="0"/>
              </a:spcAft>
              <a:buClr>
                <a:schemeClr val="dk1"/>
              </a:buClr>
              <a:buSzPts val="612"/>
              <a:buFont typeface="Arial"/>
              <a:buNone/>
            </a:pPr>
            <a:r>
              <a:rPr lang="en-US" sz="613" b="1" i="0"/>
              <a:t>Key Message:</a:t>
            </a:r>
            <a:endParaRPr sz="613" i="0"/>
          </a:p>
          <a:p>
            <a:pPr marL="0" lvl="0" indent="0" algn="l" rtl="0">
              <a:lnSpc>
                <a:spcPct val="60000"/>
              </a:lnSpc>
              <a:spcBef>
                <a:spcPts val="0"/>
              </a:spcBef>
              <a:spcAft>
                <a:spcPts val="0"/>
              </a:spcAft>
              <a:buClr>
                <a:schemeClr val="dk1"/>
              </a:buClr>
              <a:buSzPts val="612"/>
              <a:buFont typeface="Arial"/>
              <a:buNone/>
            </a:pPr>
            <a:r>
              <a:rPr lang="en-US" sz="613" i="0"/>
              <a:t>VMware Cloud Foundation enables secure multi-tenancy by allowing isolated teams to share infrastructure through constructs such as vSphere Zones, Supervisors, Regions, Projects, and VPCs. Developers gain self-service access to VMs and containers, while IT controls security, policies, and resource governance.</a:t>
            </a:r>
            <a:endParaRPr sz="1063"/>
          </a:p>
          <a:p>
            <a:pPr marL="0" lvl="0" indent="0" algn="l" rtl="0">
              <a:lnSpc>
                <a:spcPct val="60000"/>
              </a:lnSpc>
              <a:spcBef>
                <a:spcPts val="0"/>
              </a:spcBef>
              <a:spcAft>
                <a:spcPts val="0"/>
              </a:spcAft>
              <a:buClr>
                <a:schemeClr val="dk1"/>
              </a:buClr>
              <a:buSzPts val="612"/>
              <a:buFont typeface="Arial"/>
              <a:buNone/>
            </a:pPr>
            <a:endParaRPr sz="613" i="0"/>
          </a:p>
          <a:p>
            <a:pPr marL="0" lvl="0" indent="0" algn="l" rtl="0">
              <a:lnSpc>
                <a:spcPct val="60000"/>
              </a:lnSpc>
              <a:spcBef>
                <a:spcPts val="0"/>
              </a:spcBef>
              <a:spcAft>
                <a:spcPts val="0"/>
              </a:spcAft>
              <a:buClr>
                <a:schemeClr val="dk1"/>
              </a:buClr>
              <a:buSzPts val="612"/>
              <a:buFont typeface="Arial"/>
              <a:buNone/>
            </a:pPr>
            <a:r>
              <a:rPr lang="en-US" sz="613" b="1" i="0"/>
              <a:t>Talk Track:</a:t>
            </a:r>
            <a:endParaRPr sz="613" i="0"/>
          </a:p>
          <a:p>
            <a:pPr marL="0" lvl="0" indent="0" algn="l" rtl="0">
              <a:lnSpc>
                <a:spcPct val="60000"/>
              </a:lnSpc>
              <a:spcBef>
                <a:spcPts val="0"/>
              </a:spcBef>
              <a:spcAft>
                <a:spcPts val="0"/>
              </a:spcAft>
              <a:buClr>
                <a:schemeClr val="dk1"/>
              </a:buClr>
              <a:buSzPts val="612"/>
              <a:buFont typeface="Arial"/>
              <a:buNone/>
            </a:pPr>
            <a:r>
              <a:rPr lang="en-US" sz="613"/>
              <a:t>A modern private cloud provides multi-tenancy. Multi-tenancy is an architecture in which a software platform and infrastructure serve multiple isolated tenants, such as different teams, departments, or customers. Each tenant utilizes the underlying hardware and software resources but operates in a logically isolated environment with separate resources, data, configurations, and access controls. Let’s look at how VMware Cloud Foundation achieves this.</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vSphere Zones correspond to vSphere clusters and delineate CPU and memory resources for workload placement. They do not include storage and networking. Zones are isolated to ensure that failures in one Zone do not affect others. Zones operate with the Supervisor to direct Kubernetes and VM scheduling, facilitating resilient workload distribution across fault domains.</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&lt;click 1&gt;</a:t>
            </a:r>
            <a:endParaRPr sz="1063"/>
          </a:p>
          <a:p>
            <a:pPr marL="0" lvl="0" indent="0" algn="l" rtl="0">
              <a:lnSpc>
                <a:spcPct val="60000"/>
              </a:lnSpc>
              <a:spcBef>
                <a:spcPts val="0"/>
              </a:spcBef>
              <a:spcAft>
                <a:spcPts val="0"/>
              </a:spcAft>
              <a:buClr>
                <a:schemeClr val="dk1"/>
              </a:buClr>
              <a:buSzPts val="612"/>
              <a:buFont typeface="Arial"/>
              <a:buNone/>
            </a:pPr>
            <a:r>
              <a:rPr lang="en-US" sz="613"/>
              <a:t>The vSphere Supervisor integrates a Kubernetes control plane into vSphere, enabling clusters to run both VMs and containerized applications. Developers use Kubernetes tools, while IT manages resources through the vSphere interface. There is no need for a separate container platform. This unifies virtual machines and cloud-native applications on a single infrastructure.</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&lt;click 2&gt;</a:t>
            </a:r>
            <a:endParaRPr sz="1063"/>
          </a:p>
          <a:p>
            <a:pPr marL="0" lvl="0" indent="0" algn="l" rtl="0">
              <a:lnSpc>
                <a:spcPct val="60000"/>
              </a:lnSpc>
              <a:spcBef>
                <a:spcPts val="0"/>
              </a:spcBef>
              <a:spcAft>
                <a:spcPts val="0"/>
              </a:spcAft>
              <a:buClr>
                <a:schemeClr val="dk1"/>
              </a:buClr>
              <a:buSzPts val="612"/>
              <a:buFont typeface="Arial"/>
              <a:buNone/>
            </a:pPr>
            <a:r>
              <a:rPr lang="en-US" sz="613"/>
              <a:t>At the VCF Automation level, regions are a logical grouping of compute, storage, VM Classes, and network resources, typically aligned with a geographic location. They facilitate resource allocation for tenants with different service levels. Each region comprises one or more Supervisors and supports performance, capacity, and feature-based segmentation.</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&lt;click 3&gt;</a:t>
            </a:r>
            <a:endParaRPr sz="1063"/>
          </a:p>
          <a:p>
            <a:pPr marL="0" lvl="0" indent="0" algn="l" rtl="0">
              <a:lnSpc>
                <a:spcPct val="60000"/>
              </a:lnSpc>
              <a:spcBef>
                <a:spcPts val="0"/>
              </a:spcBef>
              <a:spcAft>
                <a:spcPts val="0"/>
              </a:spcAft>
              <a:buClr>
                <a:schemeClr val="dk1"/>
              </a:buClr>
              <a:buSzPts val="612"/>
              <a:buFont typeface="Arial"/>
              <a:buNone/>
            </a:pPr>
            <a:r>
              <a:rPr lang="en-US" sz="613"/>
              <a:t>Organizations are top-level constructs that isolate tenants and group users, policies, services, and resources within defined boundaries. They provide centralized access control, governance, and usage-based billing. Providers assign regional quotas to organizations, specifying the capacity and number of vSphere zones available to each.</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&lt;click 4&gt;</a:t>
            </a:r>
            <a:endParaRPr sz="1063"/>
          </a:p>
          <a:p>
            <a:pPr marL="0" lvl="0" indent="0" algn="l" rtl="0">
              <a:lnSpc>
                <a:spcPct val="60000"/>
              </a:lnSpc>
              <a:spcBef>
                <a:spcPts val="0"/>
              </a:spcBef>
              <a:spcAft>
                <a:spcPts val="0"/>
              </a:spcAft>
              <a:buClr>
                <a:schemeClr val="dk1"/>
              </a:buClr>
              <a:buSzPts val="612"/>
              <a:buFont typeface="Arial"/>
              <a:buNone/>
            </a:pPr>
            <a:r>
              <a:rPr lang="en-US" sz="613"/>
              <a:t>With the underlying infrastructure, services, and controls in place, the organization admin creates projects. A Project is a logical construct that groups namespaces and their related VPCs (Virtual Private Clouds), users, and policies under a single administrative boundary. This simplifies management by allowing each project to have dedicated IP spaces, access controls, and security policies that do not interfere with other projects.</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&lt;click 5&gt;</a:t>
            </a:r>
            <a:endParaRPr sz="1063"/>
          </a:p>
          <a:p>
            <a:pPr marL="0" lvl="0" indent="0" algn="l" rtl="0">
              <a:lnSpc>
                <a:spcPct val="60000"/>
              </a:lnSpc>
              <a:spcBef>
                <a:spcPts val="0"/>
              </a:spcBef>
              <a:spcAft>
                <a:spcPts val="0"/>
              </a:spcAft>
              <a:buClr>
                <a:schemeClr val="dk1"/>
              </a:buClr>
              <a:buSzPts val="612"/>
              <a:buFont typeface="Arial"/>
              <a:buNone/>
            </a:pPr>
            <a:r>
              <a:rPr lang="en-US" sz="613"/>
              <a:t>A VPC (Virtual Private Cloud) is an isolated virtual network environment that delivers cloud-like networking capabilities within your on-premises data center. It includes components configured by the organization admin, such as subnets, routers, and NAT, to enable easy self-service access to networking resources for tenants. Each VPC provides isolation, making it ideal for multi-tenancy, development environments, application owner segmentation, etc.</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Within a VPC, one or more vSphere Namespaces provide the resources from a vSphere Supervisor cluster where Kubernetes workloads can operate. It serves as a container for applications, integrating the concept of Kubernetes namespaces with vSphere-specific features such as resource limits, access control, storage policies, and container network settings.</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a:t>&lt;click 6&gt;</a:t>
            </a:r>
            <a:endParaRPr sz="1063"/>
          </a:p>
          <a:p>
            <a:pPr marL="0" lvl="0" indent="0" algn="l" rtl="0">
              <a:lnSpc>
                <a:spcPct val="60000"/>
              </a:lnSpc>
              <a:spcBef>
                <a:spcPts val="0"/>
              </a:spcBef>
              <a:spcAft>
                <a:spcPts val="0"/>
              </a:spcAft>
              <a:buClr>
                <a:schemeClr val="dk1"/>
              </a:buClr>
              <a:buSzPts val="612"/>
              <a:buFont typeface="Arial"/>
              <a:buNone/>
            </a:pPr>
            <a:r>
              <a:rPr lang="en-US" sz="613"/>
              <a:t>End users, such as developers and app owners, can access these resources in a self-service manner while organization admins and provider admins ensure security and governance. End Users can deploy virtual machines and modern applications without configuring or understanding the underlying infrastructure. This approach helps control costs and facilitates faster development cycles, enhancing speed to market.</a:t>
            </a:r>
            <a:endParaRPr sz="1063"/>
          </a:p>
          <a:p>
            <a:pPr marL="0" lvl="0" indent="0" algn="l" rtl="0">
              <a:lnSpc>
                <a:spcPct val="60000"/>
              </a:lnSpc>
              <a:spcBef>
                <a:spcPts val="0"/>
              </a:spcBef>
              <a:spcAft>
                <a:spcPts val="0"/>
              </a:spcAft>
              <a:buClr>
                <a:schemeClr val="dk1"/>
              </a:buClr>
              <a:buSzPts val="612"/>
              <a:buFont typeface="Arial"/>
              <a:buNone/>
            </a:pPr>
            <a:endParaRPr sz="613"/>
          </a:p>
          <a:p>
            <a:pPr marL="0" lvl="0" indent="0" algn="l" rtl="0">
              <a:lnSpc>
                <a:spcPct val="60000"/>
              </a:lnSpc>
              <a:spcBef>
                <a:spcPts val="0"/>
              </a:spcBef>
              <a:spcAft>
                <a:spcPts val="0"/>
              </a:spcAft>
              <a:buClr>
                <a:schemeClr val="dk1"/>
              </a:buClr>
              <a:buSzPts val="612"/>
              <a:buFont typeface="Arial"/>
              <a:buNone/>
            </a:pPr>
            <a:r>
              <a:rPr lang="en-US" sz="613" b="1"/>
              <a:t>Notes:</a:t>
            </a:r>
            <a:br>
              <a:rPr lang="en-US" sz="613"/>
            </a:br>
            <a:br>
              <a:rPr lang="en-US" sz="300"/>
            </a:br>
            <a:r>
              <a:rPr lang="en-US" sz="300" b="1"/>
              <a:t>Resources:</a:t>
            </a:r>
            <a:br>
              <a:rPr lang="en-US" sz="300"/>
            </a:br>
            <a:endParaRPr sz="300"/>
          </a:p>
        </p:txBody>
      </p:sp>
      <p:sp>
        <p:nvSpPr>
          <p:cNvPr id="15339" name="Google Shape;15339;p10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95</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20"/>
        <p:cNvGrpSpPr/>
        <p:nvPr/>
      </p:nvGrpSpPr>
      <p:grpSpPr>
        <a:xfrm>
          <a:off x="0" y="0"/>
          <a:ext cx="0" cy="0"/>
          <a:chOff x="0" y="0"/>
          <a:chExt cx="0" cy="0"/>
        </a:xfrm>
      </p:grpSpPr>
      <p:sp>
        <p:nvSpPr>
          <p:cNvPr id="15521" name="Google Shape;15521;p10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22" name="Google Shape;15522;p10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lnSpc>
                <a:spcPct val="80000"/>
              </a:lnSpc>
              <a:spcBef>
                <a:spcPts val="0"/>
              </a:spcBef>
              <a:spcAft>
                <a:spcPts val="0"/>
              </a:spcAft>
              <a:buClr>
                <a:schemeClr val="dk1"/>
              </a:buClr>
              <a:buSzPts val="660"/>
              <a:buFont typeface="Arial"/>
              <a:buNone/>
            </a:pPr>
            <a:r>
              <a:rPr lang="en-US" sz="660" b="1" i="0"/>
              <a:t>Key Message:</a:t>
            </a:r>
            <a:endParaRPr sz="660" i="0"/>
          </a:p>
          <a:p>
            <a:pPr marL="0" lvl="0" indent="0" algn="l" rtl="0">
              <a:lnSpc>
                <a:spcPct val="80000"/>
              </a:lnSpc>
              <a:spcBef>
                <a:spcPts val="0"/>
              </a:spcBef>
              <a:spcAft>
                <a:spcPts val="0"/>
              </a:spcAft>
              <a:buClr>
                <a:schemeClr val="dk1"/>
              </a:buClr>
              <a:buSzPts val="660"/>
              <a:buFont typeface="Arial"/>
              <a:buNone/>
            </a:pPr>
            <a:r>
              <a:rPr lang="en-US" sz="660" i="0"/>
              <a:t>VMware Cloud Foundation provides built-in guidance for establishing a modern private cloud through a structured approach to scalable, secure multi-tenancy. By incorporating regions, organizations, </a:t>
            </a:r>
            <a:r>
              <a:rPr lang="en-US" sz="660"/>
              <a:t>external connections, IP blocks</a:t>
            </a:r>
            <a:r>
              <a:rPr lang="en-US" sz="660" i="0"/>
              <a:t>, and regional network settings, VCF enhances the delivery of isolated resources, external connectivity, and high-availability infrastructure.</a:t>
            </a:r>
            <a:endParaRPr/>
          </a:p>
          <a:p>
            <a:pPr marL="0" lvl="0" indent="0" algn="l" rtl="0">
              <a:lnSpc>
                <a:spcPct val="80000"/>
              </a:lnSpc>
              <a:spcBef>
                <a:spcPts val="0"/>
              </a:spcBef>
              <a:spcAft>
                <a:spcPts val="0"/>
              </a:spcAft>
              <a:buClr>
                <a:schemeClr val="dk1"/>
              </a:buClr>
              <a:buSzPts val="660"/>
              <a:buFont typeface="Arial"/>
              <a:buNone/>
            </a:pPr>
            <a:endParaRPr sz="660" i="0"/>
          </a:p>
          <a:p>
            <a:pPr marL="0" lvl="0" indent="0" algn="l" rtl="0">
              <a:lnSpc>
                <a:spcPct val="80000"/>
              </a:lnSpc>
              <a:spcBef>
                <a:spcPts val="0"/>
              </a:spcBef>
              <a:spcAft>
                <a:spcPts val="0"/>
              </a:spcAft>
              <a:buClr>
                <a:schemeClr val="dk1"/>
              </a:buClr>
              <a:buSzPts val="660"/>
              <a:buFont typeface="Arial"/>
              <a:buNone/>
            </a:pPr>
            <a:r>
              <a:rPr lang="en-US" sz="660" b="1" i="0"/>
              <a:t>Talk Track:</a:t>
            </a:r>
            <a:endParaRPr sz="660" i="0"/>
          </a:p>
          <a:p>
            <a:pPr marL="0" lvl="0" indent="0" algn="l" rtl="0">
              <a:lnSpc>
                <a:spcPct val="80000"/>
              </a:lnSpc>
              <a:spcBef>
                <a:spcPts val="0"/>
              </a:spcBef>
              <a:spcAft>
                <a:spcPts val="0"/>
              </a:spcAft>
              <a:buClr>
                <a:schemeClr val="dk1"/>
              </a:buClr>
              <a:buSzPts val="660"/>
              <a:buFont typeface="Arial"/>
              <a:buNone/>
            </a:pPr>
            <a:r>
              <a:rPr lang="en-US" sz="660" i="0"/>
              <a:t>The first step involves creating a region. A region consists of one or more supervisors and provides organizations with a collection of compute, memory, storage, and networking resources. It can extend across multiple vCenter instances, provided the supervisors communicate with the same NSX instance, i.e., within the same network boundaries. A region typically aligns with a geographic entity such as “US-East.”</a:t>
            </a:r>
            <a:endParaRPr/>
          </a:p>
          <a:p>
            <a:pPr marL="0" lvl="0" indent="0" algn="l" rtl="0">
              <a:lnSpc>
                <a:spcPct val="80000"/>
              </a:lnSpc>
              <a:spcBef>
                <a:spcPts val="0"/>
              </a:spcBef>
              <a:spcAft>
                <a:spcPts val="0"/>
              </a:spcAft>
              <a:buClr>
                <a:schemeClr val="dk1"/>
              </a:buClr>
              <a:buSzPts val="660"/>
              <a:buFont typeface="Arial"/>
              <a:buNone/>
            </a:pPr>
            <a:endParaRPr sz="660" i="0"/>
          </a:p>
          <a:p>
            <a:pPr marL="0" lvl="0" indent="0" algn="l" rtl="0">
              <a:lnSpc>
                <a:spcPct val="80000"/>
              </a:lnSpc>
              <a:spcBef>
                <a:spcPts val="0"/>
              </a:spcBef>
              <a:spcAft>
                <a:spcPts val="0"/>
              </a:spcAft>
              <a:buClr>
                <a:schemeClr val="dk1"/>
              </a:buClr>
              <a:buSzPts val="660"/>
              <a:buFont typeface="Arial"/>
              <a:buNone/>
            </a:pPr>
            <a:r>
              <a:rPr lang="en-US" sz="660" i="0"/>
              <a:t>Next, we add an organization. An organization is a top-level entity that groups and manages resources, users, policies, IaaS services, and catalog entities while maintaining a secure boundary from other organizations. It provides centralized billing, access control, and a resource-sharing structure, facilitating collaboration and governance across teams, departments, business units, or entire companies.</a:t>
            </a:r>
            <a:endParaRPr/>
          </a:p>
          <a:p>
            <a:pPr marL="0" lvl="0" indent="0" algn="l" rtl="0">
              <a:lnSpc>
                <a:spcPct val="80000"/>
              </a:lnSpc>
              <a:spcBef>
                <a:spcPts val="0"/>
              </a:spcBef>
              <a:spcAft>
                <a:spcPts val="0"/>
              </a:spcAft>
              <a:buClr>
                <a:schemeClr val="dk1"/>
              </a:buClr>
              <a:buSzPts val="660"/>
              <a:buFont typeface="Arial"/>
              <a:buNone/>
            </a:pPr>
            <a:endParaRPr sz="660" i="0"/>
          </a:p>
          <a:p>
            <a:pPr marL="0" lvl="0" indent="0" algn="l" rtl="0">
              <a:lnSpc>
                <a:spcPct val="80000"/>
              </a:lnSpc>
              <a:spcBef>
                <a:spcPts val="0"/>
              </a:spcBef>
              <a:spcAft>
                <a:spcPts val="0"/>
              </a:spcAft>
              <a:buClr>
                <a:schemeClr val="dk1"/>
              </a:buClr>
              <a:buSzPts val="660"/>
              <a:buFont typeface="Arial"/>
              <a:buNone/>
            </a:pPr>
            <a:r>
              <a:rPr lang="en-US" sz="660" i="0"/>
              <a:t>IP </a:t>
            </a:r>
            <a:r>
              <a:rPr lang="en-US" sz="660"/>
              <a:t>blocks </a:t>
            </a:r>
            <a:r>
              <a:rPr lang="en-US" sz="660" i="0"/>
              <a:t> provide a structured method for providers to allocate IP addresses to various organizations, facilitating connectivity to external networks. Quotas may be utilized to manage usage. For internal communication, organizations can independently manage their own IP address blocks. </a:t>
            </a:r>
            <a:endParaRPr/>
          </a:p>
          <a:p>
            <a:pPr marL="0" lvl="0" indent="0" algn="l" rtl="0">
              <a:lnSpc>
                <a:spcPct val="80000"/>
              </a:lnSpc>
              <a:spcBef>
                <a:spcPts val="0"/>
              </a:spcBef>
              <a:spcAft>
                <a:spcPts val="0"/>
              </a:spcAft>
              <a:buClr>
                <a:schemeClr val="dk1"/>
              </a:buClr>
              <a:buSzPts val="660"/>
              <a:buFont typeface="Arial"/>
              <a:buNone/>
            </a:pPr>
            <a:endParaRPr sz="660" i="0"/>
          </a:p>
          <a:p>
            <a:pPr marL="0" lvl="0" indent="0" algn="l" rtl="0">
              <a:lnSpc>
                <a:spcPct val="80000"/>
              </a:lnSpc>
              <a:spcBef>
                <a:spcPts val="0"/>
              </a:spcBef>
              <a:spcAft>
                <a:spcPts val="0"/>
              </a:spcAft>
              <a:buClr>
                <a:schemeClr val="dk1"/>
              </a:buClr>
              <a:buSzPts val="660"/>
              <a:buFont typeface="Arial"/>
              <a:buNone/>
            </a:pPr>
            <a:r>
              <a:rPr lang="en-US" sz="660"/>
              <a:t>External Connections </a:t>
            </a:r>
            <a:r>
              <a:rPr lang="en-US" sz="660" i="0"/>
              <a:t>allow organizations to connect to external networks. A </a:t>
            </a:r>
            <a:r>
              <a:rPr lang="en-US" sz="660"/>
              <a:t>external connection </a:t>
            </a:r>
            <a:r>
              <a:rPr lang="en-US" sz="660" i="0"/>
              <a:t>utilizes NSX Tier 0 Gateways or T0 Virtual Routing and Forwarding (VRF) tables and links them with IP addresses from IP spaces that can be advertised through those gateways. Or a</a:t>
            </a:r>
            <a:r>
              <a:rPr lang="en-US" sz="660"/>
              <a:t>n external </a:t>
            </a:r>
            <a:r>
              <a:rPr lang="en-US" sz="660" i="0"/>
              <a:t>connection </a:t>
            </a:r>
            <a:r>
              <a:rPr lang="en-US" sz="660"/>
              <a:t>can be configured to </a:t>
            </a:r>
            <a:r>
              <a:rPr lang="en-US" sz="660" i="0"/>
              <a:t> ut</a:t>
            </a:r>
            <a:r>
              <a:rPr lang="en-US" sz="660"/>
              <a:t>ilize a Distributed Gateway and is based on a VLAN; VNA clusters are used for DTGW connections vs edge clusters being used for centralized connections. . </a:t>
            </a:r>
            <a:endParaRPr/>
          </a:p>
          <a:p>
            <a:pPr marL="0" lvl="0" indent="0" algn="l" rtl="0">
              <a:lnSpc>
                <a:spcPct val="80000"/>
              </a:lnSpc>
              <a:spcBef>
                <a:spcPts val="0"/>
              </a:spcBef>
              <a:spcAft>
                <a:spcPts val="0"/>
              </a:spcAft>
              <a:buClr>
                <a:schemeClr val="dk1"/>
              </a:buClr>
              <a:buSzPts val="660"/>
              <a:buFont typeface="Arial"/>
              <a:buNone/>
            </a:pPr>
            <a:endParaRPr sz="660" i="0"/>
          </a:p>
          <a:p>
            <a:pPr marL="0" lvl="0" indent="0" algn="l" rtl="0">
              <a:lnSpc>
                <a:spcPct val="80000"/>
              </a:lnSpc>
              <a:spcBef>
                <a:spcPts val="0"/>
              </a:spcBef>
              <a:spcAft>
                <a:spcPts val="0"/>
              </a:spcAft>
              <a:buClr>
                <a:schemeClr val="dk1"/>
              </a:buClr>
              <a:buSzPts val="660"/>
              <a:buFont typeface="Arial"/>
              <a:buNone/>
            </a:pPr>
            <a:r>
              <a:rPr lang="en-US" sz="660" i="0"/>
              <a:t>Regional Network Settings determine the networking resources available to an organization in a specific region. These settings enable administrators to assign </a:t>
            </a:r>
            <a:r>
              <a:rPr lang="en-US" sz="660"/>
              <a:t>external connections, share subnets,</a:t>
            </a:r>
            <a:r>
              <a:rPr lang="en-US" sz="660" i="0"/>
              <a:t>, edge and/or VNA clusters, and IP </a:t>
            </a:r>
            <a:r>
              <a:rPr lang="en-US" sz="660"/>
              <a:t>blocks</a:t>
            </a:r>
            <a:r>
              <a:rPr lang="en-US" sz="660" i="0"/>
              <a:t> to organizations, facilitating external connectivity, routing, and IP address management. This configuration ensures that each organization can access the necessary infrastructure for north-south traffic, high availability, and tenant isolation.</a:t>
            </a:r>
            <a:endParaRPr/>
          </a:p>
          <a:p>
            <a:pPr marL="0" lvl="0" indent="0" algn="l" rtl="0">
              <a:lnSpc>
                <a:spcPct val="80000"/>
              </a:lnSpc>
              <a:spcBef>
                <a:spcPts val="0"/>
              </a:spcBef>
              <a:spcAft>
                <a:spcPts val="0"/>
              </a:spcAft>
              <a:buClr>
                <a:schemeClr val="dk1"/>
              </a:buClr>
              <a:buSzPts val="660"/>
              <a:buFont typeface="Arial"/>
              <a:buNone/>
            </a:pPr>
            <a:endParaRPr sz="660" i="0"/>
          </a:p>
          <a:p>
            <a:pPr marL="0" lvl="0" indent="0" algn="l" rtl="0">
              <a:lnSpc>
                <a:spcPct val="80000"/>
              </a:lnSpc>
              <a:spcBef>
                <a:spcPts val="0"/>
              </a:spcBef>
              <a:spcAft>
                <a:spcPts val="0"/>
              </a:spcAft>
              <a:buClr>
                <a:schemeClr val="dk1"/>
              </a:buClr>
              <a:buSzPts val="660"/>
              <a:buFont typeface="Arial"/>
              <a:buNone/>
            </a:pPr>
            <a:r>
              <a:rPr lang="en-US" sz="660" b="1" i="0"/>
              <a:t>Notes:</a:t>
            </a:r>
            <a:endParaRPr/>
          </a:p>
          <a:p>
            <a:pPr marL="0" lvl="0" indent="0" algn="l" rtl="0">
              <a:lnSpc>
                <a:spcPct val="80000"/>
              </a:lnSpc>
              <a:spcBef>
                <a:spcPts val="0"/>
              </a:spcBef>
              <a:spcAft>
                <a:spcPts val="0"/>
              </a:spcAft>
              <a:buClr>
                <a:schemeClr val="dk1"/>
              </a:buClr>
              <a:buSzPts val="660"/>
              <a:buFont typeface="Arial"/>
              <a:buNone/>
            </a:pPr>
            <a:r>
              <a:rPr lang="en-US" sz="660" i="0"/>
              <a:t>A VRF table in NSX offers logical separation of Layer 3 routing tables, allowing different tenants or services to operate with isolated routing policies without the need for separate physical routers or Tier 0 gateways. In other words, it enables tenant isolation, permitting the use of overlapping IP addresses across tenants. It helps avoid the need to deploy multiple T0 Gateways.</a:t>
            </a:r>
            <a:endParaRPr/>
          </a:p>
          <a:p>
            <a:pPr marL="0" lvl="0" indent="0" algn="l" rtl="0">
              <a:lnSpc>
                <a:spcPct val="80000"/>
              </a:lnSpc>
              <a:spcBef>
                <a:spcPts val="0"/>
              </a:spcBef>
              <a:spcAft>
                <a:spcPts val="0"/>
              </a:spcAft>
              <a:buClr>
                <a:schemeClr val="dk1"/>
              </a:buClr>
              <a:buSzPts val="660"/>
              <a:buFont typeface="Arial"/>
              <a:buNone/>
            </a:pPr>
            <a:br>
              <a:rPr lang="en-US" sz="660"/>
            </a:br>
            <a:r>
              <a:rPr lang="en-US" sz="660" b="1"/>
              <a:t>Resources:</a:t>
            </a:r>
            <a:br>
              <a:rPr lang="en-US" sz="660"/>
            </a:br>
            <a:endParaRPr sz="660"/>
          </a:p>
        </p:txBody>
      </p:sp>
      <p:sp>
        <p:nvSpPr>
          <p:cNvPr id="15523" name="Google Shape;15523;p10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96</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32"/>
        <p:cNvGrpSpPr/>
        <p:nvPr/>
      </p:nvGrpSpPr>
      <p:grpSpPr>
        <a:xfrm>
          <a:off x="0" y="0"/>
          <a:ext cx="0" cy="0"/>
          <a:chOff x="0" y="0"/>
          <a:chExt cx="0" cy="0"/>
        </a:xfrm>
      </p:grpSpPr>
      <p:sp>
        <p:nvSpPr>
          <p:cNvPr id="15533" name="Google Shape;15533;p10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34" name="Google Shape;15534;p10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800" b="1">
                <a:latin typeface="Arial"/>
                <a:ea typeface="Arial"/>
                <a:cs typeface="Arial"/>
                <a:sym typeface="Arial"/>
              </a:rPr>
              <a:t>Key Message:</a:t>
            </a:r>
            <a:endParaRPr sz="11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800"/>
              <a:t>VCF Automation enables single or multi-tenant private clouds, allowing IT Admins to allocate resources to organizations, each managing users and resources specific to their group. The first step in building a private cloud is to break down a shared infrastructure into individual segments and allocate these segments to different organizations. This approach ensures that each organization feels isolated from the others while allowing for secure and efficient use of resources tailored to their specific needs.</a:t>
            </a:r>
            <a:endParaRPr sz="800">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br>
              <a:rPr lang="en-US" sz="800">
                <a:latin typeface="Arial"/>
                <a:ea typeface="Arial"/>
                <a:cs typeface="Arial"/>
                <a:sym typeface="Arial"/>
              </a:rPr>
            </a:br>
            <a:r>
              <a:rPr lang="en-US" sz="800" b="1">
                <a:latin typeface="Arial"/>
                <a:ea typeface="Arial"/>
                <a:cs typeface="Arial"/>
                <a:sym typeface="Arial"/>
              </a:rPr>
              <a:t>Talk Track:</a:t>
            </a:r>
            <a:endParaRPr/>
          </a:p>
          <a:p>
            <a:pPr marL="0" lvl="0" indent="0" algn="l" rtl="0">
              <a:lnSpc>
                <a:spcPct val="60000"/>
              </a:lnSpc>
              <a:spcBef>
                <a:spcPts val="0"/>
              </a:spcBef>
              <a:spcAft>
                <a:spcPts val="0"/>
              </a:spcAft>
              <a:buClr>
                <a:schemeClr val="dk1"/>
              </a:buClr>
              <a:buSzPts val="713"/>
              <a:buFont typeface="Arial"/>
              <a:buNone/>
            </a:pPr>
            <a:r>
              <a:rPr lang="en-US" sz="800"/>
              <a:t>With VCF Automation, you can select multiple vSphere zones to deploy applications. This flexibility will enable teams to optimize resource utilization, enhance application performance, and ensure redundancy across different zones, ultimately improving the reliability and scalability of their deployments.</a:t>
            </a:r>
            <a:endParaRPr sz="1200"/>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800"/>
              <a:t>By ensuring organization isolation at the networking level and aligning with NSX tenancy constructs, we provide comprehensive network isolation throughout the stack while guaranteeing immediate internal and external connectivity upon the creation of the organization.</a:t>
            </a:r>
            <a:endParaRPr sz="1200"/>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800"/>
              <a:t>Improved compliance and security measures ensure consistent policy enforcement across LoBs, minimizing human error while adhering to organizational and regulatory standards. IT administrators can also provide organizations with a comprehensive Private Cloud experience supported by an extensible managed services ecosystem from VMware.</a:t>
            </a:r>
            <a:endParaRPr sz="1200"/>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800"/>
              <a:t>Enhanced cost visibility and control are achieved by providing deeper insights into the consumption of cloud infrastructure through chargeback and showback methods. This approach allows for more informed decision-making and proactive resource management. These controls effectively manage consumption, prevent over-provisioning, and help eliminate unnecessary costs.</a:t>
            </a:r>
            <a:endParaRPr/>
          </a:p>
          <a:p>
            <a:pPr marL="0" lvl="0" indent="0" algn="l" rtl="0">
              <a:lnSpc>
                <a:spcPct val="60000"/>
              </a:lnSpc>
              <a:spcBef>
                <a:spcPts val="0"/>
              </a:spcBef>
              <a:spcAft>
                <a:spcPts val="0"/>
              </a:spcAft>
              <a:buClr>
                <a:schemeClr val="dk1"/>
              </a:buClr>
              <a:buSzPts val="713"/>
              <a:buFont typeface="Arial"/>
              <a:buNone/>
            </a:pPr>
            <a:endParaRPr/>
          </a:p>
          <a:p>
            <a:pPr marL="0" lvl="0" indent="0" algn="l" rtl="0">
              <a:lnSpc>
                <a:spcPct val="60000"/>
              </a:lnSpc>
              <a:spcBef>
                <a:spcPts val="0"/>
              </a:spcBef>
              <a:spcAft>
                <a:spcPts val="0"/>
              </a:spcAft>
              <a:buClr>
                <a:schemeClr val="dk1"/>
              </a:buClr>
              <a:buSzPts val="713"/>
              <a:buFont typeface="Arial"/>
              <a:buNone/>
            </a:pPr>
            <a:endParaRPr sz="800"/>
          </a:p>
          <a:p>
            <a:pPr marL="0" lvl="0" indent="0" algn="l" rtl="0">
              <a:lnSpc>
                <a:spcPct val="60000"/>
              </a:lnSpc>
              <a:spcBef>
                <a:spcPts val="0"/>
              </a:spcBef>
              <a:spcAft>
                <a:spcPts val="0"/>
              </a:spcAft>
              <a:buClr>
                <a:schemeClr val="dk1"/>
              </a:buClr>
              <a:buSzPts val="713"/>
              <a:buFont typeface="Arial"/>
              <a:buNone/>
            </a:pPr>
            <a:r>
              <a:rPr lang="en-US" sz="800"/>
              <a:t>A Supervisor can be deployed on three vSphere Zones to provide clusters with high availability and fault tolerance, which are essential for building highly reliable applications.</a:t>
            </a:r>
            <a:endParaRPr/>
          </a:p>
          <a:p>
            <a:pPr marL="0" lvl="0" indent="0" algn="l" rtl="0">
              <a:lnSpc>
                <a:spcPct val="60000"/>
              </a:lnSpc>
              <a:spcBef>
                <a:spcPts val="0"/>
              </a:spcBef>
              <a:spcAft>
                <a:spcPts val="0"/>
              </a:spcAft>
              <a:buClr>
                <a:schemeClr val="dk1"/>
              </a:buClr>
              <a:buSzPts val="713"/>
              <a:buFont typeface="Arial"/>
              <a:buNone/>
            </a:pPr>
            <a:endParaRPr/>
          </a:p>
          <a:p>
            <a:pPr marL="0" lvl="0" indent="0" algn="l" rtl="0">
              <a:lnSpc>
                <a:spcPct val="60000"/>
              </a:lnSpc>
              <a:spcBef>
                <a:spcPts val="0"/>
              </a:spcBef>
              <a:spcAft>
                <a:spcPts val="0"/>
              </a:spcAft>
              <a:buClr>
                <a:schemeClr val="dk1"/>
              </a:buClr>
              <a:buSzPts val="713"/>
              <a:buFont typeface="Arial"/>
              <a:buNone/>
            </a:pPr>
            <a:r>
              <a:rPr lang="en-US" sz="800"/>
              <a:t>First, ensure that each organization is isolated from one another in terms of networking and computing resources. Next, establish network isolation for different application teams within each organization by using Virtual Private Clouds (VPCs). Finally, implement a transit gateway to facilitate communication between VPCs and to enable connectivity with external networks outside the organization.</a:t>
            </a:r>
            <a:endParaRPr/>
          </a:p>
          <a:p>
            <a:pPr marL="0" lvl="0" indent="0" algn="l" rtl="0">
              <a:lnSpc>
                <a:spcPct val="60000"/>
              </a:lnSpc>
              <a:spcBef>
                <a:spcPts val="0"/>
              </a:spcBef>
              <a:spcAft>
                <a:spcPts val="0"/>
              </a:spcAft>
              <a:buClr>
                <a:schemeClr val="dk1"/>
              </a:buClr>
              <a:buSzPts val="713"/>
              <a:buFont typeface="Arial"/>
              <a:buNone/>
            </a:pPr>
            <a:endParaRPr sz="800"/>
          </a:p>
          <a:p>
            <a:pPr marL="0" lvl="0" indent="0" algn="l" rtl="0">
              <a:lnSpc>
                <a:spcPct val="60000"/>
              </a:lnSpc>
              <a:spcBef>
                <a:spcPts val="0"/>
              </a:spcBef>
              <a:spcAft>
                <a:spcPts val="0"/>
              </a:spcAft>
              <a:buClr>
                <a:schemeClr val="dk1"/>
              </a:buClr>
              <a:buSzPts val="713"/>
              <a:buFont typeface="Arial"/>
              <a:buNone/>
            </a:pPr>
            <a:r>
              <a:rPr lang="en-US" sz="800"/>
              <a:t>Enterprise IT admins manage resources and set quota policies for each org. They control identity, permissions, and operations, and they organize content management across different LOBs. Additionally, IT admins can provide various managed services such as encryption, backup, and data management using services created by VMware and third-party software vendors (e.g., Veeam for backup services).</a:t>
            </a:r>
            <a:endParaRPr/>
          </a:p>
          <a:p>
            <a:pPr marL="0" lvl="0" indent="0" algn="l" rtl="0">
              <a:lnSpc>
                <a:spcPct val="60000"/>
              </a:lnSpc>
              <a:spcBef>
                <a:spcPts val="0"/>
              </a:spcBef>
              <a:spcAft>
                <a:spcPts val="0"/>
              </a:spcAft>
              <a:buClr>
                <a:schemeClr val="dk1"/>
              </a:buClr>
              <a:buSzPts val="713"/>
              <a:buFont typeface="Arial"/>
              <a:buNone/>
            </a:pPr>
            <a:endParaRPr sz="800"/>
          </a:p>
          <a:p>
            <a:pPr marL="0" lvl="0" indent="0" algn="l" rtl="0">
              <a:lnSpc>
                <a:spcPct val="60000"/>
              </a:lnSpc>
              <a:spcBef>
                <a:spcPts val="0"/>
              </a:spcBef>
              <a:spcAft>
                <a:spcPts val="0"/>
              </a:spcAft>
              <a:buClr>
                <a:schemeClr val="dk1"/>
              </a:buClr>
              <a:buSzPts val="713"/>
              <a:buFont typeface="Arial"/>
              <a:buNone/>
            </a:pPr>
            <a:r>
              <a:rPr lang="en-US" sz="800"/>
              <a:t>Additionally, if desired, custom branding can be created for each org console within VCF Automation, allowing for a distinct branding experience for each org.</a:t>
            </a:r>
            <a:endParaRPr/>
          </a:p>
          <a:p>
            <a:pPr marL="158750" lvl="0" indent="0" algn="l" rtl="0">
              <a:lnSpc>
                <a:spcPct val="95000"/>
              </a:lnSpc>
              <a:spcBef>
                <a:spcPts val="0"/>
              </a:spcBef>
              <a:spcAft>
                <a:spcPts val="0"/>
              </a:spcAft>
              <a:buClr>
                <a:schemeClr val="dk1"/>
              </a:buClr>
              <a:buSzPts val="1100"/>
              <a:buFont typeface="Arial"/>
              <a:buNone/>
            </a:pPr>
            <a:endParaRPr sz="800">
              <a:latin typeface="Arial"/>
              <a:ea typeface="Arial"/>
              <a:cs typeface="Arial"/>
              <a:sym typeface="Arial"/>
            </a:endParaRPr>
          </a:p>
          <a:p>
            <a:pPr marL="0" lvl="0" indent="0" algn="l" rtl="0">
              <a:lnSpc>
                <a:spcPct val="80000"/>
              </a:lnSpc>
              <a:spcBef>
                <a:spcPts val="0"/>
              </a:spcBef>
              <a:spcAft>
                <a:spcPts val="0"/>
              </a:spcAft>
              <a:buClr>
                <a:schemeClr val="dk1"/>
              </a:buClr>
              <a:buSzPts val="1100"/>
              <a:buFont typeface="Arial"/>
              <a:buNone/>
            </a:pPr>
            <a:r>
              <a:rPr lang="en-US" b="1"/>
              <a:t>Notes:</a:t>
            </a:r>
            <a:br>
              <a:rPr lang="en-US" b="1"/>
            </a:br>
            <a:r>
              <a:rPr lang="en-US" sz="1200">
                <a:latin typeface="Arial"/>
                <a:ea typeface="Arial"/>
                <a:cs typeface="Arial"/>
                <a:sym typeface="Arial"/>
              </a:rPr>
              <a:t>For a short and sweet summary of Tenant Management, explained in an alternative way (spans across different themes):</a:t>
            </a:r>
            <a:endParaRPr/>
          </a:p>
          <a:p>
            <a:pPr marL="457200" lvl="0" indent="-298450" algn="l" rtl="0">
              <a:lnSpc>
                <a:spcPct val="95000"/>
              </a:lnSpc>
              <a:spcBef>
                <a:spcPts val="1200"/>
              </a:spcBef>
              <a:spcAft>
                <a:spcPts val="0"/>
              </a:spcAft>
              <a:buClr>
                <a:schemeClr val="dk1"/>
              </a:buClr>
              <a:buSzPts val="1100"/>
              <a:buFont typeface="Arial"/>
              <a:buChar char="●"/>
            </a:pPr>
            <a:r>
              <a:rPr lang="en-US" sz="1200" b="0" u="sng">
                <a:latin typeface="Arial"/>
                <a:ea typeface="Arial"/>
                <a:cs typeface="Arial"/>
                <a:sym typeface="Arial"/>
              </a:rPr>
              <a:t>Organization Management: </a:t>
            </a:r>
            <a:r>
              <a:rPr lang="en-US" sz="1200">
                <a:latin typeface="Arial"/>
                <a:ea typeface="Arial"/>
                <a:cs typeface="Arial"/>
                <a:sym typeface="Arial"/>
              </a:rPr>
              <a:t>Create, manage, and maintain organizational units to structure organizations effectively. </a:t>
            </a:r>
            <a:endParaRPr/>
          </a:p>
          <a:p>
            <a:pPr marL="457200" lvl="0" indent="-298450" algn="l" rtl="0">
              <a:lnSpc>
                <a:spcPct val="95000"/>
              </a:lnSpc>
              <a:spcBef>
                <a:spcPts val="0"/>
              </a:spcBef>
              <a:spcAft>
                <a:spcPts val="0"/>
              </a:spcAft>
              <a:buClr>
                <a:schemeClr val="dk1"/>
              </a:buClr>
              <a:buSzPts val="1100"/>
              <a:buFont typeface="Arial"/>
              <a:buChar char="●"/>
            </a:pPr>
            <a:r>
              <a:rPr lang="en-US" sz="1200" b="0" u="sng">
                <a:latin typeface="Arial"/>
                <a:ea typeface="Arial"/>
                <a:cs typeface="Arial"/>
                <a:sym typeface="Arial"/>
              </a:rPr>
              <a:t>Resource Management and Allocation to Organizations: </a:t>
            </a:r>
            <a:r>
              <a:rPr lang="en-US" sz="1200">
                <a:latin typeface="Arial"/>
                <a:ea typeface="Arial"/>
                <a:cs typeface="Arial"/>
                <a:sym typeface="Arial"/>
              </a:rPr>
              <a:t>Allocate and manage cloud resources such as compute, storage, and network quotas across organizations. </a:t>
            </a:r>
            <a:endParaRPr/>
          </a:p>
          <a:p>
            <a:pPr marL="457200" lvl="0" indent="-298450" algn="l" rtl="0">
              <a:lnSpc>
                <a:spcPct val="95000"/>
              </a:lnSpc>
              <a:spcBef>
                <a:spcPts val="0"/>
              </a:spcBef>
              <a:spcAft>
                <a:spcPts val="0"/>
              </a:spcAft>
              <a:buClr>
                <a:schemeClr val="dk1"/>
              </a:buClr>
              <a:buSzPts val="1100"/>
              <a:buFont typeface="Arial"/>
              <a:buChar char="●"/>
            </a:pPr>
            <a:r>
              <a:rPr lang="en-US" sz="1200" b="0" u="sng">
                <a:latin typeface="Arial"/>
                <a:ea typeface="Arial"/>
                <a:cs typeface="Arial"/>
                <a:sym typeface="Arial"/>
              </a:rPr>
              <a:t>Cost and Chargeback: </a:t>
            </a:r>
            <a:r>
              <a:rPr lang="en-US" sz="1200">
                <a:latin typeface="Arial"/>
                <a:ea typeface="Arial"/>
                <a:cs typeface="Arial"/>
                <a:sym typeface="Arial"/>
              </a:rPr>
              <a:t>Track resource consumption and generate cost insights, enabling chargeback or showback for individual orgs. </a:t>
            </a:r>
            <a:endParaRPr/>
          </a:p>
          <a:p>
            <a:pPr marL="457200" lvl="0" indent="-298450" algn="l" rtl="0">
              <a:lnSpc>
                <a:spcPct val="95000"/>
              </a:lnSpc>
              <a:spcBef>
                <a:spcPts val="0"/>
              </a:spcBef>
              <a:spcAft>
                <a:spcPts val="0"/>
              </a:spcAft>
              <a:buClr>
                <a:schemeClr val="dk1"/>
              </a:buClr>
              <a:buSzPts val="1100"/>
              <a:buFont typeface="Arial"/>
              <a:buChar char="●"/>
            </a:pPr>
            <a:r>
              <a:rPr lang="en-US" sz="1200" b="0" u="sng">
                <a:latin typeface="Arial"/>
                <a:ea typeface="Arial"/>
                <a:cs typeface="Arial"/>
                <a:sym typeface="Arial"/>
              </a:rPr>
              <a:t>Access Control and Identity Management: </a:t>
            </a:r>
            <a:r>
              <a:rPr lang="en-US" sz="1200">
                <a:latin typeface="Arial"/>
                <a:ea typeface="Arial"/>
                <a:cs typeface="Arial"/>
                <a:sym typeface="Arial"/>
              </a:rPr>
              <a:t>Manage user roles, permissions, and authentication to ensure secure and tailored access for each org. </a:t>
            </a:r>
            <a:endParaRPr/>
          </a:p>
          <a:p>
            <a:pPr marL="457200" lvl="0" indent="-298450" algn="l" rtl="0">
              <a:lnSpc>
                <a:spcPct val="95000"/>
              </a:lnSpc>
              <a:spcBef>
                <a:spcPts val="0"/>
              </a:spcBef>
              <a:spcAft>
                <a:spcPts val="0"/>
              </a:spcAft>
              <a:buClr>
                <a:schemeClr val="dk1"/>
              </a:buClr>
              <a:buSzPts val="1100"/>
              <a:buFont typeface="Arial"/>
              <a:buChar char="●"/>
            </a:pPr>
            <a:r>
              <a:rPr lang="en-US" sz="1200" b="0" u="sng">
                <a:latin typeface="Arial"/>
                <a:ea typeface="Arial"/>
                <a:cs typeface="Arial"/>
                <a:sym typeface="Arial"/>
              </a:rPr>
              <a:t>Content Management: </a:t>
            </a:r>
            <a:r>
              <a:rPr lang="en-US" sz="1200">
                <a:latin typeface="Arial"/>
                <a:ea typeface="Arial"/>
                <a:cs typeface="Arial"/>
                <a:sym typeface="Arial"/>
              </a:rPr>
              <a:t>Share content such as blueprints, images, and workflows from the provider to multiple organizations for seamless consumption.</a:t>
            </a:r>
            <a:endParaRPr/>
          </a:p>
          <a:p>
            <a:pPr marL="0" lvl="0" indent="0" algn="l" rtl="0">
              <a:spcBef>
                <a:spcPts val="0"/>
              </a:spcBef>
              <a:spcAft>
                <a:spcPts val="0"/>
              </a:spcAft>
              <a:buClr>
                <a:schemeClr val="dk1"/>
              </a:buClr>
              <a:buSzPts val="1200"/>
              <a:buFont typeface="Arial"/>
              <a:buNone/>
            </a:pPr>
            <a:br>
              <a:rPr lang="en-US" sz="1200"/>
            </a:br>
            <a:r>
              <a:rPr lang="en-US" sz="1200" b="1"/>
              <a:t>Resources:</a:t>
            </a:r>
            <a:br>
              <a:rPr lang="en-US" sz="1200"/>
            </a:br>
            <a:endParaRPr/>
          </a:p>
          <a:p>
            <a:pPr marL="0" lvl="0" indent="0" algn="l" rtl="0">
              <a:lnSpc>
                <a:spcPct val="80000"/>
              </a:lnSpc>
              <a:spcBef>
                <a:spcPts val="1200"/>
              </a:spcBef>
              <a:spcAft>
                <a:spcPts val="0"/>
              </a:spcAft>
              <a:buClr>
                <a:schemeClr val="dk1"/>
              </a:buClr>
              <a:buSzPts val="1400"/>
              <a:buFont typeface="Arial"/>
              <a:buNone/>
            </a:pPr>
            <a:endParaRPr sz="800">
              <a:solidFill>
                <a:srgbClr val="444746"/>
              </a:solidFill>
              <a:latin typeface="Roboto"/>
              <a:ea typeface="Roboto"/>
              <a:cs typeface="Roboto"/>
              <a:sym typeface="Roboto"/>
            </a:endParaRPr>
          </a:p>
          <a:p>
            <a:pPr marL="457200" marR="0" lvl="0" indent="-228600" algn="l" rtl="0">
              <a:lnSpc>
                <a:spcPct val="100000"/>
              </a:lnSpc>
              <a:spcBef>
                <a:spcPts val="0"/>
              </a:spcBef>
              <a:spcAft>
                <a:spcPts val="0"/>
              </a:spcAft>
              <a:buClr>
                <a:schemeClr val="dk1"/>
              </a:buClr>
              <a:buSzPts val="1400"/>
              <a:buFont typeface="Arial"/>
              <a:buNone/>
            </a:pPr>
            <a:endParaRPr/>
          </a:p>
        </p:txBody>
      </p:sp>
      <p:sp>
        <p:nvSpPr>
          <p:cNvPr id="15535" name="Google Shape;15535;p10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41"/>
        <p:cNvGrpSpPr/>
        <p:nvPr/>
      </p:nvGrpSpPr>
      <p:grpSpPr>
        <a:xfrm>
          <a:off x="0" y="0"/>
          <a:ext cx="0" cy="0"/>
          <a:chOff x="0" y="0"/>
          <a:chExt cx="0" cy="0"/>
        </a:xfrm>
      </p:grpSpPr>
      <p:sp>
        <p:nvSpPr>
          <p:cNvPr id="15542" name="Google Shape;15542;p10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43" name="Google Shape;15543;p10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sz="20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a:latin typeface="Arial"/>
                <a:ea typeface="Arial"/>
                <a:cs typeface="Arial"/>
                <a:sym typeface="Arial"/>
              </a:rPr>
              <a:t>Organization Portal provides Organization Admins quick glimpse into the Org as well as the ability to manage the Organization itself</a:t>
            </a:r>
            <a:endParaRPr/>
          </a:p>
          <a:p>
            <a:pPr marL="0" lvl="0" indent="0" algn="l" rtl="0">
              <a:lnSpc>
                <a:spcPct val="60000"/>
              </a:lnSpc>
              <a:spcBef>
                <a:spcPts val="0"/>
              </a:spcBef>
              <a:spcAft>
                <a:spcPts val="0"/>
              </a:spcAft>
              <a:buClr>
                <a:schemeClr val="dk1"/>
              </a:buClr>
              <a:buSzPts val="713"/>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a:p>
          <a:p>
            <a:pPr marL="0" lvl="0" indent="0" algn="l" rtl="0">
              <a:spcBef>
                <a:spcPts val="0"/>
              </a:spcBef>
              <a:spcAft>
                <a:spcPts val="0"/>
              </a:spcAft>
              <a:buClr>
                <a:schemeClr val="dk1"/>
              </a:buClr>
              <a:buSzPts val="1200"/>
              <a:buFont typeface="Arial"/>
              <a:buNone/>
            </a:pPr>
            <a:r>
              <a:rPr lang="en-US" sz="1200" b="0" i="0">
                <a:solidFill>
                  <a:schemeClr val="dk1"/>
                </a:solidFill>
                <a:latin typeface="Arial"/>
                <a:ea typeface="Arial"/>
                <a:cs typeface="Arial"/>
                <a:sym typeface="Arial"/>
              </a:rPr>
              <a:t>As an administrator of a VCF Automation  organization, you manage user access, network configurations, including VPCs and subnets, and policies for your organization. You also create namespaces and manage provider-assigned quotas for the resources associated with the namespaces in your organization. </a:t>
            </a:r>
            <a:r>
              <a:rPr lang="en-US"/>
              <a:t>The automatic creation of projects and vSphere namespaces by default accelerates the process of provisioning workloads almost immediately. </a:t>
            </a:r>
            <a:endParaRPr/>
          </a:p>
          <a:p>
            <a:pPr marL="0" marR="0" lvl="0" indent="0" algn="l" rtl="0">
              <a:lnSpc>
                <a:spcPct val="60000"/>
              </a:lnSpc>
              <a:spcBef>
                <a:spcPts val="0"/>
              </a:spcBef>
              <a:spcAft>
                <a:spcPts val="0"/>
              </a:spcAft>
              <a:buClr>
                <a:schemeClr val="dk1"/>
              </a:buClr>
              <a:buSzPts val="713"/>
              <a:buFont typeface="Arial"/>
              <a:buNone/>
            </a:pPr>
            <a:r>
              <a:rPr lang="en-US"/>
              <a:t>Additionally, having a default Virtual Private Cloud (VPC) setup establishes a network isolation domain within the organization, laying the groundwork for future scalability when multiple network isolation domains are needed.</a:t>
            </a:r>
            <a:endParaRPr/>
          </a:p>
          <a:p>
            <a:pPr marL="0" marR="0" lvl="0" indent="0" algn="l" rtl="0">
              <a:lnSpc>
                <a:spcPct val="60000"/>
              </a:lnSpc>
              <a:spcBef>
                <a:spcPts val="0"/>
              </a:spcBef>
              <a:spcAft>
                <a:spcPts val="0"/>
              </a:spcAft>
              <a:buClr>
                <a:schemeClr val="dk1"/>
              </a:buClr>
              <a:buSzPts val="713"/>
              <a:buFont typeface="Arial"/>
              <a:buNone/>
            </a:pPr>
            <a:endParaRPr/>
          </a:p>
          <a:p>
            <a:pPr marL="0" lvl="0" indent="0" algn="l" rtl="0">
              <a:spcBef>
                <a:spcPts val="0"/>
              </a:spcBef>
              <a:spcAft>
                <a:spcPts val="0"/>
              </a:spcAft>
              <a:buClr>
                <a:schemeClr val="dk1"/>
              </a:buClr>
              <a:buSzPts val="1200"/>
              <a:buFont typeface="Arial"/>
              <a:buNone/>
            </a:pPr>
            <a:r>
              <a:rPr lang="en-US" sz="1200" b="0" i="0">
                <a:solidFill>
                  <a:schemeClr val="dk1"/>
                </a:solidFill>
                <a:latin typeface="Arial"/>
                <a:ea typeface="Arial"/>
                <a:cs typeface="Arial"/>
                <a:sym typeface="Arial"/>
              </a:rPr>
              <a:t>The </a:t>
            </a:r>
            <a:r>
              <a:rPr lang="en-US" sz="1200" b="1" i="0">
                <a:solidFill>
                  <a:schemeClr val="dk1"/>
                </a:solidFill>
                <a:latin typeface="Arial"/>
                <a:ea typeface="Arial"/>
                <a:cs typeface="Arial"/>
                <a:sym typeface="Arial"/>
              </a:rPr>
              <a:t>Overview</a:t>
            </a:r>
            <a:r>
              <a:rPr lang="en-US" sz="1200" b="0" i="0">
                <a:solidFill>
                  <a:schemeClr val="dk1"/>
                </a:solidFill>
                <a:latin typeface="Arial"/>
                <a:ea typeface="Arial"/>
                <a:cs typeface="Arial"/>
                <a:sym typeface="Arial"/>
              </a:rPr>
              <a:t>  tab shows you important infrastructure and consumption metrics in your organization. It also provides quick links to your </a:t>
            </a:r>
            <a:r>
              <a:rPr lang="en-US"/>
              <a:t>VCF</a:t>
            </a:r>
            <a:r>
              <a:rPr lang="en-US" sz="1200" b="0" i="0">
                <a:solidFill>
                  <a:schemeClr val="dk1"/>
                </a:solidFill>
                <a:latin typeface="Arial"/>
                <a:ea typeface="Arial"/>
                <a:cs typeface="Arial"/>
                <a:sym typeface="Arial"/>
              </a:rPr>
              <a:t> services.</a:t>
            </a:r>
            <a:endParaRPr/>
          </a:p>
          <a:p>
            <a:pPr marL="0" lvl="0" indent="0" algn="l" rtl="0">
              <a:spcBef>
                <a:spcPts val="0"/>
              </a:spcBef>
              <a:spcAft>
                <a:spcPts val="0"/>
              </a:spcAft>
              <a:buClr>
                <a:schemeClr val="dk1"/>
              </a:buClr>
              <a:buSzPts val="1200"/>
              <a:buFont typeface="Arial"/>
              <a:buNone/>
            </a:pPr>
            <a:r>
              <a:rPr lang="en-US" sz="1200" b="0" i="0">
                <a:solidFill>
                  <a:schemeClr val="dk1"/>
                </a:solidFill>
                <a:latin typeface="Arial"/>
                <a:ea typeface="Arial"/>
                <a:cs typeface="Arial"/>
                <a:sym typeface="Arial"/>
              </a:rPr>
              <a:t>The </a:t>
            </a:r>
            <a:r>
              <a:rPr lang="en-US" sz="1200" b="1" i="0">
                <a:solidFill>
                  <a:schemeClr val="dk1"/>
                </a:solidFill>
                <a:latin typeface="Arial"/>
                <a:ea typeface="Arial"/>
                <a:cs typeface="Arial"/>
                <a:sym typeface="Arial"/>
              </a:rPr>
              <a:t>Build &amp; Deploy </a:t>
            </a:r>
            <a:r>
              <a:rPr lang="en-US" sz="1200" b="0" i="0">
                <a:solidFill>
                  <a:schemeClr val="dk1"/>
                </a:solidFill>
                <a:latin typeface="Arial"/>
                <a:ea typeface="Arial"/>
                <a:cs typeface="Arial"/>
                <a:sym typeface="Arial"/>
              </a:rPr>
              <a:t>tab is your content hub and development home. Administrators can create blueprints and content libraries, publish workflows to the catalog, and create extensibility events. Project users can deploy cloud services from catalog items or can access the IaaS Services console.</a:t>
            </a:r>
            <a:endParaRPr/>
          </a:p>
          <a:p>
            <a:pPr marL="0" lvl="0" indent="0" algn="l" rtl="0">
              <a:spcBef>
                <a:spcPts val="0"/>
              </a:spcBef>
              <a:spcAft>
                <a:spcPts val="0"/>
              </a:spcAft>
              <a:buClr>
                <a:schemeClr val="dk1"/>
              </a:buClr>
              <a:buSzPts val="1200"/>
              <a:buFont typeface="Arial"/>
              <a:buNone/>
            </a:pPr>
            <a:r>
              <a:rPr lang="en-US" sz="1200" b="0" i="0">
                <a:solidFill>
                  <a:schemeClr val="dk1"/>
                </a:solidFill>
                <a:latin typeface="Arial"/>
                <a:ea typeface="Arial"/>
                <a:cs typeface="Arial"/>
                <a:sym typeface="Arial"/>
              </a:rPr>
              <a:t>The </a:t>
            </a:r>
            <a:r>
              <a:rPr lang="en-US" sz="1200" b="1" i="0">
                <a:solidFill>
                  <a:schemeClr val="dk1"/>
                </a:solidFill>
                <a:latin typeface="Arial"/>
                <a:ea typeface="Arial"/>
                <a:cs typeface="Arial"/>
                <a:sym typeface="Arial"/>
              </a:rPr>
              <a:t>Manage &amp; Gove</a:t>
            </a:r>
            <a:r>
              <a:rPr lang="en-US" sz="1200" b="0" i="0">
                <a:solidFill>
                  <a:schemeClr val="dk1"/>
                </a:solidFill>
                <a:latin typeface="Arial"/>
                <a:ea typeface="Arial"/>
                <a:cs typeface="Arial"/>
                <a:sym typeface="Arial"/>
              </a:rPr>
              <a:t>rn tab is where administrators manage the slices of infrastructure that the provider allocated to the organization. That includes projects, namespaces, namespace classes, policies, and networking.</a:t>
            </a:r>
            <a:endParaRPr/>
          </a:p>
          <a:p>
            <a:pPr marL="0" lvl="0" indent="0" algn="l" rtl="0">
              <a:spcBef>
                <a:spcPts val="0"/>
              </a:spcBef>
              <a:spcAft>
                <a:spcPts val="0"/>
              </a:spcAft>
              <a:buClr>
                <a:schemeClr val="dk1"/>
              </a:buClr>
              <a:buSzPts val="1200"/>
              <a:buFont typeface="Arial"/>
              <a:buNone/>
            </a:pPr>
            <a:r>
              <a:rPr lang="en-US" sz="1200" b="0" i="0">
                <a:solidFill>
                  <a:schemeClr val="dk1"/>
                </a:solidFill>
                <a:latin typeface="Arial"/>
                <a:ea typeface="Arial"/>
                <a:cs typeface="Arial"/>
                <a:sym typeface="Arial"/>
              </a:rPr>
              <a:t>The </a:t>
            </a:r>
            <a:r>
              <a:rPr lang="en-US" sz="1200" b="1" i="0">
                <a:solidFill>
                  <a:schemeClr val="dk1"/>
                </a:solidFill>
                <a:latin typeface="Arial"/>
                <a:ea typeface="Arial"/>
                <a:cs typeface="Arial"/>
                <a:sym typeface="Arial"/>
              </a:rPr>
              <a:t>Orchestrate</a:t>
            </a:r>
            <a:r>
              <a:rPr lang="en-US" sz="1200" b="0" i="0">
                <a:solidFill>
                  <a:schemeClr val="dk1"/>
                </a:solidFill>
                <a:latin typeface="Arial"/>
                <a:ea typeface="Arial"/>
                <a:cs typeface="Arial"/>
                <a:sym typeface="Arial"/>
              </a:rPr>
              <a:t> tab is where you access the VCF Operations orchestrator  integration that your provider administrator configured for the organization.</a:t>
            </a:r>
            <a:endParaRPr/>
          </a:p>
          <a:p>
            <a:pPr marL="0" lvl="0" indent="0" algn="l" rtl="0">
              <a:spcBef>
                <a:spcPts val="0"/>
              </a:spcBef>
              <a:spcAft>
                <a:spcPts val="0"/>
              </a:spcAft>
              <a:buClr>
                <a:schemeClr val="dk1"/>
              </a:buClr>
              <a:buSzPts val="1200"/>
              <a:buFont typeface="Arial"/>
              <a:buNone/>
            </a:pPr>
            <a:r>
              <a:rPr lang="en-US" sz="1200" b="0" i="0">
                <a:solidFill>
                  <a:schemeClr val="dk1"/>
                </a:solidFill>
                <a:latin typeface="Arial"/>
                <a:ea typeface="Arial"/>
                <a:cs typeface="Arial"/>
                <a:sym typeface="Arial"/>
              </a:rPr>
              <a:t>The </a:t>
            </a:r>
            <a:r>
              <a:rPr lang="en-US" sz="1200" b="1" i="0">
                <a:solidFill>
                  <a:schemeClr val="dk1"/>
                </a:solidFill>
                <a:latin typeface="Arial"/>
                <a:ea typeface="Arial"/>
                <a:cs typeface="Arial"/>
                <a:sym typeface="Arial"/>
              </a:rPr>
              <a:t>Administer</a:t>
            </a:r>
            <a:r>
              <a:rPr lang="en-US" sz="1200" b="0" i="0">
                <a:solidFill>
                  <a:schemeClr val="dk1"/>
                </a:solidFill>
                <a:latin typeface="Arial"/>
                <a:ea typeface="Arial"/>
                <a:cs typeface="Arial"/>
                <a:sym typeface="Arial"/>
              </a:rPr>
              <a:t>  tab is where you manage expenses, identity providers, users and user roles, integrations, certificates and passwords, email notifications, and so on.</a:t>
            </a:r>
            <a:endParaRPr/>
          </a:p>
          <a:p>
            <a:pPr marL="0" marR="0" lvl="0" indent="0" algn="l" rtl="0">
              <a:lnSpc>
                <a:spcPct val="60000"/>
              </a:lnSpc>
              <a:spcBef>
                <a:spcPts val="0"/>
              </a:spcBef>
              <a:spcAft>
                <a:spcPts val="0"/>
              </a:spcAft>
              <a:buClr>
                <a:schemeClr val="dk1"/>
              </a:buClr>
              <a:buSzPts val="713"/>
              <a:buFont typeface="Arial"/>
              <a:buNone/>
            </a:pPr>
            <a:endParaRPr sz="1200" b="1">
              <a:latin typeface="Arial"/>
              <a:ea typeface="Arial"/>
              <a:cs typeface="Arial"/>
              <a:sym typeface="Arial"/>
            </a:endParaRPr>
          </a:p>
          <a:p>
            <a:pPr marL="0" marR="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Notes:</a:t>
            </a:r>
            <a:endParaRPr/>
          </a:p>
        </p:txBody>
      </p:sp>
      <p:sp>
        <p:nvSpPr>
          <p:cNvPr id="15544" name="Google Shape;15544;p10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50"/>
        <p:cNvGrpSpPr/>
        <p:nvPr/>
      </p:nvGrpSpPr>
      <p:grpSpPr>
        <a:xfrm>
          <a:off x="0" y="0"/>
          <a:ext cx="0" cy="0"/>
          <a:chOff x="0" y="0"/>
          <a:chExt cx="0" cy="0"/>
        </a:xfrm>
      </p:grpSpPr>
      <p:sp>
        <p:nvSpPr>
          <p:cNvPr id="15551" name="Google Shape;15551;p10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52" name="Google Shape;15552;p10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lnSpc>
                <a:spcPct val="80000"/>
              </a:lnSpc>
              <a:spcBef>
                <a:spcPts val="0"/>
              </a:spcBef>
              <a:spcAft>
                <a:spcPts val="0"/>
              </a:spcAft>
              <a:buClr>
                <a:schemeClr val="dk1"/>
              </a:buClr>
              <a:buSzPts val="1110"/>
              <a:buFont typeface="Arial"/>
              <a:buNone/>
            </a:pPr>
            <a:r>
              <a:rPr lang="en-US" sz="1110" b="1"/>
              <a:t>Key Message:</a:t>
            </a:r>
            <a:endParaRPr sz="1110"/>
          </a:p>
          <a:p>
            <a:pPr marL="0" lvl="0" indent="0" algn="l" rtl="0">
              <a:lnSpc>
                <a:spcPct val="80000"/>
              </a:lnSpc>
              <a:spcBef>
                <a:spcPts val="0"/>
              </a:spcBef>
              <a:spcAft>
                <a:spcPts val="0"/>
              </a:spcAft>
              <a:buClr>
                <a:schemeClr val="dk1"/>
              </a:buClr>
              <a:buSzPts val="1110"/>
              <a:buFont typeface="Arial"/>
              <a:buNone/>
            </a:pPr>
            <a:r>
              <a:rPr lang="en-US" sz="1110"/>
              <a:t>Modern infrastructure and multi-tenancy facilitate a wider range of use cases. For example, IaaS allows for self-service infrastructure provisioning within a secure, multi-tenant environment, merging speed and consistency with centralized governance and policy control.</a:t>
            </a:r>
            <a:endParaRPr/>
          </a:p>
          <a:p>
            <a:pPr marL="0" lvl="0" indent="0" algn="l" rtl="0">
              <a:lnSpc>
                <a:spcPct val="80000"/>
              </a:lnSpc>
              <a:spcBef>
                <a:spcPts val="0"/>
              </a:spcBef>
              <a:spcAft>
                <a:spcPts val="0"/>
              </a:spcAft>
              <a:buClr>
                <a:schemeClr val="dk1"/>
              </a:buClr>
              <a:buSzPts val="1110"/>
              <a:buFont typeface="Arial"/>
              <a:buNone/>
            </a:pPr>
            <a:endParaRPr sz="1110"/>
          </a:p>
          <a:p>
            <a:pPr marL="0" lvl="0" indent="0" algn="l" rtl="0">
              <a:lnSpc>
                <a:spcPct val="80000"/>
              </a:lnSpc>
              <a:spcBef>
                <a:spcPts val="0"/>
              </a:spcBef>
              <a:spcAft>
                <a:spcPts val="0"/>
              </a:spcAft>
              <a:buClr>
                <a:schemeClr val="dk1"/>
              </a:buClr>
              <a:buSzPts val="1110"/>
              <a:buFont typeface="Arial"/>
              <a:buNone/>
            </a:pPr>
            <a:r>
              <a:rPr lang="en-US" sz="1110" b="1"/>
              <a:t>Talk Track:</a:t>
            </a:r>
            <a:endParaRPr sz="1110"/>
          </a:p>
          <a:p>
            <a:pPr marL="0" lvl="0" indent="0" algn="l" rtl="0">
              <a:lnSpc>
                <a:spcPct val="80000"/>
              </a:lnSpc>
              <a:spcBef>
                <a:spcPts val="0"/>
              </a:spcBef>
              <a:spcAft>
                <a:spcPts val="0"/>
              </a:spcAft>
              <a:buClr>
                <a:schemeClr val="dk1"/>
              </a:buClr>
              <a:buSzPts val="1110"/>
              <a:buFont typeface="Arial"/>
              <a:buNone/>
            </a:pPr>
            <a:r>
              <a:rPr lang="en-US" sz="1110"/>
              <a:t>With modern infrastructure and a multi-tenant environment established, more use cases are enabled, such as Infrastructure as a Service and catalog items in VCF Automation, which offers self-service virtual infrastructure provisioning.</a:t>
            </a:r>
            <a:endParaRPr/>
          </a:p>
          <a:p>
            <a:pPr marL="0" lvl="0" indent="0" algn="l" rtl="0">
              <a:lnSpc>
                <a:spcPct val="80000"/>
              </a:lnSpc>
              <a:spcBef>
                <a:spcPts val="0"/>
              </a:spcBef>
              <a:spcAft>
                <a:spcPts val="0"/>
              </a:spcAft>
              <a:buClr>
                <a:schemeClr val="dk1"/>
              </a:buClr>
              <a:buSzPts val="1110"/>
              <a:buFont typeface="Arial"/>
              <a:buNone/>
            </a:pPr>
            <a:endParaRPr sz="1110"/>
          </a:p>
          <a:p>
            <a:pPr marL="0" lvl="0" indent="0" algn="l" rtl="0">
              <a:lnSpc>
                <a:spcPct val="80000"/>
              </a:lnSpc>
              <a:spcBef>
                <a:spcPts val="0"/>
              </a:spcBef>
              <a:spcAft>
                <a:spcPts val="0"/>
              </a:spcAft>
              <a:buClr>
                <a:schemeClr val="dk1"/>
              </a:buClr>
              <a:buSzPts val="1110"/>
              <a:buFont typeface="Arial"/>
              <a:buNone/>
            </a:pPr>
            <a:r>
              <a:rPr lang="en-US" sz="1110"/>
              <a:t>It provides a library of standardized IaaS resource policy-driven templates that outline compute, storage, and networking resources, ensuring that each organization can deploy infrastructure within its designated boundaries.</a:t>
            </a:r>
            <a:endParaRPr/>
          </a:p>
          <a:p>
            <a:pPr marL="0" lvl="0" indent="0" algn="l" rtl="0">
              <a:lnSpc>
                <a:spcPct val="80000"/>
              </a:lnSpc>
              <a:spcBef>
                <a:spcPts val="0"/>
              </a:spcBef>
              <a:spcAft>
                <a:spcPts val="0"/>
              </a:spcAft>
              <a:buClr>
                <a:schemeClr val="dk1"/>
              </a:buClr>
              <a:buSzPts val="1110"/>
              <a:buFont typeface="Arial"/>
              <a:buNone/>
            </a:pPr>
            <a:endParaRPr sz="1110"/>
          </a:p>
          <a:p>
            <a:pPr marL="0" lvl="0" indent="0" algn="l" rtl="0">
              <a:lnSpc>
                <a:spcPct val="80000"/>
              </a:lnSpc>
              <a:spcBef>
                <a:spcPts val="0"/>
              </a:spcBef>
              <a:spcAft>
                <a:spcPts val="0"/>
              </a:spcAft>
              <a:buClr>
                <a:schemeClr val="dk1"/>
              </a:buClr>
              <a:buSzPts val="1110"/>
              <a:buFont typeface="Arial"/>
              <a:buNone/>
            </a:pPr>
            <a:r>
              <a:rPr lang="en-US" sz="1110"/>
              <a:t>With integrated role-based access control, users can provision resources on demand while IT retains centralized governance, compliance, and oversight.</a:t>
            </a:r>
            <a:endParaRPr/>
          </a:p>
          <a:p>
            <a:pPr marL="0" lvl="0" indent="0" algn="l" rtl="0">
              <a:lnSpc>
                <a:spcPct val="80000"/>
              </a:lnSpc>
              <a:spcBef>
                <a:spcPts val="0"/>
              </a:spcBef>
              <a:spcAft>
                <a:spcPts val="0"/>
              </a:spcAft>
              <a:buClr>
                <a:schemeClr val="dk1"/>
              </a:buClr>
              <a:buSzPts val="1110"/>
              <a:buFont typeface="Arial"/>
              <a:buNone/>
            </a:pPr>
            <a:endParaRPr sz="1110"/>
          </a:p>
          <a:p>
            <a:pPr marL="0" lvl="0" indent="0" algn="l" rtl="0">
              <a:lnSpc>
                <a:spcPct val="80000"/>
              </a:lnSpc>
              <a:spcBef>
                <a:spcPts val="0"/>
              </a:spcBef>
              <a:spcAft>
                <a:spcPts val="0"/>
              </a:spcAft>
              <a:buClr>
                <a:schemeClr val="dk1"/>
              </a:buClr>
              <a:buSzPts val="1110"/>
              <a:buFont typeface="Arial"/>
              <a:buNone/>
            </a:pPr>
            <a:r>
              <a:rPr lang="en-US" sz="1110"/>
              <a:t>This streamlines operations, accelerates delivery, and empowers teams to work independently without compromising security or standardization.</a:t>
            </a:r>
            <a:endParaRPr/>
          </a:p>
          <a:p>
            <a:pPr marL="0" lvl="0" indent="0" algn="l" rtl="0">
              <a:lnSpc>
                <a:spcPct val="80000"/>
              </a:lnSpc>
              <a:spcBef>
                <a:spcPts val="0"/>
              </a:spcBef>
              <a:spcAft>
                <a:spcPts val="0"/>
              </a:spcAft>
              <a:buClr>
                <a:schemeClr val="dk1"/>
              </a:buClr>
              <a:buSzPts val="1110"/>
              <a:buFont typeface="Arial"/>
              <a:buNone/>
            </a:pPr>
            <a:endParaRPr sz="1110"/>
          </a:p>
          <a:p>
            <a:pPr marL="0" marR="0" lvl="0" indent="0" algn="l" rtl="0">
              <a:lnSpc>
                <a:spcPct val="80000"/>
              </a:lnSpc>
              <a:spcBef>
                <a:spcPts val="0"/>
              </a:spcBef>
              <a:spcAft>
                <a:spcPts val="0"/>
              </a:spcAft>
              <a:buClr>
                <a:schemeClr val="dk1"/>
              </a:buClr>
              <a:buSzPts val="1110"/>
              <a:buFont typeface="Arial"/>
              <a:buNone/>
            </a:pPr>
            <a:r>
              <a:rPr lang="en-US" sz="1110" b="1" i="0"/>
              <a:t>Notes:</a:t>
            </a:r>
            <a:endParaRPr/>
          </a:p>
          <a:p>
            <a:pPr marL="0" marR="0" lvl="0" indent="0" algn="l" rtl="0">
              <a:lnSpc>
                <a:spcPct val="80000"/>
              </a:lnSpc>
              <a:spcBef>
                <a:spcPts val="0"/>
              </a:spcBef>
              <a:spcAft>
                <a:spcPts val="0"/>
              </a:spcAft>
              <a:buClr>
                <a:schemeClr val="dk1"/>
              </a:buClr>
              <a:buSzPts val="1110"/>
              <a:buFont typeface="Arial"/>
              <a:buNone/>
            </a:pPr>
            <a:endParaRPr sz="1110" b="1" i="0"/>
          </a:p>
          <a:p>
            <a:pPr marL="0" lvl="0" indent="0" algn="l" rtl="0">
              <a:lnSpc>
                <a:spcPct val="80000"/>
              </a:lnSpc>
              <a:spcBef>
                <a:spcPts val="0"/>
              </a:spcBef>
              <a:spcAft>
                <a:spcPts val="0"/>
              </a:spcAft>
              <a:buClr>
                <a:schemeClr val="dk1"/>
              </a:buClr>
              <a:buSzPts val="1110"/>
              <a:buFont typeface="Arial"/>
              <a:buNone/>
            </a:pPr>
            <a:r>
              <a:rPr lang="en-US" sz="1110" b="1"/>
              <a:t>Resources:</a:t>
            </a:r>
            <a:br>
              <a:rPr lang="en-US" sz="1110"/>
            </a:br>
            <a:endParaRPr sz="1110"/>
          </a:p>
        </p:txBody>
      </p:sp>
      <p:sp>
        <p:nvSpPr>
          <p:cNvPr id="15553" name="Google Shape;15553;p10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99</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59"/>
        <p:cNvGrpSpPr/>
        <p:nvPr/>
      </p:nvGrpSpPr>
      <p:grpSpPr>
        <a:xfrm>
          <a:off x="0" y="0"/>
          <a:ext cx="0" cy="0"/>
          <a:chOff x="0" y="0"/>
          <a:chExt cx="0" cy="0"/>
        </a:xfrm>
      </p:grpSpPr>
      <p:sp>
        <p:nvSpPr>
          <p:cNvPr id="15560" name="Google Shape;15560;p10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61" name="Google Shape;15561;p10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sz="20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a:latin typeface="Arial"/>
                <a:ea typeface="Arial"/>
                <a:cs typeface="Arial"/>
                <a:sym typeface="Arial"/>
              </a:rPr>
              <a:t>With VCFA 9, we provide out-of-the-box Cloud Services to simplify the deployment of IT resources while increasing user productivity by reducing the dependence on IT Admins with a time-saving user-friendly interface to simplify operations.</a:t>
            </a:r>
            <a:endParaRPr/>
          </a:p>
          <a:p>
            <a:pPr marL="0" lvl="0" indent="0" algn="l" rtl="0">
              <a:lnSpc>
                <a:spcPct val="60000"/>
              </a:lnSpc>
              <a:spcBef>
                <a:spcPts val="0"/>
              </a:spcBef>
              <a:spcAft>
                <a:spcPts val="0"/>
              </a:spcAft>
              <a:buClr>
                <a:schemeClr val="dk1"/>
              </a:buClr>
              <a:buSzPts val="713"/>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sz="1200" b="0">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b="0"/>
              <a:t>With our c</a:t>
            </a:r>
            <a:r>
              <a:rPr lang="en-US" sz="1200"/>
              <a:t>omprehensive suite of out-of-the-box services (Core “VM, Kubernetes, Network, Volume” Extended “Data Services, Object Store Services” etc.), we simplify the deployment and management of IT resources.</a:t>
            </a:r>
            <a:endParaRPr/>
          </a:p>
          <a:p>
            <a:pPr marL="0" lvl="0" indent="0" algn="l" rtl="0">
              <a:lnSpc>
                <a:spcPct val="60000"/>
              </a:lnSpc>
              <a:spcBef>
                <a:spcPts val="0"/>
              </a:spcBef>
              <a:spcAft>
                <a:spcPts val="0"/>
              </a:spcAft>
              <a:buClr>
                <a:schemeClr val="dk1"/>
              </a:buClr>
              <a:buSzPts val="713"/>
              <a:buFont typeface="Arial"/>
              <a:buNone/>
            </a:pPr>
            <a:r>
              <a:rPr lang="en-US" sz="1200"/>
              <a:t>This allows organizations to quickly scale their infrastructure needs, reduce operational complexities, and focus more on innovation and development rather than on maintaining disparate systems.</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OOTB Cloud Services (Supervisor and associated services) are exposed across VCF environments and aggregated into a common endpoint that can be accessed through a choice of interfaces: UI, CLI, or the declarative Kubernetes IaaS API for self-service consumption.</a:t>
            </a:r>
            <a:endParaRPr/>
          </a:p>
          <a:p>
            <a:pPr marL="0" lvl="0" indent="0" algn="l" rtl="0">
              <a:lnSpc>
                <a:spcPct val="60000"/>
              </a:lnSpc>
              <a:spcBef>
                <a:spcPts val="0"/>
              </a:spcBef>
              <a:spcAft>
                <a:spcPts val="0"/>
              </a:spcAft>
              <a:buClr>
                <a:schemeClr val="dk1"/>
              </a:buClr>
              <a:buSzPts val="713"/>
              <a:buFont typeface="Arial"/>
              <a:buNone/>
            </a:pPr>
            <a:r>
              <a:rPr lang="en-US" sz="1200"/>
              <a:t>Users can leverage a variety of </a:t>
            </a:r>
            <a:r>
              <a:rPr lang="en-US" sz="1200">
                <a:latin typeface="Arial"/>
                <a:ea typeface="Arial"/>
                <a:cs typeface="Arial"/>
                <a:sym typeface="Arial"/>
              </a:rPr>
              <a:t>Cloud Services</a:t>
            </a:r>
            <a:r>
              <a:rPr lang="en-US" sz="1200"/>
              <a:t> such as VM Service that allows you to declaratively define and provision VMs, VKS Service for deploying Kubernetes Clusters, Network Service to deploy Load balancers, Volume Service to deploy Persistent Volumes, Cloud Services that help you extend the capabilities of the Platform like, Harbor for OCI Image registry, or Cert Manager for certificate management and the list can go on.</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The Self-Service IaaS is an end-user-oriented approach. End users and app teams can freely consume the OOTB </a:t>
            </a:r>
            <a:r>
              <a:rPr lang="en-US" sz="1200">
                <a:latin typeface="Arial"/>
                <a:ea typeface="Arial"/>
                <a:cs typeface="Arial"/>
                <a:sym typeface="Arial"/>
              </a:rPr>
              <a:t>Cloud Services</a:t>
            </a:r>
            <a:r>
              <a:rPr lang="en-US" sz="1200"/>
              <a:t> just like a public cloud for maximum productivity and efficiency.</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End users and app teams can deploy and manage VMs alongside Kubernetes clusters and other vSphere-based resources using a unified management experience.</a:t>
            </a:r>
            <a:endParaRPr sz="12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endParaRPr sz="1200" b="1"/>
          </a:p>
          <a:p>
            <a:pPr marL="0" lvl="0" indent="0" algn="l" rtl="0">
              <a:lnSpc>
                <a:spcPct val="60000"/>
              </a:lnSpc>
              <a:spcBef>
                <a:spcPts val="0"/>
              </a:spcBef>
              <a:spcAft>
                <a:spcPts val="0"/>
              </a:spcAft>
              <a:buClr>
                <a:schemeClr val="dk1"/>
              </a:buClr>
              <a:buSzPts val="713"/>
              <a:buFont typeface="Arial"/>
              <a:buNone/>
            </a:pPr>
            <a:r>
              <a:rPr lang="en-US" sz="1200" b="1"/>
              <a:t>Notes:</a:t>
            </a:r>
            <a:endParaRPr/>
          </a:p>
          <a:p>
            <a:pPr marL="0" lvl="0" indent="0" algn="l" rtl="0">
              <a:lnSpc>
                <a:spcPct val="90000"/>
              </a:lnSpc>
              <a:spcBef>
                <a:spcPts val="0"/>
              </a:spcBef>
              <a:spcAft>
                <a:spcPts val="0"/>
              </a:spcAft>
              <a:buClr>
                <a:schemeClr val="dk2"/>
              </a:buClr>
              <a:buSzPts val="1100"/>
              <a:buFont typeface="Arial"/>
              <a:buNone/>
            </a:pPr>
            <a:r>
              <a:rPr lang="en-US" sz="1200" b="0" u="sng"/>
              <a:t>Customer Benefits:</a:t>
            </a:r>
            <a:endParaRPr b="0" u="sng"/>
          </a:p>
          <a:p>
            <a:pPr marL="457200" lvl="0" indent="-317500" algn="l" rtl="0">
              <a:lnSpc>
                <a:spcPct val="90000"/>
              </a:lnSpc>
              <a:spcBef>
                <a:spcPts val="0"/>
              </a:spcBef>
              <a:spcAft>
                <a:spcPts val="0"/>
              </a:spcAft>
              <a:buClr>
                <a:schemeClr val="dk1"/>
              </a:buClr>
              <a:buSzPts val="1400"/>
              <a:buFont typeface="Arial"/>
              <a:buChar char="•"/>
            </a:pPr>
            <a:r>
              <a:rPr lang="en-US" sz="1200"/>
              <a:t>Offer a comprehensive suite of out-of-the-box services (VM, Kubernetes, Network, Volume, Data Services, </a:t>
            </a:r>
            <a:r>
              <a:rPr lang="en-US"/>
              <a:t>Harbor, </a:t>
            </a:r>
            <a:r>
              <a:rPr lang="en-US" sz="1200"/>
              <a:t> etc.), which simplifies the deployment and management of IT resources. This allows organizations to quickly scale their infrastructure needs, reduce operational complexities, and focus more on innovation and development rather than on maintaining disparate systems.</a:t>
            </a:r>
            <a:endParaRPr/>
          </a:p>
          <a:p>
            <a:pPr marL="457200" lvl="0" indent="-317500" algn="l" rtl="0">
              <a:lnSpc>
                <a:spcPct val="90000"/>
              </a:lnSpc>
              <a:spcBef>
                <a:spcPts val="0"/>
              </a:spcBef>
              <a:spcAft>
                <a:spcPts val="0"/>
              </a:spcAft>
              <a:buClr>
                <a:schemeClr val="dk1"/>
              </a:buClr>
              <a:buSzPts val="1400"/>
              <a:buFont typeface="Arial"/>
              <a:buChar char="•"/>
            </a:pPr>
            <a:r>
              <a:rPr lang="en-US" sz="1200"/>
              <a:t>Increase end-user satisfaction &amp; productivity – they can get the infrastructure they need when they need it, the way they want it, and w/out having to rely on or wait for other teams. </a:t>
            </a:r>
            <a:endParaRPr/>
          </a:p>
          <a:p>
            <a:pPr marL="457200" lvl="0" indent="-317500" algn="l" rtl="0">
              <a:lnSpc>
                <a:spcPct val="90000"/>
              </a:lnSpc>
              <a:spcBef>
                <a:spcPts val="0"/>
              </a:spcBef>
              <a:spcAft>
                <a:spcPts val="0"/>
              </a:spcAft>
              <a:buClr>
                <a:schemeClr val="dk1"/>
              </a:buClr>
              <a:buSzPts val="1400"/>
              <a:buFont typeface="Arial"/>
              <a:buChar char="•"/>
            </a:pPr>
            <a:r>
              <a:rPr lang="en-US" sz="1200"/>
              <a:t>Leveraging a unified management interface means having a streamlined and user-friendly platform to oversee all Infrastructure as a Service (IaaS) offerings. This can enhance efficiency by reducing the complexity of managing multiple services separately. Customers can expect to easily deploy, monitor, and scale their infrastructure resources from one central location, which saves time and simplifies operations. Additionally, this unified approach can lead to better resource allocation and cost management, ultimately contributing to a more effective use of their IT investments.</a:t>
            </a:r>
            <a:endParaRPr sz="1050"/>
          </a:p>
          <a:p>
            <a:pPr marL="0" lvl="0" indent="0" algn="l" rtl="0">
              <a:lnSpc>
                <a:spcPct val="60000"/>
              </a:lnSpc>
              <a:spcBef>
                <a:spcPts val="0"/>
              </a:spcBef>
              <a:spcAft>
                <a:spcPts val="0"/>
              </a:spcAft>
              <a:buClr>
                <a:schemeClr val="dk1"/>
              </a:buClr>
              <a:buSzPts val="713"/>
              <a:buFont typeface="Arial"/>
              <a:buNone/>
            </a:pPr>
            <a:endParaRPr sz="1200" b="1"/>
          </a:p>
          <a:p>
            <a:pPr marL="0" lvl="0" indent="0" algn="l" rtl="0">
              <a:lnSpc>
                <a:spcPct val="90000"/>
              </a:lnSpc>
              <a:spcBef>
                <a:spcPts val="0"/>
              </a:spcBef>
              <a:spcAft>
                <a:spcPts val="0"/>
              </a:spcAft>
              <a:buClr>
                <a:schemeClr val="dk2"/>
              </a:buClr>
              <a:buSzPts val="1100"/>
              <a:buFont typeface="Arial"/>
              <a:buNone/>
            </a:pPr>
            <a:r>
              <a:rPr lang="en-US" sz="1200" b="0" u="sng"/>
              <a:t>Key Attributes:</a:t>
            </a:r>
            <a:endParaRPr b="0" u="sng"/>
          </a:p>
          <a:p>
            <a:pPr marL="457200" lvl="0" indent="-317500" algn="l" rtl="0">
              <a:lnSpc>
                <a:spcPct val="90000"/>
              </a:lnSpc>
              <a:spcBef>
                <a:spcPts val="0"/>
              </a:spcBef>
              <a:spcAft>
                <a:spcPts val="0"/>
              </a:spcAft>
              <a:buClr>
                <a:schemeClr val="dk1"/>
              </a:buClr>
              <a:buSzPts val="1400"/>
              <a:buFont typeface="Arial"/>
              <a:buChar char="•"/>
            </a:pPr>
            <a:r>
              <a:rPr lang="en-US" sz="1200"/>
              <a:t>OOTB Cloud Services (Supervisor and associated services) are exposed across VCF environments and aggregated into a common endpoint that can be accessed through a choice of interfaces: UI, CLI, or the declarative Kubernetes IaaS API for self-service consumption. Users can leverage a variety of </a:t>
            </a:r>
            <a:r>
              <a:rPr lang="en-US" sz="1200">
                <a:latin typeface="Arial"/>
                <a:ea typeface="Arial"/>
                <a:cs typeface="Arial"/>
                <a:sym typeface="Arial"/>
              </a:rPr>
              <a:t>Cloud Services</a:t>
            </a:r>
            <a:r>
              <a:rPr lang="en-US" sz="1200"/>
              <a:t> such as VM Service that allows you to declaratively define and provision VMs, VKS Service for deploying Kubernetes Clusters, Network Service to deploy LBs, Volume Service to deploy Persistent Volumes, Cloud Services that help you extend the capabilities of the IaaS Platform (e.g., Harbor for OCI Image registry, or Cert Manager for certificate management) and the list can go on. </a:t>
            </a:r>
            <a:endParaRPr/>
          </a:p>
          <a:p>
            <a:pPr marL="457200" lvl="0" indent="-317500" algn="l" rtl="0">
              <a:lnSpc>
                <a:spcPct val="90000"/>
              </a:lnSpc>
              <a:spcBef>
                <a:spcPts val="0"/>
              </a:spcBef>
              <a:spcAft>
                <a:spcPts val="0"/>
              </a:spcAft>
              <a:buClr>
                <a:schemeClr val="dk1"/>
              </a:buClr>
              <a:buSzPts val="1400"/>
              <a:buFont typeface="Arial"/>
              <a:buChar char="•"/>
            </a:pPr>
            <a:r>
              <a:rPr lang="en-US" sz="1200"/>
              <a:t>Self-Service IaaS is an end user-oriented approach, which is ideal for dev/test environments, where end users and app teams can freely consume the OOTB </a:t>
            </a:r>
            <a:r>
              <a:rPr lang="en-US" sz="1200">
                <a:latin typeface="Arial"/>
                <a:ea typeface="Arial"/>
                <a:cs typeface="Arial"/>
                <a:sym typeface="Arial"/>
              </a:rPr>
              <a:t>Cloud Services</a:t>
            </a:r>
            <a:r>
              <a:rPr lang="en-US" sz="1200"/>
              <a:t> just like a public cloud for maximum productivity and efficiency. </a:t>
            </a:r>
            <a:endParaRPr/>
          </a:p>
          <a:p>
            <a:pPr marL="457200" lvl="0" indent="-317500" algn="l" rtl="0">
              <a:lnSpc>
                <a:spcPct val="90000"/>
              </a:lnSpc>
              <a:spcBef>
                <a:spcPts val="0"/>
              </a:spcBef>
              <a:spcAft>
                <a:spcPts val="0"/>
              </a:spcAft>
              <a:buClr>
                <a:schemeClr val="dk1"/>
              </a:buClr>
              <a:buSzPts val="1400"/>
              <a:buFont typeface="Arial"/>
              <a:buChar char="•"/>
            </a:pPr>
            <a:r>
              <a:rPr lang="en-US" sz="1200"/>
              <a:t>End users and app teams deploy and manage VMs alongside Kubernetes clusters and other vSphere-based resources using a unified management experience.</a:t>
            </a:r>
            <a:endParaRPr sz="1200" b="1">
              <a:latin typeface="Arial"/>
              <a:ea typeface="Arial"/>
              <a:cs typeface="Arial"/>
              <a:sym typeface="Arial"/>
            </a:endParaRPr>
          </a:p>
          <a:p>
            <a:pPr marL="0" lvl="0" indent="0" algn="l" rtl="0">
              <a:spcBef>
                <a:spcPts val="0"/>
              </a:spcBef>
              <a:spcAft>
                <a:spcPts val="0"/>
              </a:spcAft>
              <a:buClr>
                <a:schemeClr val="dk1"/>
              </a:buClr>
              <a:buSzPts val="1200"/>
              <a:buFont typeface="Arial"/>
              <a:buNone/>
            </a:pPr>
            <a:br>
              <a:rPr lang="en-US" sz="1200"/>
            </a:br>
            <a:r>
              <a:rPr lang="en-US" sz="1200" b="1"/>
              <a:t>Resources:</a:t>
            </a:r>
            <a:br>
              <a:rPr lang="en-US" sz="1200"/>
            </a:br>
            <a:endParaRPr/>
          </a:p>
        </p:txBody>
      </p:sp>
      <p:sp>
        <p:nvSpPr>
          <p:cNvPr id="15562" name="Google Shape;15562;p10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Calibri"/>
                <a:ea typeface="Calibri"/>
                <a:cs typeface="Calibri"/>
                <a:sym typeface="Calibri"/>
              </a:rPr>
              <a:t>100</a:t>
            </a:fld>
            <a:endParaRPr sz="1200" b="0" i="0" u="none" strike="noStrike" cap="none">
              <a:solidFill>
                <a:srgbClr val="000000"/>
              </a:solidFill>
              <a:latin typeface="Calibri"/>
              <a:ea typeface="Calibri"/>
              <a:cs typeface="Calibri"/>
              <a:sym typeface="Calibri"/>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68"/>
        <p:cNvGrpSpPr/>
        <p:nvPr/>
      </p:nvGrpSpPr>
      <p:grpSpPr>
        <a:xfrm>
          <a:off x="0" y="0"/>
          <a:ext cx="0" cy="0"/>
          <a:chOff x="0" y="0"/>
          <a:chExt cx="0" cy="0"/>
        </a:xfrm>
      </p:grpSpPr>
      <p:sp>
        <p:nvSpPr>
          <p:cNvPr id="15569" name="Google Shape;15569;p10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70" name="Google Shape;15570;p10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sz="20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a:latin typeface="Arial"/>
                <a:ea typeface="Arial"/>
                <a:cs typeface="Arial"/>
                <a:sym typeface="Arial"/>
              </a:rPr>
              <a:t>With VCFA 9 customers can create custom blueprints tailored to IaaS Services, while enforcing infrastructure governance and enabling self-service consumption.</a:t>
            </a:r>
            <a:endParaRPr/>
          </a:p>
          <a:p>
            <a:pPr marL="0" lvl="0" indent="0" algn="l" rtl="0">
              <a:lnSpc>
                <a:spcPct val="60000"/>
              </a:lnSpc>
              <a:spcBef>
                <a:spcPts val="0"/>
              </a:spcBef>
              <a:spcAft>
                <a:spcPts val="0"/>
              </a:spcAft>
              <a:buClr>
                <a:schemeClr val="dk1"/>
              </a:buClr>
              <a:buSzPts val="713"/>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a:p>
          <a:p>
            <a:pPr marL="0" lvl="0" indent="0" algn="l" rtl="0">
              <a:lnSpc>
                <a:spcPct val="100000"/>
              </a:lnSpc>
              <a:spcBef>
                <a:spcPts val="0"/>
              </a:spcBef>
              <a:spcAft>
                <a:spcPts val="0"/>
              </a:spcAft>
              <a:buClr>
                <a:schemeClr val="dk2"/>
              </a:buClr>
              <a:buSzPts val="1100"/>
              <a:buFont typeface="Arial"/>
              <a:buNone/>
            </a:pPr>
            <a:r>
              <a:rPr lang="en-US"/>
              <a:t>One benefit of allowing Enterprise IT Admins to have more control in their environments is enhanced security. With increased control, admins can implement stricter access controls, monitor system activities more closely, and enforce compliance with organizational policies, reducing the risk of unauthorized access or data breaches. </a:t>
            </a:r>
            <a:endParaRPr/>
          </a:p>
          <a:p>
            <a:pPr marL="0" lvl="0" indent="0" algn="l" rtl="0">
              <a:lnSpc>
                <a:spcPct val="100000"/>
              </a:lnSpc>
              <a:spcBef>
                <a:spcPts val="0"/>
              </a:spcBef>
              <a:spcAft>
                <a:spcPts val="0"/>
              </a:spcAft>
              <a:buClr>
                <a:schemeClr val="dk2"/>
              </a:buClr>
              <a:buSzPts val="1100"/>
              <a:buFont typeface="Arial"/>
              <a:buNone/>
            </a:pPr>
            <a:endParaRPr/>
          </a:p>
          <a:p>
            <a:pPr marL="0" lvl="0" indent="0" algn="l" rtl="0">
              <a:lnSpc>
                <a:spcPct val="100000"/>
              </a:lnSpc>
              <a:spcBef>
                <a:spcPts val="0"/>
              </a:spcBef>
              <a:spcAft>
                <a:spcPts val="0"/>
              </a:spcAft>
              <a:buClr>
                <a:schemeClr val="dk2"/>
              </a:buClr>
              <a:buSzPts val="1100"/>
              <a:buFont typeface="Arial"/>
              <a:buNone/>
            </a:pPr>
            <a:r>
              <a:rPr lang="en-US"/>
              <a:t>One benefit of providing application teams with more flexibility to consume self-service IaaS resources is the acceleration of development and testing cycles. By allowing teams to quickly provision and configure the necessary infrastructure on-demand, they can focus more on writing and testing code rather than waiting for resources, leading to faster time-to-market for new features and enhancements.</a:t>
            </a:r>
            <a:endParaRPr/>
          </a:p>
          <a:p>
            <a:pPr marL="0" lvl="0" indent="0" algn="l" rtl="0">
              <a:lnSpc>
                <a:spcPct val="100000"/>
              </a:lnSpc>
              <a:spcBef>
                <a:spcPts val="0"/>
              </a:spcBef>
              <a:spcAft>
                <a:spcPts val="0"/>
              </a:spcAft>
              <a:buClr>
                <a:schemeClr val="dk2"/>
              </a:buClr>
              <a:buSzPts val="1100"/>
              <a:buFont typeface="Arial"/>
              <a:buNone/>
            </a:pPr>
            <a:endParaRPr/>
          </a:p>
          <a:p>
            <a:pPr marL="0" lvl="0" indent="0" algn="l" rtl="0">
              <a:lnSpc>
                <a:spcPct val="100000"/>
              </a:lnSpc>
              <a:spcBef>
                <a:spcPts val="0"/>
              </a:spcBef>
              <a:spcAft>
                <a:spcPts val="0"/>
              </a:spcAft>
              <a:buClr>
                <a:schemeClr val="dk2"/>
              </a:buClr>
              <a:buSzPts val="1100"/>
              <a:buFont typeface="Arial"/>
              <a:buNone/>
            </a:pPr>
            <a:r>
              <a:rPr lang="en-US"/>
              <a:t>The catalog experience allows users to provision traditional, modern, and generative AI applications. Each catalog item is supported by templates that have been developed and published for the project teams. It is designed for users to utilize the templates provided in the catalog easily.</a:t>
            </a:r>
            <a:endParaRPr/>
          </a:p>
          <a:p>
            <a:pPr marL="0" lvl="0" indent="0" algn="l" rtl="0">
              <a:lnSpc>
                <a:spcPct val="100000"/>
              </a:lnSpc>
              <a:spcBef>
                <a:spcPts val="0"/>
              </a:spcBef>
              <a:spcAft>
                <a:spcPts val="0"/>
              </a:spcAft>
              <a:buClr>
                <a:schemeClr val="dk2"/>
              </a:buClr>
              <a:buSzPts val="1100"/>
              <a:buFont typeface="Arial"/>
              <a:buNone/>
            </a:pPr>
            <a:endParaRPr/>
          </a:p>
          <a:p>
            <a:pPr marL="0" lvl="0" indent="0" algn="l" rtl="0">
              <a:lnSpc>
                <a:spcPct val="100000"/>
              </a:lnSpc>
              <a:spcBef>
                <a:spcPts val="0"/>
              </a:spcBef>
              <a:spcAft>
                <a:spcPts val="0"/>
              </a:spcAft>
              <a:buClr>
                <a:schemeClr val="dk2"/>
              </a:buClr>
              <a:buSzPts val="1100"/>
              <a:buFont typeface="Arial"/>
              <a:buNone/>
            </a:pPr>
            <a:r>
              <a:rPr lang="en-US"/>
              <a:t>Create on-demand resources like VMs, Kubernetes, volumes, networks, and storage. This is ideal for users who wish to utilize the design canvas to create resources from scratch and publish them in the catalog. </a:t>
            </a:r>
            <a:endParaRPr b="0"/>
          </a:p>
          <a:p>
            <a:pPr marL="457200" lvl="0" indent="-228600" algn="l" rtl="0">
              <a:lnSpc>
                <a:spcPct val="100000"/>
              </a:lnSpc>
              <a:spcBef>
                <a:spcPts val="0"/>
              </a:spcBef>
              <a:spcAft>
                <a:spcPts val="0"/>
              </a:spcAft>
              <a:buClr>
                <a:schemeClr val="dk1"/>
              </a:buClr>
              <a:buSzPts val="1400"/>
              <a:buFont typeface="Arial"/>
              <a:buNone/>
            </a:pPr>
            <a:endParaRPr b="0"/>
          </a:p>
          <a:p>
            <a:pPr marL="139700" lvl="0" indent="0" algn="l" rtl="0">
              <a:lnSpc>
                <a:spcPct val="100000"/>
              </a:lnSpc>
              <a:spcBef>
                <a:spcPts val="0"/>
              </a:spcBef>
              <a:spcAft>
                <a:spcPts val="0"/>
              </a:spcAft>
              <a:buClr>
                <a:schemeClr val="dk1"/>
              </a:buClr>
              <a:buSzPts val="1400"/>
              <a:buFont typeface="Arial"/>
              <a:buNone/>
            </a:pPr>
            <a:r>
              <a:rPr lang="en-US" b="1"/>
              <a:t>Notes:</a:t>
            </a:r>
            <a:endParaRPr/>
          </a:p>
          <a:p>
            <a:pPr marL="0" lvl="0" indent="0" algn="l" rtl="0">
              <a:lnSpc>
                <a:spcPct val="100000"/>
              </a:lnSpc>
              <a:spcBef>
                <a:spcPts val="0"/>
              </a:spcBef>
              <a:spcAft>
                <a:spcPts val="0"/>
              </a:spcAft>
              <a:buClr>
                <a:schemeClr val="dk2"/>
              </a:buClr>
              <a:buSzPts val="1100"/>
              <a:buFont typeface="Arial"/>
              <a:buNone/>
            </a:pPr>
            <a:r>
              <a:rPr lang="en-US" b="0" u="sng"/>
              <a:t>Customer Benefits:</a:t>
            </a:r>
            <a:endParaRPr/>
          </a:p>
          <a:p>
            <a:pPr marL="457200" lvl="0" indent="-317500" algn="l" rtl="0">
              <a:lnSpc>
                <a:spcPct val="100000"/>
              </a:lnSpc>
              <a:spcBef>
                <a:spcPts val="0"/>
              </a:spcBef>
              <a:spcAft>
                <a:spcPts val="0"/>
              </a:spcAft>
              <a:buClr>
                <a:schemeClr val="dk1"/>
              </a:buClr>
              <a:buSzPts val="1400"/>
              <a:buFont typeface="Arial"/>
              <a:buChar char="•"/>
            </a:pPr>
            <a:r>
              <a:rPr lang="en-US"/>
              <a:t>One benefit of allowing Enterprise IT Admins to have more control in production environments is enhanced security. With increased control, admins can implement stricter access controls, monitor system activities more closely, and enforce compliance with organizational policies, thereby reducing the risk of unauthorized access or data breaches; ideal for in-production environments. </a:t>
            </a:r>
            <a:endParaRPr/>
          </a:p>
          <a:p>
            <a:pPr marL="457200" lvl="0" indent="-317500" algn="l" rtl="0">
              <a:lnSpc>
                <a:spcPct val="100000"/>
              </a:lnSpc>
              <a:spcBef>
                <a:spcPts val="0"/>
              </a:spcBef>
              <a:spcAft>
                <a:spcPts val="0"/>
              </a:spcAft>
              <a:buClr>
                <a:schemeClr val="dk1"/>
              </a:buClr>
              <a:buSzPts val="1400"/>
              <a:buFont typeface="Arial"/>
              <a:buChar char="•"/>
            </a:pPr>
            <a:r>
              <a:rPr lang="en-US"/>
              <a:t>One benefit of providing application teams with more flexibility to consume self-service IaaS resources is the acceleration of development and testing cycles. By allowing teams to quickly provision and configure the necessary infrastructure on-demand, they can focus more on writing and testing code rather than waiting for resources, leading to faster time-to-market for new features and enhancements.</a:t>
            </a:r>
            <a:endParaRPr/>
          </a:p>
          <a:p>
            <a:pPr marL="0" lvl="0" indent="0" algn="l" rtl="0">
              <a:lnSpc>
                <a:spcPct val="60000"/>
              </a:lnSpc>
              <a:spcBef>
                <a:spcPts val="0"/>
              </a:spcBef>
              <a:spcAft>
                <a:spcPts val="0"/>
              </a:spcAft>
              <a:buClr>
                <a:schemeClr val="dk1"/>
              </a:buClr>
              <a:buSzPts val="713"/>
              <a:buFont typeface="Arial"/>
              <a:buNone/>
            </a:pPr>
            <a:endParaRPr b="1"/>
          </a:p>
          <a:p>
            <a:pPr marL="0" lvl="0" indent="0" algn="l" rtl="0">
              <a:lnSpc>
                <a:spcPct val="100000"/>
              </a:lnSpc>
              <a:spcBef>
                <a:spcPts val="0"/>
              </a:spcBef>
              <a:spcAft>
                <a:spcPts val="0"/>
              </a:spcAft>
              <a:buClr>
                <a:schemeClr val="dk2"/>
              </a:buClr>
              <a:buSzPts val="1100"/>
              <a:buFont typeface="Arial"/>
              <a:buNone/>
            </a:pPr>
            <a:r>
              <a:rPr lang="en-US" b="0" u="sng"/>
              <a:t>Key Attributes:</a:t>
            </a:r>
            <a:endParaRPr/>
          </a:p>
          <a:p>
            <a:pPr marL="457200" lvl="0" indent="-317500" algn="l" rtl="0">
              <a:lnSpc>
                <a:spcPct val="100000"/>
              </a:lnSpc>
              <a:spcBef>
                <a:spcPts val="0"/>
              </a:spcBef>
              <a:spcAft>
                <a:spcPts val="0"/>
              </a:spcAft>
              <a:buClr>
                <a:schemeClr val="dk1"/>
              </a:buClr>
              <a:buSzPts val="1400"/>
              <a:buFont typeface="Arial"/>
              <a:buChar char="•"/>
            </a:pPr>
            <a:r>
              <a:rPr lang="en-US"/>
              <a:t>The catalog experience allows users to provision traditional, modern, and generative AI applications. Each catalog item is supported by templates that have been developed and published for the project teams. It is designed for low-tech users to easily utilize the templates provided in the catalog.</a:t>
            </a:r>
            <a:endParaRPr/>
          </a:p>
          <a:p>
            <a:pPr marL="457200" lvl="0" indent="-317500" algn="l" rtl="0">
              <a:lnSpc>
                <a:spcPct val="100000"/>
              </a:lnSpc>
              <a:spcBef>
                <a:spcPts val="0"/>
              </a:spcBef>
              <a:spcAft>
                <a:spcPts val="0"/>
              </a:spcAft>
              <a:buClr>
                <a:schemeClr val="dk1"/>
              </a:buClr>
              <a:buSzPts val="1400"/>
              <a:buFont typeface="Arial"/>
              <a:buChar char="•"/>
            </a:pPr>
            <a:r>
              <a:rPr lang="en-US"/>
              <a:t>Create on-demand resources like VMs, Kubernetes, volumes, networks, and storage. This is ideal for high-tech users who wish to utilize the design canvas to create resources from scratch and publish them in the catalog. </a:t>
            </a:r>
            <a:endParaRPr b="0"/>
          </a:p>
          <a:p>
            <a:pPr marL="0" lvl="0" indent="0" algn="l" rtl="0">
              <a:spcBef>
                <a:spcPts val="0"/>
              </a:spcBef>
              <a:spcAft>
                <a:spcPts val="0"/>
              </a:spcAft>
              <a:buClr>
                <a:schemeClr val="dk1"/>
              </a:buClr>
              <a:buSzPts val="1200"/>
              <a:buFont typeface="Arial"/>
              <a:buNone/>
            </a:pPr>
            <a:br>
              <a:rPr lang="en-US" sz="1200"/>
            </a:br>
            <a:r>
              <a:rPr lang="en-US" sz="1200" b="1"/>
              <a:t>Resources:</a:t>
            </a:r>
            <a:endParaRPr b="1"/>
          </a:p>
        </p:txBody>
      </p:sp>
      <p:sp>
        <p:nvSpPr>
          <p:cNvPr id="15571" name="Google Shape;15571;p10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Calibri"/>
                <a:ea typeface="Calibri"/>
                <a:cs typeface="Calibri"/>
                <a:sym typeface="Calibri"/>
              </a:rPr>
              <a:t>101</a:t>
            </a:fld>
            <a:endParaRPr sz="1200" b="0" i="0" u="none" strike="noStrike" cap="none">
              <a:solidFill>
                <a:srgbClr val="000000"/>
              </a:solidFill>
              <a:latin typeface="Calibri"/>
              <a:ea typeface="Calibri"/>
              <a:cs typeface="Calibri"/>
              <a:sym typeface="Calibri"/>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77"/>
        <p:cNvGrpSpPr/>
        <p:nvPr/>
      </p:nvGrpSpPr>
      <p:grpSpPr>
        <a:xfrm>
          <a:off x="0" y="0"/>
          <a:ext cx="0" cy="0"/>
          <a:chOff x="0" y="0"/>
          <a:chExt cx="0" cy="0"/>
        </a:xfrm>
      </p:grpSpPr>
      <p:sp>
        <p:nvSpPr>
          <p:cNvPr id="15578" name="Google Shape;15578;p10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79" name="Google Shape;15579;p10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Presenter Note:  This slide contains animation.</a:t>
            </a:r>
            <a:endParaRPr/>
          </a:p>
          <a:p>
            <a:pPr marL="0" lvl="0" indent="0" algn="l" rtl="0">
              <a:lnSpc>
                <a:spcPct val="60000"/>
              </a:lnSpc>
              <a:spcBef>
                <a:spcPts val="0"/>
              </a:spcBef>
              <a:spcAft>
                <a:spcPts val="0"/>
              </a:spcAft>
              <a:buClr>
                <a:schemeClr val="dk1"/>
              </a:buClr>
              <a:buSzPts val="713"/>
              <a:buFont typeface="Arial"/>
              <a:buNone/>
            </a:pPr>
            <a:endParaRPr sz="12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sz="20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a:latin typeface="Arial"/>
                <a:ea typeface="Arial"/>
                <a:cs typeface="Arial"/>
                <a:sym typeface="Arial"/>
              </a:rPr>
              <a:t>With VCFA 9 you can implement resource policies with policies-as-code to enforce bast practices for your resources and apply security configurations.</a:t>
            </a:r>
            <a:endParaRPr/>
          </a:p>
          <a:p>
            <a:pPr marL="0" lvl="0" indent="0" algn="l" rtl="0">
              <a:lnSpc>
                <a:spcPct val="60000"/>
              </a:lnSpc>
              <a:spcBef>
                <a:spcPts val="0"/>
              </a:spcBef>
              <a:spcAft>
                <a:spcPts val="0"/>
              </a:spcAft>
              <a:buClr>
                <a:schemeClr val="dk1"/>
              </a:buClr>
              <a:buSzPts val="713"/>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sz="1200" b="1"/>
          </a:p>
          <a:p>
            <a:pPr marL="0" marR="0" lvl="0" indent="0" algn="l" rtl="0">
              <a:lnSpc>
                <a:spcPct val="90000"/>
              </a:lnSpc>
              <a:spcBef>
                <a:spcPts val="0"/>
              </a:spcBef>
              <a:spcAft>
                <a:spcPts val="0"/>
              </a:spcAft>
              <a:buClr>
                <a:schemeClr val="dk2"/>
              </a:buClr>
              <a:buSzPts val="1100"/>
              <a:buFont typeface="Arial"/>
              <a:buNone/>
            </a:pPr>
            <a:r>
              <a:rPr lang="en-US" sz="1200">
                <a:latin typeface="Arial"/>
                <a:ea typeface="Arial"/>
                <a:cs typeface="Arial"/>
                <a:sym typeface="Arial"/>
              </a:rPr>
              <a:t>With VCF Automation 9 you can implement a</a:t>
            </a:r>
            <a:r>
              <a:rPr lang="en-US" sz="1200"/>
              <a:t> YAML-based approach to policy as code</a:t>
            </a:r>
            <a:r>
              <a:rPr lang="en-US" sz="1200">
                <a:latin typeface="Arial"/>
                <a:ea typeface="Arial"/>
                <a:cs typeface="Arial"/>
                <a:sym typeface="Arial"/>
              </a:rPr>
              <a:t> to enforce best practices for your resources and apply security configurations.</a:t>
            </a:r>
            <a:endParaRPr sz="1200"/>
          </a:p>
          <a:p>
            <a:pPr marL="0" marR="0" lvl="0" indent="0" algn="l" rtl="0">
              <a:lnSpc>
                <a:spcPct val="90000"/>
              </a:lnSpc>
              <a:spcBef>
                <a:spcPts val="0"/>
              </a:spcBef>
              <a:spcAft>
                <a:spcPts val="0"/>
              </a:spcAft>
              <a:buClr>
                <a:schemeClr val="dk2"/>
              </a:buClr>
              <a:buSzPts val="1100"/>
              <a:buFont typeface="Arial"/>
              <a:buNone/>
            </a:pPr>
            <a:endParaRPr sz="1200"/>
          </a:p>
          <a:p>
            <a:pPr marL="0" marR="0" lvl="0" indent="0" algn="l" rtl="0">
              <a:lnSpc>
                <a:spcPct val="90000"/>
              </a:lnSpc>
              <a:spcBef>
                <a:spcPts val="0"/>
              </a:spcBef>
              <a:spcAft>
                <a:spcPts val="0"/>
              </a:spcAft>
              <a:buClr>
                <a:schemeClr val="dk2"/>
              </a:buClr>
              <a:buSzPts val="1100"/>
              <a:buFont typeface="Arial"/>
              <a:buNone/>
            </a:pPr>
            <a:r>
              <a:rPr lang="en-US" sz="1200"/>
              <a:t>The pre-defined OOTB templates are designed to streamline the implementation of policies as code for both initial setup (day 0) and ongoing management (day 2) of Kubernetes and VM environments. These templates serve as a solid foundation, allowing users to easily customize and fine-tune their policies through a user-friendly interface or directly via the Kubernetes command-line interface (CLI), ensuring a tailored approach to meet specific operational needs. </a:t>
            </a:r>
            <a:endParaRPr/>
          </a:p>
          <a:p>
            <a:pPr marL="0" lvl="0" indent="0" algn="l" rtl="0">
              <a:lnSpc>
                <a:spcPct val="80000"/>
              </a:lnSpc>
              <a:spcBef>
                <a:spcPts val="0"/>
              </a:spcBef>
              <a:spcAft>
                <a:spcPts val="0"/>
              </a:spcAft>
              <a:buClr>
                <a:schemeClr val="dk2"/>
              </a:buClr>
              <a:buSzPts val="1100"/>
              <a:buFont typeface="Arial"/>
              <a:buNone/>
            </a:pPr>
            <a:endParaRPr u="none"/>
          </a:p>
          <a:p>
            <a:pPr marL="0" lvl="0" indent="0" algn="l" rtl="0">
              <a:lnSpc>
                <a:spcPct val="90000"/>
              </a:lnSpc>
              <a:spcBef>
                <a:spcPts val="0"/>
              </a:spcBef>
              <a:spcAft>
                <a:spcPts val="0"/>
              </a:spcAft>
              <a:buClr>
                <a:schemeClr val="dk2"/>
              </a:buClr>
              <a:buSzPts val="1100"/>
              <a:buFont typeface="Arial"/>
              <a:buNone/>
            </a:pPr>
            <a:endParaRPr sz="1200" b="0" u="sng">
              <a:latin typeface="Arial"/>
              <a:ea typeface="Arial"/>
              <a:cs typeface="Arial"/>
              <a:sym typeface="Arial"/>
            </a:endParaRPr>
          </a:p>
          <a:p>
            <a:pPr marL="0" lvl="0" indent="0" algn="l" rtl="0">
              <a:lnSpc>
                <a:spcPct val="90000"/>
              </a:lnSpc>
              <a:spcBef>
                <a:spcPts val="0"/>
              </a:spcBef>
              <a:spcAft>
                <a:spcPts val="0"/>
              </a:spcAft>
              <a:buClr>
                <a:schemeClr val="dk2"/>
              </a:buClr>
              <a:buSzPts val="1100"/>
              <a:buFont typeface="Arial"/>
              <a:buNone/>
            </a:pPr>
            <a:r>
              <a:rPr lang="en-US" sz="1200" b="1">
                <a:latin typeface="Arial"/>
                <a:ea typeface="Arial"/>
                <a:cs typeface="Arial"/>
                <a:sym typeface="Arial"/>
              </a:rPr>
              <a:t>Notes:</a:t>
            </a:r>
            <a:endParaRPr sz="1200" b="0" u="sng"/>
          </a:p>
          <a:p>
            <a:pPr marL="0" lvl="0" indent="0" algn="l" rtl="0">
              <a:lnSpc>
                <a:spcPct val="90000"/>
              </a:lnSpc>
              <a:spcBef>
                <a:spcPts val="0"/>
              </a:spcBef>
              <a:spcAft>
                <a:spcPts val="0"/>
              </a:spcAft>
              <a:buClr>
                <a:schemeClr val="dk2"/>
              </a:buClr>
              <a:buSzPts val="1100"/>
              <a:buFont typeface="Arial"/>
              <a:buNone/>
            </a:pPr>
            <a:r>
              <a:rPr lang="en-US" sz="1200" b="0" u="sng"/>
              <a:t>Customer Benefits:</a:t>
            </a:r>
            <a:endParaRPr b="0" u="sng"/>
          </a:p>
          <a:p>
            <a:pPr marL="457200" lvl="0" indent="-317500" algn="l" rtl="0">
              <a:lnSpc>
                <a:spcPct val="90000"/>
              </a:lnSpc>
              <a:spcBef>
                <a:spcPts val="0"/>
              </a:spcBef>
              <a:spcAft>
                <a:spcPts val="0"/>
              </a:spcAft>
              <a:buClr>
                <a:schemeClr val="dk1"/>
              </a:buClr>
              <a:buSzPts val="1400"/>
              <a:buFont typeface="Arial"/>
              <a:buChar char="•"/>
            </a:pPr>
            <a:r>
              <a:rPr lang="en-US" sz="1200"/>
              <a:t>Using a YAML-based Policy-as-Code framework with Kyverno for IaaS and Kubernetes offers multiple benefits, including flexibility in adapting policies, automation for consistent enforcement, and improved compliance with security and regulatory standards. It fosters collaboration within the open-source community, enables easy tracking of policy changes through version control, and provides clarity for auditing. Additionally, leveraging an open-source solution helps reduce licensing costs, ultimately enhancing security, compliance, and efficiency in cloud infrastructure.</a:t>
            </a:r>
            <a:endParaRPr/>
          </a:p>
          <a:p>
            <a:pPr marL="457200" lvl="0" indent="-317500" algn="l" rtl="0">
              <a:lnSpc>
                <a:spcPct val="90000"/>
              </a:lnSpc>
              <a:spcBef>
                <a:spcPts val="0"/>
              </a:spcBef>
              <a:spcAft>
                <a:spcPts val="0"/>
              </a:spcAft>
              <a:buClr>
                <a:schemeClr val="dk1"/>
              </a:buClr>
              <a:buSzPts val="1400"/>
              <a:buFont typeface="Arial"/>
              <a:buChar char="•"/>
            </a:pPr>
            <a:r>
              <a:rPr lang="en-US" sz="1200"/>
              <a:t>Customers benefit from pre-defined Out-of-the-Box (OOTB) templates through quick deployment, easy customization, and best practice integration. These templates ensure consistency, reduce complexity, enhance agility, and improve governance, enabling organizations to focus on innovation.</a:t>
            </a:r>
            <a:endParaRPr sz="1050"/>
          </a:p>
          <a:p>
            <a:pPr marL="0" lvl="0" indent="0" algn="l" rtl="0">
              <a:lnSpc>
                <a:spcPct val="90000"/>
              </a:lnSpc>
              <a:spcBef>
                <a:spcPts val="0"/>
              </a:spcBef>
              <a:spcAft>
                <a:spcPts val="0"/>
              </a:spcAft>
              <a:buClr>
                <a:schemeClr val="dk2"/>
              </a:buClr>
              <a:buSzPts val="1100"/>
              <a:buFont typeface="Arial"/>
              <a:buNone/>
            </a:pPr>
            <a:endParaRPr sz="1200" b="1"/>
          </a:p>
          <a:p>
            <a:pPr marL="0" lvl="0" indent="0" algn="l" rtl="0">
              <a:lnSpc>
                <a:spcPct val="90000"/>
              </a:lnSpc>
              <a:spcBef>
                <a:spcPts val="0"/>
              </a:spcBef>
              <a:spcAft>
                <a:spcPts val="0"/>
              </a:spcAft>
              <a:buClr>
                <a:schemeClr val="dk2"/>
              </a:buClr>
              <a:buSzPts val="1100"/>
              <a:buFont typeface="Arial"/>
              <a:buNone/>
            </a:pPr>
            <a:r>
              <a:rPr lang="en-US" sz="1200" b="0" u="sng"/>
              <a:t>Key Attributes:</a:t>
            </a:r>
            <a:endParaRPr b="0" u="sng"/>
          </a:p>
          <a:p>
            <a:pPr marL="457200" lvl="0" indent="-317500" algn="l" rtl="0">
              <a:lnSpc>
                <a:spcPct val="90000"/>
              </a:lnSpc>
              <a:spcBef>
                <a:spcPts val="0"/>
              </a:spcBef>
              <a:spcAft>
                <a:spcPts val="0"/>
              </a:spcAft>
              <a:buClr>
                <a:schemeClr val="dk1"/>
              </a:buClr>
              <a:buSzPts val="1400"/>
              <a:buFont typeface="Arial"/>
              <a:buChar char="•"/>
            </a:pPr>
            <a:r>
              <a:rPr lang="en-US" sz="1200"/>
              <a:t>Introducing new governance policies that leverage a YAML-based approach to policy as code. To support this initiative, we are using Kyverno, an open-source technology that operates on the backend, enabling us to seamlessly integrate and enforce these policies in a robust and efficient manner. </a:t>
            </a:r>
            <a:endParaRPr/>
          </a:p>
          <a:p>
            <a:pPr marL="0" lvl="0" indent="0" algn="l" rtl="0">
              <a:spcBef>
                <a:spcPts val="0"/>
              </a:spcBef>
              <a:spcAft>
                <a:spcPts val="0"/>
              </a:spcAft>
              <a:buClr>
                <a:schemeClr val="dk1"/>
              </a:buClr>
              <a:buSzPts val="1200"/>
              <a:buFont typeface="Arial"/>
              <a:buNone/>
            </a:pPr>
            <a:br>
              <a:rPr lang="en-US" sz="1200"/>
            </a:br>
            <a:r>
              <a:rPr lang="en-US" sz="1200" b="1"/>
              <a:t>Resources:</a:t>
            </a:r>
            <a:br>
              <a:rPr lang="en-US" sz="1200"/>
            </a:br>
            <a:endParaRPr/>
          </a:p>
        </p:txBody>
      </p:sp>
      <p:sp>
        <p:nvSpPr>
          <p:cNvPr id="15580" name="Google Shape;15580;p10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86"/>
        <p:cNvGrpSpPr/>
        <p:nvPr/>
      </p:nvGrpSpPr>
      <p:grpSpPr>
        <a:xfrm>
          <a:off x="0" y="0"/>
          <a:ext cx="0" cy="0"/>
          <a:chOff x="0" y="0"/>
          <a:chExt cx="0" cy="0"/>
        </a:xfrm>
      </p:grpSpPr>
      <p:sp>
        <p:nvSpPr>
          <p:cNvPr id="15587" name="Google Shape;15587;p10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88" name="Google Shape;15588;p10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sz="2000" b="1">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r>
              <a:rPr lang="en-US" sz="1200"/>
              <a:t>Each org can have specific infrastructure quotas for their region. Orgs enjoy complete network and computing isolation, which means they are entirely separate from one another. This setup makes Org Admins feel like they have their own private cloud, even though the Enterprise IT Admin manages shared VCF vCenter resources in the background. The Org Admin can log into their own portal to create PROJECTS and assign it to different LOBs. In each project, Org Admins can create IaaS NAMESPACES, which define application boundaries, limits on infrastructure use, and reservations so end-users and application teams can easily access modern IaaS services. Each vSphere Namespace can be under an isolated networking domain (VPC).</a:t>
            </a:r>
            <a:endParaRPr sz="1200">
              <a:latin typeface="Arial"/>
              <a:ea typeface="Arial"/>
              <a:cs typeface="Arial"/>
              <a:sym typeface="Arial"/>
            </a:endParaRPr>
          </a:p>
          <a:p>
            <a:pPr marL="0" lvl="0" indent="0" algn="l" rtl="0">
              <a:lnSpc>
                <a:spcPct val="80000"/>
              </a:lnSpc>
              <a:spcBef>
                <a:spcPts val="0"/>
              </a:spcBef>
              <a:spcAft>
                <a:spcPts val="0"/>
              </a:spcAft>
              <a:buClr>
                <a:schemeClr val="dk2"/>
              </a:buClr>
              <a:buSzPts val="1100"/>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a:p>
          <a:p>
            <a:pPr marL="0" marR="0" lvl="0" indent="0" algn="l" rtl="0">
              <a:lnSpc>
                <a:spcPct val="80000"/>
              </a:lnSpc>
              <a:spcBef>
                <a:spcPts val="0"/>
              </a:spcBef>
              <a:spcAft>
                <a:spcPts val="0"/>
              </a:spcAft>
              <a:buClr>
                <a:schemeClr val="dk2"/>
              </a:buClr>
              <a:buSzPts val="1100"/>
              <a:buFont typeface="Arial"/>
              <a:buNone/>
            </a:pPr>
            <a:r>
              <a:rPr lang="en-US" sz="1200" b="0">
                <a:latin typeface="Arial"/>
                <a:ea typeface="Arial"/>
                <a:cs typeface="Arial"/>
                <a:sym typeface="Arial"/>
              </a:rPr>
              <a:t>With governance for users and resources, IT Admins can e</a:t>
            </a:r>
            <a:r>
              <a:rPr lang="en-US" sz="1200"/>
              <a:t>nable effective resource management through capabilities like reservations and limits, ensuring that critical applications receive the necessary resources while avoiding over-provisioning, which leads to cost savings. </a:t>
            </a:r>
            <a:endParaRPr/>
          </a:p>
          <a:p>
            <a:pPr marL="0" marR="0" lvl="0" indent="0" algn="l" rtl="0">
              <a:lnSpc>
                <a:spcPct val="80000"/>
              </a:lnSpc>
              <a:spcBef>
                <a:spcPts val="0"/>
              </a:spcBef>
              <a:spcAft>
                <a:spcPts val="0"/>
              </a:spcAft>
              <a:buClr>
                <a:schemeClr val="dk2"/>
              </a:buClr>
              <a:buSzPts val="1100"/>
              <a:buFont typeface="Arial"/>
              <a:buNone/>
            </a:pPr>
            <a:endParaRPr sz="1200"/>
          </a:p>
          <a:p>
            <a:pPr marL="0" marR="0" lvl="0" indent="0" algn="l" rtl="0">
              <a:lnSpc>
                <a:spcPct val="80000"/>
              </a:lnSpc>
              <a:spcBef>
                <a:spcPts val="0"/>
              </a:spcBef>
              <a:spcAft>
                <a:spcPts val="0"/>
              </a:spcAft>
              <a:buClr>
                <a:schemeClr val="dk2"/>
              </a:buClr>
              <a:buSzPts val="1100"/>
              <a:buFont typeface="Arial"/>
              <a:buNone/>
            </a:pPr>
            <a:r>
              <a:rPr lang="en-US" sz="1200"/>
              <a:t>Organization Admins can create and manage multiple projects while assigning specific users to each project (LOBs). </a:t>
            </a:r>
            <a:endParaRPr/>
          </a:p>
          <a:p>
            <a:pPr marL="0" marR="0" lvl="0" indent="0" algn="l" rtl="0">
              <a:lnSpc>
                <a:spcPct val="80000"/>
              </a:lnSpc>
              <a:spcBef>
                <a:spcPts val="0"/>
              </a:spcBef>
              <a:spcAft>
                <a:spcPts val="0"/>
              </a:spcAft>
              <a:buClr>
                <a:schemeClr val="dk2"/>
              </a:buClr>
              <a:buSzPts val="1100"/>
              <a:buFont typeface="Arial"/>
              <a:buNone/>
            </a:pPr>
            <a:r>
              <a:rPr lang="en-US" sz="1200"/>
              <a:t>After the creation of a project, vSphere Namespaces can be created.</a:t>
            </a:r>
            <a:endParaRPr/>
          </a:p>
          <a:p>
            <a:pPr marL="0" marR="0" lvl="0" indent="0" algn="l" rtl="0">
              <a:lnSpc>
                <a:spcPct val="80000"/>
              </a:lnSpc>
              <a:spcBef>
                <a:spcPts val="0"/>
              </a:spcBef>
              <a:spcAft>
                <a:spcPts val="0"/>
              </a:spcAft>
              <a:buClr>
                <a:schemeClr val="dk2"/>
              </a:buClr>
              <a:buSzPts val="1100"/>
              <a:buFont typeface="Arial"/>
              <a:buNone/>
            </a:pPr>
            <a:endParaRPr sz="1200"/>
          </a:p>
          <a:p>
            <a:pPr marL="0" marR="0" lvl="0" indent="0" algn="l" rtl="0">
              <a:lnSpc>
                <a:spcPct val="80000"/>
              </a:lnSpc>
              <a:spcBef>
                <a:spcPts val="0"/>
              </a:spcBef>
              <a:spcAft>
                <a:spcPts val="0"/>
              </a:spcAft>
              <a:buClr>
                <a:schemeClr val="dk2"/>
              </a:buClr>
              <a:buSzPts val="1100"/>
              <a:buFont typeface="Arial"/>
              <a:buNone/>
            </a:pPr>
            <a:r>
              <a:rPr lang="en-US" sz="1200"/>
              <a:t>Org Admins can create and configure namespaces, with namespace classes, to set quotas, reservations, content libraries, and Virtual Private Clouds (VPC). </a:t>
            </a:r>
            <a:endParaRPr/>
          </a:p>
          <a:p>
            <a:pPr marL="0" marR="0" lvl="0" indent="0" algn="l" rtl="0">
              <a:lnSpc>
                <a:spcPct val="80000"/>
              </a:lnSpc>
              <a:spcBef>
                <a:spcPts val="0"/>
              </a:spcBef>
              <a:spcAft>
                <a:spcPts val="0"/>
              </a:spcAft>
              <a:buClr>
                <a:schemeClr val="dk2"/>
              </a:buClr>
              <a:buSzPts val="1100"/>
              <a:buFont typeface="Arial"/>
              <a:buNone/>
            </a:pPr>
            <a:endParaRPr sz="1200"/>
          </a:p>
          <a:p>
            <a:pPr marL="0" marR="0" lvl="0" indent="0" algn="l" rtl="0">
              <a:lnSpc>
                <a:spcPct val="80000"/>
              </a:lnSpc>
              <a:spcBef>
                <a:spcPts val="0"/>
              </a:spcBef>
              <a:spcAft>
                <a:spcPts val="0"/>
              </a:spcAft>
              <a:buClr>
                <a:schemeClr val="dk2"/>
              </a:buClr>
              <a:buSzPts val="1100"/>
              <a:buFont typeface="Arial"/>
              <a:buNone/>
            </a:pPr>
            <a:r>
              <a:rPr lang="en-US" sz="1200"/>
              <a:t>The vSphere Namespace is an advanced resource pool that provides features such as utilization, reservations, limits, and the ability to provision various IaaS Services.</a:t>
            </a:r>
            <a:endParaRPr/>
          </a:p>
          <a:p>
            <a:pPr marL="0" marR="0" lvl="0" indent="0" algn="l" rtl="0">
              <a:lnSpc>
                <a:spcPct val="80000"/>
              </a:lnSpc>
              <a:spcBef>
                <a:spcPts val="0"/>
              </a:spcBef>
              <a:spcAft>
                <a:spcPts val="0"/>
              </a:spcAft>
              <a:buClr>
                <a:schemeClr val="dk2"/>
              </a:buClr>
              <a:buSzPts val="1100"/>
              <a:buFont typeface="Arial"/>
              <a:buNone/>
            </a:pPr>
            <a:r>
              <a:rPr lang="en-US" sz="1200"/>
              <a:t>The Namespace class is a template that can be tailored based on the specific needs of the namespace, whether they are small, medium, or large. It enforces limits on resource consumption to prevent individual users from monopolizing resources, especially in multi-tenant environments.</a:t>
            </a:r>
            <a:endParaRPr/>
          </a:p>
          <a:p>
            <a:pPr marL="0" marR="0" lvl="0" indent="0" algn="l" rtl="0">
              <a:lnSpc>
                <a:spcPct val="80000"/>
              </a:lnSpc>
              <a:spcBef>
                <a:spcPts val="0"/>
              </a:spcBef>
              <a:spcAft>
                <a:spcPts val="0"/>
              </a:spcAft>
              <a:buClr>
                <a:schemeClr val="dk2"/>
              </a:buClr>
              <a:buSzPts val="1100"/>
              <a:buFont typeface="Arial"/>
              <a:buNone/>
            </a:pPr>
            <a:endParaRPr sz="1200"/>
          </a:p>
          <a:p>
            <a:pPr marL="0" marR="0" lvl="0" indent="0" algn="l" rtl="0">
              <a:lnSpc>
                <a:spcPct val="80000"/>
              </a:lnSpc>
              <a:spcBef>
                <a:spcPts val="0"/>
              </a:spcBef>
              <a:spcAft>
                <a:spcPts val="0"/>
              </a:spcAft>
              <a:buClr>
                <a:schemeClr val="dk2"/>
              </a:buClr>
              <a:buSzPts val="1100"/>
              <a:buFont typeface="Arial"/>
              <a:buNone/>
            </a:pPr>
            <a:r>
              <a:rPr lang="en-US" sz="1200"/>
              <a:t>Org Admins can also gain insights into utilization at the organizational, project, vSphere Namespace, and infrastructure level (VM and VKS clusters).</a:t>
            </a:r>
            <a:endParaRPr/>
          </a:p>
          <a:p>
            <a:pPr marL="0" marR="0" lvl="0" indent="0" algn="l" rtl="0">
              <a:lnSpc>
                <a:spcPct val="80000"/>
              </a:lnSpc>
              <a:spcBef>
                <a:spcPts val="0"/>
              </a:spcBef>
              <a:spcAft>
                <a:spcPts val="0"/>
              </a:spcAft>
              <a:buClr>
                <a:schemeClr val="dk2"/>
              </a:buClr>
              <a:buSzPts val="1100"/>
              <a:buFont typeface="Arial"/>
              <a:buNone/>
            </a:pPr>
            <a:r>
              <a:rPr lang="en-US" sz="1200"/>
              <a:t>Also, Org admins can view costs at the organizational level, region quota, and namespace levels.</a:t>
            </a:r>
            <a:endParaRPr/>
          </a:p>
          <a:p>
            <a:pPr marL="0" lvl="0" indent="0" algn="l" rtl="0">
              <a:lnSpc>
                <a:spcPct val="80000"/>
              </a:lnSpc>
              <a:spcBef>
                <a:spcPts val="0"/>
              </a:spcBef>
              <a:spcAft>
                <a:spcPts val="0"/>
              </a:spcAft>
              <a:buClr>
                <a:schemeClr val="dk2"/>
              </a:buClr>
              <a:buSzPts val="1100"/>
              <a:buFont typeface="Arial"/>
              <a:buNone/>
            </a:pPr>
            <a:endParaRPr sz="1200" b="0">
              <a:latin typeface="Arial"/>
              <a:ea typeface="Arial"/>
              <a:cs typeface="Arial"/>
              <a:sym typeface="Arial"/>
            </a:endParaRPr>
          </a:p>
          <a:p>
            <a:pPr marL="0" lvl="0" indent="0" algn="l" rtl="0">
              <a:lnSpc>
                <a:spcPct val="80000"/>
              </a:lnSpc>
              <a:spcBef>
                <a:spcPts val="0"/>
              </a:spcBef>
              <a:spcAft>
                <a:spcPts val="0"/>
              </a:spcAft>
              <a:buClr>
                <a:schemeClr val="dk2"/>
              </a:buClr>
              <a:buSzPts val="1100"/>
              <a:buFont typeface="Arial"/>
              <a:buNone/>
            </a:pPr>
            <a:r>
              <a:rPr lang="en-US" sz="1200" b="1">
                <a:latin typeface="Arial"/>
                <a:ea typeface="Arial"/>
                <a:cs typeface="Arial"/>
                <a:sym typeface="Arial"/>
              </a:rPr>
              <a:t>Notes:</a:t>
            </a:r>
            <a:endParaRPr/>
          </a:p>
          <a:p>
            <a:pPr marL="0" lvl="0" indent="0" algn="l" rtl="0">
              <a:lnSpc>
                <a:spcPct val="80000"/>
              </a:lnSpc>
              <a:spcBef>
                <a:spcPts val="0"/>
              </a:spcBef>
              <a:spcAft>
                <a:spcPts val="0"/>
              </a:spcAft>
              <a:buClr>
                <a:schemeClr val="dk2"/>
              </a:buClr>
              <a:buSzPts val="1100"/>
              <a:buFont typeface="Arial"/>
              <a:buNone/>
            </a:pPr>
            <a:r>
              <a:rPr lang="en-US" sz="1200" b="0" u="sng"/>
              <a:t>Customer Benefits:</a:t>
            </a:r>
            <a:endParaRPr/>
          </a:p>
          <a:p>
            <a:pPr marL="457200" lvl="0" indent="-317500" algn="l" rtl="0">
              <a:lnSpc>
                <a:spcPct val="80000"/>
              </a:lnSpc>
              <a:spcBef>
                <a:spcPts val="0"/>
              </a:spcBef>
              <a:spcAft>
                <a:spcPts val="0"/>
              </a:spcAft>
              <a:buClr>
                <a:schemeClr val="dk1"/>
              </a:buClr>
              <a:buSzPts val="1400"/>
              <a:buFont typeface="Arial"/>
              <a:buChar char="•"/>
            </a:pPr>
            <a:r>
              <a:rPr lang="en-US" sz="1200"/>
              <a:t>Establishing a well-defined distribution of infrastructure resources, including quotas and policies, for each application team is essential. This approach not only fosters accountability and clarity among teams but also ensures that resources are utilized effectively, promoting collaboration and reducing potential conflicts over resource allocation. By doing so, Org Admins can enhance overall productivity and allow each app team to focus on their specific goals with the necessary support.</a:t>
            </a:r>
            <a:endParaRPr/>
          </a:p>
          <a:p>
            <a:pPr marL="457200" lvl="0" indent="-317500" algn="l" rtl="0">
              <a:lnSpc>
                <a:spcPct val="80000"/>
              </a:lnSpc>
              <a:spcBef>
                <a:spcPts val="0"/>
              </a:spcBef>
              <a:spcAft>
                <a:spcPts val="0"/>
              </a:spcAft>
              <a:buClr>
                <a:schemeClr val="dk1"/>
              </a:buClr>
              <a:buSzPts val="1400"/>
              <a:buFont typeface="Arial"/>
              <a:buChar char="•"/>
            </a:pPr>
            <a:r>
              <a:rPr lang="en-US" sz="1200"/>
              <a:t>Enable effective resource management through capabilities like reservations and limits, ensuring that critical applications receive the necessary resources while avoiding over-provisioning, which leads to cost savings. The flexibility to customize namespace classes allows for efficient scaling to meet changing business demands.</a:t>
            </a:r>
            <a:endParaRPr/>
          </a:p>
          <a:p>
            <a:pPr marL="0" lvl="0" indent="0" algn="l" rtl="0">
              <a:lnSpc>
                <a:spcPct val="60000"/>
              </a:lnSpc>
              <a:spcBef>
                <a:spcPts val="0"/>
              </a:spcBef>
              <a:spcAft>
                <a:spcPts val="0"/>
              </a:spcAft>
              <a:buClr>
                <a:schemeClr val="dk1"/>
              </a:buClr>
              <a:buSzPts val="713"/>
              <a:buFont typeface="Arial"/>
              <a:buNone/>
            </a:pPr>
            <a:endParaRPr sz="1200" b="1"/>
          </a:p>
          <a:p>
            <a:pPr marL="0" lvl="0" indent="0" algn="l" rtl="0">
              <a:lnSpc>
                <a:spcPct val="80000"/>
              </a:lnSpc>
              <a:spcBef>
                <a:spcPts val="0"/>
              </a:spcBef>
              <a:spcAft>
                <a:spcPts val="0"/>
              </a:spcAft>
              <a:buClr>
                <a:schemeClr val="dk2"/>
              </a:buClr>
              <a:buSzPts val="1100"/>
              <a:buFont typeface="Arial"/>
              <a:buNone/>
            </a:pPr>
            <a:r>
              <a:rPr lang="en-US" sz="1200" b="0" u="sng"/>
              <a:t>Key Attributes:</a:t>
            </a:r>
            <a:endParaRPr b="0" u="sng"/>
          </a:p>
          <a:p>
            <a:pPr marL="457200" lvl="0" indent="-317500" algn="l" rtl="0">
              <a:lnSpc>
                <a:spcPct val="80000"/>
              </a:lnSpc>
              <a:spcBef>
                <a:spcPts val="0"/>
              </a:spcBef>
              <a:spcAft>
                <a:spcPts val="0"/>
              </a:spcAft>
              <a:buClr>
                <a:schemeClr val="dk1"/>
              </a:buClr>
              <a:buSzPts val="1400"/>
              <a:buFont typeface="Arial"/>
              <a:buChar char="•"/>
            </a:pPr>
            <a:r>
              <a:rPr lang="en-US" sz="1200"/>
              <a:t>Org Admins can create and manage multiple projects while assigning specific users to each project (LOBs). Org Admins can also gain insights into utilization and costs at the organizational, project, and vSphere Namespace levels. During the creation of a project, vSphere Namespaces can be dynamically created and attached. Org Admins can customize namespaces by setting quotas, reservations, content policies, and Virtual Private Clouds (VPC). </a:t>
            </a:r>
            <a:endParaRPr/>
          </a:p>
          <a:p>
            <a:pPr marL="457200" lvl="0" indent="-317500" algn="l" rtl="0">
              <a:lnSpc>
                <a:spcPct val="80000"/>
              </a:lnSpc>
              <a:spcBef>
                <a:spcPts val="0"/>
              </a:spcBef>
              <a:spcAft>
                <a:spcPts val="0"/>
              </a:spcAft>
              <a:buClr>
                <a:schemeClr val="dk1"/>
              </a:buClr>
              <a:buSzPts val="1400"/>
              <a:buFont typeface="Arial"/>
              <a:buChar char="•"/>
            </a:pPr>
            <a:r>
              <a:rPr lang="en-US" sz="1200"/>
              <a:t>The vSphere Namespace is an advanced resource pool that provides features such as utilization, reservations, limits, and the ability to provision various IaaS Services. The Namespace class is a template that can be tailored based on the specific needs of the namespace, whether they are small, medium, or large. It enforces limits on resource consumption to prevent individual users from monopolizing resources, especially in multi-tenant environments. The built-in reservations ensure guaranteed resource availability for critical applications, while quotas help control resource usage and spending, aligning with organizational policies. </a:t>
            </a:r>
            <a:endParaRPr/>
          </a:p>
          <a:p>
            <a:pPr marL="0" lvl="0" indent="0" algn="l" rtl="0">
              <a:spcBef>
                <a:spcPts val="0"/>
              </a:spcBef>
              <a:spcAft>
                <a:spcPts val="0"/>
              </a:spcAft>
              <a:buClr>
                <a:schemeClr val="dk1"/>
              </a:buClr>
              <a:buSzPts val="1200"/>
              <a:buFont typeface="Arial"/>
              <a:buNone/>
            </a:pPr>
            <a:br>
              <a:rPr lang="en-US" sz="1200"/>
            </a:br>
            <a:r>
              <a:rPr lang="en-US" sz="1200" b="1"/>
              <a:t>Resources:</a:t>
            </a:r>
            <a:br>
              <a:rPr lang="en-US" sz="1200"/>
            </a:br>
            <a:endParaRPr/>
          </a:p>
        </p:txBody>
      </p:sp>
      <p:sp>
        <p:nvSpPr>
          <p:cNvPr id="15589" name="Google Shape;15589;p10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95"/>
        <p:cNvGrpSpPr/>
        <p:nvPr/>
      </p:nvGrpSpPr>
      <p:grpSpPr>
        <a:xfrm>
          <a:off x="0" y="0"/>
          <a:ext cx="0" cy="0"/>
          <a:chOff x="0" y="0"/>
          <a:chExt cx="0" cy="0"/>
        </a:xfrm>
      </p:grpSpPr>
      <p:sp>
        <p:nvSpPr>
          <p:cNvPr id="15596" name="Google Shape;15596;p10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97" name="Google Shape;15597;p10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a:p>
          <a:p>
            <a:pPr marL="0" lvl="0" indent="0" algn="l" rtl="0">
              <a:lnSpc>
                <a:spcPct val="60000"/>
              </a:lnSpc>
              <a:spcBef>
                <a:spcPts val="0"/>
              </a:spcBef>
              <a:spcAft>
                <a:spcPts val="0"/>
              </a:spcAft>
              <a:buClr>
                <a:schemeClr val="dk1"/>
              </a:buClr>
              <a:buSzPts val="713"/>
              <a:buFont typeface="Arial"/>
              <a:buNone/>
            </a:pPr>
            <a:r>
              <a:rPr lang="en-US" sz="1200" b="0">
                <a:latin typeface="Arial"/>
                <a:ea typeface="Arial"/>
                <a:cs typeface="Arial"/>
                <a:sym typeface="Arial"/>
              </a:rPr>
              <a:t>With centralized content management via the content hub, customers can streamline the overall content management process while improving productivity and collaboration with a unified content management portal.</a:t>
            </a:r>
            <a:endParaRPr sz="1200">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a:p>
          <a:p>
            <a:pPr marL="0" lvl="0" indent="0" algn="l" rtl="0">
              <a:lnSpc>
                <a:spcPct val="80000"/>
              </a:lnSpc>
              <a:spcBef>
                <a:spcPts val="0"/>
              </a:spcBef>
              <a:spcAft>
                <a:spcPts val="0"/>
              </a:spcAft>
              <a:buClr>
                <a:schemeClr val="dk2"/>
              </a:buClr>
              <a:buSzPts val="1100"/>
              <a:buFont typeface="Arial"/>
              <a:buNone/>
            </a:pPr>
            <a:r>
              <a:rPr lang="en-US" sz="1200"/>
              <a:t>Centralized content management enables IT Admins to easily discover, create, and allocate content libraries directly within VCF Automation, reducing complexity, minimizing errors, and streamlining the overall management process. This leads to increased efficiency and better resource allocation for customers.</a:t>
            </a:r>
            <a:endParaRPr/>
          </a:p>
          <a:p>
            <a:pPr marL="0" lvl="0" indent="0" algn="l" rtl="0">
              <a:lnSpc>
                <a:spcPct val="80000"/>
              </a:lnSpc>
              <a:spcBef>
                <a:spcPts val="0"/>
              </a:spcBef>
              <a:spcAft>
                <a:spcPts val="0"/>
              </a:spcAft>
              <a:buClr>
                <a:schemeClr val="dk2"/>
              </a:buClr>
              <a:buSzPts val="1100"/>
              <a:buFont typeface="Arial"/>
              <a:buNone/>
            </a:pPr>
            <a:endParaRPr sz="1200"/>
          </a:p>
          <a:p>
            <a:pPr marL="0" lvl="0" indent="0" algn="l" rtl="0">
              <a:lnSpc>
                <a:spcPct val="80000"/>
              </a:lnSpc>
              <a:spcBef>
                <a:spcPts val="0"/>
              </a:spcBef>
              <a:spcAft>
                <a:spcPts val="0"/>
              </a:spcAft>
              <a:buClr>
                <a:schemeClr val="dk2"/>
              </a:buClr>
              <a:buSzPts val="1100"/>
              <a:buFont typeface="Arial"/>
              <a:buNone/>
            </a:pPr>
            <a:r>
              <a:rPr lang="en-US" sz="1200"/>
              <a:t>By consolidating the IT Admin published content and the Organization Admin created/imported content in one place, VCF Automation simplifies sharing resources across various projects. This enhances collaboration among team members and ensures that everyone has quick access to the necessary tools and assets, which ultimately improves project execution and boosts overall productivity. </a:t>
            </a:r>
            <a:endParaRPr/>
          </a:p>
          <a:p>
            <a:pPr marL="0" lvl="0" indent="0" algn="l" rtl="0">
              <a:lnSpc>
                <a:spcPct val="80000"/>
              </a:lnSpc>
              <a:spcBef>
                <a:spcPts val="0"/>
              </a:spcBef>
              <a:spcAft>
                <a:spcPts val="0"/>
              </a:spcAft>
              <a:buClr>
                <a:schemeClr val="dk2"/>
              </a:buClr>
              <a:buSzPts val="1100"/>
              <a:buFont typeface="Arial"/>
              <a:buNone/>
            </a:pPr>
            <a:endParaRPr sz="1200"/>
          </a:p>
          <a:p>
            <a:pPr marL="0" lvl="0" indent="0" algn="l" rtl="0">
              <a:lnSpc>
                <a:spcPct val="80000"/>
              </a:lnSpc>
              <a:spcBef>
                <a:spcPts val="0"/>
              </a:spcBef>
              <a:spcAft>
                <a:spcPts val="0"/>
              </a:spcAft>
              <a:buClr>
                <a:schemeClr val="dk2"/>
              </a:buClr>
              <a:buSzPts val="1100"/>
              <a:buFont typeface="Arial"/>
              <a:buNone/>
            </a:pPr>
            <a:r>
              <a:rPr lang="en-US" sz="1200"/>
              <a:t>The ability for Org Admins to publish content to the self-service catalog streamlines access to resources by allowing quick publication with a single click. This enables end-users and app teams to independently consume resources without waiting for approvals. This empowerment fosters innovation and boosts productivity while allowing Org Admins to efficiently manage and update content, ensuring end users/app teams can access the latest information.</a:t>
            </a:r>
            <a:endParaRPr/>
          </a:p>
          <a:p>
            <a:pPr marL="0" lvl="0" indent="0" algn="l" rtl="0">
              <a:lnSpc>
                <a:spcPct val="80000"/>
              </a:lnSpc>
              <a:spcBef>
                <a:spcPts val="0"/>
              </a:spcBef>
              <a:spcAft>
                <a:spcPts val="0"/>
              </a:spcAft>
              <a:buClr>
                <a:schemeClr val="dk2"/>
              </a:buClr>
              <a:buSzPts val="1100"/>
              <a:buFont typeface="Arial"/>
              <a:buNone/>
            </a:pPr>
            <a:endParaRPr sz="1200"/>
          </a:p>
          <a:p>
            <a:pPr marL="0" lvl="0" indent="0" algn="l" rtl="0">
              <a:lnSpc>
                <a:spcPct val="80000"/>
              </a:lnSpc>
              <a:spcBef>
                <a:spcPts val="0"/>
              </a:spcBef>
              <a:spcAft>
                <a:spcPts val="0"/>
              </a:spcAft>
              <a:buClr>
                <a:schemeClr val="dk2"/>
              </a:buClr>
              <a:buSzPts val="1100"/>
              <a:buFont typeface="Arial"/>
              <a:buNone/>
            </a:pPr>
            <a:r>
              <a:rPr lang="en-US" sz="1200"/>
              <a:t>Improved user experience by integrating the Orchestrator UI into the VCF Automation UI under the Orchestrate tab, making it easier to navigate and reducing the need for a separate interface. This streamlines workflow creation and management in a consistent environment.</a:t>
            </a:r>
            <a:endParaRPr/>
          </a:p>
          <a:p>
            <a:pPr marL="0" lvl="0" indent="0" algn="l" rtl="0">
              <a:lnSpc>
                <a:spcPct val="80000"/>
              </a:lnSpc>
              <a:spcBef>
                <a:spcPts val="0"/>
              </a:spcBef>
              <a:spcAft>
                <a:spcPts val="0"/>
              </a:spcAft>
              <a:buClr>
                <a:schemeClr val="dk2"/>
              </a:buClr>
              <a:buSzPts val="1100"/>
              <a:buFont typeface="Arial"/>
              <a:buNone/>
            </a:pPr>
            <a:endParaRPr sz="1200"/>
          </a:p>
          <a:p>
            <a:pPr marL="0" lvl="0" indent="0" algn="l" rtl="0">
              <a:lnSpc>
                <a:spcPct val="80000"/>
              </a:lnSpc>
              <a:spcBef>
                <a:spcPts val="0"/>
              </a:spcBef>
              <a:spcAft>
                <a:spcPts val="0"/>
              </a:spcAft>
              <a:buClr>
                <a:schemeClr val="dk2"/>
              </a:buClr>
              <a:buSzPts val="1100"/>
              <a:buFont typeface="Arial"/>
              <a:buNone/>
            </a:pPr>
            <a:r>
              <a:rPr lang="en-US" sz="1200"/>
              <a:t>The Content Hub Management was designed specifically for Org Admins and Line of Business (LOB) teams to efficiently manage a wide array of resources. This includes content libraries, virtual machine (VM) images, blueprints, and orchestrator workflows. Users can seamlessly organize and maintain these resources in one location, simplifying the process of sharing them across multiple projects.</a:t>
            </a:r>
            <a:endParaRPr/>
          </a:p>
          <a:p>
            <a:pPr marL="0" lvl="0" indent="0" algn="l" rtl="0">
              <a:lnSpc>
                <a:spcPct val="80000"/>
              </a:lnSpc>
              <a:spcBef>
                <a:spcPts val="0"/>
              </a:spcBef>
              <a:spcAft>
                <a:spcPts val="0"/>
              </a:spcAft>
              <a:buClr>
                <a:schemeClr val="dk2"/>
              </a:buClr>
              <a:buSzPts val="1100"/>
              <a:buFont typeface="Arial"/>
              <a:buNone/>
            </a:pPr>
            <a:endParaRPr sz="1200"/>
          </a:p>
          <a:p>
            <a:pPr marL="0" marR="0" lvl="0" indent="0" algn="l" rtl="0">
              <a:lnSpc>
                <a:spcPct val="60000"/>
              </a:lnSpc>
              <a:spcBef>
                <a:spcPts val="1200"/>
              </a:spcBef>
              <a:spcAft>
                <a:spcPts val="0"/>
              </a:spcAft>
              <a:buClr>
                <a:srgbClr val="000000"/>
              </a:buClr>
              <a:buSzPts val="1400"/>
              <a:buFont typeface="Arial"/>
              <a:buNone/>
            </a:pPr>
            <a:r>
              <a:rPr lang="en-US" sz="1200" b="0" i="0" u="none" strike="noStrike" cap="none">
                <a:solidFill>
                  <a:schemeClr val="dk2"/>
                </a:solidFill>
                <a:latin typeface="Arial"/>
                <a:ea typeface="Arial"/>
                <a:cs typeface="Arial"/>
                <a:sym typeface="Arial"/>
              </a:rPr>
              <a:t>Project Content Libraries are a new form of content library available within the organization scope, which allow for creating libraries restricted to only specific projects within the organization and to the users of those projects.</a:t>
            </a:r>
            <a:r>
              <a:rPr lang="en-US" sz="1200">
                <a:solidFill>
                  <a:schemeClr val="dk2"/>
                </a:solidFill>
              </a:rPr>
              <a:t> </a:t>
            </a:r>
            <a:endParaRPr sz="1200"/>
          </a:p>
          <a:p>
            <a:pPr marL="0" marR="0" lvl="0" indent="0" algn="l" rtl="0">
              <a:lnSpc>
                <a:spcPct val="60000"/>
              </a:lnSpc>
              <a:spcBef>
                <a:spcPts val="1200"/>
              </a:spcBef>
              <a:spcAft>
                <a:spcPts val="0"/>
              </a:spcAft>
              <a:buClr>
                <a:srgbClr val="000000"/>
              </a:buClr>
              <a:buSzPts val="1400"/>
              <a:buFont typeface="Arial"/>
              <a:buNone/>
            </a:pPr>
            <a:endParaRPr sz="1200">
              <a:solidFill>
                <a:schemeClr val="dk2"/>
              </a:solidFill>
            </a:endParaRPr>
          </a:p>
          <a:p>
            <a:pPr marL="0" marR="0" lvl="0" indent="0" algn="l" rtl="0">
              <a:lnSpc>
                <a:spcPct val="60000"/>
              </a:lnSpc>
              <a:spcBef>
                <a:spcPts val="1200"/>
              </a:spcBef>
              <a:spcAft>
                <a:spcPts val="0"/>
              </a:spcAft>
              <a:buClr>
                <a:srgbClr val="000000"/>
              </a:buClr>
              <a:buSzPts val="1400"/>
              <a:buFont typeface="Arial"/>
              <a:buNone/>
            </a:pPr>
            <a:r>
              <a:rPr lang="en-US" sz="1200">
                <a:solidFill>
                  <a:schemeClr val="dk2"/>
                </a:solidFill>
              </a:rPr>
              <a:t>A Project Content Library is created from the content hub, the same as previous content libraries. The project option will be the default, and the user will be prompted to select either specific project(s) for the library, or to share with all projects in the </a:t>
            </a:r>
            <a:r>
              <a:rPr lang="en-US" sz="1200" b="0" i="0" u="none" strike="noStrike" cap="none">
                <a:solidFill>
                  <a:schemeClr val="dk2"/>
                </a:solidFill>
                <a:latin typeface="Arial"/>
                <a:ea typeface="Arial"/>
                <a:cs typeface="Arial"/>
                <a:sym typeface="Arial"/>
              </a:rPr>
              <a:t>organization</a:t>
            </a:r>
            <a:r>
              <a:rPr lang="en-US" sz="1200">
                <a:solidFill>
                  <a:schemeClr val="dk2"/>
                </a:solidFill>
              </a:rPr>
              <a:t>. This can also be changed after the library is created.</a:t>
            </a:r>
            <a:endParaRPr sz="1200"/>
          </a:p>
          <a:p>
            <a:pPr marL="0" marR="0" lvl="0" indent="0" algn="l" rtl="0">
              <a:lnSpc>
                <a:spcPct val="60000"/>
              </a:lnSpc>
              <a:spcBef>
                <a:spcPts val="1200"/>
              </a:spcBef>
              <a:spcAft>
                <a:spcPts val="0"/>
              </a:spcAft>
              <a:buClr>
                <a:srgbClr val="000000"/>
              </a:buClr>
              <a:buSzPts val="1400"/>
              <a:buFont typeface="Arial"/>
              <a:buNone/>
            </a:pPr>
            <a:endParaRPr sz="1200">
              <a:solidFill>
                <a:schemeClr val="dk2"/>
              </a:solidFill>
            </a:endParaRPr>
          </a:p>
          <a:p>
            <a:pPr marL="0" marR="0" lvl="0" indent="0" algn="l" rtl="0">
              <a:lnSpc>
                <a:spcPct val="60000"/>
              </a:lnSpc>
              <a:spcBef>
                <a:spcPts val="1200"/>
              </a:spcBef>
              <a:spcAft>
                <a:spcPts val="0"/>
              </a:spcAft>
              <a:buClr>
                <a:srgbClr val="000000"/>
              </a:buClr>
              <a:buSzPts val="1400"/>
              <a:buFont typeface="Arial"/>
              <a:buNone/>
            </a:pPr>
            <a:r>
              <a:rPr lang="en-US" sz="1200">
                <a:solidFill>
                  <a:schemeClr val="dk2"/>
                </a:solidFill>
              </a:rPr>
              <a:t>These libraries act like other content libraries in 9.0, however you can now set read or read/write permissions per project in 9.1.</a:t>
            </a:r>
            <a:endParaRPr sz="1200"/>
          </a:p>
          <a:p>
            <a:pPr marL="0" lvl="0" indent="0" algn="l" rtl="0">
              <a:lnSpc>
                <a:spcPct val="60000"/>
              </a:lnSpc>
              <a:spcBef>
                <a:spcPts val="0"/>
              </a:spcBef>
              <a:spcAft>
                <a:spcPts val="0"/>
              </a:spcAft>
              <a:buClr>
                <a:schemeClr val="dk1"/>
              </a:buClr>
              <a:buSzPts val="713"/>
              <a:buFont typeface="Arial"/>
              <a:buNone/>
            </a:pPr>
            <a:endParaRPr sz="1200" b="0">
              <a:latin typeface="Arial"/>
              <a:ea typeface="Arial"/>
              <a:cs typeface="Arial"/>
              <a:sym typeface="Arial"/>
            </a:endParaRPr>
          </a:p>
          <a:p>
            <a:pPr marL="0" lvl="0" indent="0" algn="l" rtl="0">
              <a:lnSpc>
                <a:spcPct val="80000"/>
              </a:lnSpc>
              <a:spcBef>
                <a:spcPts val="0"/>
              </a:spcBef>
              <a:spcAft>
                <a:spcPts val="0"/>
              </a:spcAft>
              <a:buClr>
                <a:schemeClr val="dk2"/>
              </a:buClr>
              <a:buSzPts val="1100"/>
              <a:buFont typeface="Arial"/>
              <a:buNone/>
            </a:pPr>
            <a:r>
              <a:rPr lang="en-US" b="1"/>
              <a:t>Notes:</a:t>
            </a:r>
            <a:br>
              <a:rPr lang="en-US" b="1"/>
            </a:br>
            <a:r>
              <a:rPr lang="en-US" sz="1200" b="0" i="0" u="sng"/>
              <a:t>Customer Benefits:</a:t>
            </a:r>
            <a:endParaRPr b="0" i="0" u="sng"/>
          </a:p>
          <a:p>
            <a:pPr marL="457200" lvl="0" indent="-317500" algn="l" rtl="0">
              <a:lnSpc>
                <a:spcPct val="80000"/>
              </a:lnSpc>
              <a:spcBef>
                <a:spcPts val="0"/>
              </a:spcBef>
              <a:spcAft>
                <a:spcPts val="0"/>
              </a:spcAft>
              <a:buClr>
                <a:schemeClr val="dk1"/>
              </a:buClr>
              <a:buSzPts val="1400"/>
              <a:buFont typeface="Arial"/>
              <a:buChar char="•"/>
            </a:pPr>
            <a:r>
              <a:rPr lang="en-US" sz="1200"/>
              <a:t>Centralized content management enables IT Admins to easily discover, create, and allocate content libraries directly within VCFA, reducing complexity, minimizing errors, and streamlining the overall management process. This leads to increased efficiency and better resource allocation for customers.</a:t>
            </a:r>
            <a:endParaRPr/>
          </a:p>
          <a:p>
            <a:pPr marL="457200" lvl="0" indent="-317500" algn="l" rtl="0">
              <a:lnSpc>
                <a:spcPct val="80000"/>
              </a:lnSpc>
              <a:spcBef>
                <a:spcPts val="0"/>
              </a:spcBef>
              <a:spcAft>
                <a:spcPts val="0"/>
              </a:spcAft>
              <a:buClr>
                <a:schemeClr val="dk1"/>
              </a:buClr>
              <a:buSzPts val="1400"/>
              <a:buFont typeface="Arial"/>
              <a:buChar char="•"/>
            </a:pPr>
            <a:r>
              <a:rPr lang="en-US" sz="1200"/>
              <a:t>By consolidating the IT Admin published content and the Org Admin created/imported content in one place, VCFA simplifies the process of sharing the resources across various projects. This enhances collaboration among team members and ensures that everyone has quick access to the necessary tools and assets, which ultimately improves project execution and boosts overall productivity. </a:t>
            </a:r>
            <a:endParaRPr/>
          </a:p>
          <a:p>
            <a:pPr marL="457200" lvl="0" indent="-317500" algn="l" rtl="0">
              <a:lnSpc>
                <a:spcPct val="80000"/>
              </a:lnSpc>
              <a:spcBef>
                <a:spcPts val="0"/>
              </a:spcBef>
              <a:spcAft>
                <a:spcPts val="0"/>
              </a:spcAft>
              <a:buClr>
                <a:schemeClr val="dk1"/>
              </a:buClr>
              <a:buSzPts val="1400"/>
              <a:buFont typeface="Arial"/>
              <a:buChar char="•"/>
            </a:pPr>
            <a:r>
              <a:rPr lang="en-US" sz="1200"/>
              <a:t>The ability for Org Admins to publish content to the self-service catalog streamlines access to resources by allowing quick publication with a single click. This enables end-users and app teams to independently consume resources without waiting for approvals. This empowerment fosters innovation and boosts productivity while allowing Org Admins to efficiently manage and update content, ensuring end users/app teams have access to the latest information.</a:t>
            </a:r>
            <a:endParaRPr/>
          </a:p>
          <a:p>
            <a:pPr marL="457200" lvl="0" indent="-317500" algn="l" rtl="0">
              <a:lnSpc>
                <a:spcPct val="80000"/>
              </a:lnSpc>
              <a:spcBef>
                <a:spcPts val="0"/>
              </a:spcBef>
              <a:spcAft>
                <a:spcPts val="0"/>
              </a:spcAft>
              <a:buClr>
                <a:schemeClr val="dk1"/>
              </a:buClr>
              <a:buSzPts val="1400"/>
              <a:buFont typeface="Arial"/>
              <a:buChar char="•"/>
            </a:pPr>
            <a:r>
              <a:rPr lang="en-US" sz="1200"/>
              <a:t>Improved user experience by integrating the Orchestrator UI into the VCFA UI under the Orchestrate tab, making it easier to navigate and reducing the need for a separate interface. This streamlines workflow creation and management in a consistent environment.</a:t>
            </a:r>
            <a:endParaRPr/>
          </a:p>
          <a:p>
            <a:pPr marL="0" lvl="0" indent="0" algn="l" rtl="0">
              <a:lnSpc>
                <a:spcPct val="60000"/>
              </a:lnSpc>
              <a:spcBef>
                <a:spcPts val="0"/>
              </a:spcBef>
              <a:spcAft>
                <a:spcPts val="0"/>
              </a:spcAft>
              <a:buClr>
                <a:schemeClr val="dk1"/>
              </a:buClr>
              <a:buSzPts val="713"/>
              <a:buFont typeface="Arial"/>
              <a:buNone/>
            </a:pPr>
            <a:endParaRPr sz="1200" b="1"/>
          </a:p>
          <a:p>
            <a:pPr marL="0" lvl="0" indent="0" algn="l" rtl="0">
              <a:lnSpc>
                <a:spcPct val="80000"/>
              </a:lnSpc>
              <a:spcBef>
                <a:spcPts val="0"/>
              </a:spcBef>
              <a:spcAft>
                <a:spcPts val="0"/>
              </a:spcAft>
              <a:buClr>
                <a:schemeClr val="dk2"/>
              </a:buClr>
              <a:buSzPts val="1100"/>
              <a:buFont typeface="Arial"/>
              <a:buNone/>
            </a:pPr>
            <a:r>
              <a:rPr lang="en-US" sz="1200" b="0" u="sng"/>
              <a:t>Key Attributes:</a:t>
            </a:r>
            <a:endParaRPr b="0" u="sng"/>
          </a:p>
          <a:p>
            <a:pPr marL="457200" lvl="0" indent="-317500" algn="l" rtl="0">
              <a:lnSpc>
                <a:spcPct val="80000"/>
              </a:lnSpc>
              <a:spcBef>
                <a:spcPts val="0"/>
              </a:spcBef>
              <a:spcAft>
                <a:spcPts val="0"/>
              </a:spcAft>
              <a:buClr>
                <a:schemeClr val="dk1"/>
              </a:buClr>
              <a:buSzPts val="1400"/>
              <a:buFont typeface="Arial"/>
              <a:buChar char="•"/>
            </a:pPr>
            <a:r>
              <a:rPr lang="en-US" sz="1200"/>
              <a:t>All existing customers utilize the vCenter content library for VM image management. Before the introduction of VCF 9.0, managing the content library across multiple vCenters and data centers involved a “publish and subscribe” model. In this model, one vCenter acted as the publisher, hosting the content library, while the other vCenters served as subscribers. This setup, known as "pub and sub," could become quite complicated, especially with many vCenters across multiple data centers, leading to significant challenges in synchronizing content libraries. With VCF 9.0, we are consolidating content library management within VCFA. In VCFA, we connect to all vCenters to discover all content libraries. This process allows the IT Admin to allocate a content library to one or all organizations. VCFA automatically synchronizes these libraries with the vCenters in the background, streamlining the process. In VCF 9.0, you can also create a new content library directly within VCFA, add one or more VM images to this library, and allocate it to one or more organizations, as needed. All of these tasks can be accomplished within VCFA without relying on the previous "pub and sub" model, simplifying management and eliminating associated complexities. Another important feature to note is that users can leverage the same content library across multiple vCenters via Regions; it’s a cool feature that a lot of customers identified as missing from the vCenter content library that VCFA currently provides. </a:t>
            </a:r>
            <a:endParaRPr/>
          </a:p>
          <a:p>
            <a:pPr marL="457200" lvl="0" indent="-317500" algn="l" rtl="0">
              <a:lnSpc>
                <a:spcPct val="80000"/>
              </a:lnSpc>
              <a:spcBef>
                <a:spcPts val="0"/>
              </a:spcBef>
              <a:spcAft>
                <a:spcPts val="0"/>
              </a:spcAft>
              <a:buClr>
                <a:schemeClr val="dk1"/>
              </a:buClr>
              <a:buSzPts val="1400"/>
              <a:buFont typeface="Arial"/>
              <a:buChar char="•"/>
            </a:pPr>
            <a:r>
              <a:rPr lang="en-US" sz="1200"/>
              <a:t>The Content Hub Management was designed specifically for Org Admins and Line of Business (LOB) teams to efficiently manage a wide array of resources. This includes content libraries, virtual machine (VM) images, blueprints, and orchestrator workflows. Users can seamlessly organize and maintain these resources in one location, simplifying the process of sharing them across multiple projects.</a:t>
            </a:r>
            <a:endParaRPr/>
          </a:p>
          <a:p>
            <a:pPr marL="139700" lvl="0" indent="0" algn="l" rtl="0">
              <a:lnSpc>
                <a:spcPct val="80000"/>
              </a:lnSpc>
              <a:spcBef>
                <a:spcPts val="0"/>
              </a:spcBef>
              <a:spcAft>
                <a:spcPts val="0"/>
              </a:spcAft>
              <a:buClr>
                <a:schemeClr val="dk1"/>
              </a:buClr>
              <a:buSzPts val="1400"/>
              <a:buFont typeface="Arial"/>
              <a:buNone/>
            </a:pPr>
            <a:endParaRPr sz="1200"/>
          </a:p>
          <a:p>
            <a:pPr marL="457200" lvl="0" indent="-317500" algn="l" rtl="0">
              <a:lnSpc>
                <a:spcPct val="80000"/>
              </a:lnSpc>
              <a:spcBef>
                <a:spcPts val="0"/>
              </a:spcBef>
              <a:spcAft>
                <a:spcPts val="0"/>
              </a:spcAft>
              <a:buClr>
                <a:schemeClr val="dk1"/>
              </a:buClr>
              <a:buSzPts val="1400"/>
              <a:buFont typeface="Arial"/>
              <a:buChar char="•"/>
            </a:pPr>
            <a:r>
              <a:rPr lang="en-US" sz="1200"/>
              <a:t>Org Admins can publish content to the self-service catalog with a single, easy click. This streamlined process allows them to make resources readily available to end-users and app teams, empowering them to access and utilize the content efficiently.</a:t>
            </a:r>
            <a:endParaRPr/>
          </a:p>
          <a:p>
            <a:pPr marL="139700" lvl="0" indent="0" algn="l" rtl="0">
              <a:lnSpc>
                <a:spcPct val="80000"/>
              </a:lnSpc>
              <a:spcBef>
                <a:spcPts val="0"/>
              </a:spcBef>
              <a:spcAft>
                <a:spcPts val="0"/>
              </a:spcAft>
              <a:buClr>
                <a:schemeClr val="dk1"/>
              </a:buClr>
              <a:buSzPts val="1400"/>
              <a:buFont typeface="Arial"/>
              <a:buNone/>
            </a:pPr>
            <a:endParaRPr sz="1200"/>
          </a:p>
          <a:p>
            <a:pPr marL="457200" lvl="0" indent="-317500" algn="l" rtl="0">
              <a:lnSpc>
                <a:spcPct val="80000"/>
              </a:lnSpc>
              <a:spcBef>
                <a:spcPts val="0"/>
              </a:spcBef>
              <a:spcAft>
                <a:spcPts val="0"/>
              </a:spcAft>
              <a:buClr>
                <a:schemeClr val="dk1"/>
              </a:buClr>
              <a:buSzPts val="1400"/>
              <a:buFont typeface="Arial"/>
              <a:buChar char="•"/>
            </a:pPr>
            <a:r>
              <a:rPr lang="en-US" sz="1200"/>
              <a:t>Org Admins and Lines of Business (LOBs) no longer need a separate product to access workflow orchestration. This capability is now available as a feature within VCFA called "orchestrate." Users can build orchestrator workflows directly from VCFA. These workflows can be published into a catalog or triggered based on various events generated within VCFA, utilizing what we refer to as the "event broker system." With the extensibility feature, users can view a list of all system events generated and subscribe to them. For different events, they can trigger distinct workflows. For instance, if an event is generated after a VM is successfully created, they can subscribe to it and initiate an orchestrator workflow that registers the VM in a CMDB within their environment.</a:t>
            </a:r>
            <a:endParaRPr sz="1200" b="1"/>
          </a:p>
          <a:p>
            <a:pPr marL="0" lvl="0" indent="0" algn="l" rtl="0">
              <a:spcBef>
                <a:spcPts val="0"/>
              </a:spcBef>
              <a:spcAft>
                <a:spcPts val="0"/>
              </a:spcAft>
              <a:buClr>
                <a:schemeClr val="dk1"/>
              </a:buClr>
              <a:buSzPts val="1200"/>
              <a:buFont typeface="Arial"/>
              <a:buNone/>
            </a:pPr>
            <a:br>
              <a:rPr lang="en-US" sz="1200"/>
            </a:br>
            <a:r>
              <a:rPr lang="en-US" sz="1200" b="1"/>
              <a:t>Resources:</a:t>
            </a:r>
            <a:br>
              <a:rPr lang="en-US" sz="1200"/>
            </a:br>
            <a:endParaRPr/>
          </a:p>
        </p:txBody>
      </p:sp>
      <p:sp>
        <p:nvSpPr>
          <p:cNvPr id="15598" name="Google Shape;15598;p10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Calibri"/>
                <a:ea typeface="Calibri"/>
                <a:cs typeface="Calibri"/>
                <a:sym typeface="Calibri"/>
              </a:rPr>
              <a:t>104</a:t>
            </a:fld>
            <a:endParaRPr sz="1200" b="0" i="0" u="none" strike="noStrike" cap="none">
              <a:solidFill>
                <a:srgbClr val="000000"/>
              </a:solidFill>
              <a:latin typeface="Calibri"/>
              <a:ea typeface="Calibri"/>
              <a:cs typeface="Calibri"/>
              <a:sym typeface="Calibri"/>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04"/>
        <p:cNvGrpSpPr/>
        <p:nvPr/>
      </p:nvGrpSpPr>
      <p:grpSpPr>
        <a:xfrm>
          <a:off x="0" y="0"/>
          <a:ext cx="0" cy="0"/>
          <a:chOff x="0" y="0"/>
          <a:chExt cx="0" cy="0"/>
        </a:xfrm>
      </p:grpSpPr>
      <p:sp>
        <p:nvSpPr>
          <p:cNvPr id="15605" name="Google Shape;15605;p11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606" name="Google Shape;15606;p11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60000"/>
              </a:lnSpc>
              <a:spcBef>
                <a:spcPts val="0"/>
              </a:spcBef>
              <a:spcAft>
                <a:spcPts val="0"/>
              </a:spcAft>
              <a:buClr>
                <a:schemeClr val="dk1"/>
              </a:buClr>
              <a:buSzPts val="713"/>
              <a:buFont typeface="Arial"/>
              <a:buNone/>
            </a:pPr>
            <a:r>
              <a:rPr lang="en-US" sz="1200" b="1">
                <a:latin typeface="Arial"/>
                <a:ea typeface="Arial"/>
                <a:cs typeface="Arial"/>
                <a:sym typeface="Arial"/>
              </a:rPr>
              <a:t>Key Message:</a:t>
            </a:r>
            <a:endParaRPr sz="2000" b="1">
              <a:latin typeface="Arial"/>
              <a:ea typeface="Arial"/>
              <a:cs typeface="Arial"/>
              <a:sym typeface="Arial"/>
            </a:endParaRPr>
          </a:p>
          <a:p>
            <a:pPr marL="0" marR="0" lvl="0" indent="0" algn="l" rtl="0">
              <a:lnSpc>
                <a:spcPct val="60000"/>
              </a:lnSpc>
              <a:spcBef>
                <a:spcPts val="0"/>
              </a:spcBef>
              <a:spcAft>
                <a:spcPts val="0"/>
              </a:spcAft>
              <a:buClr>
                <a:schemeClr val="dk1"/>
              </a:buClr>
              <a:buSzPts val="713"/>
              <a:buFont typeface="Arial"/>
              <a:buNone/>
            </a:pPr>
            <a:r>
              <a:rPr lang="en-US" sz="1200"/>
              <a:t>Complete network governance for Org Admin with the power to enable self-service networking for consumers.</a:t>
            </a:r>
            <a:endParaRPr sz="1200">
              <a:latin typeface="Arial"/>
              <a:ea typeface="Arial"/>
              <a:cs typeface="Arial"/>
              <a:sym typeface="Arial"/>
            </a:endParaRPr>
          </a:p>
          <a:p>
            <a:pPr marL="0" lvl="0" indent="0" algn="l" rtl="0">
              <a:lnSpc>
                <a:spcPct val="60000"/>
              </a:lnSpc>
              <a:spcBef>
                <a:spcPts val="0"/>
              </a:spcBef>
              <a:spcAft>
                <a:spcPts val="0"/>
              </a:spcAft>
              <a:buClr>
                <a:schemeClr val="dk1"/>
              </a:buClr>
              <a:buSzPts val="713"/>
              <a:buFont typeface="Arial"/>
              <a:buNone/>
            </a:pPr>
            <a:br>
              <a:rPr lang="en-US" sz="1200">
                <a:latin typeface="Arial"/>
                <a:ea typeface="Arial"/>
                <a:cs typeface="Arial"/>
                <a:sym typeface="Arial"/>
              </a:rPr>
            </a:br>
            <a:r>
              <a:rPr lang="en-US" sz="1200" b="1">
                <a:latin typeface="Arial"/>
                <a:ea typeface="Arial"/>
                <a:cs typeface="Arial"/>
                <a:sym typeface="Arial"/>
              </a:rPr>
              <a:t>Talk Track:</a:t>
            </a:r>
            <a:endParaRPr/>
          </a:p>
          <a:p>
            <a:pPr marL="0" lvl="0" indent="0" algn="l" rtl="0">
              <a:lnSpc>
                <a:spcPct val="60000"/>
              </a:lnSpc>
              <a:spcBef>
                <a:spcPts val="0"/>
              </a:spcBef>
              <a:spcAft>
                <a:spcPts val="0"/>
              </a:spcAft>
              <a:buClr>
                <a:schemeClr val="dk1"/>
              </a:buClr>
              <a:buSzPts val="713"/>
              <a:buFont typeface="Arial"/>
              <a:buNone/>
            </a:pPr>
            <a:r>
              <a:rPr lang="en-US" sz="1200"/>
              <a:t>By creating network isolation domains (VPC) for different application teams, organizations can significantly improve their security posture. Each team’s resources are separated, which minimizes the risk of data breaches and unauthorized access. </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Managing IP addresses locally and coordinating them effectively with IT Admins or Providers allows for better resource allocation and reduces conflicts. This ensures that applications run smoothly without network disruptions. </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Set up dedicated network isolation domains (VPCs) tailored for different application teams within the organization. This ensures that each team operates within its secure environment, minimizing the risk of cross-team interference and enhancing network security. </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Allocate the created virtual private clouds (VPCs) to one or more vSphere Namespaces. This integration allows for better resource management, ensuring that each namespace can leverage the benefits of its assigned VPC for enhanced isolation and control over network resources.</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Oversee the distribution and management of IP addresses provided by IT Administrators. This includes tracking allocated addresses, ensuring proper subnetting, and maintaining an organized IP address inventory to prevent conflicts and streamline network operations.</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60000"/>
              </a:lnSpc>
              <a:spcBef>
                <a:spcPts val="0"/>
              </a:spcBef>
              <a:spcAft>
                <a:spcPts val="0"/>
              </a:spcAft>
              <a:buClr>
                <a:schemeClr val="dk1"/>
              </a:buClr>
              <a:buSzPts val="713"/>
              <a:buFont typeface="Arial"/>
              <a:buNone/>
            </a:pPr>
            <a:r>
              <a:rPr lang="en-US" sz="1200"/>
              <a:t>Develop and oversee a range of IP addresses that are specifically designated for use within the organization. This involves planning IP address allocations, managing the lifecycle of these addresses, and ensuring compliance with organizational policies and standards for internal network management.</a:t>
            </a:r>
            <a:endParaRPr/>
          </a:p>
          <a:p>
            <a:pPr marL="457200" lvl="0" indent="-228600" algn="l" rtl="0">
              <a:lnSpc>
                <a:spcPct val="90000"/>
              </a:lnSpc>
              <a:spcBef>
                <a:spcPts val="0"/>
              </a:spcBef>
              <a:spcAft>
                <a:spcPts val="0"/>
              </a:spcAft>
              <a:buClr>
                <a:schemeClr val="dk1"/>
              </a:buClr>
              <a:buSzPts val="1400"/>
              <a:buFont typeface="Arial"/>
              <a:buNone/>
            </a:pPr>
            <a:endParaRPr sz="1200"/>
          </a:p>
          <a:p>
            <a:pPr marL="0" lvl="0" indent="0" algn="l" rtl="0">
              <a:lnSpc>
                <a:spcPct val="90000"/>
              </a:lnSpc>
              <a:spcBef>
                <a:spcPts val="0"/>
              </a:spcBef>
              <a:spcAft>
                <a:spcPts val="0"/>
              </a:spcAft>
              <a:buClr>
                <a:schemeClr val="dk2"/>
              </a:buClr>
              <a:buSzPts val="1100"/>
              <a:buFont typeface="Arial"/>
              <a:buNone/>
            </a:pPr>
            <a:r>
              <a:rPr lang="en-US" b="1"/>
              <a:t>Notes:</a:t>
            </a:r>
            <a:br>
              <a:rPr lang="en-US" b="1"/>
            </a:br>
            <a:r>
              <a:rPr lang="en-US" sz="1200" b="0" u="sng"/>
              <a:t>Customer Benefits:</a:t>
            </a:r>
            <a:endParaRPr b="0" u="sng"/>
          </a:p>
          <a:p>
            <a:pPr marL="457200" lvl="0" indent="-317500" algn="l" rtl="0">
              <a:lnSpc>
                <a:spcPct val="90000"/>
              </a:lnSpc>
              <a:spcBef>
                <a:spcPts val="0"/>
              </a:spcBef>
              <a:spcAft>
                <a:spcPts val="0"/>
              </a:spcAft>
              <a:buClr>
                <a:schemeClr val="dk1"/>
              </a:buClr>
              <a:buSzPts val="1400"/>
              <a:buFont typeface="Arial"/>
              <a:buChar char="•"/>
            </a:pPr>
            <a:r>
              <a:rPr lang="en-US" sz="1200"/>
              <a:t>By creating network isolation domains (VPC) for different application teams, organizations can significantly improve their security posture. Each team’s resources are separated, which minimizes the risk of data breaches and unauthorized access. Customers care about this because protecting sensitive information and maintaining compliance with regulations are critical for their business integrity and trustworthiness.</a:t>
            </a:r>
            <a:endParaRPr/>
          </a:p>
          <a:p>
            <a:pPr marL="457200" lvl="0" indent="-317500" algn="l" rtl="0">
              <a:lnSpc>
                <a:spcPct val="90000"/>
              </a:lnSpc>
              <a:spcBef>
                <a:spcPts val="0"/>
              </a:spcBef>
              <a:spcAft>
                <a:spcPts val="0"/>
              </a:spcAft>
              <a:buClr>
                <a:schemeClr val="dk1"/>
              </a:buClr>
              <a:buSzPts val="1400"/>
              <a:buFont typeface="Arial"/>
              <a:buChar char="•"/>
            </a:pPr>
            <a:r>
              <a:rPr lang="en-US" sz="1200"/>
              <a:t>Managing IP addresses locally and coordinating them effectively with IT Admins or Providers allows for better resource allocation and reduces conflicts. This ensures that applications run smoothly without network disruptions. Customers value this benefit as it leads to improved operational efficiency and reduced downtime, ultimately enhancing their productivity and cost-effectiveness in managing their IT infrastructure.</a:t>
            </a:r>
            <a:endParaRPr/>
          </a:p>
          <a:p>
            <a:pPr marL="0" lvl="0" indent="0" algn="l" rtl="0">
              <a:lnSpc>
                <a:spcPct val="60000"/>
              </a:lnSpc>
              <a:spcBef>
                <a:spcPts val="0"/>
              </a:spcBef>
              <a:spcAft>
                <a:spcPts val="0"/>
              </a:spcAft>
              <a:buClr>
                <a:schemeClr val="dk1"/>
              </a:buClr>
              <a:buSzPts val="713"/>
              <a:buFont typeface="Arial"/>
              <a:buNone/>
            </a:pPr>
            <a:endParaRPr sz="1200"/>
          </a:p>
          <a:p>
            <a:pPr marL="0" lvl="0" indent="0" algn="l" rtl="0">
              <a:lnSpc>
                <a:spcPct val="90000"/>
              </a:lnSpc>
              <a:spcBef>
                <a:spcPts val="0"/>
              </a:spcBef>
              <a:spcAft>
                <a:spcPts val="0"/>
              </a:spcAft>
              <a:buClr>
                <a:schemeClr val="dk2"/>
              </a:buClr>
              <a:buSzPts val="1100"/>
              <a:buFont typeface="Arial"/>
              <a:buNone/>
            </a:pPr>
            <a:r>
              <a:rPr lang="en-US" sz="1200" b="0" u="sng"/>
              <a:t>Key Attributes:</a:t>
            </a:r>
            <a:endParaRPr b="0" u="sng"/>
          </a:p>
          <a:p>
            <a:pPr marL="457200" lvl="0" indent="-317500" algn="l" rtl="0">
              <a:lnSpc>
                <a:spcPct val="90000"/>
              </a:lnSpc>
              <a:spcBef>
                <a:spcPts val="0"/>
              </a:spcBef>
              <a:spcAft>
                <a:spcPts val="0"/>
              </a:spcAft>
              <a:buClr>
                <a:schemeClr val="dk1"/>
              </a:buClr>
              <a:buSzPts val="1400"/>
              <a:buFont typeface="Arial"/>
              <a:buChar char="•"/>
            </a:pPr>
            <a:r>
              <a:rPr lang="en-US" sz="1200"/>
              <a:t>Set up dedicated network isolation domains (VPCs) tailored for different application teams within the organization. This ensures that each team operates within its secure environment, minimizing the risk of cross-team interference and enhancing network security. </a:t>
            </a:r>
            <a:endParaRPr/>
          </a:p>
          <a:p>
            <a:pPr marL="457200" lvl="0" indent="-317500" algn="l" rtl="0">
              <a:lnSpc>
                <a:spcPct val="90000"/>
              </a:lnSpc>
              <a:spcBef>
                <a:spcPts val="0"/>
              </a:spcBef>
              <a:spcAft>
                <a:spcPts val="0"/>
              </a:spcAft>
              <a:buClr>
                <a:schemeClr val="dk1"/>
              </a:buClr>
              <a:buSzPts val="1400"/>
              <a:buFont typeface="Arial"/>
              <a:buChar char="•"/>
            </a:pPr>
            <a:r>
              <a:rPr lang="en-US" sz="1200"/>
              <a:t>Allocate the created virtual private clouds (VPCs) to one or more vSphere Namespaces. This integration allows for better resource management, ensuring that each namespace can leverage the benefits of its assigned VPC for enhanced isolation and control over network resources. </a:t>
            </a:r>
            <a:endParaRPr/>
          </a:p>
          <a:p>
            <a:pPr marL="457200" lvl="0" indent="-317500" algn="l" rtl="0">
              <a:lnSpc>
                <a:spcPct val="90000"/>
              </a:lnSpc>
              <a:spcBef>
                <a:spcPts val="0"/>
              </a:spcBef>
              <a:spcAft>
                <a:spcPts val="0"/>
              </a:spcAft>
              <a:buClr>
                <a:schemeClr val="dk1"/>
              </a:buClr>
              <a:buSzPts val="1400"/>
              <a:buFont typeface="Arial"/>
              <a:buChar char="•"/>
            </a:pPr>
            <a:r>
              <a:rPr lang="en-US" sz="1200"/>
              <a:t>Oversee the distribution and management of IP addresses provided by IT Administrators or external Providers. This includes tracking allocated addresses, ensuring proper subnetting, and maintaining an organized IP address inventory to prevent conflicts and streamline network operations.</a:t>
            </a:r>
            <a:endParaRPr/>
          </a:p>
          <a:p>
            <a:pPr marL="457200" lvl="0" indent="-317500" algn="l" rtl="0">
              <a:lnSpc>
                <a:spcPct val="90000"/>
              </a:lnSpc>
              <a:spcBef>
                <a:spcPts val="0"/>
              </a:spcBef>
              <a:spcAft>
                <a:spcPts val="0"/>
              </a:spcAft>
              <a:buClr>
                <a:schemeClr val="dk1"/>
              </a:buClr>
              <a:buSzPts val="1400"/>
              <a:buFont typeface="Arial"/>
              <a:buChar char="•"/>
            </a:pPr>
            <a:r>
              <a:rPr lang="en-US" sz="1200"/>
              <a:t>Develop and oversee a range of IP addresses that are specifically designated for use within the organization. This involves planning IP address allocations, managing the lifecycle of these addresses, and ensuring compliance with organizational policies and standards for internal network management.</a:t>
            </a:r>
            <a:endParaRPr/>
          </a:p>
          <a:p>
            <a:pPr marL="0" lvl="0" indent="0" algn="l" rtl="0">
              <a:spcBef>
                <a:spcPts val="0"/>
              </a:spcBef>
              <a:spcAft>
                <a:spcPts val="0"/>
              </a:spcAft>
              <a:buClr>
                <a:schemeClr val="dk1"/>
              </a:buClr>
              <a:buSzPts val="1200"/>
              <a:buFont typeface="Arial"/>
              <a:buNone/>
            </a:pPr>
            <a:br>
              <a:rPr lang="en-US" sz="1200"/>
            </a:br>
            <a:r>
              <a:rPr lang="en-US" sz="1200" b="1"/>
              <a:t>Resources:</a:t>
            </a:r>
            <a:br>
              <a:rPr lang="en-US" sz="1200"/>
            </a:br>
            <a:endParaRPr/>
          </a:p>
        </p:txBody>
      </p:sp>
      <p:sp>
        <p:nvSpPr>
          <p:cNvPr id="15607" name="Google Shape;15607;p11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1">
          <a:extLst>
            <a:ext uri="{FF2B5EF4-FFF2-40B4-BE49-F238E27FC236}">
              <a16:creationId xmlns:a16="http://schemas.microsoft.com/office/drawing/2014/main" id="{5DC8BBCF-2CC8-DE2A-C961-03BF34FE2C57}"/>
            </a:ext>
          </a:extLst>
        </p:cNvPr>
        <p:cNvGrpSpPr/>
        <p:nvPr/>
      </p:nvGrpSpPr>
      <p:grpSpPr>
        <a:xfrm>
          <a:off x="0" y="0"/>
          <a:ext cx="0" cy="0"/>
          <a:chOff x="0" y="0"/>
          <a:chExt cx="0" cy="0"/>
        </a:xfrm>
      </p:grpSpPr>
      <p:sp>
        <p:nvSpPr>
          <p:cNvPr id="1942" name="Google Shape;1942;g3cfa9483a83_0_2276:notes">
            <a:extLst>
              <a:ext uri="{FF2B5EF4-FFF2-40B4-BE49-F238E27FC236}">
                <a16:creationId xmlns:a16="http://schemas.microsoft.com/office/drawing/2014/main" id="{EE5354B4-771B-0F72-B495-0B7529C0A33F}"/>
              </a:ext>
            </a:extLst>
          </p:cNvPr>
          <p:cNvSpPr>
            <a:spLocks noGrp="1" noRot="1" noChangeAspect="1"/>
          </p:cNvSpPr>
          <p:nvPr>
            <p:ph type="sldImg" idx="2"/>
          </p:nvPr>
        </p:nvSpPr>
        <p:spPr>
          <a:xfrm>
            <a:off x="-1727200" y="1524000"/>
            <a:ext cx="7312025" cy="4114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43" name="Google Shape;1943;g3cfa9483a83_0_2276:notes">
            <a:extLst>
              <a:ext uri="{FF2B5EF4-FFF2-40B4-BE49-F238E27FC236}">
                <a16:creationId xmlns:a16="http://schemas.microsoft.com/office/drawing/2014/main" id="{085F9923-80EE-F7F3-8A20-ABB1D3ECC50E}"/>
              </a:ext>
            </a:extLst>
          </p:cNvPr>
          <p:cNvSpPr txBox="1">
            <a:spLocks noGrp="1"/>
          </p:cNvSpPr>
          <p:nvPr>
            <p:ph type="body" idx="1"/>
          </p:nvPr>
        </p:nvSpPr>
        <p:spPr>
          <a:xfrm>
            <a:off x="385763" y="5867400"/>
            <a:ext cx="3086100" cy="4800900"/>
          </a:xfrm>
          <a:prstGeom prst="rect">
            <a:avLst/>
          </a:prstGeom>
          <a:noFill/>
          <a:ln>
            <a:noFill/>
          </a:ln>
        </p:spPr>
        <p:txBody>
          <a:bodyPr spcFirstLastPara="1" wrap="square" lIns="91425" tIns="45700" rIns="91425" bIns="45700" anchor="t" anchorCtr="0">
            <a:noAutofit/>
          </a:bodyPr>
          <a:lstStyle/>
          <a:p>
            <a:pPr rtl="0"/>
            <a:r>
              <a:rPr lang="en-US" sz="1200" b="0" i="0" u="none" strike="noStrike" kern="1200" dirty="0">
                <a:solidFill>
                  <a:schemeClr val="tx1"/>
                </a:solidFill>
                <a:effectLst/>
                <a:latin typeface="+mn-lt"/>
                <a:ea typeface="+mn-ea"/>
                <a:cs typeface="+mn-cs"/>
              </a:rPr>
              <a:t>VMware Data Services Manager is a Database-as-a-Service solution for VMware Cloud Foundation. It simplifies and automates database lifecycle management for the three most popular database engines deployed in VCF environments: PostgreSQL, MySQL, and Microsoft SQL Server.</a:t>
            </a:r>
            <a:endParaRPr lang="en-US" b="0" dirty="0">
              <a:effectLst/>
            </a:endParaRPr>
          </a:p>
          <a:p>
            <a:endParaRPr lang="en-US" b="0" dirty="0">
              <a:effectLst/>
            </a:endParaRPr>
          </a:p>
          <a:p>
            <a:pPr rtl="0"/>
            <a:r>
              <a:rPr lang="en-US" sz="1200" b="0" i="0" u="none" strike="noStrike" kern="1200" dirty="0">
                <a:solidFill>
                  <a:schemeClr val="tx1"/>
                </a:solidFill>
                <a:effectLst/>
                <a:latin typeface="+mn-lt"/>
                <a:ea typeface="+mn-ea"/>
                <a:cs typeface="+mn-cs"/>
              </a:rPr>
              <a:t>DSM is delivered as a VCF Advanced Service and gives customers centralized provisioning, backup, cloning, patching, scaling, and clustering for their database environments. It’s DBaaS for the private cloud and eliminates slow, ticket-based workflows that drive shadow IT.</a:t>
            </a:r>
          </a:p>
          <a:p>
            <a:pPr rtl="0"/>
            <a:endParaRPr lang="en-US" sz="1200" b="0" i="0" u="none" strike="noStrike" kern="1200" dirty="0">
              <a:solidFill>
                <a:schemeClr val="tx1"/>
              </a:solidFill>
              <a:effectLst/>
              <a:latin typeface="+mn-lt"/>
              <a:ea typeface="+mn-ea"/>
              <a:cs typeface="+mn-cs"/>
            </a:endParaRPr>
          </a:p>
          <a:p>
            <a:pPr rtl="0"/>
            <a:r>
              <a:rPr lang="en-US" sz="1200" b="0" i="0" u="none" strike="noStrike" kern="1200" dirty="0">
                <a:solidFill>
                  <a:schemeClr val="tx1"/>
                </a:solidFill>
                <a:effectLst/>
                <a:latin typeface="+mn-lt"/>
                <a:ea typeface="+mn-ea"/>
                <a:cs typeface="+mn-cs"/>
              </a:rPr>
              <a:t>DSM provides administrators with policy-based controls for centralized governance while application teams gain agility and self-service through the DSM web UI, a robust Kubernetes API, or with VCF Automation.</a:t>
            </a:r>
            <a:endParaRPr lang="en-US" b="0" dirty="0">
              <a:effectLst/>
            </a:endParaRPr>
          </a:p>
          <a:p>
            <a:endParaRPr dirty="0"/>
          </a:p>
        </p:txBody>
      </p:sp>
      <p:sp>
        <p:nvSpPr>
          <p:cNvPr id="1944" name="Google Shape;1944;g3cfa9483a83_0_2276:notes">
            <a:extLst>
              <a:ext uri="{FF2B5EF4-FFF2-40B4-BE49-F238E27FC236}">
                <a16:creationId xmlns:a16="http://schemas.microsoft.com/office/drawing/2014/main" id="{FB0D727C-3B4B-6641-1AB0-561FAAB29890}"/>
              </a:ext>
            </a:extLst>
          </p:cNvPr>
          <p:cNvSpPr txBox="1">
            <a:spLocks noGrp="1"/>
          </p:cNvSpPr>
          <p:nvPr>
            <p:ph type="sldNum" idx="12"/>
          </p:nvPr>
        </p:nvSpPr>
        <p:spPr>
          <a:xfrm>
            <a:off x="2185095" y="11580284"/>
            <a:ext cx="1671600" cy="611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 sz="1400" b="0" i="0" u="none" strike="noStrike" kern="120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106</a:t>
            </a:fld>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58778201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dirty="0"/>
              <a:t>DSM integrates into standard VMware Cloud Foundation architecture with clear separation between management and workload domains.</a:t>
            </a:r>
          </a:p>
          <a:p>
            <a:endParaRPr dirty="0"/>
          </a:p>
          <a:p>
            <a:r>
              <a:rPr dirty="0"/>
              <a:t>The Management Domain hosts core VCF components: vCenter Servers, NSX Managers, and VCF Automation. The DSM appliance deploys here as an OVA.</a:t>
            </a:r>
            <a:r>
              <a:rPr lang="en-US" dirty="0"/>
              <a:t> [CLICK]</a:t>
            </a:r>
            <a:endParaRPr dirty="0"/>
          </a:p>
          <a:p>
            <a:endParaRPr dirty="0"/>
          </a:p>
          <a:p>
            <a:r>
              <a:rPr dirty="0"/>
              <a:t>Once deployed, DSM connects to the vCenter Server managing your Workload Domain. This is where applications and DSM-provisioned databases run. </a:t>
            </a:r>
            <a:r>
              <a:rPr lang="en-US" dirty="0"/>
              <a:t>[CLICK]</a:t>
            </a:r>
          </a:p>
          <a:p>
            <a:endParaRPr lang="en-US" dirty="0"/>
          </a:p>
          <a:p>
            <a:r>
              <a:rPr dirty="0"/>
              <a:t>The vSphere administrator designates specific compute resources within the Workload Domain for DSM use.</a:t>
            </a:r>
            <a:r>
              <a:rPr lang="en-US" dirty="0"/>
              <a:t> [CLICK]</a:t>
            </a:r>
            <a:endParaRPr dirty="0"/>
          </a:p>
          <a:p>
            <a:endParaRPr dirty="0"/>
          </a:p>
          <a:p>
            <a:r>
              <a:rPr dirty="0"/>
              <a:t>Resources can be allocated through a DSM Managed policy—targeting a Cluster or Resource Pool—or through a vSphere Namespace with Supervisor enabled. </a:t>
            </a:r>
            <a:r>
              <a:rPr lang="en-US" dirty="0"/>
              <a:t>[CLICK]</a:t>
            </a:r>
          </a:p>
          <a:p>
            <a:endParaRPr lang="en-US" dirty="0"/>
          </a:p>
          <a:p>
            <a:r>
              <a:rPr dirty="0"/>
              <a:t>This architecture maintains clean separation between management and consumption, delivering a scalable model.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78266872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Arial"/>
                <a:ea typeface="Arial"/>
                <a:cs typeface="Arial"/>
                <a:sym typeface="Arial"/>
              </a:rPr>
              <a:t>Key Message:</a:t>
            </a:r>
            <a:endParaRPr lang="en-US" dirty="0"/>
          </a:p>
          <a:p>
            <a:pPr marL="0" lvl="0" indent="0" algn="l" rtl="0">
              <a:spcBef>
                <a:spcPts val="0"/>
              </a:spcBef>
              <a:spcAft>
                <a:spcPts val="0"/>
              </a:spcAft>
              <a:buClr>
                <a:schemeClr val="dk1"/>
              </a:buClr>
              <a:buSzPts val="1200"/>
              <a:buFont typeface="Arial"/>
              <a:buNone/>
            </a:pPr>
            <a:endParaRPr lang="en-US" sz="1200" u="none" strike="noStrike" dirty="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Arial"/>
                <a:ea typeface="Arial"/>
                <a:cs typeface="Arial"/>
                <a:sym typeface="Arial"/>
              </a:rPr>
              <a:t>Talk Track:  </a:t>
            </a:r>
          </a:p>
          <a:p>
            <a:pPr marL="0" lvl="0" indent="0" algn="l" rtl="0">
              <a:spcBef>
                <a:spcPts val="0"/>
              </a:spcBef>
              <a:spcAft>
                <a:spcPts val="0"/>
              </a:spcAft>
              <a:buClr>
                <a:schemeClr val="dk1"/>
              </a:buClr>
              <a:buSzPts val="1200"/>
              <a:buFont typeface="Arial"/>
              <a:buNone/>
            </a:pPr>
            <a:r>
              <a:rPr lang="en-US" sz="1200" u="none" strike="noStrike" dirty="0">
                <a:solidFill>
                  <a:schemeClr val="dk1"/>
                </a:solidFill>
                <a:latin typeface="Arial"/>
                <a:ea typeface="Arial"/>
                <a:cs typeface="Arial"/>
                <a:sym typeface="Arial"/>
              </a:rPr>
              <a:t>Now let’s look at building, running, and managing Kubernetes in VCF 9.1</a:t>
            </a:r>
            <a:endParaRPr lang="en-US" dirty="0"/>
          </a:p>
          <a:p>
            <a:pPr marL="0" lvl="0" indent="0" algn="l" rtl="0">
              <a:spcBef>
                <a:spcPts val="0"/>
              </a:spcBef>
              <a:spcAft>
                <a:spcPts val="0"/>
              </a:spcAft>
              <a:buClr>
                <a:schemeClr val="dk1"/>
              </a:buClr>
              <a:buSzPts val="1200"/>
              <a:buFont typeface="Arial"/>
              <a:buNone/>
            </a:pPr>
            <a:endParaRPr lang="en-US" sz="1200" u="none" strike="noStrike" dirty="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Arial"/>
                <a:ea typeface="Arial"/>
                <a:cs typeface="Arial"/>
                <a:sym typeface="Arial"/>
              </a:rPr>
              <a:t>Notes:</a:t>
            </a:r>
            <a:endParaRPr lang="en-US" dirty="0"/>
          </a:p>
          <a:p>
            <a:pPr marL="0" lvl="0" indent="0" algn="l" rtl="0">
              <a:spcBef>
                <a:spcPts val="0"/>
              </a:spcBef>
              <a:spcAft>
                <a:spcPts val="0"/>
              </a:spcAft>
              <a:buClr>
                <a:schemeClr val="dk1"/>
              </a:buClr>
              <a:buSzPts val="1200"/>
              <a:buFont typeface="Arial"/>
              <a:buNone/>
            </a:pPr>
            <a:endParaRPr lang="en-US" sz="1200" u="none" strike="noStrike" dirty="0">
              <a:solidFill>
                <a:schemeClr val="dk1"/>
              </a:solidFill>
              <a:latin typeface="Arial"/>
              <a:ea typeface="Arial"/>
              <a:cs typeface="Arial"/>
              <a:sym typeface="Arial"/>
            </a:endParaRPr>
          </a:p>
          <a:p>
            <a:pPr marL="0" lvl="0" indent="0" algn="l" rtl="0">
              <a:spcBef>
                <a:spcPts val="0"/>
              </a:spcBef>
              <a:spcAft>
                <a:spcPts val="0"/>
              </a:spcAft>
              <a:buClr>
                <a:schemeClr val="dk1"/>
              </a:buClr>
              <a:buSzPts val="1200"/>
              <a:buFont typeface="Arial"/>
              <a:buNone/>
            </a:pPr>
            <a:r>
              <a:rPr lang="en-US" sz="1200" b="1" u="none" strike="noStrike" dirty="0">
                <a:solidFill>
                  <a:schemeClr val="dk1"/>
                </a:solidFill>
                <a:latin typeface="Arial"/>
                <a:ea typeface="Arial"/>
                <a:cs typeface="Arial"/>
                <a:sym typeface="Arial"/>
              </a:rPr>
              <a:t>Resources:</a:t>
            </a:r>
            <a:endParaRPr lang="en-US" dirty="0"/>
          </a:p>
          <a:p>
            <a:pPr marL="0" lvl="0" indent="0" algn="l" rtl="0">
              <a:spcBef>
                <a:spcPts val="0"/>
              </a:spcBef>
              <a:spcAft>
                <a:spcPts val="0"/>
              </a:spcAft>
              <a:buNone/>
            </a:pPr>
            <a:endParaRPr lang="en-US" dirty="0"/>
          </a:p>
          <a:p>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smtClean="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367687663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16"/>
        <p:cNvGrpSpPr/>
        <p:nvPr/>
      </p:nvGrpSpPr>
      <p:grpSpPr>
        <a:xfrm>
          <a:off x="0" y="0"/>
          <a:ext cx="0" cy="0"/>
          <a:chOff x="0" y="0"/>
          <a:chExt cx="0" cy="0"/>
        </a:xfrm>
      </p:grpSpPr>
      <p:sp>
        <p:nvSpPr>
          <p:cNvPr id="4117" name="Google Shape;4117;g3c72024fdac_0_1662: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118" name="Google Shape;4118;g3c72024fdac_0_1662: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r>
              <a:rPr lang="en-GB" b="1" dirty="0"/>
              <a:t>Key Message:</a:t>
            </a:r>
            <a:r>
              <a:rPr lang="en-GB" dirty="0"/>
              <a:t> </a:t>
            </a:r>
          </a:p>
          <a:p>
            <a:r>
              <a:rPr lang="en-GB" dirty="0"/>
              <a:t>vSphere Kubernetes Service (VKS) provides a fully conformant, enterprise-ready Kubernetes experience that combines the speed of upstream innovation with the security and stability of vSphere.</a:t>
            </a:r>
          </a:p>
          <a:p>
            <a:endParaRPr lang="en-GB" b="1" dirty="0"/>
          </a:p>
          <a:p>
            <a:r>
              <a:rPr lang="en-GB" b="1" dirty="0"/>
              <a:t>Talk Track:</a:t>
            </a:r>
            <a:r>
              <a:rPr lang="en-GB" dirty="0"/>
              <a:t> </a:t>
            </a:r>
          </a:p>
          <a:p>
            <a:r>
              <a:rPr lang="en-GB" dirty="0"/>
              <a:t>When we talk about deploying Kubernetes with VKS, we are talking about delivering a fully conformant, "upstream-aligned" experience without compromising on enterprise requirements. VKS is designed to give you the best of both worlds: faster access to innovation, with new versions delivered on average within 57 days of upstream release, and the long-term stability of 24 months of support per version. By running these workloads in VMs, we provide hardware-level isolation that is inherently more secure than bare-metal, while still offering seamless integration with specialized hardware like GPUs. This allows you to deploy scalable, fault-isolated clusters that are ready for production from day one.</a:t>
            </a:r>
          </a:p>
          <a:p>
            <a:endParaRPr lang="en-GB" b="1" dirty="0"/>
          </a:p>
          <a:p>
            <a:r>
              <a:rPr lang="en-GB" b="1" dirty="0"/>
              <a:t>Notes:</a:t>
            </a:r>
            <a:endParaRPr lang="en-GB" dirty="0"/>
          </a:p>
          <a:p>
            <a:pPr marL="171450" indent="-171450">
              <a:buFont typeface="Arial" panose="020B0604020202020204" pitchFamily="34" charset="0"/>
              <a:buChar char="•"/>
            </a:pPr>
            <a:r>
              <a:rPr lang="en-GB" b="1" dirty="0"/>
              <a:t>Conformity:</a:t>
            </a:r>
            <a:r>
              <a:rPr lang="en-GB" dirty="0"/>
              <a:t> Emphasize the "Certified Kubernetes" logo to reassure the audience that this is standard Kubernetes, not a proprietary fork.</a:t>
            </a:r>
          </a:p>
          <a:p>
            <a:pPr marL="171450" indent="-171450">
              <a:buFont typeface="Arial" panose="020B0604020202020204" pitchFamily="34" charset="0"/>
              <a:buChar char="•"/>
            </a:pPr>
            <a:r>
              <a:rPr lang="en-GB" b="1" dirty="0"/>
              <a:t>The "57-day" Stat:</a:t>
            </a:r>
            <a:r>
              <a:rPr lang="en-GB" dirty="0"/>
              <a:t> Use this to highlight the agility of the VKS release cycle compared to traditional enterprise software.</a:t>
            </a:r>
          </a:p>
          <a:p>
            <a:pPr marL="171450" indent="-171450">
              <a:buFont typeface="Arial" panose="020B0604020202020204" pitchFamily="34" charset="0"/>
              <a:buChar char="•"/>
            </a:pPr>
            <a:r>
              <a:rPr lang="en-GB" b="1" dirty="0"/>
              <a:t>Security:</a:t>
            </a:r>
            <a:r>
              <a:rPr lang="en-GB" dirty="0"/>
              <a:t> Contrast the VM-based isolation of VKS against bare-metal risks to appeal to security-conscious stakeholders.</a:t>
            </a:r>
          </a:p>
          <a:p>
            <a:pPr marL="171450" indent="-171450">
              <a:buFont typeface="Arial" panose="020B0604020202020204" pitchFamily="34" charset="0"/>
              <a:buChar char="•"/>
            </a:pPr>
            <a:r>
              <a:rPr lang="en-GB" b="1" dirty="0"/>
              <a:t>Lifecycle:</a:t>
            </a:r>
            <a:r>
              <a:rPr lang="en-GB" dirty="0"/>
              <a:t> Mention the 24-month support window as a key differentiator for maintaining stable production environments.</a:t>
            </a:r>
          </a:p>
          <a:p>
            <a:pPr marL="171450" indent="-171450">
              <a:buFont typeface="Arial" panose="020B0604020202020204" pitchFamily="34" charset="0"/>
              <a:buChar char="•"/>
            </a:pPr>
            <a:endParaRPr lang="en-GB" b="1" dirty="0"/>
          </a:p>
          <a:p>
            <a:r>
              <a:rPr lang="en-GB" b="1" dirty="0"/>
              <a:t>Resources:</a:t>
            </a:r>
            <a:endParaRPr lang="en-GB" dirty="0"/>
          </a:p>
          <a:p>
            <a:pPr marL="0" lvl="0" indent="0" algn="l" rtl="0">
              <a:lnSpc>
                <a:spcPct val="100000"/>
              </a:lnSpc>
              <a:spcBef>
                <a:spcPts val="0"/>
              </a:spcBef>
              <a:spcAft>
                <a:spcPts val="0"/>
              </a:spcAft>
              <a:buSzPts val="1400"/>
              <a:buNone/>
            </a:pPr>
            <a:endParaRPr sz="1200" dirty="0">
              <a:solidFill>
                <a:srgbClr val="FF0000"/>
              </a:solidFill>
              <a:latin typeface="Arial"/>
              <a:ea typeface="Arial"/>
              <a:cs typeface="Arial"/>
              <a:sym typeface="Arial"/>
            </a:endParaRPr>
          </a:p>
        </p:txBody>
      </p:sp>
      <p:sp>
        <p:nvSpPr>
          <p:cNvPr id="4119" name="Google Shape;4119;g3c72024fdac_0_1662: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l" defTabSz="914400" rtl="0" eaLnBrk="1" fontAlgn="auto" latinLnBrk="0" hangingPunct="1">
              <a:lnSpc>
                <a:spcPct val="100000"/>
              </a:lnSpc>
              <a:spcBef>
                <a:spcPts val="0"/>
              </a:spcBef>
              <a:spcAft>
                <a:spcPts val="0"/>
              </a:spcAft>
              <a:buClr>
                <a:srgbClr val="717074"/>
              </a:buClr>
              <a:buSzPts val="1400"/>
              <a:buFont typeface="Arial"/>
              <a:buNone/>
              <a:tabLst/>
              <a:defRPr/>
            </a:pPr>
            <a:fld id="{00000000-1234-1234-1234-123412341234}" type="slidenum">
              <a:rPr kumimoji="0" lang="en" sz="1200" b="0" i="0" u="none" strike="noStrike" kern="1200" cap="none" spc="0" normalizeH="0" baseline="0" noProof="0">
                <a:ln>
                  <a:noFill/>
                </a:ln>
                <a:solidFill>
                  <a:srgbClr val="717074"/>
                </a:solidFill>
                <a:effectLst/>
                <a:uLnTx/>
                <a:uFillTx/>
                <a:latin typeface="Arial"/>
                <a:ea typeface="Arial"/>
                <a:cs typeface="Arial"/>
                <a:sym typeface="Arial"/>
              </a:rPr>
              <a:pPr marL="0" marR="0" lvl="0" indent="0" algn="l" defTabSz="914400" rtl="0" eaLnBrk="1" fontAlgn="auto" latinLnBrk="0" hangingPunct="1">
                <a:lnSpc>
                  <a:spcPct val="100000"/>
                </a:lnSpc>
                <a:spcBef>
                  <a:spcPts val="0"/>
                </a:spcBef>
                <a:spcAft>
                  <a:spcPts val="0"/>
                </a:spcAft>
                <a:buClr>
                  <a:srgbClr val="717074"/>
                </a:buClr>
                <a:buSzPts val="1400"/>
                <a:buFont typeface="Arial"/>
                <a:buNone/>
                <a:tabLst/>
                <a:defRPr/>
              </a:pPr>
              <a:t>109</a:t>
            </a:fld>
            <a:endParaRPr kumimoji="0" sz="1200" b="0" i="0" u="none" strike="noStrike" kern="120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0">
          <a:extLst>
            <a:ext uri="{FF2B5EF4-FFF2-40B4-BE49-F238E27FC236}">
              <a16:creationId xmlns:a16="http://schemas.microsoft.com/office/drawing/2014/main" id="{BD1ECFF5-8205-1865-B8CD-EBF9F3F796B6}"/>
            </a:ext>
          </a:extLst>
        </p:cNvPr>
        <p:cNvGrpSpPr/>
        <p:nvPr/>
      </p:nvGrpSpPr>
      <p:grpSpPr>
        <a:xfrm>
          <a:off x="0" y="0"/>
          <a:ext cx="0" cy="0"/>
          <a:chOff x="0" y="0"/>
          <a:chExt cx="0" cy="0"/>
        </a:xfrm>
      </p:grpSpPr>
      <p:sp>
        <p:nvSpPr>
          <p:cNvPr id="1151" name="Google Shape;1151;p4:notes">
            <a:extLst>
              <a:ext uri="{FF2B5EF4-FFF2-40B4-BE49-F238E27FC236}">
                <a16:creationId xmlns:a16="http://schemas.microsoft.com/office/drawing/2014/main" id="{4A5EB7B6-7807-23B3-AB26-572984CB7212}"/>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152" name="Google Shape;1152;p4:notes">
            <a:extLst>
              <a:ext uri="{FF2B5EF4-FFF2-40B4-BE49-F238E27FC236}">
                <a16:creationId xmlns:a16="http://schemas.microsoft.com/office/drawing/2014/main" id="{97C782A1-9C4C-05C6-BDFD-983E472E2C16}"/>
              </a:ext>
            </a:extLst>
          </p:cNvPr>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r>
              <a:rPr lang="en-GB" b="1" dirty="0"/>
              <a:t>Key Message:</a:t>
            </a:r>
            <a:r>
              <a:rPr lang="en-GB" dirty="0"/>
              <a:t> </a:t>
            </a:r>
          </a:p>
          <a:p>
            <a:r>
              <a:rPr lang="en-GB" dirty="0"/>
              <a:t>VCF 9.1 delivers significant platform-level enhancements to VKS 3.6, enabling customers to scale more efficiently, customize their networking, and accelerate cluster deployments.</a:t>
            </a:r>
          </a:p>
          <a:p>
            <a:endParaRPr lang="en-GB" b="1" dirty="0"/>
          </a:p>
          <a:p>
            <a:r>
              <a:rPr lang="en-GB" b="1" dirty="0"/>
              <a:t>Talk Track:</a:t>
            </a:r>
            <a:r>
              <a:rPr lang="en-GB" dirty="0"/>
              <a:t> </a:t>
            </a:r>
          </a:p>
          <a:p>
            <a:r>
              <a:rPr lang="en-GB" dirty="0"/>
              <a:t>With the release of VCF 9.1, we are seeing the direct benefits of deep platform integration for VKS 3.6. We’ve focused heavily on performance and flexibility to meet enterprise demands. First, we’ve introduced "Fast Deploy," which drastically reduces the time it takes to provision and upgrade clusters. On the scale front, we now support up to 500 VKS clusters within a single control plane, providing the headroom needed for massive multi-tenant environments. We are also providing much more architectural freedom with multi-network support and a "Bring Your Own CNI" model, ensuring that your Kubernetes clusters fit into your existing networking standards rather than forcing you to change them.</a:t>
            </a:r>
          </a:p>
          <a:p>
            <a:endParaRPr lang="en-GB" b="1" dirty="0"/>
          </a:p>
          <a:p>
            <a:r>
              <a:rPr lang="en-GB" b="1" dirty="0"/>
              <a:t>Notes:</a:t>
            </a:r>
            <a:endParaRPr lang="en-GB" dirty="0"/>
          </a:p>
          <a:p>
            <a:pPr marL="171450" indent="-171450">
              <a:buFont typeface="Arial" panose="020B0604020202020204" pitchFamily="34" charset="0"/>
              <a:buChar char="•"/>
            </a:pPr>
            <a:r>
              <a:rPr lang="en-GB" b="1" dirty="0"/>
              <a:t>Synergy:</a:t>
            </a:r>
            <a:r>
              <a:rPr lang="en-GB" dirty="0"/>
              <a:t> Explain that while VKS releases are asynchronous, being on the latest VCF 9.1 "unlocks" these specific underlying platform performance gains.</a:t>
            </a:r>
          </a:p>
          <a:p>
            <a:pPr marL="171450" indent="-171450">
              <a:buFont typeface="Arial" panose="020B0604020202020204" pitchFamily="34" charset="0"/>
              <a:buChar char="•"/>
            </a:pPr>
            <a:r>
              <a:rPr lang="en-GB" b="1" dirty="0"/>
              <a:t>Scale:</a:t>
            </a:r>
            <a:r>
              <a:rPr lang="en-GB" dirty="0"/>
              <a:t> The jump to 500 clusters is a major proof point for large enterprise customers.</a:t>
            </a:r>
          </a:p>
          <a:p>
            <a:pPr marL="171450" indent="-171450">
              <a:buFont typeface="Arial" panose="020B0604020202020204" pitchFamily="34" charset="0"/>
              <a:buChar char="•"/>
            </a:pPr>
            <a:r>
              <a:rPr lang="en-GB" b="1" dirty="0"/>
              <a:t>Flexibility:</a:t>
            </a:r>
            <a:r>
              <a:rPr lang="en-GB" dirty="0"/>
              <a:t> Emphasize "Bring Your Own CNI" for customers with specific security or networking requirements (e.g., Antrea, Calico, etc.).</a:t>
            </a:r>
          </a:p>
          <a:p>
            <a:pPr marL="171450" indent="-171450">
              <a:buFont typeface="Arial" panose="020B0604020202020204" pitchFamily="34" charset="0"/>
              <a:buChar char="•"/>
            </a:pPr>
            <a:r>
              <a:rPr lang="en-GB" b="1" dirty="0"/>
              <a:t>Efficiency:</a:t>
            </a:r>
            <a:r>
              <a:rPr lang="en-GB" dirty="0"/>
              <a:t> "Fast Deploy" targets "Day 0" and "Day 2" operational pain points by cutting down wait times.</a:t>
            </a:r>
          </a:p>
          <a:p>
            <a:endParaRPr lang="en-GB" b="1" dirty="0"/>
          </a:p>
          <a:p>
            <a:r>
              <a:rPr lang="en-GB" b="1" dirty="0"/>
              <a:t>Resources:</a:t>
            </a:r>
            <a:endParaRPr lang="en-GB" dirty="0"/>
          </a:p>
          <a:p>
            <a:pPr marL="0" lvl="0" indent="0" algn="l" rtl="0">
              <a:lnSpc>
                <a:spcPct val="100000"/>
              </a:lnSpc>
              <a:spcBef>
                <a:spcPts val="0"/>
              </a:spcBef>
              <a:spcAft>
                <a:spcPts val="0"/>
              </a:spcAft>
              <a:buNone/>
            </a:pPr>
            <a:endParaRPr dirty="0"/>
          </a:p>
        </p:txBody>
      </p:sp>
      <p:sp>
        <p:nvSpPr>
          <p:cNvPr id="1153" name="Google Shape;1153;p4:notes">
            <a:extLst>
              <a:ext uri="{FF2B5EF4-FFF2-40B4-BE49-F238E27FC236}">
                <a16:creationId xmlns:a16="http://schemas.microsoft.com/office/drawing/2014/main" id="{54EF2913-FBB0-19D8-3552-2E019997C211}"/>
              </a:ext>
            </a:extLst>
          </p:cNvPr>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120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110</a:t>
            </a:fld>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89353554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6"/>
        <p:cNvGrpSpPr/>
        <p:nvPr/>
      </p:nvGrpSpPr>
      <p:grpSpPr>
        <a:xfrm>
          <a:off x="0" y="0"/>
          <a:ext cx="0" cy="0"/>
          <a:chOff x="0" y="0"/>
          <a:chExt cx="0" cy="0"/>
        </a:xfrm>
      </p:grpSpPr>
      <p:sp>
        <p:nvSpPr>
          <p:cNvPr id="8057" name="Google Shape;8057;p59:notes"/>
          <p:cNvSpPr>
            <a:spLocks noGrp="1" noRot="1" noChangeAspect="1"/>
          </p:cNvSpPr>
          <p:nvPr>
            <p:ph type="sldImg" idx="2"/>
          </p:nvPr>
        </p:nvSpPr>
        <p:spPr>
          <a:xfrm>
            <a:off x="787400" y="609600"/>
            <a:ext cx="5283200"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8058" name="Google Shape;8058;p59: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r>
              <a:rPr lang="en-US" sz="1400" b="1"/>
              <a:t>Key Message:</a:t>
            </a:r>
            <a:br>
              <a:rPr lang="en-US" sz="1400"/>
            </a:br>
            <a:r>
              <a:rPr lang="en-US" sz="1400"/>
              <a:t>VKS gives customers the flexibility to deploy clusters that fit their exact needs — from small, agile environments to large, scalable production systems — all managed consistently through the same platform.</a:t>
            </a:r>
            <a:endParaRPr/>
          </a:p>
          <a:p>
            <a:pPr marL="0" lvl="0" indent="0" algn="l" rtl="0">
              <a:spcBef>
                <a:spcPts val="0"/>
              </a:spcBef>
              <a:spcAft>
                <a:spcPts val="0"/>
              </a:spcAft>
              <a:buNone/>
            </a:pPr>
            <a:endParaRPr sz="1400" b="1"/>
          </a:p>
          <a:p>
            <a:pPr marL="0" lvl="0" indent="0" algn="l" rtl="0">
              <a:spcBef>
                <a:spcPts val="0"/>
              </a:spcBef>
              <a:spcAft>
                <a:spcPts val="0"/>
              </a:spcAft>
              <a:buNone/>
            </a:pPr>
            <a:r>
              <a:rPr lang="en-US" sz="1400" b="1"/>
              <a:t>Talk Track:</a:t>
            </a:r>
            <a:br>
              <a:rPr lang="en-US" sz="1400"/>
            </a:br>
            <a:r>
              <a:rPr lang="en-US" sz="1400"/>
              <a:t>With VKS, customers can right-size their Kubernetes environments.</a:t>
            </a:r>
            <a:br>
              <a:rPr lang="en-US" sz="1400"/>
            </a:br>
            <a:r>
              <a:rPr lang="en-US" sz="1400"/>
              <a:t>For smaller workloads or test environments, </a:t>
            </a:r>
            <a:r>
              <a:rPr lang="en-US" sz="1400" b="1"/>
              <a:t>small clusters</a:t>
            </a:r>
            <a:r>
              <a:rPr lang="en-US" sz="1400"/>
              <a:t> can be deployed quickly, used for experimentation or development, and easily decommissioned when no longer needed.</a:t>
            </a:r>
            <a:endParaRPr/>
          </a:p>
          <a:p>
            <a:pPr marL="0" lvl="0" indent="0" algn="l" rtl="0">
              <a:spcBef>
                <a:spcPts val="0"/>
              </a:spcBef>
              <a:spcAft>
                <a:spcPts val="0"/>
              </a:spcAft>
              <a:buNone/>
            </a:pPr>
            <a:r>
              <a:rPr lang="en-US" sz="1400"/>
              <a:t>For larger, business-critical workloads, </a:t>
            </a:r>
            <a:r>
              <a:rPr lang="en-US" sz="1400" b="1"/>
              <a:t>large clusters</a:t>
            </a:r>
            <a:r>
              <a:rPr lang="en-US" sz="1400"/>
              <a:t> provide centralized control, high availability, and scalability — ideal for teams that need shared infrastructure and operational consistency.</a:t>
            </a:r>
            <a:endParaRPr/>
          </a:p>
          <a:p>
            <a:pPr marL="0" lvl="0" indent="0" algn="l" rtl="0">
              <a:spcBef>
                <a:spcPts val="0"/>
              </a:spcBef>
              <a:spcAft>
                <a:spcPts val="0"/>
              </a:spcAft>
              <a:buNone/>
            </a:pPr>
            <a:r>
              <a:rPr lang="en-US" sz="1400"/>
              <a:t>Because deployment is automated, both models can be created on demand and scaled up or down as business needs evolve.</a:t>
            </a:r>
            <a:br>
              <a:rPr lang="en-US" sz="1400"/>
            </a:br>
            <a:r>
              <a:rPr lang="en-US" sz="1400"/>
              <a:t>It’s all about giving customers the </a:t>
            </a:r>
            <a:r>
              <a:rPr lang="en-US" sz="1400" b="1"/>
              <a:t>freedom to choose</a:t>
            </a:r>
            <a:r>
              <a:rPr lang="en-US" sz="1400"/>
              <a:t> — agility for small projects and stability for enterprise-grade operations.</a:t>
            </a:r>
            <a:endParaRPr/>
          </a:p>
        </p:txBody>
      </p:sp>
      <p:sp>
        <p:nvSpPr>
          <p:cNvPr id="8059" name="Google Shape;8059;p59: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120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111</a:t>
            </a:fld>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r>
              <a:rPr lang="en-GB" b="1" dirty="0"/>
              <a:t>Key Message:</a:t>
            </a:r>
            <a:r>
              <a:rPr lang="en-GB" dirty="0"/>
              <a:t> </a:t>
            </a:r>
          </a:p>
          <a:p>
            <a:r>
              <a:rPr lang="en-GB" dirty="0"/>
              <a:t>vSphere Kubernetes Service (VKS) simplifies day-two operations by providing a curated, production-ready stack of core and standard packages, while maintaining the flexibility to integrate any CNCF-compliant tool.</a:t>
            </a:r>
          </a:p>
          <a:p>
            <a:endParaRPr lang="en-GB" b="1" dirty="0"/>
          </a:p>
          <a:p>
            <a:r>
              <a:rPr lang="en-GB" b="1" dirty="0"/>
              <a:t>Talk Track:</a:t>
            </a:r>
            <a:r>
              <a:rPr lang="en-GB" dirty="0"/>
              <a:t> A Kubernetes cluster by itself is just the beginning; the real value comes from the services that make it production-ready. VKS delivers a comprehensive ecosystem divided into three layers. First, we have </a:t>
            </a:r>
            <a:r>
              <a:rPr lang="en-GB" b="1" dirty="0"/>
              <a:t>Core Packages</a:t>
            </a:r>
            <a:r>
              <a:rPr lang="en-GB" dirty="0"/>
              <a:t>—like Antrea, Calico, and vSphere-CSI—which are pre-installed and pre-enabled to ensure the cluster is functional from the moment it’s spun up. On top of that, we offer </a:t>
            </a:r>
            <a:r>
              <a:rPr lang="en-GB" b="1" dirty="0"/>
              <a:t>Standard Packages</a:t>
            </a:r>
            <a:r>
              <a:rPr lang="en-GB" dirty="0"/>
              <a:t> provided "out of the box," including industry </a:t>
            </a:r>
            <a:r>
              <a:rPr lang="en-GB" dirty="0" err="1"/>
              <a:t>favorites</a:t>
            </a:r>
            <a:r>
              <a:rPr lang="en-GB" dirty="0"/>
              <a:t> like Prometheus for monitoring, Harbor for registry, and Istio for service mesh. Finally, we remain an open platform. Because VKS is fully conformant, you are free to extend your environment with any CNCF-compliant open-source or third-party packages that your specific workloads require.</a:t>
            </a:r>
          </a:p>
          <a:p>
            <a:endParaRPr lang="en-GB" b="1" dirty="0"/>
          </a:p>
          <a:p>
            <a:r>
              <a:rPr lang="en-GB" b="1" dirty="0"/>
              <a:t>Notes:</a:t>
            </a:r>
            <a:endParaRPr lang="en-GB" dirty="0"/>
          </a:p>
          <a:p>
            <a:pPr marL="171450" indent="-171450">
              <a:buFont typeface="Arial" panose="020B0604020202020204" pitchFamily="34" charset="0"/>
              <a:buChar char="•"/>
            </a:pPr>
            <a:r>
              <a:rPr lang="en-GB" b="1" dirty="0"/>
              <a:t>Differentiation:</a:t>
            </a:r>
            <a:r>
              <a:rPr lang="en-GB" dirty="0"/>
              <a:t> Distinguish between "Core" (infrastructure essentials) and "Standard" (optional but easily enabled via the service).</a:t>
            </a:r>
          </a:p>
          <a:p>
            <a:pPr marL="171450" indent="-171450">
              <a:buFont typeface="Arial" panose="020B0604020202020204" pitchFamily="34" charset="0"/>
              <a:buChar char="•"/>
            </a:pPr>
            <a:r>
              <a:rPr lang="en-GB" b="1" dirty="0"/>
              <a:t>Ecosystem:</a:t>
            </a:r>
            <a:r>
              <a:rPr lang="en-GB" dirty="0"/>
              <a:t> Highlight that these aren't just random tools; they are a curated, tested, and supported stack designed to reduce "tool sprawl" and configuration headaches.</a:t>
            </a:r>
          </a:p>
          <a:p>
            <a:pPr marL="171450" indent="-171450">
              <a:buFont typeface="Arial" panose="020B0604020202020204" pitchFamily="34" charset="0"/>
              <a:buChar char="•"/>
            </a:pPr>
            <a:r>
              <a:rPr lang="en-GB" b="1" dirty="0"/>
              <a:t>Openness:</a:t>
            </a:r>
            <a:r>
              <a:rPr lang="en-GB" dirty="0"/>
              <a:t> Reiterate the "Open Extensible" box on the right to reassure developers they aren't locked into only what VMware provides.</a:t>
            </a:r>
          </a:p>
          <a:p>
            <a:pPr marL="171450" indent="-171450">
              <a:buFont typeface="Arial" panose="020B0604020202020204" pitchFamily="34" charset="0"/>
              <a:buChar char="•"/>
            </a:pPr>
            <a:r>
              <a:rPr lang="en-GB" b="1" dirty="0"/>
              <a:t>User Personas:</a:t>
            </a:r>
            <a:r>
              <a:rPr lang="en-GB" dirty="0"/>
              <a:t> Mention that this "Consumer" view simplifies the experience for developers who just want to get to work without building the platform from scratch.</a:t>
            </a:r>
          </a:p>
          <a:p>
            <a:endParaRPr lang="en-GB" b="1" dirty="0"/>
          </a:p>
          <a:p>
            <a:r>
              <a:rPr lang="en-GB" b="1" dirty="0"/>
              <a:t>Resources:</a:t>
            </a:r>
            <a:endParaRPr lang="en-GB"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49888868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Key Message:</a:t>
            </a:r>
            <a:r>
              <a:rPr lang="en-GB" dirty="0"/>
              <a:t> </a:t>
            </a:r>
          </a:p>
          <a:p>
            <a:r>
              <a:rPr lang="en-GB" dirty="0"/>
              <a:t>VKS Cluster Management simplifies the complexity of scaling Kubernetes environments by providing a centralized, point-and-click interface for the lifecycle management of standard packages and add-ons.</a:t>
            </a:r>
          </a:p>
          <a:p>
            <a:endParaRPr lang="en-GB" b="1" dirty="0"/>
          </a:p>
          <a:p>
            <a:r>
              <a:rPr lang="en-GB" b="1" dirty="0"/>
              <a:t>Talk Track:</a:t>
            </a:r>
            <a:r>
              <a:rPr lang="en-GB" dirty="0"/>
              <a:t> </a:t>
            </a:r>
          </a:p>
          <a:p>
            <a:r>
              <a:rPr lang="en-GB" dirty="0"/>
              <a:t>Managing a fleet of Kubernetes clusters becomes a lot easier when you move away from manual CLI configurations. Through VKS Cluster Management, we provide a unified interface where you can deploy and manage add-ons at the push of a button. This self-service capability gives you a dynamic inventory of both core and user-managed add-ons, allowing you to maintain consistency across your entire environment. By removing the need for complex command-line operations for these day-two tasks, we enable your team to scale operations faster while ensuring every cluster remains correctly configured and up to date.</a:t>
            </a:r>
          </a:p>
          <a:p>
            <a:endParaRPr lang="en-GB" b="1" dirty="0"/>
          </a:p>
          <a:p>
            <a:r>
              <a:rPr lang="en-GB" b="1" dirty="0"/>
              <a:t>Notes:</a:t>
            </a:r>
            <a:endParaRPr lang="en-GB" dirty="0"/>
          </a:p>
          <a:p>
            <a:pPr marL="171450" indent="-171450">
              <a:buFont typeface="Arial" panose="020B0604020202020204" pitchFamily="34" charset="0"/>
              <a:buChar char="•"/>
            </a:pPr>
            <a:r>
              <a:rPr lang="en-GB" b="1" dirty="0"/>
              <a:t>Simplicity:</a:t>
            </a:r>
            <a:r>
              <a:rPr lang="en-GB" dirty="0"/>
              <a:t> Emphasize the "without CLI" aspect to appeal to VI Admins and teams looking for operational efficiency.</a:t>
            </a:r>
          </a:p>
          <a:p>
            <a:pPr marL="171450" indent="-171450">
              <a:buFont typeface="Arial" panose="020B0604020202020204" pitchFamily="34" charset="0"/>
              <a:buChar char="•"/>
            </a:pPr>
            <a:r>
              <a:rPr lang="en-GB" b="1" dirty="0"/>
              <a:t>Self-Service:</a:t>
            </a:r>
            <a:r>
              <a:rPr lang="en-GB" dirty="0"/>
              <a:t> Highlight how this empowers developers or sub-teams to manage their own add-on needs within the guardrails set by the platform team.</a:t>
            </a:r>
          </a:p>
          <a:p>
            <a:pPr marL="171450" indent="-171450">
              <a:buFont typeface="Arial" panose="020B0604020202020204" pitchFamily="34" charset="0"/>
              <a:buChar char="•"/>
            </a:pPr>
            <a:r>
              <a:rPr lang="en-GB" b="1" dirty="0"/>
              <a:t>UI Focus:</a:t>
            </a:r>
            <a:r>
              <a:rPr lang="en-GB" dirty="0"/>
              <a:t> Call out the specific sections of the UI shown, such as the "Available Add-ons" </a:t>
            </a:r>
            <a:r>
              <a:rPr lang="en-GB" dirty="0" err="1"/>
              <a:t>catalog</a:t>
            </a:r>
            <a:r>
              <a:rPr lang="en-GB" dirty="0"/>
              <a:t> and the easy "Install Add-on" buttons.</a:t>
            </a:r>
          </a:p>
          <a:p>
            <a:pPr marL="171450" indent="-171450">
              <a:buFont typeface="Arial" panose="020B0604020202020204" pitchFamily="34" charset="0"/>
              <a:buChar char="•"/>
            </a:pPr>
            <a:r>
              <a:rPr lang="en-GB" b="1" dirty="0"/>
              <a:t>Scale:</a:t>
            </a:r>
            <a:r>
              <a:rPr lang="en-GB" dirty="0"/>
              <a:t> Position this as the solution for moving from managing "one cluster" to "many clusters" without increasing administrative overhead.</a:t>
            </a:r>
          </a:p>
          <a:p>
            <a:endParaRPr lang="en-GB" b="1" dirty="0"/>
          </a:p>
          <a:p>
            <a:r>
              <a:rPr lang="en-GB" b="1" dirty="0"/>
              <a:t>Resources:</a:t>
            </a:r>
            <a:endParaRPr lang="en-GB"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61774933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normAutofit lnSpcReduction="10000"/>
          </a:bodyPr>
          <a:lstStyle/>
          <a:p>
            <a:pPr rtl="0"/>
            <a:r>
              <a:rPr lang="en-GB" b="1" dirty="0">
                <a:effectLst/>
              </a:rPr>
              <a:t>Key Message:</a:t>
            </a:r>
            <a:r>
              <a:rPr lang="en-GB" dirty="0">
                <a:effectLst/>
              </a:rPr>
              <a:t> </a:t>
            </a:r>
          </a:p>
          <a:p>
            <a:pPr rtl="0"/>
            <a:r>
              <a:rPr lang="en-GB" dirty="0">
                <a:effectLst/>
              </a:rPr>
              <a:t>vSphere Supervisor acts as a unified control plane that leverages a declarative API to manage VMs, Kubernetes clusters, and essential cloud services through a single, consistent interface.</a:t>
            </a:r>
          </a:p>
          <a:p>
            <a:pPr rtl="0"/>
            <a:endParaRPr lang="en-GB" b="1" dirty="0">
              <a:effectLst/>
            </a:endParaRPr>
          </a:p>
          <a:p>
            <a:pPr rtl="0"/>
            <a:r>
              <a:rPr lang="en-GB" b="1" dirty="0">
                <a:effectLst/>
              </a:rPr>
              <a:t>Talk Track:</a:t>
            </a:r>
            <a:r>
              <a:rPr lang="en-GB" dirty="0">
                <a:effectLst/>
              </a:rPr>
              <a:t> </a:t>
            </a:r>
          </a:p>
          <a:p>
            <a:pPr rtl="0"/>
            <a:r>
              <a:rPr lang="en-GB" dirty="0">
                <a:effectLst/>
              </a:rPr>
              <a:t>To understand how VKS functions, we have to look at the Supervisor. Think of the Supervisor as the engine that provides a declarative API for unified resource management across your entire SDDC. It allows you to deploy and manage not just Kubernetes clusters via VKS, but also virtual machines through the VM Service, as well as networking, storage, and image registries—all using that same single API. This extensible ecosystem means you can add new functionality as needed while maintaining a consistent consumption experience for your developers. Essentially, the Supervisor provides the necessary abstraction from the underlying hardware, turning your vSphere infrastructure into a true private cloud service.</a:t>
            </a:r>
          </a:p>
          <a:p>
            <a:pPr rtl="0"/>
            <a:endParaRPr lang="en-GB" b="1" dirty="0">
              <a:effectLst/>
            </a:endParaRPr>
          </a:p>
          <a:p>
            <a:pPr rtl="0"/>
            <a:r>
              <a:rPr lang="en-GB" b="1" dirty="0">
                <a:effectLst/>
              </a:rPr>
              <a:t>Notes:</a:t>
            </a:r>
            <a:endParaRPr lang="en-GB" dirty="0">
              <a:effectLst/>
            </a:endParaRPr>
          </a:p>
          <a:p>
            <a:pPr marL="171450" indent="-171450" rtl="0">
              <a:buFont typeface="Arial" panose="020B0604020202020204" pitchFamily="34" charset="0"/>
              <a:buChar char="•"/>
            </a:pPr>
            <a:r>
              <a:rPr lang="en-GB" b="1" dirty="0">
                <a:effectLst/>
              </a:rPr>
              <a:t>Centralization:</a:t>
            </a:r>
            <a:r>
              <a:rPr lang="en-GB" dirty="0">
                <a:effectLst/>
              </a:rPr>
              <a:t> Emphasize that the Supervisor is the "brain" that bridges traditional VI operations with modern cloud-native service delivery.</a:t>
            </a:r>
          </a:p>
          <a:p>
            <a:pPr marL="171450" indent="-171450" rtl="0">
              <a:buFont typeface="Arial" panose="020B0604020202020204" pitchFamily="34" charset="0"/>
              <a:buChar char="•"/>
            </a:pPr>
            <a:r>
              <a:rPr lang="en-GB" b="1" dirty="0">
                <a:effectLst/>
              </a:rPr>
              <a:t>Declarative API:</a:t>
            </a:r>
            <a:r>
              <a:rPr lang="en-GB" dirty="0">
                <a:effectLst/>
              </a:rPr>
              <a:t> Highlight this as the key for automation; it allows users to define the "what" (e.g., "I need a cluster with these specs") and lets the Supervisor handle the "how."</a:t>
            </a:r>
          </a:p>
          <a:p>
            <a:pPr marL="171450" indent="-171450" rtl="0">
              <a:buFont typeface="Arial" panose="020B0604020202020204" pitchFamily="34" charset="0"/>
              <a:buChar char="•"/>
            </a:pPr>
            <a:r>
              <a:rPr lang="en-GB" b="1" dirty="0">
                <a:effectLst/>
              </a:rPr>
              <a:t>Unified Management:</a:t>
            </a:r>
            <a:r>
              <a:rPr lang="en-GB" dirty="0">
                <a:effectLst/>
              </a:rPr>
              <a:t> Call out that this isn't just for K8s; it’s a shared platform for VMs and data services, which simplifies the stack for IT operations.</a:t>
            </a:r>
          </a:p>
          <a:p>
            <a:pPr marL="171450" indent="-171450" rtl="0">
              <a:buFont typeface="Arial" panose="020B0604020202020204" pitchFamily="34" charset="0"/>
              <a:buChar char="•"/>
            </a:pPr>
            <a:r>
              <a:rPr lang="en-GB" b="1" dirty="0">
                <a:effectLst/>
              </a:rPr>
              <a:t>Abstraction:</a:t>
            </a:r>
            <a:r>
              <a:rPr lang="en-GB" dirty="0">
                <a:effectLst/>
              </a:rPr>
              <a:t> Explain that this layer hides the complexity of the underlying </a:t>
            </a:r>
            <a:r>
              <a:rPr lang="en-GB" dirty="0" err="1">
                <a:effectLst/>
              </a:rPr>
              <a:t>ESXi</a:t>
            </a:r>
            <a:r>
              <a:rPr lang="en-GB" dirty="0">
                <a:effectLst/>
              </a:rPr>
              <a:t>, vSAN, and NSX components from the end consumer.</a:t>
            </a:r>
          </a:p>
          <a:p>
            <a:pPr rtl="0"/>
            <a:endParaRPr lang="en-GB" b="1" dirty="0">
              <a:effectLst/>
            </a:endParaRPr>
          </a:p>
          <a:p>
            <a:pPr rtl="0"/>
            <a:r>
              <a:rPr lang="en-GB" b="1" dirty="0">
                <a:effectLst/>
              </a:rPr>
              <a:t>Resources:</a:t>
            </a:r>
            <a:endParaRPr lang="en-GB" dirty="0">
              <a:effectLst/>
            </a:endParaRPr>
          </a:p>
          <a:p>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smtClean="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88234681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normAutofit lnSpcReduction="10000"/>
          </a:bodyPr>
          <a:lstStyle/>
          <a:p>
            <a:r>
              <a:rPr lang="en-GB" b="1" dirty="0">
                <a:highlight>
                  <a:srgbClr val="1A1B20"/>
                </a:highlight>
              </a:rPr>
              <a:t>Key Message:</a:t>
            </a:r>
            <a:r>
              <a:rPr lang="en-GB" dirty="0">
                <a:highlight>
                  <a:srgbClr val="1A1B20"/>
                </a:highlight>
              </a:rPr>
              <a:t> </a:t>
            </a:r>
          </a:p>
          <a:p>
            <a:r>
              <a:rPr lang="en-GB" dirty="0">
                <a:highlight>
                  <a:srgbClr val="1A1B20"/>
                </a:highlight>
              </a:rPr>
              <a:t>The new Container Service enables the deployment of isolated, secure container instances directly within vSphere Namespaces, removing the management overhead of a full Kubernetes cluster.</a:t>
            </a:r>
          </a:p>
          <a:p>
            <a:endParaRPr lang="en-GB" b="1" dirty="0">
              <a:highlight>
                <a:srgbClr val="1A1B20"/>
              </a:highlight>
            </a:endParaRPr>
          </a:p>
          <a:p>
            <a:r>
              <a:rPr lang="en-GB" b="1" dirty="0">
                <a:highlight>
                  <a:srgbClr val="1A1B20"/>
                </a:highlight>
              </a:rPr>
              <a:t>Talk Track:</a:t>
            </a:r>
            <a:r>
              <a:rPr lang="en-GB" dirty="0">
                <a:highlight>
                  <a:srgbClr val="1A1B20"/>
                </a:highlight>
              </a:rPr>
              <a:t> </a:t>
            </a:r>
          </a:p>
          <a:p>
            <a:r>
              <a:rPr lang="en-GB" dirty="0">
                <a:highlight>
                  <a:srgbClr val="1A1B20"/>
                </a:highlight>
              </a:rPr>
              <a:t>We are very excited to introduce the Container Service, which allows you to focus purely on your applications without needing to manage the complexities of Kubernetes. By leveraging vSphere Pods, this service creates isolated and secure container instances that run directly on the </a:t>
            </a:r>
            <a:r>
              <a:rPr lang="en-GB" dirty="0" err="1">
                <a:highlight>
                  <a:srgbClr val="1A1B20"/>
                </a:highlight>
              </a:rPr>
              <a:t>ESXi</a:t>
            </a:r>
            <a:r>
              <a:rPr lang="en-GB" dirty="0">
                <a:highlight>
                  <a:srgbClr val="1A1B20"/>
                </a:highlight>
              </a:rPr>
              <a:t> node as a first-class workload.</a:t>
            </a:r>
          </a:p>
          <a:p>
            <a:r>
              <a:rPr lang="en-GB" dirty="0">
                <a:highlight>
                  <a:srgbClr val="1A1B20"/>
                </a:highlight>
              </a:rPr>
              <a:t>These containers are incredibly small and fast to deploy, making them the perfect fit for edge deployments where resources and time are at a premium. You’ll have full visibility into them within your vSphere inventory, and you can manage their entire lifecycle through a simple, UI-driven experience. Additionally, the service is robust enough to handle production needs, supporting multi-container pods—like those using </a:t>
            </a:r>
            <a:r>
              <a:rPr lang="en-GB" dirty="0" err="1">
                <a:highlight>
                  <a:srgbClr val="1A1B20"/>
                </a:highlight>
              </a:rPr>
              <a:t>init</a:t>
            </a:r>
            <a:r>
              <a:rPr lang="en-GB" dirty="0">
                <a:highlight>
                  <a:srgbClr val="1A1B20"/>
                </a:highlight>
              </a:rPr>
              <a:t> containers—and the ability to attach persistent volumes to create </a:t>
            </a:r>
            <a:r>
              <a:rPr lang="en-GB" dirty="0" err="1">
                <a:highlight>
                  <a:srgbClr val="1A1B20"/>
                </a:highlight>
              </a:rPr>
              <a:t>StatefulSets</a:t>
            </a:r>
            <a:r>
              <a:rPr lang="en-GB" dirty="0">
                <a:highlight>
                  <a:srgbClr val="1A1B20"/>
                </a:highlight>
              </a:rPr>
              <a:t>.</a:t>
            </a:r>
          </a:p>
          <a:p>
            <a:endParaRPr lang="en-GB" b="1" dirty="0">
              <a:highlight>
                <a:srgbClr val="1A1B20"/>
              </a:highlight>
            </a:endParaRPr>
          </a:p>
          <a:p>
            <a:r>
              <a:rPr lang="en-GB" b="1" dirty="0">
                <a:highlight>
                  <a:srgbClr val="1A1B20"/>
                </a:highlight>
              </a:rPr>
              <a:t>Notes:</a:t>
            </a:r>
            <a:endParaRPr lang="en-GB" dirty="0">
              <a:highlight>
                <a:srgbClr val="1A1B20"/>
              </a:highlight>
            </a:endParaRPr>
          </a:p>
          <a:p>
            <a:pPr marL="171450" indent="-171450">
              <a:buFont typeface="Arial" panose="020B0604020202020204" pitchFamily="34" charset="0"/>
              <a:buChar char="•"/>
            </a:pPr>
            <a:r>
              <a:rPr lang="en-GB" b="1" dirty="0">
                <a:highlight>
                  <a:srgbClr val="1A1B20"/>
                </a:highlight>
              </a:rPr>
              <a:t>Simplicity:</a:t>
            </a:r>
            <a:r>
              <a:rPr lang="en-GB" dirty="0">
                <a:highlight>
                  <a:srgbClr val="1A1B20"/>
                </a:highlight>
              </a:rPr>
              <a:t> Provides a "Kubernetes-less" experience for container consumers, reducing the learning curve and operational tax.</a:t>
            </a:r>
          </a:p>
          <a:p>
            <a:pPr marL="171450" indent="-171450">
              <a:buFont typeface="Arial" panose="020B0604020202020204" pitchFamily="34" charset="0"/>
              <a:buChar char="•"/>
            </a:pPr>
            <a:r>
              <a:rPr lang="en-GB" b="1" dirty="0">
                <a:highlight>
                  <a:srgbClr val="1A1B20"/>
                </a:highlight>
              </a:rPr>
              <a:t>Security &amp; Performance:</a:t>
            </a:r>
            <a:r>
              <a:rPr lang="en-GB" dirty="0">
                <a:highlight>
                  <a:srgbClr val="1A1B20"/>
                </a:highlight>
              </a:rPr>
              <a:t> Based on vSphere Pod technology, offering hardware-level isolation and near-instant deployment speeds.</a:t>
            </a:r>
          </a:p>
          <a:p>
            <a:pPr marL="171450" indent="-171450">
              <a:buFont typeface="Arial" panose="020B0604020202020204" pitchFamily="34" charset="0"/>
              <a:buChar char="•"/>
            </a:pPr>
            <a:r>
              <a:rPr lang="en-GB" b="1" dirty="0">
                <a:highlight>
                  <a:srgbClr val="1A1B20"/>
                </a:highlight>
              </a:rPr>
              <a:t>Visibility:</a:t>
            </a:r>
            <a:r>
              <a:rPr lang="en-GB" dirty="0">
                <a:highlight>
                  <a:srgbClr val="1A1B20"/>
                </a:highlight>
              </a:rPr>
              <a:t> Containers appear directly in the vSphere inventory as native workloads.</a:t>
            </a:r>
          </a:p>
          <a:p>
            <a:pPr marL="171450" indent="-171450">
              <a:buFont typeface="Arial" panose="020B0604020202020204" pitchFamily="34" charset="0"/>
              <a:buChar char="•"/>
            </a:pPr>
            <a:r>
              <a:rPr lang="en-GB" b="1" dirty="0">
                <a:highlight>
                  <a:srgbClr val="1A1B20"/>
                </a:highlight>
              </a:rPr>
              <a:t>Advanced Capabilities:</a:t>
            </a:r>
            <a:r>
              <a:rPr lang="en-GB" dirty="0">
                <a:highlight>
                  <a:srgbClr val="1A1B20"/>
                </a:highlight>
              </a:rPr>
              <a:t> Supports Persistent Volumes for stateful workloads and multi-container configurations.</a:t>
            </a:r>
          </a:p>
          <a:p>
            <a:endParaRPr lang="en-GB" b="1" dirty="0">
              <a:highlight>
                <a:srgbClr val="1A1B20"/>
              </a:highlight>
            </a:endParaRPr>
          </a:p>
          <a:p>
            <a:r>
              <a:rPr lang="en-GB" b="1" dirty="0">
                <a:highlight>
                  <a:srgbClr val="1A1B20"/>
                </a:highlight>
              </a:rPr>
              <a:t>Resources:</a:t>
            </a:r>
            <a:endParaRPr lang="en-GB" dirty="0">
              <a:highlight>
                <a:srgbClr val="1A1B20"/>
              </a:highlight>
            </a:endParaRPr>
          </a:p>
          <a:p>
            <a:endParaRPr lang="en-US" dirty="0">
              <a:highlight>
                <a:srgbClr val="1A1B20"/>
              </a:highligh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59337960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r>
              <a:rPr lang="en-GB" b="1" dirty="0">
                <a:highlight>
                  <a:srgbClr val="1A1B20"/>
                </a:highlight>
              </a:rPr>
              <a:t>Key Message:</a:t>
            </a:r>
            <a:r>
              <a:rPr lang="en-GB" dirty="0">
                <a:highlight>
                  <a:srgbClr val="1A1B20"/>
                </a:highlight>
              </a:rPr>
              <a:t> </a:t>
            </a:r>
          </a:p>
          <a:p>
            <a:r>
              <a:rPr lang="en-GB" dirty="0">
                <a:highlight>
                  <a:srgbClr val="1A1B20"/>
                </a:highlight>
              </a:rPr>
              <a:t>The VM Service allows organizations to manage virtual machines with the same declarative, cloud-native workflow as Kubernetes, bridging the gap between traditional and modern infrastructure management.</a:t>
            </a:r>
          </a:p>
          <a:p>
            <a:endParaRPr lang="en-GB" b="1" dirty="0">
              <a:highlight>
                <a:srgbClr val="1A1B20"/>
              </a:highlight>
            </a:endParaRPr>
          </a:p>
          <a:p>
            <a:r>
              <a:rPr lang="en-GB" b="1" dirty="0">
                <a:highlight>
                  <a:srgbClr val="1A1B20"/>
                </a:highlight>
              </a:rPr>
              <a:t>Talk Track:</a:t>
            </a:r>
          </a:p>
          <a:p>
            <a:r>
              <a:rPr lang="en-GB" dirty="0">
                <a:highlight>
                  <a:srgbClr val="1A1B20"/>
                </a:highlight>
              </a:rPr>
              <a:t>While much of the focus is on Kubernetes, we recognize that many applications still rely on traditional virtual machines. The VM Service brings the best of the cloud-native world to these workloads by allowing them to be defined declaratively within a vSphere Namespace. This means developers can use "Desired State" lifecycle management and self-service access to provision VMs using YAML, just as they would a container. By leveraging </a:t>
            </a:r>
            <a:r>
              <a:rPr lang="en-GB" sz="1200" kern="1200" dirty="0">
                <a:solidFill>
                  <a:schemeClr val="tx1"/>
                </a:solidFill>
                <a:highlight>
                  <a:srgbClr val="1A1B20"/>
                </a:highlight>
                <a:latin typeface="+mn-lt"/>
                <a:ea typeface="+mn-ea"/>
                <a:cs typeface="+mn-cs"/>
              </a:rPr>
              <a:t>cloud-</a:t>
            </a:r>
            <a:r>
              <a:rPr lang="en-GB" sz="1200" kern="1200" dirty="0" err="1">
                <a:solidFill>
                  <a:schemeClr val="tx1"/>
                </a:solidFill>
                <a:highlight>
                  <a:srgbClr val="1A1B20"/>
                </a:highlight>
                <a:latin typeface="+mn-lt"/>
                <a:ea typeface="+mn-ea"/>
                <a:cs typeface="+mn-cs"/>
              </a:rPr>
              <a:t>init</a:t>
            </a:r>
            <a:r>
              <a:rPr lang="en-GB" dirty="0">
                <a:highlight>
                  <a:srgbClr val="1A1B20"/>
                </a:highlight>
              </a:rPr>
              <a:t> or </a:t>
            </a:r>
            <a:r>
              <a:rPr lang="en-GB" sz="1200" kern="1200" dirty="0" err="1">
                <a:solidFill>
                  <a:schemeClr val="tx1"/>
                </a:solidFill>
                <a:highlight>
                  <a:srgbClr val="1A1B20"/>
                </a:highlight>
                <a:latin typeface="+mn-lt"/>
                <a:ea typeface="+mn-ea"/>
                <a:cs typeface="+mn-cs"/>
              </a:rPr>
              <a:t>Sysprep</a:t>
            </a:r>
            <a:r>
              <a:rPr lang="en-GB" dirty="0">
                <a:highlight>
                  <a:srgbClr val="1A1B20"/>
                </a:highlight>
              </a:rPr>
              <a:t> for configuration and </a:t>
            </a:r>
            <a:r>
              <a:rPr lang="en-GB" sz="1200" kern="1200" dirty="0" err="1">
                <a:solidFill>
                  <a:schemeClr val="tx1"/>
                </a:solidFill>
                <a:highlight>
                  <a:srgbClr val="1A1B20"/>
                </a:highlight>
                <a:latin typeface="+mn-lt"/>
                <a:ea typeface="+mn-ea"/>
                <a:cs typeface="+mn-cs"/>
              </a:rPr>
              <a:t>VMClass</a:t>
            </a:r>
            <a:r>
              <a:rPr lang="en-GB" dirty="0">
                <a:highlight>
                  <a:srgbClr val="1A1B20"/>
                </a:highlight>
              </a:rPr>
              <a:t> for hardware definitions, teams can integrate VM management directly into their GitOps pipelines. This provides a unified consumption model where VMs and Kubernetes clusters are managed side-by-side using a single API.</a:t>
            </a:r>
          </a:p>
          <a:p>
            <a:endParaRPr lang="en-GB" b="1" dirty="0">
              <a:highlight>
                <a:srgbClr val="1A1B20"/>
              </a:highlight>
            </a:endParaRPr>
          </a:p>
          <a:p>
            <a:r>
              <a:rPr lang="en-GB" b="1" dirty="0">
                <a:highlight>
                  <a:srgbClr val="1A1B20"/>
                </a:highlight>
              </a:rPr>
              <a:t>Notes:</a:t>
            </a:r>
            <a:endParaRPr lang="en-GB" dirty="0">
              <a:highlight>
                <a:srgbClr val="1A1B20"/>
              </a:highlight>
            </a:endParaRPr>
          </a:p>
          <a:p>
            <a:pPr marL="171450" indent="-171450">
              <a:buFont typeface="Arial" panose="020B0604020202020204" pitchFamily="34" charset="0"/>
              <a:buChar char="•"/>
            </a:pPr>
            <a:r>
              <a:rPr lang="en-GB" b="1" dirty="0">
                <a:highlight>
                  <a:srgbClr val="1A1B20"/>
                </a:highlight>
              </a:rPr>
              <a:t>Declarative Management:</a:t>
            </a:r>
            <a:r>
              <a:rPr lang="en-GB" dirty="0">
                <a:highlight>
                  <a:srgbClr val="1A1B20"/>
                </a:highlight>
              </a:rPr>
              <a:t> Emphasize that this isn't just "deploying a VM"—it's managing the VM's lifecycle through a Kubernetes-style API.</a:t>
            </a:r>
          </a:p>
          <a:p>
            <a:pPr marL="171450" indent="-171450">
              <a:buFont typeface="Arial" panose="020B0604020202020204" pitchFamily="34" charset="0"/>
              <a:buChar char="•"/>
            </a:pPr>
            <a:r>
              <a:rPr lang="en-GB" b="1" dirty="0">
                <a:highlight>
                  <a:srgbClr val="1A1B20"/>
                </a:highlight>
              </a:rPr>
              <a:t>Flexibility:</a:t>
            </a:r>
            <a:r>
              <a:rPr lang="en-GB" dirty="0">
                <a:highlight>
                  <a:srgbClr val="1A1B20"/>
                </a:highlight>
              </a:rPr>
              <a:t> Highlight the support for both OVF and ISO, as well as common guest customization tools like </a:t>
            </a:r>
            <a:r>
              <a:rPr lang="en-GB" sz="1200" kern="1200" dirty="0">
                <a:solidFill>
                  <a:schemeClr val="tx1"/>
                </a:solidFill>
                <a:highlight>
                  <a:srgbClr val="1A1B20"/>
                </a:highlight>
                <a:latin typeface="+mn-lt"/>
                <a:ea typeface="+mn-ea"/>
                <a:cs typeface="+mn-cs"/>
              </a:rPr>
              <a:t>cloud-</a:t>
            </a:r>
            <a:r>
              <a:rPr lang="en-GB" sz="1200" kern="1200" dirty="0" err="1">
                <a:solidFill>
                  <a:schemeClr val="tx1"/>
                </a:solidFill>
                <a:highlight>
                  <a:srgbClr val="1A1B20"/>
                </a:highlight>
                <a:latin typeface="+mn-lt"/>
                <a:ea typeface="+mn-ea"/>
                <a:cs typeface="+mn-cs"/>
              </a:rPr>
              <a:t>init</a:t>
            </a:r>
            <a:r>
              <a:rPr lang="en-GB" dirty="0">
                <a:highlight>
                  <a:srgbClr val="1A1B20"/>
                </a:highlight>
              </a:rPr>
              <a:t> and </a:t>
            </a:r>
            <a:r>
              <a:rPr lang="en-GB" sz="1200" kern="1200" dirty="0" err="1">
                <a:solidFill>
                  <a:schemeClr val="tx1"/>
                </a:solidFill>
                <a:highlight>
                  <a:srgbClr val="1A1B20"/>
                </a:highlight>
                <a:latin typeface="+mn-lt"/>
                <a:ea typeface="+mn-ea"/>
                <a:cs typeface="+mn-cs"/>
              </a:rPr>
              <a:t>Sysprep</a:t>
            </a:r>
            <a:r>
              <a:rPr lang="en-GB" dirty="0">
                <a:highlight>
                  <a:srgbClr val="1A1B20"/>
                </a:highlight>
              </a:rPr>
              <a:t>.</a:t>
            </a:r>
          </a:p>
          <a:p>
            <a:pPr marL="171450" indent="-171450">
              <a:buFont typeface="Arial" panose="020B0604020202020204" pitchFamily="34" charset="0"/>
              <a:buChar char="•"/>
            </a:pPr>
            <a:r>
              <a:rPr lang="en-GB" b="1" dirty="0">
                <a:highlight>
                  <a:srgbClr val="1A1B20"/>
                </a:highlight>
              </a:rPr>
              <a:t>Consumer Focus:</a:t>
            </a:r>
            <a:r>
              <a:rPr lang="en-GB" dirty="0">
                <a:highlight>
                  <a:srgbClr val="1A1B20"/>
                </a:highlight>
              </a:rPr>
              <a:t> Point out that this enables "self-service," reducing the ticket-based burden on infrastructure teams.</a:t>
            </a:r>
          </a:p>
          <a:p>
            <a:pPr marL="171450" indent="-171450">
              <a:buFont typeface="Arial" panose="020B0604020202020204" pitchFamily="34" charset="0"/>
              <a:buChar char="•"/>
            </a:pPr>
            <a:r>
              <a:rPr lang="en-GB" b="1" dirty="0">
                <a:highlight>
                  <a:srgbClr val="1A1B20"/>
                </a:highlight>
              </a:rPr>
              <a:t>Integration:</a:t>
            </a:r>
            <a:r>
              <a:rPr lang="en-GB" dirty="0">
                <a:highlight>
                  <a:srgbClr val="1A1B20"/>
                </a:highlight>
              </a:rPr>
              <a:t> Mention GitOps support to appeal to DevOps teams looking to automate their entire stack, not just the containerized portions.</a:t>
            </a:r>
          </a:p>
          <a:p>
            <a:endParaRPr lang="en-GB" b="1" dirty="0">
              <a:highlight>
                <a:srgbClr val="1A1B20"/>
              </a:highlight>
            </a:endParaRPr>
          </a:p>
          <a:p>
            <a:r>
              <a:rPr lang="en-GB" b="1" dirty="0">
                <a:highlight>
                  <a:srgbClr val="1A1B20"/>
                </a:highlight>
              </a:rPr>
              <a:t>Resources:</a:t>
            </a:r>
            <a:endParaRPr lang="en-GB" dirty="0">
              <a:highlight>
                <a:srgbClr val="1A1B20"/>
              </a:highlight>
            </a:endParaRPr>
          </a:p>
          <a:p>
            <a:endParaRPr lang="en-US" dirty="0">
              <a:highlight>
                <a:srgbClr val="1A1B20"/>
              </a:highligh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59337960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F818A0-5558-0BEC-DFEC-DFEA1A2B4C6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A67EB3-4954-0D35-837A-87C85C6AB5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A0C442-1D85-3C4C-27E8-EBE55D21ADAD}"/>
              </a:ext>
            </a:extLst>
          </p:cNvPr>
          <p:cNvSpPr>
            <a:spLocks noGrp="1"/>
          </p:cNvSpPr>
          <p:nvPr>
            <p:ph type="body" idx="1"/>
          </p:nvPr>
        </p:nvSpPr>
        <p:spPr/>
        <p:txBody>
          <a:bodyPr>
            <a:normAutofit/>
          </a:bodyPr>
          <a:lstStyle/>
          <a:p>
            <a:r>
              <a:rPr lang="en-GB" b="1" dirty="0"/>
              <a:t>Key Message:</a:t>
            </a:r>
            <a:br>
              <a:rPr lang="en-GB" dirty="0"/>
            </a:br>
            <a:r>
              <a:rPr lang="en-GB" dirty="0"/>
              <a:t>ArgoCD Service brings </a:t>
            </a:r>
            <a:r>
              <a:rPr lang="en-GB" dirty="0" err="1"/>
              <a:t>GitOps</a:t>
            </a:r>
            <a:r>
              <a:rPr lang="en-GB" dirty="0"/>
              <a:t> to VCF, giving you a single API to manage all your resources with automated, desired-state delivery.</a:t>
            </a:r>
          </a:p>
          <a:p>
            <a:endParaRPr lang="en-GB" b="1" dirty="0"/>
          </a:p>
          <a:p>
            <a:r>
              <a:rPr lang="en-GB" b="1" dirty="0"/>
              <a:t>Talk Track:</a:t>
            </a:r>
            <a:br>
              <a:rPr lang="en-GB" dirty="0"/>
            </a:br>
            <a:r>
              <a:rPr lang="en-GB" dirty="0"/>
              <a:t>We are introducing the </a:t>
            </a:r>
            <a:r>
              <a:rPr lang="en-GB" b="1" dirty="0"/>
              <a:t>ArgoCD Service</a:t>
            </a:r>
            <a:r>
              <a:rPr lang="en-GB" dirty="0"/>
              <a:t> in VMware Cloud Foundation.</a:t>
            </a:r>
          </a:p>
          <a:p>
            <a:r>
              <a:rPr lang="en-GB" b="1" dirty="0"/>
              <a:t>Enable </a:t>
            </a:r>
            <a:r>
              <a:rPr lang="en-GB" b="1" dirty="0" err="1"/>
              <a:t>GitOps</a:t>
            </a:r>
            <a:r>
              <a:rPr lang="en-GB" dirty="0"/>
              <a:t> in your environment to make application and infrastructure delivery </a:t>
            </a:r>
            <a:r>
              <a:rPr lang="en-GB" b="1" dirty="0"/>
              <a:t>fully automated and consistent</a:t>
            </a:r>
            <a:r>
              <a:rPr lang="en-GB" dirty="0"/>
              <a:t>.</a:t>
            </a:r>
          </a:p>
          <a:p>
            <a:r>
              <a:rPr lang="en-GB" b="1" dirty="0"/>
              <a:t>Use a single API target</a:t>
            </a:r>
            <a:r>
              <a:rPr lang="en-GB" dirty="0"/>
              <a:t> to manage </a:t>
            </a:r>
            <a:r>
              <a:rPr lang="en-GB" b="1" dirty="0"/>
              <a:t>all resources</a:t>
            </a:r>
            <a:r>
              <a:rPr lang="en-GB" dirty="0"/>
              <a:t>—whether it’s </a:t>
            </a:r>
            <a:r>
              <a:rPr lang="en-GB" b="1" dirty="0"/>
              <a:t>Kubernetes clusters, VMs, load balancers, or persistent volumes</a:t>
            </a:r>
            <a:r>
              <a:rPr lang="en-GB" dirty="0"/>
              <a:t>.</a:t>
            </a:r>
          </a:p>
          <a:p>
            <a:r>
              <a:rPr lang="en-GB" dirty="0"/>
              <a:t>This means you can point ArgoCD to a </a:t>
            </a:r>
            <a:r>
              <a:rPr lang="en-GB" b="1" dirty="0"/>
              <a:t>single target</a:t>
            </a:r>
            <a:r>
              <a:rPr lang="en-GB" dirty="0"/>
              <a:t> and it will take care of keeping your environment in the </a:t>
            </a:r>
            <a:r>
              <a:rPr lang="en-GB" b="1" dirty="0"/>
              <a:t>desired state</a:t>
            </a:r>
            <a:r>
              <a:rPr lang="en-GB" dirty="0"/>
              <a:t> defined in Git.</a:t>
            </a:r>
          </a:p>
          <a:p>
            <a:r>
              <a:rPr lang="en-GB" dirty="0"/>
              <a:t>You can manage everything through the </a:t>
            </a:r>
            <a:r>
              <a:rPr lang="en-GB" b="1" dirty="0"/>
              <a:t>ArgoCD UI</a:t>
            </a:r>
            <a:r>
              <a:rPr lang="en-GB" dirty="0"/>
              <a:t> or the </a:t>
            </a:r>
            <a:r>
              <a:rPr lang="en-GB" b="1" dirty="0"/>
              <a:t>CLI</a:t>
            </a:r>
            <a:r>
              <a:rPr lang="en-GB" dirty="0"/>
              <a:t>, and the service ensures that your resources are </a:t>
            </a:r>
            <a:r>
              <a:rPr lang="en-GB" b="1" dirty="0"/>
              <a:t>always up to date</a:t>
            </a:r>
            <a:r>
              <a:rPr lang="en-GB" dirty="0"/>
              <a:t> with what’s in your Git repository.</a:t>
            </a:r>
          </a:p>
          <a:p>
            <a:r>
              <a:rPr lang="en-GB" dirty="0"/>
              <a:t>This is a major step toward </a:t>
            </a:r>
            <a:r>
              <a:rPr lang="en-GB" b="1" dirty="0"/>
              <a:t>streamlined operations</a:t>
            </a:r>
            <a:r>
              <a:rPr lang="en-GB" dirty="0"/>
              <a:t> and </a:t>
            </a:r>
            <a:r>
              <a:rPr lang="en-GB" b="1" dirty="0"/>
              <a:t>modern </a:t>
            </a:r>
            <a:r>
              <a:rPr lang="en-GB" b="1" dirty="0" err="1"/>
              <a:t>GitOps</a:t>
            </a:r>
            <a:r>
              <a:rPr lang="en-GB" b="1" dirty="0"/>
              <a:t> workflows</a:t>
            </a:r>
            <a:r>
              <a:rPr lang="en-GB" dirty="0"/>
              <a:t> for both developers and infrastructure teams.</a:t>
            </a:r>
          </a:p>
          <a:p>
            <a:endParaRPr lang="en-GB" b="1" dirty="0"/>
          </a:p>
          <a:p>
            <a:r>
              <a:rPr lang="en-GB" b="1" dirty="0"/>
              <a:t>Notes:</a:t>
            </a:r>
            <a:endParaRPr lang="en-GB" dirty="0"/>
          </a:p>
          <a:p>
            <a:r>
              <a:rPr lang="en-GB" dirty="0"/>
              <a:t>Simple to adopt for teams new to </a:t>
            </a:r>
            <a:r>
              <a:rPr lang="en-GB" dirty="0" err="1"/>
              <a:t>GitOps</a:t>
            </a:r>
            <a:r>
              <a:rPr lang="en-GB" dirty="0"/>
              <a:t>.</a:t>
            </a:r>
          </a:p>
          <a:p>
            <a:r>
              <a:rPr lang="en-GB" dirty="0"/>
              <a:t>Provides </a:t>
            </a:r>
            <a:r>
              <a:rPr lang="en-GB" b="1" dirty="0"/>
              <a:t>consistency</a:t>
            </a:r>
            <a:r>
              <a:rPr lang="en-GB" dirty="0"/>
              <a:t> and </a:t>
            </a:r>
            <a:r>
              <a:rPr lang="en-GB" b="1" dirty="0"/>
              <a:t>single-source-of-truth</a:t>
            </a:r>
            <a:r>
              <a:rPr lang="en-GB" dirty="0"/>
              <a:t> management.</a:t>
            </a:r>
          </a:p>
          <a:p>
            <a:endParaRPr lang="en-GB" b="1" dirty="0"/>
          </a:p>
          <a:p>
            <a:r>
              <a:rPr lang="en-GB" b="1" dirty="0"/>
              <a:t>Resources:</a:t>
            </a:r>
            <a:endParaRPr lang="en-GB" dirty="0"/>
          </a:p>
          <a:p>
            <a:endParaRPr lang="en-US" dirty="0"/>
          </a:p>
        </p:txBody>
      </p:sp>
      <p:sp>
        <p:nvSpPr>
          <p:cNvPr id="4" name="Slide Number Placeholder 3">
            <a:extLst>
              <a:ext uri="{FF2B5EF4-FFF2-40B4-BE49-F238E27FC236}">
                <a16:creationId xmlns:a16="http://schemas.microsoft.com/office/drawing/2014/main" id="{5C666184-06B9-85EE-5787-51C53797B086}"/>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smtClean="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srgbClr val="717074"/>
              </a:solidFill>
              <a:effectLst/>
              <a:uLnTx/>
              <a:uFillTx/>
              <a:latin typeface="Arial"/>
              <a:ea typeface="Arial"/>
              <a:cs typeface="Arial"/>
              <a:sym typeface="Arial"/>
            </a:endParaRPr>
          </a:p>
        </p:txBody>
      </p:sp>
    </p:spTree>
    <p:extLst>
      <p:ext uri="{BB962C8B-B14F-4D97-AF65-F5344CB8AC3E}">
        <p14:creationId xmlns:p14="http://schemas.microsoft.com/office/powerpoint/2010/main" val="220760462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normAutofit lnSpcReduction="10000"/>
          </a:bodyPr>
          <a:lstStyle/>
          <a:p>
            <a:r>
              <a:rPr lang="en-GB" b="1" dirty="0"/>
              <a:t>Key Message:</a:t>
            </a:r>
            <a:r>
              <a:rPr lang="en-GB" dirty="0"/>
              <a:t> </a:t>
            </a:r>
          </a:p>
          <a:p>
            <a:r>
              <a:rPr lang="en-GB" dirty="0"/>
              <a:t>vSphere Kubernetes Service (VKS) simplifies security operations by automating secret injection, providing a uniform and consistent experience across both VMs and Pods.</a:t>
            </a:r>
          </a:p>
          <a:p>
            <a:endParaRPr lang="en-GB" dirty="0"/>
          </a:p>
          <a:p>
            <a:r>
              <a:rPr lang="en-GB" b="1" dirty="0"/>
              <a:t>Talk Track:</a:t>
            </a:r>
            <a:r>
              <a:rPr lang="en-GB" dirty="0"/>
              <a:t> </a:t>
            </a:r>
          </a:p>
          <a:p>
            <a:r>
              <a:rPr lang="en-GB" dirty="0"/>
              <a:t>Security is paramount, but it shouldn't come at the cost of operational complexity. Previously, injecting secrets into VKS Kubernetes Pods was a manual, multi-step process that differed from how we handled VMs and other workloads. While it worked in version 9.0, it required significant manual configuration to get the Secret Store Agent Injector up and running.</a:t>
            </a:r>
          </a:p>
          <a:p>
            <a:r>
              <a:rPr lang="en-GB" dirty="0"/>
              <a:t>In VCF 9.1, we are streamlining this entirely. We’ve introduced the automatic creation of the Secret Store Agent Injector. This means that the secret-injection workflow is now uniform across all Supervisor workloads. By simply using annotations in the Pod spec, the system handles the heavy lifting. This doesn't just save time; it strengthens your security posture by ensuring auditability and consistency across every application, whether it's running in a VM or a container.</a:t>
            </a:r>
          </a:p>
          <a:p>
            <a:endParaRPr lang="en-GB" b="1" dirty="0"/>
          </a:p>
          <a:p>
            <a:r>
              <a:rPr lang="en-GB" b="1" dirty="0"/>
              <a:t>Notes:</a:t>
            </a:r>
            <a:endParaRPr lang="en-GB" dirty="0"/>
          </a:p>
          <a:p>
            <a:pPr marL="171450" indent="-171450">
              <a:buFont typeface="Arial" panose="020B0604020202020204" pitchFamily="34" charset="0"/>
              <a:buChar char="•"/>
            </a:pPr>
            <a:r>
              <a:rPr lang="en-GB" b="1" dirty="0"/>
              <a:t>Automation:</a:t>
            </a:r>
            <a:r>
              <a:rPr lang="en-GB" dirty="0"/>
              <a:t> Eliminates the need for consumers to manually create the Secret Store Agent Injector resource.</a:t>
            </a:r>
          </a:p>
          <a:p>
            <a:pPr marL="171450" indent="-171450">
              <a:buFont typeface="Arial" panose="020B0604020202020204" pitchFamily="34" charset="0"/>
              <a:buChar char="•"/>
            </a:pPr>
            <a:r>
              <a:rPr lang="en-GB" b="1" dirty="0"/>
              <a:t>Uniformity:</a:t>
            </a:r>
            <a:r>
              <a:rPr lang="en-GB" dirty="0"/>
              <a:t> Aligns the VKS secret consumption experience with the existing VM service workflow.</a:t>
            </a:r>
          </a:p>
          <a:p>
            <a:pPr marL="171450" indent="-171450">
              <a:buFont typeface="Arial" panose="020B0604020202020204" pitchFamily="34" charset="0"/>
              <a:buChar char="•"/>
            </a:pPr>
            <a:r>
              <a:rPr lang="en-GB" b="1" dirty="0"/>
              <a:t>Security Benefits:</a:t>
            </a:r>
            <a:r>
              <a:rPr lang="en-GB" dirty="0"/>
              <a:t> Increases consistency and auditability while reducing the risk of manual configuration errors.</a:t>
            </a:r>
          </a:p>
          <a:p>
            <a:pPr marL="171450" indent="-171450">
              <a:buFont typeface="Arial" panose="020B0604020202020204" pitchFamily="34" charset="0"/>
              <a:buChar char="•"/>
            </a:pPr>
            <a:r>
              <a:rPr lang="en-GB" b="1" dirty="0"/>
              <a:t>Mechanism:</a:t>
            </a:r>
            <a:r>
              <a:rPr lang="en-GB" dirty="0"/>
              <a:t> Leverages agent-inject annotations within the Kubernetes Pod specification to trigger the automated process.</a:t>
            </a:r>
          </a:p>
          <a:p>
            <a:endParaRPr lang="en-GB" b="1" dirty="0"/>
          </a:p>
          <a:p>
            <a:r>
              <a:rPr lang="en-GB" b="1" dirty="0"/>
              <a:t>Resources:</a:t>
            </a:r>
            <a:endParaRPr lang="en-GB"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7631673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5"/>
        <p:cNvGrpSpPr/>
        <p:nvPr/>
      </p:nvGrpSpPr>
      <p:grpSpPr>
        <a:xfrm>
          <a:off x="0" y="0"/>
          <a:ext cx="0" cy="0"/>
          <a:chOff x="0" y="0"/>
          <a:chExt cx="0" cy="0"/>
        </a:xfrm>
      </p:grpSpPr>
      <p:sp>
        <p:nvSpPr>
          <p:cNvPr id="2176" name="Google Shape;2176;g359338d4b5d_0_3468:notes"/>
          <p:cNvSpPr>
            <a:spLocks noGrp="1" noRot="1" noChangeAspect="1"/>
          </p:cNvSpPr>
          <p:nvPr>
            <p:ph type="sldImg" idx="2"/>
          </p:nvPr>
        </p:nvSpPr>
        <p:spPr>
          <a:xfrm>
            <a:off x="788988" y="609600"/>
            <a:ext cx="5281612"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77" name="Google Shape;2177;g359338d4b5d_0_346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1200"/>
              <a:buFont typeface="Arial"/>
              <a:buNone/>
            </a:pPr>
            <a:r>
              <a:rPr lang="en-US" sz="1200" b="1" u="none" strike="noStrike" dirty="0">
                <a:solidFill>
                  <a:schemeClr val="dk1"/>
                </a:solidFill>
                <a:latin typeface="Arial"/>
                <a:ea typeface="Arial"/>
                <a:cs typeface="Arial"/>
                <a:sym typeface="Arial"/>
              </a:rPr>
              <a:t>Key Message</a:t>
            </a:r>
            <a:r>
              <a:rPr lang="en-US" sz="1200" dirty="0">
                <a:solidFill>
                  <a:schemeClr val="dk1"/>
                </a:solidFill>
                <a:latin typeface="Arial"/>
                <a:ea typeface="Arial"/>
                <a:cs typeface="Arial"/>
                <a:sym typeface="Arial"/>
              </a:rPr>
              <a:t>:</a:t>
            </a:r>
            <a:endParaRPr lang="en-US" b="0" dirty="0"/>
          </a:p>
          <a:p>
            <a:pPr>
              <a:buNone/>
            </a:pPr>
            <a:r>
              <a:rPr lang="en-GB" b="1" dirty="0"/>
              <a:t>VMware Cloud Foundation</a:t>
            </a:r>
            <a:r>
              <a:rPr lang="en-GB" dirty="0"/>
              <a:t> delivers a </a:t>
            </a:r>
            <a:r>
              <a:rPr lang="en-GB" b="1" dirty="0"/>
              <a:t>unified private cloud platform</a:t>
            </a:r>
            <a:r>
              <a:rPr lang="en-GB" dirty="0"/>
              <a:t> for managing </a:t>
            </a:r>
            <a:r>
              <a:rPr lang="en-GB" b="1" dirty="0"/>
              <a:t>VMs and containers</a:t>
            </a:r>
            <a:r>
              <a:rPr lang="en-GB" dirty="0"/>
              <a:t> with a single set of tools and processes.</a:t>
            </a:r>
          </a:p>
          <a:p>
            <a:br>
              <a:rPr lang="en-US" sz="1200" b="0" dirty="0">
                <a:solidFill>
                  <a:schemeClr val="dk1"/>
                </a:solidFill>
                <a:latin typeface="Arial"/>
                <a:ea typeface="Arial"/>
                <a:cs typeface="Arial"/>
                <a:sym typeface="Arial"/>
              </a:rPr>
            </a:br>
            <a:r>
              <a:rPr lang="en-GB" b="1" dirty="0"/>
              <a:t>Talk Track:</a:t>
            </a:r>
          </a:p>
          <a:p>
            <a:r>
              <a:rPr lang="en-GB" b="0" dirty="0"/>
              <a:t>The vSphere Supervisor is a core capability of VMware Cloud Foundation (VCF), enabling modern app and VM operations on a single platform.</a:t>
            </a:r>
          </a:p>
          <a:p>
            <a:endParaRPr lang="en-GB" dirty="0"/>
          </a:p>
          <a:p>
            <a:r>
              <a:rPr lang="en-GB" dirty="0"/>
              <a:t>This unified approach brings powerful capabilities to your private cloud, including:</a:t>
            </a:r>
          </a:p>
          <a:p>
            <a:r>
              <a:rPr lang="en-GB" b="1" dirty="0"/>
              <a:t>Unified Lifecycle Management</a:t>
            </a:r>
            <a:r>
              <a:rPr lang="en-GB" dirty="0"/>
              <a:t> – Simplified deployment, updates, and retirement of workloads through desired state definitions.</a:t>
            </a:r>
          </a:p>
          <a:p>
            <a:r>
              <a:rPr lang="en-GB" b="1" dirty="0"/>
              <a:t>Unified Automation and Configuration Management</a:t>
            </a:r>
            <a:r>
              <a:rPr lang="en-GB" dirty="0"/>
              <a:t> – Operate </a:t>
            </a:r>
            <a:r>
              <a:rPr lang="en-GB" b="1" dirty="0"/>
              <a:t>both VMs and Kubernetes clusters</a:t>
            </a:r>
            <a:r>
              <a:rPr lang="en-GB" dirty="0"/>
              <a:t> using the same automation and management tools.</a:t>
            </a:r>
          </a:p>
          <a:p>
            <a:r>
              <a:rPr lang="en-GB" b="1" dirty="0"/>
              <a:t>Integration with Build Tools</a:t>
            </a:r>
            <a:r>
              <a:rPr lang="en-GB" dirty="0"/>
              <a:t> – Build, customize, and publish VM templates seamlessly using tools like </a:t>
            </a:r>
            <a:r>
              <a:rPr lang="en-GB" b="1" dirty="0"/>
              <a:t>Packer</a:t>
            </a:r>
            <a:r>
              <a:rPr lang="en-GB" dirty="0"/>
              <a:t>.</a:t>
            </a:r>
          </a:p>
          <a:p>
            <a:r>
              <a:rPr lang="en-GB" b="1" dirty="0"/>
              <a:t>Unified </a:t>
            </a:r>
            <a:r>
              <a:rPr lang="en-GB" b="1" dirty="0" err="1"/>
              <a:t>GitOps</a:t>
            </a:r>
            <a:r>
              <a:rPr lang="en-GB" dirty="0"/>
              <a:t> – Use </a:t>
            </a:r>
            <a:r>
              <a:rPr lang="en-GB" b="1" dirty="0"/>
              <a:t>ArgoCD</a:t>
            </a:r>
            <a:r>
              <a:rPr lang="en-GB" dirty="0"/>
              <a:t> and Git-based workflows for consistent and automated cluster and application delivery.</a:t>
            </a:r>
          </a:p>
          <a:p>
            <a:endParaRPr lang="en-GB" dirty="0"/>
          </a:p>
          <a:p>
            <a:r>
              <a:rPr lang="en-GB" dirty="0"/>
              <a:t>By leveraging </a:t>
            </a:r>
            <a:r>
              <a:rPr lang="en-GB" b="1" dirty="0"/>
              <a:t>VCF as the private cloud platform</a:t>
            </a:r>
            <a:r>
              <a:rPr lang="en-GB" dirty="0"/>
              <a:t>, customers gain a </a:t>
            </a:r>
            <a:r>
              <a:rPr lang="en-GB" b="1" dirty="0"/>
              <a:t>modern, cloud-like operational experience</a:t>
            </a:r>
            <a:r>
              <a:rPr lang="en-GB" dirty="0"/>
              <a:t> for both VMs and containers, </a:t>
            </a:r>
            <a:r>
              <a:rPr lang="en-GB" b="1" dirty="0"/>
              <a:t>streamlining operations and accelerating innovation</a:t>
            </a:r>
            <a:r>
              <a:rPr lang="en-GB" dirty="0"/>
              <a:t>.</a:t>
            </a:r>
          </a:p>
          <a:p>
            <a:endParaRPr lang="en-US" dirty="0">
              <a:latin typeface="Metropolis"/>
            </a:endParaRPr>
          </a:p>
          <a:p>
            <a:pPr marL="0" lvl="0" indent="0" algn="l" rtl="0">
              <a:lnSpc>
                <a:spcPct val="100000"/>
              </a:lnSpc>
              <a:spcBef>
                <a:spcPts val="0"/>
              </a:spcBef>
              <a:spcAft>
                <a:spcPts val="0"/>
              </a:spcAft>
              <a:buNone/>
            </a:pPr>
            <a:r>
              <a:rPr lang="en-US" sz="1200" b="1" u="none" strike="noStrike" dirty="0">
                <a:solidFill>
                  <a:schemeClr val="dk1"/>
                </a:solidFill>
                <a:latin typeface="Arial"/>
                <a:ea typeface="Arial"/>
                <a:cs typeface="Arial"/>
                <a:sym typeface="Arial"/>
              </a:rPr>
              <a:t>Notes</a:t>
            </a:r>
            <a:r>
              <a:rPr lang="en-US" sz="1200" u="none" strike="noStrike" dirty="0">
                <a:solidFill>
                  <a:schemeClr val="dk1"/>
                </a:solidFill>
                <a:latin typeface="Arial"/>
                <a:ea typeface="Arial"/>
                <a:cs typeface="Arial"/>
                <a:sym typeface="Arial"/>
              </a:rPr>
              <a:t>:</a:t>
            </a:r>
          </a:p>
          <a:p>
            <a:pPr marL="0" lvl="0" indent="0" algn="l" rtl="0">
              <a:lnSpc>
                <a:spcPct val="100000"/>
              </a:lnSpc>
              <a:spcBef>
                <a:spcPts val="0"/>
              </a:spcBef>
              <a:spcAft>
                <a:spcPts val="0"/>
              </a:spcAft>
              <a:buNone/>
            </a:pPr>
            <a:r>
              <a:rPr lang="en-GB" dirty="0"/>
              <a:t>Emphasize that this capability </a:t>
            </a:r>
            <a:r>
              <a:rPr lang="en-GB" b="1" dirty="0"/>
              <a:t>bridges traditional and modern workloads</a:t>
            </a:r>
            <a:r>
              <a:rPr lang="en-GB" dirty="0"/>
              <a:t> without requiring separate platforms.</a:t>
            </a:r>
            <a:endParaRPr lang="en-US" dirty="0"/>
          </a:p>
          <a:p>
            <a:pPr marL="0" lvl="0" indent="0" algn="l" rtl="0">
              <a:lnSpc>
                <a:spcPct val="100000"/>
              </a:lnSpc>
              <a:spcBef>
                <a:spcPts val="0"/>
              </a:spcBef>
              <a:spcAft>
                <a:spcPts val="0"/>
              </a:spcAft>
              <a:buNone/>
            </a:pPr>
            <a:br>
              <a:rPr lang="en-US" sz="1200" dirty="0">
                <a:solidFill>
                  <a:schemeClr val="dk1"/>
                </a:solidFill>
                <a:latin typeface="Arial"/>
                <a:ea typeface="Arial"/>
                <a:cs typeface="Arial"/>
                <a:sym typeface="Arial"/>
              </a:rPr>
            </a:br>
            <a:r>
              <a:rPr lang="en-US" sz="1200" b="1" dirty="0">
                <a:solidFill>
                  <a:schemeClr val="dk1"/>
                </a:solidFill>
                <a:latin typeface="Arial"/>
                <a:ea typeface="Arial"/>
                <a:cs typeface="Arial"/>
                <a:sym typeface="Arial"/>
              </a:rPr>
              <a:t>Resources</a:t>
            </a:r>
            <a:r>
              <a:rPr lang="en-US" sz="1200" dirty="0">
                <a:solidFill>
                  <a:schemeClr val="dk1"/>
                </a:solidFill>
                <a:latin typeface="Arial"/>
                <a:ea typeface="Arial"/>
                <a:cs typeface="Arial"/>
                <a:sym typeface="Arial"/>
              </a:rPr>
              <a:t>:</a:t>
            </a:r>
            <a:endParaRPr lang="en-US" dirty="0"/>
          </a:p>
          <a:p>
            <a:pPr marL="0" lvl="0" indent="0" algn="l" rtl="0">
              <a:lnSpc>
                <a:spcPct val="100000"/>
              </a:lnSpc>
              <a:spcBef>
                <a:spcPts val="0"/>
              </a:spcBef>
              <a:spcAft>
                <a:spcPts val="0"/>
              </a:spcAft>
              <a:buClr>
                <a:schemeClr val="dk1"/>
              </a:buClr>
              <a:buSzPts val="1100"/>
              <a:buFont typeface="Arial"/>
              <a:buNone/>
            </a:pPr>
            <a:endParaRPr lang="en" dirty="0">
              <a:solidFill>
                <a:srgbClr val="434343"/>
              </a:solidFill>
            </a:endParaRPr>
          </a:p>
          <a:p>
            <a:pPr marL="0" lvl="0" indent="0" algn="l" rtl="0">
              <a:lnSpc>
                <a:spcPct val="100000"/>
              </a:lnSpc>
              <a:spcBef>
                <a:spcPts val="0"/>
              </a:spcBef>
              <a:spcAft>
                <a:spcPts val="0"/>
              </a:spcAft>
              <a:buClr>
                <a:schemeClr val="dk1"/>
              </a:buClr>
              <a:buSzPts val="1100"/>
              <a:buFont typeface="Arial"/>
              <a:buNone/>
            </a:pPr>
            <a:endParaRPr lang="en" dirty="0">
              <a:solidFill>
                <a:srgbClr val="434343"/>
              </a:solidFill>
            </a:endParaRPr>
          </a:p>
          <a:p>
            <a:pPr marL="0" lvl="0" indent="0" algn="l" rtl="0">
              <a:lnSpc>
                <a:spcPct val="100000"/>
              </a:lnSpc>
              <a:spcBef>
                <a:spcPts val="0"/>
              </a:spcBef>
              <a:spcAft>
                <a:spcPts val="0"/>
              </a:spcAft>
              <a:buClr>
                <a:schemeClr val="dk1"/>
              </a:buClr>
              <a:buSzPts val="1100"/>
              <a:buFont typeface="Arial"/>
              <a:buNone/>
            </a:pPr>
            <a:endParaRPr lang="en" dirty="0">
              <a:solidFill>
                <a:srgbClr val="434343"/>
              </a:solidFill>
            </a:endParaRPr>
          </a:p>
          <a:p>
            <a:pPr marL="0" lvl="0" indent="0" algn="l" rtl="0">
              <a:lnSpc>
                <a:spcPct val="100000"/>
              </a:lnSpc>
              <a:spcBef>
                <a:spcPts val="0"/>
              </a:spcBef>
              <a:spcAft>
                <a:spcPts val="0"/>
              </a:spcAft>
              <a:buClr>
                <a:schemeClr val="dk1"/>
              </a:buClr>
              <a:buSzPts val="1100"/>
              <a:buFont typeface="Arial"/>
              <a:buNone/>
            </a:pPr>
            <a:endParaRPr lang="en" dirty="0">
              <a:solidFill>
                <a:srgbClr val="434343"/>
              </a:solidFill>
            </a:endParaRPr>
          </a:p>
          <a:p>
            <a:pPr marL="0" lvl="0" indent="0" algn="l" rtl="0">
              <a:lnSpc>
                <a:spcPct val="100000"/>
              </a:lnSpc>
              <a:spcBef>
                <a:spcPts val="0"/>
              </a:spcBef>
              <a:spcAft>
                <a:spcPts val="0"/>
              </a:spcAft>
              <a:buClr>
                <a:schemeClr val="dk1"/>
              </a:buClr>
              <a:buSzPts val="1100"/>
              <a:buFont typeface="Arial"/>
              <a:buNone/>
            </a:pPr>
            <a:endParaRPr lang="en" dirty="0">
              <a:solidFill>
                <a:srgbClr val="434343"/>
              </a:solidFill>
            </a:endParaRPr>
          </a:p>
        </p:txBody>
      </p:sp>
      <p:sp>
        <p:nvSpPr>
          <p:cNvPr id="2178" name="Google Shape;2178;g359338d4b5d_0_346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 sz="1400" b="0" i="0" u="none" strike="noStrike" kern="120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119</a:t>
            </a:fld>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9"/>
        <p:cNvGrpSpPr/>
        <p:nvPr/>
      </p:nvGrpSpPr>
      <p:grpSpPr>
        <a:xfrm>
          <a:off x="0" y="0"/>
          <a:ext cx="0" cy="0"/>
          <a:chOff x="0" y="0"/>
          <a:chExt cx="0" cy="0"/>
        </a:xfrm>
      </p:grpSpPr>
      <p:sp>
        <p:nvSpPr>
          <p:cNvPr id="6000" name="Google Shape;6000;g3d9c1c9105f_0_4509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01" name="Google Shape;6001;g3d9c1c9105f_0_4509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 </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is the right platform to build, run, and manage Private AI Apps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This section provides a detailed look at VCF Private AI Services, which is designed for building, running, and managing Private AI Apps securely within a customer’s own infrastructure. In this section, we'll show you exactly how this platform addresses the major challenges customers face when adopting Generative AI.</a:t>
            </a:r>
            <a:endParaRPr sz="1200" b="1">
              <a:solidFill>
                <a:schemeClr val="dk1"/>
              </a:solidFill>
            </a:endParaRPr>
          </a:p>
        </p:txBody>
      </p:sp>
      <p:sp>
        <p:nvSpPr>
          <p:cNvPr id="6002" name="Google Shape;6002;g3d9c1c9105f_0_4509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120</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06"/>
        <p:cNvGrpSpPr/>
        <p:nvPr/>
      </p:nvGrpSpPr>
      <p:grpSpPr>
        <a:xfrm>
          <a:off x="0" y="0"/>
          <a:ext cx="0" cy="0"/>
          <a:chOff x="0" y="0"/>
          <a:chExt cx="0" cy="0"/>
        </a:xfrm>
      </p:grpSpPr>
      <p:sp>
        <p:nvSpPr>
          <p:cNvPr id="6007" name="Google Shape;6007;g3e66b89e5f0_0_370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08" name="Google Shape;6008;g3e66b89e5f0_0_3709: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 </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allows customers to adopt GenAI on-premises addressing many of the typical concerns of performance, flexibility, data privacy and security.</a:t>
            </a:r>
            <a:endParaRPr>
              <a:solidFill>
                <a:schemeClr val="dk1"/>
              </a:solidFill>
            </a:endParaRPr>
          </a:p>
          <a:p>
            <a:pPr marL="0" marR="0" lvl="0" indent="0" algn="l" rtl="0">
              <a:lnSpc>
                <a:spcPct val="110000"/>
              </a:lnSpc>
              <a:spcBef>
                <a:spcPts val="0"/>
              </a:spcBef>
              <a:spcAft>
                <a:spcPts val="0"/>
              </a:spcAft>
              <a:buClr>
                <a:schemeClr val="dk1"/>
              </a:buClr>
              <a:buSzPts val="1800"/>
              <a:buFont typeface="Calibri"/>
              <a:buNone/>
            </a:pPr>
            <a:endParaRPr sz="720" b="1">
              <a:solidFill>
                <a:srgbClr val="1B1E35"/>
              </a:solidFill>
            </a:endParaRPr>
          </a:p>
          <a:p>
            <a:pPr marL="0" marR="0" lvl="0" indent="0" algn="l" rtl="0">
              <a:lnSpc>
                <a:spcPct val="110000"/>
              </a:lnSpc>
              <a:spcBef>
                <a:spcPts val="0"/>
              </a:spcBef>
              <a:spcAft>
                <a:spcPts val="0"/>
              </a:spcAft>
              <a:buClr>
                <a:schemeClr val="dk1"/>
              </a:buClr>
              <a:buSzPts val="1800"/>
              <a:buFont typeface="Calibri"/>
              <a:buNone/>
            </a:pPr>
            <a:r>
              <a:rPr lang="en" sz="1200" b="1">
                <a:solidFill>
                  <a:srgbClr val="1B1E35"/>
                </a:solidFill>
              </a:rPr>
              <a:t>Talk Track:</a:t>
            </a:r>
            <a:endParaRPr sz="1200" b="1">
              <a:solidFill>
                <a:srgbClr val="1B1E35"/>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 question often asked is “Why Private AI on-premises instead of AI hosted in the cloud?” The answer lies in common concerns customers usually have with AI - security, privacy, and cost concerns are top of mind for you when looking to implement GenAI in your enterprises. It is absolutely paramount that your private data and intellectual property are protected and controlled, whether they are being used in fine-tuning LLMs or in Retrieval Augmented Generation (RAG).</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is tailored to unlock GenAI and unleash productivity for today’s enterprises. We provide a turnkey, cost-effective alternative to public cloud or bare metal AI platforms. By building on top of your existing VMware Cloud Foundation infrastructure, you can run AI workloads alongside traditional ones and scale your existing infrastructure. In addition, the LLMs that you choose, be it NVIDIA proprietary, open source, or 3rd party LLMs, can be fine tuned in-house by you before deploying for inferencing. You can then deploy RAG and run inference workloads within your own data centers to best align it to your data governance and regulatory compliance requirements. The result: you maintain privacy, control, and reduce risk while delivering accelerated LLM services.</a:t>
            </a:r>
            <a:endParaRPr>
              <a:solidFill>
                <a:schemeClr val="dk1"/>
              </a:solidFill>
            </a:endParaRPr>
          </a:p>
          <a:p>
            <a:pPr marL="0" marR="0" lvl="0" indent="0" algn="l" rtl="0">
              <a:lnSpc>
                <a:spcPct val="110000"/>
              </a:lnSpc>
              <a:spcBef>
                <a:spcPts val="0"/>
              </a:spcBef>
              <a:spcAft>
                <a:spcPts val="0"/>
              </a:spcAft>
              <a:buClr>
                <a:schemeClr val="dk1"/>
              </a:buClr>
              <a:buSzPts val="1800"/>
              <a:buFont typeface="Calibri"/>
              <a:buNone/>
            </a:pPr>
            <a:endParaRPr sz="1200" b="1">
              <a:solidFill>
                <a:srgbClr val="1B1E35"/>
              </a:solidFill>
            </a:endParaRPr>
          </a:p>
        </p:txBody>
      </p:sp>
      <p:sp>
        <p:nvSpPr>
          <p:cNvPr id="6009" name="Google Shape;6009;g3e66b89e5f0_0_3709: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121</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6"/>
        <p:cNvGrpSpPr/>
        <p:nvPr/>
      </p:nvGrpSpPr>
      <p:grpSpPr>
        <a:xfrm>
          <a:off x="0" y="0"/>
          <a:ext cx="0" cy="0"/>
          <a:chOff x="0" y="0"/>
          <a:chExt cx="0" cy="0"/>
        </a:xfrm>
      </p:grpSpPr>
      <p:sp>
        <p:nvSpPr>
          <p:cNvPr id="6087" name="Google Shape;6087;g3d9c1c9105f_0_1089:notes"/>
          <p:cNvSpPr>
            <a:spLocks noGrp="1" noRot="1" noChangeAspect="1"/>
          </p:cNvSpPr>
          <p:nvPr>
            <p:ph type="sldImg" idx="2"/>
          </p:nvPr>
        </p:nvSpPr>
        <p:spPr>
          <a:xfrm>
            <a:off x="604838" y="1089025"/>
            <a:ext cx="5219700" cy="2938463"/>
          </a:xfrm>
          <a:custGeom>
            <a:avLst/>
            <a:gdLst/>
            <a:ahLst/>
            <a:cxnLst/>
            <a:rect l="l" t="t" r="r" b="b"/>
            <a:pathLst>
              <a:path w="120000" h="120000" extrusionOk="0">
                <a:moveTo>
                  <a:pt x="0" y="0"/>
                </a:moveTo>
                <a:lnTo>
                  <a:pt x="120000" y="0"/>
                </a:lnTo>
                <a:lnTo>
                  <a:pt x="120000" y="120000"/>
                </a:lnTo>
                <a:lnTo>
                  <a:pt x="0" y="120000"/>
                </a:lnTo>
                <a:close/>
              </a:path>
            </a:pathLst>
          </a:custGeom>
          <a:noFill/>
          <a:ln w="11975" cap="flat" cmpd="sng">
            <a:solidFill>
              <a:srgbClr val="000000"/>
            </a:solidFill>
            <a:prstDash val="solid"/>
            <a:round/>
            <a:headEnd type="none" w="sm" len="sm"/>
            <a:tailEnd type="none" w="sm" len="sm"/>
          </a:ln>
        </p:spPr>
      </p:sp>
      <p:sp>
        <p:nvSpPr>
          <p:cNvPr id="6088" name="Google Shape;6088;g3d9c1c9105f_0_1089:notes"/>
          <p:cNvSpPr txBox="1">
            <a:spLocks noGrp="1"/>
          </p:cNvSpPr>
          <p:nvPr>
            <p:ph type="body" idx="1"/>
          </p:nvPr>
        </p:nvSpPr>
        <p:spPr>
          <a:xfrm>
            <a:off x="642938" y="4191000"/>
            <a:ext cx="5143500" cy="3429000"/>
          </a:xfrm>
          <a:prstGeom prst="rect">
            <a:avLst/>
          </a:prstGeom>
          <a:noFill/>
          <a:ln>
            <a:noFill/>
          </a:ln>
        </p:spPr>
        <p:txBody>
          <a:bodyPr spcFirstLastPara="1" wrap="square" lIns="86175" tIns="43075" rIns="86175" bIns="4307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VMware Private AI Foundation with NVIDIA solves privacy, control, and compliance challenges enabling enterprises to deploy Private AI with confidence and unleashing productivity with lower TCO.</a:t>
            </a:r>
            <a:endParaRPr>
              <a:solidFill>
                <a:schemeClr val="dk1"/>
              </a:solidFill>
            </a:endParaRPr>
          </a:p>
          <a:p>
            <a:pPr marL="0" marR="0" lvl="0" indent="0" algn="l" rtl="0">
              <a:lnSpc>
                <a:spcPct val="90000"/>
              </a:lnSpc>
              <a:spcBef>
                <a:spcPts val="0"/>
              </a:spcBef>
              <a:spcAft>
                <a:spcPts val="0"/>
              </a:spcAft>
              <a:buClr>
                <a:schemeClr val="dk1"/>
              </a:buClr>
              <a:buSzPts val="1700"/>
              <a:buFont typeface="Calibri"/>
              <a:buNone/>
            </a:pPr>
            <a:endParaRPr sz="1000"/>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To deliver on that promise, one of our solutions - VMware Private AI Foundation with NVIDIA is built on three tightly integrated elements that allow you to Unlock GenAI &amp; Unleash Productivity With Lower TCO.</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First, at the foundation, is the VMware Cloud Foundation Layer. This is the industry’s leading private cloud platform, providing the scale, security, resilience, and performance you need for all your AI and non-AI workloads.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Second, we have the VCF Private AI Services. This layer includes tools like the Model Context Protocol Governance for providing a secure and standardized method to integrate AI assistants with internal content repositories and external tools, Model Gallery for secure model governance, the Model Runtime for scalable model endpoints, AI Blueprints Quick Start to automate infrastructure provisioning for data scientists, and Agent Builder Service for composing the Model Endpoint and the indexed Knowledge Base/Vector Database to build and serve a new RAG Agent.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Finally, the top layer is NVIDIA AI Enterprise. This provides powerful capabilities, including NVIDIA NIM Microservices for speeding up Gen AI deployment and high-performance inference, NVIDIA NeMo Retriever for world-class information retrieval to enhance RAG applications with the lowest latency, highest throughput, and maximum data privacy, NVIDIA Blueprints for customizable reference AI workflows pre-trained for specific use cases, and NVIDIA NIM Operator for simplified deployment of Gen AI pipelines by automating the scaling, management, and inference of RAG and AI models using NIM microservices. These three layers are seamlessly integrated, delivering a unified, exceptional experience.</a:t>
            </a:r>
            <a:endParaRPr>
              <a:solidFill>
                <a:schemeClr val="dk1"/>
              </a:solidFill>
            </a:endParaRPr>
          </a:p>
          <a:p>
            <a:pPr marL="0" lvl="0" indent="0" algn="l" rtl="0">
              <a:lnSpc>
                <a:spcPct val="90000"/>
              </a:lnSpc>
              <a:spcBef>
                <a:spcPts val="0"/>
              </a:spcBef>
              <a:spcAft>
                <a:spcPts val="0"/>
              </a:spcAft>
              <a:buClr>
                <a:schemeClr val="dk1"/>
              </a:buClr>
              <a:buSzPts val="1700"/>
              <a:buFont typeface="Calibri"/>
              <a:buNone/>
            </a:pPr>
            <a:endParaRPr sz="1000">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Extended Talk Track:</a:t>
            </a:r>
            <a:endParaRPr>
              <a:solidFill>
                <a:schemeClr val="dk1"/>
              </a:solidFill>
            </a:endParaRPr>
          </a:p>
          <a:p>
            <a:pPr marL="0" lvl="0" indent="0" algn="l" rtl="0">
              <a:lnSpc>
                <a:spcPct val="90000"/>
              </a:lnSpc>
              <a:spcBef>
                <a:spcPts val="0"/>
              </a:spcBef>
              <a:spcAft>
                <a:spcPts val="0"/>
              </a:spcAft>
              <a:buClr>
                <a:schemeClr val="dk1"/>
              </a:buClr>
              <a:buSzPts val="1100"/>
              <a:buFont typeface="Arial"/>
              <a:buNone/>
            </a:pPr>
            <a:r>
              <a:rPr lang="en" b="1">
                <a:solidFill>
                  <a:schemeClr val="dk1"/>
                </a:solidFill>
              </a:rPr>
              <a:t>VCF Layer: </a:t>
            </a:r>
            <a:r>
              <a:rPr lang="en">
                <a:solidFill>
                  <a:schemeClr val="dk1"/>
                </a:solidFill>
              </a:rPr>
              <a:t>VMware Cloud Foundation is the industry’s private cloud platform that delivers public cloud scale and agility, private cloud security, resilience and performance, and low overall total cost of ownership for your AI workloads. automates IT operations, simplifies workload deployment and management, and supports a wide range of workloads, including VMs, containers, and AI technologies. With VCF, organizations can easily scale their AI initiatives and leverage a streamlined and automated IT environment.</a:t>
            </a:r>
            <a:endParaRPr>
              <a:solidFill>
                <a:schemeClr val="dk1"/>
              </a:solidFill>
            </a:endParaRPr>
          </a:p>
          <a:p>
            <a:pPr marL="0" lvl="0" indent="0" algn="l" rtl="0">
              <a:lnSpc>
                <a:spcPct val="90000"/>
              </a:lnSpc>
              <a:spcBef>
                <a:spcPts val="0"/>
              </a:spcBef>
              <a:spcAft>
                <a:spcPts val="0"/>
              </a:spcAft>
              <a:buClr>
                <a:schemeClr val="dk1"/>
              </a:buClr>
              <a:buSzPts val="1100"/>
              <a:buFont typeface="Arial"/>
              <a:buNone/>
            </a:pPr>
            <a:r>
              <a:rPr lang="en" b="1">
                <a:solidFill>
                  <a:schemeClr val="dk1"/>
                </a:solidFill>
              </a:rPr>
              <a:t>VCF Private AI services – </a:t>
            </a:r>
            <a:r>
              <a:rPr lang="en">
                <a:solidFill>
                  <a:schemeClr val="dk1"/>
                </a:solidFill>
              </a:rPr>
              <a:t>VCF Private AI services are a set of special capabilities for AI deployments in VCF. </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Model Context Protocol (MCP) Governance - </a:t>
            </a:r>
            <a:r>
              <a:rPr lang="en">
                <a:solidFill>
                  <a:schemeClr val="dk1"/>
                </a:solidFill>
              </a:rPr>
              <a:t>MCP provide enterprises with a secure and standardized method to integrate AI assistants with internal content repositories and external tools like Oracle, Microsoft SQL Server, ServiceNow, GitHub, Slack, PostgreSQL, and more—without building and maintaining custom connectors. We will also enable end-to-end authentication and RBAC, adding enterprise-grade governance and controls.</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Model Gallery -</a:t>
            </a:r>
            <a:r>
              <a:rPr lang="en">
                <a:solidFill>
                  <a:schemeClr val="dk1"/>
                </a:solidFill>
              </a:rPr>
              <a:t> Currently, enterprises lack the proper governance measures for downloading and deploying LLMs from ISVs like Hugging Face or other third-party sources. This can pose significant risks to enterprises, as LLMs with malware or viruses could be introduced into the environment, knowingly or unknowingly. This capability, Model Gallery, enables MLOps teams and data scientists to curate and provide secure LLMs with integrated access control (RBAC). This can ensure governance and security for the environment, as well as the privacy of enterprise data and IP.</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Model Runtime –</a:t>
            </a:r>
            <a:r>
              <a:rPr lang="en">
                <a:solidFill>
                  <a:schemeClr val="dk1"/>
                </a:solidFill>
              </a:rPr>
              <a:t> This capability helps enterprises easily create and manage model endpoints for model deployment and scalability. With this capability model usage can be simplified and easily scaled. </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AI Blueprints Quick Start: </a:t>
            </a:r>
            <a:r>
              <a:rPr lang="en">
                <a:solidFill>
                  <a:schemeClr val="dk1"/>
                </a:solidFill>
              </a:rPr>
              <a:t>Infrastructure provisioning of AI projects involves complex steps, including the selection and deployment of the right VM classes, K8s clusters, vGPUs, and AI/ML software, such as the containers in the NGC catalog. LOB admins carry out these specialized tasks. In many enterprises, Data Scientists and DevOps spend a lot of time putting together the infrastructure they need for AI/ML model development and production. The resulting infrastructure may not be compliant and scalable across teams and projects. With this capability, LOB Admins can quickly design, curate, and offer optimized AI infrastructure catalog objects through VCF Automation.</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Agent Builder Service- </a:t>
            </a:r>
            <a:r>
              <a:rPr lang="en">
                <a:solidFill>
                  <a:schemeClr val="dk1"/>
                </a:solidFill>
              </a:rPr>
              <a:t>AI agents are increasingly being integrated into generative AI applications, enhancing their capabilities and enabling a wide range of creative and functional tasks. To make these use cases real, LLMs need to be customized with enterprises’ private data, a complex task that requires special expertise. This new capability will greatly streamline the process for application developers, MLOps engineers, and data scientists, of building and deploying AI Agents by utilizing the LLMs from the Model Gallery and data from the Data Indexing &amp; Retrieval service. </a:t>
            </a:r>
            <a:endParaRPr>
              <a:solidFill>
                <a:schemeClr val="dk1"/>
              </a:solidFill>
            </a:endParaRPr>
          </a:p>
          <a:p>
            <a:pPr marL="0" lvl="0" indent="0" algn="l" rtl="0">
              <a:lnSpc>
                <a:spcPct val="90000"/>
              </a:lnSpc>
              <a:spcBef>
                <a:spcPts val="0"/>
              </a:spcBef>
              <a:spcAft>
                <a:spcPts val="0"/>
              </a:spcAft>
              <a:buClr>
                <a:schemeClr val="dk1"/>
              </a:buClr>
              <a:buSzPts val="1100"/>
              <a:buFont typeface="Arial"/>
              <a:buNone/>
            </a:pPr>
            <a:endParaRPr>
              <a:solidFill>
                <a:schemeClr val="dk1"/>
              </a:solidFill>
            </a:endParaRPr>
          </a:p>
          <a:p>
            <a:pPr marL="0" lvl="0" indent="0" algn="l" rtl="0">
              <a:lnSpc>
                <a:spcPct val="90000"/>
              </a:lnSpc>
              <a:spcBef>
                <a:spcPts val="0"/>
              </a:spcBef>
              <a:spcAft>
                <a:spcPts val="0"/>
              </a:spcAft>
              <a:buClr>
                <a:schemeClr val="dk1"/>
              </a:buClr>
              <a:buSzPts val="1100"/>
              <a:buFont typeface="Arial"/>
              <a:buNone/>
            </a:pPr>
            <a:r>
              <a:rPr lang="en" b="1">
                <a:solidFill>
                  <a:schemeClr val="dk1"/>
                </a:solidFill>
              </a:rPr>
              <a:t>NVIDIA capabilities (in the green layer) Description</a:t>
            </a:r>
            <a:endParaRPr b="1">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NVIDIA NIM microservices:</a:t>
            </a:r>
            <a:r>
              <a:rPr lang="en">
                <a:solidFill>
                  <a:schemeClr val="dk1"/>
                </a:solidFill>
              </a:rPr>
              <a:t> NVIDIA NIM is a set of easy-to-use microservices designed to speed up the deployment of Gen AI across enterprises. This versatile microservice supports NVIDIA AI Foundation Models — a broad spectrum of models, from leading community models to NVIDIA-built  models to bespoke custom AI models optimized for the NVIDIA accelerated stack. Built on the foundations of NVIDIA Triton Inference Server, NVIDIA TensorRT, TensorRT-LLM, and PyTorch, NVIDIA NIM is engineered to facilitate seamless AI inferencing at scale,  helping developers deploy AI in production with agility and assurance. </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NVIDIA Nemo Retriever: </a:t>
            </a:r>
            <a:r>
              <a:rPr lang="en">
                <a:solidFill>
                  <a:schemeClr val="dk1"/>
                </a:solidFill>
              </a:rPr>
              <a:t>NVIDIA NeMo Retriever, part of the NVIDIA NeMo platform, is a collection of NVIDIA CUDA-X Gen AI microservices enabling organizations to seamlessly connect custom models to diverse business data and deliver highly accurate responses. NeMo Retriever provides world-class information retrieval with the lowest latency, highest throughput, and maximum data privacy, enabling organizations to make better use of their data and generate business insights in real time. NeMo Retriever enhances GenAI applications with enhanced RAG capabilities, which can be connected to business data wherever it resides.  </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NVIDIA Blueprints:</a:t>
            </a:r>
            <a:r>
              <a:rPr lang="en">
                <a:solidFill>
                  <a:schemeClr val="dk1"/>
                </a:solidFill>
              </a:rPr>
              <a:t> NVIDIA Blueprints are reference AI workflows, pre-trained for specific use cases, that can be customized by enterprise developers and the NVIDIA partner ecosystem.</a:t>
            </a:r>
            <a:endParaRPr>
              <a:solidFill>
                <a:schemeClr val="dk1"/>
              </a:solidFill>
            </a:endParaRPr>
          </a:p>
          <a:p>
            <a:pPr marL="457200" lvl="0" indent="-298450" algn="l" rtl="0">
              <a:lnSpc>
                <a:spcPct val="90000"/>
              </a:lnSpc>
              <a:spcBef>
                <a:spcPts val="0"/>
              </a:spcBef>
              <a:spcAft>
                <a:spcPts val="0"/>
              </a:spcAft>
              <a:buClr>
                <a:schemeClr val="dk1"/>
              </a:buClr>
              <a:buSzPts val="1100"/>
              <a:buChar char="●"/>
            </a:pPr>
            <a:r>
              <a:rPr lang="en" b="1">
                <a:solidFill>
                  <a:schemeClr val="dk1"/>
                </a:solidFill>
              </a:rPr>
              <a:t>NVIDIA NIM Operator: </a:t>
            </a:r>
            <a:r>
              <a:rPr lang="en">
                <a:solidFill>
                  <a:schemeClr val="dk1"/>
                </a:solidFill>
              </a:rPr>
              <a:t>NVIDIA NIM Operator makes it easy to deploy generative AI pipelines into production.  With an NVIDIA AI Enterprise subscription, the NIM operator automates the deployment, scaling, and management of RAG pipelines and AI inference using NVIDIA NIM microservices and delivers reduced inference latency and increased auto-scaling performance with intelligent model caching. Enterprise-grade support, security, and stability ensure smooth transition from pilot to production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sz="1200" b="1">
              <a:solidFill>
                <a:schemeClr val="dk1"/>
              </a:solidFill>
            </a:endParaRPr>
          </a:p>
        </p:txBody>
      </p:sp>
      <p:sp>
        <p:nvSpPr>
          <p:cNvPr id="6089" name="Google Shape;6089;g3d9c1c9105f_0_1089:notes"/>
          <p:cNvSpPr txBox="1">
            <a:spLocks noGrp="1"/>
          </p:cNvSpPr>
          <p:nvPr>
            <p:ph type="sldNum" idx="12"/>
          </p:nvPr>
        </p:nvSpPr>
        <p:spPr>
          <a:xfrm>
            <a:off x="3641825" y="8271631"/>
            <a:ext cx="2786100" cy="436800"/>
          </a:xfrm>
          <a:prstGeom prst="rect">
            <a:avLst/>
          </a:prstGeom>
          <a:noFill/>
          <a:ln>
            <a:noFill/>
          </a:ln>
        </p:spPr>
        <p:txBody>
          <a:bodyPr spcFirstLastPara="1" wrap="square" lIns="86175" tIns="43075" rIns="86175" bIns="43075"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100"/>
              <a:buFont typeface="Arial"/>
              <a:buNone/>
              <a:tabLst/>
              <a:defRPr/>
            </a:pPr>
            <a:fld id="{00000000-1234-1234-1234-123412341234}" type="slidenum">
              <a:rPr kumimoji="0" lang="en" sz="11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100"/>
                <a:buFont typeface="Arial"/>
                <a:buNone/>
                <a:tabLst/>
                <a:defRPr/>
              </a:pPr>
              <a:t>122</a:t>
            </a:fld>
            <a:endParaRPr kumimoji="0" sz="11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92"/>
        <p:cNvGrpSpPr/>
        <p:nvPr/>
      </p:nvGrpSpPr>
      <p:grpSpPr>
        <a:xfrm>
          <a:off x="0" y="0"/>
          <a:ext cx="0" cy="0"/>
          <a:chOff x="0" y="0"/>
          <a:chExt cx="0" cy="0"/>
        </a:xfrm>
      </p:grpSpPr>
      <p:sp>
        <p:nvSpPr>
          <p:cNvPr id="6193" name="Google Shape;6193;g3e66b89e5f0_0_398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94" name="Google Shape;6194;g3e66b89e5f0_0_398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Presenter Note:</a:t>
            </a:r>
            <a:r>
              <a:rPr lang="en" b="1">
                <a:solidFill>
                  <a:schemeClr val="dk1"/>
                </a:solidFill>
              </a:rPr>
              <a:t> </a:t>
            </a:r>
            <a:r>
              <a:rPr lang="en">
                <a:solidFill>
                  <a:schemeClr val="dk1"/>
                </a:solidFill>
              </a:rPr>
              <a:t>This slide contains animation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An overview of the in-built workflows for deploying VMware Private AI Foundation with NVIDIA.</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The deployment process of VMware Private AI Foundation with NVIDIA is streamlined through built-in, Orchestrated Private AI Deployment Steps. We initiate this guided workflow within the vSphere client that acts as a single console and simplifies configuring a full Private AI platform end-to-end.</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It begins with the Prerequisites. The prerequisites include preparing ESX Hosts with a vLCM image, installing the NVIDIA vGPU host driver, configuring storage, and acquiring the necessary VMware and NVIDIA licenses. Additional optional steps involve deploying VCF Automation and VMware Data Services Manager (or DSM).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&lt;Click 1&gt;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Then, an orchestrated workflow is used to deploy Private AI infrastructure, guiding the admin through creating a network pool, setting up the Workload Domain, commissioning GPU-enabled hosts, and configuring the licenses.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&lt;Click 2&gt;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We then configure the vSphere Supervisor, setup the workload domain networking with the NSX edge cluster, and configure vCenter Linking to the VCF management domain. Setting up the NSX edge cluster allows you to consume networking services such as DHCP, NAT and VPN. This step also includes creating the necessary VM Classes with NVIDIA GPU resources for Kubernetes cluster nodes and virtual machines.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&lt;Click 3&gt;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Next, we create a region with the Supervisor and associated regional networking in the VCF Automation Provider Management portal.  We also set up the organization, configure deep learning VM images with content libraries, and associate the content libraries with the organization. At this point, the VCF administrator can hand over the setup for Private AI Foundation consumption to a tenant administrator.</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&lt;Click 4&gt;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Finally, we move on to the Install Private AI Services &amp; DSM step. This step includes installing the Cloud Services for Harbor and registering it as our secure Model Gallery, and the Private AI Services which gives Data Scientists the ability to manage models and build RAG applications. Then we deploy DSM to the management domain and connect it into the AI workload domain.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&lt;Click 5&gt;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With these orchestrated steps complete, your infrastructure is ready for consumers to deploy workloads. Once Tenant Admins provide access to deep learning VMs (or DLVMs) and other catalog items via a quickstart in VCF automation, data scientists and developers can deploy DLVMs or VKS clusters on-demand using the self-service catalog.</a:t>
            </a:r>
            <a:endParaRPr>
              <a:solidFill>
                <a:schemeClr val="dk1"/>
              </a:solidFill>
            </a:endParaRPr>
          </a:p>
          <a:p>
            <a:pPr marL="0" lvl="0" indent="0" algn="l" rtl="0">
              <a:lnSpc>
                <a:spcPct val="80000"/>
              </a:lnSpc>
              <a:spcBef>
                <a:spcPts val="0"/>
              </a:spcBef>
              <a:spcAft>
                <a:spcPts val="0"/>
              </a:spcAft>
              <a:buNone/>
            </a:pPr>
            <a:endParaRPr sz="1000" b="1">
              <a:latin typeface="Helvetica Neue"/>
              <a:ea typeface="Helvetica Neue"/>
              <a:cs typeface="Helvetica Neue"/>
              <a:sym typeface="Helvetica Neue"/>
            </a:endParaRPr>
          </a:p>
        </p:txBody>
      </p:sp>
      <p:sp>
        <p:nvSpPr>
          <p:cNvPr id="6195" name="Google Shape;6195;g3e66b89e5f0_0_398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123</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48"/>
        <p:cNvGrpSpPr/>
        <p:nvPr/>
      </p:nvGrpSpPr>
      <p:grpSpPr>
        <a:xfrm>
          <a:off x="0" y="0"/>
          <a:ext cx="0" cy="0"/>
          <a:chOff x="0" y="0"/>
          <a:chExt cx="0" cy="0"/>
        </a:xfrm>
      </p:grpSpPr>
      <p:sp>
        <p:nvSpPr>
          <p:cNvPr id="6349" name="Google Shape;6349;g3e66b89e5f0_0_4142: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50" name="Google Shape;6350;g3e66b89e5f0_0_4142: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Presenter Note: </a:t>
            </a:r>
            <a:r>
              <a:rPr lang="en">
                <a:solidFill>
                  <a:schemeClr val="dk1"/>
                </a:solidFill>
              </a:rPr>
              <a:t>This slide contains animation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 </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allow VCF infrastructure admins to deliver self-service AI-ready workloads to Data Scientists and DevOps teams securely and privately.</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  the infrastructure deployed, the self-service capability of VCF Private AI Services can be utilized by data scientists to spin up deep learning VMs and VKS clusters using the AI blueprints, delivered via VCF Automation.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The tenant administrators grant access to data scientists and Dev-Ops or ML-Ops teams to the platform. Then the data scientists and Dev-Ops or ML-Ops teams can deploy AI workloads using the self-service catalog. The self-service catalog provides a range of quickstart templates, like the AI Workstation: Deep Learning VM, or specialized AI Kubernetes RAG Cluster.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&lt;Click&gt;</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 Data Scientist simply selects the catalog item, defines the necessary GPU resources using pre-configured VMClasses, and chooses the desired software bundle. This automation eliminates the manual effort of constructing specialized VMs, accelerating time-to-value and ensuring their confidential data remains secure and private.</a:t>
            </a:r>
            <a:endParaRPr>
              <a:solidFill>
                <a:schemeClr val="dk1"/>
              </a:solidFill>
            </a:endParaRPr>
          </a:p>
          <a:p>
            <a:pPr marL="0" lvl="0" indent="0" algn="l" rtl="0">
              <a:lnSpc>
                <a:spcPct val="80000"/>
              </a:lnSpc>
              <a:spcBef>
                <a:spcPts val="0"/>
              </a:spcBef>
              <a:spcAft>
                <a:spcPts val="0"/>
              </a:spcAft>
              <a:buNone/>
            </a:pPr>
            <a:endParaRPr sz="570" b="1"/>
          </a:p>
        </p:txBody>
      </p:sp>
      <p:sp>
        <p:nvSpPr>
          <p:cNvPr id="6351" name="Google Shape;6351;g3e66b89e5f0_0_4142: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124</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0"/>
        <p:cNvGrpSpPr/>
        <p:nvPr/>
      </p:nvGrpSpPr>
      <p:grpSpPr>
        <a:xfrm>
          <a:off x="0" y="0"/>
          <a:ext cx="0" cy="0"/>
          <a:chOff x="0" y="0"/>
          <a:chExt cx="0" cy="0"/>
        </a:xfrm>
      </p:grpSpPr>
      <p:sp>
        <p:nvSpPr>
          <p:cNvPr id="6371" name="Google Shape;6371;g3d9c1c9105f_0_3286:notes"/>
          <p:cNvSpPr>
            <a:spLocks noGrp="1" noRot="1" noChangeAspect="1"/>
          </p:cNvSpPr>
          <p:nvPr>
            <p:ph type="sldImg" idx="2"/>
          </p:nvPr>
        </p:nvSpPr>
        <p:spPr>
          <a:xfrm>
            <a:off x="687388" y="1143000"/>
            <a:ext cx="5483225" cy="3086100"/>
          </a:xfrm>
          <a:custGeom>
            <a:avLst/>
            <a:gdLst/>
            <a:ahLst/>
            <a:cxnLst/>
            <a:rect l="l" t="t" r="r" b="b"/>
            <a:pathLst>
              <a:path w="120000" h="120000" extrusionOk="0">
                <a:moveTo>
                  <a:pt x="0" y="0"/>
                </a:moveTo>
                <a:lnTo>
                  <a:pt x="120000" y="0"/>
                </a:lnTo>
                <a:lnTo>
                  <a:pt x="120000" y="120000"/>
                </a:lnTo>
                <a:lnTo>
                  <a:pt x="0" y="120000"/>
                </a:lnTo>
                <a:close/>
              </a:path>
            </a:pathLst>
          </a:custGeom>
          <a:noFill/>
          <a:ln w="11975" cap="flat" cmpd="sng">
            <a:solidFill>
              <a:srgbClr val="000000"/>
            </a:solidFill>
            <a:prstDash val="solid"/>
            <a:round/>
            <a:headEnd type="none" w="sm" len="sm"/>
            <a:tailEnd type="none" w="sm" len="sm"/>
          </a:ln>
        </p:spPr>
      </p:sp>
      <p:sp>
        <p:nvSpPr>
          <p:cNvPr id="6372" name="Google Shape;6372;g3d9c1c9105f_0_3286:notes"/>
          <p:cNvSpPr txBox="1">
            <a:spLocks noGrp="1"/>
          </p:cNvSpPr>
          <p:nvPr>
            <p:ph type="body" idx="1"/>
          </p:nvPr>
        </p:nvSpPr>
        <p:spPr>
          <a:xfrm>
            <a:off x="685800" y="4400550"/>
            <a:ext cx="5486400" cy="3600600"/>
          </a:xfrm>
          <a:prstGeom prst="rect">
            <a:avLst/>
          </a:prstGeom>
          <a:noFill/>
          <a:ln>
            <a:noFill/>
          </a:ln>
        </p:spPr>
        <p:txBody>
          <a:bodyPr spcFirstLastPara="1" wrap="square" lIns="91075" tIns="45525" rIns="91075" bIns="455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Broadcom and AMD are extending their strategic collaboration to deliver a high-performance, cost-competitive platform for VCF Private AI Services, prioritizing choice and control for all your AI workloads.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We’ve discussed our solution with NVIDIA up to this point. Next up, we would like to emphasize our strategic partnership with AMD to further advance our Private AI solution.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Broadcom and AMD are extending strong collaboration to provide VCF customers with a high-performance, cost-competitive platform for all their AI workloads. This solution allows you to fine-tune LLMs, deploy RAG workflows, and run inference workloads entirely within your data center, effectively addressing crucial concerns around privacy, choice, cost, performance, and compliance.</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The core of our expanded collaboration with AMD is a robust architecture for enterprise AI, built on four key components:</a:t>
            </a:r>
            <a:endParaRPr>
              <a:solidFill>
                <a:schemeClr val="dk1"/>
              </a:solidFill>
            </a:endParaRPr>
          </a:p>
          <a:p>
            <a:pPr marL="457200" lvl="0" indent="-298450" algn="l" rtl="0">
              <a:lnSpc>
                <a:spcPct val="115000"/>
              </a:lnSpc>
              <a:spcBef>
                <a:spcPts val="0"/>
              </a:spcBef>
              <a:spcAft>
                <a:spcPts val="0"/>
              </a:spcAft>
              <a:buClr>
                <a:schemeClr val="dk1"/>
              </a:buClr>
              <a:buSzPts val="1100"/>
              <a:buChar char="●"/>
            </a:pPr>
            <a:r>
              <a:rPr lang="en">
                <a:solidFill>
                  <a:schemeClr val="dk1"/>
                </a:solidFill>
              </a:rPr>
              <a:t>VMware Cloud Foundation (or VCF), our private cloud platform provides public cloud scale and agility with private cloud security and low overall TCO for your AI and non-AI workloads. Cloud admins can customize workload domains to optimize GPU resource utilization.</a:t>
            </a:r>
            <a:endParaRPr>
              <a:solidFill>
                <a:schemeClr val="dk1"/>
              </a:solidFill>
            </a:endParaRPr>
          </a:p>
          <a:p>
            <a:pPr marL="457200" lvl="0" indent="-298450" algn="l" rtl="0">
              <a:lnSpc>
                <a:spcPct val="115000"/>
              </a:lnSpc>
              <a:spcBef>
                <a:spcPts val="0"/>
              </a:spcBef>
              <a:spcAft>
                <a:spcPts val="0"/>
              </a:spcAft>
              <a:buClr>
                <a:schemeClr val="dk1"/>
              </a:buClr>
              <a:buSzPts val="1100"/>
              <a:buChar char="●"/>
            </a:pPr>
            <a:r>
              <a:rPr lang="en">
                <a:solidFill>
                  <a:schemeClr val="dk1"/>
                </a:solidFill>
              </a:rPr>
              <a:t>VCF Private AI Services, included with your VCF subscription, ensures privacy and security, simplifies infrastructure management, and streamline model deployment. It includes capabilities like the Model Gallery for secure model governance, the Model Runtime for scalable model endpoints, AI Blueprints Quick Start to automate infrastructure provisioning for data scientists, and Agent Builder Service for composing the Model Endpoint and the indexed Knowledge Base to build and serve a new RAG Agent.</a:t>
            </a:r>
            <a:endParaRPr>
              <a:solidFill>
                <a:schemeClr val="dk1"/>
              </a:solidFill>
            </a:endParaRPr>
          </a:p>
          <a:p>
            <a:pPr marL="457200" lvl="0" indent="-298450" algn="l" rtl="0">
              <a:lnSpc>
                <a:spcPct val="115000"/>
              </a:lnSpc>
              <a:spcBef>
                <a:spcPts val="0"/>
              </a:spcBef>
              <a:spcAft>
                <a:spcPts val="0"/>
              </a:spcAft>
              <a:buClr>
                <a:schemeClr val="dk1"/>
              </a:buClr>
              <a:buSzPts val="1100"/>
              <a:buChar char="●"/>
            </a:pPr>
            <a:r>
              <a:rPr lang="en">
                <a:solidFill>
                  <a:schemeClr val="dk1"/>
                </a:solidFill>
              </a:rPr>
              <a:t>Enterprise AI Software, which is an open source software stack, including Rockem Software, programming models, tools, and runtimes, all tailored for AI solutions developed on AMD Instinct GPUs.</a:t>
            </a:r>
            <a:endParaRPr>
              <a:solidFill>
                <a:schemeClr val="dk1"/>
              </a:solidFill>
            </a:endParaRPr>
          </a:p>
          <a:p>
            <a:pPr marL="457200" lvl="0" indent="-298450" algn="l" rtl="0">
              <a:lnSpc>
                <a:spcPct val="115000"/>
              </a:lnSpc>
              <a:spcBef>
                <a:spcPts val="0"/>
              </a:spcBef>
              <a:spcAft>
                <a:spcPts val="0"/>
              </a:spcAft>
              <a:buClr>
                <a:schemeClr val="dk1"/>
              </a:buClr>
              <a:buSzPts val="1100"/>
              <a:buChar char="●"/>
            </a:pPr>
            <a:r>
              <a:rPr lang="en">
                <a:solidFill>
                  <a:schemeClr val="dk1"/>
                </a:solidFill>
              </a:rPr>
              <a:t>AMD Instinct GPUs like the MI350 series, built on 4th Gen AMD CDNA architecture, delivers exceptional efficiency and performance for training massive AI models and high-speed inference. It supports high-performance models (for example, Llama3.1 405B) and specialized containers for frameworks like PyTorch and vLLM. It also offers massive HBM3E memory, allowing customers to run larger AI models with fewer GPUs.</a:t>
            </a:r>
            <a:endParaRPr>
              <a:solidFill>
                <a:schemeClr val="dk1"/>
              </a:solidFill>
            </a:endParaRPr>
          </a:p>
          <a:p>
            <a:pPr marL="228600" lvl="0" indent="0" algn="l" rtl="0">
              <a:spcBef>
                <a:spcPts val="0"/>
              </a:spcBef>
              <a:spcAft>
                <a:spcPts val="0"/>
              </a:spcAft>
              <a:buSzPts val="1400"/>
              <a:buNone/>
            </a:pPr>
            <a:endParaRPr/>
          </a:p>
        </p:txBody>
      </p:sp>
      <p:sp>
        <p:nvSpPr>
          <p:cNvPr id="6373" name="Google Shape;6373;g3d9c1c9105f_0_3286:notes"/>
          <p:cNvSpPr txBox="1">
            <a:spLocks noGrp="1"/>
          </p:cNvSpPr>
          <p:nvPr>
            <p:ph type="sldNum" idx="12"/>
          </p:nvPr>
        </p:nvSpPr>
        <p:spPr>
          <a:xfrm>
            <a:off x="3884613" y="8685213"/>
            <a:ext cx="2971800" cy="459000"/>
          </a:xfrm>
          <a:prstGeom prst="rect">
            <a:avLst/>
          </a:prstGeom>
          <a:noFill/>
          <a:ln>
            <a:noFill/>
          </a:ln>
        </p:spPr>
        <p:txBody>
          <a:bodyPr spcFirstLastPara="1" wrap="square" lIns="91075" tIns="45525" rIns="91075" bIns="45525"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 sz="13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125</a:t>
            </a:fld>
            <a:endParaRPr kumimoji="0" sz="13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8"/>
        <p:cNvGrpSpPr/>
        <p:nvPr/>
      </p:nvGrpSpPr>
      <p:grpSpPr>
        <a:xfrm>
          <a:off x="0" y="0"/>
          <a:ext cx="0" cy="0"/>
          <a:chOff x="0" y="0"/>
          <a:chExt cx="0" cy="0"/>
        </a:xfrm>
      </p:grpSpPr>
      <p:sp>
        <p:nvSpPr>
          <p:cNvPr id="6379" name="Google Shape;6379;g3e66b89e5f0_0_3944: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80" name="Google Shape;6380;g3e66b89e5f0_0_3944: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 </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is catered to simplify the deployment of A application, especially RAG applications. This is a summary of the activities of the data science team along with people who support them (such as DevOps teams, MLOps teams, or system administrators) and the application developers who use the model in their app. The flow from left to right shows how these different user types use the services.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streamlines the deployment and management of AI or Gen AI workloads for enterprise customers, particularly implementing the very popular RAG design pattern for AI-based applications. This diagram illustrates the full RAG application flow, showing how the VCF Private AI Services can streamline deployments for enterprise customers.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 Data Scientist downloads a new model from a public source like Hugging Face and validates it in a Deep Learning VM. Once approved, the model is 'pushed' into the Harbor Model Gallery.</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Next, the MLOps team uses the Model Runtime service to create a Model Endpoint for that model, which is a reference point for using the model.</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Separately, the Data Indexing and Retrieval Service takes your private enterprise data, and processes it into a Knowledge Base. It converts this data into 'embeddings', and loads them into a vector database which prepares it for fast querying.</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Finally, the Developer uses the Agent Builder Service to compose the Model Endpoint, and the Knowledge Base, to build and serve a fully functional RAG Agent. This agent then exposes an API endpoint to your front-end application.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80000"/>
              </a:lnSpc>
              <a:spcBef>
                <a:spcPts val="0"/>
              </a:spcBef>
              <a:spcAft>
                <a:spcPts val="0"/>
              </a:spcAft>
              <a:buNone/>
            </a:pPr>
            <a:endParaRPr sz="1000" b="1"/>
          </a:p>
          <a:p>
            <a:pPr marL="0" lvl="0" indent="0" algn="l" rtl="0">
              <a:lnSpc>
                <a:spcPct val="115000"/>
              </a:lnSpc>
              <a:spcBef>
                <a:spcPts val="0"/>
              </a:spcBef>
              <a:spcAft>
                <a:spcPts val="0"/>
              </a:spcAft>
              <a:buSzPts val="1100"/>
              <a:buNone/>
            </a:pPr>
            <a:r>
              <a:rPr lang="en" sz="1200" b="1">
                <a:solidFill>
                  <a:schemeClr val="dk1"/>
                </a:solidFill>
              </a:rPr>
              <a:t>Extended Talk Track:</a:t>
            </a:r>
            <a:endParaRPr sz="1200" b="1">
              <a:solidFill>
                <a:schemeClr val="dk1"/>
              </a:solidFill>
            </a:endParaRPr>
          </a:p>
          <a:p>
            <a:pPr marL="0" lvl="0" indent="0" algn="l" rtl="0">
              <a:lnSpc>
                <a:spcPct val="115000"/>
              </a:lnSpc>
              <a:spcBef>
                <a:spcPts val="0"/>
              </a:spcBef>
              <a:spcAft>
                <a:spcPts val="0"/>
              </a:spcAft>
              <a:buSzPts val="1100"/>
              <a:buNone/>
            </a:pPr>
            <a:r>
              <a:rPr lang="en">
                <a:solidFill>
                  <a:schemeClr val="dk1"/>
                </a:solidFill>
              </a:rPr>
              <a:t>Shown in the diagram is an example of how a model is tested and consumed during its lifetime – along with the private data that is stored in a vector database.</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On the top left side, models are pulled from online sources such as Hugging Face, NVIDIA NGC or others. Those sites contain large numbers of models that have been uploaded by organizations who allow them to be used for business purposes with open licensing. It is very natural for an enterprise’s data science teams to want to use the latest models from those sites. An example of this is the Llama family of models, contributed by Meta/Facebook or the Mistral models from an organization with that same name.</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Data Scientists  download, test, validate and check these open-use models for use with VMware Private AI Foundation with NVIDIA in a deep learning VM running in a DMZ environment.  This deep learning VM is deployed by a user by using the Catalog item called “AI Workstation” in VMware Private AI Foundation with NVIDIA (the existing product that shipped in VCF 5.2.1). </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Once the data science team has fully tested and approved the new model, and they are happy with its accuracy, performance and safety, then the Harbor Registry is used as a Model Store for storing internally validated and secure models. By storing (pushing) the model into the Model Store, data scientists are asserting that the model is safe and can be used by MLOps teams and application developers who use the model as part of their app design. The model store is therefore a central repository of models in the activity of “Model Governance”.</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Next, the Model Runtime service is used to create a Model Endpoint (i.e. a reference point) that will be used for inference work using that model. </a:t>
            </a: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You can think of a Model Endpoint as a connection point for calling the model to do some work (such as creating new text). The Model Endpoint will be used later on in the process by the Agent Builder. </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As part of the creation of a Model Endpoint using the Model Runtime service, an entry for that particular model from the Model Store is used to identify it. Then the Model Runtime service performs a set of actions on an underlying VKS cluster (that is hidden from the user) to deploy the model (i.e. start it up) using an inference server such as vLLM or Infinity. These inference servers are open source server processes that bring the model to life in a pod that runs within a VKS node.</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Additionally, an API Gateway (a front-end part in the Model Runtime) can be configured which provides a stable and secure API interface for accessing model endpoints.</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MLOps teams/App Developers can now consume the available models running in a namespace under the control of the model runtime service.  Applications/agents use the model endpoints along with data from a Vector database that has been pre-loaded, as a separate step.</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The Data Indexing and Retrieval Service is used to take your private data sources, collect them into a Knowledge Base (key concept) and convert that data into a new form called “embeddings”. That new embeddings form of the private data is then loaded into a vector database under the control of the Knowledge Base. Data sources can be local files, Confluence pages, Sharepoint directories, Google drives or S3-compatible sources. An example of a data source can be one or more PDF documents that give an internal description of a new product that is not yet released to the public.</a:t>
            </a: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 </a:t>
            </a: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The Agent Builder Service is then used by Developers to build RAG pipelines for applications. The Agent Builder service is used to build, test, and serve AI agents such as a RAG Agent, that brings together one or more model endpoints and a knowledge base/vector database. This pipeline of components/services is used by an end-user application through calling the new Agent. </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The newly-created Agent presents an API endpoint to a front-end customer application, such as an interactive chatbot application for our customer representatives to use within the enterprise.</a:t>
            </a:r>
            <a:endParaRPr>
              <a:solidFill>
                <a:schemeClr val="dk1"/>
              </a:solidFill>
            </a:endParaRPr>
          </a:p>
          <a:p>
            <a:pPr marL="0" lvl="0" indent="0" algn="l" rtl="0">
              <a:lnSpc>
                <a:spcPct val="115000"/>
              </a:lnSpc>
              <a:spcBef>
                <a:spcPts val="0"/>
              </a:spcBef>
              <a:spcAft>
                <a:spcPts val="0"/>
              </a:spcAft>
              <a:buSzPts val="1100"/>
              <a:buNone/>
            </a:pP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User Interfaces to PAIS:</a:t>
            </a: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A user would create their initial model endpoints within the Model Runtime service that is seen within the VCF Automation screen..</a:t>
            </a:r>
            <a:endParaRPr>
              <a:solidFill>
                <a:schemeClr val="dk1"/>
              </a:solidFill>
            </a:endParaRPr>
          </a:p>
          <a:p>
            <a:pPr marL="0" lvl="0" indent="0" algn="l" rtl="0">
              <a:lnSpc>
                <a:spcPct val="115000"/>
              </a:lnSpc>
              <a:spcBef>
                <a:spcPts val="0"/>
              </a:spcBef>
              <a:spcAft>
                <a:spcPts val="0"/>
              </a:spcAft>
              <a:buSzPts val="1100"/>
              <a:buNone/>
            </a:pPr>
            <a:r>
              <a:rPr lang="en">
                <a:solidFill>
                  <a:schemeClr val="dk1"/>
                </a:solidFill>
              </a:rPr>
              <a:t>The “Data Indexing &amp; Retrieval” service and “Aqent Builder” service have separate UIs of their own, that are accessed from the Private AI Services main screen in the VCF Automation tool.</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sz="1200" b="1">
              <a:solidFill>
                <a:schemeClr val="dk1"/>
              </a:solidFill>
            </a:endParaRPr>
          </a:p>
        </p:txBody>
      </p:sp>
      <p:sp>
        <p:nvSpPr>
          <p:cNvPr id="6381" name="Google Shape;6381;g3e66b89e5f0_0_3944: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126</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3"/>
        <p:cNvGrpSpPr/>
        <p:nvPr/>
      </p:nvGrpSpPr>
      <p:grpSpPr>
        <a:xfrm>
          <a:off x="0" y="0"/>
          <a:ext cx="0" cy="0"/>
          <a:chOff x="0" y="0"/>
          <a:chExt cx="0" cy="0"/>
        </a:xfrm>
      </p:grpSpPr>
      <p:sp>
        <p:nvSpPr>
          <p:cNvPr id="6424" name="Google Shape;6424;g3e66b89e5f0_0_4225: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25" name="Google Shape;6425;g3e66b89e5f0_0_422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 </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Model Runtime runs, serves, and scales models by creating dedicated Model Endpoints for both completions and embeddings models.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Let's drill down on a key service: Model Runtime. Its primary purpose is to run, serve, and scale models. The Model Runtime service consumes validated models pulled from our Harbor Model Gallery, which functions as a secure, central repository for models that have been internally tested and approved.</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The service takes these models and deploys them behind a Model Endpoint. This endpoint abstracts away complexity for the developers, providing a stable access point for calling the model. It supports inference using popular servers like vLLM, Llama.cpp, and Infinity, and the endpoints serve both Completions and Embeddings models.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For optimal performance, scalability, and isolation, the Model Runtime deploys the model as Kubernetes pods. Critically, each model endpoint is deployed in a VKS cluster on its own separate node pool. This distinct deployment ensures predictable scaling and efficient resource utilization for the specific model being served.</a:t>
            </a:r>
            <a:endParaRPr>
              <a:solidFill>
                <a:schemeClr val="dk1"/>
              </a:solidFill>
            </a:endParaRPr>
          </a:p>
          <a:p>
            <a:pPr marL="0" lvl="0" indent="0" algn="l" rtl="0">
              <a:lnSpc>
                <a:spcPct val="80000"/>
              </a:lnSpc>
              <a:spcBef>
                <a:spcPts val="0"/>
              </a:spcBef>
              <a:spcAft>
                <a:spcPts val="0"/>
              </a:spcAft>
              <a:buNone/>
            </a:pPr>
            <a:endParaRPr sz="1020" b="1"/>
          </a:p>
        </p:txBody>
      </p:sp>
      <p:sp>
        <p:nvSpPr>
          <p:cNvPr id="6426" name="Google Shape;6426;g3e66b89e5f0_0_422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127</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52"/>
        <p:cNvGrpSpPr/>
        <p:nvPr/>
      </p:nvGrpSpPr>
      <p:grpSpPr>
        <a:xfrm>
          <a:off x="0" y="0"/>
          <a:ext cx="0" cy="0"/>
          <a:chOff x="0" y="0"/>
          <a:chExt cx="0" cy="0"/>
        </a:xfrm>
      </p:grpSpPr>
      <p:sp>
        <p:nvSpPr>
          <p:cNvPr id="6453" name="Google Shape;6453;g3d9c1c9105f_0_3509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54" name="Google Shape;6454;g3d9c1c9105f_0_35093: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Data Indexing and Retrieval unlocks the full value of internal documents by creating indexed Knowledge Bases from diverse sources in a vector database.</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Moving to data, the Data Indexing and Retrieval service is how we Unlock the full value of your internal documents.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This diagram shows the full process of data indexing and placement into a vector database. The retrieval of that data is facilitated by the indexing process.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 list of the supported data sources is given on the left hand side – these are - Sharepoint directories, Confluence pages, Google Workspace, and S3-compatible object stores. Each of these can be referenced as a “data source”. Any files within the named directories are then considered to be data stores for use in embeddings created and indexing.</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The next step is the creation of a Knowledge Base. A Knowledge Base is a collection of data sources that is capable of being indexed. What is meant by indexing in this context is the application of a chosen Embeddings model to that data, to chunk it into pieces, create embeddings from it and then apply the result to a vector database with indexing metadata.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This is to enable a subsequent query to be executed against this data. The vector database supported is the PostgreSQL database with the pgVector extension added to it.</a:t>
            </a:r>
            <a:endParaRPr>
              <a:solidFill>
                <a:schemeClr val="dk1"/>
              </a:solidFill>
            </a:endParaRPr>
          </a:p>
          <a:p>
            <a:pPr marL="0" marR="0" lvl="0" indent="0" algn="l" rtl="0">
              <a:lnSpc>
                <a:spcPct val="100000"/>
              </a:lnSpc>
              <a:spcBef>
                <a:spcPts val="0"/>
              </a:spcBef>
              <a:spcAft>
                <a:spcPts val="0"/>
              </a:spcAft>
              <a:buClr>
                <a:schemeClr val="dk1"/>
              </a:buClr>
              <a:buSzPts val="1800"/>
              <a:buFont typeface="Calibri"/>
              <a:buNone/>
            </a:pPr>
            <a:endParaRPr sz="1200">
              <a:solidFill>
                <a:srgbClr val="717074"/>
              </a:solidFill>
            </a:endParaRPr>
          </a:p>
        </p:txBody>
      </p:sp>
      <p:sp>
        <p:nvSpPr>
          <p:cNvPr id="6455" name="Google Shape;6455;g3d9c1c9105f_0_35093: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128</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64"/>
        <p:cNvGrpSpPr/>
        <p:nvPr/>
      </p:nvGrpSpPr>
      <p:grpSpPr>
        <a:xfrm>
          <a:off x="0" y="0"/>
          <a:ext cx="0" cy="0"/>
          <a:chOff x="0" y="0"/>
          <a:chExt cx="0" cy="0"/>
        </a:xfrm>
      </p:grpSpPr>
      <p:sp>
        <p:nvSpPr>
          <p:cNvPr id="6465" name="Google Shape;6465;g3e66b89e5f0_0_4163: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66" name="Google Shape;6466;g3e66b89e5f0_0_4163: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includes components for data scientists to quickly provision vector databases for training LLMs using VMware Data Services Manager.  These databases can be used to store and query text documents and other data sources for Retrieval Augmented Generation (or RAG).</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One of the key components of our RAG architecture is the vector database. The vector database augments the model by providing content from previously loaded business documents that are relevant to the user’s current question that had been asked of the model. This capability in VCF is powered by DSM.</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DSM allows VCF Admins to quickly provision a PostgreSQL relational database with the pgvector extension. The critical component here is the pgvector extension. This extension transforms the relational database into a highly efficient vector database, capable of storing and querying those semantic relationships.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 vector database supports fast querying and real-time updates for document content. Thus, by using Retrieval Augmented Generation, the vector database augments the LLMs with real-time, up-to-date content from your private business documents, ensuring your chatbots provide relevant and highly accurate answers. This is why RAG is the easiest and most popular path for enterprises to start their GenAI journey.</a:t>
            </a:r>
            <a:endParaRPr>
              <a:solidFill>
                <a:schemeClr val="dk1"/>
              </a:solidFill>
            </a:endParaRPr>
          </a:p>
          <a:p>
            <a:pPr marL="0" lvl="0" indent="0" algn="l" rtl="0">
              <a:lnSpc>
                <a:spcPct val="80000"/>
              </a:lnSpc>
              <a:spcBef>
                <a:spcPts val="0"/>
              </a:spcBef>
              <a:spcAft>
                <a:spcPts val="0"/>
              </a:spcAft>
              <a:buNone/>
            </a:pPr>
            <a:endParaRPr sz="840" b="1">
              <a:solidFill>
                <a:srgbClr val="E8EAED"/>
              </a:solidFill>
            </a:endParaRPr>
          </a:p>
        </p:txBody>
      </p:sp>
      <p:sp>
        <p:nvSpPr>
          <p:cNvPr id="6467" name="Google Shape;6467;g3e66b89e5f0_0_4163: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129</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27"/>
        <p:cNvGrpSpPr/>
        <p:nvPr/>
      </p:nvGrpSpPr>
      <p:grpSpPr>
        <a:xfrm>
          <a:off x="0" y="0"/>
          <a:ext cx="0" cy="0"/>
          <a:chOff x="0" y="0"/>
          <a:chExt cx="0" cy="0"/>
        </a:xfrm>
      </p:grpSpPr>
      <p:sp>
        <p:nvSpPr>
          <p:cNvPr id="6528" name="Google Shape;6528;g3d9c1c9105f_0_360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9" name="Google Shape;6529;g3d9c1c9105f_0_360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Retrieval Augmented Generation (RAG) agents are deployed via the Agent Builder Service, which orchestrates Model Endpoints and Knowledge Bases to connect LLMs with internal data for accurate, context-rich responses.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None/>
            </a:pPr>
            <a:r>
              <a:rPr lang="en">
                <a:solidFill>
                  <a:srgbClr val="1F1F1F"/>
                </a:solidFill>
                <a:latin typeface="Roboto"/>
                <a:ea typeface="Roboto"/>
                <a:cs typeface="Roboto"/>
                <a:sym typeface="Roboto"/>
              </a:rPr>
              <a:t>This brings us to the final piece of the RAG pipeline: the Agent Builder Service. This service abstracts the complexity of constructing RAG pipelines and empowers developers to orchestrate the pieces we just discussed—the Model Endpoint and the Knowledge Base—to Deploy AI Agents.</a:t>
            </a:r>
            <a:endParaRPr>
              <a:solidFill>
                <a:srgbClr val="1F1F1F"/>
              </a:solidFill>
              <a:latin typeface="Roboto"/>
              <a:ea typeface="Roboto"/>
              <a:cs typeface="Roboto"/>
              <a:sym typeface="Roboto"/>
            </a:endParaRPr>
          </a:p>
          <a:p>
            <a:pPr marL="0" lvl="0" indent="0" algn="l" rtl="0">
              <a:lnSpc>
                <a:spcPct val="115000"/>
              </a:lnSpc>
              <a:spcBef>
                <a:spcPts val="0"/>
              </a:spcBef>
              <a:spcAft>
                <a:spcPts val="0"/>
              </a:spcAft>
              <a:buNone/>
            </a:pPr>
            <a:endParaRPr>
              <a:solidFill>
                <a:srgbClr val="1F1F1F"/>
              </a:solidFill>
              <a:latin typeface="Roboto"/>
              <a:ea typeface="Roboto"/>
              <a:cs typeface="Roboto"/>
              <a:sym typeface="Roboto"/>
            </a:endParaRPr>
          </a:p>
          <a:p>
            <a:pPr marL="0" lvl="0" indent="0" algn="l" rtl="0">
              <a:lnSpc>
                <a:spcPct val="115000"/>
              </a:lnSpc>
              <a:spcBef>
                <a:spcPts val="0"/>
              </a:spcBef>
              <a:spcAft>
                <a:spcPts val="0"/>
              </a:spcAft>
              <a:buNone/>
            </a:pPr>
            <a:r>
              <a:rPr lang="en">
                <a:solidFill>
                  <a:srgbClr val="1F1F1F"/>
                </a:solidFill>
                <a:latin typeface="Roboto"/>
                <a:ea typeface="Roboto"/>
                <a:cs typeface="Roboto"/>
                <a:sym typeface="Roboto"/>
              </a:rPr>
              <a:t>The Agent Builder allows developers to build, test, iterate, and serve AI Agents. Within the service, you can configure the agent by selecting a running model endpoint, choosing a knowledge base, and specifying instructions, which act as a system prompt to guide the AI. Developers can rapidly test, iterate, and deploy these agents.</a:t>
            </a:r>
            <a:endParaRPr>
              <a:solidFill>
                <a:srgbClr val="1F1F1F"/>
              </a:solidFill>
              <a:latin typeface="Roboto"/>
              <a:ea typeface="Roboto"/>
              <a:cs typeface="Roboto"/>
              <a:sym typeface="Roboto"/>
            </a:endParaRPr>
          </a:p>
          <a:p>
            <a:pPr marL="0" lvl="0" indent="0" algn="l" rtl="0">
              <a:lnSpc>
                <a:spcPct val="115000"/>
              </a:lnSpc>
              <a:spcBef>
                <a:spcPts val="0"/>
              </a:spcBef>
              <a:spcAft>
                <a:spcPts val="0"/>
              </a:spcAft>
              <a:buNone/>
            </a:pPr>
            <a:endParaRPr>
              <a:solidFill>
                <a:srgbClr val="1F1F1F"/>
              </a:solidFill>
              <a:latin typeface="Roboto"/>
              <a:ea typeface="Roboto"/>
              <a:cs typeface="Roboto"/>
              <a:sym typeface="Roboto"/>
            </a:endParaRPr>
          </a:p>
          <a:p>
            <a:pPr marL="0" lvl="0" indent="0" algn="l" rtl="0">
              <a:lnSpc>
                <a:spcPct val="115000"/>
              </a:lnSpc>
              <a:spcBef>
                <a:spcPts val="0"/>
              </a:spcBef>
              <a:spcAft>
                <a:spcPts val="0"/>
              </a:spcAft>
              <a:buNone/>
            </a:pPr>
            <a:r>
              <a:rPr lang="en">
                <a:solidFill>
                  <a:srgbClr val="1F1F1F"/>
                </a:solidFill>
                <a:latin typeface="Roboto"/>
                <a:ea typeface="Roboto"/>
                <a:cs typeface="Roboto"/>
                <a:sym typeface="Roboto"/>
              </a:rPr>
              <a:t>The resulting Agent utilizes RAG. RAG combines a large language model with a retrieval system to fetch real-time, relevant information. By connecting the LLM to your internal data, this process dramatically enhances the accuracy and context of every generated response.</a:t>
            </a:r>
            <a:r>
              <a:rPr lang="en">
                <a:solidFill>
                  <a:schemeClr val="dk1"/>
                </a:solidFill>
              </a:rPr>
              <a:t> </a:t>
            </a:r>
            <a:endParaRPr>
              <a:solidFill>
                <a:schemeClr val="dk1"/>
              </a:solidFill>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36"/>
        <p:cNvGrpSpPr/>
        <p:nvPr/>
      </p:nvGrpSpPr>
      <p:grpSpPr>
        <a:xfrm>
          <a:off x="0" y="0"/>
          <a:ext cx="0" cy="0"/>
          <a:chOff x="0" y="0"/>
          <a:chExt cx="0" cy="0"/>
        </a:xfrm>
      </p:grpSpPr>
      <p:sp>
        <p:nvSpPr>
          <p:cNvPr id="6537" name="Google Shape;6537;g3d9c1c9105f_0_39410: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38" name="Google Shape;6538;g3d9c1c9105f_0_39410: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VCF's high-granularity GPU and Model Observability delivers real-time metrics to infrastructure operators and MLOps engineers, ensuring resource optimization and informed scaling decisions.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As you scale your AI environment, monitoring and observability becomes crucial. VCF provides administrators the ability to drill into detailed, real-time stats at a high granularity. Infrastructure operators can monitor real-time stats of the GPU and MLOps engineers can gain critical insights into the model consumption.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You can monitor GPU Utilization, Memory Usage, GPU Temperature, and many more metrics critical for GPU monitoring in the GPU Overview dashboard. These are available per-GPU and per-process, even for passthrough connections. This allows operators to reduce mean time to repair in case of issues and take informed decisions for resource optimization.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For the MLOps Engineers, we offer the AI Metrics Observability Dashboard. This provides granular insights into model performance, exposing metrics like Time to First Token and Token Throughput, which are essential for identifying bottlenecks and ensuring optimal application performance. This deep visibility allows MLOps Engineers to understand which models are being heavily used, which directly informs scaling decisions and helps optimize TCO.</a:t>
            </a:r>
            <a:endParaRPr>
              <a:solidFill>
                <a:schemeClr val="dk1"/>
              </a:solidFill>
            </a:endParaRPr>
          </a:p>
          <a:p>
            <a:pPr marL="0" marR="0" lvl="0" indent="0" algn="l" rtl="0">
              <a:lnSpc>
                <a:spcPct val="100000"/>
              </a:lnSpc>
              <a:spcBef>
                <a:spcPts val="0"/>
              </a:spcBef>
              <a:spcAft>
                <a:spcPts val="0"/>
              </a:spcAft>
              <a:buClr>
                <a:srgbClr val="000000"/>
              </a:buClr>
              <a:buSzPts val="1400"/>
              <a:buFont typeface="Arial"/>
              <a:buNone/>
            </a:pPr>
            <a:endParaRPr/>
          </a:p>
        </p:txBody>
      </p:sp>
      <p:sp>
        <p:nvSpPr>
          <p:cNvPr id="6539" name="Google Shape;6539;g3d9c1c9105f_0_39410: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131</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50"/>
        <p:cNvGrpSpPr/>
        <p:nvPr/>
      </p:nvGrpSpPr>
      <p:grpSpPr>
        <a:xfrm>
          <a:off x="0" y="0"/>
          <a:ext cx="0" cy="0"/>
          <a:chOff x="0" y="0"/>
          <a:chExt cx="0" cy="0"/>
        </a:xfrm>
      </p:grpSpPr>
      <p:sp>
        <p:nvSpPr>
          <p:cNvPr id="6551" name="Google Shape;6551;g3e66b89e5f0_0_4237:notes"/>
          <p:cNvSpPr>
            <a:spLocks noGrp="1" noRot="1" noChangeAspect="1"/>
          </p:cNvSpPr>
          <p:nvPr>
            <p:ph type="sldImg" idx="2"/>
          </p:nvPr>
        </p:nvSpPr>
        <p:spPr>
          <a:xfrm>
            <a:off x="788988" y="609600"/>
            <a:ext cx="5281612"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52" name="Google Shape;6552;g3e66b89e5f0_0_4237: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Key Message:</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leverages these core strengths of VCF to deliver a unified, secure, and highly performant platform to accelerate your GenAI journey.</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sz="1200" b="1">
                <a:solidFill>
                  <a:schemeClr val="dk1"/>
                </a:solidFill>
              </a:rPr>
              <a:t>Talk Track:</a:t>
            </a:r>
            <a:endParaRPr sz="1200" b="1">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In closing, we return to the basics: VMware Cloud Foundation is a proven platform for AI in production. It delivers the necessary characteristics for a successful, modern AI strategy.</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First, Agility. VCF eliminates bare-metal silos and allows infrastructure admins to reconfigure and re-allocate shared GPU resources in minutes.</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Second, Scale. We provide the capability to right-size compute to match demand, provision new resources quickly, and use VCF Operations to ensure optimized utilization for a low TCO.</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Third, Enhanced Lifecycle Management. VCF streamlines maintenance, patching, and upgrades, increasing reliability and saving your team's valuable time. Deploying a RAG agent through the self-service capabilities of VCF Private AI Services provides a seamless on-ramp to GenAI adoption.</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Finally, and most critically, Privacy and Security. With features like Secure Boot and VM Encryption built into the stack, VCF ensures you maintain full control over your infrastructure, protecting all sensitive information and intellectual property.</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VCF Private AI Services leverages these core strengths of VCF to deliver a unified, secure, and highly performant platform to accelerate your GenAI journey.</a:t>
            </a:r>
            <a:endParaRPr/>
          </a:p>
        </p:txBody>
      </p:sp>
      <p:sp>
        <p:nvSpPr>
          <p:cNvPr id="6553" name="Google Shape;6553;g3e66b89e5f0_0_4237: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132</a:t>
            </a:fld>
            <a:endParaRPr kumimoji="0" sz="1200" b="0" i="0" u="none" strike="noStrike" kern="0" cap="none" spc="0" normalizeH="0" baseline="0" noProof="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52"/>
        <p:cNvGrpSpPr/>
        <p:nvPr/>
      </p:nvGrpSpPr>
      <p:grpSpPr>
        <a:xfrm>
          <a:off x="0" y="0"/>
          <a:ext cx="0" cy="0"/>
          <a:chOff x="0" y="0"/>
          <a:chExt cx="0" cy="0"/>
        </a:xfrm>
      </p:grpSpPr>
      <p:sp>
        <p:nvSpPr>
          <p:cNvPr id="17153" name="Google Shape;17153;p135: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7154" name="Google Shape;17154;p13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None/>
            </a:pPr>
            <a:endParaRPr dirty="0"/>
          </a:p>
        </p:txBody>
      </p:sp>
      <p:sp>
        <p:nvSpPr>
          <p:cNvPr id="17155" name="Google Shape;17155;p13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sz="1200" b="0" i="0" u="none" strike="noStrike" kern="1200" cap="none" spc="0" normalizeH="0" baseline="0" noProof="0">
              <a:ln>
                <a:noFill/>
              </a:ln>
              <a:solidFill>
                <a:srgbClr val="717074"/>
              </a:solidFill>
              <a:effectLst/>
              <a:uLnTx/>
              <a:uFillTx/>
              <a:latin typeface="Arial"/>
              <a:ea typeface="+mn-ea"/>
              <a:cs typeface="+mn-cs"/>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VMware Cloud Foundation, at its core, is about resilience. And that resilience can be seen as layers, providing what is known as defense-in-depth. Hardening inside the base platform itself is the start, with layers of protections inside ESX and vCenter, proven isolation between workloads, mandatory access control, and EDR, among other things. We can use zero-downtime patching techniques to keep both workloads and infrastructure operational while it is updated, helping respond to the rapidly changing security threats brought by AI. And we can continuously monitor for changes, alerting and logging so that threats are seen quickly.</a:t>
            </a:r>
          </a:p>
          <a:p>
            <a:endParaRPr lang="en-US"/>
          </a:p>
          <a:p>
            <a:r>
              <a:rPr lang="en-US"/>
              <a:t>We go out a notch and we have vDefend, which is the premier way to secure virtual workloads. There is nothing that comes close to the protections, visibility, and just the ability to detect and contain problems. Great threat intelligence, and very flexible, so that it’s easy to be very secure but then also adapt when new workloads or change occurs.</a:t>
            </a:r>
          </a:p>
          <a:p>
            <a:endParaRPr lang="en-US"/>
          </a:p>
          <a:p>
            <a:r>
              <a:rPr lang="en-US"/>
              <a:t>On top of that we have cyber recovery, tools that help if something bad does happen. And while it’s designed for helping with breaches, it can also be used for more tactical things, too, like a failed application upgrade or even just a monthly guest OS patch gone sideways.</a:t>
            </a:r>
          </a:p>
          <a:p>
            <a:endParaRPr lang="en-US"/>
          </a:p>
          <a:p>
            <a:r>
              <a:rPr lang="en-US"/>
              <a:t>
[PLANKERS:48ee41db-8483-4e91-9f04-5a44338b25ed:2026043003]</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25137137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0C896B-0342-D8FE-24EF-B086331DF4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9021236-69D9-F681-9AA9-9567B6A32E9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FF8719-7585-F12C-B01B-9963F7CDE36C}"/>
              </a:ext>
            </a:extLst>
          </p:cNvPr>
          <p:cNvSpPr>
            <a:spLocks noGrp="1"/>
          </p:cNvSpPr>
          <p:nvPr>
            <p:ph type="body" idx="1"/>
          </p:nvPr>
        </p:nvSpPr>
        <p:spPr/>
        <p:txBody>
          <a:bodyPr>
            <a:normAutofit/>
          </a:bodyPr>
          <a:lstStyle/>
          <a:p>
            <a:pPr algn="l"/>
            <a:r>
              <a:rPr lang="en-US" b="0" i="0">
                <a:solidFill>
                  <a:srgbClr val="1F1F1F"/>
                </a:solidFill>
                <a:effectLst/>
                <a:latin typeface="Arial" pitchFamily="2" charset="0"/>
              </a:rPr>
              <a:t>We have put a lot of work into making VCF able to federate with modern identity providers, to gain the rich protections they offer. Flexible deployment models, automatic configuration, and the ability to talk to any provider you want is very helpful.</a:t>
            </a:r>
          </a:p>
          <a:p>
            <a:pPr algn="l"/>
            <a:endParaRPr lang="en-US" b="0" i="0">
              <a:solidFill>
                <a:srgbClr val="1F1F1F"/>
              </a:solidFill>
              <a:effectLst/>
              <a:latin typeface="Arial" pitchFamily="2" charset="0"/>
            </a:endParaRPr>
          </a:p>
          <a:p>
            <a:pPr algn="l"/>
            <a:r>
              <a:rPr lang="en-US" b="0" i="0">
                <a:solidFill>
                  <a:srgbClr val="1F1F1F"/>
                </a:solidFill>
                <a:effectLst/>
                <a:latin typeface="Arial" pitchFamily="2" charset="0"/>
              </a:rPr>
              <a:t>The VCF Identity Broker, or VIDB, is the centerpiece of it all, and replaces the old VIDM as the single broker that all components talk to. It is also now the authoritative source for identity configuration, so if there’s ever a disagreement inside VCF about authentication configurations the VIDB wins. This also means that if the VIDB is reverted to an older configuration, from a backup or snapshot, that older configuration will be the running one. That’s intentional, so that you get a working system back if there’s a problem.</a:t>
            </a:r>
          </a:p>
          <a:p>
            <a:pPr algn="l"/>
            <a:endParaRPr lang="en-US" b="0" i="0">
              <a:solidFill>
                <a:srgbClr val="1F1F1F"/>
              </a:solidFill>
              <a:effectLst/>
              <a:latin typeface="Arial" pitchFamily="2" charset="0"/>
            </a:endParaRPr>
          </a:p>
          <a:p>
            <a:pPr algn="l"/>
            <a:r>
              <a:rPr lang="en-US" b="0" i="0">
                <a:solidFill>
                  <a:srgbClr val="1F1F1F"/>
                </a:solidFill>
                <a:effectLst/>
                <a:latin typeface="Arial" pitchFamily="2" charset="0"/>
              </a:rPr>
              <a:t>There are also new mechanisms to help validate IDP configurations without accidentally causing lockouts, and an API-driven method to force-delete the SSO configurations if everything is going wrong.
[PLANKERS:363bb6a9-faa1-417e-9b4a-9d6cbb21544c:2026043002]</a:t>
            </a:r>
            <a:endParaRPr lang="en-US" b="0" i="0" dirty="0">
              <a:solidFill>
                <a:srgbClr val="1F1F1F"/>
              </a:solidFill>
              <a:effectLst/>
              <a:latin typeface="Arial" pitchFamily="2" charset="0"/>
            </a:endParaRPr>
          </a:p>
        </p:txBody>
      </p:sp>
      <p:sp>
        <p:nvSpPr>
          <p:cNvPr id="4" name="Slide Number Placeholder 3">
            <a:extLst>
              <a:ext uri="{FF2B5EF4-FFF2-40B4-BE49-F238E27FC236}">
                <a16:creationId xmlns:a16="http://schemas.microsoft.com/office/drawing/2014/main" id="{DBC4176F-9F91-1978-A4DD-7BAC34A98B60}"/>
              </a:ext>
            </a:extLst>
          </p:cNvPr>
          <p:cNvSpPr>
            <a:spLocks noGrp="1"/>
          </p:cNvSpPr>
          <p:nvPr>
            <p:ph type="sldNum" sz="quarter" idx="5"/>
          </p:nvPr>
        </p:nvSpPr>
        <p:spPr/>
        <p:txBody>
          <a:bodyPr/>
          <a:lstStyle/>
          <a:p>
            <a:pPr marL="0" marR="0" lvl="0" indent="0" algn="r" defTabSz="966612"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a:ln>
                  <a:noFill/>
                </a:ln>
                <a:solidFill>
                  <a:srgbClr val="717074"/>
                </a:solidFill>
                <a:effectLst/>
                <a:uLnTx/>
                <a:uFillTx/>
                <a:latin typeface="Arial" pitchFamily="2" charset="0"/>
                <a:ea typeface="+mn-ea"/>
                <a:cs typeface="+mn-cs"/>
              </a:rPr>
              <a:pPr marL="0" marR="0" lvl="0" indent="0" algn="r" defTabSz="966612"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srgbClr val="717074"/>
              </a:solidFill>
              <a:effectLst/>
              <a:uLnTx/>
              <a:uFillTx/>
              <a:latin typeface="Arial" pitchFamily="2" charset="0"/>
              <a:ea typeface="+mn-ea"/>
              <a:cs typeface="+mn-cs"/>
            </a:endParaRPr>
          </a:p>
        </p:txBody>
      </p:sp>
    </p:spTree>
    <p:extLst>
      <p:ext uri="{BB962C8B-B14F-4D97-AF65-F5344CB8AC3E}">
        <p14:creationId xmlns:p14="http://schemas.microsoft.com/office/powerpoint/2010/main" val="293867203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330A1F-FD51-2E8B-B77D-A921B2AF13D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C6BD45-AF37-C580-1823-78B7E57CE69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39381F-718E-BD59-8769-390342883016}"/>
              </a:ext>
            </a:extLst>
          </p:cNvPr>
          <p:cNvSpPr>
            <a:spLocks noGrp="1"/>
          </p:cNvSpPr>
          <p:nvPr>
            <p:ph type="body" idx="1"/>
          </p:nvPr>
        </p:nvSpPr>
        <p:spPr/>
        <p:txBody>
          <a:bodyPr>
            <a:normAutofit/>
          </a:bodyPr>
          <a:lstStyle/>
          <a:p>
            <a:pPr>
              <a:lnSpc>
                <a:spcPct val="100000"/>
              </a:lnSpc>
            </a:pPr>
            <a:r>
              <a:rPr lang="en-US" sz="1200">
                <a:solidFill>
                  <a:schemeClr val="tx1"/>
                </a:solidFill>
                <a:effectLst/>
              </a:rPr>
              <a:t>VCF Operations helps immensely with the ongoing monitoring. For example, security dashboards. You find out right away when something changes.
[PLANKERS:bef17f76-f128-4246-982b-c73d327b5005:2026043002]</a:t>
            </a:r>
            <a:endParaRPr lang="en-AU" sz="1200" dirty="0">
              <a:solidFill>
                <a:schemeClr val="tx1"/>
              </a:solidFill>
              <a:effectLst/>
            </a:endParaRPr>
          </a:p>
        </p:txBody>
      </p:sp>
      <p:sp>
        <p:nvSpPr>
          <p:cNvPr id="4" name="Slide Number Placeholder 3">
            <a:extLst>
              <a:ext uri="{FF2B5EF4-FFF2-40B4-BE49-F238E27FC236}">
                <a16:creationId xmlns:a16="http://schemas.microsoft.com/office/drawing/2014/main" id="{2FD95115-068B-BEB8-2A3B-7CD9EEB74AC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01110078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Another feature in the Advanced Cyber Compliance toolkit is Continuous Compliance Enforcement, or security posture management. You don’t have to make assumptions about how your environment is configured, you have up-to-the-minute data about it. Zero trust, right? And if something changes you get an alert, and can use the audit trail to drill down into what changed, and who changed it. Was it malicious, or a misguided admin? Either way, you saw it early.</a:t>
            </a:r>
          </a:p>
          <a:p>
            <a:endParaRPr lang="en-US" dirty="0"/>
          </a:p>
          <a:p>
            <a:r>
              <a:rPr lang="en-US" dirty="0"/>
              <a:t>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17581743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2237D3-B129-E907-8848-EA49FE4A91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AA12A8-179D-3A0A-33E9-4D0E66EA7F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41AD90-0779-4BD9-7DAC-28B214F9FD11}"/>
              </a:ext>
            </a:extLst>
          </p:cNvPr>
          <p:cNvSpPr>
            <a:spLocks noGrp="1"/>
          </p:cNvSpPr>
          <p:nvPr>
            <p:ph type="body" idx="1"/>
          </p:nvPr>
        </p:nvSpPr>
        <p:spPr/>
        <p:txBody>
          <a:bodyPr>
            <a:normAutofit fontScale="92500"/>
          </a:bodyPr>
          <a:lstStyle/>
          <a:p>
            <a:pPr>
              <a:buNone/>
            </a:pPr>
            <a:r>
              <a:rPr lang="en-US" sz="1200">
                <a:effectLst/>
                <a:latin typeface="Arial" pitchFamily="2" charset="0"/>
              </a:rPr>
              <a:t>Confidential computing technologies such as Intel TDX and AMD SEV-SNP use hardware encryption to make VM memory unreadable even to the hypervisor, so that a successful escape from the VM layer does not automatically yield access to the guest's data. </a:t>
            </a:r>
          </a:p>
          <a:p>
            <a:pPr>
              <a:buNone/>
            </a:pPr>
            <a:endParaRPr lang="en-US" sz="1200">
              <a:effectLst/>
              <a:latin typeface="Arial" pitchFamily="2" charset="0"/>
            </a:endParaRPr>
          </a:p>
          <a:p>
            <a:pPr>
              <a:buNone/>
            </a:pPr>
            <a:r>
              <a:rPr lang="en-US" sz="1200">
                <a:effectLst/>
                <a:latin typeface="Arial" pitchFamily="2" charset="0"/>
              </a:rPr>
              <a:t>You’ve heard a lot about this sort of thing in the public cloud space, and it’s really important there, because there’s no trust. Beyond a compliance whitepaper from two years ago you really don’t know the remediation state of the hosts in the cloud, nor do you know your neighbors are, and whether they’re evil or not. </a:t>
            </a:r>
          </a:p>
          <a:p>
            <a:pPr>
              <a:buNone/>
            </a:pPr>
            <a:endParaRPr lang="en-US" sz="1200">
              <a:effectLst/>
              <a:latin typeface="Arial" pitchFamily="2" charset="0"/>
            </a:endParaRPr>
          </a:p>
          <a:p>
            <a:pPr>
              <a:buNone/>
            </a:pPr>
            <a:r>
              <a:rPr lang="en-US" sz="1200">
                <a:effectLst/>
                <a:latin typeface="Arial" pitchFamily="2" charset="0"/>
              </a:rPr>
              <a:t>On-premises, though, is often a little different, in that you can see and monitor and know truths about the whole stack, all the way down to the CPU microcode, and on a continuous basis. But why can’t we have the interesting security things, too? And so we have added them.</a:t>
            </a:r>
          </a:p>
          <a:p>
            <a:pPr>
              <a:buNone/>
            </a:pPr>
            <a:endParaRPr lang="en-US" sz="1200">
              <a:effectLst/>
              <a:latin typeface="Arial" pitchFamily="2" charset="0"/>
            </a:endParaRPr>
          </a:p>
          <a:p>
            <a:pPr>
              <a:buNone/>
            </a:pPr>
            <a:r>
              <a:rPr lang="en-US" sz="1200">
                <a:effectLst/>
                <a:latin typeface="Arial" pitchFamily="2" charset="0"/>
              </a:rPr>
              <a:t>This illustration is about AMD, who actually embedded an ARM Cortex A5 inside their EPYC CPUs as a security processor. Intel TDX does it as a logical function in their chipsets. Either way, when a VM wants to participate, that VM requests support, and a trust boundary is created around the memory for that VM. Data held in memory is encrypted, and only decrypted when the CPU goes to use it. The practical effect is that the contents of a VM's memory are inaccessible to anyone outside that VM, including a person with full administrative access to the host server. An administrator with SSH access to an ESX host, or an attacker who has obtained those credentials, cannot read the memory of a confidential VM because the encryption and decryption happen inside the processor itself and the keys never leave it.</a:t>
            </a:r>
          </a:p>
          <a:p>
            <a:pPr>
              <a:buNone/>
            </a:pPr>
            <a:endParaRPr lang="en-US" sz="1200">
              <a:effectLst/>
              <a:latin typeface="Arial" pitchFamily="2" charset="0"/>
            </a:endParaRPr>
          </a:p>
          <a:p>
            <a:pPr>
              <a:buNone/>
            </a:pPr>
            <a:r>
              <a:rPr lang="en-US" sz="1200">
                <a:effectLst/>
                <a:latin typeface="Arial" pitchFamily="2" charset="0"/>
              </a:rPr>
              <a:t>These technologies can be turned on granularly, VM by VM, so it’s easy to grow into it. It’s also a space that’s very much under development in the industry, which we’ll talk about in a second.</a:t>
            </a:r>
          </a:p>
          <a:p>
            <a:pPr>
              <a:buNone/>
            </a:pPr>
            <a:r>
              <a:rPr lang="en-US" sz="1200">
                <a:effectLst/>
                <a:latin typeface="Arial" pitchFamily="2" charset="0"/>
              </a:rPr>
              <a:t>
[PLANKERS:8d199de2-ef2a-4b0f-95d1-784dbfef5293:2026043002]</a:t>
            </a:r>
            <a:endParaRPr lang="en-US" sz="1200" dirty="0">
              <a:effectLst/>
              <a:latin typeface="Arial" pitchFamily="2" charset="0"/>
            </a:endParaRPr>
          </a:p>
        </p:txBody>
      </p:sp>
      <p:sp>
        <p:nvSpPr>
          <p:cNvPr id="4" name="Slide Number Placeholder 3">
            <a:extLst>
              <a:ext uri="{FF2B5EF4-FFF2-40B4-BE49-F238E27FC236}">
                <a16:creationId xmlns:a16="http://schemas.microsoft.com/office/drawing/2014/main" id="{B8453BD1-3FAB-A891-FFC5-D271B3C4D2F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srgbClr val="717074"/>
              </a:solidFill>
              <a:effectLst/>
              <a:uLnTx/>
              <a:uFillTx/>
              <a:latin typeface="Arial" pitchFamily="2" charset="0"/>
              <a:ea typeface="+mn-ea"/>
              <a:cs typeface="+mn-cs"/>
            </a:endParaRPr>
          </a:p>
        </p:txBody>
      </p:sp>
    </p:spTree>
    <p:extLst>
      <p:ext uri="{BB962C8B-B14F-4D97-AF65-F5344CB8AC3E}">
        <p14:creationId xmlns:p14="http://schemas.microsoft.com/office/powerpoint/2010/main" val="3164519323"/>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a:t>VMware Cloud Foundation has supported earlier generations of this technology for several years; VCF 9.1 continues to mature support for the current-generation implementations, Intel TDX and AMD SEV-SNP, moving them toward general availability. One practical improvement in 9.1 is the re-enablement of Quick Boot on hosts that have confidential computing active: previously, hosts using Intel TDX or AMD SEV-SNP could not take advantage of Quick Boot, the feature that allows ESX to restart without a full hardware initialization cycle and thereby reduces maintenance windows. The 9.1 release resolves the technical conflicts that required that restriction. </a:t>
            </a:r>
          </a:p>
          <a:p>
            <a:endParaRPr lang="en-US"/>
          </a:p>
          <a:p>
            <a:r>
              <a:rPr lang="en-US"/>
              <a:t>On the roadmap are additional capabilities including support for Windows guest operating systems, confidential GPU workloads, and live patching of confidential VMs.</a:t>
            </a:r>
          </a:p>
          <a:p>
            <a:endParaRPr lang="en-US"/>
          </a:p>
          <a:p>
            <a:r>
              <a:rPr lang="en-US"/>
              <a:t>
[PLANKERS:f058e14c-f26c-4939-9aa8-195ca50e9aa9:2026043002]</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srgbClr val="717074"/>
              </a:solidFill>
              <a:effectLst/>
              <a:uLnTx/>
              <a:uFillTx/>
              <a:latin typeface="Arial" pitchFamily="2" charset="0"/>
              <a:ea typeface="+mn-ea"/>
              <a:cs typeface="+mn-cs"/>
            </a:endParaRPr>
          </a:p>
        </p:txBody>
      </p:sp>
    </p:spTree>
    <p:extLst>
      <p:ext uri="{BB962C8B-B14F-4D97-AF65-F5344CB8AC3E}">
        <p14:creationId xmlns:p14="http://schemas.microsoft.com/office/powerpoint/2010/main" val="253577921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87400" y="609600"/>
            <a:ext cx="5283200" cy="29718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Many organizations call this idea “resilience” and we can illustrate that with the NIST Cybersecurity Framework. There are features and capabilities in the products for every stage of cybersecurity. Every type of problem you might encounter has a solution in the VCF stack itself, from vMotion, to snapshots, to replication, workload high availability, and so 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Notes: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Again, not a complete list of features and functionality.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References: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https://brcm.tech/vcf-security, https://sales-resources.broadcom.com/group/vcf/security-compliance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[PLANKERS:b024c6ec-2353-4120-b735-b563ad2d36b0:2026043002]</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39407886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lnSpc>
                <a:spcPct val="80000"/>
              </a:lnSpc>
              <a:spcBef>
                <a:spcPts val="0"/>
              </a:spcBef>
              <a:spcAft>
                <a:spcPts val="0"/>
              </a:spcAft>
              <a:buNone/>
            </a:pPr>
            <a:r>
              <a:rPr lang="en-US" sz="1200" b="0" i="0" u="none" strike="noStrike">
                <a:solidFill>
                  <a:schemeClr val="dk1"/>
                </a:solidFill>
                <a:sym typeface="Arial" pitchFamily="2" charset="0"/>
              </a:rPr>
              <a:t>And please visit our GitHub repository for resources and links on system hardening, ransomware defense, and more.</a:t>
            </a:r>
          </a:p>
          <a:p>
            <a:pPr marL="0" lvl="0" indent="0" algn="l" rtl="0">
              <a:lnSpc>
                <a:spcPct val="80000"/>
              </a:lnSpc>
              <a:spcBef>
                <a:spcPts val="0"/>
              </a:spcBef>
              <a:spcAft>
                <a:spcPts val="0"/>
              </a:spcAft>
              <a:buNone/>
            </a:pPr>
            <a:endParaRPr lang="en-US" sz="1200" b="0" i="0" u="none" strike="noStrike">
              <a:solidFill>
                <a:schemeClr val="dk1"/>
              </a:solidFill>
              <a:sym typeface="Arial" pitchFamily="2" charset="0"/>
            </a:endParaRPr>
          </a:p>
          <a:p>
            <a:pPr marL="0" lvl="0" indent="0" algn="l" rtl="0">
              <a:lnSpc>
                <a:spcPct val="80000"/>
              </a:lnSpc>
              <a:spcBef>
                <a:spcPts val="0"/>
              </a:spcBef>
              <a:spcAft>
                <a:spcPts val="0"/>
              </a:spcAft>
              <a:buNone/>
            </a:pPr>
            <a:r>
              <a:rPr lang="en-US" sz="1200" b="0" i="0" u="none" strike="noStrike">
                <a:solidFill>
                  <a:schemeClr val="dk1"/>
                </a:solidFill>
                <a:sym typeface="Arial" pitchFamily="2" charset="0"/>
              </a:rPr>
              <a:t>
[PLANKERS:28e49869-6e0c-499e-a309-850913d6f1e5:2026043002]</a:t>
            </a:r>
            <a:endParaRPr lang="en-US"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F4FBC3A-A12C-40F9-BB8D-BC30C7901396}" type="slidenum">
              <a:rPr kumimoji="0" lang="en-US" sz="1200" b="0" i="0" u="none" strike="noStrike" kern="1200" cap="none" spc="0" normalizeH="0" baseline="0" noProof="0" smtClean="0">
                <a:ln>
                  <a:noFill/>
                </a:ln>
                <a:solidFill>
                  <a:srgbClr val="71707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srgbClr val="717074"/>
              </a:solidFill>
              <a:effectLst/>
              <a:uLnTx/>
              <a:uFillTx/>
              <a:latin typeface="Arial"/>
              <a:ea typeface="+mn-ea"/>
              <a:cs typeface="+mn-cs"/>
            </a:endParaRPr>
          </a:p>
        </p:txBody>
      </p:sp>
    </p:spTree>
    <p:extLst>
      <p:ext uri="{BB962C8B-B14F-4D97-AF65-F5344CB8AC3E}">
        <p14:creationId xmlns:p14="http://schemas.microsoft.com/office/powerpoint/2010/main" val="59686094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0"/>
        <p:cNvGrpSpPr/>
        <p:nvPr/>
      </p:nvGrpSpPr>
      <p:grpSpPr>
        <a:xfrm>
          <a:off x="0" y="0"/>
          <a:ext cx="0" cy="0"/>
          <a:chOff x="0" y="0"/>
          <a:chExt cx="0" cy="0"/>
        </a:xfrm>
      </p:grpSpPr>
      <p:sp>
        <p:nvSpPr>
          <p:cNvPr id="2941" name="Google Shape;2941;p145: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2942" name="Google Shape;2942;p14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0"/>
              </a:spcAft>
              <a:buSzPts val="1400"/>
              <a:buNone/>
            </a:pPr>
            <a:endParaRPr dirty="0"/>
          </a:p>
        </p:txBody>
      </p:sp>
      <p:sp>
        <p:nvSpPr>
          <p:cNvPr id="2943" name="Google Shape;2943;p14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717074"/>
                </a:buClr>
                <a:buSzPts val="1200"/>
                <a:buFont typeface="Arial"/>
                <a:buNone/>
                <a:tabLst/>
                <a:defRPr/>
              </a:pPr>
              <a:t>142</a:t>
            </a:fld>
            <a:endParaRPr kumimoji="0" sz="1200" b="0" i="0" u="none" strike="noStrike" kern="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7"/>
        <p:cNvGrpSpPr/>
        <p:nvPr/>
      </p:nvGrpSpPr>
      <p:grpSpPr>
        <a:xfrm>
          <a:off x="0" y="0"/>
          <a:ext cx="0" cy="0"/>
          <a:chOff x="0" y="0"/>
          <a:chExt cx="0" cy="0"/>
        </a:xfrm>
      </p:grpSpPr>
      <p:sp>
        <p:nvSpPr>
          <p:cNvPr id="2948" name="Google Shape;2948;p146:notes"/>
          <p:cNvSpPr>
            <a:spLocks noGrp="1" noRot="1" noChangeAspect="1"/>
          </p:cNvSpPr>
          <p:nvPr>
            <p:ph type="sldImg" idx="2"/>
          </p:nvPr>
        </p:nvSpPr>
        <p:spPr>
          <a:xfrm>
            <a:off x="735013" y="1169988"/>
            <a:ext cx="5614987" cy="315912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2949" name="Google Shape;2949;p146:notes"/>
          <p:cNvSpPr txBox="1">
            <a:spLocks noGrp="1"/>
          </p:cNvSpPr>
          <p:nvPr>
            <p:ph type="body" idx="1"/>
          </p:nvPr>
        </p:nvSpPr>
        <p:spPr>
          <a:xfrm>
            <a:off x="708660" y="4504452"/>
            <a:ext cx="5669400" cy="3685500"/>
          </a:xfrm>
          <a:prstGeom prst="rect">
            <a:avLst/>
          </a:prstGeom>
          <a:noFill/>
          <a:ln>
            <a:noFill/>
          </a:ln>
        </p:spPr>
        <p:txBody>
          <a:bodyPr spcFirstLastPara="1" wrap="square" lIns="94175" tIns="47075" rIns="94175" bIns="47075" anchor="t" anchorCtr="0">
            <a:noAutofit/>
          </a:bodyPr>
          <a:lstStyle/>
          <a:p>
            <a:pPr marL="0" marR="0" lvl="0" indent="0" algn="l" rtl="0">
              <a:lnSpc>
                <a:spcPct val="115000"/>
              </a:lnSpc>
              <a:spcBef>
                <a:spcPts val="1200"/>
              </a:spcBef>
              <a:spcAft>
                <a:spcPts val="0"/>
              </a:spcAft>
              <a:buClr>
                <a:schemeClr val="dk2"/>
              </a:buClr>
              <a:buSzPts val="1100"/>
              <a:buFont typeface="Arial"/>
              <a:buNone/>
            </a:pPr>
            <a:r>
              <a:rPr lang="en-US" b="1" dirty="0"/>
              <a:t>Key Message:</a:t>
            </a:r>
            <a:br>
              <a:rPr lang="en-US" dirty="0"/>
            </a:br>
            <a:r>
              <a:rPr lang="en-US" dirty="0"/>
              <a:t>Introduce VMware Advanced Services (Add-on Licenses)</a:t>
            </a:r>
            <a:br>
              <a:rPr lang="en-US" dirty="0"/>
            </a:br>
            <a:br>
              <a:rPr lang="en-US" dirty="0"/>
            </a:br>
            <a:r>
              <a:rPr lang="en-US" b="1" dirty="0"/>
              <a:t>Talk Track:</a:t>
            </a:r>
            <a:endParaRPr dirty="0"/>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VCF as a private cloud platform can also be deployed with a portfolio of advanced capabilities that help customers support an extended set of use use cases to further drive innovation and improve operational resilience.</a:t>
            </a:r>
            <a:endParaRPr dirty="0"/>
          </a:p>
          <a:p>
            <a:pPr marL="0" lvl="0" indent="0" algn="l" rtl="0">
              <a:lnSpc>
                <a:spcPct val="100000"/>
              </a:lnSpc>
              <a:spcBef>
                <a:spcPts val="0"/>
              </a:spcBef>
              <a:spcAft>
                <a:spcPts val="0"/>
              </a:spcAft>
              <a:buClr>
                <a:srgbClr val="717074"/>
              </a:buClr>
              <a:buSzPts val="1400"/>
              <a:buFont typeface="Arial"/>
              <a:buNone/>
            </a:pPr>
            <a:endParaRPr sz="1200" dirty="0">
              <a:solidFill>
                <a:srgbClr val="717074"/>
              </a:solidFill>
            </a:endParaRPr>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These advanced services are available as add-on licenses and include capabilities such as Private AI which I touched on earlier where customers can securely deploy and scale AI workloads within their private cloud.  Other advanced services are also available, in fact there are several.</a:t>
            </a:r>
            <a:endParaRPr dirty="0"/>
          </a:p>
          <a:p>
            <a:pPr marL="0" lvl="0" indent="0" algn="l" rtl="0">
              <a:lnSpc>
                <a:spcPct val="100000"/>
              </a:lnSpc>
              <a:spcBef>
                <a:spcPts val="0"/>
              </a:spcBef>
              <a:spcAft>
                <a:spcPts val="0"/>
              </a:spcAft>
              <a:buClr>
                <a:srgbClr val="717074"/>
              </a:buClr>
              <a:buSzPts val="1400"/>
              <a:buFont typeface="Arial"/>
              <a:buNone/>
            </a:pPr>
            <a:endParaRPr sz="1200" dirty="0">
              <a:solidFill>
                <a:srgbClr val="717074"/>
              </a:solidFill>
            </a:endParaRPr>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We have DR and Ransomware Recovery, delivering built-in protection and rapid recovery from cyber threats.</a:t>
            </a:r>
            <a:endParaRPr dirty="0"/>
          </a:p>
          <a:p>
            <a:pPr marL="0" lvl="0" indent="0" algn="l" rtl="0">
              <a:lnSpc>
                <a:spcPct val="100000"/>
              </a:lnSpc>
              <a:spcBef>
                <a:spcPts val="0"/>
              </a:spcBef>
              <a:spcAft>
                <a:spcPts val="0"/>
              </a:spcAft>
              <a:buClr>
                <a:srgbClr val="717074"/>
              </a:buClr>
              <a:buSzPts val="1400"/>
              <a:buFont typeface="Arial"/>
              <a:buNone/>
            </a:pPr>
            <a:endParaRPr sz="1200" dirty="0">
              <a:solidFill>
                <a:srgbClr val="717074"/>
              </a:solidFill>
            </a:endParaRPr>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There are is also Advanced Security which strengthens lateral security and zero-trust architectures,</a:t>
            </a:r>
            <a:endParaRPr dirty="0"/>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And then there is Load Balancing and Application Services which ensure better performance and availability for modern applications.</a:t>
            </a:r>
            <a:endParaRPr dirty="0"/>
          </a:p>
          <a:p>
            <a:pPr marL="0" lvl="0" indent="0" algn="l" rtl="0">
              <a:lnSpc>
                <a:spcPct val="100000"/>
              </a:lnSpc>
              <a:spcBef>
                <a:spcPts val="0"/>
              </a:spcBef>
              <a:spcAft>
                <a:spcPts val="0"/>
              </a:spcAft>
              <a:buClr>
                <a:srgbClr val="717074"/>
              </a:buClr>
              <a:buSzPts val="1400"/>
              <a:buFont typeface="Arial"/>
              <a:buNone/>
            </a:pPr>
            <a:endParaRPr sz="1200" dirty="0">
              <a:solidFill>
                <a:srgbClr val="717074"/>
              </a:solidFill>
            </a:endParaRPr>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We also see customers leveraging Data Services to optimize storage for AI, databases, and container workloads</a:t>
            </a:r>
            <a:endParaRPr dirty="0"/>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And we have Network Observability to gain deeper visibility into traffic patterns and performance across the environment.</a:t>
            </a:r>
            <a:endParaRPr dirty="0"/>
          </a:p>
          <a:p>
            <a:pPr marL="0" lvl="0" indent="0" algn="l" rtl="0">
              <a:lnSpc>
                <a:spcPct val="100000"/>
              </a:lnSpc>
              <a:spcBef>
                <a:spcPts val="0"/>
              </a:spcBef>
              <a:spcAft>
                <a:spcPts val="0"/>
              </a:spcAft>
              <a:buClr>
                <a:srgbClr val="717074"/>
              </a:buClr>
              <a:buSzPts val="1400"/>
              <a:buFont typeface="Arial"/>
              <a:buNone/>
            </a:pPr>
            <a:endParaRPr sz="1200" dirty="0">
              <a:solidFill>
                <a:srgbClr val="717074"/>
              </a:solidFill>
            </a:endParaRPr>
          </a:p>
          <a:p>
            <a:pPr marL="0" lvl="0" indent="0" algn="l" rtl="0">
              <a:lnSpc>
                <a:spcPct val="100000"/>
              </a:lnSpc>
              <a:spcBef>
                <a:spcPts val="0"/>
              </a:spcBef>
              <a:spcAft>
                <a:spcPts val="0"/>
              </a:spcAft>
              <a:buClr>
                <a:srgbClr val="717074"/>
              </a:buClr>
              <a:buSzPts val="1400"/>
              <a:buFont typeface="Arial"/>
              <a:buNone/>
            </a:pPr>
            <a:r>
              <a:rPr lang="en-US" sz="1200" dirty="0">
                <a:solidFill>
                  <a:srgbClr val="717074"/>
                </a:solidFill>
              </a:rPr>
              <a:t>Finally, capabilities like Business Operations automation and Secure Access help customers drive efficiency, enforce governance, and improve user access control across the private cloud.</a:t>
            </a:r>
            <a:endParaRPr dirty="0"/>
          </a:p>
          <a:p>
            <a:pPr marL="0" lvl="0" indent="0" algn="l" rtl="0">
              <a:lnSpc>
                <a:spcPct val="115000"/>
              </a:lnSpc>
              <a:spcBef>
                <a:spcPts val="1200"/>
              </a:spcBef>
              <a:spcAft>
                <a:spcPts val="0"/>
              </a:spcAft>
              <a:buClr>
                <a:schemeClr val="dk2"/>
              </a:buClr>
              <a:buSzPts val="1100"/>
              <a:buFont typeface="Arial"/>
              <a:buNone/>
            </a:pPr>
            <a:endParaRPr dirty="0"/>
          </a:p>
          <a:p>
            <a:pPr marL="0" lvl="0" indent="0" algn="l" rtl="0">
              <a:lnSpc>
                <a:spcPct val="115000"/>
              </a:lnSpc>
              <a:spcBef>
                <a:spcPts val="1200"/>
              </a:spcBef>
              <a:spcAft>
                <a:spcPts val="0"/>
              </a:spcAft>
              <a:buClr>
                <a:schemeClr val="dk2"/>
              </a:buClr>
              <a:buSzPts val="1100"/>
              <a:buFont typeface="Arial"/>
              <a:buNone/>
            </a:pPr>
            <a:r>
              <a:rPr lang="en-US" dirty="0"/>
              <a:t>Consumers can access these services through their preferred language, whether it's APIs, CLIs, or infrastructure-as-code, providing a flexible and scalable platform that meets a variety of needs.</a:t>
            </a:r>
            <a:endParaRPr dirty="0"/>
          </a:p>
          <a:p>
            <a:pPr marL="0" lvl="0" indent="0" algn="l" rtl="0">
              <a:lnSpc>
                <a:spcPct val="115000"/>
              </a:lnSpc>
              <a:spcBef>
                <a:spcPts val="1200"/>
              </a:spcBef>
              <a:spcAft>
                <a:spcPts val="0"/>
              </a:spcAft>
              <a:buClr>
                <a:schemeClr val="dk2"/>
              </a:buClr>
              <a:buSzPts val="1100"/>
              <a:buFont typeface="Arial"/>
              <a:buNone/>
            </a:pPr>
            <a:endParaRPr dirty="0"/>
          </a:p>
          <a:p>
            <a:pPr marL="0" lvl="0" indent="0" algn="l" rtl="0">
              <a:lnSpc>
                <a:spcPct val="115000"/>
              </a:lnSpc>
              <a:spcBef>
                <a:spcPts val="1200"/>
              </a:spcBef>
              <a:spcAft>
                <a:spcPts val="0"/>
              </a:spcAft>
              <a:buClr>
                <a:schemeClr val="dk2"/>
              </a:buClr>
              <a:buSzPts val="1000"/>
              <a:buFont typeface="Arial"/>
              <a:buNone/>
            </a:pPr>
            <a:r>
              <a:rPr lang="en-US" b="1" dirty="0"/>
              <a:t>Notes:</a:t>
            </a:r>
            <a:endParaRPr dirty="0"/>
          </a:p>
          <a:p>
            <a:pPr marL="0" lvl="0" indent="0" algn="l" rtl="0">
              <a:lnSpc>
                <a:spcPct val="115000"/>
              </a:lnSpc>
              <a:spcBef>
                <a:spcPts val="1200"/>
              </a:spcBef>
              <a:spcAft>
                <a:spcPts val="0"/>
              </a:spcAft>
              <a:buClr>
                <a:schemeClr val="dk2"/>
              </a:buClr>
              <a:buSzPts val="1000"/>
              <a:buFont typeface="Arial"/>
              <a:buNone/>
            </a:pPr>
            <a:r>
              <a:rPr lang="en-US" sz="1200" dirty="0">
                <a:solidFill>
                  <a:srgbClr val="717074"/>
                </a:solidFill>
              </a:rPr>
              <a:t>VCF Advanced Services require an add-on license.</a:t>
            </a:r>
            <a:br>
              <a:rPr lang="en-US" b="1" dirty="0"/>
            </a:br>
            <a:br>
              <a:rPr lang="en-US" b="1" dirty="0"/>
            </a:br>
            <a:r>
              <a:rPr lang="en-US" b="1" dirty="0"/>
              <a:t>Resources:</a:t>
            </a:r>
            <a:br>
              <a:rPr lang="en-US" b="1" dirty="0"/>
            </a:br>
            <a:endParaRPr b="1" dirty="0"/>
          </a:p>
        </p:txBody>
      </p:sp>
      <p:sp>
        <p:nvSpPr>
          <p:cNvPr id="2950" name="Google Shape;2950;p146:notes"/>
          <p:cNvSpPr txBox="1">
            <a:spLocks noGrp="1"/>
          </p:cNvSpPr>
          <p:nvPr>
            <p:ph type="sldNum" idx="12"/>
          </p:nvPr>
        </p:nvSpPr>
        <p:spPr>
          <a:xfrm>
            <a:off x="4014100" y="8890281"/>
            <a:ext cx="3070800" cy="469500"/>
          </a:xfrm>
          <a:prstGeom prst="rect">
            <a:avLst/>
          </a:prstGeom>
          <a:noFill/>
          <a:ln>
            <a:noFill/>
          </a:ln>
        </p:spPr>
        <p:txBody>
          <a:bodyPr spcFirstLastPara="1" wrap="square" lIns="94175" tIns="47075" rIns="94175" bIns="47075"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300"/>
              <a:buFont typeface="Arial"/>
              <a:buNone/>
              <a:tabLst/>
              <a:defRPr/>
            </a:pPr>
            <a:fld id="{00000000-1234-1234-1234-123412341234}" type="slidenum">
              <a:rPr kumimoji="0" lang="en-US" sz="13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300"/>
                <a:buFont typeface="Arial"/>
                <a:buNone/>
                <a:tabLst/>
                <a:defRPr/>
              </a:pPr>
              <a:t>143</a:t>
            </a:fld>
            <a:endParaRPr kumimoji="0" sz="1300" b="0" i="0" u="none" strike="noStrike" kern="0" cap="none" spc="0" normalizeH="0" baseline="0" noProof="0" dirty="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8"/>
        <p:cNvGrpSpPr/>
        <p:nvPr/>
      </p:nvGrpSpPr>
      <p:grpSpPr>
        <a:xfrm>
          <a:off x="0" y="0"/>
          <a:ext cx="0" cy="0"/>
          <a:chOff x="0" y="0"/>
          <a:chExt cx="0" cy="0"/>
        </a:xfrm>
      </p:grpSpPr>
      <p:sp>
        <p:nvSpPr>
          <p:cNvPr id="3079" name="Google Shape;3079;p147:notes"/>
          <p:cNvSpPr>
            <a:spLocks noGrp="1" noRot="1" noChangeAspect="1"/>
          </p:cNvSpPr>
          <p:nvPr>
            <p:ph type="sldImg" idx="2"/>
          </p:nvPr>
        </p:nvSpPr>
        <p:spPr>
          <a:xfrm>
            <a:off x="736600" y="1169988"/>
            <a:ext cx="5613400" cy="315912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3080" name="Google Shape;3080;p147:notes"/>
          <p:cNvSpPr txBox="1">
            <a:spLocks noGrp="1"/>
          </p:cNvSpPr>
          <p:nvPr>
            <p:ph type="body" idx="1"/>
          </p:nvPr>
        </p:nvSpPr>
        <p:spPr>
          <a:xfrm>
            <a:off x="708660" y="4504452"/>
            <a:ext cx="5669400" cy="3685500"/>
          </a:xfrm>
          <a:prstGeom prst="rect">
            <a:avLst/>
          </a:prstGeom>
          <a:noFill/>
          <a:ln>
            <a:noFill/>
          </a:ln>
        </p:spPr>
        <p:txBody>
          <a:bodyPr spcFirstLastPara="1" wrap="square" lIns="94175" tIns="47075" rIns="94175" bIns="47075" anchor="t" anchorCtr="0">
            <a:noAutofit/>
          </a:bodyPr>
          <a:lstStyle/>
          <a:p>
            <a:pPr marL="0" lvl="0" indent="0" algn="l" rtl="0">
              <a:lnSpc>
                <a:spcPct val="100000"/>
              </a:lnSpc>
              <a:spcBef>
                <a:spcPts val="0"/>
              </a:spcBef>
              <a:spcAft>
                <a:spcPts val="0"/>
              </a:spcAft>
              <a:buClr>
                <a:schemeClr val="dk1"/>
              </a:buClr>
              <a:buSzPts val="1200"/>
              <a:buFont typeface="Helvetica Neue"/>
              <a:buNone/>
            </a:pPr>
            <a:r>
              <a:rPr lang="en-US" b="1" dirty="0">
                <a:latin typeface="Arial"/>
                <a:ea typeface="Arial"/>
                <a:cs typeface="Arial"/>
                <a:sym typeface="Arial"/>
              </a:rPr>
              <a:t>Key Message:</a:t>
            </a:r>
            <a:endParaRPr b="1"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VMware Cloud Foundation offers a comprehensive suite of Advanced Services designed to extend the core capabilities of the platform and address diverse business needs. </a:t>
            </a:r>
            <a:endParaRPr dirty="0"/>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Each service is engineered to integrate seamlessly with VCF, providing organizations with the flexibility to tailor their private cloud environments to specific requirements. </a:t>
            </a:r>
            <a:endParaRPr dirty="0"/>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By leveraging these Advanced Services, customers can enhance security, accelerate innovation, and achieve greater operational efficiency within their private cloud infrastructure.</a:t>
            </a:r>
            <a:endParaRPr dirty="0"/>
          </a:p>
          <a:p>
            <a:pPr marL="0" lvl="0" indent="0" algn="l" rtl="0">
              <a:lnSpc>
                <a:spcPct val="100000"/>
              </a:lnSpc>
              <a:spcBef>
                <a:spcPts val="0"/>
              </a:spcBef>
              <a:spcAft>
                <a:spcPts val="0"/>
              </a:spcAft>
              <a:buClr>
                <a:schemeClr val="dk1"/>
              </a:buClr>
              <a:buSzPts val="1200"/>
              <a:buFont typeface="Arial"/>
              <a:buNone/>
            </a:pPr>
            <a:endParaRPr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b="1" dirty="0">
                <a:latin typeface="Arial"/>
                <a:ea typeface="Arial"/>
                <a:cs typeface="Arial"/>
                <a:sym typeface="Arial"/>
              </a:rPr>
              <a:t>Talk Track:</a:t>
            </a:r>
            <a:endParaRPr b="1"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VMware Cloud Foundation is much more than just infrastructure — it’s also a platform for advanced capabilities that help customers support new use cases, drive innovation, and improve operational resilience.</a:t>
            </a:r>
            <a:endParaRPr dirty="0"/>
          </a:p>
          <a:p>
            <a:pPr marL="0" lvl="0" indent="0" algn="l" rtl="0">
              <a:lnSpc>
                <a:spcPct val="100000"/>
              </a:lnSpc>
              <a:spcBef>
                <a:spcPts val="0"/>
              </a:spcBef>
              <a:spcAft>
                <a:spcPts val="0"/>
              </a:spcAft>
              <a:buClr>
                <a:schemeClr val="dk1"/>
              </a:buClr>
              <a:buSzPts val="1200"/>
              <a:buFont typeface="Arial"/>
              <a:buNone/>
            </a:pPr>
            <a:endParaRPr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These advanced services include areas like Private AI, where customers can securely deploy and scale AI workloads within their private cloud, and DR and Ransomware Recovery, delivering built-in protection and rapid recovery from cyber threats.</a:t>
            </a:r>
            <a:endParaRPr dirty="0"/>
          </a:p>
          <a:p>
            <a:pPr marL="0" lvl="0" indent="0" algn="l" rtl="0">
              <a:lnSpc>
                <a:spcPct val="100000"/>
              </a:lnSpc>
              <a:spcBef>
                <a:spcPts val="0"/>
              </a:spcBef>
              <a:spcAft>
                <a:spcPts val="0"/>
              </a:spcAft>
              <a:buClr>
                <a:schemeClr val="dk1"/>
              </a:buClr>
              <a:buSzPts val="1200"/>
              <a:buFont typeface="Arial"/>
              <a:buNone/>
            </a:pPr>
            <a:endParaRPr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Advanced Security strengthens lateral security and zero-trust architectures, while Load Balancing and Application Services ensure better performance and availability for modern applications.</a:t>
            </a:r>
            <a:endParaRPr dirty="0"/>
          </a:p>
          <a:p>
            <a:pPr marL="0" lvl="0" indent="0" algn="l" rtl="0">
              <a:lnSpc>
                <a:spcPct val="100000"/>
              </a:lnSpc>
              <a:spcBef>
                <a:spcPts val="0"/>
              </a:spcBef>
              <a:spcAft>
                <a:spcPts val="0"/>
              </a:spcAft>
              <a:buClr>
                <a:schemeClr val="dk1"/>
              </a:buClr>
              <a:buSzPts val="1200"/>
              <a:buFont typeface="Arial"/>
              <a:buNone/>
            </a:pPr>
            <a:endParaRPr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We also see customers leveraging Data Services to optimize storage for AI, databases, and container workloads, and Network Observability to gain deeper visibility into traffic patterns and performance across the environment.</a:t>
            </a:r>
            <a:endParaRPr dirty="0"/>
          </a:p>
          <a:p>
            <a:pPr marL="0" lvl="0" indent="0" algn="l" rtl="0">
              <a:lnSpc>
                <a:spcPct val="100000"/>
              </a:lnSpc>
              <a:spcBef>
                <a:spcPts val="0"/>
              </a:spcBef>
              <a:spcAft>
                <a:spcPts val="0"/>
              </a:spcAft>
              <a:buClr>
                <a:schemeClr val="dk1"/>
              </a:buClr>
              <a:buSzPts val="1200"/>
              <a:buFont typeface="Arial"/>
              <a:buNone/>
            </a:pPr>
            <a:endParaRPr dirty="0">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Helvetica Neue"/>
              <a:buNone/>
            </a:pPr>
            <a:r>
              <a:rPr lang="en-US" dirty="0">
                <a:latin typeface="Arial"/>
                <a:ea typeface="Arial"/>
                <a:cs typeface="Arial"/>
                <a:sym typeface="Arial"/>
              </a:rPr>
              <a:t>Finally, capabilities like Business Operations automation and Secure Access help customers drive efficiency, enforce governance, and improve user access control across the private cloud.</a:t>
            </a:r>
            <a:endParaRPr dirty="0"/>
          </a:p>
          <a:p>
            <a:pPr marL="0" lvl="0" indent="0" algn="l" rtl="0">
              <a:lnSpc>
                <a:spcPct val="100000"/>
              </a:lnSpc>
              <a:spcBef>
                <a:spcPts val="0"/>
              </a:spcBef>
              <a:spcAft>
                <a:spcPts val="0"/>
              </a:spcAft>
              <a:buClr>
                <a:schemeClr val="dk1"/>
              </a:buClr>
              <a:buSzPts val="1200"/>
              <a:buFont typeface="Arial"/>
              <a:buNone/>
            </a:pPr>
            <a:endParaRPr dirty="0">
              <a:latin typeface="Arial"/>
              <a:ea typeface="Arial"/>
              <a:cs typeface="Arial"/>
              <a:sym typeface="Arial"/>
            </a:endParaRPr>
          </a:p>
          <a:p>
            <a:pPr marL="0" lvl="0" indent="0" algn="l" rtl="0">
              <a:lnSpc>
                <a:spcPct val="100000"/>
              </a:lnSpc>
              <a:spcBef>
                <a:spcPts val="0"/>
              </a:spcBef>
              <a:spcAft>
                <a:spcPts val="0"/>
              </a:spcAft>
              <a:buSzPts val="1400"/>
              <a:buNone/>
            </a:pPr>
            <a:r>
              <a:rPr lang="en-US" dirty="0">
                <a:latin typeface="Arial"/>
                <a:ea typeface="Arial"/>
                <a:cs typeface="Arial"/>
                <a:sym typeface="Arial"/>
              </a:rPr>
              <a:t>In the next few slides, we’ll walk through each of these categories at a high level so you can see how VCF Advanced Services open up even more value for customers beyond just the core deployment.</a:t>
            </a:r>
            <a:br>
              <a:rPr lang="en-US" dirty="0">
                <a:latin typeface="Arial"/>
                <a:ea typeface="Arial"/>
                <a:cs typeface="Arial"/>
                <a:sym typeface="Arial"/>
              </a:rPr>
            </a:br>
            <a:br>
              <a:rPr lang="en-US" dirty="0">
                <a:latin typeface="Arial"/>
                <a:ea typeface="Arial"/>
                <a:cs typeface="Arial"/>
                <a:sym typeface="Arial"/>
              </a:rPr>
            </a:br>
            <a:r>
              <a:rPr lang="en-US" dirty="0">
                <a:latin typeface="Arial"/>
                <a:ea typeface="Arial"/>
                <a:cs typeface="Arial"/>
                <a:sym typeface="Arial"/>
              </a:rPr>
              <a:t>Notes:</a:t>
            </a:r>
            <a:br>
              <a:rPr lang="en-US" dirty="0">
                <a:latin typeface="Arial"/>
                <a:ea typeface="Arial"/>
                <a:cs typeface="Arial"/>
                <a:sym typeface="Arial"/>
              </a:rPr>
            </a:br>
            <a:r>
              <a:rPr lang="en-US" dirty="0">
                <a:latin typeface="Arial"/>
                <a:ea typeface="Arial"/>
                <a:cs typeface="Arial"/>
                <a:sym typeface="Arial"/>
              </a:rPr>
              <a:t>VCF Advanced Services require an add-on license.</a:t>
            </a:r>
            <a:br>
              <a:rPr lang="en-US" dirty="0">
                <a:latin typeface="Arial"/>
                <a:ea typeface="Arial"/>
                <a:cs typeface="Arial"/>
                <a:sym typeface="Arial"/>
              </a:rPr>
            </a:br>
            <a:br>
              <a:rPr lang="en-US" dirty="0">
                <a:latin typeface="Arial"/>
                <a:ea typeface="Arial"/>
                <a:cs typeface="Arial"/>
                <a:sym typeface="Arial"/>
              </a:rPr>
            </a:br>
            <a:r>
              <a:rPr lang="en-US" dirty="0">
                <a:latin typeface="Arial"/>
                <a:ea typeface="Arial"/>
                <a:cs typeface="Arial"/>
                <a:sym typeface="Arial"/>
              </a:rPr>
              <a:t>Resources:</a:t>
            </a:r>
            <a:endParaRPr dirty="0">
              <a:latin typeface="Arial"/>
              <a:ea typeface="Arial"/>
              <a:cs typeface="Arial"/>
              <a:sym typeface="Arial"/>
            </a:endParaRPr>
          </a:p>
          <a:p>
            <a:pPr marL="457200" lvl="0" indent="-381000" algn="l" rtl="0">
              <a:lnSpc>
                <a:spcPct val="100000"/>
              </a:lnSpc>
              <a:spcBef>
                <a:spcPts val="0"/>
              </a:spcBef>
              <a:spcAft>
                <a:spcPts val="0"/>
              </a:spcAft>
              <a:buClr>
                <a:schemeClr val="dk1"/>
              </a:buClr>
              <a:buSzPts val="1200"/>
              <a:buFont typeface="Arial"/>
              <a:buNone/>
            </a:pPr>
            <a:endParaRPr sz="1200" dirty="0">
              <a:solidFill>
                <a:schemeClr val="dk2"/>
              </a:solidFill>
            </a:endParaRPr>
          </a:p>
        </p:txBody>
      </p:sp>
      <p:sp>
        <p:nvSpPr>
          <p:cNvPr id="3081" name="Google Shape;3081;p147:notes"/>
          <p:cNvSpPr txBox="1">
            <a:spLocks noGrp="1"/>
          </p:cNvSpPr>
          <p:nvPr>
            <p:ph type="sldNum" idx="12"/>
          </p:nvPr>
        </p:nvSpPr>
        <p:spPr>
          <a:xfrm>
            <a:off x="4014100" y="8890281"/>
            <a:ext cx="3070800" cy="469500"/>
          </a:xfrm>
          <a:prstGeom prst="rect">
            <a:avLst/>
          </a:prstGeom>
          <a:noFill/>
          <a:ln>
            <a:noFill/>
          </a:ln>
        </p:spPr>
        <p:txBody>
          <a:bodyPr spcFirstLastPara="1" wrap="square" lIns="94175" tIns="47075" rIns="94175" bIns="47075"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300"/>
              <a:buFont typeface="Arial"/>
              <a:buNone/>
              <a:tabLst/>
              <a:defRPr/>
            </a:pPr>
            <a:fld id="{00000000-1234-1234-1234-123412341234}" type="slidenum">
              <a:rPr kumimoji="0" lang="en-US" sz="13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300"/>
                <a:buFont typeface="Arial"/>
                <a:buNone/>
                <a:tabLst/>
                <a:defRPr/>
              </a:pPr>
              <a:t>144</a:t>
            </a:fld>
            <a:endParaRPr kumimoji="0" sz="1300" b="0" i="0" u="none" strike="noStrike" kern="0" cap="none" spc="0" normalizeH="0" baseline="0" noProof="0" dirty="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9"/>
        <p:cNvGrpSpPr/>
        <p:nvPr/>
      </p:nvGrpSpPr>
      <p:grpSpPr>
        <a:xfrm>
          <a:off x="0" y="0"/>
          <a:ext cx="0" cy="0"/>
          <a:chOff x="0" y="0"/>
          <a:chExt cx="0" cy="0"/>
        </a:xfrm>
      </p:grpSpPr>
      <p:sp>
        <p:nvSpPr>
          <p:cNvPr id="3240" name="Google Shape;3240;p25: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3241" name="Google Shape;3241;p25: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115000"/>
              </a:lnSpc>
              <a:spcBef>
                <a:spcPts val="1200"/>
              </a:spcBef>
              <a:spcAft>
                <a:spcPts val="0"/>
              </a:spcAft>
              <a:buClr>
                <a:schemeClr val="dk2"/>
              </a:buClr>
              <a:buSzPts val="1100"/>
              <a:buFont typeface="Arial"/>
              <a:buNone/>
            </a:pPr>
            <a:r>
              <a:rPr lang="en-US" sz="900" b="1" i="0" u="none" strike="noStrike" cap="none" dirty="0">
                <a:solidFill>
                  <a:schemeClr val="dk1"/>
                </a:solidFill>
                <a:latin typeface="Arial"/>
                <a:cs typeface="Arial"/>
                <a:sym typeface="Arial"/>
              </a:rPr>
              <a:t>Key Message:</a:t>
            </a:r>
          </a:p>
          <a:p>
            <a:pPr marL="0" marR="0" lvl="0" indent="0" algn="l" rtl="0">
              <a:lnSpc>
                <a:spcPct val="115000"/>
              </a:lnSpc>
              <a:spcBef>
                <a:spcPts val="1200"/>
              </a:spcBef>
              <a:spcAft>
                <a:spcPts val="0"/>
              </a:spcAft>
              <a:buClr>
                <a:schemeClr val="dk2"/>
              </a:buClr>
              <a:buSzPts val="1100"/>
              <a:buFont typeface="Arial"/>
              <a:buNone/>
            </a:pPr>
            <a:r>
              <a:rPr lang="en-US" dirty="0"/>
              <a:t>Sell the value - this is not branding change</a:t>
            </a:r>
            <a:endParaRPr lang="en-US" b="1" dirty="0"/>
          </a:p>
          <a:p>
            <a:endParaRPr lang="en-US" b="1" dirty="0"/>
          </a:p>
          <a:p>
            <a:pPr marL="0" marR="0" lvl="0" indent="0" algn="l" rtl="0">
              <a:lnSpc>
                <a:spcPct val="115000"/>
              </a:lnSpc>
              <a:spcBef>
                <a:spcPts val="1200"/>
              </a:spcBef>
              <a:spcAft>
                <a:spcPts val="0"/>
              </a:spcAft>
              <a:buClr>
                <a:schemeClr val="dk2"/>
              </a:buClr>
              <a:buSzPts val="1100"/>
              <a:buFont typeface="Arial"/>
              <a:buNone/>
            </a:pPr>
            <a:r>
              <a:rPr lang="en-US" b="1" dirty="0"/>
              <a:t>Talk Track:</a:t>
            </a:r>
            <a:endParaRPr lang="en-US"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Sell the value - this is not branding change</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This naming change is to tightly integrate with VCF and hence it is VCF Protection and Recovery</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You will start seeing these changes in UIs across the product sets – VCF Ops, VC, SRM UI, CSP VLR Global Console and in product docs, support portal, downloads, etc.</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The transaction for this will still be called one of the following: a) ACC b) Standalone SRM/VCF-SRM and c) VLR Cloud</a:t>
            </a:r>
            <a:endParaRPr dirty="0"/>
          </a:p>
          <a:p>
            <a:pPr marL="457200" marR="0" lvl="0" indent="-228600" algn="l" rtl="0">
              <a:lnSpc>
                <a:spcPct val="100000"/>
              </a:lnSpc>
              <a:spcBef>
                <a:spcPts val="0"/>
              </a:spcBef>
              <a:spcAft>
                <a:spcPts val="0"/>
              </a:spcAft>
              <a:buSzPts val="1400"/>
              <a:buNone/>
            </a:pPr>
            <a:endParaRPr dirty="0"/>
          </a:p>
        </p:txBody>
      </p:sp>
      <p:sp>
        <p:nvSpPr>
          <p:cNvPr id="3242" name="Google Shape;3242;p25: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145</a:t>
            </a:fld>
            <a:endParaRPr kumimoji="0" sz="1200" b="0" i="0" u="none" strike="noStrike" kern="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7"/>
        <p:cNvGrpSpPr/>
        <p:nvPr/>
      </p:nvGrpSpPr>
      <p:grpSpPr>
        <a:xfrm>
          <a:off x="0" y="0"/>
          <a:ext cx="0" cy="0"/>
          <a:chOff x="0" y="0"/>
          <a:chExt cx="0" cy="0"/>
        </a:xfrm>
      </p:grpSpPr>
      <p:sp>
        <p:nvSpPr>
          <p:cNvPr id="3248" name="Google Shape;3248;p609: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dirty="0"/>
          </a:p>
        </p:txBody>
      </p:sp>
      <p:sp>
        <p:nvSpPr>
          <p:cNvPr id="3249" name="Google Shape;3249;p609: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fontScale="92500" lnSpcReduction="20000"/>
          </a:bodyPr>
          <a:lstStyle/>
          <a:p>
            <a:pPr marL="0" marR="0" lvl="0" indent="0" algn="l" rtl="0">
              <a:lnSpc>
                <a:spcPct val="115000"/>
              </a:lnSpc>
              <a:spcBef>
                <a:spcPts val="1200"/>
              </a:spcBef>
              <a:spcAft>
                <a:spcPts val="0"/>
              </a:spcAft>
              <a:buClr>
                <a:schemeClr val="dk2"/>
              </a:buClr>
              <a:buSzPts val="1100"/>
              <a:buFont typeface="Arial"/>
              <a:buNone/>
            </a:pPr>
            <a:r>
              <a:rPr lang="en-US" sz="900" b="1" i="0" u="none" strike="noStrike" cap="none" dirty="0">
                <a:solidFill>
                  <a:schemeClr val="dk1"/>
                </a:solidFill>
                <a:latin typeface="Arial"/>
                <a:cs typeface="Arial"/>
                <a:sym typeface="Arial"/>
              </a:rPr>
              <a:t>Key Message:</a:t>
            </a:r>
          </a:p>
          <a:p>
            <a:pPr marL="0" marR="0" lvl="0" indent="0" algn="l" defTabSz="914400" rtl="0" eaLnBrk="1" fontAlgn="auto" latinLnBrk="0" hangingPunct="1">
              <a:lnSpc>
                <a:spcPct val="115000"/>
              </a:lnSpc>
              <a:spcBef>
                <a:spcPts val="1200"/>
              </a:spcBef>
              <a:spcAft>
                <a:spcPts val="0"/>
              </a:spcAft>
              <a:buClr>
                <a:schemeClr val="dk2"/>
              </a:buClr>
              <a:buSzPts val="1100"/>
              <a:buFont typeface="Arial"/>
              <a:buNone/>
              <a:tabLst/>
              <a:defRPr/>
            </a:pPr>
            <a:r>
              <a:rPr lang="en-US" sz="900" dirty="0"/>
              <a:t>Summary review of the key enhancements</a:t>
            </a:r>
          </a:p>
          <a:p>
            <a:pPr marL="0" marR="0" lvl="0" indent="0" algn="l" rtl="0">
              <a:lnSpc>
                <a:spcPct val="115000"/>
              </a:lnSpc>
              <a:spcBef>
                <a:spcPts val="1200"/>
              </a:spcBef>
              <a:spcAft>
                <a:spcPts val="0"/>
              </a:spcAft>
              <a:buClr>
                <a:schemeClr val="dk2"/>
              </a:buClr>
              <a:buSzPts val="1100"/>
              <a:buFont typeface="Arial"/>
              <a:buNone/>
            </a:pPr>
            <a:endParaRPr lang="en-US" sz="900" b="1" dirty="0"/>
          </a:p>
          <a:p>
            <a:pPr marL="0" marR="0" lvl="0" indent="0" algn="l" rtl="0">
              <a:lnSpc>
                <a:spcPct val="115000"/>
              </a:lnSpc>
              <a:spcBef>
                <a:spcPts val="1200"/>
              </a:spcBef>
              <a:spcAft>
                <a:spcPts val="0"/>
              </a:spcAft>
              <a:buClr>
                <a:schemeClr val="dk2"/>
              </a:buClr>
              <a:buSzPts val="1100"/>
              <a:buFont typeface="Arial"/>
              <a:buNone/>
            </a:pPr>
            <a:r>
              <a:rPr lang="en-US" sz="900" b="1" dirty="0"/>
              <a:t>Talk Track:</a:t>
            </a:r>
            <a:endParaRPr sz="840" dirty="0"/>
          </a:p>
          <a:p>
            <a:pPr marL="171450" lvl="0" indent="-171450" algn="l" rtl="0">
              <a:lnSpc>
                <a:spcPct val="80000"/>
              </a:lnSpc>
              <a:spcBef>
                <a:spcPts val="0"/>
              </a:spcBef>
              <a:spcAft>
                <a:spcPts val="0"/>
              </a:spcAft>
              <a:buSzPts val="1400"/>
              <a:buFont typeface="Arial"/>
              <a:buChar char="•"/>
            </a:pPr>
            <a:r>
              <a:rPr lang="en-US" sz="840" dirty="0"/>
              <a:t>Improved visibility of the features for protection and recovery functionality has been elevated into more specific upper-level views and access points within the VCF Ops and vCenter Server interfaces. This makes it easier to find, configure and operate the protection and recovery services built onto VCF through the ACC offering. </a:t>
            </a:r>
            <a:endParaRPr dirty="0"/>
          </a:p>
          <a:p>
            <a:pPr marL="628650" lvl="1" indent="-171450" algn="l" rtl="0">
              <a:lnSpc>
                <a:spcPct val="80000"/>
              </a:lnSpc>
              <a:spcBef>
                <a:spcPts val="0"/>
              </a:spcBef>
              <a:spcAft>
                <a:spcPts val="0"/>
              </a:spcAft>
              <a:buSzPts val="1400"/>
              <a:buFont typeface="Arial"/>
              <a:buChar char="•"/>
            </a:pPr>
            <a:r>
              <a:rPr lang="en-US" sz="840" dirty="0"/>
              <a:t>NOTE: The existing VLSR (SRM) UI is still present and used for both DR and CR operational tasks as well as legacy SRM (VR/ABR) scenarios.</a:t>
            </a:r>
            <a:endParaRPr dirty="0"/>
          </a:p>
          <a:p>
            <a:pPr marL="171450" lvl="0" indent="-171450" algn="l" rtl="0">
              <a:lnSpc>
                <a:spcPct val="80000"/>
              </a:lnSpc>
              <a:spcBef>
                <a:spcPts val="0"/>
              </a:spcBef>
              <a:spcAft>
                <a:spcPts val="0"/>
              </a:spcAft>
              <a:buSzPts val="1400"/>
              <a:buFont typeface="Arial"/>
              <a:buChar char="•"/>
            </a:pPr>
            <a:r>
              <a:rPr lang="en-US" sz="840" dirty="0"/>
              <a:t>The Protection Group policy constructs used by vSAN data protection scenarios as well as DR/CR configurations leveraging vSAN (ESA) at the target site (as a minimum) have been enhanced to include the following new capabilities:</a:t>
            </a:r>
            <a:endParaRPr dirty="0"/>
          </a:p>
          <a:p>
            <a:pPr marL="628650" lvl="1" indent="-171450" algn="l" rtl="0">
              <a:lnSpc>
                <a:spcPct val="80000"/>
              </a:lnSpc>
              <a:spcBef>
                <a:spcPts val="0"/>
              </a:spcBef>
              <a:spcAft>
                <a:spcPts val="0"/>
              </a:spcAft>
              <a:buSzPts val="1400"/>
              <a:buFont typeface="Arial"/>
              <a:buChar char="•"/>
            </a:pPr>
            <a:r>
              <a:rPr lang="en-US" sz="840" dirty="0"/>
              <a:t>Broader VM inventory selection criteria including specific names, dynamic naming patterns, and vCenter tags</a:t>
            </a:r>
            <a:endParaRPr dirty="0"/>
          </a:p>
          <a:p>
            <a:pPr marL="628650" lvl="1" indent="-171450" algn="l" rtl="0">
              <a:lnSpc>
                <a:spcPct val="80000"/>
              </a:lnSpc>
              <a:spcBef>
                <a:spcPts val="0"/>
              </a:spcBef>
              <a:spcAft>
                <a:spcPts val="0"/>
              </a:spcAft>
              <a:buSzPts val="1400"/>
              <a:buFont typeface="Arial"/>
              <a:buChar char="•"/>
            </a:pPr>
            <a:r>
              <a:rPr lang="en-US" sz="840" dirty="0"/>
              <a:t>More extensive retention policies to enable better long-term retention of snapshots for any of the recovery scenarios and supporting a more traditional GFS (Grandfather, Father, Son) style retention result</a:t>
            </a:r>
            <a:endParaRPr dirty="0"/>
          </a:p>
          <a:p>
            <a:pPr marL="171450" lvl="0" indent="-171450" algn="l" rtl="0">
              <a:lnSpc>
                <a:spcPct val="80000"/>
              </a:lnSpc>
              <a:spcBef>
                <a:spcPts val="0"/>
              </a:spcBef>
              <a:spcAft>
                <a:spcPts val="0"/>
              </a:spcAft>
              <a:buSzPts val="1400"/>
              <a:buFont typeface="Arial"/>
              <a:buChar char="•"/>
            </a:pPr>
            <a:r>
              <a:rPr lang="en-US" sz="840" dirty="0"/>
              <a:t>vSAN (ESA) support for QLC drives for cyber recovery use case cost effectiveness</a:t>
            </a:r>
            <a:endParaRPr dirty="0"/>
          </a:p>
          <a:p>
            <a:pPr marL="171450" lvl="0" indent="-171450" algn="l" rtl="0">
              <a:lnSpc>
                <a:spcPct val="80000"/>
              </a:lnSpc>
              <a:spcBef>
                <a:spcPts val="0"/>
              </a:spcBef>
              <a:spcAft>
                <a:spcPts val="0"/>
              </a:spcAft>
              <a:buSzPts val="1400"/>
              <a:buFont typeface="Arial"/>
              <a:buChar char="•"/>
            </a:pPr>
            <a:r>
              <a:rPr lang="en-US" sz="840" dirty="0"/>
              <a:t>VCF Ready Nodes specifically for cyber recovery clean room scenarios and easier configuration choices</a:t>
            </a:r>
            <a:endParaRPr dirty="0"/>
          </a:p>
          <a:p>
            <a:pPr marL="0" lvl="0" indent="0" algn="l" rtl="0">
              <a:lnSpc>
                <a:spcPct val="80000"/>
              </a:lnSpc>
              <a:spcBef>
                <a:spcPts val="0"/>
              </a:spcBef>
              <a:spcAft>
                <a:spcPts val="0"/>
              </a:spcAft>
              <a:buSzPts val="1400"/>
              <a:buFont typeface="Arial"/>
              <a:buNone/>
            </a:pPr>
            <a:endParaRPr sz="840" dirty="0"/>
          </a:p>
          <a:p>
            <a:pPr marL="457200" marR="0" lvl="0" indent="-228600" algn="l" rtl="0">
              <a:lnSpc>
                <a:spcPct val="80000"/>
              </a:lnSpc>
              <a:spcBef>
                <a:spcPts val="0"/>
              </a:spcBef>
              <a:spcAft>
                <a:spcPts val="0"/>
              </a:spcAft>
              <a:buSzPts val="1400"/>
              <a:buNone/>
            </a:pPr>
            <a:r>
              <a:rPr lang="en-US" sz="840" dirty="0"/>
              <a:t>For Operational Recovery,</a:t>
            </a:r>
            <a:endParaRPr dirty="0"/>
          </a:p>
          <a:p>
            <a:pPr marL="171450" lvl="0" indent="-171450" algn="l" rtl="0">
              <a:lnSpc>
                <a:spcPct val="80000"/>
              </a:lnSpc>
              <a:spcBef>
                <a:spcPts val="0"/>
              </a:spcBef>
              <a:spcAft>
                <a:spcPts val="0"/>
              </a:spcAft>
              <a:buSzPts val="1400"/>
              <a:buFont typeface="Arial"/>
              <a:buChar char="•"/>
            </a:pPr>
            <a:r>
              <a:rPr lang="en-US" sz="840" dirty="0"/>
              <a:t>vSAN data protection (local snapshots) have been moved from the vSAN focus view to a more general and dedicated functional area in the Protection and Recovery UI</a:t>
            </a:r>
            <a:endParaRPr dirty="0"/>
          </a:p>
          <a:p>
            <a:pPr marL="457200" marR="0" lvl="0" indent="-228600" algn="l" rtl="0">
              <a:lnSpc>
                <a:spcPct val="80000"/>
              </a:lnSpc>
              <a:spcBef>
                <a:spcPts val="0"/>
              </a:spcBef>
              <a:spcAft>
                <a:spcPts val="0"/>
              </a:spcAft>
              <a:buSzPts val="1400"/>
              <a:buNone/>
            </a:pPr>
            <a:endParaRPr sz="840" dirty="0"/>
          </a:p>
          <a:p>
            <a:pPr marL="228600" lvl="0" indent="0" algn="l" rtl="0">
              <a:lnSpc>
                <a:spcPct val="80000"/>
              </a:lnSpc>
              <a:spcBef>
                <a:spcPts val="0"/>
              </a:spcBef>
              <a:spcAft>
                <a:spcPts val="0"/>
              </a:spcAft>
              <a:buSzPts val="1400"/>
              <a:buFont typeface="Arial"/>
              <a:buNone/>
            </a:pPr>
            <a:r>
              <a:rPr lang="en-US" sz="840" dirty="0"/>
              <a:t>For Disaster Recovery,</a:t>
            </a:r>
            <a:endParaRPr dirty="0"/>
          </a:p>
          <a:p>
            <a:pPr marL="171450" lvl="0" indent="-171450" algn="l" rtl="0">
              <a:lnSpc>
                <a:spcPct val="80000"/>
              </a:lnSpc>
              <a:spcBef>
                <a:spcPts val="0"/>
              </a:spcBef>
              <a:spcAft>
                <a:spcPts val="0"/>
              </a:spcAft>
              <a:buSzPts val="1400"/>
              <a:buFont typeface="Arial"/>
              <a:buChar char="•"/>
            </a:pPr>
            <a:r>
              <a:rPr lang="en-US" sz="840" dirty="0"/>
              <a:t>Support for non-vSAN source datastores replicating to vSAN (ESA) ESA target datastores is provided along with the ability to define retention polices on the VSAN (ESA) datastores copies</a:t>
            </a:r>
            <a:endParaRPr dirty="0"/>
          </a:p>
          <a:p>
            <a:pPr marL="628650" lvl="1" indent="-171450" algn="l" rtl="0">
              <a:lnSpc>
                <a:spcPct val="80000"/>
              </a:lnSpc>
              <a:spcBef>
                <a:spcPts val="0"/>
              </a:spcBef>
              <a:spcAft>
                <a:spcPts val="0"/>
              </a:spcAft>
              <a:buSzPts val="1400"/>
              <a:buFont typeface="Arial"/>
              <a:buChar char="•"/>
            </a:pPr>
            <a:r>
              <a:rPr lang="en-US" sz="840" dirty="0"/>
              <a:t>NOTE: vSAN OSA to vSAN ESA replication is not supported at this time and is planned for 9.1.1 release</a:t>
            </a:r>
            <a:endParaRPr dirty="0"/>
          </a:p>
          <a:p>
            <a:pPr marL="628650" lvl="1" indent="-171450" algn="l" rtl="0">
              <a:lnSpc>
                <a:spcPct val="80000"/>
              </a:lnSpc>
              <a:spcBef>
                <a:spcPts val="0"/>
              </a:spcBef>
              <a:spcAft>
                <a:spcPts val="0"/>
              </a:spcAft>
              <a:buSzPts val="1400"/>
              <a:buFont typeface="Arial"/>
              <a:buChar char="•"/>
            </a:pPr>
            <a:r>
              <a:rPr lang="en-US" sz="840" dirty="0"/>
              <a:t>NOTE: basic vSphere Replication (VR) still exists and can be used for heterogenous environments – but VR replication does not support the current cyber recovery configuration requirements</a:t>
            </a:r>
            <a:endParaRPr dirty="0"/>
          </a:p>
          <a:p>
            <a:pPr marL="171450" lvl="0" indent="-171450" algn="l" rtl="0">
              <a:lnSpc>
                <a:spcPct val="80000"/>
              </a:lnSpc>
              <a:spcBef>
                <a:spcPts val="0"/>
              </a:spcBef>
              <a:spcAft>
                <a:spcPts val="0"/>
              </a:spcAft>
              <a:buSzPts val="1400"/>
              <a:buFont typeface="Arial"/>
              <a:buChar char="•"/>
            </a:pPr>
            <a:r>
              <a:rPr lang="en-US" sz="840" dirty="0"/>
              <a:t>Support for replication seeding to optimize initial configuration setup and data synchronization time requirements.</a:t>
            </a:r>
            <a:endParaRPr dirty="0"/>
          </a:p>
          <a:p>
            <a:pPr marL="171450" lvl="0" indent="-171450" algn="l" rtl="0">
              <a:lnSpc>
                <a:spcPct val="80000"/>
              </a:lnSpc>
              <a:spcBef>
                <a:spcPts val="0"/>
              </a:spcBef>
              <a:spcAft>
                <a:spcPts val="0"/>
              </a:spcAft>
              <a:buSzPts val="1400"/>
              <a:buFont typeface="Arial"/>
              <a:buChar char="•"/>
            </a:pPr>
            <a:r>
              <a:rPr lang="en-US" sz="840" dirty="0"/>
              <a:t>Site to site network mappings now fully support VPC constructs at either the source and/or the target locations.</a:t>
            </a:r>
            <a:endParaRPr dirty="0"/>
          </a:p>
          <a:p>
            <a:pPr marL="628650" lvl="1" indent="-171450" algn="l" rtl="0">
              <a:lnSpc>
                <a:spcPct val="80000"/>
              </a:lnSpc>
              <a:spcBef>
                <a:spcPts val="0"/>
              </a:spcBef>
              <a:spcAft>
                <a:spcPts val="0"/>
              </a:spcAft>
              <a:buSzPts val="1400"/>
              <a:buFont typeface="Arial"/>
              <a:buChar char="•"/>
            </a:pPr>
            <a:r>
              <a:rPr lang="en-US" sz="840" dirty="0"/>
              <a:t>NOTE: VPC network configuration is a requirement for the on-prem clean room configuration</a:t>
            </a:r>
            <a:endParaRPr dirty="0"/>
          </a:p>
          <a:p>
            <a:pPr marL="628650" lvl="1" indent="-171450" algn="l" rtl="0">
              <a:lnSpc>
                <a:spcPct val="80000"/>
              </a:lnSpc>
              <a:spcBef>
                <a:spcPts val="0"/>
              </a:spcBef>
              <a:spcAft>
                <a:spcPts val="0"/>
              </a:spcAft>
              <a:buSzPts val="1400"/>
              <a:buFont typeface="Arial"/>
              <a:buChar char="•"/>
            </a:pPr>
            <a:r>
              <a:rPr lang="en-US" sz="840" dirty="0"/>
              <a:t>NOTE: VPCs are not required for protected site configurations</a:t>
            </a:r>
            <a:endParaRPr dirty="0"/>
          </a:p>
          <a:p>
            <a:pPr marL="171450" lvl="0" indent="-171450" algn="l" rtl="0">
              <a:lnSpc>
                <a:spcPct val="80000"/>
              </a:lnSpc>
              <a:spcBef>
                <a:spcPts val="0"/>
              </a:spcBef>
              <a:spcAft>
                <a:spcPts val="0"/>
              </a:spcAft>
              <a:buSzPts val="1400"/>
              <a:buFont typeface="Arial"/>
              <a:buChar char="•"/>
            </a:pPr>
            <a:r>
              <a:rPr lang="en-US" sz="840" dirty="0"/>
              <a:t>Modern workloads (with container storage assets) and some VCF infrastructure services are protected with Velero backup capabilities</a:t>
            </a:r>
            <a:endParaRPr dirty="0"/>
          </a:p>
          <a:p>
            <a:pPr marL="628650" lvl="1" indent="-171450" algn="l" rtl="0">
              <a:lnSpc>
                <a:spcPct val="80000"/>
              </a:lnSpc>
              <a:spcBef>
                <a:spcPts val="0"/>
              </a:spcBef>
              <a:spcAft>
                <a:spcPts val="0"/>
              </a:spcAft>
              <a:buSzPts val="1400"/>
              <a:buFont typeface="Arial"/>
              <a:buChar char="•"/>
            </a:pPr>
            <a:r>
              <a:rPr lang="en-US" sz="840" dirty="0"/>
              <a:t>NOTE: details of Velero integration withing Protection and Recovery services  is still TBD</a:t>
            </a:r>
            <a:endParaRPr dirty="0"/>
          </a:p>
          <a:p>
            <a:pPr marL="0" lvl="0" indent="0" algn="l" rtl="0">
              <a:lnSpc>
                <a:spcPct val="80000"/>
              </a:lnSpc>
              <a:spcBef>
                <a:spcPts val="0"/>
              </a:spcBef>
              <a:spcAft>
                <a:spcPts val="0"/>
              </a:spcAft>
              <a:buSzPts val="1400"/>
              <a:buFont typeface="Arial"/>
              <a:buNone/>
            </a:pPr>
            <a:endParaRPr sz="840" dirty="0"/>
          </a:p>
          <a:p>
            <a:pPr marL="0" lvl="0" indent="0" algn="l" rtl="0">
              <a:lnSpc>
                <a:spcPct val="80000"/>
              </a:lnSpc>
              <a:spcBef>
                <a:spcPts val="0"/>
              </a:spcBef>
              <a:spcAft>
                <a:spcPts val="0"/>
              </a:spcAft>
              <a:buSzPts val="1400"/>
              <a:buFont typeface="Arial"/>
              <a:buNone/>
            </a:pPr>
            <a:r>
              <a:rPr lang="en-US" sz="840" dirty="0"/>
              <a:t>For Cyber Recovery</a:t>
            </a:r>
            <a:endParaRPr dirty="0"/>
          </a:p>
          <a:p>
            <a:pPr marL="400050" lvl="0" indent="-171450" algn="l" rtl="0">
              <a:lnSpc>
                <a:spcPct val="80000"/>
              </a:lnSpc>
              <a:spcBef>
                <a:spcPts val="0"/>
              </a:spcBef>
              <a:spcAft>
                <a:spcPts val="0"/>
              </a:spcAft>
              <a:buSzPts val="1400"/>
              <a:buFont typeface="Arial"/>
              <a:buChar char="•"/>
            </a:pPr>
            <a:r>
              <a:rPr lang="en-US" sz="840" dirty="0"/>
              <a:t>Support for the construction of an on-prem clean room capability which includes:</a:t>
            </a:r>
            <a:endParaRPr dirty="0"/>
          </a:p>
          <a:p>
            <a:pPr marL="857250" lvl="1" indent="-171450" algn="l" rtl="0">
              <a:lnSpc>
                <a:spcPct val="80000"/>
              </a:lnSpc>
              <a:spcBef>
                <a:spcPts val="0"/>
              </a:spcBef>
              <a:spcAft>
                <a:spcPts val="0"/>
              </a:spcAft>
              <a:buSzPts val="1400"/>
              <a:buFont typeface="Arial"/>
              <a:buChar char="•"/>
            </a:pPr>
            <a:r>
              <a:rPr lang="en-US" sz="840" dirty="0"/>
              <a:t>Guided validation-oriented recovery workflow integration</a:t>
            </a:r>
            <a:endParaRPr dirty="0"/>
          </a:p>
          <a:p>
            <a:pPr marL="1314450" lvl="2" indent="-171450" algn="l" rtl="0">
              <a:lnSpc>
                <a:spcPct val="80000"/>
              </a:lnSpc>
              <a:spcBef>
                <a:spcPts val="0"/>
              </a:spcBef>
              <a:spcAft>
                <a:spcPts val="0"/>
              </a:spcAft>
              <a:buSzPts val="1400"/>
              <a:buFont typeface="Arial"/>
              <a:buChar char="•"/>
            </a:pPr>
            <a:r>
              <a:rPr lang="en-US" sz="840" dirty="0"/>
              <a:t>NOTE: in the 9.1 release this integration is through an external connectivity to the CSP services previously used for VLCR/VCDR – CSP access is required</a:t>
            </a:r>
            <a:endParaRPr dirty="0"/>
          </a:p>
          <a:p>
            <a:pPr marL="857250" lvl="1" indent="-171450" algn="l" rtl="0">
              <a:lnSpc>
                <a:spcPct val="80000"/>
              </a:lnSpc>
              <a:spcBef>
                <a:spcPts val="0"/>
              </a:spcBef>
              <a:spcAft>
                <a:spcPts val="0"/>
              </a:spcAft>
              <a:buSzPts val="1400"/>
              <a:buFont typeface="Arial"/>
              <a:buChar char="•"/>
            </a:pPr>
            <a:r>
              <a:rPr lang="en-US" sz="840" dirty="0"/>
              <a:t>Push-button network isolation</a:t>
            </a:r>
            <a:endParaRPr dirty="0"/>
          </a:p>
          <a:p>
            <a:pPr marL="1314450" lvl="2" indent="-171450" algn="l" rtl="0">
              <a:lnSpc>
                <a:spcPct val="80000"/>
              </a:lnSpc>
              <a:spcBef>
                <a:spcPts val="0"/>
              </a:spcBef>
              <a:spcAft>
                <a:spcPts val="0"/>
              </a:spcAft>
              <a:buSzPts val="1400"/>
              <a:buFont typeface="Arial"/>
              <a:buChar char="•"/>
            </a:pPr>
            <a:r>
              <a:rPr lang="en-US" sz="840" dirty="0"/>
              <a:t>NOTE: for 9.1 release the network isolation is still provided with the vDefend DFW solution (licenses separately)</a:t>
            </a:r>
            <a:endParaRPr dirty="0"/>
          </a:p>
          <a:p>
            <a:pPr marL="1314450" lvl="2" indent="-171450" algn="l" rtl="0">
              <a:lnSpc>
                <a:spcPct val="80000"/>
              </a:lnSpc>
              <a:spcBef>
                <a:spcPts val="0"/>
              </a:spcBef>
              <a:spcAft>
                <a:spcPts val="0"/>
              </a:spcAft>
              <a:buSzPts val="1400"/>
              <a:buFont typeface="Arial"/>
              <a:buChar char="•"/>
            </a:pPr>
            <a:r>
              <a:rPr lang="en-US" sz="840" dirty="0"/>
              <a:t>NOTE: VCF VPCs will provide a VCF-based isolation capability in v9.1.1+</a:t>
            </a:r>
            <a:endParaRPr dirty="0"/>
          </a:p>
          <a:p>
            <a:pPr marL="857250" marR="0" lvl="1" indent="-171450" algn="l" rtl="0">
              <a:lnSpc>
                <a:spcPct val="80000"/>
              </a:lnSpc>
              <a:spcBef>
                <a:spcPts val="0"/>
              </a:spcBef>
              <a:spcAft>
                <a:spcPts val="0"/>
              </a:spcAft>
              <a:buClr>
                <a:srgbClr val="000000"/>
              </a:buClr>
              <a:buSzPts val="1400"/>
              <a:buFont typeface="Arial"/>
              <a:buChar char="•"/>
            </a:pPr>
            <a:r>
              <a:rPr lang="en-US" sz="840" dirty="0"/>
              <a:t>Support for fan-in architectures to help optimize the utilization of clean room investments across protection of multiple source sites</a:t>
            </a:r>
            <a:endParaRPr dirty="0"/>
          </a:p>
          <a:p>
            <a:pPr marL="228600" marR="0" lvl="0" indent="0" algn="l" rtl="0">
              <a:lnSpc>
                <a:spcPct val="80000"/>
              </a:lnSpc>
              <a:spcBef>
                <a:spcPts val="0"/>
              </a:spcBef>
              <a:spcAft>
                <a:spcPts val="0"/>
              </a:spcAft>
              <a:buClr>
                <a:srgbClr val="000000"/>
              </a:buClr>
              <a:buSzPts val="1400"/>
              <a:buFont typeface="Arial"/>
              <a:buNone/>
            </a:pPr>
            <a:endParaRPr sz="840" dirty="0"/>
          </a:p>
          <a:p>
            <a:pPr marL="228600" marR="0" lvl="0" indent="0" algn="l" rtl="0">
              <a:lnSpc>
                <a:spcPct val="80000"/>
              </a:lnSpc>
              <a:spcBef>
                <a:spcPts val="0"/>
              </a:spcBef>
              <a:spcAft>
                <a:spcPts val="0"/>
              </a:spcAft>
              <a:buClr>
                <a:srgbClr val="000000"/>
              </a:buClr>
              <a:buSzPts val="1400"/>
              <a:buFont typeface="Arial"/>
              <a:buNone/>
            </a:pPr>
            <a:endParaRPr sz="840" dirty="0"/>
          </a:p>
          <a:p>
            <a:pPr marL="228600" marR="0" lvl="0" indent="0" algn="l" rtl="0">
              <a:lnSpc>
                <a:spcPct val="80000"/>
              </a:lnSpc>
              <a:spcBef>
                <a:spcPts val="0"/>
              </a:spcBef>
              <a:spcAft>
                <a:spcPts val="0"/>
              </a:spcAft>
              <a:buClr>
                <a:srgbClr val="000000"/>
              </a:buClr>
              <a:buSzPts val="1400"/>
              <a:buFont typeface="Arial"/>
              <a:buNone/>
            </a:pPr>
            <a:r>
              <a:rPr lang="en-US" sz="840" dirty="0"/>
              <a:t>vCenter QuickStart storage clusters for cyber recovery</a:t>
            </a:r>
            <a:endParaRPr dirty="0"/>
          </a:p>
          <a:p>
            <a:pPr marL="228600" marR="0" lvl="0" indent="0" algn="l" rtl="0">
              <a:lnSpc>
                <a:spcPct val="80000"/>
              </a:lnSpc>
              <a:spcBef>
                <a:spcPts val="0"/>
              </a:spcBef>
              <a:spcAft>
                <a:spcPts val="0"/>
              </a:spcAft>
              <a:buClr>
                <a:srgbClr val="000000"/>
              </a:buClr>
              <a:buSzPts val="1400"/>
              <a:buFont typeface="Arial"/>
              <a:buNone/>
            </a:pPr>
            <a:r>
              <a:rPr lang="en-US" sz="840" dirty="0"/>
              <a:t>Cyber Recovery Ready Nodes</a:t>
            </a:r>
            <a:endParaRPr dirty="0"/>
          </a:p>
          <a:p>
            <a:pPr marL="228600" marR="0" lvl="0" indent="0" algn="l" rtl="0">
              <a:lnSpc>
                <a:spcPct val="80000"/>
              </a:lnSpc>
              <a:spcBef>
                <a:spcPts val="0"/>
              </a:spcBef>
              <a:spcAft>
                <a:spcPts val="0"/>
              </a:spcAft>
              <a:buClr>
                <a:srgbClr val="000000"/>
              </a:buClr>
              <a:buSzPts val="1400"/>
              <a:buFont typeface="Arial"/>
              <a:buNone/>
            </a:pPr>
            <a:endParaRPr sz="840" dirty="0"/>
          </a:p>
          <a:p>
            <a:pPr marL="857250" marR="0" lvl="1" indent="-82550" algn="l" rtl="0">
              <a:lnSpc>
                <a:spcPct val="80000"/>
              </a:lnSpc>
              <a:spcBef>
                <a:spcPts val="0"/>
              </a:spcBef>
              <a:spcAft>
                <a:spcPts val="0"/>
              </a:spcAft>
              <a:buClr>
                <a:srgbClr val="000000"/>
              </a:buClr>
              <a:buSzPts val="1400"/>
              <a:buFont typeface="Arial"/>
              <a:buNone/>
            </a:pPr>
            <a:endParaRPr sz="840" dirty="0"/>
          </a:p>
          <a:p>
            <a:pPr marL="228600" marR="0" lvl="0" indent="0" algn="l" rtl="0">
              <a:lnSpc>
                <a:spcPct val="80000"/>
              </a:lnSpc>
              <a:spcBef>
                <a:spcPts val="0"/>
              </a:spcBef>
              <a:spcAft>
                <a:spcPts val="0"/>
              </a:spcAft>
              <a:buClr>
                <a:srgbClr val="000000"/>
              </a:buClr>
              <a:buSzPts val="1400"/>
              <a:buFont typeface="Arial"/>
              <a:buNone/>
            </a:pPr>
            <a:endParaRPr sz="840" dirty="0"/>
          </a:p>
        </p:txBody>
      </p:sp>
      <p:sp>
        <p:nvSpPr>
          <p:cNvPr id="3250" name="Google Shape;3250;p609: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146</a:t>
            </a:fld>
            <a:endParaRPr kumimoji="0" sz="1200" b="0" i="0" u="none" strike="noStrike" kern="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5"/>
        <p:cNvGrpSpPr/>
        <p:nvPr/>
      </p:nvGrpSpPr>
      <p:grpSpPr>
        <a:xfrm>
          <a:off x="0" y="0"/>
          <a:ext cx="0" cy="0"/>
          <a:chOff x="0" y="0"/>
          <a:chExt cx="0" cy="0"/>
        </a:xfrm>
      </p:grpSpPr>
      <p:sp>
        <p:nvSpPr>
          <p:cNvPr id="3256" name="Google Shape;3256;p14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3257" name="Google Shape;3257;p14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115000"/>
              </a:lnSpc>
              <a:spcBef>
                <a:spcPts val="1200"/>
              </a:spcBef>
              <a:spcAft>
                <a:spcPts val="0"/>
              </a:spcAft>
              <a:buClr>
                <a:schemeClr val="dk2"/>
              </a:buClr>
              <a:buSzPts val="1100"/>
              <a:buFont typeface="Arial"/>
              <a:buNone/>
            </a:pPr>
            <a:r>
              <a:rPr lang="en-US" sz="1200" b="1" i="0" u="none" strike="noStrike" cap="none" dirty="0">
                <a:solidFill>
                  <a:schemeClr val="dk1"/>
                </a:solidFill>
                <a:latin typeface="Arial"/>
                <a:cs typeface="Arial"/>
                <a:sym typeface="Arial"/>
              </a:rPr>
              <a:t>Key Message:</a:t>
            </a:r>
          </a:p>
          <a:p>
            <a:pPr marL="0" marR="0" lvl="0" indent="0" algn="l" defTabSz="914400" rtl="0" eaLnBrk="1" fontAlgn="auto" latinLnBrk="0" hangingPunct="1">
              <a:lnSpc>
                <a:spcPct val="115000"/>
              </a:lnSpc>
              <a:spcBef>
                <a:spcPts val="1200"/>
              </a:spcBef>
              <a:spcAft>
                <a:spcPts val="0"/>
              </a:spcAft>
              <a:buClr>
                <a:schemeClr val="dk2"/>
              </a:buClr>
              <a:buSzPts val="1100"/>
              <a:buFont typeface="Arial"/>
              <a:buNone/>
              <a:tabLst/>
              <a:defRPr/>
            </a:pPr>
            <a:r>
              <a:rPr lang="en-US" dirty="0"/>
              <a:t>Protection and Recovery provides support for the Operational Recovery use case through the local vSAN ESA snapshot restore or clone capabilities.</a:t>
            </a:r>
          </a:p>
          <a:p>
            <a:pPr marL="0" marR="0" lvl="0" indent="0" algn="l" rtl="0">
              <a:lnSpc>
                <a:spcPct val="115000"/>
              </a:lnSpc>
              <a:spcBef>
                <a:spcPts val="1200"/>
              </a:spcBef>
              <a:spcAft>
                <a:spcPts val="0"/>
              </a:spcAft>
              <a:buClr>
                <a:schemeClr val="dk2"/>
              </a:buClr>
              <a:buSzPts val="1100"/>
              <a:buFont typeface="Arial"/>
              <a:buNone/>
            </a:pPr>
            <a:endParaRPr lang="en-US" sz="1200" b="1" i="0" u="none" strike="noStrike" cap="none" dirty="0">
              <a:solidFill>
                <a:schemeClr val="dk1"/>
              </a:solidFill>
              <a:latin typeface="Arial"/>
              <a:cs typeface="Arial"/>
              <a:sym typeface="Arial"/>
            </a:endParaRPr>
          </a:p>
          <a:p>
            <a:pPr marL="0" marR="0" lvl="0" indent="0" algn="l" rtl="0">
              <a:lnSpc>
                <a:spcPct val="115000"/>
              </a:lnSpc>
              <a:spcBef>
                <a:spcPts val="1200"/>
              </a:spcBef>
              <a:spcAft>
                <a:spcPts val="0"/>
              </a:spcAft>
              <a:buClr>
                <a:schemeClr val="dk2"/>
              </a:buClr>
              <a:buSzPts val="1100"/>
              <a:buFont typeface="Arial"/>
              <a:buNone/>
            </a:pPr>
            <a:r>
              <a:rPr lang="en-US" b="1" dirty="0"/>
              <a:t>Talk Track:</a:t>
            </a:r>
            <a:endParaRPr lang="en-US" dirty="0"/>
          </a:p>
          <a:p>
            <a:pPr marL="457200" marR="0" lvl="0" indent="-228600" algn="l" rtl="0">
              <a:lnSpc>
                <a:spcPct val="100000"/>
              </a:lnSpc>
              <a:spcBef>
                <a:spcPts val="0"/>
              </a:spcBef>
              <a:spcAft>
                <a:spcPts val="0"/>
              </a:spcAft>
              <a:buSzPts val="1400"/>
              <a:buNone/>
            </a:pPr>
            <a:endParaRPr lang="en-US" dirty="0"/>
          </a:p>
          <a:p>
            <a:pPr marL="457200" marR="0" lvl="0" indent="-228600" algn="l" rtl="0">
              <a:lnSpc>
                <a:spcPct val="100000"/>
              </a:lnSpc>
              <a:spcBef>
                <a:spcPts val="0"/>
              </a:spcBef>
              <a:spcAft>
                <a:spcPts val="0"/>
              </a:spcAft>
              <a:buSzPts val="1400"/>
              <a:buNone/>
            </a:pPr>
            <a:r>
              <a:rPr lang="en-US" dirty="0"/>
              <a:t>Protection and Recovery provides support for the Operational Recovery use case through the local vSAN ESA snapshot restore or clone capabilities.</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Snapshots can be regularly scheduled through the Protection Group policy structure or manually taken (ad-hoc) as desired for more day-to-day protection.</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Like the current methods that vCenter/vSphere snapshots are often used to provide a quick restore – or safety net – when performing local VM operations that might need to be reversed.</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Local snapshots provide a more efficient and faster means to temporarily protect VMs to overcome operational issues that might arise.</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This view shows how simple VMs can be protected locally with Protection Groups and provide recovery options from local snapshots.</a:t>
            </a:r>
            <a:endParaRPr dirty="0"/>
          </a:p>
        </p:txBody>
      </p:sp>
      <p:sp>
        <p:nvSpPr>
          <p:cNvPr id="3258" name="Google Shape;3258;p14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147</a:t>
            </a:fld>
            <a:endParaRPr kumimoji="0" sz="1200" b="0" i="0" u="none" strike="noStrike" kern="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65"/>
        <p:cNvGrpSpPr/>
        <p:nvPr/>
      </p:nvGrpSpPr>
      <p:grpSpPr>
        <a:xfrm>
          <a:off x="0" y="0"/>
          <a:ext cx="0" cy="0"/>
          <a:chOff x="0" y="0"/>
          <a:chExt cx="0" cy="0"/>
        </a:xfrm>
      </p:grpSpPr>
      <p:sp>
        <p:nvSpPr>
          <p:cNvPr id="3266" name="Google Shape;3266;p610: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3267" name="Google Shape;3267;p610: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defTabSz="914400" rtl="0" eaLnBrk="1" fontAlgn="auto" latinLnBrk="0" hangingPunct="1">
              <a:lnSpc>
                <a:spcPct val="115000"/>
              </a:lnSpc>
              <a:spcBef>
                <a:spcPts val="1200"/>
              </a:spcBef>
              <a:spcAft>
                <a:spcPts val="0"/>
              </a:spcAft>
              <a:buClr>
                <a:schemeClr val="dk2"/>
              </a:buClr>
              <a:buSzPts val="1100"/>
              <a:buFont typeface="Arial"/>
              <a:buNone/>
              <a:tabLst/>
              <a:defRPr/>
            </a:pPr>
            <a:r>
              <a:rPr lang="en-US" sz="1200" b="1" i="0" u="none" strike="noStrike" cap="none" dirty="0">
                <a:solidFill>
                  <a:schemeClr val="dk1"/>
                </a:solidFill>
                <a:latin typeface="Arial"/>
                <a:cs typeface="Arial"/>
                <a:sym typeface="Arial"/>
              </a:rPr>
              <a:t>Key Message:</a:t>
            </a:r>
          </a:p>
          <a:p>
            <a:pPr marL="0" marR="0" lvl="0" indent="0" algn="l" defTabSz="914400" rtl="0" eaLnBrk="1" fontAlgn="auto" latinLnBrk="0" hangingPunct="1">
              <a:lnSpc>
                <a:spcPct val="115000"/>
              </a:lnSpc>
              <a:spcBef>
                <a:spcPts val="1200"/>
              </a:spcBef>
              <a:spcAft>
                <a:spcPts val="0"/>
              </a:spcAft>
              <a:buClr>
                <a:schemeClr val="dk2"/>
              </a:buClr>
              <a:buSzPts val="1100"/>
              <a:buFont typeface="Arial"/>
              <a:buNone/>
              <a:tabLst/>
              <a:defRPr/>
            </a:pPr>
            <a:r>
              <a:rPr lang="en-US" dirty="0"/>
              <a:t>The Disaster Recovery use case is one of the key resiliency pillars provided by VCF Protection and Recovery in the 9.1 release.</a:t>
            </a:r>
          </a:p>
          <a:p>
            <a:pPr marL="0" marR="0" lvl="0" indent="0" algn="l" rtl="0">
              <a:lnSpc>
                <a:spcPct val="115000"/>
              </a:lnSpc>
              <a:spcBef>
                <a:spcPts val="1200"/>
              </a:spcBef>
              <a:spcAft>
                <a:spcPts val="0"/>
              </a:spcAft>
              <a:buClr>
                <a:schemeClr val="dk2"/>
              </a:buClr>
              <a:buSzPts val="1100"/>
              <a:buFont typeface="Arial"/>
              <a:buNone/>
            </a:pPr>
            <a:endParaRPr lang="en-US" dirty="0"/>
          </a:p>
          <a:p>
            <a:pPr marL="0" marR="0" lvl="0" indent="0" algn="l" rtl="0">
              <a:lnSpc>
                <a:spcPct val="115000"/>
              </a:lnSpc>
              <a:spcBef>
                <a:spcPts val="1200"/>
              </a:spcBef>
              <a:spcAft>
                <a:spcPts val="0"/>
              </a:spcAft>
              <a:buClr>
                <a:schemeClr val="dk2"/>
              </a:buClr>
              <a:buSzPts val="1100"/>
              <a:buFont typeface="Arial"/>
              <a:buNone/>
            </a:pPr>
            <a:r>
              <a:rPr lang="en-US" b="1" dirty="0"/>
              <a:t>Talk Track:</a:t>
            </a:r>
          </a:p>
          <a:p>
            <a:pPr marL="457200" marR="0" lvl="0" indent="-228600" algn="l" rtl="0">
              <a:lnSpc>
                <a:spcPct val="100000"/>
              </a:lnSpc>
              <a:spcBef>
                <a:spcPts val="0"/>
              </a:spcBef>
              <a:spcAft>
                <a:spcPts val="0"/>
              </a:spcAft>
              <a:buSzPts val="1400"/>
              <a:buNone/>
            </a:pPr>
            <a:r>
              <a:rPr lang="en-US" dirty="0"/>
              <a:t>The Disaster Recovery use case is one of the key resiliency pillars provided by VCF Protection and Recovery in the 9.1 release.</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The addition of new vSAN snapshot mechanisms are tied into the recovery framework along with existing legacy vSphere Replication and 3</a:t>
            </a:r>
            <a:r>
              <a:rPr lang="en-US" baseline="30000" dirty="0"/>
              <a:t>rd</a:t>
            </a:r>
            <a:r>
              <a:rPr lang="en-US" dirty="0"/>
              <a:t> party storage Array Based Replications (ABR)</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Note: Protection Groups still have two places (and types) that can be defined.</a:t>
            </a:r>
            <a:endParaRPr dirty="0"/>
          </a:p>
        </p:txBody>
      </p:sp>
      <p:sp>
        <p:nvSpPr>
          <p:cNvPr id="3268" name="Google Shape;3268;p610: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148</a:t>
            </a:fld>
            <a:endParaRPr kumimoji="0" sz="1200" b="0" i="0" u="none" strike="noStrike" kern="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6"/>
        <p:cNvGrpSpPr/>
        <p:nvPr/>
      </p:nvGrpSpPr>
      <p:grpSpPr>
        <a:xfrm>
          <a:off x="0" y="0"/>
          <a:ext cx="0" cy="0"/>
          <a:chOff x="0" y="0"/>
          <a:chExt cx="0" cy="0"/>
        </a:xfrm>
      </p:grpSpPr>
      <p:sp>
        <p:nvSpPr>
          <p:cNvPr id="3277" name="Google Shape;3277;p611: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
        <p:nvSpPr>
          <p:cNvPr id="3278" name="Google Shape;3278;p611: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marR="0" lvl="0" indent="0" algn="l" rtl="0">
              <a:lnSpc>
                <a:spcPct val="115000"/>
              </a:lnSpc>
              <a:spcBef>
                <a:spcPts val="1200"/>
              </a:spcBef>
              <a:spcAft>
                <a:spcPts val="0"/>
              </a:spcAft>
              <a:buClr>
                <a:schemeClr val="dk2"/>
              </a:buClr>
              <a:buSzPts val="1100"/>
              <a:buFont typeface="Arial"/>
              <a:buNone/>
            </a:pPr>
            <a:r>
              <a:rPr lang="en-US" sz="1200" b="1" i="0" u="none" strike="noStrike" cap="none" dirty="0">
                <a:solidFill>
                  <a:schemeClr val="dk1"/>
                </a:solidFill>
                <a:latin typeface="Arial"/>
                <a:cs typeface="Arial"/>
                <a:sym typeface="Arial"/>
              </a:rPr>
              <a:t>Key Message:</a:t>
            </a:r>
          </a:p>
          <a:p>
            <a:pPr marL="0" marR="0" lvl="0" indent="0" algn="l" defTabSz="914400" rtl="0" eaLnBrk="1" fontAlgn="auto" latinLnBrk="0" hangingPunct="1">
              <a:lnSpc>
                <a:spcPct val="115000"/>
              </a:lnSpc>
              <a:spcBef>
                <a:spcPts val="1200"/>
              </a:spcBef>
              <a:spcAft>
                <a:spcPts val="0"/>
              </a:spcAft>
              <a:buClr>
                <a:schemeClr val="dk2"/>
              </a:buClr>
              <a:buSzPts val="1100"/>
              <a:buFont typeface="Arial"/>
              <a:buNone/>
              <a:tabLst/>
              <a:defRPr/>
            </a:pPr>
            <a:r>
              <a:rPr lang="en-US" dirty="0"/>
              <a:t>The newest addition to the Protection and Recovery solution for 9.1 is the support for constructing and on-prem clean room environment to conduct cyber recovery tasks.</a:t>
            </a:r>
            <a:endParaRPr lang="en-US" sz="1200" b="1" i="0" u="none" strike="noStrike" cap="none" dirty="0">
              <a:solidFill>
                <a:schemeClr val="dk1"/>
              </a:solidFill>
              <a:latin typeface="Arial"/>
              <a:cs typeface="Arial"/>
              <a:sym typeface="Arial"/>
            </a:endParaRPr>
          </a:p>
          <a:p>
            <a:pPr marL="0" marR="0" lvl="0" indent="0" algn="l" rtl="0">
              <a:lnSpc>
                <a:spcPct val="115000"/>
              </a:lnSpc>
              <a:spcBef>
                <a:spcPts val="1200"/>
              </a:spcBef>
              <a:spcAft>
                <a:spcPts val="0"/>
              </a:spcAft>
              <a:buClr>
                <a:schemeClr val="dk2"/>
              </a:buClr>
              <a:buSzPts val="1100"/>
              <a:buFont typeface="Arial"/>
              <a:buNone/>
            </a:pPr>
            <a:endParaRPr lang="en-US" sz="1200" b="1" i="0" u="none" strike="noStrike" cap="none" dirty="0">
              <a:solidFill>
                <a:schemeClr val="dk1"/>
              </a:solidFill>
              <a:latin typeface="Arial"/>
              <a:cs typeface="Arial"/>
              <a:sym typeface="Arial"/>
            </a:endParaRPr>
          </a:p>
          <a:p>
            <a:pPr marL="0" marR="0" lvl="0" indent="0" algn="l" rtl="0">
              <a:lnSpc>
                <a:spcPct val="115000"/>
              </a:lnSpc>
              <a:spcBef>
                <a:spcPts val="1200"/>
              </a:spcBef>
              <a:spcAft>
                <a:spcPts val="0"/>
              </a:spcAft>
              <a:buClr>
                <a:schemeClr val="dk2"/>
              </a:buClr>
              <a:buSzPts val="1100"/>
              <a:buFont typeface="Arial"/>
              <a:buNone/>
            </a:pPr>
            <a:r>
              <a:rPr lang="en-US" b="1" dirty="0"/>
              <a:t>Talk Track:</a:t>
            </a:r>
            <a:endParaRPr lang="en-US" dirty="0"/>
          </a:p>
          <a:p>
            <a:pPr marL="457200" marR="0" lvl="0" indent="-228600" algn="l" rtl="0">
              <a:lnSpc>
                <a:spcPct val="100000"/>
              </a:lnSpc>
              <a:spcBef>
                <a:spcPts val="0"/>
              </a:spcBef>
              <a:spcAft>
                <a:spcPts val="0"/>
              </a:spcAft>
              <a:buSzPts val="1400"/>
              <a:buNone/>
            </a:pPr>
            <a:r>
              <a:rPr lang="en-US" dirty="0"/>
              <a:t>The newest addition to the Protection and Recovery solution for 9.1 is the support for constructing and on-prem clean room environment to conduct cyber recovery tasks.</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This capability is built using the vSAN ESA storage for the clean room.</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Network isolation control is enabled through vDefend Firewalls – which requires separate product licensing.</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Carbon Black EDR solution is built-in to the clean room capabilities. Note: it is only available as a service when actively using the clean room functionality.</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r>
              <a:rPr lang="en-US" dirty="0"/>
              <a:t>CrowdStrike has been enabled as an alternate EDR solution but will require the customer to bring their own license (BYOL) for CrowdStrike services.</a:t>
            </a:r>
            <a:endParaRPr dirty="0"/>
          </a:p>
          <a:p>
            <a:pPr marL="457200" marR="0" lvl="0" indent="-228600" algn="l" rtl="0">
              <a:lnSpc>
                <a:spcPct val="100000"/>
              </a:lnSpc>
              <a:spcBef>
                <a:spcPts val="0"/>
              </a:spcBef>
              <a:spcAft>
                <a:spcPts val="0"/>
              </a:spcAft>
              <a:buSzPts val="1400"/>
              <a:buNone/>
            </a:pPr>
            <a:endParaRPr dirty="0"/>
          </a:p>
          <a:p>
            <a:pPr marL="457200" marR="0" lvl="0" indent="-228600" algn="l" rtl="0">
              <a:lnSpc>
                <a:spcPct val="100000"/>
              </a:lnSpc>
              <a:spcBef>
                <a:spcPts val="0"/>
              </a:spcBef>
              <a:spcAft>
                <a:spcPts val="0"/>
              </a:spcAft>
              <a:buSzPts val="1400"/>
              <a:buNone/>
            </a:pPr>
            <a:endParaRPr dirty="0"/>
          </a:p>
        </p:txBody>
      </p:sp>
      <p:sp>
        <p:nvSpPr>
          <p:cNvPr id="3279" name="Google Shape;3279;p611: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717074"/>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149</a:t>
            </a:fld>
            <a:endParaRPr kumimoji="0" sz="1200" b="0" i="0" u="none" strike="noStrike" kern="0" cap="none" spc="0" normalizeH="0" baseline="0" noProof="0" dirty="0">
              <a:ln>
                <a:noFill/>
              </a:ln>
              <a:solidFill>
                <a:srgbClr val="717074"/>
              </a:solidFill>
              <a:effectLst/>
              <a:uLnTx/>
              <a:uFillTx/>
              <a:latin typeface="Arial"/>
              <a:ea typeface="Arial"/>
              <a:cs typeface="Arial"/>
              <a:sym typeface="Arial"/>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89"/>
        <p:cNvGrpSpPr/>
        <p:nvPr/>
      </p:nvGrpSpPr>
      <p:grpSpPr>
        <a:xfrm>
          <a:off x="0" y="0"/>
          <a:ext cx="0" cy="0"/>
          <a:chOff x="0" y="0"/>
          <a:chExt cx="0" cy="0"/>
        </a:xfrm>
      </p:grpSpPr>
      <p:sp>
        <p:nvSpPr>
          <p:cNvPr id="18490" name="Google Shape;18490;p148:notes"/>
          <p:cNvSpPr>
            <a:spLocks noGrp="1" noRot="1" noChangeAspect="1"/>
          </p:cNvSpPr>
          <p:nvPr>
            <p:ph type="sldImg" idx="2"/>
          </p:nvPr>
        </p:nvSpPr>
        <p:spPr>
          <a:xfrm>
            <a:off x="788988" y="609600"/>
            <a:ext cx="5280025" cy="29718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491" name="Google Shape;18491;p148:notes"/>
          <p:cNvSpPr txBox="1">
            <a:spLocks noGrp="1"/>
          </p:cNvSpPr>
          <p:nvPr>
            <p:ph type="body" idx="1"/>
          </p:nvPr>
        </p:nvSpPr>
        <p:spPr>
          <a:xfrm>
            <a:off x="457200" y="3810000"/>
            <a:ext cx="5943600" cy="4876800"/>
          </a:xfrm>
          <a:prstGeom prst="rect">
            <a:avLst/>
          </a:prstGeom>
          <a:noFill/>
          <a:ln>
            <a:noFill/>
          </a:ln>
        </p:spPr>
        <p:txBody>
          <a:bodyPr spcFirstLastPara="1" wrap="square" lIns="0" tIns="0" rIns="0" bIns="0" anchor="t" anchorCtr="0">
            <a:normAutofit/>
          </a:bodyPr>
          <a:lstStyle/>
          <a:p>
            <a:pPr marL="0" lvl="0" indent="0" algn="l" rtl="0">
              <a:spcBef>
                <a:spcPts val="0"/>
              </a:spcBef>
              <a:spcAft>
                <a:spcPts val="0"/>
              </a:spcAft>
              <a:buNone/>
            </a:pPr>
            <a:endParaRPr/>
          </a:p>
        </p:txBody>
      </p:sp>
      <p:sp>
        <p:nvSpPr>
          <p:cNvPr id="18492" name="Google Shape;18492;p148:notes"/>
          <p:cNvSpPr txBox="1">
            <a:spLocks noGrp="1"/>
          </p:cNvSpPr>
          <p:nvPr>
            <p:ph type="sldNum" idx="12"/>
          </p:nvPr>
        </p:nvSpPr>
        <p:spPr>
          <a:xfrm>
            <a:off x="3884613" y="8685213"/>
            <a:ext cx="2971800" cy="4572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717074"/>
              </a:buClr>
              <a:buSzPts val="1200"/>
              <a:buFont typeface="Arial"/>
              <a:buNone/>
            </a:pPr>
            <a:fld id="{00000000-1234-1234-1234-123412341234}" type="slidenum">
              <a:rPr lang="en-US" sz="1200" b="0" i="0" u="none" strike="noStrike" cap="none">
                <a:solidFill>
                  <a:srgbClr val="717074"/>
                </a:solidFill>
                <a:latin typeface="Arial"/>
                <a:ea typeface="Arial"/>
                <a:cs typeface="Arial"/>
                <a:sym typeface="Arial"/>
              </a:rPr>
              <a:t>150</a:t>
            </a:fld>
            <a:endParaRPr sz="1200" b="0" i="0" u="none" strike="noStrike" cap="none">
              <a:solidFill>
                <a:srgbClr val="717074"/>
              </a:solidFill>
              <a:latin typeface="Arial"/>
              <a:ea typeface="Arial"/>
              <a:cs typeface="Arial"/>
              <a:sym typeface="Aria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 Leaf">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6814E578-7DFB-C273-472E-4EAD46D26ACD}"/>
              </a:ext>
            </a:extLst>
          </p:cNvPr>
          <p:cNvSpPr/>
          <p:nvPr/>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dirty="0"/>
          </a:p>
        </p:txBody>
      </p:sp>
      <p:sp>
        <p:nvSpPr>
          <p:cNvPr id="2" name="Title click to edit"/>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Green Theme</a:t>
            </a:r>
          </a:p>
        </p:txBody>
      </p:sp>
      <p:sp>
        <p:nvSpPr>
          <p:cNvPr id="128" name="Subtitle click to edit">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subtitle placeholder</a:t>
            </a:r>
          </a:p>
        </p:txBody>
      </p:sp>
      <p:sp>
        <p:nvSpPr>
          <p:cNvPr id="7" name="Click to edit Speaker Name ">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dirty="0"/>
              <a:t>Speaker Name (Insert pronouns)</a:t>
            </a:r>
          </a:p>
        </p:txBody>
      </p:sp>
      <p:sp>
        <p:nvSpPr>
          <p:cNvPr id="129" name="Click to edit role">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8" name="Click to edit role">
            <a:extLst>
              <a:ext uri="{FF2B5EF4-FFF2-40B4-BE49-F238E27FC236}">
                <a16:creationId xmlns:a16="http://schemas.microsoft.com/office/drawing/2014/main" id="{006FF8D0-7AF6-C549-9BFB-E838D6CDCA0E}"/>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grpSp>
        <p:nvGrpSpPr>
          <p:cNvPr id="55" name="Graphic 8">
            <a:extLst>
              <a:ext uri="{FF2B5EF4-FFF2-40B4-BE49-F238E27FC236}">
                <a16:creationId xmlns:a16="http://schemas.microsoft.com/office/drawing/2014/main" id="{BAF838CA-49F3-885B-C026-D4C6B5E51AA9}"/>
              </a:ext>
            </a:extLst>
          </p:cNvPr>
          <p:cNvGrpSpPr/>
          <p:nvPr/>
        </p:nvGrpSpPr>
        <p:grpSpPr>
          <a:xfrm>
            <a:off x="265625" y="6323271"/>
            <a:ext cx="1249223" cy="369648"/>
            <a:chOff x="265625" y="6323271"/>
            <a:chExt cx="1249223" cy="369648"/>
          </a:xfrm>
          <a:solidFill>
            <a:srgbClr val="000000"/>
          </a:solidFill>
        </p:grpSpPr>
        <p:grpSp>
          <p:nvGrpSpPr>
            <p:cNvPr id="56"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131" name="Freeform 130">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132" name="Freeform 131">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133" name="Freeform 132">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134" name="Freeform 133">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135" name="Freeform 134">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36" name="Freeform 135">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137" name="Freeform 136">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138" name="Freeform 137">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139" name="Freeform 138">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140" name="Freeform 139">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57"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58" name="Freeform 57">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60" name="Freeform 59">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61" name="Freeform 60">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30" name="Freeform 129">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3" name="Freeform: Shape 3">
            <a:extLst>
              <a:ext uri="{FF2B5EF4-FFF2-40B4-BE49-F238E27FC236}">
                <a16:creationId xmlns:a16="http://schemas.microsoft.com/office/drawing/2014/main" id="{6814E578-7DFB-C273-472E-4EAD46D26ACD}"/>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7000">
                <a:schemeClr val="accent4"/>
              </a:gs>
              <a:gs pos="83000">
                <a:schemeClr val="accent3"/>
              </a:gs>
            </a:gsLst>
            <a:lin ang="19200000" scaled="0"/>
            <a:tileRect/>
          </a:gradFill>
          <a:ln w="0" cap="flat">
            <a:noFill/>
            <a:prstDash val="solid"/>
            <a:miter/>
          </a:ln>
        </p:spPr>
        <p:txBody>
          <a:bodyPr rtlCol="0" anchor="ctr"/>
          <a:lstStyle/>
          <a:p>
            <a:endParaRPr lang="en-US" dirty="0"/>
          </a:p>
        </p:txBody>
      </p:sp>
      <p:sp>
        <p:nvSpPr>
          <p:cNvPr id="34" name="Freeform: Shape 4">
            <a:extLst>
              <a:ext uri="{FF2B5EF4-FFF2-40B4-BE49-F238E27FC236}">
                <a16:creationId xmlns:a16="http://schemas.microsoft.com/office/drawing/2014/main" id="{03689AEB-304C-881F-44CE-28E14E31AD6E}"/>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4"/>
              </a:gs>
            </a:gsLst>
            <a:lin ang="0" scaled="1"/>
          </a:gradFill>
          <a:ln w="0" cap="flat">
            <a:noFill/>
            <a:prstDash val="solid"/>
            <a:miter/>
          </a:ln>
          <a:effectLst/>
        </p:spPr>
        <p:txBody>
          <a:bodyPr rtlCol="0" anchor="ctr"/>
          <a:lstStyle/>
          <a:p>
            <a:endParaRPr lang="en-US" dirty="0"/>
          </a:p>
        </p:txBody>
      </p:sp>
      <p:grpSp>
        <p:nvGrpSpPr>
          <p:cNvPr id="37" name="Graphic 8">
            <a:extLst>
              <a:ext uri="{FF2B5EF4-FFF2-40B4-BE49-F238E27FC236}">
                <a16:creationId xmlns:a16="http://schemas.microsoft.com/office/drawing/2014/main" id="{BAF838CA-49F3-885B-C026-D4C6B5E51AA9}"/>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91AFFF59-3E20-ED5A-C64D-6AD2EC10FA71}"/>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26A3A367-AF7A-3CE1-7219-BF42CFB83015}"/>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87557BA2-6363-9310-7758-7E46B2725CB3}"/>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98E3995A-00E8-9970-E347-1DB033726417}"/>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E557F3F2-0097-5608-0D6B-ADBD20A05750}"/>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A1EE9404-4BD9-8680-1C8A-3B583B49285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FC84855E-D060-5D16-8F8D-2BD34D9B94F5}"/>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031F79CD-4C5E-D24F-635E-7A7B4878110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DAD1797E-9105-FA8E-4A81-FDC253F04EA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6CDD0DC3-97C4-C10E-1058-099303CC93F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CEBC9053-842B-8221-2B9E-1E02856F997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C3D6A2E6-7175-657A-FFEE-732370A03645}"/>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6EE5B3D8-4F75-F4A5-6852-90C7E67B399F}"/>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8D359421-6F5E-68EB-A130-9078431086FE}"/>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3B593B1C-97BF-E3FD-9202-FAE7DC7D404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84036B4-CA32-5C66-D108-9873B6C3702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76DBD31D-FDBB-F787-B22E-2F397F09B54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98164034-B26F-5ACB-9B90-EBBD1F9B1137}"/>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347DB589-B53E-03EB-2555-D38B1A06D8EF}"/>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6" name="TextBox 5">
            <a:extLst>
              <a:ext uri="{FF2B5EF4-FFF2-40B4-BE49-F238E27FC236}">
                <a16:creationId xmlns:a16="http://schemas.microsoft.com/office/drawing/2014/main" id="{E6F05D4E-954E-5EA3-A012-EBA68A5DEAED}"/>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and Confidential.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42300816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Title Slide – Aqua">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6007DB4E-DF1B-4B7A-6FC4-46981281D8D1}"/>
              </a:ext>
            </a:extLst>
          </p:cNvPr>
          <p:cNvPicPr>
            <a:picLocks noChangeAspect="1"/>
          </p:cNvPicPr>
          <p:nvPr/>
        </p:nvPicPr>
        <p:blipFill>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12" name="Freeform: Shape 11">
            <a:extLst>
              <a:ext uri="{FF2B5EF4-FFF2-40B4-BE49-F238E27FC236}">
                <a16:creationId xmlns:a16="http://schemas.microsoft.com/office/drawing/2014/main" id="{A93B8B11-A691-8250-9E87-65BB5A241D07}"/>
              </a:ext>
            </a:extLst>
          </p:cNvPr>
          <p:cNvSpPr/>
          <p:nvPr/>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16000">
                <a:schemeClr val="accent2"/>
              </a:gs>
              <a:gs pos="90000">
                <a:schemeClr val="accent3"/>
              </a:gs>
            </a:gsLst>
            <a:lin ang="19200000" scaled="0"/>
            <a:tileRect/>
          </a:gradFill>
          <a:ln w="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F3963894-AB1A-DA1F-BF82-7542D160FA67}"/>
              </a:ext>
            </a:extLst>
          </p:cNvPr>
          <p:cNvSpPr/>
          <p:nvPr/>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13" name="Click to edit Speaker Name ">
            <a:extLst>
              <a:ext uri="{FF2B5EF4-FFF2-40B4-BE49-F238E27FC236}">
                <a16:creationId xmlns:a16="http://schemas.microsoft.com/office/drawing/2014/main" id="{BE8CF301-A89D-F446-8E25-48C52B357C1E}"/>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a:t>Speaker Name (Insert pronouns)</a:t>
            </a:r>
          </a:p>
        </p:txBody>
      </p:sp>
      <p:sp>
        <p:nvSpPr>
          <p:cNvPr id="14" name="Click to edit role">
            <a:extLst>
              <a:ext uri="{FF2B5EF4-FFF2-40B4-BE49-F238E27FC236}">
                <a16:creationId xmlns:a16="http://schemas.microsoft.com/office/drawing/2014/main" id="{A6793BDF-BE4B-0441-BDFD-DE9B2F59D3D0}"/>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7" name="Click to edit role">
            <a:extLst>
              <a:ext uri="{FF2B5EF4-FFF2-40B4-BE49-F238E27FC236}">
                <a16:creationId xmlns:a16="http://schemas.microsoft.com/office/drawing/2014/main" id="{DF9375A3-70DB-2E43-AFE1-9357176168C4}"/>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grpSp>
        <p:nvGrpSpPr>
          <p:cNvPr id="8" name="Graphic 8">
            <a:extLst>
              <a:ext uri="{FF2B5EF4-FFF2-40B4-BE49-F238E27FC236}">
                <a16:creationId xmlns:a16="http://schemas.microsoft.com/office/drawing/2014/main" id="{D1A5F4CE-EB72-C266-1B3B-9C54BD2303E1}"/>
              </a:ext>
            </a:extLst>
          </p:cNvPr>
          <p:cNvGrpSpPr/>
          <p:nvPr/>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2137E5D9-482E-8131-7FF0-1050E105997F}"/>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401D4578-40C7-2585-4FDC-D4668051810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7D357427-0517-5C7D-A2F9-9FA354E4992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1F2840FE-B7E9-55F1-1465-C3EC98EC0AC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935EB82F-29DB-B50B-2148-8B6B0BBCAF7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88238D6F-727C-429B-85BB-BB97763DD8B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9C614CC9-29E5-4669-6FEA-79EC278FE091}"/>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77E21B9D-99B5-B6C1-54E7-0043458780C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4D857C41-1105-53B4-027A-9AAD9B68FE20}"/>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8E094421-7705-4F5D-AD3D-5BE22A2FAF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485723E5-9424-E475-7092-E94E9597350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0" name="Graphic 8">
              <a:extLst>
                <a:ext uri="{FF2B5EF4-FFF2-40B4-BE49-F238E27FC236}">
                  <a16:creationId xmlns:a16="http://schemas.microsoft.com/office/drawing/2014/main" id="{C1BCA891-9818-3C98-5E5D-CAAA5BC1C8D8}"/>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88AEA6DD-162C-57F8-3709-64B3B9BC62B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FC17F96D-EC21-771A-4BFB-097D052B25F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D310231D-256A-7136-6FBC-2E63F32653F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4D14B69E-286C-4E39-05BC-F4A507A000E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C86A5B8B-2CA3-DA7C-8F1D-838462A9013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CDAF0B3D-FBD5-4563-20CD-70B391907C0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BC54CD76-F7DE-5D47-2726-1FB2EE8F9EB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itle click to edit">
            <a:extLst>
              <a:ext uri="{FF2B5EF4-FFF2-40B4-BE49-F238E27FC236}">
                <a16:creationId xmlns:a16="http://schemas.microsoft.com/office/drawing/2014/main" id="{3D2AD2AB-2D36-6FA3-D90D-BBA20ECE200F}"/>
              </a:ext>
            </a:extLst>
          </p:cNvPr>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Blue Theme</a:t>
            </a:r>
          </a:p>
        </p:txBody>
      </p:sp>
      <p:sp>
        <p:nvSpPr>
          <p:cNvPr id="4" name="Subtitle click to edit">
            <a:extLst>
              <a:ext uri="{FF2B5EF4-FFF2-40B4-BE49-F238E27FC236}">
                <a16:creationId xmlns:a16="http://schemas.microsoft.com/office/drawing/2014/main" id="{CC0EBB9D-D839-7841-ED94-78F86A22AB93}"/>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placeholder</a:t>
            </a:r>
          </a:p>
        </p:txBody>
      </p:sp>
      <p:sp>
        <p:nvSpPr>
          <p:cNvPr id="35" name="Freeform: Shape 14">
            <a:extLst>
              <a:ext uri="{FF2B5EF4-FFF2-40B4-BE49-F238E27FC236}">
                <a16:creationId xmlns:a16="http://schemas.microsoft.com/office/drawing/2014/main" id="{F3963894-AB1A-DA1F-BF82-7542D160FA67}"/>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grpSp>
        <p:nvGrpSpPr>
          <p:cNvPr id="38" name="Graphic 8">
            <a:extLst>
              <a:ext uri="{FF2B5EF4-FFF2-40B4-BE49-F238E27FC236}">
                <a16:creationId xmlns:a16="http://schemas.microsoft.com/office/drawing/2014/main" id="{D1A5F4CE-EB72-C266-1B3B-9C54BD2303E1}"/>
              </a:ext>
            </a:extLst>
          </p:cNvPr>
          <p:cNvGrpSpPr/>
          <p:nvPr userDrawn="1"/>
        </p:nvGrpSpPr>
        <p:grpSpPr>
          <a:xfrm>
            <a:off x="265625" y="6323271"/>
            <a:ext cx="1249223" cy="369648"/>
            <a:chOff x="265625" y="6323271"/>
            <a:chExt cx="1249223" cy="369648"/>
          </a:xfrm>
          <a:solidFill>
            <a:srgbClr val="000000"/>
          </a:solidFill>
        </p:grpSpPr>
        <p:grpSp>
          <p:nvGrpSpPr>
            <p:cNvPr id="39" name="Graphic 8">
              <a:extLst>
                <a:ext uri="{FF2B5EF4-FFF2-40B4-BE49-F238E27FC236}">
                  <a16:creationId xmlns:a16="http://schemas.microsoft.com/office/drawing/2014/main" id="{2137E5D9-482E-8131-7FF0-1050E105997F}"/>
                </a:ext>
              </a:extLst>
            </p:cNvPr>
            <p:cNvGrpSpPr/>
            <p:nvPr/>
          </p:nvGrpSpPr>
          <p:grpSpPr>
            <a:xfrm>
              <a:off x="745455" y="6594444"/>
              <a:ext cx="722662" cy="98475"/>
              <a:chOff x="745455" y="6594444"/>
              <a:chExt cx="722662" cy="98475"/>
            </a:xfrm>
            <a:solidFill>
              <a:srgbClr val="000000"/>
            </a:solidFill>
          </p:grpSpPr>
          <p:sp>
            <p:nvSpPr>
              <p:cNvPr id="48" name="Freeform 47">
                <a:extLst>
                  <a:ext uri="{FF2B5EF4-FFF2-40B4-BE49-F238E27FC236}">
                    <a16:creationId xmlns:a16="http://schemas.microsoft.com/office/drawing/2014/main" id="{401D4578-40C7-2585-4FDC-D46680518109}"/>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7D357427-0517-5C7D-A2F9-9FA354E4992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1F2840FE-B7E9-55F1-1465-C3EC98EC0ACE}"/>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935EB82F-29DB-B50B-2148-8B6B0BBCAF7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88238D6F-727C-429B-85BB-BB97763DD8B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9C614CC9-29E5-4669-6FEA-79EC278FE091}"/>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77E21B9D-99B5-B6C1-54E7-0043458780C4}"/>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4D857C41-1105-53B4-027A-9AAD9B68FE20}"/>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8E094421-7705-4F5D-AD3D-5BE22A2FAF7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485723E5-9424-E475-7092-E94E9597350E}"/>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0" name="Graphic 8">
              <a:extLst>
                <a:ext uri="{FF2B5EF4-FFF2-40B4-BE49-F238E27FC236}">
                  <a16:creationId xmlns:a16="http://schemas.microsoft.com/office/drawing/2014/main" id="{C1BCA891-9818-3C98-5E5D-CAAA5BC1C8D8}"/>
                </a:ext>
              </a:extLst>
            </p:cNvPr>
            <p:cNvGrpSpPr/>
            <p:nvPr/>
          </p:nvGrpSpPr>
          <p:grpSpPr>
            <a:xfrm>
              <a:off x="265625" y="6323271"/>
              <a:ext cx="1249223" cy="190348"/>
              <a:chOff x="265625" y="6323271"/>
              <a:chExt cx="1249223" cy="190348"/>
            </a:xfrm>
            <a:solidFill>
              <a:srgbClr val="000000"/>
            </a:solidFill>
          </p:grpSpPr>
          <p:sp>
            <p:nvSpPr>
              <p:cNvPr id="41" name="Freeform 40">
                <a:extLst>
                  <a:ext uri="{FF2B5EF4-FFF2-40B4-BE49-F238E27FC236}">
                    <a16:creationId xmlns:a16="http://schemas.microsoft.com/office/drawing/2014/main" id="{88AEA6DD-162C-57F8-3709-64B3B9BC62B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FC17F96D-EC21-771A-4BFB-097D052B25FC}"/>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D310231D-256A-7136-6FBC-2E63F32653FC}"/>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4D14B69E-286C-4E39-05BC-F4A507A000E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C86A5B8B-2CA3-DA7C-8F1D-838462A9013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CDAF0B3D-FBD5-4563-20CD-70B391907C0A}"/>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BC54CD76-F7DE-5D47-2726-1FB2EE8F9EBE}"/>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 name="TextBox 4">
            <a:extLst>
              <a:ext uri="{FF2B5EF4-FFF2-40B4-BE49-F238E27FC236}">
                <a16:creationId xmlns:a16="http://schemas.microsoft.com/office/drawing/2014/main" id="{DAC4568A-0320-BB95-EB37-40F255DCBF74}"/>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and Confidential.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2664608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Title Slide – Plum">
    <p:spTree>
      <p:nvGrpSpPr>
        <p:cNvPr id="1" name=""/>
        <p:cNvGrpSpPr/>
        <p:nvPr/>
      </p:nvGrpSpPr>
      <p:grpSpPr>
        <a:xfrm>
          <a:off x="0" y="0"/>
          <a:ext cx="0" cy="0"/>
          <a:chOff x="0" y="0"/>
          <a:chExt cx="0" cy="0"/>
        </a:xfrm>
      </p:grpSpPr>
      <p:pic>
        <p:nvPicPr>
          <p:cNvPr id="56" name="Graphic 55">
            <a:extLst>
              <a:ext uri="{FF2B5EF4-FFF2-40B4-BE49-F238E27FC236}">
                <a16:creationId xmlns:a16="http://schemas.microsoft.com/office/drawing/2014/main" id="{CC06A3C2-D9D3-F0BE-4283-65EFB0C40361}"/>
              </a:ext>
            </a:extLst>
          </p:cNvPr>
          <p:cNvPicPr>
            <a:picLocks noChangeAspect="1"/>
          </p:cNvPicPr>
          <p:nvPr/>
        </p:nvPicPr>
        <p:blipFill>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042" r="1973" b="1787"/>
          <a:stretch>
            <a:fillRect/>
          </a:stretch>
        </p:blipFill>
        <p:spPr>
          <a:xfrm>
            <a:off x="0" y="658109"/>
            <a:ext cx="12188825" cy="6205839"/>
          </a:xfrm>
          <a:custGeom>
            <a:avLst/>
            <a:gdLst>
              <a:gd name="connsiteX0" fmla="*/ 0 w 12192401"/>
              <a:gd name="connsiteY0" fmla="*/ 0 h 6207660"/>
              <a:gd name="connsiteX1" fmla="*/ 12192401 w 12192401"/>
              <a:gd name="connsiteY1" fmla="*/ 0 h 6207660"/>
              <a:gd name="connsiteX2" fmla="*/ 12192401 w 12192401"/>
              <a:gd name="connsiteY2" fmla="*/ 6207660 h 6207660"/>
              <a:gd name="connsiteX3" fmla="*/ 0 w 12192401"/>
              <a:gd name="connsiteY3" fmla="*/ 6207660 h 6207660"/>
            </a:gdLst>
            <a:ahLst/>
            <a:cxnLst>
              <a:cxn ang="0">
                <a:pos x="connsiteX0" y="connsiteY0"/>
              </a:cxn>
              <a:cxn ang="0">
                <a:pos x="connsiteX1" y="connsiteY1"/>
              </a:cxn>
              <a:cxn ang="0">
                <a:pos x="connsiteX2" y="connsiteY2"/>
              </a:cxn>
              <a:cxn ang="0">
                <a:pos x="connsiteX3" y="connsiteY3"/>
              </a:cxn>
            </a:cxnLst>
            <a:rect l="l" t="t" r="r" b="b"/>
            <a:pathLst>
              <a:path w="12192401" h="6207660">
                <a:moveTo>
                  <a:pt x="0" y="0"/>
                </a:moveTo>
                <a:lnTo>
                  <a:pt x="12192401" y="0"/>
                </a:lnTo>
                <a:lnTo>
                  <a:pt x="12192401" y="6207660"/>
                </a:lnTo>
                <a:lnTo>
                  <a:pt x="0" y="6207660"/>
                </a:lnTo>
                <a:close/>
              </a:path>
            </a:pathLst>
          </a:custGeom>
          <a:effectLst>
            <a:outerShdw blurRad="241300" sx="102000" sy="102000" algn="ctr" rotWithShape="0">
              <a:schemeClr val="accent3">
                <a:alpha val="15000"/>
              </a:schemeClr>
            </a:outerShdw>
          </a:effectLst>
        </p:spPr>
      </p:pic>
      <p:sp>
        <p:nvSpPr>
          <p:cNvPr id="42" name="Freeform: Shape 41">
            <a:extLst>
              <a:ext uri="{FF2B5EF4-FFF2-40B4-BE49-F238E27FC236}">
                <a16:creationId xmlns:a16="http://schemas.microsoft.com/office/drawing/2014/main" id="{044BC68A-DC70-D408-944E-73F6554FC359}"/>
              </a:ext>
            </a:extLst>
          </p:cNvPr>
          <p:cNvSpPr/>
          <p:nvPr userDrawn="1"/>
        </p:nvSpPr>
        <p:spPr>
          <a:xfrm>
            <a:off x="-3811" y="-260"/>
            <a:ext cx="6334843" cy="4737302"/>
          </a:xfrm>
          <a:custGeom>
            <a:avLst/>
            <a:gdLst>
              <a:gd name="connsiteX0" fmla="*/ 0 w 6334843"/>
              <a:gd name="connsiteY0" fmla="*/ 0 h 4737302"/>
              <a:gd name="connsiteX1" fmla="*/ 6334843 w 6334843"/>
              <a:gd name="connsiteY1" fmla="*/ 0 h 4737302"/>
              <a:gd name="connsiteX2" fmla="*/ 1987292 w 6334843"/>
              <a:gd name="connsiteY2" fmla="*/ 4347552 h 4737302"/>
              <a:gd name="connsiteX3" fmla="*/ 1046384 w 6334843"/>
              <a:gd name="connsiteY3" fmla="*/ 4737302 h 4737302"/>
              <a:gd name="connsiteX4" fmla="*/ 0 w 6334843"/>
              <a:gd name="connsiteY4" fmla="*/ 4737302 h 473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843" h="4737302">
                <a:moveTo>
                  <a:pt x="0" y="0"/>
                </a:moveTo>
                <a:lnTo>
                  <a:pt x="6334843" y="0"/>
                </a:lnTo>
                <a:lnTo>
                  <a:pt x="1987292" y="4347552"/>
                </a:lnTo>
                <a:cubicBezTo>
                  <a:pt x="1737727" y="4597117"/>
                  <a:pt x="1399274" y="4737302"/>
                  <a:pt x="1046384" y="4737302"/>
                </a:cubicBezTo>
                <a:lnTo>
                  <a:pt x="0" y="4737302"/>
                </a:lnTo>
                <a:close/>
              </a:path>
            </a:pathLst>
          </a:custGeom>
          <a:gradFill flip="none" rotWithShape="1">
            <a:gsLst>
              <a:gs pos="45000">
                <a:srgbClr val="4764A1"/>
              </a:gs>
              <a:gs pos="16000">
                <a:schemeClr val="accent5"/>
              </a:gs>
              <a:gs pos="90000">
                <a:schemeClr val="accent3"/>
              </a:gs>
            </a:gsLst>
            <a:lin ang="19200000" scaled="0"/>
            <a:tileRect/>
          </a:gradFill>
          <a:ln w="0" cap="flat">
            <a:noFill/>
            <a:prstDash val="solid"/>
            <a:miter/>
          </a:ln>
        </p:spPr>
        <p:txBody>
          <a:bodyPr rtlCol="0" anchor="ctr"/>
          <a:lstStyle/>
          <a:p>
            <a:endParaRPr lang="en-US" dirty="0"/>
          </a:p>
        </p:txBody>
      </p:sp>
      <p:sp>
        <p:nvSpPr>
          <p:cNvPr id="14" name="Click to edit Speaker Name ">
            <a:extLst>
              <a:ext uri="{FF2B5EF4-FFF2-40B4-BE49-F238E27FC236}">
                <a16:creationId xmlns:a16="http://schemas.microsoft.com/office/drawing/2014/main" id="{179DB1F6-DFFE-5E43-994F-B7DBFB112CAC}"/>
              </a:ext>
            </a:extLst>
          </p:cNvPr>
          <p:cNvSpPr>
            <a:spLocks noGrp="1"/>
          </p:cNvSpPr>
          <p:nvPr>
            <p:ph type="body" sz="quarter" idx="11" hasCustomPrompt="1"/>
          </p:nvPr>
        </p:nvSpPr>
        <p:spPr>
          <a:xfrm>
            <a:off x="6592948" y="4737425"/>
            <a:ext cx="5402202" cy="355601"/>
          </a:xfrm>
        </p:spPr>
        <p:txBody>
          <a:bodyPr anchor="b"/>
          <a:lstStyle>
            <a:lvl1pPr marL="0" marR="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lang="en-US" sz="1600" b="0" i="0" u="none" strike="noStrike" smtClean="0">
                <a:solidFill>
                  <a:schemeClr val="tx1"/>
                </a:solidFill>
                <a:effectLst/>
              </a:defRPr>
            </a:lvl1pPr>
          </a:lstStyle>
          <a:p>
            <a:pPr marL="0" marR="0" lvl="0" indent="0" algn="l" defTabSz="914400" rtl="0" eaLnBrk="1" fontAlgn="auto" latinLnBrk="0" hangingPunct="1">
              <a:lnSpc>
                <a:spcPct val="100000"/>
              </a:lnSpc>
              <a:spcBef>
                <a:spcPts val="1800"/>
              </a:spcBef>
              <a:spcAft>
                <a:spcPts val="0"/>
              </a:spcAft>
              <a:buClr>
                <a:schemeClr val="tx1">
                  <a:lumMod val="60000"/>
                  <a:lumOff val="40000"/>
                </a:schemeClr>
              </a:buClr>
              <a:buSzPct val="90000"/>
              <a:buFont typeface="Arial" panose="020B0604020202020204" pitchFamily="34" charset="0"/>
              <a:buNone/>
              <a:tabLst/>
              <a:defRPr/>
            </a:pPr>
            <a:r>
              <a:rPr lang="en-US"/>
              <a:t>Speaker Name (Insert pronouns)</a:t>
            </a:r>
          </a:p>
        </p:txBody>
      </p:sp>
      <p:sp>
        <p:nvSpPr>
          <p:cNvPr id="15" name="Click to edit role">
            <a:extLst>
              <a:ext uri="{FF2B5EF4-FFF2-40B4-BE49-F238E27FC236}">
                <a16:creationId xmlns:a16="http://schemas.microsoft.com/office/drawing/2014/main" id="{6C710D35-A62F-6545-8876-C6793E801C84}"/>
              </a:ext>
            </a:extLst>
          </p:cNvPr>
          <p:cNvSpPr>
            <a:spLocks noGrp="1"/>
          </p:cNvSpPr>
          <p:nvPr>
            <p:ph type="body" sz="quarter" idx="12" hasCustomPrompt="1"/>
          </p:nvPr>
        </p:nvSpPr>
        <p:spPr>
          <a:xfrm>
            <a:off x="6592948" y="5117480"/>
            <a:ext cx="5402202" cy="355601"/>
          </a:xfrm>
        </p:spPr>
        <p:txBody>
          <a:bodyPr/>
          <a:lstStyle>
            <a:lvl1pPr algn="l">
              <a:buNone/>
              <a:defRPr sz="1600">
                <a:solidFill>
                  <a:schemeClr val="tx1"/>
                </a:solidFill>
              </a:defRPr>
            </a:lvl1pPr>
          </a:lstStyle>
          <a:p>
            <a:pPr lvl="0"/>
            <a:r>
              <a:rPr lang="en-US" dirty="0"/>
              <a:t>Role / Division, Broadcom</a:t>
            </a:r>
          </a:p>
        </p:txBody>
      </p:sp>
      <p:sp>
        <p:nvSpPr>
          <p:cNvPr id="17" name="Click to edit role">
            <a:extLst>
              <a:ext uri="{FF2B5EF4-FFF2-40B4-BE49-F238E27FC236}">
                <a16:creationId xmlns:a16="http://schemas.microsoft.com/office/drawing/2014/main" id="{B7F8A130-4773-4943-B490-D62738C5089B}"/>
              </a:ext>
            </a:extLst>
          </p:cNvPr>
          <p:cNvSpPr>
            <a:spLocks noGrp="1"/>
          </p:cNvSpPr>
          <p:nvPr>
            <p:ph type="body" sz="quarter" idx="14" hasCustomPrompt="1"/>
          </p:nvPr>
        </p:nvSpPr>
        <p:spPr>
          <a:xfrm>
            <a:off x="6592948" y="5485986"/>
            <a:ext cx="5402202" cy="355601"/>
          </a:xfrm>
        </p:spPr>
        <p:txBody>
          <a:bodyPr/>
          <a:lstStyle>
            <a:lvl1pPr algn="l">
              <a:buNone/>
              <a:defRPr sz="1400">
                <a:solidFill>
                  <a:schemeClr val="tx1"/>
                </a:solidFill>
              </a:defRPr>
            </a:lvl1pPr>
          </a:lstStyle>
          <a:p>
            <a:pPr lvl="0"/>
            <a:r>
              <a:rPr lang="en-US"/>
              <a:t>Date</a:t>
            </a:r>
          </a:p>
        </p:txBody>
      </p:sp>
      <p:grpSp>
        <p:nvGrpSpPr>
          <p:cNvPr id="8" name="Graphic 8">
            <a:extLst>
              <a:ext uri="{FF2B5EF4-FFF2-40B4-BE49-F238E27FC236}">
                <a16:creationId xmlns:a16="http://schemas.microsoft.com/office/drawing/2014/main" id="{4F10736E-6ED5-0C6E-6075-508D9F639A18}"/>
              </a:ext>
            </a:extLst>
          </p:cNvPr>
          <p:cNvGrpSpPr/>
          <p:nvPr/>
        </p:nvGrpSpPr>
        <p:grpSpPr>
          <a:xfrm>
            <a:off x="265625" y="6323271"/>
            <a:ext cx="1249223" cy="369648"/>
            <a:chOff x="265625" y="6323271"/>
            <a:chExt cx="1249223" cy="369648"/>
          </a:xfrm>
          <a:solidFill>
            <a:srgbClr val="000000"/>
          </a:solidFill>
        </p:grpSpPr>
        <p:grpSp>
          <p:nvGrpSpPr>
            <p:cNvPr id="9" name="Graphic 8">
              <a:extLst>
                <a:ext uri="{FF2B5EF4-FFF2-40B4-BE49-F238E27FC236}">
                  <a16:creationId xmlns:a16="http://schemas.microsoft.com/office/drawing/2014/main" id="{D557BC25-A922-05FC-1A76-D49030DB2267}"/>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E523BF60-312B-1E34-6880-BC3B5C2FB75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6E52B076-2610-E4C9-CEC0-57CF7104EE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8CC2BE44-AF25-347C-4A92-7783845A362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34953679-859B-D0DA-4ABF-07E9F272DAD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DB109C9C-4551-1EB8-2259-0F9209674E9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929155CA-1046-8977-BCEE-14423F67DFAE}"/>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9217C2BD-2BFB-EBAE-BCB1-6E002578E6C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66D9CBF5-66C1-BF9F-86E0-C51B10B8BEC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B2149A32-E8CE-21A2-AF4D-E3E8EF4CD02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780C4423-7890-B27D-0AD6-86D259CD1CF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0" name="Graphic 8">
              <a:extLst>
                <a:ext uri="{FF2B5EF4-FFF2-40B4-BE49-F238E27FC236}">
                  <a16:creationId xmlns:a16="http://schemas.microsoft.com/office/drawing/2014/main" id="{E499E6B1-EF26-255F-D439-2060C0C8D8C4}"/>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5D3E6056-C980-C277-4EB0-3122E1B3783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BCA28A45-3EC9-4897-18A7-3B83D668F03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E1542068-8764-5E63-7689-E23588FB9F9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82CE85A8-18B9-28CA-3CA7-AF69CD0E7E65}"/>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7240059C-90E8-4CCA-BF9E-22A49938C59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78783A41-2765-E1DC-1DCD-C4E2CF3FF0E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354F7A79-211B-C147-2C67-7F3BF390F35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itle click to edit">
            <a:extLst>
              <a:ext uri="{FF2B5EF4-FFF2-40B4-BE49-F238E27FC236}">
                <a16:creationId xmlns:a16="http://schemas.microsoft.com/office/drawing/2014/main" id="{7692B9CF-CBD9-8BB1-F230-4EB7B6F8F864}"/>
              </a:ext>
            </a:extLst>
          </p:cNvPr>
          <p:cNvSpPr>
            <a:spLocks noGrp="1"/>
          </p:cNvSpPr>
          <p:nvPr>
            <p:ph type="title" hasCustomPrompt="1"/>
          </p:nvPr>
        </p:nvSpPr>
        <p:spPr>
          <a:xfrm>
            <a:off x="6592949" y="1701846"/>
            <a:ext cx="5102866" cy="1234440"/>
          </a:xfrm>
        </p:spPr>
        <p:txBody>
          <a:bodyPr wrap="square" anchor="b"/>
          <a:lstStyle>
            <a:lvl1pPr algn="l">
              <a:defRPr sz="4000" b="0" cap="none" baseline="0">
                <a:solidFill>
                  <a:schemeClr val="accent2"/>
                </a:solidFill>
              </a:defRPr>
            </a:lvl1pPr>
          </a:lstStyle>
          <a:p>
            <a:r>
              <a:rPr lang="en-US"/>
              <a:t>Title Slide – Purple Theme</a:t>
            </a:r>
          </a:p>
        </p:txBody>
      </p:sp>
      <p:sp>
        <p:nvSpPr>
          <p:cNvPr id="4" name="Subtitle click to edit">
            <a:extLst>
              <a:ext uri="{FF2B5EF4-FFF2-40B4-BE49-F238E27FC236}">
                <a16:creationId xmlns:a16="http://schemas.microsoft.com/office/drawing/2014/main" id="{5D44BD56-856D-6181-240D-ED5454B98CF0}"/>
              </a:ext>
            </a:extLst>
          </p:cNvPr>
          <p:cNvSpPr>
            <a:spLocks noGrp="1"/>
          </p:cNvSpPr>
          <p:nvPr>
            <p:ph type="subTitle" idx="10" hasCustomPrompt="1"/>
          </p:nvPr>
        </p:nvSpPr>
        <p:spPr>
          <a:xfrm>
            <a:off x="6592948" y="2986547"/>
            <a:ext cx="5116452" cy="416403"/>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placeholder</a:t>
            </a:r>
          </a:p>
        </p:txBody>
      </p:sp>
      <p:sp>
        <p:nvSpPr>
          <p:cNvPr id="68" name="Freeform: Shape 67">
            <a:extLst>
              <a:ext uri="{FF2B5EF4-FFF2-40B4-BE49-F238E27FC236}">
                <a16:creationId xmlns:a16="http://schemas.microsoft.com/office/drawing/2014/main" id="{0D16AAF9-608F-69E5-7209-741EB708452B}"/>
              </a:ext>
            </a:extLst>
          </p:cNvPr>
          <p:cNvSpPr/>
          <p:nvPr/>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rgbClr val="6C4B91"/>
              </a:gs>
            </a:gsLst>
            <a:lin ang="0" scaled="1"/>
          </a:gradFill>
          <a:ln w="0" cap="flat">
            <a:noFill/>
            <a:prstDash val="solid"/>
            <a:miter/>
          </a:ln>
        </p:spPr>
        <p:txBody>
          <a:bodyPr rtlCol="0" anchor="ctr"/>
          <a:lstStyle/>
          <a:p>
            <a:endParaRPr lang="en-US" dirty="0"/>
          </a:p>
        </p:txBody>
      </p:sp>
      <p:grpSp>
        <p:nvGrpSpPr>
          <p:cNvPr id="37" name="Graphic 8">
            <a:extLst>
              <a:ext uri="{FF2B5EF4-FFF2-40B4-BE49-F238E27FC236}">
                <a16:creationId xmlns:a16="http://schemas.microsoft.com/office/drawing/2014/main" id="{4F10736E-6ED5-0C6E-6075-508D9F639A18}"/>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D557BC25-A922-05FC-1A76-D49030DB2267}"/>
                </a:ext>
              </a:extLst>
            </p:cNvPr>
            <p:cNvGrpSpPr/>
            <p:nvPr/>
          </p:nvGrpSpPr>
          <p:grpSpPr>
            <a:xfrm>
              <a:off x="745455" y="6594444"/>
              <a:ext cx="722662" cy="98475"/>
              <a:chOff x="745455" y="6594444"/>
              <a:chExt cx="722662" cy="98475"/>
            </a:xfrm>
            <a:solidFill>
              <a:srgbClr val="000000"/>
            </a:solidFill>
          </p:grpSpPr>
          <p:sp>
            <p:nvSpPr>
              <p:cNvPr id="48" name="Freeform 47">
                <a:extLst>
                  <a:ext uri="{FF2B5EF4-FFF2-40B4-BE49-F238E27FC236}">
                    <a16:creationId xmlns:a16="http://schemas.microsoft.com/office/drawing/2014/main" id="{E523BF60-312B-1E34-6880-BC3B5C2FB75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6E52B076-2610-E4C9-CEC0-57CF7104EE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8CC2BE44-AF25-347C-4A92-7783845A362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34953679-859B-D0DA-4ABF-07E9F272DAD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DB109C9C-4551-1EB8-2259-0F9209674E9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929155CA-1046-8977-BCEE-14423F67DFAE}"/>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9217C2BD-2BFB-EBAE-BCB1-6E002578E6C9}"/>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66D9CBF5-66C1-BF9F-86E0-C51B10B8BEC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B2149A32-E8CE-21A2-AF4D-E3E8EF4CD02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780C4423-7890-B27D-0AD6-86D259CD1CF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E499E6B1-EF26-255F-D439-2060C0C8D8C4}"/>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5D3E6056-C980-C277-4EB0-3122E1B3783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BCA28A45-3EC9-4897-18A7-3B83D668F03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E1542068-8764-5E63-7689-E23588FB9F9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82CE85A8-18B9-28CA-3CA7-AF69CD0E7E65}"/>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7240059C-90E8-4CCA-BF9E-22A49938C59A}"/>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78783A41-2765-E1DC-1DCD-C4E2CF3FF0E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354F7A79-211B-C147-2C67-7F3BF390F35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9" name="Freeform: Shape 67">
            <a:extLst>
              <a:ext uri="{FF2B5EF4-FFF2-40B4-BE49-F238E27FC236}">
                <a16:creationId xmlns:a16="http://schemas.microsoft.com/office/drawing/2014/main" id="{0D16AAF9-608F-69E5-7209-741EB708452B}"/>
              </a:ext>
            </a:extLst>
          </p:cNvPr>
          <p:cNvSpPr/>
          <p:nvPr userDrawn="1"/>
        </p:nvSpPr>
        <p:spPr>
          <a:xfrm>
            <a:off x="-7657" y="648483"/>
            <a:ext cx="12205474" cy="5413289"/>
          </a:xfrm>
          <a:custGeom>
            <a:avLst/>
            <a:gdLst>
              <a:gd name="connsiteX0" fmla="*/ 7251847 w 12205474"/>
              <a:gd name="connsiteY0" fmla="*/ 0 h 5413289"/>
              <a:gd name="connsiteX1" fmla="*/ 12205474 w 12205474"/>
              <a:gd name="connsiteY1" fmla="*/ 0 h 5413289"/>
              <a:gd name="connsiteX2" fmla="*/ 12205474 w 12205474"/>
              <a:gd name="connsiteY2" fmla="*/ 76269 h 5413289"/>
              <a:gd name="connsiteX3" fmla="*/ 7251847 w 12205474"/>
              <a:gd name="connsiteY3" fmla="*/ 76269 h 5413289"/>
              <a:gd name="connsiteX4" fmla="*/ 6672965 w 12205474"/>
              <a:gd name="connsiteY4" fmla="*/ 191435 h 5413289"/>
              <a:gd name="connsiteX5" fmla="*/ 6182235 w 12205474"/>
              <a:gd name="connsiteY5" fmla="*/ 519327 h 5413289"/>
              <a:gd name="connsiteX6" fmla="*/ 1792619 w 12205474"/>
              <a:gd name="connsiteY6" fmla="*/ 4923656 h 5413289"/>
              <a:gd name="connsiteX7" fmla="*/ 1252315 w 12205474"/>
              <a:gd name="connsiteY7" fmla="*/ 5284725 h 5413289"/>
              <a:gd name="connsiteX8" fmla="*/ 615085 w 12205474"/>
              <a:gd name="connsiteY8" fmla="*/ 5411458 h 5413289"/>
              <a:gd name="connsiteX9" fmla="*/ 0 w 12205474"/>
              <a:gd name="connsiteY9" fmla="*/ 5413289 h 5413289"/>
              <a:gd name="connsiteX10" fmla="*/ 0 w 12205474"/>
              <a:gd name="connsiteY10" fmla="*/ 5336993 h 5413289"/>
              <a:gd name="connsiteX11" fmla="*/ 615085 w 12205474"/>
              <a:gd name="connsiteY11" fmla="*/ 5335189 h 5413289"/>
              <a:gd name="connsiteX12" fmla="*/ 1738659 w 12205474"/>
              <a:gd name="connsiteY12" fmla="*/ 4869823 h 5413289"/>
              <a:gd name="connsiteX13" fmla="*/ 6128274 w 12205474"/>
              <a:gd name="connsiteY13" fmla="*/ 465366 h 5413289"/>
              <a:gd name="connsiteX14" fmla="*/ 7251847 w 12205474"/>
              <a:gd name="connsiteY14" fmla="*/ 0 h 54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5474" h="5413289">
                <a:moveTo>
                  <a:pt x="7251847" y="0"/>
                </a:moveTo>
                <a:lnTo>
                  <a:pt x="12205474" y="0"/>
                </a:lnTo>
                <a:lnTo>
                  <a:pt x="12205474" y="76269"/>
                </a:lnTo>
                <a:lnTo>
                  <a:pt x="7251847" y="76269"/>
                </a:lnTo>
                <a:cubicBezTo>
                  <a:pt x="7052214" y="76269"/>
                  <a:pt x="6857409" y="115039"/>
                  <a:pt x="6672965" y="191435"/>
                </a:cubicBezTo>
                <a:cubicBezTo>
                  <a:pt x="6488519" y="267830"/>
                  <a:pt x="6323397" y="378166"/>
                  <a:pt x="6182235" y="519327"/>
                </a:cubicBezTo>
                <a:lnTo>
                  <a:pt x="1792619" y="4923656"/>
                </a:lnTo>
                <a:cubicBezTo>
                  <a:pt x="1637157" y="5079181"/>
                  <a:pt x="1455382" y="5200638"/>
                  <a:pt x="1252315" y="5284725"/>
                </a:cubicBezTo>
                <a:cubicBezTo>
                  <a:pt x="1049248" y="5368811"/>
                  <a:pt x="834867" y="5411458"/>
                  <a:pt x="615085" y="5411458"/>
                </a:cubicBezTo>
                <a:lnTo>
                  <a:pt x="0" y="5413289"/>
                </a:lnTo>
                <a:lnTo>
                  <a:pt x="0" y="5336993"/>
                </a:lnTo>
                <a:lnTo>
                  <a:pt x="615085" y="5335189"/>
                </a:lnTo>
                <a:cubicBezTo>
                  <a:pt x="1036536" y="5335189"/>
                  <a:pt x="1440700" y="5167779"/>
                  <a:pt x="1738659" y="4869823"/>
                </a:cubicBezTo>
                <a:lnTo>
                  <a:pt x="6128274" y="465366"/>
                </a:lnTo>
                <a:cubicBezTo>
                  <a:pt x="6426298" y="167410"/>
                  <a:pt x="6830460" y="0"/>
                  <a:pt x="7251847" y="0"/>
                </a:cubicBezTo>
                <a:close/>
              </a:path>
            </a:pathLst>
          </a:custGeom>
          <a:gradFill>
            <a:gsLst>
              <a:gs pos="20000">
                <a:srgbClr val="0095C4"/>
              </a:gs>
              <a:gs pos="80000">
                <a:srgbClr val="6C4B91"/>
              </a:gs>
            </a:gsLst>
            <a:lin ang="0" scaled="1"/>
          </a:gradFill>
          <a:ln w="0" cap="flat">
            <a:noFill/>
            <a:prstDash val="solid"/>
            <a:miter/>
          </a:ln>
        </p:spPr>
        <p:txBody>
          <a:bodyPr rtlCol="0" anchor="ctr"/>
          <a:lstStyle/>
          <a:p>
            <a:endParaRPr lang="en-US" dirty="0"/>
          </a:p>
        </p:txBody>
      </p:sp>
      <p:sp>
        <p:nvSpPr>
          <p:cNvPr id="2" name="TextBox 1">
            <a:extLst>
              <a:ext uri="{FF2B5EF4-FFF2-40B4-BE49-F238E27FC236}">
                <a16:creationId xmlns:a16="http://schemas.microsoft.com/office/drawing/2014/main" id="{FA76E0D8-08E5-5C29-F0C2-9A437B893DA8}"/>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33749510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730" name="page number">
            <a:extLst>
              <a:ext uri="{FF2B5EF4-FFF2-40B4-BE49-F238E27FC236}">
                <a16:creationId xmlns:a16="http://schemas.microsoft.com/office/drawing/2014/main" id="{AB8D1A6B-3CE6-468D-804E-6300F8B6DC8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5" name="page number">
            <a:extLst>
              <a:ext uri="{FF2B5EF4-FFF2-40B4-BE49-F238E27FC236}">
                <a16:creationId xmlns:a16="http://schemas.microsoft.com/office/drawing/2014/main" id="{AB8D1A6B-3CE6-468D-804E-6300F8B6DC8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4" name="Text Placeholder 3">
            <a:extLst>
              <a:ext uri="{FF2B5EF4-FFF2-40B4-BE49-F238E27FC236}">
                <a16:creationId xmlns:a16="http://schemas.microsoft.com/office/drawing/2014/main" id="{B6CCD82C-92EF-52E3-6D43-409D112BB960}"/>
              </a:ext>
            </a:extLst>
          </p:cNvPr>
          <p:cNvSpPr>
            <a:spLocks noGrp="1"/>
          </p:cNvSpPr>
          <p:nvPr>
            <p:ph type="body" sz="quarter" idx="24"/>
          </p:nvPr>
        </p:nvSpPr>
        <p:spPr>
          <a:xfrm>
            <a:off x="609600" y="1267608"/>
            <a:ext cx="1939925" cy="1969770"/>
          </a:xfrm>
        </p:spPr>
        <p:txBody>
          <a:bodyPr>
            <a:spAutoFit/>
          </a:bodyPr>
          <a:lstStyle>
            <a:lvl1pPr>
              <a:defRPr sz="3200">
                <a:solidFill>
                  <a:schemeClr val="accent2"/>
                </a:solidFill>
                <a:latin typeface="+mj-lt"/>
              </a:defRPr>
            </a:lvl1pPr>
          </a:lstStyle>
          <a:p>
            <a:pPr lvl="0"/>
            <a:r>
              <a:rPr lang="en-US"/>
              <a:t>Click to edit Master text styles</a:t>
            </a:r>
          </a:p>
        </p:txBody>
      </p:sp>
      <p:sp>
        <p:nvSpPr>
          <p:cNvPr id="7" name="Text Placeholder 6">
            <a:extLst>
              <a:ext uri="{FF2B5EF4-FFF2-40B4-BE49-F238E27FC236}">
                <a16:creationId xmlns:a16="http://schemas.microsoft.com/office/drawing/2014/main" id="{E948148D-4A41-A447-0432-B69E69A94358}"/>
              </a:ext>
            </a:extLst>
          </p:cNvPr>
          <p:cNvSpPr>
            <a:spLocks noGrp="1"/>
          </p:cNvSpPr>
          <p:nvPr>
            <p:ph type="body" sz="quarter" idx="25"/>
          </p:nvPr>
        </p:nvSpPr>
        <p:spPr>
          <a:xfrm>
            <a:off x="2894013" y="1267608"/>
            <a:ext cx="7335837" cy="4337050"/>
          </a:xfrm>
        </p:spPr>
        <p:txBody>
          <a:bodyPr/>
          <a:lstStyle>
            <a:lvl1pPr marL="342900" indent="-342900">
              <a:buClr>
                <a:schemeClr val="accent2"/>
              </a:buClr>
              <a:buFont typeface="Arial" panose="020B0604020202020204" pitchFamily="34" charset="0"/>
              <a:buChar char="•"/>
              <a:defRPr sz="2800"/>
            </a:lvl1pPr>
            <a:lvl2pPr marL="804863" indent="-347663">
              <a:buClr>
                <a:schemeClr val="accent2"/>
              </a:buClr>
              <a:defRPr sz="2400"/>
            </a:lvl2pPr>
            <a:lvl3pPr marL="1033463" indent="-346075">
              <a:buClr>
                <a:schemeClr val="accent2"/>
              </a:buClr>
              <a:defRPr sz="2000"/>
            </a:lvl3pPr>
            <a:lvl4pPr marL="1262063" indent="-342900">
              <a:buClr>
                <a:schemeClr val="accent2"/>
              </a:buClr>
              <a:defRPr sz="1800"/>
            </a:lvl4pPr>
            <a:lvl5pPr marL="1490663" indent="-347663">
              <a:buClr>
                <a:schemeClr val="accent2"/>
              </a:buCl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8014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Section Header – Leaf">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a:t>Section Title Option 1</a:t>
            </a:r>
            <a:br>
              <a:rPr lang="en-US"/>
            </a:br>
            <a:r>
              <a:rPr lang="en-US"/>
              <a:t>Green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4" name="page number">
            <a:extLst>
              <a:ext uri="{FF2B5EF4-FFF2-40B4-BE49-F238E27FC236}">
                <a16:creationId xmlns:a16="http://schemas.microsoft.com/office/drawing/2014/main" id="{20A83C12-6BEB-4E4C-9FB0-AA1FB4C661B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1" name="Freeform: Shape 10">
            <a:extLst>
              <a:ext uri="{FF2B5EF4-FFF2-40B4-BE49-F238E27FC236}">
                <a16:creationId xmlns:a16="http://schemas.microsoft.com/office/drawing/2014/main" id="{4D880B34-1E61-BED8-9D19-CC47E69A1FF0}"/>
              </a:ext>
            </a:extLst>
          </p:cNvPr>
          <p:cNvSpPr/>
          <p:nvPr userDrawn="1"/>
        </p:nvSpPr>
        <p:spPr>
          <a:xfrm>
            <a:off x="6525510" y="666685"/>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4"/>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20A83C12-6BEB-4E4C-9FB0-AA1FB4C661B1}"/>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267254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Section Header – Aqua">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87869" cy="1229360"/>
          </a:xfrm>
        </p:spPr>
        <p:txBody>
          <a:bodyPr wrap="square" anchor="b"/>
          <a:lstStyle>
            <a:lvl1pPr algn="l">
              <a:defRPr sz="3600" b="0" cap="none" baseline="0">
                <a:solidFill>
                  <a:schemeClr val="accent2"/>
                </a:solidFill>
              </a:defRPr>
            </a:lvl1pPr>
          </a:lstStyle>
          <a:p>
            <a:r>
              <a:rPr lang="en-US"/>
              <a:t>Section Title Option 2</a:t>
            </a:r>
            <a:br>
              <a:rPr lang="en-US"/>
            </a:br>
            <a:r>
              <a:rPr lang="en-US"/>
              <a:t>Blue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74010"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5" name="page number">
            <a:extLst>
              <a:ext uri="{FF2B5EF4-FFF2-40B4-BE49-F238E27FC236}">
                <a16:creationId xmlns:a16="http://schemas.microsoft.com/office/drawing/2014/main" id="{274E202C-D42A-664B-A387-688ED861096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4" name="Freeform: Shape 3">
            <a:extLst>
              <a:ext uri="{FF2B5EF4-FFF2-40B4-BE49-F238E27FC236}">
                <a16:creationId xmlns:a16="http://schemas.microsoft.com/office/drawing/2014/main" id="{BBDEC133-91F8-98FE-DF2D-3917EC311D68}"/>
              </a:ext>
            </a:extLst>
          </p:cNvPr>
          <p:cNvSpPr/>
          <p:nvPr/>
        </p:nvSpPr>
        <p:spPr>
          <a:xfrm>
            <a:off x="6524631"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2"/>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274E202C-D42A-664B-A387-688ED861096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024626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Section Header – Plum">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107" y="938794"/>
            <a:ext cx="6555971" cy="1229360"/>
          </a:xfrm>
        </p:spPr>
        <p:txBody>
          <a:bodyPr wrap="square" anchor="b"/>
          <a:lstStyle>
            <a:lvl1pPr algn="l">
              <a:defRPr sz="3600" b="0" cap="none" baseline="0">
                <a:solidFill>
                  <a:schemeClr val="accent2"/>
                </a:solidFill>
              </a:defRPr>
            </a:lvl1pPr>
          </a:lstStyle>
          <a:p>
            <a:r>
              <a:rPr lang="en-US"/>
              <a:t>Section Title Option 3 </a:t>
            </a:r>
            <a:br>
              <a:rPr lang="en-US"/>
            </a:br>
            <a:r>
              <a:rPr lang="en-US"/>
              <a:t>Purple Theme</a:t>
            </a:r>
          </a:p>
        </p:txBody>
      </p:sp>
      <p:sp>
        <p:nvSpPr>
          <p:cNvPr id="128" name="Subtitle">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2966" y="2267712"/>
            <a:ext cx="654211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5" name="page number">
            <a:extLst>
              <a:ext uri="{FF2B5EF4-FFF2-40B4-BE49-F238E27FC236}">
                <a16:creationId xmlns:a16="http://schemas.microsoft.com/office/drawing/2014/main" id="{8424C6A4-7F55-9842-969F-317F913DCB90}"/>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4" name="Freeform: Shape 3">
            <a:extLst>
              <a:ext uri="{FF2B5EF4-FFF2-40B4-BE49-F238E27FC236}">
                <a16:creationId xmlns:a16="http://schemas.microsoft.com/office/drawing/2014/main" id="{D43FD454-1DEA-D13A-0DE1-B9CABA1ED1FE}"/>
              </a:ext>
            </a:extLst>
          </p:cNvPr>
          <p:cNvSpPr/>
          <p:nvPr/>
        </p:nvSpPr>
        <p:spPr>
          <a:xfrm>
            <a:off x="6524631" y="635863"/>
            <a:ext cx="5663315" cy="5331994"/>
          </a:xfrm>
          <a:custGeom>
            <a:avLst/>
            <a:gdLst>
              <a:gd name="connsiteX0" fmla="*/ 5663315 w 5663315"/>
              <a:gd name="connsiteY0" fmla="*/ 0 h 5331994"/>
              <a:gd name="connsiteX1" fmla="*/ 5663315 w 5663315"/>
              <a:gd name="connsiteY1" fmla="*/ 2653504 h 5331994"/>
              <a:gd name="connsiteX2" fmla="*/ 3356810 w 5663315"/>
              <a:gd name="connsiteY2" fmla="*/ 4960016 h 5331994"/>
              <a:gd name="connsiteX3" fmla="*/ 2458806 w 5663315"/>
              <a:gd name="connsiteY3" fmla="*/ 5331994 h 5331994"/>
              <a:gd name="connsiteX4" fmla="*/ 127247 w 5663315"/>
              <a:gd name="connsiteY4" fmla="*/ 5331994 h 5331994"/>
              <a:gd name="connsiteX5" fmla="*/ 37459 w 5663315"/>
              <a:gd name="connsiteY5" fmla="*/ 5115208 h 5331994"/>
              <a:gd name="connsiteX6" fmla="*/ 4781475 w 5663315"/>
              <a:gd name="connsiteY6" fmla="*/ 371179 h 5331994"/>
              <a:gd name="connsiteX7" fmla="*/ 5553942 w 5663315"/>
              <a:gd name="connsiteY7" fmla="*/ 5414 h 533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3315" h="5331994">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21000">
                <a:schemeClr val="accent5"/>
              </a:gs>
              <a:gs pos="89000">
                <a:schemeClr val="accent3"/>
              </a:gs>
            </a:gsLst>
            <a:lin ang="18900000" scaled="1"/>
          </a:gradFill>
          <a:ln w="0" cap="flat">
            <a:noFill/>
            <a:prstDash val="solid"/>
            <a:miter/>
          </a:ln>
        </p:spPr>
        <p:txBody>
          <a:bodyPr rtlCol="0" anchor="ctr"/>
          <a:lstStyle/>
          <a:p>
            <a:endParaRPr lang="en-US" dirty="0"/>
          </a:p>
        </p:txBody>
      </p:sp>
      <p:sp>
        <p:nvSpPr>
          <p:cNvPr id="6" name="page number">
            <a:extLst>
              <a:ext uri="{FF2B5EF4-FFF2-40B4-BE49-F238E27FC236}">
                <a16:creationId xmlns:a16="http://schemas.microsoft.com/office/drawing/2014/main" id="{8424C6A4-7F55-9842-969F-317F913DCB9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521980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Section Header – Photo">
    <p:bg>
      <p:bgPr>
        <a:solidFill>
          <a:schemeClr val="bg1"/>
        </a:solidFill>
        <a:effectLst/>
      </p:bgPr>
    </p:bg>
    <p:spTree>
      <p:nvGrpSpPr>
        <p:cNvPr id="1" name=""/>
        <p:cNvGrpSpPr/>
        <p:nvPr/>
      </p:nvGrpSpPr>
      <p:grpSpPr>
        <a:xfrm>
          <a:off x="0" y="0"/>
          <a:ext cx="0" cy="0"/>
          <a:chOff x="0" y="0"/>
          <a:chExt cx="0" cy="0"/>
        </a:xfrm>
      </p:grpSpPr>
      <p:pic>
        <p:nvPicPr>
          <p:cNvPr id="20" name="Picture 19" descr="A blue sky with white clouds&#10;&#10;Description automatically generated">
            <a:extLst>
              <a:ext uri="{FF2B5EF4-FFF2-40B4-BE49-F238E27FC236}">
                <a16:creationId xmlns:a16="http://schemas.microsoft.com/office/drawing/2014/main" id="{D1601FB6-7205-3D56-8322-782554EE9238}"/>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9974" y="1239062"/>
            <a:ext cx="7508851" cy="5631638"/>
          </a:xfrm>
          <a:prstGeom prst="rect">
            <a:avLst/>
          </a:prstGeom>
        </p:spPr>
      </p:pic>
      <p:pic>
        <p:nvPicPr>
          <p:cNvPr id="21" name="Picture 20">
            <a:extLst>
              <a:ext uri="{FF2B5EF4-FFF2-40B4-BE49-F238E27FC236}">
                <a16:creationId xmlns:a16="http://schemas.microsoft.com/office/drawing/2014/main" id="{4FB41C97-3B72-BBBF-039B-56D8186F8F96}"/>
              </a:ext>
            </a:extLst>
          </p:cNvPr>
          <p:cNvPicPr>
            <a:picLocks noChangeAspect="1"/>
          </p:cNvPicPr>
          <p:nvPr/>
        </p:nvPicPr>
        <p:blipFill>
          <a:blip r:embed="rId3"/>
          <a:stretch>
            <a:fillRect/>
          </a:stretch>
        </p:blipFill>
        <p:spPr>
          <a:xfrm>
            <a:off x="879" y="-496"/>
            <a:ext cx="12187945" cy="6858495"/>
          </a:xfrm>
          <a:prstGeom prst="rect">
            <a:avLst/>
          </a:prstGeom>
        </p:spPr>
      </p:pic>
      <p:sp>
        <p:nvSpPr>
          <p:cNvPr id="15" name="Freeform: Shape 14">
            <a:extLst>
              <a:ext uri="{FF2B5EF4-FFF2-40B4-BE49-F238E27FC236}">
                <a16:creationId xmlns:a16="http://schemas.microsoft.com/office/drawing/2014/main" id="{C417634E-D293-9DD1-5893-0DC6BD57B448}"/>
              </a:ext>
            </a:extLst>
          </p:cNvPr>
          <p:cNvSpPr/>
          <p:nvPr/>
        </p:nvSpPr>
        <p:spPr>
          <a:xfrm>
            <a:off x="5801096" y="1239062"/>
            <a:ext cx="6406144" cy="5618939"/>
          </a:xfrm>
          <a:custGeom>
            <a:avLst/>
            <a:gdLst>
              <a:gd name="connsiteX0" fmla="*/ 6312206 w 6406144"/>
              <a:gd name="connsiteY0" fmla="*/ 0 h 5618939"/>
              <a:gd name="connsiteX1" fmla="*/ 6406144 w 6406144"/>
              <a:gd name="connsiteY1" fmla="*/ 0 h 5618939"/>
              <a:gd name="connsiteX2" fmla="*/ 6406144 w 6406144"/>
              <a:gd name="connsiteY2" fmla="*/ 76059 h 5618939"/>
              <a:gd name="connsiteX3" fmla="*/ 6312206 w 6406144"/>
              <a:gd name="connsiteY3" fmla="*/ 76059 h 5618939"/>
              <a:gd name="connsiteX4" fmla="*/ 5192668 w 6406144"/>
              <a:gd name="connsiteY4" fmla="*/ 539757 h 5618939"/>
              <a:gd name="connsiteX5" fmla="*/ 118525 w 6406144"/>
              <a:gd name="connsiteY5" fmla="*/ 5613965 h 5618939"/>
              <a:gd name="connsiteX6" fmla="*/ 113031 w 6406144"/>
              <a:gd name="connsiteY6" fmla="*/ 5618939 h 5618939"/>
              <a:gd name="connsiteX7" fmla="*/ 0 w 6406144"/>
              <a:gd name="connsiteY7" fmla="*/ 5618939 h 5618939"/>
              <a:gd name="connsiteX8" fmla="*/ 64758 w 6406144"/>
              <a:gd name="connsiteY8" fmla="*/ 5560198 h 5618939"/>
              <a:gd name="connsiteX9" fmla="*/ 5138965 w 6406144"/>
              <a:gd name="connsiteY9" fmla="*/ 485927 h 5618939"/>
              <a:gd name="connsiteX10" fmla="*/ 5677265 w 6406144"/>
              <a:gd name="connsiteY10" fmla="*/ 126279 h 5618939"/>
              <a:gd name="connsiteX11" fmla="*/ 6312206 w 6406144"/>
              <a:gd name="connsiteY11" fmla="*/ 0 h 56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6144" h="5618939">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22000">
                <a:schemeClr val="accent3"/>
              </a:gs>
              <a:gs pos="80000">
                <a:schemeClr val="accent4"/>
              </a:gs>
            </a:gsLst>
            <a:lin ang="0" scaled="1"/>
          </a:gradFill>
          <a:ln w="0" cap="flat">
            <a:noFill/>
            <a:prstDash val="solid"/>
            <a:miter/>
          </a:ln>
        </p:spPr>
        <p:txBody>
          <a:bodyPr rtlCol="0" anchor="ctr"/>
          <a:lstStyle/>
          <a:p>
            <a:endParaRPr lang="en-US" dirty="0"/>
          </a:p>
        </p:txBody>
      </p:sp>
      <p:sp>
        <p:nvSpPr>
          <p:cNvPr id="17" name="Title 1">
            <a:extLst>
              <a:ext uri="{FF2B5EF4-FFF2-40B4-BE49-F238E27FC236}">
                <a16:creationId xmlns:a16="http://schemas.microsoft.com/office/drawing/2014/main" id="{2AC6091C-E947-4C0C-85B0-C87C084ACBB4}"/>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dirty="0"/>
              <a:t>Section Title</a:t>
            </a:r>
            <a:br>
              <a:rPr lang="en-US" dirty="0"/>
            </a:br>
            <a:r>
              <a:rPr lang="en-US" dirty="0"/>
              <a:t>with photo</a:t>
            </a:r>
          </a:p>
        </p:txBody>
      </p:sp>
      <p:sp>
        <p:nvSpPr>
          <p:cNvPr id="18" name="Subtitle">
            <a:extLst>
              <a:ext uri="{FF2B5EF4-FFF2-40B4-BE49-F238E27FC236}">
                <a16:creationId xmlns:a16="http://schemas.microsoft.com/office/drawing/2014/main" id="{A2044BBD-0109-43FF-A52D-8FA2841A4DF6}"/>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4" name="TextBox 3">
            <a:extLst>
              <a:ext uri="{FF2B5EF4-FFF2-40B4-BE49-F238E27FC236}">
                <a16:creationId xmlns:a16="http://schemas.microsoft.com/office/drawing/2014/main" id="{5C20FE76-7A87-7399-596D-E0FEF058B0CD}"/>
              </a:ext>
            </a:extLst>
          </p:cNvPr>
          <p:cNvSpPr txBox="1"/>
          <p:nvPr/>
        </p:nvSpPr>
        <p:spPr>
          <a:xfrm>
            <a:off x="1645084" y="6461498"/>
            <a:ext cx="3052118"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Broadcom Proprietary and Confidential. Copyright © 2024 Broadcom.  </a:t>
            </a:r>
          </a:p>
        </p:txBody>
      </p:sp>
      <p:sp>
        <p:nvSpPr>
          <p:cNvPr id="5" name="TextBox 4">
            <a:extLst>
              <a:ext uri="{FF2B5EF4-FFF2-40B4-BE49-F238E27FC236}">
                <a16:creationId xmlns:a16="http://schemas.microsoft.com/office/drawing/2014/main" id="{3EFBD153-E1CF-732C-38F2-BE38AC4DA9BE}"/>
              </a:ext>
            </a:extLst>
          </p:cNvPr>
          <p:cNvSpPr txBox="1"/>
          <p:nvPr/>
        </p:nvSpPr>
        <p:spPr>
          <a:xfrm>
            <a:off x="1645084" y="6569434"/>
            <a:ext cx="3855223"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All Rights Reserved. The term “Broadcom” refers to Broadcom Inc. and/or its subsidiaries.</a:t>
            </a:r>
          </a:p>
        </p:txBody>
      </p:sp>
      <p:grpSp>
        <p:nvGrpSpPr>
          <p:cNvPr id="6" name="Graphic 8">
            <a:extLst>
              <a:ext uri="{FF2B5EF4-FFF2-40B4-BE49-F238E27FC236}">
                <a16:creationId xmlns:a16="http://schemas.microsoft.com/office/drawing/2014/main" id="{5FB75E1E-5ECF-39E5-683F-83EA2E7C5F92}"/>
              </a:ext>
            </a:extLst>
          </p:cNvPr>
          <p:cNvGrpSpPr/>
          <p:nvPr/>
        </p:nvGrpSpPr>
        <p:grpSpPr>
          <a:xfrm>
            <a:off x="265625" y="6323271"/>
            <a:ext cx="1249223" cy="369648"/>
            <a:chOff x="265625" y="6323271"/>
            <a:chExt cx="1249223" cy="369648"/>
          </a:xfrm>
          <a:solidFill>
            <a:srgbClr val="000000"/>
          </a:solidFill>
        </p:grpSpPr>
        <p:grpSp>
          <p:nvGrpSpPr>
            <p:cNvPr id="7" name="Graphic 8">
              <a:extLst>
                <a:ext uri="{FF2B5EF4-FFF2-40B4-BE49-F238E27FC236}">
                  <a16:creationId xmlns:a16="http://schemas.microsoft.com/office/drawing/2014/main" id="{A736F19C-96C1-E942-EC49-229F7A3B68F2}"/>
                </a:ext>
              </a:extLst>
            </p:cNvPr>
            <p:cNvGrpSpPr/>
            <p:nvPr/>
          </p:nvGrpSpPr>
          <p:grpSpPr>
            <a:xfrm>
              <a:off x="745455" y="6594444"/>
              <a:ext cx="722662" cy="98475"/>
              <a:chOff x="745455" y="6594444"/>
              <a:chExt cx="722662" cy="98475"/>
            </a:xfrm>
            <a:solidFill>
              <a:srgbClr val="000000"/>
            </a:solidFill>
          </p:grpSpPr>
          <p:sp>
            <p:nvSpPr>
              <p:cNvPr id="26" name="Freeform 25">
                <a:extLst>
                  <a:ext uri="{FF2B5EF4-FFF2-40B4-BE49-F238E27FC236}">
                    <a16:creationId xmlns:a16="http://schemas.microsoft.com/office/drawing/2014/main" id="{EB1A2322-1B68-222D-5C7B-21BC4BC5E9B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E3142B55-436D-ED55-5414-22B3121F6B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A95B898B-465D-B4F2-6571-A666D3CD81E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A6885C5F-AB44-9AFC-AF3D-CFDB30C3574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2ABC8F96-B643-EE7D-4B62-9CBDC7BFD07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42B7B857-129B-BC06-1EE1-5C3BC6B5267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33" name="Freeform 32">
                <a:extLst>
                  <a:ext uri="{FF2B5EF4-FFF2-40B4-BE49-F238E27FC236}">
                    <a16:creationId xmlns:a16="http://schemas.microsoft.com/office/drawing/2014/main" id="{DE7871B6-7C77-63CC-29EB-8804C9EC800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4" name="Freeform 33">
                <a:extLst>
                  <a:ext uri="{FF2B5EF4-FFF2-40B4-BE49-F238E27FC236}">
                    <a16:creationId xmlns:a16="http://schemas.microsoft.com/office/drawing/2014/main" id="{5CACC287-3144-5F41-8878-740F834ADF8A}"/>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5" name="Freeform 34">
                <a:extLst>
                  <a:ext uri="{FF2B5EF4-FFF2-40B4-BE49-F238E27FC236}">
                    <a16:creationId xmlns:a16="http://schemas.microsoft.com/office/drawing/2014/main" id="{F8C02031-CB2A-138B-7806-B09A9CE926C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6" name="Freeform 35">
                <a:extLst>
                  <a:ext uri="{FF2B5EF4-FFF2-40B4-BE49-F238E27FC236}">
                    <a16:creationId xmlns:a16="http://schemas.microsoft.com/office/drawing/2014/main" id="{78B31A38-6074-8D62-E841-01F7C003A861}"/>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8" name="Graphic 8">
              <a:extLst>
                <a:ext uri="{FF2B5EF4-FFF2-40B4-BE49-F238E27FC236}">
                  <a16:creationId xmlns:a16="http://schemas.microsoft.com/office/drawing/2014/main" id="{77DD52C8-412A-7D6C-40F7-9F9263703088}"/>
                </a:ext>
              </a:extLst>
            </p:cNvPr>
            <p:cNvGrpSpPr/>
            <p:nvPr/>
          </p:nvGrpSpPr>
          <p:grpSpPr>
            <a:xfrm>
              <a:off x="265625" y="6323271"/>
              <a:ext cx="1249223" cy="190348"/>
              <a:chOff x="265625" y="6323271"/>
              <a:chExt cx="1249223" cy="190348"/>
            </a:xfrm>
            <a:solidFill>
              <a:srgbClr val="000000"/>
            </a:solidFill>
          </p:grpSpPr>
          <p:sp>
            <p:nvSpPr>
              <p:cNvPr id="9" name="Freeform 8">
                <a:extLst>
                  <a:ext uri="{FF2B5EF4-FFF2-40B4-BE49-F238E27FC236}">
                    <a16:creationId xmlns:a16="http://schemas.microsoft.com/office/drawing/2014/main" id="{FA0598CE-0EFB-5D16-AD05-A617D8FD011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0" name="Freeform 9">
                <a:extLst>
                  <a:ext uri="{FF2B5EF4-FFF2-40B4-BE49-F238E27FC236}">
                    <a16:creationId xmlns:a16="http://schemas.microsoft.com/office/drawing/2014/main" id="{1B18338C-ED9F-9E96-D92B-177F967C7B3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1" name="Freeform 10">
                <a:extLst>
                  <a:ext uri="{FF2B5EF4-FFF2-40B4-BE49-F238E27FC236}">
                    <a16:creationId xmlns:a16="http://schemas.microsoft.com/office/drawing/2014/main" id="{49AA51AF-6364-0953-6B79-D6A5BB8E5A5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BA45DA74-A818-75F8-ADB4-89A89BB2FAA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7CCC9E1A-1D2F-F8A5-404B-348175CD2EAD}"/>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866EE839-CF73-18CC-B4C4-9D7E5AFFDB12}"/>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0634225E-0119-0295-531B-BE94DFF783F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19" name="page number">
            <a:extLst>
              <a:ext uri="{FF2B5EF4-FFF2-40B4-BE49-F238E27FC236}">
                <a16:creationId xmlns:a16="http://schemas.microsoft.com/office/drawing/2014/main" id="{75CEFF6F-DEAE-124A-A7E8-4A2D776D0794}"/>
              </a:ext>
            </a:extLst>
          </p:cNvPr>
          <p:cNvSpPr txBox="1"/>
          <p:nvPr/>
        </p:nvSpPr>
        <p:spPr bwMode="white">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pic>
        <p:nvPicPr>
          <p:cNvPr id="30" name="Picture 29" descr="A blue sky with white clouds&#10;&#10;Description automatically generated">
            <a:extLst>
              <a:ext uri="{FF2B5EF4-FFF2-40B4-BE49-F238E27FC236}">
                <a16:creationId xmlns:a16="http://schemas.microsoft.com/office/drawing/2014/main" id="{D1601FB6-7205-3D56-8322-782554EE923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679974" y="1239062"/>
            <a:ext cx="7508851" cy="5631638"/>
          </a:xfrm>
          <a:prstGeom prst="rect">
            <a:avLst/>
          </a:prstGeom>
        </p:spPr>
      </p:pic>
      <p:pic>
        <p:nvPicPr>
          <p:cNvPr id="37" name="Picture 36">
            <a:extLst>
              <a:ext uri="{FF2B5EF4-FFF2-40B4-BE49-F238E27FC236}">
                <a16:creationId xmlns:a16="http://schemas.microsoft.com/office/drawing/2014/main" id="{4FB41C97-3B72-BBBF-039B-56D8186F8F96}"/>
              </a:ext>
            </a:extLst>
          </p:cNvPr>
          <p:cNvPicPr>
            <a:picLocks noChangeAspect="1"/>
          </p:cNvPicPr>
          <p:nvPr userDrawn="1"/>
        </p:nvPicPr>
        <p:blipFill>
          <a:blip r:embed="rId3"/>
          <a:stretch>
            <a:fillRect/>
          </a:stretch>
        </p:blipFill>
        <p:spPr>
          <a:xfrm>
            <a:off x="879" y="-496"/>
            <a:ext cx="12187945" cy="6858495"/>
          </a:xfrm>
          <a:prstGeom prst="rect">
            <a:avLst/>
          </a:prstGeom>
        </p:spPr>
      </p:pic>
      <p:sp>
        <p:nvSpPr>
          <p:cNvPr id="38" name="Freeform: Shape 14">
            <a:extLst>
              <a:ext uri="{FF2B5EF4-FFF2-40B4-BE49-F238E27FC236}">
                <a16:creationId xmlns:a16="http://schemas.microsoft.com/office/drawing/2014/main" id="{C417634E-D293-9DD1-5893-0DC6BD57B448}"/>
              </a:ext>
            </a:extLst>
          </p:cNvPr>
          <p:cNvSpPr/>
          <p:nvPr userDrawn="1"/>
        </p:nvSpPr>
        <p:spPr>
          <a:xfrm>
            <a:off x="5801096" y="1239062"/>
            <a:ext cx="6406144" cy="5618939"/>
          </a:xfrm>
          <a:custGeom>
            <a:avLst/>
            <a:gdLst>
              <a:gd name="connsiteX0" fmla="*/ 6312206 w 6406144"/>
              <a:gd name="connsiteY0" fmla="*/ 0 h 5618939"/>
              <a:gd name="connsiteX1" fmla="*/ 6406144 w 6406144"/>
              <a:gd name="connsiteY1" fmla="*/ 0 h 5618939"/>
              <a:gd name="connsiteX2" fmla="*/ 6406144 w 6406144"/>
              <a:gd name="connsiteY2" fmla="*/ 76059 h 5618939"/>
              <a:gd name="connsiteX3" fmla="*/ 6312206 w 6406144"/>
              <a:gd name="connsiteY3" fmla="*/ 76059 h 5618939"/>
              <a:gd name="connsiteX4" fmla="*/ 5192668 w 6406144"/>
              <a:gd name="connsiteY4" fmla="*/ 539757 h 5618939"/>
              <a:gd name="connsiteX5" fmla="*/ 118525 w 6406144"/>
              <a:gd name="connsiteY5" fmla="*/ 5613965 h 5618939"/>
              <a:gd name="connsiteX6" fmla="*/ 113031 w 6406144"/>
              <a:gd name="connsiteY6" fmla="*/ 5618939 h 5618939"/>
              <a:gd name="connsiteX7" fmla="*/ 0 w 6406144"/>
              <a:gd name="connsiteY7" fmla="*/ 5618939 h 5618939"/>
              <a:gd name="connsiteX8" fmla="*/ 64758 w 6406144"/>
              <a:gd name="connsiteY8" fmla="*/ 5560198 h 5618939"/>
              <a:gd name="connsiteX9" fmla="*/ 5138965 w 6406144"/>
              <a:gd name="connsiteY9" fmla="*/ 485927 h 5618939"/>
              <a:gd name="connsiteX10" fmla="*/ 5677265 w 6406144"/>
              <a:gd name="connsiteY10" fmla="*/ 126279 h 5618939"/>
              <a:gd name="connsiteX11" fmla="*/ 6312206 w 6406144"/>
              <a:gd name="connsiteY11" fmla="*/ 0 h 56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6144" h="5618939">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22000">
                <a:schemeClr val="accent3"/>
              </a:gs>
              <a:gs pos="80000">
                <a:schemeClr val="accent4"/>
              </a:gs>
            </a:gsLst>
            <a:lin ang="0" scaled="1"/>
          </a:gradFill>
          <a:ln w="0" cap="flat">
            <a:noFill/>
            <a:prstDash val="solid"/>
            <a:miter/>
          </a:ln>
        </p:spPr>
        <p:txBody>
          <a:bodyPr rtlCol="0" anchor="ctr"/>
          <a:lstStyle/>
          <a:p>
            <a:endParaRPr lang="en-US" dirty="0"/>
          </a:p>
        </p:txBody>
      </p:sp>
      <p:grpSp>
        <p:nvGrpSpPr>
          <p:cNvPr id="41" name="Graphic 8">
            <a:extLst>
              <a:ext uri="{FF2B5EF4-FFF2-40B4-BE49-F238E27FC236}">
                <a16:creationId xmlns:a16="http://schemas.microsoft.com/office/drawing/2014/main" id="{5FB75E1E-5ECF-39E5-683F-83EA2E7C5F92}"/>
              </a:ext>
            </a:extLst>
          </p:cNvPr>
          <p:cNvGrpSpPr/>
          <p:nvPr userDrawn="1"/>
        </p:nvGrpSpPr>
        <p:grpSpPr>
          <a:xfrm>
            <a:off x="265625" y="6323271"/>
            <a:ext cx="1249223" cy="369648"/>
            <a:chOff x="265625" y="6323271"/>
            <a:chExt cx="1249223" cy="369648"/>
          </a:xfrm>
          <a:solidFill>
            <a:srgbClr val="000000"/>
          </a:solidFill>
        </p:grpSpPr>
        <p:grpSp>
          <p:nvGrpSpPr>
            <p:cNvPr id="42" name="Graphic 8">
              <a:extLst>
                <a:ext uri="{FF2B5EF4-FFF2-40B4-BE49-F238E27FC236}">
                  <a16:creationId xmlns:a16="http://schemas.microsoft.com/office/drawing/2014/main" id="{A736F19C-96C1-E942-EC49-229F7A3B68F2}"/>
                </a:ext>
              </a:extLst>
            </p:cNvPr>
            <p:cNvGrpSpPr/>
            <p:nvPr/>
          </p:nvGrpSpPr>
          <p:grpSpPr>
            <a:xfrm>
              <a:off x="745455" y="6594444"/>
              <a:ext cx="722662" cy="98475"/>
              <a:chOff x="745455" y="6594444"/>
              <a:chExt cx="722662" cy="98475"/>
            </a:xfrm>
            <a:solidFill>
              <a:srgbClr val="000000"/>
            </a:solidFill>
          </p:grpSpPr>
          <p:sp>
            <p:nvSpPr>
              <p:cNvPr id="51" name="Freeform 50">
                <a:extLst>
                  <a:ext uri="{FF2B5EF4-FFF2-40B4-BE49-F238E27FC236}">
                    <a16:creationId xmlns:a16="http://schemas.microsoft.com/office/drawing/2014/main" id="{EB1A2322-1B68-222D-5C7B-21BC4BC5E9B2}"/>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E3142B55-436D-ED55-5414-22B3121F6B08}"/>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A95B898B-465D-B4F2-6571-A666D3CD81EC}"/>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A6885C5F-AB44-9AFC-AF3D-CFDB30C3574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2ABC8F96-B643-EE7D-4B62-9CBDC7BFD07B}"/>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42B7B857-129B-BC06-1EE1-5C3BC6B5267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DE7871B6-7C77-63CC-29EB-8804C9EC800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5CACC287-3144-5F41-8878-740F834ADF8A}"/>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F8C02031-CB2A-138B-7806-B09A9CE926C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60" name="Freeform 59">
                <a:extLst>
                  <a:ext uri="{FF2B5EF4-FFF2-40B4-BE49-F238E27FC236}">
                    <a16:creationId xmlns:a16="http://schemas.microsoft.com/office/drawing/2014/main" id="{78B31A38-6074-8D62-E841-01F7C003A861}"/>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3" name="Graphic 8">
              <a:extLst>
                <a:ext uri="{FF2B5EF4-FFF2-40B4-BE49-F238E27FC236}">
                  <a16:creationId xmlns:a16="http://schemas.microsoft.com/office/drawing/2014/main" id="{77DD52C8-412A-7D6C-40F7-9F9263703088}"/>
                </a:ext>
              </a:extLst>
            </p:cNvPr>
            <p:cNvGrpSpPr/>
            <p:nvPr/>
          </p:nvGrpSpPr>
          <p:grpSpPr>
            <a:xfrm>
              <a:off x="265625" y="6323271"/>
              <a:ext cx="1249223" cy="190348"/>
              <a:chOff x="265625" y="6323271"/>
              <a:chExt cx="1249223" cy="190348"/>
            </a:xfrm>
            <a:solidFill>
              <a:srgbClr val="000000"/>
            </a:solidFill>
          </p:grpSpPr>
          <p:sp>
            <p:nvSpPr>
              <p:cNvPr id="44" name="Freeform 43">
                <a:extLst>
                  <a:ext uri="{FF2B5EF4-FFF2-40B4-BE49-F238E27FC236}">
                    <a16:creationId xmlns:a16="http://schemas.microsoft.com/office/drawing/2014/main" id="{FA0598CE-0EFB-5D16-AD05-A617D8FD011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1B18338C-ED9F-9E96-D92B-177F967C7B38}"/>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49AA51AF-6364-0953-6B79-D6A5BB8E5A57}"/>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BA45DA74-A818-75F8-ADB4-89A89BB2FAA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7CCC9E1A-1D2F-F8A5-404B-348175CD2EAD}"/>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866EE839-CF73-18CC-B4C4-9D7E5AFFDB12}"/>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0634225E-0119-0295-531B-BE94DFF783F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61" name="page number">
            <a:extLst>
              <a:ext uri="{FF2B5EF4-FFF2-40B4-BE49-F238E27FC236}">
                <a16:creationId xmlns:a16="http://schemas.microsoft.com/office/drawing/2014/main" id="{75CEFF6F-DEAE-124A-A7E8-4A2D776D0794}"/>
              </a:ext>
            </a:extLst>
          </p:cNvPr>
          <p:cNvSpPr txBox="1"/>
          <p:nvPr userDrawn="1"/>
        </p:nvSpPr>
        <p:spPr bwMode="white">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sp>
        <p:nvSpPr>
          <p:cNvPr id="3" name="TextBox 2">
            <a:extLst>
              <a:ext uri="{FF2B5EF4-FFF2-40B4-BE49-F238E27FC236}">
                <a16:creationId xmlns:a16="http://schemas.microsoft.com/office/drawing/2014/main" id="{23947260-FA76-99A5-7F64-73F3D1395242}"/>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and Confidential.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20192988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p:cSld name="Quote – Leaf">
    <p:spTree>
      <p:nvGrpSpPr>
        <p:cNvPr id="1" name=""/>
        <p:cNvGrpSpPr/>
        <p:nvPr/>
      </p:nvGrpSpPr>
      <p:grpSpPr>
        <a:xfrm>
          <a:off x="0" y="0"/>
          <a:ext cx="0" cy="0"/>
          <a:chOff x="0" y="0"/>
          <a:chExt cx="0" cy="0"/>
        </a:xfrm>
      </p:grpSpPr>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13248" cy="3200400"/>
          </a:xfrm>
        </p:spPr>
        <p:txBody>
          <a:bodyPr anchor="b"/>
          <a:lstStyle>
            <a:lvl1pPr marL="169863" indent="-169863">
              <a:buClrTx/>
              <a:buSzPct val="100000"/>
              <a:buFont typeface="Metropolis" panose="00000500000000000000" pitchFamily="2" charset="0"/>
              <a:buChar char="“"/>
              <a:defRPr sz="2800">
                <a:solidFill>
                  <a:schemeClr val="accent2"/>
                </a:solidFill>
              </a:defRPr>
            </a:lvl1pPr>
            <a:lvl2pPr marL="457200" indent="-184150">
              <a:buClrTx/>
              <a:buFont typeface="Metropolis" panose="00000500000000000000" pitchFamily="2" charset="0"/>
              <a:buChar char="“"/>
              <a:defRPr>
                <a:solidFill>
                  <a:schemeClr val="bg1"/>
                </a:solidFill>
              </a:defRPr>
            </a:lvl2pPr>
            <a:lvl3pPr marL="744538" indent="-169863">
              <a:buClrTx/>
              <a:buFont typeface="Metropolis" panose="00000500000000000000" pitchFamily="2" charset="0"/>
              <a:buChar char="“"/>
              <a:defRPr>
                <a:solidFill>
                  <a:schemeClr val="bg1"/>
                </a:solidFill>
              </a:defRPr>
            </a:lvl3pPr>
            <a:lvl4pPr marL="969963" indent="-166688">
              <a:buClrTx/>
              <a:buFont typeface="Metropolis" panose="00000500000000000000" pitchFamily="2" charset="0"/>
              <a:buChar char="“"/>
              <a:defRPr>
                <a:solidFill>
                  <a:schemeClr val="bg1"/>
                </a:solidFill>
              </a:defRPr>
            </a:lvl4pPr>
            <a:lvl5pPr marL="1143000" indent="-138113">
              <a:buClrTx/>
              <a:buFont typeface="Metropolis" panose="00000500000000000000" pitchFamily="2" charset="0"/>
              <a:buChar char="“"/>
              <a:defRPr>
                <a:solidFill>
                  <a:schemeClr val="bg1"/>
                </a:solidFill>
              </a:defRPr>
            </a:lvl5pPr>
          </a:lstStyle>
          <a:p>
            <a:pPr lvl="0"/>
            <a:r>
              <a:rPr lang="en-US" dirty="0"/>
              <a:t>Quote text on left, green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a:defRPr sz="1800">
                <a:solidFill>
                  <a:schemeClr val="tx1"/>
                </a:solidFill>
              </a:defRPr>
            </a:lvl1pPr>
          </a:lstStyle>
          <a:p>
            <a:pPr lvl="0"/>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90CA8A2D-22C2-3546-ACA3-B76C2A2C9541}"/>
              </a:ext>
            </a:extLst>
          </p:cNvPr>
          <p:cNvSpPr>
            <a:spLocks noGrp="1"/>
          </p:cNvSpPr>
          <p:nvPr>
            <p:ph type="pic" sz="quarter" idx="4294967295" hasCustomPrompt="1"/>
          </p:nvPr>
        </p:nvSpPr>
        <p:spPr>
          <a:xfrm>
            <a:off x="8925484" y="4619335"/>
            <a:ext cx="2740025" cy="1371600"/>
          </a:xfrm>
        </p:spPr>
        <p:txBody>
          <a:bodyPr/>
          <a:lstStyle/>
          <a:p>
            <a:r>
              <a:rPr lang="en-US" dirty="0"/>
              <a:t>Click to insert logo or delete box if not needed</a:t>
            </a:r>
          </a:p>
        </p:txBody>
      </p:sp>
      <p:sp>
        <p:nvSpPr>
          <p:cNvPr id="17" name="page number">
            <a:extLst>
              <a:ext uri="{FF2B5EF4-FFF2-40B4-BE49-F238E27FC236}">
                <a16:creationId xmlns:a16="http://schemas.microsoft.com/office/drawing/2014/main" id="{81F6B6E3-D446-FF48-A968-0E6ED9485DE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5" name="Graphic 8">
            <a:extLst>
              <a:ext uri="{FF2B5EF4-FFF2-40B4-BE49-F238E27FC236}">
                <a16:creationId xmlns:a16="http://schemas.microsoft.com/office/drawing/2014/main" id="{C621A2F7-988C-ED6D-1AAA-CEAF06253999}"/>
              </a:ext>
            </a:extLst>
          </p:cNvPr>
          <p:cNvGrpSpPr/>
          <p:nvPr/>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4A6ACE21-0A03-EC70-5DBC-8E24FC06ADF2}"/>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EE83912F-EA49-AA8F-3B48-225EEF2EA8B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CCD1DC55-84B7-B92A-BCFA-DFC508914BD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9C7F5544-2C4C-9EB4-BFC3-2118CC2F9BE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8F4FBC32-8CCB-A8DE-008D-E983BC49C597}"/>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B4DB09DF-6B90-E805-64A1-73441DB3E36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CE5B325E-5171-7178-FE92-B40E2F02AF4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601EA8AE-D6A6-69F1-6D6F-08D9ABD7A24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313CAF36-8DCE-BF49-8252-4504197E4A92}"/>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53212E81-53F5-5829-40FB-278F96FDFA6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3338560F-F08F-341E-96FD-FB179B1E80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7" name="Graphic 8">
              <a:extLst>
                <a:ext uri="{FF2B5EF4-FFF2-40B4-BE49-F238E27FC236}">
                  <a16:creationId xmlns:a16="http://schemas.microsoft.com/office/drawing/2014/main" id="{DC09D6A6-FC34-3B36-E8EC-98961A5FA1BD}"/>
                </a:ext>
              </a:extLst>
            </p:cNvPr>
            <p:cNvGrpSpPr/>
            <p:nvPr/>
          </p:nvGrpSpPr>
          <p:grpSpPr>
            <a:xfrm>
              <a:off x="265625" y="6323271"/>
              <a:ext cx="1249223" cy="190348"/>
              <a:chOff x="265625" y="6323271"/>
              <a:chExt cx="1249223" cy="190348"/>
            </a:xfrm>
            <a:solidFill>
              <a:srgbClr val="000000"/>
            </a:solidFill>
          </p:grpSpPr>
          <p:sp>
            <p:nvSpPr>
              <p:cNvPr id="8" name="Freeform 7">
                <a:extLst>
                  <a:ext uri="{FF2B5EF4-FFF2-40B4-BE49-F238E27FC236}">
                    <a16:creationId xmlns:a16="http://schemas.microsoft.com/office/drawing/2014/main" id="{9CCE1282-066F-6767-9D2B-FE3B24B48F39}"/>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87A55781-F6F4-75D8-D30A-EFE0009E6C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0" name="Freeform 9">
                <a:extLst>
                  <a:ext uri="{FF2B5EF4-FFF2-40B4-BE49-F238E27FC236}">
                    <a16:creationId xmlns:a16="http://schemas.microsoft.com/office/drawing/2014/main" id="{06E5A16E-7654-E118-45E7-5CF8ECB9510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5416A2B2-8CB4-B23D-B227-F3FAAF99834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03A1E132-C6A0-D3F7-1605-AAC4E663D92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03331D7F-C33C-F017-A7E8-936854F6A83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D1EAD065-3541-65E6-D334-D9E34E0883DA}"/>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48" name="Freeform: Shape 47">
            <a:extLst>
              <a:ext uri="{FF2B5EF4-FFF2-40B4-BE49-F238E27FC236}">
                <a16:creationId xmlns:a16="http://schemas.microsoft.com/office/drawing/2014/main" id="{659E5035-F2CA-5C90-AD93-9207A8ED2F62}"/>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45000">
                <a:srgbClr val="299B75"/>
              </a:gs>
              <a:gs pos="80000">
                <a:srgbClr val="61A30E"/>
              </a:gs>
            </a:gsLst>
            <a:lin ang="0" scaled="1"/>
          </a:gradFill>
          <a:ln w="0" cap="flat">
            <a:noFill/>
            <a:prstDash val="solid"/>
            <a:miter/>
          </a:ln>
        </p:spPr>
        <p:txBody>
          <a:bodyPr rtlCol="0" anchor="ctr"/>
          <a:lstStyle/>
          <a:p>
            <a:endParaRPr lang="en-US" dirty="0"/>
          </a:p>
        </p:txBody>
      </p:sp>
      <p:sp>
        <p:nvSpPr>
          <p:cNvPr id="34" name="page number">
            <a:extLst>
              <a:ext uri="{FF2B5EF4-FFF2-40B4-BE49-F238E27FC236}">
                <a16:creationId xmlns:a16="http://schemas.microsoft.com/office/drawing/2014/main" id="{81F6B6E3-D446-FF48-A968-0E6ED9485DE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37" name="Graphic 8">
            <a:extLst>
              <a:ext uri="{FF2B5EF4-FFF2-40B4-BE49-F238E27FC236}">
                <a16:creationId xmlns:a16="http://schemas.microsoft.com/office/drawing/2014/main" id="{C621A2F7-988C-ED6D-1AAA-CEAF06253999}"/>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4A6ACE21-0A03-EC70-5DBC-8E24FC06ADF2}"/>
                </a:ext>
              </a:extLst>
            </p:cNvPr>
            <p:cNvGrpSpPr/>
            <p:nvPr/>
          </p:nvGrpSpPr>
          <p:grpSpPr>
            <a:xfrm>
              <a:off x="745455" y="6594444"/>
              <a:ext cx="722662" cy="98475"/>
              <a:chOff x="745455" y="6594444"/>
              <a:chExt cx="722662" cy="98475"/>
            </a:xfrm>
            <a:solidFill>
              <a:srgbClr val="000000"/>
            </a:solidFill>
          </p:grpSpPr>
          <p:sp>
            <p:nvSpPr>
              <p:cNvPr id="49" name="Freeform 48">
                <a:extLst>
                  <a:ext uri="{FF2B5EF4-FFF2-40B4-BE49-F238E27FC236}">
                    <a16:creationId xmlns:a16="http://schemas.microsoft.com/office/drawing/2014/main" id="{EE83912F-EA49-AA8F-3B48-225EEF2EA8B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CCD1DC55-84B7-B92A-BCFA-DFC508914BD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9C7F5544-2C4C-9EB4-BFC3-2118CC2F9BE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8F4FBC32-8CCB-A8DE-008D-E983BC49C597}"/>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B4DB09DF-6B90-E805-64A1-73441DB3E36E}"/>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CE5B325E-5171-7178-FE92-B40E2F02AF4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601EA8AE-D6A6-69F1-6D6F-08D9ABD7A248}"/>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313CAF36-8DCE-BF49-8252-4504197E4A92}"/>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53212E81-53F5-5829-40FB-278F96FDFA6C}"/>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3338560F-F08F-341E-96FD-FB179B1E809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DC09D6A6-FC34-3B36-E8EC-98961A5FA1BD}"/>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9CCE1282-066F-6767-9D2B-FE3B24B48F39}"/>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87A55781-F6F4-75D8-D30A-EFE0009E6C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06E5A16E-7654-E118-45E7-5CF8ECB9510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5416A2B2-8CB4-B23D-B227-F3FAAF99834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03A1E132-C6A0-D3F7-1605-AAC4E663D921}"/>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03331D7F-C33C-F017-A7E8-936854F6A83C}"/>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D1EAD065-3541-65E6-D334-D9E34E0883DA}"/>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extBox 2">
            <a:extLst>
              <a:ext uri="{FF2B5EF4-FFF2-40B4-BE49-F238E27FC236}">
                <a16:creationId xmlns:a16="http://schemas.microsoft.com/office/drawing/2014/main" id="{A9A8E157-0B0B-6FF1-18E9-97BC0A1FEDB9}"/>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and Confidential.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7299202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p:cSld name="Quote – Aqua">
    <p:spTree>
      <p:nvGrpSpPr>
        <p:cNvPr id="1" name=""/>
        <p:cNvGrpSpPr/>
        <p:nvPr/>
      </p:nvGrpSpPr>
      <p:grpSpPr>
        <a:xfrm>
          <a:off x="0" y="0"/>
          <a:ext cx="0" cy="0"/>
          <a:chOff x="0" y="0"/>
          <a:chExt cx="0" cy="0"/>
        </a:xfrm>
      </p:grpSpPr>
      <p:sp>
        <p:nvSpPr>
          <p:cNvPr id="33" name="Freeform: Shape 1">
            <a:extLst>
              <a:ext uri="{FF2B5EF4-FFF2-40B4-BE49-F238E27FC236}">
                <a16:creationId xmlns:a16="http://schemas.microsoft.com/office/drawing/2014/main" id="{A2B10396-5330-52E9-6CAB-81B94A8222ED}"/>
              </a:ext>
            </a:extLst>
          </p:cNvPr>
          <p:cNvSpPr/>
          <p:nvPr userDrawn="1"/>
        </p:nvSpPr>
        <p:spPr>
          <a:xfrm>
            <a:off x="0" y="0"/>
            <a:ext cx="12188825" cy="6033051"/>
          </a:xfrm>
          <a:custGeom>
            <a:avLst/>
            <a:gdLst>
              <a:gd name="connsiteX0" fmla="*/ 0 w 12197292"/>
              <a:gd name="connsiteY0" fmla="*/ 0 h 6041519"/>
              <a:gd name="connsiteX1" fmla="*/ 12197292 w 12197292"/>
              <a:gd name="connsiteY1" fmla="*/ 0 h 6041519"/>
              <a:gd name="connsiteX2" fmla="*/ 12197292 w 12197292"/>
              <a:gd name="connsiteY2" fmla="*/ 1911192 h 6041519"/>
              <a:gd name="connsiteX3" fmla="*/ 11193762 w 12197292"/>
              <a:gd name="connsiteY3" fmla="*/ 1911192 h 6041519"/>
              <a:gd name="connsiteX4" fmla="*/ 10074486 w 12197292"/>
              <a:gd name="connsiteY4" fmla="*/ 2374782 h 6041519"/>
              <a:gd name="connsiteX5" fmla="*/ 6871338 w 12197292"/>
              <a:gd name="connsiteY5" fmla="*/ 5577930 h 6041519"/>
              <a:gd name="connsiteX6" fmla="*/ 5752064 w 12197292"/>
              <a:gd name="connsiteY6" fmla="*/ 6041519 h 6041519"/>
              <a:gd name="connsiteX7" fmla="*/ 0 w 12197292"/>
              <a:gd name="connsiteY7" fmla="*/ 6041519 h 604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7292" h="6041519">
                <a:moveTo>
                  <a:pt x="0" y="0"/>
                </a:moveTo>
                <a:lnTo>
                  <a:pt x="12197292" y="0"/>
                </a:lnTo>
                <a:lnTo>
                  <a:pt x="12197292" y="1911192"/>
                </a:lnTo>
                <a:lnTo>
                  <a:pt x="11193762" y="1911192"/>
                </a:lnTo>
                <a:cubicBezTo>
                  <a:pt x="10773986" y="1911192"/>
                  <a:pt x="10371368" y="2077963"/>
                  <a:pt x="10074486" y="2374782"/>
                </a:cubicBezTo>
                <a:lnTo>
                  <a:pt x="6871338" y="5577930"/>
                </a:lnTo>
                <a:cubicBezTo>
                  <a:pt x="6574521" y="5874749"/>
                  <a:pt x="6171901" y="6041519"/>
                  <a:pt x="5752064" y="6041519"/>
                </a:cubicBezTo>
                <a:lnTo>
                  <a:pt x="0" y="6041519"/>
                </a:lnTo>
                <a:close/>
              </a:path>
            </a:pathLst>
          </a:custGeom>
          <a:solidFill>
            <a:schemeClr val="bg1"/>
          </a:solidFill>
          <a:ln w="0" cap="flat">
            <a:noFill/>
            <a:prstDash val="solid"/>
            <a:miter/>
          </a:ln>
          <a:effectLst/>
        </p:spPr>
        <p:txBody>
          <a:bodyPr rtlCol="0" anchor="ctr"/>
          <a:lstStyle/>
          <a:p>
            <a:pPr lvl="0"/>
            <a:endParaRPr lang="en-US" dirty="0"/>
          </a:p>
        </p:txBody>
      </p:sp>
      <p:sp>
        <p:nvSpPr>
          <p:cNvPr id="15" name="Freeform: Shape 14">
            <a:extLst>
              <a:ext uri="{FF2B5EF4-FFF2-40B4-BE49-F238E27FC236}">
                <a16:creationId xmlns:a16="http://schemas.microsoft.com/office/drawing/2014/main" id="{61B00066-9E85-96DD-B59A-251D959E616C}"/>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13248" cy="3200400"/>
          </a:xfrm>
        </p:spPr>
        <p:txBody>
          <a:bodyPr anchor="b"/>
          <a:lstStyle>
            <a:lvl1pPr marL="169863" indent="-169863">
              <a:buClrTx/>
              <a:buSzPct val="100000"/>
              <a:buFont typeface="Metropolis" panose="00000500000000000000" pitchFamily="2" charset="0"/>
              <a:buChar char="“"/>
              <a:defRPr sz="2800">
                <a:solidFill>
                  <a:schemeClr val="accent2"/>
                </a:solidFill>
              </a:defRPr>
            </a:lvl1pPr>
            <a:lvl2pPr marL="457200" indent="-184150">
              <a:buClrTx/>
              <a:buFont typeface="Metropolis" panose="00000500000000000000" pitchFamily="2" charset="0"/>
              <a:buChar char="“"/>
              <a:defRPr>
                <a:solidFill>
                  <a:schemeClr val="bg1"/>
                </a:solidFill>
              </a:defRPr>
            </a:lvl2pPr>
            <a:lvl3pPr marL="744538" indent="-169863">
              <a:buClrTx/>
              <a:buFont typeface="Metropolis" panose="00000500000000000000" pitchFamily="2" charset="0"/>
              <a:buChar char="“"/>
              <a:defRPr>
                <a:solidFill>
                  <a:schemeClr val="bg1"/>
                </a:solidFill>
              </a:defRPr>
            </a:lvl3pPr>
            <a:lvl4pPr marL="969963" indent="-166688">
              <a:buClrTx/>
              <a:buFont typeface="Metropolis" panose="00000500000000000000" pitchFamily="2" charset="0"/>
              <a:buChar char="“"/>
              <a:defRPr>
                <a:solidFill>
                  <a:schemeClr val="bg1"/>
                </a:solidFill>
              </a:defRPr>
            </a:lvl4pPr>
            <a:lvl5pPr marL="1143000" indent="-138113">
              <a:buClrTx/>
              <a:buFont typeface="Metropolis" panose="00000500000000000000" pitchFamily="2" charset="0"/>
              <a:buChar char="“"/>
              <a:defRPr>
                <a:solidFill>
                  <a:schemeClr val="bg1"/>
                </a:solidFill>
              </a:defRPr>
            </a:lvl5pPr>
          </a:lstStyle>
          <a:p>
            <a:pPr lvl="0"/>
            <a:r>
              <a:rPr lang="en-US"/>
              <a:t>Quote text on left, blue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marL="285750" indent="-285750">
              <a:defRPr lang="en-US" sz="1800" kern="1200" dirty="0">
                <a:solidFill>
                  <a:schemeClr val="tx1"/>
                </a:solidFill>
                <a:latin typeface="+mn-lt"/>
                <a:ea typeface="+mn-ea"/>
                <a:cs typeface="+mn-cs"/>
              </a:defRPr>
            </a:lvl1pPr>
          </a:lstStyle>
          <a:p>
            <a:pPr marL="0" lv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A92ABA6C-6064-9743-BF58-8AB21015448D}"/>
              </a:ext>
            </a:extLst>
          </p:cNvPr>
          <p:cNvSpPr>
            <a:spLocks noGrp="1"/>
          </p:cNvSpPr>
          <p:nvPr>
            <p:ph type="pic" sz="quarter" idx="4294967295" hasCustomPrompt="1"/>
          </p:nvPr>
        </p:nvSpPr>
        <p:spPr>
          <a:xfrm>
            <a:off x="8925484" y="4619335"/>
            <a:ext cx="2740025" cy="1371600"/>
          </a:xfrm>
        </p:spPr>
        <p:txBody>
          <a:bodyPr/>
          <a:lstStyle/>
          <a:p>
            <a:r>
              <a:rPr lang="en-US" dirty="0"/>
              <a:t>Click to insert logo or delete box if not needed</a:t>
            </a:r>
          </a:p>
        </p:txBody>
      </p:sp>
      <p:sp>
        <p:nvSpPr>
          <p:cNvPr id="17" name="page number">
            <a:extLst>
              <a:ext uri="{FF2B5EF4-FFF2-40B4-BE49-F238E27FC236}">
                <a16:creationId xmlns:a16="http://schemas.microsoft.com/office/drawing/2014/main" id="{DBC60254-9AEC-2A49-ABD6-870EE5B97F6C}"/>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5" name="Graphic 8">
            <a:extLst>
              <a:ext uri="{FF2B5EF4-FFF2-40B4-BE49-F238E27FC236}">
                <a16:creationId xmlns:a16="http://schemas.microsoft.com/office/drawing/2014/main" id="{B4758132-41E7-3AF2-6888-E57AAB57C2D4}"/>
              </a:ext>
            </a:extLst>
          </p:cNvPr>
          <p:cNvGrpSpPr/>
          <p:nvPr/>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841EEAAB-23AC-D47F-388D-63F547C46C21}"/>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839177EB-25CC-E79E-A327-2BF623A161BE}"/>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B93DD2BC-5C52-5195-64BD-BFCD915CF82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C90A28C3-198B-4594-AB38-1CE30B5D0214}"/>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E0E9C1D5-3541-16BA-CEE1-D36FB913E53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77E6E0D3-D668-DC02-6C5C-D264C0A21A0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E12C13F-B40E-0E62-F7DF-0FA5A72F12B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67D0ED2A-A79A-EDD1-6128-A2BB3C97035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18F3992B-F766-6C32-DA41-32FB6C066B84}"/>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86DC7707-25A9-7955-BDAC-5DF1F39C7B34}"/>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83F4BF48-49F0-33A3-0F4E-FEADBAE31AC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7" name="Graphic 8">
              <a:extLst>
                <a:ext uri="{FF2B5EF4-FFF2-40B4-BE49-F238E27FC236}">
                  <a16:creationId xmlns:a16="http://schemas.microsoft.com/office/drawing/2014/main" id="{9F293A06-D73B-D05A-23FE-FA9269E430A6}"/>
                </a:ext>
              </a:extLst>
            </p:cNvPr>
            <p:cNvGrpSpPr/>
            <p:nvPr/>
          </p:nvGrpSpPr>
          <p:grpSpPr>
            <a:xfrm>
              <a:off x="265625" y="6323271"/>
              <a:ext cx="1249223" cy="190348"/>
              <a:chOff x="265625" y="6323271"/>
              <a:chExt cx="1249223" cy="190348"/>
            </a:xfrm>
            <a:solidFill>
              <a:srgbClr val="000000"/>
            </a:solidFill>
          </p:grpSpPr>
          <p:sp>
            <p:nvSpPr>
              <p:cNvPr id="8" name="Freeform 7">
                <a:extLst>
                  <a:ext uri="{FF2B5EF4-FFF2-40B4-BE49-F238E27FC236}">
                    <a16:creationId xmlns:a16="http://schemas.microsoft.com/office/drawing/2014/main" id="{2E537BBB-F233-E0B1-8E78-2148B6BFDBBE}"/>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642831E7-C031-4A62-CFCB-77A23B83A3F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0" name="Freeform 9">
                <a:extLst>
                  <a:ext uri="{FF2B5EF4-FFF2-40B4-BE49-F238E27FC236}">
                    <a16:creationId xmlns:a16="http://schemas.microsoft.com/office/drawing/2014/main" id="{59491B63-148F-0FC2-21A9-ABC99A899BC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00C0482C-FE70-D0EB-BC58-46565B7E646F}"/>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BA9FFF7A-6D39-6D56-9C49-47587F5E2D5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C4F1373C-9ED7-35FB-11BE-D84A18B28D6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7237885B-F058-C3AD-B633-20EEB1A8AE2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5" name="page number">
            <a:extLst>
              <a:ext uri="{FF2B5EF4-FFF2-40B4-BE49-F238E27FC236}">
                <a16:creationId xmlns:a16="http://schemas.microsoft.com/office/drawing/2014/main" id="{DBC60254-9AEC-2A49-ABD6-870EE5B97F6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38" name="Graphic 8">
            <a:extLst>
              <a:ext uri="{FF2B5EF4-FFF2-40B4-BE49-F238E27FC236}">
                <a16:creationId xmlns:a16="http://schemas.microsoft.com/office/drawing/2014/main" id="{B4758132-41E7-3AF2-6888-E57AAB57C2D4}"/>
              </a:ext>
            </a:extLst>
          </p:cNvPr>
          <p:cNvGrpSpPr/>
          <p:nvPr userDrawn="1"/>
        </p:nvGrpSpPr>
        <p:grpSpPr>
          <a:xfrm>
            <a:off x="265625" y="6323271"/>
            <a:ext cx="1249223" cy="369648"/>
            <a:chOff x="265625" y="6323271"/>
            <a:chExt cx="1249223" cy="369648"/>
          </a:xfrm>
          <a:solidFill>
            <a:srgbClr val="000000"/>
          </a:solidFill>
        </p:grpSpPr>
        <p:grpSp>
          <p:nvGrpSpPr>
            <p:cNvPr id="39" name="Graphic 8">
              <a:extLst>
                <a:ext uri="{FF2B5EF4-FFF2-40B4-BE49-F238E27FC236}">
                  <a16:creationId xmlns:a16="http://schemas.microsoft.com/office/drawing/2014/main" id="{841EEAAB-23AC-D47F-388D-63F547C46C21}"/>
                </a:ext>
              </a:extLst>
            </p:cNvPr>
            <p:cNvGrpSpPr/>
            <p:nvPr/>
          </p:nvGrpSpPr>
          <p:grpSpPr>
            <a:xfrm>
              <a:off x="745455" y="6594444"/>
              <a:ext cx="722662" cy="98475"/>
              <a:chOff x="745455" y="6594444"/>
              <a:chExt cx="722662" cy="98475"/>
            </a:xfrm>
            <a:solidFill>
              <a:srgbClr val="000000"/>
            </a:solidFill>
          </p:grpSpPr>
          <p:sp>
            <p:nvSpPr>
              <p:cNvPr id="48" name="Freeform 47">
                <a:extLst>
                  <a:ext uri="{FF2B5EF4-FFF2-40B4-BE49-F238E27FC236}">
                    <a16:creationId xmlns:a16="http://schemas.microsoft.com/office/drawing/2014/main" id="{839177EB-25CC-E79E-A327-2BF623A161BE}"/>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B93DD2BC-5C52-5195-64BD-BFCD915CF82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C90A28C3-198B-4594-AB38-1CE30B5D0214}"/>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E0E9C1D5-3541-16BA-CEE1-D36FB913E53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77E6E0D3-D668-DC02-6C5C-D264C0A21A06}"/>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0E12C13F-B40E-0E62-F7DF-0FA5A72F12B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67D0ED2A-A79A-EDD1-6128-A2BB3C970351}"/>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18F3992B-F766-6C32-DA41-32FB6C066B84}"/>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86DC7707-25A9-7955-BDAC-5DF1F39C7B34}"/>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83F4BF48-49F0-33A3-0F4E-FEADBAE31AC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0" name="Graphic 8">
              <a:extLst>
                <a:ext uri="{FF2B5EF4-FFF2-40B4-BE49-F238E27FC236}">
                  <a16:creationId xmlns:a16="http://schemas.microsoft.com/office/drawing/2014/main" id="{9F293A06-D73B-D05A-23FE-FA9269E430A6}"/>
                </a:ext>
              </a:extLst>
            </p:cNvPr>
            <p:cNvGrpSpPr/>
            <p:nvPr/>
          </p:nvGrpSpPr>
          <p:grpSpPr>
            <a:xfrm>
              <a:off x="265625" y="6323271"/>
              <a:ext cx="1249223" cy="190348"/>
              <a:chOff x="265625" y="6323271"/>
              <a:chExt cx="1249223" cy="190348"/>
            </a:xfrm>
            <a:solidFill>
              <a:srgbClr val="000000"/>
            </a:solidFill>
          </p:grpSpPr>
          <p:sp>
            <p:nvSpPr>
              <p:cNvPr id="41" name="Freeform 40">
                <a:extLst>
                  <a:ext uri="{FF2B5EF4-FFF2-40B4-BE49-F238E27FC236}">
                    <a16:creationId xmlns:a16="http://schemas.microsoft.com/office/drawing/2014/main" id="{2E537BBB-F233-E0B1-8E78-2148B6BFDBBE}"/>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642831E7-C031-4A62-CFCB-77A23B83A3F0}"/>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59491B63-148F-0FC2-21A9-ABC99A899BC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00C0482C-FE70-D0EB-BC58-46565B7E646F}"/>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BA9FFF7A-6D39-6D56-9C49-47587F5E2D5F}"/>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C4F1373C-9ED7-35FB-11BE-D84A18B28D6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7237885B-F058-C3AD-B633-20EEB1A8AE2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 name="TextBox 2">
            <a:extLst>
              <a:ext uri="{FF2B5EF4-FFF2-40B4-BE49-F238E27FC236}">
                <a16:creationId xmlns:a16="http://schemas.microsoft.com/office/drawing/2014/main" id="{F067D46B-3BAF-FC5E-6BBB-503B5B6BCA1C}"/>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and Confidential.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2396944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Quote – Plum">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5791E300-9585-C59E-EED2-EB5190E58F2C}"/>
              </a:ext>
            </a:extLst>
          </p:cNvPr>
          <p:cNvSpPr/>
          <p:nvPr/>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5"/>
              </a:gs>
            </a:gsLst>
            <a:lin ang="0" scaled="1"/>
          </a:gradFill>
          <a:ln w="0" cap="flat">
            <a:noFill/>
            <a:prstDash val="solid"/>
            <a:miter/>
          </a:ln>
        </p:spPr>
        <p:txBody>
          <a:bodyPr rtlCol="0" anchor="ctr"/>
          <a:lstStyle/>
          <a:p>
            <a:endParaRPr lang="en-US" dirty="0"/>
          </a:p>
        </p:txBody>
      </p:sp>
      <p:sp>
        <p:nvSpPr>
          <p:cNvPr id="21" name="Text Placeholder 7">
            <a:extLst>
              <a:ext uri="{FF2B5EF4-FFF2-40B4-BE49-F238E27FC236}">
                <a16:creationId xmlns:a16="http://schemas.microsoft.com/office/drawing/2014/main" id="{608D3F09-D706-3940-8906-CE0F09AC4BB6}"/>
              </a:ext>
            </a:extLst>
          </p:cNvPr>
          <p:cNvSpPr>
            <a:spLocks noGrp="1"/>
          </p:cNvSpPr>
          <p:nvPr>
            <p:ph type="body" sz="quarter" idx="16" hasCustomPrompt="1"/>
          </p:nvPr>
        </p:nvSpPr>
        <p:spPr>
          <a:xfrm>
            <a:off x="438912" y="1600200"/>
            <a:ext cx="5462158" cy="3200400"/>
          </a:xfrm>
        </p:spPr>
        <p:txBody>
          <a:bodyPr anchor="b"/>
          <a:lstStyle>
            <a:lvl1pPr marL="169863" indent="-169863">
              <a:buClrTx/>
              <a:buSzPct val="100000"/>
              <a:buFont typeface="Metropolis" panose="00000500000000000000" pitchFamily="2" charset="0"/>
              <a:buChar char="“"/>
              <a:defRPr sz="2800">
                <a:solidFill>
                  <a:schemeClr val="accent2"/>
                </a:solidFill>
              </a:defRPr>
            </a:lvl1pPr>
            <a:lvl2pPr marL="457200" indent="-184150">
              <a:buClrTx/>
              <a:buFont typeface="Metropolis" panose="00000500000000000000" pitchFamily="2" charset="0"/>
              <a:buChar char="“"/>
              <a:defRPr>
                <a:solidFill>
                  <a:schemeClr val="bg1"/>
                </a:solidFill>
              </a:defRPr>
            </a:lvl2pPr>
            <a:lvl3pPr marL="744538" indent="-169863">
              <a:buClrTx/>
              <a:buFont typeface="Metropolis" panose="00000500000000000000" pitchFamily="2" charset="0"/>
              <a:buChar char="“"/>
              <a:defRPr>
                <a:solidFill>
                  <a:schemeClr val="bg1"/>
                </a:solidFill>
              </a:defRPr>
            </a:lvl3pPr>
            <a:lvl4pPr marL="969963" indent="-166688">
              <a:buClrTx/>
              <a:buFont typeface="Metropolis" panose="00000500000000000000" pitchFamily="2" charset="0"/>
              <a:buChar char="“"/>
              <a:defRPr>
                <a:solidFill>
                  <a:schemeClr val="bg1"/>
                </a:solidFill>
              </a:defRPr>
            </a:lvl4pPr>
            <a:lvl5pPr marL="1143000" indent="-138113">
              <a:buClrTx/>
              <a:buFont typeface="Metropolis" panose="00000500000000000000" pitchFamily="2" charset="0"/>
              <a:buChar char="“"/>
              <a:defRPr>
                <a:solidFill>
                  <a:schemeClr val="bg1"/>
                </a:solidFill>
              </a:defRPr>
            </a:lvl5pPr>
          </a:lstStyle>
          <a:p>
            <a:pPr lvl="0"/>
            <a:r>
              <a:rPr lang="en-US"/>
              <a:t>Quote text on left, purple parallelograms on the right.”</a:t>
            </a:r>
          </a:p>
        </p:txBody>
      </p:sp>
      <p:sp>
        <p:nvSpPr>
          <p:cNvPr id="19" name="Text Placeholder 10">
            <a:extLst>
              <a:ext uri="{FF2B5EF4-FFF2-40B4-BE49-F238E27FC236}">
                <a16:creationId xmlns:a16="http://schemas.microsoft.com/office/drawing/2014/main" id="{C1E51E88-6733-7942-B20E-2C56F8B2ED21}"/>
              </a:ext>
            </a:extLst>
          </p:cNvPr>
          <p:cNvSpPr>
            <a:spLocks noGrp="1"/>
          </p:cNvSpPr>
          <p:nvPr>
            <p:ph type="body" sz="quarter" idx="17" hasCustomPrompt="1"/>
          </p:nvPr>
        </p:nvSpPr>
        <p:spPr>
          <a:xfrm>
            <a:off x="612648" y="5065776"/>
            <a:ext cx="4581144" cy="274320"/>
          </a:xfrm>
        </p:spPr>
        <p:txBody>
          <a:bodyPr/>
          <a:lstStyle>
            <a:lvl1pPr marL="285750" indent="-285750">
              <a:defRPr lang="en-US" sz="1800" kern="1200" dirty="0">
                <a:solidFill>
                  <a:schemeClr val="tx1"/>
                </a:solidFill>
                <a:latin typeface="+mn-lt"/>
                <a:ea typeface="+mn-ea"/>
                <a:cs typeface="+mn-cs"/>
              </a:defRPr>
            </a:lvl1pPr>
          </a:lstStyle>
          <a:p>
            <a:pPr marL="0" lv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r>
              <a:rPr lang="en-US" dirty="0"/>
              <a:t>Source Name</a:t>
            </a:r>
          </a:p>
        </p:txBody>
      </p:sp>
      <p:sp>
        <p:nvSpPr>
          <p:cNvPr id="11" name="Picture Placeholder 11" descr="logo placeholder: click to insert logo or delete box if not needed">
            <a:extLst>
              <a:ext uri="{FF2B5EF4-FFF2-40B4-BE49-F238E27FC236}">
                <a16:creationId xmlns:a16="http://schemas.microsoft.com/office/drawing/2014/main" id="{953CF3A7-833E-B042-A405-AB46430C4476}"/>
              </a:ext>
            </a:extLst>
          </p:cNvPr>
          <p:cNvSpPr>
            <a:spLocks noGrp="1"/>
          </p:cNvSpPr>
          <p:nvPr>
            <p:ph type="pic" sz="quarter" idx="4294967295" hasCustomPrompt="1"/>
          </p:nvPr>
        </p:nvSpPr>
        <p:spPr>
          <a:xfrm>
            <a:off x="8925484" y="4619335"/>
            <a:ext cx="2740025" cy="1371600"/>
          </a:xfrm>
        </p:spPr>
        <p:txBody>
          <a:bodyPr/>
          <a:lstStyle/>
          <a:p>
            <a:r>
              <a:rPr lang="en-US" dirty="0"/>
              <a:t>Click to insert logo or delete box if not needed</a:t>
            </a:r>
          </a:p>
        </p:txBody>
      </p:sp>
      <p:sp>
        <p:nvSpPr>
          <p:cNvPr id="17" name="page number">
            <a:extLst>
              <a:ext uri="{FF2B5EF4-FFF2-40B4-BE49-F238E27FC236}">
                <a16:creationId xmlns:a16="http://schemas.microsoft.com/office/drawing/2014/main" id="{D03B3F1E-BEE4-0C40-B954-F58A7FCE9AE3}"/>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7" name="Graphic 8">
            <a:extLst>
              <a:ext uri="{FF2B5EF4-FFF2-40B4-BE49-F238E27FC236}">
                <a16:creationId xmlns:a16="http://schemas.microsoft.com/office/drawing/2014/main" id="{47818FA4-8AE2-A4B0-1EE8-9FE4A6BDD41B}"/>
              </a:ext>
            </a:extLst>
          </p:cNvPr>
          <p:cNvGrpSpPr/>
          <p:nvPr/>
        </p:nvGrpSpPr>
        <p:grpSpPr>
          <a:xfrm>
            <a:off x="265625" y="6323271"/>
            <a:ext cx="1249223" cy="369648"/>
            <a:chOff x="265625" y="6323271"/>
            <a:chExt cx="1249223" cy="369648"/>
          </a:xfrm>
          <a:solidFill>
            <a:srgbClr val="000000"/>
          </a:solidFill>
        </p:grpSpPr>
        <p:grpSp>
          <p:nvGrpSpPr>
            <p:cNvPr id="8" name="Graphic 8">
              <a:extLst>
                <a:ext uri="{FF2B5EF4-FFF2-40B4-BE49-F238E27FC236}">
                  <a16:creationId xmlns:a16="http://schemas.microsoft.com/office/drawing/2014/main" id="{906FE88E-54E3-F8F3-4AD1-B3FBBC7E3CA3}"/>
                </a:ext>
              </a:extLst>
            </p:cNvPr>
            <p:cNvGrpSpPr/>
            <p:nvPr/>
          </p:nvGrpSpPr>
          <p:grpSpPr>
            <a:xfrm>
              <a:off x="745455" y="6594444"/>
              <a:ext cx="722662" cy="98475"/>
              <a:chOff x="745455" y="6594444"/>
              <a:chExt cx="722662" cy="98475"/>
            </a:xfrm>
            <a:solidFill>
              <a:srgbClr val="000000"/>
            </a:solidFill>
          </p:grpSpPr>
          <p:sp>
            <p:nvSpPr>
              <p:cNvPr id="25" name="Freeform 24">
                <a:extLst>
                  <a:ext uri="{FF2B5EF4-FFF2-40B4-BE49-F238E27FC236}">
                    <a16:creationId xmlns:a16="http://schemas.microsoft.com/office/drawing/2014/main" id="{54A0F722-B555-E2A4-6E62-A0DD337E8B5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CE114C9D-2007-BC9E-F8AA-887AAF26A73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30CB1C40-B903-28F3-C47C-EE2DF741FB9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5F87C1F4-D1C4-5FD0-7410-12E7D3F9CF6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E2B126C2-3690-5E26-6606-DC917F25582A}"/>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608446EC-DFFD-44E5-1C5F-06F1ADF8E18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4D0F02A7-67C9-E3C0-51B8-692EC9B9B96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6865D6C8-4059-8F52-0699-D70C865CD04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3" name="Freeform 32">
                <a:extLst>
                  <a:ext uri="{FF2B5EF4-FFF2-40B4-BE49-F238E27FC236}">
                    <a16:creationId xmlns:a16="http://schemas.microsoft.com/office/drawing/2014/main" id="{7EA55EE1-6F19-AA1B-CC75-7F97E97AAA9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4" name="Freeform 33">
                <a:extLst>
                  <a:ext uri="{FF2B5EF4-FFF2-40B4-BE49-F238E27FC236}">
                    <a16:creationId xmlns:a16="http://schemas.microsoft.com/office/drawing/2014/main" id="{CEA15FB2-7F2D-EC93-1A40-74348B9A6E0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9" name="Graphic 8">
              <a:extLst>
                <a:ext uri="{FF2B5EF4-FFF2-40B4-BE49-F238E27FC236}">
                  <a16:creationId xmlns:a16="http://schemas.microsoft.com/office/drawing/2014/main" id="{8DA67385-AEE0-35D7-24E9-3A1C9A997AB6}"/>
                </a:ext>
              </a:extLst>
            </p:cNvPr>
            <p:cNvGrpSpPr/>
            <p:nvPr/>
          </p:nvGrpSpPr>
          <p:grpSpPr>
            <a:xfrm>
              <a:off x="265625" y="6323271"/>
              <a:ext cx="1249223" cy="190348"/>
              <a:chOff x="265625" y="6323271"/>
              <a:chExt cx="1249223" cy="190348"/>
            </a:xfrm>
            <a:solidFill>
              <a:srgbClr val="000000"/>
            </a:solidFill>
          </p:grpSpPr>
          <p:sp>
            <p:nvSpPr>
              <p:cNvPr id="10" name="Freeform 9">
                <a:extLst>
                  <a:ext uri="{FF2B5EF4-FFF2-40B4-BE49-F238E27FC236}">
                    <a16:creationId xmlns:a16="http://schemas.microsoft.com/office/drawing/2014/main" id="{E140BF28-9D00-E372-4C58-192831AB25B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9502AFFA-C636-75B6-47E4-75665F32F6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255A0F95-5DB1-12F9-464F-DAACA1FAD4F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E6E8C204-FC1F-FDD2-FE85-ED3286B80D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A65EBA96-8564-79A7-2A73-18756ED609DC}"/>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CCC651D2-5530-6772-23D5-458FB86B627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63F018CD-2167-521F-44FD-1C199026C8F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6" name="Freeform: Shape 2">
            <a:extLst>
              <a:ext uri="{FF2B5EF4-FFF2-40B4-BE49-F238E27FC236}">
                <a16:creationId xmlns:a16="http://schemas.microsoft.com/office/drawing/2014/main" id="{5791E300-9585-C59E-EED2-EB5190E58F2C}"/>
              </a:ext>
            </a:extLst>
          </p:cNvPr>
          <p:cNvSpPr/>
          <p:nvPr userDrawn="1"/>
        </p:nvSpPr>
        <p:spPr>
          <a:xfrm>
            <a:off x="-8466" y="1838847"/>
            <a:ext cx="12203641" cy="4206431"/>
          </a:xfrm>
          <a:custGeom>
            <a:avLst/>
            <a:gdLst>
              <a:gd name="connsiteX0" fmla="*/ 11193762 w 12203641"/>
              <a:gd name="connsiteY0" fmla="*/ 0 h 4206431"/>
              <a:gd name="connsiteX1" fmla="*/ 12203641 w 12203641"/>
              <a:gd name="connsiteY1" fmla="*/ 0 h 4206431"/>
              <a:gd name="connsiteX2" fmla="*/ 12203641 w 12203641"/>
              <a:gd name="connsiteY2" fmla="*/ 76041 h 4206431"/>
              <a:gd name="connsiteX3" fmla="*/ 11193825 w 12203641"/>
              <a:gd name="connsiteY3" fmla="*/ 76041 h 4206431"/>
              <a:gd name="connsiteX4" fmla="*/ 10074550 w 12203641"/>
              <a:gd name="connsiteY4" fmla="*/ 539630 h 4206431"/>
              <a:gd name="connsiteX5" fmla="*/ 6871401 w 12203641"/>
              <a:gd name="connsiteY5" fmla="*/ 3742842 h 4206431"/>
              <a:gd name="connsiteX6" fmla="*/ 5752127 w 12203641"/>
              <a:gd name="connsiteY6" fmla="*/ 4206431 h 4206431"/>
              <a:gd name="connsiteX7" fmla="*/ 0 w 12203641"/>
              <a:gd name="connsiteY7" fmla="*/ 4206431 h 4206431"/>
              <a:gd name="connsiteX8" fmla="*/ 0 w 12203641"/>
              <a:gd name="connsiteY8" fmla="*/ 4130391 h 4206431"/>
              <a:gd name="connsiteX9" fmla="*/ 5752127 w 12203641"/>
              <a:gd name="connsiteY9" fmla="*/ 4130391 h 4206431"/>
              <a:gd name="connsiteX10" fmla="*/ 6328796 w 12203641"/>
              <a:gd name="connsiteY10" fmla="*/ 4015665 h 4206431"/>
              <a:gd name="connsiteX11" fmla="*/ 6817648 w 12203641"/>
              <a:gd name="connsiteY11" fmla="*/ 3689025 h 4206431"/>
              <a:gd name="connsiteX12" fmla="*/ 10020795 w 12203641"/>
              <a:gd name="connsiteY12" fmla="*/ 485877 h 4206431"/>
              <a:gd name="connsiteX13" fmla="*/ 11193762 w 12203641"/>
              <a:gd name="connsiteY13" fmla="*/ 0 h 420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03641" h="4206431">
                <a:moveTo>
                  <a:pt x="11193762" y="0"/>
                </a:moveTo>
                <a:lnTo>
                  <a:pt x="12203641" y="0"/>
                </a:lnTo>
                <a:lnTo>
                  <a:pt x="12203641" y="76041"/>
                </a:lnTo>
                <a:lnTo>
                  <a:pt x="11193825" y="76041"/>
                </a:lnTo>
                <a:cubicBezTo>
                  <a:pt x="10773986" y="76041"/>
                  <a:pt x="10371368" y="242812"/>
                  <a:pt x="10074550" y="539630"/>
                </a:cubicBezTo>
                <a:lnTo>
                  <a:pt x="6871401" y="3742842"/>
                </a:lnTo>
                <a:cubicBezTo>
                  <a:pt x="6574520" y="4039660"/>
                  <a:pt x="6171901" y="4206431"/>
                  <a:pt x="5752127" y="4206431"/>
                </a:cubicBezTo>
                <a:lnTo>
                  <a:pt x="0" y="4206431"/>
                </a:lnTo>
                <a:lnTo>
                  <a:pt x="0" y="4130391"/>
                </a:lnTo>
                <a:lnTo>
                  <a:pt x="5752127" y="4130391"/>
                </a:lnTo>
                <a:cubicBezTo>
                  <a:pt x="5950998" y="4130391"/>
                  <a:pt x="6145057" y="4091769"/>
                  <a:pt x="6328796" y="4015665"/>
                </a:cubicBezTo>
                <a:cubicBezTo>
                  <a:pt x="6512534" y="3939560"/>
                  <a:pt x="6677025" y="3829647"/>
                  <a:pt x="6817648" y="3689025"/>
                </a:cubicBezTo>
                <a:lnTo>
                  <a:pt x="10020795" y="485877"/>
                </a:lnTo>
                <a:cubicBezTo>
                  <a:pt x="10334077" y="172532"/>
                  <a:pt x="10750686" y="0"/>
                  <a:pt x="11193762" y="0"/>
                </a:cubicBezTo>
                <a:close/>
              </a:path>
            </a:pathLst>
          </a:custGeom>
          <a:gradFill>
            <a:gsLst>
              <a:gs pos="20000">
                <a:srgbClr val="0095C4"/>
              </a:gs>
              <a:gs pos="90000">
                <a:schemeClr val="accent5"/>
              </a:gs>
            </a:gsLst>
            <a:lin ang="0" scaled="1"/>
          </a:gradFill>
          <a:ln w="0" cap="flat">
            <a:noFill/>
            <a:prstDash val="solid"/>
            <a:miter/>
          </a:ln>
        </p:spPr>
        <p:txBody>
          <a:bodyPr rtlCol="0" anchor="ctr"/>
          <a:lstStyle/>
          <a:p>
            <a:endParaRPr lang="en-US" dirty="0"/>
          </a:p>
        </p:txBody>
      </p:sp>
      <p:sp>
        <p:nvSpPr>
          <p:cNvPr id="37" name="page number">
            <a:extLst>
              <a:ext uri="{FF2B5EF4-FFF2-40B4-BE49-F238E27FC236}">
                <a16:creationId xmlns:a16="http://schemas.microsoft.com/office/drawing/2014/main" id="{D03B3F1E-BEE4-0C40-B954-F58A7FCE9AE3}"/>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40" name="Graphic 8">
            <a:extLst>
              <a:ext uri="{FF2B5EF4-FFF2-40B4-BE49-F238E27FC236}">
                <a16:creationId xmlns:a16="http://schemas.microsoft.com/office/drawing/2014/main" id="{47818FA4-8AE2-A4B0-1EE8-9FE4A6BDD41B}"/>
              </a:ext>
            </a:extLst>
          </p:cNvPr>
          <p:cNvGrpSpPr/>
          <p:nvPr userDrawn="1"/>
        </p:nvGrpSpPr>
        <p:grpSpPr>
          <a:xfrm>
            <a:off x="265625" y="6323271"/>
            <a:ext cx="1249223" cy="369648"/>
            <a:chOff x="265625" y="6323271"/>
            <a:chExt cx="1249223" cy="369648"/>
          </a:xfrm>
          <a:solidFill>
            <a:srgbClr val="000000"/>
          </a:solidFill>
        </p:grpSpPr>
        <p:grpSp>
          <p:nvGrpSpPr>
            <p:cNvPr id="41" name="Graphic 8">
              <a:extLst>
                <a:ext uri="{FF2B5EF4-FFF2-40B4-BE49-F238E27FC236}">
                  <a16:creationId xmlns:a16="http://schemas.microsoft.com/office/drawing/2014/main" id="{906FE88E-54E3-F8F3-4AD1-B3FBBC7E3CA3}"/>
                </a:ext>
              </a:extLst>
            </p:cNvPr>
            <p:cNvGrpSpPr/>
            <p:nvPr/>
          </p:nvGrpSpPr>
          <p:grpSpPr>
            <a:xfrm>
              <a:off x="745455" y="6594444"/>
              <a:ext cx="722662" cy="98475"/>
              <a:chOff x="745455" y="6594444"/>
              <a:chExt cx="722662" cy="98475"/>
            </a:xfrm>
            <a:solidFill>
              <a:srgbClr val="000000"/>
            </a:solidFill>
          </p:grpSpPr>
          <p:sp>
            <p:nvSpPr>
              <p:cNvPr id="50" name="Freeform 49">
                <a:extLst>
                  <a:ext uri="{FF2B5EF4-FFF2-40B4-BE49-F238E27FC236}">
                    <a16:creationId xmlns:a16="http://schemas.microsoft.com/office/drawing/2014/main" id="{54A0F722-B555-E2A4-6E62-A0DD337E8B5C}"/>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CE114C9D-2007-BC9E-F8AA-887AAF26A734}"/>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30CB1C40-B903-28F3-C47C-EE2DF741FB96}"/>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5F87C1F4-D1C4-5FD0-7410-12E7D3F9CF6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E2B126C2-3690-5E26-6606-DC917F25582A}"/>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608446EC-DFFD-44E5-1C5F-06F1ADF8E18C}"/>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4D0F02A7-67C9-E3C0-51B8-692EC9B9B96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6865D6C8-4059-8F52-0699-D70C865CD04D}"/>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7EA55EE1-6F19-AA1B-CC75-7F97E97AAA97}"/>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CEA15FB2-7F2D-EC93-1A40-74348B9A6E0D}"/>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2" name="Graphic 8">
              <a:extLst>
                <a:ext uri="{FF2B5EF4-FFF2-40B4-BE49-F238E27FC236}">
                  <a16:creationId xmlns:a16="http://schemas.microsoft.com/office/drawing/2014/main" id="{8DA67385-AEE0-35D7-24E9-3A1C9A997AB6}"/>
                </a:ext>
              </a:extLst>
            </p:cNvPr>
            <p:cNvGrpSpPr/>
            <p:nvPr/>
          </p:nvGrpSpPr>
          <p:grpSpPr>
            <a:xfrm>
              <a:off x="265625" y="6323271"/>
              <a:ext cx="1249223" cy="190348"/>
              <a:chOff x="265625" y="6323271"/>
              <a:chExt cx="1249223" cy="190348"/>
            </a:xfrm>
            <a:solidFill>
              <a:srgbClr val="000000"/>
            </a:solidFill>
          </p:grpSpPr>
          <p:sp>
            <p:nvSpPr>
              <p:cNvPr id="43" name="Freeform 42">
                <a:extLst>
                  <a:ext uri="{FF2B5EF4-FFF2-40B4-BE49-F238E27FC236}">
                    <a16:creationId xmlns:a16="http://schemas.microsoft.com/office/drawing/2014/main" id="{E140BF28-9D00-E372-4C58-192831AB25B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9502AFFA-C636-75B6-47E4-75665F32F63A}"/>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255A0F95-5DB1-12F9-464F-DAACA1FAD4F0}"/>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E6E8C204-FC1F-FDD2-FE85-ED3286B80D6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A65EBA96-8564-79A7-2A73-18756ED609DC}"/>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CCC651D2-5530-6772-23D5-458FB86B627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63F018CD-2167-521F-44FD-1C199026C8F4}"/>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 name="TextBox 4">
            <a:extLst>
              <a:ext uri="{FF2B5EF4-FFF2-40B4-BE49-F238E27FC236}">
                <a16:creationId xmlns:a16="http://schemas.microsoft.com/office/drawing/2014/main" id="{ADDD0B23-63DE-6951-34B4-9D6FD0B6A5F1}"/>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and Confidential.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2033441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ig Statement 2 - Leaf " preserve="1" userDrawn="1">
  <p:cSld name="Big Statement - Customer Story">
    <p:spTree>
      <p:nvGrpSpPr>
        <p:cNvPr id="1" name="Shape 1569"/>
        <p:cNvGrpSpPr/>
        <p:nvPr/>
      </p:nvGrpSpPr>
      <p:grpSpPr>
        <a:xfrm>
          <a:off x="0" y="0"/>
          <a:ext cx="0" cy="0"/>
          <a:chOff x="0" y="0"/>
          <a:chExt cx="0" cy="0"/>
        </a:xfrm>
      </p:grpSpPr>
      <p:sp>
        <p:nvSpPr>
          <p:cNvPr id="1570" name="Google Shape;1570;p93"/>
          <p:cNvSpPr/>
          <p:nvPr userDrawn="1"/>
        </p:nvSpPr>
        <p:spPr>
          <a:xfrm>
            <a:off x="6472" y="437918"/>
            <a:ext cx="12182354" cy="5615389"/>
          </a:xfrm>
          <a:custGeom>
            <a:avLst/>
            <a:gdLst>
              <a:gd name="connsiteX0" fmla="*/ 0 w 12203580"/>
              <a:gd name="connsiteY0" fmla="*/ 0 h 6058734"/>
              <a:gd name="connsiteX1" fmla="*/ 12189729 w 12203580"/>
              <a:gd name="connsiteY1" fmla="*/ 263236 h 6058734"/>
              <a:gd name="connsiteX2" fmla="*/ 12203580 w 12203580"/>
              <a:gd name="connsiteY2" fmla="*/ 1909982 h 6058734"/>
              <a:gd name="connsiteX3" fmla="*/ 11206700 w 12203580"/>
              <a:gd name="connsiteY3" fmla="*/ 1909982 h 6058734"/>
              <a:gd name="connsiteX4" fmla="*/ 10082432 w 12203580"/>
              <a:gd name="connsiteY4" fmla="*/ 2375639 h 6058734"/>
              <a:gd name="connsiteX5" fmla="*/ 6864995 w 12203580"/>
              <a:gd name="connsiteY5" fmla="*/ 5593077 h 6058734"/>
              <a:gd name="connsiteX6" fmla="*/ 5740726 w 12203580"/>
              <a:gd name="connsiteY6" fmla="*/ 6058734 h 6058734"/>
              <a:gd name="connsiteX7" fmla="*/ 0 w 12203580"/>
              <a:gd name="connsiteY7" fmla="*/ 6058734 h 6058734"/>
              <a:gd name="connsiteX8" fmla="*/ 0 w 12203580"/>
              <a:gd name="connsiteY8" fmla="*/ 0 h 6058734"/>
              <a:gd name="connsiteX0" fmla="*/ 0 w 12203580"/>
              <a:gd name="connsiteY0" fmla="*/ 0 h 5823207"/>
              <a:gd name="connsiteX1" fmla="*/ 12189729 w 12203580"/>
              <a:gd name="connsiteY1" fmla="*/ 27709 h 5823207"/>
              <a:gd name="connsiteX2" fmla="*/ 12203580 w 12203580"/>
              <a:gd name="connsiteY2" fmla="*/ 1674455 h 5823207"/>
              <a:gd name="connsiteX3" fmla="*/ 11206700 w 12203580"/>
              <a:gd name="connsiteY3" fmla="*/ 1674455 h 5823207"/>
              <a:gd name="connsiteX4" fmla="*/ 10082432 w 12203580"/>
              <a:gd name="connsiteY4" fmla="*/ 2140112 h 5823207"/>
              <a:gd name="connsiteX5" fmla="*/ 6864995 w 12203580"/>
              <a:gd name="connsiteY5" fmla="*/ 5357550 h 5823207"/>
              <a:gd name="connsiteX6" fmla="*/ 5740726 w 12203580"/>
              <a:gd name="connsiteY6" fmla="*/ 5823207 h 5823207"/>
              <a:gd name="connsiteX7" fmla="*/ 0 w 12203580"/>
              <a:gd name="connsiteY7" fmla="*/ 5823207 h 5823207"/>
              <a:gd name="connsiteX8" fmla="*/ 0 w 12203580"/>
              <a:gd name="connsiteY8" fmla="*/ 0 h 5823207"/>
              <a:gd name="connsiteX0" fmla="*/ 0 w 12231282"/>
              <a:gd name="connsiteY0" fmla="*/ 0 h 5823207"/>
              <a:gd name="connsiteX1" fmla="*/ 12231282 w 12231282"/>
              <a:gd name="connsiteY1" fmla="*/ 235527 h 5823207"/>
              <a:gd name="connsiteX2" fmla="*/ 12203580 w 12231282"/>
              <a:gd name="connsiteY2" fmla="*/ 1674455 h 5823207"/>
              <a:gd name="connsiteX3" fmla="*/ 11206700 w 12231282"/>
              <a:gd name="connsiteY3" fmla="*/ 1674455 h 5823207"/>
              <a:gd name="connsiteX4" fmla="*/ 10082432 w 12231282"/>
              <a:gd name="connsiteY4" fmla="*/ 2140112 h 5823207"/>
              <a:gd name="connsiteX5" fmla="*/ 6864995 w 12231282"/>
              <a:gd name="connsiteY5" fmla="*/ 5357550 h 5823207"/>
              <a:gd name="connsiteX6" fmla="*/ 5740726 w 12231282"/>
              <a:gd name="connsiteY6" fmla="*/ 5823207 h 5823207"/>
              <a:gd name="connsiteX7" fmla="*/ 0 w 12231282"/>
              <a:gd name="connsiteY7" fmla="*/ 5823207 h 5823207"/>
              <a:gd name="connsiteX8" fmla="*/ 0 w 12231282"/>
              <a:gd name="connsiteY8" fmla="*/ 0 h 5823207"/>
              <a:gd name="connsiteX0" fmla="*/ 0 w 12231282"/>
              <a:gd name="connsiteY0" fmla="*/ 0 h 5615389"/>
              <a:gd name="connsiteX1" fmla="*/ 12231282 w 12231282"/>
              <a:gd name="connsiteY1" fmla="*/ 27709 h 5615389"/>
              <a:gd name="connsiteX2" fmla="*/ 12203580 w 12231282"/>
              <a:gd name="connsiteY2" fmla="*/ 1466637 h 5615389"/>
              <a:gd name="connsiteX3" fmla="*/ 11206700 w 12231282"/>
              <a:gd name="connsiteY3" fmla="*/ 1466637 h 5615389"/>
              <a:gd name="connsiteX4" fmla="*/ 10082432 w 12231282"/>
              <a:gd name="connsiteY4" fmla="*/ 1932294 h 5615389"/>
              <a:gd name="connsiteX5" fmla="*/ 6864995 w 12231282"/>
              <a:gd name="connsiteY5" fmla="*/ 5149732 h 5615389"/>
              <a:gd name="connsiteX6" fmla="*/ 5740726 w 12231282"/>
              <a:gd name="connsiteY6" fmla="*/ 5615389 h 5615389"/>
              <a:gd name="connsiteX7" fmla="*/ 0 w 12231282"/>
              <a:gd name="connsiteY7" fmla="*/ 5615389 h 5615389"/>
              <a:gd name="connsiteX8" fmla="*/ 0 w 12231282"/>
              <a:gd name="connsiteY8" fmla="*/ 0 h 56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31282" h="5615389" extrusionOk="0">
                <a:moveTo>
                  <a:pt x="0" y="0"/>
                </a:moveTo>
                <a:lnTo>
                  <a:pt x="12231282" y="27709"/>
                </a:lnTo>
                <a:lnTo>
                  <a:pt x="12203580" y="1466637"/>
                </a:lnTo>
                <a:lnTo>
                  <a:pt x="11206700" y="1466637"/>
                </a:lnTo>
                <a:cubicBezTo>
                  <a:pt x="10785051" y="1466637"/>
                  <a:pt x="10380638" y="1634150"/>
                  <a:pt x="10082432" y="1932294"/>
                </a:cubicBezTo>
                <a:lnTo>
                  <a:pt x="6864995" y="5149732"/>
                </a:lnTo>
                <a:cubicBezTo>
                  <a:pt x="6566852" y="5447874"/>
                  <a:pt x="6162438" y="5615389"/>
                  <a:pt x="5740726" y="5615389"/>
                </a:cubicBezTo>
                <a:lnTo>
                  <a:pt x="0" y="5615389"/>
                </a:lnTo>
                <a:lnTo>
                  <a:pt x="0" y="0"/>
                </a:lnTo>
                <a:close/>
              </a:path>
            </a:pathLst>
          </a:custGeom>
          <a:solidFill>
            <a:schemeClr val="lt1"/>
          </a:solidFill>
          <a:ln>
            <a:noFill/>
          </a:ln>
          <a:effectLst/>
        </p:spPr>
        <p:txBody>
          <a:bodyPr spcFirstLastPara="1" wrap="square" lIns="91401" tIns="45688" rIns="91401" bIns="45688"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799" b="0" i="0" u="none" strike="noStrike" cap="none" dirty="0">
              <a:solidFill>
                <a:schemeClr val="dk1"/>
              </a:solidFill>
              <a:latin typeface="Arial"/>
              <a:ea typeface="Arial"/>
              <a:cs typeface="Arial"/>
              <a:sym typeface="Arial"/>
            </a:endParaRPr>
          </a:p>
        </p:txBody>
      </p:sp>
      <p:sp>
        <p:nvSpPr>
          <p:cNvPr id="1571" name="Google Shape;1571;p93"/>
          <p:cNvSpPr/>
          <p:nvPr/>
        </p:nvSpPr>
        <p:spPr>
          <a:xfrm>
            <a:off x="-9730" y="1828238"/>
            <a:ext cx="12203581" cy="4225133"/>
          </a:xfrm>
          <a:custGeom>
            <a:avLst/>
            <a:gdLst/>
            <a:ahLst/>
            <a:cxnLst/>
            <a:rect l="l" t="t" r="r" b="b"/>
            <a:pathLst>
              <a:path w="12203581" h="4225133" extrusionOk="0">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0">
                <a:srgbClr val="0095C4"/>
              </a:gs>
              <a:gs pos="20000">
                <a:srgbClr val="0095C4"/>
              </a:gs>
              <a:gs pos="45000">
                <a:srgbClr val="299B75"/>
              </a:gs>
              <a:gs pos="80000">
                <a:srgbClr val="61A30E"/>
              </a:gs>
              <a:gs pos="100000">
                <a:srgbClr val="61A30E"/>
              </a:gs>
            </a:gsLst>
            <a:lin ang="0" scaled="0"/>
          </a:gradFill>
          <a:ln>
            <a:noFill/>
          </a:ln>
        </p:spPr>
        <p:txBody>
          <a:bodyPr spcFirstLastPara="1" wrap="square" lIns="91401" tIns="45688" rIns="91401" bIns="45688"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799" b="0" i="0" u="none" strike="noStrike" cap="none">
              <a:solidFill>
                <a:schemeClr val="dk1"/>
              </a:solidFill>
              <a:latin typeface="Arial"/>
              <a:ea typeface="Arial"/>
              <a:cs typeface="Arial"/>
              <a:sym typeface="Arial"/>
            </a:endParaRPr>
          </a:p>
        </p:txBody>
      </p:sp>
      <p:sp>
        <p:nvSpPr>
          <p:cNvPr id="1575" name="Google Shape;1575;p93"/>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rgbClr val="000000"/>
              </a:buClr>
              <a:buSzPts val="800"/>
              <a:buFont typeface="Arial"/>
              <a:buNone/>
            </a:pPr>
            <a:fld id="{00000000-1234-1234-1234-123412341234}" type="slidenum">
              <a:rPr lang="en-US" sz="800" b="0" i="0" u="none" strike="noStrike" cap="none">
                <a:solidFill>
                  <a:schemeClr val="dk2"/>
                </a:solidFill>
                <a:latin typeface="Arial"/>
                <a:ea typeface="Arial"/>
                <a:cs typeface="Arial"/>
                <a:sym typeface="Arial"/>
              </a:rPr>
              <a:pPr marL="0" marR="0" lvl="0" indent="0" algn="r" rtl="0">
                <a:lnSpc>
                  <a:spcPct val="90000"/>
                </a:lnSpc>
                <a:spcBef>
                  <a:spcPts val="0"/>
                </a:spcBef>
                <a:spcAft>
                  <a:spcPts val="0"/>
                </a:spcAft>
                <a:buClr>
                  <a:srgbClr val="000000"/>
                </a:buClr>
                <a:buSzPts val="800"/>
                <a:buFont typeface="Arial"/>
                <a:buNone/>
              </a:pPr>
              <a:t>‹#›</a:t>
            </a:fld>
            <a:endParaRPr sz="800" b="0" i="0" u="none" strike="noStrike" cap="none">
              <a:solidFill>
                <a:schemeClr val="dk2"/>
              </a:solidFill>
              <a:latin typeface="Arial"/>
              <a:ea typeface="Arial"/>
              <a:cs typeface="Arial"/>
              <a:sym typeface="Arial"/>
            </a:endParaRPr>
          </a:p>
        </p:txBody>
      </p:sp>
      <p:sp>
        <p:nvSpPr>
          <p:cNvPr id="34" name="Picture Placeholder 33">
            <a:extLst>
              <a:ext uri="{FF2B5EF4-FFF2-40B4-BE49-F238E27FC236}">
                <a16:creationId xmlns:a16="http://schemas.microsoft.com/office/drawing/2014/main" id="{64FCE390-4ACD-3809-FB6E-84FA2E9A8EA8}"/>
              </a:ext>
            </a:extLst>
          </p:cNvPr>
          <p:cNvSpPr>
            <a:spLocks noGrp="1"/>
          </p:cNvSpPr>
          <p:nvPr>
            <p:ph type="pic" sz="quarter" idx="10"/>
          </p:nvPr>
        </p:nvSpPr>
        <p:spPr>
          <a:xfrm>
            <a:off x="6457030" y="3564301"/>
            <a:ext cx="5731795" cy="3298781"/>
          </a:xfrm>
          <a:custGeom>
            <a:avLst/>
            <a:gdLst>
              <a:gd name="connsiteX0" fmla="*/ 3824498 w 5733288"/>
              <a:gd name="connsiteY0" fmla="*/ 0 h 3298781"/>
              <a:gd name="connsiteX1" fmla="*/ 5733288 w 5733288"/>
              <a:gd name="connsiteY1" fmla="*/ 0 h 3298781"/>
              <a:gd name="connsiteX2" fmla="*/ 5733288 w 5733288"/>
              <a:gd name="connsiteY2" fmla="*/ 1358608 h 3298781"/>
              <a:gd name="connsiteX3" fmla="*/ 3792610 w 5733288"/>
              <a:gd name="connsiteY3" fmla="*/ 3298781 h 3298781"/>
              <a:gd name="connsiteX4" fmla="*/ 0 w 5733288"/>
              <a:gd name="connsiteY4" fmla="*/ 3298781 h 3298781"/>
              <a:gd name="connsiteX5" fmla="*/ 2928488 w 5733288"/>
              <a:gd name="connsiteY5" fmla="*/ 371055 h 3298781"/>
              <a:gd name="connsiteX6" fmla="*/ 3824498 w 5733288"/>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3288" h="3298781">
                <a:moveTo>
                  <a:pt x="3824498" y="0"/>
                </a:moveTo>
                <a:lnTo>
                  <a:pt x="5733288" y="0"/>
                </a:lnTo>
                <a:lnTo>
                  <a:pt x="5733288" y="1358608"/>
                </a:lnTo>
                <a:lnTo>
                  <a:pt x="3792610" y="3298781"/>
                </a:lnTo>
                <a:lnTo>
                  <a:pt x="0" y="3298781"/>
                </a:lnTo>
                <a:lnTo>
                  <a:pt x="2928488" y="371055"/>
                </a:lnTo>
                <a:cubicBezTo>
                  <a:pt x="3166144" y="133460"/>
                  <a:pt x="3488446" y="0"/>
                  <a:pt x="3824498" y="0"/>
                </a:cubicBezTo>
                <a:close/>
              </a:path>
            </a:pathLst>
          </a:custGeom>
          <a:solidFill>
            <a:schemeClr val="bg1">
              <a:lumMod val="95000"/>
            </a:schemeClr>
          </a:solidFill>
          <a:ln>
            <a:noFill/>
          </a:ln>
        </p:spPr>
        <p:txBody>
          <a:bodyPr wrap="square" anchor="ctr">
            <a:noAutofit/>
          </a:bodyPr>
          <a:lstStyle>
            <a:lvl1pPr algn="ctr">
              <a:defRPr/>
            </a:lvl1pPr>
          </a:lstStyle>
          <a:p>
            <a:r>
              <a:rPr lang="en-US"/>
              <a:t>Click icon to add picture</a:t>
            </a:r>
            <a:endParaRPr lang="en-US" dirty="0"/>
          </a:p>
        </p:txBody>
      </p:sp>
      <p:sp>
        <p:nvSpPr>
          <p:cNvPr id="40" name="Text Placeholder 39">
            <a:extLst>
              <a:ext uri="{FF2B5EF4-FFF2-40B4-BE49-F238E27FC236}">
                <a16:creationId xmlns:a16="http://schemas.microsoft.com/office/drawing/2014/main" id="{657FDDDA-B96D-D480-4EE8-AB6534C448F1}"/>
              </a:ext>
            </a:extLst>
          </p:cNvPr>
          <p:cNvSpPr>
            <a:spLocks noGrp="1"/>
          </p:cNvSpPr>
          <p:nvPr>
            <p:ph type="body" sz="quarter" idx="12" hasCustomPrompt="1"/>
          </p:nvPr>
        </p:nvSpPr>
        <p:spPr>
          <a:xfrm>
            <a:off x="605484" y="4754564"/>
            <a:ext cx="4814417" cy="387453"/>
          </a:xfrm>
        </p:spPr>
        <p:txBody>
          <a:bodyPr anchor="b"/>
          <a:lstStyle>
            <a:lvl1pPr marL="11110" indent="0">
              <a:tabLst/>
              <a:defRPr sz="1799" b="1">
                <a:latin typeface="+mn-lt"/>
              </a:defRPr>
            </a:lvl1pPr>
            <a:lvl2pPr>
              <a:defRPr sz="1600"/>
            </a:lvl2pPr>
            <a:lvl3pPr>
              <a:defRPr sz="1400"/>
            </a:lvl3pPr>
            <a:lvl4pPr>
              <a:defRPr sz="1200"/>
            </a:lvl4pPr>
            <a:lvl5pPr>
              <a:defRPr sz="1200"/>
            </a:lvl5pPr>
          </a:lstStyle>
          <a:p>
            <a:pPr lvl="0"/>
            <a:r>
              <a:rPr lang="en-GB" dirty="0"/>
              <a:t>First Last</a:t>
            </a:r>
          </a:p>
        </p:txBody>
      </p:sp>
      <p:sp>
        <p:nvSpPr>
          <p:cNvPr id="4" name="Text Placeholder 3">
            <a:extLst>
              <a:ext uri="{FF2B5EF4-FFF2-40B4-BE49-F238E27FC236}">
                <a16:creationId xmlns:a16="http://schemas.microsoft.com/office/drawing/2014/main" id="{5E7AE31D-E7E0-C017-8423-24C823B6E323}"/>
              </a:ext>
            </a:extLst>
          </p:cNvPr>
          <p:cNvSpPr>
            <a:spLocks noGrp="1"/>
          </p:cNvSpPr>
          <p:nvPr>
            <p:ph type="body" sz="quarter" idx="13" hasCustomPrompt="1"/>
          </p:nvPr>
        </p:nvSpPr>
        <p:spPr>
          <a:xfrm>
            <a:off x="9025085" y="412751"/>
            <a:ext cx="2583519" cy="1190624"/>
          </a:xfrm>
          <a:prstGeom prst="roundRect">
            <a:avLst/>
          </a:prstGeom>
          <a:noFill/>
          <a:ln w="31750">
            <a:solidFill>
              <a:schemeClr val="accent2"/>
            </a:solidFill>
          </a:ln>
        </p:spPr>
        <p:txBody>
          <a:bodyPr anchor="ctr"/>
          <a:lstStyle>
            <a:lvl1pPr marL="11110" indent="0" algn="ctr">
              <a:tabLst/>
              <a:defRPr>
                <a:solidFill>
                  <a:schemeClr val="accent2"/>
                </a:solidFill>
                <a:latin typeface="+mn-lt"/>
              </a:defRPr>
            </a:lvl1pPr>
          </a:lstStyle>
          <a:p>
            <a:pPr lvl="0"/>
            <a:r>
              <a:rPr lang="en-US" dirty="0"/>
              <a:t>Add Callout Text</a:t>
            </a:r>
          </a:p>
        </p:txBody>
      </p:sp>
      <p:sp>
        <p:nvSpPr>
          <p:cNvPr id="2" name="Text Placeholder 39">
            <a:extLst>
              <a:ext uri="{FF2B5EF4-FFF2-40B4-BE49-F238E27FC236}">
                <a16:creationId xmlns:a16="http://schemas.microsoft.com/office/drawing/2014/main" id="{70D84C82-3C28-2949-F2F0-9D6FAD519F09}"/>
              </a:ext>
            </a:extLst>
          </p:cNvPr>
          <p:cNvSpPr>
            <a:spLocks noGrp="1"/>
          </p:cNvSpPr>
          <p:nvPr>
            <p:ph type="body" sz="quarter" idx="14" hasCustomPrompt="1"/>
          </p:nvPr>
        </p:nvSpPr>
        <p:spPr>
          <a:xfrm>
            <a:off x="605484" y="5158325"/>
            <a:ext cx="4814417" cy="387453"/>
          </a:xfrm>
        </p:spPr>
        <p:txBody>
          <a:bodyPr/>
          <a:lstStyle>
            <a:lvl1pPr marL="11110" indent="0">
              <a:tabLst/>
              <a:defRPr sz="1400">
                <a:latin typeface="+mn-lt"/>
              </a:defRPr>
            </a:lvl1pPr>
            <a:lvl2pPr>
              <a:defRPr sz="1600"/>
            </a:lvl2pPr>
            <a:lvl3pPr>
              <a:defRPr sz="1400"/>
            </a:lvl3pPr>
            <a:lvl4pPr>
              <a:defRPr sz="1200"/>
            </a:lvl4pPr>
            <a:lvl5pPr>
              <a:defRPr sz="1200"/>
            </a:lvl5pPr>
          </a:lstStyle>
          <a:p>
            <a:pPr lvl="0"/>
            <a:r>
              <a:rPr lang="en-GB" dirty="0"/>
              <a:t>Title, Company</a:t>
            </a:r>
          </a:p>
        </p:txBody>
      </p:sp>
      <p:sp>
        <p:nvSpPr>
          <p:cNvPr id="3" name="Text Placeholder 7">
            <a:extLst>
              <a:ext uri="{FF2B5EF4-FFF2-40B4-BE49-F238E27FC236}">
                <a16:creationId xmlns:a16="http://schemas.microsoft.com/office/drawing/2014/main" id="{2F3E52AD-86BB-94F8-6575-8F8B2238E00F}"/>
              </a:ext>
            </a:extLst>
          </p:cNvPr>
          <p:cNvSpPr>
            <a:spLocks noGrp="1"/>
          </p:cNvSpPr>
          <p:nvPr>
            <p:ph type="body" sz="quarter" idx="16" hasCustomPrompt="1"/>
          </p:nvPr>
        </p:nvSpPr>
        <p:spPr>
          <a:xfrm>
            <a:off x="438911" y="1449388"/>
            <a:ext cx="6568063" cy="3351212"/>
          </a:xfrm>
        </p:spPr>
        <p:txBody>
          <a:bodyPr anchor="b"/>
          <a:lstStyle>
            <a:lvl1pPr marL="169863" indent="-169863">
              <a:buClrTx/>
              <a:buSzPct val="100000"/>
              <a:buFont typeface="Metropolis" panose="00000500000000000000" pitchFamily="2" charset="0"/>
              <a:buChar char="“"/>
              <a:defRPr sz="2800">
                <a:solidFill>
                  <a:schemeClr val="accent2"/>
                </a:solidFill>
              </a:defRPr>
            </a:lvl1pPr>
            <a:lvl2pPr marL="457200" indent="-184150">
              <a:buClrTx/>
              <a:buFont typeface="Metropolis" panose="00000500000000000000" pitchFamily="2" charset="0"/>
              <a:buChar char="“"/>
              <a:defRPr>
                <a:solidFill>
                  <a:schemeClr val="bg1"/>
                </a:solidFill>
              </a:defRPr>
            </a:lvl2pPr>
            <a:lvl3pPr marL="744538" indent="-169863">
              <a:buClrTx/>
              <a:buFont typeface="Metropolis" panose="00000500000000000000" pitchFamily="2" charset="0"/>
              <a:buChar char="“"/>
              <a:defRPr>
                <a:solidFill>
                  <a:schemeClr val="bg1"/>
                </a:solidFill>
              </a:defRPr>
            </a:lvl3pPr>
            <a:lvl4pPr marL="969963" indent="-166688">
              <a:buClrTx/>
              <a:buFont typeface="Metropolis" panose="00000500000000000000" pitchFamily="2" charset="0"/>
              <a:buChar char="“"/>
              <a:defRPr>
                <a:solidFill>
                  <a:schemeClr val="bg1"/>
                </a:solidFill>
              </a:defRPr>
            </a:lvl4pPr>
            <a:lvl5pPr marL="1143000" indent="-138113">
              <a:buClrTx/>
              <a:buFont typeface="Metropolis" panose="00000500000000000000" pitchFamily="2" charset="0"/>
              <a:buChar char="“"/>
              <a:defRPr>
                <a:solidFill>
                  <a:schemeClr val="bg1"/>
                </a:solidFill>
              </a:defRPr>
            </a:lvl5pPr>
          </a:lstStyle>
          <a:p>
            <a:pPr lvl="0"/>
            <a:r>
              <a:rPr lang="en-US" dirty="0"/>
              <a:t>Quote text on left, purple parallelograms on the right.” ~200 characters. Arial 24-28pt.</a:t>
            </a:r>
          </a:p>
        </p:txBody>
      </p:sp>
    </p:spTree>
    <p:extLst>
      <p:ext uri="{BB962C8B-B14F-4D97-AF65-F5344CB8AC3E}">
        <p14:creationId xmlns:p14="http://schemas.microsoft.com/office/powerpoint/2010/main" val="16622226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Quote – Photo">
    <p:bg>
      <p:bgRef idx="1001">
        <a:schemeClr val="bg1"/>
      </p:bgRef>
    </p:bg>
    <p:spTree>
      <p:nvGrpSpPr>
        <p:cNvPr id="1" name=""/>
        <p:cNvGrpSpPr/>
        <p:nvPr/>
      </p:nvGrpSpPr>
      <p:grpSpPr>
        <a:xfrm>
          <a:off x="0" y="0"/>
          <a:ext cx="0" cy="0"/>
          <a:chOff x="0" y="0"/>
          <a:chExt cx="0" cy="0"/>
        </a:xfrm>
      </p:grpSpPr>
      <p:pic>
        <p:nvPicPr>
          <p:cNvPr id="32" name="Picture 31" descr="Looking up view of a tall building with glass windows&#10;&#10;Description automatically generated">
            <a:extLst>
              <a:ext uri="{FF2B5EF4-FFF2-40B4-BE49-F238E27FC236}">
                <a16:creationId xmlns:a16="http://schemas.microsoft.com/office/drawing/2014/main" id="{B3DA20F2-2D53-3AEB-2E52-5879AB1D3B2C}"/>
              </a:ext>
            </a:extLst>
          </p:cNvPr>
          <p:cNvPicPr>
            <a:picLocks noChangeAspect="1"/>
          </p:cNvPicPr>
          <p:nvPr/>
        </p:nvPicPr>
        <p:blipFill rotWithShape="1">
          <a:blip r:embed="rId2" cstate="screen">
            <a:alphaModFix/>
            <a:extLst>
              <a:ext uri="{28A0092B-C50C-407E-A947-70E740481C1C}">
                <a14:useLocalDpi xmlns:a14="http://schemas.microsoft.com/office/drawing/2010/main"/>
              </a:ext>
            </a:extLst>
          </a:blip>
          <a:srcRect/>
          <a:stretch/>
        </p:blipFill>
        <p:spPr>
          <a:xfrm>
            <a:off x="1829993" y="0"/>
            <a:ext cx="10358832" cy="6858000"/>
          </a:xfrm>
          <a:prstGeom prst="rect">
            <a:avLst/>
          </a:prstGeom>
        </p:spPr>
      </p:pic>
      <p:sp>
        <p:nvSpPr>
          <p:cNvPr id="9" name="Rectangle 8">
            <a:extLst>
              <a:ext uri="{FF2B5EF4-FFF2-40B4-BE49-F238E27FC236}">
                <a16:creationId xmlns:a16="http://schemas.microsoft.com/office/drawing/2014/main" id="{39644796-3BE2-09B0-F95D-F4AB56E62FD2}"/>
              </a:ext>
            </a:extLst>
          </p:cNvPr>
          <p:cNvSpPr/>
          <p:nvPr/>
        </p:nvSpPr>
        <p:spPr>
          <a:xfrm>
            <a:off x="0" y="0"/>
            <a:ext cx="12182348" cy="6858000"/>
          </a:xfrm>
          <a:prstGeom prst="rect">
            <a:avLst/>
          </a:prstGeom>
          <a:gradFill>
            <a:gsLst>
              <a:gs pos="59553">
                <a:srgbClr val="FFFFFF">
                  <a:alpha val="0"/>
                </a:srgbClr>
              </a:gs>
              <a:gs pos="35000">
                <a:srgbClr val="FFFFFF"/>
              </a:gs>
              <a:gs pos="78000">
                <a:srgbClr val="FFFFFF">
                  <a:alpha val="0"/>
                </a:srgbClr>
              </a:gs>
            </a:gsLst>
            <a:lin ang="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0" name="Freeform: Shape 9">
            <a:extLst>
              <a:ext uri="{FF2B5EF4-FFF2-40B4-BE49-F238E27FC236}">
                <a16:creationId xmlns:a16="http://schemas.microsoft.com/office/drawing/2014/main" id="{6DAA0A2E-4B76-3DD4-CF2D-B4E2E491F351}"/>
              </a:ext>
            </a:extLst>
          </p:cNvPr>
          <p:cNvSpPr/>
          <p:nvPr/>
        </p:nvSpPr>
        <p:spPr>
          <a:xfrm>
            <a:off x="6477" y="0"/>
            <a:ext cx="10295334" cy="6040452"/>
          </a:xfrm>
          <a:custGeom>
            <a:avLst/>
            <a:gdLst>
              <a:gd name="connsiteX0" fmla="*/ 10186830 w 10295334"/>
              <a:gd name="connsiteY0" fmla="*/ 0 h 6040452"/>
              <a:gd name="connsiteX1" fmla="*/ 10295334 w 10295334"/>
              <a:gd name="connsiteY1" fmla="*/ 0 h 6040452"/>
              <a:gd name="connsiteX2" fmla="*/ 4722761 w 10295334"/>
              <a:gd name="connsiteY2" fmla="*/ 5572574 h 6040452"/>
              <a:gd name="connsiteX3" fmla="*/ 3593131 w 10295334"/>
              <a:gd name="connsiteY3" fmla="*/ 6040452 h 6040452"/>
              <a:gd name="connsiteX4" fmla="*/ 0 w 10295334"/>
              <a:gd name="connsiteY4" fmla="*/ 6040452 h 6040452"/>
              <a:gd name="connsiteX5" fmla="*/ 0 w 10295334"/>
              <a:gd name="connsiteY5" fmla="*/ 5963772 h 6040452"/>
              <a:gd name="connsiteX6" fmla="*/ 3593131 w 10295334"/>
              <a:gd name="connsiteY6" fmla="*/ 5963772 h 6040452"/>
              <a:gd name="connsiteX7" fmla="*/ 4175135 w 10295334"/>
              <a:gd name="connsiteY7" fmla="*/ 5847985 h 6040452"/>
              <a:gd name="connsiteX8" fmla="*/ 4668509 w 10295334"/>
              <a:gd name="connsiteY8" fmla="*/ 5518323 h 60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5334" h="6040452">
                <a:moveTo>
                  <a:pt x="10186830" y="0"/>
                </a:moveTo>
                <a:lnTo>
                  <a:pt x="10295334" y="0"/>
                </a:lnTo>
                <a:lnTo>
                  <a:pt x="4722761" y="5572574"/>
                </a:lnTo>
                <a:cubicBezTo>
                  <a:pt x="4423133" y="5872139"/>
                  <a:pt x="4016790" y="6040452"/>
                  <a:pt x="3593131" y="6040452"/>
                </a:cubicBezTo>
                <a:lnTo>
                  <a:pt x="0" y="6040452"/>
                </a:lnTo>
                <a:lnTo>
                  <a:pt x="0" y="5963772"/>
                </a:lnTo>
                <a:lnTo>
                  <a:pt x="3593131" y="5963772"/>
                </a:lnTo>
                <a:cubicBezTo>
                  <a:pt x="3793842" y="5963772"/>
                  <a:pt x="3989696" y="5924793"/>
                  <a:pt x="4175135" y="5847985"/>
                </a:cubicBezTo>
                <a:cubicBezTo>
                  <a:pt x="4360575" y="5771176"/>
                  <a:pt x="4526588" y="5660245"/>
                  <a:pt x="4668509" y="5518323"/>
                </a:cubicBezTo>
                <a:close/>
              </a:path>
            </a:pathLst>
          </a:custGeom>
          <a:gradFill>
            <a:gsLst>
              <a:gs pos="12000">
                <a:schemeClr val="accent3"/>
              </a:gs>
              <a:gs pos="85000">
                <a:schemeClr val="accent2"/>
              </a:gs>
            </a:gsLst>
            <a:lin ang="0" scaled="1"/>
          </a:gradFill>
          <a:ln w="0" cap="flat">
            <a:noFill/>
            <a:prstDash val="solid"/>
            <a:miter/>
          </a:ln>
        </p:spPr>
        <p:txBody>
          <a:bodyPr rtlCol="0" anchor="ctr"/>
          <a:lstStyle/>
          <a:p>
            <a:endParaRPr lang="en-US" dirty="0"/>
          </a:p>
        </p:txBody>
      </p:sp>
      <p:sp>
        <p:nvSpPr>
          <p:cNvPr id="3" name="TextBox 2">
            <a:extLst>
              <a:ext uri="{FF2B5EF4-FFF2-40B4-BE49-F238E27FC236}">
                <a16:creationId xmlns:a16="http://schemas.microsoft.com/office/drawing/2014/main" id="{BACD6F3E-7865-E329-FB61-00E1B7D783BB}"/>
              </a:ext>
            </a:extLst>
          </p:cNvPr>
          <p:cNvSpPr txBox="1"/>
          <p:nvPr/>
        </p:nvSpPr>
        <p:spPr>
          <a:xfrm>
            <a:off x="1645084" y="6461498"/>
            <a:ext cx="3052118"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Broadcom Proprietary and Confidential. Copyright © 2024 Broadcom.  </a:t>
            </a:r>
          </a:p>
        </p:txBody>
      </p:sp>
      <p:sp>
        <p:nvSpPr>
          <p:cNvPr id="4" name="TextBox 3">
            <a:extLst>
              <a:ext uri="{FF2B5EF4-FFF2-40B4-BE49-F238E27FC236}">
                <a16:creationId xmlns:a16="http://schemas.microsoft.com/office/drawing/2014/main" id="{6CBF91FF-526A-910F-03F2-2D4C07A9F111}"/>
              </a:ext>
            </a:extLst>
          </p:cNvPr>
          <p:cNvSpPr txBox="1"/>
          <p:nvPr/>
        </p:nvSpPr>
        <p:spPr>
          <a:xfrm>
            <a:off x="1645084" y="6569434"/>
            <a:ext cx="3855223"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All Rights Reserved. The term “Broadcom” refers to Broadcom Inc. and/or its subsidiaries.</a:t>
            </a:r>
          </a:p>
        </p:txBody>
      </p:sp>
      <p:grpSp>
        <p:nvGrpSpPr>
          <p:cNvPr id="5" name="Graphic 8">
            <a:extLst>
              <a:ext uri="{FF2B5EF4-FFF2-40B4-BE49-F238E27FC236}">
                <a16:creationId xmlns:a16="http://schemas.microsoft.com/office/drawing/2014/main" id="{3E09CBA6-627D-2768-152C-A25B87CF790A}"/>
              </a:ext>
            </a:extLst>
          </p:cNvPr>
          <p:cNvGrpSpPr/>
          <p:nvPr/>
        </p:nvGrpSpPr>
        <p:grpSpPr>
          <a:xfrm>
            <a:off x="265625" y="6323271"/>
            <a:ext cx="1249223" cy="369648"/>
            <a:chOff x="265625" y="6323271"/>
            <a:chExt cx="1249223" cy="369648"/>
          </a:xfrm>
          <a:solidFill>
            <a:srgbClr val="000000"/>
          </a:solidFill>
        </p:grpSpPr>
        <p:grpSp>
          <p:nvGrpSpPr>
            <p:cNvPr id="6" name="Graphic 8">
              <a:extLst>
                <a:ext uri="{FF2B5EF4-FFF2-40B4-BE49-F238E27FC236}">
                  <a16:creationId xmlns:a16="http://schemas.microsoft.com/office/drawing/2014/main" id="{685DA75B-DA1C-13EF-F3C8-ACEE2C668A7F}"/>
                </a:ext>
              </a:extLst>
            </p:cNvPr>
            <p:cNvGrpSpPr/>
            <p:nvPr/>
          </p:nvGrpSpPr>
          <p:grpSpPr>
            <a:xfrm>
              <a:off x="745455" y="6594444"/>
              <a:ext cx="722662" cy="98475"/>
              <a:chOff x="745455" y="6594444"/>
              <a:chExt cx="722662" cy="98475"/>
            </a:xfrm>
            <a:solidFill>
              <a:srgbClr val="000000"/>
            </a:solidFill>
          </p:grpSpPr>
          <p:sp>
            <p:nvSpPr>
              <p:cNvPr id="21" name="Freeform 20">
                <a:extLst>
                  <a:ext uri="{FF2B5EF4-FFF2-40B4-BE49-F238E27FC236}">
                    <a16:creationId xmlns:a16="http://schemas.microsoft.com/office/drawing/2014/main" id="{6E43D9EF-A9B1-97EC-9CAB-0367B664C9D0}"/>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5B127822-510F-D59E-2401-DACD4D6BA07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F3E9315B-DD78-18E2-9951-D8120BAD916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E2AF63A1-86BF-B1C3-A3F5-517003C7A96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0AC22223-58F9-DB0C-9D61-94D7B8E8C1F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1114E784-D17D-A2C2-757A-7B9912824867}"/>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DF09BAA7-F77F-FEDC-A8A8-F10B9350FFF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0A1F18F3-D078-404B-FFBA-A4E33B81476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0DA5E4E2-82BF-54FB-780E-193386E0F47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61295929-CD29-6FBF-CE14-3BC84AB4A1F6}"/>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7" name="Graphic 8">
              <a:extLst>
                <a:ext uri="{FF2B5EF4-FFF2-40B4-BE49-F238E27FC236}">
                  <a16:creationId xmlns:a16="http://schemas.microsoft.com/office/drawing/2014/main" id="{E1BC8CC5-030B-A124-A179-FC1B1CB93618}"/>
                </a:ext>
              </a:extLst>
            </p:cNvPr>
            <p:cNvGrpSpPr/>
            <p:nvPr/>
          </p:nvGrpSpPr>
          <p:grpSpPr>
            <a:xfrm>
              <a:off x="265625" y="6323271"/>
              <a:ext cx="1249223" cy="190348"/>
              <a:chOff x="265625" y="6323271"/>
              <a:chExt cx="1249223" cy="190348"/>
            </a:xfrm>
            <a:solidFill>
              <a:srgbClr val="000000"/>
            </a:solidFill>
          </p:grpSpPr>
          <p:sp>
            <p:nvSpPr>
              <p:cNvPr id="12" name="Freeform 11">
                <a:extLst>
                  <a:ext uri="{FF2B5EF4-FFF2-40B4-BE49-F238E27FC236}">
                    <a16:creationId xmlns:a16="http://schemas.microsoft.com/office/drawing/2014/main" id="{8263E9E0-CE6D-2469-4DAA-AAD461690F95}"/>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54E7CD3B-64B1-7447-7A83-5830224748C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4" name="Freeform 13">
                <a:extLst>
                  <a:ext uri="{FF2B5EF4-FFF2-40B4-BE49-F238E27FC236}">
                    <a16:creationId xmlns:a16="http://schemas.microsoft.com/office/drawing/2014/main" id="{3C5659AD-F571-B436-FA9E-F3EB0D45050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6775BD55-89FE-BF4D-F689-E5F5188D101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80CF7C26-1A1F-1F80-46D4-8309C39F0CA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C0E1496F-2BE6-5149-BE29-0376ABD59D6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4C0A74FC-F5C6-E572-32D2-2A39D4551EA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8" name="Text Placeholder 7">
            <a:extLst>
              <a:ext uri="{FF2B5EF4-FFF2-40B4-BE49-F238E27FC236}">
                <a16:creationId xmlns:a16="http://schemas.microsoft.com/office/drawing/2014/main" id="{B6C21BA7-C6D2-446E-8FD2-266107E90C49}"/>
              </a:ext>
            </a:extLst>
          </p:cNvPr>
          <p:cNvSpPr>
            <a:spLocks noGrp="1"/>
          </p:cNvSpPr>
          <p:nvPr>
            <p:ph type="body" sz="quarter" idx="16" hasCustomPrompt="1"/>
          </p:nvPr>
        </p:nvSpPr>
        <p:spPr>
          <a:xfrm>
            <a:off x="438912" y="1600200"/>
            <a:ext cx="4754880" cy="3200400"/>
          </a:xfrm>
        </p:spPr>
        <p:txBody>
          <a:bodyPr anchor="b"/>
          <a:lstStyle>
            <a:lvl1pPr marL="169863" indent="-169863">
              <a:buClrTx/>
              <a:buSzPct val="100000"/>
              <a:buFont typeface="Metropolis" panose="00000500000000000000" pitchFamily="2" charset="0"/>
              <a:buChar char="“"/>
              <a:defRPr sz="2800">
                <a:solidFill>
                  <a:schemeClr val="accent2"/>
                </a:solidFill>
              </a:defRPr>
            </a:lvl1pPr>
            <a:lvl2pPr marL="457200" indent="-184150">
              <a:buClrTx/>
              <a:buFont typeface="Metropolis" panose="00000500000000000000" pitchFamily="2" charset="0"/>
              <a:buChar char="“"/>
              <a:defRPr>
                <a:solidFill>
                  <a:schemeClr val="bg1"/>
                </a:solidFill>
              </a:defRPr>
            </a:lvl2pPr>
            <a:lvl3pPr marL="744538" indent="-169863">
              <a:buClrTx/>
              <a:buFont typeface="Metropolis" panose="00000500000000000000" pitchFamily="2" charset="0"/>
              <a:buChar char="“"/>
              <a:defRPr>
                <a:solidFill>
                  <a:schemeClr val="bg1"/>
                </a:solidFill>
              </a:defRPr>
            </a:lvl3pPr>
            <a:lvl4pPr marL="969963" indent="-166688">
              <a:buClrTx/>
              <a:buFont typeface="Metropolis" panose="00000500000000000000" pitchFamily="2" charset="0"/>
              <a:buChar char="“"/>
              <a:defRPr>
                <a:solidFill>
                  <a:schemeClr val="bg1"/>
                </a:solidFill>
              </a:defRPr>
            </a:lvl4pPr>
            <a:lvl5pPr marL="1143000" indent="-138113">
              <a:buClrTx/>
              <a:buFont typeface="Metropolis" panose="00000500000000000000" pitchFamily="2" charset="0"/>
              <a:buChar char="“"/>
              <a:defRPr>
                <a:solidFill>
                  <a:schemeClr val="bg1"/>
                </a:solidFill>
              </a:defRPr>
            </a:lvl5pPr>
          </a:lstStyle>
          <a:p>
            <a:pPr lvl="0"/>
            <a:r>
              <a:rPr lang="en-US"/>
              <a:t>Quote page with photo showing a building. Click to replace text.”</a:t>
            </a:r>
          </a:p>
        </p:txBody>
      </p:sp>
      <p:sp>
        <p:nvSpPr>
          <p:cNvPr id="11" name="Text Placeholder 10">
            <a:extLst>
              <a:ext uri="{FF2B5EF4-FFF2-40B4-BE49-F238E27FC236}">
                <a16:creationId xmlns:a16="http://schemas.microsoft.com/office/drawing/2014/main" id="{0762CBDD-60C2-443D-88B5-C596896049D8}"/>
              </a:ext>
            </a:extLst>
          </p:cNvPr>
          <p:cNvSpPr>
            <a:spLocks noGrp="1"/>
          </p:cNvSpPr>
          <p:nvPr>
            <p:ph type="body" sz="quarter" idx="17" hasCustomPrompt="1"/>
          </p:nvPr>
        </p:nvSpPr>
        <p:spPr>
          <a:xfrm>
            <a:off x="612648" y="5065776"/>
            <a:ext cx="3591052" cy="674624"/>
          </a:xfrm>
        </p:spPr>
        <p:txBody>
          <a:bodyPr/>
          <a:lstStyle>
            <a:lvl1pPr marL="285750" indent="-285750">
              <a:defRPr lang="en-US" sz="1800" kern="1200" dirty="0">
                <a:solidFill>
                  <a:schemeClr val="tx1"/>
                </a:solidFill>
                <a:latin typeface="+mn-lt"/>
                <a:ea typeface="+mn-ea"/>
                <a:cs typeface="+mn-cs"/>
              </a:defRPr>
            </a:lvl1pPr>
          </a:lstStyle>
          <a:p>
            <a:pPr marL="0" lvl="0" indent="0" algn="l" defTabSz="914400" rtl="0" eaLnBrk="1" latinLnBrk="0" hangingPunct="1">
              <a:lnSpc>
                <a:spcPct val="100000"/>
              </a:lnSpc>
              <a:spcBef>
                <a:spcPts val="1200"/>
              </a:spcBef>
              <a:buClr>
                <a:schemeClr val="tx1">
                  <a:lumMod val="60000"/>
                  <a:lumOff val="40000"/>
                </a:schemeClr>
              </a:buClr>
              <a:buSzPct val="90000"/>
              <a:buFont typeface="Arial" panose="020B0604020202020204" pitchFamily="34" charset="0"/>
              <a:buChar char="​"/>
            </a:pPr>
            <a:r>
              <a:rPr lang="en-US" dirty="0"/>
              <a:t>Source Name</a:t>
            </a:r>
          </a:p>
        </p:txBody>
      </p:sp>
      <p:sp>
        <p:nvSpPr>
          <p:cNvPr id="15" name="page number">
            <a:extLst>
              <a:ext uri="{FF2B5EF4-FFF2-40B4-BE49-F238E27FC236}">
                <a16:creationId xmlns:a16="http://schemas.microsoft.com/office/drawing/2014/main" id="{65B8D505-D55C-B546-9B33-22157CD80DE2}"/>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pic>
        <p:nvPicPr>
          <p:cNvPr id="31" name="Picture 30" descr="Looking up view of a tall building with glass windows&#10;&#10;Description automatically generated">
            <a:extLst>
              <a:ext uri="{FF2B5EF4-FFF2-40B4-BE49-F238E27FC236}">
                <a16:creationId xmlns:a16="http://schemas.microsoft.com/office/drawing/2014/main" id="{B3DA20F2-2D53-3AEB-2E52-5879AB1D3B2C}"/>
              </a:ext>
            </a:extLst>
          </p:cNvPr>
          <p:cNvPicPr>
            <a:picLocks noChangeAspect="1"/>
          </p:cNvPicPr>
          <p:nvPr userDrawn="1"/>
        </p:nvPicPr>
        <p:blipFill rotWithShape="1">
          <a:blip r:embed="rId2" cstate="screen">
            <a:alphaModFix/>
            <a:extLst>
              <a:ext uri="{28A0092B-C50C-407E-A947-70E740481C1C}">
                <a14:useLocalDpi xmlns:a14="http://schemas.microsoft.com/office/drawing/2010/main"/>
              </a:ext>
            </a:extLst>
          </a:blip>
          <a:srcRect/>
          <a:stretch/>
        </p:blipFill>
        <p:spPr>
          <a:xfrm>
            <a:off x="1829993" y="0"/>
            <a:ext cx="10358832" cy="6858000"/>
          </a:xfrm>
          <a:prstGeom prst="rect">
            <a:avLst/>
          </a:prstGeom>
        </p:spPr>
      </p:pic>
      <p:sp>
        <p:nvSpPr>
          <p:cNvPr id="33" name="Rectangle 32">
            <a:extLst>
              <a:ext uri="{FF2B5EF4-FFF2-40B4-BE49-F238E27FC236}">
                <a16:creationId xmlns:a16="http://schemas.microsoft.com/office/drawing/2014/main" id="{39644796-3BE2-09B0-F95D-F4AB56E62FD2}"/>
              </a:ext>
            </a:extLst>
          </p:cNvPr>
          <p:cNvSpPr/>
          <p:nvPr userDrawn="1"/>
        </p:nvSpPr>
        <p:spPr>
          <a:xfrm>
            <a:off x="0" y="0"/>
            <a:ext cx="12182348" cy="6858000"/>
          </a:xfrm>
          <a:prstGeom prst="rect">
            <a:avLst/>
          </a:prstGeom>
          <a:gradFill>
            <a:gsLst>
              <a:gs pos="59553">
                <a:srgbClr val="FFFFFF">
                  <a:alpha val="0"/>
                </a:srgbClr>
              </a:gs>
              <a:gs pos="35000">
                <a:srgbClr val="FFFFFF"/>
              </a:gs>
              <a:gs pos="78000">
                <a:srgbClr val="FFFFFF">
                  <a:alpha val="0"/>
                </a:srgbClr>
              </a:gs>
            </a:gsLst>
            <a:lin ang="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4" name="Freeform: Shape 9">
            <a:extLst>
              <a:ext uri="{FF2B5EF4-FFF2-40B4-BE49-F238E27FC236}">
                <a16:creationId xmlns:a16="http://schemas.microsoft.com/office/drawing/2014/main" id="{6DAA0A2E-4B76-3DD4-CF2D-B4E2E491F351}"/>
              </a:ext>
            </a:extLst>
          </p:cNvPr>
          <p:cNvSpPr/>
          <p:nvPr userDrawn="1"/>
        </p:nvSpPr>
        <p:spPr>
          <a:xfrm>
            <a:off x="0" y="0"/>
            <a:ext cx="10295334" cy="6040452"/>
          </a:xfrm>
          <a:custGeom>
            <a:avLst/>
            <a:gdLst>
              <a:gd name="connsiteX0" fmla="*/ 10186830 w 10295334"/>
              <a:gd name="connsiteY0" fmla="*/ 0 h 6040452"/>
              <a:gd name="connsiteX1" fmla="*/ 10295334 w 10295334"/>
              <a:gd name="connsiteY1" fmla="*/ 0 h 6040452"/>
              <a:gd name="connsiteX2" fmla="*/ 4722761 w 10295334"/>
              <a:gd name="connsiteY2" fmla="*/ 5572574 h 6040452"/>
              <a:gd name="connsiteX3" fmla="*/ 3593131 w 10295334"/>
              <a:gd name="connsiteY3" fmla="*/ 6040452 h 6040452"/>
              <a:gd name="connsiteX4" fmla="*/ 0 w 10295334"/>
              <a:gd name="connsiteY4" fmla="*/ 6040452 h 6040452"/>
              <a:gd name="connsiteX5" fmla="*/ 0 w 10295334"/>
              <a:gd name="connsiteY5" fmla="*/ 5963772 h 6040452"/>
              <a:gd name="connsiteX6" fmla="*/ 3593131 w 10295334"/>
              <a:gd name="connsiteY6" fmla="*/ 5963772 h 6040452"/>
              <a:gd name="connsiteX7" fmla="*/ 4175135 w 10295334"/>
              <a:gd name="connsiteY7" fmla="*/ 5847985 h 6040452"/>
              <a:gd name="connsiteX8" fmla="*/ 4668509 w 10295334"/>
              <a:gd name="connsiteY8" fmla="*/ 5518323 h 60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5334" h="6040452">
                <a:moveTo>
                  <a:pt x="10186830" y="0"/>
                </a:moveTo>
                <a:lnTo>
                  <a:pt x="10295334" y="0"/>
                </a:lnTo>
                <a:lnTo>
                  <a:pt x="4722761" y="5572574"/>
                </a:lnTo>
                <a:cubicBezTo>
                  <a:pt x="4423133" y="5872139"/>
                  <a:pt x="4016790" y="6040452"/>
                  <a:pt x="3593131" y="6040452"/>
                </a:cubicBezTo>
                <a:lnTo>
                  <a:pt x="0" y="6040452"/>
                </a:lnTo>
                <a:lnTo>
                  <a:pt x="0" y="5963772"/>
                </a:lnTo>
                <a:lnTo>
                  <a:pt x="3593131" y="5963772"/>
                </a:lnTo>
                <a:cubicBezTo>
                  <a:pt x="3793842" y="5963772"/>
                  <a:pt x="3989696" y="5924793"/>
                  <a:pt x="4175135" y="5847985"/>
                </a:cubicBezTo>
                <a:cubicBezTo>
                  <a:pt x="4360575" y="5771176"/>
                  <a:pt x="4526588" y="5660245"/>
                  <a:pt x="4668509" y="5518323"/>
                </a:cubicBezTo>
                <a:close/>
              </a:path>
            </a:pathLst>
          </a:custGeom>
          <a:gradFill>
            <a:gsLst>
              <a:gs pos="12000">
                <a:schemeClr val="accent3"/>
              </a:gs>
              <a:gs pos="85000">
                <a:schemeClr val="accent2"/>
              </a:gs>
            </a:gsLst>
            <a:lin ang="0" scaled="1"/>
          </a:gradFill>
          <a:ln w="0" cap="flat">
            <a:noFill/>
            <a:prstDash val="solid"/>
            <a:miter/>
          </a:ln>
        </p:spPr>
        <p:txBody>
          <a:bodyPr rtlCol="0" anchor="ctr"/>
          <a:lstStyle/>
          <a:p>
            <a:endParaRPr lang="en-US" dirty="0"/>
          </a:p>
        </p:txBody>
      </p:sp>
      <p:grpSp>
        <p:nvGrpSpPr>
          <p:cNvPr id="37" name="Graphic 8">
            <a:extLst>
              <a:ext uri="{FF2B5EF4-FFF2-40B4-BE49-F238E27FC236}">
                <a16:creationId xmlns:a16="http://schemas.microsoft.com/office/drawing/2014/main" id="{3E09CBA6-627D-2768-152C-A25B87CF790A}"/>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685DA75B-DA1C-13EF-F3C8-ACEE2C668A7F}"/>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6E43D9EF-A9B1-97EC-9CAB-0367B664C9D0}"/>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5B127822-510F-D59E-2401-DACD4D6BA07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F3E9315B-DD78-18E2-9951-D8120BAD9160}"/>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E2AF63A1-86BF-B1C3-A3F5-517003C7A96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0AC22223-58F9-DB0C-9D61-94D7B8E8C1F4}"/>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1114E784-D17D-A2C2-757A-7B9912824867}"/>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DF09BAA7-F77F-FEDC-A8A8-F10B9350FFF7}"/>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0A1F18F3-D078-404B-FFBA-A4E33B81476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0DA5E4E2-82BF-54FB-780E-193386E0F47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61295929-CD29-6FBF-CE14-3BC84AB4A1F6}"/>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E1BC8CC5-030B-A124-A179-FC1B1CB93618}"/>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8263E9E0-CE6D-2469-4DAA-AAD461690F95}"/>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54E7CD3B-64B1-7447-7A83-5830224748C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3C5659AD-F571-B436-FA9E-F3EB0D45050A}"/>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775BD55-89FE-BF4D-F689-E5F5188D1010}"/>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80CF7C26-1A1F-1F80-46D4-8309C39F0CA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C0E1496F-2BE6-5149-BE29-0376ABD59D6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4C0A74FC-F5C6-E572-32D2-2A39D4551EA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7" name="page number">
            <a:extLst>
              <a:ext uri="{FF2B5EF4-FFF2-40B4-BE49-F238E27FC236}">
                <a16:creationId xmlns:a16="http://schemas.microsoft.com/office/drawing/2014/main" id="{65B8D505-D55C-B546-9B33-22157CD80DE2}"/>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solidFill>
                  <a:schemeClr val="bg1"/>
                </a:solidFill>
              </a:rPr>
              <a:pPr lvl="0" algn="r"/>
              <a:t>‹#›</a:t>
            </a:fld>
            <a:endParaRPr lang="en-US" dirty="0">
              <a:solidFill>
                <a:schemeClr val="bg1"/>
              </a:solidFill>
            </a:endParaRPr>
          </a:p>
        </p:txBody>
      </p:sp>
      <p:sp>
        <p:nvSpPr>
          <p:cNvPr id="17" name="TextBox 16">
            <a:extLst>
              <a:ext uri="{FF2B5EF4-FFF2-40B4-BE49-F238E27FC236}">
                <a16:creationId xmlns:a16="http://schemas.microsoft.com/office/drawing/2014/main" id="{0D3A3CDD-4D8E-3CB0-B95C-B4DE8B5B02E4}"/>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178700034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D90EF1-7A6F-4CAE-80CD-2BC8A8107F0C}"/>
              </a:ext>
            </a:extLst>
          </p:cNvPr>
          <p:cNvSpPr>
            <a:spLocks noGrp="1"/>
          </p:cNvSpPr>
          <p:nvPr>
            <p:ph type="title" hasCustomPrompt="1"/>
          </p:nvPr>
        </p:nvSpPr>
        <p:spPr/>
        <p:txBody>
          <a:bodyPr/>
          <a:lstStyle>
            <a:lvl1pPr>
              <a:defRPr>
                <a:solidFill>
                  <a:schemeClr val="accent2"/>
                </a:solidFill>
              </a:defRPr>
            </a:lvl1pPr>
          </a:lstStyle>
          <a:p>
            <a:r>
              <a:rPr lang="en-US"/>
              <a:t>Click to Add One Line Title</a:t>
            </a:r>
          </a:p>
        </p:txBody>
      </p:sp>
      <p:sp>
        <p:nvSpPr>
          <p:cNvPr id="6" name="page number">
            <a:extLst>
              <a:ext uri="{FF2B5EF4-FFF2-40B4-BE49-F238E27FC236}">
                <a16:creationId xmlns:a16="http://schemas.microsoft.com/office/drawing/2014/main" id="{F2584149-C6DB-AE45-B715-90B7DF169DD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4" name="page number">
            <a:extLst>
              <a:ext uri="{FF2B5EF4-FFF2-40B4-BE49-F238E27FC236}">
                <a16:creationId xmlns:a16="http://schemas.microsoft.com/office/drawing/2014/main" id="{F2584149-C6DB-AE45-B715-90B7DF169DD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993477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and Sub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D90EF1-7A6F-4CAE-80CD-2BC8A8107F0C}"/>
              </a:ext>
            </a:extLst>
          </p:cNvPr>
          <p:cNvSpPr>
            <a:spLocks noGrp="1"/>
          </p:cNvSpPr>
          <p:nvPr>
            <p:ph type="title" hasCustomPrompt="1"/>
          </p:nvPr>
        </p:nvSpPr>
        <p:spPr/>
        <p:txBody>
          <a:bodyPr/>
          <a:lstStyle>
            <a:lvl1pPr>
              <a:defRPr>
                <a:solidFill>
                  <a:schemeClr val="accent2"/>
                </a:solidFill>
              </a:defRPr>
            </a:lvl1pPr>
          </a:lstStyle>
          <a:p>
            <a:r>
              <a:rPr lang="en-US"/>
              <a:t>Click to Add One Line Title</a:t>
            </a:r>
          </a:p>
        </p:txBody>
      </p:sp>
      <p:sp>
        <p:nvSpPr>
          <p:cNvPr id="9" name="Subtitle 2">
            <a:extLst>
              <a:ext uri="{FF2B5EF4-FFF2-40B4-BE49-F238E27FC236}">
                <a16:creationId xmlns:a16="http://schemas.microsoft.com/office/drawing/2014/main" id="{C28211D2-9BBA-4EB9-8867-E2CC72E9E0D1}"/>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6" name="page number">
            <a:extLst>
              <a:ext uri="{FF2B5EF4-FFF2-40B4-BE49-F238E27FC236}">
                <a16:creationId xmlns:a16="http://schemas.microsoft.com/office/drawing/2014/main" id="{F2584149-C6DB-AE45-B715-90B7DF169DD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5" name="page number">
            <a:extLst>
              <a:ext uri="{FF2B5EF4-FFF2-40B4-BE49-F238E27FC236}">
                <a16:creationId xmlns:a16="http://schemas.microsoft.com/office/drawing/2014/main" id="{F2584149-C6DB-AE45-B715-90B7DF169DD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784025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itle, Sub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924E83-0498-4D8B-94A0-3FF7CDD8F127}"/>
              </a:ext>
            </a:extLst>
          </p:cNvPr>
          <p:cNvSpPr>
            <a:spLocks noGrp="1"/>
          </p:cNvSpPr>
          <p:nvPr>
            <p:ph type="title" hasCustomPrompt="1"/>
          </p:nvPr>
        </p:nvSpPr>
        <p:spPr/>
        <p:txBody>
          <a:bodyPr/>
          <a:lstStyle>
            <a:lvl1pPr>
              <a:defRPr>
                <a:solidFill>
                  <a:schemeClr val="accent2"/>
                </a:solidFill>
              </a:defRPr>
            </a:lvl1pPr>
          </a:lstStyle>
          <a:p>
            <a:r>
              <a:rPr lang="en-US"/>
              <a:t>Single Content Layout Click to Add One Line Title</a:t>
            </a:r>
          </a:p>
        </p:txBody>
      </p:sp>
      <p:sp>
        <p:nvSpPr>
          <p:cNvPr id="8" name="Subtitle 2">
            <a:extLst>
              <a:ext uri="{FF2B5EF4-FFF2-40B4-BE49-F238E27FC236}">
                <a16:creationId xmlns:a16="http://schemas.microsoft.com/office/drawing/2014/main" id="{216D2F66-BB7F-4F0E-A224-A105F87676EF}"/>
              </a:ext>
            </a:extLst>
          </p:cNvPr>
          <p:cNvSpPr>
            <a:spLocks noGrp="1"/>
          </p:cNvSpPr>
          <p:nvPr>
            <p:ph type="subTitle" idx="10" hasCustomPrompt="1"/>
          </p:nvPr>
        </p:nvSpPr>
        <p:spPr>
          <a:xfrm>
            <a:off x="592866" y="811830"/>
            <a:ext cx="1098794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8" name="Content Placeholder 17">
            <a:extLst>
              <a:ext uri="{FF2B5EF4-FFF2-40B4-BE49-F238E27FC236}">
                <a16:creationId xmlns:a16="http://schemas.microsoft.com/office/drawing/2014/main" id="{D034FA3F-D529-4D8B-B6EC-A8341FCAF67E}"/>
              </a:ext>
            </a:extLst>
          </p:cNvPr>
          <p:cNvSpPr>
            <a:spLocks noGrp="1"/>
          </p:cNvSpPr>
          <p:nvPr>
            <p:ph sz="quarter" idx="14" hasCustomPrompt="1"/>
          </p:nvPr>
        </p:nvSpPr>
        <p:spPr>
          <a:xfrm>
            <a:off x="616505" y="1600201"/>
            <a:ext cx="10972800" cy="4572000"/>
          </a:xfrm>
        </p:spPr>
        <p:txBody>
          <a:bodyPr/>
          <a:lstStyle>
            <a:lvl1pPr>
              <a:spcBef>
                <a:spcPts val="0"/>
              </a:spcBef>
              <a:defRPr>
                <a:solidFill>
                  <a:schemeClr val="tx1"/>
                </a:solidFill>
              </a:defRPr>
            </a:lvl1pPr>
            <a:lvl2pPr>
              <a:spcBef>
                <a:spcPts val="0"/>
              </a:spcBef>
              <a:buClr>
                <a:schemeClr val="bg2">
                  <a:lumMod val="25000"/>
                </a:schemeClr>
              </a:buClr>
              <a:defRPr>
                <a:solidFill>
                  <a:schemeClr val="tx1"/>
                </a:solidFill>
              </a:defRPr>
            </a:lvl2pPr>
            <a:lvl3pPr>
              <a:spcBef>
                <a:spcPts val="0"/>
              </a:spcBef>
              <a:buClr>
                <a:schemeClr val="bg2">
                  <a:lumMod val="25000"/>
                </a:schemeClr>
              </a:buClr>
              <a:defRPr>
                <a:solidFill>
                  <a:schemeClr val="tx1"/>
                </a:solidFill>
              </a:defRPr>
            </a:lvl3pPr>
            <a:lvl4pPr>
              <a:spcBef>
                <a:spcPts val="0"/>
              </a:spcBef>
              <a:buClr>
                <a:schemeClr val="bg2">
                  <a:lumMod val="25000"/>
                </a:schemeClr>
              </a:buClr>
              <a:defRPr>
                <a:solidFill>
                  <a:schemeClr val="tx1"/>
                </a:solidFill>
              </a:defRPr>
            </a:lvl4pPr>
            <a:lvl5pPr>
              <a:spcBef>
                <a:spcPts val="0"/>
              </a:spcBef>
              <a:buClr>
                <a:schemeClr val="bg2">
                  <a:lumMod val="25000"/>
                </a:schemeClr>
              </a:buClr>
              <a:defRPr>
                <a:solidFill>
                  <a:schemeClr val="tx1"/>
                </a:solidFill>
              </a:defRPr>
            </a:lvl5pPr>
            <a:lvl6pPr>
              <a:buClr>
                <a:schemeClr val="bg2">
                  <a:lumMod val="25000"/>
                </a:schemeClr>
              </a:buClr>
              <a:defRPr>
                <a:solidFill>
                  <a:schemeClr val="bg2">
                    <a:lumMod val="25000"/>
                  </a:schemeClr>
                </a:solidFill>
              </a:defRPr>
            </a:lvl6pPr>
            <a:lvl7pPr>
              <a:defRPr/>
            </a:lvl7pPr>
            <a:lvl8pPr>
              <a:defRPr/>
            </a:lvl8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page number">
            <a:extLst>
              <a:ext uri="{FF2B5EF4-FFF2-40B4-BE49-F238E27FC236}">
                <a16:creationId xmlns:a16="http://schemas.microsoft.com/office/drawing/2014/main" id="{175B5FDB-839C-A941-B264-01387F31F00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6" name="page number">
            <a:extLst>
              <a:ext uri="{FF2B5EF4-FFF2-40B4-BE49-F238E27FC236}">
                <a16:creationId xmlns:a16="http://schemas.microsoft.com/office/drawing/2014/main" id="{175B5FDB-839C-A941-B264-01387F31F00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038780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Two-Content Balance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a:t>Two-content Layout Click to Add One Line Title</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4" name="Content Placeholder 3">
            <a:extLst>
              <a:ext uri="{FF2B5EF4-FFF2-40B4-BE49-F238E27FC236}">
                <a16:creationId xmlns:a16="http://schemas.microsoft.com/office/drawing/2014/main" id="{87AF420A-ED2C-4AD1-A28B-EB26178557DE}"/>
              </a:ext>
            </a:extLst>
          </p:cNvPr>
          <p:cNvSpPr>
            <a:spLocks noGrp="1"/>
          </p:cNvSpPr>
          <p:nvPr>
            <p:ph sz="quarter" idx="17" hasCustomPrompt="1"/>
          </p:nvPr>
        </p:nvSpPr>
        <p:spPr>
          <a:xfrm>
            <a:off x="608013" y="1600200"/>
            <a:ext cx="5313783" cy="4572000"/>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lang="en-US" sz="1200" dirty="0">
                <a:solidFill>
                  <a:schemeClr val="tx1"/>
                </a:solidFill>
              </a:defRPr>
            </a:lvl6pPr>
            <a:lvl7pPr>
              <a:defRPr lang="en-US" sz="1200" dirty="0">
                <a:solidFill>
                  <a:schemeClr val="tx1"/>
                </a:solidFill>
              </a:defRPr>
            </a:lvl7pPr>
            <a:lvl8pPr>
              <a:defRPr lang="en-US" sz="1200" dirty="0">
                <a:solidFill>
                  <a:schemeClr val="tx1"/>
                </a:solidFill>
              </a:defRPr>
            </a:lvl8pPr>
            <a:lvl9pPr>
              <a:defRPr lang="en-US" sz="1200" dirty="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2" name="Content Placeholder 3">
            <a:extLst>
              <a:ext uri="{FF2B5EF4-FFF2-40B4-BE49-F238E27FC236}">
                <a16:creationId xmlns:a16="http://schemas.microsoft.com/office/drawing/2014/main" id="{CD860A49-A98C-4F0E-AB34-4E13B89D5EBC}"/>
              </a:ext>
            </a:extLst>
          </p:cNvPr>
          <p:cNvSpPr>
            <a:spLocks noGrp="1"/>
          </p:cNvSpPr>
          <p:nvPr>
            <p:ph sz="quarter" idx="18" hasCustomPrompt="1"/>
          </p:nvPr>
        </p:nvSpPr>
        <p:spPr>
          <a:xfrm>
            <a:off x="6321287" y="1600200"/>
            <a:ext cx="5313783" cy="4572000"/>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lang="en-US" sz="1200" dirty="0">
                <a:solidFill>
                  <a:schemeClr val="tx1"/>
                </a:solidFill>
              </a:defRPr>
            </a:lvl6pPr>
            <a:lvl7pPr>
              <a:defRPr lang="en-US" sz="1200" dirty="0">
                <a:solidFill>
                  <a:schemeClr val="tx1"/>
                </a:solidFill>
              </a:defRPr>
            </a:lvl7pPr>
            <a:lvl8pPr>
              <a:defRPr lang="en-US" sz="1200" dirty="0">
                <a:solidFill>
                  <a:schemeClr val="tx1"/>
                </a:solidFill>
              </a:defRPr>
            </a:lvl8pPr>
            <a:lvl9pPr>
              <a:defRPr lang="en-US" sz="1200" dirty="0">
                <a:solidFill>
                  <a:schemeClr val="tx1"/>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7" name="page number">
            <a:extLst>
              <a:ext uri="{FF2B5EF4-FFF2-40B4-BE49-F238E27FC236}">
                <a16:creationId xmlns:a16="http://schemas.microsoft.com/office/drawing/2014/main" id="{306FFEC8-099C-484D-841A-7FCB225B189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9" name="page number">
            <a:extLst>
              <a:ext uri="{FF2B5EF4-FFF2-40B4-BE49-F238E27FC236}">
                <a16:creationId xmlns:a16="http://schemas.microsoft.com/office/drawing/2014/main" id="{306FFEC8-099C-484D-841A-7FCB225B189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7049194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Two-Content Balanced Color on Right">
    <p:spTree>
      <p:nvGrpSpPr>
        <p:cNvPr id="1" name=""/>
        <p:cNvGrpSpPr/>
        <p:nvPr/>
      </p:nvGrpSpPr>
      <p:grpSpPr>
        <a:xfrm>
          <a:off x="0" y="0"/>
          <a:ext cx="0" cy="0"/>
          <a:chOff x="0" y="0"/>
          <a:chExt cx="0" cy="0"/>
        </a:xfrm>
      </p:grpSpPr>
      <p:sp>
        <p:nvSpPr>
          <p:cNvPr id="72" name="Content Placeholder 17">
            <a:extLst>
              <a:ext uri="{FF2B5EF4-FFF2-40B4-BE49-F238E27FC236}">
                <a16:creationId xmlns:a16="http://schemas.microsoft.com/office/drawing/2014/main" id="{A0456ED3-FDC5-4E29-B939-E35EA08477CA}"/>
              </a:ext>
            </a:extLst>
          </p:cNvPr>
          <p:cNvSpPr>
            <a:spLocks noGrp="1"/>
          </p:cNvSpPr>
          <p:nvPr>
            <p:ph sz="quarter" idx="16" hasCustomPrompt="1"/>
          </p:nvPr>
        </p:nvSpPr>
        <p:spPr bwMode="ltGray">
          <a:xfrm>
            <a:off x="6323381" y="1600201"/>
            <a:ext cx="5865445" cy="4572000"/>
          </a:xfrm>
          <a:solidFill>
            <a:srgbClr val="F4F8FA"/>
          </a:solidFill>
        </p:spPr>
        <p:txBody>
          <a:bodyPr vert="horz" lIns="45720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a:t>Two-content Layout: Graphic on Left, Text on Right - Click to Edit</a:t>
            </a:r>
          </a:p>
        </p:txBody>
      </p:sp>
      <p:sp>
        <p:nvSpPr>
          <p:cNvPr id="7" name="page number">
            <a:extLst>
              <a:ext uri="{FF2B5EF4-FFF2-40B4-BE49-F238E27FC236}">
                <a16:creationId xmlns:a16="http://schemas.microsoft.com/office/drawing/2014/main" id="{1727F760-24DE-9A42-B7E9-356D8DC2BDAE}"/>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DCC3C30A-44C0-E837-19B2-6A2DFD1C7D7F}"/>
              </a:ext>
            </a:extLst>
          </p:cNvPr>
          <p:cNvSpPr>
            <a:spLocks noGrp="1"/>
          </p:cNvSpPr>
          <p:nvPr>
            <p:ph sz="quarter" idx="17" hasCustomPrompt="1"/>
          </p:nvPr>
        </p:nvSpPr>
        <p:spPr bwMode="ltGray">
          <a:xfrm>
            <a:off x="0" y="1600201"/>
            <a:ext cx="5893593" cy="4572000"/>
          </a:xfrm>
          <a:noFill/>
        </p:spPr>
        <p:txBody>
          <a:bodyPr vert="horz" lIns="59436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9" name="page number">
            <a:extLst>
              <a:ext uri="{FF2B5EF4-FFF2-40B4-BE49-F238E27FC236}">
                <a16:creationId xmlns:a16="http://schemas.microsoft.com/office/drawing/2014/main" id="{1727F760-24DE-9A42-B7E9-356D8DC2BDA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627359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Two-Content Balanced Color on Lef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0E4C6-16B5-49A9-898A-3B53C5AB065D}"/>
              </a:ext>
            </a:extLst>
          </p:cNvPr>
          <p:cNvSpPr>
            <a:spLocks noGrp="1"/>
          </p:cNvSpPr>
          <p:nvPr>
            <p:ph type="title" hasCustomPrompt="1"/>
          </p:nvPr>
        </p:nvSpPr>
        <p:spPr/>
        <p:txBody>
          <a:bodyPr/>
          <a:lstStyle>
            <a:lvl1pPr>
              <a:defRPr>
                <a:solidFill>
                  <a:schemeClr val="accent2"/>
                </a:solidFill>
              </a:defRPr>
            </a:lvl1pPr>
          </a:lstStyle>
          <a:p>
            <a:r>
              <a:rPr lang="en-US"/>
              <a:t>Two-content Layout: Text on Left, Graphic on Right - Click to Edit</a:t>
            </a:r>
          </a:p>
        </p:txBody>
      </p:sp>
      <p:sp>
        <p:nvSpPr>
          <p:cNvPr id="8" name="Subtitle 2">
            <a:extLst>
              <a:ext uri="{FF2B5EF4-FFF2-40B4-BE49-F238E27FC236}">
                <a16:creationId xmlns:a16="http://schemas.microsoft.com/office/drawing/2014/main" id="{38535540-CB20-4CD5-9F73-DB64F5A49CD3}"/>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0" name="page number">
            <a:extLst>
              <a:ext uri="{FF2B5EF4-FFF2-40B4-BE49-F238E27FC236}">
                <a16:creationId xmlns:a16="http://schemas.microsoft.com/office/drawing/2014/main" id="{4FD1F5D3-21E9-5341-B48A-48F1E4CF33A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D7F87D5F-EABF-6E97-FCBB-22D4040C1B63}"/>
              </a:ext>
            </a:extLst>
          </p:cNvPr>
          <p:cNvSpPr>
            <a:spLocks noGrp="1"/>
          </p:cNvSpPr>
          <p:nvPr>
            <p:ph sz="quarter" idx="16" hasCustomPrompt="1"/>
          </p:nvPr>
        </p:nvSpPr>
        <p:spPr bwMode="ltGray">
          <a:xfrm>
            <a:off x="6323381" y="1600201"/>
            <a:ext cx="5865445" cy="4572000"/>
          </a:xfrm>
          <a:noFill/>
        </p:spPr>
        <p:txBody>
          <a:bodyPr vert="horz" lIns="45720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4" name="Content Placeholder 17">
            <a:extLst>
              <a:ext uri="{FF2B5EF4-FFF2-40B4-BE49-F238E27FC236}">
                <a16:creationId xmlns:a16="http://schemas.microsoft.com/office/drawing/2014/main" id="{CA8AC63D-F94C-D60E-8AB3-9211BDCC455C}"/>
              </a:ext>
            </a:extLst>
          </p:cNvPr>
          <p:cNvSpPr>
            <a:spLocks noGrp="1"/>
          </p:cNvSpPr>
          <p:nvPr>
            <p:ph sz="quarter" idx="17" hasCustomPrompt="1"/>
          </p:nvPr>
        </p:nvSpPr>
        <p:spPr bwMode="ltGray">
          <a:xfrm>
            <a:off x="0" y="1600201"/>
            <a:ext cx="5893593" cy="4572000"/>
          </a:xfrm>
          <a:solidFill>
            <a:srgbClr val="F4F8FA"/>
          </a:solidFill>
        </p:spPr>
        <p:txBody>
          <a:bodyPr vert="horz" lIns="594360" tIns="457200" rIns="457200" bIns="45720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7" name="page number">
            <a:extLst>
              <a:ext uri="{FF2B5EF4-FFF2-40B4-BE49-F238E27FC236}">
                <a16:creationId xmlns:a16="http://schemas.microsoft.com/office/drawing/2014/main" id="{4FD1F5D3-21E9-5341-B48A-48F1E4CF33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8227123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6A1FE0B-90B1-4BED-9AA5-6DC9F6424E67}"/>
              </a:ext>
            </a:extLst>
          </p:cNvPr>
          <p:cNvSpPr>
            <a:spLocks noGrp="1"/>
          </p:cNvSpPr>
          <p:nvPr>
            <p:ph type="title" hasCustomPrompt="1"/>
          </p:nvPr>
        </p:nvSpPr>
        <p:spPr/>
        <p:txBody>
          <a:bodyPr/>
          <a:lstStyle>
            <a:lvl1pPr>
              <a:defRPr>
                <a:solidFill>
                  <a:schemeClr val="accent2"/>
                </a:solidFill>
              </a:defRPr>
            </a:lvl1pPr>
          </a:lstStyle>
          <a:p>
            <a:r>
              <a:rPr lang="en-US"/>
              <a:t>Two-content Text Comparison Layout</a:t>
            </a:r>
          </a:p>
        </p:txBody>
      </p:sp>
      <p:sp>
        <p:nvSpPr>
          <p:cNvPr id="13" name="Subtitle 2">
            <a:extLst>
              <a:ext uri="{FF2B5EF4-FFF2-40B4-BE49-F238E27FC236}">
                <a16:creationId xmlns:a16="http://schemas.microsoft.com/office/drawing/2014/main" id="{D541C7AA-97CA-4F96-9506-F144DA2CD8E2}"/>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11" name="Text Placeholder 4">
            <a:extLst>
              <a:ext uri="{FF2B5EF4-FFF2-40B4-BE49-F238E27FC236}">
                <a16:creationId xmlns:a16="http://schemas.microsoft.com/office/drawing/2014/main" id="{9E550D89-51A7-894E-88FB-394F3178F2EC}"/>
              </a:ext>
            </a:extLst>
          </p:cNvPr>
          <p:cNvSpPr>
            <a:spLocks noGrp="1"/>
          </p:cNvSpPr>
          <p:nvPr>
            <p:ph type="body" sz="quarter" idx="17" hasCustomPrompt="1"/>
          </p:nvPr>
        </p:nvSpPr>
        <p:spPr bwMode="gray">
          <a:xfrm>
            <a:off x="592866" y="1600202"/>
            <a:ext cx="5287234" cy="875370"/>
          </a:xfrm>
          <a:noFill/>
        </p:spPr>
        <p:txBody>
          <a:bodyPr vert="horz" lIns="0" tIns="91440" rIns="457200" bIns="91440" rtlCol="0" anchor="b">
            <a:noAutofit/>
          </a:bodyPr>
          <a:lstStyle>
            <a:lvl1pPr>
              <a:defRPr lang="en-US" dirty="0">
                <a:solidFill>
                  <a:schemeClr val="accent2"/>
                </a:solidFill>
              </a:defRPr>
            </a:lvl1pPr>
          </a:lstStyle>
          <a:p>
            <a:pPr lvl="0"/>
            <a:r>
              <a:rPr lang="en-US"/>
              <a:t>Click to add header </a:t>
            </a:r>
          </a:p>
        </p:txBody>
      </p:sp>
      <p:sp>
        <p:nvSpPr>
          <p:cNvPr id="14" name="Rectangle 13">
            <a:extLst>
              <a:ext uri="{FF2B5EF4-FFF2-40B4-BE49-F238E27FC236}">
                <a16:creationId xmlns:a16="http://schemas.microsoft.com/office/drawing/2014/main" id="{AA1B5F83-A93D-544C-8DB4-B164DBF2F72D}"/>
              </a:ext>
              <a:ext uri="{C183D7F6-B498-43B3-948B-1728B52AA6E4}">
                <adec:decorative xmlns:adec="http://schemas.microsoft.com/office/drawing/2017/decorative" val="1"/>
              </a:ext>
            </a:extLst>
          </p:cNvPr>
          <p:cNvSpPr/>
          <p:nvPr/>
        </p:nvSpPr>
        <p:spPr>
          <a:xfrm>
            <a:off x="592865" y="2484176"/>
            <a:ext cx="528723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0" name="Content Placeholder 17">
            <a:extLst>
              <a:ext uri="{FF2B5EF4-FFF2-40B4-BE49-F238E27FC236}">
                <a16:creationId xmlns:a16="http://schemas.microsoft.com/office/drawing/2014/main" id="{0170DFD5-97D2-3349-AE52-EB22861A6880}"/>
              </a:ext>
            </a:extLst>
          </p:cNvPr>
          <p:cNvSpPr>
            <a:spLocks noGrp="1"/>
          </p:cNvSpPr>
          <p:nvPr>
            <p:ph sz="quarter" idx="14" hasCustomPrompt="1"/>
          </p:nvPr>
        </p:nvSpPr>
        <p:spPr bwMode="gray">
          <a:xfrm>
            <a:off x="592865" y="2621020"/>
            <a:ext cx="5315794" cy="3544027"/>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4">
            <a:extLst>
              <a:ext uri="{FF2B5EF4-FFF2-40B4-BE49-F238E27FC236}">
                <a16:creationId xmlns:a16="http://schemas.microsoft.com/office/drawing/2014/main" id="{961E082F-F30B-BC46-BB99-CA9B65C08128}"/>
              </a:ext>
            </a:extLst>
          </p:cNvPr>
          <p:cNvSpPr>
            <a:spLocks noGrp="1"/>
          </p:cNvSpPr>
          <p:nvPr>
            <p:ph type="body" sz="quarter" idx="18" hasCustomPrompt="1"/>
          </p:nvPr>
        </p:nvSpPr>
        <p:spPr bwMode="gray">
          <a:xfrm>
            <a:off x="6308726" y="1600202"/>
            <a:ext cx="5287234" cy="875370"/>
          </a:xfrm>
          <a:noFill/>
        </p:spPr>
        <p:txBody>
          <a:bodyPr vert="horz" lIns="0" tIns="91440" rIns="457200" bIns="91440" rtlCol="0" anchor="b">
            <a:noAutofit/>
          </a:bodyPr>
          <a:lstStyle>
            <a:lvl1pPr>
              <a:defRPr lang="en-US" sz="2000">
                <a:solidFill>
                  <a:schemeClr val="accent4"/>
                </a:solidFill>
              </a:defRPr>
            </a:lvl1pPr>
          </a:lstStyle>
          <a:p>
            <a:pPr lvl="0"/>
            <a:r>
              <a:rPr lang="en-US"/>
              <a:t>Click to add header </a:t>
            </a:r>
          </a:p>
        </p:txBody>
      </p:sp>
      <p:sp>
        <p:nvSpPr>
          <p:cNvPr id="16" name="Rectangle 15">
            <a:extLst>
              <a:ext uri="{FF2B5EF4-FFF2-40B4-BE49-F238E27FC236}">
                <a16:creationId xmlns:a16="http://schemas.microsoft.com/office/drawing/2014/main" id="{417D4F8B-2025-D14C-A41E-9C0B401DE6B0}"/>
              </a:ext>
              <a:ext uri="{C183D7F6-B498-43B3-948B-1728B52AA6E4}">
                <adec:decorative xmlns:adec="http://schemas.microsoft.com/office/drawing/2017/decorative" val="1"/>
              </a:ext>
            </a:extLst>
          </p:cNvPr>
          <p:cNvSpPr/>
          <p:nvPr/>
        </p:nvSpPr>
        <p:spPr>
          <a:xfrm>
            <a:off x="6303874" y="2484176"/>
            <a:ext cx="528723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9" name="Content Placeholder 17">
            <a:extLst>
              <a:ext uri="{FF2B5EF4-FFF2-40B4-BE49-F238E27FC236}">
                <a16:creationId xmlns:a16="http://schemas.microsoft.com/office/drawing/2014/main" id="{3EE56D9F-2DF2-4F43-A13A-4844DFE465AC}"/>
              </a:ext>
            </a:extLst>
          </p:cNvPr>
          <p:cNvSpPr>
            <a:spLocks noGrp="1"/>
          </p:cNvSpPr>
          <p:nvPr>
            <p:ph sz="quarter" idx="16" hasCustomPrompt="1"/>
          </p:nvPr>
        </p:nvSpPr>
        <p:spPr bwMode="gray">
          <a:xfrm>
            <a:off x="6308143" y="2621280"/>
            <a:ext cx="5287234" cy="3575124"/>
          </a:xfrm>
        </p:spPr>
        <p:txBody>
          <a:bodyPr vert="horz" lIns="0" tIns="0" rIns="0" bIns="0" rtlCol="0">
            <a:noAutofit/>
          </a:bodyPr>
          <a:lstStyle>
            <a:lvl1pPr>
              <a:defRPr lang="en-US" sz="1800" dirty="0">
                <a:solidFill>
                  <a:schemeClr val="tx1"/>
                </a:solidFill>
              </a:defRPr>
            </a:lvl1pPr>
            <a:lvl2pPr>
              <a:defRPr lang="en-US" sz="1600" dirty="0">
                <a:solidFill>
                  <a:schemeClr val="tx1"/>
                </a:solidFill>
              </a:defRPr>
            </a:lvl2pPr>
            <a:lvl3pPr>
              <a:defRPr lang="en-US" sz="1400" dirty="0">
                <a:solidFill>
                  <a:schemeClr val="tx1"/>
                </a:solidFill>
              </a:defRPr>
            </a:lvl3pPr>
            <a:lvl4pPr>
              <a:defRPr lang="en-US" sz="1200" dirty="0">
                <a:solidFill>
                  <a:schemeClr val="tx1"/>
                </a:solidFill>
              </a:defRPr>
            </a:lvl4pPr>
            <a:lvl5pPr>
              <a:defRPr lang="en-US" sz="1200" dirty="0">
                <a:solidFill>
                  <a:schemeClr val="tx1"/>
                </a:solidFill>
              </a:defRPr>
            </a:lvl5pPr>
          </a:lstStyle>
          <a:p>
            <a:pPr lvl="0"/>
            <a:r>
              <a:rPr lang="en-US"/>
              <a:t>Click to add text</a:t>
            </a:r>
          </a:p>
          <a:p>
            <a:pPr lvl="1"/>
            <a:r>
              <a:rPr lang="en-US"/>
              <a:t>Second level</a:t>
            </a:r>
          </a:p>
          <a:p>
            <a:pPr lvl="2"/>
            <a:r>
              <a:rPr lang="en-US"/>
              <a:t>Third level</a:t>
            </a:r>
          </a:p>
          <a:p>
            <a:pPr lvl="3"/>
            <a:r>
              <a:rPr lang="en-US"/>
              <a:t>Fourth level</a:t>
            </a:r>
          </a:p>
          <a:p>
            <a:pPr lvl="4"/>
            <a:r>
              <a:rPr lang="en-US"/>
              <a:t>Fifth level</a:t>
            </a:r>
          </a:p>
        </p:txBody>
      </p:sp>
      <p:sp>
        <p:nvSpPr>
          <p:cNvPr id="12" name="page number">
            <a:extLst>
              <a:ext uri="{FF2B5EF4-FFF2-40B4-BE49-F238E27FC236}">
                <a16:creationId xmlns:a16="http://schemas.microsoft.com/office/drawing/2014/main" id="{3E816477-50B7-9248-BE5F-B9062610CEEE}"/>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7" name="Rectangle 16">
            <a:extLst>
              <a:ext uri="{FF2B5EF4-FFF2-40B4-BE49-F238E27FC236}">
                <a16:creationId xmlns:a16="http://schemas.microsoft.com/office/drawing/2014/main" id="{AA1B5F83-A93D-544C-8DB4-B164DBF2F72D}"/>
              </a:ext>
              <a:ext uri="{C183D7F6-B498-43B3-948B-1728B52AA6E4}">
                <adec:decorative xmlns:adec="http://schemas.microsoft.com/office/drawing/2017/decorative" val="1"/>
              </a:ext>
            </a:extLst>
          </p:cNvPr>
          <p:cNvSpPr/>
          <p:nvPr userDrawn="1"/>
        </p:nvSpPr>
        <p:spPr>
          <a:xfrm>
            <a:off x="592865" y="2484176"/>
            <a:ext cx="528723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8" name="Rectangle 17">
            <a:extLst>
              <a:ext uri="{FF2B5EF4-FFF2-40B4-BE49-F238E27FC236}">
                <a16:creationId xmlns:a16="http://schemas.microsoft.com/office/drawing/2014/main" id="{417D4F8B-2025-D14C-A41E-9C0B401DE6B0}"/>
              </a:ext>
              <a:ext uri="{C183D7F6-B498-43B3-948B-1728B52AA6E4}">
                <adec:decorative xmlns:adec="http://schemas.microsoft.com/office/drawing/2017/decorative" val="1"/>
              </a:ext>
            </a:extLst>
          </p:cNvPr>
          <p:cNvSpPr/>
          <p:nvPr userDrawn="1"/>
        </p:nvSpPr>
        <p:spPr>
          <a:xfrm>
            <a:off x="6303874" y="2484176"/>
            <a:ext cx="528723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19" name="page number">
            <a:extLst>
              <a:ext uri="{FF2B5EF4-FFF2-40B4-BE49-F238E27FC236}">
                <a16:creationId xmlns:a16="http://schemas.microsoft.com/office/drawing/2014/main" id="{3E816477-50B7-9248-BE5F-B9062610CEEE}"/>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844582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hree-Content Comparis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F2C94F-DA57-4BDB-8E5C-E4A0C7522314}"/>
              </a:ext>
            </a:extLst>
          </p:cNvPr>
          <p:cNvSpPr>
            <a:spLocks noGrp="1"/>
          </p:cNvSpPr>
          <p:nvPr>
            <p:ph type="title" hasCustomPrompt="1"/>
          </p:nvPr>
        </p:nvSpPr>
        <p:spPr/>
        <p:txBody>
          <a:bodyPr/>
          <a:lstStyle>
            <a:lvl1pPr>
              <a:defRPr>
                <a:solidFill>
                  <a:schemeClr val="accent2"/>
                </a:solidFill>
              </a:defRPr>
            </a:lvl1pPr>
          </a:lstStyle>
          <a:p>
            <a:r>
              <a:rPr lang="en-US"/>
              <a:t>Three-content Layout – Three Horizontal Text Boxes</a:t>
            </a:r>
          </a:p>
        </p:txBody>
      </p:sp>
      <p:sp>
        <p:nvSpPr>
          <p:cNvPr id="13" name="Subtitle 2">
            <a:extLst>
              <a:ext uri="{FF2B5EF4-FFF2-40B4-BE49-F238E27FC236}">
                <a16:creationId xmlns:a16="http://schemas.microsoft.com/office/drawing/2014/main" id="{FC59F98B-A991-4DEC-A409-289E778CB84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4" name="Text Placeholder 3">
            <a:extLst>
              <a:ext uri="{FF2B5EF4-FFF2-40B4-BE49-F238E27FC236}">
                <a16:creationId xmlns:a16="http://schemas.microsoft.com/office/drawing/2014/main" id="{E0956C27-3D46-7745-A4A9-42842784C100}"/>
              </a:ext>
            </a:extLst>
          </p:cNvPr>
          <p:cNvSpPr>
            <a:spLocks noGrp="1"/>
          </p:cNvSpPr>
          <p:nvPr>
            <p:ph type="body" sz="quarter" idx="28" hasCustomPrompt="1"/>
          </p:nvPr>
        </p:nvSpPr>
        <p:spPr>
          <a:xfrm>
            <a:off x="592866" y="1600200"/>
            <a:ext cx="3593592" cy="914400"/>
          </a:xfrm>
          <a:noFill/>
        </p:spPr>
        <p:txBody>
          <a:bodyPr lIns="0" tIns="91440" rIns="182880" bIns="91440" anchor="b"/>
          <a:lstStyle>
            <a:lvl1pPr>
              <a:defRPr sz="1800">
                <a:solidFill>
                  <a:schemeClr val="accent2"/>
                </a:solidFill>
              </a:defRPr>
            </a:lvl1pPr>
            <a:lvl2pPr marL="0" indent="0">
              <a:buFont typeface="Open Sans" panose="020B0606030504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7" name="Rectangle 26">
            <a:extLst>
              <a:ext uri="{FF2B5EF4-FFF2-40B4-BE49-F238E27FC236}">
                <a16:creationId xmlns:a16="http://schemas.microsoft.com/office/drawing/2014/main" id="{B164666E-28C9-844E-91D8-ECA2F1E57595}"/>
              </a:ext>
              <a:ext uri="{C183D7F6-B498-43B3-948B-1728B52AA6E4}">
                <adec:decorative xmlns:adec="http://schemas.microsoft.com/office/drawing/2017/decorative" val="1"/>
              </a:ext>
            </a:extLst>
          </p:cNvPr>
          <p:cNvSpPr/>
          <p:nvPr/>
        </p:nvSpPr>
        <p:spPr>
          <a:xfrm>
            <a:off x="592866" y="2509480"/>
            <a:ext cx="3593592"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6" name="Text Placeholder 3">
            <a:extLst>
              <a:ext uri="{FF2B5EF4-FFF2-40B4-BE49-F238E27FC236}">
                <a16:creationId xmlns:a16="http://schemas.microsoft.com/office/drawing/2014/main" id="{88975597-2DC5-4748-87A2-37C22D522B0B}"/>
              </a:ext>
            </a:extLst>
          </p:cNvPr>
          <p:cNvSpPr>
            <a:spLocks noGrp="1"/>
          </p:cNvSpPr>
          <p:nvPr>
            <p:ph type="body" sz="quarter" idx="26" hasCustomPrompt="1"/>
          </p:nvPr>
        </p:nvSpPr>
        <p:spPr>
          <a:xfrm>
            <a:off x="4297616" y="1600200"/>
            <a:ext cx="3593592" cy="914400"/>
          </a:xfrm>
          <a:noFill/>
        </p:spPr>
        <p:txBody>
          <a:bodyPr lIns="0" tIns="91440" rIns="182880" bIns="91440" anchor="b"/>
          <a:lstStyle>
            <a:lvl1pPr>
              <a:defRPr sz="1800">
                <a:solidFill>
                  <a:schemeClr val="accent3"/>
                </a:solidFill>
              </a:defRPr>
            </a:lvl1pPr>
            <a:lvl2pPr marL="0" indent="0">
              <a:buFont typeface="Open Sans" panose="020B0606030504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5" name="Text Placeholder 3">
            <a:extLst>
              <a:ext uri="{FF2B5EF4-FFF2-40B4-BE49-F238E27FC236}">
                <a16:creationId xmlns:a16="http://schemas.microsoft.com/office/drawing/2014/main" id="{F48BF931-C509-8F46-8576-3656F9F4BA19}"/>
              </a:ext>
            </a:extLst>
          </p:cNvPr>
          <p:cNvSpPr>
            <a:spLocks noGrp="1"/>
          </p:cNvSpPr>
          <p:nvPr>
            <p:ph type="body" sz="quarter" idx="23" hasCustomPrompt="1"/>
          </p:nvPr>
        </p:nvSpPr>
        <p:spPr>
          <a:xfrm>
            <a:off x="8001859" y="1600200"/>
            <a:ext cx="3593592" cy="914400"/>
          </a:xfrm>
          <a:noFill/>
        </p:spPr>
        <p:txBody>
          <a:bodyPr lIns="0" tIns="91440" rIns="182880" bIns="91440" anchor="b"/>
          <a:lstStyle>
            <a:lvl1pPr>
              <a:defRPr sz="1800">
                <a:solidFill>
                  <a:schemeClr val="accent4"/>
                </a:solidFill>
              </a:defRPr>
            </a:lvl1pPr>
            <a:lvl2pPr marL="0" indent="0">
              <a:buFont typeface="Open Sans" panose="020B0606030504020204" pitchFamily="34" charset="0"/>
              <a:buChar char="​"/>
              <a:defRPr sz="1800">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add header</a:t>
            </a:r>
          </a:p>
        </p:txBody>
      </p:sp>
      <p:sp>
        <p:nvSpPr>
          <p:cNvPr id="29" name="Rectangle 28">
            <a:extLst>
              <a:ext uri="{FF2B5EF4-FFF2-40B4-BE49-F238E27FC236}">
                <a16:creationId xmlns:a16="http://schemas.microsoft.com/office/drawing/2014/main" id="{97B963A1-3810-7A40-8918-6D6D68B4A836}"/>
              </a:ext>
              <a:ext uri="{C183D7F6-B498-43B3-948B-1728B52AA6E4}">
                <adec:decorative xmlns:adec="http://schemas.microsoft.com/office/drawing/2017/decorative" val="1"/>
              </a:ext>
            </a:extLst>
          </p:cNvPr>
          <p:cNvSpPr/>
          <p:nvPr/>
        </p:nvSpPr>
        <p:spPr>
          <a:xfrm>
            <a:off x="8001859" y="2509480"/>
            <a:ext cx="3593592"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5" name="page number">
            <a:extLst>
              <a:ext uri="{FF2B5EF4-FFF2-40B4-BE49-F238E27FC236}">
                <a16:creationId xmlns:a16="http://schemas.microsoft.com/office/drawing/2014/main" id="{7788490C-B63E-8E46-A9C1-9CF865F7FA57}"/>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Rectangle 1">
            <a:extLst>
              <a:ext uri="{FF2B5EF4-FFF2-40B4-BE49-F238E27FC236}">
                <a16:creationId xmlns:a16="http://schemas.microsoft.com/office/drawing/2014/main" id="{E17DA4B3-27AC-8A64-FD5E-59AEAE0D8559}"/>
              </a:ext>
              <a:ext uri="{C183D7F6-B498-43B3-948B-1728B52AA6E4}">
                <adec:decorative xmlns:adec="http://schemas.microsoft.com/office/drawing/2017/decorative" val="1"/>
              </a:ext>
            </a:extLst>
          </p:cNvPr>
          <p:cNvSpPr/>
          <p:nvPr/>
        </p:nvSpPr>
        <p:spPr>
          <a:xfrm>
            <a:off x="4297616" y="2509480"/>
            <a:ext cx="3593592"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7" name="Text Placeholder 6">
            <a:extLst>
              <a:ext uri="{FF2B5EF4-FFF2-40B4-BE49-F238E27FC236}">
                <a16:creationId xmlns:a16="http://schemas.microsoft.com/office/drawing/2014/main" id="{34AF0ECF-E71C-8AC9-36B9-29CB570B16D7}"/>
              </a:ext>
            </a:extLst>
          </p:cNvPr>
          <p:cNvSpPr>
            <a:spLocks noGrp="1"/>
          </p:cNvSpPr>
          <p:nvPr>
            <p:ph type="body" sz="quarter" idx="29"/>
          </p:nvPr>
        </p:nvSpPr>
        <p:spPr>
          <a:xfrm>
            <a:off x="592866" y="2649538"/>
            <a:ext cx="3594100" cy="3522662"/>
          </a:xfrm>
        </p:spPr>
        <p:txBody>
          <a:bodyPr/>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6">
            <a:extLst>
              <a:ext uri="{FF2B5EF4-FFF2-40B4-BE49-F238E27FC236}">
                <a16:creationId xmlns:a16="http://schemas.microsoft.com/office/drawing/2014/main" id="{D43B6B0E-4AB9-6144-29E4-820FC763DE97}"/>
              </a:ext>
            </a:extLst>
          </p:cNvPr>
          <p:cNvSpPr>
            <a:spLocks noGrp="1"/>
          </p:cNvSpPr>
          <p:nvPr>
            <p:ph type="body" sz="quarter" idx="30"/>
          </p:nvPr>
        </p:nvSpPr>
        <p:spPr>
          <a:xfrm>
            <a:off x="4297616" y="2649538"/>
            <a:ext cx="3594100" cy="3522662"/>
          </a:xfrm>
        </p:spPr>
        <p:txBody>
          <a:bodyPr/>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6">
            <a:extLst>
              <a:ext uri="{FF2B5EF4-FFF2-40B4-BE49-F238E27FC236}">
                <a16:creationId xmlns:a16="http://schemas.microsoft.com/office/drawing/2014/main" id="{FEE5625D-A2F8-6592-7C13-07EAF5CBBC33}"/>
              </a:ext>
            </a:extLst>
          </p:cNvPr>
          <p:cNvSpPr>
            <a:spLocks noGrp="1"/>
          </p:cNvSpPr>
          <p:nvPr>
            <p:ph type="body" sz="quarter" idx="31"/>
          </p:nvPr>
        </p:nvSpPr>
        <p:spPr>
          <a:xfrm>
            <a:off x="8001859" y="2649538"/>
            <a:ext cx="3594100" cy="3522662"/>
          </a:xfrm>
        </p:spPr>
        <p:txBody>
          <a:bodyPr/>
          <a:lstStyle>
            <a:lvl1pPr>
              <a:defRPr sz="1600">
                <a:solidFill>
                  <a:schemeClr val="tx1"/>
                </a:solidFill>
              </a:defRPr>
            </a:lvl1pPr>
            <a:lvl2pPr>
              <a:defRPr sz="1400">
                <a:solidFill>
                  <a:schemeClr val="tx1"/>
                </a:solidFill>
              </a:defRPr>
            </a:lvl2pPr>
            <a:lvl3pPr>
              <a:defRPr sz="1200">
                <a:solidFill>
                  <a:schemeClr val="tx1"/>
                </a:solidFill>
              </a:defRPr>
            </a:lvl3pPr>
            <a:lvl4pPr>
              <a:defRPr sz="1100">
                <a:solidFill>
                  <a:schemeClr val="tx1"/>
                </a:solidFill>
              </a:defRPr>
            </a:lvl4pPr>
            <a:lvl5pP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Rectangle 13">
            <a:extLst>
              <a:ext uri="{FF2B5EF4-FFF2-40B4-BE49-F238E27FC236}">
                <a16:creationId xmlns:a16="http://schemas.microsoft.com/office/drawing/2014/main" id="{B164666E-28C9-844E-91D8-ECA2F1E57595}"/>
              </a:ext>
              <a:ext uri="{C183D7F6-B498-43B3-948B-1728B52AA6E4}">
                <adec:decorative xmlns:adec="http://schemas.microsoft.com/office/drawing/2017/decorative" val="1"/>
              </a:ext>
            </a:extLst>
          </p:cNvPr>
          <p:cNvSpPr/>
          <p:nvPr userDrawn="1"/>
        </p:nvSpPr>
        <p:spPr>
          <a:xfrm>
            <a:off x="592866" y="2509480"/>
            <a:ext cx="3593592"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6" name="Rectangle 15">
            <a:extLst>
              <a:ext uri="{FF2B5EF4-FFF2-40B4-BE49-F238E27FC236}">
                <a16:creationId xmlns:a16="http://schemas.microsoft.com/office/drawing/2014/main" id="{97B963A1-3810-7A40-8918-6D6D68B4A836}"/>
              </a:ext>
              <a:ext uri="{C183D7F6-B498-43B3-948B-1728B52AA6E4}">
                <adec:decorative xmlns:adec="http://schemas.microsoft.com/office/drawing/2017/decorative" val="1"/>
              </a:ext>
            </a:extLst>
          </p:cNvPr>
          <p:cNvSpPr/>
          <p:nvPr userDrawn="1"/>
        </p:nvSpPr>
        <p:spPr>
          <a:xfrm>
            <a:off x="8001859" y="2509480"/>
            <a:ext cx="3593592"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7" name="page number">
            <a:extLst>
              <a:ext uri="{FF2B5EF4-FFF2-40B4-BE49-F238E27FC236}">
                <a16:creationId xmlns:a16="http://schemas.microsoft.com/office/drawing/2014/main" id="{7788490C-B63E-8E46-A9C1-9CF865F7FA57}"/>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8" name="Rectangle 17">
            <a:extLst>
              <a:ext uri="{FF2B5EF4-FFF2-40B4-BE49-F238E27FC236}">
                <a16:creationId xmlns:a16="http://schemas.microsoft.com/office/drawing/2014/main" id="{E17DA4B3-27AC-8A64-FD5E-59AEAE0D8559}"/>
              </a:ext>
              <a:ext uri="{C183D7F6-B498-43B3-948B-1728B52AA6E4}">
                <adec:decorative xmlns:adec="http://schemas.microsoft.com/office/drawing/2017/decorative" val="1"/>
              </a:ext>
            </a:extLst>
          </p:cNvPr>
          <p:cNvSpPr/>
          <p:nvPr userDrawn="1"/>
        </p:nvSpPr>
        <p:spPr>
          <a:xfrm>
            <a:off x="4297616" y="2509480"/>
            <a:ext cx="3593592"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Tree>
    <p:extLst>
      <p:ext uri="{BB962C8B-B14F-4D97-AF65-F5344CB8AC3E}">
        <p14:creationId xmlns:p14="http://schemas.microsoft.com/office/powerpoint/2010/main" val="1880597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Two Content Dynamic – Lef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346AD2E-9306-49E7-A98B-7D26E458C2B2}"/>
              </a:ext>
            </a:extLst>
          </p:cNvPr>
          <p:cNvSpPr>
            <a:spLocks noGrp="1"/>
          </p:cNvSpPr>
          <p:nvPr>
            <p:ph type="title" hasCustomPrompt="1"/>
          </p:nvPr>
        </p:nvSpPr>
        <p:spPr/>
        <p:txBody>
          <a:bodyPr wrap="none"/>
          <a:lstStyle>
            <a:lvl1pPr>
              <a:defRPr>
                <a:solidFill>
                  <a:schemeClr val="accent2"/>
                </a:solidFill>
              </a:defRPr>
            </a:lvl1pPr>
          </a:lstStyle>
          <a:p>
            <a:r>
              <a:rPr lang="en-US"/>
              <a:t>Two-content Layout – Highlight Text on Left, Text/Graphic on Right</a:t>
            </a:r>
          </a:p>
        </p:txBody>
      </p:sp>
      <p:sp>
        <p:nvSpPr>
          <p:cNvPr id="14" name="Subtitle 2">
            <a:extLst>
              <a:ext uri="{FF2B5EF4-FFF2-40B4-BE49-F238E27FC236}">
                <a16:creationId xmlns:a16="http://schemas.microsoft.com/office/drawing/2014/main" id="{551435C2-3F7C-4835-8DB0-71E2C00537CF}"/>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7" name="Rectangle 6">
            <a:extLst>
              <a:ext uri="{FF2B5EF4-FFF2-40B4-BE49-F238E27FC236}">
                <a16:creationId xmlns:a16="http://schemas.microsoft.com/office/drawing/2014/main" id="{D864AC6E-1611-244C-BA28-696924BAB259}"/>
              </a:ext>
              <a:ext uri="{C183D7F6-B498-43B3-948B-1728B52AA6E4}">
                <adec:decorative xmlns:adec="http://schemas.microsoft.com/office/drawing/2017/decorative" val="1"/>
              </a:ext>
            </a:extLst>
          </p:cNvPr>
          <p:cNvSpPr/>
          <p:nvPr/>
        </p:nvSpPr>
        <p:spPr>
          <a:xfrm flipV="1">
            <a:off x="0"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4" name="Text Placeholder 3">
            <a:extLst>
              <a:ext uri="{FF2B5EF4-FFF2-40B4-BE49-F238E27FC236}">
                <a16:creationId xmlns:a16="http://schemas.microsoft.com/office/drawing/2014/main" id="{830FD232-93CB-4B54-A933-93C11B099F7A}"/>
              </a:ext>
            </a:extLst>
          </p:cNvPr>
          <p:cNvSpPr>
            <a:spLocks noGrp="1"/>
          </p:cNvSpPr>
          <p:nvPr>
            <p:ph type="body" sz="quarter" idx="20" hasCustomPrompt="1"/>
          </p:nvPr>
        </p:nvSpPr>
        <p:spPr>
          <a:xfrm>
            <a:off x="0" y="1609531"/>
            <a:ext cx="2894013" cy="4572000"/>
          </a:xfrm>
          <a:solidFill>
            <a:srgbClr val="F4F8FA"/>
          </a:solidFill>
        </p:spPr>
        <p:txBody>
          <a:bodyPr vert="horz" lIns="274320" tIns="457200" rIns="457200" bIns="457200" rtlCol="0">
            <a:noAutofit/>
          </a:bodyPr>
          <a:lstStyle>
            <a:lvl1pPr>
              <a:defRPr lang="en-US" sz="1800" dirty="0">
                <a:solidFill>
                  <a:schemeClr val="accent2"/>
                </a:solidFill>
              </a:defRPr>
            </a:lvl1pPr>
            <a:lvl2pPr>
              <a:buClr>
                <a:schemeClr val="accent2"/>
              </a:buClr>
              <a:defRPr lang="en-US" sz="1600" dirty="0" smtClean="0">
                <a:solidFill>
                  <a:schemeClr val="accent2"/>
                </a:solidFill>
              </a:defRPr>
            </a:lvl2pPr>
            <a:lvl3pPr>
              <a:buClr>
                <a:schemeClr val="accent2"/>
              </a:buClr>
              <a:defRPr lang="en-US" sz="1400" dirty="0" smtClean="0">
                <a:solidFill>
                  <a:schemeClr val="accent2"/>
                </a:solidFill>
              </a:defRPr>
            </a:lvl3pPr>
            <a:lvl4pPr>
              <a:buClr>
                <a:schemeClr val="accent2"/>
              </a:buClr>
              <a:defRPr lang="en-US" sz="1200" dirty="0" smtClean="0">
                <a:solidFill>
                  <a:schemeClr val="accent2"/>
                </a:solidFill>
              </a:defRPr>
            </a:lvl4pPr>
            <a:lvl5pPr>
              <a:buClr>
                <a:schemeClr val="accent2"/>
              </a:buClr>
              <a:defRPr lang="en-US" sz="1200" dirty="0">
                <a:solidFill>
                  <a:schemeClr val="accent2"/>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0">
            <a:extLst>
              <a:ext uri="{FF2B5EF4-FFF2-40B4-BE49-F238E27FC236}">
                <a16:creationId xmlns:a16="http://schemas.microsoft.com/office/drawing/2014/main" id="{577AE2CA-1B34-4F04-BD7F-F624F20E94FB}"/>
              </a:ext>
            </a:extLst>
          </p:cNvPr>
          <p:cNvSpPr>
            <a:spLocks noGrp="1"/>
          </p:cNvSpPr>
          <p:nvPr>
            <p:ph sz="quarter" idx="19" hasCustomPrompt="1"/>
          </p:nvPr>
        </p:nvSpPr>
        <p:spPr>
          <a:xfrm>
            <a:off x="3351213" y="1609531"/>
            <a:ext cx="8229600" cy="4572000"/>
          </a:xfrm>
        </p:spPr>
        <p:txBody>
          <a:bodyPr vert="horz" lIns="0" tIns="457200" rIns="0" bIns="0" rtlCol="0">
            <a:noAutofit/>
          </a:bodyPr>
          <a:lstStyle>
            <a:lvl1pPr>
              <a:defRPr lang="en-US" dirty="0" smtClean="0">
                <a:solidFill>
                  <a:schemeClr val="tx1"/>
                </a:solidFill>
              </a:defRPr>
            </a:lvl1pPr>
            <a:lvl2pPr>
              <a:defRPr lang="en-US" dirty="0" smtClean="0">
                <a:solidFill>
                  <a:schemeClr val="tx1"/>
                </a:solidFill>
              </a:defRPr>
            </a:lvl2pPr>
            <a:lvl3pPr>
              <a:defRPr lang="en-US" dirty="0" smtClean="0">
                <a:solidFill>
                  <a:schemeClr val="tx1"/>
                </a:solidFill>
              </a:defRPr>
            </a:lvl3pPr>
            <a:lvl4pPr>
              <a:defRPr lang="en-US" dirty="0" smtClean="0">
                <a:solidFill>
                  <a:schemeClr val="tx1"/>
                </a:solidFill>
              </a:defRPr>
            </a:lvl4pPr>
            <a:lvl5pPr>
              <a:defRPr lang="en-US" dirty="0" smtClean="0">
                <a:solidFill>
                  <a:schemeClr val="tx1"/>
                </a:solidFill>
              </a:defRPr>
            </a:lvl5pPr>
            <a:lvl6pPr>
              <a:defRPr lang="en-US" dirty="0" smtClean="0">
                <a:solidFill>
                  <a:schemeClr val="tx1"/>
                </a:solidFill>
              </a:defRPr>
            </a:lvl6pPr>
            <a:lvl7pPr>
              <a:defRPr lang="en-US" dirty="0" smtClean="0">
                <a:solidFill>
                  <a:schemeClr val="tx1"/>
                </a:solidFill>
              </a:defRPr>
            </a:lvl7pPr>
            <a:lvl8pPr>
              <a:defRPr lang="en-US" dirty="0">
                <a:solidFill>
                  <a:schemeClr val="tx1"/>
                </a:solidFill>
              </a:defRPr>
            </a:lvl8pPr>
          </a:lstStyle>
          <a:p>
            <a:pPr lvl="0"/>
            <a:r>
              <a:rPr lang="en-US" dirty="0"/>
              <a:t>Click to add graph, diagram or text</a:t>
            </a:r>
          </a:p>
          <a:p>
            <a:pPr lvl="1"/>
            <a:r>
              <a:rPr lang="en-US" dirty="0"/>
              <a:t>Second level</a:t>
            </a:r>
          </a:p>
          <a:p>
            <a:pPr lvl="2"/>
            <a:r>
              <a:rPr lang="en-US" dirty="0"/>
              <a:t>Third level</a:t>
            </a:r>
          </a:p>
          <a:p>
            <a:pPr lvl="3"/>
            <a:r>
              <a:rPr lang="en-US" dirty="0"/>
              <a:t>Fourth level</a:t>
            </a:r>
          </a:p>
          <a:p>
            <a:pPr lvl="4"/>
            <a:r>
              <a:rPr lang="en-US" dirty="0"/>
              <a:t>Fifth level</a:t>
            </a:r>
          </a:p>
          <a:p>
            <a:pPr marL="1270000" lvl="5" indent="-117475"/>
            <a:r>
              <a:rPr lang="en-US" dirty="0"/>
              <a:t>Sixth level</a:t>
            </a:r>
          </a:p>
          <a:p>
            <a:pPr marL="1438275" lvl="6" indent="-117475"/>
            <a:r>
              <a:rPr lang="en-US" dirty="0"/>
              <a:t>Seventh level</a:t>
            </a:r>
          </a:p>
          <a:p>
            <a:pPr marL="1554163" lvl="7" indent="-115888">
              <a:lnSpc>
                <a:spcPct val="90000"/>
              </a:lnSpc>
            </a:pPr>
            <a:r>
              <a:rPr lang="en-US" dirty="0"/>
              <a:t>Ninth level</a:t>
            </a:r>
          </a:p>
        </p:txBody>
      </p:sp>
      <p:sp>
        <p:nvSpPr>
          <p:cNvPr id="8" name="page number">
            <a:extLst>
              <a:ext uri="{FF2B5EF4-FFF2-40B4-BE49-F238E27FC236}">
                <a16:creationId xmlns:a16="http://schemas.microsoft.com/office/drawing/2014/main" id="{1A93E906-C928-C345-B032-1F5C677FAEDD}"/>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9" name="Rectangle 8">
            <a:extLst>
              <a:ext uri="{FF2B5EF4-FFF2-40B4-BE49-F238E27FC236}">
                <a16:creationId xmlns:a16="http://schemas.microsoft.com/office/drawing/2014/main" id="{D864AC6E-1611-244C-BA28-696924BAB259}"/>
              </a:ext>
              <a:ext uri="{C183D7F6-B498-43B3-948B-1728B52AA6E4}">
                <adec:decorative xmlns:adec="http://schemas.microsoft.com/office/drawing/2017/decorative" val="1"/>
              </a:ext>
            </a:extLst>
          </p:cNvPr>
          <p:cNvSpPr/>
          <p:nvPr userDrawn="1"/>
        </p:nvSpPr>
        <p:spPr>
          <a:xfrm flipV="1">
            <a:off x="0"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10" name="page number">
            <a:extLst>
              <a:ext uri="{FF2B5EF4-FFF2-40B4-BE49-F238E27FC236}">
                <a16:creationId xmlns:a16="http://schemas.microsoft.com/office/drawing/2014/main" id="{1A93E906-C928-C345-B032-1F5C677FAEDD}"/>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3646956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Two Content Dynamic –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92A934A-AC6B-460C-9C93-B13CF6B6263F}"/>
              </a:ext>
            </a:extLst>
          </p:cNvPr>
          <p:cNvSpPr>
            <a:spLocks noGrp="1"/>
          </p:cNvSpPr>
          <p:nvPr>
            <p:ph type="title" hasCustomPrompt="1"/>
          </p:nvPr>
        </p:nvSpPr>
        <p:spPr/>
        <p:txBody>
          <a:bodyPr wrap="none"/>
          <a:lstStyle>
            <a:lvl1pPr>
              <a:defRPr>
                <a:solidFill>
                  <a:schemeClr val="accent2"/>
                </a:solidFill>
              </a:defRPr>
            </a:lvl1pPr>
          </a:lstStyle>
          <a:p>
            <a:r>
              <a:rPr lang="en-US"/>
              <a:t>Two-content Layout – Highlight Text on Right, Text/Graphic on Left</a:t>
            </a:r>
          </a:p>
        </p:txBody>
      </p:sp>
      <p:sp>
        <p:nvSpPr>
          <p:cNvPr id="14" name="Subtitle 2">
            <a:extLst>
              <a:ext uri="{FF2B5EF4-FFF2-40B4-BE49-F238E27FC236}">
                <a16:creationId xmlns:a16="http://schemas.microsoft.com/office/drawing/2014/main" id="{F6F5131D-84AE-4294-83A1-243FE1C81A8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9" name="page number">
            <a:extLst>
              <a:ext uri="{FF2B5EF4-FFF2-40B4-BE49-F238E27FC236}">
                <a16:creationId xmlns:a16="http://schemas.microsoft.com/office/drawing/2014/main" id="{EA3FFB13-8625-D245-BD64-AAC7CCCB5B6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Rectangle 1">
            <a:extLst>
              <a:ext uri="{FF2B5EF4-FFF2-40B4-BE49-F238E27FC236}">
                <a16:creationId xmlns:a16="http://schemas.microsoft.com/office/drawing/2014/main" id="{85B60DB8-F067-969E-72B5-4E90025E5BF8}"/>
              </a:ext>
              <a:ext uri="{C183D7F6-B498-43B3-948B-1728B52AA6E4}">
                <adec:decorative xmlns:adec="http://schemas.microsoft.com/office/drawing/2017/decorative" val="1"/>
              </a:ext>
            </a:extLst>
          </p:cNvPr>
          <p:cNvSpPr/>
          <p:nvPr/>
        </p:nvSpPr>
        <p:spPr>
          <a:xfrm flipV="1">
            <a:off x="9294812"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4" name="Text Placeholder 3">
            <a:extLst>
              <a:ext uri="{FF2B5EF4-FFF2-40B4-BE49-F238E27FC236}">
                <a16:creationId xmlns:a16="http://schemas.microsoft.com/office/drawing/2014/main" id="{CEB93DEE-AB9E-C81E-DF9C-D1BE09F22E09}"/>
              </a:ext>
            </a:extLst>
          </p:cNvPr>
          <p:cNvSpPr>
            <a:spLocks noGrp="1"/>
          </p:cNvSpPr>
          <p:nvPr>
            <p:ph type="body" sz="quarter" idx="20" hasCustomPrompt="1"/>
          </p:nvPr>
        </p:nvSpPr>
        <p:spPr>
          <a:xfrm>
            <a:off x="9294812" y="1609531"/>
            <a:ext cx="2894013" cy="4572000"/>
          </a:xfrm>
          <a:solidFill>
            <a:srgbClr val="F4F8FA"/>
          </a:solidFill>
        </p:spPr>
        <p:txBody>
          <a:bodyPr vert="horz" lIns="274320" tIns="457200" rIns="457200" bIns="457200" rtlCol="0">
            <a:noAutofit/>
          </a:bodyPr>
          <a:lstStyle>
            <a:lvl1pPr>
              <a:defRPr lang="en-US" sz="1800" dirty="0">
                <a:solidFill>
                  <a:schemeClr val="accent2"/>
                </a:solidFill>
              </a:defRPr>
            </a:lvl1pPr>
            <a:lvl2pPr>
              <a:buClr>
                <a:schemeClr val="accent2"/>
              </a:buClr>
              <a:defRPr lang="en-US" sz="1600" dirty="0" smtClean="0">
                <a:solidFill>
                  <a:schemeClr val="accent2"/>
                </a:solidFill>
              </a:defRPr>
            </a:lvl2pPr>
            <a:lvl3pPr>
              <a:buClr>
                <a:schemeClr val="accent2"/>
              </a:buClr>
              <a:defRPr lang="en-US" sz="1400" dirty="0" smtClean="0">
                <a:solidFill>
                  <a:schemeClr val="accent2"/>
                </a:solidFill>
              </a:defRPr>
            </a:lvl3pPr>
            <a:lvl4pPr>
              <a:buClr>
                <a:schemeClr val="accent2"/>
              </a:buClr>
              <a:defRPr lang="en-US" sz="1200" dirty="0" smtClean="0">
                <a:solidFill>
                  <a:schemeClr val="accent2"/>
                </a:solidFill>
              </a:defRPr>
            </a:lvl4pPr>
            <a:lvl5pPr>
              <a:buClr>
                <a:schemeClr val="accent2"/>
              </a:buClr>
              <a:defRPr lang="en-US" sz="1200" dirty="0">
                <a:solidFill>
                  <a:schemeClr val="accent2"/>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10">
            <a:extLst>
              <a:ext uri="{FF2B5EF4-FFF2-40B4-BE49-F238E27FC236}">
                <a16:creationId xmlns:a16="http://schemas.microsoft.com/office/drawing/2014/main" id="{DC18C6BC-2416-B51C-F45A-9BCC874B47ED}"/>
              </a:ext>
            </a:extLst>
          </p:cNvPr>
          <p:cNvSpPr>
            <a:spLocks noGrp="1"/>
          </p:cNvSpPr>
          <p:nvPr>
            <p:ph sz="quarter" idx="19" hasCustomPrompt="1"/>
          </p:nvPr>
        </p:nvSpPr>
        <p:spPr>
          <a:xfrm>
            <a:off x="0" y="1609531"/>
            <a:ext cx="8229600" cy="4572000"/>
          </a:xfrm>
        </p:spPr>
        <p:txBody>
          <a:bodyPr vert="horz" lIns="594360" tIns="457200" rIns="0" bIns="0" rtlCol="0">
            <a:noAutofit/>
          </a:bodyPr>
          <a:lstStyle>
            <a:lvl1pPr>
              <a:defRPr lang="en-US" dirty="0" smtClean="0">
                <a:solidFill>
                  <a:schemeClr val="tx1"/>
                </a:solidFill>
              </a:defRPr>
            </a:lvl1pPr>
            <a:lvl2pPr>
              <a:defRPr lang="en-US" dirty="0" smtClean="0">
                <a:solidFill>
                  <a:schemeClr val="tx1"/>
                </a:solidFill>
              </a:defRPr>
            </a:lvl2pPr>
            <a:lvl3pPr>
              <a:defRPr lang="en-US" dirty="0" smtClean="0">
                <a:solidFill>
                  <a:schemeClr val="tx1"/>
                </a:solidFill>
              </a:defRPr>
            </a:lvl3pPr>
            <a:lvl4pPr>
              <a:defRPr lang="en-US" dirty="0" smtClean="0">
                <a:solidFill>
                  <a:schemeClr val="tx1"/>
                </a:solidFill>
              </a:defRPr>
            </a:lvl4pPr>
            <a:lvl5pPr>
              <a:defRPr lang="en-US" dirty="0" smtClean="0">
                <a:solidFill>
                  <a:schemeClr val="tx1"/>
                </a:solidFill>
              </a:defRPr>
            </a:lvl5pPr>
            <a:lvl6pPr>
              <a:defRPr lang="en-US" dirty="0" smtClean="0">
                <a:solidFill>
                  <a:schemeClr val="tx1"/>
                </a:solidFill>
              </a:defRPr>
            </a:lvl6pPr>
            <a:lvl7pPr>
              <a:defRPr lang="en-US" dirty="0" smtClean="0">
                <a:solidFill>
                  <a:schemeClr val="tx1"/>
                </a:solidFill>
              </a:defRPr>
            </a:lvl7pPr>
            <a:lvl8pPr>
              <a:defRPr lang="en-US" dirty="0">
                <a:solidFill>
                  <a:schemeClr val="tx1"/>
                </a:solidFill>
              </a:defRPr>
            </a:lvl8pPr>
          </a:lstStyle>
          <a:p>
            <a:pPr lvl="0"/>
            <a:r>
              <a:rPr lang="en-US" dirty="0"/>
              <a:t>Click to add graph, diagram or text</a:t>
            </a:r>
          </a:p>
          <a:p>
            <a:pPr lvl="1"/>
            <a:r>
              <a:rPr lang="en-US" dirty="0"/>
              <a:t>Second level</a:t>
            </a:r>
          </a:p>
          <a:p>
            <a:pPr lvl="2"/>
            <a:r>
              <a:rPr lang="en-US" dirty="0"/>
              <a:t>Third level</a:t>
            </a:r>
          </a:p>
          <a:p>
            <a:pPr lvl="3"/>
            <a:r>
              <a:rPr lang="en-US" dirty="0"/>
              <a:t>Fourth level</a:t>
            </a:r>
          </a:p>
          <a:p>
            <a:pPr lvl="4"/>
            <a:r>
              <a:rPr lang="en-US" dirty="0"/>
              <a:t>Fifth level</a:t>
            </a:r>
          </a:p>
          <a:p>
            <a:pPr marL="1270000" lvl="5" indent="-117475"/>
            <a:r>
              <a:rPr lang="en-US" dirty="0"/>
              <a:t>Sixth level</a:t>
            </a:r>
          </a:p>
          <a:p>
            <a:pPr marL="1438275" lvl="6" indent="-117475"/>
            <a:r>
              <a:rPr lang="en-US" dirty="0"/>
              <a:t>Seventh level</a:t>
            </a:r>
          </a:p>
          <a:p>
            <a:pPr marL="1554163" lvl="7" indent="-115888">
              <a:lnSpc>
                <a:spcPct val="90000"/>
              </a:lnSpc>
            </a:pPr>
            <a:r>
              <a:rPr lang="en-US" dirty="0"/>
              <a:t>Ninth level</a:t>
            </a:r>
          </a:p>
        </p:txBody>
      </p:sp>
      <p:sp>
        <p:nvSpPr>
          <p:cNvPr id="8" name="page number">
            <a:extLst>
              <a:ext uri="{FF2B5EF4-FFF2-40B4-BE49-F238E27FC236}">
                <a16:creationId xmlns:a16="http://schemas.microsoft.com/office/drawing/2014/main" id="{EA3FFB13-8625-D245-BD64-AAC7CCCB5B6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0" name="Rectangle 9">
            <a:extLst>
              <a:ext uri="{FF2B5EF4-FFF2-40B4-BE49-F238E27FC236}">
                <a16:creationId xmlns:a16="http://schemas.microsoft.com/office/drawing/2014/main" id="{85B60DB8-F067-969E-72B5-4E90025E5BF8}"/>
              </a:ext>
              <a:ext uri="{C183D7F6-B498-43B3-948B-1728B52AA6E4}">
                <adec:decorative xmlns:adec="http://schemas.microsoft.com/office/drawing/2017/decorative" val="1"/>
              </a:ext>
            </a:extLst>
          </p:cNvPr>
          <p:cNvSpPr/>
          <p:nvPr userDrawn="1"/>
        </p:nvSpPr>
        <p:spPr>
          <a:xfrm flipV="1">
            <a:off x="9294812"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Tree>
    <p:extLst>
      <p:ext uri="{BB962C8B-B14F-4D97-AF65-F5344CB8AC3E}">
        <p14:creationId xmlns:p14="http://schemas.microsoft.com/office/powerpoint/2010/main" val="2136262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Diagram with Content on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157BCD9-063B-4ED4-B68C-092EC2C342E6}"/>
              </a:ext>
            </a:extLst>
          </p:cNvPr>
          <p:cNvSpPr>
            <a:spLocks noGrp="1"/>
          </p:cNvSpPr>
          <p:nvPr>
            <p:ph type="title" hasCustomPrompt="1"/>
          </p:nvPr>
        </p:nvSpPr>
        <p:spPr/>
        <p:txBody>
          <a:bodyPr wrap="none"/>
          <a:lstStyle>
            <a:lvl1pPr>
              <a:defRPr>
                <a:solidFill>
                  <a:schemeClr val="accent2"/>
                </a:solidFill>
              </a:defRPr>
            </a:lvl1pPr>
          </a:lstStyle>
          <a:p>
            <a:r>
              <a:rPr lang="en-US"/>
              <a:t>Diagram with Content</a:t>
            </a:r>
          </a:p>
        </p:txBody>
      </p:sp>
      <p:sp>
        <p:nvSpPr>
          <p:cNvPr id="9" name="Subtitle 2">
            <a:extLst>
              <a:ext uri="{FF2B5EF4-FFF2-40B4-BE49-F238E27FC236}">
                <a16:creationId xmlns:a16="http://schemas.microsoft.com/office/drawing/2014/main" id="{A0D276D7-17CD-46AB-99B2-97FD34FEEFF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7" name="Rectangle 6">
            <a:extLst>
              <a:ext uri="{FF2B5EF4-FFF2-40B4-BE49-F238E27FC236}">
                <a16:creationId xmlns:a16="http://schemas.microsoft.com/office/drawing/2014/main" id="{F7E2C737-3A4D-924A-88B5-FA4D5C8A07C7}"/>
              </a:ext>
              <a:ext uri="{C183D7F6-B498-43B3-948B-1728B52AA6E4}">
                <adec:decorative xmlns:adec="http://schemas.microsoft.com/office/drawing/2017/decorative" val="1"/>
              </a:ext>
            </a:extLst>
          </p:cNvPr>
          <p:cNvSpPr/>
          <p:nvPr/>
        </p:nvSpPr>
        <p:spPr>
          <a:xfrm flipV="1">
            <a:off x="8380072" y="1589923"/>
            <a:ext cx="3808754"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5" name="Text Placeholder 4">
            <a:extLst>
              <a:ext uri="{FF2B5EF4-FFF2-40B4-BE49-F238E27FC236}">
                <a16:creationId xmlns:a16="http://schemas.microsoft.com/office/drawing/2014/main" id="{7F7496CC-9DD2-4299-850C-005958FB65CC}"/>
              </a:ext>
            </a:extLst>
          </p:cNvPr>
          <p:cNvSpPr>
            <a:spLocks noGrp="1"/>
          </p:cNvSpPr>
          <p:nvPr>
            <p:ph type="body" sz="quarter" idx="17" hasCustomPrompt="1"/>
          </p:nvPr>
        </p:nvSpPr>
        <p:spPr>
          <a:xfrm>
            <a:off x="8380413" y="1600200"/>
            <a:ext cx="3808412" cy="4572000"/>
          </a:xfrm>
        </p:spPr>
        <p:txBody>
          <a:bodyPr tIns="457200" rIns="594360" bIns="457200"/>
          <a:lstStyle>
            <a:lvl1pPr>
              <a:defRPr sz="1600">
                <a:solidFill>
                  <a:schemeClr val="accent2"/>
                </a:solidFill>
              </a:defRPr>
            </a:lvl1pPr>
            <a:lvl2pPr>
              <a:buClr>
                <a:schemeClr val="accent2"/>
              </a:buClr>
              <a:defRPr sz="1400">
                <a:solidFill>
                  <a:schemeClr val="accent2"/>
                </a:solidFill>
              </a:defRPr>
            </a:lvl2pPr>
            <a:lvl3pPr>
              <a:buClr>
                <a:schemeClr val="accent2"/>
              </a:buClr>
              <a:defRPr sz="1200">
                <a:solidFill>
                  <a:schemeClr val="accent2"/>
                </a:solidFill>
              </a:defRPr>
            </a:lvl3pPr>
            <a:lvl4pPr>
              <a:buClr>
                <a:schemeClr val="accent2"/>
              </a:buClr>
              <a:defRPr sz="1100">
                <a:solidFill>
                  <a:schemeClr val="accent2"/>
                </a:solidFill>
              </a:defRPr>
            </a:lvl4pPr>
            <a:lvl5pPr>
              <a:buClr>
                <a:schemeClr val="accent2"/>
              </a:buClr>
              <a:defRPr sz="1100">
                <a:solidFill>
                  <a:schemeClr val="accent2"/>
                </a:solidFill>
              </a:defRPr>
            </a:lvl5pPr>
            <a:lvl6pPr>
              <a:buClr>
                <a:schemeClr val="accent2"/>
              </a:buClr>
              <a:defRPr sz="1100">
                <a:solidFill>
                  <a:schemeClr val="accent2"/>
                </a:solidFill>
              </a:defRPr>
            </a:lvl6pPr>
            <a:lvl7pPr>
              <a:buClr>
                <a:schemeClr val="accent2"/>
              </a:buClr>
              <a:defRPr sz="1100">
                <a:solidFill>
                  <a:schemeClr val="accent2"/>
                </a:solidFill>
              </a:defRPr>
            </a:lvl7pPr>
            <a:lvl8pPr>
              <a:buClr>
                <a:schemeClr val="accent2"/>
              </a:buClr>
              <a:defRPr sz="1100">
                <a:solidFill>
                  <a:schemeClr val="accent2"/>
                </a:solidFill>
              </a:defRPr>
            </a:lvl8pPr>
            <a:lvl9pPr>
              <a:buClr>
                <a:schemeClr val="accent2"/>
              </a:buClr>
              <a:defRPr sz="1100">
                <a:solidFill>
                  <a:schemeClr val="accent2"/>
                </a:solidFill>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1" name="page number">
            <a:extLst>
              <a:ext uri="{FF2B5EF4-FFF2-40B4-BE49-F238E27FC236}">
                <a16:creationId xmlns:a16="http://schemas.microsoft.com/office/drawing/2014/main" id="{0D34A4A0-0C07-994F-9539-A07F4B06F18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C05F02B7-B99F-8424-E971-B7478FAB40DE}"/>
              </a:ext>
            </a:extLst>
          </p:cNvPr>
          <p:cNvSpPr>
            <a:spLocks noGrp="1"/>
          </p:cNvSpPr>
          <p:nvPr>
            <p:ph sz="quarter" idx="14" hasCustomPrompt="1"/>
          </p:nvPr>
        </p:nvSpPr>
        <p:spPr bwMode="ltGray">
          <a:xfrm>
            <a:off x="608012" y="1600201"/>
            <a:ext cx="7398303" cy="4572000"/>
          </a:xfrm>
          <a:noFill/>
        </p:spPr>
        <p:txBody>
          <a:bodyPr vert="horz" lIns="594360" tIns="1371600" rIns="457200" bIns="457200" rtlCol="0">
            <a:noAutofit/>
          </a:bodyPr>
          <a:lstStyle>
            <a:lvl1pPr algn="ctr">
              <a:spcBef>
                <a:spcPts val="1200"/>
              </a:spcBef>
              <a:defRPr lang="en-US" sz="1100" dirty="0">
                <a:solidFill>
                  <a:schemeClr val="tx1"/>
                </a:solidFill>
              </a:defRPr>
            </a:lvl1pPr>
            <a:lvl2pPr>
              <a:buClr>
                <a:schemeClr val="bg1"/>
              </a:buClr>
              <a:defRPr lang="en-US" sz="1600" dirty="0">
                <a:solidFill>
                  <a:schemeClr val="bg1"/>
                </a:solidFill>
              </a:defRPr>
            </a:lvl2pPr>
            <a:lvl3pPr>
              <a:buClr>
                <a:schemeClr val="bg1"/>
              </a:buClr>
              <a:defRPr lang="en-US" sz="1400" dirty="0">
                <a:solidFill>
                  <a:schemeClr val="bg1"/>
                </a:solidFill>
              </a:defRPr>
            </a:lvl3pPr>
            <a:lvl4pPr>
              <a:buClr>
                <a:schemeClr val="bg1"/>
              </a:buClr>
              <a:defRPr lang="en-US" sz="1200" dirty="0">
                <a:solidFill>
                  <a:schemeClr val="bg1"/>
                </a:solidFill>
              </a:defRPr>
            </a:lvl4pPr>
            <a:lvl5pPr>
              <a:buClr>
                <a:schemeClr val="bg1"/>
              </a:buClr>
              <a:defRPr lang="en-US" sz="1200" dirty="0">
                <a:solidFill>
                  <a:schemeClr val="bg1"/>
                </a:solidFill>
              </a:defRPr>
            </a:lvl5pPr>
            <a:lvl6pPr>
              <a:buClrTx/>
              <a:defRPr sz="1800">
                <a:solidFill>
                  <a:schemeClr val="bg1"/>
                </a:solidFill>
              </a:defRPr>
            </a:lvl6pPr>
            <a:lvl7pPr>
              <a:buClrTx/>
              <a:defRPr sz="1400">
                <a:solidFill>
                  <a:schemeClr val="bg1"/>
                </a:solidFill>
              </a:defRPr>
            </a:lvl7pPr>
            <a:lvl8pPr>
              <a:buClrTx/>
              <a:defRPr sz="1200">
                <a:solidFill>
                  <a:schemeClr val="bg1"/>
                </a:solidFill>
              </a:defRPr>
            </a:lvl8pPr>
            <a:lvl9pPr>
              <a:buClrTx/>
              <a:defRPr sz="1800">
                <a:solidFill>
                  <a:schemeClr val="bg1"/>
                </a:solidFill>
              </a:defRPr>
            </a:lvl9pPr>
          </a:lstStyle>
          <a:p>
            <a:pPr lvl="0"/>
            <a:r>
              <a:rPr lang="en-US" dirty="0"/>
              <a:t>NOTE: This is intended for a diagram only.</a:t>
            </a:r>
            <a:br>
              <a:rPr lang="en-US" dirty="0"/>
            </a:br>
            <a:r>
              <a:rPr lang="en-US" dirty="0"/>
              <a:t>Not recommended to add text here, as it’s not formatted for it. </a:t>
            </a:r>
          </a:p>
        </p:txBody>
      </p:sp>
      <p:sp>
        <p:nvSpPr>
          <p:cNvPr id="8" name="Rectangle 7">
            <a:extLst>
              <a:ext uri="{FF2B5EF4-FFF2-40B4-BE49-F238E27FC236}">
                <a16:creationId xmlns:a16="http://schemas.microsoft.com/office/drawing/2014/main" id="{F7E2C737-3A4D-924A-88B5-FA4D5C8A07C7}"/>
              </a:ext>
              <a:ext uri="{C183D7F6-B498-43B3-948B-1728B52AA6E4}">
                <adec:decorative xmlns:adec="http://schemas.microsoft.com/office/drawing/2017/decorative" val="1"/>
              </a:ext>
            </a:extLst>
          </p:cNvPr>
          <p:cNvSpPr/>
          <p:nvPr userDrawn="1"/>
        </p:nvSpPr>
        <p:spPr>
          <a:xfrm flipV="1">
            <a:off x="8380072" y="1589923"/>
            <a:ext cx="3808754"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10" name="page number">
            <a:extLst>
              <a:ext uri="{FF2B5EF4-FFF2-40B4-BE49-F238E27FC236}">
                <a16:creationId xmlns:a16="http://schemas.microsoft.com/office/drawing/2014/main" id="{0D34A4A0-0C07-994F-9539-A07F4B06F18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1876759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Diagram with Outcome, Benefi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E15888C-CFB4-4BEC-9B94-46E698DFC481}"/>
              </a:ext>
            </a:extLst>
          </p:cNvPr>
          <p:cNvSpPr>
            <a:spLocks noGrp="1"/>
          </p:cNvSpPr>
          <p:nvPr>
            <p:ph type="title" hasCustomPrompt="1"/>
          </p:nvPr>
        </p:nvSpPr>
        <p:spPr/>
        <p:txBody>
          <a:bodyPr wrap="none"/>
          <a:lstStyle>
            <a:lvl1pPr>
              <a:defRPr>
                <a:solidFill>
                  <a:schemeClr val="accent2"/>
                </a:solidFill>
              </a:defRPr>
            </a:lvl1pPr>
          </a:lstStyle>
          <a:p>
            <a:r>
              <a:rPr lang="en-US"/>
              <a:t>Diagram with Outcome/Benefit Content</a:t>
            </a:r>
          </a:p>
        </p:txBody>
      </p:sp>
      <p:sp>
        <p:nvSpPr>
          <p:cNvPr id="19" name="Subtitle 2">
            <a:extLst>
              <a:ext uri="{FF2B5EF4-FFF2-40B4-BE49-F238E27FC236}">
                <a16:creationId xmlns:a16="http://schemas.microsoft.com/office/drawing/2014/main" id="{E9D6A872-88BD-4DFC-AFFD-1E9BEEB6533B}"/>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cxnSp>
        <p:nvCxnSpPr>
          <p:cNvPr id="138" name="Straight Connector 137">
            <a:extLst>
              <a:ext uri="{FF2B5EF4-FFF2-40B4-BE49-F238E27FC236}">
                <a16:creationId xmlns:a16="http://schemas.microsoft.com/office/drawing/2014/main" id="{56D4D92B-574E-4F63-A5BA-8F7282B54C27}"/>
              </a:ext>
              <a:ext uri="{C183D7F6-B498-43B3-948B-1728B52AA6E4}">
                <adec:decorative xmlns:adec="http://schemas.microsoft.com/office/drawing/2017/decorative" val="1"/>
              </a:ext>
            </a:extLst>
          </p:cNvPr>
          <p:cNvCxnSpPr>
            <a:cxnSpLocks/>
          </p:cNvCxnSpPr>
          <p:nvPr/>
        </p:nvCxnSpPr>
        <p:spPr>
          <a:xfrm>
            <a:off x="8380413" y="1608668"/>
            <a:ext cx="3808412" cy="0"/>
          </a:xfrm>
          <a:prstGeom prst="line">
            <a:avLst/>
          </a:prstGeom>
          <a:ln w="25400">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 Placeholder 6">
            <a:extLst>
              <a:ext uri="{FF2B5EF4-FFF2-40B4-BE49-F238E27FC236}">
                <a16:creationId xmlns:a16="http://schemas.microsoft.com/office/drawing/2014/main" id="{9005EB21-86C3-42EF-BFE7-549D9EA3645A}"/>
              </a:ext>
            </a:extLst>
          </p:cNvPr>
          <p:cNvSpPr>
            <a:spLocks noGrp="1"/>
          </p:cNvSpPr>
          <p:nvPr>
            <p:ph type="body" sz="quarter" idx="17" hasCustomPrompt="1"/>
          </p:nvPr>
        </p:nvSpPr>
        <p:spPr>
          <a:xfrm>
            <a:off x="8380413" y="1699688"/>
            <a:ext cx="3200400" cy="298450"/>
          </a:xfrm>
        </p:spPr>
        <p:txBody>
          <a:bodyPr anchor="b"/>
          <a:lstStyle>
            <a:lvl1pPr>
              <a:defRPr sz="1800">
                <a:solidFill>
                  <a:schemeClr val="accent2"/>
                </a:solidFill>
              </a:defRPr>
            </a:lvl1pPr>
            <a:lvl5pPr>
              <a:defRPr/>
            </a:lvl5pPr>
          </a:lstStyle>
          <a:p>
            <a:pPr lvl="0"/>
            <a:r>
              <a:rPr lang="en-US"/>
              <a:t>Outcome</a:t>
            </a:r>
          </a:p>
        </p:txBody>
      </p:sp>
      <p:sp>
        <p:nvSpPr>
          <p:cNvPr id="4" name="Text Placeholder 3">
            <a:extLst>
              <a:ext uri="{FF2B5EF4-FFF2-40B4-BE49-F238E27FC236}">
                <a16:creationId xmlns:a16="http://schemas.microsoft.com/office/drawing/2014/main" id="{A8781D19-2DDB-4D83-983D-3D159A7DE7C0}"/>
              </a:ext>
            </a:extLst>
          </p:cNvPr>
          <p:cNvSpPr>
            <a:spLocks noGrp="1"/>
          </p:cNvSpPr>
          <p:nvPr>
            <p:ph type="body" sz="quarter" idx="20" hasCustomPrompt="1"/>
          </p:nvPr>
        </p:nvSpPr>
        <p:spPr>
          <a:xfrm>
            <a:off x="8378825" y="2063048"/>
            <a:ext cx="3201988" cy="1600200"/>
          </a:xfrm>
        </p:spPr>
        <p:txBody>
          <a:bodyPr/>
          <a:lstStyle>
            <a:lvl1pPr>
              <a:defRPr sz="1600">
                <a:solidFill>
                  <a:schemeClr val="tx1"/>
                </a:solidFill>
              </a:defRPr>
            </a:lvl1pPr>
            <a:lvl2pPr>
              <a:defRPr sz="1400">
                <a:solidFill>
                  <a:schemeClr val="tx1"/>
                </a:solidFill>
              </a:defRPr>
            </a:lvl2pPr>
            <a:lvl3pPr>
              <a:defRPr sz="1400">
                <a:solidFill>
                  <a:schemeClr val="tx1"/>
                </a:solidFill>
              </a:defRPr>
            </a:lvl3pPr>
          </a:lstStyle>
          <a:p>
            <a:pPr lvl="0"/>
            <a:r>
              <a:rPr lang="en-US" dirty="0"/>
              <a:t>Click to add text</a:t>
            </a:r>
          </a:p>
          <a:p>
            <a:pPr lvl="1"/>
            <a:r>
              <a:rPr lang="en-US" dirty="0"/>
              <a:t>Second level</a:t>
            </a:r>
          </a:p>
          <a:p>
            <a:pPr lvl="2"/>
            <a:r>
              <a:rPr lang="en-US" dirty="0"/>
              <a:t>Third level</a:t>
            </a:r>
          </a:p>
        </p:txBody>
      </p:sp>
      <p:cxnSp>
        <p:nvCxnSpPr>
          <p:cNvPr id="75" name="Straight Connector 74">
            <a:extLst>
              <a:ext uri="{FF2B5EF4-FFF2-40B4-BE49-F238E27FC236}">
                <a16:creationId xmlns:a16="http://schemas.microsoft.com/office/drawing/2014/main" id="{F789B473-DDE6-4450-A111-3761F341AAE3}"/>
              </a:ext>
              <a:ext uri="{C183D7F6-B498-43B3-948B-1728B52AA6E4}">
                <adec:decorative xmlns:adec="http://schemas.microsoft.com/office/drawing/2017/decorative" val="1"/>
              </a:ext>
            </a:extLst>
          </p:cNvPr>
          <p:cNvCxnSpPr>
            <a:cxnSpLocks/>
          </p:cNvCxnSpPr>
          <p:nvPr/>
        </p:nvCxnSpPr>
        <p:spPr>
          <a:xfrm>
            <a:off x="8380413" y="3872441"/>
            <a:ext cx="3808412" cy="0"/>
          </a:xfrm>
          <a:prstGeom prst="line">
            <a:avLst/>
          </a:prstGeom>
          <a:ln w="25400">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Text Placeholder 6">
            <a:extLst>
              <a:ext uri="{FF2B5EF4-FFF2-40B4-BE49-F238E27FC236}">
                <a16:creationId xmlns:a16="http://schemas.microsoft.com/office/drawing/2014/main" id="{0D0977FA-A4CA-4F1F-8109-D7498D165EDD}"/>
              </a:ext>
            </a:extLst>
          </p:cNvPr>
          <p:cNvSpPr>
            <a:spLocks noGrp="1"/>
          </p:cNvSpPr>
          <p:nvPr>
            <p:ph type="body" sz="quarter" idx="19" hasCustomPrompt="1"/>
          </p:nvPr>
        </p:nvSpPr>
        <p:spPr>
          <a:xfrm>
            <a:off x="8380413" y="3972469"/>
            <a:ext cx="3200400" cy="298450"/>
          </a:xfrm>
        </p:spPr>
        <p:txBody>
          <a:bodyPr anchor="b"/>
          <a:lstStyle>
            <a:lvl1pPr>
              <a:defRPr sz="1800">
                <a:solidFill>
                  <a:schemeClr val="accent4"/>
                </a:solidFill>
              </a:defRPr>
            </a:lvl1pPr>
            <a:lvl5pPr>
              <a:defRPr/>
            </a:lvl5pPr>
          </a:lstStyle>
          <a:p>
            <a:pPr lvl="0"/>
            <a:r>
              <a:rPr lang="en-US"/>
              <a:t>Benefit</a:t>
            </a:r>
          </a:p>
        </p:txBody>
      </p:sp>
      <p:sp>
        <p:nvSpPr>
          <p:cNvPr id="16" name="Text Placeholder 3">
            <a:extLst>
              <a:ext uri="{FF2B5EF4-FFF2-40B4-BE49-F238E27FC236}">
                <a16:creationId xmlns:a16="http://schemas.microsoft.com/office/drawing/2014/main" id="{BB1458BF-96C1-46C6-A67F-AD0FB4B4E5C0}"/>
              </a:ext>
            </a:extLst>
          </p:cNvPr>
          <p:cNvSpPr>
            <a:spLocks noGrp="1"/>
          </p:cNvSpPr>
          <p:nvPr>
            <p:ph type="body" sz="quarter" idx="21" hasCustomPrompt="1"/>
          </p:nvPr>
        </p:nvSpPr>
        <p:spPr>
          <a:xfrm>
            <a:off x="8378825" y="4347904"/>
            <a:ext cx="3201988" cy="1600200"/>
          </a:xfrm>
        </p:spPr>
        <p:txBody>
          <a:bodyPr/>
          <a:lstStyle>
            <a:lvl1pPr>
              <a:defRPr sz="1600">
                <a:solidFill>
                  <a:schemeClr val="tx1"/>
                </a:solidFill>
              </a:defRPr>
            </a:lvl1pPr>
            <a:lvl2pPr>
              <a:defRPr sz="1400">
                <a:solidFill>
                  <a:schemeClr val="tx1"/>
                </a:solidFill>
              </a:defRPr>
            </a:lvl2pPr>
            <a:lvl3pPr>
              <a:defRPr sz="1400">
                <a:solidFill>
                  <a:schemeClr val="tx1"/>
                </a:solidFill>
              </a:defRPr>
            </a:lvl3pPr>
          </a:lstStyle>
          <a:p>
            <a:pPr lvl="0"/>
            <a:r>
              <a:rPr lang="en-US"/>
              <a:t>Click to add text</a:t>
            </a:r>
          </a:p>
          <a:p>
            <a:pPr lvl="1"/>
            <a:r>
              <a:rPr lang="en-US"/>
              <a:t>Second level</a:t>
            </a:r>
          </a:p>
          <a:p>
            <a:pPr lvl="2"/>
            <a:r>
              <a:rPr lang="en-US"/>
              <a:t>Third level</a:t>
            </a:r>
          </a:p>
        </p:txBody>
      </p:sp>
      <p:sp>
        <p:nvSpPr>
          <p:cNvPr id="13" name="page number">
            <a:extLst>
              <a:ext uri="{FF2B5EF4-FFF2-40B4-BE49-F238E27FC236}">
                <a16:creationId xmlns:a16="http://schemas.microsoft.com/office/drawing/2014/main" id="{2520CB7B-27A1-0749-95BA-681D8A0535D2}"/>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Content Placeholder 17">
            <a:extLst>
              <a:ext uri="{FF2B5EF4-FFF2-40B4-BE49-F238E27FC236}">
                <a16:creationId xmlns:a16="http://schemas.microsoft.com/office/drawing/2014/main" id="{81258617-CE72-E542-2E67-9B2874ED90B7}"/>
              </a:ext>
            </a:extLst>
          </p:cNvPr>
          <p:cNvSpPr>
            <a:spLocks noGrp="1"/>
          </p:cNvSpPr>
          <p:nvPr>
            <p:ph sz="quarter" idx="14" hasCustomPrompt="1"/>
          </p:nvPr>
        </p:nvSpPr>
        <p:spPr bwMode="ltGray">
          <a:xfrm>
            <a:off x="608012" y="1600201"/>
            <a:ext cx="7398303" cy="4572000"/>
          </a:xfrm>
          <a:noFill/>
        </p:spPr>
        <p:txBody>
          <a:bodyPr vert="horz" lIns="594360" tIns="1371600" rIns="457200" bIns="457200" rtlCol="0">
            <a:noAutofit/>
          </a:bodyPr>
          <a:lstStyle>
            <a:lvl1pPr algn="ctr">
              <a:spcBef>
                <a:spcPts val="1200"/>
              </a:spcBef>
              <a:defRPr lang="en-US" sz="1100" dirty="0">
                <a:solidFill>
                  <a:schemeClr val="tx1"/>
                </a:solidFill>
              </a:defRPr>
            </a:lvl1pPr>
            <a:lvl2pPr>
              <a:buClr>
                <a:schemeClr val="bg1"/>
              </a:buClr>
              <a:defRPr lang="en-US" sz="1600" dirty="0">
                <a:solidFill>
                  <a:schemeClr val="bg1"/>
                </a:solidFill>
              </a:defRPr>
            </a:lvl2pPr>
            <a:lvl3pPr>
              <a:buClr>
                <a:schemeClr val="bg1"/>
              </a:buClr>
              <a:defRPr lang="en-US" sz="1400" dirty="0">
                <a:solidFill>
                  <a:schemeClr val="bg1"/>
                </a:solidFill>
              </a:defRPr>
            </a:lvl3pPr>
            <a:lvl4pPr>
              <a:buClr>
                <a:schemeClr val="bg1"/>
              </a:buClr>
              <a:defRPr lang="en-US" sz="1200" dirty="0">
                <a:solidFill>
                  <a:schemeClr val="bg1"/>
                </a:solidFill>
              </a:defRPr>
            </a:lvl4pPr>
            <a:lvl5pPr>
              <a:buClr>
                <a:schemeClr val="bg1"/>
              </a:buClr>
              <a:defRPr lang="en-US" sz="1200" dirty="0">
                <a:solidFill>
                  <a:schemeClr val="bg1"/>
                </a:solidFill>
              </a:defRPr>
            </a:lvl5pPr>
            <a:lvl6pPr>
              <a:buClrTx/>
              <a:defRPr sz="1800">
                <a:solidFill>
                  <a:schemeClr val="bg1"/>
                </a:solidFill>
              </a:defRPr>
            </a:lvl6pPr>
            <a:lvl7pPr>
              <a:buClrTx/>
              <a:defRPr sz="1400">
                <a:solidFill>
                  <a:schemeClr val="bg1"/>
                </a:solidFill>
              </a:defRPr>
            </a:lvl7pPr>
            <a:lvl8pPr>
              <a:buClrTx/>
              <a:defRPr sz="1200">
                <a:solidFill>
                  <a:schemeClr val="bg1"/>
                </a:solidFill>
              </a:defRPr>
            </a:lvl8pPr>
            <a:lvl9pPr>
              <a:buClrTx/>
              <a:defRPr sz="1800">
                <a:solidFill>
                  <a:schemeClr val="bg1"/>
                </a:solidFill>
              </a:defRPr>
            </a:lvl9pPr>
          </a:lstStyle>
          <a:p>
            <a:pPr lvl="0"/>
            <a:r>
              <a:rPr lang="en-US"/>
              <a:t>NOTE: This is intended for a diagram only.</a:t>
            </a:r>
            <a:br>
              <a:rPr lang="en-US"/>
            </a:br>
            <a:r>
              <a:rPr lang="en-US"/>
              <a:t>Not recommended to add text here, as it’s not formatted for it. </a:t>
            </a:r>
          </a:p>
        </p:txBody>
      </p:sp>
      <p:cxnSp>
        <p:nvCxnSpPr>
          <p:cNvPr id="12" name="Straight Connector 11">
            <a:extLst>
              <a:ext uri="{FF2B5EF4-FFF2-40B4-BE49-F238E27FC236}">
                <a16:creationId xmlns:a16="http://schemas.microsoft.com/office/drawing/2014/main" id="{56D4D92B-574E-4F63-A5BA-8F7282B54C27}"/>
              </a:ext>
              <a:ext uri="{C183D7F6-B498-43B3-948B-1728B52AA6E4}">
                <adec:decorative xmlns:adec="http://schemas.microsoft.com/office/drawing/2017/decorative" val="1"/>
              </a:ext>
            </a:extLst>
          </p:cNvPr>
          <p:cNvCxnSpPr>
            <a:cxnSpLocks/>
          </p:cNvCxnSpPr>
          <p:nvPr userDrawn="1"/>
        </p:nvCxnSpPr>
        <p:spPr>
          <a:xfrm>
            <a:off x="8380413" y="1608668"/>
            <a:ext cx="3808412" cy="0"/>
          </a:xfrm>
          <a:prstGeom prst="line">
            <a:avLst/>
          </a:prstGeom>
          <a:ln w="25400">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89B473-DDE6-4450-A111-3761F341AAE3}"/>
              </a:ext>
              <a:ext uri="{C183D7F6-B498-43B3-948B-1728B52AA6E4}">
                <adec:decorative xmlns:adec="http://schemas.microsoft.com/office/drawing/2017/decorative" val="1"/>
              </a:ext>
            </a:extLst>
          </p:cNvPr>
          <p:cNvCxnSpPr>
            <a:cxnSpLocks/>
          </p:cNvCxnSpPr>
          <p:nvPr userDrawn="1"/>
        </p:nvCxnSpPr>
        <p:spPr>
          <a:xfrm>
            <a:off x="8380413" y="3872441"/>
            <a:ext cx="3808412" cy="0"/>
          </a:xfrm>
          <a:prstGeom prst="line">
            <a:avLst/>
          </a:prstGeom>
          <a:ln w="25400">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page number">
            <a:extLst>
              <a:ext uri="{FF2B5EF4-FFF2-40B4-BE49-F238E27FC236}">
                <a16:creationId xmlns:a16="http://schemas.microsoft.com/office/drawing/2014/main" id="{2520CB7B-27A1-0749-95BA-681D8A0535D2}"/>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5450809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Customer Success">
    <p:spTree>
      <p:nvGrpSpPr>
        <p:cNvPr id="1" name=""/>
        <p:cNvGrpSpPr/>
        <p:nvPr/>
      </p:nvGrpSpPr>
      <p:grpSpPr>
        <a:xfrm>
          <a:off x="0" y="0"/>
          <a:ext cx="0" cy="0"/>
          <a:chOff x="0" y="0"/>
          <a:chExt cx="0" cy="0"/>
        </a:xfrm>
      </p:grpSpPr>
      <p:sp>
        <p:nvSpPr>
          <p:cNvPr id="53" name="Title 1">
            <a:extLst>
              <a:ext uri="{FF2B5EF4-FFF2-40B4-BE49-F238E27FC236}">
                <a16:creationId xmlns:a16="http://schemas.microsoft.com/office/drawing/2014/main" id="{05E46EAA-9D16-0D47-AF18-92C449033DAC}"/>
              </a:ext>
            </a:extLst>
          </p:cNvPr>
          <p:cNvSpPr>
            <a:spLocks noGrp="1"/>
          </p:cNvSpPr>
          <p:nvPr>
            <p:ph type="title" hasCustomPrompt="1"/>
          </p:nvPr>
        </p:nvSpPr>
        <p:spPr>
          <a:xfrm>
            <a:off x="579809" y="412751"/>
            <a:ext cx="11001004" cy="381000"/>
          </a:xfrm>
        </p:spPr>
        <p:txBody>
          <a:bodyPr/>
          <a:lstStyle>
            <a:lvl1pPr>
              <a:defRPr>
                <a:solidFill>
                  <a:schemeClr val="accent2"/>
                </a:solidFill>
              </a:defRPr>
            </a:lvl1pPr>
          </a:lstStyle>
          <a:p>
            <a:r>
              <a:rPr lang="en-US"/>
              <a:t>Customer Success – add Company Name here</a:t>
            </a:r>
          </a:p>
        </p:txBody>
      </p:sp>
      <p:sp>
        <p:nvSpPr>
          <p:cNvPr id="52" name="Subtitle 2">
            <a:extLst>
              <a:ext uri="{FF2B5EF4-FFF2-40B4-BE49-F238E27FC236}">
                <a16:creationId xmlns:a16="http://schemas.microsoft.com/office/drawing/2014/main" id="{CEFD99AC-6466-F04E-8E45-7EEEEA01BA6C}"/>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the highlighted business impact</a:t>
            </a:r>
          </a:p>
        </p:txBody>
      </p:sp>
      <p:cxnSp>
        <p:nvCxnSpPr>
          <p:cNvPr id="30" name="Straight Connector 29">
            <a:extLst>
              <a:ext uri="{FF2B5EF4-FFF2-40B4-BE49-F238E27FC236}">
                <a16:creationId xmlns:a16="http://schemas.microsoft.com/office/drawing/2014/main" id="{14F46384-B6E3-0D43-924E-874DEC2344B1}"/>
              </a:ext>
              <a:ext uri="{C183D7F6-B498-43B3-948B-1728B52AA6E4}">
                <adec:decorative xmlns:adec="http://schemas.microsoft.com/office/drawing/2017/decorative" val="1"/>
              </a:ext>
            </a:extLst>
          </p:cNvPr>
          <p:cNvCxnSpPr>
            <a:cxnSpLocks/>
          </p:cNvCxnSpPr>
          <p:nvPr/>
        </p:nvCxnSpPr>
        <p:spPr>
          <a:xfrm>
            <a:off x="609600"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Content Placeholder 17">
            <a:extLst>
              <a:ext uri="{FF2B5EF4-FFF2-40B4-BE49-F238E27FC236}">
                <a16:creationId xmlns:a16="http://schemas.microsoft.com/office/drawing/2014/main" id="{767C0863-B9D1-344E-A978-CD49E9400F6F}"/>
              </a:ext>
            </a:extLst>
          </p:cNvPr>
          <p:cNvSpPr>
            <a:spLocks noGrp="1"/>
          </p:cNvSpPr>
          <p:nvPr>
            <p:ph sz="quarter" idx="16" hasCustomPrompt="1"/>
          </p:nvPr>
        </p:nvSpPr>
        <p:spPr>
          <a:xfrm>
            <a:off x="611645" y="1901093"/>
            <a:ext cx="3201848" cy="1214595"/>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dirty="0"/>
              <a:t>Click to add text</a:t>
            </a:r>
          </a:p>
          <a:p>
            <a:pPr lvl="1"/>
            <a:r>
              <a:rPr lang="en-US" dirty="0"/>
              <a:t>Second level</a:t>
            </a:r>
          </a:p>
        </p:txBody>
      </p:sp>
      <p:cxnSp>
        <p:nvCxnSpPr>
          <p:cNvPr id="39" name="Straight Connector 38">
            <a:extLst>
              <a:ext uri="{FF2B5EF4-FFF2-40B4-BE49-F238E27FC236}">
                <a16:creationId xmlns:a16="http://schemas.microsoft.com/office/drawing/2014/main" id="{33526770-8F35-FB4A-8638-521D0DA87F6C}"/>
              </a:ext>
              <a:ext uri="{C183D7F6-B498-43B3-948B-1728B52AA6E4}">
                <adec:decorative xmlns:adec="http://schemas.microsoft.com/office/drawing/2017/decorative" val="1"/>
              </a:ext>
            </a:extLst>
          </p:cNvPr>
          <p:cNvCxnSpPr>
            <a:cxnSpLocks/>
          </p:cNvCxnSpPr>
          <p:nvPr/>
        </p:nvCxnSpPr>
        <p:spPr>
          <a:xfrm>
            <a:off x="4412165"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Content Placeholder 17">
            <a:extLst>
              <a:ext uri="{FF2B5EF4-FFF2-40B4-BE49-F238E27FC236}">
                <a16:creationId xmlns:a16="http://schemas.microsoft.com/office/drawing/2014/main" id="{A2B343CF-FF49-7E4F-A7C9-0593553254F3}"/>
              </a:ext>
            </a:extLst>
          </p:cNvPr>
          <p:cNvSpPr>
            <a:spLocks noGrp="1"/>
          </p:cNvSpPr>
          <p:nvPr>
            <p:ph sz="quarter" idx="20" hasCustomPrompt="1"/>
          </p:nvPr>
        </p:nvSpPr>
        <p:spPr>
          <a:xfrm>
            <a:off x="4414210" y="1901094"/>
            <a:ext cx="3201848" cy="1225566"/>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31" name="Straight Connector 30">
            <a:extLst>
              <a:ext uri="{FF2B5EF4-FFF2-40B4-BE49-F238E27FC236}">
                <a16:creationId xmlns:a16="http://schemas.microsoft.com/office/drawing/2014/main" id="{73C08A52-2522-8C40-B8B1-C98FEBB888F7}"/>
              </a:ext>
              <a:ext uri="{C183D7F6-B498-43B3-948B-1728B52AA6E4}">
                <adec:decorative xmlns:adec="http://schemas.microsoft.com/office/drawing/2017/decorative" val="1"/>
              </a:ext>
            </a:extLst>
          </p:cNvPr>
          <p:cNvCxnSpPr>
            <a:cxnSpLocks/>
          </p:cNvCxnSpPr>
          <p:nvPr/>
        </p:nvCxnSpPr>
        <p:spPr>
          <a:xfrm>
            <a:off x="609600"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Content Placeholder 17">
            <a:extLst>
              <a:ext uri="{FF2B5EF4-FFF2-40B4-BE49-F238E27FC236}">
                <a16:creationId xmlns:a16="http://schemas.microsoft.com/office/drawing/2014/main" id="{65BA7F3E-AD8D-A54C-B026-DAA8FC9C0540}"/>
              </a:ext>
            </a:extLst>
          </p:cNvPr>
          <p:cNvSpPr>
            <a:spLocks noGrp="1"/>
          </p:cNvSpPr>
          <p:nvPr>
            <p:ph sz="quarter" idx="18" hasCustomPrompt="1"/>
          </p:nvPr>
        </p:nvSpPr>
        <p:spPr>
          <a:xfrm>
            <a:off x="611645" y="3693430"/>
            <a:ext cx="3201848" cy="1110049"/>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40" name="Straight Connector 39">
            <a:extLst>
              <a:ext uri="{FF2B5EF4-FFF2-40B4-BE49-F238E27FC236}">
                <a16:creationId xmlns:a16="http://schemas.microsoft.com/office/drawing/2014/main" id="{9B57CCC6-06B1-7342-99B0-BC7C8FBE5E73}"/>
              </a:ext>
              <a:ext uri="{C183D7F6-B498-43B3-948B-1728B52AA6E4}">
                <adec:decorative xmlns:adec="http://schemas.microsoft.com/office/drawing/2017/decorative" val="1"/>
              </a:ext>
            </a:extLst>
          </p:cNvPr>
          <p:cNvCxnSpPr>
            <a:cxnSpLocks/>
          </p:cNvCxnSpPr>
          <p:nvPr/>
        </p:nvCxnSpPr>
        <p:spPr>
          <a:xfrm>
            <a:off x="4412165"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Content Placeholder 17">
            <a:extLst>
              <a:ext uri="{FF2B5EF4-FFF2-40B4-BE49-F238E27FC236}">
                <a16:creationId xmlns:a16="http://schemas.microsoft.com/office/drawing/2014/main" id="{3265790D-1104-8D4D-A8C6-F7A7E77F664C}"/>
              </a:ext>
            </a:extLst>
          </p:cNvPr>
          <p:cNvSpPr>
            <a:spLocks noGrp="1"/>
          </p:cNvSpPr>
          <p:nvPr>
            <p:ph sz="quarter" idx="22" hasCustomPrompt="1"/>
          </p:nvPr>
        </p:nvSpPr>
        <p:spPr>
          <a:xfrm>
            <a:off x="4414210" y="3693430"/>
            <a:ext cx="3201848" cy="1132351"/>
          </a:xfrm>
          <a:noFill/>
        </p:spPr>
        <p:txBody>
          <a:bodyPr vert="horz" lIns="0" tIns="0" rIns="0" bIns="457200" rtlCol="0">
            <a:noAutofit/>
          </a:bodyPr>
          <a:lstStyle>
            <a:lvl1pPr>
              <a:lnSpc>
                <a:spcPct val="100000"/>
              </a:lnSpc>
              <a:spcBef>
                <a:spcPts val="0"/>
              </a:spcBef>
              <a:spcAft>
                <a:spcPts val="300"/>
              </a:spcAft>
              <a:defRPr lang="en-US" sz="1050" dirty="0">
                <a:solidFill>
                  <a:schemeClr val="tx1"/>
                </a:solidFill>
              </a:defRPr>
            </a:lvl1pPr>
            <a:lvl2pPr marL="114300" indent="-114300">
              <a:lnSpc>
                <a:spcPct val="100000"/>
              </a:lnSpc>
              <a:spcBef>
                <a:spcPts val="0"/>
              </a:spcBef>
              <a:spcAft>
                <a:spcPts val="300"/>
              </a:spcAft>
              <a:defRPr lang="en-US" sz="1000" dirty="0">
                <a:solidFill>
                  <a:schemeClr val="tx1"/>
                </a:solidFill>
              </a:defRPr>
            </a:lvl2pPr>
            <a:lvl3pPr>
              <a:defRPr lang="en-US" sz="1400" dirty="0">
                <a:solidFill>
                  <a:schemeClr val="tx2"/>
                </a:solidFill>
              </a:defRPr>
            </a:lvl3pPr>
            <a:lvl4pPr>
              <a:defRPr lang="en-US" sz="1200" dirty="0">
                <a:solidFill>
                  <a:schemeClr val="tx2"/>
                </a:solidFill>
              </a:defRPr>
            </a:lvl4pPr>
            <a:lvl5pPr>
              <a:defRPr lang="en-US" sz="1200" dirty="0">
                <a:solidFill>
                  <a:schemeClr val="tx2"/>
                </a:solidFill>
              </a:defRPr>
            </a:lvl5pPr>
          </a:lstStyle>
          <a:p>
            <a:pPr lvl="0"/>
            <a:r>
              <a:rPr lang="en-US"/>
              <a:t>Click to add text</a:t>
            </a:r>
          </a:p>
          <a:p>
            <a:pPr lvl="1"/>
            <a:r>
              <a:rPr lang="en-US"/>
              <a:t>Second level</a:t>
            </a:r>
          </a:p>
        </p:txBody>
      </p:sp>
      <p:cxnSp>
        <p:nvCxnSpPr>
          <p:cNvPr id="55" name="Straight Connector 54">
            <a:extLst>
              <a:ext uri="{FF2B5EF4-FFF2-40B4-BE49-F238E27FC236}">
                <a16:creationId xmlns:a16="http://schemas.microsoft.com/office/drawing/2014/main" id="{23C87E7C-5ED2-214E-8A38-ED05177A65DC}"/>
              </a:ext>
              <a:ext uri="{C183D7F6-B498-43B3-948B-1728B52AA6E4}">
                <adec:decorative xmlns:adec="http://schemas.microsoft.com/office/drawing/2017/decorative" val="1"/>
              </a:ext>
            </a:extLst>
          </p:cNvPr>
          <p:cNvCxnSpPr>
            <a:cxnSpLocks/>
          </p:cNvCxnSpPr>
          <p:nvPr/>
        </p:nvCxnSpPr>
        <p:spPr>
          <a:xfrm>
            <a:off x="608739"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Text Placeholder 6">
            <a:extLst>
              <a:ext uri="{FF2B5EF4-FFF2-40B4-BE49-F238E27FC236}">
                <a16:creationId xmlns:a16="http://schemas.microsoft.com/office/drawing/2014/main" id="{F0EFE66F-363C-804E-BABD-F54C3E33FDEA}"/>
              </a:ext>
            </a:extLst>
          </p:cNvPr>
          <p:cNvSpPr>
            <a:spLocks noGrp="1"/>
          </p:cNvSpPr>
          <p:nvPr>
            <p:ph type="body" sz="quarter" idx="31" hasCustomPrompt="1"/>
          </p:nvPr>
        </p:nvSpPr>
        <p:spPr>
          <a:xfrm>
            <a:off x="613093" y="5327336"/>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One</a:t>
            </a:r>
          </a:p>
        </p:txBody>
      </p:sp>
      <p:sp>
        <p:nvSpPr>
          <p:cNvPr id="57" name="Text Placeholder 6">
            <a:extLst>
              <a:ext uri="{FF2B5EF4-FFF2-40B4-BE49-F238E27FC236}">
                <a16:creationId xmlns:a16="http://schemas.microsoft.com/office/drawing/2014/main" id="{0166C751-50F5-8B4F-9A97-B83901E78B00}"/>
              </a:ext>
            </a:extLst>
          </p:cNvPr>
          <p:cNvSpPr>
            <a:spLocks noGrp="1"/>
          </p:cNvSpPr>
          <p:nvPr>
            <p:ph type="body" sz="quarter" idx="33" hasCustomPrompt="1"/>
          </p:nvPr>
        </p:nvSpPr>
        <p:spPr>
          <a:xfrm>
            <a:off x="613093" y="5593624"/>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Two</a:t>
            </a:r>
          </a:p>
        </p:txBody>
      </p:sp>
      <p:sp>
        <p:nvSpPr>
          <p:cNvPr id="58" name="Text Placeholder 6">
            <a:extLst>
              <a:ext uri="{FF2B5EF4-FFF2-40B4-BE49-F238E27FC236}">
                <a16:creationId xmlns:a16="http://schemas.microsoft.com/office/drawing/2014/main" id="{0D57825D-E522-644D-8F4A-0B77A7036EBF}"/>
              </a:ext>
            </a:extLst>
          </p:cNvPr>
          <p:cNvSpPr>
            <a:spLocks noGrp="1"/>
          </p:cNvSpPr>
          <p:nvPr>
            <p:ph type="body" sz="quarter" idx="35" hasCustomPrompt="1"/>
          </p:nvPr>
        </p:nvSpPr>
        <p:spPr>
          <a:xfrm>
            <a:off x="613093" y="5859911"/>
            <a:ext cx="3200400" cy="227454"/>
          </a:xfrm>
        </p:spPr>
        <p:txBody>
          <a:bodyPr anchor="b"/>
          <a:lstStyle>
            <a:lvl1pPr algn="l">
              <a:lnSpc>
                <a:spcPct val="100000"/>
              </a:lnSpc>
              <a:spcBef>
                <a:spcPts val="0"/>
              </a:spcBef>
              <a:defRPr sz="1000">
                <a:solidFill>
                  <a:schemeClr val="tx1"/>
                </a:solidFill>
              </a:defRPr>
            </a:lvl1pPr>
            <a:lvl5pPr>
              <a:defRPr/>
            </a:lvl5pPr>
          </a:lstStyle>
          <a:p>
            <a:pPr lvl="0"/>
            <a:r>
              <a:rPr lang="en-US"/>
              <a:t>Product Three</a:t>
            </a:r>
          </a:p>
        </p:txBody>
      </p:sp>
      <p:sp>
        <p:nvSpPr>
          <p:cNvPr id="61" name="Text Placeholder 6">
            <a:extLst>
              <a:ext uri="{FF2B5EF4-FFF2-40B4-BE49-F238E27FC236}">
                <a16:creationId xmlns:a16="http://schemas.microsoft.com/office/drawing/2014/main" id="{EBAAD5C6-0007-A84B-A2C2-FCC2F00B4295}"/>
              </a:ext>
            </a:extLst>
          </p:cNvPr>
          <p:cNvSpPr>
            <a:spLocks noGrp="1"/>
          </p:cNvSpPr>
          <p:nvPr>
            <p:ph type="body" sz="quarter" idx="36" hasCustomPrompt="1"/>
          </p:nvPr>
        </p:nvSpPr>
        <p:spPr>
          <a:xfrm>
            <a:off x="4400790" y="5327336"/>
            <a:ext cx="3227148"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One</a:t>
            </a:r>
          </a:p>
        </p:txBody>
      </p:sp>
      <p:sp>
        <p:nvSpPr>
          <p:cNvPr id="62" name="Text Placeholder 6">
            <a:extLst>
              <a:ext uri="{FF2B5EF4-FFF2-40B4-BE49-F238E27FC236}">
                <a16:creationId xmlns:a16="http://schemas.microsoft.com/office/drawing/2014/main" id="{A8B7A6ED-D85B-2E4C-BCD6-D130232A3F76}"/>
              </a:ext>
            </a:extLst>
          </p:cNvPr>
          <p:cNvSpPr>
            <a:spLocks noGrp="1"/>
          </p:cNvSpPr>
          <p:nvPr>
            <p:ph type="body" sz="quarter" idx="37" hasCustomPrompt="1"/>
          </p:nvPr>
        </p:nvSpPr>
        <p:spPr>
          <a:xfrm>
            <a:off x="4400790" y="5593624"/>
            <a:ext cx="3227148"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Two</a:t>
            </a:r>
          </a:p>
        </p:txBody>
      </p:sp>
      <p:sp>
        <p:nvSpPr>
          <p:cNvPr id="63" name="Text Placeholder 6">
            <a:extLst>
              <a:ext uri="{FF2B5EF4-FFF2-40B4-BE49-F238E27FC236}">
                <a16:creationId xmlns:a16="http://schemas.microsoft.com/office/drawing/2014/main" id="{C507BC1F-4225-8C48-9110-5D75D900FFC0}"/>
              </a:ext>
            </a:extLst>
          </p:cNvPr>
          <p:cNvSpPr>
            <a:spLocks noGrp="1"/>
          </p:cNvSpPr>
          <p:nvPr>
            <p:ph type="body" sz="quarter" idx="38" hasCustomPrompt="1"/>
          </p:nvPr>
        </p:nvSpPr>
        <p:spPr>
          <a:xfrm>
            <a:off x="4400790" y="5859911"/>
            <a:ext cx="3227148" cy="227454"/>
          </a:xfrm>
        </p:spPr>
        <p:txBody>
          <a:bodyPr anchor="b"/>
          <a:lstStyle>
            <a:lvl1pPr algn="l">
              <a:lnSpc>
                <a:spcPct val="100000"/>
              </a:lnSpc>
              <a:spcBef>
                <a:spcPts val="0"/>
              </a:spcBef>
              <a:defRPr sz="1000">
                <a:solidFill>
                  <a:schemeClr val="tx1"/>
                </a:solidFill>
              </a:defRPr>
            </a:lvl1pPr>
            <a:lvl5pPr>
              <a:defRPr/>
            </a:lvl5pPr>
          </a:lstStyle>
          <a:p>
            <a:pPr lvl="0"/>
            <a:r>
              <a:rPr lang="en-US"/>
              <a:t>Priority Three</a:t>
            </a:r>
          </a:p>
        </p:txBody>
      </p:sp>
      <p:sp>
        <p:nvSpPr>
          <p:cNvPr id="45" name="Picture Placeholder 8">
            <a:extLst>
              <a:ext uri="{FF2B5EF4-FFF2-40B4-BE49-F238E27FC236}">
                <a16:creationId xmlns:a16="http://schemas.microsoft.com/office/drawing/2014/main" id="{231A51E8-5046-A444-8DFA-A0B8E647C4F2}"/>
              </a:ext>
            </a:extLst>
          </p:cNvPr>
          <p:cNvSpPr>
            <a:spLocks noGrp="1"/>
          </p:cNvSpPr>
          <p:nvPr>
            <p:ph type="pic" sz="quarter" idx="25" hasCustomPrompt="1"/>
          </p:nvPr>
        </p:nvSpPr>
        <p:spPr>
          <a:xfrm>
            <a:off x="9207965" y="1600200"/>
            <a:ext cx="1841500" cy="660399"/>
          </a:xfrm>
        </p:spPr>
        <p:txBody>
          <a:bodyPr anchor="ctr"/>
          <a:lstStyle>
            <a:lvl1pPr algn="ctr">
              <a:lnSpc>
                <a:spcPct val="100000"/>
              </a:lnSpc>
              <a:spcBef>
                <a:spcPts val="0"/>
              </a:spcBef>
              <a:defRPr>
                <a:solidFill>
                  <a:schemeClr val="tx1"/>
                </a:solidFill>
              </a:defRPr>
            </a:lvl1pPr>
          </a:lstStyle>
          <a:p>
            <a:r>
              <a:rPr lang="en-US" dirty="0"/>
              <a:t>Insert Logo here</a:t>
            </a:r>
          </a:p>
        </p:txBody>
      </p:sp>
      <p:sp>
        <p:nvSpPr>
          <p:cNvPr id="44" name="Text Placeholder 10">
            <a:extLst>
              <a:ext uri="{FF2B5EF4-FFF2-40B4-BE49-F238E27FC236}">
                <a16:creationId xmlns:a16="http://schemas.microsoft.com/office/drawing/2014/main" id="{81E8E56D-8554-4E46-BBBC-E98827D1EE1F}"/>
              </a:ext>
            </a:extLst>
          </p:cNvPr>
          <p:cNvSpPr>
            <a:spLocks noGrp="1"/>
          </p:cNvSpPr>
          <p:nvPr>
            <p:ph type="body" sz="quarter" idx="27" hasCustomPrompt="1"/>
          </p:nvPr>
        </p:nvSpPr>
        <p:spPr>
          <a:xfrm>
            <a:off x="8509465" y="2347933"/>
            <a:ext cx="3206750" cy="241300"/>
          </a:xfrm>
        </p:spPr>
        <p:txBody>
          <a:bodyPr anchor="ctr"/>
          <a:lstStyle>
            <a:lvl1pPr algn="ctr">
              <a:lnSpc>
                <a:spcPct val="100000"/>
              </a:lnSpc>
              <a:spcBef>
                <a:spcPts val="0"/>
              </a:spcBef>
              <a:defRPr sz="1200">
                <a:solidFill>
                  <a:schemeClr val="tx1"/>
                </a:solidFill>
              </a:defRPr>
            </a:lvl1pPr>
            <a:lvl2pPr marL="0" indent="0" algn="ctr">
              <a:buFont typeface="Open Sans" panose="020B0606030504020204" pitchFamily="34" charset="0"/>
              <a:buChar char="​"/>
              <a:defRPr sz="1200">
                <a:solidFill>
                  <a:schemeClr val="accent1"/>
                </a:solidFill>
              </a:defRPr>
            </a:lvl2pPr>
            <a:lvl3pPr marL="0" indent="0" algn="ctr">
              <a:buFont typeface="Open Sans" panose="020B0606030504020204" pitchFamily="34" charset="0"/>
              <a:buChar char="​"/>
              <a:defRPr sz="1200">
                <a:solidFill>
                  <a:schemeClr val="accent1"/>
                </a:solidFill>
              </a:defRPr>
            </a:lvl3pPr>
            <a:lvl4pPr marL="0" indent="0" algn="ctr">
              <a:buFont typeface="Open Sans" panose="020B0606030504020204" pitchFamily="34" charset="0"/>
              <a:buChar char="​"/>
              <a:defRPr sz="1200">
                <a:solidFill>
                  <a:schemeClr val="accent1"/>
                </a:solidFill>
              </a:defRPr>
            </a:lvl4pPr>
            <a:lvl5pPr marL="0" indent="0" algn="ctr">
              <a:buFont typeface="Open Sans" panose="020B0606030504020204" pitchFamily="34" charset="0"/>
              <a:buChar char="​"/>
              <a:defRPr sz="1200">
                <a:solidFill>
                  <a:schemeClr val="accent1"/>
                </a:solidFill>
              </a:defRPr>
            </a:lvl5pPr>
          </a:lstStyle>
          <a:p>
            <a:pPr lvl="0"/>
            <a:r>
              <a:rPr lang="en-US"/>
              <a:t>Location</a:t>
            </a:r>
          </a:p>
        </p:txBody>
      </p:sp>
      <p:sp>
        <p:nvSpPr>
          <p:cNvPr id="43" name="Text Placeholder 10">
            <a:extLst>
              <a:ext uri="{FF2B5EF4-FFF2-40B4-BE49-F238E27FC236}">
                <a16:creationId xmlns:a16="http://schemas.microsoft.com/office/drawing/2014/main" id="{59903D24-0D11-174E-9765-B2914D00A88C}"/>
              </a:ext>
            </a:extLst>
          </p:cNvPr>
          <p:cNvSpPr>
            <a:spLocks noGrp="1"/>
          </p:cNvSpPr>
          <p:nvPr>
            <p:ph type="body" sz="quarter" idx="28" hasCustomPrompt="1"/>
          </p:nvPr>
        </p:nvSpPr>
        <p:spPr>
          <a:xfrm>
            <a:off x="8509465" y="2647290"/>
            <a:ext cx="3206750" cy="241300"/>
          </a:xfrm>
        </p:spPr>
        <p:txBody>
          <a:bodyPr anchor="ctr"/>
          <a:lstStyle>
            <a:lvl1pPr algn="ctr">
              <a:lnSpc>
                <a:spcPct val="100000"/>
              </a:lnSpc>
              <a:spcBef>
                <a:spcPts val="0"/>
              </a:spcBef>
              <a:defRPr sz="1200">
                <a:solidFill>
                  <a:schemeClr val="tx1"/>
                </a:solidFill>
              </a:defRPr>
            </a:lvl1pPr>
            <a:lvl2pPr marL="0" indent="0" algn="ctr">
              <a:buFont typeface="Open Sans" panose="020B0606030504020204" pitchFamily="34" charset="0"/>
              <a:buChar char="​"/>
              <a:defRPr sz="1200">
                <a:solidFill>
                  <a:schemeClr val="accent1"/>
                </a:solidFill>
              </a:defRPr>
            </a:lvl2pPr>
            <a:lvl3pPr marL="0" indent="0" algn="ctr">
              <a:buFont typeface="Open Sans" panose="020B0606030504020204" pitchFamily="34" charset="0"/>
              <a:buChar char="​"/>
              <a:defRPr sz="1200">
                <a:solidFill>
                  <a:schemeClr val="accent1"/>
                </a:solidFill>
              </a:defRPr>
            </a:lvl3pPr>
            <a:lvl4pPr marL="0" indent="0" algn="ctr">
              <a:buFont typeface="Open Sans" panose="020B0606030504020204" pitchFamily="34" charset="0"/>
              <a:buChar char="​"/>
              <a:defRPr sz="1200">
                <a:solidFill>
                  <a:schemeClr val="accent1"/>
                </a:solidFill>
              </a:defRPr>
            </a:lvl4pPr>
            <a:lvl5pPr marL="0" indent="0" algn="ctr">
              <a:buFont typeface="Open Sans" panose="020B0606030504020204" pitchFamily="34" charset="0"/>
              <a:buChar char="​"/>
              <a:defRPr sz="1200">
                <a:solidFill>
                  <a:schemeClr val="accent1"/>
                </a:solidFill>
              </a:defRPr>
            </a:lvl5pPr>
          </a:lstStyle>
          <a:p>
            <a:pPr lvl="0"/>
            <a:r>
              <a:rPr lang="en-US"/>
              <a:t>Industry</a:t>
            </a:r>
          </a:p>
        </p:txBody>
      </p:sp>
      <p:sp>
        <p:nvSpPr>
          <p:cNvPr id="42" name="Picture Placeholder 5">
            <a:extLst>
              <a:ext uri="{FF2B5EF4-FFF2-40B4-BE49-F238E27FC236}">
                <a16:creationId xmlns:a16="http://schemas.microsoft.com/office/drawing/2014/main" id="{2EDE5296-3D34-0C47-A404-38FF5A22C6D8}"/>
              </a:ext>
            </a:extLst>
          </p:cNvPr>
          <p:cNvSpPr>
            <a:spLocks noGrp="1"/>
          </p:cNvSpPr>
          <p:nvPr>
            <p:ph type="pic" sz="quarter" idx="24"/>
          </p:nvPr>
        </p:nvSpPr>
        <p:spPr>
          <a:xfrm>
            <a:off x="8515815" y="2971800"/>
            <a:ext cx="3194050" cy="1828800"/>
          </a:xfrm>
        </p:spPr>
        <p:txBody>
          <a:bodyPr/>
          <a:lstStyle>
            <a:lvl1pPr>
              <a:lnSpc>
                <a:spcPct val="100000"/>
              </a:lnSpc>
              <a:spcBef>
                <a:spcPts val="0"/>
              </a:spcBef>
              <a:defRPr>
                <a:solidFill>
                  <a:schemeClr val="tx1"/>
                </a:solidFill>
              </a:defRPr>
            </a:lvl1pPr>
          </a:lstStyle>
          <a:p>
            <a:r>
              <a:rPr lang="en-US"/>
              <a:t>Click icon to add picture</a:t>
            </a:r>
            <a:endParaRPr lang="en-US" dirty="0"/>
          </a:p>
        </p:txBody>
      </p:sp>
      <p:sp>
        <p:nvSpPr>
          <p:cNvPr id="41" name="Text Placeholder 10">
            <a:extLst>
              <a:ext uri="{FF2B5EF4-FFF2-40B4-BE49-F238E27FC236}">
                <a16:creationId xmlns:a16="http://schemas.microsoft.com/office/drawing/2014/main" id="{C7B1EDB8-ADF5-9C41-B4C4-26AA9C0B9D24}"/>
              </a:ext>
            </a:extLst>
          </p:cNvPr>
          <p:cNvSpPr>
            <a:spLocks noGrp="1"/>
          </p:cNvSpPr>
          <p:nvPr>
            <p:ph type="body" sz="quarter" idx="26" hasCustomPrompt="1"/>
          </p:nvPr>
        </p:nvSpPr>
        <p:spPr>
          <a:xfrm>
            <a:off x="8515815" y="5022214"/>
            <a:ext cx="3200400" cy="1153795"/>
          </a:xfrm>
        </p:spPr>
        <p:txBody>
          <a:bodyPr/>
          <a:lstStyle>
            <a:lvl1pPr algn="ctr">
              <a:lnSpc>
                <a:spcPct val="100000"/>
              </a:lnSpc>
              <a:spcBef>
                <a:spcPts val="0"/>
              </a:spcBef>
              <a:defRPr sz="1400">
                <a:solidFill>
                  <a:schemeClr val="tx1"/>
                </a:solidFill>
              </a:defRPr>
            </a:lvl1pPr>
            <a:lvl2pPr marL="0" indent="0" algn="ctr">
              <a:lnSpc>
                <a:spcPct val="100000"/>
              </a:lnSpc>
              <a:spcBef>
                <a:spcPts val="0"/>
              </a:spcBef>
              <a:buFont typeface="Open Sans" panose="020B0606030504020204" pitchFamily="34" charset="0"/>
              <a:buChar char="​"/>
              <a:defRPr sz="1200">
                <a:solidFill>
                  <a:schemeClr val="tx1"/>
                </a:solidFill>
              </a:defRPr>
            </a:lvl2pPr>
            <a:lvl3pPr marL="0" indent="0" algn="ctr">
              <a:buFont typeface="Open Sans" panose="020B0606030504020204" pitchFamily="34" charset="0"/>
              <a:buNone/>
              <a:defRPr sz="1200">
                <a:solidFill>
                  <a:schemeClr val="accent1"/>
                </a:solidFill>
              </a:defRPr>
            </a:lvl3pPr>
            <a:lvl4pPr marL="0" indent="0" algn="ctr">
              <a:buFont typeface="Open Sans" panose="020B0606030504020204" pitchFamily="34" charset="0"/>
              <a:buChar char="​"/>
              <a:defRPr sz="1200">
                <a:solidFill>
                  <a:schemeClr val="accent1"/>
                </a:solidFill>
              </a:defRPr>
            </a:lvl4pPr>
            <a:lvl5pPr marL="0" indent="0" algn="ctr">
              <a:buFont typeface="Open Sans" panose="020B0606030504020204" pitchFamily="34" charset="0"/>
              <a:buChar char="​"/>
              <a:defRPr sz="1200">
                <a:solidFill>
                  <a:schemeClr val="accent1"/>
                </a:solidFill>
              </a:defRPr>
            </a:lvl5pPr>
          </a:lstStyle>
          <a:p>
            <a:pPr lvl="0"/>
            <a:r>
              <a:rPr lang="en-US"/>
              <a:t>Click to add text</a:t>
            </a:r>
          </a:p>
          <a:p>
            <a:pPr lvl="1"/>
            <a:r>
              <a:rPr lang="en-US"/>
              <a:t>Second level</a:t>
            </a:r>
          </a:p>
        </p:txBody>
      </p:sp>
      <p:sp>
        <p:nvSpPr>
          <p:cNvPr id="33" name="page number">
            <a:extLst>
              <a:ext uri="{FF2B5EF4-FFF2-40B4-BE49-F238E27FC236}">
                <a16:creationId xmlns:a16="http://schemas.microsoft.com/office/drawing/2014/main" id="{CB20449E-0760-3743-8E7C-7D6BA7165F7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cxnSp>
        <p:nvCxnSpPr>
          <p:cNvPr id="2" name="Straight Connector 1">
            <a:extLst>
              <a:ext uri="{FF2B5EF4-FFF2-40B4-BE49-F238E27FC236}">
                <a16:creationId xmlns:a16="http://schemas.microsoft.com/office/drawing/2014/main" id="{5CABBF0D-1BD1-F9E7-64FF-6B8D87E611B7}"/>
              </a:ext>
              <a:ext uri="{C183D7F6-B498-43B3-948B-1728B52AA6E4}">
                <adec:decorative xmlns:adec="http://schemas.microsoft.com/office/drawing/2017/decorative" val="1"/>
              </a:ext>
            </a:extLst>
          </p:cNvPr>
          <p:cNvCxnSpPr>
            <a:cxnSpLocks/>
          </p:cNvCxnSpPr>
          <p:nvPr/>
        </p:nvCxnSpPr>
        <p:spPr>
          <a:xfrm>
            <a:off x="4412165"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Text Placeholder 15">
            <a:extLst>
              <a:ext uri="{FF2B5EF4-FFF2-40B4-BE49-F238E27FC236}">
                <a16:creationId xmlns:a16="http://schemas.microsoft.com/office/drawing/2014/main" id="{2906119E-8D41-BF4A-7D53-2FBB71F653C6}"/>
              </a:ext>
            </a:extLst>
          </p:cNvPr>
          <p:cNvSpPr>
            <a:spLocks noGrp="1"/>
          </p:cNvSpPr>
          <p:nvPr>
            <p:ph type="body" sz="quarter" idx="41" hasCustomPrompt="1"/>
          </p:nvPr>
        </p:nvSpPr>
        <p:spPr>
          <a:xfrm>
            <a:off x="608013" y="1552575"/>
            <a:ext cx="3201987" cy="219075"/>
          </a:xfrm>
        </p:spPr>
        <p:txBody>
          <a:bodyPr anchor="b" anchorCtr="0"/>
          <a:lstStyle>
            <a:lvl1pPr>
              <a:defRPr sz="1200" cap="all" baseline="0">
                <a:solidFill>
                  <a:schemeClr val="accent2"/>
                </a:solidFill>
              </a:defRPr>
            </a:lvl1pPr>
          </a:lstStyle>
          <a:p>
            <a:pPr lvl="0"/>
            <a:r>
              <a:rPr lang="en-US" dirty="0"/>
              <a:t>About</a:t>
            </a:r>
          </a:p>
        </p:txBody>
      </p:sp>
      <p:sp>
        <p:nvSpPr>
          <p:cNvPr id="18" name="Text Placeholder 17">
            <a:extLst>
              <a:ext uri="{FF2B5EF4-FFF2-40B4-BE49-F238E27FC236}">
                <a16:creationId xmlns:a16="http://schemas.microsoft.com/office/drawing/2014/main" id="{D52D6E64-9DD1-43CD-C247-B83E374482F5}"/>
              </a:ext>
            </a:extLst>
          </p:cNvPr>
          <p:cNvSpPr>
            <a:spLocks noGrp="1"/>
          </p:cNvSpPr>
          <p:nvPr>
            <p:ph type="body" sz="quarter" idx="42" hasCustomPrompt="1"/>
          </p:nvPr>
        </p:nvSpPr>
        <p:spPr>
          <a:xfrm>
            <a:off x="4411663" y="1552575"/>
            <a:ext cx="3201987" cy="219075"/>
          </a:xfrm>
        </p:spPr>
        <p:txBody>
          <a:bodyPr anchor="b" anchorCtr="0"/>
          <a:lstStyle>
            <a:lvl1pPr>
              <a:defRPr sz="1200" cap="all" baseline="0">
                <a:solidFill>
                  <a:schemeClr val="accent2"/>
                </a:solidFill>
              </a:defRPr>
            </a:lvl1pPr>
          </a:lstStyle>
          <a:p>
            <a:pPr lvl="0"/>
            <a:r>
              <a:rPr lang="en-US" dirty="0"/>
              <a:t>solution</a:t>
            </a:r>
          </a:p>
        </p:txBody>
      </p:sp>
      <p:sp>
        <p:nvSpPr>
          <p:cNvPr id="20" name="Text Placeholder 19">
            <a:extLst>
              <a:ext uri="{FF2B5EF4-FFF2-40B4-BE49-F238E27FC236}">
                <a16:creationId xmlns:a16="http://schemas.microsoft.com/office/drawing/2014/main" id="{D02A9C0F-4D4C-0EEC-0E20-65368D11774B}"/>
              </a:ext>
            </a:extLst>
          </p:cNvPr>
          <p:cNvSpPr>
            <a:spLocks noGrp="1"/>
          </p:cNvSpPr>
          <p:nvPr>
            <p:ph type="body" sz="quarter" idx="43" hasCustomPrompt="1"/>
          </p:nvPr>
        </p:nvSpPr>
        <p:spPr>
          <a:xfrm>
            <a:off x="608013" y="3338514"/>
            <a:ext cx="3201987" cy="219075"/>
          </a:xfrm>
        </p:spPr>
        <p:txBody>
          <a:bodyPr anchor="b" anchorCtr="0"/>
          <a:lstStyle>
            <a:lvl1pPr>
              <a:defRPr sz="1200" cap="all" baseline="0">
                <a:solidFill>
                  <a:schemeClr val="accent3"/>
                </a:solidFill>
              </a:defRPr>
            </a:lvl1pPr>
          </a:lstStyle>
          <a:p>
            <a:pPr lvl="0"/>
            <a:r>
              <a:rPr lang="en-US" dirty="0"/>
              <a:t>challenges</a:t>
            </a:r>
          </a:p>
        </p:txBody>
      </p:sp>
      <p:sp>
        <p:nvSpPr>
          <p:cNvPr id="22" name="Text Placeholder 21">
            <a:extLst>
              <a:ext uri="{FF2B5EF4-FFF2-40B4-BE49-F238E27FC236}">
                <a16:creationId xmlns:a16="http://schemas.microsoft.com/office/drawing/2014/main" id="{1DEF5052-BBAD-A22B-0D68-BBBFD706375E}"/>
              </a:ext>
            </a:extLst>
          </p:cNvPr>
          <p:cNvSpPr>
            <a:spLocks noGrp="1"/>
          </p:cNvSpPr>
          <p:nvPr>
            <p:ph type="body" sz="quarter" idx="44" hasCustomPrompt="1"/>
          </p:nvPr>
        </p:nvSpPr>
        <p:spPr>
          <a:xfrm>
            <a:off x="4427538" y="3338514"/>
            <a:ext cx="3201987" cy="219075"/>
          </a:xfrm>
        </p:spPr>
        <p:txBody>
          <a:bodyPr anchor="b" anchorCtr="0"/>
          <a:lstStyle>
            <a:lvl1pPr>
              <a:defRPr sz="1200" cap="all" baseline="0">
                <a:solidFill>
                  <a:schemeClr val="accent3"/>
                </a:solidFill>
              </a:defRPr>
            </a:lvl1pPr>
          </a:lstStyle>
          <a:p>
            <a:pPr lvl="0"/>
            <a:r>
              <a:rPr lang="en-US"/>
              <a:t>impact</a:t>
            </a:r>
          </a:p>
        </p:txBody>
      </p:sp>
      <p:sp>
        <p:nvSpPr>
          <p:cNvPr id="24" name="Text Placeholder 23">
            <a:extLst>
              <a:ext uri="{FF2B5EF4-FFF2-40B4-BE49-F238E27FC236}">
                <a16:creationId xmlns:a16="http://schemas.microsoft.com/office/drawing/2014/main" id="{9FFF9CD2-0893-33FB-480A-506C7095C2FA}"/>
              </a:ext>
            </a:extLst>
          </p:cNvPr>
          <p:cNvSpPr>
            <a:spLocks noGrp="1"/>
          </p:cNvSpPr>
          <p:nvPr>
            <p:ph type="body" sz="quarter" idx="45" hasCustomPrompt="1"/>
          </p:nvPr>
        </p:nvSpPr>
        <p:spPr>
          <a:xfrm>
            <a:off x="608013" y="5022850"/>
            <a:ext cx="3200400" cy="227013"/>
          </a:xfrm>
        </p:spPr>
        <p:txBody>
          <a:bodyPr anchor="b" anchorCtr="0"/>
          <a:lstStyle>
            <a:lvl1pPr>
              <a:defRPr sz="1200" cap="all" baseline="0">
                <a:solidFill>
                  <a:schemeClr val="accent4"/>
                </a:solidFill>
              </a:defRPr>
            </a:lvl1pPr>
          </a:lstStyle>
          <a:p>
            <a:pPr lvl="0"/>
            <a:r>
              <a:rPr lang="en-US"/>
              <a:t>products</a:t>
            </a:r>
          </a:p>
        </p:txBody>
      </p:sp>
      <p:sp>
        <p:nvSpPr>
          <p:cNvPr id="26" name="Text Placeholder 25">
            <a:extLst>
              <a:ext uri="{FF2B5EF4-FFF2-40B4-BE49-F238E27FC236}">
                <a16:creationId xmlns:a16="http://schemas.microsoft.com/office/drawing/2014/main" id="{F2B49FE0-BA78-9DF9-AB7D-9F52651E93AD}"/>
              </a:ext>
            </a:extLst>
          </p:cNvPr>
          <p:cNvSpPr>
            <a:spLocks noGrp="1"/>
          </p:cNvSpPr>
          <p:nvPr>
            <p:ph type="body" sz="quarter" idx="46" hasCustomPrompt="1"/>
          </p:nvPr>
        </p:nvSpPr>
        <p:spPr>
          <a:xfrm>
            <a:off x="4427538" y="5022850"/>
            <a:ext cx="3200400" cy="227013"/>
          </a:xfrm>
        </p:spPr>
        <p:txBody>
          <a:bodyPr anchor="b" anchorCtr="0"/>
          <a:lstStyle>
            <a:lvl1pPr>
              <a:defRPr sz="1200" cap="all" baseline="0">
                <a:solidFill>
                  <a:schemeClr val="accent4"/>
                </a:solidFill>
              </a:defRPr>
            </a:lvl1pPr>
          </a:lstStyle>
          <a:p>
            <a:pPr lvl="0"/>
            <a:r>
              <a:rPr lang="en-US"/>
              <a:t>Strategic priorities</a:t>
            </a:r>
          </a:p>
        </p:txBody>
      </p:sp>
      <p:cxnSp>
        <p:nvCxnSpPr>
          <p:cNvPr id="32" name="Straight Connector 31">
            <a:extLst>
              <a:ext uri="{FF2B5EF4-FFF2-40B4-BE49-F238E27FC236}">
                <a16:creationId xmlns:a16="http://schemas.microsoft.com/office/drawing/2014/main" id="{14F46384-B6E3-0D43-924E-874DEC2344B1}"/>
              </a:ext>
              <a:ext uri="{C183D7F6-B498-43B3-948B-1728B52AA6E4}">
                <adec:decorative xmlns:adec="http://schemas.microsoft.com/office/drawing/2017/decorative" val="1"/>
              </a:ext>
            </a:extLst>
          </p:cNvPr>
          <p:cNvCxnSpPr>
            <a:cxnSpLocks/>
          </p:cNvCxnSpPr>
          <p:nvPr userDrawn="1"/>
        </p:nvCxnSpPr>
        <p:spPr>
          <a:xfrm>
            <a:off x="609600"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3526770-8F35-FB4A-8638-521D0DA87F6C}"/>
              </a:ext>
              <a:ext uri="{C183D7F6-B498-43B3-948B-1728B52AA6E4}">
                <adec:decorative xmlns:adec="http://schemas.microsoft.com/office/drawing/2017/decorative" val="1"/>
              </a:ext>
            </a:extLst>
          </p:cNvPr>
          <p:cNvCxnSpPr>
            <a:cxnSpLocks/>
          </p:cNvCxnSpPr>
          <p:nvPr userDrawn="1"/>
        </p:nvCxnSpPr>
        <p:spPr>
          <a:xfrm>
            <a:off x="4412165" y="1552248"/>
            <a:ext cx="3471746" cy="0"/>
          </a:xfrm>
          <a:prstGeom prst="line">
            <a:avLst/>
          </a:prstGeom>
          <a:ln w="22225">
            <a:solidFill>
              <a:schemeClr val="accent2"/>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3C08A52-2522-8C40-B8B1-C98FEBB888F7}"/>
              </a:ext>
              <a:ext uri="{C183D7F6-B498-43B3-948B-1728B52AA6E4}">
                <adec:decorative xmlns:adec="http://schemas.microsoft.com/office/drawing/2017/decorative" val="1"/>
              </a:ext>
            </a:extLst>
          </p:cNvPr>
          <p:cNvCxnSpPr>
            <a:cxnSpLocks/>
          </p:cNvCxnSpPr>
          <p:nvPr userDrawn="1"/>
        </p:nvCxnSpPr>
        <p:spPr>
          <a:xfrm>
            <a:off x="609600"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B57CCC6-06B1-7342-99B0-BC7C8FBE5E73}"/>
              </a:ext>
              <a:ext uri="{C183D7F6-B498-43B3-948B-1728B52AA6E4}">
                <adec:decorative xmlns:adec="http://schemas.microsoft.com/office/drawing/2017/decorative" val="1"/>
              </a:ext>
            </a:extLst>
          </p:cNvPr>
          <p:cNvCxnSpPr>
            <a:cxnSpLocks/>
          </p:cNvCxnSpPr>
          <p:nvPr userDrawn="1"/>
        </p:nvCxnSpPr>
        <p:spPr>
          <a:xfrm>
            <a:off x="4412165" y="3325372"/>
            <a:ext cx="3471746" cy="0"/>
          </a:xfrm>
          <a:prstGeom prst="line">
            <a:avLst/>
          </a:prstGeom>
          <a:ln w="22225">
            <a:solidFill>
              <a:schemeClr val="accent3"/>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3C87E7C-5ED2-214E-8A38-ED05177A65DC}"/>
              </a:ext>
              <a:ext uri="{C183D7F6-B498-43B3-948B-1728B52AA6E4}">
                <adec:decorative xmlns:adec="http://schemas.microsoft.com/office/drawing/2017/decorative" val="1"/>
              </a:ext>
            </a:extLst>
          </p:cNvPr>
          <p:cNvCxnSpPr>
            <a:cxnSpLocks/>
          </p:cNvCxnSpPr>
          <p:nvPr userDrawn="1"/>
        </p:nvCxnSpPr>
        <p:spPr>
          <a:xfrm>
            <a:off x="608739"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page number">
            <a:extLst>
              <a:ext uri="{FF2B5EF4-FFF2-40B4-BE49-F238E27FC236}">
                <a16:creationId xmlns:a16="http://schemas.microsoft.com/office/drawing/2014/main" id="{CB20449E-0760-3743-8E7C-7D6BA7165F7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cxnSp>
        <p:nvCxnSpPr>
          <p:cNvPr id="49" name="Straight Connector 48">
            <a:extLst>
              <a:ext uri="{FF2B5EF4-FFF2-40B4-BE49-F238E27FC236}">
                <a16:creationId xmlns:a16="http://schemas.microsoft.com/office/drawing/2014/main" id="{5CABBF0D-1BD1-F9E7-64FF-6B8D87E611B7}"/>
              </a:ext>
              <a:ext uri="{C183D7F6-B498-43B3-948B-1728B52AA6E4}">
                <adec:decorative xmlns:adec="http://schemas.microsoft.com/office/drawing/2017/decorative" val="1"/>
              </a:ext>
            </a:extLst>
          </p:cNvPr>
          <p:cNvCxnSpPr>
            <a:cxnSpLocks/>
          </p:cNvCxnSpPr>
          <p:nvPr userDrawn="1"/>
        </p:nvCxnSpPr>
        <p:spPr>
          <a:xfrm>
            <a:off x="4412165" y="5022214"/>
            <a:ext cx="3471746" cy="0"/>
          </a:xfrm>
          <a:prstGeom prst="line">
            <a:avLst/>
          </a:prstGeom>
          <a:ln w="22225">
            <a:solidFill>
              <a:schemeClr val="accent4"/>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7219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Three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4C5A99F-0678-4DC4-A266-1AD031E9C8E4}"/>
              </a:ext>
            </a:extLst>
          </p:cNvPr>
          <p:cNvSpPr>
            <a:spLocks noGrp="1"/>
          </p:cNvSpPr>
          <p:nvPr>
            <p:ph type="title" hasCustomPrompt="1"/>
          </p:nvPr>
        </p:nvSpPr>
        <p:spPr/>
        <p:txBody>
          <a:bodyPr/>
          <a:lstStyle>
            <a:lvl1pPr>
              <a:defRPr>
                <a:solidFill>
                  <a:schemeClr val="accent2"/>
                </a:solidFill>
              </a:defRPr>
            </a:lvl1pPr>
          </a:lstStyle>
          <a:p>
            <a:r>
              <a:rPr lang="en-US"/>
              <a:t>Three Icon Placeholders with Text Descriptions</a:t>
            </a:r>
          </a:p>
        </p:txBody>
      </p:sp>
      <p:sp>
        <p:nvSpPr>
          <p:cNvPr id="12" name="Subtitle 2">
            <a:extLst>
              <a:ext uri="{FF2B5EF4-FFF2-40B4-BE49-F238E27FC236}">
                <a16:creationId xmlns:a16="http://schemas.microsoft.com/office/drawing/2014/main" id="{4EBF1472-E940-4CC7-B5D3-349346A425A8}"/>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1" name="Oval 20">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p:nvSpPr>
        <p:spPr bwMode="gray">
          <a:xfrm>
            <a:off x="1981877" y="2055429"/>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13" name="Text Placeholder 3">
            <a:extLst>
              <a:ext uri="{FF2B5EF4-FFF2-40B4-BE49-F238E27FC236}">
                <a16:creationId xmlns:a16="http://schemas.microsoft.com/office/drawing/2014/main" id="{83C9F48F-8CFB-DD45-AE7E-6A5DE26F9510}"/>
              </a:ext>
            </a:extLst>
          </p:cNvPr>
          <p:cNvSpPr>
            <a:spLocks noGrp="1"/>
          </p:cNvSpPr>
          <p:nvPr>
            <p:ph type="body" sz="quarter" idx="21" hasCustomPrompt="1"/>
          </p:nvPr>
        </p:nvSpPr>
        <p:spPr>
          <a:xfrm>
            <a:off x="2188103" y="2419650"/>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4" name="Text Placeholder 3">
            <a:extLst>
              <a:ext uri="{FF2B5EF4-FFF2-40B4-BE49-F238E27FC236}">
                <a16:creationId xmlns:a16="http://schemas.microsoft.com/office/drawing/2014/main" id="{B9CC9B40-9AF4-4EF7-8384-2ACE79EA95C9}"/>
              </a:ext>
            </a:extLst>
          </p:cNvPr>
          <p:cNvSpPr>
            <a:spLocks noGrp="1"/>
          </p:cNvSpPr>
          <p:nvPr>
            <p:ph type="body" sz="quarter" idx="18" hasCustomPrompt="1"/>
          </p:nvPr>
        </p:nvSpPr>
        <p:spPr>
          <a:xfrm>
            <a:off x="1525905" y="4267940"/>
            <a:ext cx="2744788" cy="1458912"/>
          </a:xfrm>
        </p:spPr>
        <p:txBody>
          <a:bodyPr/>
          <a:lstStyle>
            <a:lvl1pPr algn="ctr">
              <a:lnSpc>
                <a:spcPct val="100000"/>
              </a:lnSpc>
              <a:spcBef>
                <a:spcPts val="600"/>
              </a:spcBef>
              <a:defRPr sz="2400">
                <a:solidFill>
                  <a:schemeClr val="accent4"/>
                </a:solidFill>
              </a:defRPr>
            </a:lvl1pPr>
            <a:lvl2pPr marL="0" indent="0" algn="ctr">
              <a:lnSpc>
                <a:spcPct val="100000"/>
              </a:lnSpc>
              <a:spcBef>
                <a:spcPts val="600"/>
              </a:spcBef>
              <a:buFont typeface="Open Sans" panose="020B0606030504020204" pitchFamily="34" charset="0"/>
              <a:buChar char="​"/>
              <a:defRPr>
                <a:solidFill>
                  <a:schemeClr val="tx1"/>
                </a:solidFill>
              </a:defRPr>
            </a:lvl2pPr>
          </a:lstStyle>
          <a:p>
            <a:pPr lvl="0"/>
            <a:r>
              <a:rPr lang="en-US" dirty="0"/>
              <a:t>Click to add text here</a:t>
            </a:r>
          </a:p>
          <a:p>
            <a:pPr lvl="1"/>
            <a:r>
              <a:rPr lang="en-US" dirty="0"/>
              <a:t>Second level</a:t>
            </a:r>
          </a:p>
        </p:txBody>
      </p:sp>
      <p:sp>
        <p:nvSpPr>
          <p:cNvPr id="23" name="Oval 22">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p:nvSpPr>
        <p:spPr bwMode="gray">
          <a:xfrm>
            <a:off x="5184924" y="2055429"/>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Text Placeholder 3">
            <a:extLst>
              <a:ext uri="{FF2B5EF4-FFF2-40B4-BE49-F238E27FC236}">
                <a16:creationId xmlns:a16="http://schemas.microsoft.com/office/drawing/2014/main" id="{04DBEFEC-821B-4F4E-8D5E-E6843BF1AEAD}"/>
              </a:ext>
            </a:extLst>
          </p:cNvPr>
          <p:cNvSpPr>
            <a:spLocks noGrp="1"/>
          </p:cNvSpPr>
          <p:nvPr>
            <p:ph type="body" sz="quarter" idx="22" hasCustomPrompt="1"/>
          </p:nvPr>
        </p:nvSpPr>
        <p:spPr>
          <a:xfrm>
            <a:off x="5408612" y="2419650"/>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14" name="Text Placeholder 3">
            <a:extLst>
              <a:ext uri="{FF2B5EF4-FFF2-40B4-BE49-F238E27FC236}">
                <a16:creationId xmlns:a16="http://schemas.microsoft.com/office/drawing/2014/main" id="{D69CA39A-E967-4A68-A944-35C345A456D5}"/>
              </a:ext>
            </a:extLst>
          </p:cNvPr>
          <p:cNvSpPr>
            <a:spLocks noGrp="1"/>
          </p:cNvSpPr>
          <p:nvPr>
            <p:ph type="body" sz="quarter" idx="19" hasCustomPrompt="1"/>
          </p:nvPr>
        </p:nvSpPr>
        <p:spPr>
          <a:xfrm>
            <a:off x="4721225" y="4267940"/>
            <a:ext cx="2744788"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Open Sans" panose="020B0606030504020204" pitchFamily="34" charset="0"/>
              <a:buChar char="​"/>
              <a:defRPr lang="en-US" sz="1800" kern="1200" dirty="0">
                <a:solidFill>
                  <a:schemeClr val="tx1"/>
                </a:solidFill>
                <a:latin typeface="+mn-lt"/>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22" name="Oval 21">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p:nvSpPr>
        <p:spPr bwMode="gray">
          <a:xfrm>
            <a:off x="8389301" y="2055429"/>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Text Placeholder 3">
            <a:extLst>
              <a:ext uri="{FF2B5EF4-FFF2-40B4-BE49-F238E27FC236}">
                <a16:creationId xmlns:a16="http://schemas.microsoft.com/office/drawing/2014/main" id="{41A16A22-350B-4B24-A3CD-4D5DE470DEEB}"/>
              </a:ext>
            </a:extLst>
          </p:cNvPr>
          <p:cNvSpPr>
            <a:spLocks noGrp="1"/>
          </p:cNvSpPr>
          <p:nvPr>
            <p:ph type="body" sz="quarter" idx="20" hasCustomPrompt="1"/>
          </p:nvPr>
        </p:nvSpPr>
        <p:spPr>
          <a:xfrm>
            <a:off x="7923213" y="4267940"/>
            <a:ext cx="2744788"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Open Sans" panose="020B0606030504020204" pitchFamily="34" charset="0"/>
              <a:buChar char="​"/>
              <a:defRPr lang="en-US" sz="1800" kern="1200" dirty="0">
                <a:solidFill>
                  <a:schemeClr val="tx1"/>
                </a:solidFill>
                <a:latin typeface="+mn-lt"/>
                <a:ea typeface="+mn-ea"/>
                <a:cs typeface="+mn-cs"/>
              </a:defRPr>
            </a:lvl2pPr>
          </a:lstStyle>
          <a:p>
            <a:pPr lvl="0"/>
            <a:r>
              <a:rPr lang="en-US" dirty="0"/>
              <a:t>Click to add text here</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17" name="Text Placeholder 3">
            <a:extLst>
              <a:ext uri="{FF2B5EF4-FFF2-40B4-BE49-F238E27FC236}">
                <a16:creationId xmlns:a16="http://schemas.microsoft.com/office/drawing/2014/main" id="{0545A424-E307-E14F-A89B-1A531D114FD0}"/>
              </a:ext>
            </a:extLst>
          </p:cNvPr>
          <p:cNvSpPr>
            <a:spLocks noGrp="1"/>
          </p:cNvSpPr>
          <p:nvPr>
            <p:ph type="body" sz="quarter" idx="23" hasCustomPrompt="1"/>
          </p:nvPr>
        </p:nvSpPr>
        <p:spPr>
          <a:xfrm>
            <a:off x="8609012" y="2419650"/>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19" name="page number">
            <a:extLst>
              <a:ext uri="{FF2B5EF4-FFF2-40B4-BE49-F238E27FC236}">
                <a16:creationId xmlns:a16="http://schemas.microsoft.com/office/drawing/2014/main" id="{6122FC91-666D-7A42-9D21-9800CF4E3706}"/>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8" name="Oval 17">
            <a:extLst>
              <a:ext uri="{FF2B5EF4-FFF2-40B4-BE49-F238E27FC236}">
                <a16:creationId xmlns:a16="http://schemas.microsoft.com/office/drawing/2014/main" id="{B1C210DC-5DBB-4F0D-875F-CD8AAAB938CE}"/>
              </a:ext>
              <a:ext uri="{C183D7F6-B498-43B3-948B-1728B52AA6E4}">
                <adec:decorative xmlns:adec="http://schemas.microsoft.com/office/drawing/2017/decorative" val="1"/>
              </a:ext>
            </a:extLst>
          </p:cNvPr>
          <p:cNvSpPr/>
          <p:nvPr userDrawn="1"/>
        </p:nvSpPr>
        <p:spPr bwMode="gray">
          <a:xfrm>
            <a:off x="1981877" y="2055429"/>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20" name="Oval 19">
            <a:extLst>
              <a:ext uri="{FF2B5EF4-FFF2-40B4-BE49-F238E27FC236}">
                <a16:creationId xmlns:a16="http://schemas.microsoft.com/office/drawing/2014/main" id="{6FECF9D0-D7A8-43DD-B38D-E1090C0B322F}"/>
              </a:ext>
              <a:ext uri="{C183D7F6-B498-43B3-948B-1728B52AA6E4}">
                <adec:decorative xmlns:adec="http://schemas.microsoft.com/office/drawing/2017/decorative" val="1"/>
              </a:ext>
            </a:extLst>
          </p:cNvPr>
          <p:cNvSpPr/>
          <p:nvPr userDrawn="1"/>
        </p:nvSpPr>
        <p:spPr bwMode="gray">
          <a:xfrm>
            <a:off x="5184924" y="2055429"/>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Oval 23">
            <a:extLst>
              <a:ext uri="{FF2B5EF4-FFF2-40B4-BE49-F238E27FC236}">
                <a16:creationId xmlns:a16="http://schemas.microsoft.com/office/drawing/2014/main" id="{446F04B0-7860-407F-85B7-42E38FAFE34B}"/>
              </a:ext>
              <a:ext uri="{C183D7F6-B498-43B3-948B-1728B52AA6E4}">
                <adec:decorative xmlns:adec="http://schemas.microsoft.com/office/drawing/2017/decorative" val="1"/>
              </a:ext>
            </a:extLst>
          </p:cNvPr>
          <p:cNvSpPr/>
          <p:nvPr userDrawn="1"/>
        </p:nvSpPr>
        <p:spPr bwMode="gray">
          <a:xfrm>
            <a:off x="8389301" y="2055429"/>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page number">
            <a:extLst>
              <a:ext uri="{FF2B5EF4-FFF2-40B4-BE49-F238E27FC236}">
                <a16:creationId xmlns:a16="http://schemas.microsoft.com/office/drawing/2014/main" id="{6122FC91-666D-7A42-9D21-9800CF4E3706}"/>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563020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Four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A6ED71B-2619-4816-B753-5E850ED08FBC}"/>
              </a:ext>
            </a:extLst>
          </p:cNvPr>
          <p:cNvSpPr>
            <a:spLocks noGrp="1"/>
          </p:cNvSpPr>
          <p:nvPr>
            <p:ph type="title" hasCustomPrompt="1"/>
          </p:nvPr>
        </p:nvSpPr>
        <p:spPr/>
        <p:txBody>
          <a:bodyPr/>
          <a:lstStyle>
            <a:lvl1pPr>
              <a:defRPr>
                <a:solidFill>
                  <a:schemeClr val="accent2"/>
                </a:solidFill>
              </a:defRPr>
            </a:lvl1pPr>
          </a:lstStyle>
          <a:p>
            <a:r>
              <a:rPr lang="en-US"/>
              <a:t>Four Icon Placeholders with Text Descriptions</a:t>
            </a:r>
          </a:p>
        </p:txBody>
      </p:sp>
      <p:sp>
        <p:nvSpPr>
          <p:cNvPr id="14" name="Subtitle 2">
            <a:extLst>
              <a:ext uri="{FF2B5EF4-FFF2-40B4-BE49-F238E27FC236}">
                <a16:creationId xmlns:a16="http://schemas.microsoft.com/office/drawing/2014/main" id="{BB679D5C-AEFA-4052-96E3-7DF67D7C105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
        <p:nvSpPr>
          <p:cNvPr id="84" name="Oval 83">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p:nvSpPr>
        <p:spPr bwMode="gray">
          <a:xfrm>
            <a:off x="1065749" y="2060872"/>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13" name="Text Placeholder 3">
            <a:extLst>
              <a:ext uri="{FF2B5EF4-FFF2-40B4-BE49-F238E27FC236}">
                <a16:creationId xmlns:a16="http://schemas.microsoft.com/office/drawing/2014/main" id="{372EA9D9-DD59-0A4A-94D5-AC136E79CD72}"/>
              </a:ext>
            </a:extLst>
          </p:cNvPr>
          <p:cNvSpPr>
            <a:spLocks noGrp="1"/>
          </p:cNvSpPr>
          <p:nvPr>
            <p:ph type="body" sz="quarter" idx="23" hasCustomPrompt="1"/>
          </p:nvPr>
        </p:nvSpPr>
        <p:spPr>
          <a:xfrm>
            <a:off x="1273703" y="2425093"/>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15" name="Text Placeholder 3">
            <a:extLst>
              <a:ext uri="{FF2B5EF4-FFF2-40B4-BE49-F238E27FC236}">
                <a16:creationId xmlns:a16="http://schemas.microsoft.com/office/drawing/2014/main" id="{83A73281-E5F0-4C3B-BE4E-A12D56CC1003}"/>
              </a:ext>
            </a:extLst>
          </p:cNvPr>
          <p:cNvSpPr>
            <a:spLocks noGrp="1"/>
          </p:cNvSpPr>
          <p:nvPr>
            <p:ph type="body" sz="quarter" idx="19" hasCustomPrompt="1"/>
          </p:nvPr>
        </p:nvSpPr>
        <p:spPr>
          <a:xfrm>
            <a:off x="842673" y="4269508"/>
            <a:ext cx="2286000" cy="1458912"/>
          </a:xfrm>
        </p:spPr>
        <p:txBody>
          <a:bodyPr/>
          <a:lstStyle>
            <a:lvl1pPr algn="ctr">
              <a:lnSpc>
                <a:spcPct val="100000"/>
              </a:lnSpc>
              <a:spcBef>
                <a:spcPts val="600"/>
              </a:spcBef>
              <a:defRPr sz="2400">
                <a:solidFill>
                  <a:schemeClr val="accent4"/>
                </a:solidFill>
              </a:defRPr>
            </a:lvl1pPr>
            <a:lvl2pPr marL="285750" indent="-285750" algn="ctr">
              <a:lnSpc>
                <a:spcPct val="100000"/>
              </a:lnSpc>
              <a:spcBef>
                <a:spcPts val="600"/>
              </a:spcBef>
              <a:buFont typeface="Open Sans" panose="020B0606030504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87" name="Oval 86">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p:nvSpPr>
        <p:spPr bwMode="gray">
          <a:xfrm>
            <a:off x="3806932" y="2060872"/>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16" name="Text Placeholder 3">
            <a:extLst>
              <a:ext uri="{FF2B5EF4-FFF2-40B4-BE49-F238E27FC236}">
                <a16:creationId xmlns:a16="http://schemas.microsoft.com/office/drawing/2014/main" id="{F7F1E977-D1E8-7040-8576-578BD8CB8424}"/>
              </a:ext>
            </a:extLst>
          </p:cNvPr>
          <p:cNvSpPr>
            <a:spLocks noGrp="1"/>
          </p:cNvSpPr>
          <p:nvPr>
            <p:ph type="body" sz="quarter" idx="24" hasCustomPrompt="1"/>
          </p:nvPr>
        </p:nvSpPr>
        <p:spPr>
          <a:xfrm>
            <a:off x="4000597" y="2425093"/>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21" name="Text Placeholder 3">
            <a:extLst>
              <a:ext uri="{FF2B5EF4-FFF2-40B4-BE49-F238E27FC236}">
                <a16:creationId xmlns:a16="http://schemas.microsoft.com/office/drawing/2014/main" id="{70078EAE-661A-4C72-917B-F0225239F68A}"/>
              </a:ext>
            </a:extLst>
          </p:cNvPr>
          <p:cNvSpPr>
            <a:spLocks noGrp="1"/>
          </p:cNvSpPr>
          <p:nvPr>
            <p:ph type="body" sz="quarter" idx="20" hasCustomPrompt="1"/>
          </p:nvPr>
        </p:nvSpPr>
        <p:spPr>
          <a:xfrm>
            <a:off x="3579813" y="4269508"/>
            <a:ext cx="2286000" cy="1458912"/>
          </a:xfrm>
        </p:spPr>
        <p:txBody>
          <a:bodyPr/>
          <a:lstStyle>
            <a:lvl1pPr algn="ctr">
              <a:lnSpc>
                <a:spcPct val="100000"/>
              </a:lnSpc>
              <a:spcBef>
                <a:spcPts val="600"/>
              </a:spcBef>
              <a:defRPr sz="2400">
                <a:solidFill>
                  <a:schemeClr val="accent3"/>
                </a:solidFill>
              </a:defRPr>
            </a:lvl1pPr>
            <a:lvl2pPr marL="285750" indent="-285750" algn="ctr">
              <a:lnSpc>
                <a:spcPct val="100000"/>
              </a:lnSpc>
              <a:spcBef>
                <a:spcPts val="600"/>
              </a:spcBef>
              <a:buFont typeface="Open Sans" panose="020B0606030504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86" name="Oval 85">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p:nvSpPr>
        <p:spPr bwMode="gray">
          <a:xfrm>
            <a:off x="6562100" y="2060872"/>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17" name="Text Placeholder 3">
            <a:extLst>
              <a:ext uri="{FF2B5EF4-FFF2-40B4-BE49-F238E27FC236}">
                <a16:creationId xmlns:a16="http://schemas.microsoft.com/office/drawing/2014/main" id="{6B608689-50E6-784F-8AFD-D13D124BAA5B}"/>
              </a:ext>
            </a:extLst>
          </p:cNvPr>
          <p:cNvSpPr>
            <a:spLocks noGrp="1"/>
          </p:cNvSpPr>
          <p:nvPr>
            <p:ph type="body" sz="quarter" idx="25" hasCustomPrompt="1"/>
          </p:nvPr>
        </p:nvSpPr>
        <p:spPr>
          <a:xfrm>
            <a:off x="6772120" y="2425093"/>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22" name="Text Placeholder 3">
            <a:extLst>
              <a:ext uri="{FF2B5EF4-FFF2-40B4-BE49-F238E27FC236}">
                <a16:creationId xmlns:a16="http://schemas.microsoft.com/office/drawing/2014/main" id="{566D6B40-9CB0-4B56-A3E1-9A7F945F094A}"/>
              </a:ext>
            </a:extLst>
          </p:cNvPr>
          <p:cNvSpPr>
            <a:spLocks noGrp="1"/>
          </p:cNvSpPr>
          <p:nvPr>
            <p:ph type="body" sz="quarter" idx="21" hasCustomPrompt="1"/>
          </p:nvPr>
        </p:nvSpPr>
        <p:spPr>
          <a:xfrm>
            <a:off x="6323013" y="4269508"/>
            <a:ext cx="2286000" cy="1458912"/>
          </a:xfrm>
        </p:spPr>
        <p:txBody>
          <a:bodyPr/>
          <a:lstStyle>
            <a:lvl1pPr algn="ctr">
              <a:lnSpc>
                <a:spcPct val="100000"/>
              </a:lnSpc>
              <a:spcBef>
                <a:spcPts val="600"/>
              </a:spcBef>
              <a:defRPr sz="2400">
                <a:solidFill>
                  <a:schemeClr val="accent2"/>
                </a:solidFill>
              </a:defRPr>
            </a:lvl1pPr>
            <a:lvl2pPr marL="285750" indent="-285750" algn="ctr">
              <a:lnSpc>
                <a:spcPct val="100000"/>
              </a:lnSpc>
              <a:spcBef>
                <a:spcPts val="600"/>
              </a:spcBef>
              <a:buFont typeface="Open Sans" panose="020B0606030504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85" name="Oval 84">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p:nvSpPr>
        <p:spPr bwMode="gray">
          <a:xfrm>
            <a:off x="9302132" y="2060872"/>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Text Placeholder 3">
            <a:extLst>
              <a:ext uri="{FF2B5EF4-FFF2-40B4-BE49-F238E27FC236}">
                <a16:creationId xmlns:a16="http://schemas.microsoft.com/office/drawing/2014/main" id="{290217BC-3881-DF41-A8F3-900AF04F1B7D}"/>
              </a:ext>
            </a:extLst>
          </p:cNvPr>
          <p:cNvSpPr>
            <a:spLocks noGrp="1"/>
          </p:cNvSpPr>
          <p:nvPr>
            <p:ph type="body" sz="quarter" idx="26" hasCustomPrompt="1"/>
          </p:nvPr>
        </p:nvSpPr>
        <p:spPr>
          <a:xfrm>
            <a:off x="9538248" y="2425093"/>
            <a:ext cx="1396669" cy="1100516"/>
          </a:xfrm>
        </p:spPr>
        <p:txBody>
          <a:bodyPr anchor="ctr" anchorCtr="0"/>
          <a:lstStyle>
            <a:lvl1pPr algn="ctr">
              <a:lnSpc>
                <a:spcPct val="100000"/>
              </a:lnSpc>
              <a:spcBef>
                <a:spcPts val="600"/>
              </a:spcBef>
              <a:defRPr sz="1800">
                <a:solidFill>
                  <a:schemeClr val="accent5"/>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23" name="Text Placeholder 3">
            <a:extLst>
              <a:ext uri="{FF2B5EF4-FFF2-40B4-BE49-F238E27FC236}">
                <a16:creationId xmlns:a16="http://schemas.microsoft.com/office/drawing/2014/main" id="{16F5CA9C-E491-4F70-B6EE-A50641060112}"/>
              </a:ext>
            </a:extLst>
          </p:cNvPr>
          <p:cNvSpPr>
            <a:spLocks noGrp="1"/>
          </p:cNvSpPr>
          <p:nvPr>
            <p:ph type="body" sz="quarter" idx="22" hasCustomPrompt="1"/>
          </p:nvPr>
        </p:nvSpPr>
        <p:spPr>
          <a:xfrm>
            <a:off x="9066213" y="4269508"/>
            <a:ext cx="2286000" cy="1458912"/>
          </a:xfrm>
        </p:spPr>
        <p:txBody>
          <a:bodyPr/>
          <a:lstStyle>
            <a:lvl1pPr algn="ctr">
              <a:lnSpc>
                <a:spcPct val="100000"/>
              </a:lnSpc>
              <a:spcBef>
                <a:spcPts val="600"/>
              </a:spcBef>
              <a:defRPr sz="2400">
                <a:solidFill>
                  <a:schemeClr val="accent5"/>
                </a:solidFill>
              </a:defRPr>
            </a:lvl1pPr>
            <a:lvl2pPr marL="285750" indent="-285750" algn="ctr">
              <a:lnSpc>
                <a:spcPct val="100000"/>
              </a:lnSpc>
              <a:spcBef>
                <a:spcPts val="600"/>
              </a:spcBef>
              <a:buFont typeface="Open Sans" panose="020B0606030504020204" pitchFamily="34" charset="0"/>
              <a:buChar char="​"/>
              <a:defRPr lang="en-US" sz="18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20" name="page number">
            <a:extLst>
              <a:ext uri="{FF2B5EF4-FFF2-40B4-BE49-F238E27FC236}">
                <a16:creationId xmlns:a16="http://schemas.microsoft.com/office/drawing/2014/main" id="{1D45AB97-9B77-2244-B7BA-E18EA4CD43EA}"/>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9" name="Oval 18">
            <a:extLst>
              <a:ext uri="{FF2B5EF4-FFF2-40B4-BE49-F238E27FC236}">
                <a16:creationId xmlns:a16="http://schemas.microsoft.com/office/drawing/2014/main" id="{085441A7-EBA5-4ABB-8D29-CE4338F0F9B5}"/>
              </a:ext>
              <a:ext uri="{C183D7F6-B498-43B3-948B-1728B52AA6E4}">
                <adec:decorative xmlns:adec="http://schemas.microsoft.com/office/drawing/2017/decorative" val="1"/>
              </a:ext>
            </a:extLst>
          </p:cNvPr>
          <p:cNvSpPr/>
          <p:nvPr userDrawn="1"/>
        </p:nvSpPr>
        <p:spPr bwMode="gray">
          <a:xfrm>
            <a:off x="1065749" y="2060872"/>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24" name="Oval 23">
            <a:extLst>
              <a:ext uri="{FF2B5EF4-FFF2-40B4-BE49-F238E27FC236}">
                <a16:creationId xmlns:a16="http://schemas.microsoft.com/office/drawing/2014/main" id="{45D908EF-1F96-4808-A8DB-F55AB9E8E436}"/>
              </a:ext>
              <a:ext uri="{C183D7F6-B498-43B3-948B-1728B52AA6E4}">
                <adec:decorative xmlns:adec="http://schemas.microsoft.com/office/drawing/2017/decorative" val="1"/>
              </a:ext>
            </a:extLst>
          </p:cNvPr>
          <p:cNvSpPr/>
          <p:nvPr userDrawn="1"/>
        </p:nvSpPr>
        <p:spPr bwMode="gray">
          <a:xfrm>
            <a:off x="3806932" y="2060872"/>
            <a:ext cx="1828959" cy="1828959"/>
          </a:xfrm>
          <a:prstGeom prst="ellipse">
            <a:avLst/>
          </a:prstGeom>
          <a:no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25" name="Oval 24">
            <a:extLst>
              <a:ext uri="{FF2B5EF4-FFF2-40B4-BE49-F238E27FC236}">
                <a16:creationId xmlns:a16="http://schemas.microsoft.com/office/drawing/2014/main" id="{5670C03F-6336-45E3-A9F4-0CD130D80D1B}"/>
              </a:ext>
              <a:ext uri="{C183D7F6-B498-43B3-948B-1728B52AA6E4}">
                <adec:decorative xmlns:adec="http://schemas.microsoft.com/office/drawing/2017/decorative" val="1"/>
              </a:ext>
            </a:extLst>
          </p:cNvPr>
          <p:cNvSpPr/>
          <p:nvPr userDrawn="1"/>
        </p:nvSpPr>
        <p:spPr bwMode="gray">
          <a:xfrm>
            <a:off x="6562100" y="2060872"/>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26" name="Oval 25">
            <a:extLst>
              <a:ext uri="{FF2B5EF4-FFF2-40B4-BE49-F238E27FC236}">
                <a16:creationId xmlns:a16="http://schemas.microsoft.com/office/drawing/2014/main" id="{3019BB56-AE7C-42CA-A8FF-432F4F176B8B}"/>
              </a:ext>
              <a:ext uri="{C183D7F6-B498-43B3-948B-1728B52AA6E4}">
                <adec:decorative xmlns:adec="http://schemas.microsoft.com/office/drawing/2017/decorative" val="1"/>
              </a:ext>
            </a:extLst>
          </p:cNvPr>
          <p:cNvSpPr/>
          <p:nvPr userDrawn="1"/>
        </p:nvSpPr>
        <p:spPr bwMode="gray">
          <a:xfrm>
            <a:off x="9302132" y="2060872"/>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page number">
            <a:extLst>
              <a:ext uri="{FF2B5EF4-FFF2-40B4-BE49-F238E27FC236}">
                <a16:creationId xmlns:a16="http://schemas.microsoft.com/office/drawing/2014/main" id="{1D45AB97-9B77-2244-B7BA-E18EA4CD43E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9899590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Five Icon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Five Icon Placeholders with Text Descriptions</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22" name="Oval 21">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p:nvSpPr>
        <p:spPr bwMode="gray">
          <a:xfrm>
            <a:off x="609800" y="2064663"/>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15" name="Text Placeholder 3">
            <a:extLst>
              <a:ext uri="{FF2B5EF4-FFF2-40B4-BE49-F238E27FC236}">
                <a16:creationId xmlns:a16="http://schemas.microsoft.com/office/drawing/2014/main" id="{AE3C6552-FD35-F64A-AB25-15819DA5EE24}"/>
              </a:ext>
            </a:extLst>
          </p:cNvPr>
          <p:cNvSpPr>
            <a:spLocks noGrp="1"/>
          </p:cNvSpPr>
          <p:nvPr>
            <p:ph type="body" sz="quarter" idx="24" hasCustomPrompt="1"/>
          </p:nvPr>
        </p:nvSpPr>
        <p:spPr>
          <a:xfrm>
            <a:off x="820549" y="2428884"/>
            <a:ext cx="1396669" cy="1100516"/>
          </a:xfrm>
        </p:spPr>
        <p:txBody>
          <a:bodyPr anchor="ctr" anchorCtr="0"/>
          <a:lstStyle>
            <a:lvl1pPr algn="ctr">
              <a:lnSpc>
                <a:spcPct val="100000"/>
              </a:lnSpc>
              <a:spcBef>
                <a:spcPts val="600"/>
              </a:spcBef>
              <a:defRPr sz="1800">
                <a:solidFill>
                  <a:schemeClr val="accent4"/>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0" y="4282873"/>
            <a:ext cx="1828800" cy="1458912"/>
          </a:xfrm>
        </p:spPr>
        <p:txBody>
          <a:bodyPr/>
          <a:lstStyle>
            <a:lvl1pPr algn="ctr">
              <a:lnSpc>
                <a:spcPct val="100000"/>
              </a:lnSpc>
              <a:spcBef>
                <a:spcPts val="600"/>
              </a:spcBef>
              <a:defRPr sz="2000">
                <a:solidFill>
                  <a:schemeClr val="accent4"/>
                </a:solidFill>
              </a:defRPr>
            </a:lvl1pPr>
            <a:lvl2pPr marL="0" indent="0" algn="ctr">
              <a:lnSpc>
                <a:spcPct val="100000"/>
              </a:lnSpc>
              <a:spcBef>
                <a:spcPts val="600"/>
              </a:spcBef>
              <a:buFont typeface="Open Sans" panose="020B0606030504020204" pitchFamily="34" charset="0"/>
              <a:buChar char="​"/>
              <a:defRPr sz="1600">
                <a:solidFill>
                  <a:schemeClr val="tx1"/>
                </a:solidFill>
              </a:defRPr>
            </a:lvl2pPr>
          </a:lstStyle>
          <a:p>
            <a:pPr lvl="0"/>
            <a:r>
              <a:rPr lang="en-US" dirty="0"/>
              <a:t>Click to add text</a:t>
            </a:r>
          </a:p>
          <a:p>
            <a:pPr lvl="1"/>
            <a:r>
              <a:rPr lang="en-US" dirty="0"/>
              <a:t>Second level</a:t>
            </a:r>
          </a:p>
        </p:txBody>
      </p:sp>
      <p:sp>
        <p:nvSpPr>
          <p:cNvPr id="24" name="Oval 23">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p:nvSpPr>
        <p:spPr bwMode="gray">
          <a:xfrm>
            <a:off x="2892452" y="2064663"/>
            <a:ext cx="1828959" cy="1828959"/>
          </a:xfrm>
          <a:prstGeom prst="ellipse">
            <a:avLst/>
          </a:prstGeom>
          <a:noFill/>
          <a:ln w="38100">
            <a:solidFill>
              <a:schemeClr val="accent3"/>
            </a:solid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sp>
        <p:nvSpPr>
          <p:cNvPr id="19" name="Text Placeholder 3">
            <a:extLst>
              <a:ext uri="{FF2B5EF4-FFF2-40B4-BE49-F238E27FC236}">
                <a16:creationId xmlns:a16="http://schemas.microsoft.com/office/drawing/2014/main" id="{C54AA791-D396-204E-9DF4-50E16614DD73}"/>
              </a:ext>
            </a:extLst>
          </p:cNvPr>
          <p:cNvSpPr>
            <a:spLocks noGrp="1"/>
          </p:cNvSpPr>
          <p:nvPr>
            <p:ph type="body" sz="quarter" idx="26" hasCustomPrompt="1"/>
          </p:nvPr>
        </p:nvSpPr>
        <p:spPr>
          <a:xfrm>
            <a:off x="3110473" y="2428884"/>
            <a:ext cx="1396669" cy="1100516"/>
          </a:xfrm>
        </p:spPr>
        <p:txBody>
          <a:bodyPr anchor="ctr" anchorCtr="0"/>
          <a:lstStyle>
            <a:lvl1pPr algn="ctr">
              <a:lnSpc>
                <a:spcPct val="100000"/>
              </a:lnSpc>
              <a:spcBef>
                <a:spcPts val="600"/>
              </a:spcBef>
              <a:defRPr sz="1800">
                <a:solidFill>
                  <a:schemeClr val="accent3"/>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2894013" y="4282873"/>
            <a:ext cx="1828800" cy="1458912"/>
          </a:xfrm>
        </p:spPr>
        <p:txBody>
          <a:bodyPr/>
          <a:lstStyle>
            <a:lvl1pPr algn="ctr">
              <a:lnSpc>
                <a:spcPct val="100000"/>
              </a:lnSpc>
              <a:spcBef>
                <a:spcPts val="600"/>
              </a:spcBef>
              <a:defRPr sz="2000">
                <a:solidFill>
                  <a:schemeClr val="accent3"/>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25" name="Oval 24">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p:nvSpPr>
        <p:spPr bwMode="gray">
          <a:xfrm>
            <a:off x="5201380" y="2064663"/>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18" name="Text Placeholder 3">
            <a:extLst>
              <a:ext uri="{FF2B5EF4-FFF2-40B4-BE49-F238E27FC236}">
                <a16:creationId xmlns:a16="http://schemas.microsoft.com/office/drawing/2014/main" id="{F6390E06-1436-004E-875E-AAE40E05D76F}"/>
              </a:ext>
            </a:extLst>
          </p:cNvPr>
          <p:cNvSpPr>
            <a:spLocks noGrp="1"/>
          </p:cNvSpPr>
          <p:nvPr>
            <p:ph type="body" sz="quarter" idx="25" hasCustomPrompt="1"/>
          </p:nvPr>
        </p:nvSpPr>
        <p:spPr>
          <a:xfrm>
            <a:off x="5412658" y="2428884"/>
            <a:ext cx="1396669" cy="1100516"/>
          </a:xfrm>
        </p:spPr>
        <p:txBody>
          <a:bodyPr anchor="ctr" anchorCtr="0"/>
          <a:lstStyle>
            <a:lvl1pPr algn="ctr">
              <a:lnSpc>
                <a:spcPct val="100000"/>
              </a:lnSpc>
              <a:spcBef>
                <a:spcPts val="600"/>
              </a:spcBef>
              <a:defRPr sz="1800">
                <a:solidFill>
                  <a:schemeClr val="accent2"/>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5185093" y="4282873"/>
            <a:ext cx="1828800" cy="1458912"/>
          </a:xfrm>
        </p:spPr>
        <p:txBody>
          <a:bodyPr/>
          <a:lstStyle>
            <a:lvl1pPr algn="ctr">
              <a:lnSpc>
                <a:spcPct val="100000"/>
              </a:lnSpc>
              <a:spcBef>
                <a:spcPts val="600"/>
              </a:spcBef>
              <a:defRPr sz="2000">
                <a:solidFill>
                  <a:schemeClr val="accent2"/>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93" name="Oval 92">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p:nvSpPr>
        <p:spPr bwMode="gray">
          <a:xfrm>
            <a:off x="7464921" y="2064663"/>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solidFill>
                <a:schemeClr val="lt1"/>
              </a:solidFill>
            </a:endParaRPr>
          </a:p>
        </p:txBody>
      </p:sp>
      <p:sp>
        <p:nvSpPr>
          <p:cNvPr id="20" name="Text Placeholder 3">
            <a:extLst>
              <a:ext uri="{FF2B5EF4-FFF2-40B4-BE49-F238E27FC236}">
                <a16:creationId xmlns:a16="http://schemas.microsoft.com/office/drawing/2014/main" id="{D673B6CF-B10C-8742-A91F-672EAD5163E0}"/>
              </a:ext>
            </a:extLst>
          </p:cNvPr>
          <p:cNvSpPr>
            <a:spLocks noGrp="1"/>
          </p:cNvSpPr>
          <p:nvPr>
            <p:ph type="body" sz="quarter" idx="27" hasCustomPrompt="1"/>
          </p:nvPr>
        </p:nvSpPr>
        <p:spPr>
          <a:xfrm>
            <a:off x="7677080" y="2428884"/>
            <a:ext cx="1396669" cy="1100516"/>
          </a:xfrm>
        </p:spPr>
        <p:txBody>
          <a:bodyPr anchor="ctr" anchorCtr="0"/>
          <a:lstStyle>
            <a:lvl1pPr algn="ctr">
              <a:lnSpc>
                <a:spcPct val="100000"/>
              </a:lnSpc>
              <a:spcBef>
                <a:spcPts val="600"/>
              </a:spcBef>
              <a:defRPr sz="1800">
                <a:solidFill>
                  <a:schemeClr val="accent5"/>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4282873"/>
            <a:ext cx="1894336" cy="1458912"/>
          </a:xfrm>
        </p:spPr>
        <p:txBody>
          <a:bodyPr/>
          <a:lstStyle>
            <a:lvl1pPr algn="ctr">
              <a:lnSpc>
                <a:spcPct val="100000"/>
              </a:lnSpc>
              <a:spcBef>
                <a:spcPts val="600"/>
              </a:spcBef>
              <a:defRPr sz="2000">
                <a:solidFill>
                  <a:schemeClr val="accent5"/>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23" name="Oval 22">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p:nvSpPr>
        <p:spPr bwMode="gray">
          <a:xfrm>
            <a:off x="9744473" y="2064663"/>
            <a:ext cx="1828959" cy="1828959"/>
          </a:xfrm>
          <a:prstGeom prst="ellipse">
            <a:avLst/>
          </a:prstGeom>
          <a:noFill/>
          <a:ln w="381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6"/>
              </a:solidFill>
            </a:endParaRPr>
          </a:p>
        </p:txBody>
      </p:sp>
      <p:sp>
        <p:nvSpPr>
          <p:cNvPr id="21" name="Text Placeholder 3">
            <a:extLst>
              <a:ext uri="{FF2B5EF4-FFF2-40B4-BE49-F238E27FC236}">
                <a16:creationId xmlns:a16="http://schemas.microsoft.com/office/drawing/2014/main" id="{FF3DA55F-C9CF-8945-A9DE-F606579BFE23}"/>
              </a:ext>
            </a:extLst>
          </p:cNvPr>
          <p:cNvSpPr>
            <a:spLocks noGrp="1"/>
          </p:cNvSpPr>
          <p:nvPr>
            <p:ph type="body" sz="quarter" idx="28" hasCustomPrompt="1"/>
          </p:nvPr>
        </p:nvSpPr>
        <p:spPr>
          <a:xfrm>
            <a:off x="9980612" y="2428884"/>
            <a:ext cx="1396669" cy="1100516"/>
          </a:xfrm>
        </p:spPr>
        <p:txBody>
          <a:bodyPr anchor="ctr" anchorCtr="0"/>
          <a:lstStyle>
            <a:lvl1pPr algn="ctr">
              <a:lnSpc>
                <a:spcPct val="100000"/>
              </a:lnSpc>
              <a:spcBef>
                <a:spcPts val="600"/>
              </a:spcBef>
              <a:defRPr sz="1800">
                <a:solidFill>
                  <a:schemeClr val="bg2">
                    <a:lumMod val="25000"/>
                  </a:schemeClr>
                </a:solidFill>
              </a:defRPr>
            </a:lvl1pPr>
            <a:lvl2pPr marL="0" indent="0" algn="ctr">
              <a:lnSpc>
                <a:spcPct val="100000"/>
              </a:lnSpc>
              <a:spcBef>
                <a:spcPts val="600"/>
              </a:spcBef>
              <a:buFont typeface="Open Sans" panose="020B0606030504020204" pitchFamily="34" charset="0"/>
              <a:buChar char="​"/>
              <a:defRPr/>
            </a:lvl2pPr>
          </a:lstStyle>
          <a:p>
            <a:pPr lvl="0"/>
            <a:r>
              <a:rPr lang="en-US"/>
              <a:t>add icon</a:t>
            </a:r>
            <a:br>
              <a:rPr lang="en-US"/>
            </a:br>
            <a:r>
              <a:rPr lang="en-US"/>
              <a:t>or text</a:t>
            </a:r>
          </a:p>
        </p:txBody>
      </p: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4282873"/>
            <a:ext cx="1828800" cy="1458912"/>
          </a:xfrm>
        </p:spPr>
        <p:txBody>
          <a:bodyPr/>
          <a:lstStyle>
            <a:lvl1pPr algn="ctr">
              <a:lnSpc>
                <a:spcPct val="100000"/>
              </a:lnSpc>
              <a:spcBef>
                <a:spcPts val="600"/>
              </a:spcBef>
              <a:defRPr sz="2000">
                <a:solidFill>
                  <a:schemeClr val="bg2">
                    <a:lumMod val="25000"/>
                  </a:schemeClr>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27" name="page number">
            <a:extLst>
              <a:ext uri="{FF2B5EF4-FFF2-40B4-BE49-F238E27FC236}">
                <a16:creationId xmlns:a16="http://schemas.microsoft.com/office/drawing/2014/main" id="{6D94DD40-25D8-6A48-98B5-B2B0FB64FDA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6" name="Oval 25">
            <a:extLst>
              <a:ext uri="{FF2B5EF4-FFF2-40B4-BE49-F238E27FC236}">
                <a16:creationId xmlns:a16="http://schemas.microsoft.com/office/drawing/2014/main" id="{A1FDF9D3-5B68-4A75-97BF-2C5113CFAA66}"/>
              </a:ext>
              <a:ext uri="{C183D7F6-B498-43B3-948B-1728B52AA6E4}">
                <adec:decorative xmlns:adec="http://schemas.microsoft.com/office/drawing/2017/decorative" val="1"/>
              </a:ext>
            </a:extLst>
          </p:cNvPr>
          <p:cNvSpPr/>
          <p:nvPr userDrawn="1"/>
        </p:nvSpPr>
        <p:spPr bwMode="gray">
          <a:xfrm>
            <a:off x="609800" y="2064663"/>
            <a:ext cx="1828959" cy="1828959"/>
          </a:xfrm>
          <a:prstGeom prst="ellipse">
            <a:avLst/>
          </a:prstGeom>
          <a:noFill/>
          <a:ln w="381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4"/>
              </a:solidFill>
            </a:endParaRPr>
          </a:p>
        </p:txBody>
      </p:sp>
      <p:sp>
        <p:nvSpPr>
          <p:cNvPr id="31" name="Oval 30">
            <a:extLst>
              <a:ext uri="{FF2B5EF4-FFF2-40B4-BE49-F238E27FC236}">
                <a16:creationId xmlns:a16="http://schemas.microsoft.com/office/drawing/2014/main" id="{C551C90A-573F-4E4A-9359-5C7B0F546BF9}"/>
              </a:ext>
              <a:ext uri="{C183D7F6-B498-43B3-948B-1728B52AA6E4}">
                <adec:decorative xmlns:adec="http://schemas.microsoft.com/office/drawing/2017/decorative" val="1"/>
              </a:ext>
            </a:extLst>
          </p:cNvPr>
          <p:cNvSpPr/>
          <p:nvPr userDrawn="1"/>
        </p:nvSpPr>
        <p:spPr bwMode="gray">
          <a:xfrm>
            <a:off x="2892452" y="2064663"/>
            <a:ext cx="1828959" cy="1828959"/>
          </a:xfrm>
          <a:prstGeom prst="ellipse">
            <a:avLst/>
          </a:prstGeom>
          <a:noFill/>
          <a:ln w="38100">
            <a:solidFill>
              <a:schemeClr val="accent3"/>
            </a:solidFill>
          </a:ln>
          <a:effectLst/>
        </p:spPr>
        <p:txBody>
          <a:bodyPr vert="horz" wrap="square" lIns="91440" tIns="45720" rIns="91440" bIns="45720" numCol="1" anchor="ctr" anchorCtr="0" compatLnSpc="1">
            <a:prstTxWarp prst="textNoShape">
              <a:avLst/>
            </a:prstTxWarp>
          </a:bodyPr>
          <a:lstStyle/>
          <a:p>
            <a:pPr lvl="0" algn="ctr"/>
            <a:endParaRPr lang="en-US" dirty="0">
              <a:solidFill>
                <a:schemeClr val="bg1"/>
              </a:solidFill>
            </a:endParaRPr>
          </a:p>
        </p:txBody>
      </p:sp>
      <p:sp>
        <p:nvSpPr>
          <p:cNvPr id="33" name="Oval 32">
            <a:extLst>
              <a:ext uri="{FF2B5EF4-FFF2-40B4-BE49-F238E27FC236}">
                <a16:creationId xmlns:a16="http://schemas.microsoft.com/office/drawing/2014/main" id="{AF79E162-3D8F-4829-A4AD-02A03597B11A}"/>
              </a:ext>
              <a:ext uri="{C183D7F6-B498-43B3-948B-1728B52AA6E4}">
                <adec:decorative xmlns:adec="http://schemas.microsoft.com/office/drawing/2017/decorative" val="1"/>
              </a:ext>
            </a:extLst>
          </p:cNvPr>
          <p:cNvSpPr/>
          <p:nvPr userDrawn="1"/>
        </p:nvSpPr>
        <p:spPr bwMode="gray">
          <a:xfrm>
            <a:off x="5201380" y="2064663"/>
            <a:ext cx="1828959" cy="1828959"/>
          </a:xfrm>
          <a:prstGeom prst="ellipse">
            <a:avLst/>
          </a:prstGeom>
          <a:noFill/>
          <a:ln w="381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p>
        </p:txBody>
      </p:sp>
      <p:sp>
        <p:nvSpPr>
          <p:cNvPr id="34" name="Oval 33">
            <a:extLst>
              <a:ext uri="{FF2B5EF4-FFF2-40B4-BE49-F238E27FC236}">
                <a16:creationId xmlns:a16="http://schemas.microsoft.com/office/drawing/2014/main" id="{026B9B36-08E7-4664-970C-13123F24C793}"/>
              </a:ext>
              <a:ext uri="{C183D7F6-B498-43B3-948B-1728B52AA6E4}">
                <adec:decorative xmlns:adec="http://schemas.microsoft.com/office/drawing/2017/decorative" val="1"/>
              </a:ext>
            </a:extLst>
          </p:cNvPr>
          <p:cNvSpPr/>
          <p:nvPr userDrawn="1"/>
        </p:nvSpPr>
        <p:spPr bwMode="gray">
          <a:xfrm>
            <a:off x="7464921" y="2064663"/>
            <a:ext cx="1828959" cy="1828959"/>
          </a:xfrm>
          <a:prstGeom prst="ellipse">
            <a:avLst/>
          </a:prstGeom>
          <a:no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dirty="0">
              <a:solidFill>
                <a:schemeClr val="lt1"/>
              </a:solidFill>
            </a:endParaRPr>
          </a:p>
        </p:txBody>
      </p:sp>
      <p:sp>
        <p:nvSpPr>
          <p:cNvPr id="35" name="Oval 34">
            <a:extLst>
              <a:ext uri="{FF2B5EF4-FFF2-40B4-BE49-F238E27FC236}">
                <a16:creationId xmlns:a16="http://schemas.microsoft.com/office/drawing/2014/main" id="{7EAB1992-E472-4489-8A4E-A8FE45DE10CF}"/>
              </a:ext>
              <a:ext uri="{C183D7F6-B498-43B3-948B-1728B52AA6E4}">
                <adec:decorative xmlns:adec="http://schemas.microsoft.com/office/drawing/2017/decorative" val="1"/>
              </a:ext>
            </a:extLst>
          </p:cNvPr>
          <p:cNvSpPr/>
          <p:nvPr userDrawn="1"/>
        </p:nvSpPr>
        <p:spPr bwMode="gray">
          <a:xfrm>
            <a:off x="9744473" y="2064663"/>
            <a:ext cx="1828959" cy="1828959"/>
          </a:xfrm>
          <a:prstGeom prst="ellipse">
            <a:avLst/>
          </a:prstGeom>
          <a:noFill/>
          <a:ln w="381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accent6"/>
              </a:solidFill>
            </a:endParaRPr>
          </a:p>
        </p:txBody>
      </p:sp>
      <p:sp>
        <p:nvSpPr>
          <p:cNvPr id="36" name="page number">
            <a:extLst>
              <a:ext uri="{FF2B5EF4-FFF2-40B4-BE49-F238E27FC236}">
                <a16:creationId xmlns:a16="http://schemas.microsoft.com/office/drawing/2014/main" id="{6D94DD40-25D8-6A48-98B5-B2B0FB64FDA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783593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Five Numbered ">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52EE46A-2B6A-D0CE-D67A-E39C4516F8BB}"/>
              </a:ext>
            </a:extLst>
          </p:cNvPr>
          <p:cNvSpPr/>
          <p:nvPr/>
        </p:nvSpPr>
        <p:spPr>
          <a:xfrm>
            <a:off x="2894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5" name="Rectangle 4">
            <a:extLst>
              <a:ext uri="{FF2B5EF4-FFF2-40B4-BE49-F238E27FC236}">
                <a16:creationId xmlns:a16="http://schemas.microsoft.com/office/drawing/2014/main" id="{1DC9EA80-9EA8-343E-F517-1CAD885879D6}"/>
              </a:ext>
            </a:extLst>
          </p:cNvPr>
          <p:cNvSpPr/>
          <p:nvPr/>
        </p:nvSpPr>
        <p:spPr>
          <a:xfrm>
            <a:off x="518509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6" name="Rectangle 5">
            <a:extLst>
              <a:ext uri="{FF2B5EF4-FFF2-40B4-BE49-F238E27FC236}">
                <a16:creationId xmlns:a16="http://schemas.microsoft.com/office/drawing/2014/main" id="{A8D23D95-E4CC-0B03-48A9-0EC81B2368E5}"/>
              </a:ext>
            </a:extLst>
          </p:cNvPr>
          <p:cNvSpPr/>
          <p:nvPr/>
        </p:nvSpPr>
        <p:spPr>
          <a:xfrm>
            <a:off x="747000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7" name="Rectangle 6">
            <a:extLst>
              <a:ext uri="{FF2B5EF4-FFF2-40B4-BE49-F238E27FC236}">
                <a16:creationId xmlns:a16="http://schemas.microsoft.com/office/drawing/2014/main" id="{3737E5D6-04BF-01BC-A221-0F1D603C51D8}"/>
              </a:ext>
            </a:extLst>
          </p:cNvPr>
          <p:cNvSpPr/>
          <p:nvPr/>
        </p:nvSpPr>
        <p:spPr>
          <a:xfrm>
            <a:off x="9752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 name="Rectangle 1">
            <a:extLst>
              <a:ext uri="{FF2B5EF4-FFF2-40B4-BE49-F238E27FC236}">
                <a16:creationId xmlns:a16="http://schemas.microsoft.com/office/drawing/2014/main" id="{65142366-F01F-D56A-11BB-7D669E9AD2B4}"/>
              </a:ext>
            </a:extLst>
          </p:cNvPr>
          <p:cNvSpPr/>
          <p:nvPr/>
        </p:nvSpPr>
        <p:spPr>
          <a:xfrm>
            <a:off x="61085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Five Column Text with Number Icons Click to Add Title</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cxnSp>
        <p:nvCxnSpPr>
          <p:cNvPr id="15" name="Straight Connector 14">
            <a:extLst>
              <a:ext uri="{FF2B5EF4-FFF2-40B4-BE49-F238E27FC236}">
                <a16:creationId xmlns:a16="http://schemas.microsoft.com/office/drawing/2014/main" id="{182EA033-41AE-6148-A260-889FF59E41C9}"/>
              </a:ext>
            </a:extLst>
          </p:cNvPr>
          <p:cNvCxnSpPr/>
          <p:nvPr/>
        </p:nvCxnSpPr>
        <p:spPr bwMode="gray">
          <a:xfrm>
            <a:off x="610850" y="2512464"/>
            <a:ext cx="18288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Text Placeholder 3">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610851" y="2529075"/>
            <a:ext cx="1828800" cy="2871263"/>
          </a:xfrm>
          <a:noFill/>
          <a:ln>
            <a:noFill/>
          </a:ln>
        </p:spPr>
        <p:txBody>
          <a:bodyPr lIns="182880" tIns="548640" rIns="182880" bIns="182880"/>
          <a:lstStyle>
            <a:lvl1pPr algn="ctr">
              <a:lnSpc>
                <a:spcPct val="90000"/>
              </a:lnSpc>
              <a:spcBef>
                <a:spcPts val="600"/>
              </a:spcBef>
              <a:buNone/>
              <a:defRPr sz="2000">
                <a:solidFill>
                  <a:schemeClr val="accent4"/>
                </a:solidFill>
              </a:defRPr>
            </a:lvl1pPr>
            <a:lvl2pPr marL="0" indent="0" algn="ctr">
              <a:lnSpc>
                <a:spcPct val="100000"/>
              </a:lnSpc>
              <a:spcBef>
                <a:spcPts val="600"/>
              </a:spcBef>
              <a:buFont typeface="Open Sans" panose="020B0606030504020204" pitchFamily="34" charset="0"/>
              <a:buChar char="​"/>
              <a:defRPr sz="1600">
                <a:solidFill>
                  <a:schemeClr val="tx1"/>
                </a:solidFill>
              </a:defRPr>
            </a:lvl2pPr>
          </a:lstStyle>
          <a:p>
            <a:pPr lvl="0"/>
            <a:r>
              <a:rPr lang="en-US" dirty="0"/>
              <a:t>Click to add text</a:t>
            </a:r>
          </a:p>
          <a:p>
            <a:pPr lvl="1"/>
            <a:r>
              <a:rPr lang="en-US" dirty="0"/>
              <a:t>Second level</a:t>
            </a:r>
          </a:p>
        </p:txBody>
      </p:sp>
      <p:cxnSp>
        <p:nvCxnSpPr>
          <p:cNvPr id="19" name="Straight Connector 18">
            <a:extLst>
              <a:ext uri="{FF2B5EF4-FFF2-40B4-BE49-F238E27FC236}">
                <a16:creationId xmlns:a16="http://schemas.microsoft.com/office/drawing/2014/main" id="{662FF207-1B75-1940-91E1-2692254C727F}"/>
              </a:ext>
            </a:extLst>
          </p:cNvPr>
          <p:cNvCxnSpPr/>
          <p:nvPr/>
        </p:nvCxnSpPr>
        <p:spPr bwMode="gray">
          <a:xfrm>
            <a:off x="2894013" y="2512464"/>
            <a:ext cx="182880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Text Placeholder 3">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2894013" y="2529075"/>
            <a:ext cx="1828800" cy="2871263"/>
          </a:xfrm>
          <a:noFill/>
          <a:ln>
            <a:noFill/>
          </a:ln>
        </p:spPr>
        <p:txBody>
          <a:bodyPr lIns="182880" tIns="548640" rIns="182880" bIns="182880"/>
          <a:lstStyle>
            <a:lvl1pPr algn="ctr">
              <a:lnSpc>
                <a:spcPct val="90000"/>
              </a:lnSpc>
              <a:spcBef>
                <a:spcPts val="600"/>
              </a:spcBef>
              <a:defRPr sz="2000">
                <a:solidFill>
                  <a:schemeClr val="accent3"/>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cxnSp>
        <p:nvCxnSpPr>
          <p:cNvPr id="18" name="Straight Connector 17">
            <a:extLst>
              <a:ext uri="{FF2B5EF4-FFF2-40B4-BE49-F238E27FC236}">
                <a16:creationId xmlns:a16="http://schemas.microsoft.com/office/drawing/2014/main" id="{903341DC-DE80-5E4C-A4C9-C984D7074760}"/>
              </a:ext>
            </a:extLst>
          </p:cNvPr>
          <p:cNvCxnSpPr/>
          <p:nvPr/>
        </p:nvCxnSpPr>
        <p:spPr bwMode="gray">
          <a:xfrm>
            <a:off x="5185093" y="2512464"/>
            <a:ext cx="1828800"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Text Placeholder 3">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5185093" y="2529075"/>
            <a:ext cx="1828800" cy="2871263"/>
          </a:xfrm>
          <a:noFill/>
          <a:ln>
            <a:noFill/>
          </a:ln>
        </p:spPr>
        <p:txBody>
          <a:bodyPr lIns="182880" tIns="548640" rIns="182880" bIns="182880"/>
          <a:lstStyle>
            <a:lvl1pPr algn="ctr">
              <a:lnSpc>
                <a:spcPct val="90000"/>
              </a:lnSpc>
              <a:spcBef>
                <a:spcPts val="600"/>
              </a:spcBef>
              <a:buNone/>
              <a:defRPr sz="2000">
                <a:solidFill>
                  <a:schemeClr val="accent2"/>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cxnSp>
        <p:nvCxnSpPr>
          <p:cNvPr id="20" name="Straight Connector 19">
            <a:extLst>
              <a:ext uri="{FF2B5EF4-FFF2-40B4-BE49-F238E27FC236}">
                <a16:creationId xmlns:a16="http://schemas.microsoft.com/office/drawing/2014/main" id="{128E238A-DE09-DD4F-A6F3-2F244E7301C3}"/>
              </a:ext>
            </a:extLst>
          </p:cNvPr>
          <p:cNvCxnSpPr/>
          <p:nvPr/>
        </p:nvCxnSpPr>
        <p:spPr bwMode="gray">
          <a:xfrm>
            <a:off x="7470001" y="2512464"/>
            <a:ext cx="182880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Text Placeholder 3">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7470001" y="2529075"/>
            <a:ext cx="1828800" cy="2871263"/>
          </a:xfrm>
          <a:noFill/>
          <a:ln>
            <a:noFill/>
          </a:ln>
        </p:spPr>
        <p:txBody>
          <a:bodyPr lIns="182880" tIns="548640" rIns="182880" bIns="182880"/>
          <a:lstStyle>
            <a:lvl1pPr algn="ctr">
              <a:lnSpc>
                <a:spcPct val="90000"/>
              </a:lnSpc>
              <a:spcBef>
                <a:spcPts val="600"/>
              </a:spcBef>
              <a:buNone/>
              <a:defRPr sz="2000">
                <a:solidFill>
                  <a:schemeClr val="accent5"/>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cxnSp>
        <p:nvCxnSpPr>
          <p:cNvPr id="21" name="Straight Connector 20">
            <a:extLst>
              <a:ext uri="{FF2B5EF4-FFF2-40B4-BE49-F238E27FC236}">
                <a16:creationId xmlns:a16="http://schemas.microsoft.com/office/drawing/2014/main" id="{E8B64954-CA3A-494E-B70D-3405C9F592D8}"/>
              </a:ext>
            </a:extLst>
          </p:cNvPr>
          <p:cNvCxnSpPr/>
          <p:nvPr/>
        </p:nvCxnSpPr>
        <p:spPr bwMode="gray">
          <a:xfrm>
            <a:off x="9752013" y="2512464"/>
            <a:ext cx="1828800" cy="0"/>
          </a:xfrm>
          <a:prstGeom prst="line">
            <a:avLst/>
          </a:prstGeom>
          <a:ln w="25400">
            <a:solidFill>
              <a:srgbClr val="53565A"/>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 name="Text Placeholder 3">
            <a:extLst>
              <a:ext uri="{FF2B5EF4-FFF2-40B4-BE49-F238E27FC236}">
                <a16:creationId xmlns:a16="http://schemas.microsoft.com/office/drawing/2014/main" id="{CDC9B65E-8BAA-4676-9F32-44EC3772D342}"/>
              </a:ext>
            </a:extLst>
          </p:cNvPr>
          <p:cNvSpPr>
            <a:spLocks noGrp="1"/>
          </p:cNvSpPr>
          <p:nvPr>
            <p:ph type="body" sz="quarter" idx="23" hasCustomPrompt="1"/>
          </p:nvPr>
        </p:nvSpPr>
        <p:spPr>
          <a:xfrm>
            <a:off x="9752013" y="2529075"/>
            <a:ext cx="1828800" cy="2871263"/>
          </a:xfrm>
          <a:noFill/>
          <a:ln>
            <a:noFill/>
          </a:ln>
        </p:spPr>
        <p:txBody>
          <a:bodyPr lIns="182880" tIns="548640" rIns="182880" bIns="182880"/>
          <a:lstStyle>
            <a:lvl1pPr algn="ctr">
              <a:lnSpc>
                <a:spcPct val="90000"/>
              </a:lnSpc>
              <a:spcBef>
                <a:spcPts val="600"/>
              </a:spcBef>
              <a:buNone/>
              <a:defRPr sz="2000">
                <a:solidFill>
                  <a:schemeClr val="bg2">
                    <a:lumMod val="25000"/>
                  </a:schemeClr>
                </a:solidFill>
              </a:defRPr>
            </a:lvl1pPr>
            <a:lvl2pPr marL="285750" indent="-285750" algn="ctr">
              <a:lnSpc>
                <a:spcPct val="100000"/>
              </a:lnSpc>
              <a:spcBef>
                <a:spcPts val="600"/>
              </a:spcBef>
              <a:buFont typeface="Open Sans" panose="020B0606030504020204" pitchFamily="34" charset="0"/>
              <a:buChar char="​"/>
              <a:defRPr lang="en-US" sz="16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23" name="page number">
            <a:extLst>
              <a:ext uri="{FF2B5EF4-FFF2-40B4-BE49-F238E27FC236}">
                <a16:creationId xmlns:a16="http://schemas.microsoft.com/office/drawing/2014/main" id="{778B9E91-325F-BB46-BB33-20219DF70C9B}"/>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37" name="Oval 36">
            <a:extLst>
              <a:ext uri="{FF2B5EF4-FFF2-40B4-BE49-F238E27FC236}">
                <a16:creationId xmlns:a16="http://schemas.microsoft.com/office/drawing/2014/main" id="{FF6B89BA-DE17-014A-9ED8-790359ADE9FE}"/>
              </a:ext>
              <a:ext uri="{C183D7F6-B498-43B3-948B-1728B52AA6E4}">
                <adec:decorative xmlns:adec="http://schemas.microsoft.com/office/drawing/2017/decorative" val="1"/>
              </a:ext>
            </a:extLst>
          </p:cNvPr>
          <p:cNvSpPr/>
          <p:nvPr/>
        </p:nvSpPr>
        <p:spPr bwMode="gray">
          <a:xfrm>
            <a:off x="1131007" y="2118221"/>
            <a:ext cx="788487" cy="788487"/>
          </a:xfrm>
          <a:prstGeom prst="ellipse">
            <a:avLst/>
          </a:prstGeom>
          <a:solidFill>
            <a:schemeClr val="bg1"/>
          </a:solid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accent4"/>
                </a:solidFill>
              </a:rPr>
              <a:t>1</a:t>
            </a:r>
          </a:p>
        </p:txBody>
      </p:sp>
      <p:sp>
        <p:nvSpPr>
          <p:cNvPr id="39" name="Oval 38">
            <a:extLst>
              <a:ext uri="{FF2B5EF4-FFF2-40B4-BE49-F238E27FC236}">
                <a16:creationId xmlns:a16="http://schemas.microsoft.com/office/drawing/2014/main" id="{C609A2D8-18F0-8A47-BD8C-DD1AF0B615E1}"/>
              </a:ext>
              <a:ext uri="{C183D7F6-B498-43B3-948B-1728B52AA6E4}">
                <adec:decorative xmlns:adec="http://schemas.microsoft.com/office/drawing/2017/decorative" val="1"/>
              </a:ext>
            </a:extLst>
          </p:cNvPr>
          <p:cNvSpPr/>
          <p:nvPr/>
        </p:nvSpPr>
        <p:spPr bwMode="gray">
          <a:xfrm>
            <a:off x="3414170" y="2118221"/>
            <a:ext cx="788487" cy="788487"/>
          </a:xfrm>
          <a:prstGeom prst="ellipse">
            <a:avLst/>
          </a:prstGeom>
          <a:solidFill>
            <a:schemeClr val="bg1"/>
          </a:solidFill>
          <a:ln w="25400">
            <a:solidFill>
              <a:schemeClr val="accent3"/>
            </a:solidFill>
          </a:ln>
          <a:effectLst/>
        </p:spPr>
        <p:txBody>
          <a:bodyPr vert="horz" wrap="square" lIns="0" tIns="0" rIns="0" bIns="0" numCol="1" anchor="ctr" anchorCtr="0" compatLnSpc="1">
            <a:prstTxWarp prst="textNoShape">
              <a:avLst/>
            </a:prstTxWarp>
          </a:bodyPr>
          <a:lstStyle/>
          <a:p>
            <a:pPr lvl="0" algn="ctr"/>
            <a:r>
              <a:rPr lang="en-US" dirty="0">
                <a:solidFill>
                  <a:schemeClr val="accent3"/>
                </a:solidFill>
              </a:rPr>
              <a:t>2</a:t>
            </a:r>
          </a:p>
        </p:txBody>
      </p:sp>
      <p:sp>
        <p:nvSpPr>
          <p:cNvPr id="38" name="Oval 37">
            <a:extLst>
              <a:ext uri="{FF2B5EF4-FFF2-40B4-BE49-F238E27FC236}">
                <a16:creationId xmlns:a16="http://schemas.microsoft.com/office/drawing/2014/main" id="{5B0E1473-AF0F-7C48-8FAF-3848C1B61D3D}"/>
              </a:ext>
              <a:ext uri="{C183D7F6-B498-43B3-948B-1728B52AA6E4}">
                <adec:decorative xmlns:adec="http://schemas.microsoft.com/office/drawing/2017/decorative" val="1"/>
              </a:ext>
            </a:extLst>
          </p:cNvPr>
          <p:cNvSpPr/>
          <p:nvPr/>
        </p:nvSpPr>
        <p:spPr bwMode="gray">
          <a:xfrm>
            <a:off x="5705250" y="2118221"/>
            <a:ext cx="788487" cy="788487"/>
          </a:xfrm>
          <a:prstGeom prst="ellipse">
            <a:avLst/>
          </a:prstGeom>
          <a:solidFill>
            <a:schemeClr val="bg1"/>
          </a:solidFill>
          <a:ln w="254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2"/>
                </a:solidFill>
              </a:rPr>
              <a:t>3</a:t>
            </a:r>
          </a:p>
        </p:txBody>
      </p:sp>
      <p:sp>
        <p:nvSpPr>
          <p:cNvPr id="40" name="Oval 39">
            <a:extLst>
              <a:ext uri="{FF2B5EF4-FFF2-40B4-BE49-F238E27FC236}">
                <a16:creationId xmlns:a16="http://schemas.microsoft.com/office/drawing/2014/main" id="{E4E1A06A-E5D9-064B-85F4-74B463C7BDD3}"/>
              </a:ext>
              <a:ext uri="{C183D7F6-B498-43B3-948B-1728B52AA6E4}">
                <adec:decorative xmlns:adec="http://schemas.microsoft.com/office/drawing/2017/decorative" val="1"/>
              </a:ext>
            </a:extLst>
          </p:cNvPr>
          <p:cNvSpPr/>
          <p:nvPr/>
        </p:nvSpPr>
        <p:spPr bwMode="gray">
          <a:xfrm>
            <a:off x="7990158" y="2118221"/>
            <a:ext cx="788487" cy="788487"/>
          </a:xfrm>
          <a:prstGeom prst="ellipse">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5"/>
                </a:solidFill>
              </a:rPr>
              <a:t>4</a:t>
            </a:r>
          </a:p>
        </p:txBody>
      </p:sp>
      <p:sp>
        <p:nvSpPr>
          <p:cNvPr id="41" name="Oval 40">
            <a:extLst>
              <a:ext uri="{FF2B5EF4-FFF2-40B4-BE49-F238E27FC236}">
                <a16:creationId xmlns:a16="http://schemas.microsoft.com/office/drawing/2014/main" id="{B7824627-50AB-F94E-9519-EADC5841F8D3}"/>
              </a:ext>
              <a:ext uri="{C183D7F6-B498-43B3-948B-1728B52AA6E4}">
                <adec:decorative xmlns:adec="http://schemas.microsoft.com/office/drawing/2017/decorative" val="1"/>
              </a:ext>
            </a:extLst>
          </p:cNvPr>
          <p:cNvSpPr/>
          <p:nvPr/>
        </p:nvSpPr>
        <p:spPr bwMode="gray">
          <a:xfrm>
            <a:off x="10272170" y="2118221"/>
            <a:ext cx="788487" cy="788487"/>
          </a:xfrm>
          <a:prstGeom prst="ellipse">
            <a:avLst/>
          </a:prstGeom>
          <a:solidFill>
            <a:schemeClr val="bg1"/>
          </a:solidFill>
          <a:ln w="254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bg2">
                    <a:lumMod val="25000"/>
                  </a:schemeClr>
                </a:solidFill>
              </a:rPr>
              <a:t>5</a:t>
            </a:r>
          </a:p>
        </p:txBody>
      </p:sp>
      <p:sp>
        <p:nvSpPr>
          <p:cNvPr id="25" name="Rectangle 24">
            <a:extLst>
              <a:ext uri="{FF2B5EF4-FFF2-40B4-BE49-F238E27FC236}">
                <a16:creationId xmlns:a16="http://schemas.microsoft.com/office/drawing/2014/main" id="{C52EE46A-2B6A-D0CE-D67A-E39C4516F8BB}"/>
              </a:ext>
            </a:extLst>
          </p:cNvPr>
          <p:cNvSpPr/>
          <p:nvPr userDrawn="1"/>
        </p:nvSpPr>
        <p:spPr>
          <a:xfrm>
            <a:off x="2894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6" name="Rectangle 25">
            <a:extLst>
              <a:ext uri="{FF2B5EF4-FFF2-40B4-BE49-F238E27FC236}">
                <a16:creationId xmlns:a16="http://schemas.microsoft.com/office/drawing/2014/main" id="{1DC9EA80-9EA8-343E-F517-1CAD885879D6}"/>
              </a:ext>
            </a:extLst>
          </p:cNvPr>
          <p:cNvSpPr/>
          <p:nvPr userDrawn="1"/>
        </p:nvSpPr>
        <p:spPr>
          <a:xfrm>
            <a:off x="518509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27" name="Rectangle 26">
            <a:extLst>
              <a:ext uri="{FF2B5EF4-FFF2-40B4-BE49-F238E27FC236}">
                <a16:creationId xmlns:a16="http://schemas.microsoft.com/office/drawing/2014/main" id="{A8D23D95-E4CC-0B03-48A9-0EC81B2368E5}"/>
              </a:ext>
            </a:extLst>
          </p:cNvPr>
          <p:cNvSpPr/>
          <p:nvPr userDrawn="1"/>
        </p:nvSpPr>
        <p:spPr>
          <a:xfrm>
            <a:off x="747000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1" name="Rectangle 30">
            <a:extLst>
              <a:ext uri="{FF2B5EF4-FFF2-40B4-BE49-F238E27FC236}">
                <a16:creationId xmlns:a16="http://schemas.microsoft.com/office/drawing/2014/main" id="{3737E5D6-04BF-01BC-A221-0F1D603C51D8}"/>
              </a:ext>
            </a:extLst>
          </p:cNvPr>
          <p:cNvSpPr/>
          <p:nvPr userDrawn="1"/>
        </p:nvSpPr>
        <p:spPr>
          <a:xfrm>
            <a:off x="9752013"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3" name="Rectangle 32">
            <a:extLst>
              <a:ext uri="{FF2B5EF4-FFF2-40B4-BE49-F238E27FC236}">
                <a16:creationId xmlns:a16="http://schemas.microsoft.com/office/drawing/2014/main" id="{65142366-F01F-D56A-11BB-7D669E9AD2B4}"/>
              </a:ext>
            </a:extLst>
          </p:cNvPr>
          <p:cNvSpPr/>
          <p:nvPr userDrawn="1"/>
        </p:nvSpPr>
        <p:spPr>
          <a:xfrm>
            <a:off x="610851" y="2529075"/>
            <a:ext cx="1828800" cy="2871263"/>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cxnSp>
        <p:nvCxnSpPr>
          <p:cNvPr id="34" name="Straight Connector 33">
            <a:extLst>
              <a:ext uri="{FF2B5EF4-FFF2-40B4-BE49-F238E27FC236}">
                <a16:creationId xmlns:a16="http://schemas.microsoft.com/office/drawing/2014/main" id="{182EA033-41AE-6148-A260-889FF59E41C9}"/>
              </a:ext>
            </a:extLst>
          </p:cNvPr>
          <p:cNvCxnSpPr/>
          <p:nvPr userDrawn="1"/>
        </p:nvCxnSpPr>
        <p:spPr bwMode="gray">
          <a:xfrm>
            <a:off x="610850" y="2512464"/>
            <a:ext cx="18288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62FF207-1B75-1940-91E1-2692254C727F}"/>
              </a:ext>
            </a:extLst>
          </p:cNvPr>
          <p:cNvCxnSpPr/>
          <p:nvPr userDrawn="1"/>
        </p:nvCxnSpPr>
        <p:spPr bwMode="gray">
          <a:xfrm>
            <a:off x="2894013" y="2512464"/>
            <a:ext cx="1828800"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03341DC-DE80-5E4C-A4C9-C984D7074760}"/>
              </a:ext>
            </a:extLst>
          </p:cNvPr>
          <p:cNvCxnSpPr/>
          <p:nvPr userDrawn="1"/>
        </p:nvCxnSpPr>
        <p:spPr bwMode="gray">
          <a:xfrm>
            <a:off x="5185093" y="2512464"/>
            <a:ext cx="1828800"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128E238A-DE09-DD4F-A6F3-2F244E7301C3}"/>
              </a:ext>
            </a:extLst>
          </p:cNvPr>
          <p:cNvCxnSpPr/>
          <p:nvPr userDrawn="1"/>
        </p:nvCxnSpPr>
        <p:spPr bwMode="gray">
          <a:xfrm>
            <a:off x="7470001" y="2512464"/>
            <a:ext cx="1828800"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8B64954-CA3A-494E-B70D-3405C9F592D8}"/>
              </a:ext>
            </a:extLst>
          </p:cNvPr>
          <p:cNvCxnSpPr/>
          <p:nvPr userDrawn="1"/>
        </p:nvCxnSpPr>
        <p:spPr bwMode="gray">
          <a:xfrm>
            <a:off x="9752013" y="2512464"/>
            <a:ext cx="1828800" cy="0"/>
          </a:xfrm>
          <a:prstGeom prst="line">
            <a:avLst/>
          </a:prstGeom>
          <a:ln w="25400">
            <a:solidFill>
              <a:srgbClr val="53565A"/>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4" name="page number">
            <a:extLst>
              <a:ext uri="{FF2B5EF4-FFF2-40B4-BE49-F238E27FC236}">
                <a16:creationId xmlns:a16="http://schemas.microsoft.com/office/drawing/2014/main" id="{778B9E91-325F-BB46-BB33-20219DF70C9B}"/>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45" name="Oval 44">
            <a:extLst>
              <a:ext uri="{FF2B5EF4-FFF2-40B4-BE49-F238E27FC236}">
                <a16:creationId xmlns:a16="http://schemas.microsoft.com/office/drawing/2014/main" id="{FF6B89BA-DE17-014A-9ED8-790359ADE9FE}"/>
              </a:ext>
              <a:ext uri="{C183D7F6-B498-43B3-948B-1728B52AA6E4}">
                <adec:decorative xmlns:adec="http://schemas.microsoft.com/office/drawing/2017/decorative" val="1"/>
              </a:ext>
            </a:extLst>
          </p:cNvPr>
          <p:cNvSpPr/>
          <p:nvPr userDrawn="1"/>
        </p:nvSpPr>
        <p:spPr bwMode="gray">
          <a:xfrm>
            <a:off x="1131007" y="2118221"/>
            <a:ext cx="788487" cy="788487"/>
          </a:xfrm>
          <a:prstGeom prst="ellipse">
            <a:avLst/>
          </a:prstGeom>
          <a:solidFill>
            <a:schemeClr val="bg1"/>
          </a:solid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accent4"/>
                </a:solidFill>
              </a:rPr>
              <a:t>1</a:t>
            </a:r>
          </a:p>
        </p:txBody>
      </p:sp>
      <p:sp>
        <p:nvSpPr>
          <p:cNvPr id="46" name="Oval 45">
            <a:extLst>
              <a:ext uri="{FF2B5EF4-FFF2-40B4-BE49-F238E27FC236}">
                <a16:creationId xmlns:a16="http://schemas.microsoft.com/office/drawing/2014/main" id="{C609A2D8-18F0-8A47-BD8C-DD1AF0B615E1}"/>
              </a:ext>
              <a:ext uri="{C183D7F6-B498-43B3-948B-1728B52AA6E4}">
                <adec:decorative xmlns:adec="http://schemas.microsoft.com/office/drawing/2017/decorative" val="1"/>
              </a:ext>
            </a:extLst>
          </p:cNvPr>
          <p:cNvSpPr/>
          <p:nvPr userDrawn="1"/>
        </p:nvSpPr>
        <p:spPr bwMode="gray">
          <a:xfrm>
            <a:off x="3414170" y="2118221"/>
            <a:ext cx="788487" cy="788487"/>
          </a:xfrm>
          <a:prstGeom prst="ellipse">
            <a:avLst/>
          </a:prstGeom>
          <a:solidFill>
            <a:schemeClr val="bg1"/>
          </a:solidFill>
          <a:ln w="25400">
            <a:solidFill>
              <a:schemeClr val="accent3"/>
            </a:solidFill>
          </a:ln>
          <a:effectLst/>
        </p:spPr>
        <p:txBody>
          <a:bodyPr vert="horz" wrap="square" lIns="91440" tIns="45720" rIns="91440" bIns="45720" numCol="1" anchor="ctr" anchorCtr="0" compatLnSpc="1">
            <a:prstTxWarp prst="textNoShape">
              <a:avLst/>
            </a:prstTxWarp>
          </a:bodyPr>
          <a:lstStyle/>
          <a:p>
            <a:pPr lvl="0" algn="ctr"/>
            <a:r>
              <a:rPr lang="en-US" dirty="0">
                <a:solidFill>
                  <a:schemeClr val="accent3"/>
                </a:solidFill>
              </a:rPr>
              <a:t>2</a:t>
            </a:r>
          </a:p>
        </p:txBody>
      </p:sp>
      <p:sp>
        <p:nvSpPr>
          <p:cNvPr id="47" name="Oval 46">
            <a:extLst>
              <a:ext uri="{FF2B5EF4-FFF2-40B4-BE49-F238E27FC236}">
                <a16:creationId xmlns:a16="http://schemas.microsoft.com/office/drawing/2014/main" id="{5B0E1473-AF0F-7C48-8FAF-3848C1B61D3D}"/>
              </a:ext>
              <a:ext uri="{C183D7F6-B498-43B3-948B-1728B52AA6E4}">
                <adec:decorative xmlns:adec="http://schemas.microsoft.com/office/drawing/2017/decorative" val="1"/>
              </a:ext>
            </a:extLst>
          </p:cNvPr>
          <p:cNvSpPr/>
          <p:nvPr userDrawn="1"/>
        </p:nvSpPr>
        <p:spPr bwMode="gray">
          <a:xfrm>
            <a:off x="5705250" y="2118221"/>
            <a:ext cx="788487" cy="788487"/>
          </a:xfrm>
          <a:prstGeom prst="ellipse">
            <a:avLst/>
          </a:prstGeom>
          <a:solidFill>
            <a:schemeClr val="bg1"/>
          </a:solidFill>
          <a:ln w="254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2"/>
                </a:solidFill>
              </a:rPr>
              <a:t>3</a:t>
            </a:r>
          </a:p>
        </p:txBody>
      </p:sp>
      <p:sp>
        <p:nvSpPr>
          <p:cNvPr id="48" name="Oval 47">
            <a:extLst>
              <a:ext uri="{FF2B5EF4-FFF2-40B4-BE49-F238E27FC236}">
                <a16:creationId xmlns:a16="http://schemas.microsoft.com/office/drawing/2014/main" id="{E4E1A06A-E5D9-064B-85F4-74B463C7BDD3}"/>
              </a:ext>
              <a:ext uri="{C183D7F6-B498-43B3-948B-1728B52AA6E4}">
                <adec:decorative xmlns:adec="http://schemas.microsoft.com/office/drawing/2017/decorative" val="1"/>
              </a:ext>
            </a:extLst>
          </p:cNvPr>
          <p:cNvSpPr/>
          <p:nvPr userDrawn="1"/>
        </p:nvSpPr>
        <p:spPr bwMode="gray">
          <a:xfrm>
            <a:off x="7990158" y="2118221"/>
            <a:ext cx="788487" cy="788487"/>
          </a:xfrm>
          <a:prstGeom prst="ellipse">
            <a:avLst/>
          </a:prstGeom>
          <a:solidFill>
            <a:schemeClr val="bg1"/>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dirty="0">
                <a:solidFill>
                  <a:schemeClr val="accent5"/>
                </a:solidFill>
              </a:rPr>
              <a:t>4</a:t>
            </a:r>
          </a:p>
        </p:txBody>
      </p:sp>
      <p:sp>
        <p:nvSpPr>
          <p:cNvPr id="49" name="Oval 48">
            <a:extLst>
              <a:ext uri="{FF2B5EF4-FFF2-40B4-BE49-F238E27FC236}">
                <a16:creationId xmlns:a16="http://schemas.microsoft.com/office/drawing/2014/main" id="{B7824627-50AB-F94E-9519-EADC5841F8D3}"/>
              </a:ext>
              <a:ext uri="{C183D7F6-B498-43B3-948B-1728B52AA6E4}">
                <adec:decorative xmlns:adec="http://schemas.microsoft.com/office/drawing/2017/decorative" val="1"/>
              </a:ext>
            </a:extLst>
          </p:cNvPr>
          <p:cNvSpPr/>
          <p:nvPr userDrawn="1"/>
        </p:nvSpPr>
        <p:spPr bwMode="gray">
          <a:xfrm>
            <a:off x="10272170" y="2118221"/>
            <a:ext cx="788487" cy="788487"/>
          </a:xfrm>
          <a:prstGeom prst="ellipse">
            <a:avLst/>
          </a:prstGeom>
          <a:solidFill>
            <a:schemeClr val="bg1"/>
          </a:solidFill>
          <a:ln w="25400">
            <a:solidFill>
              <a:srgbClr val="53565A"/>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bg2">
                    <a:lumMod val="25000"/>
                  </a:schemeClr>
                </a:solidFill>
              </a:rPr>
              <a:t>5</a:t>
            </a:r>
          </a:p>
        </p:txBody>
      </p:sp>
    </p:spTree>
    <p:extLst>
      <p:ext uri="{BB962C8B-B14F-4D97-AF65-F5344CB8AC3E}">
        <p14:creationId xmlns:p14="http://schemas.microsoft.com/office/powerpoint/2010/main" val="545820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Char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BA8A47F-2243-412F-A1A8-FA8E3475F5E1}"/>
              </a:ext>
            </a:extLst>
          </p:cNvPr>
          <p:cNvSpPr>
            <a:spLocks noGrp="1"/>
          </p:cNvSpPr>
          <p:nvPr>
            <p:ph type="title" hasCustomPrompt="1"/>
          </p:nvPr>
        </p:nvSpPr>
        <p:spPr/>
        <p:txBody>
          <a:bodyPr/>
          <a:lstStyle>
            <a:lvl1pPr>
              <a:defRPr>
                <a:solidFill>
                  <a:schemeClr val="accent2"/>
                </a:solidFill>
              </a:defRPr>
            </a:lvl1pPr>
          </a:lstStyle>
          <a:p>
            <a:r>
              <a:rPr lang="en-US"/>
              <a:t>Sample Chart Layout for Text – Click to Add a Title</a:t>
            </a:r>
          </a:p>
        </p:txBody>
      </p:sp>
      <p:sp>
        <p:nvSpPr>
          <p:cNvPr id="16" name="Subtitle 2">
            <a:extLst>
              <a:ext uri="{FF2B5EF4-FFF2-40B4-BE49-F238E27FC236}">
                <a16:creationId xmlns:a16="http://schemas.microsoft.com/office/drawing/2014/main" id="{EEA64E97-C31D-49B1-B8E1-20E5F404F516}"/>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35" name="Text Placeholder 3" descr="Row 1 label">
            <a:extLst>
              <a:ext uri="{FF2B5EF4-FFF2-40B4-BE49-F238E27FC236}">
                <a16:creationId xmlns:a16="http://schemas.microsoft.com/office/drawing/2014/main" id="{7077ED63-7149-B64F-804C-21E2E59DF7DB}"/>
              </a:ext>
            </a:extLst>
          </p:cNvPr>
          <p:cNvSpPr>
            <a:spLocks noGrp="1"/>
          </p:cNvSpPr>
          <p:nvPr>
            <p:ph type="body" sz="quarter" idx="30" hasCustomPrompt="1"/>
          </p:nvPr>
        </p:nvSpPr>
        <p:spPr>
          <a:xfrm>
            <a:off x="271464" y="1546789"/>
            <a:ext cx="574570" cy="439174"/>
          </a:xfrm>
          <a:solidFill>
            <a:schemeClr val="bg1"/>
          </a:solid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Open Sans" panose="020B0606030504020204" pitchFamily="34" charset="0"/>
              <a:buChar char="​"/>
              <a:defRPr sz="1400"/>
            </a:lvl2pPr>
          </a:lstStyle>
          <a:p>
            <a:pPr lvl="0"/>
            <a:r>
              <a:rPr lang="en-US" dirty="0"/>
              <a:t>Click to add text</a:t>
            </a:r>
          </a:p>
        </p:txBody>
      </p:sp>
      <p:sp>
        <p:nvSpPr>
          <p:cNvPr id="34" name="Text Placeholder 3" descr="Row 1 text box is a long horizontal box the width of the slide acting as a header. ">
            <a:extLst>
              <a:ext uri="{FF2B5EF4-FFF2-40B4-BE49-F238E27FC236}">
                <a16:creationId xmlns:a16="http://schemas.microsoft.com/office/drawing/2014/main" id="{03CB2304-DD0F-674C-91F7-863CDF3757FC}"/>
              </a:ext>
            </a:extLst>
          </p:cNvPr>
          <p:cNvSpPr>
            <a:spLocks noGrp="1"/>
          </p:cNvSpPr>
          <p:nvPr>
            <p:ph type="body" sz="quarter" idx="29" hasCustomPrompt="1"/>
          </p:nvPr>
        </p:nvSpPr>
        <p:spPr>
          <a:xfrm>
            <a:off x="1034040" y="1561701"/>
            <a:ext cx="10630969" cy="429469"/>
          </a:xfrm>
          <a:solidFill>
            <a:srgbClr val="F4F8FA"/>
          </a:solidFill>
          <a:ln w="12700">
            <a:solidFill>
              <a:schemeClr val="accent3">
                <a:alpha val="25000"/>
              </a:schemeClr>
            </a:solidFill>
          </a:ln>
        </p:spPr>
        <p:txBody>
          <a:bodyPr tIns="91440"/>
          <a:lstStyle>
            <a:lvl1pPr algn="ctr">
              <a:lnSpc>
                <a:spcPct val="100000"/>
              </a:lnSpc>
              <a:spcBef>
                <a:spcPts val="600"/>
              </a:spcBef>
              <a:buNone/>
              <a:defRPr sz="1600">
                <a:solidFill>
                  <a:schemeClr val="tx1"/>
                </a:solidFill>
              </a:defRPr>
            </a:lvl1pPr>
            <a:lvl2pPr marL="0" indent="0" algn="ctr">
              <a:lnSpc>
                <a:spcPct val="100000"/>
              </a:lnSpc>
              <a:spcBef>
                <a:spcPts val="600"/>
              </a:spcBef>
              <a:buFont typeface="Open Sans" panose="020B0606030504020204" pitchFamily="34" charset="0"/>
              <a:buChar char="​"/>
              <a:defRPr sz="1400"/>
            </a:lvl2pPr>
          </a:lstStyle>
          <a:p>
            <a:pPr lvl="0"/>
            <a:r>
              <a:rPr lang="en-US"/>
              <a:t>Click to add text</a:t>
            </a:r>
          </a:p>
        </p:txBody>
      </p:sp>
      <p:sp>
        <p:nvSpPr>
          <p:cNvPr id="36" name="Text Placeholder 3" descr="Row 2 label; this row shows 4 content boxes labeled A through D, each is a different color and holds text.">
            <a:extLst>
              <a:ext uri="{FF2B5EF4-FFF2-40B4-BE49-F238E27FC236}">
                <a16:creationId xmlns:a16="http://schemas.microsoft.com/office/drawing/2014/main" id="{3E62FD32-E978-1A49-AA98-60CD14AE003D}"/>
              </a:ext>
            </a:extLst>
          </p:cNvPr>
          <p:cNvSpPr>
            <a:spLocks noGrp="1"/>
          </p:cNvSpPr>
          <p:nvPr>
            <p:ph type="body" sz="quarter" idx="31" hasCustomPrompt="1"/>
          </p:nvPr>
        </p:nvSpPr>
        <p:spPr>
          <a:xfrm>
            <a:off x="285750" y="3304775"/>
            <a:ext cx="560283" cy="658026"/>
          </a:xfrm>
          <a:solidFill>
            <a:schemeClr val="bg1"/>
          </a:solid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Open Sans" panose="020B0606030504020204" pitchFamily="34" charset="0"/>
              <a:buChar char="​"/>
              <a:defRPr sz="1400"/>
            </a:lvl2pPr>
          </a:lstStyle>
          <a:p>
            <a:pPr lvl="0"/>
            <a:r>
              <a:rPr lang="en-US" dirty="0"/>
              <a:t>Click to add text</a:t>
            </a:r>
          </a:p>
        </p:txBody>
      </p:sp>
      <p:cxnSp>
        <p:nvCxnSpPr>
          <p:cNvPr id="4" name="Straight Connector 3">
            <a:extLst>
              <a:ext uri="{FF2B5EF4-FFF2-40B4-BE49-F238E27FC236}">
                <a16:creationId xmlns:a16="http://schemas.microsoft.com/office/drawing/2014/main" id="{7E322B01-8AA4-6B48-98B8-90F64F16E3E4}"/>
              </a:ext>
              <a:ext uri="{C183D7F6-B498-43B3-948B-1728B52AA6E4}">
                <adec:decorative xmlns:adec="http://schemas.microsoft.com/office/drawing/2017/decorative" val="1"/>
              </a:ext>
            </a:extLst>
          </p:cNvPr>
          <p:cNvCxnSpPr/>
          <p:nvPr/>
        </p:nvCxnSpPr>
        <p:spPr bwMode="gray">
          <a:xfrm>
            <a:off x="1093076" y="2680138"/>
            <a:ext cx="2459421"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Text Placeholder 3" descr="Row 2, box 1: text in plum">
            <a:extLst>
              <a:ext uri="{FF2B5EF4-FFF2-40B4-BE49-F238E27FC236}">
                <a16:creationId xmlns:a16="http://schemas.microsoft.com/office/drawing/2014/main" id="{2E201879-B985-4ADE-8AD6-6C3E14CE0AFE}"/>
              </a:ext>
            </a:extLst>
          </p:cNvPr>
          <p:cNvSpPr>
            <a:spLocks noGrp="1"/>
          </p:cNvSpPr>
          <p:nvPr>
            <p:ph type="body" sz="quarter" idx="19" hasCustomPrompt="1"/>
          </p:nvPr>
        </p:nvSpPr>
        <p:spPr>
          <a:xfrm>
            <a:off x="1102407" y="2699834"/>
            <a:ext cx="2459421" cy="1949198"/>
          </a:xfrm>
          <a:noFill/>
          <a:ln w="15875">
            <a:noFill/>
          </a:ln>
        </p:spPr>
        <p:txBody>
          <a:bodyPr tIns="365760"/>
          <a:lstStyle>
            <a:lvl1pPr algn="ctr">
              <a:lnSpc>
                <a:spcPct val="100000"/>
              </a:lnSpc>
              <a:spcBef>
                <a:spcPts val="600"/>
              </a:spcBef>
              <a:buNone/>
              <a:defRPr sz="1800">
                <a:solidFill>
                  <a:schemeClr val="accent4"/>
                </a:solidFill>
              </a:defRPr>
            </a:lvl1pPr>
            <a:lvl2pPr marL="0" indent="0" algn="ctr">
              <a:lnSpc>
                <a:spcPct val="100000"/>
              </a:lnSpc>
              <a:spcBef>
                <a:spcPts val="600"/>
              </a:spcBef>
              <a:buFont typeface="Open Sans" panose="020B0606030504020204" pitchFamily="34" charset="0"/>
              <a:buChar char="​"/>
              <a:defRPr sz="1400">
                <a:solidFill>
                  <a:schemeClr val="tx1"/>
                </a:solidFill>
              </a:defRPr>
            </a:lvl2pPr>
          </a:lstStyle>
          <a:p>
            <a:pPr lvl="0"/>
            <a:r>
              <a:rPr lang="en-US" dirty="0"/>
              <a:t>Click to add text</a:t>
            </a:r>
          </a:p>
          <a:p>
            <a:pPr lvl="1"/>
            <a:r>
              <a:rPr lang="en-US" dirty="0"/>
              <a:t>Second level</a:t>
            </a:r>
          </a:p>
        </p:txBody>
      </p:sp>
      <p:cxnSp>
        <p:nvCxnSpPr>
          <p:cNvPr id="32" name="Straight Connector 31">
            <a:extLst>
              <a:ext uri="{FF2B5EF4-FFF2-40B4-BE49-F238E27FC236}">
                <a16:creationId xmlns:a16="http://schemas.microsoft.com/office/drawing/2014/main" id="{65C97932-042E-C845-9300-586CA61AB8C0}"/>
              </a:ext>
              <a:ext uri="{C183D7F6-B498-43B3-948B-1728B52AA6E4}">
                <adec:decorative xmlns:adec="http://schemas.microsoft.com/office/drawing/2017/decorative" val="1"/>
              </a:ext>
            </a:extLst>
          </p:cNvPr>
          <p:cNvCxnSpPr/>
          <p:nvPr/>
        </p:nvCxnSpPr>
        <p:spPr bwMode="gray">
          <a:xfrm>
            <a:off x="3805092" y="2680138"/>
            <a:ext cx="245942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Text Placeholder 3" descr="Row 2, box 3: text in indigo">
            <a:extLst>
              <a:ext uri="{FF2B5EF4-FFF2-40B4-BE49-F238E27FC236}">
                <a16:creationId xmlns:a16="http://schemas.microsoft.com/office/drawing/2014/main" id="{62D3946B-F2F1-42AF-8E89-00761A7745D4}"/>
              </a:ext>
            </a:extLst>
          </p:cNvPr>
          <p:cNvSpPr>
            <a:spLocks noGrp="1"/>
          </p:cNvSpPr>
          <p:nvPr>
            <p:ph type="body" sz="quarter" idx="21" hasCustomPrompt="1"/>
          </p:nvPr>
        </p:nvSpPr>
        <p:spPr>
          <a:xfrm>
            <a:off x="3816081" y="2699834"/>
            <a:ext cx="2459421" cy="1949198"/>
          </a:xfrm>
          <a:noFill/>
          <a:ln w="15875">
            <a:noFill/>
          </a:ln>
        </p:spPr>
        <p:txBody>
          <a:bodyPr tIns="365760"/>
          <a:lstStyle>
            <a:lvl1pPr algn="ctr">
              <a:lnSpc>
                <a:spcPct val="100000"/>
              </a:lnSpc>
              <a:spcBef>
                <a:spcPts val="600"/>
              </a:spcBef>
              <a:defRPr sz="1800">
                <a:solidFill>
                  <a:schemeClr val="accent3"/>
                </a:solidFill>
              </a:defRPr>
            </a:lvl1pPr>
            <a:lvl2pPr marL="285750" indent="-285750" algn="ctr">
              <a:lnSpc>
                <a:spcPct val="100000"/>
              </a:lnSpc>
              <a:spcBef>
                <a:spcPts val="600"/>
              </a:spcBef>
              <a:buFont typeface="Open Sans" panose="020B0606030504020204" pitchFamily="34" charset="0"/>
              <a:buChar char="​"/>
              <a:defRPr lang="en-US" sz="14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cxnSp>
        <p:nvCxnSpPr>
          <p:cNvPr id="25" name="Straight Connector 24">
            <a:extLst>
              <a:ext uri="{FF2B5EF4-FFF2-40B4-BE49-F238E27FC236}">
                <a16:creationId xmlns:a16="http://schemas.microsoft.com/office/drawing/2014/main" id="{1AEFB321-2C32-7945-A5C9-A9F00AE58896}"/>
              </a:ext>
              <a:ext uri="{C183D7F6-B498-43B3-948B-1728B52AA6E4}">
                <adec:decorative xmlns:adec="http://schemas.microsoft.com/office/drawing/2017/decorative" val="1"/>
              </a:ext>
            </a:extLst>
          </p:cNvPr>
          <p:cNvCxnSpPr/>
          <p:nvPr/>
        </p:nvCxnSpPr>
        <p:spPr bwMode="gray">
          <a:xfrm>
            <a:off x="6517108" y="2680138"/>
            <a:ext cx="2459421"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Text Placeholder 3" descr="Row 2, box 2: text in ocean">
            <a:extLst>
              <a:ext uri="{FF2B5EF4-FFF2-40B4-BE49-F238E27FC236}">
                <a16:creationId xmlns:a16="http://schemas.microsoft.com/office/drawing/2014/main" id="{9495BAAB-E860-4075-9DA3-ABA7C32D235E}"/>
              </a:ext>
            </a:extLst>
          </p:cNvPr>
          <p:cNvSpPr>
            <a:spLocks noGrp="1"/>
          </p:cNvSpPr>
          <p:nvPr>
            <p:ph type="body" sz="quarter" idx="20" hasCustomPrompt="1"/>
          </p:nvPr>
        </p:nvSpPr>
        <p:spPr>
          <a:xfrm>
            <a:off x="6529755" y="2699834"/>
            <a:ext cx="2459421" cy="1949198"/>
          </a:xfrm>
          <a:noFill/>
          <a:ln w="15875">
            <a:noFill/>
          </a:ln>
        </p:spPr>
        <p:txBody>
          <a:bodyPr tIns="365760"/>
          <a:lstStyle>
            <a:lvl1pPr algn="ctr">
              <a:lnSpc>
                <a:spcPct val="100000"/>
              </a:lnSpc>
              <a:spcBef>
                <a:spcPts val="600"/>
              </a:spcBef>
              <a:buNone/>
              <a:defRPr sz="1800">
                <a:solidFill>
                  <a:schemeClr val="accent2"/>
                </a:solidFill>
              </a:defRPr>
            </a:lvl1pPr>
            <a:lvl2pPr marL="285750" indent="-285750" algn="ctr">
              <a:lnSpc>
                <a:spcPct val="100000"/>
              </a:lnSpc>
              <a:spcBef>
                <a:spcPts val="600"/>
              </a:spcBef>
              <a:buFont typeface="Open Sans" panose="020B0606030504020204" pitchFamily="34" charset="0"/>
              <a:buChar char="​"/>
              <a:defRPr lang="en-US" sz="1400" kern="120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cxnSp>
        <p:nvCxnSpPr>
          <p:cNvPr id="38" name="Straight Connector 37">
            <a:extLst>
              <a:ext uri="{FF2B5EF4-FFF2-40B4-BE49-F238E27FC236}">
                <a16:creationId xmlns:a16="http://schemas.microsoft.com/office/drawing/2014/main" id="{D68A42CD-A1AD-9149-80A3-4BFE5D75E3AB}"/>
              </a:ext>
              <a:ext uri="{C183D7F6-B498-43B3-948B-1728B52AA6E4}">
                <adec:decorative xmlns:adec="http://schemas.microsoft.com/office/drawing/2017/decorative" val="1"/>
              </a:ext>
            </a:extLst>
          </p:cNvPr>
          <p:cNvCxnSpPr/>
          <p:nvPr/>
        </p:nvCxnSpPr>
        <p:spPr bwMode="gray">
          <a:xfrm>
            <a:off x="9229123" y="2680138"/>
            <a:ext cx="2459421"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Text Placeholder 3" descr="Row 2, box 4: text in dark green">
            <a:extLst>
              <a:ext uri="{FF2B5EF4-FFF2-40B4-BE49-F238E27FC236}">
                <a16:creationId xmlns:a16="http://schemas.microsoft.com/office/drawing/2014/main" id="{22F84664-2E68-46AE-AE2C-E8D2B6C9A1DD}"/>
              </a:ext>
            </a:extLst>
          </p:cNvPr>
          <p:cNvSpPr>
            <a:spLocks noGrp="1"/>
          </p:cNvSpPr>
          <p:nvPr>
            <p:ph type="body" sz="quarter" idx="22" hasCustomPrompt="1"/>
          </p:nvPr>
        </p:nvSpPr>
        <p:spPr>
          <a:xfrm>
            <a:off x="9243428" y="2699834"/>
            <a:ext cx="2459421" cy="1949198"/>
          </a:xfrm>
          <a:noFill/>
          <a:ln w="15875">
            <a:noFill/>
          </a:ln>
        </p:spPr>
        <p:txBody>
          <a:bodyPr tIns="365760"/>
          <a:lstStyle>
            <a:lvl1pPr algn="ctr">
              <a:lnSpc>
                <a:spcPct val="100000"/>
              </a:lnSpc>
              <a:spcBef>
                <a:spcPts val="600"/>
              </a:spcBef>
              <a:buNone/>
              <a:defRPr sz="1800">
                <a:solidFill>
                  <a:schemeClr val="accent5"/>
                </a:solidFill>
              </a:defRPr>
            </a:lvl1pPr>
            <a:lvl2pPr marL="285750" indent="-285750" algn="ctr">
              <a:lnSpc>
                <a:spcPct val="100000"/>
              </a:lnSpc>
              <a:spcBef>
                <a:spcPts val="600"/>
              </a:spcBef>
              <a:buFont typeface="Open Sans" panose="020B0606030504020204" pitchFamily="34" charset="0"/>
              <a:buChar char="​"/>
              <a:defRPr lang="en-US" sz="1400" kern="1200" dirty="0">
                <a:solidFill>
                  <a:schemeClr val="tx1"/>
                </a:solidFill>
                <a:latin typeface="+mn-lt"/>
                <a:ea typeface="+mn-ea"/>
                <a:cs typeface="+mn-cs"/>
              </a:defRPr>
            </a:lvl2pPr>
          </a:lstStyle>
          <a:p>
            <a:pPr lvl="0"/>
            <a:r>
              <a:rPr lang="en-US" dirty="0"/>
              <a:t>Click to add text</a:t>
            </a:r>
          </a:p>
          <a:p>
            <a:pPr marL="0" lvl="1" indent="0" algn="ctr" defTabSz="914400" rtl="0" eaLnBrk="1" latinLnBrk="0" hangingPunct="1">
              <a:lnSpc>
                <a:spcPct val="100000"/>
              </a:lnSpc>
              <a:spcBef>
                <a:spcPts val="600"/>
              </a:spcBef>
              <a:buClr>
                <a:schemeClr val="bg2">
                  <a:lumMod val="25000"/>
                </a:schemeClr>
              </a:buClr>
              <a:buSzPct val="90000"/>
              <a:buFont typeface="Open Sans" panose="020B0606030504020204" pitchFamily="34" charset="0"/>
              <a:buChar char="​"/>
            </a:pPr>
            <a:r>
              <a:rPr lang="en-US" dirty="0"/>
              <a:t>Second level</a:t>
            </a:r>
          </a:p>
        </p:txBody>
      </p:sp>
      <p:sp>
        <p:nvSpPr>
          <p:cNvPr id="37" name="Text Placeholder 3" descr="Row 3 label: this row shows six, small content boxes in a horiztonal row">
            <a:extLst>
              <a:ext uri="{FF2B5EF4-FFF2-40B4-BE49-F238E27FC236}">
                <a16:creationId xmlns:a16="http://schemas.microsoft.com/office/drawing/2014/main" id="{EF286E42-C44A-274D-B9C1-D21F1AD1DEB2}"/>
              </a:ext>
            </a:extLst>
          </p:cNvPr>
          <p:cNvSpPr>
            <a:spLocks noGrp="1"/>
          </p:cNvSpPr>
          <p:nvPr>
            <p:ph type="body" sz="quarter" idx="32" hasCustomPrompt="1"/>
          </p:nvPr>
        </p:nvSpPr>
        <p:spPr>
          <a:xfrm>
            <a:off x="300038" y="5065521"/>
            <a:ext cx="545995" cy="658026"/>
          </a:xfrm>
          <a:solidFill>
            <a:schemeClr val="bg1"/>
          </a:solidFill>
          <a:ln w="12700">
            <a:noFill/>
          </a:ln>
        </p:spPr>
        <p:txBody>
          <a:bodyPr tIns="91440"/>
          <a:lstStyle>
            <a:lvl1pPr algn="ctr">
              <a:lnSpc>
                <a:spcPct val="100000"/>
              </a:lnSpc>
              <a:spcBef>
                <a:spcPts val="600"/>
              </a:spcBef>
              <a:buNone/>
              <a:defRPr sz="1000">
                <a:solidFill>
                  <a:schemeClr val="tx1"/>
                </a:solidFill>
              </a:defRPr>
            </a:lvl1pPr>
            <a:lvl2pPr marL="0" indent="0" algn="ctr">
              <a:lnSpc>
                <a:spcPct val="100000"/>
              </a:lnSpc>
              <a:spcBef>
                <a:spcPts val="600"/>
              </a:spcBef>
              <a:buFont typeface="Open Sans" panose="020B0606030504020204" pitchFamily="34" charset="0"/>
              <a:buChar char="​"/>
              <a:defRPr sz="1400"/>
            </a:lvl2pPr>
          </a:lstStyle>
          <a:p>
            <a:pPr lvl="0"/>
            <a:r>
              <a:rPr lang="en-US"/>
              <a:t>Click to add text</a:t>
            </a:r>
          </a:p>
        </p:txBody>
      </p:sp>
      <p:sp>
        <p:nvSpPr>
          <p:cNvPr id="20" name="Text Placeholder 3" descr="Row 3, text box 1">
            <a:extLst>
              <a:ext uri="{FF2B5EF4-FFF2-40B4-BE49-F238E27FC236}">
                <a16:creationId xmlns:a16="http://schemas.microsoft.com/office/drawing/2014/main" id="{828E38C7-4E21-F24B-B372-9632EC441D7F}"/>
              </a:ext>
            </a:extLst>
          </p:cNvPr>
          <p:cNvSpPr>
            <a:spLocks noGrp="1"/>
          </p:cNvSpPr>
          <p:nvPr>
            <p:ph type="body" sz="quarter" idx="23" hasCustomPrompt="1"/>
          </p:nvPr>
        </p:nvSpPr>
        <p:spPr>
          <a:xfrm>
            <a:off x="1115051"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Open Sans" panose="020B0606030504020204" pitchFamily="34" charset="0"/>
              <a:buChar char="​"/>
              <a:defRPr sz="1000">
                <a:solidFill>
                  <a:schemeClr val="tx1"/>
                </a:solidFill>
              </a:defRPr>
            </a:lvl2pPr>
          </a:lstStyle>
          <a:p>
            <a:pPr lvl="0"/>
            <a:r>
              <a:rPr lang="en-US"/>
              <a:t>Click to add text</a:t>
            </a:r>
          </a:p>
          <a:p>
            <a:pPr lvl="1"/>
            <a:r>
              <a:rPr lang="en-US"/>
              <a:t>Second level</a:t>
            </a:r>
          </a:p>
        </p:txBody>
      </p:sp>
      <p:sp>
        <p:nvSpPr>
          <p:cNvPr id="21" name="Text Placeholder 3" descr="Row 3, text box 2">
            <a:extLst>
              <a:ext uri="{FF2B5EF4-FFF2-40B4-BE49-F238E27FC236}">
                <a16:creationId xmlns:a16="http://schemas.microsoft.com/office/drawing/2014/main" id="{8B2FDC15-7948-0244-83E4-0CDCDBC619B3}"/>
              </a:ext>
            </a:extLst>
          </p:cNvPr>
          <p:cNvSpPr>
            <a:spLocks noGrp="1"/>
          </p:cNvSpPr>
          <p:nvPr>
            <p:ph type="body" sz="quarter" idx="24" hasCustomPrompt="1"/>
          </p:nvPr>
        </p:nvSpPr>
        <p:spPr>
          <a:xfrm>
            <a:off x="2886312"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Open Sans" panose="020B0606030504020204" pitchFamily="34" charset="0"/>
              <a:buChar char="​"/>
              <a:defRPr sz="1000">
                <a:solidFill>
                  <a:schemeClr val="tx1"/>
                </a:solidFill>
              </a:defRPr>
            </a:lvl2pPr>
          </a:lstStyle>
          <a:p>
            <a:pPr lvl="0"/>
            <a:r>
              <a:rPr lang="en-US"/>
              <a:t>Click to add text</a:t>
            </a:r>
          </a:p>
          <a:p>
            <a:pPr lvl="1"/>
            <a:r>
              <a:rPr lang="en-US"/>
              <a:t>Second level</a:t>
            </a:r>
          </a:p>
        </p:txBody>
      </p:sp>
      <p:sp>
        <p:nvSpPr>
          <p:cNvPr id="26" name="Text Placeholder 3" descr="Row 3, text box 3">
            <a:extLst>
              <a:ext uri="{FF2B5EF4-FFF2-40B4-BE49-F238E27FC236}">
                <a16:creationId xmlns:a16="http://schemas.microsoft.com/office/drawing/2014/main" id="{E4B34A83-BA8A-6844-8A56-BBD517A5B6FD}"/>
              </a:ext>
            </a:extLst>
          </p:cNvPr>
          <p:cNvSpPr>
            <a:spLocks noGrp="1"/>
          </p:cNvSpPr>
          <p:nvPr>
            <p:ph type="body" sz="quarter" idx="25" hasCustomPrompt="1"/>
          </p:nvPr>
        </p:nvSpPr>
        <p:spPr>
          <a:xfrm>
            <a:off x="4657573"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Open Sans" panose="020B0606030504020204" pitchFamily="34" charset="0"/>
              <a:buChar char="​"/>
              <a:defRPr sz="1000">
                <a:solidFill>
                  <a:schemeClr val="tx1"/>
                </a:solidFill>
              </a:defRPr>
            </a:lvl2pPr>
          </a:lstStyle>
          <a:p>
            <a:pPr lvl="0"/>
            <a:r>
              <a:rPr lang="en-US"/>
              <a:t>Click to add text</a:t>
            </a:r>
          </a:p>
          <a:p>
            <a:pPr lvl="1"/>
            <a:r>
              <a:rPr lang="en-US"/>
              <a:t>Second level</a:t>
            </a:r>
          </a:p>
        </p:txBody>
      </p:sp>
      <p:sp>
        <p:nvSpPr>
          <p:cNvPr id="27" name="Text Placeholder 3" descr="Row 3, text box 4">
            <a:extLst>
              <a:ext uri="{FF2B5EF4-FFF2-40B4-BE49-F238E27FC236}">
                <a16:creationId xmlns:a16="http://schemas.microsoft.com/office/drawing/2014/main" id="{532716FA-3DC7-AF41-8C5F-F9D040A43930}"/>
              </a:ext>
            </a:extLst>
          </p:cNvPr>
          <p:cNvSpPr>
            <a:spLocks noGrp="1"/>
          </p:cNvSpPr>
          <p:nvPr>
            <p:ph type="body" sz="quarter" idx="26" hasCustomPrompt="1"/>
          </p:nvPr>
        </p:nvSpPr>
        <p:spPr>
          <a:xfrm>
            <a:off x="6428834"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Open Sans" panose="020B0606030504020204" pitchFamily="34" charset="0"/>
              <a:buChar char="​"/>
              <a:defRPr sz="1000">
                <a:solidFill>
                  <a:schemeClr val="tx1"/>
                </a:solidFill>
              </a:defRPr>
            </a:lvl2pPr>
          </a:lstStyle>
          <a:p>
            <a:pPr lvl="0"/>
            <a:r>
              <a:rPr lang="en-US"/>
              <a:t>Click to add text</a:t>
            </a:r>
          </a:p>
          <a:p>
            <a:pPr lvl="1"/>
            <a:r>
              <a:rPr lang="en-US"/>
              <a:t>Second level</a:t>
            </a:r>
          </a:p>
        </p:txBody>
      </p:sp>
      <p:sp>
        <p:nvSpPr>
          <p:cNvPr id="31" name="Text Placeholder 3" descr="Row 3, text box 5">
            <a:extLst>
              <a:ext uri="{FF2B5EF4-FFF2-40B4-BE49-F238E27FC236}">
                <a16:creationId xmlns:a16="http://schemas.microsoft.com/office/drawing/2014/main" id="{6EA6D41F-30CE-1443-9F1F-896A2907ECBD}"/>
              </a:ext>
            </a:extLst>
          </p:cNvPr>
          <p:cNvSpPr>
            <a:spLocks noGrp="1"/>
          </p:cNvSpPr>
          <p:nvPr>
            <p:ph type="body" sz="quarter" idx="27" hasCustomPrompt="1"/>
          </p:nvPr>
        </p:nvSpPr>
        <p:spPr>
          <a:xfrm>
            <a:off x="8200095"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Open Sans" panose="020B0606030504020204" pitchFamily="34" charset="0"/>
              <a:buChar char="​"/>
              <a:defRPr sz="1000">
                <a:solidFill>
                  <a:schemeClr val="tx1"/>
                </a:solidFill>
              </a:defRPr>
            </a:lvl2pPr>
          </a:lstStyle>
          <a:p>
            <a:pPr lvl="0"/>
            <a:r>
              <a:rPr lang="en-US"/>
              <a:t>Click to add text</a:t>
            </a:r>
          </a:p>
          <a:p>
            <a:pPr lvl="1"/>
            <a:r>
              <a:rPr lang="en-US"/>
              <a:t>Second level</a:t>
            </a:r>
          </a:p>
        </p:txBody>
      </p:sp>
      <p:sp>
        <p:nvSpPr>
          <p:cNvPr id="33" name="Text Placeholder 3" descr="Row 3, text box 6">
            <a:extLst>
              <a:ext uri="{FF2B5EF4-FFF2-40B4-BE49-F238E27FC236}">
                <a16:creationId xmlns:a16="http://schemas.microsoft.com/office/drawing/2014/main" id="{62388AAB-5BA2-4747-B0D0-B11DA9195125}"/>
              </a:ext>
            </a:extLst>
          </p:cNvPr>
          <p:cNvSpPr>
            <a:spLocks noGrp="1"/>
          </p:cNvSpPr>
          <p:nvPr>
            <p:ph type="body" sz="quarter" idx="28" hasCustomPrompt="1"/>
          </p:nvPr>
        </p:nvSpPr>
        <p:spPr>
          <a:xfrm>
            <a:off x="9971354" y="4956561"/>
            <a:ext cx="1713607" cy="915157"/>
          </a:xfrm>
          <a:solidFill>
            <a:srgbClr val="F4F8FA"/>
          </a:solidFill>
          <a:ln w="12700">
            <a:solidFill>
              <a:schemeClr val="accent3">
                <a:alpha val="25000"/>
              </a:schemeClr>
            </a:solidFill>
          </a:ln>
        </p:spPr>
        <p:txBody>
          <a:bodyPr wrap="square" tIns="182880"/>
          <a:lstStyle>
            <a:lvl1pPr algn="ctr">
              <a:lnSpc>
                <a:spcPct val="100000"/>
              </a:lnSpc>
              <a:spcBef>
                <a:spcPts val="600"/>
              </a:spcBef>
              <a:defRPr sz="1200">
                <a:solidFill>
                  <a:schemeClr val="tx1"/>
                </a:solidFill>
              </a:defRPr>
            </a:lvl1pPr>
            <a:lvl2pPr marL="0" indent="0" algn="ctr">
              <a:lnSpc>
                <a:spcPct val="100000"/>
              </a:lnSpc>
              <a:spcBef>
                <a:spcPts val="600"/>
              </a:spcBef>
              <a:buFont typeface="Open Sans" panose="020B0606030504020204" pitchFamily="34" charset="0"/>
              <a:buChar char="​"/>
              <a:defRPr sz="1000">
                <a:solidFill>
                  <a:schemeClr val="tx1"/>
                </a:solidFill>
              </a:defRPr>
            </a:lvl2pPr>
          </a:lstStyle>
          <a:p>
            <a:pPr lvl="0"/>
            <a:r>
              <a:rPr lang="en-US"/>
              <a:t>Click to add text</a:t>
            </a:r>
          </a:p>
          <a:p>
            <a:pPr lvl="1"/>
            <a:r>
              <a:rPr lang="en-US"/>
              <a:t>Second level</a:t>
            </a:r>
          </a:p>
        </p:txBody>
      </p:sp>
      <p:sp>
        <p:nvSpPr>
          <p:cNvPr id="24" name="page number">
            <a:extLst>
              <a:ext uri="{FF2B5EF4-FFF2-40B4-BE49-F238E27FC236}">
                <a16:creationId xmlns:a16="http://schemas.microsoft.com/office/drawing/2014/main" id="{D09494D0-773E-A04D-BC5F-65AA87B8246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cxnSp>
        <p:nvCxnSpPr>
          <p:cNvPr id="23" name="Straight Connector 22">
            <a:extLst>
              <a:ext uri="{FF2B5EF4-FFF2-40B4-BE49-F238E27FC236}">
                <a16:creationId xmlns:a16="http://schemas.microsoft.com/office/drawing/2014/main" id="{7E322B01-8AA4-6B48-98B8-90F64F16E3E4}"/>
              </a:ext>
              <a:ext uri="{C183D7F6-B498-43B3-948B-1728B52AA6E4}">
                <adec:decorative xmlns:adec="http://schemas.microsoft.com/office/drawing/2017/decorative" val="1"/>
              </a:ext>
            </a:extLst>
          </p:cNvPr>
          <p:cNvCxnSpPr/>
          <p:nvPr userDrawn="1"/>
        </p:nvCxnSpPr>
        <p:spPr bwMode="gray">
          <a:xfrm>
            <a:off x="1093076" y="2680138"/>
            <a:ext cx="2459421"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5C97932-042E-C845-9300-586CA61AB8C0}"/>
              </a:ext>
              <a:ext uri="{C183D7F6-B498-43B3-948B-1728B52AA6E4}">
                <adec:decorative xmlns:adec="http://schemas.microsoft.com/office/drawing/2017/decorative" val="1"/>
              </a:ext>
            </a:extLst>
          </p:cNvPr>
          <p:cNvCxnSpPr/>
          <p:nvPr userDrawn="1"/>
        </p:nvCxnSpPr>
        <p:spPr bwMode="gray">
          <a:xfrm>
            <a:off x="3805092" y="2680138"/>
            <a:ext cx="245942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AEFB321-2C32-7945-A5C9-A9F00AE58896}"/>
              </a:ext>
              <a:ext uri="{C183D7F6-B498-43B3-948B-1728B52AA6E4}">
                <adec:decorative xmlns:adec="http://schemas.microsoft.com/office/drawing/2017/decorative" val="1"/>
              </a:ext>
            </a:extLst>
          </p:cNvPr>
          <p:cNvCxnSpPr/>
          <p:nvPr userDrawn="1"/>
        </p:nvCxnSpPr>
        <p:spPr bwMode="gray">
          <a:xfrm>
            <a:off x="6517108" y="2680138"/>
            <a:ext cx="2459421"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68A42CD-A1AD-9149-80A3-4BFE5D75E3AB}"/>
              </a:ext>
              <a:ext uri="{C183D7F6-B498-43B3-948B-1728B52AA6E4}">
                <adec:decorative xmlns:adec="http://schemas.microsoft.com/office/drawing/2017/decorative" val="1"/>
              </a:ext>
            </a:extLst>
          </p:cNvPr>
          <p:cNvCxnSpPr/>
          <p:nvPr userDrawn="1"/>
        </p:nvCxnSpPr>
        <p:spPr bwMode="gray">
          <a:xfrm>
            <a:off x="9229123" y="2680138"/>
            <a:ext cx="2459421"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2" name="page number">
            <a:extLst>
              <a:ext uri="{FF2B5EF4-FFF2-40B4-BE49-F238E27FC236}">
                <a16:creationId xmlns:a16="http://schemas.microsoft.com/office/drawing/2014/main" id="{D09494D0-773E-A04D-BC5F-65AA87B8246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27429284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Big Statement - Leaf">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AE796DBB-7792-6B1A-4BD6-1B6B3F4B736A}"/>
              </a:ext>
            </a:extLst>
          </p:cNvPr>
          <p:cNvGrpSpPr/>
          <p:nvPr/>
        </p:nvGrpSpPr>
        <p:grpSpPr>
          <a:xfrm>
            <a:off x="5111737" y="1408637"/>
            <a:ext cx="7077088" cy="4553747"/>
            <a:chOff x="5111737" y="1408637"/>
            <a:chExt cx="7077088" cy="4553747"/>
          </a:xfrm>
        </p:grpSpPr>
        <p:sp>
          <p:nvSpPr>
            <p:cNvPr id="33" name="Freeform: Shape 32">
              <a:extLst>
                <a:ext uri="{FF2B5EF4-FFF2-40B4-BE49-F238E27FC236}">
                  <a16:creationId xmlns:a16="http://schemas.microsoft.com/office/drawing/2014/main" id="{E4086297-1AF3-2A2B-2613-14EDF97D3E23}"/>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sp>
          <p:nvSpPr>
            <p:cNvPr id="30" name="Freeform: Shape 29">
              <a:extLst>
                <a:ext uri="{FF2B5EF4-FFF2-40B4-BE49-F238E27FC236}">
                  <a16:creationId xmlns:a16="http://schemas.microsoft.com/office/drawing/2014/main" id="{6E43FCC5-AD89-BD2E-37A1-C8E7D4E39967}"/>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5000">
                  <a:srgbClr val="61A30E"/>
                </a:gs>
                <a:gs pos="80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grpSp>
      <p:sp>
        <p:nvSpPr>
          <p:cNvPr id="9" name="Text Placeholder 862">
            <a:extLst>
              <a:ext uri="{FF2B5EF4-FFF2-40B4-BE49-F238E27FC236}">
                <a16:creationId xmlns:a16="http://schemas.microsoft.com/office/drawing/2014/main" id="{65A5776C-9EB9-F84B-B0C4-411FA1106F62}"/>
              </a:ext>
            </a:extLst>
          </p:cNvPr>
          <p:cNvSpPr>
            <a:spLocks noGrp="1"/>
          </p:cNvSpPr>
          <p:nvPr>
            <p:ph type="body" sz="quarter" idx="12" hasCustomPrompt="1"/>
          </p:nvPr>
        </p:nvSpPr>
        <p:spPr>
          <a:xfrm>
            <a:off x="586477" y="2233670"/>
            <a:ext cx="6519403" cy="2285999"/>
          </a:xfrm>
        </p:spPr>
        <p:txBody>
          <a:bodyPr anchor="ctr"/>
          <a:lstStyle>
            <a:lvl1pPr>
              <a:lnSpc>
                <a:spcPct val="100000"/>
              </a:lnSpc>
              <a:spcBef>
                <a:spcPts val="0"/>
              </a:spcBef>
              <a:defRPr sz="3600">
                <a:solidFill>
                  <a:schemeClr val="accent4"/>
                </a:solidFill>
              </a:defRPr>
            </a:lvl1pPr>
            <a:lvl2pPr marL="273050" indent="0">
              <a:buNone/>
              <a:defRPr/>
            </a:lvl2pPr>
          </a:lstStyle>
          <a:p>
            <a:pPr lvl="0"/>
            <a:r>
              <a:rPr lang="en-US" dirty="0"/>
              <a:t>Slide with large text placeholder, green theme.</a:t>
            </a:r>
          </a:p>
        </p:txBody>
      </p:sp>
      <p:sp>
        <p:nvSpPr>
          <p:cNvPr id="15" name="page number">
            <a:extLst>
              <a:ext uri="{FF2B5EF4-FFF2-40B4-BE49-F238E27FC236}">
                <a16:creationId xmlns:a16="http://schemas.microsoft.com/office/drawing/2014/main" id="{55FF2E89-7A98-C14C-B802-9BBF588108E5}"/>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1" name="page number">
            <a:extLst>
              <a:ext uri="{FF2B5EF4-FFF2-40B4-BE49-F238E27FC236}">
                <a16:creationId xmlns:a16="http://schemas.microsoft.com/office/drawing/2014/main" id="{55FF2E89-7A98-C14C-B802-9BBF588108E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42706829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Big Statement - Aqua">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AE981AE-FE9F-186D-50E0-7F14F9BF53B6}"/>
              </a:ext>
            </a:extLst>
          </p:cNvPr>
          <p:cNvGrpSpPr/>
          <p:nvPr/>
        </p:nvGrpSpPr>
        <p:grpSpPr>
          <a:xfrm>
            <a:off x="5111737" y="1408637"/>
            <a:ext cx="7077088" cy="4553747"/>
            <a:chOff x="5111737" y="1408637"/>
            <a:chExt cx="7077088" cy="4553747"/>
          </a:xfrm>
        </p:grpSpPr>
        <p:sp>
          <p:nvSpPr>
            <p:cNvPr id="3" name="Freeform: Shape 2">
              <a:extLst>
                <a:ext uri="{FF2B5EF4-FFF2-40B4-BE49-F238E27FC236}">
                  <a16:creationId xmlns:a16="http://schemas.microsoft.com/office/drawing/2014/main" id="{4C6C08E0-382E-E034-0786-953B81FE7655}"/>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21000">
                  <a:schemeClr val="accent2"/>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sp>
          <p:nvSpPr>
            <p:cNvPr id="13" name="Freeform: Shape 12">
              <a:extLst>
                <a:ext uri="{FF2B5EF4-FFF2-40B4-BE49-F238E27FC236}">
                  <a16:creationId xmlns:a16="http://schemas.microsoft.com/office/drawing/2014/main" id="{E200D762-9980-0F2F-A4D2-E7F64294A756}"/>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2"/>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grpSp>
      <p:sp>
        <p:nvSpPr>
          <p:cNvPr id="9" name="Text Placeholder 862">
            <a:extLst>
              <a:ext uri="{FF2B5EF4-FFF2-40B4-BE49-F238E27FC236}">
                <a16:creationId xmlns:a16="http://schemas.microsoft.com/office/drawing/2014/main" id="{113BEA88-710C-A54D-A13C-5E36B6B878B7}"/>
              </a:ext>
            </a:extLst>
          </p:cNvPr>
          <p:cNvSpPr>
            <a:spLocks noGrp="1"/>
          </p:cNvSpPr>
          <p:nvPr>
            <p:ph type="body" sz="quarter" idx="12" hasCustomPrompt="1"/>
          </p:nvPr>
        </p:nvSpPr>
        <p:spPr>
          <a:xfrm>
            <a:off x="580171" y="2233670"/>
            <a:ext cx="6525709" cy="2285999"/>
          </a:xfrm>
        </p:spPr>
        <p:txBody>
          <a:bodyPr anchor="ctr"/>
          <a:lstStyle>
            <a:lvl1pPr>
              <a:lnSpc>
                <a:spcPct val="100000"/>
              </a:lnSpc>
              <a:spcBef>
                <a:spcPts val="0"/>
              </a:spcBef>
              <a:defRPr sz="3600">
                <a:solidFill>
                  <a:schemeClr val="accent2"/>
                </a:solidFill>
              </a:defRPr>
            </a:lvl1pPr>
            <a:lvl2pPr marL="273050" indent="0">
              <a:buNone/>
              <a:defRPr/>
            </a:lvl2pPr>
          </a:lstStyle>
          <a:p>
            <a:pPr lvl="0"/>
            <a:r>
              <a:rPr lang="en-US" dirty="0"/>
              <a:t>Slide with large text placeholder, blue theme.</a:t>
            </a:r>
          </a:p>
        </p:txBody>
      </p:sp>
      <p:sp>
        <p:nvSpPr>
          <p:cNvPr id="16" name="page number">
            <a:extLst>
              <a:ext uri="{FF2B5EF4-FFF2-40B4-BE49-F238E27FC236}">
                <a16:creationId xmlns:a16="http://schemas.microsoft.com/office/drawing/2014/main" id="{3A15EC20-3B57-4E4E-872C-A34852CBEF1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1" name="page number">
            <a:extLst>
              <a:ext uri="{FF2B5EF4-FFF2-40B4-BE49-F238E27FC236}">
                <a16:creationId xmlns:a16="http://schemas.microsoft.com/office/drawing/2014/main" id="{3A15EC20-3B57-4E4E-872C-A34852CBEF1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6763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Big Statement - Plum">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76AE21A-751A-3AAB-6E34-CE624563FF91}"/>
              </a:ext>
            </a:extLst>
          </p:cNvPr>
          <p:cNvGrpSpPr/>
          <p:nvPr/>
        </p:nvGrpSpPr>
        <p:grpSpPr>
          <a:xfrm>
            <a:off x="5111737" y="1408637"/>
            <a:ext cx="7077088" cy="4553747"/>
            <a:chOff x="5111737" y="1408637"/>
            <a:chExt cx="7077088" cy="4553747"/>
          </a:xfrm>
        </p:grpSpPr>
        <p:sp>
          <p:nvSpPr>
            <p:cNvPr id="13" name="Freeform: Shape 12">
              <a:extLst>
                <a:ext uri="{FF2B5EF4-FFF2-40B4-BE49-F238E27FC236}">
                  <a16:creationId xmlns:a16="http://schemas.microsoft.com/office/drawing/2014/main" id="{FCFA1240-3D0D-AB66-BC3F-80EED3546482}"/>
                </a:ext>
              </a:extLst>
            </p:cNvPr>
            <p:cNvSpPr/>
            <p:nvPr/>
          </p:nvSpPr>
          <p:spPr>
            <a:xfrm>
              <a:off x="9152842" y="1408637"/>
              <a:ext cx="3035983" cy="3162295"/>
            </a:xfrm>
            <a:custGeom>
              <a:avLst/>
              <a:gdLst>
                <a:gd name="connsiteX0" fmla="*/ 3035983 w 3035983"/>
                <a:gd name="connsiteY0" fmla="*/ 0 h 3162295"/>
                <a:gd name="connsiteX1" fmla="*/ 3035983 w 3035983"/>
                <a:gd name="connsiteY1" fmla="*/ 1627776 h 3162295"/>
                <a:gd name="connsiteX2" fmla="*/ 1779818 w 3035983"/>
                <a:gd name="connsiteY2" fmla="*/ 2883941 h 3162295"/>
                <a:gd name="connsiteX3" fmla="*/ 1107726 w 3035983"/>
                <a:gd name="connsiteY3" fmla="*/ 3162295 h 3162295"/>
                <a:gd name="connsiteX4" fmla="*/ 95248 w 3035983"/>
                <a:gd name="connsiteY4" fmla="*/ 3162295 h 3162295"/>
                <a:gd name="connsiteX5" fmla="*/ 28020 w 3035983"/>
                <a:gd name="connsiteY5" fmla="*/ 3000022 h 3162295"/>
                <a:gd name="connsiteX6" fmla="*/ 2991889 w 3035983"/>
                <a:gd name="connsiteY6" fmla="*/ 36153 h 316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5983" h="3162295">
                  <a:moveTo>
                    <a:pt x="3035983" y="0"/>
                  </a:moveTo>
                  <a:lnTo>
                    <a:pt x="3035983" y="1627776"/>
                  </a:lnTo>
                  <a:lnTo>
                    <a:pt x="1779818" y="2883941"/>
                  </a:lnTo>
                  <a:cubicBezTo>
                    <a:pt x="1601578" y="3062182"/>
                    <a:pt x="1359848" y="3162295"/>
                    <a:pt x="1107726" y="3162295"/>
                  </a:cubicBezTo>
                  <a:lnTo>
                    <a:pt x="95248" y="3162295"/>
                  </a:lnTo>
                  <a:cubicBezTo>
                    <a:pt x="10595" y="3162295"/>
                    <a:pt x="-31858" y="3059901"/>
                    <a:pt x="28020" y="3000022"/>
                  </a:cubicBezTo>
                  <a:lnTo>
                    <a:pt x="2991889" y="36153"/>
                  </a:lnTo>
                  <a:close/>
                </a:path>
              </a:pathLst>
            </a:custGeom>
            <a:gradFill>
              <a:gsLst>
                <a:gs pos="6000">
                  <a:schemeClr val="accent5"/>
                </a:gs>
                <a:gs pos="7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sp>
          <p:nvSpPr>
            <p:cNvPr id="14" name="Freeform: Shape 13">
              <a:extLst>
                <a:ext uri="{FF2B5EF4-FFF2-40B4-BE49-F238E27FC236}">
                  <a16:creationId xmlns:a16="http://schemas.microsoft.com/office/drawing/2014/main" id="{A884ED15-B8BE-771F-D78D-1BE6D9F66CCF}"/>
                </a:ext>
              </a:extLst>
            </p:cNvPr>
            <p:cNvSpPr/>
            <p:nvPr/>
          </p:nvSpPr>
          <p:spPr>
            <a:xfrm>
              <a:off x="5111737" y="2041036"/>
              <a:ext cx="5910657" cy="3921348"/>
            </a:xfrm>
            <a:custGeom>
              <a:avLst/>
              <a:gdLst>
                <a:gd name="connsiteX0" fmla="*/ 1729824 w 5910657"/>
                <a:gd name="connsiteY0" fmla="*/ 3921349 h 3921348"/>
                <a:gd name="connsiteX1" fmla="*/ 95248 w 5910657"/>
                <a:gd name="connsiteY1" fmla="*/ 3921349 h 3921348"/>
                <a:gd name="connsiteX2" fmla="*/ 28020 w 5910657"/>
                <a:gd name="connsiteY2" fmla="*/ 3759076 h 3921348"/>
                <a:gd name="connsiteX3" fmla="*/ 3508742 w 5910657"/>
                <a:gd name="connsiteY3" fmla="*/ 278354 h 3921348"/>
                <a:gd name="connsiteX4" fmla="*/ 4180834 w 5910657"/>
                <a:gd name="connsiteY4" fmla="*/ 0 h 3921348"/>
                <a:gd name="connsiteX5" fmla="*/ 5815410 w 5910657"/>
                <a:gd name="connsiteY5" fmla="*/ 0 h 3921348"/>
                <a:gd name="connsiteX6" fmla="*/ 5882638 w 5910657"/>
                <a:gd name="connsiteY6" fmla="*/ 162273 h 3921348"/>
                <a:gd name="connsiteX7" fmla="*/ 2401916 w 5910657"/>
                <a:gd name="connsiteY7" fmla="*/ 3642994 h 3921348"/>
                <a:gd name="connsiteX8" fmla="*/ 1729824 w 5910657"/>
                <a:gd name="connsiteY8" fmla="*/ 3921349 h 392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657" h="3921348">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21000">
                  <a:schemeClr val="accent5"/>
                </a:gs>
                <a:gs pos="83000">
                  <a:srgbClr val="0095C4"/>
                </a:gs>
              </a:gsLst>
              <a:lin ang="18900033" scaled="1"/>
            </a:gradFill>
            <a:ln w="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dirty="0"/>
            </a:p>
          </p:txBody>
        </p:sp>
      </p:grpSp>
      <p:sp>
        <p:nvSpPr>
          <p:cNvPr id="10" name="Text Placeholder 862">
            <a:extLst>
              <a:ext uri="{FF2B5EF4-FFF2-40B4-BE49-F238E27FC236}">
                <a16:creationId xmlns:a16="http://schemas.microsoft.com/office/drawing/2014/main" id="{BB1BA4EC-6D18-954E-81DD-4678CFBE6FFB}"/>
              </a:ext>
            </a:extLst>
          </p:cNvPr>
          <p:cNvSpPr>
            <a:spLocks noGrp="1"/>
          </p:cNvSpPr>
          <p:nvPr>
            <p:ph type="body" sz="quarter" idx="12" hasCustomPrompt="1"/>
          </p:nvPr>
        </p:nvSpPr>
        <p:spPr>
          <a:xfrm>
            <a:off x="586477" y="2233670"/>
            <a:ext cx="6519403" cy="2285999"/>
          </a:xfrm>
        </p:spPr>
        <p:txBody>
          <a:bodyPr anchor="ctr"/>
          <a:lstStyle>
            <a:lvl1pPr>
              <a:lnSpc>
                <a:spcPct val="100000"/>
              </a:lnSpc>
              <a:spcBef>
                <a:spcPts val="0"/>
              </a:spcBef>
              <a:defRPr sz="3600">
                <a:solidFill>
                  <a:schemeClr val="accent5"/>
                </a:solidFill>
              </a:defRPr>
            </a:lvl1pPr>
            <a:lvl2pPr marL="273050" indent="0">
              <a:buNone/>
              <a:defRPr/>
            </a:lvl2pPr>
          </a:lstStyle>
          <a:p>
            <a:pPr lvl="0"/>
            <a:r>
              <a:rPr lang="en-US" dirty="0"/>
              <a:t>Slide with large text placeholder, purple theme.</a:t>
            </a:r>
          </a:p>
        </p:txBody>
      </p:sp>
      <p:sp>
        <p:nvSpPr>
          <p:cNvPr id="16" name="page number">
            <a:extLst>
              <a:ext uri="{FF2B5EF4-FFF2-40B4-BE49-F238E27FC236}">
                <a16:creationId xmlns:a16="http://schemas.microsoft.com/office/drawing/2014/main" id="{312DD3E6-E621-1B4F-9197-621CC0C346AF}"/>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11" name="page number">
            <a:extLst>
              <a:ext uri="{FF2B5EF4-FFF2-40B4-BE49-F238E27FC236}">
                <a16:creationId xmlns:a16="http://schemas.microsoft.com/office/drawing/2014/main" id="{312DD3E6-E621-1B4F-9197-621CC0C346AF}"/>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828199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Big Statement 2 - Leaf ">
    <p:spTree>
      <p:nvGrpSpPr>
        <p:cNvPr id="1" name=""/>
        <p:cNvGrpSpPr/>
        <p:nvPr/>
      </p:nvGrpSpPr>
      <p:grpSpPr>
        <a:xfrm>
          <a:off x="0" y="0"/>
          <a:ext cx="0" cy="0"/>
          <a:chOff x="0" y="0"/>
          <a:chExt cx="0" cy="0"/>
        </a:xfrm>
      </p:grpSpPr>
      <p:sp>
        <p:nvSpPr>
          <p:cNvPr id="61" name="Freeform: Shape 60">
            <a:extLst>
              <a:ext uri="{FF2B5EF4-FFF2-40B4-BE49-F238E27FC236}">
                <a16:creationId xmlns:a16="http://schemas.microsoft.com/office/drawing/2014/main" id="{552AB5D8-753F-CA24-2C8A-45BC9791756E}"/>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45000">
                <a:srgbClr val="299B75"/>
              </a:gs>
              <a:gs pos="80000">
                <a:srgbClr val="61A30E"/>
              </a:gs>
            </a:gsLst>
            <a:lin ang="0" scaled="1"/>
          </a:gradFill>
          <a:ln w="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A0A18CC-E157-AD15-E51D-50F3DC99465B}"/>
              </a:ext>
            </a:extLst>
          </p:cNvPr>
          <p:cNvSpPr/>
          <p:nvPr userDrawn="1"/>
        </p:nvSpPr>
        <p:spPr>
          <a:xfrm>
            <a:off x="6457030" y="355921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rgbClr val="61A30E"/>
              </a:gs>
              <a:gs pos="83000">
                <a:srgbClr val="0095C4"/>
              </a:gs>
            </a:gsLst>
            <a:lin ang="18900033" scaled="1"/>
          </a:gradFill>
          <a:ln w="0" cap="flat">
            <a:noFill/>
            <a:prstDash val="solid"/>
            <a:miter/>
          </a:ln>
        </p:spPr>
        <p:txBody>
          <a:bodyPr rtlCol="0" anchor="ctr"/>
          <a:lstStyle/>
          <a:p>
            <a:endParaRPr lang="en-US" dirty="0"/>
          </a:p>
        </p:txBody>
      </p:sp>
      <p:sp>
        <p:nvSpPr>
          <p:cNvPr id="28" name="Title 1">
            <a:extLst>
              <a:ext uri="{FF2B5EF4-FFF2-40B4-BE49-F238E27FC236}">
                <a16:creationId xmlns:a16="http://schemas.microsoft.com/office/drawing/2014/main" id="{426C215B-BC62-3CF9-EDF0-6413174A435A}"/>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a:t>Big Statement – </a:t>
            </a:r>
            <a:br>
              <a:rPr lang="en-US"/>
            </a:br>
            <a:r>
              <a:rPr lang="en-US"/>
              <a:t>Green Theme</a:t>
            </a:r>
          </a:p>
        </p:txBody>
      </p:sp>
      <p:sp>
        <p:nvSpPr>
          <p:cNvPr id="29" name="Subtitle">
            <a:extLst>
              <a:ext uri="{FF2B5EF4-FFF2-40B4-BE49-F238E27FC236}">
                <a16:creationId xmlns:a16="http://schemas.microsoft.com/office/drawing/2014/main" id="{615FECE3-9918-4B48-E68F-739600E4B93A}"/>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7" name="page number">
            <a:extLst>
              <a:ext uri="{FF2B5EF4-FFF2-40B4-BE49-F238E27FC236}">
                <a16:creationId xmlns:a16="http://schemas.microsoft.com/office/drawing/2014/main" id="{4144FBF0-61D7-2140-A159-ECF2E9CDDA21}"/>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334703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Big Statement 2 - Aqua">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DC6694C6-6A30-F4F5-68A3-ABC8048E7AE9}"/>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C43BE5DC-D92A-9A5C-C8AE-7A979F11542A}"/>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2"/>
              </a:gs>
              <a:gs pos="83000">
                <a:srgbClr val="0095C4"/>
              </a:gs>
            </a:gsLst>
            <a:lin ang="18900033" scaled="1"/>
          </a:gradFill>
          <a:ln w="0" cap="flat">
            <a:noFill/>
            <a:prstDash val="solid"/>
            <a:miter/>
          </a:ln>
        </p:spPr>
        <p:txBody>
          <a:bodyPr rtlCol="0" anchor="ctr"/>
          <a:lstStyle/>
          <a:p>
            <a:endParaRPr lang="en-US" dirty="0"/>
          </a:p>
        </p:txBody>
      </p:sp>
      <p:sp>
        <p:nvSpPr>
          <p:cNvPr id="8" name="page number">
            <a:extLst>
              <a:ext uri="{FF2B5EF4-FFF2-40B4-BE49-F238E27FC236}">
                <a16:creationId xmlns:a16="http://schemas.microsoft.com/office/drawing/2014/main" id="{45469056-638C-FF40-8AA5-0675077535BA}"/>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9" name="Title 1">
            <a:extLst>
              <a:ext uri="{FF2B5EF4-FFF2-40B4-BE49-F238E27FC236}">
                <a16:creationId xmlns:a16="http://schemas.microsoft.com/office/drawing/2014/main" id="{001CFD5C-7C19-8E30-BF20-52E7629C490B}"/>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a:t>Big Statement –</a:t>
            </a:r>
            <a:br>
              <a:rPr lang="en-US"/>
            </a:br>
            <a:r>
              <a:rPr lang="en-US"/>
              <a:t>Blue Theme</a:t>
            </a:r>
          </a:p>
        </p:txBody>
      </p:sp>
      <p:sp>
        <p:nvSpPr>
          <p:cNvPr id="30" name="Subtitle">
            <a:extLst>
              <a:ext uri="{FF2B5EF4-FFF2-40B4-BE49-F238E27FC236}">
                <a16:creationId xmlns:a16="http://schemas.microsoft.com/office/drawing/2014/main" id="{2765CEAA-0CA6-BE98-B450-1301D576C6A5}"/>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text</a:t>
            </a:r>
          </a:p>
        </p:txBody>
      </p:sp>
      <p:sp>
        <p:nvSpPr>
          <p:cNvPr id="10" name="Freeform: Shape 5">
            <a:extLst>
              <a:ext uri="{FF2B5EF4-FFF2-40B4-BE49-F238E27FC236}">
                <a16:creationId xmlns:a16="http://schemas.microsoft.com/office/drawing/2014/main" id="{DC6694C6-6A30-F4F5-68A3-ABC8048E7AE9}"/>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2"/>
              </a:gs>
            </a:gsLst>
            <a:lin ang="0" scaled="1"/>
          </a:gradFill>
          <a:ln w="0" cap="flat">
            <a:noFill/>
            <a:prstDash val="solid"/>
            <a:miter/>
          </a:ln>
        </p:spPr>
        <p:txBody>
          <a:bodyPr rtlCol="0" anchor="ctr"/>
          <a:lstStyle/>
          <a:p>
            <a:endParaRPr lang="en-US" dirty="0"/>
          </a:p>
        </p:txBody>
      </p:sp>
      <p:sp>
        <p:nvSpPr>
          <p:cNvPr id="12" name="page number">
            <a:extLst>
              <a:ext uri="{FF2B5EF4-FFF2-40B4-BE49-F238E27FC236}">
                <a16:creationId xmlns:a16="http://schemas.microsoft.com/office/drawing/2014/main" id="{45469056-638C-FF40-8AA5-0675077535BA}"/>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220227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Big Statement 2 - Plum">
    <p:spTree>
      <p:nvGrpSpPr>
        <p:cNvPr id="1" name=""/>
        <p:cNvGrpSpPr/>
        <p:nvPr/>
      </p:nvGrpSpPr>
      <p:grpSpPr>
        <a:xfrm>
          <a:off x="0" y="0"/>
          <a:ext cx="0" cy="0"/>
          <a:chOff x="0" y="0"/>
          <a:chExt cx="0" cy="0"/>
        </a:xfrm>
      </p:grpSpPr>
      <p:sp>
        <p:nvSpPr>
          <p:cNvPr id="32" name="Freeform: Shape 31">
            <a:extLst>
              <a:ext uri="{FF2B5EF4-FFF2-40B4-BE49-F238E27FC236}">
                <a16:creationId xmlns:a16="http://schemas.microsoft.com/office/drawing/2014/main" id="{23AA4DDC-2936-0AB6-8344-5481913C661E}"/>
              </a:ext>
            </a:extLst>
          </p:cNvPr>
          <p:cNvSpPr/>
          <p:nvPr/>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5"/>
              </a:gs>
            </a:gsLst>
            <a:lin ang="0" scaled="1"/>
          </a:gradFill>
          <a:ln w="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2AE01D1-6E35-D230-30F3-0D3E2F8A5364}"/>
              </a:ext>
            </a:extLst>
          </p:cNvPr>
          <p:cNvSpPr/>
          <p:nvPr/>
        </p:nvSpPr>
        <p:spPr>
          <a:xfrm>
            <a:off x="6457030" y="3564299"/>
            <a:ext cx="5731795" cy="3298781"/>
          </a:xfrm>
          <a:custGeom>
            <a:avLst/>
            <a:gdLst>
              <a:gd name="connsiteX0" fmla="*/ 3823502 w 5731795"/>
              <a:gd name="connsiteY0" fmla="*/ 0 h 3298781"/>
              <a:gd name="connsiteX1" fmla="*/ 5731795 w 5731795"/>
              <a:gd name="connsiteY1" fmla="*/ 0 h 3298781"/>
              <a:gd name="connsiteX2" fmla="*/ 5731795 w 5731795"/>
              <a:gd name="connsiteY2" fmla="*/ 1358608 h 3298781"/>
              <a:gd name="connsiteX3" fmla="*/ 3791622 w 5731795"/>
              <a:gd name="connsiteY3" fmla="*/ 3298781 h 3298781"/>
              <a:gd name="connsiteX4" fmla="*/ 0 w 5731795"/>
              <a:gd name="connsiteY4" fmla="*/ 3298781 h 3298781"/>
              <a:gd name="connsiteX5" fmla="*/ 2927726 w 5731795"/>
              <a:gd name="connsiteY5" fmla="*/ 371055 h 3298781"/>
              <a:gd name="connsiteX6" fmla="*/ 3823502 w 5731795"/>
              <a:gd name="connsiteY6" fmla="*/ 0 h 329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795" h="3298781">
                <a:moveTo>
                  <a:pt x="3823502" y="0"/>
                </a:moveTo>
                <a:lnTo>
                  <a:pt x="5731795" y="0"/>
                </a:lnTo>
                <a:lnTo>
                  <a:pt x="5731795" y="1358608"/>
                </a:lnTo>
                <a:lnTo>
                  <a:pt x="3791622" y="3298781"/>
                </a:lnTo>
                <a:lnTo>
                  <a:pt x="0" y="3298781"/>
                </a:lnTo>
                <a:lnTo>
                  <a:pt x="2927726" y="371055"/>
                </a:lnTo>
                <a:cubicBezTo>
                  <a:pt x="3165320" y="133460"/>
                  <a:pt x="3487538" y="0"/>
                  <a:pt x="3823502" y="0"/>
                </a:cubicBezTo>
                <a:close/>
              </a:path>
            </a:pathLst>
          </a:custGeom>
          <a:gradFill>
            <a:gsLst>
              <a:gs pos="21000">
                <a:schemeClr val="accent5"/>
              </a:gs>
              <a:gs pos="83000">
                <a:srgbClr val="0095C4"/>
              </a:gs>
            </a:gsLst>
            <a:lin ang="18900033" scaled="1"/>
          </a:gradFill>
          <a:ln w="0" cap="flat">
            <a:noFill/>
            <a:prstDash val="solid"/>
            <a:miter/>
          </a:ln>
        </p:spPr>
        <p:txBody>
          <a:bodyPr rtlCol="0" anchor="ctr"/>
          <a:lstStyle/>
          <a:p>
            <a:endParaRPr lang="en-US" dirty="0"/>
          </a:p>
        </p:txBody>
      </p:sp>
      <p:sp>
        <p:nvSpPr>
          <p:cNvPr id="7" name="page number">
            <a:extLst>
              <a:ext uri="{FF2B5EF4-FFF2-40B4-BE49-F238E27FC236}">
                <a16:creationId xmlns:a16="http://schemas.microsoft.com/office/drawing/2014/main" id="{2A1148C9-BE55-F64C-8A6E-A5239BDB4089}"/>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2" name="Title 1">
            <a:extLst>
              <a:ext uri="{FF2B5EF4-FFF2-40B4-BE49-F238E27FC236}">
                <a16:creationId xmlns:a16="http://schemas.microsoft.com/office/drawing/2014/main" id="{98CA9A76-8DB9-793E-B69C-4DDA15EBC5E2}"/>
              </a:ext>
            </a:extLst>
          </p:cNvPr>
          <p:cNvSpPr>
            <a:spLocks noGrp="1"/>
          </p:cNvSpPr>
          <p:nvPr>
            <p:ph type="title" hasCustomPrompt="1"/>
          </p:nvPr>
        </p:nvSpPr>
        <p:spPr>
          <a:xfrm>
            <a:off x="589108" y="938794"/>
            <a:ext cx="6427626" cy="1229360"/>
          </a:xfrm>
        </p:spPr>
        <p:txBody>
          <a:bodyPr wrap="square" anchor="b"/>
          <a:lstStyle>
            <a:lvl1pPr algn="l">
              <a:defRPr sz="3600" b="0" cap="none" baseline="0">
                <a:solidFill>
                  <a:schemeClr val="accent2"/>
                </a:solidFill>
              </a:defRPr>
            </a:lvl1pPr>
          </a:lstStyle>
          <a:p>
            <a:r>
              <a:rPr lang="en-US" dirty="0"/>
              <a:t>Big Statement – </a:t>
            </a:r>
            <a:br>
              <a:rPr lang="en-US" dirty="0"/>
            </a:br>
            <a:r>
              <a:rPr lang="en-US" dirty="0"/>
              <a:t>Purple Theme</a:t>
            </a:r>
          </a:p>
        </p:txBody>
      </p:sp>
      <p:sp>
        <p:nvSpPr>
          <p:cNvPr id="3" name="Subtitle">
            <a:extLst>
              <a:ext uri="{FF2B5EF4-FFF2-40B4-BE49-F238E27FC236}">
                <a16:creationId xmlns:a16="http://schemas.microsoft.com/office/drawing/2014/main" id="{E9F2B30E-136B-200F-6F46-63B36E449AFD}"/>
              </a:ext>
            </a:extLst>
          </p:cNvPr>
          <p:cNvSpPr>
            <a:spLocks noGrp="1"/>
          </p:cNvSpPr>
          <p:nvPr>
            <p:ph type="subTitle" idx="10" hasCustomPrompt="1"/>
          </p:nvPr>
        </p:nvSpPr>
        <p:spPr>
          <a:xfrm>
            <a:off x="602966" y="2267712"/>
            <a:ext cx="6408402" cy="700882"/>
          </a:xfrm>
        </p:spPr>
        <p:txBody>
          <a:bodyPr/>
          <a:lstStyle>
            <a:lvl1pPr marL="0" indent="0" algn="l">
              <a:buNone/>
              <a:defRPr sz="2400">
                <a:solidFill>
                  <a:schemeClr val="tx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text</a:t>
            </a:r>
          </a:p>
        </p:txBody>
      </p:sp>
      <p:sp>
        <p:nvSpPr>
          <p:cNvPr id="9" name="Freeform: Shape 31">
            <a:extLst>
              <a:ext uri="{FF2B5EF4-FFF2-40B4-BE49-F238E27FC236}">
                <a16:creationId xmlns:a16="http://schemas.microsoft.com/office/drawing/2014/main" id="{23AA4DDC-2936-0AB6-8344-5481913C661E}"/>
              </a:ext>
            </a:extLst>
          </p:cNvPr>
          <p:cNvSpPr/>
          <p:nvPr userDrawn="1"/>
        </p:nvSpPr>
        <p:spPr>
          <a:xfrm>
            <a:off x="-9731" y="1828236"/>
            <a:ext cx="12203581" cy="4225133"/>
          </a:xfrm>
          <a:custGeom>
            <a:avLst/>
            <a:gdLst>
              <a:gd name="connsiteX0" fmla="*/ 11206701 w 12203581"/>
              <a:gd name="connsiteY0" fmla="*/ 0 h 4225133"/>
              <a:gd name="connsiteX1" fmla="*/ 12203581 w 12203581"/>
              <a:gd name="connsiteY1" fmla="*/ 0 h 4225133"/>
              <a:gd name="connsiteX2" fmla="*/ 12203581 w 12203581"/>
              <a:gd name="connsiteY2" fmla="*/ 76381 h 4225133"/>
              <a:gd name="connsiteX3" fmla="*/ 11206764 w 12203581"/>
              <a:gd name="connsiteY3" fmla="*/ 76381 h 4225133"/>
              <a:gd name="connsiteX4" fmla="*/ 10082496 w 12203581"/>
              <a:gd name="connsiteY4" fmla="*/ 542038 h 4225133"/>
              <a:gd name="connsiteX5" fmla="*/ 6864996 w 12203581"/>
              <a:gd name="connsiteY5" fmla="*/ 3759476 h 4225133"/>
              <a:gd name="connsiteX6" fmla="*/ 5740727 w 12203581"/>
              <a:gd name="connsiteY6" fmla="*/ 4225133 h 4225133"/>
              <a:gd name="connsiteX7" fmla="*/ 0 w 12203581"/>
              <a:gd name="connsiteY7" fmla="*/ 4225133 h 4225133"/>
              <a:gd name="connsiteX8" fmla="*/ 0 w 12203581"/>
              <a:gd name="connsiteY8" fmla="*/ 4148754 h 4225133"/>
              <a:gd name="connsiteX9" fmla="*/ 5740727 w 12203581"/>
              <a:gd name="connsiteY9" fmla="*/ 4148754 h 4225133"/>
              <a:gd name="connsiteX10" fmla="*/ 6319969 w 12203581"/>
              <a:gd name="connsiteY10" fmla="*/ 4033515 h 4225133"/>
              <a:gd name="connsiteX11" fmla="*/ 6811001 w 12203581"/>
              <a:gd name="connsiteY11" fmla="*/ 3705419 h 4225133"/>
              <a:gd name="connsiteX12" fmla="*/ 10028503 w 12203581"/>
              <a:gd name="connsiteY12" fmla="*/ 487980 h 4225133"/>
              <a:gd name="connsiteX13" fmla="*/ 10569077 w 12203581"/>
              <a:gd name="connsiteY13" fmla="*/ 126813 h 4225133"/>
              <a:gd name="connsiteX14" fmla="*/ 11206701 w 12203581"/>
              <a:gd name="connsiteY14" fmla="*/ 0 h 422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03581" h="4225133">
                <a:moveTo>
                  <a:pt x="11206701" y="0"/>
                </a:moveTo>
                <a:lnTo>
                  <a:pt x="12203581" y="0"/>
                </a:lnTo>
                <a:lnTo>
                  <a:pt x="12203581" y="76381"/>
                </a:lnTo>
                <a:lnTo>
                  <a:pt x="11206764" y="76381"/>
                </a:lnTo>
                <a:cubicBezTo>
                  <a:pt x="10785052" y="76381"/>
                  <a:pt x="10380639" y="243896"/>
                  <a:pt x="10082496" y="542038"/>
                </a:cubicBezTo>
                <a:lnTo>
                  <a:pt x="6864996" y="3759476"/>
                </a:lnTo>
                <a:cubicBezTo>
                  <a:pt x="6566789" y="4057618"/>
                  <a:pt x="6162377" y="4225133"/>
                  <a:pt x="5740727" y="4225133"/>
                </a:cubicBezTo>
                <a:lnTo>
                  <a:pt x="0" y="4225133"/>
                </a:lnTo>
                <a:lnTo>
                  <a:pt x="0" y="4148754"/>
                </a:lnTo>
                <a:lnTo>
                  <a:pt x="5740727" y="4148754"/>
                </a:lnTo>
                <a:cubicBezTo>
                  <a:pt x="5940485" y="4148754"/>
                  <a:pt x="6135411" y="4109959"/>
                  <a:pt x="6319969" y="4033515"/>
                </a:cubicBezTo>
                <a:cubicBezTo>
                  <a:pt x="6504529" y="3957072"/>
                  <a:pt x="6669753" y="3846668"/>
                  <a:pt x="6811001" y="3705419"/>
                </a:cubicBezTo>
                <a:lnTo>
                  <a:pt x="10028503" y="487980"/>
                </a:lnTo>
                <a:cubicBezTo>
                  <a:pt x="10183997" y="332486"/>
                  <a:pt x="10365884" y="210952"/>
                  <a:pt x="10569077" y="126813"/>
                </a:cubicBezTo>
                <a:cubicBezTo>
                  <a:pt x="10772269" y="42675"/>
                  <a:pt x="10986781" y="0"/>
                  <a:pt x="11206701" y="0"/>
                </a:cubicBezTo>
                <a:close/>
              </a:path>
            </a:pathLst>
          </a:custGeom>
          <a:gradFill>
            <a:gsLst>
              <a:gs pos="20000">
                <a:srgbClr val="0095C4"/>
              </a:gs>
              <a:gs pos="80000">
                <a:schemeClr val="accent5"/>
              </a:gs>
            </a:gsLst>
            <a:lin ang="0" scaled="1"/>
          </a:gradFill>
          <a:ln w="0" cap="flat">
            <a:noFill/>
            <a:prstDash val="solid"/>
            <a:miter/>
          </a:ln>
        </p:spPr>
        <p:txBody>
          <a:bodyPr rtlCol="0" anchor="ctr"/>
          <a:lstStyle/>
          <a:p>
            <a:endParaRPr lang="en-US" dirty="0"/>
          </a:p>
        </p:txBody>
      </p:sp>
      <p:sp>
        <p:nvSpPr>
          <p:cNvPr id="11" name="page number">
            <a:extLst>
              <a:ext uri="{FF2B5EF4-FFF2-40B4-BE49-F238E27FC236}">
                <a16:creationId xmlns:a16="http://schemas.microsoft.com/office/drawing/2014/main" id="{2A1148C9-BE55-F64C-8A6E-A5239BDB4089}"/>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1013995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Big Statement with Photo">
    <p:spTree>
      <p:nvGrpSpPr>
        <p:cNvPr id="1" name=""/>
        <p:cNvGrpSpPr/>
        <p:nvPr/>
      </p:nvGrpSpPr>
      <p:grpSpPr>
        <a:xfrm>
          <a:off x="0" y="0"/>
          <a:ext cx="0" cy="0"/>
          <a:chOff x="0" y="0"/>
          <a:chExt cx="0" cy="0"/>
        </a:xfrm>
      </p:grpSpPr>
      <p:sp>
        <p:nvSpPr>
          <p:cNvPr id="17" name="Text Placeholder 862">
            <a:extLst>
              <a:ext uri="{FF2B5EF4-FFF2-40B4-BE49-F238E27FC236}">
                <a16:creationId xmlns:a16="http://schemas.microsoft.com/office/drawing/2014/main" id="{C8F55BC8-3E55-49EB-BF20-18EB4F7F5970}"/>
              </a:ext>
            </a:extLst>
          </p:cNvPr>
          <p:cNvSpPr>
            <a:spLocks noGrp="1"/>
          </p:cNvSpPr>
          <p:nvPr>
            <p:ph type="body" sz="quarter" idx="12" hasCustomPrompt="1"/>
          </p:nvPr>
        </p:nvSpPr>
        <p:spPr>
          <a:xfrm>
            <a:off x="608014" y="2514600"/>
            <a:ext cx="5485844" cy="1828799"/>
          </a:xfrm>
        </p:spPr>
        <p:txBody>
          <a:bodyPr anchor="ctr"/>
          <a:lstStyle>
            <a:lvl1pPr>
              <a:lnSpc>
                <a:spcPct val="100000"/>
              </a:lnSpc>
              <a:spcBef>
                <a:spcPts val="0"/>
              </a:spcBef>
              <a:defRPr sz="3600">
                <a:solidFill>
                  <a:schemeClr val="accent2"/>
                </a:solidFill>
              </a:defRPr>
            </a:lvl1pPr>
            <a:lvl2pPr marL="273050" indent="0">
              <a:buNone/>
              <a:defRPr/>
            </a:lvl2pPr>
          </a:lstStyle>
          <a:p>
            <a:pPr lvl="0"/>
            <a:r>
              <a:rPr lang="en-US"/>
              <a:t>Click to add text</a:t>
            </a:r>
          </a:p>
        </p:txBody>
      </p:sp>
      <p:sp>
        <p:nvSpPr>
          <p:cNvPr id="4" name="Picture Placeholder 3">
            <a:extLst>
              <a:ext uri="{FF2B5EF4-FFF2-40B4-BE49-F238E27FC236}">
                <a16:creationId xmlns:a16="http://schemas.microsoft.com/office/drawing/2014/main" id="{05DD6E7D-B875-48DF-B6A8-450BD6AE1716}"/>
              </a:ext>
            </a:extLst>
          </p:cNvPr>
          <p:cNvSpPr>
            <a:spLocks noGrp="1"/>
          </p:cNvSpPr>
          <p:nvPr>
            <p:ph type="pic" sz="quarter" idx="11" hasCustomPrompt="1"/>
          </p:nvPr>
        </p:nvSpPr>
        <p:spPr>
          <a:xfrm>
            <a:off x="6785687" y="69850"/>
            <a:ext cx="5403138" cy="6788150"/>
          </a:xfrm>
        </p:spPr>
        <p:txBody>
          <a:bodyPr lIns="640080" tIns="0" rIns="640080" anchor="ctr"/>
          <a:lstStyle>
            <a:lvl1pPr algn="ctr">
              <a:defRPr>
                <a:solidFill>
                  <a:schemeClr val="tx1"/>
                </a:solidFill>
              </a:defRPr>
            </a:lvl1pPr>
          </a:lstStyle>
          <a:p>
            <a:r>
              <a:rPr lang="en-US" dirty="0"/>
              <a:t>Click on the icon to insert a picture from your computer</a:t>
            </a:r>
          </a:p>
        </p:txBody>
      </p:sp>
      <p:sp>
        <p:nvSpPr>
          <p:cNvPr id="6" name="page number">
            <a:extLst>
              <a:ext uri="{FF2B5EF4-FFF2-40B4-BE49-F238E27FC236}">
                <a16:creationId xmlns:a16="http://schemas.microsoft.com/office/drawing/2014/main" id="{1AAC44A2-B8BC-4B45-BE44-C4C65AFCB660}"/>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5" name="page number">
            <a:extLst>
              <a:ext uri="{FF2B5EF4-FFF2-40B4-BE49-F238E27FC236}">
                <a16:creationId xmlns:a16="http://schemas.microsoft.com/office/drawing/2014/main" id="{1AAC44A2-B8BC-4B45-BE44-C4C65AFCB660}"/>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856434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p:cSld name="Big Statistic">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9B88A46-F304-51F6-1AAF-726E7309052D}"/>
              </a:ext>
            </a:extLst>
          </p:cNvPr>
          <p:cNvSpPr/>
          <p:nvPr/>
        </p:nvSpPr>
        <p:spPr>
          <a:xfrm>
            <a:off x="0" y="4332288"/>
            <a:ext cx="12188825" cy="2525712"/>
          </a:xfrm>
          <a:prstGeom prst="rect">
            <a:avLst/>
          </a:prstGeom>
          <a:solidFill>
            <a:srgbClr val="F4F8FA"/>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 name="Oval 2">
            <a:extLst>
              <a:ext uri="{FF2B5EF4-FFF2-40B4-BE49-F238E27FC236}">
                <a16:creationId xmlns:a16="http://schemas.microsoft.com/office/drawing/2014/main" id="{24AFE851-C873-10C5-E165-301FDB834692}"/>
              </a:ext>
            </a:extLst>
          </p:cNvPr>
          <p:cNvSpPr/>
          <p:nvPr/>
        </p:nvSpPr>
        <p:spPr>
          <a:xfrm>
            <a:off x="667600" y="722997"/>
            <a:ext cx="4470400" cy="44704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15" name="Text Placeholder 14" descr="Doughnut chart label 3">
            <a:extLst>
              <a:ext uri="{FF2B5EF4-FFF2-40B4-BE49-F238E27FC236}">
                <a16:creationId xmlns:a16="http://schemas.microsoft.com/office/drawing/2014/main" id="{E4BDA96F-134D-4855-8751-F1043ABF3B47}"/>
              </a:ext>
            </a:extLst>
          </p:cNvPr>
          <p:cNvSpPr>
            <a:spLocks noGrp="1"/>
          </p:cNvSpPr>
          <p:nvPr>
            <p:ph type="body" sz="quarter" idx="11" hasCustomPrompt="1"/>
          </p:nvPr>
        </p:nvSpPr>
        <p:spPr>
          <a:xfrm>
            <a:off x="6096000" y="2514599"/>
            <a:ext cx="5027613" cy="1371601"/>
          </a:xfrm>
        </p:spPr>
        <p:txBody>
          <a:bodyPr anchor="ctr"/>
          <a:lstStyle>
            <a:lvl1pPr>
              <a:spcBef>
                <a:spcPts val="0"/>
              </a:spcBef>
              <a:defRPr sz="3600">
                <a:solidFill>
                  <a:schemeClr val="accent2"/>
                </a:solidFill>
              </a:defRPr>
            </a:lvl1pPr>
          </a:lstStyle>
          <a:p>
            <a:pPr lvl="0"/>
            <a:r>
              <a:rPr lang="en-US" dirty="0"/>
              <a:t>Doughnut Chart slide, click to add text here</a:t>
            </a:r>
          </a:p>
        </p:txBody>
      </p:sp>
      <p:sp>
        <p:nvSpPr>
          <p:cNvPr id="13" name="Text Placeholder 12" descr="Doughnut chart label 1">
            <a:extLst>
              <a:ext uri="{FF2B5EF4-FFF2-40B4-BE49-F238E27FC236}">
                <a16:creationId xmlns:a16="http://schemas.microsoft.com/office/drawing/2014/main" id="{8C4F4198-4BE0-4282-8B86-20DED598DC17}"/>
              </a:ext>
            </a:extLst>
          </p:cNvPr>
          <p:cNvSpPr>
            <a:spLocks noGrp="1"/>
          </p:cNvSpPr>
          <p:nvPr>
            <p:ph type="body" sz="quarter" idx="18"/>
          </p:nvPr>
        </p:nvSpPr>
        <p:spPr>
          <a:xfrm>
            <a:off x="608330" y="5507147"/>
            <a:ext cx="1371064" cy="423862"/>
          </a:xfrm>
        </p:spPr>
        <p:txBody>
          <a:bodyPr/>
          <a:lstStyle>
            <a:lvl1pPr algn="l">
              <a:defRPr sz="1200">
                <a:solidFill>
                  <a:schemeClr val="tx1"/>
                </a:solidFill>
              </a:defRPr>
            </a:lvl1pPr>
          </a:lstStyle>
          <a:p>
            <a:pPr lvl="0"/>
            <a:r>
              <a:rPr lang="en-US"/>
              <a:t>Click to edit Master text styles</a:t>
            </a:r>
          </a:p>
        </p:txBody>
      </p:sp>
      <p:sp>
        <p:nvSpPr>
          <p:cNvPr id="70" name="Text Placeholder 12" descr="Doughnut chart label 2">
            <a:extLst>
              <a:ext uri="{FF2B5EF4-FFF2-40B4-BE49-F238E27FC236}">
                <a16:creationId xmlns:a16="http://schemas.microsoft.com/office/drawing/2014/main" id="{4B5F4E67-F2E8-4777-B495-668C321DCBAF}"/>
              </a:ext>
            </a:extLst>
          </p:cNvPr>
          <p:cNvSpPr>
            <a:spLocks noGrp="1"/>
          </p:cNvSpPr>
          <p:nvPr>
            <p:ph type="body" sz="quarter" idx="19"/>
          </p:nvPr>
        </p:nvSpPr>
        <p:spPr>
          <a:xfrm>
            <a:off x="2436416" y="5507147"/>
            <a:ext cx="1371064" cy="423862"/>
          </a:xfrm>
        </p:spPr>
        <p:txBody>
          <a:bodyPr/>
          <a:lstStyle>
            <a:lvl1pPr algn="l">
              <a:defRPr sz="1200">
                <a:solidFill>
                  <a:schemeClr val="tx1"/>
                </a:solidFill>
              </a:defRPr>
            </a:lvl1pPr>
          </a:lstStyle>
          <a:p>
            <a:pPr lvl="0"/>
            <a:r>
              <a:rPr lang="en-US"/>
              <a:t>Click to edit Master text styles</a:t>
            </a:r>
          </a:p>
        </p:txBody>
      </p:sp>
      <p:sp>
        <p:nvSpPr>
          <p:cNvPr id="71" name="Text Placeholder 12" descr="Doughnut chart label 4">
            <a:extLst>
              <a:ext uri="{FF2B5EF4-FFF2-40B4-BE49-F238E27FC236}">
                <a16:creationId xmlns:a16="http://schemas.microsoft.com/office/drawing/2014/main" id="{704846F3-64ED-4181-8AEC-68B9734DA96D}"/>
              </a:ext>
            </a:extLst>
          </p:cNvPr>
          <p:cNvSpPr>
            <a:spLocks noGrp="1"/>
          </p:cNvSpPr>
          <p:nvPr>
            <p:ph type="body" sz="quarter" idx="20"/>
          </p:nvPr>
        </p:nvSpPr>
        <p:spPr>
          <a:xfrm>
            <a:off x="4261103" y="5507147"/>
            <a:ext cx="1371064" cy="423862"/>
          </a:xfrm>
        </p:spPr>
        <p:txBody>
          <a:bodyPr/>
          <a:lstStyle>
            <a:lvl1pPr algn="l">
              <a:defRPr sz="1200">
                <a:solidFill>
                  <a:schemeClr val="tx1"/>
                </a:solidFill>
              </a:defRPr>
            </a:lvl1pPr>
          </a:lstStyle>
          <a:p>
            <a:pPr lvl="0"/>
            <a:r>
              <a:rPr lang="en-US"/>
              <a:t>Click to edit Master text styles</a:t>
            </a:r>
          </a:p>
        </p:txBody>
      </p:sp>
      <p:sp>
        <p:nvSpPr>
          <p:cNvPr id="72" name="Text Placeholder 12" descr="Doughnut chart label 5">
            <a:extLst>
              <a:ext uri="{FF2B5EF4-FFF2-40B4-BE49-F238E27FC236}">
                <a16:creationId xmlns:a16="http://schemas.microsoft.com/office/drawing/2014/main" id="{DD17F439-D919-44B7-889F-96A1DAF172D4}"/>
              </a:ext>
            </a:extLst>
          </p:cNvPr>
          <p:cNvSpPr>
            <a:spLocks noGrp="1"/>
          </p:cNvSpPr>
          <p:nvPr>
            <p:ph type="body" sz="quarter" idx="21"/>
          </p:nvPr>
        </p:nvSpPr>
        <p:spPr>
          <a:xfrm>
            <a:off x="6088109" y="5507147"/>
            <a:ext cx="1371064" cy="423862"/>
          </a:xfrm>
        </p:spPr>
        <p:txBody>
          <a:bodyPr/>
          <a:lstStyle>
            <a:lvl1pPr algn="l">
              <a:defRPr sz="1200">
                <a:solidFill>
                  <a:schemeClr val="tx1"/>
                </a:solidFill>
              </a:defRPr>
            </a:lvl1pPr>
          </a:lstStyle>
          <a:p>
            <a:pPr lvl="0"/>
            <a:r>
              <a:rPr lang="en-US"/>
              <a:t>Click to edit Master text styles</a:t>
            </a:r>
          </a:p>
        </p:txBody>
      </p:sp>
      <p:sp>
        <p:nvSpPr>
          <p:cNvPr id="73" name="Text Placeholder 12" descr="Doughnut chart label 6">
            <a:extLst>
              <a:ext uri="{FF2B5EF4-FFF2-40B4-BE49-F238E27FC236}">
                <a16:creationId xmlns:a16="http://schemas.microsoft.com/office/drawing/2014/main" id="{0DA74846-CC03-44FE-9AE5-4975E808F8A0}"/>
              </a:ext>
            </a:extLst>
          </p:cNvPr>
          <p:cNvSpPr>
            <a:spLocks noGrp="1"/>
          </p:cNvSpPr>
          <p:nvPr>
            <p:ph type="body" sz="quarter" idx="22"/>
          </p:nvPr>
        </p:nvSpPr>
        <p:spPr>
          <a:xfrm>
            <a:off x="7920672" y="5507147"/>
            <a:ext cx="1371064" cy="423862"/>
          </a:xfrm>
        </p:spPr>
        <p:txBody>
          <a:bodyPr/>
          <a:lstStyle>
            <a:lvl1pPr algn="l">
              <a:defRPr sz="1200">
                <a:solidFill>
                  <a:schemeClr val="tx1"/>
                </a:solidFill>
              </a:defRPr>
            </a:lvl1pPr>
          </a:lstStyle>
          <a:p>
            <a:pPr lvl="0"/>
            <a:r>
              <a:rPr lang="en-US"/>
              <a:t>Click to edit Master text styles</a:t>
            </a:r>
          </a:p>
        </p:txBody>
      </p:sp>
      <p:sp>
        <p:nvSpPr>
          <p:cNvPr id="16" name="page number">
            <a:extLst>
              <a:ext uri="{FF2B5EF4-FFF2-40B4-BE49-F238E27FC236}">
                <a16:creationId xmlns:a16="http://schemas.microsoft.com/office/drawing/2014/main" id="{5FED840F-E343-734C-96BA-0EFF5AE5DADC}"/>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9" name="Graphic 8">
            <a:extLst>
              <a:ext uri="{FF2B5EF4-FFF2-40B4-BE49-F238E27FC236}">
                <a16:creationId xmlns:a16="http://schemas.microsoft.com/office/drawing/2014/main" id="{51D71EBD-582E-1FCD-4FB5-19DB293014E0}"/>
              </a:ext>
            </a:extLst>
          </p:cNvPr>
          <p:cNvGrpSpPr/>
          <p:nvPr/>
        </p:nvGrpSpPr>
        <p:grpSpPr>
          <a:xfrm>
            <a:off x="265625" y="6323271"/>
            <a:ext cx="1249223" cy="369648"/>
            <a:chOff x="265625" y="6323271"/>
            <a:chExt cx="1249223" cy="369648"/>
          </a:xfrm>
          <a:solidFill>
            <a:srgbClr val="000000"/>
          </a:solidFill>
        </p:grpSpPr>
        <p:grpSp>
          <p:nvGrpSpPr>
            <p:cNvPr id="10" name="Graphic 8">
              <a:extLst>
                <a:ext uri="{FF2B5EF4-FFF2-40B4-BE49-F238E27FC236}">
                  <a16:creationId xmlns:a16="http://schemas.microsoft.com/office/drawing/2014/main" id="{D35F1425-35AB-A636-90BD-74567B35A7DA}"/>
                </a:ext>
              </a:extLst>
            </p:cNvPr>
            <p:cNvGrpSpPr/>
            <p:nvPr/>
          </p:nvGrpSpPr>
          <p:grpSpPr>
            <a:xfrm>
              <a:off x="745455" y="6594444"/>
              <a:ext cx="722662" cy="98475"/>
              <a:chOff x="745455" y="6594444"/>
              <a:chExt cx="722662" cy="98475"/>
            </a:xfrm>
            <a:solidFill>
              <a:srgbClr val="000000"/>
            </a:solidFill>
          </p:grpSpPr>
          <p:sp>
            <p:nvSpPr>
              <p:cNvPr id="22" name="Freeform 49">
                <a:extLst>
                  <a:ext uri="{FF2B5EF4-FFF2-40B4-BE49-F238E27FC236}">
                    <a16:creationId xmlns:a16="http://schemas.microsoft.com/office/drawing/2014/main" id="{72251ED7-7751-A756-FB41-95D0A573AE7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50">
                <a:extLst>
                  <a:ext uri="{FF2B5EF4-FFF2-40B4-BE49-F238E27FC236}">
                    <a16:creationId xmlns:a16="http://schemas.microsoft.com/office/drawing/2014/main" id="{4F380DE5-9091-5FB2-3647-07110D57135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51">
                <a:extLst>
                  <a:ext uri="{FF2B5EF4-FFF2-40B4-BE49-F238E27FC236}">
                    <a16:creationId xmlns:a16="http://schemas.microsoft.com/office/drawing/2014/main" id="{63D834CB-F2F1-9CF3-3306-BA788EF4C86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52">
                <a:extLst>
                  <a:ext uri="{FF2B5EF4-FFF2-40B4-BE49-F238E27FC236}">
                    <a16:creationId xmlns:a16="http://schemas.microsoft.com/office/drawing/2014/main" id="{9DF9D2C4-19CD-6D6F-D1D1-11CE96C0E99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53">
                <a:extLst>
                  <a:ext uri="{FF2B5EF4-FFF2-40B4-BE49-F238E27FC236}">
                    <a16:creationId xmlns:a16="http://schemas.microsoft.com/office/drawing/2014/main" id="{78F9C88E-5836-8A77-4538-E2CB490964F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54">
                <a:extLst>
                  <a:ext uri="{FF2B5EF4-FFF2-40B4-BE49-F238E27FC236}">
                    <a16:creationId xmlns:a16="http://schemas.microsoft.com/office/drawing/2014/main" id="{2234677F-1EF1-C24A-2456-FB35C738163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55">
                <a:extLst>
                  <a:ext uri="{FF2B5EF4-FFF2-40B4-BE49-F238E27FC236}">
                    <a16:creationId xmlns:a16="http://schemas.microsoft.com/office/drawing/2014/main" id="{626F9D8A-D6B5-1888-E8B1-9C3B8C259EF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56">
                <a:extLst>
                  <a:ext uri="{FF2B5EF4-FFF2-40B4-BE49-F238E27FC236}">
                    <a16:creationId xmlns:a16="http://schemas.microsoft.com/office/drawing/2014/main" id="{7096839D-686D-9DA0-39C1-FF38ACD7988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57">
                <a:extLst>
                  <a:ext uri="{FF2B5EF4-FFF2-40B4-BE49-F238E27FC236}">
                    <a16:creationId xmlns:a16="http://schemas.microsoft.com/office/drawing/2014/main" id="{58CEFB5A-654F-87FC-D4AD-C96299F7F5D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58">
                <a:extLst>
                  <a:ext uri="{FF2B5EF4-FFF2-40B4-BE49-F238E27FC236}">
                    <a16:creationId xmlns:a16="http://schemas.microsoft.com/office/drawing/2014/main" id="{CFBE9921-9212-4D37-DEE1-045D1791052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1" name="Graphic 8">
              <a:extLst>
                <a:ext uri="{FF2B5EF4-FFF2-40B4-BE49-F238E27FC236}">
                  <a16:creationId xmlns:a16="http://schemas.microsoft.com/office/drawing/2014/main" id="{1E38B9D4-555F-EEC6-42D8-A5C4F792F610}"/>
                </a:ext>
              </a:extLst>
            </p:cNvPr>
            <p:cNvGrpSpPr/>
            <p:nvPr/>
          </p:nvGrpSpPr>
          <p:grpSpPr>
            <a:xfrm>
              <a:off x="265625" y="6323271"/>
              <a:ext cx="1249223" cy="190348"/>
              <a:chOff x="265625" y="6323271"/>
              <a:chExt cx="1249223" cy="190348"/>
            </a:xfrm>
            <a:solidFill>
              <a:srgbClr val="000000"/>
            </a:solidFill>
          </p:grpSpPr>
          <p:sp>
            <p:nvSpPr>
              <p:cNvPr id="12" name="Freeform 60">
                <a:extLst>
                  <a:ext uri="{FF2B5EF4-FFF2-40B4-BE49-F238E27FC236}">
                    <a16:creationId xmlns:a16="http://schemas.microsoft.com/office/drawing/2014/main" id="{9D3B5F0D-70BB-140A-76C7-DFCFF0777F3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4" name="Freeform 61">
                <a:extLst>
                  <a:ext uri="{FF2B5EF4-FFF2-40B4-BE49-F238E27FC236}">
                    <a16:creationId xmlns:a16="http://schemas.microsoft.com/office/drawing/2014/main" id="{4C7E6602-CB3B-E010-2E47-5CF99A73449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7" name="Freeform 62">
                <a:extLst>
                  <a:ext uri="{FF2B5EF4-FFF2-40B4-BE49-F238E27FC236}">
                    <a16:creationId xmlns:a16="http://schemas.microsoft.com/office/drawing/2014/main" id="{9D8567F3-62AD-F216-0AF6-E4169127352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8" name="Freeform 63">
                <a:extLst>
                  <a:ext uri="{FF2B5EF4-FFF2-40B4-BE49-F238E27FC236}">
                    <a16:creationId xmlns:a16="http://schemas.microsoft.com/office/drawing/2014/main" id="{2FEEA58D-D9DD-FFD2-C302-3DD4E8DAF5F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9" name="Freeform 64">
                <a:extLst>
                  <a:ext uri="{FF2B5EF4-FFF2-40B4-BE49-F238E27FC236}">
                    <a16:creationId xmlns:a16="http://schemas.microsoft.com/office/drawing/2014/main" id="{3C5437F9-4193-4740-1635-D710F784A6A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0" name="Freeform 65">
                <a:extLst>
                  <a:ext uri="{FF2B5EF4-FFF2-40B4-BE49-F238E27FC236}">
                    <a16:creationId xmlns:a16="http://schemas.microsoft.com/office/drawing/2014/main" id="{42E15317-316C-8EDA-CD39-0C8616D5890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1" name="Freeform 66">
                <a:extLst>
                  <a:ext uri="{FF2B5EF4-FFF2-40B4-BE49-F238E27FC236}">
                    <a16:creationId xmlns:a16="http://schemas.microsoft.com/office/drawing/2014/main" id="{F53C646D-9387-7EA5-512E-D7BE25FBA13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5" name="Oval 34">
            <a:extLst>
              <a:ext uri="{FF2B5EF4-FFF2-40B4-BE49-F238E27FC236}">
                <a16:creationId xmlns:a16="http://schemas.microsoft.com/office/drawing/2014/main" id="{24AFE851-C873-10C5-E165-301FDB834692}"/>
              </a:ext>
            </a:extLst>
          </p:cNvPr>
          <p:cNvSpPr/>
          <p:nvPr userDrawn="1"/>
        </p:nvSpPr>
        <p:spPr>
          <a:xfrm>
            <a:off x="667600" y="722997"/>
            <a:ext cx="4470400" cy="44704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p:txBody>
      </p:sp>
      <p:sp>
        <p:nvSpPr>
          <p:cNvPr id="36" name="page number">
            <a:extLst>
              <a:ext uri="{FF2B5EF4-FFF2-40B4-BE49-F238E27FC236}">
                <a16:creationId xmlns:a16="http://schemas.microsoft.com/office/drawing/2014/main" id="{5FED840F-E343-734C-96BA-0EFF5AE5DADC}"/>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grpSp>
        <p:nvGrpSpPr>
          <p:cNvPr id="39" name="Graphic 8">
            <a:extLst>
              <a:ext uri="{FF2B5EF4-FFF2-40B4-BE49-F238E27FC236}">
                <a16:creationId xmlns:a16="http://schemas.microsoft.com/office/drawing/2014/main" id="{51D71EBD-582E-1FCD-4FB5-19DB293014E0}"/>
              </a:ext>
            </a:extLst>
          </p:cNvPr>
          <p:cNvGrpSpPr/>
          <p:nvPr userDrawn="1"/>
        </p:nvGrpSpPr>
        <p:grpSpPr>
          <a:xfrm>
            <a:off x="265625" y="6323271"/>
            <a:ext cx="1249223" cy="369648"/>
            <a:chOff x="265625" y="6323271"/>
            <a:chExt cx="1249223" cy="369648"/>
          </a:xfrm>
          <a:solidFill>
            <a:srgbClr val="000000"/>
          </a:solidFill>
        </p:grpSpPr>
        <p:grpSp>
          <p:nvGrpSpPr>
            <p:cNvPr id="40" name="Graphic 8">
              <a:extLst>
                <a:ext uri="{FF2B5EF4-FFF2-40B4-BE49-F238E27FC236}">
                  <a16:creationId xmlns:a16="http://schemas.microsoft.com/office/drawing/2014/main" id="{D35F1425-35AB-A636-90BD-74567B35A7DA}"/>
                </a:ext>
              </a:extLst>
            </p:cNvPr>
            <p:cNvGrpSpPr/>
            <p:nvPr/>
          </p:nvGrpSpPr>
          <p:grpSpPr>
            <a:xfrm>
              <a:off x="745455" y="6594444"/>
              <a:ext cx="722662" cy="98475"/>
              <a:chOff x="745455" y="6594444"/>
              <a:chExt cx="722662" cy="98475"/>
            </a:xfrm>
            <a:solidFill>
              <a:srgbClr val="000000"/>
            </a:solidFill>
          </p:grpSpPr>
          <p:sp>
            <p:nvSpPr>
              <p:cNvPr id="49" name="Freeform 49">
                <a:extLst>
                  <a:ext uri="{FF2B5EF4-FFF2-40B4-BE49-F238E27FC236}">
                    <a16:creationId xmlns:a16="http://schemas.microsoft.com/office/drawing/2014/main" id="{72251ED7-7751-A756-FB41-95D0A573AE7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0" name="Freeform 50">
                <a:extLst>
                  <a:ext uri="{FF2B5EF4-FFF2-40B4-BE49-F238E27FC236}">
                    <a16:creationId xmlns:a16="http://schemas.microsoft.com/office/drawing/2014/main" id="{4F380DE5-9091-5FB2-3647-07110D571357}"/>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1" name="Freeform 51">
                <a:extLst>
                  <a:ext uri="{FF2B5EF4-FFF2-40B4-BE49-F238E27FC236}">
                    <a16:creationId xmlns:a16="http://schemas.microsoft.com/office/drawing/2014/main" id="{63D834CB-F2F1-9CF3-3306-BA788EF4C863}"/>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2" name="Freeform 52">
                <a:extLst>
                  <a:ext uri="{FF2B5EF4-FFF2-40B4-BE49-F238E27FC236}">
                    <a16:creationId xmlns:a16="http://schemas.microsoft.com/office/drawing/2014/main" id="{9DF9D2C4-19CD-6D6F-D1D1-11CE96C0E99D}"/>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3" name="Freeform 53">
                <a:extLst>
                  <a:ext uri="{FF2B5EF4-FFF2-40B4-BE49-F238E27FC236}">
                    <a16:creationId xmlns:a16="http://schemas.microsoft.com/office/drawing/2014/main" id="{78F9C88E-5836-8A77-4538-E2CB490964F3}"/>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4" name="Freeform 54">
                <a:extLst>
                  <a:ext uri="{FF2B5EF4-FFF2-40B4-BE49-F238E27FC236}">
                    <a16:creationId xmlns:a16="http://schemas.microsoft.com/office/drawing/2014/main" id="{2234677F-1EF1-C24A-2456-FB35C738163D}"/>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5" name="Freeform 55">
                <a:extLst>
                  <a:ext uri="{FF2B5EF4-FFF2-40B4-BE49-F238E27FC236}">
                    <a16:creationId xmlns:a16="http://schemas.microsoft.com/office/drawing/2014/main" id="{626F9D8A-D6B5-1888-E8B1-9C3B8C259EF5}"/>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6" name="Freeform 56">
                <a:extLst>
                  <a:ext uri="{FF2B5EF4-FFF2-40B4-BE49-F238E27FC236}">
                    <a16:creationId xmlns:a16="http://schemas.microsoft.com/office/drawing/2014/main" id="{7096839D-686D-9DA0-39C1-FF38ACD7988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7" name="Freeform 57">
                <a:extLst>
                  <a:ext uri="{FF2B5EF4-FFF2-40B4-BE49-F238E27FC236}">
                    <a16:creationId xmlns:a16="http://schemas.microsoft.com/office/drawing/2014/main" id="{58CEFB5A-654F-87FC-D4AD-C96299F7F5DE}"/>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8">
                <a:extLst>
                  <a:ext uri="{FF2B5EF4-FFF2-40B4-BE49-F238E27FC236}">
                    <a16:creationId xmlns:a16="http://schemas.microsoft.com/office/drawing/2014/main" id="{CFBE9921-9212-4D37-DEE1-045D1791052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41" name="Graphic 8">
              <a:extLst>
                <a:ext uri="{FF2B5EF4-FFF2-40B4-BE49-F238E27FC236}">
                  <a16:creationId xmlns:a16="http://schemas.microsoft.com/office/drawing/2014/main" id="{1E38B9D4-555F-EEC6-42D8-A5C4F792F610}"/>
                </a:ext>
              </a:extLst>
            </p:cNvPr>
            <p:cNvGrpSpPr/>
            <p:nvPr/>
          </p:nvGrpSpPr>
          <p:grpSpPr>
            <a:xfrm>
              <a:off x="265625" y="6323271"/>
              <a:ext cx="1249223" cy="190348"/>
              <a:chOff x="265625" y="6323271"/>
              <a:chExt cx="1249223" cy="190348"/>
            </a:xfrm>
            <a:solidFill>
              <a:srgbClr val="000000"/>
            </a:solidFill>
          </p:grpSpPr>
          <p:sp>
            <p:nvSpPr>
              <p:cNvPr id="42" name="Freeform 60">
                <a:extLst>
                  <a:ext uri="{FF2B5EF4-FFF2-40B4-BE49-F238E27FC236}">
                    <a16:creationId xmlns:a16="http://schemas.microsoft.com/office/drawing/2014/main" id="{9D3B5F0D-70BB-140A-76C7-DFCFF0777F3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3" name="Freeform 61">
                <a:extLst>
                  <a:ext uri="{FF2B5EF4-FFF2-40B4-BE49-F238E27FC236}">
                    <a16:creationId xmlns:a16="http://schemas.microsoft.com/office/drawing/2014/main" id="{4C7E6602-CB3B-E010-2E47-5CF99A734497}"/>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4" name="Freeform 62">
                <a:extLst>
                  <a:ext uri="{FF2B5EF4-FFF2-40B4-BE49-F238E27FC236}">
                    <a16:creationId xmlns:a16="http://schemas.microsoft.com/office/drawing/2014/main" id="{9D8567F3-62AD-F216-0AF6-E4169127352D}"/>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5" name="Freeform 63">
                <a:extLst>
                  <a:ext uri="{FF2B5EF4-FFF2-40B4-BE49-F238E27FC236}">
                    <a16:creationId xmlns:a16="http://schemas.microsoft.com/office/drawing/2014/main" id="{2FEEA58D-D9DD-FFD2-C302-3DD4E8DAF5FC}"/>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6" name="Freeform 64">
                <a:extLst>
                  <a:ext uri="{FF2B5EF4-FFF2-40B4-BE49-F238E27FC236}">
                    <a16:creationId xmlns:a16="http://schemas.microsoft.com/office/drawing/2014/main" id="{3C5437F9-4193-4740-1635-D710F784A6A4}"/>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7" name="Freeform 65">
                <a:extLst>
                  <a:ext uri="{FF2B5EF4-FFF2-40B4-BE49-F238E27FC236}">
                    <a16:creationId xmlns:a16="http://schemas.microsoft.com/office/drawing/2014/main" id="{42E15317-316C-8EDA-CD39-0C8616D58909}"/>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8" name="Freeform 66">
                <a:extLst>
                  <a:ext uri="{FF2B5EF4-FFF2-40B4-BE49-F238E27FC236}">
                    <a16:creationId xmlns:a16="http://schemas.microsoft.com/office/drawing/2014/main" id="{F53C646D-9387-7EA5-512E-D7BE25FBA137}"/>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23" name="Chart Placeholder 22">
            <a:extLst>
              <a:ext uri="{FF2B5EF4-FFF2-40B4-BE49-F238E27FC236}">
                <a16:creationId xmlns:a16="http://schemas.microsoft.com/office/drawing/2014/main" id="{4093E53D-7586-4113-99BD-F45F1343692F}"/>
              </a:ext>
            </a:extLst>
          </p:cNvPr>
          <p:cNvSpPr>
            <a:spLocks noGrp="1"/>
          </p:cNvSpPr>
          <p:nvPr>
            <p:ph type="chart" sz="quarter" idx="13" hasCustomPrompt="1"/>
          </p:nvPr>
        </p:nvSpPr>
        <p:spPr bwMode="gray">
          <a:xfrm>
            <a:off x="662672" y="722997"/>
            <a:ext cx="4480256" cy="4480256"/>
          </a:xfrm>
        </p:spPr>
        <p:txBody>
          <a:bodyPr anchor="ctr"/>
          <a:lstStyle>
            <a:lvl1pPr algn="ctr">
              <a:defRPr>
                <a:solidFill>
                  <a:schemeClr val="tx1"/>
                </a:solidFill>
              </a:defRPr>
            </a:lvl1pPr>
          </a:lstStyle>
          <a:p>
            <a:r>
              <a:rPr lang="en-US" dirty="0"/>
              <a:t>Click to insert a </a:t>
            </a:r>
            <a:br>
              <a:rPr lang="en-US" dirty="0"/>
            </a:br>
            <a:r>
              <a:rPr lang="en-US" dirty="0"/>
              <a:t>Doughnut chart</a:t>
            </a:r>
          </a:p>
        </p:txBody>
      </p:sp>
      <p:sp>
        <p:nvSpPr>
          <p:cNvPr id="5" name="TextBox 4">
            <a:extLst>
              <a:ext uri="{FF2B5EF4-FFF2-40B4-BE49-F238E27FC236}">
                <a16:creationId xmlns:a16="http://schemas.microsoft.com/office/drawing/2014/main" id="{9EE7E0D9-D41D-881D-F813-4A2FF0C435F7}"/>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2996566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4" name="page number">
            <a:extLst>
              <a:ext uri="{FF2B5EF4-FFF2-40B4-BE49-F238E27FC236}">
                <a16:creationId xmlns:a16="http://schemas.microsoft.com/office/drawing/2014/main" id="{BE17F87B-8433-6C45-84D8-13DF5C0ADDB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
        <p:nvSpPr>
          <p:cNvPr id="3" name="page number">
            <a:extLst>
              <a:ext uri="{FF2B5EF4-FFF2-40B4-BE49-F238E27FC236}">
                <a16:creationId xmlns:a16="http://schemas.microsoft.com/office/drawing/2014/main" id="{BE17F87B-8433-6C45-84D8-13DF5C0ADDB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Verdana" panose="020B0604030504040204" pitchFamily="34" charset="0"/>
                <a:cs typeface="Verdana" panose="020B0604030504040204" pitchFamily="34" charset="0"/>
              </a:defRPr>
            </a:lvl1pPr>
          </a:lstStyle>
          <a:p>
            <a:pPr lvl="0" algn="r"/>
            <a:fld id="{7A51DB15-7364-4F0B-A3A0-1309F8830053}" type="slidenum">
              <a:rPr lang="en-US" smtClean="0"/>
              <a:pPr lvl="0" algn="r"/>
              <a:t>‹#›</a:t>
            </a:fld>
            <a:endParaRPr lang="en-US" dirty="0"/>
          </a:p>
        </p:txBody>
      </p:sp>
    </p:spTree>
    <p:extLst>
      <p:ext uri="{BB962C8B-B14F-4D97-AF65-F5344CB8AC3E}">
        <p14:creationId xmlns:p14="http://schemas.microsoft.com/office/powerpoint/2010/main" val="3358493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p:cSld name="Thank You / Closing - Leaf">
    <p:spTree>
      <p:nvGrpSpPr>
        <p:cNvPr id="1" name=""/>
        <p:cNvGrpSpPr/>
        <p:nvPr/>
      </p:nvGrpSpPr>
      <p:grpSpPr>
        <a:xfrm>
          <a:off x="0" y="0"/>
          <a:ext cx="0" cy="0"/>
          <a:chOff x="0" y="0"/>
          <a:chExt cx="0" cy="0"/>
        </a:xfrm>
      </p:grpSpPr>
      <p:sp>
        <p:nvSpPr>
          <p:cNvPr id="49" name="Freeform: Shape 48">
            <a:extLst>
              <a:ext uri="{FF2B5EF4-FFF2-40B4-BE49-F238E27FC236}">
                <a16:creationId xmlns:a16="http://schemas.microsoft.com/office/drawing/2014/main" id="{56DE6961-EE11-6DE7-194F-886ED937142D}"/>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rgbClr val="61A30E"/>
              </a:gs>
              <a:gs pos="85000">
                <a:srgbClr val="0095C4"/>
              </a:gs>
            </a:gsLst>
            <a:lin ang="18899976" scaled="1"/>
          </a:gradFill>
          <a:ln w="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F8F365AF-9910-BF20-6CFB-24D4C0928B4D}"/>
              </a:ext>
            </a:extLst>
          </p:cNvPr>
          <p:cNvSpPr/>
          <p:nvPr/>
        </p:nvSpPr>
        <p:spPr>
          <a:xfrm>
            <a:off x="0" y="0"/>
            <a:ext cx="12188827" cy="6858000"/>
          </a:xfrm>
          <a:custGeom>
            <a:avLst/>
            <a:gdLst>
              <a:gd name="connsiteX0" fmla="*/ 8298300 w 12219884"/>
              <a:gd name="connsiteY0" fmla="*/ 0 h 6858000"/>
              <a:gd name="connsiteX1" fmla="*/ 12219884 w 12219884"/>
              <a:gd name="connsiteY1" fmla="*/ 0 h 6858000"/>
              <a:gd name="connsiteX2" fmla="*/ 12219884 w 12219884"/>
              <a:gd name="connsiteY2" fmla="*/ 6858000 h 6858000"/>
              <a:gd name="connsiteX3" fmla="*/ 0 w 12219884"/>
              <a:gd name="connsiteY3" fmla="*/ 6858000 h 6858000"/>
              <a:gd name="connsiteX4" fmla="*/ 0 w 12219884"/>
              <a:gd name="connsiteY4" fmla="*/ 5087251 h 6858000"/>
              <a:gd name="connsiteX5" fmla="*/ 2577461 w 12219884"/>
              <a:gd name="connsiteY5" fmla="*/ 5085576 h 6858000"/>
              <a:gd name="connsiteX6" fmla="*/ 3686387 w 12219884"/>
              <a:gd name="connsiteY6" fmla="*/ 46262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9884" h="6858000">
                <a:moveTo>
                  <a:pt x="8298300" y="0"/>
                </a:moveTo>
                <a:lnTo>
                  <a:pt x="12219884" y="0"/>
                </a:lnTo>
                <a:lnTo>
                  <a:pt x="12219884" y="6858000"/>
                </a:lnTo>
                <a:lnTo>
                  <a:pt x="0" y="6858000"/>
                </a:lnTo>
                <a:lnTo>
                  <a:pt x="0" y="5087251"/>
                </a:lnTo>
                <a:lnTo>
                  <a:pt x="2577461" y="5085576"/>
                </a:lnTo>
                <a:cubicBezTo>
                  <a:pt x="2993418" y="5085576"/>
                  <a:pt x="3392312" y="4920346"/>
                  <a:pt x="3686387" y="4626273"/>
                </a:cubicBezTo>
                <a:close/>
              </a:path>
            </a:pathLst>
          </a:custGeom>
          <a:solidFill>
            <a:schemeClr val="bg1"/>
          </a:solidFill>
          <a:ln w="0" cap="flat">
            <a:noFill/>
            <a:prstDash val="solid"/>
            <a:miter/>
          </a:ln>
          <a:effectLst/>
        </p:spPr>
        <p:txBody>
          <a:bodyPr rtlCol="0" anchor="ctr"/>
          <a:lstStyle/>
          <a:p>
            <a:endParaRPr lang="en-US" dirty="0"/>
          </a:p>
        </p:txBody>
      </p:sp>
      <p:sp>
        <p:nvSpPr>
          <p:cNvPr id="10" name="TextBox 9">
            <a:extLst>
              <a:ext uri="{FF2B5EF4-FFF2-40B4-BE49-F238E27FC236}">
                <a16:creationId xmlns:a16="http://schemas.microsoft.com/office/drawing/2014/main" id="{01F07DE2-A4BE-3B43-A385-D616B948566C}"/>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11" name="Graphic 8">
            <a:extLst>
              <a:ext uri="{FF2B5EF4-FFF2-40B4-BE49-F238E27FC236}">
                <a16:creationId xmlns:a16="http://schemas.microsoft.com/office/drawing/2014/main" id="{6CCAFF07-C864-65F7-E8B7-2C5633311999}"/>
              </a:ext>
            </a:extLst>
          </p:cNvPr>
          <p:cNvGrpSpPr/>
          <p:nvPr/>
        </p:nvGrpSpPr>
        <p:grpSpPr>
          <a:xfrm>
            <a:off x="265625" y="6323271"/>
            <a:ext cx="1249223" cy="369648"/>
            <a:chOff x="265625" y="6323271"/>
            <a:chExt cx="1249223" cy="369648"/>
          </a:xfrm>
          <a:solidFill>
            <a:srgbClr val="000000"/>
          </a:solidFill>
        </p:grpSpPr>
        <p:grpSp>
          <p:nvGrpSpPr>
            <p:cNvPr id="12" name="Graphic 8">
              <a:extLst>
                <a:ext uri="{FF2B5EF4-FFF2-40B4-BE49-F238E27FC236}">
                  <a16:creationId xmlns:a16="http://schemas.microsoft.com/office/drawing/2014/main" id="{AE286926-0755-5C11-7A0A-71094C615B03}"/>
                </a:ext>
              </a:extLst>
            </p:cNvPr>
            <p:cNvGrpSpPr/>
            <p:nvPr/>
          </p:nvGrpSpPr>
          <p:grpSpPr>
            <a:xfrm>
              <a:off x="745455" y="6594444"/>
              <a:ext cx="722662" cy="98475"/>
              <a:chOff x="745455" y="6594444"/>
              <a:chExt cx="722662" cy="98475"/>
            </a:xfrm>
            <a:solidFill>
              <a:srgbClr val="000000"/>
            </a:solidFill>
          </p:grpSpPr>
          <p:sp>
            <p:nvSpPr>
              <p:cNvPr id="23" name="Freeform 22">
                <a:extLst>
                  <a:ext uri="{FF2B5EF4-FFF2-40B4-BE49-F238E27FC236}">
                    <a16:creationId xmlns:a16="http://schemas.microsoft.com/office/drawing/2014/main" id="{41302BC0-EF33-69DC-5657-3D7BE117EB0F}"/>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BEAD69D2-73E4-A144-E3E4-00652D470A7C}"/>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1D44DE0F-E65D-8F5E-DDB1-448E05AF8B4D}"/>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300A7CEA-47C8-F052-0ABC-CC3EB17C99C8}"/>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B263CA39-11CD-CCFC-8658-51B68E806BF2}"/>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454151A7-9F9E-00A6-12C4-7BF08E75C919}"/>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1677C85A-569D-FF5C-4327-E5F7B4ABB32F}"/>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30" name="Freeform 29">
                <a:extLst>
                  <a:ext uri="{FF2B5EF4-FFF2-40B4-BE49-F238E27FC236}">
                    <a16:creationId xmlns:a16="http://schemas.microsoft.com/office/drawing/2014/main" id="{E88D3A2E-3EBA-D825-F133-2DE36CA58E51}"/>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31" name="Freeform 30">
                <a:extLst>
                  <a:ext uri="{FF2B5EF4-FFF2-40B4-BE49-F238E27FC236}">
                    <a16:creationId xmlns:a16="http://schemas.microsoft.com/office/drawing/2014/main" id="{3803B19A-69EA-855A-98FD-BD1186959E33}"/>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EBFA825D-97CB-A8C0-AFB9-8046277D8437}"/>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15" name="Graphic 8">
              <a:extLst>
                <a:ext uri="{FF2B5EF4-FFF2-40B4-BE49-F238E27FC236}">
                  <a16:creationId xmlns:a16="http://schemas.microsoft.com/office/drawing/2014/main" id="{3A2519BE-9221-F0E4-149B-1E0F287B15F2}"/>
                </a:ext>
              </a:extLst>
            </p:cNvPr>
            <p:cNvGrpSpPr/>
            <p:nvPr/>
          </p:nvGrpSpPr>
          <p:grpSpPr>
            <a:xfrm>
              <a:off x="265625" y="6323271"/>
              <a:ext cx="1249223" cy="190348"/>
              <a:chOff x="265625" y="6323271"/>
              <a:chExt cx="1249223" cy="190348"/>
            </a:xfrm>
            <a:solidFill>
              <a:srgbClr val="000000"/>
            </a:solidFill>
          </p:grpSpPr>
          <p:sp>
            <p:nvSpPr>
              <p:cNvPr id="16" name="Freeform 15">
                <a:extLst>
                  <a:ext uri="{FF2B5EF4-FFF2-40B4-BE49-F238E27FC236}">
                    <a16:creationId xmlns:a16="http://schemas.microsoft.com/office/drawing/2014/main" id="{E24DA16D-AFE1-058B-85D1-9EA36D66A8EC}"/>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55335D38-CD27-91AC-1D9C-2ECBE6EA600D}"/>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93057BCE-C1E5-5093-0F75-68335E992A1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7CA24CC9-729F-DCB8-F923-0F15F8C9188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20" name="Freeform 19">
                <a:extLst>
                  <a:ext uri="{FF2B5EF4-FFF2-40B4-BE49-F238E27FC236}">
                    <a16:creationId xmlns:a16="http://schemas.microsoft.com/office/drawing/2014/main" id="{BAE7E7AF-181B-E7F5-FE78-4DDD4C4C35B5}"/>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5473C35A-2B1B-B305-B605-0C9EA6533ED6}"/>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150F0538-4DA7-4B39-5875-633FB6643611}"/>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2" name="Freeform: Shape 1">
            <a:extLst>
              <a:ext uri="{FF2B5EF4-FFF2-40B4-BE49-F238E27FC236}">
                <a16:creationId xmlns:a16="http://schemas.microsoft.com/office/drawing/2014/main" id="{1C5EE576-7D35-4E9E-7E82-8116BB430A44}"/>
              </a:ext>
            </a:extLst>
          </p:cNvPr>
          <p:cNvSpPr/>
          <p:nvPr/>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4"/>
              </a:gs>
            </a:gsLst>
            <a:lin ang="0" scaled="1"/>
          </a:gradFill>
          <a:ln w="0" cap="flat">
            <a:noFill/>
            <a:prstDash val="solid"/>
            <a:miter/>
          </a:ln>
        </p:spPr>
        <p:txBody>
          <a:bodyPr rtlCol="0" anchor="ctr"/>
          <a:lstStyle/>
          <a:p>
            <a:endParaRPr lang="en-US" dirty="0"/>
          </a:p>
        </p:txBody>
      </p:sp>
      <p:sp>
        <p:nvSpPr>
          <p:cNvPr id="34" name="Freeform: Shape 1">
            <a:extLst>
              <a:ext uri="{FF2B5EF4-FFF2-40B4-BE49-F238E27FC236}">
                <a16:creationId xmlns:a16="http://schemas.microsoft.com/office/drawing/2014/main" id="{1C5EE576-7D35-4E9E-7E82-8116BB430A44}"/>
              </a:ext>
            </a:extLst>
          </p:cNvPr>
          <p:cNvSpPr/>
          <p:nvPr userDrawn="1"/>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4"/>
              </a:gs>
            </a:gsLst>
            <a:lin ang="0" scaled="1"/>
          </a:gradFill>
          <a:ln w="0" cap="flat">
            <a:noFill/>
            <a:prstDash val="solid"/>
            <a:miter/>
          </a:ln>
        </p:spPr>
        <p:txBody>
          <a:bodyPr rtlCol="0" anchor="ctr"/>
          <a:lstStyle/>
          <a:p>
            <a:endParaRPr lang="en-US" dirty="0"/>
          </a:p>
        </p:txBody>
      </p:sp>
      <p:sp>
        <p:nvSpPr>
          <p:cNvPr id="3" name="TextBox 2">
            <a:extLst>
              <a:ext uri="{FF2B5EF4-FFF2-40B4-BE49-F238E27FC236}">
                <a16:creationId xmlns:a16="http://schemas.microsoft.com/office/drawing/2014/main" id="{73C0D969-A405-CD2A-A392-B917B8B613B7}"/>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1100038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p:cSld name="Thank You / Closing - Aqua">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id="{11BDF268-11B0-0052-054F-E2A7324524A8}"/>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chemeClr val="accent2"/>
              </a:gs>
              <a:gs pos="85000">
                <a:srgbClr val="0095C4"/>
              </a:gs>
            </a:gsLst>
            <a:lin ang="18899976" scaled="1"/>
          </a:gradFill>
          <a:ln w="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FB6A110-E961-EB34-6F92-35210D5B70F6}"/>
              </a:ext>
            </a:extLst>
          </p:cNvPr>
          <p:cNvSpPr/>
          <p:nvPr/>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2"/>
              </a:gs>
            </a:gsLst>
            <a:lin ang="0" scaled="1"/>
          </a:gradFill>
          <a:ln w="0" cap="flat">
            <a:noFill/>
            <a:prstDash val="solid"/>
            <a:miter/>
          </a:ln>
        </p:spPr>
        <p:txBody>
          <a:bodyPr rtlCol="0" anchor="ctr"/>
          <a:lstStyle/>
          <a:p>
            <a:endParaRPr lang="en-US" dirty="0"/>
          </a:p>
        </p:txBody>
      </p:sp>
      <p:sp>
        <p:nvSpPr>
          <p:cNvPr id="13" name="TextBox 12">
            <a:extLst>
              <a:ext uri="{FF2B5EF4-FFF2-40B4-BE49-F238E27FC236}">
                <a16:creationId xmlns:a16="http://schemas.microsoft.com/office/drawing/2014/main" id="{1BD12A38-34FF-DD48-95F6-31F5ED4772C8}"/>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sp>
        <p:nvSpPr>
          <p:cNvPr id="2" name="TextBox 1">
            <a:extLst>
              <a:ext uri="{FF2B5EF4-FFF2-40B4-BE49-F238E27FC236}">
                <a16:creationId xmlns:a16="http://schemas.microsoft.com/office/drawing/2014/main" id="{6870951A-A1C2-4343-3CAE-6020736681CC}"/>
              </a:ext>
            </a:extLst>
          </p:cNvPr>
          <p:cNvSpPr txBox="1"/>
          <p:nvPr/>
        </p:nvSpPr>
        <p:spPr>
          <a:xfrm>
            <a:off x="1645084" y="6461498"/>
            <a:ext cx="3052118"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Broadcom Proprietary and Confidential. Copyright © 2024 Broadcom.  </a:t>
            </a:r>
          </a:p>
        </p:txBody>
      </p:sp>
      <p:sp>
        <p:nvSpPr>
          <p:cNvPr id="3" name="TextBox 2">
            <a:extLst>
              <a:ext uri="{FF2B5EF4-FFF2-40B4-BE49-F238E27FC236}">
                <a16:creationId xmlns:a16="http://schemas.microsoft.com/office/drawing/2014/main" id="{26F24270-F144-4E34-E75B-7BF480C1A43F}"/>
              </a:ext>
            </a:extLst>
          </p:cNvPr>
          <p:cNvSpPr txBox="1"/>
          <p:nvPr/>
        </p:nvSpPr>
        <p:spPr>
          <a:xfrm>
            <a:off x="1645084" y="6569434"/>
            <a:ext cx="3855223"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All Rights Reserved. The term “Broadcom” refers to Broadcom Inc. and/or its subsidiaries.</a:t>
            </a:r>
          </a:p>
        </p:txBody>
      </p:sp>
      <p:grpSp>
        <p:nvGrpSpPr>
          <p:cNvPr id="4" name="Graphic 8">
            <a:extLst>
              <a:ext uri="{FF2B5EF4-FFF2-40B4-BE49-F238E27FC236}">
                <a16:creationId xmlns:a16="http://schemas.microsoft.com/office/drawing/2014/main" id="{51193D83-E1DC-D884-497D-C36876692E8C}"/>
              </a:ext>
            </a:extLst>
          </p:cNvPr>
          <p:cNvGrpSpPr/>
          <p:nvPr/>
        </p:nvGrpSpPr>
        <p:grpSpPr>
          <a:xfrm>
            <a:off x="265625" y="6323271"/>
            <a:ext cx="1249223" cy="369648"/>
            <a:chOff x="265625" y="6323271"/>
            <a:chExt cx="1249223" cy="369648"/>
          </a:xfrm>
          <a:solidFill>
            <a:srgbClr val="000000"/>
          </a:solidFill>
        </p:grpSpPr>
        <p:grpSp>
          <p:nvGrpSpPr>
            <p:cNvPr id="5" name="Graphic 8">
              <a:extLst>
                <a:ext uri="{FF2B5EF4-FFF2-40B4-BE49-F238E27FC236}">
                  <a16:creationId xmlns:a16="http://schemas.microsoft.com/office/drawing/2014/main" id="{6288BEE3-23F3-B6B1-B482-0F9A9F569EA0}"/>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90DE5843-3B4A-E700-B0DB-5D9A3AD21F9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BDE397DD-E9E8-91B5-8C3B-45ED0D0B04B1}"/>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6E6BB379-A9C5-4D4D-9C59-B482A1CFFCF1}"/>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5BF377CA-F78E-1D05-7E30-F0B6B3DB3F0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8C25C045-0720-3CF6-0232-C3865968DD4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492D9964-F2E9-F1D3-0D41-4D100600133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B018C7F5-E13A-499D-ABFD-F4667F22C04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0E76BD13-FD6A-3266-F187-4A6360DA733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254CDF54-5CC7-42D5-FF3B-EA1A9615C9E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CA008CD7-A5BA-D93B-24CF-53A3613EEB9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 name="Graphic 8">
              <a:extLst>
                <a:ext uri="{FF2B5EF4-FFF2-40B4-BE49-F238E27FC236}">
                  <a16:creationId xmlns:a16="http://schemas.microsoft.com/office/drawing/2014/main" id="{0E16E021-24D5-689F-4C32-B7C3B76D27F1}"/>
                </a:ext>
              </a:extLst>
            </p:cNvPr>
            <p:cNvGrpSpPr/>
            <p:nvPr/>
          </p:nvGrpSpPr>
          <p:grpSpPr>
            <a:xfrm>
              <a:off x="265625" y="6323271"/>
              <a:ext cx="1249223" cy="190348"/>
              <a:chOff x="265625" y="6323271"/>
              <a:chExt cx="1249223" cy="190348"/>
            </a:xfrm>
            <a:solidFill>
              <a:srgbClr val="000000"/>
            </a:solidFill>
          </p:grpSpPr>
          <p:sp>
            <p:nvSpPr>
              <p:cNvPr id="7" name="Freeform 6">
                <a:extLst>
                  <a:ext uri="{FF2B5EF4-FFF2-40B4-BE49-F238E27FC236}">
                    <a16:creationId xmlns:a16="http://schemas.microsoft.com/office/drawing/2014/main" id="{E90104B9-EB0A-6BF7-8DA0-69BE6F5CEC5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8" name="Freeform 7">
                <a:extLst>
                  <a:ext uri="{FF2B5EF4-FFF2-40B4-BE49-F238E27FC236}">
                    <a16:creationId xmlns:a16="http://schemas.microsoft.com/office/drawing/2014/main" id="{14FF2423-AC5E-7429-E3BB-D400CC6C4F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9" name="Freeform 8">
                <a:extLst>
                  <a:ext uri="{FF2B5EF4-FFF2-40B4-BE49-F238E27FC236}">
                    <a16:creationId xmlns:a16="http://schemas.microsoft.com/office/drawing/2014/main" id="{278A855B-3ED8-07E8-9617-3CABB469213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630E10BD-35C4-2EB3-CD9E-CB79BB947F2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4D6F1BE7-A87D-4DD0-910A-5119820395C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A59043ED-8660-66C4-91BC-AF45873D847E}"/>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C479B44E-348E-907C-601F-D41A24CC5E58}"/>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32" name="Freeform: Shape 14">
            <a:extLst>
              <a:ext uri="{FF2B5EF4-FFF2-40B4-BE49-F238E27FC236}">
                <a16:creationId xmlns:a16="http://schemas.microsoft.com/office/drawing/2014/main" id="{CD863588-1EDA-72EC-6D61-3E8A0E7CB273}"/>
              </a:ext>
            </a:extLst>
          </p:cNvPr>
          <p:cNvSpPr/>
          <p:nvPr userDrawn="1"/>
        </p:nvSpPr>
        <p:spPr>
          <a:xfrm>
            <a:off x="0" y="0"/>
            <a:ext cx="12188827" cy="6858000"/>
          </a:xfrm>
          <a:custGeom>
            <a:avLst/>
            <a:gdLst>
              <a:gd name="connsiteX0" fmla="*/ 8298300 w 12219884"/>
              <a:gd name="connsiteY0" fmla="*/ 0 h 6858000"/>
              <a:gd name="connsiteX1" fmla="*/ 12219884 w 12219884"/>
              <a:gd name="connsiteY1" fmla="*/ 0 h 6858000"/>
              <a:gd name="connsiteX2" fmla="*/ 12219884 w 12219884"/>
              <a:gd name="connsiteY2" fmla="*/ 6858000 h 6858000"/>
              <a:gd name="connsiteX3" fmla="*/ 0 w 12219884"/>
              <a:gd name="connsiteY3" fmla="*/ 6858000 h 6858000"/>
              <a:gd name="connsiteX4" fmla="*/ 0 w 12219884"/>
              <a:gd name="connsiteY4" fmla="*/ 5087251 h 6858000"/>
              <a:gd name="connsiteX5" fmla="*/ 2577461 w 12219884"/>
              <a:gd name="connsiteY5" fmla="*/ 5085576 h 6858000"/>
              <a:gd name="connsiteX6" fmla="*/ 3686387 w 12219884"/>
              <a:gd name="connsiteY6" fmla="*/ 46262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9884" h="6858000">
                <a:moveTo>
                  <a:pt x="8298300" y="0"/>
                </a:moveTo>
                <a:lnTo>
                  <a:pt x="12219884" y="0"/>
                </a:lnTo>
                <a:lnTo>
                  <a:pt x="12219884" y="6858000"/>
                </a:lnTo>
                <a:lnTo>
                  <a:pt x="0" y="6858000"/>
                </a:lnTo>
                <a:lnTo>
                  <a:pt x="0" y="5087251"/>
                </a:lnTo>
                <a:lnTo>
                  <a:pt x="2577461" y="5085576"/>
                </a:lnTo>
                <a:cubicBezTo>
                  <a:pt x="2993418" y="5085576"/>
                  <a:pt x="3392312" y="4920346"/>
                  <a:pt x="3686387" y="4626273"/>
                </a:cubicBezTo>
                <a:close/>
              </a:path>
            </a:pathLst>
          </a:custGeom>
          <a:solidFill>
            <a:schemeClr val="bg1"/>
          </a:solidFill>
          <a:ln w="0" cap="flat">
            <a:noFill/>
            <a:prstDash val="solid"/>
            <a:miter/>
          </a:ln>
          <a:effectLst/>
        </p:spPr>
        <p:txBody>
          <a:bodyPr rtlCol="0" anchor="ctr"/>
          <a:lstStyle/>
          <a:p>
            <a:endParaRPr lang="en-US" dirty="0"/>
          </a:p>
        </p:txBody>
      </p:sp>
      <p:sp>
        <p:nvSpPr>
          <p:cNvPr id="33" name="Freeform: Shape 29">
            <a:extLst>
              <a:ext uri="{FF2B5EF4-FFF2-40B4-BE49-F238E27FC236}">
                <a16:creationId xmlns:a16="http://schemas.microsoft.com/office/drawing/2014/main" id="{FFB6A110-E961-EB34-6F92-35210D5B70F6}"/>
              </a:ext>
            </a:extLst>
          </p:cNvPr>
          <p:cNvSpPr/>
          <p:nvPr userDrawn="1"/>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2"/>
              </a:gs>
            </a:gsLst>
            <a:lin ang="0" scaled="1"/>
          </a:gradFill>
          <a:ln w="0" cap="flat">
            <a:noFill/>
            <a:prstDash val="solid"/>
            <a:miter/>
          </a:ln>
        </p:spPr>
        <p:txBody>
          <a:bodyPr rtlCol="0" anchor="ctr"/>
          <a:lstStyle/>
          <a:p>
            <a:endParaRPr lang="en-US" dirty="0"/>
          </a:p>
        </p:txBody>
      </p:sp>
      <p:sp>
        <p:nvSpPr>
          <p:cNvPr id="34" name="TextBox 33">
            <a:extLst>
              <a:ext uri="{FF2B5EF4-FFF2-40B4-BE49-F238E27FC236}">
                <a16:creationId xmlns:a16="http://schemas.microsoft.com/office/drawing/2014/main" id="{1BD12A38-34FF-DD48-95F6-31F5ED4772C8}"/>
              </a:ext>
            </a:extLst>
          </p:cNvPr>
          <p:cNvSpPr txBox="1"/>
          <p:nvPr userDrawn="1"/>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37" name="Graphic 8">
            <a:extLst>
              <a:ext uri="{FF2B5EF4-FFF2-40B4-BE49-F238E27FC236}">
                <a16:creationId xmlns:a16="http://schemas.microsoft.com/office/drawing/2014/main" id="{51193D83-E1DC-D884-497D-C36876692E8C}"/>
              </a:ext>
            </a:extLst>
          </p:cNvPr>
          <p:cNvGrpSpPr/>
          <p:nvPr userDrawn="1"/>
        </p:nvGrpSpPr>
        <p:grpSpPr>
          <a:xfrm>
            <a:off x="265625" y="6323271"/>
            <a:ext cx="1249223" cy="369648"/>
            <a:chOff x="265625" y="6323271"/>
            <a:chExt cx="1249223" cy="369648"/>
          </a:xfrm>
          <a:solidFill>
            <a:srgbClr val="000000"/>
          </a:solidFill>
        </p:grpSpPr>
        <p:grpSp>
          <p:nvGrpSpPr>
            <p:cNvPr id="38" name="Graphic 8">
              <a:extLst>
                <a:ext uri="{FF2B5EF4-FFF2-40B4-BE49-F238E27FC236}">
                  <a16:creationId xmlns:a16="http://schemas.microsoft.com/office/drawing/2014/main" id="{6288BEE3-23F3-B6B1-B482-0F9A9F569EA0}"/>
                </a:ext>
              </a:extLst>
            </p:cNvPr>
            <p:cNvGrpSpPr/>
            <p:nvPr/>
          </p:nvGrpSpPr>
          <p:grpSpPr>
            <a:xfrm>
              <a:off x="745455" y="6594444"/>
              <a:ext cx="722662" cy="98475"/>
              <a:chOff x="745455" y="6594444"/>
              <a:chExt cx="722662" cy="98475"/>
            </a:xfrm>
            <a:solidFill>
              <a:srgbClr val="000000"/>
            </a:solidFill>
          </p:grpSpPr>
          <p:sp>
            <p:nvSpPr>
              <p:cNvPr id="47" name="Freeform 46">
                <a:extLst>
                  <a:ext uri="{FF2B5EF4-FFF2-40B4-BE49-F238E27FC236}">
                    <a16:creationId xmlns:a16="http://schemas.microsoft.com/office/drawing/2014/main" id="{90DE5843-3B4A-E700-B0DB-5D9A3AD21F98}"/>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BDE397DD-E9E8-91B5-8C3B-45ED0D0B04B1}"/>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6E6BB379-A9C5-4D4D-9C59-B482A1CFFCF1}"/>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5BF377CA-F78E-1D05-7E30-F0B6B3DB3F06}"/>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8C25C045-0720-3CF6-0232-C3865968DD47}"/>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492D9964-F2E9-F1D3-0D41-4D1006001336}"/>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B018C7F5-E13A-499D-ABFD-F4667F22C046}"/>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0E76BD13-FD6A-3266-F187-4A6360DA733F}"/>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254CDF54-5CC7-42D5-FF3B-EA1A9615C9EB}"/>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CA008CD7-A5BA-D93B-24CF-53A3613EEB94}"/>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9" name="Graphic 8">
              <a:extLst>
                <a:ext uri="{FF2B5EF4-FFF2-40B4-BE49-F238E27FC236}">
                  <a16:creationId xmlns:a16="http://schemas.microsoft.com/office/drawing/2014/main" id="{0E16E021-24D5-689F-4C32-B7C3B76D27F1}"/>
                </a:ext>
              </a:extLst>
            </p:cNvPr>
            <p:cNvGrpSpPr/>
            <p:nvPr/>
          </p:nvGrpSpPr>
          <p:grpSpPr>
            <a:xfrm>
              <a:off x="265625" y="6323271"/>
              <a:ext cx="1249223" cy="190348"/>
              <a:chOff x="265625" y="6323271"/>
              <a:chExt cx="1249223" cy="190348"/>
            </a:xfrm>
            <a:solidFill>
              <a:srgbClr val="000000"/>
            </a:solidFill>
          </p:grpSpPr>
          <p:sp>
            <p:nvSpPr>
              <p:cNvPr id="40" name="Freeform 39">
                <a:extLst>
                  <a:ext uri="{FF2B5EF4-FFF2-40B4-BE49-F238E27FC236}">
                    <a16:creationId xmlns:a16="http://schemas.microsoft.com/office/drawing/2014/main" id="{E90104B9-EB0A-6BF7-8DA0-69BE6F5CEC54}"/>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14FF2423-AC5E-7429-E3BB-D400CC6C4F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278A855B-3ED8-07E8-9617-3CABB4692131}"/>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630E10BD-35C4-2EB3-CD9E-CB79BB947F28}"/>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4D6F1BE7-A87D-4DD0-910A-5119820395C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A59043ED-8660-66C4-91BC-AF45873D847E}"/>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C479B44E-348E-907C-601F-D41A24CC5E58}"/>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10" name="TextBox 9">
            <a:extLst>
              <a:ext uri="{FF2B5EF4-FFF2-40B4-BE49-F238E27FC236}">
                <a16:creationId xmlns:a16="http://schemas.microsoft.com/office/drawing/2014/main" id="{39FCD237-E611-CAC8-3736-F49AF3DA231A}"/>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8537876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p:cSld name="Thank You / Closing - Plum">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AED7BA03-D917-7BF7-506D-6901DD40B1DF}"/>
              </a:ext>
            </a:extLst>
          </p:cNvPr>
          <p:cNvSpPr/>
          <p:nvPr/>
        </p:nvSpPr>
        <p:spPr>
          <a:xfrm>
            <a:off x="0" y="0"/>
            <a:ext cx="6635783" cy="4452826"/>
          </a:xfrm>
          <a:custGeom>
            <a:avLst/>
            <a:gdLst>
              <a:gd name="connsiteX0" fmla="*/ 0 w 6635783"/>
              <a:gd name="connsiteY0" fmla="*/ 0 h 4452826"/>
              <a:gd name="connsiteX1" fmla="*/ 6635783 w 6635783"/>
              <a:gd name="connsiteY1" fmla="*/ 0 h 4452826"/>
              <a:gd name="connsiteX2" fmla="*/ 2550426 w 6635783"/>
              <a:gd name="connsiteY2" fmla="*/ 4085358 h 4452826"/>
              <a:gd name="connsiteX3" fmla="*/ 1663310 w 6635783"/>
              <a:gd name="connsiteY3" fmla="*/ 4452826 h 4452826"/>
              <a:gd name="connsiteX4" fmla="*/ 0 w 6635783"/>
              <a:gd name="connsiteY4" fmla="*/ 4452826 h 44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783" h="4452826">
                <a:moveTo>
                  <a:pt x="0" y="0"/>
                </a:moveTo>
                <a:lnTo>
                  <a:pt x="6635783" y="0"/>
                </a:lnTo>
                <a:lnTo>
                  <a:pt x="2550426" y="4085358"/>
                </a:lnTo>
                <a:cubicBezTo>
                  <a:pt x="2315128" y="4320656"/>
                  <a:pt x="1996025" y="4452826"/>
                  <a:pt x="1663310" y="4452826"/>
                </a:cubicBezTo>
                <a:lnTo>
                  <a:pt x="0" y="4452826"/>
                </a:lnTo>
                <a:close/>
              </a:path>
            </a:pathLst>
          </a:custGeom>
          <a:gradFill>
            <a:gsLst>
              <a:gs pos="12000">
                <a:schemeClr val="accent5"/>
              </a:gs>
              <a:gs pos="85000">
                <a:srgbClr val="0095C4"/>
              </a:gs>
            </a:gsLst>
            <a:lin ang="18899976" scaled="1"/>
          </a:gradFill>
          <a:ln w="0" cap="flat">
            <a:noFill/>
            <a:prstDash val="solid"/>
            <a:miter/>
          </a:ln>
        </p:spPr>
        <p:txBody>
          <a:bodyPr rtlCol="0" anchor="ctr"/>
          <a:lstStyle/>
          <a:p>
            <a:endParaRPr lang="en-US" dirty="0"/>
          </a:p>
        </p:txBody>
      </p:sp>
      <p:sp>
        <p:nvSpPr>
          <p:cNvPr id="10" name="TextBox 9">
            <a:extLst>
              <a:ext uri="{FF2B5EF4-FFF2-40B4-BE49-F238E27FC236}">
                <a16:creationId xmlns:a16="http://schemas.microsoft.com/office/drawing/2014/main" id="{53EB9DBD-7EC8-8749-8D2B-52C66972D46E}"/>
              </a:ext>
            </a:extLst>
          </p:cNvPr>
          <p:cNvSpPr txBox="1"/>
          <p:nvPr/>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sp>
        <p:nvSpPr>
          <p:cNvPr id="2" name="TextBox 1">
            <a:extLst>
              <a:ext uri="{FF2B5EF4-FFF2-40B4-BE49-F238E27FC236}">
                <a16:creationId xmlns:a16="http://schemas.microsoft.com/office/drawing/2014/main" id="{9DB548BE-0CE3-CE23-414D-C93C2FDD312A}"/>
              </a:ext>
            </a:extLst>
          </p:cNvPr>
          <p:cNvSpPr txBox="1"/>
          <p:nvPr/>
        </p:nvSpPr>
        <p:spPr>
          <a:xfrm>
            <a:off x="1645084" y="6461498"/>
            <a:ext cx="3052118"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Broadcom Proprietary and Confidential. Copyright © 2024 Broadcom.  </a:t>
            </a:r>
          </a:p>
        </p:txBody>
      </p:sp>
      <p:sp>
        <p:nvSpPr>
          <p:cNvPr id="3" name="TextBox 2">
            <a:extLst>
              <a:ext uri="{FF2B5EF4-FFF2-40B4-BE49-F238E27FC236}">
                <a16:creationId xmlns:a16="http://schemas.microsoft.com/office/drawing/2014/main" id="{BD199895-20CD-709C-3907-26845A30404E}"/>
              </a:ext>
            </a:extLst>
          </p:cNvPr>
          <p:cNvSpPr txBox="1"/>
          <p:nvPr/>
        </p:nvSpPr>
        <p:spPr>
          <a:xfrm>
            <a:off x="1645084" y="6569434"/>
            <a:ext cx="3855223"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Metropolis-Regular"/>
                <a:sym typeface="Metropolis-Regular"/>
                <a:rtl val="0"/>
              </a:rPr>
              <a:t>All Rights Reserved. The term “Broadcom” refers to Broadcom Inc. and/or its subsidiaries.</a:t>
            </a:r>
          </a:p>
        </p:txBody>
      </p:sp>
      <p:grpSp>
        <p:nvGrpSpPr>
          <p:cNvPr id="4" name="Graphic 8">
            <a:extLst>
              <a:ext uri="{FF2B5EF4-FFF2-40B4-BE49-F238E27FC236}">
                <a16:creationId xmlns:a16="http://schemas.microsoft.com/office/drawing/2014/main" id="{8112DCCF-A410-8E64-BF5C-1AED8279B1FF}"/>
              </a:ext>
            </a:extLst>
          </p:cNvPr>
          <p:cNvGrpSpPr/>
          <p:nvPr/>
        </p:nvGrpSpPr>
        <p:grpSpPr>
          <a:xfrm>
            <a:off x="265625" y="6323271"/>
            <a:ext cx="1249223" cy="369648"/>
            <a:chOff x="265625" y="6323271"/>
            <a:chExt cx="1249223" cy="369648"/>
          </a:xfrm>
          <a:solidFill>
            <a:srgbClr val="000000"/>
          </a:solidFill>
        </p:grpSpPr>
        <p:grpSp>
          <p:nvGrpSpPr>
            <p:cNvPr id="5" name="Graphic 8">
              <a:extLst>
                <a:ext uri="{FF2B5EF4-FFF2-40B4-BE49-F238E27FC236}">
                  <a16:creationId xmlns:a16="http://schemas.microsoft.com/office/drawing/2014/main" id="{A780A5E4-1B39-5A5D-52AB-EFC20E62EA25}"/>
                </a:ext>
              </a:extLst>
            </p:cNvPr>
            <p:cNvGrpSpPr/>
            <p:nvPr/>
          </p:nvGrpSpPr>
          <p:grpSpPr>
            <a:xfrm>
              <a:off x="745455" y="6594444"/>
              <a:ext cx="722662" cy="98475"/>
              <a:chOff x="745455" y="6594444"/>
              <a:chExt cx="722662" cy="98475"/>
            </a:xfrm>
            <a:solidFill>
              <a:srgbClr val="000000"/>
            </a:solidFill>
          </p:grpSpPr>
          <p:sp>
            <p:nvSpPr>
              <p:cNvPr id="20" name="Freeform 19">
                <a:extLst>
                  <a:ext uri="{FF2B5EF4-FFF2-40B4-BE49-F238E27FC236}">
                    <a16:creationId xmlns:a16="http://schemas.microsoft.com/office/drawing/2014/main" id="{E0903C10-9C43-4029-1989-8796170B6B2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9527ED7E-456D-AB30-D2D0-4C61F6B8397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22" name="Freeform 21">
                <a:extLst>
                  <a:ext uri="{FF2B5EF4-FFF2-40B4-BE49-F238E27FC236}">
                    <a16:creationId xmlns:a16="http://schemas.microsoft.com/office/drawing/2014/main" id="{0499A972-1ADB-ED5A-C815-DB3F2191D94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23" name="Freeform 22">
                <a:extLst>
                  <a:ext uri="{FF2B5EF4-FFF2-40B4-BE49-F238E27FC236}">
                    <a16:creationId xmlns:a16="http://schemas.microsoft.com/office/drawing/2014/main" id="{D803CC09-D71F-9E10-DA97-C55AD0BCE24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24" name="Freeform 23">
                <a:extLst>
                  <a:ext uri="{FF2B5EF4-FFF2-40B4-BE49-F238E27FC236}">
                    <a16:creationId xmlns:a16="http://schemas.microsoft.com/office/drawing/2014/main" id="{13B2A944-7BD4-DD11-180F-B80BF28EB67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5" name="Freeform 24">
                <a:extLst>
                  <a:ext uri="{FF2B5EF4-FFF2-40B4-BE49-F238E27FC236}">
                    <a16:creationId xmlns:a16="http://schemas.microsoft.com/office/drawing/2014/main" id="{CC8B82B9-ED10-F9AC-D3B8-E0275C3CBDE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26" name="Freeform 25">
                <a:extLst>
                  <a:ext uri="{FF2B5EF4-FFF2-40B4-BE49-F238E27FC236}">
                    <a16:creationId xmlns:a16="http://schemas.microsoft.com/office/drawing/2014/main" id="{4627E22E-2D4D-FEA9-006A-7DD242E2518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4169526B-DAA6-4992-5CF6-225DE8545F4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28" name="Freeform 27">
                <a:extLst>
                  <a:ext uri="{FF2B5EF4-FFF2-40B4-BE49-F238E27FC236}">
                    <a16:creationId xmlns:a16="http://schemas.microsoft.com/office/drawing/2014/main" id="{4555D210-195A-A18A-E0CE-77874E51EB4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29" name="Freeform 28">
                <a:extLst>
                  <a:ext uri="{FF2B5EF4-FFF2-40B4-BE49-F238E27FC236}">
                    <a16:creationId xmlns:a16="http://schemas.microsoft.com/office/drawing/2014/main" id="{83DDD2B8-EB7C-AACE-B23F-6FA8B1A57F1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 name="Graphic 8">
              <a:extLst>
                <a:ext uri="{FF2B5EF4-FFF2-40B4-BE49-F238E27FC236}">
                  <a16:creationId xmlns:a16="http://schemas.microsoft.com/office/drawing/2014/main" id="{33CF0C83-9B67-4AA2-133D-C3006C860F5E}"/>
                </a:ext>
              </a:extLst>
            </p:cNvPr>
            <p:cNvGrpSpPr/>
            <p:nvPr/>
          </p:nvGrpSpPr>
          <p:grpSpPr>
            <a:xfrm>
              <a:off x="265625" y="6323271"/>
              <a:ext cx="1249223" cy="190348"/>
              <a:chOff x="265625" y="6323271"/>
              <a:chExt cx="1249223" cy="190348"/>
            </a:xfrm>
            <a:solidFill>
              <a:srgbClr val="000000"/>
            </a:solidFill>
          </p:grpSpPr>
          <p:sp>
            <p:nvSpPr>
              <p:cNvPr id="11" name="Freeform 10">
                <a:extLst>
                  <a:ext uri="{FF2B5EF4-FFF2-40B4-BE49-F238E27FC236}">
                    <a16:creationId xmlns:a16="http://schemas.microsoft.com/office/drawing/2014/main" id="{0811D246-0428-1254-CBB5-CB40B6BB855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12" name="Freeform 11">
                <a:extLst>
                  <a:ext uri="{FF2B5EF4-FFF2-40B4-BE49-F238E27FC236}">
                    <a16:creationId xmlns:a16="http://schemas.microsoft.com/office/drawing/2014/main" id="{B0FE8401-7316-2698-D80B-7C0E88A325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15" name="Freeform 14">
                <a:extLst>
                  <a:ext uri="{FF2B5EF4-FFF2-40B4-BE49-F238E27FC236}">
                    <a16:creationId xmlns:a16="http://schemas.microsoft.com/office/drawing/2014/main" id="{2241BCF0-F50B-2C01-4E3D-8987EE3AEBC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16" name="Freeform 15">
                <a:extLst>
                  <a:ext uri="{FF2B5EF4-FFF2-40B4-BE49-F238E27FC236}">
                    <a16:creationId xmlns:a16="http://schemas.microsoft.com/office/drawing/2014/main" id="{E45D38ED-BA90-5035-9D1B-207CDE6D1DD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495663DE-6FC0-F26D-5DE1-C203DA0E3D8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18" name="Freeform 17">
                <a:extLst>
                  <a:ext uri="{FF2B5EF4-FFF2-40B4-BE49-F238E27FC236}">
                    <a16:creationId xmlns:a16="http://schemas.microsoft.com/office/drawing/2014/main" id="{EEE0604B-AD28-DEF4-B2C5-6D7AB5FD3A55}"/>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19" name="Freeform 18">
                <a:extLst>
                  <a:ext uri="{FF2B5EF4-FFF2-40B4-BE49-F238E27FC236}">
                    <a16:creationId xmlns:a16="http://schemas.microsoft.com/office/drawing/2014/main" id="{676B44DF-1000-68A6-6AF7-E8182D7C4F2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13" name="Freeform: Shape 12">
            <a:extLst>
              <a:ext uri="{FF2B5EF4-FFF2-40B4-BE49-F238E27FC236}">
                <a16:creationId xmlns:a16="http://schemas.microsoft.com/office/drawing/2014/main" id="{C039270F-3B2C-5A52-9E64-757A7B136566}"/>
              </a:ext>
            </a:extLst>
          </p:cNvPr>
          <p:cNvSpPr/>
          <p:nvPr/>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5"/>
              </a:gs>
            </a:gsLst>
            <a:lin ang="0" scaled="1"/>
          </a:gradFill>
          <a:ln w="0" cap="flat">
            <a:noFill/>
            <a:prstDash val="solid"/>
            <a:miter/>
          </a:ln>
        </p:spPr>
        <p:txBody>
          <a:bodyPr rtlCol="0" anchor="ctr"/>
          <a:lstStyle/>
          <a:p>
            <a:endParaRPr lang="en-US" dirty="0"/>
          </a:p>
        </p:txBody>
      </p:sp>
      <p:sp>
        <p:nvSpPr>
          <p:cNvPr id="31" name="Freeform: Shape 7">
            <a:extLst>
              <a:ext uri="{FF2B5EF4-FFF2-40B4-BE49-F238E27FC236}">
                <a16:creationId xmlns:a16="http://schemas.microsoft.com/office/drawing/2014/main" id="{6317424D-DA75-A15F-0C19-096E89461340}"/>
              </a:ext>
            </a:extLst>
          </p:cNvPr>
          <p:cNvSpPr/>
          <p:nvPr userDrawn="1"/>
        </p:nvSpPr>
        <p:spPr>
          <a:xfrm>
            <a:off x="0" y="0"/>
            <a:ext cx="12188827" cy="6858000"/>
          </a:xfrm>
          <a:custGeom>
            <a:avLst/>
            <a:gdLst>
              <a:gd name="connsiteX0" fmla="*/ 8298300 w 12219884"/>
              <a:gd name="connsiteY0" fmla="*/ 0 h 6858000"/>
              <a:gd name="connsiteX1" fmla="*/ 12219884 w 12219884"/>
              <a:gd name="connsiteY1" fmla="*/ 0 h 6858000"/>
              <a:gd name="connsiteX2" fmla="*/ 12219884 w 12219884"/>
              <a:gd name="connsiteY2" fmla="*/ 6858000 h 6858000"/>
              <a:gd name="connsiteX3" fmla="*/ 0 w 12219884"/>
              <a:gd name="connsiteY3" fmla="*/ 6858000 h 6858000"/>
              <a:gd name="connsiteX4" fmla="*/ 0 w 12219884"/>
              <a:gd name="connsiteY4" fmla="*/ 5087251 h 6858000"/>
              <a:gd name="connsiteX5" fmla="*/ 2577461 w 12219884"/>
              <a:gd name="connsiteY5" fmla="*/ 5085576 h 6858000"/>
              <a:gd name="connsiteX6" fmla="*/ 3686387 w 12219884"/>
              <a:gd name="connsiteY6" fmla="*/ 46262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9884" h="6858000">
                <a:moveTo>
                  <a:pt x="8298300" y="0"/>
                </a:moveTo>
                <a:lnTo>
                  <a:pt x="12219884" y="0"/>
                </a:lnTo>
                <a:lnTo>
                  <a:pt x="12219884" y="6858000"/>
                </a:lnTo>
                <a:lnTo>
                  <a:pt x="0" y="6858000"/>
                </a:lnTo>
                <a:lnTo>
                  <a:pt x="0" y="5087251"/>
                </a:lnTo>
                <a:lnTo>
                  <a:pt x="2577461" y="5085576"/>
                </a:lnTo>
                <a:cubicBezTo>
                  <a:pt x="2993418" y="5085576"/>
                  <a:pt x="3392312" y="4920346"/>
                  <a:pt x="3686387" y="4626273"/>
                </a:cubicBezTo>
                <a:close/>
              </a:path>
            </a:pathLst>
          </a:custGeom>
          <a:solidFill>
            <a:schemeClr val="bg1"/>
          </a:solidFill>
          <a:ln w="0" cap="flat">
            <a:noFill/>
            <a:prstDash val="solid"/>
            <a:miter/>
          </a:ln>
          <a:effectLst/>
        </p:spPr>
        <p:txBody>
          <a:bodyPr rtlCol="0" anchor="ctr"/>
          <a:lstStyle/>
          <a:p>
            <a:endParaRPr lang="en-US" dirty="0"/>
          </a:p>
        </p:txBody>
      </p:sp>
      <p:sp>
        <p:nvSpPr>
          <p:cNvPr id="32" name="TextBox 31">
            <a:extLst>
              <a:ext uri="{FF2B5EF4-FFF2-40B4-BE49-F238E27FC236}">
                <a16:creationId xmlns:a16="http://schemas.microsoft.com/office/drawing/2014/main" id="{53EB9DBD-7EC8-8749-8D2B-52C66972D46E}"/>
              </a:ext>
            </a:extLst>
          </p:cNvPr>
          <p:cNvSpPr txBox="1"/>
          <p:nvPr userDrawn="1"/>
        </p:nvSpPr>
        <p:spPr>
          <a:xfrm>
            <a:off x="7122912" y="4133697"/>
            <a:ext cx="3585557" cy="692497"/>
          </a:xfrm>
          <a:prstGeom prst="rect">
            <a:avLst/>
          </a:prstGeom>
        </p:spPr>
        <p:txBody>
          <a:bodyPr wrap="square" lIns="0" tIns="0" rIns="0" bIns="0" rtlCol="0">
            <a:spAutoFit/>
          </a:bodyPr>
          <a:lstStyle/>
          <a:p>
            <a:pPr algn="r" defTabSz="914400" rtl="0" eaLnBrk="1" latinLnBrk="0" hangingPunct="1">
              <a:lnSpc>
                <a:spcPct val="90000"/>
              </a:lnSpc>
              <a:spcBef>
                <a:spcPct val="0"/>
              </a:spcBef>
              <a:spcAft>
                <a:spcPts val="600"/>
              </a:spcAft>
              <a:buNone/>
            </a:pPr>
            <a:r>
              <a:rPr lang="en-US" sz="5000" b="0" kern="1200" cap="none" baseline="0" dirty="0">
                <a:solidFill>
                  <a:schemeClr val="accent2"/>
                </a:solidFill>
                <a:latin typeface="+mj-lt"/>
                <a:ea typeface="+mj-ea"/>
                <a:cs typeface="+mj-cs"/>
              </a:rPr>
              <a:t>Thank You</a:t>
            </a:r>
          </a:p>
        </p:txBody>
      </p:sp>
      <p:grpSp>
        <p:nvGrpSpPr>
          <p:cNvPr id="35" name="Graphic 8">
            <a:extLst>
              <a:ext uri="{FF2B5EF4-FFF2-40B4-BE49-F238E27FC236}">
                <a16:creationId xmlns:a16="http://schemas.microsoft.com/office/drawing/2014/main" id="{8112DCCF-A410-8E64-BF5C-1AED8279B1FF}"/>
              </a:ext>
            </a:extLst>
          </p:cNvPr>
          <p:cNvGrpSpPr/>
          <p:nvPr userDrawn="1"/>
        </p:nvGrpSpPr>
        <p:grpSpPr>
          <a:xfrm>
            <a:off x="265625" y="6323271"/>
            <a:ext cx="1249223" cy="369648"/>
            <a:chOff x="265625" y="6323271"/>
            <a:chExt cx="1249223" cy="369648"/>
          </a:xfrm>
          <a:solidFill>
            <a:srgbClr val="000000"/>
          </a:solidFill>
        </p:grpSpPr>
        <p:grpSp>
          <p:nvGrpSpPr>
            <p:cNvPr id="36" name="Graphic 8">
              <a:extLst>
                <a:ext uri="{FF2B5EF4-FFF2-40B4-BE49-F238E27FC236}">
                  <a16:creationId xmlns:a16="http://schemas.microsoft.com/office/drawing/2014/main" id="{A780A5E4-1B39-5A5D-52AB-EFC20E62EA25}"/>
                </a:ext>
              </a:extLst>
            </p:cNvPr>
            <p:cNvGrpSpPr/>
            <p:nvPr/>
          </p:nvGrpSpPr>
          <p:grpSpPr>
            <a:xfrm>
              <a:off x="745455" y="6594444"/>
              <a:ext cx="722662" cy="98475"/>
              <a:chOff x="745455" y="6594444"/>
              <a:chExt cx="722662" cy="98475"/>
            </a:xfrm>
            <a:solidFill>
              <a:srgbClr val="000000"/>
            </a:solidFill>
          </p:grpSpPr>
          <p:sp>
            <p:nvSpPr>
              <p:cNvPr id="45" name="Freeform 44">
                <a:extLst>
                  <a:ext uri="{FF2B5EF4-FFF2-40B4-BE49-F238E27FC236}">
                    <a16:creationId xmlns:a16="http://schemas.microsoft.com/office/drawing/2014/main" id="{E0903C10-9C43-4029-1989-8796170B6B2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46" name="Freeform 45">
                <a:extLst>
                  <a:ext uri="{FF2B5EF4-FFF2-40B4-BE49-F238E27FC236}">
                    <a16:creationId xmlns:a16="http://schemas.microsoft.com/office/drawing/2014/main" id="{9527ED7E-456D-AB30-D2D0-4C61F6B8397F}"/>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47" name="Freeform 46">
                <a:extLst>
                  <a:ext uri="{FF2B5EF4-FFF2-40B4-BE49-F238E27FC236}">
                    <a16:creationId xmlns:a16="http://schemas.microsoft.com/office/drawing/2014/main" id="{0499A972-1ADB-ED5A-C815-DB3F2191D945}"/>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48" name="Freeform 47">
                <a:extLst>
                  <a:ext uri="{FF2B5EF4-FFF2-40B4-BE49-F238E27FC236}">
                    <a16:creationId xmlns:a16="http://schemas.microsoft.com/office/drawing/2014/main" id="{D803CC09-D71F-9E10-DA97-C55AD0BCE241}"/>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13B2A944-7BD4-DD11-180F-B80BF28EB678}"/>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0" name="Freeform 49">
                <a:extLst>
                  <a:ext uri="{FF2B5EF4-FFF2-40B4-BE49-F238E27FC236}">
                    <a16:creationId xmlns:a16="http://schemas.microsoft.com/office/drawing/2014/main" id="{CC8B82B9-ED10-F9AC-D3B8-E0275C3CBDE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4627E22E-2D4D-FEA9-006A-7DD242E2518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4169526B-DAA6-4992-5CF6-225DE8545F4E}"/>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4555D210-195A-A18A-E0CE-77874E51EB4A}"/>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83DDD2B8-EB7C-AACE-B23F-6FA8B1A57F12}"/>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37" name="Graphic 8">
              <a:extLst>
                <a:ext uri="{FF2B5EF4-FFF2-40B4-BE49-F238E27FC236}">
                  <a16:creationId xmlns:a16="http://schemas.microsoft.com/office/drawing/2014/main" id="{33CF0C83-9B67-4AA2-133D-C3006C860F5E}"/>
                </a:ext>
              </a:extLst>
            </p:cNvPr>
            <p:cNvGrpSpPr/>
            <p:nvPr/>
          </p:nvGrpSpPr>
          <p:grpSpPr>
            <a:xfrm>
              <a:off x="265625" y="6323271"/>
              <a:ext cx="1249223" cy="190348"/>
              <a:chOff x="265625" y="6323271"/>
              <a:chExt cx="1249223" cy="190348"/>
            </a:xfrm>
            <a:solidFill>
              <a:srgbClr val="000000"/>
            </a:solidFill>
          </p:grpSpPr>
          <p:sp>
            <p:nvSpPr>
              <p:cNvPr id="38" name="Freeform 37">
                <a:extLst>
                  <a:ext uri="{FF2B5EF4-FFF2-40B4-BE49-F238E27FC236}">
                    <a16:creationId xmlns:a16="http://schemas.microsoft.com/office/drawing/2014/main" id="{0811D246-0428-1254-CBB5-CB40B6BB8558}"/>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39" name="Freeform 38">
                <a:extLst>
                  <a:ext uri="{FF2B5EF4-FFF2-40B4-BE49-F238E27FC236}">
                    <a16:creationId xmlns:a16="http://schemas.microsoft.com/office/drawing/2014/main" id="{B0FE8401-7316-2698-D80B-7C0E88A32559}"/>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40" name="Freeform 39">
                <a:extLst>
                  <a:ext uri="{FF2B5EF4-FFF2-40B4-BE49-F238E27FC236}">
                    <a16:creationId xmlns:a16="http://schemas.microsoft.com/office/drawing/2014/main" id="{2241BCF0-F50B-2C01-4E3D-8987EE3AEBC6}"/>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41" name="Freeform 40">
                <a:extLst>
                  <a:ext uri="{FF2B5EF4-FFF2-40B4-BE49-F238E27FC236}">
                    <a16:creationId xmlns:a16="http://schemas.microsoft.com/office/drawing/2014/main" id="{E45D38ED-BA90-5035-9D1B-207CDE6D1DDE}"/>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42" name="Freeform 41">
                <a:extLst>
                  <a:ext uri="{FF2B5EF4-FFF2-40B4-BE49-F238E27FC236}">
                    <a16:creationId xmlns:a16="http://schemas.microsoft.com/office/drawing/2014/main" id="{495663DE-6FC0-F26D-5DE1-C203DA0E3D8E}"/>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43" name="Freeform 42">
                <a:extLst>
                  <a:ext uri="{FF2B5EF4-FFF2-40B4-BE49-F238E27FC236}">
                    <a16:creationId xmlns:a16="http://schemas.microsoft.com/office/drawing/2014/main" id="{EEE0604B-AD28-DEF4-B2C5-6D7AB5FD3A55}"/>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44" name="Freeform 43">
                <a:extLst>
                  <a:ext uri="{FF2B5EF4-FFF2-40B4-BE49-F238E27FC236}">
                    <a16:creationId xmlns:a16="http://schemas.microsoft.com/office/drawing/2014/main" id="{676B44DF-1000-68A6-6AF7-E8182D7C4F2D}"/>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55" name="Freeform: Shape 12">
            <a:extLst>
              <a:ext uri="{FF2B5EF4-FFF2-40B4-BE49-F238E27FC236}">
                <a16:creationId xmlns:a16="http://schemas.microsoft.com/office/drawing/2014/main" id="{C039270F-3B2C-5A52-9E64-757A7B136566}"/>
              </a:ext>
            </a:extLst>
          </p:cNvPr>
          <p:cNvSpPr/>
          <p:nvPr userDrawn="1"/>
        </p:nvSpPr>
        <p:spPr>
          <a:xfrm>
            <a:off x="0" y="0"/>
            <a:ext cx="8366346" cy="5149879"/>
          </a:xfrm>
          <a:custGeom>
            <a:avLst/>
            <a:gdLst>
              <a:gd name="connsiteX0" fmla="*/ 8300010 w 8406233"/>
              <a:gd name="connsiteY0" fmla="*/ 0 h 5164293"/>
              <a:gd name="connsiteX1" fmla="*/ 8406233 w 8406233"/>
              <a:gd name="connsiteY1" fmla="*/ 0 h 5164293"/>
              <a:gd name="connsiteX2" fmla="*/ 3739706 w 8406233"/>
              <a:gd name="connsiteY2" fmla="*/ 4681182 h 5164293"/>
              <a:gd name="connsiteX3" fmla="*/ 2577461 w 8406233"/>
              <a:gd name="connsiteY3" fmla="*/ 5162629 h 5164293"/>
              <a:gd name="connsiteX4" fmla="*/ 0 w 8406233"/>
              <a:gd name="connsiteY4" fmla="*/ 5164293 h 5164293"/>
              <a:gd name="connsiteX5" fmla="*/ 0 w 8406233"/>
              <a:gd name="connsiteY5" fmla="*/ 5088966 h 5164293"/>
              <a:gd name="connsiteX6" fmla="*/ 2577461 w 8406233"/>
              <a:gd name="connsiteY6" fmla="*/ 5087291 h 5164293"/>
              <a:gd name="connsiteX7" fmla="*/ 3686388 w 8406233"/>
              <a:gd name="connsiteY7" fmla="*/ 4627988 h 51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33" h="5164293">
                <a:moveTo>
                  <a:pt x="8300010" y="0"/>
                </a:moveTo>
                <a:lnTo>
                  <a:pt x="8406233" y="0"/>
                </a:lnTo>
                <a:lnTo>
                  <a:pt x="3739706" y="4681182"/>
                </a:lnTo>
                <a:cubicBezTo>
                  <a:pt x="3429197" y="4991691"/>
                  <a:pt x="3016440" y="5162629"/>
                  <a:pt x="2577461" y="5162629"/>
                </a:cubicBezTo>
                <a:lnTo>
                  <a:pt x="0" y="5164293"/>
                </a:lnTo>
                <a:lnTo>
                  <a:pt x="0" y="5088966"/>
                </a:lnTo>
                <a:lnTo>
                  <a:pt x="2577461" y="5087291"/>
                </a:lnTo>
                <a:cubicBezTo>
                  <a:pt x="2993418" y="5087291"/>
                  <a:pt x="3392312" y="4922061"/>
                  <a:pt x="3686388" y="4627988"/>
                </a:cubicBezTo>
                <a:close/>
              </a:path>
            </a:pathLst>
          </a:custGeom>
          <a:gradFill>
            <a:gsLst>
              <a:gs pos="31000">
                <a:srgbClr val="0095C4"/>
              </a:gs>
              <a:gs pos="94000">
                <a:schemeClr val="accent5"/>
              </a:gs>
            </a:gsLst>
            <a:lin ang="0" scaled="1"/>
          </a:gradFill>
          <a:ln w="0" cap="flat">
            <a:noFill/>
            <a:prstDash val="solid"/>
            <a:miter/>
          </a:ln>
        </p:spPr>
        <p:txBody>
          <a:bodyPr rtlCol="0" anchor="ctr"/>
          <a:lstStyle/>
          <a:p>
            <a:endParaRPr lang="en-US" dirty="0"/>
          </a:p>
        </p:txBody>
      </p:sp>
      <p:sp>
        <p:nvSpPr>
          <p:cNvPr id="9" name="TextBox 8">
            <a:extLst>
              <a:ext uri="{FF2B5EF4-FFF2-40B4-BE49-F238E27FC236}">
                <a16:creationId xmlns:a16="http://schemas.microsoft.com/office/drawing/2014/main" id="{6B6C42D0-DC6D-DA1A-9109-B30DDBCA1FD2}"/>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22134491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Subtitle">
  <p:cSld name="1_Title and Subtitle">
    <p:spTree>
      <p:nvGrpSpPr>
        <p:cNvPr id="1" name="Shape 116"/>
        <p:cNvGrpSpPr/>
        <p:nvPr/>
      </p:nvGrpSpPr>
      <p:grpSpPr>
        <a:xfrm>
          <a:off x="0" y="0"/>
          <a:ext cx="0" cy="0"/>
          <a:chOff x="0" y="0"/>
          <a:chExt cx="0" cy="0"/>
        </a:xfrm>
      </p:grpSpPr>
      <p:sp>
        <p:nvSpPr>
          <p:cNvPr id="117" name="Google Shape;117;p159"/>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8" name="Google Shape;118;p159"/>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2000">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2000"/>
            </a:lvl2pPr>
            <a:lvl3pPr lvl="2" algn="ctr">
              <a:lnSpc>
                <a:spcPct val="100000"/>
              </a:lnSpc>
              <a:spcBef>
                <a:spcPts val="1200"/>
              </a:spcBef>
              <a:spcAft>
                <a:spcPts val="0"/>
              </a:spcAft>
              <a:buSzPts val="1620"/>
              <a:buNone/>
              <a:defRPr sz="1800"/>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119" name="Google Shape;119;p159"/>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120" name="Google Shape;120;p159"/>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Tree>
    <p:extLst>
      <p:ext uri="{BB962C8B-B14F-4D97-AF65-F5344CB8AC3E}">
        <p14:creationId xmlns:p14="http://schemas.microsoft.com/office/powerpoint/2010/main" val="27933212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Section Header – Plum">
  <p:cSld name="1_Section Header – Plum">
    <p:spTree>
      <p:nvGrpSpPr>
        <p:cNvPr id="1" name="Shape 3101"/>
        <p:cNvGrpSpPr/>
        <p:nvPr/>
      </p:nvGrpSpPr>
      <p:grpSpPr>
        <a:xfrm>
          <a:off x="0" y="0"/>
          <a:ext cx="0" cy="0"/>
          <a:chOff x="0" y="0"/>
          <a:chExt cx="0" cy="0"/>
        </a:xfrm>
      </p:grpSpPr>
      <p:sp>
        <p:nvSpPr>
          <p:cNvPr id="3102" name="Google Shape;3102;p172"/>
          <p:cNvSpPr txBox="1">
            <a:spLocks noGrp="1"/>
          </p:cNvSpPr>
          <p:nvPr>
            <p:ph type="title"/>
          </p:nvPr>
        </p:nvSpPr>
        <p:spPr>
          <a:xfrm>
            <a:off x="589108" y="938794"/>
            <a:ext cx="6555971" cy="122936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3599"/>
              <a:buFont typeface="Arial"/>
              <a:buNone/>
              <a:defRPr sz="3599" b="0" cap="none">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103" name="Google Shape;3103;p172"/>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2159"/>
              <a:buNone/>
              <a:defRPr sz="2399">
                <a:solidFill>
                  <a:schemeClr val="dk1"/>
                </a:solidFill>
                <a:latin typeface="Arial"/>
                <a:ea typeface="Arial"/>
                <a:cs typeface="Arial"/>
                <a:sym typeface="Arial"/>
              </a:defRPr>
            </a:lvl1pPr>
            <a:lvl2pPr lvl="1" algn="ctr">
              <a:lnSpc>
                <a:spcPct val="100000"/>
              </a:lnSpc>
              <a:spcBef>
                <a:spcPts val="1200"/>
              </a:spcBef>
              <a:spcAft>
                <a:spcPts val="0"/>
              </a:spcAft>
              <a:buSzPts val="1799"/>
              <a:buNone/>
              <a:defRPr sz="1999"/>
            </a:lvl2pPr>
            <a:lvl3pPr lvl="2" algn="ctr">
              <a:lnSpc>
                <a:spcPct val="100000"/>
              </a:lnSpc>
              <a:spcBef>
                <a:spcPts val="1200"/>
              </a:spcBef>
              <a:spcAft>
                <a:spcPts val="0"/>
              </a:spcAft>
              <a:buSzPts val="1619"/>
              <a:buNone/>
              <a:defRPr sz="1799"/>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3104" name="Google Shape;3104;p172"/>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3105" name="Google Shape;3105;p172"/>
          <p:cNvSpPr/>
          <p:nvPr/>
        </p:nvSpPr>
        <p:spPr>
          <a:xfrm>
            <a:off x="6524631" y="635863"/>
            <a:ext cx="5663315" cy="5331994"/>
          </a:xfrm>
          <a:custGeom>
            <a:avLst/>
            <a:gdLst/>
            <a:ahLst/>
            <a:cxnLst/>
            <a:rect l="l" t="t" r="r" b="b"/>
            <a:pathLst>
              <a:path w="5663315" h="5331994" extrusionOk="0">
                <a:moveTo>
                  <a:pt x="5663315" y="0"/>
                </a:moveTo>
                <a:lnTo>
                  <a:pt x="5663315" y="2653504"/>
                </a:lnTo>
                <a:lnTo>
                  <a:pt x="3356810" y="4960016"/>
                </a:lnTo>
                <a:cubicBezTo>
                  <a:pt x="3118625" y="5198201"/>
                  <a:pt x="2795605" y="5331994"/>
                  <a:pt x="2458806" y="5331994"/>
                </a:cubicBezTo>
                <a:lnTo>
                  <a:pt x="127247" y="5331994"/>
                </a:lnTo>
                <a:cubicBezTo>
                  <a:pt x="14092" y="5331994"/>
                  <a:pt x="-42549" y="5195217"/>
                  <a:pt x="37459" y="5115208"/>
                </a:cubicBezTo>
                <a:lnTo>
                  <a:pt x="4781475" y="371179"/>
                </a:lnTo>
                <a:cubicBezTo>
                  <a:pt x="4989831" y="162766"/>
                  <a:pt x="5263188" y="34280"/>
                  <a:pt x="5553942" y="5414"/>
                </a:cubicBezTo>
                <a:close/>
              </a:path>
            </a:pathLst>
          </a:custGeom>
          <a:gradFill>
            <a:gsLst>
              <a:gs pos="0">
                <a:schemeClr val="accent5"/>
              </a:gs>
              <a:gs pos="21000">
                <a:schemeClr val="accent5"/>
              </a:gs>
              <a:gs pos="89000">
                <a:schemeClr val="accent3"/>
              </a:gs>
              <a:gs pos="100000">
                <a:schemeClr val="accent3"/>
              </a:gs>
            </a:gsLst>
            <a:lin ang="1890000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799">
              <a:solidFill>
                <a:schemeClr val="dk1"/>
              </a:solidFill>
              <a:latin typeface="Arial"/>
              <a:ea typeface="Arial"/>
              <a:cs typeface="Arial"/>
              <a:sym typeface="Arial"/>
            </a:endParaRPr>
          </a:p>
        </p:txBody>
      </p:sp>
      <p:sp>
        <p:nvSpPr>
          <p:cNvPr id="3106" name="Google Shape;3106;p172"/>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Tree>
    <p:extLst>
      <p:ext uri="{BB962C8B-B14F-4D97-AF65-F5344CB8AC3E}">
        <p14:creationId xmlns:p14="http://schemas.microsoft.com/office/powerpoint/2010/main" val="29311880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Diagram with Outcome, Benefit">
  <p:cSld name="1_Diagram with Outcome, Benefit">
    <p:spTree>
      <p:nvGrpSpPr>
        <p:cNvPr id="1" name="Shape 84"/>
        <p:cNvGrpSpPr/>
        <p:nvPr/>
      </p:nvGrpSpPr>
      <p:grpSpPr>
        <a:xfrm>
          <a:off x="0" y="0"/>
          <a:ext cx="0" cy="0"/>
          <a:chOff x="0" y="0"/>
          <a:chExt cx="0" cy="0"/>
        </a:xfrm>
      </p:grpSpPr>
      <p:sp>
        <p:nvSpPr>
          <p:cNvPr id="85" name="Google Shape;85;p10"/>
          <p:cNvSpPr txBox="1">
            <a:spLocks noGrp="1"/>
          </p:cNvSpPr>
          <p:nvPr>
            <p:ph type="title"/>
          </p:nvPr>
        </p:nvSpPr>
        <p:spPr>
          <a:xfrm>
            <a:off x="579809" y="412751"/>
            <a:ext cx="1100113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1"/>
              </a:buClr>
              <a:buSzPts val="2800"/>
              <a:buFont typeface="Arial"/>
              <a:buNone/>
              <a:defRPr>
                <a:solidFill>
                  <a:schemeClr val="accen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 name="Google Shape;86;p10"/>
          <p:cNvSpPr txBox="1">
            <a:spLocks noGrp="1"/>
          </p:cNvSpPr>
          <p:nvPr>
            <p:ph type="subTitle" idx="1"/>
          </p:nvPr>
        </p:nvSpPr>
        <p:spPr>
          <a:xfrm>
            <a:off x="592867" y="811831"/>
            <a:ext cx="10962744" cy="247800"/>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1998">
                <a:solidFill>
                  <a:schemeClr val="accent5"/>
                </a:solidFill>
                <a:latin typeface="Arial"/>
                <a:ea typeface="Arial"/>
                <a:cs typeface="Arial"/>
                <a:sym typeface="Arial"/>
              </a:defRPr>
            </a:lvl1pPr>
            <a:lvl2pPr lvl="1" algn="ctr">
              <a:lnSpc>
                <a:spcPct val="100000"/>
              </a:lnSpc>
              <a:spcBef>
                <a:spcPts val="1200"/>
              </a:spcBef>
              <a:spcAft>
                <a:spcPts val="0"/>
              </a:spcAft>
              <a:buSzPts val="1800"/>
              <a:buNone/>
              <a:defRPr sz="1998"/>
            </a:lvl2pPr>
            <a:lvl3pPr lvl="2" algn="ctr">
              <a:lnSpc>
                <a:spcPct val="100000"/>
              </a:lnSpc>
              <a:spcBef>
                <a:spcPts val="1200"/>
              </a:spcBef>
              <a:spcAft>
                <a:spcPts val="0"/>
              </a:spcAft>
              <a:buSzPts val="1620"/>
              <a:buNone/>
              <a:defRPr sz="1798"/>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0"/>
              </a:spcAft>
              <a:buSzPts val="1440"/>
              <a:buNone/>
              <a:defRPr sz="1600"/>
            </a:lvl9pPr>
          </a:lstStyle>
          <a:p>
            <a:endParaRPr/>
          </a:p>
        </p:txBody>
      </p:sp>
      <p:sp>
        <p:nvSpPr>
          <p:cNvPr id="87" name="Google Shape;87;p10"/>
          <p:cNvSpPr txBox="1">
            <a:spLocks noGrp="1"/>
          </p:cNvSpPr>
          <p:nvPr>
            <p:ph type="body" idx="2"/>
          </p:nvPr>
        </p:nvSpPr>
        <p:spPr>
          <a:xfrm>
            <a:off x="595424" y="1600201"/>
            <a:ext cx="7410770" cy="4572000"/>
          </a:xfrm>
          <a:prstGeom prst="rect">
            <a:avLst/>
          </a:prstGeom>
          <a:noFill/>
          <a:ln>
            <a:noFill/>
          </a:ln>
        </p:spPr>
        <p:txBody>
          <a:bodyPr spcFirstLastPara="1" wrap="square" lIns="594350" tIns="457200" rIns="457200" bIns="457200" anchor="t" anchorCtr="0">
            <a:noAutofit/>
          </a:bodyPr>
          <a:lstStyle>
            <a:lvl1pPr marL="456926" lvl="0" indent="-331272" algn="l">
              <a:lnSpc>
                <a:spcPct val="100000"/>
              </a:lnSpc>
              <a:spcBef>
                <a:spcPts val="1200"/>
              </a:spcBef>
              <a:spcAft>
                <a:spcPts val="0"/>
              </a:spcAft>
              <a:buSzPts val="1620"/>
              <a:buChar char="​"/>
              <a:defRPr sz="1798">
                <a:solidFill>
                  <a:srgbClr val="F4F8FA"/>
                </a:solidFill>
              </a:defRPr>
            </a:lvl1pPr>
            <a:lvl2pPr marL="913852" lvl="1" indent="-319848" algn="l">
              <a:lnSpc>
                <a:spcPct val="100000"/>
              </a:lnSpc>
              <a:spcBef>
                <a:spcPts val="1200"/>
              </a:spcBef>
              <a:spcAft>
                <a:spcPts val="0"/>
              </a:spcAft>
              <a:buClr>
                <a:schemeClr val="lt1"/>
              </a:buClr>
              <a:buSzPts val="1440"/>
              <a:buChar char="•"/>
              <a:defRPr sz="1600">
                <a:solidFill>
                  <a:schemeClr val="lt1"/>
                </a:solidFill>
              </a:defRPr>
            </a:lvl2pPr>
            <a:lvl3pPr marL="1370778" lvl="2" indent="-308424" algn="l">
              <a:lnSpc>
                <a:spcPct val="100000"/>
              </a:lnSpc>
              <a:spcBef>
                <a:spcPts val="1200"/>
              </a:spcBef>
              <a:spcAft>
                <a:spcPts val="0"/>
              </a:spcAft>
              <a:buClr>
                <a:schemeClr val="lt1"/>
              </a:buClr>
              <a:buSzPts val="1260"/>
              <a:buChar char="–"/>
              <a:defRPr sz="1400">
                <a:solidFill>
                  <a:schemeClr val="lt1"/>
                </a:solidFill>
              </a:defRPr>
            </a:lvl3pPr>
            <a:lvl4pPr marL="1827703" lvl="3" indent="-297002" algn="l">
              <a:lnSpc>
                <a:spcPct val="100000"/>
              </a:lnSpc>
              <a:spcBef>
                <a:spcPts val="1200"/>
              </a:spcBef>
              <a:spcAft>
                <a:spcPts val="0"/>
              </a:spcAft>
              <a:buClr>
                <a:schemeClr val="lt1"/>
              </a:buClr>
              <a:buSzPts val="1080"/>
              <a:buChar char="•"/>
              <a:defRPr sz="1200">
                <a:solidFill>
                  <a:schemeClr val="lt1"/>
                </a:solidFill>
              </a:defRPr>
            </a:lvl4pPr>
            <a:lvl5pPr marL="2284628" lvl="4" indent="-297001" algn="l">
              <a:lnSpc>
                <a:spcPct val="100000"/>
              </a:lnSpc>
              <a:spcBef>
                <a:spcPts val="1200"/>
              </a:spcBef>
              <a:spcAft>
                <a:spcPts val="0"/>
              </a:spcAft>
              <a:buClr>
                <a:schemeClr val="lt1"/>
              </a:buClr>
              <a:buSzPts val="1080"/>
              <a:buChar char="–"/>
              <a:defRPr sz="1200">
                <a:solidFill>
                  <a:schemeClr val="lt1"/>
                </a:solidFill>
              </a:defRPr>
            </a:lvl5pPr>
            <a:lvl6pPr marL="2741554" lvl="5" indent="-331272" algn="l">
              <a:lnSpc>
                <a:spcPct val="100000"/>
              </a:lnSpc>
              <a:spcBef>
                <a:spcPts val="1200"/>
              </a:spcBef>
              <a:spcAft>
                <a:spcPts val="0"/>
              </a:spcAft>
              <a:buClr>
                <a:schemeClr val="lt1"/>
              </a:buClr>
              <a:buSzPts val="1620"/>
              <a:buChar char="•"/>
              <a:defRPr sz="1798">
                <a:solidFill>
                  <a:schemeClr val="lt1"/>
                </a:solidFill>
              </a:defRPr>
            </a:lvl6pPr>
            <a:lvl7pPr marL="3198480" lvl="6" indent="-308424" algn="l">
              <a:lnSpc>
                <a:spcPct val="100000"/>
              </a:lnSpc>
              <a:spcBef>
                <a:spcPts val="1200"/>
              </a:spcBef>
              <a:spcAft>
                <a:spcPts val="0"/>
              </a:spcAft>
              <a:buClr>
                <a:schemeClr val="lt1"/>
              </a:buClr>
              <a:buSzPts val="1260"/>
              <a:buChar char="-"/>
              <a:defRPr sz="1400">
                <a:solidFill>
                  <a:schemeClr val="lt1"/>
                </a:solidFill>
              </a:defRPr>
            </a:lvl7pPr>
            <a:lvl8pPr marL="3655406" lvl="7" indent="-297001" algn="l">
              <a:lnSpc>
                <a:spcPct val="100000"/>
              </a:lnSpc>
              <a:spcBef>
                <a:spcPts val="1200"/>
              </a:spcBef>
              <a:spcAft>
                <a:spcPts val="0"/>
              </a:spcAft>
              <a:buClr>
                <a:schemeClr val="lt1"/>
              </a:buClr>
              <a:buSzPts val="1080"/>
              <a:buChar char="•"/>
              <a:defRPr sz="1200">
                <a:solidFill>
                  <a:schemeClr val="lt1"/>
                </a:solidFill>
              </a:defRPr>
            </a:lvl8pPr>
            <a:lvl9pPr marL="4112332" lvl="8" indent="-331272" algn="l">
              <a:lnSpc>
                <a:spcPct val="100000"/>
              </a:lnSpc>
              <a:spcBef>
                <a:spcPts val="1200"/>
              </a:spcBef>
              <a:spcAft>
                <a:spcPts val="0"/>
              </a:spcAft>
              <a:buClr>
                <a:schemeClr val="lt1"/>
              </a:buClr>
              <a:buSzPts val="1620"/>
              <a:buChar char="-"/>
              <a:defRPr sz="1798">
                <a:solidFill>
                  <a:schemeClr val="lt1"/>
                </a:solidFill>
              </a:defRPr>
            </a:lvl9pPr>
          </a:lstStyle>
          <a:p>
            <a:endParaRPr/>
          </a:p>
        </p:txBody>
      </p:sp>
      <p:cxnSp>
        <p:nvCxnSpPr>
          <p:cNvPr id="88" name="Google Shape;88;p10"/>
          <p:cNvCxnSpPr/>
          <p:nvPr/>
        </p:nvCxnSpPr>
        <p:spPr>
          <a:xfrm>
            <a:off x="8380413" y="1608668"/>
            <a:ext cx="3808408" cy="0"/>
          </a:xfrm>
          <a:prstGeom prst="straightConnector1">
            <a:avLst/>
          </a:prstGeom>
          <a:noFill/>
          <a:ln w="25400" cap="flat" cmpd="sng">
            <a:solidFill>
              <a:schemeClr val="accent1"/>
            </a:solidFill>
            <a:prstDash val="solid"/>
            <a:miter lim="800000"/>
            <a:headEnd type="none" w="sm" len="sm"/>
            <a:tailEnd type="none" w="sm" len="sm"/>
          </a:ln>
        </p:spPr>
      </p:cxnSp>
      <p:sp>
        <p:nvSpPr>
          <p:cNvPr id="89" name="Google Shape;89;p10"/>
          <p:cNvSpPr txBox="1">
            <a:spLocks noGrp="1"/>
          </p:cNvSpPr>
          <p:nvPr>
            <p:ph type="body" idx="3"/>
          </p:nvPr>
        </p:nvSpPr>
        <p:spPr>
          <a:xfrm>
            <a:off x="8380413" y="1699688"/>
            <a:ext cx="3681445" cy="286362"/>
          </a:xfrm>
          <a:prstGeom prst="rect">
            <a:avLst/>
          </a:prstGeom>
          <a:noFill/>
          <a:ln>
            <a:noFill/>
          </a:ln>
        </p:spPr>
        <p:txBody>
          <a:bodyPr spcFirstLastPara="1" wrap="square" lIns="0" tIns="0" rIns="0" bIns="0" anchor="b" anchorCtr="0">
            <a:noAutofit/>
          </a:bodyPr>
          <a:lstStyle>
            <a:lvl1pPr marL="456926" lvl="0" indent="-331272" algn="l">
              <a:lnSpc>
                <a:spcPct val="100000"/>
              </a:lnSpc>
              <a:spcBef>
                <a:spcPts val="1200"/>
              </a:spcBef>
              <a:spcAft>
                <a:spcPts val="0"/>
              </a:spcAft>
              <a:buSzPts val="1620"/>
              <a:buChar char="​"/>
              <a:defRPr sz="1798">
                <a:solidFill>
                  <a:schemeClr val="accent1"/>
                </a:solidFill>
              </a:defRPr>
            </a:lvl1pPr>
            <a:lvl2pPr marL="913852" lvl="1" indent="-331271" algn="l">
              <a:lnSpc>
                <a:spcPct val="100000"/>
              </a:lnSpc>
              <a:spcBef>
                <a:spcPts val="1200"/>
              </a:spcBef>
              <a:spcAft>
                <a:spcPts val="0"/>
              </a:spcAft>
              <a:buSzPts val="1620"/>
              <a:buChar char="•"/>
              <a:defRPr/>
            </a:lvl2pPr>
            <a:lvl3pPr marL="1370778" lvl="2" indent="-331271" algn="l">
              <a:lnSpc>
                <a:spcPct val="100000"/>
              </a:lnSpc>
              <a:spcBef>
                <a:spcPts val="1200"/>
              </a:spcBef>
              <a:spcAft>
                <a:spcPts val="0"/>
              </a:spcAft>
              <a:buSzPts val="1620"/>
              <a:buChar char="–"/>
              <a:defRPr/>
            </a:lvl3pPr>
            <a:lvl4pPr marL="1827703" lvl="3" indent="-331271" algn="l">
              <a:lnSpc>
                <a:spcPct val="100000"/>
              </a:lnSpc>
              <a:spcBef>
                <a:spcPts val="1200"/>
              </a:spcBef>
              <a:spcAft>
                <a:spcPts val="0"/>
              </a:spcAft>
              <a:buSzPts val="1620"/>
              <a:buChar char="•"/>
              <a:defRPr/>
            </a:lvl4pPr>
            <a:lvl5pPr marL="2284628" lvl="4" indent="-308424" algn="l">
              <a:lnSpc>
                <a:spcPct val="100000"/>
              </a:lnSpc>
              <a:spcBef>
                <a:spcPts val="1200"/>
              </a:spcBef>
              <a:spcAft>
                <a:spcPts val="0"/>
              </a:spcAft>
              <a:buSzPts val="1260"/>
              <a:buChar char="–"/>
              <a:defRPr/>
            </a:lvl5pPr>
            <a:lvl6pPr marL="2741554" lvl="5" indent="-331272" algn="l">
              <a:lnSpc>
                <a:spcPct val="100000"/>
              </a:lnSpc>
              <a:spcBef>
                <a:spcPts val="1200"/>
              </a:spcBef>
              <a:spcAft>
                <a:spcPts val="0"/>
              </a:spcAft>
              <a:buSzPts val="1620"/>
              <a:buChar char="•"/>
              <a:defRPr/>
            </a:lvl6pPr>
            <a:lvl7pPr marL="3198480" lvl="6" indent="-331272" algn="l">
              <a:lnSpc>
                <a:spcPct val="100000"/>
              </a:lnSpc>
              <a:spcBef>
                <a:spcPts val="1200"/>
              </a:spcBef>
              <a:spcAft>
                <a:spcPts val="0"/>
              </a:spcAft>
              <a:buSzPts val="1620"/>
              <a:buChar char="-"/>
              <a:defRPr/>
            </a:lvl7pPr>
            <a:lvl8pPr marL="3655406" lvl="7" indent="-331272" algn="l">
              <a:lnSpc>
                <a:spcPct val="100000"/>
              </a:lnSpc>
              <a:spcBef>
                <a:spcPts val="1200"/>
              </a:spcBef>
              <a:spcAft>
                <a:spcPts val="0"/>
              </a:spcAft>
              <a:buSzPts val="1620"/>
              <a:buChar char="•"/>
              <a:defRPr/>
            </a:lvl8pPr>
            <a:lvl9pPr marL="4112332" lvl="8" indent="-331272" algn="l">
              <a:lnSpc>
                <a:spcPct val="100000"/>
              </a:lnSpc>
              <a:spcBef>
                <a:spcPts val="1200"/>
              </a:spcBef>
              <a:spcAft>
                <a:spcPts val="0"/>
              </a:spcAft>
              <a:buSzPts val="1620"/>
              <a:buChar char="-"/>
              <a:defRPr/>
            </a:lvl9pPr>
          </a:lstStyle>
          <a:p>
            <a:endParaRPr/>
          </a:p>
        </p:txBody>
      </p:sp>
      <p:sp>
        <p:nvSpPr>
          <p:cNvPr id="90" name="Google Shape;90;p10"/>
          <p:cNvSpPr txBox="1">
            <a:spLocks noGrp="1"/>
          </p:cNvSpPr>
          <p:nvPr>
            <p:ph type="body" idx="4"/>
          </p:nvPr>
        </p:nvSpPr>
        <p:spPr>
          <a:xfrm>
            <a:off x="8378825" y="2063048"/>
            <a:ext cx="3683033" cy="1600200"/>
          </a:xfrm>
          <a:prstGeom prst="rect">
            <a:avLst/>
          </a:prstGeom>
          <a:noFill/>
          <a:ln>
            <a:noFill/>
          </a:ln>
        </p:spPr>
        <p:txBody>
          <a:bodyPr spcFirstLastPara="1" wrap="square" lIns="0" tIns="0" rIns="0" bIns="0" anchor="t" anchorCtr="0">
            <a:noAutofit/>
          </a:bodyPr>
          <a:lstStyle>
            <a:lvl1pPr marL="456926" lvl="0" indent="-319848" algn="l">
              <a:lnSpc>
                <a:spcPct val="100000"/>
              </a:lnSpc>
              <a:spcBef>
                <a:spcPts val="1200"/>
              </a:spcBef>
              <a:spcAft>
                <a:spcPts val="0"/>
              </a:spcAft>
              <a:buSzPts val="1440"/>
              <a:buChar char="​"/>
              <a:defRPr sz="1600">
                <a:solidFill>
                  <a:srgbClr val="3C3C3C"/>
                </a:solidFill>
              </a:defRPr>
            </a:lvl1pPr>
            <a:lvl2pPr marL="913852" lvl="1" indent="-308424" algn="l">
              <a:lnSpc>
                <a:spcPct val="100000"/>
              </a:lnSpc>
              <a:spcBef>
                <a:spcPts val="1200"/>
              </a:spcBef>
              <a:spcAft>
                <a:spcPts val="0"/>
              </a:spcAft>
              <a:buSzPts val="1260"/>
              <a:buChar char="•"/>
              <a:defRPr sz="1400">
                <a:solidFill>
                  <a:srgbClr val="3C3C3C"/>
                </a:solidFill>
              </a:defRPr>
            </a:lvl2pPr>
            <a:lvl3pPr marL="1370778" lvl="2" indent="-308424" algn="l">
              <a:lnSpc>
                <a:spcPct val="100000"/>
              </a:lnSpc>
              <a:spcBef>
                <a:spcPts val="1200"/>
              </a:spcBef>
              <a:spcAft>
                <a:spcPts val="0"/>
              </a:spcAft>
              <a:buSzPts val="1260"/>
              <a:buChar char="–"/>
              <a:defRPr sz="1400">
                <a:solidFill>
                  <a:srgbClr val="3C3C3C"/>
                </a:solidFill>
              </a:defRPr>
            </a:lvl3pPr>
            <a:lvl4pPr marL="1827703" lvl="3" indent="-331271" algn="l">
              <a:lnSpc>
                <a:spcPct val="100000"/>
              </a:lnSpc>
              <a:spcBef>
                <a:spcPts val="1200"/>
              </a:spcBef>
              <a:spcAft>
                <a:spcPts val="0"/>
              </a:spcAft>
              <a:buSzPts val="1620"/>
              <a:buChar char="•"/>
              <a:defRPr/>
            </a:lvl4pPr>
            <a:lvl5pPr marL="2284628" lvl="4" indent="-331272" algn="l">
              <a:lnSpc>
                <a:spcPct val="100000"/>
              </a:lnSpc>
              <a:spcBef>
                <a:spcPts val="1200"/>
              </a:spcBef>
              <a:spcAft>
                <a:spcPts val="0"/>
              </a:spcAft>
              <a:buSzPts val="1620"/>
              <a:buChar char="–"/>
              <a:defRPr/>
            </a:lvl5pPr>
            <a:lvl6pPr marL="2741554" lvl="5" indent="-331272" algn="l">
              <a:lnSpc>
                <a:spcPct val="100000"/>
              </a:lnSpc>
              <a:spcBef>
                <a:spcPts val="1200"/>
              </a:spcBef>
              <a:spcAft>
                <a:spcPts val="0"/>
              </a:spcAft>
              <a:buSzPts val="1620"/>
              <a:buChar char="•"/>
              <a:defRPr/>
            </a:lvl6pPr>
            <a:lvl7pPr marL="3198480" lvl="6" indent="-331272" algn="l">
              <a:lnSpc>
                <a:spcPct val="100000"/>
              </a:lnSpc>
              <a:spcBef>
                <a:spcPts val="1200"/>
              </a:spcBef>
              <a:spcAft>
                <a:spcPts val="0"/>
              </a:spcAft>
              <a:buSzPts val="1620"/>
              <a:buChar char="-"/>
              <a:defRPr/>
            </a:lvl7pPr>
            <a:lvl8pPr marL="3655406" lvl="7" indent="-331272" algn="l">
              <a:lnSpc>
                <a:spcPct val="100000"/>
              </a:lnSpc>
              <a:spcBef>
                <a:spcPts val="1200"/>
              </a:spcBef>
              <a:spcAft>
                <a:spcPts val="0"/>
              </a:spcAft>
              <a:buSzPts val="1620"/>
              <a:buChar char="•"/>
              <a:defRPr/>
            </a:lvl8pPr>
            <a:lvl9pPr marL="4112332" lvl="8" indent="-331272" algn="l">
              <a:lnSpc>
                <a:spcPct val="100000"/>
              </a:lnSpc>
              <a:spcBef>
                <a:spcPts val="1200"/>
              </a:spcBef>
              <a:spcAft>
                <a:spcPts val="0"/>
              </a:spcAft>
              <a:buSzPts val="1620"/>
              <a:buChar char="-"/>
              <a:defRPr/>
            </a:lvl9pPr>
          </a:lstStyle>
          <a:p>
            <a:endParaRPr/>
          </a:p>
        </p:txBody>
      </p:sp>
      <p:cxnSp>
        <p:nvCxnSpPr>
          <p:cNvPr id="91" name="Google Shape;91;p10"/>
          <p:cNvCxnSpPr/>
          <p:nvPr/>
        </p:nvCxnSpPr>
        <p:spPr>
          <a:xfrm>
            <a:off x="8380413" y="3872441"/>
            <a:ext cx="3808408" cy="0"/>
          </a:xfrm>
          <a:prstGeom prst="straightConnector1">
            <a:avLst/>
          </a:prstGeom>
          <a:noFill/>
          <a:ln w="25400" cap="flat" cmpd="sng">
            <a:solidFill>
              <a:schemeClr val="accent5"/>
            </a:solidFill>
            <a:prstDash val="solid"/>
            <a:miter lim="800000"/>
            <a:headEnd type="none" w="sm" len="sm"/>
            <a:tailEnd type="none" w="sm" len="sm"/>
          </a:ln>
        </p:spPr>
      </p:cxnSp>
      <p:sp>
        <p:nvSpPr>
          <p:cNvPr id="92" name="Google Shape;92;p10"/>
          <p:cNvSpPr txBox="1">
            <a:spLocks noGrp="1"/>
          </p:cNvSpPr>
          <p:nvPr>
            <p:ph type="body" idx="5"/>
          </p:nvPr>
        </p:nvSpPr>
        <p:spPr>
          <a:xfrm>
            <a:off x="8380413" y="3972472"/>
            <a:ext cx="3681445" cy="277353"/>
          </a:xfrm>
          <a:prstGeom prst="rect">
            <a:avLst/>
          </a:prstGeom>
          <a:noFill/>
          <a:ln>
            <a:noFill/>
          </a:ln>
        </p:spPr>
        <p:txBody>
          <a:bodyPr spcFirstLastPara="1" wrap="square" lIns="0" tIns="0" rIns="0" bIns="0" anchor="b" anchorCtr="0">
            <a:noAutofit/>
          </a:bodyPr>
          <a:lstStyle>
            <a:lvl1pPr marL="456926" lvl="0" indent="-331272" algn="l">
              <a:lnSpc>
                <a:spcPct val="100000"/>
              </a:lnSpc>
              <a:spcBef>
                <a:spcPts val="1200"/>
              </a:spcBef>
              <a:spcAft>
                <a:spcPts val="0"/>
              </a:spcAft>
              <a:buSzPts val="1620"/>
              <a:buChar char="​"/>
              <a:defRPr sz="1798">
                <a:solidFill>
                  <a:schemeClr val="accent5"/>
                </a:solidFill>
              </a:defRPr>
            </a:lvl1pPr>
            <a:lvl2pPr marL="913852" lvl="1" indent="-331271" algn="l">
              <a:lnSpc>
                <a:spcPct val="100000"/>
              </a:lnSpc>
              <a:spcBef>
                <a:spcPts val="1200"/>
              </a:spcBef>
              <a:spcAft>
                <a:spcPts val="0"/>
              </a:spcAft>
              <a:buSzPts val="1620"/>
              <a:buChar char="•"/>
              <a:defRPr/>
            </a:lvl2pPr>
            <a:lvl3pPr marL="1370778" lvl="2" indent="-331271" algn="l">
              <a:lnSpc>
                <a:spcPct val="100000"/>
              </a:lnSpc>
              <a:spcBef>
                <a:spcPts val="1200"/>
              </a:spcBef>
              <a:spcAft>
                <a:spcPts val="0"/>
              </a:spcAft>
              <a:buSzPts val="1620"/>
              <a:buChar char="–"/>
              <a:defRPr/>
            </a:lvl3pPr>
            <a:lvl4pPr marL="1827703" lvl="3" indent="-331271" algn="l">
              <a:lnSpc>
                <a:spcPct val="100000"/>
              </a:lnSpc>
              <a:spcBef>
                <a:spcPts val="1200"/>
              </a:spcBef>
              <a:spcAft>
                <a:spcPts val="0"/>
              </a:spcAft>
              <a:buSzPts val="1620"/>
              <a:buChar char="•"/>
              <a:defRPr/>
            </a:lvl4pPr>
            <a:lvl5pPr marL="2284628" lvl="4" indent="-308424" algn="l">
              <a:lnSpc>
                <a:spcPct val="100000"/>
              </a:lnSpc>
              <a:spcBef>
                <a:spcPts val="1200"/>
              </a:spcBef>
              <a:spcAft>
                <a:spcPts val="0"/>
              </a:spcAft>
              <a:buSzPts val="1260"/>
              <a:buChar char="–"/>
              <a:defRPr/>
            </a:lvl5pPr>
            <a:lvl6pPr marL="2741554" lvl="5" indent="-331272" algn="l">
              <a:lnSpc>
                <a:spcPct val="100000"/>
              </a:lnSpc>
              <a:spcBef>
                <a:spcPts val="1200"/>
              </a:spcBef>
              <a:spcAft>
                <a:spcPts val="0"/>
              </a:spcAft>
              <a:buSzPts val="1620"/>
              <a:buChar char="•"/>
              <a:defRPr/>
            </a:lvl6pPr>
            <a:lvl7pPr marL="3198480" lvl="6" indent="-331272" algn="l">
              <a:lnSpc>
                <a:spcPct val="100000"/>
              </a:lnSpc>
              <a:spcBef>
                <a:spcPts val="1200"/>
              </a:spcBef>
              <a:spcAft>
                <a:spcPts val="0"/>
              </a:spcAft>
              <a:buSzPts val="1620"/>
              <a:buChar char="-"/>
              <a:defRPr/>
            </a:lvl7pPr>
            <a:lvl8pPr marL="3655406" lvl="7" indent="-331272" algn="l">
              <a:lnSpc>
                <a:spcPct val="100000"/>
              </a:lnSpc>
              <a:spcBef>
                <a:spcPts val="1200"/>
              </a:spcBef>
              <a:spcAft>
                <a:spcPts val="0"/>
              </a:spcAft>
              <a:buSzPts val="1620"/>
              <a:buChar char="•"/>
              <a:defRPr/>
            </a:lvl8pPr>
            <a:lvl9pPr marL="4112332" lvl="8" indent="-331272" algn="l">
              <a:lnSpc>
                <a:spcPct val="100000"/>
              </a:lnSpc>
              <a:spcBef>
                <a:spcPts val="1200"/>
              </a:spcBef>
              <a:spcAft>
                <a:spcPts val="0"/>
              </a:spcAft>
              <a:buSzPts val="1620"/>
              <a:buChar char="-"/>
              <a:defRPr/>
            </a:lvl9pPr>
          </a:lstStyle>
          <a:p>
            <a:endParaRPr/>
          </a:p>
        </p:txBody>
      </p:sp>
      <p:sp>
        <p:nvSpPr>
          <p:cNvPr id="93" name="Google Shape;93;p10"/>
          <p:cNvSpPr txBox="1">
            <a:spLocks noGrp="1"/>
          </p:cNvSpPr>
          <p:nvPr>
            <p:ph type="body" idx="6"/>
          </p:nvPr>
        </p:nvSpPr>
        <p:spPr>
          <a:xfrm>
            <a:off x="8378825" y="4347904"/>
            <a:ext cx="3683033" cy="1600200"/>
          </a:xfrm>
          <a:prstGeom prst="rect">
            <a:avLst/>
          </a:prstGeom>
          <a:noFill/>
          <a:ln>
            <a:noFill/>
          </a:ln>
        </p:spPr>
        <p:txBody>
          <a:bodyPr spcFirstLastPara="1" wrap="square" lIns="0" tIns="0" rIns="0" bIns="0" anchor="t" anchorCtr="0">
            <a:noAutofit/>
          </a:bodyPr>
          <a:lstStyle>
            <a:lvl1pPr marL="456926" lvl="0" indent="-319848" algn="l">
              <a:lnSpc>
                <a:spcPct val="100000"/>
              </a:lnSpc>
              <a:spcBef>
                <a:spcPts val="1200"/>
              </a:spcBef>
              <a:spcAft>
                <a:spcPts val="0"/>
              </a:spcAft>
              <a:buSzPts val="1440"/>
              <a:buChar char="​"/>
              <a:defRPr sz="1600">
                <a:solidFill>
                  <a:srgbClr val="3C3C3C"/>
                </a:solidFill>
              </a:defRPr>
            </a:lvl1pPr>
            <a:lvl2pPr marL="913852" lvl="1" indent="-308424" algn="l">
              <a:lnSpc>
                <a:spcPct val="100000"/>
              </a:lnSpc>
              <a:spcBef>
                <a:spcPts val="1200"/>
              </a:spcBef>
              <a:spcAft>
                <a:spcPts val="0"/>
              </a:spcAft>
              <a:buSzPts val="1260"/>
              <a:buChar char="•"/>
              <a:defRPr sz="1400">
                <a:solidFill>
                  <a:srgbClr val="3C3C3C"/>
                </a:solidFill>
              </a:defRPr>
            </a:lvl2pPr>
            <a:lvl3pPr marL="1370778" lvl="2" indent="-308424" algn="l">
              <a:lnSpc>
                <a:spcPct val="100000"/>
              </a:lnSpc>
              <a:spcBef>
                <a:spcPts val="1200"/>
              </a:spcBef>
              <a:spcAft>
                <a:spcPts val="0"/>
              </a:spcAft>
              <a:buSzPts val="1260"/>
              <a:buChar char="–"/>
              <a:defRPr sz="1400">
                <a:solidFill>
                  <a:srgbClr val="3C3C3C"/>
                </a:solidFill>
              </a:defRPr>
            </a:lvl3pPr>
            <a:lvl4pPr marL="1827703" lvl="3" indent="-331271" algn="l">
              <a:lnSpc>
                <a:spcPct val="100000"/>
              </a:lnSpc>
              <a:spcBef>
                <a:spcPts val="1200"/>
              </a:spcBef>
              <a:spcAft>
                <a:spcPts val="0"/>
              </a:spcAft>
              <a:buSzPts val="1620"/>
              <a:buChar char="•"/>
              <a:defRPr/>
            </a:lvl4pPr>
            <a:lvl5pPr marL="2284628" lvl="4" indent="-331272" algn="l">
              <a:lnSpc>
                <a:spcPct val="100000"/>
              </a:lnSpc>
              <a:spcBef>
                <a:spcPts val="1200"/>
              </a:spcBef>
              <a:spcAft>
                <a:spcPts val="0"/>
              </a:spcAft>
              <a:buSzPts val="1620"/>
              <a:buChar char="–"/>
              <a:defRPr/>
            </a:lvl5pPr>
            <a:lvl6pPr marL="2741554" lvl="5" indent="-331272" algn="l">
              <a:lnSpc>
                <a:spcPct val="100000"/>
              </a:lnSpc>
              <a:spcBef>
                <a:spcPts val="1200"/>
              </a:spcBef>
              <a:spcAft>
                <a:spcPts val="0"/>
              </a:spcAft>
              <a:buSzPts val="1620"/>
              <a:buChar char="•"/>
              <a:defRPr/>
            </a:lvl6pPr>
            <a:lvl7pPr marL="3198480" lvl="6" indent="-331272" algn="l">
              <a:lnSpc>
                <a:spcPct val="100000"/>
              </a:lnSpc>
              <a:spcBef>
                <a:spcPts val="1200"/>
              </a:spcBef>
              <a:spcAft>
                <a:spcPts val="0"/>
              </a:spcAft>
              <a:buSzPts val="1620"/>
              <a:buChar char="-"/>
              <a:defRPr/>
            </a:lvl7pPr>
            <a:lvl8pPr marL="3655406" lvl="7" indent="-331272" algn="l">
              <a:lnSpc>
                <a:spcPct val="100000"/>
              </a:lnSpc>
              <a:spcBef>
                <a:spcPts val="1200"/>
              </a:spcBef>
              <a:spcAft>
                <a:spcPts val="0"/>
              </a:spcAft>
              <a:buSzPts val="1620"/>
              <a:buChar char="•"/>
              <a:defRPr/>
            </a:lvl8pPr>
            <a:lvl9pPr marL="4112332" lvl="8" indent="-331272" algn="l">
              <a:lnSpc>
                <a:spcPct val="100000"/>
              </a:lnSpc>
              <a:spcBef>
                <a:spcPts val="1200"/>
              </a:spcBef>
              <a:spcAft>
                <a:spcPts val="0"/>
              </a:spcAft>
              <a:buSzPts val="1620"/>
              <a:buChar char="-"/>
              <a:defRPr/>
            </a:lvl9pPr>
          </a:lstStyle>
          <a:p>
            <a:endParaRPr/>
          </a:p>
        </p:txBody>
      </p:sp>
      <p:sp>
        <p:nvSpPr>
          <p:cNvPr id="94" name="Google Shape;94;p10"/>
          <p:cNvSpPr txBox="1"/>
          <p:nvPr/>
        </p:nvSpPr>
        <p:spPr>
          <a:xfrm>
            <a:off x="11490941" y="6464808"/>
            <a:ext cx="437886" cy="18300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rgbClr val="000000"/>
              </a:buClr>
              <a:buSzPts val="800"/>
              <a:buFont typeface="Arial"/>
              <a:buNone/>
            </a:pPr>
            <a:fld id="{00000000-1234-1234-1234-123412341234}" type="slidenum">
              <a:rPr lang="en-US" sz="800" b="0" i="0" u="none" strike="noStrike" cap="none">
                <a:solidFill>
                  <a:schemeClr val="dk2"/>
                </a:solidFill>
                <a:latin typeface="Arial"/>
                <a:ea typeface="Arial"/>
                <a:cs typeface="Arial"/>
                <a:sym typeface="Arial"/>
              </a:rPr>
              <a:pPr marL="0" marR="0" lvl="0" indent="0" algn="r" rtl="0">
                <a:lnSpc>
                  <a:spcPct val="90000"/>
                </a:lnSpc>
                <a:spcBef>
                  <a:spcPts val="0"/>
                </a:spcBef>
                <a:spcAft>
                  <a:spcPts val="0"/>
                </a:spcAft>
                <a:buClr>
                  <a:srgbClr val="000000"/>
                </a:buClr>
                <a:buSzPts val="800"/>
                <a:buFont typeface="Arial"/>
                <a:buNone/>
              </a:pPr>
              <a:t>‹#›</a:t>
            </a:fld>
            <a:endParaRPr sz="800" b="0" i="0" u="none" strike="noStrike" cap="none" dirty="0">
              <a:solidFill>
                <a:schemeClr val="dk2"/>
              </a:solidFill>
              <a:latin typeface="Arial"/>
              <a:ea typeface="Arial"/>
              <a:cs typeface="Arial"/>
              <a:sym typeface="Arial"/>
            </a:endParaRPr>
          </a:p>
        </p:txBody>
      </p:sp>
    </p:spTree>
    <p:extLst>
      <p:ext uri="{BB962C8B-B14F-4D97-AF65-F5344CB8AC3E}">
        <p14:creationId xmlns:p14="http://schemas.microsoft.com/office/powerpoint/2010/main" val="39094151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with Subtitle">
  <p:cSld name="Title with Subtitle">
    <p:spTree>
      <p:nvGrpSpPr>
        <p:cNvPr id="1" name="Shape 1146"/>
        <p:cNvGrpSpPr/>
        <p:nvPr/>
      </p:nvGrpSpPr>
      <p:grpSpPr>
        <a:xfrm>
          <a:off x="0" y="0"/>
          <a:ext cx="0" cy="0"/>
          <a:chOff x="0" y="0"/>
          <a:chExt cx="0" cy="0"/>
        </a:xfrm>
      </p:grpSpPr>
      <p:sp>
        <p:nvSpPr>
          <p:cNvPr id="1147" name="Google Shape;1147;p52"/>
          <p:cNvSpPr txBox="1">
            <a:spLocks noGrp="1"/>
          </p:cNvSpPr>
          <p:nvPr>
            <p:ph type="title"/>
          </p:nvPr>
        </p:nvSpPr>
        <p:spPr>
          <a:xfrm>
            <a:off x="412897" y="457200"/>
            <a:ext cx="11363032" cy="366254"/>
          </a:xfrm>
          <a:prstGeom prst="rect">
            <a:avLst/>
          </a:prstGeom>
          <a:noFill/>
          <a:ln>
            <a:noFill/>
          </a:ln>
        </p:spPr>
        <p:txBody>
          <a:bodyPr spcFirstLastPara="1" wrap="square" lIns="0" tIns="0" rIns="0" bIns="0" anchor="ctr" anchorCtr="0">
            <a:spAutoFit/>
          </a:bodyPr>
          <a:lstStyle>
            <a:lvl1pPr lvl="0" algn="l">
              <a:lnSpc>
                <a:spcPct val="85000"/>
              </a:lnSpc>
              <a:spcBef>
                <a:spcPts val="0"/>
              </a:spcBef>
              <a:spcAft>
                <a:spcPts val="0"/>
              </a:spcAft>
              <a:buClr>
                <a:schemeClr val="dk2"/>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1148" name="Google Shape;1148;p52"/>
          <p:cNvSpPr txBox="1">
            <a:spLocks noGrp="1"/>
          </p:cNvSpPr>
          <p:nvPr>
            <p:ph type="body" idx="1"/>
          </p:nvPr>
        </p:nvSpPr>
        <p:spPr>
          <a:xfrm>
            <a:off x="412897" y="914401"/>
            <a:ext cx="11363032" cy="332399"/>
          </a:xfrm>
          <a:prstGeom prst="rect">
            <a:avLst/>
          </a:prstGeom>
          <a:noFill/>
          <a:ln>
            <a:noFill/>
          </a:ln>
        </p:spPr>
        <p:txBody>
          <a:bodyPr spcFirstLastPara="1" wrap="square" lIns="0" tIns="0" rIns="0" bIns="0" anchor="t" anchorCtr="0">
            <a:spAutoFit/>
          </a:bodyPr>
          <a:lstStyle>
            <a:lvl1pPr marL="457063" marR="0" lvl="0" indent="-228531" algn="l">
              <a:lnSpc>
                <a:spcPct val="90000"/>
              </a:lnSpc>
              <a:spcBef>
                <a:spcPts val="0"/>
              </a:spcBef>
              <a:spcAft>
                <a:spcPts val="0"/>
              </a:spcAft>
              <a:buSzPts val="2399"/>
              <a:buNone/>
              <a:defRPr sz="2398" b="0">
                <a:solidFill>
                  <a:schemeClr val="lt2"/>
                </a:solidFill>
                <a:latin typeface="Arial"/>
                <a:ea typeface="Arial"/>
                <a:cs typeface="Arial"/>
                <a:sym typeface="Arial"/>
              </a:defRPr>
            </a:lvl1pPr>
            <a:lvl2pPr marL="914126" lvl="1" indent="-228531" algn="l">
              <a:lnSpc>
                <a:spcPct val="90000"/>
              </a:lnSpc>
              <a:spcBef>
                <a:spcPts val="400"/>
              </a:spcBef>
              <a:spcAft>
                <a:spcPts val="0"/>
              </a:spcAft>
              <a:buSzPts val="1999"/>
              <a:buNone/>
              <a:defRPr/>
            </a:lvl2pPr>
            <a:lvl3pPr marL="1371189" lvl="2" indent="-228531" algn="l">
              <a:lnSpc>
                <a:spcPct val="90000"/>
              </a:lnSpc>
              <a:spcBef>
                <a:spcPts val="400"/>
              </a:spcBef>
              <a:spcAft>
                <a:spcPts val="0"/>
              </a:spcAft>
              <a:buSzPts val="1600"/>
              <a:buNone/>
              <a:defRPr/>
            </a:lvl3pPr>
            <a:lvl4pPr marL="1828251" lvl="3" indent="-228531" algn="l">
              <a:lnSpc>
                <a:spcPct val="90000"/>
              </a:lnSpc>
              <a:spcBef>
                <a:spcPts val="400"/>
              </a:spcBef>
              <a:spcAft>
                <a:spcPts val="0"/>
              </a:spcAft>
              <a:buSzPts val="1600"/>
              <a:buNone/>
              <a:defRPr/>
            </a:lvl4pPr>
            <a:lvl5pPr marL="2285314" lvl="4" indent="-228531" algn="l">
              <a:lnSpc>
                <a:spcPct val="90000"/>
              </a:lnSpc>
              <a:spcBef>
                <a:spcPts val="400"/>
              </a:spcBef>
              <a:spcAft>
                <a:spcPts val="0"/>
              </a:spcAft>
              <a:buSzPts val="1600"/>
              <a:buNone/>
              <a:defRPr/>
            </a:lvl5pPr>
            <a:lvl6pPr marL="2742377" lvl="5" indent="-342797" algn="l">
              <a:lnSpc>
                <a:spcPct val="100000"/>
              </a:lnSpc>
              <a:spcBef>
                <a:spcPts val="360"/>
              </a:spcBef>
              <a:spcAft>
                <a:spcPts val="0"/>
              </a:spcAft>
              <a:buClr>
                <a:schemeClr val="dk1"/>
              </a:buClr>
              <a:buSzPts val="1800"/>
              <a:buChar char="•"/>
              <a:defRPr/>
            </a:lvl6pPr>
            <a:lvl7pPr marL="3199440" lvl="6" indent="-342797" algn="l">
              <a:lnSpc>
                <a:spcPct val="100000"/>
              </a:lnSpc>
              <a:spcBef>
                <a:spcPts val="360"/>
              </a:spcBef>
              <a:spcAft>
                <a:spcPts val="0"/>
              </a:spcAft>
              <a:buClr>
                <a:schemeClr val="dk1"/>
              </a:buClr>
              <a:buSzPts val="1800"/>
              <a:buChar char="•"/>
              <a:defRPr/>
            </a:lvl7pPr>
            <a:lvl8pPr marL="3656503" lvl="7" indent="-342797" algn="l">
              <a:lnSpc>
                <a:spcPct val="100000"/>
              </a:lnSpc>
              <a:spcBef>
                <a:spcPts val="360"/>
              </a:spcBef>
              <a:spcAft>
                <a:spcPts val="0"/>
              </a:spcAft>
              <a:buClr>
                <a:schemeClr val="dk1"/>
              </a:buClr>
              <a:buSzPts val="1800"/>
              <a:buChar char="•"/>
              <a:defRPr/>
            </a:lvl8pPr>
            <a:lvl9pPr marL="4113566" lvl="8" indent="-342797" algn="l">
              <a:lnSpc>
                <a:spcPct val="100000"/>
              </a:lnSpc>
              <a:spcBef>
                <a:spcPts val="36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72404558"/>
      </p:ext>
    </p:extLst>
  </p:cSld>
  <p:clrMapOvr>
    <a:masterClrMapping/>
  </p:clrMapOvr>
  <p:transition spd="med">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cSld name="1_Title with Subtitle">
    <p:spTree>
      <p:nvGrpSpPr>
        <p:cNvPr id="1" name=""/>
        <p:cNvGrpSpPr/>
        <p:nvPr/>
      </p:nvGrpSpPr>
      <p:grpSpPr>
        <a:xfrm>
          <a:off x="0" y="0"/>
          <a:ext cx="0" cy="0"/>
          <a:chOff x="0" y="0"/>
          <a:chExt cx="0" cy="0"/>
        </a:xfrm>
      </p:grpSpPr>
      <p:sp>
        <p:nvSpPr>
          <p:cNvPr id="6" name="Title 5"/>
          <p:cNvSpPr>
            <a:spLocks noGrp="1"/>
          </p:cNvSpPr>
          <p:nvPr>
            <p:ph type="title"/>
          </p:nvPr>
        </p:nvSpPr>
        <p:spPr>
          <a:xfrm>
            <a:off x="412897" y="457200"/>
            <a:ext cx="11363032" cy="366254"/>
          </a:xfrm>
        </p:spPr>
        <p:txBody>
          <a:bodyPr/>
          <a:lstStyle/>
          <a:p>
            <a:r>
              <a:rPr lang="en-US" dirty="0"/>
              <a:t>Click to edit Master title style</a:t>
            </a:r>
          </a:p>
        </p:txBody>
      </p:sp>
      <p:sp>
        <p:nvSpPr>
          <p:cNvPr id="4" name="Subtitle"/>
          <p:cNvSpPr>
            <a:spLocks noGrp="1"/>
          </p:cNvSpPr>
          <p:nvPr>
            <p:ph type="body" sz="quarter" idx="12"/>
          </p:nvPr>
        </p:nvSpPr>
        <p:spPr>
          <a:xfrm>
            <a:off x="412897" y="914401"/>
            <a:ext cx="11363032" cy="332399"/>
          </a:xfrm>
        </p:spPr>
        <p:txBody>
          <a:bodyPr lIns="0" tIns="0" rIns="0" bIns="0"/>
          <a:lstStyle>
            <a:lvl1pPr marL="0" marR="0" indent="0">
              <a:spcBef>
                <a:spcPts val="0"/>
              </a:spcBef>
              <a:spcAft>
                <a:spcPts val="0"/>
              </a:spcAft>
              <a:buNone/>
              <a:defRPr sz="2399" b="0">
                <a:solidFill>
                  <a:schemeClr val="bg2"/>
                </a:solidFill>
                <a:latin typeface="+mj-lt"/>
              </a:defRPr>
            </a:lvl1pPr>
            <a:lvl2pPr marL="0" indent="0">
              <a:buNone/>
              <a:defRPr/>
            </a:lvl2pPr>
            <a:lvl3pPr marL="0" indent="0">
              <a:buNone/>
              <a:defRPr/>
            </a:lvl3pPr>
            <a:lvl4pPr marL="0" indent="0">
              <a:buNone/>
              <a:defRPr/>
            </a:lvl4pPr>
            <a:lvl5pPr marL="0" indent="0">
              <a:buNone/>
              <a:defRPr/>
            </a:lvl5pPr>
          </a:lstStyle>
          <a:p>
            <a:pPr lvl="0"/>
            <a:r>
              <a:rPr lang="en-US"/>
              <a:t>Click to edit Master text styles</a:t>
            </a:r>
          </a:p>
        </p:txBody>
      </p:sp>
    </p:spTree>
    <p:custDataLst>
      <p:tags r:id="rId1"/>
    </p:custDataLst>
    <p:extLst>
      <p:ext uri="{BB962C8B-B14F-4D97-AF65-F5344CB8AC3E}">
        <p14:creationId xmlns:p14="http://schemas.microsoft.com/office/powerpoint/2010/main" val="789372963"/>
      </p:ext>
    </p:extLst>
  </p:cSld>
  <p:clrMapOvr>
    <a:masterClrMapping/>
  </p:clrMapOvr>
  <p:transition spd="med">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Diagram with Content on Right">
  <p:cSld name="1_Diagram with Content on Right">
    <p:spTree>
      <p:nvGrpSpPr>
        <p:cNvPr id="1" name="Shape 121"/>
        <p:cNvGrpSpPr/>
        <p:nvPr/>
      </p:nvGrpSpPr>
      <p:grpSpPr>
        <a:xfrm>
          <a:off x="0" y="0"/>
          <a:ext cx="0" cy="0"/>
          <a:chOff x="0" y="0"/>
          <a:chExt cx="0" cy="0"/>
        </a:xfrm>
      </p:grpSpPr>
      <p:sp>
        <p:nvSpPr>
          <p:cNvPr id="122" name="Google Shape;122;p160"/>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23" name="Google Shape;123;p160"/>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2000" b="0" i="0">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2000"/>
            </a:lvl2pPr>
            <a:lvl3pPr lvl="2" algn="ctr">
              <a:lnSpc>
                <a:spcPct val="100000"/>
              </a:lnSpc>
              <a:spcBef>
                <a:spcPts val="1200"/>
              </a:spcBef>
              <a:spcAft>
                <a:spcPts val="0"/>
              </a:spcAft>
              <a:buSzPts val="1620"/>
              <a:buNone/>
              <a:defRPr sz="1800"/>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124" name="Google Shape;124;p160"/>
          <p:cNvSpPr/>
          <p:nvPr/>
        </p:nvSpPr>
        <p:spPr>
          <a:xfrm rot="10800000" flipH="1">
            <a:off x="8380072" y="1589923"/>
            <a:ext cx="3808754" cy="82618"/>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200"/>
              <a:buFont typeface="Arial"/>
              <a:buNone/>
            </a:pPr>
            <a:endParaRPr sz="1200" b="0" i="0">
              <a:solidFill>
                <a:schemeClr val="lt1"/>
              </a:solidFill>
              <a:latin typeface="Arial"/>
              <a:ea typeface="Arial"/>
              <a:cs typeface="Arial"/>
              <a:sym typeface="Arial"/>
            </a:endParaRPr>
          </a:p>
          <a:p>
            <a:pPr marL="0" marR="0" lvl="0" indent="0" algn="ctr" rtl="0">
              <a:spcBef>
                <a:spcPts val="600"/>
              </a:spcBef>
              <a:spcAft>
                <a:spcPts val="0"/>
              </a:spcAft>
              <a:buClr>
                <a:schemeClr val="dk1"/>
              </a:buClr>
              <a:buSzPts val="1200"/>
              <a:buFont typeface="Arial"/>
              <a:buNone/>
            </a:pPr>
            <a:endParaRPr sz="1200" b="0" i="0">
              <a:solidFill>
                <a:schemeClr val="lt1"/>
              </a:solidFill>
              <a:latin typeface="Arial"/>
              <a:ea typeface="Arial"/>
              <a:cs typeface="Arial"/>
              <a:sym typeface="Arial"/>
            </a:endParaRPr>
          </a:p>
        </p:txBody>
      </p:sp>
      <p:sp>
        <p:nvSpPr>
          <p:cNvPr id="125" name="Google Shape;125;p160"/>
          <p:cNvSpPr txBox="1">
            <a:spLocks noGrp="1"/>
          </p:cNvSpPr>
          <p:nvPr>
            <p:ph type="body" idx="2"/>
          </p:nvPr>
        </p:nvSpPr>
        <p:spPr>
          <a:xfrm>
            <a:off x="8380413" y="1600200"/>
            <a:ext cx="3808412" cy="4572000"/>
          </a:xfrm>
          <a:prstGeom prst="rect">
            <a:avLst/>
          </a:prstGeom>
          <a:noFill/>
          <a:ln>
            <a:noFill/>
          </a:ln>
        </p:spPr>
        <p:txBody>
          <a:bodyPr spcFirstLastPara="1" wrap="square" lIns="0" tIns="457200" rIns="594350" bIns="457200" anchor="t" anchorCtr="0">
            <a:noAutofit/>
          </a:bodyPr>
          <a:lstStyle>
            <a:lvl1pPr marL="457200" lvl="0" indent="-320040" algn="l">
              <a:lnSpc>
                <a:spcPct val="100000"/>
              </a:lnSpc>
              <a:spcBef>
                <a:spcPts val="0"/>
              </a:spcBef>
              <a:spcAft>
                <a:spcPts val="0"/>
              </a:spcAft>
              <a:buSzPts val="1440"/>
              <a:buChar char="​"/>
              <a:defRPr sz="1600" b="0" i="0">
                <a:solidFill>
                  <a:schemeClr val="accent2"/>
                </a:solidFill>
                <a:latin typeface="Arial"/>
                <a:ea typeface="Arial"/>
                <a:cs typeface="Arial"/>
                <a:sym typeface="Arial"/>
              </a:defRPr>
            </a:lvl1pPr>
            <a:lvl2pPr marL="914400" lvl="1" indent="-308610" algn="l">
              <a:lnSpc>
                <a:spcPct val="100000"/>
              </a:lnSpc>
              <a:spcBef>
                <a:spcPts val="1200"/>
              </a:spcBef>
              <a:spcAft>
                <a:spcPts val="0"/>
              </a:spcAft>
              <a:buClr>
                <a:schemeClr val="accent2"/>
              </a:buClr>
              <a:buSzPts val="1260"/>
              <a:buChar char="•"/>
              <a:defRPr sz="1400">
                <a:solidFill>
                  <a:schemeClr val="accent2"/>
                </a:solidFill>
              </a:defRPr>
            </a:lvl2pPr>
            <a:lvl3pPr marL="1371600" lvl="2" indent="-297180" algn="l">
              <a:lnSpc>
                <a:spcPct val="100000"/>
              </a:lnSpc>
              <a:spcBef>
                <a:spcPts val="1200"/>
              </a:spcBef>
              <a:spcAft>
                <a:spcPts val="0"/>
              </a:spcAft>
              <a:buClr>
                <a:schemeClr val="accent2"/>
              </a:buClr>
              <a:buSzPts val="1080"/>
              <a:buChar char="–"/>
              <a:defRPr sz="1200">
                <a:solidFill>
                  <a:schemeClr val="accent2"/>
                </a:solidFill>
              </a:defRPr>
            </a:lvl3pPr>
            <a:lvl4pPr marL="1828800" lvl="3" indent="-291465" algn="l">
              <a:lnSpc>
                <a:spcPct val="100000"/>
              </a:lnSpc>
              <a:spcBef>
                <a:spcPts val="1200"/>
              </a:spcBef>
              <a:spcAft>
                <a:spcPts val="0"/>
              </a:spcAft>
              <a:buClr>
                <a:schemeClr val="accent2"/>
              </a:buClr>
              <a:buSzPts val="990"/>
              <a:buChar char="•"/>
              <a:defRPr sz="1100">
                <a:solidFill>
                  <a:schemeClr val="accent2"/>
                </a:solidFill>
              </a:defRPr>
            </a:lvl4pPr>
            <a:lvl5pPr marL="2286000" lvl="4" indent="-291465" algn="l">
              <a:lnSpc>
                <a:spcPct val="100000"/>
              </a:lnSpc>
              <a:spcBef>
                <a:spcPts val="1200"/>
              </a:spcBef>
              <a:spcAft>
                <a:spcPts val="0"/>
              </a:spcAft>
              <a:buClr>
                <a:schemeClr val="accent2"/>
              </a:buClr>
              <a:buSzPts val="990"/>
              <a:buChar char="–"/>
              <a:defRPr sz="1100">
                <a:solidFill>
                  <a:schemeClr val="accent2"/>
                </a:solidFill>
              </a:defRPr>
            </a:lvl5pPr>
            <a:lvl6pPr marL="2743200" lvl="5" indent="-291465" algn="l">
              <a:lnSpc>
                <a:spcPct val="100000"/>
              </a:lnSpc>
              <a:spcBef>
                <a:spcPts val="1200"/>
              </a:spcBef>
              <a:spcAft>
                <a:spcPts val="0"/>
              </a:spcAft>
              <a:buClr>
                <a:schemeClr val="accent2"/>
              </a:buClr>
              <a:buSzPts val="990"/>
              <a:buChar char="•"/>
              <a:defRPr sz="1100">
                <a:solidFill>
                  <a:schemeClr val="accent2"/>
                </a:solidFill>
              </a:defRPr>
            </a:lvl6pPr>
            <a:lvl7pPr marL="3200400" lvl="6" indent="-291465" algn="l">
              <a:lnSpc>
                <a:spcPct val="100000"/>
              </a:lnSpc>
              <a:spcBef>
                <a:spcPts val="1200"/>
              </a:spcBef>
              <a:spcAft>
                <a:spcPts val="0"/>
              </a:spcAft>
              <a:buClr>
                <a:schemeClr val="accent2"/>
              </a:buClr>
              <a:buSzPts val="990"/>
              <a:buChar char="-"/>
              <a:defRPr sz="1100">
                <a:solidFill>
                  <a:schemeClr val="accent2"/>
                </a:solidFill>
              </a:defRPr>
            </a:lvl7pPr>
            <a:lvl8pPr marL="3657600" lvl="7" indent="-291465" algn="l">
              <a:lnSpc>
                <a:spcPct val="100000"/>
              </a:lnSpc>
              <a:spcBef>
                <a:spcPts val="1200"/>
              </a:spcBef>
              <a:spcAft>
                <a:spcPts val="0"/>
              </a:spcAft>
              <a:buClr>
                <a:schemeClr val="accent2"/>
              </a:buClr>
              <a:buSzPts val="990"/>
              <a:buChar char="•"/>
              <a:defRPr sz="1100">
                <a:solidFill>
                  <a:schemeClr val="accent2"/>
                </a:solidFill>
              </a:defRPr>
            </a:lvl8pPr>
            <a:lvl9pPr marL="4114800" lvl="8" indent="-291465" algn="l">
              <a:lnSpc>
                <a:spcPct val="100000"/>
              </a:lnSpc>
              <a:spcBef>
                <a:spcPts val="1200"/>
              </a:spcBef>
              <a:spcAft>
                <a:spcPts val="1200"/>
              </a:spcAft>
              <a:buClr>
                <a:schemeClr val="accent2"/>
              </a:buClr>
              <a:buSzPts val="990"/>
              <a:buChar char="-"/>
              <a:defRPr sz="1100">
                <a:solidFill>
                  <a:schemeClr val="accent2"/>
                </a:solidFill>
              </a:defRPr>
            </a:lvl9pPr>
          </a:lstStyle>
          <a:p>
            <a:endParaRPr/>
          </a:p>
        </p:txBody>
      </p:sp>
      <p:sp>
        <p:nvSpPr>
          <p:cNvPr id="126" name="Google Shape;126;p160"/>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chemeClr val="dk2"/>
              </a:buClr>
              <a:buSzPts val="800"/>
              <a:buFont typeface="Arial"/>
              <a:buNone/>
            </a:pPr>
            <a:fld id="{00000000-1234-1234-1234-123412341234}" type="slidenum">
              <a:rPr lang="en-US" sz="800" b="0" i="0">
                <a:solidFill>
                  <a:schemeClr val="dk2"/>
                </a:solidFill>
                <a:latin typeface="Arial"/>
                <a:ea typeface="Arial"/>
                <a:cs typeface="Arial"/>
                <a:sym typeface="Arial"/>
              </a:rPr>
              <a:t>‹#›</a:t>
            </a:fld>
            <a:endParaRPr sz="800" b="0" i="0">
              <a:solidFill>
                <a:schemeClr val="dk2"/>
              </a:solidFill>
              <a:latin typeface="Arial"/>
              <a:ea typeface="Arial"/>
              <a:cs typeface="Arial"/>
              <a:sym typeface="Arial"/>
            </a:endParaRPr>
          </a:p>
        </p:txBody>
      </p:sp>
      <p:sp>
        <p:nvSpPr>
          <p:cNvPr id="127" name="Google Shape;127;p160"/>
          <p:cNvSpPr txBox="1">
            <a:spLocks noGrp="1"/>
          </p:cNvSpPr>
          <p:nvPr>
            <p:ph type="body" idx="3"/>
          </p:nvPr>
        </p:nvSpPr>
        <p:spPr>
          <a:xfrm>
            <a:off x="608012" y="1600201"/>
            <a:ext cx="7398303" cy="4572000"/>
          </a:xfrm>
          <a:prstGeom prst="rect">
            <a:avLst/>
          </a:prstGeom>
          <a:noFill/>
          <a:ln>
            <a:noFill/>
          </a:ln>
        </p:spPr>
        <p:txBody>
          <a:bodyPr spcFirstLastPara="1" wrap="square" lIns="594350" tIns="1371600" rIns="457200" bIns="457200" anchor="t" anchorCtr="0">
            <a:noAutofit/>
          </a:bodyPr>
          <a:lstStyle>
            <a:lvl1pPr marL="457200" lvl="0" indent="-291465" algn="ctr">
              <a:lnSpc>
                <a:spcPct val="100000"/>
              </a:lnSpc>
              <a:spcBef>
                <a:spcPts val="1200"/>
              </a:spcBef>
              <a:spcAft>
                <a:spcPts val="0"/>
              </a:spcAft>
              <a:buSzPts val="990"/>
              <a:buChar char="​"/>
              <a:defRPr sz="1100" b="0" i="0">
                <a:solidFill>
                  <a:schemeClr val="dk1"/>
                </a:solidFill>
                <a:latin typeface="Arial"/>
                <a:ea typeface="Arial"/>
                <a:cs typeface="Arial"/>
                <a:sym typeface="Arial"/>
              </a:defRPr>
            </a:lvl1pPr>
            <a:lvl2pPr marL="914400" lvl="1" indent="-320040" algn="l">
              <a:lnSpc>
                <a:spcPct val="100000"/>
              </a:lnSpc>
              <a:spcBef>
                <a:spcPts val="1200"/>
              </a:spcBef>
              <a:spcAft>
                <a:spcPts val="0"/>
              </a:spcAft>
              <a:buClr>
                <a:schemeClr val="lt1"/>
              </a:buClr>
              <a:buSzPts val="1440"/>
              <a:buChar char="•"/>
              <a:defRPr sz="1600">
                <a:solidFill>
                  <a:schemeClr val="lt1"/>
                </a:solidFill>
              </a:defRPr>
            </a:lvl2pPr>
            <a:lvl3pPr marL="1371600" lvl="2" indent="-308610" algn="l">
              <a:lnSpc>
                <a:spcPct val="100000"/>
              </a:lnSpc>
              <a:spcBef>
                <a:spcPts val="1200"/>
              </a:spcBef>
              <a:spcAft>
                <a:spcPts val="0"/>
              </a:spcAft>
              <a:buClr>
                <a:schemeClr val="lt1"/>
              </a:buClr>
              <a:buSzPts val="1260"/>
              <a:buChar char="–"/>
              <a:defRPr sz="1400">
                <a:solidFill>
                  <a:schemeClr val="lt1"/>
                </a:solidFill>
              </a:defRPr>
            </a:lvl3pPr>
            <a:lvl4pPr marL="1828800" lvl="3" indent="-297180" algn="l">
              <a:lnSpc>
                <a:spcPct val="100000"/>
              </a:lnSpc>
              <a:spcBef>
                <a:spcPts val="1200"/>
              </a:spcBef>
              <a:spcAft>
                <a:spcPts val="0"/>
              </a:spcAft>
              <a:buClr>
                <a:schemeClr val="lt1"/>
              </a:buClr>
              <a:buSzPts val="1080"/>
              <a:buChar char="•"/>
              <a:defRPr sz="1200">
                <a:solidFill>
                  <a:schemeClr val="lt1"/>
                </a:solidFill>
              </a:defRPr>
            </a:lvl4pPr>
            <a:lvl5pPr marL="2286000" lvl="4" indent="-297180" algn="l">
              <a:lnSpc>
                <a:spcPct val="100000"/>
              </a:lnSpc>
              <a:spcBef>
                <a:spcPts val="1200"/>
              </a:spcBef>
              <a:spcAft>
                <a:spcPts val="0"/>
              </a:spcAft>
              <a:buClr>
                <a:schemeClr val="lt1"/>
              </a:buClr>
              <a:buSzPts val="1080"/>
              <a:buChar char="–"/>
              <a:defRPr sz="1200">
                <a:solidFill>
                  <a:schemeClr val="lt1"/>
                </a:solidFill>
              </a:defRPr>
            </a:lvl5pPr>
            <a:lvl6pPr marL="2743200" lvl="5" indent="-331470" algn="l">
              <a:lnSpc>
                <a:spcPct val="100000"/>
              </a:lnSpc>
              <a:spcBef>
                <a:spcPts val="1200"/>
              </a:spcBef>
              <a:spcAft>
                <a:spcPts val="0"/>
              </a:spcAft>
              <a:buClr>
                <a:schemeClr val="lt1"/>
              </a:buClr>
              <a:buSzPts val="1620"/>
              <a:buChar char="•"/>
              <a:defRPr sz="1800">
                <a:solidFill>
                  <a:schemeClr val="lt1"/>
                </a:solidFill>
              </a:defRPr>
            </a:lvl6pPr>
            <a:lvl7pPr marL="3200400" lvl="6" indent="-308610" algn="l">
              <a:lnSpc>
                <a:spcPct val="100000"/>
              </a:lnSpc>
              <a:spcBef>
                <a:spcPts val="1200"/>
              </a:spcBef>
              <a:spcAft>
                <a:spcPts val="0"/>
              </a:spcAft>
              <a:buClr>
                <a:schemeClr val="lt1"/>
              </a:buClr>
              <a:buSzPts val="1260"/>
              <a:buChar char="-"/>
              <a:defRPr sz="1400">
                <a:solidFill>
                  <a:schemeClr val="lt1"/>
                </a:solidFill>
              </a:defRPr>
            </a:lvl7pPr>
            <a:lvl8pPr marL="3657600" lvl="7" indent="-297180" algn="l">
              <a:lnSpc>
                <a:spcPct val="100000"/>
              </a:lnSpc>
              <a:spcBef>
                <a:spcPts val="1200"/>
              </a:spcBef>
              <a:spcAft>
                <a:spcPts val="0"/>
              </a:spcAft>
              <a:buClr>
                <a:schemeClr val="lt1"/>
              </a:buClr>
              <a:buSzPts val="1080"/>
              <a:buChar char="•"/>
              <a:defRPr sz="1200">
                <a:solidFill>
                  <a:schemeClr val="lt1"/>
                </a:solidFill>
              </a:defRPr>
            </a:lvl8pPr>
            <a:lvl9pPr marL="4114800" lvl="8" indent="-331470" algn="l">
              <a:lnSpc>
                <a:spcPct val="100000"/>
              </a:lnSpc>
              <a:spcBef>
                <a:spcPts val="1200"/>
              </a:spcBef>
              <a:spcAft>
                <a:spcPts val="1200"/>
              </a:spcAft>
              <a:buClr>
                <a:schemeClr val="lt1"/>
              </a:buClr>
              <a:buSzPts val="1620"/>
              <a:buChar char="-"/>
              <a:defRPr sz="1800">
                <a:solidFill>
                  <a:schemeClr val="lt1"/>
                </a:solidFill>
              </a:defRPr>
            </a:lvl9pPr>
          </a:lstStyle>
          <a:p>
            <a:endParaRPr/>
          </a:p>
        </p:txBody>
      </p:sp>
    </p:spTree>
    <p:extLst>
      <p:ext uri="{BB962C8B-B14F-4D97-AF65-F5344CB8AC3E}">
        <p14:creationId xmlns:p14="http://schemas.microsoft.com/office/powerpoint/2010/main" val="1158626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wo-Content Balanced Color on Left">
  <p:cSld name="1_Two-Content Balanced Color on Left">
    <p:spTree>
      <p:nvGrpSpPr>
        <p:cNvPr id="1" name="Shape 128"/>
        <p:cNvGrpSpPr/>
        <p:nvPr/>
      </p:nvGrpSpPr>
      <p:grpSpPr>
        <a:xfrm>
          <a:off x="0" y="0"/>
          <a:ext cx="0" cy="0"/>
          <a:chOff x="0" y="0"/>
          <a:chExt cx="0" cy="0"/>
        </a:xfrm>
      </p:grpSpPr>
      <p:sp>
        <p:nvSpPr>
          <p:cNvPr id="129" name="Google Shape;129;p161"/>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0" name="Google Shape;130;p161"/>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2000">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2000"/>
            </a:lvl2pPr>
            <a:lvl3pPr lvl="2" algn="ctr">
              <a:lnSpc>
                <a:spcPct val="100000"/>
              </a:lnSpc>
              <a:spcBef>
                <a:spcPts val="1200"/>
              </a:spcBef>
              <a:spcAft>
                <a:spcPts val="0"/>
              </a:spcAft>
              <a:buSzPts val="1620"/>
              <a:buNone/>
              <a:defRPr sz="1800"/>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131" name="Google Shape;131;p161"/>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132" name="Google Shape;132;p161"/>
          <p:cNvSpPr txBox="1">
            <a:spLocks noGrp="1"/>
          </p:cNvSpPr>
          <p:nvPr>
            <p:ph type="body" idx="2"/>
          </p:nvPr>
        </p:nvSpPr>
        <p:spPr>
          <a:xfrm>
            <a:off x="6323381" y="1600201"/>
            <a:ext cx="5865445" cy="4572000"/>
          </a:xfrm>
          <a:prstGeom prst="rect">
            <a:avLst/>
          </a:prstGeom>
          <a:noFill/>
          <a:ln>
            <a:noFill/>
          </a:ln>
        </p:spPr>
        <p:txBody>
          <a:bodyPr spcFirstLastPara="1" wrap="square" lIns="457200" tIns="457200" rIns="457200" bIns="457200" anchor="t" anchorCtr="0">
            <a:noAutofit/>
          </a:bodyPr>
          <a:lstStyle>
            <a:lvl1pPr marL="457200" lvl="0" indent="-331470" algn="l">
              <a:lnSpc>
                <a:spcPct val="100000"/>
              </a:lnSpc>
              <a:spcBef>
                <a:spcPts val="0"/>
              </a:spcBef>
              <a:spcAft>
                <a:spcPts val="0"/>
              </a:spcAft>
              <a:buSzPts val="1620"/>
              <a:buChar char="​"/>
              <a:defRPr sz="1800">
                <a:solidFill>
                  <a:schemeClr val="dk1"/>
                </a:solidFill>
              </a:defRPr>
            </a:lvl1pPr>
            <a:lvl2pPr marL="914400" lvl="1" indent="-320040" algn="l">
              <a:lnSpc>
                <a:spcPct val="100000"/>
              </a:lnSpc>
              <a:spcBef>
                <a:spcPts val="1200"/>
              </a:spcBef>
              <a:spcAft>
                <a:spcPts val="0"/>
              </a:spcAft>
              <a:buSzPts val="1440"/>
              <a:buChar char="•"/>
              <a:defRPr sz="1600">
                <a:solidFill>
                  <a:schemeClr val="dk1"/>
                </a:solidFill>
              </a:defRPr>
            </a:lvl2pPr>
            <a:lvl3pPr marL="1371600" lvl="2" indent="-308610" algn="l">
              <a:lnSpc>
                <a:spcPct val="100000"/>
              </a:lnSpc>
              <a:spcBef>
                <a:spcPts val="1200"/>
              </a:spcBef>
              <a:spcAft>
                <a:spcPts val="0"/>
              </a:spcAft>
              <a:buSzPts val="1260"/>
              <a:buChar char="–"/>
              <a:defRPr sz="1400">
                <a:solidFill>
                  <a:schemeClr val="dk1"/>
                </a:solidFill>
              </a:defRPr>
            </a:lvl3pPr>
            <a:lvl4pPr marL="1828800" lvl="3" indent="-297180" algn="l">
              <a:lnSpc>
                <a:spcPct val="100000"/>
              </a:lnSpc>
              <a:spcBef>
                <a:spcPts val="1200"/>
              </a:spcBef>
              <a:spcAft>
                <a:spcPts val="0"/>
              </a:spcAft>
              <a:buSzPts val="1080"/>
              <a:buChar char="•"/>
              <a:defRPr sz="1200">
                <a:solidFill>
                  <a:schemeClr val="dk1"/>
                </a:solidFill>
              </a:defRPr>
            </a:lvl4pPr>
            <a:lvl5pPr marL="2286000" lvl="4" indent="-297180" algn="l">
              <a:lnSpc>
                <a:spcPct val="100000"/>
              </a:lnSpc>
              <a:spcBef>
                <a:spcPts val="1200"/>
              </a:spcBef>
              <a:spcAft>
                <a:spcPts val="0"/>
              </a:spcAft>
              <a:buSzPts val="1080"/>
              <a:buChar char="–"/>
              <a:defRPr sz="1200">
                <a:solidFill>
                  <a:schemeClr val="dk1"/>
                </a:solidFill>
              </a:defRPr>
            </a:lvl5pPr>
            <a:lvl6pPr marL="2743200" lvl="5" indent="-308610" algn="l">
              <a:lnSpc>
                <a:spcPct val="100000"/>
              </a:lnSpc>
              <a:spcBef>
                <a:spcPts val="1200"/>
              </a:spcBef>
              <a:spcAft>
                <a:spcPts val="0"/>
              </a:spcAft>
              <a:buSzPts val="1260"/>
              <a:buChar char="•"/>
              <a:defRPr>
                <a:solidFill>
                  <a:schemeClr val="dk1"/>
                </a:solidFill>
              </a:defRPr>
            </a:lvl6pPr>
            <a:lvl7pPr marL="3200400" lvl="6" indent="-308610" algn="l">
              <a:lnSpc>
                <a:spcPct val="100000"/>
              </a:lnSpc>
              <a:spcBef>
                <a:spcPts val="1200"/>
              </a:spcBef>
              <a:spcAft>
                <a:spcPts val="0"/>
              </a:spcAft>
              <a:buSzPts val="1260"/>
              <a:buChar char="-"/>
              <a:defRPr>
                <a:solidFill>
                  <a:schemeClr val="dk1"/>
                </a:solidFill>
              </a:defRPr>
            </a:lvl7pPr>
            <a:lvl8pPr marL="3657600" lvl="7" indent="-308610" algn="l">
              <a:lnSpc>
                <a:spcPct val="100000"/>
              </a:lnSpc>
              <a:spcBef>
                <a:spcPts val="1200"/>
              </a:spcBef>
              <a:spcAft>
                <a:spcPts val="0"/>
              </a:spcAft>
              <a:buSzPts val="1260"/>
              <a:buChar char="•"/>
              <a:defRPr>
                <a:solidFill>
                  <a:schemeClr val="dk1"/>
                </a:solidFill>
              </a:defRPr>
            </a:lvl8pPr>
            <a:lvl9pPr marL="4114800" lvl="8" indent="-308610" algn="l">
              <a:lnSpc>
                <a:spcPct val="100000"/>
              </a:lnSpc>
              <a:spcBef>
                <a:spcPts val="1200"/>
              </a:spcBef>
              <a:spcAft>
                <a:spcPts val="1200"/>
              </a:spcAft>
              <a:buSzPts val="1260"/>
              <a:buChar char="-"/>
              <a:defRPr>
                <a:solidFill>
                  <a:schemeClr val="dk1"/>
                </a:solidFill>
              </a:defRPr>
            </a:lvl9pPr>
          </a:lstStyle>
          <a:p>
            <a:endParaRPr/>
          </a:p>
        </p:txBody>
      </p:sp>
      <p:sp>
        <p:nvSpPr>
          <p:cNvPr id="133" name="Google Shape;133;p161"/>
          <p:cNvSpPr txBox="1">
            <a:spLocks noGrp="1"/>
          </p:cNvSpPr>
          <p:nvPr>
            <p:ph type="body" idx="3"/>
          </p:nvPr>
        </p:nvSpPr>
        <p:spPr>
          <a:xfrm>
            <a:off x="0" y="1600201"/>
            <a:ext cx="5893593" cy="4572000"/>
          </a:xfrm>
          <a:prstGeom prst="rect">
            <a:avLst/>
          </a:prstGeom>
          <a:solidFill>
            <a:srgbClr val="F4F8FA"/>
          </a:solidFill>
          <a:ln>
            <a:noFill/>
          </a:ln>
        </p:spPr>
        <p:txBody>
          <a:bodyPr spcFirstLastPara="1" wrap="square" lIns="594350" tIns="457200" rIns="457200" bIns="457200" anchor="t" anchorCtr="0">
            <a:noAutofit/>
          </a:bodyPr>
          <a:lstStyle>
            <a:lvl1pPr marL="457200" lvl="0" indent="-331470" algn="l">
              <a:lnSpc>
                <a:spcPct val="100000"/>
              </a:lnSpc>
              <a:spcBef>
                <a:spcPts val="0"/>
              </a:spcBef>
              <a:spcAft>
                <a:spcPts val="0"/>
              </a:spcAft>
              <a:buSzPts val="1620"/>
              <a:buChar char="​"/>
              <a:defRPr sz="1800">
                <a:solidFill>
                  <a:schemeClr val="dk1"/>
                </a:solidFill>
              </a:defRPr>
            </a:lvl1pPr>
            <a:lvl2pPr marL="914400" lvl="1" indent="-320040" algn="l">
              <a:lnSpc>
                <a:spcPct val="100000"/>
              </a:lnSpc>
              <a:spcBef>
                <a:spcPts val="1200"/>
              </a:spcBef>
              <a:spcAft>
                <a:spcPts val="0"/>
              </a:spcAft>
              <a:buSzPts val="1440"/>
              <a:buChar char="•"/>
              <a:defRPr sz="1600">
                <a:solidFill>
                  <a:schemeClr val="dk1"/>
                </a:solidFill>
              </a:defRPr>
            </a:lvl2pPr>
            <a:lvl3pPr marL="1371600" lvl="2" indent="-308610" algn="l">
              <a:lnSpc>
                <a:spcPct val="100000"/>
              </a:lnSpc>
              <a:spcBef>
                <a:spcPts val="1200"/>
              </a:spcBef>
              <a:spcAft>
                <a:spcPts val="0"/>
              </a:spcAft>
              <a:buSzPts val="1260"/>
              <a:buChar char="–"/>
              <a:defRPr sz="1400">
                <a:solidFill>
                  <a:schemeClr val="dk1"/>
                </a:solidFill>
              </a:defRPr>
            </a:lvl3pPr>
            <a:lvl4pPr marL="1828800" lvl="3" indent="-297180" algn="l">
              <a:lnSpc>
                <a:spcPct val="100000"/>
              </a:lnSpc>
              <a:spcBef>
                <a:spcPts val="1200"/>
              </a:spcBef>
              <a:spcAft>
                <a:spcPts val="0"/>
              </a:spcAft>
              <a:buSzPts val="1080"/>
              <a:buChar char="•"/>
              <a:defRPr sz="1200">
                <a:solidFill>
                  <a:schemeClr val="dk1"/>
                </a:solidFill>
              </a:defRPr>
            </a:lvl4pPr>
            <a:lvl5pPr marL="2286000" lvl="4" indent="-297180" algn="l">
              <a:lnSpc>
                <a:spcPct val="100000"/>
              </a:lnSpc>
              <a:spcBef>
                <a:spcPts val="1200"/>
              </a:spcBef>
              <a:spcAft>
                <a:spcPts val="0"/>
              </a:spcAft>
              <a:buSzPts val="1080"/>
              <a:buChar char="–"/>
              <a:defRPr sz="1200">
                <a:solidFill>
                  <a:schemeClr val="dk1"/>
                </a:solidFill>
              </a:defRPr>
            </a:lvl5pPr>
            <a:lvl6pPr marL="2743200" lvl="5" indent="-308610" algn="l">
              <a:lnSpc>
                <a:spcPct val="100000"/>
              </a:lnSpc>
              <a:spcBef>
                <a:spcPts val="1200"/>
              </a:spcBef>
              <a:spcAft>
                <a:spcPts val="0"/>
              </a:spcAft>
              <a:buSzPts val="1260"/>
              <a:buChar char="•"/>
              <a:defRPr>
                <a:solidFill>
                  <a:schemeClr val="dk1"/>
                </a:solidFill>
              </a:defRPr>
            </a:lvl6pPr>
            <a:lvl7pPr marL="3200400" lvl="6" indent="-308610" algn="l">
              <a:lnSpc>
                <a:spcPct val="100000"/>
              </a:lnSpc>
              <a:spcBef>
                <a:spcPts val="1200"/>
              </a:spcBef>
              <a:spcAft>
                <a:spcPts val="0"/>
              </a:spcAft>
              <a:buSzPts val="1260"/>
              <a:buChar char="-"/>
              <a:defRPr>
                <a:solidFill>
                  <a:schemeClr val="dk1"/>
                </a:solidFill>
              </a:defRPr>
            </a:lvl7pPr>
            <a:lvl8pPr marL="3657600" lvl="7" indent="-308610" algn="l">
              <a:lnSpc>
                <a:spcPct val="100000"/>
              </a:lnSpc>
              <a:spcBef>
                <a:spcPts val="1200"/>
              </a:spcBef>
              <a:spcAft>
                <a:spcPts val="0"/>
              </a:spcAft>
              <a:buSzPts val="1260"/>
              <a:buChar char="•"/>
              <a:defRPr>
                <a:solidFill>
                  <a:schemeClr val="dk1"/>
                </a:solidFill>
              </a:defRPr>
            </a:lvl8pPr>
            <a:lvl9pPr marL="4114800" lvl="8" indent="-308610" algn="l">
              <a:lnSpc>
                <a:spcPct val="100000"/>
              </a:lnSpc>
              <a:spcBef>
                <a:spcPts val="1200"/>
              </a:spcBef>
              <a:spcAft>
                <a:spcPts val="1200"/>
              </a:spcAft>
              <a:buSzPts val="1260"/>
              <a:buChar char="-"/>
              <a:defRPr>
                <a:solidFill>
                  <a:schemeClr val="dk1"/>
                </a:solidFill>
              </a:defRPr>
            </a:lvl9pPr>
          </a:lstStyle>
          <a:p>
            <a:endParaRPr/>
          </a:p>
        </p:txBody>
      </p:sp>
      <p:sp>
        <p:nvSpPr>
          <p:cNvPr id="134" name="Google Shape;134;p161"/>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Tree>
    <p:extLst>
      <p:ext uri="{BB962C8B-B14F-4D97-AF65-F5344CB8AC3E}">
        <p14:creationId xmlns:p14="http://schemas.microsoft.com/office/powerpoint/2010/main" val="20648243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wo-Content Balanced Color on Right">
  <p:cSld name="1_Two-Content Balanced Color on Right">
    <p:spTree>
      <p:nvGrpSpPr>
        <p:cNvPr id="1" name="Shape 177"/>
        <p:cNvGrpSpPr/>
        <p:nvPr/>
      </p:nvGrpSpPr>
      <p:grpSpPr>
        <a:xfrm>
          <a:off x="0" y="0"/>
          <a:ext cx="0" cy="0"/>
          <a:chOff x="0" y="0"/>
          <a:chExt cx="0" cy="0"/>
        </a:xfrm>
      </p:grpSpPr>
      <p:sp>
        <p:nvSpPr>
          <p:cNvPr id="178" name="Google Shape;178;p170"/>
          <p:cNvSpPr txBox="1">
            <a:spLocks noGrp="1"/>
          </p:cNvSpPr>
          <p:nvPr>
            <p:ph type="body" idx="1"/>
          </p:nvPr>
        </p:nvSpPr>
        <p:spPr>
          <a:xfrm>
            <a:off x="6323381" y="1600201"/>
            <a:ext cx="5865445" cy="4572000"/>
          </a:xfrm>
          <a:prstGeom prst="rect">
            <a:avLst/>
          </a:prstGeom>
          <a:solidFill>
            <a:srgbClr val="F4F8FA"/>
          </a:solidFill>
          <a:ln>
            <a:noFill/>
          </a:ln>
        </p:spPr>
        <p:txBody>
          <a:bodyPr spcFirstLastPara="1" wrap="square" lIns="457200" tIns="457200" rIns="457200" bIns="457200" anchor="t" anchorCtr="0">
            <a:noAutofit/>
          </a:bodyPr>
          <a:lstStyle>
            <a:lvl1pPr marL="457200" lvl="0" indent="-331470" algn="l">
              <a:lnSpc>
                <a:spcPct val="100000"/>
              </a:lnSpc>
              <a:spcBef>
                <a:spcPts val="0"/>
              </a:spcBef>
              <a:spcAft>
                <a:spcPts val="0"/>
              </a:spcAft>
              <a:buSzPts val="1620"/>
              <a:buChar char="​"/>
              <a:defRPr sz="1800">
                <a:solidFill>
                  <a:schemeClr val="dk1"/>
                </a:solidFill>
              </a:defRPr>
            </a:lvl1pPr>
            <a:lvl2pPr marL="914400" lvl="1" indent="-320040" algn="l">
              <a:lnSpc>
                <a:spcPct val="100000"/>
              </a:lnSpc>
              <a:spcBef>
                <a:spcPts val="1200"/>
              </a:spcBef>
              <a:spcAft>
                <a:spcPts val="0"/>
              </a:spcAft>
              <a:buSzPts val="1440"/>
              <a:buChar char="•"/>
              <a:defRPr sz="1600">
                <a:solidFill>
                  <a:schemeClr val="dk1"/>
                </a:solidFill>
              </a:defRPr>
            </a:lvl2pPr>
            <a:lvl3pPr marL="1371600" lvl="2" indent="-308610" algn="l">
              <a:lnSpc>
                <a:spcPct val="100000"/>
              </a:lnSpc>
              <a:spcBef>
                <a:spcPts val="1200"/>
              </a:spcBef>
              <a:spcAft>
                <a:spcPts val="0"/>
              </a:spcAft>
              <a:buSzPts val="1260"/>
              <a:buChar char="–"/>
              <a:defRPr sz="1400">
                <a:solidFill>
                  <a:schemeClr val="dk1"/>
                </a:solidFill>
              </a:defRPr>
            </a:lvl3pPr>
            <a:lvl4pPr marL="1828800" lvl="3" indent="-297180" algn="l">
              <a:lnSpc>
                <a:spcPct val="100000"/>
              </a:lnSpc>
              <a:spcBef>
                <a:spcPts val="1200"/>
              </a:spcBef>
              <a:spcAft>
                <a:spcPts val="0"/>
              </a:spcAft>
              <a:buSzPts val="1080"/>
              <a:buChar char="•"/>
              <a:defRPr sz="1200">
                <a:solidFill>
                  <a:schemeClr val="dk1"/>
                </a:solidFill>
              </a:defRPr>
            </a:lvl4pPr>
            <a:lvl5pPr marL="2286000" lvl="4" indent="-297180" algn="l">
              <a:lnSpc>
                <a:spcPct val="100000"/>
              </a:lnSpc>
              <a:spcBef>
                <a:spcPts val="1200"/>
              </a:spcBef>
              <a:spcAft>
                <a:spcPts val="0"/>
              </a:spcAft>
              <a:buSzPts val="1080"/>
              <a:buChar char="–"/>
              <a:defRPr sz="1200">
                <a:solidFill>
                  <a:schemeClr val="dk1"/>
                </a:solidFill>
              </a:defRPr>
            </a:lvl5pPr>
            <a:lvl6pPr marL="2743200" lvl="5" indent="-308610" algn="l">
              <a:lnSpc>
                <a:spcPct val="100000"/>
              </a:lnSpc>
              <a:spcBef>
                <a:spcPts val="1200"/>
              </a:spcBef>
              <a:spcAft>
                <a:spcPts val="0"/>
              </a:spcAft>
              <a:buSzPts val="1260"/>
              <a:buChar char="•"/>
              <a:defRPr>
                <a:solidFill>
                  <a:schemeClr val="dk1"/>
                </a:solidFill>
              </a:defRPr>
            </a:lvl6pPr>
            <a:lvl7pPr marL="3200400" lvl="6" indent="-308610" algn="l">
              <a:lnSpc>
                <a:spcPct val="100000"/>
              </a:lnSpc>
              <a:spcBef>
                <a:spcPts val="1200"/>
              </a:spcBef>
              <a:spcAft>
                <a:spcPts val="0"/>
              </a:spcAft>
              <a:buSzPts val="1260"/>
              <a:buChar char="-"/>
              <a:defRPr>
                <a:solidFill>
                  <a:schemeClr val="dk1"/>
                </a:solidFill>
              </a:defRPr>
            </a:lvl7pPr>
            <a:lvl8pPr marL="3657600" lvl="7" indent="-308610" algn="l">
              <a:lnSpc>
                <a:spcPct val="100000"/>
              </a:lnSpc>
              <a:spcBef>
                <a:spcPts val="1200"/>
              </a:spcBef>
              <a:spcAft>
                <a:spcPts val="0"/>
              </a:spcAft>
              <a:buSzPts val="1260"/>
              <a:buChar char="•"/>
              <a:defRPr>
                <a:solidFill>
                  <a:schemeClr val="dk1"/>
                </a:solidFill>
              </a:defRPr>
            </a:lvl8pPr>
            <a:lvl9pPr marL="4114800" lvl="8" indent="-308610" algn="l">
              <a:lnSpc>
                <a:spcPct val="100000"/>
              </a:lnSpc>
              <a:spcBef>
                <a:spcPts val="1200"/>
              </a:spcBef>
              <a:spcAft>
                <a:spcPts val="1200"/>
              </a:spcAft>
              <a:buSzPts val="1260"/>
              <a:buChar char="-"/>
              <a:defRPr>
                <a:solidFill>
                  <a:schemeClr val="dk1"/>
                </a:solidFill>
              </a:defRPr>
            </a:lvl9pPr>
          </a:lstStyle>
          <a:p>
            <a:endParaRPr/>
          </a:p>
        </p:txBody>
      </p:sp>
      <p:sp>
        <p:nvSpPr>
          <p:cNvPr id="179" name="Google Shape;179;p170"/>
          <p:cNvSpPr txBox="1">
            <a:spLocks noGrp="1"/>
          </p:cNvSpPr>
          <p:nvPr>
            <p:ph type="subTitle" idx="2"/>
          </p:nvPr>
        </p:nvSpPr>
        <p:spPr>
          <a:xfrm>
            <a:off x="592866" y="811830"/>
            <a:ext cx="10962687" cy="247743"/>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2000">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2000"/>
            </a:lvl2pPr>
            <a:lvl3pPr lvl="2" algn="ctr">
              <a:lnSpc>
                <a:spcPct val="100000"/>
              </a:lnSpc>
              <a:spcBef>
                <a:spcPts val="1200"/>
              </a:spcBef>
              <a:spcAft>
                <a:spcPts val="0"/>
              </a:spcAft>
              <a:buSzPts val="1620"/>
              <a:buNone/>
              <a:defRPr sz="1800"/>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180" name="Google Shape;180;p170"/>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1" name="Google Shape;181;p170"/>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182" name="Google Shape;182;p170"/>
          <p:cNvSpPr txBox="1">
            <a:spLocks noGrp="1"/>
          </p:cNvSpPr>
          <p:nvPr>
            <p:ph type="body" idx="3"/>
          </p:nvPr>
        </p:nvSpPr>
        <p:spPr>
          <a:xfrm>
            <a:off x="0" y="1600201"/>
            <a:ext cx="5893593" cy="4572000"/>
          </a:xfrm>
          <a:prstGeom prst="rect">
            <a:avLst/>
          </a:prstGeom>
          <a:noFill/>
          <a:ln>
            <a:noFill/>
          </a:ln>
        </p:spPr>
        <p:txBody>
          <a:bodyPr spcFirstLastPara="1" wrap="square" lIns="594350" tIns="457200" rIns="457200" bIns="457200" anchor="t" anchorCtr="0">
            <a:noAutofit/>
          </a:bodyPr>
          <a:lstStyle>
            <a:lvl1pPr marL="457200" lvl="0" indent="-331470" algn="l">
              <a:lnSpc>
                <a:spcPct val="100000"/>
              </a:lnSpc>
              <a:spcBef>
                <a:spcPts val="0"/>
              </a:spcBef>
              <a:spcAft>
                <a:spcPts val="0"/>
              </a:spcAft>
              <a:buSzPts val="1620"/>
              <a:buChar char="​"/>
              <a:defRPr sz="1800">
                <a:solidFill>
                  <a:schemeClr val="dk1"/>
                </a:solidFill>
              </a:defRPr>
            </a:lvl1pPr>
            <a:lvl2pPr marL="914400" lvl="1" indent="-320040" algn="l">
              <a:lnSpc>
                <a:spcPct val="100000"/>
              </a:lnSpc>
              <a:spcBef>
                <a:spcPts val="1200"/>
              </a:spcBef>
              <a:spcAft>
                <a:spcPts val="0"/>
              </a:spcAft>
              <a:buSzPts val="1440"/>
              <a:buChar char="•"/>
              <a:defRPr sz="1600">
                <a:solidFill>
                  <a:schemeClr val="dk1"/>
                </a:solidFill>
              </a:defRPr>
            </a:lvl2pPr>
            <a:lvl3pPr marL="1371600" lvl="2" indent="-308610" algn="l">
              <a:lnSpc>
                <a:spcPct val="100000"/>
              </a:lnSpc>
              <a:spcBef>
                <a:spcPts val="1200"/>
              </a:spcBef>
              <a:spcAft>
                <a:spcPts val="0"/>
              </a:spcAft>
              <a:buSzPts val="1260"/>
              <a:buChar char="–"/>
              <a:defRPr sz="1400">
                <a:solidFill>
                  <a:schemeClr val="dk1"/>
                </a:solidFill>
              </a:defRPr>
            </a:lvl3pPr>
            <a:lvl4pPr marL="1828800" lvl="3" indent="-297180" algn="l">
              <a:lnSpc>
                <a:spcPct val="100000"/>
              </a:lnSpc>
              <a:spcBef>
                <a:spcPts val="1200"/>
              </a:spcBef>
              <a:spcAft>
                <a:spcPts val="0"/>
              </a:spcAft>
              <a:buSzPts val="1080"/>
              <a:buChar char="•"/>
              <a:defRPr sz="1200">
                <a:solidFill>
                  <a:schemeClr val="dk1"/>
                </a:solidFill>
              </a:defRPr>
            </a:lvl4pPr>
            <a:lvl5pPr marL="2286000" lvl="4" indent="-297180" algn="l">
              <a:lnSpc>
                <a:spcPct val="100000"/>
              </a:lnSpc>
              <a:spcBef>
                <a:spcPts val="1200"/>
              </a:spcBef>
              <a:spcAft>
                <a:spcPts val="0"/>
              </a:spcAft>
              <a:buSzPts val="1080"/>
              <a:buChar char="–"/>
              <a:defRPr sz="1200">
                <a:solidFill>
                  <a:schemeClr val="dk1"/>
                </a:solidFill>
              </a:defRPr>
            </a:lvl5pPr>
            <a:lvl6pPr marL="2743200" lvl="5" indent="-308610" algn="l">
              <a:lnSpc>
                <a:spcPct val="100000"/>
              </a:lnSpc>
              <a:spcBef>
                <a:spcPts val="1200"/>
              </a:spcBef>
              <a:spcAft>
                <a:spcPts val="0"/>
              </a:spcAft>
              <a:buSzPts val="1260"/>
              <a:buChar char="•"/>
              <a:defRPr>
                <a:solidFill>
                  <a:schemeClr val="dk1"/>
                </a:solidFill>
              </a:defRPr>
            </a:lvl6pPr>
            <a:lvl7pPr marL="3200400" lvl="6" indent="-308610" algn="l">
              <a:lnSpc>
                <a:spcPct val="100000"/>
              </a:lnSpc>
              <a:spcBef>
                <a:spcPts val="1200"/>
              </a:spcBef>
              <a:spcAft>
                <a:spcPts val="0"/>
              </a:spcAft>
              <a:buSzPts val="1260"/>
              <a:buChar char="-"/>
              <a:defRPr>
                <a:solidFill>
                  <a:schemeClr val="dk1"/>
                </a:solidFill>
              </a:defRPr>
            </a:lvl7pPr>
            <a:lvl8pPr marL="3657600" lvl="7" indent="-308610" algn="l">
              <a:lnSpc>
                <a:spcPct val="100000"/>
              </a:lnSpc>
              <a:spcBef>
                <a:spcPts val="1200"/>
              </a:spcBef>
              <a:spcAft>
                <a:spcPts val="0"/>
              </a:spcAft>
              <a:buSzPts val="1260"/>
              <a:buChar char="•"/>
              <a:defRPr>
                <a:solidFill>
                  <a:schemeClr val="dk1"/>
                </a:solidFill>
              </a:defRPr>
            </a:lvl8pPr>
            <a:lvl9pPr marL="4114800" lvl="8" indent="-308610" algn="l">
              <a:lnSpc>
                <a:spcPct val="100000"/>
              </a:lnSpc>
              <a:spcBef>
                <a:spcPts val="1200"/>
              </a:spcBef>
              <a:spcAft>
                <a:spcPts val="1200"/>
              </a:spcAft>
              <a:buSzPts val="1260"/>
              <a:buChar char="-"/>
              <a:defRPr>
                <a:solidFill>
                  <a:schemeClr val="dk1"/>
                </a:solidFill>
              </a:defRPr>
            </a:lvl9pPr>
          </a:lstStyle>
          <a:p>
            <a:endParaRPr/>
          </a:p>
        </p:txBody>
      </p:sp>
      <p:sp>
        <p:nvSpPr>
          <p:cNvPr id="183" name="Google Shape;183;p170"/>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Tree>
    <p:extLst>
      <p:ext uri="{BB962C8B-B14F-4D97-AF65-F5344CB8AC3E}">
        <p14:creationId xmlns:p14="http://schemas.microsoft.com/office/powerpoint/2010/main" val="5849114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matchingName="Section Header - Big Photo">
  <p:cSld name="Section Header - Big Photo">
    <p:bg>
      <p:bgPr>
        <a:blipFill>
          <a:blip r:embed="rId2">
            <a:alphaModFix/>
          </a:blip>
          <a:stretch>
            <a:fillRect/>
          </a:stretch>
        </a:blipFill>
        <a:effectLst/>
      </p:bgPr>
    </p:bg>
    <p:spTree>
      <p:nvGrpSpPr>
        <p:cNvPr id="1" name="Shape 254"/>
        <p:cNvGrpSpPr/>
        <p:nvPr/>
      </p:nvGrpSpPr>
      <p:grpSpPr>
        <a:xfrm>
          <a:off x="0" y="0"/>
          <a:ext cx="0" cy="0"/>
          <a:chOff x="0" y="0"/>
          <a:chExt cx="0" cy="0"/>
        </a:xfrm>
      </p:grpSpPr>
      <p:sp>
        <p:nvSpPr>
          <p:cNvPr id="255" name="Google Shape;255;p128"/>
          <p:cNvSpPr/>
          <p:nvPr/>
        </p:nvSpPr>
        <p:spPr>
          <a:xfrm rot="2700000">
            <a:off x="298211" y="-4053279"/>
            <a:ext cx="6293364" cy="12454818"/>
          </a:xfrm>
          <a:custGeom>
            <a:avLst/>
            <a:gdLst/>
            <a:ahLst/>
            <a:cxnLst/>
            <a:rect l="l" t="t" r="r" b="b"/>
            <a:pathLst>
              <a:path w="6293364" h="12454818" extrusionOk="0">
                <a:moveTo>
                  <a:pt x="0" y="6293364"/>
                </a:moveTo>
                <a:lnTo>
                  <a:pt x="6293364" y="0"/>
                </a:lnTo>
                <a:lnTo>
                  <a:pt x="6293364" y="9715045"/>
                </a:lnTo>
                <a:lnTo>
                  <a:pt x="3553591" y="12454818"/>
                </a:lnTo>
                <a:lnTo>
                  <a:pt x="0" y="8901227"/>
                </a:lnTo>
                <a:close/>
              </a:path>
            </a:pathLst>
          </a:custGeom>
          <a:gradFill>
            <a:gsLst>
              <a:gs pos="0">
                <a:srgbClr val="FFFFFF">
                  <a:alpha val="30980"/>
                </a:srgbClr>
              </a:gs>
              <a:gs pos="58000">
                <a:schemeClr val="lt1"/>
              </a:gs>
              <a:gs pos="100000">
                <a:schemeClr val="lt1"/>
              </a:gs>
            </a:gsLst>
            <a:lin ang="540000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lt1"/>
              </a:solidFill>
              <a:latin typeface="Arial"/>
              <a:ea typeface="Arial"/>
              <a:cs typeface="Arial"/>
              <a:sym typeface="Arial"/>
            </a:endParaRPr>
          </a:p>
        </p:txBody>
      </p:sp>
      <p:grpSp>
        <p:nvGrpSpPr>
          <p:cNvPr id="256" name="Google Shape;256;p128"/>
          <p:cNvGrpSpPr/>
          <p:nvPr/>
        </p:nvGrpSpPr>
        <p:grpSpPr>
          <a:xfrm>
            <a:off x="265625" y="6323271"/>
            <a:ext cx="1249222" cy="369649"/>
            <a:chOff x="265625" y="6323271"/>
            <a:chExt cx="1249222" cy="369649"/>
          </a:xfrm>
        </p:grpSpPr>
        <p:grpSp>
          <p:nvGrpSpPr>
            <p:cNvPr id="257" name="Google Shape;257;p128"/>
            <p:cNvGrpSpPr/>
            <p:nvPr/>
          </p:nvGrpSpPr>
          <p:grpSpPr>
            <a:xfrm>
              <a:off x="745455" y="6594444"/>
              <a:ext cx="722663" cy="98476"/>
              <a:chOff x="745455" y="6594444"/>
              <a:chExt cx="722663" cy="98476"/>
            </a:xfrm>
          </p:grpSpPr>
          <p:sp>
            <p:nvSpPr>
              <p:cNvPr id="258" name="Google Shape;258;p128"/>
              <p:cNvSpPr/>
              <p:nvPr/>
            </p:nvSpPr>
            <p:spPr>
              <a:xfrm>
                <a:off x="745455" y="6594444"/>
                <a:ext cx="55936" cy="81777"/>
              </a:xfrm>
              <a:custGeom>
                <a:avLst/>
                <a:gdLst/>
                <a:ahLst/>
                <a:cxnLst/>
                <a:rect l="l" t="t" r="r" b="b"/>
                <a:pathLst>
                  <a:path w="55936" h="81777" extrusionOk="0">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59" name="Google Shape;259;p128"/>
              <p:cNvSpPr/>
              <p:nvPr/>
            </p:nvSpPr>
            <p:spPr>
              <a:xfrm>
                <a:off x="809582" y="6618699"/>
                <a:ext cx="55872" cy="74221"/>
              </a:xfrm>
              <a:custGeom>
                <a:avLst/>
                <a:gdLst/>
                <a:ahLst/>
                <a:cxnLst/>
                <a:rect l="l" t="t" r="r" b="b"/>
                <a:pathLst>
                  <a:path w="55872" h="74221" extrusionOk="0">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0" name="Google Shape;260;p128"/>
              <p:cNvSpPr/>
              <p:nvPr/>
            </p:nvSpPr>
            <p:spPr>
              <a:xfrm>
                <a:off x="913010" y="6597746"/>
                <a:ext cx="64317" cy="77079"/>
              </a:xfrm>
              <a:custGeom>
                <a:avLst/>
                <a:gdLst/>
                <a:ahLst/>
                <a:cxnLst/>
                <a:rect l="l" t="t" r="r" b="b"/>
                <a:pathLst>
                  <a:path w="64317" h="77079" extrusionOk="0">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1" name="Google Shape;261;p128"/>
              <p:cNvSpPr/>
              <p:nvPr/>
            </p:nvSpPr>
            <p:spPr>
              <a:xfrm>
                <a:off x="991041" y="6615627"/>
                <a:ext cx="34095" cy="59325"/>
              </a:xfrm>
              <a:custGeom>
                <a:avLst/>
                <a:gdLst/>
                <a:ahLst/>
                <a:cxnLst/>
                <a:rect l="l" t="t" r="r" b="b"/>
                <a:pathLst>
                  <a:path w="34095" h="59325" extrusionOk="0">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2" name="Google Shape;262;p128"/>
              <p:cNvSpPr/>
              <p:nvPr/>
            </p:nvSpPr>
            <p:spPr>
              <a:xfrm>
                <a:off x="1031485"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3" name="Google Shape;263;p128"/>
              <p:cNvSpPr/>
              <p:nvPr/>
            </p:nvSpPr>
            <p:spPr>
              <a:xfrm>
                <a:off x="1103168" y="6615904"/>
                <a:ext cx="52698" cy="60190"/>
              </a:xfrm>
              <a:custGeom>
                <a:avLst/>
                <a:gdLst/>
                <a:ahLst/>
                <a:cxnLst/>
                <a:rect l="l" t="t" r="r" b="b"/>
                <a:pathLst>
                  <a:path w="52698" h="60190" extrusionOk="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4" name="Google Shape;264;p128"/>
              <p:cNvSpPr/>
              <p:nvPr/>
            </p:nvSpPr>
            <p:spPr>
              <a:xfrm>
                <a:off x="1168882" y="6594444"/>
                <a:ext cx="60253" cy="81713"/>
              </a:xfrm>
              <a:custGeom>
                <a:avLst/>
                <a:gdLst/>
                <a:ahLst/>
                <a:cxnLst/>
                <a:rect l="l" t="t" r="r" b="b"/>
                <a:pathLst>
                  <a:path w="60253" h="81713" extrusionOk="0">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5" name="Google Shape;265;p128"/>
              <p:cNvSpPr/>
              <p:nvPr/>
            </p:nvSpPr>
            <p:spPr>
              <a:xfrm>
                <a:off x="1242659" y="6615587"/>
                <a:ext cx="53904" cy="60762"/>
              </a:xfrm>
              <a:custGeom>
                <a:avLst/>
                <a:gdLst/>
                <a:ahLst/>
                <a:cxnLst/>
                <a:rect l="l" t="t" r="r" b="b"/>
                <a:pathLst>
                  <a:path w="53904" h="60762" extrusionOk="0">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6" name="Google Shape;266;p128"/>
              <p:cNvSpPr/>
              <p:nvPr/>
            </p:nvSpPr>
            <p:spPr>
              <a:xfrm>
                <a:off x="1303928"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67" name="Google Shape;267;p128"/>
              <p:cNvSpPr/>
              <p:nvPr/>
            </p:nvSpPr>
            <p:spPr>
              <a:xfrm>
                <a:off x="1379484" y="6615524"/>
                <a:ext cx="88634" cy="59554"/>
              </a:xfrm>
              <a:custGeom>
                <a:avLst/>
                <a:gdLst/>
                <a:ahLst/>
                <a:cxnLst/>
                <a:rect l="l" t="t" r="r" b="b"/>
                <a:pathLst>
                  <a:path w="88634" h="59554" extrusionOk="0">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268" name="Google Shape;268;p128"/>
            <p:cNvGrpSpPr/>
            <p:nvPr/>
          </p:nvGrpSpPr>
          <p:grpSpPr>
            <a:xfrm>
              <a:off x="265625" y="6323271"/>
              <a:ext cx="1249222" cy="190348"/>
              <a:chOff x="265625" y="6323271"/>
              <a:chExt cx="1249222" cy="190348"/>
            </a:xfrm>
          </p:grpSpPr>
          <p:sp>
            <p:nvSpPr>
              <p:cNvPr id="269" name="Google Shape;269;p128"/>
              <p:cNvSpPr/>
              <p:nvPr/>
            </p:nvSpPr>
            <p:spPr>
              <a:xfrm>
                <a:off x="745773" y="6327144"/>
                <a:ext cx="264126" cy="184633"/>
              </a:xfrm>
              <a:custGeom>
                <a:avLst/>
                <a:gdLst/>
                <a:ahLst/>
                <a:cxnLst/>
                <a:rect l="l" t="t" r="r" b="b"/>
                <a:pathLst>
                  <a:path w="264126" h="184633" extrusionOk="0">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70" name="Google Shape;270;p128"/>
              <p:cNvSpPr/>
              <p:nvPr/>
            </p:nvSpPr>
            <p:spPr>
              <a:xfrm>
                <a:off x="1200945" y="6326827"/>
                <a:ext cx="102285" cy="184697"/>
              </a:xfrm>
              <a:custGeom>
                <a:avLst/>
                <a:gdLst/>
                <a:ahLst/>
                <a:cxnLst/>
                <a:rect l="l" t="t" r="r" b="b"/>
                <a:pathLst>
                  <a:path w="102285" h="184697" extrusionOk="0">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71" name="Google Shape;271;p128"/>
              <p:cNvSpPr/>
              <p:nvPr/>
            </p:nvSpPr>
            <p:spPr>
              <a:xfrm>
                <a:off x="1301262" y="6326700"/>
                <a:ext cx="166856" cy="186538"/>
              </a:xfrm>
              <a:custGeom>
                <a:avLst/>
                <a:gdLst/>
                <a:ahLst/>
                <a:cxnLst/>
                <a:rect l="l" t="t" r="r" b="b"/>
                <a:pathLst>
                  <a:path w="166856" h="186538" extrusionOk="0">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72" name="Google Shape;272;p128"/>
              <p:cNvSpPr/>
              <p:nvPr/>
            </p:nvSpPr>
            <p:spPr>
              <a:xfrm>
                <a:off x="1010406" y="6327144"/>
                <a:ext cx="157967" cy="186157"/>
              </a:xfrm>
              <a:custGeom>
                <a:avLst/>
                <a:gdLst/>
                <a:ahLst/>
                <a:cxnLst/>
                <a:rect l="l" t="t" r="r" b="b"/>
                <a:pathLst>
                  <a:path w="157967" h="186157" extrusionOk="0">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73" name="Google Shape;273;p128"/>
              <p:cNvSpPr/>
              <p:nvPr/>
            </p:nvSpPr>
            <p:spPr>
              <a:xfrm>
                <a:off x="265625" y="6323271"/>
                <a:ext cx="468782" cy="190348"/>
              </a:xfrm>
              <a:custGeom>
                <a:avLst/>
                <a:gdLst/>
                <a:ahLst/>
                <a:cxnLst/>
                <a:rect l="l" t="t" r="r" b="b"/>
                <a:pathLst>
                  <a:path w="468782" h="190348" extrusionOk="0">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74" name="Google Shape;274;p128"/>
              <p:cNvSpPr/>
              <p:nvPr/>
            </p:nvSpPr>
            <p:spPr>
              <a:xfrm>
                <a:off x="1470340" y="6326700"/>
                <a:ext cx="44507" cy="44761"/>
              </a:xfrm>
              <a:custGeom>
                <a:avLst/>
                <a:gdLst/>
                <a:ahLst/>
                <a:cxnLst/>
                <a:rect l="l" t="t" r="r" b="b"/>
                <a:pathLst>
                  <a:path w="44507" h="44761" extrusionOk="0">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75" name="Google Shape;275;p128"/>
              <p:cNvSpPr/>
              <p:nvPr/>
            </p:nvSpPr>
            <p:spPr>
              <a:xfrm>
                <a:off x="1484118" y="6337811"/>
                <a:ext cx="17968" cy="21714"/>
              </a:xfrm>
              <a:custGeom>
                <a:avLst/>
                <a:gdLst/>
                <a:ahLst/>
                <a:cxnLst/>
                <a:rect l="l" t="t" r="r" b="b"/>
                <a:pathLst>
                  <a:path w="17968" h="21714" extrusionOk="0">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3B3B3B"/>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sp>
        <p:nvSpPr>
          <p:cNvPr id="276" name="Google Shape;276;p128"/>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chemeClr val="lt1"/>
              </a:buClr>
              <a:buSzPts val="800"/>
              <a:buFont typeface="Arial"/>
              <a:buNone/>
            </a:pPr>
            <a:fld id="{00000000-1234-1234-1234-123412341234}" type="slidenum">
              <a:rPr lang="en-US" sz="800" b="0" i="0" u="none" strike="noStrike" cap="none">
                <a:solidFill>
                  <a:schemeClr val="lt1"/>
                </a:solidFill>
                <a:latin typeface="Arial"/>
                <a:ea typeface="Arial"/>
                <a:cs typeface="Arial"/>
                <a:sym typeface="Arial"/>
              </a:rPr>
              <a:t>‹#›</a:t>
            </a:fld>
            <a:endParaRPr sz="800" b="0" i="0" u="none" strike="noStrike" cap="none">
              <a:solidFill>
                <a:schemeClr val="lt1"/>
              </a:solidFill>
              <a:latin typeface="Arial"/>
              <a:ea typeface="Arial"/>
              <a:cs typeface="Arial"/>
              <a:sym typeface="Arial"/>
            </a:endParaRPr>
          </a:p>
        </p:txBody>
      </p:sp>
      <p:sp>
        <p:nvSpPr>
          <p:cNvPr id="277" name="Google Shape;277;p128"/>
          <p:cNvSpPr txBox="1">
            <a:spLocks noGrp="1"/>
          </p:cNvSpPr>
          <p:nvPr>
            <p:ph type="title"/>
          </p:nvPr>
        </p:nvSpPr>
        <p:spPr>
          <a:xfrm>
            <a:off x="589108" y="938794"/>
            <a:ext cx="6427626" cy="122936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3600"/>
              <a:buFont typeface="Arial"/>
              <a:buNone/>
              <a:defRPr sz="3600" b="0" cap="none">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78" name="Google Shape;278;p128"/>
          <p:cNvSpPr txBox="1">
            <a:spLocks noGrp="1"/>
          </p:cNvSpPr>
          <p:nvPr>
            <p:ph type="subTitle" idx="1"/>
          </p:nvPr>
        </p:nvSpPr>
        <p:spPr>
          <a:xfrm>
            <a:off x="602966" y="2267712"/>
            <a:ext cx="6408402" cy="700882"/>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2160"/>
              <a:buNone/>
              <a:defRPr sz="2400">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2000"/>
            </a:lvl2pPr>
            <a:lvl3pPr lvl="2" algn="ctr">
              <a:lnSpc>
                <a:spcPct val="100000"/>
              </a:lnSpc>
              <a:spcBef>
                <a:spcPts val="1200"/>
              </a:spcBef>
              <a:spcAft>
                <a:spcPts val="0"/>
              </a:spcAft>
              <a:buSzPts val="1620"/>
              <a:buNone/>
              <a:defRPr sz="1800"/>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Tree>
    <p:extLst>
      <p:ext uri="{BB962C8B-B14F-4D97-AF65-F5344CB8AC3E}">
        <p14:creationId xmlns:p14="http://schemas.microsoft.com/office/powerpoint/2010/main" val="2392915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Four Square 1">
  <p:cSld name="Four Square 1">
    <p:spTree>
      <p:nvGrpSpPr>
        <p:cNvPr id="1" name="Shape 116"/>
        <p:cNvGrpSpPr/>
        <p:nvPr/>
      </p:nvGrpSpPr>
      <p:grpSpPr>
        <a:xfrm>
          <a:off x="0" y="0"/>
          <a:ext cx="0" cy="0"/>
          <a:chOff x="0" y="0"/>
          <a:chExt cx="0" cy="0"/>
        </a:xfrm>
      </p:grpSpPr>
      <p:grpSp>
        <p:nvGrpSpPr>
          <p:cNvPr id="117" name="Google Shape;117;p120"/>
          <p:cNvGrpSpPr/>
          <p:nvPr/>
        </p:nvGrpSpPr>
        <p:grpSpPr>
          <a:xfrm>
            <a:off x="3815292" y="1126212"/>
            <a:ext cx="2141686" cy="2141686"/>
            <a:chOff x="6739684" y="1484266"/>
            <a:chExt cx="3889468" cy="3889468"/>
          </a:xfrm>
        </p:grpSpPr>
        <p:sp>
          <p:nvSpPr>
            <p:cNvPr id="118" name="Google Shape;118;p120"/>
            <p:cNvSpPr/>
            <p:nvPr/>
          </p:nvSpPr>
          <p:spPr>
            <a:xfrm>
              <a:off x="6739684" y="1484266"/>
              <a:ext cx="3889468" cy="3889468"/>
            </a:xfrm>
            <a:prstGeom prst="ellipse">
              <a:avLst/>
            </a:prstGeom>
            <a:solidFill>
              <a:schemeClr val="accent2">
                <a:alpha val="10196"/>
              </a:scheme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dirty="0">
                <a:solidFill>
                  <a:schemeClr val="lt1"/>
                </a:solidFill>
                <a:latin typeface="Arial"/>
                <a:ea typeface="Arial"/>
                <a:cs typeface="Arial"/>
                <a:sym typeface="Arial"/>
              </a:endParaRPr>
            </a:p>
          </p:txBody>
        </p:sp>
        <p:sp>
          <p:nvSpPr>
            <p:cNvPr id="119" name="Google Shape;119;p120"/>
            <p:cNvSpPr/>
            <p:nvPr/>
          </p:nvSpPr>
          <p:spPr>
            <a:xfrm rot="10800000" flipH="1">
              <a:off x="7108410" y="1852992"/>
              <a:ext cx="3152006" cy="3152006"/>
            </a:xfrm>
            <a:prstGeom prst="ellipse">
              <a:avLst/>
            </a:prstGeom>
            <a:solidFill>
              <a:schemeClr val="lt1"/>
            </a:solidFill>
            <a:ln w="38100" cap="flat" cmpd="sng">
              <a:solidFill>
                <a:schemeClr val="accent2"/>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chemeClr val="lt1"/>
                </a:solidFill>
                <a:latin typeface="Arial"/>
                <a:ea typeface="Arial"/>
                <a:cs typeface="Arial"/>
                <a:sym typeface="Arial"/>
              </a:endParaRPr>
            </a:p>
          </p:txBody>
        </p:sp>
      </p:grpSp>
      <p:grpSp>
        <p:nvGrpSpPr>
          <p:cNvPr id="123" name="Google Shape;123;p120"/>
          <p:cNvGrpSpPr/>
          <p:nvPr/>
        </p:nvGrpSpPr>
        <p:grpSpPr>
          <a:xfrm>
            <a:off x="6231847" y="1126212"/>
            <a:ext cx="2141686" cy="2141686"/>
            <a:chOff x="6739684" y="1484266"/>
            <a:chExt cx="3889468" cy="3889468"/>
          </a:xfrm>
        </p:grpSpPr>
        <p:sp>
          <p:nvSpPr>
            <p:cNvPr id="124" name="Google Shape;124;p120"/>
            <p:cNvSpPr/>
            <p:nvPr/>
          </p:nvSpPr>
          <p:spPr>
            <a:xfrm>
              <a:off x="6739684" y="1484266"/>
              <a:ext cx="3889468" cy="3889468"/>
            </a:xfrm>
            <a:prstGeom prst="ellipse">
              <a:avLst/>
            </a:prstGeom>
            <a:solidFill>
              <a:schemeClr val="accent2">
                <a:alpha val="10196"/>
              </a:scheme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dirty="0">
                <a:solidFill>
                  <a:schemeClr val="lt1"/>
                </a:solidFill>
                <a:latin typeface="Arial"/>
                <a:ea typeface="Arial"/>
                <a:cs typeface="Arial"/>
                <a:sym typeface="Arial"/>
              </a:endParaRPr>
            </a:p>
          </p:txBody>
        </p:sp>
        <p:sp>
          <p:nvSpPr>
            <p:cNvPr id="125" name="Google Shape;125;p120"/>
            <p:cNvSpPr/>
            <p:nvPr/>
          </p:nvSpPr>
          <p:spPr>
            <a:xfrm rot="10800000" flipH="1">
              <a:off x="7108410" y="1852992"/>
              <a:ext cx="3152006" cy="3152006"/>
            </a:xfrm>
            <a:prstGeom prst="ellipse">
              <a:avLst/>
            </a:prstGeom>
            <a:solidFill>
              <a:schemeClr val="lt1"/>
            </a:solidFill>
            <a:ln w="38100" cap="flat" cmpd="sng">
              <a:solidFill>
                <a:schemeClr val="accent2"/>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dirty="0">
                <a:solidFill>
                  <a:schemeClr val="lt1"/>
                </a:solidFill>
                <a:latin typeface="Arial"/>
                <a:ea typeface="Arial"/>
                <a:cs typeface="Arial"/>
                <a:sym typeface="Arial"/>
              </a:endParaRPr>
            </a:p>
          </p:txBody>
        </p:sp>
      </p:grpSp>
      <p:sp>
        <p:nvSpPr>
          <p:cNvPr id="129" name="Google Shape;129;p120"/>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130" name="Google Shape;130;p120"/>
          <p:cNvSpPr txBox="1">
            <a:spLocks noGrp="1"/>
          </p:cNvSpPr>
          <p:nvPr>
            <p:ph type="body" idx="1"/>
          </p:nvPr>
        </p:nvSpPr>
        <p:spPr>
          <a:xfrm>
            <a:off x="722611" y="1282655"/>
            <a:ext cx="2817812" cy="1782203"/>
          </a:xfrm>
          <a:prstGeom prst="rect">
            <a:avLst/>
          </a:prstGeom>
          <a:noFill/>
          <a:ln>
            <a:noFill/>
          </a:ln>
        </p:spPr>
        <p:txBody>
          <a:bodyPr spcFirstLastPara="1" wrap="square" lIns="0" tIns="0" rIns="0" bIns="0" anchor="ctr" anchorCtr="0">
            <a:noAutofit/>
          </a:bodyPr>
          <a:lstStyle>
            <a:lvl1pPr marL="457200" lvl="0" indent="-342900" algn="r">
              <a:lnSpc>
                <a:spcPct val="100000"/>
              </a:lnSpc>
              <a:spcBef>
                <a:spcPts val="0"/>
              </a:spcBef>
              <a:spcAft>
                <a:spcPts val="0"/>
              </a:spcAft>
              <a:buSzPts val="1800"/>
              <a:buChar char="​"/>
              <a:defRPr/>
            </a:lvl1pPr>
            <a:lvl2pPr marL="914400" lvl="1" indent="-228600" algn="l">
              <a:lnSpc>
                <a:spcPct val="100000"/>
              </a:lnSpc>
              <a:spcBef>
                <a:spcPts val="1200"/>
              </a:spcBef>
              <a:spcAft>
                <a:spcPts val="0"/>
              </a:spcAft>
              <a:buSzPts val="1620"/>
              <a:buNone/>
              <a:defRPr/>
            </a:lvl2pPr>
            <a:lvl3pPr marL="1371600" lvl="2" indent="-331469" algn="l">
              <a:lnSpc>
                <a:spcPct val="100000"/>
              </a:lnSpc>
              <a:spcBef>
                <a:spcPts val="1200"/>
              </a:spcBef>
              <a:spcAft>
                <a:spcPts val="0"/>
              </a:spcAft>
              <a:buSzPts val="1620"/>
              <a:buChar char="–"/>
              <a:defRPr/>
            </a:lvl3pPr>
            <a:lvl4pPr marL="1828800" lvl="3" indent="-331469" algn="l">
              <a:lnSpc>
                <a:spcPct val="100000"/>
              </a:lnSpc>
              <a:spcBef>
                <a:spcPts val="1200"/>
              </a:spcBef>
              <a:spcAft>
                <a:spcPts val="0"/>
              </a:spcAft>
              <a:buSzPts val="1620"/>
              <a:buChar char="•"/>
              <a:defRPr/>
            </a:lvl4pPr>
            <a:lvl5pPr marL="2286000" lvl="4" indent="-331470" algn="l">
              <a:lnSpc>
                <a:spcPct val="100000"/>
              </a:lnSpc>
              <a:spcBef>
                <a:spcPts val="1200"/>
              </a:spcBef>
              <a:spcAft>
                <a:spcPts val="0"/>
              </a:spcAft>
              <a:buSzPts val="1620"/>
              <a:buChar char="–"/>
              <a:defRPr/>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a:p>
        </p:txBody>
      </p:sp>
      <p:sp>
        <p:nvSpPr>
          <p:cNvPr id="131" name="Google Shape;131;p120"/>
          <p:cNvSpPr txBox="1">
            <a:spLocks noGrp="1"/>
          </p:cNvSpPr>
          <p:nvPr>
            <p:ph type="body" idx="2"/>
          </p:nvPr>
        </p:nvSpPr>
        <p:spPr>
          <a:xfrm>
            <a:off x="8648402" y="1282655"/>
            <a:ext cx="2817812" cy="1782203"/>
          </a:xfrm>
          <a:prstGeom prst="rect">
            <a:avLst/>
          </a:prstGeom>
          <a:noFill/>
          <a:ln>
            <a:noFill/>
          </a:ln>
        </p:spPr>
        <p:txBody>
          <a:bodyPr spcFirstLastPara="1" wrap="square" lIns="0" tIns="0" rIns="0" bIns="0" anchor="ctr" anchorCtr="0">
            <a:noAutofit/>
          </a:bodyPr>
          <a:lstStyle>
            <a:lvl1pPr marL="457200" lvl="0" indent="-342900" algn="l">
              <a:lnSpc>
                <a:spcPct val="100000"/>
              </a:lnSpc>
              <a:spcBef>
                <a:spcPts val="0"/>
              </a:spcBef>
              <a:spcAft>
                <a:spcPts val="0"/>
              </a:spcAft>
              <a:buSzPts val="1800"/>
              <a:buChar char="​"/>
              <a:defRPr/>
            </a:lvl1pPr>
            <a:lvl2pPr marL="914400" lvl="1" indent="-228600" algn="l">
              <a:lnSpc>
                <a:spcPct val="100000"/>
              </a:lnSpc>
              <a:spcBef>
                <a:spcPts val="1200"/>
              </a:spcBef>
              <a:spcAft>
                <a:spcPts val="0"/>
              </a:spcAft>
              <a:buSzPts val="1620"/>
              <a:buNone/>
              <a:defRPr/>
            </a:lvl2pPr>
            <a:lvl3pPr marL="1371600" lvl="2" indent="-331469" algn="l">
              <a:lnSpc>
                <a:spcPct val="100000"/>
              </a:lnSpc>
              <a:spcBef>
                <a:spcPts val="1200"/>
              </a:spcBef>
              <a:spcAft>
                <a:spcPts val="0"/>
              </a:spcAft>
              <a:buSzPts val="1620"/>
              <a:buChar char="–"/>
              <a:defRPr/>
            </a:lvl3pPr>
            <a:lvl4pPr marL="1828800" lvl="3" indent="-331469" algn="l">
              <a:lnSpc>
                <a:spcPct val="100000"/>
              </a:lnSpc>
              <a:spcBef>
                <a:spcPts val="1200"/>
              </a:spcBef>
              <a:spcAft>
                <a:spcPts val="0"/>
              </a:spcAft>
              <a:buSzPts val="1620"/>
              <a:buChar char="•"/>
              <a:defRPr/>
            </a:lvl4pPr>
            <a:lvl5pPr marL="2286000" lvl="4" indent="-331470" algn="l">
              <a:lnSpc>
                <a:spcPct val="100000"/>
              </a:lnSpc>
              <a:spcBef>
                <a:spcPts val="1200"/>
              </a:spcBef>
              <a:spcAft>
                <a:spcPts val="0"/>
              </a:spcAft>
              <a:buSzPts val="1620"/>
              <a:buChar char="–"/>
              <a:defRPr/>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dirty="0"/>
          </a:p>
        </p:txBody>
      </p:sp>
      <p:sp>
        <p:nvSpPr>
          <p:cNvPr id="132" name="Google Shape;132;p120"/>
          <p:cNvSpPr txBox="1">
            <a:spLocks noGrp="1"/>
          </p:cNvSpPr>
          <p:nvPr>
            <p:ph type="body" idx="3"/>
          </p:nvPr>
        </p:nvSpPr>
        <p:spPr>
          <a:xfrm>
            <a:off x="722611" y="3702104"/>
            <a:ext cx="2817812" cy="1782203"/>
          </a:xfrm>
          <a:prstGeom prst="rect">
            <a:avLst/>
          </a:prstGeom>
          <a:noFill/>
          <a:ln>
            <a:noFill/>
          </a:ln>
        </p:spPr>
        <p:txBody>
          <a:bodyPr spcFirstLastPara="1" wrap="square" lIns="0" tIns="0" rIns="0" bIns="0" anchor="ctr" anchorCtr="0">
            <a:noAutofit/>
          </a:bodyPr>
          <a:lstStyle>
            <a:lvl1pPr marL="457200" lvl="0" indent="-342900" algn="r">
              <a:lnSpc>
                <a:spcPct val="100000"/>
              </a:lnSpc>
              <a:spcBef>
                <a:spcPts val="0"/>
              </a:spcBef>
              <a:spcAft>
                <a:spcPts val="0"/>
              </a:spcAft>
              <a:buSzPts val="1800"/>
              <a:buChar char="​"/>
              <a:defRPr/>
            </a:lvl1pPr>
            <a:lvl2pPr marL="914400" lvl="1" indent="-228600" algn="l">
              <a:lnSpc>
                <a:spcPct val="100000"/>
              </a:lnSpc>
              <a:spcBef>
                <a:spcPts val="1200"/>
              </a:spcBef>
              <a:spcAft>
                <a:spcPts val="0"/>
              </a:spcAft>
              <a:buSzPts val="1620"/>
              <a:buNone/>
              <a:defRPr/>
            </a:lvl2pPr>
            <a:lvl3pPr marL="1371600" lvl="2" indent="-331469" algn="l">
              <a:lnSpc>
                <a:spcPct val="100000"/>
              </a:lnSpc>
              <a:spcBef>
                <a:spcPts val="1200"/>
              </a:spcBef>
              <a:spcAft>
                <a:spcPts val="0"/>
              </a:spcAft>
              <a:buSzPts val="1620"/>
              <a:buChar char="–"/>
              <a:defRPr/>
            </a:lvl3pPr>
            <a:lvl4pPr marL="1828800" lvl="3" indent="-331469" algn="l">
              <a:lnSpc>
                <a:spcPct val="100000"/>
              </a:lnSpc>
              <a:spcBef>
                <a:spcPts val="1200"/>
              </a:spcBef>
              <a:spcAft>
                <a:spcPts val="0"/>
              </a:spcAft>
              <a:buSzPts val="1620"/>
              <a:buChar char="•"/>
              <a:defRPr/>
            </a:lvl4pPr>
            <a:lvl5pPr marL="2286000" lvl="4" indent="-331470" algn="l">
              <a:lnSpc>
                <a:spcPct val="100000"/>
              </a:lnSpc>
              <a:spcBef>
                <a:spcPts val="1200"/>
              </a:spcBef>
              <a:spcAft>
                <a:spcPts val="0"/>
              </a:spcAft>
              <a:buSzPts val="1620"/>
              <a:buChar char="–"/>
              <a:defRPr/>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a:p>
        </p:txBody>
      </p:sp>
      <p:sp>
        <p:nvSpPr>
          <p:cNvPr id="133" name="Google Shape;133;p120"/>
          <p:cNvSpPr txBox="1">
            <a:spLocks noGrp="1"/>
          </p:cNvSpPr>
          <p:nvPr>
            <p:ph type="body" idx="4"/>
          </p:nvPr>
        </p:nvSpPr>
        <p:spPr>
          <a:xfrm>
            <a:off x="8648402" y="3702104"/>
            <a:ext cx="2817812" cy="1782203"/>
          </a:xfrm>
          <a:prstGeom prst="rect">
            <a:avLst/>
          </a:prstGeom>
          <a:noFill/>
          <a:ln>
            <a:noFill/>
          </a:ln>
        </p:spPr>
        <p:txBody>
          <a:bodyPr spcFirstLastPara="1" wrap="square" lIns="0" tIns="0" rIns="0" bIns="0" anchor="ctr" anchorCtr="0">
            <a:noAutofit/>
          </a:bodyPr>
          <a:lstStyle>
            <a:lvl1pPr marL="457200" lvl="0" indent="-342900" algn="l">
              <a:lnSpc>
                <a:spcPct val="100000"/>
              </a:lnSpc>
              <a:spcBef>
                <a:spcPts val="0"/>
              </a:spcBef>
              <a:spcAft>
                <a:spcPts val="0"/>
              </a:spcAft>
              <a:buSzPts val="1800"/>
              <a:buChar char="​"/>
              <a:defRPr/>
            </a:lvl1pPr>
            <a:lvl2pPr marL="914400" lvl="1" indent="-228600" algn="l">
              <a:lnSpc>
                <a:spcPct val="100000"/>
              </a:lnSpc>
              <a:spcBef>
                <a:spcPts val="1200"/>
              </a:spcBef>
              <a:spcAft>
                <a:spcPts val="0"/>
              </a:spcAft>
              <a:buSzPts val="1620"/>
              <a:buNone/>
              <a:defRPr/>
            </a:lvl2pPr>
            <a:lvl3pPr marL="1371600" lvl="2" indent="-331469" algn="l">
              <a:lnSpc>
                <a:spcPct val="100000"/>
              </a:lnSpc>
              <a:spcBef>
                <a:spcPts val="1200"/>
              </a:spcBef>
              <a:spcAft>
                <a:spcPts val="0"/>
              </a:spcAft>
              <a:buSzPts val="1620"/>
              <a:buChar char="–"/>
              <a:defRPr/>
            </a:lvl3pPr>
            <a:lvl4pPr marL="1828800" lvl="3" indent="-331469" algn="l">
              <a:lnSpc>
                <a:spcPct val="100000"/>
              </a:lnSpc>
              <a:spcBef>
                <a:spcPts val="1200"/>
              </a:spcBef>
              <a:spcAft>
                <a:spcPts val="0"/>
              </a:spcAft>
              <a:buSzPts val="1620"/>
              <a:buChar char="•"/>
              <a:defRPr/>
            </a:lvl4pPr>
            <a:lvl5pPr marL="2286000" lvl="4" indent="-331470" algn="l">
              <a:lnSpc>
                <a:spcPct val="100000"/>
              </a:lnSpc>
              <a:spcBef>
                <a:spcPts val="1200"/>
              </a:spcBef>
              <a:spcAft>
                <a:spcPts val="0"/>
              </a:spcAft>
              <a:buSzPts val="1620"/>
              <a:buChar char="–"/>
              <a:defRPr/>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a:p>
        </p:txBody>
      </p:sp>
      <p:sp>
        <p:nvSpPr>
          <p:cNvPr id="134" name="Google Shape;134;p120"/>
          <p:cNvSpPr/>
          <p:nvPr/>
        </p:nvSpPr>
        <p:spPr>
          <a:xfrm>
            <a:off x="0" y="0"/>
            <a:ext cx="12188825" cy="251012"/>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lt1"/>
              </a:solidFill>
              <a:latin typeface="Arial"/>
              <a:ea typeface="Arial"/>
              <a:cs typeface="Arial"/>
              <a:sym typeface="Arial"/>
            </a:endParaRPr>
          </a:p>
        </p:txBody>
      </p:sp>
      <p:pic>
        <p:nvPicPr>
          <p:cNvPr id="135" name="Google Shape;135;p120" descr="A green and blue arrow&#10;&#10;Description automatically generated"/>
          <p:cNvPicPr preferRelativeResize="0"/>
          <p:nvPr/>
        </p:nvPicPr>
        <p:blipFill rotWithShape="1">
          <a:blip r:embed="rId2">
            <a:alphaModFix/>
          </a:blip>
          <a:srcRect b="97344"/>
          <a:stretch/>
        </p:blipFill>
        <p:spPr>
          <a:xfrm>
            <a:off x="0" y="-494"/>
            <a:ext cx="12187946" cy="182146"/>
          </a:xfrm>
          <a:prstGeom prst="rect">
            <a:avLst/>
          </a:prstGeom>
          <a:noFill/>
          <a:ln>
            <a:noFill/>
          </a:ln>
        </p:spPr>
      </p:pic>
      <p:grpSp>
        <p:nvGrpSpPr>
          <p:cNvPr id="2" name="Google Shape;117;p120">
            <a:extLst>
              <a:ext uri="{FF2B5EF4-FFF2-40B4-BE49-F238E27FC236}">
                <a16:creationId xmlns:a16="http://schemas.microsoft.com/office/drawing/2014/main" id="{E92DBA0B-6492-7B55-5581-74FEBEBD175F}"/>
              </a:ext>
            </a:extLst>
          </p:cNvPr>
          <p:cNvGrpSpPr/>
          <p:nvPr userDrawn="1"/>
        </p:nvGrpSpPr>
        <p:grpSpPr>
          <a:xfrm>
            <a:off x="3815292" y="3470932"/>
            <a:ext cx="2141686" cy="2141686"/>
            <a:chOff x="6739684" y="1484266"/>
            <a:chExt cx="3889468" cy="3889468"/>
          </a:xfrm>
        </p:grpSpPr>
        <p:sp>
          <p:nvSpPr>
            <p:cNvPr id="3" name="Google Shape;118;p120">
              <a:extLst>
                <a:ext uri="{FF2B5EF4-FFF2-40B4-BE49-F238E27FC236}">
                  <a16:creationId xmlns:a16="http://schemas.microsoft.com/office/drawing/2014/main" id="{8325814A-84EE-3433-9F74-3F295BC32DFE}"/>
                </a:ext>
              </a:extLst>
            </p:cNvPr>
            <p:cNvSpPr/>
            <p:nvPr/>
          </p:nvSpPr>
          <p:spPr>
            <a:xfrm>
              <a:off x="6739684" y="1484266"/>
              <a:ext cx="3889468" cy="3889468"/>
            </a:xfrm>
            <a:prstGeom prst="ellipse">
              <a:avLst/>
            </a:prstGeom>
            <a:solidFill>
              <a:schemeClr val="accent2">
                <a:alpha val="10196"/>
              </a:scheme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dirty="0">
                <a:solidFill>
                  <a:schemeClr val="lt1"/>
                </a:solidFill>
                <a:latin typeface="Arial"/>
                <a:ea typeface="Arial"/>
                <a:cs typeface="Arial"/>
                <a:sym typeface="Arial"/>
              </a:endParaRPr>
            </a:p>
          </p:txBody>
        </p:sp>
        <p:sp>
          <p:nvSpPr>
            <p:cNvPr id="4" name="Google Shape;119;p120">
              <a:extLst>
                <a:ext uri="{FF2B5EF4-FFF2-40B4-BE49-F238E27FC236}">
                  <a16:creationId xmlns:a16="http://schemas.microsoft.com/office/drawing/2014/main" id="{D2C726F3-BE2E-9BD3-003D-B5248652F607}"/>
                </a:ext>
              </a:extLst>
            </p:cNvPr>
            <p:cNvSpPr/>
            <p:nvPr/>
          </p:nvSpPr>
          <p:spPr>
            <a:xfrm rot="10800000" flipH="1">
              <a:off x="7108410" y="1852992"/>
              <a:ext cx="3152006" cy="3152006"/>
            </a:xfrm>
            <a:prstGeom prst="ellipse">
              <a:avLst/>
            </a:prstGeom>
            <a:solidFill>
              <a:schemeClr val="lt1"/>
            </a:solidFill>
            <a:ln w="38100" cap="flat" cmpd="sng">
              <a:solidFill>
                <a:schemeClr val="accent2"/>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chemeClr val="lt1"/>
                </a:solidFill>
                <a:latin typeface="Arial"/>
                <a:ea typeface="Arial"/>
                <a:cs typeface="Arial"/>
                <a:sym typeface="Arial"/>
              </a:endParaRPr>
            </a:p>
          </p:txBody>
        </p:sp>
      </p:grpSp>
      <p:grpSp>
        <p:nvGrpSpPr>
          <p:cNvPr id="5" name="Google Shape;123;p120">
            <a:extLst>
              <a:ext uri="{FF2B5EF4-FFF2-40B4-BE49-F238E27FC236}">
                <a16:creationId xmlns:a16="http://schemas.microsoft.com/office/drawing/2014/main" id="{A9EBA96B-F85D-251D-18FF-1DF042CCBB59}"/>
              </a:ext>
            </a:extLst>
          </p:cNvPr>
          <p:cNvGrpSpPr/>
          <p:nvPr userDrawn="1"/>
        </p:nvGrpSpPr>
        <p:grpSpPr>
          <a:xfrm>
            <a:off x="6231847" y="3470932"/>
            <a:ext cx="2141686" cy="2141686"/>
            <a:chOff x="6739684" y="1484266"/>
            <a:chExt cx="3889468" cy="3889468"/>
          </a:xfrm>
        </p:grpSpPr>
        <p:sp>
          <p:nvSpPr>
            <p:cNvPr id="6" name="Google Shape;124;p120">
              <a:extLst>
                <a:ext uri="{FF2B5EF4-FFF2-40B4-BE49-F238E27FC236}">
                  <a16:creationId xmlns:a16="http://schemas.microsoft.com/office/drawing/2014/main" id="{37F22ABB-9504-50C2-CF9A-177EBBC28DFB}"/>
                </a:ext>
              </a:extLst>
            </p:cNvPr>
            <p:cNvSpPr/>
            <p:nvPr/>
          </p:nvSpPr>
          <p:spPr>
            <a:xfrm>
              <a:off x="6739684" y="1484266"/>
              <a:ext cx="3889468" cy="3889468"/>
            </a:xfrm>
            <a:prstGeom prst="ellipse">
              <a:avLst/>
            </a:prstGeom>
            <a:solidFill>
              <a:schemeClr val="accent2">
                <a:alpha val="10196"/>
              </a:scheme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dirty="0">
                <a:solidFill>
                  <a:schemeClr val="lt1"/>
                </a:solidFill>
                <a:latin typeface="Arial"/>
                <a:ea typeface="Arial"/>
                <a:cs typeface="Arial"/>
                <a:sym typeface="Arial"/>
              </a:endParaRPr>
            </a:p>
          </p:txBody>
        </p:sp>
        <p:sp>
          <p:nvSpPr>
            <p:cNvPr id="7" name="Google Shape;125;p120">
              <a:extLst>
                <a:ext uri="{FF2B5EF4-FFF2-40B4-BE49-F238E27FC236}">
                  <a16:creationId xmlns:a16="http://schemas.microsoft.com/office/drawing/2014/main" id="{D5B5836D-07C4-57B8-6294-B8BC763576A1}"/>
                </a:ext>
              </a:extLst>
            </p:cNvPr>
            <p:cNvSpPr/>
            <p:nvPr/>
          </p:nvSpPr>
          <p:spPr>
            <a:xfrm rot="10800000" flipH="1">
              <a:off x="7108410" y="1852992"/>
              <a:ext cx="3152006" cy="3152006"/>
            </a:xfrm>
            <a:prstGeom prst="ellipse">
              <a:avLst/>
            </a:prstGeom>
            <a:solidFill>
              <a:schemeClr val="lt1"/>
            </a:solidFill>
            <a:ln w="38100" cap="flat" cmpd="sng">
              <a:solidFill>
                <a:schemeClr val="accent2"/>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dirty="0">
                <a:solidFill>
                  <a:schemeClr val="lt1"/>
                </a:solidFill>
                <a:latin typeface="Arial"/>
                <a:ea typeface="Arial"/>
                <a:cs typeface="Arial"/>
                <a:sym typeface="Arial"/>
              </a:endParaRPr>
            </a:p>
          </p:txBody>
        </p:sp>
      </p:grpSp>
    </p:spTree>
    <p:extLst>
      <p:ext uri="{BB962C8B-B14F-4D97-AF65-F5344CB8AC3E}">
        <p14:creationId xmlns:p14="http://schemas.microsoft.com/office/powerpoint/2010/main" val="33891409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matchingName="Section Header – Photo">
  <p:cSld name="1_Section Header – Photo">
    <p:bg>
      <p:bgPr>
        <a:solidFill>
          <a:schemeClr val="lt1"/>
        </a:solidFill>
        <a:effectLst/>
      </p:bgPr>
    </p:bg>
    <p:spTree>
      <p:nvGrpSpPr>
        <p:cNvPr id="1" name="Shape 835"/>
        <p:cNvGrpSpPr/>
        <p:nvPr/>
      </p:nvGrpSpPr>
      <p:grpSpPr>
        <a:xfrm>
          <a:off x="0" y="0"/>
          <a:ext cx="0" cy="0"/>
          <a:chOff x="0" y="0"/>
          <a:chExt cx="0" cy="0"/>
        </a:xfrm>
      </p:grpSpPr>
      <p:pic>
        <p:nvPicPr>
          <p:cNvPr id="836" name="Google Shape;836;p147" descr="A blue sky with white clouds&#10;&#10;Description automatically generated"/>
          <p:cNvPicPr preferRelativeResize="0"/>
          <p:nvPr/>
        </p:nvPicPr>
        <p:blipFill rotWithShape="1">
          <a:blip r:embed="rId2">
            <a:alphaModFix/>
          </a:blip>
          <a:srcRect/>
          <a:stretch/>
        </p:blipFill>
        <p:spPr>
          <a:xfrm>
            <a:off x="4679974" y="1239062"/>
            <a:ext cx="7508851" cy="5631638"/>
          </a:xfrm>
          <a:prstGeom prst="rect">
            <a:avLst/>
          </a:prstGeom>
          <a:noFill/>
          <a:ln>
            <a:noFill/>
          </a:ln>
        </p:spPr>
      </p:pic>
      <p:pic>
        <p:nvPicPr>
          <p:cNvPr id="837" name="Google Shape;837;p147"/>
          <p:cNvPicPr preferRelativeResize="0"/>
          <p:nvPr/>
        </p:nvPicPr>
        <p:blipFill rotWithShape="1">
          <a:blip r:embed="rId3">
            <a:alphaModFix/>
          </a:blip>
          <a:srcRect/>
          <a:stretch/>
        </p:blipFill>
        <p:spPr>
          <a:xfrm>
            <a:off x="879" y="-496"/>
            <a:ext cx="12187945" cy="6858495"/>
          </a:xfrm>
          <a:prstGeom prst="rect">
            <a:avLst/>
          </a:prstGeom>
          <a:noFill/>
          <a:ln>
            <a:noFill/>
          </a:ln>
        </p:spPr>
      </p:pic>
      <p:sp>
        <p:nvSpPr>
          <p:cNvPr id="838" name="Google Shape;838;p147"/>
          <p:cNvSpPr/>
          <p:nvPr/>
        </p:nvSpPr>
        <p:spPr>
          <a:xfrm>
            <a:off x="5801096" y="1239062"/>
            <a:ext cx="6406144" cy="5618939"/>
          </a:xfrm>
          <a:custGeom>
            <a:avLst/>
            <a:gdLst/>
            <a:ahLst/>
            <a:cxnLst/>
            <a:rect l="l" t="t" r="r" b="b"/>
            <a:pathLst>
              <a:path w="6406144" h="5618939" extrusionOk="0">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0">
                <a:schemeClr val="accent3"/>
              </a:gs>
              <a:gs pos="22000">
                <a:schemeClr val="accent3"/>
              </a:gs>
              <a:gs pos="80000">
                <a:schemeClr val="accent4"/>
              </a:gs>
              <a:gs pos="100000">
                <a:schemeClr val="accent4"/>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39" name="Google Shape;839;p147"/>
          <p:cNvSpPr txBox="1">
            <a:spLocks noGrp="1"/>
          </p:cNvSpPr>
          <p:nvPr>
            <p:ph type="title"/>
          </p:nvPr>
        </p:nvSpPr>
        <p:spPr>
          <a:xfrm>
            <a:off x="589108" y="938794"/>
            <a:ext cx="6427626" cy="122936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3600"/>
              <a:buFont typeface="Arial"/>
              <a:buNone/>
              <a:defRPr sz="3600" b="0" cap="none">
                <a:solidFill>
                  <a:schemeClr val="accent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40" name="Google Shape;840;p147"/>
          <p:cNvSpPr txBox="1">
            <a:spLocks noGrp="1"/>
          </p:cNvSpPr>
          <p:nvPr>
            <p:ph type="subTitle" idx="1"/>
          </p:nvPr>
        </p:nvSpPr>
        <p:spPr>
          <a:xfrm>
            <a:off x="602966" y="2267712"/>
            <a:ext cx="6408402" cy="700882"/>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2160"/>
              <a:buNone/>
              <a:defRPr sz="2400">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2000"/>
            </a:lvl2pPr>
            <a:lvl3pPr lvl="2" algn="ctr">
              <a:lnSpc>
                <a:spcPct val="100000"/>
              </a:lnSpc>
              <a:spcBef>
                <a:spcPts val="1200"/>
              </a:spcBef>
              <a:spcAft>
                <a:spcPts val="0"/>
              </a:spcAft>
              <a:buSzPts val="1620"/>
              <a:buNone/>
              <a:defRPr sz="1800"/>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841" name="Google Shape;841;p147"/>
          <p:cNvSpPr txBox="1"/>
          <p:nvPr/>
        </p:nvSpPr>
        <p:spPr>
          <a:xfrm>
            <a:off x="1645084" y="6461498"/>
            <a:ext cx="2806859" cy="125484"/>
          </a:xfrm>
          <a:prstGeom prst="rect">
            <a:avLst/>
          </a:prstGeom>
          <a:noFill/>
          <a:ln>
            <a:noFill/>
          </a:ln>
        </p:spPr>
        <p:txBody>
          <a:bodyPr spcFirstLastPara="1" wrap="square" lIns="0" tIns="0" rIns="0" bIns="0" anchor="t" anchorCtr="0">
            <a:spAutoFit/>
          </a:bodyPr>
          <a:lstStyle/>
          <a:p>
            <a:pPr marL="0" marR="0" lvl="0" indent="0" algn="l" rtl="0">
              <a:lnSpc>
                <a:spcPct val="130000"/>
              </a:lnSpc>
              <a:spcBef>
                <a:spcPts val="0"/>
              </a:spcBef>
              <a:spcAft>
                <a:spcPts val="0"/>
              </a:spcAft>
              <a:buNone/>
            </a:pPr>
            <a:r>
              <a:rPr lang="en-US" sz="700">
                <a:solidFill>
                  <a:srgbClr val="000000"/>
                </a:solidFill>
                <a:latin typeface="Arial"/>
                <a:ea typeface="Arial"/>
                <a:cs typeface="Arial"/>
                <a:sym typeface="Arial"/>
              </a:rPr>
              <a:t>Broadcom Proprietary and Confidential. Copyright © 2024 Broadcom.  </a:t>
            </a:r>
            <a:endParaRPr/>
          </a:p>
        </p:txBody>
      </p:sp>
      <p:grpSp>
        <p:nvGrpSpPr>
          <p:cNvPr id="842" name="Google Shape;842;p147"/>
          <p:cNvGrpSpPr/>
          <p:nvPr/>
        </p:nvGrpSpPr>
        <p:grpSpPr>
          <a:xfrm>
            <a:off x="265625" y="6323271"/>
            <a:ext cx="1249222" cy="369649"/>
            <a:chOff x="265625" y="6323271"/>
            <a:chExt cx="1249222" cy="369649"/>
          </a:xfrm>
        </p:grpSpPr>
        <p:grpSp>
          <p:nvGrpSpPr>
            <p:cNvPr id="843" name="Google Shape;843;p147"/>
            <p:cNvGrpSpPr/>
            <p:nvPr/>
          </p:nvGrpSpPr>
          <p:grpSpPr>
            <a:xfrm>
              <a:off x="745455" y="6594444"/>
              <a:ext cx="722663" cy="98476"/>
              <a:chOff x="745455" y="6594444"/>
              <a:chExt cx="722663" cy="98476"/>
            </a:xfrm>
          </p:grpSpPr>
          <p:sp>
            <p:nvSpPr>
              <p:cNvPr id="844" name="Google Shape;844;p147"/>
              <p:cNvSpPr/>
              <p:nvPr/>
            </p:nvSpPr>
            <p:spPr>
              <a:xfrm>
                <a:off x="745455" y="6594444"/>
                <a:ext cx="55936" cy="81777"/>
              </a:xfrm>
              <a:custGeom>
                <a:avLst/>
                <a:gdLst/>
                <a:ahLst/>
                <a:cxnLst/>
                <a:rect l="l" t="t" r="r" b="b"/>
                <a:pathLst>
                  <a:path w="55936" h="81777" extrusionOk="0">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45" name="Google Shape;845;p147"/>
              <p:cNvSpPr/>
              <p:nvPr/>
            </p:nvSpPr>
            <p:spPr>
              <a:xfrm>
                <a:off x="809582" y="6618699"/>
                <a:ext cx="55872" cy="74221"/>
              </a:xfrm>
              <a:custGeom>
                <a:avLst/>
                <a:gdLst/>
                <a:ahLst/>
                <a:cxnLst/>
                <a:rect l="l" t="t" r="r" b="b"/>
                <a:pathLst>
                  <a:path w="55872" h="74221" extrusionOk="0">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46" name="Google Shape;846;p147"/>
              <p:cNvSpPr/>
              <p:nvPr/>
            </p:nvSpPr>
            <p:spPr>
              <a:xfrm>
                <a:off x="913010" y="6597746"/>
                <a:ext cx="64317" cy="77079"/>
              </a:xfrm>
              <a:custGeom>
                <a:avLst/>
                <a:gdLst/>
                <a:ahLst/>
                <a:cxnLst/>
                <a:rect l="l" t="t" r="r" b="b"/>
                <a:pathLst>
                  <a:path w="64317" h="77079" extrusionOk="0">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47" name="Google Shape;847;p147"/>
              <p:cNvSpPr/>
              <p:nvPr/>
            </p:nvSpPr>
            <p:spPr>
              <a:xfrm>
                <a:off x="991041" y="6615627"/>
                <a:ext cx="34095" cy="59325"/>
              </a:xfrm>
              <a:custGeom>
                <a:avLst/>
                <a:gdLst/>
                <a:ahLst/>
                <a:cxnLst/>
                <a:rect l="l" t="t" r="r" b="b"/>
                <a:pathLst>
                  <a:path w="34095" h="59325" extrusionOk="0">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48" name="Google Shape;848;p147"/>
              <p:cNvSpPr/>
              <p:nvPr/>
            </p:nvSpPr>
            <p:spPr>
              <a:xfrm>
                <a:off x="1031485"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49" name="Google Shape;849;p147"/>
              <p:cNvSpPr/>
              <p:nvPr/>
            </p:nvSpPr>
            <p:spPr>
              <a:xfrm>
                <a:off x="1103168" y="6615904"/>
                <a:ext cx="52698" cy="60190"/>
              </a:xfrm>
              <a:custGeom>
                <a:avLst/>
                <a:gdLst/>
                <a:ahLst/>
                <a:cxnLst/>
                <a:rect l="l" t="t" r="r" b="b"/>
                <a:pathLst>
                  <a:path w="52698" h="60190" extrusionOk="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0" name="Google Shape;850;p147"/>
              <p:cNvSpPr/>
              <p:nvPr/>
            </p:nvSpPr>
            <p:spPr>
              <a:xfrm>
                <a:off x="1168882" y="6594444"/>
                <a:ext cx="60253" cy="81713"/>
              </a:xfrm>
              <a:custGeom>
                <a:avLst/>
                <a:gdLst/>
                <a:ahLst/>
                <a:cxnLst/>
                <a:rect l="l" t="t" r="r" b="b"/>
                <a:pathLst>
                  <a:path w="60253" h="81713" extrusionOk="0">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1" name="Google Shape;851;p147"/>
              <p:cNvSpPr/>
              <p:nvPr/>
            </p:nvSpPr>
            <p:spPr>
              <a:xfrm>
                <a:off x="1242659" y="6615587"/>
                <a:ext cx="53904" cy="60762"/>
              </a:xfrm>
              <a:custGeom>
                <a:avLst/>
                <a:gdLst/>
                <a:ahLst/>
                <a:cxnLst/>
                <a:rect l="l" t="t" r="r" b="b"/>
                <a:pathLst>
                  <a:path w="53904" h="60762" extrusionOk="0">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2" name="Google Shape;852;p147"/>
              <p:cNvSpPr/>
              <p:nvPr/>
            </p:nvSpPr>
            <p:spPr>
              <a:xfrm>
                <a:off x="1303928"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3" name="Google Shape;853;p147"/>
              <p:cNvSpPr/>
              <p:nvPr/>
            </p:nvSpPr>
            <p:spPr>
              <a:xfrm>
                <a:off x="1379484" y="6615524"/>
                <a:ext cx="88634" cy="59554"/>
              </a:xfrm>
              <a:custGeom>
                <a:avLst/>
                <a:gdLst/>
                <a:ahLst/>
                <a:cxnLst/>
                <a:rect l="l" t="t" r="r" b="b"/>
                <a:pathLst>
                  <a:path w="88634" h="59554" extrusionOk="0">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854" name="Google Shape;854;p147"/>
            <p:cNvGrpSpPr/>
            <p:nvPr/>
          </p:nvGrpSpPr>
          <p:grpSpPr>
            <a:xfrm>
              <a:off x="265625" y="6323271"/>
              <a:ext cx="1249222" cy="190348"/>
              <a:chOff x="265625" y="6323271"/>
              <a:chExt cx="1249222" cy="190348"/>
            </a:xfrm>
          </p:grpSpPr>
          <p:sp>
            <p:nvSpPr>
              <p:cNvPr id="855" name="Google Shape;855;p147"/>
              <p:cNvSpPr/>
              <p:nvPr/>
            </p:nvSpPr>
            <p:spPr>
              <a:xfrm>
                <a:off x="745773" y="6327144"/>
                <a:ext cx="264126" cy="184633"/>
              </a:xfrm>
              <a:custGeom>
                <a:avLst/>
                <a:gdLst/>
                <a:ahLst/>
                <a:cxnLst/>
                <a:rect l="l" t="t" r="r" b="b"/>
                <a:pathLst>
                  <a:path w="264126" h="184633" extrusionOk="0">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6" name="Google Shape;856;p147"/>
              <p:cNvSpPr/>
              <p:nvPr/>
            </p:nvSpPr>
            <p:spPr>
              <a:xfrm>
                <a:off x="1200945" y="6326827"/>
                <a:ext cx="102285" cy="184697"/>
              </a:xfrm>
              <a:custGeom>
                <a:avLst/>
                <a:gdLst/>
                <a:ahLst/>
                <a:cxnLst/>
                <a:rect l="l" t="t" r="r" b="b"/>
                <a:pathLst>
                  <a:path w="102285" h="184697" extrusionOk="0">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7" name="Google Shape;857;p147"/>
              <p:cNvSpPr/>
              <p:nvPr/>
            </p:nvSpPr>
            <p:spPr>
              <a:xfrm>
                <a:off x="1301262" y="6326700"/>
                <a:ext cx="166856" cy="186538"/>
              </a:xfrm>
              <a:custGeom>
                <a:avLst/>
                <a:gdLst/>
                <a:ahLst/>
                <a:cxnLst/>
                <a:rect l="l" t="t" r="r" b="b"/>
                <a:pathLst>
                  <a:path w="166856" h="186538" extrusionOk="0">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8" name="Google Shape;858;p147"/>
              <p:cNvSpPr/>
              <p:nvPr/>
            </p:nvSpPr>
            <p:spPr>
              <a:xfrm>
                <a:off x="1010406" y="6327144"/>
                <a:ext cx="157967" cy="186157"/>
              </a:xfrm>
              <a:custGeom>
                <a:avLst/>
                <a:gdLst/>
                <a:ahLst/>
                <a:cxnLst/>
                <a:rect l="l" t="t" r="r" b="b"/>
                <a:pathLst>
                  <a:path w="157967" h="186157" extrusionOk="0">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59" name="Google Shape;859;p147"/>
              <p:cNvSpPr/>
              <p:nvPr/>
            </p:nvSpPr>
            <p:spPr>
              <a:xfrm>
                <a:off x="265625" y="6323271"/>
                <a:ext cx="468782" cy="190348"/>
              </a:xfrm>
              <a:custGeom>
                <a:avLst/>
                <a:gdLst/>
                <a:ahLst/>
                <a:cxnLst/>
                <a:rect l="l" t="t" r="r" b="b"/>
                <a:pathLst>
                  <a:path w="468782" h="190348" extrusionOk="0">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60" name="Google Shape;860;p147"/>
              <p:cNvSpPr/>
              <p:nvPr/>
            </p:nvSpPr>
            <p:spPr>
              <a:xfrm>
                <a:off x="1470340" y="6326700"/>
                <a:ext cx="44507" cy="44761"/>
              </a:xfrm>
              <a:custGeom>
                <a:avLst/>
                <a:gdLst/>
                <a:ahLst/>
                <a:cxnLst/>
                <a:rect l="l" t="t" r="r" b="b"/>
                <a:pathLst>
                  <a:path w="44507" h="44761" extrusionOk="0">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61" name="Google Shape;861;p147"/>
              <p:cNvSpPr/>
              <p:nvPr/>
            </p:nvSpPr>
            <p:spPr>
              <a:xfrm>
                <a:off x="1484118" y="6337811"/>
                <a:ext cx="17968" cy="21714"/>
              </a:xfrm>
              <a:custGeom>
                <a:avLst/>
                <a:gdLst/>
                <a:ahLst/>
                <a:cxnLst/>
                <a:rect l="l" t="t" r="r" b="b"/>
                <a:pathLst>
                  <a:path w="17968" h="21714" extrusionOk="0">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sp>
        <p:nvSpPr>
          <p:cNvPr id="862" name="Google Shape;862;p147"/>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lt1"/>
                </a:solidFill>
                <a:latin typeface="Arial"/>
                <a:ea typeface="Arial"/>
                <a:cs typeface="Arial"/>
                <a:sym typeface="Arial"/>
              </a:rPr>
              <a:t>‹#›</a:t>
            </a:fld>
            <a:endParaRPr sz="800">
              <a:solidFill>
                <a:schemeClr val="lt1"/>
              </a:solidFill>
              <a:latin typeface="Arial"/>
              <a:ea typeface="Arial"/>
              <a:cs typeface="Arial"/>
              <a:sym typeface="Arial"/>
            </a:endParaRPr>
          </a:p>
        </p:txBody>
      </p:sp>
      <p:pic>
        <p:nvPicPr>
          <p:cNvPr id="863" name="Google Shape;863;p147" descr="A blue sky with white clouds&#10;&#10;Description automatically generated"/>
          <p:cNvPicPr preferRelativeResize="0"/>
          <p:nvPr/>
        </p:nvPicPr>
        <p:blipFill rotWithShape="1">
          <a:blip r:embed="rId2">
            <a:alphaModFix/>
          </a:blip>
          <a:srcRect/>
          <a:stretch/>
        </p:blipFill>
        <p:spPr>
          <a:xfrm>
            <a:off x="4679974" y="1239062"/>
            <a:ext cx="7508851" cy="5631638"/>
          </a:xfrm>
          <a:prstGeom prst="rect">
            <a:avLst/>
          </a:prstGeom>
          <a:noFill/>
          <a:ln>
            <a:noFill/>
          </a:ln>
        </p:spPr>
      </p:pic>
      <p:pic>
        <p:nvPicPr>
          <p:cNvPr id="864" name="Google Shape;864;p147"/>
          <p:cNvPicPr preferRelativeResize="0"/>
          <p:nvPr/>
        </p:nvPicPr>
        <p:blipFill rotWithShape="1">
          <a:blip r:embed="rId3">
            <a:alphaModFix/>
          </a:blip>
          <a:srcRect/>
          <a:stretch/>
        </p:blipFill>
        <p:spPr>
          <a:xfrm>
            <a:off x="879" y="-496"/>
            <a:ext cx="12187945" cy="6858495"/>
          </a:xfrm>
          <a:prstGeom prst="rect">
            <a:avLst/>
          </a:prstGeom>
          <a:noFill/>
          <a:ln>
            <a:noFill/>
          </a:ln>
        </p:spPr>
      </p:pic>
      <p:sp>
        <p:nvSpPr>
          <p:cNvPr id="865" name="Google Shape;865;p147"/>
          <p:cNvSpPr/>
          <p:nvPr/>
        </p:nvSpPr>
        <p:spPr>
          <a:xfrm>
            <a:off x="5801096" y="1239062"/>
            <a:ext cx="6406144" cy="5618939"/>
          </a:xfrm>
          <a:custGeom>
            <a:avLst/>
            <a:gdLst/>
            <a:ahLst/>
            <a:cxnLst/>
            <a:rect l="l" t="t" r="r" b="b"/>
            <a:pathLst>
              <a:path w="6406144" h="5618939" extrusionOk="0">
                <a:moveTo>
                  <a:pt x="6312206" y="0"/>
                </a:moveTo>
                <a:lnTo>
                  <a:pt x="6406144" y="0"/>
                </a:lnTo>
                <a:lnTo>
                  <a:pt x="6406144" y="76059"/>
                </a:lnTo>
                <a:lnTo>
                  <a:pt x="6312206" y="76059"/>
                </a:lnTo>
                <a:cubicBezTo>
                  <a:pt x="5892268" y="76059"/>
                  <a:pt x="5489557" y="242868"/>
                  <a:pt x="5192668" y="539757"/>
                </a:cubicBezTo>
                <a:lnTo>
                  <a:pt x="118525" y="5613965"/>
                </a:lnTo>
                <a:lnTo>
                  <a:pt x="113031" y="5618939"/>
                </a:lnTo>
                <a:lnTo>
                  <a:pt x="0" y="5618939"/>
                </a:lnTo>
                <a:lnTo>
                  <a:pt x="64758" y="5560198"/>
                </a:lnTo>
                <a:lnTo>
                  <a:pt x="5138965" y="485927"/>
                </a:lnTo>
                <a:cubicBezTo>
                  <a:pt x="5293805" y="331086"/>
                  <a:pt x="5474927" y="210064"/>
                  <a:pt x="5677265" y="126279"/>
                </a:cubicBezTo>
                <a:cubicBezTo>
                  <a:pt x="5879602" y="42494"/>
                  <a:pt x="6093212" y="0"/>
                  <a:pt x="6312206" y="0"/>
                </a:cubicBezTo>
                <a:close/>
              </a:path>
            </a:pathLst>
          </a:custGeom>
          <a:gradFill>
            <a:gsLst>
              <a:gs pos="0">
                <a:schemeClr val="accent3"/>
              </a:gs>
              <a:gs pos="22000">
                <a:schemeClr val="accent3"/>
              </a:gs>
              <a:gs pos="80000">
                <a:schemeClr val="accent4"/>
              </a:gs>
              <a:gs pos="100000">
                <a:schemeClr val="accent4"/>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866" name="Google Shape;866;p147"/>
          <p:cNvGrpSpPr/>
          <p:nvPr/>
        </p:nvGrpSpPr>
        <p:grpSpPr>
          <a:xfrm>
            <a:off x="265625" y="6323271"/>
            <a:ext cx="1249222" cy="369649"/>
            <a:chOff x="265625" y="6323271"/>
            <a:chExt cx="1249222" cy="369649"/>
          </a:xfrm>
        </p:grpSpPr>
        <p:grpSp>
          <p:nvGrpSpPr>
            <p:cNvPr id="867" name="Google Shape;867;p147"/>
            <p:cNvGrpSpPr/>
            <p:nvPr/>
          </p:nvGrpSpPr>
          <p:grpSpPr>
            <a:xfrm>
              <a:off x="745455" y="6594444"/>
              <a:ext cx="722663" cy="98476"/>
              <a:chOff x="745455" y="6594444"/>
              <a:chExt cx="722663" cy="98476"/>
            </a:xfrm>
          </p:grpSpPr>
          <p:sp>
            <p:nvSpPr>
              <p:cNvPr id="868" name="Google Shape;868;p147"/>
              <p:cNvSpPr/>
              <p:nvPr/>
            </p:nvSpPr>
            <p:spPr>
              <a:xfrm>
                <a:off x="745455" y="6594444"/>
                <a:ext cx="55936" cy="81777"/>
              </a:xfrm>
              <a:custGeom>
                <a:avLst/>
                <a:gdLst/>
                <a:ahLst/>
                <a:cxnLst/>
                <a:rect l="l" t="t" r="r" b="b"/>
                <a:pathLst>
                  <a:path w="55936" h="81777" extrusionOk="0">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69" name="Google Shape;869;p147"/>
              <p:cNvSpPr/>
              <p:nvPr/>
            </p:nvSpPr>
            <p:spPr>
              <a:xfrm>
                <a:off x="809582" y="6618699"/>
                <a:ext cx="55872" cy="74221"/>
              </a:xfrm>
              <a:custGeom>
                <a:avLst/>
                <a:gdLst/>
                <a:ahLst/>
                <a:cxnLst/>
                <a:rect l="l" t="t" r="r" b="b"/>
                <a:pathLst>
                  <a:path w="55872" h="74221" extrusionOk="0">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0" name="Google Shape;870;p147"/>
              <p:cNvSpPr/>
              <p:nvPr/>
            </p:nvSpPr>
            <p:spPr>
              <a:xfrm>
                <a:off x="913010" y="6597746"/>
                <a:ext cx="64317" cy="77079"/>
              </a:xfrm>
              <a:custGeom>
                <a:avLst/>
                <a:gdLst/>
                <a:ahLst/>
                <a:cxnLst/>
                <a:rect l="l" t="t" r="r" b="b"/>
                <a:pathLst>
                  <a:path w="64317" h="77079" extrusionOk="0">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1" name="Google Shape;871;p147"/>
              <p:cNvSpPr/>
              <p:nvPr/>
            </p:nvSpPr>
            <p:spPr>
              <a:xfrm>
                <a:off x="991041" y="6615627"/>
                <a:ext cx="34095" cy="59325"/>
              </a:xfrm>
              <a:custGeom>
                <a:avLst/>
                <a:gdLst/>
                <a:ahLst/>
                <a:cxnLst/>
                <a:rect l="l" t="t" r="r" b="b"/>
                <a:pathLst>
                  <a:path w="34095" h="59325" extrusionOk="0">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2" name="Google Shape;872;p147"/>
              <p:cNvSpPr/>
              <p:nvPr/>
            </p:nvSpPr>
            <p:spPr>
              <a:xfrm>
                <a:off x="1031485"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3" name="Google Shape;873;p147"/>
              <p:cNvSpPr/>
              <p:nvPr/>
            </p:nvSpPr>
            <p:spPr>
              <a:xfrm>
                <a:off x="1103168" y="6615904"/>
                <a:ext cx="52698" cy="60190"/>
              </a:xfrm>
              <a:custGeom>
                <a:avLst/>
                <a:gdLst/>
                <a:ahLst/>
                <a:cxnLst/>
                <a:rect l="l" t="t" r="r" b="b"/>
                <a:pathLst>
                  <a:path w="52698" h="60190" extrusionOk="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4" name="Google Shape;874;p147"/>
              <p:cNvSpPr/>
              <p:nvPr/>
            </p:nvSpPr>
            <p:spPr>
              <a:xfrm>
                <a:off x="1168882" y="6594444"/>
                <a:ext cx="60253" cy="81713"/>
              </a:xfrm>
              <a:custGeom>
                <a:avLst/>
                <a:gdLst/>
                <a:ahLst/>
                <a:cxnLst/>
                <a:rect l="l" t="t" r="r" b="b"/>
                <a:pathLst>
                  <a:path w="60253" h="81713" extrusionOk="0">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5" name="Google Shape;875;p147"/>
              <p:cNvSpPr/>
              <p:nvPr/>
            </p:nvSpPr>
            <p:spPr>
              <a:xfrm>
                <a:off x="1242659" y="6615587"/>
                <a:ext cx="53904" cy="60762"/>
              </a:xfrm>
              <a:custGeom>
                <a:avLst/>
                <a:gdLst/>
                <a:ahLst/>
                <a:cxnLst/>
                <a:rect l="l" t="t" r="r" b="b"/>
                <a:pathLst>
                  <a:path w="53904" h="60762" extrusionOk="0">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6" name="Google Shape;876;p147"/>
              <p:cNvSpPr/>
              <p:nvPr/>
            </p:nvSpPr>
            <p:spPr>
              <a:xfrm>
                <a:off x="1303928"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77" name="Google Shape;877;p147"/>
              <p:cNvSpPr/>
              <p:nvPr/>
            </p:nvSpPr>
            <p:spPr>
              <a:xfrm>
                <a:off x="1379484" y="6615524"/>
                <a:ext cx="88634" cy="59554"/>
              </a:xfrm>
              <a:custGeom>
                <a:avLst/>
                <a:gdLst/>
                <a:ahLst/>
                <a:cxnLst/>
                <a:rect l="l" t="t" r="r" b="b"/>
                <a:pathLst>
                  <a:path w="88634" h="59554" extrusionOk="0">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878" name="Google Shape;878;p147"/>
            <p:cNvGrpSpPr/>
            <p:nvPr/>
          </p:nvGrpSpPr>
          <p:grpSpPr>
            <a:xfrm>
              <a:off x="265625" y="6323271"/>
              <a:ext cx="1249222" cy="190348"/>
              <a:chOff x="265625" y="6323271"/>
              <a:chExt cx="1249222" cy="190348"/>
            </a:xfrm>
          </p:grpSpPr>
          <p:sp>
            <p:nvSpPr>
              <p:cNvPr id="879" name="Google Shape;879;p147"/>
              <p:cNvSpPr/>
              <p:nvPr/>
            </p:nvSpPr>
            <p:spPr>
              <a:xfrm>
                <a:off x="745773" y="6327144"/>
                <a:ext cx="264126" cy="184633"/>
              </a:xfrm>
              <a:custGeom>
                <a:avLst/>
                <a:gdLst/>
                <a:ahLst/>
                <a:cxnLst/>
                <a:rect l="l" t="t" r="r" b="b"/>
                <a:pathLst>
                  <a:path w="264126" h="184633" extrusionOk="0">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80" name="Google Shape;880;p147"/>
              <p:cNvSpPr/>
              <p:nvPr/>
            </p:nvSpPr>
            <p:spPr>
              <a:xfrm>
                <a:off x="1200945" y="6326827"/>
                <a:ext cx="102285" cy="184697"/>
              </a:xfrm>
              <a:custGeom>
                <a:avLst/>
                <a:gdLst/>
                <a:ahLst/>
                <a:cxnLst/>
                <a:rect l="l" t="t" r="r" b="b"/>
                <a:pathLst>
                  <a:path w="102285" h="184697" extrusionOk="0">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81" name="Google Shape;881;p147"/>
              <p:cNvSpPr/>
              <p:nvPr/>
            </p:nvSpPr>
            <p:spPr>
              <a:xfrm>
                <a:off x="1301262" y="6326700"/>
                <a:ext cx="166856" cy="186538"/>
              </a:xfrm>
              <a:custGeom>
                <a:avLst/>
                <a:gdLst/>
                <a:ahLst/>
                <a:cxnLst/>
                <a:rect l="l" t="t" r="r" b="b"/>
                <a:pathLst>
                  <a:path w="166856" h="186538" extrusionOk="0">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82" name="Google Shape;882;p147"/>
              <p:cNvSpPr/>
              <p:nvPr/>
            </p:nvSpPr>
            <p:spPr>
              <a:xfrm>
                <a:off x="1010406" y="6327144"/>
                <a:ext cx="157967" cy="186157"/>
              </a:xfrm>
              <a:custGeom>
                <a:avLst/>
                <a:gdLst/>
                <a:ahLst/>
                <a:cxnLst/>
                <a:rect l="l" t="t" r="r" b="b"/>
                <a:pathLst>
                  <a:path w="157967" h="186157" extrusionOk="0">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83" name="Google Shape;883;p147"/>
              <p:cNvSpPr/>
              <p:nvPr/>
            </p:nvSpPr>
            <p:spPr>
              <a:xfrm>
                <a:off x="265625" y="6323271"/>
                <a:ext cx="468782" cy="190348"/>
              </a:xfrm>
              <a:custGeom>
                <a:avLst/>
                <a:gdLst/>
                <a:ahLst/>
                <a:cxnLst/>
                <a:rect l="l" t="t" r="r" b="b"/>
                <a:pathLst>
                  <a:path w="468782" h="190348" extrusionOk="0">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84" name="Google Shape;884;p147"/>
              <p:cNvSpPr/>
              <p:nvPr/>
            </p:nvSpPr>
            <p:spPr>
              <a:xfrm>
                <a:off x="1470340" y="6326700"/>
                <a:ext cx="44507" cy="44761"/>
              </a:xfrm>
              <a:custGeom>
                <a:avLst/>
                <a:gdLst/>
                <a:ahLst/>
                <a:cxnLst/>
                <a:rect l="l" t="t" r="r" b="b"/>
                <a:pathLst>
                  <a:path w="44507" h="44761" extrusionOk="0">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885" name="Google Shape;885;p147"/>
              <p:cNvSpPr/>
              <p:nvPr/>
            </p:nvSpPr>
            <p:spPr>
              <a:xfrm>
                <a:off x="1484118" y="6337811"/>
                <a:ext cx="17968" cy="21714"/>
              </a:xfrm>
              <a:custGeom>
                <a:avLst/>
                <a:gdLst/>
                <a:ahLst/>
                <a:cxnLst/>
                <a:rect l="l" t="t" r="r" b="b"/>
                <a:pathLst>
                  <a:path w="17968" h="21714" extrusionOk="0">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sp>
        <p:nvSpPr>
          <p:cNvPr id="886" name="Google Shape;886;p147"/>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lt1"/>
                </a:solidFill>
                <a:latin typeface="Arial"/>
                <a:ea typeface="Arial"/>
                <a:cs typeface="Arial"/>
                <a:sym typeface="Arial"/>
              </a:rPr>
              <a:t>‹#›</a:t>
            </a:fld>
            <a:endParaRPr sz="800">
              <a:solidFill>
                <a:schemeClr val="lt1"/>
              </a:solidFill>
              <a:latin typeface="Arial"/>
              <a:ea typeface="Arial"/>
              <a:cs typeface="Arial"/>
              <a:sym typeface="Arial"/>
            </a:endParaRPr>
          </a:p>
        </p:txBody>
      </p:sp>
      <p:sp>
        <p:nvSpPr>
          <p:cNvPr id="887" name="Google Shape;887;p147"/>
          <p:cNvSpPr txBox="1"/>
          <p:nvPr/>
        </p:nvSpPr>
        <p:spPr>
          <a:xfrm>
            <a:off x="1645084" y="6461498"/>
            <a:ext cx="4488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None/>
            </a:pPr>
            <a:r>
              <a:rPr lang="en-US" sz="700">
                <a:solidFill>
                  <a:srgbClr val="000000"/>
                </a:solidFill>
                <a:latin typeface="Arial"/>
                <a:ea typeface="Arial"/>
                <a:cs typeface="Arial"/>
                <a:sym typeface="Arial"/>
              </a:rPr>
              <a:t>  </a:t>
            </a:r>
            <a:endParaRPr/>
          </a:p>
          <a:p>
            <a:pPr marL="0" marR="0" lvl="0" indent="0" algn="l" rtl="0">
              <a:lnSpc>
                <a:spcPct val="100000"/>
              </a:lnSpc>
              <a:spcBef>
                <a:spcPts val="0"/>
              </a:spcBef>
              <a:spcAft>
                <a:spcPts val="0"/>
              </a:spcAft>
              <a:buClr>
                <a:schemeClr val="dk1"/>
              </a:buClr>
              <a:buSzPts val="700"/>
              <a:buFont typeface="Arial"/>
              <a:buNone/>
            </a:pPr>
            <a:endParaRPr sz="700">
              <a:solidFill>
                <a:srgbClr val="000000"/>
              </a:solidFill>
              <a:latin typeface="Arial"/>
              <a:ea typeface="Arial"/>
              <a:cs typeface="Arial"/>
              <a:sym typeface="Arial"/>
            </a:endParaRPr>
          </a:p>
        </p:txBody>
      </p:sp>
    </p:spTree>
    <p:extLst>
      <p:ext uri="{BB962C8B-B14F-4D97-AF65-F5344CB8AC3E}">
        <p14:creationId xmlns:p14="http://schemas.microsoft.com/office/powerpoint/2010/main" val="1644979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Agenda">
  <p:cSld name="1_Agenda">
    <p:spTree>
      <p:nvGrpSpPr>
        <p:cNvPr id="1" name="Shape 810"/>
        <p:cNvGrpSpPr/>
        <p:nvPr/>
      </p:nvGrpSpPr>
      <p:grpSpPr>
        <a:xfrm>
          <a:off x="0" y="0"/>
          <a:ext cx="0" cy="0"/>
          <a:chOff x="0" y="0"/>
          <a:chExt cx="0" cy="0"/>
        </a:xfrm>
      </p:grpSpPr>
      <p:sp>
        <p:nvSpPr>
          <p:cNvPr id="811" name="Google Shape;811;p143"/>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812" name="Google Shape;812;p143"/>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813" name="Google Shape;813;p143"/>
          <p:cNvSpPr txBox="1">
            <a:spLocks noGrp="1"/>
          </p:cNvSpPr>
          <p:nvPr>
            <p:ph type="body" idx="1"/>
          </p:nvPr>
        </p:nvSpPr>
        <p:spPr>
          <a:xfrm>
            <a:off x="609600" y="1267608"/>
            <a:ext cx="1939925" cy="1969770"/>
          </a:xfrm>
          <a:prstGeom prst="rect">
            <a:avLst/>
          </a:prstGeom>
          <a:noFill/>
          <a:ln>
            <a:noFill/>
          </a:ln>
        </p:spPr>
        <p:txBody>
          <a:bodyPr spcFirstLastPara="1" wrap="square" lIns="0" tIns="0" rIns="0" bIns="0" anchor="t" anchorCtr="0">
            <a:spAutoFit/>
          </a:bodyPr>
          <a:lstStyle>
            <a:lvl1pPr marL="457200" lvl="0" indent="-411480" algn="l">
              <a:lnSpc>
                <a:spcPct val="100000"/>
              </a:lnSpc>
              <a:spcBef>
                <a:spcPts val="0"/>
              </a:spcBef>
              <a:spcAft>
                <a:spcPts val="0"/>
              </a:spcAft>
              <a:buSzPts val="2880"/>
              <a:buChar char="​"/>
              <a:defRPr sz="3200">
                <a:solidFill>
                  <a:schemeClr val="accent2"/>
                </a:solidFill>
                <a:latin typeface="Arial"/>
                <a:ea typeface="Arial"/>
                <a:cs typeface="Arial"/>
                <a:sym typeface="Arial"/>
              </a:defRPr>
            </a:lvl1pPr>
            <a:lvl2pPr marL="914400" lvl="1" indent="-331469" algn="l">
              <a:lnSpc>
                <a:spcPct val="100000"/>
              </a:lnSpc>
              <a:spcBef>
                <a:spcPts val="1200"/>
              </a:spcBef>
              <a:spcAft>
                <a:spcPts val="0"/>
              </a:spcAft>
              <a:buSzPts val="1620"/>
              <a:buChar char="•"/>
              <a:defRPr/>
            </a:lvl2pPr>
            <a:lvl3pPr marL="1371600" lvl="2" indent="-331469" algn="l">
              <a:lnSpc>
                <a:spcPct val="100000"/>
              </a:lnSpc>
              <a:spcBef>
                <a:spcPts val="1200"/>
              </a:spcBef>
              <a:spcAft>
                <a:spcPts val="0"/>
              </a:spcAft>
              <a:buSzPts val="1620"/>
              <a:buChar char="–"/>
              <a:defRPr/>
            </a:lvl3pPr>
            <a:lvl4pPr marL="1828800" lvl="3" indent="-331469" algn="l">
              <a:lnSpc>
                <a:spcPct val="100000"/>
              </a:lnSpc>
              <a:spcBef>
                <a:spcPts val="1200"/>
              </a:spcBef>
              <a:spcAft>
                <a:spcPts val="0"/>
              </a:spcAft>
              <a:buSzPts val="1620"/>
              <a:buChar char="•"/>
              <a:defRPr/>
            </a:lvl4pPr>
            <a:lvl5pPr marL="2286000" lvl="4" indent="-331470" algn="l">
              <a:lnSpc>
                <a:spcPct val="100000"/>
              </a:lnSpc>
              <a:spcBef>
                <a:spcPts val="1200"/>
              </a:spcBef>
              <a:spcAft>
                <a:spcPts val="0"/>
              </a:spcAft>
              <a:buSzPts val="1620"/>
              <a:buChar char="–"/>
              <a:defRPr/>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a:p>
        </p:txBody>
      </p:sp>
      <p:sp>
        <p:nvSpPr>
          <p:cNvPr id="814" name="Google Shape;814;p143"/>
          <p:cNvSpPr txBox="1">
            <a:spLocks noGrp="1"/>
          </p:cNvSpPr>
          <p:nvPr>
            <p:ph type="body" idx="2"/>
          </p:nvPr>
        </p:nvSpPr>
        <p:spPr>
          <a:xfrm>
            <a:off x="2894013" y="1267608"/>
            <a:ext cx="7335837" cy="4337050"/>
          </a:xfrm>
          <a:prstGeom prst="rect">
            <a:avLst/>
          </a:prstGeom>
          <a:noFill/>
          <a:ln>
            <a:noFill/>
          </a:ln>
        </p:spPr>
        <p:txBody>
          <a:bodyPr spcFirstLastPara="1" wrap="square" lIns="0" tIns="0" rIns="0" bIns="0" anchor="t" anchorCtr="0">
            <a:noAutofit/>
          </a:bodyPr>
          <a:lstStyle>
            <a:lvl1pPr marL="457200" lvl="0" indent="-388620" algn="l">
              <a:lnSpc>
                <a:spcPct val="100000"/>
              </a:lnSpc>
              <a:spcBef>
                <a:spcPts val="0"/>
              </a:spcBef>
              <a:spcAft>
                <a:spcPts val="0"/>
              </a:spcAft>
              <a:buClr>
                <a:schemeClr val="accent2"/>
              </a:buClr>
              <a:buSzPts val="2520"/>
              <a:buFont typeface="Arial"/>
              <a:buChar char="•"/>
              <a:defRPr sz="2800"/>
            </a:lvl1pPr>
            <a:lvl2pPr marL="914400" lvl="1" indent="-365760" algn="l">
              <a:lnSpc>
                <a:spcPct val="100000"/>
              </a:lnSpc>
              <a:spcBef>
                <a:spcPts val="1200"/>
              </a:spcBef>
              <a:spcAft>
                <a:spcPts val="0"/>
              </a:spcAft>
              <a:buClr>
                <a:schemeClr val="accent2"/>
              </a:buClr>
              <a:buSzPts val="2160"/>
              <a:buChar char="•"/>
              <a:defRPr sz="2400"/>
            </a:lvl2pPr>
            <a:lvl3pPr marL="1371600" lvl="2" indent="-342900" algn="l">
              <a:lnSpc>
                <a:spcPct val="100000"/>
              </a:lnSpc>
              <a:spcBef>
                <a:spcPts val="1200"/>
              </a:spcBef>
              <a:spcAft>
                <a:spcPts val="0"/>
              </a:spcAft>
              <a:buClr>
                <a:schemeClr val="accent2"/>
              </a:buClr>
              <a:buSzPts val="1800"/>
              <a:buChar char="–"/>
              <a:defRPr sz="2000"/>
            </a:lvl3pPr>
            <a:lvl4pPr marL="1828800" lvl="3" indent="-331469" algn="l">
              <a:lnSpc>
                <a:spcPct val="100000"/>
              </a:lnSpc>
              <a:spcBef>
                <a:spcPts val="1200"/>
              </a:spcBef>
              <a:spcAft>
                <a:spcPts val="0"/>
              </a:spcAft>
              <a:buClr>
                <a:schemeClr val="accent2"/>
              </a:buClr>
              <a:buSzPts val="1620"/>
              <a:buChar char="•"/>
              <a:defRPr sz="1800"/>
            </a:lvl4pPr>
            <a:lvl5pPr marL="2286000" lvl="4" indent="-331470" algn="l">
              <a:lnSpc>
                <a:spcPct val="100000"/>
              </a:lnSpc>
              <a:spcBef>
                <a:spcPts val="1200"/>
              </a:spcBef>
              <a:spcAft>
                <a:spcPts val="0"/>
              </a:spcAft>
              <a:buClr>
                <a:schemeClr val="accent2"/>
              </a:buClr>
              <a:buSzPts val="1620"/>
              <a:buChar char="–"/>
              <a:defRPr sz="1800"/>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a:p>
        </p:txBody>
      </p:sp>
    </p:spTree>
    <p:extLst>
      <p:ext uri="{BB962C8B-B14F-4D97-AF65-F5344CB8AC3E}">
        <p14:creationId xmlns:p14="http://schemas.microsoft.com/office/powerpoint/2010/main" val="33898271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Diagram with Content on Right" userDrawn="1">
  <p:cSld name="2_Diagram with Content on Right">
    <p:spTree>
      <p:nvGrpSpPr>
        <p:cNvPr id="1" name="Shape 128"/>
        <p:cNvGrpSpPr/>
        <p:nvPr/>
      </p:nvGrpSpPr>
      <p:grpSpPr>
        <a:xfrm>
          <a:off x="0" y="0"/>
          <a:ext cx="0" cy="0"/>
          <a:chOff x="0" y="0"/>
          <a:chExt cx="0" cy="0"/>
        </a:xfrm>
      </p:grpSpPr>
      <p:sp>
        <p:nvSpPr>
          <p:cNvPr id="2" name="Text Placeholder 4">
            <a:extLst>
              <a:ext uri="{FF2B5EF4-FFF2-40B4-BE49-F238E27FC236}">
                <a16:creationId xmlns:a16="http://schemas.microsoft.com/office/drawing/2014/main" id="{26738EB9-DA9B-BAF8-701C-6A75779200DF}"/>
              </a:ext>
            </a:extLst>
          </p:cNvPr>
          <p:cNvSpPr>
            <a:spLocks noGrp="1"/>
          </p:cNvSpPr>
          <p:nvPr>
            <p:ph type="body" sz="quarter" idx="17" hasCustomPrompt="1"/>
          </p:nvPr>
        </p:nvSpPr>
        <p:spPr>
          <a:xfrm>
            <a:off x="8380072" y="1579778"/>
            <a:ext cx="3808412" cy="4572000"/>
          </a:xfrm>
        </p:spPr>
        <p:txBody>
          <a:bodyPr tIns="457200" rIns="594360" bIns="457200"/>
          <a:lstStyle>
            <a:lvl1pPr marL="114300" indent="0">
              <a:spcAft>
                <a:spcPts val="1200"/>
              </a:spcAft>
              <a:buNone/>
              <a:defRPr sz="1400">
                <a:solidFill>
                  <a:schemeClr val="accent2"/>
                </a:solidFill>
                <a:latin typeface="Arial" panose="020B0604020202020204" pitchFamily="34" charset="0"/>
                <a:cs typeface="Arial" panose="020B0604020202020204" pitchFamily="34" charset="0"/>
              </a:defRPr>
            </a:lvl1pPr>
            <a:lvl2pPr marL="536575" indent="-171450">
              <a:spcBef>
                <a:spcPts val="0"/>
              </a:spcBef>
              <a:spcAft>
                <a:spcPts val="1200"/>
              </a:spcAft>
              <a:buClr>
                <a:schemeClr val="accent2"/>
              </a:buClr>
              <a:tabLst/>
              <a:defRPr sz="1400">
                <a:solidFill>
                  <a:schemeClr val="accent2"/>
                </a:solidFill>
                <a:latin typeface="Arial" panose="020B0604020202020204" pitchFamily="34" charset="0"/>
                <a:cs typeface="Arial" panose="020B0604020202020204" pitchFamily="34" charset="0"/>
              </a:defRPr>
            </a:lvl2pPr>
            <a:lvl3pPr marL="800100" indent="-173038">
              <a:spcBef>
                <a:spcPts val="0"/>
              </a:spcBef>
              <a:spcAft>
                <a:spcPts val="1200"/>
              </a:spcAft>
              <a:buClr>
                <a:schemeClr val="accent2"/>
              </a:buClr>
              <a:tabLst/>
              <a:defRPr sz="1400">
                <a:solidFill>
                  <a:schemeClr val="accent2"/>
                </a:solidFill>
                <a:latin typeface="Arial" panose="020B0604020202020204" pitchFamily="34" charset="0"/>
                <a:cs typeface="Arial" panose="020B0604020202020204" pitchFamily="34" charset="0"/>
              </a:defRPr>
            </a:lvl3pPr>
            <a:lvl4pPr marL="1692275" indent="-171450">
              <a:spcBef>
                <a:spcPts val="0"/>
              </a:spcBef>
              <a:spcAft>
                <a:spcPts val="1200"/>
              </a:spcAft>
              <a:buClr>
                <a:schemeClr val="accent2"/>
              </a:buClr>
              <a:tabLst/>
              <a:defRPr sz="1400">
                <a:solidFill>
                  <a:schemeClr val="accent2"/>
                </a:solidFill>
                <a:latin typeface="Arial" panose="020B0604020202020204" pitchFamily="34" charset="0"/>
                <a:cs typeface="Arial" panose="020B0604020202020204" pitchFamily="34" charset="0"/>
              </a:defRPr>
            </a:lvl4pPr>
            <a:lvl5pPr marL="2135188" indent="-157163">
              <a:spcBef>
                <a:spcPts val="0"/>
              </a:spcBef>
              <a:spcAft>
                <a:spcPts val="1200"/>
              </a:spcAft>
              <a:buClr>
                <a:schemeClr val="accent2"/>
              </a:buClr>
              <a:tabLst/>
              <a:defRPr sz="1400">
                <a:solidFill>
                  <a:schemeClr val="accent2"/>
                </a:solidFill>
                <a:latin typeface="Arial" panose="020B0604020202020204" pitchFamily="34" charset="0"/>
                <a:cs typeface="Arial" panose="020B0604020202020204" pitchFamily="34" charset="0"/>
              </a:defRPr>
            </a:lvl5pPr>
            <a:lvl6pPr>
              <a:spcBef>
                <a:spcPts val="0"/>
              </a:spcBef>
              <a:spcAft>
                <a:spcPts val="1200"/>
              </a:spcAft>
              <a:buClr>
                <a:schemeClr val="accent2"/>
              </a:buClr>
              <a:defRPr sz="1400">
                <a:solidFill>
                  <a:schemeClr val="accent2"/>
                </a:solidFill>
                <a:latin typeface="Arial" panose="020B0604020202020204" pitchFamily="34" charset="0"/>
                <a:cs typeface="Arial" panose="020B0604020202020204" pitchFamily="34" charset="0"/>
              </a:defRPr>
            </a:lvl6pPr>
            <a:lvl7pPr>
              <a:spcBef>
                <a:spcPts val="0"/>
              </a:spcBef>
              <a:spcAft>
                <a:spcPts val="1200"/>
              </a:spcAft>
              <a:buClr>
                <a:schemeClr val="accent2"/>
              </a:buClr>
              <a:defRPr sz="1400">
                <a:solidFill>
                  <a:schemeClr val="accent2"/>
                </a:solidFill>
                <a:latin typeface="Arial" panose="020B0604020202020204" pitchFamily="34" charset="0"/>
                <a:cs typeface="Arial" panose="020B0604020202020204" pitchFamily="34" charset="0"/>
              </a:defRPr>
            </a:lvl7pPr>
            <a:lvl8pPr>
              <a:spcBef>
                <a:spcPts val="0"/>
              </a:spcBef>
              <a:spcAft>
                <a:spcPts val="1200"/>
              </a:spcAft>
              <a:buClr>
                <a:schemeClr val="accent2"/>
              </a:buClr>
              <a:defRPr sz="1400">
                <a:solidFill>
                  <a:schemeClr val="accent2"/>
                </a:solidFill>
                <a:latin typeface="Arial" panose="020B0604020202020204" pitchFamily="34" charset="0"/>
                <a:cs typeface="Arial" panose="020B0604020202020204" pitchFamily="34" charset="0"/>
              </a:defRPr>
            </a:lvl8pPr>
            <a:lvl9pPr>
              <a:spcBef>
                <a:spcPts val="0"/>
              </a:spcBef>
              <a:spcAft>
                <a:spcPts val="1200"/>
              </a:spcAft>
              <a:buClr>
                <a:schemeClr val="accent2"/>
              </a:buClr>
              <a:defRPr sz="1400">
                <a:solidFill>
                  <a:schemeClr val="accent2"/>
                </a:solidFill>
                <a:latin typeface="Arial" panose="020B0604020202020204" pitchFamily="34" charset="0"/>
                <a:cs typeface="Arial" panose="020B0604020202020204" pitchFamily="34" charset="0"/>
              </a:defRPr>
            </a:lvl9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31" name="Google Shape;131;p86"/>
          <p:cNvSpPr/>
          <p:nvPr/>
        </p:nvSpPr>
        <p:spPr>
          <a:xfrm rot="10800000" flipH="1">
            <a:off x="8380072" y="1589923"/>
            <a:ext cx="3808754" cy="82618"/>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dirty="0">
              <a:solidFill>
                <a:schemeClr val="lt1"/>
              </a:solidFill>
              <a:latin typeface="Arial" panose="020B0604020202020204" pitchFamily="34" charset="0"/>
              <a:ea typeface="Arial"/>
              <a:cs typeface="Arial" panose="020B0604020202020204" pitchFamily="34" charset="0"/>
              <a:sym typeface="Arial"/>
            </a:endParaRPr>
          </a:p>
          <a:p>
            <a:pPr marL="0" marR="0" lvl="0" indent="0" algn="ctr" rtl="0">
              <a:spcBef>
                <a:spcPts val="600"/>
              </a:spcBef>
              <a:spcAft>
                <a:spcPts val="0"/>
              </a:spcAft>
              <a:buNone/>
            </a:pPr>
            <a:endParaRPr sz="1200" dirty="0">
              <a:solidFill>
                <a:schemeClr val="lt1"/>
              </a:solidFill>
              <a:latin typeface="Arial" panose="020B0604020202020204" pitchFamily="34" charset="0"/>
              <a:ea typeface="Arial"/>
              <a:cs typeface="Arial" panose="020B0604020202020204" pitchFamily="34" charset="0"/>
              <a:sym typeface="Arial"/>
            </a:endParaRPr>
          </a:p>
        </p:txBody>
      </p:sp>
      <p:sp>
        <p:nvSpPr>
          <p:cNvPr id="133" name="Google Shape;133;p86"/>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panose="020B0604020202020204" pitchFamily="34" charset="0"/>
                <a:ea typeface="Arial"/>
                <a:cs typeface="Arial" panose="020B0604020202020204" pitchFamily="34" charset="0"/>
                <a:sym typeface="Arial"/>
              </a:rPr>
              <a:t>‹#›</a:t>
            </a:fld>
            <a:endParaRPr sz="800" dirty="0">
              <a:solidFill>
                <a:schemeClr val="dk2"/>
              </a:solidFill>
              <a:latin typeface="Arial" panose="020B0604020202020204" pitchFamily="34" charset="0"/>
              <a:ea typeface="Arial"/>
              <a:cs typeface="Arial" panose="020B0604020202020204" pitchFamily="34" charset="0"/>
              <a:sym typeface="Arial"/>
            </a:endParaRPr>
          </a:p>
        </p:txBody>
      </p:sp>
      <p:sp>
        <p:nvSpPr>
          <p:cNvPr id="135" name="Google Shape;135;p86"/>
          <p:cNvSpPr/>
          <p:nvPr/>
        </p:nvSpPr>
        <p:spPr>
          <a:xfrm rot="10800000" flipH="1">
            <a:off x="8380072" y="1589923"/>
            <a:ext cx="3808754" cy="82618"/>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dirty="0">
              <a:solidFill>
                <a:schemeClr val="lt1"/>
              </a:solidFill>
              <a:latin typeface="Arial" panose="020B0604020202020204" pitchFamily="34" charset="0"/>
              <a:ea typeface="Arial"/>
              <a:cs typeface="Arial" panose="020B0604020202020204" pitchFamily="34" charset="0"/>
              <a:sym typeface="Arial"/>
            </a:endParaRPr>
          </a:p>
          <a:p>
            <a:pPr marL="0" marR="0" lvl="0" indent="0" algn="ctr" rtl="0">
              <a:spcBef>
                <a:spcPts val="600"/>
              </a:spcBef>
              <a:spcAft>
                <a:spcPts val="0"/>
              </a:spcAft>
              <a:buNone/>
            </a:pPr>
            <a:endParaRPr sz="1200" dirty="0">
              <a:solidFill>
                <a:schemeClr val="lt1"/>
              </a:solidFill>
              <a:latin typeface="Arial" panose="020B0604020202020204" pitchFamily="34" charset="0"/>
              <a:ea typeface="Arial"/>
              <a:cs typeface="Arial" panose="020B0604020202020204" pitchFamily="34" charset="0"/>
              <a:sym typeface="Arial"/>
            </a:endParaRPr>
          </a:p>
        </p:txBody>
      </p:sp>
      <p:sp>
        <p:nvSpPr>
          <p:cNvPr id="136" name="Google Shape;136;p86"/>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a:solidFill>
                  <a:schemeClr val="dk2"/>
                </a:solidFill>
                <a:latin typeface="Arial" panose="020B0604020202020204" pitchFamily="34" charset="0"/>
                <a:ea typeface="Arial"/>
                <a:cs typeface="Arial" panose="020B0604020202020204" pitchFamily="34" charset="0"/>
                <a:sym typeface="Arial"/>
              </a:rPr>
              <a:t>‹#›</a:t>
            </a:fld>
            <a:endParaRPr sz="800" dirty="0">
              <a:solidFill>
                <a:schemeClr val="dk2"/>
              </a:solidFill>
              <a:latin typeface="Arial" panose="020B0604020202020204" pitchFamily="34" charset="0"/>
              <a:ea typeface="Arial"/>
              <a:cs typeface="Arial" panose="020B0604020202020204" pitchFamily="34" charset="0"/>
              <a:sym typeface="Arial"/>
            </a:endParaRPr>
          </a:p>
        </p:txBody>
      </p:sp>
      <p:sp>
        <p:nvSpPr>
          <p:cNvPr id="4" name="Title 1">
            <a:extLst>
              <a:ext uri="{FF2B5EF4-FFF2-40B4-BE49-F238E27FC236}">
                <a16:creationId xmlns:a16="http://schemas.microsoft.com/office/drawing/2014/main" id="{A2EDCAA5-3367-7939-1D86-6E98E323B343}"/>
              </a:ext>
            </a:extLst>
          </p:cNvPr>
          <p:cNvSpPr>
            <a:spLocks noGrp="1"/>
          </p:cNvSpPr>
          <p:nvPr>
            <p:ph type="title" hasCustomPrompt="1"/>
          </p:nvPr>
        </p:nvSpPr>
        <p:spPr>
          <a:xfrm>
            <a:off x="579809" y="412751"/>
            <a:ext cx="11001004" cy="381000"/>
          </a:xfrm>
        </p:spPr>
        <p:txBody>
          <a:bodyPr/>
          <a:lstStyle>
            <a:lvl1pPr>
              <a:defRPr>
                <a:solidFill>
                  <a:schemeClr val="accent2"/>
                </a:solidFill>
                <a:latin typeface="Arial" panose="020B0604020202020204" pitchFamily="34" charset="0"/>
                <a:cs typeface="Arial" panose="020B0604020202020204" pitchFamily="34" charset="0"/>
              </a:defRPr>
            </a:lvl1pPr>
          </a:lstStyle>
          <a:p>
            <a:r>
              <a:rPr lang="en-US" dirty="0"/>
              <a:t>Click to Add One Line Title</a:t>
            </a:r>
          </a:p>
        </p:txBody>
      </p:sp>
      <p:sp>
        <p:nvSpPr>
          <p:cNvPr id="5" name="Subtitle 2">
            <a:extLst>
              <a:ext uri="{FF2B5EF4-FFF2-40B4-BE49-F238E27FC236}">
                <a16:creationId xmlns:a16="http://schemas.microsoft.com/office/drawing/2014/main" id="{B4D560C4-7E40-2EBC-D49F-351998BAC3BB}"/>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solidFill>
                <a:latin typeface="Arial" panose="020B0604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subtitle</a:t>
            </a:r>
          </a:p>
        </p:txBody>
      </p:sp>
    </p:spTree>
    <p:extLst>
      <p:ext uri="{BB962C8B-B14F-4D97-AF65-F5344CB8AC3E}">
        <p14:creationId xmlns:p14="http://schemas.microsoft.com/office/powerpoint/2010/main" val="4025984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wo Content Dynamic – Left">
  <p:cSld name="1_Two Content Dynamic – Left">
    <p:spTree>
      <p:nvGrpSpPr>
        <p:cNvPr id="1" name="Shape 5160"/>
        <p:cNvGrpSpPr/>
        <p:nvPr/>
      </p:nvGrpSpPr>
      <p:grpSpPr>
        <a:xfrm>
          <a:off x="0" y="0"/>
          <a:ext cx="0" cy="0"/>
          <a:chOff x="0" y="0"/>
          <a:chExt cx="0" cy="0"/>
        </a:xfrm>
      </p:grpSpPr>
      <p:sp>
        <p:nvSpPr>
          <p:cNvPr id="5161" name="Google Shape;5161;p184"/>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62" name="Google Shape;5162;p184"/>
          <p:cNvSpPr txBox="1">
            <a:spLocks noGrp="1"/>
          </p:cNvSpPr>
          <p:nvPr>
            <p:ph type="subTitle" idx="1"/>
          </p:nvPr>
        </p:nvSpPr>
        <p:spPr>
          <a:xfrm>
            <a:off x="592867" y="811831"/>
            <a:ext cx="10962687" cy="247743"/>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1999">
                <a:solidFill>
                  <a:schemeClr val="dk1"/>
                </a:solidFill>
                <a:latin typeface="Arial"/>
                <a:ea typeface="Arial"/>
                <a:cs typeface="Arial"/>
                <a:sym typeface="Arial"/>
              </a:defRPr>
            </a:lvl1pPr>
            <a:lvl2pPr lvl="1" algn="ctr">
              <a:lnSpc>
                <a:spcPct val="100000"/>
              </a:lnSpc>
              <a:spcBef>
                <a:spcPts val="1200"/>
              </a:spcBef>
              <a:spcAft>
                <a:spcPts val="0"/>
              </a:spcAft>
              <a:buSzPts val="1800"/>
              <a:buNone/>
              <a:defRPr sz="1999"/>
            </a:lvl2pPr>
            <a:lvl3pPr lvl="2" algn="ctr">
              <a:lnSpc>
                <a:spcPct val="100000"/>
              </a:lnSpc>
              <a:spcBef>
                <a:spcPts val="1200"/>
              </a:spcBef>
              <a:spcAft>
                <a:spcPts val="0"/>
              </a:spcAft>
              <a:buSzPts val="1620"/>
              <a:buNone/>
              <a:defRPr sz="1799"/>
            </a:lvl3pPr>
            <a:lvl4pPr lvl="3" algn="ctr">
              <a:lnSpc>
                <a:spcPct val="100000"/>
              </a:lnSpc>
              <a:spcBef>
                <a:spcPts val="1200"/>
              </a:spcBef>
              <a:spcAft>
                <a:spcPts val="0"/>
              </a:spcAft>
              <a:buSzPts val="1440"/>
              <a:buNone/>
              <a:defRPr sz="1600"/>
            </a:lvl4pPr>
            <a:lvl5pPr lvl="4" algn="ctr">
              <a:lnSpc>
                <a:spcPct val="100000"/>
              </a:lnSpc>
              <a:spcBef>
                <a:spcPts val="1200"/>
              </a:spcBef>
              <a:spcAft>
                <a:spcPts val="0"/>
              </a:spcAft>
              <a:buSzPts val="1440"/>
              <a:buNone/>
              <a:defRPr sz="1600"/>
            </a:lvl5pPr>
            <a:lvl6pPr lvl="5" algn="ctr">
              <a:lnSpc>
                <a:spcPct val="100000"/>
              </a:lnSpc>
              <a:spcBef>
                <a:spcPts val="1200"/>
              </a:spcBef>
              <a:spcAft>
                <a:spcPts val="0"/>
              </a:spcAft>
              <a:buSzPts val="1440"/>
              <a:buNone/>
              <a:defRPr sz="1600"/>
            </a:lvl6pPr>
            <a:lvl7pPr lvl="6" algn="ctr">
              <a:lnSpc>
                <a:spcPct val="100000"/>
              </a:lnSpc>
              <a:spcBef>
                <a:spcPts val="1200"/>
              </a:spcBef>
              <a:spcAft>
                <a:spcPts val="0"/>
              </a:spcAft>
              <a:buSzPts val="1440"/>
              <a:buNone/>
              <a:defRPr sz="1600"/>
            </a:lvl7pPr>
            <a:lvl8pPr lvl="7" algn="ctr">
              <a:lnSpc>
                <a:spcPct val="100000"/>
              </a:lnSpc>
              <a:spcBef>
                <a:spcPts val="1200"/>
              </a:spcBef>
              <a:spcAft>
                <a:spcPts val="0"/>
              </a:spcAft>
              <a:buSzPts val="1440"/>
              <a:buNone/>
              <a:defRPr sz="1600"/>
            </a:lvl8pPr>
            <a:lvl9pPr lvl="8" algn="ctr">
              <a:lnSpc>
                <a:spcPct val="100000"/>
              </a:lnSpc>
              <a:spcBef>
                <a:spcPts val="1200"/>
              </a:spcBef>
              <a:spcAft>
                <a:spcPts val="1200"/>
              </a:spcAft>
              <a:buSzPts val="1440"/>
              <a:buNone/>
              <a:defRPr sz="1600"/>
            </a:lvl9pPr>
          </a:lstStyle>
          <a:p>
            <a:endParaRPr/>
          </a:p>
        </p:txBody>
      </p:sp>
      <p:sp>
        <p:nvSpPr>
          <p:cNvPr id="5163" name="Google Shape;5163;p184"/>
          <p:cNvSpPr/>
          <p:nvPr/>
        </p:nvSpPr>
        <p:spPr>
          <a:xfrm rot="10800000" flipH="1">
            <a:off x="0" y="1552601"/>
            <a:ext cx="2894012" cy="54864"/>
          </a:xfrm>
          <a:prstGeom prst="rect">
            <a:avLst/>
          </a:prstGeom>
          <a:solidFill>
            <a:schemeClr val="accent2"/>
          </a:solidFill>
          <a:ln>
            <a:noFill/>
          </a:ln>
        </p:spPr>
        <p:txBody>
          <a:bodyPr spcFirstLastPara="1" wrap="square" lIns="91400" tIns="45675" rIns="91400" bIns="45675" anchor="ctr" anchorCtr="0">
            <a:noAutofit/>
          </a:bodyPr>
          <a:lstStyle/>
          <a:p>
            <a:pPr marL="0" marR="0" lvl="0" indent="0" algn="ctr" rtl="0">
              <a:spcBef>
                <a:spcPts val="0"/>
              </a:spcBef>
              <a:spcAft>
                <a:spcPts val="0"/>
              </a:spcAft>
              <a:buClr>
                <a:schemeClr val="dk1"/>
              </a:buClr>
              <a:buSzPts val="1200"/>
              <a:buFont typeface="Arial"/>
              <a:buNone/>
            </a:pPr>
            <a:endParaRPr sz="1200">
              <a:solidFill>
                <a:schemeClr val="lt1"/>
              </a:solidFill>
              <a:latin typeface="Arial"/>
              <a:ea typeface="Arial"/>
              <a:cs typeface="Arial"/>
              <a:sym typeface="Arial"/>
            </a:endParaRPr>
          </a:p>
          <a:p>
            <a:pPr marL="0" marR="0" lvl="0" indent="0" algn="ctr" rtl="0">
              <a:spcBef>
                <a:spcPts val="600"/>
              </a:spcBef>
              <a:spcAft>
                <a:spcPts val="0"/>
              </a:spcAft>
              <a:buClr>
                <a:schemeClr val="dk1"/>
              </a:buClr>
              <a:buSzPts val="1200"/>
              <a:buFont typeface="Arial"/>
              <a:buNone/>
            </a:pPr>
            <a:endParaRPr sz="1200">
              <a:solidFill>
                <a:schemeClr val="lt1"/>
              </a:solidFill>
              <a:latin typeface="Arial"/>
              <a:ea typeface="Arial"/>
              <a:cs typeface="Arial"/>
              <a:sym typeface="Arial"/>
            </a:endParaRPr>
          </a:p>
        </p:txBody>
      </p:sp>
      <p:sp>
        <p:nvSpPr>
          <p:cNvPr id="5164" name="Google Shape;5164;p184"/>
          <p:cNvSpPr txBox="1">
            <a:spLocks noGrp="1"/>
          </p:cNvSpPr>
          <p:nvPr>
            <p:ph type="body" idx="2"/>
          </p:nvPr>
        </p:nvSpPr>
        <p:spPr>
          <a:xfrm>
            <a:off x="1" y="1609531"/>
            <a:ext cx="2894013" cy="4572000"/>
          </a:xfrm>
          <a:prstGeom prst="rect">
            <a:avLst/>
          </a:prstGeom>
          <a:solidFill>
            <a:srgbClr val="F4F8FA"/>
          </a:solidFill>
          <a:ln>
            <a:noFill/>
          </a:ln>
        </p:spPr>
        <p:txBody>
          <a:bodyPr spcFirstLastPara="1" wrap="square" lIns="274300" tIns="457200" rIns="457200" bIns="457200" anchor="t" anchorCtr="0">
            <a:noAutofit/>
          </a:bodyPr>
          <a:lstStyle>
            <a:lvl1pPr marL="457200" lvl="0" indent="-331470" algn="l">
              <a:lnSpc>
                <a:spcPct val="100000"/>
              </a:lnSpc>
              <a:spcBef>
                <a:spcPts val="0"/>
              </a:spcBef>
              <a:spcAft>
                <a:spcPts val="0"/>
              </a:spcAft>
              <a:buSzPts val="1620"/>
              <a:buChar char="​"/>
              <a:defRPr sz="1799">
                <a:solidFill>
                  <a:schemeClr val="accent2"/>
                </a:solidFill>
              </a:defRPr>
            </a:lvl1pPr>
            <a:lvl2pPr marL="914400" lvl="1" indent="-320040" algn="l">
              <a:lnSpc>
                <a:spcPct val="100000"/>
              </a:lnSpc>
              <a:spcBef>
                <a:spcPts val="1200"/>
              </a:spcBef>
              <a:spcAft>
                <a:spcPts val="0"/>
              </a:spcAft>
              <a:buClr>
                <a:schemeClr val="accent2"/>
              </a:buClr>
              <a:buSzPts val="1440"/>
              <a:buChar char="•"/>
              <a:defRPr sz="1600">
                <a:solidFill>
                  <a:schemeClr val="accent2"/>
                </a:solidFill>
              </a:defRPr>
            </a:lvl2pPr>
            <a:lvl3pPr marL="1371600" lvl="2" indent="-308610" algn="l">
              <a:lnSpc>
                <a:spcPct val="100000"/>
              </a:lnSpc>
              <a:spcBef>
                <a:spcPts val="1200"/>
              </a:spcBef>
              <a:spcAft>
                <a:spcPts val="0"/>
              </a:spcAft>
              <a:buClr>
                <a:schemeClr val="accent2"/>
              </a:buClr>
              <a:buSzPts val="1260"/>
              <a:buChar char="–"/>
              <a:defRPr sz="1400">
                <a:solidFill>
                  <a:schemeClr val="accent2"/>
                </a:solidFill>
              </a:defRPr>
            </a:lvl3pPr>
            <a:lvl4pPr marL="1828800" lvl="3" indent="-297180" algn="l">
              <a:lnSpc>
                <a:spcPct val="100000"/>
              </a:lnSpc>
              <a:spcBef>
                <a:spcPts val="1200"/>
              </a:spcBef>
              <a:spcAft>
                <a:spcPts val="0"/>
              </a:spcAft>
              <a:buClr>
                <a:schemeClr val="accent2"/>
              </a:buClr>
              <a:buSzPts val="1080"/>
              <a:buChar char="•"/>
              <a:defRPr sz="1200">
                <a:solidFill>
                  <a:schemeClr val="accent2"/>
                </a:solidFill>
              </a:defRPr>
            </a:lvl4pPr>
            <a:lvl5pPr marL="2286000" lvl="4" indent="-297180" algn="l">
              <a:lnSpc>
                <a:spcPct val="100000"/>
              </a:lnSpc>
              <a:spcBef>
                <a:spcPts val="1200"/>
              </a:spcBef>
              <a:spcAft>
                <a:spcPts val="0"/>
              </a:spcAft>
              <a:buClr>
                <a:schemeClr val="accent2"/>
              </a:buClr>
              <a:buSzPts val="1080"/>
              <a:buChar char="–"/>
              <a:defRPr sz="1200">
                <a:solidFill>
                  <a:schemeClr val="accent2"/>
                </a:solidFill>
              </a:defRPr>
            </a:lvl5pPr>
            <a:lvl6pPr marL="2743200" lvl="5" indent="-331470" algn="l">
              <a:lnSpc>
                <a:spcPct val="100000"/>
              </a:lnSpc>
              <a:spcBef>
                <a:spcPts val="1200"/>
              </a:spcBef>
              <a:spcAft>
                <a:spcPts val="0"/>
              </a:spcAft>
              <a:buSzPts val="1620"/>
              <a:buChar char="•"/>
              <a:defRPr/>
            </a:lvl6pPr>
            <a:lvl7pPr marL="3200400" lvl="6" indent="-331470" algn="l">
              <a:lnSpc>
                <a:spcPct val="100000"/>
              </a:lnSpc>
              <a:spcBef>
                <a:spcPts val="1200"/>
              </a:spcBef>
              <a:spcAft>
                <a:spcPts val="0"/>
              </a:spcAft>
              <a:buSzPts val="1620"/>
              <a:buChar char="-"/>
              <a:defRPr/>
            </a:lvl7pPr>
            <a:lvl8pPr marL="3657600" lvl="7" indent="-331470" algn="l">
              <a:lnSpc>
                <a:spcPct val="100000"/>
              </a:lnSpc>
              <a:spcBef>
                <a:spcPts val="1200"/>
              </a:spcBef>
              <a:spcAft>
                <a:spcPts val="0"/>
              </a:spcAft>
              <a:buSzPts val="1620"/>
              <a:buChar char="•"/>
              <a:defRPr/>
            </a:lvl8pPr>
            <a:lvl9pPr marL="4114800" lvl="8" indent="-331470" algn="l">
              <a:lnSpc>
                <a:spcPct val="100000"/>
              </a:lnSpc>
              <a:spcBef>
                <a:spcPts val="1200"/>
              </a:spcBef>
              <a:spcAft>
                <a:spcPts val="1200"/>
              </a:spcAft>
              <a:buSzPts val="1620"/>
              <a:buChar char="-"/>
              <a:defRPr/>
            </a:lvl9pPr>
          </a:lstStyle>
          <a:p>
            <a:endParaRPr/>
          </a:p>
        </p:txBody>
      </p:sp>
      <p:sp>
        <p:nvSpPr>
          <p:cNvPr id="5165" name="Google Shape;5165;p184"/>
          <p:cNvSpPr txBox="1">
            <a:spLocks noGrp="1"/>
          </p:cNvSpPr>
          <p:nvPr>
            <p:ph type="body" idx="3"/>
          </p:nvPr>
        </p:nvSpPr>
        <p:spPr>
          <a:xfrm>
            <a:off x="3351213" y="1609531"/>
            <a:ext cx="8229600" cy="4572000"/>
          </a:xfrm>
          <a:prstGeom prst="rect">
            <a:avLst/>
          </a:prstGeom>
          <a:noFill/>
          <a:ln>
            <a:noFill/>
          </a:ln>
        </p:spPr>
        <p:txBody>
          <a:bodyPr spcFirstLastPara="1" wrap="square" lIns="0" tIns="457200" rIns="0" bIns="0" anchor="t" anchorCtr="0">
            <a:noAutofit/>
          </a:bodyPr>
          <a:lstStyle>
            <a:lvl1pPr marL="457200" lvl="0" indent="-342900" algn="l">
              <a:lnSpc>
                <a:spcPct val="100000"/>
              </a:lnSpc>
              <a:spcBef>
                <a:spcPts val="0"/>
              </a:spcBef>
              <a:spcAft>
                <a:spcPts val="0"/>
              </a:spcAft>
              <a:buSzPts val="1800"/>
              <a:buChar char="​"/>
              <a:defRPr>
                <a:solidFill>
                  <a:schemeClr val="dk1"/>
                </a:solidFill>
              </a:defRPr>
            </a:lvl1pPr>
            <a:lvl2pPr marL="914400" lvl="1" indent="-331470" algn="l">
              <a:lnSpc>
                <a:spcPct val="100000"/>
              </a:lnSpc>
              <a:spcBef>
                <a:spcPts val="1200"/>
              </a:spcBef>
              <a:spcAft>
                <a:spcPts val="0"/>
              </a:spcAft>
              <a:buSzPts val="1620"/>
              <a:buChar char="•"/>
              <a:defRPr>
                <a:solidFill>
                  <a:schemeClr val="dk1"/>
                </a:solidFill>
              </a:defRPr>
            </a:lvl2pPr>
            <a:lvl3pPr marL="1371600" lvl="2" indent="-320040" algn="l">
              <a:lnSpc>
                <a:spcPct val="100000"/>
              </a:lnSpc>
              <a:spcBef>
                <a:spcPts val="1200"/>
              </a:spcBef>
              <a:spcAft>
                <a:spcPts val="0"/>
              </a:spcAft>
              <a:buSzPts val="1440"/>
              <a:buChar char="–"/>
              <a:defRPr>
                <a:solidFill>
                  <a:schemeClr val="dk1"/>
                </a:solidFill>
              </a:defRPr>
            </a:lvl3pPr>
            <a:lvl4pPr marL="1828800" lvl="3" indent="-308610" algn="l">
              <a:lnSpc>
                <a:spcPct val="100000"/>
              </a:lnSpc>
              <a:spcBef>
                <a:spcPts val="1200"/>
              </a:spcBef>
              <a:spcAft>
                <a:spcPts val="0"/>
              </a:spcAft>
              <a:buSzPts val="1260"/>
              <a:buChar char="•"/>
              <a:defRPr>
                <a:solidFill>
                  <a:schemeClr val="dk1"/>
                </a:solidFill>
              </a:defRPr>
            </a:lvl4pPr>
            <a:lvl5pPr marL="2286000" lvl="4" indent="-308610" algn="l">
              <a:lnSpc>
                <a:spcPct val="100000"/>
              </a:lnSpc>
              <a:spcBef>
                <a:spcPts val="1200"/>
              </a:spcBef>
              <a:spcAft>
                <a:spcPts val="0"/>
              </a:spcAft>
              <a:buSzPts val="1260"/>
              <a:buChar char="–"/>
              <a:defRPr>
                <a:solidFill>
                  <a:schemeClr val="dk1"/>
                </a:solidFill>
              </a:defRPr>
            </a:lvl5pPr>
            <a:lvl6pPr marL="2743200" lvl="5" indent="-308610" algn="l">
              <a:lnSpc>
                <a:spcPct val="100000"/>
              </a:lnSpc>
              <a:spcBef>
                <a:spcPts val="1200"/>
              </a:spcBef>
              <a:spcAft>
                <a:spcPts val="0"/>
              </a:spcAft>
              <a:buSzPts val="1260"/>
              <a:buChar char="•"/>
              <a:defRPr>
                <a:solidFill>
                  <a:schemeClr val="dk1"/>
                </a:solidFill>
              </a:defRPr>
            </a:lvl6pPr>
            <a:lvl7pPr marL="3200400" lvl="6" indent="-308610" algn="l">
              <a:lnSpc>
                <a:spcPct val="100000"/>
              </a:lnSpc>
              <a:spcBef>
                <a:spcPts val="1200"/>
              </a:spcBef>
              <a:spcAft>
                <a:spcPts val="0"/>
              </a:spcAft>
              <a:buSzPts val="1260"/>
              <a:buChar char="-"/>
              <a:defRPr>
                <a:solidFill>
                  <a:schemeClr val="dk1"/>
                </a:solidFill>
              </a:defRPr>
            </a:lvl7pPr>
            <a:lvl8pPr marL="3657600" lvl="7" indent="-308610" algn="l">
              <a:lnSpc>
                <a:spcPct val="100000"/>
              </a:lnSpc>
              <a:spcBef>
                <a:spcPts val="1200"/>
              </a:spcBef>
              <a:spcAft>
                <a:spcPts val="0"/>
              </a:spcAft>
              <a:buSzPts val="1260"/>
              <a:buChar char="•"/>
              <a:defRPr>
                <a:solidFill>
                  <a:schemeClr val="dk1"/>
                </a:solidFill>
              </a:defRPr>
            </a:lvl8pPr>
            <a:lvl9pPr marL="4114800" lvl="8" indent="-331470" algn="l">
              <a:lnSpc>
                <a:spcPct val="100000"/>
              </a:lnSpc>
              <a:spcBef>
                <a:spcPts val="1200"/>
              </a:spcBef>
              <a:spcAft>
                <a:spcPts val="1200"/>
              </a:spcAft>
              <a:buSzPts val="1620"/>
              <a:buChar char="-"/>
              <a:defRPr/>
            </a:lvl9pPr>
          </a:lstStyle>
          <a:p>
            <a:endParaRPr/>
          </a:p>
        </p:txBody>
      </p:sp>
      <p:sp>
        <p:nvSpPr>
          <p:cNvPr id="5166" name="Google Shape;5166;p184"/>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chemeClr val="dk2"/>
              </a:buClr>
              <a:buSzPts val="800"/>
              <a:buFont typeface="Arial"/>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
        <p:nvSpPr>
          <p:cNvPr id="5167" name="Google Shape;5167;p184"/>
          <p:cNvSpPr/>
          <p:nvPr/>
        </p:nvSpPr>
        <p:spPr>
          <a:xfrm rot="10800000" flipH="1">
            <a:off x="0" y="1552601"/>
            <a:ext cx="2894012" cy="54864"/>
          </a:xfrm>
          <a:prstGeom prst="rect">
            <a:avLst/>
          </a:prstGeom>
          <a:solidFill>
            <a:schemeClr val="accent2"/>
          </a:solidFill>
          <a:ln>
            <a:noFill/>
          </a:ln>
        </p:spPr>
        <p:txBody>
          <a:bodyPr spcFirstLastPara="1" wrap="square" lIns="91400" tIns="45675" rIns="91400" bIns="45675" anchor="ctr" anchorCtr="0">
            <a:noAutofit/>
          </a:bodyPr>
          <a:lstStyle/>
          <a:p>
            <a:pPr marL="0" marR="0" lvl="0" indent="0" algn="ctr" rtl="0">
              <a:spcBef>
                <a:spcPts val="0"/>
              </a:spcBef>
              <a:spcAft>
                <a:spcPts val="0"/>
              </a:spcAft>
              <a:buClr>
                <a:schemeClr val="dk1"/>
              </a:buClr>
              <a:buSzPts val="1200"/>
              <a:buFont typeface="Arial"/>
              <a:buNone/>
            </a:pPr>
            <a:endParaRPr sz="1200">
              <a:solidFill>
                <a:schemeClr val="lt1"/>
              </a:solidFill>
              <a:latin typeface="Arial"/>
              <a:ea typeface="Arial"/>
              <a:cs typeface="Arial"/>
              <a:sym typeface="Arial"/>
            </a:endParaRPr>
          </a:p>
          <a:p>
            <a:pPr marL="0" marR="0" lvl="0" indent="0" algn="ctr" rtl="0">
              <a:spcBef>
                <a:spcPts val="600"/>
              </a:spcBef>
              <a:spcAft>
                <a:spcPts val="0"/>
              </a:spcAft>
              <a:buClr>
                <a:schemeClr val="dk1"/>
              </a:buClr>
              <a:buSzPts val="1200"/>
              <a:buFont typeface="Arial"/>
              <a:buNone/>
            </a:pPr>
            <a:endParaRPr sz="1200">
              <a:solidFill>
                <a:schemeClr val="lt1"/>
              </a:solidFill>
              <a:latin typeface="Arial"/>
              <a:ea typeface="Arial"/>
              <a:cs typeface="Arial"/>
              <a:sym typeface="Arial"/>
            </a:endParaRPr>
          </a:p>
        </p:txBody>
      </p:sp>
      <p:sp>
        <p:nvSpPr>
          <p:cNvPr id="5168" name="Google Shape;5168;p184"/>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chemeClr val="dk2"/>
              </a:buClr>
              <a:buSzPts val="800"/>
              <a:buFont typeface="Arial"/>
              <a:buNone/>
            </a:pPr>
            <a:fld id="{00000000-1234-1234-1234-123412341234}" type="slidenum">
              <a:rPr lang="en-US" sz="800">
                <a:solidFill>
                  <a:schemeClr val="dk2"/>
                </a:solidFill>
                <a:latin typeface="Arial"/>
                <a:ea typeface="Arial"/>
                <a:cs typeface="Arial"/>
                <a:sym typeface="Arial"/>
              </a:rPr>
              <a:t>‹#›</a:t>
            </a:fld>
            <a:endParaRPr sz="800">
              <a:solidFill>
                <a:schemeClr val="dk2"/>
              </a:solidFill>
              <a:latin typeface="Arial"/>
              <a:ea typeface="Arial"/>
              <a:cs typeface="Arial"/>
              <a:sym typeface="Arial"/>
            </a:endParaRPr>
          </a:p>
        </p:txBody>
      </p:sp>
    </p:spTree>
    <p:extLst>
      <p:ext uri="{BB962C8B-B14F-4D97-AF65-F5344CB8AC3E}">
        <p14:creationId xmlns:p14="http://schemas.microsoft.com/office/powerpoint/2010/main" val="3288650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4_Title and Subtitle">
  <p:cSld name="4_Title and Subtitle">
    <p:spTree>
      <p:nvGrpSpPr>
        <p:cNvPr id="1" name="Shape 1301"/>
        <p:cNvGrpSpPr/>
        <p:nvPr/>
      </p:nvGrpSpPr>
      <p:grpSpPr>
        <a:xfrm>
          <a:off x="0" y="0"/>
          <a:ext cx="0" cy="0"/>
          <a:chOff x="0" y="0"/>
          <a:chExt cx="0" cy="0"/>
        </a:xfrm>
      </p:grpSpPr>
      <p:sp>
        <p:nvSpPr>
          <p:cNvPr id="1302" name="Google Shape;1302;p54"/>
          <p:cNvSpPr txBox="1">
            <a:spLocks noGrp="1"/>
          </p:cNvSpPr>
          <p:nvPr>
            <p:ph type="title"/>
          </p:nvPr>
        </p:nvSpPr>
        <p:spPr>
          <a:xfrm>
            <a:off x="579816" y="412751"/>
            <a:ext cx="11001134" cy="3812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SzPts val="1600"/>
              <a:buNone/>
              <a:defRPr>
                <a:solidFill>
                  <a:schemeClr val="accent2"/>
                </a:solidFill>
                <a:latin typeface="Arial"/>
                <a:ea typeface="Arial"/>
                <a:cs typeface="Arial"/>
                <a:sym typeface="Arial"/>
              </a:defRPr>
            </a:lvl1pPr>
            <a:lvl2pPr lvl="1" algn="l">
              <a:lnSpc>
                <a:spcPct val="100000"/>
              </a:lnSpc>
              <a:spcBef>
                <a:spcPts val="0"/>
              </a:spcBef>
              <a:spcAft>
                <a:spcPts val="0"/>
              </a:spcAft>
              <a:buSzPts val="800"/>
              <a:buNone/>
              <a:defRPr/>
            </a:lvl2pPr>
            <a:lvl3pPr lvl="2" algn="l">
              <a:lnSpc>
                <a:spcPct val="100000"/>
              </a:lnSpc>
              <a:spcBef>
                <a:spcPts val="0"/>
              </a:spcBef>
              <a:spcAft>
                <a:spcPts val="0"/>
              </a:spcAft>
              <a:buSzPts val="800"/>
              <a:buNone/>
              <a:defRPr/>
            </a:lvl3pPr>
            <a:lvl4pPr lvl="3" algn="l">
              <a:lnSpc>
                <a:spcPct val="100000"/>
              </a:lnSpc>
              <a:spcBef>
                <a:spcPts val="0"/>
              </a:spcBef>
              <a:spcAft>
                <a:spcPts val="0"/>
              </a:spcAft>
              <a:buSzPts val="800"/>
              <a:buNone/>
              <a:defRPr/>
            </a:lvl4pPr>
            <a:lvl5pPr lvl="4" algn="l">
              <a:lnSpc>
                <a:spcPct val="100000"/>
              </a:lnSpc>
              <a:spcBef>
                <a:spcPts val="0"/>
              </a:spcBef>
              <a:spcAft>
                <a:spcPts val="0"/>
              </a:spcAft>
              <a:buSzPts val="800"/>
              <a:buNone/>
              <a:defRPr/>
            </a:lvl5pPr>
            <a:lvl6pPr lvl="5" algn="l">
              <a:lnSpc>
                <a:spcPct val="100000"/>
              </a:lnSpc>
              <a:spcBef>
                <a:spcPts val="0"/>
              </a:spcBef>
              <a:spcAft>
                <a:spcPts val="0"/>
              </a:spcAft>
              <a:buSzPts val="800"/>
              <a:buNone/>
              <a:defRPr/>
            </a:lvl6pPr>
            <a:lvl7pPr lvl="6" algn="l">
              <a:lnSpc>
                <a:spcPct val="100000"/>
              </a:lnSpc>
              <a:spcBef>
                <a:spcPts val="0"/>
              </a:spcBef>
              <a:spcAft>
                <a:spcPts val="0"/>
              </a:spcAft>
              <a:buSzPts val="800"/>
              <a:buNone/>
              <a:defRPr/>
            </a:lvl7pPr>
            <a:lvl8pPr lvl="7" algn="l">
              <a:lnSpc>
                <a:spcPct val="100000"/>
              </a:lnSpc>
              <a:spcBef>
                <a:spcPts val="0"/>
              </a:spcBef>
              <a:spcAft>
                <a:spcPts val="0"/>
              </a:spcAft>
              <a:buSzPts val="800"/>
              <a:buNone/>
              <a:defRPr/>
            </a:lvl8pPr>
            <a:lvl9pPr lvl="8" algn="l">
              <a:lnSpc>
                <a:spcPct val="100000"/>
              </a:lnSpc>
              <a:spcBef>
                <a:spcPts val="0"/>
              </a:spcBef>
              <a:spcAft>
                <a:spcPts val="0"/>
              </a:spcAft>
              <a:buSzPts val="800"/>
              <a:buNone/>
              <a:defRPr/>
            </a:lvl9pPr>
          </a:lstStyle>
          <a:p>
            <a:endParaRPr/>
          </a:p>
        </p:txBody>
      </p:sp>
      <p:sp>
        <p:nvSpPr>
          <p:cNvPr id="1303" name="Google Shape;1303;p54"/>
          <p:cNvSpPr txBox="1">
            <a:spLocks noGrp="1"/>
          </p:cNvSpPr>
          <p:nvPr>
            <p:ph type="subTitle" idx="1"/>
          </p:nvPr>
        </p:nvSpPr>
        <p:spPr>
          <a:xfrm>
            <a:off x="592872" y="811831"/>
            <a:ext cx="10962744" cy="248000"/>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100"/>
              <a:buNone/>
              <a:defRPr sz="2000">
                <a:solidFill>
                  <a:schemeClr val="dk1"/>
                </a:solidFill>
                <a:latin typeface="Arial"/>
                <a:ea typeface="Arial"/>
                <a:cs typeface="Arial"/>
                <a:sym typeface="Arial"/>
              </a:defRPr>
            </a:lvl1pPr>
            <a:lvl2pPr lvl="1" algn="ctr">
              <a:lnSpc>
                <a:spcPct val="100000"/>
              </a:lnSpc>
              <a:spcBef>
                <a:spcPts val="933"/>
              </a:spcBef>
              <a:spcAft>
                <a:spcPts val="0"/>
              </a:spcAft>
              <a:buSzPts val="900"/>
              <a:buNone/>
              <a:defRPr sz="2000"/>
            </a:lvl2pPr>
            <a:lvl3pPr lvl="2" algn="ctr">
              <a:lnSpc>
                <a:spcPct val="100000"/>
              </a:lnSpc>
              <a:spcBef>
                <a:spcPts val="933"/>
              </a:spcBef>
              <a:spcAft>
                <a:spcPts val="0"/>
              </a:spcAft>
              <a:buSzPts val="800"/>
              <a:buNone/>
              <a:defRPr sz="1866"/>
            </a:lvl3pPr>
            <a:lvl4pPr lvl="3" algn="ctr">
              <a:lnSpc>
                <a:spcPct val="100000"/>
              </a:lnSpc>
              <a:spcBef>
                <a:spcPts val="933"/>
              </a:spcBef>
              <a:spcAft>
                <a:spcPts val="0"/>
              </a:spcAft>
              <a:buSzPts val="700"/>
              <a:buNone/>
              <a:defRPr sz="1600"/>
            </a:lvl4pPr>
            <a:lvl5pPr lvl="4" algn="ctr">
              <a:lnSpc>
                <a:spcPct val="100000"/>
              </a:lnSpc>
              <a:spcBef>
                <a:spcPts val="933"/>
              </a:spcBef>
              <a:spcAft>
                <a:spcPts val="0"/>
              </a:spcAft>
              <a:buSzPts val="700"/>
              <a:buNone/>
              <a:defRPr sz="1600"/>
            </a:lvl5pPr>
            <a:lvl6pPr lvl="5" algn="ctr">
              <a:lnSpc>
                <a:spcPct val="100000"/>
              </a:lnSpc>
              <a:spcBef>
                <a:spcPts val="933"/>
              </a:spcBef>
              <a:spcAft>
                <a:spcPts val="0"/>
              </a:spcAft>
              <a:buSzPts val="700"/>
              <a:buNone/>
              <a:defRPr sz="1600"/>
            </a:lvl6pPr>
            <a:lvl7pPr lvl="6" algn="ctr">
              <a:lnSpc>
                <a:spcPct val="100000"/>
              </a:lnSpc>
              <a:spcBef>
                <a:spcPts val="933"/>
              </a:spcBef>
              <a:spcAft>
                <a:spcPts val="0"/>
              </a:spcAft>
              <a:buSzPts val="700"/>
              <a:buNone/>
              <a:defRPr sz="1600"/>
            </a:lvl7pPr>
            <a:lvl8pPr lvl="7" algn="ctr">
              <a:lnSpc>
                <a:spcPct val="100000"/>
              </a:lnSpc>
              <a:spcBef>
                <a:spcPts val="933"/>
              </a:spcBef>
              <a:spcAft>
                <a:spcPts val="0"/>
              </a:spcAft>
              <a:buSzPts val="700"/>
              <a:buNone/>
              <a:defRPr sz="1600"/>
            </a:lvl8pPr>
            <a:lvl9pPr lvl="8" algn="ctr">
              <a:lnSpc>
                <a:spcPct val="100000"/>
              </a:lnSpc>
              <a:spcBef>
                <a:spcPts val="933"/>
              </a:spcBef>
              <a:spcAft>
                <a:spcPts val="0"/>
              </a:spcAft>
              <a:buSzPts val="700"/>
              <a:buNone/>
              <a:defRPr sz="1600"/>
            </a:lvl9pPr>
          </a:lstStyle>
          <a:p>
            <a:endParaRPr/>
          </a:p>
        </p:txBody>
      </p:sp>
      <p:sp>
        <p:nvSpPr>
          <p:cNvPr id="1304" name="Google Shape;1304;p54"/>
          <p:cNvSpPr txBox="1"/>
          <p:nvPr/>
        </p:nvSpPr>
        <p:spPr>
          <a:xfrm>
            <a:off x="11491059" y="6464808"/>
            <a:ext cx="437886" cy="183200"/>
          </a:xfrm>
          <a:prstGeom prst="rect">
            <a:avLst/>
          </a:prstGeom>
          <a:noFill/>
          <a:ln>
            <a:noFill/>
          </a:ln>
        </p:spPr>
        <p:txBody>
          <a:bodyPr spcFirstLastPara="1" wrap="square" lIns="0" tIns="0" rIns="0" bIns="0" anchor="ctr" anchorCtr="0">
            <a:noAutofit/>
          </a:bodyPr>
          <a:lstStyle/>
          <a:p>
            <a:pPr marL="0" marR="0" lvl="0" indent="0" algn="r" defTabSz="914400" rtl="0" eaLnBrk="1" fontAlgn="auto" latinLnBrk="0" hangingPunct="1">
              <a:lnSpc>
                <a:spcPct val="90000"/>
              </a:lnSpc>
              <a:spcBef>
                <a:spcPts val="0"/>
              </a:spcBef>
              <a:spcAft>
                <a:spcPts val="0"/>
              </a:spcAft>
              <a:buClr>
                <a:srgbClr val="000000"/>
              </a:buClr>
              <a:buSzPts val="600"/>
              <a:buFont typeface="Arial"/>
              <a:buNone/>
              <a:tabLst/>
              <a:defRPr/>
            </a:pPr>
            <a:fld id="{00000000-1234-1234-1234-123412341234}" type="slidenum">
              <a:rPr kumimoji="0" lang="en" sz="800" b="0" i="0" u="none" strike="noStrike" kern="1200" cap="none" spc="0" normalizeH="0" baseline="0" noProof="0">
                <a:ln>
                  <a:noFill/>
                </a:ln>
                <a:solidFill>
                  <a:srgbClr val="EEEEEE"/>
                </a:solidFill>
                <a:effectLst/>
                <a:uLnTx/>
                <a:uFillTx/>
                <a:latin typeface="Arial"/>
                <a:ea typeface="Arial"/>
                <a:cs typeface="Arial"/>
                <a:sym typeface="Arial"/>
              </a:rPr>
              <a:pPr marL="0" marR="0" lvl="0" indent="0" algn="r" defTabSz="914400" rtl="0" eaLnBrk="1" fontAlgn="auto" latinLnBrk="0" hangingPunct="1">
                <a:lnSpc>
                  <a:spcPct val="90000"/>
                </a:lnSpc>
                <a:spcBef>
                  <a:spcPts val="0"/>
                </a:spcBef>
                <a:spcAft>
                  <a:spcPts val="0"/>
                </a:spcAft>
                <a:buClr>
                  <a:srgbClr val="000000"/>
                </a:buClr>
                <a:buSzPts val="600"/>
                <a:buFont typeface="Arial"/>
                <a:buNone/>
                <a:tabLst/>
                <a:defRPr/>
              </a:pPr>
              <a:t>‹#›</a:t>
            </a:fld>
            <a:endParaRPr kumimoji="0" sz="800" b="0" i="0" u="none" strike="noStrike" kern="1200" cap="none" spc="0" normalizeH="0" baseline="0" noProof="0">
              <a:ln>
                <a:noFill/>
              </a:ln>
              <a:solidFill>
                <a:srgbClr val="EEEEEE"/>
              </a:solidFill>
              <a:effectLst/>
              <a:uLnTx/>
              <a:uFillTx/>
              <a:latin typeface="Arial"/>
              <a:ea typeface="Arial"/>
              <a:cs typeface="Arial"/>
              <a:sym typeface="Arial"/>
            </a:endParaRPr>
          </a:p>
        </p:txBody>
      </p:sp>
    </p:spTree>
    <p:extLst>
      <p:ext uri="{BB962C8B-B14F-4D97-AF65-F5344CB8AC3E}">
        <p14:creationId xmlns:p14="http://schemas.microsoft.com/office/powerpoint/2010/main" val="23285986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wo Content Dynamic – Right">
  <p:cSld name="1_Two Content Dynamic – Right">
    <p:spTree>
      <p:nvGrpSpPr>
        <p:cNvPr id="1" name="Shape 262"/>
        <p:cNvGrpSpPr/>
        <p:nvPr/>
      </p:nvGrpSpPr>
      <p:grpSpPr>
        <a:xfrm>
          <a:off x="0" y="0"/>
          <a:ext cx="0" cy="0"/>
          <a:chOff x="0" y="0"/>
          <a:chExt cx="0" cy="0"/>
        </a:xfrm>
      </p:grpSpPr>
      <p:sp>
        <p:nvSpPr>
          <p:cNvPr id="263" name="Google Shape;263;p32"/>
          <p:cNvSpPr txBox="1">
            <a:spLocks noGrp="1"/>
          </p:cNvSpPr>
          <p:nvPr>
            <p:ph type="title"/>
          </p:nvPr>
        </p:nvSpPr>
        <p:spPr>
          <a:xfrm>
            <a:off x="579809" y="412751"/>
            <a:ext cx="11001134" cy="3812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100"/>
              <a:buFont typeface="Arial"/>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64" name="Google Shape;264;p32"/>
          <p:cNvSpPr txBox="1">
            <a:spLocks noGrp="1"/>
          </p:cNvSpPr>
          <p:nvPr>
            <p:ph type="subTitle" idx="1"/>
          </p:nvPr>
        </p:nvSpPr>
        <p:spPr>
          <a:xfrm>
            <a:off x="592866" y="811831"/>
            <a:ext cx="10962744" cy="248000"/>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400"/>
              <a:buNone/>
              <a:defRPr sz="2000">
                <a:solidFill>
                  <a:schemeClr val="dk1"/>
                </a:solidFill>
                <a:latin typeface="Arial"/>
                <a:ea typeface="Arial"/>
                <a:cs typeface="Arial"/>
                <a:sym typeface="Arial"/>
              </a:defRPr>
            </a:lvl1pPr>
            <a:lvl2pPr lvl="1" algn="ctr">
              <a:lnSpc>
                <a:spcPct val="100000"/>
              </a:lnSpc>
              <a:spcBef>
                <a:spcPts val="1200"/>
              </a:spcBef>
              <a:spcAft>
                <a:spcPts val="0"/>
              </a:spcAft>
              <a:buSzPts val="1400"/>
              <a:buNone/>
              <a:defRPr sz="2000"/>
            </a:lvl2pPr>
            <a:lvl3pPr lvl="2" algn="ctr">
              <a:lnSpc>
                <a:spcPct val="100000"/>
              </a:lnSpc>
              <a:spcBef>
                <a:spcPts val="1200"/>
              </a:spcBef>
              <a:spcAft>
                <a:spcPts val="0"/>
              </a:spcAft>
              <a:buSzPts val="1200"/>
              <a:buNone/>
              <a:defRPr sz="1866"/>
            </a:lvl3pPr>
            <a:lvl4pPr lvl="3" algn="ctr">
              <a:lnSpc>
                <a:spcPct val="100000"/>
              </a:lnSpc>
              <a:spcBef>
                <a:spcPts val="1200"/>
              </a:spcBef>
              <a:spcAft>
                <a:spcPts val="0"/>
              </a:spcAft>
              <a:buSzPts val="1100"/>
              <a:buNone/>
              <a:defRPr sz="1600"/>
            </a:lvl4pPr>
            <a:lvl5pPr lvl="4" algn="ctr">
              <a:lnSpc>
                <a:spcPct val="100000"/>
              </a:lnSpc>
              <a:spcBef>
                <a:spcPts val="1200"/>
              </a:spcBef>
              <a:spcAft>
                <a:spcPts val="0"/>
              </a:spcAft>
              <a:buSzPts val="1100"/>
              <a:buNone/>
              <a:defRPr sz="1600"/>
            </a:lvl5pPr>
            <a:lvl6pPr lvl="5" algn="ctr">
              <a:lnSpc>
                <a:spcPct val="100000"/>
              </a:lnSpc>
              <a:spcBef>
                <a:spcPts val="1200"/>
              </a:spcBef>
              <a:spcAft>
                <a:spcPts val="0"/>
              </a:spcAft>
              <a:buSzPts val="1100"/>
              <a:buNone/>
              <a:defRPr sz="1600"/>
            </a:lvl6pPr>
            <a:lvl7pPr lvl="6" algn="ctr">
              <a:lnSpc>
                <a:spcPct val="100000"/>
              </a:lnSpc>
              <a:spcBef>
                <a:spcPts val="1200"/>
              </a:spcBef>
              <a:spcAft>
                <a:spcPts val="0"/>
              </a:spcAft>
              <a:buSzPts val="1100"/>
              <a:buNone/>
              <a:defRPr sz="1600"/>
            </a:lvl7pPr>
            <a:lvl8pPr lvl="7" algn="ctr">
              <a:lnSpc>
                <a:spcPct val="100000"/>
              </a:lnSpc>
              <a:spcBef>
                <a:spcPts val="1200"/>
              </a:spcBef>
              <a:spcAft>
                <a:spcPts val="0"/>
              </a:spcAft>
              <a:buSzPts val="1100"/>
              <a:buNone/>
              <a:defRPr sz="1600"/>
            </a:lvl8pPr>
            <a:lvl9pPr lvl="8" algn="ctr">
              <a:lnSpc>
                <a:spcPct val="100000"/>
              </a:lnSpc>
              <a:spcBef>
                <a:spcPts val="1200"/>
              </a:spcBef>
              <a:spcAft>
                <a:spcPts val="1200"/>
              </a:spcAft>
              <a:buSzPts val="1100"/>
              <a:buNone/>
              <a:defRPr sz="1600"/>
            </a:lvl9pPr>
          </a:lstStyle>
          <a:p>
            <a:endParaRPr/>
          </a:p>
        </p:txBody>
      </p:sp>
      <p:sp>
        <p:nvSpPr>
          <p:cNvPr id="265" name="Google Shape;265;p32"/>
          <p:cNvSpPr txBox="1"/>
          <p:nvPr/>
        </p:nvSpPr>
        <p:spPr>
          <a:xfrm>
            <a:off x="11490941" y="6464808"/>
            <a:ext cx="437886" cy="18320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 sz="800">
                <a:solidFill>
                  <a:schemeClr val="dk2"/>
                </a:solidFill>
                <a:latin typeface="Arial"/>
                <a:ea typeface="Arial"/>
                <a:cs typeface="Arial"/>
                <a:sym typeface="Arial"/>
              </a:rPr>
              <a:pPr marL="0" marR="0" lvl="0" indent="0" algn="r" rtl="0">
                <a:lnSpc>
                  <a:spcPct val="90000"/>
                </a:lnSpc>
                <a:spcBef>
                  <a:spcPts val="0"/>
                </a:spcBef>
                <a:spcAft>
                  <a:spcPts val="0"/>
                </a:spcAft>
                <a:buNone/>
              </a:pPr>
              <a:t>‹#›</a:t>
            </a:fld>
            <a:endParaRPr sz="800">
              <a:solidFill>
                <a:schemeClr val="dk2"/>
              </a:solidFill>
              <a:latin typeface="Arial"/>
              <a:ea typeface="Arial"/>
              <a:cs typeface="Arial"/>
              <a:sym typeface="Arial"/>
            </a:endParaRPr>
          </a:p>
        </p:txBody>
      </p:sp>
      <p:sp>
        <p:nvSpPr>
          <p:cNvPr id="266" name="Google Shape;266;p32"/>
          <p:cNvSpPr/>
          <p:nvPr/>
        </p:nvSpPr>
        <p:spPr>
          <a:xfrm rot="10800000" flipH="1">
            <a:off x="9294812" y="1552665"/>
            <a:ext cx="2894046" cy="54800"/>
          </a:xfrm>
          <a:prstGeom prst="rect">
            <a:avLst/>
          </a:prstGeom>
          <a:solidFill>
            <a:schemeClr val="accent2"/>
          </a:solidFill>
          <a:ln>
            <a:noFill/>
          </a:ln>
        </p:spPr>
        <p:txBody>
          <a:bodyPr spcFirstLastPara="1" wrap="square" lIns="91410" tIns="45688" rIns="91410" bIns="45688" anchor="ctr" anchorCtr="0">
            <a:noAutofit/>
          </a:bodyPr>
          <a:lstStyle/>
          <a:p>
            <a:pPr marL="0" marR="0" lvl="0" indent="0" algn="ctr" rtl="0">
              <a:spcBef>
                <a:spcPts val="0"/>
              </a:spcBef>
              <a:spcAft>
                <a:spcPts val="0"/>
              </a:spcAft>
              <a:buNone/>
            </a:pPr>
            <a:endParaRPr sz="1200">
              <a:solidFill>
                <a:schemeClr val="lt1"/>
              </a:solidFill>
              <a:latin typeface="Arial"/>
              <a:ea typeface="Arial"/>
              <a:cs typeface="Arial"/>
              <a:sym typeface="Arial"/>
            </a:endParaRPr>
          </a:p>
          <a:p>
            <a:pPr marL="0" marR="0" lvl="0" indent="0" algn="ctr" rtl="0">
              <a:spcBef>
                <a:spcPts val="667"/>
              </a:spcBef>
              <a:spcAft>
                <a:spcPts val="0"/>
              </a:spcAft>
              <a:buNone/>
            </a:pPr>
            <a:endParaRPr sz="1200">
              <a:solidFill>
                <a:schemeClr val="lt1"/>
              </a:solidFill>
              <a:latin typeface="Arial"/>
              <a:ea typeface="Arial"/>
              <a:cs typeface="Arial"/>
              <a:sym typeface="Arial"/>
            </a:endParaRPr>
          </a:p>
        </p:txBody>
      </p:sp>
      <p:sp>
        <p:nvSpPr>
          <p:cNvPr id="267" name="Google Shape;267;p32"/>
          <p:cNvSpPr txBox="1">
            <a:spLocks noGrp="1"/>
          </p:cNvSpPr>
          <p:nvPr>
            <p:ph type="body" idx="2"/>
          </p:nvPr>
        </p:nvSpPr>
        <p:spPr>
          <a:xfrm>
            <a:off x="9294812" y="1609531"/>
            <a:ext cx="2894046" cy="4572000"/>
          </a:xfrm>
          <a:prstGeom prst="rect">
            <a:avLst/>
          </a:prstGeom>
          <a:solidFill>
            <a:srgbClr val="F4F8FA"/>
          </a:solidFill>
          <a:ln>
            <a:noFill/>
          </a:ln>
        </p:spPr>
        <p:txBody>
          <a:bodyPr spcFirstLastPara="1" wrap="square" lIns="205750" tIns="342950" rIns="342950" bIns="342950" anchor="t" anchorCtr="0">
            <a:noAutofit/>
          </a:bodyPr>
          <a:lstStyle>
            <a:lvl1pPr marL="609448" lvl="0" indent="-406298" algn="l">
              <a:lnSpc>
                <a:spcPct val="100000"/>
              </a:lnSpc>
              <a:spcBef>
                <a:spcPts val="0"/>
              </a:spcBef>
              <a:spcAft>
                <a:spcPts val="0"/>
              </a:spcAft>
              <a:buSzPts val="1200"/>
              <a:buChar char="​"/>
              <a:defRPr sz="1866">
                <a:solidFill>
                  <a:schemeClr val="accent2"/>
                </a:solidFill>
              </a:defRPr>
            </a:lvl1pPr>
            <a:lvl2pPr marL="1218895" lvl="1" indent="-397834" algn="l">
              <a:lnSpc>
                <a:spcPct val="100000"/>
              </a:lnSpc>
              <a:spcBef>
                <a:spcPts val="1200"/>
              </a:spcBef>
              <a:spcAft>
                <a:spcPts val="0"/>
              </a:spcAft>
              <a:buClr>
                <a:schemeClr val="accent2"/>
              </a:buClr>
              <a:buSzPts val="1100"/>
              <a:buChar char="•"/>
              <a:defRPr sz="1600">
                <a:solidFill>
                  <a:schemeClr val="accent2"/>
                </a:solidFill>
              </a:defRPr>
            </a:lvl2pPr>
            <a:lvl3pPr marL="1828343" lvl="2" indent="-380905" algn="l">
              <a:lnSpc>
                <a:spcPct val="100000"/>
              </a:lnSpc>
              <a:spcBef>
                <a:spcPts val="1200"/>
              </a:spcBef>
              <a:spcAft>
                <a:spcPts val="0"/>
              </a:spcAft>
              <a:buClr>
                <a:schemeClr val="accent2"/>
              </a:buClr>
              <a:buSzPts val="900"/>
              <a:buChar char="–"/>
              <a:defRPr sz="1466">
                <a:solidFill>
                  <a:schemeClr val="accent2"/>
                </a:solidFill>
              </a:defRPr>
            </a:lvl3pPr>
            <a:lvl4pPr marL="2437790" lvl="3" indent="-372440" algn="l">
              <a:lnSpc>
                <a:spcPct val="100000"/>
              </a:lnSpc>
              <a:spcBef>
                <a:spcPts val="1200"/>
              </a:spcBef>
              <a:spcAft>
                <a:spcPts val="0"/>
              </a:spcAft>
              <a:buClr>
                <a:schemeClr val="accent2"/>
              </a:buClr>
              <a:buSzPts val="800"/>
              <a:buChar char="•"/>
              <a:defRPr sz="1200">
                <a:solidFill>
                  <a:schemeClr val="accent2"/>
                </a:solidFill>
              </a:defRPr>
            </a:lvl4pPr>
            <a:lvl5pPr marL="3047238" lvl="4" indent="-372440" algn="l">
              <a:lnSpc>
                <a:spcPct val="100000"/>
              </a:lnSpc>
              <a:spcBef>
                <a:spcPts val="1200"/>
              </a:spcBef>
              <a:spcAft>
                <a:spcPts val="0"/>
              </a:spcAft>
              <a:buClr>
                <a:schemeClr val="accent2"/>
              </a:buClr>
              <a:buSzPts val="800"/>
              <a:buChar char="–"/>
              <a:defRPr sz="1200">
                <a:solidFill>
                  <a:schemeClr val="accent2"/>
                </a:solidFill>
              </a:defRPr>
            </a:lvl5pPr>
            <a:lvl6pPr marL="3656686" lvl="5" indent="-406298" algn="l">
              <a:lnSpc>
                <a:spcPct val="100000"/>
              </a:lnSpc>
              <a:spcBef>
                <a:spcPts val="1200"/>
              </a:spcBef>
              <a:spcAft>
                <a:spcPts val="0"/>
              </a:spcAft>
              <a:buSzPts val="1200"/>
              <a:buChar char="•"/>
              <a:defRPr/>
            </a:lvl6pPr>
            <a:lvl7pPr marL="4266133" lvl="6" indent="-406298" algn="l">
              <a:lnSpc>
                <a:spcPct val="100000"/>
              </a:lnSpc>
              <a:spcBef>
                <a:spcPts val="1200"/>
              </a:spcBef>
              <a:spcAft>
                <a:spcPts val="0"/>
              </a:spcAft>
              <a:buSzPts val="1200"/>
              <a:buChar char="-"/>
              <a:defRPr/>
            </a:lvl7pPr>
            <a:lvl8pPr marL="4875581" lvl="7" indent="-406298" algn="l">
              <a:lnSpc>
                <a:spcPct val="100000"/>
              </a:lnSpc>
              <a:spcBef>
                <a:spcPts val="1200"/>
              </a:spcBef>
              <a:spcAft>
                <a:spcPts val="0"/>
              </a:spcAft>
              <a:buSzPts val="1200"/>
              <a:buChar char="•"/>
              <a:defRPr/>
            </a:lvl8pPr>
            <a:lvl9pPr marL="5485028" lvl="8" indent="-406298" algn="l">
              <a:lnSpc>
                <a:spcPct val="100000"/>
              </a:lnSpc>
              <a:spcBef>
                <a:spcPts val="1200"/>
              </a:spcBef>
              <a:spcAft>
                <a:spcPts val="1200"/>
              </a:spcAft>
              <a:buSzPts val="1200"/>
              <a:buChar char="-"/>
              <a:defRPr/>
            </a:lvl9pPr>
          </a:lstStyle>
          <a:p>
            <a:endParaRPr/>
          </a:p>
        </p:txBody>
      </p:sp>
      <p:sp>
        <p:nvSpPr>
          <p:cNvPr id="268" name="Google Shape;268;p32"/>
          <p:cNvSpPr txBox="1">
            <a:spLocks noGrp="1"/>
          </p:cNvSpPr>
          <p:nvPr>
            <p:ph type="body" idx="3"/>
          </p:nvPr>
        </p:nvSpPr>
        <p:spPr>
          <a:xfrm>
            <a:off x="0" y="1609531"/>
            <a:ext cx="8229456" cy="4572000"/>
          </a:xfrm>
          <a:prstGeom prst="rect">
            <a:avLst/>
          </a:prstGeom>
          <a:noFill/>
          <a:ln>
            <a:noFill/>
          </a:ln>
        </p:spPr>
        <p:txBody>
          <a:bodyPr spcFirstLastPara="1" wrap="square" lIns="445850" tIns="342950" rIns="0" bIns="0" anchor="t" anchorCtr="0">
            <a:noAutofit/>
          </a:bodyPr>
          <a:lstStyle>
            <a:lvl1pPr marL="609448" lvl="0" indent="-423228" algn="l">
              <a:lnSpc>
                <a:spcPct val="100000"/>
              </a:lnSpc>
              <a:spcBef>
                <a:spcPts val="0"/>
              </a:spcBef>
              <a:spcAft>
                <a:spcPts val="0"/>
              </a:spcAft>
              <a:buSzPts val="1400"/>
              <a:buChar char="​"/>
              <a:defRPr>
                <a:solidFill>
                  <a:schemeClr val="dk1"/>
                </a:solidFill>
              </a:defRPr>
            </a:lvl1pPr>
            <a:lvl2pPr marL="1218895" lvl="1" indent="-406298" algn="l">
              <a:lnSpc>
                <a:spcPct val="100000"/>
              </a:lnSpc>
              <a:spcBef>
                <a:spcPts val="1200"/>
              </a:spcBef>
              <a:spcAft>
                <a:spcPts val="0"/>
              </a:spcAft>
              <a:buSzPts val="1200"/>
              <a:buChar char="•"/>
              <a:defRPr>
                <a:solidFill>
                  <a:schemeClr val="dk1"/>
                </a:solidFill>
              </a:defRPr>
            </a:lvl2pPr>
            <a:lvl3pPr marL="1828343" lvl="2" indent="-397834" algn="l">
              <a:lnSpc>
                <a:spcPct val="100000"/>
              </a:lnSpc>
              <a:spcBef>
                <a:spcPts val="1200"/>
              </a:spcBef>
              <a:spcAft>
                <a:spcPts val="0"/>
              </a:spcAft>
              <a:buSzPts val="1100"/>
              <a:buChar char="–"/>
              <a:defRPr>
                <a:solidFill>
                  <a:schemeClr val="dk1"/>
                </a:solidFill>
              </a:defRPr>
            </a:lvl3pPr>
            <a:lvl4pPr marL="2437790" lvl="3" indent="-380905" algn="l">
              <a:lnSpc>
                <a:spcPct val="100000"/>
              </a:lnSpc>
              <a:spcBef>
                <a:spcPts val="1200"/>
              </a:spcBef>
              <a:spcAft>
                <a:spcPts val="0"/>
              </a:spcAft>
              <a:buSzPts val="900"/>
              <a:buChar char="•"/>
              <a:defRPr>
                <a:solidFill>
                  <a:schemeClr val="dk1"/>
                </a:solidFill>
              </a:defRPr>
            </a:lvl4pPr>
            <a:lvl5pPr marL="3047238" lvl="4" indent="-380905" algn="l">
              <a:lnSpc>
                <a:spcPct val="100000"/>
              </a:lnSpc>
              <a:spcBef>
                <a:spcPts val="1200"/>
              </a:spcBef>
              <a:spcAft>
                <a:spcPts val="0"/>
              </a:spcAft>
              <a:buSzPts val="900"/>
              <a:buChar char="–"/>
              <a:defRPr>
                <a:solidFill>
                  <a:schemeClr val="dk1"/>
                </a:solidFill>
              </a:defRPr>
            </a:lvl5pPr>
            <a:lvl6pPr marL="3656686" lvl="5" indent="-380905" algn="l">
              <a:lnSpc>
                <a:spcPct val="100000"/>
              </a:lnSpc>
              <a:spcBef>
                <a:spcPts val="1200"/>
              </a:spcBef>
              <a:spcAft>
                <a:spcPts val="0"/>
              </a:spcAft>
              <a:buSzPts val="900"/>
              <a:buChar char="•"/>
              <a:defRPr>
                <a:solidFill>
                  <a:schemeClr val="dk1"/>
                </a:solidFill>
              </a:defRPr>
            </a:lvl6pPr>
            <a:lvl7pPr marL="4266133" lvl="6" indent="-380905" algn="l">
              <a:lnSpc>
                <a:spcPct val="100000"/>
              </a:lnSpc>
              <a:spcBef>
                <a:spcPts val="1200"/>
              </a:spcBef>
              <a:spcAft>
                <a:spcPts val="0"/>
              </a:spcAft>
              <a:buSzPts val="900"/>
              <a:buChar char="-"/>
              <a:defRPr>
                <a:solidFill>
                  <a:schemeClr val="dk1"/>
                </a:solidFill>
              </a:defRPr>
            </a:lvl7pPr>
            <a:lvl8pPr marL="4875581" lvl="7" indent="-380905" algn="l">
              <a:lnSpc>
                <a:spcPct val="100000"/>
              </a:lnSpc>
              <a:spcBef>
                <a:spcPts val="1200"/>
              </a:spcBef>
              <a:spcAft>
                <a:spcPts val="0"/>
              </a:spcAft>
              <a:buSzPts val="900"/>
              <a:buChar char="•"/>
              <a:defRPr>
                <a:solidFill>
                  <a:schemeClr val="dk1"/>
                </a:solidFill>
              </a:defRPr>
            </a:lvl8pPr>
            <a:lvl9pPr marL="5485028" lvl="8" indent="-406298" algn="l">
              <a:lnSpc>
                <a:spcPct val="100000"/>
              </a:lnSpc>
              <a:spcBef>
                <a:spcPts val="1200"/>
              </a:spcBef>
              <a:spcAft>
                <a:spcPts val="1200"/>
              </a:spcAft>
              <a:buSzPts val="1200"/>
              <a:buChar char="-"/>
              <a:defRPr/>
            </a:lvl9pPr>
          </a:lstStyle>
          <a:p>
            <a:endParaRPr/>
          </a:p>
        </p:txBody>
      </p:sp>
      <p:sp>
        <p:nvSpPr>
          <p:cNvPr id="269" name="Google Shape;269;p32"/>
          <p:cNvSpPr txBox="1"/>
          <p:nvPr/>
        </p:nvSpPr>
        <p:spPr>
          <a:xfrm>
            <a:off x="11490941" y="6464808"/>
            <a:ext cx="437886" cy="18320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 sz="800">
                <a:solidFill>
                  <a:schemeClr val="dk2"/>
                </a:solidFill>
                <a:latin typeface="Arial"/>
                <a:ea typeface="Arial"/>
                <a:cs typeface="Arial"/>
                <a:sym typeface="Arial"/>
              </a:rPr>
              <a:pPr marL="0" marR="0" lvl="0" indent="0" algn="r" rtl="0">
                <a:lnSpc>
                  <a:spcPct val="90000"/>
                </a:lnSpc>
                <a:spcBef>
                  <a:spcPts val="0"/>
                </a:spcBef>
                <a:spcAft>
                  <a:spcPts val="0"/>
                </a:spcAft>
                <a:buNone/>
              </a:pPr>
              <a:t>‹#›</a:t>
            </a:fld>
            <a:endParaRPr sz="800">
              <a:solidFill>
                <a:schemeClr val="dk2"/>
              </a:solidFill>
              <a:latin typeface="Arial"/>
              <a:ea typeface="Arial"/>
              <a:cs typeface="Arial"/>
              <a:sym typeface="Arial"/>
            </a:endParaRPr>
          </a:p>
        </p:txBody>
      </p:sp>
      <p:sp>
        <p:nvSpPr>
          <p:cNvPr id="270" name="Google Shape;270;p32"/>
          <p:cNvSpPr/>
          <p:nvPr/>
        </p:nvSpPr>
        <p:spPr>
          <a:xfrm rot="10800000" flipH="1">
            <a:off x="9294812" y="1552665"/>
            <a:ext cx="2894046" cy="54800"/>
          </a:xfrm>
          <a:prstGeom prst="rect">
            <a:avLst/>
          </a:prstGeom>
          <a:solidFill>
            <a:schemeClr val="accent2"/>
          </a:solidFill>
          <a:ln>
            <a:noFill/>
          </a:ln>
        </p:spPr>
        <p:txBody>
          <a:bodyPr spcFirstLastPara="1" wrap="square" lIns="91410" tIns="45688" rIns="91410" bIns="45688" anchor="ctr" anchorCtr="0">
            <a:noAutofit/>
          </a:bodyPr>
          <a:lstStyle/>
          <a:p>
            <a:pPr marL="0" marR="0" lvl="0" indent="0" algn="ctr" rtl="0">
              <a:spcBef>
                <a:spcPts val="0"/>
              </a:spcBef>
              <a:spcAft>
                <a:spcPts val="0"/>
              </a:spcAft>
              <a:buNone/>
            </a:pPr>
            <a:endParaRPr sz="1200">
              <a:solidFill>
                <a:schemeClr val="lt1"/>
              </a:solidFill>
              <a:latin typeface="Arial"/>
              <a:ea typeface="Arial"/>
              <a:cs typeface="Arial"/>
              <a:sym typeface="Arial"/>
            </a:endParaRPr>
          </a:p>
          <a:p>
            <a:pPr marL="0" marR="0" lvl="0" indent="0" algn="ctr" rtl="0">
              <a:spcBef>
                <a:spcPts val="667"/>
              </a:spcBef>
              <a:spcAft>
                <a:spcPts val="0"/>
              </a:spcAft>
              <a:buNone/>
            </a:pPr>
            <a:endParaRPr sz="1200">
              <a:solidFill>
                <a:schemeClr val="lt1"/>
              </a:solidFill>
              <a:latin typeface="Arial"/>
              <a:ea typeface="Arial"/>
              <a:cs typeface="Arial"/>
              <a:sym typeface="Arial"/>
            </a:endParaRPr>
          </a:p>
        </p:txBody>
      </p:sp>
    </p:spTree>
    <p:extLst>
      <p:ext uri="{BB962C8B-B14F-4D97-AF65-F5344CB8AC3E}">
        <p14:creationId xmlns:p14="http://schemas.microsoft.com/office/powerpoint/2010/main" val="219872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Screenshot style 1">
  <p:cSld name="Screenshot style 1">
    <p:spTree>
      <p:nvGrpSpPr>
        <p:cNvPr id="1" name="Shape 4114"/>
        <p:cNvGrpSpPr/>
        <p:nvPr/>
      </p:nvGrpSpPr>
      <p:grpSpPr>
        <a:xfrm>
          <a:off x="0" y="0"/>
          <a:ext cx="0" cy="0"/>
          <a:chOff x="0" y="0"/>
          <a:chExt cx="0" cy="0"/>
        </a:xfrm>
      </p:grpSpPr>
      <p:sp>
        <p:nvSpPr>
          <p:cNvPr id="4115" name="Google Shape;4115;p216"/>
          <p:cNvSpPr/>
          <p:nvPr/>
        </p:nvSpPr>
        <p:spPr>
          <a:xfrm>
            <a:off x="7628816" y="210312"/>
            <a:ext cx="4560012" cy="6777200"/>
          </a:xfrm>
          <a:prstGeom prst="rect">
            <a:avLst/>
          </a:prstGeom>
          <a:gradFill>
            <a:gsLst>
              <a:gs pos="0">
                <a:srgbClr val="E8F0F4">
                  <a:alpha val="48627"/>
                </a:srgbClr>
              </a:gs>
              <a:gs pos="37000">
                <a:srgbClr val="E8F0F4">
                  <a:alpha val="48627"/>
                </a:srgbClr>
              </a:gs>
              <a:gs pos="100000">
                <a:srgbClr val="FFFFFF">
                  <a:alpha val="0"/>
                </a:srgbClr>
              </a:gs>
            </a:gsLst>
            <a:lin ang="5400012" scaled="0"/>
          </a:gradFill>
          <a:ln>
            <a:noFill/>
          </a:ln>
        </p:spPr>
        <p:txBody>
          <a:bodyPr spcFirstLastPara="1" wrap="square" lIns="91376" tIns="45655" rIns="91376" bIns="45655" anchor="ctr" anchorCtr="0">
            <a:noAutofit/>
          </a:bodyPr>
          <a:lstStyle/>
          <a:p>
            <a:pPr marL="0" marR="0" lvl="0" indent="0" algn="ctr" rtl="0">
              <a:lnSpc>
                <a:spcPct val="100000"/>
              </a:lnSpc>
              <a:spcBef>
                <a:spcPts val="0"/>
              </a:spcBef>
              <a:spcAft>
                <a:spcPts val="0"/>
              </a:spcAft>
              <a:buClr>
                <a:srgbClr val="000000"/>
              </a:buClr>
              <a:buSzPts val="900"/>
              <a:buFont typeface="Arial"/>
              <a:buNone/>
            </a:pPr>
            <a:endParaRPr sz="1200" b="0" i="0" u="none" strike="noStrike" cap="none">
              <a:solidFill>
                <a:srgbClr val="FFFFFF"/>
              </a:solidFill>
              <a:latin typeface="Arial"/>
              <a:ea typeface="Arial"/>
              <a:cs typeface="Arial"/>
              <a:sym typeface="Arial"/>
            </a:endParaRPr>
          </a:p>
        </p:txBody>
      </p:sp>
      <p:sp>
        <p:nvSpPr>
          <p:cNvPr id="4116" name="Google Shape;4116;p216"/>
          <p:cNvSpPr txBox="1">
            <a:spLocks noGrp="1"/>
          </p:cNvSpPr>
          <p:nvPr>
            <p:ph type="title"/>
          </p:nvPr>
        </p:nvSpPr>
        <p:spPr>
          <a:xfrm>
            <a:off x="579809" y="412751"/>
            <a:ext cx="11001134" cy="3812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accent2"/>
              </a:buClr>
              <a:buSzPts val="2100"/>
              <a:buFont typeface="Arial"/>
              <a:buNone/>
              <a:defRPr>
                <a:solidFill>
                  <a:schemeClr val="accent2"/>
                </a:solidFill>
              </a:defRPr>
            </a:lvl1pPr>
            <a:lvl2pPr lvl="1" algn="l">
              <a:lnSpc>
                <a:spcPct val="100000"/>
              </a:lnSpc>
              <a:spcBef>
                <a:spcPts val="0"/>
              </a:spcBef>
              <a:spcAft>
                <a:spcPts val="0"/>
              </a:spcAft>
              <a:buSzPts val="1100"/>
              <a:buNone/>
              <a:defRPr/>
            </a:lvl2pPr>
            <a:lvl3pPr lvl="2" algn="l">
              <a:lnSpc>
                <a:spcPct val="100000"/>
              </a:lnSpc>
              <a:spcBef>
                <a:spcPts val="0"/>
              </a:spcBef>
              <a:spcAft>
                <a:spcPts val="0"/>
              </a:spcAft>
              <a:buSzPts val="1100"/>
              <a:buNone/>
              <a:defRPr/>
            </a:lvl3pPr>
            <a:lvl4pPr lvl="3" algn="l">
              <a:lnSpc>
                <a:spcPct val="100000"/>
              </a:lnSpc>
              <a:spcBef>
                <a:spcPts val="0"/>
              </a:spcBef>
              <a:spcAft>
                <a:spcPts val="0"/>
              </a:spcAft>
              <a:buSzPts val="1100"/>
              <a:buNone/>
              <a:defRPr/>
            </a:lvl4pPr>
            <a:lvl5pPr lvl="4" algn="l">
              <a:lnSpc>
                <a:spcPct val="100000"/>
              </a:lnSpc>
              <a:spcBef>
                <a:spcPts val="0"/>
              </a:spcBef>
              <a:spcAft>
                <a:spcPts val="0"/>
              </a:spcAft>
              <a:buSzPts val="1100"/>
              <a:buNone/>
              <a:defRPr/>
            </a:lvl5pPr>
            <a:lvl6pPr lvl="5" algn="l">
              <a:lnSpc>
                <a:spcPct val="100000"/>
              </a:lnSpc>
              <a:spcBef>
                <a:spcPts val="0"/>
              </a:spcBef>
              <a:spcAft>
                <a:spcPts val="0"/>
              </a:spcAft>
              <a:buSzPts val="1100"/>
              <a:buNone/>
              <a:defRPr/>
            </a:lvl6pPr>
            <a:lvl7pPr lvl="6" algn="l">
              <a:lnSpc>
                <a:spcPct val="100000"/>
              </a:lnSpc>
              <a:spcBef>
                <a:spcPts val="0"/>
              </a:spcBef>
              <a:spcAft>
                <a:spcPts val="0"/>
              </a:spcAft>
              <a:buSzPts val="1100"/>
              <a:buNone/>
              <a:defRPr/>
            </a:lvl7pPr>
            <a:lvl8pPr lvl="7" algn="l">
              <a:lnSpc>
                <a:spcPct val="100000"/>
              </a:lnSpc>
              <a:spcBef>
                <a:spcPts val="0"/>
              </a:spcBef>
              <a:spcAft>
                <a:spcPts val="0"/>
              </a:spcAft>
              <a:buSzPts val="1100"/>
              <a:buNone/>
              <a:defRPr/>
            </a:lvl8pPr>
            <a:lvl9pPr lvl="8" algn="l">
              <a:lnSpc>
                <a:spcPct val="100000"/>
              </a:lnSpc>
              <a:spcBef>
                <a:spcPts val="0"/>
              </a:spcBef>
              <a:spcAft>
                <a:spcPts val="0"/>
              </a:spcAft>
              <a:buSzPts val="1100"/>
              <a:buNone/>
              <a:defRPr/>
            </a:lvl9pPr>
          </a:lstStyle>
          <a:p>
            <a:endParaRPr/>
          </a:p>
        </p:txBody>
      </p:sp>
      <p:sp>
        <p:nvSpPr>
          <p:cNvPr id="4117" name="Google Shape;4117;p216"/>
          <p:cNvSpPr txBox="1">
            <a:spLocks noGrp="1"/>
          </p:cNvSpPr>
          <p:nvPr>
            <p:ph type="subTitle" idx="1"/>
          </p:nvPr>
        </p:nvSpPr>
        <p:spPr>
          <a:xfrm>
            <a:off x="592866" y="811831"/>
            <a:ext cx="10962744" cy="248000"/>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400"/>
              <a:buNone/>
              <a:defRPr sz="2000">
                <a:solidFill>
                  <a:schemeClr val="dk1"/>
                </a:solidFill>
                <a:latin typeface="Arial"/>
                <a:ea typeface="Arial"/>
                <a:cs typeface="Arial"/>
                <a:sym typeface="Arial"/>
              </a:defRPr>
            </a:lvl1pPr>
            <a:lvl2pPr lvl="1" algn="ctr">
              <a:lnSpc>
                <a:spcPct val="100000"/>
              </a:lnSpc>
              <a:spcBef>
                <a:spcPts val="1200"/>
              </a:spcBef>
              <a:spcAft>
                <a:spcPts val="0"/>
              </a:spcAft>
              <a:buSzPts val="1400"/>
              <a:buNone/>
              <a:defRPr sz="2000"/>
            </a:lvl2pPr>
            <a:lvl3pPr lvl="2" algn="ctr">
              <a:lnSpc>
                <a:spcPct val="100000"/>
              </a:lnSpc>
              <a:spcBef>
                <a:spcPts val="1200"/>
              </a:spcBef>
              <a:spcAft>
                <a:spcPts val="0"/>
              </a:spcAft>
              <a:buSzPts val="1200"/>
              <a:buNone/>
              <a:defRPr sz="1866"/>
            </a:lvl3pPr>
            <a:lvl4pPr lvl="3" algn="ctr">
              <a:lnSpc>
                <a:spcPct val="100000"/>
              </a:lnSpc>
              <a:spcBef>
                <a:spcPts val="1200"/>
              </a:spcBef>
              <a:spcAft>
                <a:spcPts val="0"/>
              </a:spcAft>
              <a:buSzPts val="1100"/>
              <a:buNone/>
              <a:defRPr sz="1600"/>
            </a:lvl4pPr>
            <a:lvl5pPr lvl="4" algn="ctr">
              <a:lnSpc>
                <a:spcPct val="100000"/>
              </a:lnSpc>
              <a:spcBef>
                <a:spcPts val="1200"/>
              </a:spcBef>
              <a:spcAft>
                <a:spcPts val="0"/>
              </a:spcAft>
              <a:buSzPts val="1100"/>
              <a:buNone/>
              <a:defRPr sz="1600"/>
            </a:lvl5pPr>
            <a:lvl6pPr lvl="5" algn="ctr">
              <a:lnSpc>
                <a:spcPct val="100000"/>
              </a:lnSpc>
              <a:spcBef>
                <a:spcPts val="1200"/>
              </a:spcBef>
              <a:spcAft>
                <a:spcPts val="0"/>
              </a:spcAft>
              <a:buSzPts val="1100"/>
              <a:buNone/>
              <a:defRPr sz="1600"/>
            </a:lvl6pPr>
            <a:lvl7pPr lvl="6" algn="ctr">
              <a:lnSpc>
                <a:spcPct val="100000"/>
              </a:lnSpc>
              <a:spcBef>
                <a:spcPts val="1200"/>
              </a:spcBef>
              <a:spcAft>
                <a:spcPts val="0"/>
              </a:spcAft>
              <a:buSzPts val="1100"/>
              <a:buNone/>
              <a:defRPr sz="1600"/>
            </a:lvl7pPr>
            <a:lvl8pPr lvl="7" algn="ctr">
              <a:lnSpc>
                <a:spcPct val="100000"/>
              </a:lnSpc>
              <a:spcBef>
                <a:spcPts val="1200"/>
              </a:spcBef>
              <a:spcAft>
                <a:spcPts val="0"/>
              </a:spcAft>
              <a:buSzPts val="1100"/>
              <a:buNone/>
              <a:defRPr sz="1600"/>
            </a:lvl8pPr>
            <a:lvl9pPr lvl="8" algn="ctr">
              <a:lnSpc>
                <a:spcPct val="100000"/>
              </a:lnSpc>
              <a:spcBef>
                <a:spcPts val="1200"/>
              </a:spcBef>
              <a:spcAft>
                <a:spcPts val="1200"/>
              </a:spcAft>
              <a:buSzPts val="1100"/>
              <a:buNone/>
              <a:defRPr sz="1600"/>
            </a:lvl9pPr>
          </a:lstStyle>
          <a:p>
            <a:endParaRPr/>
          </a:p>
        </p:txBody>
      </p:sp>
      <p:sp>
        <p:nvSpPr>
          <p:cNvPr id="4118" name="Google Shape;4118;p216"/>
          <p:cNvSpPr txBox="1"/>
          <p:nvPr/>
        </p:nvSpPr>
        <p:spPr>
          <a:xfrm>
            <a:off x="11490941" y="6464808"/>
            <a:ext cx="437886" cy="18320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rgbClr val="000000"/>
              </a:buClr>
              <a:buSzPts val="600"/>
              <a:buFont typeface="Arial"/>
              <a:buNone/>
            </a:pPr>
            <a:fld id="{00000000-1234-1234-1234-123412341234}" type="slidenum">
              <a:rPr lang="en" sz="800" b="0" i="0" u="none" strike="noStrike" cap="none">
                <a:solidFill>
                  <a:schemeClr val="dk2"/>
                </a:solidFill>
                <a:latin typeface="Arial"/>
                <a:ea typeface="Arial"/>
                <a:cs typeface="Arial"/>
                <a:sym typeface="Arial"/>
              </a:rPr>
              <a:pPr marL="0" marR="0" lvl="0" indent="0" algn="r" rtl="0">
                <a:lnSpc>
                  <a:spcPct val="90000"/>
                </a:lnSpc>
                <a:spcBef>
                  <a:spcPts val="0"/>
                </a:spcBef>
                <a:spcAft>
                  <a:spcPts val="0"/>
                </a:spcAft>
                <a:buClr>
                  <a:srgbClr val="000000"/>
                </a:buClr>
                <a:buSzPts val="600"/>
                <a:buFont typeface="Arial"/>
                <a:buNone/>
              </a:pPr>
              <a:t>‹#›</a:t>
            </a:fld>
            <a:endParaRPr sz="800" b="0" i="0" u="none" strike="noStrike" cap="none">
              <a:solidFill>
                <a:schemeClr val="dk2"/>
              </a:solidFill>
              <a:latin typeface="Arial"/>
              <a:ea typeface="Arial"/>
              <a:cs typeface="Arial"/>
              <a:sym typeface="Arial"/>
            </a:endParaRPr>
          </a:p>
        </p:txBody>
      </p:sp>
      <p:sp>
        <p:nvSpPr>
          <p:cNvPr id="4119" name="Google Shape;4119;p216"/>
          <p:cNvSpPr txBox="1"/>
          <p:nvPr/>
        </p:nvSpPr>
        <p:spPr>
          <a:xfrm>
            <a:off x="11490941" y="6464808"/>
            <a:ext cx="437886" cy="18320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Clr>
                <a:srgbClr val="000000"/>
              </a:buClr>
              <a:buSzPts val="600"/>
              <a:buFont typeface="Arial"/>
              <a:buNone/>
            </a:pPr>
            <a:fld id="{00000000-1234-1234-1234-123412341234}" type="slidenum">
              <a:rPr lang="en" sz="800" b="0" i="0" u="none" strike="noStrike" cap="none">
                <a:solidFill>
                  <a:schemeClr val="dk2"/>
                </a:solidFill>
                <a:latin typeface="Arial"/>
                <a:ea typeface="Arial"/>
                <a:cs typeface="Arial"/>
                <a:sym typeface="Arial"/>
              </a:rPr>
              <a:pPr marL="0" marR="0" lvl="0" indent="0" algn="r" rtl="0">
                <a:lnSpc>
                  <a:spcPct val="90000"/>
                </a:lnSpc>
                <a:spcBef>
                  <a:spcPts val="0"/>
                </a:spcBef>
                <a:spcAft>
                  <a:spcPts val="0"/>
                </a:spcAft>
                <a:buClr>
                  <a:srgbClr val="000000"/>
                </a:buClr>
                <a:buSzPts val="600"/>
                <a:buFont typeface="Arial"/>
                <a:buNone/>
              </a:pPr>
              <a:t>‹#›</a:t>
            </a:fld>
            <a:endParaRPr sz="800" b="0" i="0" u="none" strike="noStrike" cap="none">
              <a:solidFill>
                <a:schemeClr val="dk2"/>
              </a:solidFill>
              <a:latin typeface="Arial"/>
              <a:ea typeface="Arial"/>
              <a:cs typeface="Arial"/>
              <a:sym typeface="Arial"/>
            </a:endParaRPr>
          </a:p>
        </p:txBody>
      </p:sp>
      <p:pic>
        <p:nvPicPr>
          <p:cNvPr id="4120" name="Google Shape;4120;p216"/>
          <p:cNvPicPr preferRelativeResize="0"/>
          <p:nvPr/>
        </p:nvPicPr>
        <p:blipFill rotWithShape="1">
          <a:blip r:embed="rId2">
            <a:alphaModFix amt="34000"/>
          </a:blip>
          <a:srcRect t="50515"/>
          <a:stretch/>
        </p:blipFill>
        <p:spPr>
          <a:xfrm rot="-5400000">
            <a:off x="4806202" y="3372957"/>
            <a:ext cx="5777953" cy="143712"/>
          </a:xfrm>
          <a:prstGeom prst="rect">
            <a:avLst/>
          </a:prstGeom>
          <a:noFill/>
          <a:ln>
            <a:noFill/>
          </a:ln>
        </p:spPr>
      </p:pic>
      <p:sp>
        <p:nvSpPr>
          <p:cNvPr id="4121" name="Google Shape;4121;p216"/>
          <p:cNvSpPr/>
          <p:nvPr/>
        </p:nvSpPr>
        <p:spPr>
          <a:xfrm>
            <a:off x="7320715" y="4493998"/>
            <a:ext cx="3900017" cy="2588089"/>
          </a:xfrm>
          <a:custGeom>
            <a:avLst/>
            <a:gdLst/>
            <a:ahLst/>
            <a:cxnLst/>
            <a:rect l="l" t="t" r="r" b="b"/>
            <a:pathLst>
              <a:path w="5910657" h="3921348" extrusionOk="0">
                <a:moveTo>
                  <a:pt x="1729824" y="3921349"/>
                </a:moveTo>
                <a:lnTo>
                  <a:pt x="95248" y="3921349"/>
                </a:lnTo>
                <a:cubicBezTo>
                  <a:pt x="10595" y="3921349"/>
                  <a:pt x="-31858" y="3818954"/>
                  <a:pt x="28020" y="3759076"/>
                </a:cubicBezTo>
                <a:lnTo>
                  <a:pt x="3508742" y="278354"/>
                </a:lnTo>
                <a:cubicBezTo>
                  <a:pt x="3686982" y="100114"/>
                  <a:pt x="3928712" y="0"/>
                  <a:pt x="4180834" y="0"/>
                </a:cubicBezTo>
                <a:lnTo>
                  <a:pt x="5815410" y="0"/>
                </a:lnTo>
                <a:cubicBezTo>
                  <a:pt x="5900063" y="0"/>
                  <a:pt x="5942516" y="102395"/>
                  <a:pt x="5882638" y="162273"/>
                </a:cubicBezTo>
                <a:lnTo>
                  <a:pt x="2401916" y="3642994"/>
                </a:lnTo>
                <a:cubicBezTo>
                  <a:pt x="2223676" y="3821235"/>
                  <a:pt x="1981946" y="3921349"/>
                  <a:pt x="1729824" y="3921349"/>
                </a:cubicBezTo>
                <a:close/>
              </a:path>
            </a:pathLst>
          </a:custGeom>
          <a:gradFill>
            <a:gsLst>
              <a:gs pos="0">
                <a:srgbClr val="6C4B94">
                  <a:alpha val="0"/>
                </a:srgbClr>
              </a:gs>
              <a:gs pos="21000">
                <a:srgbClr val="6C4B94">
                  <a:alpha val="0"/>
                </a:srgbClr>
              </a:gs>
              <a:gs pos="82000">
                <a:srgbClr val="0095C4">
                  <a:alpha val="12941"/>
                </a:srgbClr>
              </a:gs>
              <a:gs pos="100000">
                <a:srgbClr val="0095C4">
                  <a:alpha val="12941"/>
                </a:srgbClr>
              </a:gs>
            </a:gsLst>
            <a:lin ang="18900044" scaled="0"/>
          </a:gradFill>
          <a:ln>
            <a:noFill/>
          </a:ln>
        </p:spPr>
        <p:txBody>
          <a:bodyPr spcFirstLastPara="1" wrap="square" lIns="91410" tIns="45688" rIns="91410" bIns="45688"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6" b="0" i="0" u="none" strike="noStrike" cap="none">
              <a:solidFill>
                <a:schemeClr val="dk1"/>
              </a:solidFill>
              <a:latin typeface="Arial"/>
              <a:ea typeface="Arial"/>
              <a:cs typeface="Arial"/>
              <a:sym typeface="Arial"/>
            </a:endParaRPr>
          </a:p>
        </p:txBody>
      </p:sp>
      <p:sp>
        <p:nvSpPr>
          <p:cNvPr id="4122" name="Google Shape;4122;p216"/>
          <p:cNvSpPr txBox="1">
            <a:spLocks noGrp="1"/>
          </p:cNvSpPr>
          <p:nvPr>
            <p:ph type="body" idx="2"/>
          </p:nvPr>
        </p:nvSpPr>
        <p:spPr>
          <a:xfrm>
            <a:off x="7926389" y="1668132"/>
            <a:ext cx="3654248" cy="636000"/>
          </a:xfrm>
          <a:prstGeom prst="rect">
            <a:avLst/>
          </a:prstGeom>
          <a:noFill/>
          <a:ln>
            <a:noFill/>
          </a:ln>
        </p:spPr>
        <p:txBody>
          <a:bodyPr spcFirstLastPara="1" wrap="square" lIns="0" tIns="0" rIns="0" bIns="0" anchor="b" anchorCtr="0">
            <a:noAutofit/>
          </a:bodyPr>
          <a:lstStyle>
            <a:lvl1pPr marL="609448" lvl="0" indent="-304724" algn="l">
              <a:lnSpc>
                <a:spcPct val="100000"/>
              </a:lnSpc>
              <a:spcBef>
                <a:spcPts val="0"/>
              </a:spcBef>
              <a:spcAft>
                <a:spcPts val="0"/>
              </a:spcAft>
              <a:buSzPts val="1400"/>
              <a:buNone/>
              <a:defRPr sz="2000" b="1">
                <a:solidFill>
                  <a:schemeClr val="accent3"/>
                </a:solidFill>
              </a:defRPr>
            </a:lvl1pPr>
            <a:lvl2pPr marL="1218895" lvl="1" indent="-406298" algn="l">
              <a:lnSpc>
                <a:spcPct val="100000"/>
              </a:lnSpc>
              <a:spcBef>
                <a:spcPts val="1200"/>
              </a:spcBef>
              <a:spcAft>
                <a:spcPts val="0"/>
              </a:spcAft>
              <a:buSzPts val="1200"/>
              <a:buChar char="•"/>
              <a:defRPr/>
            </a:lvl2pPr>
            <a:lvl3pPr marL="1828343" lvl="2" indent="-406298" algn="l">
              <a:lnSpc>
                <a:spcPct val="100000"/>
              </a:lnSpc>
              <a:spcBef>
                <a:spcPts val="1200"/>
              </a:spcBef>
              <a:spcAft>
                <a:spcPts val="0"/>
              </a:spcAft>
              <a:buSzPts val="1200"/>
              <a:buChar char="–"/>
              <a:defRPr/>
            </a:lvl3pPr>
            <a:lvl4pPr marL="2437790" lvl="3" indent="-406298" algn="l">
              <a:lnSpc>
                <a:spcPct val="100000"/>
              </a:lnSpc>
              <a:spcBef>
                <a:spcPts val="1200"/>
              </a:spcBef>
              <a:spcAft>
                <a:spcPts val="0"/>
              </a:spcAft>
              <a:buSzPts val="1200"/>
              <a:buChar char="•"/>
              <a:defRPr/>
            </a:lvl4pPr>
            <a:lvl5pPr marL="3047238" lvl="4" indent="-406298" algn="l">
              <a:lnSpc>
                <a:spcPct val="100000"/>
              </a:lnSpc>
              <a:spcBef>
                <a:spcPts val="1200"/>
              </a:spcBef>
              <a:spcAft>
                <a:spcPts val="0"/>
              </a:spcAft>
              <a:buSzPts val="1200"/>
              <a:buChar char="–"/>
              <a:defRPr/>
            </a:lvl5pPr>
            <a:lvl6pPr marL="3656686" lvl="5" indent="-406298" algn="l">
              <a:lnSpc>
                <a:spcPct val="100000"/>
              </a:lnSpc>
              <a:spcBef>
                <a:spcPts val="1200"/>
              </a:spcBef>
              <a:spcAft>
                <a:spcPts val="0"/>
              </a:spcAft>
              <a:buSzPts val="1200"/>
              <a:buChar char="•"/>
              <a:defRPr/>
            </a:lvl6pPr>
            <a:lvl7pPr marL="4266133" lvl="6" indent="-406298" algn="l">
              <a:lnSpc>
                <a:spcPct val="100000"/>
              </a:lnSpc>
              <a:spcBef>
                <a:spcPts val="1200"/>
              </a:spcBef>
              <a:spcAft>
                <a:spcPts val="0"/>
              </a:spcAft>
              <a:buSzPts val="1200"/>
              <a:buChar char="-"/>
              <a:defRPr/>
            </a:lvl7pPr>
            <a:lvl8pPr marL="4875581" lvl="7" indent="-406298" algn="l">
              <a:lnSpc>
                <a:spcPct val="100000"/>
              </a:lnSpc>
              <a:spcBef>
                <a:spcPts val="1200"/>
              </a:spcBef>
              <a:spcAft>
                <a:spcPts val="0"/>
              </a:spcAft>
              <a:buSzPts val="1200"/>
              <a:buChar char="•"/>
              <a:defRPr/>
            </a:lvl8pPr>
            <a:lvl9pPr marL="5485028" lvl="8" indent="-406298" algn="l">
              <a:lnSpc>
                <a:spcPct val="100000"/>
              </a:lnSpc>
              <a:spcBef>
                <a:spcPts val="1200"/>
              </a:spcBef>
              <a:spcAft>
                <a:spcPts val="1200"/>
              </a:spcAft>
              <a:buSzPts val="1200"/>
              <a:buChar char="-"/>
              <a:defRPr/>
            </a:lvl9pPr>
          </a:lstStyle>
          <a:p>
            <a:endParaRPr/>
          </a:p>
        </p:txBody>
      </p:sp>
      <p:sp>
        <p:nvSpPr>
          <p:cNvPr id="4123" name="Google Shape;4123;p216"/>
          <p:cNvSpPr txBox="1">
            <a:spLocks noGrp="1"/>
          </p:cNvSpPr>
          <p:nvPr>
            <p:ph type="body" idx="3"/>
          </p:nvPr>
        </p:nvSpPr>
        <p:spPr>
          <a:xfrm>
            <a:off x="7926389" y="2390107"/>
            <a:ext cx="3654248" cy="1781200"/>
          </a:xfrm>
          <a:prstGeom prst="rect">
            <a:avLst/>
          </a:prstGeom>
          <a:noFill/>
          <a:ln>
            <a:noFill/>
          </a:ln>
        </p:spPr>
        <p:txBody>
          <a:bodyPr spcFirstLastPara="1" wrap="square" lIns="0" tIns="0" rIns="0" bIns="0" anchor="t" anchorCtr="0">
            <a:noAutofit/>
          </a:bodyPr>
          <a:lstStyle>
            <a:lvl1pPr marL="609448" lvl="0" indent="-406298" algn="l">
              <a:lnSpc>
                <a:spcPct val="100000"/>
              </a:lnSpc>
              <a:spcBef>
                <a:spcPts val="0"/>
              </a:spcBef>
              <a:spcAft>
                <a:spcPts val="0"/>
              </a:spcAft>
              <a:buSzPts val="1200"/>
              <a:buChar char="​"/>
              <a:defRPr sz="1866"/>
            </a:lvl1pPr>
            <a:lvl2pPr marL="1218895" lvl="1" indent="-304724" algn="l">
              <a:lnSpc>
                <a:spcPct val="100000"/>
              </a:lnSpc>
              <a:spcBef>
                <a:spcPts val="1200"/>
              </a:spcBef>
              <a:spcAft>
                <a:spcPts val="0"/>
              </a:spcAft>
              <a:buSzPts val="1200"/>
              <a:buNone/>
              <a:defRPr/>
            </a:lvl2pPr>
            <a:lvl3pPr marL="1828343" lvl="2" indent="-406298" algn="l">
              <a:lnSpc>
                <a:spcPct val="100000"/>
              </a:lnSpc>
              <a:spcBef>
                <a:spcPts val="1200"/>
              </a:spcBef>
              <a:spcAft>
                <a:spcPts val="0"/>
              </a:spcAft>
              <a:buSzPts val="1200"/>
              <a:buChar char="–"/>
              <a:defRPr/>
            </a:lvl3pPr>
            <a:lvl4pPr marL="2437790" lvl="3" indent="-406298" algn="l">
              <a:lnSpc>
                <a:spcPct val="100000"/>
              </a:lnSpc>
              <a:spcBef>
                <a:spcPts val="1200"/>
              </a:spcBef>
              <a:spcAft>
                <a:spcPts val="0"/>
              </a:spcAft>
              <a:buSzPts val="1200"/>
              <a:buChar char="•"/>
              <a:defRPr/>
            </a:lvl4pPr>
            <a:lvl5pPr marL="3047238" lvl="4" indent="-406298" algn="l">
              <a:lnSpc>
                <a:spcPct val="100000"/>
              </a:lnSpc>
              <a:spcBef>
                <a:spcPts val="1200"/>
              </a:spcBef>
              <a:spcAft>
                <a:spcPts val="0"/>
              </a:spcAft>
              <a:buSzPts val="1200"/>
              <a:buChar char="–"/>
              <a:defRPr/>
            </a:lvl5pPr>
            <a:lvl6pPr marL="3656686" lvl="5" indent="-406298" algn="l">
              <a:lnSpc>
                <a:spcPct val="100000"/>
              </a:lnSpc>
              <a:spcBef>
                <a:spcPts val="1200"/>
              </a:spcBef>
              <a:spcAft>
                <a:spcPts val="0"/>
              </a:spcAft>
              <a:buSzPts val="1200"/>
              <a:buChar char="•"/>
              <a:defRPr/>
            </a:lvl6pPr>
            <a:lvl7pPr marL="4266133" lvl="6" indent="-406298" algn="l">
              <a:lnSpc>
                <a:spcPct val="100000"/>
              </a:lnSpc>
              <a:spcBef>
                <a:spcPts val="1200"/>
              </a:spcBef>
              <a:spcAft>
                <a:spcPts val="0"/>
              </a:spcAft>
              <a:buSzPts val="1200"/>
              <a:buChar char="-"/>
              <a:defRPr/>
            </a:lvl7pPr>
            <a:lvl8pPr marL="4875581" lvl="7" indent="-406298" algn="l">
              <a:lnSpc>
                <a:spcPct val="100000"/>
              </a:lnSpc>
              <a:spcBef>
                <a:spcPts val="1200"/>
              </a:spcBef>
              <a:spcAft>
                <a:spcPts val="0"/>
              </a:spcAft>
              <a:buSzPts val="1200"/>
              <a:buChar char="•"/>
              <a:defRPr/>
            </a:lvl8pPr>
            <a:lvl9pPr marL="5485028" lvl="8" indent="-406298" algn="l">
              <a:lnSpc>
                <a:spcPct val="100000"/>
              </a:lnSpc>
              <a:spcBef>
                <a:spcPts val="1200"/>
              </a:spcBef>
              <a:spcAft>
                <a:spcPts val="1200"/>
              </a:spcAft>
              <a:buSzPts val="1200"/>
              <a:buChar char="-"/>
              <a:defRPr/>
            </a:lvl9pPr>
          </a:lstStyle>
          <a:p>
            <a:endParaRPr/>
          </a:p>
        </p:txBody>
      </p:sp>
      <p:sp>
        <p:nvSpPr>
          <p:cNvPr id="4124" name="Google Shape;4124;p216"/>
          <p:cNvSpPr/>
          <p:nvPr/>
        </p:nvSpPr>
        <p:spPr>
          <a:xfrm>
            <a:off x="10220217" y="4083429"/>
            <a:ext cx="1968095" cy="1768051"/>
          </a:xfrm>
          <a:custGeom>
            <a:avLst/>
            <a:gdLst/>
            <a:ahLst/>
            <a:cxnLst/>
            <a:rect l="l" t="t" r="r" b="b"/>
            <a:pathLst>
              <a:path w="1968608" h="1768051" extrusionOk="0">
                <a:moveTo>
                  <a:pt x="1885046" y="0"/>
                </a:moveTo>
                <a:lnTo>
                  <a:pt x="1968608" y="0"/>
                </a:lnTo>
                <a:lnTo>
                  <a:pt x="1968608" y="756909"/>
                </a:lnTo>
                <a:lnTo>
                  <a:pt x="1082971" y="1642546"/>
                </a:lnTo>
                <a:cubicBezTo>
                  <a:pt x="1002607" y="1722911"/>
                  <a:pt x="893616" y="1768051"/>
                  <a:pt x="779939" y="1768051"/>
                </a:cubicBezTo>
                <a:lnTo>
                  <a:pt x="42945" y="1768051"/>
                </a:lnTo>
                <a:cubicBezTo>
                  <a:pt x="4777" y="1768051"/>
                  <a:pt x="-14364" y="1721883"/>
                  <a:pt x="12634" y="1694885"/>
                </a:cubicBezTo>
                <a:lnTo>
                  <a:pt x="1582015" y="125504"/>
                </a:lnTo>
                <a:cubicBezTo>
                  <a:pt x="1662379" y="45139"/>
                  <a:pt x="1771370" y="0"/>
                  <a:pt x="1885046" y="0"/>
                </a:cubicBezTo>
                <a:close/>
              </a:path>
            </a:pathLst>
          </a:custGeom>
          <a:gradFill>
            <a:gsLst>
              <a:gs pos="0">
                <a:srgbClr val="6C4B94">
                  <a:alpha val="0"/>
                </a:srgbClr>
              </a:gs>
              <a:gs pos="21000">
                <a:srgbClr val="6C4B94">
                  <a:alpha val="0"/>
                </a:srgbClr>
              </a:gs>
              <a:gs pos="82000">
                <a:srgbClr val="0095C4">
                  <a:alpha val="12941"/>
                </a:srgbClr>
              </a:gs>
              <a:gs pos="100000">
                <a:srgbClr val="0095C4">
                  <a:alpha val="12941"/>
                </a:srgbClr>
              </a:gs>
            </a:gsLst>
            <a:lin ang="5400012" scaled="0"/>
          </a:gradFill>
          <a:ln>
            <a:noFill/>
          </a:ln>
        </p:spPr>
        <p:txBody>
          <a:bodyPr spcFirstLastPara="1" wrap="square" lIns="91410" tIns="45688" rIns="91410" bIns="45688"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6" b="0" i="0" u="none" strike="noStrike" cap="none">
              <a:solidFill>
                <a:schemeClr val="dk1"/>
              </a:solidFill>
              <a:latin typeface="Arial"/>
              <a:ea typeface="Arial"/>
              <a:cs typeface="Arial"/>
              <a:sym typeface="Arial"/>
            </a:endParaRPr>
          </a:p>
        </p:txBody>
      </p:sp>
    </p:spTree>
    <p:extLst>
      <p:ext uri="{BB962C8B-B14F-4D97-AF65-F5344CB8AC3E}">
        <p14:creationId xmlns:p14="http://schemas.microsoft.com/office/powerpoint/2010/main" val="1692380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11_Title and Subtitle">
  <p:cSld name="11_Title and Subtitle">
    <p:spTree>
      <p:nvGrpSpPr>
        <p:cNvPr id="1" name="Shape 271"/>
        <p:cNvGrpSpPr/>
        <p:nvPr/>
      </p:nvGrpSpPr>
      <p:grpSpPr>
        <a:xfrm>
          <a:off x="0" y="0"/>
          <a:ext cx="0" cy="0"/>
          <a:chOff x="0" y="0"/>
          <a:chExt cx="0" cy="0"/>
        </a:xfrm>
      </p:grpSpPr>
      <p:sp>
        <p:nvSpPr>
          <p:cNvPr id="272" name="Google Shape;272;p33"/>
          <p:cNvSpPr txBox="1">
            <a:spLocks noGrp="1"/>
          </p:cNvSpPr>
          <p:nvPr>
            <p:ph type="title"/>
          </p:nvPr>
        </p:nvSpPr>
        <p:spPr>
          <a:xfrm>
            <a:off x="579809" y="412751"/>
            <a:ext cx="11001134" cy="3812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Clr>
                <a:schemeClr val="dk1"/>
              </a:buClr>
              <a:buSzPts val="2100"/>
              <a:buFont typeface="Arial"/>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73" name="Google Shape;273;p33"/>
          <p:cNvSpPr txBox="1">
            <a:spLocks noGrp="1"/>
          </p:cNvSpPr>
          <p:nvPr>
            <p:ph type="subTitle" idx="1"/>
          </p:nvPr>
        </p:nvSpPr>
        <p:spPr>
          <a:xfrm>
            <a:off x="592868" y="811832"/>
            <a:ext cx="10962744" cy="307600"/>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300"/>
              <a:buNone/>
              <a:defRPr sz="2000">
                <a:solidFill>
                  <a:schemeClr val="dk2"/>
                </a:solidFill>
                <a:latin typeface="Arial"/>
                <a:ea typeface="Arial"/>
                <a:cs typeface="Arial"/>
                <a:sym typeface="Arial"/>
              </a:defRPr>
            </a:lvl1pPr>
            <a:lvl2pPr lvl="1" algn="ctr">
              <a:lnSpc>
                <a:spcPct val="100000"/>
              </a:lnSpc>
              <a:spcBef>
                <a:spcPts val="1200"/>
              </a:spcBef>
              <a:spcAft>
                <a:spcPts val="0"/>
              </a:spcAft>
              <a:buSzPts val="1300"/>
              <a:buNone/>
              <a:defRPr sz="2000"/>
            </a:lvl2pPr>
            <a:lvl3pPr lvl="2" algn="ctr">
              <a:lnSpc>
                <a:spcPct val="100000"/>
              </a:lnSpc>
              <a:spcBef>
                <a:spcPts val="1200"/>
              </a:spcBef>
              <a:spcAft>
                <a:spcPts val="0"/>
              </a:spcAft>
              <a:buSzPts val="1200"/>
              <a:buNone/>
              <a:defRPr sz="1733"/>
            </a:lvl3pPr>
            <a:lvl4pPr lvl="3" algn="ctr">
              <a:lnSpc>
                <a:spcPct val="100000"/>
              </a:lnSpc>
              <a:spcBef>
                <a:spcPts val="1200"/>
              </a:spcBef>
              <a:spcAft>
                <a:spcPts val="0"/>
              </a:spcAft>
              <a:buSzPts val="1100"/>
              <a:buNone/>
              <a:defRPr sz="1600"/>
            </a:lvl4pPr>
            <a:lvl5pPr lvl="4" algn="ctr">
              <a:lnSpc>
                <a:spcPct val="100000"/>
              </a:lnSpc>
              <a:spcBef>
                <a:spcPts val="1200"/>
              </a:spcBef>
              <a:spcAft>
                <a:spcPts val="0"/>
              </a:spcAft>
              <a:buSzPts val="1100"/>
              <a:buNone/>
              <a:defRPr sz="1600"/>
            </a:lvl5pPr>
            <a:lvl6pPr lvl="5" algn="ctr">
              <a:lnSpc>
                <a:spcPct val="100000"/>
              </a:lnSpc>
              <a:spcBef>
                <a:spcPts val="1200"/>
              </a:spcBef>
              <a:spcAft>
                <a:spcPts val="0"/>
              </a:spcAft>
              <a:buSzPts val="1100"/>
              <a:buNone/>
              <a:defRPr sz="1600"/>
            </a:lvl6pPr>
            <a:lvl7pPr lvl="6" algn="ctr">
              <a:lnSpc>
                <a:spcPct val="100000"/>
              </a:lnSpc>
              <a:spcBef>
                <a:spcPts val="1200"/>
              </a:spcBef>
              <a:spcAft>
                <a:spcPts val="0"/>
              </a:spcAft>
              <a:buSzPts val="1100"/>
              <a:buNone/>
              <a:defRPr sz="1600"/>
            </a:lvl7pPr>
            <a:lvl8pPr lvl="7" algn="ctr">
              <a:lnSpc>
                <a:spcPct val="100000"/>
              </a:lnSpc>
              <a:spcBef>
                <a:spcPts val="1200"/>
              </a:spcBef>
              <a:spcAft>
                <a:spcPts val="0"/>
              </a:spcAft>
              <a:buSzPts val="1100"/>
              <a:buNone/>
              <a:defRPr sz="1600"/>
            </a:lvl8pPr>
            <a:lvl9pPr lvl="8" algn="ctr">
              <a:lnSpc>
                <a:spcPct val="100000"/>
              </a:lnSpc>
              <a:spcBef>
                <a:spcPts val="1200"/>
              </a:spcBef>
              <a:spcAft>
                <a:spcPts val="1200"/>
              </a:spcAft>
              <a:buSzPts val="1100"/>
              <a:buNone/>
              <a:defRPr sz="1600"/>
            </a:lvl9pPr>
          </a:lstStyle>
          <a:p>
            <a:endParaRPr/>
          </a:p>
        </p:txBody>
      </p:sp>
      <p:sp>
        <p:nvSpPr>
          <p:cNvPr id="274" name="Google Shape;274;p33"/>
          <p:cNvSpPr txBox="1"/>
          <p:nvPr/>
        </p:nvSpPr>
        <p:spPr>
          <a:xfrm>
            <a:off x="11490941" y="6464808"/>
            <a:ext cx="437886" cy="18320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endParaRPr sz="800">
              <a:solidFill>
                <a:schemeClr val="dk2"/>
              </a:solidFill>
              <a:latin typeface="Arial"/>
              <a:ea typeface="Arial"/>
              <a:cs typeface="Arial"/>
              <a:sym typeface="Arial"/>
            </a:endParaRPr>
          </a:p>
        </p:txBody>
      </p:sp>
    </p:spTree>
    <p:extLst>
      <p:ext uri="{BB962C8B-B14F-4D97-AF65-F5344CB8AC3E}">
        <p14:creationId xmlns:p14="http://schemas.microsoft.com/office/powerpoint/2010/main" val="36197312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cSld name="2_Two Content Dynamic – Righ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92A934A-AC6B-460C-9C93-B13CF6B6263F}"/>
              </a:ext>
            </a:extLst>
          </p:cNvPr>
          <p:cNvSpPr>
            <a:spLocks noGrp="1"/>
          </p:cNvSpPr>
          <p:nvPr>
            <p:ph type="title" hasCustomPrompt="1"/>
          </p:nvPr>
        </p:nvSpPr>
        <p:spPr/>
        <p:txBody>
          <a:bodyPr wrap="none"/>
          <a:lstStyle>
            <a:lvl1pPr>
              <a:defRPr>
                <a:solidFill>
                  <a:schemeClr val="tx1"/>
                </a:solidFill>
              </a:defRPr>
            </a:lvl1pPr>
          </a:lstStyle>
          <a:p>
            <a:r>
              <a:rPr lang="en-US" dirty="0"/>
              <a:t>Two-content Layout – Highlight Text on Right, Text/Graphic on Left</a:t>
            </a:r>
          </a:p>
        </p:txBody>
      </p:sp>
      <p:sp>
        <p:nvSpPr>
          <p:cNvPr id="14" name="Subtitle 2">
            <a:extLst>
              <a:ext uri="{FF2B5EF4-FFF2-40B4-BE49-F238E27FC236}">
                <a16:creationId xmlns:a16="http://schemas.microsoft.com/office/drawing/2014/main" id="{F6F5131D-84AE-4294-83A1-243FE1C81A8A}"/>
              </a:ext>
            </a:extLst>
          </p:cNvPr>
          <p:cNvSpPr>
            <a:spLocks noGrp="1"/>
          </p:cNvSpPr>
          <p:nvPr>
            <p:ph type="subTitle" idx="10" hasCustomPrompt="1"/>
          </p:nvPr>
        </p:nvSpPr>
        <p:spPr>
          <a:xfrm>
            <a:off x="592866" y="811830"/>
            <a:ext cx="10962687" cy="247743"/>
          </a:xfrm>
        </p:spPr>
        <p:txBody>
          <a:bodyPr/>
          <a:lstStyle>
            <a:lvl1pPr marL="0" indent="0" algn="l">
              <a:lnSpc>
                <a:spcPct val="100000"/>
              </a:lnSpc>
              <a:spcBef>
                <a:spcPts val="0"/>
              </a:spcBef>
              <a:buNone/>
              <a:defRPr sz="2000">
                <a:solidFill>
                  <a:schemeClr val="tx1">
                    <a:lumMod val="85000"/>
                    <a:lumOff val="15000"/>
                  </a:schemeClr>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add subtitle</a:t>
            </a:r>
          </a:p>
        </p:txBody>
      </p:sp>
      <p:sp>
        <p:nvSpPr>
          <p:cNvPr id="9" name="page number">
            <a:extLst>
              <a:ext uri="{FF2B5EF4-FFF2-40B4-BE49-F238E27FC236}">
                <a16:creationId xmlns:a16="http://schemas.microsoft.com/office/drawing/2014/main" id="{EA3FFB13-8625-D245-BD64-AAC7CCCB5B64}"/>
              </a:ext>
            </a:extLst>
          </p:cNvPr>
          <p:cNvSpPr txBox="1"/>
          <p:nvPr/>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2" name="Rectangle 1">
            <a:extLst>
              <a:ext uri="{FF2B5EF4-FFF2-40B4-BE49-F238E27FC236}">
                <a16:creationId xmlns:a16="http://schemas.microsoft.com/office/drawing/2014/main" id="{85B60DB8-F067-969E-72B5-4E90025E5BF8}"/>
              </a:ext>
              <a:ext uri="{C183D7F6-B498-43B3-948B-1728B52AA6E4}">
                <adec:decorative xmlns:adec="http://schemas.microsoft.com/office/drawing/2017/decorative" val="1"/>
              </a:ext>
            </a:extLst>
          </p:cNvPr>
          <p:cNvSpPr/>
          <p:nvPr/>
        </p:nvSpPr>
        <p:spPr>
          <a:xfrm flipV="1">
            <a:off x="9294812"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
        <p:nvSpPr>
          <p:cNvPr id="4" name="Text Placeholder 3">
            <a:extLst>
              <a:ext uri="{FF2B5EF4-FFF2-40B4-BE49-F238E27FC236}">
                <a16:creationId xmlns:a16="http://schemas.microsoft.com/office/drawing/2014/main" id="{CEB93DEE-AB9E-C81E-DF9C-D1BE09F22E09}"/>
              </a:ext>
            </a:extLst>
          </p:cNvPr>
          <p:cNvSpPr>
            <a:spLocks noGrp="1"/>
          </p:cNvSpPr>
          <p:nvPr>
            <p:ph type="body" sz="quarter" idx="20" hasCustomPrompt="1"/>
          </p:nvPr>
        </p:nvSpPr>
        <p:spPr>
          <a:xfrm>
            <a:off x="9294812" y="1609531"/>
            <a:ext cx="2894013" cy="4572000"/>
          </a:xfrm>
          <a:solidFill>
            <a:srgbClr val="F4F8FA"/>
          </a:solidFill>
        </p:spPr>
        <p:txBody>
          <a:bodyPr vert="horz" lIns="274320" tIns="457200" rIns="457200" bIns="457200" rtlCol="0">
            <a:noAutofit/>
          </a:bodyPr>
          <a:lstStyle>
            <a:lvl1pPr>
              <a:defRPr lang="en-US" sz="1800" dirty="0">
                <a:solidFill>
                  <a:schemeClr val="accent2"/>
                </a:solidFill>
              </a:defRPr>
            </a:lvl1pPr>
            <a:lvl2pPr>
              <a:buClr>
                <a:schemeClr val="accent2"/>
              </a:buClr>
              <a:defRPr lang="en-US" sz="1600" dirty="0" smtClean="0">
                <a:solidFill>
                  <a:schemeClr val="accent2"/>
                </a:solidFill>
              </a:defRPr>
            </a:lvl2pPr>
            <a:lvl3pPr>
              <a:buClr>
                <a:schemeClr val="accent2"/>
              </a:buClr>
              <a:defRPr lang="en-US" sz="1400" dirty="0" smtClean="0">
                <a:solidFill>
                  <a:schemeClr val="accent2"/>
                </a:solidFill>
              </a:defRPr>
            </a:lvl3pPr>
            <a:lvl4pPr>
              <a:buClr>
                <a:schemeClr val="accent2"/>
              </a:buClr>
              <a:defRPr lang="en-US" sz="1200" dirty="0" smtClean="0">
                <a:solidFill>
                  <a:schemeClr val="accent2"/>
                </a:solidFill>
              </a:defRPr>
            </a:lvl4pPr>
            <a:lvl5pPr>
              <a:buClr>
                <a:schemeClr val="accent2"/>
              </a:buClr>
              <a:defRPr lang="en-US" sz="1200" dirty="0">
                <a:solidFill>
                  <a:schemeClr val="accent2"/>
                </a:solidFill>
              </a:defRPr>
            </a:lvl5pPr>
          </a:lstStyle>
          <a:p>
            <a:pPr lvl="0">
              <a:spcBef>
                <a:spcPts val="1200"/>
              </a:spcBef>
            </a:pPr>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10">
            <a:extLst>
              <a:ext uri="{FF2B5EF4-FFF2-40B4-BE49-F238E27FC236}">
                <a16:creationId xmlns:a16="http://schemas.microsoft.com/office/drawing/2014/main" id="{DC18C6BC-2416-B51C-F45A-9BCC874B47ED}"/>
              </a:ext>
            </a:extLst>
          </p:cNvPr>
          <p:cNvSpPr>
            <a:spLocks noGrp="1"/>
          </p:cNvSpPr>
          <p:nvPr>
            <p:ph sz="quarter" idx="19" hasCustomPrompt="1"/>
          </p:nvPr>
        </p:nvSpPr>
        <p:spPr>
          <a:xfrm>
            <a:off x="579809" y="1607465"/>
            <a:ext cx="8229600" cy="4572000"/>
          </a:xfrm>
        </p:spPr>
        <p:txBody>
          <a:bodyPr vert="horz" lIns="594360" tIns="457200" rIns="0" bIns="0" rtlCol="0">
            <a:noAutofit/>
          </a:bodyPr>
          <a:lstStyle>
            <a:lvl1pPr>
              <a:defRPr lang="en-US" dirty="0" smtClean="0">
                <a:solidFill>
                  <a:schemeClr val="tx1"/>
                </a:solidFill>
              </a:defRPr>
            </a:lvl1pPr>
            <a:lvl2pPr>
              <a:defRPr lang="en-US" dirty="0" smtClean="0">
                <a:solidFill>
                  <a:schemeClr val="tx1"/>
                </a:solidFill>
              </a:defRPr>
            </a:lvl2pPr>
            <a:lvl3pPr>
              <a:defRPr lang="en-US" dirty="0" smtClean="0">
                <a:solidFill>
                  <a:schemeClr val="tx1"/>
                </a:solidFill>
              </a:defRPr>
            </a:lvl3pPr>
            <a:lvl4pPr>
              <a:defRPr lang="en-US" dirty="0" smtClean="0">
                <a:solidFill>
                  <a:schemeClr val="tx1"/>
                </a:solidFill>
              </a:defRPr>
            </a:lvl4pPr>
            <a:lvl5pPr>
              <a:defRPr lang="en-US" dirty="0" smtClean="0">
                <a:solidFill>
                  <a:schemeClr val="tx1"/>
                </a:solidFill>
              </a:defRPr>
            </a:lvl5pPr>
            <a:lvl6pPr>
              <a:defRPr lang="en-US" dirty="0" smtClean="0">
                <a:solidFill>
                  <a:schemeClr val="tx1"/>
                </a:solidFill>
              </a:defRPr>
            </a:lvl6pPr>
            <a:lvl7pPr>
              <a:defRPr lang="en-US" dirty="0" smtClean="0">
                <a:solidFill>
                  <a:schemeClr val="tx1"/>
                </a:solidFill>
              </a:defRPr>
            </a:lvl7pPr>
            <a:lvl8pPr>
              <a:defRPr lang="en-US" dirty="0">
                <a:solidFill>
                  <a:schemeClr val="tx1"/>
                </a:solidFill>
              </a:defRPr>
            </a:lvl8pPr>
          </a:lstStyle>
          <a:p>
            <a:pPr lvl="0"/>
            <a:r>
              <a:rPr lang="en-US" dirty="0"/>
              <a:t>Click to add graph, diagram or text</a:t>
            </a:r>
          </a:p>
          <a:p>
            <a:pPr lvl="1"/>
            <a:r>
              <a:rPr lang="en-US" dirty="0"/>
              <a:t>Second level</a:t>
            </a:r>
          </a:p>
          <a:p>
            <a:pPr lvl="2"/>
            <a:r>
              <a:rPr lang="en-US" dirty="0"/>
              <a:t>Third level</a:t>
            </a:r>
          </a:p>
          <a:p>
            <a:pPr lvl="3"/>
            <a:r>
              <a:rPr lang="en-US" dirty="0"/>
              <a:t>Fourth level</a:t>
            </a:r>
          </a:p>
          <a:p>
            <a:pPr lvl="4"/>
            <a:r>
              <a:rPr lang="en-US" dirty="0"/>
              <a:t>Fifth level</a:t>
            </a:r>
          </a:p>
          <a:p>
            <a:pPr marL="1270000" lvl="5" indent="-117475"/>
            <a:r>
              <a:rPr lang="en-US" dirty="0"/>
              <a:t>Sixth level</a:t>
            </a:r>
          </a:p>
          <a:p>
            <a:pPr marL="1438275" lvl="6" indent="-117475"/>
            <a:r>
              <a:rPr lang="en-US" dirty="0"/>
              <a:t>Seventh level</a:t>
            </a:r>
          </a:p>
          <a:p>
            <a:pPr marL="1554163" lvl="7" indent="-115888">
              <a:lnSpc>
                <a:spcPct val="90000"/>
              </a:lnSpc>
            </a:pPr>
            <a:r>
              <a:rPr lang="en-US" dirty="0"/>
              <a:t>Ninth level</a:t>
            </a:r>
          </a:p>
        </p:txBody>
      </p:sp>
      <p:sp>
        <p:nvSpPr>
          <p:cNvPr id="8" name="page number">
            <a:extLst>
              <a:ext uri="{FF2B5EF4-FFF2-40B4-BE49-F238E27FC236}">
                <a16:creationId xmlns:a16="http://schemas.microsoft.com/office/drawing/2014/main" id="{EA3FFB13-8625-D245-BD64-AAC7CCCB5B64}"/>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anose="020B0604020202020204" pitchFamily="34" charset="0"/>
                <a:cs typeface="Arial" panose="020B0604020202020204" pitchFamily="34" charset="0"/>
              </a:defRPr>
            </a:lvl1pPr>
          </a:lstStyle>
          <a:p>
            <a:pPr lvl="0" algn="r"/>
            <a:fld id="{7A51DB15-7364-4F0B-A3A0-1309F8830053}" type="slidenum">
              <a:rPr lang="en-US" smtClean="0"/>
              <a:pPr lvl="0" algn="r"/>
              <a:t>‹#›</a:t>
            </a:fld>
            <a:endParaRPr lang="en-US" dirty="0"/>
          </a:p>
        </p:txBody>
      </p:sp>
      <p:sp>
        <p:nvSpPr>
          <p:cNvPr id="10" name="Rectangle 9">
            <a:extLst>
              <a:ext uri="{FF2B5EF4-FFF2-40B4-BE49-F238E27FC236}">
                <a16:creationId xmlns:a16="http://schemas.microsoft.com/office/drawing/2014/main" id="{85B60DB8-F067-969E-72B5-4E90025E5BF8}"/>
              </a:ext>
              <a:ext uri="{C183D7F6-B498-43B3-948B-1728B52AA6E4}">
                <adec:decorative xmlns:adec="http://schemas.microsoft.com/office/drawing/2017/decorative" val="1"/>
              </a:ext>
            </a:extLst>
          </p:cNvPr>
          <p:cNvSpPr/>
          <p:nvPr userDrawn="1"/>
        </p:nvSpPr>
        <p:spPr>
          <a:xfrm flipV="1">
            <a:off x="9294812" y="1552601"/>
            <a:ext cx="2894012" cy="5486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dirty="0">
              <a:solidFill>
                <a:schemeClr val="bg1"/>
              </a:solidFill>
            </a:endParaRPr>
          </a:p>
          <a:p>
            <a:pPr algn="ctr">
              <a:spcAft>
                <a:spcPts val="600"/>
              </a:spcAft>
            </a:pPr>
            <a:endParaRPr lang="en-US" sz="1200" dirty="0">
              <a:solidFill>
                <a:schemeClr val="bg1"/>
              </a:solidFill>
            </a:endParaRPr>
          </a:p>
        </p:txBody>
      </p:sp>
    </p:spTree>
    <p:extLst>
      <p:ext uri="{BB962C8B-B14F-4D97-AF65-F5344CB8AC3E}">
        <p14:creationId xmlns:p14="http://schemas.microsoft.com/office/powerpoint/2010/main" val="1777862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adec="http://schemas.microsoft.com/office/drawing/2017/decorative" xmlns:a16="http://schemas.microsoft.com/office/drawing/2014/main">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userDrawn="1">
  <p:cSld name="QR - RBLF">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id="{3C43A142-B3D7-4E39-B708-595F0EB24BAC}"/>
              </a:ext>
              <a:ext uri="{C183D7F6-B498-43B3-948B-1728B52AA6E4}">
                <adec:decorative xmlns:adec="http://schemas.microsoft.com/office/drawing/2017/decorative" val="1"/>
              </a:ext>
            </a:extLst>
          </p:cNvPr>
          <p:cNvSpPr/>
          <p:nvPr userDrawn="1"/>
        </p:nvSpPr>
        <p:spPr>
          <a:xfrm>
            <a:off x="5378859" y="1"/>
            <a:ext cx="6809966" cy="6858000"/>
          </a:xfrm>
          <a:custGeom>
            <a:avLst/>
            <a:gdLst>
              <a:gd name="connsiteX0" fmla="*/ 6845677 w 6846538"/>
              <a:gd name="connsiteY0" fmla="*/ 4820854 h 6858000"/>
              <a:gd name="connsiteX1" fmla="*/ 4811938 w 6846538"/>
              <a:gd name="connsiteY1" fmla="*/ 6857998 h 6858000"/>
              <a:gd name="connsiteX2" fmla="*/ 6845677 w 6846538"/>
              <a:gd name="connsiteY2" fmla="*/ 6857998 h 6858000"/>
              <a:gd name="connsiteX3" fmla="*/ 6846538 w 6846538"/>
              <a:gd name="connsiteY3" fmla="*/ 0 h 6858000"/>
              <a:gd name="connsiteX4" fmla="*/ 6846538 w 6846538"/>
              <a:gd name="connsiteY4" fmla="*/ 6858000 h 6858000"/>
              <a:gd name="connsiteX5" fmla="*/ 0 w 684653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6538" h="6858000">
                <a:moveTo>
                  <a:pt x="6845677" y="4820854"/>
                </a:moveTo>
                <a:lnTo>
                  <a:pt x="4811938" y="6857998"/>
                </a:lnTo>
                <a:lnTo>
                  <a:pt x="6845677" y="6857998"/>
                </a:lnTo>
                <a:close/>
                <a:moveTo>
                  <a:pt x="6846538" y="0"/>
                </a:moveTo>
                <a:lnTo>
                  <a:pt x="6846538" y="6858000"/>
                </a:lnTo>
                <a:lnTo>
                  <a:pt x="0" y="6858000"/>
                </a:lnTo>
                <a:close/>
              </a:path>
            </a:pathLst>
          </a:custGeom>
          <a:gradFill>
            <a:gsLst>
              <a:gs pos="0">
                <a:schemeClr val="accent2">
                  <a:lumMod val="60000"/>
                  <a:lumOff val="40000"/>
                </a:schemeClr>
              </a:gs>
              <a:gs pos="100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6" name="Oval 5" descr="place icon in center">
            <a:extLst>
              <a:ext uri="{FF2B5EF4-FFF2-40B4-BE49-F238E27FC236}">
                <a16:creationId xmlns:a16="http://schemas.microsoft.com/office/drawing/2014/main" id="{D81D68B1-005D-48C3-80FB-FF903B82233B}"/>
              </a:ext>
              <a:ext uri="{C183D7F6-B498-43B3-948B-1728B52AA6E4}">
                <adec:decorative xmlns:adec="http://schemas.microsoft.com/office/drawing/2017/decorative" val="0"/>
              </a:ext>
            </a:extLst>
          </p:cNvPr>
          <p:cNvSpPr/>
          <p:nvPr userDrawn="1"/>
        </p:nvSpPr>
        <p:spPr bwMode="gray">
          <a:xfrm>
            <a:off x="7273815" y="1515193"/>
            <a:ext cx="3735912" cy="3735912"/>
          </a:xfrm>
          <a:prstGeom prst="ellipse">
            <a:avLst/>
          </a:prstGeom>
          <a:solidFill>
            <a:schemeClr val="bg1"/>
          </a:solidFill>
          <a:ln w="381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0" cap="none" spc="0" normalizeH="0" baseline="0" noProof="0" dirty="0">
              <a:ln>
                <a:noFill/>
              </a:ln>
              <a:solidFill>
                <a:srgbClr val="FFFFFF"/>
              </a:solidFill>
              <a:effectLst/>
              <a:uLnTx/>
              <a:uFillTx/>
              <a:latin typeface="Arial" pitchFamily="2" charset="0"/>
              <a:ea typeface="+mn-ea"/>
              <a:cs typeface="+mn-cs"/>
            </a:endParaRPr>
          </a:p>
        </p:txBody>
      </p:sp>
      <p:sp>
        <p:nvSpPr>
          <p:cNvPr id="7" name="page number">
            <a:extLst>
              <a:ext uri="{FF2B5EF4-FFF2-40B4-BE49-F238E27FC236}">
                <a16:creationId xmlns:a16="http://schemas.microsoft.com/office/drawing/2014/main" id="{1B689AD8-A271-4D5C-B438-8E5BEE4F3F75}"/>
              </a:ext>
            </a:extLst>
          </p:cNvPr>
          <p:cNvSpPr txBox="1"/>
          <p:nvPr userDrawn="1"/>
        </p:nvSpPr>
        <p:spPr>
          <a:xfrm>
            <a:off x="11490941" y="6464808"/>
            <a:ext cx="437990" cy="182880"/>
          </a:xfrm>
          <a:prstGeom prst="rect">
            <a:avLst/>
          </a:prstGeom>
          <a:noFill/>
        </p:spPr>
        <p:txBody>
          <a:bodyPr wrap="none" lIns="0" tIns="0" rIns="0" bIns="0" rtlCol="0" anchor="ctr">
            <a:noAutofit/>
          </a:bodyPr>
          <a:lstStyle>
            <a:defPPr>
              <a:defRPr lang="en-US"/>
            </a:defPPr>
            <a:lvl1pPr>
              <a:lnSpc>
                <a:spcPct val="90000"/>
              </a:lnSpc>
              <a:defRPr sz="800">
                <a:solidFill>
                  <a:schemeClr val="tx2"/>
                </a:solidFill>
                <a:latin typeface="+mj-lt"/>
                <a:ea typeface="Arial" pitchFamily="2" charset="0"/>
                <a:cs typeface="Arial" pitchFamily="2"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fld id="{7A51DB15-7364-4F0B-A3A0-1309F8830053}" type="slidenum">
              <a:rPr kumimoji="0" lang="en-US" sz="800" b="0" i="0" u="none" strike="noStrike" kern="1200" cap="none" spc="0" normalizeH="0" baseline="0" noProof="0" smtClean="0">
                <a:ln>
                  <a:noFill/>
                </a:ln>
                <a:solidFill>
                  <a:srgbClr val="3F3F3F"/>
                </a:solidFill>
                <a:effectLst/>
                <a:uLnTx/>
                <a:uFillTx/>
                <a:latin typeface="Arial" pitchFamily="2" charset="0"/>
                <a:ea typeface="Arial" pitchFamily="2" charset="0"/>
              </a:rPr>
              <a:pPr marL="0" marR="0" lvl="0" indent="0" algn="r" defTabSz="914400" rtl="0" eaLnBrk="1" fontAlgn="auto" latinLnBrk="0" hangingPunct="1">
                <a:lnSpc>
                  <a:spcPct val="9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3F3F3F"/>
              </a:solidFill>
              <a:effectLst/>
              <a:uLnTx/>
              <a:uFillTx/>
              <a:latin typeface="Arial" pitchFamily="2" charset="0"/>
              <a:ea typeface="Arial" pitchFamily="2" charset="0"/>
            </a:endParaRPr>
          </a:p>
        </p:txBody>
      </p:sp>
      <p:sp>
        <p:nvSpPr>
          <p:cNvPr id="9" name="Text Placeholder 3">
            <a:extLst>
              <a:ext uri="{FF2B5EF4-FFF2-40B4-BE49-F238E27FC236}">
                <a16:creationId xmlns:a16="http://schemas.microsoft.com/office/drawing/2014/main" id="{4D50EB0B-B02A-4CB0-9940-E6609218E19A}"/>
              </a:ext>
            </a:extLst>
          </p:cNvPr>
          <p:cNvSpPr>
            <a:spLocks noGrp="1"/>
          </p:cNvSpPr>
          <p:nvPr>
            <p:ph type="body" sz="quarter" idx="13" hasCustomPrompt="1"/>
          </p:nvPr>
        </p:nvSpPr>
        <p:spPr>
          <a:xfrm>
            <a:off x="595312" y="2468563"/>
            <a:ext cx="5569513" cy="1085405"/>
          </a:xfrm>
        </p:spPr>
        <p:txBody>
          <a:bodyPr anchor="t" anchorCtr="0"/>
          <a:lstStyle>
            <a:lvl1pPr marL="0" indent="0" algn="l" defTabSz="914400" rtl="0" eaLnBrk="1" latinLnBrk="0" hangingPunct="1">
              <a:lnSpc>
                <a:spcPct val="100000"/>
              </a:lnSpc>
              <a:spcBef>
                <a:spcPts val="1200"/>
              </a:spcBef>
              <a:spcAft>
                <a:spcPts val="1200"/>
              </a:spcAft>
              <a:buClr>
                <a:schemeClr val="tx1">
                  <a:lumMod val="60000"/>
                  <a:lumOff val="40000"/>
                </a:schemeClr>
              </a:buClr>
              <a:buSzPct val="90000"/>
              <a:buFont typeface="Arial" pitchFamily="2" charset="0"/>
              <a:buChar char="​"/>
              <a:defRPr lang="en-US" sz="3400" kern="1200" dirty="0">
                <a:solidFill>
                  <a:schemeClr val="tx1"/>
                </a:solidFill>
                <a:latin typeface="+mj-lt"/>
                <a:ea typeface="+mn-ea"/>
                <a:cs typeface="+mn-cs"/>
              </a:defRPr>
            </a:lvl1pPr>
            <a:lvl5pPr>
              <a:defRPr/>
            </a:lvl5pPr>
          </a:lstStyle>
          <a:p>
            <a:pPr marL="0" marR="0" lvl="0" indent="0" algn="l" defTabSz="914400" rtl="0" eaLnBrk="1" fontAlgn="auto" latinLnBrk="0" hangingPunct="1">
              <a:lnSpc>
                <a:spcPct val="100000"/>
              </a:lnSpc>
              <a:spcBef>
                <a:spcPts val="1200"/>
              </a:spcBef>
              <a:spcAft>
                <a:spcPts val="1200"/>
              </a:spcAft>
              <a:buClr>
                <a:schemeClr val="tx1">
                  <a:lumMod val="60000"/>
                  <a:lumOff val="40000"/>
                </a:schemeClr>
              </a:buClr>
              <a:buSzPct val="90000"/>
              <a:buFont typeface="Arial" pitchFamily="2" charset="0"/>
              <a:buChar char="​"/>
              <a:tabLst/>
              <a:defRPr/>
            </a:pPr>
            <a:r>
              <a:rPr lang="en-US" dirty="0"/>
              <a:t>Resource Name</a:t>
            </a:r>
          </a:p>
          <a:p>
            <a:pPr lvl="0"/>
            <a:endParaRPr lang="en-US" dirty="0"/>
          </a:p>
        </p:txBody>
      </p:sp>
      <p:sp>
        <p:nvSpPr>
          <p:cNvPr id="10" name="Rectangle 9">
            <a:extLst>
              <a:ext uri="{FF2B5EF4-FFF2-40B4-BE49-F238E27FC236}">
                <a16:creationId xmlns:a16="http://schemas.microsoft.com/office/drawing/2014/main" id="{4319DB4A-420C-48A7-9CC6-C31C94350A59}"/>
              </a:ext>
            </a:extLst>
          </p:cNvPr>
          <p:cNvSpPr/>
          <p:nvPr userDrawn="1"/>
        </p:nvSpPr>
        <p:spPr>
          <a:xfrm>
            <a:off x="7221531" y="1462910"/>
            <a:ext cx="3840480" cy="3840480"/>
          </a:xfrm>
          <a:prstGeom prst="rect">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1" name="Text Placeholder 10">
            <a:extLst>
              <a:ext uri="{FF2B5EF4-FFF2-40B4-BE49-F238E27FC236}">
                <a16:creationId xmlns:a16="http://schemas.microsoft.com/office/drawing/2014/main" id="{F0BA1246-0B36-4F00-B607-6B19C44B490A}"/>
              </a:ext>
            </a:extLst>
          </p:cNvPr>
          <p:cNvSpPr>
            <a:spLocks noGrp="1"/>
          </p:cNvSpPr>
          <p:nvPr>
            <p:ph type="body" sz="quarter" idx="14" hasCustomPrompt="1"/>
          </p:nvPr>
        </p:nvSpPr>
        <p:spPr>
          <a:xfrm>
            <a:off x="595313" y="3749675"/>
            <a:ext cx="5499100" cy="669925"/>
          </a:xfrm>
        </p:spPr>
        <p:txBody>
          <a:bodyPr/>
          <a:lstStyle>
            <a:lvl1pPr>
              <a:defRPr>
                <a:solidFill>
                  <a:schemeClr val="tx1"/>
                </a:solidFill>
                <a:latin typeface="Arial" pitchFamily="2" charset="0"/>
              </a:defRPr>
            </a:lvl1pPr>
            <a:lvl2pPr marL="273050" indent="0">
              <a:buNone/>
              <a:defRPr/>
            </a:lvl2pPr>
          </a:lstStyle>
          <a:p>
            <a:pPr lvl="0"/>
            <a:r>
              <a:rPr lang="en-US" dirty="0"/>
              <a:t>URL or Location</a:t>
            </a:r>
          </a:p>
        </p:txBody>
      </p:sp>
      <p:sp>
        <p:nvSpPr>
          <p:cNvPr id="13" name="Picture Placeholder 12">
            <a:extLst>
              <a:ext uri="{FF2B5EF4-FFF2-40B4-BE49-F238E27FC236}">
                <a16:creationId xmlns:a16="http://schemas.microsoft.com/office/drawing/2014/main" id="{95A840D7-B5DC-4B82-B742-1BC71286C579}"/>
              </a:ext>
            </a:extLst>
          </p:cNvPr>
          <p:cNvSpPr>
            <a:spLocks noGrp="1"/>
          </p:cNvSpPr>
          <p:nvPr>
            <p:ph type="pic" sz="quarter" idx="15" hasCustomPrompt="1"/>
          </p:nvPr>
        </p:nvSpPr>
        <p:spPr>
          <a:xfrm>
            <a:off x="7678731" y="1920109"/>
            <a:ext cx="2926080" cy="2926080"/>
          </a:xfrm>
        </p:spPr>
        <p:txBody>
          <a:bodyPr anchor="ctr"/>
          <a:lstStyle>
            <a:lvl1pPr algn="ctr">
              <a:defRPr/>
            </a:lvl1pPr>
          </a:lstStyle>
          <a:p>
            <a:r>
              <a:rPr lang="en-US"/>
              <a:t>QR Code</a:t>
            </a:r>
          </a:p>
        </p:txBody>
      </p:sp>
      <p:sp>
        <p:nvSpPr>
          <p:cNvPr id="2" name="TextBox 1">
            <a:extLst>
              <a:ext uri="{FF2B5EF4-FFF2-40B4-BE49-F238E27FC236}">
                <a16:creationId xmlns:a16="http://schemas.microsoft.com/office/drawing/2014/main" id="{8E6B8954-A710-B81D-E53C-7846B319B5E8}"/>
              </a:ext>
            </a:extLst>
          </p:cNvPr>
          <p:cNvSpPr txBox="1"/>
          <p:nvPr userDrawn="1"/>
        </p:nvSpPr>
        <p:spPr>
          <a:xfrm>
            <a:off x="1645084" y="6461498"/>
            <a:ext cx="76944" cy="127086"/>
          </a:xfrm>
          <a:prstGeom prst="rect">
            <a:avLst/>
          </a:prstGeom>
          <a:noFill/>
        </p:spPr>
        <p:txBody>
          <a:bodyPr wrap="none" lIns="0" tIns="0" rIns="0" bIns="0" rtlCol="0">
            <a:spAutoFit/>
          </a:bodyPr>
          <a:lstStyle/>
          <a:p>
            <a:pPr algn="l">
              <a:lnSpc>
                <a:spcPct val="130000"/>
              </a:lnSpc>
            </a:pPr>
            <a:r>
              <a:rPr lang="en-US" sz="700" spc="0" baseline="0" dirty="0">
                <a:ln/>
                <a:solidFill>
                  <a:srgbClr val="000000"/>
                </a:solidFill>
                <a:latin typeface="Arial" pitchFamily="2" charset="0"/>
                <a:sym typeface="Arial" pitchFamily="2" charset="0"/>
                <a:rtl val="0"/>
              </a:rPr>
              <a:t>.  </a:t>
            </a:r>
          </a:p>
        </p:txBody>
      </p:sp>
      <p:grpSp>
        <p:nvGrpSpPr>
          <p:cNvPr id="14" name="Graphic 8">
            <a:extLst>
              <a:ext uri="{FF2B5EF4-FFF2-40B4-BE49-F238E27FC236}">
                <a16:creationId xmlns:a16="http://schemas.microsoft.com/office/drawing/2014/main" id="{48A9556C-D90F-1E50-D386-BDD5D5B47BE9}"/>
              </a:ext>
            </a:extLst>
          </p:cNvPr>
          <p:cNvGrpSpPr/>
          <p:nvPr userDrawn="1"/>
        </p:nvGrpSpPr>
        <p:grpSpPr>
          <a:xfrm>
            <a:off x="265625" y="6323271"/>
            <a:ext cx="1249223" cy="369648"/>
            <a:chOff x="265625" y="6323271"/>
            <a:chExt cx="1249223" cy="369648"/>
          </a:xfrm>
          <a:solidFill>
            <a:srgbClr val="000000"/>
          </a:solidFill>
        </p:grpSpPr>
        <p:grpSp>
          <p:nvGrpSpPr>
            <p:cNvPr id="15" name="Graphic 8">
              <a:extLst>
                <a:ext uri="{FF2B5EF4-FFF2-40B4-BE49-F238E27FC236}">
                  <a16:creationId xmlns:a16="http://schemas.microsoft.com/office/drawing/2014/main" id="{7AE0B2ED-C500-0B34-E377-BDE89C990B9F}"/>
                </a:ext>
              </a:extLst>
            </p:cNvPr>
            <p:cNvGrpSpPr/>
            <p:nvPr/>
          </p:nvGrpSpPr>
          <p:grpSpPr>
            <a:xfrm>
              <a:off x="745455" y="6594444"/>
              <a:ext cx="722662" cy="98475"/>
              <a:chOff x="745455" y="6594444"/>
              <a:chExt cx="722662" cy="98475"/>
            </a:xfrm>
            <a:solidFill>
              <a:srgbClr val="000000"/>
            </a:solidFill>
          </p:grpSpPr>
          <p:sp>
            <p:nvSpPr>
              <p:cNvPr id="24" name="Freeform 49">
                <a:extLst>
                  <a:ext uri="{FF2B5EF4-FFF2-40B4-BE49-F238E27FC236}">
                    <a16:creationId xmlns:a16="http://schemas.microsoft.com/office/drawing/2014/main" id="{20347F9B-85D9-7305-6077-43772AB4D1E6}"/>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5" name="Freeform 50">
                <a:extLst>
                  <a:ext uri="{FF2B5EF4-FFF2-40B4-BE49-F238E27FC236}">
                    <a16:creationId xmlns:a16="http://schemas.microsoft.com/office/drawing/2014/main" id="{A058978B-1228-4CAF-11AF-339AE081625D}"/>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6" name="Freeform 51">
                <a:extLst>
                  <a:ext uri="{FF2B5EF4-FFF2-40B4-BE49-F238E27FC236}">
                    <a16:creationId xmlns:a16="http://schemas.microsoft.com/office/drawing/2014/main" id="{A59467DD-9DEF-81E1-8873-73A46064E41B}"/>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7" name="Freeform 52">
                <a:extLst>
                  <a:ext uri="{FF2B5EF4-FFF2-40B4-BE49-F238E27FC236}">
                    <a16:creationId xmlns:a16="http://schemas.microsoft.com/office/drawing/2014/main" id="{DC08AB5A-959D-9D7C-7E79-FFEBA46BD27B}"/>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8" name="Freeform 53">
                <a:extLst>
                  <a:ext uri="{FF2B5EF4-FFF2-40B4-BE49-F238E27FC236}">
                    <a16:creationId xmlns:a16="http://schemas.microsoft.com/office/drawing/2014/main" id="{71CF48B6-0739-ACD6-B12A-516A14949CCC}"/>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9" name="Freeform 54">
                <a:extLst>
                  <a:ext uri="{FF2B5EF4-FFF2-40B4-BE49-F238E27FC236}">
                    <a16:creationId xmlns:a16="http://schemas.microsoft.com/office/drawing/2014/main" id="{BDE1CBCA-34DC-B26D-AF48-C67EB1A32798}"/>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30" name="Freeform 55">
                <a:extLst>
                  <a:ext uri="{FF2B5EF4-FFF2-40B4-BE49-F238E27FC236}">
                    <a16:creationId xmlns:a16="http://schemas.microsoft.com/office/drawing/2014/main" id="{F6651751-9912-B2CD-5450-5C647507FF72}"/>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31" name="Freeform 56">
                <a:extLst>
                  <a:ext uri="{FF2B5EF4-FFF2-40B4-BE49-F238E27FC236}">
                    <a16:creationId xmlns:a16="http://schemas.microsoft.com/office/drawing/2014/main" id="{F52FFF3D-8EB6-A4D0-9E79-823CB8D65E98}"/>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32" name="Freeform 57">
                <a:extLst>
                  <a:ext uri="{FF2B5EF4-FFF2-40B4-BE49-F238E27FC236}">
                    <a16:creationId xmlns:a16="http://schemas.microsoft.com/office/drawing/2014/main" id="{D2697DDE-563D-9752-A650-E0D3A240D281}"/>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33" name="Freeform 58">
                <a:extLst>
                  <a:ext uri="{FF2B5EF4-FFF2-40B4-BE49-F238E27FC236}">
                    <a16:creationId xmlns:a16="http://schemas.microsoft.com/office/drawing/2014/main" id="{05F2E863-F47E-C104-AF3B-1E65229615B0}"/>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grpSp>
        <p:grpSp>
          <p:nvGrpSpPr>
            <p:cNvPr id="16" name="Graphic 8">
              <a:extLst>
                <a:ext uri="{FF2B5EF4-FFF2-40B4-BE49-F238E27FC236}">
                  <a16:creationId xmlns:a16="http://schemas.microsoft.com/office/drawing/2014/main" id="{04B16A5F-3C07-794A-4C3F-4F7415949D13}"/>
                </a:ext>
              </a:extLst>
            </p:cNvPr>
            <p:cNvGrpSpPr/>
            <p:nvPr/>
          </p:nvGrpSpPr>
          <p:grpSpPr>
            <a:xfrm>
              <a:off x="265625" y="6323271"/>
              <a:ext cx="1249223" cy="190348"/>
              <a:chOff x="265625" y="6323271"/>
              <a:chExt cx="1249223" cy="190348"/>
            </a:xfrm>
            <a:solidFill>
              <a:srgbClr val="000000"/>
            </a:solidFill>
          </p:grpSpPr>
          <p:sp>
            <p:nvSpPr>
              <p:cNvPr id="17" name="Freeform 60">
                <a:extLst>
                  <a:ext uri="{FF2B5EF4-FFF2-40B4-BE49-F238E27FC236}">
                    <a16:creationId xmlns:a16="http://schemas.microsoft.com/office/drawing/2014/main" id="{3C0CED8A-C407-59DA-DAAB-CA9FA2466B62}"/>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18" name="Freeform 61">
                <a:extLst>
                  <a:ext uri="{FF2B5EF4-FFF2-40B4-BE49-F238E27FC236}">
                    <a16:creationId xmlns:a16="http://schemas.microsoft.com/office/drawing/2014/main" id="{977CA251-6615-A583-67E6-BED54FAB9366}"/>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19" name="Freeform 62">
                <a:extLst>
                  <a:ext uri="{FF2B5EF4-FFF2-40B4-BE49-F238E27FC236}">
                    <a16:creationId xmlns:a16="http://schemas.microsoft.com/office/drawing/2014/main" id="{3946A3E3-A254-7F7E-D406-C189314DCDE9}"/>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0" name="Freeform 63">
                <a:extLst>
                  <a:ext uri="{FF2B5EF4-FFF2-40B4-BE49-F238E27FC236}">
                    <a16:creationId xmlns:a16="http://schemas.microsoft.com/office/drawing/2014/main" id="{B2E0029E-2C63-2298-0705-43A8E06C34FD}"/>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1" name="Freeform 64">
                <a:extLst>
                  <a:ext uri="{FF2B5EF4-FFF2-40B4-BE49-F238E27FC236}">
                    <a16:creationId xmlns:a16="http://schemas.microsoft.com/office/drawing/2014/main" id="{761D8761-8B74-F609-6C4E-620DF09332C6}"/>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2" name="Freeform 65">
                <a:extLst>
                  <a:ext uri="{FF2B5EF4-FFF2-40B4-BE49-F238E27FC236}">
                    <a16:creationId xmlns:a16="http://schemas.microsoft.com/office/drawing/2014/main" id="{0DE7D469-5170-81D5-2BE4-7410BB97497F}"/>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sp>
            <p:nvSpPr>
              <p:cNvPr id="23" name="Freeform 66">
                <a:extLst>
                  <a:ext uri="{FF2B5EF4-FFF2-40B4-BE49-F238E27FC236}">
                    <a16:creationId xmlns:a16="http://schemas.microsoft.com/office/drawing/2014/main" id="{29C3639D-D697-3371-6E1C-821308BBA9F5}"/>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latin typeface="Arial" pitchFamily="2" charset="0"/>
                </a:endParaRPr>
              </a:p>
            </p:txBody>
          </p:sp>
        </p:grpSp>
      </p:grpSp>
      <p:sp>
        <p:nvSpPr>
          <p:cNvPr id="3" name="TextBox 2">
            <a:extLst>
              <a:ext uri="{FF2B5EF4-FFF2-40B4-BE49-F238E27FC236}">
                <a16:creationId xmlns:a16="http://schemas.microsoft.com/office/drawing/2014/main" id="{BD711D22-429F-8410-DB9B-CDB5AE79E886}"/>
              </a:ext>
            </a:extLst>
          </p:cNvPr>
          <p:cNvSpPr txBox="1"/>
          <p:nvPr userDrawn="1"/>
        </p:nvSpPr>
        <p:spPr>
          <a:xfrm>
            <a:off x="1645084" y="6461498"/>
            <a:ext cx="44884"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Arial" pitchFamily="2" charset="0"/>
                <a:rtl val="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700" spc="0" baseline="0" dirty="0">
              <a:ln/>
              <a:solidFill>
                <a:srgbClr val="000000"/>
              </a:solidFill>
              <a:latin typeface="+mn-lt"/>
              <a:sym typeface="Arial" pitchFamily="2" charset="0"/>
              <a:rtl val="0"/>
            </a:endParaRPr>
          </a:p>
        </p:txBody>
      </p:sp>
    </p:spTree>
    <p:extLst>
      <p:ext uri="{BB962C8B-B14F-4D97-AF65-F5344CB8AC3E}">
        <p14:creationId xmlns:p14="http://schemas.microsoft.com/office/powerpoint/2010/main" val="3525009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adec="http://schemas.microsoft.com/office/drawing/2017/decorative"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Subtitle and Content">
  <p:cSld name="1_Title, Subtitle and Content">
    <p:spTree>
      <p:nvGrpSpPr>
        <p:cNvPr id="1" name="Shape 1104"/>
        <p:cNvGrpSpPr/>
        <p:nvPr/>
      </p:nvGrpSpPr>
      <p:grpSpPr>
        <a:xfrm>
          <a:off x="0" y="0"/>
          <a:ext cx="0" cy="0"/>
          <a:chOff x="0" y="0"/>
          <a:chExt cx="0" cy="0"/>
        </a:xfrm>
      </p:grpSpPr>
      <p:sp>
        <p:nvSpPr>
          <p:cNvPr id="1105" name="Google Shape;1105;p612"/>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SzPts val="2800"/>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6" name="Google Shape;1106;p612"/>
          <p:cNvSpPr txBox="1">
            <a:spLocks noGrp="1"/>
          </p:cNvSpPr>
          <p:nvPr>
            <p:ph type="subTitle" idx="1"/>
          </p:nvPr>
        </p:nvSpPr>
        <p:spPr>
          <a:xfrm>
            <a:off x="592866" y="811830"/>
            <a:ext cx="10987947" cy="247743"/>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SzPts val="1800"/>
              <a:buNone/>
              <a:defRPr sz="2000">
                <a:solidFill>
                  <a:schemeClr val="dk1"/>
                </a:solidFill>
                <a:latin typeface="Arial"/>
                <a:ea typeface="Arial"/>
                <a:cs typeface="Arial"/>
                <a:sym typeface="Arial"/>
              </a:defRPr>
            </a:lvl1pPr>
            <a:lvl2pPr lvl="1" algn="ctr">
              <a:lnSpc>
                <a:spcPct val="100000"/>
              </a:lnSpc>
              <a:spcBef>
                <a:spcPts val="1200"/>
              </a:spcBef>
              <a:spcAft>
                <a:spcPts val="0"/>
              </a:spcAft>
              <a:buSzPts val="1620"/>
              <a:buNone/>
              <a:defRPr sz="2000"/>
            </a:lvl2pPr>
            <a:lvl3pPr lvl="2" algn="ctr">
              <a:lnSpc>
                <a:spcPct val="100000"/>
              </a:lnSpc>
              <a:spcBef>
                <a:spcPts val="1200"/>
              </a:spcBef>
              <a:spcAft>
                <a:spcPts val="0"/>
              </a:spcAft>
              <a:buSzPts val="1440"/>
              <a:buNone/>
              <a:defRPr sz="1800"/>
            </a:lvl3pPr>
            <a:lvl4pPr lvl="3" algn="ctr">
              <a:lnSpc>
                <a:spcPct val="100000"/>
              </a:lnSpc>
              <a:spcBef>
                <a:spcPts val="1200"/>
              </a:spcBef>
              <a:spcAft>
                <a:spcPts val="0"/>
              </a:spcAft>
              <a:buSzPts val="1260"/>
              <a:buNone/>
              <a:defRPr sz="1600"/>
            </a:lvl4pPr>
            <a:lvl5pPr lvl="4" algn="ctr">
              <a:lnSpc>
                <a:spcPct val="100000"/>
              </a:lnSpc>
              <a:spcBef>
                <a:spcPts val="1200"/>
              </a:spcBef>
              <a:spcAft>
                <a:spcPts val="0"/>
              </a:spcAft>
              <a:buSzPts val="1260"/>
              <a:buNone/>
              <a:defRPr sz="1600"/>
            </a:lvl5pPr>
            <a:lvl6pPr lvl="5" algn="ctr">
              <a:lnSpc>
                <a:spcPct val="100000"/>
              </a:lnSpc>
              <a:spcBef>
                <a:spcPts val="1200"/>
              </a:spcBef>
              <a:spcAft>
                <a:spcPts val="0"/>
              </a:spcAft>
              <a:buSzPts val="1260"/>
              <a:buNone/>
              <a:defRPr sz="1600"/>
            </a:lvl6pPr>
            <a:lvl7pPr lvl="6" algn="ctr">
              <a:lnSpc>
                <a:spcPct val="100000"/>
              </a:lnSpc>
              <a:spcBef>
                <a:spcPts val="1200"/>
              </a:spcBef>
              <a:spcAft>
                <a:spcPts val="0"/>
              </a:spcAft>
              <a:buSzPts val="1260"/>
              <a:buNone/>
              <a:defRPr sz="1600"/>
            </a:lvl7pPr>
            <a:lvl8pPr lvl="7" algn="ctr">
              <a:lnSpc>
                <a:spcPct val="100000"/>
              </a:lnSpc>
              <a:spcBef>
                <a:spcPts val="1200"/>
              </a:spcBef>
              <a:spcAft>
                <a:spcPts val="0"/>
              </a:spcAft>
              <a:buSzPts val="1260"/>
              <a:buNone/>
              <a:defRPr sz="1600"/>
            </a:lvl8pPr>
            <a:lvl9pPr lvl="8" algn="ctr">
              <a:lnSpc>
                <a:spcPct val="100000"/>
              </a:lnSpc>
              <a:spcBef>
                <a:spcPts val="1200"/>
              </a:spcBef>
              <a:spcAft>
                <a:spcPts val="1200"/>
              </a:spcAft>
              <a:buSzPts val="1260"/>
              <a:buNone/>
              <a:defRPr sz="1600"/>
            </a:lvl9pPr>
          </a:lstStyle>
          <a:p>
            <a:endParaRPr/>
          </a:p>
        </p:txBody>
      </p:sp>
      <p:sp>
        <p:nvSpPr>
          <p:cNvPr id="1107" name="Google Shape;1107;p612"/>
          <p:cNvSpPr txBox="1">
            <a:spLocks noGrp="1"/>
          </p:cNvSpPr>
          <p:nvPr>
            <p:ph type="body" idx="2"/>
          </p:nvPr>
        </p:nvSpPr>
        <p:spPr>
          <a:xfrm>
            <a:off x="608012" y="1474170"/>
            <a:ext cx="10972800" cy="4572000"/>
          </a:xfrm>
          <a:prstGeom prst="rect">
            <a:avLst/>
          </a:prstGeom>
          <a:noFill/>
          <a:ln>
            <a:noFill/>
          </a:ln>
        </p:spPr>
        <p:txBody>
          <a:bodyPr spcFirstLastPara="1" wrap="square" lIns="0" tIns="0" rIns="0" bIns="0" anchor="t" anchorCtr="0">
            <a:noAutofit/>
          </a:bodyPr>
          <a:lstStyle>
            <a:lvl1pPr marL="457200" lvl="0" indent="-342900" algn="l">
              <a:lnSpc>
                <a:spcPct val="100000"/>
              </a:lnSpc>
              <a:spcBef>
                <a:spcPts val="0"/>
              </a:spcBef>
              <a:spcAft>
                <a:spcPts val="0"/>
              </a:spcAft>
              <a:buSzPts val="1800"/>
              <a:buChar char="​"/>
              <a:defRPr sz="1800">
                <a:solidFill>
                  <a:schemeClr val="dk1"/>
                </a:solidFill>
              </a:defRPr>
            </a:lvl1pPr>
            <a:lvl2pPr marL="914400" lvl="1" indent="-331470" algn="l">
              <a:lnSpc>
                <a:spcPct val="100000"/>
              </a:lnSpc>
              <a:spcBef>
                <a:spcPts val="600"/>
              </a:spcBef>
              <a:spcAft>
                <a:spcPts val="0"/>
              </a:spcAft>
              <a:buClr>
                <a:srgbClr val="06070D"/>
              </a:buClr>
              <a:buSzPts val="1620"/>
              <a:buChar char="•"/>
              <a:defRPr sz="1600">
                <a:solidFill>
                  <a:schemeClr val="dk1"/>
                </a:solidFill>
              </a:defRPr>
            </a:lvl2pPr>
            <a:lvl3pPr marL="1371600" lvl="2" indent="-320040" algn="l">
              <a:lnSpc>
                <a:spcPct val="100000"/>
              </a:lnSpc>
              <a:spcBef>
                <a:spcPts val="600"/>
              </a:spcBef>
              <a:spcAft>
                <a:spcPts val="0"/>
              </a:spcAft>
              <a:buClr>
                <a:srgbClr val="06070D"/>
              </a:buClr>
              <a:buSzPts val="1440"/>
              <a:buChar char="–"/>
              <a:defRPr sz="1400">
                <a:solidFill>
                  <a:schemeClr val="dk1"/>
                </a:solidFill>
              </a:defRPr>
            </a:lvl3pPr>
            <a:lvl4pPr marL="1828800" lvl="3" indent="-308610" algn="l">
              <a:lnSpc>
                <a:spcPct val="100000"/>
              </a:lnSpc>
              <a:spcBef>
                <a:spcPts val="600"/>
              </a:spcBef>
              <a:spcAft>
                <a:spcPts val="0"/>
              </a:spcAft>
              <a:buClr>
                <a:srgbClr val="06070D"/>
              </a:buClr>
              <a:buSzPts val="1260"/>
              <a:buChar char="•"/>
              <a:defRPr sz="1200">
                <a:solidFill>
                  <a:schemeClr val="dk1"/>
                </a:solidFill>
              </a:defRPr>
            </a:lvl4pPr>
            <a:lvl5pPr marL="2286000" lvl="4" indent="-308610" algn="l">
              <a:lnSpc>
                <a:spcPct val="100000"/>
              </a:lnSpc>
              <a:spcBef>
                <a:spcPts val="600"/>
              </a:spcBef>
              <a:spcAft>
                <a:spcPts val="0"/>
              </a:spcAft>
              <a:buClr>
                <a:srgbClr val="06070D"/>
              </a:buClr>
              <a:buSzPts val="1260"/>
              <a:buChar char="–"/>
              <a:defRPr>
                <a:solidFill>
                  <a:schemeClr val="dk1"/>
                </a:solidFill>
              </a:defRPr>
            </a:lvl5pPr>
            <a:lvl6pPr marL="2743200" lvl="5" indent="-308610" algn="l">
              <a:lnSpc>
                <a:spcPct val="100000"/>
              </a:lnSpc>
              <a:spcBef>
                <a:spcPts val="1200"/>
              </a:spcBef>
              <a:spcAft>
                <a:spcPts val="0"/>
              </a:spcAft>
              <a:buClr>
                <a:srgbClr val="06070D"/>
              </a:buClr>
              <a:buSzPts val="1260"/>
              <a:buChar char="•"/>
              <a:defRPr>
                <a:solidFill>
                  <a:srgbClr val="06070D"/>
                </a:solidFill>
              </a:defRPr>
            </a:lvl6pPr>
            <a:lvl7pPr marL="3200400" lvl="6" indent="-308610" algn="l">
              <a:lnSpc>
                <a:spcPct val="100000"/>
              </a:lnSpc>
              <a:spcBef>
                <a:spcPts val="1200"/>
              </a:spcBef>
              <a:spcAft>
                <a:spcPts val="0"/>
              </a:spcAft>
              <a:buSzPts val="1260"/>
              <a:buChar char="-"/>
              <a:defRPr/>
            </a:lvl7pPr>
            <a:lvl8pPr marL="3657600" lvl="7" indent="-308610" algn="l">
              <a:lnSpc>
                <a:spcPct val="100000"/>
              </a:lnSpc>
              <a:spcBef>
                <a:spcPts val="1200"/>
              </a:spcBef>
              <a:spcAft>
                <a:spcPts val="0"/>
              </a:spcAft>
              <a:buSzPts val="1260"/>
              <a:buChar char="•"/>
              <a:defRPr/>
            </a:lvl8pPr>
            <a:lvl9pPr marL="4114800" lvl="8" indent="-308610" algn="l">
              <a:lnSpc>
                <a:spcPct val="100000"/>
              </a:lnSpc>
              <a:spcBef>
                <a:spcPts val="1200"/>
              </a:spcBef>
              <a:spcAft>
                <a:spcPts val="1200"/>
              </a:spcAft>
              <a:buSzPts val="1260"/>
              <a:buChar char="-"/>
              <a:defRPr/>
            </a:lvl9pPr>
          </a:lstStyle>
          <a:p>
            <a:endParaRPr/>
          </a:p>
        </p:txBody>
      </p:sp>
      <p:sp>
        <p:nvSpPr>
          <p:cNvPr id="1108" name="Google Shape;1108;p612"/>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b="0" i="0" u="none" strike="noStrike" cap="none">
                <a:solidFill>
                  <a:schemeClr val="lt2"/>
                </a:solidFill>
                <a:latin typeface="Arial"/>
                <a:ea typeface="Arial"/>
                <a:cs typeface="Arial"/>
                <a:sym typeface="Arial"/>
              </a:rPr>
              <a:t>‹#›</a:t>
            </a:fld>
            <a:endParaRPr sz="800" b="0" i="0" u="none" strike="noStrike" cap="none" dirty="0">
              <a:solidFill>
                <a:schemeClr val="lt2"/>
              </a:solidFill>
              <a:latin typeface="Arial"/>
              <a:ea typeface="Arial"/>
              <a:cs typeface="Arial"/>
              <a:sym typeface="Arial"/>
            </a:endParaRPr>
          </a:p>
        </p:txBody>
      </p:sp>
      <p:sp>
        <p:nvSpPr>
          <p:cNvPr id="1109" name="Google Shape;1109;p612"/>
          <p:cNvSpPr txBox="1"/>
          <p:nvPr/>
        </p:nvSpPr>
        <p:spPr>
          <a:xfrm>
            <a:off x="11490941" y="6464808"/>
            <a:ext cx="437990" cy="182880"/>
          </a:xfrm>
          <a:prstGeom prst="rect">
            <a:avLst/>
          </a:prstGeom>
          <a:noFill/>
          <a:ln>
            <a:noFill/>
          </a:ln>
        </p:spPr>
        <p:txBody>
          <a:bodyPr spcFirstLastPara="1" wrap="square" lIns="0" tIns="0" rIns="0" bIns="0" anchor="ctr" anchorCtr="0">
            <a:noAutofit/>
          </a:bodyPr>
          <a:lstStyle/>
          <a:p>
            <a:pPr marL="0" marR="0" lvl="0" indent="0" algn="r" rtl="0">
              <a:lnSpc>
                <a:spcPct val="90000"/>
              </a:lnSpc>
              <a:spcBef>
                <a:spcPts val="0"/>
              </a:spcBef>
              <a:spcAft>
                <a:spcPts val="0"/>
              </a:spcAft>
              <a:buNone/>
            </a:pPr>
            <a:fld id="{00000000-1234-1234-1234-123412341234}" type="slidenum">
              <a:rPr lang="en-US" sz="800" b="0" i="0" u="none" strike="noStrike" cap="none">
                <a:solidFill>
                  <a:schemeClr val="lt2"/>
                </a:solidFill>
                <a:latin typeface="Arial"/>
                <a:ea typeface="Arial"/>
                <a:cs typeface="Arial"/>
                <a:sym typeface="Arial"/>
              </a:rPr>
              <a:t>‹#›</a:t>
            </a:fld>
            <a:endParaRPr sz="800" b="0" i="0" u="none" strike="noStrike" cap="none" dirty="0">
              <a:solidFill>
                <a:schemeClr val="lt2"/>
              </a:solidFill>
              <a:latin typeface="Arial"/>
              <a:ea typeface="Arial"/>
              <a:cs typeface="Arial"/>
              <a:sym typeface="Arial"/>
            </a:endParaRPr>
          </a:p>
        </p:txBody>
      </p:sp>
    </p:spTree>
    <p:extLst>
      <p:ext uri="{BB962C8B-B14F-4D97-AF65-F5344CB8AC3E}">
        <p14:creationId xmlns:p14="http://schemas.microsoft.com/office/powerpoint/2010/main" val="611564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ltGray">
      <p:bgPr>
        <a:solidFill>
          <a:schemeClr val="bg1"/>
        </a:solidFill>
        <a:effectLst/>
      </p:bgPr>
    </p:bg>
    <p:spTree>
      <p:nvGrpSpPr>
        <p:cNvPr id="1" name=""/>
        <p:cNvGrpSpPr/>
        <p:nvPr/>
      </p:nvGrpSpPr>
      <p:grpSpPr>
        <a:xfrm>
          <a:off x="0" y="0"/>
          <a:ext cx="0" cy="0"/>
          <a:chOff x="0" y="0"/>
          <a:chExt cx="0" cy="0"/>
        </a:xfrm>
      </p:grpSpPr>
      <p:sp>
        <p:nvSpPr>
          <p:cNvPr id="2" name="Click to edit title"/>
          <p:cNvSpPr>
            <a:spLocks noGrp="1"/>
          </p:cNvSpPr>
          <p:nvPr>
            <p:ph type="title"/>
          </p:nvPr>
        </p:nvSpPr>
        <p:spPr>
          <a:xfrm>
            <a:off x="579809" y="412751"/>
            <a:ext cx="11001004" cy="381000"/>
          </a:xfrm>
          <a:prstGeom prst="rect">
            <a:avLst/>
          </a:prstGeom>
        </p:spPr>
        <p:txBody>
          <a:bodyPr vert="horz" wrap="none" lIns="0" tIns="0" rIns="0" bIns="0" rtlCol="0" anchor="b">
            <a:noAutofit/>
          </a:bodyPr>
          <a:lstStyle/>
          <a:p>
            <a:r>
              <a:rPr lang="en-US" dirty="0"/>
              <a:t>Click to edit Master default content style</a:t>
            </a:r>
          </a:p>
        </p:txBody>
      </p:sp>
      <p:sp>
        <p:nvSpPr>
          <p:cNvPr id="3" name="Click to edit content box"/>
          <p:cNvSpPr>
            <a:spLocks noGrp="1"/>
          </p:cNvSpPr>
          <p:nvPr>
            <p:ph type="body" idx="1"/>
          </p:nvPr>
        </p:nvSpPr>
        <p:spPr>
          <a:xfrm>
            <a:off x="609441" y="1600203"/>
            <a:ext cx="10969943" cy="4580461"/>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8" name="Graphic 8">
            <a:extLst>
              <a:ext uri="{FF2B5EF4-FFF2-40B4-BE49-F238E27FC236}">
                <a16:creationId xmlns:a16="http://schemas.microsoft.com/office/drawing/2014/main" id="{D82EF380-0C1A-9923-E1BB-4A4A82A50052}"/>
              </a:ext>
            </a:extLst>
          </p:cNvPr>
          <p:cNvGrpSpPr/>
          <p:nvPr/>
        </p:nvGrpSpPr>
        <p:grpSpPr>
          <a:xfrm>
            <a:off x="265625" y="6323271"/>
            <a:ext cx="1249223" cy="369648"/>
            <a:chOff x="265625" y="6323271"/>
            <a:chExt cx="1249223" cy="369648"/>
          </a:xfrm>
          <a:solidFill>
            <a:srgbClr val="000000"/>
          </a:solidFill>
        </p:grpSpPr>
        <p:grpSp>
          <p:nvGrpSpPr>
            <p:cNvPr id="49" name="Graphic 8">
              <a:extLst>
                <a:ext uri="{FF2B5EF4-FFF2-40B4-BE49-F238E27FC236}">
                  <a16:creationId xmlns:a16="http://schemas.microsoft.com/office/drawing/2014/main" id="{54FAF84D-171B-0C10-ED68-71DF0155B5A3}"/>
                </a:ext>
              </a:extLst>
            </p:cNvPr>
            <p:cNvGrpSpPr/>
            <p:nvPr/>
          </p:nvGrpSpPr>
          <p:grpSpPr>
            <a:xfrm>
              <a:off x="745455" y="6594444"/>
              <a:ext cx="722662" cy="98475"/>
              <a:chOff x="745455" y="6594444"/>
              <a:chExt cx="722662" cy="98475"/>
            </a:xfrm>
            <a:solidFill>
              <a:srgbClr val="000000"/>
            </a:solidFill>
          </p:grpSpPr>
          <p:sp>
            <p:nvSpPr>
              <p:cNvPr id="50" name="Freeform 49">
                <a:extLst>
                  <a:ext uri="{FF2B5EF4-FFF2-40B4-BE49-F238E27FC236}">
                    <a16:creationId xmlns:a16="http://schemas.microsoft.com/office/drawing/2014/main" id="{3FA24438-4158-EA0B-DE4E-8015E1E32AD3}"/>
                  </a:ext>
                </a:extLst>
              </p:cNvPr>
              <p:cNvSpPr/>
              <p:nvPr/>
            </p:nvSpPr>
            <p:spPr>
              <a:xfrm>
                <a:off x="745455" y="6594444"/>
                <a:ext cx="55936" cy="81777"/>
              </a:xfrm>
              <a:custGeom>
                <a:avLst/>
                <a:gdLst>
                  <a:gd name="connsiteX0" fmla="*/ 5397 w 55936"/>
                  <a:gd name="connsiteY0" fmla="*/ 68381 h 81777"/>
                  <a:gd name="connsiteX1" fmla="*/ 5397 w 55936"/>
                  <a:gd name="connsiteY1" fmla="*/ 80508 h 81777"/>
                  <a:gd name="connsiteX2" fmla="*/ 0 w 55936"/>
                  <a:gd name="connsiteY2" fmla="*/ 80508 h 81777"/>
                  <a:gd name="connsiteX3" fmla="*/ 0 w 55936"/>
                  <a:gd name="connsiteY3" fmla="*/ 0 h 81777"/>
                  <a:gd name="connsiteX4" fmla="*/ 5397 w 55936"/>
                  <a:gd name="connsiteY4" fmla="*/ 0 h 81777"/>
                  <a:gd name="connsiteX5" fmla="*/ 5397 w 55936"/>
                  <a:gd name="connsiteY5" fmla="*/ 36826 h 81777"/>
                  <a:gd name="connsiteX6" fmla="*/ 28571 w 55936"/>
                  <a:gd name="connsiteY6" fmla="*/ 22920 h 81777"/>
                  <a:gd name="connsiteX7" fmla="*/ 55936 w 55936"/>
                  <a:gd name="connsiteY7" fmla="*/ 52126 h 81777"/>
                  <a:gd name="connsiteX8" fmla="*/ 55936 w 55936"/>
                  <a:gd name="connsiteY8" fmla="*/ 52317 h 81777"/>
                  <a:gd name="connsiteX9" fmla="*/ 28571 w 55936"/>
                  <a:gd name="connsiteY9" fmla="*/ 81777 h 81777"/>
                  <a:gd name="connsiteX10" fmla="*/ 5397 w 55936"/>
                  <a:gd name="connsiteY10" fmla="*/ 68381 h 81777"/>
                  <a:gd name="connsiteX11" fmla="*/ 50095 w 55936"/>
                  <a:gd name="connsiteY11" fmla="*/ 52571 h 81777"/>
                  <a:gd name="connsiteX12" fmla="*/ 50095 w 55936"/>
                  <a:gd name="connsiteY12" fmla="*/ 52381 h 81777"/>
                  <a:gd name="connsiteX13" fmla="*/ 28063 w 55936"/>
                  <a:gd name="connsiteY13" fmla="*/ 28127 h 81777"/>
                  <a:gd name="connsiteX14" fmla="*/ 5143 w 55936"/>
                  <a:gd name="connsiteY14" fmla="*/ 52254 h 81777"/>
                  <a:gd name="connsiteX15" fmla="*/ 5143 w 55936"/>
                  <a:gd name="connsiteY15" fmla="*/ 52444 h 81777"/>
                  <a:gd name="connsiteX16" fmla="*/ 28063 w 55936"/>
                  <a:gd name="connsiteY16" fmla="*/ 76571 h 81777"/>
                  <a:gd name="connsiteX17" fmla="*/ 50095 w 55936"/>
                  <a:gd name="connsiteY17" fmla="*/ 52571 h 8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936" h="81777">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w="6345" cap="flat">
                <a:noFill/>
                <a:prstDash val="solid"/>
                <a:miter/>
              </a:ln>
            </p:spPr>
            <p:txBody>
              <a:bodyPr rtlCol="0" anchor="ctr"/>
              <a:lstStyle/>
              <a:p>
                <a:endParaRPr lang="en-US" dirty="0"/>
              </a:p>
            </p:txBody>
          </p:sp>
          <p:sp>
            <p:nvSpPr>
              <p:cNvPr id="51" name="Freeform 50">
                <a:extLst>
                  <a:ext uri="{FF2B5EF4-FFF2-40B4-BE49-F238E27FC236}">
                    <a16:creationId xmlns:a16="http://schemas.microsoft.com/office/drawing/2014/main" id="{26BB840E-D68F-76E7-7DA9-BF6B79D252BE}"/>
                  </a:ext>
                </a:extLst>
              </p:cNvPr>
              <p:cNvSpPr/>
              <p:nvPr/>
            </p:nvSpPr>
            <p:spPr>
              <a:xfrm>
                <a:off x="809582" y="6618699"/>
                <a:ext cx="55872" cy="74221"/>
              </a:xfrm>
              <a:custGeom>
                <a:avLst/>
                <a:gdLst>
                  <a:gd name="connsiteX0" fmla="*/ 49904 w 55872"/>
                  <a:gd name="connsiteY0" fmla="*/ 0 h 74221"/>
                  <a:gd name="connsiteX1" fmla="*/ 55873 w 55872"/>
                  <a:gd name="connsiteY1" fmla="*/ 0 h 74221"/>
                  <a:gd name="connsiteX2" fmla="*/ 31492 w 55872"/>
                  <a:gd name="connsiteY2" fmla="*/ 58221 h 74221"/>
                  <a:gd name="connsiteX3" fmla="*/ 12762 w 55872"/>
                  <a:gd name="connsiteY3" fmla="*/ 74221 h 74221"/>
                  <a:gd name="connsiteX4" fmla="*/ 1651 w 55872"/>
                  <a:gd name="connsiteY4" fmla="*/ 71809 h 74221"/>
                  <a:gd name="connsiteX5" fmla="*/ 3492 w 55872"/>
                  <a:gd name="connsiteY5" fmla="*/ 67047 h 74221"/>
                  <a:gd name="connsiteX6" fmla="*/ 13079 w 55872"/>
                  <a:gd name="connsiteY6" fmla="*/ 69142 h 74221"/>
                  <a:gd name="connsiteX7" fmla="*/ 26984 w 55872"/>
                  <a:gd name="connsiteY7" fmla="*/ 55936 h 74221"/>
                  <a:gd name="connsiteX8" fmla="*/ 0 w 55872"/>
                  <a:gd name="connsiteY8" fmla="*/ 0 h 74221"/>
                  <a:gd name="connsiteX9" fmla="*/ 6286 w 55872"/>
                  <a:gd name="connsiteY9" fmla="*/ 0 h 74221"/>
                  <a:gd name="connsiteX10" fmla="*/ 29651 w 55872"/>
                  <a:gd name="connsiteY10" fmla="*/ 50285 h 74221"/>
                  <a:gd name="connsiteX11" fmla="*/ 49904 w 55872"/>
                  <a:gd name="connsiteY11" fmla="*/ 0 h 7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72" h="74221">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w="6345" cap="flat">
                <a:noFill/>
                <a:prstDash val="solid"/>
                <a:miter/>
              </a:ln>
            </p:spPr>
            <p:txBody>
              <a:bodyPr rtlCol="0" anchor="ctr"/>
              <a:lstStyle/>
              <a:p>
                <a:endParaRPr lang="en-US" dirty="0"/>
              </a:p>
            </p:txBody>
          </p:sp>
          <p:sp>
            <p:nvSpPr>
              <p:cNvPr id="52" name="Freeform 51">
                <a:extLst>
                  <a:ext uri="{FF2B5EF4-FFF2-40B4-BE49-F238E27FC236}">
                    <a16:creationId xmlns:a16="http://schemas.microsoft.com/office/drawing/2014/main" id="{59510B1D-6A5F-3EF5-3680-B51E20570E6A}"/>
                  </a:ext>
                </a:extLst>
              </p:cNvPr>
              <p:cNvSpPr/>
              <p:nvPr/>
            </p:nvSpPr>
            <p:spPr>
              <a:xfrm>
                <a:off x="913010" y="6597746"/>
                <a:ext cx="64317" cy="77079"/>
              </a:xfrm>
              <a:custGeom>
                <a:avLst/>
                <a:gdLst>
                  <a:gd name="connsiteX0" fmla="*/ 63 w 64317"/>
                  <a:gd name="connsiteY0" fmla="*/ 0 h 77079"/>
                  <a:gd name="connsiteX1" fmla="*/ 34666 w 64317"/>
                  <a:gd name="connsiteY1" fmla="*/ 0 h 77079"/>
                  <a:gd name="connsiteX2" fmla="*/ 54857 w 64317"/>
                  <a:gd name="connsiteY2" fmla="*/ 6857 h 77079"/>
                  <a:gd name="connsiteX3" fmla="*/ 60063 w 64317"/>
                  <a:gd name="connsiteY3" fmla="*/ 19619 h 77079"/>
                  <a:gd name="connsiteX4" fmla="*/ 60063 w 64317"/>
                  <a:gd name="connsiteY4" fmla="*/ 19809 h 77079"/>
                  <a:gd name="connsiteX5" fmla="*/ 49016 w 64317"/>
                  <a:gd name="connsiteY5" fmla="*/ 37015 h 77079"/>
                  <a:gd name="connsiteX6" fmla="*/ 64317 w 64317"/>
                  <a:gd name="connsiteY6" fmla="*/ 55746 h 77079"/>
                  <a:gd name="connsiteX7" fmla="*/ 64317 w 64317"/>
                  <a:gd name="connsiteY7" fmla="*/ 55936 h 77079"/>
                  <a:gd name="connsiteX8" fmla="*/ 35746 w 64317"/>
                  <a:gd name="connsiteY8" fmla="*/ 77079 h 77079"/>
                  <a:gd name="connsiteX9" fmla="*/ 0 w 64317"/>
                  <a:gd name="connsiteY9" fmla="*/ 77079 h 77079"/>
                  <a:gd name="connsiteX10" fmla="*/ 0 w 64317"/>
                  <a:gd name="connsiteY10" fmla="*/ 0 h 77079"/>
                  <a:gd name="connsiteX11" fmla="*/ 46476 w 64317"/>
                  <a:gd name="connsiteY11" fmla="*/ 21841 h 77079"/>
                  <a:gd name="connsiteX12" fmla="*/ 32889 w 64317"/>
                  <a:gd name="connsiteY12" fmla="*/ 12000 h 77079"/>
                  <a:gd name="connsiteX13" fmla="*/ 13397 w 64317"/>
                  <a:gd name="connsiteY13" fmla="*/ 12000 h 77079"/>
                  <a:gd name="connsiteX14" fmla="*/ 13397 w 64317"/>
                  <a:gd name="connsiteY14" fmla="*/ 32508 h 77079"/>
                  <a:gd name="connsiteX15" fmla="*/ 31936 w 64317"/>
                  <a:gd name="connsiteY15" fmla="*/ 32508 h 77079"/>
                  <a:gd name="connsiteX16" fmla="*/ 46476 w 64317"/>
                  <a:gd name="connsiteY16" fmla="*/ 22031 h 77079"/>
                  <a:gd name="connsiteX17" fmla="*/ 46476 w 64317"/>
                  <a:gd name="connsiteY17" fmla="*/ 21841 h 77079"/>
                  <a:gd name="connsiteX18" fmla="*/ 34920 w 64317"/>
                  <a:gd name="connsiteY18" fmla="*/ 43999 h 77079"/>
                  <a:gd name="connsiteX19" fmla="*/ 13397 w 64317"/>
                  <a:gd name="connsiteY19" fmla="*/ 43999 h 77079"/>
                  <a:gd name="connsiteX20" fmla="*/ 13397 w 64317"/>
                  <a:gd name="connsiteY20" fmla="*/ 65143 h 77079"/>
                  <a:gd name="connsiteX21" fmla="*/ 35873 w 64317"/>
                  <a:gd name="connsiteY21" fmla="*/ 65143 h 77079"/>
                  <a:gd name="connsiteX22" fmla="*/ 50730 w 64317"/>
                  <a:gd name="connsiteY22" fmla="*/ 54539 h 77079"/>
                  <a:gd name="connsiteX23" fmla="*/ 50730 w 64317"/>
                  <a:gd name="connsiteY23" fmla="*/ 54349 h 77079"/>
                  <a:gd name="connsiteX24" fmla="*/ 34920 w 64317"/>
                  <a:gd name="connsiteY24" fmla="*/ 43999 h 7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317" h="77079">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w="6345" cap="flat">
                <a:noFill/>
                <a:prstDash val="solid"/>
                <a:miter/>
              </a:ln>
            </p:spPr>
            <p:txBody>
              <a:bodyPr rtlCol="0" anchor="ctr"/>
              <a:lstStyle/>
              <a:p>
                <a:endParaRPr lang="en-US" dirty="0"/>
              </a:p>
            </p:txBody>
          </p:sp>
          <p:sp>
            <p:nvSpPr>
              <p:cNvPr id="53" name="Freeform 52">
                <a:extLst>
                  <a:ext uri="{FF2B5EF4-FFF2-40B4-BE49-F238E27FC236}">
                    <a16:creationId xmlns:a16="http://schemas.microsoft.com/office/drawing/2014/main" id="{E2502CCC-DB03-C01E-2299-92CA9168461F}"/>
                  </a:ext>
                </a:extLst>
              </p:cNvPr>
              <p:cNvSpPr/>
              <p:nvPr/>
            </p:nvSpPr>
            <p:spPr>
              <a:xfrm>
                <a:off x="991041" y="6615627"/>
                <a:ext cx="34095" cy="59325"/>
              </a:xfrm>
              <a:custGeom>
                <a:avLst/>
                <a:gdLst>
                  <a:gd name="connsiteX0" fmla="*/ 0 w 34095"/>
                  <a:gd name="connsiteY0" fmla="*/ 1103 h 59325"/>
                  <a:gd name="connsiteX1" fmla="*/ 13460 w 34095"/>
                  <a:gd name="connsiteY1" fmla="*/ 1103 h 59325"/>
                  <a:gd name="connsiteX2" fmla="*/ 13460 w 34095"/>
                  <a:gd name="connsiteY2" fmla="*/ 14245 h 59325"/>
                  <a:gd name="connsiteX3" fmla="*/ 34095 w 34095"/>
                  <a:gd name="connsiteY3" fmla="*/ 23 h 59325"/>
                  <a:gd name="connsiteX4" fmla="*/ 34095 w 34095"/>
                  <a:gd name="connsiteY4" fmla="*/ 14119 h 59325"/>
                  <a:gd name="connsiteX5" fmla="*/ 33333 w 34095"/>
                  <a:gd name="connsiteY5" fmla="*/ 14119 h 59325"/>
                  <a:gd name="connsiteX6" fmla="*/ 13460 w 34095"/>
                  <a:gd name="connsiteY6" fmla="*/ 37167 h 59325"/>
                  <a:gd name="connsiteX7" fmla="*/ 13460 w 34095"/>
                  <a:gd name="connsiteY7" fmla="*/ 59325 h 59325"/>
                  <a:gd name="connsiteX8" fmla="*/ 0 w 34095"/>
                  <a:gd name="connsiteY8" fmla="*/ 59325 h 59325"/>
                  <a:gd name="connsiteX9" fmla="*/ 0 w 34095"/>
                  <a:gd name="connsiteY9" fmla="*/ 1103 h 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5" h="59325">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w="6345" cap="flat">
                <a:noFill/>
                <a:prstDash val="solid"/>
                <a:miter/>
              </a:ln>
            </p:spPr>
            <p:txBody>
              <a:bodyPr rtlCol="0" anchor="ctr"/>
              <a:lstStyle/>
              <a:p>
                <a:endParaRPr lang="en-US" dirty="0"/>
              </a:p>
            </p:txBody>
          </p:sp>
          <p:sp>
            <p:nvSpPr>
              <p:cNvPr id="54" name="Freeform 53">
                <a:extLst>
                  <a:ext uri="{FF2B5EF4-FFF2-40B4-BE49-F238E27FC236}">
                    <a16:creationId xmlns:a16="http://schemas.microsoft.com/office/drawing/2014/main" id="{76A128EB-98F4-7BC5-3A7C-1938363F3CAF}"/>
                  </a:ext>
                </a:extLst>
              </p:cNvPr>
              <p:cNvSpPr/>
              <p:nvPr/>
            </p:nvSpPr>
            <p:spPr>
              <a:xfrm>
                <a:off x="1031485"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0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5" name="Freeform 54">
                <a:extLst>
                  <a:ext uri="{FF2B5EF4-FFF2-40B4-BE49-F238E27FC236}">
                    <a16:creationId xmlns:a16="http://schemas.microsoft.com/office/drawing/2014/main" id="{2677180F-AD7B-87CD-0633-18DC1BE313BF}"/>
                  </a:ext>
                </a:extLst>
              </p:cNvPr>
              <p:cNvSpPr/>
              <p:nvPr/>
            </p:nvSpPr>
            <p:spPr>
              <a:xfrm>
                <a:off x="1103168" y="6615904"/>
                <a:ext cx="52698" cy="60190"/>
              </a:xfrm>
              <a:custGeom>
                <a:avLst/>
                <a:gdLst>
                  <a:gd name="connsiteX0" fmla="*/ 0 w 52698"/>
                  <a:gd name="connsiteY0" fmla="*/ 42286 h 60190"/>
                  <a:gd name="connsiteX1" fmla="*/ 0 w 52698"/>
                  <a:gd name="connsiteY1" fmla="*/ 42095 h 60190"/>
                  <a:gd name="connsiteX2" fmla="*/ 24127 w 52698"/>
                  <a:gd name="connsiteY2" fmla="*/ 23365 h 60190"/>
                  <a:gd name="connsiteX3" fmla="*/ 39809 w 52698"/>
                  <a:gd name="connsiteY3" fmla="*/ 25778 h 60190"/>
                  <a:gd name="connsiteX4" fmla="*/ 39809 w 52698"/>
                  <a:gd name="connsiteY4" fmla="*/ 24317 h 60190"/>
                  <a:gd name="connsiteX5" fmla="*/ 25333 w 52698"/>
                  <a:gd name="connsiteY5" fmla="*/ 11619 h 60190"/>
                  <a:gd name="connsiteX6" fmla="*/ 8698 w 52698"/>
                  <a:gd name="connsiteY6" fmla="*/ 15238 h 60190"/>
                  <a:gd name="connsiteX7" fmla="*/ 5079 w 52698"/>
                  <a:gd name="connsiteY7" fmla="*/ 4762 h 60190"/>
                  <a:gd name="connsiteX8" fmla="*/ 27111 w 52698"/>
                  <a:gd name="connsiteY8" fmla="*/ 0 h 60190"/>
                  <a:gd name="connsiteX9" fmla="*/ 46412 w 52698"/>
                  <a:gd name="connsiteY9" fmla="*/ 6476 h 60190"/>
                  <a:gd name="connsiteX10" fmla="*/ 52698 w 52698"/>
                  <a:gd name="connsiteY10" fmla="*/ 24444 h 60190"/>
                  <a:gd name="connsiteX11" fmla="*/ 52698 w 52698"/>
                  <a:gd name="connsiteY11" fmla="*/ 58984 h 60190"/>
                  <a:gd name="connsiteX12" fmla="*/ 39682 w 52698"/>
                  <a:gd name="connsiteY12" fmla="*/ 58984 h 60190"/>
                  <a:gd name="connsiteX13" fmla="*/ 39682 w 52698"/>
                  <a:gd name="connsiteY13" fmla="*/ 51682 h 60190"/>
                  <a:gd name="connsiteX14" fmla="*/ 20698 w 52698"/>
                  <a:gd name="connsiteY14" fmla="*/ 60190 h 60190"/>
                  <a:gd name="connsiteX15" fmla="*/ 0 w 52698"/>
                  <a:gd name="connsiteY15" fmla="*/ 42286 h 60190"/>
                  <a:gd name="connsiteX16" fmla="*/ 40000 w 52698"/>
                  <a:gd name="connsiteY16" fmla="*/ 38095 h 60190"/>
                  <a:gd name="connsiteX17" fmla="*/ 40000 w 52698"/>
                  <a:gd name="connsiteY17" fmla="*/ 34095 h 60190"/>
                  <a:gd name="connsiteX18" fmla="*/ 26794 w 52698"/>
                  <a:gd name="connsiteY18" fmla="*/ 31809 h 60190"/>
                  <a:gd name="connsiteX19" fmla="*/ 13143 w 52698"/>
                  <a:gd name="connsiteY19" fmla="*/ 41524 h 60190"/>
                  <a:gd name="connsiteX20" fmla="*/ 13143 w 52698"/>
                  <a:gd name="connsiteY20" fmla="*/ 41714 h 60190"/>
                  <a:gd name="connsiteX21" fmla="*/ 24508 w 52698"/>
                  <a:gd name="connsiteY21" fmla="*/ 50539 h 60190"/>
                  <a:gd name="connsiteX22" fmla="*/ 40000 w 52698"/>
                  <a:gd name="connsiteY22" fmla="*/ 38095 h 60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698" h="6019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w="6345" cap="flat">
                <a:noFill/>
                <a:prstDash val="solid"/>
                <a:miter/>
              </a:ln>
            </p:spPr>
            <p:txBody>
              <a:bodyPr rtlCol="0" anchor="ctr"/>
              <a:lstStyle/>
              <a:p>
                <a:endParaRPr lang="en-US" dirty="0"/>
              </a:p>
            </p:txBody>
          </p:sp>
          <p:sp>
            <p:nvSpPr>
              <p:cNvPr id="56" name="Freeform 55">
                <a:extLst>
                  <a:ext uri="{FF2B5EF4-FFF2-40B4-BE49-F238E27FC236}">
                    <a16:creationId xmlns:a16="http://schemas.microsoft.com/office/drawing/2014/main" id="{11FB90A8-4445-04B0-1766-E758C4EED92E}"/>
                  </a:ext>
                </a:extLst>
              </p:cNvPr>
              <p:cNvSpPr/>
              <p:nvPr/>
            </p:nvSpPr>
            <p:spPr>
              <a:xfrm>
                <a:off x="1168882" y="6594444"/>
                <a:ext cx="60253" cy="81713"/>
              </a:xfrm>
              <a:custGeom>
                <a:avLst/>
                <a:gdLst>
                  <a:gd name="connsiteX0" fmla="*/ 0 w 60253"/>
                  <a:gd name="connsiteY0" fmla="*/ 51492 h 81713"/>
                  <a:gd name="connsiteX1" fmla="*/ 0 w 60253"/>
                  <a:gd name="connsiteY1" fmla="*/ 51301 h 81713"/>
                  <a:gd name="connsiteX2" fmla="*/ 27047 w 60253"/>
                  <a:gd name="connsiteY2" fmla="*/ 21080 h 81713"/>
                  <a:gd name="connsiteX3" fmla="*/ 46920 w 60253"/>
                  <a:gd name="connsiteY3" fmla="*/ 31302 h 81713"/>
                  <a:gd name="connsiteX4" fmla="*/ 46920 w 60253"/>
                  <a:gd name="connsiteY4" fmla="*/ 0 h 81713"/>
                  <a:gd name="connsiteX5" fmla="*/ 60254 w 60253"/>
                  <a:gd name="connsiteY5" fmla="*/ 0 h 81713"/>
                  <a:gd name="connsiteX6" fmla="*/ 60254 w 60253"/>
                  <a:gd name="connsiteY6" fmla="*/ 80508 h 81713"/>
                  <a:gd name="connsiteX7" fmla="*/ 46920 w 60253"/>
                  <a:gd name="connsiteY7" fmla="*/ 80508 h 81713"/>
                  <a:gd name="connsiteX8" fmla="*/ 46920 w 60253"/>
                  <a:gd name="connsiteY8" fmla="*/ 70793 h 81713"/>
                  <a:gd name="connsiteX9" fmla="*/ 27047 w 60253"/>
                  <a:gd name="connsiteY9" fmla="*/ 81714 h 81713"/>
                  <a:gd name="connsiteX10" fmla="*/ 0 w 60253"/>
                  <a:gd name="connsiteY10" fmla="*/ 51492 h 81713"/>
                  <a:gd name="connsiteX11" fmla="*/ 47111 w 60253"/>
                  <a:gd name="connsiteY11" fmla="*/ 51492 h 81713"/>
                  <a:gd name="connsiteX12" fmla="*/ 47111 w 60253"/>
                  <a:gd name="connsiteY12" fmla="*/ 51301 h 81713"/>
                  <a:gd name="connsiteX13" fmla="*/ 30222 w 60253"/>
                  <a:gd name="connsiteY13" fmla="*/ 32635 h 81713"/>
                  <a:gd name="connsiteX14" fmla="*/ 13460 w 60253"/>
                  <a:gd name="connsiteY14" fmla="*/ 51301 h 81713"/>
                  <a:gd name="connsiteX15" fmla="*/ 13460 w 60253"/>
                  <a:gd name="connsiteY15" fmla="*/ 51492 h 81713"/>
                  <a:gd name="connsiteX16" fmla="*/ 30222 w 60253"/>
                  <a:gd name="connsiteY16" fmla="*/ 70159 h 81713"/>
                  <a:gd name="connsiteX17" fmla="*/ 47111 w 60253"/>
                  <a:gd name="connsiteY17" fmla="*/ 51492 h 8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253" h="81713">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w="6345" cap="flat">
                <a:noFill/>
                <a:prstDash val="solid"/>
                <a:miter/>
              </a:ln>
            </p:spPr>
            <p:txBody>
              <a:bodyPr rtlCol="0" anchor="ctr"/>
              <a:lstStyle/>
              <a:p>
                <a:endParaRPr lang="en-US" dirty="0"/>
              </a:p>
            </p:txBody>
          </p:sp>
          <p:sp>
            <p:nvSpPr>
              <p:cNvPr id="57" name="Freeform 56">
                <a:extLst>
                  <a:ext uri="{FF2B5EF4-FFF2-40B4-BE49-F238E27FC236}">
                    <a16:creationId xmlns:a16="http://schemas.microsoft.com/office/drawing/2014/main" id="{DE758F9E-2750-6183-E9D2-FF433D17AAD5}"/>
                  </a:ext>
                </a:extLst>
              </p:cNvPr>
              <p:cNvSpPr/>
              <p:nvPr/>
            </p:nvSpPr>
            <p:spPr>
              <a:xfrm>
                <a:off x="1242659" y="6615587"/>
                <a:ext cx="53904" cy="60762"/>
              </a:xfrm>
              <a:custGeom>
                <a:avLst/>
                <a:gdLst>
                  <a:gd name="connsiteX0" fmla="*/ 0 w 53904"/>
                  <a:gd name="connsiteY0" fmla="*/ 30603 h 60762"/>
                  <a:gd name="connsiteX1" fmla="*/ 0 w 53904"/>
                  <a:gd name="connsiteY1" fmla="*/ 30413 h 60762"/>
                  <a:gd name="connsiteX2" fmla="*/ 30349 w 53904"/>
                  <a:gd name="connsiteY2" fmla="*/ 0 h 60762"/>
                  <a:gd name="connsiteX3" fmla="*/ 53587 w 53904"/>
                  <a:gd name="connsiteY3" fmla="*/ 10032 h 60762"/>
                  <a:gd name="connsiteX4" fmla="*/ 45206 w 53904"/>
                  <a:gd name="connsiteY4" fmla="*/ 18985 h 60762"/>
                  <a:gd name="connsiteX5" fmla="*/ 30222 w 53904"/>
                  <a:gd name="connsiteY5" fmla="*/ 11683 h 60762"/>
                  <a:gd name="connsiteX6" fmla="*/ 13333 w 53904"/>
                  <a:gd name="connsiteY6" fmla="*/ 30222 h 60762"/>
                  <a:gd name="connsiteX7" fmla="*/ 13333 w 53904"/>
                  <a:gd name="connsiteY7" fmla="*/ 30413 h 60762"/>
                  <a:gd name="connsiteX8" fmla="*/ 30730 w 53904"/>
                  <a:gd name="connsiteY8" fmla="*/ 49080 h 60762"/>
                  <a:gd name="connsiteX9" fmla="*/ 45841 w 53904"/>
                  <a:gd name="connsiteY9" fmla="*/ 41905 h 60762"/>
                  <a:gd name="connsiteX10" fmla="*/ 53905 w 53904"/>
                  <a:gd name="connsiteY10" fmla="*/ 49842 h 60762"/>
                  <a:gd name="connsiteX11" fmla="*/ 30095 w 53904"/>
                  <a:gd name="connsiteY11" fmla="*/ 60762 h 60762"/>
                  <a:gd name="connsiteX12" fmla="*/ 0 w 53904"/>
                  <a:gd name="connsiteY12"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4" h="60762">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w="6345" cap="flat">
                <a:noFill/>
                <a:prstDash val="solid"/>
                <a:miter/>
              </a:ln>
            </p:spPr>
            <p:txBody>
              <a:bodyPr rtlCol="0" anchor="ctr"/>
              <a:lstStyle/>
              <a:p>
                <a:endParaRPr lang="en-US" dirty="0"/>
              </a:p>
            </p:txBody>
          </p:sp>
          <p:sp>
            <p:nvSpPr>
              <p:cNvPr id="58" name="Freeform 57">
                <a:extLst>
                  <a:ext uri="{FF2B5EF4-FFF2-40B4-BE49-F238E27FC236}">
                    <a16:creationId xmlns:a16="http://schemas.microsoft.com/office/drawing/2014/main" id="{24B84BC6-1055-8C5E-535B-75A833A87996}"/>
                  </a:ext>
                </a:extLst>
              </p:cNvPr>
              <p:cNvSpPr/>
              <p:nvPr/>
            </p:nvSpPr>
            <p:spPr>
              <a:xfrm>
                <a:off x="1303928" y="6615587"/>
                <a:ext cx="62094" cy="60762"/>
              </a:xfrm>
              <a:custGeom>
                <a:avLst/>
                <a:gdLst>
                  <a:gd name="connsiteX0" fmla="*/ 0 w 62094"/>
                  <a:gd name="connsiteY0" fmla="*/ 30603 h 60762"/>
                  <a:gd name="connsiteX1" fmla="*/ 0 w 62094"/>
                  <a:gd name="connsiteY1" fmla="*/ 30413 h 60762"/>
                  <a:gd name="connsiteX2" fmla="*/ 31111 w 62094"/>
                  <a:gd name="connsiteY2" fmla="*/ 0 h 60762"/>
                  <a:gd name="connsiteX3" fmla="*/ 62095 w 62094"/>
                  <a:gd name="connsiteY3" fmla="*/ 30222 h 60762"/>
                  <a:gd name="connsiteX4" fmla="*/ 62095 w 62094"/>
                  <a:gd name="connsiteY4" fmla="*/ 30413 h 60762"/>
                  <a:gd name="connsiteX5" fmla="*/ 30857 w 62094"/>
                  <a:gd name="connsiteY5" fmla="*/ 60762 h 60762"/>
                  <a:gd name="connsiteX6" fmla="*/ 0 w 62094"/>
                  <a:gd name="connsiteY6" fmla="*/ 30603 h 60762"/>
                  <a:gd name="connsiteX7" fmla="*/ 48762 w 62094"/>
                  <a:gd name="connsiteY7" fmla="*/ 30603 h 60762"/>
                  <a:gd name="connsiteX8" fmla="*/ 48762 w 62094"/>
                  <a:gd name="connsiteY8" fmla="*/ 30413 h 60762"/>
                  <a:gd name="connsiteX9" fmla="*/ 30921 w 62094"/>
                  <a:gd name="connsiteY9" fmla="*/ 11683 h 60762"/>
                  <a:gd name="connsiteX10" fmla="*/ 13397 w 62094"/>
                  <a:gd name="connsiteY10" fmla="*/ 30222 h 60762"/>
                  <a:gd name="connsiteX11" fmla="*/ 13397 w 62094"/>
                  <a:gd name="connsiteY11" fmla="*/ 30413 h 60762"/>
                  <a:gd name="connsiteX12" fmla="*/ 31174 w 62094"/>
                  <a:gd name="connsiteY12" fmla="*/ 49080 h 60762"/>
                  <a:gd name="connsiteX13" fmla="*/ 48762 w 62094"/>
                  <a:gd name="connsiteY13" fmla="*/ 30603 h 6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94" h="60762">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w="6345" cap="flat">
                <a:noFill/>
                <a:prstDash val="solid"/>
                <a:miter/>
              </a:ln>
            </p:spPr>
            <p:txBody>
              <a:bodyPr rtlCol="0" anchor="ctr"/>
              <a:lstStyle/>
              <a:p>
                <a:endParaRPr lang="en-US" dirty="0"/>
              </a:p>
            </p:txBody>
          </p:sp>
          <p:sp>
            <p:nvSpPr>
              <p:cNvPr id="59" name="Freeform 58">
                <a:extLst>
                  <a:ext uri="{FF2B5EF4-FFF2-40B4-BE49-F238E27FC236}">
                    <a16:creationId xmlns:a16="http://schemas.microsoft.com/office/drawing/2014/main" id="{CFE27250-866A-DEF8-25F4-955344428C45}"/>
                  </a:ext>
                </a:extLst>
              </p:cNvPr>
              <p:cNvSpPr/>
              <p:nvPr/>
            </p:nvSpPr>
            <p:spPr>
              <a:xfrm>
                <a:off x="1379484" y="6615524"/>
                <a:ext cx="88634" cy="59554"/>
              </a:xfrm>
              <a:custGeom>
                <a:avLst/>
                <a:gdLst>
                  <a:gd name="connsiteX0" fmla="*/ 0 w 88634"/>
                  <a:gd name="connsiteY0" fmla="*/ 1206 h 59554"/>
                  <a:gd name="connsiteX1" fmla="*/ 13460 w 88634"/>
                  <a:gd name="connsiteY1" fmla="*/ 1206 h 59554"/>
                  <a:gd name="connsiteX2" fmla="*/ 13460 w 88634"/>
                  <a:gd name="connsiteY2" fmla="*/ 10031 h 59554"/>
                  <a:gd name="connsiteX3" fmla="*/ 31238 w 88634"/>
                  <a:gd name="connsiteY3" fmla="*/ 0 h 59554"/>
                  <a:gd name="connsiteX4" fmla="*/ 48635 w 88634"/>
                  <a:gd name="connsiteY4" fmla="*/ 10222 h 59554"/>
                  <a:gd name="connsiteX5" fmla="*/ 68254 w 88634"/>
                  <a:gd name="connsiteY5" fmla="*/ 0 h 59554"/>
                  <a:gd name="connsiteX6" fmla="*/ 88634 w 88634"/>
                  <a:gd name="connsiteY6" fmla="*/ 22285 h 59554"/>
                  <a:gd name="connsiteX7" fmla="*/ 88634 w 88634"/>
                  <a:gd name="connsiteY7" fmla="*/ 59428 h 59554"/>
                  <a:gd name="connsiteX8" fmla="*/ 75301 w 88634"/>
                  <a:gd name="connsiteY8" fmla="*/ 59428 h 59554"/>
                  <a:gd name="connsiteX9" fmla="*/ 75301 w 88634"/>
                  <a:gd name="connsiteY9" fmla="*/ 26348 h 59554"/>
                  <a:gd name="connsiteX10" fmla="*/ 63492 w 88634"/>
                  <a:gd name="connsiteY10" fmla="*/ 12126 h 59554"/>
                  <a:gd name="connsiteX11" fmla="*/ 51047 w 88634"/>
                  <a:gd name="connsiteY11" fmla="*/ 26603 h 59554"/>
                  <a:gd name="connsiteX12" fmla="*/ 51047 w 88634"/>
                  <a:gd name="connsiteY12" fmla="*/ 59492 h 59554"/>
                  <a:gd name="connsiteX13" fmla="*/ 37714 w 88634"/>
                  <a:gd name="connsiteY13" fmla="*/ 59492 h 59554"/>
                  <a:gd name="connsiteX14" fmla="*/ 37714 w 88634"/>
                  <a:gd name="connsiteY14" fmla="*/ 26285 h 59554"/>
                  <a:gd name="connsiteX15" fmla="*/ 25905 w 88634"/>
                  <a:gd name="connsiteY15" fmla="*/ 12190 h 59554"/>
                  <a:gd name="connsiteX16" fmla="*/ 13460 w 88634"/>
                  <a:gd name="connsiteY16" fmla="*/ 26666 h 59554"/>
                  <a:gd name="connsiteX17" fmla="*/ 13460 w 88634"/>
                  <a:gd name="connsiteY17" fmla="*/ 59555 h 59554"/>
                  <a:gd name="connsiteX18" fmla="*/ 0 w 88634"/>
                  <a:gd name="connsiteY18" fmla="*/ 59555 h 59554"/>
                  <a:gd name="connsiteX19" fmla="*/ 0 w 88634"/>
                  <a:gd name="connsiteY19" fmla="*/ 1206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634" h="59554">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w="6345" cap="flat">
                <a:noFill/>
                <a:prstDash val="solid"/>
                <a:miter/>
              </a:ln>
            </p:spPr>
            <p:txBody>
              <a:bodyPr rtlCol="0" anchor="ctr"/>
              <a:lstStyle/>
              <a:p>
                <a:endParaRPr lang="en-US" dirty="0"/>
              </a:p>
            </p:txBody>
          </p:sp>
        </p:grpSp>
        <p:grpSp>
          <p:nvGrpSpPr>
            <p:cNvPr id="60" name="Graphic 8">
              <a:extLst>
                <a:ext uri="{FF2B5EF4-FFF2-40B4-BE49-F238E27FC236}">
                  <a16:creationId xmlns:a16="http://schemas.microsoft.com/office/drawing/2014/main" id="{105759BC-89FC-99DA-EED4-D1E8B30B32A4}"/>
                </a:ext>
              </a:extLst>
            </p:cNvPr>
            <p:cNvGrpSpPr/>
            <p:nvPr/>
          </p:nvGrpSpPr>
          <p:grpSpPr>
            <a:xfrm>
              <a:off x="265625" y="6323271"/>
              <a:ext cx="1249223" cy="190348"/>
              <a:chOff x="265625" y="6323271"/>
              <a:chExt cx="1249223" cy="190348"/>
            </a:xfrm>
            <a:solidFill>
              <a:srgbClr val="000000"/>
            </a:solidFill>
          </p:grpSpPr>
          <p:sp>
            <p:nvSpPr>
              <p:cNvPr id="61" name="Freeform 60">
                <a:extLst>
                  <a:ext uri="{FF2B5EF4-FFF2-40B4-BE49-F238E27FC236}">
                    <a16:creationId xmlns:a16="http://schemas.microsoft.com/office/drawing/2014/main" id="{512BB0ED-CA6C-C9CB-ACAD-1C325B732747}"/>
                  </a:ext>
                </a:extLst>
              </p:cNvPr>
              <p:cNvSpPr/>
              <p:nvPr/>
            </p:nvSpPr>
            <p:spPr>
              <a:xfrm>
                <a:off x="745773" y="6327144"/>
                <a:ext cx="264126" cy="184633"/>
              </a:xfrm>
              <a:custGeom>
                <a:avLst/>
                <a:gdLst>
                  <a:gd name="connsiteX0" fmla="*/ 250919 w 264126"/>
                  <a:gd name="connsiteY0" fmla="*/ 0 h 184633"/>
                  <a:gd name="connsiteX1" fmla="*/ 238031 w 264126"/>
                  <a:gd name="connsiteY1" fmla="*/ 10476 h 184633"/>
                  <a:gd name="connsiteX2" fmla="*/ 191999 w 264126"/>
                  <a:gd name="connsiteY2" fmla="*/ 142412 h 184633"/>
                  <a:gd name="connsiteX3" fmla="*/ 146729 w 264126"/>
                  <a:gd name="connsiteY3" fmla="*/ 10857 h 184633"/>
                  <a:gd name="connsiteX4" fmla="*/ 132761 w 264126"/>
                  <a:gd name="connsiteY4" fmla="*/ 64 h 184633"/>
                  <a:gd name="connsiteX5" fmla="*/ 131364 w 264126"/>
                  <a:gd name="connsiteY5" fmla="*/ 64 h 184633"/>
                  <a:gd name="connsiteX6" fmla="*/ 118158 w 264126"/>
                  <a:gd name="connsiteY6" fmla="*/ 10857 h 184633"/>
                  <a:gd name="connsiteX7" fmla="*/ 72508 w 264126"/>
                  <a:gd name="connsiteY7" fmla="*/ 142412 h 184633"/>
                  <a:gd name="connsiteX8" fmla="*/ 27174 w 264126"/>
                  <a:gd name="connsiteY8" fmla="*/ 11175 h 184633"/>
                  <a:gd name="connsiteX9" fmla="*/ 13587 w 264126"/>
                  <a:gd name="connsiteY9" fmla="*/ 0 h 184633"/>
                  <a:gd name="connsiteX10" fmla="*/ 0 w 264126"/>
                  <a:gd name="connsiteY10" fmla="*/ 12889 h 184633"/>
                  <a:gd name="connsiteX11" fmla="*/ 1714 w 264126"/>
                  <a:gd name="connsiteY11" fmla="*/ 20190 h 184633"/>
                  <a:gd name="connsiteX12" fmla="*/ 56444 w 264126"/>
                  <a:gd name="connsiteY12" fmla="*/ 172507 h 184633"/>
                  <a:gd name="connsiteX13" fmla="*/ 71428 w 264126"/>
                  <a:gd name="connsiteY13" fmla="*/ 184634 h 184633"/>
                  <a:gd name="connsiteX14" fmla="*/ 72127 w 264126"/>
                  <a:gd name="connsiteY14" fmla="*/ 184634 h 184633"/>
                  <a:gd name="connsiteX15" fmla="*/ 86730 w 264126"/>
                  <a:gd name="connsiteY15" fmla="*/ 172507 h 184633"/>
                  <a:gd name="connsiteX16" fmla="*/ 132063 w 264126"/>
                  <a:gd name="connsiteY16" fmla="*/ 43111 h 184633"/>
                  <a:gd name="connsiteX17" fmla="*/ 176952 w 264126"/>
                  <a:gd name="connsiteY17" fmla="*/ 172507 h 184633"/>
                  <a:gd name="connsiteX18" fmla="*/ 191618 w 264126"/>
                  <a:gd name="connsiteY18" fmla="*/ 184634 h 184633"/>
                  <a:gd name="connsiteX19" fmla="*/ 192697 w 264126"/>
                  <a:gd name="connsiteY19" fmla="*/ 184634 h 184633"/>
                  <a:gd name="connsiteX20" fmla="*/ 207364 w 264126"/>
                  <a:gd name="connsiteY20" fmla="*/ 172507 h 184633"/>
                  <a:gd name="connsiteX21" fmla="*/ 262411 w 264126"/>
                  <a:gd name="connsiteY21" fmla="*/ 19873 h 184633"/>
                  <a:gd name="connsiteX22" fmla="*/ 264126 w 264126"/>
                  <a:gd name="connsiteY22" fmla="*/ 12508 h 184633"/>
                  <a:gd name="connsiteX23" fmla="*/ 250919 w 264126"/>
                  <a:gd name="connsiteY23" fmla="*/ 0 h 1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126" h="184633">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w="6345" cap="flat">
                <a:no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C8889F5C-7017-F0AD-A292-0E3EA56F8524}"/>
                  </a:ext>
                </a:extLst>
              </p:cNvPr>
              <p:cNvSpPr/>
              <p:nvPr/>
            </p:nvSpPr>
            <p:spPr>
              <a:xfrm>
                <a:off x="1200945" y="6326827"/>
                <a:ext cx="102285" cy="184697"/>
              </a:xfrm>
              <a:custGeom>
                <a:avLst/>
                <a:gdLst>
                  <a:gd name="connsiteX0" fmla="*/ 89015 w 102285"/>
                  <a:gd name="connsiteY0" fmla="*/ 317 h 184697"/>
                  <a:gd name="connsiteX1" fmla="*/ 26857 w 102285"/>
                  <a:gd name="connsiteY1" fmla="*/ 44507 h 184697"/>
                  <a:gd name="connsiteX2" fmla="*/ 26857 w 102285"/>
                  <a:gd name="connsiteY2" fmla="*/ 13587 h 184697"/>
                  <a:gd name="connsiteX3" fmla="*/ 13206 w 102285"/>
                  <a:gd name="connsiteY3" fmla="*/ 0 h 184697"/>
                  <a:gd name="connsiteX4" fmla="*/ 0 w 102285"/>
                  <a:gd name="connsiteY4" fmla="*/ 13587 h 184697"/>
                  <a:gd name="connsiteX5" fmla="*/ 0 w 102285"/>
                  <a:gd name="connsiteY5" fmla="*/ 171110 h 184697"/>
                  <a:gd name="connsiteX6" fmla="*/ 13587 w 102285"/>
                  <a:gd name="connsiteY6" fmla="*/ 184698 h 184697"/>
                  <a:gd name="connsiteX7" fmla="*/ 26857 w 102285"/>
                  <a:gd name="connsiteY7" fmla="*/ 171110 h 184697"/>
                  <a:gd name="connsiteX8" fmla="*/ 26857 w 102285"/>
                  <a:gd name="connsiteY8" fmla="*/ 109904 h 184697"/>
                  <a:gd name="connsiteX9" fmla="*/ 90412 w 102285"/>
                  <a:gd name="connsiteY9" fmla="*/ 27492 h 184697"/>
                  <a:gd name="connsiteX10" fmla="*/ 102285 w 102285"/>
                  <a:gd name="connsiteY10" fmla="*/ 13841 h 184697"/>
                  <a:gd name="connsiteX11" fmla="*/ 89015 w 102285"/>
                  <a:gd name="connsiteY11" fmla="*/ 317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285" h="184697">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w="6345" cap="flat">
                <a:no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47F206F2-6C2D-0598-8600-BCAF57BB1FEF}"/>
                  </a:ext>
                </a:extLst>
              </p:cNvPr>
              <p:cNvSpPr/>
              <p:nvPr/>
            </p:nvSpPr>
            <p:spPr>
              <a:xfrm>
                <a:off x="1301262" y="6326700"/>
                <a:ext cx="166856" cy="186538"/>
              </a:xfrm>
              <a:custGeom>
                <a:avLst/>
                <a:gdLst>
                  <a:gd name="connsiteX0" fmla="*/ 84825 w 166856"/>
                  <a:gd name="connsiteY0" fmla="*/ 0 h 186538"/>
                  <a:gd name="connsiteX1" fmla="*/ 0 w 166856"/>
                  <a:gd name="connsiteY1" fmla="*/ 92888 h 186538"/>
                  <a:gd name="connsiteX2" fmla="*/ 0 w 166856"/>
                  <a:gd name="connsiteY2" fmla="*/ 93587 h 186538"/>
                  <a:gd name="connsiteX3" fmla="*/ 88254 w 166856"/>
                  <a:gd name="connsiteY3" fmla="*/ 186538 h 186538"/>
                  <a:gd name="connsiteX4" fmla="*/ 154920 w 166856"/>
                  <a:gd name="connsiteY4" fmla="*/ 159618 h 186538"/>
                  <a:gd name="connsiteX5" fmla="*/ 159047 w 166856"/>
                  <a:gd name="connsiteY5" fmla="*/ 151047 h 186538"/>
                  <a:gd name="connsiteX6" fmla="*/ 147428 w 166856"/>
                  <a:gd name="connsiteY6" fmla="*/ 139618 h 186538"/>
                  <a:gd name="connsiteX7" fmla="*/ 139872 w 166856"/>
                  <a:gd name="connsiteY7" fmla="*/ 142666 h 186538"/>
                  <a:gd name="connsiteX8" fmla="*/ 88888 w 166856"/>
                  <a:gd name="connsiteY8" fmla="*/ 163364 h 186538"/>
                  <a:gd name="connsiteX9" fmla="*/ 26667 w 166856"/>
                  <a:gd name="connsiteY9" fmla="*/ 102920 h 186538"/>
                  <a:gd name="connsiteX10" fmla="*/ 154539 w 166856"/>
                  <a:gd name="connsiteY10" fmla="*/ 102920 h 186538"/>
                  <a:gd name="connsiteX11" fmla="*/ 166856 w 166856"/>
                  <a:gd name="connsiteY11" fmla="*/ 90476 h 186538"/>
                  <a:gd name="connsiteX12" fmla="*/ 84825 w 166856"/>
                  <a:gd name="connsiteY12" fmla="*/ 0 h 186538"/>
                  <a:gd name="connsiteX13" fmla="*/ 26667 w 166856"/>
                  <a:gd name="connsiteY13" fmla="*/ 83238 h 186538"/>
                  <a:gd name="connsiteX14" fmla="*/ 84127 w 166856"/>
                  <a:gd name="connsiteY14" fmla="*/ 22476 h 186538"/>
                  <a:gd name="connsiteX15" fmla="*/ 140571 w 166856"/>
                  <a:gd name="connsiteY15" fmla="*/ 83238 h 186538"/>
                  <a:gd name="connsiteX16" fmla="*/ 26667 w 166856"/>
                  <a:gd name="connsiteY16" fmla="*/ 83238 h 18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56" h="186538">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w="6345" cap="flat">
                <a:no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A9925AE1-2698-ECBF-CB8C-C2FA61B19484}"/>
                  </a:ext>
                </a:extLst>
              </p:cNvPr>
              <p:cNvSpPr/>
              <p:nvPr/>
            </p:nvSpPr>
            <p:spPr>
              <a:xfrm>
                <a:off x="1010406" y="6327144"/>
                <a:ext cx="157967" cy="186157"/>
              </a:xfrm>
              <a:custGeom>
                <a:avLst/>
                <a:gdLst>
                  <a:gd name="connsiteX0" fmla="*/ 81460 w 157967"/>
                  <a:gd name="connsiteY0" fmla="*/ 0 h 186157"/>
                  <a:gd name="connsiteX1" fmla="*/ 27428 w 157967"/>
                  <a:gd name="connsiteY1" fmla="*/ 10222 h 186157"/>
                  <a:gd name="connsiteX2" fmla="*/ 20063 w 157967"/>
                  <a:gd name="connsiteY2" fmla="*/ 21397 h 186157"/>
                  <a:gd name="connsiteX3" fmla="*/ 31936 w 157967"/>
                  <a:gd name="connsiteY3" fmla="*/ 32889 h 186157"/>
                  <a:gd name="connsiteX4" fmla="*/ 36762 w 157967"/>
                  <a:gd name="connsiteY4" fmla="*/ 31809 h 186157"/>
                  <a:gd name="connsiteX5" fmla="*/ 78666 w 157967"/>
                  <a:gd name="connsiteY5" fmla="*/ 23619 h 186157"/>
                  <a:gd name="connsiteX6" fmla="*/ 132253 w 157967"/>
                  <a:gd name="connsiteY6" fmla="*/ 72698 h 186157"/>
                  <a:gd name="connsiteX7" fmla="*/ 132253 w 157967"/>
                  <a:gd name="connsiteY7" fmla="*/ 78984 h 186157"/>
                  <a:gd name="connsiteX8" fmla="*/ 76889 w 157967"/>
                  <a:gd name="connsiteY8" fmla="*/ 71301 h 186157"/>
                  <a:gd name="connsiteX9" fmla="*/ 0 w 157967"/>
                  <a:gd name="connsiteY9" fmla="*/ 129460 h 186157"/>
                  <a:gd name="connsiteX10" fmla="*/ 0 w 157967"/>
                  <a:gd name="connsiteY10" fmla="*/ 130158 h 186157"/>
                  <a:gd name="connsiteX11" fmla="*/ 67174 w 157967"/>
                  <a:gd name="connsiteY11" fmla="*/ 186157 h 186157"/>
                  <a:gd name="connsiteX12" fmla="*/ 132253 w 157967"/>
                  <a:gd name="connsiteY12" fmla="*/ 155174 h 186157"/>
                  <a:gd name="connsiteX13" fmla="*/ 132253 w 157967"/>
                  <a:gd name="connsiteY13" fmla="*/ 172380 h 186157"/>
                  <a:gd name="connsiteX14" fmla="*/ 145079 w 157967"/>
                  <a:gd name="connsiteY14" fmla="*/ 184951 h 186157"/>
                  <a:gd name="connsiteX15" fmla="*/ 157967 w 157967"/>
                  <a:gd name="connsiteY15" fmla="*/ 171745 h 186157"/>
                  <a:gd name="connsiteX16" fmla="*/ 157967 w 157967"/>
                  <a:gd name="connsiteY16" fmla="*/ 72444 h 186157"/>
                  <a:gd name="connsiteX17" fmla="*/ 139491 w 157967"/>
                  <a:gd name="connsiteY17" fmla="*/ 19936 h 186157"/>
                  <a:gd name="connsiteX18" fmla="*/ 81460 w 157967"/>
                  <a:gd name="connsiteY18" fmla="*/ 0 h 186157"/>
                  <a:gd name="connsiteX19" fmla="*/ 132634 w 157967"/>
                  <a:gd name="connsiteY19" fmla="*/ 116253 h 186157"/>
                  <a:gd name="connsiteX20" fmla="*/ 72444 w 157967"/>
                  <a:gd name="connsiteY20" fmla="*/ 164951 h 186157"/>
                  <a:gd name="connsiteX21" fmla="*/ 27174 w 157967"/>
                  <a:gd name="connsiteY21" fmla="*/ 129142 h 186157"/>
                  <a:gd name="connsiteX22" fmla="*/ 27174 w 157967"/>
                  <a:gd name="connsiteY22" fmla="*/ 128444 h 186157"/>
                  <a:gd name="connsiteX23" fmla="*/ 79682 w 157967"/>
                  <a:gd name="connsiteY23" fmla="*/ 91174 h 186157"/>
                  <a:gd name="connsiteX24" fmla="*/ 132571 w 157967"/>
                  <a:gd name="connsiteY24" fmla="*/ 98857 h 186157"/>
                  <a:gd name="connsiteX25" fmla="*/ 132571 w 157967"/>
                  <a:gd name="connsiteY25" fmla="*/ 116253 h 18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7967" h="186157">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w="6345" cap="flat">
                <a:no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218BC9EB-B196-3184-73E5-DDF213272F29}"/>
                  </a:ext>
                </a:extLst>
              </p:cNvPr>
              <p:cNvSpPr/>
              <p:nvPr/>
            </p:nvSpPr>
            <p:spPr>
              <a:xfrm>
                <a:off x="265625" y="6323271"/>
                <a:ext cx="468782" cy="190348"/>
              </a:xfrm>
              <a:custGeom>
                <a:avLst/>
                <a:gdLst>
                  <a:gd name="connsiteX0" fmla="*/ 404466 w 468782"/>
                  <a:gd name="connsiteY0" fmla="*/ 0 h 190348"/>
                  <a:gd name="connsiteX1" fmla="*/ 347386 w 468782"/>
                  <a:gd name="connsiteY1" fmla="*/ 24317 h 190348"/>
                  <a:gd name="connsiteX2" fmla="*/ 292339 w 468782"/>
                  <a:gd name="connsiteY2" fmla="*/ 63 h 190348"/>
                  <a:gd name="connsiteX3" fmla="*/ 238435 w 468782"/>
                  <a:gd name="connsiteY3" fmla="*/ 24317 h 190348"/>
                  <a:gd name="connsiteX4" fmla="*/ 190371 w 468782"/>
                  <a:gd name="connsiteY4" fmla="*/ 63 h 190348"/>
                  <a:gd name="connsiteX5" fmla="*/ 132340 w 468782"/>
                  <a:gd name="connsiteY5" fmla="*/ 39492 h 190348"/>
                  <a:gd name="connsiteX6" fmla="*/ 95896 w 468782"/>
                  <a:gd name="connsiteY6" fmla="*/ 125459 h 190348"/>
                  <a:gd name="connsiteX7" fmla="*/ 49102 w 468782"/>
                  <a:gd name="connsiteY7" fmla="*/ 15174 h 190348"/>
                  <a:gd name="connsiteX8" fmla="*/ 15071 w 468782"/>
                  <a:gd name="connsiteY8" fmla="*/ 2476 h 190348"/>
                  <a:gd name="connsiteX9" fmla="*/ 2563 w 468782"/>
                  <a:gd name="connsiteY9" fmla="*/ 36571 h 190348"/>
                  <a:gd name="connsiteX10" fmla="*/ 59705 w 468782"/>
                  <a:gd name="connsiteY10" fmla="*/ 160698 h 190348"/>
                  <a:gd name="connsiteX11" fmla="*/ 95896 w 468782"/>
                  <a:gd name="connsiteY11" fmla="*/ 190348 h 190348"/>
                  <a:gd name="connsiteX12" fmla="*/ 132086 w 468782"/>
                  <a:gd name="connsiteY12" fmla="*/ 160698 h 190348"/>
                  <a:gd name="connsiteX13" fmla="*/ 182371 w 468782"/>
                  <a:gd name="connsiteY13" fmla="*/ 51111 h 190348"/>
                  <a:gd name="connsiteX14" fmla="*/ 189546 w 468782"/>
                  <a:gd name="connsiteY14" fmla="*/ 46476 h 190348"/>
                  <a:gd name="connsiteX15" fmla="*/ 197419 w 468782"/>
                  <a:gd name="connsiteY15" fmla="*/ 54476 h 190348"/>
                  <a:gd name="connsiteX16" fmla="*/ 197419 w 468782"/>
                  <a:gd name="connsiteY16" fmla="*/ 160570 h 190348"/>
                  <a:gd name="connsiteX17" fmla="*/ 223959 w 468782"/>
                  <a:gd name="connsiteY17" fmla="*/ 190285 h 190348"/>
                  <a:gd name="connsiteX18" fmla="*/ 250815 w 468782"/>
                  <a:gd name="connsiteY18" fmla="*/ 160570 h 190348"/>
                  <a:gd name="connsiteX19" fmla="*/ 250815 w 468782"/>
                  <a:gd name="connsiteY19" fmla="*/ 73777 h 190348"/>
                  <a:gd name="connsiteX20" fmla="*/ 279133 w 468782"/>
                  <a:gd name="connsiteY20" fmla="*/ 46158 h 190348"/>
                  <a:gd name="connsiteX21" fmla="*/ 306371 w 468782"/>
                  <a:gd name="connsiteY21" fmla="*/ 73777 h 190348"/>
                  <a:gd name="connsiteX22" fmla="*/ 306371 w 468782"/>
                  <a:gd name="connsiteY22" fmla="*/ 160570 h 190348"/>
                  <a:gd name="connsiteX23" fmla="*/ 332910 w 468782"/>
                  <a:gd name="connsiteY23" fmla="*/ 190285 h 190348"/>
                  <a:gd name="connsiteX24" fmla="*/ 359831 w 468782"/>
                  <a:gd name="connsiteY24" fmla="*/ 160570 h 190348"/>
                  <a:gd name="connsiteX25" fmla="*/ 359831 w 468782"/>
                  <a:gd name="connsiteY25" fmla="*/ 73777 h 190348"/>
                  <a:gd name="connsiteX26" fmla="*/ 388148 w 468782"/>
                  <a:gd name="connsiteY26" fmla="*/ 46158 h 190348"/>
                  <a:gd name="connsiteX27" fmla="*/ 415386 w 468782"/>
                  <a:gd name="connsiteY27" fmla="*/ 73777 h 190348"/>
                  <a:gd name="connsiteX28" fmla="*/ 415386 w 468782"/>
                  <a:gd name="connsiteY28" fmla="*/ 160570 h 190348"/>
                  <a:gd name="connsiteX29" fmla="*/ 441926 w 468782"/>
                  <a:gd name="connsiteY29" fmla="*/ 190285 h 190348"/>
                  <a:gd name="connsiteX30" fmla="*/ 468783 w 468782"/>
                  <a:gd name="connsiteY30" fmla="*/ 160570 h 190348"/>
                  <a:gd name="connsiteX31" fmla="*/ 468783 w 468782"/>
                  <a:gd name="connsiteY31" fmla="*/ 61777 h 190348"/>
                  <a:gd name="connsiteX32" fmla="*/ 404466 w 468782"/>
                  <a:gd name="connsiteY32" fmla="*/ 0 h 19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8782" h="190348">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w="6345" cap="flat">
                <a:no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B3E0CCF2-026F-7198-71FE-EEC15EFDC578}"/>
                  </a:ext>
                </a:extLst>
              </p:cNvPr>
              <p:cNvSpPr/>
              <p:nvPr/>
            </p:nvSpPr>
            <p:spPr>
              <a:xfrm>
                <a:off x="1470340" y="6326700"/>
                <a:ext cx="44507" cy="44761"/>
              </a:xfrm>
              <a:custGeom>
                <a:avLst/>
                <a:gdLst>
                  <a:gd name="connsiteX0" fmla="*/ 22222 w 44507"/>
                  <a:gd name="connsiteY0" fmla="*/ 0 h 44761"/>
                  <a:gd name="connsiteX1" fmla="*/ 0 w 44507"/>
                  <a:gd name="connsiteY1" fmla="*/ 22349 h 44761"/>
                  <a:gd name="connsiteX2" fmla="*/ 0 w 44507"/>
                  <a:gd name="connsiteY2" fmla="*/ 22476 h 44761"/>
                  <a:gd name="connsiteX3" fmla="*/ 22222 w 44507"/>
                  <a:gd name="connsiteY3" fmla="*/ 44762 h 44761"/>
                  <a:gd name="connsiteX4" fmla="*/ 44508 w 44507"/>
                  <a:gd name="connsiteY4" fmla="*/ 22349 h 44761"/>
                  <a:gd name="connsiteX5" fmla="*/ 44508 w 44507"/>
                  <a:gd name="connsiteY5" fmla="*/ 22222 h 44761"/>
                  <a:gd name="connsiteX6" fmla="*/ 22222 w 44507"/>
                  <a:gd name="connsiteY6" fmla="*/ 0 h 44761"/>
                  <a:gd name="connsiteX7" fmla="*/ 40190 w 44507"/>
                  <a:gd name="connsiteY7" fmla="*/ 22349 h 44761"/>
                  <a:gd name="connsiteX8" fmla="*/ 22222 w 44507"/>
                  <a:gd name="connsiteY8" fmla="*/ 40634 h 44761"/>
                  <a:gd name="connsiteX9" fmla="*/ 4190 w 44507"/>
                  <a:gd name="connsiteY9" fmla="*/ 22476 h 44761"/>
                  <a:gd name="connsiteX10" fmla="*/ 4190 w 44507"/>
                  <a:gd name="connsiteY10" fmla="*/ 22349 h 44761"/>
                  <a:gd name="connsiteX11" fmla="*/ 22222 w 44507"/>
                  <a:gd name="connsiteY11" fmla="*/ 4127 h 44761"/>
                  <a:gd name="connsiteX12" fmla="*/ 40190 w 44507"/>
                  <a:gd name="connsiteY12" fmla="*/ 22349 h 44761"/>
                  <a:gd name="connsiteX13" fmla="*/ 40190 w 44507"/>
                  <a:gd name="connsiteY13" fmla="*/ 22349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507" h="44761">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w="6345" cap="flat">
                <a:no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EF4B9FAC-CA66-86DF-4447-1C97FD11917C}"/>
                  </a:ext>
                </a:extLst>
              </p:cNvPr>
              <p:cNvSpPr/>
              <p:nvPr/>
            </p:nvSpPr>
            <p:spPr>
              <a:xfrm>
                <a:off x="1484118" y="6337811"/>
                <a:ext cx="17968" cy="21714"/>
              </a:xfrm>
              <a:custGeom>
                <a:avLst/>
                <a:gdLst>
                  <a:gd name="connsiteX0" fmla="*/ 9778 w 17968"/>
                  <a:gd name="connsiteY0" fmla="*/ 0 h 21714"/>
                  <a:gd name="connsiteX1" fmla="*/ 2349 w 17968"/>
                  <a:gd name="connsiteY1" fmla="*/ 0 h 21714"/>
                  <a:gd name="connsiteX2" fmla="*/ 0 w 17968"/>
                  <a:gd name="connsiteY2" fmla="*/ 2413 h 21714"/>
                  <a:gd name="connsiteX3" fmla="*/ 0 w 17968"/>
                  <a:gd name="connsiteY3" fmla="*/ 19365 h 21714"/>
                  <a:gd name="connsiteX4" fmla="*/ 2349 w 17968"/>
                  <a:gd name="connsiteY4" fmla="*/ 21714 h 21714"/>
                  <a:gd name="connsiteX5" fmla="*/ 4698 w 17968"/>
                  <a:gd name="connsiteY5" fmla="*/ 19365 h 21714"/>
                  <a:gd name="connsiteX6" fmla="*/ 4698 w 17968"/>
                  <a:gd name="connsiteY6" fmla="*/ 14667 h 21714"/>
                  <a:gd name="connsiteX7" fmla="*/ 8444 w 17968"/>
                  <a:gd name="connsiteY7" fmla="*/ 14667 h 21714"/>
                  <a:gd name="connsiteX8" fmla="*/ 13079 w 17968"/>
                  <a:gd name="connsiteY8" fmla="*/ 20508 h 21714"/>
                  <a:gd name="connsiteX9" fmla="*/ 15428 w 17968"/>
                  <a:gd name="connsiteY9" fmla="*/ 21714 h 21714"/>
                  <a:gd name="connsiteX10" fmla="*/ 17714 w 17968"/>
                  <a:gd name="connsiteY10" fmla="*/ 19492 h 21714"/>
                  <a:gd name="connsiteX11" fmla="*/ 16952 w 17968"/>
                  <a:gd name="connsiteY11" fmla="*/ 17714 h 21714"/>
                  <a:gd name="connsiteX12" fmla="*/ 13651 w 17968"/>
                  <a:gd name="connsiteY12" fmla="*/ 13714 h 21714"/>
                  <a:gd name="connsiteX13" fmla="*/ 17968 w 17968"/>
                  <a:gd name="connsiteY13" fmla="*/ 7111 h 21714"/>
                  <a:gd name="connsiteX14" fmla="*/ 17968 w 17968"/>
                  <a:gd name="connsiteY14" fmla="*/ 7047 h 21714"/>
                  <a:gd name="connsiteX15" fmla="*/ 16063 w 17968"/>
                  <a:gd name="connsiteY15" fmla="*/ 2159 h 21714"/>
                  <a:gd name="connsiteX16" fmla="*/ 9778 w 17968"/>
                  <a:gd name="connsiteY16" fmla="*/ 0 h 21714"/>
                  <a:gd name="connsiteX17" fmla="*/ 13079 w 17968"/>
                  <a:gd name="connsiteY17" fmla="*/ 7428 h 21714"/>
                  <a:gd name="connsiteX18" fmla="*/ 9460 w 17968"/>
                  <a:gd name="connsiteY18" fmla="*/ 10476 h 21714"/>
                  <a:gd name="connsiteX19" fmla="*/ 4698 w 17968"/>
                  <a:gd name="connsiteY19" fmla="*/ 10476 h 21714"/>
                  <a:gd name="connsiteX20" fmla="*/ 4698 w 17968"/>
                  <a:gd name="connsiteY20" fmla="*/ 4317 h 21714"/>
                  <a:gd name="connsiteX21" fmla="*/ 9397 w 17968"/>
                  <a:gd name="connsiteY21" fmla="*/ 4317 h 21714"/>
                  <a:gd name="connsiteX22" fmla="*/ 13079 w 17968"/>
                  <a:gd name="connsiteY22" fmla="*/ 7365 h 21714"/>
                  <a:gd name="connsiteX23" fmla="*/ 13079 w 17968"/>
                  <a:gd name="connsiteY23" fmla="*/ 7428 h 2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968" h="21714">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w="6345" cap="flat">
                <a:noFill/>
                <a:prstDash val="solid"/>
                <a:miter/>
              </a:ln>
            </p:spPr>
            <p:txBody>
              <a:bodyPr rtlCol="0" anchor="ctr"/>
              <a:lstStyle/>
              <a:p>
                <a:endParaRPr lang="en-US" dirty="0"/>
              </a:p>
            </p:txBody>
          </p:sp>
        </p:grpSp>
      </p:grpSp>
      <p:sp>
        <p:nvSpPr>
          <p:cNvPr id="9" name="Graphic 7">
            <a:extLst>
              <a:ext uri="{FF2B5EF4-FFF2-40B4-BE49-F238E27FC236}">
                <a16:creationId xmlns:a16="http://schemas.microsoft.com/office/drawing/2014/main" id="{4347DF9D-10B3-D013-C54B-0CEA1344F18E}"/>
              </a:ext>
            </a:extLst>
          </p:cNvPr>
          <p:cNvSpPr/>
          <p:nvPr/>
        </p:nvSpPr>
        <p:spPr>
          <a:xfrm>
            <a:off x="0" y="0"/>
            <a:ext cx="12188825" cy="74871"/>
          </a:xfrm>
          <a:custGeom>
            <a:avLst/>
            <a:gdLst>
              <a:gd name="connsiteX0" fmla="*/ 0 w 12185715"/>
              <a:gd name="connsiteY0" fmla="*/ 0 h 74871"/>
              <a:gd name="connsiteX1" fmla="*/ 12185716 w 12185715"/>
              <a:gd name="connsiteY1" fmla="*/ 0 h 74871"/>
              <a:gd name="connsiteX2" fmla="*/ 12185716 w 12185715"/>
              <a:gd name="connsiteY2" fmla="*/ 74871 h 74871"/>
              <a:gd name="connsiteX3" fmla="*/ 0 w 12185715"/>
              <a:gd name="connsiteY3" fmla="*/ 74871 h 74871"/>
            </a:gdLst>
            <a:ahLst/>
            <a:cxnLst>
              <a:cxn ang="0">
                <a:pos x="connsiteX0" y="connsiteY0"/>
              </a:cxn>
              <a:cxn ang="0">
                <a:pos x="connsiteX1" y="connsiteY1"/>
              </a:cxn>
              <a:cxn ang="0">
                <a:pos x="connsiteX2" y="connsiteY2"/>
              </a:cxn>
              <a:cxn ang="0">
                <a:pos x="connsiteX3" y="connsiteY3"/>
              </a:cxn>
            </a:cxnLst>
            <a:rect l="l" t="t" r="r" b="b"/>
            <a:pathLst>
              <a:path w="12185715" h="74871">
                <a:moveTo>
                  <a:pt x="0" y="0"/>
                </a:moveTo>
                <a:lnTo>
                  <a:pt x="12185716" y="0"/>
                </a:lnTo>
                <a:lnTo>
                  <a:pt x="12185716" y="74871"/>
                </a:lnTo>
                <a:lnTo>
                  <a:pt x="0" y="74871"/>
                </a:lnTo>
                <a:close/>
              </a:path>
            </a:pathLst>
          </a:custGeom>
          <a:gradFill>
            <a:gsLst>
              <a:gs pos="0">
                <a:schemeClr val="accent4"/>
              </a:gs>
              <a:gs pos="25000">
                <a:schemeClr val="accent1"/>
              </a:gs>
              <a:gs pos="50000">
                <a:schemeClr val="accent3"/>
              </a:gs>
              <a:gs pos="75000">
                <a:schemeClr val="accent2"/>
              </a:gs>
              <a:gs pos="100000">
                <a:schemeClr val="accent5"/>
              </a:gs>
            </a:gsLst>
            <a:lin ang="0" scaled="1"/>
          </a:gradFill>
          <a:ln w="0" cap="flat">
            <a:noFill/>
            <a:prstDash val="solid"/>
            <a:miter/>
          </a:ln>
        </p:spPr>
        <p:txBody>
          <a:bodyPr rtlCol="0" anchor="ctr"/>
          <a:lstStyle/>
          <a:p>
            <a:endParaRPr lang="en-US" dirty="0"/>
          </a:p>
        </p:txBody>
      </p:sp>
      <p:sp>
        <p:nvSpPr>
          <p:cNvPr id="6" name="TextBox 5">
            <a:extLst>
              <a:ext uri="{FF2B5EF4-FFF2-40B4-BE49-F238E27FC236}">
                <a16:creationId xmlns:a16="http://schemas.microsoft.com/office/drawing/2014/main" id="{67497138-A018-1FCE-9C69-099B94E017A6}"/>
              </a:ext>
            </a:extLst>
          </p:cNvPr>
          <p:cNvSpPr txBox="1"/>
          <p:nvPr userDrawn="1"/>
        </p:nvSpPr>
        <p:spPr>
          <a:xfrm>
            <a:off x="1645084" y="6461498"/>
            <a:ext cx="3574697" cy="215444"/>
          </a:xfrm>
          <a:prstGeom prst="rect">
            <a:avLst/>
          </a:prstGeom>
          <a:noFill/>
        </p:spPr>
        <p:txBody>
          <a:bodyPr wrap="none" lIns="0" tIns="0" rIns="0" bIns="0" rtlCol="0">
            <a:spAutoFit/>
          </a:bodyPr>
          <a:lstStyle/>
          <a:p>
            <a:pPr algn="l">
              <a:lnSpc>
                <a:spcPct val="100000"/>
              </a:lnSpc>
            </a:pPr>
            <a:r>
              <a:rPr lang="en-US" sz="700" spc="0" baseline="0" dirty="0">
                <a:ln/>
                <a:solidFill>
                  <a:srgbClr val="000000"/>
                </a:solidFill>
                <a:latin typeface="+mn-lt"/>
                <a:sym typeface="Metropolis-Regular"/>
                <a:rtl val="0"/>
              </a:rPr>
              <a:t>Broadcom Proprietary. Copyright © 2026 Broadcom.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700" spc="0" baseline="0" dirty="0">
                <a:ln/>
                <a:solidFill>
                  <a:srgbClr val="000000"/>
                </a:solidFill>
                <a:latin typeface="+mn-lt"/>
                <a:sym typeface="Metropolis-Regular"/>
                <a:rtl val="0"/>
              </a:rPr>
              <a:t>All Rights Reserved. The term “Broadcom” refers to Broadcom Inc. and/or its subsidiaries.</a:t>
            </a:r>
          </a:p>
        </p:txBody>
      </p:sp>
    </p:spTree>
    <p:extLst>
      <p:ext uri="{BB962C8B-B14F-4D97-AF65-F5344CB8AC3E}">
        <p14:creationId xmlns:p14="http://schemas.microsoft.com/office/powerpoint/2010/main" val="1398740080"/>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 id="2147484238" r:id="rId12"/>
    <p:sldLayoutId id="2147484207" r:id="rId13"/>
    <p:sldLayoutId id="2147484208" r:id="rId14"/>
    <p:sldLayoutId id="2147484209" r:id="rId15"/>
    <p:sldLayoutId id="2147484210" r:id="rId16"/>
    <p:sldLayoutId id="2147484211" r:id="rId17"/>
    <p:sldLayoutId id="2147484212" r:id="rId18"/>
    <p:sldLayoutId id="2147484213" r:id="rId19"/>
    <p:sldLayoutId id="2147484214" r:id="rId20"/>
    <p:sldLayoutId id="2147484215" r:id="rId21"/>
    <p:sldLayoutId id="2147484216" r:id="rId22"/>
    <p:sldLayoutId id="2147484217" r:id="rId23"/>
    <p:sldLayoutId id="2147484218" r:id="rId24"/>
    <p:sldLayoutId id="2147484219" r:id="rId25"/>
    <p:sldLayoutId id="2147484220" r:id="rId26"/>
    <p:sldLayoutId id="2147484221" r:id="rId27"/>
    <p:sldLayoutId id="2147484222" r:id="rId28"/>
    <p:sldLayoutId id="2147484223" r:id="rId29"/>
    <p:sldLayoutId id="2147484224" r:id="rId30"/>
    <p:sldLayoutId id="2147484225" r:id="rId31"/>
    <p:sldLayoutId id="2147484226" r:id="rId32"/>
    <p:sldLayoutId id="2147484227" r:id="rId33"/>
    <p:sldLayoutId id="2147484228" r:id="rId34"/>
    <p:sldLayoutId id="2147484229" r:id="rId35"/>
    <p:sldLayoutId id="2147484230" r:id="rId36"/>
    <p:sldLayoutId id="2147484231" r:id="rId37"/>
    <p:sldLayoutId id="2147484232" r:id="rId38"/>
    <p:sldLayoutId id="2147484233" r:id="rId39"/>
    <p:sldLayoutId id="2147484234" r:id="rId40"/>
    <p:sldLayoutId id="2147484235" r:id="rId41"/>
    <p:sldLayoutId id="2147484236" r:id="rId42"/>
    <p:sldLayoutId id="2147484237" r:id="rId43"/>
    <p:sldLayoutId id="2147484239" r:id="rId44"/>
    <p:sldLayoutId id="2147484240" r:id="rId45"/>
    <p:sldLayoutId id="2147484241" r:id="rId46"/>
    <p:sldLayoutId id="2147484242" r:id="rId47"/>
    <p:sldLayoutId id="2147484243" r:id="rId48"/>
    <p:sldLayoutId id="2147484244" r:id="rId49"/>
    <p:sldLayoutId id="2147484245" r:id="rId50"/>
    <p:sldLayoutId id="2147484246" r:id="rId51"/>
    <p:sldLayoutId id="2147484247" r:id="rId52"/>
    <p:sldLayoutId id="2147484248" r:id="rId53"/>
    <p:sldLayoutId id="2147484249" r:id="rId54"/>
    <p:sldLayoutId id="2147484250" r:id="rId55"/>
    <p:sldLayoutId id="2147484251" r:id="rId56"/>
    <p:sldLayoutId id="2147484252" r:id="rId57"/>
    <p:sldLayoutId id="2147484253" r:id="rId58"/>
    <p:sldLayoutId id="2147484254" r:id="rId59"/>
    <p:sldLayoutId id="2147484255" r:id="rId60"/>
    <p:sldLayoutId id="2147484256" r:id="rId61"/>
    <p:sldLayoutId id="2147484257" r:id="rId62"/>
    <p:sldLayoutId id="2147484258" r:id="rId63"/>
    <p:sldLayoutId id="2147484259" r:id="rId6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2800" b="0"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Char char="​"/>
        <a:defRPr sz="2000" kern="1200">
          <a:solidFill>
            <a:schemeClr val="tx1"/>
          </a:solidFill>
          <a:latin typeface="+mn-lt"/>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n-lt"/>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n-lt"/>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n-lt"/>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n-lt"/>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39">
          <p15:clr>
            <a:srgbClr val="F26B43"/>
          </p15:clr>
        </p15:guide>
        <p15:guide id="3" orient="horz" pos="1872">
          <p15:clr>
            <a:srgbClr val="F26B43"/>
          </p15:clr>
        </p15:guide>
        <p15:guide id="4" orient="horz" pos="1584">
          <p15:clr>
            <a:srgbClr val="F26B43"/>
          </p15:clr>
        </p15:guide>
        <p15:guide id="5" orient="horz" pos="1296">
          <p15:clr>
            <a:srgbClr val="F26B43"/>
          </p15:clr>
        </p15:guide>
        <p15:guide id="6" orient="horz" pos="1008">
          <p15:clr>
            <a:srgbClr val="F26B43"/>
          </p15:clr>
        </p15:guide>
        <p15:guide id="7" orient="horz" pos="720">
          <p15:clr>
            <a:srgbClr val="F26B43"/>
          </p15:clr>
        </p15:guide>
        <p15:guide id="8" orient="horz" pos="576">
          <p15:clr>
            <a:srgbClr val="F26B43"/>
          </p15:clr>
        </p15:guide>
        <p15:guide id="9" orient="horz" pos="288">
          <p15:clr>
            <a:srgbClr val="F26B43"/>
          </p15:clr>
        </p15:guide>
        <p15:guide id="10" orient="horz">
          <p15:clr>
            <a:srgbClr val="F26B43"/>
          </p15:clr>
        </p15:guide>
        <p15:guide id="11" orient="horz" pos="2448">
          <p15:clr>
            <a:srgbClr val="F26B43"/>
          </p15:clr>
        </p15:guide>
        <p15:guide id="12" orient="horz" pos="2736">
          <p15:clr>
            <a:srgbClr val="F26B43"/>
          </p15:clr>
        </p15:guide>
        <p15:guide id="13" orient="horz" pos="3024">
          <p15:clr>
            <a:srgbClr val="F26B43"/>
          </p15:clr>
        </p15:guide>
        <p15:guide id="14" orient="horz" pos="3312">
          <p15:clr>
            <a:srgbClr val="F26B43"/>
          </p15:clr>
        </p15:guide>
        <p15:guide id="15" orient="horz" pos="3600">
          <p15:clr>
            <a:srgbClr val="F26B43"/>
          </p15:clr>
        </p15:guide>
        <p15:guide id="16" orient="horz" pos="3888">
          <p15:clr>
            <a:srgbClr val="F26B43"/>
          </p15:clr>
        </p15:guide>
        <p15:guide id="17" orient="horz" pos="4032">
          <p15:clr>
            <a:srgbClr val="F26B43"/>
          </p15:clr>
        </p15:guide>
        <p15:guide id="18" pos="3551">
          <p15:clr>
            <a:srgbClr val="F26B43"/>
          </p15:clr>
        </p15:guide>
        <p15:guide id="19" pos="3263">
          <p15:clr>
            <a:srgbClr val="F26B43"/>
          </p15:clr>
        </p15:guide>
        <p15:guide id="20" pos="2975">
          <p15:clr>
            <a:srgbClr val="F26B43"/>
          </p15:clr>
        </p15:guide>
        <p15:guide id="21" pos="2687">
          <p15:clr>
            <a:srgbClr val="F26B43"/>
          </p15:clr>
        </p15:guide>
        <p15:guide id="22" pos="2399">
          <p15:clr>
            <a:srgbClr val="F26B43"/>
          </p15:clr>
        </p15:guide>
        <p15:guide id="23" pos="2111">
          <p15:clr>
            <a:srgbClr val="F26B43"/>
          </p15:clr>
        </p15:guide>
        <p15:guide id="24" pos="1823">
          <p15:clr>
            <a:srgbClr val="F26B43"/>
          </p15:clr>
        </p15:guide>
        <p15:guide id="25" pos="1535">
          <p15:clr>
            <a:srgbClr val="F26B43"/>
          </p15:clr>
        </p15:guide>
        <p15:guide id="26" pos="1247">
          <p15:clr>
            <a:srgbClr val="F26B43"/>
          </p15:clr>
        </p15:guide>
        <p15:guide id="27" pos="959">
          <p15:clr>
            <a:srgbClr val="F26B43"/>
          </p15:clr>
        </p15:guide>
        <p15:guide id="28" pos="671">
          <p15:clr>
            <a:srgbClr val="F26B43"/>
          </p15:clr>
        </p15:guide>
        <p15:guide id="29" pos="383">
          <p15:clr>
            <a:srgbClr val="F26B43"/>
          </p15:clr>
        </p15:guide>
        <p15:guide id="30" pos="4127">
          <p15:clr>
            <a:srgbClr val="F26B43"/>
          </p15:clr>
        </p15:guide>
        <p15:guide id="31" pos="4415">
          <p15:clr>
            <a:srgbClr val="F26B43"/>
          </p15:clr>
        </p15:guide>
        <p15:guide id="32" pos="4703">
          <p15:clr>
            <a:srgbClr val="F26B43"/>
          </p15:clr>
        </p15:guide>
        <p15:guide id="33" pos="4991">
          <p15:clr>
            <a:srgbClr val="F26B43"/>
          </p15:clr>
        </p15:guide>
        <p15:guide id="34" pos="5279">
          <p15:clr>
            <a:srgbClr val="F26B43"/>
          </p15:clr>
        </p15:guide>
        <p15:guide id="35" pos="5567">
          <p15:clr>
            <a:srgbClr val="F26B43"/>
          </p15:clr>
        </p15:guide>
        <p15:guide id="36" pos="5855">
          <p15:clr>
            <a:srgbClr val="F26B43"/>
          </p15:clr>
        </p15:guide>
        <p15:guide id="37" pos="6143">
          <p15:clr>
            <a:srgbClr val="F26B43"/>
          </p15:clr>
        </p15:guide>
        <p15:guide id="38" pos="6431">
          <p15:clr>
            <a:srgbClr val="F26B43"/>
          </p15:clr>
        </p15:guide>
        <p15:guide id="39" pos="6719">
          <p15:clr>
            <a:srgbClr val="F26B43"/>
          </p15:clr>
        </p15:guide>
        <p15:guide id="40" pos="7007">
          <p15:clr>
            <a:srgbClr val="F26B43"/>
          </p15:clr>
        </p15:guide>
        <p15:guide id="41" pos="7295">
          <p15:clr>
            <a:srgbClr val="F26B43"/>
          </p15:clr>
        </p15:guide>
        <p15:guide id="42" pos="7678">
          <p15:clr>
            <a:srgbClr val="F26B43"/>
          </p15:clr>
        </p15:guide>
        <p15:guide id="43" orient="horz" pos="4320">
          <p15:clr>
            <a:srgbClr val="F26B43"/>
          </p15:clr>
        </p15:guide>
        <p15:guide id="44">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4.xml"/></Relationships>
</file>

<file path=ppt/slides/_rels/slide3.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10.png"/><Relationship Id="rId7" Type="http://schemas.openxmlformats.org/officeDocument/2006/relationships/image" Target="../media/image14.png"/><Relationship Id="rId12" Type="http://schemas.openxmlformats.org/officeDocument/2006/relationships/image" Target="../media/image19.png"/><Relationship Id="rId2" Type="http://schemas.openxmlformats.org/officeDocument/2006/relationships/notesSlide" Target="../notesSlides/notesSlide3.xml"/><Relationship Id="rId1" Type="http://schemas.openxmlformats.org/officeDocument/2006/relationships/slideLayout" Target="../slideLayouts/slideLayout44.xml"/><Relationship Id="rId6" Type="http://schemas.openxmlformats.org/officeDocument/2006/relationships/image" Target="../media/image13.png"/><Relationship Id="rId11" Type="http://schemas.openxmlformats.org/officeDocument/2006/relationships/image" Target="../media/image18.png"/><Relationship Id="rId5" Type="http://schemas.openxmlformats.org/officeDocument/2006/relationships/image" Target="../media/image12.png"/><Relationship Id="rId10" Type="http://schemas.openxmlformats.org/officeDocument/2006/relationships/image" Target="../media/image17.png"/><Relationship Id="rId4" Type="http://schemas.openxmlformats.org/officeDocument/2006/relationships/image" Target="../media/image11.png"/><Relationship Id="rId9" Type="http://schemas.openxmlformats.org/officeDocument/2006/relationships/image" Target="../media/image16.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5.xml"/></Relationships>
</file>

<file path=ppt/slides/_rels/slide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5.xml"/></Relationships>
</file>

<file path=ppt/slides/_rels/slide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8.xml"/><Relationship Id="rId1" Type="http://schemas.openxmlformats.org/officeDocument/2006/relationships/slideLayout" Target="../slideLayouts/slideLayout46.xml"/><Relationship Id="rId4" Type="http://schemas.openxmlformats.org/officeDocument/2006/relationships/image" Target="../media/image22.png"/></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9.xml"/><Relationship Id="rId1" Type="http://schemas.openxmlformats.org/officeDocument/2006/relationships/slideLayout" Target="../slideLayouts/slideLayout46.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xml"/><Relationship Id="rId1" Type="http://schemas.openxmlformats.org/officeDocument/2006/relationships/slideLayout" Target="../slideLayouts/slideLayout46.xml"/><Relationship Id="rId4" Type="http://schemas.openxmlformats.org/officeDocument/2006/relationships/image" Target="../media/image25.png"/></Relationships>
</file>

<file path=ppt/slides/_rels/slide1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1.xml"/><Relationship Id="rId1" Type="http://schemas.openxmlformats.org/officeDocument/2006/relationships/slideLayout" Target="../slideLayouts/slideLayout46.xml"/></Relationships>
</file>

<file path=ppt/slides/_rels/slide1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2.xml"/><Relationship Id="rId1" Type="http://schemas.openxmlformats.org/officeDocument/2006/relationships/slideLayout" Target="../slideLayouts/slideLayout46.xml"/></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2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5.xml"/></Relationships>
</file>

<file path=ppt/slides/_rels/slide1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46.xml"/></Relationships>
</file>

<file path=ppt/slides/_rels/slide16.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6.xml"/><Relationship Id="rId1" Type="http://schemas.openxmlformats.org/officeDocument/2006/relationships/slideLayout" Target="../slideLayouts/slideLayout46.xml"/></Relationships>
</file>

<file path=ppt/slides/_rels/slide1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7.xml"/><Relationship Id="rId1" Type="http://schemas.openxmlformats.org/officeDocument/2006/relationships/slideLayout" Target="../slideLayouts/slideLayout46.xml"/><Relationship Id="rId4" Type="http://schemas.openxmlformats.org/officeDocument/2006/relationships/image" Target="../media/image32.png"/></Relationships>
</file>

<file path=ppt/slides/_rels/slide1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8.xml"/><Relationship Id="rId1" Type="http://schemas.openxmlformats.org/officeDocument/2006/relationships/slideLayout" Target="../slideLayouts/slideLayout46.xml"/><Relationship Id="rId4" Type="http://schemas.openxmlformats.org/officeDocument/2006/relationships/image" Target="../media/image34.png"/></Relationships>
</file>

<file path=ppt/slides/_rels/slide1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9.xml"/><Relationship Id="rId1" Type="http://schemas.openxmlformats.org/officeDocument/2006/relationships/slideLayout" Target="../slideLayouts/slideLayout46.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2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0.xml"/><Relationship Id="rId1" Type="http://schemas.openxmlformats.org/officeDocument/2006/relationships/slideLayout" Target="../slideLayouts/slideLayout46.xml"/><Relationship Id="rId4" Type="http://schemas.openxmlformats.org/officeDocument/2006/relationships/image" Target="../media/image40.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8.xml"/></Relationships>
</file>

<file path=ppt/slides/_rels/slide24.xml.rels><?xml version="1.0" encoding="UTF-8" standalone="yes"?>
<Relationships xmlns="http://schemas.openxmlformats.org/package/2006/relationships"><Relationship Id="rId8" Type="http://schemas.openxmlformats.org/officeDocument/2006/relationships/image" Target="../media/image46.svg"/><Relationship Id="rId3" Type="http://schemas.openxmlformats.org/officeDocument/2006/relationships/image" Target="../media/image41.svg"/><Relationship Id="rId7" Type="http://schemas.openxmlformats.org/officeDocument/2006/relationships/image" Target="../media/image45.svg"/><Relationship Id="rId2" Type="http://schemas.openxmlformats.org/officeDocument/2006/relationships/notesSlide" Target="../notesSlides/notesSlide24.xml"/><Relationship Id="rId1" Type="http://schemas.openxmlformats.org/officeDocument/2006/relationships/slideLayout" Target="../slideLayouts/slideLayout15.xml"/><Relationship Id="rId6" Type="http://schemas.openxmlformats.org/officeDocument/2006/relationships/image" Target="../media/image44.svg"/><Relationship Id="rId5" Type="http://schemas.openxmlformats.org/officeDocument/2006/relationships/image" Target="../media/image43.svg"/><Relationship Id="rId4" Type="http://schemas.openxmlformats.org/officeDocument/2006/relationships/image" Target="../media/image42.svg"/></Relationships>
</file>

<file path=ppt/slides/_rels/slide25.xml.rels><?xml version="1.0" encoding="UTF-8" standalone="yes"?>
<Relationships xmlns="http://schemas.openxmlformats.org/package/2006/relationships"><Relationship Id="rId3" Type="http://schemas.openxmlformats.org/officeDocument/2006/relationships/image" Target="../media/image47.svg"/><Relationship Id="rId7" Type="http://schemas.openxmlformats.org/officeDocument/2006/relationships/image" Target="../media/image51.svg"/><Relationship Id="rId2" Type="http://schemas.openxmlformats.org/officeDocument/2006/relationships/notesSlide" Target="../notesSlides/notesSlide25.xml"/><Relationship Id="rId1" Type="http://schemas.openxmlformats.org/officeDocument/2006/relationships/slideLayout" Target="../slideLayouts/slideLayout24.xml"/><Relationship Id="rId6" Type="http://schemas.openxmlformats.org/officeDocument/2006/relationships/image" Target="../media/image50.svg"/><Relationship Id="rId5" Type="http://schemas.openxmlformats.org/officeDocument/2006/relationships/image" Target="../media/image49.svg"/><Relationship Id="rId4" Type="http://schemas.openxmlformats.org/officeDocument/2006/relationships/image" Target="../media/image48.svg"/></Relationships>
</file>

<file path=ppt/slides/_rels/slide26.xml.rels><?xml version="1.0" encoding="UTF-8" standalone="yes"?>
<Relationships xmlns="http://schemas.openxmlformats.org/package/2006/relationships"><Relationship Id="rId3" Type="http://schemas.openxmlformats.org/officeDocument/2006/relationships/image" Target="../media/image52.svg"/><Relationship Id="rId2" Type="http://schemas.openxmlformats.org/officeDocument/2006/relationships/notesSlide" Target="../notesSlides/notesSlide26.xml"/><Relationship Id="rId1" Type="http://schemas.openxmlformats.org/officeDocument/2006/relationships/slideLayout" Target="../slideLayouts/slideLayout24.xml"/><Relationship Id="rId4" Type="http://schemas.openxmlformats.org/officeDocument/2006/relationships/image" Target="../media/image53.svg"/></Relationships>
</file>

<file path=ppt/slides/_rels/slide27.xml.rels><?xml version="1.0" encoding="UTF-8" standalone="yes"?>
<Relationships xmlns="http://schemas.openxmlformats.org/package/2006/relationships"><Relationship Id="rId8" Type="http://schemas.openxmlformats.org/officeDocument/2006/relationships/image" Target="../media/image59.svg"/><Relationship Id="rId13" Type="http://schemas.openxmlformats.org/officeDocument/2006/relationships/image" Target="../media/image63.svg"/><Relationship Id="rId3" Type="http://schemas.openxmlformats.org/officeDocument/2006/relationships/image" Target="../media/image54.svg"/><Relationship Id="rId7" Type="http://schemas.openxmlformats.org/officeDocument/2006/relationships/image" Target="../media/image58.svg"/><Relationship Id="rId12" Type="http://schemas.openxmlformats.org/officeDocument/2006/relationships/image" Target="../media/image62.svg"/><Relationship Id="rId2" Type="http://schemas.openxmlformats.org/officeDocument/2006/relationships/notesSlide" Target="../notesSlides/notesSlide27.xml"/><Relationship Id="rId1" Type="http://schemas.openxmlformats.org/officeDocument/2006/relationships/slideLayout" Target="../slideLayouts/slideLayout24.xml"/><Relationship Id="rId6" Type="http://schemas.openxmlformats.org/officeDocument/2006/relationships/image" Target="../media/image57.svg"/><Relationship Id="rId11" Type="http://schemas.openxmlformats.org/officeDocument/2006/relationships/image" Target="../media/image61.svg"/><Relationship Id="rId5" Type="http://schemas.openxmlformats.org/officeDocument/2006/relationships/image" Target="../media/image56.svg"/><Relationship Id="rId10" Type="http://schemas.openxmlformats.org/officeDocument/2006/relationships/image" Target="../media/image60.svg"/><Relationship Id="rId4" Type="http://schemas.openxmlformats.org/officeDocument/2006/relationships/image" Target="../media/image55.svg"/><Relationship Id="rId9" Type="http://schemas.openxmlformats.org/officeDocument/2006/relationships/image" Target="../media/image44.svg"/><Relationship Id="rId14" Type="http://schemas.openxmlformats.org/officeDocument/2006/relationships/image" Target="../media/image49.svg"/></Relationships>
</file>

<file path=ppt/slides/_rels/slide28.xml.rels><?xml version="1.0" encoding="UTF-8" standalone="yes"?>
<Relationships xmlns="http://schemas.openxmlformats.org/package/2006/relationships"><Relationship Id="rId3" Type="http://schemas.openxmlformats.org/officeDocument/2006/relationships/image" Target="../media/image64.svg"/><Relationship Id="rId2" Type="http://schemas.openxmlformats.org/officeDocument/2006/relationships/notesSlide" Target="../notesSlides/notesSlide28.xml"/><Relationship Id="rId1" Type="http://schemas.openxmlformats.org/officeDocument/2006/relationships/slideLayout" Target="../slideLayouts/slideLayout24.xml"/><Relationship Id="rId4" Type="http://schemas.openxmlformats.org/officeDocument/2006/relationships/image" Target="../media/image65.svg"/></Relationships>
</file>

<file path=ppt/slides/_rels/slide29.xml.rels><?xml version="1.0" encoding="UTF-8" standalone="yes"?>
<Relationships xmlns="http://schemas.openxmlformats.org/package/2006/relationships"><Relationship Id="rId8" Type="http://schemas.openxmlformats.org/officeDocument/2006/relationships/image" Target="../media/image70.svg"/><Relationship Id="rId13" Type="http://schemas.openxmlformats.org/officeDocument/2006/relationships/image" Target="../media/image75.svg"/><Relationship Id="rId3" Type="http://schemas.openxmlformats.org/officeDocument/2006/relationships/image" Target="../media/image66.svg"/><Relationship Id="rId7" Type="http://schemas.openxmlformats.org/officeDocument/2006/relationships/image" Target="../media/image69.svg"/><Relationship Id="rId12" Type="http://schemas.openxmlformats.org/officeDocument/2006/relationships/image" Target="../media/image74.svg"/><Relationship Id="rId2" Type="http://schemas.openxmlformats.org/officeDocument/2006/relationships/notesSlide" Target="../notesSlides/notesSlide29.xml"/><Relationship Id="rId1" Type="http://schemas.openxmlformats.org/officeDocument/2006/relationships/slideLayout" Target="../slideLayouts/slideLayout24.xml"/><Relationship Id="rId6" Type="http://schemas.openxmlformats.org/officeDocument/2006/relationships/image" Target="../media/image68.svg"/><Relationship Id="rId11" Type="http://schemas.openxmlformats.org/officeDocument/2006/relationships/image" Target="../media/image73.svg"/><Relationship Id="rId5" Type="http://schemas.openxmlformats.org/officeDocument/2006/relationships/image" Target="../media/image67.svg"/><Relationship Id="rId15" Type="http://schemas.openxmlformats.org/officeDocument/2006/relationships/image" Target="../media/image77.svg"/><Relationship Id="rId10" Type="http://schemas.openxmlformats.org/officeDocument/2006/relationships/image" Target="../media/image72.svg"/><Relationship Id="rId4" Type="http://schemas.openxmlformats.org/officeDocument/2006/relationships/image" Target="../media/image62.svg"/><Relationship Id="rId9" Type="http://schemas.openxmlformats.org/officeDocument/2006/relationships/image" Target="../media/image71.svg"/><Relationship Id="rId14" Type="http://schemas.openxmlformats.org/officeDocument/2006/relationships/image" Target="../media/image76.svg"/></Relationships>
</file>

<file path=ppt/slides/_rels/slide30.xml.rels><?xml version="1.0" encoding="UTF-8" standalone="yes"?>
<Relationships xmlns="http://schemas.openxmlformats.org/package/2006/relationships"><Relationship Id="rId3" Type="http://schemas.openxmlformats.org/officeDocument/2006/relationships/image" Target="../media/image43.svg"/><Relationship Id="rId2" Type="http://schemas.openxmlformats.org/officeDocument/2006/relationships/notesSlide" Target="../notesSlides/notesSlide30.xml"/><Relationship Id="rId1" Type="http://schemas.openxmlformats.org/officeDocument/2006/relationships/slideLayout" Target="../slideLayouts/slideLayout16.xml"/><Relationship Id="rId6" Type="http://schemas.openxmlformats.org/officeDocument/2006/relationships/image" Target="../media/image45.svg"/><Relationship Id="rId5" Type="http://schemas.openxmlformats.org/officeDocument/2006/relationships/image" Target="../media/image42.svg"/><Relationship Id="rId4" Type="http://schemas.openxmlformats.org/officeDocument/2006/relationships/image" Target="../media/image44.svg"/></Relationships>
</file>

<file path=ppt/slides/_rels/slide31.xml.rels><?xml version="1.0" encoding="UTF-8" standalone="yes"?>
<Relationships xmlns="http://schemas.openxmlformats.org/package/2006/relationships"><Relationship Id="rId3" Type="http://schemas.openxmlformats.org/officeDocument/2006/relationships/image" Target="../media/image49.svg"/><Relationship Id="rId2" Type="http://schemas.openxmlformats.org/officeDocument/2006/relationships/notesSlide" Target="../notesSlides/notesSlide31.xml"/><Relationship Id="rId1" Type="http://schemas.openxmlformats.org/officeDocument/2006/relationships/slideLayout" Target="../slideLayouts/slideLayout1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3" Type="http://schemas.openxmlformats.org/officeDocument/2006/relationships/image" Target="../media/image78.svg"/><Relationship Id="rId2" Type="http://schemas.openxmlformats.org/officeDocument/2006/relationships/notesSlide" Target="../notesSlides/notesSlide33.xml"/><Relationship Id="rId1" Type="http://schemas.openxmlformats.org/officeDocument/2006/relationships/slideLayout" Target="../slideLayouts/slideLayout4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5.xml"/></Relationships>
</file>

<file path=ppt/slides/_rels/slide35.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35.xml"/><Relationship Id="rId1" Type="http://schemas.openxmlformats.org/officeDocument/2006/relationships/slideLayout" Target="../slideLayouts/slideLayout14.xml"/><Relationship Id="rId4" Type="http://schemas.openxmlformats.org/officeDocument/2006/relationships/image" Target="../media/image80.png"/></Relationships>
</file>

<file path=ppt/slides/_rels/slide36.xml.rels><?xml version="1.0" encoding="UTF-8" standalone="yes"?>
<Relationships xmlns="http://schemas.openxmlformats.org/package/2006/relationships"><Relationship Id="rId3" Type="http://schemas.openxmlformats.org/officeDocument/2006/relationships/image" Target="../media/image81.svg"/><Relationship Id="rId2" Type="http://schemas.openxmlformats.org/officeDocument/2006/relationships/notesSlide" Target="../notesSlides/notesSlide36.xml"/><Relationship Id="rId1" Type="http://schemas.openxmlformats.org/officeDocument/2006/relationships/slideLayout" Target="../slideLayouts/slideLayout15.xml"/><Relationship Id="rId4" Type="http://schemas.openxmlformats.org/officeDocument/2006/relationships/image" Target="../media/image82.svg"/></Relationships>
</file>

<file path=ppt/slides/_rels/slide3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37.xml"/><Relationship Id="rId1" Type="http://schemas.openxmlformats.org/officeDocument/2006/relationships/slideLayout" Target="../slideLayouts/slideLayout15.xml"/></Relationships>
</file>

<file path=ppt/slides/_rels/slide38.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38.xml"/><Relationship Id="rId1" Type="http://schemas.openxmlformats.org/officeDocument/2006/relationships/slideLayout" Target="../slideLayouts/slideLayout15.xml"/></Relationships>
</file>

<file path=ppt/slides/_rels/slide39.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39.xml"/><Relationship Id="rId1" Type="http://schemas.openxmlformats.org/officeDocument/2006/relationships/slideLayout" Target="../slideLayouts/slideLayout15.xml"/></Relationships>
</file>

<file path=ppt/slides/_rels/slide40.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40.xml"/><Relationship Id="rId1" Type="http://schemas.openxmlformats.org/officeDocument/2006/relationships/slideLayout" Target="../slideLayouts/slideLayout15.xml"/></Relationships>
</file>

<file path=ppt/slides/_rels/slide41.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41.xml"/><Relationship Id="rId1" Type="http://schemas.openxmlformats.org/officeDocument/2006/relationships/slideLayout" Target="../slideLayouts/slideLayout1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5.xml"/></Relationships>
</file>

<file path=ppt/slides/_rels/slide43.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43.xml"/><Relationship Id="rId1" Type="http://schemas.openxmlformats.org/officeDocument/2006/relationships/slideLayout" Target="../slideLayouts/slideLayout15.xml"/><Relationship Id="rId5" Type="http://schemas.openxmlformats.org/officeDocument/2006/relationships/image" Target="../media/image87.svg"/><Relationship Id="rId4" Type="http://schemas.openxmlformats.org/officeDocument/2006/relationships/image" Target="../media/image86.svg"/></Relationships>
</file>

<file path=ppt/slides/_rels/slide44.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44.xml"/><Relationship Id="rId1" Type="http://schemas.openxmlformats.org/officeDocument/2006/relationships/slideLayout" Target="../slideLayouts/slideLayout15.xml"/><Relationship Id="rId5" Type="http://schemas.openxmlformats.org/officeDocument/2006/relationships/image" Target="../media/image90.png"/><Relationship Id="rId4" Type="http://schemas.openxmlformats.org/officeDocument/2006/relationships/image" Target="../media/image89.png"/></Relationships>
</file>

<file path=ppt/slides/_rels/slide45.xml.rels><?xml version="1.0" encoding="UTF-8" standalone="yes"?>
<Relationships xmlns="http://schemas.openxmlformats.org/package/2006/relationships"><Relationship Id="rId3" Type="http://schemas.openxmlformats.org/officeDocument/2006/relationships/image" Target="../media/image87.svg"/><Relationship Id="rId2" Type="http://schemas.openxmlformats.org/officeDocument/2006/relationships/notesSlide" Target="../notesSlides/notesSlide45.xml"/><Relationship Id="rId1" Type="http://schemas.openxmlformats.org/officeDocument/2006/relationships/slideLayout" Target="../slideLayouts/slideLayout15.xml"/></Relationships>
</file>

<file path=ppt/slides/_rels/slide4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46.xml"/><Relationship Id="rId1" Type="http://schemas.openxmlformats.org/officeDocument/2006/relationships/slideLayout" Target="../slideLayouts/slideLayout15.xml"/></Relationships>
</file>

<file path=ppt/slides/_rels/slide4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47.xml"/><Relationship Id="rId1" Type="http://schemas.openxmlformats.org/officeDocument/2006/relationships/slideLayout" Target="../slideLayouts/slideLayout15.xml"/></Relationships>
</file>

<file path=ppt/slides/_rels/slide48.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48.xml"/><Relationship Id="rId1" Type="http://schemas.openxmlformats.org/officeDocument/2006/relationships/slideLayout" Target="../slideLayouts/slideLayout15.xml"/><Relationship Id="rId5" Type="http://schemas.openxmlformats.org/officeDocument/2006/relationships/image" Target="../media/image92.svg"/><Relationship Id="rId4" Type="http://schemas.openxmlformats.org/officeDocument/2006/relationships/image" Target="../media/image91.sv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5.xml"/></Relationships>
</file>

<file path=ppt/slides/_rels/slide50.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93.png"/><Relationship Id="rId7" Type="http://schemas.openxmlformats.org/officeDocument/2006/relationships/image" Target="../media/image97.png"/><Relationship Id="rId2" Type="http://schemas.openxmlformats.org/officeDocument/2006/relationships/notesSlide" Target="../notesSlides/notesSlide50.xml"/><Relationship Id="rId1" Type="http://schemas.openxmlformats.org/officeDocument/2006/relationships/slideLayout" Target="../slideLayouts/slideLayout44.xml"/><Relationship Id="rId6" Type="http://schemas.openxmlformats.org/officeDocument/2006/relationships/image" Target="../media/image96.png"/><Relationship Id="rId5" Type="http://schemas.openxmlformats.org/officeDocument/2006/relationships/image" Target="../media/image95.png"/><Relationship Id="rId4" Type="http://schemas.openxmlformats.org/officeDocument/2006/relationships/image" Target="../media/image94.png"/></Relationships>
</file>

<file path=ppt/slides/_rels/slide5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51.xml"/><Relationship Id="rId1" Type="http://schemas.openxmlformats.org/officeDocument/2006/relationships/slideLayout" Target="../slideLayouts/slideLayout49.xml"/></Relationships>
</file>

<file path=ppt/slides/_rels/slide52.xml.rels><?xml version="1.0" encoding="UTF-8" standalone="yes"?>
<Relationships xmlns="http://schemas.openxmlformats.org/package/2006/relationships"><Relationship Id="rId8" Type="http://schemas.openxmlformats.org/officeDocument/2006/relationships/image" Target="../media/image104.png"/><Relationship Id="rId3" Type="http://schemas.openxmlformats.org/officeDocument/2006/relationships/image" Target="../media/image99.png"/><Relationship Id="rId7" Type="http://schemas.openxmlformats.org/officeDocument/2006/relationships/image" Target="../media/image103.png"/><Relationship Id="rId2" Type="http://schemas.openxmlformats.org/officeDocument/2006/relationships/notesSlide" Target="../notesSlides/notesSlide52.xml"/><Relationship Id="rId1" Type="http://schemas.openxmlformats.org/officeDocument/2006/relationships/slideLayout" Target="../slideLayouts/slideLayout50.xml"/><Relationship Id="rId6" Type="http://schemas.openxmlformats.org/officeDocument/2006/relationships/image" Target="../media/image102.png"/><Relationship Id="rId5" Type="http://schemas.openxmlformats.org/officeDocument/2006/relationships/image" Target="../media/image101.png"/><Relationship Id="rId10" Type="http://schemas.openxmlformats.org/officeDocument/2006/relationships/image" Target="../media/image106.png"/><Relationship Id="rId4" Type="http://schemas.openxmlformats.org/officeDocument/2006/relationships/image" Target="../media/image100.png"/><Relationship Id="rId9" Type="http://schemas.openxmlformats.org/officeDocument/2006/relationships/image" Target="../media/image105.png"/></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4.xml"/></Relationships>
</file>

<file path=ppt/slides/_rels/slide54.xml.rels><?xml version="1.0" encoding="UTF-8" standalone="yes"?>
<Relationships xmlns="http://schemas.openxmlformats.org/package/2006/relationships"><Relationship Id="rId3" Type="http://schemas.openxmlformats.org/officeDocument/2006/relationships/image" Target="../media/image107.svg"/><Relationship Id="rId2" Type="http://schemas.openxmlformats.org/officeDocument/2006/relationships/notesSlide" Target="../notesSlides/notesSlide54.xml"/><Relationship Id="rId1" Type="http://schemas.openxmlformats.org/officeDocument/2006/relationships/slideLayout" Target="../slideLayouts/slideLayout49.xml"/><Relationship Id="rId4" Type="http://schemas.openxmlformats.org/officeDocument/2006/relationships/image" Target="../media/image108.svg"/></Relationships>
</file>

<file path=ppt/slides/_rels/slide55.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55.xml"/><Relationship Id="rId1" Type="http://schemas.openxmlformats.org/officeDocument/2006/relationships/slideLayout" Target="../slideLayouts/slideLayout51.xml"/><Relationship Id="rId4" Type="http://schemas.openxmlformats.org/officeDocument/2006/relationships/image" Target="../media/image110.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5.xml"/></Relationships>
</file>

<file path=ppt/slides/_rels/slide57.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79.png"/><Relationship Id="rId7" Type="http://schemas.openxmlformats.org/officeDocument/2006/relationships/image" Target="../media/image114.png"/><Relationship Id="rId2" Type="http://schemas.openxmlformats.org/officeDocument/2006/relationships/notesSlide" Target="../notesSlides/notesSlide57.xml"/><Relationship Id="rId1" Type="http://schemas.openxmlformats.org/officeDocument/2006/relationships/slideLayout" Target="../slideLayouts/slideLayout14.xml"/><Relationship Id="rId6" Type="http://schemas.openxmlformats.org/officeDocument/2006/relationships/image" Target="../media/image113.png"/><Relationship Id="rId5" Type="http://schemas.openxmlformats.org/officeDocument/2006/relationships/image" Target="../media/image112.png"/><Relationship Id="rId4" Type="http://schemas.openxmlformats.org/officeDocument/2006/relationships/image" Target="../media/image111.png"/></Relationships>
</file>

<file path=ppt/slides/_rels/slide58.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58.xml"/><Relationship Id="rId1" Type="http://schemas.openxmlformats.org/officeDocument/2006/relationships/slideLayout" Target="../slideLayouts/slideLayout49.xml"/></Relationships>
</file>

<file path=ppt/slides/_rels/slide59.xml.rels><?xml version="1.0" encoding="UTF-8" standalone="yes"?>
<Relationships xmlns="http://schemas.openxmlformats.org/package/2006/relationships"><Relationship Id="rId8" Type="http://schemas.openxmlformats.org/officeDocument/2006/relationships/image" Target="../media/image122.png"/><Relationship Id="rId3" Type="http://schemas.openxmlformats.org/officeDocument/2006/relationships/image" Target="../media/image117.png"/><Relationship Id="rId7" Type="http://schemas.openxmlformats.org/officeDocument/2006/relationships/image" Target="../media/image121.png"/><Relationship Id="rId12" Type="http://schemas.openxmlformats.org/officeDocument/2006/relationships/image" Target="../media/image126.png"/><Relationship Id="rId2" Type="http://schemas.openxmlformats.org/officeDocument/2006/relationships/notesSlide" Target="../notesSlides/notesSlide59.xml"/><Relationship Id="rId1" Type="http://schemas.openxmlformats.org/officeDocument/2006/relationships/slideLayout" Target="../slideLayouts/slideLayout44.xml"/><Relationship Id="rId6" Type="http://schemas.openxmlformats.org/officeDocument/2006/relationships/image" Target="../media/image120.png"/><Relationship Id="rId11" Type="http://schemas.openxmlformats.org/officeDocument/2006/relationships/image" Target="../media/image125.png"/><Relationship Id="rId5" Type="http://schemas.openxmlformats.org/officeDocument/2006/relationships/image" Target="../media/image119.png"/><Relationship Id="rId10" Type="http://schemas.openxmlformats.org/officeDocument/2006/relationships/image" Target="../media/image124.png"/><Relationship Id="rId4" Type="http://schemas.openxmlformats.org/officeDocument/2006/relationships/image" Target="../media/image118.png"/><Relationship Id="rId9" Type="http://schemas.openxmlformats.org/officeDocument/2006/relationships/image" Target="../media/image123.png"/></Relationships>
</file>

<file path=ppt/slides/_rels/slide6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60.xml"/><Relationship Id="rId1" Type="http://schemas.openxmlformats.org/officeDocument/2006/relationships/slideLayout" Target="../slideLayouts/slideLayout49.xml"/><Relationship Id="rId4" Type="http://schemas.openxmlformats.org/officeDocument/2006/relationships/image" Target="../media/image127.png"/></Relationships>
</file>

<file path=ppt/slides/_rels/slide61.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61.xml"/><Relationship Id="rId1" Type="http://schemas.openxmlformats.org/officeDocument/2006/relationships/slideLayout" Target="../slideLayouts/slideLayout49.xml"/><Relationship Id="rId6" Type="http://schemas.openxmlformats.org/officeDocument/2006/relationships/image" Target="../media/image131.png"/><Relationship Id="rId5" Type="http://schemas.openxmlformats.org/officeDocument/2006/relationships/image" Target="../media/image130.png"/><Relationship Id="rId4" Type="http://schemas.openxmlformats.org/officeDocument/2006/relationships/image" Target="../media/image129.png"/></Relationships>
</file>

<file path=ppt/slides/_rels/slide62.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62.xml"/><Relationship Id="rId1" Type="http://schemas.openxmlformats.org/officeDocument/2006/relationships/slideLayout" Target="../slideLayouts/slideLayout49.xml"/><Relationship Id="rId5" Type="http://schemas.openxmlformats.org/officeDocument/2006/relationships/image" Target="../media/image134.png"/><Relationship Id="rId4" Type="http://schemas.openxmlformats.org/officeDocument/2006/relationships/image" Target="../media/image133.png"/></Relationships>
</file>

<file path=ppt/slides/_rels/slide63.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63.xml"/><Relationship Id="rId1" Type="http://schemas.openxmlformats.org/officeDocument/2006/relationships/slideLayout" Target="../slideLayouts/slideLayout50.xml"/><Relationship Id="rId4" Type="http://schemas.openxmlformats.org/officeDocument/2006/relationships/image" Target="../media/image136.png"/></Relationships>
</file>

<file path=ppt/slides/_rels/slide64.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64.xml"/><Relationship Id="rId1" Type="http://schemas.openxmlformats.org/officeDocument/2006/relationships/slideLayout" Target="../slideLayouts/slideLayout51.xml"/><Relationship Id="rId5" Type="http://schemas.openxmlformats.org/officeDocument/2006/relationships/image" Target="../media/image139.png"/><Relationship Id="rId4" Type="http://schemas.openxmlformats.org/officeDocument/2006/relationships/image" Target="../media/image138.png"/></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5.xml"/></Relationships>
</file>

<file path=ppt/slides/_rels/slide66.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79.png"/><Relationship Id="rId7" Type="http://schemas.openxmlformats.org/officeDocument/2006/relationships/image" Target="../media/image114.png"/><Relationship Id="rId2" Type="http://schemas.openxmlformats.org/officeDocument/2006/relationships/notesSlide" Target="../notesSlides/notesSlide66.xml"/><Relationship Id="rId1" Type="http://schemas.openxmlformats.org/officeDocument/2006/relationships/slideLayout" Target="../slideLayouts/slideLayout14.xml"/><Relationship Id="rId6" Type="http://schemas.openxmlformats.org/officeDocument/2006/relationships/image" Target="../media/image113.png"/><Relationship Id="rId5" Type="http://schemas.openxmlformats.org/officeDocument/2006/relationships/image" Target="../media/image112.png"/><Relationship Id="rId4" Type="http://schemas.openxmlformats.org/officeDocument/2006/relationships/image" Target="../media/image111.png"/></Relationships>
</file>

<file path=ppt/slides/_rels/slide67.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67.xml"/><Relationship Id="rId1" Type="http://schemas.openxmlformats.org/officeDocument/2006/relationships/slideLayout" Target="../slideLayouts/slideLayout49.xml"/><Relationship Id="rId4" Type="http://schemas.openxmlformats.org/officeDocument/2006/relationships/image" Target="../media/image136.png"/></Relationships>
</file>

<file path=ppt/slides/_rels/slide68.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68.xml"/><Relationship Id="rId1" Type="http://schemas.openxmlformats.org/officeDocument/2006/relationships/slideLayout" Target="../slideLayouts/slideLayout49.xml"/></Relationships>
</file>

<file path=ppt/slides/_rels/slide69.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69.xml"/><Relationship Id="rId1" Type="http://schemas.openxmlformats.org/officeDocument/2006/relationships/slideLayout" Target="../slideLayouts/slideLayout49.xml"/></Relationships>
</file>

<file path=ppt/slides/_rels/slide70.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70.xml"/><Relationship Id="rId1" Type="http://schemas.openxmlformats.org/officeDocument/2006/relationships/slideLayout" Target="../slideLayouts/slideLayout49.xml"/></Relationships>
</file>

<file path=ppt/slides/_rels/slide71.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71.xml"/><Relationship Id="rId1" Type="http://schemas.openxmlformats.org/officeDocument/2006/relationships/slideLayout" Target="../slideLayouts/slideLayout49.xml"/></Relationships>
</file>

<file path=ppt/slides/_rels/slide72.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72.xml"/><Relationship Id="rId1" Type="http://schemas.openxmlformats.org/officeDocument/2006/relationships/slideLayout" Target="../slideLayouts/slideLayout49.xml"/></Relationships>
</file>

<file path=ppt/slides/_rels/slide73.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73.xml"/><Relationship Id="rId1" Type="http://schemas.openxmlformats.org/officeDocument/2006/relationships/slideLayout" Target="../slideLayouts/slideLayout4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52.xml"/></Relationships>
</file>

<file path=ppt/slides/_rels/slide76.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76.xml"/><Relationship Id="rId1" Type="http://schemas.openxmlformats.org/officeDocument/2006/relationships/slideLayout" Target="../slideLayouts/slideLayout5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54.xml"/></Relationships>
</file>

<file path=ppt/slides/_rels/slide78.xml.rels><?xml version="1.0" encoding="UTF-8" standalone="yes"?>
<Relationships xmlns="http://schemas.openxmlformats.org/package/2006/relationships"><Relationship Id="rId8" Type="http://schemas.openxmlformats.org/officeDocument/2006/relationships/hyperlink" Target="brcm.tech/vcf-91-python-sdk-pypi" TargetMode="External"/><Relationship Id="rId13" Type="http://schemas.openxmlformats.org/officeDocument/2006/relationships/hyperlink" Target="brcm.tech/vcf-91-java-sdk-samples" TargetMode="External"/><Relationship Id="rId3" Type="http://schemas.openxmlformats.org/officeDocument/2006/relationships/hyperlink" Target="brcm.tech/vcf-91-python-sdk-samples" TargetMode="External"/><Relationship Id="rId7" Type="http://schemas.openxmlformats.org/officeDocument/2006/relationships/hyperlink" Target="brcm.tech/vcf-91-api-release-notes" TargetMode="External"/><Relationship Id="rId12" Type="http://schemas.openxmlformats.org/officeDocument/2006/relationships/hyperlink" Target="brcm.tech/vcf-91-powercli-change-log" TargetMode="External"/><Relationship Id="rId2" Type="http://schemas.openxmlformats.org/officeDocument/2006/relationships/notesSlide" Target="../notesSlides/notesSlide78.xml"/><Relationship Id="rId1" Type="http://schemas.openxmlformats.org/officeDocument/2006/relationships/slideLayout" Target="../slideLayouts/slideLayout55.xml"/><Relationship Id="rId6" Type="http://schemas.openxmlformats.org/officeDocument/2006/relationships/hyperlink" Target="brcm.tech/vcf-dev-portal" TargetMode="External"/><Relationship Id="rId11" Type="http://schemas.openxmlformats.org/officeDocument/2006/relationships/hyperlink" Target="brcm.tech/vcf-91-java-sdk-dev" TargetMode="External"/><Relationship Id="rId5" Type="http://schemas.openxmlformats.org/officeDocument/2006/relationships/hyperlink" Target="brcm.tech/vcf-91-api-spec-gh" TargetMode="External"/><Relationship Id="rId15" Type="http://schemas.openxmlformats.org/officeDocument/2006/relationships/hyperlink" Target="brcm.tech/vcf-91-api-change-log" TargetMode="External"/><Relationship Id="rId10" Type="http://schemas.openxmlformats.org/officeDocument/2006/relationships/hyperlink" Target="brcm.tech/vcf-91-java-sdk-maven" TargetMode="External"/><Relationship Id="rId4" Type="http://schemas.openxmlformats.org/officeDocument/2006/relationships/hyperlink" Target="brcm.tech/vcf-91-api-spec-dev" TargetMode="External"/><Relationship Id="rId9" Type="http://schemas.openxmlformats.org/officeDocument/2006/relationships/hyperlink" Target="brcm.tech/vcf-91-python-sdk-dev" TargetMode="External"/><Relationship Id="rId14" Type="http://schemas.openxmlformats.org/officeDocument/2006/relationships/hyperlink" Target="brcm.tech/vcf-91-powercli-psgallery" TargetMode="Externa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4.xml"/></Relationships>
</file>

<file path=ppt/slides/_rels/slide81.xml.rels><?xml version="1.0" encoding="UTF-8" standalone="yes"?>
<Relationships xmlns="http://schemas.openxmlformats.org/package/2006/relationships"><Relationship Id="rId3" Type="http://schemas.openxmlformats.org/officeDocument/2006/relationships/image" Target="../media/image148.png"/><Relationship Id="rId7" Type="http://schemas.openxmlformats.org/officeDocument/2006/relationships/image" Target="../media/image152.png"/><Relationship Id="rId2" Type="http://schemas.openxmlformats.org/officeDocument/2006/relationships/notesSlide" Target="../notesSlides/notesSlide81.xml"/><Relationship Id="rId1" Type="http://schemas.openxmlformats.org/officeDocument/2006/relationships/slideLayout" Target="../slideLayouts/slideLayout14.xml"/><Relationship Id="rId6" Type="http://schemas.openxmlformats.org/officeDocument/2006/relationships/image" Target="../media/image151.png"/><Relationship Id="rId5" Type="http://schemas.openxmlformats.org/officeDocument/2006/relationships/image" Target="../media/image150.png"/><Relationship Id="rId4" Type="http://schemas.openxmlformats.org/officeDocument/2006/relationships/image" Target="../media/image149.png"/></Relationships>
</file>

<file path=ppt/slides/_rels/slide82.xml.rels><?xml version="1.0" encoding="UTF-8" standalone="yes"?>
<Relationships xmlns="http://schemas.openxmlformats.org/package/2006/relationships"><Relationship Id="rId8" Type="http://schemas.openxmlformats.org/officeDocument/2006/relationships/hyperlink" Target="https://knowledge.broadcom.com/external/article/416103" TargetMode="External"/><Relationship Id="rId3" Type="http://schemas.openxmlformats.org/officeDocument/2006/relationships/image" Target="../media/image153.png"/><Relationship Id="rId7" Type="http://schemas.openxmlformats.org/officeDocument/2006/relationships/image" Target="../media/image157.png"/><Relationship Id="rId2" Type="http://schemas.openxmlformats.org/officeDocument/2006/relationships/notesSlide" Target="../notesSlides/notesSlide82.xml"/><Relationship Id="rId1" Type="http://schemas.openxmlformats.org/officeDocument/2006/relationships/slideLayout" Target="../slideLayouts/slideLayout44.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s>
</file>

<file path=ppt/slides/_rels/slide83.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notesSlide" Target="../notesSlides/notesSlide83.xml"/><Relationship Id="rId1" Type="http://schemas.openxmlformats.org/officeDocument/2006/relationships/slideLayout" Target="../slideLayouts/slideLayout44.xml"/><Relationship Id="rId5" Type="http://schemas.openxmlformats.org/officeDocument/2006/relationships/image" Target="../media/image160.svg"/><Relationship Id="rId4" Type="http://schemas.openxmlformats.org/officeDocument/2006/relationships/image" Target="../media/image159.png"/></Relationships>
</file>

<file path=ppt/slides/_rels/slide84.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84.xml"/><Relationship Id="rId1" Type="http://schemas.openxmlformats.org/officeDocument/2006/relationships/slideLayout" Target="../slideLayouts/slideLayout56.xml"/><Relationship Id="rId6" Type="http://schemas.openxmlformats.org/officeDocument/2006/relationships/image" Target="../media/image164.png"/><Relationship Id="rId5" Type="http://schemas.openxmlformats.org/officeDocument/2006/relationships/image" Target="../media/image163.png"/><Relationship Id="rId4" Type="http://schemas.openxmlformats.org/officeDocument/2006/relationships/image" Target="../media/image162.png"/></Relationships>
</file>

<file path=ppt/slides/_rels/slide85.xml.rels><?xml version="1.0" encoding="UTF-8" standalone="yes"?>
<Relationships xmlns="http://schemas.openxmlformats.org/package/2006/relationships"><Relationship Id="rId3" Type="http://schemas.openxmlformats.org/officeDocument/2006/relationships/image" Target="../media/image165.svg"/><Relationship Id="rId2" Type="http://schemas.openxmlformats.org/officeDocument/2006/relationships/notesSlide" Target="../notesSlides/notesSlide85.xml"/><Relationship Id="rId1" Type="http://schemas.openxmlformats.org/officeDocument/2006/relationships/slideLayout" Target="../slideLayouts/slideLayout40.xml"/></Relationships>
</file>

<file path=ppt/slides/_rels/slide86.xml.rels><?xml version="1.0" encoding="UTF-8" standalone="yes"?>
<Relationships xmlns="http://schemas.openxmlformats.org/package/2006/relationships"><Relationship Id="rId8" Type="http://schemas.openxmlformats.org/officeDocument/2006/relationships/image" Target="../media/image171.png"/><Relationship Id="rId3" Type="http://schemas.openxmlformats.org/officeDocument/2006/relationships/image" Target="../media/image166.png"/><Relationship Id="rId7" Type="http://schemas.openxmlformats.org/officeDocument/2006/relationships/image" Target="../media/image170.png"/><Relationship Id="rId2" Type="http://schemas.openxmlformats.org/officeDocument/2006/relationships/notesSlide" Target="../notesSlides/notesSlide86.xml"/><Relationship Id="rId1" Type="http://schemas.openxmlformats.org/officeDocument/2006/relationships/slideLayout" Target="../slideLayouts/slideLayout44.xml"/><Relationship Id="rId6" Type="http://schemas.openxmlformats.org/officeDocument/2006/relationships/image" Target="../media/image169.png"/><Relationship Id="rId11" Type="http://schemas.openxmlformats.org/officeDocument/2006/relationships/image" Target="../media/image174.png"/><Relationship Id="rId5" Type="http://schemas.openxmlformats.org/officeDocument/2006/relationships/image" Target="../media/image168.png"/><Relationship Id="rId10" Type="http://schemas.openxmlformats.org/officeDocument/2006/relationships/image" Target="../media/image173.png"/><Relationship Id="rId4" Type="http://schemas.openxmlformats.org/officeDocument/2006/relationships/image" Target="../media/image167.png"/><Relationship Id="rId9" Type="http://schemas.openxmlformats.org/officeDocument/2006/relationships/image" Target="../media/image172.png"/></Relationships>
</file>

<file path=ppt/slides/_rels/slide87.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87.xml"/><Relationship Id="rId1" Type="http://schemas.openxmlformats.org/officeDocument/2006/relationships/slideLayout" Target="../slideLayouts/slideLayout44.xml"/></Relationships>
</file>

<file path=ppt/slides/_rels/slide88.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88.xml"/><Relationship Id="rId1" Type="http://schemas.openxmlformats.org/officeDocument/2006/relationships/slideLayout" Target="../slideLayouts/slideLayout44.xml"/></Relationships>
</file>

<file path=ppt/slides/_rels/slide89.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notesSlide" Target="../notesSlides/notesSlide89.xml"/><Relationship Id="rId1" Type="http://schemas.openxmlformats.org/officeDocument/2006/relationships/slideLayout" Target="../slideLayouts/slideLayout44.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45.xml"/></Relationships>
</file>

<file path=ppt/slides/_rels/slide91.xml.rels><?xml version="1.0" encoding="UTF-8" standalone="yes"?>
<Relationships xmlns="http://schemas.openxmlformats.org/package/2006/relationships"><Relationship Id="rId8" Type="http://schemas.openxmlformats.org/officeDocument/2006/relationships/image" Target="../media/image183.png"/><Relationship Id="rId3" Type="http://schemas.openxmlformats.org/officeDocument/2006/relationships/image" Target="../media/image178.png"/><Relationship Id="rId7" Type="http://schemas.openxmlformats.org/officeDocument/2006/relationships/image" Target="../media/image182.png"/><Relationship Id="rId2" Type="http://schemas.openxmlformats.org/officeDocument/2006/relationships/notesSlide" Target="../notesSlides/notesSlide91.xml"/><Relationship Id="rId1" Type="http://schemas.openxmlformats.org/officeDocument/2006/relationships/slideLayout" Target="../slideLayouts/slideLayout44.xml"/><Relationship Id="rId6" Type="http://schemas.openxmlformats.org/officeDocument/2006/relationships/image" Target="../media/image181.png"/><Relationship Id="rId5" Type="http://schemas.openxmlformats.org/officeDocument/2006/relationships/image" Target="../media/image180.png"/><Relationship Id="rId4" Type="http://schemas.openxmlformats.org/officeDocument/2006/relationships/image" Target="../media/image179.png"/><Relationship Id="rId9" Type="http://schemas.openxmlformats.org/officeDocument/2006/relationships/image" Target="../media/image184.png"/></Relationships>
</file>

<file path=ppt/slides/_rels/slide92.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185.png"/><Relationship Id="rId7" Type="http://schemas.openxmlformats.org/officeDocument/2006/relationships/image" Target="../media/image189.png"/><Relationship Id="rId2" Type="http://schemas.openxmlformats.org/officeDocument/2006/relationships/notesSlide" Target="../notesSlides/notesSlide92.xml"/><Relationship Id="rId1" Type="http://schemas.openxmlformats.org/officeDocument/2006/relationships/slideLayout" Target="../slideLayouts/slideLayout44.xml"/><Relationship Id="rId6" Type="http://schemas.openxmlformats.org/officeDocument/2006/relationships/image" Target="../media/image188.png"/><Relationship Id="rId11" Type="http://schemas.openxmlformats.org/officeDocument/2006/relationships/image" Target="../media/image193.png"/><Relationship Id="rId5" Type="http://schemas.openxmlformats.org/officeDocument/2006/relationships/image" Target="../media/image187.png"/><Relationship Id="rId10" Type="http://schemas.openxmlformats.org/officeDocument/2006/relationships/image" Target="../media/image192.png"/><Relationship Id="rId4" Type="http://schemas.openxmlformats.org/officeDocument/2006/relationships/image" Target="../media/image186.png"/><Relationship Id="rId9" Type="http://schemas.openxmlformats.org/officeDocument/2006/relationships/image" Target="../media/image191.png"/></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4.xml"/></Relationships>
</file>

<file path=ppt/slides/_rels/slide94.xml.rels><?xml version="1.0" encoding="UTF-8" standalone="yes"?>
<Relationships xmlns="http://schemas.openxmlformats.org/package/2006/relationships"><Relationship Id="rId3" Type="http://schemas.openxmlformats.org/officeDocument/2006/relationships/image" Target="../media/image194.png"/><Relationship Id="rId7" Type="http://schemas.openxmlformats.org/officeDocument/2006/relationships/image" Target="../media/image198.png"/><Relationship Id="rId2" Type="http://schemas.openxmlformats.org/officeDocument/2006/relationships/notesSlide" Target="../notesSlides/notesSlide94.xml"/><Relationship Id="rId1" Type="http://schemas.openxmlformats.org/officeDocument/2006/relationships/slideLayout" Target="../slideLayouts/slideLayout44.xml"/><Relationship Id="rId6" Type="http://schemas.openxmlformats.org/officeDocument/2006/relationships/image" Target="../media/image197.png"/><Relationship Id="rId5" Type="http://schemas.openxmlformats.org/officeDocument/2006/relationships/image" Target="../media/image196.png"/><Relationship Id="rId4" Type="http://schemas.openxmlformats.org/officeDocument/2006/relationships/image" Target="../media/image195.png"/></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49.xml"/></Relationships>
</file>

<file path=ppt/slides/_rels/slide96.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notesSlide" Target="../notesSlides/notesSlide96.xml"/><Relationship Id="rId1" Type="http://schemas.openxmlformats.org/officeDocument/2006/relationships/slideLayout" Target="../slideLayouts/slideLayout57.xml"/></Relationships>
</file>

<file path=ppt/slides/_rels/slide97.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97.xml"/><Relationship Id="rId1" Type="http://schemas.openxmlformats.org/officeDocument/2006/relationships/slideLayout" Target="../slideLayouts/slideLayout49.xml"/></Relationships>
</file>

<file path=ppt/slides/_rels/slide98.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notesSlide" Target="../notesSlides/notesSlide98.xml"/><Relationship Id="rId1" Type="http://schemas.openxmlformats.org/officeDocument/2006/relationships/slideLayout" Target="../slideLayouts/slideLayout49.xml"/></Relationships>
</file>

<file path=ppt/slides/_rels/slide99.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99.xml"/><Relationship Id="rId1" Type="http://schemas.openxmlformats.org/officeDocument/2006/relationships/slideLayout" Target="../slideLayouts/slideLayout57.xml"/></Relationships>
</file>

<file path=ppt/slides/_rels/slide100.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100.xml"/><Relationship Id="rId1" Type="http://schemas.openxmlformats.org/officeDocument/2006/relationships/slideLayout" Target="../slideLayouts/slideLayout49.xml"/></Relationships>
</file>

<file path=ppt/slides/_rels/slide101.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101.xml"/><Relationship Id="rId1" Type="http://schemas.openxmlformats.org/officeDocument/2006/relationships/slideLayout" Target="../slideLayouts/slideLayout49.xml"/></Relationships>
</file>

<file path=ppt/slides/_rels/slide102.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102.xml"/><Relationship Id="rId1" Type="http://schemas.openxmlformats.org/officeDocument/2006/relationships/slideLayout" Target="../slideLayouts/slideLayout49.xml"/></Relationships>
</file>

<file path=ppt/slides/_rels/slide103.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103.xml"/><Relationship Id="rId1" Type="http://schemas.openxmlformats.org/officeDocument/2006/relationships/slideLayout" Target="../slideLayouts/slideLayout49.xml"/></Relationships>
</file>

<file path=ppt/slides/_rels/slide104.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104.xml"/><Relationship Id="rId1" Type="http://schemas.openxmlformats.org/officeDocument/2006/relationships/slideLayout" Target="../slideLayouts/slideLayout49.xml"/></Relationships>
</file>

<file path=ppt/slides/_rels/slide105.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notesSlide" Target="../notesSlides/notesSlide105.xml"/><Relationship Id="rId1" Type="http://schemas.openxmlformats.org/officeDocument/2006/relationships/slideLayout" Target="../slideLayouts/slideLayout49.xml"/><Relationship Id="rId4" Type="http://schemas.openxmlformats.org/officeDocument/2006/relationships/image" Target="../media/image209.png"/></Relationships>
</file>

<file path=ppt/slides/_rels/slide106.xml.rels><?xml version="1.0" encoding="UTF-8" standalone="yes"?>
<Relationships xmlns="http://schemas.openxmlformats.org/package/2006/relationships"><Relationship Id="rId8" Type="http://schemas.openxmlformats.org/officeDocument/2006/relationships/image" Target="../media/image214.png"/><Relationship Id="rId3" Type="http://schemas.openxmlformats.org/officeDocument/2006/relationships/image" Target="../media/image79.png"/><Relationship Id="rId7" Type="http://schemas.openxmlformats.org/officeDocument/2006/relationships/image" Target="../media/image213.png"/><Relationship Id="rId2" Type="http://schemas.openxmlformats.org/officeDocument/2006/relationships/notesSlide" Target="../notesSlides/notesSlide106.xml"/><Relationship Id="rId1" Type="http://schemas.openxmlformats.org/officeDocument/2006/relationships/slideLayout" Target="../slideLayouts/slideLayout40.xml"/><Relationship Id="rId6" Type="http://schemas.openxmlformats.org/officeDocument/2006/relationships/image" Target="../media/image212.png"/><Relationship Id="rId5" Type="http://schemas.openxmlformats.org/officeDocument/2006/relationships/image" Target="../media/image211.png"/><Relationship Id="rId4" Type="http://schemas.openxmlformats.org/officeDocument/2006/relationships/image" Target="../media/image210.png"/><Relationship Id="rId9" Type="http://schemas.openxmlformats.org/officeDocument/2006/relationships/image" Target="../media/image215.png"/></Relationships>
</file>

<file path=ppt/slides/_rels/slide107.xml.rels><?xml version="1.0" encoding="UTF-8" standalone="yes"?>
<Relationships xmlns="http://schemas.openxmlformats.org/package/2006/relationships"><Relationship Id="rId3" Type="http://schemas.openxmlformats.org/officeDocument/2006/relationships/image" Target="../media/image216.svg"/><Relationship Id="rId2" Type="http://schemas.openxmlformats.org/officeDocument/2006/relationships/notesSlide" Target="../notesSlides/notesSlide107.xml"/><Relationship Id="rId1" Type="http://schemas.openxmlformats.org/officeDocument/2006/relationships/slideLayout" Target="../slideLayouts/slideLayout14.xml"/><Relationship Id="rId5" Type="http://schemas.openxmlformats.org/officeDocument/2006/relationships/image" Target="../media/image218.svg"/><Relationship Id="rId4" Type="http://schemas.openxmlformats.org/officeDocument/2006/relationships/image" Target="../media/image217.sv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8" Type="http://schemas.openxmlformats.org/officeDocument/2006/relationships/image" Target="../media/image224.svg"/><Relationship Id="rId3" Type="http://schemas.openxmlformats.org/officeDocument/2006/relationships/image" Target="../media/image219.png"/><Relationship Id="rId7" Type="http://schemas.openxmlformats.org/officeDocument/2006/relationships/image" Target="../media/image223.png"/><Relationship Id="rId2" Type="http://schemas.openxmlformats.org/officeDocument/2006/relationships/notesSlide" Target="../notesSlides/notesSlide109.xml"/><Relationship Id="rId1" Type="http://schemas.openxmlformats.org/officeDocument/2006/relationships/slideLayout" Target="../slideLayouts/slideLayout14.xml"/><Relationship Id="rId6" Type="http://schemas.openxmlformats.org/officeDocument/2006/relationships/image" Target="../media/image222.png"/><Relationship Id="rId5" Type="http://schemas.openxmlformats.org/officeDocument/2006/relationships/image" Target="../media/image221.png"/><Relationship Id="rId4" Type="http://schemas.openxmlformats.org/officeDocument/2006/relationships/image" Target="../media/image220.png"/></Relationships>
</file>

<file path=ppt/slides/_rels/slide110.xml.rels><?xml version="1.0" encoding="UTF-8" standalone="yes"?>
<Relationships xmlns="http://schemas.openxmlformats.org/package/2006/relationships"><Relationship Id="rId3" Type="http://schemas.openxmlformats.org/officeDocument/2006/relationships/image" Target="../media/image224.svg"/><Relationship Id="rId2" Type="http://schemas.openxmlformats.org/officeDocument/2006/relationships/notesSlide" Target="../notesSlides/notesSlide110.xml"/><Relationship Id="rId1" Type="http://schemas.openxmlformats.org/officeDocument/2006/relationships/slideLayout" Target="../slideLayouts/slideLayout40.xml"/></Relationships>
</file>

<file path=ppt/slides/_rels/slide111.xml.rels><?xml version="1.0" encoding="UTF-8" standalone="yes"?>
<Relationships xmlns="http://schemas.openxmlformats.org/package/2006/relationships"><Relationship Id="rId8" Type="http://schemas.openxmlformats.org/officeDocument/2006/relationships/image" Target="../media/image230.png"/><Relationship Id="rId3" Type="http://schemas.openxmlformats.org/officeDocument/2006/relationships/image" Target="../media/image225.png"/><Relationship Id="rId7" Type="http://schemas.openxmlformats.org/officeDocument/2006/relationships/image" Target="../media/image229.png"/><Relationship Id="rId2" Type="http://schemas.openxmlformats.org/officeDocument/2006/relationships/notesSlide" Target="../notesSlides/notesSlide111.xml"/><Relationship Id="rId1" Type="http://schemas.openxmlformats.org/officeDocument/2006/relationships/slideLayout" Target="../slideLayouts/slideLayout14.xml"/><Relationship Id="rId6" Type="http://schemas.openxmlformats.org/officeDocument/2006/relationships/image" Target="../media/image228.png"/><Relationship Id="rId5" Type="http://schemas.openxmlformats.org/officeDocument/2006/relationships/image" Target="../media/image227.png"/><Relationship Id="rId4" Type="http://schemas.openxmlformats.org/officeDocument/2006/relationships/image" Target="../media/image226.png"/><Relationship Id="rId9" Type="http://schemas.openxmlformats.org/officeDocument/2006/relationships/image" Target="../media/image231.png"/></Relationships>
</file>

<file path=ppt/slides/_rels/slide112.xml.rels><?xml version="1.0" encoding="UTF-8" standalone="yes"?>
<Relationships xmlns="http://schemas.openxmlformats.org/package/2006/relationships"><Relationship Id="rId8" Type="http://schemas.openxmlformats.org/officeDocument/2006/relationships/image" Target="../media/image237.png"/><Relationship Id="rId13" Type="http://schemas.openxmlformats.org/officeDocument/2006/relationships/image" Target="../media/image242.png"/><Relationship Id="rId18" Type="http://schemas.openxmlformats.org/officeDocument/2006/relationships/image" Target="../media/image246.png"/><Relationship Id="rId3" Type="http://schemas.openxmlformats.org/officeDocument/2006/relationships/image" Target="../media/image232.png"/><Relationship Id="rId21" Type="http://schemas.openxmlformats.org/officeDocument/2006/relationships/image" Target="../media/image249.png"/><Relationship Id="rId7" Type="http://schemas.openxmlformats.org/officeDocument/2006/relationships/image" Target="../media/image236.png"/><Relationship Id="rId12" Type="http://schemas.openxmlformats.org/officeDocument/2006/relationships/image" Target="../media/image241.png"/><Relationship Id="rId17" Type="http://schemas.openxmlformats.org/officeDocument/2006/relationships/image" Target="../media/image245.png"/><Relationship Id="rId2" Type="http://schemas.openxmlformats.org/officeDocument/2006/relationships/notesSlide" Target="../notesSlides/notesSlide112.xml"/><Relationship Id="rId16" Type="http://schemas.openxmlformats.org/officeDocument/2006/relationships/image" Target="../media/image187.png"/><Relationship Id="rId20" Type="http://schemas.openxmlformats.org/officeDocument/2006/relationships/image" Target="../media/image248.png"/><Relationship Id="rId1" Type="http://schemas.openxmlformats.org/officeDocument/2006/relationships/slideLayout" Target="../slideLayouts/slideLayout15.xml"/><Relationship Id="rId6" Type="http://schemas.openxmlformats.org/officeDocument/2006/relationships/image" Target="../media/image235.png"/><Relationship Id="rId11" Type="http://schemas.openxmlformats.org/officeDocument/2006/relationships/image" Target="../media/image240.png"/><Relationship Id="rId5" Type="http://schemas.openxmlformats.org/officeDocument/2006/relationships/image" Target="../media/image234.png"/><Relationship Id="rId15" Type="http://schemas.openxmlformats.org/officeDocument/2006/relationships/image" Target="../media/image244.png"/><Relationship Id="rId23" Type="http://schemas.openxmlformats.org/officeDocument/2006/relationships/image" Target="../media/image251.png"/><Relationship Id="rId10" Type="http://schemas.openxmlformats.org/officeDocument/2006/relationships/image" Target="../media/image239.png"/><Relationship Id="rId19" Type="http://schemas.openxmlformats.org/officeDocument/2006/relationships/image" Target="../media/image247.png"/><Relationship Id="rId4" Type="http://schemas.openxmlformats.org/officeDocument/2006/relationships/image" Target="../media/image233.png"/><Relationship Id="rId9" Type="http://schemas.openxmlformats.org/officeDocument/2006/relationships/image" Target="../media/image238.png"/><Relationship Id="rId14" Type="http://schemas.openxmlformats.org/officeDocument/2006/relationships/image" Target="../media/image243.png"/><Relationship Id="rId22" Type="http://schemas.openxmlformats.org/officeDocument/2006/relationships/image" Target="../media/image250.png"/></Relationships>
</file>

<file path=ppt/slides/_rels/slide113.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notesSlide" Target="../notesSlides/notesSlide113.xml"/><Relationship Id="rId1" Type="http://schemas.openxmlformats.org/officeDocument/2006/relationships/slideLayout" Target="../slideLayouts/slideLayout24.xml"/></Relationships>
</file>

<file path=ppt/slides/_rels/slide114.xml.rels><?xml version="1.0" encoding="UTF-8" standalone="yes"?>
<Relationships xmlns="http://schemas.openxmlformats.org/package/2006/relationships"><Relationship Id="rId8" Type="http://schemas.openxmlformats.org/officeDocument/2006/relationships/image" Target="../media/image224.svg"/><Relationship Id="rId3" Type="http://schemas.openxmlformats.org/officeDocument/2006/relationships/image" Target="../media/image8.png"/><Relationship Id="rId7" Type="http://schemas.openxmlformats.org/officeDocument/2006/relationships/image" Target="../media/image256.svg"/><Relationship Id="rId2" Type="http://schemas.openxmlformats.org/officeDocument/2006/relationships/notesSlide" Target="../notesSlides/notesSlide114.xml"/><Relationship Id="rId1" Type="http://schemas.openxmlformats.org/officeDocument/2006/relationships/slideLayout" Target="../slideLayouts/slideLayout24.xml"/><Relationship Id="rId6" Type="http://schemas.openxmlformats.org/officeDocument/2006/relationships/image" Target="../media/image255.png"/><Relationship Id="rId5" Type="http://schemas.openxmlformats.org/officeDocument/2006/relationships/image" Target="../media/image254.png"/><Relationship Id="rId4" Type="http://schemas.openxmlformats.org/officeDocument/2006/relationships/image" Target="../media/image253.png"/></Relationships>
</file>

<file path=ppt/slides/_rels/slide115.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notesSlide" Target="../notesSlides/notesSlide115.xml"/><Relationship Id="rId1" Type="http://schemas.openxmlformats.org/officeDocument/2006/relationships/slideLayout" Target="../slideLayouts/slideLayout17.xml"/><Relationship Id="rId5" Type="http://schemas.openxmlformats.org/officeDocument/2006/relationships/image" Target="../media/image185.png"/><Relationship Id="rId4" Type="http://schemas.openxmlformats.org/officeDocument/2006/relationships/image" Target="../media/image258.png"/></Relationships>
</file>

<file path=ppt/slides/_rels/slide116.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notesSlide" Target="../notesSlides/notesSlide116.xml"/><Relationship Id="rId1" Type="http://schemas.openxmlformats.org/officeDocument/2006/relationships/slideLayout" Target="../slideLayouts/slideLayout17.xml"/><Relationship Id="rId4" Type="http://schemas.openxmlformats.org/officeDocument/2006/relationships/image" Target="../media/image258.png"/></Relationships>
</file>

<file path=ppt/slides/_rels/slide117.xml.rels><?xml version="1.0" encoding="UTF-8" standalone="yes"?>
<Relationships xmlns="http://schemas.openxmlformats.org/package/2006/relationships"><Relationship Id="rId8" Type="http://schemas.openxmlformats.org/officeDocument/2006/relationships/image" Target="../media/image262.svg"/><Relationship Id="rId3" Type="http://schemas.openxmlformats.org/officeDocument/2006/relationships/image" Target="../media/image8.png"/><Relationship Id="rId7" Type="http://schemas.openxmlformats.org/officeDocument/2006/relationships/image" Target="../media/image261.png"/><Relationship Id="rId2" Type="http://schemas.openxmlformats.org/officeDocument/2006/relationships/notesSlide" Target="../notesSlides/notesSlide117.xml"/><Relationship Id="rId1" Type="http://schemas.openxmlformats.org/officeDocument/2006/relationships/slideLayout" Target="../slideLayouts/slideLayout22.xml"/><Relationship Id="rId6" Type="http://schemas.openxmlformats.org/officeDocument/2006/relationships/image" Target="../media/image260.png"/><Relationship Id="rId5" Type="http://schemas.openxmlformats.org/officeDocument/2006/relationships/image" Target="../media/image259.png"/><Relationship Id="rId4" Type="http://schemas.openxmlformats.org/officeDocument/2006/relationships/image" Target="../media/image223.png"/></Relationships>
</file>

<file path=ppt/slides/_rels/slide118.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265.png"/><Relationship Id="rId2" Type="http://schemas.openxmlformats.org/officeDocument/2006/relationships/notesSlide" Target="../notesSlides/notesSlide118.xml"/><Relationship Id="rId1" Type="http://schemas.openxmlformats.org/officeDocument/2006/relationships/slideLayout" Target="../slideLayouts/slideLayout24.xml"/><Relationship Id="rId6" Type="http://schemas.openxmlformats.org/officeDocument/2006/relationships/image" Target="../media/image264.png"/><Relationship Id="rId5" Type="http://schemas.openxmlformats.org/officeDocument/2006/relationships/image" Target="../media/image263.png"/><Relationship Id="rId4" Type="http://schemas.openxmlformats.org/officeDocument/2006/relationships/image" Target="../media/image223.png"/></Relationships>
</file>

<file path=ppt/slides/_rels/slide119.xml.rels><?xml version="1.0" encoding="UTF-8" standalone="yes"?>
<Relationships xmlns="http://schemas.openxmlformats.org/package/2006/relationships"><Relationship Id="rId8" Type="http://schemas.openxmlformats.org/officeDocument/2006/relationships/image" Target="../media/image270.png"/><Relationship Id="rId3" Type="http://schemas.openxmlformats.org/officeDocument/2006/relationships/image" Target="../media/image79.png"/><Relationship Id="rId7" Type="http://schemas.openxmlformats.org/officeDocument/2006/relationships/image" Target="../media/image269.png"/><Relationship Id="rId12" Type="http://schemas.openxmlformats.org/officeDocument/2006/relationships/image" Target="../media/image274.png"/><Relationship Id="rId2" Type="http://schemas.openxmlformats.org/officeDocument/2006/relationships/notesSlide" Target="../notesSlides/notesSlide119.xml"/><Relationship Id="rId1" Type="http://schemas.openxmlformats.org/officeDocument/2006/relationships/slideLayout" Target="../slideLayouts/slideLayout58.xml"/><Relationship Id="rId6" Type="http://schemas.openxmlformats.org/officeDocument/2006/relationships/image" Target="../media/image268.png"/><Relationship Id="rId11" Type="http://schemas.openxmlformats.org/officeDocument/2006/relationships/image" Target="../media/image273.png"/><Relationship Id="rId5" Type="http://schemas.openxmlformats.org/officeDocument/2006/relationships/image" Target="../media/image267.png"/><Relationship Id="rId10" Type="http://schemas.openxmlformats.org/officeDocument/2006/relationships/image" Target="../media/image272.png"/><Relationship Id="rId4" Type="http://schemas.openxmlformats.org/officeDocument/2006/relationships/image" Target="../media/image266.png"/><Relationship Id="rId9" Type="http://schemas.openxmlformats.org/officeDocument/2006/relationships/image" Target="../media/image271.png"/></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45.xml"/></Relationships>
</file>

<file path=ppt/slides/_rels/slide121.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121.xml"/><Relationship Id="rId1" Type="http://schemas.openxmlformats.org/officeDocument/2006/relationships/slideLayout" Target="../slideLayouts/slideLayout40.xml"/><Relationship Id="rId4" Type="http://schemas.openxmlformats.org/officeDocument/2006/relationships/image" Target="../media/image276.png"/></Relationships>
</file>

<file path=ppt/slides/_rels/slide122.xml.rels><?xml version="1.0" encoding="UTF-8" standalone="yes"?>
<Relationships xmlns="http://schemas.openxmlformats.org/package/2006/relationships"><Relationship Id="rId8" Type="http://schemas.openxmlformats.org/officeDocument/2006/relationships/image" Target="../media/image281.png"/><Relationship Id="rId3" Type="http://schemas.openxmlformats.org/officeDocument/2006/relationships/image" Target="../media/image79.png"/><Relationship Id="rId7" Type="http://schemas.openxmlformats.org/officeDocument/2006/relationships/image" Target="../media/image280.png"/><Relationship Id="rId12" Type="http://schemas.openxmlformats.org/officeDocument/2006/relationships/image" Target="../media/image285.png"/><Relationship Id="rId2" Type="http://schemas.openxmlformats.org/officeDocument/2006/relationships/notesSlide" Target="../notesSlides/notesSlide122.xml"/><Relationship Id="rId1" Type="http://schemas.openxmlformats.org/officeDocument/2006/relationships/slideLayout" Target="../slideLayouts/slideLayout58.xml"/><Relationship Id="rId6" Type="http://schemas.openxmlformats.org/officeDocument/2006/relationships/image" Target="../media/image279.png"/><Relationship Id="rId11" Type="http://schemas.openxmlformats.org/officeDocument/2006/relationships/image" Target="../media/image284.png"/><Relationship Id="rId5" Type="http://schemas.openxmlformats.org/officeDocument/2006/relationships/image" Target="../media/image278.png"/><Relationship Id="rId10" Type="http://schemas.openxmlformats.org/officeDocument/2006/relationships/image" Target="../media/image283.png"/><Relationship Id="rId4" Type="http://schemas.openxmlformats.org/officeDocument/2006/relationships/image" Target="../media/image277.png"/><Relationship Id="rId9" Type="http://schemas.openxmlformats.org/officeDocument/2006/relationships/image" Target="../media/image282.png"/></Relationships>
</file>

<file path=ppt/slides/_rels/slide123.xml.rels><?xml version="1.0" encoding="UTF-8" standalone="yes"?>
<Relationships xmlns="http://schemas.openxmlformats.org/package/2006/relationships"><Relationship Id="rId8" Type="http://schemas.openxmlformats.org/officeDocument/2006/relationships/image" Target="../media/image290.png"/><Relationship Id="rId3" Type="http://schemas.openxmlformats.org/officeDocument/2006/relationships/image" Target="../media/image276.png"/><Relationship Id="rId7" Type="http://schemas.openxmlformats.org/officeDocument/2006/relationships/image" Target="../media/image289.png"/><Relationship Id="rId2" Type="http://schemas.openxmlformats.org/officeDocument/2006/relationships/notesSlide" Target="../notesSlides/notesSlide123.xml"/><Relationship Id="rId1" Type="http://schemas.openxmlformats.org/officeDocument/2006/relationships/slideLayout" Target="../slideLayouts/slideLayout47.xml"/><Relationship Id="rId6" Type="http://schemas.openxmlformats.org/officeDocument/2006/relationships/image" Target="../media/image288.png"/><Relationship Id="rId5" Type="http://schemas.openxmlformats.org/officeDocument/2006/relationships/image" Target="../media/image287.png"/><Relationship Id="rId4" Type="http://schemas.openxmlformats.org/officeDocument/2006/relationships/image" Target="../media/image286.png"/></Relationships>
</file>

<file path=ppt/slides/_rels/slide124.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notesSlide" Target="../notesSlides/notesSlide124.xml"/><Relationship Id="rId1" Type="http://schemas.openxmlformats.org/officeDocument/2006/relationships/slideLayout" Target="../slideLayouts/slideLayout49.xml"/><Relationship Id="rId4" Type="http://schemas.openxmlformats.org/officeDocument/2006/relationships/image" Target="../media/image292.png"/></Relationships>
</file>

<file path=ppt/slides/_rels/slide125.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notesSlide" Target="../notesSlides/notesSlide125.xml"/><Relationship Id="rId1" Type="http://schemas.openxmlformats.org/officeDocument/2006/relationships/slideLayout" Target="../slideLayouts/slideLayout44.xml"/></Relationships>
</file>

<file path=ppt/slides/_rels/slide126.xml.rels><?xml version="1.0" encoding="UTF-8" standalone="yes"?>
<Relationships xmlns="http://schemas.openxmlformats.org/package/2006/relationships"><Relationship Id="rId3" Type="http://schemas.openxmlformats.org/officeDocument/2006/relationships/image" Target="../media/image294.png"/><Relationship Id="rId7" Type="http://schemas.openxmlformats.org/officeDocument/2006/relationships/image" Target="../media/image286.png"/><Relationship Id="rId2" Type="http://schemas.openxmlformats.org/officeDocument/2006/relationships/notesSlide" Target="../notesSlides/notesSlide126.xml"/><Relationship Id="rId1" Type="http://schemas.openxmlformats.org/officeDocument/2006/relationships/slideLayout" Target="../slideLayouts/slideLayout44.xml"/><Relationship Id="rId6" Type="http://schemas.openxmlformats.org/officeDocument/2006/relationships/image" Target="../media/image296.png"/><Relationship Id="rId5" Type="http://schemas.openxmlformats.org/officeDocument/2006/relationships/image" Target="../media/image287.png"/><Relationship Id="rId4" Type="http://schemas.openxmlformats.org/officeDocument/2006/relationships/image" Target="../media/image295.png"/></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59.xml"/></Relationships>
</file>

<file path=ppt/slides/_rels/slide128.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128.xml"/><Relationship Id="rId1" Type="http://schemas.openxmlformats.org/officeDocument/2006/relationships/slideLayout" Target="../slideLayouts/slideLayout60.xml"/></Relationships>
</file>

<file path=ppt/slides/_rels/slide129.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129.xml"/><Relationship Id="rId1" Type="http://schemas.openxmlformats.org/officeDocument/2006/relationships/slideLayout" Target="../slideLayouts/slideLayout61.xml"/><Relationship Id="rId4" Type="http://schemas.openxmlformats.org/officeDocument/2006/relationships/image" Target="../media/image299.png"/></Relationships>
</file>

<file path=ppt/slides/_rels/slide130.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130.xml"/><Relationship Id="rId1" Type="http://schemas.openxmlformats.org/officeDocument/2006/relationships/slideLayout" Target="../slideLayouts/slideLayout60.xml"/></Relationships>
</file>

<file path=ppt/slides/_rels/slide131.xml.rels><?xml version="1.0" encoding="UTF-8" standalone="yes"?>
<Relationships xmlns="http://schemas.openxmlformats.org/package/2006/relationships"><Relationship Id="rId3" Type="http://schemas.openxmlformats.org/officeDocument/2006/relationships/image" Target="../media/image301.png"/><Relationship Id="rId2" Type="http://schemas.openxmlformats.org/officeDocument/2006/relationships/notesSlide" Target="../notesSlides/notesSlide131.xml"/><Relationship Id="rId1" Type="http://schemas.openxmlformats.org/officeDocument/2006/relationships/slideLayout" Target="../slideLayouts/slideLayout60.xml"/><Relationship Id="rId5" Type="http://schemas.openxmlformats.org/officeDocument/2006/relationships/image" Target="../media/image303.png"/><Relationship Id="rId4" Type="http://schemas.openxmlformats.org/officeDocument/2006/relationships/image" Target="../media/image302.png"/></Relationships>
</file>

<file path=ppt/slides/_rels/slide132.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notesSlide" Target="../notesSlides/notesSlide132.xml"/><Relationship Id="rId1" Type="http://schemas.openxmlformats.org/officeDocument/2006/relationships/slideLayout" Target="../slideLayouts/slideLayout40.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45.xml"/></Relationships>
</file>

<file path=ppt/slides/_rels/slide134.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134.xml"/><Relationship Id="rId1" Type="http://schemas.openxmlformats.org/officeDocument/2006/relationships/slideLayout" Target="../slideLayouts/slideLayout14.xml"/><Relationship Id="rId5" Type="http://schemas.openxmlformats.org/officeDocument/2006/relationships/image" Target="../media/image307.png"/><Relationship Id="rId4" Type="http://schemas.openxmlformats.org/officeDocument/2006/relationships/image" Target="../media/image306.png"/></Relationships>
</file>

<file path=ppt/slides/_rels/slide135.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8.png"/><Relationship Id="rId7" Type="http://schemas.openxmlformats.org/officeDocument/2006/relationships/image" Target="../media/image312.png"/><Relationship Id="rId2" Type="http://schemas.openxmlformats.org/officeDocument/2006/relationships/notesSlide" Target="../notesSlides/notesSlide135.xml"/><Relationship Id="rId1" Type="http://schemas.openxmlformats.org/officeDocument/2006/relationships/slideLayout" Target="../slideLayouts/slideLayout24.xml"/><Relationship Id="rId6" Type="http://schemas.openxmlformats.org/officeDocument/2006/relationships/image" Target="../media/image311.png"/><Relationship Id="rId5" Type="http://schemas.openxmlformats.org/officeDocument/2006/relationships/image" Target="../media/image310.png"/><Relationship Id="rId10" Type="http://schemas.openxmlformats.org/officeDocument/2006/relationships/image" Target="../media/image315.gif"/><Relationship Id="rId4" Type="http://schemas.openxmlformats.org/officeDocument/2006/relationships/image" Target="../media/image309.png"/><Relationship Id="rId9" Type="http://schemas.openxmlformats.org/officeDocument/2006/relationships/image" Target="../media/image314.svg"/></Relationships>
</file>

<file path=ppt/slides/_rels/slide136.xml.rels><?xml version="1.0" encoding="UTF-8" standalone="yes"?>
<Relationships xmlns="http://schemas.openxmlformats.org/package/2006/relationships"><Relationship Id="rId3" Type="http://schemas.openxmlformats.org/officeDocument/2006/relationships/image" Target="../media/image316.png"/><Relationship Id="rId2" Type="http://schemas.openxmlformats.org/officeDocument/2006/relationships/notesSlide" Target="../notesSlides/notesSlide136.xml"/><Relationship Id="rId1" Type="http://schemas.openxmlformats.org/officeDocument/2006/relationships/slideLayout" Target="../slideLayouts/slideLayout24.xml"/></Relationships>
</file>

<file path=ppt/slides/_rels/slide137.xml.rels><?xml version="1.0" encoding="UTF-8" standalone="yes"?>
<Relationships xmlns="http://schemas.openxmlformats.org/package/2006/relationships"><Relationship Id="rId3" Type="http://schemas.openxmlformats.org/officeDocument/2006/relationships/image" Target="../media/image317.png"/><Relationship Id="rId2" Type="http://schemas.openxmlformats.org/officeDocument/2006/relationships/notesSlide" Target="../notesSlides/notesSlide137.xml"/><Relationship Id="rId1" Type="http://schemas.openxmlformats.org/officeDocument/2006/relationships/slideLayout" Target="../slideLayouts/slideLayout6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5.xml"/></Relationships>
</file>

<file path=ppt/slides/_rels/slide139.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notesSlide" Target="../notesSlides/notesSlide139.xml"/><Relationship Id="rId1" Type="http://schemas.openxmlformats.org/officeDocument/2006/relationships/slideLayout" Target="../slideLayouts/slideLayout62.xml"/></Relationships>
</file>

<file path=ppt/slides/_rels/slide140.xml.rels><?xml version="1.0" encoding="UTF-8" standalone="yes"?>
<Relationships xmlns="http://schemas.openxmlformats.org/package/2006/relationships"><Relationship Id="rId8" Type="http://schemas.openxmlformats.org/officeDocument/2006/relationships/image" Target="../media/image324.svg"/><Relationship Id="rId3" Type="http://schemas.openxmlformats.org/officeDocument/2006/relationships/image" Target="../media/image319.svg"/><Relationship Id="rId7" Type="http://schemas.openxmlformats.org/officeDocument/2006/relationships/image" Target="../media/image323.svg"/><Relationship Id="rId12" Type="http://schemas.openxmlformats.org/officeDocument/2006/relationships/image" Target="../media/image328.svg"/><Relationship Id="rId2" Type="http://schemas.openxmlformats.org/officeDocument/2006/relationships/notesSlide" Target="../notesSlides/notesSlide140.xml"/><Relationship Id="rId1" Type="http://schemas.openxmlformats.org/officeDocument/2006/relationships/slideLayout" Target="../slideLayouts/slideLayout14.xml"/><Relationship Id="rId6" Type="http://schemas.openxmlformats.org/officeDocument/2006/relationships/image" Target="../media/image322.svg"/><Relationship Id="rId11" Type="http://schemas.openxmlformats.org/officeDocument/2006/relationships/image" Target="../media/image327.svg"/><Relationship Id="rId5" Type="http://schemas.openxmlformats.org/officeDocument/2006/relationships/image" Target="../media/image321.svg"/><Relationship Id="rId10" Type="http://schemas.openxmlformats.org/officeDocument/2006/relationships/image" Target="../media/image326.svg"/><Relationship Id="rId4" Type="http://schemas.openxmlformats.org/officeDocument/2006/relationships/image" Target="../media/image320.svg"/><Relationship Id="rId9" Type="http://schemas.openxmlformats.org/officeDocument/2006/relationships/image" Target="../media/image325.svg"/></Relationships>
</file>

<file path=ppt/slides/_rels/slide141.xml.rels><?xml version="1.0" encoding="UTF-8" standalone="yes"?>
<Relationships xmlns="http://schemas.openxmlformats.org/package/2006/relationships"><Relationship Id="rId3" Type="http://schemas.openxmlformats.org/officeDocument/2006/relationships/image" Target="../media/image329.svg"/><Relationship Id="rId2" Type="http://schemas.openxmlformats.org/officeDocument/2006/relationships/notesSlide" Target="../notesSlides/notesSlide141.xml"/><Relationship Id="rId1" Type="http://schemas.openxmlformats.org/officeDocument/2006/relationships/slideLayout" Target="../slideLayouts/slideLayout6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45.xml"/></Relationships>
</file>

<file path=ppt/slides/_rels/slide143.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notesSlide" Target="../notesSlides/notesSlide143.xml"/><Relationship Id="rId1" Type="http://schemas.openxmlformats.org/officeDocument/2006/relationships/slideLayout" Target="../slideLayouts/slideLayout44.xml"/></Relationships>
</file>

<file path=ppt/slides/_rels/slide144.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notesSlide" Target="../notesSlides/notesSlide144.xml"/><Relationship Id="rId1" Type="http://schemas.openxmlformats.org/officeDocument/2006/relationships/slideLayout" Target="../slideLayouts/slideLayout40.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64.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64.xml"/></Relationships>
</file>

<file path=ppt/slides/_rels/slide147.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147.xml"/><Relationship Id="rId1" Type="http://schemas.openxmlformats.org/officeDocument/2006/relationships/slideLayout" Target="../slideLayouts/slideLayout49.xml"/></Relationships>
</file>

<file path=ppt/slides/_rels/slide148.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notesSlide" Target="../notesSlides/notesSlide148.xml"/><Relationship Id="rId1" Type="http://schemas.openxmlformats.org/officeDocument/2006/relationships/slideLayout" Target="../slideLayouts/slideLayout49.xml"/></Relationships>
</file>

<file path=ppt/slides/_rels/slide149.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notesSlide" Target="../notesSlides/notesSlide149.xml"/><Relationship Id="rId1" Type="http://schemas.openxmlformats.org/officeDocument/2006/relationships/slideLayout" Target="../slideLayouts/slideLayout49.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4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FE2FCC-B833-2F39-3396-7958C2D83CA5}"/>
              </a:ext>
            </a:extLst>
          </p:cNvPr>
          <p:cNvSpPr>
            <a:spLocks noGrp="1"/>
          </p:cNvSpPr>
          <p:nvPr>
            <p:ph type="title"/>
          </p:nvPr>
        </p:nvSpPr>
        <p:spPr/>
        <p:txBody>
          <a:bodyPr/>
          <a:lstStyle/>
          <a:p>
            <a:r>
              <a:rPr lang="en-US" dirty="0"/>
              <a:t>VMware Cloud Foundation</a:t>
            </a:r>
          </a:p>
        </p:txBody>
      </p:sp>
      <p:sp>
        <p:nvSpPr>
          <p:cNvPr id="3" name="Subtitle 2">
            <a:extLst>
              <a:ext uri="{FF2B5EF4-FFF2-40B4-BE49-F238E27FC236}">
                <a16:creationId xmlns:a16="http://schemas.microsoft.com/office/drawing/2014/main" id="{58D5B6AB-811C-F4AD-B368-CFD2BF52E585}"/>
              </a:ext>
            </a:extLst>
          </p:cNvPr>
          <p:cNvSpPr>
            <a:spLocks noGrp="1"/>
          </p:cNvSpPr>
          <p:nvPr>
            <p:ph type="subTitle" idx="10"/>
          </p:nvPr>
        </p:nvSpPr>
        <p:spPr/>
        <p:txBody>
          <a:bodyPr/>
          <a:lstStyle/>
          <a:p>
            <a:r>
              <a:rPr lang="en-US" dirty="0"/>
              <a:t>Technical Overview</a:t>
            </a:r>
          </a:p>
        </p:txBody>
      </p:sp>
      <p:sp>
        <p:nvSpPr>
          <p:cNvPr id="6" name="Oval 5">
            <a:extLst>
              <a:ext uri="{FF2B5EF4-FFF2-40B4-BE49-F238E27FC236}">
                <a16:creationId xmlns:a16="http://schemas.microsoft.com/office/drawing/2014/main" id="{53804FA2-C911-0836-017F-48D2C0DDCAC0}"/>
              </a:ext>
            </a:extLst>
          </p:cNvPr>
          <p:cNvSpPr>
            <a:spLocks noChangeAspect="1"/>
          </p:cNvSpPr>
          <p:nvPr/>
        </p:nvSpPr>
        <p:spPr bwMode="gray">
          <a:xfrm>
            <a:off x="1945691" y="1618131"/>
            <a:ext cx="3621737" cy="3621737"/>
          </a:xfrm>
          <a:prstGeom prst="ellipse">
            <a:avLst/>
          </a:prstGeom>
          <a:solidFill>
            <a:schemeClr val="bg1"/>
          </a:solidFill>
          <a:ln w="60325">
            <a:gradFill>
              <a:gsLst>
                <a:gs pos="0">
                  <a:schemeClr val="accent5"/>
                </a:gs>
                <a:gs pos="74000">
                  <a:schemeClr val="accent3"/>
                </a:gs>
                <a:gs pos="83000">
                  <a:schemeClr val="accent3"/>
                </a:gs>
                <a:gs pos="100000">
                  <a:schemeClr val="accent2"/>
                </a:gs>
              </a:gsLst>
              <a:lin ang="5400000" scaled="1"/>
            </a:gra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solidFill>
                <a:schemeClr val="tx1">
                  <a:lumMod val="50000"/>
                </a:schemeClr>
              </a:solidFill>
            </a:endParaRPr>
          </a:p>
        </p:txBody>
      </p:sp>
      <p:pic>
        <p:nvPicPr>
          <p:cNvPr id="8" name="Graphic 7">
            <a:extLst>
              <a:ext uri="{FF2B5EF4-FFF2-40B4-BE49-F238E27FC236}">
                <a16:creationId xmlns:a16="http://schemas.microsoft.com/office/drawing/2014/main" id="{E3C3C92D-1628-377D-8110-567FB0CE9CA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567840" y="2214230"/>
            <a:ext cx="2377440" cy="2377440"/>
          </a:xfrm>
          <a:prstGeom prst="rect">
            <a:avLst/>
          </a:prstGeom>
        </p:spPr>
      </p:pic>
      <p:sp>
        <p:nvSpPr>
          <p:cNvPr id="10" name="Text Placeholder 9">
            <a:extLst>
              <a:ext uri="{FF2B5EF4-FFF2-40B4-BE49-F238E27FC236}">
                <a16:creationId xmlns:a16="http://schemas.microsoft.com/office/drawing/2014/main" id="{657B6334-8CC7-E0F8-E9DB-1E2A81455009}"/>
              </a:ext>
            </a:extLst>
          </p:cNvPr>
          <p:cNvSpPr>
            <a:spLocks noGrp="1"/>
          </p:cNvSpPr>
          <p:nvPr>
            <p:ph type="body" sz="quarter" idx="11"/>
          </p:nvPr>
        </p:nvSpPr>
        <p:spPr/>
        <p:txBody>
          <a:bodyPr/>
          <a:lstStyle/>
          <a:p>
            <a:endParaRPr lang="en-US" dirty="0"/>
          </a:p>
        </p:txBody>
      </p:sp>
      <p:sp>
        <p:nvSpPr>
          <p:cNvPr id="12" name="Text Placeholder 11">
            <a:extLst>
              <a:ext uri="{FF2B5EF4-FFF2-40B4-BE49-F238E27FC236}">
                <a16:creationId xmlns:a16="http://schemas.microsoft.com/office/drawing/2014/main" id="{1451D28D-7AFD-0C60-B94E-2E6EAF023DEC}"/>
              </a:ext>
            </a:extLst>
          </p:cNvPr>
          <p:cNvSpPr>
            <a:spLocks noGrp="1"/>
          </p:cNvSpPr>
          <p:nvPr>
            <p:ph type="body" sz="quarter" idx="12"/>
          </p:nvPr>
        </p:nvSpPr>
        <p:spPr/>
        <p:txBody>
          <a:bodyPr/>
          <a:lstStyle/>
          <a:p>
            <a:endParaRPr lang="en-US" dirty="0"/>
          </a:p>
        </p:txBody>
      </p:sp>
    </p:spTree>
    <p:extLst>
      <p:ext uri="{BB962C8B-B14F-4D97-AF65-F5344CB8AC3E}">
        <p14:creationId xmlns:p14="http://schemas.microsoft.com/office/powerpoint/2010/main" val="2559831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992"/>
        <p:cNvGrpSpPr/>
        <p:nvPr/>
      </p:nvGrpSpPr>
      <p:grpSpPr>
        <a:xfrm>
          <a:off x="0" y="0"/>
          <a:ext cx="0" cy="0"/>
          <a:chOff x="0" y="0"/>
          <a:chExt cx="0" cy="0"/>
        </a:xfrm>
      </p:grpSpPr>
      <p:sp>
        <p:nvSpPr>
          <p:cNvPr id="100" name="Google Shape;8864;p45">
            <a:extLst>
              <a:ext uri="{FF2B5EF4-FFF2-40B4-BE49-F238E27FC236}">
                <a16:creationId xmlns:a16="http://schemas.microsoft.com/office/drawing/2014/main" id="{43D2EBBE-A1C6-9D54-2CAC-8D1FBA5F896D}"/>
              </a:ext>
            </a:extLst>
          </p:cNvPr>
          <p:cNvSpPr/>
          <p:nvPr/>
        </p:nvSpPr>
        <p:spPr>
          <a:xfrm>
            <a:off x="177768" y="2831024"/>
            <a:ext cx="2517395" cy="775381"/>
          </a:xfrm>
          <a:prstGeom prst="rect">
            <a:avLst/>
          </a:prstGeom>
          <a:solidFill>
            <a:srgbClr val="F4F8FA">
              <a:alpha val="39074"/>
            </a:srgbClr>
          </a:solidFill>
          <a:ln>
            <a:noFill/>
          </a:ln>
        </p:spPr>
        <p:txBody>
          <a:bodyPr spcFirstLastPara="1" wrap="square" lIns="91378" tIns="45676" rIns="91378" bIns="45676" anchor="ctr" anchorCtr="0">
            <a:noAutofit/>
          </a:bodyPr>
          <a:lstStyle/>
          <a:p>
            <a:pPr algn="ctr" defTabSz="1218529"/>
            <a:endParaRPr sz="1200" dirty="0">
              <a:solidFill>
                <a:srgbClr val="FFFFFF"/>
              </a:solidFill>
              <a:latin typeface="Arial" panose="020B0604020202020204"/>
            </a:endParaRPr>
          </a:p>
        </p:txBody>
      </p:sp>
      <p:grpSp>
        <p:nvGrpSpPr>
          <p:cNvPr id="131" name="Group 130">
            <a:extLst>
              <a:ext uri="{FF2B5EF4-FFF2-40B4-BE49-F238E27FC236}">
                <a16:creationId xmlns:a16="http://schemas.microsoft.com/office/drawing/2014/main" id="{15A1D1CB-89E4-B42F-8E45-9DB9B0BC5944}"/>
              </a:ext>
            </a:extLst>
          </p:cNvPr>
          <p:cNvGrpSpPr/>
          <p:nvPr/>
        </p:nvGrpSpPr>
        <p:grpSpPr>
          <a:xfrm>
            <a:off x="1589" y="3041309"/>
            <a:ext cx="2538528" cy="775384"/>
            <a:chOff x="1" y="1817532"/>
            <a:chExt cx="1904888" cy="581841"/>
          </a:xfrm>
        </p:grpSpPr>
        <p:sp>
          <p:nvSpPr>
            <p:cNvPr id="25" name="Google Shape;926;g3015cfa3cac_0_4068">
              <a:extLst>
                <a:ext uri="{FF2B5EF4-FFF2-40B4-BE49-F238E27FC236}">
                  <a16:creationId xmlns:a16="http://schemas.microsoft.com/office/drawing/2014/main" id="{B3EA672C-C4DE-2186-660A-731351D6DF90}"/>
                </a:ext>
              </a:extLst>
            </p:cNvPr>
            <p:cNvSpPr/>
            <p:nvPr/>
          </p:nvSpPr>
          <p:spPr>
            <a:xfrm>
              <a:off x="178565" y="1817532"/>
              <a:ext cx="1726324" cy="581840"/>
            </a:xfrm>
            <a:prstGeom prst="homePlate">
              <a:avLst>
                <a:gd name="adj" fmla="val 50000"/>
              </a:avLst>
            </a:prstGeom>
            <a:solidFill>
              <a:schemeClr val="accent5">
                <a:alpha val="25000"/>
              </a:schemeClr>
            </a:solidFill>
            <a:ln w="9525" cap="flat" cmpd="sng">
              <a:noFill/>
              <a:prstDash val="solid"/>
              <a:round/>
              <a:headEnd type="none" w="sm" len="sm"/>
              <a:tailEnd type="none" w="sm" len="sm"/>
            </a:ln>
          </p:spPr>
          <p:txBody>
            <a:bodyPr spcFirstLastPara="1" wrap="square" lIns="365570" tIns="0" rIns="121803" bIns="60901" anchor="ctr" anchorCtr="0">
              <a:noAutofit/>
            </a:bodyPr>
            <a:lstStyle/>
            <a:p>
              <a:pPr defTabSz="1218529">
                <a:buSzPts val="900"/>
              </a:pPr>
              <a:endParaRPr sz="7996" dirty="0">
                <a:solidFill>
                  <a:srgbClr val="FFFFFF"/>
                </a:solidFill>
                <a:latin typeface="Arial" panose="020B0604020202020204"/>
              </a:endParaRPr>
            </a:p>
          </p:txBody>
        </p:sp>
        <p:sp>
          <p:nvSpPr>
            <p:cNvPr id="33" name="Google Shape;926;g3015cfa3cac_0_4068">
              <a:extLst>
                <a:ext uri="{FF2B5EF4-FFF2-40B4-BE49-F238E27FC236}">
                  <a16:creationId xmlns:a16="http://schemas.microsoft.com/office/drawing/2014/main" id="{BC3F48AA-29FB-4DD2-8473-C00833A2C05F}"/>
                </a:ext>
              </a:extLst>
            </p:cNvPr>
            <p:cNvSpPr/>
            <p:nvPr/>
          </p:nvSpPr>
          <p:spPr>
            <a:xfrm>
              <a:off x="1" y="1817533"/>
              <a:ext cx="1726324" cy="581840"/>
            </a:xfrm>
            <a:prstGeom prst="homePlate">
              <a:avLst>
                <a:gd name="adj" fmla="val 50000"/>
              </a:avLst>
            </a:prstGeom>
            <a:gradFill>
              <a:gsLst>
                <a:gs pos="0">
                  <a:schemeClr val="accent2"/>
                </a:gs>
                <a:gs pos="100000">
                  <a:schemeClr val="accent5"/>
                </a:gs>
              </a:gsLst>
              <a:lin ang="0" scaled="1"/>
            </a:gradFill>
            <a:ln w="9525" cap="flat" cmpd="sng">
              <a:noFill/>
              <a:prstDash val="solid"/>
              <a:round/>
              <a:headEnd type="none" w="sm" len="sm"/>
              <a:tailEnd type="none" w="sm" len="sm"/>
            </a:ln>
          </p:spPr>
          <p:txBody>
            <a:bodyPr spcFirstLastPara="1" wrap="square" lIns="365570" tIns="0" rIns="121803" bIns="121856" anchor="ctr" anchorCtr="0">
              <a:noAutofit/>
            </a:bodyPr>
            <a:lstStyle/>
            <a:p>
              <a:pPr defTabSz="1218529">
                <a:buSzPts val="900"/>
              </a:pPr>
              <a:r>
                <a:rPr lang="en-US" sz="3332" dirty="0">
                  <a:solidFill>
                    <a:srgbClr val="FFFFFF"/>
                  </a:solidFill>
                  <a:latin typeface="Arial" panose="020B0604020202020204"/>
                </a:rPr>
                <a:t>Agenda</a:t>
              </a:r>
              <a:endParaRPr sz="3332" dirty="0">
                <a:solidFill>
                  <a:srgbClr val="FFFFFF"/>
                </a:solidFill>
                <a:latin typeface="Arial" panose="020B0604020202020204"/>
              </a:endParaRPr>
            </a:p>
          </p:txBody>
        </p:sp>
      </p:grpSp>
      <p:grpSp>
        <p:nvGrpSpPr>
          <p:cNvPr id="5" name="Group 4">
            <a:extLst>
              <a:ext uri="{FF2B5EF4-FFF2-40B4-BE49-F238E27FC236}">
                <a16:creationId xmlns:a16="http://schemas.microsoft.com/office/drawing/2014/main" id="{A88EB7B6-74F8-7F8D-0EC8-8782C2824315}"/>
              </a:ext>
            </a:extLst>
          </p:cNvPr>
          <p:cNvGrpSpPr/>
          <p:nvPr/>
        </p:nvGrpSpPr>
        <p:grpSpPr>
          <a:xfrm>
            <a:off x="3492861" y="2089325"/>
            <a:ext cx="8694375" cy="2679349"/>
            <a:chOff x="3492184" y="476709"/>
            <a:chExt cx="8696640" cy="2680047"/>
          </a:xfrm>
        </p:grpSpPr>
        <p:grpSp>
          <p:nvGrpSpPr>
            <p:cNvPr id="7" name="Group 6">
              <a:extLst>
                <a:ext uri="{FF2B5EF4-FFF2-40B4-BE49-F238E27FC236}">
                  <a16:creationId xmlns:a16="http://schemas.microsoft.com/office/drawing/2014/main" id="{1A77A649-C021-C231-4703-8CB4AB90A06C}"/>
                </a:ext>
              </a:extLst>
            </p:cNvPr>
            <p:cNvGrpSpPr/>
            <p:nvPr/>
          </p:nvGrpSpPr>
          <p:grpSpPr>
            <a:xfrm>
              <a:off x="3492184" y="476709"/>
              <a:ext cx="8696640" cy="476861"/>
              <a:chOff x="2728063" y="472316"/>
              <a:chExt cx="6524179" cy="357739"/>
            </a:xfrm>
          </p:grpSpPr>
          <p:sp>
            <p:nvSpPr>
              <p:cNvPr id="32" name="Rounded Rectangle 31">
                <a:extLst>
                  <a:ext uri="{FF2B5EF4-FFF2-40B4-BE49-F238E27FC236}">
                    <a16:creationId xmlns:a16="http://schemas.microsoft.com/office/drawing/2014/main" id="{69BC7240-C6A7-336D-2569-4EB84B2A6300}"/>
                  </a:ext>
                </a:extLst>
              </p:cNvPr>
              <p:cNvSpPr/>
              <p:nvPr/>
            </p:nvSpPr>
            <p:spPr>
              <a:xfrm>
                <a:off x="2906301" y="473569"/>
                <a:ext cx="6345941" cy="356486"/>
              </a:xfrm>
              <a:prstGeom prst="roundRect">
                <a:avLst>
                  <a:gd name="adj" fmla="val 0"/>
                </a:avLst>
              </a:prstGeom>
              <a:solidFill>
                <a:schemeClr val="accent5">
                  <a:lumMod val="75000"/>
                  <a:alpha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5570" tIns="182784" rIns="182784" rtlCol="0" anchor="ctr"/>
              <a:lstStyle/>
              <a:p>
                <a:pPr defTabSz="1218529"/>
                <a:br>
                  <a:rPr lang="en-US" sz="1600" dirty="0">
                    <a:solidFill>
                      <a:srgbClr val="FFFFFF"/>
                    </a:solidFill>
                    <a:latin typeface="Arial"/>
                  </a:rPr>
                </a:br>
                <a:endParaRPr lang="en-US" sz="1050" dirty="0">
                  <a:solidFill>
                    <a:srgbClr val="FFFFFF"/>
                  </a:solidFill>
                  <a:latin typeface="Arial"/>
                </a:endParaRPr>
              </a:p>
            </p:txBody>
          </p:sp>
          <p:grpSp>
            <p:nvGrpSpPr>
              <p:cNvPr id="4" name="Group 3">
                <a:extLst>
                  <a:ext uri="{FF2B5EF4-FFF2-40B4-BE49-F238E27FC236}">
                    <a16:creationId xmlns:a16="http://schemas.microsoft.com/office/drawing/2014/main" id="{C762B973-1177-DFD3-9259-14F25F160566}"/>
                  </a:ext>
                </a:extLst>
              </p:cNvPr>
              <p:cNvGrpSpPr/>
              <p:nvPr/>
            </p:nvGrpSpPr>
            <p:grpSpPr>
              <a:xfrm>
                <a:off x="2728063" y="472316"/>
                <a:ext cx="675921" cy="356486"/>
                <a:chOff x="2950906" y="957906"/>
                <a:chExt cx="945927" cy="480496"/>
              </a:xfrm>
            </p:grpSpPr>
            <p:sp>
              <p:nvSpPr>
                <p:cNvPr id="2" name="Google Shape;926;g3015cfa3cac_0_4068">
                  <a:extLst>
                    <a:ext uri="{FF2B5EF4-FFF2-40B4-BE49-F238E27FC236}">
                      <a16:creationId xmlns:a16="http://schemas.microsoft.com/office/drawing/2014/main" id="{04EDDDEA-9829-9DBC-CDD3-151C177BD2FC}"/>
                    </a:ext>
                  </a:extLst>
                </p:cNvPr>
                <p:cNvSpPr/>
                <p:nvPr/>
              </p:nvSpPr>
              <p:spPr>
                <a:xfrm>
                  <a:off x="3084829" y="957906"/>
                  <a:ext cx="812004" cy="480496"/>
                </a:xfrm>
                <a:prstGeom prst="homePlate">
                  <a:avLst>
                    <a:gd name="adj" fmla="val 50000"/>
                  </a:avLst>
                </a:prstGeom>
                <a:solidFill>
                  <a:schemeClr val="accent5">
                    <a:alpha val="10000"/>
                  </a:schemeClr>
                </a:solidFill>
                <a:ln w="9525" cap="flat" cmpd="sng">
                  <a:noFill/>
                  <a:prstDash val="solid"/>
                  <a:round/>
                  <a:headEnd type="none" w="sm" len="sm"/>
                  <a:tailEnd type="none" w="sm" len="sm"/>
                </a:ln>
              </p:spPr>
              <p:txBody>
                <a:bodyPr spcFirstLastPara="1" wrap="square" lIns="274178" tIns="0" rIns="91352" bIns="45676" anchor="ctr" anchorCtr="0">
                  <a:noAutofit/>
                </a:bodyPr>
                <a:lstStyle/>
                <a:p>
                  <a:pPr defTabSz="1218529">
                    <a:buSzPts val="900"/>
                  </a:pPr>
                  <a:endParaRPr sz="5997" dirty="0">
                    <a:solidFill>
                      <a:srgbClr val="FFFFFF"/>
                    </a:solidFill>
                    <a:latin typeface="Arial" panose="020B0604020202020204"/>
                  </a:endParaRPr>
                </a:p>
              </p:txBody>
            </p:sp>
            <p:sp>
              <p:nvSpPr>
                <p:cNvPr id="3" name="Google Shape;926;g3015cfa3cac_0_4068">
                  <a:extLst>
                    <a:ext uri="{FF2B5EF4-FFF2-40B4-BE49-F238E27FC236}">
                      <a16:creationId xmlns:a16="http://schemas.microsoft.com/office/drawing/2014/main" id="{55897293-40D9-ED6D-46B5-E0E005FB42CA}"/>
                    </a:ext>
                  </a:extLst>
                </p:cNvPr>
                <p:cNvSpPr/>
                <p:nvPr/>
              </p:nvSpPr>
              <p:spPr>
                <a:xfrm>
                  <a:off x="2950906" y="957906"/>
                  <a:ext cx="812004" cy="480496"/>
                </a:xfrm>
                <a:prstGeom prst="homePlate">
                  <a:avLst>
                    <a:gd name="adj" fmla="val 50000"/>
                  </a:avLst>
                </a:prstGeom>
                <a:solidFill>
                  <a:schemeClr val="accent5"/>
                </a:solidFill>
                <a:ln w="9525" cap="flat" cmpd="sng">
                  <a:noFill/>
                  <a:prstDash val="solid"/>
                  <a:round/>
                  <a:headEnd type="none" w="sm" len="sm"/>
                  <a:tailEnd type="none" w="sm" len="sm"/>
                </a:ln>
              </p:spPr>
              <p:txBody>
                <a:bodyPr spcFirstLastPara="1" wrap="square" lIns="274178" tIns="0" rIns="91352" bIns="91392" anchor="ctr" anchorCtr="0">
                  <a:noAutofit/>
                </a:bodyPr>
                <a:lstStyle/>
                <a:p>
                  <a:pPr defTabSz="1218529">
                    <a:buSzPts val="900"/>
                  </a:pPr>
                  <a:r>
                    <a:rPr lang="en-US" sz="1333" dirty="0">
                      <a:solidFill>
                        <a:srgbClr val="FFFFFF"/>
                      </a:solidFill>
                      <a:latin typeface="Arial" panose="020B0604020202020204"/>
                    </a:rPr>
                    <a:t>01</a:t>
                  </a:r>
                  <a:endParaRPr sz="1333" dirty="0">
                    <a:solidFill>
                      <a:srgbClr val="FFFFFF"/>
                    </a:solidFill>
                    <a:latin typeface="Arial" panose="020B0604020202020204"/>
                  </a:endParaRPr>
                </a:p>
              </p:txBody>
            </p:sp>
          </p:grpSp>
          <p:sp>
            <p:nvSpPr>
              <p:cNvPr id="6" name="TextBox 5">
                <a:extLst>
                  <a:ext uri="{FF2B5EF4-FFF2-40B4-BE49-F238E27FC236}">
                    <a16:creationId xmlns:a16="http://schemas.microsoft.com/office/drawing/2014/main" id="{2715ADF7-6DFA-1CC6-6C50-9CAC1373D5F2}"/>
                  </a:ext>
                </a:extLst>
              </p:cNvPr>
              <p:cNvSpPr txBox="1"/>
              <p:nvPr/>
            </p:nvSpPr>
            <p:spPr>
              <a:xfrm>
                <a:off x="3403984" y="527448"/>
                <a:ext cx="4572000" cy="253982"/>
              </a:xfrm>
              <a:prstGeom prst="rect">
                <a:avLst/>
              </a:prstGeom>
              <a:noFill/>
            </p:spPr>
            <p:txBody>
              <a:bodyPr wrap="square">
                <a:spAutoFit/>
              </a:bodyPr>
              <a:lstStyle/>
              <a:p>
                <a:pPr defTabSz="1218529">
                  <a:spcBef>
                    <a:spcPts val="1865"/>
                  </a:spcBef>
                </a:pPr>
                <a:r>
                  <a:rPr lang="en-US" sz="1600" dirty="0">
                    <a:solidFill>
                      <a:srgbClr val="000000"/>
                    </a:solidFill>
                    <a:latin typeface="Arial" panose="020B0604020202020204" pitchFamily="34" charset="0"/>
                  </a:rPr>
                  <a:t>Introducing VMware Cloud Foundation Use Cases</a:t>
                </a:r>
                <a:endParaRPr lang="en-US" sz="1600" dirty="0">
                  <a:solidFill>
                    <a:srgbClr val="000000"/>
                  </a:solidFill>
                  <a:latin typeface="Arial" panose="020B0604020202020204"/>
                </a:endParaRPr>
              </a:p>
            </p:txBody>
          </p:sp>
        </p:grpSp>
        <p:grpSp>
          <p:nvGrpSpPr>
            <p:cNvPr id="35" name="Group 34">
              <a:extLst>
                <a:ext uri="{FF2B5EF4-FFF2-40B4-BE49-F238E27FC236}">
                  <a16:creationId xmlns:a16="http://schemas.microsoft.com/office/drawing/2014/main" id="{065DEB1B-34D0-9D93-A1D2-CB39AB36A7B3}"/>
                </a:ext>
              </a:extLst>
            </p:cNvPr>
            <p:cNvGrpSpPr/>
            <p:nvPr/>
          </p:nvGrpSpPr>
          <p:grpSpPr>
            <a:xfrm>
              <a:off x="3492184" y="1211105"/>
              <a:ext cx="8696640" cy="476861"/>
              <a:chOff x="2728063" y="472316"/>
              <a:chExt cx="6524179" cy="357739"/>
            </a:xfrm>
          </p:grpSpPr>
          <p:sp>
            <p:nvSpPr>
              <p:cNvPr id="36" name="Rounded Rectangle 35">
                <a:extLst>
                  <a:ext uri="{FF2B5EF4-FFF2-40B4-BE49-F238E27FC236}">
                    <a16:creationId xmlns:a16="http://schemas.microsoft.com/office/drawing/2014/main" id="{FB6A370B-DBC4-65DC-28A2-9A9C1A5AFF72}"/>
                  </a:ext>
                </a:extLst>
              </p:cNvPr>
              <p:cNvSpPr/>
              <p:nvPr/>
            </p:nvSpPr>
            <p:spPr>
              <a:xfrm>
                <a:off x="2906301" y="473569"/>
                <a:ext cx="6345941" cy="356486"/>
              </a:xfrm>
              <a:prstGeom prst="roundRect">
                <a:avLst>
                  <a:gd name="adj" fmla="val 0"/>
                </a:avLst>
              </a:prstGeom>
              <a:solidFill>
                <a:schemeClr val="accent5">
                  <a:lumMod val="75000"/>
                  <a:alpha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5570" tIns="182784" rIns="182784" rtlCol="0" anchor="ctr"/>
              <a:lstStyle/>
              <a:p>
                <a:pPr defTabSz="1218529"/>
                <a:br>
                  <a:rPr lang="en-US" sz="1600" dirty="0">
                    <a:solidFill>
                      <a:srgbClr val="FFFFFF"/>
                    </a:solidFill>
                    <a:latin typeface="Arial"/>
                  </a:rPr>
                </a:br>
                <a:endParaRPr lang="en-US" sz="1050" dirty="0">
                  <a:solidFill>
                    <a:srgbClr val="FFFFFF"/>
                  </a:solidFill>
                  <a:latin typeface="Arial"/>
                </a:endParaRPr>
              </a:p>
            </p:txBody>
          </p:sp>
          <p:grpSp>
            <p:nvGrpSpPr>
              <p:cNvPr id="40" name="Group 39">
                <a:extLst>
                  <a:ext uri="{FF2B5EF4-FFF2-40B4-BE49-F238E27FC236}">
                    <a16:creationId xmlns:a16="http://schemas.microsoft.com/office/drawing/2014/main" id="{6C42B5A1-ECFA-561A-38F8-40958DF08E36}"/>
                  </a:ext>
                </a:extLst>
              </p:cNvPr>
              <p:cNvGrpSpPr/>
              <p:nvPr/>
            </p:nvGrpSpPr>
            <p:grpSpPr>
              <a:xfrm>
                <a:off x="2728063" y="472316"/>
                <a:ext cx="675921" cy="356486"/>
                <a:chOff x="2950906" y="957906"/>
                <a:chExt cx="945927" cy="480496"/>
              </a:xfrm>
            </p:grpSpPr>
            <p:sp>
              <p:nvSpPr>
                <p:cNvPr id="44" name="Google Shape;926;g3015cfa3cac_0_4068">
                  <a:extLst>
                    <a:ext uri="{FF2B5EF4-FFF2-40B4-BE49-F238E27FC236}">
                      <a16:creationId xmlns:a16="http://schemas.microsoft.com/office/drawing/2014/main" id="{105FC085-F6C7-8E32-C8D4-5ED11807D1DA}"/>
                    </a:ext>
                  </a:extLst>
                </p:cNvPr>
                <p:cNvSpPr/>
                <p:nvPr/>
              </p:nvSpPr>
              <p:spPr>
                <a:xfrm>
                  <a:off x="3084829" y="957906"/>
                  <a:ext cx="812004" cy="480496"/>
                </a:xfrm>
                <a:prstGeom prst="homePlate">
                  <a:avLst>
                    <a:gd name="adj" fmla="val 50000"/>
                  </a:avLst>
                </a:prstGeom>
                <a:solidFill>
                  <a:schemeClr val="accent5">
                    <a:alpha val="10000"/>
                  </a:schemeClr>
                </a:solidFill>
                <a:ln w="9525" cap="flat" cmpd="sng">
                  <a:noFill/>
                  <a:prstDash val="solid"/>
                  <a:round/>
                  <a:headEnd type="none" w="sm" len="sm"/>
                  <a:tailEnd type="none" w="sm" len="sm"/>
                </a:ln>
              </p:spPr>
              <p:txBody>
                <a:bodyPr spcFirstLastPara="1" wrap="square" lIns="274178" tIns="0" rIns="91352" bIns="45676" anchor="ctr" anchorCtr="0">
                  <a:noAutofit/>
                </a:bodyPr>
                <a:lstStyle/>
                <a:p>
                  <a:pPr defTabSz="1218529">
                    <a:buSzPts val="900"/>
                  </a:pPr>
                  <a:endParaRPr sz="5997" dirty="0">
                    <a:solidFill>
                      <a:srgbClr val="FFFFFF"/>
                    </a:solidFill>
                    <a:latin typeface="Arial" panose="020B0604020202020204"/>
                  </a:endParaRPr>
                </a:p>
              </p:txBody>
            </p:sp>
            <p:sp>
              <p:nvSpPr>
                <p:cNvPr id="47" name="Google Shape;926;g3015cfa3cac_0_4068">
                  <a:extLst>
                    <a:ext uri="{FF2B5EF4-FFF2-40B4-BE49-F238E27FC236}">
                      <a16:creationId xmlns:a16="http://schemas.microsoft.com/office/drawing/2014/main" id="{242B2A83-1A59-5A56-0919-D69519D772FE}"/>
                    </a:ext>
                  </a:extLst>
                </p:cNvPr>
                <p:cNvSpPr/>
                <p:nvPr/>
              </p:nvSpPr>
              <p:spPr>
                <a:xfrm>
                  <a:off x="2950906" y="957906"/>
                  <a:ext cx="812004" cy="480496"/>
                </a:xfrm>
                <a:prstGeom prst="homePlate">
                  <a:avLst>
                    <a:gd name="adj" fmla="val 50000"/>
                  </a:avLst>
                </a:prstGeom>
                <a:solidFill>
                  <a:schemeClr val="accent5"/>
                </a:solidFill>
                <a:ln w="9525" cap="flat" cmpd="sng">
                  <a:noFill/>
                  <a:prstDash val="solid"/>
                  <a:round/>
                  <a:headEnd type="none" w="sm" len="sm"/>
                  <a:tailEnd type="none" w="sm" len="sm"/>
                </a:ln>
              </p:spPr>
              <p:txBody>
                <a:bodyPr spcFirstLastPara="1" wrap="square" lIns="274178" tIns="0" rIns="91352" bIns="91392" anchor="ctr" anchorCtr="0">
                  <a:noAutofit/>
                </a:bodyPr>
                <a:lstStyle/>
                <a:p>
                  <a:pPr defTabSz="1218529">
                    <a:buSzPts val="900"/>
                  </a:pPr>
                  <a:r>
                    <a:rPr lang="en-US" sz="1333" dirty="0">
                      <a:solidFill>
                        <a:srgbClr val="FFFFFF"/>
                      </a:solidFill>
                      <a:latin typeface="Arial" panose="020B0604020202020204"/>
                    </a:rPr>
                    <a:t>02</a:t>
                  </a:r>
                  <a:endParaRPr sz="1333" dirty="0">
                    <a:solidFill>
                      <a:srgbClr val="FFFFFF"/>
                    </a:solidFill>
                    <a:latin typeface="Arial" panose="020B0604020202020204"/>
                  </a:endParaRPr>
                </a:p>
              </p:txBody>
            </p:sp>
          </p:grpSp>
          <p:sp>
            <p:nvSpPr>
              <p:cNvPr id="41" name="TextBox 40">
                <a:extLst>
                  <a:ext uri="{FF2B5EF4-FFF2-40B4-BE49-F238E27FC236}">
                    <a16:creationId xmlns:a16="http://schemas.microsoft.com/office/drawing/2014/main" id="{14D9FB2C-2CC1-7EDC-7F14-43A52BB19DD9}"/>
                  </a:ext>
                </a:extLst>
              </p:cNvPr>
              <p:cNvSpPr txBox="1"/>
              <p:nvPr/>
            </p:nvSpPr>
            <p:spPr>
              <a:xfrm>
                <a:off x="3403984" y="527448"/>
                <a:ext cx="4572000" cy="253982"/>
              </a:xfrm>
              <a:prstGeom prst="rect">
                <a:avLst/>
              </a:prstGeom>
              <a:noFill/>
            </p:spPr>
            <p:txBody>
              <a:bodyPr wrap="square">
                <a:spAutoFit/>
              </a:bodyPr>
              <a:lstStyle/>
              <a:p>
                <a:pPr defTabSz="1218529"/>
                <a:r>
                  <a:rPr lang="en-US" sz="1600" dirty="0">
                    <a:solidFill>
                      <a:srgbClr val="000000"/>
                    </a:solidFill>
                    <a:latin typeface="Arial" panose="020B0604020202020204" pitchFamily="34" charset="0"/>
                  </a:rPr>
                  <a:t>Infrastructure Modernization</a:t>
                </a:r>
              </a:p>
            </p:txBody>
          </p:sp>
        </p:grpSp>
        <p:grpSp>
          <p:nvGrpSpPr>
            <p:cNvPr id="74" name="Group 73">
              <a:extLst>
                <a:ext uri="{FF2B5EF4-FFF2-40B4-BE49-F238E27FC236}">
                  <a16:creationId xmlns:a16="http://schemas.microsoft.com/office/drawing/2014/main" id="{4CA2A5A9-4FDD-F047-E827-9507E92BD432}"/>
                </a:ext>
              </a:extLst>
            </p:cNvPr>
            <p:cNvGrpSpPr/>
            <p:nvPr/>
          </p:nvGrpSpPr>
          <p:grpSpPr>
            <a:xfrm>
              <a:off x="3492184" y="1945500"/>
              <a:ext cx="8696640" cy="476861"/>
              <a:chOff x="2728063" y="472316"/>
              <a:chExt cx="6524179" cy="357739"/>
            </a:xfrm>
          </p:grpSpPr>
          <p:sp>
            <p:nvSpPr>
              <p:cNvPr id="75" name="Rounded Rectangle 74">
                <a:extLst>
                  <a:ext uri="{FF2B5EF4-FFF2-40B4-BE49-F238E27FC236}">
                    <a16:creationId xmlns:a16="http://schemas.microsoft.com/office/drawing/2014/main" id="{FD1AF2A7-A7DF-A489-9549-B60DF05BDC21}"/>
                  </a:ext>
                </a:extLst>
              </p:cNvPr>
              <p:cNvSpPr/>
              <p:nvPr/>
            </p:nvSpPr>
            <p:spPr>
              <a:xfrm>
                <a:off x="2906301" y="473569"/>
                <a:ext cx="6345941" cy="356486"/>
              </a:xfrm>
              <a:prstGeom prst="roundRect">
                <a:avLst>
                  <a:gd name="adj" fmla="val 0"/>
                </a:avLst>
              </a:prstGeom>
              <a:solidFill>
                <a:schemeClr val="accent5">
                  <a:lumMod val="75000"/>
                  <a:alpha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5570" tIns="182784" rIns="182784" rtlCol="0" anchor="ctr"/>
              <a:lstStyle/>
              <a:p>
                <a:pPr defTabSz="1218529"/>
                <a:br>
                  <a:rPr lang="en-US" sz="1600" dirty="0">
                    <a:solidFill>
                      <a:srgbClr val="FFFFFF"/>
                    </a:solidFill>
                    <a:latin typeface="Arial"/>
                  </a:rPr>
                </a:br>
                <a:endParaRPr lang="en-US" sz="1050" dirty="0">
                  <a:solidFill>
                    <a:srgbClr val="FFFFFF"/>
                  </a:solidFill>
                  <a:latin typeface="Arial"/>
                </a:endParaRPr>
              </a:p>
            </p:txBody>
          </p:sp>
          <p:grpSp>
            <p:nvGrpSpPr>
              <p:cNvPr id="76" name="Group 75">
                <a:extLst>
                  <a:ext uri="{FF2B5EF4-FFF2-40B4-BE49-F238E27FC236}">
                    <a16:creationId xmlns:a16="http://schemas.microsoft.com/office/drawing/2014/main" id="{5DA0E9A1-9F59-7B90-AF3D-EA04796F1789}"/>
                  </a:ext>
                </a:extLst>
              </p:cNvPr>
              <p:cNvGrpSpPr/>
              <p:nvPr/>
            </p:nvGrpSpPr>
            <p:grpSpPr>
              <a:xfrm>
                <a:off x="2728063" y="472316"/>
                <a:ext cx="675921" cy="356486"/>
                <a:chOff x="2950906" y="957906"/>
                <a:chExt cx="945927" cy="480496"/>
              </a:xfrm>
            </p:grpSpPr>
            <p:sp>
              <p:nvSpPr>
                <p:cNvPr id="78" name="Google Shape;926;g3015cfa3cac_0_4068">
                  <a:extLst>
                    <a:ext uri="{FF2B5EF4-FFF2-40B4-BE49-F238E27FC236}">
                      <a16:creationId xmlns:a16="http://schemas.microsoft.com/office/drawing/2014/main" id="{381088C7-4C6D-E459-E9CB-13C5F4BB28C5}"/>
                    </a:ext>
                  </a:extLst>
                </p:cNvPr>
                <p:cNvSpPr/>
                <p:nvPr/>
              </p:nvSpPr>
              <p:spPr>
                <a:xfrm>
                  <a:off x="3084829" y="957906"/>
                  <a:ext cx="812004" cy="480496"/>
                </a:xfrm>
                <a:prstGeom prst="homePlate">
                  <a:avLst>
                    <a:gd name="adj" fmla="val 50000"/>
                  </a:avLst>
                </a:prstGeom>
                <a:solidFill>
                  <a:schemeClr val="accent5">
                    <a:alpha val="10000"/>
                  </a:schemeClr>
                </a:solidFill>
                <a:ln w="9525" cap="flat" cmpd="sng">
                  <a:noFill/>
                  <a:prstDash val="solid"/>
                  <a:round/>
                  <a:headEnd type="none" w="sm" len="sm"/>
                  <a:tailEnd type="none" w="sm" len="sm"/>
                </a:ln>
              </p:spPr>
              <p:txBody>
                <a:bodyPr spcFirstLastPara="1" wrap="square" lIns="274178" tIns="0" rIns="91352" bIns="45676" anchor="ctr" anchorCtr="0">
                  <a:noAutofit/>
                </a:bodyPr>
                <a:lstStyle/>
                <a:p>
                  <a:pPr defTabSz="1218529">
                    <a:buSzPts val="900"/>
                  </a:pPr>
                  <a:endParaRPr sz="5997" dirty="0">
                    <a:solidFill>
                      <a:srgbClr val="FFFFFF"/>
                    </a:solidFill>
                    <a:latin typeface="Arial" panose="020B0604020202020204"/>
                  </a:endParaRPr>
                </a:p>
              </p:txBody>
            </p:sp>
            <p:sp>
              <p:nvSpPr>
                <p:cNvPr id="79" name="Google Shape;926;g3015cfa3cac_0_4068">
                  <a:extLst>
                    <a:ext uri="{FF2B5EF4-FFF2-40B4-BE49-F238E27FC236}">
                      <a16:creationId xmlns:a16="http://schemas.microsoft.com/office/drawing/2014/main" id="{CB6D2045-ADB0-0DCC-F2EC-AE0883CE1446}"/>
                    </a:ext>
                  </a:extLst>
                </p:cNvPr>
                <p:cNvSpPr/>
                <p:nvPr/>
              </p:nvSpPr>
              <p:spPr>
                <a:xfrm>
                  <a:off x="2950906" y="957906"/>
                  <a:ext cx="812004" cy="480496"/>
                </a:xfrm>
                <a:prstGeom prst="homePlate">
                  <a:avLst>
                    <a:gd name="adj" fmla="val 50000"/>
                  </a:avLst>
                </a:prstGeom>
                <a:solidFill>
                  <a:schemeClr val="accent5"/>
                </a:solidFill>
                <a:ln w="9525" cap="flat" cmpd="sng">
                  <a:noFill/>
                  <a:prstDash val="solid"/>
                  <a:round/>
                  <a:headEnd type="none" w="sm" len="sm"/>
                  <a:tailEnd type="none" w="sm" len="sm"/>
                </a:ln>
              </p:spPr>
              <p:txBody>
                <a:bodyPr spcFirstLastPara="1" wrap="square" lIns="274178" tIns="0" rIns="91352" bIns="91392" anchor="ctr" anchorCtr="0">
                  <a:noAutofit/>
                </a:bodyPr>
                <a:lstStyle/>
                <a:p>
                  <a:pPr defTabSz="1218529">
                    <a:buSzPts val="900"/>
                  </a:pPr>
                  <a:r>
                    <a:rPr lang="en-US" sz="1333" dirty="0">
                      <a:solidFill>
                        <a:srgbClr val="FFFFFF"/>
                      </a:solidFill>
                      <a:latin typeface="Arial" panose="020B0604020202020204"/>
                    </a:rPr>
                    <a:t>03</a:t>
                  </a:r>
                  <a:endParaRPr sz="1333" dirty="0">
                    <a:solidFill>
                      <a:srgbClr val="FFFFFF"/>
                    </a:solidFill>
                    <a:latin typeface="Arial" panose="020B0604020202020204"/>
                  </a:endParaRPr>
                </a:p>
              </p:txBody>
            </p:sp>
          </p:grpSp>
          <p:sp>
            <p:nvSpPr>
              <p:cNvPr id="77" name="TextBox 76">
                <a:extLst>
                  <a:ext uri="{FF2B5EF4-FFF2-40B4-BE49-F238E27FC236}">
                    <a16:creationId xmlns:a16="http://schemas.microsoft.com/office/drawing/2014/main" id="{30B75809-0670-DD5F-5D72-EA90ECC7AA66}"/>
                  </a:ext>
                </a:extLst>
              </p:cNvPr>
              <p:cNvSpPr txBox="1"/>
              <p:nvPr/>
            </p:nvSpPr>
            <p:spPr>
              <a:xfrm>
                <a:off x="3403984" y="527448"/>
                <a:ext cx="4572000" cy="253982"/>
              </a:xfrm>
              <a:prstGeom prst="rect">
                <a:avLst/>
              </a:prstGeom>
              <a:noFill/>
            </p:spPr>
            <p:txBody>
              <a:bodyPr wrap="square">
                <a:spAutoFit/>
              </a:bodyPr>
              <a:lstStyle/>
              <a:p>
                <a:pPr defTabSz="1218529">
                  <a:spcBef>
                    <a:spcPts val="1865"/>
                  </a:spcBef>
                </a:pPr>
                <a:r>
                  <a:rPr lang="en-US" sz="1600" dirty="0">
                    <a:solidFill>
                      <a:srgbClr val="000000"/>
                    </a:solidFill>
                    <a:latin typeface="Arial" panose="020B0604020202020204" pitchFamily="34" charset="0"/>
                  </a:rPr>
                  <a:t>Application Modernization</a:t>
                </a:r>
                <a:endParaRPr lang="en-US" sz="1600" dirty="0">
                  <a:solidFill>
                    <a:srgbClr val="000000"/>
                  </a:solidFill>
                  <a:latin typeface="Arial" panose="020B0604020202020204"/>
                </a:endParaRPr>
              </a:p>
            </p:txBody>
          </p:sp>
        </p:grpSp>
        <p:grpSp>
          <p:nvGrpSpPr>
            <p:cNvPr id="86" name="Group 85">
              <a:extLst>
                <a:ext uri="{FF2B5EF4-FFF2-40B4-BE49-F238E27FC236}">
                  <a16:creationId xmlns:a16="http://schemas.microsoft.com/office/drawing/2014/main" id="{5C1E27E0-F8DA-B89B-1802-D8344C0300B5}"/>
                </a:ext>
              </a:extLst>
            </p:cNvPr>
            <p:cNvGrpSpPr/>
            <p:nvPr/>
          </p:nvGrpSpPr>
          <p:grpSpPr>
            <a:xfrm>
              <a:off x="3492184" y="2679895"/>
              <a:ext cx="8696640" cy="476861"/>
              <a:chOff x="2728063" y="472316"/>
              <a:chExt cx="6524179" cy="357739"/>
            </a:xfrm>
          </p:grpSpPr>
          <p:sp>
            <p:nvSpPr>
              <p:cNvPr id="87" name="Rounded Rectangle 86">
                <a:extLst>
                  <a:ext uri="{FF2B5EF4-FFF2-40B4-BE49-F238E27FC236}">
                    <a16:creationId xmlns:a16="http://schemas.microsoft.com/office/drawing/2014/main" id="{6A14AC01-9AED-A343-9D9E-DD99948F9A9D}"/>
                  </a:ext>
                </a:extLst>
              </p:cNvPr>
              <p:cNvSpPr/>
              <p:nvPr/>
            </p:nvSpPr>
            <p:spPr>
              <a:xfrm>
                <a:off x="2906301" y="473569"/>
                <a:ext cx="6345941" cy="356486"/>
              </a:xfrm>
              <a:prstGeom prst="roundRect">
                <a:avLst>
                  <a:gd name="adj" fmla="val 0"/>
                </a:avLst>
              </a:prstGeom>
              <a:solidFill>
                <a:schemeClr val="accent5">
                  <a:lumMod val="75000"/>
                  <a:alpha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5570" tIns="182784" rIns="182784" rtlCol="0" anchor="ctr"/>
              <a:lstStyle/>
              <a:p>
                <a:pPr defTabSz="1218529"/>
                <a:br>
                  <a:rPr lang="en-US" sz="1600" dirty="0">
                    <a:solidFill>
                      <a:srgbClr val="FFFFFF"/>
                    </a:solidFill>
                    <a:latin typeface="Arial"/>
                  </a:rPr>
                </a:br>
                <a:endParaRPr lang="en-US" sz="1050" dirty="0">
                  <a:solidFill>
                    <a:srgbClr val="FFFFFF"/>
                  </a:solidFill>
                  <a:latin typeface="Arial"/>
                </a:endParaRPr>
              </a:p>
            </p:txBody>
          </p:sp>
          <p:grpSp>
            <p:nvGrpSpPr>
              <p:cNvPr id="88" name="Group 87">
                <a:extLst>
                  <a:ext uri="{FF2B5EF4-FFF2-40B4-BE49-F238E27FC236}">
                    <a16:creationId xmlns:a16="http://schemas.microsoft.com/office/drawing/2014/main" id="{3385907D-B699-6CEE-1A2D-EF4C14B527E0}"/>
                  </a:ext>
                </a:extLst>
              </p:cNvPr>
              <p:cNvGrpSpPr/>
              <p:nvPr/>
            </p:nvGrpSpPr>
            <p:grpSpPr>
              <a:xfrm>
                <a:off x="2728063" y="472316"/>
                <a:ext cx="675921" cy="356486"/>
                <a:chOff x="2950906" y="957906"/>
                <a:chExt cx="945927" cy="480496"/>
              </a:xfrm>
            </p:grpSpPr>
            <p:sp>
              <p:nvSpPr>
                <p:cNvPr id="90" name="Google Shape;926;g3015cfa3cac_0_4068">
                  <a:extLst>
                    <a:ext uri="{FF2B5EF4-FFF2-40B4-BE49-F238E27FC236}">
                      <a16:creationId xmlns:a16="http://schemas.microsoft.com/office/drawing/2014/main" id="{C3DFD8C9-958B-69BA-7893-0791528D7F87}"/>
                    </a:ext>
                  </a:extLst>
                </p:cNvPr>
                <p:cNvSpPr/>
                <p:nvPr/>
              </p:nvSpPr>
              <p:spPr>
                <a:xfrm>
                  <a:off x="3084829" y="957906"/>
                  <a:ext cx="812004" cy="480496"/>
                </a:xfrm>
                <a:prstGeom prst="homePlate">
                  <a:avLst>
                    <a:gd name="adj" fmla="val 50000"/>
                  </a:avLst>
                </a:prstGeom>
                <a:solidFill>
                  <a:schemeClr val="accent5">
                    <a:alpha val="10000"/>
                  </a:schemeClr>
                </a:solidFill>
                <a:ln w="9525" cap="flat" cmpd="sng">
                  <a:noFill/>
                  <a:prstDash val="solid"/>
                  <a:round/>
                  <a:headEnd type="none" w="sm" len="sm"/>
                  <a:tailEnd type="none" w="sm" len="sm"/>
                </a:ln>
              </p:spPr>
              <p:txBody>
                <a:bodyPr spcFirstLastPara="1" wrap="square" lIns="274178" tIns="0" rIns="91352" bIns="45676" anchor="ctr" anchorCtr="0">
                  <a:noAutofit/>
                </a:bodyPr>
                <a:lstStyle/>
                <a:p>
                  <a:pPr defTabSz="1218529">
                    <a:buSzPts val="900"/>
                  </a:pPr>
                  <a:endParaRPr sz="5997" dirty="0">
                    <a:solidFill>
                      <a:srgbClr val="FFFFFF"/>
                    </a:solidFill>
                    <a:latin typeface="Arial" panose="020B0604020202020204"/>
                  </a:endParaRPr>
                </a:p>
              </p:txBody>
            </p:sp>
            <p:sp>
              <p:nvSpPr>
                <p:cNvPr id="91" name="Google Shape;926;g3015cfa3cac_0_4068">
                  <a:extLst>
                    <a:ext uri="{FF2B5EF4-FFF2-40B4-BE49-F238E27FC236}">
                      <a16:creationId xmlns:a16="http://schemas.microsoft.com/office/drawing/2014/main" id="{63BCAC10-BACA-BAA9-25D9-A823BFACE3BF}"/>
                    </a:ext>
                  </a:extLst>
                </p:cNvPr>
                <p:cNvSpPr/>
                <p:nvPr/>
              </p:nvSpPr>
              <p:spPr>
                <a:xfrm>
                  <a:off x="2950906" y="957906"/>
                  <a:ext cx="812004" cy="480496"/>
                </a:xfrm>
                <a:prstGeom prst="homePlate">
                  <a:avLst>
                    <a:gd name="adj" fmla="val 50000"/>
                  </a:avLst>
                </a:prstGeom>
                <a:solidFill>
                  <a:schemeClr val="accent5"/>
                </a:solidFill>
                <a:ln w="9525" cap="flat" cmpd="sng">
                  <a:noFill/>
                  <a:prstDash val="solid"/>
                  <a:round/>
                  <a:headEnd type="none" w="sm" len="sm"/>
                  <a:tailEnd type="none" w="sm" len="sm"/>
                </a:ln>
              </p:spPr>
              <p:txBody>
                <a:bodyPr spcFirstLastPara="1" wrap="square" lIns="274178" tIns="0" rIns="91352" bIns="91392" anchor="ctr" anchorCtr="0">
                  <a:noAutofit/>
                </a:bodyPr>
                <a:lstStyle/>
                <a:p>
                  <a:pPr defTabSz="1218529">
                    <a:buSzPts val="900"/>
                  </a:pPr>
                  <a:r>
                    <a:rPr lang="en-US" sz="1333" dirty="0">
                      <a:solidFill>
                        <a:srgbClr val="FFFFFF"/>
                      </a:solidFill>
                      <a:latin typeface="Arial" panose="020B0604020202020204"/>
                    </a:rPr>
                    <a:t>04</a:t>
                  </a:r>
                  <a:endParaRPr sz="1333" dirty="0">
                    <a:solidFill>
                      <a:srgbClr val="FFFFFF"/>
                    </a:solidFill>
                    <a:latin typeface="Arial" panose="020B0604020202020204"/>
                  </a:endParaRPr>
                </a:p>
              </p:txBody>
            </p:sp>
          </p:grpSp>
          <p:sp>
            <p:nvSpPr>
              <p:cNvPr id="89" name="TextBox 88">
                <a:extLst>
                  <a:ext uri="{FF2B5EF4-FFF2-40B4-BE49-F238E27FC236}">
                    <a16:creationId xmlns:a16="http://schemas.microsoft.com/office/drawing/2014/main" id="{BB90C8E4-C373-0966-4304-DDDB0C1123F4}"/>
                  </a:ext>
                </a:extLst>
              </p:cNvPr>
              <p:cNvSpPr txBox="1"/>
              <p:nvPr/>
            </p:nvSpPr>
            <p:spPr>
              <a:xfrm>
                <a:off x="3403984" y="527448"/>
                <a:ext cx="4572000" cy="253982"/>
              </a:xfrm>
              <a:prstGeom prst="rect">
                <a:avLst/>
              </a:prstGeom>
              <a:noFill/>
            </p:spPr>
            <p:txBody>
              <a:bodyPr wrap="square">
                <a:spAutoFit/>
              </a:bodyPr>
              <a:lstStyle/>
              <a:p>
                <a:pPr defTabSz="1218529">
                  <a:spcBef>
                    <a:spcPts val="1865"/>
                  </a:spcBef>
                </a:pPr>
                <a:r>
                  <a:rPr lang="en-US" sz="1600" dirty="0">
                    <a:solidFill>
                      <a:srgbClr val="000000"/>
                    </a:solidFill>
                    <a:latin typeface="Arial" panose="020B0604020202020204" pitchFamily="34" charset="0"/>
                  </a:rPr>
                  <a:t>Security Modernization</a:t>
                </a:r>
                <a:endParaRPr lang="en-US" sz="1600" dirty="0">
                  <a:solidFill>
                    <a:srgbClr val="000000"/>
                  </a:solidFill>
                  <a:latin typeface="Arial" panose="020B0604020202020204"/>
                </a:endParaRPr>
              </a:p>
            </p:txBody>
          </p:sp>
        </p:gr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993"/>
        <p:cNvGrpSpPr/>
        <p:nvPr/>
      </p:nvGrpSpPr>
      <p:grpSpPr>
        <a:xfrm>
          <a:off x="0" y="0"/>
          <a:ext cx="0" cy="0"/>
          <a:chOff x="0" y="0"/>
          <a:chExt cx="0" cy="0"/>
        </a:xfrm>
      </p:grpSpPr>
      <p:sp>
        <p:nvSpPr>
          <p:cNvPr id="994" name="Google Shape;994;g36c36515e95_0_2260"/>
          <p:cNvSpPr txBox="1"/>
          <p:nvPr/>
        </p:nvSpPr>
        <p:spPr>
          <a:xfrm>
            <a:off x="581246" y="413536"/>
            <a:ext cx="10998300" cy="381300"/>
          </a:xfrm>
          <a:prstGeom prst="rect">
            <a:avLst/>
          </a:prstGeom>
          <a:noFill/>
          <a:ln>
            <a:noFill/>
          </a:ln>
        </p:spPr>
        <p:txBody>
          <a:bodyPr spcFirstLastPara="1" wrap="square" lIns="0" tIns="0" rIns="0" bIns="0" anchor="b" anchorCtr="0">
            <a:noAutofit/>
          </a:bodyPr>
          <a:lstStyle/>
          <a:p>
            <a:pPr marL="0" marR="0" lvl="0" indent="0" algn="l" rtl="0">
              <a:lnSpc>
                <a:spcPct val="90000"/>
              </a:lnSpc>
              <a:spcBef>
                <a:spcPts val="0"/>
              </a:spcBef>
              <a:spcAft>
                <a:spcPts val="0"/>
              </a:spcAft>
              <a:buClr>
                <a:srgbClr val="000000"/>
              </a:buClr>
              <a:buSzPts val="2800"/>
              <a:buFont typeface="Arial"/>
              <a:buNone/>
            </a:pPr>
            <a:r>
              <a:rPr lang="en" sz="2800" b="0" i="0" u="none" strike="noStrike" cap="none" dirty="0">
                <a:solidFill>
                  <a:schemeClr val="accent2"/>
                </a:solidFill>
                <a:latin typeface="Arial"/>
                <a:ea typeface="Arial"/>
                <a:cs typeface="Arial"/>
                <a:sym typeface="Arial"/>
              </a:rPr>
              <a:t>Business Initiatives and Use Cases</a:t>
            </a:r>
            <a:endParaRPr sz="2800" b="0" i="0" u="none" strike="noStrike" cap="none" dirty="0">
              <a:solidFill>
                <a:schemeClr val="accent2"/>
              </a:solidFill>
              <a:latin typeface="Arial"/>
              <a:ea typeface="Arial"/>
              <a:cs typeface="Arial"/>
              <a:sym typeface="Arial"/>
            </a:endParaRPr>
          </a:p>
        </p:txBody>
      </p:sp>
      <p:sp>
        <p:nvSpPr>
          <p:cNvPr id="995" name="Google Shape;995;g36c36515e95_0_2260"/>
          <p:cNvSpPr/>
          <p:nvPr/>
        </p:nvSpPr>
        <p:spPr>
          <a:xfrm>
            <a:off x="4552644" y="2992365"/>
            <a:ext cx="3111900" cy="2627100"/>
          </a:xfrm>
          <a:prstGeom prst="roundRect">
            <a:avLst>
              <a:gd name="adj" fmla="val 2307"/>
            </a:avLst>
          </a:prstGeom>
          <a:gradFill>
            <a:gsLst>
              <a:gs pos="0">
                <a:srgbClr val="0198C7">
                  <a:alpha val="16470"/>
                </a:srgbClr>
              </a:gs>
              <a:gs pos="100000">
                <a:srgbClr val="0198C7">
                  <a:alpha val="0"/>
                </a:srgbClr>
              </a:gs>
            </a:gsLst>
            <a:lin ang="5400012" scaled="0"/>
          </a:gradFill>
          <a:ln>
            <a:noFill/>
          </a:ln>
        </p:spPr>
        <p:txBody>
          <a:bodyPr spcFirstLastPara="1" wrap="square" lIns="91275" tIns="91275" rIns="91275" bIns="9127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041032"/>
              </a:solidFill>
              <a:latin typeface="Arial"/>
              <a:ea typeface="Arial"/>
              <a:cs typeface="Arial"/>
              <a:sym typeface="Arial"/>
            </a:endParaRPr>
          </a:p>
        </p:txBody>
      </p:sp>
      <p:grpSp>
        <p:nvGrpSpPr>
          <p:cNvPr id="8" name="Group 7">
            <a:extLst>
              <a:ext uri="{FF2B5EF4-FFF2-40B4-BE49-F238E27FC236}">
                <a16:creationId xmlns:a16="http://schemas.microsoft.com/office/drawing/2014/main" id="{B0F3D1CC-7634-3CC1-79FB-48D614181C2E}"/>
              </a:ext>
            </a:extLst>
          </p:cNvPr>
          <p:cNvGrpSpPr/>
          <p:nvPr/>
        </p:nvGrpSpPr>
        <p:grpSpPr>
          <a:xfrm>
            <a:off x="4548734" y="3866907"/>
            <a:ext cx="3111900" cy="754071"/>
            <a:chOff x="4548734" y="3866907"/>
            <a:chExt cx="3111900" cy="754071"/>
          </a:xfrm>
        </p:grpSpPr>
        <p:sp>
          <p:nvSpPr>
            <p:cNvPr id="998" name="Google Shape;998;g36c36515e95_0_2260"/>
            <p:cNvSpPr txBox="1"/>
            <p:nvPr/>
          </p:nvSpPr>
          <p:spPr>
            <a:xfrm>
              <a:off x="5220879" y="3957678"/>
              <a:ext cx="2313300" cy="66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Build, run and manage Kubernetes and other modern apps</a:t>
              </a:r>
              <a:endParaRPr sz="1900" b="0" i="0" u="none" strike="noStrike" cap="none" dirty="0">
                <a:solidFill>
                  <a:srgbClr val="000000"/>
                </a:solidFill>
                <a:latin typeface="Arial"/>
                <a:ea typeface="Arial"/>
                <a:cs typeface="Arial"/>
                <a:sym typeface="Arial"/>
              </a:endParaRPr>
            </a:p>
          </p:txBody>
        </p:sp>
        <p:cxnSp>
          <p:nvCxnSpPr>
            <p:cNvPr id="1001" name="Google Shape;1001;g36c36515e95_0_2260"/>
            <p:cNvCxnSpPr/>
            <p:nvPr/>
          </p:nvCxnSpPr>
          <p:spPr>
            <a:xfrm>
              <a:off x="4548734" y="3866907"/>
              <a:ext cx="3111900" cy="0"/>
            </a:xfrm>
            <a:prstGeom prst="straightConnector1">
              <a:avLst/>
            </a:prstGeom>
            <a:noFill/>
            <a:ln w="9525" cap="flat" cmpd="sng">
              <a:solidFill>
                <a:srgbClr val="0198C7"/>
              </a:solidFill>
              <a:prstDash val="solid"/>
              <a:round/>
              <a:headEnd type="none" w="sm" len="sm"/>
              <a:tailEnd type="none" w="sm" len="sm"/>
            </a:ln>
          </p:spPr>
        </p:cxnSp>
        <p:sp>
          <p:nvSpPr>
            <p:cNvPr id="1003" name="Google Shape;1003;g36c36515e95_0_2260"/>
            <p:cNvSpPr/>
            <p:nvPr/>
          </p:nvSpPr>
          <p:spPr>
            <a:xfrm>
              <a:off x="4766187" y="4055523"/>
              <a:ext cx="441900" cy="441900"/>
            </a:xfrm>
            <a:prstGeom prst="ellipse">
              <a:avLst/>
            </a:prstGeom>
            <a:gradFill>
              <a:gsLst>
                <a:gs pos="0">
                  <a:schemeClr val="accent2"/>
                </a:gs>
                <a:gs pos="100000">
                  <a:schemeClr val="accent3"/>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chemeClr val="dk1"/>
                </a:solidFill>
                <a:latin typeface="Arial"/>
                <a:ea typeface="Arial"/>
                <a:cs typeface="Arial"/>
                <a:sym typeface="Arial"/>
              </a:endParaRPr>
            </a:p>
          </p:txBody>
        </p:sp>
        <p:grpSp>
          <p:nvGrpSpPr>
            <p:cNvPr id="1005" name="Google Shape;1005;g36c36515e95_0_2260"/>
            <p:cNvGrpSpPr/>
            <p:nvPr/>
          </p:nvGrpSpPr>
          <p:grpSpPr>
            <a:xfrm>
              <a:off x="4861977" y="4154134"/>
              <a:ext cx="246555" cy="240262"/>
              <a:chOff x="624431" y="1107698"/>
              <a:chExt cx="682601" cy="664625"/>
            </a:xfrm>
          </p:grpSpPr>
          <p:sp>
            <p:nvSpPr>
              <p:cNvPr id="1006" name="Google Shape;1006;g36c36515e95_0_2260"/>
              <p:cNvSpPr/>
              <p:nvPr/>
            </p:nvSpPr>
            <p:spPr>
              <a:xfrm>
                <a:off x="1004841" y="1579446"/>
                <a:ext cx="1943" cy="7287"/>
              </a:xfrm>
              <a:custGeom>
                <a:avLst/>
                <a:gdLst/>
                <a:ahLst/>
                <a:cxnLst/>
                <a:rect l="l" t="t" r="r" b="b"/>
                <a:pathLst>
                  <a:path w="1943" h="7287" extrusionOk="0">
                    <a:moveTo>
                      <a:pt x="0" y="486"/>
                    </a:moveTo>
                    <a:lnTo>
                      <a:pt x="1943" y="7288"/>
                    </a:lnTo>
                    <a:lnTo>
                      <a:pt x="486" y="0"/>
                    </a:lnTo>
                    <a:cubicBezTo>
                      <a:pt x="486" y="0"/>
                      <a:pt x="486" y="0"/>
                      <a:pt x="0" y="0"/>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07" name="Google Shape;1007;g36c36515e95_0_2260"/>
              <p:cNvSpPr/>
              <p:nvPr/>
            </p:nvSpPr>
            <p:spPr>
              <a:xfrm>
                <a:off x="878038" y="1319523"/>
                <a:ext cx="62673" cy="67379"/>
              </a:xfrm>
              <a:custGeom>
                <a:avLst/>
                <a:gdLst/>
                <a:ahLst/>
                <a:cxnLst/>
                <a:rect l="l" t="t" r="r" b="b"/>
                <a:pathLst>
                  <a:path w="62673" h="67379" extrusionOk="0">
                    <a:moveTo>
                      <a:pt x="51499" y="66560"/>
                    </a:moveTo>
                    <a:cubicBezTo>
                      <a:pt x="51499" y="66560"/>
                      <a:pt x="54900" y="68017"/>
                      <a:pt x="56357" y="67046"/>
                    </a:cubicBezTo>
                    <a:cubicBezTo>
                      <a:pt x="57815" y="66560"/>
                      <a:pt x="58786" y="65102"/>
                      <a:pt x="58786" y="63159"/>
                    </a:cubicBezTo>
                    <a:cubicBezTo>
                      <a:pt x="59758" y="47126"/>
                      <a:pt x="60730" y="30608"/>
                      <a:pt x="61701" y="14575"/>
                    </a:cubicBezTo>
                    <a:lnTo>
                      <a:pt x="62673" y="0"/>
                    </a:lnTo>
                    <a:cubicBezTo>
                      <a:pt x="38381" y="4858"/>
                      <a:pt x="17976" y="15061"/>
                      <a:pt x="0" y="30122"/>
                    </a:cubicBezTo>
                    <a:cubicBezTo>
                      <a:pt x="7773" y="35466"/>
                      <a:pt x="15547" y="41296"/>
                      <a:pt x="23320" y="46640"/>
                    </a:cubicBezTo>
                    <a:cubicBezTo>
                      <a:pt x="32551" y="53442"/>
                      <a:pt x="42268" y="59758"/>
                      <a:pt x="51499" y="66560"/>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08" name="Google Shape;1008;g36c36515e95_0_2260"/>
              <p:cNvSpPr/>
              <p:nvPr/>
            </p:nvSpPr>
            <p:spPr>
              <a:xfrm>
                <a:off x="1014072" y="1494424"/>
                <a:ext cx="74333" cy="65102"/>
              </a:xfrm>
              <a:custGeom>
                <a:avLst/>
                <a:gdLst/>
                <a:ahLst/>
                <a:cxnLst/>
                <a:rect l="l" t="t" r="r" b="b"/>
                <a:pathLst>
                  <a:path w="74333" h="65102" extrusionOk="0">
                    <a:moveTo>
                      <a:pt x="8259" y="972"/>
                    </a:moveTo>
                    <a:cubicBezTo>
                      <a:pt x="8259" y="972"/>
                      <a:pt x="6316" y="2915"/>
                      <a:pt x="6316" y="4858"/>
                    </a:cubicBezTo>
                    <a:lnTo>
                      <a:pt x="0" y="9717"/>
                    </a:lnTo>
                    <a:lnTo>
                      <a:pt x="6802" y="6802"/>
                    </a:lnTo>
                    <a:lnTo>
                      <a:pt x="12632" y="20891"/>
                    </a:lnTo>
                    <a:cubicBezTo>
                      <a:pt x="18948" y="35466"/>
                      <a:pt x="24778" y="50527"/>
                      <a:pt x="31094" y="65102"/>
                    </a:cubicBezTo>
                    <a:cubicBezTo>
                      <a:pt x="50527" y="50527"/>
                      <a:pt x="64616" y="32551"/>
                      <a:pt x="74333" y="10688"/>
                    </a:cubicBezTo>
                    <a:lnTo>
                      <a:pt x="12146" y="0"/>
                    </a:lnTo>
                    <a:cubicBezTo>
                      <a:pt x="12146" y="0"/>
                      <a:pt x="9231" y="486"/>
                      <a:pt x="8259" y="972"/>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09" name="Google Shape;1009;g36c36515e95_0_2260"/>
              <p:cNvSpPr/>
              <p:nvPr/>
            </p:nvSpPr>
            <p:spPr>
              <a:xfrm>
                <a:off x="842572" y="1494424"/>
                <a:ext cx="67045" cy="64616"/>
              </a:xfrm>
              <a:custGeom>
                <a:avLst/>
                <a:gdLst/>
                <a:ahLst/>
                <a:cxnLst/>
                <a:rect l="l" t="t" r="r" b="b"/>
                <a:pathLst>
                  <a:path w="67045" h="64616" extrusionOk="0">
                    <a:moveTo>
                      <a:pt x="62673" y="0"/>
                    </a:moveTo>
                    <a:lnTo>
                      <a:pt x="46155" y="2915"/>
                    </a:lnTo>
                    <a:cubicBezTo>
                      <a:pt x="30608" y="5344"/>
                      <a:pt x="15547" y="8259"/>
                      <a:pt x="0" y="10688"/>
                    </a:cubicBezTo>
                    <a:cubicBezTo>
                      <a:pt x="9717" y="32551"/>
                      <a:pt x="24292" y="50527"/>
                      <a:pt x="43240" y="64616"/>
                    </a:cubicBezTo>
                    <a:cubicBezTo>
                      <a:pt x="48584" y="51985"/>
                      <a:pt x="53442" y="39839"/>
                      <a:pt x="58300" y="27693"/>
                    </a:cubicBezTo>
                    <a:lnTo>
                      <a:pt x="65588" y="9717"/>
                    </a:lnTo>
                    <a:cubicBezTo>
                      <a:pt x="65588" y="9717"/>
                      <a:pt x="66560" y="6802"/>
                      <a:pt x="67046" y="5830"/>
                    </a:cubicBezTo>
                    <a:cubicBezTo>
                      <a:pt x="67046" y="4858"/>
                      <a:pt x="67046" y="3401"/>
                      <a:pt x="66074" y="2429"/>
                    </a:cubicBezTo>
                    <a:cubicBezTo>
                      <a:pt x="65102" y="1457"/>
                      <a:pt x="64131" y="972"/>
                      <a:pt x="62673" y="486"/>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0" name="Google Shape;1010;g36c36515e95_0_2260"/>
              <p:cNvSpPr/>
              <p:nvPr/>
            </p:nvSpPr>
            <p:spPr>
              <a:xfrm>
                <a:off x="930994" y="1523575"/>
                <a:ext cx="68503" cy="62187"/>
              </a:xfrm>
              <a:custGeom>
                <a:avLst/>
                <a:gdLst/>
                <a:ahLst/>
                <a:cxnLst/>
                <a:rect l="l" t="t" r="r" b="b"/>
                <a:pathLst>
                  <a:path w="68503" h="62187" extrusionOk="0">
                    <a:moveTo>
                      <a:pt x="55385" y="32551"/>
                    </a:moveTo>
                    <a:cubicBezTo>
                      <a:pt x="50041" y="22834"/>
                      <a:pt x="44697" y="12632"/>
                      <a:pt x="38867" y="2915"/>
                    </a:cubicBezTo>
                    <a:cubicBezTo>
                      <a:pt x="37895" y="972"/>
                      <a:pt x="35952" y="486"/>
                      <a:pt x="34494" y="0"/>
                    </a:cubicBezTo>
                    <a:cubicBezTo>
                      <a:pt x="33037" y="0"/>
                      <a:pt x="31094" y="972"/>
                      <a:pt x="30122" y="2915"/>
                    </a:cubicBezTo>
                    <a:lnTo>
                      <a:pt x="17490" y="25749"/>
                    </a:lnTo>
                    <a:cubicBezTo>
                      <a:pt x="11660" y="36438"/>
                      <a:pt x="5830" y="46640"/>
                      <a:pt x="0" y="57329"/>
                    </a:cubicBezTo>
                    <a:cubicBezTo>
                      <a:pt x="11660" y="60244"/>
                      <a:pt x="22834" y="61701"/>
                      <a:pt x="34494" y="62187"/>
                    </a:cubicBezTo>
                    <a:cubicBezTo>
                      <a:pt x="45669" y="62187"/>
                      <a:pt x="57329" y="60730"/>
                      <a:pt x="68503" y="57815"/>
                    </a:cubicBezTo>
                    <a:cubicBezTo>
                      <a:pt x="67046" y="54900"/>
                      <a:pt x="65588" y="52470"/>
                      <a:pt x="64131" y="50041"/>
                    </a:cubicBezTo>
                    <a:lnTo>
                      <a:pt x="54900" y="33037"/>
                    </a:ln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1" name="Google Shape;1011;g36c36515e95_0_2260"/>
              <p:cNvSpPr/>
              <p:nvPr/>
            </p:nvSpPr>
            <p:spPr>
              <a:xfrm>
                <a:off x="1090835" y="1499768"/>
                <a:ext cx="6801" cy="2915"/>
              </a:xfrm>
              <a:custGeom>
                <a:avLst/>
                <a:gdLst/>
                <a:ahLst/>
                <a:cxnLst/>
                <a:rect l="l" t="t" r="r" b="b"/>
                <a:pathLst>
                  <a:path w="6801" h="2915" extrusionOk="0">
                    <a:moveTo>
                      <a:pt x="0" y="0"/>
                    </a:moveTo>
                    <a:lnTo>
                      <a:pt x="6802" y="2915"/>
                    </a:lnTo>
                    <a:lnTo>
                      <a:pt x="0" y="0"/>
                    </a:lnTo>
                    <a:lnTo>
                      <a:pt x="0" y="0"/>
                    </a:ln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2" name="Google Shape;1012;g36c36515e95_0_2260"/>
              <p:cNvSpPr/>
              <p:nvPr/>
            </p:nvSpPr>
            <p:spPr>
              <a:xfrm>
                <a:off x="831667" y="1388512"/>
                <a:ext cx="64346" cy="67531"/>
              </a:xfrm>
              <a:custGeom>
                <a:avLst/>
                <a:gdLst/>
                <a:ahLst/>
                <a:cxnLst/>
                <a:rect l="l" t="t" r="r" b="b"/>
                <a:pathLst>
                  <a:path w="64346" h="67531" extrusionOk="0">
                    <a:moveTo>
                      <a:pt x="63375" y="47126"/>
                    </a:moveTo>
                    <a:cubicBezTo>
                      <a:pt x="63375" y="47126"/>
                      <a:pt x="63375" y="43725"/>
                      <a:pt x="60460" y="40810"/>
                    </a:cubicBezTo>
                    <a:cubicBezTo>
                      <a:pt x="45399" y="27207"/>
                      <a:pt x="30338" y="13603"/>
                      <a:pt x="15277" y="0"/>
                    </a:cubicBezTo>
                    <a:cubicBezTo>
                      <a:pt x="6532" y="17004"/>
                      <a:pt x="1673" y="34494"/>
                      <a:pt x="216" y="52956"/>
                    </a:cubicBezTo>
                    <a:cubicBezTo>
                      <a:pt x="216" y="57329"/>
                      <a:pt x="-270" y="62673"/>
                      <a:pt x="216" y="67531"/>
                    </a:cubicBezTo>
                    <a:lnTo>
                      <a:pt x="10419" y="64616"/>
                    </a:lnTo>
                    <a:cubicBezTo>
                      <a:pt x="26451" y="59758"/>
                      <a:pt x="42970" y="55385"/>
                      <a:pt x="59002" y="50527"/>
                    </a:cubicBezTo>
                    <a:cubicBezTo>
                      <a:pt x="63375" y="49070"/>
                      <a:pt x="63861" y="47612"/>
                      <a:pt x="64346" y="46640"/>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3" name="Google Shape;1013;g36c36515e95_0_2260"/>
              <p:cNvSpPr/>
              <p:nvPr/>
            </p:nvSpPr>
            <p:spPr>
              <a:xfrm>
                <a:off x="990752" y="1319523"/>
                <a:ext cx="61701" cy="66751"/>
              </a:xfrm>
              <a:custGeom>
                <a:avLst/>
                <a:gdLst/>
                <a:ahLst/>
                <a:cxnLst/>
                <a:rect l="l" t="t" r="r" b="b"/>
                <a:pathLst>
                  <a:path w="61701" h="66751" extrusionOk="0">
                    <a:moveTo>
                      <a:pt x="5830" y="66560"/>
                    </a:moveTo>
                    <a:cubicBezTo>
                      <a:pt x="5830" y="66560"/>
                      <a:pt x="8745" y="67531"/>
                      <a:pt x="12146" y="65102"/>
                    </a:cubicBezTo>
                    <a:cubicBezTo>
                      <a:pt x="28664" y="53442"/>
                      <a:pt x="45183" y="41782"/>
                      <a:pt x="61701" y="30122"/>
                    </a:cubicBezTo>
                    <a:cubicBezTo>
                      <a:pt x="42754" y="14575"/>
                      <a:pt x="22348" y="4373"/>
                      <a:pt x="0" y="0"/>
                    </a:cubicBezTo>
                    <a:lnTo>
                      <a:pt x="3401" y="60730"/>
                    </a:lnTo>
                    <a:cubicBezTo>
                      <a:pt x="3401" y="65102"/>
                      <a:pt x="4858" y="65588"/>
                      <a:pt x="5830" y="66074"/>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4" name="Google Shape;1014;g36c36515e95_0_2260"/>
              <p:cNvSpPr/>
              <p:nvPr/>
            </p:nvSpPr>
            <p:spPr>
              <a:xfrm>
                <a:off x="732681" y="1210695"/>
                <a:ext cx="466686" cy="454812"/>
              </a:xfrm>
              <a:custGeom>
                <a:avLst/>
                <a:gdLst/>
                <a:ahLst/>
                <a:cxnLst/>
                <a:rect l="l" t="t" r="r" b="b"/>
                <a:pathLst>
                  <a:path w="466686" h="454812" extrusionOk="0">
                    <a:moveTo>
                      <a:pt x="444146" y="283729"/>
                    </a:moveTo>
                    <a:cubicBezTo>
                      <a:pt x="438802" y="283243"/>
                      <a:pt x="433458" y="282757"/>
                      <a:pt x="428600" y="281786"/>
                    </a:cubicBezTo>
                    <a:cubicBezTo>
                      <a:pt x="421798" y="280814"/>
                      <a:pt x="414024" y="279842"/>
                      <a:pt x="409166" y="272555"/>
                    </a:cubicBezTo>
                    <a:cubicBezTo>
                      <a:pt x="406251" y="272069"/>
                      <a:pt x="404308" y="270611"/>
                      <a:pt x="403336" y="269154"/>
                    </a:cubicBezTo>
                    <a:cubicBezTo>
                      <a:pt x="400421" y="265753"/>
                      <a:pt x="400907" y="261866"/>
                      <a:pt x="401393" y="259923"/>
                    </a:cubicBezTo>
                    <a:cubicBezTo>
                      <a:pt x="402364" y="250206"/>
                      <a:pt x="402850" y="240975"/>
                      <a:pt x="402364" y="231744"/>
                    </a:cubicBezTo>
                    <a:cubicBezTo>
                      <a:pt x="400907" y="202108"/>
                      <a:pt x="391676" y="174416"/>
                      <a:pt x="376129" y="149152"/>
                    </a:cubicBezTo>
                    <a:cubicBezTo>
                      <a:pt x="375158" y="147695"/>
                      <a:pt x="373214" y="144294"/>
                      <a:pt x="374186" y="139921"/>
                    </a:cubicBezTo>
                    <a:cubicBezTo>
                      <a:pt x="374672" y="137492"/>
                      <a:pt x="376129" y="135549"/>
                      <a:pt x="378073" y="134091"/>
                    </a:cubicBezTo>
                    <a:cubicBezTo>
                      <a:pt x="378558" y="129719"/>
                      <a:pt x="380988" y="125832"/>
                      <a:pt x="384874" y="122431"/>
                    </a:cubicBezTo>
                    <a:cubicBezTo>
                      <a:pt x="391190" y="117087"/>
                      <a:pt x="398478" y="112228"/>
                      <a:pt x="408194" y="106884"/>
                    </a:cubicBezTo>
                    <a:cubicBezTo>
                      <a:pt x="412081" y="104941"/>
                      <a:pt x="415482" y="102998"/>
                      <a:pt x="417911" y="100083"/>
                    </a:cubicBezTo>
                    <a:cubicBezTo>
                      <a:pt x="421312" y="97167"/>
                      <a:pt x="421312" y="94738"/>
                      <a:pt x="420826" y="93281"/>
                    </a:cubicBezTo>
                    <a:cubicBezTo>
                      <a:pt x="420826" y="90852"/>
                      <a:pt x="418883" y="89394"/>
                      <a:pt x="417911" y="88908"/>
                    </a:cubicBezTo>
                    <a:cubicBezTo>
                      <a:pt x="415968" y="87937"/>
                      <a:pt x="413053" y="88422"/>
                      <a:pt x="410624" y="89880"/>
                    </a:cubicBezTo>
                    <a:cubicBezTo>
                      <a:pt x="407223" y="91823"/>
                      <a:pt x="404308" y="95224"/>
                      <a:pt x="401393" y="98139"/>
                    </a:cubicBezTo>
                    <a:cubicBezTo>
                      <a:pt x="395563" y="104941"/>
                      <a:pt x="389247" y="111257"/>
                      <a:pt x="382445" y="116601"/>
                    </a:cubicBezTo>
                    <a:cubicBezTo>
                      <a:pt x="380502" y="118058"/>
                      <a:pt x="375643" y="122431"/>
                      <a:pt x="368356" y="121459"/>
                    </a:cubicBezTo>
                    <a:cubicBezTo>
                      <a:pt x="366412" y="123403"/>
                      <a:pt x="363983" y="124374"/>
                      <a:pt x="361554" y="123889"/>
                    </a:cubicBezTo>
                    <a:cubicBezTo>
                      <a:pt x="357182" y="123889"/>
                      <a:pt x="354267" y="120974"/>
                      <a:pt x="352809" y="119516"/>
                    </a:cubicBezTo>
                    <a:cubicBezTo>
                      <a:pt x="333861" y="100568"/>
                      <a:pt x="311513" y="86965"/>
                      <a:pt x="286249" y="78220"/>
                    </a:cubicBezTo>
                    <a:cubicBezTo>
                      <a:pt x="275075" y="74333"/>
                      <a:pt x="263415" y="71904"/>
                      <a:pt x="249811" y="69961"/>
                    </a:cubicBezTo>
                    <a:cubicBezTo>
                      <a:pt x="248354" y="69961"/>
                      <a:pt x="244953" y="69961"/>
                      <a:pt x="242524" y="67046"/>
                    </a:cubicBezTo>
                    <a:lnTo>
                      <a:pt x="240581" y="64616"/>
                    </a:lnTo>
                    <a:lnTo>
                      <a:pt x="240581" y="60244"/>
                    </a:lnTo>
                    <a:cubicBezTo>
                      <a:pt x="237180" y="56357"/>
                      <a:pt x="235722" y="52956"/>
                      <a:pt x="235722" y="49070"/>
                    </a:cubicBezTo>
                    <a:lnTo>
                      <a:pt x="235722" y="47126"/>
                    </a:lnTo>
                    <a:cubicBezTo>
                      <a:pt x="235722" y="42754"/>
                      <a:pt x="235722" y="38867"/>
                      <a:pt x="236208" y="34494"/>
                    </a:cubicBezTo>
                    <a:cubicBezTo>
                      <a:pt x="237180" y="28664"/>
                      <a:pt x="237666" y="23320"/>
                      <a:pt x="238637" y="17490"/>
                    </a:cubicBezTo>
                    <a:lnTo>
                      <a:pt x="238637" y="11660"/>
                    </a:lnTo>
                    <a:cubicBezTo>
                      <a:pt x="238637" y="11660"/>
                      <a:pt x="239123" y="7288"/>
                      <a:pt x="239123" y="7288"/>
                    </a:cubicBezTo>
                    <a:cubicBezTo>
                      <a:pt x="239123" y="3401"/>
                      <a:pt x="236208" y="486"/>
                      <a:pt x="233293" y="0"/>
                    </a:cubicBezTo>
                    <a:cubicBezTo>
                      <a:pt x="229892" y="0"/>
                      <a:pt x="226977" y="2429"/>
                      <a:pt x="226491" y="6316"/>
                    </a:cubicBezTo>
                    <a:cubicBezTo>
                      <a:pt x="226491" y="9231"/>
                      <a:pt x="226491" y="12632"/>
                      <a:pt x="226977" y="17490"/>
                    </a:cubicBezTo>
                    <a:cubicBezTo>
                      <a:pt x="228435" y="26721"/>
                      <a:pt x="229892" y="36438"/>
                      <a:pt x="229892" y="46640"/>
                    </a:cubicBezTo>
                    <a:cubicBezTo>
                      <a:pt x="229892" y="49070"/>
                      <a:pt x="229892" y="54414"/>
                      <a:pt x="225520" y="58786"/>
                    </a:cubicBezTo>
                    <a:cubicBezTo>
                      <a:pt x="225520" y="62187"/>
                      <a:pt x="224548" y="64616"/>
                      <a:pt x="223090" y="66560"/>
                    </a:cubicBezTo>
                    <a:cubicBezTo>
                      <a:pt x="221633" y="68503"/>
                      <a:pt x="219204" y="69475"/>
                      <a:pt x="215803" y="69961"/>
                    </a:cubicBezTo>
                    <a:lnTo>
                      <a:pt x="212402" y="69961"/>
                    </a:lnTo>
                    <a:cubicBezTo>
                      <a:pt x="174021" y="75305"/>
                      <a:pt x="140012" y="91337"/>
                      <a:pt x="112805" y="119030"/>
                    </a:cubicBezTo>
                    <a:cubicBezTo>
                      <a:pt x="111348" y="120488"/>
                      <a:pt x="108433" y="124374"/>
                      <a:pt x="103574" y="123403"/>
                    </a:cubicBezTo>
                    <a:cubicBezTo>
                      <a:pt x="101631" y="123403"/>
                      <a:pt x="99202" y="122431"/>
                      <a:pt x="97259" y="121459"/>
                    </a:cubicBezTo>
                    <a:cubicBezTo>
                      <a:pt x="90943" y="121945"/>
                      <a:pt x="86570" y="118544"/>
                      <a:pt x="84627" y="117573"/>
                    </a:cubicBezTo>
                    <a:cubicBezTo>
                      <a:pt x="77825" y="112228"/>
                      <a:pt x="71509" y="106398"/>
                      <a:pt x="64707" y="98625"/>
                    </a:cubicBezTo>
                    <a:cubicBezTo>
                      <a:pt x="61307" y="94738"/>
                      <a:pt x="58392" y="91823"/>
                      <a:pt x="54991" y="89394"/>
                    </a:cubicBezTo>
                    <a:cubicBezTo>
                      <a:pt x="51590" y="87451"/>
                      <a:pt x="47703" y="87937"/>
                      <a:pt x="45760" y="90366"/>
                    </a:cubicBezTo>
                    <a:cubicBezTo>
                      <a:pt x="43816" y="92795"/>
                      <a:pt x="44302" y="96682"/>
                      <a:pt x="47217" y="99597"/>
                    </a:cubicBezTo>
                    <a:cubicBezTo>
                      <a:pt x="50132" y="102512"/>
                      <a:pt x="53533" y="104455"/>
                      <a:pt x="57420" y="106398"/>
                    </a:cubicBezTo>
                    <a:cubicBezTo>
                      <a:pt x="65193" y="110771"/>
                      <a:pt x="72481" y="115143"/>
                      <a:pt x="78797" y="120488"/>
                    </a:cubicBezTo>
                    <a:cubicBezTo>
                      <a:pt x="81712" y="122917"/>
                      <a:pt x="86570" y="126804"/>
                      <a:pt x="87542" y="133605"/>
                    </a:cubicBezTo>
                    <a:cubicBezTo>
                      <a:pt x="89485" y="135063"/>
                      <a:pt x="90457" y="137006"/>
                      <a:pt x="90943" y="138949"/>
                    </a:cubicBezTo>
                    <a:cubicBezTo>
                      <a:pt x="91914" y="143322"/>
                      <a:pt x="89971" y="147209"/>
                      <a:pt x="88514" y="149152"/>
                    </a:cubicBezTo>
                    <a:cubicBezTo>
                      <a:pt x="67622" y="183161"/>
                      <a:pt x="59363" y="220084"/>
                      <a:pt x="64222" y="258951"/>
                    </a:cubicBezTo>
                    <a:cubicBezTo>
                      <a:pt x="65193" y="268182"/>
                      <a:pt x="59363" y="271097"/>
                      <a:pt x="56448" y="271583"/>
                    </a:cubicBezTo>
                    <a:cubicBezTo>
                      <a:pt x="53047" y="276927"/>
                      <a:pt x="47703" y="278385"/>
                      <a:pt x="43816" y="279356"/>
                    </a:cubicBezTo>
                    <a:cubicBezTo>
                      <a:pt x="34586" y="281300"/>
                      <a:pt x="24869" y="282272"/>
                      <a:pt x="15638" y="282757"/>
                    </a:cubicBezTo>
                    <a:cubicBezTo>
                      <a:pt x="11265" y="282757"/>
                      <a:pt x="7864" y="283729"/>
                      <a:pt x="4464" y="284701"/>
                    </a:cubicBezTo>
                    <a:cubicBezTo>
                      <a:pt x="1063" y="286158"/>
                      <a:pt x="-395" y="289559"/>
                      <a:pt x="91" y="291988"/>
                    </a:cubicBezTo>
                    <a:cubicBezTo>
                      <a:pt x="577" y="294903"/>
                      <a:pt x="3978" y="297818"/>
                      <a:pt x="7379" y="296847"/>
                    </a:cubicBezTo>
                    <a:cubicBezTo>
                      <a:pt x="11265" y="296847"/>
                      <a:pt x="15152" y="295389"/>
                      <a:pt x="19525" y="293446"/>
                    </a:cubicBezTo>
                    <a:cubicBezTo>
                      <a:pt x="28755" y="289559"/>
                      <a:pt x="37015" y="286644"/>
                      <a:pt x="44788" y="284701"/>
                    </a:cubicBezTo>
                    <a:cubicBezTo>
                      <a:pt x="48675" y="283729"/>
                      <a:pt x="53533" y="282272"/>
                      <a:pt x="58392" y="285187"/>
                    </a:cubicBezTo>
                    <a:cubicBezTo>
                      <a:pt x="59849" y="286158"/>
                      <a:pt x="60335" y="286158"/>
                      <a:pt x="60335" y="286158"/>
                    </a:cubicBezTo>
                    <a:lnTo>
                      <a:pt x="63250" y="285187"/>
                    </a:lnTo>
                    <a:lnTo>
                      <a:pt x="67622" y="286644"/>
                    </a:lnTo>
                    <a:cubicBezTo>
                      <a:pt x="71023" y="288587"/>
                      <a:pt x="71995" y="291502"/>
                      <a:pt x="72481" y="292960"/>
                    </a:cubicBezTo>
                    <a:cubicBezTo>
                      <a:pt x="86084" y="331341"/>
                      <a:pt x="109890" y="361463"/>
                      <a:pt x="144385" y="382840"/>
                    </a:cubicBezTo>
                    <a:cubicBezTo>
                      <a:pt x="150701" y="386727"/>
                      <a:pt x="150701" y="392557"/>
                      <a:pt x="148271" y="396929"/>
                    </a:cubicBezTo>
                    <a:cubicBezTo>
                      <a:pt x="150701" y="403245"/>
                      <a:pt x="148271" y="408589"/>
                      <a:pt x="146814" y="410533"/>
                    </a:cubicBezTo>
                    <a:cubicBezTo>
                      <a:pt x="142927" y="418306"/>
                      <a:pt x="138555" y="426079"/>
                      <a:pt x="131753" y="435310"/>
                    </a:cubicBezTo>
                    <a:cubicBezTo>
                      <a:pt x="128838" y="439197"/>
                      <a:pt x="127380" y="442112"/>
                      <a:pt x="126409" y="445027"/>
                    </a:cubicBezTo>
                    <a:cubicBezTo>
                      <a:pt x="124951" y="448914"/>
                      <a:pt x="126409" y="452800"/>
                      <a:pt x="129324" y="454258"/>
                    </a:cubicBezTo>
                    <a:cubicBezTo>
                      <a:pt x="132239" y="455715"/>
                      <a:pt x="136126" y="454258"/>
                      <a:pt x="138069" y="450371"/>
                    </a:cubicBezTo>
                    <a:cubicBezTo>
                      <a:pt x="139526" y="447942"/>
                      <a:pt x="140984" y="444541"/>
                      <a:pt x="141956" y="440654"/>
                    </a:cubicBezTo>
                    <a:cubicBezTo>
                      <a:pt x="144871" y="430938"/>
                      <a:pt x="147786" y="422193"/>
                      <a:pt x="151672" y="414419"/>
                    </a:cubicBezTo>
                    <a:cubicBezTo>
                      <a:pt x="152644" y="411990"/>
                      <a:pt x="155559" y="406160"/>
                      <a:pt x="162361" y="403731"/>
                    </a:cubicBezTo>
                    <a:cubicBezTo>
                      <a:pt x="163818" y="400330"/>
                      <a:pt x="168191" y="395472"/>
                      <a:pt x="176936" y="398387"/>
                    </a:cubicBezTo>
                    <a:cubicBezTo>
                      <a:pt x="213860" y="411504"/>
                      <a:pt x="251269" y="411504"/>
                      <a:pt x="289164" y="398872"/>
                    </a:cubicBezTo>
                    <a:cubicBezTo>
                      <a:pt x="292079" y="397901"/>
                      <a:pt x="295966" y="396443"/>
                      <a:pt x="300339" y="398872"/>
                    </a:cubicBezTo>
                    <a:cubicBezTo>
                      <a:pt x="302282" y="399844"/>
                      <a:pt x="303739" y="401302"/>
                      <a:pt x="304711" y="403731"/>
                    </a:cubicBezTo>
                    <a:cubicBezTo>
                      <a:pt x="309084" y="405188"/>
                      <a:pt x="311999" y="408103"/>
                      <a:pt x="314428" y="412962"/>
                    </a:cubicBezTo>
                    <a:cubicBezTo>
                      <a:pt x="319286" y="422678"/>
                      <a:pt x="322201" y="432881"/>
                      <a:pt x="324630" y="441140"/>
                    </a:cubicBezTo>
                    <a:cubicBezTo>
                      <a:pt x="326088" y="445999"/>
                      <a:pt x="327545" y="449400"/>
                      <a:pt x="329975" y="451829"/>
                    </a:cubicBezTo>
                    <a:cubicBezTo>
                      <a:pt x="332404" y="454258"/>
                      <a:pt x="335319" y="454744"/>
                      <a:pt x="337748" y="453286"/>
                    </a:cubicBezTo>
                    <a:cubicBezTo>
                      <a:pt x="340177" y="451829"/>
                      <a:pt x="341149" y="448428"/>
                      <a:pt x="340177" y="445513"/>
                    </a:cubicBezTo>
                    <a:cubicBezTo>
                      <a:pt x="339206" y="441626"/>
                      <a:pt x="336776" y="438225"/>
                      <a:pt x="334347" y="434824"/>
                    </a:cubicBezTo>
                    <a:cubicBezTo>
                      <a:pt x="329003" y="427051"/>
                      <a:pt x="324145" y="419763"/>
                      <a:pt x="320258" y="412476"/>
                    </a:cubicBezTo>
                    <a:cubicBezTo>
                      <a:pt x="318800" y="409561"/>
                      <a:pt x="315400" y="403731"/>
                      <a:pt x="317829" y="396443"/>
                    </a:cubicBezTo>
                    <a:cubicBezTo>
                      <a:pt x="315885" y="392071"/>
                      <a:pt x="316371" y="386727"/>
                      <a:pt x="322687" y="382840"/>
                    </a:cubicBezTo>
                    <a:cubicBezTo>
                      <a:pt x="339691" y="372637"/>
                      <a:pt x="354752" y="359034"/>
                      <a:pt x="367384" y="343001"/>
                    </a:cubicBezTo>
                    <a:cubicBezTo>
                      <a:pt x="379044" y="327940"/>
                      <a:pt x="388275" y="311422"/>
                      <a:pt x="394105" y="293446"/>
                    </a:cubicBezTo>
                    <a:cubicBezTo>
                      <a:pt x="396534" y="285672"/>
                      <a:pt x="402850" y="284215"/>
                      <a:pt x="407709" y="285672"/>
                    </a:cubicBezTo>
                    <a:cubicBezTo>
                      <a:pt x="409652" y="283243"/>
                      <a:pt x="414510" y="282272"/>
                      <a:pt x="419369" y="283243"/>
                    </a:cubicBezTo>
                    <a:cubicBezTo>
                      <a:pt x="425199" y="284701"/>
                      <a:pt x="431029" y="286158"/>
                      <a:pt x="436373" y="288102"/>
                    </a:cubicBezTo>
                    <a:cubicBezTo>
                      <a:pt x="440260" y="289559"/>
                      <a:pt x="442689" y="290531"/>
                      <a:pt x="445118" y="291502"/>
                    </a:cubicBezTo>
                    <a:cubicBezTo>
                      <a:pt x="449491" y="293446"/>
                      <a:pt x="453377" y="294903"/>
                      <a:pt x="457750" y="295389"/>
                    </a:cubicBezTo>
                    <a:cubicBezTo>
                      <a:pt x="462122" y="296361"/>
                      <a:pt x="464066" y="294417"/>
                      <a:pt x="465523" y="292474"/>
                    </a:cubicBezTo>
                    <a:cubicBezTo>
                      <a:pt x="466981" y="290531"/>
                      <a:pt x="466981" y="289073"/>
                      <a:pt x="466009" y="287130"/>
                    </a:cubicBezTo>
                    <a:cubicBezTo>
                      <a:pt x="464552" y="284215"/>
                      <a:pt x="462608" y="282757"/>
                      <a:pt x="459207" y="282272"/>
                    </a:cubicBezTo>
                    <a:cubicBezTo>
                      <a:pt x="454349" y="281786"/>
                      <a:pt x="449491" y="281300"/>
                      <a:pt x="444632" y="280814"/>
                    </a:cubicBezTo>
                    <a:close/>
                    <a:moveTo>
                      <a:pt x="246411" y="95710"/>
                    </a:moveTo>
                    <a:cubicBezTo>
                      <a:pt x="249811" y="92795"/>
                      <a:pt x="254184" y="93281"/>
                      <a:pt x="259042" y="94252"/>
                    </a:cubicBezTo>
                    <a:lnTo>
                      <a:pt x="259042" y="94252"/>
                    </a:lnTo>
                    <a:cubicBezTo>
                      <a:pt x="286249" y="99111"/>
                      <a:pt x="311513" y="111743"/>
                      <a:pt x="332890" y="131176"/>
                    </a:cubicBezTo>
                    <a:cubicBezTo>
                      <a:pt x="334347" y="132634"/>
                      <a:pt x="337748" y="135549"/>
                      <a:pt x="337262" y="139921"/>
                    </a:cubicBezTo>
                    <a:cubicBezTo>
                      <a:pt x="337262" y="144294"/>
                      <a:pt x="333376" y="147209"/>
                      <a:pt x="331918" y="148180"/>
                    </a:cubicBezTo>
                    <a:cubicBezTo>
                      <a:pt x="313942" y="160812"/>
                      <a:pt x="296452" y="173444"/>
                      <a:pt x="278476" y="186076"/>
                    </a:cubicBezTo>
                    <a:cubicBezTo>
                      <a:pt x="274103" y="188991"/>
                      <a:pt x="269731" y="190448"/>
                      <a:pt x="265358" y="190448"/>
                    </a:cubicBezTo>
                    <a:cubicBezTo>
                      <a:pt x="262443" y="190448"/>
                      <a:pt x="260014" y="189962"/>
                      <a:pt x="257099" y="188505"/>
                    </a:cubicBezTo>
                    <a:cubicBezTo>
                      <a:pt x="250297" y="185590"/>
                      <a:pt x="246411" y="179274"/>
                      <a:pt x="245925" y="170529"/>
                    </a:cubicBezTo>
                    <a:lnTo>
                      <a:pt x="242524" y="108828"/>
                    </a:lnTo>
                    <a:cubicBezTo>
                      <a:pt x="242524" y="102998"/>
                      <a:pt x="242524" y="98625"/>
                      <a:pt x="245925" y="95710"/>
                    </a:cubicBezTo>
                    <a:close/>
                    <a:moveTo>
                      <a:pt x="249326" y="207938"/>
                    </a:moveTo>
                    <a:lnTo>
                      <a:pt x="269245" y="233202"/>
                    </a:lnTo>
                    <a:lnTo>
                      <a:pt x="262443" y="264781"/>
                    </a:lnTo>
                    <a:lnTo>
                      <a:pt x="233293" y="278871"/>
                    </a:lnTo>
                    <a:lnTo>
                      <a:pt x="204143" y="264781"/>
                    </a:lnTo>
                    <a:lnTo>
                      <a:pt x="196855" y="233202"/>
                    </a:lnTo>
                    <a:lnTo>
                      <a:pt x="216775" y="207938"/>
                    </a:lnTo>
                    <a:lnTo>
                      <a:pt x="249326" y="207938"/>
                    </a:lnTo>
                    <a:close/>
                    <a:moveTo>
                      <a:pt x="130781" y="132148"/>
                    </a:moveTo>
                    <a:lnTo>
                      <a:pt x="136126" y="137492"/>
                    </a:lnTo>
                    <a:lnTo>
                      <a:pt x="131267" y="132148"/>
                    </a:lnTo>
                    <a:cubicBezTo>
                      <a:pt x="152158" y="112714"/>
                      <a:pt x="176936" y="100568"/>
                      <a:pt x="204629" y="95224"/>
                    </a:cubicBezTo>
                    <a:cubicBezTo>
                      <a:pt x="206572" y="95224"/>
                      <a:pt x="208029" y="94738"/>
                      <a:pt x="209001" y="94252"/>
                    </a:cubicBezTo>
                    <a:cubicBezTo>
                      <a:pt x="212888" y="93767"/>
                      <a:pt x="216289" y="93281"/>
                      <a:pt x="219690" y="96196"/>
                    </a:cubicBezTo>
                    <a:cubicBezTo>
                      <a:pt x="223090" y="99111"/>
                      <a:pt x="222605" y="102998"/>
                      <a:pt x="222605" y="106398"/>
                    </a:cubicBezTo>
                    <a:lnTo>
                      <a:pt x="221633" y="124374"/>
                    </a:lnTo>
                    <a:cubicBezTo>
                      <a:pt x="220661" y="140407"/>
                      <a:pt x="219690" y="156925"/>
                      <a:pt x="218718" y="172958"/>
                    </a:cubicBezTo>
                    <a:cubicBezTo>
                      <a:pt x="218718" y="180246"/>
                      <a:pt x="214345" y="186076"/>
                      <a:pt x="208029" y="188991"/>
                    </a:cubicBezTo>
                    <a:cubicBezTo>
                      <a:pt x="205600" y="190448"/>
                      <a:pt x="202685" y="190934"/>
                      <a:pt x="199770" y="190934"/>
                    </a:cubicBezTo>
                    <a:cubicBezTo>
                      <a:pt x="195884" y="190934"/>
                      <a:pt x="191997" y="189477"/>
                      <a:pt x="188596" y="187533"/>
                    </a:cubicBezTo>
                    <a:cubicBezTo>
                      <a:pt x="179365" y="180731"/>
                      <a:pt x="169648" y="174416"/>
                      <a:pt x="160417" y="167614"/>
                    </a:cubicBezTo>
                    <a:cubicBezTo>
                      <a:pt x="151187" y="160812"/>
                      <a:pt x="141470" y="154496"/>
                      <a:pt x="132239" y="147695"/>
                    </a:cubicBezTo>
                    <a:cubicBezTo>
                      <a:pt x="129324" y="145751"/>
                      <a:pt x="127866" y="143322"/>
                      <a:pt x="127380" y="140407"/>
                    </a:cubicBezTo>
                    <a:cubicBezTo>
                      <a:pt x="127380" y="136034"/>
                      <a:pt x="129810" y="133605"/>
                      <a:pt x="131267" y="132634"/>
                    </a:cubicBezTo>
                    <a:close/>
                    <a:moveTo>
                      <a:pt x="85113" y="256522"/>
                    </a:moveTo>
                    <a:cubicBezTo>
                      <a:pt x="83169" y="246805"/>
                      <a:pt x="83655" y="237574"/>
                      <a:pt x="84141" y="229801"/>
                    </a:cubicBezTo>
                    <a:cubicBezTo>
                      <a:pt x="85598" y="206967"/>
                      <a:pt x="92400" y="185590"/>
                      <a:pt x="103574" y="166156"/>
                    </a:cubicBezTo>
                    <a:cubicBezTo>
                      <a:pt x="104546" y="164699"/>
                      <a:pt x="106489" y="160812"/>
                      <a:pt x="110862" y="160326"/>
                    </a:cubicBezTo>
                    <a:cubicBezTo>
                      <a:pt x="115235" y="159841"/>
                      <a:pt x="118150" y="162270"/>
                      <a:pt x="119607" y="163241"/>
                    </a:cubicBezTo>
                    <a:cubicBezTo>
                      <a:pt x="136126" y="178302"/>
                      <a:pt x="152644" y="192877"/>
                      <a:pt x="169162" y="207453"/>
                    </a:cubicBezTo>
                    <a:cubicBezTo>
                      <a:pt x="175964" y="213283"/>
                      <a:pt x="178393" y="220084"/>
                      <a:pt x="176450" y="227858"/>
                    </a:cubicBezTo>
                    <a:cubicBezTo>
                      <a:pt x="174021" y="239032"/>
                      <a:pt x="164304" y="241461"/>
                      <a:pt x="160903" y="242433"/>
                    </a:cubicBezTo>
                    <a:cubicBezTo>
                      <a:pt x="144871" y="246805"/>
                      <a:pt x="128838" y="251664"/>
                      <a:pt x="112320" y="256522"/>
                    </a:cubicBezTo>
                    <a:lnTo>
                      <a:pt x="86570" y="263810"/>
                    </a:lnTo>
                    <a:lnTo>
                      <a:pt x="85113" y="256036"/>
                    </a:lnTo>
                    <a:close/>
                    <a:moveTo>
                      <a:pt x="164790" y="358062"/>
                    </a:moveTo>
                    <a:cubicBezTo>
                      <a:pt x="164790" y="358062"/>
                      <a:pt x="162361" y="363892"/>
                      <a:pt x="157988" y="365350"/>
                    </a:cubicBezTo>
                    <a:cubicBezTo>
                      <a:pt x="157017" y="365350"/>
                      <a:pt x="156045" y="365350"/>
                      <a:pt x="155559" y="365350"/>
                    </a:cubicBezTo>
                    <a:cubicBezTo>
                      <a:pt x="152158" y="365350"/>
                      <a:pt x="149729" y="363406"/>
                      <a:pt x="148271" y="362435"/>
                    </a:cubicBezTo>
                    <a:cubicBezTo>
                      <a:pt x="123980" y="345430"/>
                      <a:pt x="105518" y="322596"/>
                      <a:pt x="94344" y="294903"/>
                    </a:cubicBezTo>
                    <a:cubicBezTo>
                      <a:pt x="93372" y="292960"/>
                      <a:pt x="91914" y="289073"/>
                      <a:pt x="94344" y="285672"/>
                    </a:cubicBezTo>
                    <a:cubicBezTo>
                      <a:pt x="95801" y="283243"/>
                      <a:pt x="98230" y="281300"/>
                      <a:pt x="102117" y="280814"/>
                    </a:cubicBezTo>
                    <a:cubicBezTo>
                      <a:pt x="119121" y="277899"/>
                      <a:pt x="136611" y="274984"/>
                      <a:pt x="153616" y="272069"/>
                    </a:cubicBezTo>
                    <a:lnTo>
                      <a:pt x="172563" y="269154"/>
                    </a:lnTo>
                    <a:cubicBezTo>
                      <a:pt x="178393" y="268668"/>
                      <a:pt x="183738" y="271583"/>
                      <a:pt x="187624" y="275956"/>
                    </a:cubicBezTo>
                    <a:cubicBezTo>
                      <a:pt x="191511" y="280328"/>
                      <a:pt x="192969" y="286158"/>
                      <a:pt x="191997" y="291988"/>
                    </a:cubicBezTo>
                    <a:lnTo>
                      <a:pt x="191997" y="291988"/>
                    </a:lnTo>
                    <a:cubicBezTo>
                      <a:pt x="191997" y="291988"/>
                      <a:pt x="190539" y="296361"/>
                      <a:pt x="190053" y="298790"/>
                    </a:cubicBezTo>
                    <a:lnTo>
                      <a:pt x="182766" y="316766"/>
                    </a:lnTo>
                    <a:cubicBezTo>
                      <a:pt x="176936" y="330369"/>
                      <a:pt x="171592" y="343973"/>
                      <a:pt x="165762" y="358062"/>
                    </a:cubicBezTo>
                    <a:close/>
                    <a:moveTo>
                      <a:pt x="283820" y="377010"/>
                    </a:moveTo>
                    <a:cubicBezTo>
                      <a:pt x="281877" y="381382"/>
                      <a:pt x="277504" y="382840"/>
                      <a:pt x="276047" y="383326"/>
                    </a:cubicBezTo>
                    <a:cubicBezTo>
                      <a:pt x="261472" y="387212"/>
                      <a:pt x="247382" y="389642"/>
                      <a:pt x="232807" y="389642"/>
                    </a:cubicBezTo>
                    <a:cubicBezTo>
                      <a:pt x="217746" y="389642"/>
                      <a:pt x="203171" y="387212"/>
                      <a:pt x="188596" y="382840"/>
                    </a:cubicBezTo>
                    <a:cubicBezTo>
                      <a:pt x="187138" y="382840"/>
                      <a:pt x="183252" y="381382"/>
                      <a:pt x="181308" y="377010"/>
                    </a:cubicBezTo>
                    <a:cubicBezTo>
                      <a:pt x="179851" y="373123"/>
                      <a:pt x="181308" y="369236"/>
                      <a:pt x="182280" y="367779"/>
                    </a:cubicBezTo>
                    <a:cubicBezTo>
                      <a:pt x="189082" y="355633"/>
                      <a:pt x="195398" y="343973"/>
                      <a:pt x="202199" y="331827"/>
                    </a:cubicBezTo>
                    <a:lnTo>
                      <a:pt x="214831" y="308993"/>
                    </a:lnTo>
                    <a:cubicBezTo>
                      <a:pt x="218718" y="302191"/>
                      <a:pt x="225034" y="298304"/>
                      <a:pt x="231836" y="298304"/>
                    </a:cubicBezTo>
                    <a:lnTo>
                      <a:pt x="231836" y="298304"/>
                    </a:lnTo>
                    <a:cubicBezTo>
                      <a:pt x="238637" y="298304"/>
                      <a:pt x="244953" y="302191"/>
                      <a:pt x="248840" y="308993"/>
                    </a:cubicBezTo>
                    <a:cubicBezTo>
                      <a:pt x="254670" y="318709"/>
                      <a:pt x="260014" y="328912"/>
                      <a:pt x="265358" y="338629"/>
                    </a:cubicBezTo>
                    <a:lnTo>
                      <a:pt x="274589" y="355633"/>
                    </a:lnTo>
                    <a:cubicBezTo>
                      <a:pt x="276533" y="359520"/>
                      <a:pt x="278962" y="363406"/>
                      <a:pt x="280905" y="367293"/>
                    </a:cubicBezTo>
                    <a:cubicBezTo>
                      <a:pt x="281877" y="368751"/>
                      <a:pt x="284306" y="372637"/>
                      <a:pt x="282363" y="377010"/>
                    </a:cubicBezTo>
                    <a:close/>
                    <a:moveTo>
                      <a:pt x="371757" y="294417"/>
                    </a:moveTo>
                    <a:cubicBezTo>
                      <a:pt x="360582" y="323082"/>
                      <a:pt x="341635" y="346402"/>
                      <a:pt x="316857" y="363892"/>
                    </a:cubicBezTo>
                    <a:cubicBezTo>
                      <a:pt x="315885" y="364378"/>
                      <a:pt x="313456" y="366321"/>
                      <a:pt x="310541" y="366321"/>
                    </a:cubicBezTo>
                    <a:cubicBezTo>
                      <a:pt x="309569" y="366321"/>
                      <a:pt x="309084" y="366321"/>
                      <a:pt x="308112" y="366321"/>
                    </a:cubicBezTo>
                    <a:cubicBezTo>
                      <a:pt x="303739" y="364864"/>
                      <a:pt x="302282" y="360977"/>
                      <a:pt x="301796" y="360005"/>
                    </a:cubicBezTo>
                    <a:cubicBezTo>
                      <a:pt x="294994" y="343487"/>
                      <a:pt x="288193" y="326969"/>
                      <a:pt x="281391" y="310450"/>
                    </a:cubicBezTo>
                    <a:lnTo>
                      <a:pt x="275561" y="296361"/>
                    </a:lnTo>
                    <a:cubicBezTo>
                      <a:pt x="275561" y="296361"/>
                      <a:pt x="273618" y="291017"/>
                      <a:pt x="274103" y="287616"/>
                    </a:cubicBezTo>
                    <a:cubicBezTo>
                      <a:pt x="274103" y="282757"/>
                      <a:pt x="276533" y="277413"/>
                      <a:pt x="280905" y="273526"/>
                    </a:cubicBezTo>
                    <a:cubicBezTo>
                      <a:pt x="285278" y="270126"/>
                      <a:pt x="290622" y="268668"/>
                      <a:pt x="296452" y="269640"/>
                    </a:cubicBezTo>
                    <a:lnTo>
                      <a:pt x="363983" y="281300"/>
                    </a:lnTo>
                    <a:cubicBezTo>
                      <a:pt x="363983" y="281300"/>
                      <a:pt x="369328" y="282272"/>
                      <a:pt x="371757" y="286158"/>
                    </a:cubicBezTo>
                    <a:cubicBezTo>
                      <a:pt x="373214" y="288587"/>
                      <a:pt x="373214" y="291502"/>
                      <a:pt x="371757" y="294903"/>
                    </a:cubicBezTo>
                    <a:lnTo>
                      <a:pt x="371757" y="294903"/>
                    </a:lnTo>
                    <a:close/>
                    <a:moveTo>
                      <a:pt x="380988" y="253121"/>
                    </a:moveTo>
                    <a:cubicBezTo>
                      <a:pt x="380988" y="256522"/>
                      <a:pt x="379530" y="258951"/>
                      <a:pt x="377101" y="260409"/>
                    </a:cubicBezTo>
                    <a:cubicBezTo>
                      <a:pt x="375643" y="261380"/>
                      <a:pt x="373700" y="261866"/>
                      <a:pt x="372242" y="261866"/>
                    </a:cubicBezTo>
                    <a:cubicBezTo>
                      <a:pt x="370785" y="261866"/>
                      <a:pt x="369328" y="261866"/>
                      <a:pt x="368842" y="261380"/>
                    </a:cubicBezTo>
                    <a:lnTo>
                      <a:pt x="347465" y="255065"/>
                    </a:lnTo>
                    <a:cubicBezTo>
                      <a:pt x="332404" y="250692"/>
                      <a:pt x="317829" y="246320"/>
                      <a:pt x="302768" y="241947"/>
                    </a:cubicBezTo>
                    <a:cubicBezTo>
                      <a:pt x="295480" y="240004"/>
                      <a:pt x="290136" y="234659"/>
                      <a:pt x="288678" y="227858"/>
                    </a:cubicBezTo>
                    <a:cubicBezTo>
                      <a:pt x="287221" y="221056"/>
                      <a:pt x="289650" y="213768"/>
                      <a:pt x="295480" y="208910"/>
                    </a:cubicBezTo>
                    <a:lnTo>
                      <a:pt x="346007" y="163727"/>
                    </a:lnTo>
                    <a:cubicBezTo>
                      <a:pt x="346007" y="163727"/>
                      <a:pt x="350380" y="159841"/>
                      <a:pt x="354752" y="160812"/>
                    </a:cubicBezTo>
                    <a:cubicBezTo>
                      <a:pt x="359125" y="161298"/>
                      <a:pt x="361068" y="165185"/>
                      <a:pt x="362040" y="166642"/>
                    </a:cubicBezTo>
                    <a:cubicBezTo>
                      <a:pt x="373214" y="186076"/>
                      <a:pt x="380016" y="206967"/>
                      <a:pt x="381473" y="228829"/>
                    </a:cubicBezTo>
                    <a:cubicBezTo>
                      <a:pt x="381473" y="234174"/>
                      <a:pt x="382445" y="238060"/>
                      <a:pt x="381959" y="241947"/>
                    </a:cubicBezTo>
                    <a:cubicBezTo>
                      <a:pt x="381959" y="246320"/>
                      <a:pt x="381959" y="249720"/>
                      <a:pt x="381473" y="253607"/>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5" name="Google Shape;1015;g36c36515e95_0_2260"/>
              <p:cNvSpPr/>
              <p:nvPr/>
            </p:nvSpPr>
            <p:spPr>
              <a:xfrm>
                <a:off x="624431" y="1107698"/>
                <a:ext cx="682601" cy="664625"/>
              </a:xfrm>
              <a:custGeom>
                <a:avLst/>
                <a:gdLst/>
                <a:ahLst/>
                <a:cxnLst/>
                <a:rect l="l" t="t" r="r" b="b"/>
                <a:pathLst>
                  <a:path w="682601" h="664625" extrusionOk="0">
                    <a:moveTo>
                      <a:pt x="614584" y="131662"/>
                    </a:moveTo>
                    <a:lnTo>
                      <a:pt x="341058" y="0"/>
                    </a:lnTo>
                    <a:lnTo>
                      <a:pt x="67531" y="131662"/>
                    </a:lnTo>
                    <a:lnTo>
                      <a:pt x="0" y="427537"/>
                    </a:lnTo>
                    <a:lnTo>
                      <a:pt x="189477" y="664626"/>
                    </a:lnTo>
                    <a:lnTo>
                      <a:pt x="493125" y="664626"/>
                    </a:lnTo>
                    <a:lnTo>
                      <a:pt x="682601" y="427537"/>
                    </a:lnTo>
                    <a:lnTo>
                      <a:pt x="615070" y="131662"/>
                    </a:lnTo>
                    <a:close/>
                    <a:moveTo>
                      <a:pt x="584462" y="407618"/>
                    </a:moveTo>
                    <a:cubicBezTo>
                      <a:pt x="579118" y="413933"/>
                      <a:pt x="571831" y="416848"/>
                      <a:pt x="563085" y="415877"/>
                    </a:cubicBezTo>
                    <a:cubicBezTo>
                      <a:pt x="557255" y="414905"/>
                      <a:pt x="551911" y="412962"/>
                      <a:pt x="547053" y="411018"/>
                    </a:cubicBezTo>
                    <a:cubicBezTo>
                      <a:pt x="544624" y="410047"/>
                      <a:pt x="542680" y="409075"/>
                      <a:pt x="540251" y="408103"/>
                    </a:cubicBezTo>
                    <a:cubicBezTo>
                      <a:pt x="533935" y="406160"/>
                      <a:pt x="529077" y="404217"/>
                      <a:pt x="523733" y="403245"/>
                    </a:cubicBezTo>
                    <a:cubicBezTo>
                      <a:pt x="519846" y="405188"/>
                      <a:pt x="516931" y="405674"/>
                      <a:pt x="514988" y="405674"/>
                    </a:cubicBezTo>
                    <a:cubicBezTo>
                      <a:pt x="508186" y="424136"/>
                      <a:pt x="498955" y="441626"/>
                      <a:pt x="486809" y="457173"/>
                    </a:cubicBezTo>
                    <a:cubicBezTo>
                      <a:pt x="473691" y="474177"/>
                      <a:pt x="458145" y="488267"/>
                      <a:pt x="440654" y="498955"/>
                    </a:cubicBezTo>
                    <a:cubicBezTo>
                      <a:pt x="441140" y="501870"/>
                      <a:pt x="440654" y="504299"/>
                      <a:pt x="440169" y="505757"/>
                    </a:cubicBezTo>
                    <a:cubicBezTo>
                      <a:pt x="440169" y="506728"/>
                      <a:pt x="439683" y="507700"/>
                      <a:pt x="441626" y="511101"/>
                    </a:cubicBezTo>
                    <a:cubicBezTo>
                      <a:pt x="445027" y="517903"/>
                      <a:pt x="449400" y="524704"/>
                      <a:pt x="454258" y="531992"/>
                    </a:cubicBezTo>
                    <a:cubicBezTo>
                      <a:pt x="457173" y="536364"/>
                      <a:pt x="460574" y="541223"/>
                      <a:pt x="462031" y="547539"/>
                    </a:cubicBezTo>
                    <a:cubicBezTo>
                      <a:pt x="464461" y="557255"/>
                      <a:pt x="460574" y="566972"/>
                      <a:pt x="452315" y="571831"/>
                    </a:cubicBezTo>
                    <a:cubicBezTo>
                      <a:pt x="444055" y="576689"/>
                      <a:pt x="433853" y="574746"/>
                      <a:pt x="426565" y="567458"/>
                    </a:cubicBezTo>
                    <a:cubicBezTo>
                      <a:pt x="421707" y="562114"/>
                      <a:pt x="419763" y="556284"/>
                      <a:pt x="417820" y="550454"/>
                    </a:cubicBezTo>
                    <a:cubicBezTo>
                      <a:pt x="415391" y="542680"/>
                      <a:pt x="412476" y="532964"/>
                      <a:pt x="408103" y="524218"/>
                    </a:cubicBezTo>
                    <a:cubicBezTo>
                      <a:pt x="407132" y="522275"/>
                      <a:pt x="406646" y="522275"/>
                      <a:pt x="406160" y="522275"/>
                    </a:cubicBezTo>
                    <a:cubicBezTo>
                      <a:pt x="402759" y="521303"/>
                      <a:pt x="400816" y="519846"/>
                      <a:pt x="399844" y="518388"/>
                    </a:cubicBezTo>
                    <a:cubicBezTo>
                      <a:pt x="360005" y="531506"/>
                      <a:pt x="320167" y="531506"/>
                      <a:pt x="280814" y="518388"/>
                    </a:cubicBezTo>
                    <a:cubicBezTo>
                      <a:pt x="278871" y="521303"/>
                      <a:pt x="275956" y="522275"/>
                      <a:pt x="274498" y="522761"/>
                    </a:cubicBezTo>
                    <a:cubicBezTo>
                      <a:pt x="274012" y="522761"/>
                      <a:pt x="273526" y="522761"/>
                      <a:pt x="272069" y="526162"/>
                    </a:cubicBezTo>
                    <a:cubicBezTo>
                      <a:pt x="268668" y="533449"/>
                      <a:pt x="265753" y="541709"/>
                      <a:pt x="263324" y="550454"/>
                    </a:cubicBezTo>
                    <a:cubicBezTo>
                      <a:pt x="261866" y="555312"/>
                      <a:pt x="259923" y="559685"/>
                      <a:pt x="257980" y="563571"/>
                    </a:cubicBezTo>
                    <a:cubicBezTo>
                      <a:pt x="253607" y="570859"/>
                      <a:pt x="246320" y="574746"/>
                      <a:pt x="239032" y="574746"/>
                    </a:cubicBezTo>
                    <a:cubicBezTo>
                      <a:pt x="236117" y="574746"/>
                      <a:pt x="233202" y="574260"/>
                      <a:pt x="230287" y="572802"/>
                    </a:cubicBezTo>
                    <a:cubicBezTo>
                      <a:pt x="220570" y="567944"/>
                      <a:pt x="216198" y="556284"/>
                      <a:pt x="220084" y="545595"/>
                    </a:cubicBezTo>
                    <a:cubicBezTo>
                      <a:pt x="222028" y="540251"/>
                      <a:pt x="224943" y="535879"/>
                      <a:pt x="227372" y="532478"/>
                    </a:cubicBezTo>
                    <a:cubicBezTo>
                      <a:pt x="233202" y="524218"/>
                      <a:pt x="237574" y="516931"/>
                      <a:pt x="240975" y="510129"/>
                    </a:cubicBezTo>
                    <a:cubicBezTo>
                      <a:pt x="241947" y="508186"/>
                      <a:pt x="241947" y="507700"/>
                      <a:pt x="241461" y="507214"/>
                    </a:cubicBezTo>
                    <a:cubicBezTo>
                      <a:pt x="240004" y="504299"/>
                      <a:pt x="240004" y="501384"/>
                      <a:pt x="240975" y="498955"/>
                    </a:cubicBezTo>
                    <a:cubicBezTo>
                      <a:pt x="205995" y="476121"/>
                      <a:pt x="181217" y="445027"/>
                      <a:pt x="166642" y="406160"/>
                    </a:cubicBezTo>
                    <a:cubicBezTo>
                      <a:pt x="163241" y="406160"/>
                      <a:pt x="160326" y="404703"/>
                      <a:pt x="157897" y="403245"/>
                    </a:cubicBezTo>
                    <a:cubicBezTo>
                      <a:pt x="157897" y="403245"/>
                      <a:pt x="156440" y="403245"/>
                      <a:pt x="155468" y="403731"/>
                    </a:cubicBezTo>
                    <a:cubicBezTo>
                      <a:pt x="147209" y="405674"/>
                      <a:pt x="139921" y="408103"/>
                      <a:pt x="131176" y="411990"/>
                    </a:cubicBezTo>
                    <a:cubicBezTo>
                      <a:pt x="125832" y="414419"/>
                      <a:pt x="120002" y="416363"/>
                      <a:pt x="113200" y="416363"/>
                    </a:cubicBezTo>
                    <a:cubicBezTo>
                      <a:pt x="102512" y="416363"/>
                      <a:pt x="93767" y="409561"/>
                      <a:pt x="91823" y="399844"/>
                    </a:cubicBezTo>
                    <a:cubicBezTo>
                      <a:pt x="89880" y="390127"/>
                      <a:pt x="95710" y="379925"/>
                      <a:pt x="104941" y="376038"/>
                    </a:cubicBezTo>
                    <a:cubicBezTo>
                      <a:pt x="109799" y="374095"/>
                      <a:pt x="114658" y="373123"/>
                      <a:pt x="120974" y="372637"/>
                    </a:cubicBezTo>
                    <a:cubicBezTo>
                      <a:pt x="129719" y="372637"/>
                      <a:pt x="138464" y="371180"/>
                      <a:pt x="146723" y="369236"/>
                    </a:cubicBezTo>
                    <a:cubicBezTo>
                      <a:pt x="149638" y="368751"/>
                      <a:pt x="150124" y="368265"/>
                      <a:pt x="150124" y="367779"/>
                    </a:cubicBezTo>
                    <a:cubicBezTo>
                      <a:pt x="151095" y="365836"/>
                      <a:pt x="152553" y="363892"/>
                      <a:pt x="155468" y="362435"/>
                    </a:cubicBezTo>
                    <a:cubicBezTo>
                      <a:pt x="151095" y="321138"/>
                      <a:pt x="159840" y="282271"/>
                      <a:pt x="181703" y="246320"/>
                    </a:cubicBezTo>
                    <a:cubicBezTo>
                      <a:pt x="180246" y="244376"/>
                      <a:pt x="179274" y="241947"/>
                      <a:pt x="179274" y="239518"/>
                    </a:cubicBezTo>
                    <a:cubicBezTo>
                      <a:pt x="179274" y="238546"/>
                      <a:pt x="179274" y="238060"/>
                      <a:pt x="175873" y="235631"/>
                    </a:cubicBezTo>
                    <a:cubicBezTo>
                      <a:pt x="170043" y="231259"/>
                      <a:pt x="163241" y="226886"/>
                      <a:pt x="155954" y="222999"/>
                    </a:cubicBezTo>
                    <a:cubicBezTo>
                      <a:pt x="151581" y="220570"/>
                      <a:pt x="146723" y="217655"/>
                      <a:pt x="142350" y="213283"/>
                    </a:cubicBezTo>
                    <a:cubicBezTo>
                      <a:pt x="134577" y="205509"/>
                      <a:pt x="133119" y="193363"/>
                      <a:pt x="139921" y="185104"/>
                    </a:cubicBezTo>
                    <a:cubicBezTo>
                      <a:pt x="146237" y="176359"/>
                      <a:pt x="158383" y="174416"/>
                      <a:pt x="168100" y="180246"/>
                    </a:cubicBezTo>
                    <a:cubicBezTo>
                      <a:pt x="173444" y="183161"/>
                      <a:pt x="177331" y="187533"/>
                      <a:pt x="181217" y="191906"/>
                    </a:cubicBezTo>
                    <a:cubicBezTo>
                      <a:pt x="187533" y="199193"/>
                      <a:pt x="193363" y="204538"/>
                      <a:pt x="199193" y="208910"/>
                    </a:cubicBezTo>
                    <a:cubicBezTo>
                      <a:pt x="199193" y="208910"/>
                      <a:pt x="200651" y="210368"/>
                      <a:pt x="201137" y="209882"/>
                    </a:cubicBezTo>
                    <a:cubicBezTo>
                      <a:pt x="204052" y="208910"/>
                      <a:pt x="206481" y="209882"/>
                      <a:pt x="208910" y="210853"/>
                    </a:cubicBezTo>
                    <a:cubicBezTo>
                      <a:pt x="239518" y="181217"/>
                      <a:pt x="274984" y="164213"/>
                      <a:pt x="316280" y="159355"/>
                    </a:cubicBezTo>
                    <a:cubicBezTo>
                      <a:pt x="316280" y="159355"/>
                      <a:pt x="316280" y="159355"/>
                      <a:pt x="316280" y="159355"/>
                    </a:cubicBezTo>
                    <a:cubicBezTo>
                      <a:pt x="316766" y="156925"/>
                      <a:pt x="318709" y="154010"/>
                      <a:pt x="320653" y="152067"/>
                    </a:cubicBezTo>
                    <a:cubicBezTo>
                      <a:pt x="320653" y="152067"/>
                      <a:pt x="320653" y="152067"/>
                      <a:pt x="320653" y="150610"/>
                    </a:cubicBezTo>
                    <a:cubicBezTo>
                      <a:pt x="320653" y="141379"/>
                      <a:pt x="319195" y="132148"/>
                      <a:pt x="317738" y="123889"/>
                    </a:cubicBezTo>
                    <a:cubicBezTo>
                      <a:pt x="316766" y="118058"/>
                      <a:pt x="316766" y="113200"/>
                      <a:pt x="317252" y="108828"/>
                    </a:cubicBezTo>
                    <a:cubicBezTo>
                      <a:pt x="318709" y="97167"/>
                      <a:pt x="327454" y="88908"/>
                      <a:pt x="339114" y="89394"/>
                    </a:cubicBezTo>
                    <a:cubicBezTo>
                      <a:pt x="348831" y="89394"/>
                      <a:pt x="357090" y="97653"/>
                      <a:pt x="358548" y="107370"/>
                    </a:cubicBezTo>
                    <a:lnTo>
                      <a:pt x="360977" y="107370"/>
                    </a:lnTo>
                    <a:lnTo>
                      <a:pt x="358062" y="122431"/>
                    </a:lnTo>
                    <a:cubicBezTo>
                      <a:pt x="357576" y="128261"/>
                      <a:pt x="356605" y="134091"/>
                      <a:pt x="355633" y="139921"/>
                    </a:cubicBezTo>
                    <a:cubicBezTo>
                      <a:pt x="355633" y="143322"/>
                      <a:pt x="355633" y="146723"/>
                      <a:pt x="355633" y="150124"/>
                    </a:cubicBezTo>
                    <a:lnTo>
                      <a:pt x="355633" y="152553"/>
                    </a:lnTo>
                    <a:cubicBezTo>
                      <a:pt x="355633" y="152553"/>
                      <a:pt x="359034" y="155954"/>
                      <a:pt x="360005" y="159840"/>
                    </a:cubicBezTo>
                    <a:cubicBezTo>
                      <a:pt x="374095" y="161784"/>
                      <a:pt x="385755" y="164213"/>
                      <a:pt x="396443" y="168100"/>
                    </a:cubicBezTo>
                    <a:cubicBezTo>
                      <a:pt x="423164" y="177331"/>
                      <a:pt x="446970" y="191906"/>
                      <a:pt x="467376" y="211339"/>
                    </a:cubicBezTo>
                    <a:cubicBezTo>
                      <a:pt x="469805" y="209882"/>
                      <a:pt x="472234" y="209396"/>
                      <a:pt x="475149" y="209882"/>
                    </a:cubicBezTo>
                    <a:cubicBezTo>
                      <a:pt x="475149" y="209882"/>
                      <a:pt x="476121" y="209882"/>
                      <a:pt x="478550" y="207938"/>
                    </a:cubicBezTo>
                    <a:cubicBezTo>
                      <a:pt x="484380" y="203080"/>
                      <a:pt x="490210" y="197250"/>
                      <a:pt x="496040" y="190934"/>
                    </a:cubicBezTo>
                    <a:cubicBezTo>
                      <a:pt x="499441" y="187047"/>
                      <a:pt x="503328" y="182675"/>
                      <a:pt x="508672" y="179760"/>
                    </a:cubicBezTo>
                    <a:cubicBezTo>
                      <a:pt x="514988" y="175873"/>
                      <a:pt x="522761" y="175387"/>
                      <a:pt x="529563" y="178302"/>
                    </a:cubicBezTo>
                    <a:cubicBezTo>
                      <a:pt x="535393" y="181217"/>
                      <a:pt x="539765" y="186562"/>
                      <a:pt x="541223" y="193363"/>
                    </a:cubicBezTo>
                    <a:cubicBezTo>
                      <a:pt x="542195" y="198707"/>
                      <a:pt x="541223" y="205995"/>
                      <a:pt x="533935" y="213768"/>
                    </a:cubicBezTo>
                    <a:cubicBezTo>
                      <a:pt x="530049" y="217655"/>
                      <a:pt x="525190" y="220570"/>
                      <a:pt x="520818" y="222513"/>
                    </a:cubicBezTo>
                    <a:cubicBezTo>
                      <a:pt x="512073" y="227372"/>
                      <a:pt x="505271" y="231744"/>
                      <a:pt x="499927" y="236603"/>
                    </a:cubicBezTo>
                    <a:cubicBezTo>
                      <a:pt x="498469" y="238060"/>
                      <a:pt x="498469" y="238546"/>
                      <a:pt x="498469" y="239032"/>
                    </a:cubicBezTo>
                    <a:cubicBezTo>
                      <a:pt x="498469" y="241947"/>
                      <a:pt x="497497" y="244376"/>
                      <a:pt x="495554" y="246320"/>
                    </a:cubicBezTo>
                    <a:cubicBezTo>
                      <a:pt x="512073" y="273526"/>
                      <a:pt x="521303" y="302677"/>
                      <a:pt x="523247" y="333770"/>
                    </a:cubicBezTo>
                    <a:cubicBezTo>
                      <a:pt x="523733" y="343001"/>
                      <a:pt x="523247" y="352232"/>
                      <a:pt x="522275" y="361949"/>
                    </a:cubicBezTo>
                    <a:cubicBezTo>
                      <a:pt x="525190" y="362921"/>
                      <a:pt x="526162" y="365350"/>
                      <a:pt x="527134" y="366321"/>
                    </a:cubicBezTo>
                    <a:cubicBezTo>
                      <a:pt x="528105" y="368265"/>
                      <a:pt x="529563" y="368751"/>
                      <a:pt x="534907" y="369236"/>
                    </a:cubicBezTo>
                    <a:cubicBezTo>
                      <a:pt x="541709" y="370208"/>
                      <a:pt x="546567" y="370694"/>
                      <a:pt x="551911" y="371180"/>
                    </a:cubicBezTo>
                    <a:cubicBezTo>
                      <a:pt x="556770" y="371666"/>
                      <a:pt x="561628" y="372151"/>
                      <a:pt x="566972" y="373123"/>
                    </a:cubicBezTo>
                    <a:cubicBezTo>
                      <a:pt x="575231" y="374095"/>
                      <a:pt x="581547" y="378953"/>
                      <a:pt x="584948" y="386241"/>
                    </a:cubicBezTo>
                    <a:lnTo>
                      <a:pt x="584948" y="386241"/>
                    </a:lnTo>
                    <a:cubicBezTo>
                      <a:pt x="588349" y="393528"/>
                      <a:pt x="587377" y="400816"/>
                      <a:pt x="582519" y="407132"/>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6" name="Google Shape;1016;g36c36515e95_0_2260"/>
              <p:cNvSpPr/>
              <p:nvPr/>
            </p:nvSpPr>
            <p:spPr>
              <a:xfrm>
                <a:off x="1099094" y="1462359"/>
                <a:ext cx="7287" cy="485"/>
              </a:xfrm>
              <a:custGeom>
                <a:avLst/>
                <a:gdLst/>
                <a:ahLst/>
                <a:cxnLst/>
                <a:rect l="l" t="t" r="r" b="b"/>
                <a:pathLst>
                  <a:path w="7287" h="485" extrusionOk="0">
                    <a:moveTo>
                      <a:pt x="0" y="0"/>
                    </a:moveTo>
                    <a:lnTo>
                      <a:pt x="7288" y="486"/>
                    </a:lnTo>
                    <a:lnTo>
                      <a:pt x="0" y="0"/>
                    </a:lnTo>
                    <a:lnTo>
                      <a:pt x="0" y="0"/>
                    </a:ln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7" name="Google Shape;1017;g36c36515e95_0_2260"/>
              <p:cNvSpPr/>
              <p:nvPr/>
            </p:nvSpPr>
            <p:spPr>
              <a:xfrm>
                <a:off x="952371" y="1440011"/>
                <a:ext cx="26235" cy="25749"/>
              </a:xfrm>
              <a:custGeom>
                <a:avLst/>
                <a:gdLst/>
                <a:ahLst/>
                <a:cxnLst/>
                <a:rect l="l" t="t" r="r" b="b"/>
                <a:pathLst>
                  <a:path w="26235" h="25749" extrusionOk="0">
                    <a:moveTo>
                      <a:pt x="13118" y="25749"/>
                    </a:moveTo>
                    <a:lnTo>
                      <a:pt x="23806" y="20405"/>
                    </a:lnTo>
                    <a:lnTo>
                      <a:pt x="26235" y="9231"/>
                    </a:lnTo>
                    <a:lnTo>
                      <a:pt x="18948" y="0"/>
                    </a:lnTo>
                    <a:lnTo>
                      <a:pt x="7288" y="0"/>
                    </a:lnTo>
                    <a:lnTo>
                      <a:pt x="0" y="9231"/>
                    </a:lnTo>
                    <a:lnTo>
                      <a:pt x="2429" y="20405"/>
                    </a:lnTo>
                    <a:lnTo>
                      <a:pt x="13118" y="25749"/>
                    </a:ln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sp>
            <p:nvSpPr>
              <p:cNvPr id="1018" name="Google Shape;1018;g36c36515e95_0_2260"/>
              <p:cNvSpPr/>
              <p:nvPr/>
            </p:nvSpPr>
            <p:spPr>
              <a:xfrm>
                <a:off x="1035871" y="1388512"/>
                <a:ext cx="63708" cy="67045"/>
              </a:xfrm>
              <a:custGeom>
                <a:avLst/>
                <a:gdLst/>
                <a:ahLst/>
                <a:cxnLst/>
                <a:rect l="l" t="t" r="r" b="b"/>
                <a:pathLst>
                  <a:path w="63708" h="67045" extrusionOk="0">
                    <a:moveTo>
                      <a:pt x="63709" y="63645"/>
                    </a:moveTo>
                    <a:cubicBezTo>
                      <a:pt x="63709" y="59758"/>
                      <a:pt x="63709" y="56357"/>
                      <a:pt x="63223" y="52956"/>
                    </a:cubicBezTo>
                    <a:cubicBezTo>
                      <a:pt x="61766" y="34009"/>
                      <a:pt x="56421" y="16518"/>
                      <a:pt x="48162" y="0"/>
                    </a:cubicBezTo>
                    <a:lnTo>
                      <a:pt x="2008" y="41296"/>
                    </a:lnTo>
                    <a:cubicBezTo>
                      <a:pt x="2008" y="41296"/>
                      <a:pt x="-422" y="44697"/>
                      <a:pt x="64" y="46155"/>
                    </a:cubicBezTo>
                    <a:cubicBezTo>
                      <a:pt x="64" y="47612"/>
                      <a:pt x="2008" y="49070"/>
                      <a:pt x="3951" y="49555"/>
                    </a:cubicBezTo>
                    <a:cubicBezTo>
                      <a:pt x="18526" y="53928"/>
                      <a:pt x="33587" y="58300"/>
                      <a:pt x="48162" y="62673"/>
                    </a:cubicBezTo>
                    <a:lnTo>
                      <a:pt x="63709" y="67046"/>
                    </a:lnTo>
                    <a:cubicBezTo>
                      <a:pt x="63709" y="67046"/>
                      <a:pt x="63709" y="64616"/>
                      <a:pt x="63709" y="63159"/>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grpSp>
      </p:grpSp>
      <p:grpSp>
        <p:nvGrpSpPr>
          <p:cNvPr id="9" name="Group 8">
            <a:extLst>
              <a:ext uri="{FF2B5EF4-FFF2-40B4-BE49-F238E27FC236}">
                <a16:creationId xmlns:a16="http://schemas.microsoft.com/office/drawing/2014/main" id="{2478D7C7-CDBD-A59D-D0F8-A66872C0F9CE}"/>
              </a:ext>
            </a:extLst>
          </p:cNvPr>
          <p:cNvGrpSpPr/>
          <p:nvPr/>
        </p:nvGrpSpPr>
        <p:grpSpPr>
          <a:xfrm>
            <a:off x="4552641" y="4746159"/>
            <a:ext cx="3111900" cy="728879"/>
            <a:chOff x="4552641" y="4746159"/>
            <a:chExt cx="3111900" cy="728879"/>
          </a:xfrm>
        </p:grpSpPr>
        <p:sp>
          <p:nvSpPr>
            <p:cNvPr id="999" name="Google Shape;999;g36c36515e95_0_2260"/>
            <p:cNvSpPr txBox="1"/>
            <p:nvPr/>
          </p:nvSpPr>
          <p:spPr>
            <a:xfrm>
              <a:off x="5252037" y="4991738"/>
              <a:ext cx="2015400" cy="48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Build, run and manage Private AI apps</a:t>
              </a:r>
              <a:endParaRPr sz="1900" b="0" i="0" u="none" strike="noStrike" cap="none" dirty="0">
                <a:solidFill>
                  <a:schemeClr val="dk1"/>
                </a:solidFill>
                <a:latin typeface="Arial"/>
                <a:ea typeface="Arial"/>
                <a:cs typeface="Arial"/>
                <a:sym typeface="Arial"/>
              </a:endParaRPr>
            </a:p>
          </p:txBody>
        </p:sp>
        <p:cxnSp>
          <p:nvCxnSpPr>
            <p:cNvPr id="1002" name="Google Shape;1002;g36c36515e95_0_2260"/>
            <p:cNvCxnSpPr/>
            <p:nvPr/>
          </p:nvCxnSpPr>
          <p:spPr>
            <a:xfrm>
              <a:off x="4552641" y="4746159"/>
              <a:ext cx="3111900" cy="0"/>
            </a:xfrm>
            <a:prstGeom prst="straightConnector1">
              <a:avLst/>
            </a:prstGeom>
            <a:noFill/>
            <a:ln w="9525" cap="flat" cmpd="sng">
              <a:solidFill>
                <a:srgbClr val="0198C7"/>
              </a:solidFill>
              <a:prstDash val="solid"/>
              <a:round/>
              <a:headEnd type="none" w="sm" len="sm"/>
              <a:tailEnd type="none" w="sm" len="sm"/>
            </a:ln>
          </p:spPr>
        </p:cxnSp>
        <p:sp>
          <p:nvSpPr>
            <p:cNvPr id="1004" name="Google Shape;1004;g36c36515e95_0_2260"/>
            <p:cNvSpPr/>
            <p:nvPr/>
          </p:nvSpPr>
          <p:spPr>
            <a:xfrm>
              <a:off x="4764417" y="4991705"/>
              <a:ext cx="441900" cy="441900"/>
            </a:xfrm>
            <a:prstGeom prst="ellipse">
              <a:avLst/>
            </a:prstGeom>
            <a:gradFill>
              <a:gsLst>
                <a:gs pos="0">
                  <a:schemeClr val="accent2"/>
                </a:gs>
                <a:gs pos="100000">
                  <a:schemeClr val="accent3"/>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chemeClr val="dk1"/>
                </a:solidFill>
                <a:latin typeface="Arial"/>
                <a:ea typeface="Arial"/>
                <a:cs typeface="Arial"/>
                <a:sym typeface="Arial"/>
              </a:endParaRPr>
            </a:p>
          </p:txBody>
        </p:sp>
        <p:sp>
          <p:nvSpPr>
            <p:cNvPr id="1019" name="Google Shape;1019;g36c36515e95_0_2260"/>
            <p:cNvSpPr/>
            <p:nvPr/>
          </p:nvSpPr>
          <p:spPr>
            <a:xfrm>
              <a:off x="4885764" y="5090927"/>
              <a:ext cx="213014" cy="230733"/>
            </a:xfrm>
            <a:custGeom>
              <a:avLst/>
              <a:gdLst/>
              <a:ahLst/>
              <a:cxnLst/>
              <a:rect l="l" t="t" r="r" b="b"/>
              <a:pathLst>
                <a:path w="704178" h="762755" extrusionOk="0">
                  <a:moveTo>
                    <a:pt x="695758" y="422001"/>
                  </a:moveTo>
                  <a:cubicBezTo>
                    <a:pt x="695758" y="422001"/>
                    <a:pt x="623865" y="338254"/>
                    <a:pt x="623919" y="309836"/>
                  </a:cubicBezTo>
                  <a:cubicBezTo>
                    <a:pt x="624245" y="133014"/>
                    <a:pt x="476006" y="-8055"/>
                    <a:pt x="296817" y="358"/>
                  </a:cubicBezTo>
                  <a:cubicBezTo>
                    <a:pt x="138315" y="7799"/>
                    <a:pt x="9353" y="134632"/>
                    <a:pt x="502" y="291986"/>
                  </a:cubicBezTo>
                  <a:cubicBezTo>
                    <a:pt x="-4982" y="389376"/>
                    <a:pt x="34874" y="477598"/>
                    <a:pt x="100957" y="537940"/>
                  </a:cubicBezTo>
                  <a:cubicBezTo>
                    <a:pt x="120342" y="555628"/>
                    <a:pt x="125989" y="584208"/>
                    <a:pt x="124034" y="607396"/>
                  </a:cubicBezTo>
                  <a:cubicBezTo>
                    <a:pt x="122079" y="630584"/>
                    <a:pt x="113880" y="762756"/>
                    <a:pt x="113880" y="762756"/>
                  </a:cubicBezTo>
                  <a:lnTo>
                    <a:pt x="208525" y="762756"/>
                  </a:lnTo>
                  <a:lnTo>
                    <a:pt x="208525" y="530661"/>
                  </a:lnTo>
                  <a:cubicBezTo>
                    <a:pt x="208525" y="521925"/>
                    <a:pt x="204289" y="513620"/>
                    <a:pt x="197230" y="508389"/>
                  </a:cubicBezTo>
                  <a:lnTo>
                    <a:pt x="113880" y="447076"/>
                  </a:lnTo>
                  <a:cubicBezTo>
                    <a:pt x="101608" y="438071"/>
                    <a:pt x="94278" y="423618"/>
                    <a:pt x="94278" y="408465"/>
                  </a:cubicBezTo>
                  <a:lnTo>
                    <a:pt x="94278" y="377297"/>
                  </a:lnTo>
                  <a:cubicBezTo>
                    <a:pt x="76413" y="372767"/>
                    <a:pt x="63164" y="356697"/>
                    <a:pt x="63164" y="337553"/>
                  </a:cubicBezTo>
                  <a:cubicBezTo>
                    <a:pt x="63164" y="314905"/>
                    <a:pt x="81680" y="296516"/>
                    <a:pt x="104486" y="296516"/>
                  </a:cubicBezTo>
                  <a:cubicBezTo>
                    <a:pt x="127292" y="296516"/>
                    <a:pt x="145808" y="314905"/>
                    <a:pt x="145808" y="337553"/>
                  </a:cubicBezTo>
                  <a:cubicBezTo>
                    <a:pt x="145808" y="356697"/>
                    <a:pt x="132559" y="372713"/>
                    <a:pt x="114695" y="377297"/>
                  </a:cubicBezTo>
                  <a:lnTo>
                    <a:pt x="114695" y="408465"/>
                  </a:lnTo>
                  <a:cubicBezTo>
                    <a:pt x="114695" y="417201"/>
                    <a:pt x="118930" y="425506"/>
                    <a:pt x="125989" y="430737"/>
                  </a:cubicBezTo>
                  <a:lnTo>
                    <a:pt x="209339" y="492050"/>
                  </a:lnTo>
                  <a:cubicBezTo>
                    <a:pt x="221611" y="501055"/>
                    <a:pt x="228942" y="515507"/>
                    <a:pt x="228942" y="530661"/>
                  </a:cubicBezTo>
                  <a:lnTo>
                    <a:pt x="228942" y="762756"/>
                  </a:lnTo>
                  <a:lnTo>
                    <a:pt x="248381" y="762756"/>
                  </a:lnTo>
                  <a:lnTo>
                    <a:pt x="248381" y="406039"/>
                  </a:lnTo>
                  <a:cubicBezTo>
                    <a:pt x="248381" y="397303"/>
                    <a:pt x="244146" y="388998"/>
                    <a:pt x="237087" y="383768"/>
                  </a:cubicBezTo>
                  <a:lnTo>
                    <a:pt x="210751" y="364408"/>
                  </a:lnTo>
                  <a:cubicBezTo>
                    <a:pt x="198479" y="355403"/>
                    <a:pt x="191203" y="340951"/>
                    <a:pt x="191203" y="325798"/>
                  </a:cubicBezTo>
                  <a:lnTo>
                    <a:pt x="191203" y="235688"/>
                  </a:lnTo>
                  <a:cubicBezTo>
                    <a:pt x="173339" y="231159"/>
                    <a:pt x="160089" y="215089"/>
                    <a:pt x="160089" y="195945"/>
                  </a:cubicBezTo>
                  <a:cubicBezTo>
                    <a:pt x="160089" y="173297"/>
                    <a:pt x="178606" y="154908"/>
                    <a:pt x="201412" y="154908"/>
                  </a:cubicBezTo>
                  <a:cubicBezTo>
                    <a:pt x="224218" y="154908"/>
                    <a:pt x="242734" y="173297"/>
                    <a:pt x="242734" y="195945"/>
                  </a:cubicBezTo>
                  <a:cubicBezTo>
                    <a:pt x="242734" y="215089"/>
                    <a:pt x="229485" y="231105"/>
                    <a:pt x="211620" y="235688"/>
                  </a:cubicBezTo>
                  <a:lnTo>
                    <a:pt x="211620" y="325798"/>
                  </a:lnTo>
                  <a:cubicBezTo>
                    <a:pt x="211620" y="334534"/>
                    <a:pt x="215855" y="342838"/>
                    <a:pt x="222914" y="348069"/>
                  </a:cubicBezTo>
                  <a:lnTo>
                    <a:pt x="249250" y="367428"/>
                  </a:lnTo>
                  <a:cubicBezTo>
                    <a:pt x="261522" y="376434"/>
                    <a:pt x="268798" y="390886"/>
                    <a:pt x="268798" y="406039"/>
                  </a:cubicBezTo>
                  <a:lnTo>
                    <a:pt x="268798" y="762756"/>
                  </a:lnTo>
                  <a:lnTo>
                    <a:pt x="288237" y="762756"/>
                  </a:lnTo>
                  <a:lnTo>
                    <a:pt x="288237" y="363222"/>
                  </a:lnTo>
                  <a:cubicBezTo>
                    <a:pt x="288237" y="349633"/>
                    <a:pt x="294102" y="336583"/>
                    <a:pt x="304256" y="327523"/>
                  </a:cubicBezTo>
                  <a:lnTo>
                    <a:pt x="318808" y="314527"/>
                  </a:lnTo>
                  <a:cubicBezTo>
                    <a:pt x="324672" y="309297"/>
                    <a:pt x="328039" y="301801"/>
                    <a:pt x="328039" y="293928"/>
                  </a:cubicBezTo>
                  <a:lnTo>
                    <a:pt x="328039" y="196107"/>
                  </a:lnTo>
                  <a:cubicBezTo>
                    <a:pt x="310174" y="191577"/>
                    <a:pt x="296925" y="175508"/>
                    <a:pt x="296925" y="156364"/>
                  </a:cubicBezTo>
                  <a:cubicBezTo>
                    <a:pt x="296925" y="133715"/>
                    <a:pt x="315441" y="115327"/>
                    <a:pt x="338247" y="115327"/>
                  </a:cubicBezTo>
                  <a:cubicBezTo>
                    <a:pt x="361053" y="115327"/>
                    <a:pt x="379570" y="133715"/>
                    <a:pt x="379570" y="156364"/>
                  </a:cubicBezTo>
                  <a:cubicBezTo>
                    <a:pt x="379570" y="175508"/>
                    <a:pt x="366320" y="191523"/>
                    <a:pt x="348456" y="196107"/>
                  </a:cubicBezTo>
                  <a:lnTo>
                    <a:pt x="348456" y="293928"/>
                  </a:lnTo>
                  <a:cubicBezTo>
                    <a:pt x="348456" y="307517"/>
                    <a:pt x="342591" y="320567"/>
                    <a:pt x="332437" y="329626"/>
                  </a:cubicBezTo>
                  <a:lnTo>
                    <a:pt x="317885" y="342622"/>
                  </a:lnTo>
                  <a:cubicBezTo>
                    <a:pt x="312021" y="347853"/>
                    <a:pt x="308654" y="355349"/>
                    <a:pt x="308654" y="363222"/>
                  </a:cubicBezTo>
                  <a:lnTo>
                    <a:pt x="308654" y="762756"/>
                  </a:lnTo>
                  <a:lnTo>
                    <a:pt x="328093" y="762756"/>
                  </a:lnTo>
                  <a:lnTo>
                    <a:pt x="328093" y="439527"/>
                  </a:lnTo>
                  <a:cubicBezTo>
                    <a:pt x="328093" y="425937"/>
                    <a:pt x="333958" y="412887"/>
                    <a:pt x="344112" y="403828"/>
                  </a:cubicBezTo>
                  <a:lnTo>
                    <a:pt x="404276" y="350064"/>
                  </a:lnTo>
                  <a:cubicBezTo>
                    <a:pt x="410140" y="344833"/>
                    <a:pt x="413507" y="337338"/>
                    <a:pt x="413507" y="329465"/>
                  </a:cubicBezTo>
                  <a:lnTo>
                    <a:pt x="413507" y="269661"/>
                  </a:lnTo>
                  <a:cubicBezTo>
                    <a:pt x="395642" y="265132"/>
                    <a:pt x="382393" y="249062"/>
                    <a:pt x="382393" y="229918"/>
                  </a:cubicBezTo>
                  <a:cubicBezTo>
                    <a:pt x="382393" y="207270"/>
                    <a:pt x="400909" y="188881"/>
                    <a:pt x="423715" y="188881"/>
                  </a:cubicBezTo>
                  <a:cubicBezTo>
                    <a:pt x="446521" y="188881"/>
                    <a:pt x="465038" y="207270"/>
                    <a:pt x="465038" y="229918"/>
                  </a:cubicBezTo>
                  <a:cubicBezTo>
                    <a:pt x="465038" y="249062"/>
                    <a:pt x="451789" y="265078"/>
                    <a:pt x="433924" y="269661"/>
                  </a:cubicBezTo>
                  <a:lnTo>
                    <a:pt x="433924" y="329465"/>
                  </a:lnTo>
                  <a:cubicBezTo>
                    <a:pt x="433924" y="343054"/>
                    <a:pt x="428059" y="356104"/>
                    <a:pt x="417905" y="365163"/>
                  </a:cubicBezTo>
                  <a:lnTo>
                    <a:pt x="357741" y="418873"/>
                  </a:lnTo>
                  <a:cubicBezTo>
                    <a:pt x="351877" y="424104"/>
                    <a:pt x="348510" y="431599"/>
                    <a:pt x="348510" y="439473"/>
                  </a:cubicBezTo>
                  <a:lnTo>
                    <a:pt x="348510" y="762702"/>
                  </a:lnTo>
                  <a:lnTo>
                    <a:pt x="367949" y="762702"/>
                  </a:lnTo>
                  <a:lnTo>
                    <a:pt x="367949" y="528396"/>
                  </a:lnTo>
                  <a:cubicBezTo>
                    <a:pt x="367949" y="514806"/>
                    <a:pt x="373814" y="501756"/>
                    <a:pt x="383968" y="492697"/>
                  </a:cubicBezTo>
                  <a:lnTo>
                    <a:pt x="489744" y="398220"/>
                  </a:lnTo>
                  <a:cubicBezTo>
                    <a:pt x="495609" y="392989"/>
                    <a:pt x="498975" y="385493"/>
                    <a:pt x="498975" y="377620"/>
                  </a:cubicBezTo>
                  <a:lnTo>
                    <a:pt x="498975" y="354648"/>
                  </a:lnTo>
                  <a:cubicBezTo>
                    <a:pt x="481110" y="350118"/>
                    <a:pt x="467861" y="334048"/>
                    <a:pt x="467861" y="314905"/>
                  </a:cubicBezTo>
                  <a:cubicBezTo>
                    <a:pt x="467861" y="292256"/>
                    <a:pt x="486378" y="273868"/>
                    <a:pt x="509184" y="273868"/>
                  </a:cubicBezTo>
                  <a:cubicBezTo>
                    <a:pt x="531990" y="273868"/>
                    <a:pt x="550506" y="292256"/>
                    <a:pt x="550506" y="314905"/>
                  </a:cubicBezTo>
                  <a:cubicBezTo>
                    <a:pt x="550506" y="334048"/>
                    <a:pt x="537257" y="350064"/>
                    <a:pt x="519392" y="354648"/>
                  </a:cubicBezTo>
                  <a:lnTo>
                    <a:pt x="519392" y="377620"/>
                  </a:lnTo>
                  <a:cubicBezTo>
                    <a:pt x="519392" y="391209"/>
                    <a:pt x="513528" y="404259"/>
                    <a:pt x="503373" y="413319"/>
                  </a:cubicBezTo>
                  <a:lnTo>
                    <a:pt x="397597" y="507796"/>
                  </a:lnTo>
                  <a:cubicBezTo>
                    <a:pt x="391733" y="513027"/>
                    <a:pt x="388366" y="520523"/>
                    <a:pt x="388366" y="528396"/>
                  </a:cubicBezTo>
                  <a:lnTo>
                    <a:pt x="388366" y="762702"/>
                  </a:lnTo>
                  <a:lnTo>
                    <a:pt x="473291" y="762702"/>
                  </a:lnTo>
                  <a:cubicBezTo>
                    <a:pt x="473291" y="762702"/>
                    <a:pt x="468404" y="682946"/>
                    <a:pt x="473889" y="662886"/>
                  </a:cubicBezTo>
                  <a:cubicBezTo>
                    <a:pt x="483663" y="627079"/>
                    <a:pt x="557673" y="637972"/>
                    <a:pt x="596281" y="633874"/>
                  </a:cubicBezTo>
                  <a:cubicBezTo>
                    <a:pt x="625331" y="630746"/>
                    <a:pt x="638092" y="614569"/>
                    <a:pt x="638092" y="589655"/>
                  </a:cubicBezTo>
                  <a:cubicBezTo>
                    <a:pt x="638092" y="567168"/>
                    <a:pt x="636517" y="478407"/>
                    <a:pt x="638092" y="473877"/>
                  </a:cubicBezTo>
                  <a:cubicBezTo>
                    <a:pt x="642164" y="462283"/>
                    <a:pt x="651775" y="462984"/>
                    <a:pt x="681966" y="457484"/>
                  </a:cubicBezTo>
                  <a:cubicBezTo>
                    <a:pt x="708681" y="452630"/>
                    <a:pt x="708844" y="439742"/>
                    <a:pt x="695378" y="421947"/>
                  </a:cubicBezTo>
                  <a:close/>
                </a:path>
              </a:pathLst>
            </a:custGeom>
            <a:solidFill>
              <a:schemeClr val="lt1"/>
            </a:solidFill>
            <a:ln>
              <a:noFill/>
            </a:ln>
          </p:spPr>
          <p:txBody>
            <a:bodyPr spcFirstLastPara="1" wrap="square" lIns="121800" tIns="60900" rIns="121800" bIns="60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dirty="0">
                <a:solidFill>
                  <a:schemeClr val="dk1"/>
                </a:solidFill>
                <a:latin typeface="Arial"/>
                <a:ea typeface="Arial"/>
                <a:cs typeface="Arial"/>
                <a:sym typeface="Arial"/>
              </a:endParaRPr>
            </a:p>
          </p:txBody>
        </p:sp>
      </p:grpSp>
      <p:grpSp>
        <p:nvGrpSpPr>
          <p:cNvPr id="7" name="Group 6">
            <a:extLst>
              <a:ext uri="{FF2B5EF4-FFF2-40B4-BE49-F238E27FC236}">
                <a16:creationId xmlns:a16="http://schemas.microsoft.com/office/drawing/2014/main" id="{7436C966-1AE7-0BF9-F542-1FF932508EFB}"/>
              </a:ext>
            </a:extLst>
          </p:cNvPr>
          <p:cNvGrpSpPr/>
          <p:nvPr/>
        </p:nvGrpSpPr>
        <p:grpSpPr>
          <a:xfrm>
            <a:off x="4754548" y="3097333"/>
            <a:ext cx="2792921" cy="663300"/>
            <a:chOff x="4754548" y="3097333"/>
            <a:chExt cx="2792921" cy="663300"/>
          </a:xfrm>
        </p:grpSpPr>
        <p:sp>
          <p:nvSpPr>
            <p:cNvPr id="1000" name="Google Shape;1000;g36c36515e95_0_2260"/>
            <p:cNvSpPr txBox="1"/>
            <p:nvPr/>
          </p:nvSpPr>
          <p:spPr>
            <a:xfrm>
              <a:off x="5234169" y="3097333"/>
              <a:ext cx="2313300" cy="66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Enable self-service infrastructure and cloud services for app teams</a:t>
              </a:r>
              <a:endParaRPr sz="1300" b="0" i="0" u="none" strike="noStrike" cap="none" dirty="0">
                <a:solidFill>
                  <a:schemeClr val="dk1"/>
                </a:solidFill>
                <a:latin typeface="Arial"/>
                <a:ea typeface="Arial"/>
                <a:cs typeface="Arial"/>
                <a:sym typeface="Arial"/>
              </a:endParaRPr>
            </a:p>
          </p:txBody>
        </p:sp>
        <p:grpSp>
          <p:nvGrpSpPr>
            <p:cNvPr id="1020" name="Google Shape;1020;g36c36515e95_0_2260"/>
            <p:cNvGrpSpPr/>
            <p:nvPr/>
          </p:nvGrpSpPr>
          <p:grpSpPr>
            <a:xfrm>
              <a:off x="4754548" y="3170983"/>
              <a:ext cx="441900" cy="441900"/>
              <a:chOff x="4754548" y="4999783"/>
              <a:chExt cx="441900" cy="441900"/>
            </a:xfrm>
          </p:grpSpPr>
          <p:sp>
            <p:nvSpPr>
              <p:cNvPr id="1021" name="Google Shape;1021;g36c36515e95_0_2260"/>
              <p:cNvSpPr/>
              <p:nvPr/>
            </p:nvSpPr>
            <p:spPr>
              <a:xfrm>
                <a:off x="4754548" y="4999783"/>
                <a:ext cx="441900" cy="441900"/>
              </a:xfrm>
              <a:prstGeom prst="ellipse">
                <a:avLst/>
              </a:prstGeom>
              <a:gradFill>
                <a:gsLst>
                  <a:gs pos="0">
                    <a:schemeClr val="accent2"/>
                  </a:gs>
                  <a:gs pos="100000">
                    <a:schemeClr val="accent3"/>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chemeClr val="dk1"/>
                  </a:solidFill>
                  <a:latin typeface="Arial"/>
                  <a:ea typeface="Arial"/>
                  <a:cs typeface="Arial"/>
                  <a:sym typeface="Arial"/>
                </a:endParaRPr>
              </a:p>
            </p:txBody>
          </p:sp>
          <p:pic>
            <p:nvPicPr>
              <p:cNvPr id="1022" name="Google Shape;1022;g36c36515e95_0_2260"/>
              <p:cNvPicPr preferRelativeResize="0"/>
              <p:nvPr/>
            </p:nvPicPr>
            <p:blipFill rotWithShape="1">
              <a:blip r:embed="rId3">
                <a:alphaModFix/>
              </a:blip>
              <a:srcRect/>
              <a:stretch/>
            </p:blipFill>
            <p:spPr>
              <a:xfrm>
                <a:off x="4839877" y="5091575"/>
                <a:ext cx="269740" cy="269718"/>
              </a:xfrm>
              <a:prstGeom prst="rect">
                <a:avLst/>
              </a:prstGeom>
              <a:noFill/>
              <a:ln>
                <a:noFill/>
              </a:ln>
            </p:spPr>
          </p:pic>
        </p:grpSp>
      </p:grpSp>
      <p:sp>
        <p:nvSpPr>
          <p:cNvPr id="1023" name="Google Shape;1023;g36c36515e95_0_2260"/>
          <p:cNvSpPr/>
          <p:nvPr/>
        </p:nvSpPr>
        <p:spPr>
          <a:xfrm>
            <a:off x="8408015" y="2992365"/>
            <a:ext cx="3052500" cy="2627100"/>
          </a:xfrm>
          <a:prstGeom prst="roundRect">
            <a:avLst>
              <a:gd name="adj" fmla="val 3181"/>
            </a:avLst>
          </a:prstGeom>
          <a:gradFill>
            <a:gsLst>
              <a:gs pos="0">
                <a:srgbClr val="027B8C">
                  <a:alpha val="12156"/>
                </a:srgbClr>
              </a:gs>
              <a:gs pos="100000">
                <a:srgbClr val="027B8C">
                  <a:alpha val="0"/>
                </a:srgbClr>
              </a:gs>
            </a:gsLst>
            <a:lin ang="5400012" scaled="0"/>
          </a:gradFill>
          <a:ln>
            <a:noFill/>
          </a:ln>
        </p:spPr>
        <p:txBody>
          <a:bodyPr spcFirstLastPara="1" wrap="square" lIns="91275" tIns="91275" rIns="91275" bIns="9127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041032"/>
              </a:solidFill>
              <a:latin typeface="Arial"/>
              <a:ea typeface="Arial"/>
              <a:cs typeface="Arial"/>
              <a:sym typeface="Arial"/>
            </a:endParaRPr>
          </a:p>
        </p:txBody>
      </p:sp>
      <p:grpSp>
        <p:nvGrpSpPr>
          <p:cNvPr id="13" name="Group 12">
            <a:extLst>
              <a:ext uri="{FF2B5EF4-FFF2-40B4-BE49-F238E27FC236}">
                <a16:creationId xmlns:a16="http://schemas.microsoft.com/office/drawing/2014/main" id="{353ECF90-1581-8038-9FAE-31DFB1BB2488}"/>
              </a:ext>
            </a:extLst>
          </p:cNvPr>
          <p:cNvGrpSpPr/>
          <p:nvPr/>
        </p:nvGrpSpPr>
        <p:grpSpPr>
          <a:xfrm>
            <a:off x="8408016" y="4740459"/>
            <a:ext cx="3054000" cy="803762"/>
            <a:chOff x="8408016" y="4740459"/>
            <a:chExt cx="3054000" cy="803762"/>
          </a:xfrm>
        </p:grpSpPr>
        <p:sp>
          <p:nvSpPr>
            <p:cNvPr id="1027" name="Google Shape;1027;g36c36515e95_0_2260"/>
            <p:cNvSpPr txBox="1"/>
            <p:nvPr/>
          </p:nvSpPr>
          <p:spPr>
            <a:xfrm>
              <a:off x="9047173" y="4880921"/>
              <a:ext cx="2015400" cy="66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Accelerate recovery from ransomware and other disasters</a:t>
              </a:r>
              <a:endParaRPr sz="1300" b="0" i="0" u="none" strike="noStrike" cap="none" dirty="0">
                <a:solidFill>
                  <a:schemeClr val="dk1"/>
                </a:solidFill>
                <a:latin typeface="Arial"/>
                <a:ea typeface="Arial"/>
                <a:cs typeface="Arial"/>
                <a:sym typeface="Arial"/>
              </a:endParaRPr>
            </a:p>
          </p:txBody>
        </p:sp>
        <p:cxnSp>
          <p:nvCxnSpPr>
            <p:cNvPr id="1030" name="Google Shape;1030;g36c36515e95_0_2260"/>
            <p:cNvCxnSpPr/>
            <p:nvPr/>
          </p:nvCxnSpPr>
          <p:spPr>
            <a:xfrm rot="10800000" flipH="1">
              <a:off x="8408016" y="4740459"/>
              <a:ext cx="3054000" cy="5700"/>
            </a:xfrm>
            <a:prstGeom prst="straightConnector1">
              <a:avLst/>
            </a:prstGeom>
            <a:noFill/>
            <a:ln w="9525" cap="flat" cmpd="sng">
              <a:solidFill>
                <a:srgbClr val="62A60C"/>
              </a:solidFill>
              <a:prstDash val="solid"/>
              <a:round/>
              <a:headEnd type="none" w="sm" len="sm"/>
              <a:tailEnd type="none" w="sm" len="sm"/>
            </a:ln>
          </p:spPr>
        </p:cxnSp>
        <p:grpSp>
          <p:nvGrpSpPr>
            <p:cNvPr id="1031" name="Google Shape;1031;g36c36515e95_0_2260"/>
            <p:cNvGrpSpPr/>
            <p:nvPr/>
          </p:nvGrpSpPr>
          <p:grpSpPr>
            <a:xfrm>
              <a:off x="8610485" y="4915505"/>
              <a:ext cx="441900" cy="441900"/>
              <a:chOff x="8610485" y="4077305"/>
              <a:chExt cx="441900" cy="441900"/>
            </a:xfrm>
          </p:grpSpPr>
          <p:sp>
            <p:nvSpPr>
              <p:cNvPr id="1032" name="Google Shape;1032;g36c36515e95_0_2260"/>
              <p:cNvSpPr/>
              <p:nvPr/>
            </p:nvSpPr>
            <p:spPr>
              <a:xfrm>
                <a:off x="8610485" y="4077305"/>
                <a:ext cx="441900" cy="441900"/>
              </a:xfrm>
              <a:prstGeom prst="ellipse">
                <a:avLst/>
              </a:prstGeom>
              <a:gradFill>
                <a:gsLst>
                  <a:gs pos="0">
                    <a:schemeClr val="accent1"/>
                  </a:gs>
                  <a:gs pos="51000">
                    <a:schemeClr val="accent1"/>
                  </a:gs>
                  <a:gs pos="100000">
                    <a:schemeClr val="accent4"/>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chemeClr val="dk1"/>
                  </a:solidFill>
                  <a:latin typeface="Arial"/>
                  <a:ea typeface="Arial"/>
                  <a:cs typeface="Arial"/>
                  <a:sym typeface="Arial"/>
                </a:endParaRPr>
              </a:p>
            </p:txBody>
          </p:sp>
          <p:pic>
            <p:nvPicPr>
              <p:cNvPr id="1033" name="Google Shape;1033;g36c36515e95_0_2260"/>
              <p:cNvPicPr preferRelativeResize="0"/>
              <p:nvPr/>
            </p:nvPicPr>
            <p:blipFill rotWithShape="1">
              <a:blip r:embed="rId4">
                <a:alphaModFix/>
              </a:blip>
              <a:srcRect/>
              <a:stretch/>
            </p:blipFill>
            <p:spPr>
              <a:xfrm>
                <a:off x="8681148" y="4155380"/>
                <a:ext cx="300726" cy="300726"/>
              </a:xfrm>
              <a:prstGeom prst="rect">
                <a:avLst/>
              </a:prstGeom>
              <a:noFill/>
              <a:ln>
                <a:noFill/>
              </a:ln>
            </p:spPr>
          </p:pic>
        </p:grpSp>
      </p:grpSp>
      <p:grpSp>
        <p:nvGrpSpPr>
          <p:cNvPr id="11" name="Group 10">
            <a:extLst>
              <a:ext uri="{FF2B5EF4-FFF2-40B4-BE49-F238E27FC236}">
                <a16:creationId xmlns:a16="http://schemas.microsoft.com/office/drawing/2014/main" id="{B5C0023F-19BB-C6A0-500A-FF0EAA4E8872}"/>
              </a:ext>
            </a:extLst>
          </p:cNvPr>
          <p:cNvGrpSpPr/>
          <p:nvPr/>
        </p:nvGrpSpPr>
        <p:grpSpPr>
          <a:xfrm>
            <a:off x="8610485" y="3182075"/>
            <a:ext cx="2749988" cy="483300"/>
            <a:chOff x="8610485" y="3182075"/>
            <a:chExt cx="2749988" cy="483300"/>
          </a:xfrm>
        </p:grpSpPr>
        <p:sp>
          <p:nvSpPr>
            <p:cNvPr id="1028" name="Google Shape;1028;g36c36515e95_0_2260"/>
            <p:cNvSpPr txBox="1"/>
            <p:nvPr/>
          </p:nvSpPr>
          <p:spPr>
            <a:xfrm>
              <a:off x="9047173" y="3182075"/>
              <a:ext cx="2313300" cy="48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Strengthen compliance and harden infrastructure</a:t>
              </a:r>
              <a:endParaRPr sz="1300" b="0" i="0" u="none" strike="noStrike" cap="none" dirty="0">
                <a:solidFill>
                  <a:schemeClr val="dk1"/>
                </a:solidFill>
                <a:latin typeface="Arial"/>
                <a:ea typeface="Arial"/>
                <a:cs typeface="Arial"/>
                <a:sym typeface="Arial"/>
              </a:endParaRPr>
            </a:p>
          </p:txBody>
        </p:sp>
        <p:grpSp>
          <p:nvGrpSpPr>
            <p:cNvPr id="1034" name="Google Shape;1034;g36c36515e95_0_2260"/>
            <p:cNvGrpSpPr/>
            <p:nvPr/>
          </p:nvGrpSpPr>
          <p:grpSpPr>
            <a:xfrm>
              <a:off x="8610485" y="3203733"/>
              <a:ext cx="441900" cy="441900"/>
              <a:chOff x="8610485" y="4999783"/>
              <a:chExt cx="441900" cy="441900"/>
            </a:xfrm>
          </p:grpSpPr>
          <p:sp>
            <p:nvSpPr>
              <p:cNvPr id="1035" name="Google Shape;1035;g36c36515e95_0_2260"/>
              <p:cNvSpPr/>
              <p:nvPr/>
            </p:nvSpPr>
            <p:spPr>
              <a:xfrm>
                <a:off x="8610485" y="4999783"/>
                <a:ext cx="441900" cy="441900"/>
              </a:xfrm>
              <a:prstGeom prst="ellipse">
                <a:avLst/>
              </a:prstGeom>
              <a:gradFill>
                <a:gsLst>
                  <a:gs pos="0">
                    <a:schemeClr val="accent1"/>
                  </a:gs>
                  <a:gs pos="51000">
                    <a:schemeClr val="accent1"/>
                  </a:gs>
                  <a:gs pos="100000">
                    <a:schemeClr val="accent4"/>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chemeClr val="dk1"/>
                  </a:solidFill>
                  <a:latin typeface="Arial"/>
                  <a:ea typeface="Arial"/>
                  <a:cs typeface="Arial"/>
                  <a:sym typeface="Arial"/>
                </a:endParaRPr>
              </a:p>
            </p:txBody>
          </p:sp>
          <p:pic>
            <p:nvPicPr>
              <p:cNvPr id="1036" name="Google Shape;1036;g36c36515e95_0_2260"/>
              <p:cNvPicPr preferRelativeResize="0"/>
              <p:nvPr/>
            </p:nvPicPr>
            <p:blipFill rotWithShape="1">
              <a:blip r:embed="rId5">
                <a:alphaModFix/>
              </a:blip>
              <a:srcRect/>
              <a:stretch/>
            </p:blipFill>
            <p:spPr>
              <a:xfrm>
                <a:off x="8714229" y="5112749"/>
                <a:ext cx="248574" cy="248574"/>
              </a:xfrm>
              <a:prstGeom prst="rect">
                <a:avLst/>
              </a:prstGeom>
              <a:noFill/>
              <a:ln>
                <a:noFill/>
              </a:ln>
            </p:spPr>
          </p:pic>
        </p:grpSp>
      </p:grpSp>
      <p:grpSp>
        <p:nvGrpSpPr>
          <p:cNvPr id="12" name="Group 11">
            <a:extLst>
              <a:ext uri="{FF2B5EF4-FFF2-40B4-BE49-F238E27FC236}">
                <a16:creationId xmlns:a16="http://schemas.microsoft.com/office/drawing/2014/main" id="{E77A3042-F8CB-44FA-7AEA-5A1644B2336D}"/>
              </a:ext>
            </a:extLst>
          </p:cNvPr>
          <p:cNvGrpSpPr/>
          <p:nvPr/>
        </p:nvGrpSpPr>
        <p:grpSpPr>
          <a:xfrm>
            <a:off x="8408015" y="3861209"/>
            <a:ext cx="3050700" cy="768492"/>
            <a:chOff x="8408015" y="3861209"/>
            <a:chExt cx="3050700" cy="768492"/>
          </a:xfrm>
        </p:grpSpPr>
        <p:sp>
          <p:nvSpPr>
            <p:cNvPr id="1026" name="Google Shape;1026;g36c36515e95_0_2260"/>
            <p:cNvSpPr txBox="1"/>
            <p:nvPr/>
          </p:nvSpPr>
          <p:spPr>
            <a:xfrm>
              <a:off x="9047173" y="3966401"/>
              <a:ext cx="2313300" cy="66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Bolster lateral security and intrusion prevention / detection</a:t>
              </a:r>
              <a:endParaRPr sz="1300" b="0" i="0" u="none" strike="noStrike" cap="none" dirty="0">
                <a:solidFill>
                  <a:schemeClr val="dk1"/>
                </a:solidFill>
                <a:latin typeface="Arial"/>
                <a:ea typeface="Arial"/>
                <a:cs typeface="Arial"/>
                <a:sym typeface="Arial"/>
              </a:endParaRPr>
            </a:p>
          </p:txBody>
        </p:sp>
        <p:cxnSp>
          <p:nvCxnSpPr>
            <p:cNvPr id="1029" name="Google Shape;1029;g36c36515e95_0_2260"/>
            <p:cNvCxnSpPr/>
            <p:nvPr/>
          </p:nvCxnSpPr>
          <p:spPr>
            <a:xfrm rot="10800000" flipH="1">
              <a:off x="8408015" y="3861209"/>
              <a:ext cx="3050700" cy="5700"/>
            </a:xfrm>
            <a:prstGeom prst="straightConnector1">
              <a:avLst/>
            </a:prstGeom>
            <a:noFill/>
            <a:ln w="9525" cap="flat" cmpd="sng">
              <a:solidFill>
                <a:srgbClr val="62A60C"/>
              </a:solidFill>
              <a:prstDash val="solid"/>
              <a:round/>
              <a:headEnd type="none" w="sm" len="sm"/>
              <a:tailEnd type="none" w="sm" len="sm"/>
            </a:ln>
          </p:spPr>
        </p:cxnSp>
        <p:sp>
          <p:nvSpPr>
            <p:cNvPr id="1037" name="Google Shape;1037;g36c36515e95_0_2260"/>
            <p:cNvSpPr/>
            <p:nvPr/>
          </p:nvSpPr>
          <p:spPr>
            <a:xfrm>
              <a:off x="8610485" y="4105547"/>
              <a:ext cx="441900" cy="441900"/>
            </a:xfrm>
            <a:prstGeom prst="ellipse">
              <a:avLst/>
            </a:prstGeom>
            <a:gradFill>
              <a:gsLst>
                <a:gs pos="0">
                  <a:schemeClr val="accent1"/>
                </a:gs>
                <a:gs pos="51000">
                  <a:schemeClr val="accent1"/>
                </a:gs>
                <a:gs pos="100000">
                  <a:schemeClr val="accent4"/>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chemeClr val="dk1"/>
                </a:solidFill>
                <a:latin typeface="Arial"/>
                <a:ea typeface="Arial"/>
                <a:cs typeface="Arial"/>
                <a:sym typeface="Arial"/>
              </a:endParaRPr>
            </a:p>
          </p:txBody>
        </p:sp>
        <p:pic>
          <p:nvPicPr>
            <p:cNvPr id="1038" name="Google Shape;1038;g36c36515e95_0_2260"/>
            <p:cNvPicPr preferRelativeResize="0"/>
            <p:nvPr/>
          </p:nvPicPr>
          <p:blipFill rotWithShape="1">
            <a:blip r:embed="rId6">
              <a:alphaModFix/>
            </a:blip>
            <a:srcRect/>
            <a:stretch/>
          </p:blipFill>
          <p:spPr>
            <a:xfrm>
              <a:off x="8696566" y="4191628"/>
              <a:ext cx="269670" cy="269670"/>
            </a:xfrm>
            <a:prstGeom prst="rect">
              <a:avLst/>
            </a:prstGeom>
            <a:noFill/>
            <a:ln>
              <a:noFill/>
            </a:ln>
          </p:spPr>
        </p:pic>
      </p:grpSp>
      <p:sp>
        <p:nvSpPr>
          <p:cNvPr id="1039" name="Google Shape;1039;g36c36515e95_0_2260"/>
          <p:cNvSpPr/>
          <p:nvPr/>
        </p:nvSpPr>
        <p:spPr>
          <a:xfrm>
            <a:off x="693360" y="2992365"/>
            <a:ext cx="3111900" cy="2627100"/>
          </a:xfrm>
          <a:prstGeom prst="roundRect">
            <a:avLst>
              <a:gd name="adj" fmla="val 2522"/>
            </a:avLst>
          </a:prstGeom>
          <a:gradFill>
            <a:gsLst>
              <a:gs pos="0">
                <a:srgbClr val="6C4B93">
                  <a:alpha val="12549"/>
                </a:srgbClr>
              </a:gs>
              <a:gs pos="100000">
                <a:srgbClr val="6C4B93">
                  <a:alpha val="0"/>
                </a:srgbClr>
              </a:gs>
            </a:gsLst>
            <a:lin ang="5400012" scaled="0"/>
          </a:gradFill>
          <a:ln>
            <a:noFill/>
          </a:ln>
        </p:spPr>
        <p:txBody>
          <a:bodyPr spcFirstLastPara="1" wrap="square" lIns="91275" tIns="91275" rIns="91275" bIns="9127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041032"/>
              </a:solidFill>
              <a:latin typeface="Arial"/>
              <a:ea typeface="Arial"/>
              <a:cs typeface="Arial"/>
              <a:sym typeface="Arial"/>
            </a:endParaRPr>
          </a:p>
        </p:txBody>
      </p:sp>
      <p:grpSp>
        <p:nvGrpSpPr>
          <p:cNvPr id="3" name="Group 2">
            <a:extLst>
              <a:ext uri="{FF2B5EF4-FFF2-40B4-BE49-F238E27FC236}">
                <a16:creationId xmlns:a16="http://schemas.microsoft.com/office/drawing/2014/main" id="{F7A9C3D5-F36D-D8E2-1CA2-CD40F8EB0D95}"/>
              </a:ext>
            </a:extLst>
          </p:cNvPr>
          <p:cNvGrpSpPr/>
          <p:nvPr/>
        </p:nvGrpSpPr>
        <p:grpSpPr>
          <a:xfrm>
            <a:off x="905135" y="3064325"/>
            <a:ext cx="2877165" cy="723300"/>
            <a:chOff x="905135" y="3064325"/>
            <a:chExt cx="2877165" cy="723300"/>
          </a:xfrm>
        </p:grpSpPr>
        <p:sp>
          <p:nvSpPr>
            <p:cNvPr id="1042" name="Google Shape;1042;g36c36515e95_0_2260"/>
            <p:cNvSpPr txBox="1"/>
            <p:nvPr/>
          </p:nvSpPr>
          <p:spPr>
            <a:xfrm>
              <a:off x="1361600" y="3064325"/>
              <a:ext cx="2420700" cy="723300"/>
            </a:xfrm>
            <a:prstGeom prst="rect">
              <a:avLst/>
            </a:prstGeom>
            <a:noFill/>
            <a:ln>
              <a:noFill/>
            </a:ln>
          </p:spPr>
          <p:txBody>
            <a:bodyPr spcFirstLastPara="1" wrap="square" lIns="121800" tIns="60900" rIns="121800" bIns="60900" anchor="t" anchorCtr="0">
              <a:spAutoFit/>
            </a:bodyPr>
            <a:lstStyle/>
            <a:p>
              <a:pPr marL="0" marR="0" lvl="0" indent="0" algn="l" rtl="0">
                <a:lnSpc>
                  <a:spcPct val="10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Build and deploy private cloud infrastructure on-premises</a:t>
              </a:r>
              <a:endParaRPr sz="1900" b="0" i="0" u="none" strike="noStrike" cap="none" dirty="0">
                <a:solidFill>
                  <a:schemeClr val="dk1"/>
                </a:solidFill>
                <a:latin typeface="Arial"/>
                <a:ea typeface="Arial"/>
                <a:cs typeface="Arial"/>
                <a:sym typeface="Arial"/>
              </a:endParaRPr>
            </a:p>
          </p:txBody>
        </p:sp>
        <p:sp>
          <p:nvSpPr>
            <p:cNvPr id="1043" name="Google Shape;1043;g36c36515e95_0_2260"/>
            <p:cNvSpPr/>
            <p:nvPr/>
          </p:nvSpPr>
          <p:spPr>
            <a:xfrm>
              <a:off x="905135" y="3191110"/>
              <a:ext cx="442200" cy="442500"/>
            </a:xfrm>
            <a:prstGeom prst="ellipse">
              <a:avLst/>
            </a:prstGeom>
            <a:gradFill>
              <a:gsLst>
                <a:gs pos="0">
                  <a:schemeClr val="accent5"/>
                </a:gs>
                <a:gs pos="29000">
                  <a:schemeClr val="accent5"/>
                </a:gs>
                <a:gs pos="100000">
                  <a:schemeClr val="accent2"/>
                </a:gs>
              </a:gsLst>
              <a:lin ang="8100019" scaled="0"/>
            </a:gradFill>
            <a:ln>
              <a:noFill/>
            </a:ln>
          </p:spPr>
          <p:txBody>
            <a:bodyPr spcFirstLastPara="1" wrap="square" lIns="91275" tIns="45650" rIns="91275" bIns="4565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FFFFFF"/>
                </a:solidFill>
                <a:latin typeface="Arial"/>
                <a:ea typeface="Arial"/>
                <a:cs typeface="Arial"/>
                <a:sym typeface="Arial"/>
              </a:endParaRPr>
            </a:p>
          </p:txBody>
        </p:sp>
        <p:pic>
          <p:nvPicPr>
            <p:cNvPr id="1050" name="Google Shape;1050;g36c36515e95_0_2260"/>
            <p:cNvPicPr preferRelativeResize="0"/>
            <p:nvPr/>
          </p:nvPicPr>
          <p:blipFill rotWithShape="1">
            <a:blip r:embed="rId7">
              <a:alphaModFix/>
            </a:blip>
            <a:srcRect/>
            <a:stretch/>
          </p:blipFill>
          <p:spPr>
            <a:xfrm>
              <a:off x="999206" y="3255499"/>
              <a:ext cx="275339" cy="275338"/>
            </a:xfrm>
            <a:prstGeom prst="rect">
              <a:avLst/>
            </a:prstGeom>
            <a:noFill/>
            <a:ln>
              <a:noFill/>
            </a:ln>
          </p:spPr>
        </p:pic>
      </p:grpSp>
      <p:grpSp>
        <p:nvGrpSpPr>
          <p:cNvPr id="4" name="Group 3">
            <a:extLst>
              <a:ext uri="{FF2B5EF4-FFF2-40B4-BE49-F238E27FC236}">
                <a16:creationId xmlns:a16="http://schemas.microsoft.com/office/drawing/2014/main" id="{DAF0E253-67C1-0187-9FBF-DAEE8A14FA78}"/>
              </a:ext>
            </a:extLst>
          </p:cNvPr>
          <p:cNvGrpSpPr/>
          <p:nvPr/>
        </p:nvGrpSpPr>
        <p:grpSpPr>
          <a:xfrm>
            <a:off x="699262" y="3872649"/>
            <a:ext cx="3105900" cy="666311"/>
            <a:chOff x="699262" y="3872649"/>
            <a:chExt cx="3105900" cy="666311"/>
          </a:xfrm>
        </p:grpSpPr>
        <p:sp>
          <p:nvSpPr>
            <p:cNvPr id="1044" name="Google Shape;1044;g36c36515e95_0_2260"/>
            <p:cNvSpPr txBox="1"/>
            <p:nvPr/>
          </p:nvSpPr>
          <p:spPr>
            <a:xfrm>
              <a:off x="1361596" y="4055660"/>
              <a:ext cx="2147100" cy="48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Optimize infrastructure and operations </a:t>
              </a:r>
              <a:endParaRPr sz="1300" b="0" i="0" u="none" strike="noStrike" cap="none" dirty="0">
                <a:solidFill>
                  <a:schemeClr val="dk1"/>
                </a:solidFill>
                <a:latin typeface="Arial"/>
                <a:ea typeface="Arial"/>
                <a:cs typeface="Arial"/>
                <a:sym typeface="Arial"/>
              </a:endParaRPr>
            </a:p>
          </p:txBody>
        </p:sp>
        <p:sp>
          <p:nvSpPr>
            <p:cNvPr id="1046" name="Google Shape;1046;g36c36515e95_0_2260"/>
            <p:cNvSpPr/>
            <p:nvPr/>
          </p:nvSpPr>
          <p:spPr>
            <a:xfrm>
              <a:off x="902300" y="4076147"/>
              <a:ext cx="442200" cy="442500"/>
            </a:xfrm>
            <a:prstGeom prst="ellipse">
              <a:avLst/>
            </a:prstGeom>
            <a:gradFill>
              <a:gsLst>
                <a:gs pos="0">
                  <a:schemeClr val="accent5"/>
                </a:gs>
                <a:gs pos="29000">
                  <a:schemeClr val="accent5"/>
                </a:gs>
                <a:gs pos="100000">
                  <a:schemeClr val="accent2"/>
                </a:gs>
              </a:gsLst>
              <a:lin ang="8100019" scaled="0"/>
            </a:gradFill>
            <a:ln>
              <a:noFill/>
            </a:ln>
          </p:spPr>
          <p:txBody>
            <a:bodyPr spcFirstLastPara="1" wrap="square" lIns="91275" tIns="45650" rIns="91275" bIns="4565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FFFFFF"/>
                </a:solidFill>
                <a:latin typeface="Arial"/>
                <a:ea typeface="Arial"/>
                <a:cs typeface="Arial"/>
                <a:sym typeface="Arial"/>
              </a:endParaRPr>
            </a:p>
          </p:txBody>
        </p:sp>
        <p:pic>
          <p:nvPicPr>
            <p:cNvPr id="1048" name="Google Shape;1048;g36c36515e95_0_2260"/>
            <p:cNvPicPr preferRelativeResize="0"/>
            <p:nvPr/>
          </p:nvPicPr>
          <p:blipFill rotWithShape="1">
            <a:blip r:embed="rId8">
              <a:alphaModFix/>
            </a:blip>
            <a:srcRect/>
            <a:stretch/>
          </p:blipFill>
          <p:spPr>
            <a:xfrm>
              <a:off x="1006393" y="4167076"/>
              <a:ext cx="244032" cy="244029"/>
            </a:xfrm>
            <a:prstGeom prst="rect">
              <a:avLst/>
            </a:prstGeom>
            <a:noFill/>
            <a:ln>
              <a:noFill/>
            </a:ln>
          </p:spPr>
        </p:pic>
        <p:cxnSp>
          <p:nvCxnSpPr>
            <p:cNvPr id="1051" name="Google Shape;1051;g36c36515e95_0_2260"/>
            <p:cNvCxnSpPr/>
            <p:nvPr/>
          </p:nvCxnSpPr>
          <p:spPr>
            <a:xfrm rot="10800000" flipH="1">
              <a:off x="699262" y="3872649"/>
              <a:ext cx="3105900" cy="2100"/>
            </a:xfrm>
            <a:prstGeom prst="straightConnector1">
              <a:avLst/>
            </a:prstGeom>
            <a:noFill/>
            <a:ln w="9525" cap="flat" cmpd="sng">
              <a:solidFill>
                <a:srgbClr val="7030A0"/>
              </a:solidFill>
              <a:prstDash val="solid"/>
              <a:round/>
              <a:headEnd type="none" w="sm" len="sm"/>
              <a:tailEnd type="none" w="sm" len="sm"/>
            </a:ln>
          </p:spPr>
        </p:cxnSp>
      </p:grpSp>
      <p:grpSp>
        <p:nvGrpSpPr>
          <p:cNvPr id="5" name="Group 4">
            <a:extLst>
              <a:ext uri="{FF2B5EF4-FFF2-40B4-BE49-F238E27FC236}">
                <a16:creationId xmlns:a16="http://schemas.microsoft.com/office/drawing/2014/main" id="{1BA4E67D-57F1-4D0A-3AAE-DCE0DF07CDAA}"/>
              </a:ext>
            </a:extLst>
          </p:cNvPr>
          <p:cNvGrpSpPr/>
          <p:nvPr/>
        </p:nvGrpSpPr>
        <p:grpSpPr>
          <a:xfrm>
            <a:off x="699262" y="4782210"/>
            <a:ext cx="3105900" cy="807240"/>
            <a:chOff x="699262" y="4782210"/>
            <a:chExt cx="3105900" cy="807240"/>
          </a:xfrm>
        </p:grpSpPr>
        <p:sp>
          <p:nvSpPr>
            <p:cNvPr id="1045" name="Google Shape;1045;g36c36515e95_0_2260"/>
            <p:cNvSpPr txBox="1"/>
            <p:nvPr/>
          </p:nvSpPr>
          <p:spPr>
            <a:xfrm>
              <a:off x="1355873" y="4926150"/>
              <a:ext cx="2147100" cy="663300"/>
            </a:xfrm>
            <a:prstGeom prst="rect">
              <a:avLst/>
            </a:prstGeom>
            <a:noFill/>
            <a:ln>
              <a:noFill/>
            </a:ln>
          </p:spPr>
          <p:txBody>
            <a:bodyPr spcFirstLastPara="1" wrap="square" lIns="121800" tIns="60900" rIns="121800" bIns="60900" anchor="t" anchorCtr="0">
              <a:spAutoFit/>
            </a:bodyPr>
            <a:lstStyle/>
            <a:p>
              <a:pPr marL="0" marR="0" lvl="0" indent="0" algn="l" rtl="0">
                <a:lnSpc>
                  <a:spcPct val="90000"/>
                </a:lnSpc>
                <a:spcBef>
                  <a:spcPts val="0"/>
                </a:spcBef>
                <a:spcAft>
                  <a:spcPts val="0"/>
                </a:spcAft>
                <a:buClr>
                  <a:srgbClr val="000000"/>
                </a:buClr>
                <a:buSzPts val="1300"/>
                <a:buFont typeface="Arial"/>
                <a:buNone/>
              </a:pPr>
              <a:r>
                <a:rPr lang="en" sz="1300" b="0" i="0" u="none" strike="noStrike" cap="none" dirty="0">
                  <a:solidFill>
                    <a:schemeClr val="dk1"/>
                  </a:solidFill>
                  <a:latin typeface="Arial"/>
                  <a:ea typeface="Arial"/>
                  <a:cs typeface="Arial"/>
                  <a:sym typeface="Arial"/>
                </a:rPr>
                <a:t>Extend data center to the edge, public and sovereign clouds</a:t>
              </a:r>
              <a:endParaRPr sz="1300" b="0" i="0" u="none" strike="noStrike" cap="none" dirty="0">
                <a:solidFill>
                  <a:schemeClr val="dk1"/>
                </a:solidFill>
                <a:latin typeface="Arial"/>
                <a:ea typeface="Arial"/>
                <a:cs typeface="Arial"/>
                <a:sym typeface="Arial"/>
              </a:endParaRPr>
            </a:p>
          </p:txBody>
        </p:sp>
        <p:sp>
          <p:nvSpPr>
            <p:cNvPr id="1047" name="Google Shape;1047;g36c36515e95_0_2260"/>
            <p:cNvSpPr/>
            <p:nvPr/>
          </p:nvSpPr>
          <p:spPr>
            <a:xfrm>
              <a:off x="895124" y="4999747"/>
              <a:ext cx="442200" cy="442500"/>
            </a:xfrm>
            <a:prstGeom prst="ellipse">
              <a:avLst/>
            </a:prstGeom>
            <a:gradFill>
              <a:gsLst>
                <a:gs pos="0">
                  <a:schemeClr val="accent5"/>
                </a:gs>
                <a:gs pos="29000">
                  <a:schemeClr val="accent5"/>
                </a:gs>
                <a:gs pos="100000">
                  <a:schemeClr val="accent2"/>
                </a:gs>
              </a:gsLst>
              <a:lin ang="8100019" scaled="0"/>
            </a:gradFill>
            <a:ln>
              <a:noFill/>
            </a:ln>
          </p:spPr>
          <p:txBody>
            <a:bodyPr spcFirstLastPara="1" wrap="square" lIns="91275" tIns="45650" rIns="91275" bIns="4565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FFFFFF"/>
                </a:solidFill>
                <a:latin typeface="Arial"/>
                <a:ea typeface="Arial"/>
                <a:cs typeface="Arial"/>
                <a:sym typeface="Arial"/>
              </a:endParaRPr>
            </a:p>
          </p:txBody>
        </p:sp>
        <p:pic>
          <p:nvPicPr>
            <p:cNvPr id="1049" name="Google Shape;1049;g36c36515e95_0_2260"/>
            <p:cNvPicPr preferRelativeResize="0"/>
            <p:nvPr/>
          </p:nvPicPr>
          <p:blipFill rotWithShape="1">
            <a:blip r:embed="rId9">
              <a:alphaModFix/>
            </a:blip>
            <a:srcRect/>
            <a:stretch/>
          </p:blipFill>
          <p:spPr>
            <a:xfrm>
              <a:off x="995425" y="5119934"/>
              <a:ext cx="226858" cy="226858"/>
            </a:xfrm>
            <a:prstGeom prst="rect">
              <a:avLst/>
            </a:prstGeom>
            <a:noFill/>
            <a:ln>
              <a:noFill/>
            </a:ln>
          </p:spPr>
        </p:pic>
        <p:cxnSp>
          <p:nvCxnSpPr>
            <p:cNvPr id="1052" name="Google Shape;1052;g36c36515e95_0_2260"/>
            <p:cNvCxnSpPr/>
            <p:nvPr/>
          </p:nvCxnSpPr>
          <p:spPr>
            <a:xfrm rot="10800000" flipH="1">
              <a:off x="699262" y="4782210"/>
              <a:ext cx="3105900" cy="2100"/>
            </a:xfrm>
            <a:prstGeom prst="straightConnector1">
              <a:avLst/>
            </a:prstGeom>
            <a:noFill/>
            <a:ln w="9525" cap="flat" cmpd="sng">
              <a:solidFill>
                <a:srgbClr val="7030A0"/>
              </a:solidFill>
              <a:prstDash val="solid"/>
              <a:round/>
              <a:headEnd type="none" w="sm" len="sm"/>
              <a:tailEnd type="none" w="sm" len="sm"/>
            </a:ln>
          </p:spPr>
        </p:cxnSp>
      </p:grpSp>
      <p:grpSp>
        <p:nvGrpSpPr>
          <p:cNvPr id="2" name="Group 1">
            <a:extLst>
              <a:ext uri="{FF2B5EF4-FFF2-40B4-BE49-F238E27FC236}">
                <a16:creationId xmlns:a16="http://schemas.microsoft.com/office/drawing/2014/main" id="{25DDABAF-5AC0-7459-828F-841BBAA0EE28}"/>
              </a:ext>
            </a:extLst>
          </p:cNvPr>
          <p:cNvGrpSpPr/>
          <p:nvPr/>
        </p:nvGrpSpPr>
        <p:grpSpPr>
          <a:xfrm>
            <a:off x="693360" y="992137"/>
            <a:ext cx="3111900" cy="1986900"/>
            <a:chOff x="693360" y="992137"/>
            <a:chExt cx="3111900" cy="1986900"/>
          </a:xfrm>
        </p:grpSpPr>
        <p:sp>
          <p:nvSpPr>
            <p:cNvPr id="1040" name="Google Shape;1040;g36c36515e95_0_2260"/>
            <p:cNvSpPr/>
            <p:nvPr/>
          </p:nvSpPr>
          <p:spPr>
            <a:xfrm>
              <a:off x="693360" y="992137"/>
              <a:ext cx="3111900" cy="1986900"/>
            </a:xfrm>
            <a:prstGeom prst="roundRect">
              <a:avLst>
                <a:gd name="adj" fmla="val 3467"/>
              </a:avLst>
            </a:prstGeom>
            <a:gradFill>
              <a:gsLst>
                <a:gs pos="0">
                  <a:schemeClr val="accent2"/>
                </a:gs>
                <a:gs pos="85000">
                  <a:schemeClr val="accent5"/>
                </a:gs>
                <a:gs pos="100000">
                  <a:schemeClr val="accent5"/>
                </a:gs>
              </a:gsLst>
              <a:lin ang="18900044" scaled="0"/>
            </a:gradFill>
            <a:ln>
              <a:noFill/>
            </a:ln>
          </p:spPr>
          <p:txBody>
            <a:bodyPr spcFirstLastPara="1" wrap="square" lIns="91275" tIns="45650" rIns="91275" bIns="4565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dirty="0">
                <a:solidFill>
                  <a:srgbClr val="FFFFFF"/>
                </a:solidFill>
                <a:latin typeface="Arial"/>
                <a:ea typeface="Arial"/>
                <a:cs typeface="Arial"/>
                <a:sym typeface="Arial"/>
              </a:endParaRPr>
            </a:p>
          </p:txBody>
        </p:sp>
        <p:sp>
          <p:nvSpPr>
            <p:cNvPr id="1041" name="Google Shape;1041;g36c36515e95_0_2260"/>
            <p:cNvSpPr txBox="1"/>
            <p:nvPr/>
          </p:nvSpPr>
          <p:spPr>
            <a:xfrm>
              <a:off x="1088357" y="2345048"/>
              <a:ext cx="2420700" cy="554100"/>
            </a:xfrm>
            <a:prstGeom prst="rect">
              <a:avLst/>
            </a:prstGeom>
            <a:noFill/>
            <a:ln>
              <a:noFill/>
            </a:ln>
          </p:spPr>
          <p:txBody>
            <a:bodyPr spcFirstLastPara="1" wrap="square" lIns="0" tIns="0" rIns="0" bIns="0" anchor="t" anchorCtr="0">
              <a:spAutoFit/>
            </a:bodyPr>
            <a:lstStyle/>
            <a:p>
              <a:pPr marL="0" marR="0" lvl="0" indent="0" algn="ctr" rtl="0">
                <a:lnSpc>
                  <a:spcPct val="90000"/>
                </a:lnSpc>
                <a:spcBef>
                  <a:spcPts val="0"/>
                </a:spcBef>
                <a:spcAft>
                  <a:spcPts val="0"/>
                </a:spcAft>
                <a:buClr>
                  <a:srgbClr val="000000"/>
                </a:buClr>
                <a:buSzPts val="2000"/>
                <a:buFont typeface="Arial"/>
                <a:buNone/>
              </a:pPr>
              <a:r>
                <a:rPr lang="en" sz="2000" b="1" i="0" u="none" strike="noStrike" cap="none" dirty="0">
                  <a:solidFill>
                    <a:schemeClr val="lt1"/>
                  </a:solidFill>
                  <a:latin typeface="Arial"/>
                  <a:ea typeface="Arial"/>
                  <a:cs typeface="Arial"/>
                  <a:sym typeface="Arial"/>
                </a:rPr>
                <a:t>Infrastructure Modernization</a:t>
              </a:r>
              <a:endParaRPr sz="2000" b="1" i="0" u="none" strike="noStrike" cap="none" dirty="0">
                <a:solidFill>
                  <a:schemeClr val="lt1"/>
                </a:solidFill>
                <a:latin typeface="Arial"/>
                <a:ea typeface="Arial"/>
                <a:cs typeface="Arial"/>
                <a:sym typeface="Arial"/>
              </a:endParaRPr>
            </a:p>
          </p:txBody>
        </p:sp>
        <p:pic>
          <p:nvPicPr>
            <p:cNvPr id="1053" name="Google Shape;1053;g36c36515e95_0_2260" descr="A cloud and rain falling from a fence&#10;&#10;AI-generated content may be incorrect."/>
            <p:cNvPicPr preferRelativeResize="0"/>
            <p:nvPr/>
          </p:nvPicPr>
          <p:blipFill rotWithShape="1">
            <a:blip r:embed="rId10">
              <a:alphaModFix/>
            </a:blip>
            <a:srcRect/>
            <a:stretch/>
          </p:blipFill>
          <p:spPr>
            <a:xfrm>
              <a:off x="1652234" y="1251908"/>
              <a:ext cx="1296331" cy="963937"/>
            </a:xfrm>
            <a:prstGeom prst="rect">
              <a:avLst/>
            </a:prstGeom>
            <a:noFill/>
            <a:ln>
              <a:noFill/>
            </a:ln>
          </p:spPr>
        </p:pic>
      </p:grpSp>
      <p:grpSp>
        <p:nvGrpSpPr>
          <p:cNvPr id="6" name="Group 5">
            <a:extLst>
              <a:ext uri="{FF2B5EF4-FFF2-40B4-BE49-F238E27FC236}">
                <a16:creationId xmlns:a16="http://schemas.microsoft.com/office/drawing/2014/main" id="{EFB703FA-D362-98A5-6617-328C9904705A}"/>
              </a:ext>
            </a:extLst>
          </p:cNvPr>
          <p:cNvGrpSpPr/>
          <p:nvPr/>
        </p:nvGrpSpPr>
        <p:grpSpPr>
          <a:xfrm>
            <a:off x="4552641" y="992137"/>
            <a:ext cx="3111900" cy="1986900"/>
            <a:chOff x="4552641" y="992137"/>
            <a:chExt cx="3111900" cy="1986900"/>
          </a:xfrm>
        </p:grpSpPr>
        <p:sp>
          <p:nvSpPr>
            <p:cNvPr id="996" name="Google Shape;996;g36c36515e95_0_2260"/>
            <p:cNvSpPr/>
            <p:nvPr/>
          </p:nvSpPr>
          <p:spPr>
            <a:xfrm>
              <a:off x="4552641" y="992137"/>
              <a:ext cx="3111900" cy="1986900"/>
            </a:xfrm>
            <a:prstGeom prst="roundRect">
              <a:avLst>
                <a:gd name="adj" fmla="val 3135"/>
              </a:avLst>
            </a:prstGeom>
            <a:gradFill>
              <a:gsLst>
                <a:gs pos="0">
                  <a:schemeClr val="accent2"/>
                </a:gs>
                <a:gs pos="100000">
                  <a:schemeClr val="accent3"/>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rgbClr val="000000"/>
                </a:solidFill>
                <a:latin typeface="Arial"/>
                <a:ea typeface="Arial"/>
                <a:cs typeface="Arial"/>
                <a:sym typeface="Arial"/>
              </a:endParaRPr>
            </a:p>
          </p:txBody>
        </p:sp>
        <p:sp>
          <p:nvSpPr>
            <p:cNvPr id="997" name="Google Shape;997;g36c36515e95_0_2260"/>
            <p:cNvSpPr txBox="1"/>
            <p:nvPr/>
          </p:nvSpPr>
          <p:spPr>
            <a:xfrm>
              <a:off x="5307152" y="2345049"/>
              <a:ext cx="1723500" cy="554100"/>
            </a:xfrm>
            <a:prstGeom prst="rect">
              <a:avLst/>
            </a:prstGeom>
            <a:noFill/>
            <a:ln>
              <a:noFill/>
            </a:ln>
          </p:spPr>
          <p:txBody>
            <a:bodyPr spcFirstLastPara="1" wrap="square" lIns="0" tIns="0" rIns="0" bIns="0" anchor="t" anchorCtr="0">
              <a:spAutoFit/>
            </a:bodyPr>
            <a:lstStyle/>
            <a:p>
              <a:pPr marL="0" marR="0" lvl="0" indent="0" algn="ctr" rtl="0">
                <a:lnSpc>
                  <a:spcPct val="90000"/>
                </a:lnSpc>
                <a:spcBef>
                  <a:spcPts val="0"/>
                </a:spcBef>
                <a:spcAft>
                  <a:spcPts val="0"/>
                </a:spcAft>
                <a:buClr>
                  <a:srgbClr val="000000"/>
                </a:buClr>
                <a:buSzPts val="2000"/>
                <a:buFont typeface="Arial"/>
                <a:buNone/>
              </a:pPr>
              <a:r>
                <a:rPr lang="en" sz="2000" b="1" i="0" u="none" strike="noStrike" cap="none" dirty="0">
                  <a:solidFill>
                    <a:schemeClr val="lt1"/>
                  </a:solidFill>
                  <a:latin typeface="Arial"/>
                  <a:ea typeface="Arial"/>
                  <a:cs typeface="Arial"/>
                  <a:sym typeface="Arial"/>
                </a:rPr>
                <a:t>Application</a:t>
              </a:r>
              <a:br>
                <a:rPr lang="en" sz="2000" b="1" i="0" u="none" strike="noStrike" cap="none" dirty="0">
                  <a:solidFill>
                    <a:schemeClr val="lt1"/>
                  </a:solidFill>
                  <a:latin typeface="Arial"/>
                  <a:ea typeface="Arial"/>
                  <a:cs typeface="Arial"/>
                  <a:sym typeface="Arial"/>
                </a:rPr>
              </a:br>
              <a:r>
                <a:rPr lang="en" sz="2000" b="1" i="0" u="none" strike="noStrike" cap="none" dirty="0">
                  <a:solidFill>
                    <a:schemeClr val="lt1"/>
                  </a:solidFill>
                  <a:latin typeface="Arial"/>
                  <a:ea typeface="Arial"/>
                  <a:cs typeface="Arial"/>
                  <a:sym typeface="Arial"/>
                </a:rPr>
                <a:t>Modernization</a:t>
              </a:r>
              <a:endParaRPr sz="2000" b="1" i="0" u="none" strike="noStrike" cap="none" dirty="0">
                <a:solidFill>
                  <a:schemeClr val="lt1"/>
                </a:solidFill>
                <a:latin typeface="Arial"/>
                <a:ea typeface="Arial"/>
                <a:cs typeface="Arial"/>
                <a:sym typeface="Arial"/>
              </a:endParaRPr>
            </a:p>
          </p:txBody>
        </p:sp>
        <p:pic>
          <p:nvPicPr>
            <p:cNvPr id="1054" name="Google Shape;1054;g36c36515e95_0_2260" descr="A computer screen with a brain and speedometer&#10;&#10;AI-generated content may be incorrect."/>
            <p:cNvPicPr preferRelativeResize="0"/>
            <p:nvPr/>
          </p:nvPicPr>
          <p:blipFill rotWithShape="1">
            <a:blip r:embed="rId11">
              <a:alphaModFix/>
            </a:blip>
            <a:srcRect/>
            <a:stretch/>
          </p:blipFill>
          <p:spPr>
            <a:xfrm>
              <a:off x="5388441" y="1072346"/>
              <a:ext cx="1573888" cy="1253099"/>
            </a:xfrm>
            <a:prstGeom prst="rect">
              <a:avLst/>
            </a:prstGeom>
            <a:noFill/>
            <a:ln>
              <a:noFill/>
            </a:ln>
          </p:spPr>
        </p:pic>
      </p:grpSp>
      <p:grpSp>
        <p:nvGrpSpPr>
          <p:cNvPr id="10" name="Group 9">
            <a:extLst>
              <a:ext uri="{FF2B5EF4-FFF2-40B4-BE49-F238E27FC236}">
                <a16:creationId xmlns:a16="http://schemas.microsoft.com/office/drawing/2014/main" id="{94307CEF-3E5E-606D-FD99-D5328E94AA4A}"/>
              </a:ext>
            </a:extLst>
          </p:cNvPr>
          <p:cNvGrpSpPr/>
          <p:nvPr/>
        </p:nvGrpSpPr>
        <p:grpSpPr>
          <a:xfrm>
            <a:off x="8415877" y="992137"/>
            <a:ext cx="3052500" cy="1986900"/>
            <a:chOff x="8415877" y="992137"/>
            <a:chExt cx="3052500" cy="1986900"/>
          </a:xfrm>
        </p:grpSpPr>
        <p:sp>
          <p:nvSpPr>
            <p:cNvPr id="1024" name="Google Shape;1024;g36c36515e95_0_2260"/>
            <p:cNvSpPr/>
            <p:nvPr/>
          </p:nvSpPr>
          <p:spPr>
            <a:xfrm>
              <a:off x="8415877" y="992137"/>
              <a:ext cx="3052500" cy="1986900"/>
            </a:xfrm>
            <a:prstGeom prst="roundRect">
              <a:avLst>
                <a:gd name="adj" fmla="val 3135"/>
              </a:avLst>
            </a:prstGeom>
            <a:gradFill>
              <a:gsLst>
                <a:gs pos="0">
                  <a:schemeClr val="accent1"/>
                </a:gs>
                <a:gs pos="51000">
                  <a:schemeClr val="accent1"/>
                </a:gs>
                <a:gs pos="100000">
                  <a:schemeClr val="accent4"/>
                </a:gs>
              </a:gsLst>
              <a:lin ang="18900044" scaled="0"/>
            </a:gradFill>
            <a:ln>
              <a:noFill/>
            </a:ln>
          </p:spPr>
          <p:txBody>
            <a:bodyPr spcFirstLastPara="1" wrap="square" lIns="91325" tIns="45650" rIns="91325" bIns="4565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dirty="0">
                <a:solidFill>
                  <a:srgbClr val="000000"/>
                </a:solidFill>
                <a:latin typeface="Arial"/>
                <a:ea typeface="Arial"/>
                <a:cs typeface="Arial"/>
                <a:sym typeface="Arial"/>
              </a:endParaRPr>
            </a:p>
          </p:txBody>
        </p:sp>
        <p:sp>
          <p:nvSpPr>
            <p:cNvPr id="1025" name="Google Shape;1025;g36c36515e95_0_2260"/>
            <p:cNvSpPr txBox="1"/>
            <p:nvPr/>
          </p:nvSpPr>
          <p:spPr>
            <a:xfrm>
              <a:off x="8828744" y="2316987"/>
              <a:ext cx="2225700" cy="554100"/>
            </a:xfrm>
            <a:prstGeom prst="rect">
              <a:avLst/>
            </a:prstGeom>
            <a:noFill/>
            <a:ln>
              <a:noFill/>
            </a:ln>
          </p:spPr>
          <p:txBody>
            <a:bodyPr spcFirstLastPara="1" wrap="square" lIns="0" tIns="0" rIns="0" bIns="0" anchor="t" anchorCtr="0">
              <a:spAutoFit/>
            </a:bodyPr>
            <a:lstStyle/>
            <a:p>
              <a:pPr marL="0" marR="0" lvl="0" indent="0" algn="ctr" rtl="0">
                <a:lnSpc>
                  <a:spcPct val="90000"/>
                </a:lnSpc>
                <a:spcBef>
                  <a:spcPts val="0"/>
                </a:spcBef>
                <a:spcAft>
                  <a:spcPts val="0"/>
                </a:spcAft>
                <a:buClr>
                  <a:srgbClr val="000000"/>
                </a:buClr>
                <a:buSzPts val="2000"/>
                <a:buFont typeface="Arial"/>
                <a:buNone/>
              </a:pPr>
              <a:r>
                <a:rPr lang="en" sz="2000" b="1" i="0" u="none" strike="noStrike" cap="none" dirty="0">
                  <a:solidFill>
                    <a:schemeClr val="lt1"/>
                  </a:solidFill>
                  <a:latin typeface="Arial"/>
                  <a:ea typeface="Arial"/>
                  <a:cs typeface="Arial"/>
                  <a:sym typeface="Arial"/>
                </a:rPr>
                <a:t>Security </a:t>
              </a:r>
              <a:br>
                <a:rPr lang="en" sz="2000" b="1" i="0" u="none" strike="noStrike" cap="none" dirty="0">
                  <a:solidFill>
                    <a:schemeClr val="lt1"/>
                  </a:solidFill>
                  <a:latin typeface="Arial"/>
                  <a:ea typeface="Arial"/>
                  <a:cs typeface="Arial"/>
                  <a:sym typeface="Arial"/>
                </a:rPr>
              </a:br>
              <a:r>
                <a:rPr lang="en" sz="2000" b="1" i="0" u="none" strike="noStrike" cap="none" dirty="0">
                  <a:solidFill>
                    <a:schemeClr val="lt1"/>
                  </a:solidFill>
                  <a:latin typeface="Arial"/>
                  <a:ea typeface="Arial"/>
                  <a:cs typeface="Arial"/>
                  <a:sym typeface="Arial"/>
                </a:rPr>
                <a:t>Modernization</a:t>
              </a:r>
              <a:endParaRPr sz="2000" b="1" i="0" u="none" strike="noStrike" cap="none" dirty="0">
                <a:solidFill>
                  <a:schemeClr val="lt1"/>
                </a:solidFill>
                <a:latin typeface="Arial"/>
                <a:ea typeface="Arial"/>
                <a:cs typeface="Arial"/>
                <a:sym typeface="Arial"/>
              </a:endParaRPr>
            </a:p>
          </p:txBody>
        </p:sp>
        <p:pic>
          <p:nvPicPr>
            <p:cNvPr id="1055" name="Google Shape;1055;g36c36515e95_0_2260" descr="A logo of a shield with a lightning bolt&#10;&#10;AI-generated content may be incorrect."/>
            <p:cNvPicPr preferRelativeResize="0"/>
            <p:nvPr/>
          </p:nvPicPr>
          <p:blipFill rotWithShape="1">
            <a:blip r:embed="rId12">
              <a:alphaModFix/>
            </a:blip>
            <a:srcRect/>
            <a:stretch/>
          </p:blipFill>
          <p:spPr>
            <a:xfrm>
              <a:off x="8916158" y="1373815"/>
              <a:ext cx="1866104" cy="720770"/>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039"/>
                                        </p:tgtEl>
                                        <p:attrNameLst>
                                          <p:attrName>style.visibility</p:attrName>
                                        </p:attrNameLst>
                                      </p:cBhvr>
                                      <p:to>
                                        <p:strVal val="visible"/>
                                      </p:to>
                                    </p:set>
                                    <p:anim calcmode="lin" valueType="num">
                                      <p:cBhvr additive="base">
                                        <p:cTn id="13" dur="500" fill="hold"/>
                                        <p:tgtEl>
                                          <p:spTgt spid="1039"/>
                                        </p:tgtEl>
                                        <p:attrNameLst>
                                          <p:attrName>ppt_x</p:attrName>
                                        </p:attrNameLst>
                                      </p:cBhvr>
                                      <p:tavLst>
                                        <p:tav tm="0">
                                          <p:val>
                                            <p:strVal val="#ppt_x"/>
                                          </p:val>
                                        </p:tav>
                                        <p:tav tm="100000">
                                          <p:val>
                                            <p:strVal val="#ppt_x"/>
                                          </p:val>
                                        </p:tav>
                                      </p:tavLst>
                                    </p:anim>
                                    <p:anim calcmode="lin" valueType="num">
                                      <p:cBhvr additive="base">
                                        <p:cTn id="14" dur="500" fill="hold"/>
                                        <p:tgtEl>
                                          <p:spTgt spid="1039"/>
                                        </p:tgtEl>
                                        <p:attrNameLst>
                                          <p:attrName>ppt_y</p:attrName>
                                        </p:attrNameLst>
                                      </p:cBhvr>
                                      <p:tavLst>
                                        <p:tav tm="0">
                                          <p:val>
                                            <p:strVal val="1+#ppt_h/2"/>
                                          </p:val>
                                        </p:tav>
                                        <p:tav tm="100000">
                                          <p:val>
                                            <p:strVal val="#ppt_y"/>
                                          </p:val>
                                        </p:tav>
                                      </p:tavLst>
                                    </p:anim>
                                  </p:childTnLst>
                                </p:cTn>
                              </p:par>
                            </p:childTnLst>
                          </p:cTn>
                        </p:par>
                        <p:par>
                          <p:cTn id="15" fill="hold">
                            <p:stCondLst>
                              <p:cond delay="500"/>
                            </p:stCondLst>
                            <p:childTnLst>
                              <p:par>
                                <p:cTn id="16" presetID="2" presetClass="entr" presetSubtype="4"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ppt_x"/>
                                          </p:val>
                                        </p:tav>
                                        <p:tav tm="100000">
                                          <p:val>
                                            <p:strVal val="#ppt_x"/>
                                          </p:val>
                                        </p:tav>
                                      </p:tavLst>
                                    </p:anim>
                                    <p:anim calcmode="lin" valueType="num">
                                      <p:cBhvr additive="base">
                                        <p:cTn id="1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ppt_x"/>
                                          </p:val>
                                        </p:tav>
                                        <p:tav tm="100000">
                                          <p:val>
                                            <p:strVal val="#ppt_x"/>
                                          </p:val>
                                        </p:tav>
                                      </p:tavLst>
                                    </p:anim>
                                    <p:anim calcmode="lin" valueType="num">
                                      <p:cBhvr additive="base">
                                        <p:cTn id="25"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nodeType="click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500" fill="hold"/>
                                        <p:tgtEl>
                                          <p:spTgt spid="5"/>
                                        </p:tgtEl>
                                        <p:attrNameLst>
                                          <p:attrName>ppt_x</p:attrName>
                                        </p:attrNameLst>
                                      </p:cBhvr>
                                      <p:tavLst>
                                        <p:tav tm="0">
                                          <p:val>
                                            <p:strVal val="#ppt_x"/>
                                          </p:val>
                                        </p:tav>
                                        <p:tav tm="100000">
                                          <p:val>
                                            <p:strVal val="#ppt_x"/>
                                          </p:val>
                                        </p:tav>
                                      </p:tavLst>
                                    </p:anim>
                                    <p:anim calcmode="lin" valueType="num">
                                      <p:cBhvr additive="base">
                                        <p:cTn id="31"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grpId="0" nodeType="clickEffect">
                                  <p:stCondLst>
                                    <p:cond delay="0"/>
                                  </p:stCondLst>
                                  <p:childTnLst>
                                    <p:set>
                                      <p:cBhvr>
                                        <p:cTn id="41" dur="1" fill="hold">
                                          <p:stCondLst>
                                            <p:cond delay="0"/>
                                          </p:stCondLst>
                                        </p:cTn>
                                        <p:tgtEl>
                                          <p:spTgt spid="995"/>
                                        </p:tgtEl>
                                        <p:attrNameLst>
                                          <p:attrName>style.visibility</p:attrName>
                                        </p:attrNameLst>
                                      </p:cBhvr>
                                      <p:to>
                                        <p:strVal val="visible"/>
                                      </p:to>
                                    </p:set>
                                    <p:anim calcmode="lin" valueType="num">
                                      <p:cBhvr additive="base">
                                        <p:cTn id="42" dur="500" fill="hold"/>
                                        <p:tgtEl>
                                          <p:spTgt spid="995"/>
                                        </p:tgtEl>
                                        <p:attrNameLst>
                                          <p:attrName>ppt_x</p:attrName>
                                        </p:attrNameLst>
                                      </p:cBhvr>
                                      <p:tavLst>
                                        <p:tav tm="0">
                                          <p:val>
                                            <p:strVal val="#ppt_x"/>
                                          </p:val>
                                        </p:tav>
                                        <p:tav tm="100000">
                                          <p:val>
                                            <p:strVal val="#ppt_x"/>
                                          </p:val>
                                        </p:tav>
                                      </p:tavLst>
                                    </p:anim>
                                    <p:anim calcmode="lin" valueType="num">
                                      <p:cBhvr additive="base">
                                        <p:cTn id="43" dur="500" fill="hold"/>
                                        <p:tgtEl>
                                          <p:spTgt spid="995"/>
                                        </p:tgtEl>
                                        <p:attrNameLst>
                                          <p:attrName>ppt_y</p:attrName>
                                        </p:attrNameLst>
                                      </p:cBhvr>
                                      <p:tavLst>
                                        <p:tav tm="0">
                                          <p:val>
                                            <p:strVal val="1+#ppt_h/2"/>
                                          </p:val>
                                        </p:tav>
                                        <p:tav tm="100000">
                                          <p:val>
                                            <p:strVal val="#ppt_y"/>
                                          </p:val>
                                        </p:tav>
                                      </p:tavLst>
                                    </p:anim>
                                  </p:childTnLst>
                                </p:cTn>
                              </p:par>
                            </p:childTnLst>
                          </p:cTn>
                        </p:par>
                        <p:par>
                          <p:cTn id="44" fill="hold">
                            <p:stCondLst>
                              <p:cond delay="500"/>
                            </p:stCondLst>
                            <p:childTnLst>
                              <p:par>
                                <p:cTn id="45" presetID="2" presetClass="entr" presetSubtype="4"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500" fill="hold"/>
                                        <p:tgtEl>
                                          <p:spTgt spid="7"/>
                                        </p:tgtEl>
                                        <p:attrNameLst>
                                          <p:attrName>ppt_x</p:attrName>
                                        </p:attrNameLst>
                                      </p:cBhvr>
                                      <p:tavLst>
                                        <p:tav tm="0">
                                          <p:val>
                                            <p:strVal val="#ppt_x"/>
                                          </p:val>
                                        </p:tav>
                                        <p:tav tm="100000">
                                          <p:val>
                                            <p:strVal val="#ppt_x"/>
                                          </p:val>
                                        </p:tav>
                                      </p:tavLst>
                                    </p:anim>
                                    <p:anim calcmode="lin" valueType="num">
                                      <p:cBhvr additive="base">
                                        <p:cTn id="4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additive="base">
                                        <p:cTn id="53" dur="500" fill="hold"/>
                                        <p:tgtEl>
                                          <p:spTgt spid="8"/>
                                        </p:tgtEl>
                                        <p:attrNameLst>
                                          <p:attrName>ppt_x</p:attrName>
                                        </p:attrNameLst>
                                      </p:cBhvr>
                                      <p:tavLst>
                                        <p:tav tm="0">
                                          <p:val>
                                            <p:strVal val="#ppt_x"/>
                                          </p:val>
                                        </p:tav>
                                        <p:tav tm="100000">
                                          <p:val>
                                            <p:strVal val="#ppt_x"/>
                                          </p:val>
                                        </p:tav>
                                      </p:tavLst>
                                    </p:anim>
                                    <p:anim calcmode="lin" valueType="num">
                                      <p:cBhvr additive="base">
                                        <p:cTn id="5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9"/>
                                        </p:tgtEl>
                                        <p:attrNameLst>
                                          <p:attrName>style.visibility</p:attrName>
                                        </p:attrNameLst>
                                      </p:cBhvr>
                                      <p:to>
                                        <p:strVal val="visible"/>
                                      </p:to>
                                    </p:set>
                                    <p:anim calcmode="lin" valueType="num">
                                      <p:cBhvr additive="base">
                                        <p:cTn id="59" dur="500" fill="hold"/>
                                        <p:tgtEl>
                                          <p:spTgt spid="9"/>
                                        </p:tgtEl>
                                        <p:attrNameLst>
                                          <p:attrName>ppt_x</p:attrName>
                                        </p:attrNameLst>
                                      </p:cBhvr>
                                      <p:tavLst>
                                        <p:tav tm="0">
                                          <p:val>
                                            <p:strVal val="#ppt_x"/>
                                          </p:val>
                                        </p:tav>
                                        <p:tav tm="100000">
                                          <p:val>
                                            <p:strVal val="#ppt_x"/>
                                          </p:val>
                                        </p:tav>
                                      </p:tavLst>
                                    </p:anim>
                                    <p:anim calcmode="lin" valueType="num">
                                      <p:cBhvr additive="base">
                                        <p:cTn id="6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0"/>
                                        </p:tgtEl>
                                        <p:attrNameLst>
                                          <p:attrName>style.visibility</p:attrName>
                                        </p:attrNameLst>
                                      </p:cBhvr>
                                      <p:to>
                                        <p:strVal val="visible"/>
                                      </p:to>
                                    </p:set>
                                    <p:anim calcmode="lin" valueType="num">
                                      <p:cBhvr additive="base">
                                        <p:cTn id="65" dur="500" fill="hold"/>
                                        <p:tgtEl>
                                          <p:spTgt spid="10"/>
                                        </p:tgtEl>
                                        <p:attrNameLst>
                                          <p:attrName>ppt_x</p:attrName>
                                        </p:attrNameLst>
                                      </p:cBhvr>
                                      <p:tavLst>
                                        <p:tav tm="0">
                                          <p:val>
                                            <p:strVal val="#ppt_x"/>
                                          </p:val>
                                        </p:tav>
                                        <p:tav tm="100000">
                                          <p:val>
                                            <p:strVal val="#ppt_x"/>
                                          </p:val>
                                        </p:tav>
                                      </p:tavLst>
                                    </p:anim>
                                    <p:anim calcmode="lin" valueType="num">
                                      <p:cBhvr additive="base">
                                        <p:cTn id="6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1023"/>
                                        </p:tgtEl>
                                        <p:attrNameLst>
                                          <p:attrName>style.visibility</p:attrName>
                                        </p:attrNameLst>
                                      </p:cBhvr>
                                      <p:to>
                                        <p:strVal val="visible"/>
                                      </p:to>
                                    </p:set>
                                    <p:anim calcmode="lin" valueType="num">
                                      <p:cBhvr additive="base">
                                        <p:cTn id="71" dur="500" fill="hold"/>
                                        <p:tgtEl>
                                          <p:spTgt spid="1023"/>
                                        </p:tgtEl>
                                        <p:attrNameLst>
                                          <p:attrName>ppt_x</p:attrName>
                                        </p:attrNameLst>
                                      </p:cBhvr>
                                      <p:tavLst>
                                        <p:tav tm="0">
                                          <p:val>
                                            <p:strVal val="#ppt_x"/>
                                          </p:val>
                                        </p:tav>
                                        <p:tav tm="100000">
                                          <p:val>
                                            <p:strVal val="#ppt_x"/>
                                          </p:val>
                                        </p:tav>
                                      </p:tavLst>
                                    </p:anim>
                                    <p:anim calcmode="lin" valueType="num">
                                      <p:cBhvr additive="base">
                                        <p:cTn id="72" dur="500" fill="hold"/>
                                        <p:tgtEl>
                                          <p:spTgt spid="1023"/>
                                        </p:tgtEl>
                                        <p:attrNameLst>
                                          <p:attrName>ppt_y</p:attrName>
                                        </p:attrNameLst>
                                      </p:cBhvr>
                                      <p:tavLst>
                                        <p:tav tm="0">
                                          <p:val>
                                            <p:strVal val="1+#ppt_h/2"/>
                                          </p:val>
                                        </p:tav>
                                        <p:tav tm="100000">
                                          <p:val>
                                            <p:strVal val="#ppt_y"/>
                                          </p:val>
                                        </p:tav>
                                      </p:tavLst>
                                    </p:anim>
                                  </p:childTnLst>
                                </p:cTn>
                              </p:par>
                            </p:childTnLst>
                          </p:cTn>
                        </p:par>
                        <p:par>
                          <p:cTn id="73" fill="hold">
                            <p:stCondLst>
                              <p:cond delay="500"/>
                            </p:stCondLst>
                            <p:childTnLst>
                              <p:par>
                                <p:cTn id="74" presetID="2" presetClass="entr" presetSubtype="4" fill="hold" nodeType="after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500" fill="hold"/>
                                        <p:tgtEl>
                                          <p:spTgt spid="11"/>
                                        </p:tgtEl>
                                        <p:attrNameLst>
                                          <p:attrName>ppt_x</p:attrName>
                                        </p:attrNameLst>
                                      </p:cBhvr>
                                      <p:tavLst>
                                        <p:tav tm="0">
                                          <p:val>
                                            <p:strVal val="#ppt_x"/>
                                          </p:val>
                                        </p:tav>
                                        <p:tav tm="100000">
                                          <p:val>
                                            <p:strVal val="#ppt_x"/>
                                          </p:val>
                                        </p:tav>
                                      </p:tavLst>
                                    </p:anim>
                                    <p:anim calcmode="lin" valueType="num">
                                      <p:cBhvr additive="base">
                                        <p:cTn id="77"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2" presetClass="entr" presetSubtype="4" fill="hold" nodeType="click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500" fill="hold"/>
                                        <p:tgtEl>
                                          <p:spTgt spid="12"/>
                                        </p:tgtEl>
                                        <p:attrNameLst>
                                          <p:attrName>ppt_x</p:attrName>
                                        </p:attrNameLst>
                                      </p:cBhvr>
                                      <p:tavLst>
                                        <p:tav tm="0">
                                          <p:val>
                                            <p:strVal val="#ppt_x"/>
                                          </p:val>
                                        </p:tav>
                                        <p:tav tm="100000">
                                          <p:val>
                                            <p:strVal val="#ppt_x"/>
                                          </p:val>
                                        </p:tav>
                                      </p:tavLst>
                                    </p:anim>
                                    <p:anim calcmode="lin" valueType="num">
                                      <p:cBhvr additive="base">
                                        <p:cTn id="8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2" presetClass="entr" presetSubtype="4" fill="hold" nodeType="clickEffect">
                                  <p:stCondLst>
                                    <p:cond delay="0"/>
                                  </p:stCondLst>
                                  <p:childTnLst>
                                    <p:set>
                                      <p:cBhvr>
                                        <p:cTn id="87" dur="1" fill="hold">
                                          <p:stCondLst>
                                            <p:cond delay="0"/>
                                          </p:stCondLst>
                                        </p:cTn>
                                        <p:tgtEl>
                                          <p:spTgt spid="13"/>
                                        </p:tgtEl>
                                        <p:attrNameLst>
                                          <p:attrName>style.visibility</p:attrName>
                                        </p:attrNameLst>
                                      </p:cBhvr>
                                      <p:to>
                                        <p:strVal val="visible"/>
                                      </p:to>
                                    </p:set>
                                    <p:anim calcmode="lin" valueType="num">
                                      <p:cBhvr additive="base">
                                        <p:cTn id="88" dur="500" fill="hold"/>
                                        <p:tgtEl>
                                          <p:spTgt spid="13"/>
                                        </p:tgtEl>
                                        <p:attrNameLst>
                                          <p:attrName>ppt_x</p:attrName>
                                        </p:attrNameLst>
                                      </p:cBhvr>
                                      <p:tavLst>
                                        <p:tav tm="0">
                                          <p:val>
                                            <p:strVal val="#ppt_x"/>
                                          </p:val>
                                        </p:tav>
                                        <p:tav tm="100000">
                                          <p:val>
                                            <p:strVal val="#ppt_x"/>
                                          </p:val>
                                        </p:tav>
                                      </p:tavLst>
                                    </p:anim>
                                    <p:anim calcmode="lin" valueType="num">
                                      <p:cBhvr additive="base">
                                        <p:cTn id="89"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5" grpId="0" animBg="1"/>
      <p:bldP spid="1023" grpId="0" animBg="1"/>
      <p:bldP spid="1039"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875">
          <a:extLst>
            <a:ext uri="{FF2B5EF4-FFF2-40B4-BE49-F238E27FC236}">
              <a16:creationId xmlns:a16="http://schemas.microsoft.com/office/drawing/2014/main" id="{4C701CDA-ADD8-2440-E737-29114FAAD769}"/>
            </a:ext>
          </a:extLst>
        </p:cNvPr>
        <p:cNvGrpSpPr/>
        <p:nvPr/>
      </p:nvGrpSpPr>
      <p:grpSpPr>
        <a:xfrm>
          <a:off x="0" y="0"/>
          <a:ext cx="0" cy="0"/>
          <a:chOff x="0" y="0"/>
          <a:chExt cx="0" cy="0"/>
        </a:xfrm>
      </p:grpSpPr>
      <p:sp>
        <p:nvSpPr>
          <p:cNvPr id="2876" name="Google Shape;2876;p39">
            <a:extLst>
              <a:ext uri="{FF2B5EF4-FFF2-40B4-BE49-F238E27FC236}">
                <a16:creationId xmlns:a16="http://schemas.microsoft.com/office/drawing/2014/main" id="{44691808-7E61-CE13-A39B-9E80136F824B}"/>
              </a:ext>
            </a:extLst>
          </p:cNvPr>
          <p:cNvSpPr txBox="1">
            <a:spLocks noGrp="1"/>
          </p:cNvSpPr>
          <p:nvPr>
            <p:ph type="title"/>
          </p:nvPr>
        </p:nvSpPr>
        <p:spPr/>
        <p:txBody>
          <a:bodyPr spcFirstLastPara="1" wrap="square" lIns="0" tIns="0" rIns="0" bIns="0" anchor="b" anchorCtr="0">
            <a:normAutofit/>
          </a:bodyPr>
          <a:lstStyle/>
          <a:p>
            <a:pPr lvl="0">
              <a:spcAft>
                <a:spcPts val="0"/>
              </a:spcAft>
              <a:buClr>
                <a:srgbClr val="000000"/>
              </a:buClr>
              <a:buSzPts val="1300"/>
            </a:pPr>
            <a:r>
              <a:rPr lang="en-US" sz="3600" dirty="0"/>
              <a:t>Build and Deploy Private Cloud Infrastructure On-Premises</a:t>
            </a:r>
          </a:p>
        </p:txBody>
      </p:sp>
      <p:sp>
        <p:nvSpPr>
          <p:cNvPr id="2877" name="Google Shape;2877;p39">
            <a:extLst>
              <a:ext uri="{FF2B5EF4-FFF2-40B4-BE49-F238E27FC236}">
                <a16:creationId xmlns:a16="http://schemas.microsoft.com/office/drawing/2014/main" id="{16D7DE73-8C99-91A7-F81B-43B329F3E721}"/>
              </a:ext>
            </a:extLst>
          </p:cNvPr>
          <p:cNvSpPr txBox="1">
            <a:spLocks noGrp="1"/>
          </p:cNvSpPr>
          <p:nvPr>
            <p:ph type="subTitle" idx="1"/>
          </p:nvPr>
        </p:nvSpPr>
        <p:spPr/>
        <p:txBody>
          <a:bodyPr spcFirstLastPara="1" lIns="0" tIns="0" rIns="0" bIns="0" anchorCtr="0">
            <a:normAutofit/>
          </a:bodyPr>
          <a:lstStyle/>
          <a:p>
            <a:pPr lvl="0">
              <a:spcAft>
                <a:spcPts val="0"/>
              </a:spcAft>
              <a:buClr>
                <a:srgbClr val="000000"/>
              </a:buClr>
              <a:buSzPts val="1300"/>
            </a:pPr>
            <a:endParaRPr lang="en-US" sz="3600" dirty="0">
              <a:solidFill>
                <a:schemeClr val="dk1"/>
              </a:solidFill>
              <a:ea typeface="Arial"/>
              <a:cs typeface="Arial"/>
              <a:sym typeface="Arial"/>
            </a:endParaRPr>
          </a:p>
          <a:p>
            <a:pPr marL="0" lvl="0" indent="0" rtl="0">
              <a:spcBef>
                <a:spcPts val="0"/>
              </a:spcBef>
              <a:spcAft>
                <a:spcPts val="600"/>
              </a:spcAft>
              <a:buSzPts val="2160"/>
              <a:buNone/>
            </a:pPr>
            <a:endParaRPr lang="en-US" dirty="0"/>
          </a:p>
        </p:txBody>
      </p:sp>
      <p:sp>
        <p:nvSpPr>
          <p:cNvPr id="2" name="Google Shape;2877;p39">
            <a:extLst>
              <a:ext uri="{FF2B5EF4-FFF2-40B4-BE49-F238E27FC236}">
                <a16:creationId xmlns:a16="http://schemas.microsoft.com/office/drawing/2014/main" id="{A0E94ADA-BADA-72C8-B4DF-FCAB352BC570}"/>
              </a:ext>
            </a:extLst>
          </p:cNvPr>
          <p:cNvSpPr txBox="1">
            <a:spLocks/>
          </p:cNvSpPr>
          <p:nvPr/>
        </p:nvSpPr>
        <p:spPr>
          <a:xfrm>
            <a:off x="755366" y="2420112"/>
            <a:ext cx="6542112" cy="2165392"/>
          </a:xfrm>
          <a:prstGeom prst="rect">
            <a:avLst/>
          </a:prstGeom>
        </p:spPr>
        <p:txBody>
          <a:bodyPr spcFirstLastPara="1" vert="horz" lIns="0" tIns="0" rIns="0" bIns="0" rtlCol="0" anchorCtr="0">
            <a:normAutofit/>
          </a:bodyPr>
          <a:lstStyle>
            <a:lvl1pPr marL="0" indent="0" algn="l" defTabSz="914126"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None/>
              <a:defRPr sz="2399" kern="1200">
                <a:solidFill>
                  <a:schemeClr val="tx1"/>
                </a:solidFill>
                <a:latin typeface="+mj-lt"/>
                <a:ea typeface="+mn-ea"/>
                <a:cs typeface="+mn-cs"/>
              </a:defRPr>
            </a:lvl1pPr>
            <a:lvl2pPr marL="457063"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999" kern="1200">
                <a:solidFill>
                  <a:schemeClr val="tx1"/>
                </a:solidFill>
                <a:latin typeface="+mn-lt"/>
                <a:ea typeface="+mn-ea"/>
                <a:cs typeface="+mn-cs"/>
              </a:defRPr>
            </a:lvl2pPr>
            <a:lvl3pPr marL="914126"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799" kern="1200">
                <a:solidFill>
                  <a:schemeClr val="tx1"/>
                </a:solidFill>
                <a:latin typeface="+mn-lt"/>
                <a:ea typeface="+mn-ea"/>
                <a:cs typeface="+mn-cs"/>
              </a:defRPr>
            </a:lvl3pPr>
            <a:lvl4pPr marL="1371189"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251"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5314"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2377"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199440"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6503"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a:spcAft>
                <a:spcPts val="600"/>
              </a:spcAft>
              <a:buSzPts val="2160"/>
            </a:pPr>
            <a:r>
              <a:rPr lang="en-US" dirty="0"/>
              <a:t>Architecture Overview</a:t>
            </a:r>
          </a:p>
        </p:txBody>
      </p:sp>
    </p:spTree>
    <p:extLst>
      <p:ext uri="{BB962C8B-B14F-4D97-AF65-F5344CB8AC3E}">
        <p14:creationId xmlns:p14="http://schemas.microsoft.com/office/powerpoint/2010/main" val="314153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7F5B88-CD19-58AE-C2EA-0870C12950C9}"/>
            </a:ext>
          </a:extLst>
        </p:cNvPr>
        <p:cNvGrpSpPr/>
        <p:nvPr/>
      </p:nvGrpSpPr>
      <p:grpSpPr>
        <a:xfrm>
          <a:off x="0" y="0"/>
          <a:ext cx="0" cy="0"/>
          <a:chOff x="0" y="0"/>
          <a:chExt cx="0" cy="0"/>
        </a:xfrm>
      </p:grpSpPr>
      <p:sp>
        <p:nvSpPr>
          <p:cNvPr id="510" name="Rounded Rectangle 509">
            <a:extLst>
              <a:ext uri="{FF2B5EF4-FFF2-40B4-BE49-F238E27FC236}">
                <a16:creationId xmlns:a16="http://schemas.microsoft.com/office/drawing/2014/main" id="{A6C72A73-6DF3-5C0A-ACEE-7A0DED3989C1}"/>
              </a:ext>
            </a:extLst>
          </p:cNvPr>
          <p:cNvSpPr/>
          <p:nvPr/>
        </p:nvSpPr>
        <p:spPr bwMode="gray">
          <a:xfrm>
            <a:off x="8205517" y="1127826"/>
            <a:ext cx="2130889" cy="459110"/>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509" name="Rounded Rectangle 508">
            <a:extLst>
              <a:ext uri="{FF2B5EF4-FFF2-40B4-BE49-F238E27FC236}">
                <a16:creationId xmlns:a16="http://schemas.microsoft.com/office/drawing/2014/main" id="{D9E5DF4F-4BA1-A2B4-A143-B4C919E8274A}"/>
              </a:ext>
            </a:extLst>
          </p:cNvPr>
          <p:cNvSpPr/>
          <p:nvPr/>
        </p:nvSpPr>
        <p:spPr bwMode="gray">
          <a:xfrm>
            <a:off x="4038153" y="1460619"/>
            <a:ext cx="2130889" cy="459110"/>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508" name="Rounded Rectangle 507">
            <a:extLst>
              <a:ext uri="{FF2B5EF4-FFF2-40B4-BE49-F238E27FC236}">
                <a16:creationId xmlns:a16="http://schemas.microsoft.com/office/drawing/2014/main" id="{4443FFEB-E1D9-99C7-1FA2-9A4F2F3C1D2A}"/>
              </a:ext>
            </a:extLst>
          </p:cNvPr>
          <p:cNvSpPr/>
          <p:nvPr/>
        </p:nvSpPr>
        <p:spPr bwMode="gray">
          <a:xfrm>
            <a:off x="796834" y="2445398"/>
            <a:ext cx="2130889" cy="459110"/>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3" name="Title 2">
            <a:extLst>
              <a:ext uri="{FF2B5EF4-FFF2-40B4-BE49-F238E27FC236}">
                <a16:creationId xmlns:a16="http://schemas.microsoft.com/office/drawing/2014/main" id="{0329314D-3A3A-F5F2-1417-B5CB7C00A2EE}"/>
              </a:ext>
            </a:extLst>
          </p:cNvPr>
          <p:cNvSpPr>
            <a:spLocks noGrp="1"/>
          </p:cNvSpPr>
          <p:nvPr>
            <p:ph type="title"/>
          </p:nvPr>
        </p:nvSpPr>
        <p:spPr/>
        <p:txBody>
          <a:bodyPr/>
          <a:lstStyle/>
          <a:p>
            <a:r>
              <a:rPr lang="en-US" dirty="0">
                <a:solidFill>
                  <a:srgbClr val="005C8A"/>
                </a:solidFill>
              </a:rPr>
              <a:t>Private Cloud Constructs within VMware Cloud Foundation</a:t>
            </a:r>
            <a:endParaRPr lang="en-US" dirty="0"/>
          </a:p>
        </p:txBody>
      </p:sp>
      <p:sp>
        <p:nvSpPr>
          <p:cNvPr id="159" name="Subtitle 158">
            <a:extLst>
              <a:ext uri="{FF2B5EF4-FFF2-40B4-BE49-F238E27FC236}">
                <a16:creationId xmlns:a16="http://schemas.microsoft.com/office/drawing/2014/main" id="{9F599A88-D228-53F9-FC21-3A696F6508B1}"/>
              </a:ext>
            </a:extLst>
          </p:cNvPr>
          <p:cNvSpPr>
            <a:spLocks noGrp="1"/>
          </p:cNvSpPr>
          <p:nvPr>
            <p:ph type="subTitle" idx="10"/>
          </p:nvPr>
        </p:nvSpPr>
        <p:spPr/>
        <p:txBody>
          <a:bodyPr/>
          <a:lstStyle/>
          <a:p>
            <a:endParaRPr lang="en-US" dirty="0"/>
          </a:p>
        </p:txBody>
      </p:sp>
      <p:grpSp>
        <p:nvGrpSpPr>
          <p:cNvPr id="4" name="Group 3">
            <a:extLst>
              <a:ext uri="{FF2B5EF4-FFF2-40B4-BE49-F238E27FC236}">
                <a16:creationId xmlns:a16="http://schemas.microsoft.com/office/drawing/2014/main" id="{86631861-3E04-E163-F82B-03EA5AA328DB}"/>
              </a:ext>
            </a:extLst>
          </p:cNvPr>
          <p:cNvGrpSpPr/>
          <p:nvPr/>
        </p:nvGrpSpPr>
        <p:grpSpPr>
          <a:xfrm>
            <a:off x="984759" y="3148087"/>
            <a:ext cx="1769718" cy="1737105"/>
            <a:chOff x="320754" y="2311746"/>
            <a:chExt cx="1769718" cy="1737105"/>
          </a:xfrm>
        </p:grpSpPr>
        <p:sp>
          <p:nvSpPr>
            <p:cNvPr id="6" name="Google Shape;6678;g2d30ebb658d_0_19789">
              <a:extLst>
                <a:ext uri="{FF2B5EF4-FFF2-40B4-BE49-F238E27FC236}">
                  <a16:creationId xmlns:a16="http://schemas.microsoft.com/office/drawing/2014/main" id="{13F605E7-6732-C4BA-3059-D6BE83E2D3EE}"/>
                </a:ext>
              </a:extLst>
            </p:cNvPr>
            <p:cNvSpPr/>
            <p:nvPr/>
          </p:nvSpPr>
          <p:spPr>
            <a:xfrm>
              <a:off x="320754" y="231174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7" name="Group 6">
              <a:extLst>
                <a:ext uri="{FF2B5EF4-FFF2-40B4-BE49-F238E27FC236}">
                  <a16:creationId xmlns:a16="http://schemas.microsoft.com/office/drawing/2014/main" id="{7A6010DF-D63C-38BD-B209-8A99BA7811EC}"/>
                </a:ext>
              </a:extLst>
            </p:cNvPr>
            <p:cNvGrpSpPr/>
            <p:nvPr/>
          </p:nvGrpSpPr>
          <p:grpSpPr>
            <a:xfrm>
              <a:off x="371257" y="2372472"/>
              <a:ext cx="1661045" cy="1606417"/>
              <a:chOff x="1018026" y="2372472"/>
              <a:chExt cx="1661045" cy="1606417"/>
            </a:xfrm>
          </p:grpSpPr>
          <p:sp>
            <p:nvSpPr>
              <p:cNvPr id="158" name="Google Shape;6705;g2d30ebb658d_0_19789">
                <a:extLst>
                  <a:ext uri="{FF2B5EF4-FFF2-40B4-BE49-F238E27FC236}">
                    <a16:creationId xmlns:a16="http://schemas.microsoft.com/office/drawing/2014/main" id="{6B026F8D-0263-E567-64CF-CEEEBEB23B1D}"/>
                  </a:ext>
                </a:extLst>
              </p:cNvPr>
              <p:cNvSpPr/>
              <p:nvPr/>
            </p:nvSpPr>
            <p:spPr>
              <a:xfrm>
                <a:off x="1018026" y="3487722"/>
                <a:ext cx="1661045" cy="491167"/>
              </a:xfrm>
              <a:prstGeom prst="roundRect">
                <a:avLst>
                  <a:gd name="adj" fmla="val 6349"/>
                </a:avLst>
              </a:prstGeom>
              <a:noFill/>
              <a:ln w="25400">
                <a:gradFill>
                  <a:gsLst>
                    <a:gs pos="0">
                      <a:schemeClr val="accent2"/>
                    </a:gs>
                    <a:gs pos="0">
                      <a:schemeClr val="accent2"/>
                    </a:gs>
                    <a:gs pos="100000">
                      <a:schemeClr val="accent3"/>
                    </a:gs>
                    <a:gs pos="100000">
                      <a:schemeClr val="accent3"/>
                    </a:gs>
                  </a:gsLst>
                  <a:lin ang="21594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160" name="Google Shape;6707;g2d30ebb658d_0_19789">
                <a:extLst>
                  <a:ext uri="{FF2B5EF4-FFF2-40B4-BE49-F238E27FC236}">
                    <a16:creationId xmlns:a16="http://schemas.microsoft.com/office/drawing/2014/main" id="{719180C8-4D9A-61D4-D93C-714217CC22C9}"/>
                  </a:ext>
                </a:extLst>
              </p:cNvPr>
              <p:cNvGrpSpPr/>
              <p:nvPr/>
            </p:nvGrpSpPr>
            <p:grpSpPr>
              <a:xfrm>
                <a:off x="2266825" y="3639241"/>
                <a:ext cx="283155" cy="283154"/>
                <a:chOff x="10722212" y="2729558"/>
                <a:chExt cx="663407" cy="663407"/>
              </a:xfrm>
            </p:grpSpPr>
            <p:sp>
              <p:nvSpPr>
                <p:cNvPr id="174" name="Google Shape;6708;g2d30ebb658d_0_19789">
                  <a:extLst>
                    <a:ext uri="{FF2B5EF4-FFF2-40B4-BE49-F238E27FC236}">
                      <a16:creationId xmlns:a16="http://schemas.microsoft.com/office/drawing/2014/main" id="{D77CB28E-539E-9481-BB16-1711191D71A2}"/>
                    </a:ext>
                  </a:extLst>
                </p:cNvPr>
                <p:cNvSpPr>
                  <a:spLocks noChangeAspect="1"/>
                </p:cNvSpPr>
                <p:nvPr/>
              </p:nvSpPr>
              <p:spPr>
                <a:xfrm>
                  <a:off x="10722212" y="2729558"/>
                  <a:ext cx="663407" cy="663407"/>
                </a:xfrm>
                <a:prstGeom prst="ellipse">
                  <a:avLst/>
                </a:prstGeom>
                <a:solidFill>
                  <a:schemeClr val="accent3"/>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5" name="Google Shape;6709;g2d30ebb658d_0_19789">
                  <a:extLst>
                    <a:ext uri="{FF2B5EF4-FFF2-40B4-BE49-F238E27FC236}">
                      <a16:creationId xmlns:a16="http://schemas.microsoft.com/office/drawing/2014/main" id="{5441D1EF-A6EF-3810-019C-8D87817D64C9}"/>
                    </a:ext>
                  </a:extLst>
                </p:cNvPr>
                <p:cNvSpPr>
                  <a:spLocks noChangeAspect="1"/>
                </p:cNvSpPr>
                <p:nvPr/>
              </p:nvSpPr>
              <p:spPr>
                <a:xfrm>
                  <a:off x="10836776" y="2845233"/>
                  <a:ext cx="437712" cy="437711"/>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grpSp>
            <p:nvGrpSpPr>
              <p:cNvPr id="161" name="Google Shape;6710;g2d30ebb658d_0_19789">
                <a:extLst>
                  <a:ext uri="{FF2B5EF4-FFF2-40B4-BE49-F238E27FC236}">
                    <a16:creationId xmlns:a16="http://schemas.microsoft.com/office/drawing/2014/main" id="{7D217346-BBAF-B053-DEBA-4A648D768912}"/>
                  </a:ext>
                </a:extLst>
              </p:cNvPr>
              <p:cNvGrpSpPr/>
              <p:nvPr/>
            </p:nvGrpSpPr>
            <p:grpSpPr>
              <a:xfrm>
                <a:off x="1121905" y="3639122"/>
                <a:ext cx="283155" cy="283154"/>
                <a:chOff x="572541" y="5475121"/>
                <a:chExt cx="663407" cy="663407"/>
              </a:xfrm>
            </p:grpSpPr>
            <p:sp>
              <p:nvSpPr>
                <p:cNvPr id="172" name="Google Shape;6711;g2d30ebb658d_0_19789">
                  <a:extLst>
                    <a:ext uri="{FF2B5EF4-FFF2-40B4-BE49-F238E27FC236}">
                      <a16:creationId xmlns:a16="http://schemas.microsoft.com/office/drawing/2014/main" id="{E1A817EF-6311-D2CE-A8B2-CC2E86F74E3C}"/>
                    </a:ext>
                  </a:extLst>
                </p:cNvPr>
                <p:cNvSpPr>
                  <a:spLocks noChangeAspect="1"/>
                </p:cNvSpPr>
                <p:nvPr/>
              </p:nvSpPr>
              <p:spPr>
                <a:xfrm>
                  <a:off x="572541" y="5475121"/>
                  <a:ext cx="663407" cy="663407"/>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3" name="Google Shape;6712;g2d30ebb658d_0_19789">
                  <a:extLst>
                    <a:ext uri="{FF2B5EF4-FFF2-40B4-BE49-F238E27FC236}">
                      <a16:creationId xmlns:a16="http://schemas.microsoft.com/office/drawing/2014/main" id="{298F88AB-6A46-7A95-CC06-F4F719D6F832}"/>
                    </a:ext>
                  </a:extLst>
                </p:cNvPr>
                <p:cNvSpPr>
                  <a:spLocks noChangeAspect="1"/>
                </p:cNvSpPr>
                <p:nvPr/>
              </p:nvSpPr>
              <p:spPr>
                <a:xfrm>
                  <a:off x="699317" y="5626732"/>
                  <a:ext cx="413205" cy="376663"/>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grpSp>
            <p:nvGrpSpPr>
              <p:cNvPr id="162" name="Google Shape;6713;g2d30ebb658d_0_19789">
                <a:extLst>
                  <a:ext uri="{FF2B5EF4-FFF2-40B4-BE49-F238E27FC236}">
                    <a16:creationId xmlns:a16="http://schemas.microsoft.com/office/drawing/2014/main" id="{DFD8A446-7B90-64CA-4D97-D70C73C0C25E}"/>
                  </a:ext>
                </a:extLst>
              </p:cNvPr>
              <p:cNvGrpSpPr/>
              <p:nvPr/>
            </p:nvGrpSpPr>
            <p:grpSpPr>
              <a:xfrm>
                <a:off x="1690273" y="3639123"/>
                <a:ext cx="283155" cy="283154"/>
                <a:chOff x="9272259" y="5475121"/>
                <a:chExt cx="663407" cy="663407"/>
              </a:xfrm>
            </p:grpSpPr>
            <p:sp>
              <p:nvSpPr>
                <p:cNvPr id="170" name="Google Shape;6714;g2d30ebb658d_0_19789">
                  <a:extLst>
                    <a:ext uri="{FF2B5EF4-FFF2-40B4-BE49-F238E27FC236}">
                      <a16:creationId xmlns:a16="http://schemas.microsoft.com/office/drawing/2014/main" id="{A6CD8A82-7AE9-8BBC-E91D-ED1B53F61FF0}"/>
                    </a:ext>
                  </a:extLst>
                </p:cNvPr>
                <p:cNvSpPr>
                  <a:spLocks noChangeAspect="1"/>
                </p:cNvSpPr>
                <p:nvPr/>
              </p:nvSpPr>
              <p:spPr>
                <a:xfrm>
                  <a:off x="9272259" y="5475121"/>
                  <a:ext cx="663407" cy="663407"/>
                </a:xfrm>
                <a:prstGeom prst="ellipse">
                  <a:avLst/>
                </a:prstGeom>
                <a:gradFill>
                  <a:gsLst>
                    <a:gs pos="0">
                      <a:schemeClr val="accent2"/>
                    </a:gs>
                    <a:gs pos="0">
                      <a:schemeClr val="accent2"/>
                    </a:gs>
                    <a:gs pos="100000">
                      <a:schemeClr val="accent3"/>
                    </a:gs>
                    <a:gs pos="99000">
                      <a:schemeClr val="accent3"/>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1" name="Google Shape;6715;g2d30ebb658d_0_19789">
                  <a:extLst>
                    <a:ext uri="{FF2B5EF4-FFF2-40B4-BE49-F238E27FC236}">
                      <a16:creationId xmlns:a16="http://schemas.microsoft.com/office/drawing/2014/main" id="{6EEB63EF-99FB-FFBE-7561-BD82FF51C187}"/>
                    </a:ext>
                  </a:extLst>
                </p:cNvPr>
                <p:cNvSpPr>
                  <a:spLocks noChangeAspect="1"/>
                </p:cNvSpPr>
                <p:nvPr/>
              </p:nvSpPr>
              <p:spPr>
                <a:xfrm>
                  <a:off x="9436607" y="5599306"/>
                  <a:ext cx="357985" cy="417085"/>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sp>
            <p:nvSpPr>
              <p:cNvPr id="163" name="Google Shape;6704;g2d30ebb658d_0_19789">
                <a:extLst>
                  <a:ext uri="{FF2B5EF4-FFF2-40B4-BE49-F238E27FC236}">
                    <a16:creationId xmlns:a16="http://schemas.microsoft.com/office/drawing/2014/main" id="{58393E39-917E-2B10-FDAD-A3119D28A793}"/>
                  </a:ext>
                </a:extLst>
              </p:cNvPr>
              <p:cNvSpPr/>
              <p:nvPr/>
            </p:nvSpPr>
            <p:spPr>
              <a:xfrm>
                <a:off x="1053137" y="2372472"/>
                <a:ext cx="1597075" cy="198035"/>
              </a:xfrm>
              <a:prstGeom prst="roundRect">
                <a:avLst>
                  <a:gd name="adj" fmla="val 50000"/>
                </a:avLst>
              </a:prstGeom>
              <a:solidFill>
                <a:schemeClr val="bg1"/>
              </a:solidFill>
              <a:ln w="25400">
                <a:gradFill>
                  <a:gsLst>
                    <a:gs pos="0">
                      <a:schemeClr val="accent3"/>
                    </a:gs>
                    <a:gs pos="2000">
                      <a:schemeClr val="accent3"/>
                    </a:gs>
                    <a:gs pos="100000">
                      <a:schemeClr val="accent2"/>
                    </a:gs>
                    <a:gs pos="96000">
                      <a:schemeClr val="accent2"/>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64" name="TextBox 163">
                <a:extLst>
                  <a:ext uri="{FF2B5EF4-FFF2-40B4-BE49-F238E27FC236}">
                    <a16:creationId xmlns:a16="http://schemas.microsoft.com/office/drawing/2014/main" id="{62B12DBD-F1E0-7978-3AAF-8633921E0754}"/>
                  </a:ext>
                </a:extLst>
              </p:cNvPr>
              <p:cNvSpPr txBox="1"/>
              <p:nvPr/>
            </p:nvSpPr>
            <p:spPr>
              <a:xfrm>
                <a:off x="1470269" y="351141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165" name="Google Shape;6705;g2d30ebb658d_0_19789">
                <a:extLst>
                  <a:ext uri="{FF2B5EF4-FFF2-40B4-BE49-F238E27FC236}">
                    <a16:creationId xmlns:a16="http://schemas.microsoft.com/office/drawing/2014/main" id="{E708DBC5-5ED0-E2FA-94F3-A4DB0F2BA034}"/>
                  </a:ext>
                </a:extLst>
              </p:cNvPr>
              <p:cNvSpPr/>
              <p:nvPr/>
            </p:nvSpPr>
            <p:spPr>
              <a:xfrm>
                <a:off x="1284351" y="2625355"/>
                <a:ext cx="1130643" cy="151614"/>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66" name="Google Shape;6678;g2d30ebb658d_0_19789">
                <a:extLst>
                  <a:ext uri="{FF2B5EF4-FFF2-40B4-BE49-F238E27FC236}">
                    <a16:creationId xmlns:a16="http://schemas.microsoft.com/office/drawing/2014/main" id="{D4E4A5E8-98E5-764A-0E95-E885FA50DC4F}"/>
                  </a:ext>
                </a:extLst>
              </p:cNvPr>
              <p:cNvSpPr/>
              <p:nvPr/>
            </p:nvSpPr>
            <p:spPr>
              <a:xfrm>
                <a:off x="1535209" y="3223850"/>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167" name="Google Shape;6678;g2d30ebb658d_0_19789">
                <a:extLst>
                  <a:ext uri="{FF2B5EF4-FFF2-40B4-BE49-F238E27FC236}">
                    <a16:creationId xmlns:a16="http://schemas.microsoft.com/office/drawing/2014/main" id="{BB14BC16-E7A8-A5D2-DF55-2B3D8F6ED8AB}"/>
                  </a:ext>
                </a:extLst>
              </p:cNvPr>
              <p:cNvSpPr/>
              <p:nvPr/>
            </p:nvSpPr>
            <p:spPr>
              <a:xfrm>
                <a:off x="1284351" y="2827166"/>
                <a:ext cx="1130643" cy="151298"/>
              </a:xfrm>
              <a:prstGeom prst="roundRect">
                <a:avLst>
                  <a:gd name="adj" fmla="val 2356"/>
                </a:avLst>
              </a:prstGeom>
              <a:gradFill>
                <a:gsLst>
                  <a:gs pos="0">
                    <a:schemeClr val="accent2"/>
                  </a:gs>
                  <a:gs pos="99000">
                    <a:schemeClr val="accent3"/>
                  </a:gs>
                  <a:gs pos="100000">
                    <a:schemeClr val="accent3"/>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68" name="Google Shape;6705;g2d30ebb658d_0_19789">
                <a:extLst>
                  <a:ext uri="{FF2B5EF4-FFF2-40B4-BE49-F238E27FC236}">
                    <a16:creationId xmlns:a16="http://schemas.microsoft.com/office/drawing/2014/main" id="{093A4E0A-775D-AFA7-15A1-B6E023A84158}"/>
                  </a:ext>
                </a:extLst>
              </p:cNvPr>
              <p:cNvSpPr/>
              <p:nvPr/>
            </p:nvSpPr>
            <p:spPr>
              <a:xfrm>
                <a:off x="1284351" y="3023264"/>
                <a:ext cx="1130643" cy="151614"/>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69" name="Google Shape;6678;g2d30ebb658d_0_19789">
                <a:extLst>
                  <a:ext uri="{FF2B5EF4-FFF2-40B4-BE49-F238E27FC236}">
                    <a16:creationId xmlns:a16="http://schemas.microsoft.com/office/drawing/2014/main" id="{5E02FE48-D751-499A-31A5-6E308D67AB86}"/>
                  </a:ext>
                </a:extLst>
              </p:cNvPr>
              <p:cNvSpPr/>
              <p:nvPr/>
            </p:nvSpPr>
            <p:spPr>
              <a:xfrm>
                <a:off x="1472925" y="3268932"/>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grpSp>
      </p:grpSp>
      <p:grpSp>
        <p:nvGrpSpPr>
          <p:cNvPr id="431" name="Group 430">
            <a:extLst>
              <a:ext uri="{FF2B5EF4-FFF2-40B4-BE49-F238E27FC236}">
                <a16:creationId xmlns:a16="http://schemas.microsoft.com/office/drawing/2014/main" id="{36ED6A01-A97B-F84C-1B9D-A46CE6C2F79D}"/>
              </a:ext>
            </a:extLst>
          </p:cNvPr>
          <p:cNvGrpSpPr/>
          <p:nvPr/>
        </p:nvGrpSpPr>
        <p:grpSpPr>
          <a:xfrm>
            <a:off x="4140735" y="2059999"/>
            <a:ext cx="1909145" cy="4021576"/>
            <a:chOff x="3879476" y="2059999"/>
            <a:chExt cx="1909145" cy="4021576"/>
          </a:xfrm>
        </p:grpSpPr>
        <p:sp>
          <p:nvSpPr>
            <p:cNvPr id="204" name="Google Shape;6678;g2d30ebb658d_0_19789">
              <a:extLst>
                <a:ext uri="{FF2B5EF4-FFF2-40B4-BE49-F238E27FC236}">
                  <a16:creationId xmlns:a16="http://schemas.microsoft.com/office/drawing/2014/main" id="{D1F827AA-8DFF-DCC1-B589-BC9FA26C784A}"/>
                </a:ext>
              </a:extLst>
            </p:cNvPr>
            <p:cNvSpPr/>
            <p:nvPr/>
          </p:nvSpPr>
          <p:spPr>
            <a:xfrm>
              <a:off x="3879476" y="2059999"/>
              <a:ext cx="1909145" cy="4021576"/>
            </a:xfrm>
            <a:prstGeom prst="roundRect">
              <a:avLst>
                <a:gd name="adj" fmla="val 2356"/>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1" name="Google Shape;6678;g2d30ebb658d_0_19789">
              <a:extLst>
                <a:ext uri="{FF2B5EF4-FFF2-40B4-BE49-F238E27FC236}">
                  <a16:creationId xmlns:a16="http://schemas.microsoft.com/office/drawing/2014/main" id="{A9021E09-620A-CA2F-A189-A69F84C3A37D}"/>
                </a:ext>
              </a:extLst>
            </p:cNvPr>
            <p:cNvSpPr/>
            <p:nvPr/>
          </p:nvSpPr>
          <p:spPr>
            <a:xfrm>
              <a:off x="3969834" y="5737352"/>
              <a:ext cx="1717288" cy="308820"/>
            </a:xfrm>
            <a:prstGeom prst="roundRect">
              <a:avLst>
                <a:gd name="adj" fmla="val 12637"/>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2" name="TextBox 201">
              <a:extLst>
                <a:ext uri="{FF2B5EF4-FFF2-40B4-BE49-F238E27FC236}">
                  <a16:creationId xmlns:a16="http://schemas.microsoft.com/office/drawing/2014/main" id="{AF870255-BC54-908F-B112-CCCE268A8214}"/>
                </a:ext>
              </a:extLst>
            </p:cNvPr>
            <p:cNvSpPr txBox="1"/>
            <p:nvPr/>
          </p:nvSpPr>
          <p:spPr>
            <a:xfrm>
              <a:off x="4248627" y="5825448"/>
              <a:ext cx="135133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a:ea typeface="+mn-ea"/>
                  <a:cs typeface="+mn-cs"/>
                </a:rPr>
                <a:t>Additional Workload Domains</a:t>
              </a:r>
            </a:p>
          </p:txBody>
        </p:sp>
        <p:pic>
          <p:nvPicPr>
            <p:cNvPr id="203" name="Google Shape;6699;p92">
              <a:extLst>
                <a:ext uri="{FF2B5EF4-FFF2-40B4-BE49-F238E27FC236}">
                  <a16:creationId xmlns:a16="http://schemas.microsoft.com/office/drawing/2014/main" id="{C969A1E0-28D9-08A8-03EC-06D51D82BCC4}"/>
                </a:ext>
              </a:extLst>
            </p:cNvPr>
            <p:cNvPicPr preferRelativeResize="0">
              <a:picLocks noChangeAspect="1"/>
            </p:cNvPicPr>
            <p:nvPr/>
          </p:nvPicPr>
          <p:blipFill rotWithShape="1">
            <a:blip r:embed="rId3">
              <a:alphaModFix/>
            </a:blip>
            <a:srcRect/>
            <a:stretch/>
          </p:blipFill>
          <p:spPr>
            <a:xfrm>
              <a:off x="4015687" y="5766548"/>
              <a:ext cx="220483" cy="220483"/>
            </a:xfrm>
            <a:prstGeom prst="rect">
              <a:avLst/>
            </a:prstGeom>
            <a:noFill/>
            <a:ln>
              <a:noFill/>
            </a:ln>
          </p:spPr>
        </p:pic>
        <p:sp>
          <p:nvSpPr>
            <p:cNvPr id="205" name="Google Shape;6678;g2d30ebb658d_0_19789">
              <a:extLst>
                <a:ext uri="{FF2B5EF4-FFF2-40B4-BE49-F238E27FC236}">
                  <a16:creationId xmlns:a16="http://schemas.microsoft.com/office/drawing/2014/main" id="{FFA28A47-FAF1-38BF-1360-9E5A8CD63685}"/>
                </a:ext>
              </a:extLst>
            </p:cNvPr>
            <p:cNvSpPr/>
            <p:nvPr/>
          </p:nvSpPr>
          <p:spPr>
            <a:xfrm>
              <a:off x="3942438" y="4173972"/>
              <a:ext cx="1769718" cy="1537778"/>
            </a:xfrm>
            <a:prstGeom prst="roundRect">
              <a:avLst>
                <a:gd name="adj" fmla="val 2356"/>
              </a:avLst>
            </a:prstGeom>
            <a:solidFill>
              <a:srgbClr val="E8E8EA"/>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6" name="Google Shape;6705;g2d30ebb658d_0_19789">
              <a:extLst>
                <a:ext uri="{FF2B5EF4-FFF2-40B4-BE49-F238E27FC236}">
                  <a16:creationId xmlns:a16="http://schemas.microsoft.com/office/drawing/2014/main" id="{F24B0031-9949-9FFB-F9A6-01FB55FE25AB}"/>
                </a:ext>
              </a:extLst>
            </p:cNvPr>
            <p:cNvSpPr/>
            <p:nvPr/>
          </p:nvSpPr>
          <p:spPr>
            <a:xfrm>
              <a:off x="3992941" y="5157400"/>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7" name="Google Shape;6708;g2d30ebb658d_0_19789">
              <a:extLst>
                <a:ext uri="{FF2B5EF4-FFF2-40B4-BE49-F238E27FC236}">
                  <a16:creationId xmlns:a16="http://schemas.microsoft.com/office/drawing/2014/main" id="{493C2467-9EF2-800F-E315-98617A83A4B4}"/>
                </a:ext>
              </a:extLst>
            </p:cNvPr>
            <p:cNvSpPr>
              <a:spLocks noChangeAspect="1"/>
            </p:cNvSpPr>
            <p:nvPr/>
          </p:nvSpPr>
          <p:spPr>
            <a:xfrm>
              <a:off x="5241740" y="5308919"/>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8" name="Google Shape;6709;g2d30ebb658d_0_19789">
              <a:extLst>
                <a:ext uri="{FF2B5EF4-FFF2-40B4-BE49-F238E27FC236}">
                  <a16:creationId xmlns:a16="http://schemas.microsoft.com/office/drawing/2014/main" id="{7007F44B-5D49-2AD7-7649-CB40C2DF2AAD}"/>
                </a:ext>
              </a:extLst>
            </p:cNvPr>
            <p:cNvSpPr>
              <a:spLocks noChangeAspect="1"/>
            </p:cNvSpPr>
            <p:nvPr/>
          </p:nvSpPr>
          <p:spPr>
            <a:xfrm>
              <a:off x="5290638" y="5358291"/>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09" name="Google Shape;6711;g2d30ebb658d_0_19789">
              <a:extLst>
                <a:ext uri="{FF2B5EF4-FFF2-40B4-BE49-F238E27FC236}">
                  <a16:creationId xmlns:a16="http://schemas.microsoft.com/office/drawing/2014/main" id="{10EF06FF-9101-42EB-0E6C-366F93281133}"/>
                </a:ext>
              </a:extLst>
            </p:cNvPr>
            <p:cNvSpPr>
              <a:spLocks noChangeAspect="1"/>
            </p:cNvSpPr>
            <p:nvPr/>
          </p:nvSpPr>
          <p:spPr>
            <a:xfrm>
              <a:off x="4096820" y="5308800"/>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0" name="Google Shape;6712;g2d30ebb658d_0_19789">
              <a:extLst>
                <a:ext uri="{FF2B5EF4-FFF2-40B4-BE49-F238E27FC236}">
                  <a16:creationId xmlns:a16="http://schemas.microsoft.com/office/drawing/2014/main" id="{3B1EECE4-CCE3-E71F-3BA1-D429F2D8AECD}"/>
                </a:ext>
              </a:extLst>
            </p:cNvPr>
            <p:cNvSpPr>
              <a:spLocks noChangeAspect="1"/>
            </p:cNvSpPr>
            <p:nvPr/>
          </p:nvSpPr>
          <p:spPr>
            <a:xfrm>
              <a:off x="4150930" y="5373510"/>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1" name="Google Shape;6714;g2d30ebb658d_0_19789">
              <a:extLst>
                <a:ext uri="{FF2B5EF4-FFF2-40B4-BE49-F238E27FC236}">
                  <a16:creationId xmlns:a16="http://schemas.microsoft.com/office/drawing/2014/main" id="{1DBBA787-B5A8-682F-3423-2374D3C4A3FF}"/>
                </a:ext>
              </a:extLst>
            </p:cNvPr>
            <p:cNvSpPr>
              <a:spLocks noChangeAspect="1"/>
            </p:cNvSpPr>
            <p:nvPr/>
          </p:nvSpPr>
          <p:spPr>
            <a:xfrm>
              <a:off x="4665188" y="5308801"/>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2" name="Google Shape;6715;g2d30ebb658d_0_19789">
              <a:extLst>
                <a:ext uri="{FF2B5EF4-FFF2-40B4-BE49-F238E27FC236}">
                  <a16:creationId xmlns:a16="http://schemas.microsoft.com/office/drawing/2014/main" id="{4D3A9852-6F4C-B1A7-EC4B-7857F451F333}"/>
                </a:ext>
              </a:extLst>
            </p:cNvPr>
            <p:cNvSpPr>
              <a:spLocks noChangeAspect="1"/>
            </p:cNvSpPr>
            <p:nvPr/>
          </p:nvSpPr>
          <p:spPr>
            <a:xfrm>
              <a:off x="4735335" y="5361805"/>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3" name="Google Shape;6704;g2d30ebb658d_0_19789">
              <a:extLst>
                <a:ext uri="{FF2B5EF4-FFF2-40B4-BE49-F238E27FC236}">
                  <a16:creationId xmlns:a16="http://schemas.microsoft.com/office/drawing/2014/main" id="{7D49165E-9BA4-C147-81D9-280E6A58EC83}"/>
                </a:ext>
              </a:extLst>
            </p:cNvPr>
            <p:cNvSpPr/>
            <p:nvPr/>
          </p:nvSpPr>
          <p:spPr>
            <a:xfrm>
              <a:off x="4028052" y="4232647"/>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14" name="TextBox 213">
              <a:extLst>
                <a:ext uri="{FF2B5EF4-FFF2-40B4-BE49-F238E27FC236}">
                  <a16:creationId xmlns:a16="http://schemas.microsoft.com/office/drawing/2014/main" id="{71AE752E-87D0-8744-8803-393F5FCF61C5}"/>
                </a:ext>
              </a:extLst>
            </p:cNvPr>
            <p:cNvSpPr txBox="1"/>
            <p:nvPr/>
          </p:nvSpPr>
          <p:spPr>
            <a:xfrm>
              <a:off x="4445184" y="5181090"/>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215" name="Google Shape;6678;g2d30ebb658d_0_19789">
              <a:extLst>
                <a:ext uri="{FF2B5EF4-FFF2-40B4-BE49-F238E27FC236}">
                  <a16:creationId xmlns:a16="http://schemas.microsoft.com/office/drawing/2014/main" id="{D1251840-59C0-CAA7-C038-75E60EF599D8}"/>
                </a:ext>
              </a:extLst>
            </p:cNvPr>
            <p:cNvSpPr/>
            <p:nvPr/>
          </p:nvSpPr>
          <p:spPr>
            <a:xfrm>
              <a:off x="4255553" y="4709931"/>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6" name="Google Shape;6678;g2d30ebb658d_0_19789">
              <a:extLst>
                <a:ext uri="{FF2B5EF4-FFF2-40B4-BE49-F238E27FC236}">
                  <a16:creationId xmlns:a16="http://schemas.microsoft.com/office/drawing/2014/main" id="{7873A88E-E923-B74E-96C0-7AF467C2D4FD}"/>
                </a:ext>
              </a:extLst>
            </p:cNvPr>
            <p:cNvSpPr/>
            <p:nvPr/>
          </p:nvSpPr>
          <p:spPr>
            <a:xfrm>
              <a:off x="4259266" y="4519289"/>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vCenter</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7" name="Google Shape;6678;g2d30ebb658d_0_19789">
              <a:extLst>
                <a:ext uri="{FF2B5EF4-FFF2-40B4-BE49-F238E27FC236}">
                  <a16:creationId xmlns:a16="http://schemas.microsoft.com/office/drawing/2014/main" id="{8440CBF8-E4C1-2B4F-AA93-93E8B5494007}"/>
                </a:ext>
              </a:extLst>
            </p:cNvPr>
            <p:cNvSpPr/>
            <p:nvPr/>
          </p:nvSpPr>
          <p:spPr>
            <a:xfrm>
              <a:off x="4498743" y="4905894"/>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218" name="Google Shape;6678;g2d30ebb658d_0_19789">
              <a:extLst>
                <a:ext uri="{FF2B5EF4-FFF2-40B4-BE49-F238E27FC236}">
                  <a16:creationId xmlns:a16="http://schemas.microsoft.com/office/drawing/2014/main" id="{D5B0B01F-91EB-4BB2-9505-2EDDEFB7A934}"/>
                </a:ext>
              </a:extLst>
            </p:cNvPr>
            <p:cNvSpPr/>
            <p:nvPr/>
          </p:nvSpPr>
          <p:spPr>
            <a:xfrm>
              <a:off x="4436459" y="4950976"/>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220" name="Google Shape;6678;g2d30ebb658d_0_19789">
              <a:extLst>
                <a:ext uri="{FF2B5EF4-FFF2-40B4-BE49-F238E27FC236}">
                  <a16:creationId xmlns:a16="http://schemas.microsoft.com/office/drawing/2014/main" id="{32FA3DA4-0234-539D-848C-85138950FF88}"/>
                </a:ext>
              </a:extLst>
            </p:cNvPr>
            <p:cNvSpPr/>
            <p:nvPr/>
          </p:nvSpPr>
          <p:spPr>
            <a:xfrm>
              <a:off x="3947196" y="233683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1" name="Google Shape;6705;g2d30ebb658d_0_19789">
              <a:extLst>
                <a:ext uri="{FF2B5EF4-FFF2-40B4-BE49-F238E27FC236}">
                  <a16:creationId xmlns:a16="http://schemas.microsoft.com/office/drawing/2014/main" id="{00097E9D-0782-ADE5-C8CA-9ABED60A9D1A}"/>
                </a:ext>
              </a:extLst>
            </p:cNvPr>
            <p:cNvSpPr/>
            <p:nvPr/>
          </p:nvSpPr>
          <p:spPr>
            <a:xfrm>
              <a:off x="3997699" y="3512812"/>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2" name="Google Shape;6708;g2d30ebb658d_0_19789">
              <a:extLst>
                <a:ext uri="{FF2B5EF4-FFF2-40B4-BE49-F238E27FC236}">
                  <a16:creationId xmlns:a16="http://schemas.microsoft.com/office/drawing/2014/main" id="{4194533A-7135-4A56-36BA-90834344A28F}"/>
                </a:ext>
              </a:extLst>
            </p:cNvPr>
            <p:cNvSpPr>
              <a:spLocks noChangeAspect="1"/>
            </p:cNvSpPr>
            <p:nvPr/>
          </p:nvSpPr>
          <p:spPr>
            <a:xfrm>
              <a:off x="5246498" y="3664331"/>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3" name="Google Shape;6709;g2d30ebb658d_0_19789">
              <a:extLst>
                <a:ext uri="{FF2B5EF4-FFF2-40B4-BE49-F238E27FC236}">
                  <a16:creationId xmlns:a16="http://schemas.microsoft.com/office/drawing/2014/main" id="{657EC76E-9A7A-997D-DDF3-75345D64830A}"/>
                </a:ext>
              </a:extLst>
            </p:cNvPr>
            <p:cNvSpPr>
              <a:spLocks noChangeAspect="1"/>
            </p:cNvSpPr>
            <p:nvPr/>
          </p:nvSpPr>
          <p:spPr>
            <a:xfrm>
              <a:off x="5295396" y="3713703"/>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24" name="Google Shape;6711;g2d30ebb658d_0_19789">
              <a:extLst>
                <a:ext uri="{FF2B5EF4-FFF2-40B4-BE49-F238E27FC236}">
                  <a16:creationId xmlns:a16="http://schemas.microsoft.com/office/drawing/2014/main" id="{976D1268-04AC-CAFC-80BC-A8026B856842}"/>
                </a:ext>
              </a:extLst>
            </p:cNvPr>
            <p:cNvSpPr>
              <a:spLocks noChangeAspect="1"/>
            </p:cNvSpPr>
            <p:nvPr/>
          </p:nvSpPr>
          <p:spPr>
            <a:xfrm>
              <a:off x="4101578" y="3664212"/>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5" name="Google Shape;6712;g2d30ebb658d_0_19789">
              <a:extLst>
                <a:ext uri="{FF2B5EF4-FFF2-40B4-BE49-F238E27FC236}">
                  <a16:creationId xmlns:a16="http://schemas.microsoft.com/office/drawing/2014/main" id="{352076C5-9063-0105-C1F6-46A0E9521B6A}"/>
                </a:ext>
              </a:extLst>
            </p:cNvPr>
            <p:cNvSpPr>
              <a:spLocks noChangeAspect="1"/>
            </p:cNvSpPr>
            <p:nvPr/>
          </p:nvSpPr>
          <p:spPr>
            <a:xfrm>
              <a:off x="4155688" y="3728922"/>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26" name="Google Shape;6714;g2d30ebb658d_0_19789">
              <a:extLst>
                <a:ext uri="{FF2B5EF4-FFF2-40B4-BE49-F238E27FC236}">
                  <a16:creationId xmlns:a16="http://schemas.microsoft.com/office/drawing/2014/main" id="{21C6ABF0-8EB3-B6B2-D8E6-AC20481469E3}"/>
                </a:ext>
              </a:extLst>
            </p:cNvPr>
            <p:cNvSpPr>
              <a:spLocks noChangeAspect="1"/>
            </p:cNvSpPr>
            <p:nvPr/>
          </p:nvSpPr>
          <p:spPr>
            <a:xfrm>
              <a:off x="4669946" y="3664213"/>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7" name="Google Shape;6715;g2d30ebb658d_0_19789">
              <a:extLst>
                <a:ext uri="{FF2B5EF4-FFF2-40B4-BE49-F238E27FC236}">
                  <a16:creationId xmlns:a16="http://schemas.microsoft.com/office/drawing/2014/main" id="{6FDFF21A-6D86-6983-AD3D-55674AEF10E6}"/>
                </a:ext>
              </a:extLst>
            </p:cNvPr>
            <p:cNvSpPr>
              <a:spLocks noChangeAspect="1"/>
            </p:cNvSpPr>
            <p:nvPr/>
          </p:nvSpPr>
          <p:spPr>
            <a:xfrm>
              <a:off x="4740093" y="3717217"/>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28" name="Google Shape;6704;g2d30ebb658d_0_19789">
              <a:extLst>
                <a:ext uri="{FF2B5EF4-FFF2-40B4-BE49-F238E27FC236}">
                  <a16:creationId xmlns:a16="http://schemas.microsoft.com/office/drawing/2014/main" id="{4E700CB1-69C1-45AA-FC38-75AC1E79FBDA}"/>
                </a:ext>
              </a:extLst>
            </p:cNvPr>
            <p:cNvSpPr/>
            <p:nvPr/>
          </p:nvSpPr>
          <p:spPr>
            <a:xfrm>
              <a:off x="4032810" y="2397562"/>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29" name="TextBox 228">
              <a:extLst>
                <a:ext uri="{FF2B5EF4-FFF2-40B4-BE49-F238E27FC236}">
                  <a16:creationId xmlns:a16="http://schemas.microsoft.com/office/drawing/2014/main" id="{3780236E-B6D9-018E-A7AE-F2C946588C61}"/>
                </a:ext>
              </a:extLst>
            </p:cNvPr>
            <p:cNvSpPr txBox="1"/>
            <p:nvPr/>
          </p:nvSpPr>
          <p:spPr>
            <a:xfrm>
              <a:off x="4449942" y="353650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230" name="Google Shape;6705;g2d30ebb658d_0_19789">
              <a:extLst>
                <a:ext uri="{FF2B5EF4-FFF2-40B4-BE49-F238E27FC236}">
                  <a16:creationId xmlns:a16="http://schemas.microsoft.com/office/drawing/2014/main" id="{133AAB0D-83AD-1F8B-8EAB-C3C30DD937A1}"/>
                </a:ext>
              </a:extLst>
            </p:cNvPr>
            <p:cNvSpPr/>
            <p:nvPr/>
          </p:nvSpPr>
          <p:spPr>
            <a:xfrm>
              <a:off x="4264024" y="2650445"/>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31" name="Google Shape;6678;g2d30ebb658d_0_19789">
              <a:extLst>
                <a:ext uri="{FF2B5EF4-FFF2-40B4-BE49-F238E27FC236}">
                  <a16:creationId xmlns:a16="http://schemas.microsoft.com/office/drawing/2014/main" id="{1EB97FD1-92AA-A8A2-A542-801B349FDDB5}"/>
                </a:ext>
              </a:extLst>
            </p:cNvPr>
            <p:cNvSpPr/>
            <p:nvPr/>
          </p:nvSpPr>
          <p:spPr>
            <a:xfrm>
              <a:off x="4514882" y="3248940"/>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232" name="Google Shape;6678;g2d30ebb658d_0_19789">
              <a:extLst>
                <a:ext uri="{FF2B5EF4-FFF2-40B4-BE49-F238E27FC236}">
                  <a16:creationId xmlns:a16="http://schemas.microsoft.com/office/drawing/2014/main" id="{2A606535-F63B-03AF-3E9F-C0B889B938DC}"/>
                </a:ext>
              </a:extLst>
            </p:cNvPr>
            <p:cNvSpPr/>
            <p:nvPr/>
          </p:nvSpPr>
          <p:spPr>
            <a:xfrm>
              <a:off x="4264024" y="2852256"/>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33" name="TextBox 232">
              <a:extLst>
                <a:ext uri="{FF2B5EF4-FFF2-40B4-BE49-F238E27FC236}">
                  <a16:creationId xmlns:a16="http://schemas.microsoft.com/office/drawing/2014/main" id="{2888B865-9AC3-DA5F-D9F6-DE5E3E6DB82C}"/>
                </a:ext>
              </a:extLst>
            </p:cNvPr>
            <p:cNvSpPr txBox="1"/>
            <p:nvPr/>
          </p:nvSpPr>
          <p:spPr>
            <a:xfrm>
              <a:off x="4557413" y="2136123"/>
              <a:ext cx="772647"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Instance</a:t>
              </a:r>
            </a:p>
          </p:txBody>
        </p:sp>
        <p:sp>
          <p:nvSpPr>
            <p:cNvPr id="234" name="Google Shape;6705;g2d30ebb658d_0_19789">
              <a:extLst>
                <a:ext uri="{FF2B5EF4-FFF2-40B4-BE49-F238E27FC236}">
                  <a16:creationId xmlns:a16="http://schemas.microsoft.com/office/drawing/2014/main" id="{C7B029A4-F745-1A10-C628-90C0BC7FF250}"/>
                </a:ext>
              </a:extLst>
            </p:cNvPr>
            <p:cNvSpPr/>
            <p:nvPr/>
          </p:nvSpPr>
          <p:spPr>
            <a:xfrm>
              <a:off x="4264024" y="3048354"/>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35" name="Google Shape;6678;g2d30ebb658d_0_19789">
              <a:extLst>
                <a:ext uri="{FF2B5EF4-FFF2-40B4-BE49-F238E27FC236}">
                  <a16:creationId xmlns:a16="http://schemas.microsoft.com/office/drawing/2014/main" id="{52C43E92-662A-07F2-DF1D-C7000DA4EB5E}"/>
                </a:ext>
              </a:extLst>
            </p:cNvPr>
            <p:cNvSpPr/>
            <p:nvPr/>
          </p:nvSpPr>
          <p:spPr>
            <a:xfrm>
              <a:off x="4452598" y="3294022"/>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pic>
          <p:nvPicPr>
            <p:cNvPr id="236" name="Google Shape;6699;p92">
              <a:extLst>
                <a:ext uri="{FF2B5EF4-FFF2-40B4-BE49-F238E27FC236}">
                  <a16:creationId xmlns:a16="http://schemas.microsoft.com/office/drawing/2014/main" id="{7A23808A-CAB3-409B-8140-FB655610C499}"/>
                </a:ext>
              </a:extLst>
            </p:cNvPr>
            <p:cNvPicPr preferRelativeResize="0">
              <a:picLocks noChangeAspect="1"/>
            </p:cNvPicPr>
            <p:nvPr/>
          </p:nvPicPr>
          <p:blipFill rotWithShape="1">
            <a:blip r:embed="rId3">
              <a:alphaModFix/>
            </a:blip>
            <a:srcRect/>
            <a:stretch/>
          </p:blipFill>
          <p:spPr>
            <a:xfrm>
              <a:off x="4279869" y="2093777"/>
              <a:ext cx="220483" cy="220483"/>
            </a:xfrm>
            <a:prstGeom prst="rect">
              <a:avLst/>
            </a:prstGeom>
            <a:noFill/>
            <a:ln>
              <a:noFill/>
            </a:ln>
          </p:spPr>
        </p:pic>
      </p:grpSp>
      <p:sp>
        <p:nvSpPr>
          <p:cNvPr id="240" name="Google Shape;6705;g2d30ebb658d_0_19789">
            <a:extLst>
              <a:ext uri="{FF2B5EF4-FFF2-40B4-BE49-F238E27FC236}">
                <a16:creationId xmlns:a16="http://schemas.microsoft.com/office/drawing/2014/main" id="{244F0F72-13E5-CD8D-55EA-69F4C2F20C4D}"/>
              </a:ext>
            </a:extLst>
          </p:cNvPr>
          <p:cNvSpPr/>
          <p:nvPr/>
        </p:nvSpPr>
        <p:spPr>
          <a:xfrm>
            <a:off x="8278580" y="2246332"/>
            <a:ext cx="1909145" cy="146814"/>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VCF Operations</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41" name="Google Shape;6705;g2d30ebb658d_0_19789">
            <a:extLst>
              <a:ext uri="{FF2B5EF4-FFF2-40B4-BE49-F238E27FC236}">
                <a16:creationId xmlns:a16="http://schemas.microsoft.com/office/drawing/2014/main" id="{1E783B25-92FF-EC8F-694B-5676F9929C07}"/>
              </a:ext>
            </a:extLst>
          </p:cNvPr>
          <p:cNvSpPr/>
          <p:nvPr/>
        </p:nvSpPr>
        <p:spPr>
          <a:xfrm>
            <a:off x="8282044" y="2051564"/>
            <a:ext cx="1906928" cy="139628"/>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VCF Automation</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grpSp>
        <p:nvGrpSpPr>
          <p:cNvPr id="507" name="Group 506">
            <a:extLst>
              <a:ext uri="{FF2B5EF4-FFF2-40B4-BE49-F238E27FC236}">
                <a16:creationId xmlns:a16="http://schemas.microsoft.com/office/drawing/2014/main" id="{5579CAF8-63E7-D2EF-BBBF-9751C1196870}"/>
              </a:ext>
            </a:extLst>
          </p:cNvPr>
          <p:cNvGrpSpPr/>
          <p:nvPr/>
        </p:nvGrpSpPr>
        <p:grpSpPr>
          <a:xfrm>
            <a:off x="7018522" y="1662223"/>
            <a:ext cx="4504880" cy="4962428"/>
            <a:chOff x="7018522" y="1662223"/>
            <a:chExt cx="4504880" cy="4962428"/>
          </a:xfrm>
        </p:grpSpPr>
        <p:sp>
          <p:nvSpPr>
            <p:cNvPr id="239" name="Google Shape;6678;g2d30ebb658d_0_19789">
              <a:extLst>
                <a:ext uri="{FF2B5EF4-FFF2-40B4-BE49-F238E27FC236}">
                  <a16:creationId xmlns:a16="http://schemas.microsoft.com/office/drawing/2014/main" id="{4196D7E3-1A7E-38E7-736B-A88395E0DC23}"/>
                </a:ext>
              </a:extLst>
            </p:cNvPr>
            <p:cNvSpPr/>
            <p:nvPr/>
          </p:nvSpPr>
          <p:spPr>
            <a:xfrm>
              <a:off x="7018522" y="1788674"/>
              <a:ext cx="4504880" cy="4835977"/>
            </a:xfrm>
            <a:prstGeom prst="roundRect">
              <a:avLst>
                <a:gd name="adj" fmla="val 2356"/>
              </a:avLst>
            </a:prstGeom>
            <a:solidFill>
              <a:schemeClr val="accent3">
                <a:alpha val="10000"/>
              </a:schemeClr>
            </a:solidFill>
            <a:ln w="9525">
              <a:solidFill>
                <a:schemeClr val="accent3"/>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42" name="TextBox 241">
              <a:extLst>
                <a:ext uri="{FF2B5EF4-FFF2-40B4-BE49-F238E27FC236}">
                  <a16:creationId xmlns:a16="http://schemas.microsoft.com/office/drawing/2014/main" id="{2D48509B-B529-B539-09CF-1D447F588128}"/>
                </a:ext>
              </a:extLst>
            </p:cNvPr>
            <p:cNvSpPr txBox="1"/>
            <p:nvPr/>
          </p:nvSpPr>
          <p:spPr>
            <a:xfrm>
              <a:off x="8964234" y="1829423"/>
              <a:ext cx="575479"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Fleet</a:t>
              </a:r>
            </a:p>
          </p:txBody>
        </p:sp>
        <p:sp>
          <p:nvSpPr>
            <p:cNvPr id="315" name="Rounded Rectangle 314">
              <a:extLst>
                <a:ext uri="{FF2B5EF4-FFF2-40B4-BE49-F238E27FC236}">
                  <a16:creationId xmlns:a16="http://schemas.microsoft.com/office/drawing/2014/main" id="{22B6E8D3-7D73-855D-8529-15AE637F0B7F}"/>
                </a:ext>
              </a:extLst>
            </p:cNvPr>
            <p:cNvSpPr/>
            <p:nvPr/>
          </p:nvSpPr>
          <p:spPr bwMode="gray">
            <a:xfrm>
              <a:off x="8683188" y="1662223"/>
              <a:ext cx="1135062" cy="151298"/>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Region A</a:t>
              </a:r>
            </a:p>
          </p:txBody>
        </p:sp>
        <p:grpSp>
          <p:nvGrpSpPr>
            <p:cNvPr id="432" name="Group 431">
              <a:extLst>
                <a:ext uri="{FF2B5EF4-FFF2-40B4-BE49-F238E27FC236}">
                  <a16:creationId xmlns:a16="http://schemas.microsoft.com/office/drawing/2014/main" id="{8B199275-2D9D-B51B-3E77-498A9CECEE3C}"/>
                </a:ext>
              </a:extLst>
            </p:cNvPr>
            <p:cNvGrpSpPr/>
            <p:nvPr/>
          </p:nvGrpSpPr>
          <p:grpSpPr>
            <a:xfrm>
              <a:off x="7304012" y="2496579"/>
              <a:ext cx="1909145" cy="4021576"/>
              <a:chOff x="3879476" y="2059999"/>
              <a:chExt cx="1909145" cy="4021576"/>
            </a:xfrm>
          </p:grpSpPr>
          <p:sp>
            <p:nvSpPr>
              <p:cNvPr id="433" name="Google Shape;6678;g2d30ebb658d_0_19789">
                <a:extLst>
                  <a:ext uri="{FF2B5EF4-FFF2-40B4-BE49-F238E27FC236}">
                    <a16:creationId xmlns:a16="http://schemas.microsoft.com/office/drawing/2014/main" id="{3642F1D6-86E5-0AA0-0F20-3BCA2A5DC9A0}"/>
                  </a:ext>
                </a:extLst>
              </p:cNvPr>
              <p:cNvSpPr/>
              <p:nvPr/>
            </p:nvSpPr>
            <p:spPr>
              <a:xfrm>
                <a:off x="3879476" y="2059999"/>
                <a:ext cx="1909145" cy="4021576"/>
              </a:xfrm>
              <a:prstGeom prst="roundRect">
                <a:avLst>
                  <a:gd name="adj" fmla="val 2356"/>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34" name="Google Shape;6678;g2d30ebb658d_0_19789">
                <a:extLst>
                  <a:ext uri="{FF2B5EF4-FFF2-40B4-BE49-F238E27FC236}">
                    <a16:creationId xmlns:a16="http://schemas.microsoft.com/office/drawing/2014/main" id="{85494043-FC4C-90EA-FB5A-34752D95333B}"/>
                  </a:ext>
                </a:extLst>
              </p:cNvPr>
              <p:cNvSpPr/>
              <p:nvPr/>
            </p:nvSpPr>
            <p:spPr>
              <a:xfrm>
                <a:off x="3969834" y="5737352"/>
                <a:ext cx="1717288" cy="308820"/>
              </a:xfrm>
              <a:prstGeom prst="roundRect">
                <a:avLst>
                  <a:gd name="adj" fmla="val 12637"/>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35" name="TextBox 434">
                <a:extLst>
                  <a:ext uri="{FF2B5EF4-FFF2-40B4-BE49-F238E27FC236}">
                    <a16:creationId xmlns:a16="http://schemas.microsoft.com/office/drawing/2014/main" id="{47BD2557-05AD-6973-E29D-E49D5809DF62}"/>
                  </a:ext>
                </a:extLst>
              </p:cNvPr>
              <p:cNvSpPr txBox="1"/>
              <p:nvPr/>
            </p:nvSpPr>
            <p:spPr>
              <a:xfrm>
                <a:off x="4248627" y="5825448"/>
                <a:ext cx="135133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a:ea typeface="+mn-ea"/>
                    <a:cs typeface="+mn-cs"/>
                  </a:rPr>
                  <a:t>Additional Workload Domains</a:t>
                </a:r>
              </a:p>
            </p:txBody>
          </p:sp>
          <p:pic>
            <p:nvPicPr>
              <p:cNvPr id="436" name="Google Shape;6699;p92">
                <a:extLst>
                  <a:ext uri="{FF2B5EF4-FFF2-40B4-BE49-F238E27FC236}">
                    <a16:creationId xmlns:a16="http://schemas.microsoft.com/office/drawing/2014/main" id="{DEA69B8C-29B9-3289-FBC2-79ED52A6F3AA}"/>
                  </a:ext>
                </a:extLst>
              </p:cNvPr>
              <p:cNvPicPr preferRelativeResize="0">
                <a:picLocks noChangeAspect="1"/>
              </p:cNvPicPr>
              <p:nvPr/>
            </p:nvPicPr>
            <p:blipFill rotWithShape="1">
              <a:blip r:embed="rId3">
                <a:alphaModFix/>
              </a:blip>
              <a:srcRect/>
              <a:stretch/>
            </p:blipFill>
            <p:spPr>
              <a:xfrm>
                <a:off x="4015687" y="5766548"/>
                <a:ext cx="220483" cy="220483"/>
              </a:xfrm>
              <a:prstGeom prst="rect">
                <a:avLst/>
              </a:prstGeom>
              <a:noFill/>
              <a:ln>
                <a:noFill/>
              </a:ln>
            </p:spPr>
          </p:pic>
          <p:sp>
            <p:nvSpPr>
              <p:cNvPr id="437" name="Google Shape;6678;g2d30ebb658d_0_19789">
                <a:extLst>
                  <a:ext uri="{FF2B5EF4-FFF2-40B4-BE49-F238E27FC236}">
                    <a16:creationId xmlns:a16="http://schemas.microsoft.com/office/drawing/2014/main" id="{E907898B-8DA9-75EB-84A2-3ADED2C11419}"/>
                  </a:ext>
                </a:extLst>
              </p:cNvPr>
              <p:cNvSpPr/>
              <p:nvPr/>
            </p:nvSpPr>
            <p:spPr>
              <a:xfrm>
                <a:off x="3942438" y="4173972"/>
                <a:ext cx="1769718" cy="1537778"/>
              </a:xfrm>
              <a:prstGeom prst="roundRect">
                <a:avLst>
                  <a:gd name="adj" fmla="val 2356"/>
                </a:avLst>
              </a:prstGeom>
              <a:solidFill>
                <a:srgbClr val="E8E8EA"/>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38" name="Google Shape;6705;g2d30ebb658d_0_19789">
                <a:extLst>
                  <a:ext uri="{FF2B5EF4-FFF2-40B4-BE49-F238E27FC236}">
                    <a16:creationId xmlns:a16="http://schemas.microsoft.com/office/drawing/2014/main" id="{4615B56D-351F-C98D-25F5-31EC9BB5AD6E}"/>
                  </a:ext>
                </a:extLst>
              </p:cNvPr>
              <p:cNvSpPr/>
              <p:nvPr/>
            </p:nvSpPr>
            <p:spPr>
              <a:xfrm>
                <a:off x="3992941" y="5157400"/>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39" name="Google Shape;6708;g2d30ebb658d_0_19789">
                <a:extLst>
                  <a:ext uri="{FF2B5EF4-FFF2-40B4-BE49-F238E27FC236}">
                    <a16:creationId xmlns:a16="http://schemas.microsoft.com/office/drawing/2014/main" id="{F521AE06-E041-D449-E953-75AFC29339CB}"/>
                  </a:ext>
                </a:extLst>
              </p:cNvPr>
              <p:cNvSpPr>
                <a:spLocks noChangeAspect="1"/>
              </p:cNvSpPr>
              <p:nvPr/>
            </p:nvSpPr>
            <p:spPr>
              <a:xfrm>
                <a:off x="5241740" y="5308919"/>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40" name="Google Shape;6709;g2d30ebb658d_0_19789">
                <a:extLst>
                  <a:ext uri="{FF2B5EF4-FFF2-40B4-BE49-F238E27FC236}">
                    <a16:creationId xmlns:a16="http://schemas.microsoft.com/office/drawing/2014/main" id="{0BE8F3AE-0AF5-5715-E5EE-4419F4F5CFE3}"/>
                  </a:ext>
                </a:extLst>
              </p:cNvPr>
              <p:cNvSpPr>
                <a:spLocks noChangeAspect="1"/>
              </p:cNvSpPr>
              <p:nvPr/>
            </p:nvSpPr>
            <p:spPr>
              <a:xfrm>
                <a:off x="5290638" y="5358291"/>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41" name="Google Shape;6711;g2d30ebb658d_0_19789">
                <a:extLst>
                  <a:ext uri="{FF2B5EF4-FFF2-40B4-BE49-F238E27FC236}">
                    <a16:creationId xmlns:a16="http://schemas.microsoft.com/office/drawing/2014/main" id="{E05F82AC-CE8B-50DC-0FCA-D27779E88545}"/>
                  </a:ext>
                </a:extLst>
              </p:cNvPr>
              <p:cNvSpPr>
                <a:spLocks noChangeAspect="1"/>
              </p:cNvSpPr>
              <p:nvPr/>
            </p:nvSpPr>
            <p:spPr>
              <a:xfrm>
                <a:off x="4096820" y="5308800"/>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42" name="Google Shape;6712;g2d30ebb658d_0_19789">
                <a:extLst>
                  <a:ext uri="{FF2B5EF4-FFF2-40B4-BE49-F238E27FC236}">
                    <a16:creationId xmlns:a16="http://schemas.microsoft.com/office/drawing/2014/main" id="{C4E74096-74A6-1A5C-8CA7-DEDE4354D1A1}"/>
                  </a:ext>
                </a:extLst>
              </p:cNvPr>
              <p:cNvSpPr>
                <a:spLocks noChangeAspect="1"/>
              </p:cNvSpPr>
              <p:nvPr/>
            </p:nvSpPr>
            <p:spPr>
              <a:xfrm>
                <a:off x="4150930" y="5373510"/>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43" name="Google Shape;6714;g2d30ebb658d_0_19789">
                <a:extLst>
                  <a:ext uri="{FF2B5EF4-FFF2-40B4-BE49-F238E27FC236}">
                    <a16:creationId xmlns:a16="http://schemas.microsoft.com/office/drawing/2014/main" id="{AB68C1FB-B7D2-ECE4-2933-9ED68500DA78}"/>
                  </a:ext>
                </a:extLst>
              </p:cNvPr>
              <p:cNvSpPr>
                <a:spLocks noChangeAspect="1"/>
              </p:cNvSpPr>
              <p:nvPr/>
            </p:nvSpPr>
            <p:spPr>
              <a:xfrm>
                <a:off x="4665188" y="5308801"/>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44" name="Google Shape;6715;g2d30ebb658d_0_19789">
                <a:extLst>
                  <a:ext uri="{FF2B5EF4-FFF2-40B4-BE49-F238E27FC236}">
                    <a16:creationId xmlns:a16="http://schemas.microsoft.com/office/drawing/2014/main" id="{4BC369FE-DD33-08BF-FFA8-203541C13E95}"/>
                  </a:ext>
                </a:extLst>
              </p:cNvPr>
              <p:cNvSpPr>
                <a:spLocks noChangeAspect="1"/>
              </p:cNvSpPr>
              <p:nvPr/>
            </p:nvSpPr>
            <p:spPr>
              <a:xfrm>
                <a:off x="4735335" y="5361805"/>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45" name="Google Shape;6704;g2d30ebb658d_0_19789">
                <a:extLst>
                  <a:ext uri="{FF2B5EF4-FFF2-40B4-BE49-F238E27FC236}">
                    <a16:creationId xmlns:a16="http://schemas.microsoft.com/office/drawing/2014/main" id="{6A137A23-4FFB-BC1C-A456-A98FA9DE4F4E}"/>
                  </a:ext>
                </a:extLst>
              </p:cNvPr>
              <p:cNvSpPr/>
              <p:nvPr/>
            </p:nvSpPr>
            <p:spPr>
              <a:xfrm>
                <a:off x="4028052" y="4232647"/>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46" name="TextBox 445">
                <a:extLst>
                  <a:ext uri="{FF2B5EF4-FFF2-40B4-BE49-F238E27FC236}">
                    <a16:creationId xmlns:a16="http://schemas.microsoft.com/office/drawing/2014/main" id="{47239878-B4A6-5A83-5BFB-B90467427725}"/>
                  </a:ext>
                </a:extLst>
              </p:cNvPr>
              <p:cNvSpPr txBox="1"/>
              <p:nvPr/>
            </p:nvSpPr>
            <p:spPr>
              <a:xfrm>
                <a:off x="4445184" y="5181090"/>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447" name="Google Shape;6678;g2d30ebb658d_0_19789">
                <a:extLst>
                  <a:ext uri="{FF2B5EF4-FFF2-40B4-BE49-F238E27FC236}">
                    <a16:creationId xmlns:a16="http://schemas.microsoft.com/office/drawing/2014/main" id="{8B2A9CBC-DCD2-0124-9492-1D39756CB2DA}"/>
                  </a:ext>
                </a:extLst>
              </p:cNvPr>
              <p:cNvSpPr/>
              <p:nvPr/>
            </p:nvSpPr>
            <p:spPr>
              <a:xfrm>
                <a:off x="4255553" y="4709931"/>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48" name="Google Shape;6678;g2d30ebb658d_0_19789">
                <a:extLst>
                  <a:ext uri="{FF2B5EF4-FFF2-40B4-BE49-F238E27FC236}">
                    <a16:creationId xmlns:a16="http://schemas.microsoft.com/office/drawing/2014/main" id="{9A1C9C40-7FF1-FF1F-93E2-70DDC3638E80}"/>
                  </a:ext>
                </a:extLst>
              </p:cNvPr>
              <p:cNvSpPr/>
              <p:nvPr/>
            </p:nvSpPr>
            <p:spPr>
              <a:xfrm>
                <a:off x="4259266" y="4519289"/>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vCenter</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49" name="Google Shape;6678;g2d30ebb658d_0_19789">
                <a:extLst>
                  <a:ext uri="{FF2B5EF4-FFF2-40B4-BE49-F238E27FC236}">
                    <a16:creationId xmlns:a16="http://schemas.microsoft.com/office/drawing/2014/main" id="{633DD855-A048-E5E4-DCBE-EF5351ED57F4}"/>
                  </a:ext>
                </a:extLst>
              </p:cNvPr>
              <p:cNvSpPr/>
              <p:nvPr/>
            </p:nvSpPr>
            <p:spPr>
              <a:xfrm>
                <a:off x="4498743" y="4905894"/>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450" name="Google Shape;6678;g2d30ebb658d_0_19789">
                <a:extLst>
                  <a:ext uri="{FF2B5EF4-FFF2-40B4-BE49-F238E27FC236}">
                    <a16:creationId xmlns:a16="http://schemas.microsoft.com/office/drawing/2014/main" id="{E0DD0CD6-7237-3061-1B36-8AB87C1B3EB9}"/>
                  </a:ext>
                </a:extLst>
              </p:cNvPr>
              <p:cNvSpPr/>
              <p:nvPr/>
            </p:nvSpPr>
            <p:spPr>
              <a:xfrm>
                <a:off x="4436459" y="4950976"/>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451" name="Google Shape;6678;g2d30ebb658d_0_19789">
                <a:extLst>
                  <a:ext uri="{FF2B5EF4-FFF2-40B4-BE49-F238E27FC236}">
                    <a16:creationId xmlns:a16="http://schemas.microsoft.com/office/drawing/2014/main" id="{071D228F-0D27-CDE2-9785-FAE9002476DD}"/>
                  </a:ext>
                </a:extLst>
              </p:cNvPr>
              <p:cNvSpPr/>
              <p:nvPr/>
            </p:nvSpPr>
            <p:spPr>
              <a:xfrm>
                <a:off x="3947196" y="233683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52" name="Google Shape;6705;g2d30ebb658d_0_19789">
                <a:extLst>
                  <a:ext uri="{FF2B5EF4-FFF2-40B4-BE49-F238E27FC236}">
                    <a16:creationId xmlns:a16="http://schemas.microsoft.com/office/drawing/2014/main" id="{5E4F6D3E-1440-CAF8-71CF-8A1589CB1E97}"/>
                  </a:ext>
                </a:extLst>
              </p:cNvPr>
              <p:cNvSpPr/>
              <p:nvPr/>
            </p:nvSpPr>
            <p:spPr>
              <a:xfrm>
                <a:off x="3997699" y="3512812"/>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53" name="Google Shape;6708;g2d30ebb658d_0_19789">
                <a:extLst>
                  <a:ext uri="{FF2B5EF4-FFF2-40B4-BE49-F238E27FC236}">
                    <a16:creationId xmlns:a16="http://schemas.microsoft.com/office/drawing/2014/main" id="{59FEFE5F-1640-EDB4-A269-6A87BAA8CC1A}"/>
                  </a:ext>
                </a:extLst>
              </p:cNvPr>
              <p:cNvSpPr>
                <a:spLocks noChangeAspect="1"/>
              </p:cNvSpPr>
              <p:nvPr/>
            </p:nvSpPr>
            <p:spPr>
              <a:xfrm>
                <a:off x="5246498" y="3664331"/>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54" name="Google Shape;6709;g2d30ebb658d_0_19789">
                <a:extLst>
                  <a:ext uri="{FF2B5EF4-FFF2-40B4-BE49-F238E27FC236}">
                    <a16:creationId xmlns:a16="http://schemas.microsoft.com/office/drawing/2014/main" id="{0FE38D7D-DC49-3E89-DA26-6DAF346AB79C}"/>
                  </a:ext>
                </a:extLst>
              </p:cNvPr>
              <p:cNvSpPr>
                <a:spLocks noChangeAspect="1"/>
              </p:cNvSpPr>
              <p:nvPr/>
            </p:nvSpPr>
            <p:spPr>
              <a:xfrm>
                <a:off x="5295396" y="3713703"/>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55" name="Google Shape;6711;g2d30ebb658d_0_19789">
                <a:extLst>
                  <a:ext uri="{FF2B5EF4-FFF2-40B4-BE49-F238E27FC236}">
                    <a16:creationId xmlns:a16="http://schemas.microsoft.com/office/drawing/2014/main" id="{E680276E-A79F-B314-1AA0-EEF140C20D6F}"/>
                  </a:ext>
                </a:extLst>
              </p:cNvPr>
              <p:cNvSpPr>
                <a:spLocks noChangeAspect="1"/>
              </p:cNvSpPr>
              <p:nvPr/>
            </p:nvSpPr>
            <p:spPr>
              <a:xfrm>
                <a:off x="4101578" y="3664212"/>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56" name="Google Shape;6712;g2d30ebb658d_0_19789">
                <a:extLst>
                  <a:ext uri="{FF2B5EF4-FFF2-40B4-BE49-F238E27FC236}">
                    <a16:creationId xmlns:a16="http://schemas.microsoft.com/office/drawing/2014/main" id="{9996001E-2F19-7D12-CCCF-CE1E2AFF1BA6}"/>
                  </a:ext>
                </a:extLst>
              </p:cNvPr>
              <p:cNvSpPr>
                <a:spLocks noChangeAspect="1"/>
              </p:cNvSpPr>
              <p:nvPr/>
            </p:nvSpPr>
            <p:spPr>
              <a:xfrm>
                <a:off x="4155688" y="3728922"/>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57" name="Google Shape;6714;g2d30ebb658d_0_19789">
                <a:extLst>
                  <a:ext uri="{FF2B5EF4-FFF2-40B4-BE49-F238E27FC236}">
                    <a16:creationId xmlns:a16="http://schemas.microsoft.com/office/drawing/2014/main" id="{5A30E8F3-42E1-C74F-CECD-42DAAF9A5E12}"/>
                  </a:ext>
                </a:extLst>
              </p:cNvPr>
              <p:cNvSpPr>
                <a:spLocks noChangeAspect="1"/>
              </p:cNvSpPr>
              <p:nvPr/>
            </p:nvSpPr>
            <p:spPr>
              <a:xfrm>
                <a:off x="4669946" y="3664213"/>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58" name="Google Shape;6715;g2d30ebb658d_0_19789">
                <a:extLst>
                  <a:ext uri="{FF2B5EF4-FFF2-40B4-BE49-F238E27FC236}">
                    <a16:creationId xmlns:a16="http://schemas.microsoft.com/office/drawing/2014/main" id="{F4434EC1-472B-C934-5D7F-C1E863512A40}"/>
                  </a:ext>
                </a:extLst>
              </p:cNvPr>
              <p:cNvSpPr>
                <a:spLocks noChangeAspect="1"/>
              </p:cNvSpPr>
              <p:nvPr/>
            </p:nvSpPr>
            <p:spPr>
              <a:xfrm>
                <a:off x="4740093" y="3717217"/>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59" name="Google Shape;6704;g2d30ebb658d_0_19789">
                <a:extLst>
                  <a:ext uri="{FF2B5EF4-FFF2-40B4-BE49-F238E27FC236}">
                    <a16:creationId xmlns:a16="http://schemas.microsoft.com/office/drawing/2014/main" id="{A3146D1E-23B4-5B46-ABD6-38D6F37A17FE}"/>
                  </a:ext>
                </a:extLst>
              </p:cNvPr>
              <p:cNvSpPr/>
              <p:nvPr/>
            </p:nvSpPr>
            <p:spPr>
              <a:xfrm>
                <a:off x="4032810" y="2397562"/>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60" name="TextBox 459">
                <a:extLst>
                  <a:ext uri="{FF2B5EF4-FFF2-40B4-BE49-F238E27FC236}">
                    <a16:creationId xmlns:a16="http://schemas.microsoft.com/office/drawing/2014/main" id="{F9167DB1-B132-8329-D145-F906626351D4}"/>
                  </a:ext>
                </a:extLst>
              </p:cNvPr>
              <p:cNvSpPr txBox="1"/>
              <p:nvPr/>
            </p:nvSpPr>
            <p:spPr>
              <a:xfrm>
                <a:off x="4449942" y="353650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461" name="Google Shape;6705;g2d30ebb658d_0_19789">
                <a:extLst>
                  <a:ext uri="{FF2B5EF4-FFF2-40B4-BE49-F238E27FC236}">
                    <a16:creationId xmlns:a16="http://schemas.microsoft.com/office/drawing/2014/main" id="{57CCD298-D886-98B1-E969-DB2CD31FC2CD}"/>
                  </a:ext>
                </a:extLst>
              </p:cNvPr>
              <p:cNvSpPr/>
              <p:nvPr/>
            </p:nvSpPr>
            <p:spPr>
              <a:xfrm>
                <a:off x="4264024" y="2650445"/>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462" name="Google Shape;6678;g2d30ebb658d_0_19789">
                <a:extLst>
                  <a:ext uri="{FF2B5EF4-FFF2-40B4-BE49-F238E27FC236}">
                    <a16:creationId xmlns:a16="http://schemas.microsoft.com/office/drawing/2014/main" id="{7D21483C-A526-82F5-D595-836DD29A5C70}"/>
                  </a:ext>
                </a:extLst>
              </p:cNvPr>
              <p:cNvSpPr/>
              <p:nvPr/>
            </p:nvSpPr>
            <p:spPr>
              <a:xfrm>
                <a:off x="4514882" y="3248940"/>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463" name="Google Shape;6678;g2d30ebb658d_0_19789">
                <a:extLst>
                  <a:ext uri="{FF2B5EF4-FFF2-40B4-BE49-F238E27FC236}">
                    <a16:creationId xmlns:a16="http://schemas.microsoft.com/office/drawing/2014/main" id="{AA15F26B-FBA7-40BB-0486-FBC86D4FA8C8}"/>
                  </a:ext>
                </a:extLst>
              </p:cNvPr>
              <p:cNvSpPr/>
              <p:nvPr/>
            </p:nvSpPr>
            <p:spPr>
              <a:xfrm>
                <a:off x="4264024" y="2852256"/>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64" name="TextBox 463">
                <a:extLst>
                  <a:ext uri="{FF2B5EF4-FFF2-40B4-BE49-F238E27FC236}">
                    <a16:creationId xmlns:a16="http://schemas.microsoft.com/office/drawing/2014/main" id="{3BEA2331-84E5-BBB3-CEB2-646D457A733F}"/>
                  </a:ext>
                </a:extLst>
              </p:cNvPr>
              <p:cNvSpPr txBox="1"/>
              <p:nvPr/>
            </p:nvSpPr>
            <p:spPr>
              <a:xfrm>
                <a:off x="4557413" y="2136123"/>
                <a:ext cx="87844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Instance 1</a:t>
                </a:r>
              </a:p>
            </p:txBody>
          </p:sp>
          <p:sp>
            <p:nvSpPr>
              <p:cNvPr id="465" name="Google Shape;6705;g2d30ebb658d_0_19789">
                <a:extLst>
                  <a:ext uri="{FF2B5EF4-FFF2-40B4-BE49-F238E27FC236}">
                    <a16:creationId xmlns:a16="http://schemas.microsoft.com/office/drawing/2014/main" id="{0BF0A721-3F98-4AFF-306D-F3892FA1BD07}"/>
                  </a:ext>
                </a:extLst>
              </p:cNvPr>
              <p:cNvSpPr/>
              <p:nvPr/>
            </p:nvSpPr>
            <p:spPr>
              <a:xfrm>
                <a:off x="4264024" y="3048354"/>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466" name="Google Shape;6678;g2d30ebb658d_0_19789">
                <a:extLst>
                  <a:ext uri="{FF2B5EF4-FFF2-40B4-BE49-F238E27FC236}">
                    <a16:creationId xmlns:a16="http://schemas.microsoft.com/office/drawing/2014/main" id="{9D0690D7-9087-3732-A156-3FA8F6125218}"/>
                  </a:ext>
                </a:extLst>
              </p:cNvPr>
              <p:cNvSpPr/>
              <p:nvPr/>
            </p:nvSpPr>
            <p:spPr>
              <a:xfrm>
                <a:off x="4452598" y="3294022"/>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pic>
            <p:nvPicPr>
              <p:cNvPr id="467" name="Google Shape;6699;p92">
                <a:extLst>
                  <a:ext uri="{FF2B5EF4-FFF2-40B4-BE49-F238E27FC236}">
                    <a16:creationId xmlns:a16="http://schemas.microsoft.com/office/drawing/2014/main" id="{2EE8FC22-7F6F-DCC2-DA37-8ECFE4932937}"/>
                  </a:ext>
                </a:extLst>
              </p:cNvPr>
              <p:cNvPicPr preferRelativeResize="0">
                <a:picLocks noChangeAspect="1"/>
              </p:cNvPicPr>
              <p:nvPr/>
            </p:nvPicPr>
            <p:blipFill rotWithShape="1">
              <a:blip r:embed="rId3">
                <a:alphaModFix/>
              </a:blip>
              <a:srcRect/>
              <a:stretch/>
            </p:blipFill>
            <p:spPr>
              <a:xfrm>
                <a:off x="4279869" y="2093777"/>
                <a:ext cx="220483" cy="220483"/>
              </a:xfrm>
              <a:prstGeom prst="rect">
                <a:avLst/>
              </a:prstGeom>
              <a:noFill/>
              <a:ln>
                <a:noFill/>
              </a:ln>
            </p:spPr>
          </p:pic>
        </p:grpSp>
        <p:grpSp>
          <p:nvGrpSpPr>
            <p:cNvPr id="468" name="Group 467">
              <a:extLst>
                <a:ext uri="{FF2B5EF4-FFF2-40B4-BE49-F238E27FC236}">
                  <a16:creationId xmlns:a16="http://schemas.microsoft.com/office/drawing/2014/main" id="{0F0324DC-A981-3EB0-043D-C84D866856A9}"/>
                </a:ext>
              </a:extLst>
            </p:cNvPr>
            <p:cNvGrpSpPr/>
            <p:nvPr/>
          </p:nvGrpSpPr>
          <p:grpSpPr>
            <a:xfrm>
              <a:off x="9386131" y="2498110"/>
              <a:ext cx="1909145" cy="4021576"/>
              <a:chOff x="3879476" y="2059999"/>
              <a:chExt cx="1909145" cy="4021576"/>
            </a:xfrm>
          </p:grpSpPr>
          <p:sp>
            <p:nvSpPr>
              <p:cNvPr id="469" name="Google Shape;6678;g2d30ebb658d_0_19789">
                <a:extLst>
                  <a:ext uri="{FF2B5EF4-FFF2-40B4-BE49-F238E27FC236}">
                    <a16:creationId xmlns:a16="http://schemas.microsoft.com/office/drawing/2014/main" id="{6E62FEA6-AEEA-A6C7-BB87-BDDBC7A311DA}"/>
                  </a:ext>
                </a:extLst>
              </p:cNvPr>
              <p:cNvSpPr/>
              <p:nvPr/>
            </p:nvSpPr>
            <p:spPr>
              <a:xfrm>
                <a:off x="3879476" y="2059999"/>
                <a:ext cx="1909145" cy="4021576"/>
              </a:xfrm>
              <a:prstGeom prst="roundRect">
                <a:avLst>
                  <a:gd name="adj" fmla="val 2356"/>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70" name="Google Shape;6678;g2d30ebb658d_0_19789">
                <a:extLst>
                  <a:ext uri="{FF2B5EF4-FFF2-40B4-BE49-F238E27FC236}">
                    <a16:creationId xmlns:a16="http://schemas.microsoft.com/office/drawing/2014/main" id="{92CD4647-F6A3-D941-24EA-3805DFA88A61}"/>
                  </a:ext>
                </a:extLst>
              </p:cNvPr>
              <p:cNvSpPr/>
              <p:nvPr/>
            </p:nvSpPr>
            <p:spPr>
              <a:xfrm>
                <a:off x="3969834" y="5737352"/>
                <a:ext cx="1717288" cy="308820"/>
              </a:xfrm>
              <a:prstGeom prst="roundRect">
                <a:avLst>
                  <a:gd name="adj" fmla="val 12637"/>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71" name="TextBox 470">
                <a:extLst>
                  <a:ext uri="{FF2B5EF4-FFF2-40B4-BE49-F238E27FC236}">
                    <a16:creationId xmlns:a16="http://schemas.microsoft.com/office/drawing/2014/main" id="{7C9A3FE0-8315-60D5-0A35-E43D1B6B133A}"/>
                  </a:ext>
                </a:extLst>
              </p:cNvPr>
              <p:cNvSpPr txBox="1"/>
              <p:nvPr/>
            </p:nvSpPr>
            <p:spPr>
              <a:xfrm>
                <a:off x="4248627" y="5825448"/>
                <a:ext cx="135133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a:ea typeface="+mn-ea"/>
                    <a:cs typeface="+mn-cs"/>
                  </a:rPr>
                  <a:t>Additional Workload Domains</a:t>
                </a:r>
              </a:p>
            </p:txBody>
          </p:sp>
          <p:pic>
            <p:nvPicPr>
              <p:cNvPr id="472" name="Google Shape;6699;p92">
                <a:extLst>
                  <a:ext uri="{FF2B5EF4-FFF2-40B4-BE49-F238E27FC236}">
                    <a16:creationId xmlns:a16="http://schemas.microsoft.com/office/drawing/2014/main" id="{346F5D7B-A285-6C49-E1D1-A62385A3DFE8}"/>
                  </a:ext>
                </a:extLst>
              </p:cNvPr>
              <p:cNvPicPr preferRelativeResize="0">
                <a:picLocks noChangeAspect="1"/>
              </p:cNvPicPr>
              <p:nvPr/>
            </p:nvPicPr>
            <p:blipFill rotWithShape="1">
              <a:blip r:embed="rId3">
                <a:alphaModFix/>
              </a:blip>
              <a:srcRect/>
              <a:stretch/>
            </p:blipFill>
            <p:spPr>
              <a:xfrm>
                <a:off x="4015687" y="5766548"/>
                <a:ext cx="220483" cy="220483"/>
              </a:xfrm>
              <a:prstGeom prst="rect">
                <a:avLst/>
              </a:prstGeom>
              <a:noFill/>
              <a:ln>
                <a:noFill/>
              </a:ln>
            </p:spPr>
          </p:pic>
          <p:sp>
            <p:nvSpPr>
              <p:cNvPr id="473" name="Google Shape;6678;g2d30ebb658d_0_19789">
                <a:extLst>
                  <a:ext uri="{FF2B5EF4-FFF2-40B4-BE49-F238E27FC236}">
                    <a16:creationId xmlns:a16="http://schemas.microsoft.com/office/drawing/2014/main" id="{5C5BC12E-92A7-6DF0-BACA-989FE5B07078}"/>
                  </a:ext>
                </a:extLst>
              </p:cNvPr>
              <p:cNvSpPr/>
              <p:nvPr/>
            </p:nvSpPr>
            <p:spPr>
              <a:xfrm>
                <a:off x="3942438" y="4173972"/>
                <a:ext cx="1769718" cy="1537778"/>
              </a:xfrm>
              <a:prstGeom prst="roundRect">
                <a:avLst>
                  <a:gd name="adj" fmla="val 2356"/>
                </a:avLst>
              </a:prstGeom>
              <a:solidFill>
                <a:srgbClr val="E8E8EA"/>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74" name="Google Shape;6705;g2d30ebb658d_0_19789">
                <a:extLst>
                  <a:ext uri="{FF2B5EF4-FFF2-40B4-BE49-F238E27FC236}">
                    <a16:creationId xmlns:a16="http://schemas.microsoft.com/office/drawing/2014/main" id="{7D62B91D-3912-8927-826B-8260EA598FC7}"/>
                  </a:ext>
                </a:extLst>
              </p:cNvPr>
              <p:cNvSpPr/>
              <p:nvPr/>
            </p:nvSpPr>
            <p:spPr>
              <a:xfrm>
                <a:off x="3992941" y="5157400"/>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75" name="Google Shape;6708;g2d30ebb658d_0_19789">
                <a:extLst>
                  <a:ext uri="{FF2B5EF4-FFF2-40B4-BE49-F238E27FC236}">
                    <a16:creationId xmlns:a16="http://schemas.microsoft.com/office/drawing/2014/main" id="{548BDDCF-13FC-198D-075C-EBFE3D3C8591}"/>
                  </a:ext>
                </a:extLst>
              </p:cNvPr>
              <p:cNvSpPr>
                <a:spLocks noChangeAspect="1"/>
              </p:cNvSpPr>
              <p:nvPr/>
            </p:nvSpPr>
            <p:spPr>
              <a:xfrm>
                <a:off x="5241740" y="5308919"/>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76" name="Google Shape;6709;g2d30ebb658d_0_19789">
                <a:extLst>
                  <a:ext uri="{FF2B5EF4-FFF2-40B4-BE49-F238E27FC236}">
                    <a16:creationId xmlns:a16="http://schemas.microsoft.com/office/drawing/2014/main" id="{3D507882-5EE5-FD7D-47D5-82E3E4702493}"/>
                  </a:ext>
                </a:extLst>
              </p:cNvPr>
              <p:cNvSpPr>
                <a:spLocks noChangeAspect="1"/>
              </p:cNvSpPr>
              <p:nvPr/>
            </p:nvSpPr>
            <p:spPr>
              <a:xfrm>
                <a:off x="5290638" y="5358291"/>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77" name="Google Shape;6711;g2d30ebb658d_0_19789">
                <a:extLst>
                  <a:ext uri="{FF2B5EF4-FFF2-40B4-BE49-F238E27FC236}">
                    <a16:creationId xmlns:a16="http://schemas.microsoft.com/office/drawing/2014/main" id="{E6398E5E-5A7E-6788-8EA5-D7911BC45A4C}"/>
                  </a:ext>
                </a:extLst>
              </p:cNvPr>
              <p:cNvSpPr>
                <a:spLocks noChangeAspect="1"/>
              </p:cNvSpPr>
              <p:nvPr/>
            </p:nvSpPr>
            <p:spPr>
              <a:xfrm>
                <a:off x="4096820" y="5308800"/>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78" name="Google Shape;6712;g2d30ebb658d_0_19789">
                <a:extLst>
                  <a:ext uri="{FF2B5EF4-FFF2-40B4-BE49-F238E27FC236}">
                    <a16:creationId xmlns:a16="http://schemas.microsoft.com/office/drawing/2014/main" id="{586BEC1B-A0CA-E6C6-73B4-5508E4ADD641}"/>
                  </a:ext>
                </a:extLst>
              </p:cNvPr>
              <p:cNvSpPr>
                <a:spLocks noChangeAspect="1"/>
              </p:cNvSpPr>
              <p:nvPr/>
            </p:nvSpPr>
            <p:spPr>
              <a:xfrm>
                <a:off x="4150930" y="5373510"/>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79" name="Google Shape;6714;g2d30ebb658d_0_19789">
                <a:extLst>
                  <a:ext uri="{FF2B5EF4-FFF2-40B4-BE49-F238E27FC236}">
                    <a16:creationId xmlns:a16="http://schemas.microsoft.com/office/drawing/2014/main" id="{9BDBC8FE-7E7A-BD66-4AC0-218A378AE8C0}"/>
                  </a:ext>
                </a:extLst>
              </p:cNvPr>
              <p:cNvSpPr>
                <a:spLocks noChangeAspect="1"/>
              </p:cNvSpPr>
              <p:nvPr/>
            </p:nvSpPr>
            <p:spPr>
              <a:xfrm>
                <a:off x="4665188" y="5308801"/>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80" name="Google Shape;6715;g2d30ebb658d_0_19789">
                <a:extLst>
                  <a:ext uri="{FF2B5EF4-FFF2-40B4-BE49-F238E27FC236}">
                    <a16:creationId xmlns:a16="http://schemas.microsoft.com/office/drawing/2014/main" id="{D5161DE8-1E8D-D494-6BF6-6543903422CB}"/>
                  </a:ext>
                </a:extLst>
              </p:cNvPr>
              <p:cNvSpPr>
                <a:spLocks noChangeAspect="1"/>
              </p:cNvSpPr>
              <p:nvPr/>
            </p:nvSpPr>
            <p:spPr>
              <a:xfrm>
                <a:off x="4735335" y="5361805"/>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81" name="Google Shape;6704;g2d30ebb658d_0_19789">
                <a:extLst>
                  <a:ext uri="{FF2B5EF4-FFF2-40B4-BE49-F238E27FC236}">
                    <a16:creationId xmlns:a16="http://schemas.microsoft.com/office/drawing/2014/main" id="{0D2163E6-4C1A-3444-15A1-B12DE8265C80}"/>
                  </a:ext>
                </a:extLst>
              </p:cNvPr>
              <p:cNvSpPr/>
              <p:nvPr/>
            </p:nvSpPr>
            <p:spPr>
              <a:xfrm>
                <a:off x="4028052" y="4232647"/>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82" name="TextBox 481">
                <a:extLst>
                  <a:ext uri="{FF2B5EF4-FFF2-40B4-BE49-F238E27FC236}">
                    <a16:creationId xmlns:a16="http://schemas.microsoft.com/office/drawing/2014/main" id="{E05A0911-4390-EB27-F118-3DD4A347DBAA}"/>
                  </a:ext>
                </a:extLst>
              </p:cNvPr>
              <p:cNvSpPr txBox="1"/>
              <p:nvPr/>
            </p:nvSpPr>
            <p:spPr>
              <a:xfrm>
                <a:off x="4445184" y="5181090"/>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483" name="Google Shape;6678;g2d30ebb658d_0_19789">
                <a:extLst>
                  <a:ext uri="{FF2B5EF4-FFF2-40B4-BE49-F238E27FC236}">
                    <a16:creationId xmlns:a16="http://schemas.microsoft.com/office/drawing/2014/main" id="{EE409AC7-2F60-D27D-5632-4F8757DE92F1}"/>
                  </a:ext>
                </a:extLst>
              </p:cNvPr>
              <p:cNvSpPr/>
              <p:nvPr/>
            </p:nvSpPr>
            <p:spPr>
              <a:xfrm>
                <a:off x="4255553" y="4709931"/>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84" name="Google Shape;6678;g2d30ebb658d_0_19789">
                <a:extLst>
                  <a:ext uri="{FF2B5EF4-FFF2-40B4-BE49-F238E27FC236}">
                    <a16:creationId xmlns:a16="http://schemas.microsoft.com/office/drawing/2014/main" id="{B2F5222C-58DD-4AEC-749C-659B73AAF085}"/>
                  </a:ext>
                </a:extLst>
              </p:cNvPr>
              <p:cNvSpPr/>
              <p:nvPr/>
            </p:nvSpPr>
            <p:spPr>
              <a:xfrm>
                <a:off x="4259266" y="4519289"/>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vCenter</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85" name="Google Shape;6678;g2d30ebb658d_0_19789">
                <a:extLst>
                  <a:ext uri="{FF2B5EF4-FFF2-40B4-BE49-F238E27FC236}">
                    <a16:creationId xmlns:a16="http://schemas.microsoft.com/office/drawing/2014/main" id="{A86F07A2-E21B-47FB-2395-1433C52105EA}"/>
                  </a:ext>
                </a:extLst>
              </p:cNvPr>
              <p:cNvSpPr/>
              <p:nvPr/>
            </p:nvSpPr>
            <p:spPr>
              <a:xfrm>
                <a:off x="4498743" y="4905894"/>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486" name="Google Shape;6678;g2d30ebb658d_0_19789">
                <a:extLst>
                  <a:ext uri="{FF2B5EF4-FFF2-40B4-BE49-F238E27FC236}">
                    <a16:creationId xmlns:a16="http://schemas.microsoft.com/office/drawing/2014/main" id="{72C4330D-AA16-B16C-240B-D463E7CB3ECB}"/>
                  </a:ext>
                </a:extLst>
              </p:cNvPr>
              <p:cNvSpPr/>
              <p:nvPr/>
            </p:nvSpPr>
            <p:spPr>
              <a:xfrm>
                <a:off x="4436459" y="4950976"/>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487" name="Google Shape;6678;g2d30ebb658d_0_19789">
                <a:extLst>
                  <a:ext uri="{FF2B5EF4-FFF2-40B4-BE49-F238E27FC236}">
                    <a16:creationId xmlns:a16="http://schemas.microsoft.com/office/drawing/2014/main" id="{105C7848-95D7-70CA-A6A4-152C4D4F4B79}"/>
                  </a:ext>
                </a:extLst>
              </p:cNvPr>
              <p:cNvSpPr/>
              <p:nvPr/>
            </p:nvSpPr>
            <p:spPr>
              <a:xfrm>
                <a:off x="3947196" y="233683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88" name="Google Shape;6705;g2d30ebb658d_0_19789">
                <a:extLst>
                  <a:ext uri="{FF2B5EF4-FFF2-40B4-BE49-F238E27FC236}">
                    <a16:creationId xmlns:a16="http://schemas.microsoft.com/office/drawing/2014/main" id="{A4ECDD5C-50AE-E41B-D6B9-E85006E1145E}"/>
                  </a:ext>
                </a:extLst>
              </p:cNvPr>
              <p:cNvSpPr/>
              <p:nvPr/>
            </p:nvSpPr>
            <p:spPr>
              <a:xfrm>
                <a:off x="3997699" y="3512812"/>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89" name="Google Shape;6708;g2d30ebb658d_0_19789">
                <a:extLst>
                  <a:ext uri="{FF2B5EF4-FFF2-40B4-BE49-F238E27FC236}">
                    <a16:creationId xmlns:a16="http://schemas.microsoft.com/office/drawing/2014/main" id="{7496D1F2-3841-C409-865A-B746F193FE3D}"/>
                  </a:ext>
                </a:extLst>
              </p:cNvPr>
              <p:cNvSpPr>
                <a:spLocks noChangeAspect="1"/>
              </p:cNvSpPr>
              <p:nvPr/>
            </p:nvSpPr>
            <p:spPr>
              <a:xfrm>
                <a:off x="5246498" y="3664331"/>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90" name="Google Shape;6709;g2d30ebb658d_0_19789">
                <a:extLst>
                  <a:ext uri="{FF2B5EF4-FFF2-40B4-BE49-F238E27FC236}">
                    <a16:creationId xmlns:a16="http://schemas.microsoft.com/office/drawing/2014/main" id="{B4C88A4A-0BD6-8DF5-A5A6-1B6608825E56}"/>
                  </a:ext>
                </a:extLst>
              </p:cNvPr>
              <p:cNvSpPr>
                <a:spLocks noChangeAspect="1"/>
              </p:cNvSpPr>
              <p:nvPr/>
            </p:nvSpPr>
            <p:spPr>
              <a:xfrm>
                <a:off x="5295396" y="3713703"/>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91" name="Google Shape;6711;g2d30ebb658d_0_19789">
                <a:extLst>
                  <a:ext uri="{FF2B5EF4-FFF2-40B4-BE49-F238E27FC236}">
                    <a16:creationId xmlns:a16="http://schemas.microsoft.com/office/drawing/2014/main" id="{99A8F67A-93A0-6B19-9D9D-BBEA6DD77C09}"/>
                  </a:ext>
                </a:extLst>
              </p:cNvPr>
              <p:cNvSpPr>
                <a:spLocks noChangeAspect="1"/>
              </p:cNvSpPr>
              <p:nvPr/>
            </p:nvSpPr>
            <p:spPr>
              <a:xfrm>
                <a:off x="4101578" y="3664212"/>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92" name="Google Shape;6712;g2d30ebb658d_0_19789">
                <a:extLst>
                  <a:ext uri="{FF2B5EF4-FFF2-40B4-BE49-F238E27FC236}">
                    <a16:creationId xmlns:a16="http://schemas.microsoft.com/office/drawing/2014/main" id="{A249F5F8-FC09-EB5F-00E2-DB0EA9ED2E4F}"/>
                  </a:ext>
                </a:extLst>
              </p:cNvPr>
              <p:cNvSpPr>
                <a:spLocks noChangeAspect="1"/>
              </p:cNvSpPr>
              <p:nvPr/>
            </p:nvSpPr>
            <p:spPr>
              <a:xfrm>
                <a:off x="4155688" y="3728922"/>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93" name="Google Shape;6714;g2d30ebb658d_0_19789">
                <a:extLst>
                  <a:ext uri="{FF2B5EF4-FFF2-40B4-BE49-F238E27FC236}">
                    <a16:creationId xmlns:a16="http://schemas.microsoft.com/office/drawing/2014/main" id="{51A9DC06-6C93-84BE-75FE-8D10443CED96}"/>
                  </a:ext>
                </a:extLst>
              </p:cNvPr>
              <p:cNvSpPr>
                <a:spLocks noChangeAspect="1"/>
              </p:cNvSpPr>
              <p:nvPr/>
            </p:nvSpPr>
            <p:spPr>
              <a:xfrm>
                <a:off x="4669946" y="3664213"/>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94" name="Google Shape;6715;g2d30ebb658d_0_19789">
                <a:extLst>
                  <a:ext uri="{FF2B5EF4-FFF2-40B4-BE49-F238E27FC236}">
                    <a16:creationId xmlns:a16="http://schemas.microsoft.com/office/drawing/2014/main" id="{B53472F4-61FB-0A96-6E27-4760611DC698}"/>
                  </a:ext>
                </a:extLst>
              </p:cNvPr>
              <p:cNvSpPr>
                <a:spLocks noChangeAspect="1"/>
              </p:cNvSpPr>
              <p:nvPr/>
            </p:nvSpPr>
            <p:spPr>
              <a:xfrm>
                <a:off x="4740093" y="3717217"/>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495" name="Google Shape;6704;g2d30ebb658d_0_19789">
                <a:extLst>
                  <a:ext uri="{FF2B5EF4-FFF2-40B4-BE49-F238E27FC236}">
                    <a16:creationId xmlns:a16="http://schemas.microsoft.com/office/drawing/2014/main" id="{DCA764A8-0F1D-BB0B-19A1-13E107EC2F90}"/>
                  </a:ext>
                </a:extLst>
              </p:cNvPr>
              <p:cNvSpPr/>
              <p:nvPr/>
            </p:nvSpPr>
            <p:spPr>
              <a:xfrm>
                <a:off x="4032810" y="2397562"/>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96" name="TextBox 495">
                <a:extLst>
                  <a:ext uri="{FF2B5EF4-FFF2-40B4-BE49-F238E27FC236}">
                    <a16:creationId xmlns:a16="http://schemas.microsoft.com/office/drawing/2014/main" id="{DF720C1F-E5D2-6CFB-085B-27FBEEEB5BC8}"/>
                  </a:ext>
                </a:extLst>
              </p:cNvPr>
              <p:cNvSpPr txBox="1"/>
              <p:nvPr/>
            </p:nvSpPr>
            <p:spPr>
              <a:xfrm>
                <a:off x="4449942" y="353650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497" name="Google Shape;6705;g2d30ebb658d_0_19789">
                <a:extLst>
                  <a:ext uri="{FF2B5EF4-FFF2-40B4-BE49-F238E27FC236}">
                    <a16:creationId xmlns:a16="http://schemas.microsoft.com/office/drawing/2014/main" id="{FE9E9EBE-5D03-5A9D-FF94-0C62DB041771}"/>
                  </a:ext>
                </a:extLst>
              </p:cNvPr>
              <p:cNvSpPr/>
              <p:nvPr/>
            </p:nvSpPr>
            <p:spPr>
              <a:xfrm>
                <a:off x="4264024" y="2650445"/>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498" name="Google Shape;6678;g2d30ebb658d_0_19789">
                <a:extLst>
                  <a:ext uri="{FF2B5EF4-FFF2-40B4-BE49-F238E27FC236}">
                    <a16:creationId xmlns:a16="http://schemas.microsoft.com/office/drawing/2014/main" id="{098DD293-6F7D-F4E3-39CF-34D66D0A647C}"/>
                  </a:ext>
                </a:extLst>
              </p:cNvPr>
              <p:cNvSpPr/>
              <p:nvPr/>
            </p:nvSpPr>
            <p:spPr>
              <a:xfrm>
                <a:off x="4514882" y="3248940"/>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499" name="Google Shape;6678;g2d30ebb658d_0_19789">
                <a:extLst>
                  <a:ext uri="{FF2B5EF4-FFF2-40B4-BE49-F238E27FC236}">
                    <a16:creationId xmlns:a16="http://schemas.microsoft.com/office/drawing/2014/main" id="{AA27C369-1689-CE44-29F0-C8A97185A9DF}"/>
                  </a:ext>
                </a:extLst>
              </p:cNvPr>
              <p:cNvSpPr/>
              <p:nvPr/>
            </p:nvSpPr>
            <p:spPr>
              <a:xfrm>
                <a:off x="4264024" y="2852256"/>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500" name="TextBox 499">
                <a:extLst>
                  <a:ext uri="{FF2B5EF4-FFF2-40B4-BE49-F238E27FC236}">
                    <a16:creationId xmlns:a16="http://schemas.microsoft.com/office/drawing/2014/main" id="{9725BB41-95CA-49B3-17B5-6F63038AD562}"/>
                  </a:ext>
                </a:extLst>
              </p:cNvPr>
              <p:cNvSpPr txBox="1"/>
              <p:nvPr/>
            </p:nvSpPr>
            <p:spPr>
              <a:xfrm>
                <a:off x="4557413" y="2136123"/>
                <a:ext cx="87844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Instance 2</a:t>
                </a:r>
              </a:p>
            </p:txBody>
          </p:sp>
          <p:sp>
            <p:nvSpPr>
              <p:cNvPr id="501" name="Google Shape;6705;g2d30ebb658d_0_19789">
                <a:extLst>
                  <a:ext uri="{FF2B5EF4-FFF2-40B4-BE49-F238E27FC236}">
                    <a16:creationId xmlns:a16="http://schemas.microsoft.com/office/drawing/2014/main" id="{50C847D9-F6DA-D86B-4698-42407E01016D}"/>
                  </a:ext>
                </a:extLst>
              </p:cNvPr>
              <p:cNvSpPr/>
              <p:nvPr/>
            </p:nvSpPr>
            <p:spPr>
              <a:xfrm>
                <a:off x="4264024" y="3048354"/>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502" name="Google Shape;6678;g2d30ebb658d_0_19789">
                <a:extLst>
                  <a:ext uri="{FF2B5EF4-FFF2-40B4-BE49-F238E27FC236}">
                    <a16:creationId xmlns:a16="http://schemas.microsoft.com/office/drawing/2014/main" id="{08BBC19C-0F12-AAE2-EC08-345F3A405E71}"/>
                  </a:ext>
                </a:extLst>
              </p:cNvPr>
              <p:cNvSpPr/>
              <p:nvPr/>
            </p:nvSpPr>
            <p:spPr>
              <a:xfrm>
                <a:off x="4452598" y="3294022"/>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pic>
            <p:nvPicPr>
              <p:cNvPr id="503" name="Google Shape;6699;p92">
                <a:extLst>
                  <a:ext uri="{FF2B5EF4-FFF2-40B4-BE49-F238E27FC236}">
                    <a16:creationId xmlns:a16="http://schemas.microsoft.com/office/drawing/2014/main" id="{99F3CA98-324A-DC64-861D-5E55CEFBF9D6}"/>
                  </a:ext>
                </a:extLst>
              </p:cNvPr>
              <p:cNvPicPr preferRelativeResize="0">
                <a:picLocks noChangeAspect="1"/>
              </p:cNvPicPr>
              <p:nvPr/>
            </p:nvPicPr>
            <p:blipFill rotWithShape="1">
              <a:blip r:embed="rId3">
                <a:alphaModFix/>
              </a:blip>
              <a:srcRect/>
              <a:stretch/>
            </p:blipFill>
            <p:spPr>
              <a:xfrm>
                <a:off x="4279869" y="2093777"/>
                <a:ext cx="220483" cy="220483"/>
              </a:xfrm>
              <a:prstGeom prst="rect">
                <a:avLst/>
              </a:prstGeom>
              <a:noFill/>
              <a:ln>
                <a:noFill/>
              </a:ln>
            </p:spPr>
          </p:pic>
        </p:grpSp>
      </p:grpSp>
      <p:sp>
        <p:nvSpPr>
          <p:cNvPr id="504" name="TextBox 503">
            <a:extLst>
              <a:ext uri="{FF2B5EF4-FFF2-40B4-BE49-F238E27FC236}">
                <a16:creationId xmlns:a16="http://schemas.microsoft.com/office/drawing/2014/main" id="{D06110A4-4D86-2C41-8037-03029EB5A9EE}"/>
              </a:ext>
            </a:extLst>
          </p:cNvPr>
          <p:cNvSpPr txBox="1"/>
          <p:nvPr/>
        </p:nvSpPr>
        <p:spPr>
          <a:xfrm>
            <a:off x="880257" y="2527478"/>
            <a:ext cx="2034403" cy="3077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a:ea typeface="+mn-ea"/>
                <a:cs typeface="+mn-cs"/>
              </a:rPr>
              <a:t>Workload Domain</a:t>
            </a:r>
          </a:p>
        </p:txBody>
      </p:sp>
      <p:sp>
        <p:nvSpPr>
          <p:cNvPr id="505" name="TextBox 504">
            <a:extLst>
              <a:ext uri="{FF2B5EF4-FFF2-40B4-BE49-F238E27FC236}">
                <a16:creationId xmlns:a16="http://schemas.microsoft.com/office/drawing/2014/main" id="{5C306E9D-6224-6843-9FFB-7786139D08C8}"/>
              </a:ext>
            </a:extLst>
          </p:cNvPr>
          <p:cNvSpPr txBox="1"/>
          <p:nvPr/>
        </p:nvSpPr>
        <p:spPr>
          <a:xfrm>
            <a:off x="4368688" y="1547763"/>
            <a:ext cx="1553310" cy="3077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a:ea typeface="+mn-ea"/>
                <a:cs typeface="+mn-cs"/>
              </a:rPr>
              <a:t>VCF Instance</a:t>
            </a:r>
          </a:p>
        </p:txBody>
      </p:sp>
      <p:sp>
        <p:nvSpPr>
          <p:cNvPr id="506" name="TextBox 505">
            <a:extLst>
              <a:ext uri="{FF2B5EF4-FFF2-40B4-BE49-F238E27FC236}">
                <a16:creationId xmlns:a16="http://schemas.microsoft.com/office/drawing/2014/main" id="{C0A1AB00-2735-A58E-81A8-2B330C19B5B8}"/>
              </a:ext>
            </a:extLst>
          </p:cNvPr>
          <p:cNvSpPr txBox="1"/>
          <p:nvPr/>
        </p:nvSpPr>
        <p:spPr>
          <a:xfrm>
            <a:off x="8634778" y="1221189"/>
            <a:ext cx="1155766" cy="3077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a:ea typeface="+mn-ea"/>
                <a:cs typeface="+mn-cs"/>
              </a:rPr>
              <a:t>VCF Fleet</a:t>
            </a:r>
          </a:p>
        </p:txBody>
      </p:sp>
    </p:spTree>
    <p:extLst>
      <p:ext uri="{BB962C8B-B14F-4D97-AF65-F5344CB8AC3E}">
        <p14:creationId xmlns:p14="http://schemas.microsoft.com/office/powerpoint/2010/main" val="6198879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04"/>
                                        </p:tgtEl>
                                        <p:attrNameLst>
                                          <p:attrName>style.visibility</p:attrName>
                                        </p:attrNameLst>
                                      </p:cBhvr>
                                      <p:to>
                                        <p:strVal val="visible"/>
                                      </p:to>
                                    </p:set>
                                    <p:animEffect transition="in" filter="dissolve">
                                      <p:cBhvr>
                                        <p:cTn id="7" dur="500"/>
                                        <p:tgtEl>
                                          <p:spTgt spid="50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05"/>
                                        </p:tgtEl>
                                        <p:attrNameLst>
                                          <p:attrName>style.visibility</p:attrName>
                                        </p:attrNameLst>
                                      </p:cBhvr>
                                      <p:to>
                                        <p:strVal val="visible"/>
                                      </p:to>
                                    </p:set>
                                    <p:animEffect transition="in" filter="dissolve">
                                      <p:cBhvr>
                                        <p:cTn id="11" dur="500"/>
                                        <p:tgtEl>
                                          <p:spTgt spid="50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06"/>
                                        </p:tgtEl>
                                        <p:attrNameLst>
                                          <p:attrName>style.visibility</p:attrName>
                                        </p:attrNameLst>
                                      </p:cBhvr>
                                      <p:to>
                                        <p:strVal val="visible"/>
                                      </p:to>
                                    </p:set>
                                    <p:animEffect transition="in" filter="dissolve">
                                      <p:cBhvr>
                                        <p:cTn id="15" dur="500"/>
                                        <p:tgtEl>
                                          <p:spTgt spid="506"/>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fill="hold"/>
                                        <p:tgtEl>
                                          <p:spTgt spid="4"/>
                                        </p:tgtEl>
                                        <p:attrNameLst>
                                          <p:attrName>ppt_x</p:attrName>
                                        </p:attrNameLst>
                                      </p:cBhvr>
                                      <p:tavLst>
                                        <p:tav tm="0">
                                          <p:val>
                                            <p:strVal val="#ppt_x"/>
                                          </p:val>
                                        </p:tav>
                                        <p:tav tm="100000">
                                          <p:val>
                                            <p:strVal val="#ppt_x"/>
                                          </p:val>
                                        </p:tav>
                                      </p:tavLst>
                                    </p:anim>
                                    <p:anim calcmode="lin" valueType="num">
                                      <p:cBhvr additive="base">
                                        <p:cTn id="21"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431"/>
                                        </p:tgtEl>
                                        <p:attrNameLst>
                                          <p:attrName>style.visibility</p:attrName>
                                        </p:attrNameLst>
                                      </p:cBhvr>
                                      <p:to>
                                        <p:strVal val="visible"/>
                                      </p:to>
                                    </p:set>
                                    <p:anim calcmode="lin" valueType="num">
                                      <p:cBhvr additive="base">
                                        <p:cTn id="26" dur="500" fill="hold"/>
                                        <p:tgtEl>
                                          <p:spTgt spid="431"/>
                                        </p:tgtEl>
                                        <p:attrNameLst>
                                          <p:attrName>ppt_x</p:attrName>
                                        </p:attrNameLst>
                                      </p:cBhvr>
                                      <p:tavLst>
                                        <p:tav tm="0">
                                          <p:val>
                                            <p:strVal val="#ppt_x"/>
                                          </p:val>
                                        </p:tav>
                                        <p:tav tm="100000">
                                          <p:val>
                                            <p:strVal val="#ppt_x"/>
                                          </p:val>
                                        </p:tav>
                                      </p:tavLst>
                                    </p:anim>
                                    <p:anim calcmode="lin" valueType="num">
                                      <p:cBhvr additive="base">
                                        <p:cTn id="27" dur="500" fill="hold"/>
                                        <p:tgtEl>
                                          <p:spTgt spid="431"/>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507"/>
                                        </p:tgtEl>
                                        <p:attrNameLst>
                                          <p:attrName>style.visibility</p:attrName>
                                        </p:attrNameLst>
                                      </p:cBhvr>
                                      <p:to>
                                        <p:strVal val="visible"/>
                                      </p:to>
                                    </p:set>
                                    <p:anim calcmode="lin" valueType="num">
                                      <p:cBhvr additive="base">
                                        <p:cTn id="32" dur="500" fill="hold"/>
                                        <p:tgtEl>
                                          <p:spTgt spid="507"/>
                                        </p:tgtEl>
                                        <p:attrNameLst>
                                          <p:attrName>ppt_x</p:attrName>
                                        </p:attrNameLst>
                                      </p:cBhvr>
                                      <p:tavLst>
                                        <p:tav tm="0">
                                          <p:val>
                                            <p:strVal val="#ppt_x"/>
                                          </p:val>
                                        </p:tav>
                                        <p:tav tm="100000">
                                          <p:val>
                                            <p:strVal val="#ppt_x"/>
                                          </p:val>
                                        </p:tav>
                                      </p:tavLst>
                                    </p:anim>
                                    <p:anim calcmode="lin" valueType="num">
                                      <p:cBhvr additive="base">
                                        <p:cTn id="33" dur="500" fill="hold"/>
                                        <p:tgtEl>
                                          <p:spTgt spid="507"/>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240"/>
                                        </p:tgtEl>
                                        <p:attrNameLst>
                                          <p:attrName>style.visibility</p:attrName>
                                        </p:attrNameLst>
                                      </p:cBhvr>
                                      <p:to>
                                        <p:strVal val="visible"/>
                                      </p:to>
                                    </p:set>
                                    <p:anim calcmode="lin" valueType="num">
                                      <p:cBhvr additive="base">
                                        <p:cTn id="38" dur="500" fill="hold"/>
                                        <p:tgtEl>
                                          <p:spTgt spid="240"/>
                                        </p:tgtEl>
                                        <p:attrNameLst>
                                          <p:attrName>ppt_x</p:attrName>
                                        </p:attrNameLst>
                                      </p:cBhvr>
                                      <p:tavLst>
                                        <p:tav tm="0">
                                          <p:val>
                                            <p:strVal val="#ppt_x"/>
                                          </p:val>
                                        </p:tav>
                                        <p:tav tm="100000">
                                          <p:val>
                                            <p:strVal val="#ppt_x"/>
                                          </p:val>
                                        </p:tav>
                                      </p:tavLst>
                                    </p:anim>
                                    <p:anim calcmode="lin" valueType="num">
                                      <p:cBhvr additive="base">
                                        <p:cTn id="39" dur="500" fill="hold"/>
                                        <p:tgtEl>
                                          <p:spTgt spid="240"/>
                                        </p:tgtEl>
                                        <p:attrNameLst>
                                          <p:attrName>ppt_y</p:attrName>
                                        </p:attrNameLst>
                                      </p:cBhvr>
                                      <p:tavLst>
                                        <p:tav tm="0">
                                          <p:val>
                                            <p:strVal val="1+#ppt_h/2"/>
                                          </p:val>
                                        </p:tav>
                                        <p:tav tm="100000">
                                          <p:val>
                                            <p:strVal val="#ppt_y"/>
                                          </p:val>
                                        </p:tav>
                                      </p:tavLst>
                                    </p:anim>
                                  </p:childTnLst>
                                </p:cTn>
                              </p:par>
                            </p:childTnLst>
                          </p:cTn>
                        </p:par>
                        <p:par>
                          <p:cTn id="40" fill="hold">
                            <p:stCondLst>
                              <p:cond delay="500"/>
                            </p:stCondLst>
                            <p:childTnLst>
                              <p:par>
                                <p:cTn id="41" presetID="2" presetClass="entr" presetSubtype="4" fill="hold" grpId="0" nodeType="afterEffect">
                                  <p:stCondLst>
                                    <p:cond delay="0"/>
                                  </p:stCondLst>
                                  <p:childTnLst>
                                    <p:set>
                                      <p:cBhvr>
                                        <p:cTn id="42" dur="1" fill="hold">
                                          <p:stCondLst>
                                            <p:cond delay="0"/>
                                          </p:stCondLst>
                                        </p:cTn>
                                        <p:tgtEl>
                                          <p:spTgt spid="241"/>
                                        </p:tgtEl>
                                        <p:attrNameLst>
                                          <p:attrName>style.visibility</p:attrName>
                                        </p:attrNameLst>
                                      </p:cBhvr>
                                      <p:to>
                                        <p:strVal val="visible"/>
                                      </p:to>
                                    </p:set>
                                    <p:anim calcmode="lin" valueType="num">
                                      <p:cBhvr additive="base">
                                        <p:cTn id="43" dur="500" fill="hold"/>
                                        <p:tgtEl>
                                          <p:spTgt spid="241"/>
                                        </p:tgtEl>
                                        <p:attrNameLst>
                                          <p:attrName>ppt_x</p:attrName>
                                        </p:attrNameLst>
                                      </p:cBhvr>
                                      <p:tavLst>
                                        <p:tav tm="0">
                                          <p:val>
                                            <p:strVal val="#ppt_x"/>
                                          </p:val>
                                        </p:tav>
                                        <p:tav tm="100000">
                                          <p:val>
                                            <p:strVal val="#ppt_x"/>
                                          </p:val>
                                        </p:tav>
                                      </p:tavLst>
                                    </p:anim>
                                    <p:anim calcmode="lin" valueType="num">
                                      <p:cBhvr additive="base">
                                        <p:cTn id="44" dur="500" fill="hold"/>
                                        <p:tgtEl>
                                          <p:spTgt spid="2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animBg="1"/>
      <p:bldP spid="241" grpId="0" animBg="1"/>
      <p:bldP spid="504" grpId="0"/>
      <p:bldP spid="505" grpId="0"/>
      <p:bldP spid="506"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7CA62A-09B2-B718-CE8E-665D91E4D6E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5BE41E1-310D-3D2C-4E1F-C51A1ED7CB8E}"/>
              </a:ext>
            </a:extLst>
          </p:cNvPr>
          <p:cNvSpPr>
            <a:spLocks noGrp="1"/>
          </p:cNvSpPr>
          <p:nvPr>
            <p:ph type="title"/>
          </p:nvPr>
        </p:nvSpPr>
        <p:spPr/>
        <p:txBody>
          <a:bodyPr/>
          <a:lstStyle/>
          <a:p>
            <a:r>
              <a:rPr lang="en-US" dirty="0">
                <a:solidFill>
                  <a:srgbClr val="005C8A"/>
                </a:solidFill>
              </a:rPr>
              <a:t>Private Cloud Constructs within VMware Cloud Foundation</a:t>
            </a:r>
            <a:endParaRPr lang="en-US" dirty="0"/>
          </a:p>
        </p:txBody>
      </p:sp>
      <p:grpSp>
        <p:nvGrpSpPr>
          <p:cNvPr id="156" name="Group 155">
            <a:extLst>
              <a:ext uri="{FF2B5EF4-FFF2-40B4-BE49-F238E27FC236}">
                <a16:creationId xmlns:a16="http://schemas.microsoft.com/office/drawing/2014/main" id="{55B0A22D-8D22-F21B-0B68-713BC4F5E438}"/>
              </a:ext>
            </a:extLst>
          </p:cNvPr>
          <p:cNvGrpSpPr/>
          <p:nvPr/>
        </p:nvGrpSpPr>
        <p:grpSpPr>
          <a:xfrm>
            <a:off x="734731" y="1478781"/>
            <a:ext cx="10747518" cy="4966467"/>
            <a:chOff x="719882" y="1393314"/>
            <a:chExt cx="7035265" cy="5108956"/>
          </a:xfrm>
        </p:grpSpPr>
        <p:sp>
          <p:nvSpPr>
            <p:cNvPr id="48" name="TextBox 47">
              <a:extLst>
                <a:ext uri="{FF2B5EF4-FFF2-40B4-BE49-F238E27FC236}">
                  <a16:creationId xmlns:a16="http://schemas.microsoft.com/office/drawing/2014/main" id="{24EDF270-0B60-1EC2-DCAC-C226B6BC7790}"/>
                </a:ext>
              </a:extLst>
            </p:cNvPr>
            <p:cNvSpPr txBox="1"/>
            <p:nvPr/>
          </p:nvSpPr>
          <p:spPr>
            <a:xfrm>
              <a:off x="719882" y="1515087"/>
              <a:ext cx="2154819" cy="4134884"/>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B1D36"/>
                  </a:solidFill>
                  <a:effectLst/>
                  <a:uLnTx/>
                  <a:uFillTx/>
                  <a:latin typeface="Arial" panose="020B0604020202020204"/>
                  <a:ea typeface="+mn-ea"/>
                  <a:cs typeface="+mn-cs"/>
                </a:rPr>
                <a:t>VCF Private Cloud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One or more VCF Fleets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3578" rtl="0" eaLnBrk="1" fontAlgn="auto" latinLnBrk="0" hangingPunct="1">
                <a:lnSpc>
                  <a:spcPct val="90000"/>
                </a:lnSpc>
                <a:spcBef>
                  <a:spcPts val="0"/>
                </a:spcBef>
                <a:spcAft>
                  <a:spcPts val="30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a:ea typeface="+mn-ea"/>
                  <a:cs typeface="+mn-cs"/>
                </a:rPr>
                <a:t>VCF Fleet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VCF Operations instance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VCF Automation Instance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One or more VCF instance</a:t>
              </a:r>
            </a:p>
            <a:p>
              <a:pPr marL="0" marR="0" lvl="0" indent="0" algn="l" defTabSz="913578" rtl="0" eaLnBrk="1" fontAlgn="auto" latinLnBrk="0" hangingPunct="1">
                <a:lnSpc>
                  <a:spcPct val="90000"/>
                </a:lnSpc>
                <a:spcBef>
                  <a:spcPts val="0"/>
                </a:spcBef>
                <a:spcAft>
                  <a:spcPts val="30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3578" rtl="0" eaLnBrk="1" fontAlgn="auto" latinLnBrk="0" hangingPunct="1">
                <a:lnSpc>
                  <a:spcPct val="90000"/>
                </a:lnSpc>
                <a:spcBef>
                  <a:spcPts val="0"/>
                </a:spcBef>
                <a:spcAft>
                  <a:spcPts val="30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a:ea typeface="+mn-ea"/>
                  <a:cs typeface="+mn-cs"/>
                </a:rPr>
                <a:t>VCF Instance</a:t>
              </a:r>
            </a:p>
            <a:p>
              <a:pPr marL="285750" marR="0" lvl="0" indent="-285750" algn="l" defTabSz="914400" rtl="0" eaLnBrk="1" fontAlgn="auto" latinLnBrk="0" hangingPunct="1">
                <a:lnSpc>
                  <a:spcPct val="90000"/>
                </a:lnSpc>
                <a:spcBef>
                  <a:spcPts val="0"/>
                </a:spcBef>
                <a:spcAft>
                  <a:spcPts val="30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One or more Workload Domains</a:t>
              </a:r>
            </a:p>
            <a:p>
              <a:pPr marL="342900" marR="0" lvl="0" indent="-342900" algn="l" defTabSz="913578" rtl="0" eaLnBrk="1" fontAlgn="auto" latinLnBrk="0" hangingPunct="1">
                <a:lnSpc>
                  <a:spcPct val="90000"/>
                </a:lnSpc>
                <a:spcBef>
                  <a:spcPts val="0"/>
                </a:spcBef>
                <a:spcAft>
                  <a:spcPts val="300"/>
                </a:spcAft>
                <a:buClrTx/>
                <a:buSzTx/>
                <a:buFont typeface="Arial" panose="020B0604020202020204" pitchFamily="34" charset="0"/>
                <a:buChar char="•"/>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B1D36"/>
                  </a:solidFill>
                  <a:effectLst/>
                  <a:uLnTx/>
                  <a:uFillTx/>
                  <a:latin typeface="Arial" panose="020B0604020202020204"/>
                  <a:ea typeface="+mn-ea"/>
                  <a:cs typeface="+mn-cs"/>
                </a:rPr>
                <a:t> </a:t>
              </a:r>
            </a:p>
          </p:txBody>
        </p:sp>
        <p:sp>
          <p:nvSpPr>
            <p:cNvPr id="8" name="Google Shape;6678;g2d30ebb658d_0_19789">
              <a:extLst>
                <a:ext uri="{FF2B5EF4-FFF2-40B4-BE49-F238E27FC236}">
                  <a16:creationId xmlns:a16="http://schemas.microsoft.com/office/drawing/2014/main" id="{B3E8FC1B-8D78-9DB7-3208-1DB070D9B27F}"/>
                </a:ext>
              </a:extLst>
            </p:cNvPr>
            <p:cNvSpPr/>
            <p:nvPr/>
          </p:nvSpPr>
          <p:spPr>
            <a:xfrm>
              <a:off x="2795642" y="1393314"/>
              <a:ext cx="4959505" cy="5108956"/>
            </a:xfrm>
            <a:prstGeom prst="roundRect">
              <a:avLst>
                <a:gd name="adj" fmla="val 2356"/>
              </a:avLst>
            </a:prstGeom>
            <a:noFill/>
            <a:ln w="19050">
              <a:solidFill>
                <a:schemeClr val="bg1">
                  <a:lumMod val="75000"/>
                </a:schemeClr>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sp>
        <p:nvSpPr>
          <p:cNvPr id="160" name="Google Shape;6705;g2d30ebb658d_0_19789">
            <a:extLst>
              <a:ext uri="{FF2B5EF4-FFF2-40B4-BE49-F238E27FC236}">
                <a16:creationId xmlns:a16="http://schemas.microsoft.com/office/drawing/2014/main" id="{072A47F1-7BFE-9468-A188-F9A17F5546E6}"/>
              </a:ext>
            </a:extLst>
          </p:cNvPr>
          <p:cNvSpPr/>
          <p:nvPr/>
        </p:nvSpPr>
        <p:spPr>
          <a:xfrm>
            <a:off x="5287296" y="2181992"/>
            <a:ext cx="1909145" cy="146814"/>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VCF Operations</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61" name="Google Shape;6705;g2d30ebb658d_0_19789">
            <a:extLst>
              <a:ext uri="{FF2B5EF4-FFF2-40B4-BE49-F238E27FC236}">
                <a16:creationId xmlns:a16="http://schemas.microsoft.com/office/drawing/2014/main" id="{503EADB6-E7F8-8E68-EEC4-8966551F4F2C}"/>
              </a:ext>
            </a:extLst>
          </p:cNvPr>
          <p:cNvSpPr/>
          <p:nvPr/>
        </p:nvSpPr>
        <p:spPr>
          <a:xfrm>
            <a:off x="5290760" y="1987224"/>
            <a:ext cx="1906928" cy="139628"/>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VCF Automation</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grpSp>
        <p:nvGrpSpPr>
          <p:cNvPr id="162" name="Group 161">
            <a:extLst>
              <a:ext uri="{FF2B5EF4-FFF2-40B4-BE49-F238E27FC236}">
                <a16:creationId xmlns:a16="http://schemas.microsoft.com/office/drawing/2014/main" id="{629B3CC1-905A-8C8B-76B0-DDF1BD5F81FD}"/>
              </a:ext>
            </a:extLst>
          </p:cNvPr>
          <p:cNvGrpSpPr/>
          <p:nvPr/>
        </p:nvGrpSpPr>
        <p:grpSpPr>
          <a:xfrm>
            <a:off x="4196948" y="1621198"/>
            <a:ext cx="4019593" cy="4573087"/>
            <a:chOff x="7018522" y="1662223"/>
            <a:chExt cx="4504880" cy="4962428"/>
          </a:xfrm>
        </p:grpSpPr>
        <p:sp>
          <p:nvSpPr>
            <p:cNvPr id="163" name="Google Shape;6678;g2d30ebb658d_0_19789">
              <a:extLst>
                <a:ext uri="{FF2B5EF4-FFF2-40B4-BE49-F238E27FC236}">
                  <a16:creationId xmlns:a16="http://schemas.microsoft.com/office/drawing/2014/main" id="{A99937AB-6840-6B34-7612-9A4E02879608}"/>
                </a:ext>
              </a:extLst>
            </p:cNvPr>
            <p:cNvSpPr/>
            <p:nvPr/>
          </p:nvSpPr>
          <p:spPr>
            <a:xfrm>
              <a:off x="7018522" y="1788674"/>
              <a:ext cx="4504880" cy="4835977"/>
            </a:xfrm>
            <a:prstGeom prst="roundRect">
              <a:avLst>
                <a:gd name="adj" fmla="val 2356"/>
              </a:avLst>
            </a:prstGeom>
            <a:solidFill>
              <a:schemeClr val="accent3">
                <a:alpha val="10000"/>
              </a:schemeClr>
            </a:solidFill>
            <a:ln w="9525">
              <a:solidFill>
                <a:schemeClr val="accent3"/>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64" name="TextBox 163">
              <a:extLst>
                <a:ext uri="{FF2B5EF4-FFF2-40B4-BE49-F238E27FC236}">
                  <a16:creationId xmlns:a16="http://schemas.microsoft.com/office/drawing/2014/main" id="{B162873C-68D6-1FBF-EF2E-6D582407B5D5}"/>
                </a:ext>
              </a:extLst>
            </p:cNvPr>
            <p:cNvSpPr txBox="1"/>
            <p:nvPr/>
          </p:nvSpPr>
          <p:spPr>
            <a:xfrm>
              <a:off x="8861754" y="1857773"/>
              <a:ext cx="795865" cy="2003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VCF Fleet</a:t>
              </a:r>
            </a:p>
          </p:txBody>
        </p:sp>
        <p:sp>
          <p:nvSpPr>
            <p:cNvPr id="165" name="Rounded Rectangle 164">
              <a:extLst>
                <a:ext uri="{FF2B5EF4-FFF2-40B4-BE49-F238E27FC236}">
                  <a16:creationId xmlns:a16="http://schemas.microsoft.com/office/drawing/2014/main" id="{6C810199-E1BC-5745-1AC9-726FE703C6D8}"/>
                </a:ext>
              </a:extLst>
            </p:cNvPr>
            <p:cNvSpPr/>
            <p:nvPr/>
          </p:nvSpPr>
          <p:spPr bwMode="gray">
            <a:xfrm>
              <a:off x="8683188" y="1662223"/>
              <a:ext cx="1135062" cy="151298"/>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Region A</a:t>
              </a:r>
            </a:p>
          </p:txBody>
        </p:sp>
        <p:grpSp>
          <p:nvGrpSpPr>
            <p:cNvPr id="166" name="Group 165">
              <a:extLst>
                <a:ext uri="{FF2B5EF4-FFF2-40B4-BE49-F238E27FC236}">
                  <a16:creationId xmlns:a16="http://schemas.microsoft.com/office/drawing/2014/main" id="{C983FD8F-A77B-26C0-A6A8-5E353E104ABC}"/>
                </a:ext>
              </a:extLst>
            </p:cNvPr>
            <p:cNvGrpSpPr/>
            <p:nvPr/>
          </p:nvGrpSpPr>
          <p:grpSpPr>
            <a:xfrm>
              <a:off x="7304012" y="2496579"/>
              <a:ext cx="1909145" cy="4021576"/>
              <a:chOff x="3879476" y="2059999"/>
              <a:chExt cx="1909145" cy="4021576"/>
            </a:xfrm>
          </p:grpSpPr>
          <p:sp>
            <p:nvSpPr>
              <p:cNvPr id="203" name="Google Shape;6678;g2d30ebb658d_0_19789">
                <a:extLst>
                  <a:ext uri="{FF2B5EF4-FFF2-40B4-BE49-F238E27FC236}">
                    <a16:creationId xmlns:a16="http://schemas.microsoft.com/office/drawing/2014/main" id="{B44C8346-CB79-F93E-4CB3-8D08DF32119D}"/>
                  </a:ext>
                </a:extLst>
              </p:cNvPr>
              <p:cNvSpPr/>
              <p:nvPr/>
            </p:nvSpPr>
            <p:spPr>
              <a:xfrm>
                <a:off x="3879476" y="2059999"/>
                <a:ext cx="1909145" cy="4021576"/>
              </a:xfrm>
              <a:prstGeom prst="roundRect">
                <a:avLst>
                  <a:gd name="adj" fmla="val 2356"/>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4" name="Google Shape;6678;g2d30ebb658d_0_19789">
                <a:extLst>
                  <a:ext uri="{FF2B5EF4-FFF2-40B4-BE49-F238E27FC236}">
                    <a16:creationId xmlns:a16="http://schemas.microsoft.com/office/drawing/2014/main" id="{6FA707E5-FA21-9F6D-384B-3C30551BA90D}"/>
                  </a:ext>
                </a:extLst>
              </p:cNvPr>
              <p:cNvSpPr/>
              <p:nvPr/>
            </p:nvSpPr>
            <p:spPr>
              <a:xfrm>
                <a:off x="3969834" y="5737352"/>
                <a:ext cx="1717288" cy="308820"/>
              </a:xfrm>
              <a:prstGeom prst="roundRect">
                <a:avLst>
                  <a:gd name="adj" fmla="val 12637"/>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5" name="TextBox 204">
                <a:extLst>
                  <a:ext uri="{FF2B5EF4-FFF2-40B4-BE49-F238E27FC236}">
                    <a16:creationId xmlns:a16="http://schemas.microsoft.com/office/drawing/2014/main" id="{0E4A2BA1-B2A8-A271-CD03-231013D92DC5}"/>
                  </a:ext>
                </a:extLst>
              </p:cNvPr>
              <p:cNvSpPr txBox="1"/>
              <p:nvPr/>
            </p:nvSpPr>
            <p:spPr>
              <a:xfrm>
                <a:off x="4248627" y="5825448"/>
                <a:ext cx="1315063" cy="11689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1B1D36"/>
                    </a:solidFill>
                    <a:effectLst/>
                    <a:uLnTx/>
                    <a:uFillTx/>
                    <a:latin typeface="Arial" panose="020B0604020202020204"/>
                    <a:ea typeface="+mn-ea"/>
                    <a:cs typeface="+mn-cs"/>
                  </a:rPr>
                  <a:t>Additional Workload Domains</a:t>
                </a:r>
              </a:p>
            </p:txBody>
          </p:sp>
          <p:pic>
            <p:nvPicPr>
              <p:cNvPr id="206" name="Google Shape;6699;p92">
                <a:extLst>
                  <a:ext uri="{FF2B5EF4-FFF2-40B4-BE49-F238E27FC236}">
                    <a16:creationId xmlns:a16="http://schemas.microsoft.com/office/drawing/2014/main" id="{35D42AB2-0628-8BCF-E3B5-092D1ADF4E34}"/>
                  </a:ext>
                </a:extLst>
              </p:cNvPr>
              <p:cNvPicPr preferRelativeResize="0">
                <a:picLocks noChangeAspect="1"/>
              </p:cNvPicPr>
              <p:nvPr/>
            </p:nvPicPr>
            <p:blipFill rotWithShape="1">
              <a:blip r:embed="rId3">
                <a:alphaModFix/>
              </a:blip>
              <a:srcRect/>
              <a:stretch/>
            </p:blipFill>
            <p:spPr>
              <a:xfrm>
                <a:off x="4015687" y="5766548"/>
                <a:ext cx="220483" cy="220483"/>
              </a:xfrm>
              <a:prstGeom prst="rect">
                <a:avLst/>
              </a:prstGeom>
              <a:noFill/>
              <a:ln>
                <a:noFill/>
              </a:ln>
            </p:spPr>
          </p:pic>
          <p:sp>
            <p:nvSpPr>
              <p:cNvPr id="207" name="Google Shape;6678;g2d30ebb658d_0_19789">
                <a:extLst>
                  <a:ext uri="{FF2B5EF4-FFF2-40B4-BE49-F238E27FC236}">
                    <a16:creationId xmlns:a16="http://schemas.microsoft.com/office/drawing/2014/main" id="{3A128CCC-9183-CEB3-1D26-37990C1EF8E2}"/>
                  </a:ext>
                </a:extLst>
              </p:cNvPr>
              <p:cNvSpPr/>
              <p:nvPr/>
            </p:nvSpPr>
            <p:spPr>
              <a:xfrm>
                <a:off x="3942438" y="4173972"/>
                <a:ext cx="1769718" cy="1537778"/>
              </a:xfrm>
              <a:prstGeom prst="roundRect">
                <a:avLst>
                  <a:gd name="adj" fmla="val 2356"/>
                </a:avLst>
              </a:prstGeom>
              <a:solidFill>
                <a:srgbClr val="E8E8EA"/>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8" name="Google Shape;6705;g2d30ebb658d_0_19789">
                <a:extLst>
                  <a:ext uri="{FF2B5EF4-FFF2-40B4-BE49-F238E27FC236}">
                    <a16:creationId xmlns:a16="http://schemas.microsoft.com/office/drawing/2014/main" id="{EC43B1C2-3AA6-B1A8-7FA2-F1A3B88A23BB}"/>
                  </a:ext>
                </a:extLst>
              </p:cNvPr>
              <p:cNvSpPr/>
              <p:nvPr/>
            </p:nvSpPr>
            <p:spPr>
              <a:xfrm>
                <a:off x="3992941" y="5157400"/>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09" name="Google Shape;6708;g2d30ebb658d_0_19789">
                <a:extLst>
                  <a:ext uri="{FF2B5EF4-FFF2-40B4-BE49-F238E27FC236}">
                    <a16:creationId xmlns:a16="http://schemas.microsoft.com/office/drawing/2014/main" id="{D73CE599-0AFB-0692-6554-939C3A9E9110}"/>
                  </a:ext>
                </a:extLst>
              </p:cNvPr>
              <p:cNvSpPr>
                <a:spLocks noChangeAspect="1"/>
              </p:cNvSpPr>
              <p:nvPr/>
            </p:nvSpPr>
            <p:spPr>
              <a:xfrm>
                <a:off x="5241740" y="5308919"/>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0" name="Google Shape;6709;g2d30ebb658d_0_19789">
                <a:extLst>
                  <a:ext uri="{FF2B5EF4-FFF2-40B4-BE49-F238E27FC236}">
                    <a16:creationId xmlns:a16="http://schemas.microsoft.com/office/drawing/2014/main" id="{87347B8A-CA47-4731-A9BD-E9B066FEEA5E}"/>
                  </a:ext>
                </a:extLst>
              </p:cNvPr>
              <p:cNvSpPr>
                <a:spLocks noChangeAspect="1"/>
              </p:cNvSpPr>
              <p:nvPr/>
            </p:nvSpPr>
            <p:spPr>
              <a:xfrm>
                <a:off x="5290638" y="5358291"/>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1" name="Google Shape;6711;g2d30ebb658d_0_19789">
                <a:extLst>
                  <a:ext uri="{FF2B5EF4-FFF2-40B4-BE49-F238E27FC236}">
                    <a16:creationId xmlns:a16="http://schemas.microsoft.com/office/drawing/2014/main" id="{A9013F24-7ECF-B15D-6226-D2353704E9DB}"/>
                  </a:ext>
                </a:extLst>
              </p:cNvPr>
              <p:cNvSpPr>
                <a:spLocks noChangeAspect="1"/>
              </p:cNvSpPr>
              <p:nvPr/>
            </p:nvSpPr>
            <p:spPr>
              <a:xfrm>
                <a:off x="4096820" y="5308800"/>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2" name="Google Shape;6712;g2d30ebb658d_0_19789">
                <a:extLst>
                  <a:ext uri="{FF2B5EF4-FFF2-40B4-BE49-F238E27FC236}">
                    <a16:creationId xmlns:a16="http://schemas.microsoft.com/office/drawing/2014/main" id="{A6A45BD7-6864-B2DF-C33D-37A09D6F3BE7}"/>
                  </a:ext>
                </a:extLst>
              </p:cNvPr>
              <p:cNvSpPr>
                <a:spLocks noChangeAspect="1"/>
              </p:cNvSpPr>
              <p:nvPr/>
            </p:nvSpPr>
            <p:spPr>
              <a:xfrm>
                <a:off x="4150930" y="5373510"/>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3" name="Google Shape;6714;g2d30ebb658d_0_19789">
                <a:extLst>
                  <a:ext uri="{FF2B5EF4-FFF2-40B4-BE49-F238E27FC236}">
                    <a16:creationId xmlns:a16="http://schemas.microsoft.com/office/drawing/2014/main" id="{BCE32E79-E8D0-CB56-988A-C8EB23811F44}"/>
                  </a:ext>
                </a:extLst>
              </p:cNvPr>
              <p:cNvSpPr>
                <a:spLocks noChangeAspect="1"/>
              </p:cNvSpPr>
              <p:nvPr/>
            </p:nvSpPr>
            <p:spPr>
              <a:xfrm>
                <a:off x="4665188" y="5308801"/>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4" name="Google Shape;6715;g2d30ebb658d_0_19789">
                <a:extLst>
                  <a:ext uri="{FF2B5EF4-FFF2-40B4-BE49-F238E27FC236}">
                    <a16:creationId xmlns:a16="http://schemas.microsoft.com/office/drawing/2014/main" id="{318A79E2-CED9-B0DB-A5FD-2051372FFD07}"/>
                  </a:ext>
                </a:extLst>
              </p:cNvPr>
              <p:cNvSpPr>
                <a:spLocks noChangeAspect="1"/>
              </p:cNvSpPr>
              <p:nvPr/>
            </p:nvSpPr>
            <p:spPr>
              <a:xfrm>
                <a:off x="4735335" y="5361805"/>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5" name="Google Shape;6704;g2d30ebb658d_0_19789">
                <a:extLst>
                  <a:ext uri="{FF2B5EF4-FFF2-40B4-BE49-F238E27FC236}">
                    <a16:creationId xmlns:a16="http://schemas.microsoft.com/office/drawing/2014/main" id="{CB87460E-96A7-7146-5D76-F1469B6C81E9}"/>
                  </a:ext>
                </a:extLst>
              </p:cNvPr>
              <p:cNvSpPr/>
              <p:nvPr/>
            </p:nvSpPr>
            <p:spPr>
              <a:xfrm>
                <a:off x="4028052" y="4232647"/>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16" name="TextBox 215">
                <a:extLst>
                  <a:ext uri="{FF2B5EF4-FFF2-40B4-BE49-F238E27FC236}">
                    <a16:creationId xmlns:a16="http://schemas.microsoft.com/office/drawing/2014/main" id="{16D56C24-93F6-3295-4A9E-89231940C427}"/>
                  </a:ext>
                </a:extLst>
              </p:cNvPr>
              <p:cNvSpPr txBox="1"/>
              <p:nvPr/>
            </p:nvSpPr>
            <p:spPr>
              <a:xfrm>
                <a:off x="4445184" y="5181090"/>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217" name="Google Shape;6678;g2d30ebb658d_0_19789">
                <a:extLst>
                  <a:ext uri="{FF2B5EF4-FFF2-40B4-BE49-F238E27FC236}">
                    <a16:creationId xmlns:a16="http://schemas.microsoft.com/office/drawing/2014/main" id="{6F565E0E-C4BF-2314-9CF6-4722DCAAED31}"/>
                  </a:ext>
                </a:extLst>
              </p:cNvPr>
              <p:cNvSpPr/>
              <p:nvPr/>
            </p:nvSpPr>
            <p:spPr>
              <a:xfrm>
                <a:off x="4255553" y="4709931"/>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8" name="Google Shape;6678;g2d30ebb658d_0_19789">
                <a:extLst>
                  <a:ext uri="{FF2B5EF4-FFF2-40B4-BE49-F238E27FC236}">
                    <a16:creationId xmlns:a16="http://schemas.microsoft.com/office/drawing/2014/main" id="{8BF1483D-59F6-3B30-D0DD-A871BB074015}"/>
                  </a:ext>
                </a:extLst>
              </p:cNvPr>
              <p:cNvSpPr/>
              <p:nvPr/>
            </p:nvSpPr>
            <p:spPr>
              <a:xfrm>
                <a:off x="4259266" y="4519289"/>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vCenter</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19" name="Google Shape;6678;g2d30ebb658d_0_19789">
                <a:extLst>
                  <a:ext uri="{FF2B5EF4-FFF2-40B4-BE49-F238E27FC236}">
                    <a16:creationId xmlns:a16="http://schemas.microsoft.com/office/drawing/2014/main" id="{5C236A54-FC7A-FF18-7B0F-AA8931D79203}"/>
                  </a:ext>
                </a:extLst>
              </p:cNvPr>
              <p:cNvSpPr/>
              <p:nvPr/>
            </p:nvSpPr>
            <p:spPr>
              <a:xfrm>
                <a:off x="4498743" y="4905894"/>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220" name="Google Shape;6678;g2d30ebb658d_0_19789">
                <a:extLst>
                  <a:ext uri="{FF2B5EF4-FFF2-40B4-BE49-F238E27FC236}">
                    <a16:creationId xmlns:a16="http://schemas.microsoft.com/office/drawing/2014/main" id="{A8BB11CE-370D-26C5-3755-49201465113F}"/>
                  </a:ext>
                </a:extLst>
              </p:cNvPr>
              <p:cNvSpPr/>
              <p:nvPr/>
            </p:nvSpPr>
            <p:spPr>
              <a:xfrm>
                <a:off x="4436459" y="4950976"/>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221" name="Google Shape;6678;g2d30ebb658d_0_19789">
                <a:extLst>
                  <a:ext uri="{FF2B5EF4-FFF2-40B4-BE49-F238E27FC236}">
                    <a16:creationId xmlns:a16="http://schemas.microsoft.com/office/drawing/2014/main" id="{D22A62B9-DF23-02D9-4EFE-3B02143ED487}"/>
                  </a:ext>
                </a:extLst>
              </p:cNvPr>
              <p:cNvSpPr/>
              <p:nvPr/>
            </p:nvSpPr>
            <p:spPr>
              <a:xfrm>
                <a:off x="3947196" y="233683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2" name="Google Shape;6705;g2d30ebb658d_0_19789">
                <a:extLst>
                  <a:ext uri="{FF2B5EF4-FFF2-40B4-BE49-F238E27FC236}">
                    <a16:creationId xmlns:a16="http://schemas.microsoft.com/office/drawing/2014/main" id="{0C853D98-9B84-9FCF-DC98-983A72D57FDA}"/>
                  </a:ext>
                </a:extLst>
              </p:cNvPr>
              <p:cNvSpPr/>
              <p:nvPr/>
            </p:nvSpPr>
            <p:spPr>
              <a:xfrm>
                <a:off x="3997699" y="3512812"/>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3" name="Google Shape;6708;g2d30ebb658d_0_19789">
                <a:extLst>
                  <a:ext uri="{FF2B5EF4-FFF2-40B4-BE49-F238E27FC236}">
                    <a16:creationId xmlns:a16="http://schemas.microsoft.com/office/drawing/2014/main" id="{DF7FBF71-1EC8-5460-060A-D091A98F48C5}"/>
                  </a:ext>
                </a:extLst>
              </p:cNvPr>
              <p:cNvSpPr>
                <a:spLocks noChangeAspect="1"/>
              </p:cNvSpPr>
              <p:nvPr/>
            </p:nvSpPr>
            <p:spPr>
              <a:xfrm>
                <a:off x="5246498" y="3664331"/>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4" name="Google Shape;6709;g2d30ebb658d_0_19789">
                <a:extLst>
                  <a:ext uri="{FF2B5EF4-FFF2-40B4-BE49-F238E27FC236}">
                    <a16:creationId xmlns:a16="http://schemas.microsoft.com/office/drawing/2014/main" id="{62AC30DF-15F5-4C01-C577-2008C988550E}"/>
                  </a:ext>
                </a:extLst>
              </p:cNvPr>
              <p:cNvSpPr>
                <a:spLocks noChangeAspect="1"/>
              </p:cNvSpPr>
              <p:nvPr/>
            </p:nvSpPr>
            <p:spPr>
              <a:xfrm>
                <a:off x="5295396" y="3713703"/>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25" name="Google Shape;6711;g2d30ebb658d_0_19789">
                <a:extLst>
                  <a:ext uri="{FF2B5EF4-FFF2-40B4-BE49-F238E27FC236}">
                    <a16:creationId xmlns:a16="http://schemas.microsoft.com/office/drawing/2014/main" id="{9B20322E-41A6-6D95-1639-E96E70EEDE0B}"/>
                  </a:ext>
                </a:extLst>
              </p:cNvPr>
              <p:cNvSpPr>
                <a:spLocks noChangeAspect="1"/>
              </p:cNvSpPr>
              <p:nvPr/>
            </p:nvSpPr>
            <p:spPr>
              <a:xfrm>
                <a:off x="4101578" y="3664212"/>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6" name="Google Shape;6712;g2d30ebb658d_0_19789">
                <a:extLst>
                  <a:ext uri="{FF2B5EF4-FFF2-40B4-BE49-F238E27FC236}">
                    <a16:creationId xmlns:a16="http://schemas.microsoft.com/office/drawing/2014/main" id="{B16D3FB9-C89A-1E0C-64E9-2F831D6213D8}"/>
                  </a:ext>
                </a:extLst>
              </p:cNvPr>
              <p:cNvSpPr>
                <a:spLocks noChangeAspect="1"/>
              </p:cNvSpPr>
              <p:nvPr/>
            </p:nvSpPr>
            <p:spPr>
              <a:xfrm>
                <a:off x="4155688" y="3728922"/>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27" name="Google Shape;6714;g2d30ebb658d_0_19789">
                <a:extLst>
                  <a:ext uri="{FF2B5EF4-FFF2-40B4-BE49-F238E27FC236}">
                    <a16:creationId xmlns:a16="http://schemas.microsoft.com/office/drawing/2014/main" id="{BF60E799-5965-39B7-F856-4684F08CA922}"/>
                  </a:ext>
                </a:extLst>
              </p:cNvPr>
              <p:cNvSpPr>
                <a:spLocks noChangeAspect="1"/>
              </p:cNvSpPr>
              <p:nvPr/>
            </p:nvSpPr>
            <p:spPr>
              <a:xfrm>
                <a:off x="4669946" y="3664213"/>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8" name="Google Shape;6715;g2d30ebb658d_0_19789">
                <a:extLst>
                  <a:ext uri="{FF2B5EF4-FFF2-40B4-BE49-F238E27FC236}">
                    <a16:creationId xmlns:a16="http://schemas.microsoft.com/office/drawing/2014/main" id="{510C9546-436F-53A4-629D-C95A1E7391AB}"/>
                  </a:ext>
                </a:extLst>
              </p:cNvPr>
              <p:cNvSpPr>
                <a:spLocks noChangeAspect="1"/>
              </p:cNvSpPr>
              <p:nvPr/>
            </p:nvSpPr>
            <p:spPr>
              <a:xfrm>
                <a:off x="4740093" y="3717217"/>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29" name="Google Shape;6704;g2d30ebb658d_0_19789">
                <a:extLst>
                  <a:ext uri="{FF2B5EF4-FFF2-40B4-BE49-F238E27FC236}">
                    <a16:creationId xmlns:a16="http://schemas.microsoft.com/office/drawing/2014/main" id="{73272073-AE69-607D-55FB-04C30E27531A}"/>
                  </a:ext>
                </a:extLst>
              </p:cNvPr>
              <p:cNvSpPr/>
              <p:nvPr/>
            </p:nvSpPr>
            <p:spPr>
              <a:xfrm>
                <a:off x="4032810" y="2397562"/>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30" name="TextBox 229">
                <a:extLst>
                  <a:ext uri="{FF2B5EF4-FFF2-40B4-BE49-F238E27FC236}">
                    <a16:creationId xmlns:a16="http://schemas.microsoft.com/office/drawing/2014/main" id="{B5C80048-C50C-EAAB-E84D-4D92DBCA6E85}"/>
                  </a:ext>
                </a:extLst>
              </p:cNvPr>
              <p:cNvSpPr txBox="1"/>
              <p:nvPr/>
            </p:nvSpPr>
            <p:spPr>
              <a:xfrm>
                <a:off x="4449942" y="353650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231" name="Google Shape;6705;g2d30ebb658d_0_19789">
                <a:extLst>
                  <a:ext uri="{FF2B5EF4-FFF2-40B4-BE49-F238E27FC236}">
                    <a16:creationId xmlns:a16="http://schemas.microsoft.com/office/drawing/2014/main" id="{029A1238-8511-7BB1-E2B7-3D6E8A73C94E}"/>
                  </a:ext>
                </a:extLst>
              </p:cNvPr>
              <p:cNvSpPr/>
              <p:nvPr/>
            </p:nvSpPr>
            <p:spPr>
              <a:xfrm>
                <a:off x="4264024" y="2650445"/>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32" name="Google Shape;6678;g2d30ebb658d_0_19789">
                <a:extLst>
                  <a:ext uri="{FF2B5EF4-FFF2-40B4-BE49-F238E27FC236}">
                    <a16:creationId xmlns:a16="http://schemas.microsoft.com/office/drawing/2014/main" id="{4B5F9B99-2B97-42DB-11EF-739559C127DD}"/>
                  </a:ext>
                </a:extLst>
              </p:cNvPr>
              <p:cNvSpPr/>
              <p:nvPr/>
            </p:nvSpPr>
            <p:spPr>
              <a:xfrm>
                <a:off x="4514882" y="3248940"/>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233" name="Google Shape;6678;g2d30ebb658d_0_19789">
                <a:extLst>
                  <a:ext uri="{FF2B5EF4-FFF2-40B4-BE49-F238E27FC236}">
                    <a16:creationId xmlns:a16="http://schemas.microsoft.com/office/drawing/2014/main" id="{16CC44FB-6725-D5FB-A101-688D51DB6CE6}"/>
                  </a:ext>
                </a:extLst>
              </p:cNvPr>
              <p:cNvSpPr/>
              <p:nvPr/>
            </p:nvSpPr>
            <p:spPr>
              <a:xfrm>
                <a:off x="4264024" y="2852256"/>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34" name="TextBox 233">
                <a:extLst>
                  <a:ext uri="{FF2B5EF4-FFF2-40B4-BE49-F238E27FC236}">
                    <a16:creationId xmlns:a16="http://schemas.microsoft.com/office/drawing/2014/main" id="{BB655DD8-1241-7D77-4F4F-60047F38CC88}"/>
                  </a:ext>
                </a:extLst>
              </p:cNvPr>
              <p:cNvSpPr txBox="1"/>
              <p:nvPr/>
            </p:nvSpPr>
            <p:spPr>
              <a:xfrm>
                <a:off x="4557413" y="2136123"/>
                <a:ext cx="87844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Instance 1</a:t>
                </a:r>
              </a:p>
            </p:txBody>
          </p:sp>
          <p:sp>
            <p:nvSpPr>
              <p:cNvPr id="235" name="Google Shape;6705;g2d30ebb658d_0_19789">
                <a:extLst>
                  <a:ext uri="{FF2B5EF4-FFF2-40B4-BE49-F238E27FC236}">
                    <a16:creationId xmlns:a16="http://schemas.microsoft.com/office/drawing/2014/main" id="{27B675B0-839C-09C1-1007-3143A4212BBE}"/>
                  </a:ext>
                </a:extLst>
              </p:cNvPr>
              <p:cNvSpPr/>
              <p:nvPr/>
            </p:nvSpPr>
            <p:spPr>
              <a:xfrm>
                <a:off x="4264024" y="3048354"/>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36" name="Google Shape;6678;g2d30ebb658d_0_19789">
                <a:extLst>
                  <a:ext uri="{FF2B5EF4-FFF2-40B4-BE49-F238E27FC236}">
                    <a16:creationId xmlns:a16="http://schemas.microsoft.com/office/drawing/2014/main" id="{366B36EA-158A-6797-4517-3649B7205938}"/>
                  </a:ext>
                </a:extLst>
              </p:cNvPr>
              <p:cNvSpPr/>
              <p:nvPr/>
            </p:nvSpPr>
            <p:spPr>
              <a:xfrm>
                <a:off x="4452598" y="3294022"/>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pic>
            <p:nvPicPr>
              <p:cNvPr id="237" name="Google Shape;6699;p92">
                <a:extLst>
                  <a:ext uri="{FF2B5EF4-FFF2-40B4-BE49-F238E27FC236}">
                    <a16:creationId xmlns:a16="http://schemas.microsoft.com/office/drawing/2014/main" id="{1757F42B-89E3-7EA0-E5AF-2FC061B4E108}"/>
                  </a:ext>
                </a:extLst>
              </p:cNvPr>
              <p:cNvPicPr preferRelativeResize="0">
                <a:picLocks noChangeAspect="1"/>
              </p:cNvPicPr>
              <p:nvPr/>
            </p:nvPicPr>
            <p:blipFill rotWithShape="1">
              <a:blip r:embed="rId3">
                <a:alphaModFix/>
              </a:blip>
              <a:srcRect/>
              <a:stretch/>
            </p:blipFill>
            <p:spPr>
              <a:xfrm>
                <a:off x="4279869" y="2093777"/>
                <a:ext cx="220483" cy="220483"/>
              </a:xfrm>
              <a:prstGeom prst="rect">
                <a:avLst/>
              </a:prstGeom>
              <a:noFill/>
              <a:ln>
                <a:noFill/>
              </a:ln>
            </p:spPr>
          </p:pic>
        </p:grpSp>
        <p:grpSp>
          <p:nvGrpSpPr>
            <p:cNvPr id="167" name="Group 166">
              <a:extLst>
                <a:ext uri="{FF2B5EF4-FFF2-40B4-BE49-F238E27FC236}">
                  <a16:creationId xmlns:a16="http://schemas.microsoft.com/office/drawing/2014/main" id="{203BB6BE-98E3-8D16-F98A-1C9212A98DF3}"/>
                </a:ext>
              </a:extLst>
            </p:cNvPr>
            <p:cNvGrpSpPr/>
            <p:nvPr/>
          </p:nvGrpSpPr>
          <p:grpSpPr>
            <a:xfrm>
              <a:off x="9386131" y="2498110"/>
              <a:ext cx="1909145" cy="4021576"/>
              <a:chOff x="3879476" y="2059999"/>
              <a:chExt cx="1909145" cy="4021576"/>
            </a:xfrm>
          </p:grpSpPr>
          <p:sp>
            <p:nvSpPr>
              <p:cNvPr id="168" name="Google Shape;6678;g2d30ebb658d_0_19789">
                <a:extLst>
                  <a:ext uri="{FF2B5EF4-FFF2-40B4-BE49-F238E27FC236}">
                    <a16:creationId xmlns:a16="http://schemas.microsoft.com/office/drawing/2014/main" id="{8B5A37EC-D13D-8680-F20B-ADC3D8C49D23}"/>
                  </a:ext>
                </a:extLst>
              </p:cNvPr>
              <p:cNvSpPr/>
              <p:nvPr/>
            </p:nvSpPr>
            <p:spPr>
              <a:xfrm>
                <a:off x="3879476" y="2059999"/>
                <a:ext cx="1909145" cy="4021576"/>
              </a:xfrm>
              <a:prstGeom prst="roundRect">
                <a:avLst>
                  <a:gd name="adj" fmla="val 2356"/>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69" name="Google Shape;6678;g2d30ebb658d_0_19789">
                <a:extLst>
                  <a:ext uri="{FF2B5EF4-FFF2-40B4-BE49-F238E27FC236}">
                    <a16:creationId xmlns:a16="http://schemas.microsoft.com/office/drawing/2014/main" id="{AEABB819-A897-891B-3615-4E2AABA26018}"/>
                  </a:ext>
                </a:extLst>
              </p:cNvPr>
              <p:cNvSpPr/>
              <p:nvPr/>
            </p:nvSpPr>
            <p:spPr>
              <a:xfrm>
                <a:off x="3969834" y="5737352"/>
                <a:ext cx="1717288" cy="308820"/>
              </a:xfrm>
              <a:prstGeom prst="roundRect">
                <a:avLst>
                  <a:gd name="adj" fmla="val 12637"/>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0" name="TextBox 169">
                <a:extLst>
                  <a:ext uri="{FF2B5EF4-FFF2-40B4-BE49-F238E27FC236}">
                    <a16:creationId xmlns:a16="http://schemas.microsoft.com/office/drawing/2014/main" id="{94A16A49-ADA0-4C7F-FD14-8821CE1309A3}"/>
                  </a:ext>
                </a:extLst>
              </p:cNvPr>
              <p:cNvSpPr txBox="1"/>
              <p:nvPr/>
            </p:nvSpPr>
            <p:spPr>
              <a:xfrm>
                <a:off x="4248627" y="5825448"/>
                <a:ext cx="1315063" cy="11689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1B1D36"/>
                    </a:solidFill>
                    <a:effectLst/>
                    <a:uLnTx/>
                    <a:uFillTx/>
                    <a:latin typeface="Arial" panose="020B0604020202020204"/>
                    <a:ea typeface="+mn-ea"/>
                    <a:cs typeface="+mn-cs"/>
                  </a:rPr>
                  <a:t>Additional Workload Domains</a:t>
                </a:r>
              </a:p>
            </p:txBody>
          </p:sp>
          <p:pic>
            <p:nvPicPr>
              <p:cNvPr id="171" name="Google Shape;6699;p92">
                <a:extLst>
                  <a:ext uri="{FF2B5EF4-FFF2-40B4-BE49-F238E27FC236}">
                    <a16:creationId xmlns:a16="http://schemas.microsoft.com/office/drawing/2014/main" id="{C187C025-61B1-0A1B-3979-961044327226}"/>
                  </a:ext>
                </a:extLst>
              </p:cNvPr>
              <p:cNvPicPr preferRelativeResize="0">
                <a:picLocks noChangeAspect="1"/>
              </p:cNvPicPr>
              <p:nvPr/>
            </p:nvPicPr>
            <p:blipFill rotWithShape="1">
              <a:blip r:embed="rId3">
                <a:alphaModFix/>
              </a:blip>
              <a:srcRect/>
              <a:stretch/>
            </p:blipFill>
            <p:spPr>
              <a:xfrm>
                <a:off x="4015687" y="5766548"/>
                <a:ext cx="220483" cy="220483"/>
              </a:xfrm>
              <a:prstGeom prst="rect">
                <a:avLst/>
              </a:prstGeom>
              <a:noFill/>
              <a:ln>
                <a:noFill/>
              </a:ln>
            </p:spPr>
          </p:pic>
          <p:sp>
            <p:nvSpPr>
              <p:cNvPr id="172" name="Google Shape;6678;g2d30ebb658d_0_19789">
                <a:extLst>
                  <a:ext uri="{FF2B5EF4-FFF2-40B4-BE49-F238E27FC236}">
                    <a16:creationId xmlns:a16="http://schemas.microsoft.com/office/drawing/2014/main" id="{D274E6F9-C437-88EE-D6F5-D06EE8BC7824}"/>
                  </a:ext>
                </a:extLst>
              </p:cNvPr>
              <p:cNvSpPr/>
              <p:nvPr/>
            </p:nvSpPr>
            <p:spPr>
              <a:xfrm>
                <a:off x="3942438" y="4173972"/>
                <a:ext cx="1769718" cy="1537778"/>
              </a:xfrm>
              <a:prstGeom prst="roundRect">
                <a:avLst>
                  <a:gd name="adj" fmla="val 2356"/>
                </a:avLst>
              </a:prstGeom>
              <a:solidFill>
                <a:srgbClr val="E8E8EA"/>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3" name="Google Shape;6705;g2d30ebb658d_0_19789">
                <a:extLst>
                  <a:ext uri="{FF2B5EF4-FFF2-40B4-BE49-F238E27FC236}">
                    <a16:creationId xmlns:a16="http://schemas.microsoft.com/office/drawing/2014/main" id="{3E160A95-8648-E479-5688-CE7DB9D5A09E}"/>
                  </a:ext>
                </a:extLst>
              </p:cNvPr>
              <p:cNvSpPr/>
              <p:nvPr/>
            </p:nvSpPr>
            <p:spPr>
              <a:xfrm>
                <a:off x="3992941" y="5157400"/>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4" name="Google Shape;6708;g2d30ebb658d_0_19789">
                <a:extLst>
                  <a:ext uri="{FF2B5EF4-FFF2-40B4-BE49-F238E27FC236}">
                    <a16:creationId xmlns:a16="http://schemas.microsoft.com/office/drawing/2014/main" id="{798842E7-6C49-DEDA-72CE-A51C0E61361C}"/>
                  </a:ext>
                </a:extLst>
              </p:cNvPr>
              <p:cNvSpPr>
                <a:spLocks noChangeAspect="1"/>
              </p:cNvSpPr>
              <p:nvPr/>
            </p:nvSpPr>
            <p:spPr>
              <a:xfrm>
                <a:off x="5241740" y="5308919"/>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5" name="Google Shape;6709;g2d30ebb658d_0_19789">
                <a:extLst>
                  <a:ext uri="{FF2B5EF4-FFF2-40B4-BE49-F238E27FC236}">
                    <a16:creationId xmlns:a16="http://schemas.microsoft.com/office/drawing/2014/main" id="{9B727509-F09C-7F4C-4A15-63510B4A81C7}"/>
                  </a:ext>
                </a:extLst>
              </p:cNvPr>
              <p:cNvSpPr>
                <a:spLocks noChangeAspect="1"/>
              </p:cNvSpPr>
              <p:nvPr/>
            </p:nvSpPr>
            <p:spPr>
              <a:xfrm>
                <a:off x="5290638" y="5358291"/>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76" name="Google Shape;6711;g2d30ebb658d_0_19789">
                <a:extLst>
                  <a:ext uri="{FF2B5EF4-FFF2-40B4-BE49-F238E27FC236}">
                    <a16:creationId xmlns:a16="http://schemas.microsoft.com/office/drawing/2014/main" id="{43D69462-B235-5439-C636-93836B47C1DE}"/>
                  </a:ext>
                </a:extLst>
              </p:cNvPr>
              <p:cNvSpPr>
                <a:spLocks noChangeAspect="1"/>
              </p:cNvSpPr>
              <p:nvPr/>
            </p:nvSpPr>
            <p:spPr>
              <a:xfrm>
                <a:off x="4096820" y="5308800"/>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7" name="Google Shape;6712;g2d30ebb658d_0_19789">
                <a:extLst>
                  <a:ext uri="{FF2B5EF4-FFF2-40B4-BE49-F238E27FC236}">
                    <a16:creationId xmlns:a16="http://schemas.microsoft.com/office/drawing/2014/main" id="{D815D0C1-E6AA-3F93-4DAE-A4C9A2DB204D}"/>
                  </a:ext>
                </a:extLst>
              </p:cNvPr>
              <p:cNvSpPr>
                <a:spLocks noChangeAspect="1"/>
              </p:cNvSpPr>
              <p:nvPr/>
            </p:nvSpPr>
            <p:spPr>
              <a:xfrm>
                <a:off x="4150930" y="5373510"/>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78" name="Google Shape;6714;g2d30ebb658d_0_19789">
                <a:extLst>
                  <a:ext uri="{FF2B5EF4-FFF2-40B4-BE49-F238E27FC236}">
                    <a16:creationId xmlns:a16="http://schemas.microsoft.com/office/drawing/2014/main" id="{18507EC4-ABE5-9102-9499-86A7429206C1}"/>
                  </a:ext>
                </a:extLst>
              </p:cNvPr>
              <p:cNvSpPr>
                <a:spLocks noChangeAspect="1"/>
              </p:cNvSpPr>
              <p:nvPr/>
            </p:nvSpPr>
            <p:spPr>
              <a:xfrm>
                <a:off x="4665188" y="5308801"/>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79" name="Google Shape;6715;g2d30ebb658d_0_19789">
                <a:extLst>
                  <a:ext uri="{FF2B5EF4-FFF2-40B4-BE49-F238E27FC236}">
                    <a16:creationId xmlns:a16="http://schemas.microsoft.com/office/drawing/2014/main" id="{8083C5ED-2502-8FBE-0D89-C778C1AC2A75}"/>
                  </a:ext>
                </a:extLst>
              </p:cNvPr>
              <p:cNvSpPr>
                <a:spLocks noChangeAspect="1"/>
              </p:cNvSpPr>
              <p:nvPr/>
            </p:nvSpPr>
            <p:spPr>
              <a:xfrm>
                <a:off x="4735335" y="5361805"/>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80" name="Google Shape;6704;g2d30ebb658d_0_19789">
                <a:extLst>
                  <a:ext uri="{FF2B5EF4-FFF2-40B4-BE49-F238E27FC236}">
                    <a16:creationId xmlns:a16="http://schemas.microsoft.com/office/drawing/2014/main" id="{B01292BF-81A7-5DBB-9836-6244C9965371}"/>
                  </a:ext>
                </a:extLst>
              </p:cNvPr>
              <p:cNvSpPr/>
              <p:nvPr/>
            </p:nvSpPr>
            <p:spPr>
              <a:xfrm>
                <a:off x="4028052" y="4232647"/>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1" name="TextBox 180">
                <a:extLst>
                  <a:ext uri="{FF2B5EF4-FFF2-40B4-BE49-F238E27FC236}">
                    <a16:creationId xmlns:a16="http://schemas.microsoft.com/office/drawing/2014/main" id="{A3E1E04C-CB05-BA56-C49E-B0634CD4E855}"/>
                  </a:ext>
                </a:extLst>
              </p:cNvPr>
              <p:cNvSpPr txBox="1"/>
              <p:nvPr/>
            </p:nvSpPr>
            <p:spPr>
              <a:xfrm>
                <a:off x="4445184" y="5181090"/>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182" name="Google Shape;6678;g2d30ebb658d_0_19789">
                <a:extLst>
                  <a:ext uri="{FF2B5EF4-FFF2-40B4-BE49-F238E27FC236}">
                    <a16:creationId xmlns:a16="http://schemas.microsoft.com/office/drawing/2014/main" id="{7FBAE97B-AF21-A1DD-E1D4-77CBD09859EC}"/>
                  </a:ext>
                </a:extLst>
              </p:cNvPr>
              <p:cNvSpPr/>
              <p:nvPr/>
            </p:nvSpPr>
            <p:spPr>
              <a:xfrm>
                <a:off x="4255553" y="4709931"/>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83" name="Google Shape;6678;g2d30ebb658d_0_19789">
                <a:extLst>
                  <a:ext uri="{FF2B5EF4-FFF2-40B4-BE49-F238E27FC236}">
                    <a16:creationId xmlns:a16="http://schemas.microsoft.com/office/drawing/2014/main" id="{F734328B-A4E6-04FF-E3F7-1E578B51FD06}"/>
                  </a:ext>
                </a:extLst>
              </p:cNvPr>
              <p:cNvSpPr/>
              <p:nvPr/>
            </p:nvSpPr>
            <p:spPr>
              <a:xfrm>
                <a:off x="4259266" y="4519289"/>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vCenter</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84" name="Google Shape;6678;g2d30ebb658d_0_19789">
                <a:extLst>
                  <a:ext uri="{FF2B5EF4-FFF2-40B4-BE49-F238E27FC236}">
                    <a16:creationId xmlns:a16="http://schemas.microsoft.com/office/drawing/2014/main" id="{E2AB6C6E-0D49-5224-52A4-30575BB44D23}"/>
                  </a:ext>
                </a:extLst>
              </p:cNvPr>
              <p:cNvSpPr/>
              <p:nvPr/>
            </p:nvSpPr>
            <p:spPr>
              <a:xfrm>
                <a:off x="4498743" y="4905894"/>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185" name="Google Shape;6678;g2d30ebb658d_0_19789">
                <a:extLst>
                  <a:ext uri="{FF2B5EF4-FFF2-40B4-BE49-F238E27FC236}">
                    <a16:creationId xmlns:a16="http://schemas.microsoft.com/office/drawing/2014/main" id="{0F0CC2CB-1241-9CFC-41F4-8B3CDCC8AACC}"/>
                  </a:ext>
                </a:extLst>
              </p:cNvPr>
              <p:cNvSpPr/>
              <p:nvPr/>
            </p:nvSpPr>
            <p:spPr>
              <a:xfrm>
                <a:off x="4436459" y="4950976"/>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186" name="Google Shape;6678;g2d30ebb658d_0_19789">
                <a:extLst>
                  <a:ext uri="{FF2B5EF4-FFF2-40B4-BE49-F238E27FC236}">
                    <a16:creationId xmlns:a16="http://schemas.microsoft.com/office/drawing/2014/main" id="{8A638410-A845-7A60-2CEF-10DDD09A7177}"/>
                  </a:ext>
                </a:extLst>
              </p:cNvPr>
              <p:cNvSpPr/>
              <p:nvPr/>
            </p:nvSpPr>
            <p:spPr>
              <a:xfrm>
                <a:off x="3947196" y="233683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87" name="Google Shape;6705;g2d30ebb658d_0_19789">
                <a:extLst>
                  <a:ext uri="{FF2B5EF4-FFF2-40B4-BE49-F238E27FC236}">
                    <a16:creationId xmlns:a16="http://schemas.microsoft.com/office/drawing/2014/main" id="{B25F1052-45F8-F8C6-4D0E-23DAEF62B91A}"/>
                  </a:ext>
                </a:extLst>
              </p:cNvPr>
              <p:cNvSpPr/>
              <p:nvPr/>
            </p:nvSpPr>
            <p:spPr>
              <a:xfrm>
                <a:off x="3997699" y="3512812"/>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88" name="Google Shape;6708;g2d30ebb658d_0_19789">
                <a:extLst>
                  <a:ext uri="{FF2B5EF4-FFF2-40B4-BE49-F238E27FC236}">
                    <a16:creationId xmlns:a16="http://schemas.microsoft.com/office/drawing/2014/main" id="{34ADE1D2-FF10-D61E-8777-458E71098101}"/>
                  </a:ext>
                </a:extLst>
              </p:cNvPr>
              <p:cNvSpPr>
                <a:spLocks noChangeAspect="1"/>
              </p:cNvSpPr>
              <p:nvPr/>
            </p:nvSpPr>
            <p:spPr>
              <a:xfrm>
                <a:off x="5246498" y="3664331"/>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89" name="Google Shape;6709;g2d30ebb658d_0_19789">
                <a:extLst>
                  <a:ext uri="{FF2B5EF4-FFF2-40B4-BE49-F238E27FC236}">
                    <a16:creationId xmlns:a16="http://schemas.microsoft.com/office/drawing/2014/main" id="{4D539DE6-1CF1-9AC6-6CE4-E3C0B15D5B11}"/>
                  </a:ext>
                </a:extLst>
              </p:cNvPr>
              <p:cNvSpPr>
                <a:spLocks noChangeAspect="1"/>
              </p:cNvSpPr>
              <p:nvPr/>
            </p:nvSpPr>
            <p:spPr>
              <a:xfrm>
                <a:off x="5295396" y="3713703"/>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90" name="Google Shape;6711;g2d30ebb658d_0_19789">
                <a:extLst>
                  <a:ext uri="{FF2B5EF4-FFF2-40B4-BE49-F238E27FC236}">
                    <a16:creationId xmlns:a16="http://schemas.microsoft.com/office/drawing/2014/main" id="{07FBD691-D1DB-7A2B-CB5F-8F72DB644542}"/>
                  </a:ext>
                </a:extLst>
              </p:cNvPr>
              <p:cNvSpPr>
                <a:spLocks noChangeAspect="1"/>
              </p:cNvSpPr>
              <p:nvPr/>
            </p:nvSpPr>
            <p:spPr>
              <a:xfrm>
                <a:off x="4101578" y="3664212"/>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91" name="Google Shape;6712;g2d30ebb658d_0_19789">
                <a:extLst>
                  <a:ext uri="{FF2B5EF4-FFF2-40B4-BE49-F238E27FC236}">
                    <a16:creationId xmlns:a16="http://schemas.microsoft.com/office/drawing/2014/main" id="{B6F66416-3351-565D-F537-2F5E94DBB6A0}"/>
                  </a:ext>
                </a:extLst>
              </p:cNvPr>
              <p:cNvSpPr>
                <a:spLocks noChangeAspect="1"/>
              </p:cNvSpPr>
              <p:nvPr/>
            </p:nvSpPr>
            <p:spPr>
              <a:xfrm>
                <a:off x="4155688" y="3728922"/>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92" name="Google Shape;6714;g2d30ebb658d_0_19789">
                <a:extLst>
                  <a:ext uri="{FF2B5EF4-FFF2-40B4-BE49-F238E27FC236}">
                    <a16:creationId xmlns:a16="http://schemas.microsoft.com/office/drawing/2014/main" id="{CA43577D-AABD-7947-8C86-8D31A2610297}"/>
                  </a:ext>
                </a:extLst>
              </p:cNvPr>
              <p:cNvSpPr>
                <a:spLocks noChangeAspect="1"/>
              </p:cNvSpPr>
              <p:nvPr/>
            </p:nvSpPr>
            <p:spPr>
              <a:xfrm>
                <a:off x="4669946" y="3664213"/>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93" name="Google Shape;6715;g2d30ebb658d_0_19789">
                <a:extLst>
                  <a:ext uri="{FF2B5EF4-FFF2-40B4-BE49-F238E27FC236}">
                    <a16:creationId xmlns:a16="http://schemas.microsoft.com/office/drawing/2014/main" id="{5D4E3BFE-BF6A-4998-A587-DE448B9D53DD}"/>
                  </a:ext>
                </a:extLst>
              </p:cNvPr>
              <p:cNvSpPr>
                <a:spLocks noChangeAspect="1"/>
              </p:cNvSpPr>
              <p:nvPr/>
            </p:nvSpPr>
            <p:spPr>
              <a:xfrm>
                <a:off x="4740093" y="3717217"/>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94" name="Google Shape;6704;g2d30ebb658d_0_19789">
                <a:extLst>
                  <a:ext uri="{FF2B5EF4-FFF2-40B4-BE49-F238E27FC236}">
                    <a16:creationId xmlns:a16="http://schemas.microsoft.com/office/drawing/2014/main" id="{79643E63-00BE-7D88-3A5A-B677928579CE}"/>
                  </a:ext>
                </a:extLst>
              </p:cNvPr>
              <p:cNvSpPr/>
              <p:nvPr/>
            </p:nvSpPr>
            <p:spPr>
              <a:xfrm>
                <a:off x="4032810" y="2397562"/>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5" name="TextBox 194">
                <a:extLst>
                  <a:ext uri="{FF2B5EF4-FFF2-40B4-BE49-F238E27FC236}">
                    <a16:creationId xmlns:a16="http://schemas.microsoft.com/office/drawing/2014/main" id="{EB6375F7-C843-46D1-54B2-873990006058}"/>
                  </a:ext>
                </a:extLst>
              </p:cNvPr>
              <p:cNvSpPr txBox="1"/>
              <p:nvPr/>
            </p:nvSpPr>
            <p:spPr>
              <a:xfrm>
                <a:off x="4449942" y="353650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196" name="Google Shape;6705;g2d30ebb658d_0_19789">
                <a:extLst>
                  <a:ext uri="{FF2B5EF4-FFF2-40B4-BE49-F238E27FC236}">
                    <a16:creationId xmlns:a16="http://schemas.microsoft.com/office/drawing/2014/main" id="{2FFFEAD0-0265-7AEB-DC4D-35334296F6EA}"/>
                  </a:ext>
                </a:extLst>
              </p:cNvPr>
              <p:cNvSpPr/>
              <p:nvPr/>
            </p:nvSpPr>
            <p:spPr>
              <a:xfrm>
                <a:off x="4264024" y="2650445"/>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97" name="Google Shape;6678;g2d30ebb658d_0_19789">
                <a:extLst>
                  <a:ext uri="{FF2B5EF4-FFF2-40B4-BE49-F238E27FC236}">
                    <a16:creationId xmlns:a16="http://schemas.microsoft.com/office/drawing/2014/main" id="{87070965-B75E-D3F6-3655-F3D5D88BD6A2}"/>
                  </a:ext>
                </a:extLst>
              </p:cNvPr>
              <p:cNvSpPr/>
              <p:nvPr/>
            </p:nvSpPr>
            <p:spPr>
              <a:xfrm>
                <a:off x="4514882" y="3248940"/>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198" name="Google Shape;6678;g2d30ebb658d_0_19789">
                <a:extLst>
                  <a:ext uri="{FF2B5EF4-FFF2-40B4-BE49-F238E27FC236}">
                    <a16:creationId xmlns:a16="http://schemas.microsoft.com/office/drawing/2014/main" id="{3C05E4EC-FE51-DE5B-0011-73FBC4E2C8C9}"/>
                  </a:ext>
                </a:extLst>
              </p:cNvPr>
              <p:cNvSpPr/>
              <p:nvPr/>
            </p:nvSpPr>
            <p:spPr>
              <a:xfrm>
                <a:off x="4264024" y="2852256"/>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99" name="TextBox 198">
                <a:extLst>
                  <a:ext uri="{FF2B5EF4-FFF2-40B4-BE49-F238E27FC236}">
                    <a16:creationId xmlns:a16="http://schemas.microsoft.com/office/drawing/2014/main" id="{19B751A4-62A8-3984-8A4F-3606A33745BD}"/>
                  </a:ext>
                </a:extLst>
              </p:cNvPr>
              <p:cNvSpPr txBox="1"/>
              <p:nvPr/>
            </p:nvSpPr>
            <p:spPr>
              <a:xfrm>
                <a:off x="4557413" y="2136123"/>
                <a:ext cx="87844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Instance 2</a:t>
                </a:r>
              </a:p>
            </p:txBody>
          </p:sp>
          <p:sp>
            <p:nvSpPr>
              <p:cNvPr id="200" name="Google Shape;6705;g2d30ebb658d_0_19789">
                <a:extLst>
                  <a:ext uri="{FF2B5EF4-FFF2-40B4-BE49-F238E27FC236}">
                    <a16:creationId xmlns:a16="http://schemas.microsoft.com/office/drawing/2014/main" id="{FAFF60D9-A795-D2A7-880E-61AEF4291220}"/>
                  </a:ext>
                </a:extLst>
              </p:cNvPr>
              <p:cNvSpPr/>
              <p:nvPr/>
            </p:nvSpPr>
            <p:spPr>
              <a:xfrm>
                <a:off x="4264024" y="3048354"/>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01" name="Google Shape;6678;g2d30ebb658d_0_19789">
                <a:extLst>
                  <a:ext uri="{FF2B5EF4-FFF2-40B4-BE49-F238E27FC236}">
                    <a16:creationId xmlns:a16="http://schemas.microsoft.com/office/drawing/2014/main" id="{ED96CDCD-9033-F5DC-30EF-F7F1243EDA22}"/>
                  </a:ext>
                </a:extLst>
              </p:cNvPr>
              <p:cNvSpPr/>
              <p:nvPr/>
            </p:nvSpPr>
            <p:spPr>
              <a:xfrm>
                <a:off x="4452598" y="3294022"/>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pic>
            <p:nvPicPr>
              <p:cNvPr id="202" name="Google Shape;6699;p92">
                <a:extLst>
                  <a:ext uri="{FF2B5EF4-FFF2-40B4-BE49-F238E27FC236}">
                    <a16:creationId xmlns:a16="http://schemas.microsoft.com/office/drawing/2014/main" id="{592BE570-AD57-0E29-108B-EB8B2B379A9C}"/>
                  </a:ext>
                </a:extLst>
              </p:cNvPr>
              <p:cNvPicPr preferRelativeResize="0">
                <a:picLocks noChangeAspect="1"/>
              </p:cNvPicPr>
              <p:nvPr/>
            </p:nvPicPr>
            <p:blipFill rotWithShape="1">
              <a:blip r:embed="rId3">
                <a:alphaModFix/>
              </a:blip>
              <a:srcRect/>
              <a:stretch/>
            </p:blipFill>
            <p:spPr>
              <a:xfrm>
                <a:off x="4279869" y="2093777"/>
                <a:ext cx="220483" cy="220483"/>
              </a:xfrm>
              <a:prstGeom prst="rect">
                <a:avLst/>
              </a:prstGeom>
              <a:noFill/>
              <a:ln>
                <a:noFill/>
              </a:ln>
            </p:spPr>
          </p:pic>
        </p:grpSp>
      </p:grpSp>
      <p:grpSp>
        <p:nvGrpSpPr>
          <p:cNvPr id="319" name="Group 318">
            <a:extLst>
              <a:ext uri="{FF2B5EF4-FFF2-40B4-BE49-F238E27FC236}">
                <a16:creationId xmlns:a16="http://schemas.microsoft.com/office/drawing/2014/main" id="{D23E5882-A544-C7D9-2205-0016CA749562}"/>
              </a:ext>
            </a:extLst>
          </p:cNvPr>
          <p:cNvGrpSpPr/>
          <p:nvPr/>
        </p:nvGrpSpPr>
        <p:grpSpPr>
          <a:xfrm>
            <a:off x="8944231" y="1621198"/>
            <a:ext cx="2369440" cy="4573087"/>
            <a:chOff x="8944231" y="1438316"/>
            <a:chExt cx="2369440" cy="4573087"/>
          </a:xfrm>
        </p:grpSpPr>
        <p:sp>
          <p:nvSpPr>
            <p:cNvPr id="239" name="Google Shape;6705;g2d30ebb658d_0_19789">
              <a:extLst>
                <a:ext uri="{FF2B5EF4-FFF2-40B4-BE49-F238E27FC236}">
                  <a16:creationId xmlns:a16="http://schemas.microsoft.com/office/drawing/2014/main" id="{F28D0A92-C245-689D-2B63-997075C3CBFA}"/>
                </a:ext>
              </a:extLst>
            </p:cNvPr>
            <p:cNvSpPr/>
            <p:nvPr/>
          </p:nvSpPr>
          <p:spPr>
            <a:xfrm>
              <a:off x="9199935" y="1999110"/>
              <a:ext cx="1909145" cy="146814"/>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VCF Operations</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40" name="Google Shape;6705;g2d30ebb658d_0_19789">
              <a:extLst>
                <a:ext uri="{FF2B5EF4-FFF2-40B4-BE49-F238E27FC236}">
                  <a16:creationId xmlns:a16="http://schemas.microsoft.com/office/drawing/2014/main" id="{88EC0F01-601B-BF0F-4246-E35E1BCBFEC0}"/>
                </a:ext>
              </a:extLst>
            </p:cNvPr>
            <p:cNvSpPr/>
            <p:nvPr/>
          </p:nvSpPr>
          <p:spPr>
            <a:xfrm>
              <a:off x="9203399" y="1804342"/>
              <a:ext cx="1906928" cy="139628"/>
            </a:xfrm>
            <a:prstGeom prst="roundRect">
              <a:avLst>
                <a:gd name="adj" fmla="val 6349"/>
              </a:avLst>
            </a:prstGeom>
            <a:gradFill>
              <a:gsLst>
                <a:gs pos="0">
                  <a:schemeClr val="accent2"/>
                </a:gs>
                <a:gs pos="99000">
                  <a:schemeClr val="accent3"/>
                </a:gs>
                <a:gs pos="100000">
                  <a:schemeClr val="accent3"/>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VCF Automation</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242" name="Google Shape;6678;g2d30ebb658d_0_19789">
              <a:extLst>
                <a:ext uri="{FF2B5EF4-FFF2-40B4-BE49-F238E27FC236}">
                  <a16:creationId xmlns:a16="http://schemas.microsoft.com/office/drawing/2014/main" id="{B0123BA1-CC72-2EE1-7DA9-086B3811EC9F}"/>
                </a:ext>
              </a:extLst>
            </p:cNvPr>
            <p:cNvSpPr/>
            <p:nvPr/>
          </p:nvSpPr>
          <p:spPr>
            <a:xfrm>
              <a:off x="8944231" y="1554846"/>
              <a:ext cx="2369440" cy="4456557"/>
            </a:xfrm>
            <a:prstGeom prst="roundRect">
              <a:avLst>
                <a:gd name="adj" fmla="val 2356"/>
              </a:avLst>
            </a:prstGeom>
            <a:solidFill>
              <a:schemeClr val="accent3">
                <a:alpha val="10000"/>
              </a:schemeClr>
            </a:solidFill>
            <a:ln w="9525">
              <a:solidFill>
                <a:schemeClr val="accent3"/>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43" name="TextBox 242">
              <a:extLst>
                <a:ext uri="{FF2B5EF4-FFF2-40B4-BE49-F238E27FC236}">
                  <a16:creationId xmlns:a16="http://schemas.microsoft.com/office/drawing/2014/main" id="{A559A7A6-50E2-1A4C-617F-9306A6F3A0FF}"/>
                </a:ext>
              </a:extLst>
            </p:cNvPr>
            <p:cNvSpPr txBox="1"/>
            <p:nvPr/>
          </p:nvSpPr>
          <p:spPr>
            <a:xfrm>
              <a:off x="9741194" y="1618524"/>
              <a:ext cx="710131" cy="184666"/>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VCF Fleet</a:t>
              </a:r>
            </a:p>
          </p:txBody>
        </p:sp>
        <p:sp>
          <p:nvSpPr>
            <p:cNvPr id="244" name="Rounded Rectangle 243">
              <a:extLst>
                <a:ext uri="{FF2B5EF4-FFF2-40B4-BE49-F238E27FC236}">
                  <a16:creationId xmlns:a16="http://schemas.microsoft.com/office/drawing/2014/main" id="{087A24E4-EE48-A68F-0FFB-72B76ECA864C}"/>
                </a:ext>
              </a:extLst>
            </p:cNvPr>
            <p:cNvSpPr/>
            <p:nvPr/>
          </p:nvSpPr>
          <p:spPr bwMode="gray">
            <a:xfrm>
              <a:off x="9581864" y="1438316"/>
              <a:ext cx="1012788" cy="139427"/>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Region B</a:t>
              </a:r>
            </a:p>
          </p:txBody>
        </p:sp>
        <p:grpSp>
          <p:nvGrpSpPr>
            <p:cNvPr id="245" name="Group 244">
              <a:extLst>
                <a:ext uri="{FF2B5EF4-FFF2-40B4-BE49-F238E27FC236}">
                  <a16:creationId xmlns:a16="http://schemas.microsoft.com/office/drawing/2014/main" id="{360F7774-4EF7-D672-699E-7C0E8BB77604}"/>
                </a:ext>
              </a:extLst>
            </p:cNvPr>
            <p:cNvGrpSpPr/>
            <p:nvPr/>
          </p:nvGrpSpPr>
          <p:grpSpPr>
            <a:xfrm>
              <a:off x="9291785" y="2207210"/>
              <a:ext cx="1703483" cy="3706052"/>
              <a:chOff x="3879476" y="2059999"/>
              <a:chExt cx="1909145" cy="4021576"/>
            </a:xfrm>
          </p:grpSpPr>
          <p:sp>
            <p:nvSpPr>
              <p:cNvPr id="282" name="Google Shape;6678;g2d30ebb658d_0_19789">
                <a:extLst>
                  <a:ext uri="{FF2B5EF4-FFF2-40B4-BE49-F238E27FC236}">
                    <a16:creationId xmlns:a16="http://schemas.microsoft.com/office/drawing/2014/main" id="{F2672D29-26E7-390F-61FB-86579A342715}"/>
                  </a:ext>
                </a:extLst>
              </p:cNvPr>
              <p:cNvSpPr/>
              <p:nvPr/>
            </p:nvSpPr>
            <p:spPr>
              <a:xfrm>
                <a:off x="3879476" y="2059999"/>
                <a:ext cx="1909145" cy="4021576"/>
              </a:xfrm>
              <a:prstGeom prst="roundRect">
                <a:avLst>
                  <a:gd name="adj" fmla="val 2356"/>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83" name="Google Shape;6678;g2d30ebb658d_0_19789">
                <a:extLst>
                  <a:ext uri="{FF2B5EF4-FFF2-40B4-BE49-F238E27FC236}">
                    <a16:creationId xmlns:a16="http://schemas.microsoft.com/office/drawing/2014/main" id="{C02DD8DE-2C43-BF95-D10D-AE7B03B226B4}"/>
                  </a:ext>
                </a:extLst>
              </p:cNvPr>
              <p:cNvSpPr/>
              <p:nvPr/>
            </p:nvSpPr>
            <p:spPr>
              <a:xfrm>
                <a:off x="3969834" y="5737352"/>
                <a:ext cx="1717288" cy="308820"/>
              </a:xfrm>
              <a:prstGeom prst="roundRect">
                <a:avLst>
                  <a:gd name="adj" fmla="val 12637"/>
                </a:avLst>
              </a:prstGeom>
              <a:solidFill>
                <a:schemeClr val="bg1"/>
              </a:solidFill>
              <a:ln w="9525">
                <a:solidFill>
                  <a:schemeClr val="tx1"/>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84" name="TextBox 283">
                <a:extLst>
                  <a:ext uri="{FF2B5EF4-FFF2-40B4-BE49-F238E27FC236}">
                    <a16:creationId xmlns:a16="http://schemas.microsoft.com/office/drawing/2014/main" id="{C06A7D8D-C39D-D030-A089-F6CB1EEBE466}"/>
                  </a:ext>
                </a:extLst>
              </p:cNvPr>
              <p:cNvSpPr txBox="1"/>
              <p:nvPr/>
            </p:nvSpPr>
            <p:spPr>
              <a:xfrm>
                <a:off x="4248627" y="5825448"/>
                <a:ext cx="1315063" cy="11689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1B1D36"/>
                    </a:solidFill>
                    <a:effectLst/>
                    <a:uLnTx/>
                    <a:uFillTx/>
                    <a:latin typeface="Arial" panose="020B0604020202020204"/>
                    <a:ea typeface="+mn-ea"/>
                    <a:cs typeface="+mn-cs"/>
                  </a:rPr>
                  <a:t>Additional Workload Domains</a:t>
                </a:r>
              </a:p>
            </p:txBody>
          </p:sp>
          <p:pic>
            <p:nvPicPr>
              <p:cNvPr id="285" name="Google Shape;6699;p92">
                <a:extLst>
                  <a:ext uri="{FF2B5EF4-FFF2-40B4-BE49-F238E27FC236}">
                    <a16:creationId xmlns:a16="http://schemas.microsoft.com/office/drawing/2014/main" id="{3A585582-3B31-3889-2A19-E7FB65214E99}"/>
                  </a:ext>
                </a:extLst>
              </p:cNvPr>
              <p:cNvPicPr preferRelativeResize="0">
                <a:picLocks noChangeAspect="1"/>
              </p:cNvPicPr>
              <p:nvPr/>
            </p:nvPicPr>
            <p:blipFill rotWithShape="1">
              <a:blip r:embed="rId3">
                <a:alphaModFix/>
              </a:blip>
              <a:srcRect/>
              <a:stretch/>
            </p:blipFill>
            <p:spPr>
              <a:xfrm>
                <a:off x="4015687" y="5766548"/>
                <a:ext cx="220483" cy="220483"/>
              </a:xfrm>
              <a:prstGeom prst="rect">
                <a:avLst/>
              </a:prstGeom>
              <a:noFill/>
              <a:ln>
                <a:noFill/>
              </a:ln>
            </p:spPr>
          </p:pic>
          <p:sp>
            <p:nvSpPr>
              <p:cNvPr id="286" name="Google Shape;6678;g2d30ebb658d_0_19789">
                <a:extLst>
                  <a:ext uri="{FF2B5EF4-FFF2-40B4-BE49-F238E27FC236}">
                    <a16:creationId xmlns:a16="http://schemas.microsoft.com/office/drawing/2014/main" id="{0088E7E9-0AFC-63E6-B916-594C83D3EDD5}"/>
                  </a:ext>
                </a:extLst>
              </p:cNvPr>
              <p:cNvSpPr/>
              <p:nvPr/>
            </p:nvSpPr>
            <p:spPr>
              <a:xfrm>
                <a:off x="3942438" y="4173972"/>
                <a:ext cx="1769718" cy="1537778"/>
              </a:xfrm>
              <a:prstGeom prst="roundRect">
                <a:avLst>
                  <a:gd name="adj" fmla="val 2356"/>
                </a:avLst>
              </a:prstGeom>
              <a:solidFill>
                <a:srgbClr val="E8E8EA"/>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87" name="Google Shape;6705;g2d30ebb658d_0_19789">
                <a:extLst>
                  <a:ext uri="{FF2B5EF4-FFF2-40B4-BE49-F238E27FC236}">
                    <a16:creationId xmlns:a16="http://schemas.microsoft.com/office/drawing/2014/main" id="{91A4FB27-6625-F1B9-3204-583C2A83D747}"/>
                  </a:ext>
                </a:extLst>
              </p:cNvPr>
              <p:cNvSpPr/>
              <p:nvPr/>
            </p:nvSpPr>
            <p:spPr>
              <a:xfrm>
                <a:off x="3992941" y="5157400"/>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88" name="Google Shape;6708;g2d30ebb658d_0_19789">
                <a:extLst>
                  <a:ext uri="{FF2B5EF4-FFF2-40B4-BE49-F238E27FC236}">
                    <a16:creationId xmlns:a16="http://schemas.microsoft.com/office/drawing/2014/main" id="{AE9C37DC-7849-BB79-D319-8A7297DB3ADA}"/>
                  </a:ext>
                </a:extLst>
              </p:cNvPr>
              <p:cNvSpPr>
                <a:spLocks noChangeAspect="1"/>
              </p:cNvSpPr>
              <p:nvPr/>
            </p:nvSpPr>
            <p:spPr>
              <a:xfrm>
                <a:off x="5241740" y="5308919"/>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89" name="Google Shape;6709;g2d30ebb658d_0_19789">
                <a:extLst>
                  <a:ext uri="{FF2B5EF4-FFF2-40B4-BE49-F238E27FC236}">
                    <a16:creationId xmlns:a16="http://schemas.microsoft.com/office/drawing/2014/main" id="{83E63B5B-8A99-7AEA-C5EE-C19B3AE77428}"/>
                  </a:ext>
                </a:extLst>
              </p:cNvPr>
              <p:cNvSpPr>
                <a:spLocks noChangeAspect="1"/>
              </p:cNvSpPr>
              <p:nvPr/>
            </p:nvSpPr>
            <p:spPr>
              <a:xfrm>
                <a:off x="5290638" y="5358291"/>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90" name="Google Shape;6711;g2d30ebb658d_0_19789">
                <a:extLst>
                  <a:ext uri="{FF2B5EF4-FFF2-40B4-BE49-F238E27FC236}">
                    <a16:creationId xmlns:a16="http://schemas.microsoft.com/office/drawing/2014/main" id="{D5087A4E-61A7-9110-9F05-0D00F7B490D0}"/>
                  </a:ext>
                </a:extLst>
              </p:cNvPr>
              <p:cNvSpPr>
                <a:spLocks noChangeAspect="1"/>
              </p:cNvSpPr>
              <p:nvPr/>
            </p:nvSpPr>
            <p:spPr>
              <a:xfrm>
                <a:off x="4096820" y="5308800"/>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91" name="Google Shape;6712;g2d30ebb658d_0_19789">
                <a:extLst>
                  <a:ext uri="{FF2B5EF4-FFF2-40B4-BE49-F238E27FC236}">
                    <a16:creationId xmlns:a16="http://schemas.microsoft.com/office/drawing/2014/main" id="{2438857A-544E-3D93-4A42-8FB07F3C15E4}"/>
                  </a:ext>
                </a:extLst>
              </p:cNvPr>
              <p:cNvSpPr>
                <a:spLocks noChangeAspect="1"/>
              </p:cNvSpPr>
              <p:nvPr/>
            </p:nvSpPr>
            <p:spPr>
              <a:xfrm>
                <a:off x="4150930" y="5373510"/>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92" name="Google Shape;6714;g2d30ebb658d_0_19789">
                <a:extLst>
                  <a:ext uri="{FF2B5EF4-FFF2-40B4-BE49-F238E27FC236}">
                    <a16:creationId xmlns:a16="http://schemas.microsoft.com/office/drawing/2014/main" id="{6D71B436-040A-D10F-2631-97CD61AF0D49}"/>
                  </a:ext>
                </a:extLst>
              </p:cNvPr>
              <p:cNvSpPr>
                <a:spLocks noChangeAspect="1"/>
              </p:cNvSpPr>
              <p:nvPr/>
            </p:nvSpPr>
            <p:spPr>
              <a:xfrm>
                <a:off x="4665188" y="5308801"/>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93" name="Google Shape;6715;g2d30ebb658d_0_19789">
                <a:extLst>
                  <a:ext uri="{FF2B5EF4-FFF2-40B4-BE49-F238E27FC236}">
                    <a16:creationId xmlns:a16="http://schemas.microsoft.com/office/drawing/2014/main" id="{EA11C2C0-FA26-7960-AA0F-FB60CDD07CCF}"/>
                  </a:ext>
                </a:extLst>
              </p:cNvPr>
              <p:cNvSpPr>
                <a:spLocks noChangeAspect="1"/>
              </p:cNvSpPr>
              <p:nvPr/>
            </p:nvSpPr>
            <p:spPr>
              <a:xfrm>
                <a:off x="4735335" y="5361805"/>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94" name="Google Shape;6704;g2d30ebb658d_0_19789">
                <a:extLst>
                  <a:ext uri="{FF2B5EF4-FFF2-40B4-BE49-F238E27FC236}">
                    <a16:creationId xmlns:a16="http://schemas.microsoft.com/office/drawing/2014/main" id="{147765D0-3C96-D533-3273-BCAE99ADB921}"/>
                  </a:ext>
                </a:extLst>
              </p:cNvPr>
              <p:cNvSpPr/>
              <p:nvPr/>
            </p:nvSpPr>
            <p:spPr>
              <a:xfrm>
                <a:off x="4028052" y="4232647"/>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95" name="TextBox 294">
                <a:extLst>
                  <a:ext uri="{FF2B5EF4-FFF2-40B4-BE49-F238E27FC236}">
                    <a16:creationId xmlns:a16="http://schemas.microsoft.com/office/drawing/2014/main" id="{34657C6B-88D7-6F52-BFEE-91AC9341D599}"/>
                  </a:ext>
                </a:extLst>
              </p:cNvPr>
              <p:cNvSpPr txBox="1"/>
              <p:nvPr/>
            </p:nvSpPr>
            <p:spPr>
              <a:xfrm>
                <a:off x="4445184" y="5181090"/>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296" name="Google Shape;6678;g2d30ebb658d_0_19789">
                <a:extLst>
                  <a:ext uri="{FF2B5EF4-FFF2-40B4-BE49-F238E27FC236}">
                    <a16:creationId xmlns:a16="http://schemas.microsoft.com/office/drawing/2014/main" id="{E3B252F1-7350-2A5E-FF96-112D651D535C}"/>
                  </a:ext>
                </a:extLst>
              </p:cNvPr>
              <p:cNvSpPr/>
              <p:nvPr/>
            </p:nvSpPr>
            <p:spPr>
              <a:xfrm>
                <a:off x="4255553" y="4709931"/>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97" name="Google Shape;6678;g2d30ebb658d_0_19789">
                <a:extLst>
                  <a:ext uri="{FF2B5EF4-FFF2-40B4-BE49-F238E27FC236}">
                    <a16:creationId xmlns:a16="http://schemas.microsoft.com/office/drawing/2014/main" id="{A9488F81-67CF-10A2-FF55-E67D17B2DD59}"/>
                  </a:ext>
                </a:extLst>
              </p:cNvPr>
              <p:cNvSpPr/>
              <p:nvPr/>
            </p:nvSpPr>
            <p:spPr>
              <a:xfrm>
                <a:off x="4259266" y="4519289"/>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vCenter</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98" name="Google Shape;6678;g2d30ebb658d_0_19789">
                <a:extLst>
                  <a:ext uri="{FF2B5EF4-FFF2-40B4-BE49-F238E27FC236}">
                    <a16:creationId xmlns:a16="http://schemas.microsoft.com/office/drawing/2014/main" id="{6AD3425F-B6E1-8801-30C8-13DED488AB60}"/>
                  </a:ext>
                </a:extLst>
              </p:cNvPr>
              <p:cNvSpPr/>
              <p:nvPr/>
            </p:nvSpPr>
            <p:spPr>
              <a:xfrm>
                <a:off x="4498743" y="4905894"/>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299" name="Google Shape;6678;g2d30ebb658d_0_19789">
                <a:extLst>
                  <a:ext uri="{FF2B5EF4-FFF2-40B4-BE49-F238E27FC236}">
                    <a16:creationId xmlns:a16="http://schemas.microsoft.com/office/drawing/2014/main" id="{EC9B1059-DCDF-3212-300B-3EAF2CEC953B}"/>
                  </a:ext>
                </a:extLst>
              </p:cNvPr>
              <p:cNvSpPr/>
              <p:nvPr/>
            </p:nvSpPr>
            <p:spPr>
              <a:xfrm>
                <a:off x="4436459" y="4950976"/>
                <a:ext cx="701104" cy="151298"/>
              </a:xfrm>
              <a:prstGeom prst="roundRect">
                <a:avLst>
                  <a:gd name="adj" fmla="val 2356"/>
                </a:avLst>
              </a:prstGeom>
              <a:solidFill>
                <a:schemeClr val="bg1"/>
              </a:solidFill>
              <a:ln w="12700">
                <a:solidFill>
                  <a:schemeClr val="accent2"/>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005C8A"/>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300" name="Google Shape;6678;g2d30ebb658d_0_19789">
                <a:extLst>
                  <a:ext uri="{FF2B5EF4-FFF2-40B4-BE49-F238E27FC236}">
                    <a16:creationId xmlns:a16="http://schemas.microsoft.com/office/drawing/2014/main" id="{51DDB115-CD91-E902-E160-C9C319D1D2C5}"/>
                  </a:ext>
                </a:extLst>
              </p:cNvPr>
              <p:cNvSpPr/>
              <p:nvPr/>
            </p:nvSpPr>
            <p:spPr>
              <a:xfrm>
                <a:off x="3947196" y="2336836"/>
                <a:ext cx="1769718" cy="1737105"/>
              </a:xfrm>
              <a:prstGeom prst="roundRect">
                <a:avLst>
                  <a:gd name="adj" fmla="val 2356"/>
                </a:avLst>
              </a:prstGeom>
              <a:solidFill>
                <a:srgbClr val="E8E8EB"/>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01" name="Google Shape;6705;g2d30ebb658d_0_19789">
                <a:extLst>
                  <a:ext uri="{FF2B5EF4-FFF2-40B4-BE49-F238E27FC236}">
                    <a16:creationId xmlns:a16="http://schemas.microsoft.com/office/drawing/2014/main" id="{5D0AED22-C73A-264E-D6CB-7F8725468356}"/>
                  </a:ext>
                </a:extLst>
              </p:cNvPr>
              <p:cNvSpPr/>
              <p:nvPr/>
            </p:nvSpPr>
            <p:spPr>
              <a:xfrm>
                <a:off x="3997699" y="3512812"/>
                <a:ext cx="1661045" cy="491167"/>
              </a:xfrm>
              <a:prstGeom prst="roundRect">
                <a:avLst>
                  <a:gd name="adj" fmla="val 6349"/>
                </a:avLst>
              </a:prstGeom>
              <a:noFill/>
              <a:ln w="25400">
                <a:gradFill>
                  <a:gsLst>
                    <a:gs pos="0">
                      <a:schemeClr val="accent2"/>
                    </a:gs>
                    <a:gs pos="0">
                      <a:schemeClr val="accent2"/>
                    </a:gs>
                    <a:gs pos="100000">
                      <a:schemeClr val="accent5"/>
                    </a:gs>
                    <a:gs pos="100000">
                      <a:schemeClr val="accent1">
                        <a:lumMod val="30000"/>
                        <a:lumOff val="70000"/>
                      </a:schemeClr>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02" name="Google Shape;6708;g2d30ebb658d_0_19789">
                <a:extLst>
                  <a:ext uri="{FF2B5EF4-FFF2-40B4-BE49-F238E27FC236}">
                    <a16:creationId xmlns:a16="http://schemas.microsoft.com/office/drawing/2014/main" id="{E65576A1-94CE-8FCD-FC06-02AC08FB36B1}"/>
                  </a:ext>
                </a:extLst>
              </p:cNvPr>
              <p:cNvSpPr>
                <a:spLocks noChangeAspect="1"/>
              </p:cNvSpPr>
              <p:nvPr/>
            </p:nvSpPr>
            <p:spPr>
              <a:xfrm>
                <a:off x="5246498" y="3664331"/>
                <a:ext cx="283155" cy="283154"/>
              </a:xfrm>
              <a:prstGeom prst="ellipse">
                <a:avLst/>
              </a:prstGeom>
              <a:solidFill>
                <a:schemeClr val="accent2"/>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03" name="Google Shape;6709;g2d30ebb658d_0_19789">
                <a:extLst>
                  <a:ext uri="{FF2B5EF4-FFF2-40B4-BE49-F238E27FC236}">
                    <a16:creationId xmlns:a16="http://schemas.microsoft.com/office/drawing/2014/main" id="{D014E1F0-BC91-86FE-6CBB-BBC785DCCF64}"/>
                  </a:ext>
                </a:extLst>
              </p:cNvPr>
              <p:cNvSpPr>
                <a:spLocks noChangeAspect="1"/>
              </p:cNvSpPr>
              <p:nvPr/>
            </p:nvSpPr>
            <p:spPr>
              <a:xfrm>
                <a:off x="5295396" y="3713703"/>
                <a:ext cx="186824" cy="186823"/>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304" name="Google Shape;6711;g2d30ebb658d_0_19789">
                <a:extLst>
                  <a:ext uri="{FF2B5EF4-FFF2-40B4-BE49-F238E27FC236}">
                    <a16:creationId xmlns:a16="http://schemas.microsoft.com/office/drawing/2014/main" id="{10E3DA7B-6A87-6754-E166-C146EC563BE2}"/>
                  </a:ext>
                </a:extLst>
              </p:cNvPr>
              <p:cNvSpPr>
                <a:spLocks noChangeAspect="1"/>
              </p:cNvSpPr>
              <p:nvPr/>
            </p:nvSpPr>
            <p:spPr>
              <a:xfrm>
                <a:off x="4101578" y="3664212"/>
                <a:ext cx="283155" cy="283154"/>
              </a:xfrm>
              <a:prstGeom prst="ellipse">
                <a:avLst/>
              </a:prstGeom>
              <a:solidFill>
                <a:schemeClr val="accent5"/>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05" name="Google Shape;6712;g2d30ebb658d_0_19789">
                <a:extLst>
                  <a:ext uri="{FF2B5EF4-FFF2-40B4-BE49-F238E27FC236}">
                    <a16:creationId xmlns:a16="http://schemas.microsoft.com/office/drawing/2014/main" id="{89BF90EF-6D0C-8A18-E285-56CFDFE64546}"/>
                  </a:ext>
                </a:extLst>
              </p:cNvPr>
              <p:cNvSpPr>
                <a:spLocks noChangeAspect="1"/>
              </p:cNvSpPr>
              <p:nvPr/>
            </p:nvSpPr>
            <p:spPr>
              <a:xfrm>
                <a:off x="4155688" y="3728922"/>
                <a:ext cx="176364" cy="160767"/>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306" name="Google Shape;6714;g2d30ebb658d_0_19789">
                <a:extLst>
                  <a:ext uri="{FF2B5EF4-FFF2-40B4-BE49-F238E27FC236}">
                    <a16:creationId xmlns:a16="http://schemas.microsoft.com/office/drawing/2014/main" id="{6349C59E-4DEC-4F78-B31F-41EC3DFB5EFB}"/>
                  </a:ext>
                </a:extLst>
              </p:cNvPr>
              <p:cNvSpPr>
                <a:spLocks noChangeAspect="1"/>
              </p:cNvSpPr>
              <p:nvPr/>
            </p:nvSpPr>
            <p:spPr>
              <a:xfrm>
                <a:off x="4669946" y="3664213"/>
                <a:ext cx="283155" cy="283154"/>
              </a:xfrm>
              <a:prstGeom prst="ellipse">
                <a:avLst/>
              </a:prstGeom>
              <a:gradFill>
                <a:gsLst>
                  <a:gs pos="0">
                    <a:schemeClr val="accent2"/>
                  </a:gs>
                  <a:gs pos="0">
                    <a:schemeClr val="accent5"/>
                  </a:gs>
                  <a:gs pos="100000">
                    <a:schemeClr val="accent2"/>
                  </a:gs>
                  <a:gs pos="100000">
                    <a:schemeClr val="accent2"/>
                  </a:gs>
                </a:gsLst>
                <a:lin ang="0"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07" name="Google Shape;6715;g2d30ebb658d_0_19789">
                <a:extLst>
                  <a:ext uri="{FF2B5EF4-FFF2-40B4-BE49-F238E27FC236}">
                    <a16:creationId xmlns:a16="http://schemas.microsoft.com/office/drawing/2014/main" id="{90B15C44-AB99-BC2F-5F48-A42ED3D01138}"/>
                  </a:ext>
                </a:extLst>
              </p:cNvPr>
              <p:cNvSpPr>
                <a:spLocks noChangeAspect="1"/>
              </p:cNvSpPr>
              <p:nvPr/>
            </p:nvSpPr>
            <p:spPr>
              <a:xfrm>
                <a:off x="4740093" y="3717217"/>
                <a:ext cx="152795" cy="178019"/>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308" name="Google Shape;6704;g2d30ebb658d_0_19789">
                <a:extLst>
                  <a:ext uri="{FF2B5EF4-FFF2-40B4-BE49-F238E27FC236}">
                    <a16:creationId xmlns:a16="http://schemas.microsoft.com/office/drawing/2014/main" id="{C246C8BF-976B-8EDD-5C06-DC39D66D4916}"/>
                  </a:ext>
                </a:extLst>
              </p:cNvPr>
              <p:cNvSpPr/>
              <p:nvPr/>
            </p:nvSpPr>
            <p:spPr>
              <a:xfrm>
                <a:off x="4032810" y="2397562"/>
                <a:ext cx="1597075" cy="198035"/>
              </a:xfrm>
              <a:prstGeom prst="roundRect">
                <a:avLst>
                  <a:gd name="adj" fmla="val 50000"/>
                </a:avLst>
              </a:prstGeom>
              <a:solidFill>
                <a:schemeClr val="bg1"/>
              </a:solidFill>
              <a:ln w="25400">
                <a:gradFill>
                  <a:gsLst>
                    <a:gs pos="0">
                      <a:schemeClr val="accent1">
                        <a:lumMod val="5000"/>
                        <a:lumOff val="95000"/>
                      </a:schemeClr>
                    </a:gs>
                    <a:gs pos="0">
                      <a:schemeClr val="accent2"/>
                    </a:gs>
                    <a:gs pos="100000">
                      <a:schemeClr val="accent5"/>
                    </a:gs>
                    <a:gs pos="100000">
                      <a:schemeClr val="accent5"/>
                    </a:gs>
                  </a:gsLst>
                  <a:lin ang="10800000" scaled="0"/>
                </a:gra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700" b="0" i="0" u="none" strike="noStrike" kern="1200" cap="none" spc="0" normalizeH="0" baseline="0" noProof="0" dirty="0">
                    <a:ln>
                      <a:noFill/>
                    </a:ln>
                    <a:solidFill>
                      <a:srgbClr val="000000"/>
                    </a:solidFill>
                    <a:effectLst/>
                    <a:uLnTx/>
                    <a:uFillTx/>
                    <a:latin typeface="Arial" panose="020B0604020202020204"/>
                    <a:ea typeface="+mn-ea"/>
                    <a:cs typeface="+mn-cs"/>
                  </a:rPr>
                  <a:t>Workload Domain</a:t>
                </a:r>
                <a:endParaRPr kumimoji="0" sz="7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09" name="TextBox 308">
                <a:extLst>
                  <a:ext uri="{FF2B5EF4-FFF2-40B4-BE49-F238E27FC236}">
                    <a16:creationId xmlns:a16="http://schemas.microsoft.com/office/drawing/2014/main" id="{4C56A4F5-3EFE-A21D-8B14-49C63C88DF50}"/>
                  </a:ext>
                </a:extLst>
              </p:cNvPr>
              <p:cNvSpPr txBox="1"/>
              <p:nvPr/>
            </p:nvSpPr>
            <p:spPr>
              <a:xfrm>
                <a:off x="4449942" y="3536502"/>
                <a:ext cx="753411" cy="10002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50" b="1" i="0" u="none" strike="noStrike" kern="1200" cap="none" spc="0" normalizeH="0" baseline="0" noProof="0" dirty="0">
                    <a:ln>
                      <a:noFill/>
                    </a:ln>
                    <a:solidFill>
                      <a:srgbClr val="005C8A"/>
                    </a:solidFill>
                    <a:effectLst/>
                    <a:uLnTx/>
                    <a:uFillTx/>
                    <a:latin typeface="Arial" panose="020B0604020202020204"/>
                    <a:ea typeface="+mn-ea"/>
                    <a:cs typeface="+mn-cs"/>
                  </a:rPr>
                  <a:t>Core Infrastructure</a:t>
                </a:r>
              </a:p>
            </p:txBody>
          </p:sp>
          <p:sp>
            <p:nvSpPr>
              <p:cNvPr id="310" name="Google Shape;6705;g2d30ebb658d_0_19789">
                <a:extLst>
                  <a:ext uri="{FF2B5EF4-FFF2-40B4-BE49-F238E27FC236}">
                    <a16:creationId xmlns:a16="http://schemas.microsoft.com/office/drawing/2014/main" id="{C8AB1D24-2D42-B627-741F-AA202E323596}"/>
                  </a:ext>
                </a:extLst>
              </p:cNvPr>
              <p:cNvSpPr/>
              <p:nvPr/>
            </p:nvSpPr>
            <p:spPr>
              <a:xfrm>
                <a:off x="4264024" y="2650445"/>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vCenter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311" name="Google Shape;6678;g2d30ebb658d_0_19789">
                <a:extLst>
                  <a:ext uri="{FF2B5EF4-FFF2-40B4-BE49-F238E27FC236}">
                    <a16:creationId xmlns:a16="http://schemas.microsoft.com/office/drawing/2014/main" id="{887805F3-3990-ABD0-C1AF-BDAC09DDF9CA}"/>
                  </a:ext>
                </a:extLst>
              </p:cNvPr>
              <p:cNvSpPr/>
              <p:nvPr/>
            </p:nvSpPr>
            <p:spPr>
              <a:xfrm>
                <a:off x="4514882" y="3248940"/>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sp>
            <p:nvSpPr>
              <p:cNvPr id="312" name="Google Shape;6678;g2d30ebb658d_0_19789">
                <a:extLst>
                  <a:ext uri="{FF2B5EF4-FFF2-40B4-BE49-F238E27FC236}">
                    <a16:creationId xmlns:a16="http://schemas.microsoft.com/office/drawing/2014/main" id="{A5557A49-39F8-9930-65E8-1A5BA563B93D}"/>
                  </a:ext>
                </a:extLst>
              </p:cNvPr>
              <p:cNvSpPr/>
              <p:nvPr/>
            </p:nvSpPr>
            <p:spPr>
              <a:xfrm>
                <a:off x="4264024" y="2852256"/>
                <a:ext cx="1130643" cy="151298"/>
              </a:xfrm>
              <a:prstGeom prst="roundRect">
                <a:avLst>
                  <a:gd name="adj" fmla="val 2356"/>
                </a:avLst>
              </a:prstGeom>
              <a:gradFill>
                <a:gsLst>
                  <a:gs pos="0">
                    <a:schemeClr val="accent5"/>
                  </a:gs>
                  <a:gs pos="99000">
                    <a:schemeClr val="accent2"/>
                  </a:gs>
                  <a:gs pos="100000">
                    <a:schemeClr val="accent2"/>
                  </a:gs>
                </a:gsLst>
                <a:lin ang="18900044" scaled="0"/>
              </a:gradFill>
              <a:ln w="12700">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FFFFFF"/>
                    </a:solidFill>
                    <a:effectLst/>
                    <a:uLnTx/>
                    <a:uFillTx/>
                    <a:latin typeface="Arial"/>
                    <a:ea typeface="Arial"/>
                    <a:cs typeface="Arial"/>
                    <a:sym typeface="Arial"/>
                  </a:rPr>
                  <a:t>NSX</a:t>
                </a:r>
                <a:endParaRPr kumimoji="0" sz="7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13" name="TextBox 312">
                <a:extLst>
                  <a:ext uri="{FF2B5EF4-FFF2-40B4-BE49-F238E27FC236}">
                    <a16:creationId xmlns:a16="http://schemas.microsoft.com/office/drawing/2014/main" id="{13D9B0A0-714D-99C1-7F78-D699308DE125}"/>
                  </a:ext>
                </a:extLst>
              </p:cNvPr>
              <p:cNvSpPr txBox="1"/>
              <p:nvPr/>
            </p:nvSpPr>
            <p:spPr>
              <a:xfrm>
                <a:off x="4557413" y="2136123"/>
                <a:ext cx="87844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VCF Instance 1</a:t>
                </a:r>
              </a:p>
            </p:txBody>
          </p:sp>
          <p:sp>
            <p:nvSpPr>
              <p:cNvPr id="314" name="Google Shape;6705;g2d30ebb658d_0_19789">
                <a:extLst>
                  <a:ext uri="{FF2B5EF4-FFF2-40B4-BE49-F238E27FC236}">
                    <a16:creationId xmlns:a16="http://schemas.microsoft.com/office/drawing/2014/main" id="{63A8A329-CC41-0056-BC07-CED4FF079920}"/>
                  </a:ext>
                </a:extLst>
              </p:cNvPr>
              <p:cNvSpPr/>
              <p:nvPr/>
            </p:nvSpPr>
            <p:spPr>
              <a:xfrm>
                <a:off x="4264024" y="3048354"/>
                <a:ext cx="1130643" cy="15161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AU"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rPr>
                  <a:t>SDDC Manager</a:t>
                </a:r>
                <a:endParaRPr kumimoji="0" sz="650"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315" name="Google Shape;6678;g2d30ebb658d_0_19789">
                <a:extLst>
                  <a:ext uri="{FF2B5EF4-FFF2-40B4-BE49-F238E27FC236}">
                    <a16:creationId xmlns:a16="http://schemas.microsoft.com/office/drawing/2014/main" id="{6E8F9C4D-F7FA-39B8-28FB-E9FAA9FD389A}"/>
                  </a:ext>
                </a:extLst>
              </p:cNvPr>
              <p:cNvSpPr/>
              <p:nvPr/>
            </p:nvSpPr>
            <p:spPr>
              <a:xfrm>
                <a:off x="4452598" y="3294022"/>
                <a:ext cx="701104" cy="151298"/>
              </a:xfrm>
              <a:prstGeom prst="roundRect">
                <a:avLst>
                  <a:gd name="adj" fmla="val 2356"/>
                </a:avLst>
              </a:prstGeom>
              <a:solidFill>
                <a:schemeClr val="bg1"/>
              </a:solidFill>
              <a:ln w="12700">
                <a:solidFill>
                  <a:schemeClr val="accent5"/>
                </a:solid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AU" sz="700" b="0" i="0" u="none" strike="noStrike" kern="1200" cap="none" spc="0" normalizeH="0" baseline="0" noProof="0" dirty="0">
                    <a:ln>
                      <a:noFill/>
                    </a:ln>
                    <a:solidFill>
                      <a:srgbClr val="6C4B94"/>
                    </a:solidFill>
                    <a:effectLst/>
                    <a:uLnTx/>
                    <a:uFillTx/>
                    <a:latin typeface="Arial"/>
                    <a:ea typeface="Arial"/>
                    <a:cs typeface="Arial"/>
                    <a:sym typeface="Arial"/>
                  </a:rPr>
                  <a:t>Clusters</a:t>
                </a:r>
                <a:endParaRPr kumimoji="0" sz="700" b="0" i="0" u="none" strike="noStrike" kern="1200" cap="none" spc="0" normalizeH="0" baseline="0" noProof="0" dirty="0">
                  <a:ln>
                    <a:noFill/>
                  </a:ln>
                  <a:solidFill>
                    <a:srgbClr val="6C4B94"/>
                  </a:solidFill>
                  <a:effectLst/>
                  <a:uLnTx/>
                  <a:uFillTx/>
                  <a:latin typeface="Arial"/>
                  <a:ea typeface="Arial"/>
                  <a:cs typeface="Arial"/>
                  <a:sym typeface="Arial"/>
                </a:endParaRPr>
              </a:p>
            </p:txBody>
          </p:sp>
          <p:pic>
            <p:nvPicPr>
              <p:cNvPr id="316" name="Google Shape;6699;p92">
                <a:extLst>
                  <a:ext uri="{FF2B5EF4-FFF2-40B4-BE49-F238E27FC236}">
                    <a16:creationId xmlns:a16="http://schemas.microsoft.com/office/drawing/2014/main" id="{9E49BD55-486F-2B01-3643-E1DFF85E8338}"/>
                  </a:ext>
                </a:extLst>
              </p:cNvPr>
              <p:cNvPicPr preferRelativeResize="0">
                <a:picLocks noChangeAspect="1"/>
              </p:cNvPicPr>
              <p:nvPr/>
            </p:nvPicPr>
            <p:blipFill rotWithShape="1">
              <a:blip r:embed="rId3">
                <a:alphaModFix/>
              </a:blip>
              <a:srcRect/>
              <a:stretch/>
            </p:blipFill>
            <p:spPr>
              <a:xfrm>
                <a:off x="4279869" y="2093777"/>
                <a:ext cx="220483" cy="220483"/>
              </a:xfrm>
              <a:prstGeom prst="rect">
                <a:avLst/>
              </a:prstGeom>
              <a:noFill/>
              <a:ln>
                <a:noFill/>
              </a:ln>
            </p:spPr>
          </p:pic>
        </p:grpSp>
      </p:grpSp>
      <p:sp>
        <p:nvSpPr>
          <p:cNvPr id="320" name="TextBox 319">
            <a:extLst>
              <a:ext uri="{FF2B5EF4-FFF2-40B4-BE49-F238E27FC236}">
                <a16:creationId xmlns:a16="http://schemas.microsoft.com/office/drawing/2014/main" id="{79F30C13-8C13-A444-6769-018925B88FDF}"/>
              </a:ext>
            </a:extLst>
          </p:cNvPr>
          <p:cNvSpPr txBox="1"/>
          <p:nvPr/>
        </p:nvSpPr>
        <p:spPr>
          <a:xfrm>
            <a:off x="7053940" y="1201783"/>
            <a:ext cx="1910779" cy="2769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B1D36"/>
                </a:solidFill>
                <a:effectLst/>
                <a:uLnTx/>
                <a:uFillTx/>
                <a:latin typeface="Arial" panose="020B0604020202020204"/>
                <a:ea typeface="+mn-ea"/>
                <a:cs typeface="+mn-cs"/>
              </a:rPr>
              <a:t>VCF Private Cloud</a:t>
            </a:r>
          </a:p>
        </p:txBody>
      </p:sp>
    </p:spTree>
    <p:extLst>
      <p:ext uri="{BB962C8B-B14F-4D97-AF65-F5344CB8AC3E}">
        <p14:creationId xmlns:p14="http://schemas.microsoft.com/office/powerpoint/2010/main" val="24258372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875">
          <a:extLst>
            <a:ext uri="{FF2B5EF4-FFF2-40B4-BE49-F238E27FC236}">
              <a16:creationId xmlns:a16="http://schemas.microsoft.com/office/drawing/2014/main" id="{2EC56301-E408-825D-1EE1-B32792804C08}"/>
            </a:ext>
          </a:extLst>
        </p:cNvPr>
        <p:cNvGrpSpPr/>
        <p:nvPr/>
      </p:nvGrpSpPr>
      <p:grpSpPr>
        <a:xfrm>
          <a:off x="0" y="0"/>
          <a:ext cx="0" cy="0"/>
          <a:chOff x="0" y="0"/>
          <a:chExt cx="0" cy="0"/>
        </a:xfrm>
      </p:grpSpPr>
      <p:sp>
        <p:nvSpPr>
          <p:cNvPr id="2876" name="Google Shape;2876;p39">
            <a:extLst>
              <a:ext uri="{FF2B5EF4-FFF2-40B4-BE49-F238E27FC236}">
                <a16:creationId xmlns:a16="http://schemas.microsoft.com/office/drawing/2014/main" id="{54E2A079-0786-D933-000C-EDE481E58DD4}"/>
              </a:ext>
            </a:extLst>
          </p:cNvPr>
          <p:cNvSpPr txBox="1">
            <a:spLocks noGrp="1"/>
          </p:cNvSpPr>
          <p:nvPr>
            <p:ph type="title"/>
          </p:nvPr>
        </p:nvSpPr>
        <p:spPr/>
        <p:txBody>
          <a:bodyPr spcFirstLastPara="1" wrap="square" lIns="0" tIns="0" rIns="0" bIns="0" anchor="b" anchorCtr="0">
            <a:normAutofit/>
          </a:bodyPr>
          <a:lstStyle/>
          <a:p>
            <a:pPr lvl="0">
              <a:spcAft>
                <a:spcPts val="0"/>
              </a:spcAft>
              <a:buClr>
                <a:srgbClr val="000000"/>
              </a:buClr>
              <a:buSzPts val="1300"/>
            </a:pPr>
            <a:r>
              <a:rPr lang="en-US" sz="3600" dirty="0"/>
              <a:t>Build and Deploy Private Cloud Infrastructure On-Premises</a:t>
            </a:r>
          </a:p>
        </p:txBody>
      </p:sp>
      <p:sp>
        <p:nvSpPr>
          <p:cNvPr id="2877" name="Google Shape;2877;p39">
            <a:extLst>
              <a:ext uri="{FF2B5EF4-FFF2-40B4-BE49-F238E27FC236}">
                <a16:creationId xmlns:a16="http://schemas.microsoft.com/office/drawing/2014/main" id="{1C9ECA24-2F06-E76B-AABE-9E9B057FB974}"/>
              </a:ext>
            </a:extLst>
          </p:cNvPr>
          <p:cNvSpPr txBox="1">
            <a:spLocks noGrp="1"/>
          </p:cNvSpPr>
          <p:nvPr>
            <p:ph type="subTitle" idx="1"/>
          </p:nvPr>
        </p:nvSpPr>
        <p:spPr/>
        <p:txBody>
          <a:bodyPr spcFirstLastPara="1" lIns="0" tIns="0" rIns="0" bIns="0" anchorCtr="0">
            <a:normAutofit/>
          </a:bodyPr>
          <a:lstStyle/>
          <a:p>
            <a:pPr lvl="0">
              <a:spcAft>
                <a:spcPts val="0"/>
              </a:spcAft>
              <a:buClr>
                <a:srgbClr val="000000"/>
              </a:buClr>
              <a:buSzPts val="1300"/>
            </a:pPr>
            <a:endParaRPr lang="en-US" sz="3600" dirty="0">
              <a:solidFill>
                <a:schemeClr val="dk1"/>
              </a:solidFill>
              <a:ea typeface="Arial"/>
              <a:cs typeface="Arial"/>
              <a:sym typeface="Arial"/>
            </a:endParaRPr>
          </a:p>
          <a:p>
            <a:pPr marL="0" lvl="0" indent="0" rtl="0">
              <a:spcBef>
                <a:spcPts val="0"/>
              </a:spcBef>
              <a:spcAft>
                <a:spcPts val="600"/>
              </a:spcAft>
              <a:buSzPts val="2160"/>
              <a:buNone/>
            </a:pPr>
            <a:endParaRPr lang="en-US" dirty="0"/>
          </a:p>
        </p:txBody>
      </p:sp>
      <p:sp>
        <p:nvSpPr>
          <p:cNvPr id="2" name="Google Shape;2877;p39">
            <a:extLst>
              <a:ext uri="{FF2B5EF4-FFF2-40B4-BE49-F238E27FC236}">
                <a16:creationId xmlns:a16="http://schemas.microsoft.com/office/drawing/2014/main" id="{225CDF82-52B1-16CD-BCA0-F704F9EFCED0}"/>
              </a:ext>
            </a:extLst>
          </p:cNvPr>
          <p:cNvSpPr txBox="1">
            <a:spLocks/>
          </p:cNvSpPr>
          <p:nvPr/>
        </p:nvSpPr>
        <p:spPr>
          <a:xfrm>
            <a:off x="755366" y="2420112"/>
            <a:ext cx="6542112" cy="2165392"/>
          </a:xfrm>
          <a:prstGeom prst="rect">
            <a:avLst/>
          </a:prstGeom>
        </p:spPr>
        <p:txBody>
          <a:bodyPr spcFirstLastPara="1" vert="horz" lIns="0" tIns="0" rIns="0" bIns="0" rtlCol="0" anchorCtr="0">
            <a:normAutofit/>
          </a:bodyPr>
          <a:lstStyle>
            <a:lvl1pPr marL="0" indent="0" algn="l" defTabSz="914126"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None/>
              <a:defRPr sz="2399" kern="1200">
                <a:solidFill>
                  <a:schemeClr val="tx1"/>
                </a:solidFill>
                <a:latin typeface="+mj-lt"/>
                <a:ea typeface="+mn-ea"/>
                <a:cs typeface="+mn-cs"/>
              </a:defRPr>
            </a:lvl1pPr>
            <a:lvl2pPr marL="457063"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999" kern="1200">
                <a:solidFill>
                  <a:schemeClr val="tx1"/>
                </a:solidFill>
                <a:latin typeface="+mn-lt"/>
                <a:ea typeface="+mn-ea"/>
                <a:cs typeface="+mn-cs"/>
              </a:defRPr>
            </a:lvl2pPr>
            <a:lvl3pPr marL="914126"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799" kern="1200">
                <a:solidFill>
                  <a:schemeClr val="tx1"/>
                </a:solidFill>
                <a:latin typeface="+mn-lt"/>
                <a:ea typeface="+mn-ea"/>
                <a:cs typeface="+mn-cs"/>
              </a:defRPr>
            </a:lvl3pPr>
            <a:lvl4pPr marL="1371189"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251"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5314"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2377"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199440"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6503"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a:spcAft>
                <a:spcPts val="600"/>
              </a:spcAft>
              <a:buSzPts val="2160"/>
            </a:pPr>
            <a:r>
              <a:rPr lang="en-US" dirty="0"/>
              <a:t>VCF Installer</a:t>
            </a:r>
          </a:p>
        </p:txBody>
      </p:sp>
    </p:spTree>
    <p:extLst>
      <p:ext uri="{BB962C8B-B14F-4D97-AF65-F5344CB8AC3E}">
        <p14:creationId xmlns:p14="http://schemas.microsoft.com/office/powerpoint/2010/main" val="42760833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132969-C1F8-47EB-49D1-97387222D07C}"/>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8906F256-018F-7836-C557-36A75DC09DC5}"/>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4CDCBA85-DABF-D3A1-64C7-B0C436F3B3A5}"/>
              </a:ext>
            </a:extLst>
          </p:cNvPr>
          <p:cNvSpPr>
            <a:spLocks noGrp="1"/>
          </p:cNvSpPr>
          <p:nvPr>
            <p:ph type="title"/>
          </p:nvPr>
        </p:nvSpPr>
        <p:spPr>
          <a:xfrm>
            <a:off x="581245" y="413536"/>
            <a:ext cx="10998269" cy="380901"/>
          </a:xfrm>
        </p:spPr>
        <p:txBody>
          <a:bodyPr/>
          <a:lstStyle/>
          <a:p>
            <a:r>
              <a:rPr lang="en-US" dirty="0"/>
              <a:t>VCF Installer Overview</a:t>
            </a:r>
            <a:endParaRPr lang="en-US" dirty="0">
              <a:solidFill>
                <a:schemeClr val="accent2"/>
              </a:solidFill>
            </a:endParaRPr>
          </a:p>
        </p:txBody>
      </p:sp>
      <p:sp>
        <p:nvSpPr>
          <p:cNvPr id="3" name="Subtitle 2">
            <a:extLst>
              <a:ext uri="{FF2B5EF4-FFF2-40B4-BE49-F238E27FC236}">
                <a16:creationId xmlns:a16="http://schemas.microsoft.com/office/drawing/2014/main" id="{6078746B-B366-FFCC-C1BD-7123E4C71A60}"/>
              </a:ext>
            </a:extLst>
          </p:cNvPr>
          <p:cNvSpPr>
            <a:spLocks noGrp="1"/>
          </p:cNvSpPr>
          <p:nvPr>
            <p:ph type="subTitle" idx="1"/>
          </p:nvPr>
        </p:nvSpPr>
        <p:spPr>
          <a:xfrm>
            <a:off x="594300" y="812513"/>
            <a:ext cx="10959889" cy="247735"/>
          </a:xfrm>
        </p:spPr>
        <p:txBody>
          <a:bodyPr/>
          <a:lstStyle/>
          <a:p>
            <a:r>
              <a:rPr lang="en-US" dirty="0">
                <a:solidFill>
                  <a:schemeClr val="tx1"/>
                </a:solidFill>
              </a:rPr>
              <a:t>Light weight appliance used to deploy and scale VCF Fleets and Instances</a:t>
            </a:r>
          </a:p>
          <a:p>
            <a:endParaRPr lang="en-US" dirty="0"/>
          </a:p>
        </p:txBody>
      </p:sp>
      <p:sp>
        <p:nvSpPr>
          <p:cNvPr id="5" name="Text Placeholder 4">
            <a:extLst>
              <a:ext uri="{FF2B5EF4-FFF2-40B4-BE49-F238E27FC236}">
                <a16:creationId xmlns:a16="http://schemas.microsoft.com/office/drawing/2014/main" id="{A38AF949-FA5B-976F-A96F-DC95FD73A94B}"/>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0017C0DE-CC56-1EAA-9872-61F7357428C9}"/>
              </a:ext>
            </a:extLst>
          </p:cNvPr>
          <p:cNvSpPr>
            <a:spLocks noGrp="1"/>
          </p:cNvSpPr>
          <p:nvPr>
            <p:ph type="body" idx="4"/>
          </p:nvPr>
        </p:nvSpPr>
        <p:spPr>
          <a:xfrm>
            <a:off x="8590844" y="2063404"/>
            <a:ext cx="3469462" cy="1599783"/>
          </a:xfrm>
        </p:spPr>
        <p:txBody>
          <a:bodyPr/>
          <a:lstStyle/>
          <a:p>
            <a:pPr marL="273050" lvl="1" indent="0">
              <a:buNone/>
            </a:pPr>
            <a:r>
              <a:rPr lang="en-US" sz="1600" dirty="0"/>
              <a:t>Unified installer for all components.</a:t>
            </a:r>
          </a:p>
          <a:p>
            <a:pPr marL="273050" lvl="1" indent="0">
              <a:buNone/>
            </a:pPr>
            <a:r>
              <a:rPr lang="en-US" sz="1600" dirty="0"/>
              <a:t>Distributed as a lightweight OVA.</a:t>
            </a:r>
          </a:p>
          <a:p>
            <a:pPr marL="273050" lvl="1" indent="0">
              <a:buNone/>
            </a:pPr>
            <a:r>
              <a:rPr lang="en-US" sz="1600" dirty="0"/>
              <a:t>Support both online and offline software depots.</a:t>
            </a:r>
          </a:p>
        </p:txBody>
      </p:sp>
      <p:sp>
        <p:nvSpPr>
          <p:cNvPr id="7" name="Text Placeholder 6">
            <a:extLst>
              <a:ext uri="{FF2B5EF4-FFF2-40B4-BE49-F238E27FC236}">
                <a16:creationId xmlns:a16="http://schemas.microsoft.com/office/drawing/2014/main" id="{4A2D52B6-6B5F-EC9E-7877-43AE5B58F50F}"/>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A3837A0E-CF07-29BF-ED2C-DF502C133AF7}"/>
              </a:ext>
            </a:extLst>
          </p:cNvPr>
          <p:cNvSpPr>
            <a:spLocks noGrp="1"/>
          </p:cNvSpPr>
          <p:nvPr>
            <p:ph type="body" idx="6"/>
          </p:nvPr>
        </p:nvSpPr>
        <p:spPr>
          <a:xfrm>
            <a:off x="8590844" y="4347665"/>
            <a:ext cx="3469462" cy="1599783"/>
          </a:xfrm>
        </p:spPr>
        <p:txBody>
          <a:bodyPr/>
          <a:lstStyle/>
          <a:p>
            <a:pPr marL="273050" lvl="1" indent="0">
              <a:buNone/>
            </a:pPr>
            <a:r>
              <a:rPr lang="en-US" sz="1600" dirty="0"/>
              <a:t>Single installer for all components.</a:t>
            </a:r>
          </a:p>
          <a:p>
            <a:pPr marL="273050" lvl="1" indent="0">
              <a:buNone/>
            </a:pPr>
            <a:r>
              <a:rPr lang="en-US" sz="1600" dirty="0"/>
              <a:t>Simple to deploy, easy to use.</a:t>
            </a:r>
          </a:p>
          <a:p>
            <a:pPr marL="273050" lvl="1" indent="0">
              <a:buNone/>
            </a:pPr>
            <a:r>
              <a:rPr lang="en-US" sz="1600" dirty="0"/>
              <a:t>Supports both connected and disconnected environments.</a:t>
            </a:r>
          </a:p>
        </p:txBody>
      </p:sp>
      <p:sp>
        <p:nvSpPr>
          <p:cNvPr id="100" name="Google Shape;1479;p7">
            <a:extLst>
              <a:ext uri="{FF2B5EF4-FFF2-40B4-BE49-F238E27FC236}">
                <a16:creationId xmlns:a16="http://schemas.microsoft.com/office/drawing/2014/main" id="{D9685A47-0209-70C3-5BE7-137AA75E349B}"/>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F89E5198-8826-C642-C479-C88D3170A990}"/>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446D6764-833A-9867-928D-3DCE59196A70}"/>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914126">
              <a:buClr>
                <a:srgbClr val="000000"/>
              </a:buClr>
              <a:buSzPts val="1200"/>
            </a:pPr>
            <a:endParaRPr sz="1200" dirty="0">
              <a:solidFill>
                <a:srgbClr val="FFFFFF"/>
              </a:solidFill>
              <a:latin typeface="Arial"/>
              <a:ea typeface="Arial"/>
              <a:cs typeface="Arial"/>
              <a:sym typeface="Arial"/>
            </a:endParaRPr>
          </a:p>
        </p:txBody>
      </p:sp>
      <p:pic>
        <p:nvPicPr>
          <p:cNvPr id="9" name="Picture 8">
            <a:extLst>
              <a:ext uri="{FF2B5EF4-FFF2-40B4-BE49-F238E27FC236}">
                <a16:creationId xmlns:a16="http://schemas.microsoft.com/office/drawing/2014/main" id="{ED3376AD-76C1-B4C3-E3DF-89093CEF40A3}"/>
              </a:ext>
            </a:extLst>
          </p:cNvPr>
          <p:cNvPicPr>
            <a:picLocks noChangeAspect="1"/>
          </p:cNvPicPr>
          <p:nvPr/>
        </p:nvPicPr>
        <p:blipFill>
          <a:blip r:embed="rId3"/>
          <a:stretch>
            <a:fillRect/>
          </a:stretch>
        </p:blipFill>
        <p:spPr>
          <a:xfrm>
            <a:off x="801479" y="1687448"/>
            <a:ext cx="4123677" cy="2319568"/>
          </a:xfrm>
          <a:prstGeom prst="rect">
            <a:avLst/>
          </a:prstGeom>
        </p:spPr>
      </p:pic>
      <p:pic>
        <p:nvPicPr>
          <p:cNvPr id="10" name="Content Placeholder 7">
            <a:extLst>
              <a:ext uri="{FF2B5EF4-FFF2-40B4-BE49-F238E27FC236}">
                <a16:creationId xmlns:a16="http://schemas.microsoft.com/office/drawing/2014/main" id="{B14DE421-5CE8-33D2-8F4A-F5A6BF1F10AE}"/>
              </a:ext>
            </a:extLst>
          </p:cNvPr>
          <p:cNvPicPr>
            <a:picLocks noChangeAspect="1"/>
          </p:cNvPicPr>
          <p:nvPr/>
        </p:nvPicPr>
        <p:blipFill>
          <a:blip r:embed="rId4"/>
          <a:stretch>
            <a:fillRect/>
          </a:stretch>
        </p:blipFill>
        <p:spPr>
          <a:xfrm>
            <a:off x="3718284" y="3553096"/>
            <a:ext cx="4201789" cy="2185723"/>
          </a:xfrm>
          <a:prstGeom prst="rect">
            <a:avLst/>
          </a:prstGeom>
        </p:spPr>
      </p:pic>
    </p:spTree>
    <p:extLst>
      <p:ext uri="{BB962C8B-B14F-4D97-AF65-F5344CB8AC3E}">
        <p14:creationId xmlns:p14="http://schemas.microsoft.com/office/powerpoint/2010/main" val="40491932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7575AC-7E09-4D06-3787-5D11390402CE}"/>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E55D1752-6014-E6EC-72B8-2023047E0B06}"/>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DC875CCD-0022-2230-C749-FC9AB2740185}"/>
              </a:ext>
            </a:extLst>
          </p:cNvPr>
          <p:cNvSpPr>
            <a:spLocks noGrp="1"/>
          </p:cNvSpPr>
          <p:nvPr>
            <p:ph type="title"/>
          </p:nvPr>
        </p:nvSpPr>
        <p:spPr>
          <a:xfrm>
            <a:off x="581245" y="413536"/>
            <a:ext cx="10998269" cy="380901"/>
          </a:xfrm>
        </p:spPr>
        <p:txBody>
          <a:bodyPr/>
          <a:lstStyle/>
          <a:p>
            <a:r>
              <a:rPr lang="en-US" dirty="0"/>
              <a:t>Choice of Online or Offline Software Depot</a:t>
            </a:r>
            <a:endParaRPr lang="en-US" dirty="0">
              <a:solidFill>
                <a:schemeClr val="accent2"/>
              </a:solidFill>
            </a:endParaRPr>
          </a:p>
        </p:txBody>
      </p:sp>
      <p:sp>
        <p:nvSpPr>
          <p:cNvPr id="3" name="Subtitle 2">
            <a:extLst>
              <a:ext uri="{FF2B5EF4-FFF2-40B4-BE49-F238E27FC236}">
                <a16:creationId xmlns:a16="http://schemas.microsoft.com/office/drawing/2014/main" id="{F216B403-97B7-6792-59F3-CDF3189C94CF}"/>
              </a:ext>
            </a:extLst>
          </p:cNvPr>
          <p:cNvSpPr>
            <a:spLocks noGrp="1"/>
          </p:cNvSpPr>
          <p:nvPr>
            <p:ph type="subTitle" idx="1"/>
          </p:nvPr>
        </p:nvSpPr>
        <p:spPr>
          <a:xfrm>
            <a:off x="594300" y="812513"/>
            <a:ext cx="10959889" cy="247735"/>
          </a:xfrm>
        </p:spPr>
        <p:txBody>
          <a:bodyPr/>
          <a:lstStyle/>
          <a:p>
            <a:r>
              <a:rPr lang="en-US" dirty="0">
                <a:solidFill>
                  <a:schemeClr val="tx1"/>
                </a:solidFill>
              </a:rPr>
              <a:t>Easy, secure download of VCF Binaries</a:t>
            </a:r>
          </a:p>
          <a:p>
            <a:endParaRPr lang="en-US" dirty="0"/>
          </a:p>
        </p:txBody>
      </p:sp>
      <p:sp>
        <p:nvSpPr>
          <p:cNvPr id="5" name="Text Placeholder 4">
            <a:extLst>
              <a:ext uri="{FF2B5EF4-FFF2-40B4-BE49-F238E27FC236}">
                <a16:creationId xmlns:a16="http://schemas.microsoft.com/office/drawing/2014/main" id="{3CCFCFB5-5442-CBCA-FC44-6BD224F0568F}"/>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04DB5F64-77C1-4496-4856-7DA87F44D8CB}"/>
              </a:ext>
            </a:extLst>
          </p:cNvPr>
          <p:cNvSpPr>
            <a:spLocks noGrp="1"/>
          </p:cNvSpPr>
          <p:nvPr>
            <p:ph type="body" idx="4"/>
          </p:nvPr>
        </p:nvSpPr>
        <p:spPr>
          <a:xfrm>
            <a:off x="8590844" y="2063404"/>
            <a:ext cx="3469462" cy="1599783"/>
          </a:xfrm>
        </p:spPr>
        <p:txBody>
          <a:bodyPr/>
          <a:lstStyle/>
          <a:p>
            <a:pPr marL="273050" lvl="1" indent="0">
              <a:buNone/>
            </a:pPr>
            <a:r>
              <a:rPr lang="en-US" sz="1600" dirty="0"/>
              <a:t>Easy download of all VCF binaries.</a:t>
            </a:r>
          </a:p>
          <a:p>
            <a:pPr marL="273050" lvl="1" indent="0">
              <a:buNone/>
            </a:pPr>
            <a:r>
              <a:rPr lang="en-US" sz="1600" dirty="0"/>
              <a:t>Choice of online or offline software depot.</a:t>
            </a:r>
          </a:p>
          <a:p>
            <a:pPr marL="273050" lvl="1" indent="0">
              <a:buNone/>
            </a:pPr>
            <a:r>
              <a:rPr lang="en-US" sz="1600" dirty="0"/>
              <a:t>Easy to setup and configure.</a:t>
            </a:r>
          </a:p>
          <a:p>
            <a:pPr marL="273050" lvl="1" indent="0">
              <a:buNone/>
            </a:pPr>
            <a:endParaRPr lang="en-US" sz="1600" dirty="0"/>
          </a:p>
        </p:txBody>
      </p:sp>
      <p:sp>
        <p:nvSpPr>
          <p:cNvPr id="7" name="Text Placeholder 6">
            <a:extLst>
              <a:ext uri="{FF2B5EF4-FFF2-40B4-BE49-F238E27FC236}">
                <a16:creationId xmlns:a16="http://schemas.microsoft.com/office/drawing/2014/main" id="{F2FA9DCB-C2B8-5F61-02CA-5F3100C47C69}"/>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B1DCD3F2-36D4-F152-041E-F82D7E29BC1C}"/>
              </a:ext>
            </a:extLst>
          </p:cNvPr>
          <p:cNvSpPr>
            <a:spLocks noGrp="1"/>
          </p:cNvSpPr>
          <p:nvPr>
            <p:ph type="body" idx="6"/>
          </p:nvPr>
        </p:nvSpPr>
        <p:spPr>
          <a:xfrm>
            <a:off x="8590844" y="4347665"/>
            <a:ext cx="3469462" cy="1599783"/>
          </a:xfrm>
        </p:spPr>
        <p:txBody>
          <a:bodyPr/>
          <a:lstStyle/>
          <a:p>
            <a:pPr marL="273050" lvl="1" indent="0">
              <a:buNone/>
            </a:pPr>
            <a:r>
              <a:rPr lang="en-US" sz="1600" dirty="0"/>
              <a:t>Centralized location for all VCF Binaries</a:t>
            </a:r>
          </a:p>
          <a:p>
            <a:pPr marL="273050" lvl="1" indent="0">
              <a:buNone/>
            </a:pPr>
            <a:r>
              <a:rPr lang="en-US" sz="1600" dirty="0"/>
              <a:t>Secure - uses Broadcom activation code for authentication.</a:t>
            </a:r>
          </a:p>
          <a:p>
            <a:pPr marL="273050" lvl="1" indent="0">
              <a:buNone/>
            </a:pPr>
            <a:r>
              <a:rPr lang="en-US" sz="1600" dirty="0"/>
              <a:t>Supports both connected and disconnected environments.</a:t>
            </a:r>
          </a:p>
          <a:p>
            <a:pPr marL="273050" lvl="1" indent="0">
              <a:buNone/>
            </a:pPr>
            <a:endParaRPr lang="en-US" sz="1600" dirty="0"/>
          </a:p>
        </p:txBody>
      </p:sp>
      <p:sp>
        <p:nvSpPr>
          <p:cNvPr id="100" name="Google Shape;1479;p7">
            <a:extLst>
              <a:ext uri="{FF2B5EF4-FFF2-40B4-BE49-F238E27FC236}">
                <a16:creationId xmlns:a16="http://schemas.microsoft.com/office/drawing/2014/main" id="{2F8C2FAD-D984-2D2B-F455-5F5EBE3D9B2F}"/>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A3F112E3-6325-1A14-BF21-C8959C997656}"/>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8561E2F6-125D-FAF8-C196-50C40D8331DC}"/>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914126">
              <a:buClr>
                <a:srgbClr val="000000"/>
              </a:buClr>
              <a:buSzPts val="1200"/>
            </a:pPr>
            <a:endParaRPr sz="1200" dirty="0">
              <a:solidFill>
                <a:srgbClr val="FFFFFF"/>
              </a:solidFill>
              <a:latin typeface="Arial"/>
              <a:ea typeface="Arial"/>
              <a:cs typeface="Arial"/>
              <a:sym typeface="Arial"/>
            </a:endParaRPr>
          </a:p>
        </p:txBody>
      </p:sp>
      <p:pic>
        <p:nvPicPr>
          <p:cNvPr id="9" name="Picture 8">
            <a:extLst>
              <a:ext uri="{FF2B5EF4-FFF2-40B4-BE49-F238E27FC236}">
                <a16:creationId xmlns:a16="http://schemas.microsoft.com/office/drawing/2014/main" id="{AE5BF333-DB84-D951-38DD-6C8281930C70}"/>
              </a:ext>
            </a:extLst>
          </p:cNvPr>
          <p:cNvPicPr>
            <a:picLocks noChangeAspect="1"/>
          </p:cNvPicPr>
          <p:nvPr/>
        </p:nvPicPr>
        <p:blipFill>
          <a:blip r:embed="rId3"/>
          <a:stretch>
            <a:fillRect/>
          </a:stretch>
        </p:blipFill>
        <p:spPr>
          <a:xfrm>
            <a:off x="801479" y="2269412"/>
            <a:ext cx="6714633" cy="3010296"/>
          </a:xfrm>
          <a:prstGeom prst="rect">
            <a:avLst/>
          </a:prstGeom>
        </p:spPr>
      </p:pic>
    </p:spTree>
    <p:extLst>
      <p:ext uri="{BB962C8B-B14F-4D97-AF65-F5344CB8AC3E}">
        <p14:creationId xmlns:p14="http://schemas.microsoft.com/office/powerpoint/2010/main" val="18664223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3C621B-378D-63E6-03D1-2CE4FAAF1E14}"/>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95E55A73-074D-00C2-0DA9-6EF8956AE4E5}"/>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57580E05-67B6-2C7E-0501-3B42BB9065F4}"/>
              </a:ext>
            </a:extLst>
          </p:cNvPr>
          <p:cNvSpPr>
            <a:spLocks noGrp="1"/>
          </p:cNvSpPr>
          <p:nvPr>
            <p:ph type="title"/>
          </p:nvPr>
        </p:nvSpPr>
        <p:spPr>
          <a:xfrm>
            <a:off x="581245" y="413536"/>
            <a:ext cx="10998269" cy="380901"/>
          </a:xfrm>
        </p:spPr>
        <p:txBody>
          <a:bodyPr/>
          <a:lstStyle/>
          <a:p>
            <a:r>
              <a:rPr lang="en-US" dirty="0"/>
              <a:t>Intuitive Wizard-driven UI with Support for JSON</a:t>
            </a:r>
            <a:endParaRPr lang="en-US" dirty="0">
              <a:solidFill>
                <a:schemeClr val="accent2"/>
              </a:solidFill>
            </a:endParaRPr>
          </a:p>
        </p:txBody>
      </p:sp>
      <p:sp>
        <p:nvSpPr>
          <p:cNvPr id="3" name="Subtitle 2">
            <a:extLst>
              <a:ext uri="{FF2B5EF4-FFF2-40B4-BE49-F238E27FC236}">
                <a16:creationId xmlns:a16="http://schemas.microsoft.com/office/drawing/2014/main" id="{59DBBAD5-2187-25E5-E8BF-C1486C2C9B38}"/>
              </a:ext>
            </a:extLst>
          </p:cNvPr>
          <p:cNvSpPr>
            <a:spLocks noGrp="1"/>
          </p:cNvSpPr>
          <p:nvPr>
            <p:ph type="subTitle" idx="1"/>
          </p:nvPr>
        </p:nvSpPr>
        <p:spPr>
          <a:xfrm>
            <a:off x="594300" y="812513"/>
            <a:ext cx="10959889" cy="247735"/>
          </a:xfrm>
        </p:spPr>
        <p:txBody>
          <a:bodyPr/>
          <a:lstStyle/>
          <a:p>
            <a:r>
              <a:rPr lang="en-US" dirty="0">
                <a:solidFill>
                  <a:schemeClr val="tx1"/>
                </a:solidFill>
              </a:rPr>
              <a:t>Fully guided deployments with extensive validation to ensure successful deployments</a:t>
            </a:r>
          </a:p>
          <a:p>
            <a:endParaRPr lang="en-US" dirty="0"/>
          </a:p>
        </p:txBody>
      </p:sp>
      <p:sp>
        <p:nvSpPr>
          <p:cNvPr id="5" name="Text Placeholder 4">
            <a:extLst>
              <a:ext uri="{FF2B5EF4-FFF2-40B4-BE49-F238E27FC236}">
                <a16:creationId xmlns:a16="http://schemas.microsoft.com/office/drawing/2014/main" id="{DAC63572-D7D7-A891-F195-4F90AF4AD926}"/>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252829B8-0F97-DB2B-6459-9A6546042E04}"/>
              </a:ext>
            </a:extLst>
          </p:cNvPr>
          <p:cNvSpPr>
            <a:spLocks noGrp="1"/>
          </p:cNvSpPr>
          <p:nvPr>
            <p:ph type="body" idx="4"/>
          </p:nvPr>
        </p:nvSpPr>
        <p:spPr>
          <a:xfrm>
            <a:off x="8378232" y="2063404"/>
            <a:ext cx="3682074" cy="1599783"/>
          </a:xfrm>
        </p:spPr>
        <p:txBody>
          <a:bodyPr/>
          <a:lstStyle/>
          <a:p>
            <a:r>
              <a:rPr lang="en-US" dirty="0"/>
              <a:t>Guided deployments with simple / Intuitive wizard driven UI.</a:t>
            </a:r>
          </a:p>
          <a:p>
            <a:r>
              <a:rPr lang="en-US" dirty="0"/>
              <a:t>Extensive validation to ensure success.</a:t>
            </a:r>
          </a:p>
          <a:p>
            <a:r>
              <a:rPr lang="en-US" dirty="0"/>
              <a:t>Support for using JSON / API.</a:t>
            </a:r>
          </a:p>
          <a:p>
            <a:endParaRPr lang="en-US" dirty="0"/>
          </a:p>
        </p:txBody>
      </p:sp>
      <p:sp>
        <p:nvSpPr>
          <p:cNvPr id="7" name="Text Placeholder 6">
            <a:extLst>
              <a:ext uri="{FF2B5EF4-FFF2-40B4-BE49-F238E27FC236}">
                <a16:creationId xmlns:a16="http://schemas.microsoft.com/office/drawing/2014/main" id="{96A9411D-9CBE-F21E-A3A8-3FB223D95DC9}"/>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E2B4DB04-47B1-53A7-58C1-F4506CBB01C3}"/>
              </a:ext>
            </a:extLst>
          </p:cNvPr>
          <p:cNvSpPr>
            <a:spLocks noGrp="1"/>
          </p:cNvSpPr>
          <p:nvPr>
            <p:ph type="body" idx="6"/>
          </p:nvPr>
        </p:nvSpPr>
        <p:spPr>
          <a:xfrm>
            <a:off x="8378232" y="4347665"/>
            <a:ext cx="3682074" cy="1599783"/>
          </a:xfrm>
        </p:spPr>
        <p:txBody>
          <a:bodyPr/>
          <a:lstStyle/>
          <a:p>
            <a:r>
              <a:rPr lang="en-US" dirty="0"/>
              <a:t>Guided deployment captures &amp; validates deployment parameters.</a:t>
            </a:r>
          </a:p>
          <a:p>
            <a:r>
              <a:rPr lang="en-US" dirty="0"/>
              <a:t>Monitor deployment progress Realtime.</a:t>
            </a:r>
          </a:p>
          <a:p>
            <a:r>
              <a:rPr lang="en-US" dirty="0"/>
              <a:t>Ability to capture inputs as JSON for future deployments.</a:t>
            </a:r>
          </a:p>
        </p:txBody>
      </p:sp>
      <p:sp>
        <p:nvSpPr>
          <p:cNvPr id="100" name="Google Shape;1479;p7">
            <a:extLst>
              <a:ext uri="{FF2B5EF4-FFF2-40B4-BE49-F238E27FC236}">
                <a16:creationId xmlns:a16="http://schemas.microsoft.com/office/drawing/2014/main" id="{5B3DFFF7-A913-3AB4-B56A-4815B0B49473}"/>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00948C9E-0972-9600-E5C1-5F3A1A7076A4}"/>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45650F28-80DC-F5FF-C703-6B3F0EBF67C1}"/>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914126">
              <a:buClr>
                <a:srgbClr val="000000"/>
              </a:buClr>
              <a:buSzPts val="1200"/>
            </a:pPr>
            <a:endParaRPr sz="1200" dirty="0">
              <a:solidFill>
                <a:srgbClr val="FFFFFF"/>
              </a:solidFill>
              <a:latin typeface="Arial"/>
              <a:ea typeface="Arial"/>
              <a:cs typeface="Arial"/>
              <a:sym typeface="Arial"/>
            </a:endParaRPr>
          </a:p>
        </p:txBody>
      </p:sp>
      <p:pic>
        <p:nvPicPr>
          <p:cNvPr id="9" name="Content Placeholder 5">
            <a:extLst>
              <a:ext uri="{FF2B5EF4-FFF2-40B4-BE49-F238E27FC236}">
                <a16:creationId xmlns:a16="http://schemas.microsoft.com/office/drawing/2014/main" id="{30D1A030-0E50-B50B-8659-CC20264259E8}"/>
              </a:ext>
            </a:extLst>
          </p:cNvPr>
          <p:cNvPicPr>
            <a:picLocks noChangeAspect="1"/>
          </p:cNvPicPr>
          <p:nvPr/>
        </p:nvPicPr>
        <p:blipFill>
          <a:blip r:embed="rId3"/>
          <a:stretch>
            <a:fillRect/>
          </a:stretch>
        </p:blipFill>
        <p:spPr>
          <a:xfrm>
            <a:off x="670487" y="1700139"/>
            <a:ext cx="6523260" cy="3358509"/>
          </a:xfrm>
          <a:prstGeom prst="rect">
            <a:avLst/>
          </a:prstGeom>
        </p:spPr>
      </p:pic>
      <p:pic>
        <p:nvPicPr>
          <p:cNvPr id="10" name="Picture 9">
            <a:extLst>
              <a:ext uri="{FF2B5EF4-FFF2-40B4-BE49-F238E27FC236}">
                <a16:creationId xmlns:a16="http://schemas.microsoft.com/office/drawing/2014/main" id="{F7B0D4D7-7B91-51DD-31C5-401FB16CAA7E}"/>
              </a:ext>
            </a:extLst>
          </p:cNvPr>
          <p:cNvPicPr>
            <a:picLocks noChangeAspect="1"/>
          </p:cNvPicPr>
          <p:nvPr/>
        </p:nvPicPr>
        <p:blipFill>
          <a:blip r:embed="rId4"/>
          <a:stretch>
            <a:fillRect/>
          </a:stretch>
        </p:blipFill>
        <p:spPr>
          <a:xfrm>
            <a:off x="3914499" y="2866698"/>
            <a:ext cx="3972266" cy="3087069"/>
          </a:xfrm>
          <a:prstGeom prst="rect">
            <a:avLst/>
          </a:prstGeom>
        </p:spPr>
      </p:pic>
    </p:spTree>
    <p:extLst>
      <p:ext uri="{BB962C8B-B14F-4D97-AF65-F5344CB8AC3E}">
        <p14:creationId xmlns:p14="http://schemas.microsoft.com/office/powerpoint/2010/main" val="14101842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C9C620-1B9B-E81D-13C9-E1DEA8139A6C}"/>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B35EFE7B-7234-A616-709B-E65993BB0D73}"/>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B6C16AF5-FEA6-D8EC-509B-FB6F1907CA20}"/>
              </a:ext>
            </a:extLst>
          </p:cNvPr>
          <p:cNvSpPr>
            <a:spLocks noGrp="1"/>
          </p:cNvSpPr>
          <p:nvPr>
            <p:ph type="title"/>
          </p:nvPr>
        </p:nvSpPr>
        <p:spPr>
          <a:xfrm>
            <a:off x="581245" y="413536"/>
            <a:ext cx="10998269" cy="380901"/>
          </a:xfrm>
        </p:spPr>
        <p:txBody>
          <a:bodyPr/>
          <a:lstStyle/>
          <a:p>
            <a:r>
              <a:rPr lang="en-US" dirty="0"/>
              <a:t>Deploy New Fleets and Expand Existing Fleets</a:t>
            </a:r>
            <a:endParaRPr lang="en-US" dirty="0">
              <a:solidFill>
                <a:schemeClr val="accent2"/>
              </a:solidFill>
            </a:endParaRPr>
          </a:p>
        </p:txBody>
      </p:sp>
      <p:sp>
        <p:nvSpPr>
          <p:cNvPr id="3" name="Subtitle 2">
            <a:extLst>
              <a:ext uri="{FF2B5EF4-FFF2-40B4-BE49-F238E27FC236}">
                <a16:creationId xmlns:a16="http://schemas.microsoft.com/office/drawing/2014/main" id="{E1D026DF-4019-F07B-F214-4862931FDC00}"/>
              </a:ext>
            </a:extLst>
          </p:cNvPr>
          <p:cNvSpPr>
            <a:spLocks noGrp="1"/>
          </p:cNvSpPr>
          <p:nvPr>
            <p:ph type="subTitle" idx="1"/>
          </p:nvPr>
        </p:nvSpPr>
        <p:spPr>
          <a:xfrm>
            <a:off x="594300" y="812513"/>
            <a:ext cx="10959889" cy="247735"/>
          </a:xfrm>
        </p:spPr>
        <p:txBody>
          <a:bodyPr/>
          <a:lstStyle/>
          <a:p>
            <a:r>
              <a:rPr lang="en-US" dirty="0">
                <a:solidFill>
                  <a:schemeClr val="tx1"/>
                </a:solidFill>
              </a:rPr>
              <a:t>Stand up a new fleet or add additional VCF Instances to an existing fleet</a:t>
            </a:r>
          </a:p>
          <a:p>
            <a:endParaRPr lang="en-US" dirty="0"/>
          </a:p>
        </p:txBody>
      </p:sp>
      <p:sp>
        <p:nvSpPr>
          <p:cNvPr id="5" name="Text Placeholder 4">
            <a:extLst>
              <a:ext uri="{FF2B5EF4-FFF2-40B4-BE49-F238E27FC236}">
                <a16:creationId xmlns:a16="http://schemas.microsoft.com/office/drawing/2014/main" id="{11AB2681-559A-890A-2187-37CFC9F19C15}"/>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41E2411E-3855-301F-F827-1E710C194C58}"/>
              </a:ext>
            </a:extLst>
          </p:cNvPr>
          <p:cNvSpPr>
            <a:spLocks noGrp="1"/>
          </p:cNvSpPr>
          <p:nvPr>
            <p:ph type="body" idx="4"/>
          </p:nvPr>
        </p:nvSpPr>
        <p:spPr>
          <a:xfrm>
            <a:off x="8378232" y="2063404"/>
            <a:ext cx="3682074" cy="1599783"/>
          </a:xfrm>
        </p:spPr>
        <p:txBody>
          <a:bodyPr/>
          <a:lstStyle/>
          <a:p>
            <a:r>
              <a:rPr lang="en-US" dirty="0"/>
              <a:t>Deploy a new VCF Fleet</a:t>
            </a:r>
          </a:p>
          <a:p>
            <a:r>
              <a:rPr lang="en-US" dirty="0"/>
              <a:t>Add a VCF Instance to an existing fleet</a:t>
            </a:r>
          </a:p>
          <a:p>
            <a:r>
              <a:rPr lang="en-US" dirty="0"/>
              <a:t>Install deferred components to complete a VCF Fleet</a:t>
            </a:r>
          </a:p>
        </p:txBody>
      </p:sp>
      <p:sp>
        <p:nvSpPr>
          <p:cNvPr id="7" name="Text Placeholder 6">
            <a:extLst>
              <a:ext uri="{FF2B5EF4-FFF2-40B4-BE49-F238E27FC236}">
                <a16:creationId xmlns:a16="http://schemas.microsoft.com/office/drawing/2014/main" id="{0FF36A7E-8EC9-2CE5-FE4C-992B7F7C9A0A}"/>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19DF99D5-D9AD-BFA4-FEA4-DA539E867922}"/>
              </a:ext>
            </a:extLst>
          </p:cNvPr>
          <p:cNvSpPr>
            <a:spLocks noGrp="1"/>
          </p:cNvSpPr>
          <p:nvPr>
            <p:ph type="body" idx="6"/>
          </p:nvPr>
        </p:nvSpPr>
        <p:spPr>
          <a:xfrm>
            <a:off x="8378232" y="4347665"/>
            <a:ext cx="3682074" cy="1599783"/>
          </a:xfrm>
        </p:spPr>
        <p:txBody>
          <a:bodyPr/>
          <a:lstStyle/>
          <a:p>
            <a:r>
              <a:rPr lang="en-US" dirty="0"/>
              <a:t>One tool used to deploy and expand your VCF Fleet.</a:t>
            </a:r>
          </a:p>
          <a:p>
            <a:r>
              <a:rPr lang="en-US" dirty="0"/>
              <a:t>Facilitates ability to get started and grow/complete your fleet over time.</a:t>
            </a:r>
          </a:p>
        </p:txBody>
      </p:sp>
      <p:sp>
        <p:nvSpPr>
          <p:cNvPr id="100" name="Google Shape;1479;p7">
            <a:extLst>
              <a:ext uri="{FF2B5EF4-FFF2-40B4-BE49-F238E27FC236}">
                <a16:creationId xmlns:a16="http://schemas.microsoft.com/office/drawing/2014/main" id="{2F2F19EE-5CD9-4E4E-18F5-0DD34DAC7D86}"/>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73B90B15-1E87-2E6F-7BBC-1EC76D612498}"/>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BBD08BCE-7E8A-5A96-C17C-E872A027D8CB}"/>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914126">
              <a:buClr>
                <a:srgbClr val="000000"/>
              </a:buClr>
              <a:buSzPts val="1200"/>
            </a:pPr>
            <a:endParaRPr sz="1200" dirty="0">
              <a:solidFill>
                <a:srgbClr val="FFFFFF"/>
              </a:solidFill>
              <a:latin typeface="Arial"/>
              <a:ea typeface="Arial"/>
              <a:cs typeface="Arial"/>
              <a:sym typeface="Arial"/>
            </a:endParaRPr>
          </a:p>
        </p:txBody>
      </p:sp>
      <p:pic>
        <p:nvPicPr>
          <p:cNvPr id="10" name="Picture 9">
            <a:extLst>
              <a:ext uri="{FF2B5EF4-FFF2-40B4-BE49-F238E27FC236}">
                <a16:creationId xmlns:a16="http://schemas.microsoft.com/office/drawing/2014/main" id="{44C48525-7DBB-D68E-AC4A-F58DFDF0DB9C}"/>
              </a:ext>
            </a:extLst>
          </p:cNvPr>
          <p:cNvPicPr>
            <a:picLocks noChangeAspect="1"/>
          </p:cNvPicPr>
          <p:nvPr/>
        </p:nvPicPr>
        <p:blipFill>
          <a:blip r:embed="rId3"/>
          <a:stretch>
            <a:fillRect/>
          </a:stretch>
        </p:blipFill>
        <p:spPr>
          <a:xfrm>
            <a:off x="906227" y="2574427"/>
            <a:ext cx="6814167" cy="2067456"/>
          </a:xfrm>
          <a:prstGeom prst="rect">
            <a:avLst/>
          </a:prstGeom>
        </p:spPr>
      </p:pic>
    </p:spTree>
    <p:extLst>
      <p:ext uri="{BB962C8B-B14F-4D97-AF65-F5344CB8AC3E}">
        <p14:creationId xmlns:p14="http://schemas.microsoft.com/office/powerpoint/2010/main" val="5164537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E041FF-A06D-2609-F37B-221087CCD0BC}"/>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34D262DE-71D0-F280-0100-8CFA7F1B5C2C}"/>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7936136B-DFD9-BB70-3E70-2BF4DFB81DB5}"/>
              </a:ext>
            </a:extLst>
          </p:cNvPr>
          <p:cNvSpPr>
            <a:spLocks noGrp="1"/>
          </p:cNvSpPr>
          <p:nvPr>
            <p:ph type="title"/>
          </p:nvPr>
        </p:nvSpPr>
        <p:spPr>
          <a:xfrm>
            <a:off x="581245" y="413536"/>
            <a:ext cx="10998269" cy="380901"/>
          </a:xfrm>
        </p:spPr>
        <p:txBody>
          <a:bodyPr/>
          <a:lstStyle/>
          <a:p>
            <a:r>
              <a:rPr lang="en-US" dirty="0">
                <a:solidFill>
                  <a:schemeClr val="accent2"/>
                </a:solidFill>
              </a:rPr>
              <a:t>Deploy VCF Using Existing Components</a:t>
            </a:r>
          </a:p>
        </p:txBody>
      </p:sp>
      <p:sp>
        <p:nvSpPr>
          <p:cNvPr id="3" name="Subtitle 2">
            <a:extLst>
              <a:ext uri="{FF2B5EF4-FFF2-40B4-BE49-F238E27FC236}">
                <a16:creationId xmlns:a16="http://schemas.microsoft.com/office/drawing/2014/main" id="{62079D47-4DAB-F191-4A5D-9B720FCEE009}"/>
              </a:ext>
            </a:extLst>
          </p:cNvPr>
          <p:cNvSpPr>
            <a:spLocks noGrp="1"/>
          </p:cNvSpPr>
          <p:nvPr>
            <p:ph type="subTitle" idx="1"/>
          </p:nvPr>
        </p:nvSpPr>
        <p:spPr>
          <a:xfrm>
            <a:off x="594300" y="812513"/>
            <a:ext cx="10959889" cy="247735"/>
          </a:xfrm>
        </p:spPr>
        <p:txBody>
          <a:bodyPr/>
          <a:lstStyle/>
          <a:p>
            <a:r>
              <a:rPr lang="en-US" dirty="0">
                <a:solidFill>
                  <a:schemeClr val="tx1"/>
                </a:solidFill>
              </a:rPr>
              <a:t>Converge existing VCF Operations, vSphere, and NSX Infrastructure</a:t>
            </a:r>
            <a:endParaRPr lang="en-US" dirty="0"/>
          </a:p>
        </p:txBody>
      </p:sp>
      <p:sp>
        <p:nvSpPr>
          <p:cNvPr id="5" name="Text Placeholder 4">
            <a:extLst>
              <a:ext uri="{FF2B5EF4-FFF2-40B4-BE49-F238E27FC236}">
                <a16:creationId xmlns:a16="http://schemas.microsoft.com/office/drawing/2014/main" id="{22755CD5-BB9C-1414-62CC-AEA71DB9DE08}"/>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EE43FFC7-0DDA-9BC9-0D67-70348B9CD8ED}"/>
              </a:ext>
            </a:extLst>
          </p:cNvPr>
          <p:cNvSpPr>
            <a:spLocks noGrp="1"/>
          </p:cNvSpPr>
          <p:nvPr>
            <p:ph type="body" idx="4"/>
          </p:nvPr>
        </p:nvSpPr>
        <p:spPr>
          <a:xfrm>
            <a:off x="8378232" y="2063404"/>
            <a:ext cx="3682074" cy="1599783"/>
          </a:xfrm>
        </p:spPr>
        <p:txBody>
          <a:bodyPr/>
          <a:lstStyle/>
          <a:p>
            <a:r>
              <a:rPr lang="en-US" dirty="0"/>
              <a:t>Support new &amp; converge Deployments.</a:t>
            </a:r>
          </a:p>
          <a:p>
            <a:r>
              <a:rPr lang="en-US" dirty="0"/>
              <a:t>VCF Deployment is not tied to new hardware purchase.</a:t>
            </a:r>
          </a:p>
        </p:txBody>
      </p:sp>
      <p:sp>
        <p:nvSpPr>
          <p:cNvPr id="7" name="Text Placeholder 6">
            <a:extLst>
              <a:ext uri="{FF2B5EF4-FFF2-40B4-BE49-F238E27FC236}">
                <a16:creationId xmlns:a16="http://schemas.microsoft.com/office/drawing/2014/main" id="{7A188ACD-C3F0-87C6-E669-7250ADEC6C7A}"/>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EE97C867-84B6-4965-B52F-3584A3DF7096}"/>
              </a:ext>
            </a:extLst>
          </p:cNvPr>
          <p:cNvSpPr>
            <a:spLocks noGrp="1"/>
          </p:cNvSpPr>
          <p:nvPr>
            <p:ph type="body" idx="6"/>
          </p:nvPr>
        </p:nvSpPr>
        <p:spPr>
          <a:xfrm>
            <a:off x="8378232" y="4347665"/>
            <a:ext cx="3682074" cy="1599783"/>
          </a:xfrm>
        </p:spPr>
        <p:txBody>
          <a:bodyPr/>
          <a:lstStyle/>
          <a:p>
            <a:r>
              <a:rPr lang="en-US" dirty="0"/>
              <a:t>Deploy on new hardware to benefit from latest features (e.g. vSAN ESA &amp; vSphere Memory Tiering).</a:t>
            </a:r>
          </a:p>
          <a:p>
            <a:r>
              <a:rPr lang="en-US" dirty="0"/>
              <a:t>Create a new VCF Fleet / Instance from existing infrastructure w/out need to procure new infrastructure.  </a:t>
            </a:r>
          </a:p>
        </p:txBody>
      </p:sp>
      <p:sp>
        <p:nvSpPr>
          <p:cNvPr id="100" name="Google Shape;1479;p7">
            <a:extLst>
              <a:ext uri="{FF2B5EF4-FFF2-40B4-BE49-F238E27FC236}">
                <a16:creationId xmlns:a16="http://schemas.microsoft.com/office/drawing/2014/main" id="{4E426D98-71B6-10ED-D131-E2D10C073B18}"/>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EE7B7CBA-8C13-25F1-7D1D-54CCD8F52641}"/>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B65C9BD6-0737-4D87-8646-A8B0C1489E80}"/>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914126">
              <a:buClr>
                <a:srgbClr val="000000"/>
              </a:buClr>
              <a:buSzPts val="1200"/>
            </a:pPr>
            <a:endParaRPr sz="1200" dirty="0">
              <a:solidFill>
                <a:srgbClr val="FFFFFF"/>
              </a:solidFill>
              <a:latin typeface="Arial"/>
              <a:ea typeface="Arial"/>
              <a:cs typeface="Arial"/>
              <a:sym typeface="Arial"/>
            </a:endParaRPr>
          </a:p>
        </p:txBody>
      </p:sp>
      <p:pic>
        <p:nvPicPr>
          <p:cNvPr id="10" name="Picture 9">
            <a:extLst>
              <a:ext uri="{FF2B5EF4-FFF2-40B4-BE49-F238E27FC236}">
                <a16:creationId xmlns:a16="http://schemas.microsoft.com/office/drawing/2014/main" id="{98E55AD4-7DF1-FCEA-01D3-995D747FCC4C}"/>
              </a:ext>
            </a:extLst>
          </p:cNvPr>
          <p:cNvPicPr>
            <a:picLocks noChangeAspect="1"/>
          </p:cNvPicPr>
          <p:nvPr/>
        </p:nvPicPr>
        <p:blipFill>
          <a:blip r:embed="rId3"/>
          <a:stretch>
            <a:fillRect/>
          </a:stretch>
        </p:blipFill>
        <p:spPr>
          <a:xfrm>
            <a:off x="808600" y="2497452"/>
            <a:ext cx="6866418" cy="3019127"/>
          </a:xfrm>
          <a:prstGeom prst="rect">
            <a:avLst/>
          </a:prstGeom>
        </p:spPr>
      </p:pic>
    </p:spTree>
    <p:extLst>
      <p:ext uri="{BB962C8B-B14F-4D97-AF65-F5344CB8AC3E}">
        <p14:creationId xmlns:p14="http://schemas.microsoft.com/office/powerpoint/2010/main" val="10485834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1CFE8B-A232-C91B-31DE-78AD90ED812C}"/>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BDB6F4E5-5E20-6D72-5393-4FA435E0BEFA}"/>
              </a:ext>
            </a:extLst>
          </p:cNvPr>
          <p:cNvSpPr>
            <a:spLocks noGrp="1"/>
          </p:cNvSpPr>
          <p:nvPr>
            <p:ph type="title"/>
          </p:nvPr>
        </p:nvSpPr>
        <p:spPr/>
        <p:txBody>
          <a:bodyPr/>
          <a:lstStyle/>
          <a:p>
            <a:r>
              <a:rPr lang="en-US" dirty="0"/>
              <a:t>Integrated Planning &amp; Preparation with VCF Installer</a:t>
            </a:r>
          </a:p>
        </p:txBody>
      </p:sp>
      <p:sp>
        <p:nvSpPr>
          <p:cNvPr id="7" name="Subtitle 6">
            <a:extLst>
              <a:ext uri="{FF2B5EF4-FFF2-40B4-BE49-F238E27FC236}">
                <a16:creationId xmlns:a16="http://schemas.microsoft.com/office/drawing/2014/main" id="{702574FF-3CA3-2B71-55BB-3C37E7B013B8}"/>
              </a:ext>
            </a:extLst>
          </p:cNvPr>
          <p:cNvSpPr>
            <a:spLocks noGrp="1"/>
          </p:cNvSpPr>
          <p:nvPr>
            <p:ph type="subTitle" idx="10"/>
          </p:nvPr>
        </p:nvSpPr>
        <p:spPr/>
        <p:txBody>
          <a:bodyPr/>
          <a:lstStyle/>
          <a:p>
            <a:r>
              <a:rPr lang="en-US" dirty="0"/>
              <a:t>Customized guidance on amount of CPU, Memory and Storage needed for each deployment</a:t>
            </a:r>
          </a:p>
        </p:txBody>
      </p:sp>
      <p:sp>
        <p:nvSpPr>
          <p:cNvPr id="8" name="Text Placeholder 7">
            <a:extLst>
              <a:ext uri="{FF2B5EF4-FFF2-40B4-BE49-F238E27FC236}">
                <a16:creationId xmlns:a16="http://schemas.microsoft.com/office/drawing/2014/main" id="{F85DA4FC-D4DE-6A0A-841B-2DB6EC66A483}"/>
              </a:ext>
            </a:extLst>
          </p:cNvPr>
          <p:cNvSpPr>
            <a:spLocks noGrp="1"/>
          </p:cNvSpPr>
          <p:nvPr>
            <p:ph type="body" sz="quarter" idx="20"/>
          </p:nvPr>
        </p:nvSpPr>
        <p:spPr/>
        <p:txBody>
          <a:bodyPr/>
          <a:lstStyle/>
          <a:p>
            <a:r>
              <a:rPr lang="en-US" sz="1600" dirty="0"/>
              <a:t>Customized based on each deployment </a:t>
            </a:r>
          </a:p>
          <a:p>
            <a:r>
              <a:rPr lang="en-US" sz="1600" dirty="0"/>
              <a:t>Factors in:</a:t>
            </a:r>
          </a:p>
          <a:p>
            <a:pPr lvl="1"/>
            <a:r>
              <a:rPr lang="en-US" sz="1400" dirty="0"/>
              <a:t>Sizing preferences</a:t>
            </a:r>
          </a:p>
          <a:p>
            <a:pPr lvl="1"/>
            <a:r>
              <a:rPr lang="en-US" sz="1400" dirty="0"/>
              <a:t>Network Options</a:t>
            </a:r>
          </a:p>
          <a:p>
            <a:pPr lvl="1"/>
            <a:r>
              <a:rPr lang="en-US" sz="1400" dirty="0"/>
              <a:t>Storage Type</a:t>
            </a:r>
          </a:p>
          <a:p>
            <a:r>
              <a:rPr lang="en-US" sz="1600" dirty="0"/>
              <a:t>Provides requirements for:</a:t>
            </a:r>
          </a:p>
          <a:p>
            <a:pPr lvl="1"/>
            <a:r>
              <a:rPr lang="en-US" sz="1400" dirty="0"/>
              <a:t>Host Resources requirements</a:t>
            </a:r>
          </a:p>
          <a:p>
            <a:pPr lvl="1"/>
            <a:r>
              <a:rPr lang="en-US" sz="1400" dirty="0"/>
              <a:t>VLANs</a:t>
            </a:r>
          </a:p>
          <a:p>
            <a:pPr lvl="1"/>
            <a:r>
              <a:rPr lang="en-US" sz="1400" dirty="0"/>
              <a:t>FQDNs and IPs</a:t>
            </a:r>
          </a:p>
        </p:txBody>
      </p:sp>
      <p:sp>
        <p:nvSpPr>
          <p:cNvPr id="9" name="Text Placeholder 8">
            <a:extLst>
              <a:ext uri="{FF2B5EF4-FFF2-40B4-BE49-F238E27FC236}">
                <a16:creationId xmlns:a16="http://schemas.microsoft.com/office/drawing/2014/main" id="{F5A1716B-88DE-A399-2019-390C497B8EBA}"/>
              </a:ext>
            </a:extLst>
          </p:cNvPr>
          <p:cNvSpPr>
            <a:spLocks noGrp="1"/>
          </p:cNvSpPr>
          <p:nvPr>
            <p:ph sz="quarter" idx="19"/>
          </p:nvPr>
        </p:nvSpPr>
        <p:spPr/>
        <p:txBody>
          <a:bodyPr/>
          <a:lstStyle/>
          <a:p>
            <a:endParaRPr lang="en-US" dirty="0"/>
          </a:p>
        </p:txBody>
      </p:sp>
      <p:sp>
        <p:nvSpPr>
          <p:cNvPr id="20" name="Text Placeholder 10">
            <a:extLst>
              <a:ext uri="{FF2B5EF4-FFF2-40B4-BE49-F238E27FC236}">
                <a16:creationId xmlns:a16="http://schemas.microsoft.com/office/drawing/2014/main" id="{E28EC141-D1CD-4D23-0D7B-993F5E957390}"/>
              </a:ext>
            </a:extLst>
          </p:cNvPr>
          <p:cNvSpPr txBox="1">
            <a:spLocks/>
          </p:cNvSpPr>
          <p:nvPr/>
        </p:nvSpPr>
        <p:spPr>
          <a:xfrm>
            <a:off x="745266" y="2801938"/>
            <a:ext cx="3594100" cy="3522662"/>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Char char="​"/>
              <a:defRPr sz="1600" kern="1200">
                <a:solidFill>
                  <a:schemeClr val="tx1"/>
                </a:solidFill>
                <a:latin typeface="+mn-lt"/>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n-lt"/>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200" kern="1200">
                <a:solidFill>
                  <a:schemeClr val="tx1"/>
                </a:solidFill>
                <a:latin typeface="+mn-lt"/>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100" kern="1200">
                <a:solidFill>
                  <a:schemeClr val="tx1"/>
                </a:solidFill>
                <a:latin typeface="+mn-lt"/>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100" kern="1200">
                <a:solidFill>
                  <a:schemeClr val="tx1"/>
                </a:solidFill>
                <a:latin typeface="+mn-lt"/>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endParaRPr lang="en-US" dirty="0"/>
          </a:p>
        </p:txBody>
      </p:sp>
      <p:pic>
        <p:nvPicPr>
          <p:cNvPr id="11" name="Picture 10">
            <a:extLst>
              <a:ext uri="{FF2B5EF4-FFF2-40B4-BE49-F238E27FC236}">
                <a16:creationId xmlns:a16="http://schemas.microsoft.com/office/drawing/2014/main" id="{73ACBC8F-6F0D-856F-A822-735ED27E95A8}"/>
              </a:ext>
            </a:extLst>
          </p:cNvPr>
          <p:cNvPicPr>
            <a:picLocks noChangeAspect="1"/>
          </p:cNvPicPr>
          <p:nvPr/>
        </p:nvPicPr>
        <p:blipFill>
          <a:blip r:embed="rId3"/>
          <a:stretch>
            <a:fillRect/>
          </a:stretch>
        </p:blipFill>
        <p:spPr>
          <a:xfrm>
            <a:off x="1319349" y="1609531"/>
            <a:ext cx="5181600" cy="4648200"/>
          </a:xfrm>
          <a:prstGeom prst="rect">
            <a:avLst/>
          </a:prstGeom>
        </p:spPr>
      </p:pic>
    </p:spTree>
    <p:extLst>
      <p:ext uri="{BB962C8B-B14F-4D97-AF65-F5344CB8AC3E}">
        <p14:creationId xmlns:p14="http://schemas.microsoft.com/office/powerpoint/2010/main" val="3234309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875">
          <a:extLst>
            <a:ext uri="{FF2B5EF4-FFF2-40B4-BE49-F238E27FC236}">
              <a16:creationId xmlns:a16="http://schemas.microsoft.com/office/drawing/2014/main" id="{378ADC11-852E-92EC-CBF8-8E3620F76ABD}"/>
            </a:ext>
          </a:extLst>
        </p:cNvPr>
        <p:cNvGrpSpPr/>
        <p:nvPr/>
      </p:nvGrpSpPr>
      <p:grpSpPr>
        <a:xfrm>
          <a:off x="0" y="0"/>
          <a:ext cx="0" cy="0"/>
          <a:chOff x="0" y="0"/>
          <a:chExt cx="0" cy="0"/>
        </a:xfrm>
      </p:grpSpPr>
      <p:sp>
        <p:nvSpPr>
          <p:cNvPr id="2876" name="Google Shape;2876;p39">
            <a:extLst>
              <a:ext uri="{FF2B5EF4-FFF2-40B4-BE49-F238E27FC236}">
                <a16:creationId xmlns:a16="http://schemas.microsoft.com/office/drawing/2014/main" id="{CA2DAB20-BAD8-9350-273E-D0341F99B58C}"/>
              </a:ext>
            </a:extLst>
          </p:cNvPr>
          <p:cNvSpPr txBox="1">
            <a:spLocks noGrp="1"/>
          </p:cNvSpPr>
          <p:nvPr>
            <p:ph type="title"/>
          </p:nvPr>
        </p:nvSpPr>
        <p:spPr/>
        <p:txBody>
          <a:bodyPr spcFirstLastPara="1" wrap="square" lIns="0" tIns="0" rIns="0" bIns="0" anchor="b" anchorCtr="0">
            <a:normAutofit/>
          </a:bodyPr>
          <a:lstStyle/>
          <a:p>
            <a:pPr lvl="0">
              <a:spcAft>
                <a:spcPts val="0"/>
              </a:spcAft>
              <a:buClr>
                <a:srgbClr val="000000"/>
              </a:buClr>
              <a:buSzPts val="1300"/>
            </a:pPr>
            <a:r>
              <a:rPr lang="en-US" sz="3600" dirty="0"/>
              <a:t>Build and Deploy Private Cloud Infrastructure On-Premises</a:t>
            </a:r>
          </a:p>
        </p:txBody>
      </p:sp>
      <p:sp>
        <p:nvSpPr>
          <p:cNvPr id="2877" name="Google Shape;2877;p39">
            <a:extLst>
              <a:ext uri="{FF2B5EF4-FFF2-40B4-BE49-F238E27FC236}">
                <a16:creationId xmlns:a16="http://schemas.microsoft.com/office/drawing/2014/main" id="{A51E9F31-1603-ABC5-8A97-5BA277432F5B}"/>
              </a:ext>
            </a:extLst>
          </p:cNvPr>
          <p:cNvSpPr txBox="1">
            <a:spLocks noGrp="1"/>
          </p:cNvSpPr>
          <p:nvPr>
            <p:ph type="subTitle" idx="1"/>
          </p:nvPr>
        </p:nvSpPr>
        <p:spPr/>
        <p:txBody>
          <a:bodyPr spcFirstLastPara="1" lIns="0" tIns="0" rIns="0" bIns="0" anchorCtr="0">
            <a:normAutofit/>
          </a:bodyPr>
          <a:lstStyle/>
          <a:p>
            <a:pPr lvl="0">
              <a:spcAft>
                <a:spcPts val="0"/>
              </a:spcAft>
              <a:buClr>
                <a:srgbClr val="000000"/>
              </a:buClr>
              <a:buSzPts val="1300"/>
            </a:pPr>
            <a:endParaRPr lang="en-US" sz="3600" dirty="0">
              <a:solidFill>
                <a:schemeClr val="dk1"/>
              </a:solidFill>
              <a:ea typeface="Arial"/>
              <a:cs typeface="Arial"/>
              <a:sym typeface="Arial"/>
            </a:endParaRPr>
          </a:p>
          <a:p>
            <a:pPr marL="0" lvl="0" indent="0" rtl="0">
              <a:spcBef>
                <a:spcPts val="0"/>
              </a:spcBef>
              <a:spcAft>
                <a:spcPts val="600"/>
              </a:spcAft>
              <a:buSzPts val="2160"/>
              <a:buNone/>
            </a:pPr>
            <a:endParaRPr lang="en-US" dirty="0"/>
          </a:p>
        </p:txBody>
      </p:sp>
      <p:sp>
        <p:nvSpPr>
          <p:cNvPr id="2" name="Google Shape;2877;p39">
            <a:extLst>
              <a:ext uri="{FF2B5EF4-FFF2-40B4-BE49-F238E27FC236}">
                <a16:creationId xmlns:a16="http://schemas.microsoft.com/office/drawing/2014/main" id="{B45B79CD-5C1D-5BDC-57CA-36AD3E3E5C4B}"/>
              </a:ext>
            </a:extLst>
          </p:cNvPr>
          <p:cNvSpPr txBox="1">
            <a:spLocks/>
          </p:cNvSpPr>
          <p:nvPr/>
        </p:nvSpPr>
        <p:spPr>
          <a:xfrm>
            <a:off x="755366" y="2420112"/>
            <a:ext cx="6542112" cy="2165392"/>
          </a:xfrm>
          <a:prstGeom prst="rect">
            <a:avLst/>
          </a:prstGeom>
        </p:spPr>
        <p:txBody>
          <a:bodyPr spcFirstLastPara="1" vert="horz" lIns="0" tIns="0" rIns="0" bIns="0" rtlCol="0" anchorCtr="0">
            <a:normAutofit/>
          </a:bodyPr>
          <a:lstStyle>
            <a:lvl1pPr marL="0" indent="0" algn="l" defTabSz="914126"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None/>
              <a:defRPr sz="2399" kern="1200">
                <a:solidFill>
                  <a:schemeClr val="tx1"/>
                </a:solidFill>
                <a:latin typeface="+mj-lt"/>
                <a:ea typeface="+mn-ea"/>
                <a:cs typeface="+mn-cs"/>
              </a:defRPr>
            </a:lvl1pPr>
            <a:lvl2pPr marL="457063"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999" kern="1200">
                <a:solidFill>
                  <a:schemeClr val="tx1"/>
                </a:solidFill>
                <a:latin typeface="+mn-lt"/>
                <a:ea typeface="+mn-ea"/>
                <a:cs typeface="+mn-cs"/>
              </a:defRPr>
            </a:lvl2pPr>
            <a:lvl3pPr marL="914126"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799" kern="1200">
                <a:solidFill>
                  <a:schemeClr val="tx1"/>
                </a:solidFill>
                <a:latin typeface="+mn-lt"/>
                <a:ea typeface="+mn-ea"/>
                <a:cs typeface="+mn-cs"/>
              </a:defRPr>
            </a:lvl3pPr>
            <a:lvl4pPr marL="1371189"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251"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5314"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2377"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199440"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6503"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a:spcAft>
                <a:spcPts val="600"/>
              </a:spcAft>
              <a:buSzPts val="2160"/>
            </a:pPr>
            <a:r>
              <a:rPr lang="en-US" dirty="0"/>
              <a:t>Centralized Lifecycle Management </a:t>
            </a:r>
          </a:p>
          <a:p>
            <a:pPr>
              <a:spcAft>
                <a:spcPts val="600"/>
              </a:spcAft>
              <a:buSzPts val="2160"/>
            </a:pPr>
            <a:r>
              <a:rPr lang="en-US" dirty="0"/>
              <a:t>(Patch &amp; Upgrade)</a:t>
            </a:r>
          </a:p>
        </p:txBody>
      </p:sp>
    </p:spTree>
    <p:extLst>
      <p:ext uri="{BB962C8B-B14F-4D97-AF65-F5344CB8AC3E}">
        <p14:creationId xmlns:p14="http://schemas.microsoft.com/office/powerpoint/2010/main" val="4136136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E4D05A-1159-4C99-7E6A-322A22671FA4}"/>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7322037A-9C01-C8E0-50F8-358870B8D422}"/>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CEDB2A2B-FCA7-961E-9EFE-44078F835C67}"/>
              </a:ext>
            </a:extLst>
          </p:cNvPr>
          <p:cNvSpPr>
            <a:spLocks noGrp="1"/>
          </p:cNvSpPr>
          <p:nvPr>
            <p:ph type="title"/>
          </p:nvPr>
        </p:nvSpPr>
        <p:spPr>
          <a:xfrm>
            <a:off x="581245" y="413536"/>
            <a:ext cx="10998269" cy="380901"/>
          </a:xfrm>
        </p:spPr>
        <p:txBody>
          <a:bodyPr/>
          <a:lstStyle/>
          <a:p>
            <a:r>
              <a:rPr lang="en-US" dirty="0">
                <a:solidFill>
                  <a:schemeClr val="accent2"/>
                </a:solidFill>
              </a:rPr>
              <a:t>Centralized Lifecycle Management</a:t>
            </a:r>
          </a:p>
        </p:txBody>
      </p:sp>
      <p:sp>
        <p:nvSpPr>
          <p:cNvPr id="3" name="Subtitle 2">
            <a:extLst>
              <a:ext uri="{FF2B5EF4-FFF2-40B4-BE49-F238E27FC236}">
                <a16:creationId xmlns:a16="http://schemas.microsoft.com/office/drawing/2014/main" id="{9F42E555-3351-CF4F-8D98-3C48B32AA648}"/>
              </a:ext>
            </a:extLst>
          </p:cNvPr>
          <p:cNvSpPr>
            <a:spLocks noGrp="1"/>
          </p:cNvSpPr>
          <p:nvPr>
            <p:ph type="subTitle" idx="1"/>
          </p:nvPr>
        </p:nvSpPr>
        <p:spPr>
          <a:xfrm>
            <a:off x="594300" y="812513"/>
            <a:ext cx="10959889" cy="247735"/>
          </a:xfrm>
        </p:spPr>
        <p:txBody>
          <a:bodyPr/>
          <a:lstStyle/>
          <a:p>
            <a:r>
              <a:rPr lang="en-US" dirty="0">
                <a:solidFill>
                  <a:schemeClr val="tx1"/>
                </a:solidFill>
              </a:rPr>
              <a:t>VCF Operations consolidates patching and upgrade for all components</a:t>
            </a:r>
          </a:p>
          <a:p>
            <a:endParaRPr lang="en-US" dirty="0"/>
          </a:p>
        </p:txBody>
      </p:sp>
      <p:sp>
        <p:nvSpPr>
          <p:cNvPr id="5" name="Text Placeholder 4">
            <a:extLst>
              <a:ext uri="{FF2B5EF4-FFF2-40B4-BE49-F238E27FC236}">
                <a16:creationId xmlns:a16="http://schemas.microsoft.com/office/drawing/2014/main" id="{14EFB98A-15FA-FAC5-CF02-ACC44BA0268E}"/>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4EB1E36C-D89F-2639-84E5-81BFB451139F}"/>
              </a:ext>
            </a:extLst>
          </p:cNvPr>
          <p:cNvSpPr>
            <a:spLocks noGrp="1"/>
          </p:cNvSpPr>
          <p:nvPr>
            <p:ph type="body" idx="4"/>
          </p:nvPr>
        </p:nvSpPr>
        <p:spPr>
          <a:xfrm>
            <a:off x="8378232" y="2063404"/>
            <a:ext cx="3682074" cy="1599783"/>
          </a:xfrm>
        </p:spPr>
        <p:txBody>
          <a:bodyPr/>
          <a:lstStyle/>
          <a:p>
            <a:r>
              <a:rPr lang="en-US" dirty="0"/>
              <a:t>VCF lifecycle management consolidated into a single UI.</a:t>
            </a:r>
          </a:p>
          <a:p>
            <a:r>
              <a:rPr lang="en-US" dirty="0"/>
              <a:t>Single location to patch/upgrade all components.</a:t>
            </a:r>
          </a:p>
        </p:txBody>
      </p:sp>
      <p:sp>
        <p:nvSpPr>
          <p:cNvPr id="7" name="Text Placeholder 6">
            <a:extLst>
              <a:ext uri="{FF2B5EF4-FFF2-40B4-BE49-F238E27FC236}">
                <a16:creationId xmlns:a16="http://schemas.microsoft.com/office/drawing/2014/main" id="{A9AAADA3-9057-1E76-17A1-99A0247B2F9D}"/>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D4288193-1549-2032-0EE3-E835516F7ECF}"/>
              </a:ext>
            </a:extLst>
          </p:cNvPr>
          <p:cNvSpPr>
            <a:spLocks noGrp="1"/>
          </p:cNvSpPr>
          <p:nvPr>
            <p:ph type="body" idx="6"/>
          </p:nvPr>
        </p:nvSpPr>
        <p:spPr>
          <a:xfrm>
            <a:off x="8378232" y="4347665"/>
            <a:ext cx="3682074" cy="1599783"/>
          </a:xfrm>
        </p:spPr>
        <p:txBody>
          <a:bodyPr/>
          <a:lstStyle/>
          <a:p>
            <a:r>
              <a:rPr lang="en-US" dirty="0"/>
              <a:t>Manage software updates from one place.</a:t>
            </a:r>
          </a:p>
          <a:p>
            <a:r>
              <a:rPr lang="en-US" dirty="0"/>
              <a:t>Consistent experience across management and core components.</a:t>
            </a:r>
          </a:p>
        </p:txBody>
      </p:sp>
      <p:sp>
        <p:nvSpPr>
          <p:cNvPr id="4" name="Google Shape;1527;p8">
            <a:extLst>
              <a:ext uri="{FF2B5EF4-FFF2-40B4-BE49-F238E27FC236}">
                <a16:creationId xmlns:a16="http://schemas.microsoft.com/office/drawing/2014/main" id="{B8549A12-962E-E0A1-A059-D8A8D5D04975}"/>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pic>
        <p:nvPicPr>
          <p:cNvPr id="15" name="Picture 14">
            <a:extLst>
              <a:ext uri="{FF2B5EF4-FFF2-40B4-BE49-F238E27FC236}">
                <a16:creationId xmlns:a16="http://schemas.microsoft.com/office/drawing/2014/main" id="{027F2AF7-04D3-9C06-E576-68605A2A5FF6}"/>
              </a:ext>
            </a:extLst>
          </p:cNvPr>
          <p:cNvPicPr>
            <a:picLocks noChangeAspect="1"/>
          </p:cNvPicPr>
          <p:nvPr/>
        </p:nvPicPr>
        <p:blipFill>
          <a:blip r:embed="rId3"/>
          <a:stretch>
            <a:fillRect/>
          </a:stretch>
        </p:blipFill>
        <p:spPr>
          <a:xfrm>
            <a:off x="581245" y="2402702"/>
            <a:ext cx="7446841" cy="3139255"/>
          </a:xfrm>
          <a:prstGeom prst="rect">
            <a:avLst/>
          </a:prstGeom>
        </p:spPr>
      </p:pic>
    </p:spTree>
    <p:extLst>
      <p:ext uri="{BB962C8B-B14F-4D97-AF65-F5344CB8AC3E}">
        <p14:creationId xmlns:p14="http://schemas.microsoft.com/office/powerpoint/2010/main" val="155244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35837E-27CC-55DE-A62A-DC510589C096}"/>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2804B9D8-71AA-77E5-0176-3C8493BF6683}"/>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FC6B765E-6BF0-64FA-1F01-8EB4E55C19FA}"/>
              </a:ext>
            </a:extLst>
          </p:cNvPr>
          <p:cNvSpPr>
            <a:spLocks noGrp="1"/>
          </p:cNvSpPr>
          <p:nvPr>
            <p:ph type="title"/>
          </p:nvPr>
        </p:nvSpPr>
        <p:spPr>
          <a:xfrm>
            <a:off x="581245" y="413536"/>
            <a:ext cx="10998269" cy="380901"/>
          </a:xfrm>
        </p:spPr>
        <p:txBody>
          <a:bodyPr/>
          <a:lstStyle/>
          <a:p>
            <a:r>
              <a:rPr lang="en-US" dirty="0">
                <a:solidFill>
                  <a:schemeClr val="accent2"/>
                </a:solidFill>
              </a:rPr>
              <a:t>Centralized Lifecycle Management</a:t>
            </a:r>
          </a:p>
        </p:txBody>
      </p:sp>
      <p:sp>
        <p:nvSpPr>
          <p:cNvPr id="3" name="Subtitle 2">
            <a:extLst>
              <a:ext uri="{FF2B5EF4-FFF2-40B4-BE49-F238E27FC236}">
                <a16:creationId xmlns:a16="http://schemas.microsoft.com/office/drawing/2014/main" id="{B59DE939-1B13-94F0-7D27-22643990F9D8}"/>
              </a:ext>
            </a:extLst>
          </p:cNvPr>
          <p:cNvSpPr>
            <a:spLocks noGrp="1"/>
          </p:cNvSpPr>
          <p:nvPr>
            <p:ph type="subTitle" idx="1"/>
          </p:nvPr>
        </p:nvSpPr>
        <p:spPr>
          <a:xfrm>
            <a:off x="594300" y="812513"/>
            <a:ext cx="10959889" cy="247735"/>
          </a:xfrm>
        </p:spPr>
        <p:txBody>
          <a:bodyPr/>
          <a:lstStyle/>
          <a:p>
            <a:r>
              <a:rPr lang="en-US" dirty="0">
                <a:solidFill>
                  <a:schemeClr val="tx1"/>
                </a:solidFill>
              </a:rPr>
              <a:t>VCF Operations consolidates patching and upgrade for all components</a:t>
            </a:r>
          </a:p>
          <a:p>
            <a:endParaRPr lang="en-US" dirty="0"/>
          </a:p>
        </p:txBody>
      </p:sp>
      <p:sp>
        <p:nvSpPr>
          <p:cNvPr id="5" name="Text Placeholder 4">
            <a:extLst>
              <a:ext uri="{FF2B5EF4-FFF2-40B4-BE49-F238E27FC236}">
                <a16:creationId xmlns:a16="http://schemas.microsoft.com/office/drawing/2014/main" id="{DA3A0F60-1A39-6998-FA27-A1BEF1C28B74}"/>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D823B10B-D36F-AD0F-E1B2-4135F4429A16}"/>
              </a:ext>
            </a:extLst>
          </p:cNvPr>
          <p:cNvSpPr>
            <a:spLocks noGrp="1"/>
          </p:cNvSpPr>
          <p:nvPr>
            <p:ph type="body" idx="4"/>
          </p:nvPr>
        </p:nvSpPr>
        <p:spPr>
          <a:xfrm>
            <a:off x="8378232" y="2063404"/>
            <a:ext cx="3682074" cy="1599783"/>
          </a:xfrm>
        </p:spPr>
        <p:txBody>
          <a:bodyPr/>
          <a:lstStyle/>
          <a:p>
            <a:r>
              <a:rPr lang="en-US" dirty="0"/>
              <a:t>VCF lifecycle management consolidated into a single UI.</a:t>
            </a:r>
          </a:p>
          <a:p>
            <a:r>
              <a:rPr lang="en-US" dirty="0"/>
              <a:t>Single location to patch/upgrade all components.</a:t>
            </a:r>
          </a:p>
        </p:txBody>
      </p:sp>
      <p:sp>
        <p:nvSpPr>
          <p:cNvPr id="7" name="Text Placeholder 6">
            <a:extLst>
              <a:ext uri="{FF2B5EF4-FFF2-40B4-BE49-F238E27FC236}">
                <a16:creationId xmlns:a16="http://schemas.microsoft.com/office/drawing/2014/main" id="{FB49E213-D5A7-C2B7-8418-F33D55864E6E}"/>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641DAD74-0EC4-AFE1-1360-07BFE46F821C}"/>
              </a:ext>
            </a:extLst>
          </p:cNvPr>
          <p:cNvSpPr>
            <a:spLocks noGrp="1"/>
          </p:cNvSpPr>
          <p:nvPr>
            <p:ph type="body" idx="6"/>
          </p:nvPr>
        </p:nvSpPr>
        <p:spPr>
          <a:xfrm>
            <a:off x="8378232" y="4347665"/>
            <a:ext cx="3682074" cy="1599783"/>
          </a:xfrm>
        </p:spPr>
        <p:txBody>
          <a:bodyPr/>
          <a:lstStyle/>
          <a:p>
            <a:r>
              <a:rPr lang="en-US" dirty="0"/>
              <a:t>Manage software updates from one place.</a:t>
            </a:r>
          </a:p>
          <a:p>
            <a:r>
              <a:rPr lang="en-US" dirty="0"/>
              <a:t>Consistent experience across management and core components.</a:t>
            </a:r>
          </a:p>
        </p:txBody>
      </p:sp>
      <p:sp>
        <p:nvSpPr>
          <p:cNvPr id="85" name="Google Shape;1479;p7">
            <a:extLst>
              <a:ext uri="{FF2B5EF4-FFF2-40B4-BE49-F238E27FC236}">
                <a16:creationId xmlns:a16="http://schemas.microsoft.com/office/drawing/2014/main" id="{71153D32-B693-4133-26E2-275D4C61DC8B}"/>
              </a:ext>
            </a:extLst>
          </p:cNvPr>
          <p:cNvSpPr/>
          <p:nvPr/>
        </p:nvSpPr>
        <p:spPr>
          <a:xfrm>
            <a:off x="801479" y="3758179"/>
            <a:ext cx="4670075" cy="875189"/>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86" name="Google Shape;1479;p7">
            <a:extLst>
              <a:ext uri="{FF2B5EF4-FFF2-40B4-BE49-F238E27FC236}">
                <a16:creationId xmlns:a16="http://schemas.microsoft.com/office/drawing/2014/main" id="{B8F787A1-57C1-3145-4EF6-1BCEE46304B7}"/>
              </a:ext>
            </a:extLst>
          </p:cNvPr>
          <p:cNvSpPr/>
          <p:nvPr/>
        </p:nvSpPr>
        <p:spPr>
          <a:xfrm>
            <a:off x="801479" y="2006092"/>
            <a:ext cx="4670075" cy="15534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2" name="TextBox 21">
            <a:extLst>
              <a:ext uri="{FF2B5EF4-FFF2-40B4-BE49-F238E27FC236}">
                <a16:creationId xmlns:a16="http://schemas.microsoft.com/office/drawing/2014/main" id="{C3445973-C1D3-0DA1-E5F5-5D1C7543CBB7}"/>
              </a:ext>
            </a:extLst>
          </p:cNvPr>
          <p:cNvSpPr txBox="1"/>
          <p:nvPr/>
        </p:nvSpPr>
        <p:spPr>
          <a:xfrm>
            <a:off x="1367150" y="1697587"/>
            <a:ext cx="3439394" cy="24615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B1D36"/>
                </a:solidFill>
                <a:effectLst/>
                <a:uLnTx/>
                <a:uFillTx/>
                <a:latin typeface="Arial" panose="020B0604020202020204"/>
                <a:ea typeface="+mn-ea"/>
                <a:cs typeface="+mn-cs"/>
              </a:rPr>
              <a:t>VCF 5.x &amp; Aria Suite</a:t>
            </a:r>
          </a:p>
        </p:txBody>
      </p:sp>
      <p:sp>
        <p:nvSpPr>
          <p:cNvPr id="96" name="Google Shape;1479;p7">
            <a:extLst>
              <a:ext uri="{FF2B5EF4-FFF2-40B4-BE49-F238E27FC236}">
                <a16:creationId xmlns:a16="http://schemas.microsoft.com/office/drawing/2014/main" id="{4AFA8853-3271-E149-DF12-017BDF5A222D}"/>
              </a:ext>
            </a:extLst>
          </p:cNvPr>
          <p:cNvSpPr/>
          <p:nvPr/>
        </p:nvSpPr>
        <p:spPr>
          <a:xfrm>
            <a:off x="5904924" y="3758178"/>
            <a:ext cx="1909259" cy="86052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97" name="TextBox 96">
            <a:extLst>
              <a:ext uri="{FF2B5EF4-FFF2-40B4-BE49-F238E27FC236}">
                <a16:creationId xmlns:a16="http://schemas.microsoft.com/office/drawing/2014/main" id="{AB1AE135-98B4-AA6C-032A-E3CCFBB7D7E9}"/>
              </a:ext>
            </a:extLst>
          </p:cNvPr>
          <p:cNvSpPr txBox="1"/>
          <p:nvPr/>
        </p:nvSpPr>
        <p:spPr>
          <a:xfrm>
            <a:off x="427023" y="2667794"/>
            <a:ext cx="3439394" cy="27692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1B1D36"/>
                </a:solidFill>
                <a:effectLst/>
                <a:uLnTx/>
                <a:uFillTx/>
                <a:latin typeface="Arial" panose="020B0604020202020204"/>
                <a:ea typeface="+mn-ea"/>
                <a:cs typeface="+mn-cs"/>
              </a:rPr>
              <a:t>VCF Management</a:t>
            </a:r>
          </a:p>
        </p:txBody>
      </p:sp>
      <p:sp>
        <p:nvSpPr>
          <p:cNvPr id="98" name="TextBox 97">
            <a:extLst>
              <a:ext uri="{FF2B5EF4-FFF2-40B4-BE49-F238E27FC236}">
                <a16:creationId xmlns:a16="http://schemas.microsoft.com/office/drawing/2014/main" id="{73EA9E33-6B76-3027-E44F-CFD11DE7FDDD}"/>
              </a:ext>
            </a:extLst>
          </p:cNvPr>
          <p:cNvSpPr txBox="1"/>
          <p:nvPr/>
        </p:nvSpPr>
        <p:spPr>
          <a:xfrm>
            <a:off x="440141" y="4076598"/>
            <a:ext cx="3439394" cy="27692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1B1D36"/>
                </a:solidFill>
                <a:effectLst/>
                <a:uLnTx/>
                <a:uFillTx/>
                <a:latin typeface="Arial" panose="020B0604020202020204"/>
                <a:ea typeface="+mn-ea"/>
                <a:cs typeface="+mn-cs"/>
              </a:rPr>
              <a:t>SDDC Manager</a:t>
            </a:r>
          </a:p>
        </p:txBody>
      </p:sp>
      <p:sp>
        <p:nvSpPr>
          <p:cNvPr id="100" name="Google Shape;1479;p7">
            <a:extLst>
              <a:ext uri="{FF2B5EF4-FFF2-40B4-BE49-F238E27FC236}">
                <a16:creationId xmlns:a16="http://schemas.microsoft.com/office/drawing/2014/main" id="{9D611590-5E56-C95D-5BB1-5AE0705CD0D8}"/>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4" name="TextBox 103">
            <a:extLst>
              <a:ext uri="{FF2B5EF4-FFF2-40B4-BE49-F238E27FC236}">
                <a16:creationId xmlns:a16="http://schemas.microsoft.com/office/drawing/2014/main" id="{E8064381-19B8-C62F-2370-F21982171706}"/>
              </a:ext>
            </a:extLst>
          </p:cNvPr>
          <p:cNvSpPr txBox="1"/>
          <p:nvPr/>
        </p:nvSpPr>
        <p:spPr>
          <a:xfrm>
            <a:off x="1079598" y="5087833"/>
            <a:ext cx="2198969" cy="553854"/>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1B1D36"/>
                </a:solidFill>
                <a:effectLst/>
                <a:uLnTx/>
                <a:uFillTx/>
                <a:latin typeface="Arial" panose="020B0604020202020204"/>
                <a:ea typeface="+mn-ea"/>
                <a:cs typeface="+mn-cs"/>
              </a:rPr>
              <a:t>VCF Infrastructure Components</a:t>
            </a:r>
          </a:p>
        </p:txBody>
      </p:sp>
      <p:sp>
        <p:nvSpPr>
          <p:cNvPr id="4" name="Google Shape;1527;p8">
            <a:extLst>
              <a:ext uri="{FF2B5EF4-FFF2-40B4-BE49-F238E27FC236}">
                <a16:creationId xmlns:a16="http://schemas.microsoft.com/office/drawing/2014/main" id="{5530E5FE-F540-92F8-3C74-F7F0B0A655F7}"/>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1" name="TextBox 10">
            <a:extLst>
              <a:ext uri="{FF2B5EF4-FFF2-40B4-BE49-F238E27FC236}">
                <a16:creationId xmlns:a16="http://schemas.microsoft.com/office/drawing/2014/main" id="{7A1AE316-D408-F450-9D26-6B12460E16AA}"/>
              </a:ext>
            </a:extLst>
          </p:cNvPr>
          <p:cNvSpPr txBox="1"/>
          <p:nvPr/>
        </p:nvSpPr>
        <p:spPr>
          <a:xfrm>
            <a:off x="768093" y="2948400"/>
            <a:ext cx="2554819" cy="24615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B1D36"/>
                </a:solidFill>
                <a:effectLst/>
                <a:uLnTx/>
                <a:uFillTx/>
                <a:latin typeface="Arial" panose="020B0604020202020204"/>
                <a:ea typeface="+mn-ea"/>
                <a:cs typeface="+mn-cs"/>
              </a:rPr>
              <a:t>VCF Operations</a:t>
            </a:r>
          </a:p>
        </p:txBody>
      </p:sp>
      <p:sp>
        <p:nvSpPr>
          <p:cNvPr id="40" name="TextBox 39">
            <a:extLst>
              <a:ext uri="{FF2B5EF4-FFF2-40B4-BE49-F238E27FC236}">
                <a16:creationId xmlns:a16="http://schemas.microsoft.com/office/drawing/2014/main" id="{C69A1150-BB06-F289-7FF0-D49A82B327D7}"/>
              </a:ext>
            </a:extLst>
          </p:cNvPr>
          <p:cNvSpPr txBox="1"/>
          <p:nvPr/>
        </p:nvSpPr>
        <p:spPr>
          <a:xfrm>
            <a:off x="4323855" y="3814742"/>
            <a:ext cx="3326236" cy="246221"/>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Core Components </a:t>
            </a: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(per domain)</a:t>
            </a:r>
          </a:p>
        </p:txBody>
      </p:sp>
      <p:sp>
        <p:nvSpPr>
          <p:cNvPr id="95" name="Google Shape;1479;p7">
            <a:extLst>
              <a:ext uri="{FF2B5EF4-FFF2-40B4-BE49-F238E27FC236}">
                <a16:creationId xmlns:a16="http://schemas.microsoft.com/office/drawing/2014/main" id="{BFE6FDC1-82FF-6FDB-A70D-2AF8496D863D}"/>
              </a:ext>
            </a:extLst>
          </p:cNvPr>
          <p:cNvSpPr/>
          <p:nvPr/>
        </p:nvSpPr>
        <p:spPr>
          <a:xfrm>
            <a:off x="5920416" y="2024178"/>
            <a:ext cx="1909259" cy="15534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88" name="Google Shape;1811;p13">
            <a:extLst>
              <a:ext uri="{FF2B5EF4-FFF2-40B4-BE49-F238E27FC236}">
                <a16:creationId xmlns:a16="http://schemas.microsoft.com/office/drawing/2014/main" id="{F41FB2D7-42F6-D8DF-5358-7E348F6CC9AC}"/>
              </a:ext>
            </a:extLst>
          </p:cNvPr>
          <p:cNvSpPr/>
          <p:nvPr/>
        </p:nvSpPr>
        <p:spPr>
          <a:xfrm>
            <a:off x="6069020" y="2832870"/>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Fleet Management</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89" name="Google Shape;1811;p13">
            <a:extLst>
              <a:ext uri="{FF2B5EF4-FFF2-40B4-BE49-F238E27FC236}">
                <a16:creationId xmlns:a16="http://schemas.microsoft.com/office/drawing/2014/main" id="{F140085E-17CD-C0C1-93F1-0B0E990A676F}"/>
              </a:ext>
            </a:extLst>
          </p:cNvPr>
          <p:cNvSpPr/>
          <p:nvPr/>
        </p:nvSpPr>
        <p:spPr>
          <a:xfrm>
            <a:off x="6069020" y="2170371"/>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VCF Ops 9</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113" name="Group 112">
            <a:extLst>
              <a:ext uri="{FF2B5EF4-FFF2-40B4-BE49-F238E27FC236}">
                <a16:creationId xmlns:a16="http://schemas.microsoft.com/office/drawing/2014/main" id="{D3AAAEC2-A82E-7339-AD38-7DD98E9B0CE9}"/>
              </a:ext>
            </a:extLst>
          </p:cNvPr>
          <p:cNvGrpSpPr/>
          <p:nvPr/>
        </p:nvGrpSpPr>
        <p:grpSpPr>
          <a:xfrm>
            <a:off x="5551492" y="2231158"/>
            <a:ext cx="277107" cy="552871"/>
            <a:chOff x="5086390" y="2966073"/>
            <a:chExt cx="365757" cy="671971"/>
          </a:xfrm>
        </p:grpSpPr>
        <p:sp>
          <p:nvSpPr>
            <p:cNvPr id="114" name="Rectangle 113">
              <a:extLst>
                <a:ext uri="{FF2B5EF4-FFF2-40B4-BE49-F238E27FC236}">
                  <a16:creationId xmlns:a16="http://schemas.microsoft.com/office/drawing/2014/main" id="{C9779CE1-A47B-BF58-4A8B-BABF0245F06B}"/>
                </a:ext>
              </a:extLst>
            </p:cNvPr>
            <p:cNvSpPr/>
            <p:nvPr/>
          </p:nvSpPr>
          <p:spPr bwMode="gray">
            <a:xfrm>
              <a:off x="5086390" y="2966073"/>
              <a:ext cx="365757" cy="671971"/>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115" name="Google Shape;4238;p22">
              <a:extLst>
                <a:ext uri="{FF2B5EF4-FFF2-40B4-BE49-F238E27FC236}">
                  <a16:creationId xmlns:a16="http://schemas.microsoft.com/office/drawing/2014/main" id="{C0FDA0BF-F298-273E-561D-EAD00EBD62D7}"/>
                </a:ext>
              </a:extLst>
            </p:cNvPr>
            <p:cNvGrpSpPr/>
            <p:nvPr/>
          </p:nvGrpSpPr>
          <p:grpSpPr>
            <a:xfrm rot="5400000">
              <a:off x="5138869" y="3058040"/>
              <a:ext cx="263441" cy="352709"/>
              <a:chOff x="6930408" y="3506884"/>
              <a:chExt cx="283405" cy="388082"/>
            </a:xfrm>
          </p:grpSpPr>
          <p:sp>
            <p:nvSpPr>
              <p:cNvPr id="116" name="Google Shape;4239;p22">
                <a:extLst>
                  <a:ext uri="{FF2B5EF4-FFF2-40B4-BE49-F238E27FC236}">
                    <a16:creationId xmlns:a16="http://schemas.microsoft.com/office/drawing/2014/main" id="{CCEBF0CA-D6FE-53B3-FBC5-63AC5556ED0D}"/>
                  </a:ext>
                </a:extLst>
              </p:cNvPr>
              <p:cNvSpPr/>
              <p:nvPr/>
            </p:nvSpPr>
            <p:spPr>
              <a:xfrm rot="16200000">
                <a:off x="6990674" y="3671874"/>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4705"/>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117" name="Google Shape;4240;p22">
                <a:extLst>
                  <a:ext uri="{FF2B5EF4-FFF2-40B4-BE49-F238E27FC236}">
                    <a16:creationId xmlns:a16="http://schemas.microsoft.com/office/drawing/2014/main" id="{A1E53757-E9CB-67F1-40C7-863E7AA7F4C9}"/>
                  </a:ext>
                </a:extLst>
              </p:cNvPr>
              <p:cNvSpPr/>
              <p:nvPr/>
            </p:nvSpPr>
            <p:spPr>
              <a:xfrm rot="16200000">
                <a:off x="6990674" y="3559245"/>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9803"/>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118" name="Google Shape;4241;p22">
                <a:extLst>
                  <a:ext uri="{FF2B5EF4-FFF2-40B4-BE49-F238E27FC236}">
                    <a16:creationId xmlns:a16="http://schemas.microsoft.com/office/drawing/2014/main" id="{A09D0646-D8B0-9963-81C6-48BF05B3EC97}"/>
                  </a:ext>
                </a:extLst>
              </p:cNvPr>
              <p:cNvSpPr/>
              <p:nvPr/>
            </p:nvSpPr>
            <p:spPr>
              <a:xfrm rot="16200000">
                <a:off x="6990721" y="3446618"/>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grpSp>
      </p:grpSp>
      <p:grpSp>
        <p:nvGrpSpPr>
          <p:cNvPr id="143" name="Group 142">
            <a:extLst>
              <a:ext uri="{FF2B5EF4-FFF2-40B4-BE49-F238E27FC236}">
                <a16:creationId xmlns:a16="http://schemas.microsoft.com/office/drawing/2014/main" id="{A0837539-151E-6913-C402-E23FC9A6598D}"/>
              </a:ext>
            </a:extLst>
          </p:cNvPr>
          <p:cNvGrpSpPr/>
          <p:nvPr/>
        </p:nvGrpSpPr>
        <p:grpSpPr>
          <a:xfrm>
            <a:off x="5550888" y="2887399"/>
            <a:ext cx="277107" cy="552871"/>
            <a:chOff x="5086390" y="2966073"/>
            <a:chExt cx="365757" cy="671971"/>
          </a:xfrm>
        </p:grpSpPr>
        <p:sp>
          <p:nvSpPr>
            <p:cNvPr id="144" name="Rectangle 143">
              <a:extLst>
                <a:ext uri="{FF2B5EF4-FFF2-40B4-BE49-F238E27FC236}">
                  <a16:creationId xmlns:a16="http://schemas.microsoft.com/office/drawing/2014/main" id="{4166FC27-944E-763E-5B23-B86C8304667F}"/>
                </a:ext>
              </a:extLst>
            </p:cNvPr>
            <p:cNvSpPr/>
            <p:nvPr/>
          </p:nvSpPr>
          <p:spPr bwMode="gray">
            <a:xfrm>
              <a:off x="5086390" y="2966073"/>
              <a:ext cx="365757" cy="671971"/>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145" name="Google Shape;4238;p22">
              <a:extLst>
                <a:ext uri="{FF2B5EF4-FFF2-40B4-BE49-F238E27FC236}">
                  <a16:creationId xmlns:a16="http://schemas.microsoft.com/office/drawing/2014/main" id="{46D2C358-2F5C-6EC9-3A1D-BA3DAABAE778}"/>
                </a:ext>
              </a:extLst>
            </p:cNvPr>
            <p:cNvGrpSpPr/>
            <p:nvPr/>
          </p:nvGrpSpPr>
          <p:grpSpPr>
            <a:xfrm rot="5400000">
              <a:off x="5138869" y="3058040"/>
              <a:ext cx="263441" cy="352709"/>
              <a:chOff x="6930408" y="3506884"/>
              <a:chExt cx="283405" cy="388082"/>
            </a:xfrm>
          </p:grpSpPr>
          <p:sp>
            <p:nvSpPr>
              <p:cNvPr id="146" name="Google Shape;4239;p22">
                <a:extLst>
                  <a:ext uri="{FF2B5EF4-FFF2-40B4-BE49-F238E27FC236}">
                    <a16:creationId xmlns:a16="http://schemas.microsoft.com/office/drawing/2014/main" id="{F3089B9C-9779-6484-0AEA-0FBE5212C4EE}"/>
                  </a:ext>
                </a:extLst>
              </p:cNvPr>
              <p:cNvSpPr/>
              <p:nvPr/>
            </p:nvSpPr>
            <p:spPr>
              <a:xfrm rot="16200000">
                <a:off x="6990674" y="3671874"/>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4705"/>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147" name="Google Shape;4240;p22">
                <a:extLst>
                  <a:ext uri="{FF2B5EF4-FFF2-40B4-BE49-F238E27FC236}">
                    <a16:creationId xmlns:a16="http://schemas.microsoft.com/office/drawing/2014/main" id="{217FE296-880B-8E2F-290C-FAED29FC5999}"/>
                  </a:ext>
                </a:extLst>
              </p:cNvPr>
              <p:cNvSpPr/>
              <p:nvPr/>
            </p:nvSpPr>
            <p:spPr>
              <a:xfrm rot="16200000">
                <a:off x="6990674" y="3559245"/>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9803"/>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148" name="Google Shape;4241;p22">
                <a:extLst>
                  <a:ext uri="{FF2B5EF4-FFF2-40B4-BE49-F238E27FC236}">
                    <a16:creationId xmlns:a16="http://schemas.microsoft.com/office/drawing/2014/main" id="{57C9E4F0-CB2F-EF27-66E5-D05280A37347}"/>
                  </a:ext>
                </a:extLst>
              </p:cNvPr>
              <p:cNvSpPr/>
              <p:nvPr/>
            </p:nvSpPr>
            <p:spPr>
              <a:xfrm rot="16200000">
                <a:off x="6990721" y="3446618"/>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grpSp>
      </p:grpSp>
      <p:sp>
        <p:nvSpPr>
          <p:cNvPr id="9" name="Google Shape;1479;p7">
            <a:extLst>
              <a:ext uri="{FF2B5EF4-FFF2-40B4-BE49-F238E27FC236}">
                <a16:creationId xmlns:a16="http://schemas.microsoft.com/office/drawing/2014/main" id="{4A1139F7-366C-3B9B-FFF0-2A81F2A8F924}"/>
              </a:ext>
            </a:extLst>
          </p:cNvPr>
          <p:cNvSpPr/>
          <p:nvPr/>
        </p:nvSpPr>
        <p:spPr>
          <a:xfrm>
            <a:off x="4160287" y="2024178"/>
            <a:ext cx="3669388" cy="15534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2" name="TextBox 11">
            <a:extLst>
              <a:ext uri="{FF2B5EF4-FFF2-40B4-BE49-F238E27FC236}">
                <a16:creationId xmlns:a16="http://schemas.microsoft.com/office/drawing/2014/main" id="{1A53D139-C283-0761-8679-28C5CB8E35A4}"/>
              </a:ext>
            </a:extLst>
          </p:cNvPr>
          <p:cNvSpPr txBox="1"/>
          <p:nvPr/>
        </p:nvSpPr>
        <p:spPr>
          <a:xfrm>
            <a:off x="4249552" y="1642495"/>
            <a:ext cx="3341727" cy="246221"/>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Management Components</a:t>
            </a:r>
          </a:p>
        </p:txBody>
      </p:sp>
      <p:sp>
        <p:nvSpPr>
          <p:cNvPr id="13" name="Google Shape;1811;p13">
            <a:extLst>
              <a:ext uri="{FF2B5EF4-FFF2-40B4-BE49-F238E27FC236}">
                <a16:creationId xmlns:a16="http://schemas.microsoft.com/office/drawing/2014/main" id="{70C61976-6113-D585-E829-EB22FF861517}"/>
              </a:ext>
            </a:extLst>
          </p:cNvPr>
          <p:cNvSpPr/>
          <p:nvPr/>
        </p:nvSpPr>
        <p:spPr>
          <a:xfrm>
            <a:off x="4323856" y="2855483"/>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VCF Automation</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4" name="Google Shape;1811;p13">
            <a:extLst>
              <a:ext uri="{FF2B5EF4-FFF2-40B4-BE49-F238E27FC236}">
                <a16:creationId xmlns:a16="http://schemas.microsoft.com/office/drawing/2014/main" id="{C01BF3A4-AAAE-634E-07CE-283D5F1AA305}"/>
              </a:ext>
            </a:extLst>
          </p:cNvPr>
          <p:cNvSpPr/>
          <p:nvPr/>
        </p:nvSpPr>
        <p:spPr>
          <a:xfrm>
            <a:off x="4323856" y="2192984"/>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VCF Operations</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17" name="Group 16">
            <a:extLst>
              <a:ext uri="{FF2B5EF4-FFF2-40B4-BE49-F238E27FC236}">
                <a16:creationId xmlns:a16="http://schemas.microsoft.com/office/drawing/2014/main" id="{618B2E5D-DF28-5651-F21E-4228BC6A4DD4}"/>
              </a:ext>
            </a:extLst>
          </p:cNvPr>
          <p:cNvGrpSpPr/>
          <p:nvPr/>
        </p:nvGrpSpPr>
        <p:grpSpPr>
          <a:xfrm>
            <a:off x="3885226" y="2584110"/>
            <a:ext cx="277107" cy="552871"/>
            <a:chOff x="5086390" y="2966073"/>
            <a:chExt cx="365757" cy="671971"/>
          </a:xfrm>
        </p:grpSpPr>
        <p:sp>
          <p:nvSpPr>
            <p:cNvPr id="18" name="Rectangle 17">
              <a:extLst>
                <a:ext uri="{FF2B5EF4-FFF2-40B4-BE49-F238E27FC236}">
                  <a16:creationId xmlns:a16="http://schemas.microsoft.com/office/drawing/2014/main" id="{37C6838B-8027-A997-98DA-BD9D7CD03F29}"/>
                </a:ext>
              </a:extLst>
            </p:cNvPr>
            <p:cNvSpPr/>
            <p:nvPr/>
          </p:nvSpPr>
          <p:spPr bwMode="gray">
            <a:xfrm>
              <a:off x="5086390" y="2966073"/>
              <a:ext cx="365757" cy="671971"/>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19" name="Google Shape;4238;p22">
              <a:extLst>
                <a:ext uri="{FF2B5EF4-FFF2-40B4-BE49-F238E27FC236}">
                  <a16:creationId xmlns:a16="http://schemas.microsoft.com/office/drawing/2014/main" id="{21FEF859-908D-2E83-D52A-009C2C670DBF}"/>
                </a:ext>
              </a:extLst>
            </p:cNvPr>
            <p:cNvGrpSpPr/>
            <p:nvPr/>
          </p:nvGrpSpPr>
          <p:grpSpPr>
            <a:xfrm rot="5400000">
              <a:off x="5138869" y="3058040"/>
              <a:ext cx="263441" cy="352709"/>
              <a:chOff x="6930408" y="3506884"/>
              <a:chExt cx="283405" cy="388082"/>
            </a:xfrm>
          </p:grpSpPr>
          <p:sp>
            <p:nvSpPr>
              <p:cNvPr id="20" name="Google Shape;4239;p22">
                <a:extLst>
                  <a:ext uri="{FF2B5EF4-FFF2-40B4-BE49-F238E27FC236}">
                    <a16:creationId xmlns:a16="http://schemas.microsoft.com/office/drawing/2014/main" id="{7DE5E387-EACF-4644-3F13-B73731656096}"/>
                  </a:ext>
                </a:extLst>
              </p:cNvPr>
              <p:cNvSpPr/>
              <p:nvPr/>
            </p:nvSpPr>
            <p:spPr>
              <a:xfrm rot="16200000">
                <a:off x="6990674" y="3671874"/>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4705"/>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21" name="Google Shape;4240;p22">
                <a:extLst>
                  <a:ext uri="{FF2B5EF4-FFF2-40B4-BE49-F238E27FC236}">
                    <a16:creationId xmlns:a16="http://schemas.microsoft.com/office/drawing/2014/main" id="{3A63CAFD-5388-4C6E-3FDA-264F32EE7BD5}"/>
                  </a:ext>
                </a:extLst>
              </p:cNvPr>
              <p:cNvSpPr/>
              <p:nvPr/>
            </p:nvSpPr>
            <p:spPr>
              <a:xfrm rot="16200000">
                <a:off x="6990674" y="3559245"/>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9803"/>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23" name="Google Shape;4241;p22">
                <a:extLst>
                  <a:ext uri="{FF2B5EF4-FFF2-40B4-BE49-F238E27FC236}">
                    <a16:creationId xmlns:a16="http://schemas.microsoft.com/office/drawing/2014/main" id="{061523A2-317A-01E5-4295-1EC3716B52F0}"/>
                  </a:ext>
                </a:extLst>
              </p:cNvPr>
              <p:cNvSpPr/>
              <p:nvPr/>
            </p:nvSpPr>
            <p:spPr>
              <a:xfrm rot="16200000">
                <a:off x="6990721" y="3446618"/>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grpSp>
      </p:grpSp>
      <p:sp>
        <p:nvSpPr>
          <p:cNvPr id="24" name="Google Shape;1811;p13">
            <a:extLst>
              <a:ext uri="{FF2B5EF4-FFF2-40B4-BE49-F238E27FC236}">
                <a16:creationId xmlns:a16="http://schemas.microsoft.com/office/drawing/2014/main" id="{AAFDF149-8829-AF07-F318-1663DEDA0697}"/>
              </a:ext>
            </a:extLst>
          </p:cNvPr>
          <p:cNvSpPr/>
          <p:nvPr/>
        </p:nvSpPr>
        <p:spPr>
          <a:xfrm>
            <a:off x="6084512" y="2849725"/>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VIDB, Logs, Ops for Networks (etc.)</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5" name="Google Shape;1811;p13">
            <a:extLst>
              <a:ext uri="{FF2B5EF4-FFF2-40B4-BE49-F238E27FC236}">
                <a16:creationId xmlns:a16="http://schemas.microsoft.com/office/drawing/2014/main" id="{D4590F6F-D75F-1C2E-607F-E444633BB596}"/>
              </a:ext>
            </a:extLst>
          </p:cNvPr>
          <p:cNvSpPr/>
          <p:nvPr/>
        </p:nvSpPr>
        <p:spPr>
          <a:xfrm>
            <a:off x="6084512" y="2187225"/>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VCF Management Services</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cxnSp>
        <p:nvCxnSpPr>
          <p:cNvPr id="42" name="Elbow Connector 41">
            <a:extLst>
              <a:ext uri="{FF2B5EF4-FFF2-40B4-BE49-F238E27FC236}">
                <a16:creationId xmlns:a16="http://schemas.microsoft.com/office/drawing/2014/main" id="{0C0283E3-874C-E116-3DF0-FF09D9BD82F7}"/>
              </a:ext>
            </a:extLst>
          </p:cNvPr>
          <p:cNvCxnSpPr>
            <a:cxnSpLocks/>
            <a:stCxn id="49" idx="3"/>
            <a:endCxn id="9" idx="1"/>
          </p:cNvCxnSpPr>
          <p:nvPr/>
        </p:nvCxnSpPr>
        <p:spPr bwMode="gray">
          <a:xfrm flipV="1">
            <a:off x="2769754" y="2800911"/>
            <a:ext cx="1390533" cy="1209899"/>
          </a:xfrm>
          <a:prstGeom prst="bentConnector3">
            <a:avLst>
              <a:gd name="adj1" fmla="val 50000"/>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3" name="Google Shape;1811;p13">
            <a:extLst>
              <a:ext uri="{FF2B5EF4-FFF2-40B4-BE49-F238E27FC236}">
                <a16:creationId xmlns:a16="http://schemas.microsoft.com/office/drawing/2014/main" id="{DA02B299-19F4-A681-E797-A1C0084E03F1}"/>
              </a:ext>
            </a:extLst>
          </p:cNvPr>
          <p:cNvSpPr/>
          <p:nvPr/>
        </p:nvSpPr>
        <p:spPr>
          <a:xfrm>
            <a:off x="6069020" y="5067959"/>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vSphere 9        NSX 9</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167" name="Group 166">
            <a:extLst>
              <a:ext uri="{FF2B5EF4-FFF2-40B4-BE49-F238E27FC236}">
                <a16:creationId xmlns:a16="http://schemas.microsoft.com/office/drawing/2014/main" id="{51B2E078-B009-8BD7-1DD8-34BF5D869F95}"/>
              </a:ext>
            </a:extLst>
          </p:cNvPr>
          <p:cNvGrpSpPr/>
          <p:nvPr/>
        </p:nvGrpSpPr>
        <p:grpSpPr>
          <a:xfrm>
            <a:off x="5553878" y="5118285"/>
            <a:ext cx="277107" cy="552871"/>
            <a:chOff x="5086390" y="2966073"/>
            <a:chExt cx="365757" cy="671971"/>
          </a:xfrm>
        </p:grpSpPr>
        <p:sp>
          <p:nvSpPr>
            <p:cNvPr id="168" name="Rectangle 167">
              <a:extLst>
                <a:ext uri="{FF2B5EF4-FFF2-40B4-BE49-F238E27FC236}">
                  <a16:creationId xmlns:a16="http://schemas.microsoft.com/office/drawing/2014/main" id="{3223D672-9BCD-0ECB-8523-DFD6C4BCC130}"/>
                </a:ext>
              </a:extLst>
            </p:cNvPr>
            <p:cNvSpPr/>
            <p:nvPr/>
          </p:nvSpPr>
          <p:spPr bwMode="gray">
            <a:xfrm>
              <a:off x="5086390" y="2966073"/>
              <a:ext cx="365757" cy="671971"/>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169" name="Google Shape;4238;p22">
              <a:extLst>
                <a:ext uri="{FF2B5EF4-FFF2-40B4-BE49-F238E27FC236}">
                  <a16:creationId xmlns:a16="http://schemas.microsoft.com/office/drawing/2014/main" id="{D57F158C-1FF4-2AC1-1DF6-0F4EC2043BEF}"/>
                </a:ext>
              </a:extLst>
            </p:cNvPr>
            <p:cNvGrpSpPr/>
            <p:nvPr/>
          </p:nvGrpSpPr>
          <p:grpSpPr>
            <a:xfrm rot="5400000">
              <a:off x="5138869" y="3058040"/>
              <a:ext cx="263441" cy="352709"/>
              <a:chOff x="6930408" y="3506884"/>
              <a:chExt cx="283405" cy="388082"/>
            </a:xfrm>
          </p:grpSpPr>
          <p:sp>
            <p:nvSpPr>
              <p:cNvPr id="170" name="Google Shape;4239;p22">
                <a:extLst>
                  <a:ext uri="{FF2B5EF4-FFF2-40B4-BE49-F238E27FC236}">
                    <a16:creationId xmlns:a16="http://schemas.microsoft.com/office/drawing/2014/main" id="{D0E5BA38-7A41-A761-A4B2-A662ADFB59CA}"/>
                  </a:ext>
                </a:extLst>
              </p:cNvPr>
              <p:cNvSpPr/>
              <p:nvPr/>
            </p:nvSpPr>
            <p:spPr>
              <a:xfrm rot="16200000">
                <a:off x="6990674" y="3671874"/>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4705"/>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171" name="Google Shape;4240;p22">
                <a:extLst>
                  <a:ext uri="{FF2B5EF4-FFF2-40B4-BE49-F238E27FC236}">
                    <a16:creationId xmlns:a16="http://schemas.microsoft.com/office/drawing/2014/main" id="{FD49F627-9588-B067-D595-4D8DB7BFBFCA}"/>
                  </a:ext>
                </a:extLst>
              </p:cNvPr>
              <p:cNvSpPr/>
              <p:nvPr/>
            </p:nvSpPr>
            <p:spPr>
              <a:xfrm rot="16200000">
                <a:off x="6990674" y="3559245"/>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9803"/>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172" name="Google Shape;4241;p22">
                <a:extLst>
                  <a:ext uri="{FF2B5EF4-FFF2-40B4-BE49-F238E27FC236}">
                    <a16:creationId xmlns:a16="http://schemas.microsoft.com/office/drawing/2014/main" id="{07544F62-E2CD-54B5-1A22-0B995CCEB511}"/>
                  </a:ext>
                </a:extLst>
              </p:cNvPr>
              <p:cNvSpPr/>
              <p:nvPr/>
            </p:nvSpPr>
            <p:spPr>
              <a:xfrm rot="16200000">
                <a:off x="6990721" y="3446618"/>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grpSp>
      </p:grpSp>
      <p:sp>
        <p:nvSpPr>
          <p:cNvPr id="26" name="Google Shape;1479;p7">
            <a:extLst>
              <a:ext uri="{FF2B5EF4-FFF2-40B4-BE49-F238E27FC236}">
                <a16:creationId xmlns:a16="http://schemas.microsoft.com/office/drawing/2014/main" id="{F0E0A1BF-2713-14D7-8B28-2BE4D174BBF6}"/>
              </a:ext>
            </a:extLst>
          </p:cNvPr>
          <p:cNvSpPr/>
          <p:nvPr/>
        </p:nvSpPr>
        <p:spPr>
          <a:xfrm>
            <a:off x="4160287" y="4108975"/>
            <a:ext cx="3669388" cy="15534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7" name="Google Shape;1811;p13">
            <a:extLst>
              <a:ext uri="{FF2B5EF4-FFF2-40B4-BE49-F238E27FC236}">
                <a16:creationId xmlns:a16="http://schemas.microsoft.com/office/drawing/2014/main" id="{B901F107-147C-8278-4560-AC52DF106463}"/>
              </a:ext>
            </a:extLst>
          </p:cNvPr>
          <p:cNvSpPr/>
          <p:nvPr/>
        </p:nvSpPr>
        <p:spPr>
          <a:xfrm>
            <a:off x="4323856" y="4940280"/>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VMware NSX</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8" name="Google Shape;1811;p13">
            <a:extLst>
              <a:ext uri="{FF2B5EF4-FFF2-40B4-BE49-F238E27FC236}">
                <a16:creationId xmlns:a16="http://schemas.microsoft.com/office/drawing/2014/main" id="{F0927A17-4212-A942-8220-F0502CE1F970}"/>
              </a:ext>
            </a:extLst>
          </p:cNvPr>
          <p:cNvSpPr/>
          <p:nvPr/>
        </p:nvSpPr>
        <p:spPr>
          <a:xfrm>
            <a:off x="4323856" y="4277781"/>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vCenter Server</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9" name="Google Shape;1811;p13">
            <a:extLst>
              <a:ext uri="{FF2B5EF4-FFF2-40B4-BE49-F238E27FC236}">
                <a16:creationId xmlns:a16="http://schemas.microsoft.com/office/drawing/2014/main" id="{2B3E5867-667B-722E-5532-9C9DE54E5FA4}"/>
              </a:ext>
            </a:extLst>
          </p:cNvPr>
          <p:cNvSpPr/>
          <p:nvPr/>
        </p:nvSpPr>
        <p:spPr>
          <a:xfrm>
            <a:off x="6084512" y="4934522"/>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SDDC Manager</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0" name="Google Shape;1811;p13">
            <a:extLst>
              <a:ext uri="{FF2B5EF4-FFF2-40B4-BE49-F238E27FC236}">
                <a16:creationId xmlns:a16="http://schemas.microsoft.com/office/drawing/2014/main" id="{3112B2C2-023A-4A96-D7DC-E7D07345ACE9}"/>
              </a:ext>
            </a:extLst>
          </p:cNvPr>
          <p:cNvSpPr/>
          <p:nvPr/>
        </p:nvSpPr>
        <p:spPr>
          <a:xfrm>
            <a:off x="6084512" y="4272022"/>
            <a:ext cx="1581071" cy="553854"/>
          </a:xfrm>
          <a:prstGeom prst="roundRect">
            <a:avLst>
              <a:gd name="adj" fmla="val 6349"/>
            </a:avLst>
          </a:prstGeom>
          <a:gradFill>
            <a:gsLst>
              <a:gs pos="0">
                <a:schemeClr val="accent5"/>
              </a:gs>
              <a:gs pos="99000">
                <a:schemeClr val="accent2"/>
              </a:gs>
              <a:gs pos="100000">
                <a:schemeClr val="accent2"/>
              </a:gs>
            </a:gsLst>
            <a:lin ang="18900044" scaled="0"/>
          </a:gra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800"/>
              <a:buFontTx/>
              <a:buNone/>
              <a:tabLst/>
              <a:defRPr/>
            </a:pPr>
            <a:r>
              <a:rPr kumimoji="0" lang="en-US" sz="1200" b="1" i="0" u="none" strike="noStrike" kern="1200" cap="none" spc="0" normalizeH="0" baseline="0" noProof="0" dirty="0">
                <a:ln>
                  <a:noFill/>
                </a:ln>
                <a:solidFill>
                  <a:srgbClr val="FFFFFF"/>
                </a:solidFill>
                <a:effectLst/>
                <a:uLnTx/>
                <a:uFillTx/>
                <a:latin typeface="Arial"/>
                <a:ea typeface="Arial"/>
                <a:cs typeface="Arial"/>
                <a:sym typeface="Arial"/>
              </a:rPr>
              <a:t>VMware ESX</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34" name="Group 33">
            <a:extLst>
              <a:ext uri="{FF2B5EF4-FFF2-40B4-BE49-F238E27FC236}">
                <a16:creationId xmlns:a16="http://schemas.microsoft.com/office/drawing/2014/main" id="{8D8381FF-905B-38AD-BBAA-803F7E5E5CF0}"/>
              </a:ext>
            </a:extLst>
          </p:cNvPr>
          <p:cNvGrpSpPr/>
          <p:nvPr/>
        </p:nvGrpSpPr>
        <p:grpSpPr>
          <a:xfrm>
            <a:off x="3884607" y="4658968"/>
            <a:ext cx="277107" cy="552871"/>
            <a:chOff x="5086390" y="2966073"/>
            <a:chExt cx="365757" cy="671971"/>
          </a:xfrm>
        </p:grpSpPr>
        <p:sp>
          <p:nvSpPr>
            <p:cNvPr id="35" name="Rectangle 34">
              <a:extLst>
                <a:ext uri="{FF2B5EF4-FFF2-40B4-BE49-F238E27FC236}">
                  <a16:creationId xmlns:a16="http://schemas.microsoft.com/office/drawing/2014/main" id="{3DDF8DDA-4411-A62C-3167-4D5A08292F4A}"/>
                </a:ext>
              </a:extLst>
            </p:cNvPr>
            <p:cNvSpPr/>
            <p:nvPr/>
          </p:nvSpPr>
          <p:spPr bwMode="gray">
            <a:xfrm>
              <a:off x="5086390" y="2966073"/>
              <a:ext cx="365757" cy="671971"/>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36" name="Google Shape;4238;p22">
              <a:extLst>
                <a:ext uri="{FF2B5EF4-FFF2-40B4-BE49-F238E27FC236}">
                  <a16:creationId xmlns:a16="http://schemas.microsoft.com/office/drawing/2014/main" id="{632D8650-1C91-79E7-0801-815A9663E549}"/>
                </a:ext>
              </a:extLst>
            </p:cNvPr>
            <p:cNvGrpSpPr/>
            <p:nvPr/>
          </p:nvGrpSpPr>
          <p:grpSpPr>
            <a:xfrm rot="5400000">
              <a:off x="5138869" y="3058040"/>
              <a:ext cx="263441" cy="352709"/>
              <a:chOff x="6930408" y="3506884"/>
              <a:chExt cx="283405" cy="388082"/>
            </a:xfrm>
          </p:grpSpPr>
          <p:sp>
            <p:nvSpPr>
              <p:cNvPr id="37" name="Google Shape;4239;p22">
                <a:extLst>
                  <a:ext uri="{FF2B5EF4-FFF2-40B4-BE49-F238E27FC236}">
                    <a16:creationId xmlns:a16="http://schemas.microsoft.com/office/drawing/2014/main" id="{1CE9A999-9148-C126-8B72-4BD834DA853F}"/>
                  </a:ext>
                </a:extLst>
              </p:cNvPr>
              <p:cNvSpPr/>
              <p:nvPr/>
            </p:nvSpPr>
            <p:spPr>
              <a:xfrm rot="16200000">
                <a:off x="6990674" y="3671874"/>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4705"/>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38" name="Google Shape;4240;p22">
                <a:extLst>
                  <a:ext uri="{FF2B5EF4-FFF2-40B4-BE49-F238E27FC236}">
                    <a16:creationId xmlns:a16="http://schemas.microsoft.com/office/drawing/2014/main" id="{80624E05-AF87-EFDB-3E6B-4FA42A845927}"/>
                  </a:ext>
                </a:extLst>
              </p:cNvPr>
              <p:cNvSpPr/>
              <p:nvPr/>
            </p:nvSpPr>
            <p:spPr>
              <a:xfrm rot="16200000">
                <a:off x="6990674" y="3559245"/>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9803"/>
                </a:schemeClr>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sp>
            <p:nvSpPr>
              <p:cNvPr id="39" name="Google Shape;4241;p22">
                <a:extLst>
                  <a:ext uri="{FF2B5EF4-FFF2-40B4-BE49-F238E27FC236}">
                    <a16:creationId xmlns:a16="http://schemas.microsoft.com/office/drawing/2014/main" id="{A3919806-832B-BD45-429F-85F975617B28}"/>
                  </a:ext>
                </a:extLst>
              </p:cNvPr>
              <p:cNvSpPr/>
              <p:nvPr/>
            </p:nvSpPr>
            <p:spPr>
              <a:xfrm rot="16200000">
                <a:off x="6990721" y="3446618"/>
                <a:ext cx="162826" cy="28335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01" tIns="45613" rIns="91301" bIns="45613"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dirty="0">
                  <a:ln>
                    <a:noFill/>
                  </a:ln>
                  <a:solidFill>
                    <a:srgbClr val="005B84"/>
                  </a:solidFill>
                  <a:effectLst/>
                  <a:uLnTx/>
                  <a:uFillTx/>
                  <a:latin typeface="Metropolis" pitchFamily="2" charset="77"/>
                  <a:ea typeface="+mn-ea"/>
                  <a:cs typeface="Arial"/>
                  <a:sym typeface="Arial"/>
                </a:endParaRPr>
              </a:p>
            </p:txBody>
          </p:sp>
        </p:grpSp>
      </p:grpSp>
      <p:cxnSp>
        <p:nvCxnSpPr>
          <p:cNvPr id="44" name="Elbow Connector 43">
            <a:extLst>
              <a:ext uri="{FF2B5EF4-FFF2-40B4-BE49-F238E27FC236}">
                <a16:creationId xmlns:a16="http://schemas.microsoft.com/office/drawing/2014/main" id="{1087CB69-09E2-AD15-2AB8-13F587C0079D}"/>
              </a:ext>
            </a:extLst>
          </p:cNvPr>
          <p:cNvCxnSpPr>
            <a:cxnSpLocks/>
            <a:stCxn id="49" idx="3"/>
            <a:endCxn id="26" idx="1"/>
          </p:cNvCxnSpPr>
          <p:nvPr/>
        </p:nvCxnSpPr>
        <p:spPr bwMode="gray">
          <a:xfrm>
            <a:off x="2769754" y="4010810"/>
            <a:ext cx="1390533" cy="874898"/>
          </a:xfrm>
          <a:prstGeom prst="bentConnector3">
            <a:avLst>
              <a:gd name="adj1" fmla="val 50000"/>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pic>
        <p:nvPicPr>
          <p:cNvPr id="49" name="Picture 48">
            <a:extLst>
              <a:ext uri="{FF2B5EF4-FFF2-40B4-BE49-F238E27FC236}">
                <a16:creationId xmlns:a16="http://schemas.microsoft.com/office/drawing/2014/main" id="{C1FD1F96-A593-9896-4890-05A1B839A581}"/>
              </a:ext>
            </a:extLst>
          </p:cNvPr>
          <p:cNvPicPr>
            <a:picLocks noChangeAspect="1"/>
          </p:cNvPicPr>
          <p:nvPr/>
        </p:nvPicPr>
        <p:blipFill>
          <a:blip r:embed="rId3"/>
          <a:stretch>
            <a:fillRect/>
          </a:stretch>
        </p:blipFill>
        <p:spPr>
          <a:xfrm>
            <a:off x="1323690" y="3295442"/>
            <a:ext cx="1446064" cy="1430735"/>
          </a:xfrm>
          <a:prstGeom prst="rect">
            <a:avLst/>
          </a:prstGeom>
        </p:spPr>
      </p:pic>
    </p:spTree>
    <p:extLst>
      <p:ext uri="{BB962C8B-B14F-4D97-AF65-F5344CB8AC3E}">
        <p14:creationId xmlns:p14="http://schemas.microsoft.com/office/powerpoint/2010/main" val="26731842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3C7E7E-3F7F-B191-4842-1177D611D386}"/>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06FDD011-3054-5639-2DF1-52638CA21F4A}"/>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E0E22826-FEC8-85A4-F01E-41CD0058982B}"/>
              </a:ext>
            </a:extLst>
          </p:cNvPr>
          <p:cNvSpPr>
            <a:spLocks noGrp="1"/>
          </p:cNvSpPr>
          <p:nvPr>
            <p:ph type="title"/>
          </p:nvPr>
        </p:nvSpPr>
        <p:spPr>
          <a:xfrm>
            <a:off x="581245" y="413536"/>
            <a:ext cx="10998269" cy="380901"/>
          </a:xfrm>
          <a:noFill/>
          <a:ln>
            <a:noFill/>
          </a:ln>
        </p:spPr>
        <p:txBody>
          <a:bodyPr spcFirstLastPara="1" vert="horz" wrap="square" lIns="0" tIns="0" rIns="0" bIns="0" rtlCol="0" anchor="b" anchorCtr="0">
            <a:noAutofit/>
          </a:bodyPr>
          <a:lstStyle/>
          <a:p>
            <a:r>
              <a:rPr lang="en-US" dirty="0">
                <a:solidFill>
                  <a:schemeClr val="accent2"/>
                </a:solidFill>
              </a:rPr>
              <a:t>Simplified Binary Management with a Central Software Depot</a:t>
            </a:r>
          </a:p>
        </p:txBody>
      </p:sp>
      <p:sp>
        <p:nvSpPr>
          <p:cNvPr id="3" name="Subtitle 2">
            <a:extLst>
              <a:ext uri="{FF2B5EF4-FFF2-40B4-BE49-F238E27FC236}">
                <a16:creationId xmlns:a16="http://schemas.microsoft.com/office/drawing/2014/main" id="{FD1D216E-36CB-4073-67D9-D01DA8015089}"/>
              </a:ext>
            </a:extLst>
          </p:cNvPr>
          <p:cNvSpPr>
            <a:spLocks noGrp="1"/>
          </p:cNvSpPr>
          <p:nvPr>
            <p:ph type="subTitle" idx="1"/>
          </p:nvPr>
        </p:nvSpPr>
        <p:spPr>
          <a:xfrm>
            <a:off x="594300" y="812513"/>
            <a:ext cx="10959889" cy="247735"/>
          </a:xfrm>
        </p:spPr>
        <p:txBody>
          <a:bodyPr/>
          <a:lstStyle/>
          <a:p>
            <a:r>
              <a:rPr lang="en-US" dirty="0">
                <a:solidFill>
                  <a:schemeClr val="tx1"/>
                </a:solidFill>
              </a:rPr>
              <a:t>Configure one software depot to track, download, and install upgrade &amp; patch binaries</a:t>
            </a:r>
          </a:p>
          <a:p>
            <a:endParaRPr lang="en-US" dirty="0"/>
          </a:p>
        </p:txBody>
      </p:sp>
      <p:sp>
        <p:nvSpPr>
          <p:cNvPr id="5" name="Text Placeholder 4">
            <a:extLst>
              <a:ext uri="{FF2B5EF4-FFF2-40B4-BE49-F238E27FC236}">
                <a16:creationId xmlns:a16="http://schemas.microsoft.com/office/drawing/2014/main" id="{E40B30ED-513A-A317-0C27-7A7273B84203}"/>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92EE9093-D27A-3F6F-4622-96838166AFC9}"/>
              </a:ext>
            </a:extLst>
          </p:cNvPr>
          <p:cNvSpPr>
            <a:spLocks noGrp="1"/>
          </p:cNvSpPr>
          <p:nvPr>
            <p:ph type="body" idx="4"/>
          </p:nvPr>
        </p:nvSpPr>
        <p:spPr>
          <a:xfrm>
            <a:off x="8378232" y="2063404"/>
            <a:ext cx="3682074" cy="1599783"/>
          </a:xfrm>
        </p:spPr>
        <p:txBody>
          <a:bodyPr/>
          <a:lstStyle/>
          <a:p>
            <a:r>
              <a:rPr lang="en-US" dirty="0"/>
              <a:t>Centralized location to download and store binaries.</a:t>
            </a:r>
          </a:p>
          <a:p>
            <a:r>
              <a:rPr lang="en-US" dirty="0"/>
              <a:t>Configure per-fleet or per-instance</a:t>
            </a:r>
          </a:p>
          <a:p>
            <a:r>
              <a:rPr lang="en-US" dirty="0"/>
              <a:t>Three modes: connected, offline, disconnected</a:t>
            </a:r>
          </a:p>
        </p:txBody>
      </p:sp>
      <p:sp>
        <p:nvSpPr>
          <p:cNvPr id="7" name="Text Placeholder 6">
            <a:extLst>
              <a:ext uri="{FF2B5EF4-FFF2-40B4-BE49-F238E27FC236}">
                <a16:creationId xmlns:a16="http://schemas.microsoft.com/office/drawing/2014/main" id="{C3C4E926-84D8-409D-B390-BD6C73164DCB}"/>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77E1C456-0F26-C446-2B59-7EEDD667C227}"/>
              </a:ext>
            </a:extLst>
          </p:cNvPr>
          <p:cNvSpPr>
            <a:spLocks noGrp="1"/>
          </p:cNvSpPr>
          <p:nvPr>
            <p:ph type="body" idx="6"/>
          </p:nvPr>
        </p:nvSpPr>
        <p:spPr>
          <a:xfrm>
            <a:off x="8378232" y="4347665"/>
            <a:ext cx="3682074" cy="1599783"/>
          </a:xfrm>
        </p:spPr>
        <p:txBody>
          <a:bodyPr/>
          <a:lstStyle/>
          <a:p>
            <a:r>
              <a:rPr lang="en-US" dirty="0"/>
              <a:t>One place to track and download software updates</a:t>
            </a:r>
          </a:p>
          <a:p>
            <a:r>
              <a:rPr lang="en-US" dirty="0"/>
              <a:t>Readily identify/download new patches and binaries. </a:t>
            </a:r>
          </a:p>
          <a:p>
            <a:r>
              <a:rPr lang="en-US" dirty="0"/>
              <a:t>Support for connected and disconnected environments.</a:t>
            </a:r>
          </a:p>
        </p:txBody>
      </p:sp>
      <p:sp>
        <p:nvSpPr>
          <p:cNvPr id="22" name="TextBox 21">
            <a:extLst>
              <a:ext uri="{FF2B5EF4-FFF2-40B4-BE49-F238E27FC236}">
                <a16:creationId xmlns:a16="http://schemas.microsoft.com/office/drawing/2014/main" id="{2702FF3D-C61A-9C15-B11D-EEDB9F587D1E}"/>
              </a:ext>
            </a:extLst>
          </p:cNvPr>
          <p:cNvSpPr txBox="1"/>
          <p:nvPr/>
        </p:nvSpPr>
        <p:spPr>
          <a:xfrm>
            <a:off x="1367150" y="1697587"/>
            <a:ext cx="3439394" cy="24615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B1D36"/>
                </a:solidFill>
                <a:effectLst/>
                <a:uLnTx/>
                <a:uFillTx/>
                <a:latin typeface="Arial" panose="020B0604020202020204"/>
                <a:ea typeface="+mn-ea"/>
                <a:cs typeface="+mn-cs"/>
              </a:rPr>
              <a:t>VCF 5.x &amp; Aria Suite</a:t>
            </a:r>
          </a:p>
        </p:txBody>
      </p:sp>
      <p:sp>
        <p:nvSpPr>
          <p:cNvPr id="87" name="TextBox 86">
            <a:extLst>
              <a:ext uri="{FF2B5EF4-FFF2-40B4-BE49-F238E27FC236}">
                <a16:creationId xmlns:a16="http://schemas.microsoft.com/office/drawing/2014/main" id="{C46F00F3-8B82-F24E-DCC0-1A7B5C78588E}"/>
              </a:ext>
            </a:extLst>
          </p:cNvPr>
          <p:cNvSpPr txBox="1"/>
          <p:nvPr/>
        </p:nvSpPr>
        <p:spPr>
          <a:xfrm>
            <a:off x="6254538" y="1683326"/>
            <a:ext cx="1395553" cy="24615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VCF 9</a:t>
            </a:r>
          </a:p>
        </p:txBody>
      </p:sp>
      <p:sp>
        <p:nvSpPr>
          <p:cNvPr id="100" name="Google Shape;1479;p7">
            <a:extLst>
              <a:ext uri="{FF2B5EF4-FFF2-40B4-BE49-F238E27FC236}">
                <a16:creationId xmlns:a16="http://schemas.microsoft.com/office/drawing/2014/main" id="{E6BD19AF-702D-DCD2-5E1F-26BC4FE8317C}"/>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BE5487BD-DB9D-2587-C884-9E23C192B574}"/>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04072F73-157F-CB87-00EA-7BD8829C44FD}"/>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pic>
        <p:nvPicPr>
          <p:cNvPr id="12" name="Picture 11">
            <a:extLst>
              <a:ext uri="{FF2B5EF4-FFF2-40B4-BE49-F238E27FC236}">
                <a16:creationId xmlns:a16="http://schemas.microsoft.com/office/drawing/2014/main" id="{AF56D348-D9CC-CA31-3661-BE499160832B}"/>
              </a:ext>
            </a:extLst>
          </p:cNvPr>
          <p:cNvPicPr>
            <a:picLocks noChangeAspect="1"/>
          </p:cNvPicPr>
          <p:nvPr/>
        </p:nvPicPr>
        <p:blipFill>
          <a:blip r:embed="rId3"/>
          <a:stretch>
            <a:fillRect/>
          </a:stretch>
        </p:blipFill>
        <p:spPr>
          <a:xfrm>
            <a:off x="860835" y="1701900"/>
            <a:ext cx="3945710" cy="2426543"/>
          </a:xfrm>
          <a:prstGeom prst="rect">
            <a:avLst/>
          </a:prstGeom>
        </p:spPr>
      </p:pic>
      <p:pic>
        <p:nvPicPr>
          <p:cNvPr id="13" name="Picture 12">
            <a:extLst>
              <a:ext uri="{FF2B5EF4-FFF2-40B4-BE49-F238E27FC236}">
                <a16:creationId xmlns:a16="http://schemas.microsoft.com/office/drawing/2014/main" id="{FECCF6C6-4E9C-7B3E-13AE-881C91D95C66}"/>
              </a:ext>
            </a:extLst>
          </p:cNvPr>
          <p:cNvPicPr>
            <a:picLocks noChangeAspect="1"/>
          </p:cNvPicPr>
          <p:nvPr/>
        </p:nvPicPr>
        <p:blipFill>
          <a:blip r:embed="rId4"/>
          <a:stretch>
            <a:fillRect/>
          </a:stretch>
        </p:blipFill>
        <p:spPr>
          <a:xfrm>
            <a:off x="2814942" y="3429000"/>
            <a:ext cx="5204262" cy="2518448"/>
          </a:xfrm>
          <a:prstGeom prst="rect">
            <a:avLst/>
          </a:prstGeom>
        </p:spPr>
      </p:pic>
    </p:spTree>
    <p:extLst>
      <p:ext uri="{BB962C8B-B14F-4D97-AF65-F5344CB8AC3E}">
        <p14:creationId xmlns:p14="http://schemas.microsoft.com/office/powerpoint/2010/main" val="22172073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C2E0AA-6D4F-E7C0-B783-BAB94B29A01C}"/>
              </a:ext>
            </a:extLst>
          </p:cNvPr>
          <p:cNvSpPr>
            <a:spLocks noGrp="1"/>
          </p:cNvSpPr>
          <p:nvPr>
            <p:ph type="title"/>
          </p:nvPr>
        </p:nvSpPr>
        <p:spPr>
          <a:noFill/>
          <a:ln>
            <a:noFill/>
          </a:ln>
        </p:spPr>
        <p:txBody>
          <a:bodyPr spcFirstLastPara="1" vert="horz" wrap="square" lIns="0" tIns="0" rIns="0" bIns="0" rtlCol="0" anchor="b" anchorCtr="0">
            <a:noAutofit/>
          </a:bodyPr>
          <a:lstStyle/>
          <a:p>
            <a:r>
              <a:rPr lang="en-US" dirty="0">
                <a:solidFill>
                  <a:schemeClr val="accent2"/>
                </a:solidFill>
              </a:rPr>
              <a:t>VCF Download Tool</a:t>
            </a:r>
          </a:p>
        </p:txBody>
      </p:sp>
      <p:sp>
        <p:nvSpPr>
          <p:cNvPr id="3" name="Subtitle 2">
            <a:extLst>
              <a:ext uri="{FF2B5EF4-FFF2-40B4-BE49-F238E27FC236}">
                <a16:creationId xmlns:a16="http://schemas.microsoft.com/office/drawing/2014/main" id="{940D4925-1FD2-6D7E-6E6F-7BB8DFBB745D}"/>
              </a:ext>
            </a:extLst>
          </p:cNvPr>
          <p:cNvSpPr>
            <a:spLocks noGrp="1"/>
          </p:cNvSpPr>
          <p:nvPr>
            <p:ph type="subTitle" idx="1"/>
          </p:nvPr>
        </p:nvSpPr>
        <p:spPr>
          <a:noFill/>
          <a:ln>
            <a:noFill/>
          </a:ln>
        </p:spPr>
        <p:txBody>
          <a:bodyPr spcFirstLastPara="1" vert="horz" wrap="square" lIns="0" tIns="0" rIns="0" bIns="0" rtlCol="0" anchor="t" anchorCtr="0">
            <a:noAutofit/>
          </a:bodyPr>
          <a:lstStyle/>
          <a:p>
            <a:r>
              <a:rPr lang="en-US" dirty="0">
                <a:solidFill>
                  <a:schemeClr val="tx1"/>
                </a:solidFill>
              </a:rPr>
              <a:t>CLI Tool used to download and stage binaries for disconnected sites</a:t>
            </a:r>
          </a:p>
        </p:txBody>
      </p:sp>
      <p:sp>
        <p:nvSpPr>
          <p:cNvPr id="4" name="Text Placeholder 3">
            <a:extLst>
              <a:ext uri="{FF2B5EF4-FFF2-40B4-BE49-F238E27FC236}">
                <a16:creationId xmlns:a16="http://schemas.microsoft.com/office/drawing/2014/main" id="{FF1246D6-5E0C-5B67-4068-78F47DF7A2CF}"/>
              </a:ext>
            </a:extLst>
          </p:cNvPr>
          <p:cNvSpPr>
            <a:spLocks noGrp="1"/>
          </p:cNvSpPr>
          <p:nvPr>
            <p:ph type="body" idx="2"/>
          </p:nvPr>
        </p:nvSpPr>
        <p:spPr/>
        <p:txBody>
          <a:bodyPr/>
          <a:lstStyle/>
          <a:p>
            <a:r>
              <a:rPr lang="en-US" dirty="0"/>
              <a:t>VCF </a:t>
            </a:r>
          </a:p>
        </p:txBody>
      </p:sp>
      <p:sp>
        <p:nvSpPr>
          <p:cNvPr id="5" name="Text Placeholder 4">
            <a:extLst>
              <a:ext uri="{FF2B5EF4-FFF2-40B4-BE49-F238E27FC236}">
                <a16:creationId xmlns:a16="http://schemas.microsoft.com/office/drawing/2014/main" id="{C3A4F549-56FA-436F-C231-7995DA4001A9}"/>
              </a:ext>
            </a:extLst>
          </p:cNvPr>
          <p:cNvSpPr>
            <a:spLocks noGrp="1"/>
          </p:cNvSpPr>
          <p:nvPr>
            <p:ph type="body" idx="3"/>
          </p:nvPr>
        </p:nvSpPr>
        <p:spPr/>
        <p:txBody>
          <a:bodyPr/>
          <a:lstStyle/>
          <a:p>
            <a:r>
              <a:rPr lang="en-US" dirty="0"/>
              <a:t>Key Benefits</a:t>
            </a:r>
          </a:p>
        </p:txBody>
      </p:sp>
      <p:sp>
        <p:nvSpPr>
          <p:cNvPr id="6" name="Text Placeholder 5">
            <a:extLst>
              <a:ext uri="{FF2B5EF4-FFF2-40B4-BE49-F238E27FC236}">
                <a16:creationId xmlns:a16="http://schemas.microsoft.com/office/drawing/2014/main" id="{A3A9B191-6083-1CCE-BDF3-A8B6080ED6DD}"/>
              </a:ext>
            </a:extLst>
          </p:cNvPr>
          <p:cNvSpPr>
            <a:spLocks noGrp="1"/>
          </p:cNvSpPr>
          <p:nvPr>
            <p:ph type="body" idx="4"/>
          </p:nvPr>
        </p:nvSpPr>
        <p:spPr/>
        <p:txBody>
          <a:bodyPr/>
          <a:lstStyle/>
          <a:p>
            <a:r>
              <a:rPr lang="en-US" dirty="0"/>
              <a:t>Download and manage binaries in environments without Internet access.</a:t>
            </a:r>
          </a:p>
          <a:p>
            <a:r>
              <a:rPr lang="en-US" dirty="0"/>
              <a:t>Use primarily with “offline” and “disconnected” software depots.</a:t>
            </a:r>
          </a:p>
        </p:txBody>
      </p:sp>
      <p:sp>
        <p:nvSpPr>
          <p:cNvPr id="7" name="Text Placeholder 6">
            <a:extLst>
              <a:ext uri="{FF2B5EF4-FFF2-40B4-BE49-F238E27FC236}">
                <a16:creationId xmlns:a16="http://schemas.microsoft.com/office/drawing/2014/main" id="{2D6E2323-A4A7-F03D-4B56-D5B99A65FBBF}"/>
              </a:ext>
            </a:extLst>
          </p:cNvPr>
          <p:cNvSpPr>
            <a:spLocks noGrp="1"/>
          </p:cNvSpPr>
          <p:nvPr>
            <p:ph type="body" idx="5"/>
          </p:nvPr>
        </p:nvSpPr>
        <p:spPr/>
        <p:txBody>
          <a:bodyPr/>
          <a:lstStyle/>
          <a:p>
            <a:r>
              <a:rPr lang="en-US" dirty="0"/>
              <a:t>Technical Value</a:t>
            </a:r>
          </a:p>
        </p:txBody>
      </p:sp>
      <p:sp>
        <p:nvSpPr>
          <p:cNvPr id="8" name="Text Placeholder 7">
            <a:extLst>
              <a:ext uri="{FF2B5EF4-FFF2-40B4-BE49-F238E27FC236}">
                <a16:creationId xmlns:a16="http://schemas.microsoft.com/office/drawing/2014/main" id="{F1D302EE-CF6A-3334-A091-830950FA1B98}"/>
              </a:ext>
            </a:extLst>
          </p:cNvPr>
          <p:cNvSpPr>
            <a:spLocks noGrp="1"/>
          </p:cNvSpPr>
          <p:nvPr>
            <p:ph type="body" idx="6"/>
          </p:nvPr>
        </p:nvSpPr>
        <p:spPr/>
        <p:txBody>
          <a:bodyPr/>
          <a:lstStyle/>
          <a:p>
            <a:r>
              <a:rPr lang="en-US" dirty="0"/>
              <a:t>Facilitates binary management for disconnected sites.</a:t>
            </a:r>
          </a:p>
          <a:p>
            <a:r>
              <a:rPr lang="en-US" dirty="0"/>
              <a:t>Stage binaries to a local web server (offline depot)</a:t>
            </a:r>
          </a:p>
          <a:p>
            <a:r>
              <a:rPr lang="en-US" dirty="0"/>
              <a:t>Stage binaries directly to VCF Operations (disconnected depot) </a:t>
            </a:r>
          </a:p>
        </p:txBody>
      </p:sp>
      <p:pic>
        <p:nvPicPr>
          <p:cNvPr id="10" name="Picture 9">
            <a:extLst>
              <a:ext uri="{FF2B5EF4-FFF2-40B4-BE49-F238E27FC236}">
                <a16:creationId xmlns:a16="http://schemas.microsoft.com/office/drawing/2014/main" id="{512F7BCC-F6A2-4CED-1636-64F245216724}"/>
              </a:ext>
            </a:extLst>
          </p:cNvPr>
          <p:cNvPicPr>
            <a:picLocks noChangeAspect="1"/>
          </p:cNvPicPr>
          <p:nvPr/>
        </p:nvPicPr>
        <p:blipFill>
          <a:blip r:embed="rId3"/>
          <a:stretch>
            <a:fillRect/>
          </a:stretch>
        </p:blipFill>
        <p:spPr>
          <a:xfrm>
            <a:off x="677586" y="1699689"/>
            <a:ext cx="5155150" cy="1808824"/>
          </a:xfrm>
          <a:prstGeom prst="rect">
            <a:avLst/>
          </a:prstGeom>
        </p:spPr>
      </p:pic>
      <p:pic>
        <p:nvPicPr>
          <p:cNvPr id="9" name="Picture 8">
            <a:extLst>
              <a:ext uri="{FF2B5EF4-FFF2-40B4-BE49-F238E27FC236}">
                <a16:creationId xmlns:a16="http://schemas.microsoft.com/office/drawing/2014/main" id="{DC8AA3C6-D3B9-166C-4019-AABC71ED88C0}"/>
              </a:ext>
            </a:extLst>
          </p:cNvPr>
          <p:cNvPicPr>
            <a:picLocks noChangeAspect="1"/>
          </p:cNvPicPr>
          <p:nvPr/>
        </p:nvPicPr>
        <p:blipFill>
          <a:blip r:embed="rId4"/>
          <a:stretch>
            <a:fillRect/>
          </a:stretch>
        </p:blipFill>
        <p:spPr>
          <a:xfrm>
            <a:off x="677586" y="3762737"/>
            <a:ext cx="5072407" cy="2345243"/>
          </a:xfrm>
          <a:prstGeom prst="rect">
            <a:avLst/>
          </a:prstGeom>
        </p:spPr>
      </p:pic>
    </p:spTree>
    <p:extLst>
      <p:ext uri="{BB962C8B-B14F-4D97-AF65-F5344CB8AC3E}">
        <p14:creationId xmlns:p14="http://schemas.microsoft.com/office/powerpoint/2010/main" val="39962816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044564-8D02-3CD7-053C-9AD8BD3F64CD}"/>
              </a:ext>
            </a:extLst>
          </p:cNvPr>
          <p:cNvSpPr>
            <a:spLocks noGrp="1"/>
          </p:cNvSpPr>
          <p:nvPr>
            <p:ph type="title"/>
          </p:nvPr>
        </p:nvSpPr>
        <p:spPr/>
        <p:txBody>
          <a:bodyPr/>
          <a:lstStyle/>
          <a:p>
            <a:r>
              <a:rPr lang="en-US" dirty="0"/>
              <a:t>Upgrade &amp; Patch Planning</a:t>
            </a:r>
          </a:p>
        </p:txBody>
      </p:sp>
      <p:sp>
        <p:nvSpPr>
          <p:cNvPr id="3" name="Subtitle 2">
            <a:extLst>
              <a:ext uri="{FF2B5EF4-FFF2-40B4-BE49-F238E27FC236}">
                <a16:creationId xmlns:a16="http://schemas.microsoft.com/office/drawing/2014/main" id="{BC9EBA64-B273-A665-3137-0F55BD2214D4}"/>
              </a:ext>
            </a:extLst>
          </p:cNvPr>
          <p:cNvSpPr>
            <a:spLocks noGrp="1"/>
          </p:cNvSpPr>
          <p:nvPr>
            <p:ph type="subTitle" idx="1"/>
          </p:nvPr>
        </p:nvSpPr>
        <p:spPr/>
        <p:txBody>
          <a:bodyPr/>
          <a:lstStyle/>
          <a:p>
            <a:r>
              <a:rPr lang="en-US" dirty="0"/>
              <a:t>Quickly identify the steps and sequence for applying updates</a:t>
            </a:r>
          </a:p>
        </p:txBody>
      </p:sp>
      <p:pic>
        <p:nvPicPr>
          <p:cNvPr id="10" name="Picture 9">
            <a:extLst>
              <a:ext uri="{FF2B5EF4-FFF2-40B4-BE49-F238E27FC236}">
                <a16:creationId xmlns:a16="http://schemas.microsoft.com/office/drawing/2014/main" id="{6D1742FB-693A-C921-C72B-9ABC628F55C7}"/>
              </a:ext>
            </a:extLst>
          </p:cNvPr>
          <p:cNvPicPr>
            <a:picLocks noChangeAspect="1"/>
          </p:cNvPicPr>
          <p:nvPr/>
        </p:nvPicPr>
        <p:blipFill>
          <a:blip r:embed="rId3"/>
          <a:stretch>
            <a:fillRect/>
          </a:stretch>
        </p:blipFill>
        <p:spPr>
          <a:xfrm>
            <a:off x="696912" y="3845659"/>
            <a:ext cx="3164986" cy="1642935"/>
          </a:xfrm>
          <a:prstGeom prst="rect">
            <a:avLst/>
          </a:prstGeom>
        </p:spPr>
      </p:pic>
      <p:sp>
        <p:nvSpPr>
          <p:cNvPr id="5" name="Text Placeholder 4">
            <a:extLst>
              <a:ext uri="{FF2B5EF4-FFF2-40B4-BE49-F238E27FC236}">
                <a16:creationId xmlns:a16="http://schemas.microsoft.com/office/drawing/2014/main" id="{7A37E9C3-5FB3-E8FB-8D29-4993BF36629A}"/>
              </a:ext>
            </a:extLst>
          </p:cNvPr>
          <p:cNvSpPr>
            <a:spLocks noGrp="1"/>
          </p:cNvSpPr>
          <p:nvPr>
            <p:ph type="body" idx="3"/>
          </p:nvPr>
        </p:nvSpPr>
        <p:spPr/>
        <p:txBody>
          <a:bodyPr/>
          <a:lstStyle/>
          <a:p>
            <a:r>
              <a:rPr lang="en-US" dirty="0"/>
              <a:t>Key Benefits</a:t>
            </a:r>
          </a:p>
        </p:txBody>
      </p:sp>
      <p:sp>
        <p:nvSpPr>
          <p:cNvPr id="6" name="Text Placeholder 5">
            <a:extLst>
              <a:ext uri="{FF2B5EF4-FFF2-40B4-BE49-F238E27FC236}">
                <a16:creationId xmlns:a16="http://schemas.microsoft.com/office/drawing/2014/main" id="{1B8DE297-D247-FE39-C2E6-95295E1C2D99}"/>
              </a:ext>
            </a:extLst>
          </p:cNvPr>
          <p:cNvSpPr>
            <a:spLocks noGrp="1"/>
          </p:cNvSpPr>
          <p:nvPr>
            <p:ph type="body" idx="4"/>
          </p:nvPr>
        </p:nvSpPr>
        <p:spPr/>
        <p:txBody>
          <a:bodyPr/>
          <a:lstStyle/>
          <a:p>
            <a:r>
              <a:rPr lang="en-US" dirty="0"/>
              <a:t>Create a plan for applying updates.</a:t>
            </a:r>
          </a:p>
          <a:p>
            <a:r>
              <a:rPr lang="en-US" dirty="0"/>
              <a:t>Plan identifies number of steps and sequence for applying updates.</a:t>
            </a:r>
          </a:p>
          <a:p>
            <a:r>
              <a:rPr lang="en-US" dirty="0"/>
              <a:t>Create a custom plan for each domain.</a:t>
            </a:r>
          </a:p>
        </p:txBody>
      </p:sp>
      <p:sp>
        <p:nvSpPr>
          <p:cNvPr id="7" name="Text Placeholder 6">
            <a:extLst>
              <a:ext uri="{FF2B5EF4-FFF2-40B4-BE49-F238E27FC236}">
                <a16:creationId xmlns:a16="http://schemas.microsoft.com/office/drawing/2014/main" id="{61954E0B-3201-6DFC-4A92-426BAF116B2D}"/>
              </a:ext>
            </a:extLst>
          </p:cNvPr>
          <p:cNvSpPr>
            <a:spLocks noGrp="1"/>
          </p:cNvSpPr>
          <p:nvPr>
            <p:ph type="body" idx="5"/>
          </p:nvPr>
        </p:nvSpPr>
        <p:spPr/>
        <p:txBody>
          <a:bodyPr/>
          <a:lstStyle/>
          <a:p>
            <a:r>
              <a:rPr lang="en-US" dirty="0"/>
              <a:t>Technical Value</a:t>
            </a:r>
          </a:p>
        </p:txBody>
      </p:sp>
      <p:sp>
        <p:nvSpPr>
          <p:cNvPr id="8" name="Text Placeholder 7">
            <a:extLst>
              <a:ext uri="{FF2B5EF4-FFF2-40B4-BE49-F238E27FC236}">
                <a16:creationId xmlns:a16="http://schemas.microsoft.com/office/drawing/2014/main" id="{CE340514-461E-DE1E-BB46-41DFC764410C}"/>
              </a:ext>
            </a:extLst>
          </p:cNvPr>
          <p:cNvSpPr>
            <a:spLocks noGrp="1"/>
          </p:cNvSpPr>
          <p:nvPr>
            <p:ph type="body" idx="6"/>
          </p:nvPr>
        </p:nvSpPr>
        <p:spPr/>
        <p:txBody>
          <a:bodyPr/>
          <a:lstStyle/>
          <a:p>
            <a:r>
              <a:rPr lang="en-US" dirty="0"/>
              <a:t>Understand steps prior to starting an update.</a:t>
            </a:r>
          </a:p>
          <a:p>
            <a:r>
              <a:rPr lang="en-US" dirty="0"/>
              <a:t>Compatibility and Interoperability verified by VCF LCM.</a:t>
            </a:r>
          </a:p>
          <a:p>
            <a:r>
              <a:rPr lang="en-US" dirty="0"/>
              <a:t>Fully guided patch and upgrade deployments.</a:t>
            </a:r>
          </a:p>
        </p:txBody>
      </p:sp>
      <p:pic>
        <p:nvPicPr>
          <p:cNvPr id="9" name="Picture 8">
            <a:extLst>
              <a:ext uri="{FF2B5EF4-FFF2-40B4-BE49-F238E27FC236}">
                <a16:creationId xmlns:a16="http://schemas.microsoft.com/office/drawing/2014/main" id="{648C64A9-C973-CA75-C5C0-C1392569AB2B}"/>
              </a:ext>
            </a:extLst>
          </p:cNvPr>
          <p:cNvPicPr>
            <a:picLocks noChangeAspect="1"/>
          </p:cNvPicPr>
          <p:nvPr/>
        </p:nvPicPr>
        <p:blipFill>
          <a:blip r:embed="rId4"/>
          <a:stretch>
            <a:fillRect/>
          </a:stretch>
        </p:blipFill>
        <p:spPr>
          <a:xfrm>
            <a:off x="696912" y="2210511"/>
            <a:ext cx="3164986" cy="1120853"/>
          </a:xfrm>
          <a:prstGeom prst="rect">
            <a:avLst/>
          </a:prstGeom>
        </p:spPr>
      </p:pic>
      <p:sp>
        <p:nvSpPr>
          <p:cNvPr id="17" name="Rectangle 16">
            <a:extLst>
              <a:ext uri="{FF2B5EF4-FFF2-40B4-BE49-F238E27FC236}">
                <a16:creationId xmlns:a16="http://schemas.microsoft.com/office/drawing/2014/main" id="{E691637C-0C84-2247-8203-8ED038BA6F4E}"/>
              </a:ext>
            </a:extLst>
          </p:cNvPr>
          <p:cNvSpPr/>
          <p:nvPr/>
        </p:nvSpPr>
        <p:spPr bwMode="gray">
          <a:xfrm>
            <a:off x="696912" y="1723769"/>
            <a:ext cx="3268801" cy="248478"/>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Create / Customize Upgrade Plan</a:t>
            </a:r>
          </a:p>
        </p:txBody>
      </p:sp>
      <p:pic>
        <p:nvPicPr>
          <p:cNvPr id="19" name="Picture 18">
            <a:extLst>
              <a:ext uri="{FF2B5EF4-FFF2-40B4-BE49-F238E27FC236}">
                <a16:creationId xmlns:a16="http://schemas.microsoft.com/office/drawing/2014/main" id="{D4EA879D-63F4-BB98-5C0D-95ACF9881FCB}"/>
              </a:ext>
            </a:extLst>
          </p:cNvPr>
          <p:cNvPicPr>
            <a:picLocks noChangeAspect="1"/>
          </p:cNvPicPr>
          <p:nvPr/>
        </p:nvPicPr>
        <p:blipFill>
          <a:blip r:embed="rId5"/>
          <a:stretch>
            <a:fillRect/>
          </a:stretch>
        </p:blipFill>
        <p:spPr>
          <a:xfrm>
            <a:off x="4505589" y="4281636"/>
            <a:ext cx="3267284" cy="1476888"/>
          </a:xfrm>
          <a:prstGeom prst="rect">
            <a:avLst/>
          </a:prstGeom>
        </p:spPr>
      </p:pic>
      <p:pic>
        <p:nvPicPr>
          <p:cNvPr id="20" name="Picture 19">
            <a:extLst>
              <a:ext uri="{FF2B5EF4-FFF2-40B4-BE49-F238E27FC236}">
                <a16:creationId xmlns:a16="http://schemas.microsoft.com/office/drawing/2014/main" id="{A992E5D7-9C28-105E-8ABC-F8108BA3C561}"/>
              </a:ext>
            </a:extLst>
          </p:cNvPr>
          <p:cNvPicPr>
            <a:picLocks noChangeAspect="1"/>
          </p:cNvPicPr>
          <p:nvPr/>
        </p:nvPicPr>
        <p:blipFill>
          <a:blip r:embed="rId6"/>
          <a:stretch>
            <a:fillRect/>
          </a:stretch>
        </p:blipFill>
        <p:spPr>
          <a:xfrm>
            <a:off x="4504072" y="2064837"/>
            <a:ext cx="3267284" cy="2234913"/>
          </a:xfrm>
          <a:prstGeom prst="rect">
            <a:avLst/>
          </a:prstGeom>
        </p:spPr>
      </p:pic>
      <p:sp>
        <p:nvSpPr>
          <p:cNvPr id="21" name="Rectangle 20">
            <a:extLst>
              <a:ext uri="{FF2B5EF4-FFF2-40B4-BE49-F238E27FC236}">
                <a16:creationId xmlns:a16="http://schemas.microsoft.com/office/drawing/2014/main" id="{69FDA580-E72C-EAF8-46AB-0B1052E1A101}"/>
              </a:ext>
            </a:extLst>
          </p:cNvPr>
          <p:cNvSpPr/>
          <p:nvPr/>
        </p:nvSpPr>
        <p:spPr bwMode="gray">
          <a:xfrm>
            <a:off x="4504072" y="1715859"/>
            <a:ext cx="3268801" cy="248478"/>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Review Upgrade Sequence</a:t>
            </a:r>
          </a:p>
        </p:txBody>
      </p:sp>
      <p:sp>
        <p:nvSpPr>
          <p:cNvPr id="22" name="Rectangle 21">
            <a:extLst>
              <a:ext uri="{FF2B5EF4-FFF2-40B4-BE49-F238E27FC236}">
                <a16:creationId xmlns:a16="http://schemas.microsoft.com/office/drawing/2014/main" id="{78A15B1F-ABD8-FBCF-61EC-D4F5F92CC8F3}"/>
              </a:ext>
            </a:extLst>
          </p:cNvPr>
          <p:cNvSpPr/>
          <p:nvPr/>
        </p:nvSpPr>
        <p:spPr bwMode="gray">
          <a:xfrm>
            <a:off x="7685148" y="1983571"/>
            <a:ext cx="202425" cy="3536647"/>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23700501-B50A-05E5-DAF2-3F334FE7E6EA}"/>
              </a:ext>
            </a:extLst>
          </p:cNvPr>
          <p:cNvSpPr/>
          <p:nvPr/>
        </p:nvSpPr>
        <p:spPr bwMode="gray">
          <a:xfrm>
            <a:off x="4351882" y="2189355"/>
            <a:ext cx="202425" cy="3536647"/>
          </a:xfrm>
          <a:prstGeom prst="rect">
            <a:avLst/>
          </a:pr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905455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500" fill="hold"/>
                                        <p:tgtEl>
                                          <p:spTgt spid="20"/>
                                        </p:tgtEl>
                                        <p:attrNameLst>
                                          <p:attrName>ppt_x</p:attrName>
                                        </p:attrNameLst>
                                      </p:cBhvr>
                                      <p:tavLst>
                                        <p:tav tm="0">
                                          <p:val>
                                            <p:strVal val="#ppt_x"/>
                                          </p:val>
                                        </p:tav>
                                        <p:tav tm="100000">
                                          <p:val>
                                            <p:strVal val="#ppt_x"/>
                                          </p:val>
                                        </p:tav>
                                      </p:tavLst>
                                    </p:anim>
                                    <p:anim calcmode="lin" valueType="num">
                                      <p:cBhvr additive="base">
                                        <p:cTn id="12" dur="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A621A8-3D66-80D8-3C70-4C4D5B411BF7}"/>
            </a:ext>
          </a:extLst>
        </p:cNvPr>
        <p:cNvGrpSpPr/>
        <p:nvPr/>
      </p:nvGrpSpPr>
      <p:grpSpPr>
        <a:xfrm>
          <a:off x="0" y="0"/>
          <a:ext cx="0" cy="0"/>
          <a:chOff x="0" y="0"/>
          <a:chExt cx="0" cy="0"/>
        </a:xfrm>
      </p:grpSpPr>
      <p:sp>
        <p:nvSpPr>
          <p:cNvPr id="43" name="Google Shape;1527;p8">
            <a:extLst>
              <a:ext uri="{FF2B5EF4-FFF2-40B4-BE49-F238E27FC236}">
                <a16:creationId xmlns:a16="http://schemas.microsoft.com/office/drawing/2014/main" id="{2B4E5F4C-E876-87A1-2493-A7D583620C4D}"/>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Title 1">
            <a:extLst>
              <a:ext uri="{FF2B5EF4-FFF2-40B4-BE49-F238E27FC236}">
                <a16:creationId xmlns:a16="http://schemas.microsoft.com/office/drawing/2014/main" id="{DF66E339-42CD-F5B7-D999-98B9EC30F03A}"/>
              </a:ext>
            </a:extLst>
          </p:cNvPr>
          <p:cNvSpPr>
            <a:spLocks noGrp="1"/>
          </p:cNvSpPr>
          <p:nvPr>
            <p:ph type="title"/>
          </p:nvPr>
        </p:nvSpPr>
        <p:spPr>
          <a:xfrm>
            <a:off x="581245" y="413536"/>
            <a:ext cx="10998269" cy="380901"/>
          </a:xfrm>
        </p:spPr>
        <p:txBody>
          <a:bodyPr/>
          <a:lstStyle/>
          <a:p>
            <a:r>
              <a:rPr lang="en-US" dirty="0"/>
              <a:t>VCF Lifecycle Prechecks</a:t>
            </a:r>
            <a:endParaRPr lang="en-US" dirty="0">
              <a:solidFill>
                <a:schemeClr val="accent2"/>
              </a:solidFill>
            </a:endParaRPr>
          </a:p>
        </p:txBody>
      </p:sp>
      <p:sp>
        <p:nvSpPr>
          <p:cNvPr id="3" name="Subtitle 2">
            <a:extLst>
              <a:ext uri="{FF2B5EF4-FFF2-40B4-BE49-F238E27FC236}">
                <a16:creationId xmlns:a16="http://schemas.microsoft.com/office/drawing/2014/main" id="{B256C8A4-4DB4-204E-BB5E-93B227C26B16}"/>
              </a:ext>
            </a:extLst>
          </p:cNvPr>
          <p:cNvSpPr>
            <a:spLocks noGrp="1"/>
          </p:cNvSpPr>
          <p:nvPr>
            <p:ph type="subTitle" idx="1"/>
          </p:nvPr>
        </p:nvSpPr>
        <p:spPr>
          <a:xfrm>
            <a:off x="594300" y="812513"/>
            <a:ext cx="10959889" cy="247735"/>
          </a:xfrm>
        </p:spPr>
        <p:txBody>
          <a:bodyPr/>
          <a:lstStyle/>
          <a:p>
            <a:pPr lvl="0"/>
            <a:r>
              <a:rPr lang="en-US" dirty="0"/>
              <a:t>Verify domain health and upgrade readiness</a:t>
            </a:r>
          </a:p>
        </p:txBody>
      </p:sp>
      <p:sp>
        <p:nvSpPr>
          <p:cNvPr id="5" name="Text Placeholder 4">
            <a:extLst>
              <a:ext uri="{FF2B5EF4-FFF2-40B4-BE49-F238E27FC236}">
                <a16:creationId xmlns:a16="http://schemas.microsoft.com/office/drawing/2014/main" id="{DA583287-638B-2BEC-71F7-32D519251CEB}"/>
              </a:ext>
            </a:extLst>
          </p:cNvPr>
          <p:cNvSpPr>
            <a:spLocks noGrp="1"/>
          </p:cNvSpPr>
          <p:nvPr>
            <p:ph type="body" idx="3"/>
          </p:nvPr>
        </p:nvSpPr>
        <p:spPr>
          <a:xfrm>
            <a:off x="8379819" y="1700139"/>
            <a:ext cx="3680486" cy="286287"/>
          </a:xfrm>
        </p:spPr>
        <p:txBody>
          <a:bodyPr/>
          <a:lstStyle/>
          <a:p>
            <a:r>
              <a:rPr lang="en-US" dirty="0"/>
              <a:t>Key Benefits</a:t>
            </a:r>
          </a:p>
        </p:txBody>
      </p:sp>
      <p:sp>
        <p:nvSpPr>
          <p:cNvPr id="6" name="Text Placeholder 5">
            <a:extLst>
              <a:ext uri="{FF2B5EF4-FFF2-40B4-BE49-F238E27FC236}">
                <a16:creationId xmlns:a16="http://schemas.microsoft.com/office/drawing/2014/main" id="{60498C3D-6703-E53E-53F9-359CD70C85C1}"/>
              </a:ext>
            </a:extLst>
          </p:cNvPr>
          <p:cNvSpPr>
            <a:spLocks noGrp="1"/>
          </p:cNvSpPr>
          <p:nvPr>
            <p:ph type="body" idx="4"/>
          </p:nvPr>
        </p:nvSpPr>
        <p:spPr>
          <a:xfrm>
            <a:off x="8378232" y="2063404"/>
            <a:ext cx="3682074" cy="1599783"/>
          </a:xfrm>
        </p:spPr>
        <p:txBody>
          <a:bodyPr/>
          <a:lstStyle/>
          <a:p>
            <a:r>
              <a:rPr lang="en-US" dirty="0"/>
              <a:t>Comprehensive set of prechecks to verify domain health prior to upgrade.</a:t>
            </a:r>
          </a:p>
          <a:p>
            <a:r>
              <a:rPr lang="en-US" dirty="0"/>
              <a:t>General upgrade readiness as well as component-level checks.</a:t>
            </a:r>
          </a:p>
        </p:txBody>
      </p:sp>
      <p:sp>
        <p:nvSpPr>
          <p:cNvPr id="7" name="Text Placeholder 6">
            <a:extLst>
              <a:ext uri="{FF2B5EF4-FFF2-40B4-BE49-F238E27FC236}">
                <a16:creationId xmlns:a16="http://schemas.microsoft.com/office/drawing/2014/main" id="{1DC93338-DF72-7D8A-772B-D21E68A19ED5}"/>
              </a:ext>
            </a:extLst>
          </p:cNvPr>
          <p:cNvSpPr>
            <a:spLocks noGrp="1"/>
          </p:cNvSpPr>
          <p:nvPr>
            <p:ph type="body" idx="5"/>
          </p:nvPr>
        </p:nvSpPr>
        <p:spPr>
          <a:xfrm>
            <a:off x="8379819" y="3972330"/>
            <a:ext cx="3680486" cy="277281"/>
          </a:xfrm>
        </p:spPr>
        <p:txBody>
          <a:bodyPr/>
          <a:lstStyle/>
          <a:p>
            <a:r>
              <a:rPr lang="en-US" dirty="0"/>
              <a:t>Technical Value</a:t>
            </a:r>
          </a:p>
        </p:txBody>
      </p:sp>
      <p:sp>
        <p:nvSpPr>
          <p:cNvPr id="8" name="Text Placeholder 7">
            <a:extLst>
              <a:ext uri="{FF2B5EF4-FFF2-40B4-BE49-F238E27FC236}">
                <a16:creationId xmlns:a16="http://schemas.microsoft.com/office/drawing/2014/main" id="{1687F97F-7789-8C95-5E7A-BBD548C437F9}"/>
              </a:ext>
            </a:extLst>
          </p:cNvPr>
          <p:cNvSpPr>
            <a:spLocks noGrp="1"/>
          </p:cNvSpPr>
          <p:nvPr>
            <p:ph type="body" idx="6"/>
          </p:nvPr>
        </p:nvSpPr>
        <p:spPr>
          <a:xfrm>
            <a:off x="8378232" y="4347665"/>
            <a:ext cx="3682074" cy="1599783"/>
          </a:xfrm>
        </p:spPr>
        <p:txBody>
          <a:bodyPr/>
          <a:lstStyle/>
          <a:p>
            <a:r>
              <a:rPr lang="en-US" dirty="0"/>
              <a:t>Improve upgrade confidence by ensuring domain health prior to upgrades.</a:t>
            </a:r>
          </a:p>
          <a:p>
            <a:r>
              <a:rPr lang="en-US" dirty="0"/>
              <a:t>Run at anytime to ensure ongoing health and continual upgrade readiness.</a:t>
            </a:r>
          </a:p>
        </p:txBody>
      </p:sp>
      <p:sp>
        <p:nvSpPr>
          <p:cNvPr id="22" name="TextBox 21">
            <a:extLst>
              <a:ext uri="{FF2B5EF4-FFF2-40B4-BE49-F238E27FC236}">
                <a16:creationId xmlns:a16="http://schemas.microsoft.com/office/drawing/2014/main" id="{E0563149-2D56-EE89-A575-42CE31DCBA16}"/>
              </a:ext>
            </a:extLst>
          </p:cNvPr>
          <p:cNvSpPr txBox="1"/>
          <p:nvPr/>
        </p:nvSpPr>
        <p:spPr>
          <a:xfrm>
            <a:off x="1367150" y="1697587"/>
            <a:ext cx="3439394" cy="24615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B1D36"/>
                </a:solidFill>
                <a:effectLst/>
                <a:uLnTx/>
                <a:uFillTx/>
                <a:latin typeface="Arial" panose="020B0604020202020204"/>
                <a:ea typeface="+mn-ea"/>
                <a:cs typeface="+mn-cs"/>
              </a:rPr>
              <a:t>VCF 5.x &amp; Aria Suite</a:t>
            </a:r>
          </a:p>
        </p:txBody>
      </p:sp>
      <p:sp>
        <p:nvSpPr>
          <p:cNvPr id="87" name="TextBox 86">
            <a:extLst>
              <a:ext uri="{FF2B5EF4-FFF2-40B4-BE49-F238E27FC236}">
                <a16:creationId xmlns:a16="http://schemas.microsoft.com/office/drawing/2014/main" id="{2F6B885C-7629-8865-6C5E-6FC2AC2ED986}"/>
              </a:ext>
            </a:extLst>
          </p:cNvPr>
          <p:cNvSpPr txBox="1"/>
          <p:nvPr/>
        </p:nvSpPr>
        <p:spPr>
          <a:xfrm>
            <a:off x="6254538" y="1683326"/>
            <a:ext cx="1395553" cy="246157"/>
          </a:xfrm>
          <a:prstGeom prst="rect">
            <a:avLst/>
          </a:prstGeom>
          <a:noFill/>
        </p:spPr>
        <p:txBody>
          <a:bodyPr wrap="square" lIns="0" tIns="0" rIns="0" bIns="0" rtlCol="0">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VCF 9</a:t>
            </a:r>
          </a:p>
        </p:txBody>
      </p:sp>
      <p:sp>
        <p:nvSpPr>
          <p:cNvPr id="100" name="Google Shape;1479;p7">
            <a:extLst>
              <a:ext uri="{FF2B5EF4-FFF2-40B4-BE49-F238E27FC236}">
                <a16:creationId xmlns:a16="http://schemas.microsoft.com/office/drawing/2014/main" id="{05B34A69-1F7C-F9B1-1091-9A01BAD933D9}"/>
              </a:ext>
            </a:extLst>
          </p:cNvPr>
          <p:cNvSpPr/>
          <p:nvPr/>
        </p:nvSpPr>
        <p:spPr>
          <a:xfrm>
            <a:off x="801479" y="4822584"/>
            <a:ext cx="4670075" cy="1057490"/>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02" name="Google Shape;1479;p7">
            <a:extLst>
              <a:ext uri="{FF2B5EF4-FFF2-40B4-BE49-F238E27FC236}">
                <a16:creationId xmlns:a16="http://schemas.microsoft.com/office/drawing/2014/main" id="{2E001495-FFB4-7437-8D99-4DA89D347A1F}"/>
              </a:ext>
            </a:extLst>
          </p:cNvPr>
          <p:cNvSpPr/>
          <p:nvPr/>
        </p:nvSpPr>
        <p:spPr>
          <a:xfrm>
            <a:off x="5904924" y="4825639"/>
            <a:ext cx="1909259" cy="1039765"/>
          </a:xfrm>
          <a:prstGeom prst="roundRect">
            <a:avLst>
              <a:gd name="adj" fmla="val 2356"/>
            </a:avLst>
          </a:prstGeom>
          <a:solidFill>
            <a:srgbClr val="E8E8EA"/>
          </a:solidFill>
          <a:ln>
            <a:noFill/>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4" name="Google Shape;1527;p8">
            <a:extLst>
              <a:ext uri="{FF2B5EF4-FFF2-40B4-BE49-F238E27FC236}">
                <a16:creationId xmlns:a16="http://schemas.microsoft.com/office/drawing/2014/main" id="{DA456622-9A28-EDEA-9B9B-E384AD1EF7B7}"/>
              </a:ext>
            </a:extLst>
          </p:cNvPr>
          <p:cNvSpPr/>
          <p:nvPr/>
        </p:nvSpPr>
        <p:spPr>
          <a:xfrm>
            <a:off x="594298" y="1610005"/>
            <a:ext cx="7438027" cy="44361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marL="0" marR="0" lvl="0" indent="0" algn="ctr" defTabSz="914126" rtl="0" eaLnBrk="1" fontAlgn="auto" latinLnBrk="0" hangingPunct="1">
              <a:lnSpc>
                <a:spcPct val="100000"/>
              </a:lnSpc>
              <a:spcBef>
                <a:spcPts val="0"/>
              </a:spcBef>
              <a:spcAft>
                <a:spcPts val="0"/>
              </a:spcAft>
              <a:buClr>
                <a:srgbClr val="000000"/>
              </a:buClr>
              <a:buSzPts val="1200"/>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pic>
        <p:nvPicPr>
          <p:cNvPr id="12" name="Picture 11">
            <a:extLst>
              <a:ext uri="{FF2B5EF4-FFF2-40B4-BE49-F238E27FC236}">
                <a16:creationId xmlns:a16="http://schemas.microsoft.com/office/drawing/2014/main" id="{84088065-915D-3FBB-BD21-E68A6DF142F1}"/>
              </a:ext>
            </a:extLst>
          </p:cNvPr>
          <p:cNvPicPr>
            <a:picLocks noChangeAspect="1"/>
          </p:cNvPicPr>
          <p:nvPr/>
        </p:nvPicPr>
        <p:blipFill>
          <a:blip r:embed="rId3"/>
          <a:stretch>
            <a:fillRect/>
          </a:stretch>
        </p:blipFill>
        <p:spPr>
          <a:xfrm>
            <a:off x="4953301" y="2582512"/>
            <a:ext cx="2843548" cy="2125714"/>
          </a:xfrm>
          <a:prstGeom prst="rect">
            <a:avLst/>
          </a:prstGeom>
        </p:spPr>
      </p:pic>
      <p:pic>
        <p:nvPicPr>
          <p:cNvPr id="13" name="Picture 12">
            <a:extLst>
              <a:ext uri="{FF2B5EF4-FFF2-40B4-BE49-F238E27FC236}">
                <a16:creationId xmlns:a16="http://schemas.microsoft.com/office/drawing/2014/main" id="{BBF803DB-9934-0023-9D18-A43F989B36B9}"/>
              </a:ext>
            </a:extLst>
          </p:cNvPr>
          <p:cNvPicPr>
            <a:picLocks noChangeAspect="1"/>
          </p:cNvPicPr>
          <p:nvPr/>
        </p:nvPicPr>
        <p:blipFill>
          <a:blip r:embed="rId4"/>
          <a:stretch>
            <a:fillRect/>
          </a:stretch>
        </p:blipFill>
        <p:spPr>
          <a:xfrm>
            <a:off x="700788" y="2579450"/>
            <a:ext cx="3439512" cy="2054525"/>
          </a:xfrm>
          <a:prstGeom prst="rect">
            <a:avLst/>
          </a:prstGeom>
        </p:spPr>
      </p:pic>
      <p:sp>
        <p:nvSpPr>
          <p:cNvPr id="14" name="Rectangle 13">
            <a:extLst>
              <a:ext uri="{FF2B5EF4-FFF2-40B4-BE49-F238E27FC236}">
                <a16:creationId xmlns:a16="http://schemas.microsoft.com/office/drawing/2014/main" id="{39384D95-47FB-9765-8BAF-6E1AC7F4503F}"/>
              </a:ext>
            </a:extLst>
          </p:cNvPr>
          <p:cNvSpPr/>
          <p:nvPr/>
        </p:nvSpPr>
        <p:spPr bwMode="gray">
          <a:xfrm>
            <a:off x="700787" y="2255776"/>
            <a:ext cx="3439395" cy="308244"/>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Run a general or version-specific precheck…</a:t>
            </a:r>
          </a:p>
        </p:txBody>
      </p:sp>
      <p:sp>
        <p:nvSpPr>
          <p:cNvPr id="15" name="Rectangle 14">
            <a:extLst>
              <a:ext uri="{FF2B5EF4-FFF2-40B4-BE49-F238E27FC236}">
                <a16:creationId xmlns:a16="http://schemas.microsoft.com/office/drawing/2014/main" id="{AD060898-B32A-2687-3771-F804F1843F92}"/>
              </a:ext>
            </a:extLst>
          </p:cNvPr>
          <p:cNvSpPr/>
          <p:nvPr/>
        </p:nvSpPr>
        <p:spPr bwMode="gray">
          <a:xfrm>
            <a:off x="4806542" y="2265920"/>
            <a:ext cx="3154981" cy="308244"/>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Vew results in detailed report…</a:t>
            </a:r>
          </a:p>
        </p:txBody>
      </p:sp>
    </p:spTree>
    <p:extLst>
      <p:ext uri="{BB962C8B-B14F-4D97-AF65-F5344CB8AC3E}">
        <p14:creationId xmlns:p14="http://schemas.microsoft.com/office/powerpoint/2010/main" val="19470547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1318"/>
        <p:cNvGrpSpPr/>
        <p:nvPr/>
      </p:nvGrpSpPr>
      <p:grpSpPr>
        <a:xfrm>
          <a:off x="0" y="0"/>
          <a:ext cx="0" cy="0"/>
          <a:chOff x="0" y="0"/>
          <a:chExt cx="0" cy="0"/>
        </a:xfrm>
      </p:grpSpPr>
      <p:sp>
        <p:nvSpPr>
          <p:cNvPr id="11319" name="Google Shape;11319;p39"/>
          <p:cNvSpPr txBox="1">
            <a:spLocks noGrp="1"/>
          </p:cNvSpPr>
          <p:nvPr>
            <p:ph type="title"/>
          </p:nvPr>
        </p:nvSpPr>
        <p:spPr>
          <a:xfrm>
            <a:off x="589107" y="938794"/>
            <a:ext cx="8725014" cy="122936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dirty="0"/>
              <a:t>Optimize Infrastructure and Operations </a:t>
            </a:r>
            <a:endParaRPr dirty="0"/>
          </a:p>
        </p:txBody>
      </p:sp>
      <p:sp>
        <p:nvSpPr>
          <p:cNvPr id="11320" name="Google Shape;11320;p39"/>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r>
              <a:rPr lang="en-US"/>
              <a:t>Storage</a:t>
            </a: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518">
          <a:extLst>
            <a:ext uri="{FF2B5EF4-FFF2-40B4-BE49-F238E27FC236}">
              <a16:creationId xmlns:a16="http://schemas.microsoft.com/office/drawing/2014/main" id="{DB52856A-77A1-2DDB-1A9F-DE4C82B15361}"/>
            </a:ext>
          </a:extLst>
        </p:cNvPr>
        <p:cNvGrpSpPr/>
        <p:nvPr/>
      </p:nvGrpSpPr>
      <p:grpSpPr>
        <a:xfrm>
          <a:off x="0" y="0"/>
          <a:ext cx="0" cy="0"/>
          <a:chOff x="0" y="0"/>
          <a:chExt cx="0" cy="0"/>
        </a:xfrm>
      </p:grpSpPr>
      <p:sp>
        <p:nvSpPr>
          <p:cNvPr id="5" name="Rounded Rectangle 4">
            <a:extLst>
              <a:ext uri="{FF2B5EF4-FFF2-40B4-BE49-F238E27FC236}">
                <a16:creationId xmlns:a16="http://schemas.microsoft.com/office/drawing/2014/main" id="{D6D11402-2A6F-45DA-4FF0-507796ED8966}"/>
              </a:ext>
            </a:extLst>
          </p:cNvPr>
          <p:cNvSpPr/>
          <p:nvPr/>
        </p:nvSpPr>
        <p:spPr>
          <a:xfrm>
            <a:off x="619442" y="1493690"/>
            <a:ext cx="8715126" cy="1395860"/>
          </a:xfrm>
          <a:prstGeom prst="roundRect">
            <a:avLst>
              <a:gd name="adj" fmla="val 9358"/>
            </a:avLst>
          </a:prstGeom>
          <a:solidFill>
            <a:srgbClr val="F4F8FA"/>
          </a:solidFill>
          <a:ln w="12700" cap="flat" cmpd="sng" algn="ctr">
            <a:noFill/>
            <a:prstDash val="solid"/>
          </a:ln>
          <a:effectLst>
            <a:outerShdw blurRad="215900" dist="38100" algn="tl" rotWithShape="0">
              <a:prstClr val="black">
                <a:alpha val="11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3519" name="Google Shape;3519;p49">
            <a:extLst>
              <a:ext uri="{FF2B5EF4-FFF2-40B4-BE49-F238E27FC236}">
                <a16:creationId xmlns:a16="http://schemas.microsoft.com/office/drawing/2014/main" id="{59E38F5F-8763-2D1C-474B-8672FA9673D2}"/>
              </a:ext>
            </a:extLst>
          </p:cNvPr>
          <p:cNvSpPr txBox="1">
            <a:spLocks noGrp="1"/>
          </p:cNvSpPr>
          <p:nvPr>
            <p:ph type="title"/>
          </p:nvPr>
        </p:nvSpPr>
        <p:spPr>
          <a:xfrm>
            <a:off x="414376" y="457974"/>
            <a:ext cx="11360073" cy="366159"/>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dirty="0">
                <a:solidFill>
                  <a:schemeClr val="accent2"/>
                </a:solidFill>
              </a:rPr>
              <a:t>VMware Cloud Foundation Storage</a:t>
            </a:r>
            <a:endParaRPr dirty="0">
              <a:solidFill>
                <a:schemeClr val="accent2"/>
              </a:solidFill>
            </a:endParaRPr>
          </a:p>
        </p:txBody>
      </p:sp>
      <p:sp>
        <p:nvSpPr>
          <p:cNvPr id="3520" name="Google Shape;3520;p49">
            <a:extLst>
              <a:ext uri="{FF2B5EF4-FFF2-40B4-BE49-F238E27FC236}">
                <a16:creationId xmlns:a16="http://schemas.microsoft.com/office/drawing/2014/main" id="{86E4C8BA-4898-66F0-8958-692368549482}"/>
              </a:ext>
            </a:extLst>
          </p:cNvPr>
          <p:cNvSpPr txBox="1">
            <a:spLocks noGrp="1"/>
          </p:cNvSpPr>
          <p:nvPr>
            <p:ph type="body" idx="1"/>
          </p:nvPr>
        </p:nvSpPr>
        <p:spPr>
          <a:xfrm>
            <a:off x="414376" y="915058"/>
            <a:ext cx="11360073" cy="332312"/>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sz="1999" dirty="0">
                <a:solidFill>
                  <a:schemeClr val="dk1"/>
                </a:solidFill>
                <a:latin typeface="+mn-lt"/>
              </a:rPr>
              <a:t>Flexible Storage Options when deploying a new VCF instance</a:t>
            </a:r>
            <a:endParaRPr dirty="0">
              <a:latin typeface="+mn-lt"/>
            </a:endParaRPr>
          </a:p>
        </p:txBody>
      </p:sp>
      <p:sp>
        <p:nvSpPr>
          <p:cNvPr id="3523" name="Google Shape;3523;p49">
            <a:extLst>
              <a:ext uri="{FF2B5EF4-FFF2-40B4-BE49-F238E27FC236}">
                <a16:creationId xmlns:a16="http://schemas.microsoft.com/office/drawing/2014/main" id="{560BA95B-8450-AC9A-6EF9-18F25D9FC37C}"/>
              </a:ext>
            </a:extLst>
          </p:cNvPr>
          <p:cNvSpPr txBox="1"/>
          <p:nvPr/>
        </p:nvSpPr>
        <p:spPr>
          <a:xfrm>
            <a:off x="2437904" y="1533518"/>
            <a:ext cx="6844909" cy="307617"/>
          </a:xfrm>
          <a:prstGeom prst="rect">
            <a:avLst/>
          </a:prstGeom>
          <a:noFill/>
          <a:ln>
            <a:noFill/>
          </a:ln>
        </p:spPr>
        <p:txBody>
          <a:bodyPr spcFirstLastPara="1" wrap="square" lIns="91400" tIns="45675" rIns="91400" bIns="45675"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Principal storage options for the </a:t>
            </a:r>
            <a:r>
              <a:rPr kumimoji="0" lang="en-US" sz="1400" b="1"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Management D</a:t>
            </a:r>
            <a:r>
              <a:rPr kumimoji="0" lang="en-US" sz="1400" b="1" i="0" u="none" strike="noStrike" kern="1200" cap="none" spc="0" normalizeH="0" baseline="0" noProof="0" dirty="0" err="1">
                <a:ln>
                  <a:noFill/>
                </a:ln>
                <a:solidFill>
                  <a:srgbClr val="3C3C3C"/>
                </a:solidFill>
                <a:effectLst/>
                <a:uLnTx/>
                <a:uFillTx/>
                <a:latin typeface="Arial" panose="020B0604020202020204" pitchFamily="34" charset="0"/>
                <a:ea typeface="+mn-ea"/>
                <a:cs typeface="+mn-cs"/>
                <a:sym typeface="Arial"/>
              </a:rPr>
              <a:t>omain</a:t>
            </a:r>
            <a:r>
              <a:rPr kumimoji="0" lang="en-US" sz="1400" b="1"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 </a:t>
            </a:r>
            <a:r>
              <a:rPr kumimoji="0" lang="en-US" sz="1400" b="0"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of a new VCF instance </a:t>
            </a:r>
            <a:endParaRPr kumimoji="0" sz="1799" b="0"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Arial"/>
            </a:endParaRPr>
          </a:p>
        </p:txBody>
      </p:sp>
      <p:grpSp>
        <p:nvGrpSpPr>
          <p:cNvPr id="3528" name="Google Shape;3528;p49" descr="IP or FC network ">
            <a:extLst>
              <a:ext uri="{FF2B5EF4-FFF2-40B4-BE49-F238E27FC236}">
                <a16:creationId xmlns:a16="http://schemas.microsoft.com/office/drawing/2014/main" id="{B8FE6097-5D92-EC37-29FF-7E62F6F6FDE1}"/>
              </a:ext>
            </a:extLst>
          </p:cNvPr>
          <p:cNvGrpSpPr/>
          <p:nvPr/>
        </p:nvGrpSpPr>
        <p:grpSpPr>
          <a:xfrm>
            <a:off x="9681294" y="1419414"/>
            <a:ext cx="1904008" cy="678441"/>
            <a:chOff x="9591675" y="1616349"/>
            <a:chExt cx="1905000" cy="678795"/>
          </a:xfrm>
        </p:grpSpPr>
        <p:sp>
          <p:nvSpPr>
            <p:cNvPr id="3529" name="Google Shape;3529;p49">
              <a:extLst>
                <a:ext uri="{FF2B5EF4-FFF2-40B4-BE49-F238E27FC236}">
                  <a16:creationId xmlns:a16="http://schemas.microsoft.com/office/drawing/2014/main" id="{2F49152F-F056-9FFE-391E-55B8D12B4AE4}"/>
                </a:ext>
              </a:extLst>
            </p:cNvPr>
            <p:cNvSpPr txBox="1"/>
            <p:nvPr/>
          </p:nvSpPr>
          <p:spPr>
            <a:xfrm>
              <a:off x="9591675" y="1616349"/>
              <a:ext cx="1905000" cy="338554"/>
            </a:xfrm>
            <a:prstGeom prst="rect">
              <a:avLst/>
            </a:prstGeom>
            <a:noFill/>
            <a:ln>
              <a:noFill/>
            </a:ln>
          </p:spPr>
          <p:txBody>
            <a:bodyPr spcFirstLastPara="1" wrap="square" lIns="91400" tIns="45675" rIns="91400" bIns="45675"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F3F3F"/>
                  </a:solidFill>
                  <a:effectLst/>
                  <a:uLnTx/>
                  <a:uFillTx/>
                  <a:latin typeface="Arial" panose="020B0604020202020204" pitchFamily="34" charset="0"/>
                  <a:ea typeface="+mn-ea"/>
                  <a:cs typeface="+mn-cs"/>
                  <a:sym typeface="Arial"/>
                </a:rPr>
                <a:t>IP or FC Network</a:t>
              </a:r>
              <a:endParaRPr kumimoji="0" sz="1799" b="0"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Arial"/>
              </a:endParaRPr>
            </a:p>
          </p:txBody>
        </p:sp>
        <p:sp>
          <p:nvSpPr>
            <p:cNvPr id="3530" name="Google Shape;3530;p49">
              <a:extLst>
                <a:ext uri="{FF2B5EF4-FFF2-40B4-BE49-F238E27FC236}">
                  <a16:creationId xmlns:a16="http://schemas.microsoft.com/office/drawing/2014/main" id="{F219F41E-FAC9-D2A6-3A9E-0BC64D654B4E}"/>
                </a:ext>
              </a:extLst>
            </p:cNvPr>
            <p:cNvSpPr/>
            <p:nvPr/>
          </p:nvSpPr>
          <p:spPr>
            <a:xfrm>
              <a:off x="9820275" y="2020824"/>
              <a:ext cx="1466850" cy="274320"/>
            </a:xfrm>
            <a:prstGeom prst="roundRect">
              <a:avLst>
                <a:gd name="adj" fmla="val 0"/>
              </a:avLst>
            </a:prstGeom>
            <a:solidFill>
              <a:schemeClr val="tx1"/>
            </a:solidFill>
            <a:ln>
              <a:noFill/>
            </a:ln>
          </p:spPr>
          <p:txBody>
            <a:bodyPr spcFirstLastPara="1" wrap="square" lIns="91300" tIns="45625" rIns="91300" bIns="456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Switches</a:t>
              </a:r>
              <a:endParaRPr kumimoji="0" sz="1799" b="0"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Arial"/>
              </a:endParaRPr>
            </a:p>
          </p:txBody>
        </p:sp>
      </p:grpSp>
      <p:cxnSp>
        <p:nvCxnSpPr>
          <p:cNvPr id="9" name="Google Shape;3573;p49">
            <a:extLst>
              <a:ext uri="{FF2B5EF4-FFF2-40B4-BE49-F238E27FC236}">
                <a16:creationId xmlns:a16="http://schemas.microsoft.com/office/drawing/2014/main" id="{D5FEB2B4-263F-052F-D046-83B973AA2D5E}"/>
              </a:ext>
            </a:extLst>
          </p:cNvPr>
          <p:cNvCxnSpPr/>
          <p:nvPr/>
        </p:nvCxnSpPr>
        <p:spPr>
          <a:xfrm>
            <a:off x="8467373" y="2476315"/>
            <a:ext cx="211222" cy="0"/>
          </a:xfrm>
          <a:prstGeom prst="straightConnector1">
            <a:avLst/>
          </a:prstGeom>
          <a:solidFill>
            <a:schemeClr val="accent2"/>
          </a:solidFill>
          <a:ln w="12700" cap="flat" cmpd="sng">
            <a:solidFill>
              <a:schemeClr val="bg1"/>
            </a:solidFill>
            <a:prstDash val="solid"/>
            <a:round/>
            <a:headEnd type="none" w="sm" len="sm"/>
            <a:tailEnd type="none" w="sm" len="sm"/>
          </a:ln>
        </p:spPr>
      </p:cxnSp>
      <p:grpSp>
        <p:nvGrpSpPr>
          <p:cNvPr id="12" name="Group 11">
            <a:extLst>
              <a:ext uri="{FF2B5EF4-FFF2-40B4-BE49-F238E27FC236}">
                <a16:creationId xmlns:a16="http://schemas.microsoft.com/office/drawing/2014/main" id="{DFEDE389-366A-CB3C-8190-C74BC8F0CB1B}"/>
              </a:ext>
            </a:extLst>
          </p:cNvPr>
          <p:cNvGrpSpPr/>
          <p:nvPr/>
        </p:nvGrpSpPr>
        <p:grpSpPr>
          <a:xfrm>
            <a:off x="5652872" y="1946112"/>
            <a:ext cx="4244765" cy="465146"/>
            <a:chOff x="5652872" y="1946112"/>
            <a:chExt cx="4244765" cy="465146"/>
          </a:xfrm>
        </p:grpSpPr>
        <p:cxnSp>
          <p:nvCxnSpPr>
            <p:cNvPr id="3525" name="Google Shape;3525;p49">
              <a:extLst>
                <a:ext uri="{FF2B5EF4-FFF2-40B4-BE49-F238E27FC236}">
                  <a16:creationId xmlns:a16="http://schemas.microsoft.com/office/drawing/2014/main" id="{8CCAE82B-B767-45EF-05CB-EB065E628938}"/>
                </a:ext>
              </a:extLst>
            </p:cNvPr>
            <p:cNvCxnSpPr/>
            <p:nvPr/>
          </p:nvCxnSpPr>
          <p:spPr>
            <a:xfrm rot="16200000" flipH="1">
              <a:off x="5552909" y="2061323"/>
              <a:ext cx="345472" cy="121260"/>
            </a:xfrm>
            <a:prstGeom prst="bentConnector2">
              <a:avLst/>
            </a:prstGeom>
            <a:noFill/>
            <a:ln w="25400" cap="flat" cmpd="sng">
              <a:solidFill>
                <a:srgbClr val="7F7F7F"/>
              </a:solidFill>
              <a:prstDash val="solid"/>
              <a:round/>
              <a:headEnd type="none" w="sm" len="sm"/>
              <a:tailEnd type="none" w="sm" len="sm"/>
            </a:ln>
          </p:spPr>
        </p:cxnSp>
        <p:cxnSp>
          <p:nvCxnSpPr>
            <p:cNvPr id="3531" name="Google Shape;3531;p49">
              <a:extLst>
                <a:ext uri="{FF2B5EF4-FFF2-40B4-BE49-F238E27FC236}">
                  <a16:creationId xmlns:a16="http://schemas.microsoft.com/office/drawing/2014/main" id="{4D8B71B0-64AF-BFBA-3426-F6C3D91B247F}"/>
                </a:ext>
              </a:extLst>
            </p:cNvPr>
            <p:cNvCxnSpPr>
              <a:cxnSpLocks/>
            </p:cNvCxnSpPr>
            <p:nvPr/>
          </p:nvCxnSpPr>
          <p:spPr>
            <a:xfrm>
              <a:off x="5652872" y="1946112"/>
              <a:ext cx="4244765" cy="14655"/>
            </a:xfrm>
            <a:prstGeom prst="straightConnector1">
              <a:avLst/>
            </a:prstGeom>
            <a:noFill/>
            <a:ln w="25400" cap="flat" cmpd="sng">
              <a:solidFill>
                <a:srgbClr val="7F7F7F"/>
              </a:solidFill>
              <a:prstDash val="solid"/>
              <a:round/>
              <a:headEnd type="none" w="sm" len="sm"/>
              <a:tailEnd type="none" w="sm" len="sm"/>
            </a:ln>
          </p:spPr>
        </p:cxnSp>
        <p:cxnSp>
          <p:nvCxnSpPr>
            <p:cNvPr id="7" name="Google Shape;3571;p49">
              <a:extLst>
                <a:ext uri="{FF2B5EF4-FFF2-40B4-BE49-F238E27FC236}">
                  <a16:creationId xmlns:a16="http://schemas.microsoft.com/office/drawing/2014/main" id="{0FA71859-29B9-56A6-9175-B1105DC8B8B4}"/>
                </a:ext>
              </a:extLst>
            </p:cNvPr>
            <p:cNvCxnSpPr/>
            <p:nvPr/>
          </p:nvCxnSpPr>
          <p:spPr>
            <a:xfrm>
              <a:off x="8471126" y="1957115"/>
              <a:ext cx="0" cy="430722"/>
            </a:xfrm>
            <a:prstGeom prst="straightConnector1">
              <a:avLst/>
            </a:prstGeom>
            <a:solidFill>
              <a:schemeClr val="accent2"/>
            </a:solidFill>
            <a:ln w="25400" cap="flat" cmpd="sng">
              <a:solidFill>
                <a:schemeClr val="bg2">
                  <a:lumMod val="50000"/>
                </a:schemeClr>
              </a:solidFill>
              <a:prstDash val="solid"/>
              <a:round/>
              <a:headEnd type="none" w="sm" len="sm"/>
              <a:tailEnd type="none" w="sm" len="sm"/>
            </a:ln>
          </p:spPr>
        </p:cxnSp>
        <p:cxnSp>
          <p:nvCxnSpPr>
            <p:cNvPr id="14" name="Google Shape;3584;p49">
              <a:extLst>
                <a:ext uri="{FF2B5EF4-FFF2-40B4-BE49-F238E27FC236}">
                  <a16:creationId xmlns:a16="http://schemas.microsoft.com/office/drawing/2014/main" id="{E940F068-4E9F-CE4B-B4D1-3DCEBDB6D0BE}"/>
                </a:ext>
              </a:extLst>
            </p:cNvPr>
            <p:cNvCxnSpPr/>
            <p:nvPr/>
          </p:nvCxnSpPr>
          <p:spPr>
            <a:xfrm rot="16200000" flipH="1">
              <a:off x="7006308" y="2039394"/>
              <a:ext cx="456962" cy="286765"/>
            </a:xfrm>
            <a:prstGeom prst="bentConnector2">
              <a:avLst/>
            </a:prstGeom>
            <a:solidFill>
              <a:schemeClr val="accent1"/>
            </a:solidFill>
            <a:ln w="25400" cap="flat" cmpd="sng">
              <a:solidFill>
                <a:schemeClr val="bg2">
                  <a:lumMod val="50000"/>
                </a:schemeClr>
              </a:solidFill>
              <a:prstDash val="solid"/>
              <a:round/>
              <a:headEnd type="none" w="sm" len="sm"/>
              <a:tailEnd type="none" w="sm" len="sm"/>
            </a:ln>
          </p:spPr>
        </p:cxnSp>
      </p:grpSp>
      <p:sp>
        <p:nvSpPr>
          <p:cNvPr id="15" name="Google Shape;3585;p49">
            <a:extLst>
              <a:ext uri="{FF2B5EF4-FFF2-40B4-BE49-F238E27FC236}">
                <a16:creationId xmlns:a16="http://schemas.microsoft.com/office/drawing/2014/main" id="{C8095F81-9DA9-733E-005C-591D8EA3757F}"/>
              </a:ext>
            </a:extLst>
          </p:cNvPr>
          <p:cNvSpPr/>
          <p:nvPr/>
        </p:nvSpPr>
        <p:spPr>
          <a:xfrm>
            <a:off x="6633852" y="2169344"/>
            <a:ext cx="936000" cy="648000"/>
          </a:xfrm>
          <a:prstGeom prst="can">
            <a:avLst>
              <a:gd name="adj" fmla="val 25000"/>
            </a:avLst>
          </a:prstGeom>
          <a:solidFill>
            <a:schemeClr val="accent1"/>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NFS</a:t>
            </a:r>
            <a:endParaRPr kumimoji="0" sz="16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nvGrpSpPr>
          <p:cNvPr id="16" name="Group 15">
            <a:extLst>
              <a:ext uri="{FF2B5EF4-FFF2-40B4-BE49-F238E27FC236}">
                <a16:creationId xmlns:a16="http://schemas.microsoft.com/office/drawing/2014/main" id="{7CAC2CB0-184E-A75B-5394-8C4240ACFB79}"/>
              </a:ext>
            </a:extLst>
          </p:cNvPr>
          <p:cNvGrpSpPr/>
          <p:nvPr/>
        </p:nvGrpSpPr>
        <p:grpSpPr>
          <a:xfrm>
            <a:off x="201068" y="3001492"/>
            <a:ext cx="11378477" cy="1468598"/>
            <a:chOff x="201068" y="3001492"/>
            <a:chExt cx="11378477" cy="1468598"/>
          </a:xfrm>
        </p:grpSpPr>
        <p:grpSp>
          <p:nvGrpSpPr>
            <p:cNvPr id="3532" name="Google Shape;3532;p49" descr="principal storage option-used to create a workload domain or cluster">
              <a:extLst>
                <a:ext uri="{FF2B5EF4-FFF2-40B4-BE49-F238E27FC236}">
                  <a16:creationId xmlns:a16="http://schemas.microsoft.com/office/drawing/2014/main" id="{DC1F00D9-4121-FC40-2904-64EF80D7FED4}"/>
                </a:ext>
              </a:extLst>
            </p:cNvPr>
            <p:cNvGrpSpPr/>
            <p:nvPr/>
          </p:nvGrpSpPr>
          <p:grpSpPr>
            <a:xfrm>
              <a:off x="201068" y="3001492"/>
              <a:ext cx="11378477" cy="1468598"/>
              <a:chOff x="197999" y="3115569"/>
              <a:chExt cx="11384401" cy="1469363"/>
            </a:xfrm>
          </p:grpSpPr>
          <p:sp>
            <p:nvSpPr>
              <p:cNvPr id="3533" name="Google Shape;3533;p49">
                <a:extLst>
                  <a:ext uri="{FF2B5EF4-FFF2-40B4-BE49-F238E27FC236}">
                    <a16:creationId xmlns:a16="http://schemas.microsoft.com/office/drawing/2014/main" id="{FCFC77E0-58F8-1C34-6CE6-3010CBD9ADE3}"/>
                  </a:ext>
                </a:extLst>
              </p:cNvPr>
              <p:cNvSpPr/>
              <p:nvPr/>
            </p:nvSpPr>
            <p:spPr>
              <a:xfrm>
                <a:off x="616586" y="3115569"/>
                <a:ext cx="10965814" cy="1469363"/>
              </a:xfrm>
              <a:prstGeom prst="roundRect">
                <a:avLst>
                  <a:gd name="adj" fmla="val 7272"/>
                </a:avLst>
              </a:prstGeom>
              <a:solidFill>
                <a:srgbClr val="F4F8FA"/>
              </a:solidFill>
              <a:ln>
                <a:noFill/>
              </a:ln>
              <a:effectLst>
                <a:outerShdw blurRad="215900" dist="38100" algn="tl" rotWithShape="0">
                  <a:prstClr val="black">
                    <a:alpha val="11000"/>
                  </a:prstClr>
                </a:outerShdw>
              </a:effectLst>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sp>
            <p:nvSpPr>
              <p:cNvPr id="3534" name="Google Shape;3534;p49">
                <a:extLst>
                  <a:ext uri="{FF2B5EF4-FFF2-40B4-BE49-F238E27FC236}">
                    <a16:creationId xmlns:a16="http://schemas.microsoft.com/office/drawing/2014/main" id="{9C3A1CDB-3195-10C6-9F07-6879099A4085}"/>
                  </a:ext>
                </a:extLst>
              </p:cNvPr>
              <p:cNvSpPr txBox="1"/>
              <p:nvPr/>
            </p:nvSpPr>
            <p:spPr>
              <a:xfrm>
                <a:off x="197999" y="3202710"/>
                <a:ext cx="10108354" cy="307777"/>
              </a:xfrm>
              <a:prstGeom prst="rect">
                <a:avLst/>
              </a:prstGeom>
              <a:noFill/>
              <a:ln>
                <a:noFill/>
              </a:ln>
            </p:spPr>
            <p:txBody>
              <a:bodyPr spcFirstLastPara="1" wrap="square" lIns="91400" tIns="45675" rIns="91400" bIns="45675"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Principal storage options when creating a </a:t>
                </a:r>
                <a:r>
                  <a:rPr kumimoji="0" lang="en-US" sz="1400" b="1"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Workload Domain </a:t>
                </a:r>
                <a:r>
                  <a:rPr kumimoji="0" lang="en-US" sz="1400" b="0"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or </a:t>
                </a:r>
                <a:r>
                  <a:rPr kumimoji="0" lang="en-US" sz="1400" b="1"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Cluster </a:t>
                </a:r>
                <a:r>
                  <a:rPr kumimoji="0" lang="en-US" sz="1400" b="0"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(configured per-cluster) </a:t>
                </a:r>
                <a:endParaRPr kumimoji="0" sz="1799" b="0"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Arial"/>
                </a:endParaRPr>
              </a:p>
            </p:txBody>
          </p:sp>
        </p:grpSp>
        <p:grpSp>
          <p:nvGrpSpPr>
            <p:cNvPr id="3558" name="Google Shape;3558;p49">
              <a:extLst>
                <a:ext uri="{FF2B5EF4-FFF2-40B4-BE49-F238E27FC236}">
                  <a16:creationId xmlns:a16="http://schemas.microsoft.com/office/drawing/2014/main" id="{75EAF367-566C-156B-F410-D77AB6BA00A9}"/>
                </a:ext>
              </a:extLst>
            </p:cNvPr>
            <p:cNvGrpSpPr/>
            <p:nvPr/>
          </p:nvGrpSpPr>
          <p:grpSpPr>
            <a:xfrm>
              <a:off x="3135741" y="3499628"/>
              <a:ext cx="936000" cy="877834"/>
              <a:chOff x="4351904" y="3898821"/>
              <a:chExt cx="792000" cy="878292"/>
            </a:xfrm>
            <a:solidFill>
              <a:schemeClr val="accent4"/>
            </a:solidFill>
          </p:grpSpPr>
          <p:sp>
            <p:nvSpPr>
              <p:cNvPr id="3560" name="Google Shape;3560;p49">
                <a:extLst>
                  <a:ext uri="{FF2B5EF4-FFF2-40B4-BE49-F238E27FC236}">
                    <a16:creationId xmlns:a16="http://schemas.microsoft.com/office/drawing/2014/main" id="{39AEB0F4-8070-87B8-EFD3-6456AF5291F5}"/>
                  </a:ext>
                </a:extLst>
              </p:cNvPr>
              <p:cNvSpPr/>
              <p:nvPr/>
            </p:nvSpPr>
            <p:spPr>
              <a:xfrm>
                <a:off x="4351904" y="4092756"/>
                <a:ext cx="792000" cy="684357"/>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vSAN HCI </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(ESA/OSA)</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cxnSp>
            <p:nvCxnSpPr>
              <p:cNvPr id="3561" name="Google Shape;3561;p49">
                <a:extLst>
                  <a:ext uri="{FF2B5EF4-FFF2-40B4-BE49-F238E27FC236}">
                    <a16:creationId xmlns:a16="http://schemas.microsoft.com/office/drawing/2014/main" id="{0D82614B-B751-42DE-130F-15391618935D}"/>
                  </a:ext>
                </a:extLst>
              </p:cNvPr>
              <p:cNvCxnSpPr>
                <a:cxnSpLocks/>
              </p:cNvCxnSpPr>
              <p:nvPr/>
            </p:nvCxnSpPr>
            <p:spPr>
              <a:xfrm>
                <a:off x="4751882" y="3898821"/>
                <a:ext cx="0" cy="188424"/>
              </a:xfrm>
              <a:prstGeom prst="straightConnector1">
                <a:avLst/>
              </a:prstGeom>
              <a:grpFill/>
              <a:ln w="25400" cap="flat" cmpd="sng">
                <a:solidFill>
                  <a:schemeClr val="bg2">
                    <a:lumMod val="50000"/>
                  </a:schemeClr>
                </a:solidFill>
                <a:prstDash val="solid"/>
                <a:round/>
                <a:headEnd type="none" w="sm" len="sm"/>
                <a:tailEnd type="none" w="sm" len="sm"/>
              </a:ln>
            </p:spPr>
          </p:cxnSp>
        </p:grpSp>
        <p:sp>
          <p:nvSpPr>
            <p:cNvPr id="3567" name="Google Shape;3567;p49">
              <a:extLst>
                <a:ext uri="{FF2B5EF4-FFF2-40B4-BE49-F238E27FC236}">
                  <a16:creationId xmlns:a16="http://schemas.microsoft.com/office/drawing/2014/main" id="{E18553E6-21B5-0D7C-845F-70719AAEC372}"/>
                </a:ext>
              </a:extLst>
            </p:cNvPr>
            <p:cNvSpPr/>
            <p:nvPr/>
          </p:nvSpPr>
          <p:spPr>
            <a:xfrm>
              <a:off x="5899978" y="3691857"/>
              <a:ext cx="936000" cy="684000"/>
            </a:xfrm>
            <a:prstGeom prst="can">
              <a:avLst>
                <a:gd name="adj" fmla="val 25000"/>
              </a:avLst>
            </a:prstGeom>
            <a:solidFill>
              <a:schemeClr val="accent4"/>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vSAN</a:t>
              </a:r>
              <a:b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b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Remote Datastores</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nvGrpSpPr>
            <p:cNvPr id="3569" name="Google Shape;3569;p49">
              <a:extLst>
                <a:ext uri="{FF2B5EF4-FFF2-40B4-BE49-F238E27FC236}">
                  <a16:creationId xmlns:a16="http://schemas.microsoft.com/office/drawing/2014/main" id="{9BF7E495-46F6-D1C5-1B1F-2B3CC626D98F}"/>
                </a:ext>
              </a:extLst>
            </p:cNvPr>
            <p:cNvGrpSpPr/>
            <p:nvPr/>
          </p:nvGrpSpPr>
          <p:grpSpPr>
            <a:xfrm>
              <a:off x="8648485" y="3687955"/>
              <a:ext cx="936000" cy="684000"/>
              <a:chOff x="3341975" y="4198746"/>
              <a:chExt cx="792000" cy="665651"/>
            </a:xfrm>
            <a:solidFill>
              <a:schemeClr val="accent2"/>
            </a:solidFill>
          </p:grpSpPr>
          <p:cxnSp>
            <p:nvCxnSpPr>
              <p:cNvPr id="3573" name="Google Shape;3573;p49">
                <a:extLst>
                  <a:ext uri="{FF2B5EF4-FFF2-40B4-BE49-F238E27FC236}">
                    <a16:creationId xmlns:a16="http://schemas.microsoft.com/office/drawing/2014/main" id="{E4DB332C-5995-CE3A-52AB-C2F68E278E61}"/>
                  </a:ext>
                </a:extLst>
              </p:cNvPr>
              <p:cNvCxnSpPr/>
              <p:nvPr/>
            </p:nvCxnSpPr>
            <p:spPr>
              <a:xfrm>
                <a:off x="3735640" y="4505204"/>
                <a:ext cx="178726" cy="0"/>
              </a:xfrm>
              <a:prstGeom prst="straightConnector1">
                <a:avLst/>
              </a:prstGeom>
              <a:grpFill/>
              <a:ln w="12700" cap="flat" cmpd="sng">
                <a:solidFill>
                  <a:schemeClr val="bg1"/>
                </a:solidFill>
                <a:prstDash val="solid"/>
                <a:round/>
                <a:headEnd type="none" w="sm" len="sm"/>
                <a:tailEnd type="none" w="sm" len="sm"/>
              </a:ln>
            </p:spPr>
          </p:cxnSp>
          <p:sp>
            <p:nvSpPr>
              <p:cNvPr id="3574" name="Google Shape;3574;p49">
                <a:extLst>
                  <a:ext uri="{FF2B5EF4-FFF2-40B4-BE49-F238E27FC236}">
                    <a16:creationId xmlns:a16="http://schemas.microsoft.com/office/drawing/2014/main" id="{F68FE1B1-8AF8-316E-C9FF-4C8EC807BBA3}"/>
                  </a:ext>
                </a:extLst>
              </p:cNvPr>
              <p:cNvSpPr/>
              <p:nvPr/>
            </p:nvSpPr>
            <p:spPr>
              <a:xfrm>
                <a:off x="3341975" y="4198746"/>
                <a:ext cx="792000" cy="665651"/>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FC</a:t>
                </a:r>
                <a:endParaRPr kumimoji="0" sz="7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cxnSp>
          <p:nvCxnSpPr>
            <p:cNvPr id="3576" name="Google Shape;3576;p49">
              <a:extLst>
                <a:ext uri="{FF2B5EF4-FFF2-40B4-BE49-F238E27FC236}">
                  <a16:creationId xmlns:a16="http://schemas.microsoft.com/office/drawing/2014/main" id="{1C30960C-AF01-A64D-B981-09C1E1B99B7F}"/>
                </a:ext>
              </a:extLst>
            </p:cNvPr>
            <p:cNvCxnSpPr>
              <a:cxnSpLocks/>
            </p:cNvCxnSpPr>
            <p:nvPr/>
          </p:nvCxnSpPr>
          <p:spPr>
            <a:xfrm>
              <a:off x="3594657" y="3491205"/>
              <a:ext cx="7087429" cy="8256"/>
            </a:xfrm>
            <a:prstGeom prst="straightConnector1">
              <a:avLst/>
            </a:prstGeom>
            <a:noFill/>
            <a:ln w="25400" cap="flat" cmpd="sng">
              <a:solidFill>
                <a:srgbClr val="7F7F7F"/>
              </a:solidFill>
              <a:prstDash val="solid"/>
              <a:round/>
              <a:headEnd type="none" w="sm" len="sm"/>
              <a:tailEnd type="none" w="sm" len="sm"/>
            </a:ln>
          </p:spPr>
        </p:cxnSp>
        <p:sp>
          <p:nvSpPr>
            <p:cNvPr id="3585" name="Google Shape;3585;p49">
              <a:extLst>
                <a:ext uri="{FF2B5EF4-FFF2-40B4-BE49-F238E27FC236}">
                  <a16:creationId xmlns:a16="http://schemas.microsoft.com/office/drawing/2014/main" id="{A978188F-F768-DB64-3CEF-C29F37D1782F}"/>
                </a:ext>
              </a:extLst>
            </p:cNvPr>
            <p:cNvSpPr/>
            <p:nvPr/>
          </p:nvSpPr>
          <p:spPr>
            <a:xfrm>
              <a:off x="7330237" y="3691865"/>
              <a:ext cx="936000" cy="684000"/>
            </a:xfrm>
            <a:prstGeom prst="can">
              <a:avLst>
                <a:gd name="adj" fmla="val 25000"/>
              </a:avLst>
            </a:prstGeom>
            <a:solidFill>
              <a:schemeClr val="accent1"/>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NFS</a:t>
              </a:r>
              <a:endParaRPr kumimoji="0" sz="16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sp>
          <p:nvSpPr>
            <p:cNvPr id="3598" name="Google Shape;3598;p49">
              <a:extLst>
                <a:ext uri="{FF2B5EF4-FFF2-40B4-BE49-F238E27FC236}">
                  <a16:creationId xmlns:a16="http://schemas.microsoft.com/office/drawing/2014/main" id="{4A230A75-C4FC-1A2A-8022-EC68F6086810}"/>
                </a:ext>
              </a:extLst>
            </p:cNvPr>
            <p:cNvSpPr/>
            <p:nvPr/>
          </p:nvSpPr>
          <p:spPr>
            <a:xfrm>
              <a:off x="4517860" y="3693450"/>
              <a:ext cx="936000" cy="684000"/>
            </a:xfrm>
            <a:prstGeom prst="can">
              <a:avLst>
                <a:gd name="adj" fmla="val 25000"/>
              </a:avLst>
            </a:prstGeom>
            <a:solidFill>
              <a:schemeClr val="accent4"/>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vSAN HCI </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Storage Clusters</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cxnSp>
          <p:nvCxnSpPr>
            <p:cNvPr id="31" name="Google Shape;3561;p49">
              <a:extLst>
                <a:ext uri="{FF2B5EF4-FFF2-40B4-BE49-F238E27FC236}">
                  <a16:creationId xmlns:a16="http://schemas.microsoft.com/office/drawing/2014/main" id="{82250CBF-696E-029B-5218-063CCE93644A}"/>
                </a:ext>
              </a:extLst>
            </p:cNvPr>
            <p:cNvCxnSpPr>
              <a:cxnSpLocks/>
            </p:cNvCxnSpPr>
            <p:nvPr/>
          </p:nvCxnSpPr>
          <p:spPr>
            <a:xfrm>
              <a:off x="4985860" y="3497634"/>
              <a:ext cx="0" cy="179632"/>
            </a:xfrm>
            <a:prstGeom prst="straightConnector1">
              <a:avLst/>
            </a:prstGeom>
            <a:solidFill>
              <a:srgbClr val="F4F8FA"/>
            </a:solidFill>
            <a:ln w="25400" cap="flat" cmpd="sng">
              <a:solidFill>
                <a:srgbClr val="7F7F7F"/>
              </a:solidFill>
              <a:prstDash val="solid"/>
              <a:round/>
              <a:headEnd type="none" w="sm" len="sm"/>
              <a:tailEnd type="none" w="sm" len="sm"/>
            </a:ln>
          </p:spPr>
        </p:cxnSp>
        <p:cxnSp>
          <p:nvCxnSpPr>
            <p:cNvPr id="32" name="Google Shape;3561;p49">
              <a:extLst>
                <a:ext uri="{FF2B5EF4-FFF2-40B4-BE49-F238E27FC236}">
                  <a16:creationId xmlns:a16="http://schemas.microsoft.com/office/drawing/2014/main" id="{E009C095-572F-A03C-67E3-D9C68385EE11}"/>
                </a:ext>
              </a:extLst>
            </p:cNvPr>
            <p:cNvCxnSpPr>
              <a:cxnSpLocks/>
              <a:endCxn id="3567" idx="1"/>
            </p:cNvCxnSpPr>
            <p:nvPr/>
          </p:nvCxnSpPr>
          <p:spPr>
            <a:xfrm>
              <a:off x="6367978" y="3508147"/>
              <a:ext cx="0" cy="183710"/>
            </a:xfrm>
            <a:prstGeom prst="straightConnector1">
              <a:avLst/>
            </a:prstGeom>
            <a:solidFill>
              <a:srgbClr val="F4F8FA"/>
            </a:solidFill>
            <a:ln w="25400" cap="flat" cmpd="sng">
              <a:solidFill>
                <a:srgbClr val="7F7F7F"/>
              </a:solidFill>
              <a:prstDash val="solid"/>
              <a:round/>
              <a:headEnd type="none" w="sm" len="sm"/>
              <a:tailEnd type="none" w="sm" len="sm"/>
            </a:ln>
          </p:spPr>
        </p:cxnSp>
        <p:cxnSp>
          <p:nvCxnSpPr>
            <p:cNvPr id="34" name="Google Shape;3561;p49">
              <a:extLst>
                <a:ext uri="{FF2B5EF4-FFF2-40B4-BE49-F238E27FC236}">
                  <a16:creationId xmlns:a16="http://schemas.microsoft.com/office/drawing/2014/main" id="{DD264A33-956B-A79C-1928-CF1FC9DD08C3}"/>
                </a:ext>
              </a:extLst>
            </p:cNvPr>
            <p:cNvCxnSpPr>
              <a:cxnSpLocks/>
            </p:cNvCxnSpPr>
            <p:nvPr/>
          </p:nvCxnSpPr>
          <p:spPr>
            <a:xfrm>
              <a:off x="7780264" y="3491205"/>
              <a:ext cx="0" cy="208225"/>
            </a:xfrm>
            <a:prstGeom prst="straightConnector1">
              <a:avLst/>
            </a:prstGeom>
            <a:solidFill>
              <a:srgbClr val="F4F8FA"/>
            </a:solidFill>
            <a:ln w="25400" cap="flat" cmpd="sng">
              <a:solidFill>
                <a:srgbClr val="7F7F7F"/>
              </a:solidFill>
              <a:prstDash val="solid"/>
              <a:round/>
              <a:headEnd type="none" w="sm" len="sm"/>
              <a:tailEnd type="none" w="sm" len="sm"/>
            </a:ln>
          </p:spPr>
        </p:cxnSp>
        <p:cxnSp>
          <p:nvCxnSpPr>
            <p:cNvPr id="35" name="Google Shape;3561;p49">
              <a:extLst>
                <a:ext uri="{FF2B5EF4-FFF2-40B4-BE49-F238E27FC236}">
                  <a16:creationId xmlns:a16="http://schemas.microsoft.com/office/drawing/2014/main" id="{269B1A65-46C6-3123-2C5F-9556133EABD1}"/>
                </a:ext>
              </a:extLst>
            </p:cNvPr>
            <p:cNvCxnSpPr>
              <a:cxnSpLocks/>
              <a:endCxn id="3574" idx="1"/>
            </p:cNvCxnSpPr>
            <p:nvPr/>
          </p:nvCxnSpPr>
          <p:spPr>
            <a:xfrm>
              <a:off x="9116485" y="3507733"/>
              <a:ext cx="0" cy="180222"/>
            </a:xfrm>
            <a:prstGeom prst="straightConnector1">
              <a:avLst/>
            </a:prstGeom>
            <a:solidFill>
              <a:srgbClr val="F4F8FA"/>
            </a:solidFill>
            <a:ln w="25400" cap="flat" cmpd="sng">
              <a:solidFill>
                <a:srgbClr val="7F7F7F"/>
              </a:solidFill>
              <a:prstDash val="solid"/>
              <a:round/>
              <a:headEnd type="none" w="sm" len="sm"/>
              <a:tailEnd type="none" w="sm" len="sm"/>
            </a:ln>
          </p:spPr>
        </p:cxnSp>
      </p:grpSp>
      <p:grpSp>
        <p:nvGrpSpPr>
          <p:cNvPr id="17" name="Group 16">
            <a:extLst>
              <a:ext uri="{FF2B5EF4-FFF2-40B4-BE49-F238E27FC236}">
                <a16:creationId xmlns:a16="http://schemas.microsoft.com/office/drawing/2014/main" id="{79F586D9-C70B-9FF3-B20B-E52A2852854C}"/>
              </a:ext>
            </a:extLst>
          </p:cNvPr>
          <p:cNvGrpSpPr/>
          <p:nvPr/>
        </p:nvGrpSpPr>
        <p:grpSpPr>
          <a:xfrm>
            <a:off x="614678" y="4598247"/>
            <a:ext cx="11526556" cy="1735165"/>
            <a:chOff x="614678" y="4598247"/>
            <a:chExt cx="11526556" cy="1735165"/>
          </a:xfrm>
        </p:grpSpPr>
        <p:grpSp>
          <p:nvGrpSpPr>
            <p:cNvPr id="3536" name="Google Shape;3536;p49" descr="supplemental storage-used to add capacity to any domain">
              <a:extLst>
                <a:ext uri="{FF2B5EF4-FFF2-40B4-BE49-F238E27FC236}">
                  <a16:creationId xmlns:a16="http://schemas.microsoft.com/office/drawing/2014/main" id="{51164090-2B6A-1164-F275-8C57B88C3E1A}"/>
                </a:ext>
              </a:extLst>
            </p:cNvPr>
            <p:cNvGrpSpPr/>
            <p:nvPr/>
          </p:nvGrpSpPr>
          <p:grpSpPr>
            <a:xfrm>
              <a:off x="614678" y="4598247"/>
              <a:ext cx="11526556" cy="1468598"/>
              <a:chOff x="611823" y="4946957"/>
              <a:chExt cx="11532567" cy="1469363"/>
            </a:xfrm>
          </p:grpSpPr>
          <p:sp>
            <p:nvSpPr>
              <p:cNvPr id="3537" name="Google Shape;3537;p49">
                <a:extLst>
                  <a:ext uri="{FF2B5EF4-FFF2-40B4-BE49-F238E27FC236}">
                    <a16:creationId xmlns:a16="http://schemas.microsoft.com/office/drawing/2014/main" id="{92398604-9AB1-67B1-DCF8-42FEB79CDB39}"/>
                  </a:ext>
                </a:extLst>
              </p:cNvPr>
              <p:cNvSpPr/>
              <p:nvPr/>
            </p:nvSpPr>
            <p:spPr>
              <a:xfrm>
                <a:off x="611823" y="4946957"/>
                <a:ext cx="10965814" cy="1469363"/>
              </a:xfrm>
              <a:prstGeom prst="roundRect">
                <a:avLst>
                  <a:gd name="adj" fmla="val 11089"/>
                </a:avLst>
              </a:prstGeom>
              <a:solidFill>
                <a:srgbClr val="F4F8FA"/>
              </a:solidFill>
              <a:ln w="25400" cap="flat" cmpd="sng">
                <a:solidFill>
                  <a:schemeClr val="accent2">
                    <a:alpha val="40000"/>
                  </a:schemeClr>
                </a:solidFill>
                <a:prstDash val="dash"/>
                <a:round/>
                <a:headEnd type="none" w="sm" len="sm"/>
                <a:tailEnd type="none" w="sm" len="sm"/>
              </a:ln>
              <a:effectLst>
                <a:outerShdw blurRad="215900" dist="38100" algn="tl" rotWithShape="0">
                  <a:prstClr val="black">
                    <a:alpha val="11000"/>
                  </a:prstClr>
                </a:outerShdw>
              </a:effectLst>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sp>
            <p:nvSpPr>
              <p:cNvPr id="3538" name="Google Shape;3538;p49">
                <a:extLst>
                  <a:ext uri="{FF2B5EF4-FFF2-40B4-BE49-F238E27FC236}">
                    <a16:creationId xmlns:a16="http://schemas.microsoft.com/office/drawing/2014/main" id="{D77CEC0E-3718-3ADE-2042-FF0A110CD650}"/>
                  </a:ext>
                </a:extLst>
              </p:cNvPr>
              <p:cNvSpPr txBox="1"/>
              <p:nvPr/>
            </p:nvSpPr>
            <p:spPr>
              <a:xfrm>
                <a:off x="1179140" y="5023549"/>
                <a:ext cx="10965250" cy="307777"/>
              </a:xfrm>
              <a:prstGeom prst="rect">
                <a:avLst/>
              </a:prstGeom>
              <a:noFill/>
              <a:ln>
                <a:noFill/>
              </a:ln>
            </p:spPr>
            <p:txBody>
              <a:bodyPr spcFirstLastPara="1" wrap="square" lIns="91400" tIns="45675" rIns="91400" bIns="45675"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C3C3C"/>
                    </a:solidFill>
                    <a:effectLst/>
                    <a:uLnTx/>
                    <a:uFillTx/>
                    <a:latin typeface="Arial" panose="020B0604020202020204" pitchFamily="34" charset="0"/>
                    <a:ea typeface="+mn-ea"/>
                    <a:cs typeface="+mn-cs"/>
                    <a:sym typeface="Arial"/>
                  </a:rPr>
                  <a:t>Supplemental storage – Used to add capacity to any domain</a:t>
                </a:r>
                <a:endParaRPr kumimoji="0" sz="1799" b="0"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Arial"/>
                </a:endParaRPr>
              </a:p>
            </p:txBody>
          </p:sp>
        </p:grpSp>
        <p:grpSp>
          <p:nvGrpSpPr>
            <p:cNvPr id="3539" name="Google Shape;3539;p49">
              <a:extLst>
                <a:ext uri="{FF2B5EF4-FFF2-40B4-BE49-F238E27FC236}">
                  <a16:creationId xmlns:a16="http://schemas.microsoft.com/office/drawing/2014/main" id="{6DEBC075-8E82-7C11-66A7-4CDD9C960209}"/>
                </a:ext>
              </a:extLst>
            </p:cNvPr>
            <p:cNvGrpSpPr/>
            <p:nvPr/>
          </p:nvGrpSpPr>
          <p:grpSpPr>
            <a:xfrm>
              <a:off x="6091725" y="5082068"/>
              <a:ext cx="936000" cy="866278"/>
              <a:chOff x="1420440" y="5348332"/>
              <a:chExt cx="792000" cy="866730"/>
            </a:xfrm>
            <a:solidFill>
              <a:schemeClr val="accent2"/>
            </a:solidFill>
          </p:grpSpPr>
          <p:cxnSp>
            <p:nvCxnSpPr>
              <p:cNvPr id="3540" name="Google Shape;3540;p49">
                <a:extLst>
                  <a:ext uri="{FF2B5EF4-FFF2-40B4-BE49-F238E27FC236}">
                    <a16:creationId xmlns:a16="http://schemas.microsoft.com/office/drawing/2014/main" id="{60DE545B-DD24-5F02-AE0E-9ECABEE24420}"/>
                  </a:ext>
                </a:extLst>
              </p:cNvPr>
              <p:cNvCxnSpPr/>
              <p:nvPr/>
            </p:nvCxnSpPr>
            <p:spPr>
              <a:xfrm>
                <a:off x="1800750" y="5348332"/>
                <a:ext cx="0" cy="231362"/>
              </a:xfrm>
              <a:prstGeom prst="straightConnector1">
                <a:avLst/>
              </a:prstGeom>
              <a:grpFill/>
              <a:ln w="25400" cap="flat" cmpd="sng">
                <a:solidFill>
                  <a:schemeClr val="bg2">
                    <a:lumMod val="50000"/>
                  </a:schemeClr>
                </a:solidFill>
                <a:prstDash val="solid"/>
                <a:round/>
                <a:headEnd type="none" w="sm" len="sm"/>
                <a:tailEnd type="none" w="sm" len="sm"/>
              </a:ln>
            </p:spPr>
          </p:cxnSp>
          <p:sp>
            <p:nvSpPr>
              <p:cNvPr id="3541" name="Google Shape;3541;p49">
                <a:extLst>
                  <a:ext uri="{FF2B5EF4-FFF2-40B4-BE49-F238E27FC236}">
                    <a16:creationId xmlns:a16="http://schemas.microsoft.com/office/drawing/2014/main" id="{A52634C7-5C25-8D10-693E-BAD0E3082FFA}"/>
                  </a:ext>
                </a:extLst>
              </p:cNvPr>
              <p:cNvSpPr/>
              <p:nvPr/>
            </p:nvSpPr>
            <p:spPr>
              <a:xfrm>
                <a:off x="1420440" y="5530705"/>
                <a:ext cx="792000" cy="684357"/>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FC</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grpSp>
          <p:nvGrpSpPr>
            <p:cNvPr id="3546" name="Google Shape;3546;p49">
              <a:extLst>
                <a:ext uri="{FF2B5EF4-FFF2-40B4-BE49-F238E27FC236}">
                  <a16:creationId xmlns:a16="http://schemas.microsoft.com/office/drawing/2014/main" id="{3881D219-BF2C-6801-1080-1EFED477476A}"/>
                </a:ext>
              </a:extLst>
            </p:cNvPr>
            <p:cNvGrpSpPr/>
            <p:nvPr/>
          </p:nvGrpSpPr>
          <p:grpSpPr>
            <a:xfrm>
              <a:off x="3440198" y="5066618"/>
              <a:ext cx="936000" cy="881722"/>
              <a:chOff x="5072407" y="5330824"/>
              <a:chExt cx="936000" cy="882183"/>
            </a:xfrm>
            <a:solidFill>
              <a:schemeClr val="accent3"/>
            </a:solidFill>
          </p:grpSpPr>
          <p:cxnSp>
            <p:nvCxnSpPr>
              <p:cNvPr id="3547" name="Google Shape;3547;p49">
                <a:extLst>
                  <a:ext uri="{FF2B5EF4-FFF2-40B4-BE49-F238E27FC236}">
                    <a16:creationId xmlns:a16="http://schemas.microsoft.com/office/drawing/2014/main" id="{9E347DE4-3395-7D9D-C18F-05B54D7AB54B}"/>
                  </a:ext>
                </a:extLst>
              </p:cNvPr>
              <p:cNvCxnSpPr/>
              <p:nvPr/>
            </p:nvCxnSpPr>
            <p:spPr>
              <a:xfrm>
                <a:off x="5535641" y="5330824"/>
                <a:ext cx="0" cy="231362"/>
              </a:xfrm>
              <a:prstGeom prst="straightConnector1">
                <a:avLst/>
              </a:prstGeom>
              <a:grpFill/>
              <a:ln w="25400" cap="flat" cmpd="sng">
                <a:solidFill>
                  <a:schemeClr val="bg2">
                    <a:lumMod val="50000"/>
                  </a:schemeClr>
                </a:solidFill>
                <a:prstDash val="solid"/>
                <a:round/>
                <a:headEnd type="none" w="sm" len="sm"/>
                <a:tailEnd type="none" w="sm" len="sm"/>
              </a:ln>
            </p:spPr>
          </p:cxnSp>
          <p:sp>
            <p:nvSpPr>
              <p:cNvPr id="3548" name="Google Shape;3548;p49">
                <a:extLst>
                  <a:ext uri="{FF2B5EF4-FFF2-40B4-BE49-F238E27FC236}">
                    <a16:creationId xmlns:a16="http://schemas.microsoft.com/office/drawing/2014/main" id="{211733E3-E4CD-ECEF-4FA8-250FEBAC0513}"/>
                  </a:ext>
                </a:extLst>
              </p:cNvPr>
              <p:cNvSpPr/>
              <p:nvPr/>
            </p:nvSpPr>
            <p:spPr>
              <a:xfrm>
                <a:off x="5072407" y="5528650"/>
                <a:ext cx="936000" cy="684357"/>
              </a:xfrm>
              <a:prstGeom prst="can">
                <a:avLst>
                  <a:gd name="adj" fmla="val 25000"/>
                </a:avLst>
              </a:prstGeom>
              <a:solidFill>
                <a:schemeClr val="accent4"/>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vSAN </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Remote Datastores</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grpSp>
          <p:nvGrpSpPr>
            <p:cNvPr id="3549" name="Google Shape;3549;p49">
              <a:extLst>
                <a:ext uri="{FF2B5EF4-FFF2-40B4-BE49-F238E27FC236}">
                  <a16:creationId xmlns:a16="http://schemas.microsoft.com/office/drawing/2014/main" id="{9A26F87F-DBE4-215C-A013-C2A848FA2686}"/>
                </a:ext>
              </a:extLst>
            </p:cNvPr>
            <p:cNvGrpSpPr/>
            <p:nvPr/>
          </p:nvGrpSpPr>
          <p:grpSpPr>
            <a:xfrm>
              <a:off x="2151181" y="5064160"/>
              <a:ext cx="936000" cy="888812"/>
              <a:chOff x="7097880" y="5329663"/>
              <a:chExt cx="792000" cy="889276"/>
            </a:xfrm>
            <a:solidFill>
              <a:schemeClr val="accent4"/>
            </a:solidFill>
          </p:grpSpPr>
          <p:cxnSp>
            <p:nvCxnSpPr>
              <p:cNvPr id="3550" name="Google Shape;3550;p49">
                <a:extLst>
                  <a:ext uri="{FF2B5EF4-FFF2-40B4-BE49-F238E27FC236}">
                    <a16:creationId xmlns:a16="http://schemas.microsoft.com/office/drawing/2014/main" id="{33E0BB57-2558-75DE-04B0-03F47FE7CA84}"/>
                  </a:ext>
                </a:extLst>
              </p:cNvPr>
              <p:cNvCxnSpPr/>
              <p:nvPr/>
            </p:nvCxnSpPr>
            <p:spPr>
              <a:xfrm>
                <a:off x="7477342" y="5329663"/>
                <a:ext cx="0" cy="231362"/>
              </a:xfrm>
              <a:prstGeom prst="straightConnector1">
                <a:avLst/>
              </a:prstGeom>
              <a:grpFill/>
              <a:ln w="25400" cap="flat" cmpd="sng">
                <a:solidFill>
                  <a:schemeClr val="bg2">
                    <a:lumMod val="50000"/>
                  </a:schemeClr>
                </a:solidFill>
                <a:prstDash val="solid"/>
                <a:round/>
                <a:headEnd type="none" w="sm" len="sm"/>
                <a:tailEnd type="none" w="sm" len="sm"/>
              </a:ln>
            </p:spPr>
          </p:cxnSp>
          <p:sp>
            <p:nvSpPr>
              <p:cNvPr id="3551" name="Google Shape;3551;p49">
                <a:extLst>
                  <a:ext uri="{FF2B5EF4-FFF2-40B4-BE49-F238E27FC236}">
                    <a16:creationId xmlns:a16="http://schemas.microsoft.com/office/drawing/2014/main" id="{0DF5BDB9-9DA3-DF25-E272-1B6D165E72FB}"/>
                  </a:ext>
                </a:extLst>
              </p:cNvPr>
              <p:cNvSpPr/>
              <p:nvPr/>
            </p:nvSpPr>
            <p:spPr>
              <a:xfrm>
                <a:off x="7097880" y="5534582"/>
                <a:ext cx="792000" cy="684357"/>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vSAN HCI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Storage Clusters</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cxnSp>
          <p:nvCxnSpPr>
            <p:cNvPr id="3575" name="Google Shape;3575;p49">
              <a:extLst>
                <a:ext uri="{FF2B5EF4-FFF2-40B4-BE49-F238E27FC236}">
                  <a16:creationId xmlns:a16="http://schemas.microsoft.com/office/drawing/2014/main" id="{960E5911-B431-CC00-5474-848378B8237D}"/>
                </a:ext>
              </a:extLst>
            </p:cNvPr>
            <p:cNvCxnSpPr>
              <a:cxnSpLocks/>
            </p:cNvCxnSpPr>
            <p:nvPr/>
          </p:nvCxnSpPr>
          <p:spPr>
            <a:xfrm>
              <a:off x="2585851" y="5064160"/>
              <a:ext cx="8096235" cy="17892"/>
            </a:xfrm>
            <a:prstGeom prst="straightConnector1">
              <a:avLst/>
            </a:prstGeom>
            <a:noFill/>
            <a:ln w="25400" cap="flat" cmpd="sng">
              <a:solidFill>
                <a:srgbClr val="7F7F7F"/>
              </a:solidFill>
              <a:prstDash val="solid"/>
              <a:round/>
              <a:headEnd type="none" w="sm" len="sm"/>
              <a:tailEnd type="none" w="sm" len="sm"/>
            </a:ln>
          </p:spPr>
        </p:cxnSp>
        <p:sp>
          <p:nvSpPr>
            <p:cNvPr id="3577" name="Google Shape;3577;p49">
              <a:extLst>
                <a:ext uri="{FF2B5EF4-FFF2-40B4-BE49-F238E27FC236}">
                  <a16:creationId xmlns:a16="http://schemas.microsoft.com/office/drawing/2014/main" id="{B2D7AA55-EE10-2050-7031-B5F044CB5D2D}"/>
                </a:ext>
              </a:extLst>
            </p:cNvPr>
            <p:cNvSpPr/>
            <p:nvPr/>
          </p:nvSpPr>
          <p:spPr>
            <a:xfrm>
              <a:off x="5680473" y="6087255"/>
              <a:ext cx="5943435" cy="246157"/>
            </a:xfrm>
            <a:prstGeom prst="rect">
              <a:avLst/>
            </a:prstGeom>
            <a:noFill/>
            <a:ln>
              <a:noFill/>
            </a:ln>
          </p:spPr>
          <p:txBody>
            <a:bodyPr spcFirstLastPara="1" wrap="square" lIns="91400" tIns="45675" rIns="91400" bIns="45675" anchor="t"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F3F3F"/>
                  </a:solidFill>
                  <a:effectLst/>
                  <a:uLnTx/>
                  <a:uFillTx/>
                  <a:latin typeface="Arial" panose="020B0604020202020204" pitchFamily="34" charset="0"/>
                  <a:ea typeface="+mn-ea"/>
                  <a:cs typeface="+mn-cs"/>
                  <a:sym typeface="Arial"/>
                </a:rPr>
                <a:t>*LCM, patching, and upgrades of Supplemental Storage is not managed by VCF Operations</a:t>
              </a:r>
              <a:endParaRPr kumimoji="0" sz="1799" b="0"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Arial"/>
              </a:endParaRPr>
            </a:p>
          </p:txBody>
        </p:sp>
        <p:grpSp>
          <p:nvGrpSpPr>
            <p:cNvPr id="3578" name="Google Shape;3578;p49">
              <a:extLst>
                <a:ext uri="{FF2B5EF4-FFF2-40B4-BE49-F238E27FC236}">
                  <a16:creationId xmlns:a16="http://schemas.microsoft.com/office/drawing/2014/main" id="{A4F1C48F-40A0-0E85-C4B7-69ED8FDD414F}"/>
                </a:ext>
              </a:extLst>
            </p:cNvPr>
            <p:cNvGrpSpPr/>
            <p:nvPr/>
          </p:nvGrpSpPr>
          <p:grpSpPr>
            <a:xfrm>
              <a:off x="4778210" y="5064388"/>
              <a:ext cx="936000" cy="879333"/>
              <a:chOff x="4312766" y="5338354"/>
              <a:chExt cx="792000" cy="879793"/>
            </a:xfrm>
            <a:solidFill>
              <a:schemeClr val="accent1"/>
            </a:solidFill>
          </p:grpSpPr>
          <p:cxnSp>
            <p:nvCxnSpPr>
              <p:cNvPr id="3579" name="Google Shape;3579;p49">
                <a:extLst>
                  <a:ext uri="{FF2B5EF4-FFF2-40B4-BE49-F238E27FC236}">
                    <a16:creationId xmlns:a16="http://schemas.microsoft.com/office/drawing/2014/main" id="{9E4B37E3-2EF7-1450-EA04-DEE6C297216C}"/>
                  </a:ext>
                </a:extLst>
              </p:cNvPr>
              <p:cNvCxnSpPr/>
              <p:nvPr/>
            </p:nvCxnSpPr>
            <p:spPr>
              <a:xfrm>
                <a:off x="4685566" y="5338354"/>
                <a:ext cx="0" cy="231362"/>
              </a:xfrm>
              <a:prstGeom prst="straightConnector1">
                <a:avLst/>
              </a:prstGeom>
              <a:grpFill/>
              <a:ln w="25400" cap="flat" cmpd="sng">
                <a:solidFill>
                  <a:schemeClr val="bg2">
                    <a:lumMod val="50000"/>
                  </a:schemeClr>
                </a:solidFill>
                <a:prstDash val="solid"/>
                <a:round/>
                <a:headEnd type="none" w="sm" len="sm"/>
                <a:tailEnd type="none" w="sm" len="sm"/>
              </a:ln>
            </p:spPr>
          </p:cxnSp>
          <p:sp>
            <p:nvSpPr>
              <p:cNvPr id="3580" name="Google Shape;3580;p49">
                <a:extLst>
                  <a:ext uri="{FF2B5EF4-FFF2-40B4-BE49-F238E27FC236}">
                    <a16:creationId xmlns:a16="http://schemas.microsoft.com/office/drawing/2014/main" id="{BCA14F70-EAFF-3704-32CE-F426E6F9533B}"/>
                  </a:ext>
                </a:extLst>
              </p:cNvPr>
              <p:cNvSpPr/>
              <p:nvPr/>
            </p:nvSpPr>
            <p:spPr>
              <a:xfrm>
                <a:off x="4312766" y="5533789"/>
                <a:ext cx="792000" cy="684358"/>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NFS*</a:t>
                </a:r>
                <a:endParaRPr kumimoji="0" sz="16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grpSp>
          <p:nvGrpSpPr>
            <p:cNvPr id="3587" name="Google Shape;3587;p49">
              <a:extLst>
                <a:ext uri="{FF2B5EF4-FFF2-40B4-BE49-F238E27FC236}">
                  <a16:creationId xmlns:a16="http://schemas.microsoft.com/office/drawing/2014/main" id="{371650CE-802D-050C-9B42-5C6C64586040}"/>
                </a:ext>
              </a:extLst>
            </p:cNvPr>
            <p:cNvGrpSpPr/>
            <p:nvPr/>
          </p:nvGrpSpPr>
          <p:grpSpPr>
            <a:xfrm>
              <a:off x="8715430" y="5082050"/>
              <a:ext cx="936000" cy="861667"/>
              <a:chOff x="1420440" y="5350505"/>
              <a:chExt cx="792000" cy="862118"/>
            </a:xfrm>
            <a:solidFill>
              <a:schemeClr val="accent5"/>
            </a:solidFill>
          </p:grpSpPr>
          <p:cxnSp>
            <p:nvCxnSpPr>
              <p:cNvPr id="3588" name="Google Shape;3588;p49">
                <a:extLst>
                  <a:ext uri="{FF2B5EF4-FFF2-40B4-BE49-F238E27FC236}">
                    <a16:creationId xmlns:a16="http://schemas.microsoft.com/office/drawing/2014/main" id="{484747BA-70B7-299E-58A4-EB7974EF2D83}"/>
                  </a:ext>
                </a:extLst>
              </p:cNvPr>
              <p:cNvCxnSpPr/>
              <p:nvPr/>
            </p:nvCxnSpPr>
            <p:spPr>
              <a:xfrm>
                <a:off x="1800750" y="5350505"/>
                <a:ext cx="0" cy="231362"/>
              </a:xfrm>
              <a:prstGeom prst="straightConnector1">
                <a:avLst/>
              </a:prstGeom>
              <a:grpFill/>
              <a:ln w="25400" cap="flat" cmpd="sng">
                <a:solidFill>
                  <a:schemeClr val="bg2">
                    <a:lumMod val="50000"/>
                  </a:schemeClr>
                </a:solidFill>
                <a:prstDash val="solid"/>
                <a:round/>
                <a:headEnd type="none" w="sm" len="sm"/>
                <a:tailEnd type="none" w="sm" len="sm"/>
              </a:ln>
            </p:spPr>
          </p:cxnSp>
          <p:sp>
            <p:nvSpPr>
              <p:cNvPr id="3589" name="Google Shape;3589;p49">
                <a:extLst>
                  <a:ext uri="{FF2B5EF4-FFF2-40B4-BE49-F238E27FC236}">
                    <a16:creationId xmlns:a16="http://schemas.microsoft.com/office/drawing/2014/main" id="{E80EAF78-1AA4-7478-18B8-7FEA5BB840C0}"/>
                  </a:ext>
                </a:extLst>
              </p:cNvPr>
              <p:cNvSpPr/>
              <p:nvPr/>
            </p:nvSpPr>
            <p:spPr>
              <a:xfrm>
                <a:off x="1420440" y="5528265"/>
                <a:ext cx="792000" cy="684358"/>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srgbClr val="FFFFFF"/>
                    </a:solidFill>
                    <a:effectLst/>
                    <a:uLnTx/>
                    <a:uFillTx/>
                    <a:latin typeface="Arial" panose="020B0604020202020204" pitchFamily="34" charset="0"/>
                    <a:ea typeface="+mn-ea"/>
                    <a:cs typeface="+mn-cs"/>
                    <a:sym typeface="Arial"/>
                  </a:rPr>
                  <a:t>NVMe</a:t>
                </a:r>
                <a:endParaRPr kumimoji="0"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/FC</a:t>
                </a:r>
                <a:endParaRPr kumimoji="0"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grpSp>
          <p:nvGrpSpPr>
            <p:cNvPr id="3590" name="Google Shape;3590;p49">
              <a:extLst>
                <a:ext uri="{FF2B5EF4-FFF2-40B4-BE49-F238E27FC236}">
                  <a16:creationId xmlns:a16="http://schemas.microsoft.com/office/drawing/2014/main" id="{E4300C8E-D4CE-7708-E226-74BCAF845C29}"/>
                </a:ext>
              </a:extLst>
            </p:cNvPr>
            <p:cNvGrpSpPr/>
            <p:nvPr/>
          </p:nvGrpSpPr>
          <p:grpSpPr>
            <a:xfrm>
              <a:off x="10028947" y="5085883"/>
              <a:ext cx="936000" cy="867093"/>
              <a:chOff x="1420440" y="5354333"/>
              <a:chExt cx="792000" cy="867546"/>
            </a:xfrm>
            <a:solidFill>
              <a:schemeClr val="accent5"/>
            </a:solidFill>
          </p:grpSpPr>
          <p:cxnSp>
            <p:nvCxnSpPr>
              <p:cNvPr id="3591" name="Google Shape;3591;p49">
                <a:extLst>
                  <a:ext uri="{FF2B5EF4-FFF2-40B4-BE49-F238E27FC236}">
                    <a16:creationId xmlns:a16="http://schemas.microsoft.com/office/drawing/2014/main" id="{9D3D5B72-4CF7-0EAD-877D-66A2E63F5175}"/>
                  </a:ext>
                </a:extLst>
              </p:cNvPr>
              <p:cNvCxnSpPr/>
              <p:nvPr/>
            </p:nvCxnSpPr>
            <p:spPr>
              <a:xfrm>
                <a:off x="1800750" y="5354333"/>
                <a:ext cx="0" cy="231362"/>
              </a:xfrm>
              <a:prstGeom prst="straightConnector1">
                <a:avLst/>
              </a:prstGeom>
              <a:grpFill/>
              <a:ln w="25400" cap="flat" cmpd="sng">
                <a:solidFill>
                  <a:schemeClr val="bg2">
                    <a:lumMod val="50000"/>
                  </a:schemeClr>
                </a:solidFill>
                <a:prstDash val="solid"/>
                <a:round/>
                <a:headEnd type="none" w="sm" len="sm"/>
                <a:tailEnd type="none" w="sm" len="sm"/>
              </a:ln>
            </p:spPr>
          </p:cxnSp>
          <p:sp>
            <p:nvSpPr>
              <p:cNvPr id="3592" name="Google Shape;3592;p49">
                <a:extLst>
                  <a:ext uri="{FF2B5EF4-FFF2-40B4-BE49-F238E27FC236}">
                    <a16:creationId xmlns:a16="http://schemas.microsoft.com/office/drawing/2014/main" id="{1996F17C-836E-0C74-167B-061EF56A34B6}"/>
                  </a:ext>
                </a:extLst>
              </p:cNvPr>
              <p:cNvSpPr/>
              <p:nvPr/>
            </p:nvSpPr>
            <p:spPr>
              <a:xfrm>
                <a:off x="1420440" y="5537522"/>
                <a:ext cx="792000" cy="684357"/>
              </a:xfrm>
              <a:prstGeom prst="can">
                <a:avLst>
                  <a:gd name="adj" fmla="val 25000"/>
                </a:avLst>
              </a:prstGeom>
              <a:grp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srgbClr val="FFFFFF"/>
                    </a:solidFill>
                    <a:effectLst/>
                    <a:uLnTx/>
                    <a:uFillTx/>
                    <a:latin typeface="Arial" panose="020B0604020202020204" pitchFamily="34" charset="0"/>
                    <a:ea typeface="+mn-ea"/>
                    <a:cs typeface="+mn-cs"/>
                    <a:sym typeface="Arial"/>
                  </a:rPr>
                  <a:t>NVMe</a:t>
                </a:r>
                <a:endParaRPr kumimoji="0"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/TCP</a:t>
                </a:r>
                <a:endParaRPr kumimoji="0"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grpSp>
          <p:nvGrpSpPr>
            <p:cNvPr id="6" name="Google Shape;3543;p49">
              <a:extLst>
                <a:ext uri="{FF2B5EF4-FFF2-40B4-BE49-F238E27FC236}">
                  <a16:creationId xmlns:a16="http://schemas.microsoft.com/office/drawing/2014/main" id="{AAE3A1DB-4DE2-A6AC-B996-361B0591DCAD}"/>
                </a:ext>
              </a:extLst>
            </p:cNvPr>
            <p:cNvGrpSpPr/>
            <p:nvPr/>
          </p:nvGrpSpPr>
          <p:grpSpPr>
            <a:xfrm>
              <a:off x="7398931" y="5066047"/>
              <a:ext cx="936000" cy="886925"/>
              <a:chOff x="9822189" y="5348450"/>
              <a:chExt cx="792000" cy="887388"/>
            </a:xfrm>
            <a:solidFill>
              <a:schemeClr val="bg1"/>
            </a:solidFill>
          </p:grpSpPr>
          <p:cxnSp>
            <p:nvCxnSpPr>
              <p:cNvPr id="8" name="Google Shape;3544;p49">
                <a:extLst>
                  <a:ext uri="{FF2B5EF4-FFF2-40B4-BE49-F238E27FC236}">
                    <a16:creationId xmlns:a16="http://schemas.microsoft.com/office/drawing/2014/main" id="{1CDB7FA6-6034-8C1B-0298-9BAB0732D925}"/>
                  </a:ext>
                </a:extLst>
              </p:cNvPr>
              <p:cNvCxnSpPr/>
              <p:nvPr/>
            </p:nvCxnSpPr>
            <p:spPr>
              <a:xfrm>
                <a:off x="10199988" y="5348450"/>
                <a:ext cx="0" cy="231362"/>
              </a:xfrm>
              <a:prstGeom prst="straightConnector1">
                <a:avLst/>
              </a:prstGeom>
              <a:grpFill/>
              <a:ln w="25400" cap="flat" cmpd="sng">
                <a:solidFill>
                  <a:srgbClr val="7F7F7F"/>
                </a:solidFill>
                <a:prstDash val="solid"/>
                <a:round/>
                <a:headEnd type="none" w="sm" len="sm"/>
                <a:tailEnd type="none" w="sm" len="sm"/>
              </a:ln>
            </p:spPr>
          </p:cxnSp>
          <p:sp>
            <p:nvSpPr>
              <p:cNvPr id="11" name="Google Shape;3545;p49">
                <a:extLst>
                  <a:ext uri="{FF2B5EF4-FFF2-40B4-BE49-F238E27FC236}">
                    <a16:creationId xmlns:a16="http://schemas.microsoft.com/office/drawing/2014/main" id="{5D404820-26F0-8BD2-9715-56433276BD03}"/>
                  </a:ext>
                </a:extLst>
              </p:cNvPr>
              <p:cNvSpPr/>
              <p:nvPr/>
            </p:nvSpPr>
            <p:spPr>
              <a:xfrm>
                <a:off x="9822189" y="5551481"/>
                <a:ext cx="792000" cy="684357"/>
              </a:xfrm>
              <a:prstGeom prst="can">
                <a:avLst>
                  <a:gd name="adj" fmla="val 25000"/>
                </a:avLst>
              </a:prstGeom>
              <a:solidFill>
                <a:schemeClr val="bg2">
                  <a:lumMod val="50000"/>
                </a:schemeClr>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iSCSI</a:t>
                </a:r>
                <a:endParaRPr kumimoji="0" sz="17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grpSp>
      </p:grpSp>
      <p:sp>
        <p:nvSpPr>
          <p:cNvPr id="3526" name="Google Shape;3526;p49">
            <a:extLst>
              <a:ext uri="{FF2B5EF4-FFF2-40B4-BE49-F238E27FC236}">
                <a16:creationId xmlns:a16="http://schemas.microsoft.com/office/drawing/2014/main" id="{71105E1E-5A2B-5952-B812-4DE2872D965A}"/>
              </a:ext>
            </a:extLst>
          </p:cNvPr>
          <p:cNvSpPr/>
          <p:nvPr/>
        </p:nvSpPr>
        <p:spPr>
          <a:xfrm>
            <a:off x="5203689" y="2173663"/>
            <a:ext cx="936000" cy="648000"/>
          </a:xfrm>
          <a:prstGeom prst="can">
            <a:avLst>
              <a:gd name="adj" fmla="val 25000"/>
            </a:avLst>
          </a:prstGeom>
          <a:solidFill>
            <a:schemeClr val="accent4"/>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vSAN HCI </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(ESA/OSA)</a:t>
            </a:r>
            <a:endParaRPr kumimoji="0" sz="8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sp>
        <p:nvSpPr>
          <p:cNvPr id="10" name="Google Shape;3574;p49">
            <a:extLst>
              <a:ext uri="{FF2B5EF4-FFF2-40B4-BE49-F238E27FC236}">
                <a16:creationId xmlns:a16="http://schemas.microsoft.com/office/drawing/2014/main" id="{B1EA1BED-28BE-F28F-33F9-01389A2A5F00}"/>
              </a:ext>
            </a:extLst>
          </p:cNvPr>
          <p:cNvSpPr/>
          <p:nvPr/>
        </p:nvSpPr>
        <p:spPr>
          <a:xfrm>
            <a:off x="8002133" y="2170015"/>
            <a:ext cx="936000" cy="648000"/>
          </a:xfrm>
          <a:prstGeom prst="can">
            <a:avLst>
              <a:gd name="adj" fmla="val 25000"/>
            </a:avLst>
          </a:prstGeom>
          <a:solidFill>
            <a:schemeClr val="accent2"/>
          </a:solidFill>
          <a:ln w="9525" cap="flat" cmpd="sng">
            <a:solidFill>
              <a:schemeClr val="bg1"/>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rPr>
              <a:t>FC</a:t>
            </a:r>
            <a:endParaRPr kumimoji="0" sz="7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sym typeface="Arial"/>
            </a:endParaRPr>
          </a:p>
        </p:txBody>
      </p:sp>
      <p:cxnSp>
        <p:nvCxnSpPr>
          <p:cNvPr id="3535" name="Google Shape;3535;p49">
            <a:extLst>
              <a:ext uri="{FF2B5EF4-FFF2-40B4-BE49-F238E27FC236}">
                <a16:creationId xmlns:a16="http://schemas.microsoft.com/office/drawing/2014/main" id="{5734AA48-3224-5EFD-E835-50F62EB07A49}"/>
              </a:ext>
            </a:extLst>
          </p:cNvPr>
          <p:cNvCxnSpPr>
            <a:cxnSpLocks/>
          </p:cNvCxnSpPr>
          <p:nvPr/>
        </p:nvCxnSpPr>
        <p:spPr>
          <a:xfrm>
            <a:off x="10691825" y="2097855"/>
            <a:ext cx="0" cy="1393502"/>
          </a:xfrm>
          <a:prstGeom prst="straightConnector1">
            <a:avLst/>
          </a:prstGeom>
          <a:noFill/>
          <a:ln w="25400" cap="flat" cmpd="sng">
            <a:solidFill>
              <a:srgbClr val="7F7F7F"/>
            </a:solidFill>
            <a:prstDash val="solid"/>
            <a:round/>
            <a:headEnd type="none" w="sm" len="sm"/>
            <a:tailEnd type="none" w="sm" len="sm"/>
          </a:ln>
        </p:spPr>
      </p:cxnSp>
      <p:cxnSp>
        <p:nvCxnSpPr>
          <p:cNvPr id="18" name="Google Shape;3542;p49">
            <a:extLst>
              <a:ext uri="{FF2B5EF4-FFF2-40B4-BE49-F238E27FC236}">
                <a16:creationId xmlns:a16="http://schemas.microsoft.com/office/drawing/2014/main" id="{9E12E992-9F2C-74DD-D87B-3C4DEDDC4362}"/>
              </a:ext>
            </a:extLst>
          </p:cNvPr>
          <p:cNvCxnSpPr>
            <a:cxnSpLocks/>
          </p:cNvCxnSpPr>
          <p:nvPr/>
        </p:nvCxnSpPr>
        <p:spPr>
          <a:xfrm>
            <a:off x="10691825" y="3491357"/>
            <a:ext cx="0" cy="1593216"/>
          </a:xfrm>
          <a:prstGeom prst="straightConnector1">
            <a:avLst/>
          </a:prstGeom>
          <a:noFill/>
          <a:ln w="25400" cap="flat" cmpd="sng">
            <a:solidFill>
              <a:srgbClr val="7F7F7F"/>
            </a:solidFill>
            <a:prstDash val="solid"/>
            <a:round/>
            <a:headEnd type="none" w="sm" len="sm"/>
            <a:tailEnd type="none" w="sm" len="sm"/>
          </a:ln>
        </p:spPr>
      </p:cxnSp>
    </p:spTree>
    <p:extLst>
      <p:ext uri="{BB962C8B-B14F-4D97-AF65-F5344CB8AC3E}">
        <p14:creationId xmlns:p14="http://schemas.microsoft.com/office/powerpoint/2010/main" val="194166271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535"/>
                                        </p:tgtEl>
                                        <p:attrNameLst>
                                          <p:attrName>style.visibility</p:attrName>
                                        </p:attrNameLst>
                                      </p:cBhvr>
                                      <p:to>
                                        <p:strVal val="visible"/>
                                      </p:to>
                                    </p:set>
                                    <p:animEffect transition="in" filter="wipe(up)">
                                      <p:cBhvr>
                                        <p:cTn id="12" dur="500"/>
                                        <p:tgtEl>
                                          <p:spTgt spid="3535"/>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left)">
                                      <p:cBhvr>
                                        <p:cTn id="16" dur="5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up)">
                                      <p:cBhvr>
                                        <p:cTn id="21" dur="500"/>
                                        <p:tgtEl>
                                          <p:spTgt spid="18"/>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wipe(left)">
                                      <p:cBhvr>
                                        <p:cTn id="2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9B6AD1-5193-835D-9573-BF808CD88D40}"/>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952AD2EB-2A7E-6107-C4A4-1BBAEA153513}"/>
              </a:ext>
            </a:extLst>
          </p:cNvPr>
          <p:cNvSpPr>
            <a:spLocks noGrp="1"/>
          </p:cNvSpPr>
          <p:nvPr>
            <p:ph type="title"/>
          </p:nvPr>
        </p:nvSpPr>
        <p:spPr/>
        <p:txBody>
          <a:bodyPr/>
          <a:lstStyle/>
          <a:p>
            <a:r>
              <a:rPr lang="en-US" dirty="0">
                <a:solidFill>
                  <a:schemeClr val="accent2"/>
                </a:solidFill>
              </a:rPr>
              <a:t>Cloud Foundation Storage Options</a:t>
            </a:r>
          </a:p>
        </p:txBody>
      </p:sp>
      <p:sp>
        <p:nvSpPr>
          <p:cNvPr id="5" name="Subtitle 4">
            <a:extLst>
              <a:ext uri="{FF2B5EF4-FFF2-40B4-BE49-F238E27FC236}">
                <a16:creationId xmlns:a16="http://schemas.microsoft.com/office/drawing/2014/main" id="{4DFEA563-F30C-A766-56AE-8B1107C1F582}"/>
              </a:ext>
            </a:extLst>
          </p:cNvPr>
          <p:cNvSpPr>
            <a:spLocks noGrp="1"/>
          </p:cNvSpPr>
          <p:nvPr>
            <p:ph type="body" sz="quarter" idx="12"/>
          </p:nvPr>
        </p:nvSpPr>
        <p:spPr/>
        <p:txBody>
          <a:bodyPr/>
          <a:lstStyle/>
          <a:p>
            <a:r>
              <a:rPr lang="en-US" sz="2000" dirty="0">
                <a:solidFill>
                  <a:schemeClr val="tx1"/>
                </a:solidFill>
                <a:latin typeface="Arial" panose="020B0604020202020204" pitchFamily="34" charset="0"/>
              </a:rPr>
              <a:t>Storage Options and Capabilities</a:t>
            </a:r>
          </a:p>
        </p:txBody>
      </p:sp>
      <p:graphicFrame>
        <p:nvGraphicFramePr>
          <p:cNvPr id="99" name="Table 2">
            <a:extLst>
              <a:ext uri="{FF2B5EF4-FFF2-40B4-BE49-F238E27FC236}">
                <a16:creationId xmlns:a16="http://schemas.microsoft.com/office/drawing/2014/main" id="{DEAC10A2-1E79-F2BA-E2DF-75BCAE22F070}"/>
              </a:ext>
            </a:extLst>
          </p:cNvPr>
          <p:cNvGraphicFramePr>
            <a:graphicFrameLocks noGrp="1"/>
          </p:cNvGraphicFramePr>
          <p:nvPr/>
        </p:nvGraphicFramePr>
        <p:xfrm>
          <a:off x="412896" y="1178671"/>
          <a:ext cx="11166490" cy="4971048"/>
        </p:xfrm>
        <a:graphic>
          <a:graphicData uri="http://schemas.openxmlformats.org/drawingml/2006/table">
            <a:tbl>
              <a:tblPr firstRow="1" bandRow="1">
                <a:tableStyleId>{6E25E649-3F16-4E02-A733-19D2CDBF48F0}</a:tableStyleId>
              </a:tblPr>
              <a:tblGrid>
                <a:gridCol w="3878715">
                  <a:extLst>
                    <a:ext uri="{9D8B030D-6E8A-4147-A177-3AD203B41FA5}">
                      <a16:colId xmlns:a16="http://schemas.microsoft.com/office/drawing/2014/main" val="1918875704"/>
                    </a:ext>
                  </a:extLst>
                </a:gridCol>
                <a:gridCol w="1457555">
                  <a:extLst>
                    <a:ext uri="{9D8B030D-6E8A-4147-A177-3AD203B41FA5}">
                      <a16:colId xmlns:a16="http://schemas.microsoft.com/office/drawing/2014/main" val="1362754577"/>
                    </a:ext>
                  </a:extLst>
                </a:gridCol>
                <a:gridCol w="1457555">
                  <a:extLst>
                    <a:ext uri="{9D8B030D-6E8A-4147-A177-3AD203B41FA5}">
                      <a16:colId xmlns:a16="http://schemas.microsoft.com/office/drawing/2014/main" val="1588869702"/>
                    </a:ext>
                  </a:extLst>
                </a:gridCol>
                <a:gridCol w="1457555">
                  <a:extLst>
                    <a:ext uri="{9D8B030D-6E8A-4147-A177-3AD203B41FA5}">
                      <a16:colId xmlns:a16="http://schemas.microsoft.com/office/drawing/2014/main" val="679854857"/>
                    </a:ext>
                  </a:extLst>
                </a:gridCol>
                <a:gridCol w="1457555">
                  <a:extLst>
                    <a:ext uri="{9D8B030D-6E8A-4147-A177-3AD203B41FA5}">
                      <a16:colId xmlns:a16="http://schemas.microsoft.com/office/drawing/2014/main" val="2285960760"/>
                    </a:ext>
                  </a:extLst>
                </a:gridCol>
                <a:gridCol w="1457555">
                  <a:extLst>
                    <a:ext uri="{9D8B030D-6E8A-4147-A177-3AD203B41FA5}">
                      <a16:colId xmlns:a16="http://schemas.microsoft.com/office/drawing/2014/main" val="2719852512"/>
                    </a:ext>
                  </a:extLst>
                </a:gridCol>
              </a:tblGrid>
              <a:tr h="621381">
                <a:tc>
                  <a:txBody>
                    <a:bodyPr/>
                    <a:lstStyle/>
                    <a:p>
                      <a:pPr marL="0" algn="l" defTabSz="914400" rtl="0" eaLnBrk="1" latinLnBrk="0" hangingPunct="1"/>
                      <a:endParaRPr lang="en-US" sz="2000" b="0" kern="1200" dirty="0">
                        <a:solidFill>
                          <a:schemeClr val="tx2"/>
                        </a:solidFill>
                        <a:latin typeface="+mj-lt"/>
                        <a:ea typeface="+mn-ea"/>
                        <a:cs typeface="+mn-cs"/>
                      </a:endParaRPr>
                    </a:p>
                  </a:txBody>
                  <a:tcPr marL="91416" marR="91416" marT="45708" marB="45708" anchor="ctr">
                    <a:lnL>
                      <a:noFill/>
                    </a:lnL>
                    <a:lnR>
                      <a:noFill/>
                    </a:lnR>
                    <a:lnT w="25400" cmpd="sng">
                      <a:noFill/>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endParaRPr lang="en-US" sz="1600" b="0" i="0" kern="1200" dirty="0">
                        <a:solidFill>
                          <a:schemeClr val="accent2"/>
                        </a:solidFill>
                        <a:latin typeface="Arial" panose="020B0604020202020204" pitchFamily="34" charset="0"/>
                        <a:ea typeface="+mn-ea"/>
                        <a:cs typeface="+mn-cs"/>
                      </a:endParaRPr>
                    </a:p>
                  </a:txBody>
                  <a:tcPr marL="91416" marR="91416" marT="182832" marB="45708" anchor="ctr">
                    <a:lnL>
                      <a:noFill/>
                    </a:lnL>
                    <a:lnR>
                      <a:noFill/>
                    </a:lnR>
                    <a:lnT w="25400" cmpd="sng">
                      <a:noFill/>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endParaRPr lang="en-US" sz="1600" b="0" i="0" kern="1200" dirty="0">
                        <a:solidFill>
                          <a:schemeClr val="accent2"/>
                        </a:solidFill>
                        <a:latin typeface="Arial" panose="020B0604020202020204" pitchFamily="34" charset="0"/>
                        <a:ea typeface="+mn-ea"/>
                        <a:cs typeface="+mn-cs"/>
                      </a:endParaRPr>
                    </a:p>
                  </a:txBody>
                  <a:tcPr marL="91416" marR="91416" marT="182832" marB="45708" anchor="ctr">
                    <a:lnL>
                      <a:noFill/>
                    </a:lnL>
                    <a:lnR>
                      <a:noFill/>
                    </a:lnR>
                    <a:lnT w="25400" cmpd="sng">
                      <a:noFill/>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lang="en-US" sz="1600" b="0" i="0" kern="1200" dirty="0">
                          <a:solidFill>
                            <a:schemeClr val="accent2"/>
                          </a:solidFill>
                          <a:latin typeface="Arial" panose="020B0604020202020204" pitchFamily="34" charset="0"/>
                          <a:ea typeface="+mn-ea"/>
                          <a:cs typeface="+mn-cs"/>
                        </a:rPr>
                        <a:t>  </a:t>
                      </a:r>
                    </a:p>
                  </a:txBody>
                  <a:tcPr marL="91416" marR="91416" marT="182832" marB="45708" anchor="ctr">
                    <a:lnL>
                      <a:noFill/>
                    </a:lnL>
                    <a:lnR>
                      <a:noFill/>
                    </a:lnR>
                    <a:lnT w="25400" cmpd="sng">
                      <a:noFill/>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endParaRPr lang="en-US" sz="1600" b="0" i="0" kern="1200" dirty="0">
                        <a:solidFill>
                          <a:schemeClr val="accent2"/>
                        </a:solidFill>
                        <a:latin typeface="Arial" panose="020B0604020202020204" pitchFamily="34" charset="0"/>
                        <a:ea typeface="+mn-ea"/>
                        <a:cs typeface="+mn-cs"/>
                      </a:endParaRPr>
                    </a:p>
                  </a:txBody>
                  <a:tcPr marL="91416" marR="91416" marT="182832" marB="45708" anchor="ctr">
                    <a:lnL>
                      <a:noFill/>
                    </a:lnL>
                    <a:lnR>
                      <a:noFill/>
                    </a:lnR>
                    <a:lnT w="25400" cmpd="sng">
                      <a:noFill/>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endParaRPr lang="en-US" sz="1600" b="0" i="0" kern="1200" dirty="0">
                        <a:solidFill>
                          <a:schemeClr val="accent2"/>
                        </a:solidFill>
                        <a:latin typeface="Arial" panose="020B0604020202020204" pitchFamily="34" charset="0"/>
                        <a:ea typeface="+mn-ea"/>
                        <a:cs typeface="+mn-cs"/>
                      </a:endParaRPr>
                    </a:p>
                  </a:txBody>
                  <a:tcPr marL="91416" marR="91416" marT="182832" marB="45708" anchor="ctr">
                    <a:lnL>
                      <a:noFill/>
                    </a:lnL>
                    <a:lnR>
                      <a:noFill/>
                    </a:lnR>
                    <a:lnT w="25400" cmpd="sng">
                      <a:noFill/>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8862044"/>
                  </a:ext>
                </a:extLst>
              </a:tr>
              <a:tr h="621381">
                <a:tc>
                  <a:txBody>
                    <a:bodyPr/>
                    <a:lstStyle/>
                    <a:p>
                      <a:pPr marL="0" algn="l" defTabSz="914400" rtl="0" eaLnBrk="1" latinLnBrk="0" hangingPunct="1"/>
                      <a:r>
                        <a:rPr lang="en-US" sz="1400" b="0" i="0" kern="1200" dirty="0">
                          <a:solidFill>
                            <a:schemeClr val="tx1"/>
                          </a:solidFill>
                          <a:latin typeface="Arial" panose="020B0604020202020204" pitchFamily="34" charset="0"/>
                          <a:ea typeface="+mn-ea"/>
                          <a:cs typeface="+mn-cs"/>
                        </a:rPr>
                        <a:t>Provides a Full SDDC Solution</a:t>
                      </a:r>
                    </a:p>
                  </a:txBody>
                  <a:tcPr marL="91416" marR="91416" marT="45708" marB="45708" anchor="ctr">
                    <a:lnT w="28575"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28575"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28575"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28575"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28575"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28575"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3153565786"/>
                  </a:ext>
                </a:extLst>
              </a:tr>
              <a:tr h="621381">
                <a:tc>
                  <a:txBody>
                    <a:bodyPr/>
                    <a:lstStyle/>
                    <a:p>
                      <a:pPr marL="0" algn="l" defTabSz="914400" rtl="0" eaLnBrk="1" latinLnBrk="0" hangingPunct="1"/>
                      <a:r>
                        <a:rPr lang="en-US" sz="1400" b="0" i="0" kern="1200" dirty="0">
                          <a:solidFill>
                            <a:schemeClr val="tx1"/>
                          </a:solidFill>
                          <a:latin typeface="Arial" panose="020B0604020202020204" pitchFamily="34" charset="0"/>
                          <a:ea typeface="+mn-ea"/>
                          <a:cs typeface="+mn-cs"/>
                        </a:rPr>
                        <a:t>Storage Policy Based Management</a:t>
                      </a:r>
                    </a:p>
                  </a:txBody>
                  <a:tcPr marL="91416" marR="91416" marT="45708" marB="45708" anchor="ct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extLst>
                  <a:ext uri="{0D108BD9-81ED-4DB2-BD59-A6C34878D82A}">
                    <a16:rowId xmlns:a16="http://schemas.microsoft.com/office/drawing/2014/main" val="2779100874"/>
                  </a:ext>
                </a:extLst>
              </a:tr>
              <a:tr h="6213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kern="1200" dirty="0">
                          <a:solidFill>
                            <a:schemeClr val="tx1"/>
                          </a:solidFill>
                          <a:latin typeface="Arial" panose="020B0604020202020204" pitchFamily="34" charset="0"/>
                          <a:ea typeface="+mn-ea"/>
                          <a:cs typeface="+mn-cs"/>
                        </a:rPr>
                        <a:t>Automated Deployment and Scale</a:t>
                      </a:r>
                    </a:p>
                  </a:txBody>
                  <a:tcPr marL="91416" marR="91416" marT="45708" marB="45708" anchor="ct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641468237"/>
                  </a:ext>
                </a:extLst>
              </a:tr>
              <a:tr h="621381">
                <a:tc>
                  <a:txBody>
                    <a:bodyPr/>
                    <a:lstStyle/>
                    <a:p>
                      <a:pPr marL="0" algn="l" defTabSz="914400" rtl="0" eaLnBrk="1" latinLnBrk="0" hangingPunct="1"/>
                      <a:r>
                        <a:rPr lang="en-US" sz="1400" b="0" i="0" kern="1200" dirty="0">
                          <a:solidFill>
                            <a:schemeClr val="tx1"/>
                          </a:solidFill>
                          <a:latin typeface="Arial" panose="020B0604020202020204" pitchFamily="34" charset="0"/>
                          <a:ea typeface="+mn-ea"/>
                          <a:cs typeface="+mn-cs"/>
                        </a:rPr>
                        <a:t>Automated LCM, Patching, Upgrades</a:t>
                      </a:r>
                    </a:p>
                  </a:txBody>
                  <a:tcPr marL="91416" marR="91416" marT="45708" marB="45708" anchor="ct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extLst>
                  <a:ext uri="{0D108BD9-81ED-4DB2-BD59-A6C34878D82A}">
                    <a16:rowId xmlns:a16="http://schemas.microsoft.com/office/drawing/2014/main" val="1315322155"/>
                  </a:ext>
                </a:extLst>
              </a:tr>
              <a:tr h="6213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kern="1200" dirty="0">
                          <a:solidFill>
                            <a:schemeClr val="tx1"/>
                          </a:solidFill>
                          <a:latin typeface="Arial" panose="020B0604020202020204" pitchFamily="34" charset="0"/>
                          <a:ea typeface="+mn-ea"/>
                          <a:cs typeface="+mn-cs"/>
                        </a:rPr>
                        <a:t>Stretched Clusters</a:t>
                      </a:r>
                    </a:p>
                  </a:txBody>
                  <a:tcPr marL="91416" marR="91416" marT="45708" marB="45708" anchor="ct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val="655047399"/>
                  </a:ext>
                </a:extLst>
              </a:tr>
              <a:tr h="621381">
                <a:tc>
                  <a:txBody>
                    <a:bodyPr/>
                    <a:lstStyle/>
                    <a:p>
                      <a:pPr marL="0" algn="l" defTabSz="914400" rtl="0" eaLnBrk="1" latinLnBrk="0" hangingPunct="1"/>
                      <a:r>
                        <a:rPr lang="en-US" sz="1400" b="0" i="0" kern="1200" dirty="0">
                          <a:solidFill>
                            <a:schemeClr val="tx1"/>
                          </a:solidFill>
                          <a:latin typeface="Arial" panose="020B0604020202020204" pitchFamily="34" charset="0"/>
                          <a:ea typeface="+mn-ea"/>
                          <a:cs typeface="+mn-cs"/>
                        </a:rPr>
                        <a:t>Remote Clusters</a:t>
                      </a:r>
                    </a:p>
                  </a:txBody>
                  <a:tcPr marL="91416" marR="91416" marT="45708" marB="45708" anchor="ct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F4F8FA"/>
                    </a:solidFill>
                  </a:tcPr>
                </a:tc>
                <a:extLst>
                  <a:ext uri="{0D108BD9-81ED-4DB2-BD59-A6C34878D82A}">
                    <a16:rowId xmlns:a16="http://schemas.microsoft.com/office/drawing/2014/main" val="2715376598"/>
                  </a:ext>
                </a:extLst>
              </a:tr>
              <a:tr h="621381">
                <a:tc>
                  <a:txBody>
                    <a:bodyPr/>
                    <a:lstStyle/>
                    <a:p>
                      <a:pPr marL="0" algn="l" defTabSz="914400" rtl="0" eaLnBrk="1" latinLnBrk="0" hangingPunct="1"/>
                      <a:r>
                        <a:rPr lang="en-US" sz="1400" b="0" i="0" kern="1200" dirty="0">
                          <a:solidFill>
                            <a:schemeClr val="tx1"/>
                          </a:solidFill>
                          <a:latin typeface="Arial" panose="020B0604020202020204" pitchFamily="34" charset="0"/>
                          <a:ea typeface="+mn-ea"/>
                          <a:cs typeface="+mn-cs"/>
                        </a:rPr>
                        <a:t>Compute Only Clusters</a:t>
                      </a:r>
                    </a:p>
                  </a:txBody>
                  <a:tcPr marL="91416" marR="91416" marT="45708" marB="45708" anchor="ct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marL="0" algn="l" defTabSz="914400" rtl="0" eaLnBrk="1" latinLnBrk="0" hangingPunct="1"/>
                      <a:endParaRPr lang="en-US" sz="1600" b="0" i="0" kern="1200" dirty="0">
                        <a:solidFill>
                          <a:schemeClr val="tx2"/>
                        </a:solidFill>
                        <a:latin typeface="Arial" panose="020B0604020202020204" pitchFamily="34" charset="0"/>
                        <a:ea typeface="+mn-ea"/>
                        <a:cs typeface="+mn-cs"/>
                      </a:endParaRPr>
                    </a:p>
                  </a:txBody>
                  <a:tcPr marL="91416" marR="91416" marT="45708" marB="45708">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val="4136303198"/>
                  </a:ext>
                </a:extLst>
              </a:tr>
            </a:tbl>
          </a:graphicData>
        </a:graphic>
      </p:graphicFrame>
      <p:grpSp>
        <p:nvGrpSpPr>
          <p:cNvPr id="74" name="Group 73" descr="checkmark">
            <a:extLst>
              <a:ext uri="{FF2B5EF4-FFF2-40B4-BE49-F238E27FC236}">
                <a16:creationId xmlns:a16="http://schemas.microsoft.com/office/drawing/2014/main" id="{80ADF018-3E63-B510-B1E3-90950444398A}"/>
              </a:ext>
            </a:extLst>
          </p:cNvPr>
          <p:cNvGrpSpPr/>
          <p:nvPr/>
        </p:nvGrpSpPr>
        <p:grpSpPr>
          <a:xfrm>
            <a:off x="4668626" y="1974500"/>
            <a:ext cx="309482" cy="309482"/>
            <a:chOff x="4733925" y="1390650"/>
            <a:chExt cx="309563" cy="309563"/>
          </a:xfrm>
          <a:solidFill>
            <a:schemeClr val="accent3"/>
          </a:solidFill>
        </p:grpSpPr>
        <p:sp>
          <p:nvSpPr>
            <p:cNvPr id="75" name="Oval 74">
              <a:extLst>
                <a:ext uri="{FF2B5EF4-FFF2-40B4-BE49-F238E27FC236}">
                  <a16:creationId xmlns:a16="http://schemas.microsoft.com/office/drawing/2014/main" id="{677C2D9B-60FB-53B4-B6A5-EB2FD64BCF0D}"/>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76" name="Freeform 5">
              <a:extLst>
                <a:ext uri="{FF2B5EF4-FFF2-40B4-BE49-F238E27FC236}">
                  <a16:creationId xmlns:a16="http://schemas.microsoft.com/office/drawing/2014/main" id="{C018E3A6-9F5B-B06D-E96E-509B0260E054}"/>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77" name="Group 76" descr="checkmark">
            <a:extLst>
              <a:ext uri="{FF2B5EF4-FFF2-40B4-BE49-F238E27FC236}">
                <a16:creationId xmlns:a16="http://schemas.microsoft.com/office/drawing/2014/main" id="{3A5F2BAD-543D-F03F-F746-88EBDE81074A}"/>
              </a:ext>
            </a:extLst>
          </p:cNvPr>
          <p:cNvGrpSpPr/>
          <p:nvPr/>
        </p:nvGrpSpPr>
        <p:grpSpPr>
          <a:xfrm>
            <a:off x="4668626" y="2592955"/>
            <a:ext cx="309482" cy="309482"/>
            <a:chOff x="4733925" y="1390650"/>
            <a:chExt cx="309563" cy="309563"/>
          </a:xfrm>
          <a:solidFill>
            <a:schemeClr val="accent3"/>
          </a:solidFill>
        </p:grpSpPr>
        <p:sp>
          <p:nvSpPr>
            <p:cNvPr id="78" name="Oval 77">
              <a:extLst>
                <a:ext uri="{FF2B5EF4-FFF2-40B4-BE49-F238E27FC236}">
                  <a16:creationId xmlns:a16="http://schemas.microsoft.com/office/drawing/2014/main" id="{D9904C7D-147F-A224-915B-45C78B58A258}"/>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79" name="Freeform 5">
              <a:extLst>
                <a:ext uri="{FF2B5EF4-FFF2-40B4-BE49-F238E27FC236}">
                  <a16:creationId xmlns:a16="http://schemas.microsoft.com/office/drawing/2014/main" id="{2AFFC062-DBAC-8851-0786-79FE59874375}"/>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80" name="Group 79" descr="checkmark">
            <a:extLst>
              <a:ext uri="{FF2B5EF4-FFF2-40B4-BE49-F238E27FC236}">
                <a16:creationId xmlns:a16="http://schemas.microsoft.com/office/drawing/2014/main" id="{897FA513-5BF2-1767-F025-0AE9874E688C}"/>
              </a:ext>
            </a:extLst>
          </p:cNvPr>
          <p:cNvGrpSpPr/>
          <p:nvPr/>
        </p:nvGrpSpPr>
        <p:grpSpPr>
          <a:xfrm>
            <a:off x="4668626" y="3218497"/>
            <a:ext cx="309482" cy="309482"/>
            <a:chOff x="4733925" y="1390650"/>
            <a:chExt cx="309563" cy="309563"/>
          </a:xfrm>
          <a:solidFill>
            <a:schemeClr val="accent3"/>
          </a:solidFill>
        </p:grpSpPr>
        <p:sp>
          <p:nvSpPr>
            <p:cNvPr id="81" name="Oval 80">
              <a:extLst>
                <a:ext uri="{FF2B5EF4-FFF2-40B4-BE49-F238E27FC236}">
                  <a16:creationId xmlns:a16="http://schemas.microsoft.com/office/drawing/2014/main" id="{5AD1C504-568F-DF31-AB47-CA1252FB1243}"/>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82" name="Freeform 5">
              <a:extLst>
                <a:ext uri="{FF2B5EF4-FFF2-40B4-BE49-F238E27FC236}">
                  <a16:creationId xmlns:a16="http://schemas.microsoft.com/office/drawing/2014/main" id="{7DFB2AE9-88C4-516E-8B93-0AD903B07316}"/>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83" name="Group 82" descr="checkmark">
            <a:extLst>
              <a:ext uri="{FF2B5EF4-FFF2-40B4-BE49-F238E27FC236}">
                <a16:creationId xmlns:a16="http://schemas.microsoft.com/office/drawing/2014/main" id="{EE43F4C8-AD5F-6DC7-DA6B-0677C1349594}"/>
              </a:ext>
            </a:extLst>
          </p:cNvPr>
          <p:cNvGrpSpPr/>
          <p:nvPr/>
        </p:nvGrpSpPr>
        <p:grpSpPr>
          <a:xfrm>
            <a:off x="4668626" y="3839083"/>
            <a:ext cx="309482" cy="309482"/>
            <a:chOff x="4733925" y="1390650"/>
            <a:chExt cx="309563" cy="309563"/>
          </a:xfrm>
          <a:solidFill>
            <a:schemeClr val="accent3"/>
          </a:solidFill>
        </p:grpSpPr>
        <p:sp>
          <p:nvSpPr>
            <p:cNvPr id="84" name="Oval 83">
              <a:extLst>
                <a:ext uri="{FF2B5EF4-FFF2-40B4-BE49-F238E27FC236}">
                  <a16:creationId xmlns:a16="http://schemas.microsoft.com/office/drawing/2014/main" id="{40610211-687B-69F9-BF3D-ECA5390267E1}"/>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85" name="Freeform 5">
              <a:extLst>
                <a:ext uri="{FF2B5EF4-FFF2-40B4-BE49-F238E27FC236}">
                  <a16:creationId xmlns:a16="http://schemas.microsoft.com/office/drawing/2014/main" id="{7495ACC5-9571-641F-2BED-861DBB520BB0}"/>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86" name="Group 85" descr="checkmark">
            <a:extLst>
              <a:ext uri="{FF2B5EF4-FFF2-40B4-BE49-F238E27FC236}">
                <a16:creationId xmlns:a16="http://schemas.microsoft.com/office/drawing/2014/main" id="{BEB034E6-640C-5B76-A29E-A5524478038B}"/>
              </a:ext>
            </a:extLst>
          </p:cNvPr>
          <p:cNvGrpSpPr/>
          <p:nvPr/>
        </p:nvGrpSpPr>
        <p:grpSpPr>
          <a:xfrm>
            <a:off x="4668626" y="4465522"/>
            <a:ext cx="309482" cy="309482"/>
            <a:chOff x="4733925" y="1390650"/>
            <a:chExt cx="309563" cy="309563"/>
          </a:xfrm>
          <a:solidFill>
            <a:schemeClr val="accent3"/>
          </a:solidFill>
        </p:grpSpPr>
        <p:sp>
          <p:nvSpPr>
            <p:cNvPr id="87" name="Oval 86">
              <a:extLst>
                <a:ext uri="{FF2B5EF4-FFF2-40B4-BE49-F238E27FC236}">
                  <a16:creationId xmlns:a16="http://schemas.microsoft.com/office/drawing/2014/main" id="{9C81AC2D-3048-3AE3-2CBA-E06E55B26BC6}"/>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88" name="Freeform 5">
              <a:extLst>
                <a:ext uri="{FF2B5EF4-FFF2-40B4-BE49-F238E27FC236}">
                  <a16:creationId xmlns:a16="http://schemas.microsoft.com/office/drawing/2014/main" id="{E15F0E1C-9C89-EEE9-45A9-D4FD96A6F55B}"/>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89" name="Group 88" descr="checkmark">
            <a:extLst>
              <a:ext uri="{FF2B5EF4-FFF2-40B4-BE49-F238E27FC236}">
                <a16:creationId xmlns:a16="http://schemas.microsoft.com/office/drawing/2014/main" id="{5D1B6325-8A4B-E2CD-45DB-9714676E499C}"/>
              </a:ext>
            </a:extLst>
          </p:cNvPr>
          <p:cNvGrpSpPr/>
          <p:nvPr/>
        </p:nvGrpSpPr>
        <p:grpSpPr>
          <a:xfrm>
            <a:off x="4668626" y="5076388"/>
            <a:ext cx="309482" cy="309482"/>
            <a:chOff x="4733925" y="1390650"/>
            <a:chExt cx="309563" cy="309563"/>
          </a:xfrm>
          <a:solidFill>
            <a:schemeClr val="accent3"/>
          </a:solidFill>
        </p:grpSpPr>
        <p:sp>
          <p:nvSpPr>
            <p:cNvPr id="90" name="Oval 89">
              <a:extLst>
                <a:ext uri="{FF2B5EF4-FFF2-40B4-BE49-F238E27FC236}">
                  <a16:creationId xmlns:a16="http://schemas.microsoft.com/office/drawing/2014/main" id="{C6582AD8-0AC4-4001-1FFA-91DBAEEFB97D}"/>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91" name="Freeform 5">
              <a:extLst>
                <a:ext uri="{FF2B5EF4-FFF2-40B4-BE49-F238E27FC236}">
                  <a16:creationId xmlns:a16="http://schemas.microsoft.com/office/drawing/2014/main" id="{1FD65F92-34A2-CD41-B6FD-F8114575F03E}"/>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5" name="Group 104" descr="checkmark">
            <a:extLst>
              <a:ext uri="{FF2B5EF4-FFF2-40B4-BE49-F238E27FC236}">
                <a16:creationId xmlns:a16="http://schemas.microsoft.com/office/drawing/2014/main" id="{D9C82747-F3DE-7D39-82C2-C28B0E2E7DFA}"/>
              </a:ext>
            </a:extLst>
          </p:cNvPr>
          <p:cNvGrpSpPr/>
          <p:nvPr/>
        </p:nvGrpSpPr>
        <p:grpSpPr>
          <a:xfrm>
            <a:off x="8622263" y="5076388"/>
            <a:ext cx="309482" cy="309482"/>
            <a:chOff x="4733925" y="1390650"/>
            <a:chExt cx="309563" cy="309563"/>
          </a:xfrm>
          <a:solidFill>
            <a:schemeClr val="accent3"/>
          </a:solidFill>
        </p:grpSpPr>
        <p:sp>
          <p:nvSpPr>
            <p:cNvPr id="106" name="Oval 105">
              <a:extLst>
                <a:ext uri="{FF2B5EF4-FFF2-40B4-BE49-F238E27FC236}">
                  <a16:creationId xmlns:a16="http://schemas.microsoft.com/office/drawing/2014/main" id="{4F90528C-6778-64C0-A193-075642465B18}"/>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07" name="Freeform 5">
              <a:extLst>
                <a:ext uri="{FF2B5EF4-FFF2-40B4-BE49-F238E27FC236}">
                  <a16:creationId xmlns:a16="http://schemas.microsoft.com/office/drawing/2014/main" id="{C47ED58A-8866-9AE7-1251-69FD8630DCA0}"/>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08" name="Group 107" descr="checkmark">
            <a:extLst>
              <a:ext uri="{FF2B5EF4-FFF2-40B4-BE49-F238E27FC236}">
                <a16:creationId xmlns:a16="http://schemas.microsoft.com/office/drawing/2014/main" id="{9F551E74-624D-447A-4BD4-E6E4CB2431FB}"/>
              </a:ext>
            </a:extLst>
          </p:cNvPr>
          <p:cNvGrpSpPr/>
          <p:nvPr/>
        </p:nvGrpSpPr>
        <p:grpSpPr>
          <a:xfrm>
            <a:off x="10620432" y="5076388"/>
            <a:ext cx="309482" cy="309482"/>
            <a:chOff x="4733925" y="1390650"/>
            <a:chExt cx="309563" cy="309563"/>
          </a:xfrm>
          <a:solidFill>
            <a:schemeClr val="accent3"/>
          </a:solidFill>
        </p:grpSpPr>
        <p:sp>
          <p:nvSpPr>
            <p:cNvPr id="109" name="Oval 108">
              <a:extLst>
                <a:ext uri="{FF2B5EF4-FFF2-40B4-BE49-F238E27FC236}">
                  <a16:creationId xmlns:a16="http://schemas.microsoft.com/office/drawing/2014/main" id="{D00AB691-BD8F-A609-08EA-F99677CB0357}"/>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10" name="Freeform 5">
              <a:extLst>
                <a:ext uri="{FF2B5EF4-FFF2-40B4-BE49-F238E27FC236}">
                  <a16:creationId xmlns:a16="http://schemas.microsoft.com/office/drawing/2014/main" id="{8FEF12D4-B869-493A-27A9-BCB1979A0CC9}"/>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11" name="Group 110" descr="checkmark">
            <a:extLst>
              <a:ext uri="{FF2B5EF4-FFF2-40B4-BE49-F238E27FC236}">
                <a16:creationId xmlns:a16="http://schemas.microsoft.com/office/drawing/2014/main" id="{DD298AF1-3088-A1CA-74AE-F27962BB5FA2}"/>
              </a:ext>
            </a:extLst>
          </p:cNvPr>
          <p:cNvGrpSpPr/>
          <p:nvPr/>
        </p:nvGrpSpPr>
        <p:grpSpPr>
          <a:xfrm>
            <a:off x="10614419" y="3223361"/>
            <a:ext cx="309482" cy="309482"/>
            <a:chOff x="4733925" y="1390650"/>
            <a:chExt cx="309563" cy="309563"/>
          </a:xfrm>
          <a:solidFill>
            <a:schemeClr val="accent3"/>
          </a:solidFill>
        </p:grpSpPr>
        <p:sp>
          <p:nvSpPr>
            <p:cNvPr id="112" name="Oval 111">
              <a:extLst>
                <a:ext uri="{FF2B5EF4-FFF2-40B4-BE49-F238E27FC236}">
                  <a16:creationId xmlns:a16="http://schemas.microsoft.com/office/drawing/2014/main" id="{EC45A4B1-7712-C59E-E5AE-9D07A77A4AE6}"/>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13" name="Freeform 5">
              <a:extLst>
                <a:ext uri="{FF2B5EF4-FFF2-40B4-BE49-F238E27FC236}">
                  <a16:creationId xmlns:a16="http://schemas.microsoft.com/office/drawing/2014/main" id="{E6C2A11A-55FD-663C-C3B6-FFB51E4B9091}"/>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43" name="Group 42" descr="checkmark">
            <a:extLst>
              <a:ext uri="{FF2B5EF4-FFF2-40B4-BE49-F238E27FC236}">
                <a16:creationId xmlns:a16="http://schemas.microsoft.com/office/drawing/2014/main" id="{D6DC3049-600C-573D-D827-E63D511E0B8B}"/>
              </a:ext>
            </a:extLst>
          </p:cNvPr>
          <p:cNvGrpSpPr/>
          <p:nvPr/>
        </p:nvGrpSpPr>
        <p:grpSpPr>
          <a:xfrm>
            <a:off x="4668626" y="5700746"/>
            <a:ext cx="309482" cy="309482"/>
            <a:chOff x="4733925" y="1390650"/>
            <a:chExt cx="309563" cy="309563"/>
          </a:xfrm>
          <a:solidFill>
            <a:schemeClr val="accent3"/>
          </a:solidFill>
        </p:grpSpPr>
        <p:sp>
          <p:nvSpPr>
            <p:cNvPr id="44" name="Oval 43">
              <a:extLst>
                <a:ext uri="{FF2B5EF4-FFF2-40B4-BE49-F238E27FC236}">
                  <a16:creationId xmlns:a16="http://schemas.microsoft.com/office/drawing/2014/main" id="{52322678-9988-3A00-4E59-350AF127218A}"/>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45" name="Freeform 5">
              <a:extLst>
                <a:ext uri="{FF2B5EF4-FFF2-40B4-BE49-F238E27FC236}">
                  <a16:creationId xmlns:a16="http://schemas.microsoft.com/office/drawing/2014/main" id="{CF459C5D-2765-90D1-E751-6ADCAA8D5A79}"/>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6" name="Group 5" descr="checkmark">
            <a:extLst>
              <a:ext uri="{FF2B5EF4-FFF2-40B4-BE49-F238E27FC236}">
                <a16:creationId xmlns:a16="http://schemas.microsoft.com/office/drawing/2014/main" id="{C90032AF-0F27-7FD5-54E4-61207D5C1C19}"/>
              </a:ext>
            </a:extLst>
          </p:cNvPr>
          <p:cNvGrpSpPr/>
          <p:nvPr/>
        </p:nvGrpSpPr>
        <p:grpSpPr>
          <a:xfrm>
            <a:off x="6638474" y="1975628"/>
            <a:ext cx="309482" cy="309482"/>
            <a:chOff x="4733925" y="1390650"/>
            <a:chExt cx="309563" cy="309563"/>
          </a:xfrm>
          <a:solidFill>
            <a:schemeClr val="accent3"/>
          </a:solidFill>
        </p:grpSpPr>
        <p:sp>
          <p:nvSpPr>
            <p:cNvPr id="7" name="Oval 6">
              <a:extLst>
                <a:ext uri="{FF2B5EF4-FFF2-40B4-BE49-F238E27FC236}">
                  <a16:creationId xmlns:a16="http://schemas.microsoft.com/office/drawing/2014/main" id="{7BF04416-7A3B-4FCF-8B33-349B08CBD740}"/>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8" name="Freeform 5">
              <a:extLst>
                <a:ext uri="{FF2B5EF4-FFF2-40B4-BE49-F238E27FC236}">
                  <a16:creationId xmlns:a16="http://schemas.microsoft.com/office/drawing/2014/main" id="{D5CBDAAE-1480-AE99-7642-7129E79D310D}"/>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9" name="Group 8" descr="checkmark">
            <a:extLst>
              <a:ext uri="{FF2B5EF4-FFF2-40B4-BE49-F238E27FC236}">
                <a16:creationId xmlns:a16="http://schemas.microsoft.com/office/drawing/2014/main" id="{815DE22C-E53F-F8A0-7161-AD5080954184}"/>
              </a:ext>
            </a:extLst>
          </p:cNvPr>
          <p:cNvGrpSpPr/>
          <p:nvPr/>
        </p:nvGrpSpPr>
        <p:grpSpPr>
          <a:xfrm>
            <a:off x="6638474" y="2594780"/>
            <a:ext cx="309482" cy="309482"/>
            <a:chOff x="4733925" y="1390650"/>
            <a:chExt cx="309563" cy="309563"/>
          </a:xfrm>
          <a:solidFill>
            <a:schemeClr val="accent3"/>
          </a:solidFill>
        </p:grpSpPr>
        <p:sp>
          <p:nvSpPr>
            <p:cNvPr id="10" name="Oval 9">
              <a:extLst>
                <a:ext uri="{FF2B5EF4-FFF2-40B4-BE49-F238E27FC236}">
                  <a16:creationId xmlns:a16="http://schemas.microsoft.com/office/drawing/2014/main" id="{575D90B5-D803-656D-80C2-A2FE403FDF71}"/>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1" name="Freeform 5">
              <a:extLst>
                <a:ext uri="{FF2B5EF4-FFF2-40B4-BE49-F238E27FC236}">
                  <a16:creationId xmlns:a16="http://schemas.microsoft.com/office/drawing/2014/main" id="{896EEA35-E78A-6DBF-9642-F2273588AB44}"/>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2" name="Group 11" descr="checkmark">
            <a:extLst>
              <a:ext uri="{FF2B5EF4-FFF2-40B4-BE49-F238E27FC236}">
                <a16:creationId xmlns:a16="http://schemas.microsoft.com/office/drawing/2014/main" id="{F3F087D2-D631-7B69-FDBA-925F641B4E34}"/>
              </a:ext>
            </a:extLst>
          </p:cNvPr>
          <p:cNvGrpSpPr/>
          <p:nvPr/>
        </p:nvGrpSpPr>
        <p:grpSpPr>
          <a:xfrm>
            <a:off x="6638474" y="3220628"/>
            <a:ext cx="309482" cy="309482"/>
            <a:chOff x="4733925" y="1390650"/>
            <a:chExt cx="309563" cy="309563"/>
          </a:xfrm>
          <a:solidFill>
            <a:schemeClr val="accent3"/>
          </a:solidFill>
        </p:grpSpPr>
        <p:sp>
          <p:nvSpPr>
            <p:cNvPr id="13" name="Oval 12">
              <a:extLst>
                <a:ext uri="{FF2B5EF4-FFF2-40B4-BE49-F238E27FC236}">
                  <a16:creationId xmlns:a16="http://schemas.microsoft.com/office/drawing/2014/main" id="{F494A174-3AEA-38B4-04D4-7938F3DDE8C1}"/>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4" name="Freeform 5">
              <a:extLst>
                <a:ext uri="{FF2B5EF4-FFF2-40B4-BE49-F238E27FC236}">
                  <a16:creationId xmlns:a16="http://schemas.microsoft.com/office/drawing/2014/main" id="{37899089-5ABA-5EF1-187E-516493E759F1}"/>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15" name="Group 14" descr="checkmark">
            <a:extLst>
              <a:ext uri="{FF2B5EF4-FFF2-40B4-BE49-F238E27FC236}">
                <a16:creationId xmlns:a16="http://schemas.microsoft.com/office/drawing/2014/main" id="{AB3BFCE2-1730-C67D-86F1-92A6D72D31B4}"/>
              </a:ext>
            </a:extLst>
          </p:cNvPr>
          <p:cNvGrpSpPr/>
          <p:nvPr/>
        </p:nvGrpSpPr>
        <p:grpSpPr>
          <a:xfrm>
            <a:off x="6638474" y="3841214"/>
            <a:ext cx="309482" cy="309482"/>
            <a:chOff x="4733925" y="1390650"/>
            <a:chExt cx="309563" cy="309563"/>
          </a:xfrm>
          <a:solidFill>
            <a:schemeClr val="accent3"/>
          </a:solidFill>
        </p:grpSpPr>
        <p:sp>
          <p:nvSpPr>
            <p:cNvPr id="16" name="Oval 15">
              <a:extLst>
                <a:ext uri="{FF2B5EF4-FFF2-40B4-BE49-F238E27FC236}">
                  <a16:creationId xmlns:a16="http://schemas.microsoft.com/office/drawing/2014/main" id="{1A3CB9EE-9416-F18F-CAD3-D68B1B544849}"/>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7" name="Freeform 5">
              <a:extLst>
                <a:ext uri="{FF2B5EF4-FFF2-40B4-BE49-F238E27FC236}">
                  <a16:creationId xmlns:a16="http://schemas.microsoft.com/office/drawing/2014/main" id="{8E023D08-3D15-AF5D-ABB3-39758177F643}"/>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21" name="Group 20" descr="checkmark">
            <a:extLst>
              <a:ext uri="{FF2B5EF4-FFF2-40B4-BE49-F238E27FC236}">
                <a16:creationId xmlns:a16="http://schemas.microsoft.com/office/drawing/2014/main" id="{B7A39EC8-4234-C2F4-1648-E3B92BC7AEA8}"/>
              </a:ext>
            </a:extLst>
          </p:cNvPr>
          <p:cNvGrpSpPr/>
          <p:nvPr/>
        </p:nvGrpSpPr>
        <p:grpSpPr>
          <a:xfrm>
            <a:off x="6638474" y="5078339"/>
            <a:ext cx="309482" cy="309482"/>
            <a:chOff x="4733925" y="1390650"/>
            <a:chExt cx="309563" cy="309563"/>
          </a:xfrm>
          <a:solidFill>
            <a:schemeClr val="accent3"/>
          </a:solidFill>
        </p:grpSpPr>
        <p:sp>
          <p:nvSpPr>
            <p:cNvPr id="22" name="Oval 21">
              <a:extLst>
                <a:ext uri="{FF2B5EF4-FFF2-40B4-BE49-F238E27FC236}">
                  <a16:creationId xmlns:a16="http://schemas.microsoft.com/office/drawing/2014/main" id="{CCF5A1AE-F17F-B560-640F-820FB0726EB2}"/>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3" name="Freeform 5">
              <a:extLst>
                <a:ext uri="{FF2B5EF4-FFF2-40B4-BE49-F238E27FC236}">
                  <a16:creationId xmlns:a16="http://schemas.microsoft.com/office/drawing/2014/main" id="{0D6A5608-EA3D-74AD-FFC6-65173158BBE5}"/>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grpSp>
        <p:nvGrpSpPr>
          <p:cNvPr id="24" name="Group 23" descr="checkmark">
            <a:extLst>
              <a:ext uri="{FF2B5EF4-FFF2-40B4-BE49-F238E27FC236}">
                <a16:creationId xmlns:a16="http://schemas.microsoft.com/office/drawing/2014/main" id="{F2EDB96D-88F5-6F2D-5338-93CE50EFD623}"/>
              </a:ext>
            </a:extLst>
          </p:cNvPr>
          <p:cNvGrpSpPr/>
          <p:nvPr/>
        </p:nvGrpSpPr>
        <p:grpSpPr>
          <a:xfrm>
            <a:off x="6632633" y="5694056"/>
            <a:ext cx="309482" cy="309482"/>
            <a:chOff x="4733925" y="1390650"/>
            <a:chExt cx="309563" cy="309563"/>
          </a:xfrm>
          <a:solidFill>
            <a:schemeClr val="accent3"/>
          </a:solidFill>
        </p:grpSpPr>
        <p:sp>
          <p:nvSpPr>
            <p:cNvPr id="25" name="Oval 24">
              <a:extLst>
                <a:ext uri="{FF2B5EF4-FFF2-40B4-BE49-F238E27FC236}">
                  <a16:creationId xmlns:a16="http://schemas.microsoft.com/office/drawing/2014/main" id="{B8ED024D-BF2C-7FD9-FE94-AB85795B9E86}"/>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6" name="Freeform 5">
              <a:extLst>
                <a:ext uri="{FF2B5EF4-FFF2-40B4-BE49-F238E27FC236}">
                  <a16:creationId xmlns:a16="http://schemas.microsoft.com/office/drawing/2014/main" id="{45365A55-09FA-1A44-5A2F-D731301E05A4}"/>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sp>
        <p:nvSpPr>
          <p:cNvPr id="2" name="TextBox 1">
            <a:extLst>
              <a:ext uri="{FF2B5EF4-FFF2-40B4-BE49-F238E27FC236}">
                <a16:creationId xmlns:a16="http://schemas.microsoft.com/office/drawing/2014/main" id="{E912FEE7-6F9A-D326-1B08-5A643E3F5068}"/>
              </a:ext>
            </a:extLst>
          </p:cNvPr>
          <p:cNvSpPr txBox="1"/>
          <p:nvPr/>
        </p:nvSpPr>
        <p:spPr>
          <a:xfrm>
            <a:off x="5873348" y="1410429"/>
            <a:ext cx="1878363" cy="250903"/>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B84"/>
                </a:solidFill>
                <a:effectLst/>
                <a:uLnTx/>
                <a:uFillTx/>
                <a:latin typeface="Arial" panose="020B0604020202020204" pitchFamily="34" charset="0"/>
                <a:ea typeface="+mn-ea"/>
                <a:cs typeface="+mn-cs"/>
              </a:rPr>
              <a:t>vSAN Storage Clusters</a:t>
            </a:r>
          </a:p>
        </p:txBody>
      </p:sp>
      <p:sp>
        <p:nvSpPr>
          <p:cNvPr id="19" name="TextBox 18">
            <a:extLst>
              <a:ext uri="{FF2B5EF4-FFF2-40B4-BE49-F238E27FC236}">
                <a16:creationId xmlns:a16="http://schemas.microsoft.com/office/drawing/2014/main" id="{315603E5-A732-04AD-830E-95DD383CF09D}"/>
              </a:ext>
            </a:extLst>
          </p:cNvPr>
          <p:cNvSpPr txBox="1"/>
          <p:nvPr/>
        </p:nvSpPr>
        <p:spPr>
          <a:xfrm>
            <a:off x="4177215" y="1366805"/>
            <a:ext cx="1195459" cy="343235"/>
          </a:xfrm>
          <a:prstGeom prst="rect">
            <a:avLst/>
          </a:prstGeom>
          <a:noFill/>
        </p:spPr>
        <p:txBody>
          <a:bodyPr wrap="square">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B84"/>
                </a:solidFill>
                <a:effectLst/>
                <a:uLnTx/>
                <a:uFillTx/>
                <a:latin typeface="Arial" panose="020B0604020202020204" pitchFamily="34" charset="0"/>
                <a:ea typeface="+mn-ea"/>
                <a:cs typeface="+mn-cs"/>
              </a:rPr>
              <a:t>vSAN HCI</a:t>
            </a:r>
          </a:p>
        </p:txBody>
      </p:sp>
      <p:sp>
        <p:nvSpPr>
          <p:cNvPr id="20" name="TextBox 19">
            <a:extLst>
              <a:ext uri="{FF2B5EF4-FFF2-40B4-BE49-F238E27FC236}">
                <a16:creationId xmlns:a16="http://schemas.microsoft.com/office/drawing/2014/main" id="{B7C93986-167D-B381-435C-01D7D740EFDD}"/>
              </a:ext>
            </a:extLst>
          </p:cNvPr>
          <p:cNvSpPr txBox="1"/>
          <p:nvPr/>
        </p:nvSpPr>
        <p:spPr>
          <a:xfrm>
            <a:off x="8124964" y="1383002"/>
            <a:ext cx="1326529" cy="343235"/>
          </a:xfrm>
          <a:prstGeom prst="rect">
            <a:avLst/>
          </a:prstGeom>
          <a:noFill/>
        </p:spPr>
        <p:txBody>
          <a:bodyPr wrap="square">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B84"/>
                </a:solidFill>
                <a:effectLst/>
                <a:uLnTx/>
                <a:uFillTx/>
                <a:latin typeface="Arial" panose="020B0604020202020204" pitchFamily="34" charset="0"/>
                <a:ea typeface="+mn-ea"/>
                <a:cs typeface="+mn-cs"/>
              </a:rPr>
              <a:t>VMFS on FC</a:t>
            </a:r>
          </a:p>
        </p:txBody>
      </p:sp>
      <p:sp>
        <p:nvSpPr>
          <p:cNvPr id="27" name="TextBox 26">
            <a:extLst>
              <a:ext uri="{FF2B5EF4-FFF2-40B4-BE49-F238E27FC236}">
                <a16:creationId xmlns:a16="http://schemas.microsoft.com/office/drawing/2014/main" id="{CA467E4D-129D-AD6B-DAF5-71FA32681234}"/>
              </a:ext>
            </a:extLst>
          </p:cNvPr>
          <p:cNvSpPr txBox="1"/>
          <p:nvPr/>
        </p:nvSpPr>
        <p:spPr>
          <a:xfrm>
            <a:off x="10274061" y="1387903"/>
            <a:ext cx="978516" cy="343235"/>
          </a:xfrm>
          <a:prstGeom prst="rect">
            <a:avLst/>
          </a:prstGeom>
          <a:noFill/>
        </p:spPr>
        <p:txBody>
          <a:bodyPr wrap="square">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B84"/>
                </a:solidFill>
                <a:effectLst/>
                <a:uLnTx/>
                <a:uFillTx/>
                <a:latin typeface="Arial" panose="020B0604020202020204" pitchFamily="34" charset="0"/>
                <a:ea typeface="+mn-ea"/>
                <a:cs typeface="+mn-cs"/>
              </a:rPr>
              <a:t>NFS</a:t>
            </a:r>
          </a:p>
        </p:txBody>
      </p:sp>
      <p:grpSp>
        <p:nvGrpSpPr>
          <p:cNvPr id="3" name="Group 2" descr="checkmark">
            <a:extLst>
              <a:ext uri="{FF2B5EF4-FFF2-40B4-BE49-F238E27FC236}">
                <a16:creationId xmlns:a16="http://schemas.microsoft.com/office/drawing/2014/main" id="{313EF887-8878-CC85-EFA0-C423E0248FD4}"/>
              </a:ext>
            </a:extLst>
          </p:cNvPr>
          <p:cNvGrpSpPr/>
          <p:nvPr/>
        </p:nvGrpSpPr>
        <p:grpSpPr>
          <a:xfrm>
            <a:off x="6632890" y="4465525"/>
            <a:ext cx="309482" cy="309482"/>
            <a:chOff x="4733925" y="1390650"/>
            <a:chExt cx="309563" cy="309563"/>
          </a:xfrm>
          <a:solidFill>
            <a:schemeClr val="accent3"/>
          </a:solidFill>
        </p:grpSpPr>
        <p:sp>
          <p:nvSpPr>
            <p:cNvPr id="18" name="Oval 17">
              <a:extLst>
                <a:ext uri="{FF2B5EF4-FFF2-40B4-BE49-F238E27FC236}">
                  <a16:creationId xmlns:a16="http://schemas.microsoft.com/office/drawing/2014/main" id="{6734052C-78AF-9266-41C6-23872FBBD542}"/>
                </a:ext>
              </a:extLst>
            </p:cNvPr>
            <p:cNvSpPr/>
            <p:nvPr/>
          </p:nvSpPr>
          <p:spPr>
            <a:xfrm>
              <a:off x="4733925" y="1390650"/>
              <a:ext cx="309563" cy="30956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44" tIns="45672" rIns="91344" bIns="45672" numCol="1" spcCol="0" rtlCol="0" fromWordArt="0" anchor="ctr" anchorCtr="0" forceAA="0" compatLnSpc="1">
              <a:prstTxWarp prst="textNoShape">
                <a:avLst/>
              </a:prstTxWarp>
              <a:no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8" name="Freeform 5">
              <a:extLst>
                <a:ext uri="{FF2B5EF4-FFF2-40B4-BE49-F238E27FC236}">
                  <a16:creationId xmlns:a16="http://schemas.microsoft.com/office/drawing/2014/main" id="{40E12545-DD1A-36E2-9B65-7E78BF02C672}"/>
                </a:ext>
              </a:extLst>
            </p:cNvPr>
            <p:cNvSpPr>
              <a:spLocks noChangeAspect="1"/>
            </p:cNvSpPr>
            <p:nvPr/>
          </p:nvSpPr>
          <p:spPr bwMode="gray">
            <a:xfrm rot="10800000">
              <a:off x="4793681" y="1480356"/>
              <a:ext cx="178368" cy="118598"/>
            </a:xfrm>
            <a:custGeom>
              <a:avLst/>
              <a:gdLst>
                <a:gd name="T0" fmla="*/ 0 w 78"/>
                <a:gd name="T1" fmla="*/ 40 h 40"/>
                <a:gd name="T2" fmla="*/ 39 w 78"/>
                <a:gd name="T3" fmla="*/ 0 h 40"/>
                <a:gd name="T4" fmla="*/ 78 w 78"/>
                <a:gd name="T5" fmla="*/ 40 h 40"/>
                <a:gd name="connsiteX0" fmla="*/ 0 w 16875"/>
                <a:gd name="connsiteY0" fmla="*/ 22575 h 22575"/>
                <a:gd name="connsiteX1" fmla="*/ 11875 w 16875"/>
                <a:gd name="connsiteY1" fmla="*/ 0 h 22575"/>
                <a:gd name="connsiteX2" fmla="*/ 16875 w 16875"/>
                <a:gd name="connsiteY2" fmla="*/ 10000 h 22575"/>
              </a:gdLst>
              <a:ahLst/>
              <a:cxnLst>
                <a:cxn ang="0">
                  <a:pos x="connsiteX0" y="connsiteY0"/>
                </a:cxn>
                <a:cxn ang="0">
                  <a:pos x="connsiteX1" y="connsiteY1"/>
                </a:cxn>
                <a:cxn ang="0">
                  <a:pos x="connsiteX2" y="connsiteY2"/>
                </a:cxn>
              </a:cxnLst>
              <a:rect l="l" t="t" r="r" b="b"/>
              <a:pathLst>
                <a:path w="16875" h="22575">
                  <a:moveTo>
                    <a:pt x="0" y="22575"/>
                  </a:moveTo>
                  <a:lnTo>
                    <a:pt x="11875" y="0"/>
                  </a:lnTo>
                  <a:lnTo>
                    <a:pt x="16875" y="10000"/>
                  </a:lnTo>
                </a:path>
              </a:pathLst>
            </a:custGeom>
            <a:noFill/>
            <a:ln w="25400" cap="flat">
              <a:solidFill>
                <a:schemeClr val="bg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vert="horz" wrap="square" lIns="91392" tIns="45696" rIns="91392" bIns="45696" numCol="1" anchor="t" anchorCtr="0" compatLnSpc="1">
              <a:prstTxWarp prst="textNoShape">
                <a:avLst/>
              </a:prstTxWarp>
            </a:bodyPr>
            <a:lstStyle/>
            <a:p>
              <a:pPr marL="342797" marR="0" lvl="0" indent="-342797" algn="l" defTabSz="914400" rtl="0" eaLnBrk="1" fontAlgn="auto" latinLnBrk="0" hangingPunct="1">
                <a:lnSpc>
                  <a:spcPct val="100000"/>
                </a:lnSpc>
                <a:spcBef>
                  <a:spcPts val="0"/>
                </a:spcBef>
                <a:spcAft>
                  <a:spcPts val="0"/>
                </a:spcAft>
                <a:buClrTx/>
                <a:buSzTx/>
                <a:buFont typeface="+mj-lt"/>
                <a:buChar char="•"/>
                <a:tabLst/>
                <a:defRPr/>
              </a:pPr>
              <a:endParaRPr kumimoji="0" lang="en-US" sz="1798" b="0" i="0" u="none" strike="noStrike" kern="0" cap="none" spc="0" normalizeH="0" baseline="0" noProof="0" dirty="0">
                <a:ln>
                  <a:noFill/>
                </a:ln>
                <a:solidFill>
                  <a:srgbClr val="717074"/>
                </a:solidFill>
                <a:effectLst/>
                <a:uLnTx/>
                <a:uFillTx/>
                <a:latin typeface="Arial" panose="020B0604020202020204" pitchFamily="34" charset="0"/>
                <a:ea typeface="+mn-ea"/>
                <a:cs typeface="+mn-cs"/>
              </a:endParaRPr>
            </a:p>
          </p:txBody>
        </p:sp>
      </p:grpSp>
    </p:spTree>
    <p:extLst>
      <p:ext uri="{BB962C8B-B14F-4D97-AF65-F5344CB8AC3E}">
        <p14:creationId xmlns:p14="http://schemas.microsoft.com/office/powerpoint/2010/main" val="459628388"/>
      </p:ext>
    </p:extLst>
  </p:cSld>
  <p:clrMapOvr>
    <a:masterClrMapping/>
  </p:clrMapOvr>
  <p:transition spd="med">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 name="Rectangle 261">
            <a:extLst>
              <a:ext uri="{FF2B5EF4-FFF2-40B4-BE49-F238E27FC236}">
                <a16:creationId xmlns:a16="http://schemas.microsoft.com/office/drawing/2014/main" id="{0A5FCAF3-C7B0-A295-3FEE-592ED624F4E5}"/>
              </a:ext>
            </a:extLst>
          </p:cNvPr>
          <p:cNvSpPr/>
          <p:nvPr/>
        </p:nvSpPr>
        <p:spPr>
          <a:xfrm>
            <a:off x="6385805" y="1615059"/>
            <a:ext cx="5196846" cy="1121671"/>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1" name="Rectangle 260">
            <a:extLst>
              <a:ext uri="{FF2B5EF4-FFF2-40B4-BE49-F238E27FC236}">
                <a16:creationId xmlns:a16="http://schemas.microsoft.com/office/drawing/2014/main" id="{113B6666-0EFA-1FF4-3583-D9F47DD576AB}"/>
              </a:ext>
            </a:extLst>
          </p:cNvPr>
          <p:cNvSpPr/>
          <p:nvPr/>
        </p:nvSpPr>
        <p:spPr>
          <a:xfrm>
            <a:off x="599521" y="1615059"/>
            <a:ext cx="5196846" cy="1121671"/>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 name="Rectangle 113">
            <a:extLst>
              <a:ext uri="{FF2B5EF4-FFF2-40B4-BE49-F238E27FC236}">
                <a16:creationId xmlns:a16="http://schemas.microsoft.com/office/drawing/2014/main" id="{6F5FCC12-4260-6604-71B6-3668B256D3BE}"/>
              </a:ext>
            </a:extLst>
          </p:cNvPr>
          <p:cNvSpPr>
            <a:spLocks/>
          </p:cNvSpPr>
          <p:nvPr/>
        </p:nvSpPr>
        <p:spPr>
          <a:xfrm>
            <a:off x="6385805" y="2736732"/>
            <a:ext cx="5203500" cy="3450325"/>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 name="Rectangle 112">
            <a:extLst>
              <a:ext uri="{FF2B5EF4-FFF2-40B4-BE49-F238E27FC236}">
                <a16:creationId xmlns:a16="http://schemas.microsoft.com/office/drawing/2014/main" id="{E2A3C5F4-5313-F978-DD06-0618D313B928}"/>
              </a:ext>
            </a:extLst>
          </p:cNvPr>
          <p:cNvSpPr>
            <a:spLocks/>
          </p:cNvSpPr>
          <p:nvPr/>
        </p:nvSpPr>
        <p:spPr>
          <a:xfrm>
            <a:off x="592867" y="2736733"/>
            <a:ext cx="5203500" cy="3450324"/>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 name="Title 1">
            <a:extLst>
              <a:ext uri="{FF2B5EF4-FFF2-40B4-BE49-F238E27FC236}">
                <a16:creationId xmlns:a16="http://schemas.microsoft.com/office/drawing/2014/main" id="{B7C49A9E-49C0-5A14-EBD1-35ED9C364F38}"/>
              </a:ext>
            </a:extLst>
          </p:cNvPr>
          <p:cNvSpPr>
            <a:spLocks noGrp="1"/>
          </p:cNvSpPr>
          <p:nvPr>
            <p:ph type="title"/>
          </p:nvPr>
        </p:nvSpPr>
        <p:spPr/>
        <p:txBody>
          <a:bodyPr/>
          <a:lstStyle/>
          <a:p>
            <a:r>
              <a:rPr lang="en-US" dirty="0"/>
              <a:t>Evolving your Platform for the Demands of Today and Tomorrow</a:t>
            </a:r>
          </a:p>
        </p:txBody>
      </p:sp>
      <p:sp>
        <p:nvSpPr>
          <p:cNvPr id="3" name="Subtitle 2">
            <a:extLst>
              <a:ext uri="{FF2B5EF4-FFF2-40B4-BE49-F238E27FC236}">
                <a16:creationId xmlns:a16="http://schemas.microsoft.com/office/drawing/2014/main" id="{98F0458E-FEF5-5122-C3E1-42D2DFBBB491}"/>
              </a:ext>
            </a:extLst>
          </p:cNvPr>
          <p:cNvSpPr>
            <a:spLocks noGrp="1"/>
          </p:cNvSpPr>
          <p:nvPr>
            <p:ph type="subTitle" idx="10"/>
          </p:nvPr>
        </p:nvSpPr>
        <p:spPr/>
        <p:txBody>
          <a:bodyPr/>
          <a:lstStyle/>
          <a:p>
            <a:r>
              <a:rPr lang="en-US" dirty="0"/>
              <a:t>Remove hardware dependencies, decrease TCO, increase agility</a:t>
            </a:r>
          </a:p>
          <a:p>
            <a:endParaRPr lang="en-US" dirty="0"/>
          </a:p>
        </p:txBody>
      </p:sp>
      <p:sp>
        <p:nvSpPr>
          <p:cNvPr id="44" name="Graphic 4">
            <a:extLst>
              <a:ext uri="{FF2B5EF4-FFF2-40B4-BE49-F238E27FC236}">
                <a16:creationId xmlns:a16="http://schemas.microsoft.com/office/drawing/2014/main" id="{A0F7F661-97BD-36EA-8CEE-51AF824B756E}"/>
              </a:ext>
            </a:extLst>
          </p:cNvPr>
          <p:cNvSpPr/>
          <p:nvPr/>
        </p:nvSpPr>
        <p:spPr>
          <a:xfrm>
            <a:off x="6565994" y="1863045"/>
            <a:ext cx="451902" cy="559079"/>
          </a:xfrm>
          <a:custGeom>
            <a:avLst/>
            <a:gdLst>
              <a:gd name="connsiteX0" fmla="*/ 590074 w 948213"/>
              <a:gd name="connsiteY0" fmla="*/ 30956 h 1173099"/>
              <a:gd name="connsiteX1" fmla="*/ 593217 w 948213"/>
              <a:gd name="connsiteY1" fmla="*/ 30956 h 1173099"/>
              <a:gd name="connsiteX2" fmla="*/ 713899 w 948213"/>
              <a:gd name="connsiteY2" fmla="*/ 142113 h 1173099"/>
              <a:gd name="connsiteX3" fmla="*/ 716471 w 948213"/>
              <a:gd name="connsiteY3" fmla="*/ 167640 h 1173099"/>
              <a:gd name="connsiteX4" fmla="*/ 741998 w 948213"/>
              <a:gd name="connsiteY4" fmla="*/ 169831 h 1173099"/>
              <a:gd name="connsiteX5" fmla="*/ 813054 w 948213"/>
              <a:gd name="connsiteY5" fmla="*/ 255746 h 1173099"/>
              <a:gd name="connsiteX6" fmla="*/ 734663 w 948213"/>
              <a:gd name="connsiteY6" fmla="*/ 338519 h 1173099"/>
              <a:gd name="connsiteX7" fmla="*/ 732758 w 948213"/>
              <a:gd name="connsiteY7" fmla="*/ 338519 h 1173099"/>
              <a:gd name="connsiteX8" fmla="*/ 720090 w 948213"/>
              <a:gd name="connsiteY8" fmla="*/ 338519 h 1173099"/>
              <a:gd name="connsiteX9" fmla="*/ 485775 w 948213"/>
              <a:gd name="connsiteY9" fmla="*/ 339185 h 1173099"/>
              <a:gd name="connsiteX10" fmla="*/ 249650 w 948213"/>
              <a:gd name="connsiteY10" fmla="*/ 339852 h 1173099"/>
              <a:gd name="connsiteX11" fmla="*/ 238125 w 948213"/>
              <a:gd name="connsiteY11" fmla="*/ 339852 h 1173099"/>
              <a:gd name="connsiteX12" fmla="*/ 177356 w 948213"/>
              <a:gd name="connsiteY12" fmla="*/ 312230 h 1173099"/>
              <a:gd name="connsiteX13" fmla="*/ 158591 w 948213"/>
              <a:gd name="connsiteY13" fmla="*/ 269177 h 1173099"/>
              <a:gd name="connsiteX14" fmla="*/ 232601 w 948213"/>
              <a:gd name="connsiteY14" fmla="*/ 206026 h 1173099"/>
              <a:gd name="connsiteX15" fmla="*/ 234601 w 948213"/>
              <a:gd name="connsiteY15" fmla="*/ 206026 h 1173099"/>
              <a:gd name="connsiteX16" fmla="*/ 253556 w 948213"/>
              <a:gd name="connsiteY16" fmla="*/ 208407 h 1173099"/>
              <a:gd name="connsiteX17" fmla="*/ 283940 w 948213"/>
              <a:gd name="connsiteY17" fmla="*/ 216027 h 1173099"/>
              <a:gd name="connsiteX18" fmla="*/ 291179 w 948213"/>
              <a:gd name="connsiteY18" fmla="*/ 185452 h 1173099"/>
              <a:gd name="connsiteX19" fmla="*/ 390049 w 948213"/>
              <a:gd name="connsiteY19" fmla="*/ 113919 h 1173099"/>
              <a:gd name="connsiteX20" fmla="*/ 392525 w 948213"/>
              <a:gd name="connsiteY20" fmla="*/ 113919 h 1173099"/>
              <a:gd name="connsiteX21" fmla="*/ 434340 w 948213"/>
              <a:gd name="connsiteY21" fmla="*/ 122873 h 1173099"/>
              <a:gd name="connsiteX22" fmla="*/ 462915 w 948213"/>
              <a:gd name="connsiteY22" fmla="*/ 135446 h 1173099"/>
              <a:gd name="connsiteX23" fmla="*/ 475202 w 948213"/>
              <a:gd name="connsiteY23" fmla="*/ 106680 h 1173099"/>
              <a:gd name="connsiteX24" fmla="*/ 590074 w 948213"/>
              <a:gd name="connsiteY24" fmla="*/ 30956 h 1173099"/>
              <a:gd name="connsiteX25" fmla="*/ 590074 w 948213"/>
              <a:gd name="connsiteY25" fmla="*/ 0 h 1173099"/>
              <a:gd name="connsiteX26" fmla="*/ 446723 w 948213"/>
              <a:gd name="connsiteY26" fmla="*/ 94678 h 1173099"/>
              <a:gd name="connsiteX27" fmla="*/ 393192 w 948213"/>
              <a:gd name="connsiteY27" fmla="*/ 83058 h 1173099"/>
              <a:gd name="connsiteX28" fmla="*/ 389954 w 948213"/>
              <a:gd name="connsiteY28" fmla="*/ 83058 h 1173099"/>
              <a:gd name="connsiteX29" fmla="*/ 260985 w 948213"/>
              <a:gd name="connsiteY29" fmla="*/ 178403 h 1173099"/>
              <a:gd name="connsiteX30" fmla="*/ 235077 w 948213"/>
              <a:gd name="connsiteY30" fmla="*/ 175069 h 1173099"/>
              <a:gd name="connsiteX31" fmla="*/ 232505 w 948213"/>
              <a:gd name="connsiteY31" fmla="*/ 175069 h 1173099"/>
              <a:gd name="connsiteX32" fmla="*/ 127540 w 948213"/>
              <a:gd name="connsiteY32" fmla="*/ 268319 h 1173099"/>
              <a:gd name="connsiteX33" fmla="*/ 237173 w 948213"/>
              <a:gd name="connsiteY33" fmla="*/ 370713 h 1173099"/>
              <a:gd name="connsiteX34" fmla="*/ 249555 w 948213"/>
              <a:gd name="connsiteY34" fmla="*/ 370713 h 1173099"/>
              <a:gd name="connsiteX35" fmla="*/ 720090 w 948213"/>
              <a:gd name="connsiteY35" fmla="*/ 369380 h 1173099"/>
              <a:gd name="connsiteX36" fmla="*/ 732187 w 948213"/>
              <a:gd name="connsiteY36" fmla="*/ 369380 h 1173099"/>
              <a:gd name="connsiteX37" fmla="*/ 734663 w 948213"/>
              <a:gd name="connsiteY37" fmla="*/ 369380 h 1173099"/>
              <a:gd name="connsiteX38" fmla="*/ 844010 w 948213"/>
              <a:gd name="connsiteY38" fmla="*/ 256413 h 1173099"/>
              <a:gd name="connsiteX39" fmla="*/ 744665 w 948213"/>
              <a:gd name="connsiteY39" fmla="*/ 138875 h 1173099"/>
              <a:gd name="connsiteX40" fmla="*/ 593884 w 948213"/>
              <a:gd name="connsiteY40" fmla="*/ 0 h 1173099"/>
              <a:gd name="connsiteX41" fmla="*/ 590074 w 948213"/>
              <a:gd name="connsiteY41" fmla="*/ 0 h 1173099"/>
              <a:gd name="connsiteX42" fmla="*/ 590074 w 948213"/>
              <a:gd name="connsiteY42" fmla="*/ 0 h 1173099"/>
              <a:gd name="connsiteX43" fmla="*/ 615982 w 948213"/>
              <a:gd name="connsiteY43" fmla="*/ 673418 h 1173099"/>
              <a:gd name="connsiteX44" fmla="*/ 615982 w 948213"/>
              <a:gd name="connsiteY44" fmla="*/ 1142143 h 1173099"/>
              <a:gd name="connsiteX45" fmla="*/ 330327 w 948213"/>
              <a:gd name="connsiteY45" fmla="*/ 1142143 h 1173099"/>
              <a:gd name="connsiteX46" fmla="*/ 330327 w 948213"/>
              <a:gd name="connsiteY46" fmla="*/ 673418 h 1173099"/>
              <a:gd name="connsiteX47" fmla="*/ 615982 w 948213"/>
              <a:gd name="connsiteY47" fmla="*/ 673418 h 1173099"/>
              <a:gd name="connsiteX48" fmla="*/ 646938 w 948213"/>
              <a:gd name="connsiteY48" fmla="*/ 642461 h 1173099"/>
              <a:gd name="connsiteX49" fmla="*/ 299371 w 948213"/>
              <a:gd name="connsiteY49" fmla="*/ 642461 h 1173099"/>
              <a:gd name="connsiteX50" fmla="*/ 299371 w 948213"/>
              <a:gd name="connsiteY50" fmla="*/ 1173099 h 1173099"/>
              <a:gd name="connsiteX51" fmla="*/ 646938 w 948213"/>
              <a:gd name="connsiteY51" fmla="*/ 1173099 h 1173099"/>
              <a:gd name="connsiteX52" fmla="*/ 646938 w 948213"/>
              <a:gd name="connsiteY52" fmla="*/ 642461 h 1173099"/>
              <a:gd name="connsiteX53" fmla="*/ 646938 w 948213"/>
              <a:gd name="connsiteY53" fmla="*/ 642461 h 1173099"/>
              <a:gd name="connsiteX54" fmla="*/ 948214 w 948213"/>
              <a:gd name="connsiteY54" fmla="*/ 663702 h 1173099"/>
              <a:gd name="connsiteX55" fmla="*/ 696849 w 948213"/>
              <a:gd name="connsiteY55" fmla="*/ 663702 h 1173099"/>
              <a:gd name="connsiteX56" fmla="*/ 696849 w 948213"/>
              <a:gd name="connsiteY56" fmla="*/ 694658 h 1173099"/>
              <a:gd name="connsiteX57" fmla="*/ 917258 w 948213"/>
              <a:gd name="connsiteY57" fmla="*/ 694658 h 1173099"/>
              <a:gd name="connsiteX58" fmla="*/ 917258 w 948213"/>
              <a:gd name="connsiteY58" fmla="*/ 1121950 h 1173099"/>
              <a:gd name="connsiteX59" fmla="*/ 696849 w 948213"/>
              <a:gd name="connsiteY59" fmla="*/ 1121950 h 1173099"/>
              <a:gd name="connsiteX60" fmla="*/ 696849 w 948213"/>
              <a:gd name="connsiteY60" fmla="*/ 1152906 h 1173099"/>
              <a:gd name="connsiteX61" fmla="*/ 948214 w 948213"/>
              <a:gd name="connsiteY61" fmla="*/ 1152906 h 1173099"/>
              <a:gd name="connsiteX62" fmla="*/ 948214 w 948213"/>
              <a:gd name="connsiteY62" fmla="*/ 663702 h 1173099"/>
              <a:gd name="connsiteX63" fmla="*/ 572453 w 948213"/>
              <a:gd name="connsiteY63" fmla="*/ 1026224 h 1173099"/>
              <a:gd name="connsiteX64" fmla="*/ 373856 w 948213"/>
              <a:gd name="connsiteY64" fmla="*/ 1026224 h 1173099"/>
              <a:gd name="connsiteX65" fmla="*/ 373856 w 948213"/>
              <a:gd name="connsiteY65" fmla="*/ 1057180 h 1173099"/>
              <a:gd name="connsiteX66" fmla="*/ 572453 w 948213"/>
              <a:gd name="connsiteY66" fmla="*/ 1057180 h 1173099"/>
              <a:gd name="connsiteX67" fmla="*/ 572453 w 948213"/>
              <a:gd name="connsiteY67" fmla="*/ 1026224 h 1173099"/>
              <a:gd name="connsiteX68" fmla="*/ 572453 w 948213"/>
              <a:gd name="connsiteY68" fmla="*/ 928211 h 1173099"/>
              <a:gd name="connsiteX69" fmla="*/ 373856 w 948213"/>
              <a:gd name="connsiteY69" fmla="*/ 928211 h 1173099"/>
              <a:gd name="connsiteX70" fmla="*/ 373856 w 948213"/>
              <a:gd name="connsiteY70" fmla="*/ 959168 h 1173099"/>
              <a:gd name="connsiteX71" fmla="*/ 572453 w 948213"/>
              <a:gd name="connsiteY71" fmla="*/ 959168 h 1173099"/>
              <a:gd name="connsiteX72" fmla="*/ 572453 w 948213"/>
              <a:gd name="connsiteY72" fmla="*/ 928211 h 1173099"/>
              <a:gd name="connsiteX73" fmla="*/ 572453 w 948213"/>
              <a:gd name="connsiteY73" fmla="*/ 832961 h 1173099"/>
              <a:gd name="connsiteX74" fmla="*/ 373856 w 948213"/>
              <a:gd name="connsiteY74" fmla="*/ 832961 h 1173099"/>
              <a:gd name="connsiteX75" fmla="*/ 373856 w 948213"/>
              <a:gd name="connsiteY75" fmla="*/ 863918 h 1173099"/>
              <a:gd name="connsiteX76" fmla="*/ 572453 w 948213"/>
              <a:gd name="connsiteY76" fmla="*/ 863918 h 1173099"/>
              <a:gd name="connsiteX77" fmla="*/ 572453 w 948213"/>
              <a:gd name="connsiteY77" fmla="*/ 832961 h 1173099"/>
              <a:gd name="connsiteX78" fmla="*/ 572453 w 948213"/>
              <a:gd name="connsiteY78" fmla="*/ 737426 h 1173099"/>
              <a:gd name="connsiteX79" fmla="*/ 373856 w 948213"/>
              <a:gd name="connsiteY79" fmla="*/ 737426 h 1173099"/>
              <a:gd name="connsiteX80" fmla="*/ 373856 w 948213"/>
              <a:gd name="connsiteY80" fmla="*/ 768382 h 1173099"/>
              <a:gd name="connsiteX81" fmla="*/ 572453 w 948213"/>
              <a:gd name="connsiteY81" fmla="*/ 768382 h 1173099"/>
              <a:gd name="connsiteX82" fmla="*/ 572453 w 948213"/>
              <a:gd name="connsiteY82" fmla="*/ 737426 h 1173099"/>
              <a:gd name="connsiteX83" fmla="*/ 250031 w 948213"/>
              <a:gd name="connsiteY83" fmla="*/ 1049369 h 1173099"/>
              <a:gd name="connsiteX84" fmla="*/ 76200 w 948213"/>
              <a:gd name="connsiteY84" fmla="*/ 1049369 h 1173099"/>
              <a:gd name="connsiteX85" fmla="*/ 76200 w 948213"/>
              <a:gd name="connsiteY85" fmla="*/ 1080326 h 1173099"/>
              <a:gd name="connsiteX86" fmla="*/ 250031 w 948213"/>
              <a:gd name="connsiteY86" fmla="*/ 1080326 h 1173099"/>
              <a:gd name="connsiteX87" fmla="*/ 250031 w 948213"/>
              <a:gd name="connsiteY87" fmla="*/ 1049369 h 1173099"/>
              <a:gd name="connsiteX88" fmla="*/ 250031 w 948213"/>
              <a:gd name="connsiteY88" fmla="*/ 951452 h 1173099"/>
              <a:gd name="connsiteX89" fmla="*/ 76200 w 948213"/>
              <a:gd name="connsiteY89" fmla="*/ 951452 h 1173099"/>
              <a:gd name="connsiteX90" fmla="*/ 76200 w 948213"/>
              <a:gd name="connsiteY90" fmla="*/ 982409 h 1173099"/>
              <a:gd name="connsiteX91" fmla="*/ 250031 w 948213"/>
              <a:gd name="connsiteY91" fmla="*/ 982409 h 1173099"/>
              <a:gd name="connsiteX92" fmla="*/ 250031 w 948213"/>
              <a:gd name="connsiteY92" fmla="*/ 951452 h 1173099"/>
              <a:gd name="connsiteX93" fmla="*/ 250031 w 948213"/>
              <a:gd name="connsiteY93" fmla="*/ 856107 h 1173099"/>
              <a:gd name="connsiteX94" fmla="*/ 76200 w 948213"/>
              <a:gd name="connsiteY94" fmla="*/ 856107 h 1173099"/>
              <a:gd name="connsiteX95" fmla="*/ 76200 w 948213"/>
              <a:gd name="connsiteY95" fmla="*/ 887063 h 1173099"/>
              <a:gd name="connsiteX96" fmla="*/ 250031 w 948213"/>
              <a:gd name="connsiteY96" fmla="*/ 887063 h 1173099"/>
              <a:gd name="connsiteX97" fmla="*/ 250031 w 948213"/>
              <a:gd name="connsiteY97" fmla="*/ 856107 h 1173099"/>
              <a:gd name="connsiteX98" fmla="*/ 250031 w 948213"/>
              <a:gd name="connsiteY98" fmla="*/ 760571 h 1173099"/>
              <a:gd name="connsiteX99" fmla="*/ 76200 w 948213"/>
              <a:gd name="connsiteY99" fmla="*/ 760571 h 1173099"/>
              <a:gd name="connsiteX100" fmla="*/ 76200 w 948213"/>
              <a:gd name="connsiteY100" fmla="*/ 791528 h 1173099"/>
              <a:gd name="connsiteX101" fmla="*/ 250031 w 948213"/>
              <a:gd name="connsiteY101" fmla="*/ 791528 h 1173099"/>
              <a:gd name="connsiteX102" fmla="*/ 250031 w 948213"/>
              <a:gd name="connsiteY102" fmla="*/ 760571 h 1173099"/>
              <a:gd name="connsiteX103" fmla="*/ 871252 w 948213"/>
              <a:gd name="connsiteY103" fmla="*/ 1049369 h 1173099"/>
              <a:gd name="connsiteX104" fmla="*/ 697421 w 948213"/>
              <a:gd name="connsiteY104" fmla="*/ 1049369 h 1173099"/>
              <a:gd name="connsiteX105" fmla="*/ 697421 w 948213"/>
              <a:gd name="connsiteY105" fmla="*/ 1080326 h 1173099"/>
              <a:gd name="connsiteX106" fmla="*/ 871252 w 948213"/>
              <a:gd name="connsiteY106" fmla="*/ 1080326 h 1173099"/>
              <a:gd name="connsiteX107" fmla="*/ 871252 w 948213"/>
              <a:gd name="connsiteY107" fmla="*/ 1049369 h 1173099"/>
              <a:gd name="connsiteX108" fmla="*/ 871252 w 948213"/>
              <a:gd name="connsiteY108" fmla="*/ 951452 h 1173099"/>
              <a:gd name="connsiteX109" fmla="*/ 697421 w 948213"/>
              <a:gd name="connsiteY109" fmla="*/ 951452 h 1173099"/>
              <a:gd name="connsiteX110" fmla="*/ 697421 w 948213"/>
              <a:gd name="connsiteY110" fmla="*/ 982409 h 1173099"/>
              <a:gd name="connsiteX111" fmla="*/ 871252 w 948213"/>
              <a:gd name="connsiteY111" fmla="*/ 982409 h 1173099"/>
              <a:gd name="connsiteX112" fmla="*/ 871252 w 948213"/>
              <a:gd name="connsiteY112" fmla="*/ 951452 h 1173099"/>
              <a:gd name="connsiteX113" fmla="*/ 871252 w 948213"/>
              <a:gd name="connsiteY113" fmla="*/ 856107 h 1173099"/>
              <a:gd name="connsiteX114" fmla="*/ 697421 w 948213"/>
              <a:gd name="connsiteY114" fmla="*/ 856107 h 1173099"/>
              <a:gd name="connsiteX115" fmla="*/ 697421 w 948213"/>
              <a:gd name="connsiteY115" fmla="*/ 887063 h 1173099"/>
              <a:gd name="connsiteX116" fmla="*/ 871252 w 948213"/>
              <a:gd name="connsiteY116" fmla="*/ 887063 h 1173099"/>
              <a:gd name="connsiteX117" fmla="*/ 871252 w 948213"/>
              <a:gd name="connsiteY117" fmla="*/ 856107 h 1173099"/>
              <a:gd name="connsiteX118" fmla="*/ 871252 w 948213"/>
              <a:gd name="connsiteY118" fmla="*/ 760571 h 1173099"/>
              <a:gd name="connsiteX119" fmla="*/ 697421 w 948213"/>
              <a:gd name="connsiteY119" fmla="*/ 760571 h 1173099"/>
              <a:gd name="connsiteX120" fmla="*/ 697421 w 948213"/>
              <a:gd name="connsiteY120" fmla="*/ 791528 h 1173099"/>
              <a:gd name="connsiteX121" fmla="*/ 871252 w 948213"/>
              <a:gd name="connsiteY121" fmla="*/ 791528 h 1173099"/>
              <a:gd name="connsiteX122" fmla="*/ 871252 w 948213"/>
              <a:gd name="connsiteY122" fmla="*/ 760571 h 1173099"/>
              <a:gd name="connsiteX123" fmla="*/ 251365 w 948213"/>
              <a:gd name="connsiteY123" fmla="*/ 1122045 h 1173099"/>
              <a:gd name="connsiteX124" fmla="*/ 30956 w 948213"/>
              <a:gd name="connsiteY124" fmla="*/ 1122045 h 1173099"/>
              <a:gd name="connsiteX125" fmla="*/ 30956 w 948213"/>
              <a:gd name="connsiteY125" fmla="*/ 694658 h 1173099"/>
              <a:gd name="connsiteX126" fmla="*/ 251365 w 948213"/>
              <a:gd name="connsiteY126" fmla="*/ 694658 h 1173099"/>
              <a:gd name="connsiteX127" fmla="*/ 251365 w 948213"/>
              <a:gd name="connsiteY127" fmla="*/ 663702 h 1173099"/>
              <a:gd name="connsiteX128" fmla="*/ 0 w 948213"/>
              <a:gd name="connsiteY128" fmla="*/ 663702 h 1173099"/>
              <a:gd name="connsiteX129" fmla="*/ 0 w 948213"/>
              <a:gd name="connsiteY129" fmla="*/ 1152906 h 1173099"/>
              <a:gd name="connsiteX130" fmla="*/ 251365 w 948213"/>
              <a:gd name="connsiteY130" fmla="*/ 1152906 h 1173099"/>
              <a:gd name="connsiteX131" fmla="*/ 251365 w 948213"/>
              <a:gd name="connsiteY131" fmla="*/ 1122045 h 1173099"/>
              <a:gd name="connsiteX132" fmla="*/ 758857 w 948213"/>
              <a:gd name="connsiteY132" fmla="*/ 464153 h 1173099"/>
              <a:gd name="connsiteX133" fmla="*/ 688181 w 948213"/>
              <a:gd name="connsiteY133" fmla="*/ 386620 h 1173099"/>
              <a:gd name="connsiteX134" fmla="*/ 674942 w 948213"/>
              <a:gd name="connsiteY134" fmla="*/ 414623 h 1173099"/>
              <a:gd name="connsiteX135" fmla="*/ 729425 w 948213"/>
              <a:gd name="connsiteY135" fmla="*/ 473583 h 1173099"/>
              <a:gd name="connsiteX136" fmla="*/ 718090 w 948213"/>
              <a:gd name="connsiteY136" fmla="*/ 557594 h 1173099"/>
              <a:gd name="connsiteX137" fmla="*/ 745046 w 948213"/>
              <a:gd name="connsiteY137" fmla="*/ 572834 h 1173099"/>
              <a:gd name="connsiteX138" fmla="*/ 758857 w 948213"/>
              <a:gd name="connsiteY138" fmla="*/ 464153 h 1173099"/>
              <a:gd name="connsiteX139" fmla="*/ 704183 w 948213"/>
              <a:gd name="connsiteY139" fmla="*/ 527114 h 1173099"/>
              <a:gd name="connsiteX140" fmla="*/ 691134 w 948213"/>
              <a:gd name="connsiteY140" fmla="*/ 612553 h 1173099"/>
              <a:gd name="connsiteX141" fmla="*/ 771620 w 948213"/>
              <a:gd name="connsiteY141" fmla="*/ 581120 h 1173099"/>
              <a:gd name="connsiteX142" fmla="*/ 704183 w 948213"/>
              <a:gd name="connsiteY142" fmla="*/ 527114 h 1173099"/>
              <a:gd name="connsiteX143" fmla="*/ 276416 w 948213"/>
              <a:gd name="connsiteY143" fmla="*/ 591598 h 1173099"/>
              <a:gd name="connsiteX144" fmla="*/ 229934 w 948213"/>
              <a:gd name="connsiteY144" fmla="*/ 526161 h 1173099"/>
              <a:gd name="connsiteX145" fmla="*/ 251936 w 948213"/>
              <a:gd name="connsiteY145" fmla="*/ 444246 h 1173099"/>
              <a:gd name="connsiteX146" fmla="*/ 227171 w 948213"/>
              <a:gd name="connsiteY146" fmla="*/ 425672 h 1173099"/>
              <a:gd name="connsiteX147" fmla="*/ 199549 w 948213"/>
              <a:gd name="connsiteY147" fmla="*/ 531590 h 1173099"/>
              <a:gd name="connsiteX148" fmla="*/ 259747 w 948213"/>
              <a:gd name="connsiteY148" fmla="*/ 617601 h 1173099"/>
              <a:gd name="connsiteX149" fmla="*/ 276416 w 948213"/>
              <a:gd name="connsiteY149" fmla="*/ 591598 h 1173099"/>
              <a:gd name="connsiteX150" fmla="*/ 261747 w 948213"/>
              <a:gd name="connsiteY150" fmla="*/ 476250 h 1173099"/>
              <a:gd name="connsiteX151" fmla="*/ 285560 w 948213"/>
              <a:gd name="connsiteY151" fmla="*/ 393192 h 1173099"/>
              <a:gd name="connsiteX152" fmla="*/ 201644 w 948213"/>
              <a:gd name="connsiteY152" fmla="*/ 414052 h 1173099"/>
              <a:gd name="connsiteX153" fmla="*/ 261747 w 948213"/>
              <a:gd name="connsiteY153" fmla="*/ 476250 h 1173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948213" h="1173099">
                <a:moveTo>
                  <a:pt x="590074" y="30956"/>
                </a:moveTo>
                <a:cubicBezTo>
                  <a:pt x="591122" y="30956"/>
                  <a:pt x="592169" y="30956"/>
                  <a:pt x="593217" y="30956"/>
                </a:cubicBezTo>
                <a:cubicBezTo>
                  <a:pt x="655796" y="32290"/>
                  <a:pt x="707612" y="80105"/>
                  <a:pt x="713899" y="142113"/>
                </a:cubicBezTo>
                <a:lnTo>
                  <a:pt x="716471" y="167640"/>
                </a:lnTo>
                <a:lnTo>
                  <a:pt x="741998" y="169831"/>
                </a:lnTo>
                <a:cubicBezTo>
                  <a:pt x="783050" y="173355"/>
                  <a:pt x="814292" y="211074"/>
                  <a:pt x="813054" y="255746"/>
                </a:cubicBezTo>
                <a:cubicBezTo>
                  <a:pt x="811911" y="301371"/>
                  <a:pt x="776764" y="338519"/>
                  <a:pt x="734663" y="338519"/>
                </a:cubicBezTo>
                <a:lnTo>
                  <a:pt x="732758" y="338519"/>
                </a:lnTo>
                <a:cubicBezTo>
                  <a:pt x="731330" y="338519"/>
                  <a:pt x="726948" y="338519"/>
                  <a:pt x="720090" y="338519"/>
                </a:cubicBezTo>
                <a:cubicBezTo>
                  <a:pt x="685610" y="338519"/>
                  <a:pt x="585788" y="338804"/>
                  <a:pt x="485775" y="339185"/>
                </a:cubicBezTo>
                <a:cubicBezTo>
                  <a:pt x="385286" y="339471"/>
                  <a:pt x="284607" y="339852"/>
                  <a:pt x="249650" y="339852"/>
                </a:cubicBezTo>
                <a:cubicBezTo>
                  <a:pt x="243364" y="339852"/>
                  <a:pt x="239268" y="339852"/>
                  <a:pt x="238125" y="339852"/>
                </a:cubicBezTo>
                <a:cubicBezTo>
                  <a:pt x="216027" y="339281"/>
                  <a:pt x="193262" y="328994"/>
                  <a:pt x="177356" y="312230"/>
                </a:cubicBezTo>
                <a:cubicBezTo>
                  <a:pt x="164878" y="299085"/>
                  <a:pt x="158210" y="283845"/>
                  <a:pt x="158591" y="269177"/>
                </a:cubicBezTo>
                <a:cubicBezTo>
                  <a:pt x="159544" y="234410"/>
                  <a:pt x="192691" y="206026"/>
                  <a:pt x="232601" y="206026"/>
                </a:cubicBezTo>
                <a:lnTo>
                  <a:pt x="234601" y="206026"/>
                </a:lnTo>
                <a:cubicBezTo>
                  <a:pt x="241268" y="206121"/>
                  <a:pt x="247650" y="206978"/>
                  <a:pt x="253556" y="208407"/>
                </a:cubicBezTo>
                <a:lnTo>
                  <a:pt x="283940" y="216027"/>
                </a:lnTo>
                <a:lnTo>
                  <a:pt x="291179" y="185452"/>
                </a:lnTo>
                <a:cubicBezTo>
                  <a:pt x="300990" y="144018"/>
                  <a:pt x="342519" y="113919"/>
                  <a:pt x="390049" y="113919"/>
                </a:cubicBezTo>
                <a:lnTo>
                  <a:pt x="392525" y="113919"/>
                </a:lnTo>
                <a:cubicBezTo>
                  <a:pt x="407575" y="114300"/>
                  <a:pt x="421672" y="117348"/>
                  <a:pt x="434340" y="122873"/>
                </a:cubicBezTo>
                <a:lnTo>
                  <a:pt x="462915" y="135446"/>
                </a:lnTo>
                <a:lnTo>
                  <a:pt x="475202" y="106680"/>
                </a:lnTo>
                <a:cubicBezTo>
                  <a:pt x="495014" y="60770"/>
                  <a:pt x="540068" y="30956"/>
                  <a:pt x="590074" y="30956"/>
                </a:cubicBezTo>
                <a:moveTo>
                  <a:pt x="590074" y="0"/>
                </a:moveTo>
                <a:cubicBezTo>
                  <a:pt x="525971" y="0"/>
                  <a:pt x="470630" y="38957"/>
                  <a:pt x="446723" y="94678"/>
                </a:cubicBezTo>
                <a:cubicBezTo>
                  <a:pt x="430435" y="87535"/>
                  <a:pt x="412433" y="83534"/>
                  <a:pt x="393192" y="83058"/>
                </a:cubicBezTo>
                <a:cubicBezTo>
                  <a:pt x="392144" y="83058"/>
                  <a:pt x="391001" y="83058"/>
                  <a:pt x="389954" y="83058"/>
                </a:cubicBezTo>
                <a:cubicBezTo>
                  <a:pt x="326898" y="83058"/>
                  <a:pt x="273939" y="123634"/>
                  <a:pt x="260985" y="178403"/>
                </a:cubicBezTo>
                <a:cubicBezTo>
                  <a:pt x="252794" y="176308"/>
                  <a:pt x="244031" y="175260"/>
                  <a:pt x="235077" y="175069"/>
                </a:cubicBezTo>
                <a:cubicBezTo>
                  <a:pt x="234220" y="175069"/>
                  <a:pt x="233363" y="175069"/>
                  <a:pt x="232505" y="175069"/>
                </a:cubicBezTo>
                <a:cubicBezTo>
                  <a:pt x="175641" y="175069"/>
                  <a:pt x="128873" y="216408"/>
                  <a:pt x="127540" y="268319"/>
                </a:cubicBezTo>
                <a:cubicBezTo>
                  <a:pt x="126206" y="321088"/>
                  <a:pt x="179261" y="369284"/>
                  <a:pt x="237173" y="370713"/>
                </a:cubicBezTo>
                <a:cubicBezTo>
                  <a:pt x="238601" y="370713"/>
                  <a:pt x="242888" y="370713"/>
                  <a:pt x="249555" y="370713"/>
                </a:cubicBezTo>
                <a:cubicBezTo>
                  <a:pt x="319278" y="370713"/>
                  <a:pt x="651034" y="369380"/>
                  <a:pt x="720090" y="369380"/>
                </a:cubicBezTo>
                <a:cubicBezTo>
                  <a:pt x="726662" y="369380"/>
                  <a:pt x="730853" y="369380"/>
                  <a:pt x="732187" y="369380"/>
                </a:cubicBezTo>
                <a:cubicBezTo>
                  <a:pt x="733044" y="369380"/>
                  <a:pt x="733806" y="369380"/>
                  <a:pt x="734663" y="369380"/>
                </a:cubicBezTo>
                <a:cubicBezTo>
                  <a:pt x="793623" y="369380"/>
                  <a:pt x="842486" y="319088"/>
                  <a:pt x="844010" y="256413"/>
                </a:cubicBezTo>
                <a:cubicBezTo>
                  <a:pt x="845725" y="194786"/>
                  <a:pt x="801624" y="143828"/>
                  <a:pt x="744665" y="138875"/>
                </a:cubicBezTo>
                <a:cubicBezTo>
                  <a:pt x="736949" y="62294"/>
                  <a:pt x="673132" y="1810"/>
                  <a:pt x="593884" y="0"/>
                </a:cubicBezTo>
                <a:cubicBezTo>
                  <a:pt x="592646" y="0"/>
                  <a:pt x="591407" y="0"/>
                  <a:pt x="590074" y="0"/>
                </a:cubicBezTo>
                <a:lnTo>
                  <a:pt x="590074" y="0"/>
                </a:lnTo>
                <a:close/>
                <a:moveTo>
                  <a:pt x="615982" y="673418"/>
                </a:moveTo>
                <a:lnTo>
                  <a:pt x="615982" y="1142143"/>
                </a:lnTo>
                <a:lnTo>
                  <a:pt x="330327" y="1142143"/>
                </a:lnTo>
                <a:lnTo>
                  <a:pt x="330327" y="673418"/>
                </a:lnTo>
                <a:lnTo>
                  <a:pt x="615982" y="673418"/>
                </a:lnTo>
                <a:moveTo>
                  <a:pt x="646938" y="642461"/>
                </a:moveTo>
                <a:lnTo>
                  <a:pt x="299371" y="642461"/>
                </a:lnTo>
                <a:lnTo>
                  <a:pt x="299371" y="1173099"/>
                </a:lnTo>
                <a:lnTo>
                  <a:pt x="646938" y="1173099"/>
                </a:lnTo>
                <a:lnTo>
                  <a:pt x="646938" y="642461"/>
                </a:lnTo>
                <a:lnTo>
                  <a:pt x="646938" y="642461"/>
                </a:lnTo>
                <a:close/>
                <a:moveTo>
                  <a:pt x="948214" y="663702"/>
                </a:moveTo>
                <a:lnTo>
                  <a:pt x="696849" y="663702"/>
                </a:lnTo>
                <a:lnTo>
                  <a:pt x="696849" y="694658"/>
                </a:lnTo>
                <a:lnTo>
                  <a:pt x="917258" y="694658"/>
                </a:lnTo>
                <a:lnTo>
                  <a:pt x="917258" y="1121950"/>
                </a:lnTo>
                <a:lnTo>
                  <a:pt x="696849" y="1121950"/>
                </a:lnTo>
                <a:lnTo>
                  <a:pt x="696849" y="1152906"/>
                </a:lnTo>
                <a:lnTo>
                  <a:pt x="948214" y="1152906"/>
                </a:lnTo>
                <a:lnTo>
                  <a:pt x="948214" y="663702"/>
                </a:lnTo>
                <a:close/>
                <a:moveTo>
                  <a:pt x="572453" y="1026224"/>
                </a:moveTo>
                <a:lnTo>
                  <a:pt x="373856" y="1026224"/>
                </a:lnTo>
                <a:lnTo>
                  <a:pt x="373856" y="1057180"/>
                </a:lnTo>
                <a:lnTo>
                  <a:pt x="572453" y="1057180"/>
                </a:lnTo>
                <a:lnTo>
                  <a:pt x="572453" y="1026224"/>
                </a:lnTo>
                <a:close/>
                <a:moveTo>
                  <a:pt x="572453" y="928211"/>
                </a:moveTo>
                <a:lnTo>
                  <a:pt x="373856" y="928211"/>
                </a:lnTo>
                <a:lnTo>
                  <a:pt x="373856" y="959168"/>
                </a:lnTo>
                <a:lnTo>
                  <a:pt x="572453" y="959168"/>
                </a:lnTo>
                <a:lnTo>
                  <a:pt x="572453" y="928211"/>
                </a:lnTo>
                <a:close/>
                <a:moveTo>
                  <a:pt x="572453" y="832961"/>
                </a:moveTo>
                <a:lnTo>
                  <a:pt x="373856" y="832961"/>
                </a:lnTo>
                <a:lnTo>
                  <a:pt x="373856" y="863918"/>
                </a:lnTo>
                <a:lnTo>
                  <a:pt x="572453" y="863918"/>
                </a:lnTo>
                <a:lnTo>
                  <a:pt x="572453" y="832961"/>
                </a:lnTo>
                <a:close/>
                <a:moveTo>
                  <a:pt x="572453" y="737426"/>
                </a:moveTo>
                <a:lnTo>
                  <a:pt x="373856" y="737426"/>
                </a:lnTo>
                <a:lnTo>
                  <a:pt x="373856" y="768382"/>
                </a:lnTo>
                <a:lnTo>
                  <a:pt x="572453" y="768382"/>
                </a:lnTo>
                <a:lnTo>
                  <a:pt x="572453" y="737426"/>
                </a:lnTo>
                <a:close/>
                <a:moveTo>
                  <a:pt x="250031" y="1049369"/>
                </a:moveTo>
                <a:lnTo>
                  <a:pt x="76200" y="1049369"/>
                </a:lnTo>
                <a:lnTo>
                  <a:pt x="76200" y="1080326"/>
                </a:lnTo>
                <a:lnTo>
                  <a:pt x="250031" y="1080326"/>
                </a:lnTo>
                <a:lnTo>
                  <a:pt x="250031" y="1049369"/>
                </a:lnTo>
                <a:close/>
                <a:moveTo>
                  <a:pt x="250031" y="951452"/>
                </a:moveTo>
                <a:lnTo>
                  <a:pt x="76200" y="951452"/>
                </a:lnTo>
                <a:lnTo>
                  <a:pt x="76200" y="982409"/>
                </a:lnTo>
                <a:lnTo>
                  <a:pt x="250031" y="982409"/>
                </a:lnTo>
                <a:lnTo>
                  <a:pt x="250031" y="951452"/>
                </a:lnTo>
                <a:close/>
                <a:moveTo>
                  <a:pt x="250031" y="856107"/>
                </a:moveTo>
                <a:lnTo>
                  <a:pt x="76200" y="856107"/>
                </a:lnTo>
                <a:lnTo>
                  <a:pt x="76200" y="887063"/>
                </a:lnTo>
                <a:lnTo>
                  <a:pt x="250031" y="887063"/>
                </a:lnTo>
                <a:lnTo>
                  <a:pt x="250031" y="856107"/>
                </a:lnTo>
                <a:close/>
                <a:moveTo>
                  <a:pt x="250031" y="760571"/>
                </a:moveTo>
                <a:lnTo>
                  <a:pt x="76200" y="760571"/>
                </a:lnTo>
                <a:lnTo>
                  <a:pt x="76200" y="791528"/>
                </a:lnTo>
                <a:lnTo>
                  <a:pt x="250031" y="791528"/>
                </a:lnTo>
                <a:lnTo>
                  <a:pt x="250031" y="760571"/>
                </a:lnTo>
                <a:close/>
                <a:moveTo>
                  <a:pt x="871252" y="1049369"/>
                </a:moveTo>
                <a:lnTo>
                  <a:pt x="697421" y="1049369"/>
                </a:lnTo>
                <a:lnTo>
                  <a:pt x="697421" y="1080326"/>
                </a:lnTo>
                <a:lnTo>
                  <a:pt x="871252" y="1080326"/>
                </a:lnTo>
                <a:lnTo>
                  <a:pt x="871252" y="1049369"/>
                </a:lnTo>
                <a:close/>
                <a:moveTo>
                  <a:pt x="871252" y="951452"/>
                </a:moveTo>
                <a:lnTo>
                  <a:pt x="697421" y="951452"/>
                </a:lnTo>
                <a:lnTo>
                  <a:pt x="697421" y="982409"/>
                </a:lnTo>
                <a:lnTo>
                  <a:pt x="871252" y="982409"/>
                </a:lnTo>
                <a:lnTo>
                  <a:pt x="871252" y="951452"/>
                </a:lnTo>
                <a:close/>
                <a:moveTo>
                  <a:pt x="871252" y="856107"/>
                </a:moveTo>
                <a:lnTo>
                  <a:pt x="697421" y="856107"/>
                </a:lnTo>
                <a:lnTo>
                  <a:pt x="697421" y="887063"/>
                </a:lnTo>
                <a:lnTo>
                  <a:pt x="871252" y="887063"/>
                </a:lnTo>
                <a:lnTo>
                  <a:pt x="871252" y="856107"/>
                </a:lnTo>
                <a:close/>
                <a:moveTo>
                  <a:pt x="871252" y="760571"/>
                </a:moveTo>
                <a:lnTo>
                  <a:pt x="697421" y="760571"/>
                </a:lnTo>
                <a:lnTo>
                  <a:pt x="697421" y="791528"/>
                </a:lnTo>
                <a:lnTo>
                  <a:pt x="871252" y="791528"/>
                </a:lnTo>
                <a:lnTo>
                  <a:pt x="871252" y="760571"/>
                </a:lnTo>
                <a:close/>
                <a:moveTo>
                  <a:pt x="251365" y="1122045"/>
                </a:moveTo>
                <a:lnTo>
                  <a:pt x="30956" y="1122045"/>
                </a:lnTo>
                <a:lnTo>
                  <a:pt x="30956" y="694658"/>
                </a:lnTo>
                <a:lnTo>
                  <a:pt x="251365" y="694658"/>
                </a:lnTo>
                <a:lnTo>
                  <a:pt x="251365" y="663702"/>
                </a:lnTo>
                <a:lnTo>
                  <a:pt x="0" y="663702"/>
                </a:lnTo>
                <a:lnTo>
                  <a:pt x="0" y="1152906"/>
                </a:lnTo>
                <a:lnTo>
                  <a:pt x="251365" y="1152906"/>
                </a:lnTo>
                <a:lnTo>
                  <a:pt x="251365" y="1122045"/>
                </a:lnTo>
                <a:close/>
                <a:moveTo>
                  <a:pt x="758857" y="464153"/>
                </a:moveTo>
                <a:cubicBezTo>
                  <a:pt x="748189" y="430340"/>
                  <a:pt x="723710" y="403479"/>
                  <a:pt x="688181" y="386620"/>
                </a:cubicBezTo>
                <a:lnTo>
                  <a:pt x="674942" y="414623"/>
                </a:lnTo>
                <a:cubicBezTo>
                  <a:pt x="702469" y="427768"/>
                  <a:pt x="721328" y="448151"/>
                  <a:pt x="729425" y="473583"/>
                </a:cubicBezTo>
                <a:cubicBezTo>
                  <a:pt x="737807" y="500063"/>
                  <a:pt x="733806" y="529876"/>
                  <a:pt x="718090" y="557594"/>
                </a:cubicBezTo>
                <a:lnTo>
                  <a:pt x="745046" y="572834"/>
                </a:lnTo>
                <a:cubicBezTo>
                  <a:pt x="764953" y="537496"/>
                  <a:pt x="769906" y="498920"/>
                  <a:pt x="758857" y="464153"/>
                </a:cubicBezTo>
                <a:close/>
                <a:moveTo>
                  <a:pt x="704183" y="527114"/>
                </a:moveTo>
                <a:lnTo>
                  <a:pt x="691134" y="612553"/>
                </a:lnTo>
                <a:lnTo>
                  <a:pt x="771620" y="581120"/>
                </a:lnTo>
                <a:lnTo>
                  <a:pt x="704183" y="527114"/>
                </a:lnTo>
                <a:close/>
                <a:moveTo>
                  <a:pt x="276416" y="591598"/>
                </a:moveTo>
                <a:cubicBezTo>
                  <a:pt x="250698" y="575120"/>
                  <a:pt x="234696" y="552450"/>
                  <a:pt x="229934" y="526161"/>
                </a:cubicBezTo>
                <a:cubicBezTo>
                  <a:pt x="224981" y="498824"/>
                  <a:pt x="232791" y="469773"/>
                  <a:pt x="251936" y="444246"/>
                </a:cubicBezTo>
                <a:lnTo>
                  <a:pt x="227171" y="425672"/>
                </a:lnTo>
                <a:cubicBezTo>
                  <a:pt x="202883" y="458153"/>
                  <a:pt x="193072" y="495776"/>
                  <a:pt x="199549" y="531590"/>
                </a:cubicBezTo>
                <a:cubicBezTo>
                  <a:pt x="205835" y="566547"/>
                  <a:pt x="226695" y="596265"/>
                  <a:pt x="259747" y="617601"/>
                </a:cubicBezTo>
                <a:lnTo>
                  <a:pt x="276416" y="591598"/>
                </a:lnTo>
                <a:close/>
                <a:moveTo>
                  <a:pt x="261747" y="476250"/>
                </a:moveTo>
                <a:lnTo>
                  <a:pt x="285560" y="393192"/>
                </a:lnTo>
                <a:lnTo>
                  <a:pt x="201644" y="414052"/>
                </a:lnTo>
                <a:lnTo>
                  <a:pt x="261747" y="476250"/>
                </a:ln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Graphic 116">
            <a:extLst>
              <a:ext uri="{FF2B5EF4-FFF2-40B4-BE49-F238E27FC236}">
                <a16:creationId xmlns:a16="http://schemas.microsoft.com/office/drawing/2014/main" id="{B069E5E0-52A4-F229-79E9-F2AC1A7EDF67}"/>
              </a:ext>
            </a:extLst>
          </p:cNvPr>
          <p:cNvSpPr/>
          <p:nvPr/>
        </p:nvSpPr>
        <p:spPr>
          <a:xfrm>
            <a:off x="778531" y="1861411"/>
            <a:ext cx="501609" cy="560713"/>
          </a:xfrm>
          <a:custGeom>
            <a:avLst/>
            <a:gdLst>
              <a:gd name="connsiteX0" fmla="*/ 1052513 w 1052512"/>
              <a:gd name="connsiteY0" fmla="*/ 1145572 h 1176527"/>
              <a:gd name="connsiteX1" fmla="*/ 1052513 w 1052512"/>
              <a:gd name="connsiteY1" fmla="*/ 1176528 h 1176527"/>
              <a:gd name="connsiteX2" fmla="*/ 0 w 1052512"/>
              <a:gd name="connsiteY2" fmla="*/ 1176528 h 1176527"/>
              <a:gd name="connsiteX3" fmla="*/ 0 w 1052512"/>
              <a:gd name="connsiteY3" fmla="*/ 1145572 h 1176527"/>
              <a:gd name="connsiteX4" fmla="*/ 63056 w 1052512"/>
              <a:gd name="connsiteY4" fmla="*/ 1145572 h 1176527"/>
              <a:gd name="connsiteX5" fmla="*/ 63056 w 1052512"/>
              <a:gd name="connsiteY5" fmla="*/ 0 h 1176527"/>
              <a:gd name="connsiteX6" fmla="*/ 527399 w 1052512"/>
              <a:gd name="connsiteY6" fmla="*/ 0 h 1176527"/>
              <a:gd name="connsiteX7" fmla="*/ 527399 w 1052512"/>
              <a:gd name="connsiteY7" fmla="*/ 433388 h 1176527"/>
              <a:gd name="connsiteX8" fmla="*/ 496443 w 1052512"/>
              <a:gd name="connsiteY8" fmla="*/ 433388 h 1176527"/>
              <a:gd name="connsiteX9" fmla="*/ 496443 w 1052512"/>
              <a:gd name="connsiteY9" fmla="*/ 30956 h 1176527"/>
              <a:gd name="connsiteX10" fmla="*/ 94012 w 1052512"/>
              <a:gd name="connsiteY10" fmla="*/ 30956 h 1176527"/>
              <a:gd name="connsiteX11" fmla="*/ 94012 w 1052512"/>
              <a:gd name="connsiteY11" fmla="*/ 1145572 h 1176527"/>
              <a:gd name="connsiteX12" fmla="*/ 959072 w 1052512"/>
              <a:gd name="connsiteY12" fmla="*/ 1145572 h 1176527"/>
              <a:gd name="connsiteX13" fmla="*/ 959072 w 1052512"/>
              <a:gd name="connsiteY13" fmla="*/ 523589 h 1176527"/>
              <a:gd name="connsiteX14" fmla="*/ 525685 w 1052512"/>
              <a:gd name="connsiteY14" fmla="*/ 523589 h 1176527"/>
              <a:gd name="connsiteX15" fmla="*/ 525685 w 1052512"/>
              <a:gd name="connsiteY15" fmla="*/ 1084993 h 1176527"/>
              <a:gd name="connsiteX16" fmla="*/ 494729 w 1052512"/>
              <a:gd name="connsiteY16" fmla="*/ 1084993 h 1176527"/>
              <a:gd name="connsiteX17" fmla="*/ 494729 w 1052512"/>
              <a:gd name="connsiteY17" fmla="*/ 492633 h 1176527"/>
              <a:gd name="connsiteX18" fmla="*/ 990029 w 1052512"/>
              <a:gd name="connsiteY18" fmla="*/ 492633 h 1176527"/>
              <a:gd name="connsiteX19" fmla="*/ 990029 w 1052512"/>
              <a:gd name="connsiteY19" fmla="*/ 1145572 h 1176527"/>
              <a:gd name="connsiteX20" fmla="*/ 1052513 w 1052512"/>
              <a:gd name="connsiteY20" fmla="*/ 1145572 h 1176527"/>
              <a:gd name="connsiteX21" fmla="*/ 186785 w 1052512"/>
              <a:gd name="connsiteY21" fmla="*/ 91916 h 1176527"/>
              <a:gd name="connsiteX22" fmla="*/ 155829 w 1052512"/>
              <a:gd name="connsiteY22" fmla="*/ 91916 h 1176527"/>
              <a:gd name="connsiteX23" fmla="*/ 155829 w 1052512"/>
              <a:gd name="connsiteY23" fmla="*/ 122873 h 1176527"/>
              <a:gd name="connsiteX24" fmla="*/ 186785 w 1052512"/>
              <a:gd name="connsiteY24" fmla="*/ 122873 h 1176527"/>
              <a:gd name="connsiteX25" fmla="*/ 186785 w 1052512"/>
              <a:gd name="connsiteY25" fmla="*/ 91916 h 1176527"/>
              <a:gd name="connsiteX26" fmla="*/ 310610 w 1052512"/>
              <a:gd name="connsiteY26" fmla="*/ 91916 h 1176527"/>
              <a:gd name="connsiteX27" fmla="*/ 279654 w 1052512"/>
              <a:gd name="connsiteY27" fmla="*/ 91916 h 1176527"/>
              <a:gd name="connsiteX28" fmla="*/ 279654 w 1052512"/>
              <a:gd name="connsiteY28" fmla="*/ 122873 h 1176527"/>
              <a:gd name="connsiteX29" fmla="*/ 310610 w 1052512"/>
              <a:gd name="connsiteY29" fmla="*/ 122873 h 1176527"/>
              <a:gd name="connsiteX30" fmla="*/ 310610 w 1052512"/>
              <a:gd name="connsiteY30" fmla="*/ 91916 h 1176527"/>
              <a:gd name="connsiteX31" fmla="*/ 434435 w 1052512"/>
              <a:gd name="connsiteY31" fmla="*/ 91916 h 1176527"/>
              <a:gd name="connsiteX32" fmla="*/ 403479 w 1052512"/>
              <a:gd name="connsiteY32" fmla="*/ 91916 h 1176527"/>
              <a:gd name="connsiteX33" fmla="*/ 403479 w 1052512"/>
              <a:gd name="connsiteY33" fmla="*/ 122873 h 1176527"/>
              <a:gd name="connsiteX34" fmla="*/ 434435 w 1052512"/>
              <a:gd name="connsiteY34" fmla="*/ 122873 h 1176527"/>
              <a:gd name="connsiteX35" fmla="*/ 434435 w 1052512"/>
              <a:gd name="connsiteY35" fmla="*/ 91916 h 1176527"/>
              <a:gd name="connsiteX36" fmla="*/ 186785 w 1052512"/>
              <a:gd name="connsiteY36" fmla="*/ 215741 h 1176527"/>
              <a:gd name="connsiteX37" fmla="*/ 155829 w 1052512"/>
              <a:gd name="connsiteY37" fmla="*/ 215741 h 1176527"/>
              <a:gd name="connsiteX38" fmla="*/ 155829 w 1052512"/>
              <a:gd name="connsiteY38" fmla="*/ 246698 h 1176527"/>
              <a:gd name="connsiteX39" fmla="*/ 186785 w 1052512"/>
              <a:gd name="connsiteY39" fmla="*/ 246698 h 1176527"/>
              <a:gd name="connsiteX40" fmla="*/ 186785 w 1052512"/>
              <a:gd name="connsiteY40" fmla="*/ 215741 h 1176527"/>
              <a:gd name="connsiteX41" fmla="*/ 310610 w 1052512"/>
              <a:gd name="connsiteY41" fmla="*/ 215741 h 1176527"/>
              <a:gd name="connsiteX42" fmla="*/ 279654 w 1052512"/>
              <a:gd name="connsiteY42" fmla="*/ 215741 h 1176527"/>
              <a:gd name="connsiteX43" fmla="*/ 279654 w 1052512"/>
              <a:gd name="connsiteY43" fmla="*/ 246698 h 1176527"/>
              <a:gd name="connsiteX44" fmla="*/ 310610 w 1052512"/>
              <a:gd name="connsiteY44" fmla="*/ 246698 h 1176527"/>
              <a:gd name="connsiteX45" fmla="*/ 310610 w 1052512"/>
              <a:gd name="connsiteY45" fmla="*/ 215741 h 1176527"/>
              <a:gd name="connsiteX46" fmla="*/ 434435 w 1052512"/>
              <a:gd name="connsiteY46" fmla="*/ 215741 h 1176527"/>
              <a:gd name="connsiteX47" fmla="*/ 403479 w 1052512"/>
              <a:gd name="connsiteY47" fmla="*/ 215741 h 1176527"/>
              <a:gd name="connsiteX48" fmla="*/ 403479 w 1052512"/>
              <a:gd name="connsiteY48" fmla="*/ 246698 h 1176527"/>
              <a:gd name="connsiteX49" fmla="*/ 434435 w 1052512"/>
              <a:gd name="connsiteY49" fmla="*/ 246698 h 1176527"/>
              <a:gd name="connsiteX50" fmla="*/ 434435 w 1052512"/>
              <a:gd name="connsiteY50" fmla="*/ 215741 h 1176527"/>
              <a:gd name="connsiteX51" fmla="*/ 186785 w 1052512"/>
              <a:gd name="connsiteY51" fmla="*/ 339566 h 1176527"/>
              <a:gd name="connsiteX52" fmla="*/ 155829 w 1052512"/>
              <a:gd name="connsiteY52" fmla="*/ 339566 h 1176527"/>
              <a:gd name="connsiteX53" fmla="*/ 155829 w 1052512"/>
              <a:gd name="connsiteY53" fmla="*/ 370523 h 1176527"/>
              <a:gd name="connsiteX54" fmla="*/ 186785 w 1052512"/>
              <a:gd name="connsiteY54" fmla="*/ 370523 h 1176527"/>
              <a:gd name="connsiteX55" fmla="*/ 186785 w 1052512"/>
              <a:gd name="connsiteY55" fmla="*/ 339566 h 1176527"/>
              <a:gd name="connsiteX56" fmla="*/ 310610 w 1052512"/>
              <a:gd name="connsiteY56" fmla="*/ 339566 h 1176527"/>
              <a:gd name="connsiteX57" fmla="*/ 279654 w 1052512"/>
              <a:gd name="connsiteY57" fmla="*/ 339566 h 1176527"/>
              <a:gd name="connsiteX58" fmla="*/ 279654 w 1052512"/>
              <a:gd name="connsiteY58" fmla="*/ 370523 h 1176527"/>
              <a:gd name="connsiteX59" fmla="*/ 310610 w 1052512"/>
              <a:gd name="connsiteY59" fmla="*/ 370523 h 1176527"/>
              <a:gd name="connsiteX60" fmla="*/ 310610 w 1052512"/>
              <a:gd name="connsiteY60" fmla="*/ 339566 h 1176527"/>
              <a:gd name="connsiteX61" fmla="*/ 434435 w 1052512"/>
              <a:gd name="connsiteY61" fmla="*/ 339566 h 1176527"/>
              <a:gd name="connsiteX62" fmla="*/ 403479 w 1052512"/>
              <a:gd name="connsiteY62" fmla="*/ 339566 h 1176527"/>
              <a:gd name="connsiteX63" fmla="*/ 403479 w 1052512"/>
              <a:gd name="connsiteY63" fmla="*/ 370523 h 1176527"/>
              <a:gd name="connsiteX64" fmla="*/ 434435 w 1052512"/>
              <a:gd name="connsiteY64" fmla="*/ 370523 h 1176527"/>
              <a:gd name="connsiteX65" fmla="*/ 434435 w 1052512"/>
              <a:gd name="connsiteY65" fmla="*/ 339566 h 1176527"/>
              <a:gd name="connsiteX66" fmla="*/ 186785 w 1052512"/>
              <a:gd name="connsiteY66" fmla="*/ 463391 h 1176527"/>
              <a:gd name="connsiteX67" fmla="*/ 155829 w 1052512"/>
              <a:gd name="connsiteY67" fmla="*/ 463391 h 1176527"/>
              <a:gd name="connsiteX68" fmla="*/ 155829 w 1052512"/>
              <a:gd name="connsiteY68" fmla="*/ 494348 h 1176527"/>
              <a:gd name="connsiteX69" fmla="*/ 186785 w 1052512"/>
              <a:gd name="connsiteY69" fmla="*/ 494348 h 1176527"/>
              <a:gd name="connsiteX70" fmla="*/ 186785 w 1052512"/>
              <a:gd name="connsiteY70" fmla="*/ 463391 h 1176527"/>
              <a:gd name="connsiteX71" fmla="*/ 310610 w 1052512"/>
              <a:gd name="connsiteY71" fmla="*/ 463391 h 1176527"/>
              <a:gd name="connsiteX72" fmla="*/ 279654 w 1052512"/>
              <a:gd name="connsiteY72" fmla="*/ 463391 h 1176527"/>
              <a:gd name="connsiteX73" fmla="*/ 279654 w 1052512"/>
              <a:gd name="connsiteY73" fmla="*/ 494348 h 1176527"/>
              <a:gd name="connsiteX74" fmla="*/ 310610 w 1052512"/>
              <a:gd name="connsiteY74" fmla="*/ 494348 h 1176527"/>
              <a:gd name="connsiteX75" fmla="*/ 310610 w 1052512"/>
              <a:gd name="connsiteY75" fmla="*/ 463391 h 1176527"/>
              <a:gd name="connsiteX76" fmla="*/ 434435 w 1052512"/>
              <a:gd name="connsiteY76" fmla="*/ 463391 h 1176527"/>
              <a:gd name="connsiteX77" fmla="*/ 403479 w 1052512"/>
              <a:gd name="connsiteY77" fmla="*/ 463391 h 1176527"/>
              <a:gd name="connsiteX78" fmla="*/ 403479 w 1052512"/>
              <a:gd name="connsiteY78" fmla="*/ 494348 h 1176527"/>
              <a:gd name="connsiteX79" fmla="*/ 434435 w 1052512"/>
              <a:gd name="connsiteY79" fmla="*/ 494348 h 1176527"/>
              <a:gd name="connsiteX80" fmla="*/ 434435 w 1052512"/>
              <a:gd name="connsiteY80" fmla="*/ 463391 h 1176527"/>
              <a:gd name="connsiteX81" fmla="*/ 186785 w 1052512"/>
              <a:gd name="connsiteY81" fmla="*/ 587216 h 1176527"/>
              <a:gd name="connsiteX82" fmla="*/ 155829 w 1052512"/>
              <a:gd name="connsiteY82" fmla="*/ 587216 h 1176527"/>
              <a:gd name="connsiteX83" fmla="*/ 155829 w 1052512"/>
              <a:gd name="connsiteY83" fmla="*/ 618173 h 1176527"/>
              <a:gd name="connsiteX84" fmla="*/ 186785 w 1052512"/>
              <a:gd name="connsiteY84" fmla="*/ 618173 h 1176527"/>
              <a:gd name="connsiteX85" fmla="*/ 186785 w 1052512"/>
              <a:gd name="connsiteY85" fmla="*/ 587216 h 1176527"/>
              <a:gd name="connsiteX86" fmla="*/ 310610 w 1052512"/>
              <a:gd name="connsiteY86" fmla="*/ 587216 h 1176527"/>
              <a:gd name="connsiteX87" fmla="*/ 279654 w 1052512"/>
              <a:gd name="connsiteY87" fmla="*/ 587216 h 1176527"/>
              <a:gd name="connsiteX88" fmla="*/ 279654 w 1052512"/>
              <a:gd name="connsiteY88" fmla="*/ 618173 h 1176527"/>
              <a:gd name="connsiteX89" fmla="*/ 310610 w 1052512"/>
              <a:gd name="connsiteY89" fmla="*/ 618173 h 1176527"/>
              <a:gd name="connsiteX90" fmla="*/ 310610 w 1052512"/>
              <a:gd name="connsiteY90" fmla="*/ 587216 h 1176527"/>
              <a:gd name="connsiteX91" fmla="*/ 434435 w 1052512"/>
              <a:gd name="connsiteY91" fmla="*/ 587216 h 1176527"/>
              <a:gd name="connsiteX92" fmla="*/ 403479 w 1052512"/>
              <a:gd name="connsiteY92" fmla="*/ 587216 h 1176527"/>
              <a:gd name="connsiteX93" fmla="*/ 403479 w 1052512"/>
              <a:gd name="connsiteY93" fmla="*/ 618173 h 1176527"/>
              <a:gd name="connsiteX94" fmla="*/ 434435 w 1052512"/>
              <a:gd name="connsiteY94" fmla="*/ 618173 h 1176527"/>
              <a:gd name="connsiteX95" fmla="*/ 434435 w 1052512"/>
              <a:gd name="connsiteY95" fmla="*/ 587216 h 1176527"/>
              <a:gd name="connsiteX96" fmla="*/ 186785 w 1052512"/>
              <a:gd name="connsiteY96" fmla="*/ 711041 h 1176527"/>
              <a:gd name="connsiteX97" fmla="*/ 155829 w 1052512"/>
              <a:gd name="connsiteY97" fmla="*/ 711041 h 1176527"/>
              <a:gd name="connsiteX98" fmla="*/ 155829 w 1052512"/>
              <a:gd name="connsiteY98" fmla="*/ 741998 h 1176527"/>
              <a:gd name="connsiteX99" fmla="*/ 186785 w 1052512"/>
              <a:gd name="connsiteY99" fmla="*/ 741998 h 1176527"/>
              <a:gd name="connsiteX100" fmla="*/ 186785 w 1052512"/>
              <a:gd name="connsiteY100" fmla="*/ 711041 h 1176527"/>
              <a:gd name="connsiteX101" fmla="*/ 310610 w 1052512"/>
              <a:gd name="connsiteY101" fmla="*/ 711041 h 1176527"/>
              <a:gd name="connsiteX102" fmla="*/ 279654 w 1052512"/>
              <a:gd name="connsiteY102" fmla="*/ 711041 h 1176527"/>
              <a:gd name="connsiteX103" fmla="*/ 279654 w 1052512"/>
              <a:gd name="connsiteY103" fmla="*/ 741998 h 1176527"/>
              <a:gd name="connsiteX104" fmla="*/ 310610 w 1052512"/>
              <a:gd name="connsiteY104" fmla="*/ 741998 h 1176527"/>
              <a:gd name="connsiteX105" fmla="*/ 310610 w 1052512"/>
              <a:gd name="connsiteY105" fmla="*/ 711041 h 1176527"/>
              <a:gd name="connsiteX106" fmla="*/ 434435 w 1052512"/>
              <a:gd name="connsiteY106" fmla="*/ 711041 h 1176527"/>
              <a:gd name="connsiteX107" fmla="*/ 403479 w 1052512"/>
              <a:gd name="connsiteY107" fmla="*/ 711041 h 1176527"/>
              <a:gd name="connsiteX108" fmla="*/ 403479 w 1052512"/>
              <a:gd name="connsiteY108" fmla="*/ 741998 h 1176527"/>
              <a:gd name="connsiteX109" fmla="*/ 434435 w 1052512"/>
              <a:gd name="connsiteY109" fmla="*/ 741998 h 1176527"/>
              <a:gd name="connsiteX110" fmla="*/ 434435 w 1052512"/>
              <a:gd name="connsiteY110" fmla="*/ 711041 h 1176527"/>
              <a:gd name="connsiteX111" fmla="*/ 186785 w 1052512"/>
              <a:gd name="connsiteY111" fmla="*/ 834866 h 1176527"/>
              <a:gd name="connsiteX112" fmla="*/ 155829 w 1052512"/>
              <a:gd name="connsiteY112" fmla="*/ 834866 h 1176527"/>
              <a:gd name="connsiteX113" fmla="*/ 155829 w 1052512"/>
              <a:gd name="connsiteY113" fmla="*/ 865823 h 1176527"/>
              <a:gd name="connsiteX114" fmla="*/ 186785 w 1052512"/>
              <a:gd name="connsiteY114" fmla="*/ 865823 h 1176527"/>
              <a:gd name="connsiteX115" fmla="*/ 186785 w 1052512"/>
              <a:gd name="connsiteY115" fmla="*/ 834866 h 1176527"/>
              <a:gd name="connsiteX116" fmla="*/ 310610 w 1052512"/>
              <a:gd name="connsiteY116" fmla="*/ 834866 h 1176527"/>
              <a:gd name="connsiteX117" fmla="*/ 279654 w 1052512"/>
              <a:gd name="connsiteY117" fmla="*/ 834866 h 1176527"/>
              <a:gd name="connsiteX118" fmla="*/ 279654 w 1052512"/>
              <a:gd name="connsiteY118" fmla="*/ 865823 h 1176527"/>
              <a:gd name="connsiteX119" fmla="*/ 310610 w 1052512"/>
              <a:gd name="connsiteY119" fmla="*/ 865823 h 1176527"/>
              <a:gd name="connsiteX120" fmla="*/ 310610 w 1052512"/>
              <a:gd name="connsiteY120" fmla="*/ 834866 h 1176527"/>
              <a:gd name="connsiteX121" fmla="*/ 434435 w 1052512"/>
              <a:gd name="connsiteY121" fmla="*/ 834866 h 1176527"/>
              <a:gd name="connsiteX122" fmla="*/ 403479 w 1052512"/>
              <a:gd name="connsiteY122" fmla="*/ 834866 h 1176527"/>
              <a:gd name="connsiteX123" fmla="*/ 403479 w 1052512"/>
              <a:gd name="connsiteY123" fmla="*/ 865823 h 1176527"/>
              <a:gd name="connsiteX124" fmla="*/ 434435 w 1052512"/>
              <a:gd name="connsiteY124" fmla="*/ 865823 h 1176527"/>
              <a:gd name="connsiteX125" fmla="*/ 434435 w 1052512"/>
              <a:gd name="connsiteY125" fmla="*/ 834866 h 1176527"/>
              <a:gd name="connsiteX126" fmla="*/ 155829 w 1052512"/>
              <a:gd name="connsiteY126" fmla="*/ 989648 h 1176527"/>
              <a:gd name="connsiteX127" fmla="*/ 186785 w 1052512"/>
              <a:gd name="connsiteY127" fmla="*/ 989648 h 1176527"/>
              <a:gd name="connsiteX128" fmla="*/ 186785 w 1052512"/>
              <a:gd name="connsiteY128" fmla="*/ 958691 h 1176527"/>
              <a:gd name="connsiteX129" fmla="*/ 155829 w 1052512"/>
              <a:gd name="connsiteY129" fmla="*/ 958691 h 1176527"/>
              <a:gd name="connsiteX130" fmla="*/ 155829 w 1052512"/>
              <a:gd name="connsiteY130" fmla="*/ 989648 h 1176527"/>
              <a:gd name="connsiteX131" fmla="*/ 279654 w 1052512"/>
              <a:gd name="connsiteY131" fmla="*/ 989648 h 1176527"/>
              <a:gd name="connsiteX132" fmla="*/ 310610 w 1052512"/>
              <a:gd name="connsiteY132" fmla="*/ 989648 h 1176527"/>
              <a:gd name="connsiteX133" fmla="*/ 310610 w 1052512"/>
              <a:gd name="connsiteY133" fmla="*/ 958691 h 1176527"/>
              <a:gd name="connsiteX134" fmla="*/ 279654 w 1052512"/>
              <a:gd name="connsiteY134" fmla="*/ 958691 h 1176527"/>
              <a:gd name="connsiteX135" fmla="*/ 279654 w 1052512"/>
              <a:gd name="connsiteY135" fmla="*/ 989648 h 1176527"/>
              <a:gd name="connsiteX136" fmla="*/ 403479 w 1052512"/>
              <a:gd name="connsiteY136" fmla="*/ 989648 h 1176527"/>
              <a:gd name="connsiteX137" fmla="*/ 434435 w 1052512"/>
              <a:gd name="connsiteY137" fmla="*/ 989648 h 1176527"/>
              <a:gd name="connsiteX138" fmla="*/ 434435 w 1052512"/>
              <a:gd name="connsiteY138" fmla="*/ 958691 h 1176527"/>
              <a:gd name="connsiteX139" fmla="*/ 403479 w 1052512"/>
              <a:gd name="connsiteY139" fmla="*/ 958691 h 1176527"/>
              <a:gd name="connsiteX140" fmla="*/ 403479 w 1052512"/>
              <a:gd name="connsiteY140" fmla="*/ 989648 h 1176527"/>
              <a:gd name="connsiteX141" fmla="*/ 867823 w 1052512"/>
              <a:gd name="connsiteY141" fmla="*/ 609886 h 1176527"/>
              <a:gd name="connsiteX142" fmla="*/ 620173 w 1052512"/>
              <a:gd name="connsiteY142" fmla="*/ 609886 h 1176527"/>
              <a:gd name="connsiteX143" fmla="*/ 620173 w 1052512"/>
              <a:gd name="connsiteY143" fmla="*/ 640842 h 1176527"/>
              <a:gd name="connsiteX144" fmla="*/ 867823 w 1052512"/>
              <a:gd name="connsiteY144" fmla="*/ 640842 h 1176527"/>
              <a:gd name="connsiteX145" fmla="*/ 867823 w 1052512"/>
              <a:gd name="connsiteY145" fmla="*/ 609886 h 1176527"/>
              <a:gd name="connsiteX146" fmla="*/ 620173 w 1052512"/>
              <a:gd name="connsiteY146" fmla="*/ 764667 h 1176527"/>
              <a:gd name="connsiteX147" fmla="*/ 867823 w 1052512"/>
              <a:gd name="connsiteY147" fmla="*/ 764667 h 1176527"/>
              <a:gd name="connsiteX148" fmla="*/ 867823 w 1052512"/>
              <a:gd name="connsiteY148" fmla="*/ 733711 h 1176527"/>
              <a:gd name="connsiteX149" fmla="*/ 620173 w 1052512"/>
              <a:gd name="connsiteY149" fmla="*/ 733711 h 1176527"/>
              <a:gd name="connsiteX150" fmla="*/ 620173 w 1052512"/>
              <a:gd name="connsiteY150" fmla="*/ 764667 h 1176527"/>
              <a:gd name="connsiteX151" fmla="*/ 620173 w 1052512"/>
              <a:gd name="connsiteY151" fmla="*/ 888492 h 1176527"/>
              <a:gd name="connsiteX152" fmla="*/ 867823 w 1052512"/>
              <a:gd name="connsiteY152" fmla="*/ 888492 h 1176527"/>
              <a:gd name="connsiteX153" fmla="*/ 867823 w 1052512"/>
              <a:gd name="connsiteY153" fmla="*/ 857536 h 1176527"/>
              <a:gd name="connsiteX154" fmla="*/ 620173 w 1052512"/>
              <a:gd name="connsiteY154" fmla="*/ 857536 h 1176527"/>
              <a:gd name="connsiteX155" fmla="*/ 620173 w 1052512"/>
              <a:gd name="connsiteY155" fmla="*/ 888492 h 1176527"/>
              <a:gd name="connsiteX156" fmla="*/ 620173 w 1052512"/>
              <a:gd name="connsiteY156" fmla="*/ 1012317 h 1176527"/>
              <a:gd name="connsiteX157" fmla="*/ 867823 w 1052512"/>
              <a:gd name="connsiteY157" fmla="*/ 1012317 h 1176527"/>
              <a:gd name="connsiteX158" fmla="*/ 867823 w 1052512"/>
              <a:gd name="connsiteY158" fmla="*/ 981361 h 1176527"/>
              <a:gd name="connsiteX159" fmla="*/ 620173 w 1052512"/>
              <a:gd name="connsiteY159" fmla="*/ 981361 h 1176527"/>
              <a:gd name="connsiteX160" fmla="*/ 620173 w 1052512"/>
              <a:gd name="connsiteY160" fmla="*/ 1012317 h 117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052512" h="1176527">
                <a:moveTo>
                  <a:pt x="1052513" y="1145572"/>
                </a:moveTo>
                <a:lnTo>
                  <a:pt x="1052513" y="1176528"/>
                </a:lnTo>
                <a:lnTo>
                  <a:pt x="0" y="1176528"/>
                </a:lnTo>
                <a:lnTo>
                  <a:pt x="0" y="1145572"/>
                </a:lnTo>
                <a:lnTo>
                  <a:pt x="63056" y="1145572"/>
                </a:lnTo>
                <a:lnTo>
                  <a:pt x="63056" y="0"/>
                </a:lnTo>
                <a:lnTo>
                  <a:pt x="527399" y="0"/>
                </a:lnTo>
                <a:lnTo>
                  <a:pt x="527399" y="433388"/>
                </a:lnTo>
                <a:lnTo>
                  <a:pt x="496443" y="433388"/>
                </a:lnTo>
                <a:lnTo>
                  <a:pt x="496443" y="30956"/>
                </a:lnTo>
                <a:lnTo>
                  <a:pt x="94012" y="30956"/>
                </a:lnTo>
                <a:lnTo>
                  <a:pt x="94012" y="1145572"/>
                </a:lnTo>
                <a:lnTo>
                  <a:pt x="959072" y="1145572"/>
                </a:lnTo>
                <a:lnTo>
                  <a:pt x="959072" y="523589"/>
                </a:lnTo>
                <a:lnTo>
                  <a:pt x="525685" y="523589"/>
                </a:lnTo>
                <a:lnTo>
                  <a:pt x="525685" y="1084993"/>
                </a:lnTo>
                <a:lnTo>
                  <a:pt x="494729" y="1084993"/>
                </a:lnTo>
                <a:lnTo>
                  <a:pt x="494729" y="492633"/>
                </a:lnTo>
                <a:lnTo>
                  <a:pt x="990029" y="492633"/>
                </a:lnTo>
                <a:lnTo>
                  <a:pt x="990029" y="1145572"/>
                </a:lnTo>
                <a:lnTo>
                  <a:pt x="1052513" y="1145572"/>
                </a:lnTo>
                <a:close/>
                <a:moveTo>
                  <a:pt x="186785" y="91916"/>
                </a:moveTo>
                <a:lnTo>
                  <a:pt x="155829" y="91916"/>
                </a:lnTo>
                <a:lnTo>
                  <a:pt x="155829" y="122873"/>
                </a:lnTo>
                <a:lnTo>
                  <a:pt x="186785" y="122873"/>
                </a:lnTo>
                <a:lnTo>
                  <a:pt x="186785" y="91916"/>
                </a:lnTo>
                <a:close/>
                <a:moveTo>
                  <a:pt x="310610" y="91916"/>
                </a:moveTo>
                <a:lnTo>
                  <a:pt x="279654" y="91916"/>
                </a:lnTo>
                <a:lnTo>
                  <a:pt x="279654" y="122873"/>
                </a:lnTo>
                <a:lnTo>
                  <a:pt x="310610" y="122873"/>
                </a:lnTo>
                <a:lnTo>
                  <a:pt x="310610" y="91916"/>
                </a:lnTo>
                <a:close/>
                <a:moveTo>
                  <a:pt x="434435" y="91916"/>
                </a:moveTo>
                <a:lnTo>
                  <a:pt x="403479" y="91916"/>
                </a:lnTo>
                <a:lnTo>
                  <a:pt x="403479" y="122873"/>
                </a:lnTo>
                <a:lnTo>
                  <a:pt x="434435" y="122873"/>
                </a:lnTo>
                <a:lnTo>
                  <a:pt x="434435" y="91916"/>
                </a:lnTo>
                <a:close/>
                <a:moveTo>
                  <a:pt x="186785" y="215741"/>
                </a:moveTo>
                <a:lnTo>
                  <a:pt x="155829" y="215741"/>
                </a:lnTo>
                <a:lnTo>
                  <a:pt x="155829" y="246698"/>
                </a:lnTo>
                <a:lnTo>
                  <a:pt x="186785" y="246698"/>
                </a:lnTo>
                <a:lnTo>
                  <a:pt x="186785" y="215741"/>
                </a:lnTo>
                <a:close/>
                <a:moveTo>
                  <a:pt x="310610" y="215741"/>
                </a:moveTo>
                <a:lnTo>
                  <a:pt x="279654" y="215741"/>
                </a:lnTo>
                <a:lnTo>
                  <a:pt x="279654" y="246698"/>
                </a:lnTo>
                <a:lnTo>
                  <a:pt x="310610" y="246698"/>
                </a:lnTo>
                <a:lnTo>
                  <a:pt x="310610" y="215741"/>
                </a:lnTo>
                <a:close/>
                <a:moveTo>
                  <a:pt x="434435" y="215741"/>
                </a:moveTo>
                <a:lnTo>
                  <a:pt x="403479" y="215741"/>
                </a:lnTo>
                <a:lnTo>
                  <a:pt x="403479" y="246698"/>
                </a:lnTo>
                <a:lnTo>
                  <a:pt x="434435" y="246698"/>
                </a:lnTo>
                <a:lnTo>
                  <a:pt x="434435" y="215741"/>
                </a:lnTo>
                <a:close/>
                <a:moveTo>
                  <a:pt x="186785" y="339566"/>
                </a:moveTo>
                <a:lnTo>
                  <a:pt x="155829" y="339566"/>
                </a:lnTo>
                <a:lnTo>
                  <a:pt x="155829" y="370523"/>
                </a:lnTo>
                <a:lnTo>
                  <a:pt x="186785" y="370523"/>
                </a:lnTo>
                <a:lnTo>
                  <a:pt x="186785" y="339566"/>
                </a:lnTo>
                <a:close/>
                <a:moveTo>
                  <a:pt x="310610" y="339566"/>
                </a:moveTo>
                <a:lnTo>
                  <a:pt x="279654" y="339566"/>
                </a:lnTo>
                <a:lnTo>
                  <a:pt x="279654" y="370523"/>
                </a:lnTo>
                <a:lnTo>
                  <a:pt x="310610" y="370523"/>
                </a:lnTo>
                <a:lnTo>
                  <a:pt x="310610" y="339566"/>
                </a:lnTo>
                <a:close/>
                <a:moveTo>
                  <a:pt x="434435" y="339566"/>
                </a:moveTo>
                <a:lnTo>
                  <a:pt x="403479" y="339566"/>
                </a:lnTo>
                <a:lnTo>
                  <a:pt x="403479" y="370523"/>
                </a:lnTo>
                <a:lnTo>
                  <a:pt x="434435" y="370523"/>
                </a:lnTo>
                <a:lnTo>
                  <a:pt x="434435" y="339566"/>
                </a:lnTo>
                <a:close/>
                <a:moveTo>
                  <a:pt x="186785" y="463391"/>
                </a:moveTo>
                <a:lnTo>
                  <a:pt x="155829" y="463391"/>
                </a:lnTo>
                <a:lnTo>
                  <a:pt x="155829" y="494348"/>
                </a:lnTo>
                <a:lnTo>
                  <a:pt x="186785" y="494348"/>
                </a:lnTo>
                <a:lnTo>
                  <a:pt x="186785" y="463391"/>
                </a:lnTo>
                <a:close/>
                <a:moveTo>
                  <a:pt x="310610" y="463391"/>
                </a:moveTo>
                <a:lnTo>
                  <a:pt x="279654" y="463391"/>
                </a:lnTo>
                <a:lnTo>
                  <a:pt x="279654" y="494348"/>
                </a:lnTo>
                <a:lnTo>
                  <a:pt x="310610" y="494348"/>
                </a:lnTo>
                <a:lnTo>
                  <a:pt x="310610" y="463391"/>
                </a:lnTo>
                <a:close/>
                <a:moveTo>
                  <a:pt x="434435" y="463391"/>
                </a:moveTo>
                <a:lnTo>
                  <a:pt x="403479" y="463391"/>
                </a:lnTo>
                <a:lnTo>
                  <a:pt x="403479" y="494348"/>
                </a:lnTo>
                <a:lnTo>
                  <a:pt x="434435" y="494348"/>
                </a:lnTo>
                <a:lnTo>
                  <a:pt x="434435" y="463391"/>
                </a:lnTo>
                <a:close/>
                <a:moveTo>
                  <a:pt x="186785" y="587216"/>
                </a:moveTo>
                <a:lnTo>
                  <a:pt x="155829" y="587216"/>
                </a:lnTo>
                <a:lnTo>
                  <a:pt x="155829" y="618173"/>
                </a:lnTo>
                <a:lnTo>
                  <a:pt x="186785" y="618173"/>
                </a:lnTo>
                <a:lnTo>
                  <a:pt x="186785" y="587216"/>
                </a:lnTo>
                <a:close/>
                <a:moveTo>
                  <a:pt x="310610" y="587216"/>
                </a:moveTo>
                <a:lnTo>
                  <a:pt x="279654" y="587216"/>
                </a:lnTo>
                <a:lnTo>
                  <a:pt x="279654" y="618173"/>
                </a:lnTo>
                <a:lnTo>
                  <a:pt x="310610" y="618173"/>
                </a:lnTo>
                <a:lnTo>
                  <a:pt x="310610" y="587216"/>
                </a:lnTo>
                <a:close/>
                <a:moveTo>
                  <a:pt x="434435" y="587216"/>
                </a:moveTo>
                <a:lnTo>
                  <a:pt x="403479" y="587216"/>
                </a:lnTo>
                <a:lnTo>
                  <a:pt x="403479" y="618173"/>
                </a:lnTo>
                <a:lnTo>
                  <a:pt x="434435" y="618173"/>
                </a:lnTo>
                <a:lnTo>
                  <a:pt x="434435" y="587216"/>
                </a:lnTo>
                <a:close/>
                <a:moveTo>
                  <a:pt x="186785" y="711041"/>
                </a:moveTo>
                <a:lnTo>
                  <a:pt x="155829" y="711041"/>
                </a:lnTo>
                <a:lnTo>
                  <a:pt x="155829" y="741998"/>
                </a:lnTo>
                <a:lnTo>
                  <a:pt x="186785" y="741998"/>
                </a:lnTo>
                <a:lnTo>
                  <a:pt x="186785" y="711041"/>
                </a:lnTo>
                <a:close/>
                <a:moveTo>
                  <a:pt x="310610" y="711041"/>
                </a:moveTo>
                <a:lnTo>
                  <a:pt x="279654" y="711041"/>
                </a:lnTo>
                <a:lnTo>
                  <a:pt x="279654" y="741998"/>
                </a:lnTo>
                <a:lnTo>
                  <a:pt x="310610" y="741998"/>
                </a:lnTo>
                <a:lnTo>
                  <a:pt x="310610" y="711041"/>
                </a:lnTo>
                <a:close/>
                <a:moveTo>
                  <a:pt x="434435" y="711041"/>
                </a:moveTo>
                <a:lnTo>
                  <a:pt x="403479" y="711041"/>
                </a:lnTo>
                <a:lnTo>
                  <a:pt x="403479" y="741998"/>
                </a:lnTo>
                <a:lnTo>
                  <a:pt x="434435" y="741998"/>
                </a:lnTo>
                <a:lnTo>
                  <a:pt x="434435" y="711041"/>
                </a:lnTo>
                <a:close/>
                <a:moveTo>
                  <a:pt x="186785" y="834866"/>
                </a:moveTo>
                <a:lnTo>
                  <a:pt x="155829" y="834866"/>
                </a:lnTo>
                <a:lnTo>
                  <a:pt x="155829" y="865823"/>
                </a:lnTo>
                <a:lnTo>
                  <a:pt x="186785" y="865823"/>
                </a:lnTo>
                <a:lnTo>
                  <a:pt x="186785" y="834866"/>
                </a:lnTo>
                <a:close/>
                <a:moveTo>
                  <a:pt x="310610" y="834866"/>
                </a:moveTo>
                <a:lnTo>
                  <a:pt x="279654" y="834866"/>
                </a:lnTo>
                <a:lnTo>
                  <a:pt x="279654" y="865823"/>
                </a:lnTo>
                <a:lnTo>
                  <a:pt x="310610" y="865823"/>
                </a:lnTo>
                <a:lnTo>
                  <a:pt x="310610" y="834866"/>
                </a:lnTo>
                <a:close/>
                <a:moveTo>
                  <a:pt x="434435" y="834866"/>
                </a:moveTo>
                <a:lnTo>
                  <a:pt x="403479" y="834866"/>
                </a:lnTo>
                <a:lnTo>
                  <a:pt x="403479" y="865823"/>
                </a:lnTo>
                <a:lnTo>
                  <a:pt x="434435" y="865823"/>
                </a:lnTo>
                <a:lnTo>
                  <a:pt x="434435" y="834866"/>
                </a:lnTo>
                <a:close/>
                <a:moveTo>
                  <a:pt x="155829" y="989648"/>
                </a:moveTo>
                <a:lnTo>
                  <a:pt x="186785" y="989648"/>
                </a:lnTo>
                <a:lnTo>
                  <a:pt x="186785" y="958691"/>
                </a:lnTo>
                <a:lnTo>
                  <a:pt x="155829" y="958691"/>
                </a:lnTo>
                <a:lnTo>
                  <a:pt x="155829" y="989648"/>
                </a:lnTo>
                <a:close/>
                <a:moveTo>
                  <a:pt x="279654" y="989648"/>
                </a:moveTo>
                <a:lnTo>
                  <a:pt x="310610" y="989648"/>
                </a:lnTo>
                <a:lnTo>
                  <a:pt x="310610" y="958691"/>
                </a:lnTo>
                <a:lnTo>
                  <a:pt x="279654" y="958691"/>
                </a:lnTo>
                <a:lnTo>
                  <a:pt x="279654" y="989648"/>
                </a:lnTo>
                <a:close/>
                <a:moveTo>
                  <a:pt x="403479" y="989648"/>
                </a:moveTo>
                <a:lnTo>
                  <a:pt x="434435" y="989648"/>
                </a:lnTo>
                <a:lnTo>
                  <a:pt x="434435" y="958691"/>
                </a:lnTo>
                <a:lnTo>
                  <a:pt x="403479" y="958691"/>
                </a:lnTo>
                <a:lnTo>
                  <a:pt x="403479" y="989648"/>
                </a:lnTo>
                <a:close/>
                <a:moveTo>
                  <a:pt x="867823" y="609886"/>
                </a:moveTo>
                <a:lnTo>
                  <a:pt x="620173" y="609886"/>
                </a:lnTo>
                <a:lnTo>
                  <a:pt x="620173" y="640842"/>
                </a:lnTo>
                <a:lnTo>
                  <a:pt x="867823" y="640842"/>
                </a:lnTo>
                <a:lnTo>
                  <a:pt x="867823" y="609886"/>
                </a:lnTo>
                <a:close/>
                <a:moveTo>
                  <a:pt x="620173" y="764667"/>
                </a:moveTo>
                <a:lnTo>
                  <a:pt x="867823" y="764667"/>
                </a:lnTo>
                <a:lnTo>
                  <a:pt x="867823" y="733711"/>
                </a:lnTo>
                <a:lnTo>
                  <a:pt x="620173" y="733711"/>
                </a:lnTo>
                <a:lnTo>
                  <a:pt x="620173" y="764667"/>
                </a:lnTo>
                <a:close/>
                <a:moveTo>
                  <a:pt x="620173" y="888492"/>
                </a:moveTo>
                <a:lnTo>
                  <a:pt x="867823" y="888492"/>
                </a:lnTo>
                <a:lnTo>
                  <a:pt x="867823" y="857536"/>
                </a:lnTo>
                <a:lnTo>
                  <a:pt x="620173" y="857536"/>
                </a:lnTo>
                <a:lnTo>
                  <a:pt x="620173" y="888492"/>
                </a:lnTo>
                <a:close/>
                <a:moveTo>
                  <a:pt x="620173" y="1012317"/>
                </a:moveTo>
                <a:lnTo>
                  <a:pt x="867823" y="1012317"/>
                </a:lnTo>
                <a:lnTo>
                  <a:pt x="867823" y="981361"/>
                </a:lnTo>
                <a:lnTo>
                  <a:pt x="620173" y="981361"/>
                </a:lnTo>
                <a:lnTo>
                  <a:pt x="620173" y="1012317"/>
                </a:ln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109" name="Graphic 108">
            <a:extLst>
              <a:ext uri="{FF2B5EF4-FFF2-40B4-BE49-F238E27FC236}">
                <a16:creationId xmlns:a16="http://schemas.microsoft.com/office/drawing/2014/main" id="{31694D6B-79B3-F442-060C-C9BCA21D053E}"/>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754411" y="4792965"/>
            <a:ext cx="489090" cy="489090"/>
          </a:xfrm>
          <a:prstGeom prst="rect">
            <a:avLst/>
          </a:prstGeom>
        </p:spPr>
      </p:pic>
      <p:sp>
        <p:nvSpPr>
          <p:cNvPr id="111" name="Rectangle 110">
            <a:extLst>
              <a:ext uri="{FF2B5EF4-FFF2-40B4-BE49-F238E27FC236}">
                <a16:creationId xmlns:a16="http://schemas.microsoft.com/office/drawing/2014/main" id="{C71E3C8B-8FCA-FE87-2AF9-01AEC8E2B2A2}"/>
              </a:ext>
            </a:extLst>
          </p:cNvPr>
          <p:cNvSpPr/>
          <p:nvPr/>
        </p:nvSpPr>
        <p:spPr>
          <a:xfrm>
            <a:off x="3279924" y="4810092"/>
            <a:ext cx="758541" cy="461665"/>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Storage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array</a:t>
            </a:r>
          </a:p>
        </p:txBody>
      </p:sp>
      <p:pic>
        <p:nvPicPr>
          <p:cNvPr id="112" name="Graphic 111">
            <a:extLst>
              <a:ext uri="{FF2B5EF4-FFF2-40B4-BE49-F238E27FC236}">
                <a16:creationId xmlns:a16="http://schemas.microsoft.com/office/drawing/2014/main" id="{08C8C926-EA99-69A9-3431-B17DDD1BEC6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392127" y="4893940"/>
            <a:ext cx="244321" cy="287140"/>
          </a:xfrm>
          <a:prstGeom prst="rect">
            <a:avLst/>
          </a:prstGeom>
        </p:spPr>
      </p:pic>
      <p:sp>
        <p:nvSpPr>
          <p:cNvPr id="6" name="Rectangle 5">
            <a:extLst>
              <a:ext uri="{FF2B5EF4-FFF2-40B4-BE49-F238E27FC236}">
                <a16:creationId xmlns:a16="http://schemas.microsoft.com/office/drawing/2014/main" id="{527EA005-B8AA-50AD-4C38-67CA6B6F921C}"/>
              </a:ext>
            </a:extLst>
          </p:cNvPr>
          <p:cNvSpPr/>
          <p:nvPr/>
        </p:nvSpPr>
        <p:spPr>
          <a:xfrm>
            <a:off x="1645729" y="1657968"/>
            <a:ext cx="3097774" cy="369204"/>
          </a:xfrm>
          <a:prstGeom prst="rect">
            <a:avLst/>
          </a:prstGeom>
        </p:spPr>
        <p:txBody>
          <a:bodyPr wrap="square" lIns="0" tIns="0" rIns="0" bIns="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Legacy Three-Tier</a:t>
            </a:r>
          </a:p>
        </p:txBody>
      </p:sp>
      <p:sp>
        <p:nvSpPr>
          <p:cNvPr id="24" name="Rectangle 23">
            <a:extLst>
              <a:ext uri="{FF2B5EF4-FFF2-40B4-BE49-F238E27FC236}">
                <a16:creationId xmlns:a16="http://schemas.microsoft.com/office/drawing/2014/main" id="{67EDA6DB-EA0C-6907-5DB3-F364435C3EB6}"/>
              </a:ext>
            </a:extLst>
          </p:cNvPr>
          <p:cNvSpPr/>
          <p:nvPr/>
        </p:nvSpPr>
        <p:spPr>
          <a:xfrm>
            <a:off x="7478124" y="1657968"/>
            <a:ext cx="3018862" cy="369204"/>
          </a:xfrm>
          <a:prstGeom prst="rect">
            <a:avLst/>
          </a:prstGeom>
        </p:spPr>
        <p:txBody>
          <a:bodyPr wrap="square" lIns="0" tIns="0" rIns="0" bIns="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Hyperconverged</a:t>
            </a:r>
          </a:p>
        </p:txBody>
      </p:sp>
      <p:sp>
        <p:nvSpPr>
          <p:cNvPr id="137" name="TextBox 136">
            <a:extLst>
              <a:ext uri="{FF2B5EF4-FFF2-40B4-BE49-F238E27FC236}">
                <a16:creationId xmlns:a16="http://schemas.microsoft.com/office/drawing/2014/main" id="{BCBF5C55-0E15-6EF1-C9DC-86C8951A794B}"/>
              </a:ext>
            </a:extLst>
          </p:cNvPr>
          <p:cNvSpPr txBox="1"/>
          <p:nvPr/>
        </p:nvSpPr>
        <p:spPr>
          <a:xfrm>
            <a:off x="10286649" y="3325975"/>
            <a:ext cx="984471"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&amp; storage</a:t>
            </a:r>
          </a:p>
        </p:txBody>
      </p:sp>
      <p:pic>
        <p:nvPicPr>
          <p:cNvPr id="138" name="Graphic 137">
            <a:extLst>
              <a:ext uri="{FF2B5EF4-FFF2-40B4-BE49-F238E27FC236}">
                <a16:creationId xmlns:a16="http://schemas.microsoft.com/office/drawing/2014/main" id="{64D82F1E-2882-F715-C70E-280F53058947}"/>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949589" y="3893081"/>
            <a:ext cx="190410" cy="223781"/>
          </a:xfrm>
          <a:prstGeom prst="rect">
            <a:avLst/>
          </a:prstGeom>
        </p:spPr>
      </p:pic>
      <p:grpSp>
        <p:nvGrpSpPr>
          <p:cNvPr id="192" name="Group 191">
            <a:extLst>
              <a:ext uri="{FF2B5EF4-FFF2-40B4-BE49-F238E27FC236}">
                <a16:creationId xmlns:a16="http://schemas.microsoft.com/office/drawing/2014/main" id="{55BD7161-E40B-73B4-15E8-1F5D7F36FE7C}"/>
              </a:ext>
            </a:extLst>
          </p:cNvPr>
          <p:cNvGrpSpPr/>
          <p:nvPr/>
        </p:nvGrpSpPr>
        <p:grpSpPr>
          <a:xfrm>
            <a:off x="7950077" y="3700487"/>
            <a:ext cx="2189434" cy="184666"/>
            <a:chOff x="7950077" y="3379353"/>
            <a:chExt cx="2189434" cy="184666"/>
          </a:xfrm>
        </p:grpSpPr>
        <p:cxnSp>
          <p:nvCxnSpPr>
            <p:cNvPr id="123" name="Straight Connector 122">
              <a:extLst>
                <a:ext uri="{FF2B5EF4-FFF2-40B4-BE49-F238E27FC236}">
                  <a16:creationId xmlns:a16="http://schemas.microsoft.com/office/drawing/2014/main" id="{2B7FC5EF-9100-E129-9259-A4148D179F2F}"/>
                </a:ext>
              </a:extLst>
            </p:cNvPr>
            <p:cNvCxnSpPr>
              <a:cxnSpLocks/>
            </p:cNvCxnSpPr>
            <p:nvPr/>
          </p:nvCxnSpPr>
          <p:spPr bwMode="gray">
            <a:xfrm>
              <a:off x="7954667" y="3387515"/>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F3124C21-D14F-162A-0C8E-D1FCC8468183}"/>
                </a:ext>
              </a:extLst>
            </p:cNvPr>
            <p:cNvCxnSpPr>
              <a:cxnSpLocks/>
            </p:cNvCxnSpPr>
            <p:nvPr/>
          </p:nvCxnSpPr>
          <p:spPr bwMode="gray">
            <a:xfrm>
              <a:off x="9300829" y="3475525"/>
              <a:ext cx="838682"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7A9F2329-1DDF-2E07-5CD4-16CD31618847}"/>
                </a:ext>
              </a:extLst>
            </p:cNvPr>
            <p:cNvCxnSpPr>
              <a:cxnSpLocks/>
            </p:cNvCxnSpPr>
            <p:nvPr/>
          </p:nvCxnSpPr>
          <p:spPr bwMode="gray">
            <a:xfrm>
              <a:off x="10139511" y="3387515"/>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45E26B5-F836-5BE7-B4AE-DAEAB47E4553}"/>
                </a:ext>
              </a:extLst>
            </p:cNvPr>
            <p:cNvCxnSpPr>
              <a:cxnSpLocks/>
            </p:cNvCxnSpPr>
            <p:nvPr/>
          </p:nvCxnSpPr>
          <p:spPr bwMode="gray">
            <a:xfrm>
              <a:off x="7950077" y="3475525"/>
              <a:ext cx="822922"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7" name="TextBox 126">
              <a:extLst>
                <a:ext uri="{FF2B5EF4-FFF2-40B4-BE49-F238E27FC236}">
                  <a16:creationId xmlns:a16="http://schemas.microsoft.com/office/drawing/2014/main" id="{1B839906-1B93-76C5-E974-F7DE81E48C5B}"/>
                </a:ext>
              </a:extLst>
            </p:cNvPr>
            <p:cNvSpPr txBox="1"/>
            <p:nvPr/>
          </p:nvSpPr>
          <p:spPr>
            <a:xfrm>
              <a:off x="8694041" y="3379353"/>
              <a:ext cx="701507" cy="184666"/>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7B8C"/>
                  </a:solidFill>
                  <a:effectLst/>
                  <a:uLnTx/>
                  <a:uFillTx/>
                  <a:latin typeface="Arial" panose="020B0604020202020204"/>
                  <a:ea typeface="+mn-ea"/>
                  <a:cs typeface="+mn-cs"/>
                </a:rPr>
                <a:t>vSAN</a:t>
              </a:r>
            </a:p>
          </p:txBody>
        </p:sp>
      </p:grpSp>
      <p:grpSp>
        <p:nvGrpSpPr>
          <p:cNvPr id="5" name="Group 4">
            <a:extLst>
              <a:ext uri="{FF2B5EF4-FFF2-40B4-BE49-F238E27FC236}">
                <a16:creationId xmlns:a16="http://schemas.microsoft.com/office/drawing/2014/main" id="{242812AA-4365-DFC5-0489-A704D66924C3}"/>
              </a:ext>
            </a:extLst>
          </p:cNvPr>
          <p:cNvGrpSpPr/>
          <p:nvPr/>
        </p:nvGrpSpPr>
        <p:grpSpPr>
          <a:xfrm>
            <a:off x="7950077" y="3385398"/>
            <a:ext cx="2189434" cy="283867"/>
            <a:chOff x="7950077" y="3385398"/>
            <a:chExt cx="2189434" cy="283867"/>
          </a:xfrm>
        </p:grpSpPr>
        <p:grpSp>
          <p:nvGrpSpPr>
            <p:cNvPr id="146" name="Group 145">
              <a:extLst>
                <a:ext uri="{FF2B5EF4-FFF2-40B4-BE49-F238E27FC236}">
                  <a16:creationId xmlns:a16="http://schemas.microsoft.com/office/drawing/2014/main" id="{F4BA2A7D-07BE-B047-E321-405A51CD91FC}"/>
                </a:ext>
              </a:extLst>
            </p:cNvPr>
            <p:cNvGrpSpPr/>
            <p:nvPr/>
          </p:nvGrpSpPr>
          <p:grpSpPr>
            <a:xfrm>
              <a:off x="7950077" y="3385398"/>
              <a:ext cx="2189434" cy="113067"/>
              <a:chOff x="9883178" y="3095486"/>
              <a:chExt cx="2189434" cy="113067"/>
            </a:xfrm>
            <a:solidFill>
              <a:schemeClr val="accent1">
                <a:lumMod val="20000"/>
                <a:lumOff val="80000"/>
              </a:schemeClr>
            </a:solidFill>
          </p:grpSpPr>
          <p:sp>
            <p:nvSpPr>
              <p:cNvPr id="142" name="Rectangle 141">
                <a:extLst>
                  <a:ext uri="{FF2B5EF4-FFF2-40B4-BE49-F238E27FC236}">
                    <a16:creationId xmlns:a16="http://schemas.microsoft.com/office/drawing/2014/main" id="{10303A7D-76F8-594A-D699-12D7CA7202D1}"/>
                  </a:ext>
                </a:extLst>
              </p:cNvPr>
              <p:cNvSpPr/>
              <p:nvPr/>
            </p:nvSpPr>
            <p:spPr>
              <a:xfrm>
                <a:off x="9883178"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3" name="Rectangle 142">
                <a:extLst>
                  <a:ext uri="{FF2B5EF4-FFF2-40B4-BE49-F238E27FC236}">
                    <a16:creationId xmlns:a16="http://schemas.microsoft.com/office/drawing/2014/main" id="{DD7858F7-59AE-9791-0521-E7F86E44B115}"/>
                  </a:ext>
                </a:extLst>
              </p:cNvPr>
              <p:cNvSpPr/>
              <p:nvPr/>
            </p:nvSpPr>
            <p:spPr>
              <a:xfrm>
                <a:off x="10447015"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4" name="Rectangle 143">
                <a:extLst>
                  <a:ext uri="{FF2B5EF4-FFF2-40B4-BE49-F238E27FC236}">
                    <a16:creationId xmlns:a16="http://schemas.microsoft.com/office/drawing/2014/main" id="{E2508E3D-3CC7-1674-80E0-7D744B50E2CB}"/>
                  </a:ext>
                </a:extLst>
              </p:cNvPr>
              <p:cNvSpPr/>
              <p:nvPr/>
            </p:nvSpPr>
            <p:spPr>
              <a:xfrm>
                <a:off x="11010852"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5" name="Rectangle 144">
                <a:extLst>
                  <a:ext uri="{FF2B5EF4-FFF2-40B4-BE49-F238E27FC236}">
                    <a16:creationId xmlns:a16="http://schemas.microsoft.com/office/drawing/2014/main" id="{6FC90A93-6267-0C2A-8FDC-341359E05CAF}"/>
                  </a:ext>
                </a:extLst>
              </p:cNvPr>
              <p:cNvSpPr/>
              <p:nvPr/>
            </p:nvSpPr>
            <p:spPr>
              <a:xfrm>
                <a:off x="11574689"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47" name="Group 146">
              <a:extLst>
                <a:ext uri="{FF2B5EF4-FFF2-40B4-BE49-F238E27FC236}">
                  <a16:creationId xmlns:a16="http://schemas.microsoft.com/office/drawing/2014/main" id="{4F7371B1-5327-00CC-52BE-3968DB785B48}"/>
                </a:ext>
              </a:extLst>
            </p:cNvPr>
            <p:cNvGrpSpPr/>
            <p:nvPr/>
          </p:nvGrpSpPr>
          <p:grpSpPr>
            <a:xfrm>
              <a:off x="7950077" y="3556198"/>
              <a:ext cx="2189434" cy="113067"/>
              <a:chOff x="9883178" y="3095486"/>
              <a:chExt cx="2189434" cy="113067"/>
            </a:xfrm>
            <a:solidFill>
              <a:schemeClr val="accent1">
                <a:lumMod val="20000"/>
                <a:lumOff val="80000"/>
              </a:schemeClr>
            </a:solidFill>
          </p:grpSpPr>
          <p:sp>
            <p:nvSpPr>
              <p:cNvPr id="148" name="Rectangle 147">
                <a:extLst>
                  <a:ext uri="{FF2B5EF4-FFF2-40B4-BE49-F238E27FC236}">
                    <a16:creationId xmlns:a16="http://schemas.microsoft.com/office/drawing/2014/main" id="{D75B7E27-2D3A-0140-B195-35EB2E044538}"/>
                  </a:ext>
                </a:extLst>
              </p:cNvPr>
              <p:cNvSpPr/>
              <p:nvPr/>
            </p:nvSpPr>
            <p:spPr>
              <a:xfrm>
                <a:off x="9883178"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9" name="Rectangle 148">
                <a:extLst>
                  <a:ext uri="{FF2B5EF4-FFF2-40B4-BE49-F238E27FC236}">
                    <a16:creationId xmlns:a16="http://schemas.microsoft.com/office/drawing/2014/main" id="{9518C7C3-9E19-D9D1-8EBB-F07D5C8EB7F5}"/>
                  </a:ext>
                </a:extLst>
              </p:cNvPr>
              <p:cNvSpPr/>
              <p:nvPr/>
            </p:nvSpPr>
            <p:spPr>
              <a:xfrm>
                <a:off x="10447015"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0" name="Rectangle 149">
                <a:extLst>
                  <a:ext uri="{FF2B5EF4-FFF2-40B4-BE49-F238E27FC236}">
                    <a16:creationId xmlns:a16="http://schemas.microsoft.com/office/drawing/2014/main" id="{34C13807-80C8-3732-8579-7E7247A6075D}"/>
                  </a:ext>
                </a:extLst>
              </p:cNvPr>
              <p:cNvSpPr/>
              <p:nvPr/>
            </p:nvSpPr>
            <p:spPr>
              <a:xfrm>
                <a:off x="11010852"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1" name="Rectangle 150">
                <a:extLst>
                  <a:ext uri="{FF2B5EF4-FFF2-40B4-BE49-F238E27FC236}">
                    <a16:creationId xmlns:a16="http://schemas.microsoft.com/office/drawing/2014/main" id="{2FB70ABC-A4BE-972D-2A1D-BB23D96671C1}"/>
                  </a:ext>
                </a:extLst>
              </p:cNvPr>
              <p:cNvSpPr/>
              <p:nvPr/>
            </p:nvSpPr>
            <p:spPr>
              <a:xfrm>
                <a:off x="11574689"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7" name="Group 6">
            <a:extLst>
              <a:ext uri="{FF2B5EF4-FFF2-40B4-BE49-F238E27FC236}">
                <a16:creationId xmlns:a16="http://schemas.microsoft.com/office/drawing/2014/main" id="{4D0C2323-7B40-547B-9744-65DCC2964DCF}"/>
              </a:ext>
            </a:extLst>
          </p:cNvPr>
          <p:cNvGrpSpPr/>
          <p:nvPr/>
        </p:nvGrpSpPr>
        <p:grpSpPr>
          <a:xfrm>
            <a:off x="7950077" y="3102709"/>
            <a:ext cx="2189434" cy="230392"/>
            <a:chOff x="7950077" y="3102709"/>
            <a:chExt cx="2189434" cy="230392"/>
          </a:xfrm>
        </p:grpSpPr>
        <p:grpSp>
          <p:nvGrpSpPr>
            <p:cNvPr id="132" name="Group 131">
              <a:extLst>
                <a:ext uri="{FF2B5EF4-FFF2-40B4-BE49-F238E27FC236}">
                  <a16:creationId xmlns:a16="http://schemas.microsoft.com/office/drawing/2014/main" id="{6BFDEF11-0E5A-8FF4-84CC-C2A8EEF8F986}"/>
                </a:ext>
              </a:extLst>
            </p:cNvPr>
            <p:cNvGrpSpPr/>
            <p:nvPr/>
          </p:nvGrpSpPr>
          <p:grpSpPr>
            <a:xfrm>
              <a:off x="7950077" y="3102709"/>
              <a:ext cx="1061760" cy="230392"/>
              <a:chOff x="6535453" y="2852959"/>
              <a:chExt cx="966592" cy="209741"/>
            </a:xfrm>
            <a:solidFill>
              <a:schemeClr val="accent1"/>
            </a:solidFill>
          </p:grpSpPr>
          <p:pic>
            <p:nvPicPr>
              <p:cNvPr id="133" name="Graphic 132">
                <a:extLst>
                  <a:ext uri="{FF2B5EF4-FFF2-40B4-BE49-F238E27FC236}">
                    <a16:creationId xmlns:a16="http://schemas.microsoft.com/office/drawing/2014/main" id="{CF0A5AFA-B91C-07C6-1518-7490766D66E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87737" y="2852959"/>
                <a:ext cx="209741" cy="209741"/>
              </a:xfrm>
              <a:prstGeom prst="rect">
                <a:avLst/>
              </a:prstGeom>
            </p:spPr>
          </p:pic>
          <p:pic>
            <p:nvPicPr>
              <p:cNvPr id="134" name="Graphic 133">
                <a:extLst>
                  <a:ext uri="{FF2B5EF4-FFF2-40B4-BE49-F238E27FC236}">
                    <a16:creationId xmlns:a16="http://schemas.microsoft.com/office/drawing/2014/main" id="{F3906650-685F-EDFD-5EDE-FF8EF9E7604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535453" y="2852959"/>
                <a:ext cx="209741" cy="209741"/>
              </a:xfrm>
              <a:prstGeom prst="rect">
                <a:avLst/>
              </a:prstGeom>
            </p:spPr>
          </p:pic>
          <p:pic>
            <p:nvPicPr>
              <p:cNvPr id="135" name="Graphic 134">
                <a:extLst>
                  <a:ext uri="{FF2B5EF4-FFF2-40B4-BE49-F238E27FC236}">
                    <a16:creationId xmlns:a16="http://schemas.microsoft.com/office/drawing/2014/main" id="{C5C2FD33-A59B-6F53-EF15-5C8606E0F78B}"/>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292304" y="2852959"/>
                <a:ext cx="209741" cy="209741"/>
              </a:xfrm>
              <a:prstGeom prst="rect">
                <a:avLst/>
              </a:prstGeom>
            </p:spPr>
          </p:pic>
          <p:pic>
            <p:nvPicPr>
              <p:cNvPr id="136" name="Graphic 135">
                <a:extLst>
                  <a:ext uri="{FF2B5EF4-FFF2-40B4-BE49-F238E27FC236}">
                    <a16:creationId xmlns:a16="http://schemas.microsoft.com/office/drawing/2014/main" id="{5454DF4B-0877-C40A-9D32-84219C119D6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40021" y="2852959"/>
                <a:ext cx="209741" cy="209741"/>
              </a:xfrm>
              <a:prstGeom prst="rect">
                <a:avLst/>
              </a:prstGeom>
            </p:spPr>
          </p:pic>
        </p:grpSp>
        <p:grpSp>
          <p:nvGrpSpPr>
            <p:cNvPr id="156" name="Group 155">
              <a:extLst>
                <a:ext uri="{FF2B5EF4-FFF2-40B4-BE49-F238E27FC236}">
                  <a16:creationId xmlns:a16="http://schemas.microsoft.com/office/drawing/2014/main" id="{99551A68-9AC5-74B4-9B1E-842FBA900320}"/>
                </a:ext>
              </a:extLst>
            </p:cNvPr>
            <p:cNvGrpSpPr/>
            <p:nvPr/>
          </p:nvGrpSpPr>
          <p:grpSpPr>
            <a:xfrm>
              <a:off x="9077751" y="3102709"/>
              <a:ext cx="1061760" cy="230392"/>
              <a:chOff x="6535453" y="2852959"/>
              <a:chExt cx="966592" cy="209741"/>
            </a:xfrm>
            <a:solidFill>
              <a:schemeClr val="accent1"/>
            </a:solidFill>
          </p:grpSpPr>
          <p:pic>
            <p:nvPicPr>
              <p:cNvPr id="157" name="Graphic 156">
                <a:extLst>
                  <a:ext uri="{FF2B5EF4-FFF2-40B4-BE49-F238E27FC236}">
                    <a16:creationId xmlns:a16="http://schemas.microsoft.com/office/drawing/2014/main" id="{8D105DDF-6A6D-2820-B245-BE2B3D8DB16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87737" y="2852959"/>
                <a:ext cx="209741" cy="209741"/>
              </a:xfrm>
              <a:prstGeom prst="rect">
                <a:avLst/>
              </a:prstGeom>
            </p:spPr>
          </p:pic>
          <p:pic>
            <p:nvPicPr>
              <p:cNvPr id="158" name="Graphic 157">
                <a:extLst>
                  <a:ext uri="{FF2B5EF4-FFF2-40B4-BE49-F238E27FC236}">
                    <a16:creationId xmlns:a16="http://schemas.microsoft.com/office/drawing/2014/main" id="{59C9D312-FEA7-A090-0E72-C1ACF72F7D4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535453" y="2852959"/>
                <a:ext cx="209741" cy="209741"/>
              </a:xfrm>
              <a:prstGeom prst="rect">
                <a:avLst/>
              </a:prstGeom>
            </p:spPr>
          </p:pic>
          <p:pic>
            <p:nvPicPr>
              <p:cNvPr id="159" name="Graphic 158">
                <a:extLst>
                  <a:ext uri="{FF2B5EF4-FFF2-40B4-BE49-F238E27FC236}">
                    <a16:creationId xmlns:a16="http://schemas.microsoft.com/office/drawing/2014/main" id="{68F22FB7-F1A3-2AA4-F450-58C4FB3420F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292304" y="2852959"/>
                <a:ext cx="209741" cy="209741"/>
              </a:xfrm>
              <a:prstGeom prst="rect">
                <a:avLst/>
              </a:prstGeom>
            </p:spPr>
          </p:pic>
          <p:pic>
            <p:nvPicPr>
              <p:cNvPr id="160" name="Graphic 159">
                <a:extLst>
                  <a:ext uri="{FF2B5EF4-FFF2-40B4-BE49-F238E27FC236}">
                    <a16:creationId xmlns:a16="http://schemas.microsoft.com/office/drawing/2014/main" id="{5BBAD682-8727-73B3-4E75-38E432B6C31C}"/>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40021" y="2852959"/>
                <a:ext cx="209741" cy="209741"/>
              </a:xfrm>
              <a:prstGeom prst="rect">
                <a:avLst/>
              </a:prstGeom>
            </p:spPr>
          </p:pic>
        </p:grpSp>
      </p:grpSp>
      <p:sp>
        <p:nvSpPr>
          <p:cNvPr id="195" name="TextBox 194">
            <a:extLst>
              <a:ext uri="{FF2B5EF4-FFF2-40B4-BE49-F238E27FC236}">
                <a16:creationId xmlns:a16="http://schemas.microsoft.com/office/drawing/2014/main" id="{0FE3F6A3-1AA2-E66B-196A-8FA9A2004D93}"/>
              </a:ext>
            </a:extLst>
          </p:cNvPr>
          <p:cNvSpPr txBox="1"/>
          <p:nvPr/>
        </p:nvSpPr>
        <p:spPr>
          <a:xfrm>
            <a:off x="10367423" y="5510832"/>
            <a:ext cx="822923"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Storage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only</a:t>
            </a:r>
          </a:p>
        </p:txBody>
      </p:sp>
      <p:pic>
        <p:nvPicPr>
          <p:cNvPr id="196" name="Graphic 195">
            <a:extLst>
              <a:ext uri="{FF2B5EF4-FFF2-40B4-BE49-F238E27FC236}">
                <a16:creationId xmlns:a16="http://schemas.microsoft.com/office/drawing/2014/main" id="{B5834B18-FCC1-BBAD-90A6-FF3CA1D7D9B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949589" y="5898856"/>
            <a:ext cx="190410" cy="223781"/>
          </a:xfrm>
          <a:prstGeom prst="rect">
            <a:avLst/>
          </a:prstGeom>
        </p:spPr>
      </p:pic>
      <p:grpSp>
        <p:nvGrpSpPr>
          <p:cNvPr id="197" name="Group 196">
            <a:extLst>
              <a:ext uri="{FF2B5EF4-FFF2-40B4-BE49-F238E27FC236}">
                <a16:creationId xmlns:a16="http://schemas.microsoft.com/office/drawing/2014/main" id="{2CB79DD2-F8F6-A42E-8936-C0BE7E3865F0}"/>
              </a:ext>
            </a:extLst>
          </p:cNvPr>
          <p:cNvGrpSpPr/>
          <p:nvPr/>
        </p:nvGrpSpPr>
        <p:grpSpPr>
          <a:xfrm>
            <a:off x="7950077" y="5706262"/>
            <a:ext cx="2189434" cy="184666"/>
            <a:chOff x="7950077" y="3379353"/>
            <a:chExt cx="2189434" cy="184666"/>
          </a:xfrm>
        </p:grpSpPr>
        <p:cxnSp>
          <p:nvCxnSpPr>
            <p:cNvPr id="218" name="Straight Connector 217">
              <a:extLst>
                <a:ext uri="{FF2B5EF4-FFF2-40B4-BE49-F238E27FC236}">
                  <a16:creationId xmlns:a16="http://schemas.microsoft.com/office/drawing/2014/main" id="{285B9CF2-D8A1-46C5-1FB8-10559CE16B2C}"/>
                </a:ext>
              </a:extLst>
            </p:cNvPr>
            <p:cNvCxnSpPr>
              <a:cxnSpLocks/>
            </p:cNvCxnSpPr>
            <p:nvPr/>
          </p:nvCxnSpPr>
          <p:spPr bwMode="gray">
            <a:xfrm>
              <a:off x="7954667" y="3387515"/>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BB1434D-8C18-6514-9EB0-9CC2FDC5066A}"/>
                </a:ext>
              </a:extLst>
            </p:cNvPr>
            <p:cNvCxnSpPr>
              <a:cxnSpLocks/>
            </p:cNvCxnSpPr>
            <p:nvPr/>
          </p:nvCxnSpPr>
          <p:spPr bwMode="gray">
            <a:xfrm>
              <a:off x="9300829" y="3475525"/>
              <a:ext cx="838682"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E1BDEAFC-E763-CDA2-DBCF-6CB9DA652566}"/>
                </a:ext>
              </a:extLst>
            </p:cNvPr>
            <p:cNvCxnSpPr>
              <a:cxnSpLocks/>
            </p:cNvCxnSpPr>
            <p:nvPr/>
          </p:nvCxnSpPr>
          <p:spPr bwMode="gray">
            <a:xfrm>
              <a:off x="10139511" y="3387515"/>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84EA498E-A752-6023-4682-5A81E5CC6AF1}"/>
                </a:ext>
              </a:extLst>
            </p:cNvPr>
            <p:cNvCxnSpPr>
              <a:cxnSpLocks/>
            </p:cNvCxnSpPr>
            <p:nvPr/>
          </p:nvCxnSpPr>
          <p:spPr bwMode="gray">
            <a:xfrm>
              <a:off x="7950077" y="3475525"/>
              <a:ext cx="822922"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2" name="TextBox 221">
              <a:extLst>
                <a:ext uri="{FF2B5EF4-FFF2-40B4-BE49-F238E27FC236}">
                  <a16:creationId xmlns:a16="http://schemas.microsoft.com/office/drawing/2014/main" id="{0BC70AAC-56C7-53DA-0D10-0875B2DC491A}"/>
                </a:ext>
              </a:extLst>
            </p:cNvPr>
            <p:cNvSpPr txBox="1"/>
            <p:nvPr/>
          </p:nvSpPr>
          <p:spPr>
            <a:xfrm>
              <a:off x="8694041" y="3379353"/>
              <a:ext cx="701507" cy="184666"/>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vSAN</a:t>
              </a:r>
            </a:p>
          </p:txBody>
        </p:sp>
      </p:grpSp>
      <p:grpSp>
        <p:nvGrpSpPr>
          <p:cNvPr id="200" name="Group 199">
            <a:extLst>
              <a:ext uri="{FF2B5EF4-FFF2-40B4-BE49-F238E27FC236}">
                <a16:creationId xmlns:a16="http://schemas.microsoft.com/office/drawing/2014/main" id="{B83D204F-C6E5-C065-63D6-B3820041D62B}"/>
              </a:ext>
            </a:extLst>
          </p:cNvPr>
          <p:cNvGrpSpPr/>
          <p:nvPr/>
        </p:nvGrpSpPr>
        <p:grpSpPr>
          <a:xfrm>
            <a:off x="7950077" y="5561973"/>
            <a:ext cx="2189434" cy="113067"/>
            <a:chOff x="9883178" y="3095486"/>
            <a:chExt cx="2189434" cy="113067"/>
          </a:xfrm>
          <a:solidFill>
            <a:schemeClr val="accent2">
              <a:lumMod val="20000"/>
              <a:lumOff val="80000"/>
            </a:schemeClr>
          </a:solidFill>
        </p:grpSpPr>
        <p:sp>
          <p:nvSpPr>
            <p:cNvPr id="206" name="Rectangle 205">
              <a:extLst>
                <a:ext uri="{FF2B5EF4-FFF2-40B4-BE49-F238E27FC236}">
                  <a16:creationId xmlns:a16="http://schemas.microsoft.com/office/drawing/2014/main" id="{38E9E5AC-C746-12A3-56DF-0B40BD5C308B}"/>
                </a:ext>
              </a:extLst>
            </p:cNvPr>
            <p:cNvSpPr/>
            <p:nvPr/>
          </p:nvSpPr>
          <p:spPr>
            <a:xfrm>
              <a:off x="9883178"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7" name="Rectangle 206">
              <a:extLst>
                <a:ext uri="{FF2B5EF4-FFF2-40B4-BE49-F238E27FC236}">
                  <a16:creationId xmlns:a16="http://schemas.microsoft.com/office/drawing/2014/main" id="{35FCD62E-70E4-155E-F062-61CDDB72001D}"/>
                </a:ext>
              </a:extLst>
            </p:cNvPr>
            <p:cNvSpPr/>
            <p:nvPr/>
          </p:nvSpPr>
          <p:spPr>
            <a:xfrm>
              <a:off x="10447015"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8" name="Rectangle 207">
              <a:extLst>
                <a:ext uri="{FF2B5EF4-FFF2-40B4-BE49-F238E27FC236}">
                  <a16:creationId xmlns:a16="http://schemas.microsoft.com/office/drawing/2014/main" id="{5AA90186-03CB-26D2-8B52-4505242B1790}"/>
                </a:ext>
              </a:extLst>
            </p:cNvPr>
            <p:cNvSpPr/>
            <p:nvPr/>
          </p:nvSpPr>
          <p:spPr>
            <a:xfrm>
              <a:off x="11010852"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9" name="Rectangle 208">
              <a:extLst>
                <a:ext uri="{FF2B5EF4-FFF2-40B4-BE49-F238E27FC236}">
                  <a16:creationId xmlns:a16="http://schemas.microsoft.com/office/drawing/2014/main" id="{9C9855B2-A00B-5E61-8DE8-CA8003664991}"/>
                </a:ext>
              </a:extLst>
            </p:cNvPr>
            <p:cNvSpPr/>
            <p:nvPr/>
          </p:nvSpPr>
          <p:spPr>
            <a:xfrm>
              <a:off x="11574689"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99" name="Group 198">
            <a:extLst>
              <a:ext uri="{FF2B5EF4-FFF2-40B4-BE49-F238E27FC236}">
                <a16:creationId xmlns:a16="http://schemas.microsoft.com/office/drawing/2014/main" id="{EE38CD15-4A57-73F9-5BAC-48709ECEAEE3}"/>
              </a:ext>
            </a:extLst>
          </p:cNvPr>
          <p:cNvGrpSpPr/>
          <p:nvPr/>
        </p:nvGrpSpPr>
        <p:grpSpPr>
          <a:xfrm>
            <a:off x="7950077" y="4806872"/>
            <a:ext cx="2189434" cy="113067"/>
            <a:chOff x="9883178" y="3095486"/>
            <a:chExt cx="2189434" cy="113067"/>
          </a:xfrm>
          <a:solidFill>
            <a:schemeClr val="accent4">
              <a:lumMod val="20000"/>
              <a:lumOff val="80000"/>
            </a:schemeClr>
          </a:solidFill>
        </p:grpSpPr>
        <p:sp>
          <p:nvSpPr>
            <p:cNvPr id="210" name="Rectangle 209">
              <a:extLst>
                <a:ext uri="{FF2B5EF4-FFF2-40B4-BE49-F238E27FC236}">
                  <a16:creationId xmlns:a16="http://schemas.microsoft.com/office/drawing/2014/main" id="{50453406-A886-25B9-3DC3-1C511FC11253}"/>
                </a:ext>
              </a:extLst>
            </p:cNvPr>
            <p:cNvSpPr/>
            <p:nvPr/>
          </p:nvSpPr>
          <p:spPr>
            <a:xfrm>
              <a:off x="9883178"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1" name="Rectangle 210">
              <a:extLst>
                <a:ext uri="{FF2B5EF4-FFF2-40B4-BE49-F238E27FC236}">
                  <a16:creationId xmlns:a16="http://schemas.microsoft.com/office/drawing/2014/main" id="{17117D1F-B8C8-2298-C842-AE8287CA6B4E}"/>
                </a:ext>
              </a:extLst>
            </p:cNvPr>
            <p:cNvSpPr/>
            <p:nvPr/>
          </p:nvSpPr>
          <p:spPr>
            <a:xfrm>
              <a:off x="10447015"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2" name="Rectangle 211">
              <a:extLst>
                <a:ext uri="{FF2B5EF4-FFF2-40B4-BE49-F238E27FC236}">
                  <a16:creationId xmlns:a16="http://schemas.microsoft.com/office/drawing/2014/main" id="{A086165B-6968-4F88-A3B7-3C212D1AA85A}"/>
                </a:ext>
              </a:extLst>
            </p:cNvPr>
            <p:cNvSpPr/>
            <p:nvPr/>
          </p:nvSpPr>
          <p:spPr>
            <a:xfrm>
              <a:off x="11010852"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3" name="Rectangle 212">
              <a:extLst>
                <a:ext uri="{FF2B5EF4-FFF2-40B4-BE49-F238E27FC236}">
                  <a16:creationId xmlns:a16="http://schemas.microsoft.com/office/drawing/2014/main" id="{20E0F292-8423-43B2-E8CF-A2592FD054F8}"/>
                </a:ext>
              </a:extLst>
            </p:cNvPr>
            <p:cNvSpPr/>
            <p:nvPr/>
          </p:nvSpPr>
          <p:spPr>
            <a:xfrm>
              <a:off x="11574689"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D8950396-26C1-6C38-D311-509CA0D11321}"/>
              </a:ext>
            </a:extLst>
          </p:cNvPr>
          <p:cNvGrpSpPr/>
          <p:nvPr/>
        </p:nvGrpSpPr>
        <p:grpSpPr>
          <a:xfrm>
            <a:off x="7950077" y="4524183"/>
            <a:ext cx="2189434" cy="230392"/>
            <a:chOff x="7950077" y="4524183"/>
            <a:chExt cx="2189434" cy="230392"/>
          </a:xfrm>
        </p:grpSpPr>
        <p:grpSp>
          <p:nvGrpSpPr>
            <p:cNvPr id="198" name="Group 197">
              <a:extLst>
                <a:ext uri="{FF2B5EF4-FFF2-40B4-BE49-F238E27FC236}">
                  <a16:creationId xmlns:a16="http://schemas.microsoft.com/office/drawing/2014/main" id="{4BE756A5-8F9D-674F-75EB-3C3B2696BBFE}"/>
                </a:ext>
              </a:extLst>
            </p:cNvPr>
            <p:cNvGrpSpPr/>
            <p:nvPr/>
          </p:nvGrpSpPr>
          <p:grpSpPr>
            <a:xfrm>
              <a:off x="7950077" y="4524183"/>
              <a:ext cx="1061760" cy="230392"/>
              <a:chOff x="6535453" y="2852959"/>
              <a:chExt cx="966592" cy="209741"/>
            </a:xfrm>
            <a:solidFill>
              <a:schemeClr val="accent2"/>
            </a:solidFill>
          </p:grpSpPr>
          <p:pic>
            <p:nvPicPr>
              <p:cNvPr id="214" name="Graphic 213">
                <a:extLst>
                  <a:ext uri="{FF2B5EF4-FFF2-40B4-BE49-F238E27FC236}">
                    <a16:creationId xmlns:a16="http://schemas.microsoft.com/office/drawing/2014/main" id="{D9207ACD-8118-4FC9-D3C7-894EF18327E4}"/>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787737" y="2852959"/>
                <a:ext cx="209741" cy="209741"/>
              </a:xfrm>
              <a:prstGeom prst="rect">
                <a:avLst/>
              </a:prstGeom>
            </p:spPr>
          </p:pic>
          <p:pic>
            <p:nvPicPr>
              <p:cNvPr id="215" name="Graphic 214">
                <a:extLst>
                  <a:ext uri="{FF2B5EF4-FFF2-40B4-BE49-F238E27FC236}">
                    <a16:creationId xmlns:a16="http://schemas.microsoft.com/office/drawing/2014/main" id="{24F3FA36-A024-2778-1FC6-50E17F4BF2C7}"/>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535453" y="2852959"/>
                <a:ext cx="209741" cy="209741"/>
              </a:xfrm>
              <a:prstGeom prst="rect">
                <a:avLst/>
              </a:prstGeom>
            </p:spPr>
          </p:pic>
          <p:pic>
            <p:nvPicPr>
              <p:cNvPr id="216" name="Graphic 215">
                <a:extLst>
                  <a:ext uri="{FF2B5EF4-FFF2-40B4-BE49-F238E27FC236}">
                    <a16:creationId xmlns:a16="http://schemas.microsoft.com/office/drawing/2014/main" id="{2DC517B7-466E-F373-3968-C31021CF2E11}"/>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292304" y="2852959"/>
                <a:ext cx="209741" cy="209741"/>
              </a:xfrm>
              <a:prstGeom prst="rect">
                <a:avLst/>
              </a:prstGeom>
            </p:spPr>
          </p:pic>
          <p:pic>
            <p:nvPicPr>
              <p:cNvPr id="217" name="Graphic 216">
                <a:extLst>
                  <a:ext uri="{FF2B5EF4-FFF2-40B4-BE49-F238E27FC236}">
                    <a16:creationId xmlns:a16="http://schemas.microsoft.com/office/drawing/2014/main" id="{9829DDB6-3053-DB7B-D21B-E916DCAA907F}"/>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040021" y="2852959"/>
                <a:ext cx="209741" cy="209741"/>
              </a:xfrm>
              <a:prstGeom prst="rect">
                <a:avLst/>
              </a:prstGeom>
            </p:spPr>
          </p:pic>
        </p:grpSp>
        <p:grpSp>
          <p:nvGrpSpPr>
            <p:cNvPr id="201" name="Group 200">
              <a:extLst>
                <a:ext uri="{FF2B5EF4-FFF2-40B4-BE49-F238E27FC236}">
                  <a16:creationId xmlns:a16="http://schemas.microsoft.com/office/drawing/2014/main" id="{D7F6A324-D189-8316-942F-3A4C4C8ED847}"/>
                </a:ext>
              </a:extLst>
            </p:cNvPr>
            <p:cNvGrpSpPr/>
            <p:nvPr/>
          </p:nvGrpSpPr>
          <p:grpSpPr>
            <a:xfrm>
              <a:off x="9077751" y="4524183"/>
              <a:ext cx="1061760" cy="230392"/>
              <a:chOff x="6535453" y="2852959"/>
              <a:chExt cx="966592" cy="209741"/>
            </a:xfrm>
            <a:solidFill>
              <a:schemeClr val="accent2"/>
            </a:solidFill>
          </p:grpSpPr>
          <p:pic>
            <p:nvPicPr>
              <p:cNvPr id="202" name="Graphic 201">
                <a:extLst>
                  <a:ext uri="{FF2B5EF4-FFF2-40B4-BE49-F238E27FC236}">
                    <a16:creationId xmlns:a16="http://schemas.microsoft.com/office/drawing/2014/main" id="{2EE13C00-D464-3FDF-02F5-E29ACEA2B054}"/>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787737" y="2852959"/>
                <a:ext cx="209741" cy="209741"/>
              </a:xfrm>
              <a:prstGeom prst="rect">
                <a:avLst/>
              </a:prstGeom>
            </p:spPr>
          </p:pic>
          <p:pic>
            <p:nvPicPr>
              <p:cNvPr id="203" name="Graphic 202">
                <a:extLst>
                  <a:ext uri="{FF2B5EF4-FFF2-40B4-BE49-F238E27FC236}">
                    <a16:creationId xmlns:a16="http://schemas.microsoft.com/office/drawing/2014/main" id="{9F5CCCAA-BD43-14E7-CF32-76CE932A9438}"/>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535453" y="2852959"/>
                <a:ext cx="209741" cy="209741"/>
              </a:xfrm>
              <a:prstGeom prst="rect">
                <a:avLst/>
              </a:prstGeom>
            </p:spPr>
          </p:pic>
          <p:pic>
            <p:nvPicPr>
              <p:cNvPr id="204" name="Graphic 203">
                <a:extLst>
                  <a:ext uri="{FF2B5EF4-FFF2-40B4-BE49-F238E27FC236}">
                    <a16:creationId xmlns:a16="http://schemas.microsoft.com/office/drawing/2014/main" id="{EA539B61-2B8E-4BCC-B542-3E663EC6870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292304" y="2852959"/>
                <a:ext cx="209741" cy="209741"/>
              </a:xfrm>
              <a:prstGeom prst="rect">
                <a:avLst/>
              </a:prstGeom>
            </p:spPr>
          </p:pic>
          <p:pic>
            <p:nvPicPr>
              <p:cNvPr id="205" name="Graphic 204">
                <a:extLst>
                  <a:ext uri="{FF2B5EF4-FFF2-40B4-BE49-F238E27FC236}">
                    <a16:creationId xmlns:a16="http://schemas.microsoft.com/office/drawing/2014/main" id="{86FBF6CC-2A2F-BF0E-5A36-B71626C14940}"/>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040021" y="2852959"/>
                <a:ext cx="209741" cy="209741"/>
              </a:xfrm>
              <a:prstGeom prst="rect">
                <a:avLst/>
              </a:prstGeom>
            </p:spPr>
          </p:pic>
        </p:grpSp>
      </p:grpSp>
      <p:sp>
        <p:nvSpPr>
          <p:cNvPr id="223" name="TextBox 222">
            <a:extLst>
              <a:ext uri="{FF2B5EF4-FFF2-40B4-BE49-F238E27FC236}">
                <a16:creationId xmlns:a16="http://schemas.microsoft.com/office/drawing/2014/main" id="{E9960832-9DD9-BAAD-508C-30C226432197}"/>
              </a:ext>
            </a:extLst>
          </p:cNvPr>
          <p:cNvSpPr txBox="1"/>
          <p:nvPr/>
        </p:nvSpPr>
        <p:spPr>
          <a:xfrm>
            <a:off x="10298788" y="4529710"/>
            <a:ext cx="960192"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only</a:t>
            </a:r>
          </a:p>
        </p:txBody>
      </p:sp>
      <p:cxnSp>
        <p:nvCxnSpPr>
          <p:cNvPr id="224" name="Straight Connector 223">
            <a:extLst>
              <a:ext uri="{FF2B5EF4-FFF2-40B4-BE49-F238E27FC236}">
                <a16:creationId xmlns:a16="http://schemas.microsoft.com/office/drawing/2014/main" id="{28238661-A7FB-583F-49AF-D247BF887CD7}"/>
              </a:ext>
            </a:extLst>
          </p:cNvPr>
          <p:cNvCxnSpPr>
            <a:cxnSpLocks/>
          </p:cNvCxnSpPr>
          <p:nvPr/>
        </p:nvCxnSpPr>
        <p:spPr bwMode="gray">
          <a:xfrm flipV="1">
            <a:off x="9044794" y="5236547"/>
            <a:ext cx="0" cy="239818"/>
          </a:xfrm>
          <a:prstGeom prst="line">
            <a:avLst/>
          </a:prstGeom>
          <a:ln w="25400">
            <a:solidFill>
              <a:schemeClr val="accent2"/>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226" name="Graphic 225">
            <a:extLst>
              <a:ext uri="{FF2B5EF4-FFF2-40B4-BE49-F238E27FC236}">
                <a16:creationId xmlns:a16="http://schemas.microsoft.com/office/drawing/2014/main" id="{0FDA2A2D-6473-EA8E-5752-CC031C82710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949589" y="4954224"/>
            <a:ext cx="190410" cy="223781"/>
          </a:xfrm>
          <a:prstGeom prst="rect">
            <a:avLst/>
          </a:prstGeom>
        </p:spPr>
      </p:pic>
      <p:sp>
        <p:nvSpPr>
          <p:cNvPr id="229" name="Freeform: Shape 362">
            <a:extLst>
              <a:ext uri="{FF2B5EF4-FFF2-40B4-BE49-F238E27FC236}">
                <a16:creationId xmlns:a16="http://schemas.microsoft.com/office/drawing/2014/main" id="{E0D77067-7AFC-8F7C-5EFB-3439374E6E95}"/>
              </a:ext>
            </a:extLst>
          </p:cNvPr>
          <p:cNvSpPr/>
          <p:nvPr/>
        </p:nvSpPr>
        <p:spPr>
          <a:xfrm flipH="1">
            <a:off x="6364251" y="3300460"/>
            <a:ext cx="1410416" cy="445442"/>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t>Aggregated Resources</a:t>
            </a:r>
            <a:endParaRPr kumimoji="0" lang="en-US" sz="1400" b="0" i="0" u="none" strike="noStrike" kern="1200" cap="none" spc="0" normalizeH="0" baseline="0" noProof="0" dirty="0">
              <a:ln>
                <a:noFill/>
              </a:ln>
              <a:solidFill>
                <a:srgbClr val="6C4B94"/>
              </a:solidFill>
              <a:effectLst/>
              <a:uLnTx/>
              <a:uFillTx/>
              <a:latin typeface="Arial" panose="020B0604020202020204" pitchFamily="34" charset="0"/>
              <a:ea typeface="+mn-ea"/>
              <a:cs typeface="+mn-cs"/>
            </a:endParaRPr>
          </a:p>
        </p:txBody>
      </p:sp>
      <p:sp>
        <p:nvSpPr>
          <p:cNvPr id="230" name="Freeform: Shape 362">
            <a:extLst>
              <a:ext uri="{FF2B5EF4-FFF2-40B4-BE49-F238E27FC236}">
                <a16:creationId xmlns:a16="http://schemas.microsoft.com/office/drawing/2014/main" id="{6842B279-BD9E-A22B-F63C-8ECC30C96BDD}"/>
              </a:ext>
            </a:extLst>
          </p:cNvPr>
          <p:cNvSpPr/>
          <p:nvPr/>
        </p:nvSpPr>
        <p:spPr>
          <a:xfrm flipH="1">
            <a:off x="6364251" y="4994955"/>
            <a:ext cx="1410416" cy="445442"/>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t>Disaggregated Resources</a:t>
            </a:r>
            <a:endParaRPr kumimoji="0" lang="en-US" sz="1400" b="0" i="0" u="none" strike="noStrike" kern="1200" cap="none" spc="0" normalizeH="0" baseline="0" noProof="0" dirty="0">
              <a:ln>
                <a:noFill/>
              </a:ln>
              <a:solidFill>
                <a:srgbClr val="6C4B94"/>
              </a:solidFill>
              <a:effectLst/>
              <a:uLnTx/>
              <a:uFillTx/>
              <a:latin typeface="Arial" panose="020B0604020202020204" pitchFamily="34" charset="0"/>
              <a:ea typeface="+mn-ea"/>
              <a:cs typeface="+mn-cs"/>
            </a:endParaRPr>
          </a:p>
        </p:txBody>
      </p:sp>
      <p:grpSp>
        <p:nvGrpSpPr>
          <p:cNvPr id="292" name="Group 291">
            <a:extLst>
              <a:ext uri="{FF2B5EF4-FFF2-40B4-BE49-F238E27FC236}">
                <a16:creationId xmlns:a16="http://schemas.microsoft.com/office/drawing/2014/main" id="{47AD4343-B9DF-B41F-0A10-3E90B27456A1}"/>
              </a:ext>
            </a:extLst>
          </p:cNvPr>
          <p:cNvGrpSpPr/>
          <p:nvPr/>
        </p:nvGrpSpPr>
        <p:grpSpPr>
          <a:xfrm>
            <a:off x="1904239" y="3813027"/>
            <a:ext cx="2189434" cy="113067"/>
            <a:chOff x="1904239" y="3813027"/>
            <a:chExt cx="2189434" cy="113067"/>
          </a:xfrm>
        </p:grpSpPr>
        <p:sp>
          <p:nvSpPr>
            <p:cNvPr id="242" name="Rectangle 241">
              <a:extLst>
                <a:ext uri="{FF2B5EF4-FFF2-40B4-BE49-F238E27FC236}">
                  <a16:creationId xmlns:a16="http://schemas.microsoft.com/office/drawing/2014/main" id="{129A0900-4313-3A20-EE4D-1A86151B86C5}"/>
                </a:ext>
              </a:extLst>
            </p:cNvPr>
            <p:cNvSpPr/>
            <p:nvPr/>
          </p:nvSpPr>
          <p:spPr>
            <a:xfrm>
              <a:off x="1904239" y="3813027"/>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3" name="Rectangle 242">
              <a:extLst>
                <a:ext uri="{FF2B5EF4-FFF2-40B4-BE49-F238E27FC236}">
                  <a16:creationId xmlns:a16="http://schemas.microsoft.com/office/drawing/2014/main" id="{E639055E-35A0-BF6E-1FD4-F82203374272}"/>
                </a:ext>
              </a:extLst>
            </p:cNvPr>
            <p:cNvSpPr/>
            <p:nvPr/>
          </p:nvSpPr>
          <p:spPr>
            <a:xfrm>
              <a:off x="2468076" y="3813027"/>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4" name="Rectangle 243">
              <a:extLst>
                <a:ext uri="{FF2B5EF4-FFF2-40B4-BE49-F238E27FC236}">
                  <a16:creationId xmlns:a16="http://schemas.microsoft.com/office/drawing/2014/main" id="{6821203B-F3FE-F955-01BE-3CA6F2DDD386}"/>
                </a:ext>
              </a:extLst>
            </p:cNvPr>
            <p:cNvSpPr/>
            <p:nvPr/>
          </p:nvSpPr>
          <p:spPr>
            <a:xfrm>
              <a:off x="3031913" y="3813027"/>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5" name="Rectangle 244">
              <a:extLst>
                <a:ext uri="{FF2B5EF4-FFF2-40B4-BE49-F238E27FC236}">
                  <a16:creationId xmlns:a16="http://schemas.microsoft.com/office/drawing/2014/main" id="{5843B5B5-39BC-0B39-9780-6F887E634ADA}"/>
                </a:ext>
              </a:extLst>
            </p:cNvPr>
            <p:cNvSpPr/>
            <p:nvPr/>
          </p:nvSpPr>
          <p:spPr>
            <a:xfrm>
              <a:off x="3595750" y="3813027"/>
              <a:ext cx="497923" cy="113067"/>
            </a:xfrm>
            <a:prstGeom prst="rect">
              <a:avLst/>
            </a:prstGeom>
            <a:solidFill>
              <a:schemeClr val="accent4">
                <a:lumMod val="20000"/>
                <a:lumOff val="80000"/>
              </a:schemeClr>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93" name="Group 292">
            <a:extLst>
              <a:ext uri="{FF2B5EF4-FFF2-40B4-BE49-F238E27FC236}">
                <a16:creationId xmlns:a16="http://schemas.microsoft.com/office/drawing/2014/main" id="{92CA2A2F-76DC-D757-0285-413EABBA2F23}"/>
              </a:ext>
            </a:extLst>
          </p:cNvPr>
          <p:cNvGrpSpPr/>
          <p:nvPr/>
        </p:nvGrpSpPr>
        <p:grpSpPr>
          <a:xfrm>
            <a:off x="1904239" y="3530338"/>
            <a:ext cx="2189434" cy="230392"/>
            <a:chOff x="1904239" y="3530338"/>
            <a:chExt cx="2189434" cy="230392"/>
          </a:xfrm>
        </p:grpSpPr>
        <p:grpSp>
          <p:nvGrpSpPr>
            <p:cNvPr id="235" name="Group 234">
              <a:extLst>
                <a:ext uri="{FF2B5EF4-FFF2-40B4-BE49-F238E27FC236}">
                  <a16:creationId xmlns:a16="http://schemas.microsoft.com/office/drawing/2014/main" id="{F41ABFC0-CDE5-852D-9F8B-5AE9DA9D9AB9}"/>
                </a:ext>
              </a:extLst>
            </p:cNvPr>
            <p:cNvGrpSpPr/>
            <p:nvPr/>
          </p:nvGrpSpPr>
          <p:grpSpPr>
            <a:xfrm>
              <a:off x="1904239" y="3530338"/>
              <a:ext cx="1061760" cy="230392"/>
              <a:chOff x="6535453" y="2852959"/>
              <a:chExt cx="966592" cy="209741"/>
            </a:xfrm>
            <a:solidFill>
              <a:schemeClr val="accent2"/>
            </a:solidFill>
          </p:grpSpPr>
          <p:pic>
            <p:nvPicPr>
              <p:cNvPr id="246" name="Graphic 245">
                <a:extLst>
                  <a:ext uri="{FF2B5EF4-FFF2-40B4-BE49-F238E27FC236}">
                    <a16:creationId xmlns:a16="http://schemas.microsoft.com/office/drawing/2014/main" id="{AC43B3AA-D174-D005-08E6-0F32F901CCC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787737" y="2852959"/>
                <a:ext cx="209741" cy="209741"/>
              </a:xfrm>
              <a:prstGeom prst="rect">
                <a:avLst/>
              </a:prstGeom>
            </p:spPr>
          </p:pic>
          <p:pic>
            <p:nvPicPr>
              <p:cNvPr id="247" name="Graphic 246">
                <a:extLst>
                  <a:ext uri="{FF2B5EF4-FFF2-40B4-BE49-F238E27FC236}">
                    <a16:creationId xmlns:a16="http://schemas.microsoft.com/office/drawing/2014/main" id="{4EC04589-DF77-C41E-AB41-00E1CAE4DD7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535453" y="2852959"/>
                <a:ext cx="209741" cy="209741"/>
              </a:xfrm>
              <a:prstGeom prst="rect">
                <a:avLst/>
              </a:prstGeom>
            </p:spPr>
          </p:pic>
          <p:pic>
            <p:nvPicPr>
              <p:cNvPr id="248" name="Graphic 247">
                <a:extLst>
                  <a:ext uri="{FF2B5EF4-FFF2-40B4-BE49-F238E27FC236}">
                    <a16:creationId xmlns:a16="http://schemas.microsoft.com/office/drawing/2014/main" id="{D74C1B32-9FC2-A956-DCE6-930E92A5C57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292304" y="2852959"/>
                <a:ext cx="209741" cy="209741"/>
              </a:xfrm>
              <a:prstGeom prst="rect">
                <a:avLst/>
              </a:prstGeom>
            </p:spPr>
          </p:pic>
          <p:pic>
            <p:nvPicPr>
              <p:cNvPr id="249" name="Graphic 248">
                <a:extLst>
                  <a:ext uri="{FF2B5EF4-FFF2-40B4-BE49-F238E27FC236}">
                    <a16:creationId xmlns:a16="http://schemas.microsoft.com/office/drawing/2014/main" id="{24DF94CF-E689-9340-E940-B619D47D386A}"/>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040021" y="2852959"/>
                <a:ext cx="209741" cy="209741"/>
              </a:xfrm>
              <a:prstGeom prst="rect">
                <a:avLst/>
              </a:prstGeom>
            </p:spPr>
          </p:pic>
        </p:grpSp>
        <p:grpSp>
          <p:nvGrpSpPr>
            <p:cNvPr id="237" name="Group 236">
              <a:extLst>
                <a:ext uri="{FF2B5EF4-FFF2-40B4-BE49-F238E27FC236}">
                  <a16:creationId xmlns:a16="http://schemas.microsoft.com/office/drawing/2014/main" id="{1483989C-B738-B99F-7260-6CD57742386A}"/>
                </a:ext>
              </a:extLst>
            </p:cNvPr>
            <p:cNvGrpSpPr/>
            <p:nvPr/>
          </p:nvGrpSpPr>
          <p:grpSpPr>
            <a:xfrm>
              <a:off x="3031913" y="3530338"/>
              <a:ext cx="1061760" cy="230392"/>
              <a:chOff x="6535453" y="2852959"/>
              <a:chExt cx="966592" cy="209741"/>
            </a:xfrm>
            <a:solidFill>
              <a:schemeClr val="accent2"/>
            </a:solidFill>
          </p:grpSpPr>
          <p:pic>
            <p:nvPicPr>
              <p:cNvPr id="238" name="Graphic 237">
                <a:extLst>
                  <a:ext uri="{FF2B5EF4-FFF2-40B4-BE49-F238E27FC236}">
                    <a16:creationId xmlns:a16="http://schemas.microsoft.com/office/drawing/2014/main" id="{4C3148A1-E1AC-385C-2B02-0A4B08A4A056}"/>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787737" y="2852959"/>
                <a:ext cx="209741" cy="209741"/>
              </a:xfrm>
              <a:prstGeom prst="rect">
                <a:avLst/>
              </a:prstGeom>
            </p:spPr>
          </p:pic>
          <p:pic>
            <p:nvPicPr>
              <p:cNvPr id="239" name="Graphic 238">
                <a:extLst>
                  <a:ext uri="{FF2B5EF4-FFF2-40B4-BE49-F238E27FC236}">
                    <a16:creationId xmlns:a16="http://schemas.microsoft.com/office/drawing/2014/main" id="{3E57E2BA-71B2-C118-C837-8B3FAE03C27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535453" y="2852959"/>
                <a:ext cx="209741" cy="209741"/>
              </a:xfrm>
              <a:prstGeom prst="rect">
                <a:avLst/>
              </a:prstGeom>
            </p:spPr>
          </p:pic>
          <p:pic>
            <p:nvPicPr>
              <p:cNvPr id="240" name="Graphic 239">
                <a:extLst>
                  <a:ext uri="{FF2B5EF4-FFF2-40B4-BE49-F238E27FC236}">
                    <a16:creationId xmlns:a16="http://schemas.microsoft.com/office/drawing/2014/main" id="{D103239A-F05D-87EF-C178-F5AA65EB2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292304" y="2852959"/>
                <a:ext cx="209741" cy="209741"/>
              </a:xfrm>
              <a:prstGeom prst="rect">
                <a:avLst/>
              </a:prstGeom>
            </p:spPr>
          </p:pic>
          <p:pic>
            <p:nvPicPr>
              <p:cNvPr id="241" name="Graphic 240">
                <a:extLst>
                  <a:ext uri="{FF2B5EF4-FFF2-40B4-BE49-F238E27FC236}">
                    <a16:creationId xmlns:a16="http://schemas.microsoft.com/office/drawing/2014/main" id="{96C1FBE9-D9B4-29AC-2D11-8C533D977E4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7040021" y="2852959"/>
                <a:ext cx="209741" cy="209741"/>
              </a:xfrm>
              <a:prstGeom prst="rect">
                <a:avLst/>
              </a:prstGeom>
            </p:spPr>
          </p:pic>
        </p:grpSp>
      </p:grpSp>
      <p:sp>
        <p:nvSpPr>
          <p:cNvPr id="250" name="TextBox 249">
            <a:extLst>
              <a:ext uri="{FF2B5EF4-FFF2-40B4-BE49-F238E27FC236}">
                <a16:creationId xmlns:a16="http://schemas.microsoft.com/office/drawing/2014/main" id="{A3A9D14A-9769-E760-2CAF-91B9A4BDFE9B}"/>
              </a:ext>
            </a:extLst>
          </p:cNvPr>
          <p:cNvSpPr txBox="1"/>
          <p:nvPr/>
        </p:nvSpPr>
        <p:spPr>
          <a:xfrm>
            <a:off x="4190276" y="3558431"/>
            <a:ext cx="960192"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only</a:t>
            </a:r>
          </a:p>
        </p:txBody>
      </p:sp>
      <p:sp>
        <p:nvSpPr>
          <p:cNvPr id="251" name="TextBox 250">
            <a:extLst>
              <a:ext uri="{FF2B5EF4-FFF2-40B4-BE49-F238E27FC236}">
                <a16:creationId xmlns:a16="http://schemas.microsoft.com/office/drawing/2014/main" id="{26BA9E3F-F302-F834-C1EE-853BE35370AB}"/>
              </a:ext>
            </a:extLst>
          </p:cNvPr>
          <p:cNvSpPr txBox="1"/>
          <p:nvPr/>
        </p:nvSpPr>
        <p:spPr>
          <a:xfrm>
            <a:off x="8180469" y="5313610"/>
            <a:ext cx="762679" cy="153888"/>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Scale out</a:t>
            </a:r>
          </a:p>
        </p:txBody>
      </p:sp>
      <p:cxnSp>
        <p:nvCxnSpPr>
          <p:cNvPr id="252" name="Straight Connector 251">
            <a:extLst>
              <a:ext uri="{FF2B5EF4-FFF2-40B4-BE49-F238E27FC236}">
                <a16:creationId xmlns:a16="http://schemas.microsoft.com/office/drawing/2014/main" id="{F6BA806D-9A0E-2ACB-7BD9-7520F9E5D4A2}"/>
              </a:ext>
            </a:extLst>
          </p:cNvPr>
          <p:cNvCxnSpPr>
            <a:cxnSpLocks/>
          </p:cNvCxnSpPr>
          <p:nvPr/>
        </p:nvCxnSpPr>
        <p:spPr bwMode="gray">
          <a:xfrm flipH="1">
            <a:off x="7950077" y="5390554"/>
            <a:ext cx="230392" cy="0"/>
          </a:xfrm>
          <a:prstGeom prst="line">
            <a:avLst/>
          </a:prstGeom>
          <a:ln w="25400">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254" name="TextBox 253">
            <a:extLst>
              <a:ext uri="{FF2B5EF4-FFF2-40B4-BE49-F238E27FC236}">
                <a16:creationId xmlns:a16="http://schemas.microsoft.com/office/drawing/2014/main" id="{A166697A-C5C5-2FA7-AB50-363315762BE9}"/>
              </a:ext>
            </a:extLst>
          </p:cNvPr>
          <p:cNvSpPr txBox="1"/>
          <p:nvPr/>
        </p:nvSpPr>
        <p:spPr>
          <a:xfrm>
            <a:off x="9157789" y="5313610"/>
            <a:ext cx="762679" cy="153888"/>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Scale out</a:t>
            </a:r>
          </a:p>
        </p:txBody>
      </p:sp>
      <p:cxnSp>
        <p:nvCxnSpPr>
          <p:cNvPr id="255" name="Straight Connector 254">
            <a:extLst>
              <a:ext uri="{FF2B5EF4-FFF2-40B4-BE49-F238E27FC236}">
                <a16:creationId xmlns:a16="http://schemas.microsoft.com/office/drawing/2014/main" id="{E22264A1-4999-95BB-F9F1-E0D4F366007F}"/>
              </a:ext>
            </a:extLst>
          </p:cNvPr>
          <p:cNvCxnSpPr>
            <a:cxnSpLocks/>
          </p:cNvCxnSpPr>
          <p:nvPr/>
        </p:nvCxnSpPr>
        <p:spPr bwMode="gray">
          <a:xfrm>
            <a:off x="9911372" y="5390554"/>
            <a:ext cx="228139" cy="0"/>
          </a:xfrm>
          <a:prstGeom prst="line">
            <a:avLst/>
          </a:prstGeom>
          <a:ln w="25400">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pic>
        <p:nvPicPr>
          <p:cNvPr id="257" name="Graphic 256">
            <a:extLst>
              <a:ext uri="{FF2B5EF4-FFF2-40B4-BE49-F238E27FC236}">
                <a16:creationId xmlns:a16="http://schemas.microsoft.com/office/drawing/2014/main" id="{09235904-AA8F-2ECC-555D-7C44C8D7E8E7}"/>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flipV="1">
            <a:off x="2754406" y="4459438"/>
            <a:ext cx="489101" cy="130164"/>
          </a:xfrm>
          <a:prstGeom prst="rect">
            <a:avLst/>
          </a:prstGeom>
        </p:spPr>
      </p:pic>
      <p:sp>
        <p:nvSpPr>
          <p:cNvPr id="116" name="Text Placeholder 2">
            <a:extLst>
              <a:ext uri="{FF2B5EF4-FFF2-40B4-BE49-F238E27FC236}">
                <a16:creationId xmlns:a16="http://schemas.microsoft.com/office/drawing/2014/main" id="{BF91B8F9-022A-7166-0F70-26E6C691BEEC}"/>
              </a:ext>
            </a:extLst>
          </p:cNvPr>
          <p:cNvSpPr txBox="1">
            <a:spLocks/>
          </p:cNvSpPr>
          <p:nvPr/>
        </p:nvSpPr>
        <p:spPr>
          <a:xfrm>
            <a:off x="7164923" y="2264675"/>
            <a:ext cx="2430102" cy="368412"/>
          </a:xfrm>
          <a:prstGeom prst="rect">
            <a:avLst/>
          </a:prstGeom>
        </p:spPr>
        <p:txBody>
          <a:bodyPr lIns="0" tIns="0" rIns="0" bIns="0">
            <a:noAutofit/>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Commodity server hardware</a:t>
            </a:r>
          </a:p>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Distributed scale-out storage</a:t>
            </a:r>
          </a:p>
        </p:txBody>
      </p:sp>
      <p:sp>
        <p:nvSpPr>
          <p:cNvPr id="263" name="Text Placeholder 2">
            <a:extLst>
              <a:ext uri="{FF2B5EF4-FFF2-40B4-BE49-F238E27FC236}">
                <a16:creationId xmlns:a16="http://schemas.microsoft.com/office/drawing/2014/main" id="{153A8444-BBBC-0BB0-A859-A965599F95CB}"/>
              </a:ext>
            </a:extLst>
          </p:cNvPr>
          <p:cNvSpPr txBox="1">
            <a:spLocks/>
          </p:cNvSpPr>
          <p:nvPr/>
        </p:nvSpPr>
        <p:spPr>
          <a:xfrm>
            <a:off x="9657817" y="2264675"/>
            <a:ext cx="1922996" cy="430806"/>
          </a:xfrm>
          <a:prstGeom prst="rect">
            <a:avLst/>
          </a:prstGeom>
        </p:spPr>
        <p:txBody>
          <a:bodyPr lIns="0" tIns="0" rIns="0" bIns="0">
            <a:noAutofit/>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Common management</a:t>
            </a:r>
          </a:p>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Highly flexible</a:t>
            </a:r>
            <a:endParaRPr kumimoji="0" lang="en-GB"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64" name="Text Placeholder 2">
            <a:extLst>
              <a:ext uri="{FF2B5EF4-FFF2-40B4-BE49-F238E27FC236}">
                <a16:creationId xmlns:a16="http://schemas.microsoft.com/office/drawing/2014/main" id="{455F5B60-BF0F-4464-93CC-EF3222E5E333}"/>
              </a:ext>
            </a:extLst>
          </p:cNvPr>
          <p:cNvSpPr txBox="1">
            <a:spLocks/>
          </p:cNvSpPr>
          <p:nvPr/>
        </p:nvSpPr>
        <p:spPr>
          <a:xfrm>
            <a:off x="1380477" y="2264675"/>
            <a:ext cx="2482804" cy="368412"/>
          </a:xfrm>
          <a:prstGeom prst="rect">
            <a:avLst/>
          </a:prstGeom>
        </p:spPr>
        <p:txBody>
          <a:bodyPr lIns="0" tIns="0" rIns="0" bIns="0">
            <a:noAutofit/>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Proprietary storage hardware</a:t>
            </a:r>
          </a:p>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Limited scalability</a:t>
            </a:r>
          </a:p>
        </p:txBody>
      </p:sp>
      <p:sp>
        <p:nvSpPr>
          <p:cNvPr id="265" name="Text Placeholder 2">
            <a:extLst>
              <a:ext uri="{FF2B5EF4-FFF2-40B4-BE49-F238E27FC236}">
                <a16:creationId xmlns:a16="http://schemas.microsoft.com/office/drawing/2014/main" id="{314D967C-760D-68AF-43FD-3314E24EA39D}"/>
              </a:ext>
            </a:extLst>
          </p:cNvPr>
          <p:cNvSpPr txBox="1">
            <a:spLocks/>
          </p:cNvSpPr>
          <p:nvPr/>
        </p:nvSpPr>
        <p:spPr>
          <a:xfrm>
            <a:off x="3873371" y="2264675"/>
            <a:ext cx="1922996" cy="430806"/>
          </a:xfrm>
          <a:prstGeom prst="rect">
            <a:avLst/>
          </a:prstGeom>
        </p:spPr>
        <p:txBody>
          <a:bodyPr lIns="0" tIns="0" rIns="0" bIns="0">
            <a:noAutofit/>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Siloed management</a:t>
            </a:r>
          </a:p>
          <a:p>
            <a:pPr marL="171450" marR="0" lvl="0" indent="-171450" algn="l" defTabSz="914400" rtl="0" eaLnBrk="1" fontAlgn="auto" latinLnBrk="0" hangingPunct="1">
              <a:lnSpc>
                <a:spcPct val="100000"/>
              </a:lnSpc>
              <a:spcBef>
                <a:spcPts val="0"/>
              </a:spcBef>
              <a:spcAft>
                <a:spcPts val="20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Inflexible</a:t>
            </a:r>
            <a:endParaRPr kumimoji="0" lang="en-GB"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cxnSp>
        <p:nvCxnSpPr>
          <p:cNvPr id="268" name="Straight Connector 267">
            <a:extLst>
              <a:ext uri="{FF2B5EF4-FFF2-40B4-BE49-F238E27FC236}">
                <a16:creationId xmlns:a16="http://schemas.microsoft.com/office/drawing/2014/main" id="{C7684C5B-9E87-29EE-8BCC-C1ADC5DFDAD7}"/>
              </a:ext>
            </a:extLst>
          </p:cNvPr>
          <p:cNvCxnSpPr>
            <a:cxnSpLocks/>
          </p:cNvCxnSpPr>
          <p:nvPr/>
        </p:nvCxnSpPr>
        <p:spPr bwMode="gray">
          <a:xfrm>
            <a:off x="2998955" y="4625550"/>
            <a:ext cx="0" cy="125867"/>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50E24B69-6C41-B951-9CD8-763385A15548}"/>
              </a:ext>
            </a:extLst>
          </p:cNvPr>
          <p:cNvCxnSpPr>
            <a:cxnSpLocks/>
          </p:cNvCxnSpPr>
          <p:nvPr/>
        </p:nvCxnSpPr>
        <p:spPr bwMode="gray">
          <a:xfrm>
            <a:off x="2153200" y="3986213"/>
            <a:ext cx="0" cy="300038"/>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5535880A-4E58-8FCC-01D3-8584989C871D}"/>
              </a:ext>
            </a:extLst>
          </p:cNvPr>
          <p:cNvCxnSpPr>
            <a:cxnSpLocks/>
          </p:cNvCxnSpPr>
          <p:nvPr/>
        </p:nvCxnSpPr>
        <p:spPr bwMode="gray">
          <a:xfrm>
            <a:off x="2717037" y="3986213"/>
            <a:ext cx="0" cy="300038"/>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6" name="Straight Connector 275">
            <a:extLst>
              <a:ext uri="{FF2B5EF4-FFF2-40B4-BE49-F238E27FC236}">
                <a16:creationId xmlns:a16="http://schemas.microsoft.com/office/drawing/2014/main" id="{26957C09-CCDD-F1D0-9CB7-174D543E65FF}"/>
              </a:ext>
            </a:extLst>
          </p:cNvPr>
          <p:cNvCxnSpPr>
            <a:cxnSpLocks/>
          </p:cNvCxnSpPr>
          <p:nvPr/>
        </p:nvCxnSpPr>
        <p:spPr bwMode="gray">
          <a:xfrm>
            <a:off x="3280874" y="3986213"/>
            <a:ext cx="0" cy="300038"/>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B3926648-5F52-816B-209D-854C19F84490}"/>
              </a:ext>
            </a:extLst>
          </p:cNvPr>
          <p:cNvCxnSpPr>
            <a:cxnSpLocks/>
          </p:cNvCxnSpPr>
          <p:nvPr/>
        </p:nvCxnSpPr>
        <p:spPr bwMode="gray">
          <a:xfrm>
            <a:off x="3844711" y="3986213"/>
            <a:ext cx="0" cy="300038"/>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0063EC7D-DBB0-09AA-0CCC-CA418434E2A2}"/>
              </a:ext>
            </a:extLst>
          </p:cNvPr>
          <p:cNvCxnSpPr>
            <a:cxnSpLocks/>
          </p:cNvCxnSpPr>
          <p:nvPr/>
        </p:nvCxnSpPr>
        <p:spPr bwMode="gray">
          <a:xfrm>
            <a:off x="2153200" y="4286251"/>
            <a:ext cx="1691511" cy="0"/>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E1BB07E0-CC9B-E660-A5DF-54206CBCD633}"/>
              </a:ext>
            </a:extLst>
          </p:cNvPr>
          <p:cNvCxnSpPr>
            <a:cxnSpLocks/>
          </p:cNvCxnSpPr>
          <p:nvPr/>
        </p:nvCxnSpPr>
        <p:spPr bwMode="gray">
          <a:xfrm>
            <a:off x="2998955" y="4286251"/>
            <a:ext cx="0" cy="125867"/>
          </a:xfrm>
          <a:prstGeom prst="line">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 name="Freeform: Shape 362">
            <a:extLst>
              <a:ext uri="{FF2B5EF4-FFF2-40B4-BE49-F238E27FC236}">
                <a16:creationId xmlns:a16="http://schemas.microsoft.com/office/drawing/2014/main" id="{C04E2D1A-17C8-9EF8-8DB6-97EEEDB13458}"/>
              </a:ext>
            </a:extLst>
          </p:cNvPr>
          <p:cNvSpPr/>
          <p:nvPr/>
        </p:nvSpPr>
        <p:spPr>
          <a:xfrm flipH="1">
            <a:off x="6758882" y="4063530"/>
            <a:ext cx="621155" cy="445442"/>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t>Or…</a:t>
            </a:r>
            <a:endParaRPr kumimoji="0" lang="en-US" sz="1400" b="0" i="0" u="none" strike="noStrike" kern="1200" cap="none" spc="0" normalizeH="0" baseline="0" noProof="0" dirty="0">
              <a:ln>
                <a:noFill/>
              </a:ln>
              <a:solidFill>
                <a:srgbClr val="6C4B94"/>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7169655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261"/>
                                        </p:tgtEl>
                                        <p:attrNameLst>
                                          <p:attrName>style.visibility</p:attrName>
                                        </p:attrNameLst>
                                      </p:cBhvr>
                                      <p:to>
                                        <p:strVal val="visible"/>
                                      </p:to>
                                    </p:set>
                                    <p:animEffect transition="in" filter="fade">
                                      <p:cBhvr>
                                        <p:cTn id="7" dur="500"/>
                                        <p:tgtEl>
                                          <p:spTgt spid="261"/>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113"/>
                                        </p:tgtEl>
                                        <p:attrNameLst>
                                          <p:attrName>style.visibility</p:attrName>
                                        </p:attrNameLst>
                                      </p:cBhvr>
                                      <p:to>
                                        <p:strVal val="visible"/>
                                      </p:to>
                                    </p:set>
                                    <p:animEffect transition="in" filter="fade">
                                      <p:cBhvr>
                                        <p:cTn id="10" dur="500"/>
                                        <p:tgtEl>
                                          <p:spTgt spid="113"/>
                                        </p:tgtEl>
                                      </p:cBhvr>
                                    </p:animEffect>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03"/>
                                        </p:tgtEl>
                                        <p:attrNameLst>
                                          <p:attrName>style.visibility</p:attrName>
                                        </p:attrNameLst>
                                      </p:cBhvr>
                                      <p:to>
                                        <p:strVal val="visible"/>
                                      </p:to>
                                    </p:set>
                                    <p:animEffect transition="in" filter="fade">
                                      <p:cBhvr>
                                        <p:cTn id="14" dur="500"/>
                                        <p:tgtEl>
                                          <p:spTgt spid="103"/>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292"/>
                                        </p:tgtEl>
                                        <p:attrNameLst>
                                          <p:attrName>style.visibility</p:attrName>
                                        </p:attrNameLst>
                                      </p:cBhvr>
                                      <p:to>
                                        <p:strVal val="visible"/>
                                      </p:to>
                                    </p:set>
                                    <p:animEffect transition="in" filter="fade">
                                      <p:cBhvr>
                                        <p:cTn id="21" dur="500"/>
                                        <p:tgtEl>
                                          <p:spTgt spid="292"/>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09"/>
                                        </p:tgtEl>
                                        <p:attrNameLst>
                                          <p:attrName>style.visibility</p:attrName>
                                        </p:attrNameLst>
                                      </p:cBhvr>
                                      <p:to>
                                        <p:strVal val="visible"/>
                                      </p:to>
                                    </p:set>
                                    <p:animEffect transition="in" filter="fade">
                                      <p:cBhvr>
                                        <p:cTn id="25" dur="500"/>
                                        <p:tgtEl>
                                          <p:spTgt spid="10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11"/>
                                        </p:tgtEl>
                                        <p:attrNameLst>
                                          <p:attrName>style.visibility</p:attrName>
                                        </p:attrNameLst>
                                      </p:cBhvr>
                                      <p:to>
                                        <p:strVal val="visible"/>
                                      </p:to>
                                    </p:set>
                                    <p:animEffect transition="in" filter="fade">
                                      <p:cBhvr>
                                        <p:cTn id="28" dur="500"/>
                                        <p:tgtEl>
                                          <p:spTgt spid="111"/>
                                        </p:tgtEl>
                                      </p:cBhvr>
                                    </p:animEffect>
                                  </p:childTnLst>
                                </p:cTn>
                              </p:par>
                              <p:par>
                                <p:cTn id="29" presetID="10" presetClass="entr" presetSubtype="0" fill="hold" nodeType="withEffect">
                                  <p:stCondLst>
                                    <p:cond delay="0"/>
                                  </p:stCondLst>
                                  <p:childTnLst>
                                    <p:set>
                                      <p:cBhvr>
                                        <p:cTn id="30" dur="1" fill="hold">
                                          <p:stCondLst>
                                            <p:cond delay="0"/>
                                          </p:stCondLst>
                                        </p:cTn>
                                        <p:tgtEl>
                                          <p:spTgt spid="257"/>
                                        </p:tgtEl>
                                        <p:attrNameLst>
                                          <p:attrName>style.visibility</p:attrName>
                                        </p:attrNameLst>
                                      </p:cBhvr>
                                      <p:to>
                                        <p:strVal val="visible"/>
                                      </p:to>
                                    </p:set>
                                    <p:animEffect transition="in" filter="fade">
                                      <p:cBhvr>
                                        <p:cTn id="31" dur="500"/>
                                        <p:tgtEl>
                                          <p:spTgt spid="257"/>
                                        </p:tgtEl>
                                      </p:cBhvr>
                                    </p:animEffect>
                                  </p:childTnLst>
                                </p:cTn>
                              </p:par>
                              <p:par>
                                <p:cTn id="32" presetID="10" presetClass="entr" presetSubtype="0" fill="hold" nodeType="withEffect">
                                  <p:stCondLst>
                                    <p:cond delay="0"/>
                                  </p:stCondLst>
                                  <p:childTnLst>
                                    <p:set>
                                      <p:cBhvr>
                                        <p:cTn id="33" dur="1" fill="hold">
                                          <p:stCondLst>
                                            <p:cond delay="0"/>
                                          </p:stCondLst>
                                        </p:cTn>
                                        <p:tgtEl>
                                          <p:spTgt spid="112"/>
                                        </p:tgtEl>
                                        <p:attrNameLst>
                                          <p:attrName>style.visibility</p:attrName>
                                        </p:attrNameLst>
                                      </p:cBhvr>
                                      <p:to>
                                        <p:strVal val="visible"/>
                                      </p:to>
                                    </p:set>
                                    <p:animEffect transition="in" filter="fade">
                                      <p:cBhvr>
                                        <p:cTn id="34" dur="500"/>
                                        <p:tgtEl>
                                          <p:spTgt spid="112"/>
                                        </p:tgtEl>
                                      </p:cBhvr>
                                    </p:animEffect>
                                  </p:childTnLst>
                                </p:cTn>
                              </p:par>
                            </p:childTnLst>
                          </p:cTn>
                        </p:par>
                        <p:par>
                          <p:cTn id="35" fill="hold">
                            <p:stCondLst>
                              <p:cond delay="2500"/>
                            </p:stCondLst>
                            <p:childTnLst>
                              <p:par>
                                <p:cTn id="36" presetID="22" presetClass="entr" presetSubtype="4" fill="hold" nodeType="afterEffect">
                                  <p:stCondLst>
                                    <p:cond delay="0"/>
                                  </p:stCondLst>
                                  <p:childTnLst>
                                    <p:set>
                                      <p:cBhvr>
                                        <p:cTn id="37" dur="1" fill="hold">
                                          <p:stCondLst>
                                            <p:cond delay="0"/>
                                          </p:stCondLst>
                                        </p:cTn>
                                        <p:tgtEl>
                                          <p:spTgt spid="268"/>
                                        </p:tgtEl>
                                        <p:attrNameLst>
                                          <p:attrName>style.visibility</p:attrName>
                                        </p:attrNameLst>
                                      </p:cBhvr>
                                      <p:to>
                                        <p:strVal val="visible"/>
                                      </p:to>
                                    </p:set>
                                    <p:animEffect transition="in" filter="wipe(down)">
                                      <p:cBhvr>
                                        <p:cTn id="38" dur="250"/>
                                        <p:tgtEl>
                                          <p:spTgt spid="268"/>
                                        </p:tgtEl>
                                      </p:cBhvr>
                                    </p:animEffect>
                                  </p:childTnLst>
                                </p:cTn>
                              </p:par>
                            </p:childTnLst>
                          </p:cTn>
                        </p:par>
                        <p:par>
                          <p:cTn id="39" fill="hold">
                            <p:stCondLst>
                              <p:cond delay="2750"/>
                            </p:stCondLst>
                            <p:childTnLst>
                              <p:par>
                                <p:cTn id="40" presetID="22" presetClass="entr" presetSubtype="4" fill="hold" nodeType="afterEffect">
                                  <p:stCondLst>
                                    <p:cond delay="0"/>
                                  </p:stCondLst>
                                  <p:childTnLst>
                                    <p:set>
                                      <p:cBhvr>
                                        <p:cTn id="41" dur="1" fill="hold">
                                          <p:stCondLst>
                                            <p:cond delay="0"/>
                                          </p:stCondLst>
                                        </p:cTn>
                                        <p:tgtEl>
                                          <p:spTgt spid="285"/>
                                        </p:tgtEl>
                                        <p:attrNameLst>
                                          <p:attrName>style.visibility</p:attrName>
                                        </p:attrNameLst>
                                      </p:cBhvr>
                                      <p:to>
                                        <p:strVal val="visible"/>
                                      </p:to>
                                    </p:set>
                                    <p:animEffect transition="in" filter="wipe(down)">
                                      <p:cBhvr>
                                        <p:cTn id="42" dur="250"/>
                                        <p:tgtEl>
                                          <p:spTgt spid="285"/>
                                        </p:tgtEl>
                                      </p:cBhvr>
                                    </p:animEffect>
                                  </p:childTnLst>
                                </p:cTn>
                              </p:par>
                            </p:childTnLst>
                          </p:cTn>
                        </p:par>
                        <p:par>
                          <p:cTn id="43" fill="hold">
                            <p:stCondLst>
                              <p:cond delay="3000"/>
                            </p:stCondLst>
                            <p:childTnLst>
                              <p:par>
                                <p:cTn id="44" presetID="16" presetClass="entr" presetSubtype="37" fill="hold" nodeType="afterEffect">
                                  <p:stCondLst>
                                    <p:cond delay="0"/>
                                  </p:stCondLst>
                                  <p:childTnLst>
                                    <p:set>
                                      <p:cBhvr>
                                        <p:cTn id="45" dur="1" fill="hold">
                                          <p:stCondLst>
                                            <p:cond delay="0"/>
                                          </p:stCondLst>
                                        </p:cTn>
                                        <p:tgtEl>
                                          <p:spTgt spid="279"/>
                                        </p:tgtEl>
                                        <p:attrNameLst>
                                          <p:attrName>style.visibility</p:attrName>
                                        </p:attrNameLst>
                                      </p:cBhvr>
                                      <p:to>
                                        <p:strVal val="visible"/>
                                      </p:to>
                                    </p:set>
                                    <p:animEffect transition="in" filter="barn(outVertical)">
                                      <p:cBhvr>
                                        <p:cTn id="46" dur="500"/>
                                        <p:tgtEl>
                                          <p:spTgt spid="279"/>
                                        </p:tgtEl>
                                      </p:cBhvr>
                                    </p:animEffect>
                                  </p:childTnLst>
                                </p:cTn>
                              </p:par>
                            </p:childTnLst>
                          </p:cTn>
                        </p:par>
                        <p:par>
                          <p:cTn id="47" fill="hold">
                            <p:stCondLst>
                              <p:cond delay="3500"/>
                            </p:stCondLst>
                            <p:childTnLst>
                              <p:par>
                                <p:cTn id="48" presetID="22" presetClass="entr" presetSubtype="4" fill="hold" nodeType="afterEffect">
                                  <p:stCondLst>
                                    <p:cond delay="0"/>
                                  </p:stCondLst>
                                  <p:childTnLst>
                                    <p:set>
                                      <p:cBhvr>
                                        <p:cTn id="49" dur="1" fill="hold">
                                          <p:stCondLst>
                                            <p:cond delay="0"/>
                                          </p:stCondLst>
                                        </p:cTn>
                                        <p:tgtEl>
                                          <p:spTgt spid="272"/>
                                        </p:tgtEl>
                                        <p:attrNameLst>
                                          <p:attrName>style.visibility</p:attrName>
                                        </p:attrNameLst>
                                      </p:cBhvr>
                                      <p:to>
                                        <p:strVal val="visible"/>
                                      </p:to>
                                    </p:set>
                                    <p:animEffect transition="in" filter="wipe(down)">
                                      <p:cBhvr>
                                        <p:cTn id="50" dur="500"/>
                                        <p:tgtEl>
                                          <p:spTgt spid="272"/>
                                        </p:tgtEl>
                                      </p:cBhvr>
                                    </p:animEffect>
                                  </p:childTnLst>
                                </p:cTn>
                              </p:par>
                              <p:par>
                                <p:cTn id="51" presetID="22" presetClass="entr" presetSubtype="4" fill="hold" nodeType="withEffect">
                                  <p:stCondLst>
                                    <p:cond delay="0"/>
                                  </p:stCondLst>
                                  <p:childTnLst>
                                    <p:set>
                                      <p:cBhvr>
                                        <p:cTn id="52" dur="1" fill="hold">
                                          <p:stCondLst>
                                            <p:cond delay="0"/>
                                          </p:stCondLst>
                                        </p:cTn>
                                        <p:tgtEl>
                                          <p:spTgt spid="275"/>
                                        </p:tgtEl>
                                        <p:attrNameLst>
                                          <p:attrName>style.visibility</p:attrName>
                                        </p:attrNameLst>
                                      </p:cBhvr>
                                      <p:to>
                                        <p:strVal val="visible"/>
                                      </p:to>
                                    </p:set>
                                    <p:animEffect transition="in" filter="wipe(down)">
                                      <p:cBhvr>
                                        <p:cTn id="53" dur="500"/>
                                        <p:tgtEl>
                                          <p:spTgt spid="275"/>
                                        </p:tgtEl>
                                      </p:cBhvr>
                                    </p:animEffect>
                                  </p:childTnLst>
                                </p:cTn>
                              </p:par>
                              <p:par>
                                <p:cTn id="54" presetID="22" presetClass="entr" presetSubtype="4" fill="hold" nodeType="withEffect">
                                  <p:stCondLst>
                                    <p:cond delay="0"/>
                                  </p:stCondLst>
                                  <p:childTnLst>
                                    <p:set>
                                      <p:cBhvr>
                                        <p:cTn id="55" dur="1" fill="hold">
                                          <p:stCondLst>
                                            <p:cond delay="0"/>
                                          </p:stCondLst>
                                        </p:cTn>
                                        <p:tgtEl>
                                          <p:spTgt spid="276"/>
                                        </p:tgtEl>
                                        <p:attrNameLst>
                                          <p:attrName>style.visibility</p:attrName>
                                        </p:attrNameLst>
                                      </p:cBhvr>
                                      <p:to>
                                        <p:strVal val="visible"/>
                                      </p:to>
                                    </p:set>
                                    <p:animEffect transition="in" filter="wipe(down)">
                                      <p:cBhvr>
                                        <p:cTn id="56" dur="500"/>
                                        <p:tgtEl>
                                          <p:spTgt spid="276"/>
                                        </p:tgtEl>
                                      </p:cBhvr>
                                    </p:animEffect>
                                  </p:childTnLst>
                                </p:cTn>
                              </p:par>
                              <p:par>
                                <p:cTn id="57" presetID="22" presetClass="entr" presetSubtype="4" fill="hold" nodeType="withEffect">
                                  <p:stCondLst>
                                    <p:cond delay="0"/>
                                  </p:stCondLst>
                                  <p:childTnLst>
                                    <p:set>
                                      <p:cBhvr>
                                        <p:cTn id="58" dur="1" fill="hold">
                                          <p:stCondLst>
                                            <p:cond delay="0"/>
                                          </p:stCondLst>
                                        </p:cTn>
                                        <p:tgtEl>
                                          <p:spTgt spid="277"/>
                                        </p:tgtEl>
                                        <p:attrNameLst>
                                          <p:attrName>style.visibility</p:attrName>
                                        </p:attrNameLst>
                                      </p:cBhvr>
                                      <p:to>
                                        <p:strVal val="visible"/>
                                      </p:to>
                                    </p:set>
                                    <p:animEffect transition="in" filter="wipe(down)">
                                      <p:cBhvr>
                                        <p:cTn id="59" dur="500"/>
                                        <p:tgtEl>
                                          <p:spTgt spid="277"/>
                                        </p:tgtEl>
                                      </p:cBhvr>
                                    </p:animEffect>
                                  </p:childTnLst>
                                </p:cTn>
                              </p:par>
                            </p:childTnLst>
                          </p:cTn>
                        </p:par>
                        <p:par>
                          <p:cTn id="60" fill="hold">
                            <p:stCondLst>
                              <p:cond delay="4000"/>
                            </p:stCondLst>
                            <p:childTnLst>
                              <p:par>
                                <p:cTn id="61" presetID="10" presetClass="entr" presetSubtype="0" fill="hold" nodeType="afterEffect">
                                  <p:stCondLst>
                                    <p:cond delay="0"/>
                                  </p:stCondLst>
                                  <p:childTnLst>
                                    <p:set>
                                      <p:cBhvr>
                                        <p:cTn id="62" dur="1" fill="hold">
                                          <p:stCondLst>
                                            <p:cond delay="0"/>
                                          </p:stCondLst>
                                        </p:cTn>
                                        <p:tgtEl>
                                          <p:spTgt spid="293"/>
                                        </p:tgtEl>
                                        <p:attrNameLst>
                                          <p:attrName>style.visibility</p:attrName>
                                        </p:attrNameLst>
                                      </p:cBhvr>
                                      <p:to>
                                        <p:strVal val="visible"/>
                                      </p:to>
                                    </p:set>
                                    <p:animEffect transition="in" filter="fade">
                                      <p:cBhvr>
                                        <p:cTn id="63" dur="500"/>
                                        <p:tgtEl>
                                          <p:spTgt spid="29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50"/>
                                        </p:tgtEl>
                                        <p:attrNameLst>
                                          <p:attrName>style.visibility</p:attrName>
                                        </p:attrNameLst>
                                      </p:cBhvr>
                                      <p:to>
                                        <p:strVal val="visible"/>
                                      </p:to>
                                    </p:set>
                                    <p:animEffect transition="in" filter="fade">
                                      <p:cBhvr>
                                        <p:cTn id="66" dur="500"/>
                                        <p:tgtEl>
                                          <p:spTgt spid="250"/>
                                        </p:tgtEl>
                                      </p:cBhvr>
                                    </p:animEffect>
                                  </p:childTnLst>
                                </p:cTn>
                              </p:par>
                            </p:childTnLst>
                          </p:cTn>
                        </p:par>
                        <p:par>
                          <p:cTn id="67" fill="hold">
                            <p:stCondLst>
                              <p:cond delay="4500"/>
                            </p:stCondLst>
                            <p:childTnLst>
                              <p:par>
                                <p:cTn id="68" presetID="10" presetClass="entr" presetSubtype="0" fill="hold" grpId="0" nodeType="afterEffect">
                                  <p:stCondLst>
                                    <p:cond delay="1000"/>
                                  </p:stCondLst>
                                  <p:childTnLst>
                                    <p:set>
                                      <p:cBhvr>
                                        <p:cTn id="69" dur="1" fill="hold">
                                          <p:stCondLst>
                                            <p:cond delay="0"/>
                                          </p:stCondLst>
                                        </p:cTn>
                                        <p:tgtEl>
                                          <p:spTgt spid="264"/>
                                        </p:tgtEl>
                                        <p:attrNameLst>
                                          <p:attrName>style.visibility</p:attrName>
                                        </p:attrNameLst>
                                      </p:cBhvr>
                                      <p:to>
                                        <p:strVal val="visible"/>
                                      </p:to>
                                    </p:set>
                                    <p:animEffect transition="in" filter="fade">
                                      <p:cBhvr>
                                        <p:cTn id="70" dur="500"/>
                                        <p:tgtEl>
                                          <p:spTgt spid="264"/>
                                        </p:tgtEl>
                                      </p:cBhvr>
                                    </p:animEffect>
                                  </p:childTnLst>
                                </p:cTn>
                              </p:par>
                              <p:par>
                                <p:cTn id="71" presetID="10" presetClass="entr" presetSubtype="0" fill="hold" grpId="0" nodeType="withEffect">
                                  <p:stCondLst>
                                    <p:cond delay="1000"/>
                                  </p:stCondLst>
                                  <p:childTnLst>
                                    <p:set>
                                      <p:cBhvr>
                                        <p:cTn id="72" dur="1" fill="hold">
                                          <p:stCondLst>
                                            <p:cond delay="0"/>
                                          </p:stCondLst>
                                        </p:cTn>
                                        <p:tgtEl>
                                          <p:spTgt spid="265"/>
                                        </p:tgtEl>
                                        <p:attrNameLst>
                                          <p:attrName>style.visibility</p:attrName>
                                        </p:attrNameLst>
                                      </p:cBhvr>
                                      <p:to>
                                        <p:strVal val="visible"/>
                                      </p:to>
                                    </p:set>
                                    <p:animEffect transition="in" filter="fade">
                                      <p:cBhvr>
                                        <p:cTn id="73" dur="500"/>
                                        <p:tgtEl>
                                          <p:spTgt spid="265"/>
                                        </p:tgtEl>
                                      </p:cBhvr>
                                    </p:animEffect>
                                  </p:childTnLst>
                                </p:cTn>
                              </p:par>
                            </p:childTnLst>
                          </p:cTn>
                        </p:par>
                        <p:par>
                          <p:cTn id="74" fill="hold">
                            <p:stCondLst>
                              <p:cond delay="6000"/>
                            </p:stCondLst>
                            <p:childTnLst>
                              <p:par>
                                <p:cTn id="75" presetID="26" presetClass="emph" presetSubtype="0" fill="hold" grpId="1" nodeType="afterEffect">
                                  <p:stCondLst>
                                    <p:cond delay="500"/>
                                  </p:stCondLst>
                                  <p:childTnLst>
                                    <p:animEffect transition="out" filter="fade">
                                      <p:cBhvr>
                                        <p:cTn id="76" dur="500" tmFilter="0, 0; .2, .5; .8, .5; 1, 0"/>
                                        <p:tgtEl>
                                          <p:spTgt spid="264"/>
                                        </p:tgtEl>
                                      </p:cBhvr>
                                    </p:animEffect>
                                    <p:animScale>
                                      <p:cBhvr>
                                        <p:cTn id="77" dur="250" autoRev="1" fill="hold"/>
                                        <p:tgtEl>
                                          <p:spTgt spid="264"/>
                                        </p:tgtEl>
                                      </p:cBhvr>
                                      <p:by x="105000" y="105000"/>
                                    </p:animScale>
                                  </p:childTnLst>
                                </p:cTn>
                              </p:par>
                              <p:par>
                                <p:cTn id="78" presetID="26" presetClass="emph" presetSubtype="0" fill="hold" grpId="1" nodeType="withEffect">
                                  <p:stCondLst>
                                    <p:cond delay="500"/>
                                  </p:stCondLst>
                                  <p:childTnLst>
                                    <p:animEffect transition="out" filter="fade">
                                      <p:cBhvr>
                                        <p:cTn id="79" dur="500" tmFilter="0, 0; .2, .5; .8, .5; 1, 0"/>
                                        <p:tgtEl>
                                          <p:spTgt spid="265"/>
                                        </p:tgtEl>
                                      </p:cBhvr>
                                    </p:animEffect>
                                    <p:animScale>
                                      <p:cBhvr>
                                        <p:cTn id="80" dur="250" autoRev="1" fill="hold"/>
                                        <p:tgtEl>
                                          <p:spTgt spid="265"/>
                                        </p:tgtEl>
                                      </p:cBhvr>
                                      <p:by x="105000" y="105000"/>
                                    </p:animScale>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62"/>
                                        </p:tgtEl>
                                        <p:attrNameLst>
                                          <p:attrName>style.visibility</p:attrName>
                                        </p:attrNameLst>
                                      </p:cBhvr>
                                      <p:to>
                                        <p:strVal val="visible"/>
                                      </p:to>
                                    </p:set>
                                    <p:animEffect transition="in" filter="fade">
                                      <p:cBhvr>
                                        <p:cTn id="85" dur="500"/>
                                        <p:tgtEl>
                                          <p:spTgt spid="262"/>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114"/>
                                        </p:tgtEl>
                                        <p:attrNameLst>
                                          <p:attrName>style.visibility</p:attrName>
                                        </p:attrNameLst>
                                      </p:cBhvr>
                                      <p:to>
                                        <p:strVal val="visible"/>
                                      </p:to>
                                    </p:set>
                                    <p:animEffect transition="in" filter="fade">
                                      <p:cBhvr>
                                        <p:cTn id="88" dur="500"/>
                                        <p:tgtEl>
                                          <p:spTgt spid="114"/>
                                        </p:tgtEl>
                                      </p:cBhvr>
                                    </p:animEffect>
                                  </p:childTnLst>
                                </p:cTn>
                              </p:par>
                            </p:childTnLst>
                          </p:cTn>
                        </p:par>
                        <p:par>
                          <p:cTn id="89" fill="hold">
                            <p:stCondLst>
                              <p:cond delay="500"/>
                            </p:stCondLst>
                            <p:childTnLst>
                              <p:par>
                                <p:cTn id="90" presetID="10" presetClass="entr" presetSubtype="0" fill="hold" grpId="0" nodeType="afterEffect">
                                  <p:stCondLst>
                                    <p:cond delay="0"/>
                                  </p:stCondLst>
                                  <p:childTnLst>
                                    <p:set>
                                      <p:cBhvr>
                                        <p:cTn id="91" dur="1" fill="hold">
                                          <p:stCondLst>
                                            <p:cond delay="0"/>
                                          </p:stCondLst>
                                        </p:cTn>
                                        <p:tgtEl>
                                          <p:spTgt spid="44"/>
                                        </p:tgtEl>
                                        <p:attrNameLst>
                                          <p:attrName>style.visibility</p:attrName>
                                        </p:attrNameLst>
                                      </p:cBhvr>
                                      <p:to>
                                        <p:strVal val="visible"/>
                                      </p:to>
                                    </p:set>
                                    <p:animEffect transition="in" filter="fade">
                                      <p:cBhvr>
                                        <p:cTn id="92" dur="500"/>
                                        <p:tgtEl>
                                          <p:spTgt spid="44"/>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fade">
                                      <p:cBhvr>
                                        <p:cTn id="95" dur="500"/>
                                        <p:tgtEl>
                                          <p:spTgt spid="24"/>
                                        </p:tgtEl>
                                      </p:cBhvr>
                                    </p:animEffect>
                                  </p:childTnLst>
                                </p:cTn>
                              </p:par>
                            </p:childTnLst>
                          </p:cTn>
                        </p:par>
                        <p:par>
                          <p:cTn id="96" fill="hold">
                            <p:stCondLst>
                              <p:cond delay="1000"/>
                            </p:stCondLst>
                            <p:childTnLst>
                              <p:par>
                                <p:cTn id="97" presetID="10" presetClass="entr" presetSubtype="0" fill="hold" nodeType="afterEffect">
                                  <p:stCondLst>
                                    <p:cond delay="0"/>
                                  </p:stCondLst>
                                  <p:childTnLst>
                                    <p:set>
                                      <p:cBhvr>
                                        <p:cTn id="98" dur="1" fill="hold">
                                          <p:stCondLst>
                                            <p:cond delay="0"/>
                                          </p:stCondLst>
                                        </p:cTn>
                                        <p:tgtEl>
                                          <p:spTgt spid="5"/>
                                        </p:tgtEl>
                                        <p:attrNameLst>
                                          <p:attrName>style.visibility</p:attrName>
                                        </p:attrNameLst>
                                      </p:cBhvr>
                                      <p:to>
                                        <p:strVal val="visible"/>
                                      </p:to>
                                    </p:set>
                                    <p:animEffect transition="in" filter="fade">
                                      <p:cBhvr>
                                        <p:cTn id="99" dur="500"/>
                                        <p:tgtEl>
                                          <p:spTgt spid="5"/>
                                        </p:tgtEl>
                                      </p:cBhvr>
                                    </p:animEffect>
                                  </p:childTnLst>
                                </p:cTn>
                              </p:par>
                              <p:par>
                                <p:cTn id="100" presetID="10" presetClass="entr" presetSubtype="0" fill="hold" nodeType="withEffect">
                                  <p:stCondLst>
                                    <p:cond delay="0"/>
                                  </p:stCondLst>
                                  <p:childTnLst>
                                    <p:set>
                                      <p:cBhvr>
                                        <p:cTn id="101" dur="1" fill="hold">
                                          <p:stCondLst>
                                            <p:cond delay="0"/>
                                          </p:stCondLst>
                                        </p:cTn>
                                        <p:tgtEl>
                                          <p:spTgt spid="192"/>
                                        </p:tgtEl>
                                        <p:attrNameLst>
                                          <p:attrName>style.visibility</p:attrName>
                                        </p:attrNameLst>
                                      </p:cBhvr>
                                      <p:to>
                                        <p:strVal val="visible"/>
                                      </p:to>
                                    </p:set>
                                    <p:animEffect transition="in" filter="fade">
                                      <p:cBhvr>
                                        <p:cTn id="102" dur="500"/>
                                        <p:tgtEl>
                                          <p:spTgt spid="192"/>
                                        </p:tgtEl>
                                      </p:cBhvr>
                                    </p:animEffect>
                                  </p:childTnLst>
                                </p:cTn>
                              </p:par>
                            </p:childTnLst>
                          </p:cTn>
                        </p:par>
                        <p:par>
                          <p:cTn id="103" fill="hold">
                            <p:stCondLst>
                              <p:cond delay="1500"/>
                            </p:stCondLst>
                            <p:childTnLst>
                              <p:par>
                                <p:cTn id="104" presetID="10" presetClass="entr" presetSubtype="0" fill="hold" grpId="0" nodeType="afterEffect">
                                  <p:stCondLst>
                                    <p:cond delay="0"/>
                                  </p:stCondLst>
                                  <p:childTnLst>
                                    <p:set>
                                      <p:cBhvr>
                                        <p:cTn id="105" dur="1" fill="hold">
                                          <p:stCondLst>
                                            <p:cond delay="0"/>
                                          </p:stCondLst>
                                        </p:cTn>
                                        <p:tgtEl>
                                          <p:spTgt spid="137"/>
                                        </p:tgtEl>
                                        <p:attrNameLst>
                                          <p:attrName>style.visibility</p:attrName>
                                        </p:attrNameLst>
                                      </p:cBhvr>
                                      <p:to>
                                        <p:strVal val="visible"/>
                                      </p:to>
                                    </p:set>
                                    <p:animEffect transition="in" filter="fade">
                                      <p:cBhvr>
                                        <p:cTn id="106" dur="500"/>
                                        <p:tgtEl>
                                          <p:spTgt spid="137"/>
                                        </p:tgtEl>
                                      </p:cBhvr>
                                    </p:animEffect>
                                  </p:childTnLst>
                                </p:cTn>
                              </p:par>
                              <p:par>
                                <p:cTn id="107" presetID="10" presetClass="entr" presetSubtype="0" fill="hold" nodeType="withEffect">
                                  <p:stCondLst>
                                    <p:cond delay="0"/>
                                  </p:stCondLst>
                                  <p:childTnLst>
                                    <p:set>
                                      <p:cBhvr>
                                        <p:cTn id="108" dur="1" fill="hold">
                                          <p:stCondLst>
                                            <p:cond delay="0"/>
                                          </p:stCondLst>
                                        </p:cTn>
                                        <p:tgtEl>
                                          <p:spTgt spid="138"/>
                                        </p:tgtEl>
                                        <p:attrNameLst>
                                          <p:attrName>style.visibility</p:attrName>
                                        </p:attrNameLst>
                                      </p:cBhvr>
                                      <p:to>
                                        <p:strVal val="visible"/>
                                      </p:to>
                                    </p:set>
                                    <p:animEffect transition="in" filter="fade">
                                      <p:cBhvr>
                                        <p:cTn id="109" dur="500"/>
                                        <p:tgtEl>
                                          <p:spTgt spid="138"/>
                                        </p:tgtEl>
                                      </p:cBhvr>
                                    </p:animEffect>
                                  </p:childTnLst>
                                </p:cTn>
                              </p:par>
                            </p:childTnLst>
                          </p:cTn>
                        </p:par>
                        <p:par>
                          <p:cTn id="110" fill="hold">
                            <p:stCondLst>
                              <p:cond delay="2000"/>
                            </p:stCondLst>
                            <p:childTnLst>
                              <p:par>
                                <p:cTn id="111" presetID="10" presetClass="entr" presetSubtype="0" fill="hold" nodeType="afterEffect">
                                  <p:stCondLst>
                                    <p:cond delay="0"/>
                                  </p:stCondLst>
                                  <p:childTnLst>
                                    <p:set>
                                      <p:cBhvr>
                                        <p:cTn id="112" dur="1" fill="hold">
                                          <p:stCondLst>
                                            <p:cond delay="0"/>
                                          </p:stCondLst>
                                        </p:cTn>
                                        <p:tgtEl>
                                          <p:spTgt spid="7"/>
                                        </p:tgtEl>
                                        <p:attrNameLst>
                                          <p:attrName>style.visibility</p:attrName>
                                        </p:attrNameLst>
                                      </p:cBhvr>
                                      <p:to>
                                        <p:strVal val="visible"/>
                                      </p:to>
                                    </p:set>
                                    <p:animEffect transition="in" filter="fade">
                                      <p:cBhvr>
                                        <p:cTn id="113" dur="500"/>
                                        <p:tgtEl>
                                          <p:spTgt spid="7"/>
                                        </p:tgtEl>
                                      </p:cBhvr>
                                    </p:animEffect>
                                  </p:childTnLst>
                                </p:cTn>
                              </p:par>
                            </p:childTnLst>
                          </p:cTn>
                        </p:par>
                        <p:par>
                          <p:cTn id="114" fill="hold">
                            <p:stCondLst>
                              <p:cond delay="2500"/>
                            </p:stCondLst>
                            <p:childTnLst>
                              <p:par>
                                <p:cTn id="115" presetID="10" presetClass="entr" presetSubtype="0" fill="hold" grpId="0" nodeType="afterEffect">
                                  <p:stCondLst>
                                    <p:cond delay="0"/>
                                  </p:stCondLst>
                                  <p:childTnLst>
                                    <p:set>
                                      <p:cBhvr>
                                        <p:cTn id="116" dur="1" fill="hold">
                                          <p:stCondLst>
                                            <p:cond delay="0"/>
                                          </p:stCondLst>
                                        </p:cTn>
                                        <p:tgtEl>
                                          <p:spTgt spid="229"/>
                                        </p:tgtEl>
                                        <p:attrNameLst>
                                          <p:attrName>style.visibility</p:attrName>
                                        </p:attrNameLst>
                                      </p:cBhvr>
                                      <p:to>
                                        <p:strVal val="visible"/>
                                      </p:to>
                                    </p:set>
                                    <p:animEffect transition="in" filter="fade">
                                      <p:cBhvr>
                                        <p:cTn id="117" dur="500"/>
                                        <p:tgtEl>
                                          <p:spTgt spid="229"/>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4"/>
                                        </p:tgtEl>
                                        <p:attrNameLst>
                                          <p:attrName>style.visibility</p:attrName>
                                        </p:attrNameLst>
                                      </p:cBhvr>
                                      <p:to>
                                        <p:strVal val="visible"/>
                                      </p:to>
                                    </p:set>
                                    <p:animEffect transition="in" filter="fade">
                                      <p:cBhvr>
                                        <p:cTn id="122" dur="500"/>
                                        <p:tgtEl>
                                          <p:spTgt spid="4"/>
                                        </p:tgtEl>
                                      </p:cBhvr>
                                    </p:animEffect>
                                  </p:childTnLst>
                                </p:cTn>
                              </p:par>
                            </p:childTnLst>
                          </p:cTn>
                        </p:par>
                        <p:par>
                          <p:cTn id="123" fill="hold">
                            <p:stCondLst>
                              <p:cond delay="500"/>
                            </p:stCondLst>
                            <p:childTnLst>
                              <p:par>
                                <p:cTn id="124" presetID="10" presetClass="entr" presetSubtype="0" fill="hold" nodeType="afterEffect">
                                  <p:stCondLst>
                                    <p:cond delay="500"/>
                                  </p:stCondLst>
                                  <p:childTnLst>
                                    <p:set>
                                      <p:cBhvr>
                                        <p:cTn id="125" dur="1" fill="hold">
                                          <p:stCondLst>
                                            <p:cond delay="0"/>
                                          </p:stCondLst>
                                        </p:cTn>
                                        <p:tgtEl>
                                          <p:spTgt spid="200"/>
                                        </p:tgtEl>
                                        <p:attrNameLst>
                                          <p:attrName>style.visibility</p:attrName>
                                        </p:attrNameLst>
                                      </p:cBhvr>
                                      <p:to>
                                        <p:strVal val="visible"/>
                                      </p:to>
                                    </p:set>
                                    <p:animEffect transition="in" filter="fade">
                                      <p:cBhvr>
                                        <p:cTn id="126" dur="500"/>
                                        <p:tgtEl>
                                          <p:spTgt spid="200"/>
                                        </p:tgtEl>
                                      </p:cBhvr>
                                    </p:animEffect>
                                  </p:childTnLst>
                                </p:cTn>
                              </p:par>
                              <p:par>
                                <p:cTn id="127" presetID="10" presetClass="entr" presetSubtype="0" fill="hold" nodeType="withEffect">
                                  <p:stCondLst>
                                    <p:cond delay="500"/>
                                  </p:stCondLst>
                                  <p:childTnLst>
                                    <p:set>
                                      <p:cBhvr>
                                        <p:cTn id="128" dur="1" fill="hold">
                                          <p:stCondLst>
                                            <p:cond delay="0"/>
                                          </p:stCondLst>
                                        </p:cTn>
                                        <p:tgtEl>
                                          <p:spTgt spid="197"/>
                                        </p:tgtEl>
                                        <p:attrNameLst>
                                          <p:attrName>style.visibility</p:attrName>
                                        </p:attrNameLst>
                                      </p:cBhvr>
                                      <p:to>
                                        <p:strVal val="visible"/>
                                      </p:to>
                                    </p:set>
                                    <p:animEffect transition="in" filter="fade">
                                      <p:cBhvr>
                                        <p:cTn id="129" dur="500"/>
                                        <p:tgtEl>
                                          <p:spTgt spid="197"/>
                                        </p:tgtEl>
                                      </p:cBhvr>
                                    </p:animEffect>
                                  </p:childTnLst>
                                </p:cTn>
                              </p:par>
                            </p:childTnLst>
                          </p:cTn>
                        </p:par>
                        <p:par>
                          <p:cTn id="130" fill="hold">
                            <p:stCondLst>
                              <p:cond delay="1500"/>
                            </p:stCondLst>
                            <p:childTnLst>
                              <p:par>
                                <p:cTn id="131" presetID="10" presetClass="entr" presetSubtype="0" fill="hold" nodeType="afterEffect">
                                  <p:stCondLst>
                                    <p:cond delay="0"/>
                                  </p:stCondLst>
                                  <p:childTnLst>
                                    <p:set>
                                      <p:cBhvr>
                                        <p:cTn id="132" dur="1" fill="hold">
                                          <p:stCondLst>
                                            <p:cond delay="0"/>
                                          </p:stCondLst>
                                        </p:cTn>
                                        <p:tgtEl>
                                          <p:spTgt spid="196"/>
                                        </p:tgtEl>
                                        <p:attrNameLst>
                                          <p:attrName>style.visibility</p:attrName>
                                        </p:attrNameLst>
                                      </p:cBhvr>
                                      <p:to>
                                        <p:strVal val="visible"/>
                                      </p:to>
                                    </p:set>
                                    <p:animEffect transition="in" filter="fade">
                                      <p:cBhvr>
                                        <p:cTn id="133" dur="500"/>
                                        <p:tgtEl>
                                          <p:spTgt spid="196"/>
                                        </p:tgtEl>
                                      </p:cBhvr>
                                    </p:animEffect>
                                  </p:childTnLst>
                                </p:cTn>
                              </p:par>
                            </p:childTnLst>
                          </p:cTn>
                        </p:par>
                        <p:par>
                          <p:cTn id="134" fill="hold">
                            <p:stCondLst>
                              <p:cond delay="2000"/>
                            </p:stCondLst>
                            <p:childTnLst>
                              <p:par>
                                <p:cTn id="135" presetID="10" presetClass="entr" presetSubtype="0" fill="hold" grpId="0" nodeType="afterEffect">
                                  <p:stCondLst>
                                    <p:cond delay="0"/>
                                  </p:stCondLst>
                                  <p:childTnLst>
                                    <p:set>
                                      <p:cBhvr>
                                        <p:cTn id="136" dur="1" fill="hold">
                                          <p:stCondLst>
                                            <p:cond delay="0"/>
                                          </p:stCondLst>
                                        </p:cTn>
                                        <p:tgtEl>
                                          <p:spTgt spid="195"/>
                                        </p:tgtEl>
                                        <p:attrNameLst>
                                          <p:attrName>style.visibility</p:attrName>
                                        </p:attrNameLst>
                                      </p:cBhvr>
                                      <p:to>
                                        <p:strVal val="visible"/>
                                      </p:to>
                                    </p:set>
                                    <p:animEffect transition="in" filter="fade">
                                      <p:cBhvr>
                                        <p:cTn id="137" dur="500"/>
                                        <p:tgtEl>
                                          <p:spTgt spid="195"/>
                                        </p:tgtEl>
                                      </p:cBhvr>
                                    </p:animEffect>
                                  </p:childTnLst>
                                </p:cTn>
                              </p:par>
                            </p:childTnLst>
                          </p:cTn>
                        </p:par>
                        <p:par>
                          <p:cTn id="138" fill="hold">
                            <p:stCondLst>
                              <p:cond delay="2500"/>
                            </p:stCondLst>
                            <p:childTnLst>
                              <p:par>
                                <p:cTn id="139" presetID="10" presetClass="entr" presetSubtype="0" fill="hold" nodeType="afterEffect">
                                  <p:stCondLst>
                                    <p:cond delay="0"/>
                                  </p:stCondLst>
                                  <p:childTnLst>
                                    <p:set>
                                      <p:cBhvr>
                                        <p:cTn id="140" dur="1" fill="hold">
                                          <p:stCondLst>
                                            <p:cond delay="0"/>
                                          </p:stCondLst>
                                        </p:cTn>
                                        <p:tgtEl>
                                          <p:spTgt spid="199"/>
                                        </p:tgtEl>
                                        <p:attrNameLst>
                                          <p:attrName>style.visibility</p:attrName>
                                        </p:attrNameLst>
                                      </p:cBhvr>
                                      <p:to>
                                        <p:strVal val="visible"/>
                                      </p:to>
                                    </p:set>
                                    <p:animEffect transition="in" filter="fade">
                                      <p:cBhvr>
                                        <p:cTn id="141" dur="500"/>
                                        <p:tgtEl>
                                          <p:spTgt spid="199"/>
                                        </p:tgtEl>
                                      </p:cBhvr>
                                    </p:animEffect>
                                  </p:childTnLst>
                                </p:cTn>
                              </p:par>
                            </p:childTnLst>
                          </p:cTn>
                        </p:par>
                        <p:par>
                          <p:cTn id="142" fill="hold">
                            <p:stCondLst>
                              <p:cond delay="3000"/>
                            </p:stCondLst>
                            <p:childTnLst>
                              <p:par>
                                <p:cTn id="143" presetID="22" presetClass="entr" presetSubtype="4" fill="hold" nodeType="afterEffect">
                                  <p:stCondLst>
                                    <p:cond delay="0"/>
                                  </p:stCondLst>
                                  <p:childTnLst>
                                    <p:set>
                                      <p:cBhvr>
                                        <p:cTn id="144" dur="1" fill="hold">
                                          <p:stCondLst>
                                            <p:cond delay="0"/>
                                          </p:stCondLst>
                                        </p:cTn>
                                        <p:tgtEl>
                                          <p:spTgt spid="224"/>
                                        </p:tgtEl>
                                        <p:attrNameLst>
                                          <p:attrName>style.visibility</p:attrName>
                                        </p:attrNameLst>
                                      </p:cBhvr>
                                      <p:to>
                                        <p:strVal val="visible"/>
                                      </p:to>
                                    </p:set>
                                    <p:animEffect transition="in" filter="wipe(down)">
                                      <p:cBhvr>
                                        <p:cTn id="145" dur="500"/>
                                        <p:tgtEl>
                                          <p:spTgt spid="224"/>
                                        </p:tgtEl>
                                      </p:cBhvr>
                                    </p:animEffect>
                                  </p:childTnLst>
                                </p:cTn>
                              </p:par>
                            </p:childTnLst>
                          </p:cTn>
                        </p:par>
                        <p:par>
                          <p:cTn id="146" fill="hold">
                            <p:stCondLst>
                              <p:cond delay="3500"/>
                            </p:stCondLst>
                            <p:childTnLst>
                              <p:par>
                                <p:cTn id="147" presetID="10" presetClass="entr" presetSubtype="0" fill="hold" nodeType="afterEffect">
                                  <p:stCondLst>
                                    <p:cond delay="0"/>
                                  </p:stCondLst>
                                  <p:childTnLst>
                                    <p:set>
                                      <p:cBhvr>
                                        <p:cTn id="148" dur="1" fill="hold">
                                          <p:stCondLst>
                                            <p:cond delay="0"/>
                                          </p:stCondLst>
                                        </p:cTn>
                                        <p:tgtEl>
                                          <p:spTgt spid="226"/>
                                        </p:tgtEl>
                                        <p:attrNameLst>
                                          <p:attrName>style.visibility</p:attrName>
                                        </p:attrNameLst>
                                      </p:cBhvr>
                                      <p:to>
                                        <p:strVal val="visible"/>
                                      </p:to>
                                    </p:set>
                                    <p:animEffect transition="in" filter="fade">
                                      <p:cBhvr>
                                        <p:cTn id="149" dur="500"/>
                                        <p:tgtEl>
                                          <p:spTgt spid="226"/>
                                        </p:tgtEl>
                                      </p:cBhvr>
                                    </p:animEffect>
                                  </p:childTnLst>
                                </p:cTn>
                              </p:par>
                            </p:childTnLst>
                          </p:cTn>
                        </p:par>
                        <p:par>
                          <p:cTn id="150" fill="hold">
                            <p:stCondLst>
                              <p:cond delay="4000"/>
                            </p:stCondLst>
                            <p:childTnLst>
                              <p:par>
                                <p:cTn id="151" presetID="10" presetClass="entr" presetSubtype="0" fill="hold" grpId="0" nodeType="afterEffect">
                                  <p:stCondLst>
                                    <p:cond delay="0"/>
                                  </p:stCondLst>
                                  <p:childTnLst>
                                    <p:set>
                                      <p:cBhvr>
                                        <p:cTn id="152" dur="1" fill="hold">
                                          <p:stCondLst>
                                            <p:cond delay="0"/>
                                          </p:stCondLst>
                                        </p:cTn>
                                        <p:tgtEl>
                                          <p:spTgt spid="230"/>
                                        </p:tgtEl>
                                        <p:attrNameLst>
                                          <p:attrName>style.visibility</p:attrName>
                                        </p:attrNameLst>
                                      </p:cBhvr>
                                      <p:to>
                                        <p:strVal val="visible"/>
                                      </p:to>
                                    </p:set>
                                    <p:animEffect transition="in" filter="fade">
                                      <p:cBhvr>
                                        <p:cTn id="153" dur="500"/>
                                        <p:tgtEl>
                                          <p:spTgt spid="230"/>
                                        </p:tgtEl>
                                      </p:cBhvr>
                                    </p:animEffect>
                                  </p:childTnLst>
                                </p:cTn>
                              </p:par>
                            </p:childTnLst>
                          </p:cTn>
                        </p:par>
                        <p:par>
                          <p:cTn id="154" fill="hold">
                            <p:stCondLst>
                              <p:cond delay="4500"/>
                            </p:stCondLst>
                            <p:childTnLst>
                              <p:par>
                                <p:cTn id="155" presetID="10" presetClass="entr" presetSubtype="0" fill="hold" grpId="0" nodeType="afterEffect">
                                  <p:stCondLst>
                                    <p:cond delay="0"/>
                                  </p:stCondLst>
                                  <p:childTnLst>
                                    <p:set>
                                      <p:cBhvr>
                                        <p:cTn id="156" dur="1" fill="hold">
                                          <p:stCondLst>
                                            <p:cond delay="0"/>
                                          </p:stCondLst>
                                        </p:cTn>
                                        <p:tgtEl>
                                          <p:spTgt spid="251"/>
                                        </p:tgtEl>
                                        <p:attrNameLst>
                                          <p:attrName>style.visibility</p:attrName>
                                        </p:attrNameLst>
                                      </p:cBhvr>
                                      <p:to>
                                        <p:strVal val="visible"/>
                                      </p:to>
                                    </p:set>
                                    <p:animEffect transition="in" filter="fade">
                                      <p:cBhvr>
                                        <p:cTn id="157" dur="500"/>
                                        <p:tgtEl>
                                          <p:spTgt spid="251"/>
                                        </p:tgtEl>
                                      </p:cBhvr>
                                    </p:animEffect>
                                  </p:childTnLst>
                                </p:cTn>
                              </p:par>
                              <p:par>
                                <p:cTn id="158" presetID="10" presetClass="entr" presetSubtype="0" fill="hold" grpId="0" nodeType="withEffect">
                                  <p:stCondLst>
                                    <p:cond delay="0"/>
                                  </p:stCondLst>
                                  <p:childTnLst>
                                    <p:set>
                                      <p:cBhvr>
                                        <p:cTn id="159" dur="1" fill="hold">
                                          <p:stCondLst>
                                            <p:cond delay="0"/>
                                          </p:stCondLst>
                                        </p:cTn>
                                        <p:tgtEl>
                                          <p:spTgt spid="254"/>
                                        </p:tgtEl>
                                        <p:attrNameLst>
                                          <p:attrName>style.visibility</p:attrName>
                                        </p:attrNameLst>
                                      </p:cBhvr>
                                      <p:to>
                                        <p:strVal val="visible"/>
                                      </p:to>
                                    </p:set>
                                    <p:animEffect transition="in" filter="fade">
                                      <p:cBhvr>
                                        <p:cTn id="160" dur="500"/>
                                        <p:tgtEl>
                                          <p:spTgt spid="254"/>
                                        </p:tgtEl>
                                      </p:cBhvr>
                                    </p:animEffect>
                                  </p:childTnLst>
                                </p:cTn>
                              </p:par>
                            </p:childTnLst>
                          </p:cTn>
                        </p:par>
                        <p:par>
                          <p:cTn id="161" fill="hold">
                            <p:stCondLst>
                              <p:cond delay="5000"/>
                            </p:stCondLst>
                            <p:childTnLst>
                              <p:par>
                                <p:cTn id="162" presetID="10" presetClass="entr" presetSubtype="0" fill="hold" nodeType="afterEffect">
                                  <p:stCondLst>
                                    <p:cond delay="0"/>
                                  </p:stCondLst>
                                  <p:childTnLst>
                                    <p:set>
                                      <p:cBhvr>
                                        <p:cTn id="163" dur="1" fill="hold">
                                          <p:stCondLst>
                                            <p:cond delay="0"/>
                                          </p:stCondLst>
                                        </p:cTn>
                                        <p:tgtEl>
                                          <p:spTgt spid="8"/>
                                        </p:tgtEl>
                                        <p:attrNameLst>
                                          <p:attrName>style.visibility</p:attrName>
                                        </p:attrNameLst>
                                      </p:cBhvr>
                                      <p:to>
                                        <p:strVal val="visible"/>
                                      </p:to>
                                    </p:set>
                                    <p:animEffect transition="in" filter="fade">
                                      <p:cBhvr>
                                        <p:cTn id="164" dur="500"/>
                                        <p:tgtEl>
                                          <p:spTgt spid="8"/>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223"/>
                                        </p:tgtEl>
                                        <p:attrNameLst>
                                          <p:attrName>style.visibility</p:attrName>
                                        </p:attrNameLst>
                                      </p:cBhvr>
                                      <p:to>
                                        <p:strVal val="visible"/>
                                      </p:to>
                                    </p:set>
                                    <p:animEffect transition="in" filter="fade">
                                      <p:cBhvr>
                                        <p:cTn id="167" dur="500"/>
                                        <p:tgtEl>
                                          <p:spTgt spid="223"/>
                                        </p:tgtEl>
                                      </p:cBhvr>
                                    </p:animEffect>
                                  </p:childTnLst>
                                </p:cTn>
                              </p:par>
                            </p:childTnLst>
                          </p:cTn>
                        </p:par>
                        <p:par>
                          <p:cTn id="168" fill="hold">
                            <p:stCondLst>
                              <p:cond delay="5500"/>
                            </p:stCondLst>
                            <p:childTnLst>
                              <p:par>
                                <p:cTn id="169" presetID="22" presetClass="entr" presetSubtype="8" fill="hold" nodeType="afterEffect">
                                  <p:stCondLst>
                                    <p:cond delay="0"/>
                                  </p:stCondLst>
                                  <p:childTnLst>
                                    <p:set>
                                      <p:cBhvr>
                                        <p:cTn id="170" dur="1" fill="hold">
                                          <p:stCondLst>
                                            <p:cond delay="0"/>
                                          </p:stCondLst>
                                        </p:cTn>
                                        <p:tgtEl>
                                          <p:spTgt spid="255"/>
                                        </p:tgtEl>
                                        <p:attrNameLst>
                                          <p:attrName>style.visibility</p:attrName>
                                        </p:attrNameLst>
                                      </p:cBhvr>
                                      <p:to>
                                        <p:strVal val="visible"/>
                                      </p:to>
                                    </p:set>
                                    <p:animEffect transition="in" filter="wipe(left)">
                                      <p:cBhvr>
                                        <p:cTn id="171" dur="250"/>
                                        <p:tgtEl>
                                          <p:spTgt spid="255"/>
                                        </p:tgtEl>
                                      </p:cBhvr>
                                    </p:animEffect>
                                  </p:childTnLst>
                                </p:cTn>
                              </p:par>
                              <p:par>
                                <p:cTn id="172" presetID="22" presetClass="entr" presetSubtype="2" fill="hold" nodeType="withEffect">
                                  <p:stCondLst>
                                    <p:cond delay="0"/>
                                  </p:stCondLst>
                                  <p:childTnLst>
                                    <p:set>
                                      <p:cBhvr>
                                        <p:cTn id="173" dur="1" fill="hold">
                                          <p:stCondLst>
                                            <p:cond delay="0"/>
                                          </p:stCondLst>
                                        </p:cTn>
                                        <p:tgtEl>
                                          <p:spTgt spid="252"/>
                                        </p:tgtEl>
                                        <p:attrNameLst>
                                          <p:attrName>style.visibility</p:attrName>
                                        </p:attrNameLst>
                                      </p:cBhvr>
                                      <p:to>
                                        <p:strVal val="visible"/>
                                      </p:to>
                                    </p:set>
                                    <p:animEffect transition="in" filter="wipe(right)">
                                      <p:cBhvr>
                                        <p:cTn id="174" dur="250"/>
                                        <p:tgtEl>
                                          <p:spTgt spid="252"/>
                                        </p:tgtEl>
                                      </p:cBhvr>
                                    </p:animEffect>
                                  </p:childTnLst>
                                </p:cTn>
                              </p:par>
                            </p:childTnLst>
                          </p:cTn>
                        </p:par>
                        <p:par>
                          <p:cTn id="175" fill="hold">
                            <p:stCondLst>
                              <p:cond delay="5750"/>
                            </p:stCondLst>
                            <p:childTnLst>
                              <p:par>
                                <p:cTn id="176" presetID="10" presetClass="entr" presetSubtype="0" fill="hold" grpId="0" nodeType="afterEffect">
                                  <p:stCondLst>
                                    <p:cond delay="0"/>
                                  </p:stCondLst>
                                  <p:childTnLst>
                                    <p:set>
                                      <p:cBhvr>
                                        <p:cTn id="177" dur="1" fill="hold">
                                          <p:stCondLst>
                                            <p:cond delay="0"/>
                                          </p:stCondLst>
                                        </p:cTn>
                                        <p:tgtEl>
                                          <p:spTgt spid="116"/>
                                        </p:tgtEl>
                                        <p:attrNameLst>
                                          <p:attrName>style.visibility</p:attrName>
                                        </p:attrNameLst>
                                      </p:cBhvr>
                                      <p:to>
                                        <p:strVal val="visible"/>
                                      </p:to>
                                    </p:set>
                                    <p:animEffect transition="in" filter="fade">
                                      <p:cBhvr>
                                        <p:cTn id="178" dur="500"/>
                                        <p:tgtEl>
                                          <p:spTgt spid="116"/>
                                        </p:tgtEl>
                                      </p:cBhvr>
                                    </p:animEffect>
                                  </p:childTnLst>
                                </p:cTn>
                              </p:par>
                              <p:par>
                                <p:cTn id="179" presetID="10" presetClass="entr" presetSubtype="0" fill="hold" grpId="0" nodeType="withEffect">
                                  <p:stCondLst>
                                    <p:cond delay="0"/>
                                  </p:stCondLst>
                                  <p:childTnLst>
                                    <p:set>
                                      <p:cBhvr>
                                        <p:cTn id="180" dur="1" fill="hold">
                                          <p:stCondLst>
                                            <p:cond delay="0"/>
                                          </p:stCondLst>
                                        </p:cTn>
                                        <p:tgtEl>
                                          <p:spTgt spid="263"/>
                                        </p:tgtEl>
                                        <p:attrNameLst>
                                          <p:attrName>style.visibility</p:attrName>
                                        </p:attrNameLst>
                                      </p:cBhvr>
                                      <p:to>
                                        <p:strVal val="visible"/>
                                      </p:to>
                                    </p:set>
                                    <p:animEffect transition="in" filter="fade">
                                      <p:cBhvr>
                                        <p:cTn id="181" dur="500"/>
                                        <p:tgtEl>
                                          <p:spTgt spid="263"/>
                                        </p:tgtEl>
                                      </p:cBhvr>
                                    </p:animEffect>
                                  </p:childTnLst>
                                </p:cTn>
                              </p:par>
                            </p:childTnLst>
                          </p:cTn>
                        </p:par>
                        <p:par>
                          <p:cTn id="182" fill="hold">
                            <p:stCondLst>
                              <p:cond delay="6250"/>
                            </p:stCondLst>
                            <p:childTnLst>
                              <p:par>
                                <p:cTn id="183" presetID="26" presetClass="emph" presetSubtype="0" fill="hold" grpId="1" nodeType="afterEffect">
                                  <p:stCondLst>
                                    <p:cond delay="500"/>
                                  </p:stCondLst>
                                  <p:childTnLst>
                                    <p:animEffect transition="out" filter="fade">
                                      <p:cBhvr>
                                        <p:cTn id="184" dur="500" tmFilter="0, 0; .2, .5; .8, .5; 1, 0"/>
                                        <p:tgtEl>
                                          <p:spTgt spid="116"/>
                                        </p:tgtEl>
                                      </p:cBhvr>
                                    </p:animEffect>
                                    <p:animScale>
                                      <p:cBhvr>
                                        <p:cTn id="185" dur="250" autoRev="1" fill="hold"/>
                                        <p:tgtEl>
                                          <p:spTgt spid="116"/>
                                        </p:tgtEl>
                                      </p:cBhvr>
                                      <p:by x="105000" y="105000"/>
                                    </p:animScale>
                                  </p:childTnLst>
                                </p:cTn>
                              </p:par>
                              <p:par>
                                <p:cTn id="186" presetID="26" presetClass="emph" presetSubtype="0" fill="hold" grpId="1" nodeType="withEffect">
                                  <p:stCondLst>
                                    <p:cond delay="500"/>
                                  </p:stCondLst>
                                  <p:childTnLst>
                                    <p:animEffect transition="out" filter="fade">
                                      <p:cBhvr>
                                        <p:cTn id="187" dur="500" tmFilter="0, 0; .2, .5; .8, .5; 1, 0"/>
                                        <p:tgtEl>
                                          <p:spTgt spid="263"/>
                                        </p:tgtEl>
                                      </p:cBhvr>
                                    </p:animEffect>
                                    <p:animScale>
                                      <p:cBhvr>
                                        <p:cTn id="188" dur="250" autoRev="1" fill="hold"/>
                                        <p:tgtEl>
                                          <p:spTgt spid="263"/>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 grpId="0" animBg="1"/>
      <p:bldP spid="261" grpId="0" animBg="1"/>
      <p:bldP spid="114" grpId="0" animBg="1"/>
      <p:bldP spid="113" grpId="0" animBg="1"/>
      <p:bldP spid="44" grpId="0" animBg="1"/>
      <p:bldP spid="103" grpId="0" animBg="1"/>
      <p:bldP spid="111" grpId="0"/>
      <p:bldP spid="6" grpId="0"/>
      <p:bldP spid="24" grpId="0"/>
      <p:bldP spid="137" grpId="0"/>
      <p:bldP spid="195" grpId="0"/>
      <p:bldP spid="223" grpId="0"/>
      <p:bldP spid="229" grpId="0"/>
      <p:bldP spid="230" grpId="0"/>
      <p:bldP spid="250" grpId="0"/>
      <p:bldP spid="251" grpId="0"/>
      <p:bldP spid="254" grpId="0"/>
      <p:bldP spid="116" grpId="0"/>
      <p:bldP spid="116" grpId="1"/>
      <p:bldP spid="263" grpId="0"/>
      <p:bldP spid="263" grpId="1"/>
      <p:bldP spid="264" grpId="0"/>
      <p:bldP spid="264" grpId="1"/>
      <p:bldP spid="265" grpId="0"/>
      <p:bldP spid="265" grpId="1"/>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98285B-58FB-8327-D785-2871FAD5ECF7}"/>
              </a:ext>
            </a:extLst>
          </p:cNvPr>
          <p:cNvSpPr>
            <a:spLocks noGrp="1"/>
          </p:cNvSpPr>
          <p:nvPr>
            <p:ph type="title"/>
          </p:nvPr>
        </p:nvSpPr>
        <p:spPr/>
        <p:txBody>
          <a:bodyPr/>
          <a:lstStyle/>
          <a:p>
            <a:r>
              <a:rPr lang="en-US"/>
              <a:t>Next Generation Architecture built into vSAN</a:t>
            </a:r>
            <a:endParaRPr lang="en-US" dirty="0"/>
          </a:p>
        </p:txBody>
      </p:sp>
      <p:sp>
        <p:nvSpPr>
          <p:cNvPr id="3" name="Subtitle 2">
            <a:extLst>
              <a:ext uri="{FF2B5EF4-FFF2-40B4-BE49-F238E27FC236}">
                <a16:creationId xmlns:a16="http://schemas.microsoft.com/office/drawing/2014/main" id="{DB2AF9DA-30EC-1C23-31B0-CA395C279BA1}"/>
              </a:ext>
            </a:extLst>
          </p:cNvPr>
          <p:cNvSpPr>
            <a:spLocks noGrp="1"/>
          </p:cNvSpPr>
          <p:nvPr>
            <p:ph type="subTitle" idx="10"/>
          </p:nvPr>
        </p:nvSpPr>
        <p:spPr/>
        <p:txBody>
          <a:bodyPr/>
          <a:lstStyle/>
          <a:p>
            <a:r>
              <a:rPr lang="en-US" dirty="0"/>
              <a:t>vSAN Express Storage Architecture™ (ESA) in vSAN</a:t>
            </a:r>
          </a:p>
          <a:p>
            <a:endParaRPr lang="en-US" dirty="0"/>
          </a:p>
        </p:txBody>
      </p:sp>
      <p:sp>
        <p:nvSpPr>
          <p:cNvPr id="5" name="Text Placeholder 4">
            <a:extLst>
              <a:ext uri="{FF2B5EF4-FFF2-40B4-BE49-F238E27FC236}">
                <a16:creationId xmlns:a16="http://schemas.microsoft.com/office/drawing/2014/main" id="{13730383-4BE4-B533-AC59-FFFBF84551C0}"/>
              </a:ext>
            </a:extLst>
          </p:cNvPr>
          <p:cNvSpPr>
            <a:spLocks noGrp="1"/>
          </p:cNvSpPr>
          <p:nvPr>
            <p:ph type="body" sz="quarter" idx="17"/>
          </p:nvPr>
        </p:nvSpPr>
        <p:spPr/>
        <p:txBody>
          <a:bodyPr/>
          <a:lstStyle/>
          <a:p>
            <a:r>
              <a:rPr lang="en-US" b="1" dirty="0">
                <a:latin typeface="+mj-lt"/>
              </a:rPr>
              <a:t>Next generation </a:t>
            </a:r>
            <a:r>
              <a:rPr lang="en-US" dirty="0">
                <a:latin typeface="+mj-lt"/>
              </a:rPr>
              <a:t>storage architecture for the workloads of today and tomorrow</a:t>
            </a:r>
          </a:p>
          <a:p>
            <a:r>
              <a:rPr lang="en-US" dirty="0">
                <a:latin typeface="+mj-lt"/>
              </a:rPr>
              <a:t>Optional, </a:t>
            </a:r>
            <a:r>
              <a:rPr lang="en-US" b="1" dirty="0">
                <a:latin typeface="+mj-lt"/>
              </a:rPr>
              <a:t>alternative architecture </a:t>
            </a:r>
            <a:r>
              <a:rPr lang="en-US" dirty="0">
                <a:latin typeface="+mj-lt"/>
              </a:rPr>
              <a:t>to the vSAN original storage architecture</a:t>
            </a:r>
          </a:p>
          <a:p>
            <a:r>
              <a:rPr lang="en-US" dirty="0">
                <a:latin typeface="+mj-lt"/>
              </a:rPr>
              <a:t>Available when running on qualified hardware in ESA </a:t>
            </a:r>
            <a:r>
              <a:rPr lang="en-US" b="1" dirty="0">
                <a:latin typeface="+mj-lt"/>
              </a:rPr>
              <a:t>approved vSAN ReadyNodes</a:t>
            </a:r>
          </a:p>
          <a:p>
            <a:r>
              <a:rPr lang="en-US" dirty="0">
                <a:latin typeface="+mj-lt"/>
              </a:rPr>
              <a:t>Powers aggregated </a:t>
            </a:r>
            <a:r>
              <a:rPr lang="en-US" b="1" dirty="0">
                <a:latin typeface="+mj-lt"/>
              </a:rPr>
              <a:t>vSAN HCI clusters</a:t>
            </a:r>
            <a:r>
              <a:rPr lang="en-US" dirty="0">
                <a:latin typeface="+mj-lt"/>
              </a:rPr>
              <a:t> and disaggregated vSAN storage clusters</a:t>
            </a:r>
          </a:p>
          <a:p>
            <a:endParaRPr lang="en-US" dirty="0"/>
          </a:p>
        </p:txBody>
      </p:sp>
      <p:sp>
        <p:nvSpPr>
          <p:cNvPr id="4" name="TextBox 3">
            <a:extLst>
              <a:ext uri="{FF2B5EF4-FFF2-40B4-BE49-F238E27FC236}">
                <a16:creationId xmlns:a16="http://schemas.microsoft.com/office/drawing/2014/main" id="{41B6E5A4-96D8-2789-E962-0947954387A3}"/>
              </a:ext>
            </a:extLst>
          </p:cNvPr>
          <p:cNvSpPr txBox="1"/>
          <p:nvPr/>
        </p:nvSpPr>
        <p:spPr>
          <a:xfrm>
            <a:off x="7125173" y="3917250"/>
            <a:ext cx="822923"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Storage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only</a:t>
            </a:r>
          </a:p>
        </p:txBody>
      </p:sp>
      <p:grpSp>
        <p:nvGrpSpPr>
          <p:cNvPr id="6" name="Group 5">
            <a:extLst>
              <a:ext uri="{FF2B5EF4-FFF2-40B4-BE49-F238E27FC236}">
                <a16:creationId xmlns:a16="http://schemas.microsoft.com/office/drawing/2014/main" id="{902B2FBA-B55B-5C25-616F-DF867B0C1A85}"/>
              </a:ext>
            </a:extLst>
          </p:cNvPr>
          <p:cNvGrpSpPr/>
          <p:nvPr/>
        </p:nvGrpSpPr>
        <p:grpSpPr>
          <a:xfrm>
            <a:off x="4898745" y="2325759"/>
            <a:ext cx="2189434" cy="113067"/>
            <a:chOff x="9883178" y="3095486"/>
            <a:chExt cx="2189434" cy="113067"/>
          </a:xfrm>
          <a:solidFill>
            <a:schemeClr val="accent4">
              <a:lumMod val="20000"/>
              <a:lumOff val="80000"/>
            </a:schemeClr>
          </a:solidFill>
        </p:grpSpPr>
        <p:sp>
          <p:nvSpPr>
            <p:cNvPr id="7" name="Rectangle 6">
              <a:extLst>
                <a:ext uri="{FF2B5EF4-FFF2-40B4-BE49-F238E27FC236}">
                  <a16:creationId xmlns:a16="http://schemas.microsoft.com/office/drawing/2014/main" id="{2CB3242F-8E28-8EBC-ABEE-342DFF2C9673}"/>
                </a:ext>
              </a:extLst>
            </p:cNvPr>
            <p:cNvSpPr/>
            <p:nvPr/>
          </p:nvSpPr>
          <p:spPr>
            <a:xfrm>
              <a:off x="9883178"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CC8BDEB2-0F27-B4CA-96B8-842E53B6365B}"/>
                </a:ext>
              </a:extLst>
            </p:cNvPr>
            <p:cNvSpPr/>
            <p:nvPr/>
          </p:nvSpPr>
          <p:spPr>
            <a:xfrm>
              <a:off x="10447015"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Rectangle 79">
              <a:extLst>
                <a:ext uri="{FF2B5EF4-FFF2-40B4-BE49-F238E27FC236}">
                  <a16:creationId xmlns:a16="http://schemas.microsoft.com/office/drawing/2014/main" id="{D84516F3-A462-2653-EA1B-642A11199B04}"/>
                </a:ext>
              </a:extLst>
            </p:cNvPr>
            <p:cNvSpPr/>
            <p:nvPr/>
          </p:nvSpPr>
          <p:spPr>
            <a:xfrm>
              <a:off x="11010852"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 name="Rectangle 80">
              <a:extLst>
                <a:ext uri="{FF2B5EF4-FFF2-40B4-BE49-F238E27FC236}">
                  <a16:creationId xmlns:a16="http://schemas.microsoft.com/office/drawing/2014/main" id="{ACE6C5D1-1C91-E34C-0B89-481095502294}"/>
                </a:ext>
              </a:extLst>
            </p:cNvPr>
            <p:cNvSpPr/>
            <p:nvPr/>
          </p:nvSpPr>
          <p:spPr>
            <a:xfrm>
              <a:off x="11574689"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82" name="TextBox 81">
            <a:extLst>
              <a:ext uri="{FF2B5EF4-FFF2-40B4-BE49-F238E27FC236}">
                <a16:creationId xmlns:a16="http://schemas.microsoft.com/office/drawing/2014/main" id="{020E6A4E-C81C-971A-FFBB-BF6AF4B2CA3E}"/>
              </a:ext>
            </a:extLst>
          </p:cNvPr>
          <p:cNvSpPr txBox="1"/>
          <p:nvPr/>
        </p:nvSpPr>
        <p:spPr>
          <a:xfrm>
            <a:off x="7056538" y="2288445"/>
            <a:ext cx="960192"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only</a:t>
            </a:r>
          </a:p>
        </p:txBody>
      </p:sp>
      <p:cxnSp>
        <p:nvCxnSpPr>
          <p:cNvPr id="83" name="Straight Connector 82">
            <a:extLst>
              <a:ext uri="{FF2B5EF4-FFF2-40B4-BE49-F238E27FC236}">
                <a16:creationId xmlns:a16="http://schemas.microsoft.com/office/drawing/2014/main" id="{9AD78571-863E-0A05-52C7-91286BFCFD2B}"/>
              </a:ext>
            </a:extLst>
          </p:cNvPr>
          <p:cNvCxnSpPr>
            <a:cxnSpLocks/>
          </p:cNvCxnSpPr>
          <p:nvPr/>
        </p:nvCxnSpPr>
        <p:spPr bwMode="gray">
          <a:xfrm flipV="1">
            <a:off x="5993462" y="2796540"/>
            <a:ext cx="0" cy="588010"/>
          </a:xfrm>
          <a:prstGeom prst="line">
            <a:avLst/>
          </a:prstGeom>
          <a:ln w="25400">
            <a:solidFill>
              <a:schemeClr val="accent2"/>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84" name="Graphic 83">
            <a:extLst>
              <a:ext uri="{FF2B5EF4-FFF2-40B4-BE49-F238E27FC236}">
                <a16:creationId xmlns:a16="http://schemas.microsoft.com/office/drawing/2014/main" id="{68E5F493-0F3E-075B-6148-2FC17EC83D1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98257" y="2473111"/>
            <a:ext cx="190410" cy="223781"/>
          </a:xfrm>
          <a:prstGeom prst="rect">
            <a:avLst/>
          </a:prstGeom>
        </p:spPr>
      </p:pic>
      <p:pic>
        <p:nvPicPr>
          <p:cNvPr id="105" name="Graphic 104">
            <a:extLst>
              <a:ext uri="{FF2B5EF4-FFF2-40B4-BE49-F238E27FC236}">
                <a16:creationId xmlns:a16="http://schemas.microsoft.com/office/drawing/2014/main" id="{B639D42B-BB3B-11A2-5375-5B59F986A05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898257" y="4988783"/>
            <a:ext cx="190410" cy="223781"/>
          </a:xfrm>
          <a:prstGeom prst="rect">
            <a:avLst/>
          </a:prstGeom>
        </p:spPr>
      </p:pic>
      <p:grpSp>
        <p:nvGrpSpPr>
          <p:cNvPr id="106" name="Group 105">
            <a:extLst>
              <a:ext uri="{FF2B5EF4-FFF2-40B4-BE49-F238E27FC236}">
                <a16:creationId xmlns:a16="http://schemas.microsoft.com/office/drawing/2014/main" id="{B2072E8D-ED2D-415B-AB24-D08B2FFE4793}"/>
              </a:ext>
            </a:extLst>
          </p:cNvPr>
          <p:cNvGrpSpPr/>
          <p:nvPr/>
        </p:nvGrpSpPr>
        <p:grpSpPr>
          <a:xfrm>
            <a:off x="4898745" y="4796189"/>
            <a:ext cx="2189434" cy="184666"/>
            <a:chOff x="7950077" y="3379353"/>
            <a:chExt cx="2189434" cy="184666"/>
          </a:xfrm>
        </p:grpSpPr>
        <p:cxnSp>
          <p:nvCxnSpPr>
            <p:cNvPr id="120" name="Straight Connector 119">
              <a:extLst>
                <a:ext uri="{FF2B5EF4-FFF2-40B4-BE49-F238E27FC236}">
                  <a16:creationId xmlns:a16="http://schemas.microsoft.com/office/drawing/2014/main" id="{ACFF0E32-DD3E-48AB-61DA-E018344EB081}"/>
                </a:ext>
              </a:extLst>
            </p:cNvPr>
            <p:cNvCxnSpPr>
              <a:cxnSpLocks/>
            </p:cNvCxnSpPr>
            <p:nvPr/>
          </p:nvCxnSpPr>
          <p:spPr bwMode="gray">
            <a:xfrm>
              <a:off x="7954667" y="3387515"/>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63FB5129-74B8-D7DA-5512-D324F6215C4F}"/>
                </a:ext>
              </a:extLst>
            </p:cNvPr>
            <p:cNvCxnSpPr>
              <a:cxnSpLocks/>
            </p:cNvCxnSpPr>
            <p:nvPr/>
          </p:nvCxnSpPr>
          <p:spPr bwMode="gray">
            <a:xfrm>
              <a:off x="9941082" y="3475525"/>
              <a:ext cx="198429"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2C6CE62-1D4C-DBB6-0B40-3956AC488717}"/>
                </a:ext>
              </a:extLst>
            </p:cNvPr>
            <p:cNvCxnSpPr>
              <a:cxnSpLocks/>
            </p:cNvCxnSpPr>
            <p:nvPr/>
          </p:nvCxnSpPr>
          <p:spPr bwMode="gray">
            <a:xfrm>
              <a:off x="10139511" y="3387515"/>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E739092C-A05D-FBE5-757F-F4464E5E976F}"/>
                </a:ext>
              </a:extLst>
            </p:cNvPr>
            <p:cNvCxnSpPr>
              <a:cxnSpLocks/>
            </p:cNvCxnSpPr>
            <p:nvPr/>
          </p:nvCxnSpPr>
          <p:spPr bwMode="gray">
            <a:xfrm>
              <a:off x="7950077" y="3475525"/>
              <a:ext cx="247930"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EAE2C895-3907-C324-3E13-D703E26B6B62}"/>
                </a:ext>
              </a:extLst>
            </p:cNvPr>
            <p:cNvSpPr txBox="1"/>
            <p:nvPr/>
          </p:nvSpPr>
          <p:spPr>
            <a:xfrm>
              <a:off x="8188686" y="3379353"/>
              <a:ext cx="1752523" cy="184666"/>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vSAN storage cluster</a:t>
              </a:r>
            </a:p>
          </p:txBody>
        </p:sp>
      </p:grpSp>
      <p:grpSp>
        <p:nvGrpSpPr>
          <p:cNvPr id="108" name="Group 107">
            <a:extLst>
              <a:ext uri="{FF2B5EF4-FFF2-40B4-BE49-F238E27FC236}">
                <a16:creationId xmlns:a16="http://schemas.microsoft.com/office/drawing/2014/main" id="{4D5401D4-AEA2-3616-2547-B147862143FA}"/>
              </a:ext>
            </a:extLst>
          </p:cNvPr>
          <p:cNvGrpSpPr/>
          <p:nvPr/>
        </p:nvGrpSpPr>
        <p:grpSpPr>
          <a:xfrm>
            <a:off x="4898745" y="3542733"/>
            <a:ext cx="2189434" cy="400437"/>
            <a:chOff x="5446716" y="4074320"/>
            <a:chExt cx="2189434" cy="400437"/>
          </a:xfrm>
        </p:grpSpPr>
        <p:sp>
          <p:nvSpPr>
            <p:cNvPr id="109" name="Rectangle 108">
              <a:extLst>
                <a:ext uri="{FF2B5EF4-FFF2-40B4-BE49-F238E27FC236}">
                  <a16:creationId xmlns:a16="http://schemas.microsoft.com/office/drawing/2014/main" id="{4D04EDD6-6108-6E67-C790-B6B28D0E340E}"/>
                </a:ext>
              </a:extLst>
            </p:cNvPr>
            <p:cNvSpPr/>
            <p:nvPr/>
          </p:nvSpPr>
          <p:spPr>
            <a:xfrm>
              <a:off x="5446716" y="4074320"/>
              <a:ext cx="2189434" cy="40043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10" name="Group 109">
              <a:extLst>
                <a:ext uri="{FF2B5EF4-FFF2-40B4-BE49-F238E27FC236}">
                  <a16:creationId xmlns:a16="http://schemas.microsoft.com/office/drawing/2014/main" id="{91DC856E-4D98-F9DF-FA22-4DE3AB09F4FC}"/>
                </a:ext>
              </a:extLst>
            </p:cNvPr>
            <p:cNvGrpSpPr/>
            <p:nvPr/>
          </p:nvGrpSpPr>
          <p:grpSpPr>
            <a:xfrm>
              <a:off x="5527303" y="4148769"/>
              <a:ext cx="2038349" cy="254952"/>
              <a:chOff x="1410325" y="3573078"/>
              <a:chExt cx="2038349" cy="254952"/>
            </a:xfrm>
          </p:grpSpPr>
          <p:sp>
            <p:nvSpPr>
              <p:cNvPr id="111" name="Rectangle 110">
                <a:extLst>
                  <a:ext uri="{FF2B5EF4-FFF2-40B4-BE49-F238E27FC236}">
                    <a16:creationId xmlns:a16="http://schemas.microsoft.com/office/drawing/2014/main" id="{7BD30B70-E82E-EB0C-5A44-99F49C6D0A0C}"/>
                  </a:ext>
                </a:extLst>
              </p:cNvPr>
              <p:cNvSpPr/>
              <p:nvPr/>
            </p:nvSpPr>
            <p:spPr>
              <a:xfrm>
                <a:off x="1410325" y="3573078"/>
                <a:ext cx="2038349" cy="254952"/>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12" name="Rectangle 111">
                <a:extLst>
                  <a:ext uri="{FF2B5EF4-FFF2-40B4-BE49-F238E27FC236}">
                    <a16:creationId xmlns:a16="http://schemas.microsoft.com/office/drawing/2014/main" id="{DBF88929-A88E-245B-5CFE-D0701D2FCA78}"/>
                  </a:ext>
                </a:extLst>
              </p:cNvPr>
              <p:cNvSpPr/>
              <p:nvPr/>
            </p:nvSpPr>
            <p:spPr>
              <a:xfrm>
                <a:off x="1420623" y="3636670"/>
                <a:ext cx="543931" cy="123111"/>
              </a:xfrm>
              <a:prstGeom prst="rect">
                <a:avLst/>
              </a:prstGeom>
            </p:spPr>
            <p:txBody>
              <a:bodyPr wrap="square" lIns="0" tIns="0" rIns="0" bIns="0"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 ESA</a:t>
                </a:r>
              </a:p>
            </p:txBody>
          </p:sp>
          <p:sp>
            <p:nvSpPr>
              <p:cNvPr id="113" name="Rectangle 112">
                <a:extLst>
                  <a:ext uri="{FF2B5EF4-FFF2-40B4-BE49-F238E27FC236}">
                    <a16:creationId xmlns:a16="http://schemas.microsoft.com/office/drawing/2014/main" id="{EA1BBA6C-DCB1-CDC4-15B3-D36A4AF5203A}"/>
                  </a:ext>
                </a:extLst>
              </p:cNvPr>
              <p:cNvSpPr/>
              <p:nvPr/>
            </p:nvSpPr>
            <p:spPr>
              <a:xfrm>
                <a:off x="2828447" y="3636670"/>
                <a:ext cx="608625" cy="123111"/>
              </a:xfrm>
              <a:prstGeom prst="rect">
                <a:avLst/>
              </a:prstGeom>
            </p:spPr>
            <p:txBody>
              <a:bodyPr wrap="square" lIns="0" tIns="0" rIns="0" bIns="0"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 ESA</a:t>
                </a:r>
              </a:p>
            </p:txBody>
          </p:sp>
          <p:cxnSp>
            <p:nvCxnSpPr>
              <p:cNvPr id="114" name="Straight Connector 113">
                <a:extLst>
                  <a:ext uri="{FF2B5EF4-FFF2-40B4-BE49-F238E27FC236}">
                    <a16:creationId xmlns:a16="http://schemas.microsoft.com/office/drawing/2014/main" id="{3C9C62EA-3D21-26EA-33D3-6502B7E7C2D1}"/>
                  </a:ext>
                </a:extLst>
              </p:cNvPr>
              <p:cNvCxnSpPr>
                <a:cxnSpLocks/>
              </p:cNvCxnSpPr>
              <p:nvPr/>
            </p:nvCxnSpPr>
            <p:spPr bwMode="gray">
              <a:xfrm flipH="1">
                <a:off x="2003038" y="3698226"/>
                <a:ext cx="297114"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3B0DD1A2-340F-9C01-0311-D2AA915DD7F8}"/>
                  </a:ext>
                </a:extLst>
              </p:cNvPr>
              <p:cNvCxnSpPr>
                <a:cxnSpLocks/>
              </p:cNvCxnSpPr>
              <p:nvPr/>
            </p:nvCxnSpPr>
            <p:spPr bwMode="gray">
              <a:xfrm>
                <a:off x="2300152" y="3698226"/>
                <a:ext cx="499235"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pic>
        <p:nvPicPr>
          <p:cNvPr id="141" name="Graphic 140">
            <a:extLst>
              <a:ext uri="{FF2B5EF4-FFF2-40B4-BE49-F238E27FC236}">
                <a16:creationId xmlns:a16="http://schemas.microsoft.com/office/drawing/2014/main" id="{86F5D19F-4102-9B9C-A0F1-3F993B82340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234125" y="4988783"/>
            <a:ext cx="190410" cy="223781"/>
          </a:xfrm>
          <a:prstGeom prst="rect">
            <a:avLst/>
          </a:prstGeom>
        </p:spPr>
      </p:pic>
      <p:grpSp>
        <p:nvGrpSpPr>
          <p:cNvPr id="357" name="Group 356">
            <a:extLst>
              <a:ext uri="{FF2B5EF4-FFF2-40B4-BE49-F238E27FC236}">
                <a16:creationId xmlns:a16="http://schemas.microsoft.com/office/drawing/2014/main" id="{C0743802-8B38-59EC-D8E6-D2D3E54F21EB}"/>
              </a:ext>
            </a:extLst>
          </p:cNvPr>
          <p:cNvGrpSpPr/>
          <p:nvPr/>
        </p:nvGrpSpPr>
        <p:grpSpPr>
          <a:xfrm>
            <a:off x="1516532" y="4795878"/>
            <a:ext cx="1625597" cy="184666"/>
            <a:chOff x="1516532" y="4795878"/>
            <a:chExt cx="1625597" cy="184666"/>
          </a:xfrm>
        </p:grpSpPr>
        <p:cxnSp>
          <p:nvCxnSpPr>
            <p:cNvPr id="142" name="Straight Connector 141">
              <a:extLst>
                <a:ext uri="{FF2B5EF4-FFF2-40B4-BE49-F238E27FC236}">
                  <a16:creationId xmlns:a16="http://schemas.microsoft.com/office/drawing/2014/main" id="{86BEEBA2-31A1-44B9-3D00-3804DE52D83A}"/>
                </a:ext>
              </a:extLst>
            </p:cNvPr>
            <p:cNvCxnSpPr>
              <a:cxnSpLocks/>
            </p:cNvCxnSpPr>
            <p:nvPr/>
          </p:nvCxnSpPr>
          <p:spPr bwMode="gray">
            <a:xfrm>
              <a:off x="1521122" y="4804040"/>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4B72486-8B42-36D4-308B-7B67C25BF8EE}"/>
                </a:ext>
              </a:extLst>
            </p:cNvPr>
            <p:cNvCxnSpPr>
              <a:cxnSpLocks/>
            </p:cNvCxnSpPr>
            <p:nvPr/>
          </p:nvCxnSpPr>
          <p:spPr bwMode="gray">
            <a:xfrm>
              <a:off x="3044825" y="4892050"/>
              <a:ext cx="97304"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5EC76A02-DDD4-CAA2-AA87-51246AE0E806}"/>
                </a:ext>
              </a:extLst>
            </p:cNvPr>
            <p:cNvCxnSpPr>
              <a:cxnSpLocks/>
            </p:cNvCxnSpPr>
            <p:nvPr/>
          </p:nvCxnSpPr>
          <p:spPr bwMode="gray">
            <a:xfrm>
              <a:off x="3142129" y="4804040"/>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B6961558-6492-78EF-994F-1CB369E1F457}"/>
                </a:ext>
              </a:extLst>
            </p:cNvPr>
            <p:cNvCxnSpPr>
              <a:cxnSpLocks/>
            </p:cNvCxnSpPr>
            <p:nvPr/>
          </p:nvCxnSpPr>
          <p:spPr bwMode="gray">
            <a:xfrm>
              <a:off x="1516532" y="4892050"/>
              <a:ext cx="99543"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6" name="TextBox 145">
              <a:extLst>
                <a:ext uri="{FF2B5EF4-FFF2-40B4-BE49-F238E27FC236}">
                  <a16:creationId xmlns:a16="http://schemas.microsoft.com/office/drawing/2014/main" id="{90521D84-CCF7-34D8-3610-AC3E68B30D76}"/>
                </a:ext>
              </a:extLst>
            </p:cNvPr>
            <p:cNvSpPr txBox="1"/>
            <p:nvPr/>
          </p:nvSpPr>
          <p:spPr>
            <a:xfrm>
              <a:off x="1601415" y="4795878"/>
              <a:ext cx="1452669" cy="184666"/>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7B8C"/>
                  </a:solidFill>
                  <a:effectLst/>
                  <a:uLnTx/>
                  <a:uFillTx/>
                  <a:latin typeface="Arial" panose="020B0604020202020204"/>
                  <a:ea typeface="+mn-ea"/>
                  <a:cs typeface="+mn-cs"/>
                </a:rPr>
                <a:t>vSAN HCI cluster</a:t>
              </a:r>
            </a:p>
          </p:txBody>
        </p:sp>
      </p:grpSp>
      <p:grpSp>
        <p:nvGrpSpPr>
          <p:cNvPr id="147" name="Group 146">
            <a:extLst>
              <a:ext uri="{FF2B5EF4-FFF2-40B4-BE49-F238E27FC236}">
                <a16:creationId xmlns:a16="http://schemas.microsoft.com/office/drawing/2014/main" id="{81E588F6-1A77-1800-1768-E6E24FE8A284}"/>
              </a:ext>
            </a:extLst>
          </p:cNvPr>
          <p:cNvGrpSpPr/>
          <p:nvPr/>
        </p:nvGrpSpPr>
        <p:grpSpPr>
          <a:xfrm>
            <a:off x="1516532" y="3987172"/>
            <a:ext cx="1625597" cy="283867"/>
            <a:chOff x="3576049" y="2849562"/>
            <a:chExt cx="1625597" cy="283867"/>
          </a:xfrm>
        </p:grpSpPr>
        <p:grpSp>
          <p:nvGrpSpPr>
            <p:cNvPr id="149" name="Group 148">
              <a:extLst>
                <a:ext uri="{FF2B5EF4-FFF2-40B4-BE49-F238E27FC236}">
                  <a16:creationId xmlns:a16="http://schemas.microsoft.com/office/drawing/2014/main" id="{D6D34EA3-430D-5907-C97C-429B20856664}"/>
                </a:ext>
              </a:extLst>
            </p:cNvPr>
            <p:cNvGrpSpPr/>
            <p:nvPr/>
          </p:nvGrpSpPr>
          <p:grpSpPr>
            <a:xfrm>
              <a:off x="3576049" y="2849562"/>
              <a:ext cx="1625597" cy="113067"/>
              <a:chOff x="9883178" y="3095486"/>
              <a:chExt cx="1625597" cy="113067"/>
            </a:xfrm>
            <a:solidFill>
              <a:schemeClr val="accent1">
                <a:lumMod val="20000"/>
                <a:lumOff val="80000"/>
              </a:schemeClr>
            </a:solidFill>
          </p:grpSpPr>
          <p:sp>
            <p:nvSpPr>
              <p:cNvPr id="154" name="Rectangle 153">
                <a:extLst>
                  <a:ext uri="{FF2B5EF4-FFF2-40B4-BE49-F238E27FC236}">
                    <a16:creationId xmlns:a16="http://schemas.microsoft.com/office/drawing/2014/main" id="{A94196E0-8DD2-1149-81C3-D7932DA17F0D}"/>
                  </a:ext>
                </a:extLst>
              </p:cNvPr>
              <p:cNvSpPr/>
              <p:nvPr/>
            </p:nvSpPr>
            <p:spPr>
              <a:xfrm>
                <a:off x="9883178"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5" name="Rectangle 154">
                <a:extLst>
                  <a:ext uri="{FF2B5EF4-FFF2-40B4-BE49-F238E27FC236}">
                    <a16:creationId xmlns:a16="http://schemas.microsoft.com/office/drawing/2014/main" id="{8E437B9D-E736-0023-836C-FDFCDA93BBB5}"/>
                  </a:ext>
                </a:extLst>
              </p:cNvPr>
              <p:cNvSpPr/>
              <p:nvPr/>
            </p:nvSpPr>
            <p:spPr>
              <a:xfrm>
                <a:off x="10447015"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6" name="Rectangle 155">
                <a:extLst>
                  <a:ext uri="{FF2B5EF4-FFF2-40B4-BE49-F238E27FC236}">
                    <a16:creationId xmlns:a16="http://schemas.microsoft.com/office/drawing/2014/main" id="{09C2C389-FB82-5A72-8C1C-3E46DB8A1825}"/>
                  </a:ext>
                </a:extLst>
              </p:cNvPr>
              <p:cNvSpPr/>
              <p:nvPr/>
            </p:nvSpPr>
            <p:spPr>
              <a:xfrm>
                <a:off x="11010852"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50" name="Group 149">
              <a:extLst>
                <a:ext uri="{FF2B5EF4-FFF2-40B4-BE49-F238E27FC236}">
                  <a16:creationId xmlns:a16="http://schemas.microsoft.com/office/drawing/2014/main" id="{8BCCB69C-E886-BF06-0F19-5467BE5779B7}"/>
                </a:ext>
              </a:extLst>
            </p:cNvPr>
            <p:cNvGrpSpPr/>
            <p:nvPr/>
          </p:nvGrpSpPr>
          <p:grpSpPr>
            <a:xfrm>
              <a:off x="3576049" y="3020362"/>
              <a:ext cx="1625597" cy="113067"/>
              <a:chOff x="9883178" y="3095486"/>
              <a:chExt cx="1625597" cy="113067"/>
            </a:xfrm>
            <a:solidFill>
              <a:schemeClr val="accent1">
                <a:lumMod val="20000"/>
                <a:lumOff val="80000"/>
              </a:schemeClr>
            </a:solidFill>
          </p:grpSpPr>
          <p:sp>
            <p:nvSpPr>
              <p:cNvPr id="151" name="Rectangle 150">
                <a:extLst>
                  <a:ext uri="{FF2B5EF4-FFF2-40B4-BE49-F238E27FC236}">
                    <a16:creationId xmlns:a16="http://schemas.microsoft.com/office/drawing/2014/main" id="{DADAAD8D-385C-C21F-0B30-43494A453EF4}"/>
                  </a:ext>
                </a:extLst>
              </p:cNvPr>
              <p:cNvSpPr/>
              <p:nvPr/>
            </p:nvSpPr>
            <p:spPr>
              <a:xfrm>
                <a:off x="9883178"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2" name="Rectangle 151">
                <a:extLst>
                  <a:ext uri="{FF2B5EF4-FFF2-40B4-BE49-F238E27FC236}">
                    <a16:creationId xmlns:a16="http://schemas.microsoft.com/office/drawing/2014/main" id="{F7C93888-CC4A-25AA-2DCB-1581496CF277}"/>
                  </a:ext>
                </a:extLst>
              </p:cNvPr>
              <p:cNvSpPr/>
              <p:nvPr/>
            </p:nvSpPr>
            <p:spPr>
              <a:xfrm>
                <a:off x="10447015"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3" name="Rectangle 152">
                <a:extLst>
                  <a:ext uri="{FF2B5EF4-FFF2-40B4-BE49-F238E27FC236}">
                    <a16:creationId xmlns:a16="http://schemas.microsoft.com/office/drawing/2014/main" id="{28547F8E-2CCA-BF11-ADCD-38829A25E99D}"/>
                  </a:ext>
                </a:extLst>
              </p:cNvPr>
              <p:cNvSpPr/>
              <p:nvPr/>
            </p:nvSpPr>
            <p:spPr>
              <a:xfrm>
                <a:off x="11010852"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356" name="Group 355">
            <a:extLst>
              <a:ext uri="{FF2B5EF4-FFF2-40B4-BE49-F238E27FC236}">
                <a16:creationId xmlns:a16="http://schemas.microsoft.com/office/drawing/2014/main" id="{BE32103E-B4F8-4538-7A29-8EDC733546F5}"/>
              </a:ext>
            </a:extLst>
          </p:cNvPr>
          <p:cNvGrpSpPr/>
          <p:nvPr/>
        </p:nvGrpSpPr>
        <p:grpSpPr>
          <a:xfrm>
            <a:off x="4898744" y="1881320"/>
            <a:ext cx="2189434" cy="400437"/>
            <a:chOff x="4898744" y="1881320"/>
            <a:chExt cx="2189434" cy="400437"/>
          </a:xfrm>
        </p:grpSpPr>
        <p:sp>
          <p:nvSpPr>
            <p:cNvPr id="189" name="Rectangle 188">
              <a:extLst>
                <a:ext uri="{FF2B5EF4-FFF2-40B4-BE49-F238E27FC236}">
                  <a16:creationId xmlns:a16="http://schemas.microsoft.com/office/drawing/2014/main" id="{735EBCEE-891B-F0D2-24B9-7FFF3DDBE16E}"/>
                </a:ext>
              </a:extLst>
            </p:cNvPr>
            <p:cNvSpPr>
              <a:spLocks/>
            </p:cNvSpPr>
            <p:nvPr/>
          </p:nvSpPr>
          <p:spPr>
            <a:xfrm>
              <a:off x="4898744" y="1881320"/>
              <a:ext cx="2189434" cy="40043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192" name="Group 191">
              <a:extLst>
                <a:ext uri="{FF2B5EF4-FFF2-40B4-BE49-F238E27FC236}">
                  <a16:creationId xmlns:a16="http://schemas.microsoft.com/office/drawing/2014/main" id="{667FA335-BD68-00C6-98C4-FD6388765B40}"/>
                </a:ext>
              </a:extLst>
            </p:cNvPr>
            <p:cNvGrpSpPr/>
            <p:nvPr/>
          </p:nvGrpSpPr>
          <p:grpSpPr>
            <a:xfrm>
              <a:off x="4974287" y="1955769"/>
              <a:ext cx="2038349" cy="254952"/>
              <a:chOff x="1410325" y="3573078"/>
              <a:chExt cx="2038349" cy="254952"/>
            </a:xfrm>
          </p:grpSpPr>
          <p:sp>
            <p:nvSpPr>
              <p:cNvPr id="235" name="Rectangle 234">
                <a:extLst>
                  <a:ext uri="{FF2B5EF4-FFF2-40B4-BE49-F238E27FC236}">
                    <a16:creationId xmlns:a16="http://schemas.microsoft.com/office/drawing/2014/main" id="{DD02278E-E026-93AE-7451-FBFC4417F810}"/>
                  </a:ext>
                </a:extLst>
              </p:cNvPr>
              <p:cNvSpPr/>
              <p:nvPr/>
            </p:nvSpPr>
            <p:spPr>
              <a:xfrm>
                <a:off x="1410325" y="3573078"/>
                <a:ext cx="2038349" cy="254952"/>
              </a:xfrm>
              <a:prstGeom prst="rect">
                <a:avLst/>
              </a:prstGeom>
              <a:noFill/>
              <a:ln w="9525">
                <a:solidFill>
                  <a:schemeClr val="accent2"/>
                </a:soli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236" name="Rectangle 235">
                <a:extLst>
                  <a:ext uri="{FF2B5EF4-FFF2-40B4-BE49-F238E27FC236}">
                    <a16:creationId xmlns:a16="http://schemas.microsoft.com/office/drawing/2014/main" id="{75F1302E-947B-D759-B4B6-F52C298C6A67}"/>
                  </a:ext>
                </a:extLst>
              </p:cNvPr>
              <p:cNvSpPr/>
              <p:nvPr/>
            </p:nvSpPr>
            <p:spPr>
              <a:xfrm>
                <a:off x="1420623" y="3636670"/>
                <a:ext cx="543931" cy="123111"/>
              </a:xfrm>
              <a:prstGeom prst="rect">
                <a:avLst/>
              </a:prstGeom>
            </p:spPr>
            <p:txBody>
              <a:bodyPr wrap="square" lIns="0" tIns="0" rIns="0" bIns="0"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sp>
            <p:nvSpPr>
              <p:cNvPr id="237" name="Rectangle 236">
                <a:extLst>
                  <a:ext uri="{FF2B5EF4-FFF2-40B4-BE49-F238E27FC236}">
                    <a16:creationId xmlns:a16="http://schemas.microsoft.com/office/drawing/2014/main" id="{B6078B72-ADF8-5A49-4D5E-B0A0172F1513}"/>
                  </a:ext>
                </a:extLst>
              </p:cNvPr>
              <p:cNvSpPr/>
              <p:nvPr/>
            </p:nvSpPr>
            <p:spPr>
              <a:xfrm>
                <a:off x="2828447" y="3636670"/>
                <a:ext cx="608625" cy="123111"/>
              </a:xfrm>
              <a:prstGeom prst="rect">
                <a:avLst/>
              </a:prstGeom>
            </p:spPr>
            <p:txBody>
              <a:bodyPr wrap="square" lIns="0" tIns="0" rIns="0" bIns="0"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cxnSp>
            <p:nvCxnSpPr>
              <p:cNvPr id="238" name="Straight Connector 237">
                <a:extLst>
                  <a:ext uri="{FF2B5EF4-FFF2-40B4-BE49-F238E27FC236}">
                    <a16:creationId xmlns:a16="http://schemas.microsoft.com/office/drawing/2014/main" id="{19A85AB7-9281-B257-44EF-0093A221F1BB}"/>
                  </a:ext>
                </a:extLst>
              </p:cNvPr>
              <p:cNvCxnSpPr>
                <a:cxnSpLocks/>
              </p:cNvCxnSpPr>
              <p:nvPr/>
            </p:nvCxnSpPr>
            <p:spPr bwMode="gray">
              <a:xfrm flipH="1">
                <a:off x="2003038" y="3698226"/>
                <a:ext cx="297114"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256FA12D-F8E6-9875-9E2A-412FFB368F4A}"/>
                  </a:ext>
                </a:extLst>
              </p:cNvPr>
              <p:cNvCxnSpPr>
                <a:cxnSpLocks/>
              </p:cNvCxnSpPr>
              <p:nvPr/>
            </p:nvCxnSpPr>
            <p:spPr bwMode="gray">
              <a:xfrm>
                <a:off x="2300152" y="3698226"/>
                <a:ext cx="499235"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grpSp>
        <p:nvGrpSpPr>
          <p:cNvPr id="355" name="Group 354">
            <a:extLst>
              <a:ext uri="{FF2B5EF4-FFF2-40B4-BE49-F238E27FC236}">
                <a16:creationId xmlns:a16="http://schemas.microsoft.com/office/drawing/2014/main" id="{CB484217-EA7F-041E-F82A-7919253C8D02}"/>
              </a:ext>
            </a:extLst>
          </p:cNvPr>
          <p:cNvGrpSpPr/>
          <p:nvPr/>
        </p:nvGrpSpPr>
        <p:grpSpPr>
          <a:xfrm>
            <a:off x="1516532" y="3542733"/>
            <a:ext cx="1625597" cy="400437"/>
            <a:chOff x="1516532" y="3542733"/>
            <a:chExt cx="1625597" cy="400437"/>
          </a:xfrm>
        </p:grpSpPr>
        <p:sp>
          <p:nvSpPr>
            <p:cNvPr id="248" name="Rectangle 247">
              <a:extLst>
                <a:ext uri="{FF2B5EF4-FFF2-40B4-BE49-F238E27FC236}">
                  <a16:creationId xmlns:a16="http://schemas.microsoft.com/office/drawing/2014/main" id="{15D7867A-51E1-A66C-92B2-4E7E4A2C4788}"/>
                </a:ext>
              </a:extLst>
            </p:cNvPr>
            <p:cNvSpPr>
              <a:spLocks/>
            </p:cNvSpPr>
            <p:nvPr/>
          </p:nvSpPr>
          <p:spPr>
            <a:xfrm>
              <a:off x="1516532" y="3542733"/>
              <a:ext cx="1625597" cy="400437"/>
            </a:xfrm>
            <a:prstGeom prst="rect">
              <a:avLst/>
            </a:prstGeom>
            <a:solidFill>
              <a:schemeClr val="bg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193" name="Group 192">
              <a:extLst>
                <a:ext uri="{FF2B5EF4-FFF2-40B4-BE49-F238E27FC236}">
                  <a16:creationId xmlns:a16="http://schemas.microsoft.com/office/drawing/2014/main" id="{08B5EE65-8052-9126-70E9-48CADC882F4F}"/>
                </a:ext>
              </a:extLst>
            </p:cNvPr>
            <p:cNvGrpSpPr/>
            <p:nvPr/>
          </p:nvGrpSpPr>
          <p:grpSpPr>
            <a:xfrm>
              <a:off x="1584540" y="3617182"/>
              <a:ext cx="1489580" cy="254952"/>
              <a:chOff x="1410326" y="3573078"/>
              <a:chExt cx="1489580" cy="254952"/>
            </a:xfrm>
          </p:grpSpPr>
          <p:sp>
            <p:nvSpPr>
              <p:cNvPr id="230" name="Rectangle 229">
                <a:extLst>
                  <a:ext uri="{FF2B5EF4-FFF2-40B4-BE49-F238E27FC236}">
                    <a16:creationId xmlns:a16="http://schemas.microsoft.com/office/drawing/2014/main" id="{0BDB7573-2B72-A254-A09F-A6336D46C73A}"/>
                  </a:ext>
                </a:extLst>
              </p:cNvPr>
              <p:cNvSpPr/>
              <p:nvPr/>
            </p:nvSpPr>
            <p:spPr>
              <a:xfrm>
                <a:off x="1410326" y="3573078"/>
                <a:ext cx="1489580" cy="254952"/>
              </a:xfrm>
              <a:prstGeom prst="rect">
                <a:avLst/>
              </a:prstGeom>
              <a:noFill/>
              <a:ln w="9525">
                <a:gradFill flip="none" rotWithShape="1">
                  <a:gsLst>
                    <a:gs pos="60000">
                      <a:srgbClr val="316E60"/>
                    </a:gs>
                    <a:gs pos="100000">
                      <a:schemeClr val="accent2"/>
                    </a:gs>
                    <a:gs pos="0">
                      <a:schemeClr val="accent4"/>
                    </a:gs>
                  </a:gsLst>
                  <a:lin ang="10800000" scaled="1"/>
                  <a:tileRect/>
                </a:gra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231" name="Rectangle 230">
                <a:extLst>
                  <a:ext uri="{FF2B5EF4-FFF2-40B4-BE49-F238E27FC236}">
                    <a16:creationId xmlns:a16="http://schemas.microsoft.com/office/drawing/2014/main" id="{D6D4E112-2A6F-079F-A949-F88BBA1B5945}"/>
                  </a:ext>
                </a:extLst>
              </p:cNvPr>
              <p:cNvSpPr/>
              <p:nvPr/>
            </p:nvSpPr>
            <p:spPr>
              <a:xfrm>
                <a:off x="1429476" y="3636670"/>
                <a:ext cx="486200" cy="123111"/>
              </a:xfrm>
              <a:prstGeom prst="rect">
                <a:avLst/>
              </a:prstGeom>
            </p:spPr>
            <p:txBody>
              <a:bodyPr wrap="square" lIns="0" tIns="0" rIns="0" bIns="0"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sp>
            <p:nvSpPr>
              <p:cNvPr id="232" name="Rectangle 231">
                <a:extLst>
                  <a:ext uri="{FF2B5EF4-FFF2-40B4-BE49-F238E27FC236}">
                    <a16:creationId xmlns:a16="http://schemas.microsoft.com/office/drawing/2014/main" id="{0391F41E-2B12-F3C5-34ED-943B7C011C1F}"/>
                  </a:ext>
                </a:extLst>
              </p:cNvPr>
              <p:cNvSpPr/>
              <p:nvPr/>
            </p:nvSpPr>
            <p:spPr>
              <a:xfrm>
                <a:off x="2342248" y="3636670"/>
                <a:ext cx="557658" cy="123111"/>
              </a:xfrm>
              <a:prstGeom prst="rect">
                <a:avLst/>
              </a:prstGeom>
            </p:spPr>
            <p:txBody>
              <a:bodyPr wrap="square" lIns="0" tIns="0" rIns="0" bIns="0"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 ESA</a:t>
                </a:r>
              </a:p>
            </p:txBody>
          </p:sp>
          <p:cxnSp>
            <p:nvCxnSpPr>
              <p:cNvPr id="233" name="Straight Connector 232">
                <a:extLst>
                  <a:ext uri="{FF2B5EF4-FFF2-40B4-BE49-F238E27FC236}">
                    <a16:creationId xmlns:a16="http://schemas.microsoft.com/office/drawing/2014/main" id="{33ACCCFF-1EA8-4D99-63BE-D75077205D90}"/>
                  </a:ext>
                </a:extLst>
              </p:cNvPr>
              <p:cNvCxnSpPr>
                <a:cxnSpLocks/>
              </p:cNvCxnSpPr>
              <p:nvPr/>
            </p:nvCxnSpPr>
            <p:spPr bwMode="gray">
              <a:xfrm flipH="1">
                <a:off x="1915786" y="3698226"/>
                <a:ext cx="109171"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1C827A35-10C7-C18D-6D0A-C59E3CDE5AFE}"/>
                  </a:ext>
                </a:extLst>
              </p:cNvPr>
              <p:cNvCxnSpPr>
                <a:cxnSpLocks/>
              </p:cNvCxnSpPr>
              <p:nvPr/>
            </p:nvCxnSpPr>
            <p:spPr bwMode="gray">
              <a:xfrm>
                <a:off x="2024957" y="3698226"/>
                <a:ext cx="317290"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grpSp>
        <p:nvGrpSpPr>
          <p:cNvPr id="274" name="Group 273">
            <a:extLst>
              <a:ext uri="{FF2B5EF4-FFF2-40B4-BE49-F238E27FC236}">
                <a16:creationId xmlns:a16="http://schemas.microsoft.com/office/drawing/2014/main" id="{C99F201F-313D-1F8B-8149-F0B64AB95C14}"/>
              </a:ext>
            </a:extLst>
          </p:cNvPr>
          <p:cNvGrpSpPr/>
          <p:nvPr/>
        </p:nvGrpSpPr>
        <p:grpSpPr>
          <a:xfrm>
            <a:off x="4898745" y="4319104"/>
            <a:ext cx="2189433" cy="443836"/>
            <a:chOff x="4031464" y="4235007"/>
            <a:chExt cx="2189433" cy="443836"/>
          </a:xfrm>
        </p:grpSpPr>
        <p:sp>
          <p:nvSpPr>
            <p:cNvPr id="249" name="Rectangle 248">
              <a:extLst>
                <a:ext uri="{FF2B5EF4-FFF2-40B4-BE49-F238E27FC236}">
                  <a16:creationId xmlns:a16="http://schemas.microsoft.com/office/drawing/2014/main" id="{930AFD33-F366-4D16-284F-A8DB10D3AD3C}"/>
                </a:ext>
              </a:extLst>
            </p:cNvPr>
            <p:cNvSpPr/>
            <p:nvPr/>
          </p:nvSpPr>
          <p:spPr>
            <a:xfrm>
              <a:off x="4031464" y="4235007"/>
              <a:ext cx="2189433" cy="443836"/>
            </a:xfrm>
            <a:prstGeom prst="rect">
              <a:avLst/>
            </a:prstGeom>
            <a:solidFill>
              <a:schemeClr val="accent2"/>
            </a:solidFill>
            <a:ln w="12700">
              <a:no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56" name="Group 255">
              <a:extLst>
                <a:ext uri="{FF2B5EF4-FFF2-40B4-BE49-F238E27FC236}">
                  <a16:creationId xmlns:a16="http://schemas.microsoft.com/office/drawing/2014/main" id="{73E132AB-BA3A-DC29-9B00-25600B8A4B24}"/>
                </a:ext>
              </a:extLst>
            </p:cNvPr>
            <p:cNvGrpSpPr/>
            <p:nvPr/>
          </p:nvGrpSpPr>
          <p:grpSpPr>
            <a:xfrm>
              <a:off x="4070601" y="4293973"/>
              <a:ext cx="419649" cy="200892"/>
              <a:chOff x="-4656498" y="4335050"/>
              <a:chExt cx="1108181" cy="530502"/>
            </a:xfrm>
          </p:grpSpPr>
          <p:sp>
            <p:nvSpPr>
              <p:cNvPr id="250" name="Rectangle 249">
                <a:extLst>
                  <a:ext uri="{FF2B5EF4-FFF2-40B4-BE49-F238E27FC236}">
                    <a16:creationId xmlns:a16="http://schemas.microsoft.com/office/drawing/2014/main" id="{F6D101D8-97FC-1E12-17AD-9DE51A251B0A}"/>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251" name="Graphic 250">
                <a:extLst>
                  <a:ext uri="{FF2B5EF4-FFF2-40B4-BE49-F238E27FC236}">
                    <a16:creationId xmlns:a16="http://schemas.microsoft.com/office/drawing/2014/main" id="{115CA32B-C15B-56EC-3CEF-D0E564BC1A0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52" name="Graphic 251">
                <a:extLst>
                  <a:ext uri="{FF2B5EF4-FFF2-40B4-BE49-F238E27FC236}">
                    <a16:creationId xmlns:a16="http://schemas.microsoft.com/office/drawing/2014/main" id="{5D2673F1-F8F8-B21C-18D7-18DCA49D47C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nvGrpSpPr>
            <p:cNvPr id="257" name="Group 256">
              <a:extLst>
                <a:ext uri="{FF2B5EF4-FFF2-40B4-BE49-F238E27FC236}">
                  <a16:creationId xmlns:a16="http://schemas.microsoft.com/office/drawing/2014/main" id="{9C89BA4C-C676-0DA4-815E-9D6EB74C56CA}"/>
                </a:ext>
              </a:extLst>
            </p:cNvPr>
            <p:cNvGrpSpPr/>
            <p:nvPr/>
          </p:nvGrpSpPr>
          <p:grpSpPr>
            <a:xfrm>
              <a:off x="4634438" y="4293973"/>
              <a:ext cx="419649" cy="200892"/>
              <a:chOff x="-4656498" y="4335050"/>
              <a:chExt cx="1108181" cy="530502"/>
            </a:xfrm>
          </p:grpSpPr>
          <p:sp>
            <p:nvSpPr>
              <p:cNvPr id="258" name="Rectangle 257">
                <a:extLst>
                  <a:ext uri="{FF2B5EF4-FFF2-40B4-BE49-F238E27FC236}">
                    <a16:creationId xmlns:a16="http://schemas.microsoft.com/office/drawing/2014/main" id="{5A5EF14E-F0AE-BFDD-10D9-696A032E4272}"/>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259" name="Graphic 258">
                <a:extLst>
                  <a:ext uri="{FF2B5EF4-FFF2-40B4-BE49-F238E27FC236}">
                    <a16:creationId xmlns:a16="http://schemas.microsoft.com/office/drawing/2014/main" id="{6177AD14-093B-729A-B248-55DC0F03788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60" name="Graphic 259">
                <a:extLst>
                  <a:ext uri="{FF2B5EF4-FFF2-40B4-BE49-F238E27FC236}">
                    <a16:creationId xmlns:a16="http://schemas.microsoft.com/office/drawing/2014/main" id="{24A61CFD-2766-6B75-166E-5E990B8178A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nvGrpSpPr>
            <p:cNvPr id="261" name="Group 260">
              <a:extLst>
                <a:ext uri="{FF2B5EF4-FFF2-40B4-BE49-F238E27FC236}">
                  <a16:creationId xmlns:a16="http://schemas.microsoft.com/office/drawing/2014/main" id="{4E508D6D-E0A4-298D-F91B-2DCE6686A0F0}"/>
                </a:ext>
              </a:extLst>
            </p:cNvPr>
            <p:cNvGrpSpPr/>
            <p:nvPr/>
          </p:nvGrpSpPr>
          <p:grpSpPr>
            <a:xfrm>
              <a:off x="5198275" y="4293973"/>
              <a:ext cx="419649" cy="200892"/>
              <a:chOff x="-4656498" y="4335050"/>
              <a:chExt cx="1108181" cy="530502"/>
            </a:xfrm>
          </p:grpSpPr>
          <p:sp>
            <p:nvSpPr>
              <p:cNvPr id="262" name="Rectangle 261">
                <a:extLst>
                  <a:ext uri="{FF2B5EF4-FFF2-40B4-BE49-F238E27FC236}">
                    <a16:creationId xmlns:a16="http://schemas.microsoft.com/office/drawing/2014/main" id="{AAC10CE3-75B0-3361-077F-A115D55CD219}"/>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63" name="Graphic 262">
                <a:extLst>
                  <a:ext uri="{FF2B5EF4-FFF2-40B4-BE49-F238E27FC236}">
                    <a16:creationId xmlns:a16="http://schemas.microsoft.com/office/drawing/2014/main" id="{9184F15E-12CE-586E-887D-A056A77859B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64" name="Graphic 263">
                <a:extLst>
                  <a:ext uri="{FF2B5EF4-FFF2-40B4-BE49-F238E27FC236}">
                    <a16:creationId xmlns:a16="http://schemas.microsoft.com/office/drawing/2014/main" id="{238F637E-0BE7-CE25-6CFD-E5DCDA3D5E5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nvGrpSpPr>
            <p:cNvPr id="265" name="Group 264">
              <a:extLst>
                <a:ext uri="{FF2B5EF4-FFF2-40B4-BE49-F238E27FC236}">
                  <a16:creationId xmlns:a16="http://schemas.microsoft.com/office/drawing/2014/main" id="{9B265CD3-FE73-45A2-A9AD-C7DF84148900}"/>
                </a:ext>
              </a:extLst>
            </p:cNvPr>
            <p:cNvGrpSpPr/>
            <p:nvPr/>
          </p:nvGrpSpPr>
          <p:grpSpPr>
            <a:xfrm>
              <a:off x="5762112" y="4293973"/>
              <a:ext cx="419649" cy="200892"/>
              <a:chOff x="-4656498" y="4335050"/>
              <a:chExt cx="1108181" cy="530502"/>
            </a:xfrm>
          </p:grpSpPr>
          <p:sp>
            <p:nvSpPr>
              <p:cNvPr id="266" name="Rectangle 265">
                <a:extLst>
                  <a:ext uri="{FF2B5EF4-FFF2-40B4-BE49-F238E27FC236}">
                    <a16:creationId xmlns:a16="http://schemas.microsoft.com/office/drawing/2014/main" id="{24716613-1499-22B3-A670-9A78419DA3CE}"/>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267" name="Graphic 266">
                <a:extLst>
                  <a:ext uri="{FF2B5EF4-FFF2-40B4-BE49-F238E27FC236}">
                    <a16:creationId xmlns:a16="http://schemas.microsoft.com/office/drawing/2014/main" id="{E6B5E97E-FA1A-7FE0-B6EF-96E8ACE7B3BE}"/>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68" name="Graphic 267">
                <a:extLst>
                  <a:ext uri="{FF2B5EF4-FFF2-40B4-BE49-F238E27FC236}">
                    <a16:creationId xmlns:a16="http://schemas.microsoft.com/office/drawing/2014/main" id="{6DEC4F72-B121-54C7-F133-6B5E02010EA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pic>
        <p:nvPicPr>
          <p:cNvPr id="269" name="Graphic 268">
            <a:extLst>
              <a:ext uri="{FF2B5EF4-FFF2-40B4-BE49-F238E27FC236}">
                <a16:creationId xmlns:a16="http://schemas.microsoft.com/office/drawing/2014/main" id="{C453FAE6-CDC0-006B-8134-BB043725C9E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619942" y="3849007"/>
            <a:ext cx="761896" cy="761896"/>
          </a:xfrm>
          <a:prstGeom prst="rect">
            <a:avLst/>
          </a:prstGeom>
        </p:spPr>
      </p:pic>
      <p:sp>
        <p:nvSpPr>
          <p:cNvPr id="270" name="TextBox 269">
            <a:extLst>
              <a:ext uri="{FF2B5EF4-FFF2-40B4-BE49-F238E27FC236}">
                <a16:creationId xmlns:a16="http://schemas.microsoft.com/office/drawing/2014/main" id="{C302D7B1-B1B1-49A8-6F98-334AD7E01DBC}"/>
              </a:ext>
            </a:extLst>
          </p:cNvPr>
          <p:cNvSpPr txBox="1"/>
          <p:nvPr/>
        </p:nvSpPr>
        <p:spPr>
          <a:xfrm>
            <a:off x="3442185" y="3597851"/>
            <a:ext cx="1199500"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Powered by</a:t>
            </a:r>
          </a:p>
        </p:txBody>
      </p:sp>
      <p:sp>
        <p:nvSpPr>
          <p:cNvPr id="271" name="TextBox 270">
            <a:extLst>
              <a:ext uri="{FF2B5EF4-FFF2-40B4-BE49-F238E27FC236}">
                <a16:creationId xmlns:a16="http://schemas.microsoft.com/office/drawing/2014/main" id="{5E7DA04D-C0F3-8447-A909-0D43326DA169}"/>
              </a:ext>
            </a:extLst>
          </p:cNvPr>
          <p:cNvSpPr txBox="1"/>
          <p:nvPr/>
        </p:nvSpPr>
        <p:spPr>
          <a:xfrm>
            <a:off x="3659982" y="5023544"/>
            <a:ext cx="1045055" cy="553998"/>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dirty="0">
                <a:ln>
                  <a:noFill/>
                </a:ln>
                <a:solidFill>
                  <a:srgbClr val="61A60E"/>
                </a:solidFill>
                <a:effectLst/>
                <a:uLnTx/>
                <a:uFillTx/>
                <a:latin typeface="Arial" panose="020B0604020202020204" pitchFamily="34" charset="0"/>
                <a:ea typeface="+mn-ea"/>
                <a:cs typeface="+mn-cs"/>
              </a:rPr>
              <a:t>E</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xpress</a:t>
            </a:r>
            <a:b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br>
            <a:r>
              <a:rPr kumimoji="0" lang="en-US" sz="1200" b="1" i="0" u="none" strike="noStrike" kern="1200" cap="none" spc="0" normalizeH="0" baseline="0" noProof="0" dirty="0">
                <a:ln>
                  <a:noFill/>
                </a:ln>
                <a:solidFill>
                  <a:srgbClr val="61A60E"/>
                </a:solidFill>
                <a:effectLst/>
                <a:uLnTx/>
                <a:uFillTx/>
                <a:latin typeface="Arial" panose="020B0604020202020204" pitchFamily="34" charset="0"/>
                <a:ea typeface="+mn-ea"/>
                <a:cs typeface="+mn-cs"/>
              </a:rPr>
              <a:t>S</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torage</a:t>
            </a:r>
            <a:b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br>
            <a:r>
              <a:rPr kumimoji="0" lang="en-US" sz="1200" b="1" i="0" u="none" strike="noStrike" kern="1200" cap="none" spc="0" normalizeH="0" baseline="0" noProof="0" dirty="0">
                <a:ln>
                  <a:noFill/>
                </a:ln>
                <a:solidFill>
                  <a:srgbClr val="61A60E"/>
                </a:solidFill>
                <a:effectLst/>
                <a:uLnTx/>
                <a:uFillTx/>
                <a:latin typeface="Arial" panose="020B0604020202020204" pitchFamily="34" charset="0"/>
                <a:ea typeface="+mn-ea"/>
                <a:cs typeface="+mn-cs"/>
              </a:rPr>
              <a:t>A</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rchitecture™</a:t>
            </a:r>
          </a:p>
        </p:txBody>
      </p:sp>
      <p:sp>
        <p:nvSpPr>
          <p:cNvPr id="272" name="TextBox 271">
            <a:extLst>
              <a:ext uri="{FF2B5EF4-FFF2-40B4-BE49-F238E27FC236}">
                <a16:creationId xmlns:a16="http://schemas.microsoft.com/office/drawing/2014/main" id="{EE23EE12-A519-9296-8F53-47325E160496}"/>
              </a:ext>
            </a:extLst>
          </p:cNvPr>
          <p:cNvSpPr txBox="1"/>
          <p:nvPr/>
        </p:nvSpPr>
        <p:spPr>
          <a:xfrm>
            <a:off x="3659982" y="4756179"/>
            <a:ext cx="741647" cy="246221"/>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vSAN</a:t>
            </a:r>
          </a:p>
        </p:txBody>
      </p:sp>
      <p:sp>
        <p:nvSpPr>
          <p:cNvPr id="273" name="TextBox 272">
            <a:extLst>
              <a:ext uri="{FF2B5EF4-FFF2-40B4-BE49-F238E27FC236}">
                <a16:creationId xmlns:a16="http://schemas.microsoft.com/office/drawing/2014/main" id="{C9761A22-BB88-D07D-DEE9-C4C023854A55}"/>
              </a:ext>
            </a:extLst>
          </p:cNvPr>
          <p:cNvSpPr txBox="1"/>
          <p:nvPr/>
        </p:nvSpPr>
        <p:spPr>
          <a:xfrm>
            <a:off x="553463" y="3917250"/>
            <a:ext cx="960192"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&amp; storage</a:t>
            </a:r>
          </a:p>
        </p:txBody>
      </p:sp>
      <p:grpSp>
        <p:nvGrpSpPr>
          <p:cNvPr id="294" name="Group 293">
            <a:extLst>
              <a:ext uri="{FF2B5EF4-FFF2-40B4-BE49-F238E27FC236}">
                <a16:creationId xmlns:a16="http://schemas.microsoft.com/office/drawing/2014/main" id="{DE1BD390-7BC9-88CB-6BFF-1BFDD47147D4}"/>
              </a:ext>
            </a:extLst>
          </p:cNvPr>
          <p:cNvGrpSpPr/>
          <p:nvPr/>
        </p:nvGrpSpPr>
        <p:grpSpPr>
          <a:xfrm>
            <a:off x="1516532" y="4319104"/>
            <a:ext cx="1625597" cy="443836"/>
            <a:chOff x="2583950" y="4107077"/>
            <a:chExt cx="1625597" cy="443836"/>
          </a:xfrm>
        </p:grpSpPr>
        <p:sp>
          <p:nvSpPr>
            <p:cNvPr id="276" name="Rectangle 275">
              <a:extLst>
                <a:ext uri="{FF2B5EF4-FFF2-40B4-BE49-F238E27FC236}">
                  <a16:creationId xmlns:a16="http://schemas.microsoft.com/office/drawing/2014/main" id="{E23D96B7-4F86-D0C0-520A-DC2DC28F3B9F}"/>
                </a:ext>
              </a:extLst>
            </p:cNvPr>
            <p:cNvSpPr/>
            <p:nvPr/>
          </p:nvSpPr>
          <p:spPr>
            <a:xfrm>
              <a:off x="2583950" y="4107077"/>
              <a:ext cx="1625597" cy="443836"/>
            </a:xfrm>
            <a:prstGeom prst="rect">
              <a:avLst/>
            </a:prstGeom>
            <a:solidFill>
              <a:schemeClr val="accent2"/>
            </a:solidFill>
            <a:ln w="12700">
              <a:no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277" name="Group 276">
              <a:extLst>
                <a:ext uri="{FF2B5EF4-FFF2-40B4-BE49-F238E27FC236}">
                  <a16:creationId xmlns:a16="http://schemas.microsoft.com/office/drawing/2014/main" id="{A745BCFA-6085-6A3D-D6B1-AA80843ADEBC}"/>
                </a:ext>
              </a:extLst>
            </p:cNvPr>
            <p:cNvGrpSpPr/>
            <p:nvPr/>
          </p:nvGrpSpPr>
          <p:grpSpPr>
            <a:xfrm>
              <a:off x="2623087" y="4166043"/>
              <a:ext cx="419649" cy="200892"/>
              <a:chOff x="-4656498" y="4335050"/>
              <a:chExt cx="1108181" cy="530502"/>
            </a:xfrm>
          </p:grpSpPr>
          <p:sp>
            <p:nvSpPr>
              <p:cNvPr id="291" name="Rectangle 290">
                <a:extLst>
                  <a:ext uri="{FF2B5EF4-FFF2-40B4-BE49-F238E27FC236}">
                    <a16:creationId xmlns:a16="http://schemas.microsoft.com/office/drawing/2014/main" id="{07A029CA-2D47-1740-02E0-9712A3FBC596}"/>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292" name="Graphic 291">
                <a:extLst>
                  <a:ext uri="{FF2B5EF4-FFF2-40B4-BE49-F238E27FC236}">
                    <a16:creationId xmlns:a16="http://schemas.microsoft.com/office/drawing/2014/main" id="{D04ABDAF-515E-C31C-8D98-E40C6949877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93" name="Graphic 292">
                <a:extLst>
                  <a:ext uri="{FF2B5EF4-FFF2-40B4-BE49-F238E27FC236}">
                    <a16:creationId xmlns:a16="http://schemas.microsoft.com/office/drawing/2014/main" id="{687C757D-4501-ECB5-1069-4314EB29C8F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nvGrpSpPr>
            <p:cNvPr id="279" name="Group 278">
              <a:extLst>
                <a:ext uri="{FF2B5EF4-FFF2-40B4-BE49-F238E27FC236}">
                  <a16:creationId xmlns:a16="http://schemas.microsoft.com/office/drawing/2014/main" id="{0737D3C4-91E3-35EF-0417-C647AFEE5219}"/>
                </a:ext>
              </a:extLst>
            </p:cNvPr>
            <p:cNvGrpSpPr/>
            <p:nvPr/>
          </p:nvGrpSpPr>
          <p:grpSpPr>
            <a:xfrm>
              <a:off x="3186924" y="4166043"/>
              <a:ext cx="419649" cy="200892"/>
              <a:chOff x="-4656498" y="4335050"/>
              <a:chExt cx="1108181" cy="530502"/>
            </a:xfrm>
          </p:grpSpPr>
          <p:sp>
            <p:nvSpPr>
              <p:cNvPr id="288" name="Rectangle 287">
                <a:extLst>
                  <a:ext uri="{FF2B5EF4-FFF2-40B4-BE49-F238E27FC236}">
                    <a16:creationId xmlns:a16="http://schemas.microsoft.com/office/drawing/2014/main" id="{55969C0F-FCEB-73E1-000A-891BC90C995A}"/>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289" name="Graphic 288">
                <a:extLst>
                  <a:ext uri="{FF2B5EF4-FFF2-40B4-BE49-F238E27FC236}">
                    <a16:creationId xmlns:a16="http://schemas.microsoft.com/office/drawing/2014/main" id="{D2B9075F-5983-57AE-1A81-3AF3C5B9111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90" name="Graphic 289">
                <a:extLst>
                  <a:ext uri="{FF2B5EF4-FFF2-40B4-BE49-F238E27FC236}">
                    <a16:creationId xmlns:a16="http://schemas.microsoft.com/office/drawing/2014/main" id="{1B6D5F64-9E64-8303-79A2-013A67C43F7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nvGrpSpPr>
            <p:cNvPr id="280" name="Group 279">
              <a:extLst>
                <a:ext uri="{FF2B5EF4-FFF2-40B4-BE49-F238E27FC236}">
                  <a16:creationId xmlns:a16="http://schemas.microsoft.com/office/drawing/2014/main" id="{D382DDDB-5E26-5C7F-BA9C-46238D101467}"/>
                </a:ext>
              </a:extLst>
            </p:cNvPr>
            <p:cNvGrpSpPr/>
            <p:nvPr/>
          </p:nvGrpSpPr>
          <p:grpSpPr>
            <a:xfrm>
              <a:off x="3750761" y="4166043"/>
              <a:ext cx="419649" cy="200892"/>
              <a:chOff x="-4656498" y="4335050"/>
              <a:chExt cx="1108181" cy="530502"/>
            </a:xfrm>
          </p:grpSpPr>
          <p:sp>
            <p:nvSpPr>
              <p:cNvPr id="285" name="Rectangle 284">
                <a:extLst>
                  <a:ext uri="{FF2B5EF4-FFF2-40B4-BE49-F238E27FC236}">
                    <a16:creationId xmlns:a16="http://schemas.microsoft.com/office/drawing/2014/main" id="{8E84E044-B7F9-E38B-1107-73F714E8D87D}"/>
                  </a:ext>
                </a:extLst>
              </p:cNvPr>
              <p:cNvSpPr/>
              <p:nvPr/>
            </p:nvSpPr>
            <p:spPr>
              <a:xfrm>
                <a:off x="-4656498" y="4335050"/>
                <a:ext cx="1108181" cy="530502"/>
              </a:xfrm>
              <a:prstGeom prst="rect">
                <a:avLst/>
              </a:prstGeom>
              <a:noFill/>
              <a:ln w="12700">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86" name="Graphic 285">
                <a:extLst>
                  <a:ext uri="{FF2B5EF4-FFF2-40B4-BE49-F238E27FC236}">
                    <a16:creationId xmlns:a16="http://schemas.microsoft.com/office/drawing/2014/main" id="{873FE4A2-3052-0324-8D1B-03E491F55F5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527765" y="4471602"/>
                <a:ext cx="350734" cy="257395"/>
              </a:xfrm>
              <a:prstGeom prst="rect">
                <a:avLst/>
              </a:prstGeom>
            </p:spPr>
          </p:pic>
          <p:pic>
            <p:nvPicPr>
              <p:cNvPr id="287" name="Graphic 286">
                <a:extLst>
                  <a:ext uri="{FF2B5EF4-FFF2-40B4-BE49-F238E27FC236}">
                    <a16:creationId xmlns:a16="http://schemas.microsoft.com/office/drawing/2014/main" id="{3BDDB41F-73B4-D8AD-30A7-D706CAC46C3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014200" y="4471602"/>
                <a:ext cx="350734" cy="257395"/>
              </a:xfrm>
              <a:prstGeom prst="rect">
                <a:avLst/>
              </a:prstGeom>
            </p:spPr>
          </p:pic>
        </p:grpSp>
      </p:grpSp>
      <p:sp>
        <p:nvSpPr>
          <p:cNvPr id="307" name="Isosceles Triangle 306">
            <a:extLst>
              <a:ext uri="{FF2B5EF4-FFF2-40B4-BE49-F238E27FC236}">
                <a16:creationId xmlns:a16="http://schemas.microsoft.com/office/drawing/2014/main" id="{BB89FA77-E625-BD25-A890-6A295F028EA5}"/>
              </a:ext>
            </a:extLst>
          </p:cNvPr>
          <p:cNvSpPr/>
          <p:nvPr/>
        </p:nvSpPr>
        <p:spPr>
          <a:xfrm rot="5400000">
            <a:off x="2664092" y="4101065"/>
            <a:ext cx="1349318" cy="232657"/>
          </a:xfrm>
          <a:prstGeom prst="triangle">
            <a:avLst>
              <a:gd name="adj" fmla="val 50000"/>
            </a:avLst>
          </a:prstGeom>
          <a:gradFill>
            <a:gsLst>
              <a:gs pos="100000">
                <a:schemeClr val="accent1">
                  <a:lumMod val="5000"/>
                  <a:lumOff val="95000"/>
                </a:schemeClr>
              </a:gs>
              <a:gs pos="3000">
                <a:schemeClr val="accent2"/>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8" name="Isosceles Triangle 307">
            <a:extLst>
              <a:ext uri="{FF2B5EF4-FFF2-40B4-BE49-F238E27FC236}">
                <a16:creationId xmlns:a16="http://schemas.microsoft.com/office/drawing/2014/main" id="{62A99903-A36B-768C-448A-D3A149B08400}"/>
              </a:ext>
            </a:extLst>
          </p:cNvPr>
          <p:cNvSpPr/>
          <p:nvPr/>
        </p:nvSpPr>
        <p:spPr>
          <a:xfrm rot="16200000">
            <a:off x="4024303" y="4101065"/>
            <a:ext cx="1349318" cy="232657"/>
          </a:xfrm>
          <a:prstGeom prst="triangle">
            <a:avLst>
              <a:gd name="adj" fmla="val 50000"/>
            </a:avLst>
          </a:prstGeom>
          <a:gradFill>
            <a:gsLst>
              <a:gs pos="100000">
                <a:schemeClr val="accent1">
                  <a:lumMod val="5000"/>
                  <a:lumOff val="95000"/>
                </a:schemeClr>
              </a:gs>
              <a:gs pos="3000">
                <a:schemeClr val="accent2"/>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354" name="Group 353">
            <a:extLst>
              <a:ext uri="{FF2B5EF4-FFF2-40B4-BE49-F238E27FC236}">
                <a16:creationId xmlns:a16="http://schemas.microsoft.com/office/drawing/2014/main" id="{BDA0B3DF-434C-2D9D-3054-D96E008303D0}"/>
              </a:ext>
            </a:extLst>
          </p:cNvPr>
          <p:cNvGrpSpPr/>
          <p:nvPr/>
        </p:nvGrpSpPr>
        <p:grpSpPr>
          <a:xfrm>
            <a:off x="4898745" y="3987172"/>
            <a:ext cx="2189434" cy="284701"/>
            <a:chOff x="4898745" y="3987172"/>
            <a:chExt cx="2189434" cy="284701"/>
          </a:xfrm>
        </p:grpSpPr>
        <p:sp>
          <p:nvSpPr>
            <p:cNvPr id="116" name="Rectangle 115">
              <a:extLst>
                <a:ext uri="{FF2B5EF4-FFF2-40B4-BE49-F238E27FC236}">
                  <a16:creationId xmlns:a16="http://schemas.microsoft.com/office/drawing/2014/main" id="{DBFFFBD8-2FBE-DE7A-685F-24A4BB890085}"/>
                </a:ext>
              </a:extLst>
            </p:cNvPr>
            <p:cNvSpPr/>
            <p:nvPr/>
          </p:nvSpPr>
          <p:spPr>
            <a:xfrm>
              <a:off x="4898745" y="4158806"/>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 name="Rectangle 116">
              <a:extLst>
                <a:ext uri="{FF2B5EF4-FFF2-40B4-BE49-F238E27FC236}">
                  <a16:creationId xmlns:a16="http://schemas.microsoft.com/office/drawing/2014/main" id="{706F2A33-DB5F-8D07-CE35-BA4CA90A9A26}"/>
                </a:ext>
              </a:extLst>
            </p:cNvPr>
            <p:cNvSpPr/>
            <p:nvPr/>
          </p:nvSpPr>
          <p:spPr>
            <a:xfrm>
              <a:off x="5462582" y="4158806"/>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 name="Rectangle 117">
              <a:extLst>
                <a:ext uri="{FF2B5EF4-FFF2-40B4-BE49-F238E27FC236}">
                  <a16:creationId xmlns:a16="http://schemas.microsoft.com/office/drawing/2014/main" id="{164DC82A-F31D-080D-7969-60934A61676B}"/>
                </a:ext>
              </a:extLst>
            </p:cNvPr>
            <p:cNvSpPr/>
            <p:nvPr/>
          </p:nvSpPr>
          <p:spPr>
            <a:xfrm>
              <a:off x="6026419" y="4158806"/>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 name="Rectangle 118">
              <a:extLst>
                <a:ext uri="{FF2B5EF4-FFF2-40B4-BE49-F238E27FC236}">
                  <a16:creationId xmlns:a16="http://schemas.microsoft.com/office/drawing/2014/main" id="{AA40F627-A4C0-5606-7F2D-4010E08B5567}"/>
                </a:ext>
              </a:extLst>
            </p:cNvPr>
            <p:cNvSpPr/>
            <p:nvPr/>
          </p:nvSpPr>
          <p:spPr>
            <a:xfrm>
              <a:off x="6590256" y="4158806"/>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0" name="Rectangle 309">
              <a:extLst>
                <a:ext uri="{FF2B5EF4-FFF2-40B4-BE49-F238E27FC236}">
                  <a16:creationId xmlns:a16="http://schemas.microsoft.com/office/drawing/2014/main" id="{506663E6-E150-6239-A707-F3A757F0FEFF}"/>
                </a:ext>
              </a:extLst>
            </p:cNvPr>
            <p:cNvSpPr/>
            <p:nvPr/>
          </p:nvSpPr>
          <p:spPr>
            <a:xfrm>
              <a:off x="4898745" y="398717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1" name="Rectangle 310">
              <a:extLst>
                <a:ext uri="{FF2B5EF4-FFF2-40B4-BE49-F238E27FC236}">
                  <a16:creationId xmlns:a16="http://schemas.microsoft.com/office/drawing/2014/main" id="{DD3BE983-B89C-F4C8-88E8-43660796BA33}"/>
                </a:ext>
              </a:extLst>
            </p:cNvPr>
            <p:cNvSpPr/>
            <p:nvPr/>
          </p:nvSpPr>
          <p:spPr>
            <a:xfrm>
              <a:off x="5462582" y="398717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2" name="Rectangle 311">
              <a:extLst>
                <a:ext uri="{FF2B5EF4-FFF2-40B4-BE49-F238E27FC236}">
                  <a16:creationId xmlns:a16="http://schemas.microsoft.com/office/drawing/2014/main" id="{45EEBD8F-E98C-E049-BCF4-F9398CE22BDE}"/>
                </a:ext>
              </a:extLst>
            </p:cNvPr>
            <p:cNvSpPr/>
            <p:nvPr/>
          </p:nvSpPr>
          <p:spPr>
            <a:xfrm>
              <a:off x="6026419" y="398717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3" name="Rectangle 312">
              <a:extLst>
                <a:ext uri="{FF2B5EF4-FFF2-40B4-BE49-F238E27FC236}">
                  <a16:creationId xmlns:a16="http://schemas.microsoft.com/office/drawing/2014/main" id="{C5D033AE-3CFB-87C1-C9A1-79D5E727E1F9}"/>
                </a:ext>
              </a:extLst>
            </p:cNvPr>
            <p:cNvSpPr/>
            <p:nvPr/>
          </p:nvSpPr>
          <p:spPr>
            <a:xfrm>
              <a:off x="6590256" y="3987172"/>
              <a:ext cx="497923" cy="113067"/>
            </a:xfrm>
            <a:prstGeom prst="rect">
              <a:avLst/>
            </a:prstGeom>
            <a:solidFill>
              <a:schemeClr val="accent2">
                <a:lumMod val="20000"/>
                <a:lumOff val="80000"/>
              </a:schemeClr>
            </a:solid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343" name="Group 342">
            <a:extLst>
              <a:ext uri="{FF2B5EF4-FFF2-40B4-BE49-F238E27FC236}">
                <a16:creationId xmlns:a16="http://schemas.microsoft.com/office/drawing/2014/main" id="{295742D9-F9CA-C608-712E-2EBE2A0AF709}"/>
              </a:ext>
            </a:extLst>
          </p:cNvPr>
          <p:cNvGrpSpPr/>
          <p:nvPr/>
        </p:nvGrpSpPr>
        <p:grpSpPr>
          <a:xfrm>
            <a:off x="4887697" y="1595520"/>
            <a:ext cx="2200481" cy="230392"/>
            <a:chOff x="4887697" y="1595520"/>
            <a:chExt cx="2200481" cy="230392"/>
          </a:xfrm>
        </p:grpSpPr>
        <p:pic>
          <p:nvPicPr>
            <p:cNvPr id="315" name="Graphic 314">
              <a:extLst>
                <a:ext uri="{FF2B5EF4-FFF2-40B4-BE49-F238E27FC236}">
                  <a16:creationId xmlns:a16="http://schemas.microsoft.com/office/drawing/2014/main" id="{5F313FAF-8F27-3238-D986-9AC45CC78F31}"/>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169138" y="1595520"/>
              <a:ext cx="230392" cy="230392"/>
            </a:xfrm>
            <a:prstGeom prst="rect">
              <a:avLst/>
            </a:prstGeom>
          </p:spPr>
        </p:pic>
        <p:pic>
          <p:nvPicPr>
            <p:cNvPr id="316" name="Graphic 315">
              <a:extLst>
                <a:ext uri="{FF2B5EF4-FFF2-40B4-BE49-F238E27FC236}">
                  <a16:creationId xmlns:a16="http://schemas.microsoft.com/office/drawing/2014/main" id="{5C4B9C1C-533D-77D2-2671-A056486F853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4887697" y="1595520"/>
              <a:ext cx="230392" cy="230392"/>
            </a:xfrm>
            <a:prstGeom prst="rect">
              <a:avLst/>
            </a:prstGeom>
          </p:spPr>
        </p:pic>
        <p:pic>
          <p:nvPicPr>
            <p:cNvPr id="317" name="Graphic 316">
              <a:extLst>
                <a:ext uri="{FF2B5EF4-FFF2-40B4-BE49-F238E27FC236}">
                  <a16:creationId xmlns:a16="http://schemas.microsoft.com/office/drawing/2014/main" id="{AE57B789-F20F-6E3C-D407-F3D4019AB68A}"/>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732020" y="1595520"/>
              <a:ext cx="230392" cy="230392"/>
            </a:xfrm>
            <a:prstGeom prst="rect">
              <a:avLst/>
            </a:prstGeom>
          </p:spPr>
        </p:pic>
        <p:pic>
          <p:nvPicPr>
            <p:cNvPr id="318" name="Graphic 317">
              <a:extLst>
                <a:ext uri="{FF2B5EF4-FFF2-40B4-BE49-F238E27FC236}">
                  <a16:creationId xmlns:a16="http://schemas.microsoft.com/office/drawing/2014/main" id="{DEC85DC4-712F-D713-2C6A-4E9D711B1368}"/>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450579" y="1595520"/>
              <a:ext cx="230392" cy="230392"/>
            </a:xfrm>
            <a:prstGeom prst="rect">
              <a:avLst/>
            </a:prstGeom>
          </p:spPr>
        </p:pic>
        <p:pic>
          <p:nvPicPr>
            <p:cNvPr id="319" name="Graphic 318">
              <a:extLst>
                <a:ext uri="{FF2B5EF4-FFF2-40B4-BE49-F238E27FC236}">
                  <a16:creationId xmlns:a16="http://schemas.microsoft.com/office/drawing/2014/main" id="{E7F01703-BAF7-B8AF-CA08-1DDF923EFC7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294902" y="1595520"/>
              <a:ext cx="230392" cy="230392"/>
            </a:xfrm>
            <a:prstGeom prst="rect">
              <a:avLst/>
            </a:prstGeom>
          </p:spPr>
        </p:pic>
        <p:pic>
          <p:nvPicPr>
            <p:cNvPr id="320" name="Graphic 319">
              <a:extLst>
                <a:ext uri="{FF2B5EF4-FFF2-40B4-BE49-F238E27FC236}">
                  <a16:creationId xmlns:a16="http://schemas.microsoft.com/office/drawing/2014/main" id="{0A93ACCA-0B56-4244-B924-B5ED03907DA2}"/>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013461" y="1595520"/>
              <a:ext cx="230392" cy="230392"/>
            </a:xfrm>
            <a:prstGeom prst="rect">
              <a:avLst/>
            </a:prstGeom>
          </p:spPr>
        </p:pic>
        <p:pic>
          <p:nvPicPr>
            <p:cNvPr id="321" name="Graphic 320">
              <a:extLst>
                <a:ext uri="{FF2B5EF4-FFF2-40B4-BE49-F238E27FC236}">
                  <a16:creationId xmlns:a16="http://schemas.microsoft.com/office/drawing/2014/main" id="{CC6749AD-25C5-4328-2501-EAAEA0855C57}"/>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857786" y="1595520"/>
              <a:ext cx="230392" cy="230392"/>
            </a:xfrm>
            <a:prstGeom prst="rect">
              <a:avLst/>
            </a:prstGeom>
          </p:spPr>
        </p:pic>
        <p:pic>
          <p:nvPicPr>
            <p:cNvPr id="322" name="Graphic 321">
              <a:extLst>
                <a:ext uri="{FF2B5EF4-FFF2-40B4-BE49-F238E27FC236}">
                  <a16:creationId xmlns:a16="http://schemas.microsoft.com/office/drawing/2014/main" id="{092491FE-58DF-7B06-4453-71650EE94AA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576343" y="1595520"/>
              <a:ext cx="230392" cy="230392"/>
            </a:xfrm>
            <a:prstGeom prst="rect">
              <a:avLst/>
            </a:prstGeom>
          </p:spPr>
        </p:pic>
      </p:grpSp>
      <p:grpSp>
        <p:nvGrpSpPr>
          <p:cNvPr id="344" name="Group 343">
            <a:extLst>
              <a:ext uri="{FF2B5EF4-FFF2-40B4-BE49-F238E27FC236}">
                <a16:creationId xmlns:a16="http://schemas.microsoft.com/office/drawing/2014/main" id="{C630B121-E041-6ABA-43F9-18C626553C18}"/>
              </a:ext>
            </a:extLst>
          </p:cNvPr>
          <p:cNvGrpSpPr/>
          <p:nvPr/>
        </p:nvGrpSpPr>
        <p:grpSpPr>
          <a:xfrm>
            <a:off x="1504530" y="3254608"/>
            <a:ext cx="1637599" cy="230392"/>
            <a:chOff x="5450579" y="1595520"/>
            <a:chExt cx="1637599" cy="230392"/>
          </a:xfrm>
        </p:grpSpPr>
        <p:pic>
          <p:nvPicPr>
            <p:cNvPr id="347" name="Graphic 346">
              <a:extLst>
                <a:ext uri="{FF2B5EF4-FFF2-40B4-BE49-F238E27FC236}">
                  <a16:creationId xmlns:a16="http://schemas.microsoft.com/office/drawing/2014/main" id="{8430054C-5D50-1ECC-F48C-84C6B9DED3D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732020" y="1595520"/>
              <a:ext cx="230392" cy="230392"/>
            </a:xfrm>
            <a:prstGeom prst="rect">
              <a:avLst/>
            </a:prstGeom>
          </p:spPr>
        </p:pic>
        <p:pic>
          <p:nvPicPr>
            <p:cNvPr id="348" name="Graphic 347">
              <a:extLst>
                <a:ext uri="{FF2B5EF4-FFF2-40B4-BE49-F238E27FC236}">
                  <a16:creationId xmlns:a16="http://schemas.microsoft.com/office/drawing/2014/main" id="{7874ADC3-E874-A60E-5EED-F96C4B2B6EAE}"/>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450579" y="1595520"/>
              <a:ext cx="230392" cy="230392"/>
            </a:xfrm>
            <a:prstGeom prst="rect">
              <a:avLst/>
            </a:prstGeom>
          </p:spPr>
        </p:pic>
        <p:pic>
          <p:nvPicPr>
            <p:cNvPr id="349" name="Graphic 348">
              <a:extLst>
                <a:ext uri="{FF2B5EF4-FFF2-40B4-BE49-F238E27FC236}">
                  <a16:creationId xmlns:a16="http://schemas.microsoft.com/office/drawing/2014/main" id="{F54967E4-AFBD-03FA-F374-E48E3A41FEA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294902" y="1595520"/>
              <a:ext cx="230392" cy="230392"/>
            </a:xfrm>
            <a:prstGeom prst="rect">
              <a:avLst/>
            </a:prstGeom>
          </p:spPr>
        </p:pic>
        <p:pic>
          <p:nvPicPr>
            <p:cNvPr id="350" name="Graphic 349">
              <a:extLst>
                <a:ext uri="{FF2B5EF4-FFF2-40B4-BE49-F238E27FC236}">
                  <a16:creationId xmlns:a16="http://schemas.microsoft.com/office/drawing/2014/main" id="{73E36CD5-350C-3738-039E-8D9C936A0723}"/>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013461" y="1595520"/>
              <a:ext cx="230392" cy="230392"/>
            </a:xfrm>
            <a:prstGeom prst="rect">
              <a:avLst/>
            </a:prstGeom>
          </p:spPr>
        </p:pic>
        <p:pic>
          <p:nvPicPr>
            <p:cNvPr id="351" name="Graphic 350">
              <a:extLst>
                <a:ext uri="{FF2B5EF4-FFF2-40B4-BE49-F238E27FC236}">
                  <a16:creationId xmlns:a16="http://schemas.microsoft.com/office/drawing/2014/main" id="{7F46DC03-CD2B-8228-F64A-054CF6FF315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857786" y="1595520"/>
              <a:ext cx="230392" cy="230392"/>
            </a:xfrm>
            <a:prstGeom prst="rect">
              <a:avLst/>
            </a:prstGeom>
          </p:spPr>
        </p:pic>
        <p:pic>
          <p:nvPicPr>
            <p:cNvPr id="352" name="Graphic 351">
              <a:extLst>
                <a:ext uri="{FF2B5EF4-FFF2-40B4-BE49-F238E27FC236}">
                  <a16:creationId xmlns:a16="http://schemas.microsoft.com/office/drawing/2014/main" id="{79B8ABD0-03CC-2E9D-557D-9FC96122563F}"/>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576343" y="1595520"/>
              <a:ext cx="230392" cy="230392"/>
            </a:xfrm>
            <a:prstGeom prst="rect">
              <a:avLst/>
            </a:prstGeom>
          </p:spPr>
        </p:pic>
      </p:grpSp>
      <p:sp>
        <p:nvSpPr>
          <p:cNvPr id="9" name="Freeform: Shape 362">
            <a:extLst>
              <a:ext uri="{FF2B5EF4-FFF2-40B4-BE49-F238E27FC236}">
                <a16:creationId xmlns:a16="http://schemas.microsoft.com/office/drawing/2014/main" id="{F694C200-CC19-1D8A-819F-6193A6F92E36}"/>
              </a:ext>
            </a:extLst>
          </p:cNvPr>
          <p:cNvSpPr/>
          <p:nvPr/>
        </p:nvSpPr>
        <p:spPr>
          <a:xfrm flipH="1">
            <a:off x="983097" y="5622888"/>
            <a:ext cx="2692465" cy="463901"/>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6C4B94"/>
                </a:solidFill>
                <a:effectLst/>
                <a:uLnTx/>
                <a:uFillTx/>
                <a:latin typeface="Arial" panose="020B0604020202020204"/>
                <a:ea typeface="+mn-ea"/>
                <a:cs typeface="+mn-cs"/>
              </a:rPr>
              <a:t>vSAN HCI Clusters</a:t>
            </a:r>
            <a:b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Aggregated resources</a:t>
            </a:r>
            <a:endParaRPr kumimoji="0" lang="en-US" sz="1200" b="0" i="0" u="none" strike="noStrike" kern="1200" cap="none" spc="0" normalizeH="0" baseline="0" noProof="0" dirty="0">
              <a:ln>
                <a:noFill/>
              </a:ln>
              <a:solidFill>
                <a:srgbClr val="6C4B94"/>
              </a:solidFill>
              <a:effectLst/>
              <a:uLnTx/>
              <a:uFillTx/>
              <a:latin typeface="Arial" panose="020B0604020202020204" pitchFamily="34" charset="0"/>
              <a:ea typeface="+mn-ea"/>
              <a:cs typeface="+mn-cs"/>
            </a:endParaRPr>
          </a:p>
        </p:txBody>
      </p:sp>
      <p:sp>
        <p:nvSpPr>
          <p:cNvPr id="10" name="Freeform: Shape 362">
            <a:extLst>
              <a:ext uri="{FF2B5EF4-FFF2-40B4-BE49-F238E27FC236}">
                <a16:creationId xmlns:a16="http://schemas.microsoft.com/office/drawing/2014/main" id="{8025587C-61AD-0B63-7A1D-5B39E539C304}"/>
              </a:ext>
            </a:extLst>
          </p:cNvPr>
          <p:cNvSpPr/>
          <p:nvPr/>
        </p:nvSpPr>
        <p:spPr>
          <a:xfrm flipH="1">
            <a:off x="4667228" y="5622888"/>
            <a:ext cx="2692465" cy="463901"/>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6C4B94"/>
                </a:solidFill>
                <a:effectLst/>
                <a:uLnTx/>
                <a:uFillTx/>
                <a:latin typeface="Arial" panose="020B0604020202020204"/>
                <a:ea typeface="+mn-ea"/>
                <a:cs typeface="+mn-cs"/>
              </a:rPr>
              <a:t>vSAN Storage Clusters</a:t>
            </a:r>
            <a:b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Disaggregated resources</a:t>
            </a:r>
            <a:endParaRPr kumimoji="0" lang="en-US" sz="1200" b="0" i="0" u="none" strike="noStrike" kern="1200" cap="none" spc="0" normalizeH="0" baseline="0" noProof="0" dirty="0">
              <a:ln>
                <a:noFill/>
              </a:ln>
              <a:solidFill>
                <a:srgbClr val="6C4B94"/>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9644827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fade">
                                      <p:cBhvr>
                                        <p:cTn id="7" dur="500"/>
                                        <p:tgtEl>
                                          <p:spTgt spid="14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94"/>
                                        </p:tgtEl>
                                        <p:attrNameLst>
                                          <p:attrName>style.visibility</p:attrName>
                                        </p:attrNameLst>
                                      </p:cBhvr>
                                      <p:to>
                                        <p:strVal val="visible"/>
                                      </p:to>
                                    </p:set>
                                    <p:animEffect transition="in" filter="fade">
                                      <p:cBhvr>
                                        <p:cTn id="11" dur="500"/>
                                        <p:tgtEl>
                                          <p:spTgt spid="294"/>
                                        </p:tgtEl>
                                      </p:cBhvr>
                                    </p:animEffect>
                                  </p:childTnLst>
                                </p:cTn>
                              </p:par>
                              <p:par>
                                <p:cTn id="12" presetID="16" presetClass="entr" presetSubtype="37" fill="hold" nodeType="withEffect">
                                  <p:stCondLst>
                                    <p:cond delay="0"/>
                                  </p:stCondLst>
                                  <p:childTnLst>
                                    <p:set>
                                      <p:cBhvr>
                                        <p:cTn id="13" dur="1" fill="hold">
                                          <p:stCondLst>
                                            <p:cond delay="0"/>
                                          </p:stCondLst>
                                        </p:cTn>
                                        <p:tgtEl>
                                          <p:spTgt spid="355"/>
                                        </p:tgtEl>
                                        <p:attrNameLst>
                                          <p:attrName>style.visibility</p:attrName>
                                        </p:attrNameLst>
                                      </p:cBhvr>
                                      <p:to>
                                        <p:strVal val="visible"/>
                                      </p:to>
                                    </p:set>
                                    <p:animEffect transition="in" filter="barn(outVertical)">
                                      <p:cBhvr>
                                        <p:cTn id="14" dur="500"/>
                                        <p:tgtEl>
                                          <p:spTgt spid="355"/>
                                        </p:tgtEl>
                                      </p:cBhvr>
                                    </p:animEffect>
                                  </p:childTnLst>
                                </p:cTn>
                              </p:par>
                              <p:par>
                                <p:cTn id="15" presetID="10" presetClass="entr" presetSubtype="0" fill="hold" nodeType="withEffect">
                                  <p:stCondLst>
                                    <p:cond delay="0"/>
                                  </p:stCondLst>
                                  <p:childTnLst>
                                    <p:set>
                                      <p:cBhvr>
                                        <p:cTn id="16" dur="1" fill="hold">
                                          <p:stCondLst>
                                            <p:cond delay="0"/>
                                          </p:stCondLst>
                                        </p:cTn>
                                        <p:tgtEl>
                                          <p:spTgt spid="357"/>
                                        </p:tgtEl>
                                        <p:attrNameLst>
                                          <p:attrName>style.visibility</p:attrName>
                                        </p:attrNameLst>
                                      </p:cBhvr>
                                      <p:to>
                                        <p:strVal val="visible"/>
                                      </p:to>
                                    </p:set>
                                    <p:animEffect transition="in" filter="fade">
                                      <p:cBhvr>
                                        <p:cTn id="17" dur="500"/>
                                        <p:tgtEl>
                                          <p:spTgt spid="357"/>
                                        </p:tgtEl>
                                      </p:cBhvr>
                                    </p:animEffect>
                                  </p:childTnLst>
                                </p:cTn>
                              </p:par>
                              <p:par>
                                <p:cTn id="18" presetID="10" presetClass="entr" presetSubtype="0" fill="hold" nodeType="withEffect">
                                  <p:stCondLst>
                                    <p:cond delay="0"/>
                                  </p:stCondLst>
                                  <p:childTnLst>
                                    <p:set>
                                      <p:cBhvr>
                                        <p:cTn id="19" dur="1" fill="hold">
                                          <p:stCondLst>
                                            <p:cond delay="0"/>
                                          </p:stCondLst>
                                        </p:cTn>
                                        <p:tgtEl>
                                          <p:spTgt spid="141"/>
                                        </p:tgtEl>
                                        <p:attrNameLst>
                                          <p:attrName>style.visibility</p:attrName>
                                        </p:attrNameLst>
                                      </p:cBhvr>
                                      <p:to>
                                        <p:strVal val="visible"/>
                                      </p:to>
                                    </p:set>
                                    <p:animEffect transition="in" filter="fade">
                                      <p:cBhvr>
                                        <p:cTn id="20" dur="500"/>
                                        <p:tgtEl>
                                          <p:spTgt spid="141"/>
                                        </p:tgtEl>
                                      </p:cBhvr>
                                    </p:animEffect>
                                  </p:childTnLst>
                                </p:cTn>
                              </p:par>
                            </p:childTnLst>
                          </p:cTn>
                        </p:par>
                        <p:par>
                          <p:cTn id="21" fill="hold">
                            <p:stCondLst>
                              <p:cond delay="1000"/>
                            </p:stCondLst>
                            <p:childTnLst>
                              <p:par>
                                <p:cTn id="22" presetID="10" presetClass="entr" presetSubtype="0" fill="hold" nodeType="afterEffect">
                                  <p:stCondLst>
                                    <p:cond delay="0"/>
                                  </p:stCondLst>
                                  <p:childTnLst>
                                    <p:set>
                                      <p:cBhvr>
                                        <p:cTn id="23" dur="1" fill="hold">
                                          <p:stCondLst>
                                            <p:cond delay="0"/>
                                          </p:stCondLst>
                                        </p:cTn>
                                        <p:tgtEl>
                                          <p:spTgt spid="344"/>
                                        </p:tgtEl>
                                        <p:attrNameLst>
                                          <p:attrName>style.visibility</p:attrName>
                                        </p:attrNameLst>
                                      </p:cBhvr>
                                      <p:to>
                                        <p:strVal val="visible"/>
                                      </p:to>
                                    </p:set>
                                    <p:animEffect transition="in" filter="fade">
                                      <p:cBhvr>
                                        <p:cTn id="24" dur="500"/>
                                        <p:tgtEl>
                                          <p:spTgt spid="34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fade">
                                      <p:cBhvr>
                                        <p:cTn id="27" dur="500"/>
                                        <p:tgtEl>
                                          <p:spTgt spid="273"/>
                                        </p:tgtEl>
                                      </p:cBhvr>
                                    </p:animEffect>
                                  </p:childTnLst>
                                </p:cTn>
                              </p:par>
                            </p:childTnLst>
                          </p:cTn>
                        </p:par>
                        <p:par>
                          <p:cTn id="28" fill="hold">
                            <p:stCondLst>
                              <p:cond delay="1500"/>
                            </p:stCondLst>
                            <p:childTnLst>
                              <p:par>
                                <p:cTn id="29" presetID="10" presetClass="entr" presetSubtype="0"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par>
                          <p:cTn id="32" fill="hold">
                            <p:stCondLst>
                              <p:cond delay="2000"/>
                            </p:stCondLst>
                            <p:childTnLst>
                              <p:par>
                                <p:cTn id="33" presetID="10" presetClass="entr" presetSubtype="0" fill="hold" nodeType="afterEffect">
                                  <p:stCondLst>
                                    <p:cond delay="500"/>
                                  </p:stCondLst>
                                  <p:childTnLst>
                                    <p:set>
                                      <p:cBhvr>
                                        <p:cTn id="34" dur="1" fill="hold">
                                          <p:stCondLst>
                                            <p:cond delay="0"/>
                                          </p:stCondLst>
                                        </p:cTn>
                                        <p:tgtEl>
                                          <p:spTgt spid="354"/>
                                        </p:tgtEl>
                                        <p:attrNameLst>
                                          <p:attrName>style.visibility</p:attrName>
                                        </p:attrNameLst>
                                      </p:cBhvr>
                                      <p:to>
                                        <p:strVal val="visible"/>
                                      </p:to>
                                    </p:set>
                                    <p:animEffect transition="in" filter="fade">
                                      <p:cBhvr>
                                        <p:cTn id="35" dur="500"/>
                                        <p:tgtEl>
                                          <p:spTgt spid="354"/>
                                        </p:tgtEl>
                                      </p:cBhvr>
                                    </p:animEffect>
                                  </p:childTnLst>
                                </p:cTn>
                              </p:par>
                            </p:childTnLst>
                          </p:cTn>
                        </p:par>
                        <p:par>
                          <p:cTn id="36" fill="hold">
                            <p:stCondLst>
                              <p:cond delay="3000"/>
                            </p:stCondLst>
                            <p:childTnLst>
                              <p:par>
                                <p:cTn id="37" presetID="16" presetClass="entr" presetSubtype="37" fill="hold" nodeType="after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barn(outVertical)">
                                      <p:cBhvr>
                                        <p:cTn id="39" dur="500"/>
                                        <p:tgtEl>
                                          <p:spTgt spid="108"/>
                                        </p:tgtEl>
                                      </p:cBhvr>
                                    </p:animEffect>
                                  </p:childTnLst>
                                </p:cTn>
                              </p:par>
                              <p:par>
                                <p:cTn id="40" presetID="10" presetClass="entr" presetSubtype="0" fill="hold" nodeType="withEffect">
                                  <p:stCondLst>
                                    <p:cond delay="0"/>
                                  </p:stCondLst>
                                  <p:childTnLst>
                                    <p:set>
                                      <p:cBhvr>
                                        <p:cTn id="41" dur="1" fill="hold">
                                          <p:stCondLst>
                                            <p:cond delay="0"/>
                                          </p:stCondLst>
                                        </p:cTn>
                                        <p:tgtEl>
                                          <p:spTgt spid="274"/>
                                        </p:tgtEl>
                                        <p:attrNameLst>
                                          <p:attrName>style.visibility</p:attrName>
                                        </p:attrNameLst>
                                      </p:cBhvr>
                                      <p:to>
                                        <p:strVal val="visible"/>
                                      </p:to>
                                    </p:set>
                                    <p:animEffect transition="in" filter="fade">
                                      <p:cBhvr>
                                        <p:cTn id="42" dur="500"/>
                                        <p:tgtEl>
                                          <p:spTgt spid="274"/>
                                        </p:tgtEl>
                                      </p:cBhvr>
                                    </p:animEffect>
                                  </p:childTnLst>
                                </p:cTn>
                              </p:par>
                              <p:par>
                                <p:cTn id="43" presetID="10" presetClass="entr" presetSubtype="0" fill="hold" nodeType="withEffect">
                                  <p:stCondLst>
                                    <p:cond delay="0"/>
                                  </p:stCondLst>
                                  <p:childTnLst>
                                    <p:set>
                                      <p:cBhvr>
                                        <p:cTn id="44" dur="1" fill="hold">
                                          <p:stCondLst>
                                            <p:cond delay="0"/>
                                          </p:stCondLst>
                                        </p:cTn>
                                        <p:tgtEl>
                                          <p:spTgt spid="106"/>
                                        </p:tgtEl>
                                        <p:attrNameLst>
                                          <p:attrName>style.visibility</p:attrName>
                                        </p:attrNameLst>
                                      </p:cBhvr>
                                      <p:to>
                                        <p:strVal val="visible"/>
                                      </p:to>
                                    </p:set>
                                    <p:animEffect transition="in" filter="fade">
                                      <p:cBhvr>
                                        <p:cTn id="45" dur="500"/>
                                        <p:tgtEl>
                                          <p:spTgt spid="106"/>
                                        </p:tgtEl>
                                      </p:cBhvr>
                                    </p:animEffect>
                                  </p:childTnLst>
                                </p:cTn>
                              </p:par>
                              <p:par>
                                <p:cTn id="46" presetID="10" presetClass="entr" presetSubtype="0" fill="hold" nodeType="withEffect">
                                  <p:stCondLst>
                                    <p:cond delay="0"/>
                                  </p:stCondLst>
                                  <p:childTnLst>
                                    <p:set>
                                      <p:cBhvr>
                                        <p:cTn id="47" dur="1" fill="hold">
                                          <p:stCondLst>
                                            <p:cond delay="0"/>
                                          </p:stCondLst>
                                        </p:cTn>
                                        <p:tgtEl>
                                          <p:spTgt spid="105"/>
                                        </p:tgtEl>
                                        <p:attrNameLst>
                                          <p:attrName>style.visibility</p:attrName>
                                        </p:attrNameLst>
                                      </p:cBhvr>
                                      <p:to>
                                        <p:strVal val="visible"/>
                                      </p:to>
                                    </p:set>
                                    <p:animEffect transition="in" filter="fade">
                                      <p:cBhvr>
                                        <p:cTn id="48" dur="500"/>
                                        <p:tgtEl>
                                          <p:spTgt spid="105"/>
                                        </p:tgtEl>
                                      </p:cBhvr>
                                    </p:animEffect>
                                  </p:childTnLst>
                                </p:cTn>
                              </p:par>
                            </p:childTnLst>
                          </p:cTn>
                        </p:par>
                        <p:par>
                          <p:cTn id="49" fill="hold">
                            <p:stCondLst>
                              <p:cond delay="3500"/>
                            </p:stCondLst>
                            <p:childTnLst>
                              <p:par>
                                <p:cTn id="50" presetID="10" presetClass="entr" presetSubtype="0" fill="hold" grpId="0" nodeType="after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fade">
                                      <p:cBhvr>
                                        <p:cTn id="52" dur="500"/>
                                        <p:tgtEl>
                                          <p:spTgt spid="4"/>
                                        </p:tgtEl>
                                      </p:cBhvr>
                                    </p:animEffect>
                                  </p:childTnLst>
                                </p:cTn>
                              </p:par>
                            </p:childTnLst>
                          </p:cTn>
                        </p:par>
                        <p:par>
                          <p:cTn id="53" fill="hold">
                            <p:stCondLst>
                              <p:cond delay="4000"/>
                            </p:stCondLst>
                            <p:childTnLst>
                              <p:par>
                                <p:cTn id="54" presetID="10" presetClass="entr" presetSubtype="0" fill="hold" nodeType="afterEffect">
                                  <p:stCondLst>
                                    <p:cond delay="500"/>
                                  </p:stCondLst>
                                  <p:childTnLst>
                                    <p:set>
                                      <p:cBhvr>
                                        <p:cTn id="55" dur="1" fill="hold">
                                          <p:stCondLst>
                                            <p:cond delay="0"/>
                                          </p:stCondLst>
                                        </p:cTn>
                                        <p:tgtEl>
                                          <p:spTgt spid="6"/>
                                        </p:tgtEl>
                                        <p:attrNameLst>
                                          <p:attrName>style.visibility</p:attrName>
                                        </p:attrNameLst>
                                      </p:cBhvr>
                                      <p:to>
                                        <p:strVal val="visible"/>
                                      </p:to>
                                    </p:set>
                                    <p:animEffect transition="in" filter="fade">
                                      <p:cBhvr>
                                        <p:cTn id="56" dur="500"/>
                                        <p:tgtEl>
                                          <p:spTgt spid="6"/>
                                        </p:tgtEl>
                                      </p:cBhvr>
                                    </p:animEffect>
                                  </p:childTnLst>
                                </p:cTn>
                              </p:par>
                            </p:childTnLst>
                          </p:cTn>
                        </p:par>
                        <p:par>
                          <p:cTn id="57" fill="hold">
                            <p:stCondLst>
                              <p:cond delay="5000"/>
                            </p:stCondLst>
                            <p:childTnLst>
                              <p:par>
                                <p:cTn id="58" presetID="16" presetClass="entr" presetSubtype="37" fill="hold" nodeType="afterEffect">
                                  <p:stCondLst>
                                    <p:cond delay="0"/>
                                  </p:stCondLst>
                                  <p:childTnLst>
                                    <p:set>
                                      <p:cBhvr>
                                        <p:cTn id="59" dur="1" fill="hold">
                                          <p:stCondLst>
                                            <p:cond delay="0"/>
                                          </p:stCondLst>
                                        </p:cTn>
                                        <p:tgtEl>
                                          <p:spTgt spid="356"/>
                                        </p:tgtEl>
                                        <p:attrNameLst>
                                          <p:attrName>style.visibility</p:attrName>
                                        </p:attrNameLst>
                                      </p:cBhvr>
                                      <p:to>
                                        <p:strVal val="visible"/>
                                      </p:to>
                                    </p:set>
                                    <p:animEffect transition="in" filter="barn(outVertical)">
                                      <p:cBhvr>
                                        <p:cTn id="60" dur="500"/>
                                        <p:tgtEl>
                                          <p:spTgt spid="356"/>
                                        </p:tgtEl>
                                      </p:cBhvr>
                                    </p:animEffect>
                                  </p:childTnLst>
                                </p:cTn>
                              </p:par>
                            </p:childTnLst>
                          </p:cTn>
                        </p:par>
                        <p:par>
                          <p:cTn id="61" fill="hold">
                            <p:stCondLst>
                              <p:cond delay="5500"/>
                            </p:stCondLst>
                            <p:childTnLst>
                              <p:par>
                                <p:cTn id="62" presetID="10" presetClass="entr" presetSubtype="0" fill="hold" nodeType="afterEffect">
                                  <p:stCondLst>
                                    <p:cond delay="0"/>
                                  </p:stCondLst>
                                  <p:childTnLst>
                                    <p:set>
                                      <p:cBhvr>
                                        <p:cTn id="63" dur="1" fill="hold">
                                          <p:stCondLst>
                                            <p:cond delay="0"/>
                                          </p:stCondLst>
                                        </p:cTn>
                                        <p:tgtEl>
                                          <p:spTgt spid="343"/>
                                        </p:tgtEl>
                                        <p:attrNameLst>
                                          <p:attrName>style.visibility</p:attrName>
                                        </p:attrNameLst>
                                      </p:cBhvr>
                                      <p:to>
                                        <p:strVal val="visible"/>
                                      </p:to>
                                    </p:set>
                                    <p:animEffect transition="in" filter="fade">
                                      <p:cBhvr>
                                        <p:cTn id="64" dur="500"/>
                                        <p:tgtEl>
                                          <p:spTgt spid="343"/>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82"/>
                                        </p:tgtEl>
                                        <p:attrNameLst>
                                          <p:attrName>style.visibility</p:attrName>
                                        </p:attrNameLst>
                                      </p:cBhvr>
                                      <p:to>
                                        <p:strVal val="visible"/>
                                      </p:to>
                                    </p:set>
                                    <p:animEffect transition="in" filter="fade">
                                      <p:cBhvr>
                                        <p:cTn id="67" dur="500"/>
                                        <p:tgtEl>
                                          <p:spTgt spid="82"/>
                                        </p:tgtEl>
                                      </p:cBhvr>
                                    </p:animEffect>
                                  </p:childTnLst>
                                </p:cTn>
                              </p:par>
                            </p:childTnLst>
                          </p:cTn>
                        </p:par>
                        <p:par>
                          <p:cTn id="68" fill="hold">
                            <p:stCondLst>
                              <p:cond delay="6000"/>
                            </p:stCondLst>
                            <p:childTnLst>
                              <p:par>
                                <p:cTn id="69" presetID="22" presetClass="entr" presetSubtype="4" fill="hold" nodeType="afterEffect">
                                  <p:stCondLst>
                                    <p:cond delay="0"/>
                                  </p:stCondLst>
                                  <p:childTnLst>
                                    <p:set>
                                      <p:cBhvr>
                                        <p:cTn id="70" dur="1" fill="hold">
                                          <p:stCondLst>
                                            <p:cond delay="0"/>
                                          </p:stCondLst>
                                        </p:cTn>
                                        <p:tgtEl>
                                          <p:spTgt spid="83"/>
                                        </p:tgtEl>
                                        <p:attrNameLst>
                                          <p:attrName>style.visibility</p:attrName>
                                        </p:attrNameLst>
                                      </p:cBhvr>
                                      <p:to>
                                        <p:strVal val="visible"/>
                                      </p:to>
                                    </p:set>
                                    <p:animEffect transition="in" filter="wipe(down)">
                                      <p:cBhvr>
                                        <p:cTn id="71" dur="500"/>
                                        <p:tgtEl>
                                          <p:spTgt spid="83"/>
                                        </p:tgtEl>
                                      </p:cBhvr>
                                    </p:animEffect>
                                  </p:childTnLst>
                                </p:cTn>
                              </p:par>
                            </p:childTnLst>
                          </p:cTn>
                        </p:par>
                        <p:par>
                          <p:cTn id="72" fill="hold">
                            <p:stCondLst>
                              <p:cond delay="6500"/>
                            </p:stCondLst>
                            <p:childTnLst>
                              <p:par>
                                <p:cTn id="73" presetID="10" presetClass="entr" presetSubtype="0" fill="hold" nodeType="afterEffect">
                                  <p:stCondLst>
                                    <p:cond delay="0"/>
                                  </p:stCondLst>
                                  <p:childTnLst>
                                    <p:set>
                                      <p:cBhvr>
                                        <p:cTn id="74" dur="1" fill="hold">
                                          <p:stCondLst>
                                            <p:cond delay="0"/>
                                          </p:stCondLst>
                                        </p:cTn>
                                        <p:tgtEl>
                                          <p:spTgt spid="84"/>
                                        </p:tgtEl>
                                        <p:attrNameLst>
                                          <p:attrName>style.visibility</p:attrName>
                                        </p:attrNameLst>
                                      </p:cBhvr>
                                      <p:to>
                                        <p:strVal val="visible"/>
                                      </p:to>
                                    </p:set>
                                    <p:animEffect transition="in" filter="fade">
                                      <p:cBhvr>
                                        <p:cTn id="75" dur="500"/>
                                        <p:tgtEl>
                                          <p:spTgt spid="84"/>
                                        </p:tgtEl>
                                      </p:cBhvr>
                                    </p:animEffect>
                                  </p:childTnLst>
                                </p:cTn>
                              </p:par>
                            </p:childTnLst>
                          </p:cTn>
                        </p:par>
                        <p:par>
                          <p:cTn id="76" fill="hold">
                            <p:stCondLst>
                              <p:cond delay="7000"/>
                            </p:stCondLst>
                            <p:childTnLst>
                              <p:par>
                                <p:cTn id="77" presetID="10" presetClass="entr" presetSubtype="0" fill="hold" grpId="0" nodeType="afterEffect">
                                  <p:stCondLst>
                                    <p:cond delay="0"/>
                                  </p:stCondLst>
                                  <p:childTnLst>
                                    <p:set>
                                      <p:cBhvr>
                                        <p:cTn id="78" dur="1" fill="hold">
                                          <p:stCondLst>
                                            <p:cond delay="0"/>
                                          </p:stCondLst>
                                        </p:cTn>
                                        <p:tgtEl>
                                          <p:spTgt spid="10"/>
                                        </p:tgtEl>
                                        <p:attrNameLst>
                                          <p:attrName>style.visibility</p:attrName>
                                        </p:attrNameLst>
                                      </p:cBhvr>
                                      <p:to>
                                        <p:strVal val="visible"/>
                                      </p:to>
                                    </p:set>
                                    <p:animEffect transition="in" filter="fade">
                                      <p:cBhvr>
                                        <p:cTn id="79" dur="500"/>
                                        <p:tgtEl>
                                          <p:spTgt spid="10"/>
                                        </p:tgtEl>
                                      </p:cBhvr>
                                    </p:animEffect>
                                  </p:childTnLst>
                                </p:cTn>
                              </p:par>
                            </p:childTnLst>
                          </p:cTn>
                        </p:par>
                        <p:par>
                          <p:cTn id="80" fill="hold">
                            <p:stCondLst>
                              <p:cond delay="7500"/>
                            </p:stCondLst>
                            <p:childTnLst>
                              <p:par>
                                <p:cTn id="81" presetID="26" presetClass="emph" presetSubtype="0" fill="hold" nodeType="afterEffect">
                                  <p:stCondLst>
                                    <p:cond delay="500"/>
                                  </p:stCondLst>
                                  <p:childTnLst>
                                    <p:animEffect transition="out" filter="fade">
                                      <p:cBhvr>
                                        <p:cTn id="82" dur="500" tmFilter="0, 0; .2, .5; .8, .5; 1, 0"/>
                                        <p:tgtEl>
                                          <p:spTgt spid="84"/>
                                        </p:tgtEl>
                                      </p:cBhvr>
                                    </p:animEffect>
                                    <p:animScale>
                                      <p:cBhvr>
                                        <p:cTn id="83" dur="250" autoRev="1" fill="hold"/>
                                        <p:tgtEl>
                                          <p:spTgt spid="84"/>
                                        </p:tgtEl>
                                      </p:cBhvr>
                                      <p:by x="105000" y="105000"/>
                                    </p:animScale>
                                  </p:childTnLst>
                                </p:cTn>
                              </p:par>
                            </p:childTnLst>
                          </p:cTn>
                        </p:par>
                        <p:par>
                          <p:cTn id="84" fill="hold">
                            <p:stCondLst>
                              <p:cond delay="8500"/>
                            </p:stCondLst>
                            <p:childTnLst>
                              <p:par>
                                <p:cTn id="85" presetID="22" presetClass="entr" presetSubtype="2" fill="hold" grpId="0" nodeType="afterEffect">
                                  <p:stCondLst>
                                    <p:cond delay="500"/>
                                  </p:stCondLst>
                                  <p:childTnLst>
                                    <p:set>
                                      <p:cBhvr>
                                        <p:cTn id="86" dur="1" fill="hold">
                                          <p:stCondLst>
                                            <p:cond delay="0"/>
                                          </p:stCondLst>
                                        </p:cTn>
                                        <p:tgtEl>
                                          <p:spTgt spid="308"/>
                                        </p:tgtEl>
                                        <p:attrNameLst>
                                          <p:attrName>style.visibility</p:attrName>
                                        </p:attrNameLst>
                                      </p:cBhvr>
                                      <p:to>
                                        <p:strVal val="visible"/>
                                      </p:to>
                                    </p:set>
                                    <p:animEffect transition="in" filter="wipe(right)">
                                      <p:cBhvr>
                                        <p:cTn id="87" dur="500"/>
                                        <p:tgtEl>
                                          <p:spTgt spid="308"/>
                                        </p:tgtEl>
                                      </p:cBhvr>
                                    </p:animEffect>
                                  </p:childTnLst>
                                </p:cTn>
                              </p:par>
                              <p:par>
                                <p:cTn id="88" presetID="22" presetClass="entr" presetSubtype="8" fill="hold" grpId="0" nodeType="withEffect">
                                  <p:stCondLst>
                                    <p:cond delay="500"/>
                                  </p:stCondLst>
                                  <p:childTnLst>
                                    <p:set>
                                      <p:cBhvr>
                                        <p:cTn id="89" dur="1" fill="hold">
                                          <p:stCondLst>
                                            <p:cond delay="0"/>
                                          </p:stCondLst>
                                        </p:cTn>
                                        <p:tgtEl>
                                          <p:spTgt spid="307"/>
                                        </p:tgtEl>
                                        <p:attrNameLst>
                                          <p:attrName>style.visibility</p:attrName>
                                        </p:attrNameLst>
                                      </p:cBhvr>
                                      <p:to>
                                        <p:strVal val="visible"/>
                                      </p:to>
                                    </p:set>
                                    <p:animEffect transition="in" filter="wipe(left)">
                                      <p:cBhvr>
                                        <p:cTn id="90" dur="500"/>
                                        <p:tgtEl>
                                          <p:spTgt spid="307"/>
                                        </p:tgtEl>
                                      </p:cBhvr>
                                    </p:animEffect>
                                  </p:childTnLst>
                                </p:cTn>
                              </p:par>
                            </p:childTnLst>
                          </p:cTn>
                        </p:par>
                        <p:par>
                          <p:cTn id="91" fill="hold">
                            <p:stCondLst>
                              <p:cond delay="9500"/>
                            </p:stCondLst>
                            <p:childTnLst>
                              <p:par>
                                <p:cTn id="92" presetID="10" presetClass="entr" presetSubtype="0" fill="hold" nodeType="afterEffect">
                                  <p:stCondLst>
                                    <p:cond delay="0"/>
                                  </p:stCondLst>
                                  <p:childTnLst>
                                    <p:set>
                                      <p:cBhvr>
                                        <p:cTn id="93" dur="1" fill="hold">
                                          <p:stCondLst>
                                            <p:cond delay="0"/>
                                          </p:stCondLst>
                                        </p:cTn>
                                        <p:tgtEl>
                                          <p:spTgt spid="269"/>
                                        </p:tgtEl>
                                        <p:attrNameLst>
                                          <p:attrName>style.visibility</p:attrName>
                                        </p:attrNameLst>
                                      </p:cBhvr>
                                      <p:to>
                                        <p:strVal val="visible"/>
                                      </p:to>
                                    </p:set>
                                    <p:animEffect transition="in" filter="fade">
                                      <p:cBhvr>
                                        <p:cTn id="94" dur="500"/>
                                        <p:tgtEl>
                                          <p:spTgt spid="269"/>
                                        </p:tgtEl>
                                      </p:cBhvr>
                                    </p:animEffect>
                                  </p:childTnLst>
                                </p:cTn>
                              </p:par>
                            </p:childTnLst>
                          </p:cTn>
                        </p:par>
                        <p:par>
                          <p:cTn id="95" fill="hold">
                            <p:stCondLst>
                              <p:cond delay="10000"/>
                            </p:stCondLst>
                            <p:childTnLst>
                              <p:par>
                                <p:cTn id="96" presetID="10" presetClass="entr" presetSubtype="0" fill="hold" grpId="0" nodeType="afterEffect">
                                  <p:stCondLst>
                                    <p:cond delay="500"/>
                                  </p:stCondLst>
                                  <p:childTnLst>
                                    <p:set>
                                      <p:cBhvr>
                                        <p:cTn id="97" dur="1" fill="hold">
                                          <p:stCondLst>
                                            <p:cond delay="0"/>
                                          </p:stCondLst>
                                        </p:cTn>
                                        <p:tgtEl>
                                          <p:spTgt spid="270"/>
                                        </p:tgtEl>
                                        <p:attrNameLst>
                                          <p:attrName>style.visibility</p:attrName>
                                        </p:attrNameLst>
                                      </p:cBhvr>
                                      <p:to>
                                        <p:strVal val="visible"/>
                                      </p:to>
                                    </p:set>
                                    <p:animEffect transition="in" filter="fade">
                                      <p:cBhvr>
                                        <p:cTn id="98" dur="500"/>
                                        <p:tgtEl>
                                          <p:spTgt spid="270"/>
                                        </p:tgtEl>
                                      </p:cBhvr>
                                    </p:animEffect>
                                  </p:childTnLst>
                                </p:cTn>
                              </p:par>
                              <p:par>
                                <p:cTn id="99" presetID="10" presetClass="entr" presetSubtype="0" fill="hold" grpId="0" nodeType="withEffect">
                                  <p:stCondLst>
                                    <p:cond delay="500"/>
                                  </p:stCondLst>
                                  <p:childTnLst>
                                    <p:set>
                                      <p:cBhvr>
                                        <p:cTn id="100" dur="1" fill="hold">
                                          <p:stCondLst>
                                            <p:cond delay="0"/>
                                          </p:stCondLst>
                                        </p:cTn>
                                        <p:tgtEl>
                                          <p:spTgt spid="272"/>
                                        </p:tgtEl>
                                        <p:attrNameLst>
                                          <p:attrName>style.visibility</p:attrName>
                                        </p:attrNameLst>
                                      </p:cBhvr>
                                      <p:to>
                                        <p:strVal val="visible"/>
                                      </p:to>
                                    </p:set>
                                    <p:animEffect transition="in" filter="fade">
                                      <p:cBhvr>
                                        <p:cTn id="101" dur="500"/>
                                        <p:tgtEl>
                                          <p:spTgt spid="272"/>
                                        </p:tgtEl>
                                      </p:cBhvr>
                                    </p:animEffect>
                                  </p:childTnLst>
                                </p:cTn>
                              </p:par>
                            </p:childTnLst>
                          </p:cTn>
                        </p:par>
                        <p:par>
                          <p:cTn id="102" fill="hold">
                            <p:stCondLst>
                              <p:cond delay="11000"/>
                            </p:stCondLst>
                            <p:childTnLst>
                              <p:par>
                                <p:cTn id="103" presetID="10" presetClass="entr" presetSubtype="0" fill="hold" grpId="0" nodeType="afterEffect">
                                  <p:stCondLst>
                                    <p:cond delay="0"/>
                                  </p:stCondLst>
                                  <p:childTnLst>
                                    <p:set>
                                      <p:cBhvr>
                                        <p:cTn id="104" dur="1" fill="hold">
                                          <p:stCondLst>
                                            <p:cond delay="0"/>
                                          </p:stCondLst>
                                        </p:cTn>
                                        <p:tgtEl>
                                          <p:spTgt spid="271"/>
                                        </p:tgtEl>
                                        <p:attrNameLst>
                                          <p:attrName>style.visibility</p:attrName>
                                        </p:attrNameLst>
                                      </p:cBhvr>
                                      <p:to>
                                        <p:strVal val="visible"/>
                                      </p:to>
                                    </p:set>
                                    <p:animEffect transition="in" filter="fade">
                                      <p:cBhvr>
                                        <p:cTn id="105" dur="500"/>
                                        <p:tgtEl>
                                          <p:spTgt spid="271"/>
                                        </p:tgtEl>
                                      </p:cBhvr>
                                    </p:animEffect>
                                  </p:childTnLst>
                                </p:cTn>
                              </p:par>
                            </p:childTnLst>
                          </p:cTn>
                        </p:par>
                        <p:par>
                          <p:cTn id="106" fill="hold">
                            <p:stCondLst>
                              <p:cond delay="11500"/>
                            </p:stCondLst>
                            <p:childTnLst>
                              <p:par>
                                <p:cTn id="107" presetID="26" presetClass="emph" presetSubtype="0" repeatCount="3000" fill="hold" nodeType="afterEffect">
                                  <p:stCondLst>
                                    <p:cond delay="500"/>
                                  </p:stCondLst>
                                  <p:childTnLst>
                                    <p:animEffect transition="out" filter="fade">
                                      <p:cBhvr>
                                        <p:cTn id="108" dur="500" tmFilter="0, 0; .2, .5; .8, .5; 1, 0"/>
                                        <p:tgtEl>
                                          <p:spTgt spid="269"/>
                                        </p:tgtEl>
                                      </p:cBhvr>
                                    </p:animEffect>
                                    <p:animScale>
                                      <p:cBhvr>
                                        <p:cTn id="109" dur="250" autoRev="1" fill="hold"/>
                                        <p:tgtEl>
                                          <p:spTgt spid="26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2" grpId="0"/>
      <p:bldP spid="270" grpId="0"/>
      <p:bldP spid="271" grpId="0"/>
      <p:bldP spid="272" grpId="0"/>
      <p:bldP spid="273" grpId="0"/>
      <p:bldP spid="307" grpId="0" animBg="1"/>
      <p:bldP spid="308" grpId="0" animBg="1"/>
      <p:bldP spid="9" grpId="0"/>
      <p:bldP spid="1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30CFE6-03BB-7697-2CA3-B5719C69F3B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864E68E-8FCF-1400-7B02-596D978F9145}"/>
              </a:ext>
            </a:extLst>
          </p:cNvPr>
          <p:cNvSpPr>
            <a:spLocks noGrp="1"/>
          </p:cNvSpPr>
          <p:nvPr>
            <p:ph type="title"/>
          </p:nvPr>
        </p:nvSpPr>
        <p:spPr/>
        <p:txBody>
          <a:bodyPr/>
          <a:lstStyle/>
          <a:p>
            <a:r>
              <a:rPr lang="en-US" dirty="0"/>
              <a:t>The vSAN Difference</a:t>
            </a:r>
          </a:p>
        </p:txBody>
      </p:sp>
      <p:sp>
        <p:nvSpPr>
          <p:cNvPr id="3" name="Subtitle 2">
            <a:extLst>
              <a:ext uri="{FF2B5EF4-FFF2-40B4-BE49-F238E27FC236}">
                <a16:creationId xmlns:a16="http://schemas.microsoft.com/office/drawing/2014/main" id="{47EE1F48-5C86-19A2-C7D2-BF7A4B80F3E9}"/>
              </a:ext>
            </a:extLst>
          </p:cNvPr>
          <p:cNvSpPr>
            <a:spLocks noGrp="1"/>
          </p:cNvSpPr>
          <p:nvPr>
            <p:ph type="subTitle" idx="10"/>
          </p:nvPr>
        </p:nvSpPr>
        <p:spPr/>
        <p:txBody>
          <a:bodyPr/>
          <a:lstStyle/>
          <a:p>
            <a:r>
              <a:rPr lang="en-US" dirty="0"/>
              <a:t>Scale UP and OUT for maximum agility</a:t>
            </a:r>
          </a:p>
          <a:p>
            <a:endParaRPr lang="en-US" dirty="0"/>
          </a:p>
        </p:txBody>
      </p:sp>
      <p:sp>
        <p:nvSpPr>
          <p:cNvPr id="5" name="Text Placeholder 4">
            <a:extLst>
              <a:ext uri="{FF2B5EF4-FFF2-40B4-BE49-F238E27FC236}">
                <a16:creationId xmlns:a16="http://schemas.microsoft.com/office/drawing/2014/main" id="{DF5D98C8-DBA5-AF6D-F5E1-E9F428309A15}"/>
              </a:ext>
            </a:extLst>
          </p:cNvPr>
          <p:cNvSpPr>
            <a:spLocks noGrp="1"/>
          </p:cNvSpPr>
          <p:nvPr>
            <p:ph type="body" sz="quarter" idx="17"/>
          </p:nvPr>
        </p:nvSpPr>
        <p:spPr/>
        <p:txBody>
          <a:bodyPr/>
          <a:lstStyle/>
          <a:p>
            <a:r>
              <a:rPr lang="en-US" dirty="0"/>
              <a:t>Run more VMs per host</a:t>
            </a:r>
          </a:p>
          <a:p>
            <a:r>
              <a:rPr lang="en-US" dirty="0"/>
              <a:t>Add capacity the way you want</a:t>
            </a:r>
          </a:p>
          <a:p>
            <a:r>
              <a:rPr lang="en-US" dirty="0"/>
              <a:t>Scale </a:t>
            </a:r>
            <a:r>
              <a:rPr lang="en-US" b="1" dirty="0"/>
              <a:t>UP</a:t>
            </a:r>
            <a:r>
              <a:rPr lang="en-US" dirty="0"/>
              <a:t> by adding drives</a:t>
            </a:r>
          </a:p>
          <a:p>
            <a:r>
              <a:rPr lang="en-US" dirty="0"/>
              <a:t>Scale </a:t>
            </a:r>
            <a:r>
              <a:rPr lang="en-US" b="1" dirty="0"/>
              <a:t>OUT</a:t>
            </a:r>
            <a:r>
              <a:rPr lang="en-US" dirty="0"/>
              <a:t> by adding hosts</a:t>
            </a:r>
          </a:p>
          <a:p>
            <a:r>
              <a:rPr lang="en-US" dirty="0"/>
              <a:t>Agile, cost-effective cluster designs</a:t>
            </a:r>
          </a:p>
          <a:p>
            <a:endParaRPr lang="en-US" dirty="0"/>
          </a:p>
        </p:txBody>
      </p:sp>
      <p:sp>
        <p:nvSpPr>
          <p:cNvPr id="6" name="Rectangle 5">
            <a:extLst>
              <a:ext uri="{FF2B5EF4-FFF2-40B4-BE49-F238E27FC236}">
                <a16:creationId xmlns:a16="http://schemas.microsoft.com/office/drawing/2014/main" id="{0AF4A115-7EC6-85B6-DE95-2E14F89F0360}"/>
              </a:ext>
            </a:extLst>
          </p:cNvPr>
          <p:cNvSpPr/>
          <p:nvPr/>
        </p:nvSpPr>
        <p:spPr>
          <a:xfrm>
            <a:off x="5480155" y="4342705"/>
            <a:ext cx="2483164" cy="977495"/>
          </a:xfrm>
          <a:prstGeom prst="rect">
            <a:avLst/>
          </a:prstGeom>
          <a:solidFill>
            <a:schemeClr val="accent2"/>
          </a:solidFill>
          <a:ln w="12700">
            <a:no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7" name="Rectangle 6">
            <a:extLst>
              <a:ext uri="{FF2B5EF4-FFF2-40B4-BE49-F238E27FC236}">
                <a16:creationId xmlns:a16="http://schemas.microsoft.com/office/drawing/2014/main" id="{5D5C773D-3B4B-78E4-2E62-6EEEF3D6FD3E}"/>
              </a:ext>
            </a:extLst>
          </p:cNvPr>
          <p:cNvSpPr/>
          <p:nvPr/>
        </p:nvSpPr>
        <p:spPr>
          <a:xfrm>
            <a:off x="694724" y="4342705"/>
            <a:ext cx="4785431" cy="977496"/>
          </a:xfrm>
          <a:prstGeom prst="rect">
            <a:avLst/>
          </a:prstGeom>
          <a:solidFill>
            <a:schemeClr val="accent2"/>
          </a:solidFill>
          <a:ln w="12700">
            <a:no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48C926FD-5001-1922-1084-B37A7F3EE677}"/>
              </a:ext>
            </a:extLst>
          </p:cNvPr>
          <p:cNvSpPr/>
          <p:nvPr/>
        </p:nvSpPr>
        <p:spPr>
          <a:xfrm>
            <a:off x="2279676" y="5057366"/>
            <a:ext cx="1759236" cy="234618"/>
          </a:xfrm>
          <a:prstGeom prst="rect">
            <a:avLst/>
          </a:prstGeom>
          <a:noFill/>
        </p:spPr>
        <p:txBody>
          <a:bodyPr wrap="square" lIns="0" tIns="0" rIns="0" bIns="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panose="020B0604020202020204"/>
                <a:ea typeface="+mn-ea"/>
                <a:cs typeface="+mn-cs"/>
              </a:rPr>
              <a:t>vSAN Datastore</a:t>
            </a:r>
          </a:p>
        </p:txBody>
      </p:sp>
      <p:sp>
        <p:nvSpPr>
          <p:cNvPr id="9" name="Rectangle 8">
            <a:extLst>
              <a:ext uri="{FF2B5EF4-FFF2-40B4-BE49-F238E27FC236}">
                <a16:creationId xmlns:a16="http://schemas.microsoft.com/office/drawing/2014/main" id="{B3347B67-8C4A-02BB-4063-2FF64FD26955}"/>
              </a:ext>
            </a:extLst>
          </p:cNvPr>
          <p:cNvSpPr/>
          <p:nvPr/>
        </p:nvSpPr>
        <p:spPr>
          <a:xfrm>
            <a:off x="775086" y="4417966"/>
            <a:ext cx="7107872" cy="562927"/>
          </a:xfrm>
          <a:prstGeom prst="rect">
            <a:avLst/>
          </a:prstGeom>
          <a:noFill/>
          <a:ln w="15875">
            <a:solidFill>
              <a:schemeClr val="bg1"/>
            </a:solidFill>
            <a:prstDash val="sysDot"/>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9B41FFCF-1EAD-9A2B-E1F7-049E00026FD4}"/>
              </a:ext>
            </a:extLst>
          </p:cNvPr>
          <p:cNvSpPr/>
          <p:nvPr/>
        </p:nvSpPr>
        <p:spPr>
          <a:xfrm>
            <a:off x="3860215" y="5317799"/>
            <a:ext cx="1010212"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Scale Out</a:t>
            </a:r>
          </a:p>
        </p:txBody>
      </p:sp>
      <p:cxnSp>
        <p:nvCxnSpPr>
          <p:cNvPr id="11" name="Straight Connector 10">
            <a:extLst>
              <a:ext uri="{FF2B5EF4-FFF2-40B4-BE49-F238E27FC236}">
                <a16:creationId xmlns:a16="http://schemas.microsoft.com/office/drawing/2014/main" id="{0BE9D8ED-E047-2A58-E471-CD1AF0D8588C}"/>
              </a:ext>
            </a:extLst>
          </p:cNvPr>
          <p:cNvCxnSpPr>
            <a:cxnSpLocks/>
          </p:cNvCxnSpPr>
          <p:nvPr/>
        </p:nvCxnSpPr>
        <p:spPr bwMode="gray">
          <a:xfrm>
            <a:off x="4928519" y="5471687"/>
            <a:ext cx="2999376" cy="0"/>
          </a:xfrm>
          <a:prstGeom prst="line">
            <a:avLst/>
          </a:prstGeom>
          <a:ln w="25400">
            <a:solidFill>
              <a:schemeClr val="tx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68FAE15-1438-2D6D-BD28-C30A9E2A7BD6}"/>
              </a:ext>
            </a:extLst>
          </p:cNvPr>
          <p:cNvCxnSpPr>
            <a:cxnSpLocks/>
          </p:cNvCxnSpPr>
          <p:nvPr/>
        </p:nvCxnSpPr>
        <p:spPr bwMode="gray">
          <a:xfrm flipV="1">
            <a:off x="508268" y="3822485"/>
            <a:ext cx="0" cy="276141"/>
          </a:xfrm>
          <a:prstGeom prst="line">
            <a:avLst/>
          </a:prstGeom>
          <a:ln w="25400">
            <a:solidFill>
              <a:schemeClr val="tx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BEDA13A-277A-C0E0-1195-FF84F12B8D57}"/>
              </a:ext>
            </a:extLst>
          </p:cNvPr>
          <p:cNvCxnSpPr>
            <a:cxnSpLocks/>
          </p:cNvCxnSpPr>
          <p:nvPr/>
        </p:nvCxnSpPr>
        <p:spPr bwMode="gray">
          <a:xfrm>
            <a:off x="508269" y="5081990"/>
            <a:ext cx="0" cy="238211"/>
          </a:xfrm>
          <a:prstGeom prst="line">
            <a:avLst/>
          </a:prstGeom>
          <a:ln w="25400">
            <a:solidFill>
              <a:schemeClr val="tx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A859588-9C0D-7E19-50CB-4DD6CD4664DA}"/>
              </a:ext>
            </a:extLst>
          </p:cNvPr>
          <p:cNvCxnSpPr>
            <a:cxnSpLocks/>
            <a:stCxn id="10" idx="1"/>
          </p:cNvCxnSpPr>
          <p:nvPr/>
        </p:nvCxnSpPr>
        <p:spPr bwMode="gray">
          <a:xfrm flipH="1">
            <a:off x="681857" y="5471688"/>
            <a:ext cx="3178358" cy="0"/>
          </a:xfrm>
          <a:prstGeom prst="line">
            <a:avLst/>
          </a:prstGeom>
          <a:ln w="25400">
            <a:solidFill>
              <a:schemeClr val="tx2"/>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4272BC92-F231-E2E6-410C-BC1F678A392D}"/>
              </a:ext>
            </a:extLst>
          </p:cNvPr>
          <p:cNvSpPr/>
          <p:nvPr/>
        </p:nvSpPr>
        <p:spPr>
          <a:xfrm rot="16200000">
            <a:off x="-16120" y="4436420"/>
            <a:ext cx="103192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Scale Up</a:t>
            </a:r>
          </a:p>
        </p:txBody>
      </p:sp>
      <p:grpSp>
        <p:nvGrpSpPr>
          <p:cNvPr id="16" name="Group 15">
            <a:extLst>
              <a:ext uri="{FF2B5EF4-FFF2-40B4-BE49-F238E27FC236}">
                <a16:creationId xmlns:a16="http://schemas.microsoft.com/office/drawing/2014/main" id="{4D683BB2-5405-2C2F-0095-E873614F686F}"/>
              </a:ext>
            </a:extLst>
          </p:cNvPr>
          <p:cNvGrpSpPr/>
          <p:nvPr/>
        </p:nvGrpSpPr>
        <p:grpSpPr>
          <a:xfrm>
            <a:off x="694724" y="1943826"/>
            <a:ext cx="2302559" cy="387473"/>
            <a:chOff x="429682" y="1440738"/>
            <a:chExt cx="2302559" cy="387473"/>
          </a:xfrm>
          <a:solidFill>
            <a:srgbClr val="EC7700"/>
          </a:solidFill>
        </p:grpSpPr>
        <p:pic>
          <p:nvPicPr>
            <p:cNvPr id="17" name="Graphic 16">
              <a:extLst>
                <a:ext uri="{FF2B5EF4-FFF2-40B4-BE49-F238E27FC236}">
                  <a16:creationId xmlns:a16="http://schemas.microsoft.com/office/drawing/2014/main" id="{46BA8813-AB3C-FA16-2F90-68A5E92E72B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18" name="Graphic 17">
              <a:extLst>
                <a:ext uri="{FF2B5EF4-FFF2-40B4-BE49-F238E27FC236}">
                  <a16:creationId xmlns:a16="http://schemas.microsoft.com/office/drawing/2014/main" id="{3B7AC7CB-4CE6-1A9E-A3C4-7569E58773E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19" name="Graphic 18">
              <a:extLst>
                <a:ext uri="{FF2B5EF4-FFF2-40B4-BE49-F238E27FC236}">
                  <a16:creationId xmlns:a16="http://schemas.microsoft.com/office/drawing/2014/main" id="{9513AA7F-52A1-D16E-EBFE-2A1E8349035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20" name="Graphic 19">
              <a:extLst>
                <a:ext uri="{FF2B5EF4-FFF2-40B4-BE49-F238E27FC236}">
                  <a16:creationId xmlns:a16="http://schemas.microsoft.com/office/drawing/2014/main" id="{CC0D8D92-F758-EA92-ADD9-B1AE8CB36BA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21" name="Graphic 20">
              <a:extLst>
                <a:ext uri="{FF2B5EF4-FFF2-40B4-BE49-F238E27FC236}">
                  <a16:creationId xmlns:a16="http://schemas.microsoft.com/office/drawing/2014/main" id="{7275B990-9BEA-B290-3EB4-F57389B3742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22" name="Group 21">
            <a:extLst>
              <a:ext uri="{FF2B5EF4-FFF2-40B4-BE49-F238E27FC236}">
                <a16:creationId xmlns:a16="http://schemas.microsoft.com/office/drawing/2014/main" id="{2F2B02D5-86E2-ECCA-EC18-78AA7196D3B9}"/>
              </a:ext>
            </a:extLst>
          </p:cNvPr>
          <p:cNvGrpSpPr/>
          <p:nvPr/>
        </p:nvGrpSpPr>
        <p:grpSpPr>
          <a:xfrm>
            <a:off x="694724" y="2390991"/>
            <a:ext cx="2302559" cy="387473"/>
            <a:chOff x="429682" y="1440738"/>
            <a:chExt cx="2302559" cy="387473"/>
          </a:xfrm>
          <a:solidFill>
            <a:srgbClr val="EC7700"/>
          </a:solidFill>
        </p:grpSpPr>
        <p:pic>
          <p:nvPicPr>
            <p:cNvPr id="23" name="Graphic 22">
              <a:extLst>
                <a:ext uri="{FF2B5EF4-FFF2-40B4-BE49-F238E27FC236}">
                  <a16:creationId xmlns:a16="http://schemas.microsoft.com/office/drawing/2014/main" id="{F683E8E8-800B-88F9-4540-80E61751222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24" name="Graphic 23">
              <a:extLst>
                <a:ext uri="{FF2B5EF4-FFF2-40B4-BE49-F238E27FC236}">
                  <a16:creationId xmlns:a16="http://schemas.microsoft.com/office/drawing/2014/main" id="{0E025BC9-2B9D-DF63-F37C-34FF6034EA66}"/>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25" name="Graphic 24">
              <a:extLst>
                <a:ext uri="{FF2B5EF4-FFF2-40B4-BE49-F238E27FC236}">
                  <a16:creationId xmlns:a16="http://schemas.microsoft.com/office/drawing/2014/main" id="{FDD68780-4579-1AA7-88BE-00ECEC80BAF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26" name="Graphic 25">
              <a:extLst>
                <a:ext uri="{FF2B5EF4-FFF2-40B4-BE49-F238E27FC236}">
                  <a16:creationId xmlns:a16="http://schemas.microsoft.com/office/drawing/2014/main" id="{D6CC08DD-1A46-754B-E565-1DD7E5B9F25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27" name="Graphic 26">
              <a:extLst>
                <a:ext uri="{FF2B5EF4-FFF2-40B4-BE49-F238E27FC236}">
                  <a16:creationId xmlns:a16="http://schemas.microsoft.com/office/drawing/2014/main" id="{F7890328-5A7F-F569-5E8E-99FAA8B6BBB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28" name="Group 27">
            <a:extLst>
              <a:ext uri="{FF2B5EF4-FFF2-40B4-BE49-F238E27FC236}">
                <a16:creationId xmlns:a16="http://schemas.microsoft.com/office/drawing/2014/main" id="{FDF02332-C224-E595-231D-AC2D8670AD61}"/>
              </a:ext>
            </a:extLst>
          </p:cNvPr>
          <p:cNvGrpSpPr/>
          <p:nvPr/>
        </p:nvGrpSpPr>
        <p:grpSpPr>
          <a:xfrm>
            <a:off x="694724" y="2838156"/>
            <a:ext cx="2302559" cy="387473"/>
            <a:chOff x="429682" y="1440738"/>
            <a:chExt cx="2302559" cy="387473"/>
          </a:xfrm>
          <a:solidFill>
            <a:schemeClr val="accent3"/>
          </a:solidFill>
        </p:grpSpPr>
        <p:pic>
          <p:nvPicPr>
            <p:cNvPr id="29" name="Graphic 28">
              <a:extLst>
                <a:ext uri="{FF2B5EF4-FFF2-40B4-BE49-F238E27FC236}">
                  <a16:creationId xmlns:a16="http://schemas.microsoft.com/office/drawing/2014/main" id="{94B3A08E-1081-5995-DC92-E266AC4D28B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9682" y="1440738"/>
              <a:ext cx="387473" cy="387473"/>
            </a:xfrm>
            <a:prstGeom prst="rect">
              <a:avLst/>
            </a:prstGeom>
          </p:spPr>
        </p:pic>
        <p:pic>
          <p:nvPicPr>
            <p:cNvPr id="30" name="Graphic 29">
              <a:extLst>
                <a:ext uri="{FF2B5EF4-FFF2-40B4-BE49-F238E27FC236}">
                  <a16:creationId xmlns:a16="http://schemas.microsoft.com/office/drawing/2014/main" id="{93E0F1A9-A6DE-331D-99A3-1AAA2DAD769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08453" y="1440738"/>
              <a:ext cx="387473" cy="387473"/>
            </a:xfrm>
            <a:prstGeom prst="rect">
              <a:avLst/>
            </a:prstGeom>
          </p:spPr>
        </p:pic>
        <p:pic>
          <p:nvPicPr>
            <p:cNvPr id="31" name="Graphic 30">
              <a:extLst>
                <a:ext uri="{FF2B5EF4-FFF2-40B4-BE49-F238E27FC236}">
                  <a16:creationId xmlns:a16="http://schemas.microsoft.com/office/drawing/2014/main" id="{C2F6C8F3-F8CB-C69F-BCAE-E2013E5315D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387225" y="1440738"/>
              <a:ext cx="387473" cy="387473"/>
            </a:xfrm>
            <a:prstGeom prst="rect">
              <a:avLst/>
            </a:prstGeom>
          </p:spPr>
        </p:pic>
        <p:pic>
          <p:nvPicPr>
            <p:cNvPr id="32" name="Graphic 31">
              <a:extLst>
                <a:ext uri="{FF2B5EF4-FFF2-40B4-BE49-F238E27FC236}">
                  <a16:creationId xmlns:a16="http://schemas.microsoft.com/office/drawing/2014/main" id="{9D90953D-2FC8-13EC-47B7-A911D052EEA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65997" y="1440738"/>
              <a:ext cx="387473" cy="387473"/>
            </a:xfrm>
            <a:prstGeom prst="rect">
              <a:avLst/>
            </a:prstGeom>
          </p:spPr>
        </p:pic>
        <p:pic>
          <p:nvPicPr>
            <p:cNvPr id="33" name="Graphic 32">
              <a:extLst>
                <a:ext uri="{FF2B5EF4-FFF2-40B4-BE49-F238E27FC236}">
                  <a16:creationId xmlns:a16="http://schemas.microsoft.com/office/drawing/2014/main" id="{F425B820-7259-E8FF-B76A-B8C4C3D77DB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344768" y="1440738"/>
              <a:ext cx="387473" cy="387473"/>
            </a:xfrm>
            <a:prstGeom prst="rect">
              <a:avLst/>
            </a:prstGeom>
          </p:spPr>
        </p:pic>
      </p:grpSp>
      <p:grpSp>
        <p:nvGrpSpPr>
          <p:cNvPr id="34" name="Group 33">
            <a:extLst>
              <a:ext uri="{FF2B5EF4-FFF2-40B4-BE49-F238E27FC236}">
                <a16:creationId xmlns:a16="http://schemas.microsoft.com/office/drawing/2014/main" id="{FB250F35-96B2-10F4-18BF-7FD24470959F}"/>
              </a:ext>
            </a:extLst>
          </p:cNvPr>
          <p:cNvGrpSpPr/>
          <p:nvPr/>
        </p:nvGrpSpPr>
        <p:grpSpPr>
          <a:xfrm>
            <a:off x="694724" y="3285322"/>
            <a:ext cx="2302559" cy="387473"/>
            <a:chOff x="429682" y="1440738"/>
            <a:chExt cx="2302559" cy="387473"/>
          </a:xfrm>
          <a:solidFill>
            <a:schemeClr val="accent3"/>
          </a:solidFill>
        </p:grpSpPr>
        <p:pic>
          <p:nvPicPr>
            <p:cNvPr id="35" name="Graphic 34">
              <a:extLst>
                <a:ext uri="{FF2B5EF4-FFF2-40B4-BE49-F238E27FC236}">
                  <a16:creationId xmlns:a16="http://schemas.microsoft.com/office/drawing/2014/main" id="{4AE4E85A-4665-4F82-7CD6-2480AF2DC3F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9682" y="1440738"/>
              <a:ext cx="387473" cy="387473"/>
            </a:xfrm>
            <a:prstGeom prst="rect">
              <a:avLst/>
            </a:prstGeom>
          </p:spPr>
        </p:pic>
        <p:pic>
          <p:nvPicPr>
            <p:cNvPr id="36" name="Graphic 35">
              <a:extLst>
                <a:ext uri="{FF2B5EF4-FFF2-40B4-BE49-F238E27FC236}">
                  <a16:creationId xmlns:a16="http://schemas.microsoft.com/office/drawing/2014/main" id="{B85AA8A5-4E3B-9732-E21D-50799368D41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08453" y="1440738"/>
              <a:ext cx="387473" cy="387473"/>
            </a:xfrm>
            <a:prstGeom prst="rect">
              <a:avLst/>
            </a:prstGeom>
          </p:spPr>
        </p:pic>
        <p:pic>
          <p:nvPicPr>
            <p:cNvPr id="37" name="Graphic 36">
              <a:extLst>
                <a:ext uri="{FF2B5EF4-FFF2-40B4-BE49-F238E27FC236}">
                  <a16:creationId xmlns:a16="http://schemas.microsoft.com/office/drawing/2014/main" id="{63F1916F-2D38-7C9F-9718-0B406F9A7F2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387225" y="1440738"/>
              <a:ext cx="387473" cy="387473"/>
            </a:xfrm>
            <a:prstGeom prst="rect">
              <a:avLst/>
            </a:prstGeom>
          </p:spPr>
        </p:pic>
        <p:pic>
          <p:nvPicPr>
            <p:cNvPr id="38" name="Graphic 37">
              <a:extLst>
                <a:ext uri="{FF2B5EF4-FFF2-40B4-BE49-F238E27FC236}">
                  <a16:creationId xmlns:a16="http://schemas.microsoft.com/office/drawing/2014/main" id="{61337E82-509D-743B-1B47-F7ECAE7B03F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65997" y="1440738"/>
              <a:ext cx="387473" cy="387473"/>
            </a:xfrm>
            <a:prstGeom prst="rect">
              <a:avLst/>
            </a:prstGeom>
          </p:spPr>
        </p:pic>
        <p:pic>
          <p:nvPicPr>
            <p:cNvPr id="39" name="Graphic 38">
              <a:extLst>
                <a:ext uri="{FF2B5EF4-FFF2-40B4-BE49-F238E27FC236}">
                  <a16:creationId xmlns:a16="http://schemas.microsoft.com/office/drawing/2014/main" id="{7CE6029F-4F76-528E-F321-61B93BE2798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344768" y="1440738"/>
              <a:ext cx="387473" cy="387473"/>
            </a:xfrm>
            <a:prstGeom prst="rect">
              <a:avLst/>
            </a:prstGeom>
          </p:spPr>
        </p:pic>
      </p:grpSp>
      <p:grpSp>
        <p:nvGrpSpPr>
          <p:cNvPr id="40" name="Group 39">
            <a:extLst>
              <a:ext uri="{FF2B5EF4-FFF2-40B4-BE49-F238E27FC236}">
                <a16:creationId xmlns:a16="http://schemas.microsoft.com/office/drawing/2014/main" id="{40CE2023-8AC1-5D04-784D-DD7B56319021}"/>
              </a:ext>
            </a:extLst>
          </p:cNvPr>
          <p:cNvGrpSpPr/>
          <p:nvPr/>
        </p:nvGrpSpPr>
        <p:grpSpPr>
          <a:xfrm>
            <a:off x="3192202" y="1943826"/>
            <a:ext cx="2302559" cy="387473"/>
            <a:chOff x="429682" y="1440738"/>
            <a:chExt cx="2302559" cy="387473"/>
          </a:xfrm>
          <a:solidFill>
            <a:srgbClr val="EC7700"/>
          </a:solidFill>
        </p:grpSpPr>
        <p:pic>
          <p:nvPicPr>
            <p:cNvPr id="41" name="Graphic 40">
              <a:extLst>
                <a:ext uri="{FF2B5EF4-FFF2-40B4-BE49-F238E27FC236}">
                  <a16:creationId xmlns:a16="http://schemas.microsoft.com/office/drawing/2014/main" id="{D650ED53-DD89-F89E-8285-8B1DF68003D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42" name="Graphic 41">
              <a:extLst>
                <a:ext uri="{FF2B5EF4-FFF2-40B4-BE49-F238E27FC236}">
                  <a16:creationId xmlns:a16="http://schemas.microsoft.com/office/drawing/2014/main" id="{255B677F-3572-1A5F-72D9-DF9445DFDBF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43" name="Graphic 42">
              <a:extLst>
                <a:ext uri="{FF2B5EF4-FFF2-40B4-BE49-F238E27FC236}">
                  <a16:creationId xmlns:a16="http://schemas.microsoft.com/office/drawing/2014/main" id="{721BA337-1EBD-FE89-C85A-B57CCD9C05D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44" name="Graphic 43">
              <a:extLst>
                <a:ext uri="{FF2B5EF4-FFF2-40B4-BE49-F238E27FC236}">
                  <a16:creationId xmlns:a16="http://schemas.microsoft.com/office/drawing/2014/main" id="{167DCD59-71A2-8C7F-BB77-7480414B81B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45" name="Graphic 44">
              <a:extLst>
                <a:ext uri="{FF2B5EF4-FFF2-40B4-BE49-F238E27FC236}">
                  <a16:creationId xmlns:a16="http://schemas.microsoft.com/office/drawing/2014/main" id="{FD655765-D9A1-B154-F78F-9CE9D0F221D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46" name="Group 45">
            <a:extLst>
              <a:ext uri="{FF2B5EF4-FFF2-40B4-BE49-F238E27FC236}">
                <a16:creationId xmlns:a16="http://schemas.microsoft.com/office/drawing/2014/main" id="{0BE30D6C-60C1-5A9F-D10D-2BDE400A00EB}"/>
              </a:ext>
            </a:extLst>
          </p:cNvPr>
          <p:cNvGrpSpPr/>
          <p:nvPr/>
        </p:nvGrpSpPr>
        <p:grpSpPr>
          <a:xfrm>
            <a:off x="3192202" y="2390991"/>
            <a:ext cx="2302559" cy="387473"/>
            <a:chOff x="429682" y="1440738"/>
            <a:chExt cx="2302559" cy="387473"/>
          </a:xfrm>
          <a:solidFill>
            <a:srgbClr val="EC7700"/>
          </a:solidFill>
        </p:grpSpPr>
        <p:pic>
          <p:nvPicPr>
            <p:cNvPr id="47" name="Graphic 46">
              <a:extLst>
                <a:ext uri="{FF2B5EF4-FFF2-40B4-BE49-F238E27FC236}">
                  <a16:creationId xmlns:a16="http://schemas.microsoft.com/office/drawing/2014/main" id="{395D74EC-AF8C-7D10-4E76-C1E93218AB9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48" name="Graphic 47">
              <a:extLst>
                <a:ext uri="{FF2B5EF4-FFF2-40B4-BE49-F238E27FC236}">
                  <a16:creationId xmlns:a16="http://schemas.microsoft.com/office/drawing/2014/main" id="{7295D617-913A-ED85-0545-0669D4A97C7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49" name="Graphic 48">
              <a:extLst>
                <a:ext uri="{FF2B5EF4-FFF2-40B4-BE49-F238E27FC236}">
                  <a16:creationId xmlns:a16="http://schemas.microsoft.com/office/drawing/2014/main" id="{57B4DC99-DF62-0B3F-1A86-85F39FCDF38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50" name="Graphic 49">
              <a:extLst>
                <a:ext uri="{FF2B5EF4-FFF2-40B4-BE49-F238E27FC236}">
                  <a16:creationId xmlns:a16="http://schemas.microsoft.com/office/drawing/2014/main" id="{307F0C2B-F5C9-E1FE-E01F-5978D58AE9D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51" name="Graphic 50">
              <a:extLst>
                <a:ext uri="{FF2B5EF4-FFF2-40B4-BE49-F238E27FC236}">
                  <a16:creationId xmlns:a16="http://schemas.microsoft.com/office/drawing/2014/main" id="{953D1A6F-0981-8433-B01C-27DBA982024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52" name="Group 51">
            <a:extLst>
              <a:ext uri="{FF2B5EF4-FFF2-40B4-BE49-F238E27FC236}">
                <a16:creationId xmlns:a16="http://schemas.microsoft.com/office/drawing/2014/main" id="{4576CFFB-9119-4969-4F0B-4464DB2631D1}"/>
              </a:ext>
            </a:extLst>
          </p:cNvPr>
          <p:cNvGrpSpPr/>
          <p:nvPr/>
        </p:nvGrpSpPr>
        <p:grpSpPr>
          <a:xfrm>
            <a:off x="3192202" y="2838156"/>
            <a:ext cx="2302559" cy="387473"/>
            <a:chOff x="429682" y="1440738"/>
            <a:chExt cx="2302559" cy="387473"/>
          </a:xfrm>
          <a:solidFill>
            <a:schemeClr val="accent3"/>
          </a:solidFill>
        </p:grpSpPr>
        <p:pic>
          <p:nvPicPr>
            <p:cNvPr id="53" name="Graphic 52">
              <a:extLst>
                <a:ext uri="{FF2B5EF4-FFF2-40B4-BE49-F238E27FC236}">
                  <a16:creationId xmlns:a16="http://schemas.microsoft.com/office/drawing/2014/main" id="{8EB7294C-DFC7-44F4-798E-25FB4696E7B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9682" y="1440738"/>
              <a:ext cx="387473" cy="387473"/>
            </a:xfrm>
            <a:prstGeom prst="rect">
              <a:avLst/>
            </a:prstGeom>
          </p:spPr>
        </p:pic>
        <p:pic>
          <p:nvPicPr>
            <p:cNvPr id="54" name="Graphic 53">
              <a:extLst>
                <a:ext uri="{FF2B5EF4-FFF2-40B4-BE49-F238E27FC236}">
                  <a16:creationId xmlns:a16="http://schemas.microsoft.com/office/drawing/2014/main" id="{95853D16-C204-364A-64C2-D0BD29D3B8D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08453" y="1440738"/>
              <a:ext cx="387473" cy="387473"/>
            </a:xfrm>
            <a:prstGeom prst="rect">
              <a:avLst/>
            </a:prstGeom>
          </p:spPr>
        </p:pic>
        <p:pic>
          <p:nvPicPr>
            <p:cNvPr id="55" name="Graphic 54">
              <a:extLst>
                <a:ext uri="{FF2B5EF4-FFF2-40B4-BE49-F238E27FC236}">
                  <a16:creationId xmlns:a16="http://schemas.microsoft.com/office/drawing/2014/main" id="{843D38FE-9B57-09DB-6667-1745D64D75C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387225" y="1440738"/>
              <a:ext cx="387473" cy="387473"/>
            </a:xfrm>
            <a:prstGeom prst="rect">
              <a:avLst/>
            </a:prstGeom>
          </p:spPr>
        </p:pic>
        <p:pic>
          <p:nvPicPr>
            <p:cNvPr id="56" name="Graphic 55">
              <a:extLst>
                <a:ext uri="{FF2B5EF4-FFF2-40B4-BE49-F238E27FC236}">
                  <a16:creationId xmlns:a16="http://schemas.microsoft.com/office/drawing/2014/main" id="{CC4551DF-0CB0-478E-51BE-F59693CD30D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65997" y="1440738"/>
              <a:ext cx="387473" cy="387473"/>
            </a:xfrm>
            <a:prstGeom prst="rect">
              <a:avLst/>
            </a:prstGeom>
          </p:spPr>
        </p:pic>
        <p:pic>
          <p:nvPicPr>
            <p:cNvPr id="57" name="Graphic 56">
              <a:extLst>
                <a:ext uri="{FF2B5EF4-FFF2-40B4-BE49-F238E27FC236}">
                  <a16:creationId xmlns:a16="http://schemas.microsoft.com/office/drawing/2014/main" id="{3E9DC743-40DD-5825-13CF-5A64844F4ED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344768" y="1440738"/>
              <a:ext cx="387473" cy="387473"/>
            </a:xfrm>
            <a:prstGeom prst="rect">
              <a:avLst/>
            </a:prstGeom>
          </p:spPr>
        </p:pic>
      </p:grpSp>
      <p:grpSp>
        <p:nvGrpSpPr>
          <p:cNvPr id="58" name="Group 57">
            <a:extLst>
              <a:ext uri="{FF2B5EF4-FFF2-40B4-BE49-F238E27FC236}">
                <a16:creationId xmlns:a16="http://schemas.microsoft.com/office/drawing/2014/main" id="{22900C4B-8EB7-B18C-C19B-0FAE6AD515F0}"/>
              </a:ext>
            </a:extLst>
          </p:cNvPr>
          <p:cNvGrpSpPr/>
          <p:nvPr/>
        </p:nvGrpSpPr>
        <p:grpSpPr>
          <a:xfrm>
            <a:off x="3192202" y="3285322"/>
            <a:ext cx="2302559" cy="387473"/>
            <a:chOff x="429682" y="1440738"/>
            <a:chExt cx="2302559" cy="387473"/>
          </a:xfrm>
          <a:solidFill>
            <a:schemeClr val="accent3"/>
          </a:solidFill>
        </p:grpSpPr>
        <p:pic>
          <p:nvPicPr>
            <p:cNvPr id="59" name="Graphic 58">
              <a:extLst>
                <a:ext uri="{FF2B5EF4-FFF2-40B4-BE49-F238E27FC236}">
                  <a16:creationId xmlns:a16="http://schemas.microsoft.com/office/drawing/2014/main" id="{46D0CE74-7C75-E7CF-D58D-D941692B776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9682" y="1440738"/>
              <a:ext cx="387473" cy="387473"/>
            </a:xfrm>
            <a:prstGeom prst="rect">
              <a:avLst/>
            </a:prstGeom>
          </p:spPr>
        </p:pic>
        <p:pic>
          <p:nvPicPr>
            <p:cNvPr id="60" name="Graphic 59">
              <a:extLst>
                <a:ext uri="{FF2B5EF4-FFF2-40B4-BE49-F238E27FC236}">
                  <a16:creationId xmlns:a16="http://schemas.microsoft.com/office/drawing/2014/main" id="{077F4E6C-844A-4A09-E9CB-82C21E0C4B6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08453" y="1440738"/>
              <a:ext cx="387473" cy="387473"/>
            </a:xfrm>
            <a:prstGeom prst="rect">
              <a:avLst/>
            </a:prstGeom>
          </p:spPr>
        </p:pic>
        <p:pic>
          <p:nvPicPr>
            <p:cNvPr id="61" name="Graphic 60">
              <a:extLst>
                <a:ext uri="{FF2B5EF4-FFF2-40B4-BE49-F238E27FC236}">
                  <a16:creationId xmlns:a16="http://schemas.microsoft.com/office/drawing/2014/main" id="{49AE70A6-8335-510D-3267-4CB67DDBF93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387225" y="1440738"/>
              <a:ext cx="387473" cy="387473"/>
            </a:xfrm>
            <a:prstGeom prst="rect">
              <a:avLst/>
            </a:prstGeom>
          </p:spPr>
        </p:pic>
        <p:pic>
          <p:nvPicPr>
            <p:cNvPr id="62" name="Graphic 61">
              <a:extLst>
                <a:ext uri="{FF2B5EF4-FFF2-40B4-BE49-F238E27FC236}">
                  <a16:creationId xmlns:a16="http://schemas.microsoft.com/office/drawing/2014/main" id="{AF8F99C7-6BB7-1582-AE0C-647FE1D5895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65997" y="1440738"/>
              <a:ext cx="387473" cy="387473"/>
            </a:xfrm>
            <a:prstGeom prst="rect">
              <a:avLst/>
            </a:prstGeom>
          </p:spPr>
        </p:pic>
        <p:pic>
          <p:nvPicPr>
            <p:cNvPr id="63" name="Graphic 62">
              <a:extLst>
                <a:ext uri="{FF2B5EF4-FFF2-40B4-BE49-F238E27FC236}">
                  <a16:creationId xmlns:a16="http://schemas.microsoft.com/office/drawing/2014/main" id="{0B91164F-C951-4613-64D3-DFEB2095F28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344768" y="1440738"/>
              <a:ext cx="387473" cy="387473"/>
            </a:xfrm>
            <a:prstGeom prst="rect">
              <a:avLst/>
            </a:prstGeom>
          </p:spPr>
        </p:pic>
      </p:grpSp>
      <p:grpSp>
        <p:nvGrpSpPr>
          <p:cNvPr id="64" name="Group 63">
            <a:extLst>
              <a:ext uri="{FF2B5EF4-FFF2-40B4-BE49-F238E27FC236}">
                <a16:creationId xmlns:a16="http://schemas.microsoft.com/office/drawing/2014/main" id="{F6C67297-76BA-FE9C-C239-FE0A33DF8BC5}"/>
              </a:ext>
            </a:extLst>
          </p:cNvPr>
          <p:cNvGrpSpPr/>
          <p:nvPr/>
        </p:nvGrpSpPr>
        <p:grpSpPr>
          <a:xfrm>
            <a:off x="5663465" y="1943826"/>
            <a:ext cx="2302559" cy="1728969"/>
            <a:chOff x="429682" y="1943826"/>
            <a:chExt cx="2302559" cy="1728969"/>
          </a:xfrm>
          <a:solidFill>
            <a:srgbClr val="EC7700"/>
          </a:solidFill>
        </p:grpSpPr>
        <p:grpSp>
          <p:nvGrpSpPr>
            <p:cNvPr id="65" name="Group 64">
              <a:extLst>
                <a:ext uri="{FF2B5EF4-FFF2-40B4-BE49-F238E27FC236}">
                  <a16:creationId xmlns:a16="http://schemas.microsoft.com/office/drawing/2014/main" id="{268736FC-A3D6-2B86-AF49-E5C5B7F56225}"/>
                </a:ext>
              </a:extLst>
            </p:cNvPr>
            <p:cNvGrpSpPr/>
            <p:nvPr/>
          </p:nvGrpSpPr>
          <p:grpSpPr>
            <a:xfrm>
              <a:off x="429682" y="1943826"/>
              <a:ext cx="2302559" cy="387473"/>
              <a:chOff x="429682" y="1440738"/>
              <a:chExt cx="2302559" cy="387473"/>
            </a:xfrm>
            <a:grpFill/>
          </p:grpSpPr>
          <p:pic>
            <p:nvPicPr>
              <p:cNvPr id="84" name="Graphic 83">
                <a:extLst>
                  <a:ext uri="{FF2B5EF4-FFF2-40B4-BE49-F238E27FC236}">
                    <a16:creationId xmlns:a16="http://schemas.microsoft.com/office/drawing/2014/main" id="{8F5D2801-D237-4BD9-8837-4CBC58C7C69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85" name="Graphic 84">
                <a:extLst>
                  <a:ext uri="{FF2B5EF4-FFF2-40B4-BE49-F238E27FC236}">
                    <a16:creationId xmlns:a16="http://schemas.microsoft.com/office/drawing/2014/main" id="{B83CC8AA-1BA2-895F-D491-25852355901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86" name="Graphic 85">
                <a:extLst>
                  <a:ext uri="{FF2B5EF4-FFF2-40B4-BE49-F238E27FC236}">
                    <a16:creationId xmlns:a16="http://schemas.microsoft.com/office/drawing/2014/main" id="{BF5E8D1A-F13C-646D-1867-1703D84FE8E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87" name="Graphic 86">
                <a:extLst>
                  <a:ext uri="{FF2B5EF4-FFF2-40B4-BE49-F238E27FC236}">
                    <a16:creationId xmlns:a16="http://schemas.microsoft.com/office/drawing/2014/main" id="{5702F317-DF1E-A732-4603-75A3FB86C10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88" name="Graphic 87">
                <a:extLst>
                  <a:ext uri="{FF2B5EF4-FFF2-40B4-BE49-F238E27FC236}">
                    <a16:creationId xmlns:a16="http://schemas.microsoft.com/office/drawing/2014/main" id="{9FED5EC3-3FE4-C575-6936-2D5D960BA82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66" name="Group 65">
              <a:extLst>
                <a:ext uri="{FF2B5EF4-FFF2-40B4-BE49-F238E27FC236}">
                  <a16:creationId xmlns:a16="http://schemas.microsoft.com/office/drawing/2014/main" id="{E7CB4176-9E16-F4B8-6C98-B8959DD4A42B}"/>
                </a:ext>
              </a:extLst>
            </p:cNvPr>
            <p:cNvGrpSpPr/>
            <p:nvPr/>
          </p:nvGrpSpPr>
          <p:grpSpPr>
            <a:xfrm>
              <a:off x="429682" y="2390991"/>
              <a:ext cx="2302559" cy="387473"/>
              <a:chOff x="429682" y="1440738"/>
              <a:chExt cx="2302559" cy="387473"/>
            </a:xfrm>
            <a:grpFill/>
          </p:grpSpPr>
          <p:pic>
            <p:nvPicPr>
              <p:cNvPr id="79" name="Graphic 78">
                <a:extLst>
                  <a:ext uri="{FF2B5EF4-FFF2-40B4-BE49-F238E27FC236}">
                    <a16:creationId xmlns:a16="http://schemas.microsoft.com/office/drawing/2014/main" id="{323671F0-52F7-E668-CECE-A6E6CE352E4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80" name="Graphic 79">
                <a:extLst>
                  <a:ext uri="{FF2B5EF4-FFF2-40B4-BE49-F238E27FC236}">
                    <a16:creationId xmlns:a16="http://schemas.microsoft.com/office/drawing/2014/main" id="{371C7773-F741-A255-6E13-ED05133D97A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81" name="Graphic 80">
                <a:extLst>
                  <a:ext uri="{FF2B5EF4-FFF2-40B4-BE49-F238E27FC236}">
                    <a16:creationId xmlns:a16="http://schemas.microsoft.com/office/drawing/2014/main" id="{572DFD35-71EB-DBEA-CE47-AE15D03842A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82" name="Graphic 81">
                <a:extLst>
                  <a:ext uri="{FF2B5EF4-FFF2-40B4-BE49-F238E27FC236}">
                    <a16:creationId xmlns:a16="http://schemas.microsoft.com/office/drawing/2014/main" id="{70789D39-E191-DB7D-4B76-504F8676AF7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83" name="Graphic 82">
                <a:extLst>
                  <a:ext uri="{FF2B5EF4-FFF2-40B4-BE49-F238E27FC236}">
                    <a16:creationId xmlns:a16="http://schemas.microsoft.com/office/drawing/2014/main" id="{366167DA-FC81-FADB-297D-12AF1B8E6D7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67" name="Group 66">
              <a:extLst>
                <a:ext uri="{FF2B5EF4-FFF2-40B4-BE49-F238E27FC236}">
                  <a16:creationId xmlns:a16="http://schemas.microsoft.com/office/drawing/2014/main" id="{161721EC-1238-875B-2759-856DC4A1D552}"/>
                </a:ext>
              </a:extLst>
            </p:cNvPr>
            <p:cNvGrpSpPr/>
            <p:nvPr/>
          </p:nvGrpSpPr>
          <p:grpSpPr>
            <a:xfrm>
              <a:off x="429682" y="2838156"/>
              <a:ext cx="2302559" cy="387473"/>
              <a:chOff x="429682" y="1440738"/>
              <a:chExt cx="2302559" cy="387473"/>
            </a:xfrm>
            <a:grpFill/>
          </p:grpSpPr>
          <p:pic>
            <p:nvPicPr>
              <p:cNvPr id="74" name="Graphic 73">
                <a:extLst>
                  <a:ext uri="{FF2B5EF4-FFF2-40B4-BE49-F238E27FC236}">
                    <a16:creationId xmlns:a16="http://schemas.microsoft.com/office/drawing/2014/main" id="{AA30E3B3-35D9-B6FA-655C-A1F291F8581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75" name="Graphic 74">
                <a:extLst>
                  <a:ext uri="{FF2B5EF4-FFF2-40B4-BE49-F238E27FC236}">
                    <a16:creationId xmlns:a16="http://schemas.microsoft.com/office/drawing/2014/main" id="{4B40DC54-AC40-8166-81B0-C5E951C948A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76" name="Graphic 75">
                <a:extLst>
                  <a:ext uri="{FF2B5EF4-FFF2-40B4-BE49-F238E27FC236}">
                    <a16:creationId xmlns:a16="http://schemas.microsoft.com/office/drawing/2014/main" id="{56DF3E87-A1E1-B83C-AF43-47CF678A901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77" name="Graphic 76">
                <a:extLst>
                  <a:ext uri="{FF2B5EF4-FFF2-40B4-BE49-F238E27FC236}">
                    <a16:creationId xmlns:a16="http://schemas.microsoft.com/office/drawing/2014/main" id="{A9688FA7-5763-818D-E330-1D31153D661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78" name="Graphic 77">
                <a:extLst>
                  <a:ext uri="{FF2B5EF4-FFF2-40B4-BE49-F238E27FC236}">
                    <a16:creationId xmlns:a16="http://schemas.microsoft.com/office/drawing/2014/main" id="{F0154834-4C9C-A900-8EE0-70D576CCC32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nvGrpSpPr>
            <p:cNvPr id="68" name="Group 67">
              <a:extLst>
                <a:ext uri="{FF2B5EF4-FFF2-40B4-BE49-F238E27FC236}">
                  <a16:creationId xmlns:a16="http://schemas.microsoft.com/office/drawing/2014/main" id="{1AA127D5-1057-3480-131F-840FAE67D60E}"/>
                </a:ext>
              </a:extLst>
            </p:cNvPr>
            <p:cNvGrpSpPr/>
            <p:nvPr/>
          </p:nvGrpSpPr>
          <p:grpSpPr>
            <a:xfrm>
              <a:off x="429682" y="3285322"/>
              <a:ext cx="2302559" cy="387473"/>
              <a:chOff x="429682" y="1440738"/>
              <a:chExt cx="2302559" cy="387473"/>
            </a:xfrm>
            <a:grpFill/>
          </p:grpSpPr>
          <p:pic>
            <p:nvPicPr>
              <p:cNvPr id="69" name="Graphic 68">
                <a:extLst>
                  <a:ext uri="{FF2B5EF4-FFF2-40B4-BE49-F238E27FC236}">
                    <a16:creationId xmlns:a16="http://schemas.microsoft.com/office/drawing/2014/main" id="{0396485F-052E-0414-106F-AC44D15F8F4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9682" y="1440738"/>
                <a:ext cx="387473" cy="387473"/>
              </a:xfrm>
              <a:prstGeom prst="rect">
                <a:avLst/>
              </a:prstGeom>
            </p:spPr>
          </p:pic>
          <p:pic>
            <p:nvPicPr>
              <p:cNvPr id="70" name="Graphic 69">
                <a:extLst>
                  <a:ext uri="{FF2B5EF4-FFF2-40B4-BE49-F238E27FC236}">
                    <a16:creationId xmlns:a16="http://schemas.microsoft.com/office/drawing/2014/main" id="{33797669-57F0-5EA2-1424-9C14626BCBA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908453" y="1440738"/>
                <a:ext cx="387473" cy="387473"/>
              </a:xfrm>
              <a:prstGeom prst="rect">
                <a:avLst/>
              </a:prstGeom>
            </p:spPr>
          </p:pic>
          <p:pic>
            <p:nvPicPr>
              <p:cNvPr id="71" name="Graphic 70">
                <a:extLst>
                  <a:ext uri="{FF2B5EF4-FFF2-40B4-BE49-F238E27FC236}">
                    <a16:creationId xmlns:a16="http://schemas.microsoft.com/office/drawing/2014/main" id="{374CB30B-591F-0518-5184-9CECF527CB4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87225" y="1440738"/>
                <a:ext cx="387473" cy="387473"/>
              </a:xfrm>
              <a:prstGeom prst="rect">
                <a:avLst/>
              </a:prstGeom>
            </p:spPr>
          </p:pic>
          <p:pic>
            <p:nvPicPr>
              <p:cNvPr id="72" name="Graphic 71">
                <a:extLst>
                  <a:ext uri="{FF2B5EF4-FFF2-40B4-BE49-F238E27FC236}">
                    <a16:creationId xmlns:a16="http://schemas.microsoft.com/office/drawing/2014/main" id="{DC769F92-4344-DEEB-1E43-8897623788E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865997" y="1440738"/>
                <a:ext cx="387473" cy="387473"/>
              </a:xfrm>
              <a:prstGeom prst="rect">
                <a:avLst/>
              </a:prstGeom>
            </p:spPr>
          </p:pic>
          <p:pic>
            <p:nvPicPr>
              <p:cNvPr id="73" name="Graphic 72">
                <a:extLst>
                  <a:ext uri="{FF2B5EF4-FFF2-40B4-BE49-F238E27FC236}">
                    <a16:creationId xmlns:a16="http://schemas.microsoft.com/office/drawing/2014/main" id="{568711D8-9832-B867-5396-D08ADB0F167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44768" y="1440738"/>
                <a:ext cx="387473" cy="387473"/>
              </a:xfrm>
              <a:prstGeom prst="rect">
                <a:avLst/>
              </a:prstGeom>
            </p:spPr>
          </p:pic>
        </p:grpSp>
      </p:grpSp>
      <p:grpSp>
        <p:nvGrpSpPr>
          <p:cNvPr id="89" name="Group 88">
            <a:extLst>
              <a:ext uri="{FF2B5EF4-FFF2-40B4-BE49-F238E27FC236}">
                <a16:creationId xmlns:a16="http://schemas.microsoft.com/office/drawing/2014/main" id="{7B78C8E3-55B2-CD0A-93A9-E63E5E6C402A}"/>
              </a:ext>
            </a:extLst>
          </p:cNvPr>
          <p:cNvGrpSpPr/>
          <p:nvPr/>
        </p:nvGrpSpPr>
        <p:grpSpPr>
          <a:xfrm>
            <a:off x="5665087" y="3822485"/>
            <a:ext cx="2298232" cy="337184"/>
            <a:chOff x="5400045" y="1431608"/>
            <a:chExt cx="2298232" cy="337184"/>
          </a:xfrm>
        </p:grpSpPr>
        <p:sp>
          <p:nvSpPr>
            <p:cNvPr id="90" name="Rectangle 89">
              <a:extLst>
                <a:ext uri="{FF2B5EF4-FFF2-40B4-BE49-F238E27FC236}">
                  <a16:creationId xmlns:a16="http://schemas.microsoft.com/office/drawing/2014/main" id="{C702824F-624B-E44F-86AD-8B6948671F66}"/>
                </a:ext>
              </a:extLst>
            </p:cNvPr>
            <p:cNvSpPr/>
            <p:nvPr/>
          </p:nvSpPr>
          <p:spPr>
            <a:xfrm>
              <a:off x="5400045" y="1431608"/>
              <a:ext cx="2298232" cy="337184"/>
            </a:xfrm>
            <a:prstGeom prst="rect">
              <a:avLst/>
            </a:prstGeom>
            <a:noFill/>
            <a:ln w="9525">
              <a:solidFill>
                <a:schemeClr val="accent2"/>
              </a:soli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91" name="Rectangle 90">
              <a:extLst>
                <a:ext uri="{FF2B5EF4-FFF2-40B4-BE49-F238E27FC236}">
                  <a16:creationId xmlns:a16="http://schemas.microsoft.com/office/drawing/2014/main" id="{1AAF979F-802D-648D-2F3F-624D6AC09347}"/>
                </a:ext>
              </a:extLst>
            </p:cNvPr>
            <p:cNvSpPr/>
            <p:nvPr/>
          </p:nvSpPr>
          <p:spPr>
            <a:xfrm>
              <a:off x="5448827" y="1471720"/>
              <a:ext cx="81504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sp>
          <p:nvSpPr>
            <p:cNvPr id="92" name="Rectangle 91">
              <a:extLst>
                <a:ext uri="{FF2B5EF4-FFF2-40B4-BE49-F238E27FC236}">
                  <a16:creationId xmlns:a16="http://schemas.microsoft.com/office/drawing/2014/main" id="{EC2E59D9-5EA6-C47C-4A6C-B9D3D3FE2899}"/>
                </a:ext>
              </a:extLst>
            </p:cNvPr>
            <p:cNvSpPr/>
            <p:nvPr/>
          </p:nvSpPr>
          <p:spPr>
            <a:xfrm>
              <a:off x="6997039" y="1471720"/>
              <a:ext cx="67121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a:t>
              </a:r>
            </a:p>
          </p:txBody>
        </p:sp>
        <p:cxnSp>
          <p:nvCxnSpPr>
            <p:cNvPr id="93" name="Straight Connector 92">
              <a:extLst>
                <a:ext uri="{FF2B5EF4-FFF2-40B4-BE49-F238E27FC236}">
                  <a16:creationId xmlns:a16="http://schemas.microsoft.com/office/drawing/2014/main" id="{C3520DA4-BA9D-0257-8390-5032B3775142}"/>
                </a:ext>
              </a:extLst>
            </p:cNvPr>
            <p:cNvCxnSpPr>
              <a:cxnSpLocks/>
            </p:cNvCxnSpPr>
            <p:nvPr/>
          </p:nvCxnSpPr>
          <p:spPr bwMode="gray">
            <a:xfrm flipH="1">
              <a:off x="6260788" y="1602525"/>
              <a:ext cx="288373"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AED7E4D5-73D9-AD9D-3621-1A859D0EC018}"/>
                </a:ext>
              </a:extLst>
            </p:cNvPr>
            <p:cNvCxnSpPr>
              <a:cxnSpLocks/>
              <a:endCxn id="92" idx="1"/>
            </p:cNvCxnSpPr>
            <p:nvPr/>
          </p:nvCxnSpPr>
          <p:spPr bwMode="gray">
            <a:xfrm>
              <a:off x="6549161" y="1602525"/>
              <a:ext cx="447878"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0C59BDC9-2B89-5A2C-8206-4D37D2B971EE}"/>
              </a:ext>
            </a:extLst>
          </p:cNvPr>
          <p:cNvGrpSpPr/>
          <p:nvPr/>
        </p:nvGrpSpPr>
        <p:grpSpPr>
          <a:xfrm>
            <a:off x="3192202" y="3822485"/>
            <a:ext cx="2298232" cy="337184"/>
            <a:chOff x="5400045" y="1431608"/>
            <a:chExt cx="2298232" cy="337184"/>
          </a:xfrm>
        </p:grpSpPr>
        <p:sp>
          <p:nvSpPr>
            <p:cNvPr id="96" name="Rectangle 95">
              <a:extLst>
                <a:ext uri="{FF2B5EF4-FFF2-40B4-BE49-F238E27FC236}">
                  <a16:creationId xmlns:a16="http://schemas.microsoft.com/office/drawing/2014/main" id="{B5848EE5-C9A1-9DE7-8B8B-3A8F37DAD96F}"/>
                </a:ext>
              </a:extLst>
            </p:cNvPr>
            <p:cNvSpPr/>
            <p:nvPr/>
          </p:nvSpPr>
          <p:spPr>
            <a:xfrm>
              <a:off x="5400045" y="1431608"/>
              <a:ext cx="2298232" cy="337184"/>
            </a:xfrm>
            <a:prstGeom prst="rect">
              <a:avLst/>
            </a:prstGeom>
            <a:noFill/>
            <a:ln w="9525">
              <a:solidFill>
                <a:schemeClr val="accent2"/>
              </a:soli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97" name="Rectangle 96">
              <a:extLst>
                <a:ext uri="{FF2B5EF4-FFF2-40B4-BE49-F238E27FC236}">
                  <a16:creationId xmlns:a16="http://schemas.microsoft.com/office/drawing/2014/main" id="{19393166-9003-88CC-4839-4506D5222858}"/>
                </a:ext>
              </a:extLst>
            </p:cNvPr>
            <p:cNvSpPr/>
            <p:nvPr/>
          </p:nvSpPr>
          <p:spPr>
            <a:xfrm>
              <a:off x="5448827" y="1471720"/>
              <a:ext cx="81504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sp>
          <p:nvSpPr>
            <p:cNvPr id="98" name="Rectangle 97">
              <a:extLst>
                <a:ext uri="{FF2B5EF4-FFF2-40B4-BE49-F238E27FC236}">
                  <a16:creationId xmlns:a16="http://schemas.microsoft.com/office/drawing/2014/main" id="{CA6F1EB2-3DCE-139C-8D7C-AD2E498DFE55}"/>
                </a:ext>
              </a:extLst>
            </p:cNvPr>
            <p:cNvSpPr/>
            <p:nvPr/>
          </p:nvSpPr>
          <p:spPr>
            <a:xfrm>
              <a:off x="6997039" y="1471720"/>
              <a:ext cx="67121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a:t>
              </a:r>
            </a:p>
          </p:txBody>
        </p:sp>
        <p:cxnSp>
          <p:nvCxnSpPr>
            <p:cNvPr id="99" name="Straight Connector 98">
              <a:extLst>
                <a:ext uri="{FF2B5EF4-FFF2-40B4-BE49-F238E27FC236}">
                  <a16:creationId xmlns:a16="http://schemas.microsoft.com/office/drawing/2014/main" id="{1284C2C9-D68A-9A38-ECBE-90C6390D2A93}"/>
                </a:ext>
              </a:extLst>
            </p:cNvPr>
            <p:cNvCxnSpPr>
              <a:cxnSpLocks/>
            </p:cNvCxnSpPr>
            <p:nvPr/>
          </p:nvCxnSpPr>
          <p:spPr bwMode="gray">
            <a:xfrm flipH="1">
              <a:off x="6260788" y="1602525"/>
              <a:ext cx="288373"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86D64774-46DE-C512-676D-80EBB58D996C}"/>
                </a:ext>
              </a:extLst>
            </p:cNvPr>
            <p:cNvCxnSpPr>
              <a:cxnSpLocks/>
              <a:endCxn id="98" idx="1"/>
            </p:cNvCxnSpPr>
            <p:nvPr/>
          </p:nvCxnSpPr>
          <p:spPr bwMode="gray">
            <a:xfrm>
              <a:off x="6549161" y="1602525"/>
              <a:ext cx="447878"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C9C83D1A-2EB0-C27B-F433-9CA14AD0559B}"/>
              </a:ext>
            </a:extLst>
          </p:cNvPr>
          <p:cNvGrpSpPr/>
          <p:nvPr/>
        </p:nvGrpSpPr>
        <p:grpSpPr>
          <a:xfrm>
            <a:off x="694724" y="3822485"/>
            <a:ext cx="2298232" cy="337184"/>
            <a:chOff x="5400045" y="1431608"/>
            <a:chExt cx="2298232" cy="337184"/>
          </a:xfrm>
        </p:grpSpPr>
        <p:sp>
          <p:nvSpPr>
            <p:cNvPr id="102" name="Rectangle 101">
              <a:extLst>
                <a:ext uri="{FF2B5EF4-FFF2-40B4-BE49-F238E27FC236}">
                  <a16:creationId xmlns:a16="http://schemas.microsoft.com/office/drawing/2014/main" id="{7B7C5FB6-1464-52BC-7365-9A312BDFBA3C}"/>
                </a:ext>
              </a:extLst>
            </p:cNvPr>
            <p:cNvSpPr/>
            <p:nvPr/>
          </p:nvSpPr>
          <p:spPr>
            <a:xfrm>
              <a:off x="5400045" y="1431608"/>
              <a:ext cx="2298232" cy="337184"/>
            </a:xfrm>
            <a:prstGeom prst="rect">
              <a:avLst/>
            </a:prstGeom>
            <a:noFill/>
            <a:ln w="9525">
              <a:solidFill>
                <a:schemeClr val="accent2"/>
              </a:soli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03" name="Rectangle 102">
              <a:extLst>
                <a:ext uri="{FF2B5EF4-FFF2-40B4-BE49-F238E27FC236}">
                  <a16:creationId xmlns:a16="http://schemas.microsoft.com/office/drawing/2014/main" id="{DD30BB22-7EC9-B120-2EC8-F31F438DF03F}"/>
                </a:ext>
              </a:extLst>
            </p:cNvPr>
            <p:cNvSpPr/>
            <p:nvPr/>
          </p:nvSpPr>
          <p:spPr>
            <a:xfrm>
              <a:off x="5448827" y="1471720"/>
              <a:ext cx="81504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sp>
          <p:nvSpPr>
            <p:cNvPr id="104" name="Rectangle 103">
              <a:extLst>
                <a:ext uri="{FF2B5EF4-FFF2-40B4-BE49-F238E27FC236}">
                  <a16:creationId xmlns:a16="http://schemas.microsoft.com/office/drawing/2014/main" id="{63AB140A-9B52-8034-67FE-E58317BA8F7C}"/>
                </a:ext>
              </a:extLst>
            </p:cNvPr>
            <p:cNvSpPr/>
            <p:nvPr/>
          </p:nvSpPr>
          <p:spPr>
            <a:xfrm>
              <a:off x="6997039" y="1471720"/>
              <a:ext cx="67121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a:t>
              </a:r>
            </a:p>
          </p:txBody>
        </p:sp>
        <p:cxnSp>
          <p:nvCxnSpPr>
            <p:cNvPr id="105" name="Straight Connector 104">
              <a:extLst>
                <a:ext uri="{FF2B5EF4-FFF2-40B4-BE49-F238E27FC236}">
                  <a16:creationId xmlns:a16="http://schemas.microsoft.com/office/drawing/2014/main" id="{F1DFC135-F926-B828-685A-96435250D691}"/>
                </a:ext>
              </a:extLst>
            </p:cNvPr>
            <p:cNvCxnSpPr>
              <a:cxnSpLocks/>
            </p:cNvCxnSpPr>
            <p:nvPr/>
          </p:nvCxnSpPr>
          <p:spPr bwMode="gray">
            <a:xfrm flipH="1">
              <a:off x="6260788" y="1602525"/>
              <a:ext cx="288373"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8E3D6F6-38BE-20A6-8467-22C21703CE15}"/>
                </a:ext>
              </a:extLst>
            </p:cNvPr>
            <p:cNvCxnSpPr>
              <a:cxnSpLocks/>
              <a:endCxn id="104" idx="1"/>
            </p:cNvCxnSpPr>
            <p:nvPr/>
          </p:nvCxnSpPr>
          <p:spPr bwMode="gray">
            <a:xfrm>
              <a:off x="6549161" y="1602525"/>
              <a:ext cx="447878"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510C2620-B232-5FE7-9244-3CE0C5CA650E}"/>
              </a:ext>
            </a:extLst>
          </p:cNvPr>
          <p:cNvGrpSpPr/>
          <p:nvPr/>
        </p:nvGrpSpPr>
        <p:grpSpPr>
          <a:xfrm>
            <a:off x="943461" y="4498293"/>
            <a:ext cx="533658" cy="392298"/>
            <a:chOff x="4505618" y="1195981"/>
            <a:chExt cx="533658" cy="392298"/>
          </a:xfrm>
        </p:grpSpPr>
        <p:sp>
          <p:nvSpPr>
            <p:cNvPr id="108" name="Freeform 5">
              <a:extLst>
                <a:ext uri="{FF2B5EF4-FFF2-40B4-BE49-F238E27FC236}">
                  <a16:creationId xmlns:a16="http://schemas.microsoft.com/office/drawing/2014/main" id="{DFBD1DB6-0238-2EB5-7928-D5D82909AA3A}"/>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09" name="Group 108">
              <a:extLst>
                <a:ext uri="{FF2B5EF4-FFF2-40B4-BE49-F238E27FC236}">
                  <a16:creationId xmlns:a16="http://schemas.microsoft.com/office/drawing/2014/main" id="{06D7D1E9-EE83-E507-817D-D2AB1FCF2D73}"/>
                </a:ext>
              </a:extLst>
            </p:cNvPr>
            <p:cNvGrpSpPr/>
            <p:nvPr/>
          </p:nvGrpSpPr>
          <p:grpSpPr>
            <a:xfrm>
              <a:off x="4621577" y="1326834"/>
              <a:ext cx="384263" cy="231049"/>
              <a:chOff x="1474648" y="4826879"/>
              <a:chExt cx="576585" cy="346688"/>
            </a:xfrm>
          </p:grpSpPr>
          <p:sp>
            <p:nvSpPr>
              <p:cNvPr id="122" name="Oval 6">
                <a:extLst>
                  <a:ext uri="{FF2B5EF4-FFF2-40B4-BE49-F238E27FC236}">
                    <a16:creationId xmlns:a16="http://schemas.microsoft.com/office/drawing/2014/main" id="{8BA16ADD-9A8E-FFB5-18E2-342BF23CF3A7}"/>
                  </a:ext>
                </a:extLst>
              </p:cNvPr>
              <p:cNvSpPr>
                <a:spLocks noChangeArrowheads="1"/>
              </p:cNvSpPr>
              <p:nvPr/>
            </p:nvSpPr>
            <p:spPr bwMode="auto">
              <a:xfrm>
                <a:off x="1474648" y="4826879"/>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3" name="Oval 7">
                <a:extLst>
                  <a:ext uri="{FF2B5EF4-FFF2-40B4-BE49-F238E27FC236}">
                    <a16:creationId xmlns:a16="http://schemas.microsoft.com/office/drawing/2014/main" id="{1A5B91C5-8757-3A37-8DF3-4836DD4D898F}"/>
                  </a:ext>
                </a:extLst>
              </p:cNvPr>
              <p:cNvSpPr>
                <a:spLocks noChangeArrowheads="1"/>
              </p:cNvSpPr>
              <p:nvPr/>
            </p:nvSpPr>
            <p:spPr bwMode="auto">
              <a:xfrm>
                <a:off x="1474648" y="5142412"/>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4" name="Oval 8">
                <a:extLst>
                  <a:ext uri="{FF2B5EF4-FFF2-40B4-BE49-F238E27FC236}">
                    <a16:creationId xmlns:a16="http://schemas.microsoft.com/office/drawing/2014/main" id="{A32E5F79-BFAB-4656-730E-AF874FDA20EB}"/>
                  </a:ext>
                </a:extLst>
              </p:cNvPr>
              <p:cNvSpPr>
                <a:spLocks noChangeArrowheads="1"/>
              </p:cNvSpPr>
              <p:nvPr/>
            </p:nvSpPr>
            <p:spPr bwMode="auto">
              <a:xfrm>
                <a:off x="2020253" y="4826879"/>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5" name="Oval 9">
                <a:extLst>
                  <a:ext uri="{FF2B5EF4-FFF2-40B4-BE49-F238E27FC236}">
                    <a16:creationId xmlns:a16="http://schemas.microsoft.com/office/drawing/2014/main" id="{52F2252B-0E19-4C7F-E576-8298FDD0BCD9}"/>
                  </a:ext>
                </a:extLst>
              </p:cNvPr>
              <p:cNvSpPr>
                <a:spLocks noChangeArrowheads="1"/>
              </p:cNvSpPr>
              <p:nvPr/>
            </p:nvSpPr>
            <p:spPr bwMode="auto">
              <a:xfrm>
                <a:off x="2020253" y="5142412"/>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0" name="Group 109">
              <a:extLst>
                <a:ext uri="{FF2B5EF4-FFF2-40B4-BE49-F238E27FC236}">
                  <a16:creationId xmlns:a16="http://schemas.microsoft.com/office/drawing/2014/main" id="{BF6DA3E1-5171-FB69-AEAB-1CBB3E15617B}"/>
                </a:ext>
              </a:extLst>
            </p:cNvPr>
            <p:cNvGrpSpPr/>
            <p:nvPr/>
          </p:nvGrpSpPr>
          <p:grpSpPr>
            <a:xfrm>
              <a:off x="4713786" y="1407394"/>
              <a:ext cx="199845" cy="69431"/>
              <a:chOff x="1445849" y="4947759"/>
              <a:chExt cx="299866" cy="104181"/>
            </a:xfrm>
          </p:grpSpPr>
          <p:sp>
            <p:nvSpPr>
              <p:cNvPr id="119" name="Freeform 10">
                <a:extLst>
                  <a:ext uri="{FF2B5EF4-FFF2-40B4-BE49-F238E27FC236}">
                    <a16:creationId xmlns:a16="http://schemas.microsoft.com/office/drawing/2014/main" id="{FFB96125-77F9-BD2D-AD0E-F58506A2529F}"/>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0" name="Freeform 11">
                <a:extLst>
                  <a:ext uri="{FF2B5EF4-FFF2-40B4-BE49-F238E27FC236}">
                    <a16:creationId xmlns:a16="http://schemas.microsoft.com/office/drawing/2014/main" id="{11B0538B-357E-C34E-30C6-6A6A44C59DB2}"/>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1" name="Freeform 10">
                <a:extLst>
                  <a:ext uri="{FF2B5EF4-FFF2-40B4-BE49-F238E27FC236}">
                    <a16:creationId xmlns:a16="http://schemas.microsoft.com/office/drawing/2014/main" id="{6213D5D0-6CD3-8E48-AB7F-957D6D399E68}"/>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111" name="Straight Connector 110">
              <a:extLst>
                <a:ext uri="{FF2B5EF4-FFF2-40B4-BE49-F238E27FC236}">
                  <a16:creationId xmlns:a16="http://schemas.microsoft.com/office/drawing/2014/main" id="{3C0BDD9C-4E0E-0A59-C35A-8B6F34547D22}"/>
                </a:ext>
              </a:extLst>
            </p:cNvPr>
            <p:cNvCxnSpPr>
              <a:cxnSpLocks/>
            </p:cNvCxnSpPr>
            <p:nvPr/>
          </p:nvCxnSpPr>
          <p:spPr bwMode="gray">
            <a:xfrm flipH="1">
              <a:off x="4550146" y="1516262"/>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3EB14F9F-70C8-EA25-466E-F7636C31B58A}"/>
                </a:ext>
              </a:extLst>
            </p:cNvPr>
            <p:cNvCxnSpPr>
              <a:cxnSpLocks/>
            </p:cNvCxnSpPr>
            <p:nvPr/>
          </p:nvCxnSpPr>
          <p:spPr bwMode="gray">
            <a:xfrm flipH="1">
              <a:off x="4550147" y="1248567"/>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B74ACED-2D7F-77B4-4CF8-6C9DCAF7F6F2}"/>
                </a:ext>
              </a:extLst>
            </p:cNvPr>
            <p:cNvCxnSpPr>
              <a:cxnSpLocks/>
            </p:cNvCxnSpPr>
            <p:nvPr/>
          </p:nvCxnSpPr>
          <p:spPr bwMode="gray">
            <a:xfrm flipV="1">
              <a:off x="4550146" y="1248569"/>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023A51B0-AD40-66DE-8EEF-83680751578F}"/>
                </a:ext>
              </a:extLst>
            </p:cNvPr>
            <p:cNvCxnSpPr>
              <a:cxnSpLocks/>
            </p:cNvCxnSpPr>
            <p:nvPr/>
          </p:nvCxnSpPr>
          <p:spPr bwMode="gray">
            <a:xfrm flipV="1">
              <a:off x="4981152" y="1248567"/>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7C6F9736-E052-8D10-4003-AF4FA4C62A52}"/>
                </a:ext>
              </a:extLst>
            </p:cNvPr>
            <p:cNvCxnSpPr>
              <a:cxnSpLocks/>
            </p:cNvCxnSpPr>
            <p:nvPr/>
          </p:nvCxnSpPr>
          <p:spPr bwMode="gray">
            <a:xfrm flipH="1">
              <a:off x="4505618" y="1463676"/>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34BBB643-D69F-7AEA-EEA0-C29EEA1BC816}"/>
                </a:ext>
              </a:extLst>
            </p:cNvPr>
            <p:cNvCxnSpPr>
              <a:cxnSpLocks/>
            </p:cNvCxnSpPr>
            <p:nvPr/>
          </p:nvCxnSpPr>
          <p:spPr bwMode="gray">
            <a:xfrm flipH="1">
              <a:off x="4505619" y="1195981"/>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50C3DF57-2A57-9221-0CEA-2FCAF17982A9}"/>
                </a:ext>
              </a:extLst>
            </p:cNvPr>
            <p:cNvCxnSpPr>
              <a:cxnSpLocks/>
            </p:cNvCxnSpPr>
            <p:nvPr/>
          </p:nvCxnSpPr>
          <p:spPr bwMode="gray">
            <a:xfrm flipV="1">
              <a:off x="4505618" y="1195983"/>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0483F77D-7B1C-514F-0F24-88D49DE31BD8}"/>
                </a:ext>
              </a:extLst>
            </p:cNvPr>
            <p:cNvCxnSpPr>
              <a:cxnSpLocks/>
            </p:cNvCxnSpPr>
            <p:nvPr/>
          </p:nvCxnSpPr>
          <p:spPr bwMode="gray">
            <a:xfrm flipV="1">
              <a:off x="4936624" y="1195981"/>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55618050-7802-2CC1-54F9-B0DCDCCC8CC9}"/>
              </a:ext>
            </a:extLst>
          </p:cNvPr>
          <p:cNvGrpSpPr/>
          <p:nvPr/>
        </p:nvGrpSpPr>
        <p:grpSpPr>
          <a:xfrm>
            <a:off x="2210562" y="4498293"/>
            <a:ext cx="533658" cy="392298"/>
            <a:chOff x="4505618" y="1195981"/>
            <a:chExt cx="533658" cy="392298"/>
          </a:xfrm>
        </p:grpSpPr>
        <p:sp>
          <p:nvSpPr>
            <p:cNvPr id="127" name="Freeform 5">
              <a:extLst>
                <a:ext uri="{FF2B5EF4-FFF2-40B4-BE49-F238E27FC236}">
                  <a16:creationId xmlns:a16="http://schemas.microsoft.com/office/drawing/2014/main" id="{65D8B052-A1B4-DB2A-553A-37FE7AC99A9D}"/>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28" name="Group 127">
              <a:extLst>
                <a:ext uri="{FF2B5EF4-FFF2-40B4-BE49-F238E27FC236}">
                  <a16:creationId xmlns:a16="http://schemas.microsoft.com/office/drawing/2014/main" id="{D9300150-BACF-155E-A6CA-A70DAF5E0E23}"/>
                </a:ext>
              </a:extLst>
            </p:cNvPr>
            <p:cNvGrpSpPr/>
            <p:nvPr/>
          </p:nvGrpSpPr>
          <p:grpSpPr>
            <a:xfrm>
              <a:off x="4621577" y="1326834"/>
              <a:ext cx="384263" cy="231049"/>
              <a:chOff x="1474648" y="4826879"/>
              <a:chExt cx="576585" cy="346688"/>
            </a:xfrm>
          </p:grpSpPr>
          <p:sp>
            <p:nvSpPr>
              <p:cNvPr id="141" name="Oval 6">
                <a:extLst>
                  <a:ext uri="{FF2B5EF4-FFF2-40B4-BE49-F238E27FC236}">
                    <a16:creationId xmlns:a16="http://schemas.microsoft.com/office/drawing/2014/main" id="{55CB345D-4CB1-A5B5-03B7-CCB6B86F17D0}"/>
                  </a:ext>
                </a:extLst>
              </p:cNvPr>
              <p:cNvSpPr>
                <a:spLocks noChangeArrowheads="1"/>
              </p:cNvSpPr>
              <p:nvPr/>
            </p:nvSpPr>
            <p:spPr bwMode="auto">
              <a:xfrm>
                <a:off x="1474648" y="4826879"/>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2" name="Oval 7">
                <a:extLst>
                  <a:ext uri="{FF2B5EF4-FFF2-40B4-BE49-F238E27FC236}">
                    <a16:creationId xmlns:a16="http://schemas.microsoft.com/office/drawing/2014/main" id="{8F48A7C9-8820-88FF-E84C-D9BCAF2C73CA}"/>
                  </a:ext>
                </a:extLst>
              </p:cNvPr>
              <p:cNvSpPr>
                <a:spLocks noChangeArrowheads="1"/>
              </p:cNvSpPr>
              <p:nvPr/>
            </p:nvSpPr>
            <p:spPr bwMode="auto">
              <a:xfrm>
                <a:off x="1474648" y="5142412"/>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3" name="Oval 8">
                <a:extLst>
                  <a:ext uri="{FF2B5EF4-FFF2-40B4-BE49-F238E27FC236}">
                    <a16:creationId xmlns:a16="http://schemas.microsoft.com/office/drawing/2014/main" id="{1A6C9CD7-A683-5CE7-C854-8A49BB6C02F9}"/>
                  </a:ext>
                </a:extLst>
              </p:cNvPr>
              <p:cNvSpPr>
                <a:spLocks noChangeArrowheads="1"/>
              </p:cNvSpPr>
              <p:nvPr/>
            </p:nvSpPr>
            <p:spPr bwMode="auto">
              <a:xfrm>
                <a:off x="2020253" y="4826879"/>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4" name="Oval 9">
                <a:extLst>
                  <a:ext uri="{FF2B5EF4-FFF2-40B4-BE49-F238E27FC236}">
                    <a16:creationId xmlns:a16="http://schemas.microsoft.com/office/drawing/2014/main" id="{51B3892B-DADE-6C67-AA98-BA4DFF09CFDF}"/>
                  </a:ext>
                </a:extLst>
              </p:cNvPr>
              <p:cNvSpPr>
                <a:spLocks noChangeArrowheads="1"/>
              </p:cNvSpPr>
              <p:nvPr/>
            </p:nvSpPr>
            <p:spPr bwMode="auto">
              <a:xfrm>
                <a:off x="2020253" y="5142412"/>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29" name="Group 128">
              <a:extLst>
                <a:ext uri="{FF2B5EF4-FFF2-40B4-BE49-F238E27FC236}">
                  <a16:creationId xmlns:a16="http://schemas.microsoft.com/office/drawing/2014/main" id="{0C2B49A6-2318-73BA-EC98-E60B36170ECC}"/>
                </a:ext>
              </a:extLst>
            </p:cNvPr>
            <p:cNvGrpSpPr/>
            <p:nvPr/>
          </p:nvGrpSpPr>
          <p:grpSpPr>
            <a:xfrm>
              <a:off x="4713786" y="1407394"/>
              <a:ext cx="199845" cy="69431"/>
              <a:chOff x="1445849" y="4947759"/>
              <a:chExt cx="299866" cy="104181"/>
            </a:xfrm>
          </p:grpSpPr>
          <p:sp>
            <p:nvSpPr>
              <p:cNvPr id="138" name="Freeform 10">
                <a:extLst>
                  <a:ext uri="{FF2B5EF4-FFF2-40B4-BE49-F238E27FC236}">
                    <a16:creationId xmlns:a16="http://schemas.microsoft.com/office/drawing/2014/main" id="{9B8BABBB-3228-D720-0813-F3DB5FD47658}"/>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9" name="Freeform 11">
                <a:extLst>
                  <a:ext uri="{FF2B5EF4-FFF2-40B4-BE49-F238E27FC236}">
                    <a16:creationId xmlns:a16="http://schemas.microsoft.com/office/drawing/2014/main" id="{9E232FAB-44FC-415F-E7CF-5C1DD1E7CE2A}"/>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0" name="Freeform 10">
                <a:extLst>
                  <a:ext uri="{FF2B5EF4-FFF2-40B4-BE49-F238E27FC236}">
                    <a16:creationId xmlns:a16="http://schemas.microsoft.com/office/drawing/2014/main" id="{49F9CB4F-826F-E22C-4D8E-944438BF05A8}"/>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130" name="Straight Connector 129">
              <a:extLst>
                <a:ext uri="{FF2B5EF4-FFF2-40B4-BE49-F238E27FC236}">
                  <a16:creationId xmlns:a16="http://schemas.microsoft.com/office/drawing/2014/main" id="{BE31291B-8CCE-A15F-C05F-6B4A63CAE7BC}"/>
                </a:ext>
              </a:extLst>
            </p:cNvPr>
            <p:cNvCxnSpPr>
              <a:cxnSpLocks/>
            </p:cNvCxnSpPr>
            <p:nvPr/>
          </p:nvCxnSpPr>
          <p:spPr bwMode="gray">
            <a:xfrm flipH="1">
              <a:off x="4550146" y="1516262"/>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478A68F-2875-AD47-E6A7-157353B58D87}"/>
                </a:ext>
              </a:extLst>
            </p:cNvPr>
            <p:cNvCxnSpPr>
              <a:cxnSpLocks/>
            </p:cNvCxnSpPr>
            <p:nvPr/>
          </p:nvCxnSpPr>
          <p:spPr bwMode="gray">
            <a:xfrm flipH="1">
              <a:off x="4550147" y="1248567"/>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D4993A1E-B203-E024-F25E-8C8DD95CCB00}"/>
                </a:ext>
              </a:extLst>
            </p:cNvPr>
            <p:cNvCxnSpPr>
              <a:cxnSpLocks/>
            </p:cNvCxnSpPr>
            <p:nvPr/>
          </p:nvCxnSpPr>
          <p:spPr bwMode="gray">
            <a:xfrm flipV="1">
              <a:off x="4550146" y="1248569"/>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04B4831-090A-1BEF-793B-28ABFA6E1AE1}"/>
                </a:ext>
              </a:extLst>
            </p:cNvPr>
            <p:cNvCxnSpPr>
              <a:cxnSpLocks/>
            </p:cNvCxnSpPr>
            <p:nvPr/>
          </p:nvCxnSpPr>
          <p:spPr bwMode="gray">
            <a:xfrm flipV="1">
              <a:off x="4981152" y="1248567"/>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A8DEBD30-7715-1E31-E72F-7E7F0F5AC856}"/>
                </a:ext>
              </a:extLst>
            </p:cNvPr>
            <p:cNvCxnSpPr>
              <a:cxnSpLocks/>
            </p:cNvCxnSpPr>
            <p:nvPr/>
          </p:nvCxnSpPr>
          <p:spPr bwMode="gray">
            <a:xfrm flipH="1">
              <a:off x="4505618" y="1463676"/>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2A29089F-B676-23F5-F346-D601648B4EF1}"/>
                </a:ext>
              </a:extLst>
            </p:cNvPr>
            <p:cNvCxnSpPr>
              <a:cxnSpLocks/>
            </p:cNvCxnSpPr>
            <p:nvPr/>
          </p:nvCxnSpPr>
          <p:spPr bwMode="gray">
            <a:xfrm flipH="1">
              <a:off x="4505619" y="1195981"/>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24CBB10C-8129-FE2F-55AE-99FE58C3FD1F}"/>
                </a:ext>
              </a:extLst>
            </p:cNvPr>
            <p:cNvCxnSpPr>
              <a:cxnSpLocks/>
            </p:cNvCxnSpPr>
            <p:nvPr/>
          </p:nvCxnSpPr>
          <p:spPr bwMode="gray">
            <a:xfrm flipV="1">
              <a:off x="4505618" y="1195983"/>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E044FB9-7F7B-DAFB-25EA-6A3EF69EA375}"/>
                </a:ext>
              </a:extLst>
            </p:cNvPr>
            <p:cNvCxnSpPr>
              <a:cxnSpLocks/>
            </p:cNvCxnSpPr>
            <p:nvPr/>
          </p:nvCxnSpPr>
          <p:spPr bwMode="gray">
            <a:xfrm flipV="1">
              <a:off x="4936624" y="1195981"/>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31FCED00-A8E2-8A09-FE1D-A0499CB0B92F}"/>
              </a:ext>
            </a:extLst>
          </p:cNvPr>
          <p:cNvGrpSpPr/>
          <p:nvPr/>
        </p:nvGrpSpPr>
        <p:grpSpPr>
          <a:xfrm>
            <a:off x="1577011" y="4498293"/>
            <a:ext cx="533658" cy="392298"/>
            <a:chOff x="4505618" y="1195981"/>
            <a:chExt cx="533658" cy="392298"/>
          </a:xfrm>
        </p:grpSpPr>
        <p:sp>
          <p:nvSpPr>
            <p:cNvPr id="146" name="Freeform 5">
              <a:extLst>
                <a:ext uri="{FF2B5EF4-FFF2-40B4-BE49-F238E27FC236}">
                  <a16:creationId xmlns:a16="http://schemas.microsoft.com/office/drawing/2014/main" id="{E125A3B7-84DB-47C3-FC01-E81C11C78CE8}"/>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47" name="Group 146">
              <a:extLst>
                <a:ext uri="{FF2B5EF4-FFF2-40B4-BE49-F238E27FC236}">
                  <a16:creationId xmlns:a16="http://schemas.microsoft.com/office/drawing/2014/main" id="{D6D70EC4-2C6B-36D6-B50B-F3C685CB0E73}"/>
                </a:ext>
              </a:extLst>
            </p:cNvPr>
            <p:cNvGrpSpPr/>
            <p:nvPr/>
          </p:nvGrpSpPr>
          <p:grpSpPr>
            <a:xfrm>
              <a:off x="4621577" y="1326834"/>
              <a:ext cx="384263" cy="231049"/>
              <a:chOff x="1474648" y="4826879"/>
              <a:chExt cx="576585" cy="346688"/>
            </a:xfrm>
          </p:grpSpPr>
          <p:sp>
            <p:nvSpPr>
              <p:cNvPr id="160" name="Oval 6">
                <a:extLst>
                  <a:ext uri="{FF2B5EF4-FFF2-40B4-BE49-F238E27FC236}">
                    <a16:creationId xmlns:a16="http://schemas.microsoft.com/office/drawing/2014/main" id="{804E772B-C53E-7291-E7C2-81B1C80E40E2}"/>
                  </a:ext>
                </a:extLst>
              </p:cNvPr>
              <p:cNvSpPr>
                <a:spLocks noChangeArrowheads="1"/>
              </p:cNvSpPr>
              <p:nvPr/>
            </p:nvSpPr>
            <p:spPr bwMode="auto">
              <a:xfrm>
                <a:off x="1474648" y="4826879"/>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1" name="Oval 7">
                <a:extLst>
                  <a:ext uri="{FF2B5EF4-FFF2-40B4-BE49-F238E27FC236}">
                    <a16:creationId xmlns:a16="http://schemas.microsoft.com/office/drawing/2014/main" id="{B3638D64-60F6-F27C-167C-06B767DBC78A}"/>
                  </a:ext>
                </a:extLst>
              </p:cNvPr>
              <p:cNvSpPr>
                <a:spLocks noChangeArrowheads="1"/>
              </p:cNvSpPr>
              <p:nvPr/>
            </p:nvSpPr>
            <p:spPr bwMode="auto">
              <a:xfrm>
                <a:off x="1474648" y="5142412"/>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2" name="Oval 8">
                <a:extLst>
                  <a:ext uri="{FF2B5EF4-FFF2-40B4-BE49-F238E27FC236}">
                    <a16:creationId xmlns:a16="http://schemas.microsoft.com/office/drawing/2014/main" id="{35773CCD-8242-FBC8-13B2-B2E9BC2E0950}"/>
                  </a:ext>
                </a:extLst>
              </p:cNvPr>
              <p:cNvSpPr>
                <a:spLocks noChangeArrowheads="1"/>
              </p:cNvSpPr>
              <p:nvPr/>
            </p:nvSpPr>
            <p:spPr bwMode="auto">
              <a:xfrm>
                <a:off x="2020253" y="4826879"/>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3" name="Oval 9">
                <a:extLst>
                  <a:ext uri="{FF2B5EF4-FFF2-40B4-BE49-F238E27FC236}">
                    <a16:creationId xmlns:a16="http://schemas.microsoft.com/office/drawing/2014/main" id="{70CD09B0-4E19-EE05-259E-6AA351F997AD}"/>
                  </a:ext>
                </a:extLst>
              </p:cNvPr>
              <p:cNvSpPr>
                <a:spLocks noChangeArrowheads="1"/>
              </p:cNvSpPr>
              <p:nvPr/>
            </p:nvSpPr>
            <p:spPr bwMode="auto">
              <a:xfrm>
                <a:off x="2020253" y="5142412"/>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48" name="Group 147">
              <a:extLst>
                <a:ext uri="{FF2B5EF4-FFF2-40B4-BE49-F238E27FC236}">
                  <a16:creationId xmlns:a16="http://schemas.microsoft.com/office/drawing/2014/main" id="{6F745913-DC6A-A7D4-91EF-567635731576}"/>
                </a:ext>
              </a:extLst>
            </p:cNvPr>
            <p:cNvGrpSpPr/>
            <p:nvPr/>
          </p:nvGrpSpPr>
          <p:grpSpPr>
            <a:xfrm>
              <a:off x="4713786" y="1407394"/>
              <a:ext cx="199845" cy="69431"/>
              <a:chOff x="1445849" y="4947759"/>
              <a:chExt cx="299866" cy="104181"/>
            </a:xfrm>
          </p:grpSpPr>
          <p:sp>
            <p:nvSpPr>
              <p:cNvPr id="157" name="Freeform 10">
                <a:extLst>
                  <a:ext uri="{FF2B5EF4-FFF2-40B4-BE49-F238E27FC236}">
                    <a16:creationId xmlns:a16="http://schemas.microsoft.com/office/drawing/2014/main" id="{6B012532-5C3F-77B3-FCFB-7931507DBAC3}"/>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8" name="Freeform 11">
                <a:extLst>
                  <a:ext uri="{FF2B5EF4-FFF2-40B4-BE49-F238E27FC236}">
                    <a16:creationId xmlns:a16="http://schemas.microsoft.com/office/drawing/2014/main" id="{5688E124-D079-E2F4-FC83-7581D3230F78}"/>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9" name="Freeform 10">
                <a:extLst>
                  <a:ext uri="{FF2B5EF4-FFF2-40B4-BE49-F238E27FC236}">
                    <a16:creationId xmlns:a16="http://schemas.microsoft.com/office/drawing/2014/main" id="{34EF9511-3913-7649-0BA7-47D5D9414BB9}"/>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149" name="Straight Connector 148">
              <a:extLst>
                <a:ext uri="{FF2B5EF4-FFF2-40B4-BE49-F238E27FC236}">
                  <a16:creationId xmlns:a16="http://schemas.microsoft.com/office/drawing/2014/main" id="{3626069D-857C-E2CC-CFC7-D2F54B3FCF2C}"/>
                </a:ext>
              </a:extLst>
            </p:cNvPr>
            <p:cNvCxnSpPr>
              <a:cxnSpLocks/>
            </p:cNvCxnSpPr>
            <p:nvPr/>
          </p:nvCxnSpPr>
          <p:spPr bwMode="gray">
            <a:xfrm flipH="1">
              <a:off x="4550146" y="1516262"/>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D116607-C821-9011-B2FE-197049762222}"/>
                </a:ext>
              </a:extLst>
            </p:cNvPr>
            <p:cNvCxnSpPr>
              <a:cxnSpLocks/>
            </p:cNvCxnSpPr>
            <p:nvPr/>
          </p:nvCxnSpPr>
          <p:spPr bwMode="gray">
            <a:xfrm flipH="1">
              <a:off x="4550147" y="1248567"/>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C0078508-B144-7DF8-3000-BC78EE8897F7}"/>
                </a:ext>
              </a:extLst>
            </p:cNvPr>
            <p:cNvCxnSpPr>
              <a:cxnSpLocks/>
            </p:cNvCxnSpPr>
            <p:nvPr/>
          </p:nvCxnSpPr>
          <p:spPr bwMode="gray">
            <a:xfrm flipV="1">
              <a:off x="4550146" y="1248569"/>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ED4D48C7-3730-5ED6-5D30-FDFC02881A27}"/>
                </a:ext>
              </a:extLst>
            </p:cNvPr>
            <p:cNvCxnSpPr>
              <a:cxnSpLocks/>
            </p:cNvCxnSpPr>
            <p:nvPr/>
          </p:nvCxnSpPr>
          <p:spPr bwMode="gray">
            <a:xfrm flipV="1">
              <a:off x="4981152" y="1248567"/>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5208EA2D-D435-5CF4-76BD-D9F8A00F0181}"/>
                </a:ext>
              </a:extLst>
            </p:cNvPr>
            <p:cNvCxnSpPr>
              <a:cxnSpLocks/>
            </p:cNvCxnSpPr>
            <p:nvPr/>
          </p:nvCxnSpPr>
          <p:spPr bwMode="gray">
            <a:xfrm flipH="1">
              <a:off x="4505618" y="1463676"/>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F0AB595D-F7A5-91B2-8EBF-BDF640EA287B}"/>
                </a:ext>
              </a:extLst>
            </p:cNvPr>
            <p:cNvCxnSpPr>
              <a:cxnSpLocks/>
            </p:cNvCxnSpPr>
            <p:nvPr/>
          </p:nvCxnSpPr>
          <p:spPr bwMode="gray">
            <a:xfrm flipH="1">
              <a:off x="4505619" y="1195981"/>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4D2CF23-662B-9CD9-683F-22C60217F269}"/>
                </a:ext>
              </a:extLst>
            </p:cNvPr>
            <p:cNvCxnSpPr>
              <a:cxnSpLocks/>
            </p:cNvCxnSpPr>
            <p:nvPr/>
          </p:nvCxnSpPr>
          <p:spPr bwMode="gray">
            <a:xfrm flipV="1">
              <a:off x="4505618" y="1195983"/>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366360C-0E3E-19F6-C5C9-0C700F9B2DD9}"/>
                </a:ext>
              </a:extLst>
            </p:cNvPr>
            <p:cNvCxnSpPr>
              <a:cxnSpLocks/>
            </p:cNvCxnSpPr>
            <p:nvPr/>
          </p:nvCxnSpPr>
          <p:spPr bwMode="gray">
            <a:xfrm flipV="1">
              <a:off x="4936624" y="1195981"/>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EEAA8BAF-0966-8CF7-46A2-703AFB389E2D}"/>
              </a:ext>
            </a:extLst>
          </p:cNvPr>
          <p:cNvGrpSpPr/>
          <p:nvPr/>
        </p:nvGrpSpPr>
        <p:grpSpPr>
          <a:xfrm>
            <a:off x="3440939" y="4498293"/>
            <a:ext cx="533658" cy="392298"/>
            <a:chOff x="4505618" y="1195981"/>
            <a:chExt cx="533658" cy="392298"/>
          </a:xfrm>
        </p:grpSpPr>
        <p:sp>
          <p:nvSpPr>
            <p:cNvPr id="165" name="Freeform 5">
              <a:extLst>
                <a:ext uri="{FF2B5EF4-FFF2-40B4-BE49-F238E27FC236}">
                  <a16:creationId xmlns:a16="http://schemas.microsoft.com/office/drawing/2014/main" id="{A082AF22-D5C1-115C-31EB-1FC56FC6D641}"/>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66" name="Group 165">
              <a:extLst>
                <a:ext uri="{FF2B5EF4-FFF2-40B4-BE49-F238E27FC236}">
                  <a16:creationId xmlns:a16="http://schemas.microsoft.com/office/drawing/2014/main" id="{2AB5E71A-7ECD-3D8D-FB30-6E4FB1E4B114}"/>
                </a:ext>
              </a:extLst>
            </p:cNvPr>
            <p:cNvGrpSpPr/>
            <p:nvPr/>
          </p:nvGrpSpPr>
          <p:grpSpPr>
            <a:xfrm>
              <a:off x="4621577" y="1326834"/>
              <a:ext cx="384263" cy="231049"/>
              <a:chOff x="1474648" y="4826879"/>
              <a:chExt cx="576585" cy="346688"/>
            </a:xfrm>
          </p:grpSpPr>
          <p:sp>
            <p:nvSpPr>
              <p:cNvPr id="179" name="Oval 6">
                <a:extLst>
                  <a:ext uri="{FF2B5EF4-FFF2-40B4-BE49-F238E27FC236}">
                    <a16:creationId xmlns:a16="http://schemas.microsoft.com/office/drawing/2014/main" id="{FAD5F1E4-C70E-941C-DA69-3296411D60B6}"/>
                  </a:ext>
                </a:extLst>
              </p:cNvPr>
              <p:cNvSpPr>
                <a:spLocks noChangeArrowheads="1"/>
              </p:cNvSpPr>
              <p:nvPr/>
            </p:nvSpPr>
            <p:spPr bwMode="auto">
              <a:xfrm>
                <a:off x="1474648" y="4826879"/>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0" name="Oval 7">
                <a:extLst>
                  <a:ext uri="{FF2B5EF4-FFF2-40B4-BE49-F238E27FC236}">
                    <a16:creationId xmlns:a16="http://schemas.microsoft.com/office/drawing/2014/main" id="{990774BC-C4CA-C6A1-6651-3355352C0A3C}"/>
                  </a:ext>
                </a:extLst>
              </p:cNvPr>
              <p:cNvSpPr>
                <a:spLocks noChangeArrowheads="1"/>
              </p:cNvSpPr>
              <p:nvPr/>
            </p:nvSpPr>
            <p:spPr bwMode="auto">
              <a:xfrm>
                <a:off x="1474648" y="5142412"/>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1" name="Oval 8">
                <a:extLst>
                  <a:ext uri="{FF2B5EF4-FFF2-40B4-BE49-F238E27FC236}">
                    <a16:creationId xmlns:a16="http://schemas.microsoft.com/office/drawing/2014/main" id="{22CDF75A-2F0E-710E-67E6-FBF8A453001C}"/>
                  </a:ext>
                </a:extLst>
              </p:cNvPr>
              <p:cNvSpPr>
                <a:spLocks noChangeArrowheads="1"/>
              </p:cNvSpPr>
              <p:nvPr/>
            </p:nvSpPr>
            <p:spPr bwMode="auto">
              <a:xfrm>
                <a:off x="2020253" y="4826879"/>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2" name="Oval 9">
                <a:extLst>
                  <a:ext uri="{FF2B5EF4-FFF2-40B4-BE49-F238E27FC236}">
                    <a16:creationId xmlns:a16="http://schemas.microsoft.com/office/drawing/2014/main" id="{22D4A9F4-093D-2DFC-CC58-26C95FC1AD88}"/>
                  </a:ext>
                </a:extLst>
              </p:cNvPr>
              <p:cNvSpPr>
                <a:spLocks noChangeArrowheads="1"/>
              </p:cNvSpPr>
              <p:nvPr/>
            </p:nvSpPr>
            <p:spPr bwMode="auto">
              <a:xfrm>
                <a:off x="2020253" y="5142412"/>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7" name="Group 166">
              <a:extLst>
                <a:ext uri="{FF2B5EF4-FFF2-40B4-BE49-F238E27FC236}">
                  <a16:creationId xmlns:a16="http://schemas.microsoft.com/office/drawing/2014/main" id="{DD4708FB-9213-616D-8B1F-A98966DC089E}"/>
                </a:ext>
              </a:extLst>
            </p:cNvPr>
            <p:cNvGrpSpPr/>
            <p:nvPr/>
          </p:nvGrpSpPr>
          <p:grpSpPr>
            <a:xfrm>
              <a:off x="4713786" y="1407394"/>
              <a:ext cx="199845" cy="69431"/>
              <a:chOff x="1445849" y="4947759"/>
              <a:chExt cx="299866" cy="104181"/>
            </a:xfrm>
          </p:grpSpPr>
          <p:sp>
            <p:nvSpPr>
              <p:cNvPr id="176" name="Freeform 10">
                <a:extLst>
                  <a:ext uri="{FF2B5EF4-FFF2-40B4-BE49-F238E27FC236}">
                    <a16:creationId xmlns:a16="http://schemas.microsoft.com/office/drawing/2014/main" id="{C4D0FB09-B771-9902-E86D-699C97293B1B}"/>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7" name="Freeform 11">
                <a:extLst>
                  <a:ext uri="{FF2B5EF4-FFF2-40B4-BE49-F238E27FC236}">
                    <a16:creationId xmlns:a16="http://schemas.microsoft.com/office/drawing/2014/main" id="{E6791C8F-43AA-23AA-DEF3-0708DD84C3A0}"/>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8" name="Freeform 10">
                <a:extLst>
                  <a:ext uri="{FF2B5EF4-FFF2-40B4-BE49-F238E27FC236}">
                    <a16:creationId xmlns:a16="http://schemas.microsoft.com/office/drawing/2014/main" id="{7C07CEBB-C836-E2D3-E519-A0D205E7C84F}"/>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168" name="Straight Connector 167">
              <a:extLst>
                <a:ext uri="{FF2B5EF4-FFF2-40B4-BE49-F238E27FC236}">
                  <a16:creationId xmlns:a16="http://schemas.microsoft.com/office/drawing/2014/main" id="{E12DE967-A4D7-20F1-940D-63941E117093}"/>
                </a:ext>
              </a:extLst>
            </p:cNvPr>
            <p:cNvCxnSpPr>
              <a:cxnSpLocks/>
            </p:cNvCxnSpPr>
            <p:nvPr/>
          </p:nvCxnSpPr>
          <p:spPr bwMode="gray">
            <a:xfrm flipH="1">
              <a:off x="4550146" y="1516262"/>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0047CB10-43E6-4CC1-48FF-431C82DEBB67}"/>
                </a:ext>
              </a:extLst>
            </p:cNvPr>
            <p:cNvCxnSpPr>
              <a:cxnSpLocks/>
            </p:cNvCxnSpPr>
            <p:nvPr/>
          </p:nvCxnSpPr>
          <p:spPr bwMode="gray">
            <a:xfrm flipH="1">
              <a:off x="4550147" y="1248567"/>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05BFB5C9-56E9-7B1D-5153-6C3ABA0D4304}"/>
                </a:ext>
              </a:extLst>
            </p:cNvPr>
            <p:cNvCxnSpPr>
              <a:cxnSpLocks/>
            </p:cNvCxnSpPr>
            <p:nvPr/>
          </p:nvCxnSpPr>
          <p:spPr bwMode="gray">
            <a:xfrm flipV="1">
              <a:off x="4550146" y="1248569"/>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6DD4D3-C04E-1E91-44E0-E8017444D45D}"/>
                </a:ext>
              </a:extLst>
            </p:cNvPr>
            <p:cNvCxnSpPr>
              <a:cxnSpLocks/>
            </p:cNvCxnSpPr>
            <p:nvPr/>
          </p:nvCxnSpPr>
          <p:spPr bwMode="gray">
            <a:xfrm flipV="1">
              <a:off x="4981152" y="1248567"/>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9C9CD6F8-87AC-04A5-2D70-5176D3677DCA}"/>
                </a:ext>
              </a:extLst>
            </p:cNvPr>
            <p:cNvCxnSpPr>
              <a:cxnSpLocks/>
            </p:cNvCxnSpPr>
            <p:nvPr/>
          </p:nvCxnSpPr>
          <p:spPr bwMode="gray">
            <a:xfrm flipH="1">
              <a:off x="4505618" y="1463676"/>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691D024D-6C22-BB65-0982-1206EBAB1911}"/>
                </a:ext>
              </a:extLst>
            </p:cNvPr>
            <p:cNvCxnSpPr>
              <a:cxnSpLocks/>
            </p:cNvCxnSpPr>
            <p:nvPr/>
          </p:nvCxnSpPr>
          <p:spPr bwMode="gray">
            <a:xfrm flipH="1">
              <a:off x="4505619" y="1195981"/>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3D608B13-D530-058C-14B6-E6EB01F1FAEC}"/>
                </a:ext>
              </a:extLst>
            </p:cNvPr>
            <p:cNvCxnSpPr>
              <a:cxnSpLocks/>
            </p:cNvCxnSpPr>
            <p:nvPr/>
          </p:nvCxnSpPr>
          <p:spPr bwMode="gray">
            <a:xfrm flipV="1">
              <a:off x="4505618" y="1195983"/>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335414BF-FCF1-4D63-C30B-7477AC59B80F}"/>
                </a:ext>
              </a:extLst>
            </p:cNvPr>
            <p:cNvCxnSpPr>
              <a:cxnSpLocks/>
            </p:cNvCxnSpPr>
            <p:nvPr/>
          </p:nvCxnSpPr>
          <p:spPr bwMode="gray">
            <a:xfrm flipV="1">
              <a:off x="4936624" y="1195981"/>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83" name="Group 182">
            <a:extLst>
              <a:ext uri="{FF2B5EF4-FFF2-40B4-BE49-F238E27FC236}">
                <a16:creationId xmlns:a16="http://schemas.microsoft.com/office/drawing/2014/main" id="{9AD5CFB5-1538-1A33-EED3-255077516124}"/>
              </a:ext>
            </a:extLst>
          </p:cNvPr>
          <p:cNvGrpSpPr/>
          <p:nvPr/>
        </p:nvGrpSpPr>
        <p:grpSpPr>
          <a:xfrm>
            <a:off x="4708040" y="4498293"/>
            <a:ext cx="533658" cy="392298"/>
            <a:chOff x="4505618" y="1195981"/>
            <a:chExt cx="533658" cy="392298"/>
          </a:xfrm>
        </p:grpSpPr>
        <p:sp>
          <p:nvSpPr>
            <p:cNvPr id="184" name="Freeform 5">
              <a:extLst>
                <a:ext uri="{FF2B5EF4-FFF2-40B4-BE49-F238E27FC236}">
                  <a16:creationId xmlns:a16="http://schemas.microsoft.com/office/drawing/2014/main" id="{60E94502-59B4-FABA-C509-BCD2FE2DF062}"/>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85" name="Group 184">
              <a:extLst>
                <a:ext uri="{FF2B5EF4-FFF2-40B4-BE49-F238E27FC236}">
                  <a16:creationId xmlns:a16="http://schemas.microsoft.com/office/drawing/2014/main" id="{87F98214-DA06-318B-E4E2-F955A50FAC71}"/>
                </a:ext>
              </a:extLst>
            </p:cNvPr>
            <p:cNvGrpSpPr/>
            <p:nvPr/>
          </p:nvGrpSpPr>
          <p:grpSpPr>
            <a:xfrm>
              <a:off x="4621577" y="1326834"/>
              <a:ext cx="384263" cy="231049"/>
              <a:chOff x="1474648" y="4826879"/>
              <a:chExt cx="576585" cy="346688"/>
            </a:xfrm>
          </p:grpSpPr>
          <p:sp>
            <p:nvSpPr>
              <p:cNvPr id="198" name="Oval 6">
                <a:extLst>
                  <a:ext uri="{FF2B5EF4-FFF2-40B4-BE49-F238E27FC236}">
                    <a16:creationId xmlns:a16="http://schemas.microsoft.com/office/drawing/2014/main" id="{378C2C85-0299-BDE0-04D2-5A7D726E26B0}"/>
                  </a:ext>
                </a:extLst>
              </p:cNvPr>
              <p:cNvSpPr>
                <a:spLocks noChangeArrowheads="1"/>
              </p:cNvSpPr>
              <p:nvPr/>
            </p:nvSpPr>
            <p:spPr bwMode="auto">
              <a:xfrm>
                <a:off x="1474648" y="4826879"/>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9" name="Oval 7">
                <a:extLst>
                  <a:ext uri="{FF2B5EF4-FFF2-40B4-BE49-F238E27FC236}">
                    <a16:creationId xmlns:a16="http://schemas.microsoft.com/office/drawing/2014/main" id="{13032F33-D494-C33F-07D9-1D98326ED224}"/>
                  </a:ext>
                </a:extLst>
              </p:cNvPr>
              <p:cNvSpPr>
                <a:spLocks noChangeArrowheads="1"/>
              </p:cNvSpPr>
              <p:nvPr/>
            </p:nvSpPr>
            <p:spPr bwMode="auto">
              <a:xfrm>
                <a:off x="1474648" y="5142412"/>
                <a:ext cx="31228"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00" name="Oval 8">
                <a:extLst>
                  <a:ext uri="{FF2B5EF4-FFF2-40B4-BE49-F238E27FC236}">
                    <a16:creationId xmlns:a16="http://schemas.microsoft.com/office/drawing/2014/main" id="{7F9161BB-A05E-2363-C14F-41D6BC21D27A}"/>
                  </a:ext>
                </a:extLst>
              </p:cNvPr>
              <p:cNvSpPr>
                <a:spLocks noChangeArrowheads="1"/>
              </p:cNvSpPr>
              <p:nvPr/>
            </p:nvSpPr>
            <p:spPr bwMode="auto">
              <a:xfrm>
                <a:off x="2020253" y="4826879"/>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01" name="Oval 9">
                <a:extLst>
                  <a:ext uri="{FF2B5EF4-FFF2-40B4-BE49-F238E27FC236}">
                    <a16:creationId xmlns:a16="http://schemas.microsoft.com/office/drawing/2014/main" id="{BBF02E43-BA44-B83B-01C4-A488171F05E9}"/>
                  </a:ext>
                </a:extLst>
              </p:cNvPr>
              <p:cNvSpPr>
                <a:spLocks noChangeArrowheads="1"/>
              </p:cNvSpPr>
              <p:nvPr/>
            </p:nvSpPr>
            <p:spPr bwMode="auto">
              <a:xfrm>
                <a:off x="2020253" y="5142412"/>
                <a:ext cx="30980" cy="3115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86" name="Group 185">
              <a:extLst>
                <a:ext uri="{FF2B5EF4-FFF2-40B4-BE49-F238E27FC236}">
                  <a16:creationId xmlns:a16="http://schemas.microsoft.com/office/drawing/2014/main" id="{0A8C296F-7B29-49E9-B5D5-62AFED88947E}"/>
                </a:ext>
              </a:extLst>
            </p:cNvPr>
            <p:cNvGrpSpPr/>
            <p:nvPr/>
          </p:nvGrpSpPr>
          <p:grpSpPr>
            <a:xfrm>
              <a:off x="4713786" y="1407394"/>
              <a:ext cx="199845" cy="69431"/>
              <a:chOff x="1445849" y="4947759"/>
              <a:chExt cx="299866" cy="104181"/>
            </a:xfrm>
          </p:grpSpPr>
          <p:sp>
            <p:nvSpPr>
              <p:cNvPr id="195" name="Freeform 10">
                <a:extLst>
                  <a:ext uri="{FF2B5EF4-FFF2-40B4-BE49-F238E27FC236}">
                    <a16:creationId xmlns:a16="http://schemas.microsoft.com/office/drawing/2014/main" id="{711E0A5B-1AFC-3F09-0C72-5946385420A0}"/>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6" name="Freeform 11">
                <a:extLst>
                  <a:ext uri="{FF2B5EF4-FFF2-40B4-BE49-F238E27FC236}">
                    <a16:creationId xmlns:a16="http://schemas.microsoft.com/office/drawing/2014/main" id="{4AD1CCBA-8A67-1203-6871-69DA6B601798}"/>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7" name="Freeform 10">
                <a:extLst>
                  <a:ext uri="{FF2B5EF4-FFF2-40B4-BE49-F238E27FC236}">
                    <a16:creationId xmlns:a16="http://schemas.microsoft.com/office/drawing/2014/main" id="{6887AE98-B296-12F7-4D10-82A573430427}"/>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187" name="Straight Connector 186">
              <a:extLst>
                <a:ext uri="{FF2B5EF4-FFF2-40B4-BE49-F238E27FC236}">
                  <a16:creationId xmlns:a16="http://schemas.microsoft.com/office/drawing/2014/main" id="{1FD4488E-F9F2-27AE-9652-24482FB26314}"/>
                </a:ext>
              </a:extLst>
            </p:cNvPr>
            <p:cNvCxnSpPr>
              <a:cxnSpLocks/>
            </p:cNvCxnSpPr>
            <p:nvPr/>
          </p:nvCxnSpPr>
          <p:spPr bwMode="gray">
            <a:xfrm flipH="1">
              <a:off x="4550146" y="1516262"/>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16470343-DEC7-3B20-8408-691012C58640}"/>
                </a:ext>
              </a:extLst>
            </p:cNvPr>
            <p:cNvCxnSpPr>
              <a:cxnSpLocks/>
            </p:cNvCxnSpPr>
            <p:nvPr/>
          </p:nvCxnSpPr>
          <p:spPr bwMode="gray">
            <a:xfrm flipH="1">
              <a:off x="4550147" y="1248567"/>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C03C037F-8941-1D70-E743-4E27F4253835}"/>
                </a:ext>
              </a:extLst>
            </p:cNvPr>
            <p:cNvCxnSpPr>
              <a:cxnSpLocks/>
            </p:cNvCxnSpPr>
            <p:nvPr/>
          </p:nvCxnSpPr>
          <p:spPr bwMode="gray">
            <a:xfrm flipV="1">
              <a:off x="4550146" y="1248569"/>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94B971E5-5DA5-C426-9C9C-C232F19EE243}"/>
                </a:ext>
              </a:extLst>
            </p:cNvPr>
            <p:cNvCxnSpPr>
              <a:cxnSpLocks/>
            </p:cNvCxnSpPr>
            <p:nvPr/>
          </p:nvCxnSpPr>
          <p:spPr bwMode="gray">
            <a:xfrm flipV="1">
              <a:off x="4981152" y="1248567"/>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1D93F6C8-49AA-CEEF-4379-8685FA35D955}"/>
                </a:ext>
              </a:extLst>
            </p:cNvPr>
            <p:cNvCxnSpPr>
              <a:cxnSpLocks/>
            </p:cNvCxnSpPr>
            <p:nvPr/>
          </p:nvCxnSpPr>
          <p:spPr bwMode="gray">
            <a:xfrm flipH="1">
              <a:off x="4505618" y="1463676"/>
              <a:ext cx="37996"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ACF3498E-2B8B-10C9-8535-43DBDCC581A1}"/>
                </a:ext>
              </a:extLst>
            </p:cNvPr>
            <p:cNvCxnSpPr>
              <a:cxnSpLocks/>
            </p:cNvCxnSpPr>
            <p:nvPr/>
          </p:nvCxnSpPr>
          <p:spPr bwMode="gray">
            <a:xfrm flipH="1">
              <a:off x="4505619" y="1195981"/>
              <a:ext cx="431005" cy="0"/>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1C6F0C7F-8BED-9438-168B-426CDC2A0FC7}"/>
                </a:ext>
              </a:extLst>
            </p:cNvPr>
            <p:cNvCxnSpPr>
              <a:cxnSpLocks/>
            </p:cNvCxnSpPr>
            <p:nvPr/>
          </p:nvCxnSpPr>
          <p:spPr bwMode="gray">
            <a:xfrm flipV="1">
              <a:off x="4505618" y="1195983"/>
              <a:ext cx="0" cy="262945"/>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A8216829-0E2B-D3FC-5353-75FF11381421}"/>
                </a:ext>
              </a:extLst>
            </p:cNvPr>
            <p:cNvCxnSpPr>
              <a:cxnSpLocks/>
            </p:cNvCxnSpPr>
            <p:nvPr/>
          </p:nvCxnSpPr>
          <p:spPr bwMode="gray">
            <a:xfrm flipV="1">
              <a:off x="4936624" y="1195981"/>
              <a:ext cx="0" cy="50422"/>
            </a:xfrm>
            <a:prstGeom prst="line">
              <a:avLst/>
            </a:prstGeom>
            <a:ln w="127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02" name="Group 201">
            <a:extLst>
              <a:ext uri="{FF2B5EF4-FFF2-40B4-BE49-F238E27FC236}">
                <a16:creationId xmlns:a16="http://schemas.microsoft.com/office/drawing/2014/main" id="{D9A39801-87DE-B087-248B-46D343DACADD}"/>
              </a:ext>
            </a:extLst>
          </p:cNvPr>
          <p:cNvGrpSpPr/>
          <p:nvPr/>
        </p:nvGrpSpPr>
        <p:grpSpPr>
          <a:xfrm>
            <a:off x="4074489" y="4498293"/>
            <a:ext cx="533658" cy="392298"/>
            <a:chOff x="4505618" y="1195981"/>
            <a:chExt cx="533658" cy="392298"/>
          </a:xfrm>
        </p:grpSpPr>
        <p:sp>
          <p:nvSpPr>
            <p:cNvPr id="203" name="Freeform 5">
              <a:extLst>
                <a:ext uri="{FF2B5EF4-FFF2-40B4-BE49-F238E27FC236}">
                  <a16:creationId xmlns:a16="http://schemas.microsoft.com/office/drawing/2014/main" id="{7D17E8B7-6CD0-EB7F-0ECA-846D61DECA98}"/>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04" name="Group 203">
              <a:extLst>
                <a:ext uri="{FF2B5EF4-FFF2-40B4-BE49-F238E27FC236}">
                  <a16:creationId xmlns:a16="http://schemas.microsoft.com/office/drawing/2014/main" id="{DEC23C05-D23C-2C59-1BC6-3446AD977E4F}"/>
                </a:ext>
              </a:extLst>
            </p:cNvPr>
            <p:cNvGrpSpPr/>
            <p:nvPr/>
          </p:nvGrpSpPr>
          <p:grpSpPr>
            <a:xfrm>
              <a:off x="4621577" y="1326834"/>
              <a:ext cx="384263" cy="231049"/>
              <a:chOff x="1474648" y="4826879"/>
              <a:chExt cx="576585" cy="346688"/>
            </a:xfrm>
          </p:grpSpPr>
          <p:sp>
            <p:nvSpPr>
              <p:cNvPr id="217" name="Oval 6">
                <a:extLst>
                  <a:ext uri="{FF2B5EF4-FFF2-40B4-BE49-F238E27FC236}">
                    <a16:creationId xmlns:a16="http://schemas.microsoft.com/office/drawing/2014/main" id="{E9F06362-AD37-E904-D09C-F3C316DB899E}"/>
                  </a:ext>
                </a:extLst>
              </p:cNvPr>
              <p:cNvSpPr>
                <a:spLocks noChangeArrowheads="1"/>
              </p:cNvSpPr>
              <p:nvPr/>
            </p:nvSpPr>
            <p:spPr bwMode="auto">
              <a:xfrm>
                <a:off x="1474648" y="4826879"/>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18" name="Oval 7">
                <a:extLst>
                  <a:ext uri="{FF2B5EF4-FFF2-40B4-BE49-F238E27FC236}">
                    <a16:creationId xmlns:a16="http://schemas.microsoft.com/office/drawing/2014/main" id="{1170C369-9D47-E19C-85BE-67368EEC0C2B}"/>
                  </a:ext>
                </a:extLst>
              </p:cNvPr>
              <p:cNvSpPr>
                <a:spLocks noChangeArrowheads="1"/>
              </p:cNvSpPr>
              <p:nvPr/>
            </p:nvSpPr>
            <p:spPr bwMode="auto">
              <a:xfrm>
                <a:off x="1474648" y="5142412"/>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19" name="Oval 8">
                <a:extLst>
                  <a:ext uri="{FF2B5EF4-FFF2-40B4-BE49-F238E27FC236}">
                    <a16:creationId xmlns:a16="http://schemas.microsoft.com/office/drawing/2014/main" id="{784BE0C2-E939-EFB8-87D0-E2553C35540F}"/>
                  </a:ext>
                </a:extLst>
              </p:cNvPr>
              <p:cNvSpPr>
                <a:spLocks noChangeArrowheads="1"/>
              </p:cNvSpPr>
              <p:nvPr/>
            </p:nvSpPr>
            <p:spPr bwMode="auto">
              <a:xfrm>
                <a:off x="2020253" y="4826879"/>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0" name="Oval 9">
                <a:extLst>
                  <a:ext uri="{FF2B5EF4-FFF2-40B4-BE49-F238E27FC236}">
                    <a16:creationId xmlns:a16="http://schemas.microsoft.com/office/drawing/2014/main" id="{F9A60E77-C6EC-C19A-8717-4D78E8ECA8E9}"/>
                  </a:ext>
                </a:extLst>
              </p:cNvPr>
              <p:cNvSpPr>
                <a:spLocks noChangeArrowheads="1"/>
              </p:cNvSpPr>
              <p:nvPr/>
            </p:nvSpPr>
            <p:spPr bwMode="auto">
              <a:xfrm>
                <a:off x="2020253" y="5142412"/>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05" name="Group 204">
              <a:extLst>
                <a:ext uri="{FF2B5EF4-FFF2-40B4-BE49-F238E27FC236}">
                  <a16:creationId xmlns:a16="http://schemas.microsoft.com/office/drawing/2014/main" id="{BA29BEBB-B5DB-B4AF-1414-82796146124A}"/>
                </a:ext>
              </a:extLst>
            </p:cNvPr>
            <p:cNvGrpSpPr/>
            <p:nvPr/>
          </p:nvGrpSpPr>
          <p:grpSpPr>
            <a:xfrm>
              <a:off x="4713786" y="1407394"/>
              <a:ext cx="199845" cy="69431"/>
              <a:chOff x="1445849" y="4947759"/>
              <a:chExt cx="299866" cy="104181"/>
            </a:xfrm>
          </p:grpSpPr>
          <p:sp>
            <p:nvSpPr>
              <p:cNvPr id="214" name="Freeform 10">
                <a:extLst>
                  <a:ext uri="{FF2B5EF4-FFF2-40B4-BE49-F238E27FC236}">
                    <a16:creationId xmlns:a16="http://schemas.microsoft.com/office/drawing/2014/main" id="{125C6D16-2A6E-297E-12D7-DD265B9840AF}"/>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15" name="Freeform 11">
                <a:extLst>
                  <a:ext uri="{FF2B5EF4-FFF2-40B4-BE49-F238E27FC236}">
                    <a16:creationId xmlns:a16="http://schemas.microsoft.com/office/drawing/2014/main" id="{77D94A75-13E9-1F89-EB4F-67E28A61DE3E}"/>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16" name="Freeform 10">
                <a:extLst>
                  <a:ext uri="{FF2B5EF4-FFF2-40B4-BE49-F238E27FC236}">
                    <a16:creationId xmlns:a16="http://schemas.microsoft.com/office/drawing/2014/main" id="{D25BB013-C67E-5FB9-D61A-652016414D0C}"/>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206" name="Straight Connector 205">
              <a:extLst>
                <a:ext uri="{FF2B5EF4-FFF2-40B4-BE49-F238E27FC236}">
                  <a16:creationId xmlns:a16="http://schemas.microsoft.com/office/drawing/2014/main" id="{36E0CB8B-174B-598F-B8EE-25E4D651F077}"/>
                </a:ext>
              </a:extLst>
            </p:cNvPr>
            <p:cNvCxnSpPr>
              <a:cxnSpLocks/>
            </p:cNvCxnSpPr>
            <p:nvPr/>
          </p:nvCxnSpPr>
          <p:spPr bwMode="gray">
            <a:xfrm flipH="1">
              <a:off x="4550146" y="1516262"/>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4373FF52-3F75-C0B4-818A-FA873B8F04C3}"/>
                </a:ext>
              </a:extLst>
            </p:cNvPr>
            <p:cNvCxnSpPr>
              <a:cxnSpLocks/>
            </p:cNvCxnSpPr>
            <p:nvPr/>
          </p:nvCxnSpPr>
          <p:spPr bwMode="gray">
            <a:xfrm flipH="1">
              <a:off x="4550147" y="1248567"/>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A4C20517-1A41-5AFC-5B75-3DC7DDCD50DE}"/>
                </a:ext>
              </a:extLst>
            </p:cNvPr>
            <p:cNvCxnSpPr>
              <a:cxnSpLocks/>
            </p:cNvCxnSpPr>
            <p:nvPr/>
          </p:nvCxnSpPr>
          <p:spPr bwMode="gray">
            <a:xfrm flipV="1">
              <a:off x="4550146" y="1248569"/>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AC5D1D35-E1C7-FDB4-259A-94BA3257D830}"/>
                </a:ext>
              </a:extLst>
            </p:cNvPr>
            <p:cNvCxnSpPr>
              <a:cxnSpLocks/>
            </p:cNvCxnSpPr>
            <p:nvPr/>
          </p:nvCxnSpPr>
          <p:spPr bwMode="gray">
            <a:xfrm flipV="1">
              <a:off x="4981152" y="1248567"/>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A7BD6E8A-AAC1-864D-2029-54768DE0BFE3}"/>
                </a:ext>
              </a:extLst>
            </p:cNvPr>
            <p:cNvCxnSpPr>
              <a:cxnSpLocks/>
            </p:cNvCxnSpPr>
            <p:nvPr/>
          </p:nvCxnSpPr>
          <p:spPr bwMode="gray">
            <a:xfrm flipH="1">
              <a:off x="4505618" y="1463676"/>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6CD464B7-089C-56FE-BC38-6F741B7C4409}"/>
                </a:ext>
              </a:extLst>
            </p:cNvPr>
            <p:cNvCxnSpPr>
              <a:cxnSpLocks/>
            </p:cNvCxnSpPr>
            <p:nvPr/>
          </p:nvCxnSpPr>
          <p:spPr bwMode="gray">
            <a:xfrm flipH="1">
              <a:off x="4505619" y="1195981"/>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7CBC918C-BA26-AD32-0AEA-3D28F99E0151}"/>
                </a:ext>
              </a:extLst>
            </p:cNvPr>
            <p:cNvCxnSpPr>
              <a:cxnSpLocks/>
            </p:cNvCxnSpPr>
            <p:nvPr/>
          </p:nvCxnSpPr>
          <p:spPr bwMode="gray">
            <a:xfrm flipV="1">
              <a:off x="4505618" y="1195983"/>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7FE5CCB5-4F92-602F-58CD-49039818D7CB}"/>
                </a:ext>
              </a:extLst>
            </p:cNvPr>
            <p:cNvCxnSpPr>
              <a:cxnSpLocks/>
            </p:cNvCxnSpPr>
            <p:nvPr/>
          </p:nvCxnSpPr>
          <p:spPr bwMode="gray">
            <a:xfrm flipV="1">
              <a:off x="4936624" y="1195981"/>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4174D178-D62F-1D40-BF5B-DCED9F5F5B21}"/>
              </a:ext>
            </a:extLst>
          </p:cNvPr>
          <p:cNvGrpSpPr/>
          <p:nvPr/>
        </p:nvGrpSpPr>
        <p:grpSpPr>
          <a:xfrm>
            <a:off x="6547374" y="4498293"/>
            <a:ext cx="533658" cy="392298"/>
            <a:chOff x="4505618" y="1195981"/>
            <a:chExt cx="533658" cy="392298"/>
          </a:xfrm>
        </p:grpSpPr>
        <p:sp>
          <p:nvSpPr>
            <p:cNvPr id="222" name="Freeform 5">
              <a:extLst>
                <a:ext uri="{FF2B5EF4-FFF2-40B4-BE49-F238E27FC236}">
                  <a16:creationId xmlns:a16="http://schemas.microsoft.com/office/drawing/2014/main" id="{70BB18BF-63E0-A038-24C4-3E527B4381CC}"/>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23" name="Group 222">
              <a:extLst>
                <a:ext uri="{FF2B5EF4-FFF2-40B4-BE49-F238E27FC236}">
                  <a16:creationId xmlns:a16="http://schemas.microsoft.com/office/drawing/2014/main" id="{EF3A4519-52E0-41A1-5E86-80F5D584FFBB}"/>
                </a:ext>
              </a:extLst>
            </p:cNvPr>
            <p:cNvGrpSpPr/>
            <p:nvPr/>
          </p:nvGrpSpPr>
          <p:grpSpPr>
            <a:xfrm>
              <a:off x="4621577" y="1326834"/>
              <a:ext cx="384263" cy="231049"/>
              <a:chOff x="1474648" y="4826879"/>
              <a:chExt cx="576585" cy="346688"/>
            </a:xfrm>
          </p:grpSpPr>
          <p:sp>
            <p:nvSpPr>
              <p:cNvPr id="236" name="Oval 6">
                <a:extLst>
                  <a:ext uri="{FF2B5EF4-FFF2-40B4-BE49-F238E27FC236}">
                    <a16:creationId xmlns:a16="http://schemas.microsoft.com/office/drawing/2014/main" id="{E29EE9BD-EDD5-D330-3E89-AB13376DA3D4}"/>
                  </a:ext>
                </a:extLst>
              </p:cNvPr>
              <p:cNvSpPr>
                <a:spLocks noChangeArrowheads="1"/>
              </p:cNvSpPr>
              <p:nvPr/>
            </p:nvSpPr>
            <p:spPr bwMode="auto">
              <a:xfrm>
                <a:off x="1474648" y="4826879"/>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7" name="Oval 7">
                <a:extLst>
                  <a:ext uri="{FF2B5EF4-FFF2-40B4-BE49-F238E27FC236}">
                    <a16:creationId xmlns:a16="http://schemas.microsoft.com/office/drawing/2014/main" id="{EBB4FDA0-FCA1-2EDA-C0DF-03F98246E79E}"/>
                  </a:ext>
                </a:extLst>
              </p:cNvPr>
              <p:cNvSpPr>
                <a:spLocks noChangeArrowheads="1"/>
              </p:cNvSpPr>
              <p:nvPr/>
            </p:nvSpPr>
            <p:spPr bwMode="auto">
              <a:xfrm>
                <a:off x="1474648" y="5142412"/>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8" name="Oval 8">
                <a:extLst>
                  <a:ext uri="{FF2B5EF4-FFF2-40B4-BE49-F238E27FC236}">
                    <a16:creationId xmlns:a16="http://schemas.microsoft.com/office/drawing/2014/main" id="{28539341-94D5-34F4-900E-9561B90D26FE}"/>
                  </a:ext>
                </a:extLst>
              </p:cNvPr>
              <p:cNvSpPr>
                <a:spLocks noChangeArrowheads="1"/>
              </p:cNvSpPr>
              <p:nvPr/>
            </p:nvSpPr>
            <p:spPr bwMode="auto">
              <a:xfrm>
                <a:off x="2020253" y="4826879"/>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9" name="Oval 9">
                <a:extLst>
                  <a:ext uri="{FF2B5EF4-FFF2-40B4-BE49-F238E27FC236}">
                    <a16:creationId xmlns:a16="http://schemas.microsoft.com/office/drawing/2014/main" id="{BA857BA5-357D-1E62-0A98-9C54A6DE5AAB}"/>
                  </a:ext>
                </a:extLst>
              </p:cNvPr>
              <p:cNvSpPr>
                <a:spLocks noChangeArrowheads="1"/>
              </p:cNvSpPr>
              <p:nvPr/>
            </p:nvSpPr>
            <p:spPr bwMode="auto">
              <a:xfrm>
                <a:off x="2020253" y="5142412"/>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24" name="Group 223">
              <a:extLst>
                <a:ext uri="{FF2B5EF4-FFF2-40B4-BE49-F238E27FC236}">
                  <a16:creationId xmlns:a16="http://schemas.microsoft.com/office/drawing/2014/main" id="{B04AE14C-7438-309A-F863-CE0DB13DDE69}"/>
                </a:ext>
              </a:extLst>
            </p:cNvPr>
            <p:cNvGrpSpPr/>
            <p:nvPr/>
          </p:nvGrpSpPr>
          <p:grpSpPr>
            <a:xfrm>
              <a:off x="4713786" y="1407394"/>
              <a:ext cx="199845" cy="69431"/>
              <a:chOff x="1445849" y="4947759"/>
              <a:chExt cx="299866" cy="104181"/>
            </a:xfrm>
          </p:grpSpPr>
          <p:sp>
            <p:nvSpPr>
              <p:cNvPr id="233" name="Freeform 10">
                <a:extLst>
                  <a:ext uri="{FF2B5EF4-FFF2-40B4-BE49-F238E27FC236}">
                    <a16:creationId xmlns:a16="http://schemas.microsoft.com/office/drawing/2014/main" id="{2A9D0540-C8E3-DF0A-86EA-C4EA38C046A1}"/>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4" name="Freeform 11">
                <a:extLst>
                  <a:ext uri="{FF2B5EF4-FFF2-40B4-BE49-F238E27FC236}">
                    <a16:creationId xmlns:a16="http://schemas.microsoft.com/office/drawing/2014/main" id="{FAAE82F9-8184-1D45-79CC-939B3CBC2528}"/>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5" name="Freeform 10">
                <a:extLst>
                  <a:ext uri="{FF2B5EF4-FFF2-40B4-BE49-F238E27FC236}">
                    <a16:creationId xmlns:a16="http://schemas.microsoft.com/office/drawing/2014/main" id="{D16BA2E8-C383-DDED-C783-A32CB64E77B1}"/>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225" name="Straight Connector 224">
              <a:extLst>
                <a:ext uri="{FF2B5EF4-FFF2-40B4-BE49-F238E27FC236}">
                  <a16:creationId xmlns:a16="http://schemas.microsoft.com/office/drawing/2014/main" id="{03B13F57-8AA7-8D66-92AE-752F81A1AA4A}"/>
                </a:ext>
              </a:extLst>
            </p:cNvPr>
            <p:cNvCxnSpPr>
              <a:cxnSpLocks/>
            </p:cNvCxnSpPr>
            <p:nvPr/>
          </p:nvCxnSpPr>
          <p:spPr bwMode="gray">
            <a:xfrm flipH="1">
              <a:off x="4550146" y="1516262"/>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0CAA1E3A-4B9D-FAA9-0EB1-3EB33EFD64C6}"/>
                </a:ext>
              </a:extLst>
            </p:cNvPr>
            <p:cNvCxnSpPr>
              <a:cxnSpLocks/>
            </p:cNvCxnSpPr>
            <p:nvPr/>
          </p:nvCxnSpPr>
          <p:spPr bwMode="gray">
            <a:xfrm flipH="1">
              <a:off x="4550147" y="1248567"/>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5BE2D64F-0EB7-BAD3-57E6-0BFD4530BE59}"/>
                </a:ext>
              </a:extLst>
            </p:cNvPr>
            <p:cNvCxnSpPr>
              <a:cxnSpLocks/>
            </p:cNvCxnSpPr>
            <p:nvPr/>
          </p:nvCxnSpPr>
          <p:spPr bwMode="gray">
            <a:xfrm flipV="1">
              <a:off x="4550146" y="1248569"/>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BAFED482-246C-61E2-2826-CA36C198951F}"/>
                </a:ext>
              </a:extLst>
            </p:cNvPr>
            <p:cNvCxnSpPr>
              <a:cxnSpLocks/>
            </p:cNvCxnSpPr>
            <p:nvPr/>
          </p:nvCxnSpPr>
          <p:spPr bwMode="gray">
            <a:xfrm flipV="1">
              <a:off x="4981152" y="1248567"/>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E70CD5CD-9376-573C-1DAF-E432AF18DF75}"/>
                </a:ext>
              </a:extLst>
            </p:cNvPr>
            <p:cNvCxnSpPr>
              <a:cxnSpLocks/>
            </p:cNvCxnSpPr>
            <p:nvPr/>
          </p:nvCxnSpPr>
          <p:spPr bwMode="gray">
            <a:xfrm flipH="1">
              <a:off x="4505618" y="1463676"/>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0689FD06-3BC6-FED1-15B8-F0F243419C91}"/>
                </a:ext>
              </a:extLst>
            </p:cNvPr>
            <p:cNvCxnSpPr>
              <a:cxnSpLocks/>
            </p:cNvCxnSpPr>
            <p:nvPr/>
          </p:nvCxnSpPr>
          <p:spPr bwMode="gray">
            <a:xfrm flipH="1">
              <a:off x="4505619" y="1195981"/>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81896FCC-A48E-386B-A026-54317CA90041}"/>
                </a:ext>
              </a:extLst>
            </p:cNvPr>
            <p:cNvCxnSpPr>
              <a:cxnSpLocks/>
            </p:cNvCxnSpPr>
            <p:nvPr/>
          </p:nvCxnSpPr>
          <p:spPr bwMode="gray">
            <a:xfrm flipV="1">
              <a:off x="4505618" y="1195983"/>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E223C525-30FD-D22D-5B78-AC5E48572306}"/>
                </a:ext>
              </a:extLst>
            </p:cNvPr>
            <p:cNvCxnSpPr>
              <a:cxnSpLocks/>
            </p:cNvCxnSpPr>
            <p:nvPr/>
          </p:nvCxnSpPr>
          <p:spPr bwMode="gray">
            <a:xfrm flipV="1">
              <a:off x="4936624" y="1195981"/>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40" name="Group 239">
            <a:extLst>
              <a:ext uri="{FF2B5EF4-FFF2-40B4-BE49-F238E27FC236}">
                <a16:creationId xmlns:a16="http://schemas.microsoft.com/office/drawing/2014/main" id="{391C8C83-86B2-78FF-D6DD-3672A6B44696}"/>
              </a:ext>
            </a:extLst>
          </p:cNvPr>
          <p:cNvGrpSpPr/>
          <p:nvPr/>
        </p:nvGrpSpPr>
        <p:grpSpPr>
          <a:xfrm>
            <a:off x="5913824" y="4498293"/>
            <a:ext cx="533658" cy="392298"/>
            <a:chOff x="4505618" y="1195981"/>
            <a:chExt cx="533658" cy="392298"/>
          </a:xfrm>
        </p:grpSpPr>
        <p:sp>
          <p:nvSpPr>
            <p:cNvPr id="241" name="Freeform 5">
              <a:extLst>
                <a:ext uri="{FF2B5EF4-FFF2-40B4-BE49-F238E27FC236}">
                  <a16:creationId xmlns:a16="http://schemas.microsoft.com/office/drawing/2014/main" id="{3642F443-DC1F-9548-52A1-FC153AC12A4F}"/>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42" name="Group 241">
              <a:extLst>
                <a:ext uri="{FF2B5EF4-FFF2-40B4-BE49-F238E27FC236}">
                  <a16:creationId xmlns:a16="http://schemas.microsoft.com/office/drawing/2014/main" id="{701D5DD6-906F-D966-9A3E-E8D26CC7D6B2}"/>
                </a:ext>
              </a:extLst>
            </p:cNvPr>
            <p:cNvGrpSpPr/>
            <p:nvPr/>
          </p:nvGrpSpPr>
          <p:grpSpPr>
            <a:xfrm>
              <a:off x="4621577" y="1326834"/>
              <a:ext cx="384263" cy="231049"/>
              <a:chOff x="1474648" y="4826879"/>
              <a:chExt cx="576585" cy="346688"/>
            </a:xfrm>
          </p:grpSpPr>
          <p:sp>
            <p:nvSpPr>
              <p:cNvPr id="255" name="Oval 6">
                <a:extLst>
                  <a:ext uri="{FF2B5EF4-FFF2-40B4-BE49-F238E27FC236}">
                    <a16:creationId xmlns:a16="http://schemas.microsoft.com/office/drawing/2014/main" id="{2ABF40DB-EA30-C6BA-3E1B-D247A564ED74}"/>
                  </a:ext>
                </a:extLst>
              </p:cNvPr>
              <p:cNvSpPr>
                <a:spLocks noChangeArrowheads="1"/>
              </p:cNvSpPr>
              <p:nvPr/>
            </p:nvSpPr>
            <p:spPr bwMode="auto">
              <a:xfrm>
                <a:off x="1474648" y="4826879"/>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6" name="Oval 7">
                <a:extLst>
                  <a:ext uri="{FF2B5EF4-FFF2-40B4-BE49-F238E27FC236}">
                    <a16:creationId xmlns:a16="http://schemas.microsoft.com/office/drawing/2014/main" id="{447200A6-BEFF-2301-8060-54967DF5EA5D}"/>
                  </a:ext>
                </a:extLst>
              </p:cNvPr>
              <p:cNvSpPr>
                <a:spLocks noChangeArrowheads="1"/>
              </p:cNvSpPr>
              <p:nvPr/>
            </p:nvSpPr>
            <p:spPr bwMode="auto">
              <a:xfrm>
                <a:off x="1474648" y="5142412"/>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7" name="Oval 8">
                <a:extLst>
                  <a:ext uri="{FF2B5EF4-FFF2-40B4-BE49-F238E27FC236}">
                    <a16:creationId xmlns:a16="http://schemas.microsoft.com/office/drawing/2014/main" id="{C10F09BD-0D98-2312-779A-1C60F2B2E1B1}"/>
                  </a:ext>
                </a:extLst>
              </p:cNvPr>
              <p:cNvSpPr>
                <a:spLocks noChangeArrowheads="1"/>
              </p:cNvSpPr>
              <p:nvPr/>
            </p:nvSpPr>
            <p:spPr bwMode="auto">
              <a:xfrm>
                <a:off x="2020253" y="4826879"/>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8" name="Oval 9">
                <a:extLst>
                  <a:ext uri="{FF2B5EF4-FFF2-40B4-BE49-F238E27FC236}">
                    <a16:creationId xmlns:a16="http://schemas.microsoft.com/office/drawing/2014/main" id="{378D1DCE-E8C1-17B1-9C85-6FE6D78EA3D2}"/>
                  </a:ext>
                </a:extLst>
              </p:cNvPr>
              <p:cNvSpPr>
                <a:spLocks noChangeArrowheads="1"/>
              </p:cNvSpPr>
              <p:nvPr/>
            </p:nvSpPr>
            <p:spPr bwMode="auto">
              <a:xfrm>
                <a:off x="2020253" y="5142412"/>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43" name="Group 242">
              <a:extLst>
                <a:ext uri="{FF2B5EF4-FFF2-40B4-BE49-F238E27FC236}">
                  <a16:creationId xmlns:a16="http://schemas.microsoft.com/office/drawing/2014/main" id="{5D91EA87-7D5D-9562-C95F-E40D5CADD20A}"/>
                </a:ext>
              </a:extLst>
            </p:cNvPr>
            <p:cNvGrpSpPr/>
            <p:nvPr/>
          </p:nvGrpSpPr>
          <p:grpSpPr>
            <a:xfrm>
              <a:off x="4713786" y="1407394"/>
              <a:ext cx="199845" cy="69431"/>
              <a:chOff x="1445849" y="4947759"/>
              <a:chExt cx="299866" cy="104181"/>
            </a:xfrm>
          </p:grpSpPr>
          <p:sp>
            <p:nvSpPr>
              <p:cNvPr id="252" name="Freeform 10">
                <a:extLst>
                  <a:ext uri="{FF2B5EF4-FFF2-40B4-BE49-F238E27FC236}">
                    <a16:creationId xmlns:a16="http://schemas.microsoft.com/office/drawing/2014/main" id="{C016B97E-8405-3FA5-C019-2D97A6B1E476}"/>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3" name="Freeform 11">
                <a:extLst>
                  <a:ext uri="{FF2B5EF4-FFF2-40B4-BE49-F238E27FC236}">
                    <a16:creationId xmlns:a16="http://schemas.microsoft.com/office/drawing/2014/main" id="{41F34F2B-1DEA-EC7F-6D6B-BFCE1D9B83A7}"/>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4" name="Freeform 10">
                <a:extLst>
                  <a:ext uri="{FF2B5EF4-FFF2-40B4-BE49-F238E27FC236}">
                    <a16:creationId xmlns:a16="http://schemas.microsoft.com/office/drawing/2014/main" id="{261B30A6-D907-03BA-B42A-440BDB4494D4}"/>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244" name="Straight Connector 243">
              <a:extLst>
                <a:ext uri="{FF2B5EF4-FFF2-40B4-BE49-F238E27FC236}">
                  <a16:creationId xmlns:a16="http://schemas.microsoft.com/office/drawing/2014/main" id="{5CCFFB27-6D8F-6864-5F97-5FF4BCABC0D1}"/>
                </a:ext>
              </a:extLst>
            </p:cNvPr>
            <p:cNvCxnSpPr>
              <a:cxnSpLocks/>
            </p:cNvCxnSpPr>
            <p:nvPr/>
          </p:nvCxnSpPr>
          <p:spPr bwMode="gray">
            <a:xfrm flipH="1">
              <a:off x="4550146" y="1516262"/>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48A6B574-F717-EC99-4AEF-51145E6BDC14}"/>
                </a:ext>
              </a:extLst>
            </p:cNvPr>
            <p:cNvCxnSpPr>
              <a:cxnSpLocks/>
            </p:cNvCxnSpPr>
            <p:nvPr/>
          </p:nvCxnSpPr>
          <p:spPr bwMode="gray">
            <a:xfrm flipH="1">
              <a:off x="4550147" y="1248567"/>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71A419B9-C275-375C-DA2B-D3B86BEB3FAE}"/>
                </a:ext>
              </a:extLst>
            </p:cNvPr>
            <p:cNvCxnSpPr>
              <a:cxnSpLocks/>
            </p:cNvCxnSpPr>
            <p:nvPr/>
          </p:nvCxnSpPr>
          <p:spPr bwMode="gray">
            <a:xfrm flipV="1">
              <a:off x="4550146" y="1248569"/>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2B64A721-F661-F622-E48C-A5F387516F45}"/>
                </a:ext>
              </a:extLst>
            </p:cNvPr>
            <p:cNvCxnSpPr>
              <a:cxnSpLocks/>
            </p:cNvCxnSpPr>
            <p:nvPr/>
          </p:nvCxnSpPr>
          <p:spPr bwMode="gray">
            <a:xfrm flipV="1">
              <a:off x="4981152" y="1248567"/>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408AC109-EF93-36ED-611F-B6864B38A237}"/>
                </a:ext>
              </a:extLst>
            </p:cNvPr>
            <p:cNvCxnSpPr>
              <a:cxnSpLocks/>
            </p:cNvCxnSpPr>
            <p:nvPr/>
          </p:nvCxnSpPr>
          <p:spPr bwMode="gray">
            <a:xfrm flipH="1">
              <a:off x="4505618" y="1463676"/>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72A12ECA-A503-B30D-13B9-88C9389FCB17}"/>
                </a:ext>
              </a:extLst>
            </p:cNvPr>
            <p:cNvCxnSpPr>
              <a:cxnSpLocks/>
            </p:cNvCxnSpPr>
            <p:nvPr/>
          </p:nvCxnSpPr>
          <p:spPr bwMode="gray">
            <a:xfrm flipH="1">
              <a:off x="4505619" y="1195981"/>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CE31BB04-F41B-6D23-EA02-284D85193AAC}"/>
                </a:ext>
              </a:extLst>
            </p:cNvPr>
            <p:cNvCxnSpPr>
              <a:cxnSpLocks/>
            </p:cNvCxnSpPr>
            <p:nvPr/>
          </p:nvCxnSpPr>
          <p:spPr bwMode="gray">
            <a:xfrm flipV="1">
              <a:off x="4505618" y="1195983"/>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5E35BCEF-B10A-8A5F-2F72-7984593AF7AF}"/>
                </a:ext>
              </a:extLst>
            </p:cNvPr>
            <p:cNvCxnSpPr>
              <a:cxnSpLocks/>
            </p:cNvCxnSpPr>
            <p:nvPr/>
          </p:nvCxnSpPr>
          <p:spPr bwMode="gray">
            <a:xfrm flipV="1">
              <a:off x="4936624" y="1195981"/>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AEB7E58A-ABEF-49C3-A3E0-F1F9E711A2F4}"/>
              </a:ext>
            </a:extLst>
          </p:cNvPr>
          <p:cNvGrpSpPr/>
          <p:nvPr/>
        </p:nvGrpSpPr>
        <p:grpSpPr>
          <a:xfrm>
            <a:off x="7180925" y="4498293"/>
            <a:ext cx="533658" cy="392298"/>
            <a:chOff x="4505618" y="1195981"/>
            <a:chExt cx="533658" cy="392298"/>
          </a:xfrm>
        </p:grpSpPr>
        <p:sp>
          <p:nvSpPr>
            <p:cNvPr id="260" name="Freeform 5">
              <a:extLst>
                <a:ext uri="{FF2B5EF4-FFF2-40B4-BE49-F238E27FC236}">
                  <a16:creationId xmlns:a16="http://schemas.microsoft.com/office/drawing/2014/main" id="{5C60D934-E0CB-E277-D81D-B861C0A31CD7}"/>
                </a:ext>
              </a:extLst>
            </p:cNvPr>
            <p:cNvSpPr>
              <a:spLocks noEditPoints="1"/>
            </p:cNvSpPr>
            <p:nvPr/>
          </p:nvSpPr>
          <p:spPr bwMode="auto">
            <a:xfrm>
              <a:off x="4588140" y="1296271"/>
              <a:ext cx="451136" cy="292008"/>
            </a:xfrm>
            <a:custGeom>
              <a:avLst/>
              <a:gdLst>
                <a:gd name="T0" fmla="*/ 0 w 2483"/>
                <a:gd name="T1" fmla="*/ 0 h 1758"/>
                <a:gd name="T2" fmla="*/ 0 w 2483"/>
                <a:gd name="T3" fmla="*/ 1758 h 1758"/>
                <a:gd name="T4" fmla="*/ 2483 w 2483"/>
                <a:gd name="T5" fmla="*/ 1758 h 1758"/>
                <a:gd name="T6" fmla="*/ 2483 w 2483"/>
                <a:gd name="T7" fmla="*/ 0 h 1758"/>
                <a:gd name="T8" fmla="*/ 0 w 2483"/>
                <a:gd name="T9" fmla="*/ 0 h 1758"/>
                <a:gd name="T10" fmla="*/ 2418 w 2483"/>
                <a:gd name="T11" fmla="*/ 1694 h 1758"/>
                <a:gd name="T12" fmla="*/ 65 w 2483"/>
                <a:gd name="T13" fmla="*/ 1694 h 1758"/>
                <a:gd name="T14" fmla="*/ 65 w 2483"/>
                <a:gd name="T15" fmla="*/ 65 h 1758"/>
                <a:gd name="T16" fmla="*/ 2418 w 2483"/>
                <a:gd name="T17" fmla="*/ 65 h 1758"/>
                <a:gd name="T18" fmla="*/ 2418 w 2483"/>
                <a:gd name="T19" fmla="*/ 1694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3" h="1758">
                  <a:moveTo>
                    <a:pt x="0" y="0"/>
                  </a:moveTo>
                  <a:lnTo>
                    <a:pt x="0" y="1758"/>
                  </a:lnTo>
                  <a:lnTo>
                    <a:pt x="2483" y="1758"/>
                  </a:lnTo>
                  <a:lnTo>
                    <a:pt x="2483" y="0"/>
                  </a:lnTo>
                  <a:lnTo>
                    <a:pt x="0" y="0"/>
                  </a:lnTo>
                  <a:close/>
                  <a:moveTo>
                    <a:pt x="2418" y="1694"/>
                  </a:moveTo>
                  <a:lnTo>
                    <a:pt x="65" y="1694"/>
                  </a:lnTo>
                  <a:lnTo>
                    <a:pt x="65" y="65"/>
                  </a:lnTo>
                  <a:lnTo>
                    <a:pt x="2418" y="65"/>
                  </a:lnTo>
                  <a:lnTo>
                    <a:pt x="2418" y="1694"/>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61" name="Group 260">
              <a:extLst>
                <a:ext uri="{FF2B5EF4-FFF2-40B4-BE49-F238E27FC236}">
                  <a16:creationId xmlns:a16="http://schemas.microsoft.com/office/drawing/2014/main" id="{E40A6272-1D4C-4F55-3779-408C9C659C2F}"/>
                </a:ext>
              </a:extLst>
            </p:cNvPr>
            <p:cNvGrpSpPr/>
            <p:nvPr/>
          </p:nvGrpSpPr>
          <p:grpSpPr>
            <a:xfrm>
              <a:off x="4621577" y="1326834"/>
              <a:ext cx="384263" cy="231049"/>
              <a:chOff x="1474648" y="4826879"/>
              <a:chExt cx="576585" cy="346688"/>
            </a:xfrm>
          </p:grpSpPr>
          <p:sp>
            <p:nvSpPr>
              <p:cNvPr id="274" name="Oval 6">
                <a:extLst>
                  <a:ext uri="{FF2B5EF4-FFF2-40B4-BE49-F238E27FC236}">
                    <a16:creationId xmlns:a16="http://schemas.microsoft.com/office/drawing/2014/main" id="{D25AEE94-EE63-DE99-13BF-72FD74382607}"/>
                  </a:ext>
                </a:extLst>
              </p:cNvPr>
              <p:cNvSpPr>
                <a:spLocks noChangeArrowheads="1"/>
              </p:cNvSpPr>
              <p:nvPr/>
            </p:nvSpPr>
            <p:spPr bwMode="auto">
              <a:xfrm>
                <a:off x="1474648" y="4826879"/>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5" name="Oval 7">
                <a:extLst>
                  <a:ext uri="{FF2B5EF4-FFF2-40B4-BE49-F238E27FC236}">
                    <a16:creationId xmlns:a16="http://schemas.microsoft.com/office/drawing/2014/main" id="{8710175C-9FC9-3203-1418-9124108466B1}"/>
                  </a:ext>
                </a:extLst>
              </p:cNvPr>
              <p:cNvSpPr>
                <a:spLocks noChangeArrowheads="1"/>
              </p:cNvSpPr>
              <p:nvPr/>
            </p:nvSpPr>
            <p:spPr bwMode="auto">
              <a:xfrm>
                <a:off x="1474648" y="5142412"/>
                <a:ext cx="31228"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6" name="Oval 8">
                <a:extLst>
                  <a:ext uri="{FF2B5EF4-FFF2-40B4-BE49-F238E27FC236}">
                    <a16:creationId xmlns:a16="http://schemas.microsoft.com/office/drawing/2014/main" id="{5D8B27AF-C5A7-BCEB-433E-166F447AD456}"/>
                  </a:ext>
                </a:extLst>
              </p:cNvPr>
              <p:cNvSpPr>
                <a:spLocks noChangeArrowheads="1"/>
              </p:cNvSpPr>
              <p:nvPr/>
            </p:nvSpPr>
            <p:spPr bwMode="auto">
              <a:xfrm>
                <a:off x="2020253" y="4826879"/>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7" name="Oval 9">
                <a:extLst>
                  <a:ext uri="{FF2B5EF4-FFF2-40B4-BE49-F238E27FC236}">
                    <a16:creationId xmlns:a16="http://schemas.microsoft.com/office/drawing/2014/main" id="{78837141-4180-1241-CC0C-03D9EAC20B49}"/>
                  </a:ext>
                </a:extLst>
              </p:cNvPr>
              <p:cNvSpPr>
                <a:spLocks noChangeArrowheads="1"/>
              </p:cNvSpPr>
              <p:nvPr/>
            </p:nvSpPr>
            <p:spPr bwMode="auto">
              <a:xfrm>
                <a:off x="2020253" y="5142412"/>
                <a:ext cx="30980" cy="31155"/>
              </a:xfrm>
              <a:prstGeom prst="ellipse">
                <a:avLst/>
              </a:pr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62" name="Group 261">
              <a:extLst>
                <a:ext uri="{FF2B5EF4-FFF2-40B4-BE49-F238E27FC236}">
                  <a16:creationId xmlns:a16="http://schemas.microsoft.com/office/drawing/2014/main" id="{57D4132D-B95A-CEEE-3815-2591C1533403}"/>
                </a:ext>
              </a:extLst>
            </p:cNvPr>
            <p:cNvGrpSpPr/>
            <p:nvPr/>
          </p:nvGrpSpPr>
          <p:grpSpPr>
            <a:xfrm>
              <a:off x="4713786" y="1407394"/>
              <a:ext cx="199845" cy="69431"/>
              <a:chOff x="1445849" y="4947759"/>
              <a:chExt cx="299866" cy="104181"/>
            </a:xfrm>
          </p:grpSpPr>
          <p:sp>
            <p:nvSpPr>
              <p:cNvPr id="271" name="Freeform 10">
                <a:extLst>
                  <a:ext uri="{FF2B5EF4-FFF2-40B4-BE49-F238E27FC236}">
                    <a16:creationId xmlns:a16="http://schemas.microsoft.com/office/drawing/2014/main" id="{119E362B-690A-2D91-33EA-7F2C5A4D3A9A}"/>
                  </a:ext>
                </a:extLst>
              </p:cNvPr>
              <p:cNvSpPr>
                <a:spLocks/>
              </p:cNvSpPr>
              <p:nvPr/>
            </p:nvSpPr>
            <p:spPr bwMode="auto">
              <a:xfrm>
                <a:off x="1550675"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2" name="Freeform 11">
                <a:extLst>
                  <a:ext uri="{FF2B5EF4-FFF2-40B4-BE49-F238E27FC236}">
                    <a16:creationId xmlns:a16="http://schemas.microsoft.com/office/drawing/2014/main" id="{E9D649A3-C353-1D37-8023-436CD378E08F}"/>
                  </a:ext>
                </a:extLst>
              </p:cNvPr>
              <p:cNvSpPr>
                <a:spLocks noEditPoints="1"/>
              </p:cNvSpPr>
              <p:nvPr/>
            </p:nvSpPr>
            <p:spPr bwMode="auto">
              <a:xfrm>
                <a:off x="1655501" y="4949254"/>
                <a:ext cx="90214" cy="101190"/>
              </a:xfrm>
              <a:custGeom>
                <a:avLst/>
                <a:gdLst>
                  <a:gd name="T0" fmla="*/ 534 w 534"/>
                  <a:gd name="T1" fmla="*/ 297 h 596"/>
                  <a:gd name="T2" fmla="*/ 206 w 534"/>
                  <a:gd name="T3" fmla="*/ 0 h 596"/>
                  <a:gd name="T4" fmla="*/ 0 w 534"/>
                  <a:gd name="T5" fmla="*/ 0 h 596"/>
                  <a:gd name="T6" fmla="*/ 0 w 534"/>
                  <a:gd name="T7" fmla="*/ 596 h 596"/>
                  <a:gd name="T8" fmla="*/ 206 w 534"/>
                  <a:gd name="T9" fmla="*/ 596 h 596"/>
                  <a:gd name="T10" fmla="*/ 534 w 534"/>
                  <a:gd name="T11" fmla="*/ 297 h 596"/>
                  <a:gd name="T12" fmla="*/ 88 w 534"/>
                  <a:gd name="T13" fmla="*/ 80 h 596"/>
                  <a:gd name="T14" fmla="*/ 211 w 534"/>
                  <a:gd name="T15" fmla="*/ 80 h 596"/>
                  <a:gd name="T16" fmla="*/ 445 w 534"/>
                  <a:gd name="T17" fmla="*/ 297 h 596"/>
                  <a:gd name="T18" fmla="*/ 211 w 534"/>
                  <a:gd name="T19" fmla="*/ 516 h 596"/>
                  <a:gd name="T20" fmla="*/ 88 w 534"/>
                  <a:gd name="T21" fmla="*/ 516 h 596"/>
                  <a:gd name="T22" fmla="*/ 88 w 534"/>
                  <a:gd name="T23" fmla="*/ 8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4" h="596">
                    <a:moveTo>
                      <a:pt x="534" y="297"/>
                    </a:moveTo>
                    <a:cubicBezTo>
                      <a:pt x="534" y="123"/>
                      <a:pt x="398" y="0"/>
                      <a:pt x="206" y="0"/>
                    </a:cubicBezTo>
                    <a:cubicBezTo>
                      <a:pt x="0" y="0"/>
                      <a:pt x="0" y="0"/>
                      <a:pt x="0" y="0"/>
                    </a:cubicBezTo>
                    <a:cubicBezTo>
                      <a:pt x="0" y="596"/>
                      <a:pt x="0" y="596"/>
                      <a:pt x="0" y="596"/>
                    </a:cubicBezTo>
                    <a:cubicBezTo>
                      <a:pt x="206" y="596"/>
                      <a:pt x="206" y="596"/>
                      <a:pt x="206" y="596"/>
                    </a:cubicBezTo>
                    <a:cubicBezTo>
                      <a:pt x="398" y="596"/>
                      <a:pt x="534" y="472"/>
                      <a:pt x="534" y="297"/>
                    </a:cubicBezTo>
                    <a:close/>
                    <a:moveTo>
                      <a:pt x="88" y="80"/>
                    </a:moveTo>
                    <a:cubicBezTo>
                      <a:pt x="211" y="80"/>
                      <a:pt x="211" y="80"/>
                      <a:pt x="211" y="80"/>
                    </a:cubicBezTo>
                    <a:cubicBezTo>
                      <a:pt x="348" y="80"/>
                      <a:pt x="445" y="170"/>
                      <a:pt x="445" y="297"/>
                    </a:cubicBezTo>
                    <a:cubicBezTo>
                      <a:pt x="445" y="426"/>
                      <a:pt x="348" y="516"/>
                      <a:pt x="211" y="516"/>
                    </a:cubicBezTo>
                    <a:cubicBezTo>
                      <a:pt x="88" y="516"/>
                      <a:pt x="88" y="516"/>
                      <a:pt x="88" y="516"/>
                    </a:cubicBezTo>
                    <a:lnTo>
                      <a:pt x="88" y="80"/>
                    </a:ln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3" name="Freeform 10">
                <a:extLst>
                  <a:ext uri="{FF2B5EF4-FFF2-40B4-BE49-F238E27FC236}">
                    <a16:creationId xmlns:a16="http://schemas.microsoft.com/office/drawing/2014/main" id="{0CBDA03A-4710-53AE-5909-D00F6DBF3E90}"/>
                  </a:ext>
                </a:extLst>
              </p:cNvPr>
              <p:cNvSpPr>
                <a:spLocks/>
              </p:cNvSpPr>
              <p:nvPr/>
            </p:nvSpPr>
            <p:spPr bwMode="auto">
              <a:xfrm>
                <a:off x="1445849" y="4947759"/>
                <a:ext cx="77822" cy="104181"/>
              </a:xfrm>
              <a:custGeom>
                <a:avLst/>
                <a:gdLst>
                  <a:gd name="T0" fmla="*/ 248 w 461"/>
                  <a:gd name="T1" fmla="*/ 538 h 615"/>
                  <a:gd name="T2" fmla="*/ 52 w 461"/>
                  <a:gd name="T3" fmla="*/ 455 h 615"/>
                  <a:gd name="T4" fmla="*/ 0 w 461"/>
                  <a:gd name="T5" fmla="*/ 520 h 615"/>
                  <a:gd name="T6" fmla="*/ 244 w 461"/>
                  <a:gd name="T7" fmla="*/ 615 h 615"/>
                  <a:gd name="T8" fmla="*/ 461 w 461"/>
                  <a:gd name="T9" fmla="*/ 438 h 615"/>
                  <a:gd name="T10" fmla="*/ 260 w 461"/>
                  <a:gd name="T11" fmla="*/ 264 h 615"/>
                  <a:gd name="T12" fmla="*/ 111 w 461"/>
                  <a:gd name="T13" fmla="*/ 166 h 615"/>
                  <a:gd name="T14" fmla="*/ 224 w 461"/>
                  <a:gd name="T15" fmla="*/ 77 h 615"/>
                  <a:gd name="T16" fmla="*/ 395 w 461"/>
                  <a:gd name="T17" fmla="*/ 150 h 615"/>
                  <a:gd name="T18" fmla="*/ 446 w 461"/>
                  <a:gd name="T19" fmla="*/ 84 h 615"/>
                  <a:gd name="T20" fmla="*/ 229 w 461"/>
                  <a:gd name="T21" fmla="*/ 0 h 615"/>
                  <a:gd name="T22" fmla="*/ 22 w 461"/>
                  <a:gd name="T23" fmla="*/ 174 h 615"/>
                  <a:gd name="T24" fmla="*/ 224 w 461"/>
                  <a:gd name="T25" fmla="*/ 347 h 615"/>
                  <a:gd name="T26" fmla="*/ 373 w 461"/>
                  <a:gd name="T27" fmla="*/ 447 h 615"/>
                  <a:gd name="T28" fmla="*/ 248 w 461"/>
                  <a:gd name="T29" fmla="*/ 5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615">
                    <a:moveTo>
                      <a:pt x="248" y="538"/>
                    </a:moveTo>
                    <a:cubicBezTo>
                      <a:pt x="167" y="538"/>
                      <a:pt x="105" y="505"/>
                      <a:pt x="52" y="455"/>
                    </a:cubicBezTo>
                    <a:cubicBezTo>
                      <a:pt x="0" y="520"/>
                      <a:pt x="0" y="520"/>
                      <a:pt x="0" y="520"/>
                    </a:cubicBezTo>
                    <a:cubicBezTo>
                      <a:pt x="62" y="581"/>
                      <a:pt x="145" y="615"/>
                      <a:pt x="244" y="615"/>
                    </a:cubicBezTo>
                    <a:cubicBezTo>
                      <a:pt x="385" y="615"/>
                      <a:pt x="461" y="539"/>
                      <a:pt x="461" y="438"/>
                    </a:cubicBezTo>
                    <a:cubicBezTo>
                      <a:pt x="461" y="332"/>
                      <a:pt x="379" y="292"/>
                      <a:pt x="260" y="264"/>
                    </a:cubicBezTo>
                    <a:cubicBezTo>
                      <a:pt x="162" y="241"/>
                      <a:pt x="111" y="222"/>
                      <a:pt x="111" y="166"/>
                    </a:cubicBezTo>
                    <a:cubicBezTo>
                      <a:pt x="111" y="118"/>
                      <a:pt x="158" y="77"/>
                      <a:pt x="224" y="77"/>
                    </a:cubicBezTo>
                    <a:cubicBezTo>
                      <a:pt x="285" y="77"/>
                      <a:pt x="345" y="104"/>
                      <a:pt x="395" y="150"/>
                    </a:cubicBezTo>
                    <a:cubicBezTo>
                      <a:pt x="446" y="84"/>
                      <a:pt x="446" y="84"/>
                      <a:pt x="446" y="84"/>
                    </a:cubicBezTo>
                    <a:cubicBezTo>
                      <a:pt x="388" y="33"/>
                      <a:pt x="320" y="0"/>
                      <a:pt x="229" y="0"/>
                    </a:cubicBezTo>
                    <a:cubicBezTo>
                      <a:pt x="108" y="0"/>
                      <a:pt x="22" y="74"/>
                      <a:pt x="22" y="174"/>
                    </a:cubicBezTo>
                    <a:cubicBezTo>
                      <a:pt x="22" y="281"/>
                      <a:pt x="102" y="318"/>
                      <a:pt x="224" y="347"/>
                    </a:cubicBezTo>
                    <a:cubicBezTo>
                      <a:pt x="323" y="369"/>
                      <a:pt x="373" y="391"/>
                      <a:pt x="373" y="447"/>
                    </a:cubicBezTo>
                    <a:cubicBezTo>
                      <a:pt x="373" y="495"/>
                      <a:pt x="330" y="538"/>
                      <a:pt x="248" y="538"/>
                    </a:cubicBezTo>
                    <a:close/>
                  </a:path>
                </a:pathLst>
              </a:custGeom>
              <a:solidFill>
                <a:srgbClr val="F89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263" name="Straight Connector 262">
              <a:extLst>
                <a:ext uri="{FF2B5EF4-FFF2-40B4-BE49-F238E27FC236}">
                  <a16:creationId xmlns:a16="http://schemas.microsoft.com/office/drawing/2014/main" id="{D52D50C5-9F83-0B3F-1C52-38ADEC0A6F81}"/>
                </a:ext>
              </a:extLst>
            </p:cNvPr>
            <p:cNvCxnSpPr>
              <a:cxnSpLocks/>
            </p:cNvCxnSpPr>
            <p:nvPr/>
          </p:nvCxnSpPr>
          <p:spPr bwMode="gray">
            <a:xfrm flipH="1">
              <a:off x="4550146" y="1516262"/>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6AF5D3A4-1D8E-8EA9-7DDD-C268EAE18DF8}"/>
                </a:ext>
              </a:extLst>
            </p:cNvPr>
            <p:cNvCxnSpPr>
              <a:cxnSpLocks/>
            </p:cNvCxnSpPr>
            <p:nvPr/>
          </p:nvCxnSpPr>
          <p:spPr bwMode="gray">
            <a:xfrm flipH="1">
              <a:off x="4550147" y="1248567"/>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7D82C5E3-0E57-44B9-7EF9-881EE244F35A}"/>
                </a:ext>
              </a:extLst>
            </p:cNvPr>
            <p:cNvCxnSpPr>
              <a:cxnSpLocks/>
            </p:cNvCxnSpPr>
            <p:nvPr/>
          </p:nvCxnSpPr>
          <p:spPr bwMode="gray">
            <a:xfrm flipV="1">
              <a:off x="4550146" y="1248569"/>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094C33F7-5E24-9BDA-F298-DC095F9B8856}"/>
                </a:ext>
              </a:extLst>
            </p:cNvPr>
            <p:cNvCxnSpPr>
              <a:cxnSpLocks/>
            </p:cNvCxnSpPr>
            <p:nvPr/>
          </p:nvCxnSpPr>
          <p:spPr bwMode="gray">
            <a:xfrm flipV="1">
              <a:off x="4981152" y="1248567"/>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7" name="Straight Connector 266">
              <a:extLst>
                <a:ext uri="{FF2B5EF4-FFF2-40B4-BE49-F238E27FC236}">
                  <a16:creationId xmlns:a16="http://schemas.microsoft.com/office/drawing/2014/main" id="{CC566D4F-AF1C-B066-F505-14BAFE7A4941}"/>
                </a:ext>
              </a:extLst>
            </p:cNvPr>
            <p:cNvCxnSpPr>
              <a:cxnSpLocks/>
            </p:cNvCxnSpPr>
            <p:nvPr/>
          </p:nvCxnSpPr>
          <p:spPr bwMode="gray">
            <a:xfrm flipH="1">
              <a:off x="4505618" y="1463676"/>
              <a:ext cx="37996"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84291B3B-01D4-894A-1F1F-E4FCDF79C097}"/>
                </a:ext>
              </a:extLst>
            </p:cNvPr>
            <p:cNvCxnSpPr>
              <a:cxnSpLocks/>
            </p:cNvCxnSpPr>
            <p:nvPr/>
          </p:nvCxnSpPr>
          <p:spPr bwMode="gray">
            <a:xfrm flipH="1">
              <a:off x="4505619" y="1195981"/>
              <a:ext cx="431005" cy="0"/>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46B1BB88-AC49-961D-D1BA-0293AEC7C5D6}"/>
                </a:ext>
              </a:extLst>
            </p:cNvPr>
            <p:cNvCxnSpPr>
              <a:cxnSpLocks/>
            </p:cNvCxnSpPr>
            <p:nvPr/>
          </p:nvCxnSpPr>
          <p:spPr bwMode="gray">
            <a:xfrm flipV="1">
              <a:off x="4505618" y="1195983"/>
              <a:ext cx="0" cy="262945"/>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5E0EEF7C-4C88-1DDC-8192-77A78B6BC22B}"/>
                </a:ext>
              </a:extLst>
            </p:cNvPr>
            <p:cNvCxnSpPr>
              <a:cxnSpLocks/>
            </p:cNvCxnSpPr>
            <p:nvPr/>
          </p:nvCxnSpPr>
          <p:spPr bwMode="gray">
            <a:xfrm flipV="1">
              <a:off x="4936624" y="1195981"/>
              <a:ext cx="0" cy="50422"/>
            </a:xfrm>
            <a:prstGeom prst="line">
              <a:avLst/>
            </a:prstGeom>
            <a:ln w="12700">
              <a:solidFill>
                <a:srgbClr val="F8981D"/>
              </a:solidFill>
              <a:miter lim="800000"/>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979113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up)">
                                      <p:cBhvr>
                                        <p:cTn id="11" dur="500"/>
                                        <p:tgtEl>
                                          <p:spTgt spid="13"/>
                                        </p:tgtEl>
                                      </p:cBhvr>
                                    </p:animEffect>
                                  </p:childTnLst>
                                </p:cTn>
                              </p:par>
                              <p:par>
                                <p:cTn id="12" presetID="22" presetClass="entr" presetSubtype="4" fill="hold" nodeType="with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wipe(down)">
                                      <p:cBhvr>
                                        <p:cTn id="14" dur="500"/>
                                        <p:tgtEl>
                                          <p:spTgt spid="12"/>
                                        </p:tgtEl>
                                      </p:cBhvr>
                                    </p:animEffect>
                                  </p:childTnLst>
                                </p:cTn>
                              </p:par>
                              <p:par>
                                <p:cTn id="15" presetID="10" presetClass="entr" presetSubtype="0" fill="hold" nodeType="withEffect">
                                  <p:stCondLst>
                                    <p:cond delay="0"/>
                                  </p:stCondLst>
                                  <p:childTnLst>
                                    <p:set>
                                      <p:cBhvr>
                                        <p:cTn id="16" dur="1" fill="hold">
                                          <p:stCondLst>
                                            <p:cond delay="0"/>
                                          </p:stCondLst>
                                        </p:cTn>
                                        <p:tgtEl>
                                          <p:spTgt spid="145"/>
                                        </p:tgtEl>
                                        <p:attrNameLst>
                                          <p:attrName>style.visibility</p:attrName>
                                        </p:attrNameLst>
                                      </p:cBhvr>
                                      <p:to>
                                        <p:strVal val="visible"/>
                                      </p:to>
                                    </p:set>
                                    <p:animEffect transition="in" filter="fade">
                                      <p:cBhvr>
                                        <p:cTn id="17" dur="500"/>
                                        <p:tgtEl>
                                          <p:spTgt spid="145"/>
                                        </p:tgtEl>
                                      </p:cBhvr>
                                    </p:animEffect>
                                  </p:childTnLst>
                                </p:cTn>
                              </p:par>
                              <p:par>
                                <p:cTn id="18" presetID="10" presetClass="entr" presetSubtype="0" fill="hold" nodeType="withEffect">
                                  <p:stCondLst>
                                    <p:cond delay="0"/>
                                  </p:stCondLst>
                                  <p:childTnLst>
                                    <p:set>
                                      <p:cBhvr>
                                        <p:cTn id="19" dur="1" fill="hold">
                                          <p:stCondLst>
                                            <p:cond delay="0"/>
                                          </p:stCondLst>
                                        </p:cTn>
                                        <p:tgtEl>
                                          <p:spTgt spid="202"/>
                                        </p:tgtEl>
                                        <p:attrNameLst>
                                          <p:attrName>style.visibility</p:attrName>
                                        </p:attrNameLst>
                                      </p:cBhvr>
                                      <p:to>
                                        <p:strVal val="visible"/>
                                      </p:to>
                                    </p:set>
                                    <p:animEffect transition="in" filter="fade">
                                      <p:cBhvr>
                                        <p:cTn id="20" dur="500"/>
                                        <p:tgtEl>
                                          <p:spTgt spid="202"/>
                                        </p:tgtEl>
                                      </p:cBhvr>
                                    </p:animEffect>
                                  </p:childTnLst>
                                </p:cTn>
                              </p:par>
                            </p:childTnLst>
                          </p:cTn>
                        </p:par>
                        <p:par>
                          <p:cTn id="21" fill="hold">
                            <p:stCondLst>
                              <p:cond delay="1000"/>
                            </p:stCondLst>
                            <p:childTnLst>
                              <p:par>
                                <p:cTn id="22" presetID="10" presetClass="entr" presetSubtype="0" fill="hold" nodeType="after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par>
                                <p:cTn id="28" presetID="10" presetClass="entr" presetSubtype="0" fill="hold" nodeType="with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fade">
                                      <p:cBhvr>
                                        <p:cTn id="30" dur="500"/>
                                        <p:tgtEl>
                                          <p:spTgt spid="40"/>
                                        </p:tgtEl>
                                      </p:cBhvr>
                                    </p:animEffect>
                                  </p:childTnLst>
                                </p:cTn>
                              </p:par>
                              <p:par>
                                <p:cTn id="31" presetID="10" presetClass="entr" presetSubtype="0" fill="hold" nodeType="with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500"/>
                                        <p:tgtEl>
                                          <p:spTgt spid="4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89"/>
                                        </p:tgtEl>
                                        <p:attrNameLst>
                                          <p:attrName>style.visibility</p:attrName>
                                        </p:attrNameLst>
                                      </p:cBhvr>
                                      <p:to>
                                        <p:strVal val="visible"/>
                                      </p:to>
                                    </p:set>
                                    <p:animEffect transition="in" filter="fade">
                                      <p:cBhvr>
                                        <p:cTn id="42" dur="500"/>
                                        <p:tgtEl>
                                          <p:spTgt spid="89"/>
                                        </p:tgtEl>
                                      </p:cBhvr>
                                    </p:animEffect>
                                  </p:childTnLst>
                                </p:cTn>
                              </p:par>
                            </p:childTnLst>
                          </p:cTn>
                        </p:par>
                        <p:par>
                          <p:cTn id="43" fill="hold">
                            <p:stCondLst>
                              <p:cond delay="1000"/>
                            </p:stCondLst>
                            <p:childTnLst>
                              <p:par>
                                <p:cTn id="44" presetID="22" presetClass="entr" presetSubtype="8" fill="hold" grpId="0" nodeType="after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wipe(left)">
                                      <p:cBhvr>
                                        <p:cTn id="46" dur="1000"/>
                                        <p:tgtEl>
                                          <p:spTgt spid="6"/>
                                        </p:tgtEl>
                                      </p:cBhvr>
                                    </p:animEffect>
                                  </p:childTnLst>
                                </p:cTn>
                              </p:par>
                            </p:childTnLst>
                          </p:cTn>
                        </p:par>
                        <p:par>
                          <p:cTn id="47" fill="hold">
                            <p:stCondLst>
                              <p:cond delay="2000"/>
                            </p:stCondLst>
                            <p:childTnLst>
                              <p:par>
                                <p:cTn id="48" presetID="10" presetClass="entr" presetSubtype="0" fill="hold" grpId="0" nodeType="after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500"/>
                                        <p:tgtEl>
                                          <p:spTgt spid="9"/>
                                        </p:tgtEl>
                                      </p:cBhvr>
                                    </p:animEffect>
                                  </p:childTnLst>
                                </p:cTn>
                              </p:par>
                            </p:childTnLst>
                          </p:cTn>
                        </p:par>
                        <p:par>
                          <p:cTn id="51" fill="hold">
                            <p:stCondLst>
                              <p:cond delay="2500"/>
                            </p:stCondLst>
                            <p:childTnLst>
                              <p:par>
                                <p:cTn id="52" presetID="63" presetClass="path" presetSubtype="0" accel="50000" decel="50000" fill="hold" grpId="0" nodeType="afterEffect">
                                  <p:stCondLst>
                                    <p:cond delay="0"/>
                                  </p:stCondLst>
                                  <p:childTnLst>
                                    <p:animMotion origin="layout" path="M -2.07867E-6 3.7037E-7 L 0.09573 3.7037E-7 " pathEditMode="relative" rAng="0" ptsTypes="AA">
                                      <p:cBhvr>
                                        <p:cTn id="53" dur="500" fill="hold"/>
                                        <p:tgtEl>
                                          <p:spTgt spid="8"/>
                                        </p:tgtEl>
                                        <p:attrNameLst>
                                          <p:attrName>ppt_x</p:attrName>
                                          <p:attrName>ppt_y</p:attrName>
                                        </p:attrNameLst>
                                      </p:cBhvr>
                                      <p:rCtr x="4780" y="0"/>
                                    </p:animMotion>
                                  </p:childTnLst>
                                </p:cTn>
                              </p:par>
                            </p:childTnLst>
                          </p:cTn>
                        </p:par>
                        <p:par>
                          <p:cTn id="54" fill="hold">
                            <p:stCondLst>
                              <p:cond delay="3000"/>
                            </p:stCondLst>
                            <p:childTnLst>
                              <p:par>
                                <p:cTn id="55" presetID="22" presetClass="entr" presetSubtype="2" fill="hold" nodeType="after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wipe(right)">
                                      <p:cBhvr>
                                        <p:cTn id="57" dur="500"/>
                                        <p:tgtEl>
                                          <p:spTgt spid="14"/>
                                        </p:tgtEl>
                                      </p:cBhvr>
                                    </p:animEffect>
                                  </p:childTnLst>
                                </p:cTn>
                              </p:par>
                              <p:par>
                                <p:cTn id="58" presetID="22" presetClass="entr" presetSubtype="8" fill="hold" nodeType="withEffect">
                                  <p:stCondLst>
                                    <p:cond delay="0"/>
                                  </p:stCondLst>
                                  <p:childTnLst>
                                    <p:set>
                                      <p:cBhvr>
                                        <p:cTn id="59" dur="1" fill="hold">
                                          <p:stCondLst>
                                            <p:cond delay="0"/>
                                          </p:stCondLst>
                                        </p:cTn>
                                        <p:tgtEl>
                                          <p:spTgt spid="11"/>
                                        </p:tgtEl>
                                        <p:attrNameLst>
                                          <p:attrName>style.visibility</p:attrName>
                                        </p:attrNameLst>
                                      </p:cBhvr>
                                      <p:to>
                                        <p:strVal val="visible"/>
                                      </p:to>
                                    </p:set>
                                    <p:animEffect transition="in" filter="wipe(left)">
                                      <p:cBhvr>
                                        <p:cTn id="60" dur="500"/>
                                        <p:tgtEl>
                                          <p:spTgt spid="11"/>
                                        </p:tgtEl>
                                      </p:cBhvr>
                                    </p:animEffect>
                                  </p:childTnLst>
                                </p:cTn>
                              </p:par>
                            </p:childTnLst>
                          </p:cTn>
                        </p:par>
                        <p:par>
                          <p:cTn id="61" fill="hold">
                            <p:stCondLst>
                              <p:cond delay="3500"/>
                            </p:stCondLst>
                            <p:childTnLst>
                              <p:par>
                                <p:cTn id="62" presetID="10" presetClass="entr" presetSubtype="0" fill="hold" nodeType="afterEffect">
                                  <p:stCondLst>
                                    <p:cond delay="0"/>
                                  </p:stCondLst>
                                  <p:childTnLst>
                                    <p:set>
                                      <p:cBhvr>
                                        <p:cTn id="63" dur="1" fill="hold">
                                          <p:stCondLst>
                                            <p:cond delay="0"/>
                                          </p:stCondLst>
                                        </p:cTn>
                                        <p:tgtEl>
                                          <p:spTgt spid="259"/>
                                        </p:tgtEl>
                                        <p:attrNameLst>
                                          <p:attrName>style.visibility</p:attrName>
                                        </p:attrNameLst>
                                      </p:cBhvr>
                                      <p:to>
                                        <p:strVal val="visible"/>
                                      </p:to>
                                    </p:set>
                                    <p:animEffect transition="in" filter="fade">
                                      <p:cBhvr>
                                        <p:cTn id="64" dur="500"/>
                                        <p:tgtEl>
                                          <p:spTgt spid="259"/>
                                        </p:tgtEl>
                                      </p:cBhvr>
                                    </p:animEffect>
                                  </p:childTnLst>
                                </p:cTn>
                              </p:par>
                              <p:par>
                                <p:cTn id="65" presetID="10" presetClass="entr" presetSubtype="0" fill="hold" nodeType="withEffect">
                                  <p:stCondLst>
                                    <p:cond delay="0"/>
                                  </p:stCondLst>
                                  <p:childTnLst>
                                    <p:set>
                                      <p:cBhvr>
                                        <p:cTn id="66" dur="1" fill="hold">
                                          <p:stCondLst>
                                            <p:cond delay="0"/>
                                          </p:stCondLst>
                                        </p:cTn>
                                        <p:tgtEl>
                                          <p:spTgt spid="221"/>
                                        </p:tgtEl>
                                        <p:attrNameLst>
                                          <p:attrName>style.visibility</p:attrName>
                                        </p:attrNameLst>
                                      </p:cBhvr>
                                      <p:to>
                                        <p:strVal val="visible"/>
                                      </p:to>
                                    </p:set>
                                    <p:animEffect transition="in" filter="fade">
                                      <p:cBhvr>
                                        <p:cTn id="67" dur="500"/>
                                        <p:tgtEl>
                                          <p:spTgt spid="221"/>
                                        </p:tgtEl>
                                      </p:cBhvr>
                                    </p:animEffect>
                                  </p:childTnLst>
                                </p:cTn>
                              </p:par>
                              <p:par>
                                <p:cTn id="68" presetID="10" presetClass="entr" presetSubtype="0" fill="hold" nodeType="withEffect">
                                  <p:stCondLst>
                                    <p:cond delay="0"/>
                                  </p:stCondLst>
                                  <p:childTnLst>
                                    <p:set>
                                      <p:cBhvr>
                                        <p:cTn id="69" dur="1" fill="hold">
                                          <p:stCondLst>
                                            <p:cond delay="0"/>
                                          </p:stCondLst>
                                        </p:cTn>
                                        <p:tgtEl>
                                          <p:spTgt spid="240"/>
                                        </p:tgtEl>
                                        <p:attrNameLst>
                                          <p:attrName>style.visibility</p:attrName>
                                        </p:attrNameLst>
                                      </p:cBhvr>
                                      <p:to>
                                        <p:strVal val="visible"/>
                                      </p:to>
                                    </p:set>
                                    <p:animEffect transition="in" filter="fade">
                                      <p:cBhvr>
                                        <p:cTn id="70" dur="500"/>
                                        <p:tgtEl>
                                          <p:spTgt spid="240"/>
                                        </p:tgtEl>
                                      </p:cBhvr>
                                    </p:animEffect>
                                  </p:childTnLst>
                                </p:cTn>
                              </p:par>
                            </p:childTnLst>
                          </p:cTn>
                        </p:par>
                        <p:par>
                          <p:cTn id="71" fill="hold">
                            <p:stCondLst>
                              <p:cond delay="4000"/>
                            </p:stCondLst>
                            <p:childTnLst>
                              <p:par>
                                <p:cTn id="72" presetID="10" presetClass="entr" presetSubtype="0" fill="hold" nodeType="afterEffect">
                                  <p:stCondLst>
                                    <p:cond delay="0"/>
                                  </p:stCondLst>
                                  <p:childTnLst>
                                    <p:set>
                                      <p:cBhvr>
                                        <p:cTn id="73" dur="1" fill="hold">
                                          <p:stCondLst>
                                            <p:cond delay="0"/>
                                          </p:stCondLst>
                                        </p:cTn>
                                        <p:tgtEl>
                                          <p:spTgt spid="64"/>
                                        </p:tgtEl>
                                        <p:attrNameLst>
                                          <p:attrName>style.visibility</p:attrName>
                                        </p:attrNameLst>
                                      </p:cBhvr>
                                      <p:to>
                                        <p:strVal val="visible"/>
                                      </p:to>
                                    </p:set>
                                    <p:animEffect transition="in" filter="fade">
                                      <p:cBhvr>
                                        <p:cTn id="74"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P spid="9" grpId="0" animBg="1"/>
      <p:bldP spid="10" grpId="0"/>
      <p:bldP spid="1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D187C7-A12B-F7D4-A5FE-DBAA4730956F}"/>
              </a:ext>
            </a:extLst>
          </p:cNvPr>
          <p:cNvSpPr>
            <a:spLocks noGrp="1"/>
          </p:cNvSpPr>
          <p:nvPr>
            <p:ph type="title"/>
          </p:nvPr>
        </p:nvSpPr>
        <p:spPr/>
        <p:txBody>
          <a:bodyPr/>
          <a:lstStyle/>
          <a:p>
            <a:r>
              <a:rPr lang="en-US" dirty="0"/>
              <a:t>Additional Data Services to Meet your Business Requirements</a:t>
            </a:r>
          </a:p>
        </p:txBody>
      </p:sp>
      <p:sp>
        <p:nvSpPr>
          <p:cNvPr id="3" name="Subtitle 2">
            <a:extLst>
              <a:ext uri="{FF2B5EF4-FFF2-40B4-BE49-F238E27FC236}">
                <a16:creationId xmlns:a16="http://schemas.microsoft.com/office/drawing/2014/main" id="{C43320FD-8B44-7B83-8E33-BF9D4B2C1E0A}"/>
              </a:ext>
            </a:extLst>
          </p:cNvPr>
          <p:cNvSpPr>
            <a:spLocks noGrp="1"/>
          </p:cNvSpPr>
          <p:nvPr>
            <p:ph type="subTitle" idx="10"/>
          </p:nvPr>
        </p:nvSpPr>
        <p:spPr/>
        <p:txBody>
          <a:bodyPr/>
          <a:lstStyle/>
          <a:p>
            <a:r>
              <a:rPr lang="en-US" dirty="0"/>
              <a:t>Easily tailor unique data services on a per cluster basis</a:t>
            </a:r>
          </a:p>
        </p:txBody>
      </p:sp>
      <p:sp>
        <p:nvSpPr>
          <p:cNvPr id="5" name="Text Placeholder 4">
            <a:extLst>
              <a:ext uri="{FF2B5EF4-FFF2-40B4-BE49-F238E27FC236}">
                <a16:creationId xmlns:a16="http://schemas.microsoft.com/office/drawing/2014/main" id="{10DAF47C-249D-D6D9-F0B5-683D44950ED8}"/>
              </a:ext>
            </a:extLst>
          </p:cNvPr>
          <p:cNvSpPr>
            <a:spLocks noGrp="1"/>
          </p:cNvSpPr>
          <p:nvPr>
            <p:ph type="body" sz="quarter" idx="17"/>
          </p:nvPr>
        </p:nvSpPr>
        <p:spPr/>
        <p:txBody>
          <a:bodyPr/>
          <a:lstStyle/>
          <a:p>
            <a:r>
              <a:rPr lang="en-US" dirty="0"/>
              <a:t>Extend vSAN </a:t>
            </a:r>
            <a:r>
              <a:rPr lang="en-US" b="1" dirty="0"/>
              <a:t>beyond native VM storage</a:t>
            </a:r>
          </a:p>
          <a:p>
            <a:r>
              <a:rPr lang="en-US" dirty="0"/>
              <a:t>Enable/disable based on </a:t>
            </a:r>
            <a:r>
              <a:rPr lang="en-US" b="1" dirty="0"/>
              <a:t>organizational needs</a:t>
            </a:r>
          </a:p>
          <a:p>
            <a:pPr lvl="1"/>
            <a:r>
              <a:rPr lang="en-US" dirty="0"/>
              <a:t>SMB and NFS file services</a:t>
            </a:r>
          </a:p>
          <a:p>
            <a:pPr lvl="1"/>
            <a:r>
              <a:rPr lang="en-US" dirty="0"/>
              <a:t>iSCSI block access for legacy workloads</a:t>
            </a:r>
          </a:p>
          <a:p>
            <a:pPr lvl="1"/>
            <a:r>
              <a:rPr lang="en-US" dirty="0"/>
              <a:t>S3 compatible object storage*</a:t>
            </a:r>
          </a:p>
          <a:p>
            <a:r>
              <a:rPr lang="en-US" dirty="0"/>
              <a:t>Provide FIPS validated </a:t>
            </a:r>
            <a:r>
              <a:rPr lang="en-US" b="1" dirty="0"/>
              <a:t>data-at-rest</a:t>
            </a:r>
            <a:r>
              <a:rPr lang="en-US" dirty="0"/>
              <a:t> and </a:t>
            </a:r>
            <a:r>
              <a:rPr lang="en-US" b="1" dirty="0"/>
              <a:t>data-in-transit encryption</a:t>
            </a:r>
          </a:p>
        </p:txBody>
      </p:sp>
      <p:grpSp>
        <p:nvGrpSpPr>
          <p:cNvPr id="27" name="Group 26">
            <a:extLst>
              <a:ext uri="{FF2B5EF4-FFF2-40B4-BE49-F238E27FC236}">
                <a16:creationId xmlns:a16="http://schemas.microsoft.com/office/drawing/2014/main" id="{0D3E0BA3-90FE-430D-1E5A-5FE444088AF7}"/>
              </a:ext>
            </a:extLst>
          </p:cNvPr>
          <p:cNvGrpSpPr/>
          <p:nvPr/>
        </p:nvGrpSpPr>
        <p:grpSpPr>
          <a:xfrm>
            <a:off x="1858485" y="4681617"/>
            <a:ext cx="5044376" cy="337184"/>
            <a:chOff x="1410325" y="3943123"/>
            <a:chExt cx="5044376" cy="337184"/>
          </a:xfrm>
        </p:grpSpPr>
        <p:sp>
          <p:nvSpPr>
            <p:cNvPr id="28" name="Freeform 16">
              <a:extLst>
                <a:ext uri="{FF2B5EF4-FFF2-40B4-BE49-F238E27FC236}">
                  <a16:creationId xmlns:a16="http://schemas.microsoft.com/office/drawing/2014/main" id="{62B62F21-DA2C-AA24-F873-423F212C9825}"/>
                </a:ext>
              </a:extLst>
            </p:cNvPr>
            <p:cNvSpPr/>
            <p:nvPr/>
          </p:nvSpPr>
          <p:spPr>
            <a:xfrm>
              <a:off x="4505619" y="4096137"/>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99"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29" name="Group 28">
              <a:extLst>
                <a:ext uri="{FF2B5EF4-FFF2-40B4-BE49-F238E27FC236}">
                  <a16:creationId xmlns:a16="http://schemas.microsoft.com/office/drawing/2014/main" id="{7E8D2B24-1697-5786-C8BF-890D8819A7D3}"/>
                </a:ext>
              </a:extLst>
            </p:cNvPr>
            <p:cNvGrpSpPr>
              <a:grpSpLocks noChangeAspect="1"/>
            </p:cNvGrpSpPr>
            <p:nvPr/>
          </p:nvGrpSpPr>
          <p:grpSpPr>
            <a:xfrm>
              <a:off x="5101389" y="3943123"/>
              <a:ext cx="1353312" cy="337184"/>
              <a:chOff x="5060950" y="5251450"/>
              <a:chExt cx="1236133" cy="332317"/>
            </a:xfrm>
          </p:grpSpPr>
          <p:sp>
            <p:nvSpPr>
              <p:cNvPr id="48" name="Line 5">
                <a:extLst>
                  <a:ext uri="{FF2B5EF4-FFF2-40B4-BE49-F238E27FC236}">
                    <a16:creationId xmlns:a16="http://schemas.microsoft.com/office/drawing/2014/main" id="{A3B75137-75D5-9C49-C2FE-D47EDA05119B}"/>
                  </a:ext>
                </a:extLst>
              </p:cNvPr>
              <p:cNvSpPr>
                <a:spLocks noChangeShapeType="1"/>
              </p:cNvSpPr>
              <p:nvPr/>
            </p:nvSpPr>
            <p:spPr bwMode="auto">
              <a:xfrm>
                <a:off x="6010427"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9" name="Line 6">
                <a:extLst>
                  <a:ext uri="{FF2B5EF4-FFF2-40B4-BE49-F238E27FC236}">
                    <a16:creationId xmlns:a16="http://schemas.microsoft.com/office/drawing/2014/main" id="{F7444790-B572-C82A-C995-9DE36436E7C7}"/>
                  </a:ext>
                </a:extLst>
              </p:cNvPr>
              <p:cNvSpPr>
                <a:spLocks noChangeShapeType="1"/>
              </p:cNvSpPr>
              <p:nvPr/>
            </p:nvSpPr>
            <p:spPr bwMode="auto">
              <a:xfrm>
                <a:off x="6097120"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0" name="Line 7">
                <a:extLst>
                  <a:ext uri="{FF2B5EF4-FFF2-40B4-BE49-F238E27FC236}">
                    <a16:creationId xmlns:a16="http://schemas.microsoft.com/office/drawing/2014/main" id="{1FCF826D-C142-8D69-4AC4-05B46D3ACAD5}"/>
                  </a:ext>
                </a:extLst>
              </p:cNvPr>
              <p:cNvSpPr>
                <a:spLocks noChangeShapeType="1"/>
              </p:cNvSpPr>
              <p:nvPr/>
            </p:nvSpPr>
            <p:spPr bwMode="auto">
              <a:xfrm>
                <a:off x="6183813"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1" name="Line 8">
                <a:extLst>
                  <a:ext uri="{FF2B5EF4-FFF2-40B4-BE49-F238E27FC236}">
                    <a16:creationId xmlns:a16="http://schemas.microsoft.com/office/drawing/2014/main" id="{34E446AE-CE3B-0914-B670-C0003DC7033B}"/>
                  </a:ext>
                </a:extLst>
              </p:cNvPr>
              <p:cNvSpPr>
                <a:spLocks noChangeShapeType="1"/>
              </p:cNvSpPr>
              <p:nvPr/>
            </p:nvSpPr>
            <p:spPr bwMode="auto">
              <a:xfrm>
                <a:off x="5170587"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2" name="Line 9">
                <a:extLst>
                  <a:ext uri="{FF2B5EF4-FFF2-40B4-BE49-F238E27FC236}">
                    <a16:creationId xmlns:a16="http://schemas.microsoft.com/office/drawing/2014/main" id="{9FFEEE59-BFCB-F2F0-73B3-8139F9BC0DFC}"/>
                  </a:ext>
                </a:extLst>
              </p:cNvPr>
              <p:cNvSpPr>
                <a:spLocks noChangeShapeType="1"/>
              </p:cNvSpPr>
              <p:nvPr/>
            </p:nvSpPr>
            <p:spPr bwMode="auto">
              <a:xfrm>
                <a:off x="5257280"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3" name="Line 10">
                <a:extLst>
                  <a:ext uri="{FF2B5EF4-FFF2-40B4-BE49-F238E27FC236}">
                    <a16:creationId xmlns:a16="http://schemas.microsoft.com/office/drawing/2014/main" id="{B6CC3F59-ABE3-EF8B-1854-656545EB0865}"/>
                  </a:ext>
                </a:extLst>
              </p:cNvPr>
              <p:cNvSpPr>
                <a:spLocks noChangeShapeType="1"/>
              </p:cNvSpPr>
              <p:nvPr/>
            </p:nvSpPr>
            <p:spPr bwMode="auto">
              <a:xfrm>
                <a:off x="5346683"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4" name="Oval 11">
                <a:extLst>
                  <a:ext uri="{FF2B5EF4-FFF2-40B4-BE49-F238E27FC236}">
                    <a16:creationId xmlns:a16="http://schemas.microsoft.com/office/drawing/2014/main" id="{A3AF67B4-6B2E-1CBE-B5A6-3D3CFDA67349}"/>
                  </a:ext>
                </a:extLst>
              </p:cNvPr>
              <p:cNvSpPr>
                <a:spLocks noChangeArrowheads="1"/>
              </p:cNvSpPr>
              <p:nvPr/>
            </p:nvSpPr>
            <p:spPr bwMode="auto">
              <a:xfrm>
                <a:off x="5609471" y="5345848"/>
                <a:ext cx="135458" cy="140877"/>
              </a:xfrm>
              <a:prstGeom prst="ellipse">
                <a:avLst/>
              </a:prstGeom>
              <a:noFill/>
              <a:ln w="254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55" name="Rectangle 54">
                <a:extLst>
                  <a:ext uri="{FF2B5EF4-FFF2-40B4-BE49-F238E27FC236}">
                    <a16:creationId xmlns:a16="http://schemas.microsoft.com/office/drawing/2014/main" id="{23DBAD58-EC4C-6053-8F4A-CA68FDA34CE1}"/>
                  </a:ext>
                </a:extLst>
              </p:cNvPr>
              <p:cNvSpPr/>
              <p:nvPr/>
            </p:nvSpPr>
            <p:spPr>
              <a:xfrm>
                <a:off x="5060950" y="5251450"/>
                <a:ext cx="1236133" cy="332317"/>
              </a:xfrm>
              <a:prstGeom prst="rect">
                <a:avLst/>
              </a:prstGeom>
              <a:noFill/>
              <a:ln w="254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30" name="Group 29">
              <a:extLst>
                <a:ext uri="{FF2B5EF4-FFF2-40B4-BE49-F238E27FC236}">
                  <a16:creationId xmlns:a16="http://schemas.microsoft.com/office/drawing/2014/main" id="{25AC50DF-A068-D1A2-1B28-27A848F34C42}"/>
                </a:ext>
              </a:extLst>
            </p:cNvPr>
            <p:cNvGrpSpPr>
              <a:grpSpLocks noChangeAspect="1"/>
            </p:cNvGrpSpPr>
            <p:nvPr/>
          </p:nvGrpSpPr>
          <p:grpSpPr>
            <a:xfrm>
              <a:off x="1410325" y="3943123"/>
              <a:ext cx="1353312" cy="337184"/>
              <a:chOff x="5060950" y="5251450"/>
              <a:chExt cx="1236133" cy="332317"/>
            </a:xfrm>
          </p:grpSpPr>
          <p:sp>
            <p:nvSpPr>
              <p:cNvPr id="40" name="Line 5">
                <a:extLst>
                  <a:ext uri="{FF2B5EF4-FFF2-40B4-BE49-F238E27FC236}">
                    <a16:creationId xmlns:a16="http://schemas.microsoft.com/office/drawing/2014/main" id="{216DE3E4-250A-BCB6-8C32-8C331D8659DA}"/>
                  </a:ext>
                </a:extLst>
              </p:cNvPr>
              <p:cNvSpPr>
                <a:spLocks noChangeShapeType="1"/>
              </p:cNvSpPr>
              <p:nvPr/>
            </p:nvSpPr>
            <p:spPr bwMode="auto">
              <a:xfrm>
                <a:off x="6010427"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1" name="Line 6">
                <a:extLst>
                  <a:ext uri="{FF2B5EF4-FFF2-40B4-BE49-F238E27FC236}">
                    <a16:creationId xmlns:a16="http://schemas.microsoft.com/office/drawing/2014/main" id="{8A5CFC30-0B77-F489-DA78-3519B07C42FE}"/>
                  </a:ext>
                </a:extLst>
              </p:cNvPr>
              <p:cNvSpPr>
                <a:spLocks noChangeShapeType="1"/>
              </p:cNvSpPr>
              <p:nvPr/>
            </p:nvSpPr>
            <p:spPr bwMode="auto">
              <a:xfrm>
                <a:off x="6097120"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2" name="Line 7">
                <a:extLst>
                  <a:ext uri="{FF2B5EF4-FFF2-40B4-BE49-F238E27FC236}">
                    <a16:creationId xmlns:a16="http://schemas.microsoft.com/office/drawing/2014/main" id="{97EAD42E-23C5-7376-C739-764CB9826528}"/>
                  </a:ext>
                </a:extLst>
              </p:cNvPr>
              <p:cNvSpPr>
                <a:spLocks noChangeShapeType="1"/>
              </p:cNvSpPr>
              <p:nvPr/>
            </p:nvSpPr>
            <p:spPr bwMode="auto">
              <a:xfrm>
                <a:off x="6183813"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3" name="Line 8">
                <a:extLst>
                  <a:ext uri="{FF2B5EF4-FFF2-40B4-BE49-F238E27FC236}">
                    <a16:creationId xmlns:a16="http://schemas.microsoft.com/office/drawing/2014/main" id="{F6C52B9F-6275-974A-8CA2-875103833941}"/>
                  </a:ext>
                </a:extLst>
              </p:cNvPr>
              <p:cNvSpPr>
                <a:spLocks noChangeShapeType="1"/>
              </p:cNvSpPr>
              <p:nvPr/>
            </p:nvSpPr>
            <p:spPr bwMode="auto">
              <a:xfrm>
                <a:off x="5170587"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4" name="Line 9">
                <a:extLst>
                  <a:ext uri="{FF2B5EF4-FFF2-40B4-BE49-F238E27FC236}">
                    <a16:creationId xmlns:a16="http://schemas.microsoft.com/office/drawing/2014/main" id="{8FA8B3E2-1A1E-57D0-EBA2-D28F69615AA4}"/>
                  </a:ext>
                </a:extLst>
              </p:cNvPr>
              <p:cNvSpPr>
                <a:spLocks noChangeShapeType="1"/>
              </p:cNvSpPr>
              <p:nvPr/>
            </p:nvSpPr>
            <p:spPr bwMode="auto">
              <a:xfrm>
                <a:off x="5257280"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5" name="Line 10">
                <a:extLst>
                  <a:ext uri="{FF2B5EF4-FFF2-40B4-BE49-F238E27FC236}">
                    <a16:creationId xmlns:a16="http://schemas.microsoft.com/office/drawing/2014/main" id="{C2A9F257-AB67-0AF7-CFC2-D3BFB5EFC460}"/>
                  </a:ext>
                </a:extLst>
              </p:cNvPr>
              <p:cNvSpPr>
                <a:spLocks noChangeShapeType="1"/>
              </p:cNvSpPr>
              <p:nvPr/>
            </p:nvSpPr>
            <p:spPr bwMode="auto">
              <a:xfrm>
                <a:off x="5346683"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6" name="Oval 11">
                <a:extLst>
                  <a:ext uri="{FF2B5EF4-FFF2-40B4-BE49-F238E27FC236}">
                    <a16:creationId xmlns:a16="http://schemas.microsoft.com/office/drawing/2014/main" id="{F66F5326-EB14-E2D8-6C23-414545306CC9}"/>
                  </a:ext>
                </a:extLst>
              </p:cNvPr>
              <p:cNvSpPr>
                <a:spLocks noChangeArrowheads="1"/>
              </p:cNvSpPr>
              <p:nvPr/>
            </p:nvSpPr>
            <p:spPr bwMode="auto">
              <a:xfrm>
                <a:off x="5609471" y="5345848"/>
                <a:ext cx="135458" cy="140877"/>
              </a:xfrm>
              <a:prstGeom prst="ellipse">
                <a:avLst/>
              </a:prstGeom>
              <a:noFill/>
              <a:ln w="254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47" name="Rectangle 46">
                <a:extLst>
                  <a:ext uri="{FF2B5EF4-FFF2-40B4-BE49-F238E27FC236}">
                    <a16:creationId xmlns:a16="http://schemas.microsoft.com/office/drawing/2014/main" id="{EAAD34A5-7577-D6A2-414E-A6EAB7A7AF1C}"/>
                  </a:ext>
                </a:extLst>
              </p:cNvPr>
              <p:cNvSpPr/>
              <p:nvPr/>
            </p:nvSpPr>
            <p:spPr>
              <a:xfrm>
                <a:off x="5060950" y="5251450"/>
                <a:ext cx="1236133" cy="332317"/>
              </a:xfrm>
              <a:prstGeom prst="rect">
                <a:avLst/>
              </a:prstGeom>
              <a:noFill/>
              <a:ln w="254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nvGrpSpPr>
            <p:cNvPr id="31" name="Group 30">
              <a:extLst>
                <a:ext uri="{FF2B5EF4-FFF2-40B4-BE49-F238E27FC236}">
                  <a16:creationId xmlns:a16="http://schemas.microsoft.com/office/drawing/2014/main" id="{A2F8492E-79C9-003C-0C11-0BAEE4AA9FEF}"/>
                </a:ext>
              </a:extLst>
            </p:cNvPr>
            <p:cNvGrpSpPr>
              <a:grpSpLocks noChangeAspect="1"/>
            </p:cNvGrpSpPr>
            <p:nvPr/>
          </p:nvGrpSpPr>
          <p:grpSpPr>
            <a:xfrm>
              <a:off x="2957972" y="3943123"/>
              <a:ext cx="1353312" cy="337184"/>
              <a:chOff x="5060950" y="5251450"/>
              <a:chExt cx="1236133" cy="332317"/>
            </a:xfrm>
          </p:grpSpPr>
          <p:sp>
            <p:nvSpPr>
              <p:cNvPr id="32" name="Line 5">
                <a:extLst>
                  <a:ext uri="{FF2B5EF4-FFF2-40B4-BE49-F238E27FC236}">
                    <a16:creationId xmlns:a16="http://schemas.microsoft.com/office/drawing/2014/main" id="{6E6C9C37-253F-FFA5-7F36-2C9FD8DB51A8}"/>
                  </a:ext>
                </a:extLst>
              </p:cNvPr>
              <p:cNvSpPr>
                <a:spLocks noChangeShapeType="1"/>
              </p:cNvSpPr>
              <p:nvPr/>
            </p:nvSpPr>
            <p:spPr bwMode="auto">
              <a:xfrm>
                <a:off x="6010427"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3" name="Line 6">
                <a:extLst>
                  <a:ext uri="{FF2B5EF4-FFF2-40B4-BE49-F238E27FC236}">
                    <a16:creationId xmlns:a16="http://schemas.microsoft.com/office/drawing/2014/main" id="{EB864B18-ADA1-6DAB-F663-EF3462CCA9BF}"/>
                  </a:ext>
                </a:extLst>
              </p:cNvPr>
              <p:cNvSpPr>
                <a:spLocks noChangeShapeType="1"/>
              </p:cNvSpPr>
              <p:nvPr/>
            </p:nvSpPr>
            <p:spPr bwMode="auto">
              <a:xfrm>
                <a:off x="6097120"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4" name="Line 7">
                <a:extLst>
                  <a:ext uri="{FF2B5EF4-FFF2-40B4-BE49-F238E27FC236}">
                    <a16:creationId xmlns:a16="http://schemas.microsoft.com/office/drawing/2014/main" id="{9DD1D119-2277-64FC-9063-899733F04608}"/>
                  </a:ext>
                </a:extLst>
              </p:cNvPr>
              <p:cNvSpPr>
                <a:spLocks noChangeShapeType="1"/>
              </p:cNvSpPr>
              <p:nvPr/>
            </p:nvSpPr>
            <p:spPr bwMode="auto">
              <a:xfrm>
                <a:off x="6183813"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5" name="Line 8">
                <a:extLst>
                  <a:ext uri="{FF2B5EF4-FFF2-40B4-BE49-F238E27FC236}">
                    <a16:creationId xmlns:a16="http://schemas.microsoft.com/office/drawing/2014/main" id="{219D4DF9-D57F-4A0B-00AD-83F20675A544}"/>
                  </a:ext>
                </a:extLst>
              </p:cNvPr>
              <p:cNvSpPr>
                <a:spLocks noChangeShapeType="1"/>
              </p:cNvSpPr>
              <p:nvPr/>
            </p:nvSpPr>
            <p:spPr bwMode="auto">
              <a:xfrm>
                <a:off x="5170587"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6" name="Line 9">
                <a:extLst>
                  <a:ext uri="{FF2B5EF4-FFF2-40B4-BE49-F238E27FC236}">
                    <a16:creationId xmlns:a16="http://schemas.microsoft.com/office/drawing/2014/main" id="{80BD5E4E-7923-E3FB-59BE-3E2E60B8C3E0}"/>
                  </a:ext>
                </a:extLst>
              </p:cNvPr>
              <p:cNvSpPr>
                <a:spLocks noChangeShapeType="1"/>
              </p:cNvSpPr>
              <p:nvPr/>
            </p:nvSpPr>
            <p:spPr bwMode="auto">
              <a:xfrm>
                <a:off x="5257280"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7" name="Line 10">
                <a:extLst>
                  <a:ext uri="{FF2B5EF4-FFF2-40B4-BE49-F238E27FC236}">
                    <a16:creationId xmlns:a16="http://schemas.microsoft.com/office/drawing/2014/main" id="{CF24D445-EF96-D7B0-D2BE-8A0241C76F44}"/>
                  </a:ext>
                </a:extLst>
              </p:cNvPr>
              <p:cNvSpPr>
                <a:spLocks noChangeShapeType="1"/>
              </p:cNvSpPr>
              <p:nvPr/>
            </p:nvSpPr>
            <p:spPr bwMode="auto">
              <a:xfrm>
                <a:off x="5346683" y="5324175"/>
                <a:ext cx="0" cy="184223"/>
              </a:xfrm>
              <a:prstGeom prst="line">
                <a:avLst/>
              </a:prstGeom>
              <a:noFill/>
              <a:ln w="254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8" name="Oval 11">
                <a:extLst>
                  <a:ext uri="{FF2B5EF4-FFF2-40B4-BE49-F238E27FC236}">
                    <a16:creationId xmlns:a16="http://schemas.microsoft.com/office/drawing/2014/main" id="{FEEAB26D-53AD-2E33-38D5-1AA9C68E960A}"/>
                  </a:ext>
                </a:extLst>
              </p:cNvPr>
              <p:cNvSpPr>
                <a:spLocks noChangeArrowheads="1"/>
              </p:cNvSpPr>
              <p:nvPr/>
            </p:nvSpPr>
            <p:spPr bwMode="auto">
              <a:xfrm>
                <a:off x="5609471" y="5345848"/>
                <a:ext cx="135458" cy="140877"/>
              </a:xfrm>
              <a:prstGeom prst="ellipse">
                <a:avLst/>
              </a:prstGeom>
              <a:noFill/>
              <a:ln w="254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717074"/>
                  </a:solidFill>
                  <a:effectLst/>
                  <a:uLnTx/>
                  <a:uFillTx/>
                  <a:latin typeface="Arial" panose="020B0604020202020204" pitchFamily="34" charset="0"/>
                  <a:ea typeface="+mn-ea"/>
                  <a:cs typeface="+mn-cs"/>
                </a:endParaRPr>
              </a:p>
            </p:txBody>
          </p:sp>
          <p:sp>
            <p:nvSpPr>
              <p:cNvPr id="39" name="Rectangle 38">
                <a:extLst>
                  <a:ext uri="{FF2B5EF4-FFF2-40B4-BE49-F238E27FC236}">
                    <a16:creationId xmlns:a16="http://schemas.microsoft.com/office/drawing/2014/main" id="{16A03BE9-5F91-7BD3-84B8-DBAF9814385F}"/>
                  </a:ext>
                </a:extLst>
              </p:cNvPr>
              <p:cNvSpPr/>
              <p:nvPr/>
            </p:nvSpPr>
            <p:spPr>
              <a:xfrm>
                <a:off x="5060950" y="5251450"/>
                <a:ext cx="1236133" cy="332317"/>
              </a:xfrm>
              <a:prstGeom prst="rect">
                <a:avLst/>
              </a:prstGeom>
              <a:noFill/>
              <a:ln w="254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grpSp>
      </p:grpSp>
      <p:grpSp>
        <p:nvGrpSpPr>
          <p:cNvPr id="75" name="Group 74">
            <a:extLst>
              <a:ext uri="{FF2B5EF4-FFF2-40B4-BE49-F238E27FC236}">
                <a16:creationId xmlns:a16="http://schemas.microsoft.com/office/drawing/2014/main" id="{5F1AE545-7545-F9E9-0983-0C849C5CA446}"/>
              </a:ext>
            </a:extLst>
          </p:cNvPr>
          <p:cNvGrpSpPr/>
          <p:nvPr/>
        </p:nvGrpSpPr>
        <p:grpSpPr>
          <a:xfrm>
            <a:off x="1858485" y="4265803"/>
            <a:ext cx="5044376" cy="337184"/>
            <a:chOff x="1410325" y="3527309"/>
            <a:chExt cx="5044376" cy="337184"/>
          </a:xfrm>
        </p:grpSpPr>
        <p:sp>
          <p:nvSpPr>
            <p:cNvPr id="76" name="Rectangle 75">
              <a:extLst>
                <a:ext uri="{FF2B5EF4-FFF2-40B4-BE49-F238E27FC236}">
                  <a16:creationId xmlns:a16="http://schemas.microsoft.com/office/drawing/2014/main" id="{0A9BBBBE-5B4E-E386-BC98-EF1EE6E10082}"/>
                </a:ext>
              </a:extLst>
            </p:cNvPr>
            <p:cNvSpPr/>
            <p:nvPr/>
          </p:nvSpPr>
          <p:spPr>
            <a:xfrm>
              <a:off x="1410325" y="3527309"/>
              <a:ext cx="5044376" cy="337184"/>
            </a:xfrm>
            <a:prstGeom prst="rect">
              <a:avLst/>
            </a:prstGeom>
            <a:noFill/>
            <a:ln w="9525">
              <a:solidFill>
                <a:schemeClr val="accent2"/>
              </a:solidFill>
            </a:ln>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77" name="Rectangle 76">
              <a:extLst>
                <a:ext uri="{FF2B5EF4-FFF2-40B4-BE49-F238E27FC236}">
                  <a16:creationId xmlns:a16="http://schemas.microsoft.com/office/drawing/2014/main" id="{9DCB8844-AF66-2421-CB7A-9D36B6FEB378}"/>
                </a:ext>
              </a:extLst>
            </p:cNvPr>
            <p:cNvSpPr/>
            <p:nvPr/>
          </p:nvSpPr>
          <p:spPr>
            <a:xfrm>
              <a:off x="1459107" y="3567421"/>
              <a:ext cx="81504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vSphere</a:t>
              </a:r>
            </a:p>
          </p:txBody>
        </p:sp>
        <p:sp>
          <p:nvSpPr>
            <p:cNvPr id="78" name="Rectangle 77">
              <a:extLst>
                <a:ext uri="{FF2B5EF4-FFF2-40B4-BE49-F238E27FC236}">
                  <a16:creationId xmlns:a16="http://schemas.microsoft.com/office/drawing/2014/main" id="{FBC4CF78-2ED0-CEE1-3EA6-F74398AD7DCA}"/>
                </a:ext>
              </a:extLst>
            </p:cNvPr>
            <p:cNvSpPr/>
            <p:nvPr/>
          </p:nvSpPr>
          <p:spPr>
            <a:xfrm>
              <a:off x="5757816" y="3567421"/>
              <a:ext cx="67121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vSAN</a:t>
              </a:r>
            </a:p>
          </p:txBody>
        </p:sp>
        <p:cxnSp>
          <p:nvCxnSpPr>
            <p:cNvPr id="79" name="Straight Connector 78">
              <a:extLst>
                <a:ext uri="{FF2B5EF4-FFF2-40B4-BE49-F238E27FC236}">
                  <a16:creationId xmlns:a16="http://schemas.microsoft.com/office/drawing/2014/main" id="{3F1048AD-B6B4-E3E6-F950-25FE54628480}"/>
                </a:ext>
              </a:extLst>
            </p:cNvPr>
            <p:cNvCxnSpPr>
              <a:cxnSpLocks/>
            </p:cNvCxnSpPr>
            <p:nvPr/>
          </p:nvCxnSpPr>
          <p:spPr bwMode="gray">
            <a:xfrm flipH="1">
              <a:off x="2271066" y="3698226"/>
              <a:ext cx="166144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4C4C91AC-18B9-1579-FB7D-289B8B5F7204}"/>
                </a:ext>
              </a:extLst>
            </p:cNvPr>
            <p:cNvCxnSpPr>
              <a:cxnSpLocks/>
              <a:endCxn id="78" idx="1"/>
            </p:cNvCxnSpPr>
            <p:nvPr/>
          </p:nvCxnSpPr>
          <p:spPr bwMode="gray">
            <a:xfrm>
              <a:off x="3932513" y="3698226"/>
              <a:ext cx="1825303"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6CBFB74F-2A7A-190F-983D-670063D0D327}"/>
              </a:ext>
            </a:extLst>
          </p:cNvPr>
          <p:cNvGrpSpPr/>
          <p:nvPr/>
        </p:nvGrpSpPr>
        <p:grpSpPr>
          <a:xfrm>
            <a:off x="944058" y="4189922"/>
            <a:ext cx="479782" cy="479782"/>
            <a:chOff x="-2847764" y="255716"/>
            <a:chExt cx="1828959" cy="1828959"/>
          </a:xfrm>
        </p:grpSpPr>
        <p:sp>
          <p:nvSpPr>
            <p:cNvPr id="144" name="Oval 143">
              <a:extLst>
                <a:ext uri="{FF2B5EF4-FFF2-40B4-BE49-F238E27FC236}">
                  <a16:creationId xmlns:a16="http://schemas.microsoft.com/office/drawing/2014/main" id="{0EB221AC-E445-B2F2-2B7B-E5B7DD2AD9F6}"/>
                </a:ext>
              </a:extLst>
            </p:cNvPr>
            <p:cNvSpPr/>
            <p:nvPr/>
          </p:nvSpPr>
          <p:spPr>
            <a:xfrm>
              <a:off x="-2847764" y="255716"/>
              <a:ext cx="1828959" cy="1828959"/>
            </a:xfrm>
            <a:prstGeom prst="ellipse">
              <a:avLst/>
            </a:prstGeom>
            <a:solidFill>
              <a:schemeClr val="accent5"/>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pic>
          <p:nvPicPr>
            <p:cNvPr id="145" name="Graphic 144">
              <a:extLst>
                <a:ext uri="{FF2B5EF4-FFF2-40B4-BE49-F238E27FC236}">
                  <a16:creationId xmlns:a16="http://schemas.microsoft.com/office/drawing/2014/main" id="{9D4632D2-8CA1-7BB0-B6E5-7DE2AA638CD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306336" y="585946"/>
              <a:ext cx="1155847" cy="1093609"/>
            </a:xfrm>
            <a:prstGeom prst="rect">
              <a:avLst/>
            </a:prstGeom>
          </p:spPr>
        </p:pic>
      </p:grpSp>
      <p:grpSp>
        <p:nvGrpSpPr>
          <p:cNvPr id="146" name="Group 145">
            <a:extLst>
              <a:ext uri="{FF2B5EF4-FFF2-40B4-BE49-F238E27FC236}">
                <a16:creationId xmlns:a16="http://schemas.microsoft.com/office/drawing/2014/main" id="{B18E1D90-7816-838B-C595-126AD4CC92BC}"/>
              </a:ext>
            </a:extLst>
          </p:cNvPr>
          <p:cNvGrpSpPr/>
          <p:nvPr/>
        </p:nvGrpSpPr>
        <p:grpSpPr>
          <a:xfrm>
            <a:off x="7254367" y="4189922"/>
            <a:ext cx="479783" cy="479783"/>
            <a:chOff x="5791654" y="6169606"/>
            <a:chExt cx="479783" cy="479783"/>
          </a:xfrm>
        </p:grpSpPr>
        <p:sp>
          <p:nvSpPr>
            <p:cNvPr id="147" name="Oval 146">
              <a:extLst>
                <a:ext uri="{FF2B5EF4-FFF2-40B4-BE49-F238E27FC236}">
                  <a16:creationId xmlns:a16="http://schemas.microsoft.com/office/drawing/2014/main" id="{8BA32353-E477-C2C7-7DEB-964B142588CE}"/>
                </a:ext>
              </a:extLst>
            </p:cNvPr>
            <p:cNvSpPr/>
            <p:nvPr/>
          </p:nvSpPr>
          <p:spPr>
            <a:xfrm>
              <a:off x="5791654" y="6169606"/>
              <a:ext cx="479783" cy="479783"/>
            </a:xfrm>
            <a:prstGeom prst="ellipse">
              <a:avLst/>
            </a:prstGeom>
            <a:solidFill>
              <a:schemeClr val="accent5"/>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pic>
          <p:nvPicPr>
            <p:cNvPr id="148" name="Graphic 147">
              <a:extLst>
                <a:ext uri="{FF2B5EF4-FFF2-40B4-BE49-F238E27FC236}">
                  <a16:creationId xmlns:a16="http://schemas.microsoft.com/office/drawing/2014/main" id="{809FC0D8-7E4B-4A39-91D5-A814B224855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906765" y="6263327"/>
              <a:ext cx="249560" cy="292341"/>
            </a:xfrm>
            <a:prstGeom prst="rect">
              <a:avLst/>
            </a:prstGeom>
          </p:spPr>
        </p:pic>
        <p:sp>
          <p:nvSpPr>
            <p:cNvPr id="149" name="TextBox 148">
              <a:extLst>
                <a:ext uri="{FF2B5EF4-FFF2-40B4-BE49-F238E27FC236}">
                  <a16:creationId xmlns:a16="http://schemas.microsoft.com/office/drawing/2014/main" id="{82CA7494-D418-85F0-115A-54551AA174E0}"/>
                </a:ext>
              </a:extLst>
            </p:cNvPr>
            <p:cNvSpPr txBox="1"/>
            <p:nvPr/>
          </p:nvSpPr>
          <p:spPr>
            <a:xfrm>
              <a:off x="5906765" y="6347942"/>
              <a:ext cx="249560" cy="123111"/>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DiT</a:t>
              </a:r>
            </a:p>
          </p:txBody>
        </p:sp>
      </p:grpSp>
      <p:sp>
        <p:nvSpPr>
          <p:cNvPr id="150" name="Text Placeholder 34">
            <a:extLst>
              <a:ext uri="{FF2B5EF4-FFF2-40B4-BE49-F238E27FC236}">
                <a16:creationId xmlns:a16="http://schemas.microsoft.com/office/drawing/2014/main" id="{BA7E9F50-F7FA-F2F4-AE16-16EA45585D5F}"/>
              </a:ext>
            </a:extLst>
          </p:cNvPr>
          <p:cNvSpPr txBox="1">
            <a:spLocks/>
          </p:cNvSpPr>
          <p:nvPr/>
        </p:nvSpPr>
        <p:spPr>
          <a:xfrm>
            <a:off x="592654" y="4724020"/>
            <a:ext cx="1182590" cy="222234"/>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Data-at-Rest</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Encryption</a:t>
            </a:r>
          </a:p>
        </p:txBody>
      </p:sp>
      <p:grpSp>
        <p:nvGrpSpPr>
          <p:cNvPr id="305" name="Group 304">
            <a:extLst>
              <a:ext uri="{FF2B5EF4-FFF2-40B4-BE49-F238E27FC236}">
                <a16:creationId xmlns:a16="http://schemas.microsoft.com/office/drawing/2014/main" id="{6DCA5419-27C0-C80E-5A84-0F5F2DDD7581}"/>
              </a:ext>
            </a:extLst>
          </p:cNvPr>
          <p:cNvGrpSpPr/>
          <p:nvPr/>
        </p:nvGrpSpPr>
        <p:grpSpPr>
          <a:xfrm>
            <a:off x="3765219" y="3953350"/>
            <a:ext cx="1230909" cy="236573"/>
            <a:chOff x="3478533" y="3953350"/>
            <a:chExt cx="1230909" cy="236573"/>
          </a:xfrm>
        </p:grpSpPr>
        <p:pic>
          <p:nvPicPr>
            <p:cNvPr id="65" name="Graphic 64">
              <a:extLst>
                <a:ext uri="{FF2B5EF4-FFF2-40B4-BE49-F238E27FC236}">
                  <a16:creationId xmlns:a16="http://schemas.microsoft.com/office/drawing/2014/main" id="{E322A62B-0E4F-4B6D-FD94-79D5FD68F7F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478533" y="3953350"/>
              <a:ext cx="334464" cy="236573"/>
            </a:xfrm>
            <a:prstGeom prst="rect">
              <a:avLst/>
            </a:prstGeom>
          </p:spPr>
        </p:pic>
        <p:pic>
          <p:nvPicPr>
            <p:cNvPr id="66" name="Graphic 65">
              <a:extLst>
                <a:ext uri="{FF2B5EF4-FFF2-40B4-BE49-F238E27FC236}">
                  <a16:creationId xmlns:a16="http://schemas.microsoft.com/office/drawing/2014/main" id="{78DD937A-B1E6-BB1D-F2E5-DB6BE65D3FC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374978" y="3953350"/>
              <a:ext cx="334464" cy="236573"/>
            </a:xfrm>
            <a:prstGeom prst="rect">
              <a:avLst/>
            </a:prstGeom>
          </p:spPr>
        </p:pic>
        <p:pic>
          <p:nvPicPr>
            <p:cNvPr id="154" name="Graphic 153">
              <a:extLst>
                <a:ext uri="{FF2B5EF4-FFF2-40B4-BE49-F238E27FC236}">
                  <a16:creationId xmlns:a16="http://schemas.microsoft.com/office/drawing/2014/main" id="{48E8C081-9952-89D5-3279-14B773237B3E}"/>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926756" y="3953350"/>
              <a:ext cx="334464" cy="236573"/>
            </a:xfrm>
            <a:prstGeom prst="rect">
              <a:avLst/>
            </a:prstGeom>
          </p:spPr>
        </p:pic>
      </p:grpSp>
      <p:grpSp>
        <p:nvGrpSpPr>
          <p:cNvPr id="301" name="Group 300">
            <a:extLst>
              <a:ext uri="{FF2B5EF4-FFF2-40B4-BE49-F238E27FC236}">
                <a16:creationId xmlns:a16="http://schemas.microsoft.com/office/drawing/2014/main" id="{84F97668-9083-59F9-704A-314143B5919B}"/>
              </a:ext>
            </a:extLst>
          </p:cNvPr>
          <p:cNvGrpSpPr/>
          <p:nvPr/>
        </p:nvGrpSpPr>
        <p:grpSpPr>
          <a:xfrm>
            <a:off x="5481055" y="3811942"/>
            <a:ext cx="1407630" cy="377981"/>
            <a:chOff x="5481055" y="3811942"/>
            <a:chExt cx="1407630" cy="377981"/>
          </a:xfrm>
        </p:grpSpPr>
        <p:grpSp>
          <p:nvGrpSpPr>
            <p:cNvPr id="156" name="Picture Placeholder 75" descr="vSAN Object Storage&#10;">
              <a:extLst>
                <a:ext uri="{FF2B5EF4-FFF2-40B4-BE49-F238E27FC236}">
                  <a16:creationId xmlns:a16="http://schemas.microsoft.com/office/drawing/2014/main" id="{AE327187-F3B4-C50C-A89F-30C511173B13}"/>
                </a:ext>
              </a:extLst>
            </p:cNvPr>
            <p:cNvGrpSpPr/>
            <p:nvPr/>
          </p:nvGrpSpPr>
          <p:grpSpPr>
            <a:xfrm>
              <a:off x="5481055" y="3811942"/>
              <a:ext cx="377048" cy="377981"/>
              <a:chOff x="4409948" y="5085582"/>
              <a:chExt cx="666228" cy="667877"/>
            </a:xfrm>
            <a:solidFill>
              <a:schemeClr val="accent2"/>
            </a:solidFill>
          </p:grpSpPr>
          <p:sp>
            <p:nvSpPr>
              <p:cNvPr id="157" name="Picture Placeholder 75">
                <a:extLst>
                  <a:ext uri="{FF2B5EF4-FFF2-40B4-BE49-F238E27FC236}">
                    <a16:creationId xmlns:a16="http://schemas.microsoft.com/office/drawing/2014/main" id="{700248B7-A173-DEFB-8624-23CA6E1B2D8B}"/>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8" name="Picture Placeholder 75">
                <a:extLst>
                  <a:ext uri="{FF2B5EF4-FFF2-40B4-BE49-F238E27FC236}">
                    <a16:creationId xmlns:a16="http://schemas.microsoft.com/office/drawing/2014/main" id="{EA45B924-68F4-1B85-7D3D-4B5E81A90305}"/>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9" name="Picture Placeholder 75">
                <a:extLst>
                  <a:ext uri="{FF2B5EF4-FFF2-40B4-BE49-F238E27FC236}">
                    <a16:creationId xmlns:a16="http://schemas.microsoft.com/office/drawing/2014/main" id="{84CDF808-1617-D1E8-3271-0E036F12F871}"/>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0" name="Picture Placeholder 75">
                <a:extLst>
                  <a:ext uri="{FF2B5EF4-FFF2-40B4-BE49-F238E27FC236}">
                    <a16:creationId xmlns:a16="http://schemas.microsoft.com/office/drawing/2014/main" id="{CC9BF184-BF05-73C1-1388-BDBFF700D9BF}"/>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1" name="Picture Placeholder 75">
                <a:extLst>
                  <a:ext uri="{FF2B5EF4-FFF2-40B4-BE49-F238E27FC236}">
                    <a16:creationId xmlns:a16="http://schemas.microsoft.com/office/drawing/2014/main" id="{5B8EE3DD-A2D6-52EF-0051-BFCC78400702}"/>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2" name="Picture Placeholder 75" descr="vSAN Object Storage&#10;">
              <a:extLst>
                <a:ext uri="{FF2B5EF4-FFF2-40B4-BE49-F238E27FC236}">
                  <a16:creationId xmlns:a16="http://schemas.microsoft.com/office/drawing/2014/main" id="{892118CE-C1C1-3EC2-4D3A-FB9CA8C7ED6E}"/>
                </a:ext>
              </a:extLst>
            </p:cNvPr>
            <p:cNvGrpSpPr/>
            <p:nvPr/>
          </p:nvGrpSpPr>
          <p:grpSpPr>
            <a:xfrm>
              <a:off x="6511637" y="3811942"/>
              <a:ext cx="377048" cy="377981"/>
              <a:chOff x="4409948" y="5085582"/>
              <a:chExt cx="666228" cy="667877"/>
            </a:xfrm>
            <a:solidFill>
              <a:schemeClr val="accent2"/>
            </a:solidFill>
          </p:grpSpPr>
          <p:sp>
            <p:nvSpPr>
              <p:cNvPr id="163" name="Picture Placeholder 75">
                <a:extLst>
                  <a:ext uri="{FF2B5EF4-FFF2-40B4-BE49-F238E27FC236}">
                    <a16:creationId xmlns:a16="http://schemas.microsoft.com/office/drawing/2014/main" id="{5F95EFDD-D37E-078A-142B-0B9271EE249F}"/>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4" name="Picture Placeholder 75">
                <a:extLst>
                  <a:ext uri="{FF2B5EF4-FFF2-40B4-BE49-F238E27FC236}">
                    <a16:creationId xmlns:a16="http://schemas.microsoft.com/office/drawing/2014/main" id="{3D894FC9-7F04-00B3-6216-9AFF1CBECCBD}"/>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5" name="Picture Placeholder 75">
                <a:extLst>
                  <a:ext uri="{FF2B5EF4-FFF2-40B4-BE49-F238E27FC236}">
                    <a16:creationId xmlns:a16="http://schemas.microsoft.com/office/drawing/2014/main" id="{046571D4-C550-8393-F02A-030E03EC2D52}"/>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6" name="Picture Placeholder 75">
                <a:extLst>
                  <a:ext uri="{FF2B5EF4-FFF2-40B4-BE49-F238E27FC236}">
                    <a16:creationId xmlns:a16="http://schemas.microsoft.com/office/drawing/2014/main" id="{AC2FD5F8-2874-031C-73D8-A1672669DD76}"/>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7" name="Picture Placeholder 75">
                <a:extLst>
                  <a:ext uri="{FF2B5EF4-FFF2-40B4-BE49-F238E27FC236}">
                    <a16:creationId xmlns:a16="http://schemas.microsoft.com/office/drawing/2014/main" id="{FD810E93-4100-68CC-4202-91F86ECDC8A6}"/>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8" name="Picture Placeholder 75" descr="vSAN Object Storage&#10;">
              <a:extLst>
                <a:ext uri="{FF2B5EF4-FFF2-40B4-BE49-F238E27FC236}">
                  <a16:creationId xmlns:a16="http://schemas.microsoft.com/office/drawing/2014/main" id="{BD485AD5-74E8-27AC-5AE7-10FE970C4947}"/>
                </a:ext>
              </a:extLst>
            </p:cNvPr>
            <p:cNvGrpSpPr/>
            <p:nvPr/>
          </p:nvGrpSpPr>
          <p:grpSpPr>
            <a:xfrm>
              <a:off x="5996346" y="3811942"/>
              <a:ext cx="377048" cy="377981"/>
              <a:chOff x="4409948" y="5085582"/>
              <a:chExt cx="666228" cy="667877"/>
            </a:xfrm>
            <a:solidFill>
              <a:schemeClr val="accent2"/>
            </a:solidFill>
          </p:grpSpPr>
          <p:sp>
            <p:nvSpPr>
              <p:cNvPr id="169" name="Picture Placeholder 75">
                <a:extLst>
                  <a:ext uri="{FF2B5EF4-FFF2-40B4-BE49-F238E27FC236}">
                    <a16:creationId xmlns:a16="http://schemas.microsoft.com/office/drawing/2014/main" id="{A4E7E2E6-12DF-9ECC-CA66-1B8F0687525B}"/>
                  </a:ext>
                </a:extLst>
              </p:cNvPr>
              <p:cNvSpPr/>
              <p:nvPr/>
            </p:nvSpPr>
            <p:spPr>
              <a:xfrm>
                <a:off x="4609172" y="5442289"/>
                <a:ext cx="146739" cy="153055"/>
              </a:xfrm>
              <a:custGeom>
                <a:avLst/>
                <a:gdLst>
                  <a:gd name="connsiteX0" fmla="*/ 73365 w 146739"/>
                  <a:gd name="connsiteY0" fmla="*/ 15812 h 153055"/>
                  <a:gd name="connsiteX1" fmla="*/ 130919 w 146739"/>
                  <a:gd name="connsiteY1" fmla="*/ 76528 h 153055"/>
                  <a:gd name="connsiteX2" fmla="*/ 73365 w 146739"/>
                  <a:gd name="connsiteY2" fmla="*/ 137244 h 153055"/>
                  <a:gd name="connsiteX3" fmla="*/ 15812 w 146739"/>
                  <a:gd name="connsiteY3" fmla="*/ 76528 h 153055"/>
                  <a:gd name="connsiteX4" fmla="*/ 73365 w 146739"/>
                  <a:gd name="connsiteY4" fmla="*/ 15812 h 153055"/>
                  <a:gd name="connsiteX5" fmla="*/ 73365 w 146739"/>
                  <a:gd name="connsiteY5" fmla="*/ 0 h 153055"/>
                  <a:gd name="connsiteX6" fmla="*/ 0 w 146739"/>
                  <a:gd name="connsiteY6" fmla="*/ 76528 h 153055"/>
                  <a:gd name="connsiteX7" fmla="*/ 73365 w 146739"/>
                  <a:gd name="connsiteY7" fmla="*/ 153055 h 153055"/>
                  <a:gd name="connsiteX8" fmla="*/ 146731 w 146739"/>
                  <a:gd name="connsiteY8" fmla="*/ 76528 h 153055"/>
                  <a:gd name="connsiteX9" fmla="*/ 73365 w 146739"/>
                  <a:gd name="connsiteY9" fmla="*/ 0 h 153055"/>
                  <a:gd name="connsiteX10" fmla="*/ 73365 w 146739"/>
                  <a:gd name="connsiteY10" fmla="*/ 0 h 15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739" h="153055">
                    <a:moveTo>
                      <a:pt x="73365" y="15812"/>
                    </a:moveTo>
                    <a:cubicBezTo>
                      <a:pt x="104988" y="15812"/>
                      <a:pt x="130919" y="43007"/>
                      <a:pt x="130919" y="76528"/>
                    </a:cubicBezTo>
                    <a:cubicBezTo>
                      <a:pt x="130919" y="110048"/>
                      <a:pt x="104988" y="137244"/>
                      <a:pt x="73365" y="137244"/>
                    </a:cubicBezTo>
                    <a:cubicBezTo>
                      <a:pt x="41742" y="137244"/>
                      <a:pt x="15812" y="110048"/>
                      <a:pt x="15812" y="76528"/>
                    </a:cubicBezTo>
                    <a:cubicBezTo>
                      <a:pt x="15812" y="43007"/>
                      <a:pt x="41742" y="15812"/>
                      <a:pt x="73365" y="15812"/>
                    </a:cubicBezTo>
                    <a:moveTo>
                      <a:pt x="73365" y="0"/>
                    </a:moveTo>
                    <a:cubicBezTo>
                      <a:pt x="32888" y="0"/>
                      <a:pt x="0" y="34153"/>
                      <a:pt x="0" y="76528"/>
                    </a:cubicBezTo>
                    <a:cubicBezTo>
                      <a:pt x="0" y="118902"/>
                      <a:pt x="32888" y="153055"/>
                      <a:pt x="73365" y="153055"/>
                    </a:cubicBezTo>
                    <a:cubicBezTo>
                      <a:pt x="113843" y="153055"/>
                      <a:pt x="146731" y="118902"/>
                      <a:pt x="146731" y="76528"/>
                    </a:cubicBezTo>
                    <a:cubicBezTo>
                      <a:pt x="147363" y="34153"/>
                      <a:pt x="113843" y="0"/>
                      <a:pt x="73365" y="0"/>
                    </a:cubicBezTo>
                    <a:lnTo>
                      <a:pt x="73365"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0" name="Picture Placeholder 75">
                <a:extLst>
                  <a:ext uri="{FF2B5EF4-FFF2-40B4-BE49-F238E27FC236}">
                    <a16:creationId xmlns:a16="http://schemas.microsoft.com/office/drawing/2014/main" id="{12CD31A4-1ABF-29F8-7770-FAD507C961C8}"/>
                  </a:ext>
                </a:extLst>
              </p:cNvPr>
              <p:cNvSpPr/>
              <p:nvPr/>
            </p:nvSpPr>
            <p:spPr>
              <a:xfrm>
                <a:off x="4776774" y="5554234"/>
                <a:ext cx="144833" cy="150525"/>
              </a:xfrm>
              <a:custGeom>
                <a:avLst/>
                <a:gdLst>
                  <a:gd name="connsiteX0" fmla="*/ 129022 w 144833"/>
                  <a:gd name="connsiteY0" fmla="*/ 15812 h 150525"/>
                  <a:gd name="connsiteX1" fmla="*/ 129022 w 144833"/>
                  <a:gd name="connsiteY1" fmla="*/ 134714 h 150525"/>
                  <a:gd name="connsiteX2" fmla="*/ 15812 w 144833"/>
                  <a:gd name="connsiteY2" fmla="*/ 134714 h 150525"/>
                  <a:gd name="connsiteX3" fmla="*/ 15812 w 144833"/>
                  <a:gd name="connsiteY3" fmla="*/ 15812 h 150525"/>
                  <a:gd name="connsiteX4" fmla="*/ 129022 w 144833"/>
                  <a:gd name="connsiteY4" fmla="*/ 15812 h 150525"/>
                  <a:gd name="connsiteX5" fmla="*/ 144833 w 144833"/>
                  <a:gd name="connsiteY5" fmla="*/ 0 h 150525"/>
                  <a:gd name="connsiteX6" fmla="*/ 0 w 144833"/>
                  <a:gd name="connsiteY6" fmla="*/ 0 h 150525"/>
                  <a:gd name="connsiteX7" fmla="*/ 0 w 144833"/>
                  <a:gd name="connsiteY7" fmla="*/ 150526 h 150525"/>
                  <a:gd name="connsiteX8" fmla="*/ 144833 w 144833"/>
                  <a:gd name="connsiteY8" fmla="*/ 150526 h 150525"/>
                  <a:gd name="connsiteX9" fmla="*/ 144833 w 144833"/>
                  <a:gd name="connsiteY9" fmla="*/ 0 h 150525"/>
                  <a:gd name="connsiteX10" fmla="*/ 144833 w 144833"/>
                  <a:gd name="connsiteY10" fmla="*/ 0 h 1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33" h="150525">
                    <a:moveTo>
                      <a:pt x="129022" y="15812"/>
                    </a:moveTo>
                    <a:lnTo>
                      <a:pt x="129022" y="134714"/>
                    </a:lnTo>
                    <a:lnTo>
                      <a:pt x="15812" y="134714"/>
                    </a:lnTo>
                    <a:lnTo>
                      <a:pt x="15812" y="15812"/>
                    </a:lnTo>
                    <a:lnTo>
                      <a:pt x="129022" y="15812"/>
                    </a:lnTo>
                    <a:moveTo>
                      <a:pt x="144833" y="0"/>
                    </a:moveTo>
                    <a:lnTo>
                      <a:pt x="0" y="0"/>
                    </a:lnTo>
                    <a:lnTo>
                      <a:pt x="0" y="150526"/>
                    </a:lnTo>
                    <a:lnTo>
                      <a:pt x="144833" y="150526"/>
                    </a:lnTo>
                    <a:lnTo>
                      <a:pt x="144833" y="0"/>
                    </a:lnTo>
                    <a:lnTo>
                      <a:pt x="144833"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1" name="Picture Placeholder 75">
                <a:extLst>
                  <a:ext uri="{FF2B5EF4-FFF2-40B4-BE49-F238E27FC236}">
                    <a16:creationId xmlns:a16="http://schemas.microsoft.com/office/drawing/2014/main" id="{8FB1DE87-10F2-8A5C-A679-BF6C3D14EE62}"/>
                  </a:ext>
                </a:extLst>
              </p:cNvPr>
              <p:cNvSpPr/>
              <p:nvPr/>
            </p:nvSpPr>
            <p:spPr>
              <a:xfrm>
                <a:off x="4776774" y="5191202"/>
                <a:ext cx="201122" cy="208711"/>
              </a:xfrm>
              <a:custGeom>
                <a:avLst/>
                <a:gdLst>
                  <a:gd name="connsiteX0" fmla="*/ 99929 w 201122"/>
                  <a:gd name="connsiteY0" fmla="*/ 22769 h 208711"/>
                  <a:gd name="connsiteX1" fmla="*/ 178354 w 201122"/>
                  <a:gd name="connsiteY1" fmla="*/ 104356 h 208711"/>
                  <a:gd name="connsiteX2" fmla="*/ 99929 w 201122"/>
                  <a:gd name="connsiteY2" fmla="*/ 185943 h 208711"/>
                  <a:gd name="connsiteX3" fmla="*/ 21504 w 201122"/>
                  <a:gd name="connsiteY3" fmla="*/ 104356 h 208711"/>
                  <a:gd name="connsiteX4" fmla="*/ 99929 w 201122"/>
                  <a:gd name="connsiteY4" fmla="*/ 22769 h 208711"/>
                  <a:gd name="connsiteX5" fmla="*/ 99929 w 201122"/>
                  <a:gd name="connsiteY5" fmla="*/ 0 h 208711"/>
                  <a:gd name="connsiteX6" fmla="*/ 0 w 201122"/>
                  <a:gd name="connsiteY6" fmla="*/ 104356 h 208711"/>
                  <a:gd name="connsiteX7" fmla="*/ 100561 w 201122"/>
                  <a:gd name="connsiteY7" fmla="*/ 208712 h 208711"/>
                  <a:gd name="connsiteX8" fmla="*/ 201122 w 201122"/>
                  <a:gd name="connsiteY8" fmla="*/ 104356 h 208711"/>
                  <a:gd name="connsiteX9" fmla="*/ 99929 w 201122"/>
                  <a:gd name="connsiteY9" fmla="*/ 0 h 208711"/>
                  <a:gd name="connsiteX10" fmla="*/ 99929 w 201122"/>
                  <a:gd name="connsiteY10" fmla="*/ 0 h 20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122" h="208711">
                    <a:moveTo>
                      <a:pt x="99929" y="22769"/>
                    </a:moveTo>
                    <a:lnTo>
                      <a:pt x="178354" y="104356"/>
                    </a:lnTo>
                    <a:lnTo>
                      <a:pt x="99929" y="185943"/>
                    </a:lnTo>
                    <a:lnTo>
                      <a:pt x="21504" y="104356"/>
                    </a:lnTo>
                    <a:lnTo>
                      <a:pt x="99929" y="22769"/>
                    </a:lnTo>
                    <a:moveTo>
                      <a:pt x="99929" y="0"/>
                    </a:moveTo>
                    <a:lnTo>
                      <a:pt x="0" y="104356"/>
                    </a:lnTo>
                    <a:lnTo>
                      <a:pt x="100561" y="208712"/>
                    </a:lnTo>
                    <a:lnTo>
                      <a:pt x="201122" y="104356"/>
                    </a:lnTo>
                    <a:lnTo>
                      <a:pt x="99929" y="0"/>
                    </a:lnTo>
                    <a:lnTo>
                      <a:pt x="99929" y="0"/>
                    </a:ln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2" name="Picture Placeholder 75">
                <a:extLst>
                  <a:ext uri="{FF2B5EF4-FFF2-40B4-BE49-F238E27FC236}">
                    <a16:creationId xmlns:a16="http://schemas.microsoft.com/office/drawing/2014/main" id="{4AF232D2-E60E-6778-10EA-7FFCDD7F66D4}"/>
                  </a:ext>
                </a:extLst>
              </p:cNvPr>
              <p:cNvSpPr/>
              <p:nvPr/>
            </p:nvSpPr>
            <p:spPr>
              <a:xfrm>
                <a:off x="4409948" y="5085582"/>
                <a:ext cx="6324" cy="6324"/>
              </a:xfrm>
              <a:custGeom>
                <a:avLst/>
                <a:gdLst/>
                <a:ahLst/>
                <a:cxnLst/>
                <a:rect l="l" t="t" r="r" b="b"/>
                <a:pathLst>
                  <a:path w="6324" h="6324"/>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3" name="Picture Placeholder 75">
                <a:extLst>
                  <a:ext uri="{FF2B5EF4-FFF2-40B4-BE49-F238E27FC236}">
                    <a16:creationId xmlns:a16="http://schemas.microsoft.com/office/drawing/2014/main" id="{4626C485-2F9F-BC29-1D89-BFE61B7E7F4F}"/>
                  </a:ext>
                </a:extLst>
              </p:cNvPr>
              <p:cNvSpPr/>
              <p:nvPr/>
            </p:nvSpPr>
            <p:spPr>
              <a:xfrm>
                <a:off x="4503303" y="5247491"/>
                <a:ext cx="572872" cy="505967"/>
              </a:xfrm>
              <a:custGeom>
                <a:avLst/>
                <a:gdLst>
                  <a:gd name="connsiteX0" fmla="*/ 453722 w 572872"/>
                  <a:gd name="connsiteY0" fmla="*/ 505968 h 505967"/>
                  <a:gd name="connsiteX1" fmla="*/ 119151 w 572872"/>
                  <a:gd name="connsiteY1" fmla="*/ 505968 h 505967"/>
                  <a:gd name="connsiteX2" fmla="*/ 111561 w 572872"/>
                  <a:gd name="connsiteY2" fmla="*/ 499643 h 505967"/>
                  <a:gd name="connsiteX3" fmla="*/ 248 w 572872"/>
                  <a:gd name="connsiteY3" fmla="*/ 10119 h 505967"/>
                  <a:gd name="connsiteX4" fmla="*/ 1513 w 572872"/>
                  <a:gd name="connsiteY4" fmla="*/ 3162 h 505967"/>
                  <a:gd name="connsiteX5" fmla="*/ 7838 w 572872"/>
                  <a:gd name="connsiteY5" fmla="*/ 0 h 505967"/>
                  <a:gd name="connsiteX6" fmla="*/ 272838 w 572872"/>
                  <a:gd name="connsiteY6" fmla="*/ 0 h 505967"/>
                  <a:gd name="connsiteX7" fmla="*/ 280428 w 572872"/>
                  <a:gd name="connsiteY7" fmla="*/ 7590 h 505967"/>
                  <a:gd name="connsiteX8" fmla="*/ 272838 w 572872"/>
                  <a:gd name="connsiteY8" fmla="*/ 15179 h 505967"/>
                  <a:gd name="connsiteX9" fmla="*/ 17957 w 572872"/>
                  <a:gd name="connsiteY9" fmla="*/ 15179 h 505967"/>
                  <a:gd name="connsiteX10" fmla="*/ 126108 w 572872"/>
                  <a:gd name="connsiteY10" fmla="*/ 489524 h 505967"/>
                  <a:gd name="connsiteX11" fmla="*/ 448030 w 572872"/>
                  <a:gd name="connsiteY11" fmla="*/ 489524 h 505967"/>
                  <a:gd name="connsiteX12" fmla="*/ 556180 w 572872"/>
                  <a:gd name="connsiteY12" fmla="*/ 15179 h 505967"/>
                  <a:gd name="connsiteX13" fmla="*/ 474593 w 572872"/>
                  <a:gd name="connsiteY13" fmla="*/ 15179 h 505967"/>
                  <a:gd name="connsiteX14" fmla="*/ 467004 w 572872"/>
                  <a:gd name="connsiteY14" fmla="*/ 7590 h 505967"/>
                  <a:gd name="connsiteX15" fmla="*/ 474593 w 572872"/>
                  <a:gd name="connsiteY15" fmla="*/ 0 h 505967"/>
                  <a:gd name="connsiteX16" fmla="*/ 565035 w 572872"/>
                  <a:gd name="connsiteY16" fmla="*/ 0 h 505967"/>
                  <a:gd name="connsiteX17" fmla="*/ 571360 w 572872"/>
                  <a:gd name="connsiteY17" fmla="*/ 3162 h 505967"/>
                  <a:gd name="connsiteX18" fmla="*/ 572624 w 572872"/>
                  <a:gd name="connsiteY18" fmla="*/ 10119 h 505967"/>
                  <a:gd name="connsiteX19" fmla="*/ 461311 w 572872"/>
                  <a:gd name="connsiteY19" fmla="*/ 500276 h 505967"/>
                  <a:gd name="connsiteX20" fmla="*/ 453722 w 572872"/>
                  <a:gd name="connsiteY20" fmla="*/ 505968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872" h="505967">
                    <a:moveTo>
                      <a:pt x="453722" y="505968"/>
                    </a:moveTo>
                    <a:lnTo>
                      <a:pt x="119151" y="505968"/>
                    </a:lnTo>
                    <a:cubicBezTo>
                      <a:pt x="115356" y="505968"/>
                      <a:pt x="112194" y="503438"/>
                      <a:pt x="111561" y="499643"/>
                    </a:cubicBezTo>
                    <a:lnTo>
                      <a:pt x="248" y="10119"/>
                    </a:lnTo>
                    <a:cubicBezTo>
                      <a:pt x="-384" y="7590"/>
                      <a:pt x="248" y="5060"/>
                      <a:pt x="1513" y="3162"/>
                    </a:cubicBezTo>
                    <a:cubicBezTo>
                      <a:pt x="2778" y="1265"/>
                      <a:pt x="5308" y="0"/>
                      <a:pt x="7838" y="0"/>
                    </a:cubicBezTo>
                    <a:lnTo>
                      <a:pt x="272838" y="0"/>
                    </a:lnTo>
                    <a:cubicBezTo>
                      <a:pt x="277266" y="0"/>
                      <a:pt x="280428" y="3795"/>
                      <a:pt x="280428" y="7590"/>
                    </a:cubicBezTo>
                    <a:cubicBezTo>
                      <a:pt x="280428" y="11384"/>
                      <a:pt x="276633" y="15179"/>
                      <a:pt x="272838" y="15179"/>
                    </a:cubicBezTo>
                    <a:lnTo>
                      <a:pt x="17957" y="15179"/>
                    </a:lnTo>
                    <a:lnTo>
                      <a:pt x="126108" y="489524"/>
                    </a:lnTo>
                    <a:lnTo>
                      <a:pt x="448030" y="489524"/>
                    </a:lnTo>
                    <a:lnTo>
                      <a:pt x="556180" y="15179"/>
                    </a:lnTo>
                    <a:lnTo>
                      <a:pt x="474593" y="15179"/>
                    </a:lnTo>
                    <a:cubicBezTo>
                      <a:pt x="470166" y="15179"/>
                      <a:pt x="467004" y="11384"/>
                      <a:pt x="467004" y="7590"/>
                    </a:cubicBezTo>
                    <a:cubicBezTo>
                      <a:pt x="467004" y="3795"/>
                      <a:pt x="470798" y="0"/>
                      <a:pt x="474593" y="0"/>
                    </a:cubicBezTo>
                    <a:lnTo>
                      <a:pt x="565035" y="0"/>
                    </a:lnTo>
                    <a:cubicBezTo>
                      <a:pt x="567565" y="0"/>
                      <a:pt x="569462" y="1265"/>
                      <a:pt x="571360" y="3162"/>
                    </a:cubicBezTo>
                    <a:cubicBezTo>
                      <a:pt x="572624" y="5060"/>
                      <a:pt x="573257" y="7590"/>
                      <a:pt x="572624" y="10119"/>
                    </a:cubicBezTo>
                    <a:lnTo>
                      <a:pt x="461311" y="500276"/>
                    </a:lnTo>
                    <a:cubicBezTo>
                      <a:pt x="460679" y="503438"/>
                      <a:pt x="457517" y="505968"/>
                      <a:pt x="453722" y="505968"/>
                    </a:cubicBezTo>
                    <a:close/>
                  </a:path>
                </a:pathLst>
              </a:custGeom>
              <a:solidFill>
                <a:schemeClr val="accent2"/>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sp>
        <p:nvSpPr>
          <p:cNvPr id="174" name="Rectangle 173">
            <a:extLst>
              <a:ext uri="{FF2B5EF4-FFF2-40B4-BE49-F238E27FC236}">
                <a16:creationId xmlns:a16="http://schemas.microsoft.com/office/drawing/2014/main" id="{EB0E4B0D-B31B-637C-18EF-24E4818E63DA}"/>
              </a:ext>
            </a:extLst>
          </p:cNvPr>
          <p:cNvSpPr/>
          <p:nvPr/>
        </p:nvSpPr>
        <p:spPr>
          <a:xfrm>
            <a:off x="6962241" y="6343119"/>
            <a:ext cx="3717684" cy="21544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*Native S3 announced as a “technical preview” available in vSAN for VCF 9.1</a:t>
            </a:r>
          </a:p>
        </p:txBody>
      </p:sp>
      <p:sp>
        <p:nvSpPr>
          <p:cNvPr id="214" name="Text Placeholder 34">
            <a:extLst>
              <a:ext uri="{FF2B5EF4-FFF2-40B4-BE49-F238E27FC236}">
                <a16:creationId xmlns:a16="http://schemas.microsoft.com/office/drawing/2014/main" id="{75FD09F9-038C-8E93-8653-70114BEDF474}"/>
              </a:ext>
            </a:extLst>
          </p:cNvPr>
          <p:cNvSpPr txBox="1">
            <a:spLocks/>
          </p:cNvSpPr>
          <p:nvPr/>
        </p:nvSpPr>
        <p:spPr>
          <a:xfrm>
            <a:off x="592654" y="1612909"/>
            <a:ext cx="2175880" cy="422629"/>
          </a:xfrm>
          <a:prstGeom prst="rect">
            <a:avLst/>
          </a:prstGeom>
        </p:spPr>
        <p:txBody>
          <a:bodyPr/>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000000">
                  <a:lumMod val="60000"/>
                  <a:lumOff val="40000"/>
                </a:srgbClr>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vSAN iSCSI</a:t>
            </a:r>
            <a:b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b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target service</a:t>
            </a:r>
            <a:b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br>
            <a:endPar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endParaRPr>
          </a:p>
        </p:txBody>
      </p:sp>
      <p:sp>
        <p:nvSpPr>
          <p:cNvPr id="215" name="Text Placeholder 34">
            <a:extLst>
              <a:ext uri="{FF2B5EF4-FFF2-40B4-BE49-F238E27FC236}">
                <a16:creationId xmlns:a16="http://schemas.microsoft.com/office/drawing/2014/main" id="{92160116-AA92-05C6-4724-A50DF1D03C1D}"/>
              </a:ext>
            </a:extLst>
          </p:cNvPr>
          <p:cNvSpPr txBox="1">
            <a:spLocks/>
          </p:cNvSpPr>
          <p:nvPr/>
        </p:nvSpPr>
        <p:spPr>
          <a:xfrm>
            <a:off x="5770625" y="1612909"/>
            <a:ext cx="2140075" cy="422629"/>
          </a:xfrm>
          <a:prstGeom prst="rect">
            <a:avLst/>
          </a:prstGeom>
        </p:spPr>
        <p:txBody>
          <a:bodyPr/>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000000">
                  <a:lumMod val="60000"/>
                  <a:lumOff val="40000"/>
                </a:srgbClr>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S3 compatible</a:t>
            </a:r>
            <a:b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b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object storage*</a:t>
            </a:r>
          </a:p>
        </p:txBody>
      </p:sp>
      <p:sp>
        <p:nvSpPr>
          <p:cNvPr id="216" name="Text Placeholder 34">
            <a:extLst>
              <a:ext uri="{FF2B5EF4-FFF2-40B4-BE49-F238E27FC236}">
                <a16:creationId xmlns:a16="http://schemas.microsoft.com/office/drawing/2014/main" id="{4C555E40-9E6E-16AF-A65D-468526279FD4}"/>
              </a:ext>
            </a:extLst>
          </p:cNvPr>
          <p:cNvSpPr txBox="1">
            <a:spLocks/>
          </p:cNvSpPr>
          <p:nvPr/>
        </p:nvSpPr>
        <p:spPr>
          <a:xfrm>
            <a:off x="3292733" y="1612909"/>
            <a:ext cx="2175880" cy="422629"/>
          </a:xfrm>
          <a:prstGeom prst="rect">
            <a:avLst/>
          </a:prstGeom>
        </p:spPr>
        <p:txBody>
          <a:bodyPr/>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000000">
                  <a:lumMod val="60000"/>
                  <a:lumOff val="40000"/>
                </a:srgbClr>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vSAN File</a:t>
            </a:r>
            <a:b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b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Services</a:t>
            </a:r>
          </a:p>
        </p:txBody>
      </p:sp>
      <p:grpSp>
        <p:nvGrpSpPr>
          <p:cNvPr id="285" name="Group 284">
            <a:extLst>
              <a:ext uri="{FF2B5EF4-FFF2-40B4-BE49-F238E27FC236}">
                <a16:creationId xmlns:a16="http://schemas.microsoft.com/office/drawing/2014/main" id="{D01D715F-46F7-F230-44FE-A760C96C3A09}"/>
              </a:ext>
            </a:extLst>
          </p:cNvPr>
          <p:cNvGrpSpPr/>
          <p:nvPr/>
        </p:nvGrpSpPr>
        <p:grpSpPr>
          <a:xfrm>
            <a:off x="6233390" y="2173252"/>
            <a:ext cx="1238081" cy="746996"/>
            <a:chOff x="6565676" y="2119703"/>
            <a:chExt cx="1238081" cy="746996"/>
          </a:xfrm>
        </p:grpSpPr>
        <p:pic>
          <p:nvPicPr>
            <p:cNvPr id="73" name="Graphic 72">
              <a:extLst>
                <a:ext uri="{FF2B5EF4-FFF2-40B4-BE49-F238E27FC236}">
                  <a16:creationId xmlns:a16="http://schemas.microsoft.com/office/drawing/2014/main" id="{FED7A253-F1E2-60A5-62DC-8FAF8DDD580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565676" y="2119703"/>
              <a:ext cx="337185" cy="337185"/>
            </a:xfrm>
            <a:prstGeom prst="rect">
              <a:avLst/>
            </a:prstGeom>
          </p:spPr>
        </p:pic>
        <p:pic>
          <p:nvPicPr>
            <p:cNvPr id="74" name="Graphic 73">
              <a:extLst>
                <a:ext uri="{FF2B5EF4-FFF2-40B4-BE49-F238E27FC236}">
                  <a16:creationId xmlns:a16="http://schemas.microsoft.com/office/drawing/2014/main" id="{C30987F1-DC2C-382D-569B-8E95E6B52F9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466572" y="2119703"/>
              <a:ext cx="337185" cy="337185"/>
            </a:xfrm>
            <a:prstGeom prst="rect">
              <a:avLst/>
            </a:prstGeom>
          </p:spPr>
        </p:pic>
        <p:pic>
          <p:nvPicPr>
            <p:cNvPr id="155" name="Graphic 154">
              <a:extLst>
                <a:ext uri="{FF2B5EF4-FFF2-40B4-BE49-F238E27FC236}">
                  <a16:creationId xmlns:a16="http://schemas.microsoft.com/office/drawing/2014/main" id="{A53C8559-E706-26BF-1605-24F610CF191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16124" y="2119703"/>
              <a:ext cx="337185" cy="337185"/>
            </a:xfrm>
            <a:prstGeom prst="rect">
              <a:avLst/>
            </a:prstGeom>
          </p:spPr>
        </p:pic>
        <p:sp>
          <p:nvSpPr>
            <p:cNvPr id="219" name="Text Placeholder 34">
              <a:extLst>
                <a:ext uri="{FF2B5EF4-FFF2-40B4-BE49-F238E27FC236}">
                  <a16:creationId xmlns:a16="http://schemas.microsoft.com/office/drawing/2014/main" id="{D361D9AE-9AED-0CDE-2697-0C390353553D}"/>
                </a:ext>
              </a:extLst>
            </p:cNvPr>
            <p:cNvSpPr txBox="1">
              <a:spLocks/>
            </p:cNvSpPr>
            <p:nvPr/>
          </p:nvSpPr>
          <p:spPr>
            <a:xfrm>
              <a:off x="6569893" y="2529516"/>
              <a:ext cx="1233863" cy="337183"/>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Cloud native applications</a:t>
              </a:r>
            </a:p>
          </p:txBody>
        </p:sp>
      </p:grpSp>
      <p:grpSp>
        <p:nvGrpSpPr>
          <p:cNvPr id="284" name="Group 283">
            <a:extLst>
              <a:ext uri="{FF2B5EF4-FFF2-40B4-BE49-F238E27FC236}">
                <a16:creationId xmlns:a16="http://schemas.microsoft.com/office/drawing/2014/main" id="{0F31D499-A0D3-875C-826C-6E48CF8BBDD6}"/>
              </a:ext>
            </a:extLst>
          </p:cNvPr>
          <p:cNvGrpSpPr/>
          <p:nvPr/>
        </p:nvGrpSpPr>
        <p:grpSpPr>
          <a:xfrm>
            <a:off x="3206946" y="2173252"/>
            <a:ext cx="2347454" cy="759769"/>
            <a:chOff x="3226394" y="2119703"/>
            <a:chExt cx="2347454" cy="759769"/>
          </a:xfrm>
        </p:grpSpPr>
        <p:sp>
          <p:nvSpPr>
            <p:cNvPr id="236" name="Rectangle 235">
              <a:extLst>
                <a:ext uri="{FF2B5EF4-FFF2-40B4-BE49-F238E27FC236}">
                  <a16:creationId xmlns:a16="http://schemas.microsoft.com/office/drawing/2014/main" id="{68E702BE-0EFC-C37B-5924-13AC2060E3C1}"/>
                </a:ext>
              </a:extLst>
            </p:cNvPr>
            <p:cNvSpPr/>
            <p:nvPr/>
          </p:nvSpPr>
          <p:spPr>
            <a:xfrm>
              <a:off x="4650956" y="2510140"/>
              <a:ext cx="922892" cy="369332"/>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Container</a:t>
              </a:r>
              <a:b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PVs</a:t>
              </a:r>
            </a:p>
          </p:txBody>
        </p:sp>
        <p:pic>
          <p:nvPicPr>
            <p:cNvPr id="237" name="Graphic 236">
              <a:extLst>
                <a:ext uri="{FF2B5EF4-FFF2-40B4-BE49-F238E27FC236}">
                  <a16:creationId xmlns:a16="http://schemas.microsoft.com/office/drawing/2014/main" id="{DB816F10-FCF3-0B3F-BD2F-25EF13C5897A}"/>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4943809" y="2119703"/>
              <a:ext cx="337186" cy="337186"/>
            </a:xfrm>
            <a:prstGeom prst="rect">
              <a:avLst/>
            </a:prstGeom>
          </p:spPr>
        </p:pic>
        <p:sp>
          <p:nvSpPr>
            <p:cNvPr id="240" name="Rectangle 239">
              <a:extLst>
                <a:ext uri="{FF2B5EF4-FFF2-40B4-BE49-F238E27FC236}">
                  <a16:creationId xmlns:a16="http://schemas.microsoft.com/office/drawing/2014/main" id="{B4C24EE8-C6D4-0218-2293-64A0D2E000D6}"/>
                </a:ext>
              </a:extLst>
            </p:cNvPr>
            <p:cNvSpPr/>
            <p:nvPr/>
          </p:nvSpPr>
          <p:spPr>
            <a:xfrm>
              <a:off x="3226394" y="2510140"/>
              <a:ext cx="819726" cy="369332"/>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7B8C"/>
                  </a:solidFill>
                  <a:effectLst/>
                  <a:uLnTx/>
                  <a:uFillTx/>
                  <a:latin typeface="Arial" panose="020B0604020202020204"/>
                  <a:ea typeface="+mn-ea"/>
                  <a:cs typeface="+mn-cs"/>
                </a:rPr>
                <a:t>Windows clients</a:t>
              </a:r>
            </a:p>
          </p:txBody>
        </p:sp>
        <p:pic>
          <p:nvPicPr>
            <p:cNvPr id="242" name="Graphic 241">
              <a:extLst>
                <a:ext uri="{FF2B5EF4-FFF2-40B4-BE49-F238E27FC236}">
                  <a16:creationId xmlns:a16="http://schemas.microsoft.com/office/drawing/2014/main" id="{89ECC324-0088-5112-BD0E-EDFC621B0659}"/>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4181023" y="2119703"/>
              <a:ext cx="337187" cy="337186"/>
            </a:xfrm>
            <a:prstGeom prst="rect">
              <a:avLst/>
            </a:prstGeom>
          </p:spPr>
        </p:pic>
        <p:sp>
          <p:nvSpPr>
            <p:cNvPr id="243" name="Rectangle 242">
              <a:extLst>
                <a:ext uri="{FF2B5EF4-FFF2-40B4-BE49-F238E27FC236}">
                  <a16:creationId xmlns:a16="http://schemas.microsoft.com/office/drawing/2014/main" id="{3593D342-1CBE-F9A5-0315-2E7559A6E525}"/>
                </a:ext>
              </a:extLst>
            </p:cNvPr>
            <p:cNvSpPr/>
            <p:nvPr/>
          </p:nvSpPr>
          <p:spPr>
            <a:xfrm>
              <a:off x="4006347" y="2510140"/>
              <a:ext cx="686539" cy="369332"/>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98C7">
                      <a:lumMod val="75000"/>
                    </a:srgbClr>
                  </a:solidFill>
                  <a:effectLst/>
                  <a:uLnTx/>
                  <a:uFillTx/>
                  <a:latin typeface="Arial" panose="020B0604020202020204"/>
                  <a:ea typeface="+mn-ea"/>
                  <a:cs typeface="+mn-cs"/>
                </a:rPr>
                <a:t>Linux</a:t>
              </a:r>
              <a:br>
                <a:rPr kumimoji="0" lang="en-US" sz="1200" b="0" i="0" u="none" strike="noStrike" kern="1200" cap="none" spc="0" normalizeH="0" baseline="0" noProof="0" dirty="0">
                  <a:ln>
                    <a:noFill/>
                  </a:ln>
                  <a:solidFill>
                    <a:srgbClr val="0098C7">
                      <a:lumMod val="75000"/>
                    </a:srgbClr>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0098C7">
                      <a:lumMod val="75000"/>
                    </a:srgbClr>
                  </a:solidFill>
                  <a:effectLst/>
                  <a:uLnTx/>
                  <a:uFillTx/>
                  <a:latin typeface="Arial" panose="020B0604020202020204"/>
                  <a:ea typeface="+mn-ea"/>
                  <a:cs typeface="+mn-cs"/>
                </a:rPr>
                <a:t>clients</a:t>
              </a:r>
            </a:p>
          </p:txBody>
        </p:sp>
        <p:grpSp>
          <p:nvGrpSpPr>
            <p:cNvPr id="283" name="Group 282">
              <a:extLst>
                <a:ext uri="{FF2B5EF4-FFF2-40B4-BE49-F238E27FC236}">
                  <a16:creationId xmlns:a16="http://schemas.microsoft.com/office/drawing/2014/main" id="{E8612115-E0A3-5AA6-1269-AA4BDB1A5029}"/>
                </a:ext>
              </a:extLst>
            </p:cNvPr>
            <p:cNvGrpSpPr/>
            <p:nvPr/>
          </p:nvGrpSpPr>
          <p:grpSpPr>
            <a:xfrm>
              <a:off x="3467664" y="2119703"/>
              <a:ext cx="337187" cy="337186"/>
              <a:chOff x="3267178" y="2706471"/>
              <a:chExt cx="337187" cy="337186"/>
            </a:xfrm>
          </p:grpSpPr>
          <p:pic>
            <p:nvPicPr>
              <p:cNvPr id="239" name="Graphic 238">
                <a:extLst>
                  <a:ext uri="{FF2B5EF4-FFF2-40B4-BE49-F238E27FC236}">
                    <a16:creationId xmlns:a16="http://schemas.microsoft.com/office/drawing/2014/main" id="{43ABD681-80A8-B5FB-87A4-2FCBE4EB7A8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3267178" y="2706471"/>
                <a:ext cx="337187" cy="337186"/>
              </a:xfrm>
              <a:prstGeom prst="rect">
                <a:avLst/>
              </a:prstGeom>
            </p:spPr>
          </p:pic>
          <p:pic>
            <p:nvPicPr>
              <p:cNvPr id="244" name="Graphic 243">
                <a:extLst>
                  <a:ext uri="{FF2B5EF4-FFF2-40B4-BE49-F238E27FC236}">
                    <a16:creationId xmlns:a16="http://schemas.microsoft.com/office/drawing/2014/main" id="{73E022E9-EBC8-4339-11CF-E10EC834109D}"/>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3344576" y="2788341"/>
                <a:ext cx="182389" cy="183121"/>
              </a:xfrm>
              <a:prstGeom prst="rect">
                <a:avLst/>
              </a:prstGeom>
            </p:spPr>
          </p:pic>
        </p:grpSp>
        <p:pic>
          <p:nvPicPr>
            <p:cNvPr id="248" name="Graphic 247">
              <a:extLst>
                <a:ext uri="{FF2B5EF4-FFF2-40B4-BE49-F238E27FC236}">
                  <a16:creationId xmlns:a16="http://schemas.microsoft.com/office/drawing/2014/main" id="{7830A57E-CD10-CFC3-AFA0-D2F23D72890A}"/>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4233966" y="2119703"/>
              <a:ext cx="231301" cy="279381"/>
            </a:xfrm>
            <a:prstGeom prst="rect">
              <a:avLst/>
            </a:prstGeom>
          </p:spPr>
        </p:pic>
      </p:grpSp>
      <p:grpSp>
        <p:nvGrpSpPr>
          <p:cNvPr id="277" name="Group 276">
            <a:extLst>
              <a:ext uri="{FF2B5EF4-FFF2-40B4-BE49-F238E27FC236}">
                <a16:creationId xmlns:a16="http://schemas.microsoft.com/office/drawing/2014/main" id="{13AFC6DA-E6B6-8C4A-1E67-0C5FCBDE1906}"/>
              </a:ext>
            </a:extLst>
          </p:cNvPr>
          <p:cNvGrpSpPr/>
          <p:nvPr/>
        </p:nvGrpSpPr>
        <p:grpSpPr>
          <a:xfrm>
            <a:off x="881996" y="2173252"/>
            <a:ext cx="1602247" cy="773646"/>
            <a:chOff x="-4689071" y="3015807"/>
            <a:chExt cx="1602247" cy="773646"/>
          </a:xfrm>
        </p:grpSpPr>
        <p:grpSp>
          <p:nvGrpSpPr>
            <p:cNvPr id="257" name="Group 256">
              <a:extLst>
                <a:ext uri="{FF2B5EF4-FFF2-40B4-BE49-F238E27FC236}">
                  <a16:creationId xmlns:a16="http://schemas.microsoft.com/office/drawing/2014/main" id="{2D52594E-AB54-534A-8698-B9C0047B7D60}"/>
                </a:ext>
              </a:extLst>
            </p:cNvPr>
            <p:cNvGrpSpPr/>
            <p:nvPr/>
          </p:nvGrpSpPr>
          <p:grpSpPr>
            <a:xfrm>
              <a:off x="-4689071" y="3015807"/>
              <a:ext cx="1598670" cy="773646"/>
              <a:chOff x="1348985" y="1814884"/>
              <a:chExt cx="1598670" cy="773646"/>
            </a:xfrm>
          </p:grpSpPr>
          <p:sp>
            <p:nvSpPr>
              <p:cNvPr id="258" name="Rectangle: Rounded Corners 234">
                <a:extLst>
                  <a:ext uri="{FF2B5EF4-FFF2-40B4-BE49-F238E27FC236}">
                    <a16:creationId xmlns:a16="http://schemas.microsoft.com/office/drawing/2014/main" id="{363B1C0D-353E-C2C9-AC8F-7261C769F5D5}"/>
                  </a:ext>
                </a:extLst>
              </p:cNvPr>
              <p:cNvSpPr/>
              <p:nvPr/>
            </p:nvSpPr>
            <p:spPr>
              <a:xfrm>
                <a:off x="1348985" y="1814884"/>
                <a:ext cx="1598670" cy="773646"/>
              </a:xfrm>
              <a:prstGeom prst="rect">
                <a:avLst/>
              </a:prstGeom>
              <a:solidFill>
                <a:schemeClr val="bg1">
                  <a:alpha val="80000"/>
                </a:schemeClr>
              </a:solidFill>
              <a:ln w="19050">
                <a:solidFill>
                  <a:schemeClr val="accent3"/>
                </a:solid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9" name="TextBox 258">
                <a:extLst>
                  <a:ext uri="{FF2B5EF4-FFF2-40B4-BE49-F238E27FC236}">
                    <a16:creationId xmlns:a16="http://schemas.microsoft.com/office/drawing/2014/main" id="{277789DC-5D80-ABE8-E68E-74E13B80A13C}"/>
                  </a:ext>
                </a:extLst>
              </p:cNvPr>
              <p:cNvSpPr txBox="1"/>
              <p:nvPr/>
            </p:nvSpPr>
            <p:spPr>
              <a:xfrm>
                <a:off x="1525306" y="2411751"/>
                <a:ext cx="1155188" cy="150853"/>
              </a:xfrm>
              <a:prstGeom prst="rect">
                <a:avLst/>
              </a:prstGeom>
              <a:noFill/>
            </p:spPr>
            <p:txBody>
              <a:bodyPr wrap="square" lIns="0" tIns="0" rIns="0" bIns="0" rtlCol="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iSCSI Network</a:t>
                </a:r>
              </a:p>
            </p:txBody>
          </p:sp>
        </p:grpSp>
        <p:sp>
          <p:nvSpPr>
            <p:cNvPr id="261" name="TextBox 260">
              <a:extLst>
                <a:ext uri="{FF2B5EF4-FFF2-40B4-BE49-F238E27FC236}">
                  <a16:creationId xmlns:a16="http://schemas.microsoft.com/office/drawing/2014/main" id="{040F9AD1-A39B-5A98-3C6A-B63D59E52BBB}"/>
                </a:ext>
              </a:extLst>
            </p:cNvPr>
            <p:cNvSpPr txBox="1"/>
            <p:nvPr/>
          </p:nvSpPr>
          <p:spPr>
            <a:xfrm>
              <a:off x="-4624461" y="3056755"/>
              <a:ext cx="782578" cy="172355"/>
            </a:xfrm>
            <a:prstGeom prst="rect">
              <a:avLst/>
            </a:prstGeom>
            <a:noFill/>
          </p:spPr>
          <p:txBody>
            <a:bodyPr wrap="square" lIns="0" tIns="0" rIns="0" bIns="0" rtlCol="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Physical</a:t>
              </a:r>
            </a:p>
          </p:txBody>
        </p:sp>
        <p:pic>
          <p:nvPicPr>
            <p:cNvPr id="264" name="Graphic 263">
              <a:extLst>
                <a:ext uri="{FF2B5EF4-FFF2-40B4-BE49-F238E27FC236}">
                  <a16:creationId xmlns:a16="http://schemas.microsoft.com/office/drawing/2014/main" id="{046460E8-184F-4ED4-E96E-E40166BAA44F}"/>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551595" y="3262247"/>
              <a:ext cx="278411" cy="278411"/>
            </a:xfrm>
            <a:prstGeom prst="rect">
              <a:avLst/>
            </a:prstGeom>
          </p:spPr>
        </p:pic>
        <p:sp>
          <p:nvSpPr>
            <p:cNvPr id="265" name="TextBox 264">
              <a:extLst>
                <a:ext uri="{FF2B5EF4-FFF2-40B4-BE49-F238E27FC236}">
                  <a16:creationId xmlns:a16="http://schemas.microsoft.com/office/drawing/2014/main" id="{3B426046-461E-6A93-CD59-E907A6E8A130}"/>
                </a:ext>
              </a:extLst>
            </p:cNvPr>
            <p:cNvSpPr txBox="1"/>
            <p:nvPr/>
          </p:nvSpPr>
          <p:spPr>
            <a:xfrm>
              <a:off x="-3737955" y="3056755"/>
              <a:ext cx="651131" cy="172355"/>
            </a:xfrm>
            <a:prstGeom prst="rect">
              <a:avLst/>
            </a:prstGeom>
            <a:noFill/>
          </p:spPr>
          <p:txBody>
            <a:bodyPr wrap="square" lIns="0" tIns="0" rIns="0" bIns="0" rtlCol="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Virtual</a:t>
              </a:r>
            </a:p>
          </p:txBody>
        </p:sp>
        <p:grpSp>
          <p:nvGrpSpPr>
            <p:cNvPr id="276" name="Group 275">
              <a:extLst>
                <a:ext uri="{FF2B5EF4-FFF2-40B4-BE49-F238E27FC236}">
                  <a16:creationId xmlns:a16="http://schemas.microsoft.com/office/drawing/2014/main" id="{48034F73-95D5-083B-D357-EC3579AADF37}"/>
                </a:ext>
              </a:extLst>
            </p:cNvPr>
            <p:cNvGrpSpPr/>
            <p:nvPr/>
          </p:nvGrpSpPr>
          <p:grpSpPr>
            <a:xfrm>
              <a:off x="-4593228" y="3228868"/>
              <a:ext cx="720112" cy="345168"/>
              <a:chOff x="-4593228" y="3228868"/>
              <a:chExt cx="720112" cy="345168"/>
            </a:xfrm>
          </p:grpSpPr>
          <p:pic>
            <p:nvPicPr>
              <p:cNvPr id="262" name="Graphic 261">
                <a:extLst>
                  <a:ext uri="{FF2B5EF4-FFF2-40B4-BE49-F238E27FC236}">
                    <a16:creationId xmlns:a16="http://schemas.microsoft.com/office/drawing/2014/main" id="{5472D31C-B0AA-FE74-BB1D-1706712E4CE8}"/>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4593228" y="3382394"/>
                <a:ext cx="720112" cy="191642"/>
              </a:xfrm>
              <a:prstGeom prst="rect">
                <a:avLst/>
              </a:prstGeom>
            </p:spPr>
          </p:pic>
          <p:sp>
            <p:nvSpPr>
              <p:cNvPr id="275" name="Rectangle 274">
                <a:extLst>
                  <a:ext uri="{FF2B5EF4-FFF2-40B4-BE49-F238E27FC236}">
                    <a16:creationId xmlns:a16="http://schemas.microsoft.com/office/drawing/2014/main" id="{F64B9CB2-0EBC-1508-1B94-60A792634718}"/>
                  </a:ext>
                </a:extLst>
              </p:cNvPr>
              <p:cNvSpPr/>
              <p:nvPr/>
            </p:nvSpPr>
            <p:spPr>
              <a:xfrm>
                <a:off x="-4593228" y="3228868"/>
                <a:ext cx="720112" cy="13938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App</a:t>
                </a:r>
              </a:p>
            </p:txBody>
          </p:sp>
        </p:grpSp>
      </p:grpSp>
      <p:grpSp>
        <p:nvGrpSpPr>
          <p:cNvPr id="299" name="Group 298">
            <a:extLst>
              <a:ext uri="{FF2B5EF4-FFF2-40B4-BE49-F238E27FC236}">
                <a16:creationId xmlns:a16="http://schemas.microsoft.com/office/drawing/2014/main" id="{52DE8665-A983-D750-6226-5E16F36C877D}"/>
              </a:ext>
            </a:extLst>
          </p:cNvPr>
          <p:cNvGrpSpPr/>
          <p:nvPr/>
        </p:nvGrpSpPr>
        <p:grpSpPr>
          <a:xfrm>
            <a:off x="2148885" y="3829671"/>
            <a:ext cx="755047" cy="364116"/>
            <a:chOff x="2148885" y="3829671"/>
            <a:chExt cx="755047" cy="364116"/>
          </a:xfrm>
        </p:grpSpPr>
        <p:sp>
          <p:nvSpPr>
            <p:cNvPr id="256" name="Freeform 82">
              <a:extLst>
                <a:ext uri="{FF2B5EF4-FFF2-40B4-BE49-F238E27FC236}">
                  <a16:creationId xmlns:a16="http://schemas.microsoft.com/office/drawing/2014/main" id="{7054DDAA-F7AA-2E62-9BCA-64D906A07D56}"/>
                </a:ext>
              </a:extLst>
            </p:cNvPr>
            <p:cNvSpPr>
              <a:spLocks noChangeAspect="1" noEditPoints="1"/>
            </p:cNvSpPr>
            <p:nvPr/>
          </p:nvSpPr>
          <p:spPr bwMode="auto">
            <a:xfrm>
              <a:off x="2148885" y="3829671"/>
              <a:ext cx="298328" cy="364116"/>
            </a:xfrm>
            <a:custGeom>
              <a:avLst/>
              <a:gdLst>
                <a:gd name="T0" fmla="*/ 159 w 318"/>
                <a:gd name="T1" fmla="*/ 0 h 388"/>
                <a:gd name="T2" fmla="*/ 0 w 318"/>
                <a:gd name="T3" fmla="*/ 36 h 388"/>
                <a:gd name="T4" fmla="*/ 0 w 318"/>
                <a:gd name="T5" fmla="*/ 198 h 388"/>
                <a:gd name="T6" fmla="*/ 159 w 318"/>
                <a:gd name="T7" fmla="*/ 234 h 388"/>
                <a:gd name="T8" fmla="*/ 318 w 318"/>
                <a:gd name="T9" fmla="*/ 198 h 388"/>
                <a:gd name="T10" fmla="*/ 318 w 318"/>
                <a:gd name="T11" fmla="*/ 36 h 388"/>
                <a:gd name="T12" fmla="*/ 159 w 318"/>
                <a:gd name="T13" fmla="*/ 0 h 388"/>
                <a:gd name="T14" fmla="*/ 302 w 318"/>
                <a:gd name="T15" fmla="*/ 116 h 388"/>
                <a:gd name="T16" fmla="*/ 159 w 318"/>
                <a:gd name="T17" fmla="*/ 137 h 388"/>
                <a:gd name="T18" fmla="*/ 16 w 318"/>
                <a:gd name="T19" fmla="*/ 116 h 388"/>
                <a:gd name="T20" fmla="*/ 16 w 318"/>
                <a:gd name="T21" fmla="*/ 54 h 388"/>
                <a:gd name="T22" fmla="*/ 159 w 318"/>
                <a:gd name="T23" fmla="*/ 72 h 388"/>
                <a:gd name="T24" fmla="*/ 302 w 318"/>
                <a:gd name="T25" fmla="*/ 54 h 388"/>
                <a:gd name="T26" fmla="*/ 302 w 318"/>
                <a:gd name="T27" fmla="*/ 116 h 388"/>
                <a:gd name="T28" fmla="*/ 159 w 318"/>
                <a:gd name="T29" fmla="*/ 16 h 388"/>
                <a:gd name="T30" fmla="*/ 302 w 318"/>
                <a:gd name="T31" fmla="*/ 36 h 388"/>
                <a:gd name="T32" fmla="*/ 159 w 318"/>
                <a:gd name="T33" fmla="*/ 56 h 388"/>
                <a:gd name="T34" fmla="*/ 16 w 318"/>
                <a:gd name="T35" fmla="*/ 36 h 388"/>
                <a:gd name="T36" fmla="*/ 159 w 318"/>
                <a:gd name="T37" fmla="*/ 16 h 388"/>
                <a:gd name="T38" fmla="*/ 159 w 318"/>
                <a:gd name="T39" fmla="*/ 218 h 388"/>
                <a:gd name="T40" fmla="*/ 16 w 318"/>
                <a:gd name="T41" fmla="*/ 197 h 388"/>
                <a:gd name="T42" fmla="*/ 16 w 318"/>
                <a:gd name="T43" fmla="*/ 135 h 388"/>
                <a:gd name="T44" fmla="*/ 159 w 318"/>
                <a:gd name="T45" fmla="*/ 153 h 388"/>
                <a:gd name="T46" fmla="*/ 302 w 318"/>
                <a:gd name="T47" fmla="*/ 135 h 388"/>
                <a:gd name="T48" fmla="*/ 302 w 318"/>
                <a:gd name="T49" fmla="*/ 197 h 388"/>
                <a:gd name="T50" fmla="*/ 159 w 318"/>
                <a:gd name="T51" fmla="*/ 218 h 388"/>
                <a:gd name="T52" fmla="*/ 314 w 318"/>
                <a:gd name="T53" fmla="*/ 282 h 388"/>
                <a:gd name="T54" fmla="*/ 159 w 318"/>
                <a:gd name="T55" fmla="*/ 311 h 388"/>
                <a:gd name="T56" fmla="*/ 4 w 318"/>
                <a:gd name="T57" fmla="*/ 282 h 388"/>
                <a:gd name="T58" fmla="*/ 159 w 318"/>
                <a:gd name="T59" fmla="*/ 252 h 388"/>
                <a:gd name="T60" fmla="*/ 314 w 318"/>
                <a:gd name="T61" fmla="*/ 282 h 388"/>
                <a:gd name="T62" fmla="*/ 314 w 318"/>
                <a:gd name="T63" fmla="*/ 292 h 388"/>
                <a:gd name="T64" fmla="*/ 314 w 318"/>
                <a:gd name="T65" fmla="*/ 358 h 388"/>
                <a:gd name="T66" fmla="*/ 159 w 318"/>
                <a:gd name="T67" fmla="*/ 388 h 388"/>
                <a:gd name="T68" fmla="*/ 4 w 318"/>
                <a:gd name="T69" fmla="*/ 358 h 388"/>
                <a:gd name="T70" fmla="*/ 4 w 318"/>
                <a:gd name="T71" fmla="*/ 292 h 388"/>
                <a:gd name="T72" fmla="*/ 159 w 318"/>
                <a:gd name="T73" fmla="*/ 322 h 388"/>
                <a:gd name="T74" fmla="*/ 314 w 318"/>
                <a:gd name="T75" fmla="*/ 29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8" h="388">
                  <a:moveTo>
                    <a:pt x="159" y="0"/>
                  </a:moveTo>
                  <a:cubicBezTo>
                    <a:pt x="143" y="0"/>
                    <a:pt x="0" y="1"/>
                    <a:pt x="0" y="36"/>
                  </a:cubicBezTo>
                  <a:cubicBezTo>
                    <a:pt x="0" y="198"/>
                    <a:pt x="0" y="198"/>
                    <a:pt x="0" y="198"/>
                  </a:cubicBezTo>
                  <a:cubicBezTo>
                    <a:pt x="0" y="233"/>
                    <a:pt x="143" y="234"/>
                    <a:pt x="159" y="234"/>
                  </a:cubicBezTo>
                  <a:cubicBezTo>
                    <a:pt x="175" y="234"/>
                    <a:pt x="318" y="233"/>
                    <a:pt x="318" y="198"/>
                  </a:cubicBezTo>
                  <a:cubicBezTo>
                    <a:pt x="318" y="36"/>
                    <a:pt x="318" y="36"/>
                    <a:pt x="318" y="36"/>
                  </a:cubicBezTo>
                  <a:cubicBezTo>
                    <a:pt x="318" y="1"/>
                    <a:pt x="175" y="0"/>
                    <a:pt x="159" y="0"/>
                  </a:cubicBezTo>
                  <a:close/>
                  <a:moveTo>
                    <a:pt x="302" y="116"/>
                  </a:moveTo>
                  <a:cubicBezTo>
                    <a:pt x="297" y="123"/>
                    <a:pt x="250" y="137"/>
                    <a:pt x="159" y="137"/>
                  </a:cubicBezTo>
                  <a:cubicBezTo>
                    <a:pt x="69" y="137"/>
                    <a:pt x="21" y="123"/>
                    <a:pt x="16" y="116"/>
                  </a:cubicBezTo>
                  <a:cubicBezTo>
                    <a:pt x="16" y="54"/>
                    <a:pt x="16" y="54"/>
                    <a:pt x="16" y="54"/>
                  </a:cubicBezTo>
                  <a:cubicBezTo>
                    <a:pt x="54" y="72"/>
                    <a:pt x="146" y="72"/>
                    <a:pt x="159" y="72"/>
                  </a:cubicBezTo>
                  <a:cubicBezTo>
                    <a:pt x="172" y="72"/>
                    <a:pt x="265" y="72"/>
                    <a:pt x="302" y="54"/>
                  </a:cubicBezTo>
                  <a:lnTo>
                    <a:pt x="302" y="116"/>
                  </a:lnTo>
                  <a:close/>
                  <a:moveTo>
                    <a:pt x="159" y="16"/>
                  </a:moveTo>
                  <a:cubicBezTo>
                    <a:pt x="247" y="16"/>
                    <a:pt x="294" y="29"/>
                    <a:pt x="302" y="36"/>
                  </a:cubicBezTo>
                  <a:cubicBezTo>
                    <a:pt x="294" y="44"/>
                    <a:pt x="247" y="56"/>
                    <a:pt x="159" y="56"/>
                  </a:cubicBezTo>
                  <a:cubicBezTo>
                    <a:pt x="72" y="56"/>
                    <a:pt x="24" y="44"/>
                    <a:pt x="16" y="36"/>
                  </a:cubicBezTo>
                  <a:cubicBezTo>
                    <a:pt x="24" y="29"/>
                    <a:pt x="72" y="16"/>
                    <a:pt x="159" y="16"/>
                  </a:cubicBezTo>
                  <a:close/>
                  <a:moveTo>
                    <a:pt x="159" y="218"/>
                  </a:moveTo>
                  <a:cubicBezTo>
                    <a:pt x="69" y="218"/>
                    <a:pt x="21" y="204"/>
                    <a:pt x="16" y="197"/>
                  </a:cubicBezTo>
                  <a:cubicBezTo>
                    <a:pt x="16" y="135"/>
                    <a:pt x="16" y="135"/>
                    <a:pt x="16" y="135"/>
                  </a:cubicBezTo>
                  <a:cubicBezTo>
                    <a:pt x="54" y="152"/>
                    <a:pt x="146" y="153"/>
                    <a:pt x="159" y="153"/>
                  </a:cubicBezTo>
                  <a:cubicBezTo>
                    <a:pt x="172" y="153"/>
                    <a:pt x="265" y="152"/>
                    <a:pt x="302" y="135"/>
                  </a:cubicBezTo>
                  <a:cubicBezTo>
                    <a:pt x="302" y="197"/>
                    <a:pt x="302" y="197"/>
                    <a:pt x="302" y="197"/>
                  </a:cubicBezTo>
                  <a:cubicBezTo>
                    <a:pt x="297" y="204"/>
                    <a:pt x="249" y="218"/>
                    <a:pt x="159" y="218"/>
                  </a:cubicBezTo>
                  <a:close/>
                  <a:moveTo>
                    <a:pt x="314" y="282"/>
                  </a:moveTo>
                  <a:cubicBezTo>
                    <a:pt x="314" y="298"/>
                    <a:pt x="245" y="311"/>
                    <a:pt x="159" y="311"/>
                  </a:cubicBezTo>
                  <a:cubicBezTo>
                    <a:pt x="74" y="311"/>
                    <a:pt x="4" y="298"/>
                    <a:pt x="4" y="282"/>
                  </a:cubicBezTo>
                  <a:cubicBezTo>
                    <a:pt x="4" y="265"/>
                    <a:pt x="74" y="252"/>
                    <a:pt x="159" y="252"/>
                  </a:cubicBezTo>
                  <a:cubicBezTo>
                    <a:pt x="245" y="252"/>
                    <a:pt x="314" y="265"/>
                    <a:pt x="314" y="282"/>
                  </a:cubicBezTo>
                  <a:close/>
                  <a:moveTo>
                    <a:pt x="314" y="292"/>
                  </a:moveTo>
                  <a:cubicBezTo>
                    <a:pt x="314" y="358"/>
                    <a:pt x="314" y="358"/>
                    <a:pt x="314" y="358"/>
                  </a:cubicBezTo>
                  <a:cubicBezTo>
                    <a:pt x="314" y="375"/>
                    <a:pt x="245" y="388"/>
                    <a:pt x="159" y="388"/>
                  </a:cubicBezTo>
                  <a:cubicBezTo>
                    <a:pt x="74" y="388"/>
                    <a:pt x="4" y="375"/>
                    <a:pt x="4" y="358"/>
                  </a:cubicBezTo>
                  <a:cubicBezTo>
                    <a:pt x="4" y="292"/>
                    <a:pt x="4" y="292"/>
                    <a:pt x="4" y="292"/>
                  </a:cubicBezTo>
                  <a:cubicBezTo>
                    <a:pt x="4" y="308"/>
                    <a:pt x="74" y="322"/>
                    <a:pt x="159" y="322"/>
                  </a:cubicBezTo>
                  <a:cubicBezTo>
                    <a:pt x="245" y="322"/>
                    <a:pt x="314" y="308"/>
                    <a:pt x="314" y="29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81" name="Freeform 82">
              <a:extLst>
                <a:ext uri="{FF2B5EF4-FFF2-40B4-BE49-F238E27FC236}">
                  <a16:creationId xmlns:a16="http://schemas.microsoft.com/office/drawing/2014/main" id="{151E6068-9777-978D-B6BB-5803190382D0}"/>
                </a:ext>
              </a:extLst>
            </p:cNvPr>
            <p:cNvSpPr>
              <a:spLocks noChangeAspect="1" noEditPoints="1"/>
            </p:cNvSpPr>
            <p:nvPr/>
          </p:nvSpPr>
          <p:spPr bwMode="auto">
            <a:xfrm>
              <a:off x="2605604" y="3829671"/>
              <a:ext cx="298328" cy="364116"/>
            </a:xfrm>
            <a:custGeom>
              <a:avLst/>
              <a:gdLst>
                <a:gd name="T0" fmla="*/ 159 w 318"/>
                <a:gd name="T1" fmla="*/ 0 h 388"/>
                <a:gd name="T2" fmla="*/ 0 w 318"/>
                <a:gd name="T3" fmla="*/ 36 h 388"/>
                <a:gd name="T4" fmla="*/ 0 w 318"/>
                <a:gd name="T5" fmla="*/ 198 h 388"/>
                <a:gd name="T6" fmla="*/ 159 w 318"/>
                <a:gd name="T7" fmla="*/ 234 h 388"/>
                <a:gd name="T8" fmla="*/ 318 w 318"/>
                <a:gd name="T9" fmla="*/ 198 h 388"/>
                <a:gd name="T10" fmla="*/ 318 w 318"/>
                <a:gd name="T11" fmla="*/ 36 h 388"/>
                <a:gd name="T12" fmla="*/ 159 w 318"/>
                <a:gd name="T13" fmla="*/ 0 h 388"/>
                <a:gd name="T14" fmla="*/ 302 w 318"/>
                <a:gd name="T15" fmla="*/ 116 h 388"/>
                <a:gd name="T16" fmla="*/ 159 w 318"/>
                <a:gd name="T17" fmla="*/ 137 h 388"/>
                <a:gd name="T18" fmla="*/ 16 w 318"/>
                <a:gd name="T19" fmla="*/ 116 h 388"/>
                <a:gd name="T20" fmla="*/ 16 w 318"/>
                <a:gd name="T21" fmla="*/ 54 h 388"/>
                <a:gd name="T22" fmla="*/ 159 w 318"/>
                <a:gd name="T23" fmla="*/ 72 h 388"/>
                <a:gd name="T24" fmla="*/ 302 w 318"/>
                <a:gd name="T25" fmla="*/ 54 h 388"/>
                <a:gd name="T26" fmla="*/ 302 w 318"/>
                <a:gd name="T27" fmla="*/ 116 h 388"/>
                <a:gd name="T28" fmla="*/ 159 w 318"/>
                <a:gd name="T29" fmla="*/ 16 h 388"/>
                <a:gd name="T30" fmla="*/ 302 w 318"/>
                <a:gd name="T31" fmla="*/ 36 h 388"/>
                <a:gd name="T32" fmla="*/ 159 w 318"/>
                <a:gd name="T33" fmla="*/ 56 h 388"/>
                <a:gd name="T34" fmla="*/ 16 w 318"/>
                <a:gd name="T35" fmla="*/ 36 h 388"/>
                <a:gd name="T36" fmla="*/ 159 w 318"/>
                <a:gd name="T37" fmla="*/ 16 h 388"/>
                <a:gd name="T38" fmla="*/ 159 w 318"/>
                <a:gd name="T39" fmla="*/ 218 h 388"/>
                <a:gd name="T40" fmla="*/ 16 w 318"/>
                <a:gd name="T41" fmla="*/ 197 h 388"/>
                <a:gd name="T42" fmla="*/ 16 w 318"/>
                <a:gd name="T43" fmla="*/ 135 h 388"/>
                <a:gd name="T44" fmla="*/ 159 w 318"/>
                <a:gd name="T45" fmla="*/ 153 h 388"/>
                <a:gd name="T46" fmla="*/ 302 w 318"/>
                <a:gd name="T47" fmla="*/ 135 h 388"/>
                <a:gd name="T48" fmla="*/ 302 w 318"/>
                <a:gd name="T49" fmla="*/ 197 h 388"/>
                <a:gd name="T50" fmla="*/ 159 w 318"/>
                <a:gd name="T51" fmla="*/ 218 h 388"/>
                <a:gd name="T52" fmla="*/ 314 w 318"/>
                <a:gd name="T53" fmla="*/ 282 h 388"/>
                <a:gd name="T54" fmla="*/ 159 w 318"/>
                <a:gd name="T55" fmla="*/ 311 h 388"/>
                <a:gd name="T56" fmla="*/ 4 w 318"/>
                <a:gd name="T57" fmla="*/ 282 h 388"/>
                <a:gd name="T58" fmla="*/ 159 w 318"/>
                <a:gd name="T59" fmla="*/ 252 h 388"/>
                <a:gd name="T60" fmla="*/ 314 w 318"/>
                <a:gd name="T61" fmla="*/ 282 h 388"/>
                <a:gd name="T62" fmla="*/ 314 w 318"/>
                <a:gd name="T63" fmla="*/ 292 h 388"/>
                <a:gd name="T64" fmla="*/ 314 w 318"/>
                <a:gd name="T65" fmla="*/ 358 h 388"/>
                <a:gd name="T66" fmla="*/ 159 w 318"/>
                <a:gd name="T67" fmla="*/ 388 h 388"/>
                <a:gd name="T68" fmla="*/ 4 w 318"/>
                <a:gd name="T69" fmla="*/ 358 h 388"/>
                <a:gd name="T70" fmla="*/ 4 w 318"/>
                <a:gd name="T71" fmla="*/ 292 h 388"/>
                <a:gd name="T72" fmla="*/ 159 w 318"/>
                <a:gd name="T73" fmla="*/ 322 h 388"/>
                <a:gd name="T74" fmla="*/ 314 w 318"/>
                <a:gd name="T75" fmla="*/ 29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8" h="388">
                  <a:moveTo>
                    <a:pt x="159" y="0"/>
                  </a:moveTo>
                  <a:cubicBezTo>
                    <a:pt x="143" y="0"/>
                    <a:pt x="0" y="1"/>
                    <a:pt x="0" y="36"/>
                  </a:cubicBezTo>
                  <a:cubicBezTo>
                    <a:pt x="0" y="198"/>
                    <a:pt x="0" y="198"/>
                    <a:pt x="0" y="198"/>
                  </a:cubicBezTo>
                  <a:cubicBezTo>
                    <a:pt x="0" y="233"/>
                    <a:pt x="143" y="234"/>
                    <a:pt x="159" y="234"/>
                  </a:cubicBezTo>
                  <a:cubicBezTo>
                    <a:pt x="175" y="234"/>
                    <a:pt x="318" y="233"/>
                    <a:pt x="318" y="198"/>
                  </a:cubicBezTo>
                  <a:cubicBezTo>
                    <a:pt x="318" y="36"/>
                    <a:pt x="318" y="36"/>
                    <a:pt x="318" y="36"/>
                  </a:cubicBezTo>
                  <a:cubicBezTo>
                    <a:pt x="318" y="1"/>
                    <a:pt x="175" y="0"/>
                    <a:pt x="159" y="0"/>
                  </a:cubicBezTo>
                  <a:close/>
                  <a:moveTo>
                    <a:pt x="302" y="116"/>
                  </a:moveTo>
                  <a:cubicBezTo>
                    <a:pt x="297" y="123"/>
                    <a:pt x="250" y="137"/>
                    <a:pt x="159" y="137"/>
                  </a:cubicBezTo>
                  <a:cubicBezTo>
                    <a:pt x="69" y="137"/>
                    <a:pt x="21" y="123"/>
                    <a:pt x="16" y="116"/>
                  </a:cubicBezTo>
                  <a:cubicBezTo>
                    <a:pt x="16" y="54"/>
                    <a:pt x="16" y="54"/>
                    <a:pt x="16" y="54"/>
                  </a:cubicBezTo>
                  <a:cubicBezTo>
                    <a:pt x="54" y="72"/>
                    <a:pt x="146" y="72"/>
                    <a:pt x="159" y="72"/>
                  </a:cubicBezTo>
                  <a:cubicBezTo>
                    <a:pt x="172" y="72"/>
                    <a:pt x="265" y="72"/>
                    <a:pt x="302" y="54"/>
                  </a:cubicBezTo>
                  <a:lnTo>
                    <a:pt x="302" y="116"/>
                  </a:lnTo>
                  <a:close/>
                  <a:moveTo>
                    <a:pt x="159" y="16"/>
                  </a:moveTo>
                  <a:cubicBezTo>
                    <a:pt x="247" y="16"/>
                    <a:pt x="294" y="29"/>
                    <a:pt x="302" y="36"/>
                  </a:cubicBezTo>
                  <a:cubicBezTo>
                    <a:pt x="294" y="44"/>
                    <a:pt x="247" y="56"/>
                    <a:pt x="159" y="56"/>
                  </a:cubicBezTo>
                  <a:cubicBezTo>
                    <a:pt x="72" y="56"/>
                    <a:pt x="24" y="44"/>
                    <a:pt x="16" y="36"/>
                  </a:cubicBezTo>
                  <a:cubicBezTo>
                    <a:pt x="24" y="29"/>
                    <a:pt x="72" y="16"/>
                    <a:pt x="159" y="16"/>
                  </a:cubicBezTo>
                  <a:close/>
                  <a:moveTo>
                    <a:pt x="159" y="218"/>
                  </a:moveTo>
                  <a:cubicBezTo>
                    <a:pt x="69" y="218"/>
                    <a:pt x="21" y="204"/>
                    <a:pt x="16" y="197"/>
                  </a:cubicBezTo>
                  <a:cubicBezTo>
                    <a:pt x="16" y="135"/>
                    <a:pt x="16" y="135"/>
                    <a:pt x="16" y="135"/>
                  </a:cubicBezTo>
                  <a:cubicBezTo>
                    <a:pt x="54" y="152"/>
                    <a:pt x="146" y="153"/>
                    <a:pt x="159" y="153"/>
                  </a:cubicBezTo>
                  <a:cubicBezTo>
                    <a:pt x="172" y="153"/>
                    <a:pt x="265" y="152"/>
                    <a:pt x="302" y="135"/>
                  </a:cubicBezTo>
                  <a:cubicBezTo>
                    <a:pt x="302" y="197"/>
                    <a:pt x="302" y="197"/>
                    <a:pt x="302" y="197"/>
                  </a:cubicBezTo>
                  <a:cubicBezTo>
                    <a:pt x="297" y="204"/>
                    <a:pt x="249" y="218"/>
                    <a:pt x="159" y="218"/>
                  </a:cubicBezTo>
                  <a:close/>
                  <a:moveTo>
                    <a:pt x="314" y="282"/>
                  </a:moveTo>
                  <a:cubicBezTo>
                    <a:pt x="314" y="298"/>
                    <a:pt x="245" y="311"/>
                    <a:pt x="159" y="311"/>
                  </a:cubicBezTo>
                  <a:cubicBezTo>
                    <a:pt x="74" y="311"/>
                    <a:pt x="4" y="298"/>
                    <a:pt x="4" y="282"/>
                  </a:cubicBezTo>
                  <a:cubicBezTo>
                    <a:pt x="4" y="265"/>
                    <a:pt x="74" y="252"/>
                    <a:pt x="159" y="252"/>
                  </a:cubicBezTo>
                  <a:cubicBezTo>
                    <a:pt x="245" y="252"/>
                    <a:pt x="314" y="265"/>
                    <a:pt x="314" y="282"/>
                  </a:cubicBezTo>
                  <a:close/>
                  <a:moveTo>
                    <a:pt x="314" y="292"/>
                  </a:moveTo>
                  <a:cubicBezTo>
                    <a:pt x="314" y="358"/>
                    <a:pt x="314" y="358"/>
                    <a:pt x="314" y="358"/>
                  </a:cubicBezTo>
                  <a:cubicBezTo>
                    <a:pt x="314" y="375"/>
                    <a:pt x="245" y="388"/>
                    <a:pt x="159" y="388"/>
                  </a:cubicBezTo>
                  <a:cubicBezTo>
                    <a:pt x="74" y="388"/>
                    <a:pt x="4" y="375"/>
                    <a:pt x="4" y="358"/>
                  </a:cubicBezTo>
                  <a:cubicBezTo>
                    <a:pt x="4" y="292"/>
                    <a:pt x="4" y="292"/>
                    <a:pt x="4" y="292"/>
                  </a:cubicBezTo>
                  <a:cubicBezTo>
                    <a:pt x="4" y="308"/>
                    <a:pt x="74" y="322"/>
                    <a:pt x="159" y="322"/>
                  </a:cubicBezTo>
                  <a:cubicBezTo>
                    <a:pt x="245" y="322"/>
                    <a:pt x="314" y="308"/>
                    <a:pt x="314" y="29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cxnSp>
        <p:nvCxnSpPr>
          <p:cNvPr id="286" name="Straight Connector 285">
            <a:extLst>
              <a:ext uri="{FF2B5EF4-FFF2-40B4-BE49-F238E27FC236}">
                <a16:creationId xmlns:a16="http://schemas.microsoft.com/office/drawing/2014/main" id="{D5F84546-BBD8-3EA5-1390-852371BF3CAD}"/>
              </a:ext>
            </a:extLst>
          </p:cNvPr>
          <p:cNvCxnSpPr>
            <a:cxnSpLocks/>
          </p:cNvCxnSpPr>
          <p:nvPr/>
        </p:nvCxnSpPr>
        <p:spPr bwMode="gray">
          <a:xfrm flipV="1">
            <a:off x="4380673" y="3067050"/>
            <a:ext cx="0" cy="603288"/>
          </a:xfrm>
          <a:prstGeom prst="line">
            <a:avLst/>
          </a:prstGeom>
          <a:ln w="25400">
            <a:solidFill>
              <a:srgbClr val="EC7700"/>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4EA7617A-5A6C-9738-5924-788B2FDA9BE2}"/>
              </a:ext>
            </a:extLst>
          </p:cNvPr>
          <p:cNvCxnSpPr>
            <a:cxnSpLocks/>
          </p:cNvCxnSpPr>
          <p:nvPr/>
        </p:nvCxnSpPr>
        <p:spPr bwMode="gray">
          <a:xfrm>
            <a:off x="3292733" y="3067050"/>
            <a:ext cx="2175880" cy="0"/>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81122A71-366F-3A66-9F13-D44A5E0074DF}"/>
              </a:ext>
            </a:extLst>
          </p:cNvPr>
          <p:cNvCxnSpPr>
            <a:cxnSpLocks/>
          </p:cNvCxnSpPr>
          <p:nvPr/>
        </p:nvCxnSpPr>
        <p:spPr bwMode="gray">
          <a:xfrm>
            <a:off x="595179" y="3067050"/>
            <a:ext cx="2175880" cy="0"/>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A368BEA1-BCD0-A15E-5C18-69AE30C70777}"/>
              </a:ext>
            </a:extLst>
          </p:cNvPr>
          <p:cNvCxnSpPr>
            <a:cxnSpLocks/>
          </p:cNvCxnSpPr>
          <p:nvPr/>
        </p:nvCxnSpPr>
        <p:spPr bwMode="gray">
          <a:xfrm>
            <a:off x="5764490" y="3067050"/>
            <a:ext cx="2175880" cy="0"/>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AB4B1CBC-D63D-1AFA-43A8-FF53F0825987}"/>
              </a:ext>
            </a:extLst>
          </p:cNvPr>
          <p:cNvCxnSpPr>
            <a:cxnSpLocks/>
          </p:cNvCxnSpPr>
          <p:nvPr/>
        </p:nvCxnSpPr>
        <p:spPr bwMode="gray">
          <a:xfrm flipV="1">
            <a:off x="6184870" y="3362325"/>
            <a:ext cx="0" cy="308013"/>
          </a:xfrm>
          <a:prstGeom prst="line">
            <a:avLst/>
          </a:prstGeom>
          <a:ln w="25400">
            <a:solidFill>
              <a:srgbClr val="EC7700"/>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298" name="Straight Connector 297">
            <a:extLst>
              <a:ext uri="{FF2B5EF4-FFF2-40B4-BE49-F238E27FC236}">
                <a16:creationId xmlns:a16="http://schemas.microsoft.com/office/drawing/2014/main" id="{1F2567BA-8504-E864-73CD-601B197A944E}"/>
              </a:ext>
            </a:extLst>
          </p:cNvPr>
          <p:cNvCxnSpPr>
            <a:cxnSpLocks/>
          </p:cNvCxnSpPr>
          <p:nvPr/>
        </p:nvCxnSpPr>
        <p:spPr bwMode="gray">
          <a:xfrm flipV="1">
            <a:off x="2526408" y="3362325"/>
            <a:ext cx="0" cy="308013"/>
          </a:xfrm>
          <a:prstGeom prst="line">
            <a:avLst/>
          </a:prstGeom>
          <a:ln w="25400">
            <a:solidFill>
              <a:srgbClr val="EC7700"/>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303" name="Straight Connector 302">
            <a:extLst>
              <a:ext uri="{FF2B5EF4-FFF2-40B4-BE49-F238E27FC236}">
                <a16:creationId xmlns:a16="http://schemas.microsoft.com/office/drawing/2014/main" id="{BBC4E061-56A0-216B-4F77-88ECCA7292C7}"/>
              </a:ext>
            </a:extLst>
          </p:cNvPr>
          <p:cNvCxnSpPr>
            <a:cxnSpLocks/>
          </p:cNvCxnSpPr>
          <p:nvPr/>
        </p:nvCxnSpPr>
        <p:spPr bwMode="gray">
          <a:xfrm>
            <a:off x="1683119" y="3362325"/>
            <a:ext cx="843289" cy="0"/>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8A6B1C78-66E1-2E8D-BFBC-1349FF5A8021}"/>
              </a:ext>
            </a:extLst>
          </p:cNvPr>
          <p:cNvCxnSpPr>
            <a:cxnSpLocks/>
          </p:cNvCxnSpPr>
          <p:nvPr/>
        </p:nvCxnSpPr>
        <p:spPr bwMode="gray">
          <a:xfrm flipV="1">
            <a:off x="1683119" y="3067050"/>
            <a:ext cx="0" cy="295275"/>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C17054D2-42FE-B160-1D8D-7FD53C1D83A4}"/>
              </a:ext>
            </a:extLst>
          </p:cNvPr>
          <p:cNvCxnSpPr>
            <a:cxnSpLocks/>
          </p:cNvCxnSpPr>
          <p:nvPr/>
        </p:nvCxnSpPr>
        <p:spPr bwMode="gray">
          <a:xfrm>
            <a:off x="6184870" y="3362325"/>
            <a:ext cx="667560" cy="0"/>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6CB2BFB0-77BE-D8E2-74EA-CA0367FAF642}"/>
              </a:ext>
            </a:extLst>
          </p:cNvPr>
          <p:cNvCxnSpPr>
            <a:cxnSpLocks/>
          </p:cNvCxnSpPr>
          <p:nvPr/>
        </p:nvCxnSpPr>
        <p:spPr bwMode="gray">
          <a:xfrm flipV="1">
            <a:off x="6852430" y="3067050"/>
            <a:ext cx="0" cy="295275"/>
          </a:xfrm>
          <a:prstGeom prst="line">
            <a:avLst/>
          </a:prstGeom>
          <a:ln w="25400">
            <a:solidFill>
              <a:srgbClr val="EC77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4" name="Text Placeholder 34">
            <a:extLst>
              <a:ext uri="{FF2B5EF4-FFF2-40B4-BE49-F238E27FC236}">
                <a16:creationId xmlns:a16="http://schemas.microsoft.com/office/drawing/2014/main" id="{6D51D6DA-87BE-3A0A-1AB3-DE7B17831223}"/>
              </a:ext>
            </a:extLst>
          </p:cNvPr>
          <p:cNvSpPr txBox="1">
            <a:spLocks/>
          </p:cNvSpPr>
          <p:nvPr/>
        </p:nvSpPr>
        <p:spPr>
          <a:xfrm>
            <a:off x="6926578" y="4724020"/>
            <a:ext cx="1182590" cy="222234"/>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Data-in-Transit</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Encryption</a:t>
            </a:r>
          </a:p>
        </p:txBody>
      </p:sp>
      <p:grpSp>
        <p:nvGrpSpPr>
          <p:cNvPr id="4" name="Group 3">
            <a:extLst>
              <a:ext uri="{FF2B5EF4-FFF2-40B4-BE49-F238E27FC236}">
                <a16:creationId xmlns:a16="http://schemas.microsoft.com/office/drawing/2014/main" id="{332BA833-0847-C64F-C620-3790FD0DBB9A}"/>
              </a:ext>
            </a:extLst>
          </p:cNvPr>
          <p:cNvGrpSpPr/>
          <p:nvPr/>
        </p:nvGrpSpPr>
        <p:grpSpPr>
          <a:xfrm>
            <a:off x="1855374" y="5112408"/>
            <a:ext cx="5047487" cy="979673"/>
            <a:chOff x="1660323" y="4355282"/>
            <a:chExt cx="5047487" cy="979673"/>
          </a:xfrm>
        </p:grpSpPr>
        <p:sp>
          <p:nvSpPr>
            <p:cNvPr id="6" name="Rounded Rectangle 205">
              <a:extLst>
                <a:ext uri="{FF2B5EF4-FFF2-40B4-BE49-F238E27FC236}">
                  <a16:creationId xmlns:a16="http://schemas.microsoft.com/office/drawing/2014/main" id="{9543A4EB-7104-87F1-D2EB-714A96CD46C6}"/>
                </a:ext>
              </a:extLst>
            </p:cNvPr>
            <p:cNvSpPr/>
            <p:nvPr/>
          </p:nvSpPr>
          <p:spPr>
            <a:xfrm>
              <a:off x="1660323" y="4355282"/>
              <a:ext cx="5047487" cy="979673"/>
            </a:xfrm>
            <a:prstGeom prst="rect">
              <a:avLst/>
            </a:prstGeom>
            <a:solidFill>
              <a:schemeClr val="accent2"/>
            </a:solidFill>
            <a:ln w="6350">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7" name="Group 6">
              <a:extLst>
                <a:ext uri="{FF2B5EF4-FFF2-40B4-BE49-F238E27FC236}">
                  <a16:creationId xmlns:a16="http://schemas.microsoft.com/office/drawing/2014/main" id="{26B9A8F5-21AE-953C-D626-FB58DDE42245}"/>
                </a:ext>
              </a:extLst>
            </p:cNvPr>
            <p:cNvGrpSpPr/>
            <p:nvPr/>
          </p:nvGrpSpPr>
          <p:grpSpPr>
            <a:xfrm>
              <a:off x="1860694" y="4586130"/>
              <a:ext cx="952569" cy="283683"/>
              <a:chOff x="-4527765" y="4471602"/>
              <a:chExt cx="864299" cy="257395"/>
            </a:xfrm>
          </p:grpSpPr>
          <p:pic>
            <p:nvPicPr>
              <p:cNvPr id="16" name="Graphic 15">
                <a:extLst>
                  <a:ext uri="{FF2B5EF4-FFF2-40B4-BE49-F238E27FC236}">
                    <a16:creationId xmlns:a16="http://schemas.microsoft.com/office/drawing/2014/main" id="{6DC76910-4CB8-83AD-C2E9-AE68B9CB78FD}"/>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527765" y="4471602"/>
                <a:ext cx="350734" cy="257395"/>
              </a:xfrm>
              <a:prstGeom prst="rect">
                <a:avLst/>
              </a:prstGeom>
            </p:spPr>
          </p:pic>
          <p:pic>
            <p:nvPicPr>
              <p:cNvPr id="17" name="Graphic 16">
                <a:extLst>
                  <a:ext uri="{FF2B5EF4-FFF2-40B4-BE49-F238E27FC236}">
                    <a16:creationId xmlns:a16="http://schemas.microsoft.com/office/drawing/2014/main" id="{DBE57700-FAC5-58F6-6FEE-B815AF495999}"/>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014200" y="4471602"/>
                <a:ext cx="350734" cy="257395"/>
              </a:xfrm>
              <a:prstGeom prst="rect">
                <a:avLst/>
              </a:prstGeom>
            </p:spPr>
          </p:pic>
        </p:grpSp>
        <p:sp>
          <p:nvSpPr>
            <p:cNvPr id="8" name="Rectangle 7">
              <a:extLst>
                <a:ext uri="{FF2B5EF4-FFF2-40B4-BE49-F238E27FC236}">
                  <a16:creationId xmlns:a16="http://schemas.microsoft.com/office/drawing/2014/main" id="{36172EA3-BB5B-0698-3B45-E20BC20346F6}"/>
                </a:ext>
              </a:extLst>
            </p:cNvPr>
            <p:cNvSpPr/>
            <p:nvPr/>
          </p:nvSpPr>
          <p:spPr>
            <a:xfrm>
              <a:off x="3304448" y="5079328"/>
              <a:ext cx="1759236" cy="193899"/>
            </a:xfrm>
            <a:prstGeom prst="rect">
              <a:avLst/>
            </a:prstGeom>
            <a:noFill/>
          </p:spPr>
          <p:txBody>
            <a:bodyPr wrap="square" lIns="0" tIns="0" rIns="0" bIns="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panose="020B0604020202020204"/>
                  <a:ea typeface="+mn-ea"/>
                  <a:cs typeface="+mn-cs"/>
                </a:rPr>
                <a:t>vSAN Datastore</a:t>
              </a:r>
            </a:p>
          </p:txBody>
        </p:sp>
        <p:sp>
          <p:nvSpPr>
            <p:cNvPr id="9" name="Freeform 16">
              <a:extLst>
                <a:ext uri="{FF2B5EF4-FFF2-40B4-BE49-F238E27FC236}">
                  <a16:creationId xmlns:a16="http://schemas.microsoft.com/office/drawing/2014/main" id="{B7B2C205-6E03-5671-410A-906CC4D353A9}"/>
                </a:ext>
              </a:extLst>
            </p:cNvPr>
            <p:cNvSpPr/>
            <p:nvPr/>
          </p:nvSpPr>
          <p:spPr>
            <a:xfrm>
              <a:off x="4755616" y="4685814"/>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99"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10" name="Group 9">
              <a:extLst>
                <a:ext uri="{FF2B5EF4-FFF2-40B4-BE49-F238E27FC236}">
                  <a16:creationId xmlns:a16="http://schemas.microsoft.com/office/drawing/2014/main" id="{531010D8-8CD2-3E2C-F7E2-9EFD3210FF3A}"/>
                </a:ext>
              </a:extLst>
            </p:cNvPr>
            <p:cNvGrpSpPr/>
            <p:nvPr/>
          </p:nvGrpSpPr>
          <p:grpSpPr>
            <a:xfrm>
              <a:off x="3408341" y="4586130"/>
              <a:ext cx="952569" cy="283683"/>
              <a:chOff x="-4527765" y="4471602"/>
              <a:chExt cx="864299" cy="257395"/>
            </a:xfrm>
          </p:grpSpPr>
          <p:pic>
            <p:nvPicPr>
              <p:cNvPr id="14" name="Graphic 13">
                <a:extLst>
                  <a:ext uri="{FF2B5EF4-FFF2-40B4-BE49-F238E27FC236}">
                    <a16:creationId xmlns:a16="http://schemas.microsoft.com/office/drawing/2014/main" id="{0B86D8D9-D0C6-3C02-EE80-FA8AFF4E0992}"/>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527765" y="4471602"/>
                <a:ext cx="350734" cy="257395"/>
              </a:xfrm>
              <a:prstGeom prst="rect">
                <a:avLst/>
              </a:prstGeom>
            </p:spPr>
          </p:pic>
          <p:pic>
            <p:nvPicPr>
              <p:cNvPr id="15" name="Graphic 14">
                <a:extLst>
                  <a:ext uri="{FF2B5EF4-FFF2-40B4-BE49-F238E27FC236}">
                    <a16:creationId xmlns:a16="http://schemas.microsoft.com/office/drawing/2014/main" id="{ECB3C3E3-514E-0BD7-74CA-E81CA6822803}"/>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014200" y="4471602"/>
                <a:ext cx="350734" cy="257395"/>
              </a:xfrm>
              <a:prstGeom prst="rect">
                <a:avLst/>
              </a:prstGeom>
            </p:spPr>
          </p:pic>
        </p:grpSp>
        <p:grpSp>
          <p:nvGrpSpPr>
            <p:cNvPr id="11" name="Group 10">
              <a:extLst>
                <a:ext uri="{FF2B5EF4-FFF2-40B4-BE49-F238E27FC236}">
                  <a16:creationId xmlns:a16="http://schemas.microsoft.com/office/drawing/2014/main" id="{6A37D17B-32C1-3682-B2DB-0118ABA0B966}"/>
                </a:ext>
              </a:extLst>
            </p:cNvPr>
            <p:cNvGrpSpPr/>
            <p:nvPr/>
          </p:nvGrpSpPr>
          <p:grpSpPr>
            <a:xfrm>
              <a:off x="5551758" y="4586130"/>
              <a:ext cx="952569" cy="283683"/>
              <a:chOff x="-4527765" y="4471602"/>
              <a:chExt cx="864299" cy="257395"/>
            </a:xfrm>
          </p:grpSpPr>
          <p:pic>
            <p:nvPicPr>
              <p:cNvPr id="12" name="Graphic 11">
                <a:extLst>
                  <a:ext uri="{FF2B5EF4-FFF2-40B4-BE49-F238E27FC236}">
                    <a16:creationId xmlns:a16="http://schemas.microsoft.com/office/drawing/2014/main" id="{7EF4B8B2-CB19-D8B7-F016-2688A68B0B6F}"/>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527765" y="4471602"/>
                <a:ext cx="350734" cy="257395"/>
              </a:xfrm>
              <a:prstGeom prst="rect">
                <a:avLst/>
              </a:prstGeom>
            </p:spPr>
          </p:pic>
          <p:pic>
            <p:nvPicPr>
              <p:cNvPr id="13" name="Graphic 12">
                <a:extLst>
                  <a:ext uri="{FF2B5EF4-FFF2-40B4-BE49-F238E27FC236}">
                    <a16:creationId xmlns:a16="http://schemas.microsoft.com/office/drawing/2014/main" id="{C741A1B5-C988-AEC2-02CA-32F73B1C367A}"/>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014200" y="4471602"/>
                <a:ext cx="350734" cy="257395"/>
              </a:xfrm>
              <a:prstGeom prst="rect">
                <a:avLst/>
              </a:prstGeom>
            </p:spPr>
          </p:pic>
        </p:grpSp>
      </p:grpSp>
    </p:spTree>
    <p:extLst>
      <p:ext uri="{BB962C8B-B14F-4D97-AF65-F5344CB8AC3E}">
        <p14:creationId xmlns:p14="http://schemas.microsoft.com/office/powerpoint/2010/main" val="4100858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nodeType="withEffect">
                                  <p:stCondLst>
                                    <p:cond delay="0"/>
                                  </p:stCondLst>
                                  <p:childTnLst>
                                    <p:set>
                                      <p:cBhvr>
                                        <p:cTn id="9" dur="1" fill="hold">
                                          <p:stCondLst>
                                            <p:cond delay="0"/>
                                          </p:stCondLst>
                                        </p:cTn>
                                        <p:tgtEl>
                                          <p:spTgt spid="75"/>
                                        </p:tgtEl>
                                        <p:attrNameLst>
                                          <p:attrName>style.visibility</p:attrName>
                                        </p:attrNameLst>
                                      </p:cBhvr>
                                      <p:to>
                                        <p:strVal val="visible"/>
                                      </p:to>
                                    </p:set>
                                    <p:animEffect transition="in" filter="fade">
                                      <p:cBhvr>
                                        <p:cTn id="10" dur="500"/>
                                        <p:tgtEl>
                                          <p:spTgt spid="75"/>
                                        </p:tgtEl>
                                      </p:cBhvr>
                                    </p:animEffect>
                                  </p:childTnLst>
                                </p:cTn>
                              </p:par>
                              <p:par>
                                <p:cTn id="11" presetID="10"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par>
                          <p:cTn id="14" fill="hold">
                            <p:stCondLst>
                              <p:cond delay="500"/>
                            </p:stCondLst>
                            <p:childTnLst>
                              <p:par>
                                <p:cTn id="15" presetID="10" presetClass="entr" presetSubtype="0" fill="hold" nodeType="afterEffect">
                                  <p:stCondLst>
                                    <p:cond delay="500"/>
                                  </p:stCondLst>
                                  <p:childTnLst>
                                    <p:set>
                                      <p:cBhvr>
                                        <p:cTn id="16" dur="1" fill="hold">
                                          <p:stCondLst>
                                            <p:cond delay="0"/>
                                          </p:stCondLst>
                                        </p:cTn>
                                        <p:tgtEl>
                                          <p:spTgt spid="299"/>
                                        </p:tgtEl>
                                        <p:attrNameLst>
                                          <p:attrName>style.visibility</p:attrName>
                                        </p:attrNameLst>
                                      </p:cBhvr>
                                      <p:to>
                                        <p:strVal val="visible"/>
                                      </p:to>
                                    </p:set>
                                    <p:animEffect transition="in" filter="fade">
                                      <p:cBhvr>
                                        <p:cTn id="17" dur="500"/>
                                        <p:tgtEl>
                                          <p:spTgt spid="299"/>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277"/>
                                        </p:tgtEl>
                                        <p:attrNameLst>
                                          <p:attrName>style.visibility</p:attrName>
                                        </p:attrNameLst>
                                      </p:cBhvr>
                                      <p:to>
                                        <p:strVal val="visible"/>
                                      </p:to>
                                    </p:set>
                                    <p:animEffect transition="in" filter="fade">
                                      <p:cBhvr>
                                        <p:cTn id="21" dur="500"/>
                                        <p:tgtEl>
                                          <p:spTgt spid="277"/>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14"/>
                                        </p:tgtEl>
                                        <p:attrNameLst>
                                          <p:attrName>style.visibility</p:attrName>
                                        </p:attrNameLst>
                                      </p:cBhvr>
                                      <p:to>
                                        <p:strVal val="visible"/>
                                      </p:to>
                                    </p:set>
                                    <p:animEffect transition="in" filter="fade">
                                      <p:cBhvr>
                                        <p:cTn id="25" dur="500"/>
                                        <p:tgtEl>
                                          <p:spTgt spid="214"/>
                                        </p:tgtEl>
                                      </p:cBhvr>
                                    </p:animEffect>
                                  </p:childTnLst>
                                </p:cTn>
                              </p:par>
                            </p:childTnLst>
                          </p:cTn>
                        </p:par>
                        <p:par>
                          <p:cTn id="26" fill="hold">
                            <p:stCondLst>
                              <p:cond delay="2500"/>
                            </p:stCondLst>
                            <p:childTnLst>
                              <p:par>
                                <p:cTn id="27" presetID="16" presetClass="entr" presetSubtype="21" fill="hold" nodeType="afterEffect">
                                  <p:stCondLst>
                                    <p:cond delay="0"/>
                                  </p:stCondLst>
                                  <p:childTnLst>
                                    <p:set>
                                      <p:cBhvr>
                                        <p:cTn id="28" dur="1" fill="hold">
                                          <p:stCondLst>
                                            <p:cond delay="0"/>
                                          </p:stCondLst>
                                        </p:cTn>
                                        <p:tgtEl>
                                          <p:spTgt spid="293"/>
                                        </p:tgtEl>
                                        <p:attrNameLst>
                                          <p:attrName>style.visibility</p:attrName>
                                        </p:attrNameLst>
                                      </p:cBhvr>
                                      <p:to>
                                        <p:strVal val="visible"/>
                                      </p:to>
                                    </p:set>
                                    <p:animEffect transition="in" filter="barn(inVertical)">
                                      <p:cBhvr>
                                        <p:cTn id="29" dur="500"/>
                                        <p:tgtEl>
                                          <p:spTgt spid="293"/>
                                        </p:tgtEl>
                                      </p:cBhvr>
                                    </p:animEffect>
                                  </p:childTnLst>
                                </p:cTn>
                              </p:par>
                            </p:childTnLst>
                          </p:cTn>
                        </p:par>
                        <p:par>
                          <p:cTn id="30" fill="hold">
                            <p:stCondLst>
                              <p:cond delay="3000"/>
                            </p:stCondLst>
                            <p:childTnLst>
                              <p:par>
                                <p:cTn id="31" presetID="22" presetClass="entr" presetSubtype="1" fill="hold" nodeType="afterEffect">
                                  <p:stCondLst>
                                    <p:cond delay="0"/>
                                  </p:stCondLst>
                                  <p:childTnLst>
                                    <p:set>
                                      <p:cBhvr>
                                        <p:cTn id="32" dur="1" fill="hold">
                                          <p:stCondLst>
                                            <p:cond delay="0"/>
                                          </p:stCondLst>
                                        </p:cTn>
                                        <p:tgtEl>
                                          <p:spTgt spid="308"/>
                                        </p:tgtEl>
                                        <p:attrNameLst>
                                          <p:attrName>style.visibility</p:attrName>
                                        </p:attrNameLst>
                                      </p:cBhvr>
                                      <p:to>
                                        <p:strVal val="visible"/>
                                      </p:to>
                                    </p:set>
                                    <p:animEffect transition="in" filter="wipe(up)">
                                      <p:cBhvr>
                                        <p:cTn id="33" dur="250"/>
                                        <p:tgtEl>
                                          <p:spTgt spid="308"/>
                                        </p:tgtEl>
                                      </p:cBhvr>
                                    </p:animEffect>
                                  </p:childTnLst>
                                </p:cTn>
                              </p:par>
                            </p:childTnLst>
                          </p:cTn>
                        </p:par>
                        <p:par>
                          <p:cTn id="34" fill="hold">
                            <p:stCondLst>
                              <p:cond delay="3250"/>
                            </p:stCondLst>
                            <p:childTnLst>
                              <p:par>
                                <p:cTn id="35" presetID="22" presetClass="entr" presetSubtype="8" fill="hold" nodeType="afterEffect">
                                  <p:stCondLst>
                                    <p:cond delay="0"/>
                                  </p:stCondLst>
                                  <p:childTnLst>
                                    <p:set>
                                      <p:cBhvr>
                                        <p:cTn id="36" dur="1" fill="hold">
                                          <p:stCondLst>
                                            <p:cond delay="0"/>
                                          </p:stCondLst>
                                        </p:cTn>
                                        <p:tgtEl>
                                          <p:spTgt spid="303"/>
                                        </p:tgtEl>
                                        <p:attrNameLst>
                                          <p:attrName>style.visibility</p:attrName>
                                        </p:attrNameLst>
                                      </p:cBhvr>
                                      <p:to>
                                        <p:strVal val="visible"/>
                                      </p:to>
                                    </p:set>
                                    <p:animEffect transition="in" filter="wipe(left)">
                                      <p:cBhvr>
                                        <p:cTn id="37" dur="250"/>
                                        <p:tgtEl>
                                          <p:spTgt spid="303"/>
                                        </p:tgtEl>
                                      </p:cBhvr>
                                    </p:animEffect>
                                  </p:childTnLst>
                                </p:cTn>
                              </p:par>
                            </p:childTnLst>
                          </p:cTn>
                        </p:par>
                        <p:par>
                          <p:cTn id="38" fill="hold">
                            <p:stCondLst>
                              <p:cond delay="3500"/>
                            </p:stCondLst>
                            <p:childTnLst>
                              <p:par>
                                <p:cTn id="39" presetID="22" presetClass="entr" presetSubtype="1" fill="hold" nodeType="afterEffect">
                                  <p:stCondLst>
                                    <p:cond delay="0"/>
                                  </p:stCondLst>
                                  <p:childTnLst>
                                    <p:set>
                                      <p:cBhvr>
                                        <p:cTn id="40" dur="1" fill="hold">
                                          <p:stCondLst>
                                            <p:cond delay="0"/>
                                          </p:stCondLst>
                                        </p:cTn>
                                        <p:tgtEl>
                                          <p:spTgt spid="298"/>
                                        </p:tgtEl>
                                        <p:attrNameLst>
                                          <p:attrName>style.visibility</p:attrName>
                                        </p:attrNameLst>
                                      </p:cBhvr>
                                      <p:to>
                                        <p:strVal val="visible"/>
                                      </p:to>
                                    </p:set>
                                    <p:animEffect transition="in" filter="wipe(up)">
                                      <p:cBhvr>
                                        <p:cTn id="41" dur="250"/>
                                        <p:tgtEl>
                                          <p:spTgt spid="298"/>
                                        </p:tgtEl>
                                      </p:cBhvr>
                                    </p:animEffect>
                                  </p:childTnLst>
                                </p:cTn>
                              </p:par>
                            </p:childTnLst>
                          </p:cTn>
                        </p:par>
                        <p:par>
                          <p:cTn id="42" fill="hold">
                            <p:stCondLst>
                              <p:cond delay="3750"/>
                            </p:stCondLst>
                            <p:childTnLst>
                              <p:par>
                                <p:cTn id="43" presetID="26" presetClass="emph" presetSubtype="0" fill="hold" grpId="1" nodeType="afterEffect">
                                  <p:stCondLst>
                                    <p:cond delay="500"/>
                                  </p:stCondLst>
                                  <p:childTnLst>
                                    <p:animEffect transition="out" filter="fade">
                                      <p:cBhvr>
                                        <p:cTn id="44" dur="500" tmFilter="0, 0; .2, .5; .8, .5; 1, 0"/>
                                        <p:tgtEl>
                                          <p:spTgt spid="214"/>
                                        </p:tgtEl>
                                      </p:cBhvr>
                                    </p:animEffect>
                                    <p:animScale>
                                      <p:cBhvr>
                                        <p:cTn id="45" dur="250" autoRev="1" fill="hold"/>
                                        <p:tgtEl>
                                          <p:spTgt spid="214"/>
                                        </p:tgtEl>
                                      </p:cBhvr>
                                      <p:by x="105000" y="105000"/>
                                    </p:animScale>
                                  </p:childTnLst>
                                </p:cTn>
                              </p:par>
                            </p:childTnLst>
                          </p:cTn>
                        </p:par>
                        <p:par>
                          <p:cTn id="46" fill="hold">
                            <p:stCondLst>
                              <p:cond delay="4750"/>
                            </p:stCondLst>
                            <p:childTnLst>
                              <p:par>
                                <p:cTn id="47" presetID="10" presetClass="entr" presetSubtype="0" fill="hold" nodeType="afterEffect">
                                  <p:stCondLst>
                                    <p:cond delay="500"/>
                                  </p:stCondLst>
                                  <p:childTnLst>
                                    <p:set>
                                      <p:cBhvr>
                                        <p:cTn id="48" dur="1" fill="hold">
                                          <p:stCondLst>
                                            <p:cond delay="0"/>
                                          </p:stCondLst>
                                        </p:cTn>
                                        <p:tgtEl>
                                          <p:spTgt spid="305"/>
                                        </p:tgtEl>
                                        <p:attrNameLst>
                                          <p:attrName>style.visibility</p:attrName>
                                        </p:attrNameLst>
                                      </p:cBhvr>
                                      <p:to>
                                        <p:strVal val="visible"/>
                                      </p:to>
                                    </p:set>
                                    <p:animEffect transition="in" filter="fade">
                                      <p:cBhvr>
                                        <p:cTn id="49" dur="500"/>
                                        <p:tgtEl>
                                          <p:spTgt spid="305"/>
                                        </p:tgtEl>
                                      </p:cBhvr>
                                    </p:animEffect>
                                  </p:childTnLst>
                                </p:cTn>
                              </p:par>
                            </p:childTnLst>
                          </p:cTn>
                        </p:par>
                        <p:par>
                          <p:cTn id="50" fill="hold">
                            <p:stCondLst>
                              <p:cond delay="5750"/>
                            </p:stCondLst>
                            <p:childTnLst>
                              <p:par>
                                <p:cTn id="51" presetID="10" presetClass="entr" presetSubtype="0" fill="hold" nodeType="afterEffect">
                                  <p:stCondLst>
                                    <p:cond delay="0"/>
                                  </p:stCondLst>
                                  <p:childTnLst>
                                    <p:set>
                                      <p:cBhvr>
                                        <p:cTn id="52" dur="1" fill="hold">
                                          <p:stCondLst>
                                            <p:cond delay="0"/>
                                          </p:stCondLst>
                                        </p:cTn>
                                        <p:tgtEl>
                                          <p:spTgt spid="284"/>
                                        </p:tgtEl>
                                        <p:attrNameLst>
                                          <p:attrName>style.visibility</p:attrName>
                                        </p:attrNameLst>
                                      </p:cBhvr>
                                      <p:to>
                                        <p:strVal val="visible"/>
                                      </p:to>
                                    </p:set>
                                    <p:animEffect transition="in" filter="fade">
                                      <p:cBhvr>
                                        <p:cTn id="53" dur="500"/>
                                        <p:tgtEl>
                                          <p:spTgt spid="284"/>
                                        </p:tgtEl>
                                      </p:cBhvr>
                                    </p:animEffect>
                                  </p:childTnLst>
                                </p:cTn>
                              </p:par>
                            </p:childTnLst>
                          </p:cTn>
                        </p:par>
                        <p:par>
                          <p:cTn id="54" fill="hold">
                            <p:stCondLst>
                              <p:cond delay="6250"/>
                            </p:stCondLst>
                            <p:childTnLst>
                              <p:par>
                                <p:cTn id="55" presetID="10" presetClass="entr" presetSubtype="0" fill="hold" grpId="0" nodeType="afterEffect">
                                  <p:stCondLst>
                                    <p:cond delay="0"/>
                                  </p:stCondLst>
                                  <p:childTnLst>
                                    <p:set>
                                      <p:cBhvr>
                                        <p:cTn id="56" dur="1" fill="hold">
                                          <p:stCondLst>
                                            <p:cond delay="0"/>
                                          </p:stCondLst>
                                        </p:cTn>
                                        <p:tgtEl>
                                          <p:spTgt spid="216"/>
                                        </p:tgtEl>
                                        <p:attrNameLst>
                                          <p:attrName>style.visibility</p:attrName>
                                        </p:attrNameLst>
                                      </p:cBhvr>
                                      <p:to>
                                        <p:strVal val="visible"/>
                                      </p:to>
                                    </p:set>
                                    <p:animEffect transition="in" filter="fade">
                                      <p:cBhvr>
                                        <p:cTn id="57" dur="500"/>
                                        <p:tgtEl>
                                          <p:spTgt spid="216"/>
                                        </p:tgtEl>
                                      </p:cBhvr>
                                    </p:animEffect>
                                  </p:childTnLst>
                                </p:cTn>
                              </p:par>
                            </p:childTnLst>
                          </p:cTn>
                        </p:par>
                        <p:par>
                          <p:cTn id="58" fill="hold">
                            <p:stCondLst>
                              <p:cond delay="6750"/>
                            </p:stCondLst>
                            <p:childTnLst>
                              <p:par>
                                <p:cTn id="59" presetID="16" presetClass="entr" presetSubtype="21" fill="hold" nodeType="afterEffect">
                                  <p:stCondLst>
                                    <p:cond delay="0"/>
                                  </p:stCondLst>
                                  <p:childTnLst>
                                    <p:set>
                                      <p:cBhvr>
                                        <p:cTn id="60" dur="1" fill="hold">
                                          <p:stCondLst>
                                            <p:cond delay="0"/>
                                          </p:stCondLst>
                                        </p:cTn>
                                        <p:tgtEl>
                                          <p:spTgt spid="289"/>
                                        </p:tgtEl>
                                        <p:attrNameLst>
                                          <p:attrName>style.visibility</p:attrName>
                                        </p:attrNameLst>
                                      </p:cBhvr>
                                      <p:to>
                                        <p:strVal val="visible"/>
                                      </p:to>
                                    </p:set>
                                    <p:animEffect transition="in" filter="barn(inVertical)">
                                      <p:cBhvr>
                                        <p:cTn id="61" dur="500"/>
                                        <p:tgtEl>
                                          <p:spTgt spid="289"/>
                                        </p:tgtEl>
                                      </p:cBhvr>
                                    </p:animEffect>
                                  </p:childTnLst>
                                </p:cTn>
                              </p:par>
                            </p:childTnLst>
                          </p:cTn>
                        </p:par>
                        <p:par>
                          <p:cTn id="62" fill="hold">
                            <p:stCondLst>
                              <p:cond delay="7250"/>
                            </p:stCondLst>
                            <p:childTnLst>
                              <p:par>
                                <p:cTn id="63" presetID="22" presetClass="entr" presetSubtype="1" fill="hold" nodeType="afterEffect">
                                  <p:stCondLst>
                                    <p:cond delay="0"/>
                                  </p:stCondLst>
                                  <p:childTnLst>
                                    <p:set>
                                      <p:cBhvr>
                                        <p:cTn id="64" dur="1" fill="hold">
                                          <p:stCondLst>
                                            <p:cond delay="0"/>
                                          </p:stCondLst>
                                        </p:cTn>
                                        <p:tgtEl>
                                          <p:spTgt spid="286"/>
                                        </p:tgtEl>
                                        <p:attrNameLst>
                                          <p:attrName>style.visibility</p:attrName>
                                        </p:attrNameLst>
                                      </p:cBhvr>
                                      <p:to>
                                        <p:strVal val="visible"/>
                                      </p:to>
                                    </p:set>
                                    <p:animEffect transition="in" filter="wipe(up)">
                                      <p:cBhvr>
                                        <p:cTn id="65" dur="500"/>
                                        <p:tgtEl>
                                          <p:spTgt spid="286"/>
                                        </p:tgtEl>
                                      </p:cBhvr>
                                    </p:animEffect>
                                  </p:childTnLst>
                                </p:cTn>
                              </p:par>
                            </p:childTnLst>
                          </p:cTn>
                        </p:par>
                        <p:par>
                          <p:cTn id="66" fill="hold">
                            <p:stCondLst>
                              <p:cond delay="7750"/>
                            </p:stCondLst>
                            <p:childTnLst>
                              <p:par>
                                <p:cTn id="67" presetID="26" presetClass="emph" presetSubtype="0" fill="hold" grpId="1" nodeType="afterEffect">
                                  <p:stCondLst>
                                    <p:cond delay="500"/>
                                  </p:stCondLst>
                                  <p:childTnLst>
                                    <p:animEffect transition="out" filter="fade">
                                      <p:cBhvr>
                                        <p:cTn id="68" dur="500" tmFilter="0, 0; .2, .5; .8, .5; 1, 0"/>
                                        <p:tgtEl>
                                          <p:spTgt spid="216"/>
                                        </p:tgtEl>
                                      </p:cBhvr>
                                    </p:animEffect>
                                    <p:animScale>
                                      <p:cBhvr>
                                        <p:cTn id="69" dur="250" autoRev="1" fill="hold"/>
                                        <p:tgtEl>
                                          <p:spTgt spid="216"/>
                                        </p:tgtEl>
                                      </p:cBhvr>
                                      <p:by x="105000" y="105000"/>
                                    </p:animScale>
                                  </p:childTnLst>
                                </p:cTn>
                              </p:par>
                            </p:childTnLst>
                          </p:cTn>
                        </p:par>
                        <p:par>
                          <p:cTn id="70" fill="hold">
                            <p:stCondLst>
                              <p:cond delay="8750"/>
                            </p:stCondLst>
                            <p:childTnLst>
                              <p:par>
                                <p:cTn id="71" presetID="10" presetClass="entr" presetSubtype="0" fill="hold" nodeType="afterEffect">
                                  <p:stCondLst>
                                    <p:cond delay="500"/>
                                  </p:stCondLst>
                                  <p:childTnLst>
                                    <p:set>
                                      <p:cBhvr>
                                        <p:cTn id="72" dur="1" fill="hold">
                                          <p:stCondLst>
                                            <p:cond delay="0"/>
                                          </p:stCondLst>
                                        </p:cTn>
                                        <p:tgtEl>
                                          <p:spTgt spid="301"/>
                                        </p:tgtEl>
                                        <p:attrNameLst>
                                          <p:attrName>style.visibility</p:attrName>
                                        </p:attrNameLst>
                                      </p:cBhvr>
                                      <p:to>
                                        <p:strVal val="visible"/>
                                      </p:to>
                                    </p:set>
                                    <p:animEffect transition="in" filter="fade">
                                      <p:cBhvr>
                                        <p:cTn id="73" dur="500"/>
                                        <p:tgtEl>
                                          <p:spTgt spid="301"/>
                                        </p:tgtEl>
                                      </p:cBhvr>
                                    </p:animEffect>
                                  </p:childTnLst>
                                </p:cTn>
                              </p:par>
                            </p:childTnLst>
                          </p:cTn>
                        </p:par>
                        <p:par>
                          <p:cTn id="74" fill="hold">
                            <p:stCondLst>
                              <p:cond delay="9750"/>
                            </p:stCondLst>
                            <p:childTnLst>
                              <p:par>
                                <p:cTn id="75" presetID="10" presetClass="entr" presetSubtype="0" fill="hold" nodeType="afterEffect">
                                  <p:stCondLst>
                                    <p:cond delay="0"/>
                                  </p:stCondLst>
                                  <p:childTnLst>
                                    <p:set>
                                      <p:cBhvr>
                                        <p:cTn id="76" dur="1" fill="hold">
                                          <p:stCondLst>
                                            <p:cond delay="0"/>
                                          </p:stCondLst>
                                        </p:cTn>
                                        <p:tgtEl>
                                          <p:spTgt spid="285"/>
                                        </p:tgtEl>
                                        <p:attrNameLst>
                                          <p:attrName>style.visibility</p:attrName>
                                        </p:attrNameLst>
                                      </p:cBhvr>
                                      <p:to>
                                        <p:strVal val="visible"/>
                                      </p:to>
                                    </p:set>
                                    <p:animEffect transition="in" filter="fade">
                                      <p:cBhvr>
                                        <p:cTn id="77" dur="500"/>
                                        <p:tgtEl>
                                          <p:spTgt spid="285"/>
                                        </p:tgtEl>
                                      </p:cBhvr>
                                    </p:animEffect>
                                  </p:childTnLst>
                                </p:cTn>
                              </p:par>
                            </p:childTnLst>
                          </p:cTn>
                        </p:par>
                        <p:par>
                          <p:cTn id="78" fill="hold">
                            <p:stCondLst>
                              <p:cond delay="10250"/>
                            </p:stCondLst>
                            <p:childTnLst>
                              <p:par>
                                <p:cTn id="79" presetID="10" presetClass="entr" presetSubtype="0" fill="hold" grpId="0" nodeType="afterEffect">
                                  <p:stCondLst>
                                    <p:cond delay="0"/>
                                  </p:stCondLst>
                                  <p:childTnLst>
                                    <p:set>
                                      <p:cBhvr>
                                        <p:cTn id="80" dur="1" fill="hold">
                                          <p:stCondLst>
                                            <p:cond delay="0"/>
                                          </p:stCondLst>
                                        </p:cTn>
                                        <p:tgtEl>
                                          <p:spTgt spid="215"/>
                                        </p:tgtEl>
                                        <p:attrNameLst>
                                          <p:attrName>style.visibility</p:attrName>
                                        </p:attrNameLst>
                                      </p:cBhvr>
                                      <p:to>
                                        <p:strVal val="visible"/>
                                      </p:to>
                                    </p:set>
                                    <p:animEffect transition="in" filter="fade">
                                      <p:cBhvr>
                                        <p:cTn id="81" dur="500"/>
                                        <p:tgtEl>
                                          <p:spTgt spid="215"/>
                                        </p:tgtEl>
                                      </p:cBhvr>
                                    </p:animEffect>
                                  </p:childTnLst>
                                </p:cTn>
                              </p:par>
                            </p:childTnLst>
                          </p:cTn>
                        </p:par>
                        <p:par>
                          <p:cTn id="82" fill="hold">
                            <p:stCondLst>
                              <p:cond delay="10750"/>
                            </p:stCondLst>
                            <p:childTnLst>
                              <p:par>
                                <p:cTn id="83" presetID="16" presetClass="entr" presetSubtype="21" fill="hold" nodeType="afterEffect">
                                  <p:stCondLst>
                                    <p:cond delay="0"/>
                                  </p:stCondLst>
                                  <p:childTnLst>
                                    <p:set>
                                      <p:cBhvr>
                                        <p:cTn id="84" dur="1" fill="hold">
                                          <p:stCondLst>
                                            <p:cond delay="0"/>
                                          </p:stCondLst>
                                        </p:cTn>
                                        <p:tgtEl>
                                          <p:spTgt spid="294"/>
                                        </p:tgtEl>
                                        <p:attrNameLst>
                                          <p:attrName>style.visibility</p:attrName>
                                        </p:attrNameLst>
                                      </p:cBhvr>
                                      <p:to>
                                        <p:strVal val="visible"/>
                                      </p:to>
                                    </p:set>
                                    <p:animEffect transition="in" filter="barn(inVertical)">
                                      <p:cBhvr>
                                        <p:cTn id="85" dur="500"/>
                                        <p:tgtEl>
                                          <p:spTgt spid="294"/>
                                        </p:tgtEl>
                                      </p:cBhvr>
                                    </p:animEffect>
                                  </p:childTnLst>
                                </p:cTn>
                              </p:par>
                            </p:childTnLst>
                          </p:cTn>
                        </p:par>
                        <p:par>
                          <p:cTn id="86" fill="hold">
                            <p:stCondLst>
                              <p:cond delay="11250"/>
                            </p:stCondLst>
                            <p:childTnLst>
                              <p:par>
                                <p:cTn id="87" presetID="22" presetClass="entr" presetSubtype="1" fill="hold" nodeType="afterEffect">
                                  <p:stCondLst>
                                    <p:cond delay="0"/>
                                  </p:stCondLst>
                                  <p:childTnLst>
                                    <p:set>
                                      <p:cBhvr>
                                        <p:cTn id="88" dur="1" fill="hold">
                                          <p:stCondLst>
                                            <p:cond delay="0"/>
                                          </p:stCondLst>
                                        </p:cTn>
                                        <p:tgtEl>
                                          <p:spTgt spid="312"/>
                                        </p:tgtEl>
                                        <p:attrNameLst>
                                          <p:attrName>style.visibility</p:attrName>
                                        </p:attrNameLst>
                                      </p:cBhvr>
                                      <p:to>
                                        <p:strVal val="visible"/>
                                      </p:to>
                                    </p:set>
                                    <p:animEffect transition="in" filter="wipe(up)">
                                      <p:cBhvr>
                                        <p:cTn id="89" dur="250"/>
                                        <p:tgtEl>
                                          <p:spTgt spid="312"/>
                                        </p:tgtEl>
                                      </p:cBhvr>
                                    </p:animEffect>
                                  </p:childTnLst>
                                </p:cTn>
                              </p:par>
                            </p:childTnLst>
                          </p:cTn>
                        </p:par>
                        <p:par>
                          <p:cTn id="90" fill="hold">
                            <p:stCondLst>
                              <p:cond delay="11500"/>
                            </p:stCondLst>
                            <p:childTnLst>
                              <p:par>
                                <p:cTn id="91" presetID="22" presetClass="entr" presetSubtype="2" fill="hold" nodeType="afterEffect">
                                  <p:stCondLst>
                                    <p:cond delay="0"/>
                                  </p:stCondLst>
                                  <p:childTnLst>
                                    <p:set>
                                      <p:cBhvr>
                                        <p:cTn id="92" dur="1" fill="hold">
                                          <p:stCondLst>
                                            <p:cond delay="0"/>
                                          </p:stCondLst>
                                        </p:cTn>
                                        <p:tgtEl>
                                          <p:spTgt spid="311"/>
                                        </p:tgtEl>
                                        <p:attrNameLst>
                                          <p:attrName>style.visibility</p:attrName>
                                        </p:attrNameLst>
                                      </p:cBhvr>
                                      <p:to>
                                        <p:strVal val="visible"/>
                                      </p:to>
                                    </p:set>
                                    <p:animEffect transition="in" filter="wipe(right)">
                                      <p:cBhvr>
                                        <p:cTn id="93" dur="250"/>
                                        <p:tgtEl>
                                          <p:spTgt spid="311"/>
                                        </p:tgtEl>
                                      </p:cBhvr>
                                    </p:animEffect>
                                  </p:childTnLst>
                                </p:cTn>
                              </p:par>
                            </p:childTnLst>
                          </p:cTn>
                        </p:par>
                        <p:par>
                          <p:cTn id="94" fill="hold">
                            <p:stCondLst>
                              <p:cond delay="11750"/>
                            </p:stCondLst>
                            <p:childTnLst>
                              <p:par>
                                <p:cTn id="95" presetID="22" presetClass="entr" presetSubtype="1" fill="hold" nodeType="afterEffect">
                                  <p:stCondLst>
                                    <p:cond delay="0"/>
                                  </p:stCondLst>
                                  <p:childTnLst>
                                    <p:set>
                                      <p:cBhvr>
                                        <p:cTn id="96" dur="1" fill="hold">
                                          <p:stCondLst>
                                            <p:cond delay="0"/>
                                          </p:stCondLst>
                                        </p:cTn>
                                        <p:tgtEl>
                                          <p:spTgt spid="297"/>
                                        </p:tgtEl>
                                        <p:attrNameLst>
                                          <p:attrName>style.visibility</p:attrName>
                                        </p:attrNameLst>
                                      </p:cBhvr>
                                      <p:to>
                                        <p:strVal val="visible"/>
                                      </p:to>
                                    </p:set>
                                    <p:animEffect transition="in" filter="wipe(up)">
                                      <p:cBhvr>
                                        <p:cTn id="97" dur="250"/>
                                        <p:tgtEl>
                                          <p:spTgt spid="297"/>
                                        </p:tgtEl>
                                      </p:cBhvr>
                                    </p:animEffect>
                                  </p:childTnLst>
                                </p:cTn>
                              </p:par>
                            </p:childTnLst>
                          </p:cTn>
                        </p:par>
                        <p:par>
                          <p:cTn id="98" fill="hold">
                            <p:stCondLst>
                              <p:cond delay="12000"/>
                            </p:stCondLst>
                            <p:childTnLst>
                              <p:par>
                                <p:cTn id="99" presetID="26" presetClass="emph" presetSubtype="0" fill="hold" grpId="1" nodeType="afterEffect">
                                  <p:stCondLst>
                                    <p:cond delay="500"/>
                                  </p:stCondLst>
                                  <p:childTnLst>
                                    <p:animEffect transition="out" filter="fade">
                                      <p:cBhvr>
                                        <p:cTn id="100" dur="500" tmFilter="0, 0; .2, .5; .8, .5; 1, 0"/>
                                        <p:tgtEl>
                                          <p:spTgt spid="215"/>
                                        </p:tgtEl>
                                      </p:cBhvr>
                                    </p:animEffect>
                                    <p:animScale>
                                      <p:cBhvr>
                                        <p:cTn id="101" dur="250" autoRev="1" fill="hold"/>
                                        <p:tgtEl>
                                          <p:spTgt spid="215"/>
                                        </p:tgtEl>
                                      </p:cBhvr>
                                      <p:by x="105000" y="105000"/>
                                    </p:animScale>
                                  </p:childTnLst>
                                </p:cTn>
                              </p:par>
                            </p:childTnLst>
                          </p:cTn>
                        </p:par>
                        <p:par>
                          <p:cTn id="102" fill="hold">
                            <p:stCondLst>
                              <p:cond delay="13000"/>
                            </p:stCondLst>
                            <p:childTnLst>
                              <p:par>
                                <p:cTn id="103" presetID="10" presetClass="entr" presetSubtype="0" fill="hold" nodeType="afterEffect">
                                  <p:stCondLst>
                                    <p:cond delay="500"/>
                                  </p:stCondLst>
                                  <p:childTnLst>
                                    <p:set>
                                      <p:cBhvr>
                                        <p:cTn id="104" dur="1" fill="hold">
                                          <p:stCondLst>
                                            <p:cond delay="0"/>
                                          </p:stCondLst>
                                        </p:cTn>
                                        <p:tgtEl>
                                          <p:spTgt spid="143"/>
                                        </p:tgtEl>
                                        <p:attrNameLst>
                                          <p:attrName>style.visibility</p:attrName>
                                        </p:attrNameLst>
                                      </p:cBhvr>
                                      <p:to>
                                        <p:strVal val="visible"/>
                                      </p:to>
                                    </p:set>
                                    <p:animEffect transition="in" filter="fade">
                                      <p:cBhvr>
                                        <p:cTn id="105" dur="500"/>
                                        <p:tgtEl>
                                          <p:spTgt spid="143"/>
                                        </p:tgtEl>
                                      </p:cBhvr>
                                    </p:animEffect>
                                  </p:childTnLst>
                                </p:cTn>
                              </p:par>
                              <p:par>
                                <p:cTn id="106" presetID="10" presetClass="entr" presetSubtype="0" fill="hold" grpId="0" nodeType="withEffect">
                                  <p:stCondLst>
                                    <p:cond delay="500"/>
                                  </p:stCondLst>
                                  <p:childTnLst>
                                    <p:set>
                                      <p:cBhvr>
                                        <p:cTn id="107" dur="1" fill="hold">
                                          <p:stCondLst>
                                            <p:cond delay="0"/>
                                          </p:stCondLst>
                                        </p:cTn>
                                        <p:tgtEl>
                                          <p:spTgt spid="150"/>
                                        </p:tgtEl>
                                        <p:attrNameLst>
                                          <p:attrName>style.visibility</p:attrName>
                                        </p:attrNameLst>
                                      </p:cBhvr>
                                      <p:to>
                                        <p:strVal val="visible"/>
                                      </p:to>
                                    </p:set>
                                    <p:animEffect transition="in" filter="fade">
                                      <p:cBhvr>
                                        <p:cTn id="108" dur="500"/>
                                        <p:tgtEl>
                                          <p:spTgt spid="150"/>
                                        </p:tgtEl>
                                      </p:cBhvr>
                                    </p:animEffect>
                                  </p:childTnLst>
                                </p:cTn>
                              </p:par>
                            </p:childTnLst>
                          </p:cTn>
                        </p:par>
                        <p:par>
                          <p:cTn id="109" fill="hold">
                            <p:stCondLst>
                              <p:cond delay="14000"/>
                            </p:stCondLst>
                            <p:childTnLst>
                              <p:par>
                                <p:cTn id="110" presetID="26" presetClass="emph" presetSubtype="0" fill="hold" grpId="1" nodeType="afterEffect">
                                  <p:stCondLst>
                                    <p:cond delay="500"/>
                                  </p:stCondLst>
                                  <p:childTnLst>
                                    <p:animEffect transition="out" filter="fade">
                                      <p:cBhvr>
                                        <p:cTn id="111" dur="500" tmFilter="0, 0; .2, .5; .8, .5; 1, 0"/>
                                        <p:tgtEl>
                                          <p:spTgt spid="150"/>
                                        </p:tgtEl>
                                      </p:cBhvr>
                                    </p:animEffect>
                                    <p:animScale>
                                      <p:cBhvr>
                                        <p:cTn id="112" dur="250" autoRev="1" fill="hold"/>
                                        <p:tgtEl>
                                          <p:spTgt spid="150"/>
                                        </p:tgtEl>
                                      </p:cBhvr>
                                      <p:by x="105000" y="105000"/>
                                    </p:animScale>
                                  </p:childTnLst>
                                </p:cTn>
                              </p:par>
                            </p:childTnLst>
                          </p:cTn>
                        </p:par>
                        <p:par>
                          <p:cTn id="113" fill="hold">
                            <p:stCondLst>
                              <p:cond delay="15000"/>
                            </p:stCondLst>
                            <p:childTnLst>
                              <p:par>
                                <p:cTn id="114" presetID="10" presetClass="entr" presetSubtype="0" fill="hold" nodeType="afterEffect">
                                  <p:stCondLst>
                                    <p:cond delay="0"/>
                                  </p:stCondLst>
                                  <p:childTnLst>
                                    <p:set>
                                      <p:cBhvr>
                                        <p:cTn id="115" dur="1" fill="hold">
                                          <p:stCondLst>
                                            <p:cond delay="0"/>
                                          </p:stCondLst>
                                        </p:cTn>
                                        <p:tgtEl>
                                          <p:spTgt spid="146"/>
                                        </p:tgtEl>
                                        <p:attrNameLst>
                                          <p:attrName>style.visibility</p:attrName>
                                        </p:attrNameLst>
                                      </p:cBhvr>
                                      <p:to>
                                        <p:strVal val="visible"/>
                                      </p:to>
                                    </p:set>
                                    <p:animEffect transition="in" filter="fade">
                                      <p:cBhvr>
                                        <p:cTn id="116" dur="500"/>
                                        <p:tgtEl>
                                          <p:spTgt spid="146"/>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314"/>
                                        </p:tgtEl>
                                        <p:attrNameLst>
                                          <p:attrName>style.visibility</p:attrName>
                                        </p:attrNameLst>
                                      </p:cBhvr>
                                      <p:to>
                                        <p:strVal val="visible"/>
                                      </p:to>
                                    </p:set>
                                    <p:animEffect transition="in" filter="fade">
                                      <p:cBhvr>
                                        <p:cTn id="119" dur="500"/>
                                        <p:tgtEl>
                                          <p:spTgt spid="314"/>
                                        </p:tgtEl>
                                      </p:cBhvr>
                                    </p:animEffect>
                                  </p:childTnLst>
                                </p:cTn>
                              </p:par>
                            </p:childTnLst>
                          </p:cTn>
                        </p:par>
                        <p:par>
                          <p:cTn id="120" fill="hold">
                            <p:stCondLst>
                              <p:cond delay="15500"/>
                            </p:stCondLst>
                            <p:childTnLst>
                              <p:par>
                                <p:cTn id="121" presetID="26" presetClass="emph" presetSubtype="0" fill="hold" grpId="1" nodeType="afterEffect">
                                  <p:stCondLst>
                                    <p:cond delay="500"/>
                                  </p:stCondLst>
                                  <p:childTnLst>
                                    <p:animEffect transition="out" filter="fade">
                                      <p:cBhvr>
                                        <p:cTn id="122" dur="500" tmFilter="0, 0; .2, .5; .8, .5; 1, 0"/>
                                        <p:tgtEl>
                                          <p:spTgt spid="314"/>
                                        </p:tgtEl>
                                      </p:cBhvr>
                                    </p:animEffect>
                                    <p:animScale>
                                      <p:cBhvr>
                                        <p:cTn id="123" dur="250" autoRev="1" fill="hold"/>
                                        <p:tgtEl>
                                          <p:spTgt spid="31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p:bldP spid="150" grpId="1"/>
      <p:bldP spid="214" grpId="0"/>
      <p:bldP spid="214" grpId="1"/>
      <p:bldP spid="215" grpId="0"/>
      <p:bldP spid="215" grpId="1"/>
      <p:bldP spid="216" grpId="0"/>
      <p:bldP spid="216" grpId="1"/>
      <p:bldP spid="314" grpId="0"/>
      <p:bldP spid="314" grpId="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4CAE9C-CDEE-15BD-220E-8EF558B45D54}"/>
              </a:ext>
            </a:extLst>
          </p:cNvPr>
          <p:cNvSpPr>
            <a:spLocks noGrp="1"/>
          </p:cNvSpPr>
          <p:nvPr>
            <p:ph type="title"/>
          </p:nvPr>
        </p:nvSpPr>
        <p:spPr/>
        <p:txBody>
          <a:bodyPr/>
          <a:lstStyle/>
          <a:p>
            <a:r>
              <a:rPr lang="en-US" dirty="0"/>
              <a:t>Simple, Insightful Cluster Health Status and Troubleshooting</a:t>
            </a:r>
          </a:p>
        </p:txBody>
      </p:sp>
      <p:sp>
        <p:nvSpPr>
          <p:cNvPr id="3" name="Subtitle 2">
            <a:extLst>
              <a:ext uri="{FF2B5EF4-FFF2-40B4-BE49-F238E27FC236}">
                <a16:creationId xmlns:a16="http://schemas.microsoft.com/office/drawing/2014/main" id="{A996547D-4F52-0D79-BCA4-C989BE2B9258}"/>
              </a:ext>
            </a:extLst>
          </p:cNvPr>
          <p:cNvSpPr>
            <a:spLocks noGrp="1"/>
          </p:cNvSpPr>
          <p:nvPr>
            <p:ph type="subTitle" idx="10"/>
          </p:nvPr>
        </p:nvSpPr>
        <p:spPr/>
        <p:txBody>
          <a:bodyPr/>
          <a:lstStyle/>
          <a:p>
            <a:r>
              <a:rPr lang="en-US" dirty="0"/>
              <a:t>vSAN Health intelligent cluster health scoring, diagnostics and remediation</a:t>
            </a:r>
          </a:p>
        </p:txBody>
      </p:sp>
      <p:sp>
        <p:nvSpPr>
          <p:cNvPr id="5" name="Text Placeholder 4">
            <a:extLst>
              <a:ext uri="{FF2B5EF4-FFF2-40B4-BE49-F238E27FC236}">
                <a16:creationId xmlns:a16="http://schemas.microsoft.com/office/drawing/2014/main" id="{18DD4F1D-CE64-B49D-5CEF-E0E917960100}"/>
              </a:ext>
            </a:extLst>
          </p:cNvPr>
          <p:cNvSpPr>
            <a:spLocks noGrp="1"/>
          </p:cNvSpPr>
          <p:nvPr>
            <p:ph type="body" sz="quarter" idx="17"/>
          </p:nvPr>
        </p:nvSpPr>
        <p:spPr/>
        <p:txBody>
          <a:bodyPr/>
          <a:lstStyle/>
          <a:p>
            <a:r>
              <a:rPr lang="en-US"/>
              <a:t>Provides </a:t>
            </a:r>
            <a:r>
              <a:rPr lang="en-US" b="1"/>
              <a:t>cluster health score </a:t>
            </a:r>
            <a:r>
              <a:rPr lang="en-US"/>
              <a:t>for </a:t>
            </a:r>
            <a:r>
              <a:rPr lang="en-US" b="1"/>
              <a:t>at-a-glance</a:t>
            </a:r>
            <a:r>
              <a:rPr lang="en-US"/>
              <a:t> condition of </a:t>
            </a:r>
            <a:r>
              <a:rPr lang="en-US" b="1"/>
              <a:t>cluster</a:t>
            </a:r>
          </a:p>
          <a:p>
            <a:r>
              <a:rPr lang="en-US" b="1"/>
              <a:t>Prioritizes </a:t>
            </a:r>
            <a:r>
              <a:rPr lang="en-US"/>
              <a:t>identified issues to </a:t>
            </a:r>
            <a:r>
              <a:rPr lang="en-US" b="1"/>
              <a:t>help address </a:t>
            </a:r>
            <a:r>
              <a:rPr lang="en-US"/>
              <a:t>most important condition </a:t>
            </a:r>
            <a:r>
              <a:rPr lang="en-US" b="1"/>
              <a:t>first</a:t>
            </a:r>
          </a:p>
          <a:p>
            <a:r>
              <a:rPr lang="en-US" b="1"/>
              <a:t>Weighs issues </a:t>
            </a:r>
            <a:r>
              <a:rPr lang="en-US"/>
              <a:t>using common Administrator </a:t>
            </a:r>
            <a:r>
              <a:rPr lang="en-US" b="1"/>
              <a:t>responsibilities</a:t>
            </a:r>
          </a:p>
          <a:p>
            <a:pPr lvl="1"/>
            <a:r>
              <a:rPr lang="en-US"/>
              <a:t>Data availability</a:t>
            </a:r>
          </a:p>
          <a:p>
            <a:pPr lvl="1"/>
            <a:r>
              <a:rPr lang="en-US"/>
              <a:t>Performance</a:t>
            </a:r>
          </a:p>
          <a:p>
            <a:pPr lvl="1"/>
            <a:r>
              <a:rPr lang="en-US"/>
              <a:t>Capacity utilization</a:t>
            </a:r>
          </a:p>
          <a:p>
            <a:pPr lvl="1"/>
            <a:r>
              <a:rPr lang="en-US"/>
              <a:t>Efficiency &amp; Compliance</a:t>
            </a:r>
          </a:p>
          <a:p>
            <a:r>
              <a:rPr lang="en-US" b="1"/>
              <a:t>Take action </a:t>
            </a:r>
            <a:r>
              <a:rPr lang="en-US"/>
              <a:t>on the </a:t>
            </a:r>
            <a:r>
              <a:rPr lang="en-US" b="1"/>
              <a:t>most important issue</a:t>
            </a:r>
            <a:r>
              <a:rPr lang="en-US"/>
              <a:t>, first</a:t>
            </a:r>
            <a:endParaRPr lang="en-US" b="1" dirty="0"/>
          </a:p>
        </p:txBody>
      </p:sp>
      <p:sp>
        <p:nvSpPr>
          <p:cNvPr id="4" name="Arrow: Down 3">
            <a:extLst>
              <a:ext uri="{FF2B5EF4-FFF2-40B4-BE49-F238E27FC236}">
                <a16:creationId xmlns:a16="http://schemas.microsoft.com/office/drawing/2014/main" id="{208BC89C-9DBD-8D3C-4A4C-7BA096F02AE2}"/>
              </a:ext>
            </a:extLst>
          </p:cNvPr>
          <p:cNvSpPr/>
          <p:nvPr/>
        </p:nvSpPr>
        <p:spPr>
          <a:xfrm rot="16200000">
            <a:off x="11964110" y="6523490"/>
            <a:ext cx="228343" cy="221087"/>
          </a:xfrm>
          <a:prstGeom prst="downArrow">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350" name="Group 349">
            <a:extLst>
              <a:ext uri="{FF2B5EF4-FFF2-40B4-BE49-F238E27FC236}">
                <a16:creationId xmlns:a16="http://schemas.microsoft.com/office/drawing/2014/main" id="{C1139827-63EC-670E-3B59-89ECA9A9F3EA}"/>
              </a:ext>
            </a:extLst>
          </p:cNvPr>
          <p:cNvGrpSpPr/>
          <p:nvPr/>
        </p:nvGrpSpPr>
        <p:grpSpPr>
          <a:xfrm>
            <a:off x="1843020" y="1660759"/>
            <a:ext cx="4172018" cy="3059797"/>
            <a:chOff x="1959736" y="2089790"/>
            <a:chExt cx="4172018" cy="3059797"/>
          </a:xfrm>
        </p:grpSpPr>
        <p:sp>
          <p:nvSpPr>
            <p:cNvPr id="351" name="Rectangle 350">
              <a:extLst>
                <a:ext uri="{FF2B5EF4-FFF2-40B4-BE49-F238E27FC236}">
                  <a16:creationId xmlns:a16="http://schemas.microsoft.com/office/drawing/2014/main" id="{F3FCC018-E309-50D9-9C99-2F7EEF27999B}"/>
                </a:ext>
              </a:extLst>
            </p:cNvPr>
            <p:cNvSpPr/>
            <p:nvPr/>
          </p:nvSpPr>
          <p:spPr>
            <a:xfrm>
              <a:off x="1959739" y="2306411"/>
              <a:ext cx="4172015" cy="2843176"/>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2" name="Rectangle 351">
              <a:extLst>
                <a:ext uri="{FF2B5EF4-FFF2-40B4-BE49-F238E27FC236}">
                  <a16:creationId xmlns:a16="http://schemas.microsoft.com/office/drawing/2014/main" id="{861DC091-804D-EDAC-CEB4-6A25BA43E79F}"/>
                </a:ext>
              </a:extLst>
            </p:cNvPr>
            <p:cNvSpPr/>
            <p:nvPr/>
          </p:nvSpPr>
          <p:spPr>
            <a:xfrm>
              <a:off x="1959736" y="2089790"/>
              <a:ext cx="4172014" cy="2040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Rounded MT Bold" panose="020F0704030504030204" pitchFamily="34" charset="0"/>
                <a:ea typeface="+mn-ea"/>
                <a:cs typeface="+mn-cs"/>
              </a:endParaRPr>
            </a:p>
          </p:txBody>
        </p:sp>
        <p:sp>
          <p:nvSpPr>
            <p:cNvPr id="353" name="Oval 352">
              <a:extLst>
                <a:ext uri="{FF2B5EF4-FFF2-40B4-BE49-F238E27FC236}">
                  <a16:creationId xmlns:a16="http://schemas.microsoft.com/office/drawing/2014/main" id="{C4CC878B-8095-12AC-3D2E-7218BE3A5B87}"/>
                </a:ext>
              </a:extLst>
            </p:cNvPr>
            <p:cNvSpPr/>
            <p:nvPr/>
          </p:nvSpPr>
          <p:spPr>
            <a:xfrm>
              <a:off x="2028434" y="2153309"/>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4" name="Oval 353">
              <a:extLst>
                <a:ext uri="{FF2B5EF4-FFF2-40B4-BE49-F238E27FC236}">
                  <a16:creationId xmlns:a16="http://schemas.microsoft.com/office/drawing/2014/main" id="{B8D4E439-809C-02BE-8023-31632950B2F4}"/>
                </a:ext>
              </a:extLst>
            </p:cNvPr>
            <p:cNvSpPr/>
            <p:nvPr/>
          </p:nvSpPr>
          <p:spPr>
            <a:xfrm>
              <a:off x="2181512" y="2153309"/>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5" name="Oval 354">
              <a:extLst>
                <a:ext uri="{FF2B5EF4-FFF2-40B4-BE49-F238E27FC236}">
                  <a16:creationId xmlns:a16="http://schemas.microsoft.com/office/drawing/2014/main" id="{E064F5A5-7626-1BFD-5354-958B7E17E30C}"/>
                </a:ext>
              </a:extLst>
            </p:cNvPr>
            <p:cNvSpPr/>
            <p:nvPr/>
          </p:nvSpPr>
          <p:spPr>
            <a:xfrm>
              <a:off x="2334590" y="2153309"/>
              <a:ext cx="79233" cy="7696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6" name="Rectangle 355">
              <a:extLst>
                <a:ext uri="{FF2B5EF4-FFF2-40B4-BE49-F238E27FC236}">
                  <a16:creationId xmlns:a16="http://schemas.microsoft.com/office/drawing/2014/main" id="{3CA4CF9C-2902-9F50-F97C-970C453701B7}"/>
                </a:ext>
              </a:extLst>
            </p:cNvPr>
            <p:cNvSpPr/>
            <p:nvPr/>
          </p:nvSpPr>
          <p:spPr>
            <a:xfrm>
              <a:off x="2078747" y="2441703"/>
              <a:ext cx="3932884" cy="258752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57" name="Rectangle 356">
              <a:extLst>
                <a:ext uri="{FF2B5EF4-FFF2-40B4-BE49-F238E27FC236}">
                  <a16:creationId xmlns:a16="http://schemas.microsoft.com/office/drawing/2014/main" id="{DFDB78D4-1F1F-3905-F31E-3B119FB070DB}"/>
                </a:ext>
              </a:extLst>
            </p:cNvPr>
            <p:cNvSpPr/>
            <p:nvPr/>
          </p:nvSpPr>
          <p:spPr>
            <a:xfrm>
              <a:off x="3458716" y="2098652"/>
              <a:ext cx="1045702" cy="15929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60325" marR="0" lvl="0" indent="0" algn="ctr" defTabSz="914400" rtl="0" eaLnBrk="1" fontAlgn="auto" latinLnBrk="0" hangingPunct="1">
                <a:lnSpc>
                  <a:spcPct val="100000"/>
                </a:lnSpc>
                <a:spcBef>
                  <a:spcPts val="0"/>
                </a:spcBef>
                <a:spcAft>
                  <a:spcPts val="80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rPr>
                <a:t>vCenter</a:t>
              </a:r>
            </a:p>
          </p:txBody>
        </p:sp>
        <p:cxnSp>
          <p:nvCxnSpPr>
            <p:cNvPr id="358" name="Straight Connector 357">
              <a:extLst>
                <a:ext uri="{FF2B5EF4-FFF2-40B4-BE49-F238E27FC236}">
                  <a16:creationId xmlns:a16="http://schemas.microsoft.com/office/drawing/2014/main" id="{951BC759-A44B-2105-F7D5-E5E7044E4E4C}"/>
                </a:ext>
              </a:extLst>
            </p:cNvPr>
            <p:cNvCxnSpPr>
              <a:cxnSpLocks/>
            </p:cNvCxnSpPr>
            <p:nvPr/>
          </p:nvCxnSpPr>
          <p:spPr>
            <a:xfrm flipH="1">
              <a:off x="2181519" y="2692503"/>
              <a:ext cx="3735458"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9" name="Rectangle 358">
              <a:extLst>
                <a:ext uri="{FF2B5EF4-FFF2-40B4-BE49-F238E27FC236}">
                  <a16:creationId xmlns:a16="http://schemas.microsoft.com/office/drawing/2014/main" id="{EDA56937-157B-39A4-2F56-E186CD544ED1}"/>
                </a:ext>
              </a:extLst>
            </p:cNvPr>
            <p:cNvSpPr/>
            <p:nvPr/>
          </p:nvSpPr>
          <p:spPr>
            <a:xfrm>
              <a:off x="2210737" y="2461047"/>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000" b="0" i="0" u="none" strike="noStrike" kern="1200" cap="none" spc="0" normalizeH="0" baseline="0" noProof="0">
                  <a:ln>
                    <a:noFill/>
                  </a:ln>
                  <a:solidFill>
                    <a:srgbClr val="1B1D36"/>
                  </a:solidFill>
                  <a:effectLst/>
                  <a:uLnTx/>
                  <a:uFillTx/>
                  <a:latin typeface="Arial" panose="020B0604020202020204"/>
                  <a:ea typeface="+mn-ea"/>
                  <a:cs typeface="+mn-cs"/>
                </a:rPr>
                <a:t>Summary</a:t>
              </a:r>
            </a:p>
          </p:txBody>
        </p:sp>
        <p:sp>
          <p:nvSpPr>
            <p:cNvPr id="360" name="Rectangle 359">
              <a:extLst>
                <a:ext uri="{FF2B5EF4-FFF2-40B4-BE49-F238E27FC236}">
                  <a16:creationId xmlns:a16="http://schemas.microsoft.com/office/drawing/2014/main" id="{40DA6FD3-D74F-4BA2-F102-D7F3C054BE37}"/>
                </a:ext>
              </a:extLst>
            </p:cNvPr>
            <p:cNvSpPr/>
            <p:nvPr/>
          </p:nvSpPr>
          <p:spPr>
            <a:xfrm>
              <a:off x="3075906" y="2461047"/>
              <a:ext cx="72797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000" b="0" i="0" u="none" strike="noStrike" kern="1200" cap="none" spc="0" normalizeH="0" baseline="0" noProof="0">
                  <a:ln>
                    <a:noFill/>
                  </a:ln>
                  <a:solidFill>
                    <a:srgbClr val="1B1D36"/>
                  </a:solidFill>
                  <a:effectLst/>
                  <a:uLnTx/>
                  <a:uFillTx/>
                  <a:latin typeface="Arial" panose="020B0604020202020204"/>
                  <a:ea typeface="+mn-ea"/>
                  <a:cs typeface="+mn-cs"/>
                </a:rPr>
                <a:t>Monitor</a:t>
              </a:r>
            </a:p>
          </p:txBody>
        </p:sp>
        <p:sp>
          <p:nvSpPr>
            <p:cNvPr id="361" name="Rectangle 360">
              <a:extLst>
                <a:ext uri="{FF2B5EF4-FFF2-40B4-BE49-F238E27FC236}">
                  <a16:creationId xmlns:a16="http://schemas.microsoft.com/office/drawing/2014/main" id="{AB4D297E-444F-CF8D-4EBC-E5BB7CAB9DEA}"/>
                </a:ext>
              </a:extLst>
            </p:cNvPr>
            <p:cNvSpPr/>
            <p:nvPr/>
          </p:nvSpPr>
          <p:spPr>
            <a:xfrm>
              <a:off x="3868261" y="2461047"/>
              <a:ext cx="628939"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Configure</a:t>
              </a:r>
            </a:p>
          </p:txBody>
        </p:sp>
        <p:sp>
          <p:nvSpPr>
            <p:cNvPr id="362" name="Rectangle 361">
              <a:extLst>
                <a:ext uri="{FF2B5EF4-FFF2-40B4-BE49-F238E27FC236}">
                  <a16:creationId xmlns:a16="http://schemas.microsoft.com/office/drawing/2014/main" id="{2F21E494-8099-2637-5BC3-5822939E9C46}"/>
                </a:ext>
              </a:extLst>
            </p:cNvPr>
            <p:cNvSpPr/>
            <p:nvPr/>
          </p:nvSpPr>
          <p:spPr>
            <a:xfrm>
              <a:off x="4789586" y="2461047"/>
              <a:ext cx="808462"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Permissions</a:t>
              </a:r>
            </a:p>
          </p:txBody>
        </p:sp>
        <p:cxnSp>
          <p:nvCxnSpPr>
            <p:cNvPr id="364" name="Straight Connector 363">
              <a:extLst>
                <a:ext uri="{FF2B5EF4-FFF2-40B4-BE49-F238E27FC236}">
                  <a16:creationId xmlns:a16="http://schemas.microsoft.com/office/drawing/2014/main" id="{7D880964-4539-7FD8-5682-8129F51F58D6}"/>
                </a:ext>
              </a:extLst>
            </p:cNvPr>
            <p:cNvCxnSpPr>
              <a:cxnSpLocks/>
            </p:cNvCxnSpPr>
            <p:nvPr/>
          </p:nvCxnSpPr>
          <p:spPr bwMode="gray">
            <a:xfrm>
              <a:off x="3051280" y="2660112"/>
              <a:ext cx="521273"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374" name="Rectangle 373">
            <a:extLst>
              <a:ext uri="{FF2B5EF4-FFF2-40B4-BE49-F238E27FC236}">
                <a16:creationId xmlns:a16="http://schemas.microsoft.com/office/drawing/2014/main" id="{5ACD0052-672A-F566-5A65-AB325A6028CF}"/>
              </a:ext>
            </a:extLst>
          </p:cNvPr>
          <p:cNvSpPr/>
          <p:nvPr/>
        </p:nvSpPr>
        <p:spPr>
          <a:xfrm>
            <a:off x="2078038" y="2311209"/>
            <a:ext cx="1129200" cy="221616"/>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vSAN Health</a:t>
            </a:r>
            <a:endPar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endParaRPr>
          </a:p>
        </p:txBody>
      </p:sp>
      <p:cxnSp>
        <p:nvCxnSpPr>
          <p:cNvPr id="375" name="Straight Connector 374">
            <a:extLst>
              <a:ext uri="{FF2B5EF4-FFF2-40B4-BE49-F238E27FC236}">
                <a16:creationId xmlns:a16="http://schemas.microsoft.com/office/drawing/2014/main" id="{A01943CA-1694-38B6-6B90-9D3CEAA2D4DC}"/>
              </a:ext>
            </a:extLst>
          </p:cNvPr>
          <p:cNvCxnSpPr>
            <a:cxnSpLocks/>
          </p:cNvCxnSpPr>
          <p:nvPr/>
        </p:nvCxnSpPr>
        <p:spPr>
          <a:xfrm flipV="1">
            <a:off x="3608927" y="2588720"/>
            <a:ext cx="0" cy="875607"/>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5" name="Text Placeholder 34">
            <a:extLst>
              <a:ext uri="{FF2B5EF4-FFF2-40B4-BE49-F238E27FC236}">
                <a16:creationId xmlns:a16="http://schemas.microsoft.com/office/drawing/2014/main" id="{ABA6F208-87F0-2972-526B-5F57C7FC78C5}"/>
              </a:ext>
            </a:extLst>
          </p:cNvPr>
          <p:cNvSpPr txBox="1">
            <a:spLocks/>
          </p:cNvSpPr>
          <p:nvPr/>
        </p:nvSpPr>
        <p:spPr>
          <a:xfrm>
            <a:off x="2078038" y="3628366"/>
            <a:ext cx="1234527"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Health Findings</a:t>
            </a:r>
          </a:p>
        </p:txBody>
      </p:sp>
      <p:grpSp>
        <p:nvGrpSpPr>
          <p:cNvPr id="386" name="Group 385">
            <a:extLst>
              <a:ext uri="{FF2B5EF4-FFF2-40B4-BE49-F238E27FC236}">
                <a16:creationId xmlns:a16="http://schemas.microsoft.com/office/drawing/2014/main" id="{F4DA7C69-1E93-0204-1A81-7EE55EA532EA}"/>
              </a:ext>
            </a:extLst>
          </p:cNvPr>
          <p:cNvGrpSpPr/>
          <p:nvPr/>
        </p:nvGrpSpPr>
        <p:grpSpPr>
          <a:xfrm>
            <a:off x="2078038" y="3776817"/>
            <a:ext cx="3595023" cy="177470"/>
            <a:chOff x="2747185" y="4858694"/>
            <a:chExt cx="3595023" cy="177470"/>
          </a:xfrm>
        </p:grpSpPr>
        <p:sp>
          <p:nvSpPr>
            <p:cNvPr id="387" name="Rectangle 386">
              <a:extLst>
                <a:ext uri="{FF2B5EF4-FFF2-40B4-BE49-F238E27FC236}">
                  <a16:creationId xmlns:a16="http://schemas.microsoft.com/office/drawing/2014/main" id="{810D492F-0686-4A0F-B7E2-55BB917024C7}"/>
                </a:ext>
              </a:extLst>
            </p:cNvPr>
            <p:cNvSpPr/>
            <p:nvPr/>
          </p:nvSpPr>
          <p:spPr>
            <a:xfrm>
              <a:off x="2747185" y="4858694"/>
              <a:ext cx="1055331" cy="177470"/>
            </a:xfrm>
            <a:prstGeom prst="rect">
              <a:avLst/>
            </a:prstGeom>
            <a:solidFill>
              <a:schemeClr val="accent3"/>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388" name="TextBox 387">
              <a:extLst>
                <a:ext uri="{FF2B5EF4-FFF2-40B4-BE49-F238E27FC236}">
                  <a16:creationId xmlns:a16="http://schemas.microsoft.com/office/drawing/2014/main" id="{55139AF7-2F40-E720-28AD-B5F2919EA04F}"/>
                </a:ext>
              </a:extLst>
            </p:cNvPr>
            <p:cNvSpPr txBox="1"/>
            <p:nvPr/>
          </p:nvSpPr>
          <p:spPr>
            <a:xfrm>
              <a:off x="2792849" y="4878180"/>
              <a:ext cx="964002" cy="138499"/>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Arial" panose="020B0604020202020204"/>
                  <a:ea typeface="+mn-ea"/>
                  <a:cs typeface="+mn-cs"/>
                </a:rPr>
                <a:t>UNHEALTHY (2)</a:t>
              </a:r>
            </a:p>
          </p:txBody>
        </p:sp>
        <p:grpSp>
          <p:nvGrpSpPr>
            <p:cNvPr id="389" name="Group 388">
              <a:extLst>
                <a:ext uri="{FF2B5EF4-FFF2-40B4-BE49-F238E27FC236}">
                  <a16:creationId xmlns:a16="http://schemas.microsoft.com/office/drawing/2014/main" id="{9DC71806-9334-2D4A-D656-266753CAA889}"/>
                </a:ext>
              </a:extLst>
            </p:cNvPr>
            <p:cNvGrpSpPr/>
            <p:nvPr/>
          </p:nvGrpSpPr>
          <p:grpSpPr>
            <a:xfrm>
              <a:off x="3803439" y="4858694"/>
              <a:ext cx="892993" cy="177470"/>
              <a:chOff x="2289144" y="1378072"/>
              <a:chExt cx="892993" cy="177470"/>
            </a:xfrm>
          </p:grpSpPr>
          <p:sp>
            <p:nvSpPr>
              <p:cNvPr id="396" name="Rectangle 395">
                <a:extLst>
                  <a:ext uri="{FF2B5EF4-FFF2-40B4-BE49-F238E27FC236}">
                    <a16:creationId xmlns:a16="http://schemas.microsoft.com/office/drawing/2014/main" id="{5C9AB472-16A5-A7FB-B53E-B0A208C344A4}"/>
                  </a:ext>
                </a:extLst>
              </p:cNvPr>
              <p:cNvSpPr/>
              <p:nvPr/>
            </p:nvSpPr>
            <p:spPr>
              <a:xfrm>
                <a:off x="2289144" y="1378072"/>
                <a:ext cx="892993" cy="177470"/>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7" name="TextBox 396">
                <a:extLst>
                  <a:ext uri="{FF2B5EF4-FFF2-40B4-BE49-F238E27FC236}">
                    <a16:creationId xmlns:a16="http://schemas.microsoft.com/office/drawing/2014/main" id="{C8769887-B36F-663C-40FC-43B2BAC9F778}"/>
                  </a:ext>
                </a:extLst>
              </p:cNvPr>
              <p:cNvSpPr txBox="1"/>
              <p:nvPr/>
            </p:nvSpPr>
            <p:spPr>
              <a:xfrm>
                <a:off x="2311831" y="1397558"/>
                <a:ext cx="847618" cy="138499"/>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900" b="0" i="0" u="none" strike="noStrike" kern="1200" cap="none" spc="0" normalizeH="0" baseline="0" noProof="0" dirty="0">
                    <a:ln>
                      <a:noFill/>
                    </a:ln>
                    <a:solidFill>
                      <a:srgbClr val="0098C7"/>
                    </a:solidFill>
                    <a:effectLst/>
                    <a:uLnTx/>
                    <a:uFillTx/>
                    <a:latin typeface="Arial" panose="020B0604020202020204"/>
                    <a:ea typeface="+mn-ea"/>
                    <a:cs typeface="+mn-cs"/>
                  </a:rPr>
                  <a:t>HEALTHY (49)</a:t>
                </a:r>
              </a:p>
            </p:txBody>
          </p:sp>
        </p:grpSp>
        <p:grpSp>
          <p:nvGrpSpPr>
            <p:cNvPr id="390" name="Group 389">
              <a:extLst>
                <a:ext uri="{FF2B5EF4-FFF2-40B4-BE49-F238E27FC236}">
                  <a16:creationId xmlns:a16="http://schemas.microsoft.com/office/drawing/2014/main" id="{24F01F7A-C7A7-3BCE-5A84-609C34C78590}"/>
                </a:ext>
              </a:extLst>
            </p:cNvPr>
            <p:cNvGrpSpPr/>
            <p:nvPr/>
          </p:nvGrpSpPr>
          <p:grpSpPr>
            <a:xfrm>
              <a:off x="4696448" y="4858694"/>
              <a:ext cx="720802" cy="177470"/>
              <a:chOff x="2463039" y="1378072"/>
              <a:chExt cx="720802" cy="177470"/>
            </a:xfrm>
          </p:grpSpPr>
          <p:sp>
            <p:nvSpPr>
              <p:cNvPr id="394" name="Rectangle 393">
                <a:extLst>
                  <a:ext uri="{FF2B5EF4-FFF2-40B4-BE49-F238E27FC236}">
                    <a16:creationId xmlns:a16="http://schemas.microsoft.com/office/drawing/2014/main" id="{648CAA51-2BB7-6E3A-0A60-F1671FC1517F}"/>
                  </a:ext>
                </a:extLst>
              </p:cNvPr>
              <p:cNvSpPr/>
              <p:nvPr/>
            </p:nvSpPr>
            <p:spPr>
              <a:xfrm>
                <a:off x="2463039" y="1378072"/>
                <a:ext cx="720802" cy="177470"/>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5" name="TextBox 394">
                <a:extLst>
                  <a:ext uri="{FF2B5EF4-FFF2-40B4-BE49-F238E27FC236}">
                    <a16:creationId xmlns:a16="http://schemas.microsoft.com/office/drawing/2014/main" id="{D522DEB5-4C56-374A-3A34-4035ED2956FF}"/>
                  </a:ext>
                </a:extLst>
              </p:cNvPr>
              <p:cNvSpPr txBox="1"/>
              <p:nvPr/>
            </p:nvSpPr>
            <p:spPr>
              <a:xfrm>
                <a:off x="2511823" y="1397558"/>
                <a:ext cx="623234" cy="138499"/>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900" b="0" i="0" u="none" strike="noStrike" kern="1200" cap="none" spc="0" normalizeH="0" baseline="0" noProof="0" dirty="0">
                    <a:ln>
                      <a:noFill/>
                    </a:ln>
                    <a:solidFill>
                      <a:srgbClr val="0098C7"/>
                    </a:solidFill>
                    <a:effectLst/>
                    <a:uLnTx/>
                    <a:uFillTx/>
                    <a:latin typeface="Arial" panose="020B0604020202020204"/>
                    <a:ea typeface="+mn-ea"/>
                    <a:cs typeface="+mn-cs"/>
                  </a:rPr>
                  <a:t>INFO (2)</a:t>
                </a:r>
              </a:p>
            </p:txBody>
          </p:sp>
        </p:grpSp>
        <p:grpSp>
          <p:nvGrpSpPr>
            <p:cNvPr id="391" name="Group 390">
              <a:extLst>
                <a:ext uri="{FF2B5EF4-FFF2-40B4-BE49-F238E27FC236}">
                  <a16:creationId xmlns:a16="http://schemas.microsoft.com/office/drawing/2014/main" id="{69E4A786-6EAF-216F-6012-94627D64D002}"/>
                </a:ext>
              </a:extLst>
            </p:cNvPr>
            <p:cNvGrpSpPr/>
            <p:nvPr/>
          </p:nvGrpSpPr>
          <p:grpSpPr>
            <a:xfrm>
              <a:off x="5417250" y="4858694"/>
              <a:ext cx="924958" cy="177470"/>
              <a:chOff x="2463039" y="1378072"/>
              <a:chExt cx="924958" cy="177470"/>
            </a:xfrm>
          </p:grpSpPr>
          <p:sp>
            <p:nvSpPr>
              <p:cNvPr id="392" name="Rectangle 391">
                <a:extLst>
                  <a:ext uri="{FF2B5EF4-FFF2-40B4-BE49-F238E27FC236}">
                    <a16:creationId xmlns:a16="http://schemas.microsoft.com/office/drawing/2014/main" id="{4400D55F-F89E-08C1-730F-B024AA5FDD07}"/>
                  </a:ext>
                </a:extLst>
              </p:cNvPr>
              <p:cNvSpPr/>
              <p:nvPr/>
            </p:nvSpPr>
            <p:spPr>
              <a:xfrm>
                <a:off x="2463039" y="1378072"/>
                <a:ext cx="924958" cy="177470"/>
              </a:xfrm>
              <a:prstGeom prst="rect">
                <a:avLst/>
              </a:prstGeom>
              <a:no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3" name="TextBox 392">
                <a:extLst>
                  <a:ext uri="{FF2B5EF4-FFF2-40B4-BE49-F238E27FC236}">
                    <a16:creationId xmlns:a16="http://schemas.microsoft.com/office/drawing/2014/main" id="{2465CC80-1D0E-642B-D3F9-AFEC31F400B1}"/>
                  </a:ext>
                </a:extLst>
              </p:cNvPr>
              <p:cNvSpPr txBox="1"/>
              <p:nvPr/>
            </p:nvSpPr>
            <p:spPr>
              <a:xfrm>
                <a:off x="2511822" y="1397558"/>
                <a:ext cx="838453" cy="138499"/>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900" b="0" i="0" u="none" strike="noStrike" kern="1200" cap="none" spc="0" normalizeH="0" baseline="0" noProof="0" dirty="0">
                    <a:ln>
                      <a:noFill/>
                    </a:ln>
                    <a:solidFill>
                      <a:srgbClr val="0098C7"/>
                    </a:solidFill>
                    <a:effectLst/>
                    <a:uLnTx/>
                    <a:uFillTx/>
                    <a:latin typeface="Arial" panose="020B0604020202020204"/>
                    <a:ea typeface="+mn-ea"/>
                    <a:cs typeface="+mn-cs"/>
                  </a:rPr>
                  <a:t>SILENCED (1)</a:t>
                </a:r>
              </a:p>
            </p:txBody>
          </p:sp>
        </p:grpSp>
      </p:grpSp>
      <p:cxnSp>
        <p:nvCxnSpPr>
          <p:cNvPr id="398" name="Straight Connector 397">
            <a:extLst>
              <a:ext uri="{FF2B5EF4-FFF2-40B4-BE49-F238E27FC236}">
                <a16:creationId xmlns:a16="http://schemas.microsoft.com/office/drawing/2014/main" id="{036281A4-7143-3A22-F99A-97C522F96E43}"/>
              </a:ext>
            </a:extLst>
          </p:cNvPr>
          <p:cNvCxnSpPr>
            <a:cxnSpLocks/>
          </p:cNvCxnSpPr>
          <p:nvPr/>
        </p:nvCxnSpPr>
        <p:spPr>
          <a:xfrm flipV="1">
            <a:off x="2078038" y="4038614"/>
            <a:ext cx="0" cy="473999"/>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B51CB0D0-E314-283D-70F3-C0D62B948291}"/>
              </a:ext>
            </a:extLst>
          </p:cNvPr>
          <p:cNvCxnSpPr>
            <a:cxnSpLocks/>
          </p:cNvCxnSpPr>
          <p:nvPr/>
        </p:nvCxnSpPr>
        <p:spPr>
          <a:xfrm flipV="1">
            <a:off x="5557085" y="4038614"/>
            <a:ext cx="0" cy="473999"/>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6438E5F5-CC9E-84F8-EE76-648DAE7717CC}"/>
              </a:ext>
            </a:extLst>
          </p:cNvPr>
          <p:cNvCxnSpPr>
            <a:cxnSpLocks/>
          </p:cNvCxnSpPr>
          <p:nvPr/>
        </p:nvCxnSpPr>
        <p:spPr>
          <a:xfrm>
            <a:off x="2078038" y="4038614"/>
            <a:ext cx="3479047"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3" name="Rectangle 332">
            <a:extLst>
              <a:ext uri="{FF2B5EF4-FFF2-40B4-BE49-F238E27FC236}">
                <a16:creationId xmlns:a16="http://schemas.microsoft.com/office/drawing/2014/main" id="{D9BC4A32-9E69-DED7-FBFE-61837D3C5A6F}"/>
              </a:ext>
            </a:extLst>
          </p:cNvPr>
          <p:cNvSpPr/>
          <p:nvPr/>
        </p:nvSpPr>
        <p:spPr>
          <a:xfrm>
            <a:off x="580814" y="2852132"/>
            <a:ext cx="1236269" cy="369332"/>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58B3F"/>
                </a:solidFill>
                <a:effectLst/>
                <a:uLnTx/>
                <a:uFillTx/>
                <a:latin typeface="Arial" panose="020B0604020202020204"/>
                <a:ea typeface="+mn-ea"/>
                <a:cs typeface="+mn-cs"/>
              </a:rPr>
              <a:t>Weighted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58B3F"/>
                </a:solidFill>
                <a:effectLst/>
                <a:uLnTx/>
                <a:uFillTx/>
                <a:latin typeface="Arial" panose="020B0604020202020204"/>
                <a:ea typeface="+mn-ea"/>
                <a:cs typeface="+mn-cs"/>
              </a:rPr>
              <a:t>score &amp; history</a:t>
            </a:r>
          </a:p>
        </p:txBody>
      </p:sp>
      <p:cxnSp>
        <p:nvCxnSpPr>
          <p:cNvPr id="335" name="Straight Connector 334">
            <a:extLst>
              <a:ext uri="{FF2B5EF4-FFF2-40B4-BE49-F238E27FC236}">
                <a16:creationId xmlns:a16="http://schemas.microsoft.com/office/drawing/2014/main" id="{E080113A-E0F5-4855-0A2E-225A5B72E6C0}"/>
              </a:ext>
            </a:extLst>
          </p:cNvPr>
          <p:cNvCxnSpPr>
            <a:cxnSpLocks/>
          </p:cNvCxnSpPr>
          <p:nvPr/>
        </p:nvCxnSpPr>
        <p:spPr bwMode="gray">
          <a:xfrm flipH="1">
            <a:off x="1731373" y="4331291"/>
            <a:ext cx="288290" cy="0"/>
          </a:xfrm>
          <a:prstGeom prst="line">
            <a:avLst/>
          </a:prstGeom>
          <a:ln w="25400">
            <a:solidFill>
              <a:srgbClr val="D58B3F"/>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336" name="Rectangle 335">
            <a:extLst>
              <a:ext uri="{FF2B5EF4-FFF2-40B4-BE49-F238E27FC236}">
                <a16:creationId xmlns:a16="http://schemas.microsoft.com/office/drawing/2014/main" id="{D68A175A-9D06-7C54-469E-3AD58B44784E}"/>
              </a:ext>
            </a:extLst>
          </p:cNvPr>
          <p:cNvSpPr/>
          <p:nvPr/>
        </p:nvSpPr>
        <p:spPr>
          <a:xfrm>
            <a:off x="580814" y="4043356"/>
            <a:ext cx="1400630" cy="369332"/>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58B3F"/>
                </a:solidFill>
                <a:effectLst/>
                <a:uLnTx/>
                <a:uFillTx/>
                <a:latin typeface="Arial" panose="020B0604020202020204"/>
                <a:ea typeface="+mn-ea"/>
                <a:cs typeface="+mn-cs"/>
              </a:rPr>
              <a:t>Prioritized issues with remedies</a:t>
            </a:r>
          </a:p>
        </p:txBody>
      </p:sp>
      <p:cxnSp>
        <p:nvCxnSpPr>
          <p:cNvPr id="349" name="Straight Connector 348">
            <a:extLst>
              <a:ext uri="{FF2B5EF4-FFF2-40B4-BE49-F238E27FC236}">
                <a16:creationId xmlns:a16="http://schemas.microsoft.com/office/drawing/2014/main" id="{D1F56C76-4FBC-8A01-521B-3EEC49118CC5}"/>
              </a:ext>
            </a:extLst>
          </p:cNvPr>
          <p:cNvCxnSpPr>
            <a:cxnSpLocks/>
          </p:cNvCxnSpPr>
          <p:nvPr/>
        </p:nvCxnSpPr>
        <p:spPr bwMode="gray">
          <a:xfrm flipH="1">
            <a:off x="1731373" y="3158400"/>
            <a:ext cx="427766" cy="0"/>
          </a:xfrm>
          <a:prstGeom prst="line">
            <a:avLst/>
          </a:prstGeom>
          <a:ln w="25400">
            <a:solidFill>
              <a:srgbClr val="D58B3F"/>
            </a:solidFill>
            <a:miter lim="800000"/>
            <a:headEnd type="diamond" w="lg" len="lg"/>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7535A5F4-F4AF-52AD-9551-C4E0B8DDADF6}"/>
              </a:ext>
            </a:extLst>
          </p:cNvPr>
          <p:cNvGrpSpPr/>
          <p:nvPr/>
        </p:nvGrpSpPr>
        <p:grpSpPr>
          <a:xfrm>
            <a:off x="2141019" y="4114020"/>
            <a:ext cx="130094" cy="130094"/>
            <a:chOff x="3433640" y="5318191"/>
            <a:chExt cx="270000" cy="270000"/>
          </a:xfrm>
        </p:grpSpPr>
        <p:sp>
          <p:nvSpPr>
            <p:cNvPr id="146" name="Oval 145">
              <a:extLst>
                <a:ext uri="{FF2B5EF4-FFF2-40B4-BE49-F238E27FC236}">
                  <a16:creationId xmlns:a16="http://schemas.microsoft.com/office/drawing/2014/main" id="{45F99F92-D82B-F65A-1841-486F03F77F21}"/>
                </a:ext>
              </a:extLst>
            </p:cNvPr>
            <p:cNvSpPr/>
            <p:nvPr/>
          </p:nvSpPr>
          <p:spPr>
            <a:xfrm>
              <a:off x="3433640" y="5318191"/>
              <a:ext cx="270000" cy="270000"/>
            </a:xfrm>
            <a:prstGeom prst="ellipse">
              <a:avLst/>
            </a:prstGeom>
            <a:solidFill>
              <a:srgbClr val="9F2842"/>
            </a:solidFill>
            <a:ln w="28575">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marR="0" lvl="0" indent="0" algn="ctr" defTabSz="914400" rtl="0" eaLnBrk="1" fontAlgn="auto" latinLnBrk="0" hangingPunct="1">
                <a:lnSpc>
                  <a:spcPct val="100000"/>
                </a:lnSpc>
                <a:spcBef>
                  <a:spcPts val="0"/>
                </a:spcBef>
                <a:spcAft>
                  <a:spcPts val="800"/>
                </a:spcAft>
                <a:buClrTx/>
                <a:buSzTx/>
                <a:buFontTx/>
                <a:buNone/>
                <a:tabLst/>
                <a:defRPr/>
              </a:pPr>
              <a:endParaRPr kumimoji="0" lang="en-US" sz="15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52" name="Freeform 2">
              <a:extLst>
                <a:ext uri="{FF2B5EF4-FFF2-40B4-BE49-F238E27FC236}">
                  <a16:creationId xmlns:a16="http://schemas.microsoft.com/office/drawing/2014/main" id="{E461C12D-CF61-30EF-DC13-AE6273F5DE06}"/>
                </a:ext>
              </a:extLst>
            </p:cNvPr>
            <p:cNvSpPr>
              <a:spLocks noChangeArrowheads="1"/>
            </p:cNvSpPr>
            <p:nvPr/>
          </p:nvSpPr>
          <p:spPr bwMode="auto">
            <a:xfrm>
              <a:off x="3544056" y="5376477"/>
              <a:ext cx="45719" cy="153428"/>
            </a:xfrm>
            <a:custGeom>
              <a:avLst/>
              <a:gdLst>
                <a:gd name="T0" fmla="*/ 9 w 1994"/>
                <a:gd name="T1" fmla="*/ 565 h 7890"/>
                <a:gd name="T2" fmla="*/ 17 w 1994"/>
                <a:gd name="T3" fmla="*/ 344 h 7890"/>
                <a:gd name="T4" fmla="*/ 79 w 1994"/>
                <a:gd name="T5" fmla="*/ 203 h 7890"/>
                <a:gd name="T6" fmla="*/ 132 w 1994"/>
                <a:gd name="T7" fmla="*/ 123 h 7890"/>
                <a:gd name="T8" fmla="*/ 212 w 1994"/>
                <a:gd name="T9" fmla="*/ 61 h 7890"/>
                <a:gd name="T10" fmla="*/ 300 w 1994"/>
                <a:gd name="T11" fmla="*/ 17 h 7890"/>
                <a:gd name="T12" fmla="*/ 397 w 1994"/>
                <a:gd name="T13" fmla="*/ 0 h 7890"/>
                <a:gd name="T14" fmla="*/ 1543 w 1994"/>
                <a:gd name="T15" fmla="*/ 0 h 7890"/>
                <a:gd name="T16" fmla="*/ 1596 w 1994"/>
                <a:gd name="T17" fmla="*/ 0 h 7890"/>
                <a:gd name="T18" fmla="*/ 1702 w 1994"/>
                <a:gd name="T19" fmla="*/ 17 h 7890"/>
                <a:gd name="T20" fmla="*/ 1781 w 1994"/>
                <a:gd name="T21" fmla="*/ 61 h 7890"/>
                <a:gd name="T22" fmla="*/ 1861 w 1994"/>
                <a:gd name="T23" fmla="*/ 123 h 7890"/>
                <a:gd name="T24" fmla="*/ 1914 w 1994"/>
                <a:gd name="T25" fmla="*/ 203 h 7890"/>
                <a:gd name="T26" fmla="*/ 1976 w 1994"/>
                <a:gd name="T27" fmla="*/ 344 h 7890"/>
                <a:gd name="T28" fmla="*/ 1984 w 1994"/>
                <a:gd name="T29" fmla="*/ 565 h 7890"/>
                <a:gd name="T30" fmla="*/ 1508 w 1994"/>
                <a:gd name="T31" fmla="*/ 4756 h 7890"/>
                <a:gd name="T32" fmla="*/ 1455 w 1994"/>
                <a:gd name="T33" fmla="*/ 4959 h 7890"/>
                <a:gd name="T34" fmla="*/ 1340 w 1994"/>
                <a:gd name="T35" fmla="*/ 5109 h 7890"/>
                <a:gd name="T36" fmla="*/ 1190 w 1994"/>
                <a:gd name="T37" fmla="*/ 5206 h 7890"/>
                <a:gd name="T38" fmla="*/ 997 w 1994"/>
                <a:gd name="T39" fmla="*/ 5241 h 7890"/>
                <a:gd name="T40" fmla="*/ 900 w 1994"/>
                <a:gd name="T41" fmla="*/ 5232 h 7890"/>
                <a:gd name="T42" fmla="*/ 723 w 1994"/>
                <a:gd name="T43" fmla="*/ 5162 h 7890"/>
                <a:gd name="T44" fmla="*/ 591 w 1994"/>
                <a:gd name="T45" fmla="*/ 5038 h 7890"/>
                <a:gd name="T46" fmla="*/ 503 w 1994"/>
                <a:gd name="T47" fmla="*/ 4861 h 7890"/>
                <a:gd name="T48" fmla="*/ 9 w 1994"/>
                <a:gd name="T49" fmla="*/ 565 h 7890"/>
                <a:gd name="T50" fmla="*/ 997 w 1994"/>
                <a:gd name="T51" fmla="*/ 5973 h 7890"/>
                <a:gd name="T52" fmla="*/ 1199 w 1994"/>
                <a:gd name="T53" fmla="*/ 5991 h 7890"/>
                <a:gd name="T54" fmla="*/ 1384 w 1994"/>
                <a:gd name="T55" fmla="*/ 6053 h 7890"/>
                <a:gd name="T56" fmla="*/ 1552 w 1994"/>
                <a:gd name="T57" fmla="*/ 6132 h 7890"/>
                <a:gd name="T58" fmla="*/ 1693 w 1994"/>
                <a:gd name="T59" fmla="*/ 6247 h 7890"/>
                <a:gd name="T60" fmla="*/ 1808 w 1994"/>
                <a:gd name="T61" fmla="*/ 6388 h 7890"/>
                <a:gd name="T62" fmla="*/ 1896 w 1994"/>
                <a:gd name="T63" fmla="*/ 6547 h 7890"/>
                <a:gd name="T64" fmla="*/ 1949 w 1994"/>
                <a:gd name="T65" fmla="*/ 6732 h 7890"/>
                <a:gd name="T66" fmla="*/ 1967 w 1994"/>
                <a:gd name="T67" fmla="*/ 6927 h 7890"/>
                <a:gd name="T68" fmla="*/ 1967 w 1994"/>
                <a:gd name="T69" fmla="*/ 6944 h 7890"/>
                <a:gd name="T70" fmla="*/ 1949 w 1994"/>
                <a:gd name="T71" fmla="*/ 7138 h 7890"/>
                <a:gd name="T72" fmla="*/ 1896 w 1994"/>
                <a:gd name="T73" fmla="*/ 7315 h 7890"/>
                <a:gd name="T74" fmla="*/ 1808 w 1994"/>
                <a:gd name="T75" fmla="*/ 7483 h 7890"/>
                <a:gd name="T76" fmla="*/ 1693 w 1994"/>
                <a:gd name="T77" fmla="*/ 7615 h 7890"/>
                <a:gd name="T78" fmla="*/ 1552 w 1994"/>
                <a:gd name="T79" fmla="*/ 7730 h 7890"/>
                <a:gd name="T80" fmla="*/ 1384 w 1994"/>
                <a:gd name="T81" fmla="*/ 7818 h 7890"/>
                <a:gd name="T82" fmla="*/ 1199 w 1994"/>
                <a:gd name="T83" fmla="*/ 7871 h 7890"/>
                <a:gd name="T84" fmla="*/ 997 w 1994"/>
                <a:gd name="T85" fmla="*/ 7889 h 7890"/>
                <a:gd name="T86" fmla="*/ 891 w 1994"/>
                <a:gd name="T87" fmla="*/ 7889 h 7890"/>
                <a:gd name="T88" fmla="*/ 706 w 1994"/>
                <a:gd name="T89" fmla="*/ 7853 h 7890"/>
                <a:gd name="T90" fmla="*/ 529 w 1994"/>
                <a:gd name="T91" fmla="*/ 7783 h 7890"/>
                <a:gd name="T92" fmla="*/ 370 w 1994"/>
                <a:gd name="T93" fmla="*/ 7677 h 7890"/>
                <a:gd name="T94" fmla="*/ 247 w 1994"/>
                <a:gd name="T95" fmla="*/ 7553 h 7890"/>
                <a:gd name="T96" fmla="*/ 141 w 1994"/>
                <a:gd name="T97" fmla="*/ 7403 h 7890"/>
                <a:gd name="T98" fmla="*/ 70 w 1994"/>
                <a:gd name="T99" fmla="*/ 7236 h 7890"/>
                <a:gd name="T100" fmla="*/ 35 w 1994"/>
                <a:gd name="T101" fmla="*/ 7041 h 7890"/>
                <a:gd name="T102" fmla="*/ 26 w 1994"/>
                <a:gd name="T103" fmla="*/ 6927 h 7890"/>
                <a:gd name="T104" fmla="*/ 35 w 1994"/>
                <a:gd name="T105" fmla="*/ 6821 h 7890"/>
                <a:gd name="T106" fmla="*/ 70 w 1994"/>
                <a:gd name="T107" fmla="*/ 6635 h 7890"/>
                <a:gd name="T108" fmla="*/ 141 w 1994"/>
                <a:gd name="T109" fmla="*/ 6468 h 7890"/>
                <a:gd name="T110" fmla="*/ 247 w 1994"/>
                <a:gd name="T111" fmla="*/ 6318 h 7890"/>
                <a:gd name="T112" fmla="*/ 370 w 1994"/>
                <a:gd name="T113" fmla="*/ 6185 h 7890"/>
                <a:gd name="T114" fmla="*/ 529 w 1994"/>
                <a:gd name="T115" fmla="*/ 6088 h 7890"/>
                <a:gd name="T116" fmla="*/ 706 w 1994"/>
                <a:gd name="T117" fmla="*/ 6018 h 7890"/>
                <a:gd name="T118" fmla="*/ 891 w 1994"/>
                <a:gd name="T119" fmla="*/ 5982 h 7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4" h="7890">
                  <a:moveTo>
                    <a:pt x="9" y="565"/>
                  </a:moveTo>
                  <a:lnTo>
                    <a:pt x="9" y="565"/>
                  </a:lnTo>
                  <a:lnTo>
                    <a:pt x="0" y="450"/>
                  </a:lnTo>
                  <a:lnTo>
                    <a:pt x="17" y="344"/>
                  </a:lnTo>
                  <a:lnTo>
                    <a:pt x="53" y="247"/>
                  </a:lnTo>
                  <a:lnTo>
                    <a:pt x="79" y="203"/>
                  </a:lnTo>
                  <a:lnTo>
                    <a:pt x="106" y="159"/>
                  </a:lnTo>
                  <a:lnTo>
                    <a:pt x="132" y="123"/>
                  </a:lnTo>
                  <a:lnTo>
                    <a:pt x="168" y="88"/>
                  </a:lnTo>
                  <a:lnTo>
                    <a:pt x="212" y="61"/>
                  </a:lnTo>
                  <a:lnTo>
                    <a:pt x="247" y="44"/>
                  </a:lnTo>
                  <a:lnTo>
                    <a:pt x="300" y="17"/>
                  </a:lnTo>
                  <a:lnTo>
                    <a:pt x="344" y="9"/>
                  </a:lnTo>
                  <a:lnTo>
                    <a:pt x="397" y="0"/>
                  </a:lnTo>
                  <a:lnTo>
                    <a:pt x="450" y="0"/>
                  </a:lnTo>
                  <a:lnTo>
                    <a:pt x="1543" y="0"/>
                  </a:lnTo>
                  <a:lnTo>
                    <a:pt x="1543" y="0"/>
                  </a:lnTo>
                  <a:lnTo>
                    <a:pt x="1596" y="0"/>
                  </a:lnTo>
                  <a:lnTo>
                    <a:pt x="1649" y="9"/>
                  </a:lnTo>
                  <a:lnTo>
                    <a:pt x="1702" y="17"/>
                  </a:lnTo>
                  <a:lnTo>
                    <a:pt x="1746" y="44"/>
                  </a:lnTo>
                  <a:lnTo>
                    <a:pt x="1781" y="61"/>
                  </a:lnTo>
                  <a:lnTo>
                    <a:pt x="1825" y="88"/>
                  </a:lnTo>
                  <a:lnTo>
                    <a:pt x="1861" y="123"/>
                  </a:lnTo>
                  <a:lnTo>
                    <a:pt x="1887" y="159"/>
                  </a:lnTo>
                  <a:lnTo>
                    <a:pt x="1914" y="203"/>
                  </a:lnTo>
                  <a:lnTo>
                    <a:pt x="1940" y="247"/>
                  </a:lnTo>
                  <a:lnTo>
                    <a:pt x="1976" y="344"/>
                  </a:lnTo>
                  <a:lnTo>
                    <a:pt x="1993" y="450"/>
                  </a:lnTo>
                  <a:lnTo>
                    <a:pt x="1984" y="565"/>
                  </a:lnTo>
                  <a:lnTo>
                    <a:pt x="1508" y="4756"/>
                  </a:lnTo>
                  <a:lnTo>
                    <a:pt x="1508" y="4756"/>
                  </a:lnTo>
                  <a:lnTo>
                    <a:pt x="1490" y="4861"/>
                  </a:lnTo>
                  <a:lnTo>
                    <a:pt x="1455" y="4959"/>
                  </a:lnTo>
                  <a:lnTo>
                    <a:pt x="1402" y="5038"/>
                  </a:lnTo>
                  <a:lnTo>
                    <a:pt x="1340" y="5109"/>
                  </a:lnTo>
                  <a:lnTo>
                    <a:pt x="1270" y="5162"/>
                  </a:lnTo>
                  <a:lnTo>
                    <a:pt x="1190" y="5206"/>
                  </a:lnTo>
                  <a:lnTo>
                    <a:pt x="1093" y="5232"/>
                  </a:lnTo>
                  <a:lnTo>
                    <a:pt x="997" y="5241"/>
                  </a:lnTo>
                  <a:lnTo>
                    <a:pt x="997" y="5241"/>
                  </a:lnTo>
                  <a:lnTo>
                    <a:pt x="900" y="5232"/>
                  </a:lnTo>
                  <a:lnTo>
                    <a:pt x="803" y="5206"/>
                  </a:lnTo>
                  <a:lnTo>
                    <a:pt x="723" y="5162"/>
                  </a:lnTo>
                  <a:lnTo>
                    <a:pt x="653" y="5109"/>
                  </a:lnTo>
                  <a:lnTo>
                    <a:pt x="591" y="5038"/>
                  </a:lnTo>
                  <a:lnTo>
                    <a:pt x="538" y="4959"/>
                  </a:lnTo>
                  <a:lnTo>
                    <a:pt x="503" y="4861"/>
                  </a:lnTo>
                  <a:lnTo>
                    <a:pt x="485" y="4756"/>
                  </a:lnTo>
                  <a:lnTo>
                    <a:pt x="9" y="565"/>
                  </a:lnTo>
                  <a:close/>
                  <a:moveTo>
                    <a:pt x="997" y="5973"/>
                  </a:moveTo>
                  <a:lnTo>
                    <a:pt x="997" y="5973"/>
                  </a:lnTo>
                  <a:lnTo>
                    <a:pt x="1102" y="5982"/>
                  </a:lnTo>
                  <a:lnTo>
                    <a:pt x="1199" y="5991"/>
                  </a:lnTo>
                  <a:lnTo>
                    <a:pt x="1296" y="6018"/>
                  </a:lnTo>
                  <a:lnTo>
                    <a:pt x="1384" y="6053"/>
                  </a:lnTo>
                  <a:lnTo>
                    <a:pt x="1464" y="6088"/>
                  </a:lnTo>
                  <a:lnTo>
                    <a:pt x="1552" y="6132"/>
                  </a:lnTo>
                  <a:lnTo>
                    <a:pt x="1623" y="6185"/>
                  </a:lnTo>
                  <a:lnTo>
                    <a:pt x="1693" y="6247"/>
                  </a:lnTo>
                  <a:lnTo>
                    <a:pt x="1755" y="6318"/>
                  </a:lnTo>
                  <a:lnTo>
                    <a:pt x="1808" y="6388"/>
                  </a:lnTo>
                  <a:lnTo>
                    <a:pt x="1852" y="6468"/>
                  </a:lnTo>
                  <a:lnTo>
                    <a:pt x="1896" y="6547"/>
                  </a:lnTo>
                  <a:lnTo>
                    <a:pt x="1923" y="6635"/>
                  </a:lnTo>
                  <a:lnTo>
                    <a:pt x="1949" y="6732"/>
                  </a:lnTo>
                  <a:lnTo>
                    <a:pt x="1958" y="6821"/>
                  </a:lnTo>
                  <a:lnTo>
                    <a:pt x="1967" y="6927"/>
                  </a:lnTo>
                  <a:lnTo>
                    <a:pt x="1967" y="6944"/>
                  </a:lnTo>
                  <a:lnTo>
                    <a:pt x="1967" y="6944"/>
                  </a:lnTo>
                  <a:lnTo>
                    <a:pt x="1958" y="7041"/>
                  </a:lnTo>
                  <a:lnTo>
                    <a:pt x="1949" y="7138"/>
                  </a:lnTo>
                  <a:lnTo>
                    <a:pt x="1923" y="7236"/>
                  </a:lnTo>
                  <a:lnTo>
                    <a:pt x="1896" y="7315"/>
                  </a:lnTo>
                  <a:lnTo>
                    <a:pt x="1852" y="7403"/>
                  </a:lnTo>
                  <a:lnTo>
                    <a:pt x="1808" y="7483"/>
                  </a:lnTo>
                  <a:lnTo>
                    <a:pt x="1755" y="7553"/>
                  </a:lnTo>
                  <a:lnTo>
                    <a:pt x="1693" y="7615"/>
                  </a:lnTo>
                  <a:lnTo>
                    <a:pt x="1623" y="7677"/>
                  </a:lnTo>
                  <a:lnTo>
                    <a:pt x="1552" y="7730"/>
                  </a:lnTo>
                  <a:lnTo>
                    <a:pt x="1464" y="7783"/>
                  </a:lnTo>
                  <a:lnTo>
                    <a:pt x="1384" y="7818"/>
                  </a:lnTo>
                  <a:lnTo>
                    <a:pt x="1296" y="7853"/>
                  </a:lnTo>
                  <a:lnTo>
                    <a:pt x="1199" y="7871"/>
                  </a:lnTo>
                  <a:lnTo>
                    <a:pt x="1102" y="7889"/>
                  </a:lnTo>
                  <a:lnTo>
                    <a:pt x="997" y="7889"/>
                  </a:lnTo>
                  <a:lnTo>
                    <a:pt x="997" y="7889"/>
                  </a:lnTo>
                  <a:lnTo>
                    <a:pt x="891" y="7889"/>
                  </a:lnTo>
                  <a:lnTo>
                    <a:pt x="794" y="7871"/>
                  </a:lnTo>
                  <a:lnTo>
                    <a:pt x="706" y="7853"/>
                  </a:lnTo>
                  <a:lnTo>
                    <a:pt x="609" y="7818"/>
                  </a:lnTo>
                  <a:lnTo>
                    <a:pt x="529" y="7783"/>
                  </a:lnTo>
                  <a:lnTo>
                    <a:pt x="450" y="7730"/>
                  </a:lnTo>
                  <a:lnTo>
                    <a:pt x="370" y="7677"/>
                  </a:lnTo>
                  <a:lnTo>
                    <a:pt x="309" y="7615"/>
                  </a:lnTo>
                  <a:lnTo>
                    <a:pt x="247" y="7553"/>
                  </a:lnTo>
                  <a:lnTo>
                    <a:pt x="185" y="7483"/>
                  </a:lnTo>
                  <a:lnTo>
                    <a:pt x="141" y="7403"/>
                  </a:lnTo>
                  <a:lnTo>
                    <a:pt x="106" y="7315"/>
                  </a:lnTo>
                  <a:lnTo>
                    <a:pt x="70" y="7236"/>
                  </a:lnTo>
                  <a:lnTo>
                    <a:pt x="44" y="7138"/>
                  </a:lnTo>
                  <a:lnTo>
                    <a:pt x="35" y="7041"/>
                  </a:lnTo>
                  <a:lnTo>
                    <a:pt x="26" y="6944"/>
                  </a:lnTo>
                  <a:lnTo>
                    <a:pt x="26" y="6927"/>
                  </a:lnTo>
                  <a:lnTo>
                    <a:pt x="26" y="6927"/>
                  </a:lnTo>
                  <a:lnTo>
                    <a:pt x="35" y="6821"/>
                  </a:lnTo>
                  <a:lnTo>
                    <a:pt x="44" y="6732"/>
                  </a:lnTo>
                  <a:lnTo>
                    <a:pt x="70" y="6635"/>
                  </a:lnTo>
                  <a:lnTo>
                    <a:pt x="106" y="6547"/>
                  </a:lnTo>
                  <a:lnTo>
                    <a:pt x="141" y="6468"/>
                  </a:lnTo>
                  <a:lnTo>
                    <a:pt x="185" y="6388"/>
                  </a:lnTo>
                  <a:lnTo>
                    <a:pt x="247" y="6318"/>
                  </a:lnTo>
                  <a:lnTo>
                    <a:pt x="309" y="6247"/>
                  </a:lnTo>
                  <a:lnTo>
                    <a:pt x="370" y="6185"/>
                  </a:lnTo>
                  <a:lnTo>
                    <a:pt x="450" y="6132"/>
                  </a:lnTo>
                  <a:lnTo>
                    <a:pt x="529" y="6088"/>
                  </a:lnTo>
                  <a:lnTo>
                    <a:pt x="609" y="6053"/>
                  </a:lnTo>
                  <a:lnTo>
                    <a:pt x="706" y="6018"/>
                  </a:lnTo>
                  <a:lnTo>
                    <a:pt x="794" y="5991"/>
                  </a:lnTo>
                  <a:lnTo>
                    <a:pt x="891" y="5982"/>
                  </a:lnTo>
                  <a:lnTo>
                    <a:pt x="997" y="597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53" name="Text Placeholder 34">
            <a:extLst>
              <a:ext uri="{FF2B5EF4-FFF2-40B4-BE49-F238E27FC236}">
                <a16:creationId xmlns:a16="http://schemas.microsoft.com/office/drawing/2014/main" id="{604CEA57-BFC3-511B-AE3E-4231FE374BA5}"/>
              </a:ext>
            </a:extLst>
          </p:cNvPr>
          <p:cNvSpPr txBox="1">
            <a:spLocks/>
          </p:cNvSpPr>
          <p:nvPr/>
        </p:nvSpPr>
        <p:spPr>
          <a:xfrm>
            <a:off x="2323101" y="4098472"/>
            <a:ext cx="1364068" cy="145642"/>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vSAN object health</a:t>
            </a:r>
          </a:p>
        </p:txBody>
      </p:sp>
      <p:sp>
        <p:nvSpPr>
          <p:cNvPr id="193" name="Flowchart: Terminator 192">
            <a:extLst>
              <a:ext uri="{FF2B5EF4-FFF2-40B4-BE49-F238E27FC236}">
                <a16:creationId xmlns:a16="http://schemas.microsoft.com/office/drawing/2014/main" id="{99C29004-D041-49DD-4C5B-0BF38B552B5A}"/>
              </a:ext>
            </a:extLst>
          </p:cNvPr>
          <p:cNvSpPr/>
          <p:nvPr/>
        </p:nvSpPr>
        <p:spPr>
          <a:xfrm>
            <a:off x="2945533" y="4301833"/>
            <a:ext cx="755693" cy="210780"/>
          </a:xfrm>
          <a:prstGeom prst="flowChartTerminator">
            <a:avLst/>
          </a:prstGeom>
          <a:solidFill>
            <a:schemeClr val="accent3">
              <a:alpha val="25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4" name="Rectangle 193">
            <a:extLst>
              <a:ext uri="{FF2B5EF4-FFF2-40B4-BE49-F238E27FC236}">
                <a16:creationId xmlns:a16="http://schemas.microsoft.com/office/drawing/2014/main" id="{331BEDF9-406D-9E2C-33D7-73B786CC2193}"/>
              </a:ext>
            </a:extLst>
          </p:cNvPr>
          <p:cNvSpPr/>
          <p:nvPr/>
        </p:nvSpPr>
        <p:spPr>
          <a:xfrm>
            <a:off x="2971108" y="4331321"/>
            <a:ext cx="730117" cy="15180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Availability</a:t>
            </a:r>
          </a:p>
        </p:txBody>
      </p:sp>
      <p:sp>
        <p:nvSpPr>
          <p:cNvPr id="195" name="Text Placeholder 34">
            <a:extLst>
              <a:ext uri="{FF2B5EF4-FFF2-40B4-BE49-F238E27FC236}">
                <a16:creationId xmlns:a16="http://schemas.microsoft.com/office/drawing/2014/main" id="{8BFC2A43-4D06-C987-CFF5-9B437BF3AA42}"/>
              </a:ext>
            </a:extLst>
          </p:cNvPr>
          <p:cNvSpPr txBox="1">
            <a:spLocks/>
          </p:cNvSpPr>
          <p:nvPr/>
        </p:nvSpPr>
        <p:spPr>
          <a:xfrm>
            <a:off x="2141019" y="4333065"/>
            <a:ext cx="874358" cy="145642"/>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Impact area:</a:t>
            </a:r>
          </a:p>
        </p:txBody>
      </p:sp>
      <p:grpSp>
        <p:nvGrpSpPr>
          <p:cNvPr id="213" name="Group 212">
            <a:extLst>
              <a:ext uri="{FF2B5EF4-FFF2-40B4-BE49-F238E27FC236}">
                <a16:creationId xmlns:a16="http://schemas.microsoft.com/office/drawing/2014/main" id="{7053F642-4129-3295-66BA-826939608E96}"/>
              </a:ext>
            </a:extLst>
          </p:cNvPr>
          <p:cNvGrpSpPr/>
          <p:nvPr/>
        </p:nvGrpSpPr>
        <p:grpSpPr>
          <a:xfrm>
            <a:off x="4730071" y="4085992"/>
            <a:ext cx="755693" cy="210780"/>
            <a:chOff x="3702136" y="4879352"/>
            <a:chExt cx="755693" cy="210780"/>
          </a:xfrm>
        </p:grpSpPr>
        <p:sp>
          <p:nvSpPr>
            <p:cNvPr id="338" name="Flowchart: Terminator 337">
              <a:extLst>
                <a:ext uri="{FF2B5EF4-FFF2-40B4-BE49-F238E27FC236}">
                  <a16:creationId xmlns:a16="http://schemas.microsoft.com/office/drawing/2014/main" id="{3F9F1CBB-E16F-22E7-2747-345D5E00AAD5}"/>
                </a:ext>
              </a:extLst>
            </p:cNvPr>
            <p:cNvSpPr/>
            <p:nvPr/>
          </p:nvSpPr>
          <p:spPr>
            <a:xfrm>
              <a:off x="3702136" y="4879352"/>
              <a:ext cx="755693" cy="210780"/>
            </a:xfrm>
            <a:prstGeom prst="flowChartTerminator">
              <a:avLst/>
            </a:prstGeom>
            <a:solidFill>
              <a:schemeClr val="bg1">
                <a:lumMod val="75000"/>
                <a:alpha val="25000"/>
              </a:schemeClr>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9" name="Rectangle 338">
              <a:extLst>
                <a:ext uri="{FF2B5EF4-FFF2-40B4-BE49-F238E27FC236}">
                  <a16:creationId xmlns:a16="http://schemas.microsoft.com/office/drawing/2014/main" id="{D4ADEB7C-2537-2AD2-8E66-8B9B1A234901}"/>
                </a:ext>
              </a:extLst>
            </p:cNvPr>
            <p:cNvSpPr/>
            <p:nvPr/>
          </p:nvSpPr>
          <p:spPr>
            <a:xfrm>
              <a:off x="3727711" y="4908840"/>
              <a:ext cx="730117" cy="15180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Impact -40</a:t>
              </a:r>
            </a:p>
          </p:txBody>
        </p:sp>
      </p:grpSp>
      <p:sp>
        <p:nvSpPr>
          <p:cNvPr id="367" name="Text Placeholder 34">
            <a:extLst>
              <a:ext uri="{FF2B5EF4-FFF2-40B4-BE49-F238E27FC236}">
                <a16:creationId xmlns:a16="http://schemas.microsoft.com/office/drawing/2014/main" id="{D3A658FB-54B1-61E3-DA35-4950EBCF00FA}"/>
              </a:ext>
            </a:extLst>
          </p:cNvPr>
          <p:cNvSpPr txBox="1">
            <a:spLocks/>
          </p:cNvSpPr>
          <p:nvPr/>
        </p:nvSpPr>
        <p:spPr>
          <a:xfrm>
            <a:off x="3639751" y="2588720"/>
            <a:ext cx="1364068"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Health score trend</a:t>
            </a:r>
          </a:p>
        </p:txBody>
      </p:sp>
      <p:grpSp>
        <p:nvGrpSpPr>
          <p:cNvPr id="612" name="Group 611">
            <a:extLst>
              <a:ext uri="{FF2B5EF4-FFF2-40B4-BE49-F238E27FC236}">
                <a16:creationId xmlns:a16="http://schemas.microsoft.com/office/drawing/2014/main" id="{30DAEA50-3740-DE51-E708-9528D942276F}"/>
              </a:ext>
            </a:extLst>
          </p:cNvPr>
          <p:cNvGrpSpPr/>
          <p:nvPr/>
        </p:nvGrpSpPr>
        <p:grpSpPr>
          <a:xfrm>
            <a:off x="3793488" y="2806754"/>
            <a:ext cx="2006773" cy="657573"/>
            <a:chOff x="3793488" y="2806754"/>
            <a:chExt cx="2006773" cy="657573"/>
          </a:xfrm>
        </p:grpSpPr>
        <p:cxnSp>
          <p:nvCxnSpPr>
            <p:cNvPr id="406" name="Straight Connector 405">
              <a:extLst>
                <a:ext uri="{FF2B5EF4-FFF2-40B4-BE49-F238E27FC236}">
                  <a16:creationId xmlns:a16="http://schemas.microsoft.com/office/drawing/2014/main" id="{3B30BC05-9CD8-78DE-7F45-149E33455581}"/>
                </a:ext>
              </a:extLst>
            </p:cNvPr>
            <p:cNvCxnSpPr>
              <a:cxnSpLocks/>
            </p:cNvCxnSpPr>
            <p:nvPr/>
          </p:nvCxnSpPr>
          <p:spPr>
            <a:xfrm>
              <a:off x="3793488" y="2806754"/>
              <a:ext cx="2006773" cy="0"/>
            </a:xfrm>
            <a:prstGeom prst="line">
              <a:avLst/>
            </a:prstGeom>
            <a:ln w="317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F5612C39-2656-F815-C0EC-6A9F2BA03F54}"/>
                </a:ext>
              </a:extLst>
            </p:cNvPr>
            <p:cNvCxnSpPr>
              <a:cxnSpLocks/>
            </p:cNvCxnSpPr>
            <p:nvPr/>
          </p:nvCxnSpPr>
          <p:spPr>
            <a:xfrm>
              <a:off x="3793488" y="3025945"/>
              <a:ext cx="2006773" cy="0"/>
            </a:xfrm>
            <a:prstGeom prst="line">
              <a:avLst/>
            </a:prstGeom>
            <a:ln w="3175">
              <a:solidFill>
                <a:schemeClr val="tx1"/>
              </a:solidFill>
              <a:prstDash val="sysDot"/>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2F673825-1253-F7AC-AB3E-581FB02C7679}"/>
                </a:ext>
              </a:extLst>
            </p:cNvPr>
            <p:cNvCxnSpPr>
              <a:cxnSpLocks/>
            </p:cNvCxnSpPr>
            <p:nvPr/>
          </p:nvCxnSpPr>
          <p:spPr>
            <a:xfrm>
              <a:off x="3793488" y="3245136"/>
              <a:ext cx="2006773" cy="0"/>
            </a:xfrm>
            <a:prstGeom prst="line">
              <a:avLst/>
            </a:prstGeom>
            <a:ln w="3175">
              <a:solidFill>
                <a:schemeClr val="tx1"/>
              </a:solidFill>
              <a:prstDash val="sysDot"/>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9" name="Rectangle 408">
              <a:extLst>
                <a:ext uri="{FF2B5EF4-FFF2-40B4-BE49-F238E27FC236}">
                  <a16:creationId xmlns:a16="http://schemas.microsoft.com/office/drawing/2014/main" id="{2A6FCFDD-1139-A941-25B9-1278F6CA25E0}"/>
                </a:ext>
              </a:extLst>
            </p:cNvPr>
            <p:cNvSpPr/>
            <p:nvPr/>
          </p:nvSpPr>
          <p:spPr>
            <a:xfrm>
              <a:off x="3793489" y="3176080"/>
              <a:ext cx="2006772" cy="288247"/>
            </a:xfrm>
            <a:prstGeom prst="rect">
              <a:avLst/>
            </a:prstGeom>
            <a:solidFill>
              <a:srgbClr val="9F2842">
                <a:alpha val="1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2" name="Rectangle 411">
              <a:extLst>
                <a:ext uri="{FF2B5EF4-FFF2-40B4-BE49-F238E27FC236}">
                  <a16:creationId xmlns:a16="http://schemas.microsoft.com/office/drawing/2014/main" id="{18285F79-7AB3-931D-2D10-AECB4E4DE742}"/>
                </a:ext>
              </a:extLst>
            </p:cNvPr>
            <p:cNvSpPr/>
            <p:nvPr/>
          </p:nvSpPr>
          <p:spPr>
            <a:xfrm>
              <a:off x="3793488" y="2963657"/>
              <a:ext cx="2006773" cy="214526"/>
            </a:xfrm>
            <a:prstGeom prst="rect">
              <a:avLst/>
            </a:prstGeom>
            <a:solidFill>
              <a:srgbClr val="EC7700">
                <a:alpha val="1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68" name="Straight Connector 367">
              <a:extLst>
                <a:ext uri="{FF2B5EF4-FFF2-40B4-BE49-F238E27FC236}">
                  <a16:creationId xmlns:a16="http://schemas.microsoft.com/office/drawing/2014/main" id="{F12A89B6-198D-4D30-2545-CB12776BF2DA}"/>
                </a:ext>
              </a:extLst>
            </p:cNvPr>
            <p:cNvCxnSpPr>
              <a:cxnSpLocks/>
            </p:cNvCxnSpPr>
            <p:nvPr/>
          </p:nvCxnSpPr>
          <p:spPr>
            <a:xfrm>
              <a:off x="3793488" y="3464327"/>
              <a:ext cx="2006773" cy="0"/>
            </a:xfrm>
            <a:prstGeom prst="line">
              <a:avLst/>
            </a:prstGeom>
            <a:ln w="317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19" name="Group 418">
            <a:extLst>
              <a:ext uri="{FF2B5EF4-FFF2-40B4-BE49-F238E27FC236}">
                <a16:creationId xmlns:a16="http://schemas.microsoft.com/office/drawing/2014/main" id="{5EB38DCC-2F1C-B283-A8E9-8CB2B7980E60}"/>
              </a:ext>
            </a:extLst>
          </p:cNvPr>
          <p:cNvGrpSpPr/>
          <p:nvPr/>
        </p:nvGrpSpPr>
        <p:grpSpPr>
          <a:xfrm>
            <a:off x="3795532" y="2833683"/>
            <a:ext cx="2004729" cy="433389"/>
            <a:chOff x="3924709" y="2833683"/>
            <a:chExt cx="2004729" cy="433389"/>
          </a:xfrm>
        </p:grpSpPr>
        <p:cxnSp>
          <p:nvCxnSpPr>
            <p:cNvPr id="294" name="Straight Connector 293">
              <a:extLst>
                <a:ext uri="{FF2B5EF4-FFF2-40B4-BE49-F238E27FC236}">
                  <a16:creationId xmlns:a16="http://schemas.microsoft.com/office/drawing/2014/main" id="{3A2651FC-190B-B2E9-FAEA-B74DEBE3DEDE}"/>
                </a:ext>
              </a:extLst>
            </p:cNvPr>
            <p:cNvCxnSpPr>
              <a:cxnSpLocks/>
            </p:cNvCxnSpPr>
            <p:nvPr/>
          </p:nvCxnSpPr>
          <p:spPr bwMode="gray">
            <a:xfrm>
              <a:off x="3924709" y="2838270"/>
              <a:ext cx="214955" cy="0"/>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E3188817-1233-57ED-7BEE-8333E5A4BBDC}"/>
                </a:ext>
              </a:extLst>
            </p:cNvPr>
            <p:cNvCxnSpPr>
              <a:cxnSpLocks/>
            </p:cNvCxnSpPr>
            <p:nvPr/>
          </p:nvCxnSpPr>
          <p:spPr bwMode="gray">
            <a:xfrm>
              <a:off x="4132620" y="2837390"/>
              <a:ext cx="214955" cy="0"/>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483DE636-805A-44E7-BA3A-56EF69DB7699}"/>
                </a:ext>
              </a:extLst>
            </p:cNvPr>
            <p:cNvCxnSpPr>
              <a:cxnSpLocks/>
            </p:cNvCxnSpPr>
            <p:nvPr/>
          </p:nvCxnSpPr>
          <p:spPr bwMode="gray">
            <a:xfrm>
              <a:off x="4344627" y="2837390"/>
              <a:ext cx="60072" cy="293671"/>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8" name="Straight Connector 297">
              <a:extLst>
                <a:ext uri="{FF2B5EF4-FFF2-40B4-BE49-F238E27FC236}">
                  <a16:creationId xmlns:a16="http://schemas.microsoft.com/office/drawing/2014/main" id="{1217F788-D865-F5DD-8354-94FFF68C3359}"/>
                </a:ext>
              </a:extLst>
            </p:cNvPr>
            <p:cNvCxnSpPr>
              <a:cxnSpLocks/>
            </p:cNvCxnSpPr>
            <p:nvPr/>
          </p:nvCxnSpPr>
          <p:spPr bwMode="gray">
            <a:xfrm>
              <a:off x="4401336" y="3124722"/>
              <a:ext cx="180425" cy="82141"/>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9" name="Straight Connector 298">
              <a:extLst>
                <a:ext uri="{FF2B5EF4-FFF2-40B4-BE49-F238E27FC236}">
                  <a16:creationId xmlns:a16="http://schemas.microsoft.com/office/drawing/2014/main" id="{CCC2A379-572D-7EF6-8924-0B56851D4396}"/>
                </a:ext>
              </a:extLst>
            </p:cNvPr>
            <p:cNvCxnSpPr>
              <a:cxnSpLocks/>
            </p:cNvCxnSpPr>
            <p:nvPr/>
          </p:nvCxnSpPr>
          <p:spPr bwMode="gray">
            <a:xfrm>
              <a:off x="4580636" y="3205962"/>
              <a:ext cx="190893" cy="28481"/>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2" name="Straight Connector 301">
              <a:extLst>
                <a:ext uri="{FF2B5EF4-FFF2-40B4-BE49-F238E27FC236}">
                  <a16:creationId xmlns:a16="http://schemas.microsoft.com/office/drawing/2014/main" id="{35BA3058-E723-0C9E-C5B8-42F257B827BA}"/>
                </a:ext>
              </a:extLst>
            </p:cNvPr>
            <p:cNvCxnSpPr>
              <a:cxnSpLocks/>
            </p:cNvCxnSpPr>
            <p:nvPr/>
          </p:nvCxnSpPr>
          <p:spPr bwMode="gray">
            <a:xfrm>
              <a:off x="5086632" y="2837390"/>
              <a:ext cx="312869" cy="0"/>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471536F3-5B96-A543-98A5-64C4455505F1}"/>
                </a:ext>
              </a:extLst>
            </p:cNvPr>
            <p:cNvCxnSpPr>
              <a:cxnSpLocks/>
            </p:cNvCxnSpPr>
            <p:nvPr/>
          </p:nvCxnSpPr>
          <p:spPr bwMode="gray">
            <a:xfrm>
              <a:off x="5399501" y="2837390"/>
              <a:ext cx="257120" cy="0"/>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08CCE1D1-D54B-6DC5-D241-1DF98AD907C3}"/>
                </a:ext>
              </a:extLst>
            </p:cNvPr>
            <p:cNvCxnSpPr>
              <a:cxnSpLocks/>
            </p:cNvCxnSpPr>
            <p:nvPr/>
          </p:nvCxnSpPr>
          <p:spPr bwMode="gray">
            <a:xfrm>
              <a:off x="4771137" y="3233974"/>
              <a:ext cx="198840" cy="31599"/>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A9B686BF-41E6-E697-E51A-DEB42160320E}"/>
                </a:ext>
              </a:extLst>
            </p:cNvPr>
            <p:cNvCxnSpPr>
              <a:cxnSpLocks/>
            </p:cNvCxnSpPr>
            <p:nvPr/>
          </p:nvCxnSpPr>
          <p:spPr bwMode="gray">
            <a:xfrm flipV="1">
              <a:off x="4973125" y="2837390"/>
              <a:ext cx="113507" cy="429682"/>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1CDD3C1B-D12C-469B-CA6D-C00ABA2C2B49}"/>
                </a:ext>
              </a:extLst>
            </p:cNvPr>
            <p:cNvCxnSpPr>
              <a:cxnSpLocks/>
            </p:cNvCxnSpPr>
            <p:nvPr/>
          </p:nvCxnSpPr>
          <p:spPr bwMode="gray">
            <a:xfrm>
              <a:off x="5659466" y="2833683"/>
              <a:ext cx="68151" cy="170327"/>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4EED7DE8-65F5-D8D8-0A53-7F0B59844CB0}"/>
                </a:ext>
              </a:extLst>
            </p:cNvPr>
            <p:cNvCxnSpPr>
              <a:cxnSpLocks/>
            </p:cNvCxnSpPr>
            <p:nvPr/>
          </p:nvCxnSpPr>
          <p:spPr bwMode="gray">
            <a:xfrm flipV="1">
              <a:off x="5727617" y="2836357"/>
              <a:ext cx="150982" cy="175246"/>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CB181B62-A4B2-E344-7D29-5F86225C0993}"/>
                </a:ext>
              </a:extLst>
            </p:cNvPr>
            <p:cNvCxnSpPr>
              <a:cxnSpLocks/>
            </p:cNvCxnSpPr>
            <p:nvPr/>
          </p:nvCxnSpPr>
          <p:spPr bwMode="gray">
            <a:xfrm>
              <a:off x="5877051" y="2837390"/>
              <a:ext cx="52387" cy="0"/>
            </a:xfrm>
            <a:prstGeom prst="line">
              <a:avLst/>
            </a:prstGeom>
            <a:ln w="127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49" name="Group 448">
            <a:extLst>
              <a:ext uri="{FF2B5EF4-FFF2-40B4-BE49-F238E27FC236}">
                <a16:creationId xmlns:a16="http://schemas.microsoft.com/office/drawing/2014/main" id="{47B0BAD9-9E87-0DB4-416B-337C35191C2B}"/>
              </a:ext>
            </a:extLst>
          </p:cNvPr>
          <p:cNvGrpSpPr/>
          <p:nvPr/>
        </p:nvGrpSpPr>
        <p:grpSpPr>
          <a:xfrm>
            <a:off x="3191296" y="5829214"/>
            <a:ext cx="1475466" cy="315174"/>
            <a:chOff x="4470618" y="2423849"/>
            <a:chExt cx="1475466" cy="315174"/>
          </a:xfrm>
        </p:grpSpPr>
        <p:grpSp>
          <p:nvGrpSpPr>
            <p:cNvPr id="450" name="Group 449">
              <a:extLst>
                <a:ext uri="{FF2B5EF4-FFF2-40B4-BE49-F238E27FC236}">
                  <a16:creationId xmlns:a16="http://schemas.microsoft.com/office/drawing/2014/main" id="{F7A3EA43-7410-06FF-A16B-7F9FCB577F25}"/>
                </a:ext>
              </a:extLst>
            </p:cNvPr>
            <p:cNvGrpSpPr/>
            <p:nvPr/>
          </p:nvGrpSpPr>
          <p:grpSpPr>
            <a:xfrm>
              <a:off x="4476580" y="2423849"/>
              <a:ext cx="1469504" cy="123398"/>
              <a:chOff x="4476580" y="2519099"/>
              <a:chExt cx="1469504" cy="123398"/>
            </a:xfrm>
            <a:solidFill>
              <a:schemeClr val="accent4"/>
            </a:solidFill>
          </p:grpSpPr>
          <p:pic>
            <p:nvPicPr>
              <p:cNvPr id="457" name="Graphic 456">
                <a:extLst>
                  <a:ext uri="{FF2B5EF4-FFF2-40B4-BE49-F238E27FC236}">
                    <a16:creationId xmlns:a16="http://schemas.microsoft.com/office/drawing/2014/main" id="{05580F96-2215-CFF4-FBC9-580C9DFF2F6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476580" y="2519099"/>
                <a:ext cx="463680" cy="123398"/>
              </a:xfrm>
              <a:prstGeom prst="rect">
                <a:avLst/>
              </a:prstGeom>
            </p:spPr>
          </p:pic>
          <p:pic>
            <p:nvPicPr>
              <p:cNvPr id="459" name="Graphic 458">
                <a:extLst>
                  <a:ext uri="{FF2B5EF4-FFF2-40B4-BE49-F238E27FC236}">
                    <a16:creationId xmlns:a16="http://schemas.microsoft.com/office/drawing/2014/main" id="{678D749C-9B3C-6BAF-FBA1-63DD7C0A7E4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979492" y="2519099"/>
                <a:ext cx="463680" cy="123398"/>
              </a:xfrm>
              <a:prstGeom prst="rect">
                <a:avLst/>
              </a:prstGeom>
            </p:spPr>
          </p:pic>
          <p:pic>
            <p:nvPicPr>
              <p:cNvPr id="460" name="Graphic 459">
                <a:extLst>
                  <a:ext uri="{FF2B5EF4-FFF2-40B4-BE49-F238E27FC236}">
                    <a16:creationId xmlns:a16="http://schemas.microsoft.com/office/drawing/2014/main" id="{3146FD67-0C13-192A-FF7D-3D56AF04229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482404" y="2519099"/>
                <a:ext cx="463680" cy="123398"/>
              </a:xfrm>
              <a:prstGeom prst="rect">
                <a:avLst/>
              </a:prstGeom>
            </p:spPr>
          </p:pic>
        </p:grpSp>
        <p:grpSp>
          <p:nvGrpSpPr>
            <p:cNvPr id="451" name="Group 450">
              <a:extLst>
                <a:ext uri="{FF2B5EF4-FFF2-40B4-BE49-F238E27FC236}">
                  <a16:creationId xmlns:a16="http://schemas.microsoft.com/office/drawing/2014/main" id="{E559D294-9B86-C706-7327-0EEF26F06FAD}"/>
                </a:ext>
              </a:extLst>
            </p:cNvPr>
            <p:cNvGrpSpPr/>
            <p:nvPr/>
          </p:nvGrpSpPr>
          <p:grpSpPr>
            <a:xfrm>
              <a:off x="4470618" y="2584475"/>
              <a:ext cx="1475465" cy="154548"/>
              <a:chOff x="4470618" y="2679725"/>
              <a:chExt cx="1475465" cy="154548"/>
            </a:xfrm>
          </p:grpSpPr>
          <p:cxnSp>
            <p:nvCxnSpPr>
              <p:cNvPr id="452" name="Straight Connector 451">
                <a:extLst>
                  <a:ext uri="{FF2B5EF4-FFF2-40B4-BE49-F238E27FC236}">
                    <a16:creationId xmlns:a16="http://schemas.microsoft.com/office/drawing/2014/main" id="{8B888D10-2535-82CB-017A-DA1EF725B34E}"/>
                  </a:ext>
                </a:extLst>
              </p:cNvPr>
              <p:cNvCxnSpPr>
                <a:cxnSpLocks/>
              </p:cNvCxnSpPr>
              <p:nvPr/>
            </p:nvCxnSpPr>
            <p:spPr bwMode="gray">
              <a:xfrm>
                <a:off x="4476580" y="2679725"/>
                <a:ext cx="0" cy="87875"/>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6E0B7721-86EC-2E05-7301-ABDC7CF622D2}"/>
                  </a:ext>
                </a:extLst>
              </p:cNvPr>
              <p:cNvCxnSpPr>
                <a:cxnSpLocks/>
              </p:cNvCxnSpPr>
              <p:nvPr/>
            </p:nvCxnSpPr>
            <p:spPr bwMode="gray">
              <a:xfrm>
                <a:off x="5443172" y="2767600"/>
                <a:ext cx="502911"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776A2FB6-BDF2-FCC1-57C2-418B658343B2}"/>
                  </a:ext>
                </a:extLst>
              </p:cNvPr>
              <p:cNvCxnSpPr>
                <a:cxnSpLocks/>
              </p:cNvCxnSpPr>
              <p:nvPr/>
            </p:nvCxnSpPr>
            <p:spPr bwMode="gray">
              <a:xfrm>
                <a:off x="5946083" y="2679725"/>
                <a:ext cx="0" cy="87875"/>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AC65D90C-5B98-2CA2-EFCC-1B02996EFBAC}"/>
                  </a:ext>
                </a:extLst>
              </p:cNvPr>
              <p:cNvCxnSpPr>
                <a:cxnSpLocks/>
              </p:cNvCxnSpPr>
              <p:nvPr/>
            </p:nvCxnSpPr>
            <p:spPr bwMode="gray">
              <a:xfrm>
                <a:off x="4470618" y="2767600"/>
                <a:ext cx="508874"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56" name="TextBox 455">
                <a:extLst>
                  <a:ext uri="{FF2B5EF4-FFF2-40B4-BE49-F238E27FC236}">
                    <a16:creationId xmlns:a16="http://schemas.microsoft.com/office/drawing/2014/main" id="{D6548D6B-6443-55FB-6165-6C7A67642FF7}"/>
                  </a:ext>
                </a:extLst>
              </p:cNvPr>
              <p:cNvSpPr txBox="1"/>
              <p:nvPr/>
            </p:nvSpPr>
            <p:spPr>
              <a:xfrm>
                <a:off x="4821169" y="2680385"/>
                <a:ext cx="773024" cy="153888"/>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vSAN</a:t>
                </a:r>
              </a:p>
            </p:txBody>
          </p:sp>
        </p:grpSp>
      </p:grpSp>
      <p:grpSp>
        <p:nvGrpSpPr>
          <p:cNvPr id="463" name="Group 462">
            <a:extLst>
              <a:ext uri="{FF2B5EF4-FFF2-40B4-BE49-F238E27FC236}">
                <a16:creationId xmlns:a16="http://schemas.microsoft.com/office/drawing/2014/main" id="{F68F5724-313E-AF05-8C28-B1576DE8C17E}"/>
              </a:ext>
            </a:extLst>
          </p:cNvPr>
          <p:cNvGrpSpPr/>
          <p:nvPr/>
        </p:nvGrpSpPr>
        <p:grpSpPr>
          <a:xfrm>
            <a:off x="3195650" y="5558823"/>
            <a:ext cx="1466758" cy="209741"/>
            <a:chOff x="4902106" y="3243915"/>
            <a:chExt cx="1466758" cy="209741"/>
          </a:xfrm>
          <a:solidFill>
            <a:schemeClr val="accent1">
              <a:lumMod val="75000"/>
            </a:schemeClr>
          </a:solidFill>
        </p:grpSpPr>
        <p:pic>
          <p:nvPicPr>
            <p:cNvPr id="464" name="Graphic 463">
              <a:extLst>
                <a:ext uri="{FF2B5EF4-FFF2-40B4-BE49-F238E27FC236}">
                  <a16:creationId xmlns:a16="http://schemas.microsoft.com/office/drawing/2014/main" id="{95C2CC04-8079-8254-45DB-B8D08721029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154390" y="3243915"/>
              <a:ext cx="209741" cy="209741"/>
            </a:xfrm>
            <a:prstGeom prst="rect">
              <a:avLst/>
            </a:prstGeom>
          </p:spPr>
        </p:pic>
        <p:pic>
          <p:nvPicPr>
            <p:cNvPr id="465" name="Graphic 464">
              <a:extLst>
                <a:ext uri="{FF2B5EF4-FFF2-40B4-BE49-F238E27FC236}">
                  <a16:creationId xmlns:a16="http://schemas.microsoft.com/office/drawing/2014/main" id="{80F5AD9B-21BF-F104-509D-932BB93C334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902106" y="3243915"/>
              <a:ext cx="209741" cy="209741"/>
            </a:xfrm>
            <a:prstGeom prst="rect">
              <a:avLst/>
            </a:prstGeom>
          </p:spPr>
        </p:pic>
        <p:pic>
          <p:nvPicPr>
            <p:cNvPr id="466" name="Graphic 465">
              <a:extLst>
                <a:ext uri="{FF2B5EF4-FFF2-40B4-BE49-F238E27FC236}">
                  <a16:creationId xmlns:a16="http://schemas.microsoft.com/office/drawing/2014/main" id="{5F6A487B-3153-7ACB-CD71-B6275AD39EF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658957" y="3243915"/>
              <a:ext cx="209741" cy="209741"/>
            </a:xfrm>
            <a:prstGeom prst="rect">
              <a:avLst/>
            </a:prstGeom>
          </p:spPr>
        </p:pic>
        <p:pic>
          <p:nvPicPr>
            <p:cNvPr id="467" name="Graphic 466">
              <a:extLst>
                <a:ext uri="{FF2B5EF4-FFF2-40B4-BE49-F238E27FC236}">
                  <a16:creationId xmlns:a16="http://schemas.microsoft.com/office/drawing/2014/main" id="{AEAAAFD6-3D39-3F48-A302-AFE06066BA5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406674" y="3243915"/>
              <a:ext cx="209741" cy="209741"/>
            </a:xfrm>
            <a:prstGeom prst="rect">
              <a:avLst/>
            </a:prstGeom>
          </p:spPr>
        </p:pic>
        <p:pic>
          <p:nvPicPr>
            <p:cNvPr id="468" name="Graphic 467">
              <a:extLst>
                <a:ext uri="{FF2B5EF4-FFF2-40B4-BE49-F238E27FC236}">
                  <a16:creationId xmlns:a16="http://schemas.microsoft.com/office/drawing/2014/main" id="{FCCDB42A-AC81-3274-9DE6-2F4B3BC950D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159123" y="3243915"/>
              <a:ext cx="209741" cy="209741"/>
            </a:xfrm>
            <a:prstGeom prst="rect">
              <a:avLst/>
            </a:prstGeom>
          </p:spPr>
        </p:pic>
        <p:pic>
          <p:nvPicPr>
            <p:cNvPr id="469" name="Graphic 468">
              <a:extLst>
                <a:ext uri="{FF2B5EF4-FFF2-40B4-BE49-F238E27FC236}">
                  <a16:creationId xmlns:a16="http://schemas.microsoft.com/office/drawing/2014/main" id="{770F91EE-1043-01F1-65BF-4643578F971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906840" y="3243915"/>
              <a:ext cx="209741" cy="209741"/>
            </a:xfrm>
            <a:prstGeom prst="rect">
              <a:avLst/>
            </a:prstGeom>
          </p:spPr>
        </p:pic>
      </p:grpSp>
      <p:sp>
        <p:nvSpPr>
          <p:cNvPr id="482" name="Text Placeholder 34">
            <a:extLst>
              <a:ext uri="{FF2B5EF4-FFF2-40B4-BE49-F238E27FC236}">
                <a16:creationId xmlns:a16="http://schemas.microsoft.com/office/drawing/2014/main" id="{0B605571-0DEF-5E4F-99E8-11C91140F97B}"/>
              </a:ext>
            </a:extLst>
          </p:cNvPr>
          <p:cNvSpPr txBox="1">
            <a:spLocks/>
          </p:cNvSpPr>
          <p:nvPr/>
        </p:nvSpPr>
        <p:spPr>
          <a:xfrm>
            <a:off x="3124179" y="5095940"/>
            <a:ext cx="1609701"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1B1D36"/>
                </a:solidFill>
                <a:effectLst/>
                <a:uLnTx/>
                <a:uFillTx/>
                <a:latin typeface="Arial" panose="020B0604020202020204" pitchFamily="34" charset="0"/>
                <a:ea typeface="+mn-ea"/>
                <a:cs typeface="+mn-cs"/>
              </a:rPr>
              <a:t>Analyzes </a:t>
            </a: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Conditions</a:t>
            </a:r>
          </a:p>
        </p:txBody>
      </p:sp>
      <p:sp>
        <p:nvSpPr>
          <p:cNvPr id="483" name="Text Placeholder 34">
            <a:extLst>
              <a:ext uri="{FF2B5EF4-FFF2-40B4-BE49-F238E27FC236}">
                <a16:creationId xmlns:a16="http://schemas.microsoft.com/office/drawing/2014/main" id="{4423153D-E317-10B7-F4A0-30C1B8707718}"/>
              </a:ext>
            </a:extLst>
          </p:cNvPr>
          <p:cNvSpPr txBox="1">
            <a:spLocks/>
          </p:cNvSpPr>
          <p:nvPr/>
        </p:nvSpPr>
        <p:spPr>
          <a:xfrm>
            <a:off x="6363361" y="4455530"/>
            <a:ext cx="1490167"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Calculates Impact</a:t>
            </a:r>
          </a:p>
        </p:txBody>
      </p:sp>
      <p:grpSp>
        <p:nvGrpSpPr>
          <p:cNvPr id="499" name="Group 498">
            <a:extLst>
              <a:ext uri="{FF2B5EF4-FFF2-40B4-BE49-F238E27FC236}">
                <a16:creationId xmlns:a16="http://schemas.microsoft.com/office/drawing/2014/main" id="{5DA9AB09-FDBC-A2A8-F4D6-ACD045C6C82B}"/>
              </a:ext>
            </a:extLst>
          </p:cNvPr>
          <p:cNvGrpSpPr/>
          <p:nvPr/>
        </p:nvGrpSpPr>
        <p:grpSpPr>
          <a:xfrm>
            <a:off x="2479082" y="4797258"/>
            <a:ext cx="2899894" cy="265059"/>
            <a:chOff x="3261905" y="7434427"/>
            <a:chExt cx="2899894" cy="265059"/>
          </a:xfrm>
        </p:grpSpPr>
        <p:sp>
          <p:nvSpPr>
            <p:cNvPr id="420" name="Rectangle 419">
              <a:extLst>
                <a:ext uri="{FF2B5EF4-FFF2-40B4-BE49-F238E27FC236}">
                  <a16:creationId xmlns:a16="http://schemas.microsoft.com/office/drawing/2014/main" id="{9C396111-0086-BCC1-CBB6-AFB480F960DA}"/>
                </a:ext>
              </a:extLst>
            </p:cNvPr>
            <p:cNvSpPr/>
            <p:nvPr/>
          </p:nvSpPr>
          <p:spPr>
            <a:xfrm>
              <a:off x="3261905" y="7434427"/>
              <a:ext cx="2899894" cy="265059"/>
            </a:xfrm>
            <a:prstGeom prst="rect">
              <a:avLst/>
            </a:prstGeom>
            <a:solidFill>
              <a:schemeClr val="accent3">
                <a:alpha val="18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21" name="Text Placeholder 34">
              <a:extLst>
                <a:ext uri="{FF2B5EF4-FFF2-40B4-BE49-F238E27FC236}">
                  <a16:creationId xmlns:a16="http://schemas.microsoft.com/office/drawing/2014/main" id="{6395BE52-EA91-7214-86B7-B2A0CB8BA09C}"/>
                </a:ext>
              </a:extLst>
            </p:cNvPr>
            <p:cNvSpPr txBox="1">
              <a:spLocks/>
            </p:cNvSpPr>
            <p:nvPr/>
          </p:nvSpPr>
          <p:spPr>
            <a:xfrm>
              <a:off x="4386640" y="7495583"/>
              <a:ext cx="762632"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Category</a:t>
              </a:r>
            </a:p>
          </p:txBody>
        </p:sp>
        <p:sp>
          <p:nvSpPr>
            <p:cNvPr id="423" name="Text Placeholder 34">
              <a:extLst>
                <a:ext uri="{FF2B5EF4-FFF2-40B4-BE49-F238E27FC236}">
                  <a16:creationId xmlns:a16="http://schemas.microsoft.com/office/drawing/2014/main" id="{A17524DD-D03A-091D-4119-BB80EAD6FDAD}"/>
                </a:ext>
              </a:extLst>
            </p:cNvPr>
            <p:cNvSpPr txBox="1">
              <a:spLocks/>
            </p:cNvSpPr>
            <p:nvPr/>
          </p:nvSpPr>
          <p:spPr>
            <a:xfrm>
              <a:off x="3311838" y="7495583"/>
              <a:ext cx="931552"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Relationships</a:t>
              </a:r>
            </a:p>
          </p:txBody>
        </p:sp>
        <p:sp>
          <p:nvSpPr>
            <p:cNvPr id="424" name="Text Placeholder 34">
              <a:extLst>
                <a:ext uri="{FF2B5EF4-FFF2-40B4-BE49-F238E27FC236}">
                  <a16:creationId xmlns:a16="http://schemas.microsoft.com/office/drawing/2014/main" id="{ADACA18D-2B3E-521A-81E3-FFEF18F35DDE}"/>
                </a:ext>
              </a:extLst>
            </p:cNvPr>
            <p:cNvSpPr txBox="1">
              <a:spLocks/>
            </p:cNvSpPr>
            <p:nvPr/>
          </p:nvSpPr>
          <p:spPr>
            <a:xfrm>
              <a:off x="5338382" y="7495583"/>
              <a:ext cx="697429"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Priority</a:t>
              </a:r>
            </a:p>
          </p:txBody>
        </p:sp>
        <p:cxnSp>
          <p:nvCxnSpPr>
            <p:cNvPr id="486" name="Straight Connector 485">
              <a:extLst>
                <a:ext uri="{FF2B5EF4-FFF2-40B4-BE49-F238E27FC236}">
                  <a16:creationId xmlns:a16="http://schemas.microsoft.com/office/drawing/2014/main" id="{BF7FB318-060C-CD46-BB1A-6FA71C78603A}"/>
                </a:ext>
              </a:extLst>
            </p:cNvPr>
            <p:cNvCxnSpPr>
              <a:cxnSpLocks/>
            </p:cNvCxnSpPr>
            <p:nvPr/>
          </p:nvCxnSpPr>
          <p:spPr bwMode="gray">
            <a:xfrm>
              <a:off x="5255847" y="7504873"/>
              <a:ext cx="0" cy="124166"/>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94742AF1-3FE4-B6E5-26F1-A30C40CC1079}"/>
                </a:ext>
              </a:extLst>
            </p:cNvPr>
            <p:cNvCxnSpPr>
              <a:cxnSpLocks/>
            </p:cNvCxnSpPr>
            <p:nvPr/>
          </p:nvCxnSpPr>
          <p:spPr bwMode="gray">
            <a:xfrm>
              <a:off x="4326565" y="7504873"/>
              <a:ext cx="0" cy="124166"/>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513" name="Group 512">
            <a:extLst>
              <a:ext uri="{FF2B5EF4-FFF2-40B4-BE49-F238E27FC236}">
                <a16:creationId xmlns:a16="http://schemas.microsoft.com/office/drawing/2014/main" id="{C8A770A3-E7C9-A057-1040-AFFC0375C423}"/>
              </a:ext>
            </a:extLst>
          </p:cNvPr>
          <p:cNvGrpSpPr/>
          <p:nvPr/>
        </p:nvGrpSpPr>
        <p:grpSpPr>
          <a:xfrm>
            <a:off x="6210490" y="3948719"/>
            <a:ext cx="1795908" cy="473188"/>
            <a:chOff x="3571481" y="7068695"/>
            <a:chExt cx="1795908" cy="473188"/>
          </a:xfrm>
        </p:grpSpPr>
        <p:sp>
          <p:nvSpPr>
            <p:cNvPr id="502" name="Rectangle 501">
              <a:extLst>
                <a:ext uri="{FF2B5EF4-FFF2-40B4-BE49-F238E27FC236}">
                  <a16:creationId xmlns:a16="http://schemas.microsoft.com/office/drawing/2014/main" id="{14782E76-F422-EA79-5245-C9E190F921EF}"/>
                </a:ext>
              </a:extLst>
            </p:cNvPr>
            <p:cNvSpPr/>
            <p:nvPr/>
          </p:nvSpPr>
          <p:spPr>
            <a:xfrm>
              <a:off x="3571481" y="7068695"/>
              <a:ext cx="1772044" cy="473188"/>
            </a:xfrm>
            <a:prstGeom prst="rect">
              <a:avLst/>
            </a:prstGeom>
            <a:solidFill>
              <a:schemeClr val="accent3">
                <a:alpha val="18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3" name="Text Placeholder 34">
              <a:extLst>
                <a:ext uri="{FF2B5EF4-FFF2-40B4-BE49-F238E27FC236}">
                  <a16:creationId xmlns:a16="http://schemas.microsoft.com/office/drawing/2014/main" id="{86815246-1A2A-051F-BFCB-582400B79BD7}"/>
                </a:ext>
              </a:extLst>
            </p:cNvPr>
            <p:cNvSpPr txBox="1">
              <a:spLocks/>
            </p:cNvSpPr>
            <p:nvPr/>
          </p:nvSpPr>
          <p:spPr>
            <a:xfrm>
              <a:off x="4460271" y="7129851"/>
              <a:ext cx="907118"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Performance</a:t>
              </a:r>
            </a:p>
          </p:txBody>
        </p:sp>
        <p:sp>
          <p:nvSpPr>
            <p:cNvPr id="504" name="Text Placeholder 34">
              <a:extLst>
                <a:ext uri="{FF2B5EF4-FFF2-40B4-BE49-F238E27FC236}">
                  <a16:creationId xmlns:a16="http://schemas.microsoft.com/office/drawing/2014/main" id="{A4668877-F654-61AA-DC6C-2EEC5AB948BB}"/>
                </a:ext>
              </a:extLst>
            </p:cNvPr>
            <p:cNvSpPr txBox="1">
              <a:spLocks/>
            </p:cNvSpPr>
            <p:nvPr/>
          </p:nvSpPr>
          <p:spPr>
            <a:xfrm>
              <a:off x="3585014" y="7129851"/>
              <a:ext cx="847286"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Availability</a:t>
              </a:r>
            </a:p>
          </p:txBody>
        </p:sp>
        <p:sp>
          <p:nvSpPr>
            <p:cNvPr id="505" name="Text Placeholder 34">
              <a:extLst>
                <a:ext uri="{FF2B5EF4-FFF2-40B4-BE49-F238E27FC236}">
                  <a16:creationId xmlns:a16="http://schemas.microsoft.com/office/drawing/2014/main" id="{25CAD4D9-363E-647E-61D1-8BEE20B9BC9E}"/>
                </a:ext>
              </a:extLst>
            </p:cNvPr>
            <p:cNvSpPr txBox="1">
              <a:spLocks/>
            </p:cNvSpPr>
            <p:nvPr/>
          </p:nvSpPr>
          <p:spPr>
            <a:xfrm>
              <a:off x="3659943" y="7347996"/>
              <a:ext cx="697429"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Capacity</a:t>
              </a:r>
            </a:p>
          </p:txBody>
        </p:sp>
        <p:cxnSp>
          <p:nvCxnSpPr>
            <p:cNvPr id="506" name="Straight Connector 505">
              <a:extLst>
                <a:ext uri="{FF2B5EF4-FFF2-40B4-BE49-F238E27FC236}">
                  <a16:creationId xmlns:a16="http://schemas.microsoft.com/office/drawing/2014/main" id="{CD48285C-7DA8-7155-92EC-6A3E6426BD6F}"/>
                </a:ext>
              </a:extLst>
            </p:cNvPr>
            <p:cNvCxnSpPr>
              <a:cxnSpLocks/>
            </p:cNvCxnSpPr>
            <p:nvPr/>
          </p:nvCxnSpPr>
          <p:spPr bwMode="gray">
            <a:xfrm>
              <a:off x="4442507" y="7366576"/>
              <a:ext cx="0" cy="124166"/>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5CE41871-76D2-FF9B-4865-A30AAAB109AF}"/>
                </a:ext>
              </a:extLst>
            </p:cNvPr>
            <p:cNvCxnSpPr>
              <a:cxnSpLocks/>
            </p:cNvCxnSpPr>
            <p:nvPr/>
          </p:nvCxnSpPr>
          <p:spPr bwMode="gray">
            <a:xfrm>
              <a:off x="4442507" y="7139141"/>
              <a:ext cx="0" cy="124166"/>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Text Placeholder 34">
              <a:extLst>
                <a:ext uri="{FF2B5EF4-FFF2-40B4-BE49-F238E27FC236}">
                  <a16:creationId xmlns:a16="http://schemas.microsoft.com/office/drawing/2014/main" id="{47DE0D81-C74A-0FDE-F639-4E1ACC5F84BE}"/>
                </a:ext>
              </a:extLst>
            </p:cNvPr>
            <p:cNvSpPr txBox="1">
              <a:spLocks/>
            </p:cNvSpPr>
            <p:nvPr/>
          </p:nvSpPr>
          <p:spPr>
            <a:xfrm>
              <a:off x="4525589" y="7347996"/>
              <a:ext cx="786757" cy="142746"/>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Compliance</a:t>
              </a:r>
            </a:p>
          </p:txBody>
        </p:sp>
        <p:cxnSp>
          <p:nvCxnSpPr>
            <p:cNvPr id="509" name="Straight Connector 508">
              <a:extLst>
                <a:ext uri="{FF2B5EF4-FFF2-40B4-BE49-F238E27FC236}">
                  <a16:creationId xmlns:a16="http://schemas.microsoft.com/office/drawing/2014/main" id="{DB7F631A-9C80-5E3F-D35E-50668E5F0AF1}"/>
                </a:ext>
              </a:extLst>
            </p:cNvPr>
            <p:cNvCxnSpPr>
              <a:cxnSpLocks/>
            </p:cNvCxnSpPr>
            <p:nvPr/>
          </p:nvCxnSpPr>
          <p:spPr bwMode="gray">
            <a:xfrm>
              <a:off x="3642178" y="7314354"/>
              <a:ext cx="732958"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870F2A81-562A-4197-1A7A-C228EE9418D9}"/>
                </a:ext>
              </a:extLst>
            </p:cNvPr>
            <p:cNvCxnSpPr>
              <a:cxnSpLocks/>
            </p:cNvCxnSpPr>
            <p:nvPr/>
          </p:nvCxnSpPr>
          <p:spPr bwMode="gray">
            <a:xfrm>
              <a:off x="4547351" y="7314354"/>
              <a:ext cx="732958"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17" name="Straight Connector 516">
            <a:extLst>
              <a:ext uri="{FF2B5EF4-FFF2-40B4-BE49-F238E27FC236}">
                <a16:creationId xmlns:a16="http://schemas.microsoft.com/office/drawing/2014/main" id="{75B9C849-B19B-0AFF-1ECE-B3FEC96122DA}"/>
              </a:ext>
            </a:extLst>
          </p:cNvPr>
          <p:cNvCxnSpPr>
            <a:cxnSpLocks/>
            <a:endCxn id="482" idx="2"/>
          </p:cNvCxnSpPr>
          <p:nvPr/>
        </p:nvCxnSpPr>
        <p:spPr bwMode="gray">
          <a:xfrm flipV="1">
            <a:off x="3929029" y="5275948"/>
            <a:ext cx="1" cy="222277"/>
          </a:xfrm>
          <a:prstGeom prst="line">
            <a:avLst/>
          </a:prstGeom>
          <a:ln w="25400">
            <a:solidFill>
              <a:srgbClr val="D58B3F"/>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F2BBE80C-37F8-4179-8348-EB0AA1E32C35}"/>
              </a:ext>
            </a:extLst>
          </p:cNvPr>
          <p:cNvCxnSpPr>
            <a:cxnSpLocks/>
          </p:cNvCxnSpPr>
          <p:nvPr/>
        </p:nvCxnSpPr>
        <p:spPr bwMode="gray">
          <a:xfrm flipV="1">
            <a:off x="7108444" y="4635500"/>
            <a:ext cx="0" cy="294287"/>
          </a:xfrm>
          <a:prstGeom prst="line">
            <a:avLst/>
          </a:prstGeom>
          <a:ln w="25400">
            <a:solidFill>
              <a:srgbClr val="D58B3F"/>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A253ADC4-BEC5-16E9-89BC-EE1FCE1ED7D1}"/>
              </a:ext>
            </a:extLst>
          </p:cNvPr>
          <p:cNvCxnSpPr>
            <a:cxnSpLocks/>
          </p:cNvCxnSpPr>
          <p:nvPr/>
        </p:nvCxnSpPr>
        <p:spPr bwMode="gray">
          <a:xfrm flipH="1">
            <a:off x="5481332" y="4929787"/>
            <a:ext cx="1627112" cy="0"/>
          </a:xfrm>
          <a:prstGeom prst="line">
            <a:avLst/>
          </a:prstGeom>
          <a:ln w="25400">
            <a:solidFill>
              <a:srgbClr val="D58B3F"/>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F67E8C70-3951-5AB4-167D-3878098A75F9}"/>
              </a:ext>
            </a:extLst>
          </p:cNvPr>
          <p:cNvCxnSpPr>
            <a:cxnSpLocks/>
          </p:cNvCxnSpPr>
          <p:nvPr/>
        </p:nvCxnSpPr>
        <p:spPr bwMode="gray">
          <a:xfrm>
            <a:off x="5692001" y="4191382"/>
            <a:ext cx="489724" cy="0"/>
          </a:xfrm>
          <a:prstGeom prst="line">
            <a:avLst/>
          </a:prstGeom>
          <a:ln w="25400">
            <a:solidFill>
              <a:srgbClr val="D58B3F"/>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539" name="Straight Connector 538">
            <a:extLst>
              <a:ext uri="{FF2B5EF4-FFF2-40B4-BE49-F238E27FC236}">
                <a16:creationId xmlns:a16="http://schemas.microsoft.com/office/drawing/2014/main" id="{E4730C34-6E46-F993-A43D-CD9E714D0D93}"/>
              </a:ext>
            </a:extLst>
          </p:cNvPr>
          <p:cNvCxnSpPr>
            <a:cxnSpLocks/>
          </p:cNvCxnSpPr>
          <p:nvPr/>
        </p:nvCxnSpPr>
        <p:spPr bwMode="gray">
          <a:xfrm>
            <a:off x="5692001" y="3158400"/>
            <a:ext cx="402411" cy="0"/>
          </a:xfrm>
          <a:prstGeom prst="line">
            <a:avLst/>
          </a:prstGeom>
          <a:ln w="25400">
            <a:solidFill>
              <a:srgbClr val="D58B3F"/>
            </a:solidFill>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2CF95100-0392-D246-C006-9D44474E72EE}"/>
              </a:ext>
            </a:extLst>
          </p:cNvPr>
          <p:cNvCxnSpPr>
            <a:cxnSpLocks/>
          </p:cNvCxnSpPr>
          <p:nvPr/>
        </p:nvCxnSpPr>
        <p:spPr bwMode="gray">
          <a:xfrm flipV="1">
            <a:off x="6096793" y="3158400"/>
            <a:ext cx="0" cy="1041317"/>
          </a:xfrm>
          <a:prstGeom prst="line">
            <a:avLst/>
          </a:prstGeom>
          <a:ln w="25400">
            <a:solidFill>
              <a:srgbClr val="D58B3F"/>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615" name="Group 614" descr="Automation">
            <a:extLst>
              <a:ext uri="{FF2B5EF4-FFF2-40B4-BE49-F238E27FC236}">
                <a16:creationId xmlns:a16="http://schemas.microsoft.com/office/drawing/2014/main" id="{89A7C5AC-2066-620D-EBB8-90B508ABE9CE}"/>
              </a:ext>
            </a:extLst>
          </p:cNvPr>
          <p:cNvGrpSpPr/>
          <p:nvPr/>
        </p:nvGrpSpPr>
        <p:grpSpPr>
          <a:xfrm>
            <a:off x="7198510" y="4702837"/>
            <a:ext cx="226926" cy="226950"/>
            <a:chOff x="531730" y="723307"/>
            <a:chExt cx="600773" cy="600837"/>
          </a:xfrm>
          <a:solidFill>
            <a:srgbClr val="D58B3F"/>
          </a:solidFill>
        </p:grpSpPr>
        <p:sp>
          <p:nvSpPr>
            <p:cNvPr id="616" name="Picture Placeholder 74">
              <a:extLst>
                <a:ext uri="{FF2B5EF4-FFF2-40B4-BE49-F238E27FC236}">
                  <a16:creationId xmlns:a16="http://schemas.microsoft.com/office/drawing/2014/main" id="{9623C1EA-AD70-ABC1-7FE4-5160A0D98947}"/>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17" name="Picture Placeholder 74">
              <a:extLst>
                <a:ext uri="{FF2B5EF4-FFF2-40B4-BE49-F238E27FC236}">
                  <a16:creationId xmlns:a16="http://schemas.microsoft.com/office/drawing/2014/main" id="{20BE9547-3ECD-21C4-72DC-D546F351108C}"/>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618" name="Group 617" descr="Automation">
            <a:extLst>
              <a:ext uri="{FF2B5EF4-FFF2-40B4-BE49-F238E27FC236}">
                <a16:creationId xmlns:a16="http://schemas.microsoft.com/office/drawing/2014/main" id="{0FCC6D85-258D-011B-A042-8C9D07DF650A}"/>
              </a:ext>
            </a:extLst>
          </p:cNvPr>
          <p:cNvGrpSpPr/>
          <p:nvPr/>
        </p:nvGrpSpPr>
        <p:grpSpPr>
          <a:xfrm>
            <a:off x="4045233" y="5271275"/>
            <a:ext cx="226926" cy="226950"/>
            <a:chOff x="531730" y="723307"/>
            <a:chExt cx="600773" cy="600837"/>
          </a:xfrm>
          <a:solidFill>
            <a:srgbClr val="D58B3F"/>
          </a:solidFill>
        </p:grpSpPr>
        <p:sp>
          <p:nvSpPr>
            <p:cNvPr id="619" name="Picture Placeholder 74">
              <a:extLst>
                <a:ext uri="{FF2B5EF4-FFF2-40B4-BE49-F238E27FC236}">
                  <a16:creationId xmlns:a16="http://schemas.microsoft.com/office/drawing/2014/main" id="{4F5566AF-FEF4-602A-44BB-0F301B5996BC}"/>
                </a:ext>
              </a:extLst>
            </p:cNvPr>
            <p:cNvSpPr/>
            <p:nvPr/>
          </p:nvSpPr>
          <p:spPr>
            <a:xfrm>
              <a:off x="658159" y="849799"/>
              <a:ext cx="347853" cy="347853"/>
            </a:xfrm>
            <a:custGeom>
              <a:avLst/>
              <a:gdLst>
                <a:gd name="connsiteX0" fmla="*/ 173927 w 347853"/>
                <a:gd name="connsiteY0" fmla="*/ 347853 h 347853"/>
                <a:gd name="connsiteX1" fmla="*/ 166021 w 347853"/>
                <a:gd name="connsiteY1" fmla="*/ 339947 h 347853"/>
                <a:gd name="connsiteX2" fmla="*/ 173927 w 347853"/>
                <a:gd name="connsiteY2" fmla="*/ 332042 h 347853"/>
                <a:gd name="connsiteX3" fmla="*/ 332042 w 347853"/>
                <a:gd name="connsiteY3" fmla="*/ 173927 h 347853"/>
                <a:gd name="connsiteX4" fmla="*/ 173927 w 347853"/>
                <a:gd name="connsiteY4" fmla="*/ 15812 h 347853"/>
                <a:gd name="connsiteX5" fmla="*/ 15812 w 347853"/>
                <a:gd name="connsiteY5" fmla="*/ 173927 h 347853"/>
                <a:gd name="connsiteX6" fmla="*/ 7906 w 347853"/>
                <a:gd name="connsiteY6" fmla="*/ 181832 h 347853"/>
                <a:gd name="connsiteX7" fmla="*/ 0 w 347853"/>
                <a:gd name="connsiteY7" fmla="*/ 173927 h 347853"/>
                <a:gd name="connsiteX8" fmla="*/ 173927 w 347853"/>
                <a:gd name="connsiteY8" fmla="*/ 0 h 347853"/>
                <a:gd name="connsiteX9" fmla="*/ 347853 w 347853"/>
                <a:gd name="connsiteY9" fmla="*/ 173927 h 347853"/>
                <a:gd name="connsiteX10" fmla="*/ 173927 w 347853"/>
                <a:gd name="connsiteY10" fmla="*/ 347853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853" h="347853">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20" name="Picture Placeholder 74">
              <a:extLst>
                <a:ext uri="{FF2B5EF4-FFF2-40B4-BE49-F238E27FC236}">
                  <a16:creationId xmlns:a16="http://schemas.microsoft.com/office/drawing/2014/main" id="{4643C28C-72DD-4D3E-83B0-DC323ADC3992}"/>
                </a:ext>
              </a:extLst>
            </p:cNvPr>
            <p:cNvSpPr/>
            <p:nvPr/>
          </p:nvSpPr>
          <p:spPr>
            <a:xfrm>
              <a:off x="531730" y="723307"/>
              <a:ext cx="600773" cy="600837"/>
            </a:xfrm>
            <a:custGeom>
              <a:avLst/>
              <a:gdLst>
                <a:gd name="connsiteX0" fmla="*/ 348928 w 600773"/>
                <a:gd name="connsiteY0" fmla="*/ 600837 h 600837"/>
                <a:gd name="connsiteX1" fmla="*/ 248873 w 600773"/>
                <a:gd name="connsiteY1" fmla="*/ 600837 h 600837"/>
                <a:gd name="connsiteX2" fmla="*/ 246723 w 600773"/>
                <a:gd name="connsiteY2" fmla="*/ 596347 h 600837"/>
                <a:gd name="connsiteX3" fmla="*/ 237109 w 600773"/>
                <a:gd name="connsiteY3" fmla="*/ 565293 h 600837"/>
                <a:gd name="connsiteX4" fmla="*/ 230342 w 600773"/>
                <a:gd name="connsiteY4" fmla="*/ 539615 h 600837"/>
                <a:gd name="connsiteX5" fmla="*/ 179745 w 600773"/>
                <a:gd name="connsiteY5" fmla="*/ 517036 h 600837"/>
                <a:gd name="connsiteX6" fmla="*/ 156913 w 600773"/>
                <a:gd name="connsiteY6" fmla="*/ 528673 h 600837"/>
                <a:gd name="connsiteX7" fmla="*/ 130160 w 600773"/>
                <a:gd name="connsiteY7" fmla="*/ 543852 h 600837"/>
                <a:gd name="connsiteX8" fmla="*/ 126239 w 600773"/>
                <a:gd name="connsiteY8" fmla="*/ 545560 h 600837"/>
                <a:gd name="connsiteX9" fmla="*/ 122444 w 600773"/>
                <a:gd name="connsiteY9" fmla="*/ 543410 h 600837"/>
                <a:gd name="connsiteX10" fmla="*/ 55720 w 600773"/>
                <a:gd name="connsiteY10" fmla="*/ 480164 h 600837"/>
                <a:gd name="connsiteX11" fmla="*/ 52557 w 600773"/>
                <a:gd name="connsiteY11" fmla="*/ 476875 h 600837"/>
                <a:gd name="connsiteX12" fmla="*/ 53759 w 600773"/>
                <a:gd name="connsiteY12" fmla="*/ 472511 h 600837"/>
                <a:gd name="connsiteX13" fmla="*/ 80955 w 600773"/>
                <a:gd name="connsiteY13" fmla="*/ 420459 h 600837"/>
                <a:gd name="connsiteX14" fmla="*/ 69760 w 600773"/>
                <a:gd name="connsiteY14" fmla="*/ 395161 h 600837"/>
                <a:gd name="connsiteX15" fmla="*/ 60526 w 600773"/>
                <a:gd name="connsiteY15" fmla="*/ 366321 h 600837"/>
                <a:gd name="connsiteX16" fmla="*/ 34912 w 600773"/>
                <a:gd name="connsiteY16" fmla="*/ 360502 h 600837"/>
                <a:gd name="connsiteX17" fmla="*/ 6325 w 600773"/>
                <a:gd name="connsiteY17" fmla="*/ 352849 h 600837"/>
                <a:gd name="connsiteX18" fmla="*/ 0 w 600773"/>
                <a:gd name="connsiteY18" fmla="*/ 351585 h 600837"/>
                <a:gd name="connsiteX19" fmla="*/ 0 w 600773"/>
                <a:gd name="connsiteY19" fmla="*/ 246153 h 600837"/>
                <a:gd name="connsiteX20" fmla="*/ 6325 w 600773"/>
                <a:gd name="connsiteY20" fmla="*/ 244699 h 600837"/>
                <a:gd name="connsiteX21" fmla="*/ 33773 w 600773"/>
                <a:gd name="connsiteY21" fmla="*/ 237109 h 600837"/>
                <a:gd name="connsiteX22" fmla="*/ 59514 w 600773"/>
                <a:gd name="connsiteY22" fmla="*/ 230785 h 600837"/>
                <a:gd name="connsiteX23" fmla="*/ 70962 w 600773"/>
                <a:gd name="connsiteY23" fmla="*/ 205170 h 600837"/>
                <a:gd name="connsiteX24" fmla="*/ 83611 w 600773"/>
                <a:gd name="connsiteY24" fmla="*/ 178860 h 600837"/>
                <a:gd name="connsiteX25" fmla="*/ 55720 w 600773"/>
                <a:gd name="connsiteY25" fmla="*/ 133892 h 600837"/>
                <a:gd name="connsiteX26" fmla="*/ 51609 w 600773"/>
                <a:gd name="connsiteY26" fmla="*/ 129275 h 600837"/>
                <a:gd name="connsiteX27" fmla="*/ 55151 w 600773"/>
                <a:gd name="connsiteY27" fmla="*/ 124152 h 600837"/>
                <a:gd name="connsiteX28" fmla="*/ 121306 w 600773"/>
                <a:gd name="connsiteY28" fmla="*/ 55656 h 600837"/>
                <a:gd name="connsiteX29" fmla="*/ 125290 w 600773"/>
                <a:gd name="connsiteY29" fmla="*/ 51798 h 600837"/>
                <a:gd name="connsiteX30" fmla="*/ 130287 w 600773"/>
                <a:gd name="connsiteY30" fmla="*/ 54265 h 600837"/>
                <a:gd name="connsiteX31" fmla="*/ 181516 w 600773"/>
                <a:gd name="connsiteY31" fmla="*/ 83295 h 600837"/>
                <a:gd name="connsiteX32" fmla="*/ 233315 w 600773"/>
                <a:gd name="connsiteY32" fmla="*/ 63056 h 600837"/>
                <a:gd name="connsiteX33" fmla="*/ 240525 w 600773"/>
                <a:gd name="connsiteY33" fmla="*/ 36430 h 600837"/>
                <a:gd name="connsiteX34" fmla="*/ 249252 w 600773"/>
                <a:gd name="connsiteY34" fmla="*/ 5566 h 600837"/>
                <a:gd name="connsiteX35" fmla="*/ 250960 w 600773"/>
                <a:gd name="connsiteY35" fmla="*/ 0 h 600837"/>
                <a:gd name="connsiteX36" fmla="*/ 352154 w 600773"/>
                <a:gd name="connsiteY36" fmla="*/ 0 h 600837"/>
                <a:gd name="connsiteX37" fmla="*/ 354178 w 600773"/>
                <a:gd name="connsiteY37" fmla="*/ 4933 h 600837"/>
                <a:gd name="connsiteX38" fmla="*/ 370748 w 600773"/>
                <a:gd name="connsiteY38" fmla="*/ 61285 h 600837"/>
                <a:gd name="connsiteX39" fmla="*/ 396046 w 600773"/>
                <a:gd name="connsiteY39" fmla="*/ 71089 h 600837"/>
                <a:gd name="connsiteX40" fmla="*/ 422104 w 600773"/>
                <a:gd name="connsiteY40" fmla="*/ 83738 h 600837"/>
                <a:gd name="connsiteX41" fmla="*/ 443860 w 600773"/>
                <a:gd name="connsiteY41" fmla="*/ 72417 h 600837"/>
                <a:gd name="connsiteX42" fmla="*/ 471309 w 600773"/>
                <a:gd name="connsiteY42" fmla="*/ 57048 h 600837"/>
                <a:gd name="connsiteX43" fmla="*/ 475041 w 600773"/>
                <a:gd name="connsiteY43" fmla="*/ 55467 h 600837"/>
                <a:gd name="connsiteX44" fmla="*/ 478519 w 600773"/>
                <a:gd name="connsiteY44" fmla="*/ 57554 h 600837"/>
                <a:gd name="connsiteX45" fmla="*/ 514633 w 600773"/>
                <a:gd name="connsiteY45" fmla="*/ 89177 h 600837"/>
                <a:gd name="connsiteX46" fmla="*/ 546951 w 600773"/>
                <a:gd name="connsiteY46" fmla="*/ 120231 h 600837"/>
                <a:gd name="connsiteX47" fmla="*/ 552138 w 600773"/>
                <a:gd name="connsiteY47" fmla="*/ 124342 h 600837"/>
                <a:gd name="connsiteX48" fmla="*/ 548975 w 600773"/>
                <a:gd name="connsiteY48" fmla="*/ 130160 h 600837"/>
                <a:gd name="connsiteX49" fmla="*/ 519629 w 600773"/>
                <a:gd name="connsiteY49" fmla="*/ 180757 h 600837"/>
                <a:gd name="connsiteX50" fmla="*/ 538603 w 600773"/>
                <a:gd name="connsiteY50" fmla="*/ 233884 h 600837"/>
                <a:gd name="connsiteX51" fmla="*/ 566052 w 600773"/>
                <a:gd name="connsiteY51" fmla="*/ 240208 h 600837"/>
                <a:gd name="connsiteX52" fmla="*/ 594449 w 600773"/>
                <a:gd name="connsiteY52" fmla="*/ 247798 h 600837"/>
                <a:gd name="connsiteX53" fmla="*/ 600774 w 600773"/>
                <a:gd name="connsiteY53" fmla="*/ 249063 h 600837"/>
                <a:gd name="connsiteX54" fmla="*/ 600774 w 600773"/>
                <a:gd name="connsiteY54" fmla="*/ 354431 h 600837"/>
                <a:gd name="connsiteX55" fmla="*/ 594449 w 600773"/>
                <a:gd name="connsiteY55" fmla="*/ 355822 h 600837"/>
                <a:gd name="connsiteX56" fmla="*/ 567000 w 600773"/>
                <a:gd name="connsiteY56" fmla="*/ 363475 h 600837"/>
                <a:gd name="connsiteX57" fmla="*/ 541070 w 600773"/>
                <a:gd name="connsiteY57" fmla="*/ 369799 h 600837"/>
                <a:gd name="connsiteX58" fmla="*/ 530318 w 600773"/>
                <a:gd name="connsiteY58" fmla="*/ 395541 h 600837"/>
                <a:gd name="connsiteX59" fmla="*/ 517669 w 600773"/>
                <a:gd name="connsiteY59" fmla="*/ 421977 h 600837"/>
                <a:gd name="connsiteX60" fmla="*/ 530318 w 600773"/>
                <a:gd name="connsiteY60" fmla="*/ 443481 h 600837"/>
                <a:gd name="connsiteX61" fmla="*/ 545434 w 600773"/>
                <a:gd name="connsiteY61" fmla="*/ 467514 h 600837"/>
                <a:gd name="connsiteX62" fmla="*/ 548975 w 600773"/>
                <a:gd name="connsiteY62" fmla="*/ 472068 h 600837"/>
                <a:gd name="connsiteX63" fmla="*/ 545687 w 600773"/>
                <a:gd name="connsiteY63" fmla="*/ 476875 h 600837"/>
                <a:gd name="connsiteX64" fmla="*/ 479911 w 600773"/>
                <a:gd name="connsiteY64" fmla="*/ 545307 h 600837"/>
                <a:gd name="connsiteX65" fmla="*/ 475989 w 600773"/>
                <a:gd name="connsiteY65" fmla="*/ 549165 h 600837"/>
                <a:gd name="connsiteX66" fmla="*/ 470993 w 600773"/>
                <a:gd name="connsiteY66" fmla="*/ 546825 h 600837"/>
                <a:gd name="connsiteX67" fmla="*/ 420396 w 600773"/>
                <a:gd name="connsiteY67" fmla="*/ 517985 h 600837"/>
                <a:gd name="connsiteX68" fmla="*/ 369357 w 600773"/>
                <a:gd name="connsiteY68" fmla="*/ 538160 h 600837"/>
                <a:gd name="connsiteX69" fmla="*/ 361261 w 600773"/>
                <a:gd name="connsiteY69" fmla="*/ 563459 h 600837"/>
                <a:gd name="connsiteX70" fmla="*/ 351142 w 600773"/>
                <a:gd name="connsiteY70" fmla="*/ 596663 h 600837"/>
                <a:gd name="connsiteX71" fmla="*/ 259056 w 600773"/>
                <a:gd name="connsiteY71" fmla="*/ 585026 h 600837"/>
                <a:gd name="connsiteX72" fmla="*/ 338809 w 600773"/>
                <a:gd name="connsiteY72" fmla="*/ 585026 h 600837"/>
                <a:gd name="connsiteX73" fmla="*/ 345766 w 600773"/>
                <a:gd name="connsiteY73" fmla="*/ 559727 h 600837"/>
                <a:gd name="connsiteX74" fmla="*/ 357403 w 600773"/>
                <a:gd name="connsiteY74" fmla="*/ 526776 h 600837"/>
                <a:gd name="connsiteX75" fmla="*/ 359301 w 600773"/>
                <a:gd name="connsiteY75" fmla="*/ 523803 h 600837"/>
                <a:gd name="connsiteX76" fmla="*/ 362779 w 600773"/>
                <a:gd name="connsiteY76" fmla="*/ 523171 h 600837"/>
                <a:gd name="connsiteX77" fmla="*/ 416791 w 600773"/>
                <a:gd name="connsiteY77" fmla="*/ 501667 h 600837"/>
                <a:gd name="connsiteX78" fmla="*/ 421092 w 600773"/>
                <a:gd name="connsiteY78" fmla="*/ 499137 h 600837"/>
                <a:gd name="connsiteX79" fmla="*/ 425203 w 600773"/>
                <a:gd name="connsiteY79" fmla="*/ 501920 h 600837"/>
                <a:gd name="connsiteX80" fmla="*/ 473143 w 600773"/>
                <a:gd name="connsiteY80" fmla="*/ 529938 h 600837"/>
                <a:gd name="connsiteX81" fmla="*/ 529559 w 600773"/>
                <a:gd name="connsiteY81" fmla="*/ 472005 h 600837"/>
                <a:gd name="connsiteX82" fmla="*/ 516910 w 600773"/>
                <a:gd name="connsiteY82" fmla="*/ 451197 h 600837"/>
                <a:gd name="connsiteX83" fmla="*/ 501920 w 600773"/>
                <a:gd name="connsiteY83" fmla="*/ 425393 h 600837"/>
                <a:gd name="connsiteX84" fmla="*/ 498631 w 600773"/>
                <a:gd name="connsiteY84" fmla="*/ 420206 h 600837"/>
                <a:gd name="connsiteX85" fmla="*/ 502869 w 600773"/>
                <a:gd name="connsiteY85" fmla="*/ 415716 h 600837"/>
                <a:gd name="connsiteX86" fmla="*/ 516340 w 600773"/>
                <a:gd name="connsiteY86" fmla="*/ 389912 h 600837"/>
                <a:gd name="connsiteX87" fmla="*/ 530128 w 600773"/>
                <a:gd name="connsiteY87" fmla="*/ 358289 h 600837"/>
                <a:gd name="connsiteX88" fmla="*/ 532089 w 600773"/>
                <a:gd name="connsiteY88" fmla="*/ 355126 h 600837"/>
                <a:gd name="connsiteX89" fmla="*/ 535820 w 600773"/>
                <a:gd name="connsiteY89" fmla="*/ 354620 h 600837"/>
                <a:gd name="connsiteX90" fmla="*/ 563395 w 600773"/>
                <a:gd name="connsiteY90" fmla="*/ 348296 h 600837"/>
                <a:gd name="connsiteX91" fmla="*/ 585531 w 600773"/>
                <a:gd name="connsiteY91" fmla="*/ 341971 h 600837"/>
                <a:gd name="connsiteX92" fmla="*/ 585531 w 600773"/>
                <a:gd name="connsiteY92" fmla="*/ 261838 h 600837"/>
                <a:gd name="connsiteX93" fmla="*/ 562130 w 600773"/>
                <a:gd name="connsiteY93" fmla="*/ 255514 h 600837"/>
                <a:gd name="connsiteX94" fmla="*/ 535757 w 600773"/>
                <a:gd name="connsiteY94" fmla="*/ 249189 h 600837"/>
                <a:gd name="connsiteX95" fmla="*/ 504134 w 600773"/>
                <a:gd name="connsiteY95" fmla="*/ 182022 h 600837"/>
                <a:gd name="connsiteX96" fmla="*/ 502806 w 600773"/>
                <a:gd name="connsiteY96" fmla="*/ 178290 h 600837"/>
                <a:gd name="connsiteX97" fmla="*/ 505019 w 600773"/>
                <a:gd name="connsiteY97" fmla="*/ 175002 h 600837"/>
                <a:gd name="connsiteX98" fmla="*/ 532721 w 600773"/>
                <a:gd name="connsiteY98" fmla="*/ 127883 h 600837"/>
                <a:gd name="connsiteX99" fmla="*/ 503881 w 600773"/>
                <a:gd name="connsiteY99" fmla="*/ 99739 h 600837"/>
                <a:gd name="connsiteX100" fmla="*/ 474472 w 600773"/>
                <a:gd name="connsiteY100" fmla="*/ 73049 h 600837"/>
                <a:gd name="connsiteX101" fmla="*/ 453031 w 600773"/>
                <a:gd name="connsiteY101" fmla="*/ 85698 h 600837"/>
                <a:gd name="connsiteX102" fmla="*/ 422547 w 600773"/>
                <a:gd name="connsiteY102" fmla="*/ 99992 h 600837"/>
                <a:gd name="connsiteX103" fmla="*/ 418752 w 600773"/>
                <a:gd name="connsiteY103" fmla="*/ 101004 h 600837"/>
                <a:gd name="connsiteX104" fmla="*/ 416222 w 600773"/>
                <a:gd name="connsiteY104" fmla="*/ 98601 h 600837"/>
                <a:gd name="connsiteX105" fmla="*/ 390924 w 600773"/>
                <a:gd name="connsiteY105" fmla="*/ 85951 h 600837"/>
                <a:gd name="connsiteX106" fmla="*/ 361261 w 600773"/>
                <a:gd name="connsiteY106" fmla="*/ 74314 h 600837"/>
                <a:gd name="connsiteX107" fmla="*/ 357846 w 600773"/>
                <a:gd name="connsiteY107" fmla="*/ 72733 h 600837"/>
                <a:gd name="connsiteX108" fmla="*/ 356454 w 600773"/>
                <a:gd name="connsiteY108" fmla="*/ 69065 h 600837"/>
                <a:gd name="connsiteX109" fmla="*/ 341339 w 600773"/>
                <a:gd name="connsiteY109" fmla="*/ 15812 h 600837"/>
                <a:gd name="connsiteX110" fmla="*/ 262597 w 600773"/>
                <a:gd name="connsiteY110" fmla="*/ 15812 h 600837"/>
                <a:gd name="connsiteX111" fmla="*/ 255767 w 600773"/>
                <a:gd name="connsiteY111" fmla="*/ 40477 h 600837"/>
                <a:gd name="connsiteX112" fmla="*/ 247039 w 600773"/>
                <a:gd name="connsiteY112" fmla="*/ 72100 h 600837"/>
                <a:gd name="connsiteX113" fmla="*/ 245395 w 600773"/>
                <a:gd name="connsiteY113" fmla="*/ 77413 h 600837"/>
                <a:gd name="connsiteX114" fmla="*/ 239892 w 600773"/>
                <a:gd name="connsiteY114" fmla="*/ 77413 h 600837"/>
                <a:gd name="connsiteX115" fmla="*/ 183603 w 600773"/>
                <a:gd name="connsiteY115" fmla="*/ 99233 h 600837"/>
                <a:gd name="connsiteX116" fmla="*/ 179429 w 600773"/>
                <a:gd name="connsiteY116" fmla="*/ 101067 h 600837"/>
                <a:gd name="connsiteX117" fmla="*/ 175887 w 600773"/>
                <a:gd name="connsiteY117" fmla="*/ 98664 h 600837"/>
                <a:gd name="connsiteX118" fmla="*/ 128453 w 600773"/>
                <a:gd name="connsiteY118" fmla="*/ 70899 h 600837"/>
                <a:gd name="connsiteX119" fmla="*/ 71847 w 600773"/>
                <a:gd name="connsiteY119" fmla="*/ 128642 h 600837"/>
                <a:gd name="connsiteX120" fmla="*/ 99992 w 600773"/>
                <a:gd name="connsiteY120" fmla="*/ 175950 h 600837"/>
                <a:gd name="connsiteX121" fmla="*/ 102269 w 600773"/>
                <a:gd name="connsiteY121" fmla="*/ 180188 h 600837"/>
                <a:gd name="connsiteX122" fmla="*/ 99549 w 600773"/>
                <a:gd name="connsiteY122" fmla="*/ 184172 h 600837"/>
                <a:gd name="connsiteX123" fmla="*/ 85572 w 600773"/>
                <a:gd name="connsiteY123" fmla="*/ 211684 h 600837"/>
                <a:gd name="connsiteX124" fmla="*/ 71658 w 600773"/>
                <a:gd name="connsiteY124" fmla="*/ 242232 h 600837"/>
                <a:gd name="connsiteX125" fmla="*/ 69760 w 600773"/>
                <a:gd name="connsiteY125" fmla="*/ 245711 h 600837"/>
                <a:gd name="connsiteX126" fmla="*/ 65839 w 600773"/>
                <a:gd name="connsiteY126" fmla="*/ 246217 h 600837"/>
                <a:gd name="connsiteX127" fmla="*/ 38264 w 600773"/>
                <a:gd name="connsiteY127" fmla="*/ 252541 h 600837"/>
                <a:gd name="connsiteX128" fmla="*/ 16064 w 600773"/>
                <a:gd name="connsiteY128" fmla="*/ 258866 h 600837"/>
                <a:gd name="connsiteX129" fmla="*/ 16064 w 600773"/>
                <a:gd name="connsiteY129" fmla="*/ 338999 h 600837"/>
                <a:gd name="connsiteX130" fmla="*/ 39529 w 600773"/>
                <a:gd name="connsiteY130" fmla="*/ 345323 h 600837"/>
                <a:gd name="connsiteX131" fmla="*/ 68622 w 600773"/>
                <a:gd name="connsiteY131" fmla="*/ 351648 h 600837"/>
                <a:gd name="connsiteX132" fmla="*/ 74567 w 600773"/>
                <a:gd name="connsiteY132" fmla="*/ 352407 h 600837"/>
                <a:gd name="connsiteX133" fmla="*/ 75452 w 600773"/>
                <a:gd name="connsiteY133" fmla="*/ 358352 h 600837"/>
                <a:gd name="connsiteX134" fmla="*/ 84750 w 600773"/>
                <a:gd name="connsiteY134" fmla="*/ 388583 h 600837"/>
                <a:gd name="connsiteX135" fmla="*/ 97399 w 600773"/>
                <a:gd name="connsiteY135" fmla="*/ 418625 h 600837"/>
                <a:gd name="connsiteX136" fmla="*/ 98537 w 600773"/>
                <a:gd name="connsiteY136" fmla="*/ 421977 h 600837"/>
                <a:gd name="connsiteX137" fmla="*/ 96766 w 600773"/>
                <a:gd name="connsiteY137" fmla="*/ 425076 h 600837"/>
                <a:gd name="connsiteX138" fmla="*/ 70836 w 600773"/>
                <a:gd name="connsiteY138" fmla="*/ 472637 h 600837"/>
                <a:gd name="connsiteX139" fmla="*/ 127757 w 600773"/>
                <a:gd name="connsiteY139" fmla="*/ 527345 h 600837"/>
                <a:gd name="connsiteX140" fmla="*/ 148628 w 600773"/>
                <a:gd name="connsiteY140" fmla="*/ 515139 h 600837"/>
                <a:gd name="connsiteX141" fmla="*/ 178354 w 600773"/>
                <a:gd name="connsiteY141" fmla="*/ 500845 h 600837"/>
                <a:gd name="connsiteX142" fmla="*/ 181959 w 600773"/>
                <a:gd name="connsiteY142" fmla="*/ 499770 h 600837"/>
                <a:gd name="connsiteX143" fmla="*/ 185058 w 600773"/>
                <a:gd name="connsiteY143" fmla="*/ 501857 h 600837"/>
                <a:gd name="connsiteX144" fmla="*/ 240019 w 600773"/>
                <a:gd name="connsiteY144" fmla="*/ 526460 h 600837"/>
                <a:gd name="connsiteX145" fmla="*/ 243054 w 600773"/>
                <a:gd name="connsiteY145" fmla="*/ 527788 h 600837"/>
                <a:gd name="connsiteX146" fmla="*/ 244193 w 600773"/>
                <a:gd name="connsiteY146" fmla="*/ 530887 h 600837"/>
                <a:gd name="connsiteX147" fmla="*/ 252731 w 600773"/>
                <a:gd name="connsiteY147" fmla="*/ 561688 h 600837"/>
                <a:gd name="connsiteX148" fmla="*/ 259056 w 600773"/>
                <a:gd name="connsiteY148" fmla="*/ 585026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0773" h="600837">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591" name="Group 590">
            <a:extLst>
              <a:ext uri="{FF2B5EF4-FFF2-40B4-BE49-F238E27FC236}">
                <a16:creationId xmlns:a16="http://schemas.microsoft.com/office/drawing/2014/main" id="{834BE435-DC56-14FC-1627-D7C5272C380F}"/>
              </a:ext>
            </a:extLst>
          </p:cNvPr>
          <p:cNvGrpSpPr/>
          <p:nvPr/>
        </p:nvGrpSpPr>
        <p:grpSpPr>
          <a:xfrm>
            <a:off x="2387808" y="2806754"/>
            <a:ext cx="827027" cy="809283"/>
            <a:chOff x="-994175" y="2806754"/>
            <a:chExt cx="827027" cy="809283"/>
          </a:xfrm>
        </p:grpSpPr>
        <p:grpSp>
          <p:nvGrpSpPr>
            <p:cNvPr id="595" name="Group 594">
              <a:extLst>
                <a:ext uri="{FF2B5EF4-FFF2-40B4-BE49-F238E27FC236}">
                  <a16:creationId xmlns:a16="http://schemas.microsoft.com/office/drawing/2014/main" id="{E5BE89C2-A398-3958-4336-80FFCC52B129}"/>
                </a:ext>
              </a:extLst>
            </p:cNvPr>
            <p:cNvGrpSpPr/>
            <p:nvPr/>
          </p:nvGrpSpPr>
          <p:grpSpPr>
            <a:xfrm>
              <a:off x="-994175" y="2806754"/>
              <a:ext cx="827027" cy="809283"/>
              <a:chOff x="4149692" y="2007646"/>
              <a:chExt cx="827027" cy="809283"/>
            </a:xfrm>
          </p:grpSpPr>
          <p:sp>
            <p:nvSpPr>
              <p:cNvPr id="598" name="Oval 597">
                <a:extLst>
                  <a:ext uri="{FF2B5EF4-FFF2-40B4-BE49-F238E27FC236}">
                    <a16:creationId xmlns:a16="http://schemas.microsoft.com/office/drawing/2014/main" id="{B5462A77-7820-6C4E-C69E-2B2E51BA59B6}"/>
                  </a:ext>
                </a:extLst>
              </p:cNvPr>
              <p:cNvSpPr/>
              <p:nvPr/>
            </p:nvSpPr>
            <p:spPr>
              <a:xfrm>
                <a:off x="4167067" y="2007646"/>
                <a:ext cx="792277" cy="792277"/>
              </a:xfrm>
              <a:prstGeom prst="ellipse">
                <a:avLst/>
              </a:prstGeom>
              <a:solidFill>
                <a:schemeClr val="bg2"/>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9" name="Oval 598">
                <a:extLst>
                  <a:ext uri="{FF2B5EF4-FFF2-40B4-BE49-F238E27FC236}">
                    <a16:creationId xmlns:a16="http://schemas.microsoft.com/office/drawing/2014/main" id="{67684EA4-4B34-5081-E473-E4C1B412980B}"/>
                  </a:ext>
                </a:extLst>
              </p:cNvPr>
              <p:cNvSpPr/>
              <p:nvPr/>
            </p:nvSpPr>
            <p:spPr>
              <a:xfrm>
                <a:off x="4223850" y="2064429"/>
                <a:ext cx="678711" cy="678711"/>
              </a:xfrm>
              <a:prstGeom prst="ellipse">
                <a:avLst/>
              </a:prstGeom>
              <a:solidFill>
                <a:schemeClr val="bg1"/>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0" name="Rectangle 599">
                <a:extLst>
                  <a:ext uri="{FF2B5EF4-FFF2-40B4-BE49-F238E27FC236}">
                    <a16:creationId xmlns:a16="http://schemas.microsoft.com/office/drawing/2014/main" id="{0644F362-2295-F5DE-FAD1-E33ED4F022D1}"/>
                  </a:ext>
                </a:extLst>
              </p:cNvPr>
              <p:cNvSpPr/>
              <p:nvPr/>
            </p:nvSpPr>
            <p:spPr>
              <a:xfrm>
                <a:off x="4149692" y="2403784"/>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cxnSp>
          <p:nvCxnSpPr>
            <p:cNvPr id="596" name="Straight Connector 595">
              <a:extLst>
                <a:ext uri="{FF2B5EF4-FFF2-40B4-BE49-F238E27FC236}">
                  <a16:creationId xmlns:a16="http://schemas.microsoft.com/office/drawing/2014/main" id="{B95C9152-8497-1B6B-AB5E-E847E4FE7607}"/>
                </a:ext>
              </a:extLst>
            </p:cNvPr>
            <p:cNvCxnSpPr>
              <a:cxnSpLocks/>
            </p:cNvCxnSpPr>
            <p:nvPr/>
          </p:nvCxnSpPr>
          <p:spPr bwMode="gray">
            <a:xfrm flipH="1">
              <a:off x="-316706" y="2964108"/>
              <a:ext cx="63904" cy="45792"/>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97" name="Straight Connector 596">
              <a:extLst>
                <a:ext uri="{FF2B5EF4-FFF2-40B4-BE49-F238E27FC236}">
                  <a16:creationId xmlns:a16="http://schemas.microsoft.com/office/drawing/2014/main" id="{369AB944-1960-A7F8-A62C-C628BB9E6037}"/>
                </a:ext>
              </a:extLst>
            </p:cNvPr>
            <p:cNvCxnSpPr>
              <a:cxnSpLocks/>
            </p:cNvCxnSpPr>
            <p:nvPr/>
          </p:nvCxnSpPr>
          <p:spPr bwMode="gray">
            <a:xfrm flipH="1">
              <a:off x="-490538" y="2814638"/>
              <a:ext cx="21432" cy="69056"/>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672" name="Group 671">
            <a:extLst>
              <a:ext uri="{FF2B5EF4-FFF2-40B4-BE49-F238E27FC236}">
                <a16:creationId xmlns:a16="http://schemas.microsoft.com/office/drawing/2014/main" id="{0A2A0DAA-DA1F-7407-6114-5D562D39DD28}"/>
              </a:ext>
            </a:extLst>
          </p:cNvPr>
          <p:cNvGrpSpPr/>
          <p:nvPr/>
        </p:nvGrpSpPr>
        <p:grpSpPr>
          <a:xfrm>
            <a:off x="2375679" y="2789901"/>
            <a:ext cx="839156" cy="826136"/>
            <a:chOff x="-607649" y="2789901"/>
            <a:chExt cx="839156" cy="826136"/>
          </a:xfrm>
        </p:grpSpPr>
        <p:sp>
          <p:nvSpPr>
            <p:cNvPr id="671" name="Rectangle 670">
              <a:extLst>
                <a:ext uri="{FF2B5EF4-FFF2-40B4-BE49-F238E27FC236}">
                  <a16:creationId xmlns:a16="http://schemas.microsoft.com/office/drawing/2014/main" id="{4E4F0FFD-4CC5-26FE-C3A8-40380530FE69}"/>
                </a:ext>
              </a:extLst>
            </p:cNvPr>
            <p:cNvSpPr/>
            <p:nvPr/>
          </p:nvSpPr>
          <p:spPr>
            <a:xfrm>
              <a:off x="-607649" y="2789901"/>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631" name="Group 630">
              <a:extLst>
                <a:ext uri="{FF2B5EF4-FFF2-40B4-BE49-F238E27FC236}">
                  <a16:creationId xmlns:a16="http://schemas.microsoft.com/office/drawing/2014/main" id="{FCF927E2-F896-BD65-A129-575ACEBDEECC}"/>
                </a:ext>
              </a:extLst>
            </p:cNvPr>
            <p:cNvGrpSpPr/>
            <p:nvPr/>
          </p:nvGrpSpPr>
          <p:grpSpPr>
            <a:xfrm>
              <a:off x="-607649" y="2806754"/>
              <a:ext cx="827027" cy="809283"/>
              <a:chOff x="-994175" y="2806754"/>
              <a:chExt cx="827027" cy="809283"/>
            </a:xfrm>
          </p:grpSpPr>
          <p:grpSp>
            <p:nvGrpSpPr>
              <p:cNvPr id="635" name="Group 634">
                <a:extLst>
                  <a:ext uri="{FF2B5EF4-FFF2-40B4-BE49-F238E27FC236}">
                    <a16:creationId xmlns:a16="http://schemas.microsoft.com/office/drawing/2014/main" id="{F594D38F-5869-6947-F22B-A56BE1EA5076}"/>
                  </a:ext>
                </a:extLst>
              </p:cNvPr>
              <p:cNvGrpSpPr/>
              <p:nvPr/>
            </p:nvGrpSpPr>
            <p:grpSpPr>
              <a:xfrm>
                <a:off x="-994175" y="2806754"/>
                <a:ext cx="827027" cy="809283"/>
                <a:chOff x="4149692" y="2007646"/>
                <a:chExt cx="827027" cy="809283"/>
              </a:xfrm>
            </p:grpSpPr>
            <p:sp>
              <p:nvSpPr>
                <p:cNvPr id="638" name="Oval 637">
                  <a:extLst>
                    <a:ext uri="{FF2B5EF4-FFF2-40B4-BE49-F238E27FC236}">
                      <a16:creationId xmlns:a16="http://schemas.microsoft.com/office/drawing/2014/main" id="{FF614D2F-1157-E46D-E06B-34CAB8DF5924}"/>
                    </a:ext>
                  </a:extLst>
                </p:cNvPr>
                <p:cNvSpPr/>
                <p:nvPr/>
              </p:nvSpPr>
              <p:spPr>
                <a:xfrm>
                  <a:off x="4167067" y="2007646"/>
                  <a:ext cx="792277" cy="792277"/>
                </a:xfrm>
                <a:prstGeom prst="ellipse">
                  <a:avLst/>
                </a:prstGeom>
                <a:solidFill>
                  <a:schemeClr val="bg2"/>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9" name="Oval 638">
                  <a:extLst>
                    <a:ext uri="{FF2B5EF4-FFF2-40B4-BE49-F238E27FC236}">
                      <a16:creationId xmlns:a16="http://schemas.microsoft.com/office/drawing/2014/main" id="{067984C3-1600-0FE8-53C5-73A7B1FE5486}"/>
                    </a:ext>
                  </a:extLst>
                </p:cNvPr>
                <p:cNvSpPr/>
                <p:nvPr/>
              </p:nvSpPr>
              <p:spPr>
                <a:xfrm>
                  <a:off x="4223850" y="2064429"/>
                  <a:ext cx="678711" cy="678711"/>
                </a:xfrm>
                <a:prstGeom prst="ellipse">
                  <a:avLst/>
                </a:prstGeom>
                <a:solidFill>
                  <a:schemeClr val="bg1"/>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0" name="Rectangle 639">
                  <a:extLst>
                    <a:ext uri="{FF2B5EF4-FFF2-40B4-BE49-F238E27FC236}">
                      <a16:creationId xmlns:a16="http://schemas.microsoft.com/office/drawing/2014/main" id="{30741868-AD8B-282A-9646-95AD8FE3BCEA}"/>
                    </a:ext>
                  </a:extLst>
                </p:cNvPr>
                <p:cNvSpPr/>
                <p:nvPr/>
              </p:nvSpPr>
              <p:spPr>
                <a:xfrm>
                  <a:off x="4149692" y="2403784"/>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cxnSp>
            <p:nvCxnSpPr>
              <p:cNvPr id="636" name="Straight Connector 635">
                <a:extLst>
                  <a:ext uri="{FF2B5EF4-FFF2-40B4-BE49-F238E27FC236}">
                    <a16:creationId xmlns:a16="http://schemas.microsoft.com/office/drawing/2014/main" id="{F66B210A-D64E-4ED9-6A43-ED871444A5A4}"/>
                  </a:ext>
                </a:extLst>
              </p:cNvPr>
              <p:cNvCxnSpPr>
                <a:cxnSpLocks/>
              </p:cNvCxnSpPr>
              <p:nvPr/>
            </p:nvCxnSpPr>
            <p:spPr bwMode="gray">
              <a:xfrm flipH="1">
                <a:off x="-316706" y="2964108"/>
                <a:ext cx="63904" cy="45792"/>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37" name="Straight Connector 636">
                <a:extLst>
                  <a:ext uri="{FF2B5EF4-FFF2-40B4-BE49-F238E27FC236}">
                    <a16:creationId xmlns:a16="http://schemas.microsoft.com/office/drawing/2014/main" id="{AF20A359-E4DD-6943-8AF3-F34AF78364FD}"/>
                  </a:ext>
                </a:extLst>
              </p:cNvPr>
              <p:cNvCxnSpPr>
                <a:cxnSpLocks/>
              </p:cNvCxnSpPr>
              <p:nvPr/>
            </p:nvCxnSpPr>
            <p:spPr bwMode="gray">
              <a:xfrm flipH="1">
                <a:off x="-490538" y="2814638"/>
                <a:ext cx="21432" cy="69056"/>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632" name="Text Placeholder 34">
              <a:extLst>
                <a:ext uri="{FF2B5EF4-FFF2-40B4-BE49-F238E27FC236}">
                  <a16:creationId xmlns:a16="http://schemas.microsoft.com/office/drawing/2014/main" id="{97F5F7B8-0317-EA04-7FA8-03FF6D73FF75}"/>
                </a:ext>
              </a:extLst>
            </p:cNvPr>
            <p:cNvSpPr txBox="1">
              <a:spLocks/>
            </p:cNvSpPr>
            <p:nvPr/>
          </p:nvSpPr>
          <p:spPr>
            <a:xfrm>
              <a:off x="-393005" y="3014926"/>
              <a:ext cx="397738"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61A60E"/>
                  </a:solidFill>
                  <a:effectLst/>
                  <a:uLnTx/>
                  <a:uFillTx/>
                  <a:latin typeface="Arial" panose="020B0604020202020204" pitchFamily="34" charset="0"/>
                  <a:ea typeface="+mn-ea"/>
                  <a:cs typeface="+mn-cs"/>
                </a:rPr>
                <a:t>92</a:t>
              </a:r>
            </a:p>
          </p:txBody>
        </p:sp>
        <p:sp>
          <p:nvSpPr>
            <p:cNvPr id="633" name="Arc 632">
              <a:extLst>
                <a:ext uri="{FF2B5EF4-FFF2-40B4-BE49-F238E27FC236}">
                  <a16:creationId xmlns:a16="http://schemas.microsoft.com/office/drawing/2014/main" id="{A2961F16-60A3-1C03-1E86-5978A9D1E525}"/>
                </a:ext>
              </a:extLst>
            </p:cNvPr>
            <p:cNvSpPr/>
            <p:nvPr/>
          </p:nvSpPr>
          <p:spPr bwMode="gray">
            <a:xfrm>
              <a:off x="-560930" y="2834565"/>
              <a:ext cx="735806" cy="731837"/>
            </a:xfrm>
            <a:prstGeom prst="arc">
              <a:avLst>
                <a:gd name="adj1" fmla="val 19614901"/>
                <a:gd name="adj2" fmla="val 34278"/>
              </a:avLst>
            </a:prstGeom>
            <a:ln w="444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34" name="Oval 633">
              <a:extLst>
                <a:ext uri="{FF2B5EF4-FFF2-40B4-BE49-F238E27FC236}">
                  <a16:creationId xmlns:a16="http://schemas.microsoft.com/office/drawing/2014/main" id="{FCF53197-C4EB-83D2-AD35-45907AF78A04}"/>
                </a:ext>
              </a:extLst>
            </p:cNvPr>
            <p:cNvSpPr/>
            <p:nvPr/>
          </p:nvSpPr>
          <p:spPr>
            <a:xfrm>
              <a:off x="103911" y="3058290"/>
              <a:ext cx="127596" cy="127596"/>
            </a:xfrm>
            <a:prstGeom prst="ellipse">
              <a:avLst/>
            </a:prstGeom>
            <a:solidFill>
              <a:schemeClr val="bg1"/>
            </a:solid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674" name="Group 673">
            <a:extLst>
              <a:ext uri="{FF2B5EF4-FFF2-40B4-BE49-F238E27FC236}">
                <a16:creationId xmlns:a16="http://schemas.microsoft.com/office/drawing/2014/main" id="{0C2CFE27-E85F-4B39-9BC1-5F7C32301A7B}"/>
              </a:ext>
            </a:extLst>
          </p:cNvPr>
          <p:cNvGrpSpPr/>
          <p:nvPr/>
        </p:nvGrpSpPr>
        <p:grpSpPr>
          <a:xfrm>
            <a:off x="2387808" y="2789901"/>
            <a:ext cx="827027" cy="848817"/>
            <a:chOff x="-607649" y="3754658"/>
            <a:chExt cx="827027" cy="848817"/>
          </a:xfrm>
        </p:grpSpPr>
        <p:sp>
          <p:nvSpPr>
            <p:cNvPr id="673" name="Rectangle 672">
              <a:extLst>
                <a:ext uri="{FF2B5EF4-FFF2-40B4-BE49-F238E27FC236}">
                  <a16:creationId xmlns:a16="http://schemas.microsoft.com/office/drawing/2014/main" id="{0FF595CB-7EE9-42B5-59EB-FFD858E8BA40}"/>
                </a:ext>
              </a:extLst>
            </p:cNvPr>
            <p:cNvSpPr/>
            <p:nvPr/>
          </p:nvSpPr>
          <p:spPr>
            <a:xfrm>
              <a:off x="-607649" y="3776817"/>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642" name="Group 641">
              <a:extLst>
                <a:ext uri="{FF2B5EF4-FFF2-40B4-BE49-F238E27FC236}">
                  <a16:creationId xmlns:a16="http://schemas.microsoft.com/office/drawing/2014/main" id="{5D61D46E-1C07-9701-D573-C1E9327AB434}"/>
                </a:ext>
              </a:extLst>
            </p:cNvPr>
            <p:cNvGrpSpPr/>
            <p:nvPr/>
          </p:nvGrpSpPr>
          <p:grpSpPr>
            <a:xfrm>
              <a:off x="-607649" y="3794192"/>
              <a:ext cx="827027" cy="809283"/>
              <a:chOff x="-994175" y="2806754"/>
              <a:chExt cx="827027" cy="809283"/>
            </a:xfrm>
          </p:grpSpPr>
          <p:grpSp>
            <p:nvGrpSpPr>
              <p:cNvPr id="646" name="Group 645">
                <a:extLst>
                  <a:ext uri="{FF2B5EF4-FFF2-40B4-BE49-F238E27FC236}">
                    <a16:creationId xmlns:a16="http://schemas.microsoft.com/office/drawing/2014/main" id="{FF29D6A2-93D0-804D-53A5-5D9273F3385E}"/>
                  </a:ext>
                </a:extLst>
              </p:cNvPr>
              <p:cNvGrpSpPr/>
              <p:nvPr/>
            </p:nvGrpSpPr>
            <p:grpSpPr>
              <a:xfrm>
                <a:off x="-994175" y="2806754"/>
                <a:ext cx="827027" cy="809283"/>
                <a:chOff x="4149692" y="2007646"/>
                <a:chExt cx="827027" cy="809283"/>
              </a:xfrm>
            </p:grpSpPr>
            <p:sp>
              <p:nvSpPr>
                <p:cNvPr id="649" name="Oval 648">
                  <a:extLst>
                    <a:ext uri="{FF2B5EF4-FFF2-40B4-BE49-F238E27FC236}">
                      <a16:creationId xmlns:a16="http://schemas.microsoft.com/office/drawing/2014/main" id="{EF8FBBCF-21B8-84A2-CACC-D3F9282408C9}"/>
                    </a:ext>
                  </a:extLst>
                </p:cNvPr>
                <p:cNvSpPr/>
                <p:nvPr/>
              </p:nvSpPr>
              <p:spPr>
                <a:xfrm>
                  <a:off x="4167067" y="2007646"/>
                  <a:ext cx="792277" cy="792277"/>
                </a:xfrm>
                <a:prstGeom prst="ellipse">
                  <a:avLst/>
                </a:prstGeom>
                <a:solidFill>
                  <a:schemeClr val="bg2"/>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0" name="Oval 649">
                  <a:extLst>
                    <a:ext uri="{FF2B5EF4-FFF2-40B4-BE49-F238E27FC236}">
                      <a16:creationId xmlns:a16="http://schemas.microsoft.com/office/drawing/2014/main" id="{7FB3B863-1E6A-68B3-1864-A98E558EFFD1}"/>
                    </a:ext>
                  </a:extLst>
                </p:cNvPr>
                <p:cNvSpPr/>
                <p:nvPr/>
              </p:nvSpPr>
              <p:spPr>
                <a:xfrm>
                  <a:off x="4223850" y="2064429"/>
                  <a:ext cx="678711" cy="678711"/>
                </a:xfrm>
                <a:prstGeom prst="ellipse">
                  <a:avLst/>
                </a:prstGeom>
                <a:solidFill>
                  <a:schemeClr val="bg1"/>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1" name="Rectangle 650">
                  <a:extLst>
                    <a:ext uri="{FF2B5EF4-FFF2-40B4-BE49-F238E27FC236}">
                      <a16:creationId xmlns:a16="http://schemas.microsoft.com/office/drawing/2014/main" id="{0D4C6FE9-E8C6-3A89-4774-62848E6E06BF}"/>
                    </a:ext>
                  </a:extLst>
                </p:cNvPr>
                <p:cNvSpPr/>
                <p:nvPr/>
              </p:nvSpPr>
              <p:spPr>
                <a:xfrm>
                  <a:off x="4149692" y="2403784"/>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cxnSp>
            <p:nvCxnSpPr>
              <p:cNvPr id="647" name="Straight Connector 646">
                <a:extLst>
                  <a:ext uri="{FF2B5EF4-FFF2-40B4-BE49-F238E27FC236}">
                    <a16:creationId xmlns:a16="http://schemas.microsoft.com/office/drawing/2014/main" id="{3B40B2F5-434C-51A1-FF9A-C81250A2B51E}"/>
                  </a:ext>
                </a:extLst>
              </p:cNvPr>
              <p:cNvCxnSpPr>
                <a:cxnSpLocks/>
              </p:cNvCxnSpPr>
              <p:nvPr/>
            </p:nvCxnSpPr>
            <p:spPr bwMode="gray">
              <a:xfrm flipH="1">
                <a:off x="-316706" y="2964108"/>
                <a:ext cx="63904" cy="45792"/>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48" name="Straight Connector 647">
                <a:extLst>
                  <a:ext uri="{FF2B5EF4-FFF2-40B4-BE49-F238E27FC236}">
                    <a16:creationId xmlns:a16="http://schemas.microsoft.com/office/drawing/2014/main" id="{55CDEC1B-A8CF-61FA-1AB2-4035D21A202B}"/>
                  </a:ext>
                </a:extLst>
              </p:cNvPr>
              <p:cNvCxnSpPr>
                <a:cxnSpLocks/>
              </p:cNvCxnSpPr>
              <p:nvPr/>
            </p:nvCxnSpPr>
            <p:spPr bwMode="gray">
              <a:xfrm flipH="1">
                <a:off x="-490538" y="2814638"/>
                <a:ext cx="21432" cy="69056"/>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643" name="Text Placeholder 34">
              <a:extLst>
                <a:ext uri="{FF2B5EF4-FFF2-40B4-BE49-F238E27FC236}">
                  <a16:creationId xmlns:a16="http://schemas.microsoft.com/office/drawing/2014/main" id="{64014B5B-D5E5-2C87-30C1-7AAE103DFB71}"/>
                </a:ext>
              </a:extLst>
            </p:cNvPr>
            <p:cNvSpPr txBox="1">
              <a:spLocks/>
            </p:cNvSpPr>
            <p:nvPr/>
          </p:nvSpPr>
          <p:spPr>
            <a:xfrm>
              <a:off x="-393005" y="4002364"/>
              <a:ext cx="397738"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9F2842"/>
                  </a:solidFill>
                  <a:effectLst/>
                  <a:uLnTx/>
                  <a:uFillTx/>
                  <a:latin typeface="Arial" panose="020B0604020202020204" pitchFamily="34" charset="0"/>
                  <a:ea typeface="+mn-ea"/>
                  <a:cs typeface="+mn-cs"/>
                </a:rPr>
                <a:t>52</a:t>
              </a:r>
            </a:p>
          </p:txBody>
        </p:sp>
        <p:sp>
          <p:nvSpPr>
            <p:cNvPr id="644" name="Arc 643">
              <a:extLst>
                <a:ext uri="{FF2B5EF4-FFF2-40B4-BE49-F238E27FC236}">
                  <a16:creationId xmlns:a16="http://schemas.microsoft.com/office/drawing/2014/main" id="{C312270B-33CE-1930-F692-B79D55CD8B08}"/>
                </a:ext>
              </a:extLst>
            </p:cNvPr>
            <p:cNvSpPr/>
            <p:nvPr/>
          </p:nvSpPr>
          <p:spPr bwMode="gray">
            <a:xfrm rot="16200000">
              <a:off x="-563196" y="3824212"/>
              <a:ext cx="735806" cy="731837"/>
            </a:xfrm>
            <a:prstGeom prst="arc">
              <a:avLst>
                <a:gd name="adj1" fmla="val 16221201"/>
                <a:gd name="adj2" fmla="val 845249"/>
              </a:avLst>
            </a:prstGeom>
            <a:ln w="44450">
              <a:solidFill>
                <a:srgbClr val="9F2842"/>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45" name="Oval 644">
              <a:extLst>
                <a:ext uri="{FF2B5EF4-FFF2-40B4-BE49-F238E27FC236}">
                  <a16:creationId xmlns:a16="http://schemas.microsoft.com/office/drawing/2014/main" id="{A566C9DD-743F-E33B-6C48-6307BEF63AE7}"/>
                </a:ext>
              </a:extLst>
            </p:cNvPr>
            <p:cNvSpPr/>
            <p:nvPr/>
          </p:nvSpPr>
          <p:spPr>
            <a:xfrm>
              <a:off x="-252576" y="3754658"/>
              <a:ext cx="127596" cy="127596"/>
            </a:xfrm>
            <a:prstGeom prst="ellipse">
              <a:avLst/>
            </a:prstGeom>
            <a:solidFill>
              <a:schemeClr val="bg1"/>
            </a:solidFill>
            <a:ln>
              <a:solidFill>
                <a:srgbClr val="9F284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675" name="Group 674">
            <a:extLst>
              <a:ext uri="{FF2B5EF4-FFF2-40B4-BE49-F238E27FC236}">
                <a16:creationId xmlns:a16="http://schemas.microsoft.com/office/drawing/2014/main" id="{D7C762B8-85BA-4459-05A6-F3B05B4E3FD9}"/>
              </a:ext>
            </a:extLst>
          </p:cNvPr>
          <p:cNvGrpSpPr/>
          <p:nvPr/>
        </p:nvGrpSpPr>
        <p:grpSpPr>
          <a:xfrm>
            <a:off x="2375679" y="2789901"/>
            <a:ext cx="839156" cy="826136"/>
            <a:chOff x="-607649" y="2789901"/>
            <a:chExt cx="839156" cy="826136"/>
          </a:xfrm>
        </p:grpSpPr>
        <p:sp>
          <p:nvSpPr>
            <p:cNvPr id="676" name="Rectangle 675">
              <a:extLst>
                <a:ext uri="{FF2B5EF4-FFF2-40B4-BE49-F238E27FC236}">
                  <a16:creationId xmlns:a16="http://schemas.microsoft.com/office/drawing/2014/main" id="{7C17C48E-3BA3-4B6B-7DA1-1F379850454E}"/>
                </a:ext>
              </a:extLst>
            </p:cNvPr>
            <p:cNvSpPr/>
            <p:nvPr/>
          </p:nvSpPr>
          <p:spPr>
            <a:xfrm>
              <a:off x="-607649" y="2789901"/>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677" name="Group 676">
              <a:extLst>
                <a:ext uri="{FF2B5EF4-FFF2-40B4-BE49-F238E27FC236}">
                  <a16:creationId xmlns:a16="http://schemas.microsoft.com/office/drawing/2014/main" id="{29392041-8B43-6E57-0D94-C76064DBF025}"/>
                </a:ext>
              </a:extLst>
            </p:cNvPr>
            <p:cNvGrpSpPr/>
            <p:nvPr/>
          </p:nvGrpSpPr>
          <p:grpSpPr>
            <a:xfrm>
              <a:off x="-607649" y="2806754"/>
              <a:ext cx="827027" cy="809283"/>
              <a:chOff x="-994175" y="2806754"/>
              <a:chExt cx="827027" cy="809283"/>
            </a:xfrm>
          </p:grpSpPr>
          <p:grpSp>
            <p:nvGrpSpPr>
              <p:cNvPr id="681" name="Group 680">
                <a:extLst>
                  <a:ext uri="{FF2B5EF4-FFF2-40B4-BE49-F238E27FC236}">
                    <a16:creationId xmlns:a16="http://schemas.microsoft.com/office/drawing/2014/main" id="{06E1EE67-4959-37B8-FF0C-31071B817797}"/>
                  </a:ext>
                </a:extLst>
              </p:cNvPr>
              <p:cNvGrpSpPr/>
              <p:nvPr/>
            </p:nvGrpSpPr>
            <p:grpSpPr>
              <a:xfrm>
                <a:off x="-994175" y="2806754"/>
                <a:ext cx="827027" cy="809283"/>
                <a:chOff x="4149692" y="2007646"/>
                <a:chExt cx="827027" cy="809283"/>
              </a:xfrm>
            </p:grpSpPr>
            <p:sp>
              <p:nvSpPr>
                <p:cNvPr id="684" name="Oval 683">
                  <a:extLst>
                    <a:ext uri="{FF2B5EF4-FFF2-40B4-BE49-F238E27FC236}">
                      <a16:creationId xmlns:a16="http://schemas.microsoft.com/office/drawing/2014/main" id="{245A665C-2F99-DB14-FD4F-ACBBEBFC2797}"/>
                    </a:ext>
                  </a:extLst>
                </p:cNvPr>
                <p:cNvSpPr/>
                <p:nvPr/>
              </p:nvSpPr>
              <p:spPr>
                <a:xfrm>
                  <a:off x="4167067" y="2007646"/>
                  <a:ext cx="792277" cy="792277"/>
                </a:xfrm>
                <a:prstGeom prst="ellipse">
                  <a:avLst/>
                </a:prstGeom>
                <a:solidFill>
                  <a:schemeClr val="bg2"/>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5" name="Oval 684">
                  <a:extLst>
                    <a:ext uri="{FF2B5EF4-FFF2-40B4-BE49-F238E27FC236}">
                      <a16:creationId xmlns:a16="http://schemas.microsoft.com/office/drawing/2014/main" id="{B78BD50A-C56B-0FA2-FD6C-E950C174A003}"/>
                    </a:ext>
                  </a:extLst>
                </p:cNvPr>
                <p:cNvSpPr/>
                <p:nvPr/>
              </p:nvSpPr>
              <p:spPr>
                <a:xfrm>
                  <a:off x="4223850" y="2064429"/>
                  <a:ext cx="678711" cy="678711"/>
                </a:xfrm>
                <a:prstGeom prst="ellipse">
                  <a:avLst/>
                </a:prstGeom>
                <a:solidFill>
                  <a:schemeClr val="bg1"/>
                </a:solidFill>
                <a:ln w="3175">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6" name="Rectangle 685">
                  <a:extLst>
                    <a:ext uri="{FF2B5EF4-FFF2-40B4-BE49-F238E27FC236}">
                      <a16:creationId xmlns:a16="http://schemas.microsoft.com/office/drawing/2014/main" id="{AA2DB8F9-57E3-D289-CA7D-78CF5D922349}"/>
                    </a:ext>
                  </a:extLst>
                </p:cNvPr>
                <p:cNvSpPr/>
                <p:nvPr/>
              </p:nvSpPr>
              <p:spPr>
                <a:xfrm>
                  <a:off x="4149692" y="2403784"/>
                  <a:ext cx="827027" cy="41314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cxnSp>
            <p:nvCxnSpPr>
              <p:cNvPr id="682" name="Straight Connector 681">
                <a:extLst>
                  <a:ext uri="{FF2B5EF4-FFF2-40B4-BE49-F238E27FC236}">
                    <a16:creationId xmlns:a16="http://schemas.microsoft.com/office/drawing/2014/main" id="{C4AFE7AA-ADEE-FDE6-18EE-7CE9A2098830}"/>
                  </a:ext>
                </a:extLst>
              </p:cNvPr>
              <p:cNvCxnSpPr>
                <a:cxnSpLocks/>
              </p:cNvCxnSpPr>
              <p:nvPr/>
            </p:nvCxnSpPr>
            <p:spPr bwMode="gray">
              <a:xfrm flipH="1">
                <a:off x="-316706" y="2964108"/>
                <a:ext cx="63904" cy="45792"/>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1260DA4A-6F12-79F4-40B8-D1C556E024D7}"/>
                  </a:ext>
                </a:extLst>
              </p:cNvPr>
              <p:cNvCxnSpPr>
                <a:cxnSpLocks/>
              </p:cNvCxnSpPr>
              <p:nvPr/>
            </p:nvCxnSpPr>
            <p:spPr bwMode="gray">
              <a:xfrm flipH="1">
                <a:off x="-490538" y="2814638"/>
                <a:ext cx="21432" cy="69056"/>
              </a:xfrm>
              <a:prstGeom prst="line">
                <a:avLst/>
              </a:prstGeom>
              <a:ln w="25400">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678" name="Text Placeholder 34">
              <a:extLst>
                <a:ext uri="{FF2B5EF4-FFF2-40B4-BE49-F238E27FC236}">
                  <a16:creationId xmlns:a16="http://schemas.microsoft.com/office/drawing/2014/main" id="{2ED65145-3F13-1CE2-A7EB-978532CDB48C}"/>
                </a:ext>
              </a:extLst>
            </p:cNvPr>
            <p:cNvSpPr txBox="1">
              <a:spLocks/>
            </p:cNvSpPr>
            <p:nvPr/>
          </p:nvSpPr>
          <p:spPr>
            <a:xfrm>
              <a:off x="-393005" y="3014926"/>
              <a:ext cx="397738"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61A60E"/>
                  </a:solidFill>
                  <a:effectLst/>
                  <a:uLnTx/>
                  <a:uFillTx/>
                  <a:latin typeface="Arial" panose="020B0604020202020204" pitchFamily="34" charset="0"/>
                  <a:ea typeface="+mn-ea"/>
                  <a:cs typeface="+mn-cs"/>
                </a:rPr>
                <a:t>92</a:t>
              </a:r>
            </a:p>
          </p:txBody>
        </p:sp>
        <p:sp>
          <p:nvSpPr>
            <p:cNvPr id="679" name="Arc 678">
              <a:extLst>
                <a:ext uri="{FF2B5EF4-FFF2-40B4-BE49-F238E27FC236}">
                  <a16:creationId xmlns:a16="http://schemas.microsoft.com/office/drawing/2014/main" id="{CAE0EE27-BD05-4024-3F73-A36F5A9F50BC}"/>
                </a:ext>
              </a:extLst>
            </p:cNvPr>
            <p:cNvSpPr/>
            <p:nvPr/>
          </p:nvSpPr>
          <p:spPr bwMode="gray">
            <a:xfrm>
              <a:off x="-560930" y="2834565"/>
              <a:ext cx="735806" cy="731837"/>
            </a:xfrm>
            <a:prstGeom prst="arc">
              <a:avLst>
                <a:gd name="adj1" fmla="val 19614901"/>
                <a:gd name="adj2" fmla="val 34278"/>
              </a:avLst>
            </a:prstGeom>
            <a:ln w="444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80" name="Oval 679">
              <a:extLst>
                <a:ext uri="{FF2B5EF4-FFF2-40B4-BE49-F238E27FC236}">
                  <a16:creationId xmlns:a16="http://schemas.microsoft.com/office/drawing/2014/main" id="{40C2386B-EB51-5F41-EC98-2767F6584A7A}"/>
                </a:ext>
              </a:extLst>
            </p:cNvPr>
            <p:cNvSpPr/>
            <p:nvPr/>
          </p:nvSpPr>
          <p:spPr>
            <a:xfrm>
              <a:off x="103911" y="3058290"/>
              <a:ext cx="127596" cy="127596"/>
            </a:xfrm>
            <a:prstGeom prst="ellipse">
              <a:avLst/>
            </a:prstGeom>
            <a:solidFill>
              <a:schemeClr val="bg1"/>
            </a:solid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380" name="Text Placeholder 34">
            <a:extLst>
              <a:ext uri="{FF2B5EF4-FFF2-40B4-BE49-F238E27FC236}">
                <a16:creationId xmlns:a16="http://schemas.microsoft.com/office/drawing/2014/main" id="{CE239E8D-B854-2D50-3DD1-A43FE23736D2}"/>
              </a:ext>
            </a:extLst>
          </p:cNvPr>
          <p:cNvSpPr txBox="1">
            <a:spLocks/>
          </p:cNvSpPr>
          <p:nvPr/>
        </p:nvSpPr>
        <p:spPr>
          <a:xfrm>
            <a:off x="2159139" y="2588720"/>
            <a:ext cx="1364068"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Cluster health score</a:t>
            </a:r>
          </a:p>
        </p:txBody>
      </p:sp>
      <p:sp>
        <p:nvSpPr>
          <p:cNvPr id="381" name="Text Placeholder 34">
            <a:extLst>
              <a:ext uri="{FF2B5EF4-FFF2-40B4-BE49-F238E27FC236}">
                <a16:creationId xmlns:a16="http://schemas.microsoft.com/office/drawing/2014/main" id="{DEEE0A42-DB60-E3F2-6661-D52D470B8ACE}"/>
              </a:ext>
            </a:extLst>
          </p:cNvPr>
          <p:cNvSpPr txBox="1">
            <a:spLocks/>
          </p:cNvSpPr>
          <p:nvPr/>
        </p:nvSpPr>
        <p:spPr>
          <a:xfrm>
            <a:off x="2097679" y="3284319"/>
            <a:ext cx="615007"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Attention</a:t>
            </a:r>
          </a:p>
        </p:txBody>
      </p:sp>
      <p:sp>
        <p:nvSpPr>
          <p:cNvPr id="382" name="Text Placeholder 34">
            <a:extLst>
              <a:ext uri="{FF2B5EF4-FFF2-40B4-BE49-F238E27FC236}">
                <a16:creationId xmlns:a16="http://schemas.microsoft.com/office/drawing/2014/main" id="{263D0AEA-1C25-488C-5777-7FF917CD4B2F}"/>
              </a:ext>
            </a:extLst>
          </p:cNvPr>
          <p:cNvSpPr txBox="1">
            <a:spLocks/>
          </p:cNvSpPr>
          <p:nvPr/>
        </p:nvSpPr>
        <p:spPr>
          <a:xfrm>
            <a:off x="2911879" y="3284319"/>
            <a:ext cx="570842" cy="180008"/>
          </a:xfrm>
          <a:prstGeom prst="rect">
            <a:avLst/>
          </a:prstGeom>
        </p:spPr>
        <p:txBody>
          <a:bodyPr lIns="0" tIns="0" rIns="0" bIns="0"/>
          <a:lstStyle>
            <a:lvl1pPr marL="0" indent="0" algn="l" defTabSz="914400" rtl="0" eaLnBrk="1" latinLnBrk="0" hangingPunct="1">
              <a:lnSpc>
                <a:spcPct val="90000"/>
              </a:lnSpc>
              <a:spcBef>
                <a:spcPts val="15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90000"/>
              </a:lnSpc>
              <a:spcBef>
                <a:spcPts val="18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90000"/>
              </a:lnSpc>
              <a:spcBef>
                <a:spcPts val="10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90000"/>
              </a:lnSpc>
              <a:spcBef>
                <a:spcPts val="12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90000"/>
              </a:lnSpc>
              <a:spcBef>
                <a:spcPts val="10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500"/>
              </a:spcBef>
              <a:spcAft>
                <a:spcPts val="0"/>
              </a:spcAft>
              <a:buClr>
                <a:srgbClr val="717074">
                  <a:lumMod val="60000"/>
                  <a:lumOff val="40000"/>
                </a:srgbClr>
              </a:buClr>
              <a:buSzPct val="90000"/>
              <a:buFont typeface="Arial" panose="020B0604020202020204" pitchFamily="34" charset="0"/>
              <a:buChar char="​"/>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Healthy</a:t>
            </a:r>
          </a:p>
        </p:txBody>
      </p:sp>
      <p:cxnSp>
        <p:nvCxnSpPr>
          <p:cNvPr id="384" name="Straight Connector 383">
            <a:extLst>
              <a:ext uri="{FF2B5EF4-FFF2-40B4-BE49-F238E27FC236}">
                <a16:creationId xmlns:a16="http://schemas.microsoft.com/office/drawing/2014/main" id="{19F2CEDA-B00A-F6A5-A814-397E724014B1}"/>
              </a:ext>
            </a:extLst>
          </p:cNvPr>
          <p:cNvCxnSpPr>
            <a:cxnSpLocks/>
          </p:cNvCxnSpPr>
          <p:nvPr/>
        </p:nvCxnSpPr>
        <p:spPr>
          <a:xfrm>
            <a:off x="2078038" y="3547587"/>
            <a:ext cx="3722223" cy="0"/>
          </a:xfrm>
          <a:prstGeom prst="line">
            <a:avLst/>
          </a:prstGeom>
          <a:ln w="9525">
            <a:solidFill>
              <a:schemeClr val="tx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17836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49"/>
                                        </p:tgtEl>
                                        <p:attrNameLst>
                                          <p:attrName>style.visibility</p:attrName>
                                        </p:attrNameLst>
                                      </p:cBhvr>
                                      <p:to>
                                        <p:strVal val="visible"/>
                                      </p:to>
                                    </p:set>
                                    <p:animEffect transition="in" filter="fade">
                                      <p:cBhvr>
                                        <p:cTn id="7" dur="500"/>
                                        <p:tgtEl>
                                          <p:spTgt spid="449"/>
                                        </p:tgtEl>
                                      </p:cBhvr>
                                    </p:animEffect>
                                  </p:childTnLst>
                                </p:cTn>
                              </p:par>
                              <p:par>
                                <p:cTn id="8" presetID="10" presetClass="entr" presetSubtype="0" fill="hold" nodeType="withEffect">
                                  <p:stCondLst>
                                    <p:cond delay="500"/>
                                  </p:stCondLst>
                                  <p:childTnLst>
                                    <p:set>
                                      <p:cBhvr>
                                        <p:cTn id="9" dur="1" fill="hold">
                                          <p:stCondLst>
                                            <p:cond delay="0"/>
                                          </p:stCondLst>
                                        </p:cTn>
                                        <p:tgtEl>
                                          <p:spTgt spid="463"/>
                                        </p:tgtEl>
                                        <p:attrNameLst>
                                          <p:attrName>style.visibility</p:attrName>
                                        </p:attrNameLst>
                                      </p:cBhvr>
                                      <p:to>
                                        <p:strVal val="visible"/>
                                      </p:to>
                                    </p:set>
                                    <p:animEffect transition="in" filter="fade">
                                      <p:cBhvr>
                                        <p:cTn id="10" dur="500"/>
                                        <p:tgtEl>
                                          <p:spTgt spid="463"/>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50"/>
                                        </p:tgtEl>
                                        <p:attrNameLst>
                                          <p:attrName>style.visibility</p:attrName>
                                        </p:attrNameLst>
                                      </p:cBhvr>
                                      <p:to>
                                        <p:strVal val="visible"/>
                                      </p:to>
                                    </p:set>
                                    <p:animEffect transition="in" filter="fade">
                                      <p:cBhvr>
                                        <p:cTn id="14" dur="500"/>
                                        <p:tgtEl>
                                          <p:spTgt spid="350"/>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374"/>
                                        </p:tgtEl>
                                        <p:attrNameLst>
                                          <p:attrName>style.visibility</p:attrName>
                                        </p:attrNameLst>
                                      </p:cBhvr>
                                      <p:to>
                                        <p:strVal val="visible"/>
                                      </p:to>
                                    </p:set>
                                    <p:animEffect transition="in" filter="fade">
                                      <p:cBhvr>
                                        <p:cTn id="18" dur="500"/>
                                        <p:tgtEl>
                                          <p:spTgt spid="37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80"/>
                                        </p:tgtEl>
                                        <p:attrNameLst>
                                          <p:attrName>style.visibility</p:attrName>
                                        </p:attrNameLst>
                                      </p:cBhvr>
                                      <p:to>
                                        <p:strVal val="visible"/>
                                      </p:to>
                                    </p:set>
                                    <p:animEffect transition="in" filter="fade">
                                      <p:cBhvr>
                                        <p:cTn id="21" dur="500"/>
                                        <p:tgtEl>
                                          <p:spTgt spid="38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67"/>
                                        </p:tgtEl>
                                        <p:attrNameLst>
                                          <p:attrName>style.visibility</p:attrName>
                                        </p:attrNameLst>
                                      </p:cBhvr>
                                      <p:to>
                                        <p:strVal val="visible"/>
                                      </p:to>
                                    </p:set>
                                    <p:animEffect transition="in" filter="fade">
                                      <p:cBhvr>
                                        <p:cTn id="24" dur="500"/>
                                        <p:tgtEl>
                                          <p:spTgt spid="367"/>
                                        </p:tgtEl>
                                      </p:cBhvr>
                                    </p:animEffect>
                                  </p:childTnLst>
                                </p:cTn>
                              </p:par>
                              <p:par>
                                <p:cTn id="25" presetID="10" presetClass="entr" presetSubtype="0" fill="hold" nodeType="withEffect">
                                  <p:stCondLst>
                                    <p:cond delay="0"/>
                                  </p:stCondLst>
                                  <p:childTnLst>
                                    <p:set>
                                      <p:cBhvr>
                                        <p:cTn id="26" dur="1" fill="hold">
                                          <p:stCondLst>
                                            <p:cond delay="0"/>
                                          </p:stCondLst>
                                        </p:cTn>
                                        <p:tgtEl>
                                          <p:spTgt spid="612"/>
                                        </p:tgtEl>
                                        <p:attrNameLst>
                                          <p:attrName>style.visibility</p:attrName>
                                        </p:attrNameLst>
                                      </p:cBhvr>
                                      <p:to>
                                        <p:strVal val="visible"/>
                                      </p:to>
                                    </p:set>
                                    <p:animEffect transition="in" filter="fade">
                                      <p:cBhvr>
                                        <p:cTn id="27" dur="500"/>
                                        <p:tgtEl>
                                          <p:spTgt spid="6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1"/>
                                        </p:tgtEl>
                                        <p:attrNameLst>
                                          <p:attrName>style.visibility</p:attrName>
                                        </p:attrNameLst>
                                      </p:cBhvr>
                                      <p:to>
                                        <p:strVal val="visible"/>
                                      </p:to>
                                    </p:set>
                                    <p:animEffect transition="in" filter="fade">
                                      <p:cBhvr>
                                        <p:cTn id="30" dur="500"/>
                                        <p:tgtEl>
                                          <p:spTgt spid="38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82"/>
                                        </p:tgtEl>
                                        <p:attrNameLst>
                                          <p:attrName>style.visibility</p:attrName>
                                        </p:attrNameLst>
                                      </p:cBhvr>
                                      <p:to>
                                        <p:strVal val="visible"/>
                                      </p:to>
                                    </p:set>
                                    <p:animEffect transition="in" filter="fade">
                                      <p:cBhvr>
                                        <p:cTn id="33" dur="500"/>
                                        <p:tgtEl>
                                          <p:spTgt spid="382"/>
                                        </p:tgtEl>
                                      </p:cBhvr>
                                    </p:animEffect>
                                  </p:childTnLst>
                                </p:cTn>
                              </p:par>
                              <p:par>
                                <p:cTn id="34" presetID="10" presetClass="entr" presetSubtype="0" fill="hold" nodeType="withEffect">
                                  <p:stCondLst>
                                    <p:cond delay="0"/>
                                  </p:stCondLst>
                                  <p:childTnLst>
                                    <p:set>
                                      <p:cBhvr>
                                        <p:cTn id="35" dur="1" fill="hold">
                                          <p:stCondLst>
                                            <p:cond delay="0"/>
                                          </p:stCondLst>
                                        </p:cTn>
                                        <p:tgtEl>
                                          <p:spTgt spid="591"/>
                                        </p:tgtEl>
                                        <p:attrNameLst>
                                          <p:attrName>style.visibility</p:attrName>
                                        </p:attrNameLst>
                                      </p:cBhvr>
                                      <p:to>
                                        <p:strVal val="visible"/>
                                      </p:to>
                                    </p:set>
                                    <p:animEffect transition="in" filter="fade">
                                      <p:cBhvr>
                                        <p:cTn id="36" dur="500"/>
                                        <p:tgtEl>
                                          <p:spTgt spid="591"/>
                                        </p:tgtEl>
                                      </p:cBhvr>
                                    </p:animEffect>
                                  </p:childTnLst>
                                </p:cTn>
                              </p:par>
                              <p:par>
                                <p:cTn id="37" presetID="10" presetClass="entr" presetSubtype="0" fill="hold" nodeType="withEffect">
                                  <p:stCondLst>
                                    <p:cond delay="0"/>
                                  </p:stCondLst>
                                  <p:childTnLst>
                                    <p:set>
                                      <p:cBhvr>
                                        <p:cTn id="38" dur="1" fill="hold">
                                          <p:stCondLst>
                                            <p:cond delay="0"/>
                                          </p:stCondLst>
                                        </p:cTn>
                                        <p:tgtEl>
                                          <p:spTgt spid="384"/>
                                        </p:tgtEl>
                                        <p:attrNameLst>
                                          <p:attrName>style.visibility</p:attrName>
                                        </p:attrNameLst>
                                      </p:cBhvr>
                                      <p:to>
                                        <p:strVal val="visible"/>
                                      </p:to>
                                    </p:set>
                                    <p:animEffect transition="in" filter="fade">
                                      <p:cBhvr>
                                        <p:cTn id="39" dur="500"/>
                                        <p:tgtEl>
                                          <p:spTgt spid="384"/>
                                        </p:tgtEl>
                                      </p:cBhvr>
                                    </p:animEffect>
                                  </p:childTnLst>
                                </p:cTn>
                              </p:par>
                              <p:par>
                                <p:cTn id="40" presetID="10" presetClass="entr" presetSubtype="0" fill="hold" nodeType="withEffect">
                                  <p:stCondLst>
                                    <p:cond delay="0"/>
                                  </p:stCondLst>
                                  <p:childTnLst>
                                    <p:set>
                                      <p:cBhvr>
                                        <p:cTn id="41" dur="1" fill="hold">
                                          <p:stCondLst>
                                            <p:cond delay="0"/>
                                          </p:stCondLst>
                                        </p:cTn>
                                        <p:tgtEl>
                                          <p:spTgt spid="375"/>
                                        </p:tgtEl>
                                        <p:attrNameLst>
                                          <p:attrName>style.visibility</p:attrName>
                                        </p:attrNameLst>
                                      </p:cBhvr>
                                      <p:to>
                                        <p:strVal val="visible"/>
                                      </p:to>
                                    </p:set>
                                    <p:animEffect transition="in" filter="fade">
                                      <p:cBhvr>
                                        <p:cTn id="42" dur="500"/>
                                        <p:tgtEl>
                                          <p:spTgt spid="375"/>
                                        </p:tgtEl>
                                      </p:cBhvr>
                                    </p:animEffect>
                                  </p:childTnLst>
                                </p:cTn>
                              </p:par>
                            </p:childTnLst>
                          </p:cTn>
                        </p:par>
                        <p:par>
                          <p:cTn id="43" fill="hold">
                            <p:stCondLst>
                              <p:cond delay="2000"/>
                            </p:stCondLst>
                            <p:childTnLst>
                              <p:par>
                                <p:cTn id="44" presetID="22" presetClass="entr" presetSubtype="4" fill="hold" nodeType="afterEffect">
                                  <p:stCondLst>
                                    <p:cond delay="1000"/>
                                  </p:stCondLst>
                                  <p:childTnLst>
                                    <p:set>
                                      <p:cBhvr>
                                        <p:cTn id="45" dur="1" fill="hold">
                                          <p:stCondLst>
                                            <p:cond delay="0"/>
                                          </p:stCondLst>
                                        </p:cTn>
                                        <p:tgtEl>
                                          <p:spTgt spid="517"/>
                                        </p:tgtEl>
                                        <p:attrNameLst>
                                          <p:attrName>style.visibility</p:attrName>
                                        </p:attrNameLst>
                                      </p:cBhvr>
                                      <p:to>
                                        <p:strVal val="visible"/>
                                      </p:to>
                                    </p:set>
                                    <p:animEffect transition="in" filter="wipe(down)">
                                      <p:cBhvr>
                                        <p:cTn id="46" dur="500"/>
                                        <p:tgtEl>
                                          <p:spTgt spid="517"/>
                                        </p:tgtEl>
                                      </p:cBhvr>
                                    </p:animEffect>
                                  </p:childTnLst>
                                </p:cTn>
                              </p:par>
                              <p:par>
                                <p:cTn id="47" presetID="1" presetClass="entr" presetSubtype="0" fill="hold" nodeType="withEffect">
                                  <p:stCondLst>
                                    <p:cond delay="1000"/>
                                  </p:stCondLst>
                                  <p:childTnLst>
                                    <p:set>
                                      <p:cBhvr>
                                        <p:cTn id="48" dur="1" fill="hold">
                                          <p:stCondLst>
                                            <p:cond delay="0"/>
                                          </p:stCondLst>
                                        </p:cTn>
                                        <p:tgtEl>
                                          <p:spTgt spid="618"/>
                                        </p:tgtEl>
                                        <p:attrNameLst>
                                          <p:attrName>style.visibility</p:attrName>
                                        </p:attrNameLst>
                                      </p:cBhvr>
                                      <p:to>
                                        <p:strVal val="visible"/>
                                      </p:to>
                                    </p:set>
                                  </p:childTnLst>
                                </p:cTn>
                              </p:par>
                              <p:par>
                                <p:cTn id="49" presetID="8" presetClass="emph" presetSubtype="0" repeatCount="indefinite" fill="hold" nodeType="withEffect">
                                  <p:stCondLst>
                                    <p:cond delay="1000"/>
                                  </p:stCondLst>
                                  <p:childTnLst>
                                    <p:animRot by="21600000">
                                      <p:cBhvr>
                                        <p:cTn id="50" dur="1500" fill="hold"/>
                                        <p:tgtEl>
                                          <p:spTgt spid="618"/>
                                        </p:tgtEl>
                                        <p:attrNameLst>
                                          <p:attrName>r</p:attrName>
                                        </p:attrNameLst>
                                      </p:cBhvr>
                                    </p:animRot>
                                  </p:childTnLst>
                                </p:cTn>
                              </p:par>
                              <p:par>
                                <p:cTn id="51" presetID="10" presetClass="entr" presetSubtype="0" fill="hold" nodeType="withEffect">
                                  <p:stCondLst>
                                    <p:cond delay="1000"/>
                                  </p:stCondLst>
                                  <p:childTnLst>
                                    <p:set>
                                      <p:cBhvr>
                                        <p:cTn id="52" dur="1" fill="hold">
                                          <p:stCondLst>
                                            <p:cond delay="0"/>
                                          </p:stCondLst>
                                        </p:cTn>
                                        <p:tgtEl>
                                          <p:spTgt spid="499"/>
                                        </p:tgtEl>
                                        <p:attrNameLst>
                                          <p:attrName>style.visibility</p:attrName>
                                        </p:attrNameLst>
                                      </p:cBhvr>
                                      <p:to>
                                        <p:strVal val="visible"/>
                                      </p:to>
                                    </p:set>
                                    <p:animEffect transition="in" filter="fade">
                                      <p:cBhvr>
                                        <p:cTn id="53" dur="500"/>
                                        <p:tgtEl>
                                          <p:spTgt spid="499"/>
                                        </p:tgtEl>
                                      </p:cBhvr>
                                    </p:animEffect>
                                  </p:childTnLst>
                                </p:cTn>
                              </p:par>
                              <p:par>
                                <p:cTn id="54" presetID="10" presetClass="entr" presetSubtype="0" fill="hold" grpId="0" nodeType="withEffect">
                                  <p:stCondLst>
                                    <p:cond delay="1000"/>
                                  </p:stCondLst>
                                  <p:childTnLst>
                                    <p:set>
                                      <p:cBhvr>
                                        <p:cTn id="55" dur="1" fill="hold">
                                          <p:stCondLst>
                                            <p:cond delay="0"/>
                                          </p:stCondLst>
                                        </p:cTn>
                                        <p:tgtEl>
                                          <p:spTgt spid="482"/>
                                        </p:tgtEl>
                                        <p:attrNameLst>
                                          <p:attrName>style.visibility</p:attrName>
                                        </p:attrNameLst>
                                      </p:cBhvr>
                                      <p:to>
                                        <p:strVal val="visible"/>
                                      </p:to>
                                    </p:set>
                                    <p:animEffect transition="in" filter="fade">
                                      <p:cBhvr>
                                        <p:cTn id="56" dur="500"/>
                                        <p:tgtEl>
                                          <p:spTgt spid="482"/>
                                        </p:tgtEl>
                                      </p:cBhvr>
                                    </p:animEffect>
                                  </p:childTnLst>
                                </p:cTn>
                              </p:par>
                            </p:childTnLst>
                          </p:cTn>
                        </p:par>
                        <p:par>
                          <p:cTn id="57" fill="hold">
                            <p:stCondLst>
                              <p:cond delay="4500"/>
                            </p:stCondLst>
                            <p:childTnLst>
                              <p:par>
                                <p:cTn id="58" presetID="26" presetClass="emph" presetSubtype="0" fill="hold" nodeType="afterEffect">
                                  <p:stCondLst>
                                    <p:cond delay="0"/>
                                  </p:stCondLst>
                                  <p:childTnLst>
                                    <p:animEffect transition="out" filter="fade">
                                      <p:cBhvr>
                                        <p:cTn id="59" dur="500" tmFilter="0, 0; .2, .5; .8, .5; 1, 0"/>
                                        <p:tgtEl>
                                          <p:spTgt spid="499"/>
                                        </p:tgtEl>
                                      </p:cBhvr>
                                    </p:animEffect>
                                    <p:animScale>
                                      <p:cBhvr>
                                        <p:cTn id="60" dur="250" autoRev="1" fill="hold"/>
                                        <p:tgtEl>
                                          <p:spTgt spid="499"/>
                                        </p:tgtEl>
                                      </p:cBhvr>
                                      <p:by x="105000" y="105000"/>
                                    </p:animScale>
                                  </p:childTnLst>
                                </p:cTn>
                              </p:par>
                              <p:par>
                                <p:cTn id="61" presetID="26" presetClass="emph" presetSubtype="0" fill="hold" grpId="1" nodeType="withEffect">
                                  <p:stCondLst>
                                    <p:cond delay="0"/>
                                  </p:stCondLst>
                                  <p:childTnLst>
                                    <p:animEffect transition="out" filter="fade">
                                      <p:cBhvr>
                                        <p:cTn id="62" dur="500" tmFilter="0, 0; .2, .5; .8, .5; 1, 0"/>
                                        <p:tgtEl>
                                          <p:spTgt spid="482"/>
                                        </p:tgtEl>
                                      </p:cBhvr>
                                    </p:animEffect>
                                    <p:animScale>
                                      <p:cBhvr>
                                        <p:cTn id="63" dur="250" autoRev="1" fill="hold"/>
                                        <p:tgtEl>
                                          <p:spTgt spid="482"/>
                                        </p:tgtEl>
                                      </p:cBhvr>
                                      <p:by x="105000" y="105000"/>
                                    </p:animScale>
                                  </p:childTnLst>
                                </p:cTn>
                              </p:par>
                            </p:childTnLst>
                          </p:cTn>
                        </p:par>
                        <p:par>
                          <p:cTn id="64" fill="hold">
                            <p:stCondLst>
                              <p:cond delay="5000"/>
                            </p:stCondLst>
                            <p:childTnLst>
                              <p:par>
                                <p:cTn id="65" presetID="22" presetClass="entr" presetSubtype="8" fill="hold" nodeType="afterEffect">
                                  <p:stCondLst>
                                    <p:cond delay="0"/>
                                  </p:stCondLst>
                                  <p:childTnLst>
                                    <p:set>
                                      <p:cBhvr>
                                        <p:cTn id="66" dur="1" fill="hold">
                                          <p:stCondLst>
                                            <p:cond delay="0"/>
                                          </p:stCondLst>
                                        </p:cTn>
                                        <p:tgtEl>
                                          <p:spTgt spid="521"/>
                                        </p:tgtEl>
                                        <p:attrNameLst>
                                          <p:attrName>style.visibility</p:attrName>
                                        </p:attrNameLst>
                                      </p:cBhvr>
                                      <p:to>
                                        <p:strVal val="visible"/>
                                      </p:to>
                                    </p:set>
                                    <p:animEffect transition="in" filter="wipe(left)">
                                      <p:cBhvr>
                                        <p:cTn id="67" dur="500"/>
                                        <p:tgtEl>
                                          <p:spTgt spid="521"/>
                                        </p:tgtEl>
                                      </p:cBhvr>
                                    </p:animEffect>
                                  </p:childTnLst>
                                </p:cTn>
                              </p:par>
                            </p:childTnLst>
                          </p:cTn>
                        </p:par>
                        <p:par>
                          <p:cTn id="68" fill="hold">
                            <p:stCondLst>
                              <p:cond delay="5500"/>
                            </p:stCondLst>
                            <p:childTnLst>
                              <p:par>
                                <p:cTn id="69" presetID="22" presetClass="entr" presetSubtype="4" fill="hold" nodeType="afterEffect">
                                  <p:stCondLst>
                                    <p:cond delay="0"/>
                                  </p:stCondLst>
                                  <p:childTnLst>
                                    <p:set>
                                      <p:cBhvr>
                                        <p:cTn id="70" dur="1" fill="hold">
                                          <p:stCondLst>
                                            <p:cond delay="0"/>
                                          </p:stCondLst>
                                        </p:cTn>
                                        <p:tgtEl>
                                          <p:spTgt spid="520"/>
                                        </p:tgtEl>
                                        <p:attrNameLst>
                                          <p:attrName>style.visibility</p:attrName>
                                        </p:attrNameLst>
                                      </p:cBhvr>
                                      <p:to>
                                        <p:strVal val="visible"/>
                                      </p:to>
                                    </p:set>
                                    <p:animEffect transition="in" filter="wipe(down)">
                                      <p:cBhvr>
                                        <p:cTn id="71" dur="500"/>
                                        <p:tgtEl>
                                          <p:spTgt spid="520"/>
                                        </p:tgtEl>
                                      </p:cBhvr>
                                    </p:animEffect>
                                  </p:childTnLst>
                                </p:cTn>
                              </p:par>
                              <p:par>
                                <p:cTn id="72" presetID="1" presetClass="entr" presetSubtype="0" fill="hold" nodeType="withEffect">
                                  <p:stCondLst>
                                    <p:cond delay="0"/>
                                  </p:stCondLst>
                                  <p:childTnLst>
                                    <p:set>
                                      <p:cBhvr>
                                        <p:cTn id="73" dur="1" fill="hold">
                                          <p:stCondLst>
                                            <p:cond delay="0"/>
                                          </p:stCondLst>
                                        </p:cTn>
                                        <p:tgtEl>
                                          <p:spTgt spid="615"/>
                                        </p:tgtEl>
                                        <p:attrNameLst>
                                          <p:attrName>style.visibility</p:attrName>
                                        </p:attrNameLst>
                                      </p:cBhvr>
                                      <p:to>
                                        <p:strVal val="visible"/>
                                      </p:to>
                                    </p:set>
                                  </p:childTnLst>
                                </p:cTn>
                              </p:par>
                              <p:par>
                                <p:cTn id="74" presetID="8" presetClass="emph" presetSubtype="0" repeatCount="indefinite" fill="hold" nodeType="withEffect">
                                  <p:stCondLst>
                                    <p:cond delay="0"/>
                                  </p:stCondLst>
                                  <p:childTnLst>
                                    <p:animRot by="21600000">
                                      <p:cBhvr>
                                        <p:cTn id="75" dur="1500" fill="hold"/>
                                        <p:tgtEl>
                                          <p:spTgt spid="615"/>
                                        </p:tgtEl>
                                        <p:attrNameLst>
                                          <p:attrName>r</p:attrName>
                                        </p:attrNameLst>
                                      </p:cBhvr>
                                    </p:animRot>
                                  </p:childTnLst>
                                </p:cTn>
                              </p:par>
                              <p:par>
                                <p:cTn id="76" presetID="10" presetClass="entr" presetSubtype="0" fill="hold" grpId="0" nodeType="withEffect">
                                  <p:stCondLst>
                                    <p:cond delay="0"/>
                                  </p:stCondLst>
                                  <p:childTnLst>
                                    <p:set>
                                      <p:cBhvr>
                                        <p:cTn id="77" dur="1" fill="hold">
                                          <p:stCondLst>
                                            <p:cond delay="0"/>
                                          </p:stCondLst>
                                        </p:cTn>
                                        <p:tgtEl>
                                          <p:spTgt spid="483"/>
                                        </p:tgtEl>
                                        <p:attrNameLst>
                                          <p:attrName>style.visibility</p:attrName>
                                        </p:attrNameLst>
                                      </p:cBhvr>
                                      <p:to>
                                        <p:strVal val="visible"/>
                                      </p:to>
                                    </p:set>
                                    <p:animEffect transition="in" filter="fade">
                                      <p:cBhvr>
                                        <p:cTn id="78" dur="500"/>
                                        <p:tgtEl>
                                          <p:spTgt spid="483"/>
                                        </p:tgtEl>
                                      </p:cBhvr>
                                    </p:animEffect>
                                  </p:childTnLst>
                                </p:cTn>
                              </p:par>
                              <p:par>
                                <p:cTn id="79" presetID="10" presetClass="entr" presetSubtype="0" fill="hold" nodeType="withEffect">
                                  <p:stCondLst>
                                    <p:cond delay="0"/>
                                  </p:stCondLst>
                                  <p:childTnLst>
                                    <p:set>
                                      <p:cBhvr>
                                        <p:cTn id="80" dur="1" fill="hold">
                                          <p:stCondLst>
                                            <p:cond delay="0"/>
                                          </p:stCondLst>
                                        </p:cTn>
                                        <p:tgtEl>
                                          <p:spTgt spid="513"/>
                                        </p:tgtEl>
                                        <p:attrNameLst>
                                          <p:attrName>style.visibility</p:attrName>
                                        </p:attrNameLst>
                                      </p:cBhvr>
                                      <p:to>
                                        <p:strVal val="visible"/>
                                      </p:to>
                                    </p:set>
                                    <p:animEffect transition="in" filter="fade">
                                      <p:cBhvr>
                                        <p:cTn id="81" dur="500"/>
                                        <p:tgtEl>
                                          <p:spTgt spid="513"/>
                                        </p:tgtEl>
                                      </p:cBhvr>
                                    </p:animEffect>
                                  </p:childTnLst>
                                </p:cTn>
                              </p:par>
                            </p:childTnLst>
                          </p:cTn>
                        </p:par>
                        <p:par>
                          <p:cTn id="82" fill="hold">
                            <p:stCondLst>
                              <p:cond delay="7000"/>
                            </p:stCondLst>
                            <p:childTnLst>
                              <p:par>
                                <p:cTn id="83" presetID="26" presetClass="emph" presetSubtype="0" fill="hold" nodeType="afterEffect">
                                  <p:stCondLst>
                                    <p:cond delay="0"/>
                                  </p:stCondLst>
                                  <p:childTnLst>
                                    <p:animEffect transition="out" filter="fade">
                                      <p:cBhvr>
                                        <p:cTn id="84" dur="500" tmFilter="0, 0; .2, .5; .8, .5; 1, 0"/>
                                        <p:tgtEl>
                                          <p:spTgt spid="513"/>
                                        </p:tgtEl>
                                      </p:cBhvr>
                                    </p:animEffect>
                                    <p:animScale>
                                      <p:cBhvr>
                                        <p:cTn id="85" dur="250" autoRev="1" fill="hold"/>
                                        <p:tgtEl>
                                          <p:spTgt spid="513"/>
                                        </p:tgtEl>
                                      </p:cBhvr>
                                      <p:by x="105000" y="105000"/>
                                    </p:animScale>
                                  </p:childTnLst>
                                </p:cTn>
                              </p:par>
                              <p:par>
                                <p:cTn id="86" presetID="26" presetClass="emph" presetSubtype="0" fill="hold" grpId="1" nodeType="withEffect">
                                  <p:stCondLst>
                                    <p:cond delay="0"/>
                                  </p:stCondLst>
                                  <p:childTnLst>
                                    <p:animEffect transition="out" filter="fade">
                                      <p:cBhvr>
                                        <p:cTn id="87" dur="500" tmFilter="0, 0; .2, .5; .8, .5; 1, 0"/>
                                        <p:tgtEl>
                                          <p:spTgt spid="483"/>
                                        </p:tgtEl>
                                      </p:cBhvr>
                                    </p:animEffect>
                                    <p:animScale>
                                      <p:cBhvr>
                                        <p:cTn id="88" dur="250" autoRev="1" fill="hold"/>
                                        <p:tgtEl>
                                          <p:spTgt spid="483"/>
                                        </p:tgtEl>
                                      </p:cBhvr>
                                      <p:by x="105000" y="105000"/>
                                    </p:animScale>
                                  </p:childTnLst>
                                </p:cTn>
                              </p:par>
                            </p:childTnLst>
                          </p:cTn>
                        </p:par>
                        <p:par>
                          <p:cTn id="89" fill="hold">
                            <p:stCondLst>
                              <p:cond delay="7500"/>
                            </p:stCondLst>
                            <p:childTnLst>
                              <p:par>
                                <p:cTn id="90" presetID="22" presetClass="entr" presetSubtype="2" fill="hold" nodeType="afterEffect">
                                  <p:stCondLst>
                                    <p:cond delay="0"/>
                                  </p:stCondLst>
                                  <p:childTnLst>
                                    <p:set>
                                      <p:cBhvr>
                                        <p:cTn id="91" dur="1" fill="hold">
                                          <p:stCondLst>
                                            <p:cond delay="0"/>
                                          </p:stCondLst>
                                        </p:cTn>
                                        <p:tgtEl>
                                          <p:spTgt spid="526"/>
                                        </p:tgtEl>
                                        <p:attrNameLst>
                                          <p:attrName>style.visibility</p:attrName>
                                        </p:attrNameLst>
                                      </p:cBhvr>
                                      <p:to>
                                        <p:strVal val="visible"/>
                                      </p:to>
                                    </p:set>
                                    <p:animEffect transition="in" filter="wipe(right)">
                                      <p:cBhvr>
                                        <p:cTn id="92" dur="500"/>
                                        <p:tgtEl>
                                          <p:spTgt spid="526"/>
                                        </p:tgtEl>
                                      </p:cBhvr>
                                    </p:animEffect>
                                  </p:childTnLst>
                                </p:cTn>
                              </p:par>
                              <p:par>
                                <p:cTn id="93" presetID="22" presetClass="entr" presetSubtype="4" fill="hold" nodeType="withEffect">
                                  <p:stCondLst>
                                    <p:cond delay="250"/>
                                  </p:stCondLst>
                                  <p:childTnLst>
                                    <p:set>
                                      <p:cBhvr>
                                        <p:cTn id="94" dur="1" fill="hold">
                                          <p:stCondLst>
                                            <p:cond delay="0"/>
                                          </p:stCondLst>
                                        </p:cTn>
                                        <p:tgtEl>
                                          <p:spTgt spid="540"/>
                                        </p:tgtEl>
                                        <p:attrNameLst>
                                          <p:attrName>style.visibility</p:attrName>
                                        </p:attrNameLst>
                                      </p:cBhvr>
                                      <p:to>
                                        <p:strVal val="visible"/>
                                      </p:to>
                                    </p:set>
                                    <p:animEffect transition="in" filter="wipe(down)">
                                      <p:cBhvr>
                                        <p:cTn id="95" dur="500"/>
                                        <p:tgtEl>
                                          <p:spTgt spid="540"/>
                                        </p:tgtEl>
                                      </p:cBhvr>
                                    </p:animEffect>
                                  </p:childTnLst>
                                </p:cTn>
                              </p:par>
                            </p:childTnLst>
                          </p:cTn>
                        </p:par>
                        <p:par>
                          <p:cTn id="96" fill="hold">
                            <p:stCondLst>
                              <p:cond delay="8250"/>
                            </p:stCondLst>
                            <p:childTnLst>
                              <p:par>
                                <p:cTn id="97" presetID="22" presetClass="entr" presetSubtype="2" fill="hold" nodeType="afterEffect">
                                  <p:stCondLst>
                                    <p:cond delay="0"/>
                                  </p:stCondLst>
                                  <p:childTnLst>
                                    <p:set>
                                      <p:cBhvr>
                                        <p:cTn id="98" dur="1" fill="hold">
                                          <p:stCondLst>
                                            <p:cond delay="0"/>
                                          </p:stCondLst>
                                        </p:cTn>
                                        <p:tgtEl>
                                          <p:spTgt spid="539"/>
                                        </p:tgtEl>
                                        <p:attrNameLst>
                                          <p:attrName>style.visibility</p:attrName>
                                        </p:attrNameLst>
                                      </p:cBhvr>
                                      <p:to>
                                        <p:strVal val="visible"/>
                                      </p:to>
                                    </p:set>
                                    <p:animEffect transition="in" filter="wipe(right)">
                                      <p:cBhvr>
                                        <p:cTn id="99" dur="500"/>
                                        <p:tgtEl>
                                          <p:spTgt spid="539"/>
                                        </p:tgtEl>
                                      </p:cBhvr>
                                    </p:animEffect>
                                  </p:childTnLst>
                                </p:cTn>
                              </p:par>
                            </p:childTnLst>
                          </p:cTn>
                        </p:par>
                        <p:par>
                          <p:cTn id="100" fill="hold">
                            <p:stCondLst>
                              <p:cond delay="8750"/>
                            </p:stCondLst>
                            <p:childTnLst>
                              <p:par>
                                <p:cTn id="101" presetID="10" presetClass="entr" presetSubtype="0" fill="hold" grpId="0" nodeType="afterEffect">
                                  <p:stCondLst>
                                    <p:cond delay="0"/>
                                  </p:stCondLst>
                                  <p:childTnLst>
                                    <p:set>
                                      <p:cBhvr>
                                        <p:cTn id="102" dur="1" fill="hold">
                                          <p:stCondLst>
                                            <p:cond delay="0"/>
                                          </p:stCondLst>
                                        </p:cTn>
                                        <p:tgtEl>
                                          <p:spTgt spid="385"/>
                                        </p:tgtEl>
                                        <p:attrNameLst>
                                          <p:attrName>style.visibility</p:attrName>
                                        </p:attrNameLst>
                                      </p:cBhvr>
                                      <p:to>
                                        <p:strVal val="visible"/>
                                      </p:to>
                                    </p:set>
                                    <p:animEffect transition="in" filter="fade">
                                      <p:cBhvr>
                                        <p:cTn id="103" dur="500"/>
                                        <p:tgtEl>
                                          <p:spTgt spid="385"/>
                                        </p:tgtEl>
                                      </p:cBhvr>
                                    </p:animEffect>
                                  </p:childTnLst>
                                </p:cTn>
                              </p:par>
                              <p:par>
                                <p:cTn id="104" presetID="10" presetClass="entr" presetSubtype="0" fill="hold" nodeType="withEffect">
                                  <p:stCondLst>
                                    <p:cond delay="0"/>
                                  </p:stCondLst>
                                  <p:childTnLst>
                                    <p:set>
                                      <p:cBhvr>
                                        <p:cTn id="105" dur="1" fill="hold">
                                          <p:stCondLst>
                                            <p:cond delay="0"/>
                                          </p:stCondLst>
                                        </p:cTn>
                                        <p:tgtEl>
                                          <p:spTgt spid="386"/>
                                        </p:tgtEl>
                                        <p:attrNameLst>
                                          <p:attrName>style.visibility</p:attrName>
                                        </p:attrNameLst>
                                      </p:cBhvr>
                                      <p:to>
                                        <p:strVal val="visible"/>
                                      </p:to>
                                    </p:set>
                                    <p:animEffect transition="in" filter="fade">
                                      <p:cBhvr>
                                        <p:cTn id="106" dur="500"/>
                                        <p:tgtEl>
                                          <p:spTgt spid="386"/>
                                        </p:tgtEl>
                                      </p:cBhvr>
                                    </p:animEffect>
                                  </p:childTnLst>
                                </p:cTn>
                              </p:par>
                            </p:childTnLst>
                          </p:cTn>
                        </p:par>
                        <p:par>
                          <p:cTn id="107" fill="hold">
                            <p:stCondLst>
                              <p:cond delay="9250"/>
                            </p:stCondLst>
                            <p:childTnLst>
                              <p:par>
                                <p:cTn id="108" presetID="10" presetClass="entr" presetSubtype="0" fill="hold" nodeType="afterEffect">
                                  <p:stCondLst>
                                    <p:cond delay="1500"/>
                                  </p:stCondLst>
                                  <p:childTnLst>
                                    <p:set>
                                      <p:cBhvr>
                                        <p:cTn id="109" dur="1" fill="hold">
                                          <p:stCondLst>
                                            <p:cond delay="0"/>
                                          </p:stCondLst>
                                        </p:cTn>
                                        <p:tgtEl>
                                          <p:spTgt spid="672"/>
                                        </p:tgtEl>
                                        <p:attrNameLst>
                                          <p:attrName>style.visibility</p:attrName>
                                        </p:attrNameLst>
                                      </p:cBhvr>
                                      <p:to>
                                        <p:strVal val="visible"/>
                                      </p:to>
                                    </p:set>
                                    <p:animEffect transition="in" filter="fade">
                                      <p:cBhvr>
                                        <p:cTn id="110" dur="500"/>
                                        <p:tgtEl>
                                          <p:spTgt spid="672"/>
                                        </p:tgtEl>
                                      </p:cBhvr>
                                    </p:animEffect>
                                  </p:childTnLst>
                                </p:cTn>
                              </p:par>
                              <p:par>
                                <p:cTn id="111" presetID="10" presetClass="entr" presetSubtype="0" fill="hold" grpId="0" nodeType="withEffect">
                                  <p:stCondLst>
                                    <p:cond delay="1500"/>
                                  </p:stCondLst>
                                  <p:childTnLst>
                                    <p:set>
                                      <p:cBhvr>
                                        <p:cTn id="112" dur="1" fill="hold">
                                          <p:stCondLst>
                                            <p:cond delay="0"/>
                                          </p:stCondLst>
                                        </p:cTn>
                                        <p:tgtEl>
                                          <p:spTgt spid="333"/>
                                        </p:tgtEl>
                                        <p:attrNameLst>
                                          <p:attrName>style.visibility</p:attrName>
                                        </p:attrNameLst>
                                      </p:cBhvr>
                                      <p:to>
                                        <p:strVal val="visible"/>
                                      </p:to>
                                    </p:set>
                                    <p:animEffect transition="in" filter="fade">
                                      <p:cBhvr>
                                        <p:cTn id="113" dur="500"/>
                                        <p:tgtEl>
                                          <p:spTgt spid="333"/>
                                        </p:tgtEl>
                                      </p:cBhvr>
                                    </p:animEffect>
                                  </p:childTnLst>
                                </p:cTn>
                              </p:par>
                              <p:par>
                                <p:cTn id="114" presetID="22" presetClass="entr" presetSubtype="8" fill="hold" nodeType="withEffect">
                                  <p:stCondLst>
                                    <p:cond delay="1500"/>
                                  </p:stCondLst>
                                  <p:childTnLst>
                                    <p:set>
                                      <p:cBhvr>
                                        <p:cTn id="115" dur="1" fill="hold">
                                          <p:stCondLst>
                                            <p:cond delay="0"/>
                                          </p:stCondLst>
                                        </p:cTn>
                                        <p:tgtEl>
                                          <p:spTgt spid="419"/>
                                        </p:tgtEl>
                                        <p:attrNameLst>
                                          <p:attrName>style.visibility</p:attrName>
                                        </p:attrNameLst>
                                      </p:cBhvr>
                                      <p:to>
                                        <p:strVal val="visible"/>
                                      </p:to>
                                    </p:set>
                                    <p:animEffect transition="in" filter="wipe(left)">
                                      <p:cBhvr>
                                        <p:cTn id="116" dur="500"/>
                                        <p:tgtEl>
                                          <p:spTgt spid="419"/>
                                        </p:tgtEl>
                                      </p:cBhvr>
                                    </p:animEffect>
                                  </p:childTnLst>
                                </p:cTn>
                              </p:par>
                            </p:childTnLst>
                          </p:cTn>
                        </p:par>
                        <p:par>
                          <p:cTn id="117" fill="hold">
                            <p:stCondLst>
                              <p:cond delay="11250"/>
                            </p:stCondLst>
                            <p:childTnLst>
                              <p:par>
                                <p:cTn id="118" presetID="22" presetClass="entr" presetSubtype="8" fill="hold" nodeType="afterEffect">
                                  <p:stCondLst>
                                    <p:cond delay="0"/>
                                  </p:stCondLst>
                                  <p:childTnLst>
                                    <p:set>
                                      <p:cBhvr>
                                        <p:cTn id="119" dur="1" fill="hold">
                                          <p:stCondLst>
                                            <p:cond delay="0"/>
                                          </p:stCondLst>
                                        </p:cTn>
                                        <p:tgtEl>
                                          <p:spTgt spid="349"/>
                                        </p:tgtEl>
                                        <p:attrNameLst>
                                          <p:attrName>style.visibility</p:attrName>
                                        </p:attrNameLst>
                                      </p:cBhvr>
                                      <p:to>
                                        <p:strVal val="visible"/>
                                      </p:to>
                                    </p:set>
                                    <p:animEffect transition="in" filter="wipe(left)">
                                      <p:cBhvr>
                                        <p:cTn id="120" dur="250"/>
                                        <p:tgtEl>
                                          <p:spTgt spid="349"/>
                                        </p:tgtEl>
                                      </p:cBhvr>
                                    </p:animEffect>
                                  </p:childTnLst>
                                </p:cTn>
                              </p:par>
                            </p:childTnLst>
                          </p:cTn>
                        </p:par>
                        <p:par>
                          <p:cTn id="121" fill="hold">
                            <p:stCondLst>
                              <p:cond delay="11500"/>
                            </p:stCondLst>
                            <p:childTnLst>
                              <p:par>
                                <p:cTn id="122" presetID="26" presetClass="emph" presetSubtype="0" fill="hold" grpId="1" nodeType="afterEffect">
                                  <p:stCondLst>
                                    <p:cond delay="500"/>
                                  </p:stCondLst>
                                  <p:childTnLst>
                                    <p:animEffect transition="out" filter="fade">
                                      <p:cBhvr>
                                        <p:cTn id="123" dur="500" tmFilter="0, 0; .2, .5; .8, .5; 1, 0"/>
                                        <p:tgtEl>
                                          <p:spTgt spid="333"/>
                                        </p:tgtEl>
                                      </p:cBhvr>
                                    </p:animEffect>
                                    <p:animScale>
                                      <p:cBhvr>
                                        <p:cTn id="124" dur="250" autoRev="1" fill="hold"/>
                                        <p:tgtEl>
                                          <p:spTgt spid="333"/>
                                        </p:tgtEl>
                                      </p:cBhvr>
                                      <p:by x="105000" y="105000"/>
                                    </p:animScale>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398"/>
                                        </p:tgtEl>
                                        <p:attrNameLst>
                                          <p:attrName>style.visibility</p:attrName>
                                        </p:attrNameLst>
                                      </p:cBhvr>
                                      <p:to>
                                        <p:strVal val="visible"/>
                                      </p:to>
                                    </p:set>
                                    <p:animEffect transition="in" filter="fade">
                                      <p:cBhvr>
                                        <p:cTn id="129" dur="500"/>
                                        <p:tgtEl>
                                          <p:spTgt spid="398"/>
                                        </p:tgtEl>
                                      </p:cBhvr>
                                    </p:animEffect>
                                  </p:childTnLst>
                                </p:cTn>
                              </p:par>
                              <p:par>
                                <p:cTn id="130" presetID="10" presetClass="entr" presetSubtype="0" fill="hold" nodeType="withEffect">
                                  <p:stCondLst>
                                    <p:cond delay="0"/>
                                  </p:stCondLst>
                                  <p:childTnLst>
                                    <p:set>
                                      <p:cBhvr>
                                        <p:cTn id="131" dur="1" fill="hold">
                                          <p:stCondLst>
                                            <p:cond delay="0"/>
                                          </p:stCondLst>
                                        </p:cTn>
                                        <p:tgtEl>
                                          <p:spTgt spid="674"/>
                                        </p:tgtEl>
                                        <p:attrNameLst>
                                          <p:attrName>style.visibility</p:attrName>
                                        </p:attrNameLst>
                                      </p:cBhvr>
                                      <p:to>
                                        <p:strVal val="visible"/>
                                      </p:to>
                                    </p:set>
                                    <p:animEffect transition="in" filter="fade">
                                      <p:cBhvr>
                                        <p:cTn id="132" dur="500"/>
                                        <p:tgtEl>
                                          <p:spTgt spid="674"/>
                                        </p:tgtEl>
                                      </p:cBhvr>
                                    </p:animEffect>
                                  </p:childTnLst>
                                </p:cTn>
                              </p:par>
                              <p:par>
                                <p:cTn id="133" presetID="10" presetClass="entr" presetSubtype="0" fill="hold" nodeType="withEffect">
                                  <p:stCondLst>
                                    <p:cond delay="0"/>
                                  </p:stCondLst>
                                  <p:childTnLst>
                                    <p:set>
                                      <p:cBhvr>
                                        <p:cTn id="134" dur="1" fill="hold">
                                          <p:stCondLst>
                                            <p:cond delay="0"/>
                                          </p:stCondLst>
                                        </p:cTn>
                                        <p:tgtEl>
                                          <p:spTgt spid="401"/>
                                        </p:tgtEl>
                                        <p:attrNameLst>
                                          <p:attrName>style.visibility</p:attrName>
                                        </p:attrNameLst>
                                      </p:cBhvr>
                                      <p:to>
                                        <p:strVal val="visible"/>
                                      </p:to>
                                    </p:set>
                                    <p:animEffect transition="in" filter="fade">
                                      <p:cBhvr>
                                        <p:cTn id="135" dur="500"/>
                                        <p:tgtEl>
                                          <p:spTgt spid="401"/>
                                        </p:tgtEl>
                                      </p:cBhvr>
                                    </p:animEffect>
                                  </p:childTnLst>
                                </p:cTn>
                              </p:par>
                              <p:par>
                                <p:cTn id="136" presetID="10" presetClass="entr" presetSubtype="0" fill="hold" nodeType="withEffect">
                                  <p:stCondLst>
                                    <p:cond delay="0"/>
                                  </p:stCondLst>
                                  <p:childTnLst>
                                    <p:set>
                                      <p:cBhvr>
                                        <p:cTn id="137" dur="1" fill="hold">
                                          <p:stCondLst>
                                            <p:cond delay="0"/>
                                          </p:stCondLst>
                                        </p:cTn>
                                        <p:tgtEl>
                                          <p:spTgt spid="399"/>
                                        </p:tgtEl>
                                        <p:attrNameLst>
                                          <p:attrName>style.visibility</p:attrName>
                                        </p:attrNameLst>
                                      </p:cBhvr>
                                      <p:to>
                                        <p:strVal val="visible"/>
                                      </p:to>
                                    </p:set>
                                    <p:animEffect transition="in" filter="fade">
                                      <p:cBhvr>
                                        <p:cTn id="138" dur="500"/>
                                        <p:tgtEl>
                                          <p:spTgt spid="399"/>
                                        </p:tgtEl>
                                      </p:cBhvr>
                                    </p:animEffect>
                                  </p:childTnLst>
                                </p:cTn>
                              </p:par>
                              <p:par>
                                <p:cTn id="139" presetID="10" presetClass="entr" presetSubtype="0" fill="hold" nodeType="withEffect">
                                  <p:stCondLst>
                                    <p:cond delay="0"/>
                                  </p:stCondLst>
                                  <p:childTnLst>
                                    <p:set>
                                      <p:cBhvr>
                                        <p:cTn id="140" dur="1" fill="hold">
                                          <p:stCondLst>
                                            <p:cond delay="0"/>
                                          </p:stCondLst>
                                        </p:cTn>
                                        <p:tgtEl>
                                          <p:spTgt spid="36"/>
                                        </p:tgtEl>
                                        <p:attrNameLst>
                                          <p:attrName>style.visibility</p:attrName>
                                        </p:attrNameLst>
                                      </p:cBhvr>
                                      <p:to>
                                        <p:strVal val="visible"/>
                                      </p:to>
                                    </p:set>
                                    <p:animEffect transition="in" filter="fade">
                                      <p:cBhvr>
                                        <p:cTn id="141" dur="500"/>
                                        <p:tgtEl>
                                          <p:spTgt spid="36"/>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153"/>
                                        </p:tgtEl>
                                        <p:attrNameLst>
                                          <p:attrName>style.visibility</p:attrName>
                                        </p:attrNameLst>
                                      </p:cBhvr>
                                      <p:to>
                                        <p:strVal val="visible"/>
                                      </p:to>
                                    </p:set>
                                    <p:animEffect transition="in" filter="fade">
                                      <p:cBhvr>
                                        <p:cTn id="144" dur="500"/>
                                        <p:tgtEl>
                                          <p:spTgt spid="153"/>
                                        </p:tgtEl>
                                      </p:cBhvr>
                                    </p:animEffect>
                                  </p:childTnLst>
                                </p:cTn>
                              </p:par>
                              <p:par>
                                <p:cTn id="145" presetID="10" presetClass="entr" presetSubtype="0" fill="hold" nodeType="withEffect">
                                  <p:stCondLst>
                                    <p:cond delay="0"/>
                                  </p:stCondLst>
                                  <p:childTnLst>
                                    <p:set>
                                      <p:cBhvr>
                                        <p:cTn id="146" dur="1" fill="hold">
                                          <p:stCondLst>
                                            <p:cond delay="0"/>
                                          </p:stCondLst>
                                        </p:cTn>
                                        <p:tgtEl>
                                          <p:spTgt spid="213"/>
                                        </p:tgtEl>
                                        <p:attrNameLst>
                                          <p:attrName>style.visibility</p:attrName>
                                        </p:attrNameLst>
                                      </p:cBhvr>
                                      <p:to>
                                        <p:strVal val="visible"/>
                                      </p:to>
                                    </p:set>
                                    <p:animEffect transition="in" filter="fade">
                                      <p:cBhvr>
                                        <p:cTn id="147" dur="500"/>
                                        <p:tgtEl>
                                          <p:spTgt spid="213"/>
                                        </p:tgtEl>
                                      </p:cBhvr>
                                    </p:animEffect>
                                  </p:childTnLst>
                                </p:cTn>
                              </p:par>
                              <p:par>
                                <p:cTn id="148" presetID="10" presetClass="entr" presetSubtype="0" fill="hold" grpId="0" nodeType="withEffect">
                                  <p:stCondLst>
                                    <p:cond delay="0"/>
                                  </p:stCondLst>
                                  <p:childTnLst>
                                    <p:set>
                                      <p:cBhvr>
                                        <p:cTn id="149" dur="1" fill="hold">
                                          <p:stCondLst>
                                            <p:cond delay="0"/>
                                          </p:stCondLst>
                                        </p:cTn>
                                        <p:tgtEl>
                                          <p:spTgt spid="193"/>
                                        </p:tgtEl>
                                        <p:attrNameLst>
                                          <p:attrName>style.visibility</p:attrName>
                                        </p:attrNameLst>
                                      </p:cBhvr>
                                      <p:to>
                                        <p:strVal val="visible"/>
                                      </p:to>
                                    </p:set>
                                    <p:animEffect transition="in" filter="fade">
                                      <p:cBhvr>
                                        <p:cTn id="150" dur="500"/>
                                        <p:tgtEl>
                                          <p:spTgt spid="193"/>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194"/>
                                        </p:tgtEl>
                                        <p:attrNameLst>
                                          <p:attrName>style.visibility</p:attrName>
                                        </p:attrNameLst>
                                      </p:cBhvr>
                                      <p:to>
                                        <p:strVal val="visible"/>
                                      </p:to>
                                    </p:set>
                                    <p:animEffect transition="in" filter="fade">
                                      <p:cBhvr>
                                        <p:cTn id="153" dur="500"/>
                                        <p:tgtEl>
                                          <p:spTgt spid="194"/>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195"/>
                                        </p:tgtEl>
                                        <p:attrNameLst>
                                          <p:attrName>style.visibility</p:attrName>
                                        </p:attrNameLst>
                                      </p:cBhvr>
                                      <p:to>
                                        <p:strVal val="visible"/>
                                      </p:to>
                                    </p:set>
                                    <p:animEffect transition="in" filter="fade">
                                      <p:cBhvr>
                                        <p:cTn id="156" dur="500"/>
                                        <p:tgtEl>
                                          <p:spTgt spid="195"/>
                                        </p:tgtEl>
                                      </p:cBhvr>
                                    </p:animEffect>
                                  </p:childTnLst>
                                </p:cTn>
                              </p:par>
                            </p:childTnLst>
                          </p:cTn>
                        </p:par>
                        <p:par>
                          <p:cTn id="157" fill="hold">
                            <p:stCondLst>
                              <p:cond delay="500"/>
                            </p:stCondLst>
                            <p:childTnLst>
                              <p:par>
                                <p:cTn id="158" presetID="10" presetClass="entr" presetSubtype="0" fill="hold" grpId="1" nodeType="afterEffect">
                                  <p:stCondLst>
                                    <p:cond delay="0"/>
                                  </p:stCondLst>
                                  <p:childTnLst>
                                    <p:set>
                                      <p:cBhvr>
                                        <p:cTn id="159" dur="1" fill="hold">
                                          <p:stCondLst>
                                            <p:cond delay="0"/>
                                          </p:stCondLst>
                                        </p:cTn>
                                        <p:tgtEl>
                                          <p:spTgt spid="336"/>
                                        </p:tgtEl>
                                        <p:attrNameLst>
                                          <p:attrName>style.visibility</p:attrName>
                                        </p:attrNameLst>
                                      </p:cBhvr>
                                      <p:to>
                                        <p:strVal val="visible"/>
                                      </p:to>
                                    </p:set>
                                    <p:animEffect transition="in" filter="fade">
                                      <p:cBhvr>
                                        <p:cTn id="160" dur="500"/>
                                        <p:tgtEl>
                                          <p:spTgt spid="336"/>
                                        </p:tgtEl>
                                      </p:cBhvr>
                                    </p:animEffect>
                                  </p:childTnLst>
                                </p:cTn>
                              </p:par>
                            </p:childTnLst>
                          </p:cTn>
                        </p:par>
                        <p:par>
                          <p:cTn id="161" fill="hold">
                            <p:stCondLst>
                              <p:cond delay="1000"/>
                            </p:stCondLst>
                            <p:childTnLst>
                              <p:par>
                                <p:cTn id="162" presetID="22" presetClass="entr" presetSubtype="8" fill="hold" nodeType="afterEffect">
                                  <p:stCondLst>
                                    <p:cond delay="0"/>
                                  </p:stCondLst>
                                  <p:childTnLst>
                                    <p:set>
                                      <p:cBhvr>
                                        <p:cTn id="163" dur="1" fill="hold">
                                          <p:stCondLst>
                                            <p:cond delay="0"/>
                                          </p:stCondLst>
                                        </p:cTn>
                                        <p:tgtEl>
                                          <p:spTgt spid="335"/>
                                        </p:tgtEl>
                                        <p:attrNameLst>
                                          <p:attrName>style.visibility</p:attrName>
                                        </p:attrNameLst>
                                      </p:cBhvr>
                                      <p:to>
                                        <p:strVal val="visible"/>
                                      </p:to>
                                    </p:set>
                                    <p:animEffect transition="in" filter="wipe(left)">
                                      <p:cBhvr>
                                        <p:cTn id="164" dur="250"/>
                                        <p:tgtEl>
                                          <p:spTgt spid="335"/>
                                        </p:tgtEl>
                                      </p:cBhvr>
                                    </p:animEffect>
                                  </p:childTnLst>
                                </p:cTn>
                              </p:par>
                            </p:childTnLst>
                          </p:cTn>
                        </p:par>
                        <p:par>
                          <p:cTn id="165" fill="hold">
                            <p:stCondLst>
                              <p:cond delay="1250"/>
                            </p:stCondLst>
                            <p:childTnLst>
                              <p:par>
                                <p:cTn id="166" presetID="26" presetClass="emph" presetSubtype="0" fill="hold" grpId="0" nodeType="afterEffect">
                                  <p:stCondLst>
                                    <p:cond delay="500"/>
                                  </p:stCondLst>
                                  <p:childTnLst>
                                    <p:animEffect transition="out" filter="fade">
                                      <p:cBhvr>
                                        <p:cTn id="167" dur="500" tmFilter="0, 0; .2, .5; .8, .5; 1, 0"/>
                                        <p:tgtEl>
                                          <p:spTgt spid="336"/>
                                        </p:tgtEl>
                                      </p:cBhvr>
                                    </p:animEffect>
                                    <p:animScale>
                                      <p:cBhvr>
                                        <p:cTn id="168" dur="250" autoRev="1" fill="hold"/>
                                        <p:tgtEl>
                                          <p:spTgt spid="336"/>
                                        </p:tgtEl>
                                      </p:cBhvr>
                                      <p:by x="105000" y="105000"/>
                                    </p:animScale>
                                  </p:childTnLst>
                                </p:cTn>
                              </p:par>
                              <p:par>
                                <p:cTn id="169" presetID="26" presetClass="emph" presetSubtype="0" fill="hold" nodeType="withEffect">
                                  <p:stCondLst>
                                    <p:cond delay="500"/>
                                  </p:stCondLst>
                                  <p:childTnLst>
                                    <p:animEffect transition="out" filter="fade">
                                      <p:cBhvr>
                                        <p:cTn id="170" dur="500" tmFilter="0, 0; .2, .5; .8, .5; 1, 0"/>
                                        <p:tgtEl>
                                          <p:spTgt spid="213"/>
                                        </p:tgtEl>
                                      </p:cBhvr>
                                    </p:animEffect>
                                    <p:animScale>
                                      <p:cBhvr>
                                        <p:cTn id="171" dur="250" autoRev="1" fill="hold"/>
                                        <p:tgtEl>
                                          <p:spTgt spid="213"/>
                                        </p:tgtEl>
                                      </p:cBhvr>
                                      <p:by x="105000" y="105000"/>
                                    </p:animScale>
                                  </p:childTnLst>
                                </p:cTn>
                              </p:par>
                            </p:childTnLst>
                          </p:cTn>
                        </p:par>
                      </p:childTnLst>
                    </p:cTn>
                  </p:par>
                  <p:par>
                    <p:cTn id="172" fill="hold">
                      <p:stCondLst>
                        <p:cond delay="indefinite"/>
                      </p:stCondLst>
                      <p:childTnLst>
                        <p:par>
                          <p:cTn id="173" fill="hold">
                            <p:stCondLst>
                              <p:cond delay="0"/>
                            </p:stCondLst>
                            <p:childTnLst>
                              <p:par>
                                <p:cTn id="174" presetID="10" presetClass="entr" presetSubtype="0" fill="hold" nodeType="clickEffect">
                                  <p:stCondLst>
                                    <p:cond delay="0"/>
                                  </p:stCondLst>
                                  <p:childTnLst>
                                    <p:set>
                                      <p:cBhvr>
                                        <p:cTn id="175" dur="1" fill="hold">
                                          <p:stCondLst>
                                            <p:cond delay="0"/>
                                          </p:stCondLst>
                                        </p:cTn>
                                        <p:tgtEl>
                                          <p:spTgt spid="675"/>
                                        </p:tgtEl>
                                        <p:attrNameLst>
                                          <p:attrName>style.visibility</p:attrName>
                                        </p:attrNameLst>
                                      </p:cBhvr>
                                      <p:to>
                                        <p:strVal val="visible"/>
                                      </p:to>
                                    </p:set>
                                    <p:animEffect transition="in" filter="fade">
                                      <p:cBhvr>
                                        <p:cTn id="176" dur="500"/>
                                        <p:tgtEl>
                                          <p:spTgt spid="675"/>
                                        </p:tgtEl>
                                      </p:cBhvr>
                                    </p:animEffect>
                                  </p:childTnLst>
                                </p:cTn>
                              </p:par>
                            </p:childTnLst>
                          </p:cTn>
                        </p:par>
                        <p:par>
                          <p:cTn id="177" fill="hold">
                            <p:stCondLst>
                              <p:cond delay="500"/>
                            </p:stCondLst>
                            <p:childTnLst>
                              <p:par>
                                <p:cTn id="178" presetID="10" presetClass="exit" presetSubtype="0" fill="hold" nodeType="afterEffect">
                                  <p:stCondLst>
                                    <p:cond delay="250"/>
                                  </p:stCondLst>
                                  <p:childTnLst>
                                    <p:animEffect transition="out" filter="fade">
                                      <p:cBhvr>
                                        <p:cTn id="179" dur="500"/>
                                        <p:tgtEl>
                                          <p:spTgt spid="398"/>
                                        </p:tgtEl>
                                      </p:cBhvr>
                                    </p:animEffect>
                                    <p:set>
                                      <p:cBhvr>
                                        <p:cTn id="180" dur="1" fill="hold">
                                          <p:stCondLst>
                                            <p:cond delay="499"/>
                                          </p:stCondLst>
                                        </p:cTn>
                                        <p:tgtEl>
                                          <p:spTgt spid="398"/>
                                        </p:tgtEl>
                                        <p:attrNameLst>
                                          <p:attrName>style.visibility</p:attrName>
                                        </p:attrNameLst>
                                      </p:cBhvr>
                                      <p:to>
                                        <p:strVal val="hidden"/>
                                      </p:to>
                                    </p:set>
                                  </p:childTnLst>
                                </p:cTn>
                              </p:par>
                              <p:par>
                                <p:cTn id="181" presetID="1" presetClass="exit" presetSubtype="0" fill="hold" grpId="0" nodeType="withEffect">
                                  <p:stCondLst>
                                    <p:cond delay="250"/>
                                  </p:stCondLst>
                                  <p:childTnLst>
                                    <p:set>
                                      <p:cBhvr>
                                        <p:cTn id="182" dur="1" fill="hold">
                                          <p:stCondLst>
                                            <p:cond delay="0"/>
                                          </p:stCondLst>
                                        </p:cTn>
                                        <p:tgtEl>
                                          <p:spTgt spid="4"/>
                                        </p:tgtEl>
                                        <p:attrNameLst>
                                          <p:attrName>style.visibility</p:attrName>
                                        </p:attrNameLst>
                                      </p:cBhvr>
                                      <p:to>
                                        <p:strVal val="hidden"/>
                                      </p:to>
                                    </p:set>
                                  </p:childTnLst>
                                </p:cTn>
                              </p:par>
                              <p:par>
                                <p:cTn id="183" presetID="10" presetClass="exit" presetSubtype="0" fill="hold" nodeType="withEffect">
                                  <p:stCondLst>
                                    <p:cond delay="250"/>
                                  </p:stCondLst>
                                  <p:childTnLst>
                                    <p:animEffect transition="out" filter="fade">
                                      <p:cBhvr>
                                        <p:cTn id="184" dur="500"/>
                                        <p:tgtEl>
                                          <p:spTgt spid="401"/>
                                        </p:tgtEl>
                                      </p:cBhvr>
                                    </p:animEffect>
                                    <p:set>
                                      <p:cBhvr>
                                        <p:cTn id="185" dur="1" fill="hold">
                                          <p:stCondLst>
                                            <p:cond delay="499"/>
                                          </p:stCondLst>
                                        </p:cTn>
                                        <p:tgtEl>
                                          <p:spTgt spid="401"/>
                                        </p:tgtEl>
                                        <p:attrNameLst>
                                          <p:attrName>style.visibility</p:attrName>
                                        </p:attrNameLst>
                                      </p:cBhvr>
                                      <p:to>
                                        <p:strVal val="hidden"/>
                                      </p:to>
                                    </p:set>
                                  </p:childTnLst>
                                </p:cTn>
                              </p:par>
                              <p:par>
                                <p:cTn id="186" presetID="10" presetClass="exit" presetSubtype="0" fill="hold" nodeType="withEffect">
                                  <p:stCondLst>
                                    <p:cond delay="250"/>
                                  </p:stCondLst>
                                  <p:childTnLst>
                                    <p:animEffect transition="out" filter="fade">
                                      <p:cBhvr>
                                        <p:cTn id="187" dur="500"/>
                                        <p:tgtEl>
                                          <p:spTgt spid="399"/>
                                        </p:tgtEl>
                                      </p:cBhvr>
                                    </p:animEffect>
                                    <p:set>
                                      <p:cBhvr>
                                        <p:cTn id="188" dur="1" fill="hold">
                                          <p:stCondLst>
                                            <p:cond delay="499"/>
                                          </p:stCondLst>
                                        </p:cTn>
                                        <p:tgtEl>
                                          <p:spTgt spid="399"/>
                                        </p:tgtEl>
                                        <p:attrNameLst>
                                          <p:attrName>style.visibility</p:attrName>
                                        </p:attrNameLst>
                                      </p:cBhvr>
                                      <p:to>
                                        <p:strVal val="hidden"/>
                                      </p:to>
                                    </p:set>
                                  </p:childTnLst>
                                </p:cTn>
                              </p:par>
                              <p:par>
                                <p:cTn id="189" presetID="10" presetClass="exit" presetSubtype="0" fill="hold" nodeType="withEffect">
                                  <p:stCondLst>
                                    <p:cond delay="250"/>
                                  </p:stCondLst>
                                  <p:childTnLst>
                                    <p:animEffect transition="out" filter="fade">
                                      <p:cBhvr>
                                        <p:cTn id="190" dur="500"/>
                                        <p:tgtEl>
                                          <p:spTgt spid="36"/>
                                        </p:tgtEl>
                                      </p:cBhvr>
                                    </p:animEffect>
                                    <p:set>
                                      <p:cBhvr>
                                        <p:cTn id="191" dur="1" fill="hold">
                                          <p:stCondLst>
                                            <p:cond delay="499"/>
                                          </p:stCondLst>
                                        </p:cTn>
                                        <p:tgtEl>
                                          <p:spTgt spid="36"/>
                                        </p:tgtEl>
                                        <p:attrNameLst>
                                          <p:attrName>style.visibility</p:attrName>
                                        </p:attrNameLst>
                                      </p:cBhvr>
                                      <p:to>
                                        <p:strVal val="hidden"/>
                                      </p:to>
                                    </p:set>
                                  </p:childTnLst>
                                </p:cTn>
                              </p:par>
                              <p:par>
                                <p:cTn id="192" presetID="10" presetClass="exit" presetSubtype="0" fill="hold" grpId="1" nodeType="withEffect">
                                  <p:stCondLst>
                                    <p:cond delay="250"/>
                                  </p:stCondLst>
                                  <p:childTnLst>
                                    <p:animEffect transition="out" filter="fade">
                                      <p:cBhvr>
                                        <p:cTn id="193" dur="500"/>
                                        <p:tgtEl>
                                          <p:spTgt spid="153"/>
                                        </p:tgtEl>
                                      </p:cBhvr>
                                    </p:animEffect>
                                    <p:set>
                                      <p:cBhvr>
                                        <p:cTn id="194" dur="1" fill="hold">
                                          <p:stCondLst>
                                            <p:cond delay="499"/>
                                          </p:stCondLst>
                                        </p:cTn>
                                        <p:tgtEl>
                                          <p:spTgt spid="153"/>
                                        </p:tgtEl>
                                        <p:attrNameLst>
                                          <p:attrName>style.visibility</p:attrName>
                                        </p:attrNameLst>
                                      </p:cBhvr>
                                      <p:to>
                                        <p:strVal val="hidden"/>
                                      </p:to>
                                    </p:set>
                                  </p:childTnLst>
                                </p:cTn>
                              </p:par>
                              <p:par>
                                <p:cTn id="195" presetID="10" presetClass="exit" presetSubtype="0" fill="hold" nodeType="withEffect">
                                  <p:stCondLst>
                                    <p:cond delay="250"/>
                                  </p:stCondLst>
                                  <p:childTnLst>
                                    <p:animEffect transition="out" filter="fade">
                                      <p:cBhvr>
                                        <p:cTn id="196" dur="500"/>
                                        <p:tgtEl>
                                          <p:spTgt spid="213"/>
                                        </p:tgtEl>
                                      </p:cBhvr>
                                    </p:animEffect>
                                    <p:set>
                                      <p:cBhvr>
                                        <p:cTn id="197" dur="1" fill="hold">
                                          <p:stCondLst>
                                            <p:cond delay="499"/>
                                          </p:stCondLst>
                                        </p:cTn>
                                        <p:tgtEl>
                                          <p:spTgt spid="213"/>
                                        </p:tgtEl>
                                        <p:attrNameLst>
                                          <p:attrName>style.visibility</p:attrName>
                                        </p:attrNameLst>
                                      </p:cBhvr>
                                      <p:to>
                                        <p:strVal val="hidden"/>
                                      </p:to>
                                    </p:set>
                                  </p:childTnLst>
                                </p:cTn>
                              </p:par>
                              <p:par>
                                <p:cTn id="198" presetID="10" presetClass="exit" presetSubtype="0" fill="hold" grpId="1" nodeType="withEffect">
                                  <p:stCondLst>
                                    <p:cond delay="250"/>
                                  </p:stCondLst>
                                  <p:childTnLst>
                                    <p:animEffect transition="out" filter="fade">
                                      <p:cBhvr>
                                        <p:cTn id="199" dur="500"/>
                                        <p:tgtEl>
                                          <p:spTgt spid="193"/>
                                        </p:tgtEl>
                                      </p:cBhvr>
                                    </p:animEffect>
                                    <p:set>
                                      <p:cBhvr>
                                        <p:cTn id="200" dur="1" fill="hold">
                                          <p:stCondLst>
                                            <p:cond delay="499"/>
                                          </p:stCondLst>
                                        </p:cTn>
                                        <p:tgtEl>
                                          <p:spTgt spid="193"/>
                                        </p:tgtEl>
                                        <p:attrNameLst>
                                          <p:attrName>style.visibility</p:attrName>
                                        </p:attrNameLst>
                                      </p:cBhvr>
                                      <p:to>
                                        <p:strVal val="hidden"/>
                                      </p:to>
                                    </p:set>
                                  </p:childTnLst>
                                </p:cTn>
                              </p:par>
                              <p:par>
                                <p:cTn id="201" presetID="10" presetClass="exit" presetSubtype="0" fill="hold" grpId="1" nodeType="withEffect">
                                  <p:stCondLst>
                                    <p:cond delay="250"/>
                                  </p:stCondLst>
                                  <p:childTnLst>
                                    <p:animEffect transition="out" filter="fade">
                                      <p:cBhvr>
                                        <p:cTn id="202" dur="500"/>
                                        <p:tgtEl>
                                          <p:spTgt spid="194"/>
                                        </p:tgtEl>
                                      </p:cBhvr>
                                    </p:animEffect>
                                    <p:set>
                                      <p:cBhvr>
                                        <p:cTn id="203" dur="1" fill="hold">
                                          <p:stCondLst>
                                            <p:cond delay="499"/>
                                          </p:stCondLst>
                                        </p:cTn>
                                        <p:tgtEl>
                                          <p:spTgt spid="194"/>
                                        </p:tgtEl>
                                        <p:attrNameLst>
                                          <p:attrName>style.visibility</p:attrName>
                                        </p:attrNameLst>
                                      </p:cBhvr>
                                      <p:to>
                                        <p:strVal val="hidden"/>
                                      </p:to>
                                    </p:set>
                                  </p:childTnLst>
                                </p:cTn>
                              </p:par>
                              <p:par>
                                <p:cTn id="204" presetID="10" presetClass="exit" presetSubtype="0" fill="hold" grpId="1" nodeType="withEffect">
                                  <p:stCondLst>
                                    <p:cond delay="250"/>
                                  </p:stCondLst>
                                  <p:childTnLst>
                                    <p:animEffect transition="out" filter="fade">
                                      <p:cBhvr>
                                        <p:cTn id="205" dur="500"/>
                                        <p:tgtEl>
                                          <p:spTgt spid="195"/>
                                        </p:tgtEl>
                                      </p:cBhvr>
                                    </p:animEffect>
                                    <p:set>
                                      <p:cBhvr>
                                        <p:cTn id="206" dur="1" fill="hold">
                                          <p:stCondLst>
                                            <p:cond delay="499"/>
                                          </p:stCondLst>
                                        </p:cTn>
                                        <p:tgtEl>
                                          <p:spTgt spid="19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74" grpId="0"/>
      <p:bldP spid="385" grpId="0"/>
      <p:bldP spid="333" grpId="0"/>
      <p:bldP spid="333" grpId="1"/>
      <p:bldP spid="336" grpId="0"/>
      <p:bldP spid="336" grpId="1"/>
      <p:bldP spid="153" grpId="0"/>
      <p:bldP spid="153" grpId="1"/>
      <p:bldP spid="193" grpId="0" animBg="1"/>
      <p:bldP spid="193" grpId="1" animBg="1"/>
      <p:bldP spid="194" grpId="0"/>
      <p:bldP spid="194" grpId="1"/>
      <p:bldP spid="195" grpId="0"/>
      <p:bldP spid="195" grpId="1"/>
      <p:bldP spid="367" grpId="0"/>
      <p:bldP spid="482" grpId="0"/>
      <p:bldP spid="482" grpId="1"/>
      <p:bldP spid="483" grpId="0"/>
      <p:bldP spid="483" grpId="1"/>
      <p:bldP spid="380" grpId="0"/>
      <p:bldP spid="381" grpId="0"/>
      <p:bldP spid="38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08497-B724-3337-E164-0F8E74826D9A}"/>
            </a:ext>
          </a:extLst>
        </p:cNvPr>
        <p:cNvGrpSpPr/>
        <p:nvPr/>
      </p:nvGrpSpPr>
      <p:grpSpPr>
        <a:xfrm>
          <a:off x="0" y="0"/>
          <a:ext cx="0" cy="0"/>
          <a:chOff x="0" y="0"/>
          <a:chExt cx="0" cy="0"/>
        </a:xfrm>
      </p:grpSpPr>
      <p:sp>
        <p:nvSpPr>
          <p:cNvPr id="4" name="Oval 3">
            <a:extLst>
              <a:ext uri="{FF2B5EF4-FFF2-40B4-BE49-F238E27FC236}">
                <a16:creationId xmlns:a16="http://schemas.microsoft.com/office/drawing/2014/main" id="{0C636714-4911-8D09-4FF0-1263CF26D442}"/>
              </a:ext>
            </a:extLst>
          </p:cNvPr>
          <p:cNvSpPr/>
          <p:nvPr/>
        </p:nvSpPr>
        <p:spPr>
          <a:xfrm>
            <a:off x="2499758" y="1392005"/>
            <a:ext cx="2762019" cy="2762019"/>
          </a:xfrm>
          <a:prstGeom prst="ellipse">
            <a:avLst/>
          </a:prstGeom>
          <a:gradFill flip="none" rotWithShape="1">
            <a:gsLst>
              <a:gs pos="26000">
                <a:srgbClr val="CCEEFF"/>
              </a:gs>
              <a:gs pos="0">
                <a:schemeClr val="accent1">
                  <a:lumMod val="5000"/>
                  <a:lumOff val="95000"/>
                </a:schemeClr>
              </a:gs>
              <a:gs pos="58000">
                <a:schemeClr val="bg1"/>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 name="Title 1">
            <a:extLst>
              <a:ext uri="{FF2B5EF4-FFF2-40B4-BE49-F238E27FC236}">
                <a16:creationId xmlns:a16="http://schemas.microsoft.com/office/drawing/2014/main" id="{F9FD8954-C017-68AA-C885-2640C67FB635}"/>
              </a:ext>
            </a:extLst>
          </p:cNvPr>
          <p:cNvSpPr>
            <a:spLocks noGrp="1"/>
          </p:cNvSpPr>
          <p:nvPr>
            <p:ph type="title"/>
          </p:nvPr>
        </p:nvSpPr>
        <p:spPr/>
        <p:txBody>
          <a:bodyPr/>
          <a:lstStyle/>
          <a:p>
            <a:r>
              <a:rPr lang="en-US" dirty="0"/>
              <a:t>Run Multiple Workloads and Topologies Simultaneously</a:t>
            </a:r>
          </a:p>
        </p:txBody>
      </p:sp>
      <p:sp>
        <p:nvSpPr>
          <p:cNvPr id="3" name="Subtitle 2">
            <a:extLst>
              <a:ext uri="{FF2B5EF4-FFF2-40B4-BE49-F238E27FC236}">
                <a16:creationId xmlns:a16="http://schemas.microsoft.com/office/drawing/2014/main" id="{D8FD621F-909D-408B-ED4A-C8FC69C48B6B}"/>
              </a:ext>
            </a:extLst>
          </p:cNvPr>
          <p:cNvSpPr>
            <a:spLocks noGrp="1"/>
          </p:cNvSpPr>
          <p:nvPr>
            <p:ph type="subTitle" idx="10"/>
          </p:nvPr>
        </p:nvSpPr>
        <p:spPr/>
        <p:txBody>
          <a:bodyPr/>
          <a:lstStyle/>
          <a:p>
            <a:r>
              <a:rPr lang="en-US" dirty="0"/>
              <a:t>Provides flexibility in powering many types of workloads across different environments</a:t>
            </a:r>
          </a:p>
          <a:p>
            <a:endParaRPr lang="en-US" dirty="0"/>
          </a:p>
        </p:txBody>
      </p:sp>
      <p:sp>
        <p:nvSpPr>
          <p:cNvPr id="5" name="Text Placeholder 4">
            <a:extLst>
              <a:ext uri="{FF2B5EF4-FFF2-40B4-BE49-F238E27FC236}">
                <a16:creationId xmlns:a16="http://schemas.microsoft.com/office/drawing/2014/main" id="{3895CCAF-2292-D82A-7EEC-5DDE646F9EF8}"/>
              </a:ext>
            </a:extLst>
          </p:cNvPr>
          <p:cNvSpPr>
            <a:spLocks noGrp="1"/>
          </p:cNvSpPr>
          <p:nvPr>
            <p:ph type="body" sz="quarter" idx="17"/>
          </p:nvPr>
        </p:nvSpPr>
        <p:spPr/>
        <p:txBody>
          <a:bodyPr/>
          <a:lstStyle/>
          <a:p>
            <a:r>
              <a:rPr lang="en-US" dirty="0"/>
              <a:t>Power </a:t>
            </a:r>
            <a:r>
              <a:rPr lang="en-US" b="1" dirty="0"/>
              <a:t>multiple application types </a:t>
            </a:r>
            <a:r>
              <a:rPr lang="en-US" dirty="0"/>
              <a:t>using vSAN</a:t>
            </a:r>
          </a:p>
          <a:p>
            <a:pPr lvl="1"/>
            <a:r>
              <a:rPr lang="en-US" dirty="0"/>
              <a:t>Business Critical Apps (BCA)</a:t>
            </a:r>
          </a:p>
          <a:p>
            <a:pPr lvl="1"/>
            <a:r>
              <a:rPr lang="en-US" dirty="0"/>
              <a:t>Cloud Native Apps (CNA)</a:t>
            </a:r>
          </a:p>
          <a:p>
            <a:pPr lvl="1"/>
            <a:r>
              <a:rPr lang="en-US" dirty="0"/>
              <a:t>IT Core Infrastructure svcs.</a:t>
            </a:r>
          </a:p>
          <a:p>
            <a:pPr lvl="1"/>
            <a:r>
              <a:rPr lang="en-US" dirty="0"/>
              <a:t>Virtual desktops (VDI)</a:t>
            </a:r>
          </a:p>
          <a:p>
            <a:pPr lvl="1"/>
            <a:r>
              <a:rPr lang="en-US" dirty="0"/>
              <a:t>Edge (2-Node Clusters)</a:t>
            </a:r>
          </a:p>
          <a:p>
            <a:r>
              <a:rPr lang="en-US" b="1" dirty="0"/>
              <a:t>Easily adapt</a:t>
            </a:r>
            <a:r>
              <a:rPr lang="en-US" dirty="0"/>
              <a:t> configuration to evolving needs</a:t>
            </a:r>
          </a:p>
          <a:p>
            <a:r>
              <a:rPr lang="en-US" dirty="0"/>
              <a:t>Use </a:t>
            </a:r>
            <a:r>
              <a:rPr lang="en-US" b="1" dirty="0"/>
              <a:t>multiple topologies </a:t>
            </a:r>
            <a:r>
              <a:rPr lang="en-US" dirty="0"/>
              <a:t>across environment</a:t>
            </a:r>
          </a:p>
          <a:p>
            <a:r>
              <a:rPr lang="en-US" dirty="0"/>
              <a:t>Manage through single interface</a:t>
            </a:r>
          </a:p>
          <a:p>
            <a:endParaRPr lang="en-US" dirty="0"/>
          </a:p>
        </p:txBody>
      </p:sp>
      <p:sp>
        <p:nvSpPr>
          <p:cNvPr id="6" name="Rectangle 5">
            <a:extLst>
              <a:ext uri="{FF2B5EF4-FFF2-40B4-BE49-F238E27FC236}">
                <a16:creationId xmlns:a16="http://schemas.microsoft.com/office/drawing/2014/main" id="{4692F2F2-9610-A1E9-6D96-48AC86CB1C15}"/>
              </a:ext>
            </a:extLst>
          </p:cNvPr>
          <p:cNvSpPr/>
          <p:nvPr/>
        </p:nvSpPr>
        <p:spPr>
          <a:xfrm>
            <a:off x="3672850" y="5851851"/>
            <a:ext cx="1891865" cy="215444"/>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Primary Data center</a:t>
            </a:r>
          </a:p>
        </p:txBody>
      </p:sp>
      <p:grpSp>
        <p:nvGrpSpPr>
          <p:cNvPr id="7" name="Group 6">
            <a:extLst>
              <a:ext uri="{FF2B5EF4-FFF2-40B4-BE49-F238E27FC236}">
                <a16:creationId xmlns:a16="http://schemas.microsoft.com/office/drawing/2014/main" id="{2A368129-2EB8-2213-414A-95AEFC88A69C}"/>
              </a:ext>
            </a:extLst>
          </p:cNvPr>
          <p:cNvGrpSpPr/>
          <p:nvPr/>
        </p:nvGrpSpPr>
        <p:grpSpPr>
          <a:xfrm>
            <a:off x="1013078" y="5629027"/>
            <a:ext cx="2813010" cy="170206"/>
            <a:chOff x="1013078" y="5629027"/>
            <a:chExt cx="2813010" cy="170206"/>
          </a:xfrm>
        </p:grpSpPr>
        <p:cxnSp>
          <p:nvCxnSpPr>
            <p:cNvPr id="8" name="Straight Connector 7">
              <a:extLst>
                <a:ext uri="{FF2B5EF4-FFF2-40B4-BE49-F238E27FC236}">
                  <a16:creationId xmlns:a16="http://schemas.microsoft.com/office/drawing/2014/main" id="{46A3F9D4-B5D8-43BE-F583-4B37AD839EB3}"/>
                </a:ext>
              </a:extLst>
            </p:cNvPr>
            <p:cNvCxnSpPr>
              <a:cxnSpLocks/>
            </p:cNvCxnSpPr>
            <p:nvPr/>
          </p:nvCxnSpPr>
          <p:spPr bwMode="gray">
            <a:xfrm>
              <a:off x="1013078" y="5629027"/>
              <a:ext cx="0" cy="88069"/>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1EAAF5A-F38C-6EF0-EC9E-D757558C151C}"/>
                </a:ext>
              </a:extLst>
            </p:cNvPr>
            <p:cNvCxnSpPr>
              <a:cxnSpLocks/>
              <a:stCxn id="12" idx="3"/>
            </p:cNvCxnSpPr>
            <p:nvPr/>
          </p:nvCxnSpPr>
          <p:spPr bwMode="gray">
            <a:xfrm>
              <a:off x="2631805" y="5714595"/>
              <a:ext cx="1194283" cy="250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6524497-91DD-1B6D-9EBA-8780849BD6C0}"/>
                </a:ext>
              </a:extLst>
            </p:cNvPr>
            <p:cNvCxnSpPr>
              <a:cxnSpLocks/>
            </p:cNvCxnSpPr>
            <p:nvPr/>
          </p:nvCxnSpPr>
          <p:spPr bwMode="gray">
            <a:xfrm>
              <a:off x="3826088" y="5629027"/>
              <a:ext cx="0" cy="88069"/>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72C8F0A-010F-EF52-6735-F0139B16D091}"/>
                </a:ext>
              </a:extLst>
            </p:cNvPr>
            <p:cNvCxnSpPr>
              <a:cxnSpLocks/>
            </p:cNvCxnSpPr>
            <p:nvPr/>
          </p:nvCxnSpPr>
          <p:spPr bwMode="gray">
            <a:xfrm>
              <a:off x="1013078" y="5717095"/>
              <a:ext cx="1154708"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FD4C5076-18C8-5BA4-E18E-B5D5302D94D2}"/>
                </a:ext>
              </a:extLst>
            </p:cNvPr>
            <p:cNvSpPr txBox="1"/>
            <p:nvPr/>
          </p:nvSpPr>
          <p:spPr>
            <a:xfrm>
              <a:off x="2207361" y="5629956"/>
              <a:ext cx="424444" cy="1692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0098C7"/>
                  </a:solidFill>
                  <a:effectLst/>
                  <a:uLnTx/>
                  <a:uFillTx/>
                  <a:latin typeface="Arial" panose="020B0604020202020204"/>
                  <a:ea typeface="+mn-ea"/>
                  <a:cs typeface="+mn-cs"/>
                </a:rPr>
                <a:t>vSAN</a:t>
              </a:r>
            </a:p>
          </p:txBody>
        </p:sp>
      </p:grpSp>
      <p:grpSp>
        <p:nvGrpSpPr>
          <p:cNvPr id="13" name="Group 12">
            <a:extLst>
              <a:ext uri="{FF2B5EF4-FFF2-40B4-BE49-F238E27FC236}">
                <a16:creationId xmlns:a16="http://schemas.microsoft.com/office/drawing/2014/main" id="{58C76C40-7AA4-853D-B539-4702746449B0}"/>
              </a:ext>
            </a:extLst>
          </p:cNvPr>
          <p:cNvGrpSpPr/>
          <p:nvPr/>
        </p:nvGrpSpPr>
        <p:grpSpPr>
          <a:xfrm>
            <a:off x="3173382" y="4936803"/>
            <a:ext cx="652706" cy="639854"/>
            <a:chOff x="3173382" y="4936803"/>
            <a:chExt cx="652706" cy="639854"/>
          </a:xfrm>
        </p:grpSpPr>
        <p:pic>
          <p:nvPicPr>
            <p:cNvPr id="14" name="Graphic 13">
              <a:extLst>
                <a:ext uri="{FF2B5EF4-FFF2-40B4-BE49-F238E27FC236}">
                  <a16:creationId xmlns:a16="http://schemas.microsoft.com/office/drawing/2014/main" id="{6294730B-04B9-7F2A-B807-E35D8C1CE4F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173382" y="5402955"/>
              <a:ext cx="652706" cy="173702"/>
            </a:xfrm>
            <a:prstGeom prst="rect">
              <a:avLst/>
            </a:prstGeom>
          </p:spPr>
        </p:pic>
        <p:pic>
          <p:nvPicPr>
            <p:cNvPr id="15" name="Graphic 14">
              <a:extLst>
                <a:ext uri="{FF2B5EF4-FFF2-40B4-BE49-F238E27FC236}">
                  <a16:creationId xmlns:a16="http://schemas.microsoft.com/office/drawing/2014/main" id="{1B9A30C4-00A8-0B4E-367B-C09A200A6BA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173382" y="5169197"/>
              <a:ext cx="652706" cy="173702"/>
            </a:xfrm>
            <a:prstGeom prst="rect">
              <a:avLst/>
            </a:prstGeom>
          </p:spPr>
        </p:pic>
        <p:pic>
          <p:nvPicPr>
            <p:cNvPr id="16" name="Graphic 15">
              <a:extLst>
                <a:ext uri="{FF2B5EF4-FFF2-40B4-BE49-F238E27FC236}">
                  <a16:creationId xmlns:a16="http://schemas.microsoft.com/office/drawing/2014/main" id="{C130AEE4-259B-885B-86A8-79827F03B2B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173382" y="4936803"/>
              <a:ext cx="652706" cy="173702"/>
            </a:xfrm>
            <a:prstGeom prst="rect">
              <a:avLst/>
            </a:prstGeom>
          </p:spPr>
        </p:pic>
      </p:grpSp>
      <p:sp>
        <p:nvSpPr>
          <p:cNvPr id="17" name="Rectangle 16">
            <a:extLst>
              <a:ext uri="{FF2B5EF4-FFF2-40B4-BE49-F238E27FC236}">
                <a16:creationId xmlns:a16="http://schemas.microsoft.com/office/drawing/2014/main" id="{DF0F102A-0786-F1D3-1F7B-DD2B8B5A2443}"/>
              </a:ext>
            </a:extLst>
          </p:cNvPr>
          <p:cNvSpPr/>
          <p:nvPr/>
        </p:nvSpPr>
        <p:spPr>
          <a:xfrm>
            <a:off x="5907256" y="3253019"/>
            <a:ext cx="2056974" cy="215444"/>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Edge / Branch Offices</a:t>
            </a:r>
          </a:p>
        </p:txBody>
      </p:sp>
      <p:grpSp>
        <p:nvGrpSpPr>
          <p:cNvPr id="18" name="Group 17">
            <a:extLst>
              <a:ext uri="{FF2B5EF4-FFF2-40B4-BE49-F238E27FC236}">
                <a16:creationId xmlns:a16="http://schemas.microsoft.com/office/drawing/2014/main" id="{A0FF0FF3-626D-08FF-C967-A633C5377041}"/>
              </a:ext>
            </a:extLst>
          </p:cNvPr>
          <p:cNvGrpSpPr/>
          <p:nvPr/>
        </p:nvGrpSpPr>
        <p:grpSpPr>
          <a:xfrm>
            <a:off x="5442988" y="4936803"/>
            <a:ext cx="655180" cy="862430"/>
            <a:chOff x="4542233" y="4825529"/>
            <a:chExt cx="655180" cy="862430"/>
          </a:xfrm>
        </p:grpSpPr>
        <p:pic>
          <p:nvPicPr>
            <p:cNvPr id="19" name="Graphic 18">
              <a:extLst>
                <a:ext uri="{FF2B5EF4-FFF2-40B4-BE49-F238E27FC236}">
                  <a16:creationId xmlns:a16="http://schemas.microsoft.com/office/drawing/2014/main" id="{78ACA602-7A80-E8E5-EA1C-DB12EB7A50F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548716" y="5057923"/>
              <a:ext cx="644903" cy="171626"/>
            </a:xfrm>
            <a:prstGeom prst="rect">
              <a:avLst/>
            </a:prstGeom>
          </p:spPr>
        </p:pic>
        <p:pic>
          <p:nvPicPr>
            <p:cNvPr id="20" name="Graphic 19">
              <a:extLst>
                <a:ext uri="{FF2B5EF4-FFF2-40B4-BE49-F238E27FC236}">
                  <a16:creationId xmlns:a16="http://schemas.microsoft.com/office/drawing/2014/main" id="{69F7E15E-E896-A590-2CF3-4705A96AABF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548716" y="5293757"/>
              <a:ext cx="644903" cy="171626"/>
            </a:xfrm>
            <a:prstGeom prst="rect">
              <a:avLst/>
            </a:prstGeom>
          </p:spPr>
        </p:pic>
        <p:cxnSp>
          <p:nvCxnSpPr>
            <p:cNvPr id="21" name="Straight Connector 20">
              <a:extLst>
                <a:ext uri="{FF2B5EF4-FFF2-40B4-BE49-F238E27FC236}">
                  <a16:creationId xmlns:a16="http://schemas.microsoft.com/office/drawing/2014/main" id="{BF04EE00-150D-7953-01A5-77098D08F1A4}"/>
                </a:ext>
              </a:extLst>
            </p:cNvPr>
            <p:cNvCxnSpPr>
              <a:cxnSpLocks/>
            </p:cNvCxnSpPr>
            <p:nvPr/>
          </p:nvCxnSpPr>
          <p:spPr bwMode="gray">
            <a:xfrm>
              <a:off x="4546643" y="5517750"/>
              <a:ext cx="0" cy="88403"/>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1BBABFE-D369-4C74-0481-55DBA96689E0}"/>
                </a:ext>
              </a:extLst>
            </p:cNvPr>
            <p:cNvCxnSpPr>
              <a:cxnSpLocks/>
            </p:cNvCxnSpPr>
            <p:nvPr/>
          </p:nvCxnSpPr>
          <p:spPr bwMode="gray">
            <a:xfrm>
              <a:off x="5071450" y="5606153"/>
              <a:ext cx="12596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263D7F4-E33F-FCA0-1214-90C3A763CF0E}"/>
                </a:ext>
              </a:extLst>
            </p:cNvPr>
            <p:cNvCxnSpPr>
              <a:cxnSpLocks/>
            </p:cNvCxnSpPr>
            <p:nvPr/>
          </p:nvCxnSpPr>
          <p:spPr bwMode="gray">
            <a:xfrm>
              <a:off x="5192642" y="5517750"/>
              <a:ext cx="0" cy="88403"/>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5E1A160-9C97-3137-9441-6392EB63DB71}"/>
                </a:ext>
              </a:extLst>
            </p:cNvPr>
            <p:cNvCxnSpPr>
              <a:cxnSpLocks/>
            </p:cNvCxnSpPr>
            <p:nvPr/>
          </p:nvCxnSpPr>
          <p:spPr bwMode="gray">
            <a:xfrm>
              <a:off x="4542233" y="5606153"/>
              <a:ext cx="12596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AC54E91-E3D7-9609-E251-B5A67CFE0881}"/>
                </a:ext>
              </a:extLst>
            </p:cNvPr>
            <p:cNvSpPr txBox="1"/>
            <p:nvPr/>
          </p:nvSpPr>
          <p:spPr>
            <a:xfrm>
              <a:off x="4663960" y="5518682"/>
              <a:ext cx="426054" cy="1692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0098C7"/>
                  </a:solidFill>
                  <a:effectLst/>
                  <a:uLnTx/>
                  <a:uFillTx/>
                  <a:latin typeface="Arial" panose="020B0604020202020204"/>
                  <a:ea typeface="+mn-ea"/>
                  <a:cs typeface="+mn-cs"/>
                </a:rPr>
                <a:t>vSAN</a:t>
              </a:r>
            </a:p>
          </p:txBody>
        </p:sp>
        <p:pic>
          <p:nvPicPr>
            <p:cNvPr id="26" name="Graphic 25">
              <a:extLst>
                <a:ext uri="{FF2B5EF4-FFF2-40B4-BE49-F238E27FC236}">
                  <a16:creationId xmlns:a16="http://schemas.microsoft.com/office/drawing/2014/main" id="{E603E33B-E581-7BFB-CD74-8237E4711A5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548716" y="4825529"/>
              <a:ext cx="644903" cy="171626"/>
            </a:xfrm>
            <a:prstGeom prst="rect">
              <a:avLst/>
            </a:prstGeom>
          </p:spPr>
        </p:pic>
      </p:grpSp>
      <p:grpSp>
        <p:nvGrpSpPr>
          <p:cNvPr id="27" name="Group 26">
            <a:extLst>
              <a:ext uri="{FF2B5EF4-FFF2-40B4-BE49-F238E27FC236}">
                <a16:creationId xmlns:a16="http://schemas.microsoft.com/office/drawing/2014/main" id="{D007A248-3479-EE1F-1513-AC2E1934759A}"/>
              </a:ext>
            </a:extLst>
          </p:cNvPr>
          <p:cNvGrpSpPr/>
          <p:nvPr/>
        </p:nvGrpSpPr>
        <p:grpSpPr>
          <a:xfrm>
            <a:off x="3953129" y="4936803"/>
            <a:ext cx="1360637" cy="862430"/>
            <a:chOff x="3048149" y="4825529"/>
            <a:chExt cx="1360637" cy="862430"/>
          </a:xfrm>
        </p:grpSpPr>
        <p:grpSp>
          <p:nvGrpSpPr>
            <p:cNvPr id="28" name="Group 27">
              <a:extLst>
                <a:ext uri="{FF2B5EF4-FFF2-40B4-BE49-F238E27FC236}">
                  <a16:creationId xmlns:a16="http://schemas.microsoft.com/office/drawing/2014/main" id="{EF058420-972D-45AA-CCD3-C12E391737C7}"/>
                </a:ext>
              </a:extLst>
            </p:cNvPr>
            <p:cNvGrpSpPr/>
            <p:nvPr/>
          </p:nvGrpSpPr>
          <p:grpSpPr>
            <a:xfrm>
              <a:off x="3048149" y="5291681"/>
              <a:ext cx="1360637" cy="173702"/>
              <a:chOff x="5030904" y="4970294"/>
              <a:chExt cx="1917765" cy="244827"/>
            </a:xfrm>
          </p:grpSpPr>
          <p:pic>
            <p:nvPicPr>
              <p:cNvPr id="41" name="Graphic 40">
                <a:extLst>
                  <a:ext uri="{FF2B5EF4-FFF2-40B4-BE49-F238E27FC236}">
                    <a16:creationId xmlns:a16="http://schemas.microsoft.com/office/drawing/2014/main" id="{83338B04-C959-A7E3-B000-A767CF2DB10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30904" y="4970294"/>
                <a:ext cx="919964" cy="244827"/>
              </a:xfrm>
              <a:prstGeom prst="rect">
                <a:avLst/>
              </a:prstGeom>
            </p:spPr>
          </p:pic>
          <p:pic>
            <p:nvPicPr>
              <p:cNvPr id="42" name="Graphic 41">
                <a:extLst>
                  <a:ext uri="{FF2B5EF4-FFF2-40B4-BE49-F238E27FC236}">
                    <a16:creationId xmlns:a16="http://schemas.microsoft.com/office/drawing/2014/main" id="{92C018F6-CFA6-A8B0-722D-E242474FBE8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028705" y="4970294"/>
                <a:ext cx="919964" cy="244827"/>
              </a:xfrm>
              <a:prstGeom prst="rect">
                <a:avLst/>
              </a:prstGeom>
            </p:spPr>
          </p:pic>
        </p:grpSp>
        <p:grpSp>
          <p:nvGrpSpPr>
            <p:cNvPr id="29" name="Group 28">
              <a:extLst>
                <a:ext uri="{FF2B5EF4-FFF2-40B4-BE49-F238E27FC236}">
                  <a16:creationId xmlns:a16="http://schemas.microsoft.com/office/drawing/2014/main" id="{78BD50FB-F2AC-FFA3-D42A-CD826FF34D02}"/>
                </a:ext>
              </a:extLst>
            </p:cNvPr>
            <p:cNvGrpSpPr/>
            <p:nvPr/>
          </p:nvGrpSpPr>
          <p:grpSpPr>
            <a:xfrm>
              <a:off x="3048149" y="5057923"/>
              <a:ext cx="1360637" cy="173702"/>
              <a:chOff x="5030904" y="4640821"/>
              <a:chExt cx="1917765" cy="244827"/>
            </a:xfrm>
          </p:grpSpPr>
          <p:pic>
            <p:nvPicPr>
              <p:cNvPr id="39" name="Graphic 38">
                <a:extLst>
                  <a:ext uri="{FF2B5EF4-FFF2-40B4-BE49-F238E27FC236}">
                    <a16:creationId xmlns:a16="http://schemas.microsoft.com/office/drawing/2014/main" id="{05462AE9-5210-A428-F3E1-14D99B2627B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30904" y="4640821"/>
                <a:ext cx="919964" cy="244827"/>
              </a:xfrm>
              <a:prstGeom prst="rect">
                <a:avLst/>
              </a:prstGeom>
            </p:spPr>
          </p:pic>
          <p:pic>
            <p:nvPicPr>
              <p:cNvPr id="40" name="Graphic 39">
                <a:extLst>
                  <a:ext uri="{FF2B5EF4-FFF2-40B4-BE49-F238E27FC236}">
                    <a16:creationId xmlns:a16="http://schemas.microsoft.com/office/drawing/2014/main" id="{E60D51AA-2978-7FFE-0745-DC604F5CBF7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028705" y="4640821"/>
                <a:ext cx="919964" cy="244827"/>
              </a:xfrm>
              <a:prstGeom prst="rect">
                <a:avLst/>
              </a:prstGeom>
            </p:spPr>
          </p:pic>
        </p:grpSp>
        <p:grpSp>
          <p:nvGrpSpPr>
            <p:cNvPr id="30" name="Group 29">
              <a:extLst>
                <a:ext uri="{FF2B5EF4-FFF2-40B4-BE49-F238E27FC236}">
                  <a16:creationId xmlns:a16="http://schemas.microsoft.com/office/drawing/2014/main" id="{D4DA71B3-8346-3BF2-0CFF-9B5064815928}"/>
                </a:ext>
              </a:extLst>
            </p:cNvPr>
            <p:cNvGrpSpPr/>
            <p:nvPr/>
          </p:nvGrpSpPr>
          <p:grpSpPr>
            <a:xfrm>
              <a:off x="3048149" y="5517753"/>
              <a:ext cx="1360637" cy="170206"/>
              <a:chOff x="1171761" y="5660610"/>
              <a:chExt cx="1917765" cy="239899"/>
            </a:xfrm>
          </p:grpSpPr>
          <p:cxnSp>
            <p:nvCxnSpPr>
              <p:cNvPr id="34" name="Straight Connector 33">
                <a:extLst>
                  <a:ext uri="{FF2B5EF4-FFF2-40B4-BE49-F238E27FC236}">
                    <a16:creationId xmlns:a16="http://schemas.microsoft.com/office/drawing/2014/main" id="{173C706B-766A-47CB-9BAB-17EDD17754B4}"/>
                  </a:ext>
                </a:extLst>
              </p:cNvPr>
              <p:cNvCxnSpPr>
                <a:cxnSpLocks/>
              </p:cNvCxnSpPr>
              <p:nvPr/>
            </p:nvCxnSpPr>
            <p:spPr bwMode="gray">
              <a:xfrm>
                <a:off x="1177953" y="5660610"/>
                <a:ext cx="0" cy="12413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D05C5A9-916C-FA39-43E1-0AD8AD2D379E}"/>
                  </a:ext>
                </a:extLst>
              </p:cNvPr>
              <p:cNvCxnSpPr>
                <a:cxnSpLocks/>
              </p:cNvCxnSpPr>
              <p:nvPr/>
            </p:nvCxnSpPr>
            <p:spPr bwMode="gray">
              <a:xfrm>
                <a:off x="2424113" y="5784739"/>
                <a:ext cx="66541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77BF82B-DC1E-EEDB-55AB-250C7473FD92}"/>
                  </a:ext>
                </a:extLst>
              </p:cNvPr>
              <p:cNvCxnSpPr>
                <a:cxnSpLocks/>
              </p:cNvCxnSpPr>
              <p:nvPr/>
            </p:nvCxnSpPr>
            <p:spPr bwMode="gray">
              <a:xfrm>
                <a:off x="3089526" y="5660610"/>
                <a:ext cx="0" cy="12413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9A2B7D5-7969-8CB4-9332-455433730E30}"/>
                  </a:ext>
                </a:extLst>
              </p:cNvPr>
              <p:cNvCxnSpPr>
                <a:cxnSpLocks/>
              </p:cNvCxnSpPr>
              <p:nvPr/>
            </p:nvCxnSpPr>
            <p:spPr bwMode="gray">
              <a:xfrm>
                <a:off x="1171761" y="5784739"/>
                <a:ext cx="647514"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46DA59F9-835A-FFEF-352D-7C365BFC6AEA}"/>
                  </a:ext>
                </a:extLst>
              </p:cNvPr>
              <p:cNvSpPr txBox="1"/>
              <p:nvPr/>
            </p:nvSpPr>
            <p:spPr>
              <a:xfrm>
                <a:off x="1829972" y="5661919"/>
                <a:ext cx="598237" cy="238590"/>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0098C7"/>
                    </a:solidFill>
                    <a:effectLst/>
                    <a:uLnTx/>
                    <a:uFillTx/>
                    <a:latin typeface="Arial" panose="020B0604020202020204"/>
                    <a:ea typeface="+mn-ea"/>
                    <a:cs typeface="+mn-cs"/>
                  </a:rPr>
                  <a:t>vSAN</a:t>
                </a:r>
              </a:p>
            </p:txBody>
          </p:sp>
        </p:grpSp>
        <p:grpSp>
          <p:nvGrpSpPr>
            <p:cNvPr id="31" name="Group 30">
              <a:extLst>
                <a:ext uri="{FF2B5EF4-FFF2-40B4-BE49-F238E27FC236}">
                  <a16:creationId xmlns:a16="http://schemas.microsoft.com/office/drawing/2014/main" id="{1E8B85C7-98DB-D722-54B6-A6549B5AA696}"/>
                </a:ext>
              </a:extLst>
            </p:cNvPr>
            <p:cNvGrpSpPr/>
            <p:nvPr/>
          </p:nvGrpSpPr>
          <p:grpSpPr>
            <a:xfrm>
              <a:off x="3048149" y="4825529"/>
              <a:ext cx="1360637" cy="173702"/>
              <a:chOff x="5030904" y="4640821"/>
              <a:chExt cx="1917765" cy="244827"/>
            </a:xfrm>
          </p:grpSpPr>
          <p:pic>
            <p:nvPicPr>
              <p:cNvPr id="32" name="Graphic 31">
                <a:extLst>
                  <a:ext uri="{FF2B5EF4-FFF2-40B4-BE49-F238E27FC236}">
                    <a16:creationId xmlns:a16="http://schemas.microsoft.com/office/drawing/2014/main" id="{716C8BAF-1324-0339-488D-D3586D959F9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030904" y="4640821"/>
                <a:ext cx="919964" cy="244827"/>
              </a:xfrm>
              <a:prstGeom prst="rect">
                <a:avLst/>
              </a:prstGeom>
            </p:spPr>
          </p:pic>
          <p:pic>
            <p:nvPicPr>
              <p:cNvPr id="33" name="Graphic 32">
                <a:extLst>
                  <a:ext uri="{FF2B5EF4-FFF2-40B4-BE49-F238E27FC236}">
                    <a16:creationId xmlns:a16="http://schemas.microsoft.com/office/drawing/2014/main" id="{DF6F9B40-D008-A2D1-0BCB-DF1A4094156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028705" y="4640821"/>
                <a:ext cx="919964" cy="244827"/>
              </a:xfrm>
              <a:prstGeom prst="rect">
                <a:avLst/>
              </a:prstGeom>
            </p:spPr>
          </p:pic>
        </p:grpSp>
      </p:grpSp>
      <p:grpSp>
        <p:nvGrpSpPr>
          <p:cNvPr id="43" name="Group 42">
            <a:extLst>
              <a:ext uri="{FF2B5EF4-FFF2-40B4-BE49-F238E27FC236}">
                <a16:creationId xmlns:a16="http://schemas.microsoft.com/office/drawing/2014/main" id="{DEB2C664-B275-5AB2-16BD-B9AD3C4CD788}"/>
              </a:ext>
            </a:extLst>
          </p:cNvPr>
          <p:cNvGrpSpPr/>
          <p:nvPr/>
        </p:nvGrpSpPr>
        <p:grpSpPr>
          <a:xfrm>
            <a:off x="5458658" y="4277145"/>
            <a:ext cx="623840" cy="585369"/>
            <a:chOff x="5988186" y="4165871"/>
            <a:chExt cx="623840" cy="585369"/>
          </a:xfrm>
        </p:grpSpPr>
        <p:grpSp>
          <p:nvGrpSpPr>
            <p:cNvPr id="44" name="Group 43">
              <a:extLst>
                <a:ext uri="{FF2B5EF4-FFF2-40B4-BE49-F238E27FC236}">
                  <a16:creationId xmlns:a16="http://schemas.microsoft.com/office/drawing/2014/main" id="{C3250B2D-1DDB-79AF-6AA6-CD8DB8986959}"/>
                </a:ext>
              </a:extLst>
            </p:cNvPr>
            <p:cNvGrpSpPr/>
            <p:nvPr/>
          </p:nvGrpSpPr>
          <p:grpSpPr>
            <a:xfrm>
              <a:off x="5988186" y="4495798"/>
              <a:ext cx="623840" cy="255442"/>
              <a:chOff x="5219455" y="4399878"/>
              <a:chExt cx="623840" cy="255442"/>
            </a:xfrm>
          </p:grpSpPr>
          <p:pic>
            <p:nvPicPr>
              <p:cNvPr id="48" name="Graphic 47">
                <a:extLst>
                  <a:ext uri="{FF2B5EF4-FFF2-40B4-BE49-F238E27FC236}">
                    <a16:creationId xmlns:a16="http://schemas.microsoft.com/office/drawing/2014/main" id="{D06AD07C-3DEC-13E7-77FC-19B7B4F3C7B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219455" y="4399878"/>
                <a:ext cx="255442" cy="255442"/>
              </a:xfrm>
              <a:prstGeom prst="rect">
                <a:avLst/>
              </a:prstGeom>
            </p:spPr>
          </p:pic>
          <p:pic>
            <p:nvPicPr>
              <p:cNvPr id="49" name="Graphic 48">
                <a:extLst>
                  <a:ext uri="{FF2B5EF4-FFF2-40B4-BE49-F238E27FC236}">
                    <a16:creationId xmlns:a16="http://schemas.microsoft.com/office/drawing/2014/main" id="{4A71AC6B-4758-9019-511B-98E87AC10D3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587853" y="4399878"/>
                <a:ext cx="255442" cy="255442"/>
              </a:xfrm>
              <a:prstGeom prst="rect">
                <a:avLst/>
              </a:prstGeom>
            </p:spPr>
          </p:pic>
        </p:grpSp>
        <p:grpSp>
          <p:nvGrpSpPr>
            <p:cNvPr id="45" name="Group 44">
              <a:extLst>
                <a:ext uri="{FF2B5EF4-FFF2-40B4-BE49-F238E27FC236}">
                  <a16:creationId xmlns:a16="http://schemas.microsoft.com/office/drawing/2014/main" id="{9D59F8B4-B4FA-F6FA-2DAE-5A06D8E243F3}"/>
                </a:ext>
              </a:extLst>
            </p:cNvPr>
            <p:cNvGrpSpPr/>
            <p:nvPr/>
          </p:nvGrpSpPr>
          <p:grpSpPr>
            <a:xfrm>
              <a:off x="5988186" y="4165871"/>
              <a:ext cx="623840" cy="255442"/>
              <a:chOff x="5219455" y="4399878"/>
              <a:chExt cx="623840" cy="255442"/>
            </a:xfrm>
          </p:grpSpPr>
          <p:pic>
            <p:nvPicPr>
              <p:cNvPr id="46" name="Graphic 45">
                <a:extLst>
                  <a:ext uri="{FF2B5EF4-FFF2-40B4-BE49-F238E27FC236}">
                    <a16:creationId xmlns:a16="http://schemas.microsoft.com/office/drawing/2014/main" id="{AC2A00BD-A8DA-E569-3D53-E64F8EE0929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219455" y="4399878"/>
                <a:ext cx="255442" cy="255442"/>
              </a:xfrm>
              <a:prstGeom prst="rect">
                <a:avLst/>
              </a:prstGeom>
            </p:spPr>
          </p:pic>
          <p:pic>
            <p:nvPicPr>
              <p:cNvPr id="47" name="Graphic 46">
                <a:extLst>
                  <a:ext uri="{FF2B5EF4-FFF2-40B4-BE49-F238E27FC236}">
                    <a16:creationId xmlns:a16="http://schemas.microsoft.com/office/drawing/2014/main" id="{0AB61930-82CB-842C-7AAF-35CA28A8F5E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587853" y="4399878"/>
                <a:ext cx="255442" cy="255442"/>
              </a:xfrm>
              <a:prstGeom prst="rect">
                <a:avLst/>
              </a:prstGeom>
            </p:spPr>
          </p:pic>
        </p:grpSp>
      </p:grpSp>
      <p:grpSp>
        <p:nvGrpSpPr>
          <p:cNvPr id="50" name="Group 49">
            <a:extLst>
              <a:ext uri="{FF2B5EF4-FFF2-40B4-BE49-F238E27FC236}">
                <a16:creationId xmlns:a16="http://schemas.microsoft.com/office/drawing/2014/main" id="{98283C0D-B5C5-BA83-7F83-81A35002C500}"/>
              </a:ext>
            </a:extLst>
          </p:cNvPr>
          <p:cNvGrpSpPr/>
          <p:nvPr/>
        </p:nvGrpSpPr>
        <p:grpSpPr>
          <a:xfrm>
            <a:off x="3202248" y="4277145"/>
            <a:ext cx="623840" cy="585369"/>
            <a:chOff x="3202248" y="4277145"/>
            <a:chExt cx="623840" cy="585369"/>
          </a:xfrm>
        </p:grpSpPr>
        <p:pic>
          <p:nvPicPr>
            <p:cNvPr id="51" name="Graphic 50">
              <a:extLst>
                <a:ext uri="{FF2B5EF4-FFF2-40B4-BE49-F238E27FC236}">
                  <a16:creationId xmlns:a16="http://schemas.microsoft.com/office/drawing/2014/main" id="{F09EE7AE-A00A-A5D3-44A0-2ED81F9F590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202248" y="4611224"/>
              <a:ext cx="255444" cy="251290"/>
            </a:xfrm>
            <a:prstGeom prst="rect">
              <a:avLst/>
            </a:prstGeom>
          </p:spPr>
        </p:pic>
        <p:sp>
          <p:nvSpPr>
            <p:cNvPr id="52" name="Freeform 34">
              <a:extLst>
                <a:ext uri="{FF2B5EF4-FFF2-40B4-BE49-F238E27FC236}">
                  <a16:creationId xmlns:a16="http://schemas.microsoft.com/office/drawing/2014/main" id="{ABC1B5AD-7B6E-A844-E8CD-8F668CF499E8}"/>
                </a:ext>
              </a:extLst>
            </p:cNvPr>
            <p:cNvSpPr>
              <a:spLocks noChangeAspect="1" noEditPoints="1"/>
            </p:cNvSpPr>
            <p:nvPr/>
          </p:nvSpPr>
          <p:spPr bwMode="auto">
            <a:xfrm>
              <a:off x="3570644" y="4607072"/>
              <a:ext cx="255444" cy="255442"/>
            </a:xfrm>
            <a:custGeom>
              <a:avLst/>
              <a:gdLst>
                <a:gd name="T0" fmla="*/ 368 w 384"/>
                <a:gd name="T1" fmla="*/ 29 h 384"/>
                <a:gd name="T2" fmla="*/ 355 w 384"/>
                <a:gd name="T3" fmla="*/ 368 h 384"/>
                <a:gd name="T4" fmla="*/ 16 w 384"/>
                <a:gd name="T5" fmla="*/ 355 h 384"/>
                <a:gd name="T6" fmla="*/ 29 w 384"/>
                <a:gd name="T7" fmla="*/ 16 h 384"/>
                <a:gd name="T8" fmla="*/ 355 w 384"/>
                <a:gd name="T9" fmla="*/ 0 h 384"/>
                <a:gd name="T10" fmla="*/ 0 w 384"/>
                <a:gd name="T11" fmla="*/ 29 h 384"/>
                <a:gd name="T12" fmla="*/ 29 w 384"/>
                <a:gd name="T13" fmla="*/ 384 h 384"/>
                <a:gd name="T14" fmla="*/ 384 w 384"/>
                <a:gd name="T15" fmla="*/ 355 h 384"/>
                <a:gd name="T16" fmla="*/ 355 w 384"/>
                <a:gd name="T17" fmla="*/ 0 h 384"/>
                <a:gd name="T18" fmla="*/ 114 w 384"/>
                <a:gd name="T19" fmla="*/ 164 h 384"/>
                <a:gd name="T20" fmla="*/ 122 w 384"/>
                <a:gd name="T21" fmla="*/ 159 h 384"/>
                <a:gd name="T22" fmla="*/ 156 w 384"/>
                <a:gd name="T23" fmla="*/ 223 h 384"/>
                <a:gd name="T24" fmla="*/ 151 w 384"/>
                <a:gd name="T25" fmla="*/ 231 h 384"/>
                <a:gd name="T26" fmla="*/ 139 w 384"/>
                <a:gd name="T27" fmla="*/ 214 h 384"/>
                <a:gd name="T28" fmla="*/ 98 w 384"/>
                <a:gd name="T29" fmla="*/ 227 h 384"/>
                <a:gd name="T30" fmla="*/ 87 w 384"/>
                <a:gd name="T31" fmla="*/ 226 h 384"/>
                <a:gd name="T32" fmla="*/ 134 w 384"/>
                <a:gd name="T33" fmla="*/ 203 h 384"/>
                <a:gd name="T34" fmla="*/ 109 w 384"/>
                <a:gd name="T35" fmla="*/ 203 h 384"/>
                <a:gd name="T36" fmla="*/ 170 w 384"/>
                <a:gd name="T37" fmla="*/ 165 h 384"/>
                <a:gd name="T38" fmla="*/ 198 w 384"/>
                <a:gd name="T39" fmla="*/ 160 h 384"/>
                <a:gd name="T40" fmla="*/ 225 w 384"/>
                <a:gd name="T41" fmla="*/ 184 h 384"/>
                <a:gd name="T42" fmla="*/ 182 w 384"/>
                <a:gd name="T43" fmla="*/ 208 h 384"/>
                <a:gd name="T44" fmla="*/ 176 w 384"/>
                <a:gd name="T45" fmla="*/ 231 h 384"/>
                <a:gd name="T46" fmla="*/ 170 w 384"/>
                <a:gd name="T47" fmla="*/ 165 h 384"/>
                <a:gd name="T48" fmla="*/ 212 w 384"/>
                <a:gd name="T49" fmla="*/ 184 h 384"/>
                <a:gd name="T50" fmla="*/ 197 w 384"/>
                <a:gd name="T51" fmla="*/ 171 h 384"/>
                <a:gd name="T52" fmla="*/ 182 w 384"/>
                <a:gd name="T53" fmla="*/ 197 h 384"/>
                <a:gd name="T54" fmla="*/ 238 w 384"/>
                <a:gd name="T55" fmla="*/ 165 h 384"/>
                <a:gd name="T56" fmla="*/ 265 w 384"/>
                <a:gd name="T57" fmla="*/ 160 h 384"/>
                <a:gd name="T58" fmla="*/ 292 w 384"/>
                <a:gd name="T59" fmla="*/ 184 h 384"/>
                <a:gd name="T60" fmla="*/ 250 w 384"/>
                <a:gd name="T61" fmla="*/ 208 h 384"/>
                <a:gd name="T62" fmla="*/ 244 w 384"/>
                <a:gd name="T63" fmla="*/ 231 h 384"/>
                <a:gd name="T64" fmla="*/ 238 w 384"/>
                <a:gd name="T65" fmla="*/ 165 h 384"/>
                <a:gd name="T66" fmla="*/ 280 w 384"/>
                <a:gd name="T67" fmla="*/ 184 h 384"/>
                <a:gd name="T68" fmla="*/ 264 w 384"/>
                <a:gd name="T69" fmla="*/ 171 h 384"/>
                <a:gd name="T70" fmla="*/ 250 w 384"/>
                <a:gd name="T71" fmla="*/ 19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355" y="16"/>
                  </a:moveTo>
                  <a:cubicBezTo>
                    <a:pt x="362" y="16"/>
                    <a:pt x="368" y="22"/>
                    <a:pt x="368" y="29"/>
                  </a:cubicBezTo>
                  <a:cubicBezTo>
                    <a:pt x="368" y="355"/>
                    <a:pt x="368" y="355"/>
                    <a:pt x="368" y="355"/>
                  </a:cubicBezTo>
                  <a:cubicBezTo>
                    <a:pt x="368" y="362"/>
                    <a:pt x="362" y="368"/>
                    <a:pt x="355" y="368"/>
                  </a:cubicBezTo>
                  <a:cubicBezTo>
                    <a:pt x="29" y="368"/>
                    <a:pt x="29" y="368"/>
                    <a:pt x="29" y="368"/>
                  </a:cubicBezTo>
                  <a:cubicBezTo>
                    <a:pt x="22" y="368"/>
                    <a:pt x="16" y="362"/>
                    <a:pt x="16" y="355"/>
                  </a:cubicBezTo>
                  <a:cubicBezTo>
                    <a:pt x="16" y="29"/>
                    <a:pt x="16" y="29"/>
                    <a:pt x="16" y="29"/>
                  </a:cubicBezTo>
                  <a:cubicBezTo>
                    <a:pt x="16" y="22"/>
                    <a:pt x="22" y="16"/>
                    <a:pt x="29" y="16"/>
                  </a:cubicBezTo>
                  <a:cubicBezTo>
                    <a:pt x="355" y="16"/>
                    <a:pt x="355" y="16"/>
                    <a:pt x="355" y="16"/>
                  </a:cubicBezTo>
                  <a:moveTo>
                    <a:pt x="355" y="0"/>
                  </a:moveTo>
                  <a:cubicBezTo>
                    <a:pt x="29" y="0"/>
                    <a:pt x="29" y="0"/>
                    <a:pt x="29" y="0"/>
                  </a:cubicBezTo>
                  <a:cubicBezTo>
                    <a:pt x="13" y="0"/>
                    <a:pt x="0" y="13"/>
                    <a:pt x="0" y="29"/>
                  </a:cubicBezTo>
                  <a:cubicBezTo>
                    <a:pt x="0" y="355"/>
                    <a:pt x="0" y="355"/>
                    <a:pt x="0" y="355"/>
                  </a:cubicBezTo>
                  <a:cubicBezTo>
                    <a:pt x="0" y="371"/>
                    <a:pt x="13" y="384"/>
                    <a:pt x="29" y="384"/>
                  </a:cubicBezTo>
                  <a:cubicBezTo>
                    <a:pt x="355" y="384"/>
                    <a:pt x="355" y="384"/>
                    <a:pt x="355" y="384"/>
                  </a:cubicBezTo>
                  <a:cubicBezTo>
                    <a:pt x="371" y="384"/>
                    <a:pt x="384" y="371"/>
                    <a:pt x="384" y="355"/>
                  </a:cubicBezTo>
                  <a:cubicBezTo>
                    <a:pt x="384" y="29"/>
                    <a:pt x="384" y="29"/>
                    <a:pt x="384" y="29"/>
                  </a:cubicBezTo>
                  <a:cubicBezTo>
                    <a:pt x="384" y="13"/>
                    <a:pt x="371" y="0"/>
                    <a:pt x="355" y="0"/>
                  </a:cubicBezTo>
                  <a:close/>
                  <a:moveTo>
                    <a:pt x="88" y="223"/>
                  </a:moveTo>
                  <a:cubicBezTo>
                    <a:pt x="114" y="164"/>
                    <a:pt x="114" y="164"/>
                    <a:pt x="114" y="164"/>
                  </a:cubicBezTo>
                  <a:cubicBezTo>
                    <a:pt x="115" y="161"/>
                    <a:pt x="118" y="159"/>
                    <a:pt x="121" y="159"/>
                  </a:cubicBezTo>
                  <a:cubicBezTo>
                    <a:pt x="122" y="159"/>
                    <a:pt x="122" y="159"/>
                    <a:pt x="122" y="159"/>
                  </a:cubicBezTo>
                  <a:cubicBezTo>
                    <a:pt x="126" y="159"/>
                    <a:pt x="128" y="161"/>
                    <a:pt x="129" y="164"/>
                  </a:cubicBezTo>
                  <a:cubicBezTo>
                    <a:pt x="156" y="223"/>
                    <a:pt x="156" y="223"/>
                    <a:pt x="156" y="223"/>
                  </a:cubicBezTo>
                  <a:cubicBezTo>
                    <a:pt x="156" y="224"/>
                    <a:pt x="156" y="225"/>
                    <a:pt x="156" y="225"/>
                  </a:cubicBezTo>
                  <a:cubicBezTo>
                    <a:pt x="156" y="229"/>
                    <a:pt x="154" y="231"/>
                    <a:pt x="151" y="231"/>
                  </a:cubicBezTo>
                  <a:cubicBezTo>
                    <a:pt x="148" y="231"/>
                    <a:pt x="146" y="230"/>
                    <a:pt x="145" y="227"/>
                  </a:cubicBezTo>
                  <a:cubicBezTo>
                    <a:pt x="139" y="214"/>
                    <a:pt x="139" y="214"/>
                    <a:pt x="139" y="214"/>
                  </a:cubicBezTo>
                  <a:cubicBezTo>
                    <a:pt x="104" y="214"/>
                    <a:pt x="104" y="214"/>
                    <a:pt x="104" y="214"/>
                  </a:cubicBezTo>
                  <a:cubicBezTo>
                    <a:pt x="98" y="227"/>
                    <a:pt x="98" y="227"/>
                    <a:pt x="98" y="227"/>
                  </a:cubicBezTo>
                  <a:cubicBezTo>
                    <a:pt x="97" y="230"/>
                    <a:pt x="95" y="231"/>
                    <a:pt x="93" y="231"/>
                  </a:cubicBezTo>
                  <a:cubicBezTo>
                    <a:pt x="89" y="231"/>
                    <a:pt x="87" y="229"/>
                    <a:pt x="87" y="226"/>
                  </a:cubicBezTo>
                  <a:cubicBezTo>
                    <a:pt x="87" y="225"/>
                    <a:pt x="87" y="224"/>
                    <a:pt x="88" y="223"/>
                  </a:cubicBezTo>
                  <a:close/>
                  <a:moveTo>
                    <a:pt x="134" y="203"/>
                  </a:moveTo>
                  <a:cubicBezTo>
                    <a:pt x="122" y="174"/>
                    <a:pt x="122" y="174"/>
                    <a:pt x="122" y="174"/>
                  </a:cubicBezTo>
                  <a:cubicBezTo>
                    <a:pt x="109" y="203"/>
                    <a:pt x="109" y="203"/>
                    <a:pt x="109" y="203"/>
                  </a:cubicBezTo>
                  <a:lnTo>
                    <a:pt x="134" y="203"/>
                  </a:lnTo>
                  <a:close/>
                  <a:moveTo>
                    <a:pt x="170" y="165"/>
                  </a:moveTo>
                  <a:cubicBezTo>
                    <a:pt x="170" y="162"/>
                    <a:pt x="172" y="160"/>
                    <a:pt x="175" y="160"/>
                  </a:cubicBezTo>
                  <a:cubicBezTo>
                    <a:pt x="198" y="160"/>
                    <a:pt x="198" y="160"/>
                    <a:pt x="198" y="160"/>
                  </a:cubicBezTo>
                  <a:cubicBezTo>
                    <a:pt x="214" y="160"/>
                    <a:pt x="225" y="169"/>
                    <a:pt x="225" y="184"/>
                  </a:cubicBezTo>
                  <a:cubicBezTo>
                    <a:pt x="225" y="184"/>
                    <a:pt x="225" y="184"/>
                    <a:pt x="225" y="184"/>
                  </a:cubicBezTo>
                  <a:cubicBezTo>
                    <a:pt x="225" y="200"/>
                    <a:pt x="212" y="208"/>
                    <a:pt x="196" y="208"/>
                  </a:cubicBezTo>
                  <a:cubicBezTo>
                    <a:pt x="182" y="208"/>
                    <a:pt x="182" y="208"/>
                    <a:pt x="182" y="208"/>
                  </a:cubicBezTo>
                  <a:cubicBezTo>
                    <a:pt x="182" y="225"/>
                    <a:pt x="182" y="225"/>
                    <a:pt x="182" y="225"/>
                  </a:cubicBezTo>
                  <a:cubicBezTo>
                    <a:pt x="182" y="229"/>
                    <a:pt x="180" y="231"/>
                    <a:pt x="176" y="231"/>
                  </a:cubicBezTo>
                  <a:cubicBezTo>
                    <a:pt x="173" y="231"/>
                    <a:pt x="170" y="229"/>
                    <a:pt x="170" y="225"/>
                  </a:cubicBezTo>
                  <a:lnTo>
                    <a:pt x="170" y="165"/>
                  </a:lnTo>
                  <a:close/>
                  <a:moveTo>
                    <a:pt x="197" y="197"/>
                  </a:moveTo>
                  <a:cubicBezTo>
                    <a:pt x="206" y="197"/>
                    <a:pt x="212" y="192"/>
                    <a:pt x="212" y="184"/>
                  </a:cubicBezTo>
                  <a:cubicBezTo>
                    <a:pt x="212" y="184"/>
                    <a:pt x="212" y="184"/>
                    <a:pt x="212" y="184"/>
                  </a:cubicBezTo>
                  <a:cubicBezTo>
                    <a:pt x="212" y="176"/>
                    <a:pt x="206" y="171"/>
                    <a:pt x="197" y="171"/>
                  </a:cubicBezTo>
                  <a:cubicBezTo>
                    <a:pt x="182" y="171"/>
                    <a:pt x="182" y="171"/>
                    <a:pt x="182" y="171"/>
                  </a:cubicBezTo>
                  <a:cubicBezTo>
                    <a:pt x="182" y="197"/>
                    <a:pt x="182" y="197"/>
                    <a:pt x="182" y="197"/>
                  </a:cubicBezTo>
                  <a:lnTo>
                    <a:pt x="197" y="197"/>
                  </a:lnTo>
                  <a:close/>
                  <a:moveTo>
                    <a:pt x="238" y="165"/>
                  </a:moveTo>
                  <a:cubicBezTo>
                    <a:pt x="238" y="162"/>
                    <a:pt x="240" y="160"/>
                    <a:pt x="243" y="160"/>
                  </a:cubicBezTo>
                  <a:cubicBezTo>
                    <a:pt x="265" y="160"/>
                    <a:pt x="265" y="160"/>
                    <a:pt x="265" y="160"/>
                  </a:cubicBezTo>
                  <a:cubicBezTo>
                    <a:pt x="282" y="160"/>
                    <a:pt x="292" y="169"/>
                    <a:pt x="292" y="184"/>
                  </a:cubicBezTo>
                  <a:cubicBezTo>
                    <a:pt x="292" y="184"/>
                    <a:pt x="292" y="184"/>
                    <a:pt x="292" y="184"/>
                  </a:cubicBezTo>
                  <a:cubicBezTo>
                    <a:pt x="292" y="200"/>
                    <a:pt x="280" y="208"/>
                    <a:pt x="264" y="208"/>
                  </a:cubicBezTo>
                  <a:cubicBezTo>
                    <a:pt x="250" y="208"/>
                    <a:pt x="250" y="208"/>
                    <a:pt x="250" y="208"/>
                  </a:cubicBezTo>
                  <a:cubicBezTo>
                    <a:pt x="250" y="225"/>
                    <a:pt x="250" y="225"/>
                    <a:pt x="250" y="225"/>
                  </a:cubicBezTo>
                  <a:cubicBezTo>
                    <a:pt x="250" y="229"/>
                    <a:pt x="247" y="231"/>
                    <a:pt x="244" y="231"/>
                  </a:cubicBezTo>
                  <a:cubicBezTo>
                    <a:pt x="240" y="231"/>
                    <a:pt x="238" y="229"/>
                    <a:pt x="238" y="225"/>
                  </a:cubicBezTo>
                  <a:lnTo>
                    <a:pt x="238" y="165"/>
                  </a:lnTo>
                  <a:close/>
                  <a:moveTo>
                    <a:pt x="264" y="197"/>
                  </a:moveTo>
                  <a:cubicBezTo>
                    <a:pt x="274" y="197"/>
                    <a:pt x="280" y="192"/>
                    <a:pt x="280" y="184"/>
                  </a:cubicBezTo>
                  <a:cubicBezTo>
                    <a:pt x="280" y="184"/>
                    <a:pt x="280" y="184"/>
                    <a:pt x="280" y="184"/>
                  </a:cubicBezTo>
                  <a:cubicBezTo>
                    <a:pt x="280" y="176"/>
                    <a:pt x="274" y="171"/>
                    <a:pt x="264" y="171"/>
                  </a:cubicBezTo>
                  <a:cubicBezTo>
                    <a:pt x="250" y="171"/>
                    <a:pt x="250" y="171"/>
                    <a:pt x="250" y="171"/>
                  </a:cubicBezTo>
                  <a:cubicBezTo>
                    <a:pt x="250" y="197"/>
                    <a:pt x="250" y="197"/>
                    <a:pt x="250" y="197"/>
                  </a:cubicBezTo>
                  <a:lnTo>
                    <a:pt x="264" y="19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53" name="Graphic 52">
              <a:extLst>
                <a:ext uri="{FF2B5EF4-FFF2-40B4-BE49-F238E27FC236}">
                  <a16:creationId xmlns:a16="http://schemas.microsoft.com/office/drawing/2014/main" id="{5E5437AB-E67D-29FE-20B7-EE94F02E684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202248" y="4281297"/>
              <a:ext cx="255444" cy="251290"/>
            </a:xfrm>
            <a:prstGeom prst="rect">
              <a:avLst/>
            </a:prstGeom>
          </p:spPr>
        </p:pic>
        <p:sp>
          <p:nvSpPr>
            <p:cNvPr id="54" name="Freeform 34">
              <a:extLst>
                <a:ext uri="{FF2B5EF4-FFF2-40B4-BE49-F238E27FC236}">
                  <a16:creationId xmlns:a16="http://schemas.microsoft.com/office/drawing/2014/main" id="{A04A9E87-51D6-076B-5588-821CBD582B9E}"/>
                </a:ext>
              </a:extLst>
            </p:cNvPr>
            <p:cNvSpPr>
              <a:spLocks noChangeAspect="1" noEditPoints="1"/>
            </p:cNvSpPr>
            <p:nvPr/>
          </p:nvSpPr>
          <p:spPr bwMode="auto">
            <a:xfrm>
              <a:off x="3570644" y="4277145"/>
              <a:ext cx="255444" cy="255442"/>
            </a:xfrm>
            <a:custGeom>
              <a:avLst/>
              <a:gdLst>
                <a:gd name="T0" fmla="*/ 368 w 384"/>
                <a:gd name="T1" fmla="*/ 29 h 384"/>
                <a:gd name="T2" fmla="*/ 355 w 384"/>
                <a:gd name="T3" fmla="*/ 368 h 384"/>
                <a:gd name="T4" fmla="*/ 16 w 384"/>
                <a:gd name="T5" fmla="*/ 355 h 384"/>
                <a:gd name="T6" fmla="*/ 29 w 384"/>
                <a:gd name="T7" fmla="*/ 16 h 384"/>
                <a:gd name="T8" fmla="*/ 355 w 384"/>
                <a:gd name="T9" fmla="*/ 0 h 384"/>
                <a:gd name="T10" fmla="*/ 0 w 384"/>
                <a:gd name="T11" fmla="*/ 29 h 384"/>
                <a:gd name="T12" fmla="*/ 29 w 384"/>
                <a:gd name="T13" fmla="*/ 384 h 384"/>
                <a:gd name="T14" fmla="*/ 384 w 384"/>
                <a:gd name="T15" fmla="*/ 355 h 384"/>
                <a:gd name="T16" fmla="*/ 355 w 384"/>
                <a:gd name="T17" fmla="*/ 0 h 384"/>
                <a:gd name="T18" fmla="*/ 114 w 384"/>
                <a:gd name="T19" fmla="*/ 164 h 384"/>
                <a:gd name="T20" fmla="*/ 122 w 384"/>
                <a:gd name="T21" fmla="*/ 159 h 384"/>
                <a:gd name="T22" fmla="*/ 156 w 384"/>
                <a:gd name="T23" fmla="*/ 223 h 384"/>
                <a:gd name="T24" fmla="*/ 151 w 384"/>
                <a:gd name="T25" fmla="*/ 231 h 384"/>
                <a:gd name="T26" fmla="*/ 139 w 384"/>
                <a:gd name="T27" fmla="*/ 214 h 384"/>
                <a:gd name="T28" fmla="*/ 98 w 384"/>
                <a:gd name="T29" fmla="*/ 227 h 384"/>
                <a:gd name="T30" fmla="*/ 87 w 384"/>
                <a:gd name="T31" fmla="*/ 226 h 384"/>
                <a:gd name="T32" fmla="*/ 134 w 384"/>
                <a:gd name="T33" fmla="*/ 203 h 384"/>
                <a:gd name="T34" fmla="*/ 109 w 384"/>
                <a:gd name="T35" fmla="*/ 203 h 384"/>
                <a:gd name="T36" fmla="*/ 170 w 384"/>
                <a:gd name="T37" fmla="*/ 165 h 384"/>
                <a:gd name="T38" fmla="*/ 198 w 384"/>
                <a:gd name="T39" fmla="*/ 160 h 384"/>
                <a:gd name="T40" fmla="*/ 225 w 384"/>
                <a:gd name="T41" fmla="*/ 184 h 384"/>
                <a:gd name="T42" fmla="*/ 182 w 384"/>
                <a:gd name="T43" fmla="*/ 208 h 384"/>
                <a:gd name="T44" fmla="*/ 176 w 384"/>
                <a:gd name="T45" fmla="*/ 231 h 384"/>
                <a:gd name="T46" fmla="*/ 170 w 384"/>
                <a:gd name="T47" fmla="*/ 165 h 384"/>
                <a:gd name="T48" fmla="*/ 212 w 384"/>
                <a:gd name="T49" fmla="*/ 184 h 384"/>
                <a:gd name="T50" fmla="*/ 197 w 384"/>
                <a:gd name="T51" fmla="*/ 171 h 384"/>
                <a:gd name="T52" fmla="*/ 182 w 384"/>
                <a:gd name="T53" fmla="*/ 197 h 384"/>
                <a:gd name="T54" fmla="*/ 238 w 384"/>
                <a:gd name="T55" fmla="*/ 165 h 384"/>
                <a:gd name="T56" fmla="*/ 265 w 384"/>
                <a:gd name="T57" fmla="*/ 160 h 384"/>
                <a:gd name="T58" fmla="*/ 292 w 384"/>
                <a:gd name="T59" fmla="*/ 184 h 384"/>
                <a:gd name="T60" fmla="*/ 250 w 384"/>
                <a:gd name="T61" fmla="*/ 208 h 384"/>
                <a:gd name="T62" fmla="*/ 244 w 384"/>
                <a:gd name="T63" fmla="*/ 231 h 384"/>
                <a:gd name="T64" fmla="*/ 238 w 384"/>
                <a:gd name="T65" fmla="*/ 165 h 384"/>
                <a:gd name="T66" fmla="*/ 280 w 384"/>
                <a:gd name="T67" fmla="*/ 184 h 384"/>
                <a:gd name="T68" fmla="*/ 264 w 384"/>
                <a:gd name="T69" fmla="*/ 171 h 384"/>
                <a:gd name="T70" fmla="*/ 250 w 384"/>
                <a:gd name="T71" fmla="*/ 19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355" y="16"/>
                  </a:moveTo>
                  <a:cubicBezTo>
                    <a:pt x="362" y="16"/>
                    <a:pt x="368" y="22"/>
                    <a:pt x="368" y="29"/>
                  </a:cubicBezTo>
                  <a:cubicBezTo>
                    <a:pt x="368" y="355"/>
                    <a:pt x="368" y="355"/>
                    <a:pt x="368" y="355"/>
                  </a:cubicBezTo>
                  <a:cubicBezTo>
                    <a:pt x="368" y="362"/>
                    <a:pt x="362" y="368"/>
                    <a:pt x="355" y="368"/>
                  </a:cubicBezTo>
                  <a:cubicBezTo>
                    <a:pt x="29" y="368"/>
                    <a:pt x="29" y="368"/>
                    <a:pt x="29" y="368"/>
                  </a:cubicBezTo>
                  <a:cubicBezTo>
                    <a:pt x="22" y="368"/>
                    <a:pt x="16" y="362"/>
                    <a:pt x="16" y="355"/>
                  </a:cubicBezTo>
                  <a:cubicBezTo>
                    <a:pt x="16" y="29"/>
                    <a:pt x="16" y="29"/>
                    <a:pt x="16" y="29"/>
                  </a:cubicBezTo>
                  <a:cubicBezTo>
                    <a:pt x="16" y="22"/>
                    <a:pt x="22" y="16"/>
                    <a:pt x="29" y="16"/>
                  </a:cubicBezTo>
                  <a:cubicBezTo>
                    <a:pt x="355" y="16"/>
                    <a:pt x="355" y="16"/>
                    <a:pt x="355" y="16"/>
                  </a:cubicBezTo>
                  <a:moveTo>
                    <a:pt x="355" y="0"/>
                  </a:moveTo>
                  <a:cubicBezTo>
                    <a:pt x="29" y="0"/>
                    <a:pt x="29" y="0"/>
                    <a:pt x="29" y="0"/>
                  </a:cubicBezTo>
                  <a:cubicBezTo>
                    <a:pt x="13" y="0"/>
                    <a:pt x="0" y="13"/>
                    <a:pt x="0" y="29"/>
                  </a:cubicBezTo>
                  <a:cubicBezTo>
                    <a:pt x="0" y="355"/>
                    <a:pt x="0" y="355"/>
                    <a:pt x="0" y="355"/>
                  </a:cubicBezTo>
                  <a:cubicBezTo>
                    <a:pt x="0" y="371"/>
                    <a:pt x="13" y="384"/>
                    <a:pt x="29" y="384"/>
                  </a:cubicBezTo>
                  <a:cubicBezTo>
                    <a:pt x="355" y="384"/>
                    <a:pt x="355" y="384"/>
                    <a:pt x="355" y="384"/>
                  </a:cubicBezTo>
                  <a:cubicBezTo>
                    <a:pt x="371" y="384"/>
                    <a:pt x="384" y="371"/>
                    <a:pt x="384" y="355"/>
                  </a:cubicBezTo>
                  <a:cubicBezTo>
                    <a:pt x="384" y="29"/>
                    <a:pt x="384" y="29"/>
                    <a:pt x="384" y="29"/>
                  </a:cubicBezTo>
                  <a:cubicBezTo>
                    <a:pt x="384" y="13"/>
                    <a:pt x="371" y="0"/>
                    <a:pt x="355" y="0"/>
                  </a:cubicBezTo>
                  <a:close/>
                  <a:moveTo>
                    <a:pt x="88" y="223"/>
                  </a:moveTo>
                  <a:cubicBezTo>
                    <a:pt x="114" y="164"/>
                    <a:pt x="114" y="164"/>
                    <a:pt x="114" y="164"/>
                  </a:cubicBezTo>
                  <a:cubicBezTo>
                    <a:pt x="115" y="161"/>
                    <a:pt x="118" y="159"/>
                    <a:pt x="121" y="159"/>
                  </a:cubicBezTo>
                  <a:cubicBezTo>
                    <a:pt x="122" y="159"/>
                    <a:pt x="122" y="159"/>
                    <a:pt x="122" y="159"/>
                  </a:cubicBezTo>
                  <a:cubicBezTo>
                    <a:pt x="126" y="159"/>
                    <a:pt x="128" y="161"/>
                    <a:pt x="129" y="164"/>
                  </a:cubicBezTo>
                  <a:cubicBezTo>
                    <a:pt x="156" y="223"/>
                    <a:pt x="156" y="223"/>
                    <a:pt x="156" y="223"/>
                  </a:cubicBezTo>
                  <a:cubicBezTo>
                    <a:pt x="156" y="224"/>
                    <a:pt x="156" y="225"/>
                    <a:pt x="156" y="225"/>
                  </a:cubicBezTo>
                  <a:cubicBezTo>
                    <a:pt x="156" y="229"/>
                    <a:pt x="154" y="231"/>
                    <a:pt x="151" y="231"/>
                  </a:cubicBezTo>
                  <a:cubicBezTo>
                    <a:pt x="148" y="231"/>
                    <a:pt x="146" y="230"/>
                    <a:pt x="145" y="227"/>
                  </a:cubicBezTo>
                  <a:cubicBezTo>
                    <a:pt x="139" y="214"/>
                    <a:pt x="139" y="214"/>
                    <a:pt x="139" y="214"/>
                  </a:cubicBezTo>
                  <a:cubicBezTo>
                    <a:pt x="104" y="214"/>
                    <a:pt x="104" y="214"/>
                    <a:pt x="104" y="214"/>
                  </a:cubicBezTo>
                  <a:cubicBezTo>
                    <a:pt x="98" y="227"/>
                    <a:pt x="98" y="227"/>
                    <a:pt x="98" y="227"/>
                  </a:cubicBezTo>
                  <a:cubicBezTo>
                    <a:pt x="97" y="230"/>
                    <a:pt x="95" y="231"/>
                    <a:pt x="93" y="231"/>
                  </a:cubicBezTo>
                  <a:cubicBezTo>
                    <a:pt x="89" y="231"/>
                    <a:pt x="87" y="229"/>
                    <a:pt x="87" y="226"/>
                  </a:cubicBezTo>
                  <a:cubicBezTo>
                    <a:pt x="87" y="225"/>
                    <a:pt x="87" y="224"/>
                    <a:pt x="88" y="223"/>
                  </a:cubicBezTo>
                  <a:close/>
                  <a:moveTo>
                    <a:pt x="134" y="203"/>
                  </a:moveTo>
                  <a:cubicBezTo>
                    <a:pt x="122" y="174"/>
                    <a:pt x="122" y="174"/>
                    <a:pt x="122" y="174"/>
                  </a:cubicBezTo>
                  <a:cubicBezTo>
                    <a:pt x="109" y="203"/>
                    <a:pt x="109" y="203"/>
                    <a:pt x="109" y="203"/>
                  </a:cubicBezTo>
                  <a:lnTo>
                    <a:pt x="134" y="203"/>
                  </a:lnTo>
                  <a:close/>
                  <a:moveTo>
                    <a:pt x="170" y="165"/>
                  </a:moveTo>
                  <a:cubicBezTo>
                    <a:pt x="170" y="162"/>
                    <a:pt x="172" y="160"/>
                    <a:pt x="175" y="160"/>
                  </a:cubicBezTo>
                  <a:cubicBezTo>
                    <a:pt x="198" y="160"/>
                    <a:pt x="198" y="160"/>
                    <a:pt x="198" y="160"/>
                  </a:cubicBezTo>
                  <a:cubicBezTo>
                    <a:pt x="214" y="160"/>
                    <a:pt x="225" y="169"/>
                    <a:pt x="225" y="184"/>
                  </a:cubicBezTo>
                  <a:cubicBezTo>
                    <a:pt x="225" y="184"/>
                    <a:pt x="225" y="184"/>
                    <a:pt x="225" y="184"/>
                  </a:cubicBezTo>
                  <a:cubicBezTo>
                    <a:pt x="225" y="200"/>
                    <a:pt x="212" y="208"/>
                    <a:pt x="196" y="208"/>
                  </a:cubicBezTo>
                  <a:cubicBezTo>
                    <a:pt x="182" y="208"/>
                    <a:pt x="182" y="208"/>
                    <a:pt x="182" y="208"/>
                  </a:cubicBezTo>
                  <a:cubicBezTo>
                    <a:pt x="182" y="225"/>
                    <a:pt x="182" y="225"/>
                    <a:pt x="182" y="225"/>
                  </a:cubicBezTo>
                  <a:cubicBezTo>
                    <a:pt x="182" y="229"/>
                    <a:pt x="180" y="231"/>
                    <a:pt x="176" y="231"/>
                  </a:cubicBezTo>
                  <a:cubicBezTo>
                    <a:pt x="173" y="231"/>
                    <a:pt x="170" y="229"/>
                    <a:pt x="170" y="225"/>
                  </a:cubicBezTo>
                  <a:lnTo>
                    <a:pt x="170" y="165"/>
                  </a:lnTo>
                  <a:close/>
                  <a:moveTo>
                    <a:pt x="197" y="197"/>
                  </a:moveTo>
                  <a:cubicBezTo>
                    <a:pt x="206" y="197"/>
                    <a:pt x="212" y="192"/>
                    <a:pt x="212" y="184"/>
                  </a:cubicBezTo>
                  <a:cubicBezTo>
                    <a:pt x="212" y="184"/>
                    <a:pt x="212" y="184"/>
                    <a:pt x="212" y="184"/>
                  </a:cubicBezTo>
                  <a:cubicBezTo>
                    <a:pt x="212" y="176"/>
                    <a:pt x="206" y="171"/>
                    <a:pt x="197" y="171"/>
                  </a:cubicBezTo>
                  <a:cubicBezTo>
                    <a:pt x="182" y="171"/>
                    <a:pt x="182" y="171"/>
                    <a:pt x="182" y="171"/>
                  </a:cubicBezTo>
                  <a:cubicBezTo>
                    <a:pt x="182" y="197"/>
                    <a:pt x="182" y="197"/>
                    <a:pt x="182" y="197"/>
                  </a:cubicBezTo>
                  <a:lnTo>
                    <a:pt x="197" y="197"/>
                  </a:lnTo>
                  <a:close/>
                  <a:moveTo>
                    <a:pt x="238" y="165"/>
                  </a:moveTo>
                  <a:cubicBezTo>
                    <a:pt x="238" y="162"/>
                    <a:pt x="240" y="160"/>
                    <a:pt x="243" y="160"/>
                  </a:cubicBezTo>
                  <a:cubicBezTo>
                    <a:pt x="265" y="160"/>
                    <a:pt x="265" y="160"/>
                    <a:pt x="265" y="160"/>
                  </a:cubicBezTo>
                  <a:cubicBezTo>
                    <a:pt x="282" y="160"/>
                    <a:pt x="292" y="169"/>
                    <a:pt x="292" y="184"/>
                  </a:cubicBezTo>
                  <a:cubicBezTo>
                    <a:pt x="292" y="184"/>
                    <a:pt x="292" y="184"/>
                    <a:pt x="292" y="184"/>
                  </a:cubicBezTo>
                  <a:cubicBezTo>
                    <a:pt x="292" y="200"/>
                    <a:pt x="280" y="208"/>
                    <a:pt x="264" y="208"/>
                  </a:cubicBezTo>
                  <a:cubicBezTo>
                    <a:pt x="250" y="208"/>
                    <a:pt x="250" y="208"/>
                    <a:pt x="250" y="208"/>
                  </a:cubicBezTo>
                  <a:cubicBezTo>
                    <a:pt x="250" y="225"/>
                    <a:pt x="250" y="225"/>
                    <a:pt x="250" y="225"/>
                  </a:cubicBezTo>
                  <a:cubicBezTo>
                    <a:pt x="250" y="229"/>
                    <a:pt x="247" y="231"/>
                    <a:pt x="244" y="231"/>
                  </a:cubicBezTo>
                  <a:cubicBezTo>
                    <a:pt x="240" y="231"/>
                    <a:pt x="238" y="229"/>
                    <a:pt x="238" y="225"/>
                  </a:cubicBezTo>
                  <a:lnTo>
                    <a:pt x="238" y="165"/>
                  </a:lnTo>
                  <a:close/>
                  <a:moveTo>
                    <a:pt x="264" y="197"/>
                  </a:moveTo>
                  <a:cubicBezTo>
                    <a:pt x="274" y="197"/>
                    <a:pt x="280" y="192"/>
                    <a:pt x="280" y="184"/>
                  </a:cubicBezTo>
                  <a:cubicBezTo>
                    <a:pt x="280" y="184"/>
                    <a:pt x="280" y="184"/>
                    <a:pt x="280" y="184"/>
                  </a:cubicBezTo>
                  <a:cubicBezTo>
                    <a:pt x="280" y="176"/>
                    <a:pt x="274" y="171"/>
                    <a:pt x="264" y="171"/>
                  </a:cubicBezTo>
                  <a:cubicBezTo>
                    <a:pt x="250" y="171"/>
                    <a:pt x="250" y="171"/>
                    <a:pt x="250" y="171"/>
                  </a:cubicBezTo>
                  <a:cubicBezTo>
                    <a:pt x="250" y="197"/>
                    <a:pt x="250" y="197"/>
                    <a:pt x="250" y="197"/>
                  </a:cubicBezTo>
                  <a:lnTo>
                    <a:pt x="264" y="19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55" name="Group 54">
            <a:extLst>
              <a:ext uri="{FF2B5EF4-FFF2-40B4-BE49-F238E27FC236}">
                <a16:creationId xmlns:a16="http://schemas.microsoft.com/office/drawing/2014/main" id="{1AA69B06-CF23-02DA-B2A5-48924912823A}"/>
              </a:ext>
            </a:extLst>
          </p:cNvPr>
          <p:cNvGrpSpPr/>
          <p:nvPr/>
        </p:nvGrpSpPr>
        <p:grpSpPr>
          <a:xfrm>
            <a:off x="1013078" y="4936803"/>
            <a:ext cx="652706" cy="639854"/>
            <a:chOff x="1013078" y="4936803"/>
            <a:chExt cx="652706" cy="639854"/>
          </a:xfrm>
        </p:grpSpPr>
        <p:pic>
          <p:nvPicPr>
            <p:cNvPr id="56" name="Graphic 55">
              <a:extLst>
                <a:ext uri="{FF2B5EF4-FFF2-40B4-BE49-F238E27FC236}">
                  <a16:creationId xmlns:a16="http://schemas.microsoft.com/office/drawing/2014/main" id="{2DFFC5E6-470A-EC9F-297D-C6D4C59F676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13078" y="5402955"/>
              <a:ext cx="652706" cy="173702"/>
            </a:xfrm>
            <a:prstGeom prst="rect">
              <a:avLst/>
            </a:prstGeom>
          </p:spPr>
        </p:pic>
        <p:pic>
          <p:nvPicPr>
            <p:cNvPr id="57" name="Graphic 56">
              <a:extLst>
                <a:ext uri="{FF2B5EF4-FFF2-40B4-BE49-F238E27FC236}">
                  <a16:creationId xmlns:a16="http://schemas.microsoft.com/office/drawing/2014/main" id="{4749951A-B2BC-7FE3-B9D3-F05210ABF8E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13078" y="5169197"/>
              <a:ext cx="652706" cy="173702"/>
            </a:xfrm>
            <a:prstGeom prst="rect">
              <a:avLst/>
            </a:prstGeom>
          </p:spPr>
        </p:pic>
        <p:pic>
          <p:nvPicPr>
            <p:cNvPr id="58" name="Graphic 57">
              <a:extLst>
                <a:ext uri="{FF2B5EF4-FFF2-40B4-BE49-F238E27FC236}">
                  <a16:creationId xmlns:a16="http://schemas.microsoft.com/office/drawing/2014/main" id="{3EB2678B-456B-8F5E-39A9-0EAD380D093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13078" y="4936803"/>
              <a:ext cx="652706" cy="173702"/>
            </a:xfrm>
            <a:prstGeom prst="rect">
              <a:avLst/>
            </a:prstGeom>
          </p:spPr>
        </p:pic>
      </p:grpSp>
      <p:grpSp>
        <p:nvGrpSpPr>
          <p:cNvPr id="59" name="Group 58">
            <a:extLst>
              <a:ext uri="{FF2B5EF4-FFF2-40B4-BE49-F238E27FC236}">
                <a16:creationId xmlns:a16="http://schemas.microsoft.com/office/drawing/2014/main" id="{42BCB1C1-3FAF-BBBC-2BBB-B222AE56F773}"/>
              </a:ext>
            </a:extLst>
          </p:cNvPr>
          <p:cNvGrpSpPr/>
          <p:nvPr/>
        </p:nvGrpSpPr>
        <p:grpSpPr>
          <a:xfrm>
            <a:off x="1013079" y="4277146"/>
            <a:ext cx="623840" cy="582323"/>
            <a:chOff x="1013079" y="4277146"/>
            <a:chExt cx="623840" cy="582323"/>
          </a:xfrm>
        </p:grpSpPr>
        <p:pic>
          <p:nvPicPr>
            <p:cNvPr id="60" name="Graphic 59">
              <a:extLst>
                <a:ext uri="{FF2B5EF4-FFF2-40B4-BE49-F238E27FC236}">
                  <a16:creationId xmlns:a16="http://schemas.microsoft.com/office/drawing/2014/main" id="{25B0BB5C-71B6-8C7D-CEF9-5B8AAA3FB41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384523" y="4607073"/>
              <a:ext cx="252396" cy="252396"/>
            </a:xfrm>
            <a:prstGeom prst="rect">
              <a:avLst/>
            </a:prstGeom>
          </p:spPr>
        </p:pic>
        <p:pic>
          <p:nvPicPr>
            <p:cNvPr id="61" name="Graphic 60">
              <a:extLst>
                <a:ext uri="{FF2B5EF4-FFF2-40B4-BE49-F238E27FC236}">
                  <a16:creationId xmlns:a16="http://schemas.microsoft.com/office/drawing/2014/main" id="{89770A9B-B4EB-8A76-1410-CFF9BBCED6B8}"/>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013079" y="4607073"/>
              <a:ext cx="252396" cy="252396"/>
            </a:xfrm>
            <a:prstGeom prst="rect">
              <a:avLst/>
            </a:prstGeom>
          </p:spPr>
        </p:pic>
        <p:pic>
          <p:nvPicPr>
            <p:cNvPr id="62" name="Graphic 61">
              <a:extLst>
                <a:ext uri="{FF2B5EF4-FFF2-40B4-BE49-F238E27FC236}">
                  <a16:creationId xmlns:a16="http://schemas.microsoft.com/office/drawing/2014/main" id="{D05E83F4-E1FF-1DDC-DFA5-599E10B87DB9}"/>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384523" y="4277146"/>
              <a:ext cx="252396" cy="252396"/>
            </a:xfrm>
            <a:prstGeom prst="rect">
              <a:avLst/>
            </a:prstGeom>
          </p:spPr>
        </p:pic>
        <p:pic>
          <p:nvPicPr>
            <p:cNvPr id="63" name="Graphic 62">
              <a:extLst>
                <a:ext uri="{FF2B5EF4-FFF2-40B4-BE49-F238E27FC236}">
                  <a16:creationId xmlns:a16="http://schemas.microsoft.com/office/drawing/2014/main" id="{DFBD1780-6CE6-0B22-CB9A-8265E775ABEE}"/>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1013079" y="4277146"/>
              <a:ext cx="252396" cy="252396"/>
            </a:xfrm>
            <a:prstGeom prst="rect">
              <a:avLst/>
            </a:prstGeom>
          </p:spPr>
        </p:pic>
      </p:grpSp>
      <p:sp>
        <p:nvSpPr>
          <p:cNvPr id="75" name="Rectangle 74">
            <a:extLst>
              <a:ext uri="{FF2B5EF4-FFF2-40B4-BE49-F238E27FC236}">
                <a16:creationId xmlns:a16="http://schemas.microsoft.com/office/drawing/2014/main" id="{C6787CE3-EE88-B8F2-0C1B-AE7409B6F833}"/>
              </a:ext>
            </a:extLst>
          </p:cNvPr>
          <p:cNvSpPr/>
          <p:nvPr/>
        </p:nvSpPr>
        <p:spPr>
          <a:xfrm>
            <a:off x="1283516" y="3973256"/>
            <a:ext cx="2262158" cy="184666"/>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Business Critical Apps (BCA)</a:t>
            </a:r>
          </a:p>
        </p:txBody>
      </p:sp>
      <p:sp>
        <p:nvSpPr>
          <p:cNvPr id="76" name="Rectangle 75">
            <a:extLst>
              <a:ext uri="{FF2B5EF4-FFF2-40B4-BE49-F238E27FC236}">
                <a16:creationId xmlns:a16="http://schemas.microsoft.com/office/drawing/2014/main" id="{63126C7D-81A2-97C0-D036-AFB1F6721C12}"/>
              </a:ext>
            </a:extLst>
          </p:cNvPr>
          <p:cNvSpPr/>
          <p:nvPr/>
        </p:nvSpPr>
        <p:spPr>
          <a:xfrm>
            <a:off x="4052130" y="3973256"/>
            <a:ext cx="461986" cy="184666"/>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VDI</a:t>
            </a:r>
          </a:p>
        </p:txBody>
      </p:sp>
      <p:sp>
        <p:nvSpPr>
          <p:cNvPr id="77" name="Rectangle 76">
            <a:extLst>
              <a:ext uri="{FF2B5EF4-FFF2-40B4-BE49-F238E27FC236}">
                <a16:creationId xmlns:a16="http://schemas.microsoft.com/office/drawing/2014/main" id="{3DC3F15F-51B6-E561-E3AB-9BC03ADB2B19}"/>
              </a:ext>
            </a:extLst>
          </p:cNvPr>
          <p:cNvSpPr/>
          <p:nvPr/>
        </p:nvSpPr>
        <p:spPr>
          <a:xfrm>
            <a:off x="5610117" y="3973256"/>
            <a:ext cx="320922" cy="184666"/>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IT</a:t>
            </a:r>
          </a:p>
        </p:txBody>
      </p:sp>
      <p:grpSp>
        <p:nvGrpSpPr>
          <p:cNvPr id="78" name="Group 77">
            <a:extLst>
              <a:ext uri="{FF2B5EF4-FFF2-40B4-BE49-F238E27FC236}">
                <a16:creationId xmlns:a16="http://schemas.microsoft.com/office/drawing/2014/main" id="{AA5E3887-252D-E492-00D3-423A7ACF8BA2}"/>
              </a:ext>
            </a:extLst>
          </p:cNvPr>
          <p:cNvGrpSpPr/>
          <p:nvPr/>
        </p:nvGrpSpPr>
        <p:grpSpPr>
          <a:xfrm>
            <a:off x="6104501" y="2624001"/>
            <a:ext cx="655180" cy="618607"/>
            <a:chOff x="6952164" y="1781979"/>
            <a:chExt cx="655180" cy="618607"/>
          </a:xfrm>
        </p:grpSpPr>
        <p:pic>
          <p:nvPicPr>
            <p:cNvPr id="79" name="Graphic 78">
              <a:extLst>
                <a:ext uri="{FF2B5EF4-FFF2-40B4-BE49-F238E27FC236}">
                  <a16:creationId xmlns:a16="http://schemas.microsoft.com/office/drawing/2014/main" id="{F8C20AD7-C1DF-045E-7075-54288A85934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958647" y="1781979"/>
              <a:ext cx="644903" cy="171626"/>
            </a:xfrm>
            <a:prstGeom prst="rect">
              <a:avLst/>
            </a:prstGeom>
          </p:spPr>
        </p:pic>
        <p:pic>
          <p:nvPicPr>
            <p:cNvPr id="80" name="Graphic 79">
              <a:extLst>
                <a:ext uri="{FF2B5EF4-FFF2-40B4-BE49-F238E27FC236}">
                  <a16:creationId xmlns:a16="http://schemas.microsoft.com/office/drawing/2014/main" id="{E8228D84-0B1E-5438-CE6F-2C40496F3C2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958647" y="1997167"/>
              <a:ext cx="644903" cy="171626"/>
            </a:xfrm>
            <a:prstGeom prst="rect">
              <a:avLst/>
            </a:prstGeom>
          </p:spPr>
        </p:pic>
        <p:cxnSp>
          <p:nvCxnSpPr>
            <p:cNvPr id="81" name="Straight Connector 80">
              <a:extLst>
                <a:ext uri="{FF2B5EF4-FFF2-40B4-BE49-F238E27FC236}">
                  <a16:creationId xmlns:a16="http://schemas.microsoft.com/office/drawing/2014/main" id="{C37EEA7A-61BA-F29F-51A6-DF786F0EF391}"/>
                </a:ext>
              </a:extLst>
            </p:cNvPr>
            <p:cNvCxnSpPr>
              <a:cxnSpLocks/>
            </p:cNvCxnSpPr>
            <p:nvPr/>
          </p:nvCxnSpPr>
          <p:spPr bwMode="gray">
            <a:xfrm>
              <a:off x="6956574" y="2230377"/>
              <a:ext cx="0" cy="88403"/>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0813E292-804C-4066-D755-DD32493D0568}"/>
                </a:ext>
              </a:extLst>
            </p:cNvPr>
            <p:cNvCxnSpPr>
              <a:cxnSpLocks/>
            </p:cNvCxnSpPr>
            <p:nvPr/>
          </p:nvCxnSpPr>
          <p:spPr bwMode="gray">
            <a:xfrm>
              <a:off x="7481381" y="2318780"/>
              <a:ext cx="12596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F33D7220-5706-14D6-EBE9-E3841C03DADA}"/>
                </a:ext>
              </a:extLst>
            </p:cNvPr>
            <p:cNvCxnSpPr>
              <a:cxnSpLocks/>
            </p:cNvCxnSpPr>
            <p:nvPr/>
          </p:nvCxnSpPr>
          <p:spPr bwMode="gray">
            <a:xfrm>
              <a:off x="7602573" y="2230377"/>
              <a:ext cx="0" cy="88403"/>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0E7AB36-26B1-0DAB-5313-8FB20025235D}"/>
                </a:ext>
              </a:extLst>
            </p:cNvPr>
            <p:cNvCxnSpPr>
              <a:cxnSpLocks/>
            </p:cNvCxnSpPr>
            <p:nvPr/>
          </p:nvCxnSpPr>
          <p:spPr bwMode="gray">
            <a:xfrm>
              <a:off x="6952164" y="2318780"/>
              <a:ext cx="12596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DE688101-E295-243C-7B7A-1B7A963FA3EF}"/>
                </a:ext>
              </a:extLst>
            </p:cNvPr>
            <p:cNvSpPr txBox="1"/>
            <p:nvPr/>
          </p:nvSpPr>
          <p:spPr>
            <a:xfrm>
              <a:off x="7073891" y="2231309"/>
              <a:ext cx="426054" cy="1692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0098C7"/>
                  </a:solidFill>
                  <a:effectLst/>
                  <a:uLnTx/>
                  <a:uFillTx/>
                  <a:latin typeface="Arial" panose="020B0604020202020204"/>
                  <a:ea typeface="+mn-ea"/>
                  <a:cs typeface="+mn-cs"/>
                </a:rPr>
                <a:t>vSAN</a:t>
              </a:r>
            </a:p>
          </p:txBody>
        </p:sp>
      </p:grpSp>
      <p:grpSp>
        <p:nvGrpSpPr>
          <p:cNvPr id="86" name="Group 85">
            <a:extLst>
              <a:ext uri="{FF2B5EF4-FFF2-40B4-BE49-F238E27FC236}">
                <a16:creationId xmlns:a16="http://schemas.microsoft.com/office/drawing/2014/main" id="{35326C52-C01D-67EC-5260-E89322CE15C4}"/>
              </a:ext>
            </a:extLst>
          </p:cNvPr>
          <p:cNvGrpSpPr/>
          <p:nvPr/>
        </p:nvGrpSpPr>
        <p:grpSpPr>
          <a:xfrm>
            <a:off x="7111805" y="2624001"/>
            <a:ext cx="655180" cy="618607"/>
            <a:chOff x="6952164" y="1781979"/>
            <a:chExt cx="655180" cy="618607"/>
          </a:xfrm>
        </p:grpSpPr>
        <p:pic>
          <p:nvPicPr>
            <p:cNvPr id="87" name="Graphic 86">
              <a:extLst>
                <a:ext uri="{FF2B5EF4-FFF2-40B4-BE49-F238E27FC236}">
                  <a16:creationId xmlns:a16="http://schemas.microsoft.com/office/drawing/2014/main" id="{60AA943F-F94D-2E48-4802-4EEA225BC3B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958647" y="1781979"/>
              <a:ext cx="644903" cy="171626"/>
            </a:xfrm>
            <a:prstGeom prst="rect">
              <a:avLst/>
            </a:prstGeom>
          </p:spPr>
        </p:pic>
        <p:pic>
          <p:nvPicPr>
            <p:cNvPr id="88" name="Graphic 87">
              <a:extLst>
                <a:ext uri="{FF2B5EF4-FFF2-40B4-BE49-F238E27FC236}">
                  <a16:creationId xmlns:a16="http://schemas.microsoft.com/office/drawing/2014/main" id="{51FF3F88-04D7-18D3-2F9F-DC6009C45AA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958647" y="1997167"/>
              <a:ext cx="644903" cy="171626"/>
            </a:xfrm>
            <a:prstGeom prst="rect">
              <a:avLst/>
            </a:prstGeom>
          </p:spPr>
        </p:pic>
        <p:cxnSp>
          <p:nvCxnSpPr>
            <p:cNvPr id="89" name="Straight Connector 88">
              <a:extLst>
                <a:ext uri="{FF2B5EF4-FFF2-40B4-BE49-F238E27FC236}">
                  <a16:creationId xmlns:a16="http://schemas.microsoft.com/office/drawing/2014/main" id="{31111B90-978D-8897-6B4C-DD3C7D7BF5BB}"/>
                </a:ext>
              </a:extLst>
            </p:cNvPr>
            <p:cNvCxnSpPr>
              <a:cxnSpLocks/>
            </p:cNvCxnSpPr>
            <p:nvPr/>
          </p:nvCxnSpPr>
          <p:spPr bwMode="gray">
            <a:xfrm>
              <a:off x="6956574" y="2230377"/>
              <a:ext cx="0" cy="88403"/>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4AFCF12-14CE-66FE-507A-337FB43D44A1}"/>
                </a:ext>
              </a:extLst>
            </p:cNvPr>
            <p:cNvCxnSpPr>
              <a:cxnSpLocks/>
            </p:cNvCxnSpPr>
            <p:nvPr/>
          </p:nvCxnSpPr>
          <p:spPr bwMode="gray">
            <a:xfrm>
              <a:off x="7481381" y="2318780"/>
              <a:ext cx="12596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546D39DC-4A0F-8041-764C-596FC32EFBD5}"/>
                </a:ext>
              </a:extLst>
            </p:cNvPr>
            <p:cNvCxnSpPr>
              <a:cxnSpLocks/>
            </p:cNvCxnSpPr>
            <p:nvPr/>
          </p:nvCxnSpPr>
          <p:spPr bwMode="gray">
            <a:xfrm>
              <a:off x="7602573" y="2230377"/>
              <a:ext cx="0" cy="88403"/>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D29D7578-560D-AA3A-8134-409D6D4A44AC}"/>
                </a:ext>
              </a:extLst>
            </p:cNvPr>
            <p:cNvCxnSpPr>
              <a:cxnSpLocks/>
            </p:cNvCxnSpPr>
            <p:nvPr/>
          </p:nvCxnSpPr>
          <p:spPr bwMode="gray">
            <a:xfrm>
              <a:off x="6952164" y="2318780"/>
              <a:ext cx="125963" cy="0"/>
            </a:xfrm>
            <a:prstGeom prst="line">
              <a:avLst/>
            </a:prstGeom>
            <a:solidFill>
              <a:schemeClr val="accent1"/>
            </a:solidFill>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ED8AAA13-747A-63AF-6857-7A6A2906F2B7}"/>
                </a:ext>
              </a:extLst>
            </p:cNvPr>
            <p:cNvSpPr txBox="1"/>
            <p:nvPr/>
          </p:nvSpPr>
          <p:spPr>
            <a:xfrm>
              <a:off x="7073891" y="2231309"/>
              <a:ext cx="426054" cy="1692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0098C7"/>
                  </a:solidFill>
                  <a:effectLst/>
                  <a:uLnTx/>
                  <a:uFillTx/>
                  <a:latin typeface="Arial" panose="020B0604020202020204"/>
                  <a:ea typeface="+mn-ea"/>
                  <a:cs typeface="+mn-cs"/>
                </a:rPr>
                <a:t>vSAN</a:t>
              </a:r>
            </a:p>
          </p:txBody>
        </p:sp>
      </p:grpSp>
      <p:grpSp>
        <p:nvGrpSpPr>
          <p:cNvPr id="94" name="Group 93">
            <a:extLst>
              <a:ext uri="{FF2B5EF4-FFF2-40B4-BE49-F238E27FC236}">
                <a16:creationId xmlns:a16="http://schemas.microsoft.com/office/drawing/2014/main" id="{33417A9D-2FE9-2453-1FCB-81F35C36CE7F}"/>
              </a:ext>
            </a:extLst>
          </p:cNvPr>
          <p:cNvGrpSpPr/>
          <p:nvPr/>
        </p:nvGrpSpPr>
        <p:grpSpPr>
          <a:xfrm>
            <a:off x="7121840" y="1953564"/>
            <a:ext cx="623840" cy="585369"/>
            <a:chOff x="6852080" y="1674132"/>
            <a:chExt cx="623840" cy="585369"/>
          </a:xfrm>
        </p:grpSpPr>
        <p:pic>
          <p:nvPicPr>
            <p:cNvPr id="95" name="Graphic 94">
              <a:extLst>
                <a:ext uri="{FF2B5EF4-FFF2-40B4-BE49-F238E27FC236}">
                  <a16:creationId xmlns:a16="http://schemas.microsoft.com/office/drawing/2014/main" id="{E6859E5B-6D98-4BDB-59A4-A8C4D0E6E7B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852080" y="2008211"/>
              <a:ext cx="255444" cy="251290"/>
            </a:xfrm>
            <a:prstGeom prst="rect">
              <a:avLst/>
            </a:prstGeom>
          </p:spPr>
        </p:pic>
        <p:sp>
          <p:nvSpPr>
            <p:cNvPr id="96" name="Freeform 34">
              <a:extLst>
                <a:ext uri="{FF2B5EF4-FFF2-40B4-BE49-F238E27FC236}">
                  <a16:creationId xmlns:a16="http://schemas.microsoft.com/office/drawing/2014/main" id="{AAFA5FBE-3D2F-6C55-6690-F2D7AF15EAF6}"/>
                </a:ext>
              </a:extLst>
            </p:cNvPr>
            <p:cNvSpPr>
              <a:spLocks noChangeAspect="1" noEditPoints="1"/>
            </p:cNvSpPr>
            <p:nvPr/>
          </p:nvSpPr>
          <p:spPr bwMode="auto">
            <a:xfrm>
              <a:off x="7220476" y="2004059"/>
              <a:ext cx="255444" cy="255442"/>
            </a:xfrm>
            <a:custGeom>
              <a:avLst/>
              <a:gdLst>
                <a:gd name="T0" fmla="*/ 368 w 384"/>
                <a:gd name="T1" fmla="*/ 29 h 384"/>
                <a:gd name="T2" fmla="*/ 355 w 384"/>
                <a:gd name="T3" fmla="*/ 368 h 384"/>
                <a:gd name="T4" fmla="*/ 16 w 384"/>
                <a:gd name="T5" fmla="*/ 355 h 384"/>
                <a:gd name="T6" fmla="*/ 29 w 384"/>
                <a:gd name="T7" fmla="*/ 16 h 384"/>
                <a:gd name="T8" fmla="*/ 355 w 384"/>
                <a:gd name="T9" fmla="*/ 0 h 384"/>
                <a:gd name="T10" fmla="*/ 0 w 384"/>
                <a:gd name="T11" fmla="*/ 29 h 384"/>
                <a:gd name="T12" fmla="*/ 29 w 384"/>
                <a:gd name="T13" fmla="*/ 384 h 384"/>
                <a:gd name="T14" fmla="*/ 384 w 384"/>
                <a:gd name="T15" fmla="*/ 355 h 384"/>
                <a:gd name="T16" fmla="*/ 355 w 384"/>
                <a:gd name="T17" fmla="*/ 0 h 384"/>
                <a:gd name="T18" fmla="*/ 114 w 384"/>
                <a:gd name="T19" fmla="*/ 164 h 384"/>
                <a:gd name="T20" fmla="*/ 122 w 384"/>
                <a:gd name="T21" fmla="*/ 159 h 384"/>
                <a:gd name="T22" fmla="*/ 156 w 384"/>
                <a:gd name="T23" fmla="*/ 223 h 384"/>
                <a:gd name="T24" fmla="*/ 151 w 384"/>
                <a:gd name="T25" fmla="*/ 231 h 384"/>
                <a:gd name="T26" fmla="*/ 139 w 384"/>
                <a:gd name="T27" fmla="*/ 214 h 384"/>
                <a:gd name="T28" fmla="*/ 98 w 384"/>
                <a:gd name="T29" fmla="*/ 227 h 384"/>
                <a:gd name="T30" fmla="*/ 87 w 384"/>
                <a:gd name="T31" fmla="*/ 226 h 384"/>
                <a:gd name="T32" fmla="*/ 134 w 384"/>
                <a:gd name="T33" fmla="*/ 203 h 384"/>
                <a:gd name="T34" fmla="*/ 109 w 384"/>
                <a:gd name="T35" fmla="*/ 203 h 384"/>
                <a:gd name="T36" fmla="*/ 170 w 384"/>
                <a:gd name="T37" fmla="*/ 165 h 384"/>
                <a:gd name="T38" fmla="*/ 198 w 384"/>
                <a:gd name="T39" fmla="*/ 160 h 384"/>
                <a:gd name="T40" fmla="*/ 225 w 384"/>
                <a:gd name="T41" fmla="*/ 184 h 384"/>
                <a:gd name="T42" fmla="*/ 182 w 384"/>
                <a:gd name="T43" fmla="*/ 208 h 384"/>
                <a:gd name="T44" fmla="*/ 176 w 384"/>
                <a:gd name="T45" fmla="*/ 231 h 384"/>
                <a:gd name="T46" fmla="*/ 170 w 384"/>
                <a:gd name="T47" fmla="*/ 165 h 384"/>
                <a:gd name="T48" fmla="*/ 212 w 384"/>
                <a:gd name="T49" fmla="*/ 184 h 384"/>
                <a:gd name="T50" fmla="*/ 197 w 384"/>
                <a:gd name="T51" fmla="*/ 171 h 384"/>
                <a:gd name="T52" fmla="*/ 182 w 384"/>
                <a:gd name="T53" fmla="*/ 197 h 384"/>
                <a:gd name="T54" fmla="*/ 238 w 384"/>
                <a:gd name="T55" fmla="*/ 165 h 384"/>
                <a:gd name="T56" fmla="*/ 265 w 384"/>
                <a:gd name="T57" fmla="*/ 160 h 384"/>
                <a:gd name="T58" fmla="*/ 292 w 384"/>
                <a:gd name="T59" fmla="*/ 184 h 384"/>
                <a:gd name="T60" fmla="*/ 250 w 384"/>
                <a:gd name="T61" fmla="*/ 208 h 384"/>
                <a:gd name="T62" fmla="*/ 244 w 384"/>
                <a:gd name="T63" fmla="*/ 231 h 384"/>
                <a:gd name="T64" fmla="*/ 238 w 384"/>
                <a:gd name="T65" fmla="*/ 165 h 384"/>
                <a:gd name="T66" fmla="*/ 280 w 384"/>
                <a:gd name="T67" fmla="*/ 184 h 384"/>
                <a:gd name="T68" fmla="*/ 264 w 384"/>
                <a:gd name="T69" fmla="*/ 171 h 384"/>
                <a:gd name="T70" fmla="*/ 250 w 384"/>
                <a:gd name="T71" fmla="*/ 19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355" y="16"/>
                  </a:moveTo>
                  <a:cubicBezTo>
                    <a:pt x="362" y="16"/>
                    <a:pt x="368" y="22"/>
                    <a:pt x="368" y="29"/>
                  </a:cubicBezTo>
                  <a:cubicBezTo>
                    <a:pt x="368" y="355"/>
                    <a:pt x="368" y="355"/>
                    <a:pt x="368" y="355"/>
                  </a:cubicBezTo>
                  <a:cubicBezTo>
                    <a:pt x="368" y="362"/>
                    <a:pt x="362" y="368"/>
                    <a:pt x="355" y="368"/>
                  </a:cubicBezTo>
                  <a:cubicBezTo>
                    <a:pt x="29" y="368"/>
                    <a:pt x="29" y="368"/>
                    <a:pt x="29" y="368"/>
                  </a:cubicBezTo>
                  <a:cubicBezTo>
                    <a:pt x="22" y="368"/>
                    <a:pt x="16" y="362"/>
                    <a:pt x="16" y="355"/>
                  </a:cubicBezTo>
                  <a:cubicBezTo>
                    <a:pt x="16" y="29"/>
                    <a:pt x="16" y="29"/>
                    <a:pt x="16" y="29"/>
                  </a:cubicBezTo>
                  <a:cubicBezTo>
                    <a:pt x="16" y="22"/>
                    <a:pt x="22" y="16"/>
                    <a:pt x="29" y="16"/>
                  </a:cubicBezTo>
                  <a:cubicBezTo>
                    <a:pt x="355" y="16"/>
                    <a:pt x="355" y="16"/>
                    <a:pt x="355" y="16"/>
                  </a:cubicBezTo>
                  <a:moveTo>
                    <a:pt x="355" y="0"/>
                  </a:moveTo>
                  <a:cubicBezTo>
                    <a:pt x="29" y="0"/>
                    <a:pt x="29" y="0"/>
                    <a:pt x="29" y="0"/>
                  </a:cubicBezTo>
                  <a:cubicBezTo>
                    <a:pt x="13" y="0"/>
                    <a:pt x="0" y="13"/>
                    <a:pt x="0" y="29"/>
                  </a:cubicBezTo>
                  <a:cubicBezTo>
                    <a:pt x="0" y="355"/>
                    <a:pt x="0" y="355"/>
                    <a:pt x="0" y="355"/>
                  </a:cubicBezTo>
                  <a:cubicBezTo>
                    <a:pt x="0" y="371"/>
                    <a:pt x="13" y="384"/>
                    <a:pt x="29" y="384"/>
                  </a:cubicBezTo>
                  <a:cubicBezTo>
                    <a:pt x="355" y="384"/>
                    <a:pt x="355" y="384"/>
                    <a:pt x="355" y="384"/>
                  </a:cubicBezTo>
                  <a:cubicBezTo>
                    <a:pt x="371" y="384"/>
                    <a:pt x="384" y="371"/>
                    <a:pt x="384" y="355"/>
                  </a:cubicBezTo>
                  <a:cubicBezTo>
                    <a:pt x="384" y="29"/>
                    <a:pt x="384" y="29"/>
                    <a:pt x="384" y="29"/>
                  </a:cubicBezTo>
                  <a:cubicBezTo>
                    <a:pt x="384" y="13"/>
                    <a:pt x="371" y="0"/>
                    <a:pt x="355" y="0"/>
                  </a:cubicBezTo>
                  <a:close/>
                  <a:moveTo>
                    <a:pt x="88" y="223"/>
                  </a:moveTo>
                  <a:cubicBezTo>
                    <a:pt x="114" y="164"/>
                    <a:pt x="114" y="164"/>
                    <a:pt x="114" y="164"/>
                  </a:cubicBezTo>
                  <a:cubicBezTo>
                    <a:pt x="115" y="161"/>
                    <a:pt x="118" y="159"/>
                    <a:pt x="121" y="159"/>
                  </a:cubicBezTo>
                  <a:cubicBezTo>
                    <a:pt x="122" y="159"/>
                    <a:pt x="122" y="159"/>
                    <a:pt x="122" y="159"/>
                  </a:cubicBezTo>
                  <a:cubicBezTo>
                    <a:pt x="126" y="159"/>
                    <a:pt x="128" y="161"/>
                    <a:pt x="129" y="164"/>
                  </a:cubicBezTo>
                  <a:cubicBezTo>
                    <a:pt x="156" y="223"/>
                    <a:pt x="156" y="223"/>
                    <a:pt x="156" y="223"/>
                  </a:cubicBezTo>
                  <a:cubicBezTo>
                    <a:pt x="156" y="224"/>
                    <a:pt x="156" y="225"/>
                    <a:pt x="156" y="225"/>
                  </a:cubicBezTo>
                  <a:cubicBezTo>
                    <a:pt x="156" y="229"/>
                    <a:pt x="154" y="231"/>
                    <a:pt x="151" y="231"/>
                  </a:cubicBezTo>
                  <a:cubicBezTo>
                    <a:pt x="148" y="231"/>
                    <a:pt x="146" y="230"/>
                    <a:pt x="145" y="227"/>
                  </a:cubicBezTo>
                  <a:cubicBezTo>
                    <a:pt x="139" y="214"/>
                    <a:pt x="139" y="214"/>
                    <a:pt x="139" y="214"/>
                  </a:cubicBezTo>
                  <a:cubicBezTo>
                    <a:pt x="104" y="214"/>
                    <a:pt x="104" y="214"/>
                    <a:pt x="104" y="214"/>
                  </a:cubicBezTo>
                  <a:cubicBezTo>
                    <a:pt x="98" y="227"/>
                    <a:pt x="98" y="227"/>
                    <a:pt x="98" y="227"/>
                  </a:cubicBezTo>
                  <a:cubicBezTo>
                    <a:pt x="97" y="230"/>
                    <a:pt x="95" y="231"/>
                    <a:pt x="93" y="231"/>
                  </a:cubicBezTo>
                  <a:cubicBezTo>
                    <a:pt x="89" y="231"/>
                    <a:pt x="87" y="229"/>
                    <a:pt x="87" y="226"/>
                  </a:cubicBezTo>
                  <a:cubicBezTo>
                    <a:pt x="87" y="225"/>
                    <a:pt x="87" y="224"/>
                    <a:pt x="88" y="223"/>
                  </a:cubicBezTo>
                  <a:close/>
                  <a:moveTo>
                    <a:pt x="134" y="203"/>
                  </a:moveTo>
                  <a:cubicBezTo>
                    <a:pt x="122" y="174"/>
                    <a:pt x="122" y="174"/>
                    <a:pt x="122" y="174"/>
                  </a:cubicBezTo>
                  <a:cubicBezTo>
                    <a:pt x="109" y="203"/>
                    <a:pt x="109" y="203"/>
                    <a:pt x="109" y="203"/>
                  </a:cubicBezTo>
                  <a:lnTo>
                    <a:pt x="134" y="203"/>
                  </a:lnTo>
                  <a:close/>
                  <a:moveTo>
                    <a:pt x="170" y="165"/>
                  </a:moveTo>
                  <a:cubicBezTo>
                    <a:pt x="170" y="162"/>
                    <a:pt x="172" y="160"/>
                    <a:pt x="175" y="160"/>
                  </a:cubicBezTo>
                  <a:cubicBezTo>
                    <a:pt x="198" y="160"/>
                    <a:pt x="198" y="160"/>
                    <a:pt x="198" y="160"/>
                  </a:cubicBezTo>
                  <a:cubicBezTo>
                    <a:pt x="214" y="160"/>
                    <a:pt x="225" y="169"/>
                    <a:pt x="225" y="184"/>
                  </a:cubicBezTo>
                  <a:cubicBezTo>
                    <a:pt x="225" y="184"/>
                    <a:pt x="225" y="184"/>
                    <a:pt x="225" y="184"/>
                  </a:cubicBezTo>
                  <a:cubicBezTo>
                    <a:pt x="225" y="200"/>
                    <a:pt x="212" y="208"/>
                    <a:pt x="196" y="208"/>
                  </a:cubicBezTo>
                  <a:cubicBezTo>
                    <a:pt x="182" y="208"/>
                    <a:pt x="182" y="208"/>
                    <a:pt x="182" y="208"/>
                  </a:cubicBezTo>
                  <a:cubicBezTo>
                    <a:pt x="182" y="225"/>
                    <a:pt x="182" y="225"/>
                    <a:pt x="182" y="225"/>
                  </a:cubicBezTo>
                  <a:cubicBezTo>
                    <a:pt x="182" y="229"/>
                    <a:pt x="180" y="231"/>
                    <a:pt x="176" y="231"/>
                  </a:cubicBezTo>
                  <a:cubicBezTo>
                    <a:pt x="173" y="231"/>
                    <a:pt x="170" y="229"/>
                    <a:pt x="170" y="225"/>
                  </a:cubicBezTo>
                  <a:lnTo>
                    <a:pt x="170" y="165"/>
                  </a:lnTo>
                  <a:close/>
                  <a:moveTo>
                    <a:pt x="197" y="197"/>
                  </a:moveTo>
                  <a:cubicBezTo>
                    <a:pt x="206" y="197"/>
                    <a:pt x="212" y="192"/>
                    <a:pt x="212" y="184"/>
                  </a:cubicBezTo>
                  <a:cubicBezTo>
                    <a:pt x="212" y="184"/>
                    <a:pt x="212" y="184"/>
                    <a:pt x="212" y="184"/>
                  </a:cubicBezTo>
                  <a:cubicBezTo>
                    <a:pt x="212" y="176"/>
                    <a:pt x="206" y="171"/>
                    <a:pt x="197" y="171"/>
                  </a:cubicBezTo>
                  <a:cubicBezTo>
                    <a:pt x="182" y="171"/>
                    <a:pt x="182" y="171"/>
                    <a:pt x="182" y="171"/>
                  </a:cubicBezTo>
                  <a:cubicBezTo>
                    <a:pt x="182" y="197"/>
                    <a:pt x="182" y="197"/>
                    <a:pt x="182" y="197"/>
                  </a:cubicBezTo>
                  <a:lnTo>
                    <a:pt x="197" y="197"/>
                  </a:lnTo>
                  <a:close/>
                  <a:moveTo>
                    <a:pt x="238" y="165"/>
                  </a:moveTo>
                  <a:cubicBezTo>
                    <a:pt x="238" y="162"/>
                    <a:pt x="240" y="160"/>
                    <a:pt x="243" y="160"/>
                  </a:cubicBezTo>
                  <a:cubicBezTo>
                    <a:pt x="265" y="160"/>
                    <a:pt x="265" y="160"/>
                    <a:pt x="265" y="160"/>
                  </a:cubicBezTo>
                  <a:cubicBezTo>
                    <a:pt x="282" y="160"/>
                    <a:pt x="292" y="169"/>
                    <a:pt x="292" y="184"/>
                  </a:cubicBezTo>
                  <a:cubicBezTo>
                    <a:pt x="292" y="184"/>
                    <a:pt x="292" y="184"/>
                    <a:pt x="292" y="184"/>
                  </a:cubicBezTo>
                  <a:cubicBezTo>
                    <a:pt x="292" y="200"/>
                    <a:pt x="280" y="208"/>
                    <a:pt x="264" y="208"/>
                  </a:cubicBezTo>
                  <a:cubicBezTo>
                    <a:pt x="250" y="208"/>
                    <a:pt x="250" y="208"/>
                    <a:pt x="250" y="208"/>
                  </a:cubicBezTo>
                  <a:cubicBezTo>
                    <a:pt x="250" y="225"/>
                    <a:pt x="250" y="225"/>
                    <a:pt x="250" y="225"/>
                  </a:cubicBezTo>
                  <a:cubicBezTo>
                    <a:pt x="250" y="229"/>
                    <a:pt x="247" y="231"/>
                    <a:pt x="244" y="231"/>
                  </a:cubicBezTo>
                  <a:cubicBezTo>
                    <a:pt x="240" y="231"/>
                    <a:pt x="238" y="229"/>
                    <a:pt x="238" y="225"/>
                  </a:cubicBezTo>
                  <a:lnTo>
                    <a:pt x="238" y="165"/>
                  </a:lnTo>
                  <a:close/>
                  <a:moveTo>
                    <a:pt x="264" y="197"/>
                  </a:moveTo>
                  <a:cubicBezTo>
                    <a:pt x="274" y="197"/>
                    <a:pt x="280" y="192"/>
                    <a:pt x="280" y="184"/>
                  </a:cubicBezTo>
                  <a:cubicBezTo>
                    <a:pt x="280" y="184"/>
                    <a:pt x="280" y="184"/>
                    <a:pt x="280" y="184"/>
                  </a:cubicBezTo>
                  <a:cubicBezTo>
                    <a:pt x="280" y="176"/>
                    <a:pt x="274" y="171"/>
                    <a:pt x="264" y="171"/>
                  </a:cubicBezTo>
                  <a:cubicBezTo>
                    <a:pt x="250" y="171"/>
                    <a:pt x="250" y="171"/>
                    <a:pt x="250" y="171"/>
                  </a:cubicBezTo>
                  <a:cubicBezTo>
                    <a:pt x="250" y="197"/>
                    <a:pt x="250" y="197"/>
                    <a:pt x="250" y="197"/>
                  </a:cubicBezTo>
                  <a:lnTo>
                    <a:pt x="264" y="19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97" name="Graphic 96">
              <a:extLst>
                <a:ext uri="{FF2B5EF4-FFF2-40B4-BE49-F238E27FC236}">
                  <a16:creationId xmlns:a16="http://schemas.microsoft.com/office/drawing/2014/main" id="{C9A20744-86C6-F976-74AB-BCFBA7CB1249}"/>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852080" y="1678284"/>
              <a:ext cx="255444" cy="251290"/>
            </a:xfrm>
            <a:prstGeom prst="rect">
              <a:avLst/>
            </a:prstGeom>
          </p:spPr>
        </p:pic>
        <p:sp>
          <p:nvSpPr>
            <p:cNvPr id="98" name="Freeform 34">
              <a:extLst>
                <a:ext uri="{FF2B5EF4-FFF2-40B4-BE49-F238E27FC236}">
                  <a16:creationId xmlns:a16="http://schemas.microsoft.com/office/drawing/2014/main" id="{1EDBC13E-E972-3104-69F7-4B31C736BC42}"/>
                </a:ext>
              </a:extLst>
            </p:cNvPr>
            <p:cNvSpPr>
              <a:spLocks noChangeAspect="1" noEditPoints="1"/>
            </p:cNvSpPr>
            <p:nvPr/>
          </p:nvSpPr>
          <p:spPr bwMode="auto">
            <a:xfrm>
              <a:off x="7220476" y="1674132"/>
              <a:ext cx="255444" cy="255442"/>
            </a:xfrm>
            <a:custGeom>
              <a:avLst/>
              <a:gdLst>
                <a:gd name="T0" fmla="*/ 368 w 384"/>
                <a:gd name="T1" fmla="*/ 29 h 384"/>
                <a:gd name="T2" fmla="*/ 355 w 384"/>
                <a:gd name="T3" fmla="*/ 368 h 384"/>
                <a:gd name="T4" fmla="*/ 16 w 384"/>
                <a:gd name="T5" fmla="*/ 355 h 384"/>
                <a:gd name="T6" fmla="*/ 29 w 384"/>
                <a:gd name="T7" fmla="*/ 16 h 384"/>
                <a:gd name="T8" fmla="*/ 355 w 384"/>
                <a:gd name="T9" fmla="*/ 0 h 384"/>
                <a:gd name="T10" fmla="*/ 0 w 384"/>
                <a:gd name="T11" fmla="*/ 29 h 384"/>
                <a:gd name="T12" fmla="*/ 29 w 384"/>
                <a:gd name="T13" fmla="*/ 384 h 384"/>
                <a:gd name="T14" fmla="*/ 384 w 384"/>
                <a:gd name="T15" fmla="*/ 355 h 384"/>
                <a:gd name="T16" fmla="*/ 355 w 384"/>
                <a:gd name="T17" fmla="*/ 0 h 384"/>
                <a:gd name="T18" fmla="*/ 114 w 384"/>
                <a:gd name="T19" fmla="*/ 164 h 384"/>
                <a:gd name="T20" fmla="*/ 122 w 384"/>
                <a:gd name="T21" fmla="*/ 159 h 384"/>
                <a:gd name="T22" fmla="*/ 156 w 384"/>
                <a:gd name="T23" fmla="*/ 223 h 384"/>
                <a:gd name="T24" fmla="*/ 151 w 384"/>
                <a:gd name="T25" fmla="*/ 231 h 384"/>
                <a:gd name="T26" fmla="*/ 139 w 384"/>
                <a:gd name="T27" fmla="*/ 214 h 384"/>
                <a:gd name="T28" fmla="*/ 98 w 384"/>
                <a:gd name="T29" fmla="*/ 227 h 384"/>
                <a:gd name="T30" fmla="*/ 87 w 384"/>
                <a:gd name="T31" fmla="*/ 226 h 384"/>
                <a:gd name="T32" fmla="*/ 134 w 384"/>
                <a:gd name="T33" fmla="*/ 203 h 384"/>
                <a:gd name="T34" fmla="*/ 109 w 384"/>
                <a:gd name="T35" fmla="*/ 203 h 384"/>
                <a:gd name="T36" fmla="*/ 170 w 384"/>
                <a:gd name="T37" fmla="*/ 165 h 384"/>
                <a:gd name="T38" fmla="*/ 198 w 384"/>
                <a:gd name="T39" fmla="*/ 160 h 384"/>
                <a:gd name="T40" fmla="*/ 225 w 384"/>
                <a:gd name="T41" fmla="*/ 184 h 384"/>
                <a:gd name="T42" fmla="*/ 182 w 384"/>
                <a:gd name="T43" fmla="*/ 208 h 384"/>
                <a:gd name="T44" fmla="*/ 176 w 384"/>
                <a:gd name="T45" fmla="*/ 231 h 384"/>
                <a:gd name="T46" fmla="*/ 170 w 384"/>
                <a:gd name="T47" fmla="*/ 165 h 384"/>
                <a:gd name="T48" fmla="*/ 212 w 384"/>
                <a:gd name="T49" fmla="*/ 184 h 384"/>
                <a:gd name="T50" fmla="*/ 197 w 384"/>
                <a:gd name="T51" fmla="*/ 171 h 384"/>
                <a:gd name="T52" fmla="*/ 182 w 384"/>
                <a:gd name="T53" fmla="*/ 197 h 384"/>
                <a:gd name="T54" fmla="*/ 238 w 384"/>
                <a:gd name="T55" fmla="*/ 165 h 384"/>
                <a:gd name="T56" fmla="*/ 265 w 384"/>
                <a:gd name="T57" fmla="*/ 160 h 384"/>
                <a:gd name="T58" fmla="*/ 292 w 384"/>
                <a:gd name="T59" fmla="*/ 184 h 384"/>
                <a:gd name="T60" fmla="*/ 250 w 384"/>
                <a:gd name="T61" fmla="*/ 208 h 384"/>
                <a:gd name="T62" fmla="*/ 244 w 384"/>
                <a:gd name="T63" fmla="*/ 231 h 384"/>
                <a:gd name="T64" fmla="*/ 238 w 384"/>
                <a:gd name="T65" fmla="*/ 165 h 384"/>
                <a:gd name="T66" fmla="*/ 280 w 384"/>
                <a:gd name="T67" fmla="*/ 184 h 384"/>
                <a:gd name="T68" fmla="*/ 264 w 384"/>
                <a:gd name="T69" fmla="*/ 171 h 384"/>
                <a:gd name="T70" fmla="*/ 250 w 384"/>
                <a:gd name="T71" fmla="*/ 19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4" h="384">
                  <a:moveTo>
                    <a:pt x="355" y="16"/>
                  </a:moveTo>
                  <a:cubicBezTo>
                    <a:pt x="362" y="16"/>
                    <a:pt x="368" y="22"/>
                    <a:pt x="368" y="29"/>
                  </a:cubicBezTo>
                  <a:cubicBezTo>
                    <a:pt x="368" y="355"/>
                    <a:pt x="368" y="355"/>
                    <a:pt x="368" y="355"/>
                  </a:cubicBezTo>
                  <a:cubicBezTo>
                    <a:pt x="368" y="362"/>
                    <a:pt x="362" y="368"/>
                    <a:pt x="355" y="368"/>
                  </a:cubicBezTo>
                  <a:cubicBezTo>
                    <a:pt x="29" y="368"/>
                    <a:pt x="29" y="368"/>
                    <a:pt x="29" y="368"/>
                  </a:cubicBezTo>
                  <a:cubicBezTo>
                    <a:pt x="22" y="368"/>
                    <a:pt x="16" y="362"/>
                    <a:pt x="16" y="355"/>
                  </a:cubicBezTo>
                  <a:cubicBezTo>
                    <a:pt x="16" y="29"/>
                    <a:pt x="16" y="29"/>
                    <a:pt x="16" y="29"/>
                  </a:cubicBezTo>
                  <a:cubicBezTo>
                    <a:pt x="16" y="22"/>
                    <a:pt x="22" y="16"/>
                    <a:pt x="29" y="16"/>
                  </a:cubicBezTo>
                  <a:cubicBezTo>
                    <a:pt x="355" y="16"/>
                    <a:pt x="355" y="16"/>
                    <a:pt x="355" y="16"/>
                  </a:cubicBezTo>
                  <a:moveTo>
                    <a:pt x="355" y="0"/>
                  </a:moveTo>
                  <a:cubicBezTo>
                    <a:pt x="29" y="0"/>
                    <a:pt x="29" y="0"/>
                    <a:pt x="29" y="0"/>
                  </a:cubicBezTo>
                  <a:cubicBezTo>
                    <a:pt x="13" y="0"/>
                    <a:pt x="0" y="13"/>
                    <a:pt x="0" y="29"/>
                  </a:cubicBezTo>
                  <a:cubicBezTo>
                    <a:pt x="0" y="355"/>
                    <a:pt x="0" y="355"/>
                    <a:pt x="0" y="355"/>
                  </a:cubicBezTo>
                  <a:cubicBezTo>
                    <a:pt x="0" y="371"/>
                    <a:pt x="13" y="384"/>
                    <a:pt x="29" y="384"/>
                  </a:cubicBezTo>
                  <a:cubicBezTo>
                    <a:pt x="355" y="384"/>
                    <a:pt x="355" y="384"/>
                    <a:pt x="355" y="384"/>
                  </a:cubicBezTo>
                  <a:cubicBezTo>
                    <a:pt x="371" y="384"/>
                    <a:pt x="384" y="371"/>
                    <a:pt x="384" y="355"/>
                  </a:cubicBezTo>
                  <a:cubicBezTo>
                    <a:pt x="384" y="29"/>
                    <a:pt x="384" y="29"/>
                    <a:pt x="384" y="29"/>
                  </a:cubicBezTo>
                  <a:cubicBezTo>
                    <a:pt x="384" y="13"/>
                    <a:pt x="371" y="0"/>
                    <a:pt x="355" y="0"/>
                  </a:cubicBezTo>
                  <a:close/>
                  <a:moveTo>
                    <a:pt x="88" y="223"/>
                  </a:moveTo>
                  <a:cubicBezTo>
                    <a:pt x="114" y="164"/>
                    <a:pt x="114" y="164"/>
                    <a:pt x="114" y="164"/>
                  </a:cubicBezTo>
                  <a:cubicBezTo>
                    <a:pt x="115" y="161"/>
                    <a:pt x="118" y="159"/>
                    <a:pt x="121" y="159"/>
                  </a:cubicBezTo>
                  <a:cubicBezTo>
                    <a:pt x="122" y="159"/>
                    <a:pt x="122" y="159"/>
                    <a:pt x="122" y="159"/>
                  </a:cubicBezTo>
                  <a:cubicBezTo>
                    <a:pt x="126" y="159"/>
                    <a:pt x="128" y="161"/>
                    <a:pt x="129" y="164"/>
                  </a:cubicBezTo>
                  <a:cubicBezTo>
                    <a:pt x="156" y="223"/>
                    <a:pt x="156" y="223"/>
                    <a:pt x="156" y="223"/>
                  </a:cubicBezTo>
                  <a:cubicBezTo>
                    <a:pt x="156" y="224"/>
                    <a:pt x="156" y="225"/>
                    <a:pt x="156" y="225"/>
                  </a:cubicBezTo>
                  <a:cubicBezTo>
                    <a:pt x="156" y="229"/>
                    <a:pt x="154" y="231"/>
                    <a:pt x="151" y="231"/>
                  </a:cubicBezTo>
                  <a:cubicBezTo>
                    <a:pt x="148" y="231"/>
                    <a:pt x="146" y="230"/>
                    <a:pt x="145" y="227"/>
                  </a:cubicBezTo>
                  <a:cubicBezTo>
                    <a:pt x="139" y="214"/>
                    <a:pt x="139" y="214"/>
                    <a:pt x="139" y="214"/>
                  </a:cubicBezTo>
                  <a:cubicBezTo>
                    <a:pt x="104" y="214"/>
                    <a:pt x="104" y="214"/>
                    <a:pt x="104" y="214"/>
                  </a:cubicBezTo>
                  <a:cubicBezTo>
                    <a:pt x="98" y="227"/>
                    <a:pt x="98" y="227"/>
                    <a:pt x="98" y="227"/>
                  </a:cubicBezTo>
                  <a:cubicBezTo>
                    <a:pt x="97" y="230"/>
                    <a:pt x="95" y="231"/>
                    <a:pt x="93" y="231"/>
                  </a:cubicBezTo>
                  <a:cubicBezTo>
                    <a:pt x="89" y="231"/>
                    <a:pt x="87" y="229"/>
                    <a:pt x="87" y="226"/>
                  </a:cubicBezTo>
                  <a:cubicBezTo>
                    <a:pt x="87" y="225"/>
                    <a:pt x="87" y="224"/>
                    <a:pt x="88" y="223"/>
                  </a:cubicBezTo>
                  <a:close/>
                  <a:moveTo>
                    <a:pt x="134" y="203"/>
                  </a:moveTo>
                  <a:cubicBezTo>
                    <a:pt x="122" y="174"/>
                    <a:pt x="122" y="174"/>
                    <a:pt x="122" y="174"/>
                  </a:cubicBezTo>
                  <a:cubicBezTo>
                    <a:pt x="109" y="203"/>
                    <a:pt x="109" y="203"/>
                    <a:pt x="109" y="203"/>
                  </a:cubicBezTo>
                  <a:lnTo>
                    <a:pt x="134" y="203"/>
                  </a:lnTo>
                  <a:close/>
                  <a:moveTo>
                    <a:pt x="170" y="165"/>
                  </a:moveTo>
                  <a:cubicBezTo>
                    <a:pt x="170" y="162"/>
                    <a:pt x="172" y="160"/>
                    <a:pt x="175" y="160"/>
                  </a:cubicBezTo>
                  <a:cubicBezTo>
                    <a:pt x="198" y="160"/>
                    <a:pt x="198" y="160"/>
                    <a:pt x="198" y="160"/>
                  </a:cubicBezTo>
                  <a:cubicBezTo>
                    <a:pt x="214" y="160"/>
                    <a:pt x="225" y="169"/>
                    <a:pt x="225" y="184"/>
                  </a:cubicBezTo>
                  <a:cubicBezTo>
                    <a:pt x="225" y="184"/>
                    <a:pt x="225" y="184"/>
                    <a:pt x="225" y="184"/>
                  </a:cubicBezTo>
                  <a:cubicBezTo>
                    <a:pt x="225" y="200"/>
                    <a:pt x="212" y="208"/>
                    <a:pt x="196" y="208"/>
                  </a:cubicBezTo>
                  <a:cubicBezTo>
                    <a:pt x="182" y="208"/>
                    <a:pt x="182" y="208"/>
                    <a:pt x="182" y="208"/>
                  </a:cubicBezTo>
                  <a:cubicBezTo>
                    <a:pt x="182" y="225"/>
                    <a:pt x="182" y="225"/>
                    <a:pt x="182" y="225"/>
                  </a:cubicBezTo>
                  <a:cubicBezTo>
                    <a:pt x="182" y="229"/>
                    <a:pt x="180" y="231"/>
                    <a:pt x="176" y="231"/>
                  </a:cubicBezTo>
                  <a:cubicBezTo>
                    <a:pt x="173" y="231"/>
                    <a:pt x="170" y="229"/>
                    <a:pt x="170" y="225"/>
                  </a:cubicBezTo>
                  <a:lnTo>
                    <a:pt x="170" y="165"/>
                  </a:lnTo>
                  <a:close/>
                  <a:moveTo>
                    <a:pt x="197" y="197"/>
                  </a:moveTo>
                  <a:cubicBezTo>
                    <a:pt x="206" y="197"/>
                    <a:pt x="212" y="192"/>
                    <a:pt x="212" y="184"/>
                  </a:cubicBezTo>
                  <a:cubicBezTo>
                    <a:pt x="212" y="184"/>
                    <a:pt x="212" y="184"/>
                    <a:pt x="212" y="184"/>
                  </a:cubicBezTo>
                  <a:cubicBezTo>
                    <a:pt x="212" y="176"/>
                    <a:pt x="206" y="171"/>
                    <a:pt x="197" y="171"/>
                  </a:cubicBezTo>
                  <a:cubicBezTo>
                    <a:pt x="182" y="171"/>
                    <a:pt x="182" y="171"/>
                    <a:pt x="182" y="171"/>
                  </a:cubicBezTo>
                  <a:cubicBezTo>
                    <a:pt x="182" y="197"/>
                    <a:pt x="182" y="197"/>
                    <a:pt x="182" y="197"/>
                  </a:cubicBezTo>
                  <a:lnTo>
                    <a:pt x="197" y="197"/>
                  </a:lnTo>
                  <a:close/>
                  <a:moveTo>
                    <a:pt x="238" y="165"/>
                  </a:moveTo>
                  <a:cubicBezTo>
                    <a:pt x="238" y="162"/>
                    <a:pt x="240" y="160"/>
                    <a:pt x="243" y="160"/>
                  </a:cubicBezTo>
                  <a:cubicBezTo>
                    <a:pt x="265" y="160"/>
                    <a:pt x="265" y="160"/>
                    <a:pt x="265" y="160"/>
                  </a:cubicBezTo>
                  <a:cubicBezTo>
                    <a:pt x="282" y="160"/>
                    <a:pt x="292" y="169"/>
                    <a:pt x="292" y="184"/>
                  </a:cubicBezTo>
                  <a:cubicBezTo>
                    <a:pt x="292" y="184"/>
                    <a:pt x="292" y="184"/>
                    <a:pt x="292" y="184"/>
                  </a:cubicBezTo>
                  <a:cubicBezTo>
                    <a:pt x="292" y="200"/>
                    <a:pt x="280" y="208"/>
                    <a:pt x="264" y="208"/>
                  </a:cubicBezTo>
                  <a:cubicBezTo>
                    <a:pt x="250" y="208"/>
                    <a:pt x="250" y="208"/>
                    <a:pt x="250" y="208"/>
                  </a:cubicBezTo>
                  <a:cubicBezTo>
                    <a:pt x="250" y="225"/>
                    <a:pt x="250" y="225"/>
                    <a:pt x="250" y="225"/>
                  </a:cubicBezTo>
                  <a:cubicBezTo>
                    <a:pt x="250" y="229"/>
                    <a:pt x="247" y="231"/>
                    <a:pt x="244" y="231"/>
                  </a:cubicBezTo>
                  <a:cubicBezTo>
                    <a:pt x="240" y="231"/>
                    <a:pt x="238" y="229"/>
                    <a:pt x="238" y="225"/>
                  </a:cubicBezTo>
                  <a:lnTo>
                    <a:pt x="238" y="165"/>
                  </a:lnTo>
                  <a:close/>
                  <a:moveTo>
                    <a:pt x="264" y="197"/>
                  </a:moveTo>
                  <a:cubicBezTo>
                    <a:pt x="274" y="197"/>
                    <a:pt x="280" y="192"/>
                    <a:pt x="280" y="184"/>
                  </a:cubicBezTo>
                  <a:cubicBezTo>
                    <a:pt x="280" y="184"/>
                    <a:pt x="280" y="184"/>
                    <a:pt x="280" y="184"/>
                  </a:cubicBezTo>
                  <a:cubicBezTo>
                    <a:pt x="280" y="176"/>
                    <a:pt x="274" y="171"/>
                    <a:pt x="264" y="171"/>
                  </a:cubicBezTo>
                  <a:cubicBezTo>
                    <a:pt x="250" y="171"/>
                    <a:pt x="250" y="171"/>
                    <a:pt x="250" y="171"/>
                  </a:cubicBezTo>
                  <a:cubicBezTo>
                    <a:pt x="250" y="197"/>
                    <a:pt x="250" y="197"/>
                    <a:pt x="250" y="197"/>
                  </a:cubicBezTo>
                  <a:lnTo>
                    <a:pt x="264" y="19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9" name="Group 98">
            <a:extLst>
              <a:ext uri="{FF2B5EF4-FFF2-40B4-BE49-F238E27FC236}">
                <a16:creationId xmlns:a16="http://schemas.microsoft.com/office/drawing/2014/main" id="{983D5903-65B1-7817-FFA2-55E3FA1DEB12}"/>
              </a:ext>
            </a:extLst>
          </p:cNvPr>
          <p:cNvGrpSpPr/>
          <p:nvPr/>
        </p:nvGrpSpPr>
        <p:grpSpPr>
          <a:xfrm>
            <a:off x="6114536" y="1953565"/>
            <a:ext cx="623840" cy="582323"/>
            <a:chOff x="6115284" y="1674133"/>
            <a:chExt cx="623840" cy="582323"/>
          </a:xfrm>
        </p:grpSpPr>
        <p:pic>
          <p:nvPicPr>
            <p:cNvPr id="100" name="Graphic 99">
              <a:extLst>
                <a:ext uri="{FF2B5EF4-FFF2-40B4-BE49-F238E27FC236}">
                  <a16:creationId xmlns:a16="http://schemas.microsoft.com/office/drawing/2014/main" id="{D10E207E-C6E5-23A9-4563-03235911530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486728" y="2004060"/>
              <a:ext cx="252396" cy="252396"/>
            </a:xfrm>
            <a:prstGeom prst="rect">
              <a:avLst/>
            </a:prstGeom>
          </p:spPr>
        </p:pic>
        <p:pic>
          <p:nvPicPr>
            <p:cNvPr id="101" name="Graphic 100">
              <a:extLst>
                <a:ext uri="{FF2B5EF4-FFF2-40B4-BE49-F238E27FC236}">
                  <a16:creationId xmlns:a16="http://schemas.microsoft.com/office/drawing/2014/main" id="{0B3E13C9-1DF6-DCE5-8F14-034D03904F21}"/>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15284" y="2004060"/>
              <a:ext cx="252396" cy="252396"/>
            </a:xfrm>
            <a:prstGeom prst="rect">
              <a:avLst/>
            </a:prstGeom>
          </p:spPr>
        </p:pic>
        <p:pic>
          <p:nvPicPr>
            <p:cNvPr id="102" name="Graphic 101">
              <a:extLst>
                <a:ext uri="{FF2B5EF4-FFF2-40B4-BE49-F238E27FC236}">
                  <a16:creationId xmlns:a16="http://schemas.microsoft.com/office/drawing/2014/main" id="{5602D5AA-041F-6A1F-8A57-F2660E3222BA}"/>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6486728" y="1674133"/>
              <a:ext cx="252396" cy="252396"/>
            </a:xfrm>
            <a:prstGeom prst="rect">
              <a:avLst/>
            </a:prstGeom>
          </p:spPr>
        </p:pic>
        <p:pic>
          <p:nvPicPr>
            <p:cNvPr id="103" name="Graphic 102">
              <a:extLst>
                <a:ext uri="{FF2B5EF4-FFF2-40B4-BE49-F238E27FC236}">
                  <a16:creationId xmlns:a16="http://schemas.microsoft.com/office/drawing/2014/main" id="{17ED200A-AC4F-789E-E97D-3B4913C793C2}"/>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15284" y="1674133"/>
              <a:ext cx="252396" cy="252396"/>
            </a:xfrm>
            <a:prstGeom prst="rect">
              <a:avLst/>
            </a:prstGeom>
          </p:spPr>
        </p:pic>
      </p:grpSp>
      <p:cxnSp>
        <p:nvCxnSpPr>
          <p:cNvPr id="104" name="Straight Connector 103">
            <a:extLst>
              <a:ext uri="{FF2B5EF4-FFF2-40B4-BE49-F238E27FC236}">
                <a16:creationId xmlns:a16="http://schemas.microsoft.com/office/drawing/2014/main" id="{EBDD3399-A9A9-9CF2-9175-893879E93F89}"/>
              </a:ext>
            </a:extLst>
          </p:cNvPr>
          <p:cNvCxnSpPr>
            <a:cxnSpLocks/>
          </p:cNvCxnSpPr>
          <p:nvPr/>
        </p:nvCxnSpPr>
        <p:spPr bwMode="gray">
          <a:xfrm>
            <a:off x="6935743" y="3525934"/>
            <a:ext cx="0" cy="1729076"/>
          </a:xfrm>
          <a:prstGeom prst="line">
            <a:avLst/>
          </a:prstGeom>
          <a:ln w="19050">
            <a:solidFill>
              <a:schemeClr val="accent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A0E40D86-64C2-A7A3-1C50-802EC83AC4F4}"/>
              </a:ext>
            </a:extLst>
          </p:cNvPr>
          <p:cNvCxnSpPr>
            <a:cxnSpLocks/>
          </p:cNvCxnSpPr>
          <p:nvPr/>
        </p:nvCxnSpPr>
        <p:spPr bwMode="gray">
          <a:xfrm flipH="1">
            <a:off x="6226228" y="5256048"/>
            <a:ext cx="709516" cy="0"/>
          </a:xfrm>
          <a:prstGeom prst="line">
            <a:avLst/>
          </a:prstGeom>
          <a:ln w="19050">
            <a:solidFill>
              <a:schemeClr val="accent1"/>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106" name="Rectangle 105">
            <a:extLst>
              <a:ext uri="{FF2B5EF4-FFF2-40B4-BE49-F238E27FC236}">
                <a16:creationId xmlns:a16="http://schemas.microsoft.com/office/drawing/2014/main" id="{5523149B-41A1-3B98-712D-1D4A84125F21}"/>
              </a:ext>
            </a:extLst>
          </p:cNvPr>
          <p:cNvSpPr/>
          <p:nvPr/>
        </p:nvSpPr>
        <p:spPr>
          <a:xfrm>
            <a:off x="1791661" y="5070803"/>
            <a:ext cx="1245855" cy="153888"/>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Stretched Cluster</a:t>
            </a:r>
          </a:p>
        </p:txBody>
      </p:sp>
      <p:cxnSp>
        <p:nvCxnSpPr>
          <p:cNvPr id="107" name="Straight Connector 106">
            <a:extLst>
              <a:ext uri="{FF2B5EF4-FFF2-40B4-BE49-F238E27FC236}">
                <a16:creationId xmlns:a16="http://schemas.microsoft.com/office/drawing/2014/main" id="{5CE098A6-062A-6897-BE5F-63313B51A390}"/>
              </a:ext>
            </a:extLst>
          </p:cNvPr>
          <p:cNvCxnSpPr>
            <a:cxnSpLocks/>
          </p:cNvCxnSpPr>
          <p:nvPr/>
        </p:nvCxnSpPr>
        <p:spPr bwMode="gray">
          <a:xfrm flipH="1">
            <a:off x="1743075" y="5256048"/>
            <a:ext cx="1343026" cy="0"/>
          </a:xfrm>
          <a:prstGeom prst="line">
            <a:avLst/>
          </a:prstGeom>
          <a:ln w="19050">
            <a:solidFill>
              <a:schemeClr val="accent3"/>
            </a:solidFill>
            <a:prstDash val="sysDot"/>
            <a:miter lim="800000"/>
            <a:tailEnd type="none"/>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4019DD51-211F-2EB8-D871-E1E1040E61B8}"/>
              </a:ext>
            </a:extLst>
          </p:cNvPr>
          <p:cNvSpPr/>
          <p:nvPr/>
        </p:nvSpPr>
        <p:spPr>
          <a:xfrm>
            <a:off x="982602" y="5851851"/>
            <a:ext cx="713658" cy="215444"/>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Co-Lo</a:t>
            </a:r>
          </a:p>
        </p:txBody>
      </p:sp>
      <p:sp>
        <p:nvSpPr>
          <p:cNvPr id="125" name="Rectangle 124">
            <a:extLst>
              <a:ext uri="{FF2B5EF4-FFF2-40B4-BE49-F238E27FC236}">
                <a16:creationId xmlns:a16="http://schemas.microsoft.com/office/drawing/2014/main" id="{DD814FDF-6362-C736-B604-97388A17593D}"/>
              </a:ext>
            </a:extLst>
          </p:cNvPr>
          <p:cNvSpPr/>
          <p:nvPr/>
        </p:nvSpPr>
        <p:spPr>
          <a:xfrm>
            <a:off x="6141762" y="1680746"/>
            <a:ext cx="569387" cy="184666"/>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Edge</a:t>
            </a:r>
          </a:p>
        </p:txBody>
      </p:sp>
      <p:sp>
        <p:nvSpPr>
          <p:cNvPr id="126" name="Rectangle 125">
            <a:extLst>
              <a:ext uri="{FF2B5EF4-FFF2-40B4-BE49-F238E27FC236}">
                <a16:creationId xmlns:a16="http://schemas.microsoft.com/office/drawing/2014/main" id="{21CBCCE0-B2AA-4CF4-4F36-339093756498}"/>
              </a:ext>
            </a:extLst>
          </p:cNvPr>
          <p:cNvSpPr/>
          <p:nvPr/>
        </p:nvSpPr>
        <p:spPr>
          <a:xfrm>
            <a:off x="7149066" y="1680746"/>
            <a:ext cx="569387" cy="184666"/>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Edge</a:t>
            </a:r>
          </a:p>
        </p:txBody>
      </p:sp>
      <p:cxnSp>
        <p:nvCxnSpPr>
          <p:cNvPr id="131" name="Straight Connector 130">
            <a:extLst>
              <a:ext uri="{FF2B5EF4-FFF2-40B4-BE49-F238E27FC236}">
                <a16:creationId xmlns:a16="http://schemas.microsoft.com/office/drawing/2014/main" id="{556E98FB-486E-7D30-E005-8D7FC6148309}"/>
              </a:ext>
            </a:extLst>
          </p:cNvPr>
          <p:cNvCxnSpPr>
            <a:cxnSpLocks/>
          </p:cNvCxnSpPr>
          <p:nvPr/>
        </p:nvCxnSpPr>
        <p:spPr bwMode="gray">
          <a:xfrm flipH="1">
            <a:off x="4412534" y="2839189"/>
            <a:ext cx="1494722" cy="0"/>
          </a:xfrm>
          <a:prstGeom prst="line">
            <a:avLst/>
          </a:prstGeom>
          <a:ln w="25400">
            <a:solidFill>
              <a:schemeClr val="accent2"/>
            </a:solidFill>
            <a:prstDash val="solid"/>
            <a:miter lim="800000"/>
            <a:headEnd type="diamond" w="lg" len="lg"/>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7FEC6793-0AFA-03F8-F6DD-5798041CC9ED}"/>
              </a:ext>
            </a:extLst>
          </p:cNvPr>
          <p:cNvCxnSpPr>
            <a:cxnSpLocks/>
          </p:cNvCxnSpPr>
          <p:nvPr/>
        </p:nvCxnSpPr>
        <p:spPr bwMode="gray">
          <a:xfrm flipV="1">
            <a:off x="3885612" y="3360741"/>
            <a:ext cx="0" cy="703259"/>
          </a:xfrm>
          <a:prstGeom prst="line">
            <a:avLst/>
          </a:prstGeom>
          <a:ln w="25400">
            <a:solidFill>
              <a:schemeClr val="accent2"/>
            </a:solidFill>
            <a:prstDash val="solid"/>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48" name="Rectangle 147">
            <a:extLst>
              <a:ext uri="{FF2B5EF4-FFF2-40B4-BE49-F238E27FC236}">
                <a16:creationId xmlns:a16="http://schemas.microsoft.com/office/drawing/2014/main" id="{253AE57B-70D5-A43D-B80E-1E0D657188F8}"/>
              </a:ext>
            </a:extLst>
          </p:cNvPr>
          <p:cNvSpPr/>
          <p:nvPr/>
        </p:nvSpPr>
        <p:spPr>
          <a:xfrm>
            <a:off x="4727205" y="3973256"/>
            <a:ext cx="527709" cy="184666"/>
          </a:xfrm>
          <a:prstGeom prst="rect">
            <a:avLst/>
          </a:prstGeom>
        </p:spPr>
        <p:txBody>
          <a:bodyPr wrap="none" lIns="91440" tIns="0" rIns="9144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C4B94"/>
                </a:solidFill>
                <a:effectLst/>
                <a:uLnTx/>
                <a:uFillTx/>
                <a:latin typeface="Arial" panose="020B0604020202020204"/>
                <a:ea typeface="+mn-ea"/>
                <a:cs typeface="+mn-cs"/>
              </a:rPr>
              <a:t>CNA</a:t>
            </a:r>
          </a:p>
        </p:txBody>
      </p:sp>
      <p:grpSp>
        <p:nvGrpSpPr>
          <p:cNvPr id="153" name="Group 152">
            <a:extLst>
              <a:ext uri="{FF2B5EF4-FFF2-40B4-BE49-F238E27FC236}">
                <a16:creationId xmlns:a16="http://schemas.microsoft.com/office/drawing/2014/main" id="{B72E7689-C21B-3DC3-0D5C-04473F2B1F74}"/>
              </a:ext>
            </a:extLst>
          </p:cNvPr>
          <p:cNvGrpSpPr/>
          <p:nvPr/>
        </p:nvGrpSpPr>
        <p:grpSpPr>
          <a:xfrm>
            <a:off x="3953130" y="4277145"/>
            <a:ext cx="626886" cy="585369"/>
            <a:chOff x="3953130" y="4277145"/>
            <a:chExt cx="626886" cy="585369"/>
          </a:xfrm>
        </p:grpSpPr>
        <p:pic>
          <p:nvPicPr>
            <p:cNvPr id="72" name="Graphic 71">
              <a:extLst>
                <a:ext uri="{FF2B5EF4-FFF2-40B4-BE49-F238E27FC236}">
                  <a16:creationId xmlns:a16="http://schemas.microsoft.com/office/drawing/2014/main" id="{E4EC12C2-D3DA-D135-3E73-B41A0B1A180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4324574" y="4607072"/>
              <a:ext cx="255442" cy="255442"/>
            </a:xfrm>
            <a:prstGeom prst="rect">
              <a:avLst/>
            </a:prstGeom>
          </p:spPr>
        </p:pic>
        <p:pic>
          <p:nvPicPr>
            <p:cNvPr id="73" name="Graphic 72">
              <a:extLst>
                <a:ext uri="{FF2B5EF4-FFF2-40B4-BE49-F238E27FC236}">
                  <a16:creationId xmlns:a16="http://schemas.microsoft.com/office/drawing/2014/main" id="{3EBAF7B0-95F9-159B-800B-F7B103299E99}"/>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953130" y="4607072"/>
              <a:ext cx="255442" cy="255442"/>
            </a:xfrm>
            <a:prstGeom prst="rect">
              <a:avLst/>
            </a:prstGeom>
          </p:spPr>
        </p:pic>
        <p:pic>
          <p:nvPicPr>
            <p:cNvPr id="68" name="Graphic 67">
              <a:extLst>
                <a:ext uri="{FF2B5EF4-FFF2-40B4-BE49-F238E27FC236}">
                  <a16:creationId xmlns:a16="http://schemas.microsoft.com/office/drawing/2014/main" id="{E659DD2F-A71F-0AA7-2A68-0175A7A918CE}"/>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4324574" y="4277145"/>
              <a:ext cx="255442" cy="255442"/>
            </a:xfrm>
            <a:prstGeom prst="rect">
              <a:avLst/>
            </a:prstGeom>
          </p:spPr>
        </p:pic>
        <p:pic>
          <p:nvPicPr>
            <p:cNvPr id="69" name="Graphic 68">
              <a:extLst>
                <a:ext uri="{FF2B5EF4-FFF2-40B4-BE49-F238E27FC236}">
                  <a16:creationId xmlns:a16="http://schemas.microsoft.com/office/drawing/2014/main" id="{1DF66ACF-89FE-3981-2675-6E35B35AE173}"/>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953130" y="4277145"/>
              <a:ext cx="255442" cy="255442"/>
            </a:xfrm>
            <a:prstGeom prst="rect">
              <a:avLst/>
            </a:prstGeom>
          </p:spPr>
        </p:pic>
      </p:grpSp>
      <p:grpSp>
        <p:nvGrpSpPr>
          <p:cNvPr id="154" name="Group 153">
            <a:extLst>
              <a:ext uri="{FF2B5EF4-FFF2-40B4-BE49-F238E27FC236}">
                <a16:creationId xmlns:a16="http://schemas.microsoft.com/office/drawing/2014/main" id="{9C0501F2-64B6-A4C8-6689-304093670336}"/>
              </a:ext>
            </a:extLst>
          </p:cNvPr>
          <p:cNvGrpSpPr/>
          <p:nvPr/>
        </p:nvGrpSpPr>
        <p:grpSpPr>
          <a:xfrm>
            <a:off x="4689926" y="4277144"/>
            <a:ext cx="623840" cy="585370"/>
            <a:chOff x="4689926" y="4277144"/>
            <a:chExt cx="623840" cy="585370"/>
          </a:xfrm>
        </p:grpSpPr>
        <p:pic>
          <p:nvPicPr>
            <p:cNvPr id="144" name="Graphic 143">
              <a:extLst>
                <a:ext uri="{FF2B5EF4-FFF2-40B4-BE49-F238E27FC236}">
                  <a16:creationId xmlns:a16="http://schemas.microsoft.com/office/drawing/2014/main" id="{68D8EFAB-392C-A552-0A8D-B3648F277B9E}"/>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4689926" y="4277144"/>
              <a:ext cx="255437" cy="255437"/>
            </a:xfrm>
            <a:prstGeom prst="rect">
              <a:avLst/>
            </a:prstGeom>
          </p:spPr>
        </p:pic>
        <p:pic>
          <p:nvPicPr>
            <p:cNvPr id="149" name="Graphic 148">
              <a:extLst>
                <a:ext uri="{FF2B5EF4-FFF2-40B4-BE49-F238E27FC236}">
                  <a16:creationId xmlns:a16="http://schemas.microsoft.com/office/drawing/2014/main" id="{63AD4C29-7275-3782-9F06-62A88D2426C9}"/>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4689926" y="4607077"/>
              <a:ext cx="255437" cy="255437"/>
            </a:xfrm>
            <a:prstGeom prst="rect">
              <a:avLst/>
            </a:prstGeom>
          </p:spPr>
        </p:pic>
        <p:pic>
          <p:nvPicPr>
            <p:cNvPr id="150" name="Graphic 149">
              <a:extLst>
                <a:ext uri="{FF2B5EF4-FFF2-40B4-BE49-F238E27FC236}">
                  <a16:creationId xmlns:a16="http://schemas.microsoft.com/office/drawing/2014/main" id="{750CA8F9-A489-2E59-EF01-D1081C0EB3CD}"/>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5058329" y="4277144"/>
              <a:ext cx="255437" cy="255437"/>
            </a:xfrm>
            <a:prstGeom prst="rect">
              <a:avLst/>
            </a:prstGeom>
          </p:spPr>
        </p:pic>
        <p:pic>
          <p:nvPicPr>
            <p:cNvPr id="151" name="Graphic 150">
              <a:extLst>
                <a:ext uri="{FF2B5EF4-FFF2-40B4-BE49-F238E27FC236}">
                  <a16:creationId xmlns:a16="http://schemas.microsoft.com/office/drawing/2014/main" id="{E5B9A48B-E4BC-0A08-91E1-72B1CA5926E1}"/>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5058329" y="4607077"/>
              <a:ext cx="255437" cy="255437"/>
            </a:xfrm>
            <a:prstGeom prst="rect">
              <a:avLst/>
            </a:prstGeom>
          </p:spPr>
        </p:pic>
      </p:grpSp>
      <p:pic>
        <p:nvPicPr>
          <p:cNvPr id="65" name="Graphic 64">
            <a:extLst>
              <a:ext uri="{FF2B5EF4-FFF2-40B4-BE49-F238E27FC236}">
                <a16:creationId xmlns:a16="http://schemas.microsoft.com/office/drawing/2014/main" id="{64EFECC6-EA82-11A5-A15B-52311120E8AF}"/>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2587302" y="2562008"/>
            <a:ext cx="342834" cy="398807"/>
          </a:xfrm>
          <a:prstGeom prst="rect">
            <a:avLst/>
          </a:prstGeom>
        </p:spPr>
      </p:pic>
      <p:grpSp>
        <p:nvGrpSpPr>
          <p:cNvPr id="66" name="Group 65">
            <a:extLst>
              <a:ext uri="{FF2B5EF4-FFF2-40B4-BE49-F238E27FC236}">
                <a16:creationId xmlns:a16="http://schemas.microsoft.com/office/drawing/2014/main" id="{439AEE47-EF36-6542-EAB5-827075686C8D}"/>
              </a:ext>
            </a:extLst>
          </p:cNvPr>
          <p:cNvGrpSpPr/>
          <p:nvPr/>
        </p:nvGrpSpPr>
        <p:grpSpPr>
          <a:xfrm>
            <a:off x="3266694" y="2595979"/>
            <a:ext cx="1237836" cy="644737"/>
            <a:chOff x="2406496" y="2595979"/>
            <a:chExt cx="1237836" cy="644737"/>
          </a:xfrm>
        </p:grpSpPr>
        <p:pic>
          <p:nvPicPr>
            <p:cNvPr id="67" name="Graphic 66">
              <a:extLst>
                <a:ext uri="{FF2B5EF4-FFF2-40B4-BE49-F238E27FC236}">
                  <a16:creationId xmlns:a16="http://schemas.microsoft.com/office/drawing/2014/main" id="{5010212C-78A0-B30B-13AF-165C35B81CB6}"/>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2784545" y="2595979"/>
              <a:ext cx="481738" cy="439003"/>
            </a:xfrm>
            <a:prstGeom prst="rect">
              <a:avLst/>
            </a:prstGeom>
          </p:spPr>
        </p:pic>
        <p:sp>
          <p:nvSpPr>
            <p:cNvPr id="70" name="TextBox 69">
              <a:extLst>
                <a:ext uri="{FF2B5EF4-FFF2-40B4-BE49-F238E27FC236}">
                  <a16:creationId xmlns:a16="http://schemas.microsoft.com/office/drawing/2014/main" id="{0521A265-5A22-655B-6F18-23DE192DE803}"/>
                </a:ext>
              </a:extLst>
            </p:cNvPr>
            <p:cNvSpPr txBox="1"/>
            <p:nvPr/>
          </p:nvSpPr>
          <p:spPr>
            <a:xfrm>
              <a:off x="2406496" y="3056050"/>
              <a:ext cx="1237836"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vCenter Server</a:t>
              </a:r>
            </a:p>
          </p:txBody>
        </p:sp>
      </p:grpSp>
      <p:cxnSp>
        <p:nvCxnSpPr>
          <p:cNvPr id="71" name="Straight Connector 70">
            <a:extLst>
              <a:ext uri="{FF2B5EF4-FFF2-40B4-BE49-F238E27FC236}">
                <a16:creationId xmlns:a16="http://schemas.microsoft.com/office/drawing/2014/main" id="{9555FB43-2902-32C1-902B-DAC9117939CC}"/>
              </a:ext>
            </a:extLst>
          </p:cNvPr>
          <p:cNvCxnSpPr>
            <a:cxnSpLocks/>
          </p:cNvCxnSpPr>
          <p:nvPr/>
        </p:nvCxnSpPr>
        <p:spPr bwMode="gray">
          <a:xfrm>
            <a:off x="3024757" y="2839189"/>
            <a:ext cx="365909"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77232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3"/>
                                        </p:tgtEl>
                                        <p:attrNameLst>
                                          <p:attrName>style.visibility</p:attrName>
                                        </p:attrNameLst>
                                      </p:cBhvr>
                                      <p:to>
                                        <p:strVal val="visible"/>
                                      </p:to>
                                    </p:set>
                                    <p:animEffect transition="in" filter="fade">
                                      <p:cBhvr>
                                        <p:cTn id="11" dur="500"/>
                                        <p:tgtEl>
                                          <p:spTgt spid="15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6"/>
                                        </p:tgtEl>
                                        <p:attrNameLst>
                                          <p:attrName>style.visibility</p:attrName>
                                        </p:attrNameLst>
                                      </p:cBhvr>
                                      <p:to>
                                        <p:strVal val="visible"/>
                                      </p:to>
                                    </p:set>
                                    <p:animEffect transition="in" filter="fade">
                                      <p:cBhvr>
                                        <p:cTn id="15" dur="500"/>
                                        <p:tgtEl>
                                          <p:spTgt spid="7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54"/>
                                        </p:tgtEl>
                                        <p:attrNameLst>
                                          <p:attrName>style.visibility</p:attrName>
                                        </p:attrNameLst>
                                      </p:cBhvr>
                                      <p:to>
                                        <p:strVal val="visible"/>
                                      </p:to>
                                    </p:set>
                                    <p:animEffect transition="in" filter="fade">
                                      <p:cBhvr>
                                        <p:cTn id="19" dur="500"/>
                                        <p:tgtEl>
                                          <p:spTgt spid="15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48"/>
                                        </p:tgtEl>
                                        <p:attrNameLst>
                                          <p:attrName>style.visibility</p:attrName>
                                        </p:attrNameLst>
                                      </p:cBhvr>
                                      <p:to>
                                        <p:strVal val="visible"/>
                                      </p:to>
                                    </p:set>
                                    <p:animEffect transition="in" filter="fade">
                                      <p:cBhvr>
                                        <p:cTn id="23" dur="500"/>
                                        <p:tgtEl>
                                          <p:spTgt spid="148"/>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par>
                          <p:cTn id="28" fill="hold">
                            <p:stCondLst>
                              <p:cond delay="3000"/>
                            </p:stCondLst>
                            <p:childTnLst>
                              <p:par>
                                <p:cTn id="29" presetID="10" presetClass="entr" presetSubtype="0" fill="hold" nodeType="afterEffect">
                                  <p:stCondLst>
                                    <p:cond delay="50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fade">
                                      <p:cBhvr>
                                        <p:cTn id="35" dur="500"/>
                                        <p:tgtEl>
                                          <p:spTgt spid="43"/>
                                        </p:tgtEl>
                                      </p:cBhvr>
                                    </p:animEffect>
                                  </p:childTnLst>
                                </p:cTn>
                              </p:par>
                            </p:childTnLst>
                          </p:cTn>
                        </p:par>
                        <p:par>
                          <p:cTn id="36" fill="hold">
                            <p:stCondLst>
                              <p:cond delay="4500"/>
                            </p:stCondLst>
                            <p:childTnLst>
                              <p:par>
                                <p:cTn id="37" presetID="10" presetClass="entr" presetSubtype="0" fill="hold" grpId="0" nodeType="afterEffect">
                                  <p:stCondLst>
                                    <p:cond delay="0"/>
                                  </p:stCondLst>
                                  <p:childTnLst>
                                    <p:set>
                                      <p:cBhvr>
                                        <p:cTn id="38" dur="1" fill="hold">
                                          <p:stCondLst>
                                            <p:cond delay="0"/>
                                          </p:stCondLst>
                                        </p:cTn>
                                        <p:tgtEl>
                                          <p:spTgt spid="77"/>
                                        </p:tgtEl>
                                        <p:attrNameLst>
                                          <p:attrName>style.visibility</p:attrName>
                                        </p:attrNameLst>
                                      </p:cBhvr>
                                      <p:to>
                                        <p:strVal val="visible"/>
                                      </p:to>
                                    </p:set>
                                    <p:animEffect transition="in" filter="fade">
                                      <p:cBhvr>
                                        <p:cTn id="39" dur="500"/>
                                        <p:tgtEl>
                                          <p:spTgt spid="77"/>
                                        </p:tgtEl>
                                      </p:cBhvr>
                                    </p:animEffect>
                                  </p:childTnLst>
                                </p:cTn>
                              </p:par>
                            </p:childTnLst>
                          </p:cTn>
                        </p:par>
                        <p:par>
                          <p:cTn id="40" fill="hold">
                            <p:stCondLst>
                              <p:cond delay="5000"/>
                            </p:stCondLst>
                            <p:childTnLst>
                              <p:par>
                                <p:cTn id="41" presetID="10" presetClass="entr" presetSubtype="0" fill="hold" nodeType="afterEffect">
                                  <p:stCondLst>
                                    <p:cond delay="75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par>
                                <p:cTn id="44" presetID="10" presetClass="entr" presetSubtype="0" fill="hold" nodeType="withEffect">
                                  <p:stCondLst>
                                    <p:cond delay="750"/>
                                  </p:stCondLst>
                                  <p:childTnLst>
                                    <p:set>
                                      <p:cBhvr>
                                        <p:cTn id="45" dur="1" fill="hold">
                                          <p:stCondLst>
                                            <p:cond delay="0"/>
                                          </p:stCondLst>
                                        </p:cTn>
                                        <p:tgtEl>
                                          <p:spTgt spid="55"/>
                                        </p:tgtEl>
                                        <p:attrNameLst>
                                          <p:attrName>style.visibility</p:attrName>
                                        </p:attrNameLst>
                                      </p:cBhvr>
                                      <p:to>
                                        <p:strVal val="visible"/>
                                      </p:to>
                                    </p:set>
                                    <p:animEffect transition="in" filter="fade">
                                      <p:cBhvr>
                                        <p:cTn id="46" dur="500"/>
                                        <p:tgtEl>
                                          <p:spTgt spid="55"/>
                                        </p:tgtEl>
                                      </p:cBhvr>
                                    </p:animEffect>
                                  </p:childTnLst>
                                </p:cTn>
                              </p:par>
                              <p:par>
                                <p:cTn id="47" presetID="10" presetClass="entr" presetSubtype="0" fill="hold" nodeType="withEffect">
                                  <p:stCondLst>
                                    <p:cond delay="75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par>
                                <p:cTn id="50" presetID="10" presetClass="entr" presetSubtype="0" fill="hold" grpId="0" nodeType="withEffect">
                                  <p:stCondLst>
                                    <p:cond delay="750"/>
                                  </p:stCondLst>
                                  <p:childTnLst>
                                    <p:set>
                                      <p:cBhvr>
                                        <p:cTn id="51" dur="1" fill="hold">
                                          <p:stCondLst>
                                            <p:cond delay="0"/>
                                          </p:stCondLst>
                                        </p:cTn>
                                        <p:tgtEl>
                                          <p:spTgt spid="108"/>
                                        </p:tgtEl>
                                        <p:attrNameLst>
                                          <p:attrName>style.visibility</p:attrName>
                                        </p:attrNameLst>
                                      </p:cBhvr>
                                      <p:to>
                                        <p:strVal val="visible"/>
                                      </p:to>
                                    </p:set>
                                    <p:animEffect transition="in" filter="fade">
                                      <p:cBhvr>
                                        <p:cTn id="52" dur="500"/>
                                        <p:tgtEl>
                                          <p:spTgt spid="108"/>
                                        </p:tgtEl>
                                      </p:cBhvr>
                                    </p:animEffect>
                                  </p:childTnLst>
                                </p:cTn>
                              </p:par>
                            </p:childTnLst>
                          </p:cTn>
                        </p:par>
                        <p:par>
                          <p:cTn id="53" fill="hold">
                            <p:stCondLst>
                              <p:cond delay="6250"/>
                            </p:stCondLst>
                            <p:childTnLst>
                              <p:par>
                                <p:cTn id="54" presetID="16" presetClass="entr" presetSubtype="37" fill="hold" nodeType="afterEffect">
                                  <p:stCondLst>
                                    <p:cond delay="0"/>
                                  </p:stCondLst>
                                  <p:childTnLst>
                                    <p:set>
                                      <p:cBhvr>
                                        <p:cTn id="55" dur="1" fill="hold">
                                          <p:stCondLst>
                                            <p:cond delay="0"/>
                                          </p:stCondLst>
                                        </p:cTn>
                                        <p:tgtEl>
                                          <p:spTgt spid="107"/>
                                        </p:tgtEl>
                                        <p:attrNameLst>
                                          <p:attrName>style.visibility</p:attrName>
                                        </p:attrNameLst>
                                      </p:cBhvr>
                                      <p:to>
                                        <p:strVal val="visible"/>
                                      </p:to>
                                    </p:set>
                                    <p:animEffect transition="in" filter="barn(outVertical)">
                                      <p:cBhvr>
                                        <p:cTn id="56" dur="500"/>
                                        <p:tgtEl>
                                          <p:spTgt spid="10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06"/>
                                        </p:tgtEl>
                                        <p:attrNameLst>
                                          <p:attrName>style.visibility</p:attrName>
                                        </p:attrNameLst>
                                      </p:cBhvr>
                                      <p:to>
                                        <p:strVal val="visible"/>
                                      </p:to>
                                    </p:set>
                                    <p:animEffect transition="in" filter="fade">
                                      <p:cBhvr>
                                        <p:cTn id="59" dur="500"/>
                                        <p:tgtEl>
                                          <p:spTgt spid="106"/>
                                        </p:tgtEl>
                                      </p:cBhvr>
                                    </p:animEffect>
                                  </p:childTnLst>
                                </p:cTn>
                              </p:par>
                            </p:childTnLst>
                          </p:cTn>
                        </p:par>
                        <p:par>
                          <p:cTn id="60" fill="hold">
                            <p:stCondLst>
                              <p:cond delay="6750"/>
                            </p:stCondLst>
                            <p:childTnLst>
                              <p:par>
                                <p:cTn id="61" presetID="10" presetClass="entr" presetSubtype="0" fill="hold" nodeType="afterEffect">
                                  <p:stCondLst>
                                    <p:cond delay="0"/>
                                  </p:stCondLst>
                                  <p:childTnLst>
                                    <p:set>
                                      <p:cBhvr>
                                        <p:cTn id="62" dur="1" fill="hold">
                                          <p:stCondLst>
                                            <p:cond delay="0"/>
                                          </p:stCondLst>
                                        </p:cTn>
                                        <p:tgtEl>
                                          <p:spTgt spid="59"/>
                                        </p:tgtEl>
                                        <p:attrNameLst>
                                          <p:attrName>style.visibility</p:attrName>
                                        </p:attrNameLst>
                                      </p:cBhvr>
                                      <p:to>
                                        <p:strVal val="visible"/>
                                      </p:to>
                                    </p:set>
                                    <p:animEffect transition="in" filter="fade">
                                      <p:cBhvr>
                                        <p:cTn id="63" dur="500"/>
                                        <p:tgtEl>
                                          <p:spTgt spid="59"/>
                                        </p:tgtEl>
                                      </p:cBhvr>
                                    </p:animEffect>
                                  </p:childTnLst>
                                </p:cTn>
                              </p:par>
                              <p:par>
                                <p:cTn id="64" presetID="10" presetClass="entr" presetSubtype="0" fill="hold" nodeType="withEffect">
                                  <p:stCondLst>
                                    <p:cond delay="0"/>
                                  </p:stCondLst>
                                  <p:childTnLst>
                                    <p:set>
                                      <p:cBhvr>
                                        <p:cTn id="65" dur="1" fill="hold">
                                          <p:stCondLst>
                                            <p:cond delay="0"/>
                                          </p:stCondLst>
                                        </p:cTn>
                                        <p:tgtEl>
                                          <p:spTgt spid="50"/>
                                        </p:tgtEl>
                                        <p:attrNameLst>
                                          <p:attrName>style.visibility</p:attrName>
                                        </p:attrNameLst>
                                      </p:cBhvr>
                                      <p:to>
                                        <p:strVal val="visible"/>
                                      </p:to>
                                    </p:set>
                                    <p:animEffect transition="in" filter="fade">
                                      <p:cBhvr>
                                        <p:cTn id="66" dur="500"/>
                                        <p:tgtEl>
                                          <p:spTgt spid="50"/>
                                        </p:tgtEl>
                                      </p:cBhvr>
                                    </p:animEffect>
                                  </p:childTnLst>
                                </p:cTn>
                              </p:par>
                            </p:childTnLst>
                          </p:cTn>
                        </p:par>
                        <p:par>
                          <p:cTn id="67" fill="hold">
                            <p:stCondLst>
                              <p:cond delay="7250"/>
                            </p:stCondLst>
                            <p:childTnLst>
                              <p:par>
                                <p:cTn id="68" presetID="10" presetClass="entr" presetSubtype="0" fill="hold" grpId="0" nodeType="afterEffect">
                                  <p:stCondLst>
                                    <p:cond delay="0"/>
                                  </p:stCondLst>
                                  <p:childTnLst>
                                    <p:set>
                                      <p:cBhvr>
                                        <p:cTn id="69" dur="1" fill="hold">
                                          <p:stCondLst>
                                            <p:cond delay="0"/>
                                          </p:stCondLst>
                                        </p:cTn>
                                        <p:tgtEl>
                                          <p:spTgt spid="75"/>
                                        </p:tgtEl>
                                        <p:attrNameLst>
                                          <p:attrName>style.visibility</p:attrName>
                                        </p:attrNameLst>
                                      </p:cBhvr>
                                      <p:to>
                                        <p:strVal val="visible"/>
                                      </p:to>
                                    </p:set>
                                    <p:animEffect transition="in" filter="fade">
                                      <p:cBhvr>
                                        <p:cTn id="70" dur="500"/>
                                        <p:tgtEl>
                                          <p:spTgt spid="75"/>
                                        </p:tgtEl>
                                      </p:cBhvr>
                                    </p:animEffect>
                                  </p:childTnLst>
                                </p:cTn>
                              </p:par>
                            </p:childTnLst>
                          </p:cTn>
                        </p:par>
                        <p:par>
                          <p:cTn id="71" fill="hold">
                            <p:stCondLst>
                              <p:cond delay="7750"/>
                            </p:stCondLst>
                            <p:childTnLst>
                              <p:par>
                                <p:cTn id="72" presetID="22" presetClass="entr" presetSubtype="8" fill="hold" nodeType="afterEffect">
                                  <p:stCondLst>
                                    <p:cond delay="750"/>
                                  </p:stCondLst>
                                  <p:childTnLst>
                                    <p:set>
                                      <p:cBhvr>
                                        <p:cTn id="73" dur="1" fill="hold">
                                          <p:stCondLst>
                                            <p:cond delay="0"/>
                                          </p:stCondLst>
                                        </p:cTn>
                                        <p:tgtEl>
                                          <p:spTgt spid="105"/>
                                        </p:tgtEl>
                                        <p:attrNameLst>
                                          <p:attrName>style.visibility</p:attrName>
                                        </p:attrNameLst>
                                      </p:cBhvr>
                                      <p:to>
                                        <p:strVal val="visible"/>
                                      </p:to>
                                    </p:set>
                                    <p:animEffect transition="in" filter="wipe(left)">
                                      <p:cBhvr>
                                        <p:cTn id="74" dur="500"/>
                                        <p:tgtEl>
                                          <p:spTgt spid="105"/>
                                        </p:tgtEl>
                                      </p:cBhvr>
                                    </p:animEffect>
                                  </p:childTnLst>
                                </p:cTn>
                              </p:par>
                            </p:childTnLst>
                          </p:cTn>
                        </p:par>
                        <p:par>
                          <p:cTn id="75" fill="hold">
                            <p:stCondLst>
                              <p:cond delay="9000"/>
                            </p:stCondLst>
                            <p:childTnLst>
                              <p:par>
                                <p:cTn id="76" presetID="22" presetClass="entr" presetSubtype="4" fill="hold" nodeType="afterEffect">
                                  <p:stCondLst>
                                    <p:cond delay="0"/>
                                  </p:stCondLst>
                                  <p:childTnLst>
                                    <p:set>
                                      <p:cBhvr>
                                        <p:cTn id="77" dur="1" fill="hold">
                                          <p:stCondLst>
                                            <p:cond delay="0"/>
                                          </p:stCondLst>
                                        </p:cTn>
                                        <p:tgtEl>
                                          <p:spTgt spid="104"/>
                                        </p:tgtEl>
                                        <p:attrNameLst>
                                          <p:attrName>style.visibility</p:attrName>
                                        </p:attrNameLst>
                                      </p:cBhvr>
                                      <p:to>
                                        <p:strVal val="visible"/>
                                      </p:to>
                                    </p:set>
                                    <p:animEffect transition="in" filter="wipe(down)">
                                      <p:cBhvr>
                                        <p:cTn id="78" dur="500"/>
                                        <p:tgtEl>
                                          <p:spTgt spid="104"/>
                                        </p:tgtEl>
                                      </p:cBhvr>
                                    </p:animEffect>
                                  </p:childTnLst>
                                </p:cTn>
                              </p:par>
                            </p:childTnLst>
                          </p:cTn>
                        </p:par>
                        <p:par>
                          <p:cTn id="79" fill="hold">
                            <p:stCondLst>
                              <p:cond delay="9500"/>
                            </p:stCondLst>
                            <p:childTnLst>
                              <p:par>
                                <p:cTn id="80" presetID="10" presetClass="entr" presetSubtype="0" fill="hold" grpId="0" nodeType="afterEffect">
                                  <p:stCondLst>
                                    <p:cond delay="0"/>
                                  </p:stCondLst>
                                  <p:childTnLst>
                                    <p:set>
                                      <p:cBhvr>
                                        <p:cTn id="81" dur="1" fill="hold">
                                          <p:stCondLst>
                                            <p:cond delay="0"/>
                                          </p:stCondLst>
                                        </p:cTn>
                                        <p:tgtEl>
                                          <p:spTgt spid="17"/>
                                        </p:tgtEl>
                                        <p:attrNameLst>
                                          <p:attrName>style.visibility</p:attrName>
                                        </p:attrNameLst>
                                      </p:cBhvr>
                                      <p:to>
                                        <p:strVal val="visible"/>
                                      </p:to>
                                    </p:set>
                                    <p:animEffect transition="in" filter="fade">
                                      <p:cBhvr>
                                        <p:cTn id="82" dur="500"/>
                                        <p:tgtEl>
                                          <p:spTgt spid="17"/>
                                        </p:tgtEl>
                                      </p:cBhvr>
                                    </p:animEffect>
                                  </p:childTnLst>
                                </p:cTn>
                              </p:par>
                            </p:childTnLst>
                          </p:cTn>
                        </p:par>
                        <p:par>
                          <p:cTn id="83" fill="hold">
                            <p:stCondLst>
                              <p:cond delay="10000"/>
                            </p:stCondLst>
                            <p:childTnLst>
                              <p:par>
                                <p:cTn id="84" presetID="10" presetClass="entr" presetSubtype="0" fill="hold" nodeType="afterEffect">
                                  <p:stCondLst>
                                    <p:cond delay="0"/>
                                  </p:stCondLst>
                                  <p:childTnLst>
                                    <p:set>
                                      <p:cBhvr>
                                        <p:cTn id="85" dur="1" fill="hold">
                                          <p:stCondLst>
                                            <p:cond delay="0"/>
                                          </p:stCondLst>
                                        </p:cTn>
                                        <p:tgtEl>
                                          <p:spTgt spid="78"/>
                                        </p:tgtEl>
                                        <p:attrNameLst>
                                          <p:attrName>style.visibility</p:attrName>
                                        </p:attrNameLst>
                                      </p:cBhvr>
                                      <p:to>
                                        <p:strVal val="visible"/>
                                      </p:to>
                                    </p:set>
                                    <p:animEffect transition="in" filter="fade">
                                      <p:cBhvr>
                                        <p:cTn id="86" dur="500"/>
                                        <p:tgtEl>
                                          <p:spTgt spid="78"/>
                                        </p:tgtEl>
                                      </p:cBhvr>
                                    </p:animEffect>
                                  </p:childTnLst>
                                </p:cTn>
                              </p:par>
                              <p:par>
                                <p:cTn id="87" presetID="10" presetClass="entr" presetSubtype="0" fill="hold" nodeType="withEffect">
                                  <p:stCondLst>
                                    <p:cond delay="0"/>
                                  </p:stCondLst>
                                  <p:childTnLst>
                                    <p:set>
                                      <p:cBhvr>
                                        <p:cTn id="88" dur="1" fill="hold">
                                          <p:stCondLst>
                                            <p:cond delay="0"/>
                                          </p:stCondLst>
                                        </p:cTn>
                                        <p:tgtEl>
                                          <p:spTgt spid="86"/>
                                        </p:tgtEl>
                                        <p:attrNameLst>
                                          <p:attrName>style.visibility</p:attrName>
                                        </p:attrNameLst>
                                      </p:cBhvr>
                                      <p:to>
                                        <p:strVal val="visible"/>
                                      </p:to>
                                    </p:set>
                                    <p:animEffect transition="in" filter="fade">
                                      <p:cBhvr>
                                        <p:cTn id="89" dur="500"/>
                                        <p:tgtEl>
                                          <p:spTgt spid="86"/>
                                        </p:tgtEl>
                                      </p:cBhvr>
                                    </p:animEffect>
                                  </p:childTnLst>
                                </p:cTn>
                              </p:par>
                            </p:childTnLst>
                          </p:cTn>
                        </p:par>
                        <p:par>
                          <p:cTn id="90" fill="hold">
                            <p:stCondLst>
                              <p:cond delay="10500"/>
                            </p:stCondLst>
                            <p:childTnLst>
                              <p:par>
                                <p:cTn id="91" presetID="10" presetClass="entr" presetSubtype="0" fill="hold" nodeType="afterEffect">
                                  <p:stCondLst>
                                    <p:cond delay="0"/>
                                  </p:stCondLst>
                                  <p:childTnLst>
                                    <p:set>
                                      <p:cBhvr>
                                        <p:cTn id="92" dur="1" fill="hold">
                                          <p:stCondLst>
                                            <p:cond delay="0"/>
                                          </p:stCondLst>
                                        </p:cTn>
                                        <p:tgtEl>
                                          <p:spTgt spid="99"/>
                                        </p:tgtEl>
                                        <p:attrNameLst>
                                          <p:attrName>style.visibility</p:attrName>
                                        </p:attrNameLst>
                                      </p:cBhvr>
                                      <p:to>
                                        <p:strVal val="visible"/>
                                      </p:to>
                                    </p:set>
                                    <p:animEffect transition="in" filter="fade">
                                      <p:cBhvr>
                                        <p:cTn id="93" dur="500"/>
                                        <p:tgtEl>
                                          <p:spTgt spid="99"/>
                                        </p:tgtEl>
                                      </p:cBhvr>
                                    </p:animEffect>
                                  </p:childTnLst>
                                </p:cTn>
                              </p:par>
                              <p:par>
                                <p:cTn id="94" presetID="10" presetClass="entr" presetSubtype="0" fill="hold" nodeType="withEffect">
                                  <p:stCondLst>
                                    <p:cond delay="0"/>
                                  </p:stCondLst>
                                  <p:childTnLst>
                                    <p:set>
                                      <p:cBhvr>
                                        <p:cTn id="95" dur="1" fill="hold">
                                          <p:stCondLst>
                                            <p:cond delay="0"/>
                                          </p:stCondLst>
                                        </p:cTn>
                                        <p:tgtEl>
                                          <p:spTgt spid="94"/>
                                        </p:tgtEl>
                                        <p:attrNameLst>
                                          <p:attrName>style.visibility</p:attrName>
                                        </p:attrNameLst>
                                      </p:cBhvr>
                                      <p:to>
                                        <p:strVal val="visible"/>
                                      </p:to>
                                    </p:set>
                                    <p:animEffect transition="in" filter="fade">
                                      <p:cBhvr>
                                        <p:cTn id="96" dur="500"/>
                                        <p:tgtEl>
                                          <p:spTgt spid="94"/>
                                        </p:tgtEl>
                                      </p:cBhvr>
                                    </p:animEffect>
                                  </p:childTnLst>
                                </p:cTn>
                              </p:par>
                            </p:childTnLst>
                          </p:cTn>
                        </p:par>
                        <p:par>
                          <p:cTn id="97" fill="hold">
                            <p:stCondLst>
                              <p:cond delay="11000"/>
                            </p:stCondLst>
                            <p:childTnLst>
                              <p:par>
                                <p:cTn id="98" presetID="10" presetClass="entr" presetSubtype="0" fill="hold" grpId="0" nodeType="afterEffect">
                                  <p:stCondLst>
                                    <p:cond delay="0"/>
                                  </p:stCondLst>
                                  <p:childTnLst>
                                    <p:set>
                                      <p:cBhvr>
                                        <p:cTn id="99" dur="1" fill="hold">
                                          <p:stCondLst>
                                            <p:cond delay="0"/>
                                          </p:stCondLst>
                                        </p:cTn>
                                        <p:tgtEl>
                                          <p:spTgt spid="125"/>
                                        </p:tgtEl>
                                        <p:attrNameLst>
                                          <p:attrName>style.visibility</p:attrName>
                                        </p:attrNameLst>
                                      </p:cBhvr>
                                      <p:to>
                                        <p:strVal val="visible"/>
                                      </p:to>
                                    </p:set>
                                    <p:animEffect transition="in" filter="fade">
                                      <p:cBhvr>
                                        <p:cTn id="100" dur="500"/>
                                        <p:tgtEl>
                                          <p:spTgt spid="125"/>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126"/>
                                        </p:tgtEl>
                                        <p:attrNameLst>
                                          <p:attrName>style.visibility</p:attrName>
                                        </p:attrNameLst>
                                      </p:cBhvr>
                                      <p:to>
                                        <p:strVal val="visible"/>
                                      </p:to>
                                    </p:set>
                                    <p:animEffect transition="in" filter="fade">
                                      <p:cBhvr>
                                        <p:cTn id="103" dur="500"/>
                                        <p:tgtEl>
                                          <p:spTgt spid="126"/>
                                        </p:tgtEl>
                                      </p:cBhvr>
                                    </p:animEffect>
                                  </p:childTnLst>
                                </p:cTn>
                              </p:par>
                            </p:childTnLst>
                          </p:cTn>
                        </p:par>
                        <p:par>
                          <p:cTn id="104" fill="hold">
                            <p:stCondLst>
                              <p:cond delay="11500"/>
                            </p:stCondLst>
                            <p:childTnLst>
                              <p:par>
                                <p:cTn id="105" presetID="10" presetClass="entr" presetSubtype="0" fill="hold" nodeType="afterEffect">
                                  <p:stCondLst>
                                    <p:cond delay="0"/>
                                  </p:stCondLst>
                                  <p:childTnLst>
                                    <p:set>
                                      <p:cBhvr>
                                        <p:cTn id="106" dur="1" fill="hold">
                                          <p:stCondLst>
                                            <p:cond delay="0"/>
                                          </p:stCondLst>
                                        </p:cTn>
                                        <p:tgtEl>
                                          <p:spTgt spid="66"/>
                                        </p:tgtEl>
                                        <p:attrNameLst>
                                          <p:attrName>style.visibility</p:attrName>
                                        </p:attrNameLst>
                                      </p:cBhvr>
                                      <p:to>
                                        <p:strVal val="visible"/>
                                      </p:to>
                                    </p:set>
                                    <p:animEffect transition="in" filter="fade">
                                      <p:cBhvr>
                                        <p:cTn id="107" dur="500"/>
                                        <p:tgtEl>
                                          <p:spTgt spid="66"/>
                                        </p:tgtEl>
                                      </p:cBhvr>
                                    </p:animEffect>
                                  </p:childTnLst>
                                </p:cTn>
                              </p:par>
                              <p:par>
                                <p:cTn id="108" presetID="6" presetClass="entr" presetSubtype="32" fill="hold" grpId="0" nodeType="withEffect">
                                  <p:stCondLst>
                                    <p:cond delay="0"/>
                                  </p:stCondLst>
                                  <p:childTnLst>
                                    <p:set>
                                      <p:cBhvr>
                                        <p:cTn id="109" dur="1" fill="hold">
                                          <p:stCondLst>
                                            <p:cond delay="0"/>
                                          </p:stCondLst>
                                        </p:cTn>
                                        <p:tgtEl>
                                          <p:spTgt spid="4"/>
                                        </p:tgtEl>
                                        <p:attrNameLst>
                                          <p:attrName>style.visibility</p:attrName>
                                        </p:attrNameLst>
                                      </p:cBhvr>
                                      <p:to>
                                        <p:strVal val="visible"/>
                                      </p:to>
                                    </p:set>
                                    <p:animEffect transition="in" filter="circle(out)">
                                      <p:cBhvr>
                                        <p:cTn id="110" dur="1500"/>
                                        <p:tgtEl>
                                          <p:spTgt spid="4"/>
                                        </p:tgtEl>
                                      </p:cBhvr>
                                    </p:animEffect>
                                  </p:childTnLst>
                                </p:cTn>
                              </p:par>
                              <p:par>
                                <p:cTn id="111" presetID="10" presetClass="entr" presetSubtype="0" fill="hold" nodeType="withEffect">
                                  <p:stCondLst>
                                    <p:cond delay="500"/>
                                  </p:stCondLst>
                                  <p:childTnLst>
                                    <p:set>
                                      <p:cBhvr>
                                        <p:cTn id="112" dur="1" fill="hold">
                                          <p:stCondLst>
                                            <p:cond delay="0"/>
                                          </p:stCondLst>
                                        </p:cTn>
                                        <p:tgtEl>
                                          <p:spTgt spid="65"/>
                                        </p:tgtEl>
                                        <p:attrNameLst>
                                          <p:attrName>style.visibility</p:attrName>
                                        </p:attrNameLst>
                                      </p:cBhvr>
                                      <p:to>
                                        <p:strVal val="visible"/>
                                      </p:to>
                                    </p:set>
                                    <p:animEffect transition="in" filter="fade">
                                      <p:cBhvr>
                                        <p:cTn id="113" dur="500"/>
                                        <p:tgtEl>
                                          <p:spTgt spid="65"/>
                                        </p:tgtEl>
                                      </p:cBhvr>
                                    </p:animEffect>
                                  </p:childTnLst>
                                </p:cTn>
                              </p:par>
                              <p:par>
                                <p:cTn id="114" presetID="22" presetClass="entr" presetSubtype="8" fill="hold" nodeType="withEffect">
                                  <p:stCondLst>
                                    <p:cond delay="1000"/>
                                  </p:stCondLst>
                                  <p:childTnLst>
                                    <p:set>
                                      <p:cBhvr>
                                        <p:cTn id="115" dur="1" fill="hold">
                                          <p:stCondLst>
                                            <p:cond delay="0"/>
                                          </p:stCondLst>
                                        </p:cTn>
                                        <p:tgtEl>
                                          <p:spTgt spid="71"/>
                                        </p:tgtEl>
                                        <p:attrNameLst>
                                          <p:attrName>style.visibility</p:attrName>
                                        </p:attrNameLst>
                                      </p:cBhvr>
                                      <p:to>
                                        <p:strVal val="visible"/>
                                      </p:to>
                                    </p:set>
                                    <p:animEffect transition="in" filter="wipe(left)">
                                      <p:cBhvr>
                                        <p:cTn id="116" dur="250"/>
                                        <p:tgtEl>
                                          <p:spTgt spid="71"/>
                                        </p:tgtEl>
                                      </p:cBhvr>
                                    </p:animEffect>
                                  </p:childTnLst>
                                </p:cTn>
                              </p:par>
                            </p:childTnLst>
                          </p:cTn>
                        </p:par>
                        <p:par>
                          <p:cTn id="117" fill="hold">
                            <p:stCondLst>
                              <p:cond delay="13000"/>
                            </p:stCondLst>
                            <p:childTnLst>
                              <p:par>
                                <p:cTn id="118" presetID="22" presetClass="entr" presetSubtype="8" fill="hold" nodeType="afterEffect">
                                  <p:stCondLst>
                                    <p:cond delay="0"/>
                                  </p:stCondLst>
                                  <p:childTnLst>
                                    <p:set>
                                      <p:cBhvr>
                                        <p:cTn id="119" dur="1" fill="hold">
                                          <p:stCondLst>
                                            <p:cond delay="0"/>
                                          </p:stCondLst>
                                        </p:cTn>
                                        <p:tgtEl>
                                          <p:spTgt spid="131"/>
                                        </p:tgtEl>
                                        <p:attrNameLst>
                                          <p:attrName>style.visibility</p:attrName>
                                        </p:attrNameLst>
                                      </p:cBhvr>
                                      <p:to>
                                        <p:strVal val="visible"/>
                                      </p:to>
                                    </p:set>
                                    <p:animEffect transition="in" filter="wipe(left)">
                                      <p:cBhvr>
                                        <p:cTn id="120" dur="500"/>
                                        <p:tgtEl>
                                          <p:spTgt spid="131"/>
                                        </p:tgtEl>
                                      </p:cBhvr>
                                    </p:animEffect>
                                  </p:childTnLst>
                                </p:cTn>
                              </p:par>
                              <p:par>
                                <p:cTn id="121" presetID="22" presetClass="entr" presetSubtype="1" fill="hold" nodeType="withEffect">
                                  <p:stCondLst>
                                    <p:cond delay="0"/>
                                  </p:stCondLst>
                                  <p:childTnLst>
                                    <p:set>
                                      <p:cBhvr>
                                        <p:cTn id="122" dur="1" fill="hold">
                                          <p:stCondLst>
                                            <p:cond delay="0"/>
                                          </p:stCondLst>
                                        </p:cTn>
                                        <p:tgtEl>
                                          <p:spTgt spid="132"/>
                                        </p:tgtEl>
                                        <p:attrNameLst>
                                          <p:attrName>style.visibility</p:attrName>
                                        </p:attrNameLst>
                                      </p:cBhvr>
                                      <p:to>
                                        <p:strVal val="visible"/>
                                      </p:to>
                                    </p:set>
                                    <p:animEffect transition="in" filter="wipe(up)">
                                      <p:cBhvr>
                                        <p:cTn id="123"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17" grpId="0"/>
      <p:bldP spid="75" grpId="0"/>
      <p:bldP spid="76" grpId="0"/>
      <p:bldP spid="77" grpId="0"/>
      <p:bldP spid="106" grpId="0"/>
      <p:bldP spid="108" grpId="0"/>
      <p:bldP spid="125" grpId="0"/>
      <p:bldP spid="126" grpId="0"/>
      <p:bldP spid="148"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655AB688-1D8C-03C4-DE30-55F08253C30D}"/>
              </a:ext>
            </a:extLst>
          </p:cNvPr>
          <p:cNvSpPr/>
          <p:nvPr/>
        </p:nvSpPr>
        <p:spPr>
          <a:xfrm>
            <a:off x="1323975" y="1379912"/>
            <a:ext cx="9293225" cy="4666258"/>
          </a:xfrm>
          <a:prstGeom prst="rect">
            <a:avLst/>
          </a:prstGeom>
          <a:gradFill flip="none" rotWithShape="1">
            <a:gsLst>
              <a:gs pos="0">
                <a:schemeClr val="bg1">
                  <a:lumMod val="50000"/>
                  <a:alpha val="15000"/>
                </a:schemeClr>
              </a:gs>
              <a:gs pos="73000">
                <a:schemeClr val="bg1">
                  <a:lumMod val="50000"/>
                  <a:alpha val="40000"/>
                </a:schemeClr>
              </a:gs>
              <a:gs pos="100000">
                <a:schemeClr val="bg1">
                  <a:lumMod val="50000"/>
                </a:schemeClr>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Rectangle 27">
            <a:extLst>
              <a:ext uri="{FF2B5EF4-FFF2-40B4-BE49-F238E27FC236}">
                <a16:creationId xmlns:a16="http://schemas.microsoft.com/office/drawing/2014/main" id="{3F0FD652-682D-077B-C0FA-D3E43196CB57}"/>
              </a:ext>
            </a:extLst>
          </p:cNvPr>
          <p:cNvSpPr/>
          <p:nvPr/>
        </p:nvSpPr>
        <p:spPr>
          <a:xfrm>
            <a:off x="1571625" y="1591012"/>
            <a:ext cx="8810625" cy="160664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Rectangle 28">
            <a:extLst>
              <a:ext uri="{FF2B5EF4-FFF2-40B4-BE49-F238E27FC236}">
                <a16:creationId xmlns:a16="http://schemas.microsoft.com/office/drawing/2014/main" id="{5861435B-49C0-D21C-0A10-56556386B083}"/>
              </a:ext>
            </a:extLst>
          </p:cNvPr>
          <p:cNvSpPr/>
          <p:nvPr/>
        </p:nvSpPr>
        <p:spPr>
          <a:xfrm>
            <a:off x="1571625" y="3434322"/>
            <a:ext cx="8810625" cy="222527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 name="Title 1">
            <a:extLst>
              <a:ext uri="{FF2B5EF4-FFF2-40B4-BE49-F238E27FC236}">
                <a16:creationId xmlns:a16="http://schemas.microsoft.com/office/drawing/2014/main" id="{37716309-58A4-291A-0CE9-70345D06F160}"/>
              </a:ext>
            </a:extLst>
          </p:cNvPr>
          <p:cNvSpPr>
            <a:spLocks noGrp="1"/>
          </p:cNvSpPr>
          <p:nvPr>
            <p:ph type="title"/>
          </p:nvPr>
        </p:nvSpPr>
        <p:spPr/>
        <p:txBody>
          <a:bodyPr/>
          <a:lstStyle/>
          <a:p>
            <a:r>
              <a:rPr lang="en-US" dirty="0"/>
              <a:t>One Solution – Multiple Deployment Options</a:t>
            </a:r>
          </a:p>
        </p:txBody>
      </p:sp>
      <p:sp>
        <p:nvSpPr>
          <p:cNvPr id="3" name="Subtitle 2">
            <a:extLst>
              <a:ext uri="{FF2B5EF4-FFF2-40B4-BE49-F238E27FC236}">
                <a16:creationId xmlns:a16="http://schemas.microsoft.com/office/drawing/2014/main" id="{CB415D7D-D92D-D1A0-8C6A-D8E8C8B008E6}"/>
              </a:ext>
            </a:extLst>
          </p:cNvPr>
          <p:cNvSpPr>
            <a:spLocks noGrp="1"/>
          </p:cNvSpPr>
          <p:nvPr>
            <p:ph type="subTitle" idx="10"/>
          </p:nvPr>
        </p:nvSpPr>
        <p:spPr/>
        <p:txBody>
          <a:bodyPr/>
          <a:lstStyle/>
          <a:p>
            <a:r>
              <a:rPr lang="en-US" dirty="0"/>
              <a:t>Aggregated resources using vSAN HCI or disaggregated resources using vSAN storage clusters</a:t>
            </a:r>
          </a:p>
        </p:txBody>
      </p:sp>
      <p:sp>
        <p:nvSpPr>
          <p:cNvPr id="5" name="TextBox 4">
            <a:extLst>
              <a:ext uri="{FF2B5EF4-FFF2-40B4-BE49-F238E27FC236}">
                <a16:creationId xmlns:a16="http://schemas.microsoft.com/office/drawing/2014/main" id="{FD03641D-84CF-A785-D658-89B8F832B909}"/>
              </a:ext>
            </a:extLst>
          </p:cNvPr>
          <p:cNvSpPr txBox="1"/>
          <p:nvPr/>
        </p:nvSpPr>
        <p:spPr>
          <a:xfrm>
            <a:off x="2228638" y="1957851"/>
            <a:ext cx="984471"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&amp; storage</a:t>
            </a:r>
          </a:p>
        </p:txBody>
      </p:sp>
      <p:pic>
        <p:nvPicPr>
          <p:cNvPr id="6" name="Graphic 5">
            <a:extLst>
              <a:ext uri="{FF2B5EF4-FFF2-40B4-BE49-F238E27FC236}">
                <a16:creationId xmlns:a16="http://schemas.microsoft.com/office/drawing/2014/main" id="{29B9C27F-E0AB-678D-5ED6-235D5851644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143267" y="2524957"/>
            <a:ext cx="190410" cy="223781"/>
          </a:xfrm>
          <a:prstGeom prst="rect">
            <a:avLst/>
          </a:prstGeom>
        </p:spPr>
      </p:pic>
      <p:grpSp>
        <p:nvGrpSpPr>
          <p:cNvPr id="7" name="Group 6">
            <a:extLst>
              <a:ext uri="{FF2B5EF4-FFF2-40B4-BE49-F238E27FC236}">
                <a16:creationId xmlns:a16="http://schemas.microsoft.com/office/drawing/2014/main" id="{37C1B971-5611-CAAB-7AB8-0D3CEE57A12C}"/>
              </a:ext>
            </a:extLst>
          </p:cNvPr>
          <p:cNvGrpSpPr/>
          <p:nvPr/>
        </p:nvGrpSpPr>
        <p:grpSpPr>
          <a:xfrm>
            <a:off x="3143755" y="2332363"/>
            <a:ext cx="2189434" cy="184666"/>
            <a:chOff x="7950077" y="3379353"/>
            <a:chExt cx="2189434" cy="184666"/>
          </a:xfrm>
        </p:grpSpPr>
        <p:cxnSp>
          <p:nvCxnSpPr>
            <p:cNvPr id="8" name="Straight Connector 7">
              <a:extLst>
                <a:ext uri="{FF2B5EF4-FFF2-40B4-BE49-F238E27FC236}">
                  <a16:creationId xmlns:a16="http://schemas.microsoft.com/office/drawing/2014/main" id="{4060C366-C803-9CCA-105C-8ECB5BF00D46}"/>
                </a:ext>
              </a:extLst>
            </p:cNvPr>
            <p:cNvCxnSpPr>
              <a:cxnSpLocks/>
            </p:cNvCxnSpPr>
            <p:nvPr/>
          </p:nvCxnSpPr>
          <p:spPr bwMode="gray">
            <a:xfrm>
              <a:off x="7954667" y="3387515"/>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58ABDD9D-7BAB-5437-8380-065013C22372}"/>
                </a:ext>
              </a:extLst>
            </p:cNvPr>
            <p:cNvCxnSpPr>
              <a:cxnSpLocks/>
            </p:cNvCxnSpPr>
            <p:nvPr/>
          </p:nvCxnSpPr>
          <p:spPr bwMode="gray">
            <a:xfrm>
              <a:off x="9575674" y="3475525"/>
              <a:ext cx="563837"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B0A5CC4-CCA8-0844-8EE0-124E5EEFF90F}"/>
                </a:ext>
              </a:extLst>
            </p:cNvPr>
            <p:cNvCxnSpPr>
              <a:cxnSpLocks/>
            </p:cNvCxnSpPr>
            <p:nvPr/>
          </p:nvCxnSpPr>
          <p:spPr bwMode="gray">
            <a:xfrm>
              <a:off x="10139511" y="3387515"/>
              <a:ext cx="0" cy="8801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D1D7B1F-D979-4FA8-76CE-B7DA53B2D9F1}"/>
                </a:ext>
              </a:extLst>
            </p:cNvPr>
            <p:cNvCxnSpPr>
              <a:cxnSpLocks/>
            </p:cNvCxnSpPr>
            <p:nvPr/>
          </p:nvCxnSpPr>
          <p:spPr bwMode="gray">
            <a:xfrm>
              <a:off x="7950077" y="3475525"/>
              <a:ext cx="563837" cy="0"/>
            </a:xfrm>
            <a:prstGeom prst="line">
              <a:avLst/>
            </a:prstGeom>
            <a:solidFill>
              <a:schemeClr val="accent1"/>
            </a:solidFill>
            <a:ln w="15875">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54655A64-06BD-A7F4-1CDC-6C58E8EC2840}"/>
                </a:ext>
              </a:extLst>
            </p:cNvPr>
            <p:cNvSpPr txBox="1"/>
            <p:nvPr/>
          </p:nvSpPr>
          <p:spPr>
            <a:xfrm>
              <a:off x="8628053" y="3379353"/>
              <a:ext cx="839570" cy="184666"/>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7B8C"/>
                  </a:solidFill>
                  <a:effectLst/>
                  <a:uLnTx/>
                  <a:uFillTx/>
                  <a:latin typeface="Arial" panose="020B0604020202020204"/>
                  <a:ea typeface="+mn-ea"/>
                  <a:cs typeface="+mn-cs"/>
                </a:rPr>
                <a:t>vSAN HCI</a:t>
              </a:r>
            </a:p>
          </p:txBody>
        </p:sp>
      </p:grpSp>
      <p:grpSp>
        <p:nvGrpSpPr>
          <p:cNvPr id="14" name="Group 13">
            <a:extLst>
              <a:ext uri="{FF2B5EF4-FFF2-40B4-BE49-F238E27FC236}">
                <a16:creationId xmlns:a16="http://schemas.microsoft.com/office/drawing/2014/main" id="{966D7C55-8E58-BCAD-7186-72923643633F}"/>
              </a:ext>
            </a:extLst>
          </p:cNvPr>
          <p:cNvGrpSpPr/>
          <p:nvPr/>
        </p:nvGrpSpPr>
        <p:grpSpPr>
          <a:xfrm>
            <a:off x="3143755" y="2017274"/>
            <a:ext cx="2189434" cy="283867"/>
            <a:chOff x="7950077" y="3385398"/>
            <a:chExt cx="2189434" cy="283867"/>
          </a:xfrm>
        </p:grpSpPr>
        <p:grpSp>
          <p:nvGrpSpPr>
            <p:cNvPr id="15" name="Group 14">
              <a:extLst>
                <a:ext uri="{FF2B5EF4-FFF2-40B4-BE49-F238E27FC236}">
                  <a16:creationId xmlns:a16="http://schemas.microsoft.com/office/drawing/2014/main" id="{665D1094-E931-6846-D3C8-387C253480A3}"/>
                </a:ext>
              </a:extLst>
            </p:cNvPr>
            <p:cNvGrpSpPr/>
            <p:nvPr/>
          </p:nvGrpSpPr>
          <p:grpSpPr>
            <a:xfrm>
              <a:off x="7950077" y="3385398"/>
              <a:ext cx="2189434" cy="113067"/>
              <a:chOff x="9883178" y="3095486"/>
              <a:chExt cx="2189434" cy="113067"/>
            </a:xfrm>
            <a:solidFill>
              <a:schemeClr val="accent1">
                <a:lumMod val="20000"/>
                <a:lumOff val="80000"/>
              </a:schemeClr>
            </a:solidFill>
          </p:grpSpPr>
          <p:sp>
            <p:nvSpPr>
              <p:cNvPr id="25" name="Rectangle 24">
                <a:extLst>
                  <a:ext uri="{FF2B5EF4-FFF2-40B4-BE49-F238E27FC236}">
                    <a16:creationId xmlns:a16="http://schemas.microsoft.com/office/drawing/2014/main" id="{B2C08B89-790D-582B-2F1D-66FE161F811E}"/>
                  </a:ext>
                </a:extLst>
              </p:cNvPr>
              <p:cNvSpPr/>
              <p:nvPr/>
            </p:nvSpPr>
            <p:spPr>
              <a:xfrm>
                <a:off x="9883178"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 name="Rectangle 94">
                <a:extLst>
                  <a:ext uri="{FF2B5EF4-FFF2-40B4-BE49-F238E27FC236}">
                    <a16:creationId xmlns:a16="http://schemas.microsoft.com/office/drawing/2014/main" id="{F2C16EFF-8528-9BBC-9250-09A2246A8708}"/>
                  </a:ext>
                </a:extLst>
              </p:cNvPr>
              <p:cNvSpPr/>
              <p:nvPr/>
            </p:nvSpPr>
            <p:spPr>
              <a:xfrm>
                <a:off x="10447015"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 name="Rectangle 95">
                <a:extLst>
                  <a:ext uri="{FF2B5EF4-FFF2-40B4-BE49-F238E27FC236}">
                    <a16:creationId xmlns:a16="http://schemas.microsoft.com/office/drawing/2014/main" id="{471DFEA4-2B35-B91C-24C8-0F01FBB214A8}"/>
                  </a:ext>
                </a:extLst>
              </p:cNvPr>
              <p:cNvSpPr/>
              <p:nvPr/>
            </p:nvSpPr>
            <p:spPr>
              <a:xfrm>
                <a:off x="11010852"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 name="Rectangle 96">
                <a:extLst>
                  <a:ext uri="{FF2B5EF4-FFF2-40B4-BE49-F238E27FC236}">
                    <a16:creationId xmlns:a16="http://schemas.microsoft.com/office/drawing/2014/main" id="{014AC569-DD22-A0B2-F48E-600C12A711E4}"/>
                  </a:ext>
                </a:extLst>
              </p:cNvPr>
              <p:cNvSpPr/>
              <p:nvPr/>
            </p:nvSpPr>
            <p:spPr>
              <a:xfrm>
                <a:off x="11574689"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6" name="Group 15">
              <a:extLst>
                <a:ext uri="{FF2B5EF4-FFF2-40B4-BE49-F238E27FC236}">
                  <a16:creationId xmlns:a16="http://schemas.microsoft.com/office/drawing/2014/main" id="{1C8F916A-9C64-6B9E-7CBF-AADA88A9DB2D}"/>
                </a:ext>
              </a:extLst>
            </p:cNvPr>
            <p:cNvGrpSpPr/>
            <p:nvPr/>
          </p:nvGrpSpPr>
          <p:grpSpPr>
            <a:xfrm>
              <a:off x="7950077" y="3556198"/>
              <a:ext cx="2189434" cy="113067"/>
              <a:chOff x="9883178" y="3095486"/>
              <a:chExt cx="2189434" cy="113067"/>
            </a:xfrm>
            <a:solidFill>
              <a:schemeClr val="accent1">
                <a:lumMod val="20000"/>
                <a:lumOff val="80000"/>
              </a:schemeClr>
            </a:solidFill>
          </p:grpSpPr>
          <p:sp>
            <p:nvSpPr>
              <p:cNvPr id="17" name="Rectangle 16">
                <a:extLst>
                  <a:ext uri="{FF2B5EF4-FFF2-40B4-BE49-F238E27FC236}">
                    <a16:creationId xmlns:a16="http://schemas.microsoft.com/office/drawing/2014/main" id="{92A8AFB7-7DAA-9DC4-63F2-1D28E73A8E0A}"/>
                  </a:ext>
                </a:extLst>
              </p:cNvPr>
              <p:cNvSpPr/>
              <p:nvPr/>
            </p:nvSpPr>
            <p:spPr>
              <a:xfrm>
                <a:off x="9883178"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Rectangle 17">
                <a:extLst>
                  <a:ext uri="{FF2B5EF4-FFF2-40B4-BE49-F238E27FC236}">
                    <a16:creationId xmlns:a16="http://schemas.microsoft.com/office/drawing/2014/main" id="{CFC1371A-C2CA-7826-3DCA-7A7E4827E603}"/>
                  </a:ext>
                </a:extLst>
              </p:cNvPr>
              <p:cNvSpPr/>
              <p:nvPr/>
            </p:nvSpPr>
            <p:spPr>
              <a:xfrm>
                <a:off x="10447015"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Rectangle 18">
                <a:extLst>
                  <a:ext uri="{FF2B5EF4-FFF2-40B4-BE49-F238E27FC236}">
                    <a16:creationId xmlns:a16="http://schemas.microsoft.com/office/drawing/2014/main" id="{EC7517C3-01C0-A954-D8BC-E8332F8252A6}"/>
                  </a:ext>
                </a:extLst>
              </p:cNvPr>
              <p:cNvSpPr/>
              <p:nvPr/>
            </p:nvSpPr>
            <p:spPr>
              <a:xfrm>
                <a:off x="11010852"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 name="Rectangle 21">
                <a:extLst>
                  <a:ext uri="{FF2B5EF4-FFF2-40B4-BE49-F238E27FC236}">
                    <a16:creationId xmlns:a16="http://schemas.microsoft.com/office/drawing/2014/main" id="{A0228514-5EFD-0B63-E6DC-C221719CEC70}"/>
                  </a:ext>
                </a:extLst>
              </p:cNvPr>
              <p:cNvSpPr/>
              <p:nvPr/>
            </p:nvSpPr>
            <p:spPr>
              <a:xfrm>
                <a:off x="11574689" y="3095486"/>
                <a:ext cx="497923" cy="113067"/>
              </a:xfrm>
              <a:prstGeom prst="rect">
                <a:avLst/>
              </a:prstGeom>
              <a:grp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98" name="Group 97">
            <a:extLst>
              <a:ext uri="{FF2B5EF4-FFF2-40B4-BE49-F238E27FC236}">
                <a16:creationId xmlns:a16="http://schemas.microsoft.com/office/drawing/2014/main" id="{DDFCE9F0-55DE-50D4-BBF2-10050821F617}"/>
              </a:ext>
            </a:extLst>
          </p:cNvPr>
          <p:cNvGrpSpPr/>
          <p:nvPr/>
        </p:nvGrpSpPr>
        <p:grpSpPr>
          <a:xfrm>
            <a:off x="3143755" y="1734585"/>
            <a:ext cx="2189434" cy="230392"/>
            <a:chOff x="7950077" y="3102709"/>
            <a:chExt cx="2189434" cy="230392"/>
          </a:xfrm>
        </p:grpSpPr>
        <p:grpSp>
          <p:nvGrpSpPr>
            <p:cNvPr id="99" name="Group 98">
              <a:extLst>
                <a:ext uri="{FF2B5EF4-FFF2-40B4-BE49-F238E27FC236}">
                  <a16:creationId xmlns:a16="http://schemas.microsoft.com/office/drawing/2014/main" id="{3B7F81CB-C857-E264-E82F-A670BA8491D6}"/>
                </a:ext>
              </a:extLst>
            </p:cNvPr>
            <p:cNvGrpSpPr/>
            <p:nvPr/>
          </p:nvGrpSpPr>
          <p:grpSpPr>
            <a:xfrm>
              <a:off x="7950077" y="3102709"/>
              <a:ext cx="1061760" cy="230392"/>
              <a:chOff x="6535453" y="2852959"/>
              <a:chExt cx="966592" cy="209741"/>
            </a:xfrm>
            <a:solidFill>
              <a:schemeClr val="accent1"/>
            </a:solidFill>
          </p:grpSpPr>
          <p:pic>
            <p:nvPicPr>
              <p:cNvPr id="105" name="Graphic 104">
                <a:extLst>
                  <a:ext uri="{FF2B5EF4-FFF2-40B4-BE49-F238E27FC236}">
                    <a16:creationId xmlns:a16="http://schemas.microsoft.com/office/drawing/2014/main" id="{68C447D9-6B49-A695-11CB-7A4DE294030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787737" y="2852959"/>
                <a:ext cx="209741" cy="209741"/>
              </a:xfrm>
              <a:prstGeom prst="rect">
                <a:avLst/>
              </a:prstGeom>
            </p:spPr>
          </p:pic>
          <p:pic>
            <p:nvPicPr>
              <p:cNvPr id="106" name="Graphic 105">
                <a:extLst>
                  <a:ext uri="{FF2B5EF4-FFF2-40B4-BE49-F238E27FC236}">
                    <a16:creationId xmlns:a16="http://schemas.microsoft.com/office/drawing/2014/main" id="{234665A0-CF2D-B647-5629-E9211ADC2B9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535453" y="2852959"/>
                <a:ext cx="209741" cy="209741"/>
              </a:xfrm>
              <a:prstGeom prst="rect">
                <a:avLst/>
              </a:prstGeom>
            </p:spPr>
          </p:pic>
          <p:pic>
            <p:nvPicPr>
              <p:cNvPr id="107" name="Graphic 106">
                <a:extLst>
                  <a:ext uri="{FF2B5EF4-FFF2-40B4-BE49-F238E27FC236}">
                    <a16:creationId xmlns:a16="http://schemas.microsoft.com/office/drawing/2014/main" id="{021798FA-718C-F39A-F382-394708BA241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292304" y="2852959"/>
                <a:ext cx="209741" cy="209741"/>
              </a:xfrm>
              <a:prstGeom prst="rect">
                <a:avLst/>
              </a:prstGeom>
            </p:spPr>
          </p:pic>
          <p:pic>
            <p:nvPicPr>
              <p:cNvPr id="108" name="Graphic 107">
                <a:extLst>
                  <a:ext uri="{FF2B5EF4-FFF2-40B4-BE49-F238E27FC236}">
                    <a16:creationId xmlns:a16="http://schemas.microsoft.com/office/drawing/2014/main" id="{CDD8B679-2592-F165-F33E-A1964761B8C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040021" y="2852959"/>
                <a:ext cx="209741" cy="209741"/>
              </a:xfrm>
              <a:prstGeom prst="rect">
                <a:avLst/>
              </a:prstGeom>
            </p:spPr>
          </p:pic>
        </p:grpSp>
        <p:grpSp>
          <p:nvGrpSpPr>
            <p:cNvPr id="100" name="Group 99">
              <a:extLst>
                <a:ext uri="{FF2B5EF4-FFF2-40B4-BE49-F238E27FC236}">
                  <a16:creationId xmlns:a16="http://schemas.microsoft.com/office/drawing/2014/main" id="{332547E0-34FE-CEC4-A443-3A5684EBB81C}"/>
                </a:ext>
              </a:extLst>
            </p:cNvPr>
            <p:cNvGrpSpPr/>
            <p:nvPr/>
          </p:nvGrpSpPr>
          <p:grpSpPr>
            <a:xfrm>
              <a:off x="9077751" y="3102709"/>
              <a:ext cx="1061760" cy="230392"/>
              <a:chOff x="6535453" y="2852959"/>
              <a:chExt cx="966592" cy="209741"/>
            </a:xfrm>
            <a:solidFill>
              <a:schemeClr val="accent1"/>
            </a:solidFill>
          </p:grpSpPr>
          <p:pic>
            <p:nvPicPr>
              <p:cNvPr id="101" name="Graphic 100">
                <a:extLst>
                  <a:ext uri="{FF2B5EF4-FFF2-40B4-BE49-F238E27FC236}">
                    <a16:creationId xmlns:a16="http://schemas.microsoft.com/office/drawing/2014/main" id="{6A98058D-FE7F-E9D4-4AEE-FFA5C71299C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787737" y="2852959"/>
                <a:ext cx="209741" cy="209741"/>
              </a:xfrm>
              <a:prstGeom prst="rect">
                <a:avLst/>
              </a:prstGeom>
            </p:spPr>
          </p:pic>
          <p:pic>
            <p:nvPicPr>
              <p:cNvPr id="102" name="Graphic 101">
                <a:extLst>
                  <a:ext uri="{FF2B5EF4-FFF2-40B4-BE49-F238E27FC236}">
                    <a16:creationId xmlns:a16="http://schemas.microsoft.com/office/drawing/2014/main" id="{853DEF39-BCAA-1EBD-E349-87244A3C44A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535453" y="2852959"/>
                <a:ext cx="209741" cy="209741"/>
              </a:xfrm>
              <a:prstGeom prst="rect">
                <a:avLst/>
              </a:prstGeom>
            </p:spPr>
          </p:pic>
          <p:pic>
            <p:nvPicPr>
              <p:cNvPr id="103" name="Graphic 102">
                <a:extLst>
                  <a:ext uri="{FF2B5EF4-FFF2-40B4-BE49-F238E27FC236}">
                    <a16:creationId xmlns:a16="http://schemas.microsoft.com/office/drawing/2014/main" id="{FCA3F04D-0F9F-F632-5E28-C212CF67C65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292304" y="2852959"/>
                <a:ext cx="209741" cy="209741"/>
              </a:xfrm>
              <a:prstGeom prst="rect">
                <a:avLst/>
              </a:prstGeom>
            </p:spPr>
          </p:pic>
          <p:pic>
            <p:nvPicPr>
              <p:cNvPr id="104" name="Graphic 103">
                <a:extLst>
                  <a:ext uri="{FF2B5EF4-FFF2-40B4-BE49-F238E27FC236}">
                    <a16:creationId xmlns:a16="http://schemas.microsoft.com/office/drawing/2014/main" id="{568DBA85-519A-C7EC-2910-502F96BFDA5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040021" y="2852959"/>
                <a:ext cx="209741" cy="209741"/>
              </a:xfrm>
              <a:prstGeom prst="rect">
                <a:avLst/>
              </a:prstGeom>
            </p:spPr>
          </p:pic>
        </p:grpSp>
      </p:grpSp>
      <p:sp>
        <p:nvSpPr>
          <p:cNvPr id="109" name="TextBox 108">
            <a:extLst>
              <a:ext uri="{FF2B5EF4-FFF2-40B4-BE49-F238E27FC236}">
                <a16:creationId xmlns:a16="http://schemas.microsoft.com/office/drawing/2014/main" id="{EE78D6FE-F229-3138-0C15-034D0B7FBEDB}"/>
              </a:ext>
            </a:extLst>
          </p:cNvPr>
          <p:cNvSpPr txBox="1"/>
          <p:nvPr/>
        </p:nvSpPr>
        <p:spPr>
          <a:xfrm>
            <a:off x="2309412" y="4597160"/>
            <a:ext cx="822923"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1B1D36"/>
                </a:solidFill>
                <a:effectLst/>
                <a:uLnTx/>
                <a:uFillTx/>
                <a:latin typeface="Arial" panose="020B0604020202020204"/>
                <a:ea typeface="+mn-ea"/>
                <a:cs typeface="+mn-cs"/>
              </a:rPr>
              <a:t>Storage</a:t>
            </a:r>
            <a:br>
              <a:rPr kumimoji="0" lang="en-US" sz="1200" b="0" i="0" u="none" strike="noStrike" kern="1200" cap="none" spc="0" normalizeH="0" baseline="0" noProof="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1B1D36"/>
                </a:solidFill>
                <a:effectLst/>
                <a:uLnTx/>
                <a:uFillTx/>
                <a:latin typeface="Arial" panose="020B0604020202020204"/>
                <a:ea typeface="+mn-ea"/>
                <a:cs typeface="+mn-cs"/>
              </a:rPr>
              <a:t>only</a:t>
            </a:r>
          </a:p>
        </p:txBody>
      </p:sp>
      <p:pic>
        <p:nvPicPr>
          <p:cNvPr id="110" name="Graphic 109">
            <a:extLst>
              <a:ext uri="{FF2B5EF4-FFF2-40B4-BE49-F238E27FC236}">
                <a16:creationId xmlns:a16="http://schemas.microsoft.com/office/drawing/2014/main" id="{1AAF0151-FAF5-82BE-55CF-D88E6B0AD54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143267" y="4985184"/>
            <a:ext cx="190410" cy="223781"/>
          </a:xfrm>
          <a:prstGeom prst="rect">
            <a:avLst/>
          </a:prstGeom>
        </p:spPr>
      </p:pic>
      <p:grpSp>
        <p:nvGrpSpPr>
          <p:cNvPr id="111" name="Group 110">
            <a:extLst>
              <a:ext uri="{FF2B5EF4-FFF2-40B4-BE49-F238E27FC236}">
                <a16:creationId xmlns:a16="http://schemas.microsoft.com/office/drawing/2014/main" id="{322914B0-1471-0A96-2354-382FF8722D04}"/>
              </a:ext>
            </a:extLst>
          </p:cNvPr>
          <p:cNvGrpSpPr/>
          <p:nvPr/>
        </p:nvGrpSpPr>
        <p:grpSpPr>
          <a:xfrm>
            <a:off x="3143755" y="4792590"/>
            <a:ext cx="2189434" cy="184666"/>
            <a:chOff x="7950077" y="3379353"/>
            <a:chExt cx="2189434" cy="184666"/>
          </a:xfrm>
        </p:grpSpPr>
        <p:cxnSp>
          <p:nvCxnSpPr>
            <p:cNvPr id="112" name="Straight Connector 111">
              <a:extLst>
                <a:ext uri="{FF2B5EF4-FFF2-40B4-BE49-F238E27FC236}">
                  <a16:creationId xmlns:a16="http://schemas.microsoft.com/office/drawing/2014/main" id="{A68B4FAF-93C5-55D1-9786-03011928B340}"/>
                </a:ext>
              </a:extLst>
            </p:cNvPr>
            <p:cNvCxnSpPr>
              <a:cxnSpLocks/>
            </p:cNvCxnSpPr>
            <p:nvPr/>
          </p:nvCxnSpPr>
          <p:spPr bwMode="gray">
            <a:xfrm>
              <a:off x="7954667" y="3387515"/>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C77BAFF6-C548-7F8F-FB62-CBD19F48DDF5}"/>
                </a:ext>
              </a:extLst>
            </p:cNvPr>
            <p:cNvCxnSpPr>
              <a:cxnSpLocks/>
            </p:cNvCxnSpPr>
            <p:nvPr/>
          </p:nvCxnSpPr>
          <p:spPr bwMode="gray">
            <a:xfrm>
              <a:off x="9862389" y="3475525"/>
              <a:ext cx="277122"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E7CEAB11-353F-D3E5-58D9-FD96D39802C6}"/>
                </a:ext>
              </a:extLst>
            </p:cNvPr>
            <p:cNvCxnSpPr>
              <a:cxnSpLocks/>
            </p:cNvCxnSpPr>
            <p:nvPr/>
          </p:nvCxnSpPr>
          <p:spPr bwMode="gray">
            <a:xfrm>
              <a:off x="10139511" y="3387515"/>
              <a:ext cx="0" cy="8801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71C6747-177C-6BDD-7CD3-D153A0C0975E}"/>
                </a:ext>
              </a:extLst>
            </p:cNvPr>
            <p:cNvCxnSpPr>
              <a:cxnSpLocks/>
            </p:cNvCxnSpPr>
            <p:nvPr/>
          </p:nvCxnSpPr>
          <p:spPr bwMode="gray">
            <a:xfrm>
              <a:off x="7950077" y="3475525"/>
              <a:ext cx="260309" cy="0"/>
            </a:xfrm>
            <a:prstGeom prst="line">
              <a:avLst/>
            </a:prstGeom>
            <a:solidFill>
              <a:schemeClr val="accent1"/>
            </a:solidFill>
            <a:ln w="15875">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6" name="TextBox 115">
              <a:extLst>
                <a:ext uri="{FF2B5EF4-FFF2-40B4-BE49-F238E27FC236}">
                  <a16:creationId xmlns:a16="http://schemas.microsoft.com/office/drawing/2014/main" id="{485600EA-DF2F-7593-BFD4-6237C655EB76}"/>
                </a:ext>
              </a:extLst>
            </p:cNvPr>
            <p:cNvSpPr txBox="1"/>
            <p:nvPr/>
          </p:nvSpPr>
          <p:spPr>
            <a:xfrm>
              <a:off x="8287714" y="3379353"/>
              <a:ext cx="1533518" cy="184666"/>
            </a:xfrm>
            <a:prstGeom prst="rect">
              <a:avLst/>
            </a:prstGeom>
            <a:ln>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vSAN storage cluster</a:t>
              </a:r>
            </a:p>
          </p:txBody>
        </p:sp>
      </p:grpSp>
      <p:grpSp>
        <p:nvGrpSpPr>
          <p:cNvPr id="117" name="Group 116">
            <a:extLst>
              <a:ext uri="{FF2B5EF4-FFF2-40B4-BE49-F238E27FC236}">
                <a16:creationId xmlns:a16="http://schemas.microsoft.com/office/drawing/2014/main" id="{D68F9DEA-9DAD-BFB1-FFC5-72FAB8738EF8}"/>
              </a:ext>
            </a:extLst>
          </p:cNvPr>
          <p:cNvGrpSpPr/>
          <p:nvPr/>
        </p:nvGrpSpPr>
        <p:grpSpPr>
          <a:xfrm>
            <a:off x="3143755" y="4648301"/>
            <a:ext cx="2189434" cy="113067"/>
            <a:chOff x="9883178" y="3095486"/>
            <a:chExt cx="2189434" cy="113067"/>
          </a:xfrm>
          <a:solidFill>
            <a:schemeClr val="accent2">
              <a:lumMod val="20000"/>
              <a:lumOff val="80000"/>
            </a:schemeClr>
          </a:solidFill>
        </p:grpSpPr>
        <p:sp>
          <p:nvSpPr>
            <p:cNvPr id="118" name="Rectangle 117">
              <a:extLst>
                <a:ext uri="{FF2B5EF4-FFF2-40B4-BE49-F238E27FC236}">
                  <a16:creationId xmlns:a16="http://schemas.microsoft.com/office/drawing/2014/main" id="{FCF0195B-52C9-E79E-3D74-84244029C8D3}"/>
                </a:ext>
              </a:extLst>
            </p:cNvPr>
            <p:cNvSpPr/>
            <p:nvPr/>
          </p:nvSpPr>
          <p:spPr>
            <a:xfrm>
              <a:off x="9883178"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 name="Rectangle 118">
              <a:extLst>
                <a:ext uri="{FF2B5EF4-FFF2-40B4-BE49-F238E27FC236}">
                  <a16:creationId xmlns:a16="http://schemas.microsoft.com/office/drawing/2014/main" id="{3E74A0C5-9584-787F-D7BB-6ACDB7E30025}"/>
                </a:ext>
              </a:extLst>
            </p:cNvPr>
            <p:cNvSpPr/>
            <p:nvPr/>
          </p:nvSpPr>
          <p:spPr>
            <a:xfrm>
              <a:off x="10447015"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 name="Rectangle 119">
              <a:extLst>
                <a:ext uri="{FF2B5EF4-FFF2-40B4-BE49-F238E27FC236}">
                  <a16:creationId xmlns:a16="http://schemas.microsoft.com/office/drawing/2014/main" id="{49D538C2-84CE-075E-7918-091DC9EE4361}"/>
                </a:ext>
              </a:extLst>
            </p:cNvPr>
            <p:cNvSpPr/>
            <p:nvPr/>
          </p:nvSpPr>
          <p:spPr>
            <a:xfrm>
              <a:off x="11010852"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 name="Rectangle 120">
              <a:extLst>
                <a:ext uri="{FF2B5EF4-FFF2-40B4-BE49-F238E27FC236}">
                  <a16:creationId xmlns:a16="http://schemas.microsoft.com/office/drawing/2014/main" id="{DDA80CE3-B5E2-0F3D-C89C-E24A10F436BC}"/>
                </a:ext>
              </a:extLst>
            </p:cNvPr>
            <p:cNvSpPr/>
            <p:nvPr/>
          </p:nvSpPr>
          <p:spPr>
            <a:xfrm>
              <a:off x="11574689" y="3095486"/>
              <a:ext cx="497923" cy="113067"/>
            </a:xfrm>
            <a:prstGeom prst="rect">
              <a:avLst/>
            </a:prstGeom>
            <a:grp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2" name="Group 121">
            <a:extLst>
              <a:ext uri="{FF2B5EF4-FFF2-40B4-BE49-F238E27FC236}">
                <a16:creationId xmlns:a16="http://schemas.microsoft.com/office/drawing/2014/main" id="{5ABE4C4C-CC93-C63F-0EAB-416155856346}"/>
              </a:ext>
            </a:extLst>
          </p:cNvPr>
          <p:cNvGrpSpPr/>
          <p:nvPr/>
        </p:nvGrpSpPr>
        <p:grpSpPr>
          <a:xfrm>
            <a:off x="3143755" y="3893200"/>
            <a:ext cx="2189434" cy="113067"/>
            <a:chOff x="9883178" y="3095486"/>
            <a:chExt cx="2189434" cy="113067"/>
          </a:xfrm>
          <a:solidFill>
            <a:schemeClr val="accent4">
              <a:lumMod val="20000"/>
              <a:lumOff val="80000"/>
            </a:schemeClr>
          </a:solidFill>
        </p:grpSpPr>
        <p:sp>
          <p:nvSpPr>
            <p:cNvPr id="123" name="Rectangle 122">
              <a:extLst>
                <a:ext uri="{FF2B5EF4-FFF2-40B4-BE49-F238E27FC236}">
                  <a16:creationId xmlns:a16="http://schemas.microsoft.com/office/drawing/2014/main" id="{85BF80C7-2DA5-191E-9E53-6AAD0F282058}"/>
                </a:ext>
              </a:extLst>
            </p:cNvPr>
            <p:cNvSpPr/>
            <p:nvPr/>
          </p:nvSpPr>
          <p:spPr>
            <a:xfrm>
              <a:off x="9883178"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 name="Rectangle 123">
              <a:extLst>
                <a:ext uri="{FF2B5EF4-FFF2-40B4-BE49-F238E27FC236}">
                  <a16:creationId xmlns:a16="http://schemas.microsoft.com/office/drawing/2014/main" id="{7B9A829F-AB95-0F46-0340-459CFB156D69}"/>
                </a:ext>
              </a:extLst>
            </p:cNvPr>
            <p:cNvSpPr/>
            <p:nvPr/>
          </p:nvSpPr>
          <p:spPr>
            <a:xfrm>
              <a:off x="10447015"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 name="Rectangle 124">
              <a:extLst>
                <a:ext uri="{FF2B5EF4-FFF2-40B4-BE49-F238E27FC236}">
                  <a16:creationId xmlns:a16="http://schemas.microsoft.com/office/drawing/2014/main" id="{DA9424CA-1A99-6634-4EB3-19030E0B2D41}"/>
                </a:ext>
              </a:extLst>
            </p:cNvPr>
            <p:cNvSpPr/>
            <p:nvPr/>
          </p:nvSpPr>
          <p:spPr>
            <a:xfrm>
              <a:off x="11010852"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 name="Rectangle 125">
              <a:extLst>
                <a:ext uri="{FF2B5EF4-FFF2-40B4-BE49-F238E27FC236}">
                  <a16:creationId xmlns:a16="http://schemas.microsoft.com/office/drawing/2014/main" id="{D3F21ED6-C2B3-C70A-C16A-69B41D70A372}"/>
                </a:ext>
              </a:extLst>
            </p:cNvPr>
            <p:cNvSpPr/>
            <p:nvPr/>
          </p:nvSpPr>
          <p:spPr>
            <a:xfrm>
              <a:off x="11574689" y="3095486"/>
              <a:ext cx="497923" cy="113067"/>
            </a:xfrm>
            <a:prstGeom prst="rect">
              <a:avLst/>
            </a:prstGeom>
            <a:grp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7" name="Group 126">
            <a:extLst>
              <a:ext uri="{FF2B5EF4-FFF2-40B4-BE49-F238E27FC236}">
                <a16:creationId xmlns:a16="http://schemas.microsoft.com/office/drawing/2014/main" id="{687D4BEA-768B-B940-EE11-93B19D85988E}"/>
              </a:ext>
            </a:extLst>
          </p:cNvPr>
          <p:cNvGrpSpPr/>
          <p:nvPr/>
        </p:nvGrpSpPr>
        <p:grpSpPr>
          <a:xfrm>
            <a:off x="3143755" y="3610511"/>
            <a:ext cx="2189434" cy="230392"/>
            <a:chOff x="7950077" y="4524183"/>
            <a:chExt cx="2189434" cy="230392"/>
          </a:xfrm>
        </p:grpSpPr>
        <p:grpSp>
          <p:nvGrpSpPr>
            <p:cNvPr id="128" name="Group 127">
              <a:extLst>
                <a:ext uri="{FF2B5EF4-FFF2-40B4-BE49-F238E27FC236}">
                  <a16:creationId xmlns:a16="http://schemas.microsoft.com/office/drawing/2014/main" id="{3A983EEA-331E-22C3-9A94-48C4DC492A9D}"/>
                </a:ext>
              </a:extLst>
            </p:cNvPr>
            <p:cNvGrpSpPr/>
            <p:nvPr/>
          </p:nvGrpSpPr>
          <p:grpSpPr>
            <a:xfrm>
              <a:off x="7950077" y="4524183"/>
              <a:ext cx="1061760" cy="230392"/>
              <a:chOff x="6535453" y="2852959"/>
              <a:chExt cx="966592" cy="209741"/>
            </a:xfrm>
            <a:solidFill>
              <a:schemeClr val="accent2"/>
            </a:solidFill>
          </p:grpSpPr>
          <p:pic>
            <p:nvPicPr>
              <p:cNvPr id="134" name="Graphic 133">
                <a:extLst>
                  <a:ext uri="{FF2B5EF4-FFF2-40B4-BE49-F238E27FC236}">
                    <a16:creationId xmlns:a16="http://schemas.microsoft.com/office/drawing/2014/main" id="{102725BC-F24F-BF6B-ACB8-43AF84603B6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87737" y="2852959"/>
                <a:ext cx="209741" cy="209741"/>
              </a:xfrm>
              <a:prstGeom prst="rect">
                <a:avLst/>
              </a:prstGeom>
            </p:spPr>
          </p:pic>
          <p:pic>
            <p:nvPicPr>
              <p:cNvPr id="135" name="Graphic 134">
                <a:extLst>
                  <a:ext uri="{FF2B5EF4-FFF2-40B4-BE49-F238E27FC236}">
                    <a16:creationId xmlns:a16="http://schemas.microsoft.com/office/drawing/2014/main" id="{DD8844B9-8FB7-80C5-9C23-824EA7EC19F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535453" y="2852959"/>
                <a:ext cx="209741" cy="209741"/>
              </a:xfrm>
              <a:prstGeom prst="rect">
                <a:avLst/>
              </a:prstGeom>
            </p:spPr>
          </p:pic>
          <p:pic>
            <p:nvPicPr>
              <p:cNvPr id="136" name="Graphic 135">
                <a:extLst>
                  <a:ext uri="{FF2B5EF4-FFF2-40B4-BE49-F238E27FC236}">
                    <a16:creationId xmlns:a16="http://schemas.microsoft.com/office/drawing/2014/main" id="{8EC99DBB-C802-9ACF-800A-8BC98670676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292304" y="2852959"/>
                <a:ext cx="209741" cy="209741"/>
              </a:xfrm>
              <a:prstGeom prst="rect">
                <a:avLst/>
              </a:prstGeom>
            </p:spPr>
          </p:pic>
          <p:pic>
            <p:nvPicPr>
              <p:cNvPr id="137" name="Graphic 136">
                <a:extLst>
                  <a:ext uri="{FF2B5EF4-FFF2-40B4-BE49-F238E27FC236}">
                    <a16:creationId xmlns:a16="http://schemas.microsoft.com/office/drawing/2014/main" id="{A15DEEE1-E782-49E8-6E52-8019C64FDB7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40021" y="2852959"/>
                <a:ext cx="209741" cy="209741"/>
              </a:xfrm>
              <a:prstGeom prst="rect">
                <a:avLst/>
              </a:prstGeom>
            </p:spPr>
          </p:pic>
        </p:grpSp>
        <p:grpSp>
          <p:nvGrpSpPr>
            <p:cNvPr id="129" name="Group 128">
              <a:extLst>
                <a:ext uri="{FF2B5EF4-FFF2-40B4-BE49-F238E27FC236}">
                  <a16:creationId xmlns:a16="http://schemas.microsoft.com/office/drawing/2014/main" id="{B8366BA6-6168-74B5-0AA6-F99CCCCDA83F}"/>
                </a:ext>
              </a:extLst>
            </p:cNvPr>
            <p:cNvGrpSpPr/>
            <p:nvPr/>
          </p:nvGrpSpPr>
          <p:grpSpPr>
            <a:xfrm>
              <a:off x="9077751" y="4524183"/>
              <a:ext cx="1061760" cy="230392"/>
              <a:chOff x="6535453" y="2852959"/>
              <a:chExt cx="966592" cy="209741"/>
            </a:xfrm>
            <a:solidFill>
              <a:schemeClr val="accent2"/>
            </a:solidFill>
          </p:grpSpPr>
          <p:pic>
            <p:nvPicPr>
              <p:cNvPr id="130" name="Graphic 129">
                <a:extLst>
                  <a:ext uri="{FF2B5EF4-FFF2-40B4-BE49-F238E27FC236}">
                    <a16:creationId xmlns:a16="http://schemas.microsoft.com/office/drawing/2014/main" id="{F5CEEBA3-2E95-3BA9-3190-C7D78770534B}"/>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787737" y="2852959"/>
                <a:ext cx="209741" cy="209741"/>
              </a:xfrm>
              <a:prstGeom prst="rect">
                <a:avLst/>
              </a:prstGeom>
            </p:spPr>
          </p:pic>
          <p:pic>
            <p:nvPicPr>
              <p:cNvPr id="131" name="Graphic 130">
                <a:extLst>
                  <a:ext uri="{FF2B5EF4-FFF2-40B4-BE49-F238E27FC236}">
                    <a16:creationId xmlns:a16="http://schemas.microsoft.com/office/drawing/2014/main" id="{DF4510D9-06BB-2196-82BC-6E9C476DAEB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535453" y="2852959"/>
                <a:ext cx="209741" cy="209741"/>
              </a:xfrm>
              <a:prstGeom prst="rect">
                <a:avLst/>
              </a:prstGeom>
            </p:spPr>
          </p:pic>
          <p:pic>
            <p:nvPicPr>
              <p:cNvPr id="132" name="Graphic 131">
                <a:extLst>
                  <a:ext uri="{FF2B5EF4-FFF2-40B4-BE49-F238E27FC236}">
                    <a16:creationId xmlns:a16="http://schemas.microsoft.com/office/drawing/2014/main" id="{8628193A-23C9-43B9-A900-C89510CFEA22}"/>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292304" y="2852959"/>
                <a:ext cx="209741" cy="209741"/>
              </a:xfrm>
              <a:prstGeom prst="rect">
                <a:avLst/>
              </a:prstGeom>
            </p:spPr>
          </p:pic>
          <p:pic>
            <p:nvPicPr>
              <p:cNvPr id="133" name="Graphic 132">
                <a:extLst>
                  <a:ext uri="{FF2B5EF4-FFF2-40B4-BE49-F238E27FC236}">
                    <a16:creationId xmlns:a16="http://schemas.microsoft.com/office/drawing/2014/main" id="{A8CA4C6E-0C19-C0F7-6EFB-19E813528E2F}"/>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40021" y="2852959"/>
                <a:ext cx="209741" cy="209741"/>
              </a:xfrm>
              <a:prstGeom prst="rect">
                <a:avLst/>
              </a:prstGeom>
            </p:spPr>
          </p:pic>
        </p:grpSp>
      </p:grpSp>
      <p:sp>
        <p:nvSpPr>
          <p:cNvPr id="138" name="TextBox 137">
            <a:extLst>
              <a:ext uri="{FF2B5EF4-FFF2-40B4-BE49-F238E27FC236}">
                <a16:creationId xmlns:a16="http://schemas.microsoft.com/office/drawing/2014/main" id="{9624D38A-FACE-3AE2-FC91-B95DD97108E8}"/>
              </a:ext>
            </a:extLst>
          </p:cNvPr>
          <p:cNvSpPr txBox="1"/>
          <p:nvPr/>
        </p:nvSpPr>
        <p:spPr>
          <a:xfrm>
            <a:off x="2240777" y="3616038"/>
            <a:ext cx="960192" cy="369332"/>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1B1D36"/>
                </a:solidFill>
                <a:effectLst/>
                <a:uLnTx/>
                <a:uFillTx/>
                <a:latin typeface="Arial" panose="020B0604020202020204"/>
                <a:ea typeface="+mn-ea"/>
                <a:cs typeface="+mn-cs"/>
              </a:rPr>
              <a:t>Compute</a:t>
            </a:r>
            <a:br>
              <a:rPr kumimoji="0" lang="en-US" sz="1200" b="0" i="0" u="none" strike="noStrike" kern="1200" cap="none" spc="0" normalizeH="0" baseline="0" noProof="0">
                <a:ln>
                  <a:noFill/>
                </a:ln>
                <a:solidFill>
                  <a:srgbClr val="1B1D36"/>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1B1D36"/>
                </a:solidFill>
                <a:effectLst/>
                <a:uLnTx/>
                <a:uFillTx/>
                <a:latin typeface="Arial" panose="020B0604020202020204"/>
                <a:ea typeface="+mn-ea"/>
                <a:cs typeface="+mn-cs"/>
              </a:rPr>
              <a:t>only</a:t>
            </a:r>
          </a:p>
        </p:txBody>
      </p:sp>
      <p:cxnSp>
        <p:nvCxnSpPr>
          <p:cNvPr id="139" name="Straight Connector 138">
            <a:extLst>
              <a:ext uri="{FF2B5EF4-FFF2-40B4-BE49-F238E27FC236}">
                <a16:creationId xmlns:a16="http://schemas.microsoft.com/office/drawing/2014/main" id="{1528D86D-0C63-BC2C-6789-6CE452851A00}"/>
              </a:ext>
            </a:extLst>
          </p:cNvPr>
          <p:cNvCxnSpPr>
            <a:cxnSpLocks/>
          </p:cNvCxnSpPr>
          <p:nvPr/>
        </p:nvCxnSpPr>
        <p:spPr bwMode="gray">
          <a:xfrm flipV="1">
            <a:off x="4238472" y="4322875"/>
            <a:ext cx="0" cy="239818"/>
          </a:xfrm>
          <a:prstGeom prst="line">
            <a:avLst/>
          </a:prstGeom>
          <a:ln w="25400">
            <a:solidFill>
              <a:schemeClr val="accent2"/>
            </a:solidFill>
            <a:prstDash val="sysDot"/>
            <a:miter lim="800000"/>
            <a:headEnd type="diamond" w="lg" len="lg"/>
          </a:ln>
        </p:spPr>
        <p:style>
          <a:lnRef idx="1">
            <a:schemeClr val="accent1"/>
          </a:lnRef>
          <a:fillRef idx="0">
            <a:schemeClr val="accent1"/>
          </a:fillRef>
          <a:effectRef idx="0">
            <a:schemeClr val="accent1"/>
          </a:effectRef>
          <a:fontRef idx="minor">
            <a:schemeClr val="tx1"/>
          </a:fontRef>
        </p:style>
      </p:cxnSp>
      <p:pic>
        <p:nvPicPr>
          <p:cNvPr id="140" name="Graphic 139">
            <a:extLst>
              <a:ext uri="{FF2B5EF4-FFF2-40B4-BE49-F238E27FC236}">
                <a16:creationId xmlns:a16="http://schemas.microsoft.com/office/drawing/2014/main" id="{AA78EDB4-A8A1-F0C5-2A04-2BE8C2C8CADE}"/>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143267" y="4040552"/>
            <a:ext cx="190410" cy="223781"/>
          </a:xfrm>
          <a:prstGeom prst="rect">
            <a:avLst/>
          </a:prstGeom>
        </p:spPr>
      </p:pic>
      <p:sp>
        <p:nvSpPr>
          <p:cNvPr id="143" name="TextBox 142">
            <a:extLst>
              <a:ext uri="{FF2B5EF4-FFF2-40B4-BE49-F238E27FC236}">
                <a16:creationId xmlns:a16="http://schemas.microsoft.com/office/drawing/2014/main" id="{2E7FBCFA-485B-EBC7-CEA0-A364870351F9}"/>
              </a:ext>
            </a:extLst>
          </p:cNvPr>
          <p:cNvSpPr txBox="1"/>
          <p:nvPr/>
        </p:nvSpPr>
        <p:spPr>
          <a:xfrm>
            <a:off x="3374147" y="4399938"/>
            <a:ext cx="762679" cy="153888"/>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rgbClr val="005C8A"/>
                </a:solidFill>
                <a:effectLst/>
                <a:uLnTx/>
                <a:uFillTx/>
                <a:latin typeface="Arial" panose="020B0604020202020204"/>
                <a:ea typeface="+mn-ea"/>
                <a:cs typeface="+mn-cs"/>
              </a:rPr>
              <a:t>Scale out</a:t>
            </a:r>
          </a:p>
        </p:txBody>
      </p:sp>
      <p:cxnSp>
        <p:nvCxnSpPr>
          <p:cNvPr id="144" name="Straight Connector 143">
            <a:extLst>
              <a:ext uri="{FF2B5EF4-FFF2-40B4-BE49-F238E27FC236}">
                <a16:creationId xmlns:a16="http://schemas.microsoft.com/office/drawing/2014/main" id="{8B3943D3-2EB8-0C5E-9EFB-4D831837E229}"/>
              </a:ext>
            </a:extLst>
          </p:cNvPr>
          <p:cNvCxnSpPr>
            <a:cxnSpLocks/>
          </p:cNvCxnSpPr>
          <p:nvPr/>
        </p:nvCxnSpPr>
        <p:spPr bwMode="gray">
          <a:xfrm flipH="1">
            <a:off x="3143755" y="4476882"/>
            <a:ext cx="230392" cy="0"/>
          </a:xfrm>
          <a:prstGeom prst="line">
            <a:avLst/>
          </a:prstGeom>
          <a:ln w="25400">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145" name="TextBox 144">
            <a:extLst>
              <a:ext uri="{FF2B5EF4-FFF2-40B4-BE49-F238E27FC236}">
                <a16:creationId xmlns:a16="http://schemas.microsoft.com/office/drawing/2014/main" id="{4273B6EB-24C3-D973-9158-6D3C3E1320F9}"/>
              </a:ext>
            </a:extLst>
          </p:cNvPr>
          <p:cNvSpPr txBox="1"/>
          <p:nvPr/>
        </p:nvSpPr>
        <p:spPr>
          <a:xfrm>
            <a:off x="4351467" y="4399938"/>
            <a:ext cx="762679" cy="153888"/>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rgbClr val="005C8A"/>
                </a:solidFill>
                <a:effectLst/>
                <a:uLnTx/>
                <a:uFillTx/>
                <a:latin typeface="Arial" panose="020B0604020202020204"/>
                <a:ea typeface="+mn-ea"/>
                <a:cs typeface="+mn-cs"/>
              </a:rPr>
              <a:t>Scale out</a:t>
            </a:r>
          </a:p>
        </p:txBody>
      </p:sp>
      <p:cxnSp>
        <p:nvCxnSpPr>
          <p:cNvPr id="146" name="Straight Connector 145">
            <a:extLst>
              <a:ext uri="{FF2B5EF4-FFF2-40B4-BE49-F238E27FC236}">
                <a16:creationId xmlns:a16="http://schemas.microsoft.com/office/drawing/2014/main" id="{F1F094D8-4463-7240-E179-4887BB3F84EF}"/>
              </a:ext>
            </a:extLst>
          </p:cNvPr>
          <p:cNvCxnSpPr>
            <a:cxnSpLocks/>
          </p:cNvCxnSpPr>
          <p:nvPr/>
        </p:nvCxnSpPr>
        <p:spPr bwMode="gray">
          <a:xfrm>
            <a:off x="5105050" y="4476882"/>
            <a:ext cx="228139" cy="0"/>
          </a:xfrm>
          <a:prstGeom prst="line">
            <a:avLst/>
          </a:prstGeom>
          <a:ln w="25400">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5E17583E-A753-7EC6-EF2B-0B55C5A94170}"/>
              </a:ext>
            </a:extLst>
          </p:cNvPr>
          <p:cNvSpPr txBox="1"/>
          <p:nvPr/>
        </p:nvSpPr>
        <p:spPr>
          <a:xfrm>
            <a:off x="5990201" y="3610511"/>
            <a:ext cx="4230121" cy="1738938"/>
          </a:xfrm>
          <a:prstGeom prst="rect">
            <a:avLst/>
          </a:prstGeom>
        </p:spPr>
        <p:txBody>
          <a:bodyPr wrap="square" lIns="0" tIns="0" rIns="0" bIns="0" rtlCol="0">
            <a:spAutoFit/>
          </a:bodyPr>
          <a:lstStyle/>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Independent lifecycle management </a:t>
            </a: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of storage and compute resources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Asymmetrical scaling </a:t>
            </a: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of storage and compute resources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Extreme capacity </a:t>
            </a: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can serve many clusters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Decoupled vSphere clusters can be sized to </a:t>
            </a: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optimize application licensing</a:t>
            </a:r>
          </a:p>
        </p:txBody>
      </p:sp>
      <p:sp>
        <p:nvSpPr>
          <p:cNvPr id="27" name="TextBox 26">
            <a:extLst>
              <a:ext uri="{FF2B5EF4-FFF2-40B4-BE49-F238E27FC236}">
                <a16:creationId xmlns:a16="http://schemas.microsoft.com/office/drawing/2014/main" id="{81F17FC3-7102-821E-CEF6-72804AE691C9}"/>
              </a:ext>
            </a:extLst>
          </p:cNvPr>
          <p:cNvSpPr txBox="1"/>
          <p:nvPr/>
        </p:nvSpPr>
        <p:spPr>
          <a:xfrm>
            <a:off x="5990201" y="1734585"/>
            <a:ext cx="4230121" cy="1231106"/>
          </a:xfrm>
          <a:prstGeom prst="rect">
            <a:avLst/>
          </a:prstGeom>
        </p:spPr>
        <p:txBody>
          <a:bodyPr wrap="square" lIns="0" tIns="0" rIns="0" bIns="0" rtlCol="0">
            <a:spAutoFit/>
          </a:bodyPr>
          <a:lstStyle/>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Unified lifecycle management </a:t>
            </a: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of storage and compute resources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Symmetrical scaling </a:t>
            </a: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of storage and compute resources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Treats storage as a </a:t>
            </a: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resource of the cluster</a:t>
            </a:r>
          </a:p>
        </p:txBody>
      </p:sp>
      <p:sp>
        <p:nvSpPr>
          <p:cNvPr id="4" name="TextBox 3">
            <a:extLst>
              <a:ext uri="{FF2B5EF4-FFF2-40B4-BE49-F238E27FC236}">
                <a16:creationId xmlns:a16="http://schemas.microsoft.com/office/drawing/2014/main" id="{BB5A8601-66CA-61E2-873C-3DAA7B2CD8A3}"/>
              </a:ext>
            </a:extLst>
          </p:cNvPr>
          <p:cNvSpPr txBox="1"/>
          <p:nvPr/>
        </p:nvSpPr>
        <p:spPr>
          <a:xfrm>
            <a:off x="2401467" y="5758447"/>
            <a:ext cx="1932210"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Powered by vSAN ESA</a:t>
            </a:r>
          </a:p>
        </p:txBody>
      </p:sp>
      <p:sp>
        <p:nvSpPr>
          <p:cNvPr id="30" name="TextBox 29">
            <a:extLst>
              <a:ext uri="{FF2B5EF4-FFF2-40B4-BE49-F238E27FC236}">
                <a16:creationId xmlns:a16="http://schemas.microsoft.com/office/drawing/2014/main" id="{B7C93E07-A2DE-BB5A-10F4-901BDC698CE6}"/>
              </a:ext>
            </a:extLst>
          </p:cNvPr>
          <p:cNvSpPr txBox="1"/>
          <p:nvPr/>
        </p:nvSpPr>
        <p:spPr>
          <a:xfrm>
            <a:off x="2880967" y="5285988"/>
            <a:ext cx="2715010" cy="3077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2000" b="0" i="0" u="none" strike="noStrike" kern="1200" cap="none" spc="0" normalizeH="0" baseline="0" noProof="0" dirty="0">
                <a:ln>
                  <a:noFill/>
                </a:ln>
                <a:solidFill>
                  <a:srgbClr val="005C8A"/>
                </a:solidFill>
                <a:effectLst/>
                <a:uLnTx/>
                <a:uFillTx/>
                <a:latin typeface="Arial" panose="020B0604020202020204"/>
                <a:ea typeface="+mn-ea"/>
                <a:cs typeface="+mn-cs"/>
              </a:rPr>
              <a:t>vSAN Storage Cluster</a:t>
            </a:r>
          </a:p>
        </p:txBody>
      </p:sp>
      <p:sp>
        <p:nvSpPr>
          <p:cNvPr id="31" name="TextBox 30">
            <a:extLst>
              <a:ext uri="{FF2B5EF4-FFF2-40B4-BE49-F238E27FC236}">
                <a16:creationId xmlns:a16="http://schemas.microsoft.com/office/drawing/2014/main" id="{C9D8C351-49EC-9B7F-E102-A35B66D3D24F}"/>
              </a:ext>
            </a:extLst>
          </p:cNvPr>
          <p:cNvSpPr txBox="1"/>
          <p:nvPr/>
        </p:nvSpPr>
        <p:spPr>
          <a:xfrm>
            <a:off x="3404064" y="2821921"/>
            <a:ext cx="1668817" cy="3077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2000" b="0" i="0" u="none" strike="noStrike" kern="1200" cap="none" spc="0" normalizeH="0" baseline="0" noProof="0" dirty="0">
                <a:ln>
                  <a:noFill/>
                </a:ln>
                <a:solidFill>
                  <a:srgbClr val="005C8A"/>
                </a:solidFill>
                <a:effectLst/>
                <a:uLnTx/>
                <a:uFillTx/>
                <a:latin typeface="Arial" panose="020B0604020202020204"/>
                <a:ea typeface="+mn-ea"/>
                <a:cs typeface="+mn-cs"/>
              </a:rPr>
              <a:t>vSAN HCI</a:t>
            </a:r>
          </a:p>
        </p:txBody>
      </p:sp>
      <p:sp>
        <p:nvSpPr>
          <p:cNvPr id="33" name="TextBox 32">
            <a:extLst>
              <a:ext uri="{FF2B5EF4-FFF2-40B4-BE49-F238E27FC236}">
                <a16:creationId xmlns:a16="http://schemas.microsoft.com/office/drawing/2014/main" id="{EAF318B9-85C0-ABD6-02DF-D98BD3170064}"/>
              </a:ext>
            </a:extLst>
          </p:cNvPr>
          <p:cNvSpPr txBox="1"/>
          <p:nvPr/>
        </p:nvSpPr>
        <p:spPr>
          <a:xfrm>
            <a:off x="4900305" y="5758447"/>
            <a:ext cx="2099131"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Centralized Management</a:t>
            </a:r>
          </a:p>
        </p:txBody>
      </p:sp>
      <p:sp>
        <p:nvSpPr>
          <p:cNvPr id="34" name="TextBox 33">
            <a:extLst>
              <a:ext uri="{FF2B5EF4-FFF2-40B4-BE49-F238E27FC236}">
                <a16:creationId xmlns:a16="http://schemas.microsoft.com/office/drawing/2014/main" id="{40E95E23-55A8-8D70-03A3-98FE95EF2A5C}"/>
              </a:ext>
            </a:extLst>
          </p:cNvPr>
          <p:cNvSpPr txBox="1"/>
          <p:nvPr/>
        </p:nvSpPr>
        <p:spPr>
          <a:xfrm>
            <a:off x="7602577" y="5758447"/>
            <a:ext cx="2679489"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Storage integrated into hypervisor</a:t>
            </a:r>
          </a:p>
        </p:txBody>
      </p:sp>
      <p:grpSp>
        <p:nvGrpSpPr>
          <p:cNvPr id="76" name="Group 75">
            <a:extLst>
              <a:ext uri="{FF2B5EF4-FFF2-40B4-BE49-F238E27FC236}">
                <a16:creationId xmlns:a16="http://schemas.microsoft.com/office/drawing/2014/main" id="{DDE1785C-DFCA-177E-8E32-CF2384A72CBF}"/>
              </a:ext>
            </a:extLst>
          </p:cNvPr>
          <p:cNvGrpSpPr/>
          <p:nvPr/>
        </p:nvGrpSpPr>
        <p:grpSpPr>
          <a:xfrm>
            <a:off x="2223064" y="5758447"/>
            <a:ext cx="153890" cy="153888"/>
            <a:chOff x="3779761" y="2443085"/>
            <a:chExt cx="272588" cy="272587"/>
          </a:xfrm>
        </p:grpSpPr>
        <p:sp>
          <p:nvSpPr>
            <p:cNvPr id="77" name="Oval 76">
              <a:extLst>
                <a:ext uri="{FF2B5EF4-FFF2-40B4-BE49-F238E27FC236}">
                  <a16:creationId xmlns:a16="http://schemas.microsoft.com/office/drawing/2014/main" id="{D083C13F-7E72-A0A8-237E-47E844A4CC1F}"/>
                </a:ext>
              </a:extLst>
            </p:cNvPr>
            <p:cNvSpPr/>
            <p:nvPr/>
          </p:nvSpPr>
          <p:spPr>
            <a:xfrm>
              <a:off x="3779761" y="2443085"/>
              <a:ext cx="272588" cy="272587"/>
            </a:xfrm>
            <a:prstGeom prst="ellipse">
              <a:avLst/>
            </a:prstGeom>
            <a:solidFill>
              <a:schemeClr val="accent4"/>
            </a:solidFill>
            <a:ln w="28575">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marR="0" lvl="0" indent="0" algn="ctr" defTabSz="914400" rtl="0" eaLnBrk="1" fontAlgn="auto" latinLnBrk="0" hangingPunct="1">
                <a:lnSpc>
                  <a:spcPct val="100000"/>
                </a:lnSpc>
                <a:spcBef>
                  <a:spcPts val="0"/>
                </a:spcBef>
                <a:spcAft>
                  <a:spcPts val="800"/>
                </a:spcAft>
                <a:buClrTx/>
                <a:buSzTx/>
                <a:buFontTx/>
                <a:buNone/>
                <a:tabLst/>
                <a:defRPr/>
              </a:pPr>
              <a:endParaRPr kumimoji="0" lang="en-US" sz="10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8" name="L-Shape 77">
              <a:extLst>
                <a:ext uri="{FF2B5EF4-FFF2-40B4-BE49-F238E27FC236}">
                  <a16:creationId xmlns:a16="http://schemas.microsoft.com/office/drawing/2014/main" id="{0FA3903F-0066-CBAE-033F-02BDEE57F18A}"/>
                </a:ext>
              </a:extLst>
            </p:cNvPr>
            <p:cNvSpPr/>
            <p:nvPr/>
          </p:nvSpPr>
          <p:spPr bwMode="gray">
            <a:xfrm rot="18900000">
              <a:off x="3832637" y="2523785"/>
              <a:ext cx="164461" cy="79795"/>
            </a:xfrm>
            <a:prstGeom prst="corner">
              <a:avLst>
                <a:gd name="adj1" fmla="val 43503"/>
                <a:gd name="adj2" fmla="val 47169"/>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91" name="Group 90">
            <a:extLst>
              <a:ext uri="{FF2B5EF4-FFF2-40B4-BE49-F238E27FC236}">
                <a16:creationId xmlns:a16="http://schemas.microsoft.com/office/drawing/2014/main" id="{1D8BFD67-08B3-BFCC-7696-2BBD16A65EF8}"/>
              </a:ext>
            </a:extLst>
          </p:cNvPr>
          <p:cNvGrpSpPr/>
          <p:nvPr/>
        </p:nvGrpSpPr>
        <p:grpSpPr>
          <a:xfrm>
            <a:off x="4764321" y="5758447"/>
            <a:ext cx="153890" cy="153888"/>
            <a:chOff x="3779761" y="2443085"/>
            <a:chExt cx="272588" cy="272587"/>
          </a:xfrm>
        </p:grpSpPr>
        <p:sp>
          <p:nvSpPr>
            <p:cNvPr id="92" name="Oval 91">
              <a:extLst>
                <a:ext uri="{FF2B5EF4-FFF2-40B4-BE49-F238E27FC236}">
                  <a16:creationId xmlns:a16="http://schemas.microsoft.com/office/drawing/2014/main" id="{6E9488C1-8CF2-72FC-9823-9735E6976AC3}"/>
                </a:ext>
              </a:extLst>
            </p:cNvPr>
            <p:cNvSpPr/>
            <p:nvPr/>
          </p:nvSpPr>
          <p:spPr>
            <a:xfrm>
              <a:off x="3779761" y="2443085"/>
              <a:ext cx="272588" cy="272587"/>
            </a:xfrm>
            <a:prstGeom prst="ellipse">
              <a:avLst/>
            </a:prstGeom>
            <a:solidFill>
              <a:schemeClr val="accent4"/>
            </a:solidFill>
            <a:ln w="28575">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marR="0" lvl="0" indent="0" algn="ctr" defTabSz="914400" rtl="0" eaLnBrk="1" fontAlgn="auto" latinLnBrk="0" hangingPunct="1">
                <a:lnSpc>
                  <a:spcPct val="100000"/>
                </a:lnSpc>
                <a:spcBef>
                  <a:spcPts val="0"/>
                </a:spcBef>
                <a:spcAft>
                  <a:spcPts val="800"/>
                </a:spcAft>
                <a:buClrTx/>
                <a:buSzTx/>
                <a:buFontTx/>
                <a:buNone/>
                <a:tabLst/>
                <a:defRPr/>
              </a:pPr>
              <a:endParaRPr kumimoji="0" lang="en-US" sz="10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93" name="L-Shape 92">
              <a:extLst>
                <a:ext uri="{FF2B5EF4-FFF2-40B4-BE49-F238E27FC236}">
                  <a16:creationId xmlns:a16="http://schemas.microsoft.com/office/drawing/2014/main" id="{4AF198B3-FD16-64CF-6996-C31CF462CED9}"/>
                </a:ext>
              </a:extLst>
            </p:cNvPr>
            <p:cNvSpPr/>
            <p:nvPr/>
          </p:nvSpPr>
          <p:spPr bwMode="gray">
            <a:xfrm rot="18900000">
              <a:off x="3832637" y="2523785"/>
              <a:ext cx="164461" cy="79795"/>
            </a:xfrm>
            <a:prstGeom prst="corner">
              <a:avLst>
                <a:gd name="adj1" fmla="val 43503"/>
                <a:gd name="adj2" fmla="val 47169"/>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94" name="Group 93">
            <a:extLst>
              <a:ext uri="{FF2B5EF4-FFF2-40B4-BE49-F238E27FC236}">
                <a16:creationId xmlns:a16="http://schemas.microsoft.com/office/drawing/2014/main" id="{60F07A74-F316-9B87-307B-0A4C11E3B9F6}"/>
              </a:ext>
            </a:extLst>
          </p:cNvPr>
          <p:cNvGrpSpPr/>
          <p:nvPr/>
        </p:nvGrpSpPr>
        <p:grpSpPr>
          <a:xfrm>
            <a:off x="7421166" y="5758447"/>
            <a:ext cx="153890" cy="153888"/>
            <a:chOff x="3779761" y="2443085"/>
            <a:chExt cx="272588" cy="272587"/>
          </a:xfrm>
        </p:grpSpPr>
        <p:sp>
          <p:nvSpPr>
            <p:cNvPr id="141" name="Oval 140">
              <a:extLst>
                <a:ext uri="{FF2B5EF4-FFF2-40B4-BE49-F238E27FC236}">
                  <a16:creationId xmlns:a16="http://schemas.microsoft.com/office/drawing/2014/main" id="{5EC8A1B2-B33D-091E-93CE-FE25EF4E48B7}"/>
                </a:ext>
              </a:extLst>
            </p:cNvPr>
            <p:cNvSpPr/>
            <p:nvPr/>
          </p:nvSpPr>
          <p:spPr>
            <a:xfrm>
              <a:off x="3779761" y="2443085"/>
              <a:ext cx="272588" cy="272587"/>
            </a:xfrm>
            <a:prstGeom prst="ellipse">
              <a:avLst/>
            </a:prstGeom>
            <a:solidFill>
              <a:schemeClr val="accent4"/>
            </a:solidFill>
            <a:ln w="28575">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60323" marR="0" lvl="0" indent="0" algn="ctr" defTabSz="914400" rtl="0" eaLnBrk="1" fontAlgn="auto" latinLnBrk="0" hangingPunct="1">
                <a:lnSpc>
                  <a:spcPct val="100000"/>
                </a:lnSpc>
                <a:spcBef>
                  <a:spcPts val="0"/>
                </a:spcBef>
                <a:spcAft>
                  <a:spcPts val="800"/>
                </a:spcAft>
                <a:buClrTx/>
                <a:buSzTx/>
                <a:buFontTx/>
                <a:buNone/>
                <a:tabLst/>
                <a:defRPr/>
              </a:pPr>
              <a:endParaRPr kumimoji="0" lang="en-US" sz="10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42" name="L-Shape 141">
              <a:extLst>
                <a:ext uri="{FF2B5EF4-FFF2-40B4-BE49-F238E27FC236}">
                  <a16:creationId xmlns:a16="http://schemas.microsoft.com/office/drawing/2014/main" id="{81BFE723-20DC-8A4B-1FFB-8B1089C99C38}"/>
                </a:ext>
              </a:extLst>
            </p:cNvPr>
            <p:cNvSpPr/>
            <p:nvPr/>
          </p:nvSpPr>
          <p:spPr bwMode="gray">
            <a:xfrm rot="18900000">
              <a:off x="3832637" y="2523785"/>
              <a:ext cx="164461" cy="79795"/>
            </a:xfrm>
            <a:prstGeom prst="corner">
              <a:avLst>
                <a:gd name="adj1" fmla="val 43503"/>
                <a:gd name="adj2" fmla="val 47169"/>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42607538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par>
                                <p:cTn id="23" presetID="10" presetClass="entr" presetSubtype="0" fill="hold" nodeType="with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par>
                          <p:cTn id="26" fill="hold">
                            <p:stCondLst>
                              <p:cond delay="2000"/>
                            </p:stCondLst>
                            <p:childTnLst>
                              <p:par>
                                <p:cTn id="27" presetID="10" presetClass="entr" presetSubtype="0" fill="hold" nodeType="afterEffect">
                                  <p:stCondLst>
                                    <p:cond delay="0"/>
                                  </p:stCondLst>
                                  <p:childTnLst>
                                    <p:set>
                                      <p:cBhvr>
                                        <p:cTn id="28" dur="1" fill="hold">
                                          <p:stCondLst>
                                            <p:cond delay="0"/>
                                          </p:stCondLst>
                                        </p:cTn>
                                        <p:tgtEl>
                                          <p:spTgt spid="98"/>
                                        </p:tgtEl>
                                        <p:attrNameLst>
                                          <p:attrName>style.visibility</p:attrName>
                                        </p:attrNameLst>
                                      </p:cBhvr>
                                      <p:to>
                                        <p:strVal val="visible"/>
                                      </p:to>
                                    </p:set>
                                    <p:animEffect transition="in" filter="fade">
                                      <p:cBhvr>
                                        <p:cTn id="29" dur="500"/>
                                        <p:tgtEl>
                                          <p:spTgt spid="98"/>
                                        </p:tgtEl>
                                      </p:cBhvr>
                                    </p:animEffect>
                                  </p:childTnLst>
                                </p:cTn>
                              </p:par>
                            </p:childTnLst>
                          </p:cTn>
                        </p:par>
                        <p:par>
                          <p:cTn id="30" fill="hold">
                            <p:stCondLst>
                              <p:cond delay="2500"/>
                            </p:stCondLst>
                            <p:childTnLst>
                              <p:par>
                                <p:cTn id="31" presetID="10" presetClass="entr" presetSubtype="0" fill="hold" grpId="0" nodeType="after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fade">
                                      <p:cBhvr>
                                        <p:cTn id="33" dur="500"/>
                                        <p:tgtEl>
                                          <p:spTgt spid="27"/>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fade">
                                      <p:cBhvr>
                                        <p:cTn id="37" dur="500"/>
                                        <p:tgtEl>
                                          <p:spTgt spid="31"/>
                                        </p:tgtEl>
                                      </p:cBhvr>
                                    </p:animEffect>
                                  </p:childTnLst>
                                </p:cTn>
                              </p:par>
                            </p:childTnLst>
                          </p:cTn>
                        </p:par>
                        <p:par>
                          <p:cTn id="38" fill="hold">
                            <p:stCondLst>
                              <p:cond delay="3500"/>
                            </p:stCondLst>
                            <p:childTnLst>
                              <p:par>
                                <p:cTn id="39" presetID="10" presetClass="entr" presetSubtype="0" fill="hold" grpId="0" nodeType="afterEffect">
                                  <p:stCondLst>
                                    <p:cond delay="1000"/>
                                  </p:stCondLst>
                                  <p:childTnLst>
                                    <p:set>
                                      <p:cBhvr>
                                        <p:cTn id="40" dur="1" fill="hold">
                                          <p:stCondLst>
                                            <p:cond delay="0"/>
                                          </p:stCondLst>
                                        </p:cTn>
                                        <p:tgtEl>
                                          <p:spTgt spid="29"/>
                                        </p:tgtEl>
                                        <p:attrNameLst>
                                          <p:attrName>style.visibility</p:attrName>
                                        </p:attrNameLst>
                                      </p:cBhvr>
                                      <p:to>
                                        <p:strVal val="visible"/>
                                      </p:to>
                                    </p:set>
                                    <p:animEffect transition="in" filter="fade">
                                      <p:cBhvr>
                                        <p:cTn id="41" dur="500"/>
                                        <p:tgtEl>
                                          <p:spTgt spid="29"/>
                                        </p:tgtEl>
                                      </p:cBhvr>
                                    </p:animEffect>
                                  </p:childTnLst>
                                </p:cTn>
                              </p:par>
                            </p:childTnLst>
                          </p:cTn>
                        </p:par>
                        <p:par>
                          <p:cTn id="42" fill="hold">
                            <p:stCondLst>
                              <p:cond delay="5000"/>
                            </p:stCondLst>
                            <p:childTnLst>
                              <p:par>
                                <p:cTn id="43" presetID="10" presetClass="entr" presetSubtype="0" fill="hold" nodeType="afterEffect">
                                  <p:stCondLst>
                                    <p:cond delay="0"/>
                                  </p:stCondLst>
                                  <p:childTnLst>
                                    <p:set>
                                      <p:cBhvr>
                                        <p:cTn id="44" dur="1" fill="hold">
                                          <p:stCondLst>
                                            <p:cond delay="0"/>
                                          </p:stCondLst>
                                        </p:cTn>
                                        <p:tgtEl>
                                          <p:spTgt spid="117"/>
                                        </p:tgtEl>
                                        <p:attrNameLst>
                                          <p:attrName>style.visibility</p:attrName>
                                        </p:attrNameLst>
                                      </p:cBhvr>
                                      <p:to>
                                        <p:strVal val="visible"/>
                                      </p:to>
                                    </p:set>
                                    <p:animEffect transition="in" filter="fade">
                                      <p:cBhvr>
                                        <p:cTn id="45" dur="500"/>
                                        <p:tgtEl>
                                          <p:spTgt spid="117"/>
                                        </p:tgtEl>
                                      </p:cBhvr>
                                    </p:animEffect>
                                  </p:childTnLst>
                                </p:cTn>
                              </p:par>
                              <p:par>
                                <p:cTn id="46" presetID="10" presetClass="entr" presetSubtype="0" fill="hold" nodeType="withEffect">
                                  <p:stCondLst>
                                    <p:cond delay="500"/>
                                  </p:stCondLst>
                                  <p:childTnLst>
                                    <p:set>
                                      <p:cBhvr>
                                        <p:cTn id="47" dur="1" fill="hold">
                                          <p:stCondLst>
                                            <p:cond delay="0"/>
                                          </p:stCondLst>
                                        </p:cTn>
                                        <p:tgtEl>
                                          <p:spTgt spid="111"/>
                                        </p:tgtEl>
                                        <p:attrNameLst>
                                          <p:attrName>style.visibility</p:attrName>
                                        </p:attrNameLst>
                                      </p:cBhvr>
                                      <p:to>
                                        <p:strVal val="visible"/>
                                      </p:to>
                                    </p:set>
                                    <p:animEffect transition="in" filter="fade">
                                      <p:cBhvr>
                                        <p:cTn id="48" dur="500"/>
                                        <p:tgtEl>
                                          <p:spTgt spid="111"/>
                                        </p:tgtEl>
                                      </p:cBhvr>
                                    </p:animEffect>
                                  </p:childTnLst>
                                </p:cTn>
                              </p:par>
                            </p:childTnLst>
                          </p:cTn>
                        </p:par>
                        <p:par>
                          <p:cTn id="49" fill="hold">
                            <p:stCondLst>
                              <p:cond delay="6000"/>
                            </p:stCondLst>
                            <p:childTnLst>
                              <p:par>
                                <p:cTn id="50" presetID="10" presetClass="entr" presetSubtype="0" fill="hold" nodeType="afterEffect">
                                  <p:stCondLst>
                                    <p:cond delay="0"/>
                                  </p:stCondLst>
                                  <p:childTnLst>
                                    <p:set>
                                      <p:cBhvr>
                                        <p:cTn id="51" dur="1" fill="hold">
                                          <p:stCondLst>
                                            <p:cond delay="0"/>
                                          </p:stCondLst>
                                        </p:cTn>
                                        <p:tgtEl>
                                          <p:spTgt spid="110"/>
                                        </p:tgtEl>
                                        <p:attrNameLst>
                                          <p:attrName>style.visibility</p:attrName>
                                        </p:attrNameLst>
                                      </p:cBhvr>
                                      <p:to>
                                        <p:strVal val="visible"/>
                                      </p:to>
                                    </p:set>
                                    <p:animEffect transition="in" filter="fade">
                                      <p:cBhvr>
                                        <p:cTn id="52" dur="500"/>
                                        <p:tgtEl>
                                          <p:spTgt spid="110"/>
                                        </p:tgtEl>
                                      </p:cBhvr>
                                    </p:animEffect>
                                  </p:childTnLst>
                                </p:cTn>
                              </p:par>
                            </p:childTnLst>
                          </p:cTn>
                        </p:par>
                        <p:par>
                          <p:cTn id="53" fill="hold">
                            <p:stCondLst>
                              <p:cond delay="6500"/>
                            </p:stCondLst>
                            <p:childTnLst>
                              <p:par>
                                <p:cTn id="54" presetID="10" presetClass="entr" presetSubtype="0" fill="hold" grpId="0" nodeType="afterEffect">
                                  <p:stCondLst>
                                    <p:cond delay="0"/>
                                  </p:stCondLst>
                                  <p:childTnLst>
                                    <p:set>
                                      <p:cBhvr>
                                        <p:cTn id="55" dur="1" fill="hold">
                                          <p:stCondLst>
                                            <p:cond delay="0"/>
                                          </p:stCondLst>
                                        </p:cTn>
                                        <p:tgtEl>
                                          <p:spTgt spid="109"/>
                                        </p:tgtEl>
                                        <p:attrNameLst>
                                          <p:attrName>style.visibility</p:attrName>
                                        </p:attrNameLst>
                                      </p:cBhvr>
                                      <p:to>
                                        <p:strVal val="visible"/>
                                      </p:to>
                                    </p:set>
                                    <p:animEffect transition="in" filter="fade">
                                      <p:cBhvr>
                                        <p:cTn id="56" dur="500"/>
                                        <p:tgtEl>
                                          <p:spTgt spid="109"/>
                                        </p:tgtEl>
                                      </p:cBhvr>
                                    </p:animEffect>
                                  </p:childTnLst>
                                </p:cTn>
                              </p:par>
                            </p:childTnLst>
                          </p:cTn>
                        </p:par>
                        <p:par>
                          <p:cTn id="57" fill="hold">
                            <p:stCondLst>
                              <p:cond delay="7000"/>
                            </p:stCondLst>
                            <p:childTnLst>
                              <p:par>
                                <p:cTn id="58" presetID="10" presetClass="entr" presetSubtype="0" fill="hold" nodeType="afterEffect">
                                  <p:stCondLst>
                                    <p:cond delay="0"/>
                                  </p:stCondLst>
                                  <p:childTnLst>
                                    <p:set>
                                      <p:cBhvr>
                                        <p:cTn id="59" dur="1" fill="hold">
                                          <p:stCondLst>
                                            <p:cond delay="0"/>
                                          </p:stCondLst>
                                        </p:cTn>
                                        <p:tgtEl>
                                          <p:spTgt spid="122"/>
                                        </p:tgtEl>
                                        <p:attrNameLst>
                                          <p:attrName>style.visibility</p:attrName>
                                        </p:attrNameLst>
                                      </p:cBhvr>
                                      <p:to>
                                        <p:strVal val="visible"/>
                                      </p:to>
                                    </p:set>
                                    <p:animEffect transition="in" filter="fade">
                                      <p:cBhvr>
                                        <p:cTn id="60" dur="500"/>
                                        <p:tgtEl>
                                          <p:spTgt spid="122"/>
                                        </p:tgtEl>
                                      </p:cBhvr>
                                    </p:animEffect>
                                  </p:childTnLst>
                                </p:cTn>
                              </p:par>
                            </p:childTnLst>
                          </p:cTn>
                        </p:par>
                        <p:par>
                          <p:cTn id="61" fill="hold">
                            <p:stCondLst>
                              <p:cond delay="7500"/>
                            </p:stCondLst>
                            <p:childTnLst>
                              <p:par>
                                <p:cTn id="62" presetID="22" presetClass="entr" presetSubtype="4" fill="hold" nodeType="afterEffect">
                                  <p:stCondLst>
                                    <p:cond delay="0"/>
                                  </p:stCondLst>
                                  <p:childTnLst>
                                    <p:set>
                                      <p:cBhvr>
                                        <p:cTn id="63" dur="1" fill="hold">
                                          <p:stCondLst>
                                            <p:cond delay="0"/>
                                          </p:stCondLst>
                                        </p:cTn>
                                        <p:tgtEl>
                                          <p:spTgt spid="139"/>
                                        </p:tgtEl>
                                        <p:attrNameLst>
                                          <p:attrName>style.visibility</p:attrName>
                                        </p:attrNameLst>
                                      </p:cBhvr>
                                      <p:to>
                                        <p:strVal val="visible"/>
                                      </p:to>
                                    </p:set>
                                    <p:animEffect transition="in" filter="wipe(down)">
                                      <p:cBhvr>
                                        <p:cTn id="64" dur="500"/>
                                        <p:tgtEl>
                                          <p:spTgt spid="139"/>
                                        </p:tgtEl>
                                      </p:cBhvr>
                                    </p:animEffect>
                                  </p:childTnLst>
                                </p:cTn>
                              </p:par>
                            </p:childTnLst>
                          </p:cTn>
                        </p:par>
                        <p:par>
                          <p:cTn id="65" fill="hold">
                            <p:stCondLst>
                              <p:cond delay="8000"/>
                            </p:stCondLst>
                            <p:childTnLst>
                              <p:par>
                                <p:cTn id="66" presetID="10" presetClass="entr" presetSubtype="0" fill="hold" nodeType="afterEffect">
                                  <p:stCondLst>
                                    <p:cond delay="0"/>
                                  </p:stCondLst>
                                  <p:childTnLst>
                                    <p:set>
                                      <p:cBhvr>
                                        <p:cTn id="67" dur="1" fill="hold">
                                          <p:stCondLst>
                                            <p:cond delay="0"/>
                                          </p:stCondLst>
                                        </p:cTn>
                                        <p:tgtEl>
                                          <p:spTgt spid="140"/>
                                        </p:tgtEl>
                                        <p:attrNameLst>
                                          <p:attrName>style.visibility</p:attrName>
                                        </p:attrNameLst>
                                      </p:cBhvr>
                                      <p:to>
                                        <p:strVal val="visible"/>
                                      </p:to>
                                    </p:set>
                                    <p:animEffect transition="in" filter="fade">
                                      <p:cBhvr>
                                        <p:cTn id="68" dur="500"/>
                                        <p:tgtEl>
                                          <p:spTgt spid="140"/>
                                        </p:tgtEl>
                                      </p:cBhvr>
                                    </p:animEffect>
                                  </p:childTnLst>
                                </p:cTn>
                              </p:par>
                            </p:childTnLst>
                          </p:cTn>
                        </p:par>
                        <p:par>
                          <p:cTn id="69" fill="hold">
                            <p:stCondLst>
                              <p:cond delay="8500"/>
                            </p:stCondLst>
                            <p:childTnLst>
                              <p:par>
                                <p:cTn id="70" presetID="10" presetClass="entr" presetSubtype="0" fill="hold" grpId="0" nodeType="afterEffect">
                                  <p:stCondLst>
                                    <p:cond delay="0"/>
                                  </p:stCondLst>
                                  <p:childTnLst>
                                    <p:set>
                                      <p:cBhvr>
                                        <p:cTn id="71" dur="1" fill="hold">
                                          <p:stCondLst>
                                            <p:cond delay="0"/>
                                          </p:stCondLst>
                                        </p:cTn>
                                        <p:tgtEl>
                                          <p:spTgt spid="143"/>
                                        </p:tgtEl>
                                        <p:attrNameLst>
                                          <p:attrName>style.visibility</p:attrName>
                                        </p:attrNameLst>
                                      </p:cBhvr>
                                      <p:to>
                                        <p:strVal val="visible"/>
                                      </p:to>
                                    </p:set>
                                    <p:animEffect transition="in" filter="fade">
                                      <p:cBhvr>
                                        <p:cTn id="72" dur="500"/>
                                        <p:tgtEl>
                                          <p:spTgt spid="143"/>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45"/>
                                        </p:tgtEl>
                                        <p:attrNameLst>
                                          <p:attrName>style.visibility</p:attrName>
                                        </p:attrNameLst>
                                      </p:cBhvr>
                                      <p:to>
                                        <p:strVal val="visible"/>
                                      </p:to>
                                    </p:set>
                                    <p:animEffect transition="in" filter="fade">
                                      <p:cBhvr>
                                        <p:cTn id="75" dur="500"/>
                                        <p:tgtEl>
                                          <p:spTgt spid="145"/>
                                        </p:tgtEl>
                                      </p:cBhvr>
                                    </p:animEffect>
                                  </p:childTnLst>
                                </p:cTn>
                              </p:par>
                            </p:childTnLst>
                          </p:cTn>
                        </p:par>
                        <p:par>
                          <p:cTn id="76" fill="hold">
                            <p:stCondLst>
                              <p:cond delay="9000"/>
                            </p:stCondLst>
                            <p:childTnLst>
                              <p:par>
                                <p:cTn id="77" presetID="10" presetClass="entr" presetSubtype="0" fill="hold" nodeType="afterEffect">
                                  <p:stCondLst>
                                    <p:cond delay="0"/>
                                  </p:stCondLst>
                                  <p:childTnLst>
                                    <p:set>
                                      <p:cBhvr>
                                        <p:cTn id="78" dur="1" fill="hold">
                                          <p:stCondLst>
                                            <p:cond delay="0"/>
                                          </p:stCondLst>
                                        </p:cTn>
                                        <p:tgtEl>
                                          <p:spTgt spid="127"/>
                                        </p:tgtEl>
                                        <p:attrNameLst>
                                          <p:attrName>style.visibility</p:attrName>
                                        </p:attrNameLst>
                                      </p:cBhvr>
                                      <p:to>
                                        <p:strVal val="visible"/>
                                      </p:to>
                                    </p:set>
                                    <p:animEffect transition="in" filter="fade">
                                      <p:cBhvr>
                                        <p:cTn id="79" dur="500"/>
                                        <p:tgtEl>
                                          <p:spTgt spid="127"/>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138"/>
                                        </p:tgtEl>
                                        <p:attrNameLst>
                                          <p:attrName>style.visibility</p:attrName>
                                        </p:attrNameLst>
                                      </p:cBhvr>
                                      <p:to>
                                        <p:strVal val="visible"/>
                                      </p:to>
                                    </p:set>
                                    <p:animEffect transition="in" filter="fade">
                                      <p:cBhvr>
                                        <p:cTn id="82" dur="500"/>
                                        <p:tgtEl>
                                          <p:spTgt spid="138"/>
                                        </p:tgtEl>
                                      </p:cBhvr>
                                    </p:animEffect>
                                  </p:childTnLst>
                                </p:cTn>
                              </p:par>
                            </p:childTnLst>
                          </p:cTn>
                        </p:par>
                        <p:par>
                          <p:cTn id="83" fill="hold">
                            <p:stCondLst>
                              <p:cond delay="9500"/>
                            </p:stCondLst>
                            <p:childTnLst>
                              <p:par>
                                <p:cTn id="84" presetID="22" presetClass="entr" presetSubtype="8" fill="hold" nodeType="afterEffect">
                                  <p:stCondLst>
                                    <p:cond delay="0"/>
                                  </p:stCondLst>
                                  <p:childTnLst>
                                    <p:set>
                                      <p:cBhvr>
                                        <p:cTn id="85" dur="1" fill="hold">
                                          <p:stCondLst>
                                            <p:cond delay="0"/>
                                          </p:stCondLst>
                                        </p:cTn>
                                        <p:tgtEl>
                                          <p:spTgt spid="146"/>
                                        </p:tgtEl>
                                        <p:attrNameLst>
                                          <p:attrName>style.visibility</p:attrName>
                                        </p:attrNameLst>
                                      </p:cBhvr>
                                      <p:to>
                                        <p:strVal val="visible"/>
                                      </p:to>
                                    </p:set>
                                    <p:animEffect transition="in" filter="wipe(left)">
                                      <p:cBhvr>
                                        <p:cTn id="86" dur="250"/>
                                        <p:tgtEl>
                                          <p:spTgt spid="146"/>
                                        </p:tgtEl>
                                      </p:cBhvr>
                                    </p:animEffect>
                                  </p:childTnLst>
                                </p:cTn>
                              </p:par>
                              <p:par>
                                <p:cTn id="87" presetID="22" presetClass="entr" presetSubtype="2" fill="hold" nodeType="withEffect">
                                  <p:stCondLst>
                                    <p:cond delay="0"/>
                                  </p:stCondLst>
                                  <p:childTnLst>
                                    <p:set>
                                      <p:cBhvr>
                                        <p:cTn id="88" dur="1" fill="hold">
                                          <p:stCondLst>
                                            <p:cond delay="0"/>
                                          </p:stCondLst>
                                        </p:cTn>
                                        <p:tgtEl>
                                          <p:spTgt spid="144"/>
                                        </p:tgtEl>
                                        <p:attrNameLst>
                                          <p:attrName>style.visibility</p:attrName>
                                        </p:attrNameLst>
                                      </p:cBhvr>
                                      <p:to>
                                        <p:strVal val="visible"/>
                                      </p:to>
                                    </p:set>
                                    <p:animEffect transition="in" filter="wipe(right)">
                                      <p:cBhvr>
                                        <p:cTn id="89" dur="250"/>
                                        <p:tgtEl>
                                          <p:spTgt spid="144"/>
                                        </p:tgtEl>
                                      </p:cBhvr>
                                    </p:animEffect>
                                  </p:childTnLst>
                                </p:cTn>
                              </p:par>
                            </p:childTnLst>
                          </p:cTn>
                        </p:par>
                        <p:par>
                          <p:cTn id="90" fill="hold">
                            <p:stCondLst>
                              <p:cond delay="9750"/>
                            </p:stCondLst>
                            <p:childTnLst>
                              <p:par>
                                <p:cTn id="91" presetID="10" presetClass="entr" presetSubtype="0" fill="hold" grpId="0" nodeType="afterEffect">
                                  <p:stCondLst>
                                    <p:cond delay="0"/>
                                  </p:stCondLst>
                                  <p:childTnLst>
                                    <p:set>
                                      <p:cBhvr>
                                        <p:cTn id="92" dur="1" fill="hold">
                                          <p:stCondLst>
                                            <p:cond delay="0"/>
                                          </p:stCondLst>
                                        </p:cTn>
                                        <p:tgtEl>
                                          <p:spTgt spid="30"/>
                                        </p:tgtEl>
                                        <p:attrNameLst>
                                          <p:attrName>style.visibility</p:attrName>
                                        </p:attrNameLst>
                                      </p:cBhvr>
                                      <p:to>
                                        <p:strVal val="visible"/>
                                      </p:to>
                                    </p:set>
                                    <p:animEffect transition="in" filter="fade">
                                      <p:cBhvr>
                                        <p:cTn id="93" dur="500"/>
                                        <p:tgtEl>
                                          <p:spTgt spid="30"/>
                                        </p:tgtEl>
                                      </p:cBhvr>
                                    </p:animEffect>
                                  </p:childTnLst>
                                </p:cTn>
                              </p:par>
                            </p:childTnLst>
                          </p:cTn>
                        </p:par>
                        <p:par>
                          <p:cTn id="94" fill="hold">
                            <p:stCondLst>
                              <p:cond delay="10250"/>
                            </p:stCondLst>
                            <p:childTnLst>
                              <p:par>
                                <p:cTn id="95" presetID="10" presetClass="entr" presetSubtype="0" fill="hold" grpId="0" nodeType="afterEffect">
                                  <p:stCondLst>
                                    <p:cond delay="0"/>
                                  </p:stCondLst>
                                  <p:childTnLst>
                                    <p:set>
                                      <p:cBhvr>
                                        <p:cTn id="96" dur="1" fill="hold">
                                          <p:stCondLst>
                                            <p:cond delay="0"/>
                                          </p:stCondLst>
                                        </p:cTn>
                                        <p:tgtEl>
                                          <p:spTgt spid="26"/>
                                        </p:tgtEl>
                                        <p:attrNameLst>
                                          <p:attrName>style.visibility</p:attrName>
                                        </p:attrNameLst>
                                      </p:cBhvr>
                                      <p:to>
                                        <p:strVal val="visible"/>
                                      </p:to>
                                    </p:set>
                                    <p:animEffect transition="in" filter="fade">
                                      <p:cBhvr>
                                        <p:cTn id="97" dur="500"/>
                                        <p:tgtEl>
                                          <p:spTgt spid="26"/>
                                        </p:tgtEl>
                                      </p:cBhvr>
                                    </p:animEffect>
                                  </p:childTnLst>
                                </p:cTn>
                              </p:par>
                            </p:childTnLst>
                          </p:cTn>
                        </p:par>
                        <p:par>
                          <p:cTn id="98" fill="hold">
                            <p:stCondLst>
                              <p:cond delay="10750"/>
                            </p:stCondLst>
                            <p:childTnLst>
                              <p:par>
                                <p:cTn id="99" presetID="10" presetClass="entr" presetSubtype="0" fill="hold" grpId="0" nodeType="afterEffect">
                                  <p:stCondLst>
                                    <p:cond delay="1000"/>
                                  </p:stCondLst>
                                  <p:childTnLst>
                                    <p:set>
                                      <p:cBhvr>
                                        <p:cTn id="100" dur="1" fill="hold">
                                          <p:stCondLst>
                                            <p:cond delay="0"/>
                                          </p:stCondLst>
                                        </p:cTn>
                                        <p:tgtEl>
                                          <p:spTgt spid="4"/>
                                        </p:tgtEl>
                                        <p:attrNameLst>
                                          <p:attrName>style.visibility</p:attrName>
                                        </p:attrNameLst>
                                      </p:cBhvr>
                                      <p:to>
                                        <p:strVal val="visible"/>
                                      </p:to>
                                    </p:set>
                                    <p:animEffect transition="in" filter="fade">
                                      <p:cBhvr>
                                        <p:cTn id="101" dur="500"/>
                                        <p:tgtEl>
                                          <p:spTgt spid="4"/>
                                        </p:tgtEl>
                                      </p:cBhvr>
                                    </p:animEffect>
                                  </p:childTnLst>
                                </p:cTn>
                              </p:par>
                              <p:par>
                                <p:cTn id="102" presetID="10" presetClass="entr" presetSubtype="0" fill="hold" nodeType="withEffect">
                                  <p:stCondLst>
                                    <p:cond delay="1000"/>
                                  </p:stCondLst>
                                  <p:childTnLst>
                                    <p:set>
                                      <p:cBhvr>
                                        <p:cTn id="103" dur="1" fill="hold">
                                          <p:stCondLst>
                                            <p:cond delay="0"/>
                                          </p:stCondLst>
                                        </p:cTn>
                                        <p:tgtEl>
                                          <p:spTgt spid="76"/>
                                        </p:tgtEl>
                                        <p:attrNameLst>
                                          <p:attrName>style.visibility</p:attrName>
                                        </p:attrNameLst>
                                      </p:cBhvr>
                                      <p:to>
                                        <p:strVal val="visible"/>
                                      </p:to>
                                    </p:set>
                                    <p:animEffect transition="in" filter="fade">
                                      <p:cBhvr>
                                        <p:cTn id="104" dur="500"/>
                                        <p:tgtEl>
                                          <p:spTgt spid="76"/>
                                        </p:tgtEl>
                                      </p:cBhvr>
                                    </p:animEffect>
                                  </p:childTnLst>
                                </p:cTn>
                              </p:par>
                            </p:childTnLst>
                          </p:cTn>
                        </p:par>
                        <p:par>
                          <p:cTn id="105" fill="hold">
                            <p:stCondLst>
                              <p:cond delay="12250"/>
                            </p:stCondLst>
                            <p:childTnLst>
                              <p:par>
                                <p:cTn id="106" presetID="10" presetClass="entr" presetSubtype="0" fill="hold" grpId="0" nodeType="afterEffect">
                                  <p:stCondLst>
                                    <p:cond delay="0"/>
                                  </p:stCondLst>
                                  <p:childTnLst>
                                    <p:set>
                                      <p:cBhvr>
                                        <p:cTn id="107" dur="1" fill="hold">
                                          <p:stCondLst>
                                            <p:cond delay="0"/>
                                          </p:stCondLst>
                                        </p:cTn>
                                        <p:tgtEl>
                                          <p:spTgt spid="33"/>
                                        </p:tgtEl>
                                        <p:attrNameLst>
                                          <p:attrName>style.visibility</p:attrName>
                                        </p:attrNameLst>
                                      </p:cBhvr>
                                      <p:to>
                                        <p:strVal val="visible"/>
                                      </p:to>
                                    </p:set>
                                    <p:animEffect transition="in" filter="fade">
                                      <p:cBhvr>
                                        <p:cTn id="108" dur="500"/>
                                        <p:tgtEl>
                                          <p:spTgt spid="33"/>
                                        </p:tgtEl>
                                      </p:cBhvr>
                                    </p:animEffect>
                                  </p:childTnLst>
                                </p:cTn>
                              </p:par>
                              <p:par>
                                <p:cTn id="109" presetID="10" presetClass="entr" presetSubtype="0" fill="hold" nodeType="withEffect">
                                  <p:stCondLst>
                                    <p:cond delay="0"/>
                                  </p:stCondLst>
                                  <p:childTnLst>
                                    <p:set>
                                      <p:cBhvr>
                                        <p:cTn id="110" dur="1" fill="hold">
                                          <p:stCondLst>
                                            <p:cond delay="0"/>
                                          </p:stCondLst>
                                        </p:cTn>
                                        <p:tgtEl>
                                          <p:spTgt spid="91"/>
                                        </p:tgtEl>
                                        <p:attrNameLst>
                                          <p:attrName>style.visibility</p:attrName>
                                        </p:attrNameLst>
                                      </p:cBhvr>
                                      <p:to>
                                        <p:strVal val="visible"/>
                                      </p:to>
                                    </p:set>
                                    <p:animEffect transition="in" filter="fade">
                                      <p:cBhvr>
                                        <p:cTn id="111" dur="500"/>
                                        <p:tgtEl>
                                          <p:spTgt spid="91"/>
                                        </p:tgtEl>
                                      </p:cBhvr>
                                    </p:animEffect>
                                  </p:childTnLst>
                                </p:cTn>
                              </p:par>
                            </p:childTnLst>
                          </p:cTn>
                        </p:par>
                        <p:par>
                          <p:cTn id="112" fill="hold">
                            <p:stCondLst>
                              <p:cond delay="12750"/>
                            </p:stCondLst>
                            <p:childTnLst>
                              <p:par>
                                <p:cTn id="113" presetID="10" presetClass="entr" presetSubtype="0" fill="hold" grpId="0" nodeType="afterEffect">
                                  <p:stCondLst>
                                    <p:cond delay="0"/>
                                  </p:stCondLst>
                                  <p:childTnLst>
                                    <p:set>
                                      <p:cBhvr>
                                        <p:cTn id="114" dur="1" fill="hold">
                                          <p:stCondLst>
                                            <p:cond delay="0"/>
                                          </p:stCondLst>
                                        </p:cTn>
                                        <p:tgtEl>
                                          <p:spTgt spid="34"/>
                                        </p:tgtEl>
                                        <p:attrNameLst>
                                          <p:attrName>style.visibility</p:attrName>
                                        </p:attrNameLst>
                                      </p:cBhvr>
                                      <p:to>
                                        <p:strVal val="visible"/>
                                      </p:to>
                                    </p:set>
                                    <p:animEffect transition="in" filter="fade">
                                      <p:cBhvr>
                                        <p:cTn id="115" dur="500"/>
                                        <p:tgtEl>
                                          <p:spTgt spid="34"/>
                                        </p:tgtEl>
                                      </p:cBhvr>
                                    </p:animEffect>
                                  </p:childTnLst>
                                </p:cTn>
                              </p:par>
                              <p:par>
                                <p:cTn id="116" presetID="10" presetClass="entr" presetSubtype="0" fill="hold" nodeType="withEffect">
                                  <p:stCondLst>
                                    <p:cond delay="0"/>
                                  </p:stCondLst>
                                  <p:childTnLst>
                                    <p:set>
                                      <p:cBhvr>
                                        <p:cTn id="117" dur="1" fill="hold">
                                          <p:stCondLst>
                                            <p:cond delay="0"/>
                                          </p:stCondLst>
                                        </p:cTn>
                                        <p:tgtEl>
                                          <p:spTgt spid="94"/>
                                        </p:tgtEl>
                                        <p:attrNameLst>
                                          <p:attrName>style.visibility</p:attrName>
                                        </p:attrNameLst>
                                      </p:cBhvr>
                                      <p:to>
                                        <p:strVal val="visible"/>
                                      </p:to>
                                    </p:set>
                                    <p:animEffect transition="in" filter="fade">
                                      <p:cBhvr>
                                        <p:cTn id="118"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8" grpId="0" animBg="1"/>
      <p:bldP spid="29" grpId="0" animBg="1"/>
      <p:bldP spid="5" grpId="0"/>
      <p:bldP spid="109" grpId="0"/>
      <p:bldP spid="138" grpId="0"/>
      <p:bldP spid="143" grpId="0"/>
      <p:bldP spid="145" grpId="0"/>
      <p:bldP spid="26" grpId="0"/>
      <p:bldP spid="27" grpId="0"/>
      <p:bldP spid="4" grpId="0"/>
      <p:bldP spid="30" grpId="0"/>
      <p:bldP spid="31" grpId="0"/>
      <p:bldP spid="33" grpId="0"/>
      <p:bldP spid="3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A6EB27-C30C-0974-D68D-C95836992CDF}"/>
              </a:ext>
            </a:extLst>
          </p:cNvPr>
          <p:cNvSpPr>
            <a:spLocks noGrp="1"/>
          </p:cNvSpPr>
          <p:nvPr>
            <p:ph type="title"/>
          </p:nvPr>
        </p:nvSpPr>
        <p:spPr/>
        <p:txBody>
          <a:bodyPr/>
          <a:lstStyle/>
          <a:p>
            <a:r>
              <a:rPr lang="en-US"/>
              <a:t>A New Way to Process and Store Data Efficiently</a:t>
            </a:r>
          </a:p>
        </p:txBody>
      </p:sp>
      <p:sp>
        <p:nvSpPr>
          <p:cNvPr id="3" name="Subtitle 2">
            <a:extLst>
              <a:ext uri="{FF2B5EF4-FFF2-40B4-BE49-F238E27FC236}">
                <a16:creationId xmlns:a16="http://schemas.microsoft.com/office/drawing/2014/main" id="{A78B0BCC-7798-6371-AE13-5F5B4744D088}"/>
              </a:ext>
            </a:extLst>
          </p:cNvPr>
          <p:cNvSpPr>
            <a:spLocks noGrp="1"/>
          </p:cNvSpPr>
          <p:nvPr>
            <p:ph type="subTitle" idx="10"/>
          </p:nvPr>
        </p:nvSpPr>
        <p:spPr/>
        <p:txBody>
          <a:bodyPr/>
          <a:lstStyle/>
          <a:p>
            <a:r>
              <a:rPr lang="en-US" dirty="0"/>
              <a:t>vSAN Express Storage Architecture</a:t>
            </a:r>
          </a:p>
          <a:p>
            <a:endParaRPr lang="en-US" dirty="0"/>
          </a:p>
        </p:txBody>
      </p:sp>
      <p:sp>
        <p:nvSpPr>
          <p:cNvPr id="6" name="TextBox 5">
            <a:extLst>
              <a:ext uri="{FF2B5EF4-FFF2-40B4-BE49-F238E27FC236}">
                <a16:creationId xmlns:a16="http://schemas.microsoft.com/office/drawing/2014/main" id="{2A46FFF4-710E-CB05-2A36-D7F2A340C4EC}"/>
              </a:ext>
            </a:extLst>
          </p:cNvPr>
          <p:cNvSpPr txBox="1"/>
          <p:nvPr/>
        </p:nvSpPr>
        <p:spPr>
          <a:xfrm>
            <a:off x="5465465" y="2227406"/>
            <a:ext cx="1023212" cy="338554"/>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t>Native scalable</a:t>
            </a:r>
            <a:b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br>
            <a: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t>snapshots</a:t>
            </a:r>
          </a:p>
        </p:txBody>
      </p:sp>
      <p:grpSp>
        <p:nvGrpSpPr>
          <p:cNvPr id="7" name="Group 6">
            <a:extLst>
              <a:ext uri="{FF2B5EF4-FFF2-40B4-BE49-F238E27FC236}">
                <a16:creationId xmlns:a16="http://schemas.microsoft.com/office/drawing/2014/main" id="{06721B9B-4D9A-EB8B-868E-71355AB14D0E}"/>
              </a:ext>
            </a:extLst>
          </p:cNvPr>
          <p:cNvGrpSpPr/>
          <p:nvPr/>
        </p:nvGrpSpPr>
        <p:grpSpPr>
          <a:xfrm>
            <a:off x="3454883" y="3186942"/>
            <a:ext cx="5044376" cy="337184"/>
            <a:chOff x="1410325" y="3943123"/>
            <a:chExt cx="5044376" cy="337184"/>
          </a:xfrm>
        </p:grpSpPr>
        <p:sp>
          <p:nvSpPr>
            <p:cNvPr id="8" name="Freeform 16">
              <a:extLst>
                <a:ext uri="{FF2B5EF4-FFF2-40B4-BE49-F238E27FC236}">
                  <a16:creationId xmlns:a16="http://schemas.microsoft.com/office/drawing/2014/main" id="{20DCA343-2CE8-5BC1-9296-16E64629B9ED}"/>
                </a:ext>
              </a:extLst>
            </p:cNvPr>
            <p:cNvSpPr/>
            <p:nvPr/>
          </p:nvSpPr>
          <p:spPr>
            <a:xfrm>
              <a:off x="4505619" y="4096137"/>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accent4">
                <a:lumMod val="75000"/>
              </a:schemeClr>
            </a:solidFill>
            <a:ln>
              <a:solidFill>
                <a:schemeClr val="accent4">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99"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9" name="Group 8">
              <a:extLst>
                <a:ext uri="{FF2B5EF4-FFF2-40B4-BE49-F238E27FC236}">
                  <a16:creationId xmlns:a16="http://schemas.microsoft.com/office/drawing/2014/main" id="{49AF613D-8E7B-3378-C294-D19E531BB593}"/>
                </a:ext>
              </a:extLst>
            </p:cNvPr>
            <p:cNvGrpSpPr>
              <a:grpSpLocks noChangeAspect="1"/>
            </p:cNvGrpSpPr>
            <p:nvPr/>
          </p:nvGrpSpPr>
          <p:grpSpPr>
            <a:xfrm>
              <a:off x="5101389" y="3943123"/>
              <a:ext cx="1353312" cy="337184"/>
              <a:chOff x="5060950" y="5251450"/>
              <a:chExt cx="1236133" cy="332317"/>
            </a:xfrm>
          </p:grpSpPr>
          <p:sp>
            <p:nvSpPr>
              <p:cNvPr id="28" name="Line 5">
                <a:extLst>
                  <a:ext uri="{FF2B5EF4-FFF2-40B4-BE49-F238E27FC236}">
                    <a16:creationId xmlns:a16="http://schemas.microsoft.com/office/drawing/2014/main" id="{1DC23A6A-AAD5-22CD-5516-DCF226CACE7F}"/>
                  </a:ext>
                </a:extLst>
              </p:cNvPr>
              <p:cNvSpPr>
                <a:spLocks noChangeShapeType="1"/>
              </p:cNvSpPr>
              <p:nvPr/>
            </p:nvSpPr>
            <p:spPr bwMode="auto">
              <a:xfrm>
                <a:off x="6010427"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9" name="Line 6">
                <a:extLst>
                  <a:ext uri="{FF2B5EF4-FFF2-40B4-BE49-F238E27FC236}">
                    <a16:creationId xmlns:a16="http://schemas.microsoft.com/office/drawing/2014/main" id="{35665A94-DA01-F8B9-B20E-3C56A9424981}"/>
                  </a:ext>
                </a:extLst>
              </p:cNvPr>
              <p:cNvSpPr>
                <a:spLocks noChangeShapeType="1"/>
              </p:cNvSpPr>
              <p:nvPr/>
            </p:nvSpPr>
            <p:spPr bwMode="auto">
              <a:xfrm>
                <a:off x="6097120"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30" name="Line 7">
                <a:extLst>
                  <a:ext uri="{FF2B5EF4-FFF2-40B4-BE49-F238E27FC236}">
                    <a16:creationId xmlns:a16="http://schemas.microsoft.com/office/drawing/2014/main" id="{C3972C61-2E38-813C-AAD1-99B5A93227F1}"/>
                  </a:ext>
                </a:extLst>
              </p:cNvPr>
              <p:cNvSpPr>
                <a:spLocks noChangeShapeType="1"/>
              </p:cNvSpPr>
              <p:nvPr/>
            </p:nvSpPr>
            <p:spPr bwMode="auto">
              <a:xfrm>
                <a:off x="6183813"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31" name="Line 8">
                <a:extLst>
                  <a:ext uri="{FF2B5EF4-FFF2-40B4-BE49-F238E27FC236}">
                    <a16:creationId xmlns:a16="http://schemas.microsoft.com/office/drawing/2014/main" id="{9B20AC6E-B7EB-EB95-3B88-418DC70D8C2B}"/>
                  </a:ext>
                </a:extLst>
              </p:cNvPr>
              <p:cNvSpPr>
                <a:spLocks noChangeShapeType="1"/>
              </p:cNvSpPr>
              <p:nvPr/>
            </p:nvSpPr>
            <p:spPr bwMode="auto">
              <a:xfrm>
                <a:off x="5170587"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32" name="Line 9">
                <a:extLst>
                  <a:ext uri="{FF2B5EF4-FFF2-40B4-BE49-F238E27FC236}">
                    <a16:creationId xmlns:a16="http://schemas.microsoft.com/office/drawing/2014/main" id="{ABF749E0-A3A0-BCC4-350D-2D8A3CD92F49}"/>
                  </a:ext>
                </a:extLst>
              </p:cNvPr>
              <p:cNvSpPr>
                <a:spLocks noChangeShapeType="1"/>
              </p:cNvSpPr>
              <p:nvPr/>
            </p:nvSpPr>
            <p:spPr bwMode="auto">
              <a:xfrm>
                <a:off x="5257280"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33" name="Line 10">
                <a:extLst>
                  <a:ext uri="{FF2B5EF4-FFF2-40B4-BE49-F238E27FC236}">
                    <a16:creationId xmlns:a16="http://schemas.microsoft.com/office/drawing/2014/main" id="{8CDB28AB-0925-33FE-CF65-8681D16F61AB}"/>
                  </a:ext>
                </a:extLst>
              </p:cNvPr>
              <p:cNvSpPr>
                <a:spLocks noChangeShapeType="1"/>
              </p:cNvSpPr>
              <p:nvPr/>
            </p:nvSpPr>
            <p:spPr bwMode="auto">
              <a:xfrm>
                <a:off x="5346683"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34" name="Oval 11">
                <a:extLst>
                  <a:ext uri="{FF2B5EF4-FFF2-40B4-BE49-F238E27FC236}">
                    <a16:creationId xmlns:a16="http://schemas.microsoft.com/office/drawing/2014/main" id="{E5C5A1F5-8683-57A1-4059-6550BFB37DB9}"/>
                  </a:ext>
                </a:extLst>
              </p:cNvPr>
              <p:cNvSpPr>
                <a:spLocks noChangeArrowheads="1"/>
              </p:cNvSpPr>
              <p:nvPr/>
            </p:nvSpPr>
            <p:spPr bwMode="auto">
              <a:xfrm>
                <a:off x="5609471" y="5345848"/>
                <a:ext cx="135458" cy="140877"/>
              </a:xfrm>
              <a:prstGeom prst="ellips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35" name="Rectangle 34">
                <a:extLst>
                  <a:ext uri="{FF2B5EF4-FFF2-40B4-BE49-F238E27FC236}">
                    <a16:creationId xmlns:a16="http://schemas.microsoft.com/office/drawing/2014/main" id="{C95601EA-FBDA-3390-1DE7-CBF60D9A9D56}"/>
                  </a:ext>
                </a:extLst>
              </p:cNvPr>
              <p:cNvSpPr/>
              <p:nvPr/>
            </p:nvSpPr>
            <p:spPr>
              <a:xfrm>
                <a:off x="5060950" y="5251450"/>
                <a:ext cx="1236133" cy="332317"/>
              </a:xfrm>
              <a:prstGeom prst="rect">
                <a:avLst/>
              </a:prstGeom>
              <a:noFill/>
              <a:ln w="25400">
                <a:solidFill>
                  <a:schemeClr val="accent4">
                    <a:lumMod val="75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Metropolis"/>
                  <a:ea typeface="+mn-ea"/>
                  <a:cs typeface="+mn-cs"/>
                </a:endParaRPr>
              </a:p>
            </p:txBody>
          </p:sp>
        </p:grpSp>
        <p:grpSp>
          <p:nvGrpSpPr>
            <p:cNvPr id="10" name="Group 9">
              <a:extLst>
                <a:ext uri="{FF2B5EF4-FFF2-40B4-BE49-F238E27FC236}">
                  <a16:creationId xmlns:a16="http://schemas.microsoft.com/office/drawing/2014/main" id="{E0893AA1-5214-5087-D59D-EF3C26293C9E}"/>
                </a:ext>
              </a:extLst>
            </p:cNvPr>
            <p:cNvGrpSpPr>
              <a:grpSpLocks noChangeAspect="1"/>
            </p:cNvGrpSpPr>
            <p:nvPr/>
          </p:nvGrpSpPr>
          <p:grpSpPr>
            <a:xfrm>
              <a:off x="1410325" y="3943123"/>
              <a:ext cx="1353312" cy="337184"/>
              <a:chOff x="5060950" y="5251450"/>
              <a:chExt cx="1236133" cy="332317"/>
            </a:xfrm>
          </p:grpSpPr>
          <p:sp>
            <p:nvSpPr>
              <p:cNvPr id="20" name="Line 5">
                <a:extLst>
                  <a:ext uri="{FF2B5EF4-FFF2-40B4-BE49-F238E27FC236}">
                    <a16:creationId xmlns:a16="http://schemas.microsoft.com/office/drawing/2014/main" id="{675FF14F-441B-C7DA-8347-6BD6692650DA}"/>
                  </a:ext>
                </a:extLst>
              </p:cNvPr>
              <p:cNvSpPr>
                <a:spLocks noChangeShapeType="1"/>
              </p:cNvSpPr>
              <p:nvPr/>
            </p:nvSpPr>
            <p:spPr bwMode="auto">
              <a:xfrm>
                <a:off x="6010427"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1" name="Line 6">
                <a:extLst>
                  <a:ext uri="{FF2B5EF4-FFF2-40B4-BE49-F238E27FC236}">
                    <a16:creationId xmlns:a16="http://schemas.microsoft.com/office/drawing/2014/main" id="{DB157856-2B26-467C-596E-AF7E780B5C9D}"/>
                  </a:ext>
                </a:extLst>
              </p:cNvPr>
              <p:cNvSpPr>
                <a:spLocks noChangeShapeType="1"/>
              </p:cNvSpPr>
              <p:nvPr/>
            </p:nvSpPr>
            <p:spPr bwMode="auto">
              <a:xfrm>
                <a:off x="6097120"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2" name="Line 7">
                <a:extLst>
                  <a:ext uri="{FF2B5EF4-FFF2-40B4-BE49-F238E27FC236}">
                    <a16:creationId xmlns:a16="http://schemas.microsoft.com/office/drawing/2014/main" id="{901295A9-924A-047D-617B-B155D298A57C}"/>
                  </a:ext>
                </a:extLst>
              </p:cNvPr>
              <p:cNvSpPr>
                <a:spLocks noChangeShapeType="1"/>
              </p:cNvSpPr>
              <p:nvPr/>
            </p:nvSpPr>
            <p:spPr bwMode="auto">
              <a:xfrm>
                <a:off x="6183813"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3" name="Line 8">
                <a:extLst>
                  <a:ext uri="{FF2B5EF4-FFF2-40B4-BE49-F238E27FC236}">
                    <a16:creationId xmlns:a16="http://schemas.microsoft.com/office/drawing/2014/main" id="{A4C69EDC-2509-02A7-657C-875FC783E38D}"/>
                  </a:ext>
                </a:extLst>
              </p:cNvPr>
              <p:cNvSpPr>
                <a:spLocks noChangeShapeType="1"/>
              </p:cNvSpPr>
              <p:nvPr/>
            </p:nvSpPr>
            <p:spPr bwMode="auto">
              <a:xfrm>
                <a:off x="5170587"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4" name="Line 9">
                <a:extLst>
                  <a:ext uri="{FF2B5EF4-FFF2-40B4-BE49-F238E27FC236}">
                    <a16:creationId xmlns:a16="http://schemas.microsoft.com/office/drawing/2014/main" id="{BC060BD6-38A8-7D7A-F992-FCFB5AEA4546}"/>
                  </a:ext>
                </a:extLst>
              </p:cNvPr>
              <p:cNvSpPr>
                <a:spLocks noChangeShapeType="1"/>
              </p:cNvSpPr>
              <p:nvPr/>
            </p:nvSpPr>
            <p:spPr bwMode="auto">
              <a:xfrm>
                <a:off x="5257280"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5" name="Line 10">
                <a:extLst>
                  <a:ext uri="{FF2B5EF4-FFF2-40B4-BE49-F238E27FC236}">
                    <a16:creationId xmlns:a16="http://schemas.microsoft.com/office/drawing/2014/main" id="{66388D3A-B9A3-E6D6-51CA-6C232E722173}"/>
                  </a:ext>
                </a:extLst>
              </p:cNvPr>
              <p:cNvSpPr>
                <a:spLocks noChangeShapeType="1"/>
              </p:cNvSpPr>
              <p:nvPr/>
            </p:nvSpPr>
            <p:spPr bwMode="auto">
              <a:xfrm>
                <a:off x="5346683"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6" name="Oval 11">
                <a:extLst>
                  <a:ext uri="{FF2B5EF4-FFF2-40B4-BE49-F238E27FC236}">
                    <a16:creationId xmlns:a16="http://schemas.microsoft.com/office/drawing/2014/main" id="{50D11F00-680B-FEA0-96E9-2EB1DE9EC431}"/>
                  </a:ext>
                </a:extLst>
              </p:cNvPr>
              <p:cNvSpPr>
                <a:spLocks noChangeArrowheads="1"/>
              </p:cNvSpPr>
              <p:nvPr/>
            </p:nvSpPr>
            <p:spPr bwMode="auto">
              <a:xfrm>
                <a:off x="5609471" y="5345848"/>
                <a:ext cx="135458" cy="140877"/>
              </a:xfrm>
              <a:prstGeom prst="ellips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27" name="Rectangle 26">
                <a:extLst>
                  <a:ext uri="{FF2B5EF4-FFF2-40B4-BE49-F238E27FC236}">
                    <a16:creationId xmlns:a16="http://schemas.microsoft.com/office/drawing/2014/main" id="{CDE5765C-359D-3BC8-7B89-D5B2D0DBADBC}"/>
                  </a:ext>
                </a:extLst>
              </p:cNvPr>
              <p:cNvSpPr/>
              <p:nvPr/>
            </p:nvSpPr>
            <p:spPr>
              <a:xfrm>
                <a:off x="5060950" y="5251450"/>
                <a:ext cx="1236133" cy="332317"/>
              </a:xfrm>
              <a:prstGeom prst="rect">
                <a:avLst/>
              </a:prstGeom>
              <a:noFill/>
              <a:ln w="25400">
                <a:solidFill>
                  <a:schemeClr val="accent4">
                    <a:lumMod val="75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Metropolis"/>
                  <a:ea typeface="+mn-ea"/>
                  <a:cs typeface="+mn-cs"/>
                </a:endParaRPr>
              </a:p>
            </p:txBody>
          </p:sp>
        </p:grpSp>
        <p:grpSp>
          <p:nvGrpSpPr>
            <p:cNvPr id="11" name="Group 10">
              <a:extLst>
                <a:ext uri="{FF2B5EF4-FFF2-40B4-BE49-F238E27FC236}">
                  <a16:creationId xmlns:a16="http://schemas.microsoft.com/office/drawing/2014/main" id="{75AA16AE-7CCF-574F-3E64-37B754587DA3}"/>
                </a:ext>
              </a:extLst>
            </p:cNvPr>
            <p:cNvGrpSpPr>
              <a:grpSpLocks noChangeAspect="1"/>
            </p:cNvGrpSpPr>
            <p:nvPr/>
          </p:nvGrpSpPr>
          <p:grpSpPr>
            <a:xfrm>
              <a:off x="2957972" y="3943123"/>
              <a:ext cx="1353312" cy="337184"/>
              <a:chOff x="5060950" y="5251450"/>
              <a:chExt cx="1236133" cy="332317"/>
            </a:xfrm>
          </p:grpSpPr>
          <p:sp>
            <p:nvSpPr>
              <p:cNvPr id="12" name="Line 5">
                <a:extLst>
                  <a:ext uri="{FF2B5EF4-FFF2-40B4-BE49-F238E27FC236}">
                    <a16:creationId xmlns:a16="http://schemas.microsoft.com/office/drawing/2014/main" id="{B4A7CA4D-992A-6273-C99F-3AEE6E5F4FDA}"/>
                  </a:ext>
                </a:extLst>
              </p:cNvPr>
              <p:cNvSpPr>
                <a:spLocks noChangeShapeType="1"/>
              </p:cNvSpPr>
              <p:nvPr/>
            </p:nvSpPr>
            <p:spPr bwMode="auto">
              <a:xfrm>
                <a:off x="6010427"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3" name="Line 6">
                <a:extLst>
                  <a:ext uri="{FF2B5EF4-FFF2-40B4-BE49-F238E27FC236}">
                    <a16:creationId xmlns:a16="http://schemas.microsoft.com/office/drawing/2014/main" id="{8242C928-41D4-6360-644B-3C4262A68FC6}"/>
                  </a:ext>
                </a:extLst>
              </p:cNvPr>
              <p:cNvSpPr>
                <a:spLocks noChangeShapeType="1"/>
              </p:cNvSpPr>
              <p:nvPr/>
            </p:nvSpPr>
            <p:spPr bwMode="auto">
              <a:xfrm>
                <a:off x="6097120"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4" name="Line 7">
                <a:extLst>
                  <a:ext uri="{FF2B5EF4-FFF2-40B4-BE49-F238E27FC236}">
                    <a16:creationId xmlns:a16="http://schemas.microsoft.com/office/drawing/2014/main" id="{E7C6057B-63F4-842F-9259-F63CB0654790}"/>
                  </a:ext>
                </a:extLst>
              </p:cNvPr>
              <p:cNvSpPr>
                <a:spLocks noChangeShapeType="1"/>
              </p:cNvSpPr>
              <p:nvPr/>
            </p:nvSpPr>
            <p:spPr bwMode="auto">
              <a:xfrm>
                <a:off x="6183813"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5" name="Line 8">
                <a:extLst>
                  <a:ext uri="{FF2B5EF4-FFF2-40B4-BE49-F238E27FC236}">
                    <a16:creationId xmlns:a16="http://schemas.microsoft.com/office/drawing/2014/main" id="{51C08F21-0B2F-07B3-D252-CD66470832DE}"/>
                  </a:ext>
                </a:extLst>
              </p:cNvPr>
              <p:cNvSpPr>
                <a:spLocks noChangeShapeType="1"/>
              </p:cNvSpPr>
              <p:nvPr/>
            </p:nvSpPr>
            <p:spPr bwMode="auto">
              <a:xfrm>
                <a:off x="5170587"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6" name="Line 9">
                <a:extLst>
                  <a:ext uri="{FF2B5EF4-FFF2-40B4-BE49-F238E27FC236}">
                    <a16:creationId xmlns:a16="http://schemas.microsoft.com/office/drawing/2014/main" id="{02EFFAAF-EA41-6582-ED88-CF63C681247D}"/>
                  </a:ext>
                </a:extLst>
              </p:cNvPr>
              <p:cNvSpPr>
                <a:spLocks noChangeShapeType="1"/>
              </p:cNvSpPr>
              <p:nvPr/>
            </p:nvSpPr>
            <p:spPr bwMode="auto">
              <a:xfrm>
                <a:off x="5257280"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7" name="Line 10">
                <a:extLst>
                  <a:ext uri="{FF2B5EF4-FFF2-40B4-BE49-F238E27FC236}">
                    <a16:creationId xmlns:a16="http://schemas.microsoft.com/office/drawing/2014/main" id="{0927A604-5CC8-BEFD-C5A1-DF747D4E2DE1}"/>
                  </a:ext>
                </a:extLst>
              </p:cNvPr>
              <p:cNvSpPr>
                <a:spLocks noChangeShapeType="1"/>
              </p:cNvSpPr>
              <p:nvPr/>
            </p:nvSpPr>
            <p:spPr bwMode="auto">
              <a:xfrm>
                <a:off x="5346683" y="5324175"/>
                <a:ext cx="0" cy="184223"/>
              </a:xfrm>
              <a:prstGeom prst="lin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8" name="Oval 11">
                <a:extLst>
                  <a:ext uri="{FF2B5EF4-FFF2-40B4-BE49-F238E27FC236}">
                    <a16:creationId xmlns:a16="http://schemas.microsoft.com/office/drawing/2014/main" id="{86AF28D3-258D-4D16-A1CE-5B8A9AD9F426}"/>
                  </a:ext>
                </a:extLst>
              </p:cNvPr>
              <p:cNvSpPr>
                <a:spLocks noChangeArrowheads="1"/>
              </p:cNvSpPr>
              <p:nvPr/>
            </p:nvSpPr>
            <p:spPr bwMode="auto">
              <a:xfrm>
                <a:off x="5609471" y="5345848"/>
                <a:ext cx="135458" cy="140877"/>
              </a:xfrm>
              <a:prstGeom prst="ellipse">
                <a:avLst/>
              </a:prstGeom>
              <a:noFill/>
              <a:ln w="25400" cap="flat">
                <a:solidFill>
                  <a:schemeClr val="accent4">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17074"/>
                  </a:solidFill>
                  <a:effectLst/>
                  <a:uLnTx/>
                  <a:uFillTx/>
                  <a:latin typeface="Metropolis"/>
                  <a:ea typeface="+mn-ea"/>
                  <a:cs typeface="+mn-cs"/>
                </a:endParaRPr>
              </a:p>
            </p:txBody>
          </p:sp>
          <p:sp>
            <p:nvSpPr>
              <p:cNvPr id="19" name="Rectangle 18">
                <a:extLst>
                  <a:ext uri="{FF2B5EF4-FFF2-40B4-BE49-F238E27FC236}">
                    <a16:creationId xmlns:a16="http://schemas.microsoft.com/office/drawing/2014/main" id="{4948AC81-1B66-007F-29B3-7C8F6132418F}"/>
                  </a:ext>
                </a:extLst>
              </p:cNvPr>
              <p:cNvSpPr/>
              <p:nvPr/>
            </p:nvSpPr>
            <p:spPr>
              <a:xfrm>
                <a:off x="5060950" y="5251450"/>
                <a:ext cx="1236133" cy="332317"/>
              </a:xfrm>
              <a:prstGeom prst="rect">
                <a:avLst/>
              </a:prstGeom>
              <a:noFill/>
              <a:ln w="25400">
                <a:solidFill>
                  <a:schemeClr val="accent4">
                    <a:lumMod val="75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Metropolis"/>
                  <a:ea typeface="+mn-ea"/>
                  <a:cs typeface="+mn-cs"/>
                </a:endParaRPr>
              </a:p>
            </p:txBody>
          </p:sp>
        </p:grpSp>
      </p:grpSp>
      <p:sp>
        <p:nvSpPr>
          <p:cNvPr id="36" name="Rectangle 35">
            <a:extLst>
              <a:ext uri="{FF2B5EF4-FFF2-40B4-BE49-F238E27FC236}">
                <a16:creationId xmlns:a16="http://schemas.microsoft.com/office/drawing/2014/main" id="{CE1A842D-1DA8-00C5-CE2C-F66D9EA6D060}"/>
              </a:ext>
            </a:extLst>
          </p:cNvPr>
          <p:cNvSpPr/>
          <p:nvPr/>
        </p:nvSpPr>
        <p:spPr>
          <a:xfrm>
            <a:off x="3454883" y="1600201"/>
            <a:ext cx="5044376" cy="1508112"/>
          </a:xfrm>
          <a:prstGeom prst="rect">
            <a:avLst/>
          </a:prstGeom>
          <a:noFill/>
          <a:ln w="9525">
            <a:gradFill flip="none" rotWithShape="1">
              <a:gsLst>
                <a:gs pos="60000">
                  <a:srgbClr val="316E60"/>
                </a:gs>
                <a:gs pos="100000">
                  <a:schemeClr val="accent2"/>
                </a:gs>
                <a:gs pos="0">
                  <a:schemeClr val="accent4"/>
                </a:gs>
              </a:gsLst>
              <a:lin ang="10800000" scaled="1"/>
              <a:tileRect/>
            </a:gradFill>
          </a:ln>
          <a:effectLst/>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37" name="Group 36">
            <a:extLst>
              <a:ext uri="{FF2B5EF4-FFF2-40B4-BE49-F238E27FC236}">
                <a16:creationId xmlns:a16="http://schemas.microsoft.com/office/drawing/2014/main" id="{EC67E44B-C58C-D9ED-C21F-84528D96F1A1}"/>
              </a:ext>
            </a:extLst>
          </p:cNvPr>
          <p:cNvGrpSpPr/>
          <p:nvPr/>
        </p:nvGrpSpPr>
        <p:grpSpPr>
          <a:xfrm>
            <a:off x="3503665" y="2634511"/>
            <a:ext cx="4969919" cy="261610"/>
            <a:chOff x="1459107" y="3405840"/>
            <a:chExt cx="4969919" cy="261610"/>
          </a:xfrm>
        </p:grpSpPr>
        <p:sp>
          <p:nvSpPr>
            <p:cNvPr id="38" name="Rectangle 37">
              <a:extLst>
                <a:ext uri="{FF2B5EF4-FFF2-40B4-BE49-F238E27FC236}">
                  <a16:creationId xmlns:a16="http://schemas.microsoft.com/office/drawing/2014/main" id="{FFE59EF4-F6FF-FF57-B96F-863C8F88EB55}"/>
                </a:ext>
              </a:extLst>
            </p:cNvPr>
            <p:cNvSpPr/>
            <p:nvPr/>
          </p:nvSpPr>
          <p:spPr>
            <a:xfrm>
              <a:off x="1459107" y="3405840"/>
              <a:ext cx="81504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1B1D36"/>
                  </a:solidFill>
                  <a:effectLst/>
                  <a:uLnTx/>
                  <a:uFillTx/>
                  <a:latin typeface="Metropolis"/>
                  <a:ea typeface="+mn-ea"/>
                  <a:cs typeface="+mn-cs"/>
                </a:rPr>
                <a:t>vSphere</a:t>
              </a:r>
            </a:p>
          </p:txBody>
        </p:sp>
        <p:sp>
          <p:nvSpPr>
            <p:cNvPr id="39" name="Rectangle 38">
              <a:extLst>
                <a:ext uri="{FF2B5EF4-FFF2-40B4-BE49-F238E27FC236}">
                  <a16:creationId xmlns:a16="http://schemas.microsoft.com/office/drawing/2014/main" id="{0D8C42B1-1552-E57D-A724-405CBB3D5F97}"/>
                </a:ext>
              </a:extLst>
            </p:cNvPr>
            <p:cNvSpPr/>
            <p:nvPr/>
          </p:nvSpPr>
          <p:spPr>
            <a:xfrm>
              <a:off x="5511216" y="3405840"/>
              <a:ext cx="917810" cy="261610"/>
            </a:xfrm>
            <a:prstGeom prst="rect">
              <a:avLst/>
            </a:prstGeom>
          </p:spPr>
          <p:txBody>
            <a:bodyPr wrap="square" anchor="ctr">
              <a:spAutoFit/>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1B1D36"/>
                  </a:solidFill>
                  <a:effectLst/>
                  <a:uLnTx/>
                  <a:uFillTx/>
                  <a:latin typeface="Metropolis"/>
                  <a:ea typeface="+mn-ea"/>
                  <a:cs typeface="+mn-cs"/>
                </a:rPr>
                <a:t>vSAN ESA</a:t>
              </a:r>
            </a:p>
          </p:txBody>
        </p:sp>
        <p:cxnSp>
          <p:nvCxnSpPr>
            <p:cNvPr id="40" name="Straight Connector 39">
              <a:extLst>
                <a:ext uri="{FF2B5EF4-FFF2-40B4-BE49-F238E27FC236}">
                  <a16:creationId xmlns:a16="http://schemas.microsoft.com/office/drawing/2014/main" id="{BFB9188E-39A4-CC86-8D7E-E6FBE683EBE1}"/>
                </a:ext>
              </a:extLst>
            </p:cNvPr>
            <p:cNvCxnSpPr>
              <a:cxnSpLocks/>
            </p:cNvCxnSpPr>
            <p:nvPr/>
          </p:nvCxnSpPr>
          <p:spPr bwMode="gray">
            <a:xfrm flipH="1">
              <a:off x="2271066" y="3536645"/>
              <a:ext cx="1661447" cy="0"/>
            </a:xfrm>
            <a:prstGeom prst="line">
              <a:avLst/>
            </a:prstGeom>
            <a:ln w="9525">
              <a:solidFill>
                <a:schemeClr val="accent2"/>
              </a:solidFill>
              <a:miter lim="800000"/>
              <a:tailEnd type="triangle" w="lg" len="me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9E503AE5-E50A-2D85-9D16-6AA69A657719}"/>
                </a:ext>
              </a:extLst>
            </p:cNvPr>
            <p:cNvCxnSpPr>
              <a:cxnSpLocks/>
              <a:endCxn id="39" idx="1"/>
            </p:cNvCxnSpPr>
            <p:nvPr/>
          </p:nvCxnSpPr>
          <p:spPr bwMode="gray">
            <a:xfrm>
              <a:off x="3932513" y="3536645"/>
              <a:ext cx="1578703" cy="0"/>
            </a:xfrm>
            <a:prstGeom prst="line">
              <a:avLst/>
            </a:prstGeom>
            <a:ln w="9525">
              <a:gradFill flip="none" rotWithShape="1">
                <a:gsLst>
                  <a:gs pos="100000">
                    <a:schemeClr val="accent2"/>
                  </a:gs>
                  <a:gs pos="0">
                    <a:schemeClr val="accent4"/>
                  </a:gs>
                </a:gsLst>
                <a:lin ang="10800000" scaled="1"/>
                <a:tileRect/>
              </a:gradFill>
              <a:miter lim="800000"/>
              <a:tailEnd type="triangle" w="lg" len="med"/>
            </a:ln>
          </p:spPr>
          <p:style>
            <a:lnRef idx="1">
              <a:schemeClr val="accent1"/>
            </a:lnRef>
            <a:fillRef idx="0">
              <a:schemeClr val="accent1"/>
            </a:fillRef>
            <a:effectRef idx="0">
              <a:schemeClr val="accent1"/>
            </a:effectRef>
            <a:fontRef idx="minor">
              <a:schemeClr val="tx1"/>
            </a:fontRef>
          </p:style>
        </p:cxnSp>
      </p:grpSp>
      <p:sp>
        <p:nvSpPr>
          <p:cNvPr id="42" name="Rectangle 41">
            <a:extLst>
              <a:ext uri="{FF2B5EF4-FFF2-40B4-BE49-F238E27FC236}">
                <a16:creationId xmlns:a16="http://schemas.microsoft.com/office/drawing/2014/main" id="{3ACC61A9-5788-AF79-6C9E-647B3B16B911}"/>
              </a:ext>
            </a:extLst>
          </p:cNvPr>
          <p:cNvSpPr/>
          <p:nvPr/>
        </p:nvSpPr>
        <p:spPr>
          <a:xfrm>
            <a:off x="3454883" y="3619907"/>
            <a:ext cx="5047488" cy="1355941"/>
          </a:xfrm>
          <a:prstGeom prst="rect">
            <a:avLst/>
          </a:prstGeom>
          <a:solidFill>
            <a:schemeClr val="accent2"/>
          </a:solidFill>
          <a:ln w="12700">
            <a:noFill/>
            <a:prstDash val="sysDot"/>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3" name="Rectangle 42">
            <a:extLst>
              <a:ext uri="{FF2B5EF4-FFF2-40B4-BE49-F238E27FC236}">
                <a16:creationId xmlns:a16="http://schemas.microsoft.com/office/drawing/2014/main" id="{55587BE5-666C-D389-F725-D46D224A4929}"/>
              </a:ext>
            </a:extLst>
          </p:cNvPr>
          <p:cNvSpPr/>
          <p:nvPr/>
        </p:nvSpPr>
        <p:spPr>
          <a:xfrm>
            <a:off x="4990755" y="4757531"/>
            <a:ext cx="1975745" cy="193899"/>
          </a:xfrm>
          <a:prstGeom prst="rect">
            <a:avLst/>
          </a:prstGeom>
          <a:noFill/>
        </p:spPr>
        <p:txBody>
          <a:bodyPr wrap="square" lIns="0" tIns="0" rIns="0" bIns="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panose="020B0604020202020204"/>
                <a:ea typeface="+mn-ea"/>
                <a:cs typeface="+mn-cs"/>
              </a:rPr>
              <a:t>vSAN ESA Datastore</a:t>
            </a:r>
          </a:p>
        </p:txBody>
      </p:sp>
      <p:sp>
        <p:nvSpPr>
          <p:cNvPr id="44" name="Freeform 16">
            <a:extLst>
              <a:ext uri="{FF2B5EF4-FFF2-40B4-BE49-F238E27FC236}">
                <a16:creationId xmlns:a16="http://schemas.microsoft.com/office/drawing/2014/main" id="{9B0057CE-AB69-EC8A-760F-443B20DE9E45}"/>
              </a:ext>
            </a:extLst>
          </p:cNvPr>
          <p:cNvSpPr/>
          <p:nvPr/>
        </p:nvSpPr>
        <p:spPr>
          <a:xfrm>
            <a:off x="6550177" y="4085865"/>
            <a:ext cx="401436" cy="52386"/>
          </a:xfrm>
          <a:custGeom>
            <a:avLst/>
            <a:gdLst/>
            <a:ahLst/>
            <a:cxnLst/>
            <a:rect l="l" t="t" r="r" b="b"/>
            <a:pathLst>
              <a:path w="233809" h="30510">
                <a:moveTo>
                  <a:pt x="203151" y="0"/>
                </a:moveTo>
                <a:lnTo>
                  <a:pt x="233809" y="0"/>
                </a:lnTo>
                <a:lnTo>
                  <a:pt x="233809" y="30510"/>
                </a:lnTo>
                <a:lnTo>
                  <a:pt x="203151" y="30510"/>
                </a:lnTo>
                <a:close/>
                <a:moveTo>
                  <a:pt x="101650" y="0"/>
                </a:moveTo>
                <a:lnTo>
                  <a:pt x="132160" y="0"/>
                </a:lnTo>
                <a:lnTo>
                  <a:pt x="132160" y="30510"/>
                </a:lnTo>
                <a:lnTo>
                  <a:pt x="101650" y="30510"/>
                </a:lnTo>
                <a:close/>
                <a:moveTo>
                  <a:pt x="0" y="0"/>
                </a:moveTo>
                <a:lnTo>
                  <a:pt x="30510" y="0"/>
                </a:lnTo>
                <a:lnTo>
                  <a:pt x="30510" y="30510"/>
                </a:lnTo>
                <a:lnTo>
                  <a:pt x="0" y="30510"/>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99"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 name="Rectangle 44">
            <a:extLst>
              <a:ext uri="{FF2B5EF4-FFF2-40B4-BE49-F238E27FC236}">
                <a16:creationId xmlns:a16="http://schemas.microsoft.com/office/drawing/2014/main" id="{C299E4A1-6D2B-B123-A9FC-428BE6C8B4A8}"/>
              </a:ext>
            </a:extLst>
          </p:cNvPr>
          <p:cNvSpPr/>
          <p:nvPr/>
        </p:nvSpPr>
        <p:spPr>
          <a:xfrm>
            <a:off x="3549351" y="3704984"/>
            <a:ext cx="1164376" cy="921932"/>
          </a:xfrm>
          <a:prstGeom prst="rect">
            <a:avLst/>
          </a:prstGeom>
          <a:noFill/>
          <a:ln w="15875">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46" name="Graphic 45">
            <a:extLst>
              <a:ext uri="{FF2B5EF4-FFF2-40B4-BE49-F238E27FC236}">
                <a16:creationId xmlns:a16="http://schemas.microsoft.com/office/drawing/2014/main" id="{EBFC74DF-CD56-14A1-6AE3-A94EDF9B415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697909" y="3807938"/>
            <a:ext cx="350735" cy="257395"/>
          </a:xfrm>
          <a:prstGeom prst="rect">
            <a:avLst/>
          </a:prstGeom>
        </p:spPr>
      </p:pic>
      <p:pic>
        <p:nvPicPr>
          <p:cNvPr id="47" name="Graphic 46">
            <a:extLst>
              <a:ext uri="{FF2B5EF4-FFF2-40B4-BE49-F238E27FC236}">
                <a16:creationId xmlns:a16="http://schemas.microsoft.com/office/drawing/2014/main" id="{0665D22E-8188-AD6B-4A4E-ACFB6303829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11473" y="3807938"/>
            <a:ext cx="350735" cy="257395"/>
          </a:xfrm>
          <a:prstGeom prst="rect">
            <a:avLst/>
          </a:prstGeom>
        </p:spPr>
      </p:pic>
      <p:pic>
        <p:nvPicPr>
          <p:cNvPr id="48" name="Graphic 47">
            <a:extLst>
              <a:ext uri="{FF2B5EF4-FFF2-40B4-BE49-F238E27FC236}">
                <a16:creationId xmlns:a16="http://schemas.microsoft.com/office/drawing/2014/main" id="{41855B83-DB1E-0E9E-5243-7D679274623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697909" y="4238340"/>
            <a:ext cx="350735" cy="257395"/>
          </a:xfrm>
          <a:prstGeom prst="rect">
            <a:avLst/>
          </a:prstGeom>
        </p:spPr>
      </p:pic>
      <p:pic>
        <p:nvPicPr>
          <p:cNvPr id="49" name="Graphic 48">
            <a:extLst>
              <a:ext uri="{FF2B5EF4-FFF2-40B4-BE49-F238E27FC236}">
                <a16:creationId xmlns:a16="http://schemas.microsoft.com/office/drawing/2014/main" id="{6D18BA72-F6CD-4631-09BC-41152E208B1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211473" y="4238340"/>
            <a:ext cx="350735" cy="257395"/>
          </a:xfrm>
          <a:prstGeom prst="rect">
            <a:avLst/>
          </a:prstGeom>
        </p:spPr>
      </p:pic>
      <p:sp>
        <p:nvSpPr>
          <p:cNvPr id="50" name="Rectangle 49">
            <a:extLst>
              <a:ext uri="{FF2B5EF4-FFF2-40B4-BE49-F238E27FC236}">
                <a16:creationId xmlns:a16="http://schemas.microsoft.com/office/drawing/2014/main" id="{86897C7C-BDCC-2E55-CDE4-023D3E1CE38B}"/>
              </a:ext>
            </a:extLst>
          </p:cNvPr>
          <p:cNvSpPr/>
          <p:nvPr/>
        </p:nvSpPr>
        <p:spPr>
          <a:xfrm>
            <a:off x="5096998" y="3704984"/>
            <a:ext cx="1164376" cy="921932"/>
          </a:xfrm>
          <a:prstGeom prst="rect">
            <a:avLst/>
          </a:prstGeom>
          <a:noFill/>
          <a:ln w="15875">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51" name="Graphic 50">
            <a:extLst>
              <a:ext uri="{FF2B5EF4-FFF2-40B4-BE49-F238E27FC236}">
                <a16:creationId xmlns:a16="http://schemas.microsoft.com/office/drawing/2014/main" id="{2C78DB57-E451-6E58-611F-A1BCFDB3399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245556" y="3807938"/>
            <a:ext cx="350735" cy="257395"/>
          </a:xfrm>
          <a:prstGeom prst="rect">
            <a:avLst/>
          </a:prstGeom>
        </p:spPr>
      </p:pic>
      <p:pic>
        <p:nvPicPr>
          <p:cNvPr id="52" name="Graphic 51">
            <a:extLst>
              <a:ext uri="{FF2B5EF4-FFF2-40B4-BE49-F238E27FC236}">
                <a16:creationId xmlns:a16="http://schemas.microsoft.com/office/drawing/2014/main" id="{814F46B5-355B-BC23-0B0C-D69CB8C6528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759120" y="3807938"/>
            <a:ext cx="350735" cy="257395"/>
          </a:xfrm>
          <a:prstGeom prst="rect">
            <a:avLst/>
          </a:prstGeom>
        </p:spPr>
      </p:pic>
      <p:pic>
        <p:nvPicPr>
          <p:cNvPr id="53" name="Graphic 52">
            <a:extLst>
              <a:ext uri="{FF2B5EF4-FFF2-40B4-BE49-F238E27FC236}">
                <a16:creationId xmlns:a16="http://schemas.microsoft.com/office/drawing/2014/main" id="{99B3AFAB-E998-A52F-4888-5AED2995D4B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245556" y="4238340"/>
            <a:ext cx="350735" cy="257395"/>
          </a:xfrm>
          <a:prstGeom prst="rect">
            <a:avLst/>
          </a:prstGeom>
        </p:spPr>
      </p:pic>
      <p:pic>
        <p:nvPicPr>
          <p:cNvPr id="54" name="Graphic 53">
            <a:extLst>
              <a:ext uri="{FF2B5EF4-FFF2-40B4-BE49-F238E27FC236}">
                <a16:creationId xmlns:a16="http://schemas.microsoft.com/office/drawing/2014/main" id="{04EBDDBA-3CD9-A89D-4006-8C1023DE005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759120" y="4238340"/>
            <a:ext cx="350735" cy="257395"/>
          </a:xfrm>
          <a:prstGeom prst="rect">
            <a:avLst/>
          </a:prstGeom>
        </p:spPr>
      </p:pic>
      <p:sp>
        <p:nvSpPr>
          <p:cNvPr id="55" name="Rectangle 54">
            <a:extLst>
              <a:ext uri="{FF2B5EF4-FFF2-40B4-BE49-F238E27FC236}">
                <a16:creationId xmlns:a16="http://schemas.microsoft.com/office/drawing/2014/main" id="{D385EA10-4D23-5D6F-B983-B44C46A8D525}"/>
              </a:ext>
            </a:extLst>
          </p:cNvPr>
          <p:cNvSpPr/>
          <p:nvPr/>
        </p:nvSpPr>
        <p:spPr>
          <a:xfrm>
            <a:off x="7240415" y="3704984"/>
            <a:ext cx="1164376" cy="921932"/>
          </a:xfrm>
          <a:prstGeom prst="rect">
            <a:avLst/>
          </a:prstGeom>
          <a:noFill/>
          <a:ln w="15875">
            <a:solidFill>
              <a:schemeClr val="bg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marL="60325" marR="0" lvl="0" indent="0" algn="ctr" defTabSz="914400" rtl="0" eaLnBrk="1" fontAlgn="auto" latinLnBrk="0" hangingPunct="1">
              <a:lnSpc>
                <a:spcPct val="100000"/>
              </a:lnSpc>
              <a:spcBef>
                <a:spcPts val="0"/>
              </a:spcBef>
              <a:spcAft>
                <a:spcPts val="80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56" name="Graphic 55">
            <a:extLst>
              <a:ext uri="{FF2B5EF4-FFF2-40B4-BE49-F238E27FC236}">
                <a16:creationId xmlns:a16="http://schemas.microsoft.com/office/drawing/2014/main" id="{C26697A0-B2B3-E21A-AB5F-DA5F4EFE526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388973" y="3807938"/>
            <a:ext cx="350735" cy="257395"/>
          </a:xfrm>
          <a:prstGeom prst="rect">
            <a:avLst/>
          </a:prstGeom>
        </p:spPr>
      </p:pic>
      <p:pic>
        <p:nvPicPr>
          <p:cNvPr id="57" name="Graphic 56">
            <a:extLst>
              <a:ext uri="{FF2B5EF4-FFF2-40B4-BE49-F238E27FC236}">
                <a16:creationId xmlns:a16="http://schemas.microsoft.com/office/drawing/2014/main" id="{E7EFCE90-A257-1362-FDAD-775B0FA00FD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902537" y="3807938"/>
            <a:ext cx="350735" cy="257395"/>
          </a:xfrm>
          <a:prstGeom prst="rect">
            <a:avLst/>
          </a:prstGeom>
        </p:spPr>
      </p:pic>
      <p:pic>
        <p:nvPicPr>
          <p:cNvPr id="58" name="Graphic 57">
            <a:extLst>
              <a:ext uri="{FF2B5EF4-FFF2-40B4-BE49-F238E27FC236}">
                <a16:creationId xmlns:a16="http://schemas.microsoft.com/office/drawing/2014/main" id="{743C9A11-CAA1-CBC0-E0DB-59E97D1B65D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388973" y="4238340"/>
            <a:ext cx="350735" cy="257395"/>
          </a:xfrm>
          <a:prstGeom prst="rect">
            <a:avLst/>
          </a:prstGeom>
        </p:spPr>
      </p:pic>
      <p:pic>
        <p:nvPicPr>
          <p:cNvPr id="59" name="Graphic 58">
            <a:extLst>
              <a:ext uri="{FF2B5EF4-FFF2-40B4-BE49-F238E27FC236}">
                <a16:creationId xmlns:a16="http://schemas.microsoft.com/office/drawing/2014/main" id="{4AFEFD4B-8712-7199-A25D-2A594482806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902537" y="4238340"/>
            <a:ext cx="350735" cy="257395"/>
          </a:xfrm>
          <a:prstGeom prst="rect">
            <a:avLst/>
          </a:prstGeom>
        </p:spPr>
      </p:pic>
      <p:sp>
        <p:nvSpPr>
          <p:cNvPr id="60" name="Rectangle 59">
            <a:extLst>
              <a:ext uri="{FF2B5EF4-FFF2-40B4-BE49-F238E27FC236}">
                <a16:creationId xmlns:a16="http://schemas.microsoft.com/office/drawing/2014/main" id="{BAFEFB50-705A-561D-9341-7528950BD7EF}"/>
              </a:ext>
            </a:extLst>
          </p:cNvPr>
          <p:cNvSpPr/>
          <p:nvPr/>
        </p:nvSpPr>
        <p:spPr>
          <a:xfrm>
            <a:off x="7346351" y="4091864"/>
            <a:ext cx="952505" cy="138499"/>
          </a:xfrm>
          <a:prstGeom prst="rect">
            <a:avLst/>
          </a:prstGeom>
          <a:noFill/>
        </p:spPr>
        <p:txBody>
          <a:bodyPr wrap="square" lIns="0" tIns="0" rIns="0" bIns="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panose="020B0604020202020204"/>
                <a:ea typeface="+mn-ea"/>
                <a:cs typeface="+mn-cs"/>
              </a:rPr>
              <a:t>Single tier</a:t>
            </a:r>
          </a:p>
        </p:txBody>
      </p:sp>
      <p:sp>
        <p:nvSpPr>
          <p:cNvPr id="61" name="Rectangle 60">
            <a:extLst>
              <a:ext uri="{FF2B5EF4-FFF2-40B4-BE49-F238E27FC236}">
                <a16:creationId xmlns:a16="http://schemas.microsoft.com/office/drawing/2014/main" id="{CE0ECA83-B712-3F15-0FBE-632513F5F51A}"/>
              </a:ext>
            </a:extLst>
          </p:cNvPr>
          <p:cNvSpPr/>
          <p:nvPr/>
        </p:nvSpPr>
        <p:spPr>
          <a:xfrm>
            <a:off x="5202934" y="4091864"/>
            <a:ext cx="952505" cy="138499"/>
          </a:xfrm>
          <a:prstGeom prst="rect">
            <a:avLst/>
          </a:prstGeom>
          <a:noFill/>
        </p:spPr>
        <p:txBody>
          <a:bodyPr wrap="square" lIns="0" tIns="0" rIns="0" bIns="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panose="020B0604020202020204"/>
                <a:ea typeface="+mn-ea"/>
                <a:cs typeface="+mn-cs"/>
              </a:rPr>
              <a:t>Single tier</a:t>
            </a:r>
          </a:p>
        </p:txBody>
      </p:sp>
      <p:sp>
        <p:nvSpPr>
          <p:cNvPr id="62" name="Rectangle 61">
            <a:extLst>
              <a:ext uri="{FF2B5EF4-FFF2-40B4-BE49-F238E27FC236}">
                <a16:creationId xmlns:a16="http://schemas.microsoft.com/office/drawing/2014/main" id="{D5DAF1FA-C768-1051-25E1-9EA0209D4DE2}"/>
              </a:ext>
            </a:extLst>
          </p:cNvPr>
          <p:cNvSpPr/>
          <p:nvPr/>
        </p:nvSpPr>
        <p:spPr>
          <a:xfrm>
            <a:off x="3655287" y="4091864"/>
            <a:ext cx="952505" cy="138499"/>
          </a:xfrm>
          <a:prstGeom prst="rect">
            <a:avLst/>
          </a:prstGeom>
          <a:noFill/>
        </p:spPr>
        <p:txBody>
          <a:bodyPr wrap="square" lIns="0" tIns="0" rIns="0" bIns="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panose="020B0604020202020204"/>
                <a:ea typeface="+mn-ea"/>
                <a:cs typeface="+mn-cs"/>
              </a:rPr>
              <a:t>Single tier</a:t>
            </a:r>
          </a:p>
        </p:txBody>
      </p:sp>
      <p:grpSp>
        <p:nvGrpSpPr>
          <p:cNvPr id="72" name="Picture Placeholder 84" descr="Snapshot&#10;">
            <a:extLst>
              <a:ext uri="{FF2B5EF4-FFF2-40B4-BE49-F238E27FC236}">
                <a16:creationId xmlns:a16="http://schemas.microsoft.com/office/drawing/2014/main" id="{319D72FA-45A6-5DFA-8E2B-340DB29CDE68}"/>
              </a:ext>
            </a:extLst>
          </p:cNvPr>
          <p:cNvGrpSpPr/>
          <p:nvPr/>
        </p:nvGrpSpPr>
        <p:grpSpPr>
          <a:xfrm>
            <a:off x="5696270" y="1754940"/>
            <a:ext cx="561602" cy="381542"/>
            <a:chOff x="533691" y="5814442"/>
            <a:chExt cx="613486" cy="416791"/>
          </a:xfrm>
          <a:solidFill>
            <a:schemeClr val="accent4"/>
          </a:solidFill>
        </p:grpSpPr>
        <p:sp>
          <p:nvSpPr>
            <p:cNvPr id="73" name="Picture Placeholder 84">
              <a:extLst>
                <a:ext uri="{FF2B5EF4-FFF2-40B4-BE49-F238E27FC236}">
                  <a16:creationId xmlns:a16="http://schemas.microsoft.com/office/drawing/2014/main" id="{A67F2996-6C11-798A-CC13-E7C476B81C31}"/>
                </a:ext>
              </a:extLst>
            </p:cNvPr>
            <p:cNvSpPr/>
            <p:nvPr/>
          </p:nvSpPr>
          <p:spPr>
            <a:xfrm>
              <a:off x="677259" y="5947259"/>
              <a:ext cx="241599" cy="234010"/>
            </a:xfrm>
            <a:custGeom>
              <a:avLst/>
              <a:gdLst>
                <a:gd name="connsiteX0" fmla="*/ 0 w 241599"/>
                <a:gd name="connsiteY0" fmla="*/ 117005 h 234010"/>
                <a:gd name="connsiteX1" fmla="*/ 120800 w 241599"/>
                <a:gd name="connsiteY1" fmla="*/ 234010 h 234010"/>
                <a:gd name="connsiteX2" fmla="*/ 241600 w 241599"/>
                <a:gd name="connsiteY2" fmla="*/ 117005 h 234010"/>
                <a:gd name="connsiteX3" fmla="*/ 120800 w 241599"/>
                <a:gd name="connsiteY3" fmla="*/ 0 h 234010"/>
                <a:gd name="connsiteX4" fmla="*/ 0 w 241599"/>
                <a:gd name="connsiteY4" fmla="*/ 117005 h 234010"/>
                <a:gd name="connsiteX5" fmla="*/ 226421 w 241599"/>
                <a:gd name="connsiteY5" fmla="*/ 117005 h 234010"/>
                <a:gd name="connsiteX6" fmla="*/ 121432 w 241599"/>
                <a:gd name="connsiteY6" fmla="*/ 218199 h 234010"/>
                <a:gd name="connsiteX7" fmla="*/ 16444 w 241599"/>
                <a:gd name="connsiteY7" fmla="*/ 117005 h 234010"/>
                <a:gd name="connsiteX8" fmla="*/ 121432 w 241599"/>
                <a:gd name="connsiteY8" fmla="*/ 15812 h 234010"/>
                <a:gd name="connsiteX9" fmla="*/ 226421 w 241599"/>
                <a:gd name="connsiteY9" fmla="*/ 117005 h 23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599" h="234010">
                  <a:moveTo>
                    <a:pt x="0" y="117005"/>
                  </a:moveTo>
                  <a:cubicBezTo>
                    <a:pt x="0" y="181516"/>
                    <a:pt x="54392" y="234010"/>
                    <a:pt x="120800" y="234010"/>
                  </a:cubicBezTo>
                  <a:cubicBezTo>
                    <a:pt x="187208" y="234010"/>
                    <a:pt x="241600" y="181516"/>
                    <a:pt x="241600" y="117005"/>
                  </a:cubicBezTo>
                  <a:cubicBezTo>
                    <a:pt x="241600" y="52494"/>
                    <a:pt x="187208" y="0"/>
                    <a:pt x="120800" y="0"/>
                  </a:cubicBezTo>
                  <a:cubicBezTo>
                    <a:pt x="54392" y="0"/>
                    <a:pt x="0" y="52494"/>
                    <a:pt x="0" y="117005"/>
                  </a:cubicBezTo>
                  <a:close/>
                  <a:moveTo>
                    <a:pt x="226421" y="117005"/>
                  </a:moveTo>
                  <a:cubicBezTo>
                    <a:pt x="226421" y="172662"/>
                    <a:pt x="178986" y="218199"/>
                    <a:pt x="121432" y="218199"/>
                  </a:cubicBezTo>
                  <a:cubicBezTo>
                    <a:pt x="63878" y="218199"/>
                    <a:pt x="16444" y="172662"/>
                    <a:pt x="16444" y="117005"/>
                  </a:cubicBezTo>
                  <a:cubicBezTo>
                    <a:pt x="16444" y="61349"/>
                    <a:pt x="63878" y="15812"/>
                    <a:pt x="121432" y="15812"/>
                  </a:cubicBezTo>
                  <a:cubicBezTo>
                    <a:pt x="178986" y="15812"/>
                    <a:pt x="226421" y="61349"/>
                    <a:pt x="226421" y="11700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4" name="Picture Placeholder 84">
              <a:extLst>
                <a:ext uri="{FF2B5EF4-FFF2-40B4-BE49-F238E27FC236}">
                  <a16:creationId xmlns:a16="http://schemas.microsoft.com/office/drawing/2014/main" id="{67321E9E-42A5-3AC2-AD27-C4CA40D93555}"/>
                </a:ext>
              </a:extLst>
            </p:cNvPr>
            <p:cNvSpPr/>
            <p:nvPr/>
          </p:nvSpPr>
          <p:spPr>
            <a:xfrm>
              <a:off x="736711" y="6003548"/>
              <a:ext cx="122697" cy="118902"/>
            </a:xfrm>
            <a:custGeom>
              <a:avLst/>
              <a:gdLst>
                <a:gd name="connsiteX0" fmla="*/ 0 w 122697"/>
                <a:gd name="connsiteY0" fmla="*/ 60084 h 118902"/>
                <a:gd name="connsiteX1" fmla="*/ 15812 w 122697"/>
                <a:gd name="connsiteY1" fmla="*/ 60084 h 118902"/>
                <a:gd name="connsiteX2" fmla="*/ 61349 w 122697"/>
                <a:gd name="connsiteY2" fmla="*/ 16444 h 118902"/>
                <a:gd name="connsiteX3" fmla="*/ 106886 w 122697"/>
                <a:gd name="connsiteY3" fmla="*/ 60084 h 118902"/>
                <a:gd name="connsiteX4" fmla="*/ 61349 w 122697"/>
                <a:gd name="connsiteY4" fmla="*/ 103723 h 118902"/>
                <a:gd name="connsiteX5" fmla="*/ 55024 w 122697"/>
                <a:gd name="connsiteY5" fmla="*/ 103091 h 118902"/>
                <a:gd name="connsiteX6" fmla="*/ 55024 w 122697"/>
                <a:gd name="connsiteY6" fmla="*/ 118902 h 118902"/>
                <a:gd name="connsiteX7" fmla="*/ 61349 w 122697"/>
                <a:gd name="connsiteY7" fmla="*/ 118902 h 118902"/>
                <a:gd name="connsiteX8" fmla="*/ 122697 w 122697"/>
                <a:gd name="connsiteY8" fmla="*/ 59451 h 118902"/>
                <a:gd name="connsiteX9" fmla="*/ 61349 w 122697"/>
                <a:gd name="connsiteY9" fmla="*/ 0 h 118902"/>
                <a:gd name="connsiteX10" fmla="*/ 0 w 122697"/>
                <a:gd name="connsiteY10" fmla="*/ 60084 h 11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97" h="118902">
                  <a:moveTo>
                    <a:pt x="0" y="60084"/>
                  </a:moveTo>
                  <a:lnTo>
                    <a:pt x="15812" y="60084"/>
                  </a:lnTo>
                  <a:cubicBezTo>
                    <a:pt x="15812" y="36050"/>
                    <a:pt x="36683" y="16444"/>
                    <a:pt x="61349" y="16444"/>
                  </a:cubicBezTo>
                  <a:cubicBezTo>
                    <a:pt x="86647" y="16444"/>
                    <a:pt x="106886" y="36050"/>
                    <a:pt x="106886" y="60084"/>
                  </a:cubicBezTo>
                  <a:cubicBezTo>
                    <a:pt x="106886" y="84117"/>
                    <a:pt x="86647" y="103723"/>
                    <a:pt x="61349" y="103723"/>
                  </a:cubicBezTo>
                  <a:cubicBezTo>
                    <a:pt x="59451" y="103723"/>
                    <a:pt x="56921" y="103723"/>
                    <a:pt x="55024" y="103091"/>
                  </a:cubicBezTo>
                  <a:lnTo>
                    <a:pt x="55024" y="118902"/>
                  </a:lnTo>
                  <a:cubicBezTo>
                    <a:pt x="56921" y="118902"/>
                    <a:pt x="59451" y="118902"/>
                    <a:pt x="61349" y="118902"/>
                  </a:cubicBezTo>
                  <a:cubicBezTo>
                    <a:pt x="95501" y="118902"/>
                    <a:pt x="122697" y="92339"/>
                    <a:pt x="122697" y="59451"/>
                  </a:cubicBezTo>
                  <a:cubicBezTo>
                    <a:pt x="122697" y="26563"/>
                    <a:pt x="94869" y="0"/>
                    <a:pt x="61349" y="0"/>
                  </a:cubicBezTo>
                  <a:cubicBezTo>
                    <a:pt x="27828" y="1265"/>
                    <a:pt x="0" y="27828"/>
                    <a:pt x="0" y="6008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5" name="Picture Placeholder 84">
              <a:extLst>
                <a:ext uri="{FF2B5EF4-FFF2-40B4-BE49-F238E27FC236}">
                  <a16:creationId xmlns:a16="http://schemas.microsoft.com/office/drawing/2014/main" id="{A5F0C161-BBE2-0504-B83B-48BB87394ABD}"/>
                </a:ext>
              </a:extLst>
            </p:cNvPr>
            <p:cNvSpPr/>
            <p:nvPr/>
          </p:nvSpPr>
          <p:spPr>
            <a:xfrm>
              <a:off x="533691" y="5897927"/>
              <a:ext cx="533163" cy="333306"/>
            </a:xfrm>
            <a:custGeom>
              <a:avLst/>
              <a:gdLst>
                <a:gd name="connsiteX0" fmla="*/ 524309 w 533163"/>
                <a:gd name="connsiteY0" fmla="*/ 126492 h 333306"/>
                <a:gd name="connsiteX1" fmla="*/ 516720 w 533163"/>
                <a:gd name="connsiteY1" fmla="*/ 125860 h 333306"/>
                <a:gd name="connsiteX2" fmla="*/ 516720 w 533163"/>
                <a:gd name="connsiteY2" fmla="*/ 317495 h 333306"/>
                <a:gd name="connsiteX3" fmla="*/ 15812 w 533163"/>
                <a:gd name="connsiteY3" fmla="*/ 317495 h 333306"/>
                <a:gd name="connsiteX4" fmla="*/ 15812 w 533163"/>
                <a:gd name="connsiteY4" fmla="*/ 15812 h 333306"/>
                <a:gd name="connsiteX5" fmla="*/ 404774 w 533163"/>
                <a:gd name="connsiteY5" fmla="*/ 15812 h 333306"/>
                <a:gd name="connsiteX6" fmla="*/ 404142 w 533163"/>
                <a:gd name="connsiteY6" fmla="*/ 5692 h 333306"/>
                <a:gd name="connsiteX7" fmla="*/ 404142 w 533163"/>
                <a:gd name="connsiteY7" fmla="*/ 0 h 333306"/>
                <a:gd name="connsiteX8" fmla="*/ 10119 w 533163"/>
                <a:gd name="connsiteY8" fmla="*/ 0 h 333306"/>
                <a:gd name="connsiteX9" fmla="*/ 0 w 533163"/>
                <a:gd name="connsiteY9" fmla="*/ 10119 h 333306"/>
                <a:gd name="connsiteX10" fmla="*/ 0 w 533163"/>
                <a:gd name="connsiteY10" fmla="*/ 323187 h 333306"/>
                <a:gd name="connsiteX11" fmla="*/ 10119 w 533163"/>
                <a:gd name="connsiteY11" fmla="*/ 333306 h 333306"/>
                <a:gd name="connsiteX12" fmla="*/ 523044 w 533163"/>
                <a:gd name="connsiteY12" fmla="*/ 333306 h 333306"/>
                <a:gd name="connsiteX13" fmla="*/ 533164 w 533163"/>
                <a:gd name="connsiteY13" fmla="*/ 323187 h 333306"/>
                <a:gd name="connsiteX14" fmla="*/ 533164 w 533163"/>
                <a:gd name="connsiteY14" fmla="*/ 125860 h 333306"/>
                <a:gd name="connsiteX15" fmla="*/ 524309 w 533163"/>
                <a:gd name="connsiteY15" fmla="*/ 126492 h 33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3163" h="333306">
                  <a:moveTo>
                    <a:pt x="524309" y="126492"/>
                  </a:moveTo>
                  <a:cubicBezTo>
                    <a:pt x="521780" y="126492"/>
                    <a:pt x="519250" y="126492"/>
                    <a:pt x="516720" y="125860"/>
                  </a:cubicBezTo>
                  <a:lnTo>
                    <a:pt x="516720" y="317495"/>
                  </a:lnTo>
                  <a:lnTo>
                    <a:pt x="15812" y="317495"/>
                  </a:lnTo>
                  <a:lnTo>
                    <a:pt x="15812" y="15812"/>
                  </a:lnTo>
                  <a:lnTo>
                    <a:pt x="404774" y="15812"/>
                  </a:lnTo>
                  <a:cubicBezTo>
                    <a:pt x="404774" y="12649"/>
                    <a:pt x="404142" y="9487"/>
                    <a:pt x="404142" y="5692"/>
                  </a:cubicBezTo>
                  <a:cubicBezTo>
                    <a:pt x="404142" y="3795"/>
                    <a:pt x="404142" y="1897"/>
                    <a:pt x="404142" y="0"/>
                  </a:cubicBezTo>
                  <a:lnTo>
                    <a:pt x="10119" y="0"/>
                  </a:lnTo>
                  <a:cubicBezTo>
                    <a:pt x="4427" y="0"/>
                    <a:pt x="0" y="4427"/>
                    <a:pt x="0" y="10119"/>
                  </a:cubicBezTo>
                  <a:lnTo>
                    <a:pt x="0" y="323187"/>
                  </a:lnTo>
                  <a:cubicBezTo>
                    <a:pt x="0" y="328879"/>
                    <a:pt x="4427" y="333306"/>
                    <a:pt x="10119" y="333306"/>
                  </a:cubicBezTo>
                  <a:lnTo>
                    <a:pt x="523044" y="333306"/>
                  </a:lnTo>
                  <a:cubicBezTo>
                    <a:pt x="528737" y="333306"/>
                    <a:pt x="533164" y="328879"/>
                    <a:pt x="533164" y="323187"/>
                  </a:cubicBezTo>
                  <a:lnTo>
                    <a:pt x="533164" y="125860"/>
                  </a:lnTo>
                  <a:cubicBezTo>
                    <a:pt x="530002" y="126492"/>
                    <a:pt x="527472" y="126492"/>
                    <a:pt x="524309" y="12649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6" name="Picture Placeholder 84">
              <a:extLst>
                <a:ext uri="{FF2B5EF4-FFF2-40B4-BE49-F238E27FC236}">
                  <a16:creationId xmlns:a16="http://schemas.microsoft.com/office/drawing/2014/main" id="{8EE05719-D490-6E5D-0688-D88CD107CD0B}"/>
                </a:ext>
              </a:extLst>
            </p:cNvPr>
            <p:cNvSpPr/>
            <p:nvPr/>
          </p:nvSpPr>
          <p:spPr>
            <a:xfrm>
              <a:off x="968823" y="5814442"/>
              <a:ext cx="178353" cy="178353"/>
            </a:xfrm>
            <a:custGeom>
              <a:avLst/>
              <a:gdLst>
                <a:gd name="connsiteX0" fmla="*/ 89177 w 178353"/>
                <a:gd name="connsiteY0" fmla="*/ 15812 h 178353"/>
                <a:gd name="connsiteX1" fmla="*/ 162542 w 178353"/>
                <a:gd name="connsiteY1" fmla="*/ 89177 h 178353"/>
                <a:gd name="connsiteX2" fmla="*/ 89177 w 178353"/>
                <a:gd name="connsiteY2" fmla="*/ 162542 h 178353"/>
                <a:gd name="connsiteX3" fmla="*/ 15812 w 178353"/>
                <a:gd name="connsiteY3" fmla="*/ 89177 h 178353"/>
                <a:gd name="connsiteX4" fmla="*/ 89177 w 178353"/>
                <a:gd name="connsiteY4" fmla="*/ 15812 h 178353"/>
                <a:gd name="connsiteX5" fmla="*/ 89177 w 178353"/>
                <a:gd name="connsiteY5" fmla="*/ 0 h 178353"/>
                <a:gd name="connsiteX6" fmla="*/ 0 w 178353"/>
                <a:gd name="connsiteY6" fmla="*/ 89177 h 178353"/>
                <a:gd name="connsiteX7" fmla="*/ 89177 w 178353"/>
                <a:gd name="connsiteY7" fmla="*/ 178354 h 178353"/>
                <a:gd name="connsiteX8" fmla="*/ 178354 w 178353"/>
                <a:gd name="connsiteY8" fmla="*/ 89177 h 178353"/>
                <a:gd name="connsiteX9" fmla="*/ 89177 w 178353"/>
                <a:gd name="connsiteY9" fmla="*/ 0 h 178353"/>
                <a:gd name="connsiteX10" fmla="*/ 89177 w 178353"/>
                <a:gd name="connsiteY10" fmla="*/ 0 h 178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353" h="178353">
                  <a:moveTo>
                    <a:pt x="89177" y="15812"/>
                  </a:moveTo>
                  <a:cubicBezTo>
                    <a:pt x="129654" y="15812"/>
                    <a:pt x="162542" y="48699"/>
                    <a:pt x="162542" y="89177"/>
                  </a:cubicBezTo>
                  <a:cubicBezTo>
                    <a:pt x="162542" y="129654"/>
                    <a:pt x="129654" y="162542"/>
                    <a:pt x="89177" y="162542"/>
                  </a:cubicBezTo>
                  <a:cubicBezTo>
                    <a:pt x="48699" y="162542"/>
                    <a:pt x="15812" y="129654"/>
                    <a:pt x="15812" y="89177"/>
                  </a:cubicBezTo>
                  <a:cubicBezTo>
                    <a:pt x="15812" y="48699"/>
                    <a:pt x="48699" y="15812"/>
                    <a:pt x="89177" y="15812"/>
                  </a:cubicBezTo>
                  <a:moveTo>
                    <a:pt x="89177" y="0"/>
                  </a:moveTo>
                  <a:cubicBezTo>
                    <a:pt x="39845" y="0"/>
                    <a:pt x="0" y="39845"/>
                    <a:pt x="0" y="89177"/>
                  </a:cubicBezTo>
                  <a:cubicBezTo>
                    <a:pt x="0" y="138509"/>
                    <a:pt x="40477" y="178354"/>
                    <a:pt x="89177" y="178354"/>
                  </a:cubicBezTo>
                  <a:cubicBezTo>
                    <a:pt x="138509" y="178354"/>
                    <a:pt x="178354" y="138509"/>
                    <a:pt x="178354" y="89177"/>
                  </a:cubicBezTo>
                  <a:cubicBezTo>
                    <a:pt x="178354" y="39845"/>
                    <a:pt x="138509" y="0"/>
                    <a:pt x="89177" y="0"/>
                  </a:cubicBezTo>
                  <a:lnTo>
                    <a:pt x="89177"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7" name="Picture Placeholder 84">
              <a:extLst>
                <a:ext uri="{FF2B5EF4-FFF2-40B4-BE49-F238E27FC236}">
                  <a16:creationId xmlns:a16="http://schemas.microsoft.com/office/drawing/2014/main" id="{ABB2B585-E33A-88F8-1893-6809A00483CE}"/>
                </a:ext>
              </a:extLst>
            </p:cNvPr>
            <p:cNvSpPr/>
            <p:nvPr/>
          </p:nvSpPr>
          <p:spPr>
            <a:xfrm>
              <a:off x="1050411" y="5854287"/>
              <a:ext cx="39844" cy="59451"/>
            </a:xfrm>
            <a:custGeom>
              <a:avLst/>
              <a:gdLst>
                <a:gd name="connsiteX0" fmla="*/ 32888 w 39844"/>
                <a:gd name="connsiteY0" fmla="*/ 59451 h 59451"/>
                <a:gd name="connsiteX1" fmla="*/ 0 w 39844"/>
                <a:gd name="connsiteY1" fmla="*/ 59451 h 59451"/>
                <a:gd name="connsiteX2" fmla="*/ 0 w 39844"/>
                <a:gd name="connsiteY2" fmla="*/ 7590 h 59451"/>
                <a:gd name="connsiteX3" fmla="*/ 7590 w 39844"/>
                <a:gd name="connsiteY3" fmla="*/ 0 h 59451"/>
                <a:gd name="connsiteX4" fmla="*/ 15179 w 39844"/>
                <a:gd name="connsiteY4" fmla="*/ 7590 h 59451"/>
                <a:gd name="connsiteX5" fmla="*/ 15179 w 39844"/>
                <a:gd name="connsiteY5" fmla="*/ 43640 h 59451"/>
                <a:gd name="connsiteX6" fmla="*/ 32255 w 39844"/>
                <a:gd name="connsiteY6" fmla="*/ 43640 h 59451"/>
                <a:gd name="connsiteX7" fmla="*/ 39845 w 39844"/>
                <a:gd name="connsiteY7" fmla="*/ 51229 h 59451"/>
                <a:gd name="connsiteX8" fmla="*/ 32888 w 39844"/>
                <a:gd name="connsiteY8" fmla="*/ 59451 h 5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844" h="59451">
                  <a:moveTo>
                    <a:pt x="32888" y="59451"/>
                  </a:moveTo>
                  <a:lnTo>
                    <a:pt x="0" y="59451"/>
                  </a:lnTo>
                  <a:lnTo>
                    <a:pt x="0" y="7590"/>
                  </a:lnTo>
                  <a:cubicBezTo>
                    <a:pt x="0" y="3162"/>
                    <a:pt x="3795" y="0"/>
                    <a:pt x="7590" y="0"/>
                  </a:cubicBezTo>
                  <a:cubicBezTo>
                    <a:pt x="11384" y="0"/>
                    <a:pt x="15179" y="3795"/>
                    <a:pt x="15179" y="7590"/>
                  </a:cubicBezTo>
                  <a:lnTo>
                    <a:pt x="15179" y="43640"/>
                  </a:lnTo>
                  <a:lnTo>
                    <a:pt x="32255" y="43640"/>
                  </a:lnTo>
                  <a:cubicBezTo>
                    <a:pt x="36683" y="43640"/>
                    <a:pt x="39845" y="47435"/>
                    <a:pt x="39845" y="51229"/>
                  </a:cubicBezTo>
                  <a:cubicBezTo>
                    <a:pt x="39845" y="55024"/>
                    <a:pt x="37315" y="59451"/>
                    <a:pt x="32888" y="5945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78" name="TextBox 77">
            <a:extLst>
              <a:ext uri="{FF2B5EF4-FFF2-40B4-BE49-F238E27FC236}">
                <a16:creationId xmlns:a16="http://schemas.microsoft.com/office/drawing/2014/main" id="{F347159B-8E1D-9B76-9F4D-AD98D32364AE}"/>
              </a:ext>
            </a:extLst>
          </p:cNvPr>
          <p:cNvSpPr txBox="1"/>
          <p:nvPr/>
        </p:nvSpPr>
        <p:spPr>
          <a:xfrm>
            <a:off x="7015524" y="2227406"/>
            <a:ext cx="1016750" cy="338554"/>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t>Simplified</a:t>
            </a:r>
            <a:b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br>
            <a: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t>Administration</a:t>
            </a:r>
          </a:p>
        </p:txBody>
      </p:sp>
      <p:sp>
        <p:nvSpPr>
          <p:cNvPr id="79" name="TextBox 78">
            <a:extLst>
              <a:ext uri="{FF2B5EF4-FFF2-40B4-BE49-F238E27FC236}">
                <a16:creationId xmlns:a16="http://schemas.microsoft.com/office/drawing/2014/main" id="{D2498893-38AF-3204-BB88-D19859B9FB9F}"/>
              </a:ext>
            </a:extLst>
          </p:cNvPr>
          <p:cNvSpPr txBox="1"/>
          <p:nvPr/>
        </p:nvSpPr>
        <p:spPr>
          <a:xfrm>
            <a:off x="3870271" y="2227406"/>
            <a:ext cx="1016750" cy="338554"/>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t>Fast &amp; efficient data path</a:t>
            </a:r>
          </a:p>
        </p:txBody>
      </p:sp>
      <p:grpSp>
        <p:nvGrpSpPr>
          <p:cNvPr id="80" name="Picture Placeholder 75" descr="AI Engineer&#10;">
            <a:extLst>
              <a:ext uri="{FF2B5EF4-FFF2-40B4-BE49-F238E27FC236}">
                <a16:creationId xmlns:a16="http://schemas.microsoft.com/office/drawing/2014/main" id="{FDDA03C5-267E-586D-E62B-2DEBB9E2E5ED}"/>
              </a:ext>
            </a:extLst>
          </p:cNvPr>
          <p:cNvGrpSpPr/>
          <p:nvPr/>
        </p:nvGrpSpPr>
        <p:grpSpPr>
          <a:xfrm>
            <a:off x="7298596" y="1738294"/>
            <a:ext cx="450606" cy="398187"/>
            <a:chOff x="1857821" y="775295"/>
            <a:chExt cx="592615" cy="523676"/>
          </a:xfrm>
          <a:solidFill>
            <a:schemeClr val="accent4"/>
          </a:solidFill>
        </p:grpSpPr>
        <p:sp>
          <p:nvSpPr>
            <p:cNvPr id="81" name="Picture Placeholder 75">
              <a:extLst>
                <a:ext uri="{FF2B5EF4-FFF2-40B4-BE49-F238E27FC236}">
                  <a16:creationId xmlns:a16="http://schemas.microsoft.com/office/drawing/2014/main" id="{1A797D79-051B-203B-D1F4-3F0496369FDC}"/>
                </a:ext>
              </a:extLst>
            </p:cNvPr>
            <p:cNvSpPr/>
            <p:nvPr/>
          </p:nvSpPr>
          <p:spPr>
            <a:xfrm>
              <a:off x="2112070" y="775295"/>
              <a:ext cx="338366" cy="418688"/>
            </a:xfrm>
            <a:custGeom>
              <a:avLst/>
              <a:gdLst>
                <a:gd name="connsiteX0" fmla="*/ 0 w 338366"/>
                <a:gd name="connsiteY0" fmla="*/ 0 h 418688"/>
                <a:gd name="connsiteX1" fmla="*/ 0 w 338366"/>
                <a:gd name="connsiteY1" fmla="*/ 39845 h 418688"/>
                <a:gd name="connsiteX2" fmla="*/ 15812 w 338366"/>
                <a:gd name="connsiteY2" fmla="*/ 39845 h 418688"/>
                <a:gd name="connsiteX3" fmla="*/ 15812 w 338366"/>
                <a:gd name="connsiteY3" fmla="*/ 15812 h 418688"/>
                <a:gd name="connsiteX4" fmla="*/ 322555 w 338366"/>
                <a:gd name="connsiteY4" fmla="*/ 15812 h 418688"/>
                <a:gd name="connsiteX5" fmla="*/ 322555 w 338366"/>
                <a:gd name="connsiteY5" fmla="*/ 402877 h 418688"/>
                <a:gd name="connsiteX6" fmla="*/ 187208 w 338366"/>
                <a:gd name="connsiteY6" fmla="*/ 402877 h 418688"/>
                <a:gd name="connsiteX7" fmla="*/ 187208 w 338366"/>
                <a:gd name="connsiteY7" fmla="*/ 418689 h 418688"/>
                <a:gd name="connsiteX8" fmla="*/ 338366 w 338366"/>
                <a:gd name="connsiteY8" fmla="*/ 418689 h 418688"/>
                <a:gd name="connsiteX9" fmla="*/ 338366 w 338366"/>
                <a:gd name="connsiteY9" fmla="*/ 0 h 41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366" h="418688">
                  <a:moveTo>
                    <a:pt x="0" y="0"/>
                  </a:moveTo>
                  <a:lnTo>
                    <a:pt x="0" y="39845"/>
                  </a:lnTo>
                  <a:lnTo>
                    <a:pt x="15812" y="39845"/>
                  </a:lnTo>
                  <a:lnTo>
                    <a:pt x="15812" y="15812"/>
                  </a:lnTo>
                  <a:lnTo>
                    <a:pt x="322555" y="15812"/>
                  </a:lnTo>
                  <a:lnTo>
                    <a:pt x="322555" y="402877"/>
                  </a:lnTo>
                  <a:lnTo>
                    <a:pt x="187208" y="402877"/>
                  </a:lnTo>
                  <a:lnTo>
                    <a:pt x="187208" y="418689"/>
                  </a:lnTo>
                  <a:lnTo>
                    <a:pt x="338366" y="418689"/>
                  </a:lnTo>
                  <a:lnTo>
                    <a:pt x="338366"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82" name="Picture Placeholder 75">
              <a:extLst>
                <a:ext uri="{FF2B5EF4-FFF2-40B4-BE49-F238E27FC236}">
                  <a16:creationId xmlns:a16="http://schemas.microsoft.com/office/drawing/2014/main" id="{D0B93675-F822-215B-1783-5CA51957469E}"/>
                </a:ext>
              </a:extLst>
            </p:cNvPr>
            <p:cNvGrpSpPr/>
            <p:nvPr/>
          </p:nvGrpSpPr>
          <p:grpSpPr>
            <a:xfrm>
              <a:off x="1857821" y="834114"/>
              <a:ext cx="418056" cy="464858"/>
              <a:chOff x="1857821" y="834114"/>
              <a:chExt cx="418056" cy="464858"/>
            </a:xfrm>
            <a:grpFill/>
          </p:grpSpPr>
          <p:sp>
            <p:nvSpPr>
              <p:cNvPr id="90" name="Picture Placeholder 75">
                <a:extLst>
                  <a:ext uri="{FF2B5EF4-FFF2-40B4-BE49-F238E27FC236}">
                    <a16:creationId xmlns:a16="http://schemas.microsoft.com/office/drawing/2014/main" id="{6A5042F2-FC95-4E5C-1528-0245269BEF57}"/>
                  </a:ext>
                </a:extLst>
              </p:cNvPr>
              <p:cNvSpPr/>
              <p:nvPr/>
            </p:nvSpPr>
            <p:spPr>
              <a:xfrm>
                <a:off x="1857821" y="1083936"/>
                <a:ext cx="418056" cy="215036"/>
              </a:xfrm>
              <a:custGeom>
                <a:avLst/>
                <a:gdLst>
                  <a:gd name="connsiteX0" fmla="*/ 209344 w 418056"/>
                  <a:gd name="connsiteY0" fmla="*/ 15812 h 215036"/>
                  <a:gd name="connsiteX1" fmla="*/ 396552 w 418056"/>
                  <a:gd name="connsiteY1" fmla="*/ 106253 h 215036"/>
                  <a:gd name="connsiteX2" fmla="*/ 401612 w 418056"/>
                  <a:gd name="connsiteY2" fmla="*/ 120167 h 215036"/>
                  <a:gd name="connsiteX3" fmla="*/ 401612 w 418056"/>
                  <a:gd name="connsiteY3" fmla="*/ 179619 h 215036"/>
                  <a:gd name="connsiteX4" fmla="*/ 383271 w 418056"/>
                  <a:gd name="connsiteY4" fmla="*/ 199225 h 215036"/>
                  <a:gd name="connsiteX5" fmla="*/ 34153 w 418056"/>
                  <a:gd name="connsiteY5" fmla="*/ 199225 h 215036"/>
                  <a:gd name="connsiteX6" fmla="*/ 15812 w 418056"/>
                  <a:gd name="connsiteY6" fmla="*/ 179619 h 215036"/>
                  <a:gd name="connsiteX7" fmla="*/ 15812 w 418056"/>
                  <a:gd name="connsiteY7" fmla="*/ 120167 h 215036"/>
                  <a:gd name="connsiteX8" fmla="*/ 20871 w 418056"/>
                  <a:gd name="connsiteY8" fmla="*/ 106253 h 215036"/>
                  <a:gd name="connsiteX9" fmla="*/ 31623 w 418056"/>
                  <a:gd name="connsiteY9" fmla="*/ 94869 h 215036"/>
                  <a:gd name="connsiteX10" fmla="*/ 209344 w 418056"/>
                  <a:gd name="connsiteY10" fmla="*/ 15812 h 215036"/>
                  <a:gd name="connsiteX11" fmla="*/ 209344 w 418056"/>
                  <a:gd name="connsiteY11" fmla="*/ 0 h 215036"/>
                  <a:gd name="connsiteX12" fmla="*/ 20239 w 418056"/>
                  <a:gd name="connsiteY12" fmla="*/ 83485 h 215036"/>
                  <a:gd name="connsiteX13" fmla="*/ 8854 w 418056"/>
                  <a:gd name="connsiteY13" fmla="*/ 95501 h 215036"/>
                  <a:gd name="connsiteX14" fmla="*/ 0 w 418056"/>
                  <a:gd name="connsiteY14" fmla="*/ 120167 h 215036"/>
                  <a:gd name="connsiteX15" fmla="*/ 0 w 418056"/>
                  <a:gd name="connsiteY15" fmla="*/ 179619 h 215036"/>
                  <a:gd name="connsiteX16" fmla="*/ 34153 w 418056"/>
                  <a:gd name="connsiteY16" fmla="*/ 215036 h 215036"/>
                  <a:gd name="connsiteX17" fmla="*/ 383903 w 418056"/>
                  <a:gd name="connsiteY17" fmla="*/ 215036 h 215036"/>
                  <a:gd name="connsiteX18" fmla="*/ 418056 w 418056"/>
                  <a:gd name="connsiteY18" fmla="*/ 179619 h 215036"/>
                  <a:gd name="connsiteX19" fmla="*/ 418056 w 418056"/>
                  <a:gd name="connsiteY19" fmla="*/ 120167 h 215036"/>
                  <a:gd name="connsiteX20" fmla="*/ 409202 w 418056"/>
                  <a:gd name="connsiteY20" fmla="*/ 95501 h 215036"/>
                  <a:gd name="connsiteX21" fmla="*/ 209344 w 418056"/>
                  <a:gd name="connsiteY21" fmla="*/ 0 h 215036"/>
                  <a:gd name="connsiteX22" fmla="*/ 209344 w 418056"/>
                  <a:gd name="connsiteY22" fmla="*/ 0 h 21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056" h="215036">
                    <a:moveTo>
                      <a:pt x="209344" y="15812"/>
                    </a:moveTo>
                    <a:cubicBezTo>
                      <a:pt x="277650" y="15812"/>
                      <a:pt x="344058" y="48067"/>
                      <a:pt x="396552" y="106253"/>
                    </a:cubicBezTo>
                    <a:cubicBezTo>
                      <a:pt x="399715" y="110048"/>
                      <a:pt x="401612" y="115108"/>
                      <a:pt x="401612" y="120167"/>
                    </a:cubicBezTo>
                    <a:lnTo>
                      <a:pt x="401612" y="179619"/>
                    </a:lnTo>
                    <a:cubicBezTo>
                      <a:pt x="401612" y="190370"/>
                      <a:pt x="393390" y="199225"/>
                      <a:pt x="383271" y="199225"/>
                    </a:cubicBezTo>
                    <a:lnTo>
                      <a:pt x="34153" y="199225"/>
                    </a:lnTo>
                    <a:cubicBezTo>
                      <a:pt x="24033" y="199225"/>
                      <a:pt x="15812" y="190370"/>
                      <a:pt x="15812" y="179619"/>
                    </a:cubicBezTo>
                    <a:lnTo>
                      <a:pt x="15812" y="120167"/>
                    </a:lnTo>
                    <a:cubicBezTo>
                      <a:pt x="15812" y="115108"/>
                      <a:pt x="17709" y="110048"/>
                      <a:pt x="20871" y="106253"/>
                    </a:cubicBezTo>
                    <a:cubicBezTo>
                      <a:pt x="24033" y="102459"/>
                      <a:pt x="27828" y="98664"/>
                      <a:pt x="31623" y="94869"/>
                    </a:cubicBezTo>
                    <a:cubicBezTo>
                      <a:pt x="84117" y="43007"/>
                      <a:pt x="145466" y="15812"/>
                      <a:pt x="209344" y="15812"/>
                    </a:cubicBezTo>
                    <a:moveTo>
                      <a:pt x="209344" y="0"/>
                    </a:moveTo>
                    <a:cubicBezTo>
                      <a:pt x="142936" y="0"/>
                      <a:pt x="76528" y="27828"/>
                      <a:pt x="20239" y="83485"/>
                    </a:cubicBezTo>
                    <a:cubicBezTo>
                      <a:pt x="16444" y="87280"/>
                      <a:pt x="12649" y="91074"/>
                      <a:pt x="8854" y="95501"/>
                    </a:cubicBezTo>
                    <a:cubicBezTo>
                      <a:pt x="3162" y="101826"/>
                      <a:pt x="0" y="110681"/>
                      <a:pt x="0" y="120167"/>
                    </a:cubicBezTo>
                    <a:lnTo>
                      <a:pt x="0" y="179619"/>
                    </a:lnTo>
                    <a:cubicBezTo>
                      <a:pt x="0" y="199225"/>
                      <a:pt x="15179" y="215036"/>
                      <a:pt x="34153" y="215036"/>
                    </a:cubicBezTo>
                    <a:lnTo>
                      <a:pt x="383903" y="215036"/>
                    </a:lnTo>
                    <a:cubicBezTo>
                      <a:pt x="402877" y="215036"/>
                      <a:pt x="418056" y="199225"/>
                      <a:pt x="418056" y="179619"/>
                    </a:cubicBezTo>
                    <a:lnTo>
                      <a:pt x="418056" y="120167"/>
                    </a:lnTo>
                    <a:cubicBezTo>
                      <a:pt x="418056" y="111313"/>
                      <a:pt x="414894" y="102459"/>
                      <a:pt x="409202" y="95501"/>
                    </a:cubicBezTo>
                    <a:cubicBezTo>
                      <a:pt x="351648" y="32255"/>
                      <a:pt x="280812" y="0"/>
                      <a:pt x="209344" y="0"/>
                    </a:cubicBezTo>
                    <a:lnTo>
                      <a:pt x="209344"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1" name="Picture Placeholder 75">
                <a:extLst>
                  <a:ext uri="{FF2B5EF4-FFF2-40B4-BE49-F238E27FC236}">
                    <a16:creationId xmlns:a16="http://schemas.microsoft.com/office/drawing/2014/main" id="{3E348467-FD1B-E6F1-7737-1DE23297126B}"/>
                  </a:ext>
                </a:extLst>
              </p:cNvPr>
              <p:cNvSpPr/>
              <p:nvPr/>
            </p:nvSpPr>
            <p:spPr>
              <a:xfrm>
                <a:off x="1947630" y="834114"/>
                <a:ext cx="237804" cy="237804"/>
              </a:xfrm>
              <a:custGeom>
                <a:avLst/>
                <a:gdLst>
                  <a:gd name="connsiteX0" fmla="*/ 118902 w 237804"/>
                  <a:gd name="connsiteY0" fmla="*/ 15811 h 237804"/>
                  <a:gd name="connsiteX1" fmla="*/ 221993 w 237804"/>
                  <a:gd name="connsiteY1" fmla="*/ 118902 h 237804"/>
                  <a:gd name="connsiteX2" fmla="*/ 118902 w 237804"/>
                  <a:gd name="connsiteY2" fmla="*/ 221993 h 237804"/>
                  <a:gd name="connsiteX3" fmla="*/ 15812 w 237804"/>
                  <a:gd name="connsiteY3" fmla="*/ 118902 h 237804"/>
                  <a:gd name="connsiteX4" fmla="*/ 118902 w 237804"/>
                  <a:gd name="connsiteY4" fmla="*/ 15811 h 237804"/>
                  <a:gd name="connsiteX5" fmla="*/ 118902 w 237804"/>
                  <a:gd name="connsiteY5" fmla="*/ 0 h 237804"/>
                  <a:gd name="connsiteX6" fmla="*/ 0 w 237804"/>
                  <a:gd name="connsiteY6" fmla="*/ 118902 h 237804"/>
                  <a:gd name="connsiteX7" fmla="*/ 118902 w 237804"/>
                  <a:gd name="connsiteY7" fmla="*/ 237805 h 237804"/>
                  <a:gd name="connsiteX8" fmla="*/ 237805 w 237804"/>
                  <a:gd name="connsiteY8" fmla="*/ 118902 h 237804"/>
                  <a:gd name="connsiteX9" fmla="*/ 118902 w 237804"/>
                  <a:gd name="connsiteY9" fmla="*/ 0 h 237804"/>
                  <a:gd name="connsiteX10" fmla="*/ 118902 w 237804"/>
                  <a:gd name="connsiteY10" fmla="*/ 0 h 23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7804" h="237804">
                    <a:moveTo>
                      <a:pt x="118902" y="15811"/>
                    </a:moveTo>
                    <a:cubicBezTo>
                      <a:pt x="175824" y="15811"/>
                      <a:pt x="221993" y="61981"/>
                      <a:pt x="221993" y="118902"/>
                    </a:cubicBezTo>
                    <a:cubicBezTo>
                      <a:pt x="221993" y="175824"/>
                      <a:pt x="175824" y="221993"/>
                      <a:pt x="118902" y="221993"/>
                    </a:cubicBezTo>
                    <a:cubicBezTo>
                      <a:pt x="61981" y="221993"/>
                      <a:pt x="15812" y="175824"/>
                      <a:pt x="15812" y="118902"/>
                    </a:cubicBezTo>
                    <a:cubicBezTo>
                      <a:pt x="16444" y="61981"/>
                      <a:pt x="62614" y="15811"/>
                      <a:pt x="118902" y="15811"/>
                    </a:cubicBezTo>
                    <a:moveTo>
                      <a:pt x="118902" y="0"/>
                    </a:moveTo>
                    <a:cubicBezTo>
                      <a:pt x="53127" y="0"/>
                      <a:pt x="0" y="53127"/>
                      <a:pt x="0" y="118902"/>
                    </a:cubicBezTo>
                    <a:cubicBezTo>
                      <a:pt x="0" y="184678"/>
                      <a:pt x="53127" y="237805"/>
                      <a:pt x="118902" y="237805"/>
                    </a:cubicBezTo>
                    <a:cubicBezTo>
                      <a:pt x="184678" y="237805"/>
                      <a:pt x="237805" y="184678"/>
                      <a:pt x="237805" y="118902"/>
                    </a:cubicBezTo>
                    <a:cubicBezTo>
                      <a:pt x="237805" y="53127"/>
                      <a:pt x="184678" y="0"/>
                      <a:pt x="118902" y="0"/>
                    </a:cubicBezTo>
                    <a:lnTo>
                      <a:pt x="118902"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83" name="Picture Placeholder 75">
              <a:extLst>
                <a:ext uri="{FF2B5EF4-FFF2-40B4-BE49-F238E27FC236}">
                  <a16:creationId xmlns:a16="http://schemas.microsoft.com/office/drawing/2014/main" id="{A813DDD4-B6E4-E20D-FA46-4FB8616C8315}"/>
                </a:ext>
              </a:extLst>
            </p:cNvPr>
            <p:cNvGrpSpPr/>
            <p:nvPr/>
          </p:nvGrpSpPr>
          <p:grpSpPr>
            <a:xfrm>
              <a:off x="2210279" y="884079"/>
              <a:ext cx="204739" cy="191635"/>
              <a:chOff x="2210279" y="884079"/>
              <a:chExt cx="204739" cy="191635"/>
            </a:xfrm>
            <a:grpFill/>
          </p:grpSpPr>
          <p:grpSp>
            <p:nvGrpSpPr>
              <p:cNvPr id="84" name="Picture Placeholder 75">
                <a:extLst>
                  <a:ext uri="{FF2B5EF4-FFF2-40B4-BE49-F238E27FC236}">
                    <a16:creationId xmlns:a16="http://schemas.microsoft.com/office/drawing/2014/main" id="{BC5D5742-D60C-CE80-70BE-4F069D22C29D}"/>
                  </a:ext>
                </a:extLst>
              </p:cNvPr>
              <p:cNvGrpSpPr/>
              <p:nvPr/>
            </p:nvGrpSpPr>
            <p:grpSpPr>
              <a:xfrm>
                <a:off x="2210279" y="885344"/>
                <a:ext cx="102913" cy="189737"/>
                <a:chOff x="2210279" y="885344"/>
                <a:chExt cx="102913" cy="189737"/>
              </a:xfrm>
              <a:grpFill/>
            </p:grpSpPr>
            <p:sp>
              <p:nvSpPr>
                <p:cNvPr id="87" name="Picture Placeholder 75">
                  <a:extLst>
                    <a:ext uri="{FF2B5EF4-FFF2-40B4-BE49-F238E27FC236}">
                      <a16:creationId xmlns:a16="http://schemas.microsoft.com/office/drawing/2014/main" id="{9E03278E-D719-264B-5706-5EE6EE3ACF8B}"/>
                    </a:ext>
                  </a:extLst>
                </p:cNvPr>
                <p:cNvSpPr/>
                <p:nvPr/>
              </p:nvSpPr>
              <p:spPr>
                <a:xfrm>
                  <a:off x="2210459" y="913669"/>
                  <a:ext cx="57828" cy="71602"/>
                </a:xfrm>
                <a:custGeom>
                  <a:avLst/>
                  <a:gdLst>
                    <a:gd name="connsiteX0" fmla="*/ 8497 w 57828"/>
                    <a:gd name="connsiteY0" fmla="*/ 71603 h 71602"/>
                    <a:gd name="connsiteX1" fmla="*/ 275 w 57828"/>
                    <a:gd name="connsiteY1" fmla="*/ 41245 h 71602"/>
                    <a:gd name="connsiteX2" fmla="*/ 48974 w 57828"/>
                    <a:gd name="connsiteY2" fmla="*/ 135 h 71602"/>
                    <a:gd name="connsiteX3" fmla="*/ 57829 w 57828"/>
                    <a:gd name="connsiteY3" fmla="*/ 2032 h 71602"/>
                    <a:gd name="connsiteX4" fmla="*/ 53402 w 57828"/>
                    <a:gd name="connsiteY4" fmla="*/ 17211 h 71602"/>
                    <a:gd name="connsiteX5" fmla="*/ 47709 w 57828"/>
                    <a:gd name="connsiteY5" fmla="*/ 15946 h 71602"/>
                    <a:gd name="connsiteX6" fmla="*/ 16086 w 57828"/>
                    <a:gd name="connsiteY6" fmla="*/ 42510 h 71602"/>
                    <a:gd name="connsiteX7" fmla="*/ 21779 w 57828"/>
                    <a:gd name="connsiteY7" fmla="*/ 62116 h 71602"/>
                    <a:gd name="connsiteX8" fmla="*/ 8497 w 57828"/>
                    <a:gd name="connsiteY8" fmla="*/ 71603 h 7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28" h="71602">
                      <a:moveTo>
                        <a:pt x="8497" y="71603"/>
                      </a:moveTo>
                      <a:cubicBezTo>
                        <a:pt x="2172" y="62748"/>
                        <a:pt x="-990" y="51997"/>
                        <a:pt x="275" y="41245"/>
                      </a:cubicBezTo>
                      <a:cubicBezTo>
                        <a:pt x="2172" y="16579"/>
                        <a:pt x="24308" y="-1762"/>
                        <a:pt x="48974" y="135"/>
                      </a:cubicBezTo>
                      <a:cubicBezTo>
                        <a:pt x="52137" y="135"/>
                        <a:pt x="55299" y="767"/>
                        <a:pt x="57829" y="2032"/>
                      </a:cubicBezTo>
                      <a:lnTo>
                        <a:pt x="53402" y="17211"/>
                      </a:lnTo>
                      <a:cubicBezTo>
                        <a:pt x="51504" y="16579"/>
                        <a:pt x="49607" y="16579"/>
                        <a:pt x="47709" y="15946"/>
                      </a:cubicBezTo>
                      <a:cubicBezTo>
                        <a:pt x="31898" y="14681"/>
                        <a:pt x="17351" y="26698"/>
                        <a:pt x="16086" y="42510"/>
                      </a:cubicBezTo>
                      <a:cubicBezTo>
                        <a:pt x="15454" y="49467"/>
                        <a:pt x="17351" y="56424"/>
                        <a:pt x="21779" y="62116"/>
                      </a:cubicBezTo>
                      <a:lnTo>
                        <a:pt x="8497" y="7160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8" name="Picture Placeholder 75">
                  <a:extLst>
                    <a:ext uri="{FF2B5EF4-FFF2-40B4-BE49-F238E27FC236}">
                      <a16:creationId xmlns:a16="http://schemas.microsoft.com/office/drawing/2014/main" id="{8F8D3FDE-EA64-DFEB-AE0B-1FE49314A014}"/>
                    </a:ext>
                  </a:extLst>
                </p:cNvPr>
                <p:cNvSpPr/>
                <p:nvPr/>
              </p:nvSpPr>
              <p:spPr>
                <a:xfrm>
                  <a:off x="2210279" y="957444"/>
                  <a:ext cx="37137" cy="85382"/>
                </a:xfrm>
                <a:custGeom>
                  <a:avLst/>
                  <a:gdLst>
                    <a:gd name="connsiteX0" fmla="*/ 31446 w 37137"/>
                    <a:gd name="connsiteY0" fmla="*/ 85382 h 85382"/>
                    <a:gd name="connsiteX1" fmla="*/ 6780 w 37137"/>
                    <a:gd name="connsiteY1" fmla="*/ 65776 h 85382"/>
                    <a:gd name="connsiteX2" fmla="*/ 21326 w 37137"/>
                    <a:gd name="connsiteY2" fmla="*/ 3795 h 85382"/>
                    <a:gd name="connsiteX3" fmla="*/ 29548 w 37137"/>
                    <a:gd name="connsiteY3" fmla="*/ 0 h 85382"/>
                    <a:gd name="connsiteX4" fmla="*/ 35240 w 37137"/>
                    <a:gd name="connsiteY4" fmla="*/ 14547 h 85382"/>
                    <a:gd name="connsiteX5" fmla="*/ 30181 w 37137"/>
                    <a:gd name="connsiteY5" fmla="*/ 17076 h 85382"/>
                    <a:gd name="connsiteX6" fmla="*/ 20694 w 37137"/>
                    <a:gd name="connsiteY6" fmla="*/ 57554 h 85382"/>
                    <a:gd name="connsiteX7" fmla="*/ 37138 w 37137"/>
                    <a:gd name="connsiteY7" fmla="*/ 70203 h 85382"/>
                    <a:gd name="connsiteX8" fmla="*/ 31446 w 37137"/>
                    <a:gd name="connsiteY8" fmla="*/ 85382 h 8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37" h="85382">
                      <a:moveTo>
                        <a:pt x="31446" y="85382"/>
                      </a:moveTo>
                      <a:cubicBezTo>
                        <a:pt x="21326" y="82220"/>
                        <a:pt x="12472" y="75263"/>
                        <a:pt x="6780" y="65776"/>
                      </a:cubicBezTo>
                      <a:cubicBezTo>
                        <a:pt x="-6502" y="44905"/>
                        <a:pt x="455" y="17076"/>
                        <a:pt x="21326" y="3795"/>
                      </a:cubicBezTo>
                      <a:cubicBezTo>
                        <a:pt x="23856" y="1897"/>
                        <a:pt x="26386" y="632"/>
                        <a:pt x="29548" y="0"/>
                      </a:cubicBezTo>
                      <a:lnTo>
                        <a:pt x="35240" y="14547"/>
                      </a:lnTo>
                      <a:cubicBezTo>
                        <a:pt x="33343" y="15179"/>
                        <a:pt x="31446" y="15812"/>
                        <a:pt x="30181" y="17076"/>
                      </a:cubicBezTo>
                      <a:cubicBezTo>
                        <a:pt x="16267" y="25298"/>
                        <a:pt x="12472" y="43640"/>
                        <a:pt x="20694" y="57554"/>
                      </a:cubicBezTo>
                      <a:cubicBezTo>
                        <a:pt x="24489" y="63246"/>
                        <a:pt x="30181" y="67673"/>
                        <a:pt x="37138" y="70203"/>
                      </a:cubicBezTo>
                      <a:lnTo>
                        <a:pt x="31446" y="8538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9" name="Picture Placeholder 75">
                  <a:extLst>
                    <a:ext uri="{FF2B5EF4-FFF2-40B4-BE49-F238E27FC236}">
                      <a16:creationId xmlns:a16="http://schemas.microsoft.com/office/drawing/2014/main" id="{AB4A02C3-0F88-F944-801D-2DA975066D8D}"/>
                    </a:ext>
                  </a:extLst>
                </p:cNvPr>
                <p:cNvSpPr/>
                <p:nvPr/>
              </p:nvSpPr>
              <p:spPr>
                <a:xfrm>
                  <a:off x="2237297" y="885344"/>
                  <a:ext cx="75895" cy="189737"/>
                </a:xfrm>
                <a:custGeom>
                  <a:avLst/>
                  <a:gdLst>
                    <a:gd name="connsiteX0" fmla="*/ 44905 w 75895"/>
                    <a:gd name="connsiteY0" fmla="*/ 189738 h 189737"/>
                    <a:gd name="connsiteX1" fmla="*/ 0 w 75895"/>
                    <a:gd name="connsiteY1" fmla="*/ 144833 h 189737"/>
                    <a:gd name="connsiteX2" fmla="*/ 15812 w 75895"/>
                    <a:gd name="connsiteY2" fmla="*/ 144833 h 189737"/>
                    <a:gd name="connsiteX3" fmla="*/ 44905 w 75895"/>
                    <a:gd name="connsiteY3" fmla="*/ 173926 h 189737"/>
                    <a:gd name="connsiteX4" fmla="*/ 59451 w 75895"/>
                    <a:gd name="connsiteY4" fmla="*/ 170132 h 189737"/>
                    <a:gd name="connsiteX5" fmla="*/ 59451 w 75895"/>
                    <a:gd name="connsiteY5" fmla="*/ 19606 h 189737"/>
                    <a:gd name="connsiteX6" fmla="*/ 44905 w 75895"/>
                    <a:gd name="connsiteY6" fmla="*/ 15812 h 189737"/>
                    <a:gd name="connsiteX7" fmla="*/ 16444 w 75895"/>
                    <a:gd name="connsiteY7" fmla="*/ 39213 h 189737"/>
                    <a:gd name="connsiteX8" fmla="*/ 1265 w 75895"/>
                    <a:gd name="connsiteY8" fmla="*/ 36050 h 189737"/>
                    <a:gd name="connsiteX9" fmla="*/ 45537 w 75895"/>
                    <a:gd name="connsiteY9" fmla="*/ 0 h 189737"/>
                    <a:gd name="connsiteX10" fmla="*/ 72733 w 75895"/>
                    <a:gd name="connsiteY10" fmla="*/ 9487 h 189737"/>
                    <a:gd name="connsiteX11" fmla="*/ 75895 w 75895"/>
                    <a:gd name="connsiteY11" fmla="*/ 12017 h 189737"/>
                    <a:gd name="connsiteX12" fmla="*/ 75895 w 75895"/>
                    <a:gd name="connsiteY12" fmla="*/ 178986 h 189737"/>
                    <a:gd name="connsiteX13" fmla="*/ 72733 w 75895"/>
                    <a:gd name="connsiteY13" fmla="*/ 181516 h 189737"/>
                    <a:gd name="connsiteX14" fmla="*/ 44905 w 75895"/>
                    <a:gd name="connsiteY14" fmla="*/ 189738 h 189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895" h="189737">
                      <a:moveTo>
                        <a:pt x="44905" y="189738"/>
                      </a:moveTo>
                      <a:cubicBezTo>
                        <a:pt x="20239" y="189738"/>
                        <a:pt x="0" y="169499"/>
                        <a:pt x="0" y="144833"/>
                      </a:cubicBezTo>
                      <a:lnTo>
                        <a:pt x="15812" y="144833"/>
                      </a:lnTo>
                      <a:cubicBezTo>
                        <a:pt x="15812" y="160645"/>
                        <a:pt x="29093" y="173926"/>
                        <a:pt x="44905" y="173926"/>
                      </a:cubicBezTo>
                      <a:cubicBezTo>
                        <a:pt x="49964" y="173926"/>
                        <a:pt x="55024" y="172662"/>
                        <a:pt x="59451" y="170132"/>
                      </a:cubicBezTo>
                      <a:lnTo>
                        <a:pt x="59451" y="19606"/>
                      </a:lnTo>
                      <a:cubicBezTo>
                        <a:pt x="55024" y="17076"/>
                        <a:pt x="49964" y="15812"/>
                        <a:pt x="44905" y="15812"/>
                      </a:cubicBezTo>
                      <a:cubicBezTo>
                        <a:pt x="30991" y="15812"/>
                        <a:pt x="18974" y="25931"/>
                        <a:pt x="16444" y="39213"/>
                      </a:cubicBezTo>
                      <a:lnTo>
                        <a:pt x="1265" y="36050"/>
                      </a:lnTo>
                      <a:cubicBezTo>
                        <a:pt x="5692" y="15179"/>
                        <a:pt x="24033" y="0"/>
                        <a:pt x="45537" y="0"/>
                      </a:cubicBezTo>
                      <a:cubicBezTo>
                        <a:pt x="55656" y="0"/>
                        <a:pt x="65143" y="3162"/>
                        <a:pt x="72733" y="9487"/>
                      </a:cubicBezTo>
                      <a:lnTo>
                        <a:pt x="75895" y="12017"/>
                      </a:lnTo>
                      <a:lnTo>
                        <a:pt x="75895" y="178986"/>
                      </a:lnTo>
                      <a:lnTo>
                        <a:pt x="72733" y="181516"/>
                      </a:lnTo>
                      <a:cubicBezTo>
                        <a:pt x="64511" y="186576"/>
                        <a:pt x="55024" y="189738"/>
                        <a:pt x="44905" y="18973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85" name="Picture Placeholder 75">
                <a:extLst>
                  <a:ext uri="{FF2B5EF4-FFF2-40B4-BE49-F238E27FC236}">
                    <a16:creationId xmlns:a16="http://schemas.microsoft.com/office/drawing/2014/main" id="{1971DB78-6F7F-01A7-F273-E84D3B53DE63}"/>
                  </a:ext>
                </a:extLst>
              </p:cNvPr>
              <p:cNvSpPr/>
              <p:nvPr/>
            </p:nvSpPr>
            <p:spPr>
              <a:xfrm>
                <a:off x="2301808" y="884079"/>
                <a:ext cx="113210" cy="191635"/>
              </a:xfrm>
              <a:custGeom>
                <a:avLst/>
                <a:gdLst>
                  <a:gd name="connsiteX0" fmla="*/ 35418 w 113210"/>
                  <a:gd name="connsiteY0" fmla="*/ 191635 h 191635"/>
                  <a:gd name="connsiteX1" fmla="*/ 632 w 113210"/>
                  <a:gd name="connsiteY1" fmla="*/ 191635 h 191635"/>
                  <a:gd name="connsiteX2" fmla="*/ 632 w 113210"/>
                  <a:gd name="connsiteY2" fmla="*/ 175824 h 191635"/>
                  <a:gd name="connsiteX3" fmla="*/ 24666 w 113210"/>
                  <a:gd name="connsiteY3" fmla="*/ 175824 h 191635"/>
                  <a:gd name="connsiteX4" fmla="*/ 31623 w 113210"/>
                  <a:gd name="connsiteY4" fmla="*/ 157483 h 191635"/>
                  <a:gd name="connsiteX5" fmla="*/ 35418 w 113210"/>
                  <a:gd name="connsiteY5" fmla="*/ 156218 h 191635"/>
                  <a:gd name="connsiteX6" fmla="*/ 47435 w 113210"/>
                  <a:gd name="connsiteY6" fmla="*/ 151158 h 191635"/>
                  <a:gd name="connsiteX7" fmla="*/ 51229 w 113210"/>
                  <a:gd name="connsiteY7" fmla="*/ 148628 h 191635"/>
                  <a:gd name="connsiteX8" fmla="*/ 69571 w 113210"/>
                  <a:gd name="connsiteY8" fmla="*/ 156850 h 191635"/>
                  <a:gd name="connsiteX9" fmla="*/ 79058 w 113210"/>
                  <a:gd name="connsiteY9" fmla="*/ 147363 h 191635"/>
                  <a:gd name="connsiteX10" fmla="*/ 70836 w 113210"/>
                  <a:gd name="connsiteY10" fmla="*/ 129654 h 191635"/>
                  <a:gd name="connsiteX11" fmla="*/ 73365 w 113210"/>
                  <a:gd name="connsiteY11" fmla="*/ 125860 h 191635"/>
                  <a:gd name="connsiteX12" fmla="*/ 78425 w 113210"/>
                  <a:gd name="connsiteY12" fmla="*/ 113843 h 191635"/>
                  <a:gd name="connsiteX13" fmla="*/ 79690 w 113210"/>
                  <a:gd name="connsiteY13" fmla="*/ 110048 h 191635"/>
                  <a:gd name="connsiteX14" fmla="*/ 98031 w 113210"/>
                  <a:gd name="connsiteY14" fmla="*/ 103091 h 191635"/>
                  <a:gd name="connsiteX15" fmla="*/ 98031 w 113210"/>
                  <a:gd name="connsiteY15" fmla="*/ 89809 h 191635"/>
                  <a:gd name="connsiteX16" fmla="*/ 79690 w 113210"/>
                  <a:gd name="connsiteY16" fmla="*/ 82852 h 191635"/>
                  <a:gd name="connsiteX17" fmla="*/ 78425 w 113210"/>
                  <a:gd name="connsiteY17" fmla="*/ 78425 h 191635"/>
                  <a:gd name="connsiteX18" fmla="*/ 73365 w 113210"/>
                  <a:gd name="connsiteY18" fmla="*/ 65776 h 191635"/>
                  <a:gd name="connsiteX19" fmla="*/ 71468 w 113210"/>
                  <a:gd name="connsiteY19" fmla="*/ 61981 h 191635"/>
                  <a:gd name="connsiteX20" fmla="*/ 79690 w 113210"/>
                  <a:gd name="connsiteY20" fmla="*/ 43640 h 191635"/>
                  <a:gd name="connsiteX21" fmla="*/ 69571 w 113210"/>
                  <a:gd name="connsiteY21" fmla="*/ 34785 h 191635"/>
                  <a:gd name="connsiteX22" fmla="*/ 51229 w 113210"/>
                  <a:gd name="connsiteY22" fmla="*/ 43007 h 191635"/>
                  <a:gd name="connsiteX23" fmla="*/ 47435 w 113210"/>
                  <a:gd name="connsiteY23" fmla="*/ 40477 h 191635"/>
                  <a:gd name="connsiteX24" fmla="*/ 34153 w 113210"/>
                  <a:gd name="connsiteY24" fmla="*/ 34785 h 191635"/>
                  <a:gd name="connsiteX25" fmla="*/ 30991 w 113210"/>
                  <a:gd name="connsiteY25" fmla="*/ 33520 h 191635"/>
                  <a:gd name="connsiteX26" fmla="*/ 24034 w 113210"/>
                  <a:gd name="connsiteY26" fmla="*/ 15812 h 191635"/>
                  <a:gd name="connsiteX27" fmla="*/ 0 w 113210"/>
                  <a:gd name="connsiteY27" fmla="*/ 15812 h 191635"/>
                  <a:gd name="connsiteX28" fmla="*/ 0 w 113210"/>
                  <a:gd name="connsiteY28" fmla="*/ 0 h 191635"/>
                  <a:gd name="connsiteX29" fmla="*/ 34785 w 113210"/>
                  <a:gd name="connsiteY29" fmla="*/ 0 h 191635"/>
                  <a:gd name="connsiteX30" fmla="*/ 43007 w 113210"/>
                  <a:gd name="connsiteY30" fmla="*/ 21504 h 191635"/>
                  <a:gd name="connsiteX31" fmla="*/ 51862 w 113210"/>
                  <a:gd name="connsiteY31" fmla="*/ 25298 h 191635"/>
                  <a:gd name="connsiteX32" fmla="*/ 72733 w 113210"/>
                  <a:gd name="connsiteY32" fmla="*/ 15812 h 191635"/>
                  <a:gd name="connsiteX33" fmla="*/ 98031 w 113210"/>
                  <a:gd name="connsiteY33" fmla="*/ 39845 h 191635"/>
                  <a:gd name="connsiteX34" fmla="*/ 88544 w 113210"/>
                  <a:gd name="connsiteY34" fmla="*/ 60716 h 191635"/>
                  <a:gd name="connsiteX35" fmla="*/ 92339 w 113210"/>
                  <a:gd name="connsiteY35" fmla="*/ 69571 h 191635"/>
                  <a:gd name="connsiteX36" fmla="*/ 113210 w 113210"/>
                  <a:gd name="connsiteY36" fmla="*/ 77793 h 191635"/>
                  <a:gd name="connsiteX37" fmla="*/ 113210 w 113210"/>
                  <a:gd name="connsiteY37" fmla="*/ 112578 h 191635"/>
                  <a:gd name="connsiteX38" fmla="*/ 92339 w 113210"/>
                  <a:gd name="connsiteY38" fmla="*/ 120167 h 191635"/>
                  <a:gd name="connsiteX39" fmla="*/ 88544 w 113210"/>
                  <a:gd name="connsiteY39" fmla="*/ 129654 h 191635"/>
                  <a:gd name="connsiteX40" fmla="*/ 98031 w 113210"/>
                  <a:gd name="connsiteY40" fmla="*/ 150525 h 191635"/>
                  <a:gd name="connsiteX41" fmla="*/ 72733 w 113210"/>
                  <a:gd name="connsiteY41" fmla="*/ 175824 h 191635"/>
                  <a:gd name="connsiteX42" fmla="*/ 51862 w 113210"/>
                  <a:gd name="connsiteY42" fmla="*/ 166337 h 191635"/>
                  <a:gd name="connsiteX43" fmla="*/ 42375 w 113210"/>
                  <a:gd name="connsiteY43" fmla="*/ 170132 h 191635"/>
                  <a:gd name="connsiteX44" fmla="*/ 35418 w 113210"/>
                  <a:gd name="connsiteY44" fmla="*/ 191635 h 19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3210" h="191635">
                    <a:moveTo>
                      <a:pt x="35418" y="191635"/>
                    </a:moveTo>
                    <a:lnTo>
                      <a:pt x="632" y="191635"/>
                    </a:lnTo>
                    <a:lnTo>
                      <a:pt x="632" y="175824"/>
                    </a:lnTo>
                    <a:lnTo>
                      <a:pt x="24666" y="175824"/>
                    </a:lnTo>
                    <a:lnTo>
                      <a:pt x="31623" y="157483"/>
                    </a:lnTo>
                    <a:lnTo>
                      <a:pt x="35418" y="156218"/>
                    </a:lnTo>
                    <a:cubicBezTo>
                      <a:pt x="40477" y="154953"/>
                      <a:pt x="44905" y="153055"/>
                      <a:pt x="47435" y="151158"/>
                    </a:cubicBezTo>
                    <a:lnTo>
                      <a:pt x="51229" y="148628"/>
                    </a:lnTo>
                    <a:lnTo>
                      <a:pt x="69571" y="156850"/>
                    </a:lnTo>
                    <a:lnTo>
                      <a:pt x="79058" y="147363"/>
                    </a:lnTo>
                    <a:lnTo>
                      <a:pt x="70836" y="129654"/>
                    </a:lnTo>
                    <a:lnTo>
                      <a:pt x="73365" y="125860"/>
                    </a:lnTo>
                    <a:cubicBezTo>
                      <a:pt x="75263" y="122697"/>
                      <a:pt x="77160" y="118902"/>
                      <a:pt x="78425" y="113843"/>
                    </a:cubicBezTo>
                    <a:lnTo>
                      <a:pt x="79690" y="110048"/>
                    </a:lnTo>
                    <a:lnTo>
                      <a:pt x="98031" y="103091"/>
                    </a:lnTo>
                    <a:lnTo>
                      <a:pt x="98031" y="89809"/>
                    </a:lnTo>
                    <a:lnTo>
                      <a:pt x="79690" y="82852"/>
                    </a:lnTo>
                    <a:lnTo>
                      <a:pt x="78425" y="78425"/>
                    </a:lnTo>
                    <a:cubicBezTo>
                      <a:pt x="77160" y="73998"/>
                      <a:pt x="75895" y="70203"/>
                      <a:pt x="73365" y="65776"/>
                    </a:cubicBezTo>
                    <a:lnTo>
                      <a:pt x="71468" y="61981"/>
                    </a:lnTo>
                    <a:lnTo>
                      <a:pt x="79690" y="43640"/>
                    </a:lnTo>
                    <a:lnTo>
                      <a:pt x="69571" y="34785"/>
                    </a:lnTo>
                    <a:lnTo>
                      <a:pt x="51229" y="43007"/>
                    </a:lnTo>
                    <a:lnTo>
                      <a:pt x="47435" y="40477"/>
                    </a:lnTo>
                    <a:cubicBezTo>
                      <a:pt x="44272" y="38580"/>
                      <a:pt x="39213" y="36683"/>
                      <a:pt x="34153" y="34785"/>
                    </a:cubicBezTo>
                    <a:lnTo>
                      <a:pt x="30991" y="33520"/>
                    </a:lnTo>
                    <a:lnTo>
                      <a:pt x="24034" y="15812"/>
                    </a:lnTo>
                    <a:lnTo>
                      <a:pt x="0" y="15812"/>
                    </a:lnTo>
                    <a:lnTo>
                      <a:pt x="0" y="0"/>
                    </a:lnTo>
                    <a:lnTo>
                      <a:pt x="34785" y="0"/>
                    </a:lnTo>
                    <a:lnTo>
                      <a:pt x="43007" y="21504"/>
                    </a:lnTo>
                    <a:cubicBezTo>
                      <a:pt x="46170" y="22769"/>
                      <a:pt x="49332" y="24033"/>
                      <a:pt x="51862" y="25298"/>
                    </a:cubicBezTo>
                    <a:lnTo>
                      <a:pt x="72733" y="15812"/>
                    </a:lnTo>
                    <a:lnTo>
                      <a:pt x="98031" y="39845"/>
                    </a:lnTo>
                    <a:lnTo>
                      <a:pt x="88544" y="60716"/>
                    </a:lnTo>
                    <a:cubicBezTo>
                      <a:pt x="89809" y="63878"/>
                      <a:pt x="91074" y="67041"/>
                      <a:pt x="92339" y="69571"/>
                    </a:cubicBezTo>
                    <a:lnTo>
                      <a:pt x="113210" y="77793"/>
                    </a:lnTo>
                    <a:lnTo>
                      <a:pt x="113210" y="112578"/>
                    </a:lnTo>
                    <a:lnTo>
                      <a:pt x="92339" y="120167"/>
                    </a:lnTo>
                    <a:cubicBezTo>
                      <a:pt x="91707" y="123330"/>
                      <a:pt x="90442" y="126492"/>
                      <a:pt x="88544" y="129654"/>
                    </a:cubicBezTo>
                    <a:lnTo>
                      <a:pt x="98031" y="150525"/>
                    </a:lnTo>
                    <a:lnTo>
                      <a:pt x="72733" y="175824"/>
                    </a:lnTo>
                    <a:lnTo>
                      <a:pt x="51862" y="166337"/>
                    </a:lnTo>
                    <a:cubicBezTo>
                      <a:pt x="48699" y="168234"/>
                      <a:pt x="45537" y="168867"/>
                      <a:pt x="42375" y="170132"/>
                    </a:cubicBezTo>
                    <a:lnTo>
                      <a:pt x="35418" y="191635"/>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6" name="Picture Placeholder 75">
                <a:extLst>
                  <a:ext uri="{FF2B5EF4-FFF2-40B4-BE49-F238E27FC236}">
                    <a16:creationId xmlns:a16="http://schemas.microsoft.com/office/drawing/2014/main" id="{072C3EDF-EAE2-1590-C4FC-6182F6675765}"/>
                  </a:ext>
                </a:extLst>
              </p:cNvPr>
              <p:cNvSpPr/>
              <p:nvPr/>
            </p:nvSpPr>
            <p:spPr>
              <a:xfrm>
                <a:off x="2305603" y="922026"/>
                <a:ext cx="58186" cy="116372"/>
              </a:xfrm>
              <a:custGeom>
                <a:avLst/>
                <a:gdLst>
                  <a:gd name="connsiteX0" fmla="*/ 0 w 58186"/>
                  <a:gd name="connsiteY0" fmla="*/ 116373 h 116372"/>
                  <a:gd name="connsiteX1" fmla="*/ 0 w 58186"/>
                  <a:gd name="connsiteY1" fmla="*/ 100561 h 116372"/>
                  <a:gd name="connsiteX2" fmla="*/ 42375 w 58186"/>
                  <a:gd name="connsiteY2" fmla="*/ 58186 h 116372"/>
                  <a:gd name="connsiteX3" fmla="*/ 0 w 58186"/>
                  <a:gd name="connsiteY3" fmla="*/ 15812 h 116372"/>
                  <a:gd name="connsiteX4" fmla="*/ 0 w 58186"/>
                  <a:gd name="connsiteY4" fmla="*/ 0 h 116372"/>
                  <a:gd name="connsiteX5" fmla="*/ 58186 w 58186"/>
                  <a:gd name="connsiteY5" fmla="*/ 58186 h 116372"/>
                  <a:gd name="connsiteX6" fmla="*/ 0 w 58186"/>
                  <a:gd name="connsiteY6" fmla="*/ 116373 h 11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86" h="116372">
                    <a:moveTo>
                      <a:pt x="0" y="116373"/>
                    </a:moveTo>
                    <a:lnTo>
                      <a:pt x="0" y="100561"/>
                    </a:lnTo>
                    <a:cubicBezTo>
                      <a:pt x="23401" y="100561"/>
                      <a:pt x="42375" y="81587"/>
                      <a:pt x="42375" y="58186"/>
                    </a:cubicBezTo>
                    <a:cubicBezTo>
                      <a:pt x="42375" y="34785"/>
                      <a:pt x="23401" y="15812"/>
                      <a:pt x="0" y="15812"/>
                    </a:cubicBezTo>
                    <a:lnTo>
                      <a:pt x="0" y="0"/>
                    </a:lnTo>
                    <a:cubicBezTo>
                      <a:pt x="32255" y="0"/>
                      <a:pt x="58186" y="25931"/>
                      <a:pt x="58186" y="58186"/>
                    </a:cubicBezTo>
                    <a:cubicBezTo>
                      <a:pt x="58186" y="90442"/>
                      <a:pt x="32255" y="116373"/>
                      <a:pt x="0" y="11637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92" name="Picture Placeholder 100" descr="Smooth Activity Bursts&#10;">
            <a:extLst>
              <a:ext uri="{FF2B5EF4-FFF2-40B4-BE49-F238E27FC236}">
                <a16:creationId xmlns:a16="http://schemas.microsoft.com/office/drawing/2014/main" id="{6E3202B0-368E-2B02-A10B-258DDD99A8C2}"/>
              </a:ext>
            </a:extLst>
          </p:cNvPr>
          <p:cNvGrpSpPr/>
          <p:nvPr/>
        </p:nvGrpSpPr>
        <p:grpSpPr>
          <a:xfrm rot="5400000">
            <a:off x="4192220" y="1764983"/>
            <a:ext cx="372853" cy="370144"/>
            <a:chOff x="9756584" y="1949843"/>
            <a:chExt cx="609695" cy="605264"/>
          </a:xfrm>
          <a:solidFill>
            <a:schemeClr val="accent4"/>
          </a:solidFill>
        </p:grpSpPr>
        <p:sp>
          <p:nvSpPr>
            <p:cNvPr id="93" name="Picture Placeholder 100">
              <a:extLst>
                <a:ext uri="{FF2B5EF4-FFF2-40B4-BE49-F238E27FC236}">
                  <a16:creationId xmlns:a16="http://schemas.microsoft.com/office/drawing/2014/main" id="{2D85224B-566D-E1D0-5DB6-8DD2C80AF100}"/>
                </a:ext>
              </a:extLst>
            </p:cNvPr>
            <p:cNvSpPr/>
            <p:nvPr/>
          </p:nvSpPr>
          <p:spPr>
            <a:xfrm>
              <a:off x="10005025" y="1949843"/>
              <a:ext cx="58307" cy="605264"/>
            </a:xfrm>
            <a:custGeom>
              <a:avLst/>
              <a:gdLst>
                <a:gd name="connsiteX0" fmla="*/ 48801 w 58307"/>
                <a:gd name="connsiteY0" fmla="*/ 605264 h 605264"/>
                <a:gd name="connsiteX1" fmla="*/ 0 w 58307"/>
                <a:gd name="connsiteY1" fmla="*/ 605264 h 605264"/>
                <a:gd name="connsiteX2" fmla="*/ 0 w 58307"/>
                <a:gd name="connsiteY2" fmla="*/ 586290 h 605264"/>
                <a:gd name="connsiteX3" fmla="*/ 39294 w 58307"/>
                <a:gd name="connsiteY3" fmla="*/ 586290 h 605264"/>
                <a:gd name="connsiteX4" fmla="*/ 39294 w 58307"/>
                <a:gd name="connsiteY4" fmla="*/ 18974 h 605264"/>
                <a:gd name="connsiteX5" fmla="*/ 0 w 58307"/>
                <a:gd name="connsiteY5" fmla="*/ 18974 h 605264"/>
                <a:gd name="connsiteX6" fmla="*/ 0 w 58307"/>
                <a:gd name="connsiteY6" fmla="*/ 0 h 605264"/>
                <a:gd name="connsiteX7" fmla="*/ 48801 w 58307"/>
                <a:gd name="connsiteY7" fmla="*/ 0 h 605264"/>
                <a:gd name="connsiteX8" fmla="*/ 58308 w 58307"/>
                <a:gd name="connsiteY8" fmla="*/ 9487 h 605264"/>
                <a:gd name="connsiteX9" fmla="*/ 58308 w 58307"/>
                <a:gd name="connsiteY9" fmla="*/ 595777 h 605264"/>
                <a:gd name="connsiteX10" fmla="*/ 48801 w 58307"/>
                <a:gd name="connsiteY10" fmla="*/ 605264 h 60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307" h="605264">
                  <a:moveTo>
                    <a:pt x="48801" y="605264"/>
                  </a:moveTo>
                  <a:lnTo>
                    <a:pt x="0" y="605264"/>
                  </a:lnTo>
                  <a:lnTo>
                    <a:pt x="0" y="586290"/>
                  </a:lnTo>
                  <a:lnTo>
                    <a:pt x="39294" y="586290"/>
                  </a:lnTo>
                  <a:lnTo>
                    <a:pt x="39294" y="18974"/>
                  </a:lnTo>
                  <a:lnTo>
                    <a:pt x="0" y="18974"/>
                  </a:lnTo>
                  <a:lnTo>
                    <a:pt x="0" y="0"/>
                  </a:lnTo>
                  <a:lnTo>
                    <a:pt x="48801" y="0"/>
                  </a:lnTo>
                  <a:cubicBezTo>
                    <a:pt x="53871" y="0"/>
                    <a:pt x="58308" y="4427"/>
                    <a:pt x="58308" y="9487"/>
                  </a:cubicBezTo>
                  <a:lnTo>
                    <a:pt x="58308" y="595777"/>
                  </a:lnTo>
                  <a:cubicBezTo>
                    <a:pt x="58308" y="601469"/>
                    <a:pt x="53871" y="605264"/>
                    <a:pt x="48801" y="60526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94" name="Picture Placeholder 100">
              <a:extLst>
                <a:ext uri="{FF2B5EF4-FFF2-40B4-BE49-F238E27FC236}">
                  <a16:creationId xmlns:a16="http://schemas.microsoft.com/office/drawing/2014/main" id="{EE25AC64-C00E-B716-E8A2-2140B94CF35B}"/>
                </a:ext>
              </a:extLst>
            </p:cNvPr>
            <p:cNvGrpSpPr/>
            <p:nvPr/>
          </p:nvGrpSpPr>
          <p:grpSpPr>
            <a:xfrm>
              <a:off x="9756584" y="1986051"/>
              <a:ext cx="609695" cy="529843"/>
              <a:chOff x="9756584" y="1986051"/>
              <a:chExt cx="609695" cy="529843"/>
            </a:xfrm>
            <a:grpFill/>
          </p:grpSpPr>
          <p:grpSp>
            <p:nvGrpSpPr>
              <p:cNvPr id="95" name="Picture Placeholder 100">
                <a:extLst>
                  <a:ext uri="{FF2B5EF4-FFF2-40B4-BE49-F238E27FC236}">
                    <a16:creationId xmlns:a16="http://schemas.microsoft.com/office/drawing/2014/main" id="{600F0A1B-E9B1-02AA-D409-0A68AB09C5B9}"/>
                  </a:ext>
                </a:extLst>
              </p:cNvPr>
              <p:cNvGrpSpPr/>
              <p:nvPr/>
            </p:nvGrpSpPr>
            <p:grpSpPr>
              <a:xfrm>
                <a:off x="10056361" y="2045592"/>
                <a:ext cx="309293" cy="410218"/>
                <a:chOff x="10056361" y="2045592"/>
                <a:chExt cx="309293" cy="410218"/>
              </a:xfrm>
              <a:grpFill/>
            </p:grpSpPr>
            <p:grpSp>
              <p:nvGrpSpPr>
                <p:cNvPr id="116" name="Picture Placeholder 100">
                  <a:extLst>
                    <a:ext uri="{FF2B5EF4-FFF2-40B4-BE49-F238E27FC236}">
                      <a16:creationId xmlns:a16="http://schemas.microsoft.com/office/drawing/2014/main" id="{1B6F338E-9E0D-EBC5-B235-34E4AC8C07BE}"/>
                    </a:ext>
                  </a:extLst>
                </p:cNvPr>
                <p:cNvGrpSpPr/>
                <p:nvPr/>
              </p:nvGrpSpPr>
              <p:grpSpPr>
                <a:xfrm>
                  <a:off x="10056995" y="2416124"/>
                  <a:ext cx="308658" cy="39686"/>
                  <a:chOff x="10056995" y="2416124"/>
                  <a:chExt cx="308658" cy="39686"/>
                </a:xfrm>
                <a:grpFill/>
              </p:grpSpPr>
              <p:sp>
                <p:nvSpPr>
                  <p:cNvPr id="129" name="Picture Placeholder 100">
                    <a:extLst>
                      <a:ext uri="{FF2B5EF4-FFF2-40B4-BE49-F238E27FC236}">
                        <a16:creationId xmlns:a16="http://schemas.microsoft.com/office/drawing/2014/main" id="{63CFDACE-F3CE-6E11-72CD-3D6475347EAB}"/>
                      </a:ext>
                    </a:extLst>
                  </p:cNvPr>
                  <p:cNvSpPr/>
                  <p:nvPr/>
                </p:nvSpPr>
                <p:spPr>
                  <a:xfrm>
                    <a:off x="10056995" y="2416124"/>
                    <a:ext cx="40561" cy="39686"/>
                  </a:xfrm>
                  <a:custGeom>
                    <a:avLst/>
                    <a:gdLst>
                      <a:gd name="connsiteX0" fmla="*/ 19647 w 40561"/>
                      <a:gd name="connsiteY0" fmla="*/ 39687 h 39686"/>
                      <a:gd name="connsiteX1" fmla="*/ 15844 w 40561"/>
                      <a:gd name="connsiteY1" fmla="*/ 39054 h 39686"/>
                      <a:gd name="connsiteX2" fmla="*/ 12042 w 40561"/>
                      <a:gd name="connsiteY2" fmla="*/ 37789 h 39686"/>
                      <a:gd name="connsiteX3" fmla="*/ 8873 w 40561"/>
                      <a:gd name="connsiteY3" fmla="*/ 35892 h 39686"/>
                      <a:gd name="connsiteX4" fmla="*/ 5704 w 40561"/>
                      <a:gd name="connsiteY4" fmla="*/ 33362 h 39686"/>
                      <a:gd name="connsiteX5" fmla="*/ 3169 w 40561"/>
                      <a:gd name="connsiteY5" fmla="*/ 30200 h 39686"/>
                      <a:gd name="connsiteX6" fmla="*/ 1268 w 40561"/>
                      <a:gd name="connsiteY6" fmla="*/ 27038 h 39686"/>
                      <a:gd name="connsiteX7" fmla="*/ 634 w 40561"/>
                      <a:gd name="connsiteY7" fmla="*/ 23875 h 39686"/>
                      <a:gd name="connsiteX8" fmla="*/ 0 w 40561"/>
                      <a:gd name="connsiteY8" fmla="*/ 20081 h 39686"/>
                      <a:gd name="connsiteX9" fmla="*/ 634 w 40561"/>
                      <a:gd name="connsiteY9" fmla="*/ 16286 h 39686"/>
                      <a:gd name="connsiteX10" fmla="*/ 1901 w 40561"/>
                      <a:gd name="connsiteY10" fmla="*/ 12491 h 39686"/>
                      <a:gd name="connsiteX11" fmla="*/ 3803 w 40561"/>
                      <a:gd name="connsiteY11" fmla="*/ 9329 h 39686"/>
                      <a:gd name="connsiteX12" fmla="*/ 6338 w 40561"/>
                      <a:gd name="connsiteY12" fmla="*/ 6166 h 39686"/>
                      <a:gd name="connsiteX13" fmla="*/ 9507 w 40561"/>
                      <a:gd name="connsiteY13" fmla="*/ 3637 h 39686"/>
                      <a:gd name="connsiteX14" fmla="*/ 12676 w 40561"/>
                      <a:gd name="connsiteY14" fmla="*/ 1739 h 39686"/>
                      <a:gd name="connsiteX15" fmla="*/ 16478 w 40561"/>
                      <a:gd name="connsiteY15" fmla="*/ 474 h 39686"/>
                      <a:gd name="connsiteX16" fmla="*/ 24084 w 40561"/>
                      <a:gd name="connsiteY16" fmla="*/ 474 h 39686"/>
                      <a:gd name="connsiteX17" fmla="*/ 27886 w 40561"/>
                      <a:gd name="connsiteY17" fmla="*/ 1739 h 39686"/>
                      <a:gd name="connsiteX18" fmla="*/ 31055 w 40561"/>
                      <a:gd name="connsiteY18" fmla="*/ 3637 h 39686"/>
                      <a:gd name="connsiteX19" fmla="*/ 34224 w 40561"/>
                      <a:gd name="connsiteY19" fmla="*/ 6166 h 39686"/>
                      <a:gd name="connsiteX20" fmla="*/ 36759 w 40561"/>
                      <a:gd name="connsiteY20" fmla="*/ 9329 h 39686"/>
                      <a:gd name="connsiteX21" fmla="*/ 38660 w 40561"/>
                      <a:gd name="connsiteY21" fmla="*/ 12491 h 39686"/>
                      <a:gd name="connsiteX22" fmla="*/ 39928 w 40561"/>
                      <a:gd name="connsiteY22" fmla="*/ 16286 h 39686"/>
                      <a:gd name="connsiteX23" fmla="*/ 40562 w 40561"/>
                      <a:gd name="connsiteY23" fmla="*/ 20081 h 39686"/>
                      <a:gd name="connsiteX24" fmla="*/ 39928 w 40561"/>
                      <a:gd name="connsiteY24" fmla="*/ 23875 h 39686"/>
                      <a:gd name="connsiteX25" fmla="*/ 38660 w 40561"/>
                      <a:gd name="connsiteY25" fmla="*/ 27670 h 39686"/>
                      <a:gd name="connsiteX26" fmla="*/ 36759 w 40561"/>
                      <a:gd name="connsiteY26" fmla="*/ 30832 h 39686"/>
                      <a:gd name="connsiteX27" fmla="*/ 34224 w 40561"/>
                      <a:gd name="connsiteY27" fmla="*/ 33995 h 39686"/>
                      <a:gd name="connsiteX28" fmla="*/ 31055 w 40561"/>
                      <a:gd name="connsiteY28" fmla="*/ 36525 h 39686"/>
                      <a:gd name="connsiteX29" fmla="*/ 27886 w 40561"/>
                      <a:gd name="connsiteY29" fmla="*/ 38422 h 39686"/>
                      <a:gd name="connsiteX30" fmla="*/ 24084 w 40561"/>
                      <a:gd name="connsiteY30" fmla="*/ 39687 h 39686"/>
                      <a:gd name="connsiteX31" fmla="*/ 19647 w 40561"/>
                      <a:gd name="connsiteY31" fmla="*/ 39687 h 3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0561" h="39686">
                        <a:moveTo>
                          <a:pt x="19647" y="39687"/>
                        </a:moveTo>
                        <a:cubicBezTo>
                          <a:pt x="18380" y="39687"/>
                          <a:pt x="17112" y="39687"/>
                          <a:pt x="15844" y="39054"/>
                        </a:cubicBezTo>
                        <a:cubicBezTo>
                          <a:pt x="14577" y="39054"/>
                          <a:pt x="13309" y="38422"/>
                          <a:pt x="12042" y="37789"/>
                        </a:cubicBezTo>
                        <a:cubicBezTo>
                          <a:pt x="10774" y="37157"/>
                          <a:pt x="9507" y="36525"/>
                          <a:pt x="8873" y="35892"/>
                        </a:cubicBezTo>
                        <a:cubicBezTo>
                          <a:pt x="7605" y="35260"/>
                          <a:pt x="6972" y="34627"/>
                          <a:pt x="5704" y="33362"/>
                        </a:cubicBezTo>
                        <a:cubicBezTo>
                          <a:pt x="4436" y="32097"/>
                          <a:pt x="3803" y="31465"/>
                          <a:pt x="3169" y="30200"/>
                        </a:cubicBezTo>
                        <a:cubicBezTo>
                          <a:pt x="2535" y="28935"/>
                          <a:pt x="1901" y="27670"/>
                          <a:pt x="1268" y="27038"/>
                        </a:cubicBezTo>
                        <a:cubicBezTo>
                          <a:pt x="1268" y="26405"/>
                          <a:pt x="634" y="25140"/>
                          <a:pt x="634" y="23875"/>
                        </a:cubicBezTo>
                        <a:cubicBezTo>
                          <a:pt x="634" y="22610"/>
                          <a:pt x="0" y="21346"/>
                          <a:pt x="0" y="20081"/>
                        </a:cubicBezTo>
                        <a:cubicBezTo>
                          <a:pt x="0" y="18816"/>
                          <a:pt x="0" y="17551"/>
                          <a:pt x="634" y="16286"/>
                        </a:cubicBezTo>
                        <a:cubicBezTo>
                          <a:pt x="634" y="15021"/>
                          <a:pt x="1268" y="13756"/>
                          <a:pt x="1901" y="12491"/>
                        </a:cubicBezTo>
                        <a:cubicBezTo>
                          <a:pt x="2535" y="11226"/>
                          <a:pt x="3169" y="9961"/>
                          <a:pt x="3803" y="9329"/>
                        </a:cubicBezTo>
                        <a:cubicBezTo>
                          <a:pt x="4436" y="8064"/>
                          <a:pt x="5070" y="7431"/>
                          <a:pt x="6338" y="6166"/>
                        </a:cubicBezTo>
                        <a:cubicBezTo>
                          <a:pt x="6972" y="5534"/>
                          <a:pt x="8239" y="4269"/>
                          <a:pt x="9507" y="3637"/>
                        </a:cubicBezTo>
                        <a:cubicBezTo>
                          <a:pt x="10774" y="3004"/>
                          <a:pt x="12042" y="2372"/>
                          <a:pt x="12676" y="1739"/>
                        </a:cubicBezTo>
                        <a:cubicBezTo>
                          <a:pt x="13943" y="1107"/>
                          <a:pt x="15211" y="1107"/>
                          <a:pt x="16478" y="474"/>
                        </a:cubicBezTo>
                        <a:cubicBezTo>
                          <a:pt x="19013" y="-158"/>
                          <a:pt x="21548" y="-158"/>
                          <a:pt x="24084" y="474"/>
                        </a:cubicBezTo>
                        <a:cubicBezTo>
                          <a:pt x="25351" y="474"/>
                          <a:pt x="26619" y="1107"/>
                          <a:pt x="27886" y="1739"/>
                        </a:cubicBezTo>
                        <a:cubicBezTo>
                          <a:pt x="29154" y="2372"/>
                          <a:pt x="30421" y="3004"/>
                          <a:pt x="31055" y="3637"/>
                        </a:cubicBezTo>
                        <a:cubicBezTo>
                          <a:pt x="32323" y="4269"/>
                          <a:pt x="32956" y="4902"/>
                          <a:pt x="34224" y="6166"/>
                        </a:cubicBezTo>
                        <a:cubicBezTo>
                          <a:pt x="34858" y="7431"/>
                          <a:pt x="36125" y="8064"/>
                          <a:pt x="36759" y="9329"/>
                        </a:cubicBezTo>
                        <a:cubicBezTo>
                          <a:pt x="37393" y="10594"/>
                          <a:pt x="38027" y="11226"/>
                          <a:pt x="38660" y="12491"/>
                        </a:cubicBezTo>
                        <a:cubicBezTo>
                          <a:pt x="39294" y="13756"/>
                          <a:pt x="39294" y="15021"/>
                          <a:pt x="39928" y="16286"/>
                        </a:cubicBezTo>
                        <a:cubicBezTo>
                          <a:pt x="39928" y="17551"/>
                          <a:pt x="40562" y="18816"/>
                          <a:pt x="40562" y="20081"/>
                        </a:cubicBezTo>
                        <a:cubicBezTo>
                          <a:pt x="40562" y="21346"/>
                          <a:pt x="40562" y="22610"/>
                          <a:pt x="39928" y="23875"/>
                        </a:cubicBezTo>
                        <a:cubicBezTo>
                          <a:pt x="39928" y="25140"/>
                          <a:pt x="39294" y="26405"/>
                          <a:pt x="38660" y="27670"/>
                        </a:cubicBezTo>
                        <a:cubicBezTo>
                          <a:pt x="38027" y="28935"/>
                          <a:pt x="37393" y="30200"/>
                          <a:pt x="36759" y="30832"/>
                        </a:cubicBezTo>
                        <a:cubicBezTo>
                          <a:pt x="36125" y="32097"/>
                          <a:pt x="35492" y="32730"/>
                          <a:pt x="34224" y="33995"/>
                        </a:cubicBezTo>
                        <a:cubicBezTo>
                          <a:pt x="32956" y="34627"/>
                          <a:pt x="32323" y="35892"/>
                          <a:pt x="31055" y="36525"/>
                        </a:cubicBezTo>
                        <a:cubicBezTo>
                          <a:pt x="29788" y="37157"/>
                          <a:pt x="28520" y="37789"/>
                          <a:pt x="27886" y="38422"/>
                        </a:cubicBezTo>
                        <a:cubicBezTo>
                          <a:pt x="26619" y="39054"/>
                          <a:pt x="25351" y="39054"/>
                          <a:pt x="24084" y="39687"/>
                        </a:cubicBezTo>
                        <a:cubicBezTo>
                          <a:pt x="22182" y="39687"/>
                          <a:pt x="20915" y="39687"/>
                          <a:pt x="19647" y="3968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0" name="Picture Placeholder 100">
                    <a:extLst>
                      <a:ext uri="{FF2B5EF4-FFF2-40B4-BE49-F238E27FC236}">
                        <a16:creationId xmlns:a16="http://schemas.microsoft.com/office/drawing/2014/main" id="{7B93E73F-4D6C-5C94-C6FD-9386A747A076}"/>
                      </a:ext>
                    </a:extLst>
                  </p:cNvPr>
                  <p:cNvSpPr/>
                  <p:nvPr/>
                </p:nvSpPr>
                <p:spPr>
                  <a:xfrm>
                    <a:off x="10124175" y="2416598"/>
                    <a:ext cx="172387" cy="39212"/>
                  </a:xfrm>
                  <a:custGeom>
                    <a:avLst/>
                    <a:gdLst>
                      <a:gd name="connsiteX0" fmla="*/ 133093 w 172387"/>
                      <a:gd name="connsiteY0" fmla="*/ 19606 h 39212"/>
                      <a:gd name="connsiteX1" fmla="*/ 152741 w 172387"/>
                      <a:gd name="connsiteY1" fmla="*/ 0 h 39212"/>
                      <a:gd name="connsiteX2" fmla="*/ 152741 w 172387"/>
                      <a:gd name="connsiteY2" fmla="*/ 0 h 39212"/>
                      <a:gd name="connsiteX3" fmla="*/ 172388 w 172387"/>
                      <a:gd name="connsiteY3" fmla="*/ 19606 h 39212"/>
                      <a:gd name="connsiteX4" fmla="*/ 172388 w 172387"/>
                      <a:gd name="connsiteY4" fmla="*/ 19606 h 39212"/>
                      <a:gd name="connsiteX5" fmla="*/ 152741 w 172387"/>
                      <a:gd name="connsiteY5" fmla="*/ 39213 h 39212"/>
                      <a:gd name="connsiteX6" fmla="*/ 152741 w 172387"/>
                      <a:gd name="connsiteY6" fmla="*/ 39213 h 39212"/>
                      <a:gd name="connsiteX7" fmla="*/ 133093 w 172387"/>
                      <a:gd name="connsiteY7" fmla="*/ 19606 h 39212"/>
                      <a:gd name="connsiteX8" fmla="*/ 66547 w 172387"/>
                      <a:gd name="connsiteY8" fmla="*/ 19606 h 39212"/>
                      <a:gd name="connsiteX9" fmla="*/ 86194 w 172387"/>
                      <a:gd name="connsiteY9" fmla="*/ 0 h 39212"/>
                      <a:gd name="connsiteX10" fmla="*/ 86194 w 172387"/>
                      <a:gd name="connsiteY10" fmla="*/ 0 h 39212"/>
                      <a:gd name="connsiteX11" fmla="*/ 105841 w 172387"/>
                      <a:gd name="connsiteY11" fmla="*/ 19606 h 39212"/>
                      <a:gd name="connsiteX12" fmla="*/ 105841 w 172387"/>
                      <a:gd name="connsiteY12" fmla="*/ 19606 h 39212"/>
                      <a:gd name="connsiteX13" fmla="*/ 86194 w 172387"/>
                      <a:gd name="connsiteY13" fmla="*/ 39213 h 39212"/>
                      <a:gd name="connsiteX14" fmla="*/ 86194 w 172387"/>
                      <a:gd name="connsiteY14" fmla="*/ 39213 h 39212"/>
                      <a:gd name="connsiteX15" fmla="*/ 66547 w 172387"/>
                      <a:gd name="connsiteY15" fmla="*/ 19606 h 39212"/>
                      <a:gd name="connsiteX16" fmla="*/ 0 w 172387"/>
                      <a:gd name="connsiteY16" fmla="*/ 19606 h 39212"/>
                      <a:gd name="connsiteX17" fmla="*/ 19647 w 172387"/>
                      <a:gd name="connsiteY17" fmla="*/ 0 h 39212"/>
                      <a:gd name="connsiteX18" fmla="*/ 19647 w 172387"/>
                      <a:gd name="connsiteY18" fmla="*/ 0 h 39212"/>
                      <a:gd name="connsiteX19" fmla="*/ 39294 w 172387"/>
                      <a:gd name="connsiteY19" fmla="*/ 19606 h 39212"/>
                      <a:gd name="connsiteX20" fmla="*/ 39294 w 172387"/>
                      <a:gd name="connsiteY20" fmla="*/ 19606 h 39212"/>
                      <a:gd name="connsiteX21" fmla="*/ 19647 w 172387"/>
                      <a:gd name="connsiteY21" fmla="*/ 39213 h 39212"/>
                      <a:gd name="connsiteX22" fmla="*/ 19647 w 172387"/>
                      <a:gd name="connsiteY22" fmla="*/ 39213 h 39212"/>
                      <a:gd name="connsiteX23" fmla="*/ 0 w 172387"/>
                      <a:gd name="connsiteY23" fmla="*/ 19606 h 3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2387" h="39212">
                        <a:moveTo>
                          <a:pt x="133093" y="19606"/>
                        </a:moveTo>
                        <a:cubicBezTo>
                          <a:pt x="133093" y="8854"/>
                          <a:pt x="141966" y="0"/>
                          <a:pt x="152741" y="0"/>
                        </a:cubicBezTo>
                        <a:lnTo>
                          <a:pt x="152741" y="0"/>
                        </a:lnTo>
                        <a:cubicBezTo>
                          <a:pt x="163515" y="0"/>
                          <a:pt x="172388" y="8854"/>
                          <a:pt x="172388" y="19606"/>
                        </a:cubicBezTo>
                        <a:lnTo>
                          <a:pt x="172388" y="19606"/>
                        </a:lnTo>
                        <a:cubicBezTo>
                          <a:pt x="172388" y="30358"/>
                          <a:pt x="163515" y="39213"/>
                          <a:pt x="152741" y="39213"/>
                        </a:cubicBezTo>
                        <a:lnTo>
                          <a:pt x="152741" y="39213"/>
                        </a:lnTo>
                        <a:cubicBezTo>
                          <a:pt x="141966" y="39213"/>
                          <a:pt x="133093" y="30358"/>
                          <a:pt x="133093" y="19606"/>
                        </a:cubicBezTo>
                        <a:close/>
                        <a:moveTo>
                          <a:pt x="66547" y="19606"/>
                        </a:moveTo>
                        <a:cubicBezTo>
                          <a:pt x="66547" y="8854"/>
                          <a:pt x="75420" y="0"/>
                          <a:pt x="86194" y="0"/>
                        </a:cubicBezTo>
                        <a:lnTo>
                          <a:pt x="86194" y="0"/>
                        </a:lnTo>
                        <a:cubicBezTo>
                          <a:pt x="96968" y="0"/>
                          <a:pt x="105841" y="8854"/>
                          <a:pt x="105841" y="19606"/>
                        </a:cubicBezTo>
                        <a:lnTo>
                          <a:pt x="105841" y="19606"/>
                        </a:lnTo>
                        <a:cubicBezTo>
                          <a:pt x="105841" y="30358"/>
                          <a:pt x="96968" y="39213"/>
                          <a:pt x="86194" y="39213"/>
                        </a:cubicBezTo>
                        <a:lnTo>
                          <a:pt x="86194" y="39213"/>
                        </a:lnTo>
                        <a:cubicBezTo>
                          <a:pt x="75420" y="39213"/>
                          <a:pt x="66547" y="30358"/>
                          <a:pt x="66547" y="19606"/>
                        </a:cubicBezTo>
                        <a:close/>
                        <a:moveTo>
                          <a:pt x="0" y="19606"/>
                        </a:moveTo>
                        <a:cubicBezTo>
                          <a:pt x="0" y="8854"/>
                          <a:pt x="8873" y="0"/>
                          <a:pt x="19647" y="0"/>
                        </a:cubicBezTo>
                        <a:lnTo>
                          <a:pt x="19647" y="0"/>
                        </a:lnTo>
                        <a:cubicBezTo>
                          <a:pt x="30421" y="0"/>
                          <a:pt x="39294" y="8854"/>
                          <a:pt x="39294" y="19606"/>
                        </a:cubicBezTo>
                        <a:lnTo>
                          <a:pt x="39294" y="19606"/>
                        </a:lnTo>
                        <a:cubicBezTo>
                          <a:pt x="39294" y="30358"/>
                          <a:pt x="30421" y="39213"/>
                          <a:pt x="19647" y="39213"/>
                        </a:cubicBezTo>
                        <a:lnTo>
                          <a:pt x="19647" y="39213"/>
                        </a:lnTo>
                        <a:cubicBezTo>
                          <a:pt x="8873" y="39213"/>
                          <a:pt x="0" y="30358"/>
                          <a:pt x="0" y="196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1" name="Picture Placeholder 100">
                    <a:extLst>
                      <a:ext uri="{FF2B5EF4-FFF2-40B4-BE49-F238E27FC236}">
                        <a16:creationId xmlns:a16="http://schemas.microsoft.com/office/drawing/2014/main" id="{83228FAE-786D-75CB-C9A3-118AEAA7A470}"/>
                      </a:ext>
                    </a:extLst>
                  </p:cNvPr>
                  <p:cNvSpPr/>
                  <p:nvPr/>
                </p:nvSpPr>
                <p:spPr>
                  <a:xfrm>
                    <a:off x="10324449" y="2416273"/>
                    <a:ext cx="40561" cy="39538"/>
                  </a:xfrm>
                  <a:custGeom>
                    <a:avLst/>
                    <a:gdLst>
                      <a:gd name="connsiteX0" fmla="*/ 19647 w 40561"/>
                      <a:gd name="connsiteY0" fmla="*/ 39538 h 39538"/>
                      <a:gd name="connsiteX1" fmla="*/ 5704 w 40561"/>
                      <a:gd name="connsiteY1" fmla="*/ 33846 h 39538"/>
                      <a:gd name="connsiteX2" fmla="*/ 0 w 40561"/>
                      <a:gd name="connsiteY2" fmla="*/ 19932 h 39538"/>
                      <a:gd name="connsiteX3" fmla="*/ 634 w 40561"/>
                      <a:gd name="connsiteY3" fmla="*/ 16137 h 39538"/>
                      <a:gd name="connsiteX4" fmla="*/ 1901 w 40561"/>
                      <a:gd name="connsiteY4" fmla="*/ 12342 h 39538"/>
                      <a:gd name="connsiteX5" fmla="*/ 3803 w 40561"/>
                      <a:gd name="connsiteY5" fmla="*/ 9180 h 39538"/>
                      <a:gd name="connsiteX6" fmla="*/ 6338 w 40561"/>
                      <a:gd name="connsiteY6" fmla="*/ 6018 h 39538"/>
                      <a:gd name="connsiteX7" fmla="*/ 24084 w 40561"/>
                      <a:gd name="connsiteY7" fmla="*/ 326 h 39538"/>
                      <a:gd name="connsiteX8" fmla="*/ 27886 w 40561"/>
                      <a:gd name="connsiteY8" fmla="*/ 1591 h 39538"/>
                      <a:gd name="connsiteX9" fmla="*/ 31055 w 40561"/>
                      <a:gd name="connsiteY9" fmla="*/ 3488 h 39538"/>
                      <a:gd name="connsiteX10" fmla="*/ 34224 w 40561"/>
                      <a:gd name="connsiteY10" fmla="*/ 6018 h 39538"/>
                      <a:gd name="connsiteX11" fmla="*/ 36759 w 40561"/>
                      <a:gd name="connsiteY11" fmla="*/ 9180 h 39538"/>
                      <a:gd name="connsiteX12" fmla="*/ 38660 w 40561"/>
                      <a:gd name="connsiteY12" fmla="*/ 12342 h 39538"/>
                      <a:gd name="connsiteX13" fmla="*/ 39928 w 40561"/>
                      <a:gd name="connsiteY13" fmla="*/ 16137 h 39538"/>
                      <a:gd name="connsiteX14" fmla="*/ 40562 w 40561"/>
                      <a:gd name="connsiteY14" fmla="*/ 19932 h 39538"/>
                      <a:gd name="connsiteX15" fmla="*/ 34858 w 40561"/>
                      <a:gd name="connsiteY15" fmla="*/ 33846 h 39538"/>
                      <a:gd name="connsiteX16" fmla="*/ 31689 w 40561"/>
                      <a:gd name="connsiteY16" fmla="*/ 36376 h 39538"/>
                      <a:gd name="connsiteX17" fmla="*/ 28520 w 40561"/>
                      <a:gd name="connsiteY17" fmla="*/ 38273 h 39538"/>
                      <a:gd name="connsiteX18" fmla="*/ 24717 w 40561"/>
                      <a:gd name="connsiteY18" fmla="*/ 39538 h 39538"/>
                      <a:gd name="connsiteX19" fmla="*/ 19647 w 40561"/>
                      <a:gd name="connsiteY19" fmla="*/ 39538 h 3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561" h="39538">
                        <a:moveTo>
                          <a:pt x="19647" y="39538"/>
                        </a:moveTo>
                        <a:cubicBezTo>
                          <a:pt x="14577" y="39538"/>
                          <a:pt x="9507" y="37641"/>
                          <a:pt x="5704" y="33846"/>
                        </a:cubicBezTo>
                        <a:cubicBezTo>
                          <a:pt x="1901" y="30051"/>
                          <a:pt x="0" y="24992"/>
                          <a:pt x="0" y="19932"/>
                        </a:cubicBezTo>
                        <a:cubicBezTo>
                          <a:pt x="0" y="18667"/>
                          <a:pt x="0" y="17402"/>
                          <a:pt x="634" y="16137"/>
                        </a:cubicBezTo>
                        <a:cubicBezTo>
                          <a:pt x="634" y="14872"/>
                          <a:pt x="1268" y="13607"/>
                          <a:pt x="1901" y="12342"/>
                        </a:cubicBezTo>
                        <a:cubicBezTo>
                          <a:pt x="2535" y="11077"/>
                          <a:pt x="3169" y="9813"/>
                          <a:pt x="3803" y="9180"/>
                        </a:cubicBezTo>
                        <a:cubicBezTo>
                          <a:pt x="4436" y="7915"/>
                          <a:pt x="5070" y="7283"/>
                          <a:pt x="6338" y="6018"/>
                        </a:cubicBezTo>
                        <a:cubicBezTo>
                          <a:pt x="10774" y="1591"/>
                          <a:pt x="17746" y="-939"/>
                          <a:pt x="24084" y="326"/>
                        </a:cubicBezTo>
                        <a:cubicBezTo>
                          <a:pt x="25351" y="958"/>
                          <a:pt x="26619" y="958"/>
                          <a:pt x="27886" y="1591"/>
                        </a:cubicBezTo>
                        <a:cubicBezTo>
                          <a:pt x="29154" y="2223"/>
                          <a:pt x="30421" y="2855"/>
                          <a:pt x="31055" y="3488"/>
                        </a:cubicBezTo>
                        <a:cubicBezTo>
                          <a:pt x="32323" y="4120"/>
                          <a:pt x="32957" y="4753"/>
                          <a:pt x="34224" y="6018"/>
                        </a:cubicBezTo>
                        <a:cubicBezTo>
                          <a:pt x="34858" y="6650"/>
                          <a:pt x="36125" y="7915"/>
                          <a:pt x="36759" y="9180"/>
                        </a:cubicBezTo>
                        <a:cubicBezTo>
                          <a:pt x="37393" y="10445"/>
                          <a:pt x="38027" y="11077"/>
                          <a:pt x="38660" y="12342"/>
                        </a:cubicBezTo>
                        <a:cubicBezTo>
                          <a:pt x="39294" y="13607"/>
                          <a:pt x="39294" y="14872"/>
                          <a:pt x="39928" y="16137"/>
                        </a:cubicBezTo>
                        <a:cubicBezTo>
                          <a:pt x="39928" y="17402"/>
                          <a:pt x="40562" y="18667"/>
                          <a:pt x="40562" y="19932"/>
                        </a:cubicBezTo>
                        <a:cubicBezTo>
                          <a:pt x="40562" y="24992"/>
                          <a:pt x="38660" y="30051"/>
                          <a:pt x="34858" y="33846"/>
                        </a:cubicBezTo>
                        <a:cubicBezTo>
                          <a:pt x="33590" y="34478"/>
                          <a:pt x="32957" y="35743"/>
                          <a:pt x="31689" y="36376"/>
                        </a:cubicBezTo>
                        <a:cubicBezTo>
                          <a:pt x="30421" y="37008"/>
                          <a:pt x="29154" y="37641"/>
                          <a:pt x="28520" y="38273"/>
                        </a:cubicBezTo>
                        <a:cubicBezTo>
                          <a:pt x="27252" y="38906"/>
                          <a:pt x="25985" y="38906"/>
                          <a:pt x="24717" y="39538"/>
                        </a:cubicBezTo>
                        <a:cubicBezTo>
                          <a:pt x="22182" y="39538"/>
                          <a:pt x="20915" y="39538"/>
                          <a:pt x="19647" y="3953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7" name="Picture Placeholder 100">
                  <a:extLst>
                    <a:ext uri="{FF2B5EF4-FFF2-40B4-BE49-F238E27FC236}">
                      <a16:creationId xmlns:a16="http://schemas.microsoft.com/office/drawing/2014/main" id="{10EB7C75-16B5-DFAE-37FB-44559AA60578}"/>
                    </a:ext>
                  </a:extLst>
                </p:cNvPr>
                <p:cNvGrpSpPr/>
                <p:nvPr/>
              </p:nvGrpSpPr>
              <p:grpSpPr>
                <a:xfrm>
                  <a:off x="10056361" y="2288367"/>
                  <a:ext cx="309293" cy="40319"/>
                  <a:chOff x="10056361" y="2288367"/>
                  <a:chExt cx="309293" cy="40319"/>
                </a:xfrm>
                <a:grpFill/>
              </p:grpSpPr>
              <p:sp>
                <p:nvSpPr>
                  <p:cNvPr id="126" name="Picture Placeholder 100">
                    <a:extLst>
                      <a:ext uri="{FF2B5EF4-FFF2-40B4-BE49-F238E27FC236}">
                        <a16:creationId xmlns:a16="http://schemas.microsoft.com/office/drawing/2014/main" id="{2F4A6E05-5C26-9897-3B10-8217D69AC19D}"/>
                      </a:ext>
                    </a:extLst>
                  </p:cNvPr>
                  <p:cNvSpPr/>
                  <p:nvPr/>
                </p:nvSpPr>
                <p:spPr>
                  <a:xfrm>
                    <a:off x="10056361" y="2288367"/>
                    <a:ext cx="40561" cy="40319"/>
                  </a:xfrm>
                  <a:custGeom>
                    <a:avLst/>
                    <a:gdLst>
                      <a:gd name="connsiteX0" fmla="*/ 20281 w 40561"/>
                      <a:gd name="connsiteY0" fmla="*/ 40319 h 40319"/>
                      <a:gd name="connsiteX1" fmla="*/ 16478 w 40561"/>
                      <a:gd name="connsiteY1" fmla="*/ 39687 h 40319"/>
                      <a:gd name="connsiteX2" fmla="*/ 12676 w 40561"/>
                      <a:gd name="connsiteY2" fmla="*/ 38422 h 40319"/>
                      <a:gd name="connsiteX3" fmla="*/ 9507 w 40561"/>
                      <a:gd name="connsiteY3" fmla="*/ 36525 h 40319"/>
                      <a:gd name="connsiteX4" fmla="*/ 6338 w 40561"/>
                      <a:gd name="connsiteY4" fmla="*/ 33995 h 40319"/>
                      <a:gd name="connsiteX5" fmla="*/ 3803 w 40561"/>
                      <a:gd name="connsiteY5" fmla="*/ 30832 h 40319"/>
                      <a:gd name="connsiteX6" fmla="*/ 1901 w 40561"/>
                      <a:gd name="connsiteY6" fmla="*/ 27670 h 40319"/>
                      <a:gd name="connsiteX7" fmla="*/ 634 w 40561"/>
                      <a:gd name="connsiteY7" fmla="*/ 23875 h 40319"/>
                      <a:gd name="connsiteX8" fmla="*/ 0 w 40561"/>
                      <a:gd name="connsiteY8" fmla="*/ 20081 h 40319"/>
                      <a:gd name="connsiteX9" fmla="*/ 634 w 40561"/>
                      <a:gd name="connsiteY9" fmla="*/ 16286 h 40319"/>
                      <a:gd name="connsiteX10" fmla="*/ 1901 w 40561"/>
                      <a:gd name="connsiteY10" fmla="*/ 12491 h 40319"/>
                      <a:gd name="connsiteX11" fmla="*/ 3803 w 40561"/>
                      <a:gd name="connsiteY11" fmla="*/ 9329 h 40319"/>
                      <a:gd name="connsiteX12" fmla="*/ 6338 w 40561"/>
                      <a:gd name="connsiteY12" fmla="*/ 6166 h 40319"/>
                      <a:gd name="connsiteX13" fmla="*/ 9507 w 40561"/>
                      <a:gd name="connsiteY13" fmla="*/ 3637 h 40319"/>
                      <a:gd name="connsiteX14" fmla="*/ 12676 w 40561"/>
                      <a:gd name="connsiteY14" fmla="*/ 1739 h 40319"/>
                      <a:gd name="connsiteX15" fmla="*/ 16478 w 40561"/>
                      <a:gd name="connsiteY15" fmla="*/ 474 h 40319"/>
                      <a:gd name="connsiteX16" fmla="*/ 24084 w 40561"/>
                      <a:gd name="connsiteY16" fmla="*/ 474 h 40319"/>
                      <a:gd name="connsiteX17" fmla="*/ 27886 w 40561"/>
                      <a:gd name="connsiteY17" fmla="*/ 1739 h 40319"/>
                      <a:gd name="connsiteX18" fmla="*/ 31055 w 40561"/>
                      <a:gd name="connsiteY18" fmla="*/ 3637 h 40319"/>
                      <a:gd name="connsiteX19" fmla="*/ 34224 w 40561"/>
                      <a:gd name="connsiteY19" fmla="*/ 6166 h 40319"/>
                      <a:gd name="connsiteX20" fmla="*/ 36759 w 40561"/>
                      <a:gd name="connsiteY20" fmla="*/ 9329 h 40319"/>
                      <a:gd name="connsiteX21" fmla="*/ 38660 w 40561"/>
                      <a:gd name="connsiteY21" fmla="*/ 12491 h 40319"/>
                      <a:gd name="connsiteX22" fmla="*/ 39928 w 40561"/>
                      <a:gd name="connsiteY22" fmla="*/ 16286 h 40319"/>
                      <a:gd name="connsiteX23" fmla="*/ 40562 w 40561"/>
                      <a:gd name="connsiteY23" fmla="*/ 20081 h 40319"/>
                      <a:gd name="connsiteX24" fmla="*/ 39928 w 40561"/>
                      <a:gd name="connsiteY24" fmla="*/ 23875 h 40319"/>
                      <a:gd name="connsiteX25" fmla="*/ 38660 w 40561"/>
                      <a:gd name="connsiteY25" fmla="*/ 27670 h 40319"/>
                      <a:gd name="connsiteX26" fmla="*/ 36759 w 40561"/>
                      <a:gd name="connsiteY26" fmla="*/ 30832 h 40319"/>
                      <a:gd name="connsiteX27" fmla="*/ 34224 w 40561"/>
                      <a:gd name="connsiteY27" fmla="*/ 33995 h 40319"/>
                      <a:gd name="connsiteX28" fmla="*/ 31055 w 40561"/>
                      <a:gd name="connsiteY28" fmla="*/ 36525 h 40319"/>
                      <a:gd name="connsiteX29" fmla="*/ 27886 w 40561"/>
                      <a:gd name="connsiteY29" fmla="*/ 38422 h 40319"/>
                      <a:gd name="connsiteX30" fmla="*/ 24084 w 40561"/>
                      <a:gd name="connsiteY30" fmla="*/ 39687 h 40319"/>
                      <a:gd name="connsiteX31" fmla="*/ 20281 w 40561"/>
                      <a:gd name="connsiteY31" fmla="*/ 40319 h 40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0561" h="40319">
                        <a:moveTo>
                          <a:pt x="20281" y="40319"/>
                        </a:moveTo>
                        <a:cubicBezTo>
                          <a:pt x="19013" y="40319"/>
                          <a:pt x="17746" y="40319"/>
                          <a:pt x="16478" y="39687"/>
                        </a:cubicBezTo>
                        <a:cubicBezTo>
                          <a:pt x="15211" y="39687"/>
                          <a:pt x="13943" y="39054"/>
                          <a:pt x="12676" y="38422"/>
                        </a:cubicBezTo>
                        <a:cubicBezTo>
                          <a:pt x="11408" y="37789"/>
                          <a:pt x="10140" y="37157"/>
                          <a:pt x="9507" y="36525"/>
                        </a:cubicBezTo>
                        <a:cubicBezTo>
                          <a:pt x="8239" y="35892"/>
                          <a:pt x="7605" y="35260"/>
                          <a:pt x="6338" y="33995"/>
                        </a:cubicBezTo>
                        <a:cubicBezTo>
                          <a:pt x="5070" y="32730"/>
                          <a:pt x="4436" y="32097"/>
                          <a:pt x="3803" y="30832"/>
                        </a:cubicBezTo>
                        <a:cubicBezTo>
                          <a:pt x="3169" y="29567"/>
                          <a:pt x="2535" y="28303"/>
                          <a:pt x="1901" y="27670"/>
                        </a:cubicBezTo>
                        <a:cubicBezTo>
                          <a:pt x="1268" y="26405"/>
                          <a:pt x="1268" y="25140"/>
                          <a:pt x="634" y="23875"/>
                        </a:cubicBezTo>
                        <a:cubicBezTo>
                          <a:pt x="634" y="22610"/>
                          <a:pt x="0" y="21346"/>
                          <a:pt x="0" y="20081"/>
                        </a:cubicBezTo>
                        <a:cubicBezTo>
                          <a:pt x="0" y="18816"/>
                          <a:pt x="0" y="17551"/>
                          <a:pt x="634" y="16286"/>
                        </a:cubicBezTo>
                        <a:cubicBezTo>
                          <a:pt x="634" y="15021"/>
                          <a:pt x="1268" y="13756"/>
                          <a:pt x="1901" y="12491"/>
                        </a:cubicBezTo>
                        <a:cubicBezTo>
                          <a:pt x="2535" y="11226"/>
                          <a:pt x="3169" y="9961"/>
                          <a:pt x="3803" y="9329"/>
                        </a:cubicBezTo>
                        <a:cubicBezTo>
                          <a:pt x="4436" y="8064"/>
                          <a:pt x="5070" y="7431"/>
                          <a:pt x="6338" y="6166"/>
                        </a:cubicBezTo>
                        <a:cubicBezTo>
                          <a:pt x="7605" y="4902"/>
                          <a:pt x="8239" y="4269"/>
                          <a:pt x="9507" y="3637"/>
                        </a:cubicBezTo>
                        <a:cubicBezTo>
                          <a:pt x="10774" y="3004"/>
                          <a:pt x="12042" y="2372"/>
                          <a:pt x="12676" y="1739"/>
                        </a:cubicBezTo>
                        <a:cubicBezTo>
                          <a:pt x="13943" y="1107"/>
                          <a:pt x="15211" y="1107"/>
                          <a:pt x="16478" y="474"/>
                        </a:cubicBezTo>
                        <a:cubicBezTo>
                          <a:pt x="19013" y="-158"/>
                          <a:pt x="21548" y="-158"/>
                          <a:pt x="24084" y="474"/>
                        </a:cubicBezTo>
                        <a:cubicBezTo>
                          <a:pt x="25351" y="474"/>
                          <a:pt x="26619" y="1107"/>
                          <a:pt x="27886" y="1739"/>
                        </a:cubicBezTo>
                        <a:cubicBezTo>
                          <a:pt x="29154" y="2372"/>
                          <a:pt x="30421" y="3004"/>
                          <a:pt x="31055" y="3637"/>
                        </a:cubicBezTo>
                        <a:cubicBezTo>
                          <a:pt x="32323" y="4269"/>
                          <a:pt x="32956" y="4902"/>
                          <a:pt x="34224" y="6166"/>
                        </a:cubicBezTo>
                        <a:cubicBezTo>
                          <a:pt x="34858" y="6799"/>
                          <a:pt x="36125" y="8064"/>
                          <a:pt x="36759" y="9329"/>
                        </a:cubicBezTo>
                        <a:cubicBezTo>
                          <a:pt x="37393" y="10594"/>
                          <a:pt x="38027" y="11226"/>
                          <a:pt x="38660" y="12491"/>
                        </a:cubicBezTo>
                        <a:cubicBezTo>
                          <a:pt x="39294" y="13756"/>
                          <a:pt x="39294" y="15021"/>
                          <a:pt x="39928" y="16286"/>
                        </a:cubicBezTo>
                        <a:cubicBezTo>
                          <a:pt x="39928" y="17551"/>
                          <a:pt x="40562" y="18816"/>
                          <a:pt x="40562" y="20081"/>
                        </a:cubicBezTo>
                        <a:cubicBezTo>
                          <a:pt x="40562" y="21346"/>
                          <a:pt x="40562" y="22610"/>
                          <a:pt x="39928" y="23875"/>
                        </a:cubicBezTo>
                        <a:cubicBezTo>
                          <a:pt x="39928" y="25140"/>
                          <a:pt x="39294" y="26405"/>
                          <a:pt x="38660" y="27670"/>
                        </a:cubicBezTo>
                        <a:cubicBezTo>
                          <a:pt x="38027" y="28935"/>
                          <a:pt x="37393" y="30200"/>
                          <a:pt x="36759" y="30832"/>
                        </a:cubicBezTo>
                        <a:cubicBezTo>
                          <a:pt x="36125" y="32097"/>
                          <a:pt x="35492" y="32730"/>
                          <a:pt x="34224" y="33995"/>
                        </a:cubicBezTo>
                        <a:cubicBezTo>
                          <a:pt x="32956" y="34627"/>
                          <a:pt x="32323" y="35892"/>
                          <a:pt x="31055" y="36525"/>
                        </a:cubicBezTo>
                        <a:cubicBezTo>
                          <a:pt x="29788" y="37157"/>
                          <a:pt x="28520" y="37789"/>
                          <a:pt x="27886" y="38422"/>
                        </a:cubicBezTo>
                        <a:cubicBezTo>
                          <a:pt x="26619" y="39054"/>
                          <a:pt x="25351" y="39054"/>
                          <a:pt x="24084" y="39687"/>
                        </a:cubicBezTo>
                        <a:cubicBezTo>
                          <a:pt x="22816" y="40319"/>
                          <a:pt x="21548" y="40319"/>
                          <a:pt x="20281" y="4031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7" name="Picture Placeholder 100">
                    <a:extLst>
                      <a:ext uri="{FF2B5EF4-FFF2-40B4-BE49-F238E27FC236}">
                        <a16:creationId xmlns:a16="http://schemas.microsoft.com/office/drawing/2014/main" id="{AD4717DE-307C-FD1F-5890-0C4422BAA429}"/>
                      </a:ext>
                    </a:extLst>
                  </p:cNvPr>
                  <p:cNvSpPr/>
                  <p:nvPr/>
                </p:nvSpPr>
                <p:spPr>
                  <a:xfrm>
                    <a:off x="10124175" y="2289474"/>
                    <a:ext cx="172387" cy="39212"/>
                  </a:xfrm>
                  <a:custGeom>
                    <a:avLst/>
                    <a:gdLst>
                      <a:gd name="connsiteX0" fmla="*/ 133093 w 172387"/>
                      <a:gd name="connsiteY0" fmla="*/ 19606 h 39212"/>
                      <a:gd name="connsiteX1" fmla="*/ 152741 w 172387"/>
                      <a:gd name="connsiteY1" fmla="*/ 0 h 39212"/>
                      <a:gd name="connsiteX2" fmla="*/ 152741 w 172387"/>
                      <a:gd name="connsiteY2" fmla="*/ 0 h 39212"/>
                      <a:gd name="connsiteX3" fmla="*/ 172388 w 172387"/>
                      <a:gd name="connsiteY3" fmla="*/ 19606 h 39212"/>
                      <a:gd name="connsiteX4" fmla="*/ 172388 w 172387"/>
                      <a:gd name="connsiteY4" fmla="*/ 19606 h 39212"/>
                      <a:gd name="connsiteX5" fmla="*/ 152741 w 172387"/>
                      <a:gd name="connsiteY5" fmla="*/ 39213 h 39212"/>
                      <a:gd name="connsiteX6" fmla="*/ 152741 w 172387"/>
                      <a:gd name="connsiteY6" fmla="*/ 39213 h 39212"/>
                      <a:gd name="connsiteX7" fmla="*/ 133093 w 172387"/>
                      <a:gd name="connsiteY7" fmla="*/ 19606 h 39212"/>
                      <a:gd name="connsiteX8" fmla="*/ 66547 w 172387"/>
                      <a:gd name="connsiteY8" fmla="*/ 19606 h 39212"/>
                      <a:gd name="connsiteX9" fmla="*/ 86194 w 172387"/>
                      <a:gd name="connsiteY9" fmla="*/ 0 h 39212"/>
                      <a:gd name="connsiteX10" fmla="*/ 86194 w 172387"/>
                      <a:gd name="connsiteY10" fmla="*/ 0 h 39212"/>
                      <a:gd name="connsiteX11" fmla="*/ 105841 w 172387"/>
                      <a:gd name="connsiteY11" fmla="*/ 19606 h 39212"/>
                      <a:gd name="connsiteX12" fmla="*/ 105841 w 172387"/>
                      <a:gd name="connsiteY12" fmla="*/ 19606 h 39212"/>
                      <a:gd name="connsiteX13" fmla="*/ 86194 w 172387"/>
                      <a:gd name="connsiteY13" fmla="*/ 39213 h 39212"/>
                      <a:gd name="connsiteX14" fmla="*/ 86194 w 172387"/>
                      <a:gd name="connsiteY14" fmla="*/ 39213 h 39212"/>
                      <a:gd name="connsiteX15" fmla="*/ 66547 w 172387"/>
                      <a:gd name="connsiteY15" fmla="*/ 19606 h 39212"/>
                      <a:gd name="connsiteX16" fmla="*/ 0 w 172387"/>
                      <a:gd name="connsiteY16" fmla="*/ 19606 h 39212"/>
                      <a:gd name="connsiteX17" fmla="*/ 19647 w 172387"/>
                      <a:gd name="connsiteY17" fmla="*/ 0 h 39212"/>
                      <a:gd name="connsiteX18" fmla="*/ 19647 w 172387"/>
                      <a:gd name="connsiteY18" fmla="*/ 0 h 39212"/>
                      <a:gd name="connsiteX19" fmla="*/ 39294 w 172387"/>
                      <a:gd name="connsiteY19" fmla="*/ 19606 h 39212"/>
                      <a:gd name="connsiteX20" fmla="*/ 39294 w 172387"/>
                      <a:gd name="connsiteY20" fmla="*/ 19606 h 39212"/>
                      <a:gd name="connsiteX21" fmla="*/ 19647 w 172387"/>
                      <a:gd name="connsiteY21" fmla="*/ 39213 h 39212"/>
                      <a:gd name="connsiteX22" fmla="*/ 19647 w 172387"/>
                      <a:gd name="connsiteY22" fmla="*/ 39213 h 39212"/>
                      <a:gd name="connsiteX23" fmla="*/ 0 w 172387"/>
                      <a:gd name="connsiteY23" fmla="*/ 19606 h 3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2387" h="39212">
                        <a:moveTo>
                          <a:pt x="133093" y="19606"/>
                        </a:moveTo>
                        <a:cubicBezTo>
                          <a:pt x="133093" y="8854"/>
                          <a:pt x="141966" y="0"/>
                          <a:pt x="152741" y="0"/>
                        </a:cubicBezTo>
                        <a:lnTo>
                          <a:pt x="152741" y="0"/>
                        </a:lnTo>
                        <a:cubicBezTo>
                          <a:pt x="163515" y="0"/>
                          <a:pt x="172388" y="8854"/>
                          <a:pt x="172388" y="19606"/>
                        </a:cubicBezTo>
                        <a:lnTo>
                          <a:pt x="172388" y="19606"/>
                        </a:lnTo>
                        <a:cubicBezTo>
                          <a:pt x="172388" y="30358"/>
                          <a:pt x="163515" y="39213"/>
                          <a:pt x="152741" y="39213"/>
                        </a:cubicBezTo>
                        <a:lnTo>
                          <a:pt x="152741" y="39213"/>
                        </a:lnTo>
                        <a:cubicBezTo>
                          <a:pt x="141966" y="39213"/>
                          <a:pt x="133093" y="30358"/>
                          <a:pt x="133093" y="19606"/>
                        </a:cubicBezTo>
                        <a:close/>
                        <a:moveTo>
                          <a:pt x="66547" y="19606"/>
                        </a:moveTo>
                        <a:cubicBezTo>
                          <a:pt x="66547" y="8854"/>
                          <a:pt x="75420" y="0"/>
                          <a:pt x="86194" y="0"/>
                        </a:cubicBezTo>
                        <a:lnTo>
                          <a:pt x="86194" y="0"/>
                        </a:lnTo>
                        <a:cubicBezTo>
                          <a:pt x="96968" y="0"/>
                          <a:pt x="105841" y="8854"/>
                          <a:pt x="105841" y="19606"/>
                        </a:cubicBezTo>
                        <a:lnTo>
                          <a:pt x="105841" y="19606"/>
                        </a:lnTo>
                        <a:cubicBezTo>
                          <a:pt x="105841" y="30358"/>
                          <a:pt x="96968" y="39213"/>
                          <a:pt x="86194" y="39213"/>
                        </a:cubicBezTo>
                        <a:lnTo>
                          <a:pt x="86194" y="39213"/>
                        </a:lnTo>
                        <a:cubicBezTo>
                          <a:pt x="75420" y="39213"/>
                          <a:pt x="66547" y="30358"/>
                          <a:pt x="66547" y="19606"/>
                        </a:cubicBezTo>
                        <a:close/>
                        <a:moveTo>
                          <a:pt x="0" y="19606"/>
                        </a:moveTo>
                        <a:cubicBezTo>
                          <a:pt x="0" y="8854"/>
                          <a:pt x="8873" y="0"/>
                          <a:pt x="19647" y="0"/>
                        </a:cubicBezTo>
                        <a:lnTo>
                          <a:pt x="19647" y="0"/>
                        </a:lnTo>
                        <a:cubicBezTo>
                          <a:pt x="30421" y="0"/>
                          <a:pt x="39294" y="8854"/>
                          <a:pt x="39294" y="19606"/>
                        </a:cubicBezTo>
                        <a:lnTo>
                          <a:pt x="39294" y="19606"/>
                        </a:lnTo>
                        <a:cubicBezTo>
                          <a:pt x="39294" y="30358"/>
                          <a:pt x="30421" y="39213"/>
                          <a:pt x="19647" y="39213"/>
                        </a:cubicBezTo>
                        <a:lnTo>
                          <a:pt x="19647" y="39213"/>
                        </a:lnTo>
                        <a:cubicBezTo>
                          <a:pt x="8873" y="39213"/>
                          <a:pt x="0" y="30358"/>
                          <a:pt x="0" y="196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8" name="Picture Placeholder 100">
                    <a:extLst>
                      <a:ext uri="{FF2B5EF4-FFF2-40B4-BE49-F238E27FC236}">
                        <a16:creationId xmlns:a16="http://schemas.microsoft.com/office/drawing/2014/main" id="{9873D44C-F730-530A-4BFC-3131BC832107}"/>
                      </a:ext>
                    </a:extLst>
                  </p:cNvPr>
                  <p:cNvSpPr/>
                  <p:nvPr/>
                </p:nvSpPr>
                <p:spPr>
                  <a:xfrm>
                    <a:off x="10324449" y="2289089"/>
                    <a:ext cx="40561" cy="39597"/>
                  </a:xfrm>
                  <a:custGeom>
                    <a:avLst/>
                    <a:gdLst>
                      <a:gd name="connsiteX0" fmla="*/ 19647 w 40561"/>
                      <a:gd name="connsiteY0" fmla="*/ 39597 h 39597"/>
                      <a:gd name="connsiteX1" fmla="*/ 5704 w 40561"/>
                      <a:gd name="connsiteY1" fmla="*/ 33905 h 39597"/>
                      <a:gd name="connsiteX2" fmla="*/ 0 w 40561"/>
                      <a:gd name="connsiteY2" fmla="*/ 19991 h 39597"/>
                      <a:gd name="connsiteX3" fmla="*/ 634 w 40561"/>
                      <a:gd name="connsiteY3" fmla="*/ 16196 h 39597"/>
                      <a:gd name="connsiteX4" fmla="*/ 1901 w 40561"/>
                      <a:gd name="connsiteY4" fmla="*/ 12401 h 39597"/>
                      <a:gd name="connsiteX5" fmla="*/ 3803 w 40561"/>
                      <a:gd name="connsiteY5" fmla="*/ 9239 h 39597"/>
                      <a:gd name="connsiteX6" fmla="*/ 6338 w 40561"/>
                      <a:gd name="connsiteY6" fmla="*/ 6077 h 39597"/>
                      <a:gd name="connsiteX7" fmla="*/ 9507 w 40561"/>
                      <a:gd name="connsiteY7" fmla="*/ 3547 h 39597"/>
                      <a:gd name="connsiteX8" fmla="*/ 12676 w 40561"/>
                      <a:gd name="connsiteY8" fmla="*/ 1650 h 39597"/>
                      <a:gd name="connsiteX9" fmla="*/ 16478 w 40561"/>
                      <a:gd name="connsiteY9" fmla="*/ 385 h 39597"/>
                      <a:gd name="connsiteX10" fmla="*/ 34224 w 40561"/>
                      <a:gd name="connsiteY10" fmla="*/ 5444 h 39597"/>
                      <a:gd name="connsiteX11" fmla="*/ 36759 w 40561"/>
                      <a:gd name="connsiteY11" fmla="*/ 8607 h 39597"/>
                      <a:gd name="connsiteX12" fmla="*/ 38660 w 40561"/>
                      <a:gd name="connsiteY12" fmla="*/ 11769 h 39597"/>
                      <a:gd name="connsiteX13" fmla="*/ 39928 w 40561"/>
                      <a:gd name="connsiteY13" fmla="*/ 15564 h 39597"/>
                      <a:gd name="connsiteX14" fmla="*/ 40562 w 40561"/>
                      <a:gd name="connsiteY14" fmla="*/ 19358 h 39597"/>
                      <a:gd name="connsiteX15" fmla="*/ 34858 w 40561"/>
                      <a:gd name="connsiteY15" fmla="*/ 33273 h 39597"/>
                      <a:gd name="connsiteX16" fmla="*/ 31689 w 40561"/>
                      <a:gd name="connsiteY16" fmla="*/ 35802 h 39597"/>
                      <a:gd name="connsiteX17" fmla="*/ 28520 w 40561"/>
                      <a:gd name="connsiteY17" fmla="*/ 37700 h 39597"/>
                      <a:gd name="connsiteX18" fmla="*/ 24717 w 40561"/>
                      <a:gd name="connsiteY18" fmla="*/ 38965 h 39597"/>
                      <a:gd name="connsiteX19" fmla="*/ 19647 w 40561"/>
                      <a:gd name="connsiteY19" fmla="*/ 39597 h 3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561" h="39597">
                        <a:moveTo>
                          <a:pt x="19647" y="39597"/>
                        </a:moveTo>
                        <a:cubicBezTo>
                          <a:pt x="14577" y="39597"/>
                          <a:pt x="9507" y="37700"/>
                          <a:pt x="5704" y="33905"/>
                        </a:cubicBezTo>
                        <a:cubicBezTo>
                          <a:pt x="1901" y="30110"/>
                          <a:pt x="0" y="25051"/>
                          <a:pt x="0" y="19991"/>
                        </a:cubicBezTo>
                        <a:cubicBezTo>
                          <a:pt x="0" y="18726"/>
                          <a:pt x="0" y="17461"/>
                          <a:pt x="634" y="16196"/>
                        </a:cubicBezTo>
                        <a:cubicBezTo>
                          <a:pt x="634" y="14931"/>
                          <a:pt x="1268" y="13666"/>
                          <a:pt x="1901" y="12401"/>
                        </a:cubicBezTo>
                        <a:cubicBezTo>
                          <a:pt x="2535" y="11137"/>
                          <a:pt x="3169" y="9872"/>
                          <a:pt x="3803" y="9239"/>
                        </a:cubicBezTo>
                        <a:cubicBezTo>
                          <a:pt x="4436" y="7974"/>
                          <a:pt x="5070" y="7342"/>
                          <a:pt x="6338" y="6077"/>
                        </a:cubicBezTo>
                        <a:cubicBezTo>
                          <a:pt x="7605" y="4812"/>
                          <a:pt x="8239" y="4179"/>
                          <a:pt x="9507" y="3547"/>
                        </a:cubicBezTo>
                        <a:cubicBezTo>
                          <a:pt x="10774" y="2915"/>
                          <a:pt x="12042" y="2282"/>
                          <a:pt x="12676" y="1650"/>
                        </a:cubicBezTo>
                        <a:cubicBezTo>
                          <a:pt x="13943" y="1017"/>
                          <a:pt x="15211" y="1017"/>
                          <a:pt x="16478" y="385"/>
                        </a:cubicBezTo>
                        <a:cubicBezTo>
                          <a:pt x="22816" y="-880"/>
                          <a:pt x="29788" y="1017"/>
                          <a:pt x="34224" y="5444"/>
                        </a:cubicBezTo>
                        <a:cubicBezTo>
                          <a:pt x="34858" y="6077"/>
                          <a:pt x="36125" y="7342"/>
                          <a:pt x="36759" y="8607"/>
                        </a:cubicBezTo>
                        <a:cubicBezTo>
                          <a:pt x="37393" y="9872"/>
                          <a:pt x="38027" y="10504"/>
                          <a:pt x="38660" y="11769"/>
                        </a:cubicBezTo>
                        <a:cubicBezTo>
                          <a:pt x="39294" y="13034"/>
                          <a:pt x="39294" y="14299"/>
                          <a:pt x="39928" y="15564"/>
                        </a:cubicBezTo>
                        <a:cubicBezTo>
                          <a:pt x="39928" y="16829"/>
                          <a:pt x="40562" y="18094"/>
                          <a:pt x="40562" y="19358"/>
                        </a:cubicBezTo>
                        <a:cubicBezTo>
                          <a:pt x="40562" y="24418"/>
                          <a:pt x="38660" y="29478"/>
                          <a:pt x="34858" y="33273"/>
                        </a:cubicBezTo>
                        <a:cubicBezTo>
                          <a:pt x="33590" y="33905"/>
                          <a:pt x="32957" y="35170"/>
                          <a:pt x="31689" y="35802"/>
                        </a:cubicBezTo>
                        <a:cubicBezTo>
                          <a:pt x="30421" y="36435"/>
                          <a:pt x="29154" y="37067"/>
                          <a:pt x="28520" y="37700"/>
                        </a:cubicBezTo>
                        <a:cubicBezTo>
                          <a:pt x="27252" y="38332"/>
                          <a:pt x="25985" y="38332"/>
                          <a:pt x="24717" y="38965"/>
                        </a:cubicBezTo>
                        <a:cubicBezTo>
                          <a:pt x="22182" y="39597"/>
                          <a:pt x="20915" y="39597"/>
                          <a:pt x="19647" y="3959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8" name="Picture Placeholder 100">
                  <a:extLst>
                    <a:ext uri="{FF2B5EF4-FFF2-40B4-BE49-F238E27FC236}">
                      <a16:creationId xmlns:a16="http://schemas.microsoft.com/office/drawing/2014/main" id="{D3C8763D-07C3-F943-2340-0A20C8848394}"/>
                    </a:ext>
                  </a:extLst>
                </p:cNvPr>
                <p:cNvGrpSpPr/>
                <p:nvPr/>
              </p:nvGrpSpPr>
              <p:grpSpPr>
                <a:xfrm>
                  <a:off x="10056361" y="2045592"/>
                  <a:ext cx="308658" cy="40862"/>
                  <a:chOff x="10056361" y="2045592"/>
                  <a:chExt cx="308658" cy="40862"/>
                </a:xfrm>
                <a:grpFill/>
              </p:grpSpPr>
              <p:sp>
                <p:nvSpPr>
                  <p:cNvPr id="123" name="Picture Placeholder 100">
                    <a:extLst>
                      <a:ext uri="{FF2B5EF4-FFF2-40B4-BE49-F238E27FC236}">
                        <a16:creationId xmlns:a16="http://schemas.microsoft.com/office/drawing/2014/main" id="{EE8BEC5A-F5C2-48D5-89FA-F59F0C8583E7}"/>
                      </a:ext>
                    </a:extLst>
                  </p:cNvPr>
                  <p:cNvSpPr/>
                  <p:nvPr/>
                </p:nvSpPr>
                <p:spPr>
                  <a:xfrm>
                    <a:off x="10056361" y="2045592"/>
                    <a:ext cx="40561" cy="40229"/>
                  </a:xfrm>
                  <a:custGeom>
                    <a:avLst/>
                    <a:gdLst>
                      <a:gd name="connsiteX0" fmla="*/ 20281 w 40561"/>
                      <a:gd name="connsiteY0" fmla="*/ 40230 h 40229"/>
                      <a:gd name="connsiteX1" fmla="*/ 16478 w 40561"/>
                      <a:gd name="connsiteY1" fmla="*/ 39597 h 40229"/>
                      <a:gd name="connsiteX2" fmla="*/ 12676 w 40561"/>
                      <a:gd name="connsiteY2" fmla="*/ 38332 h 40229"/>
                      <a:gd name="connsiteX3" fmla="*/ 9507 w 40561"/>
                      <a:gd name="connsiteY3" fmla="*/ 36435 h 40229"/>
                      <a:gd name="connsiteX4" fmla="*/ 6338 w 40561"/>
                      <a:gd name="connsiteY4" fmla="*/ 33905 h 40229"/>
                      <a:gd name="connsiteX5" fmla="*/ 3803 w 40561"/>
                      <a:gd name="connsiteY5" fmla="*/ 30743 h 40229"/>
                      <a:gd name="connsiteX6" fmla="*/ 1901 w 40561"/>
                      <a:gd name="connsiteY6" fmla="*/ 27580 h 40229"/>
                      <a:gd name="connsiteX7" fmla="*/ 634 w 40561"/>
                      <a:gd name="connsiteY7" fmla="*/ 23786 h 40229"/>
                      <a:gd name="connsiteX8" fmla="*/ 0 w 40561"/>
                      <a:gd name="connsiteY8" fmla="*/ 19991 h 40229"/>
                      <a:gd name="connsiteX9" fmla="*/ 634 w 40561"/>
                      <a:gd name="connsiteY9" fmla="*/ 16196 h 40229"/>
                      <a:gd name="connsiteX10" fmla="*/ 1901 w 40561"/>
                      <a:gd name="connsiteY10" fmla="*/ 12401 h 40229"/>
                      <a:gd name="connsiteX11" fmla="*/ 3803 w 40561"/>
                      <a:gd name="connsiteY11" fmla="*/ 9239 h 40229"/>
                      <a:gd name="connsiteX12" fmla="*/ 6338 w 40561"/>
                      <a:gd name="connsiteY12" fmla="*/ 6077 h 40229"/>
                      <a:gd name="connsiteX13" fmla="*/ 9507 w 40561"/>
                      <a:gd name="connsiteY13" fmla="*/ 3547 h 40229"/>
                      <a:gd name="connsiteX14" fmla="*/ 12676 w 40561"/>
                      <a:gd name="connsiteY14" fmla="*/ 1650 h 40229"/>
                      <a:gd name="connsiteX15" fmla="*/ 16478 w 40561"/>
                      <a:gd name="connsiteY15" fmla="*/ 385 h 40229"/>
                      <a:gd name="connsiteX16" fmla="*/ 34224 w 40561"/>
                      <a:gd name="connsiteY16" fmla="*/ 5444 h 40229"/>
                      <a:gd name="connsiteX17" fmla="*/ 36759 w 40561"/>
                      <a:gd name="connsiteY17" fmla="*/ 8607 h 40229"/>
                      <a:gd name="connsiteX18" fmla="*/ 38660 w 40561"/>
                      <a:gd name="connsiteY18" fmla="*/ 11769 h 40229"/>
                      <a:gd name="connsiteX19" fmla="*/ 39928 w 40561"/>
                      <a:gd name="connsiteY19" fmla="*/ 15564 h 40229"/>
                      <a:gd name="connsiteX20" fmla="*/ 40562 w 40561"/>
                      <a:gd name="connsiteY20" fmla="*/ 19358 h 40229"/>
                      <a:gd name="connsiteX21" fmla="*/ 39928 w 40561"/>
                      <a:gd name="connsiteY21" fmla="*/ 23153 h 40229"/>
                      <a:gd name="connsiteX22" fmla="*/ 38660 w 40561"/>
                      <a:gd name="connsiteY22" fmla="*/ 26948 h 40229"/>
                      <a:gd name="connsiteX23" fmla="*/ 36759 w 40561"/>
                      <a:gd name="connsiteY23" fmla="*/ 30110 h 40229"/>
                      <a:gd name="connsiteX24" fmla="*/ 34224 w 40561"/>
                      <a:gd name="connsiteY24" fmla="*/ 33273 h 40229"/>
                      <a:gd name="connsiteX25" fmla="*/ 31055 w 40561"/>
                      <a:gd name="connsiteY25" fmla="*/ 35802 h 40229"/>
                      <a:gd name="connsiteX26" fmla="*/ 27886 w 40561"/>
                      <a:gd name="connsiteY26" fmla="*/ 37700 h 40229"/>
                      <a:gd name="connsiteX27" fmla="*/ 24084 w 40561"/>
                      <a:gd name="connsiteY27" fmla="*/ 38965 h 40229"/>
                      <a:gd name="connsiteX28" fmla="*/ 20281 w 40561"/>
                      <a:gd name="connsiteY28" fmla="*/ 40230 h 40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561" h="40229">
                        <a:moveTo>
                          <a:pt x="20281" y="40230"/>
                        </a:moveTo>
                        <a:cubicBezTo>
                          <a:pt x="19013" y="40230"/>
                          <a:pt x="17746" y="40230"/>
                          <a:pt x="16478" y="39597"/>
                        </a:cubicBezTo>
                        <a:cubicBezTo>
                          <a:pt x="15211" y="39597"/>
                          <a:pt x="13943" y="38965"/>
                          <a:pt x="12676" y="38332"/>
                        </a:cubicBezTo>
                        <a:cubicBezTo>
                          <a:pt x="11408" y="37700"/>
                          <a:pt x="10140" y="37067"/>
                          <a:pt x="9507" y="36435"/>
                        </a:cubicBezTo>
                        <a:cubicBezTo>
                          <a:pt x="8239" y="35802"/>
                          <a:pt x="7605" y="35170"/>
                          <a:pt x="6338" y="33905"/>
                        </a:cubicBezTo>
                        <a:cubicBezTo>
                          <a:pt x="5070" y="32640"/>
                          <a:pt x="4436" y="32008"/>
                          <a:pt x="3803" y="30743"/>
                        </a:cubicBezTo>
                        <a:cubicBezTo>
                          <a:pt x="3169" y="29478"/>
                          <a:pt x="2535" y="28213"/>
                          <a:pt x="1901" y="27580"/>
                        </a:cubicBezTo>
                        <a:cubicBezTo>
                          <a:pt x="1268" y="26316"/>
                          <a:pt x="1268" y="25051"/>
                          <a:pt x="634" y="23786"/>
                        </a:cubicBezTo>
                        <a:cubicBezTo>
                          <a:pt x="634" y="22521"/>
                          <a:pt x="0" y="21256"/>
                          <a:pt x="0" y="19991"/>
                        </a:cubicBezTo>
                        <a:cubicBezTo>
                          <a:pt x="0" y="18726"/>
                          <a:pt x="0" y="17461"/>
                          <a:pt x="634" y="16196"/>
                        </a:cubicBezTo>
                        <a:cubicBezTo>
                          <a:pt x="634" y="14931"/>
                          <a:pt x="1268" y="13666"/>
                          <a:pt x="1901" y="12401"/>
                        </a:cubicBezTo>
                        <a:cubicBezTo>
                          <a:pt x="2535" y="11137"/>
                          <a:pt x="3169" y="9872"/>
                          <a:pt x="3803" y="9239"/>
                        </a:cubicBezTo>
                        <a:cubicBezTo>
                          <a:pt x="4436" y="7974"/>
                          <a:pt x="5070" y="7342"/>
                          <a:pt x="6338" y="6077"/>
                        </a:cubicBezTo>
                        <a:cubicBezTo>
                          <a:pt x="6972" y="5444"/>
                          <a:pt x="8239" y="4179"/>
                          <a:pt x="9507" y="3547"/>
                        </a:cubicBezTo>
                        <a:cubicBezTo>
                          <a:pt x="10774" y="2915"/>
                          <a:pt x="12042" y="2282"/>
                          <a:pt x="12676" y="1650"/>
                        </a:cubicBezTo>
                        <a:cubicBezTo>
                          <a:pt x="13943" y="1017"/>
                          <a:pt x="15211" y="1017"/>
                          <a:pt x="16478" y="385"/>
                        </a:cubicBezTo>
                        <a:cubicBezTo>
                          <a:pt x="22816" y="-880"/>
                          <a:pt x="29788" y="1017"/>
                          <a:pt x="34224" y="5444"/>
                        </a:cubicBezTo>
                        <a:cubicBezTo>
                          <a:pt x="34858" y="6709"/>
                          <a:pt x="36125" y="7342"/>
                          <a:pt x="36759" y="8607"/>
                        </a:cubicBezTo>
                        <a:cubicBezTo>
                          <a:pt x="37393" y="9872"/>
                          <a:pt x="38027" y="11137"/>
                          <a:pt x="38660" y="11769"/>
                        </a:cubicBezTo>
                        <a:cubicBezTo>
                          <a:pt x="39294" y="13034"/>
                          <a:pt x="39294" y="14299"/>
                          <a:pt x="39928" y="15564"/>
                        </a:cubicBezTo>
                        <a:cubicBezTo>
                          <a:pt x="39928" y="16829"/>
                          <a:pt x="40562" y="18094"/>
                          <a:pt x="40562" y="19358"/>
                        </a:cubicBezTo>
                        <a:cubicBezTo>
                          <a:pt x="40562" y="20623"/>
                          <a:pt x="40562" y="21888"/>
                          <a:pt x="39928" y="23153"/>
                        </a:cubicBezTo>
                        <a:cubicBezTo>
                          <a:pt x="39928" y="24418"/>
                          <a:pt x="39294" y="25683"/>
                          <a:pt x="38660" y="26948"/>
                        </a:cubicBezTo>
                        <a:cubicBezTo>
                          <a:pt x="38027" y="28213"/>
                          <a:pt x="37393" y="29478"/>
                          <a:pt x="36759" y="30110"/>
                        </a:cubicBezTo>
                        <a:cubicBezTo>
                          <a:pt x="36125" y="31375"/>
                          <a:pt x="35492" y="32008"/>
                          <a:pt x="34224" y="33273"/>
                        </a:cubicBezTo>
                        <a:cubicBezTo>
                          <a:pt x="32956" y="33905"/>
                          <a:pt x="32323" y="35170"/>
                          <a:pt x="31055" y="35802"/>
                        </a:cubicBezTo>
                        <a:cubicBezTo>
                          <a:pt x="29788" y="36435"/>
                          <a:pt x="28520" y="37067"/>
                          <a:pt x="27886" y="37700"/>
                        </a:cubicBezTo>
                        <a:cubicBezTo>
                          <a:pt x="26619" y="38332"/>
                          <a:pt x="25351" y="38332"/>
                          <a:pt x="24084" y="38965"/>
                        </a:cubicBezTo>
                        <a:cubicBezTo>
                          <a:pt x="22816" y="40230"/>
                          <a:pt x="21548" y="40230"/>
                          <a:pt x="20281" y="4023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4" name="Picture Placeholder 100">
                    <a:extLst>
                      <a:ext uri="{FF2B5EF4-FFF2-40B4-BE49-F238E27FC236}">
                        <a16:creationId xmlns:a16="http://schemas.microsoft.com/office/drawing/2014/main" id="{0A764E53-CCF7-4405-D0DE-07C5DB5AC44A}"/>
                      </a:ext>
                    </a:extLst>
                  </p:cNvPr>
                  <p:cNvSpPr/>
                  <p:nvPr/>
                </p:nvSpPr>
                <p:spPr>
                  <a:xfrm>
                    <a:off x="10124175" y="2046609"/>
                    <a:ext cx="172387" cy="39212"/>
                  </a:xfrm>
                  <a:custGeom>
                    <a:avLst/>
                    <a:gdLst>
                      <a:gd name="connsiteX0" fmla="*/ 133093 w 172387"/>
                      <a:gd name="connsiteY0" fmla="*/ 19606 h 39212"/>
                      <a:gd name="connsiteX1" fmla="*/ 152741 w 172387"/>
                      <a:gd name="connsiteY1" fmla="*/ 0 h 39212"/>
                      <a:gd name="connsiteX2" fmla="*/ 152741 w 172387"/>
                      <a:gd name="connsiteY2" fmla="*/ 0 h 39212"/>
                      <a:gd name="connsiteX3" fmla="*/ 172388 w 172387"/>
                      <a:gd name="connsiteY3" fmla="*/ 19606 h 39212"/>
                      <a:gd name="connsiteX4" fmla="*/ 172388 w 172387"/>
                      <a:gd name="connsiteY4" fmla="*/ 19606 h 39212"/>
                      <a:gd name="connsiteX5" fmla="*/ 152741 w 172387"/>
                      <a:gd name="connsiteY5" fmla="*/ 39213 h 39212"/>
                      <a:gd name="connsiteX6" fmla="*/ 152741 w 172387"/>
                      <a:gd name="connsiteY6" fmla="*/ 39213 h 39212"/>
                      <a:gd name="connsiteX7" fmla="*/ 133093 w 172387"/>
                      <a:gd name="connsiteY7" fmla="*/ 19606 h 39212"/>
                      <a:gd name="connsiteX8" fmla="*/ 66547 w 172387"/>
                      <a:gd name="connsiteY8" fmla="*/ 19606 h 39212"/>
                      <a:gd name="connsiteX9" fmla="*/ 86194 w 172387"/>
                      <a:gd name="connsiteY9" fmla="*/ 0 h 39212"/>
                      <a:gd name="connsiteX10" fmla="*/ 86194 w 172387"/>
                      <a:gd name="connsiteY10" fmla="*/ 0 h 39212"/>
                      <a:gd name="connsiteX11" fmla="*/ 105841 w 172387"/>
                      <a:gd name="connsiteY11" fmla="*/ 19606 h 39212"/>
                      <a:gd name="connsiteX12" fmla="*/ 105841 w 172387"/>
                      <a:gd name="connsiteY12" fmla="*/ 19606 h 39212"/>
                      <a:gd name="connsiteX13" fmla="*/ 86194 w 172387"/>
                      <a:gd name="connsiteY13" fmla="*/ 39213 h 39212"/>
                      <a:gd name="connsiteX14" fmla="*/ 86194 w 172387"/>
                      <a:gd name="connsiteY14" fmla="*/ 39213 h 39212"/>
                      <a:gd name="connsiteX15" fmla="*/ 66547 w 172387"/>
                      <a:gd name="connsiteY15" fmla="*/ 19606 h 39212"/>
                      <a:gd name="connsiteX16" fmla="*/ 0 w 172387"/>
                      <a:gd name="connsiteY16" fmla="*/ 19606 h 39212"/>
                      <a:gd name="connsiteX17" fmla="*/ 19647 w 172387"/>
                      <a:gd name="connsiteY17" fmla="*/ 0 h 39212"/>
                      <a:gd name="connsiteX18" fmla="*/ 19647 w 172387"/>
                      <a:gd name="connsiteY18" fmla="*/ 0 h 39212"/>
                      <a:gd name="connsiteX19" fmla="*/ 39294 w 172387"/>
                      <a:gd name="connsiteY19" fmla="*/ 19606 h 39212"/>
                      <a:gd name="connsiteX20" fmla="*/ 39294 w 172387"/>
                      <a:gd name="connsiteY20" fmla="*/ 19606 h 39212"/>
                      <a:gd name="connsiteX21" fmla="*/ 19647 w 172387"/>
                      <a:gd name="connsiteY21" fmla="*/ 39213 h 39212"/>
                      <a:gd name="connsiteX22" fmla="*/ 19647 w 172387"/>
                      <a:gd name="connsiteY22" fmla="*/ 39213 h 39212"/>
                      <a:gd name="connsiteX23" fmla="*/ 0 w 172387"/>
                      <a:gd name="connsiteY23" fmla="*/ 19606 h 3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2387" h="39212">
                        <a:moveTo>
                          <a:pt x="133093" y="19606"/>
                        </a:moveTo>
                        <a:cubicBezTo>
                          <a:pt x="133093" y="8854"/>
                          <a:pt x="141966" y="0"/>
                          <a:pt x="152741" y="0"/>
                        </a:cubicBezTo>
                        <a:lnTo>
                          <a:pt x="152741" y="0"/>
                        </a:lnTo>
                        <a:cubicBezTo>
                          <a:pt x="163515" y="0"/>
                          <a:pt x="172388" y="8854"/>
                          <a:pt x="172388" y="19606"/>
                        </a:cubicBezTo>
                        <a:lnTo>
                          <a:pt x="172388" y="19606"/>
                        </a:lnTo>
                        <a:cubicBezTo>
                          <a:pt x="172388" y="30358"/>
                          <a:pt x="163515" y="39213"/>
                          <a:pt x="152741" y="39213"/>
                        </a:cubicBezTo>
                        <a:lnTo>
                          <a:pt x="152741" y="39213"/>
                        </a:lnTo>
                        <a:cubicBezTo>
                          <a:pt x="141966" y="39213"/>
                          <a:pt x="133093" y="30358"/>
                          <a:pt x="133093" y="19606"/>
                        </a:cubicBezTo>
                        <a:close/>
                        <a:moveTo>
                          <a:pt x="66547" y="19606"/>
                        </a:moveTo>
                        <a:cubicBezTo>
                          <a:pt x="66547" y="8854"/>
                          <a:pt x="75420" y="0"/>
                          <a:pt x="86194" y="0"/>
                        </a:cubicBezTo>
                        <a:lnTo>
                          <a:pt x="86194" y="0"/>
                        </a:lnTo>
                        <a:cubicBezTo>
                          <a:pt x="96968" y="0"/>
                          <a:pt x="105841" y="8854"/>
                          <a:pt x="105841" y="19606"/>
                        </a:cubicBezTo>
                        <a:lnTo>
                          <a:pt x="105841" y="19606"/>
                        </a:lnTo>
                        <a:cubicBezTo>
                          <a:pt x="105841" y="30358"/>
                          <a:pt x="96968" y="39213"/>
                          <a:pt x="86194" y="39213"/>
                        </a:cubicBezTo>
                        <a:lnTo>
                          <a:pt x="86194" y="39213"/>
                        </a:lnTo>
                        <a:cubicBezTo>
                          <a:pt x="75420" y="39213"/>
                          <a:pt x="66547" y="30358"/>
                          <a:pt x="66547" y="19606"/>
                        </a:cubicBezTo>
                        <a:close/>
                        <a:moveTo>
                          <a:pt x="0" y="19606"/>
                        </a:moveTo>
                        <a:cubicBezTo>
                          <a:pt x="0" y="8854"/>
                          <a:pt x="8873" y="0"/>
                          <a:pt x="19647" y="0"/>
                        </a:cubicBezTo>
                        <a:lnTo>
                          <a:pt x="19647" y="0"/>
                        </a:lnTo>
                        <a:cubicBezTo>
                          <a:pt x="30421" y="0"/>
                          <a:pt x="39294" y="8854"/>
                          <a:pt x="39294" y="19606"/>
                        </a:cubicBezTo>
                        <a:lnTo>
                          <a:pt x="39294" y="19606"/>
                        </a:lnTo>
                        <a:cubicBezTo>
                          <a:pt x="39294" y="30358"/>
                          <a:pt x="30421" y="39213"/>
                          <a:pt x="19647" y="39213"/>
                        </a:cubicBezTo>
                        <a:lnTo>
                          <a:pt x="19647" y="39213"/>
                        </a:lnTo>
                        <a:cubicBezTo>
                          <a:pt x="8873" y="39213"/>
                          <a:pt x="0" y="30358"/>
                          <a:pt x="0" y="196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5" name="Picture Placeholder 100">
                    <a:extLst>
                      <a:ext uri="{FF2B5EF4-FFF2-40B4-BE49-F238E27FC236}">
                        <a16:creationId xmlns:a16="http://schemas.microsoft.com/office/drawing/2014/main" id="{A2B3F7BA-318F-2683-6E7D-E5C1D91AE509}"/>
                      </a:ext>
                    </a:extLst>
                  </p:cNvPr>
                  <p:cNvSpPr/>
                  <p:nvPr/>
                </p:nvSpPr>
                <p:spPr>
                  <a:xfrm>
                    <a:off x="10324449" y="2046857"/>
                    <a:ext cx="39928" cy="39597"/>
                  </a:xfrm>
                  <a:custGeom>
                    <a:avLst/>
                    <a:gdLst>
                      <a:gd name="connsiteX0" fmla="*/ 19647 w 39928"/>
                      <a:gd name="connsiteY0" fmla="*/ 38965 h 39597"/>
                      <a:gd name="connsiteX1" fmla="*/ 5704 w 39928"/>
                      <a:gd name="connsiteY1" fmla="*/ 33273 h 39597"/>
                      <a:gd name="connsiteX2" fmla="*/ 0 w 39928"/>
                      <a:gd name="connsiteY2" fmla="*/ 19358 h 39597"/>
                      <a:gd name="connsiteX3" fmla="*/ 5704 w 39928"/>
                      <a:gd name="connsiteY3" fmla="*/ 5444 h 39597"/>
                      <a:gd name="connsiteX4" fmla="*/ 23450 w 39928"/>
                      <a:gd name="connsiteY4" fmla="*/ 385 h 39597"/>
                      <a:gd name="connsiteX5" fmla="*/ 27252 w 39928"/>
                      <a:gd name="connsiteY5" fmla="*/ 1650 h 39597"/>
                      <a:gd name="connsiteX6" fmla="*/ 30421 w 39928"/>
                      <a:gd name="connsiteY6" fmla="*/ 3547 h 39597"/>
                      <a:gd name="connsiteX7" fmla="*/ 33590 w 39928"/>
                      <a:gd name="connsiteY7" fmla="*/ 6077 h 39597"/>
                      <a:gd name="connsiteX8" fmla="*/ 36125 w 39928"/>
                      <a:gd name="connsiteY8" fmla="*/ 9239 h 39597"/>
                      <a:gd name="connsiteX9" fmla="*/ 38027 w 39928"/>
                      <a:gd name="connsiteY9" fmla="*/ 12401 h 39597"/>
                      <a:gd name="connsiteX10" fmla="*/ 39294 w 39928"/>
                      <a:gd name="connsiteY10" fmla="*/ 16196 h 39597"/>
                      <a:gd name="connsiteX11" fmla="*/ 39928 w 39928"/>
                      <a:gd name="connsiteY11" fmla="*/ 19991 h 39597"/>
                      <a:gd name="connsiteX12" fmla="*/ 34224 w 39928"/>
                      <a:gd name="connsiteY12" fmla="*/ 33905 h 39597"/>
                      <a:gd name="connsiteX13" fmla="*/ 31055 w 39928"/>
                      <a:gd name="connsiteY13" fmla="*/ 36435 h 39597"/>
                      <a:gd name="connsiteX14" fmla="*/ 27886 w 39928"/>
                      <a:gd name="connsiteY14" fmla="*/ 38332 h 39597"/>
                      <a:gd name="connsiteX15" fmla="*/ 24084 w 39928"/>
                      <a:gd name="connsiteY15" fmla="*/ 39597 h 39597"/>
                      <a:gd name="connsiteX16" fmla="*/ 19647 w 39928"/>
                      <a:gd name="connsiteY16" fmla="*/ 38965 h 3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928" h="39597">
                        <a:moveTo>
                          <a:pt x="19647" y="38965"/>
                        </a:moveTo>
                        <a:cubicBezTo>
                          <a:pt x="14577" y="38965"/>
                          <a:pt x="9507" y="37067"/>
                          <a:pt x="5704" y="33273"/>
                        </a:cubicBezTo>
                        <a:cubicBezTo>
                          <a:pt x="1901" y="29478"/>
                          <a:pt x="0" y="24418"/>
                          <a:pt x="0" y="19358"/>
                        </a:cubicBezTo>
                        <a:cubicBezTo>
                          <a:pt x="0" y="14299"/>
                          <a:pt x="1901" y="9239"/>
                          <a:pt x="5704" y="5444"/>
                        </a:cubicBezTo>
                        <a:cubicBezTo>
                          <a:pt x="10140" y="1017"/>
                          <a:pt x="17112" y="-880"/>
                          <a:pt x="23450" y="385"/>
                        </a:cubicBezTo>
                        <a:cubicBezTo>
                          <a:pt x="24717" y="385"/>
                          <a:pt x="25985" y="1017"/>
                          <a:pt x="27252" y="1650"/>
                        </a:cubicBezTo>
                        <a:cubicBezTo>
                          <a:pt x="28520" y="2282"/>
                          <a:pt x="29788" y="2915"/>
                          <a:pt x="30421" y="3547"/>
                        </a:cubicBezTo>
                        <a:cubicBezTo>
                          <a:pt x="31689" y="4179"/>
                          <a:pt x="32323" y="4812"/>
                          <a:pt x="33590" y="6077"/>
                        </a:cubicBezTo>
                        <a:cubicBezTo>
                          <a:pt x="34224" y="6709"/>
                          <a:pt x="35492" y="7974"/>
                          <a:pt x="36125" y="9239"/>
                        </a:cubicBezTo>
                        <a:cubicBezTo>
                          <a:pt x="36759" y="10504"/>
                          <a:pt x="37393" y="11769"/>
                          <a:pt x="38027" y="12401"/>
                        </a:cubicBezTo>
                        <a:cubicBezTo>
                          <a:pt x="38660" y="13666"/>
                          <a:pt x="38660" y="14931"/>
                          <a:pt x="39294" y="16196"/>
                        </a:cubicBezTo>
                        <a:cubicBezTo>
                          <a:pt x="39294" y="17461"/>
                          <a:pt x="39928" y="18726"/>
                          <a:pt x="39928" y="19991"/>
                        </a:cubicBezTo>
                        <a:cubicBezTo>
                          <a:pt x="39928" y="25051"/>
                          <a:pt x="38027" y="30110"/>
                          <a:pt x="34224" y="33905"/>
                        </a:cubicBezTo>
                        <a:cubicBezTo>
                          <a:pt x="32957" y="34538"/>
                          <a:pt x="32323" y="35802"/>
                          <a:pt x="31055" y="36435"/>
                        </a:cubicBezTo>
                        <a:cubicBezTo>
                          <a:pt x="29788" y="37067"/>
                          <a:pt x="28520" y="37700"/>
                          <a:pt x="27886" y="38332"/>
                        </a:cubicBezTo>
                        <a:cubicBezTo>
                          <a:pt x="26619" y="38965"/>
                          <a:pt x="25351" y="38965"/>
                          <a:pt x="24084" y="39597"/>
                        </a:cubicBezTo>
                        <a:cubicBezTo>
                          <a:pt x="22182" y="38965"/>
                          <a:pt x="20915" y="38965"/>
                          <a:pt x="19647" y="3896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9" name="Picture Placeholder 100">
                  <a:extLst>
                    <a:ext uri="{FF2B5EF4-FFF2-40B4-BE49-F238E27FC236}">
                      <a16:creationId xmlns:a16="http://schemas.microsoft.com/office/drawing/2014/main" id="{73F5E04F-7A49-2046-004C-907C9EA01594}"/>
                    </a:ext>
                  </a:extLst>
                </p:cNvPr>
                <p:cNvGrpSpPr/>
                <p:nvPr/>
              </p:nvGrpSpPr>
              <p:grpSpPr>
                <a:xfrm>
                  <a:off x="10056995" y="2161965"/>
                  <a:ext cx="306752" cy="40862"/>
                  <a:chOff x="10056995" y="2161965"/>
                  <a:chExt cx="306752" cy="40862"/>
                </a:xfrm>
                <a:grpFill/>
              </p:grpSpPr>
              <p:sp>
                <p:nvSpPr>
                  <p:cNvPr id="120" name="Picture Placeholder 100">
                    <a:extLst>
                      <a:ext uri="{FF2B5EF4-FFF2-40B4-BE49-F238E27FC236}">
                        <a16:creationId xmlns:a16="http://schemas.microsoft.com/office/drawing/2014/main" id="{95C8123D-3C25-430B-3C18-1DC827CF9105}"/>
                      </a:ext>
                    </a:extLst>
                  </p:cNvPr>
                  <p:cNvSpPr/>
                  <p:nvPr/>
                </p:nvSpPr>
                <p:spPr>
                  <a:xfrm>
                    <a:off x="10056995" y="2161965"/>
                    <a:ext cx="40561" cy="40229"/>
                  </a:xfrm>
                  <a:custGeom>
                    <a:avLst/>
                    <a:gdLst>
                      <a:gd name="connsiteX0" fmla="*/ 19647 w 40561"/>
                      <a:gd name="connsiteY0" fmla="*/ 40230 h 40229"/>
                      <a:gd name="connsiteX1" fmla="*/ 15844 w 40561"/>
                      <a:gd name="connsiteY1" fmla="*/ 39597 h 40229"/>
                      <a:gd name="connsiteX2" fmla="*/ 12042 w 40561"/>
                      <a:gd name="connsiteY2" fmla="*/ 38332 h 40229"/>
                      <a:gd name="connsiteX3" fmla="*/ 8873 w 40561"/>
                      <a:gd name="connsiteY3" fmla="*/ 36435 h 40229"/>
                      <a:gd name="connsiteX4" fmla="*/ 5704 w 40561"/>
                      <a:gd name="connsiteY4" fmla="*/ 33905 h 40229"/>
                      <a:gd name="connsiteX5" fmla="*/ 0 w 40561"/>
                      <a:gd name="connsiteY5" fmla="*/ 19991 h 40229"/>
                      <a:gd name="connsiteX6" fmla="*/ 634 w 40561"/>
                      <a:gd name="connsiteY6" fmla="*/ 16196 h 40229"/>
                      <a:gd name="connsiteX7" fmla="*/ 1901 w 40561"/>
                      <a:gd name="connsiteY7" fmla="*/ 12401 h 40229"/>
                      <a:gd name="connsiteX8" fmla="*/ 3803 w 40561"/>
                      <a:gd name="connsiteY8" fmla="*/ 9239 h 40229"/>
                      <a:gd name="connsiteX9" fmla="*/ 6338 w 40561"/>
                      <a:gd name="connsiteY9" fmla="*/ 6077 h 40229"/>
                      <a:gd name="connsiteX10" fmla="*/ 9507 w 40561"/>
                      <a:gd name="connsiteY10" fmla="*/ 3547 h 40229"/>
                      <a:gd name="connsiteX11" fmla="*/ 12676 w 40561"/>
                      <a:gd name="connsiteY11" fmla="*/ 1650 h 40229"/>
                      <a:gd name="connsiteX12" fmla="*/ 16478 w 40561"/>
                      <a:gd name="connsiteY12" fmla="*/ 385 h 40229"/>
                      <a:gd name="connsiteX13" fmla="*/ 34224 w 40561"/>
                      <a:gd name="connsiteY13" fmla="*/ 5444 h 40229"/>
                      <a:gd name="connsiteX14" fmla="*/ 36759 w 40561"/>
                      <a:gd name="connsiteY14" fmla="*/ 8607 h 40229"/>
                      <a:gd name="connsiteX15" fmla="*/ 38660 w 40561"/>
                      <a:gd name="connsiteY15" fmla="*/ 11769 h 40229"/>
                      <a:gd name="connsiteX16" fmla="*/ 39928 w 40561"/>
                      <a:gd name="connsiteY16" fmla="*/ 15564 h 40229"/>
                      <a:gd name="connsiteX17" fmla="*/ 40562 w 40561"/>
                      <a:gd name="connsiteY17" fmla="*/ 19358 h 40229"/>
                      <a:gd name="connsiteX18" fmla="*/ 34858 w 40561"/>
                      <a:gd name="connsiteY18" fmla="*/ 33273 h 40229"/>
                      <a:gd name="connsiteX19" fmla="*/ 19647 w 40561"/>
                      <a:gd name="connsiteY19" fmla="*/ 40230 h 40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561" h="40229">
                        <a:moveTo>
                          <a:pt x="19647" y="40230"/>
                        </a:moveTo>
                        <a:cubicBezTo>
                          <a:pt x="18380" y="40230"/>
                          <a:pt x="17112" y="40230"/>
                          <a:pt x="15844" y="39597"/>
                        </a:cubicBezTo>
                        <a:cubicBezTo>
                          <a:pt x="14577" y="38965"/>
                          <a:pt x="13309" y="38965"/>
                          <a:pt x="12042" y="38332"/>
                        </a:cubicBezTo>
                        <a:cubicBezTo>
                          <a:pt x="10774" y="37700"/>
                          <a:pt x="9507" y="37067"/>
                          <a:pt x="8873" y="36435"/>
                        </a:cubicBezTo>
                        <a:cubicBezTo>
                          <a:pt x="7605" y="35802"/>
                          <a:pt x="6972" y="35170"/>
                          <a:pt x="5704" y="33905"/>
                        </a:cubicBezTo>
                        <a:cubicBezTo>
                          <a:pt x="1901" y="30110"/>
                          <a:pt x="0" y="25051"/>
                          <a:pt x="0" y="19991"/>
                        </a:cubicBezTo>
                        <a:cubicBezTo>
                          <a:pt x="0" y="18726"/>
                          <a:pt x="0" y="17461"/>
                          <a:pt x="634" y="16196"/>
                        </a:cubicBezTo>
                        <a:cubicBezTo>
                          <a:pt x="634" y="14931"/>
                          <a:pt x="1268" y="13666"/>
                          <a:pt x="1901" y="12401"/>
                        </a:cubicBezTo>
                        <a:cubicBezTo>
                          <a:pt x="2535" y="11137"/>
                          <a:pt x="3169" y="9872"/>
                          <a:pt x="3803" y="9239"/>
                        </a:cubicBezTo>
                        <a:cubicBezTo>
                          <a:pt x="4436" y="7974"/>
                          <a:pt x="5070" y="7342"/>
                          <a:pt x="6338" y="6077"/>
                        </a:cubicBezTo>
                        <a:cubicBezTo>
                          <a:pt x="7605" y="4812"/>
                          <a:pt x="8239" y="4179"/>
                          <a:pt x="9507" y="3547"/>
                        </a:cubicBezTo>
                        <a:cubicBezTo>
                          <a:pt x="10774" y="2915"/>
                          <a:pt x="12042" y="2282"/>
                          <a:pt x="12676" y="1650"/>
                        </a:cubicBezTo>
                        <a:cubicBezTo>
                          <a:pt x="13943" y="1017"/>
                          <a:pt x="15211" y="1017"/>
                          <a:pt x="16478" y="385"/>
                        </a:cubicBezTo>
                        <a:cubicBezTo>
                          <a:pt x="22816" y="-880"/>
                          <a:pt x="29788" y="1017"/>
                          <a:pt x="34224" y="5444"/>
                        </a:cubicBezTo>
                        <a:cubicBezTo>
                          <a:pt x="34858" y="6077"/>
                          <a:pt x="36125" y="7342"/>
                          <a:pt x="36759" y="8607"/>
                        </a:cubicBezTo>
                        <a:cubicBezTo>
                          <a:pt x="37393" y="9872"/>
                          <a:pt x="38027" y="11137"/>
                          <a:pt x="38660" y="11769"/>
                        </a:cubicBezTo>
                        <a:cubicBezTo>
                          <a:pt x="39294" y="13034"/>
                          <a:pt x="39294" y="14299"/>
                          <a:pt x="39928" y="15564"/>
                        </a:cubicBezTo>
                        <a:cubicBezTo>
                          <a:pt x="39928" y="16829"/>
                          <a:pt x="40562" y="18094"/>
                          <a:pt x="40562" y="19358"/>
                        </a:cubicBezTo>
                        <a:cubicBezTo>
                          <a:pt x="40562" y="24418"/>
                          <a:pt x="38660" y="29478"/>
                          <a:pt x="34858" y="33273"/>
                        </a:cubicBezTo>
                        <a:cubicBezTo>
                          <a:pt x="29788" y="37700"/>
                          <a:pt x="24717" y="40230"/>
                          <a:pt x="19647" y="4023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1" name="Picture Placeholder 100">
                    <a:extLst>
                      <a:ext uri="{FF2B5EF4-FFF2-40B4-BE49-F238E27FC236}">
                        <a16:creationId xmlns:a16="http://schemas.microsoft.com/office/drawing/2014/main" id="{5543B54D-BF05-32D1-D821-FEFF66F26518}"/>
                      </a:ext>
                    </a:extLst>
                  </p:cNvPr>
                  <p:cNvSpPr/>
                  <p:nvPr/>
                </p:nvSpPr>
                <p:spPr>
                  <a:xfrm>
                    <a:off x="10124175" y="2162982"/>
                    <a:ext cx="172387" cy="39212"/>
                  </a:xfrm>
                  <a:custGeom>
                    <a:avLst/>
                    <a:gdLst>
                      <a:gd name="connsiteX0" fmla="*/ 133093 w 172387"/>
                      <a:gd name="connsiteY0" fmla="*/ 19606 h 39212"/>
                      <a:gd name="connsiteX1" fmla="*/ 152741 w 172387"/>
                      <a:gd name="connsiteY1" fmla="*/ 0 h 39212"/>
                      <a:gd name="connsiteX2" fmla="*/ 152741 w 172387"/>
                      <a:gd name="connsiteY2" fmla="*/ 0 h 39212"/>
                      <a:gd name="connsiteX3" fmla="*/ 172388 w 172387"/>
                      <a:gd name="connsiteY3" fmla="*/ 19606 h 39212"/>
                      <a:gd name="connsiteX4" fmla="*/ 172388 w 172387"/>
                      <a:gd name="connsiteY4" fmla="*/ 19606 h 39212"/>
                      <a:gd name="connsiteX5" fmla="*/ 152741 w 172387"/>
                      <a:gd name="connsiteY5" fmla="*/ 39213 h 39212"/>
                      <a:gd name="connsiteX6" fmla="*/ 152741 w 172387"/>
                      <a:gd name="connsiteY6" fmla="*/ 39213 h 39212"/>
                      <a:gd name="connsiteX7" fmla="*/ 133093 w 172387"/>
                      <a:gd name="connsiteY7" fmla="*/ 19606 h 39212"/>
                      <a:gd name="connsiteX8" fmla="*/ 66547 w 172387"/>
                      <a:gd name="connsiteY8" fmla="*/ 19606 h 39212"/>
                      <a:gd name="connsiteX9" fmla="*/ 86194 w 172387"/>
                      <a:gd name="connsiteY9" fmla="*/ 0 h 39212"/>
                      <a:gd name="connsiteX10" fmla="*/ 86194 w 172387"/>
                      <a:gd name="connsiteY10" fmla="*/ 0 h 39212"/>
                      <a:gd name="connsiteX11" fmla="*/ 105841 w 172387"/>
                      <a:gd name="connsiteY11" fmla="*/ 19606 h 39212"/>
                      <a:gd name="connsiteX12" fmla="*/ 105841 w 172387"/>
                      <a:gd name="connsiteY12" fmla="*/ 19606 h 39212"/>
                      <a:gd name="connsiteX13" fmla="*/ 86194 w 172387"/>
                      <a:gd name="connsiteY13" fmla="*/ 39213 h 39212"/>
                      <a:gd name="connsiteX14" fmla="*/ 86194 w 172387"/>
                      <a:gd name="connsiteY14" fmla="*/ 39213 h 39212"/>
                      <a:gd name="connsiteX15" fmla="*/ 66547 w 172387"/>
                      <a:gd name="connsiteY15" fmla="*/ 19606 h 39212"/>
                      <a:gd name="connsiteX16" fmla="*/ 0 w 172387"/>
                      <a:gd name="connsiteY16" fmla="*/ 19606 h 39212"/>
                      <a:gd name="connsiteX17" fmla="*/ 19647 w 172387"/>
                      <a:gd name="connsiteY17" fmla="*/ 0 h 39212"/>
                      <a:gd name="connsiteX18" fmla="*/ 19647 w 172387"/>
                      <a:gd name="connsiteY18" fmla="*/ 0 h 39212"/>
                      <a:gd name="connsiteX19" fmla="*/ 39294 w 172387"/>
                      <a:gd name="connsiteY19" fmla="*/ 19606 h 39212"/>
                      <a:gd name="connsiteX20" fmla="*/ 39294 w 172387"/>
                      <a:gd name="connsiteY20" fmla="*/ 19606 h 39212"/>
                      <a:gd name="connsiteX21" fmla="*/ 19647 w 172387"/>
                      <a:gd name="connsiteY21" fmla="*/ 39213 h 39212"/>
                      <a:gd name="connsiteX22" fmla="*/ 19647 w 172387"/>
                      <a:gd name="connsiteY22" fmla="*/ 39213 h 39212"/>
                      <a:gd name="connsiteX23" fmla="*/ 0 w 172387"/>
                      <a:gd name="connsiteY23" fmla="*/ 19606 h 3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2387" h="39212">
                        <a:moveTo>
                          <a:pt x="133093" y="19606"/>
                        </a:moveTo>
                        <a:cubicBezTo>
                          <a:pt x="133093" y="8854"/>
                          <a:pt x="141966" y="0"/>
                          <a:pt x="152741" y="0"/>
                        </a:cubicBezTo>
                        <a:lnTo>
                          <a:pt x="152741" y="0"/>
                        </a:lnTo>
                        <a:cubicBezTo>
                          <a:pt x="163515" y="0"/>
                          <a:pt x="172388" y="8854"/>
                          <a:pt x="172388" y="19606"/>
                        </a:cubicBezTo>
                        <a:lnTo>
                          <a:pt x="172388" y="19606"/>
                        </a:lnTo>
                        <a:cubicBezTo>
                          <a:pt x="172388" y="30358"/>
                          <a:pt x="163515" y="39213"/>
                          <a:pt x="152741" y="39213"/>
                        </a:cubicBezTo>
                        <a:lnTo>
                          <a:pt x="152741" y="39213"/>
                        </a:lnTo>
                        <a:cubicBezTo>
                          <a:pt x="141966" y="39213"/>
                          <a:pt x="133093" y="30358"/>
                          <a:pt x="133093" y="19606"/>
                        </a:cubicBezTo>
                        <a:close/>
                        <a:moveTo>
                          <a:pt x="66547" y="19606"/>
                        </a:moveTo>
                        <a:cubicBezTo>
                          <a:pt x="66547" y="8854"/>
                          <a:pt x="75420" y="0"/>
                          <a:pt x="86194" y="0"/>
                        </a:cubicBezTo>
                        <a:lnTo>
                          <a:pt x="86194" y="0"/>
                        </a:lnTo>
                        <a:cubicBezTo>
                          <a:pt x="96968" y="0"/>
                          <a:pt x="105841" y="8854"/>
                          <a:pt x="105841" y="19606"/>
                        </a:cubicBezTo>
                        <a:lnTo>
                          <a:pt x="105841" y="19606"/>
                        </a:lnTo>
                        <a:cubicBezTo>
                          <a:pt x="105841" y="30358"/>
                          <a:pt x="96968" y="39213"/>
                          <a:pt x="86194" y="39213"/>
                        </a:cubicBezTo>
                        <a:lnTo>
                          <a:pt x="86194" y="39213"/>
                        </a:lnTo>
                        <a:cubicBezTo>
                          <a:pt x="75420" y="39213"/>
                          <a:pt x="66547" y="30358"/>
                          <a:pt x="66547" y="19606"/>
                        </a:cubicBezTo>
                        <a:close/>
                        <a:moveTo>
                          <a:pt x="0" y="19606"/>
                        </a:moveTo>
                        <a:cubicBezTo>
                          <a:pt x="0" y="8854"/>
                          <a:pt x="8873" y="0"/>
                          <a:pt x="19647" y="0"/>
                        </a:cubicBezTo>
                        <a:lnTo>
                          <a:pt x="19647" y="0"/>
                        </a:lnTo>
                        <a:cubicBezTo>
                          <a:pt x="30421" y="0"/>
                          <a:pt x="39294" y="8854"/>
                          <a:pt x="39294" y="19606"/>
                        </a:cubicBezTo>
                        <a:lnTo>
                          <a:pt x="39294" y="19606"/>
                        </a:lnTo>
                        <a:cubicBezTo>
                          <a:pt x="39294" y="30358"/>
                          <a:pt x="30421" y="39213"/>
                          <a:pt x="19647" y="39213"/>
                        </a:cubicBezTo>
                        <a:lnTo>
                          <a:pt x="19647" y="39213"/>
                        </a:lnTo>
                        <a:cubicBezTo>
                          <a:pt x="8873" y="39213"/>
                          <a:pt x="0" y="30358"/>
                          <a:pt x="0" y="196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2" name="Picture Placeholder 100">
                    <a:extLst>
                      <a:ext uri="{FF2B5EF4-FFF2-40B4-BE49-F238E27FC236}">
                        <a16:creationId xmlns:a16="http://schemas.microsoft.com/office/drawing/2014/main" id="{2E7B37D8-E279-106F-49AE-FE6BA15737C5}"/>
                      </a:ext>
                    </a:extLst>
                  </p:cNvPr>
                  <p:cNvSpPr/>
                  <p:nvPr/>
                </p:nvSpPr>
                <p:spPr>
                  <a:xfrm>
                    <a:off x="10323816" y="2163230"/>
                    <a:ext cx="39294" cy="39597"/>
                  </a:xfrm>
                  <a:custGeom>
                    <a:avLst/>
                    <a:gdLst>
                      <a:gd name="connsiteX0" fmla="*/ 20281 w 39294"/>
                      <a:gd name="connsiteY0" fmla="*/ 38965 h 39597"/>
                      <a:gd name="connsiteX1" fmla="*/ 6338 w 39294"/>
                      <a:gd name="connsiteY1" fmla="*/ 33273 h 39597"/>
                      <a:gd name="connsiteX2" fmla="*/ 3803 w 39294"/>
                      <a:gd name="connsiteY2" fmla="*/ 30110 h 39597"/>
                      <a:gd name="connsiteX3" fmla="*/ 1901 w 39294"/>
                      <a:gd name="connsiteY3" fmla="*/ 26948 h 39597"/>
                      <a:gd name="connsiteX4" fmla="*/ 634 w 39294"/>
                      <a:gd name="connsiteY4" fmla="*/ 23153 h 39597"/>
                      <a:gd name="connsiteX5" fmla="*/ 0 w 39294"/>
                      <a:gd name="connsiteY5" fmla="*/ 19358 h 39597"/>
                      <a:gd name="connsiteX6" fmla="*/ 5704 w 39294"/>
                      <a:gd name="connsiteY6" fmla="*/ 5444 h 39597"/>
                      <a:gd name="connsiteX7" fmla="*/ 23450 w 39294"/>
                      <a:gd name="connsiteY7" fmla="*/ 385 h 39597"/>
                      <a:gd name="connsiteX8" fmla="*/ 27252 w 39294"/>
                      <a:gd name="connsiteY8" fmla="*/ 1650 h 39597"/>
                      <a:gd name="connsiteX9" fmla="*/ 30421 w 39294"/>
                      <a:gd name="connsiteY9" fmla="*/ 3547 h 39597"/>
                      <a:gd name="connsiteX10" fmla="*/ 33590 w 39294"/>
                      <a:gd name="connsiteY10" fmla="*/ 6077 h 39597"/>
                      <a:gd name="connsiteX11" fmla="*/ 39294 w 39294"/>
                      <a:gd name="connsiteY11" fmla="*/ 19991 h 39597"/>
                      <a:gd name="connsiteX12" fmla="*/ 38660 w 39294"/>
                      <a:gd name="connsiteY12" fmla="*/ 23786 h 39597"/>
                      <a:gd name="connsiteX13" fmla="*/ 37393 w 39294"/>
                      <a:gd name="connsiteY13" fmla="*/ 27580 h 39597"/>
                      <a:gd name="connsiteX14" fmla="*/ 35492 w 39294"/>
                      <a:gd name="connsiteY14" fmla="*/ 30743 h 39597"/>
                      <a:gd name="connsiteX15" fmla="*/ 32956 w 39294"/>
                      <a:gd name="connsiteY15" fmla="*/ 33905 h 39597"/>
                      <a:gd name="connsiteX16" fmla="*/ 29788 w 39294"/>
                      <a:gd name="connsiteY16" fmla="*/ 36435 h 39597"/>
                      <a:gd name="connsiteX17" fmla="*/ 26619 w 39294"/>
                      <a:gd name="connsiteY17" fmla="*/ 38332 h 39597"/>
                      <a:gd name="connsiteX18" fmla="*/ 22816 w 39294"/>
                      <a:gd name="connsiteY18" fmla="*/ 39597 h 39597"/>
                      <a:gd name="connsiteX19" fmla="*/ 20281 w 39294"/>
                      <a:gd name="connsiteY19" fmla="*/ 38965 h 3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294" h="39597">
                        <a:moveTo>
                          <a:pt x="20281" y="38965"/>
                        </a:moveTo>
                        <a:cubicBezTo>
                          <a:pt x="15211" y="38965"/>
                          <a:pt x="10140" y="37067"/>
                          <a:pt x="6338" y="33273"/>
                        </a:cubicBezTo>
                        <a:cubicBezTo>
                          <a:pt x="5704" y="32640"/>
                          <a:pt x="4436" y="31375"/>
                          <a:pt x="3803" y="30110"/>
                        </a:cubicBezTo>
                        <a:cubicBezTo>
                          <a:pt x="3169" y="28845"/>
                          <a:pt x="2535" y="27580"/>
                          <a:pt x="1901" y="26948"/>
                        </a:cubicBezTo>
                        <a:cubicBezTo>
                          <a:pt x="1268" y="25683"/>
                          <a:pt x="1268" y="24418"/>
                          <a:pt x="634" y="23153"/>
                        </a:cubicBezTo>
                        <a:cubicBezTo>
                          <a:pt x="634" y="21888"/>
                          <a:pt x="0" y="20623"/>
                          <a:pt x="0" y="19358"/>
                        </a:cubicBezTo>
                        <a:cubicBezTo>
                          <a:pt x="0" y="14299"/>
                          <a:pt x="1901" y="9239"/>
                          <a:pt x="5704" y="5444"/>
                        </a:cubicBezTo>
                        <a:cubicBezTo>
                          <a:pt x="10140" y="1017"/>
                          <a:pt x="17112" y="-880"/>
                          <a:pt x="23450" y="385"/>
                        </a:cubicBezTo>
                        <a:cubicBezTo>
                          <a:pt x="24717" y="385"/>
                          <a:pt x="25985" y="1017"/>
                          <a:pt x="27252" y="1650"/>
                        </a:cubicBezTo>
                        <a:cubicBezTo>
                          <a:pt x="28520" y="2282"/>
                          <a:pt x="29788" y="2915"/>
                          <a:pt x="30421" y="3547"/>
                        </a:cubicBezTo>
                        <a:cubicBezTo>
                          <a:pt x="31689" y="4179"/>
                          <a:pt x="32323" y="4812"/>
                          <a:pt x="33590" y="6077"/>
                        </a:cubicBezTo>
                        <a:cubicBezTo>
                          <a:pt x="37393" y="9872"/>
                          <a:pt x="39294" y="14931"/>
                          <a:pt x="39294" y="19991"/>
                        </a:cubicBezTo>
                        <a:cubicBezTo>
                          <a:pt x="39294" y="21256"/>
                          <a:pt x="39294" y="22521"/>
                          <a:pt x="38660" y="23786"/>
                        </a:cubicBezTo>
                        <a:cubicBezTo>
                          <a:pt x="38660" y="25051"/>
                          <a:pt x="38027" y="26316"/>
                          <a:pt x="37393" y="27580"/>
                        </a:cubicBezTo>
                        <a:cubicBezTo>
                          <a:pt x="36759" y="28845"/>
                          <a:pt x="36125" y="30110"/>
                          <a:pt x="35492" y="30743"/>
                        </a:cubicBezTo>
                        <a:cubicBezTo>
                          <a:pt x="34858" y="32008"/>
                          <a:pt x="34224" y="32640"/>
                          <a:pt x="32956" y="33905"/>
                        </a:cubicBezTo>
                        <a:cubicBezTo>
                          <a:pt x="31689" y="35170"/>
                          <a:pt x="31055" y="35802"/>
                          <a:pt x="29788" y="36435"/>
                        </a:cubicBezTo>
                        <a:cubicBezTo>
                          <a:pt x="28520" y="37067"/>
                          <a:pt x="27252" y="37700"/>
                          <a:pt x="26619" y="38332"/>
                        </a:cubicBezTo>
                        <a:cubicBezTo>
                          <a:pt x="25351" y="38965"/>
                          <a:pt x="24084" y="38965"/>
                          <a:pt x="22816" y="39597"/>
                        </a:cubicBezTo>
                        <a:cubicBezTo>
                          <a:pt x="22816" y="38332"/>
                          <a:pt x="21548" y="38965"/>
                          <a:pt x="20281" y="3896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96" name="Picture Placeholder 100">
                <a:extLst>
                  <a:ext uri="{FF2B5EF4-FFF2-40B4-BE49-F238E27FC236}">
                    <a16:creationId xmlns:a16="http://schemas.microsoft.com/office/drawing/2014/main" id="{556F4B76-AC55-0A7E-EFAF-3A68EB7DF551}"/>
                  </a:ext>
                </a:extLst>
              </p:cNvPr>
              <p:cNvGrpSpPr/>
              <p:nvPr/>
            </p:nvGrpSpPr>
            <p:grpSpPr>
              <a:xfrm>
                <a:off x="9789540" y="1986051"/>
                <a:ext cx="218416" cy="129496"/>
                <a:chOff x="9789540" y="1986051"/>
                <a:chExt cx="218416" cy="129496"/>
              </a:xfrm>
              <a:grpFill/>
            </p:grpSpPr>
            <p:sp>
              <p:nvSpPr>
                <p:cNvPr id="112" name="Picture Placeholder 100">
                  <a:extLst>
                    <a:ext uri="{FF2B5EF4-FFF2-40B4-BE49-F238E27FC236}">
                      <a16:creationId xmlns:a16="http://schemas.microsoft.com/office/drawing/2014/main" id="{42FDAA92-5083-9642-4E71-52FC809DF9D5}"/>
                    </a:ext>
                  </a:extLst>
                </p:cNvPr>
                <p:cNvSpPr/>
                <p:nvPr/>
              </p:nvSpPr>
              <p:spPr>
                <a:xfrm>
                  <a:off x="9789540" y="2075950"/>
                  <a:ext cx="40561" cy="39597"/>
                </a:xfrm>
                <a:custGeom>
                  <a:avLst/>
                  <a:gdLst>
                    <a:gd name="connsiteX0" fmla="*/ 20281 w 40561"/>
                    <a:gd name="connsiteY0" fmla="*/ 39597 h 39597"/>
                    <a:gd name="connsiteX1" fmla="*/ 16478 w 40561"/>
                    <a:gd name="connsiteY1" fmla="*/ 38965 h 39597"/>
                    <a:gd name="connsiteX2" fmla="*/ 12676 w 40561"/>
                    <a:gd name="connsiteY2" fmla="*/ 37700 h 39597"/>
                    <a:gd name="connsiteX3" fmla="*/ 9507 w 40561"/>
                    <a:gd name="connsiteY3" fmla="*/ 35802 h 39597"/>
                    <a:gd name="connsiteX4" fmla="*/ 6338 w 40561"/>
                    <a:gd name="connsiteY4" fmla="*/ 33273 h 39597"/>
                    <a:gd name="connsiteX5" fmla="*/ 3803 w 40561"/>
                    <a:gd name="connsiteY5" fmla="*/ 30110 h 39597"/>
                    <a:gd name="connsiteX6" fmla="*/ 1901 w 40561"/>
                    <a:gd name="connsiteY6" fmla="*/ 26948 h 39597"/>
                    <a:gd name="connsiteX7" fmla="*/ 634 w 40561"/>
                    <a:gd name="connsiteY7" fmla="*/ 23153 h 39597"/>
                    <a:gd name="connsiteX8" fmla="*/ 0 w 40561"/>
                    <a:gd name="connsiteY8" fmla="*/ 19358 h 39597"/>
                    <a:gd name="connsiteX9" fmla="*/ 634 w 40561"/>
                    <a:gd name="connsiteY9" fmla="*/ 15564 h 39597"/>
                    <a:gd name="connsiteX10" fmla="*/ 1901 w 40561"/>
                    <a:gd name="connsiteY10" fmla="*/ 11769 h 39597"/>
                    <a:gd name="connsiteX11" fmla="*/ 3803 w 40561"/>
                    <a:gd name="connsiteY11" fmla="*/ 8607 h 39597"/>
                    <a:gd name="connsiteX12" fmla="*/ 6338 w 40561"/>
                    <a:gd name="connsiteY12" fmla="*/ 5444 h 39597"/>
                    <a:gd name="connsiteX13" fmla="*/ 24084 w 40561"/>
                    <a:gd name="connsiteY13" fmla="*/ 385 h 39597"/>
                    <a:gd name="connsiteX14" fmla="*/ 27886 w 40561"/>
                    <a:gd name="connsiteY14" fmla="*/ 1650 h 39597"/>
                    <a:gd name="connsiteX15" fmla="*/ 31055 w 40561"/>
                    <a:gd name="connsiteY15" fmla="*/ 3547 h 39597"/>
                    <a:gd name="connsiteX16" fmla="*/ 34224 w 40561"/>
                    <a:gd name="connsiteY16" fmla="*/ 6077 h 39597"/>
                    <a:gd name="connsiteX17" fmla="*/ 36759 w 40561"/>
                    <a:gd name="connsiteY17" fmla="*/ 9239 h 39597"/>
                    <a:gd name="connsiteX18" fmla="*/ 38660 w 40561"/>
                    <a:gd name="connsiteY18" fmla="*/ 12401 h 39597"/>
                    <a:gd name="connsiteX19" fmla="*/ 39928 w 40561"/>
                    <a:gd name="connsiteY19" fmla="*/ 16196 h 39597"/>
                    <a:gd name="connsiteX20" fmla="*/ 40562 w 40561"/>
                    <a:gd name="connsiteY20" fmla="*/ 19991 h 39597"/>
                    <a:gd name="connsiteX21" fmla="*/ 39928 w 40561"/>
                    <a:gd name="connsiteY21" fmla="*/ 23786 h 39597"/>
                    <a:gd name="connsiteX22" fmla="*/ 38660 w 40561"/>
                    <a:gd name="connsiteY22" fmla="*/ 27580 h 39597"/>
                    <a:gd name="connsiteX23" fmla="*/ 36759 w 40561"/>
                    <a:gd name="connsiteY23" fmla="*/ 30743 h 39597"/>
                    <a:gd name="connsiteX24" fmla="*/ 34224 w 40561"/>
                    <a:gd name="connsiteY24" fmla="*/ 33905 h 39597"/>
                    <a:gd name="connsiteX25" fmla="*/ 31055 w 40561"/>
                    <a:gd name="connsiteY25" fmla="*/ 36435 h 39597"/>
                    <a:gd name="connsiteX26" fmla="*/ 27886 w 40561"/>
                    <a:gd name="connsiteY26" fmla="*/ 38332 h 39597"/>
                    <a:gd name="connsiteX27" fmla="*/ 24084 w 40561"/>
                    <a:gd name="connsiteY27" fmla="*/ 39597 h 39597"/>
                    <a:gd name="connsiteX28" fmla="*/ 20281 w 40561"/>
                    <a:gd name="connsiteY28" fmla="*/ 39597 h 3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561" h="39597">
                      <a:moveTo>
                        <a:pt x="20281" y="39597"/>
                      </a:moveTo>
                      <a:cubicBezTo>
                        <a:pt x="19013" y="39597"/>
                        <a:pt x="17746" y="39597"/>
                        <a:pt x="16478" y="38965"/>
                      </a:cubicBezTo>
                      <a:cubicBezTo>
                        <a:pt x="15211" y="38965"/>
                        <a:pt x="13943" y="38332"/>
                        <a:pt x="12676" y="37700"/>
                      </a:cubicBezTo>
                      <a:cubicBezTo>
                        <a:pt x="11408" y="37067"/>
                        <a:pt x="10774" y="36435"/>
                        <a:pt x="9507" y="35802"/>
                      </a:cubicBezTo>
                      <a:cubicBezTo>
                        <a:pt x="8239" y="35170"/>
                        <a:pt x="7605" y="34538"/>
                        <a:pt x="6338" y="33273"/>
                      </a:cubicBezTo>
                      <a:cubicBezTo>
                        <a:pt x="5704" y="32640"/>
                        <a:pt x="4436" y="31375"/>
                        <a:pt x="3803" y="30110"/>
                      </a:cubicBezTo>
                      <a:cubicBezTo>
                        <a:pt x="3169" y="28845"/>
                        <a:pt x="2535" y="27580"/>
                        <a:pt x="1901" y="26948"/>
                      </a:cubicBezTo>
                      <a:cubicBezTo>
                        <a:pt x="1268" y="25683"/>
                        <a:pt x="1268" y="24418"/>
                        <a:pt x="634" y="23153"/>
                      </a:cubicBezTo>
                      <a:cubicBezTo>
                        <a:pt x="634" y="21888"/>
                        <a:pt x="0" y="20623"/>
                        <a:pt x="0" y="19358"/>
                      </a:cubicBezTo>
                      <a:cubicBezTo>
                        <a:pt x="0" y="18094"/>
                        <a:pt x="0" y="16829"/>
                        <a:pt x="634" y="15564"/>
                      </a:cubicBezTo>
                      <a:cubicBezTo>
                        <a:pt x="634" y="14299"/>
                        <a:pt x="1268" y="13034"/>
                        <a:pt x="1901" y="11769"/>
                      </a:cubicBezTo>
                      <a:cubicBezTo>
                        <a:pt x="2535" y="10504"/>
                        <a:pt x="3169" y="9239"/>
                        <a:pt x="3803" y="8607"/>
                      </a:cubicBezTo>
                      <a:cubicBezTo>
                        <a:pt x="4436" y="7342"/>
                        <a:pt x="5070" y="6709"/>
                        <a:pt x="6338" y="5444"/>
                      </a:cubicBezTo>
                      <a:cubicBezTo>
                        <a:pt x="10774" y="1017"/>
                        <a:pt x="17746" y="-880"/>
                        <a:pt x="24084" y="385"/>
                      </a:cubicBezTo>
                      <a:cubicBezTo>
                        <a:pt x="25351" y="385"/>
                        <a:pt x="26619" y="1017"/>
                        <a:pt x="27886" y="1650"/>
                      </a:cubicBezTo>
                      <a:cubicBezTo>
                        <a:pt x="29154" y="2282"/>
                        <a:pt x="30421" y="2915"/>
                        <a:pt x="31055" y="3547"/>
                      </a:cubicBezTo>
                      <a:cubicBezTo>
                        <a:pt x="32323" y="4179"/>
                        <a:pt x="32956" y="4812"/>
                        <a:pt x="34224" y="6077"/>
                      </a:cubicBezTo>
                      <a:cubicBezTo>
                        <a:pt x="34858" y="7342"/>
                        <a:pt x="36125" y="7974"/>
                        <a:pt x="36759" y="9239"/>
                      </a:cubicBezTo>
                      <a:cubicBezTo>
                        <a:pt x="37393" y="10504"/>
                        <a:pt x="38027" y="11769"/>
                        <a:pt x="38660" y="12401"/>
                      </a:cubicBezTo>
                      <a:cubicBezTo>
                        <a:pt x="39294" y="13666"/>
                        <a:pt x="39294" y="14931"/>
                        <a:pt x="39928" y="16196"/>
                      </a:cubicBezTo>
                      <a:cubicBezTo>
                        <a:pt x="39928" y="17461"/>
                        <a:pt x="40562" y="18726"/>
                        <a:pt x="40562" y="19991"/>
                      </a:cubicBezTo>
                      <a:cubicBezTo>
                        <a:pt x="40562" y="21256"/>
                        <a:pt x="40562" y="22521"/>
                        <a:pt x="39928" y="23786"/>
                      </a:cubicBezTo>
                      <a:cubicBezTo>
                        <a:pt x="39928" y="25051"/>
                        <a:pt x="39294" y="26316"/>
                        <a:pt x="38660" y="27580"/>
                      </a:cubicBezTo>
                      <a:cubicBezTo>
                        <a:pt x="38027" y="28845"/>
                        <a:pt x="37393" y="30110"/>
                        <a:pt x="36759" y="30743"/>
                      </a:cubicBezTo>
                      <a:cubicBezTo>
                        <a:pt x="36125" y="32008"/>
                        <a:pt x="35492" y="32640"/>
                        <a:pt x="34224" y="33905"/>
                      </a:cubicBezTo>
                      <a:cubicBezTo>
                        <a:pt x="33590" y="34538"/>
                        <a:pt x="32323" y="35802"/>
                        <a:pt x="31055" y="36435"/>
                      </a:cubicBezTo>
                      <a:cubicBezTo>
                        <a:pt x="29788" y="37067"/>
                        <a:pt x="28520" y="37700"/>
                        <a:pt x="27886" y="38332"/>
                      </a:cubicBezTo>
                      <a:cubicBezTo>
                        <a:pt x="26619" y="38965"/>
                        <a:pt x="25351" y="38965"/>
                        <a:pt x="24084" y="39597"/>
                      </a:cubicBezTo>
                      <a:cubicBezTo>
                        <a:pt x="22816" y="38965"/>
                        <a:pt x="21548" y="39597"/>
                        <a:pt x="20281" y="3959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3" name="Picture Placeholder 100">
                  <a:extLst>
                    <a:ext uri="{FF2B5EF4-FFF2-40B4-BE49-F238E27FC236}">
                      <a16:creationId xmlns:a16="http://schemas.microsoft.com/office/drawing/2014/main" id="{9441073A-4118-FFE9-4D52-15832E0D75E3}"/>
                    </a:ext>
                  </a:extLst>
                </p:cNvPr>
                <p:cNvSpPr/>
                <p:nvPr/>
              </p:nvSpPr>
              <p:spPr>
                <a:xfrm>
                  <a:off x="9845473" y="2031590"/>
                  <a:ext cx="39608" cy="39685"/>
                </a:xfrm>
                <a:custGeom>
                  <a:avLst/>
                  <a:gdLst>
                    <a:gd name="connsiteX0" fmla="*/ 4277 w 39608"/>
                    <a:gd name="connsiteY0" fmla="*/ 32096 h 39685"/>
                    <a:gd name="connsiteX1" fmla="*/ 7445 w 39608"/>
                    <a:gd name="connsiteY1" fmla="*/ 4268 h 39685"/>
                    <a:gd name="connsiteX2" fmla="*/ 7445 w 39608"/>
                    <a:gd name="connsiteY2" fmla="*/ 4268 h 39685"/>
                    <a:gd name="connsiteX3" fmla="*/ 35332 w 39608"/>
                    <a:gd name="connsiteY3" fmla="*/ 7430 h 39685"/>
                    <a:gd name="connsiteX4" fmla="*/ 35332 w 39608"/>
                    <a:gd name="connsiteY4" fmla="*/ 7430 h 39685"/>
                    <a:gd name="connsiteX5" fmla="*/ 32163 w 39608"/>
                    <a:gd name="connsiteY5" fmla="*/ 35258 h 39685"/>
                    <a:gd name="connsiteX6" fmla="*/ 32163 w 39608"/>
                    <a:gd name="connsiteY6" fmla="*/ 35258 h 39685"/>
                    <a:gd name="connsiteX7" fmla="*/ 20121 w 39608"/>
                    <a:gd name="connsiteY7" fmla="*/ 39685 h 39685"/>
                    <a:gd name="connsiteX8" fmla="*/ 20121 w 39608"/>
                    <a:gd name="connsiteY8" fmla="*/ 39685 h 39685"/>
                    <a:gd name="connsiteX9" fmla="*/ 4277 w 39608"/>
                    <a:gd name="connsiteY9" fmla="*/ 32096 h 39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08" h="39685">
                      <a:moveTo>
                        <a:pt x="4277" y="32096"/>
                      </a:moveTo>
                      <a:cubicBezTo>
                        <a:pt x="-2695" y="23874"/>
                        <a:pt x="-794" y="11225"/>
                        <a:pt x="7445" y="4268"/>
                      </a:cubicBezTo>
                      <a:lnTo>
                        <a:pt x="7445" y="4268"/>
                      </a:lnTo>
                      <a:cubicBezTo>
                        <a:pt x="15685" y="-2689"/>
                        <a:pt x="28360" y="-792"/>
                        <a:pt x="35332" y="7430"/>
                      </a:cubicBezTo>
                      <a:lnTo>
                        <a:pt x="35332" y="7430"/>
                      </a:lnTo>
                      <a:cubicBezTo>
                        <a:pt x="42303" y="15652"/>
                        <a:pt x="40402" y="28301"/>
                        <a:pt x="32163" y="35258"/>
                      </a:cubicBezTo>
                      <a:lnTo>
                        <a:pt x="32163" y="35258"/>
                      </a:lnTo>
                      <a:cubicBezTo>
                        <a:pt x="28360" y="38421"/>
                        <a:pt x="24557" y="39685"/>
                        <a:pt x="20121" y="39685"/>
                      </a:cubicBezTo>
                      <a:lnTo>
                        <a:pt x="20121" y="39685"/>
                      </a:lnTo>
                      <a:cubicBezTo>
                        <a:pt x="13783" y="39053"/>
                        <a:pt x="8079" y="37156"/>
                        <a:pt x="4277" y="3209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4" name="Picture Placeholder 100">
                  <a:extLst>
                    <a:ext uri="{FF2B5EF4-FFF2-40B4-BE49-F238E27FC236}">
                      <a16:creationId xmlns:a16="http://schemas.microsoft.com/office/drawing/2014/main" id="{BA5DCADF-4DBD-23B4-619C-00363EA7153D}"/>
                    </a:ext>
                  </a:extLst>
                </p:cNvPr>
                <p:cNvSpPr/>
                <p:nvPr/>
              </p:nvSpPr>
              <p:spPr>
                <a:xfrm>
                  <a:off x="9900452" y="1986051"/>
                  <a:ext cx="39928" cy="40319"/>
                </a:xfrm>
                <a:custGeom>
                  <a:avLst/>
                  <a:gdLst>
                    <a:gd name="connsiteX0" fmla="*/ 20281 w 39928"/>
                    <a:gd name="connsiteY0" fmla="*/ 40319 h 40319"/>
                    <a:gd name="connsiteX1" fmla="*/ 16478 w 39928"/>
                    <a:gd name="connsiteY1" fmla="*/ 39687 h 40319"/>
                    <a:gd name="connsiteX2" fmla="*/ 12676 w 39928"/>
                    <a:gd name="connsiteY2" fmla="*/ 38422 h 40319"/>
                    <a:gd name="connsiteX3" fmla="*/ 9507 w 39928"/>
                    <a:gd name="connsiteY3" fmla="*/ 36525 h 40319"/>
                    <a:gd name="connsiteX4" fmla="*/ 6338 w 39928"/>
                    <a:gd name="connsiteY4" fmla="*/ 33995 h 40319"/>
                    <a:gd name="connsiteX5" fmla="*/ 3803 w 39928"/>
                    <a:gd name="connsiteY5" fmla="*/ 30832 h 40319"/>
                    <a:gd name="connsiteX6" fmla="*/ 1901 w 39928"/>
                    <a:gd name="connsiteY6" fmla="*/ 27670 h 40319"/>
                    <a:gd name="connsiteX7" fmla="*/ 634 w 39928"/>
                    <a:gd name="connsiteY7" fmla="*/ 23875 h 40319"/>
                    <a:gd name="connsiteX8" fmla="*/ 0 w 39928"/>
                    <a:gd name="connsiteY8" fmla="*/ 20081 h 40319"/>
                    <a:gd name="connsiteX9" fmla="*/ 5704 w 39928"/>
                    <a:gd name="connsiteY9" fmla="*/ 6166 h 40319"/>
                    <a:gd name="connsiteX10" fmla="*/ 8873 w 39928"/>
                    <a:gd name="connsiteY10" fmla="*/ 3637 h 40319"/>
                    <a:gd name="connsiteX11" fmla="*/ 12042 w 39928"/>
                    <a:gd name="connsiteY11" fmla="*/ 1739 h 40319"/>
                    <a:gd name="connsiteX12" fmla="*/ 15844 w 39928"/>
                    <a:gd name="connsiteY12" fmla="*/ 474 h 40319"/>
                    <a:gd name="connsiteX13" fmla="*/ 23450 w 39928"/>
                    <a:gd name="connsiteY13" fmla="*/ 474 h 40319"/>
                    <a:gd name="connsiteX14" fmla="*/ 27252 w 39928"/>
                    <a:gd name="connsiteY14" fmla="*/ 1739 h 40319"/>
                    <a:gd name="connsiteX15" fmla="*/ 30421 w 39928"/>
                    <a:gd name="connsiteY15" fmla="*/ 3637 h 40319"/>
                    <a:gd name="connsiteX16" fmla="*/ 33590 w 39928"/>
                    <a:gd name="connsiteY16" fmla="*/ 6166 h 40319"/>
                    <a:gd name="connsiteX17" fmla="*/ 36125 w 39928"/>
                    <a:gd name="connsiteY17" fmla="*/ 9329 h 40319"/>
                    <a:gd name="connsiteX18" fmla="*/ 38027 w 39928"/>
                    <a:gd name="connsiteY18" fmla="*/ 12491 h 40319"/>
                    <a:gd name="connsiteX19" fmla="*/ 39294 w 39928"/>
                    <a:gd name="connsiteY19" fmla="*/ 16286 h 40319"/>
                    <a:gd name="connsiteX20" fmla="*/ 39928 w 39928"/>
                    <a:gd name="connsiteY20" fmla="*/ 20081 h 40319"/>
                    <a:gd name="connsiteX21" fmla="*/ 39294 w 39928"/>
                    <a:gd name="connsiteY21" fmla="*/ 23875 h 40319"/>
                    <a:gd name="connsiteX22" fmla="*/ 38027 w 39928"/>
                    <a:gd name="connsiteY22" fmla="*/ 27670 h 40319"/>
                    <a:gd name="connsiteX23" fmla="*/ 36125 w 39928"/>
                    <a:gd name="connsiteY23" fmla="*/ 30832 h 40319"/>
                    <a:gd name="connsiteX24" fmla="*/ 33590 w 39928"/>
                    <a:gd name="connsiteY24" fmla="*/ 33995 h 40319"/>
                    <a:gd name="connsiteX25" fmla="*/ 30421 w 39928"/>
                    <a:gd name="connsiteY25" fmla="*/ 36525 h 40319"/>
                    <a:gd name="connsiteX26" fmla="*/ 27252 w 39928"/>
                    <a:gd name="connsiteY26" fmla="*/ 38422 h 40319"/>
                    <a:gd name="connsiteX27" fmla="*/ 23450 w 39928"/>
                    <a:gd name="connsiteY27" fmla="*/ 39687 h 40319"/>
                    <a:gd name="connsiteX28" fmla="*/ 20281 w 39928"/>
                    <a:gd name="connsiteY28" fmla="*/ 40319 h 40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928" h="40319">
                      <a:moveTo>
                        <a:pt x="20281" y="40319"/>
                      </a:moveTo>
                      <a:cubicBezTo>
                        <a:pt x="19013" y="40319"/>
                        <a:pt x="17746" y="40319"/>
                        <a:pt x="16478" y="39687"/>
                      </a:cubicBezTo>
                      <a:cubicBezTo>
                        <a:pt x="15211" y="39687"/>
                        <a:pt x="13943" y="39054"/>
                        <a:pt x="12676" y="38422"/>
                      </a:cubicBezTo>
                      <a:cubicBezTo>
                        <a:pt x="11408" y="37789"/>
                        <a:pt x="10140" y="37157"/>
                        <a:pt x="9507" y="36525"/>
                      </a:cubicBezTo>
                      <a:cubicBezTo>
                        <a:pt x="8239" y="35892"/>
                        <a:pt x="7605" y="35260"/>
                        <a:pt x="6338" y="33995"/>
                      </a:cubicBezTo>
                      <a:cubicBezTo>
                        <a:pt x="5704" y="33362"/>
                        <a:pt x="4436" y="32097"/>
                        <a:pt x="3803" y="30832"/>
                      </a:cubicBezTo>
                      <a:cubicBezTo>
                        <a:pt x="3169" y="29568"/>
                        <a:pt x="2535" y="28303"/>
                        <a:pt x="1901" y="27670"/>
                      </a:cubicBezTo>
                      <a:cubicBezTo>
                        <a:pt x="1268" y="26405"/>
                        <a:pt x="1268" y="25140"/>
                        <a:pt x="634" y="23875"/>
                      </a:cubicBezTo>
                      <a:cubicBezTo>
                        <a:pt x="634" y="22610"/>
                        <a:pt x="0" y="21346"/>
                        <a:pt x="0" y="20081"/>
                      </a:cubicBezTo>
                      <a:cubicBezTo>
                        <a:pt x="0" y="15021"/>
                        <a:pt x="1901" y="9961"/>
                        <a:pt x="5704" y="6166"/>
                      </a:cubicBezTo>
                      <a:cubicBezTo>
                        <a:pt x="6338" y="5534"/>
                        <a:pt x="7605" y="4269"/>
                        <a:pt x="8873" y="3637"/>
                      </a:cubicBezTo>
                      <a:cubicBezTo>
                        <a:pt x="10140" y="3004"/>
                        <a:pt x="11408" y="2372"/>
                        <a:pt x="12042" y="1739"/>
                      </a:cubicBezTo>
                      <a:cubicBezTo>
                        <a:pt x="13309" y="1107"/>
                        <a:pt x="14577" y="1107"/>
                        <a:pt x="15844" y="474"/>
                      </a:cubicBezTo>
                      <a:cubicBezTo>
                        <a:pt x="18380" y="-158"/>
                        <a:pt x="20915" y="-158"/>
                        <a:pt x="23450" y="474"/>
                      </a:cubicBezTo>
                      <a:cubicBezTo>
                        <a:pt x="24717" y="474"/>
                        <a:pt x="25985" y="1107"/>
                        <a:pt x="27252" y="1739"/>
                      </a:cubicBezTo>
                      <a:cubicBezTo>
                        <a:pt x="28520" y="2372"/>
                        <a:pt x="29788" y="3004"/>
                        <a:pt x="30421" y="3637"/>
                      </a:cubicBezTo>
                      <a:cubicBezTo>
                        <a:pt x="31689" y="4269"/>
                        <a:pt x="32323" y="4902"/>
                        <a:pt x="33590" y="6166"/>
                      </a:cubicBezTo>
                      <a:cubicBezTo>
                        <a:pt x="34224" y="6799"/>
                        <a:pt x="35492" y="8064"/>
                        <a:pt x="36125" y="9329"/>
                      </a:cubicBezTo>
                      <a:cubicBezTo>
                        <a:pt x="36759" y="10594"/>
                        <a:pt x="37393" y="11859"/>
                        <a:pt x="38027" y="12491"/>
                      </a:cubicBezTo>
                      <a:cubicBezTo>
                        <a:pt x="38660" y="13756"/>
                        <a:pt x="38660" y="15021"/>
                        <a:pt x="39294" y="16286"/>
                      </a:cubicBezTo>
                      <a:cubicBezTo>
                        <a:pt x="39294" y="17551"/>
                        <a:pt x="39928" y="18816"/>
                        <a:pt x="39928" y="20081"/>
                      </a:cubicBezTo>
                      <a:cubicBezTo>
                        <a:pt x="39928" y="21346"/>
                        <a:pt x="39928" y="22610"/>
                        <a:pt x="39294" y="23875"/>
                      </a:cubicBezTo>
                      <a:cubicBezTo>
                        <a:pt x="39294" y="25140"/>
                        <a:pt x="38660" y="26405"/>
                        <a:pt x="38027" y="27670"/>
                      </a:cubicBezTo>
                      <a:cubicBezTo>
                        <a:pt x="37393" y="28935"/>
                        <a:pt x="36759" y="30200"/>
                        <a:pt x="36125" y="30832"/>
                      </a:cubicBezTo>
                      <a:cubicBezTo>
                        <a:pt x="35492" y="32097"/>
                        <a:pt x="34858" y="32730"/>
                        <a:pt x="33590" y="33995"/>
                      </a:cubicBezTo>
                      <a:cubicBezTo>
                        <a:pt x="32323" y="34627"/>
                        <a:pt x="31689" y="35892"/>
                        <a:pt x="30421" y="36525"/>
                      </a:cubicBezTo>
                      <a:cubicBezTo>
                        <a:pt x="29154" y="37157"/>
                        <a:pt x="27886" y="37789"/>
                        <a:pt x="27252" y="38422"/>
                      </a:cubicBezTo>
                      <a:cubicBezTo>
                        <a:pt x="25985" y="39054"/>
                        <a:pt x="24717" y="39054"/>
                        <a:pt x="23450" y="39687"/>
                      </a:cubicBezTo>
                      <a:cubicBezTo>
                        <a:pt x="22816" y="40319"/>
                        <a:pt x="21548" y="40319"/>
                        <a:pt x="20281" y="4031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5" name="Picture Placeholder 100">
                  <a:extLst>
                    <a:ext uri="{FF2B5EF4-FFF2-40B4-BE49-F238E27FC236}">
                      <a16:creationId xmlns:a16="http://schemas.microsoft.com/office/drawing/2014/main" id="{7AD81D3D-FDE1-495A-E241-C94773660225}"/>
                    </a:ext>
                  </a:extLst>
                </p:cNvPr>
                <p:cNvSpPr/>
                <p:nvPr/>
              </p:nvSpPr>
              <p:spPr>
                <a:xfrm>
                  <a:off x="9968323" y="2020735"/>
                  <a:ext cx="39180" cy="39155"/>
                </a:xfrm>
                <a:custGeom>
                  <a:avLst/>
                  <a:gdLst>
                    <a:gd name="connsiteX0" fmla="*/ 10717 w 39180"/>
                    <a:gd name="connsiteY0" fmla="*/ 37258 h 39155"/>
                    <a:gd name="connsiteX1" fmla="*/ 1844 w 39180"/>
                    <a:gd name="connsiteY1" fmla="*/ 10695 h 39155"/>
                    <a:gd name="connsiteX2" fmla="*/ 1844 w 39180"/>
                    <a:gd name="connsiteY2" fmla="*/ 10695 h 39155"/>
                    <a:gd name="connsiteX3" fmla="*/ 28463 w 39180"/>
                    <a:gd name="connsiteY3" fmla="*/ 1841 h 39155"/>
                    <a:gd name="connsiteX4" fmla="*/ 28463 w 39180"/>
                    <a:gd name="connsiteY4" fmla="*/ 1841 h 39155"/>
                    <a:gd name="connsiteX5" fmla="*/ 37336 w 39180"/>
                    <a:gd name="connsiteY5" fmla="*/ 28404 h 39155"/>
                    <a:gd name="connsiteX6" fmla="*/ 37336 w 39180"/>
                    <a:gd name="connsiteY6" fmla="*/ 28404 h 39155"/>
                    <a:gd name="connsiteX7" fmla="*/ 19590 w 39180"/>
                    <a:gd name="connsiteY7" fmla="*/ 39156 h 39155"/>
                    <a:gd name="connsiteX8" fmla="*/ 19590 w 39180"/>
                    <a:gd name="connsiteY8" fmla="*/ 39156 h 39155"/>
                    <a:gd name="connsiteX9" fmla="*/ 10717 w 39180"/>
                    <a:gd name="connsiteY9" fmla="*/ 37258 h 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80" h="39155">
                      <a:moveTo>
                        <a:pt x="10717" y="37258"/>
                      </a:moveTo>
                      <a:cubicBezTo>
                        <a:pt x="1211" y="32199"/>
                        <a:pt x="-2592" y="20814"/>
                        <a:pt x="1844" y="10695"/>
                      </a:cubicBezTo>
                      <a:lnTo>
                        <a:pt x="1844" y="10695"/>
                      </a:lnTo>
                      <a:cubicBezTo>
                        <a:pt x="6915" y="1208"/>
                        <a:pt x="18323" y="-2587"/>
                        <a:pt x="28463" y="1841"/>
                      </a:cubicBezTo>
                      <a:lnTo>
                        <a:pt x="28463" y="1841"/>
                      </a:lnTo>
                      <a:cubicBezTo>
                        <a:pt x="37970" y="6900"/>
                        <a:pt x="41773" y="18285"/>
                        <a:pt x="37336" y="28404"/>
                      </a:cubicBezTo>
                      <a:lnTo>
                        <a:pt x="37336" y="28404"/>
                      </a:lnTo>
                      <a:cubicBezTo>
                        <a:pt x="34167" y="35361"/>
                        <a:pt x="27196" y="39156"/>
                        <a:pt x="19590" y="39156"/>
                      </a:cubicBezTo>
                      <a:lnTo>
                        <a:pt x="19590" y="39156"/>
                      </a:lnTo>
                      <a:cubicBezTo>
                        <a:pt x="16421" y="39156"/>
                        <a:pt x="13252" y="38523"/>
                        <a:pt x="10717" y="3725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7" name="Picture Placeholder 100">
                <a:extLst>
                  <a:ext uri="{FF2B5EF4-FFF2-40B4-BE49-F238E27FC236}">
                    <a16:creationId xmlns:a16="http://schemas.microsoft.com/office/drawing/2014/main" id="{8C016698-35BD-D0EB-21FA-7B432233FE2F}"/>
                  </a:ext>
                </a:extLst>
              </p:cNvPr>
              <p:cNvGrpSpPr/>
              <p:nvPr/>
            </p:nvGrpSpPr>
            <p:grpSpPr>
              <a:xfrm>
                <a:off x="9800948" y="2330832"/>
                <a:ext cx="204583" cy="185063"/>
                <a:chOff x="9800948" y="2330832"/>
                <a:chExt cx="204583" cy="185063"/>
              </a:xfrm>
              <a:grpFill/>
            </p:grpSpPr>
            <p:sp>
              <p:nvSpPr>
                <p:cNvPr id="108" name="Picture Placeholder 100">
                  <a:extLst>
                    <a:ext uri="{FF2B5EF4-FFF2-40B4-BE49-F238E27FC236}">
                      <a16:creationId xmlns:a16="http://schemas.microsoft.com/office/drawing/2014/main" id="{74E1CDF4-B2F7-82F4-C83B-A8F1C3F986AE}"/>
                    </a:ext>
                  </a:extLst>
                </p:cNvPr>
                <p:cNvSpPr/>
                <p:nvPr/>
              </p:nvSpPr>
              <p:spPr>
                <a:xfrm>
                  <a:off x="9800948" y="2330832"/>
                  <a:ext cx="39928" cy="40229"/>
                </a:xfrm>
                <a:custGeom>
                  <a:avLst/>
                  <a:gdLst>
                    <a:gd name="connsiteX0" fmla="*/ 19647 w 39928"/>
                    <a:gd name="connsiteY0" fmla="*/ 40230 h 40229"/>
                    <a:gd name="connsiteX1" fmla="*/ 15844 w 39928"/>
                    <a:gd name="connsiteY1" fmla="*/ 39597 h 40229"/>
                    <a:gd name="connsiteX2" fmla="*/ 12042 w 39928"/>
                    <a:gd name="connsiteY2" fmla="*/ 38332 h 40229"/>
                    <a:gd name="connsiteX3" fmla="*/ 8873 w 39928"/>
                    <a:gd name="connsiteY3" fmla="*/ 36435 h 40229"/>
                    <a:gd name="connsiteX4" fmla="*/ 5704 w 39928"/>
                    <a:gd name="connsiteY4" fmla="*/ 33905 h 40229"/>
                    <a:gd name="connsiteX5" fmla="*/ 0 w 39928"/>
                    <a:gd name="connsiteY5" fmla="*/ 19991 h 40229"/>
                    <a:gd name="connsiteX6" fmla="*/ 634 w 39928"/>
                    <a:gd name="connsiteY6" fmla="*/ 16196 h 40229"/>
                    <a:gd name="connsiteX7" fmla="*/ 1901 w 39928"/>
                    <a:gd name="connsiteY7" fmla="*/ 12401 h 40229"/>
                    <a:gd name="connsiteX8" fmla="*/ 3803 w 39928"/>
                    <a:gd name="connsiteY8" fmla="*/ 9239 h 40229"/>
                    <a:gd name="connsiteX9" fmla="*/ 6338 w 39928"/>
                    <a:gd name="connsiteY9" fmla="*/ 6077 h 40229"/>
                    <a:gd name="connsiteX10" fmla="*/ 9507 w 39928"/>
                    <a:gd name="connsiteY10" fmla="*/ 3547 h 40229"/>
                    <a:gd name="connsiteX11" fmla="*/ 12676 w 39928"/>
                    <a:gd name="connsiteY11" fmla="*/ 1650 h 40229"/>
                    <a:gd name="connsiteX12" fmla="*/ 16478 w 39928"/>
                    <a:gd name="connsiteY12" fmla="*/ 385 h 40229"/>
                    <a:gd name="connsiteX13" fmla="*/ 34224 w 39928"/>
                    <a:gd name="connsiteY13" fmla="*/ 5444 h 40229"/>
                    <a:gd name="connsiteX14" fmla="*/ 39928 w 39928"/>
                    <a:gd name="connsiteY14" fmla="*/ 19359 h 40229"/>
                    <a:gd name="connsiteX15" fmla="*/ 39294 w 39928"/>
                    <a:gd name="connsiteY15" fmla="*/ 23153 h 40229"/>
                    <a:gd name="connsiteX16" fmla="*/ 38027 w 39928"/>
                    <a:gd name="connsiteY16" fmla="*/ 26948 h 40229"/>
                    <a:gd name="connsiteX17" fmla="*/ 36125 w 39928"/>
                    <a:gd name="connsiteY17" fmla="*/ 30110 h 40229"/>
                    <a:gd name="connsiteX18" fmla="*/ 33590 w 39928"/>
                    <a:gd name="connsiteY18" fmla="*/ 33273 h 40229"/>
                    <a:gd name="connsiteX19" fmla="*/ 30421 w 39928"/>
                    <a:gd name="connsiteY19" fmla="*/ 35802 h 40229"/>
                    <a:gd name="connsiteX20" fmla="*/ 27252 w 39928"/>
                    <a:gd name="connsiteY20" fmla="*/ 37700 h 40229"/>
                    <a:gd name="connsiteX21" fmla="*/ 23450 w 39928"/>
                    <a:gd name="connsiteY21" fmla="*/ 38965 h 40229"/>
                    <a:gd name="connsiteX22" fmla="*/ 19647 w 39928"/>
                    <a:gd name="connsiteY22" fmla="*/ 40230 h 40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928" h="40229">
                      <a:moveTo>
                        <a:pt x="19647" y="40230"/>
                      </a:moveTo>
                      <a:cubicBezTo>
                        <a:pt x="18380" y="40230"/>
                        <a:pt x="17112" y="40230"/>
                        <a:pt x="15844" y="39597"/>
                      </a:cubicBezTo>
                      <a:cubicBezTo>
                        <a:pt x="14577" y="39597"/>
                        <a:pt x="13309" y="38965"/>
                        <a:pt x="12042" y="38332"/>
                      </a:cubicBezTo>
                      <a:cubicBezTo>
                        <a:pt x="10774" y="37700"/>
                        <a:pt x="9507" y="37067"/>
                        <a:pt x="8873" y="36435"/>
                      </a:cubicBezTo>
                      <a:cubicBezTo>
                        <a:pt x="7605" y="35802"/>
                        <a:pt x="6972" y="35170"/>
                        <a:pt x="5704" y="33905"/>
                      </a:cubicBezTo>
                      <a:cubicBezTo>
                        <a:pt x="1901" y="30110"/>
                        <a:pt x="0" y="25051"/>
                        <a:pt x="0" y="19991"/>
                      </a:cubicBezTo>
                      <a:cubicBezTo>
                        <a:pt x="0" y="18726"/>
                        <a:pt x="0" y="17461"/>
                        <a:pt x="634" y="16196"/>
                      </a:cubicBezTo>
                      <a:cubicBezTo>
                        <a:pt x="634" y="14931"/>
                        <a:pt x="1268" y="13666"/>
                        <a:pt x="1901" y="12401"/>
                      </a:cubicBezTo>
                      <a:cubicBezTo>
                        <a:pt x="2535" y="11137"/>
                        <a:pt x="3169" y="10504"/>
                        <a:pt x="3803" y="9239"/>
                      </a:cubicBezTo>
                      <a:cubicBezTo>
                        <a:pt x="4436" y="7974"/>
                        <a:pt x="5070" y="7342"/>
                        <a:pt x="6338" y="6077"/>
                      </a:cubicBezTo>
                      <a:cubicBezTo>
                        <a:pt x="6972" y="5444"/>
                        <a:pt x="8239" y="4179"/>
                        <a:pt x="9507" y="3547"/>
                      </a:cubicBezTo>
                      <a:cubicBezTo>
                        <a:pt x="10774" y="2915"/>
                        <a:pt x="12042" y="2282"/>
                        <a:pt x="12676" y="1650"/>
                      </a:cubicBezTo>
                      <a:cubicBezTo>
                        <a:pt x="13943" y="1017"/>
                        <a:pt x="15211" y="1017"/>
                        <a:pt x="16478" y="385"/>
                      </a:cubicBezTo>
                      <a:cubicBezTo>
                        <a:pt x="22816" y="-880"/>
                        <a:pt x="29788" y="1017"/>
                        <a:pt x="34224" y="5444"/>
                      </a:cubicBezTo>
                      <a:cubicBezTo>
                        <a:pt x="38027" y="9239"/>
                        <a:pt x="39928" y="14299"/>
                        <a:pt x="39928" y="19359"/>
                      </a:cubicBezTo>
                      <a:cubicBezTo>
                        <a:pt x="39928" y="20623"/>
                        <a:pt x="39928" y="21888"/>
                        <a:pt x="39294" y="23153"/>
                      </a:cubicBezTo>
                      <a:cubicBezTo>
                        <a:pt x="39294" y="24418"/>
                        <a:pt x="38660" y="25683"/>
                        <a:pt x="38027" y="26948"/>
                      </a:cubicBezTo>
                      <a:cubicBezTo>
                        <a:pt x="37393" y="28213"/>
                        <a:pt x="36759" y="29478"/>
                        <a:pt x="36125" y="30110"/>
                      </a:cubicBezTo>
                      <a:cubicBezTo>
                        <a:pt x="35492" y="31375"/>
                        <a:pt x="34858" y="32008"/>
                        <a:pt x="33590" y="33273"/>
                      </a:cubicBezTo>
                      <a:cubicBezTo>
                        <a:pt x="32323" y="34538"/>
                        <a:pt x="31689" y="35170"/>
                        <a:pt x="30421" y="35802"/>
                      </a:cubicBezTo>
                      <a:cubicBezTo>
                        <a:pt x="29154" y="36435"/>
                        <a:pt x="27886" y="37067"/>
                        <a:pt x="27252" y="37700"/>
                      </a:cubicBezTo>
                      <a:cubicBezTo>
                        <a:pt x="25985" y="38332"/>
                        <a:pt x="24717" y="38332"/>
                        <a:pt x="23450" y="38965"/>
                      </a:cubicBezTo>
                      <a:cubicBezTo>
                        <a:pt x="22182" y="39597"/>
                        <a:pt x="20915" y="40230"/>
                        <a:pt x="19647" y="4023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9" name="Picture Placeholder 100">
                  <a:extLst>
                    <a:ext uri="{FF2B5EF4-FFF2-40B4-BE49-F238E27FC236}">
                      <a16:creationId xmlns:a16="http://schemas.microsoft.com/office/drawing/2014/main" id="{91C9FFF7-6313-1858-2C6B-2DDA04DEAA11}"/>
                    </a:ext>
                  </a:extLst>
                </p:cNvPr>
                <p:cNvSpPr/>
                <p:nvPr/>
              </p:nvSpPr>
              <p:spPr>
                <a:xfrm>
                  <a:off x="9833232" y="2380039"/>
                  <a:ext cx="71062" cy="87156"/>
                </a:xfrm>
                <a:custGeom>
                  <a:avLst/>
                  <a:gdLst>
                    <a:gd name="connsiteX0" fmla="*/ 34897 w 71062"/>
                    <a:gd name="connsiteY0" fmla="*/ 78302 h 87156"/>
                    <a:gd name="connsiteX1" fmla="*/ 40601 w 71062"/>
                    <a:gd name="connsiteY1" fmla="*/ 51106 h 87156"/>
                    <a:gd name="connsiteX2" fmla="*/ 40601 w 71062"/>
                    <a:gd name="connsiteY2" fmla="*/ 51106 h 87156"/>
                    <a:gd name="connsiteX3" fmla="*/ 67854 w 71062"/>
                    <a:gd name="connsiteY3" fmla="*/ 56798 h 87156"/>
                    <a:gd name="connsiteX4" fmla="*/ 67854 w 71062"/>
                    <a:gd name="connsiteY4" fmla="*/ 56798 h 87156"/>
                    <a:gd name="connsiteX5" fmla="*/ 62150 w 71062"/>
                    <a:gd name="connsiteY5" fmla="*/ 83994 h 87156"/>
                    <a:gd name="connsiteX6" fmla="*/ 62150 w 71062"/>
                    <a:gd name="connsiteY6" fmla="*/ 83994 h 87156"/>
                    <a:gd name="connsiteX7" fmla="*/ 51376 w 71062"/>
                    <a:gd name="connsiteY7" fmla="*/ 87157 h 87156"/>
                    <a:gd name="connsiteX8" fmla="*/ 51376 w 71062"/>
                    <a:gd name="connsiteY8" fmla="*/ 87157 h 87156"/>
                    <a:gd name="connsiteX9" fmla="*/ 34897 w 71062"/>
                    <a:gd name="connsiteY9" fmla="*/ 78302 h 87156"/>
                    <a:gd name="connsiteX10" fmla="*/ 3209 w 71062"/>
                    <a:gd name="connsiteY10" fmla="*/ 30235 h 87156"/>
                    <a:gd name="connsiteX11" fmla="*/ 8913 w 71062"/>
                    <a:gd name="connsiteY11" fmla="*/ 3039 h 87156"/>
                    <a:gd name="connsiteX12" fmla="*/ 8913 w 71062"/>
                    <a:gd name="connsiteY12" fmla="*/ 3039 h 87156"/>
                    <a:gd name="connsiteX13" fmla="*/ 36165 w 71062"/>
                    <a:gd name="connsiteY13" fmla="*/ 8732 h 87156"/>
                    <a:gd name="connsiteX14" fmla="*/ 36165 w 71062"/>
                    <a:gd name="connsiteY14" fmla="*/ 8732 h 87156"/>
                    <a:gd name="connsiteX15" fmla="*/ 30461 w 71062"/>
                    <a:gd name="connsiteY15" fmla="*/ 35927 h 87156"/>
                    <a:gd name="connsiteX16" fmla="*/ 30461 w 71062"/>
                    <a:gd name="connsiteY16" fmla="*/ 35927 h 87156"/>
                    <a:gd name="connsiteX17" fmla="*/ 19687 w 71062"/>
                    <a:gd name="connsiteY17" fmla="*/ 39090 h 87156"/>
                    <a:gd name="connsiteX18" fmla="*/ 19687 w 71062"/>
                    <a:gd name="connsiteY18" fmla="*/ 39090 h 87156"/>
                    <a:gd name="connsiteX19" fmla="*/ 3209 w 71062"/>
                    <a:gd name="connsiteY19" fmla="*/ 30235 h 87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062" h="87156">
                      <a:moveTo>
                        <a:pt x="34897" y="78302"/>
                      </a:moveTo>
                      <a:cubicBezTo>
                        <a:pt x="29193" y="69448"/>
                        <a:pt x="31095" y="56798"/>
                        <a:pt x="40601" y="51106"/>
                      </a:cubicBezTo>
                      <a:lnTo>
                        <a:pt x="40601" y="51106"/>
                      </a:lnTo>
                      <a:cubicBezTo>
                        <a:pt x="49474" y="45414"/>
                        <a:pt x="61516" y="47312"/>
                        <a:pt x="67854" y="56798"/>
                      </a:cubicBezTo>
                      <a:lnTo>
                        <a:pt x="67854" y="56798"/>
                      </a:lnTo>
                      <a:cubicBezTo>
                        <a:pt x="73558" y="65653"/>
                        <a:pt x="71657" y="78302"/>
                        <a:pt x="62150" y="83994"/>
                      </a:cubicBezTo>
                      <a:lnTo>
                        <a:pt x="62150" y="83994"/>
                      </a:lnTo>
                      <a:cubicBezTo>
                        <a:pt x="58981" y="85892"/>
                        <a:pt x="55178" y="87157"/>
                        <a:pt x="51376" y="87157"/>
                      </a:cubicBezTo>
                      <a:lnTo>
                        <a:pt x="51376" y="87157"/>
                      </a:lnTo>
                      <a:cubicBezTo>
                        <a:pt x="45038" y="87157"/>
                        <a:pt x="38700" y="83994"/>
                        <a:pt x="34897" y="78302"/>
                      </a:cubicBezTo>
                      <a:close/>
                      <a:moveTo>
                        <a:pt x="3209" y="30235"/>
                      </a:moveTo>
                      <a:cubicBezTo>
                        <a:pt x="-2495" y="21381"/>
                        <a:pt x="-594" y="8732"/>
                        <a:pt x="8913" y="3039"/>
                      </a:cubicBezTo>
                      <a:lnTo>
                        <a:pt x="8913" y="3039"/>
                      </a:lnTo>
                      <a:cubicBezTo>
                        <a:pt x="17785" y="-2653"/>
                        <a:pt x="30461" y="-123"/>
                        <a:pt x="36165" y="8732"/>
                      </a:cubicBezTo>
                      <a:lnTo>
                        <a:pt x="36165" y="8732"/>
                      </a:lnTo>
                      <a:cubicBezTo>
                        <a:pt x="41869" y="17586"/>
                        <a:pt x="39334" y="30235"/>
                        <a:pt x="30461" y="35927"/>
                      </a:cubicBezTo>
                      <a:lnTo>
                        <a:pt x="30461" y="35927"/>
                      </a:lnTo>
                      <a:cubicBezTo>
                        <a:pt x="27292" y="38457"/>
                        <a:pt x="23489" y="39090"/>
                        <a:pt x="19687" y="39090"/>
                      </a:cubicBezTo>
                      <a:lnTo>
                        <a:pt x="19687" y="39090"/>
                      </a:lnTo>
                      <a:cubicBezTo>
                        <a:pt x="13349" y="39090"/>
                        <a:pt x="7011" y="35927"/>
                        <a:pt x="3209" y="3023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0" name="Picture Placeholder 100">
                  <a:extLst>
                    <a:ext uri="{FF2B5EF4-FFF2-40B4-BE49-F238E27FC236}">
                      <a16:creationId xmlns:a16="http://schemas.microsoft.com/office/drawing/2014/main" id="{4D9DB543-A5D2-389E-C9B3-DFCC21254001}"/>
                    </a:ext>
                  </a:extLst>
                </p:cNvPr>
                <p:cNvSpPr/>
                <p:nvPr/>
              </p:nvSpPr>
              <p:spPr>
                <a:xfrm>
                  <a:off x="9897283" y="2476045"/>
                  <a:ext cx="40561" cy="39849"/>
                </a:xfrm>
                <a:custGeom>
                  <a:avLst/>
                  <a:gdLst>
                    <a:gd name="connsiteX0" fmla="*/ 19647 w 40561"/>
                    <a:gd name="connsiteY0" fmla="*/ 39217 h 39849"/>
                    <a:gd name="connsiteX1" fmla="*/ 5704 w 40561"/>
                    <a:gd name="connsiteY1" fmla="*/ 33525 h 39849"/>
                    <a:gd name="connsiteX2" fmla="*/ 0 w 40561"/>
                    <a:gd name="connsiteY2" fmla="*/ 19611 h 39849"/>
                    <a:gd name="connsiteX3" fmla="*/ 634 w 40561"/>
                    <a:gd name="connsiteY3" fmla="*/ 15816 h 39849"/>
                    <a:gd name="connsiteX4" fmla="*/ 1901 w 40561"/>
                    <a:gd name="connsiteY4" fmla="*/ 12022 h 39849"/>
                    <a:gd name="connsiteX5" fmla="*/ 3803 w 40561"/>
                    <a:gd name="connsiteY5" fmla="*/ 8859 h 39849"/>
                    <a:gd name="connsiteX6" fmla="*/ 6338 w 40561"/>
                    <a:gd name="connsiteY6" fmla="*/ 5697 h 39849"/>
                    <a:gd name="connsiteX7" fmla="*/ 24084 w 40561"/>
                    <a:gd name="connsiteY7" fmla="*/ 637 h 39849"/>
                    <a:gd name="connsiteX8" fmla="*/ 27886 w 40561"/>
                    <a:gd name="connsiteY8" fmla="*/ 1902 h 39849"/>
                    <a:gd name="connsiteX9" fmla="*/ 31055 w 40561"/>
                    <a:gd name="connsiteY9" fmla="*/ 3800 h 39849"/>
                    <a:gd name="connsiteX10" fmla="*/ 34224 w 40561"/>
                    <a:gd name="connsiteY10" fmla="*/ 6329 h 39849"/>
                    <a:gd name="connsiteX11" fmla="*/ 36759 w 40561"/>
                    <a:gd name="connsiteY11" fmla="*/ 9492 h 39849"/>
                    <a:gd name="connsiteX12" fmla="*/ 38660 w 40561"/>
                    <a:gd name="connsiteY12" fmla="*/ 12654 h 39849"/>
                    <a:gd name="connsiteX13" fmla="*/ 39928 w 40561"/>
                    <a:gd name="connsiteY13" fmla="*/ 16449 h 39849"/>
                    <a:gd name="connsiteX14" fmla="*/ 40562 w 40561"/>
                    <a:gd name="connsiteY14" fmla="*/ 20244 h 39849"/>
                    <a:gd name="connsiteX15" fmla="*/ 39928 w 40561"/>
                    <a:gd name="connsiteY15" fmla="*/ 24038 h 39849"/>
                    <a:gd name="connsiteX16" fmla="*/ 38660 w 40561"/>
                    <a:gd name="connsiteY16" fmla="*/ 27833 h 39849"/>
                    <a:gd name="connsiteX17" fmla="*/ 36759 w 40561"/>
                    <a:gd name="connsiteY17" fmla="*/ 30995 h 39849"/>
                    <a:gd name="connsiteX18" fmla="*/ 34224 w 40561"/>
                    <a:gd name="connsiteY18" fmla="*/ 34158 h 39849"/>
                    <a:gd name="connsiteX19" fmla="*/ 31055 w 40561"/>
                    <a:gd name="connsiteY19" fmla="*/ 36688 h 39849"/>
                    <a:gd name="connsiteX20" fmla="*/ 27886 w 40561"/>
                    <a:gd name="connsiteY20" fmla="*/ 38585 h 39849"/>
                    <a:gd name="connsiteX21" fmla="*/ 24084 w 40561"/>
                    <a:gd name="connsiteY21" fmla="*/ 39850 h 39849"/>
                    <a:gd name="connsiteX22" fmla="*/ 19647 w 40561"/>
                    <a:gd name="connsiteY22" fmla="*/ 39217 h 3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561" h="39849">
                      <a:moveTo>
                        <a:pt x="19647" y="39217"/>
                      </a:moveTo>
                      <a:cubicBezTo>
                        <a:pt x="14577" y="39217"/>
                        <a:pt x="9507" y="37320"/>
                        <a:pt x="5704" y="33525"/>
                      </a:cubicBezTo>
                      <a:cubicBezTo>
                        <a:pt x="1901" y="29731"/>
                        <a:pt x="0" y="24671"/>
                        <a:pt x="0" y="19611"/>
                      </a:cubicBezTo>
                      <a:cubicBezTo>
                        <a:pt x="0" y="18346"/>
                        <a:pt x="0" y="17081"/>
                        <a:pt x="634" y="15816"/>
                      </a:cubicBezTo>
                      <a:cubicBezTo>
                        <a:pt x="1268" y="14551"/>
                        <a:pt x="1268" y="13287"/>
                        <a:pt x="1901" y="12022"/>
                      </a:cubicBezTo>
                      <a:cubicBezTo>
                        <a:pt x="2535" y="10757"/>
                        <a:pt x="3169" y="9492"/>
                        <a:pt x="3803" y="8859"/>
                      </a:cubicBezTo>
                      <a:cubicBezTo>
                        <a:pt x="4436" y="7594"/>
                        <a:pt x="5070" y="6962"/>
                        <a:pt x="6338" y="5697"/>
                      </a:cubicBezTo>
                      <a:cubicBezTo>
                        <a:pt x="10774" y="1270"/>
                        <a:pt x="17746" y="-1260"/>
                        <a:pt x="24084" y="637"/>
                      </a:cubicBezTo>
                      <a:cubicBezTo>
                        <a:pt x="25351" y="637"/>
                        <a:pt x="26619" y="1270"/>
                        <a:pt x="27886" y="1902"/>
                      </a:cubicBezTo>
                      <a:cubicBezTo>
                        <a:pt x="29154" y="2535"/>
                        <a:pt x="30421" y="3167"/>
                        <a:pt x="31055" y="3800"/>
                      </a:cubicBezTo>
                      <a:cubicBezTo>
                        <a:pt x="32323" y="4432"/>
                        <a:pt x="32956" y="5065"/>
                        <a:pt x="34224" y="6329"/>
                      </a:cubicBezTo>
                      <a:cubicBezTo>
                        <a:pt x="34858" y="7594"/>
                        <a:pt x="36125" y="8227"/>
                        <a:pt x="36759" y="9492"/>
                      </a:cubicBezTo>
                      <a:cubicBezTo>
                        <a:pt x="37393" y="10757"/>
                        <a:pt x="38027" y="12022"/>
                        <a:pt x="38660" y="12654"/>
                      </a:cubicBezTo>
                      <a:cubicBezTo>
                        <a:pt x="39294" y="13919"/>
                        <a:pt x="39294" y="15184"/>
                        <a:pt x="39928" y="16449"/>
                      </a:cubicBezTo>
                      <a:cubicBezTo>
                        <a:pt x="40562" y="17714"/>
                        <a:pt x="40562" y="18979"/>
                        <a:pt x="40562" y="20244"/>
                      </a:cubicBezTo>
                      <a:cubicBezTo>
                        <a:pt x="40562" y="21509"/>
                        <a:pt x="40562" y="22773"/>
                        <a:pt x="39928" y="24038"/>
                      </a:cubicBezTo>
                      <a:cubicBezTo>
                        <a:pt x="39928" y="25303"/>
                        <a:pt x="39294" y="26568"/>
                        <a:pt x="38660" y="27833"/>
                      </a:cubicBezTo>
                      <a:cubicBezTo>
                        <a:pt x="38027" y="29098"/>
                        <a:pt x="37393" y="30363"/>
                        <a:pt x="36759" y="30995"/>
                      </a:cubicBezTo>
                      <a:cubicBezTo>
                        <a:pt x="36125" y="32260"/>
                        <a:pt x="35492" y="32893"/>
                        <a:pt x="34224" y="34158"/>
                      </a:cubicBezTo>
                      <a:cubicBezTo>
                        <a:pt x="33590" y="35423"/>
                        <a:pt x="32323" y="36055"/>
                        <a:pt x="31055" y="36688"/>
                      </a:cubicBezTo>
                      <a:cubicBezTo>
                        <a:pt x="29788" y="37320"/>
                        <a:pt x="29154" y="37952"/>
                        <a:pt x="27886" y="38585"/>
                      </a:cubicBezTo>
                      <a:cubicBezTo>
                        <a:pt x="26619" y="39217"/>
                        <a:pt x="25351" y="39217"/>
                        <a:pt x="24084" y="39850"/>
                      </a:cubicBezTo>
                      <a:cubicBezTo>
                        <a:pt x="22182" y="39217"/>
                        <a:pt x="20915" y="39217"/>
                        <a:pt x="19647" y="3921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1" name="Picture Placeholder 100">
                  <a:extLst>
                    <a:ext uri="{FF2B5EF4-FFF2-40B4-BE49-F238E27FC236}">
                      <a16:creationId xmlns:a16="http://schemas.microsoft.com/office/drawing/2014/main" id="{7DECB37B-09D5-BACC-EE6F-3B0E2709CED5}"/>
                    </a:ext>
                  </a:extLst>
                </p:cNvPr>
                <p:cNvSpPr/>
                <p:nvPr/>
              </p:nvSpPr>
              <p:spPr>
                <a:xfrm>
                  <a:off x="9966018" y="2448772"/>
                  <a:ext cx="39088" cy="38661"/>
                </a:xfrm>
                <a:custGeom>
                  <a:avLst/>
                  <a:gdLst>
                    <a:gd name="connsiteX0" fmla="*/ 1614 w 39088"/>
                    <a:gd name="connsiteY0" fmla="*/ 26645 h 38661"/>
                    <a:gd name="connsiteX1" fmla="*/ 12389 w 39088"/>
                    <a:gd name="connsiteY1" fmla="*/ 1346 h 38661"/>
                    <a:gd name="connsiteX2" fmla="*/ 12389 w 39088"/>
                    <a:gd name="connsiteY2" fmla="*/ 1346 h 38661"/>
                    <a:gd name="connsiteX3" fmla="*/ 37740 w 39088"/>
                    <a:gd name="connsiteY3" fmla="*/ 12098 h 38661"/>
                    <a:gd name="connsiteX4" fmla="*/ 37740 w 39088"/>
                    <a:gd name="connsiteY4" fmla="*/ 12098 h 38661"/>
                    <a:gd name="connsiteX5" fmla="*/ 26965 w 39088"/>
                    <a:gd name="connsiteY5" fmla="*/ 37397 h 38661"/>
                    <a:gd name="connsiteX6" fmla="*/ 26965 w 39088"/>
                    <a:gd name="connsiteY6" fmla="*/ 37397 h 38661"/>
                    <a:gd name="connsiteX7" fmla="*/ 19994 w 39088"/>
                    <a:gd name="connsiteY7" fmla="*/ 38662 h 38661"/>
                    <a:gd name="connsiteX8" fmla="*/ 19994 w 39088"/>
                    <a:gd name="connsiteY8" fmla="*/ 38662 h 38661"/>
                    <a:gd name="connsiteX9" fmla="*/ 1614 w 39088"/>
                    <a:gd name="connsiteY9" fmla="*/ 26645 h 3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88" h="38661">
                      <a:moveTo>
                        <a:pt x="1614" y="26645"/>
                      </a:moveTo>
                      <a:cubicBezTo>
                        <a:pt x="-2822" y="16525"/>
                        <a:pt x="2248" y="5141"/>
                        <a:pt x="12389" y="1346"/>
                      </a:cubicBezTo>
                      <a:lnTo>
                        <a:pt x="12389" y="1346"/>
                      </a:lnTo>
                      <a:cubicBezTo>
                        <a:pt x="22529" y="-2448"/>
                        <a:pt x="33937" y="1979"/>
                        <a:pt x="37740" y="12098"/>
                      </a:cubicBezTo>
                      <a:lnTo>
                        <a:pt x="37740" y="12098"/>
                      </a:lnTo>
                      <a:cubicBezTo>
                        <a:pt x="41542" y="22218"/>
                        <a:pt x="37106" y="33602"/>
                        <a:pt x="26965" y="37397"/>
                      </a:cubicBezTo>
                      <a:lnTo>
                        <a:pt x="26965" y="37397"/>
                      </a:lnTo>
                      <a:cubicBezTo>
                        <a:pt x="24430" y="38029"/>
                        <a:pt x="21895" y="38662"/>
                        <a:pt x="19994" y="38662"/>
                      </a:cubicBezTo>
                      <a:lnTo>
                        <a:pt x="19994" y="38662"/>
                      </a:lnTo>
                      <a:cubicBezTo>
                        <a:pt x="11755" y="38662"/>
                        <a:pt x="4783" y="34234"/>
                        <a:pt x="1614" y="2664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8" name="Picture Placeholder 100">
                <a:extLst>
                  <a:ext uri="{FF2B5EF4-FFF2-40B4-BE49-F238E27FC236}">
                    <a16:creationId xmlns:a16="http://schemas.microsoft.com/office/drawing/2014/main" id="{0D1E02A2-E328-8B8C-2D6D-E108F5324CC5}"/>
                  </a:ext>
                </a:extLst>
              </p:cNvPr>
              <p:cNvGrpSpPr/>
              <p:nvPr/>
            </p:nvGrpSpPr>
            <p:grpSpPr>
              <a:xfrm>
                <a:off x="9756584" y="2119590"/>
                <a:ext cx="240305" cy="173678"/>
                <a:chOff x="9756584" y="2119590"/>
                <a:chExt cx="240305" cy="173678"/>
              </a:xfrm>
              <a:grpFill/>
            </p:grpSpPr>
            <p:sp>
              <p:nvSpPr>
                <p:cNvPr id="104" name="Picture Placeholder 100">
                  <a:extLst>
                    <a:ext uri="{FF2B5EF4-FFF2-40B4-BE49-F238E27FC236}">
                      <a16:creationId xmlns:a16="http://schemas.microsoft.com/office/drawing/2014/main" id="{8F3A7904-EE04-1E62-F430-53E340E8CD39}"/>
                    </a:ext>
                  </a:extLst>
                </p:cNvPr>
                <p:cNvSpPr/>
                <p:nvPr/>
              </p:nvSpPr>
              <p:spPr>
                <a:xfrm>
                  <a:off x="9756584" y="2253582"/>
                  <a:ext cx="39928" cy="39686"/>
                </a:xfrm>
                <a:custGeom>
                  <a:avLst/>
                  <a:gdLst>
                    <a:gd name="connsiteX0" fmla="*/ 19647 w 39928"/>
                    <a:gd name="connsiteY0" fmla="*/ 39687 h 39686"/>
                    <a:gd name="connsiteX1" fmla="*/ 5704 w 39928"/>
                    <a:gd name="connsiteY1" fmla="*/ 33995 h 39686"/>
                    <a:gd name="connsiteX2" fmla="*/ 0 w 39928"/>
                    <a:gd name="connsiteY2" fmla="*/ 20081 h 39686"/>
                    <a:gd name="connsiteX3" fmla="*/ 634 w 39928"/>
                    <a:gd name="connsiteY3" fmla="*/ 16286 h 39686"/>
                    <a:gd name="connsiteX4" fmla="*/ 1901 w 39928"/>
                    <a:gd name="connsiteY4" fmla="*/ 12491 h 39686"/>
                    <a:gd name="connsiteX5" fmla="*/ 3803 w 39928"/>
                    <a:gd name="connsiteY5" fmla="*/ 9329 h 39686"/>
                    <a:gd name="connsiteX6" fmla="*/ 6338 w 39928"/>
                    <a:gd name="connsiteY6" fmla="*/ 6166 h 39686"/>
                    <a:gd name="connsiteX7" fmla="*/ 9507 w 39928"/>
                    <a:gd name="connsiteY7" fmla="*/ 3637 h 39686"/>
                    <a:gd name="connsiteX8" fmla="*/ 12676 w 39928"/>
                    <a:gd name="connsiteY8" fmla="*/ 1739 h 39686"/>
                    <a:gd name="connsiteX9" fmla="*/ 16478 w 39928"/>
                    <a:gd name="connsiteY9" fmla="*/ 474 h 39686"/>
                    <a:gd name="connsiteX10" fmla="*/ 24084 w 39928"/>
                    <a:gd name="connsiteY10" fmla="*/ 474 h 39686"/>
                    <a:gd name="connsiteX11" fmla="*/ 27886 w 39928"/>
                    <a:gd name="connsiteY11" fmla="*/ 1739 h 39686"/>
                    <a:gd name="connsiteX12" fmla="*/ 31055 w 39928"/>
                    <a:gd name="connsiteY12" fmla="*/ 3637 h 39686"/>
                    <a:gd name="connsiteX13" fmla="*/ 34224 w 39928"/>
                    <a:gd name="connsiteY13" fmla="*/ 6166 h 39686"/>
                    <a:gd name="connsiteX14" fmla="*/ 39928 w 39928"/>
                    <a:gd name="connsiteY14" fmla="*/ 20081 h 39686"/>
                    <a:gd name="connsiteX15" fmla="*/ 39294 w 39928"/>
                    <a:gd name="connsiteY15" fmla="*/ 23875 h 39686"/>
                    <a:gd name="connsiteX16" fmla="*/ 38027 w 39928"/>
                    <a:gd name="connsiteY16" fmla="*/ 27670 h 39686"/>
                    <a:gd name="connsiteX17" fmla="*/ 36125 w 39928"/>
                    <a:gd name="connsiteY17" fmla="*/ 30832 h 39686"/>
                    <a:gd name="connsiteX18" fmla="*/ 33590 w 39928"/>
                    <a:gd name="connsiteY18" fmla="*/ 33995 h 39686"/>
                    <a:gd name="connsiteX19" fmla="*/ 19647 w 39928"/>
                    <a:gd name="connsiteY19" fmla="*/ 39687 h 3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928" h="39686">
                      <a:moveTo>
                        <a:pt x="19647" y="39687"/>
                      </a:moveTo>
                      <a:cubicBezTo>
                        <a:pt x="14577" y="39687"/>
                        <a:pt x="9507" y="37789"/>
                        <a:pt x="5704" y="33995"/>
                      </a:cubicBezTo>
                      <a:cubicBezTo>
                        <a:pt x="1901" y="30200"/>
                        <a:pt x="0" y="25140"/>
                        <a:pt x="0" y="20081"/>
                      </a:cubicBezTo>
                      <a:cubicBezTo>
                        <a:pt x="0" y="18816"/>
                        <a:pt x="0" y="17551"/>
                        <a:pt x="634" y="16286"/>
                      </a:cubicBezTo>
                      <a:cubicBezTo>
                        <a:pt x="634" y="15021"/>
                        <a:pt x="1268" y="13756"/>
                        <a:pt x="1901" y="12491"/>
                      </a:cubicBezTo>
                      <a:cubicBezTo>
                        <a:pt x="2535" y="11226"/>
                        <a:pt x="3169" y="9961"/>
                        <a:pt x="3803" y="9329"/>
                      </a:cubicBezTo>
                      <a:cubicBezTo>
                        <a:pt x="4436" y="8064"/>
                        <a:pt x="5070" y="7431"/>
                        <a:pt x="6338" y="6166"/>
                      </a:cubicBezTo>
                      <a:cubicBezTo>
                        <a:pt x="6972" y="5534"/>
                        <a:pt x="8239" y="4269"/>
                        <a:pt x="9507" y="3637"/>
                      </a:cubicBezTo>
                      <a:cubicBezTo>
                        <a:pt x="10774" y="3004"/>
                        <a:pt x="12042" y="2372"/>
                        <a:pt x="12676" y="1739"/>
                      </a:cubicBezTo>
                      <a:cubicBezTo>
                        <a:pt x="13943" y="1107"/>
                        <a:pt x="15211" y="1107"/>
                        <a:pt x="16478" y="474"/>
                      </a:cubicBezTo>
                      <a:cubicBezTo>
                        <a:pt x="19013" y="-158"/>
                        <a:pt x="21548" y="-158"/>
                        <a:pt x="24084" y="474"/>
                      </a:cubicBezTo>
                      <a:cubicBezTo>
                        <a:pt x="25351" y="474"/>
                        <a:pt x="26619" y="1107"/>
                        <a:pt x="27886" y="1739"/>
                      </a:cubicBezTo>
                      <a:cubicBezTo>
                        <a:pt x="29154" y="2372"/>
                        <a:pt x="30421" y="3004"/>
                        <a:pt x="31055" y="3637"/>
                      </a:cubicBezTo>
                      <a:cubicBezTo>
                        <a:pt x="32323" y="4269"/>
                        <a:pt x="32956" y="4902"/>
                        <a:pt x="34224" y="6166"/>
                      </a:cubicBezTo>
                      <a:cubicBezTo>
                        <a:pt x="38027" y="9961"/>
                        <a:pt x="39928" y="15021"/>
                        <a:pt x="39928" y="20081"/>
                      </a:cubicBezTo>
                      <a:cubicBezTo>
                        <a:pt x="39928" y="21346"/>
                        <a:pt x="39928" y="22610"/>
                        <a:pt x="39294" y="23875"/>
                      </a:cubicBezTo>
                      <a:cubicBezTo>
                        <a:pt x="39294" y="25140"/>
                        <a:pt x="38660" y="26405"/>
                        <a:pt x="38027" y="27670"/>
                      </a:cubicBezTo>
                      <a:cubicBezTo>
                        <a:pt x="37393" y="28935"/>
                        <a:pt x="36759" y="30200"/>
                        <a:pt x="36125" y="30832"/>
                      </a:cubicBezTo>
                      <a:cubicBezTo>
                        <a:pt x="35492" y="32097"/>
                        <a:pt x="34858" y="32730"/>
                        <a:pt x="33590" y="33995"/>
                      </a:cubicBezTo>
                      <a:cubicBezTo>
                        <a:pt x="29788" y="37157"/>
                        <a:pt x="24717" y="39687"/>
                        <a:pt x="19647" y="3968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5" name="Picture Placeholder 100">
                  <a:extLst>
                    <a:ext uri="{FF2B5EF4-FFF2-40B4-BE49-F238E27FC236}">
                      <a16:creationId xmlns:a16="http://schemas.microsoft.com/office/drawing/2014/main" id="{526A3BA4-5FB5-A82A-E5F5-BB8E7AFC9D62}"/>
                    </a:ext>
                  </a:extLst>
                </p:cNvPr>
                <p:cNvSpPr/>
                <p:nvPr/>
              </p:nvSpPr>
              <p:spPr>
                <a:xfrm>
                  <a:off x="9797360" y="2164621"/>
                  <a:ext cx="80534" cy="83743"/>
                </a:xfrm>
                <a:custGeom>
                  <a:avLst/>
                  <a:gdLst>
                    <a:gd name="connsiteX0" fmla="*/ 6123 w 80534"/>
                    <a:gd name="connsiteY0" fmla="*/ 78684 h 83743"/>
                    <a:gd name="connsiteX1" fmla="*/ 4856 w 80534"/>
                    <a:gd name="connsiteY1" fmla="*/ 50855 h 83743"/>
                    <a:gd name="connsiteX2" fmla="*/ 4856 w 80534"/>
                    <a:gd name="connsiteY2" fmla="*/ 50855 h 83743"/>
                    <a:gd name="connsiteX3" fmla="*/ 32742 w 80534"/>
                    <a:gd name="connsiteY3" fmla="*/ 49590 h 83743"/>
                    <a:gd name="connsiteX4" fmla="*/ 32742 w 80534"/>
                    <a:gd name="connsiteY4" fmla="*/ 49590 h 83743"/>
                    <a:gd name="connsiteX5" fmla="*/ 34010 w 80534"/>
                    <a:gd name="connsiteY5" fmla="*/ 77419 h 83743"/>
                    <a:gd name="connsiteX6" fmla="*/ 34010 w 80534"/>
                    <a:gd name="connsiteY6" fmla="*/ 77419 h 83743"/>
                    <a:gd name="connsiteX7" fmla="*/ 19433 w 80534"/>
                    <a:gd name="connsiteY7" fmla="*/ 83743 h 83743"/>
                    <a:gd name="connsiteX8" fmla="*/ 19433 w 80534"/>
                    <a:gd name="connsiteY8" fmla="*/ 83743 h 83743"/>
                    <a:gd name="connsiteX9" fmla="*/ 6123 w 80534"/>
                    <a:gd name="connsiteY9" fmla="*/ 78684 h 83743"/>
                    <a:gd name="connsiteX10" fmla="*/ 47319 w 80534"/>
                    <a:gd name="connsiteY10" fmla="*/ 34411 h 83743"/>
                    <a:gd name="connsiteX11" fmla="*/ 46051 w 80534"/>
                    <a:gd name="connsiteY11" fmla="*/ 6583 h 83743"/>
                    <a:gd name="connsiteX12" fmla="*/ 46051 w 80534"/>
                    <a:gd name="connsiteY12" fmla="*/ 6583 h 83743"/>
                    <a:gd name="connsiteX13" fmla="*/ 73938 w 80534"/>
                    <a:gd name="connsiteY13" fmla="*/ 5318 h 83743"/>
                    <a:gd name="connsiteX14" fmla="*/ 73938 w 80534"/>
                    <a:gd name="connsiteY14" fmla="*/ 5318 h 83743"/>
                    <a:gd name="connsiteX15" fmla="*/ 75205 w 80534"/>
                    <a:gd name="connsiteY15" fmla="*/ 33146 h 83743"/>
                    <a:gd name="connsiteX16" fmla="*/ 75205 w 80534"/>
                    <a:gd name="connsiteY16" fmla="*/ 33146 h 83743"/>
                    <a:gd name="connsiteX17" fmla="*/ 60628 w 80534"/>
                    <a:gd name="connsiteY17" fmla="*/ 39471 h 83743"/>
                    <a:gd name="connsiteX18" fmla="*/ 60628 w 80534"/>
                    <a:gd name="connsiteY18" fmla="*/ 39471 h 83743"/>
                    <a:gd name="connsiteX19" fmla="*/ 47319 w 80534"/>
                    <a:gd name="connsiteY19" fmla="*/ 34411 h 83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534" h="83743">
                      <a:moveTo>
                        <a:pt x="6123" y="78684"/>
                      </a:moveTo>
                      <a:cubicBezTo>
                        <a:pt x="-1482" y="71094"/>
                        <a:pt x="-2116" y="59077"/>
                        <a:pt x="4856" y="50855"/>
                      </a:cubicBezTo>
                      <a:lnTo>
                        <a:pt x="4856" y="50855"/>
                      </a:lnTo>
                      <a:cubicBezTo>
                        <a:pt x="11827" y="42633"/>
                        <a:pt x="24503" y="42001"/>
                        <a:pt x="32742" y="49590"/>
                      </a:cubicBezTo>
                      <a:lnTo>
                        <a:pt x="32742" y="49590"/>
                      </a:lnTo>
                      <a:cubicBezTo>
                        <a:pt x="40981" y="57180"/>
                        <a:pt x="40981" y="69197"/>
                        <a:pt x="34010" y="77419"/>
                      </a:cubicBezTo>
                      <a:lnTo>
                        <a:pt x="34010" y="77419"/>
                      </a:lnTo>
                      <a:cubicBezTo>
                        <a:pt x="30207" y="81846"/>
                        <a:pt x="25137" y="83743"/>
                        <a:pt x="19433" y="83743"/>
                      </a:cubicBezTo>
                      <a:lnTo>
                        <a:pt x="19433" y="83743"/>
                      </a:lnTo>
                      <a:cubicBezTo>
                        <a:pt x="14996" y="83743"/>
                        <a:pt x="9926" y="82478"/>
                        <a:pt x="6123" y="78684"/>
                      </a:cubicBezTo>
                      <a:close/>
                      <a:moveTo>
                        <a:pt x="47319" y="34411"/>
                      </a:moveTo>
                      <a:cubicBezTo>
                        <a:pt x="39080" y="26822"/>
                        <a:pt x="38446" y="14805"/>
                        <a:pt x="46051" y="6583"/>
                      </a:cubicBezTo>
                      <a:lnTo>
                        <a:pt x="46051" y="6583"/>
                      </a:lnTo>
                      <a:cubicBezTo>
                        <a:pt x="53657" y="-1639"/>
                        <a:pt x="65698" y="-2271"/>
                        <a:pt x="73938" y="5318"/>
                      </a:cubicBezTo>
                      <a:lnTo>
                        <a:pt x="73938" y="5318"/>
                      </a:lnTo>
                      <a:cubicBezTo>
                        <a:pt x="82177" y="12908"/>
                        <a:pt x="82811" y="24924"/>
                        <a:pt x="75205" y="33146"/>
                      </a:cubicBezTo>
                      <a:lnTo>
                        <a:pt x="75205" y="33146"/>
                      </a:lnTo>
                      <a:cubicBezTo>
                        <a:pt x="71403" y="37574"/>
                        <a:pt x="66332" y="39471"/>
                        <a:pt x="60628" y="39471"/>
                      </a:cubicBezTo>
                      <a:lnTo>
                        <a:pt x="60628" y="39471"/>
                      </a:lnTo>
                      <a:cubicBezTo>
                        <a:pt x="55558" y="39471"/>
                        <a:pt x="51122" y="37574"/>
                        <a:pt x="47319" y="3441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6" name="Picture Placeholder 100">
                  <a:extLst>
                    <a:ext uri="{FF2B5EF4-FFF2-40B4-BE49-F238E27FC236}">
                      <a16:creationId xmlns:a16="http://schemas.microsoft.com/office/drawing/2014/main" id="{F80AEA10-C88C-6300-F717-883221176BFD}"/>
                    </a:ext>
                  </a:extLst>
                </p:cNvPr>
                <p:cNvSpPr/>
                <p:nvPr/>
              </p:nvSpPr>
              <p:spPr>
                <a:xfrm>
                  <a:off x="9878903" y="2119590"/>
                  <a:ext cx="40561" cy="40229"/>
                </a:xfrm>
                <a:custGeom>
                  <a:avLst/>
                  <a:gdLst>
                    <a:gd name="connsiteX0" fmla="*/ 19647 w 40561"/>
                    <a:gd name="connsiteY0" fmla="*/ 40230 h 40229"/>
                    <a:gd name="connsiteX1" fmla="*/ 15844 w 40561"/>
                    <a:gd name="connsiteY1" fmla="*/ 39597 h 40229"/>
                    <a:gd name="connsiteX2" fmla="*/ 12042 w 40561"/>
                    <a:gd name="connsiteY2" fmla="*/ 38332 h 40229"/>
                    <a:gd name="connsiteX3" fmla="*/ 8873 w 40561"/>
                    <a:gd name="connsiteY3" fmla="*/ 36435 h 40229"/>
                    <a:gd name="connsiteX4" fmla="*/ 5704 w 40561"/>
                    <a:gd name="connsiteY4" fmla="*/ 33905 h 40229"/>
                    <a:gd name="connsiteX5" fmla="*/ 0 w 40561"/>
                    <a:gd name="connsiteY5" fmla="*/ 19991 h 40229"/>
                    <a:gd name="connsiteX6" fmla="*/ 634 w 40561"/>
                    <a:gd name="connsiteY6" fmla="*/ 16196 h 40229"/>
                    <a:gd name="connsiteX7" fmla="*/ 1901 w 40561"/>
                    <a:gd name="connsiteY7" fmla="*/ 12401 h 40229"/>
                    <a:gd name="connsiteX8" fmla="*/ 3803 w 40561"/>
                    <a:gd name="connsiteY8" fmla="*/ 9239 h 40229"/>
                    <a:gd name="connsiteX9" fmla="*/ 6338 w 40561"/>
                    <a:gd name="connsiteY9" fmla="*/ 6077 h 40229"/>
                    <a:gd name="connsiteX10" fmla="*/ 9507 w 40561"/>
                    <a:gd name="connsiteY10" fmla="*/ 3547 h 40229"/>
                    <a:gd name="connsiteX11" fmla="*/ 12676 w 40561"/>
                    <a:gd name="connsiteY11" fmla="*/ 1650 h 40229"/>
                    <a:gd name="connsiteX12" fmla="*/ 16478 w 40561"/>
                    <a:gd name="connsiteY12" fmla="*/ 385 h 40229"/>
                    <a:gd name="connsiteX13" fmla="*/ 34224 w 40561"/>
                    <a:gd name="connsiteY13" fmla="*/ 5444 h 40229"/>
                    <a:gd name="connsiteX14" fmla="*/ 36759 w 40561"/>
                    <a:gd name="connsiteY14" fmla="*/ 8607 h 40229"/>
                    <a:gd name="connsiteX15" fmla="*/ 38660 w 40561"/>
                    <a:gd name="connsiteY15" fmla="*/ 11769 h 40229"/>
                    <a:gd name="connsiteX16" fmla="*/ 39928 w 40561"/>
                    <a:gd name="connsiteY16" fmla="*/ 15564 h 40229"/>
                    <a:gd name="connsiteX17" fmla="*/ 40562 w 40561"/>
                    <a:gd name="connsiteY17" fmla="*/ 19358 h 40229"/>
                    <a:gd name="connsiteX18" fmla="*/ 39928 w 40561"/>
                    <a:gd name="connsiteY18" fmla="*/ 23153 h 40229"/>
                    <a:gd name="connsiteX19" fmla="*/ 38660 w 40561"/>
                    <a:gd name="connsiteY19" fmla="*/ 26948 h 40229"/>
                    <a:gd name="connsiteX20" fmla="*/ 36759 w 40561"/>
                    <a:gd name="connsiteY20" fmla="*/ 30110 h 40229"/>
                    <a:gd name="connsiteX21" fmla="*/ 34224 w 40561"/>
                    <a:gd name="connsiteY21" fmla="*/ 33273 h 40229"/>
                    <a:gd name="connsiteX22" fmla="*/ 19647 w 40561"/>
                    <a:gd name="connsiteY22" fmla="*/ 40230 h 40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561" h="40229">
                      <a:moveTo>
                        <a:pt x="19647" y="40230"/>
                      </a:moveTo>
                      <a:cubicBezTo>
                        <a:pt x="18380" y="40230"/>
                        <a:pt x="17112" y="40230"/>
                        <a:pt x="15844" y="39597"/>
                      </a:cubicBezTo>
                      <a:cubicBezTo>
                        <a:pt x="14577" y="39597"/>
                        <a:pt x="13309" y="38965"/>
                        <a:pt x="12042" y="38332"/>
                      </a:cubicBezTo>
                      <a:cubicBezTo>
                        <a:pt x="10774" y="37700"/>
                        <a:pt x="9507" y="37067"/>
                        <a:pt x="8873" y="36435"/>
                      </a:cubicBezTo>
                      <a:cubicBezTo>
                        <a:pt x="7605" y="35802"/>
                        <a:pt x="6972" y="35170"/>
                        <a:pt x="5704" y="33905"/>
                      </a:cubicBezTo>
                      <a:cubicBezTo>
                        <a:pt x="1901" y="30110"/>
                        <a:pt x="0" y="25051"/>
                        <a:pt x="0" y="19991"/>
                      </a:cubicBezTo>
                      <a:cubicBezTo>
                        <a:pt x="0" y="18726"/>
                        <a:pt x="0" y="17461"/>
                        <a:pt x="634" y="16196"/>
                      </a:cubicBezTo>
                      <a:cubicBezTo>
                        <a:pt x="634" y="14931"/>
                        <a:pt x="1268" y="13666"/>
                        <a:pt x="1901" y="12401"/>
                      </a:cubicBezTo>
                      <a:cubicBezTo>
                        <a:pt x="2535" y="11136"/>
                        <a:pt x="3169" y="9872"/>
                        <a:pt x="3803" y="9239"/>
                      </a:cubicBezTo>
                      <a:cubicBezTo>
                        <a:pt x="4436" y="7974"/>
                        <a:pt x="5070" y="7342"/>
                        <a:pt x="6338" y="6077"/>
                      </a:cubicBezTo>
                      <a:cubicBezTo>
                        <a:pt x="6972" y="5444"/>
                        <a:pt x="8239" y="4179"/>
                        <a:pt x="9507" y="3547"/>
                      </a:cubicBezTo>
                      <a:cubicBezTo>
                        <a:pt x="10774" y="2915"/>
                        <a:pt x="12042" y="2282"/>
                        <a:pt x="12676" y="1650"/>
                      </a:cubicBezTo>
                      <a:cubicBezTo>
                        <a:pt x="13943" y="1017"/>
                        <a:pt x="15211" y="1017"/>
                        <a:pt x="16478" y="385"/>
                      </a:cubicBezTo>
                      <a:cubicBezTo>
                        <a:pt x="22816" y="-880"/>
                        <a:pt x="29788" y="1017"/>
                        <a:pt x="34224" y="5444"/>
                      </a:cubicBezTo>
                      <a:cubicBezTo>
                        <a:pt x="34858" y="6709"/>
                        <a:pt x="36125" y="7342"/>
                        <a:pt x="36759" y="8607"/>
                      </a:cubicBezTo>
                      <a:cubicBezTo>
                        <a:pt x="37393" y="9872"/>
                        <a:pt x="38027" y="11136"/>
                        <a:pt x="38660" y="11769"/>
                      </a:cubicBezTo>
                      <a:cubicBezTo>
                        <a:pt x="39294" y="13034"/>
                        <a:pt x="39294" y="14299"/>
                        <a:pt x="39928" y="15564"/>
                      </a:cubicBezTo>
                      <a:cubicBezTo>
                        <a:pt x="39928" y="16829"/>
                        <a:pt x="40562" y="18094"/>
                        <a:pt x="40562" y="19358"/>
                      </a:cubicBezTo>
                      <a:cubicBezTo>
                        <a:pt x="40562" y="20623"/>
                        <a:pt x="40562" y="21888"/>
                        <a:pt x="39928" y="23153"/>
                      </a:cubicBezTo>
                      <a:cubicBezTo>
                        <a:pt x="39928" y="24418"/>
                        <a:pt x="39294" y="25683"/>
                        <a:pt x="38660" y="26948"/>
                      </a:cubicBezTo>
                      <a:cubicBezTo>
                        <a:pt x="38027" y="28213"/>
                        <a:pt x="37393" y="29478"/>
                        <a:pt x="36759" y="30110"/>
                      </a:cubicBezTo>
                      <a:cubicBezTo>
                        <a:pt x="36125" y="31375"/>
                        <a:pt x="35492" y="32008"/>
                        <a:pt x="34224" y="33273"/>
                      </a:cubicBezTo>
                      <a:cubicBezTo>
                        <a:pt x="29788" y="38332"/>
                        <a:pt x="24717" y="40230"/>
                        <a:pt x="19647" y="4023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7" name="Picture Placeholder 100">
                  <a:extLst>
                    <a:ext uri="{FF2B5EF4-FFF2-40B4-BE49-F238E27FC236}">
                      <a16:creationId xmlns:a16="http://schemas.microsoft.com/office/drawing/2014/main" id="{DFA57704-C31F-0AD6-DD96-4EE308C581FD}"/>
                    </a:ext>
                  </a:extLst>
                </p:cNvPr>
                <p:cNvSpPr/>
                <p:nvPr/>
              </p:nvSpPr>
              <p:spPr>
                <a:xfrm>
                  <a:off x="9957305" y="2143189"/>
                  <a:ext cx="39085" cy="38766"/>
                </a:xfrm>
                <a:custGeom>
                  <a:avLst/>
                  <a:gdLst>
                    <a:gd name="connsiteX0" fmla="*/ 14130 w 39085"/>
                    <a:gd name="connsiteY0" fmla="*/ 38134 h 38766"/>
                    <a:gd name="connsiteX1" fmla="*/ 821 w 39085"/>
                    <a:gd name="connsiteY1" fmla="*/ 14101 h 38766"/>
                    <a:gd name="connsiteX2" fmla="*/ 821 w 39085"/>
                    <a:gd name="connsiteY2" fmla="*/ 14101 h 38766"/>
                    <a:gd name="connsiteX3" fmla="*/ 24904 w 39085"/>
                    <a:gd name="connsiteY3" fmla="*/ 819 h 38766"/>
                    <a:gd name="connsiteX4" fmla="*/ 24904 w 39085"/>
                    <a:gd name="connsiteY4" fmla="*/ 819 h 38766"/>
                    <a:gd name="connsiteX5" fmla="*/ 38214 w 39085"/>
                    <a:gd name="connsiteY5" fmla="*/ 24853 h 38766"/>
                    <a:gd name="connsiteX6" fmla="*/ 38214 w 39085"/>
                    <a:gd name="connsiteY6" fmla="*/ 24853 h 38766"/>
                    <a:gd name="connsiteX7" fmla="*/ 19200 w 39085"/>
                    <a:gd name="connsiteY7" fmla="*/ 38767 h 38766"/>
                    <a:gd name="connsiteX8" fmla="*/ 19200 w 39085"/>
                    <a:gd name="connsiteY8" fmla="*/ 38767 h 38766"/>
                    <a:gd name="connsiteX9" fmla="*/ 14130 w 39085"/>
                    <a:gd name="connsiteY9" fmla="*/ 38134 h 3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85" h="38766">
                      <a:moveTo>
                        <a:pt x="14130" y="38134"/>
                      </a:moveTo>
                      <a:cubicBezTo>
                        <a:pt x="3990" y="34972"/>
                        <a:pt x="-2348" y="24220"/>
                        <a:pt x="821" y="14101"/>
                      </a:cubicBezTo>
                      <a:lnTo>
                        <a:pt x="821" y="14101"/>
                      </a:lnTo>
                      <a:cubicBezTo>
                        <a:pt x="3990" y="3981"/>
                        <a:pt x="14764" y="-2343"/>
                        <a:pt x="24904" y="819"/>
                      </a:cubicBezTo>
                      <a:lnTo>
                        <a:pt x="24904" y="819"/>
                      </a:lnTo>
                      <a:cubicBezTo>
                        <a:pt x="35679" y="3981"/>
                        <a:pt x="41383" y="14733"/>
                        <a:pt x="38214" y="24853"/>
                      </a:cubicBezTo>
                      <a:lnTo>
                        <a:pt x="38214" y="24853"/>
                      </a:lnTo>
                      <a:cubicBezTo>
                        <a:pt x="35679" y="33707"/>
                        <a:pt x="28073" y="38767"/>
                        <a:pt x="19200" y="38767"/>
                      </a:cubicBezTo>
                      <a:lnTo>
                        <a:pt x="19200" y="38767"/>
                      </a:lnTo>
                      <a:cubicBezTo>
                        <a:pt x="17299" y="38767"/>
                        <a:pt x="16032" y="38767"/>
                        <a:pt x="14130" y="3813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9" name="Picture Placeholder 100">
                <a:extLst>
                  <a:ext uri="{FF2B5EF4-FFF2-40B4-BE49-F238E27FC236}">
                    <a16:creationId xmlns:a16="http://schemas.microsoft.com/office/drawing/2014/main" id="{6945637B-340D-F66C-D746-7CF4473A1F69}"/>
                  </a:ext>
                </a:extLst>
              </p:cNvPr>
              <p:cNvGrpSpPr/>
              <p:nvPr/>
            </p:nvGrpSpPr>
            <p:grpSpPr>
              <a:xfrm>
                <a:off x="9878269" y="2253039"/>
                <a:ext cx="150446" cy="140158"/>
                <a:chOff x="9878269" y="2253039"/>
                <a:chExt cx="150446" cy="140158"/>
              </a:xfrm>
              <a:grpFill/>
            </p:grpSpPr>
            <p:sp>
              <p:nvSpPr>
                <p:cNvPr id="100" name="Picture Placeholder 100">
                  <a:extLst>
                    <a:ext uri="{FF2B5EF4-FFF2-40B4-BE49-F238E27FC236}">
                      <a16:creationId xmlns:a16="http://schemas.microsoft.com/office/drawing/2014/main" id="{164FDAC3-9B94-E57E-EF03-55ACAA793256}"/>
                    </a:ext>
                  </a:extLst>
                </p:cNvPr>
                <p:cNvSpPr/>
                <p:nvPr/>
              </p:nvSpPr>
              <p:spPr>
                <a:xfrm>
                  <a:off x="9878269" y="2253039"/>
                  <a:ext cx="39928" cy="40229"/>
                </a:xfrm>
                <a:custGeom>
                  <a:avLst/>
                  <a:gdLst>
                    <a:gd name="connsiteX0" fmla="*/ 20281 w 39928"/>
                    <a:gd name="connsiteY0" fmla="*/ 40230 h 40229"/>
                    <a:gd name="connsiteX1" fmla="*/ 16478 w 39928"/>
                    <a:gd name="connsiteY1" fmla="*/ 39597 h 40229"/>
                    <a:gd name="connsiteX2" fmla="*/ 12676 w 39928"/>
                    <a:gd name="connsiteY2" fmla="*/ 38332 h 40229"/>
                    <a:gd name="connsiteX3" fmla="*/ 9507 w 39928"/>
                    <a:gd name="connsiteY3" fmla="*/ 36435 h 40229"/>
                    <a:gd name="connsiteX4" fmla="*/ 6338 w 39928"/>
                    <a:gd name="connsiteY4" fmla="*/ 33905 h 40229"/>
                    <a:gd name="connsiteX5" fmla="*/ 3803 w 39928"/>
                    <a:gd name="connsiteY5" fmla="*/ 30743 h 40229"/>
                    <a:gd name="connsiteX6" fmla="*/ 1901 w 39928"/>
                    <a:gd name="connsiteY6" fmla="*/ 27580 h 40229"/>
                    <a:gd name="connsiteX7" fmla="*/ 634 w 39928"/>
                    <a:gd name="connsiteY7" fmla="*/ 23786 h 40229"/>
                    <a:gd name="connsiteX8" fmla="*/ 0 w 39928"/>
                    <a:gd name="connsiteY8" fmla="*/ 19991 h 40229"/>
                    <a:gd name="connsiteX9" fmla="*/ 634 w 39928"/>
                    <a:gd name="connsiteY9" fmla="*/ 16196 h 40229"/>
                    <a:gd name="connsiteX10" fmla="*/ 1901 w 39928"/>
                    <a:gd name="connsiteY10" fmla="*/ 12401 h 40229"/>
                    <a:gd name="connsiteX11" fmla="*/ 3803 w 39928"/>
                    <a:gd name="connsiteY11" fmla="*/ 9239 h 40229"/>
                    <a:gd name="connsiteX12" fmla="*/ 6338 w 39928"/>
                    <a:gd name="connsiteY12" fmla="*/ 6077 h 40229"/>
                    <a:gd name="connsiteX13" fmla="*/ 9507 w 39928"/>
                    <a:gd name="connsiteY13" fmla="*/ 3547 h 40229"/>
                    <a:gd name="connsiteX14" fmla="*/ 12676 w 39928"/>
                    <a:gd name="connsiteY14" fmla="*/ 1650 h 40229"/>
                    <a:gd name="connsiteX15" fmla="*/ 16478 w 39928"/>
                    <a:gd name="connsiteY15" fmla="*/ 385 h 40229"/>
                    <a:gd name="connsiteX16" fmla="*/ 34224 w 39928"/>
                    <a:gd name="connsiteY16" fmla="*/ 5444 h 40229"/>
                    <a:gd name="connsiteX17" fmla="*/ 39928 w 39928"/>
                    <a:gd name="connsiteY17" fmla="*/ 19358 h 40229"/>
                    <a:gd name="connsiteX18" fmla="*/ 39294 w 39928"/>
                    <a:gd name="connsiteY18" fmla="*/ 23153 h 40229"/>
                    <a:gd name="connsiteX19" fmla="*/ 38027 w 39928"/>
                    <a:gd name="connsiteY19" fmla="*/ 26948 h 40229"/>
                    <a:gd name="connsiteX20" fmla="*/ 36125 w 39928"/>
                    <a:gd name="connsiteY20" fmla="*/ 30110 h 40229"/>
                    <a:gd name="connsiteX21" fmla="*/ 33590 w 39928"/>
                    <a:gd name="connsiteY21" fmla="*/ 33273 h 40229"/>
                    <a:gd name="connsiteX22" fmla="*/ 30421 w 39928"/>
                    <a:gd name="connsiteY22" fmla="*/ 35802 h 40229"/>
                    <a:gd name="connsiteX23" fmla="*/ 27252 w 39928"/>
                    <a:gd name="connsiteY23" fmla="*/ 37700 h 40229"/>
                    <a:gd name="connsiteX24" fmla="*/ 23450 w 39928"/>
                    <a:gd name="connsiteY24" fmla="*/ 38965 h 40229"/>
                    <a:gd name="connsiteX25" fmla="*/ 20281 w 39928"/>
                    <a:gd name="connsiteY25" fmla="*/ 40230 h 40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928" h="40229">
                      <a:moveTo>
                        <a:pt x="20281" y="40230"/>
                      </a:moveTo>
                      <a:cubicBezTo>
                        <a:pt x="19013" y="40230"/>
                        <a:pt x="17746" y="40230"/>
                        <a:pt x="16478" y="39597"/>
                      </a:cubicBezTo>
                      <a:cubicBezTo>
                        <a:pt x="15211" y="39597"/>
                        <a:pt x="13943" y="38965"/>
                        <a:pt x="12676" y="38332"/>
                      </a:cubicBezTo>
                      <a:cubicBezTo>
                        <a:pt x="11408" y="37700"/>
                        <a:pt x="10140" y="37067"/>
                        <a:pt x="9507" y="36435"/>
                      </a:cubicBezTo>
                      <a:cubicBezTo>
                        <a:pt x="8239" y="35802"/>
                        <a:pt x="7605" y="35170"/>
                        <a:pt x="6338" y="33905"/>
                      </a:cubicBezTo>
                      <a:cubicBezTo>
                        <a:pt x="5704" y="32640"/>
                        <a:pt x="4436" y="32008"/>
                        <a:pt x="3803" y="30743"/>
                      </a:cubicBezTo>
                      <a:cubicBezTo>
                        <a:pt x="3169" y="29478"/>
                        <a:pt x="2535" y="28845"/>
                        <a:pt x="1901" y="27580"/>
                      </a:cubicBezTo>
                      <a:cubicBezTo>
                        <a:pt x="1268" y="26316"/>
                        <a:pt x="1268" y="25051"/>
                        <a:pt x="634" y="23786"/>
                      </a:cubicBezTo>
                      <a:cubicBezTo>
                        <a:pt x="634" y="22521"/>
                        <a:pt x="0" y="21256"/>
                        <a:pt x="0" y="19991"/>
                      </a:cubicBezTo>
                      <a:cubicBezTo>
                        <a:pt x="0" y="18726"/>
                        <a:pt x="0" y="17461"/>
                        <a:pt x="634" y="16196"/>
                      </a:cubicBezTo>
                      <a:cubicBezTo>
                        <a:pt x="634" y="14931"/>
                        <a:pt x="1268" y="13666"/>
                        <a:pt x="1901" y="12401"/>
                      </a:cubicBezTo>
                      <a:cubicBezTo>
                        <a:pt x="2535" y="11137"/>
                        <a:pt x="3169" y="10504"/>
                        <a:pt x="3803" y="9239"/>
                      </a:cubicBezTo>
                      <a:cubicBezTo>
                        <a:pt x="4436" y="7974"/>
                        <a:pt x="5070" y="7342"/>
                        <a:pt x="6338" y="6077"/>
                      </a:cubicBezTo>
                      <a:cubicBezTo>
                        <a:pt x="6972" y="5444"/>
                        <a:pt x="8239" y="4179"/>
                        <a:pt x="9507" y="3547"/>
                      </a:cubicBezTo>
                      <a:cubicBezTo>
                        <a:pt x="10774" y="2915"/>
                        <a:pt x="12042" y="2282"/>
                        <a:pt x="12676" y="1650"/>
                      </a:cubicBezTo>
                      <a:cubicBezTo>
                        <a:pt x="13943" y="1017"/>
                        <a:pt x="15211" y="1017"/>
                        <a:pt x="16478" y="385"/>
                      </a:cubicBezTo>
                      <a:cubicBezTo>
                        <a:pt x="22816" y="-880"/>
                        <a:pt x="29788" y="1017"/>
                        <a:pt x="34224" y="5444"/>
                      </a:cubicBezTo>
                      <a:cubicBezTo>
                        <a:pt x="38027" y="9239"/>
                        <a:pt x="39928" y="14299"/>
                        <a:pt x="39928" y="19358"/>
                      </a:cubicBezTo>
                      <a:cubicBezTo>
                        <a:pt x="39928" y="20623"/>
                        <a:pt x="39928" y="21888"/>
                        <a:pt x="39294" y="23153"/>
                      </a:cubicBezTo>
                      <a:cubicBezTo>
                        <a:pt x="39294" y="24418"/>
                        <a:pt x="38660" y="25683"/>
                        <a:pt x="38027" y="26948"/>
                      </a:cubicBezTo>
                      <a:cubicBezTo>
                        <a:pt x="37393" y="28213"/>
                        <a:pt x="36759" y="29478"/>
                        <a:pt x="36125" y="30110"/>
                      </a:cubicBezTo>
                      <a:cubicBezTo>
                        <a:pt x="35492" y="31375"/>
                        <a:pt x="34858" y="32008"/>
                        <a:pt x="33590" y="33273"/>
                      </a:cubicBezTo>
                      <a:cubicBezTo>
                        <a:pt x="32956" y="33905"/>
                        <a:pt x="31689" y="35170"/>
                        <a:pt x="30421" y="35802"/>
                      </a:cubicBezTo>
                      <a:cubicBezTo>
                        <a:pt x="29154" y="36435"/>
                        <a:pt x="27886" y="37067"/>
                        <a:pt x="27252" y="37700"/>
                      </a:cubicBezTo>
                      <a:cubicBezTo>
                        <a:pt x="25985" y="38332"/>
                        <a:pt x="24717" y="38332"/>
                        <a:pt x="23450" y="38965"/>
                      </a:cubicBezTo>
                      <a:cubicBezTo>
                        <a:pt x="22816" y="39597"/>
                        <a:pt x="21548" y="40230"/>
                        <a:pt x="20281" y="4023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1" name="Picture Placeholder 100">
                  <a:extLst>
                    <a:ext uri="{FF2B5EF4-FFF2-40B4-BE49-F238E27FC236}">
                      <a16:creationId xmlns:a16="http://schemas.microsoft.com/office/drawing/2014/main" id="{7A05A66D-40B8-4520-BED3-D99568382C4A}"/>
                    </a:ext>
                  </a:extLst>
                </p:cNvPr>
                <p:cNvSpPr/>
                <p:nvPr/>
              </p:nvSpPr>
              <p:spPr>
                <a:xfrm>
                  <a:off x="9911349" y="2303511"/>
                  <a:ext cx="39047" cy="39168"/>
                </a:xfrm>
                <a:custGeom>
                  <a:avLst/>
                  <a:gdLst>
                    <a:gd name="connsiteX0" fmla="*/ 3046 w 39047"/>
                    <a:gd name="connsiteY0" fmla="*/ 30235 h 39168"/>
                    <a:gd name="connsiteX1" fmla="*/ 8750 w 39047"/>
                    <a:gd name="connsiteY1" fmla="*/ 3039 h 39168"/>
                    <a:gd name="connsiteX2" fmla="*/ 8750 w 39047"/>
                    <a:gd name="connsiteY2" fmla="*/ 3039 h 39168"/>
                    <a:gd name="connsiteX3" fmla="*/ 36002 w 39047"/>
                    <a:gd name="connsiteY3" fmla="*/ 8732 h 39168"/>
                    <a:gd name="connsiteX4" fmla="*/ 36002 w 39047"/>
                    <a:gd name="connsiteY4" fmla="*/ 8732 h 39168"/>
                    <a:gd name="connsiteX5" fmla="*/ 30298 w 39047"/>
                    <a:gd name="connsiteY5" fmla="*/ 35927 h 39168"/>
                    <a:gd name="connsiteX6" fmla="*/ 30298 w 39047"/>
                    <a:gd name="connsiteY6" fmla="*/ 35927 h 39168"/>
                    <a:gd name="connsiteX7" fmla="*/ 19524 w 39047"/>
                    <a:gd name="connsiteY7" fmla="*/ 39090 h 39168"/>
                    <a:gd name="connsiteX8" fmla="*/ 19524 w 39047"/>
                    <a:gd name="connsiteY8" fmla="*/ 39090 h 39168"/>
                    <a:gd name="connsiteX9" fmla="*/ 3046 w 39047"/>
                    <a:gd name="connsiteY9" fmla="*/ 30235 h 39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47" h="39168">
                      <a:moveTo>
                        <a:pt x="3046" y="30235"/>
                      </a:moveTo>
                      <a:cubicBezTo>
                        <a:pt x="-2658" y="21381"/>
                        <a:pt x="-123" y="8732"/>
                        <a:pt x="8750" y="3039"/>
                      </a:cubicBezTo>
                      <a:lnTo>
                        <a:pt x="8750" y="3039"/>
                      </a:lnTo>
                      <a:cubicBezTo>
                        <a:pt x="18256" y="-2653"/>
                        <a:pt x="30298" y="-123"/>
                        <a:pt x="36002" y="8732"/>
                      </a:cubicBezTo>
                      <a:lnTo>
                        <a:pt x="36002" y="8732"/>
                      </a:lnTo>
                      <a:cubicBezTo>
                        <a:pt x="41706" y="17586"/>
                        <a:pt x="39171" y="30235"/>
                        <a:pt x="30298" y="35927"/>
                      </a:cubicBezTo>
                      <a:lnTo>
                        <a:pt x="30298" y="35927"/>
                      </a:lnTo>
                      <a:cubicBezTo>
                        <a:pt x="27129" y="37825"/>
                        <a:pt x="23327" y="39090"/>
                        <a:pt x="19524" y="39090"/>
                      </a:cubicBezTo>
                      <a:lnTo>
                        <a:pt x="19524" y="39090"/>
                      </a:lnTo>
                      <a:cubicBezTo>
                        <a:pt x="12552" y="39722"/>
                        <a:pt x="6848" y="36560"/>
                        <a:pt x="3046" y="3023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2" name="Picture Placeholder 100">
                  <a:extLst>
                    <a:ext uri="{FF2B5EF4-FFF2-40B4-BE49-F238E27FC236}">
                      <a16:creationId xmlns:a16="http://schemas.microsoft.com/office/drawing/2014/main" id="{DA9E492A-C588-6F27-5C55-702BE4F64BB2}"/>
                    </a:ext>
                  </a:extLst>
                </p:cNvPr>
                <p:cNvSpPr/>
                <p:nvPr/>
              </p:nvSpPr>
              <p:spPr>
                <a:xfrm>
                  <a:off x="9942281" y="2352878"/>
                  <a:ext cx="39928" cy="40319"/>
                </a:xfrm>
                <a:custGeom>
                  <a:avLst/>
                  <a:gdLst>
                    <a:gd name="connsiteX0" fmla="*/ 20281 w 39928"/>
                    <a:gd name="connsiteY0" fmla="*/ 40319 h 40319"/>
                    <a:gd name="connsiteX1" fmla="*/ 16478 w 39928"/>
                    <a:gd name="connsiteY1" fmla="*/ 39687 h 40319"/>
                    <a:gd name="connsiteX2" fmla="*/ 12676 w 39928"/>
                    <a:gd name="connsiteY2" fmla="*/ 38422 h 40319"/>
                    <a:gd name="connsiteX3" fmla="*/ 9507 w 39928"/>
                    <a:gd name="connsiteY3" fmla="*/ 36525 h 40319"/>
                    <a:gd name="connsiteX4" fmla="*/ 6338 w 39928"/>
                    <a:gd name="connsiteY4" fmla="*/ 33995 h 40319"/>
                    <a:gd name="connsiteX5" fmla="*/ 3803 w 39928"/>
                    <a:gd name="connsiteY5" fmla="*/ 30832 h 40319"/>
                    <a:gd name="connsiteX6" fmla="*/ 1901 w 39928"/>
                    <a:gd name="connsiteY6" fmla="*/ 27670 h 40319"/>
                    <a:gd name="connsiteX7" fmla="*/ 634 w 39928"/>
                    <a:gd name="connsiteY7" fmla="*/ 23875 h 40319"/>
                    <a:gd name="connsiteX8" fmla="*/ 0 w 39928"/>
                    <a:gd name="connsiteY8" fmla="*/ 20081 h 40319"/>
                    <a:gd name="connsiteX9" fmla="*/ 634 w 39928"/>
                    <a:gd name="connsiteY9" fmla="*/ 16286 h 40319"/>
                    <a:gd name="connsiteX10" fmla="*/ 1901 w 39928"/>
                    <a:gd name="connsiteY10" fmla="*/ 12491 h 40319"/>
                    <a:gd name="connsiteX11" fmla="*/ 3803 w 39928"/>
                    <a:gd name="connsiteY11" fmla="*/ 9329 h 40319"/>
                    <a:gd name="connsiteX12" fmla="*/ 6338 w 39928"/>
                    <a:gd name="connsiteY12" fmla="*/ 6166 h 40319"/>
                    <a:gd name="connsiteX13" fmla="*/ 9507 w 39928"/>
                    <a:gd name="connsiteY13" fmla="*/ 3637 h 40319"/>
                    <a:gd name="connsiteX14" fmla="*/ 12676 w 39928"/>
                    <a:gd name="connsiteY14" fmla="*/ 1739 h 40319"/>
                    <a:gd name="connsiteX15" fmla="*/ 16478 w 39928"/>
                    <a:gd name="connsiteY15" fmla="*/ 474 h 40319"/>
                    <a:gd name="connsiteX16" fmla="*/ 24084 w 39928"/>
                    <a:gd name="connsiteY16" fmla="*/ 474 h 40319"/>
                    <a:gd name="connsiteX17" fmla="*/ 27886 w 39928"/>
                    <a:gd name="connsiteY17" fmla="*/ 1739 h 40319"/>
                    <a:gd name="connsiteX18" fmla="*/ 31055 w 39928"/>
                    <a:gd name="connsiteY18" fmla="*/ 3637 h 40319"/>
                    <a:gd name="connsiteX19" fmla="*/ 34224 w 39928"/>
                    <a:gd name="connsiteY19" fmla="*/ 6166 h 40319"/>
                    <a:gd name="connsiteX20" fmla="*/ 39928 w 39928"/>
                    <a:gd name="connsiteY20" fmla="*/ 20081 h 40319"/>
                    <a:gd name="connsiteX21" fmla="*/ 34224 w 39928"/>
                    <a:gd name="connsiteY21" fmla="*/ 33995 h 40319"/>
                    <a:gd name="connsiteX22" fmla="*/ 31055 w 39928"/>
                    <a:gd name="connsiteY22" fmla="*/ 36525 h 40319"/>
                    <a:gd name="connsiteX23" fmla="*/ 27886 w 39928"/>
                    <a:gd name="connsiteY23" fmla="*/ 38422 h 40319"/>
                    <a:gd name="connsiteX24" fmla="*/ 24084 w 39928"/>
                    <a:gd name="connsiteY24" fmla="*/ 39687 h 40319"/>
                    <a:gd name="connsiteX25" fmla="*/ 20281 w 39928"/>
                    <a:gd name="connsiteY25" fmla="*/ 40319 h 40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928" h="40319">
                      <a:moveTo>
                        <a:pt x="20281" y="40319"/>
                      </a:moveTo>
                      <a:cubicBezTo>
                        <a:pt x="19013" y="40319"/>
                        <a:pt x="17746" y="40319"/>
                        <a:pt x="16478" y="39687"/>
                      </a:cubicBezTo>
                      <a:cubicBezTo>
                        <a:pt x="15211" y="39687"/>
                        <a:pt x="13943" y="39054"/>
                        <a:pt x="12676" y="38422"/>
                      </a:cubicBezTo>
                      <a:cubicBezTo>
                        <a:pt x="11408" y="37789"/>
                        <a:pt x="10140" y="37157"/>
                        <a:pt x="9507" y="36525"/>
                      </a:cubicBezTo>
                      <a:cubicBezTo>
                        <a:pt x="8239" y="35892"/>
                        <a:pt x="7605" y="35260"/>
                        <a:pt x="6338" y="33995"/>
                      </a:cubicBezTo>
                      <a:cubicBezTo>
                        <a:pt x="5704" y="33362"/>
                        <a:pt x="4436" y="32097"/>
                        <a:pt x="3803" y="30832"/>
                      </a:cubicBezTo>
                      <a:cubicBezTo>
                        <a:pt x="3169" y="29568"/>
                        <a:pt x="2535" y="28935"/>
                        <a:pt x="1901" y="27670"/>
                      </a:cubicBezTo>
                      <a:cubicBezTo>
                        <a:pt x="1268" y="26405"/>
                        <a:pt x="1268" y="25140"/>
                        <a:pt x="634" y="23875"/>
                      </a:cubicBezTo>
                      <a:cubicBezTo>
                        <a:pt x="634" y="22610"/>
                        <a:pt x="0" y="21346"/>
                        <a:pt x="0" y="20081"/>
                      </a:cubicBezTo>
                      <a:cubicBezTo>
                        <a:pt x="0" y="18816"/>
                        <a:pt x="0" y="17551"/>
                        <a:pt x="634" y="16286"/>
                      </a:cubicBezTo>
                      <a:cubicBezTo>
                        <a:pt x="634" y="15021"/>
                        <a:pt x="1268" y="13756"/>
                        <a:pt x="1901" y="12491"/>
                      </a:cubicBezTo>
                      <a:cubicBezTo>
                        <a:pt x="2535" y="11226"/>
                        <a:pt x="3169" y="10594"/>
                        <a:pt x="3803" y="9329"/>
                      </a:cubicBezTo>
                      <a:cubicBezTo>
                        <a:pt x="4436" y="8064"/>
                        <a:pt x="5070" y="7431"/>
                        <a:pt x="6338" y="6166"/>
                      </a:cubicBezTo>
                      <a:cubicBezTo>
                        <a:pt x="7605" y="5534"/>
                        <a:pt x="8239" y="4269"/>
                        <a:pt x="9507" y="3637"/>
                      </a:cubicBezTo>
                      <a:cubicBezTo>
                        <a:pt x="10774" y="3004"/>
                        <a:pt x="12042" y="2372"/>
                        <a:pt x="12676" y="1739"/>
                      </a:cubicBezTo>
                      <a:cubicBezTo>
                        <a:pt x="13943" y="1107"/>
                        <a:pt x="15211" y="1107"/>
                        <a:pt x="16478" y="474"/>
                      </a:cubicBezTo>
                      <a:cubicBezTo>
                        <a:pt x="19013" y="-158"/>
                        <a:pt x="21548" y="-158"/>
                        <a:pt x="24084" y="474"/>
                      </a:cubicBezTo>
                      <a:cubicBezTo>
                        <a:pt x="25351" y="474"/>
                        <a:pt x="26619" y="1107"/>
                        <a:pt x="27886" y="1739"/>
                      </a:cubicBezTo>
                      <a:cubicBezTo>
                        <a:pt x="29154" y="2372"/>
                        <a:pt x="30421" y="3004"/>
                        <a:pt x="31055" y="3637"/>
                      </a:cubicBezTo>
                      <a:cubicBezTo>
                        <a:pt x="32323" y="4269"/>
                        <a:pt x="32956" y="4902"/>
                        <a:pt x="34224" y="6166"/>
                      </a:cubicBezTo>
                      <a:cubicBezTo>
                        <a:pt x="38027" y="9961"/>
                        <a:pt x="39928" y="15021"/>
                        <a:pt x="39928" y="20081"/>
                      </a:cubicBezTo>
                      <a:cubicBezTo>
                        <a:pt x="39928" y="25140"/>
                        <a:pt x="38027" y="30200"/>
                        <a:pt x="34224" y="33995"/>
                      </a:cubicBezTo>
                      <a:cubicBezTo>
                        <a:pt x="32956" y="35260"/>
                        <a:pt x="32323" y="35892"/>
                        <a:pt x="31055" y="36525"/>
                      </a:cubicBezTo>
                      <a:cubicBezTo>
                        <a:pt x="29788" y="37157"/>
                        <a:pt x="28520" y="37789"/>
                        <a:pt x="27886" y="38422"/>
                      </a:cubicBezTo>
                      <a:cubicBezTo>
                        <a:pt x="26619" y="39054"/>
                        <a:pt x="25351" y="39054"/>
                        <a:pt x="24084" y="39687"/>
                      </a:cubicBezTo>
                      <a:cubicBezTo>
                        <a:pt x="22816" y="40319"/>
                        <a:pt x="21548" y="40319"/>
                        <a:pt x="20281" y="4031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Picture Placeholder 100">
                  <a:extLst>
                    <a:ext uri="{FF2B5EF4-FFF2-40B4-BE49-F238E27FC236}">
                      <a16:creationId xmlns:a16="http://schemas.microsoft.com/office/drawing/2014/main" id="{0E7AD5ED-0BF6-54FA-8D4A-A9E801E1F438}"/>
                    </a:ext>
                  </a:extLst>
                </p:cNvPr>
                <p:cNvSpPr/>
                <p:nvPr/>
              </p:nvSpPr>
              <p:spPr>
                <a:xfrm>
                  <a:off x="9989251" y="2320535"/>
                  <a:ext cx="39152" cy="39141"/>
                </a:xfrm>
                <a:custGeom>
                  <a:avLst/>
                  <a:gdLst>
                    <a:gd name="connsiteX0" fmla="*/ 3732 w 39152"/>
                    <a:gd name="connsiteY0" fmla="*/ 30920 h 39141"/>
                    <a:gd name="connsiteX1" fmla="*/ 8168 w 39152"/>
                    <a:gd name="connsiteY1" fmla="*/ 3724 h 39141"/>
                    <a:gd name="connsiteX2" fmla="*/ 8168 w 39152"/>
                    <a:gd name="connsiteY2" fmla="*/ 3724 h 39141"/>
                    <a:gd name="connsiteX3" fmla="*/ 35421 w 39152"/>
                    <a:gd name="connsiteY3" fmla="*/ 8151 h 39141"/>
                    <a:gd name="connsiteX4" fmla="*/ 35421 w 39152"/>
                    <a:gd name="connsiteY4" fmla="*/ 8151 h 39141"/>
                    <a:gd name="connsiteX5" fmla="*/ 30984 w 39152"/>
                    <a:gd name="connsiteY5" fmla="*/ 35347 h 39141"/>
                    <a:gd name="connsiteX6" fmla="*/ 30984 w 39152"/>
                    <a:gd name="connsiteY6" fmla="*/ 35347 h 39141"/>
                    <a:gd name="connsiteX7" fmla="*/ 19576 w 39152"/>
                    <a:gd name="connsiteY7" fmla="*/ 39142 h 39141"/>
                    <a:gd name="connsiteX8" fmla="*/ 19576 w 39152"/>
                    <a:gd name="connsiteY8" fmla="*/ 39142 h 39141"/>
                    <a:gd name="connsiteX9" fmla="*/ 3732 w 39152"/>
                    <a:gd name="connsiteY9" fmla="*/ 30920 h 3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52" h="39141">
                      <a:moveTo>
                        <a:pt x="3732" y="30920"/>
                      </a:moveTo>
                      <a:cubicBezTo>
                        <a:pt x="-2606" y="22066"/>
                        <a:pt x="-705" y="10049"/>
                        <a:pt x="8168" y="3724"/>
                      </a:cubicBezTo>
                      <a:lnTo>
                        <a:pt x="8168" y="3724"/>
                      </a:lnTo>
                      <a:cubicBezTo>
                        <a:pt x="17041" y="-2600"/>
                        <a:pt x="29083" y="-703"/>
                        <a:pt x="35421" y="8151"/>
                      </a:cubicBezTo>
                      <a:lnTo>
                        <a:pt x="35421" y="8151"/>
                      </a:lnTo>
                      <a:cubicBezTo>
                        <a:pt x="41759" y="17006"/>
                        <a:pt x="39857" y="29023"/>
                        <a:pt x="30984" y="35347"/>
                      </a:cubicBezTo>
                      <a:lnTo>
                        <a:pt x="30984" y="35347"/>
                      </a:lnTo>
                      <a:cubicBezTo>
                        <a:pt x="27816" y="37877"/>
                        <a:pt x="23379" y="39142"/>
                        <a:pt x="19576" y="39142"/>
                      </a:cubicBezTo>
                      <a:lnTo>
                        <a:pt x="19576" y="39142"/>
                      </a:lnTo>
                      <a:cubicBezTo>
                        <a:pt x="13239" y="39142"/>
                        <a:pt x="7535" y="36612"/>
                        <a:pt x="3732" y="309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sp>
        <p:nvSpPr>
          <p:cNvPr id="132" name="TextBox 131">
            <a:extLst>
              <a:ext uri="{FF2B5EF4-FFF2-40B4-BE49-F238E27FC236}">
                <a16:creationId xmlns:a16="http://schemas.microsoft.com/office/drawing/2014/main" id="{A828DEEA-802D-B042-4C54-7BDE6FDAB86F}"/>
              </a:ext>
            </a:extLst>
          </p:cNvPr>
          <p:cNvSpPr txBox="1"/>
          <p:nvPr/>
        </p:nvSpPr>
        <p:spPr>
          <a:xfrm>
            <a:off x="4611604" y="2858764"/>
            <a:ext cx="2730934" cy="169277"/>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61A60E"/>
                </a:solidFill>
                <a:effectLst/>
                <a:uLnTx/>
                <a:uFillTx/>
                <a:latin typeface="Arial" panose="020B0604020202020204"/>
                <a:ea typeface="+mn-ea"/>
                <a:cs typeface="+mn-cs"/>
              </a:rPr>
              <a:t>Efficient and resilient data structure</a:t>
            </a:r>
          </a:p>
        </p:txBody>
      </p:sp>
      <p:sp>
        <p:nvSpPr>
          <p:cNvPr id="133" name="Picture Placeholder 79" descr="Decision Tree&#10;">
            <a:extLst>
              <a:ext uri="{FF2B5EF4-FFF2-40B4-BE49-F238E27FC236}">
                <a16:creationId xmlns:a16="http://schemas.microsoft.com/office/drawing/2014/main" id="{D21E7090-B1DD-5D9E-3612-3046ACF88272}"/>
              </a:ext>
            </a:extLst>
          </p:cNvPr>
          <p:cNvSpPr/>
          <p:nvPr/>
        </p:nvSpPr>
        <p:spPr>
          <a:xfrm rot="5400000">
            <a:off x="4512587" y="2845822"/>
            <a:ext cx="232195" cy="195161"/>
          </a:xfrm>
          <a:custGeom>
            <a:avLst/>
            <a:gdLst>
              <a:gd name="connsiteX0" fmla="*/ 492054 w 602734"/>
              <a:gd name="connsiteY0" fmla="*/ 263736 h 506600"/>
              <a:gd name="connsiteX1" fmla="*/ 546445 w 602734"/>
              <a:gd name="connsiteY1" fmla="*/ 308640 h 506600"/>
              <a:gd name="connsiteX2" fmla="*/ 602102 w 602734"/>
              <a:gd name="connsiteY2" fmla="*/ 252984 h 506600"/>
              <a:gd name="connsiteX3" fmla="*/ 546445 w 602734"/>
              <a:gd name="connsiteY3" fmla="*/ 197960 h 506600"/>
              <a:gd name="connsiteX4" fmla="*/ 492686 w 602734"/>
              <a:gd name="connsiteY4" fmla="*/ 240967 h 506600"/>
              <a:gd name="connsiteX5" fmla="*/ 363665 w 602734"/>
              <a:gd name="connsiteY5" fmla="*/ 153688 h 506600"/>
              <a:gd name="connsiteX6" fmla="*/ 492686 w 602734"/>
              <a:gd name="connsiteY6" fmla="*/ 66408 h 506600"/>
              <a:gd name="connsiteX7" fmla="*/ 547078 w 602734"/>
              <a:gd name="connsiteY7" fmla="*/ 111313 h 506600"/>
              <a:gd name="connsiteX8" fmla="*/ 602734 w 602734"/>
              <a:gd name="connsiteY8" fmla="*/ 55656 h 506600"/>
              <a:gd name="connsiteX9" fmla="*/ 547078 w 602734"/>
              <a:gd name="connsiteY9" fmla="*/ 0 h 506600"/>
              <a:gd name="connsiteX10" fmla="*/ 492054 w 602734"/>
              <a:gd name="connsiteY10" fmla="*/ 47435 h 506600"/>
              <a:gd name="connsiteX11" fmla="*/ 492054 w 602734"/>
              <a:gd name="connsiteY11" fmla="*/ 47435 h 506600"/>
              <a:gd name="connsiteX12" fmla="*/ 354810 w 602734"/>
              <a:gd name="connsiteY12" fmla="*/ 140406 h 506600"/>
              <a:gd name="connsiteX13" fmla="*/ 301051 w 602734"/>
              <a:gd name="connsiteY13" fmla="*/ 97399 h 506600"/>
              <a:gd name="connsiteX14" fmla="*/ 246027 w 602734"/>
              <a:gd name="connsiteY14" fmla="*/ 147996 h 506600"/>
              <a:gd name="connsiteX15" fmla="*/ 109416 w 602734"/>
              <a:gd name="connsiteY15" fmla="*/ 240335 h 506600"/>
              <a:gd name="connsiteX16" fmla="*/ 55656 w 602734"/>
              <a:gd name="connsiteY16" fmla="*/ 197960 h 506600"/>
              <a:gd name="connsiteX17" fmla="*/ 0 w 602734"/>
              <a:gd name="connsiteY17" fmla="*/ 253616 h 506600"/>
              <a:gd name="connsiteX18" fmla="*/ 55656 w 602734"/>
              <a:gd name="connsiteY18" fmla="*/ 309273 h 506600"/>
              <a:gd name="connsiteX19" fmla="*/ 110048 w 602734"/>
              <a:gd name="connsiteY19" fmla="*/ 265001 h 506600"/>
              <a:gd name="connsiteX20" fmla="*/ 246027 w 602734"/>
              <a:gd name="connsiteY20" fmla="*/ 357340 h 506600"/>
              <a:gd name="connsiteX21" fmla="*/ 301051 w 602734"/>
              <a:gd name="connsiteY21" fmla="*/ 406672 h 506600"/>
              <a:gd name="connsiteX22" fmla="*/ 354810 w 602734"/>
              <a:gd name="connsiteY22" fmla="*/ 363664 h 506600"/>
              <a:gd name="connsiteX23" fmla="*/ 490789 w 602734"/>
              <a:gd name="connsiteY23" fmla="*/ 456004 h 506600"/>
              <a:gd name="connsiteX24" fmla="*/ 545813 w 602734"/>
              <a:gd name="connsiteY24" fmla="*/ 506600 h 506600"/>
              <a:gd name="connsiteX25" fmla="*/ 601469 w 602734"/>
              <a:gd name="connsiteY25" fmla="*/ 450944 h 506600"/>
              <a:gd name="connsiteX26" fmla="*/ 545813 w 602734"/>
              <a:gd name="connsiteY26" fmla="*/ 395287 h 506600"/>
              <a:gd name="connsiteX27" fmla="*/ 492054 w 602734"/>
              <a:gd name="connsiteY27" fmla="*/ 437662 h 506600"/>
              <a:gd name="connsiteX28" fmla="*/ 364297 w 602734"/>
              <a:gd name="connsiteY28" fmla="*/ 350383 h 506600"/>
              <a:gd name="connsiteX29" fmla="*/ 492054 w 602734"/>
              <a:gd name="connsiteY29" fmla="*/ 263736 h 506600"/>
              <a:gd name="connsiteX30" fmla="*/ 301051 w 602734"/>
              <a:gd name="connsiteY30" fmla="*/ 295359 h 506600"/>
              <a:gd name="connsiteX31" fmla="*/ 247292 w 602734"/>
              <a:gd name="connsiteY31" fmla="*/ 338366 h 506600"/>
              <a:gd name="connsiteX32" fmla="*/ 120800 w 602734"/>
              <a:gd name="connsiteY32" fmla="*/ 252352 h 506600"/>
              <a:gd name="connsiteX33" fmla="*/ 247292 w 602734"/>
              <a:gd name="connsiteY33" fmla="*/ 166337 h 506600"/>
              <a:gd name="connsiteX34" fmla="*/ 301051 w 602734"/>
              <a:gd name="connsiteY34" fmla="*/ 208712 h 506600"/>
              <a:gd name="connsiteX35" fmla="*/ 354810 w 602734"/>
              <a:gd name="connsiteY35" fmla="*/ 166969 h 506600"/>
              <a:gd name="connsiteX36" fmla="*/ 480670 w 602734"/>
              <a:gd name="connsiteY36" fmla="*/ 252352 h 506600"/>
              <a:gd name="connsiteX37" fmla="*/ 354810 w 602734"/>
              <a:gd name="connsiteY37" fmla="*/ 337734 h 506600"/>
              <a:gd name="connsiteX38" fmla="*/ 301051 w 602734"/>
              <a:gd name="connsiteY38" fmla="*/ 295359 h 506600"/>
              <a:gd name="connsiteX39" fmla="*/ 546445 w 602734"/>
              <a:gd name="connsiteY39" fmla="*/ 213771 h 506600"/>
              <a:gd name="connsiteX40" fmla="*/ 586290 w 602734"/>
              <a:gd name="connsiteY40" fmla="*/ 253616 h 506600"/>
              <a:gd name="connsiteX41" fmla="*/ 546445 w 602734"/>
              <a:gd name="connsiteY41" fmla="*/ 293461 h 506600"/>
              <a:gd name="connsiteX42" fmla="*/ 506600 w 602734"/>
              <a:gd name="connsiteY42" fmla="*/ 253616 h 506600"/>
              <a:gd name="connsiteX43" fmla="*/ 546445 w 602734"/>
              <a:gd name="connsiteY43" fmla="*/ 213771 h 506600"/>
              <a:gd name="connsiteX44" fmla="*/ 546445 w 602734"/>
              <a:gd name="connsiteY44" fmla="*/ 16444 h 506600"/>
              <a:gd name="connsiteX45" fmla="*/ 586290 w 602734"/>
              <a:gd name="connsiteY45" fmla="*/ 56289 h 506600"/>
              <a:gd name="connsiteX46" fmla="*/ 546445 w 602734"/>
              <a:gd name="connsiteY46" fmla="*/ 96134 h 506600"/>
              <a:gd name="connsiteX47" fmla="*/ 507233 w 602734"/>
              <a:gd name="connsiteY47" fmla="*/ 55656 h 506600"/>
              <a:gd name="connsiteX48" fmla="*/ 546445 w 602734"/>
              <a:gd name="connsiteY48" fmla="*/ 16444 h 506600"/>
              <a:gd name="connsiteX49" fmla="*/ 301051 w 602734"/>
              <a:gd name="connsiteY49" fmla="*/ 113210 h 506600"/>
              <a:gd name="connsiteX50" fmla="*/ 340896 w 602734"/>
              <a:gd name="connsiteY50" fmla="*/ 153055 h 506600"/>
              <a:gd name="connsiteX51" fmla="*/ 301051 w 602734"/>
              <a:gd name="connsiteY51" fmla="*/ 192900 h 506600"/>
              <a:gd name="connsiteX52" fmla="*/ 261206 w 602734"/>
              <a:gd name="connsiteY52" fmla="*/ 153055 h 506600"/>
              <a:gd name="connsiteX53" fmla="*/ 301051 w 602734"/>
              <a:gd name="connsiteY53" fmla="*/ 113210 h 506600"/>
              <a:gd name="connsiteX54" fmla="*/ 55656 w 602734"/>
              <a:gd name="connsiteY54" fmla="*/ 292829 h 506600"/>
              <a:gd name="connsiteX55" fmla="*/ 15812 w 602734"/>
              <a:gd name="connsiteY55" fmla="*/ 252984 h 506600"/>
              <a:gd name="connsiteX56" fmla="*/ 55656 w 602734"/>
              <a:gd name="connsiteY56" fmla="*/ 213139 h 506600"/>
              <a:gd name="connsiteX57" fmla="*/ 95501 w 602734"/>
              <a:gd name="connsiteY57" fmla="*/ 252984 h 506600"/>
              <a:gd name="connsiteX58" fmla="*/ 55656 w 602734"/>
              <a:gd name="connsiteY58" fmla="*/ 292829 h 506600"/>
              <a:gd name="connsiteX59" fmla="*/ 301051 w 602734"/>
              <a:gd name="connsiteY59" fmla="*/ 390228 h 506600"/>
              <a:gd name="connsiteX60" fmla="*/ 261206 w 602734"/>
              <a:gd name="connsiteY60" fmla="*/ 350383 h 506600"/>
              <a:gd name="connsiteX61" fmla="*/ 301051 w 602734"/>
              <a:gd name="connsiteY61" fmla="*/ 310538 h 506600"/>
              <a:gd name="connsiteX62" fmla="*/ 340896 w 602734"/>
              <a:gd name="connsiteY62" fmla="*/ 350383 h 506600"/>
              <a:gd name="connsiteX63" fmla="*/ 301051 w 602734"/>
              <a:gd name="connsiteY63" fmla="*/ 390228 h 506600"/>
              <a:gd name="connsiteX64" fmla="*/ 546445 w 602734"/>
              <a:gd name="connsiteY64" fmla="*/ 411099 h 506600"/>
              <a:gd name="connsiteX65" fmla="*/ 586290 w 602734"/>
              <a:gd name="connsiteY65" fmla="*/ 450944 h 506600"/>
              <a:gd name="connsiteX66" fmla="*/ 546445 w 602734"/>
              <a:gd name="connsiteY66" fmla="*/ 490789 h 506600"/>
              <a:gd name="connsiteX67" fmla="*/ 506600 w 602734"/>
              <a:gd name="connsiteY67" fmla="*/ 450944 h 506600"/>
              <a:gd name="connsiteX68" fmla="*/ 546445 w 602734"/>
              <a:gd name="connsiteY68" fmla="*/ 411099 h 50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02734" h="506600">
                <a:moveTo>
                  <a:pt x="492054" y="263736"/>
                </a:moveTo>
                <a:cubicBezTo>
                  <a:pt x="497114" y="289034"/>
                  <a:pt x="519250" y="308640"/>
                  <a:pt x="546445" y="308640"/>
                </a:cubicBezTo>
                <a:cubicBezTo>
                  <a:pt x="576804" y="308640"/>
                  <a:pt x="602102" y="283975"/>
                  <a:pt x="602102" y="252984"/>
                </a:cubicBezTo>
                <a:cubicBezTo>
                  <a:pt x="602102" y="221993"/>
                  <a:pt x="576804" y="197960"/>
                  <a:pt x="546445" y="197960"/>
                </a:cubicBezTo>
                <a:cubicBezTo>
                  <a:pt x="519882" y="197960"/>
                  <a:pt x="497746" y="216301"/>
                  <a:pt x="492686" y="240967"/>
                </a:cubicBezTo>
                <a:lnTo>
                  <a:pt x="363665" y="153688"/>
                </a:lnTo>
                <a:lnTo>
                  <a:pt x="492686" y="66408"/>
                </a:lnTo>
                <a:cubicBezTo>
                  <a:pt x="497746" y="91707"/>
                  <a:pt x="519882" y="111313"/>
                  <a:pt x="547078" y="111313"/>
                </a:cubicBezTo>
                <a:cubicBezTo>
                  <a:pt x="577436" y="111313"/>
                  <a:pt x="602734" y="86647"/>
                  <a:pt x="602734" y="55656"/>
                </a:cubicBezTo>
                <a:cubicBezTo>
                  <a:pt x="602734" y="25298"/>
                  <a:pt x="578068" y="0"/>
                  <a:pt x="547078" y="0"/>
                </a:cubicBezTo>
                <a:cubicBezTo>
                  <a:pt x="519250" y="0"/>
                  <a:pt x="496481" y="20239"/>
                  <a:pt x="492054" y="47435"/>
                </a:cubicBezTo>
                <a:lnTo>
                  <a:pt x="492054" y="47435"/>
                </a:lnTo>
                <a:lnTo>
                  <a:pt x="354810" y="140406"/>
                </a:lnTo>
                <a:cubicBezTo>
                  <a:pt x="349118" y="115740"/>
                  <a:pt x="326982" y="97399"/>
                  <a:pt x="301051" y="97399"/>
                </a:cubicBezTo>
                <a:cubicBezTo>
                  <a:pt x="271958" y="97399"/>
                  <a:pt x="248557" y="119535"/>
                  <a:pt x="246027" y="147996"/>
                </a:cubicBezTo>
                <a:lnTo>
                  <a:pt x="109416" y="240335"/>
                </a:lnTo>
                <a:cubicBezTo>
                  <a:pt x="103723" y="215669"/>
                  <a:pt x="81587" y="197960"/>
                  <a:pt x="55656" y="197960"/>
                </a:cubicBezTo>
                <a:cubicBezTo>
                  <a:pt x="25298" y="197960"/>
                  <a:pt x="0" y="222626"/>
                  <a:pt x="0" y="253616"/>
                </a:cubicBezTo>
                <a:cubicBezTo>
                  <a:pt x="0" y="284607"/>
                  <a:pt x="24666" y="309273"/>
                  <a:pt x="55656" y="309273"/>
                </a:cubicBezTo>
                <a:cubicBezTo>
                  <a:pt x="82220" y="309273"/>
                  <a:pt x="104988" y="290299"/>
                  <a:pt x="110048" y="265001"/>
                </a:cubicBezTo>
                <a:lnTo>
                  <a:pt x="246027" y="357340"/>
                </a:lnTo>
                <a:cubicBezTo>
                  <a:pt x="249189" y="385168"/>
                  <a:pt x="272590" y="406672"/>
                  <a:pt x="301051" y="406672"/>
                </a:cubicBezTo>
                <a:cubicBezTo>
                  <a:pt x="327614" y="406672"/>
                  <a:pt x="349118" y="388330"/>
                  <a:pt x="354810" y="363664"/>
                </a:cubicBezTo>
                <a:lnTo>
                  <a:pt x="490789" y="456004"/>
                </a:lnTo>
                <a:cubicBezTo>
                  <a:pt x="493319" y="484464"/>
                  <a:pt x="516720" y="506600"/>
                  <a:pt x="545813" y="506600"/>
                </a:cubicBezTo>
                <a:cubicBezTo>
                  <a:pt x="576171" y="506600"/>
                  <a:pt x="601469" y="481935"/>
                  <a:pt x="601469" y="450944"/>
                </a:cubicBezTo>
                <a:cubicBezTo>
                  <a:pt x="601469" y="419953"/>
                  <a:pt x="576804" y="395287"/>
                  <a:pt x="545813" y="395287"/>
                </a:cubicBezTo>
                <a:cubicBezTo>
                  <a:pt x="519882" y="395287"/>
                  <a:pt x="497746" y="412996"/>
                  <a:pt x="492054" y="437662"/>
                </a:cubicBezTo>
                <a:lnTo>
                  <a:pt x="364297" y="350383"/>
                </a:lnTo>
                <a:lnTo>
                  <a:pt x="492054" y="263736"/>
                </a:lnTo>
                <a:close/>
                <a:moveTo>
                  <a:pt x="301051" y="295359"/>
                </a:moveTo>
                <a:cubicBezTo>
                  <a:pt x="274488" y="295359"/>
                  <a:pt x="252984" y="313700"/>
                  <a:pt x="247292" y="338366"/>
                </a:cubicBezTo>
                <a:lnTo>
                  <a:pt x="120800" y="252352"/>
                </a:lnTo>
                <a:lnTo>
                  <a:pt x="247292" y="166337"/>
                </a:lnTo>
                <a:cubicBezTo>
                  <a:pt x="252984" y="190370"/>
                  <a:pt x="275120" y="208712"/>
                  <a:pt x="301051" y="208712"/>
                </a:cubicBezTo>
                <a:cubicBezTo>
                  <a:pt x="326982" y="208712"/>
                  <a:pt x="348485" y="191003"/>
                  <a:pt x="354810" y="166969"/>
                </a:cubicBezTo>
                <a:lnTo>
                  <a:pt x="480670" y="252352"/>
                </a:lnTo>
                <a:lnTo>
                  <a:pt x="354810" y="337734"/>
                </a:lnTo>
                <a:cubicBezTo>
                  <a:pt x="349118" y="313700"/>
                  <a:pt x="326982" y="295359"/>
                  <a:pt x="301051" y="295359"/>
                </a:cubicBezTo>
                <a:close/>
                <a:moveTo>
                  <a:pt x="546445" y="213771"/>
                </a:moveTo>
                <a:cubicBezTo>
                  <a:pt x="568582" y="213771"/>
                  <a:pt x="586290" y="231480"/>
                  <a:pt x="586290" y="253616"/>
                </a:cubicBezTo>
                <a:cubicBezTo>
                  <a:pt x="586290" y="275753"/>
                  <a:pt x="568582" y="293461"/>
                  <a:pt x="546445" y="293461"/>
                </a:cubicBezTo>
                <a:cubicBezTo>
                  <a:pt x="524309" y="293461"/>
                  <a:pt x="506600" y="275753"/>
                  <a:pt x="506600" y="253616"/>
                </a:cubicBezTo>
                <a:cubicBezTo>
                  <a:pt x="506600" y="231480"/>
                  <a:pt x="524309" y="213771"/>
                  <a:pt x="546445" y="213771"/>
                </a:cubicBezTo>
                <a:close/>
                <a:moveTo>
                  <a:pt x="546445" y="16444"/>
                </a:moveTo>
                <a:cubicBezTo>
                  <a:pt x="568582" y="16444"/>
                  <a:pt x="586290" y="34153"/>
                  <a:pt x="586290" y="56289"/>
                </a:cubicBezTo>
                <a:cubicBezTo>
                  <a:pt x="586290" y="78425"/>
                  <a:pt x="568582" y="96134"/>
                  <a:pt x="546445" y="96134"/>
                </a:cubicBezTo>
                <a:cubicBezTo>
                  <a:pt x="524309" y="96134"/>
                  <a:pt x="507233" y="77793"/>
                  <a:pt x="507233" y="55656"/>
                </a:cubicBezTo>
                <a:cubicBezTo>
                  <a:pt x="507233" y="34153"/>
                  <a:pt x="524942" y="16444"/>
                  <a:pt x="546445" y="16444"/>
                </a:cubicBezTo>
                <a:close/>
                <a:moveTo>
                  <a:pt x="301051" y="113210"/>
                </a:moveTo>
                <a:cubicBezTo>
                  <a:pt x="323187" y="113210"/>
                  <a:pt x="340896" y="130919"/>
                  <a:pt x="340896" y="153055"/>
                </a:cubicBezTo>
                <a:cubicBezTo>
                  <a:pt x="340896" y="175191"/>
                  <a:pt x="323187" y="192900"/>
                  <a:pt x="301051" y="192900"/>
                </a:cubicBezTo>
                <a:cubicBezTo>
                  <a:pt x="278915" y="192900"/>
                  <a:pt x="261206" y="175191"/>
                  <a:pt x="261206" y="153055"/>
                </a:cubicBezTo>
                <a:cubicBezTo>
                  <a:pt x="261206" y="130919"/>
                  <a:pt x="278915" y="113210"/>
                  <a:pt x="301051" y="113210"/>
                </a:cubicBezTo>
                <a:close/>
                <a:moveTo>
                  <a:pt x="55656" y="292829"/>
                </a:moveTo>
                <a:cubicBezTo>
                  <a:pt x="33520" y="292829"/>
                  <a:pt x="15812" y="275120"/>
                  <a:pt x="15812" y="252984"/>
                </a:cubicBezTo>
                <a:cubicBezTo>
                  <a:pt x="15812" y="230848"/>
                  <a:pt x="33520" y="213139"/>
                  <a:pt x="55656" y="213139"/>
                </a:cubicBezTo>
                <a:cubicBezTo>
                  <a:pt x="77793" y="213139"/>
                  <a:pt x="95501" y="230848"/>
                  <a:pt x="95501" y="252984"/>
                </a:cubicBezTo>
                <a:cubicBezTo>
                  <a:pt x="95501" y="275120"/>
                  <a:pt x="77793" y="292829"/>
                  <a:pt x="55656" y="292829"/>
                </a:cubicBezTo>
                <a:close/>
                <a:moveTo>
                  <a:pt x="301051" y="390228"/>
                </a:moveTo>
                <a:cubicBezTo>
                  <a:pt x="278915" y="390228"/>
                  <a:pt x="261206" y="372519"/>
                  <a:pt x="261206" y="350383"/>
                </a:cubicBezTo>
                <a:cubicBezTo>
                  <a:pt x="261206" y="328247"/>
                  <a:pt x="278915" y="310538"/>
                  <a:pt x="301051" y="310538"/>
                </a:cubicBezTo>
                <a:cubicBezTo>
                  <a:pt x="323187" y="310538"/>
                  <a:pt x="340896" y="328247"/>
                  <a:pt x="340896" y="350383"/>
                </a:cubicBezTo>
                <a:cubicBezTo>
                  <a:pt x="340263" y="372519"/>
                  <a:pt x="322555" y="390228"/>
                  <a:pt x="301051" y="390228"/>
                </a:cubicBezTo>
                <a:close/>
                <a:moveTo>
                  <a:pt x="546445" y="411099"/>
                </a:moveTo>
                <a:cubicBezTo>
                  <a:pt x="568582" y="411099"/>
                  <a:pt x="586290" y="428808"/>
                  <a:pt x="586290" y="450944"/>
                </a:cubicBezTo>
                <a:cubicBezTo>
                  <a:pt x="586290" y="473080"/>
                  <a:pt x="568582" y="490789"/>
                  <a:pt x="546445" y="490789"/>
                </a:cubicBezTo>
                <a:cubicBezTo>
                  <a:pt x="524309" y="490789"/>
                  <a:pt x="506600" y="473080"/>
                  <a:pt x="506600" y="450944"/>
                </a:cubicBezTo>
                <a:cubicBezTo>
                  <a:pt x="506600" y="428808"/>
                  <a:pt x="524309" y="411099"/>
                  <a:pt x="546445" y="411099"/>
                </a:cubicBezTo>
                <a:close/>
              </a:path>
            </a:pathLst>
          </a:custGeom>
          <a:solidFill>
            <a:schemeClr val="accent4"/>
          </a:solid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4" name="TextBox 153">
            <a:extLst>
              <a:ext uri="{FF2B5EF4-FFF2-40B4-BE49-F238E27FC236}">
                <a16:creationId xmlns:a16="http://schemas.microsoft.com/office/drawing/2014/main" id="{A3CB02C0-CE9E-96ED-C12E-846EB47F406B}"/>
              </a:ext>
            </a:extLst>
          </p:cNvPr>
          <p:cNvSpPr txBox="1"/>
          <p:nvPr/>
        </p:nvSpPr>
        <p:spPr>
          <a:xfrm>
            <a:off x="1066708" y="5020630"/>
            <a:ext cx="2042496" cy="435825"/>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0">
                      <a:srgbClr val="61A60E"/>
                    </a:gs>
                    <a:gs pos="100000">
                      <a:srgbClr val="005C8A"/>
                    </a:gs>
                  </a:gsLst>
                  <a:lin ang="5400000" scaled="1"/>
                </a:gradFill>
                <a:effectLst/>
                <a:uLnTx/>
                <a:uFillTx/>
                <a:latin typeface="Arial" panose="020B0604020202020204"/>
                <a:ea typeface="+mn-ea"/>
                <a:cs typeface="+mn-cs"/>
              </a:rPr>
              <a:t>Performance</a:t>
            </a:r>
          </a:p>
        </p:txBody>
      </p:sp>
      <p:sp>
        <p:nvSpPr>
          <p:cNvPr id="155" name="TextBox 154">
            <a:extLst>
              <a:ext uri="{FF2B5EF4-FFF2-40B4-BE49-F238E27FC236}">
                <a16:creationId xmlns:a16="http://schemas.microsoft.com/office/drawing/2014/main" id="{7EBF1084-F8B6-8BCC-FA25-02012AF05685}"/>
              </a:ext>
            </a:extLst>
          </p:cNvPr>
          <p:cNvSpPr txBox="1"/>
          <p:nvPr/>
        </p:nvSpPr>
        <p:spPr>
          <a:xfrm>
            <a:off x="4957379" y="5020630"/>
            <a:ext cx="2042496" cy="435825"/>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0">
                      <a:srgbClr val="61A60E"/>
                    </a:gs>
                    <a:gs pos="100000">
                      <a:srgbClr val="005C8A"/>
                    </a:gs>
                  </a:gsLst>
                  <a:lin ang="5400000" scaled="1"/>
                </a:gradFill>
                <a:effectLst/>
                <a:uLnTx/>
                <a:uFillTx/>
                <a:latin typeface="Arial" panose="020B0604020202020204"/>
                <a:ea typeface="+mn-ea"/>
                <a:cs typeface="+mn-cs"/>
              </a:rPr>
              <a:t>Efficiency</a:t>
            </a:r>
          </a:p>
        </p:txBody>
      </p:sp>
      <p:sp>
        <p:nvSpPr>
          <p:cNvPr id="156" name="TextBox 155">
            <a:extLst>
              <a:ext uri="{FF2B5EF4-FFF2-40B4-BE49-F238E27FC236}">
                <a16:creationId xmlns:a16="http://schemas.microsoft.com/office/drawing/2014/main" id="{76B092FA-AAF6-2831-B8C8-5476A2C6CD41}"/>
              </a:ext>
            </a:extLst>
          </p:cNvPr>
          <p:cNvSpPr txBox="1"/>
          <p:nvPr/>
        </p:nvSpPr>
        <p:spPr>
          <a:xfrm>
            <a:off x="8596383" y="5020630"/>
            <a:ext cx="3027898" cy="435825"/>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0">
                      <a:srgbClr val="61A60E"/>
                    </a:gs>
                    <a:gs pos="100000">
                      <a:srgbClr val="005C8A"/>
                    </a:gs>
                  </a:gsLst>
                  <a:lin ang="5400000" scaled="1"/>
                </a:gradFill>
                <a:effectLst/>
                <a:uLnTx/>
                <a:uFillTx/>
                <a:latin typeface="Arial" panose="020B0604020202020204"/>
                <a:ea typeface="+mn-ea"/>
                <a:cs typeface="+mn-cs"/>
              </a:rPr>
              <a:t>New Capabilities</a:t>
            </a:r>
          </a:p>
        </p:txBody>
      </p:sp>
      <p:cxnSp>
        <p:nvCxnSpPr>
          <p:cNvPr id="158" name="Straight Connector 157">
            <a:extLst>
              <a:ext uri="{FF2B5EF4-FFF2-40B4-BE49-F238E27FC236}">
                <a16:creationId xmlns:a16="http://schemas.microsoft.com/office/drawing/2014/main" id="{3866B897-87B4-A683-8961-95B90578038B}"/>
              </a:ext>
            </a:extLst>
          </p:cNvPr>
          <p:cNvCxnSpPr>
            <a:cxnSpLocks/>
          </p:cNvCxnSpPr>
          <p:nvPr/>
        </p:nvCxnSpPr>
        <p:spPr bwMode="gray">
          <a:xfrm>
            <a:off x="1066708" y="5537488"/>
            <a:ext cx="2042496" cy="0"/>
          </a:xfrm>
          <a:prstGeom prst="line">
            <a:avLst/>
          </a:prstGeom>
          <a:ln w="381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682E7A9-8B6F-D841-1D2A-BEA53CEA0159}"/>
              </a:ext>
            </a:extLst>
          </p:cNvPr>
          <p:cNvCxnSpPr>
            <a:cxnSpLocks/>
          </p:cNvCxnSpPr>
          <p:nvPr/>
        </p:nvCxnSpPr>
        <p:spPr bwMode="gray">
          <a:xfrm>
            <a:off x="4649452" y="5537488"/>
            <a:ext cx="2658350" cy="0"/>
          </a:xfrm>
          <a:prstGeom prst="line">
            <a:avLst/>
          </a:prstGeom>
          <a:ln w="381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0AE1A0E5-3E6D-E9E7-4A68-B58B3623DF1F}"/>
              </a:ext>
            </a:extLst>
          </p:cNvPr>
          <p:cNvCxnSpPr>
            <a:cxnSpLocks/>
          </p:cNvCxnSpPr>
          <p:nvPr/>
        </p:nvCxnSpPr>
        <p:spPr bwMode="gray">
          <a:xfrm>
            <a:off x="8837349" y="5537488"/>
            <a:ext cx="2544302" cy="0"/>
          </a:xfrm>
          <a:prstGeom prst="line">
            <a:avLst/>
          </a:prstGeom>
          <a:ln w="381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8F09A1FC-E0E3-DFF1-2EA7-E6A4F5B81402}"/>
              </a:ext>
            </a:extLst>
          </p:cNvPr>
          <p:cNvSpPr txBox="1"/>
          <p:nvPr/>
        </p:nvSpPr>
        <p:spPr>
          <a:xfrm>
            <a:off x="8837349" y="5584296"/>
            <a:ext cx="2544302" cy="530979"/>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vSAN Protection and Recovery</a:t>
            </a:r>
            <a:b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b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vSAN storage clusters, etc.</a:t>
            </a:r>
          </a:p>
        </p:txBody>
      </p:sp>
      <p:sp>
        <p:nvSpPr>
          <p:cNvPr id="165" name="TextBox 164">
            <a:extLst>
              <a:ext uri="{FF2B5EF4-FFF2-40B4-BE49-F238E27FC236}">
                <a16:creationId xmlns:a16="http://schemas.microsoft.com/office/drawing/2014/main" id="{CC5E8B13-37C9-5423-135D-6BC8933A1B33}"/>
              </a:ext>
            </a:extLst>
          </p:cNvPr>
          <p:cNvSpPr txBox="1"/>
          <p:nvPr/>
        </p:nvSpPr>
        <p:spPr>
          <a:xfrm>
            <a:off x="4541627" y="5584296"/>
            <a:ext cx="2874000" cy="534313"/>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More capacity on less hardware</a:t>
            </a:r>
          </a:p>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Fewer hosts to process data</a:t>
            </a:r>
          </a:p>
        </p:txBody>
      </p:sp>
      <p:sp>
        <p:nvSpPr>
          <p:cNvPr id="166" name="TextBox 165">
            <a:extLst>
              <a:ext uri="{FF2B5EF4-FFF2-40B4-BE49-F238E27FC236}">
                <a16:creationId xmlns:a16="http://schemas.microsoft.com/office/drawing/2014/main" id="{1DF71C15-4C69-6E46-63CF-4A9557E4FA5F}"/>
              </a:ext>
            </a:extLst>
          </p:cNvPr>
          <p:cNvSpPr txBox="1"/>
          <p:nvPr/>
        </p:nvSpPr>
        <p:spPr>
          <a:xfrm>
            <a:off x="815041" y="5584296"/>
            <a:ext cx="2545830" cy="534313"/>
          </a:xfrm>
          <a:prstGeom prst="rect">
            <a:avLst/>
          </a:prstGeom>
          <a:noFill/>
        </p:spPr>
        <p:txBody>
          <a:bodyPr wrap="square" lIns="0" tIns="0" rIns="0" bIns="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More data on less hardware</a:t>
            </a:r>
          </a:p>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Fewer hosts to process data</a:t>
            </a:r>
          </a:p>
        </p:txBody>
      </p:sp>
    </p:spTree>
    <p:extLst>
      <p:ext uri="{BB962C8B-B14F-4D97-AF65-F5344CB8AC3E}">
        <p14:creationId xmlns:p14="http://schemas.microsoft.com/office/powerpoint/2010/main" val="3406870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75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1250"/>
                            </p:stCondLst>
                            <p:childTnLst>
                              <p:par>
                                <p:cTn id="9" presetID="10" presetClass="entr" presetSubtype="0"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fade">
                                      <p:cBhvr>
                                        <p:cTn id="11" dur="500"/>
                                        <p:tgtEl>
                                          <p:spTgt spid="44"/>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45"/>
                                        </p:tgtEl>
                                        <p:attrNameLst>
                                          <p:attrName>style.visibility</p:attrName>
                                        </p:attrNameLst>
                                      </p:cBhvr>
                                      <p:to>
                                        <p:strVal val="visible"/>
                                      </p:to>
                                    </p:set>
                                    <p:animEffect transition="in" filter="fade">
                                      <p:cBhvr>
                                        <p:cTn id="14" dur="500"/>
                                        <p:tgtEl>
                                          <p:spTgt spid="45"/>
                                        </p:tgtEl>
                                      </p:cBhvr>
                                    </p:animEffect>
                                  </p:childTnLst>
                                </p:cTn>
                              </p:par>
                              <p:par>
                                <p:cTn id="15" presetID="10" presetClass="entr" presetSubtype="0" fill="hold" nodeType="with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par>
                                <p:cTn id="18" presetID="10" presetClass="entr" presetSubtype="0" fill="hold" nodeType="with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500"/>
                                        <p:tgtEl>
                                          <p:spTgt spid="47"/>
                                        </p:tgtEl>
                                      </p:cBhvr>
                                    </p:animEffect>
                                  </p:childTnLst>
                                </p:cTn>
                              </p:par>
                              <p:par>
                                <p:cTn id="21" presetID="10"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fade">
                                      <p:cBhvr>
                                        <p:cTn id="23" dur="500"/>
                                        <p:tgtEl>
                                          <p:spTgt spid="48"/>
                                        </p:tgtEl>
                                      </p:cBhvr>
                                    </p:animEffect>
                                  </p:childTnLst>
                                </p:cTn>
                              </p:par>
                              <p:par>
                                <p:cTn id="24" presetID="10" presetClass="entr" presetSubtype="0" fill="hold" nodeType="with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fade">
                                      <p:cBhvr>
                                        <p:cTn id="26" dur="500"/>
                                        <p:tgtEl>
                                          <p:spTgt spid="49"/>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500"/>
                                        <p:tgtEl>
                                          <p:spTgt spid="51"/>
                                        </p:tgtEl>
                                      </p:cBhvr>
                                    </p:animEffect>
                                  </p:childTnLst>
                                </p:cTn>
                              </p:par>
                              <p:par>
                                <p:cTn id="33" presetID="10" presetClass="entr" presetSubtype="0" fill="hold" nodeType="withEffect">
                                  <p:stCondLst>
                                    <p:cond delay="0"/>
                                  </p:stCondLst>
                                  <p:childTnLst>
                                    <p:set>
                                      <p:cBhvr>
                                        <p:cTn id="34" dur="1" fill="hold">
                                          <p:stCondLst>
                                            <p:cond delay="0"/>
                                          </p:stCondLst>
                                        </p:cTn>
                                        <p:tgtEl>
                                          <p:spTgt spid="52"/>
                                        </p:tgtEl>
                                        <p:attrNameLst>
                                          <p:attrName>style.visibility</p:attrName>
                                        </p:attrNameLst>
                                      </p:cBhvr>
                                      <p:to>
                                        <p:strVal val="visible"/>
                                      </p:to>
                                    </p:set>
                                    <p:animEffect transition="in" filter="fade">
                                      <p:cBhvr>
                                        <p:cTn id="35" dur="500"/>
                                        <p:tgtEl>
                                          <p:spTgt spid="52"/>
                                        </p:tgtEl>
                                      </p:cBhvr>
                                    </p:animEffect>
                                  </p:childTnLst>
                                </p:cTn>
                              </p:par>
                              <p:par>
                                <p:cTn id="36" presetID="10" presetClass="entr" presetSubtype="0" fill="hold" nodeType="withEffect">
                                  <p:stCondLst>
                                    <p:cond delay="0"/>
                                  </p:stCondLst>
                                  <p:childTnLst>
                                    <p:set>
                                      <p:cBhvr>
                                        <p:cTn id="37" dur="1" fill="hold">
                                          <p:stCondLst>
                                            <p:cond delay="0"/>
                                          </p:stCondLst>
                                        </p:cTn>
                                        <p:tgtEl>
                                          <p:spTgt spid="53"/>
                                        </p:tgtEl>
                                        <p:attrNameLst>
                                          <p:attrName>style.visibility</p:attrName>
                                        </p:attrNameLst>
                                      </p:cBhvr>
                                      <p:to>
                                        <p:strVal val="visible"/>
                                      </p:to>
                                    </p:set>
                                    <p:animEffect transition="in" filter="fade">
                                      <p:cBhvr>
                                        <p:cTn id="38" dur="500"/>
                                        <p:tgtEl>
                                          <p:spTgt spid="53"/>
                                        </p:tgtEl>
                                      </p:cBhvr>
                                    </p:animEffect>
                                  </p:childTnLst>
                                </p:cTn>
                              </p:par>
                              <p:par>
                                <p:cTn id="39" presetID="10" presetClass="entr" presetSubtype="0" fill="hold" nodeType="withEffect">
                                  <p:stCondLst>
                                    <p:cond delay="0"/>
                                  </p:stCondLst>
                                  <p:childTnLst>
                                    <p:set>
                                      <p:cBhvr>
                                        <p:cTn id="40" dur="1" fill="hold">
                                          <p:stCondLst>
                                            <p:cond delay="0"/>
                                          </p:stCondLst>
                                        </p:cTn>
                                        <p:tgtEl>
                                          <p:spTgt spid="54"/>
                                        </p:tgtEl>
                                        <p:attrNameLst>
                                          <p:attrName>style.visibility</p:attrName>
                                        </p:attrNameLst>
                                      </p:cBhvr>
                                      <p:to>
                                        <p:strVal val="visible"/>
                                      </p:to>
                                    </p:set>
                                    <p:animEffect transition="in" filter="fade">
                                      <p:cBhvr>
                                        <p:cTn id="41" dur="500"/>
                                        <p:tgtEl>
                                          <p:spTgt spid="5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5"/>
                                        </p:tgtEl>
                                        <p:attrNameLst>
                                          <p:attrName>style.visibility</p:attrName>
                                        </p:attrNameLst>
                                      </p:cBhvr>
                                      <p:to>
                                        <p:strVal val="visible"/>
                                      </p:to>
                                    </p:set>
                                    <p:animEffect transition="in" filter="fade">
                                      <p:cBhvr>
                                        <p:cTn id="44" dur="500"/>
                                        <p:tgtEl>
                                          <p:spTgt spid="55"/>
                                        </p:tgtEl>
                                      </p:cBhvr>
                                    </p:animEffect>
                                  </p:childTnLst>
                                </p:cTn>
                              </p:par>
                              <p:par>
                                <p:cTn id="45" presetID="10" presetClass="entr" presetSubtype="0" fill="hold" nodeType="with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fade">
                                      <p:cBhvr>
                                        <p:cTn id="47" dur="500"/>
                                        <p:tgtEl>
                                          <p:spTgt spid="56"/>
                                        </p:tgtEl>
                                      </p:cBhvr>
                                    </p:animEffect>
                                  </p:childTnLst>
                                </p:cTn>
                              </p:par>
                              <p:par>
                                <p:cTn id="48" presetID="10" presetClass="entr" presetSubtype="0" fill="hold" nodeType="withEffect">
                                  <p:stCondLst>
                                    <p:cond delay="0"/>
                                  </p:stCondLst>
                                  <p:childTnLst>
                                    <p:set>
                                      <p:cBhvr>
                                        <p:cTn id="49" dur="1" fill="hold">
                                          <p:stCondLst>
                                            <p:cond delay="0"/>
                                          </p:stCondLst>
                                        </p:cTn>
                                        <p:tgtEl>
                                          <p:spTgt spid="57"/>
                                        </p:tgtEl>
                                        <p:attrNameLst>
                                          <p:attrName>style.visibility</p:attrName>
                                        </p:attrNameLst>
                                      </p:cBhvr>
                                      <p:to>
                                        <p:strVal val="visible"/>
                                      </p:to>
                                    </p:set>
                                    <p:animEffect transition="in" filter="fade">
                                      <p:cBhvr>
                                        <p:cTn id="50" dur="500"/>
                                        <p:tgtEl>
                                          <p:spTgt spid="57"/>
                                        </p:tgtEl>
                                      </p:cBhvr>
                                    </p:animEffect>
                                  </p:childTnLst>
                                </p:cTn>
                              </p:par>
                              <p:par>
                                <p:cTn id="51" presetID="10" presetClass="entr" presetSubtype="0" fill="hold" nodeType="with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fade">
                                      <p:cBhvr>
                                        <p:cTn id="53" dur="500"/>
                                        <p:tgtEl>
                                          <p:spTgt spid="58"/>
                                        </p:tgtEl>
                                      </p:cBhvr>
                                    </p:animEffect>
                                  </p:childTnLst>
                                </p:cTn>
                              </p:par>
                              <p:par>
                                <p:cTn id="54" presetID="10" presetClass="entr" presetSubtype="0" fill="hold" nodeType="withEffect">
                                  <p:stCondLst>
                                    <p:cond delay="0"/>
                                  </p:stCondLst>
                                  <p:childTnLst>
                                    <p:set>
                                      <p:cBhvr>
                                        <p:cTn id="55" dur="1" fill="hold">
                                          <p:stCondLst>
                                            <p:cond delay="0"/>
                                          </p:stCondLst>
                                        </p:cTn>
                                        <p:tgtEl>
                                          <p:spTgt spid="59"/>
                                        </p:tgtEl>
                                        <p:attrNameLst>
                                          <p:attrName>style.visibility</p:attrName>
                                        </p:attrNameLst>
                                      </p:cBhvr>
                                      <p:to>
                                        <p:strVal val="visible"/>
                                      </p:to>
                                    </p:set>
                                    <p:animEffect transition="in" filter="fade">
                                      <p:cBhvr>
                                        <p:cTn id="56" dur="500"/>
                                        <p:tgtEl>
                                          <p:spTgt spid="59"/>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60"/>
                                        </p:tgtEl>
                                        <p:attrNameLst>
                                          <p:attrName>style.visibility</p:attrName>
                                        </p:attrNameLst>
                                      </p:cBhvr>
                                      <p:to>
                                        <p:strVal val="visible"/>
                                      </p:to>
                                    </p:set>
                                    <p:animEffect transition="in" filter="fade">
                                      <p:cBhvr>
                                        <p:cTn id="59" dur="500"/>
                                        <p:tgtEl>
                                          <p:spTgt spid="6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Effect transition="in" filter="fade">
                                      <p:cBhvr>
                                        <p:cTn id="62" dur="500"/>
                                        <p:tgtEl>
                                          <p:spTgt spid="61"/>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2"/>
                                        </p:tgtEl>
                                        <p:attrNameLst>
                                          <p:attrName>style.visibility</p:attrName>
                                        </p:attrNameLst>
                                      </p:cBhvr>
                                      <p:to>
                                        <p:strVal val="visible"/>
                                      </p:to>
                                    </p:set>
                                    <p:animEffect transition="in" filter="fade">
                                      <p:cBhvr>
                                        <p:cTn id="65" dur="500"/>
                                        <p:tgtEl>
                                          <p:spTgt spid="62"/>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childTnLst>
                          </p:cTn>
                        </p:par>
                        <p:par>
                          <p:cTn id="69" fill="hold">
                            <p:stCondLst>
                              <p:cond delay="1750"/>
                            </p:stCondLst>
                            <p:childTnLst>
                              <p:par>
                                <p:cTn id="70" presetID="10" presetClass="entr" presetSubtype="0" fill="hold" grpId="0" nodeType="afterEffect">
                                  <p:stCondLst>
                                    <p:cond delay="0"/>
                                  </p:stCondLst>
                                  <p:childTnLst>
                                    <p:set>
                                      <p:cBhvr>
                                        <p:cTn id="71" dur="1" fill="hold">
                                          <p:stCondLst>
                                            <p:cond delay="0"/>
                                          </p:stCondLst>
                                        </p:cTn>
                                        <p:tgtEl>
                                          <p:spTgt spid="43"/>
                                        </p:tgtEl>
                                        <p:attrNameLst>
                                          <p:attrName>style.visibility</p:attrName>
                                        </p:attrNameLst>
                                      </p:cBhvr>
                                      <p:to>
                                        <p:strVal val="visible"/>
                                      </p:to>
                                    </p:set>
                                    <p:animEffect transition="in" filter="fade">
                                      <p:cBhvr>
                                        <p:cTn id="72" dur="500"/>
                                        <p:tgtEl>
                                          <p:spTgt spid="43"/>
                                        </p:tgtEl>
                                      </p:cBhvr>
                                    </p:animEffect>
                                  </p:childTnLst>
                                </p:cTn>
                              </p:par>
                            </p:childTnLst>
                          </p:cTn>
                        </p:par>
                        <p:par>
                          <p:cTn id="73" fill="hold">
                            <p:stCondLst>
                              <p:cond delay="2250"/>
                            </p:stCondLst>
                            <p:childTnLst>
                              <p:par>
                                <p:cTn id="74" presetID="10" presetClass="entr" presetSubtype="0" fill="hold" grpId="0" nodeType="afterEffect">
                                  <p:stCondLst>
                                    <p:cond delay="0"/>
                                  </p:stCondLst>
                                  <p:childTnLst>
                                    <p:set>
                                      <p:cBhvr>
                                        <p:cTn id="75" dur="1" fill="hold">
                                          <p:stCondLst>
                                            <p:cond delay="0"/>
                                          </p:stCondLst>
                                        </p:cTn>
                                        <p:tgtEl>
                                          <p:spTgt spid="36"/>
                                        </p:tgtEl>
                                        <p:attrNameLst>
                                          <p:attrName>style.visibility</p:attrName>
                                        </p:attrNameLst>
                                      </p:cBhvr>
                                      <p:to>
                                        <p:strVal val="visible"/>
                                      </p:to>
                                    </p:set>
                                    <p:animEffect transition="in" filter="fade">
                                      <p:cBhvr>
                                        <p:cTn id="76" dur="500"/>
                                        <p:tgtEl>
                                          <p:spTgt spid="36"/>
                                        </p:tgtEl>
                                      </p:cBhvr>
                                    </p:animEffect>
                                  </p:childTnLst>
                                </p:cTn>
                              </p:par>
                            </p:childTnLst>
                          </p:cTn>
                        </p:par>
                        <p:par>
                          <p:cTn id="77" fill="hold">
                            <p:stCondLst>
                              <p:cond delay="2750"/>
                            </p:stCondLst>
                            <p:childTnLst>
                              <p:par>
                                <p:cTn id="78" presetID="16" presetClass="entr" presetSubtype="37" fill="hold" nodeType="afterEffect">
                                  <p:stCondLst>
                                    <p:cond delay="0"/>
                                  </p:stCondLst>
                                  <p:childTnLst>
                                    <p:set>
                                      <p:cBhvr>
                                        <p:cTn id="79" dur="1" fill="hold">
                                          <p:stCondLst>
                                            <p:cond delay="0"/>
                                          </p:stCondLst>
                                        </p:cTn>
                                        <p:tgtEl>
                                          <p:spTgt spid="37"/>
                                        </p:tgtEl>
                                        <p:attrNameLst>
                                          <p:attrName>style.visibility</p:attrName>
                                        </p:attrNameLst>
                                      </p:cBhvr>
                                      <p:to>
                                        <p:strVal val="visible"/>
                                      </p:to>
                                    </p:set>
                                    <p:animEffect transition="in" filter="barn(outVertical)">
                                      <p:cBhvr>
                                        <p:cTn id="80" dur="500"/>
                                        <p:tgtEl>
                                          <p:spTgt spid="37"/>
                                        </p:tgtEl>
                                      </p:cBhvr>
                                    </p:animEffect>
                                  </p:childTnLst>
                                </p:cTn>
                              </p:par>
                            </p:childTnLst>
                          </p:cTn>
                        </p:par>
                        <p:par>
                          <p:cTn id="81" fill="hold">
                            <p:stCondLst>
                              <p:cond delay="3250"/>
                            </p:stCondLst>
                            <p:childTnLst>
                              <p:par>
                                <p:cTn id="82" presetID="10" presetClass="entr" presetSubtype="0" fill="hold" nodeType="afterEffect">
                                  <p:stCondLst>
                                    <p:cond delay="500"/>
                                  </p:stCondLst>
                                  <p:childTnLst>
                                    <p:set>
                                      <p:cBhvr>
                                        <p:cTn id="83" dur="1" fill="hold">
                                          <p:stCondLst>
                                            <p:cond delay="0"/>
                                          </p:stCondLst>
                                        </p:cTn>
                                        <p:tgtEl>
                                          <p:spTgt spid="92"/>
                                        </p:tgtEl>
                                        <p:attrNameLst>
                                          <p:attrName>style.visibility</p:attrName>
                                        </p:attrNameLst>
                                      </p:cBhvr>
                                      <p:to>
                                        <p:strVal val="visible"/>
                                      </p:to>
                                    </p:set>
                                    <p:animEffect transition="in" filter="fade">
                                      <p:cBhvr>
                                        <p:cTn id="84" dur="500"/>
                                        <p:tgtEl>
                                          <p:spTgt spid="92"/>
                                        </p:tgtEl>
                                      </p:cBhvr>
                                    </p:animEffect>
                                  </p:childTnLst>
                                </p:cTn>
                              </p:par>
                              <p:par>
                                <p:cTn id="85" presetID="10" presetClass="entr" presetSubtype="0" fill="hold" grpId="0" nodeType="withEffect">
                                  <p:stCondLst>
                                    <p:cond delay="500"/>
                                  </p:stCondLst>
                                  <p:childTnLst>
                                    <p:set>
                                      <p:cBhvr>
                                        <p:cTn id="86" dur="1" fill="hold">
                                          <p:stCondLst>
                                            <p:cond delay="0"/>
                                          </p:stCondLst>
                                        </p:cTn>
                                        <p:tgtEl>
                                          <p:spTgt spid="79"/>
                                        </p:tgtEl>
                                        <p:attrNameLst>
                                          <p:attrName>style.visibility</p:attrName>
                                        </p:attrNameLst>
                                      </p:cBhvr>
                                      <p:to>
                                        <p:strVal val="visible"/>
                                      </p:to>
                                    </p:set>
                                    <p:animEffect transition="in" filter="fade">
                                      <p:cBhvr>
                                        <p:cTn id="87" dur="500"/>
                                        <p:tgtEl>
                                          <p:spTgt spid="79"/>
                                        </p:tgtEl>
                                      </p:cBhvr>
                                    </p:animEffect>
                                  </p:childTnLst>
                                </p:cTn>
                              </p:par>
                            </p:childTnLst>
                          </p:cTn>
                        </p:par>
                        <p:par>
                          <p:cTn id="88" fill="hold">
                            <p:stCondLst>
                              <p:cond delay="4250"/>
                            </p:stCondLst>
                            <p:childTnLst>
                              <p:par>
                                <p:cTn id="89" presetID="10" presetClass="entr" presetSubtype="0" fill="hold" nodeType="afterEffect">
                                  <p:stCondLst>
                                    <p:cond delay="500"/>
                                  </p:stCondLst>
                                  <p:childTnLst>
                                    <p:set>
                                      <p:cBhvr>
                                        <p:cTn id="90" dur="1" fill="hold">
                                          <p:stCondLst>
                                            <p:cond delay="0"/>
                                          </p:stCondLst>
                                        </p:cTn>
                                        <p:tgtEl>
                                          <p:spTgt spid="72"/>
                                        </p:tgtEl>
                                        <p:attrNameLst>
                                          <p:attrName>style.visibility</p:attrName>
                                        </p:attrNameLst>
                                      </p:cBhvr>
                                      <p:to>
                                        <p:strVal val="visible"/>
                                      </p:to>
                                    </p:set>
                                    <p:animEffect transition="in" filter="fade">
                                      <p:cBhvr>
                                        <p:cTn id="91" dur="500"/>
                                        <p:tgtEl>
                                          <p:spTgt spid="72"/>
                                        </p:tgtEl>
                                      </p:cBhvr>
                                    </p:animEffect>
                                  </p:childTnLst>
                                </p:cTn>
                              </p:par>
                              <p:par>
                                <p:cTn id="92" presetID="10" presetClass="entr" presetSubtype="0" fill="hold" grpId="0" nodeType="withEffect">
                                  <p:stCondLst>
                                    <p:cond delay="500"/>
                                  </p:stCondLst>
                                  <p:childTnLst>
                                    <p:set>
                                      <p:cBhvr>
                                        <p:cTn id="93" dur="1" fill="hold">
                                          <p:stCondLst>
                                            <p:cond delay="0"/>
                                          </p:stCondLst>
                                        </p:cTn>
                                        <p:tgtEl>
                                          <p:spTgt spid="6"/>
                                        </p:tgtEl>
                                        <p:attrNameLst>
                                          <p:attrName>style.visibility</p:attrName>
                                        </p:attrNameLst>
                                      </p:cBhvr>
                                      <p:to>
                                        <p:strVal val="visible"/>
                                      </p:to>
                                    </p:set>
                                    <p:animEffect transition="in" filter="fade">
                                      <p:cBhvr>
                                        <p:cTn id="94" dur="500"/>
                                        <p:tgtEl>
                                          <p:spTgt spid="6"/>
                                        </p:tgtEl>
                                      </p:cBhvr>
                                    </p:animEffect>
                                  </p:childTnLst>
                                </p:cTn>
                              </p:par>
                            </p:childTnLst>
                          </p:cTn>
                        </p:par>
                        <p:par>
                          <p:cTn id="95" fill="hold">
                            <p:stCondLst>
                              <p:cond delay="5250"/>
                            </p:stCondLst>
                            <p:childTnLst>
                              <p:par>
                                <p:cTn id="96" presetID="10" presetClass="entr" presetSubtype="0" fill="hold" nodeType="afterEffect">
                                  <p:stCondLst>
                                    <p:cond delay="500"/>
                                  </p:stCondLst>
                                  <p:childTnLst>
                                    <p:set>
                                      <p:cBhvr>
                                        <p:cTn id="97" dur="1" fill="hold">
                                          <p:stCondLst>
                                            <p:cond delay="0"/>
                                          </p:stCondLst>
                                        </p:cTn>
                                        <p:tgtEl>
                                          <p:spTgt spid="80"/>
                                        </p:tgtEl>
                                        <p:attrNameLst>
                                          <p:attrName>style.visibility</p:attrName>
                                        </p:attrNameLst>
                                      </p:cBhvr>
                                      <p:to>
                                        <p:strVal val="visible"/>
                                      </p:to>
                                    </p:set>
                                    <p:animEffect transition="in" filter="fade">
                                      <p:cBhvr>
                                        <p:cTn id="98" dur="500"/>
                                        <p:tgtEl>
                                          <p:spTgt spid="80"/>
                                        </p:tgtEl>
                                      </p:cBhvr>
                                    </p:animEffect>
                                  </p:childTnLst>
                                </p:cTn>
                              </p:par>
                              <p:par>
                                <p:cTn id="99" presetID="10" presetClass="entr" presetSubtype="0" fill="hold" grpId="0" nodeType="withEffect">
                                  <p:stCondLst>
                                    <p:cond delay="500"/>
                                  </p:stCondLst>
                                  <p:childTnLst>
                                    <p:set>
                                      <p:cBhvr>
                                        <p:cTn id="100" dur="1" fill="hold">
                                          <p:stCondLst>
                                            <p:cond delay="0"/>
                                          </p:stCondLst>
                                        </p:cTn>
                                        <p:tgtEl>
                                          <p:spTgt spid="78"/>
                                        </p:tgtEl>
                                        <p:attrNameLst>
                                          <p:attrName>style.visibility</p:attrName>
                                        </p:attrNameLst>
                                      </p:cBhvr>
                                      <p:to>
                                        <p:strVal val="visible"/>
                                      </p:to>
                                    </p:set>
                                    <p:animEffect transition="in" filter="fade">
                                      <p:cBhvr>
                                        <p:cTn id="101" dur="500"/>
                                        <p:tgtEl>
                                          <p:spTgt spid="78"/>
                                        </p:tgtEl>
                                      </p:cBhvr>
                                    </p:animEffect>
                                  </p:childTnLst>
                                </p:cTn>
                              </p:par>
                            </p:childTnLst>
                          </p:cTn>
                        </p:par>
                        <p:par>
                          <p:cTn id="102" fill="hold">
                            <p:stCondLst>
                              <p:cond delay="6250"/>
                            </p:stCondLst>
                            <p:childTnLst>
                              <p:par>
                                <p:cTn id="103" presetID="10" presetClass="entr" presetSubtype="0" fill="hold" grpId="0" nodeType="afterEffect">
                                  <p:stCondLst>
                                    <p:cond delay="500"/>
                                  </p:stCondLst>
                                  <p:childTnLst>
                                    <p:set>
                                      <p:cBhvr>
                                        <p:cTn id="104" dur="1" fill="hold">
                                          <p:stCondLst>
                                            <p:cond delay="0"/>
                                          </p:stCondLst>
                                        </p:cTn>
                                        <p:tgtEl>
                                          <p:spTgt spid="133"/>
                                        </p:tgtEl>
                                        <p:attrNameLst>
                                          <p:attrName>style.visibility</p:attrName>
                                        </p:attrNameLst>
                                      </p:cBhvr>
                                      <p:to>
                                        <p:strVal val="visible"/>
                                      </p:to>
                                    </p:set>
                                    <p:animEffect transition="in" filter="fade">
                                      <p:cBhvr>
                                        <p:cTn id="105" dur="500"/>
                                        <p:tgtEl>
                                          <p:spTgt spid="133"/>
                                        </p:tgtEl>
                                      </p:cBhvr>
                                    </p:animEffect>
                                  </p:childTnLst>
                                </p:cTn>
                              </p:par>
                              <p:par>
                                <p:cTn id="106" presetID="10" presetClass="entr" presetSubtype="0" fill="hold" grpId="0" nodeType="withEffect">
                                  <p:stCondLst>
                                    <p:cond delay="500"/>
                                  </p:stCondLst>
                                  <p:childTnLst>
                                    <p:set>
                                      <p:cBhvr>
                                        <p:cTn id="107" dur="1" fill="hold">
                                          <p:stCondLst>
                                            <p:cond delay="0"/>
                                          </p:stCondLst>
                                        </p:cTn>
                                        <p:tgtEl>
                                          <p:spTgt spid="132"/>
                                        </p:tgtEl>
                                        <p:attrNameLst>
                                          <p:attrName>style.visibility</p:attrName>
                                        </p:attrNameLst>
                                      </p:cBhvr>
                                      <p:to>
                                        <p:strVal val="visible"/>
                                      </p:to>
                                    </p:set>
                                    <p:animEffect transition="in" filter="fade">
                                      <p:cBhvr>
                                        <p:cTn id="108" dur="500"/>
                                        <p:tgtEl>
                                          <p:spTgt spid="132"/>
                                        </p:tgtEl>
                                      </p:cBhvr>
                                    </p:animEffect>
                                  </p:childTnLst>
                                </p:cTn>
                              </p:par>
                            </p:childTnLst>
                          </p:cTn>
                        </p:par>
                        <p:par>
                          <p:cTn id="109" fill="hold">
                            <p:stCondLst>
                              <p:cond delay="7250"/>
                            </p:stCondLst>
                            <p:childTnLst>
                              <p:par>
                                <p:cTn id="110" presetID="26" presetClass="emph" presetSubtype="0" fill="hold" nodeType="afterEffect">
                                  <p:stCondLst>
                                    <p:cond delay="500"/>
                                  </p:stCondLst>
                                  <p:childTnLst>
                                    <p:animEffect transition="out" filter="fade">
                                      <p:cBhvr>
                                        <p:cTn id="111" dur="500" tmFilter="0, 0; .2, .5; .8, .5; 1, 0"/>
                                        <p:tgtEl>
                                          <p:spTgt spid="37"/>
                                        </p:tgtEl>
                                      </p:cBhvr>
                                    </p:animEffect>
                                    <p:animScale>
                                      <p:cBhvr>
                                        <p:cTn id="112" dur="250" autoRev="1" fill="hold"/>
                                        <p:tgtEl>
                                          <p:spTgt spid="37"/>
                                        </p:tgtEl>
                                      </p:cBhvr>
                                      <p:by x="105000" y="105000"/>
                                    </p:animScale>
                                  </p:childTnLst>
                                </p:cTn>
                              </p:par>
                            </p:childTnLst>
                          </p:cTn>
                        </p:par>
                        <p:par>
                          <p:cTn id="113" fill="hold">
                            <p:stCondLst>
                              <p:cond delay="8250"/>
                            </p:stCondLst>
                            <p:childTnLst>
                              <p:par>
                                <p:cTn id="114" presetID="10" presetClass="entr" presetSubtype="0" fill="hold" grpId="0" nodeType="afterEffect">
                                  <p:stCondLst>
                                    <p:cond delay="0"/>
                                  </p:stCondLst>
                                  <p:childTnLst>
                                    <p:set>
                                      <p:cBhvr>
                                        <p:cTn id="115" dur="1" fill="hold">
                                          <p:stCondLst>
                                            <p:cond delay="0"/>
                                          </p:stCondLst>
                                        </p:cTn>
                                        <p:tgtEl>
                                          <p:spTgt spid="154"/>
                                        </p:tgtEl>
                                        <p:attrNameLst>
                                          <p:attrName>style.visibility</p:attrName>
                                        </p:attrNameLst>
                                      </p:cBhvr>
                                      <p:to>
                                        <p:strVal val="visible"/>
                                      </p:to>
                                    </p:set>
                                    <p:animEffect transition="in" filter="fade">
                                      <p:cBhvr>
                                        <p:cTn id="116" dur="500"/>
                                        <p:tgtEl>
                                          <p:spTgt spid="154"/>
                                        </p:tgtEl>
                                      </p:cBhvr>
                                    </p:animEffect>
                                  </p:childTnLst>
                                </p:cTn>
                              </p:par>
                              <p:par>
                                <p:cTn id="117" presetID="16" presetClass="entr" presetSubtype="37" fill="hold" nodeType="withEffect">
                                  <p:stCondLst>
                                    <p:cond delay="0"/>
                                  </p:stCondLst>
                                  <p:childTnLst>
                                    <p:set>
                                      <p:cBhvr>
                                        <p:cTn id="118" dur="1" fill="hold">
                                          <p:stCondLst>
                                            <p:cond delay="0"/>
                                          </p:stCondLst>
                                        </p:cTn>
                                        <p:tgtEl>
                                          <p:spTgt spid="158"/>
                                        </p:tgtEl>
                                        <p:attrNameLst>
                                          <p:attrName>style.visibility</p:attrName>
                                        </p:attrNameLst>
                                      </p:cBhvr>
                                      <p:to>
                                        <p:strVal val="visible"/>
                                      </p:to>
                                    </p:set>
                                    <p:animEffect transition="in" filter="barn(outVertical)">
                                      <p:cBhvr>
                                        <p:cTn id="119" dur="500"/>
                                        <p:tgtEl>
                                          <p:spTgt spid="158"/>
                                        </p:tgtEl>
                                      </p:cBhvr>
                                    </p:animEffect>
                                  </p:childTnLst>
                                </p:cTn>
                              </p:par>
                            </p:childTnLst>
                          </p:cTn>
                        </p:par>
                        <p:par>
                          <p:cTn id="120" fill="hold">
                            <p:stCondLst>
                              <p:cond delay="8750"/>
                            </p:stCondLst>
                            <p:childTnLst>
                              <p:par>
                                <p:cTn id="121" presetID="10" presetClass="entr" presetSubtype="0" fill="hold" grpId="0" nodeType="afterEffect">
                                  <p:stCondLst>
                                    <p:cond delay="0"/>
                                  </p:stCondLst>
                                  <p:childTnLst>
                                    <p:set>
                                      <p:cBhvr>
                                        <p:cTn id="122" dur="1" fill="hold">
                                          <p:stCondLst>
                                            <p:cond delay="0"/>
                                          </p:stCondLst>
                                        </p:cTn>
                                        <p:tgtEl>
                                          <p:spTgt spid="166"/>
                                        </p:tgtEl>
                                        <p:attrNameLst>
                                          <p:attrName>style.visibility</p:attrName>
                                        </p:attrNameLst>
                                      </p:cBhvr>
                                      <p:to>
                                        <p:strVal val="visible"/>
                                      </p:to>
                                    </p:set>
                                    <p:animEffect transition="in" filter="fade">
                                      <p:cBhvr>
                                        <p:cTn id="123" dur="500"/>
                                        <p:tgtEl>
                                          <p:spTgt spid="166"/>
                                        </p:tgtEl>
                                      </p:cBhvr>
                                    </p:animEffect>
                                  </p:childTnLst>
                                </p:cTn>
                              </p:par>
                            </p:childTnLst>
                          </p:cTn>
                        </p:par>
                        <p:par>
                          <p:cTn id="124" fill="hold">
                            <p:stCondLst>
                              <p:cond delay="9250"/>
                            </p:stCondLst>
                            <p:childTnLst>
                              <p:par>
                                <p:cTn id="125" presetID="26" presetClass="emph" presetSubtype="0" fill="hold" grpId="1" nodeType="afterEffect">
                                  <p:stCondLst>
                                    <p:cond delay="500"/>
                                  </p:stCondLst>
                                  <p:childTnLst>
                                    <p:animEffect transition="out" filter="fade">
                                      <p:cBhvr>
                                        <p:cTn id="126" dur="500" tmFilter="0, 0; .2, .5; .8, .5; 1, 0"/>
                                        <p:tgtEl>
                                          <p:spTgt spid="154"/>
                                        </p:tgtEl>
                                      </p:cBhvr>
                                    </p:animEffect>
                                    <p:animScale>
                                      <p:cBhvr>
                                        <p:cTn id="127" dur="250" autoRev="1" fill="hold"/>
                                        <p:tgtEl>
                                          <p:spTgt spid="154"/>
                                        </p:tgtEl>
                                      </p:cBhvr>
                                      <p:by x="105000" y="105000"/>
                                    </p:animScale>
                                  </p:childTnLst>
                                </p:cTn>
                              </p:par>
                            </p:childTnLst>
                          </p:cTn>
                        </p:par>
                        <p:par>
                          <p:cTn id="128" fill="hold">
                            <p:stCondLst>
                              <p:cond delay="10250"/>
                            </p:stCondLst>
                            <p:childTnLst>
                              <p:par>
                                <p:cTn id="129" presetID="10" presetClass="entr" presetSubtype="0" fill="hold" grpId="0" nodeType="afterEffect">
                                  <p:stCondLst>
                                    <p:cond delay="500"/>
                                  </p:stCondLst>
                                  <p:childTnLst>
                                    <p:set>
                                      <p:cBhvr>
                                        <p:cTn id="130" dur="1" fill="hold">
                                          <p:stCondLst>
                                            <p:cond delay="0"/>
                                          </p:stCondLst>
                                        </p:cTn>
                                        <p:tgtEl>
                                          <p:spTgt spid="155"/>
                                        </p:tgtEl>
                                        <p:attrNameLst>
                                          <p:attrName>style.visibility</p:attrName>
                                        </p:attrNameLst>
                                      </p:cBhvr>
                                      <p:to>
                                        <p:strVal val="visible"/>
                                      </p:to>
                                    </p:set>
                                    <p:animEffect transition="in" filter="fade">
                                      <p:cBhvr>
                                        <p:cTn id="131" dur="500"/>
                                        <p:tgtEl>
                                          <p:spTgt spid="155"/>
                                        </p:tgtEl>
                                      </p:cBhvr>
                                    </p:animEffect>
                                  </p:childTnLst>
                                </p:cTn>
                              </p:par>
                              <p:par>
                                <p:cTn id="132" presetID="16" presetClass="entr" presetSubtype="37" fill="hold" nodeType="withEffect">
                                  <p:stCondLst>
                                    <p:cond delay="500"/>
                                  </p:stCondLst>
                                  <p:childTnLst>
                                    <p:set>
                                      <p:cBhvr>
                                        <p:cTn id="133" dur="1" fill="hold">
                                          <p:stCondLst>
                                            <p:cond delay="0"/>
                                          </p:stCondLst>
                                        </p:cTn>
                                        <p:tgtEl>
                                          <p:spTgt spid="159"/>
                                        </p:tgtEl>
                                        <p:attrNameLst>
                                          <p:attrName>style.visibility</p:attrName>
                                        </p:attrNameLst>
                                      </p:cBhvr>
                                      <p:to>
                                        <p:strVal val="visible"/>
                                      </p:to>
                                    </p:set>
                                    <p:animEffect transition="in" filter="barn(outVertical)">
                                      <p:cBhvr>
                                        <p:cTn id="134" dur="500"/>
                                        <p:tgtEl>
                                          <p:spTgt spid="159"/>
                                        </p:tgtEl>
                                      </p:cBhvr>
                                    </p:animEffect>
                                  </p:childTnLst>
                                </p:cTn>
                              </p:par>
                            </p:childTnLst>
                          </p:cTn>
                        </p:par>
                        <p:par>
                          <p:cTn id="135" fill="hold">
                            <p:stCondLst>
                              <p:cond delay="11250"/>
                            </p:stCondLst>
                            <p:childTnLst>
                              <p:par>
                                <p:cTn id="136" presetID="10" presetClass="entr" presetSubtype="0" fill="hold" grpId="0" nodeType="afterEffect">
                                  <p:stCondLst>
                                    <p:cond delay="0"/>
                                  </p:stCondLst>
                                  <p:childTnLst>
                                    <p:set>
                                      <p:cBhvr>
                                        <p:cTn id="137" dur="1" fill="hold">
                                          <p:stCondLst>
                                            <p:cond delay="0"/>
                                          </p:stCondLst>
                                        </p:cTn>
                                        <p:tgtEl>
                                          <p:spTgt spid="165"/>
                                        </p:tgtEl>
                                        <p:attrNameLst>
                                          <p:attrName>style.visibility</p:attrName>
                                        </p:attrNameLst>
                                      </p:cBhvr>
                                      <p:to>
                                        <p:strVal val="visible"/>
                                      </p:to>
                                    </p:set>
                                    <p:animEffect transition="in" filter="fade">
                                      <p:cBhvr>
                                        <p:cTn id="138" dur="500"/>
                                        <p:tgtEl>
                                          <p:spTgt spid="165"/>
                                        </p:tgtEl>
                                      </p:cBhvr>
                                    </p:animEffect>
                                  </p:childTnLst>
                                </p:cTn>
                              </p:par>
                            </p:childTnLst>
                          </p:cTn>
                        </p:par>
                        <p:par>
                          <p:cTn id="139" fill="hold">
                            <p:stCondLst>
                              <p:cond delay="11750"/>
                            </p:stCondLst>
                            <p:childTnLst>
                              <p:par>
                                <p:cTn id="140" presetID="26" presetClass="emph" presetSubtype="0" fill="hold" grpId="1" nodeType="afterEffect">
                                  <p:stCondLst>
                                    <p:cond delay="500"/>
                                  </p:stCondLst>
                                  <p:childTnLst>
                                    <p:animEffect transition="out" filter="fade">
                                      <p:cBhvr>
                                        <p:cTn id="141" dur="500" tmFilter="0, 0; .2, .5; .8, .5; 1, 0"/>
                                        <p:tgtEl>
                                          <p:spTgt spid="155"/>
                                        </p:tgtEl>
                                      </p:cBhvr>
                                    </p:animEffect>
                                    <p:animScale>
                                      <p:cBhvr>
                                        <p:cTn id="142" dur="250" autoRev="1" fill="hold"/>
                                        <p:tgtEl>
                                          <p:spTgt spid="155"/>
                                        </p:tgtEl>
                                      </p:cBhvr>
                                      <p:by x="105000" y="105000"/>
                                    </p:animScale>
                                  </p:childTnLst>
                                </p:cTn>
                              </p:par>
                            </p:childTnLst>
                          </p:cTn>
                        </p:par>
                        <p:par>
                          <p:cTn id="143" fill="hold">
                            <p:stCondLst>
                              <p:cond delay="12750"/>
                            </p:stCondLst>
                            <p:childTnLst>
                              <p:par>
                                <p:cTn id="144" presetID="10" presetClass="entr" presetSubtype="0" fill="hold" grpId="0" nodeType="afterEffect">
                                  <p:stCondLst>
                                    <p:cond delay="500"/>
                                  </p:stCondLst>
                                  <p:childTnLst>
                                    <p:set>
                                      <p:cBhvr>
                                        <p:cTn id="145" dur="1" fill="hold">
                                          <p:stCondLst>
                                            <p:cond delay="0"/>
                                          </p:stCondLst>
                                        </p:cTn>
                                        <p:tgtEl>
                                          <p:spTgt spid="156"/>
                                        </p:tgtEl>
                                        <p:attrNameLst>
                                          <p:attrName>style.visibility</p:attrName>
                                        </p:attrNameLst>
                                      </p:cBhvr>
                                      <p:to>
                                        <p:strVal val="visible"/>
                                      </p:to>
                                    </p:set>
                                    <p:animEffect transition="in" filter="fade">
                                      <p:cBhvr>
                                        <p:cTn id="146" dur="500"/>
                                        <p:tgtEl>
                                          <p:spTgt spid="156"/>
                                        </p:tgtEl>
                                      </p:cBhvr>
                                    </p:animEffect>
                                  </p:childTnLst>
                                </p:cTn>
                              </p:par>
                              <p:par>
                                <p:cTn id="147" presetID="16" presetClass="entr" presetSubtype="37" fill="hold" nodeType="withEffect">
                                  <p:stCondLst>
                                    <p:cond delay="500"/>
                                  </p:stCondLst>
                                  <p:childTnLst>
                                    <p:set>
                                      <p:cBhvr>
                                        <p:cTn id="148" dur="1" fill="hold">
                                          <p:stCondLst>
                                            <p:cond delay="0"/>
                                          </p:stCondLst>
                                        </p:cTn>
                                        <p:tgtEl>
                                          <p:spTgt spid="162"/>
                                        </p:tgtEl>
                                        <p:attrNameLst>
                                          <p:attrName>style.visibility</p:attrName>
                                        </p:attrNameLst>
                                      </p:cBhvr>
                                      <p:to>
                                        <p:strVal val="visible"/>
                                      </p:to>
                                    </p:set>
                                    <p:animEffect transition="in" filter="barn(outVertical)">
                                      <p:cBhvr>
                                        <p:cTn id="149" dur="500"/>
                                        <p:tgtEl>
                                          <p:spTgt spid="162"/>
                                        </p:tgtEl>
                                      </p:cBhvr>
                                    </p:animEffect>
                                  </p:childTnLst>
                                </p:cTn>
                              </p:par>
                            </p:childTnLst>
                          </p:cTn>
                        </p:par>
                        <p:par>
                          <p:cTn id="150" fill="hold">
                            <p:stCondLst>
                              <p:cond delay="13750"/>
                            </p:stCondLst>
                            <p:childTnLst>
                              <p:par>
                                <p:cTn id="151" presetID="10" presetClass="entr" presetSubtype="0" fill="hold" grpId="0" nodeType="afterEffect">
                                  <p:stCondLst>
                                    <p:cond delay="0"/>
                                  </p:stCondLst>
                                  <p:childTnLst>
                                    <p:set>
                                      <p:cBhvr>
                                        <p:cTn id="152" dur="1" fill="hold">
                                          <p:stCondLst>
                                            <p:cond delay="0"/>
                                          </p:stCondLst>
                                        </p:cTn>
                                        <p:tgtEl>
                                          <p:spTgt spid="164"/>
                                        </p:tgtEl>
                                        <p:attrNameLst>
                                          <p:attrName>style.visibility</p:attrName>
                                        </p:attrNameLst>
                                      </p:cBhvr>
                                      <p:to>
                                        <p:strVal val="visible"/>
                                      </p:to>
                                    </p:set>
                                    <p:animEffect transition="in" filter="fade">
                                      <p:cBhvr>
                                        <p:cTn id="153" dur="500"/>
                                        <p:tgtEl>
                                          <p:spTgt spid="164"/>
                                        </p:tgtEl>
                                      </p:cBhvr>
                                    </p:animEffect>
                                  </p:childTnLst>
                                </p:cTn>
                              </p:par>
                            </p:childTnLst>
                          </p:cTn>
                        </p:par>
                        <p:par>
                          <p:cTn id="154" fill="hold">
                            <p:stCondLst>
                              <p:cond delay="14250"/>
                            </p:stCondLst>
                            <p:childTnLst>
                              <p:par>
                                <p:cTn id="155" presetID="26" presetClass="emph" presetSubtype="0" repeatCount="indefinite" fill="hold" grpId="1" nodeType="afterEffect">
                                  <p:stCondLst>
                                    <p:cond delay="500"/>
                                  </p:stCondLst>
                                  <p:childTnLst>
                                    <p:animEffect transition="out" filter="fade">
                                      <p:cBhvr>
                                        <p:cTn id="156" dur="500" tmFilter="0, 0; .2, .5; .8, .5; 1, 0"/>
                                        <p:tgtEl>
                                          <p:spTgt spid="156"/>
                                        </p:tgtEl>
                                      </p:cBhvr>
                                    </p:animEffect>
                                    <p:animScale>
                                      <p:cBhvr>
                                        <p:cTn id="157" dur="250" autoRev="1" fill="hold"/>
                                        <p:tgtEl>
                                          <p:spTgt spid="15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6" grpId="0" animBg="1"/>
      <p:bldP spid="42" grpId="0" animBg="1"/>
      <p:bldP spid="43" grpId="0"/>
      <p:bldP spid="44" grpId="0" animBg="1"/>
      <p:bldP spid="45" grpId="0" animBg="1"/>
      <p:bldP spid="50" grpId="0" animBg="1"/>
      <p:bldP spid="55" grpId="0" animBg="1"/>
      <p:bldP spid="60" grpId="0"/>
      <p:bldP spid="61" grpId="0"/>
      <p:bldP spid="62" grpId="0"/>
      <p:bldP spid="78" grpId="0"/>
      <p:bldP spid="79" grpId="0"/>
      <p:bldP spid="132" grpId="0"/>
      <p:bldP spid="133" grpId="0" animBg="1"/>
      <p:bldP spid="154" grpId="0"/>
      <p:bldP spid="154" grpId="1"/>
      <p:bldP spid="155" grpId="0"/>
      <p:bldP spid="155" grpId="1"/>
      <p:bldP spid="156" grpId="0"/>
      <p:bldP spid="156" grpId="1"/>
      <p:bldP spid="164" grpId="0"/>
      <p:bldP spid="165" grpId="0"/>
      <p:bldP spid="16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CE4E2A-392D-DE2F-2DB0-E3BE539BF78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97A069C-7C95-EF8C-7707-C3B9117E4C72}"/>
              </a:ext>
            </a:extLst>
          </p:cNvPr>
          <p:cNvSpPr>
            <a:spLocks noGrp="1"/>
          </p:cNvSpPr>
          <p:nvPr>
            <p:ph type="title"/>
          </p:nvPr>
        </p:nvSpPr>
        <p:spPr/>
        <p:txBody>
          <a:bodyPr/>
          <a:lstStyle/>
          <a:p>
            <a:r>
              <a:rPr lang="en-US"/>
              <a:t>Do More with What You Already Have to Reduce TCO</a:t>
            </a:r>
          </a:p>
        </p:txBody>
      </p:sp>
      <p:sp>
        <p:nvSpPr>
          <p:cNvPr id="3" name="Subtitle 2">
            <a:extLst>
              <a:ext uri="{FF2B5EF4-FFF2-40B4-BE49-F238E27FC236}">
                <a16:creationId xmlns:a16="http://schemas.microsoft.com/office/drawing/2014/main" id="{21B0AF97-0A2C-97B9-2C94-5BA092BC5E96}"/>
              </a:ext>
            </a:extLst>
          </p:cNvPr>
          <p:cNvSpPr>
            <a:spLocks noGrp="1"/>
          </p:cNvSpPr>
          <p:nvPr>
            <p:ph type="subTitle" idx="10"/>
          </p:nvPr>
        </p:nvSpPr>
        <p:spPr/>
        <p:txBody>
          <a:bodyPr/>
          <a:lstStyle/>
          <a:p>
            <a:r>
              <a:rPr lang="en-US" dirty="0"/>
              <a:t>Key benefits over vSAN OSA and traditional storage</a:t>
            </a:r>
          </a:p>
          <a:p>
            <a:endParaRPr lang="en-US" dirty="0"/>
          </a:p>
        </p:txBody>
      </p:sp>
      <p:grpSp>
        <p:nvGrpSpPr>
          <p:cNvPr id="55" name="Group 54">
            <a:extLst>
              <a:ext uri="{FF2B5EF4-FFF2-40B4-BE49-F238E27FC236}">
                <a16:creationId xmlns:a16="http://schemas.microsoft.com/office/drawing/2014/main" id="{6771AE99-C52C-CEF6-7F73-E3C8DFCD82EA}"/>
              </a:ext>
            </a:extLst>
          </p:cNvPr>
          <p:cNvGrpSpPr/>
          <p:nvPr/>
        </p:nvGrpSpPr>
        <p:grpSpPr>
          <a:xfrm>
            <a:off x="616505" y="1600201"/>
            <a:ext cx="3641840" cy="377904"/>
            <a:chOff x="616505" y="1600201"/>
            <a:chExt cx="3641840" cy="377904"/>
          </a:xfrm>
        </p:grpSpPr>
        <p:sp>
          <p:nvSpPr>
            <p:cNvPr id="92" name="Isosceles Triangle 166">
              <a:extLst>
                <a:ext uri="{FF2B5EF4-FFF2-40B4-BE49-F238E27FC236}">
                  <a16:creationId xmlns:a16="http://schemas.microsoft.com/office/drawing/2014/main" id="{9EBFDCEF-F584-15F8-7EFA-0B0A50639E57}"/>
                </a:ext>
              </a:extLst>
            </p:cNvPr>
            <p:cNvSpPr/>
            <p:nvPr/>
          </p:nvSpPr>
          <p:spPr>
            <a:xfrm>
              <a:off x="616505" y="1603432"/>
              <a:ext cx="670560" cy="374673"/>
            </a:xfrm>
            <a:prstGeom prst="triangle">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 name="Rectangle 92">
              <a:extLst>
                <a:ext uri="{FF2B5EF4-FFF2-40B4-BE49-F238E27FC236}">
                  <a16:creationId xmlns:a16="http://schemas.microsoft.com/office/drawing/2014/main" id="{F029E5BC-CA48-14F9-9781-AC7CE13D1E43}"/>
                </a:ext>
              </a:extLst>
            </p:cNvPr>
            <p:cNvSpPr/>
            <p:nvPr/>
          </p:nvSpPr>
          <p:spPr>
            <a:xfrm>
              <a:off x="951785" y="1600201"/>
              <a:ext cx="2971277" cy="377904"/>
            </a:xfrm>
            <a:prstGeom prst="rect">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Greater Performance</a:t>
              </a:r>
            </a:p>
          </p:txBody>
        </p:sp>
        <p:sp>
          <p:nvSpPr>
            <p:cNvPr id="94" name="Isosceles Triangle 166">
              <a:extLst>
                <a:ext uri="{FF2B5EF4-FFF2-40B4-BE49-F238E27FC236}">
                  <a16:creationId xmlns:a16="http://schemas.microsoft.com/office/drawing/2014/main" id="{0E0ADA88-5A06-5490-4B20-C0C9348FFAA8}"/>
                </a:ext>
              </a:extLst>
            </p:cNvPr>
            <p:cNvSpPr/>
            <p:nvPr/>
          </p:nvSpPr>
          <p:spPr>
            <a:xfrm rot="10800000">
              <a:off x="3587785" y="1600201"/>
              <a:ext cx="670560" cy="374673"/>
            </a:xfrm>
            <a:prstGeom prst="triangle">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95" name="Picture Placeholder 88" descr="Usage Meter&#10;">
              <a:extLst>
                <a:ext uri="{FF2B5EF4-FFF2-40B4-BE49-F238E27FC236}">
                  <a16:creationId xmlns:a16="http://schemas.microsoft.com/office/drawing/2014/main" id="{D43B5AD2-4FD3-E79B-BD41-E3DCEAB8A963}"/>
                </a:ext>
              </a:extLst>
            </p:cNvPr>
            <p:cNvGrpSpPr/>
            <p:nvPr/>
          </p:nvGrpSpPr>
          <p:grpSpPr>
            <a:xfrm>
              <a:off x="1033945" y="1653623"/>
              <a:ext cx="291764" cy="271061"/>
              <a:chOff x="5804281" y="1956979"/>
              <a:chExt cx="600204" cy="557616"/>
            </a:xfrm>
            <a:solidFill>
              <a:schemeClr val="bg1"/>
            </a:solidFill>
          </p:grpSpPr>
          <p:grpSp>
            <p:nvGrpSpPr>
              <p:cNvPr id="96" name="Picture Placeholder 88">
                <a:extLst>
                  <a:ext uri="{FF2B5EF4-FFF2-40B4-BE49-F238E27FC236}">
                    <a16:creationId xmlns:a16="http://schemas.microsoft.com/office/drawing/2014/main" id="{2FEEDF56-C1B9-3C2A-FB2C-8A5DBD4B27E9}"/>
                  </a:ext>
                </a:extLst>
              </p:cNvPr>
              <p:cNvGrpSpPr/>
              <p:nvPr/>
            </p:nvGrpSpPr>
            <p:grpSpPr>
              <a:xfrm>
                <a:off x="5844126" y="1956979"/>
                <a:ext cx="529369" cy="266106"/>
                <a:chOff x="5844126" y="1956979"/>
                <a:chExt cx="529369" cy="266106"/>
              </a:xfrm>
              <a:grpFill/>
            </p:grpSpPr>
            <p:sp>
              <p:nvSpPr>
                <p:cNvPr id="111" name="Picture Placeholder 88">
                  <a:extLst>
                    <a:ext uri="{FF2B5EF4-FFF2-40B4-BE49-F238E27FC236}">
                      <a16:creationId xmlns:a16="http://schemas.microsoft.com/office/drawing/2014/main" id="{94BF158C-9B0A-F3C9-FB3D-58EA13ADEF80}"/>
                    </a:ext>
                  </a:extLst>
                </p:cNvPr>
                <p:cNvSpPr/>
                <p:nvPr/>
              </p:nvSpPr>
              <p:spPr>
                <a:xfrm>
                  <a:off x="5844126" y="1956979"/>
                  <a:ext cx="529369" cy="265553"/>
                </a:xfrm>
                <a:custGeom>
                  <a:avLst/>
                  <a:gdLst>
                    <a:gd name="connsiteX0" fmla="*/ 529369 w 529369"/>
                    <a:gd name="connsiteY0" fmla="*/ 265553 h 265553"/>
                    <a:gd name="connsiteX1" fmla="*/ 513558 w 529369"/>
                    <a:gd name="connsiteY1" fmla="*/ 265553 h 265553"/>
                    <a:gd name="connsiteX2" fmla="*/ 264368 w 529369"/>
                    <a:gd name="connsiteY2" fmla="*/ 15844 h 265553"/>
                    <a:gd name="connsiteX3" fmla="*/ 15812 w 529369"/>
                    <a:gd name="connsiteY3" fmla="*/ 265553 h 265553"/>
                    <a:gd name="connsiteX4" fmla="*/ 0 w 529369"/>
                    <a:gd name="connsiteY4" fmla="*/ 265553 h 265553"/>
                    <a:gd name="connsiteX5" fmla="*/ 265001 w 529369"/>
                    <a:gd name="connsiteY5" fmla="*/ 0 h 265553"/>
                    <a:gd name="connsiteX6" fmla="*/ 529369 w 529369"/>
                    <a:gd name="connsiteY6" fmla="*/ 265553 h 26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369" h="265553">
                      <a:moveTo>
                        <a:pt x="529369" y="265553"/>
                      </a:moveTo>
                      <a:lnTo>
                        <a:pt x="513558" y="265553"/>
                      </a:lnTo>
                      <a:cubicBezTo>
                        <a:pt x="513558" y="128023"/>
                        <a:pt x="401612" y="15844"/>
                        <a:pt x="264368" y="15844"/>
                      </a:cubicBezTo>
                      <a:cubicBezTo>
                        <a:pt x="127124" y="15844"/>
                        <a:pt x="15812" y="128023"/>
                        <a:pt x="15812" y="265553"/>
                      </a:cubicBezTo>
                      <a:lnTo>
                        <a:pt x="0" y="265553"/>
                      </a:lnTo>
                      <a:cubicBezTo>
                        <a:pt x="0" y="119150"/>
                        <a:pt x="118902" y="0"/>
                        <a:pt x="265001" y="0"/>
                      </a:cubicBezTo>
                      <a:cubicBezTo>
                        <a:pt x="411099" y="0"/>
                        <a:pt x="529369" y="119150"/>
                        <a:pt x="529369" y="26555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12" name="Picture Placeholder 88">
                  <a:extLst>
                    <a:ext uri="{FF2B5EF4-FFF2-40B4-BE49-F238E27FC236}">
                      <a16:creationId xmlns:a16="http://schemas.microsoft.com/office/drawing/2014/main" id="{BAF490F4-5123-1F2F-5AE0-44936FF438A7}"/>
                    </a:ext>
                  </a:extLst>
                </p:cNvPr>
                <p:cNvGrpSpPr/>
                <p:nvPr/>
              </p:nvGrpSpPr>
              <p:grpSpPr>
                <a:xfrm>
                  <a:off x="6043229" y="1993617"/>
                  <a:ext cx="17318" cy="31876"/>
                  <a:chOff x="6043229" y="1993617"/>
                  <a:chExt cx="17318" cy="31876"/>
                </a:xfrm>
                <a:grpFill/>
              </p:grpSpPr>
              <p:sp>
                <p:nvSpPr>
                  <p:cNvPr id="130" name="Picture Placeholder 88">
                    <a:extLst>
                      <a:ext uri="{FF2B5EF4-FFF2-40B4-BE49-F238E27FC236}">
                        <a16:creationId xmlns:a16="http://schemas.microsoft.com/office/drawing/2014/main" id="{C88E095D-9BA1-2E8D-44C3-7B1FAA07507F}"/>
                      </a:ext>
                    </a:extLst>
                  </p:cNvPr>
                  <p:cNvSpPr/>
                  <p:nvPr/>
                </p:nvSpPr>
                <p:spPr>
                  <a:xfrm>
                    <a:off x="6049675" y="1999442"/>
                    <a:ext cx="5059" cy="19647"/>
                  </a:xfrm>
                  <a:custGeom>
                    <a:avLst/>
                    <a:gdLst>
                      <a:gd name="connsiteX0" fmla="*/ 0 w 5059"/>
                      <a:gd name="connsiteY0" fmla="*/ 0 h 19647"/>
                      <a:gd name="connsiteX1" fmla="*/ 5060 w 5059"/>
                      <a:gd name="connsiteY1" fmla="*/ 19647 h 19647"/>
                    </a:gdLst>
                    <a:ahLst/>
                    <a:cxnLst>
                      <a:cxn ang="0">
                        <a:pos x="connsiteX0" y="connsiteY0"/>
                      </a:cxn>
                      <a:cxn ang="0">
                        <a:pos x="connsiteX1" y="connsiteY1"/>
                      </a:cxn>
                    </a:cxnLst>
                    <a:rect l="l" t="t" r="r" b="b"/>
                    <a:pathLst>
                      <a:path w="5059" h="19647">
                        <a:moveTo>
                          <a:pt x="0" y="0"/>
                        </a:moveTo>
                        <a:lnTo>
                          <a:pt x="5060" y="19647"/>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1" name="Picture Placeholder 88">
                    <a:extLst>
                      <a:ext uri="{FF2B5EF4-FFF2-40B4-BE49-F238E27FC236}">
                        <a16:creationId xmlns:a16="http://schemas.microsoft.com/office/drawing/2014/main" id="{217BD525-38E9-2D30-23B9-BE1B3AA0B6B7}"/>
                      </a:ext>
                    </a:extLst>
                  </p:cNvPr>
                  <p:cNvSpPr/>
                  <p:nvPr/>
                </p:nvSpPr>
                <p:spPr>
                  <a:xfrm>
                    <a:off x="6043229" y="1993617"/>
                    <a:ext cx="17318" cy="31810"/>
                  </a:xfrm>
                  <a:custGeom>
                    <a:avLst/>
                    <a:gdLst>
                      <a:gd name="connsiteX0" fmla="*/ 11505 w 17318"/>
                      <a:gd name="connsiteY0" fmla="*/ 31810 h 31810"/>
                      <a:gd name="connsiteX1" fmla="*/ 5181 w 17318"/>
                      <a:gd name="connsiteY1" fmla="*/ 27374 h 31810"/>
                      <a:gd name="connsiteX2" fmla="*/ 121 w 17318"/>
                      <a:gd name="connsiteY2" fmla="*/ 7727 h 31810"/>
                      <a:gd name="connsiteX3" fmla="*/ 4548 w 17318"/>
                      <a:gd name="connsiteY3" fmla="*/ 121 h 31810"/>
                      <a:gd name="connsiteX4" fmla="*/ 12138 w 17318"/>
                      <a:gd name="connsiteY4" fmla="*/ 4558 h 31810"/>
                      <a:gd name="connsiteX5" fmla="*/ 17198 w 17318"/>
                      <a:gd name="connsiteY5" fmla="*/ 24205 h 31810"/>
                      <a:gd name="connsiteX6" fmla="*/ 12770 w 17318"/>
                      <a:gd name="connsiteY6" fmla="*/ 31810 h 31810"/>
                      <a:gd name="connsiteX7" fmla="*/ 11505 w 17318"/>
                      <a:gd name="connsiteY7" fmla="*/ 31810 h 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31810">
                        <a:moveTo>
                          <a:pt x="11505" y="31810"/>
                        </a:moveTo>
                        <a:cubicBezTo>
                          <a:pt x="8976" y="31810"/>
                          <a:pt x="6446" y="29909"/>
                          <a:pt x="5181" y="27374"/>
                        </a:cubicBezTo>
                        <a:lnTo>
                          <a:pt x="121" y="7727"/>
                        </a:lnTo>
                        <a:cubicBezTo>
                          <a:pt x="-511" y="4558"/>
                          <a:pt x="1386" y="755"/>
                          <a:pt x="4548" y="121"/>
                        </a:cubicBezTo>
                        <a:cubicBezTo>
                          <a:pt x="7711" y="-512"/>
                          <a:pt x="11505" y="1389"/>
                          <a:pt x="12138" y="4558"/>
                        </a:cubicBezTo>
                        <a:lnTo>
                          <a:pt x="17198" y="24205"/>
                        </a:lnTo>
                        <a:cubicBezTo>
                          <a:pt x="17830" y="27374"/>
                          <a:pt x="15933" y="31177"/>
                          <a:pt x="12770" y="31810"/>
                        </a:cubicBezTo>
                        <a:cubicBezTo>
                          <a:pt x="12770" y="31810"/>
                          <a:pt x="12138" y="31810"/>
                          <a:pt x="11505" y="3181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3" name="Picture Placeholder 88">
                  <a:extLst>
                    <a:ext uri="{FF2B5EF4-FFF2-40B4-BE49-F238E27FC236}">
                      <a16:creationId xmlns:a16="http://schemas.microsoft.com/office/drawing/2014/main" id="{D8FE451A-8D60-CDF5-B979-6D21AA052838}"/>
                    </a:ext>
                  </a:extLst>
                </p:cNvPr>
                <p:cNvGrpSpPr/>
                <p:nvPr/>
              </p:nvGrpSpPr>
              <p:grpSpPr>
                <a:xfrm>
                  <a:off x="5942789" y="2050145"/>
                  <a:ext cx="27195" cy="27308"/>
                  <a:chOff x="5942789" y="2050145"/>
                  <a:chExt cx="27195" cy="27308"/>
                </a:xfrm>
                <a:grpFill/>
              </p:grpSpPr>
              <p:sp>
                <p:nvSpPr>
                  <p:cNvPr id="128" name="Picture Placeholder 88">
                    <a:extLst>
                      <a:ext uri="{FF2B5EF4-FFF2-40B4-BE49-F238E27FC236}">
                        <a16:creationId xmlns:a16="http://schemas.microsoft.com/office/drawing/2014/main" id="{BFB39085-A2C2-35A1-5E63-11E5CEB24260}"/>
                      </a:ext>
                    </a:extLst>
                  </p:cNvPr>
                  <p:cNvSpPr/>
                  <p:nvPr/>
                </p:nvSpPr>
                <p:spPr>
                  <a:xfrm>
                    <a:off x="5949114" y="2056483"/>
                    <a:ext cx="14546" cy="14576"/>
                  </a:xfrm>
                  <a:custGeom>
                    <a:avLst/>
                    <a:gdLst>
                      <a:gd name="connsiteX0" fmla="*/ 0 w 14546"/>
                      <a:gd name="connsiteY0" fmla="*/ 0 h 14576"/>
                      <a:gd name="connsiteX1" fmla="*/ 14547 w 14546"/>
                      <a:gd name="connsiteY1" fmla="*/ 14577 h 14576"/>
                    </a:gdLst>
                    <a:ahLst/>
                    <a:cxnLst>
                      <a:cxn ang="0">
                        <a:pos x="connsiteX0" y="connsiteY0"/>
                      </a:cxn>
                      <a:cxn ang="0">
                        <a:pos x="connsiteX1" y="connsiteY1"/>
                      </a:cxn>
                    </a:cxnLst>
                    <a:rect l="l" t="t" r="r" b="b"/>
                    <a:pathLst>
                      <a:path w="14546" h="14576">
                        <a:moveTo>
                          <a:pt x="0" y="0"/>
                        </a:moveTo>
                        <a:lnTo>
                          <a:pt x="14547" y="14577"/>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9" name="Picture Placeholder 88">
                    <a:extLst>
                      <a:ext uri="{FF2B5EF4-FFF2-40B4-BE49-F238E27FC236}">
                        <a16:creationId xmlns:a16="http://schemas.microsoft.com/office/drawing/2014/main" id="{224B1F2C-34D9-0098-A6D7-B1CC94C30BDF}"/>
                      </a:ext>
                    </a:extLst>
                  </p:cNvPr>
                  <p:cNvSpPr/>
                  <p:nvPr/>
                </p:nvSpPr>
                <p:spPr>
                  <a:xfrm>
                    <a:off x="5942789" y="2050145"/>
                    <a:ext cx="27195" cy="27252"/>
                  </a:xfrm>
                  <a:custGeom>
                    <a:avLst/>
                    <a:gdLst>
                      <a:gd name="connsiteX0" fmla="*/ 20871 w 27195"/>
                      <a:gd name="connsiteY0" fmla="*/ 27252 h 27252"/>
                      <a:gd name="connsiteX1" fmla="*/ 16444 w 27195"/>
                      <a:gd name="connsiteY1" fmla="*/ 25351 h 27252"/>
                      <a:gd name="connsiteX2" fmla="*/ 1897 w 27195"/>
                      <a:gd name="connsiteY2" fmla="*/ 10774 h 27252"/>
                      <a:gd name="connsiteX3" fmla="*/ 1897 w 27195"/>
                      <a:gd name="connsiteY3" fmla="*/ 1901 h 27252"/>
                      <a:gd name="connsiteX4" fmla="*/ 10752 w 27195"/>
                      <a:gd name="connsiteY4" fmla="*/ 1901 h 27252"/>
                      <a:gd name="connsiteX5" fmla="*/ 25298 w 27195"/>
                      <a:gd name="connsiteY5" fmla="*/ 16478 h 27252"/>
                      <a:gd name="connsiteX6" fmla="*/ 25298 w 27195"/>
                      <a:gd name="connsiteY6" fmla="*/ 25351 h 27252"/>
                      <a:gd name="connsiteX7" fmla="*/ 20871 w 27195"/>
                      <a:gd name="connsiteY7" fmla="*/ 27252 h 2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195" h="27252">
                        <a:moveTo>
                          <a:pt x="20871" y="27252"/>
                        </a:moveTo>
                        <a:cubicBezTo>
                          <a:pt x="18974" y="27252"/>
                          <a:pt x="17709" y="26619"/>
                          <a:pt x="16444" y="25351"/>
                        </a:cubicBezTo>
                        <a:lnTo>
                          <a:pt x="1897" y="10774"/>
                        </a:lnTo>
                        <a:cubicBezTo>
                          <a:pt x="-632" y="8239"/>
                          <a:pt x="-632" y="4436"/>
                          <a:pt x="1897" y="1901"/>
                        </a:cubicBezTo>
                        <a:cubicBezTo>
                          <a:pt x="4427" y="-634"/>
                          <a:pt x="8222" y="-634"/>
                          <a:pt x="10752" y="1901"/>
                        </a:cubicBezTo>
                        <a:lnTo>
                          <a:pt x="25298" y="16478"/>
                        </a:lnTo>
                        <a:cubicBezTo>
                          <a:pt x="27828" y="19013"/>
                          <a:pt x="27828" y="22816"/>
                          <a:pt x="25298" y="25351"/>
                        </a:cubicBezTo>
                        <a:cubicBezTo>
                          <a:pt x="24033" y="26619"/>
                          <a:pt x="22136" y="27252"/>
                          <a:pt x="20871" y="2725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4" name="Picture Placeholder 88">
                  <a:extLst>
                    <a:ext uri="{FF2B5EF4-FFF2-40B4-BE49-F238E27FC236}">
                      <a16:creationId xmlns:a16="http://schemas.microsoft.com/office/drawing/2014/main" id="{3CFE90B8-16F4-CFF1-ED69-7DDEA2826682}"/>
                    </a:ext>
                  </a:extLst>
                </p:cNvPr>
                <p:cNvGrpSpPr/>
                <p:nvPr/>
              </p:nvGrpSpPr>
              <p:grpSpPr>
                <a:xfrm>
                  <a:off x="6303170" y="2152062"/>
                  <a:ext cx="31865" cy="17268"/>
                  <a:chOff x="6303170" y="2152062"/>
                  <a:chExt cx="31865" cy="17268"/>
                </a:xfrm>
                <a:grpFill/>
              </p:grpSpPr>
              <p:sp>
                <p:nvSpPr>
                  <p:cNvPr id="126" name="Picture Placeholder 88">
                    <a:extLst>
                      <a:ext uri="{FF2B5EF4-FFF2-40B4-BE49-F238E27FC236}">
                        <a16:creationId xmlns:a16="http://schemas.microsoft.com/office/drawing/2014/main" id="{A9E36C33-5C03-9EAB-BAC6-FEE5FEE8A1C2}"/>
                      </a:ext>
                    </a:extLst>
                  </p:cNvPr>
                  <p:cNvSpPr/>
                  <p:nvPr/>
                </p:nvSpPr>
                <p:spPr>
                  <a:xfrm>
                    <a:off x="6309616" y="2157253"/>
                    <a:ext cx="19606" cy="5704"/>
                  </a:xfrm>
                  <a:custGeom>
                    <a:avLst/>
                    <a:gdLst>
                      <a:gd name="connsiteX0" fmla="*/ 19606 w 19606"/>
                      <a:gd name="connsiteY0" fmla="*/ 0 h 5704"/>
                      <a:gd name="connsiteX1" fmla="*/ 0 w 19606"/>
                      <a:gd name="connsiteY1" fmla="*/ 5704 h 5704"/>
                    </a:gdLst>
                    <a:ahLst/>
                    <a:cxnLst>
                      <a:cxn ang="0">
                        <a:pos x="connsiteX0" y="connsiteY0"/>
                      </a:cxn>
                      <a:cxn ang="0">
                        <a:pos x="connsiteX1" y="connsiteY1"/>
                      </a:cxn>
                    </a:cxnLst>
                    <a:rect l="l" t="t" r="r" b="b"/>
                    <a:pathLst>
                      <a:path w="19606" h="5704">
                        <a:moveTo>
                          <a:pt x="19606" y="0"/>
                        </a:moveTo>
                        <a:lnTo>
                          <a:pt x="0" y="5704"/>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7" name="Picture Placeholder 88">
                    <a:extLst>
                      <a:ext uri="{FF2B5EF4-FFF2-40B4-BE49-F238E27FC236}">
                        <a16:creationId xmlns:a16="http://schemas.microsoft.com/office/drawing/2014/main" id="{A6B65A99-8C58-9E57-6DD0-54A7EB830F59}"/>
                      </a:ext>
                    </a:extLst>
                  </p:cNvPr>
                  <p:cNvSpPr/>
                  <p:nvPr/>
                </p:nvSpPr>
                <p:spPr>
                  <a:xfrm>
                    <a:off x="6303170" y="2152062"/>
                    <a:ext cx="31865" cy="17233"/>
                  </a:xfrm>
                  <a:custGeom>
                    <a:avLst/>
                    <a:gdLst>
                      <a:gd name="connsiteX0" fmla="*/ 6446 w 31865"/>
                      <a:gd name="connsiteY0" fmla="*/ 17233 h 17233"/>
                      <a:gd name="connsiteX1" fmla="*/ 121 w 31865"/>
                      <a:gd name="connsiteY1" fmla="*/ 12797 h 17233"/>
                      <a:gd name="connsiteX2" fmla="*/ 4548 w 31865"/>
                      <a:gd name="connsiteY2" fmla="*/ 5192 h 17233"/>
                      <a:gd name="connsiteX3" fmla="*/ 24155 w 31865"/>
                      <a:gd name="connsiteY3" fmla="*/ 121 h 17233"/>
                      <a:gd name="connsiteX4" fmla="*/ 31744 w 31865"/>
                      <a:gd name="connsiteY4" fmla="*/ 4558 h 17233"/>
                      <a:gd name="connsiteX5" fmla="*/ 27317 w 31865"/>
                      <a:gd name="connsiteY5" fmla="*/ 12163 h 17233"/>
                      <a:gd name="connsiteX6" fmla="*/ 7711 w 31865"/>
                      <a:gd name="connsiteY6" fmla="*/ 16600 h 17233"/>
                      <a:gd name="connsiteX7" fmla="*/ 6446 w 31865"/>
                      <a:gd name="connsiteY7" fmla="*/ 17233 h 1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65" h="17233">
                        <a:moveTo>
                          <a:pt x="6446" y="17233"/>
                        </a:moveTo>
                        <a:cubicBezTo>
                          <a:pt x="3916" y="17233"/>
                          <a:pt x="1386" y="15332"/>
                          <a:pt x="121" y="12797"/>
                        </a:cubicBezTo>
                        <a:cubicBezTo>
                          <a:pt x="-511" y="9628"/>
                          <a:pt x="1386" y="5825"/>
                          <a:pt x="4548" y="5192"/>
                        </a:cubicBezTo>
                        <a:lnTo>
                          <a:pt x="24155" y="121"/>
                        </a:lnTo>
                        <a:cubicBezTo>
                          <a:pt x="27317" y="-512"/>
                          <a:pt x="31112" y="1389"/>
                          <a:pt x="31744" y="4558"/>
                        </a:cubicBezTo>
                        <a:cubicBezTo>
                          <a:pt x="32377" y="7727"/>
                          <a:pt x="30479" y="11529"/>
                          <a:pt x="27317" y="12163"/>
                        </a:cubicBezTo>
                        <a:lnTo>
                          <a:pt x="7711" y="16600"/>
                        </a:lnTo>
                        <a:cubicBezTo>
                          <a:pt x="7078" y="17233"/>
                          <a:pt x="7078" y="17233"/>
                          <a:pt x="6446" y="1723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5" name="Picture Placeholder 88">
                  <a:extLst>
                    <a:ext uri="{FF2B5EF4-FFF2-40B4-BE49-F238E27FC236}">
                      <a16:creationId xmlns:a16="http://schemas.microsoft.com/office/drawing/2014/main" id="{1D1B5900-1628-03D9-8260-C9F95993CAF8}"/>
                    </a:ext>
                  </a:extLst>
                </p:cNvPr>
                <p:cNvGrpSpPr/>
                <p:nvPr/>
              </p:nvGrpSpPr>
              <p:grpSpPr>
                <a:xfrm>
                  <a:off x="5890595" y="2134316"/>
                  <a:ext cx="32288" cy="17268"/>
                  <a:chOff x="5890595" y="2134316"/>
                  <a:chExt cx="32288" cy="17268"/>
                </a:xfrm>
                <a:grpFill/>
              </p:grpSpPr>
              <p:sp>
                <p:nvSpPr>
                  <p:cNvPr id="124" name="Picture Placeholder 88">
                    <a:extLst>
                      <a:ext uri="{FF2B5EF4-FFF2-40B4-BE49-F238E27FC236}">
                        <a16:creationId xmlns:a16="http://schemas.microsoft.com/office/drawing/2014/main" id="{A105219A-9B7A-3D32-2A02-2BC0D23B0084}"/>
                      </a:ext>
                    </a:extLst>
                  </p:cNvPr>
                  <p:cNvSpPr/>
                  <p:nvPr/>
                </p:nvSpPr>
                <p:spPr>
                  <a:xfrm>
                    <a:off x="5897252" y="2139507"/>
                    <a:ext cx="19606" cy="5704"/>
                  </a:xfrm>
                  <a:custGeom>
                    <a:avLst/>
                    <a:gdLst>
                      <a:gd name="connsiteX0" fmla="*/ 0 w 19606"/>
                      <a:gd name="connsiteY0" fmla="*/ 0 h 5704"/>
                      <a:gd name="connsiteX1" fmla="*/ 19606 w 19606"/>
                      <a:gd name="connsiteY1" fmla="*/ 5704 h 5704"/>
                    </a:gdLst>
                    <a:ahLst/>
                    <a:cxnLst>
                      <a:cxn ang="0">
                        <a:pos x="connsiteX0" y="connsiteY0"/>
                      </a:cxn>
                      <a:cxn ang="0">
                        <a:pos x="connsiteX1" y="connsiteY1"/>
                      </a:cxn>
                    </a:cxnLst>
                    <a:rect l="l" t="t" r="r" b="b"/>
                    <a:pathLst>
                      <a:path w="19606" h="5704">
                        <a:moveTo>
                          <a:pt x="0" y="0"/>
                        </a:moveTo>
                        <a:lnTo>
                          <a:pt x="19606" y="5704"/>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5" name="Picture Placeholder 88">
                    <a:extLst>
                      <a:ext uri="{FF2B5EF4-FFF2-40B4-BE49-F238E27FC236}">
                        <a16:creationId xmlns:a16="http://schemas.microsoft.com/office/drawing/2014/main" id="{B259EC2E-E51D-B50F-70B1-31769E675FE4}"/>
                      </a:ext>
                    </a:extLst>
                  </p:cNvPr>
                  <p:cNvSpPr/>
                  <p:nvPr/>
                </p:nvSpPr>
                <p:spPr>
                  <a:xfrm>
                    <a:off x="5890595" y="2134316"/>
                    <a:ext cx="32288" cy="17233"/>
                  </a:xfrm>
                  <a:custGeom>
                    <a:avLst/>
                    <a:gdLst>
                      <a:gd name="connsiteX0" fmla="*/ 26264 w 32288"/>
                      <a:gd name="connsiteY0" fmla="*/ 17233 h 17233"/>
                      <a:gd name="connsiteX1" fmla="*/ 24366 w 32288"/>
                      <a:gd name="connsiteY1" fmla="*/ 17233 h 17233"/>
                      <a:gd name="connsiteX2" fmla="*/ 4760 w 32288"/>
                      <a:gd name="connsiteY2" fmla="*/ 12163 h 17233"/>
                      <a:gd name="connsiteX3" fmla="*/ 333 w 32288"/>
                      <a:gd name="connsiteY3" fmla="*/ 4558 h 17233"/>
                      <a:gd name="connsiteX4" fmla="*/ 7922 w 32288"/>
                      <a:gd name="connsiteY4" fmla="*/ 121 h 17233"/>
                      <a:gd name="connsiteX5" fmla="*/ 27528 w 32288"/>
                      <a:gd name="connsiteY5" fmla="*/ 5192 h 17233"/>
                      <a:gd name="connsiteX6" fmla="*/ 31956 w 32288"/>
                      <a:gd name="connsiteY6" fmla="*/ 12797 h 17233"/>
                      <a:gd name="connsiteX7" fmla="*/ 26264 w 32288"/>
                      <a:gd name="connsiteY7" fmla="*/ 17233 h 1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88" h="17233">
                        <a:moveTo>
                          <a:pt x="26264" y="17233"/>
                        </a:moveTo>
                        <a:cubicBezTo>
                          <a:pt x="25631" y="17233"/>
                          <a:pt x="24999" y="17233"/>
                          <a:pt x="24366" y="17233"/>
                        </a:cubicBezTo>
                        <a:lnTo>
                          <a:pt x="4760" y="12163"/>
                        </a:lnTo>
                        <a:cubicBezTo>
                          <a:pt x="1598" y="11529"/>
                          <a:pt x="-932" y="7727"/>
                          <a:pt x="333" y="4558"/>
                        </a:cubicBezTo>
                        <a:cubicBezTo>
                          <a:pt x="965" y="1389"/>
                          <a:pt x="4760" y="-512"/>
                          <a:pt x="7922" y="121"/>
                        </a:cubicBezTo>
                        <a:lnTo>
                          <a:pt x="27528" y="5192"/>
                        </a:lnTo>
                        <a:cubicBezTo>
                          <a:pt x="30691" y="5825"/>
                          <a:pt x="33221" y="9628"/>
                          <a:pt x="31956" y="12797"/>
                        </a:cubicBezTo>
                        <a:cubicBezTo>
                          <a:pt x="31956" y="15332"/>
                          <a:pt x="29426" y="17233"/>
                          <a:pt x="26264" y="1723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6" name="Picture Placeholder 88">
                  <a:extLst>
                    <a:ext uri="{FF2B5EF4-FFF2-40B4-BE49-F238E27FC236}">
                      <a16:creationId xmlns:a16="http://schemas.microsoft.com/office/drawing/2014/main" id="{94782C59-1013-2B13-9509-501F3AD2FB63}"/>
                    </a:ext>
                  </a:extLst>
                </p:cNvPr>
                <p:cNvGrpSpPr/>
                <p:nvPr/>
              </p:nvGrpSpPr>
              <p:grpSpPr>
                <a:xfrm>
                  <a:off x="6250797" y="2050145"/>
                  <a:ext cx="27195" cy="27308"/>
                  <a:chOff x="6250797" y="2050145"/>
                  <a:chExt cx="27195" cy="27308"/>
                </a:xfrm>
                <a:grpFill/>
              </p:grpSpPr>
              <p:sp>
                <p:nvSpPr>
                  <p:cNvPr id="122" name="Picture Placeholder 88">
                    <a:extLst>
                      <a:ext uri="{FF2B5EF4-FFF2-40B4-BE49-F238E27FC236}">
                        <a16:creationId xmlns:a16="http://schemas.microsoft.com/office/drawing/2014/main" id="{AA395C9B-36D7-F253-F796-2D56692D3631}"/>
                      </a:ext>
                    </a:extLst>
                  </p:cNvPr>
                  <p:cNvSpPr/>
                  <p:nvPr/>
                </p:nvSpPr>
                <p:spPr>
                  <a:xfrm>
                    <a:off x="6257122" y="2056483"/>
                    <a:ext cx="14546" cy="14576"/>
                  </a:xfrm>
                  <a:custGeom>
                    <a:avLst/>
                    <a:gdLst>
                      <a:gd name="connsiteX0" fmla="*/ 14547 w 14546"/>
                      <a:gd name="connsiteY0" fmla="*/ 0 h 14576"/>
                      <a:gd name="connsiteX1" fmla="*/ 0 w 14546"/>
                      <a:gd name="connsiteY1" fmla="*/ 14577 h 14576"/>
                    </a:gdLst>
                    <a:ahLst/>
                    <a:cxnLst>
                      <a:cxn ang="0">
                        <a:pos x="connsiteX0" y="connsiteY0"/>
                      </a:cxn>
                      <a:cxn ang="0">
                        <a:pos x="connsiteX1" y="connsiteY1"/>
                      </a:cxn>
                    </a:cxnLst>
                    <a:rect l="l" t="t" r="r" b="b"/>
                    <a:pathLst>
                      <a:path w="14546" h="14576">
                        <a:moveTo>
                          <a:pt x="14547" y="0"/>
                        </a:moveTo>
                        <a:lnTo>
                          <a:pt x="0" y="14577"/>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3" name="Picture Placeholder 88">
                    <a:extLst>
                      <a:ext uri="{FF2B5EF4-FFF2-40B4-BE49-F238E27FC236}">
                        <a16:creationId xmlns:a16="http://schemas.microsoft.com/office/drawing/2014/main" id="{8CEC52F5-24C6-35C6-335B-DA097E917054}"/>
                      </a:ext>
                    </a:extLst>
                  </p:cNvPr>
                  <p:cNvSpPr/>
                  <p:nvPr/>
                </p:nvSpPr>
                <p:spPr>
                  <a:xfrm>
                    <a:off x="6250797" y="2050145"/>
                    <a:ext cx="27195" cy="27252"/>
                  </a:xfrm>
                  <a:custGeom>
                    <a:avLst/>
                    <a:gdLst>
                      <a:gd name="connsiteX0" fmla="*/ 6325 w 27195"/>
                      <a:gd name="connsiteY0" fmla="*/ 27252 h 27252"/>
                      <a:gd name="connsiteX1" fmla="*/ 1897 w 27195"/>
                      <a:gd name="connsiteY1" fmla="*/ 25351 h 27252"/>
                      <a:gd name="connsiteX2" fmla="*/ 1897 w 27195"/>
                      <a:gd name="connsiteY2" fmla="*/ 16478 h 27252"/>
                      <a:gd name="connsiteX3" fmla="*/ 16444 w 27195"/>
                      <a:gd name="connsiteY3" fmla="*/ 1901 h 27252"/>
                      <a:gd name="connsiteX4" fmla="*/ 25298 w 27195"/>
                      <a:gd name="connsiteY4" fmla="*/ 1901 h 27252"/>
                      <a:gd name="connsiteX5" fmla="*/ 25298 w 27195"/>
                      <a:gd name="connsiteY5" fmla="*/ 10774 h 27252"/>
                      <a:gd name="connsiteX6" fmla="*/ 10752 w 27195"/>
                      <a:gd name="connsiteY6" fmla="*/ 25351 h 27252"/>
                      <a:gd name="connsiteX7" fmla="*/ 6325 w 27195"/>
                      <a:gd name="connsiteY7" fmla="*/ 27252 h 2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195" h="27252">
                        <a:moveTo>
                          <a:pt x="6325" y="27252"/>
                        </a:moveTo>
                        <a:cubicBezTo>
                          <a:pt x="4427" y="27252"/>
                          <a:pt x="3162" y="26619"/>
                          <a:pt x="1897" y="25351"/>
                        </a:cubicBezTo>
                        <a:cubicBezTo>
                          <a:pt x="-632" y="22816"/>
                          <a:pt x="-632" y="19013"/>
                          <a:pt x="1897" y="16478"/>
                        </a:cubicBezTo>
                        <a:lnTo>
                          <a:pt x="16444" y="1901"/>
                        </a:lnTo>
                        <a:cubicBezTo>
                          <a:pt x="18974" y="-634"/>
                          <a:pt x="22769" y="-634"/>
                          <a:pt x="25298" y="1901"/>
                        </a:cubicBezTo>
                        <a:cubicBezTo>
                          <a:pt x="27828" y="4436"/>
                          <a:pt x="27828" y="8239"/>
                          <a:pt x="25298" y="10774"/>
                        </a:cubicBezTo>
                        <a:lnTo>
                          <a:pt x="10752" y="25351"/>
                        </a:lnTo>
                        <a:cubicBezTo>
                          <a:pt x="9487" y="26619"/>
                          <a:pt x="8222" y="27252"/>
                          <a:pt x="6325" y="2725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7" name="Picture Placeholder 88">
                  <a:extLst>
                    <a:ext uri="{FF2B5EF4-FFF2-40B4-BE49-F238E27FC236}">
                      <a16:creationId xmlns:a16="http://schemas.microsoft.com/office/drawing/2014/main" id="{A123598B-89A0-8CC8-22E6-5ABCF5ABAAFF}"/>
                    </a:ext>
                  </a:extLst>
                </p:cNvPr>
                <p:cNvGrpSpPr/>
                <p:nvPr/>
              </p:nvGrpSpPr>
              <p:grpSpPr>
                <a:xfrm>
                  <a:off x="6156861" y="1989181"/>
                  <a:ext cx="17741" cy="31876"/>
                  <a:chOff x="6156861" y="1989181"/>
                  <a:chExt cx="17741" cy="31876"/>
                </a:xfrm>
                <a:grpFill/>
              </p:grpSpPr>
              <p:sp>
                <p:nvSpPr>
                  <p:cNvPr id="120" name="Picture Placeholder 88">
                    <a:extLst>
                      <a:ext uri="{FF2B5EF4-FFF2-40B4-BE49-F238E27FC236}">
                        <a16:creationId xmlns:a16="http://schemas.microsoft.com/office/drawing/2014/main" id="{13D792B5-FFE9-5A54-D999-4F09CB568977}"/>
                      </a:ext>
                    </a:extLst>
                  </p:cNvPr>
                  <p:cNvSpPr/>
                  <p:nvPr/>
                </p:nvSpPr>
                <p:spPr>
                  <a:xfrm>
                    <a:off x="6163518" y="1995006"/>
                    <a:ext cx="5059" cy="19647"/>
                  </a:xfrm>
                  <a:custGeom>
                    <a:avLst/>
                    <a:gdLst>
                      <a:gd name="connsiteX0" fmla="*/ 5060 w 5059"/>
                      <a:gd name="connsiteY0" fmla="*/ 0 h 19647"/>
                      <a:gd name="connsiteX1" fmla="*/ 0 w 5059"/>
                      <a:gd name="connsiteY1" fmla="*/ 19647 h 19647"/>
                    </a:gdLst>
                    <a:ahLst/>
                    <a:cxnLst>
                      <a:cxn ang="0">
                        <a:pos x="connsiteX0" y="connsiteY0"/>
                      </a:cxn>
                      <a:cxn ang="0">
                        <a:pos x="connsiteX1" y="connsiteY1"/>
                      </a:cxn>
                    </a:cxnLst>
                    <a:rect l="l" t="t" r="r" b="b"/>
                    <a:pathLst>
                      <a:path w="5059" h="19647">
                        <a:moveTo>
                          <a:pt x="5060" y="0"/>
                        </a:moveTo>
                        <a:lnTo>
                          <a:pt x="0" y="19647"/>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1" name="Picture Placeholder 88">
                    <a:extLst>
                      <a:ext uri="{FF2B5EF4-FFF2-40B4-BE49-F238E27FC236}">
                        <a16:creationId xmlns:a16="http://schemas.microsoft.com/office/drawing/2014/main" id="{3CA60747-EB08-CA4E-0A0C-FDE1EBB45127}"/>
                      </a:ext>
                    </a:extLst>
                  </p:cNvPr>
                  <p:cNvSpPr/>
                  <p:nvPr/>
                </p:nvSpPr>
                <p:spPr>
                  <a:xfrm>
                    <a:off x="6156861" y="1989181"/>
                    <a:ext cx="17741" cy="31810"/>
                  </a:xfrm>
                  <a:custGeom>
                    <a:avLst/>
                    <a:gdLst>
                      <a:gd name="connsiteX0" fmla="*/ 6657 w 17741"/>
                      <a:gd name="connsiteY0" fmla="*/ 31810 h 31810"/>
                      <a:gd name="connsiteX1" fmla="*/ 4760 w 17741"/>
                      <a:gd name="connsiteY1" fmla="*/ 31810 h 31810"/>
                      <a:gd name="connsiteX2" fmla="*/ 333 w 17741"/>
                      <a:gd name="connsiteY2" fmla="*/ 24205 h 31810"/>
                      <a:gd name="connsiteX3" fmla="*/ 5392 w 17741"/>
                      <a:gd name="connsiteY3" fmla="*/ 4558 h 31810"/>
                      <a:gd name="connsiteX4" fmla="*/ 12982 w 17741"/>
                      <a:gd name="connsiteY4" fmla="*/ 121 h 31810"/>
                      <a:gd name="connsiteX5" fmla="*/ 17409 w 17741"/>
                      <a:gd name="connsiteY5" fmla="*/ 7727 h 31810"/>
                      <a:gd name="connsiteX6" fmla="*/ 12349 w 17741"/>
                      <a:gd name="connsiteY6" fmla="*/ 27374 h 31810"/>
                      <a:gd name="connsiteX7" fmla="*/ 6657 w 17741"/>
                      <a:gd name="connsiteY7" fmla="*/ 31810 h 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41" h="31810">
                        <a:moveTo>
                          <a:pt x="6657" y="31810"/>
                        </a:moveTo>
                        <a:cubicBezTo>
                          <a:pt x="6025" y="31810"/>
                          <a:pt x="5392" y="31810"/>
                          <a:pt x="4760" y="31810"/>
                        </a:cubicBezTo>
                        <a:cubicBezTo>
                          <a:pt x="1598" y="31177"/>
                          <a:pt x="-932" y="27374"/>
                          <a:pt x="333" y="24205"/>
                        </a:cubicBezTo>
                        <a:lnTo>
                          <a:pt x="5392" y="4558"/>
                        </a:lnTo>
                        <a:cubicBezTo>
                          <a:pt x="6025" y="1389"/>
                          <a:pt x="9820" y="-512"/>
                          <a:pt x="12982" y="121"/>
                        </a:cubicBezTo>
                        <a:cubicBezTo>
                          <a:pt x="16144" y="755"/>
                          <a:pt x="18674" y="4558"/>
                          <a:pt x="17409" y="7727"/>
                        </a:cubicBezTo>
                        <a:lnTo>
                          <a:pt x="12349" y="27374"/>
                        </a:lnTo>
                        <a:cubicBezTo>
                          <a:pt x="11717" y="29909"/>
                          <a:pt x="9187" y="31810"/>
                          <a:pt x="6657" y="3181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18" name="Picture Placeholder 88">
                  <a:extLst>
                    <a:ext uri="{FF2B5EF4-FFF2-40B4-BE49-F238E27FC236}">
                      <a16:creationId xmlns:a16="http://schemas.microsoft.com/office/drawing/2014/main" id="{FF965443-F1CC-CBBF-848F-CD5C15EBB383}"/>
                    </a:ext>
                  </a:extLst>
                </p:cNvPr>
                <p:cNvSpPr/>
                <p:nvPr/>
              </p:nvSpPr>
              <p:spPr>
                <a:xfrm>
                  <a:off x="6121143" y="2153329"/>
                  <a:ext cx="133474" cy="61597"/>
                </a:xfrm>
                <a:custGeom>
                  <a:avLst/>
                  <a:gdLst>
                    <a:gd name="connsiteX0" fmla="*/ 0 w 133474"/>
                    <a:gd name="connsiteY0" fmla="*/ 38782 h 61597"/>
                    <a:gd name="connsiteX1" fmla="*/ 127124 w 133474"/>
                    <a:gd name="connsiteY1" fmla="*/ 121 h 61597"/>
                    <a:gd name="connsiteX2" fmla="*/ 132817 w 133474"/>
                    <a:gd name="connsiteY2" fmla="*/ 4558 h 61597"/>
                    <a:gd name="connsiteX3" fmla="*/ 131552 w 133474"/>
                    <a:gd name="connsiteY3" fmla="*/ 11529 h 61597"/>
                    <a:gd name="connsiteX4" fmla="*/ 11384 w 133474"/>
                    <a:gd name="connsiteY4" fmla="*/ 61598 h 61597"/>
                    <a:gd name="connsiteX5" fmla="*/ 0 w 133474"/>
                    <a:gd name="connsiteY5" fmla="*/ 38782 h 6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474" h="61597">
                      <a:moveTo>
                        <a:pt x="0" y="38782"/>
                      </a:moveTo>
                      <a:lnTo>
                        <a:pt x="127124" y="121"/>
                      </a:lnTo>
                      <a:cubicBezTo>
                        <a:pt x="129022" y="-512"/>
                        <a:pt x="131552" y="1389"/>
                        <a:pt x="132817" y="4558"/>
                      </a:cubicBezTo>
                      <a:cubicBezTo>
                        <a:pt x="134082" y="7727"/>
                        <a:pt x="133449" y="10896"/>
                        <a:pt x="131552" y="11529"/>
                      </a:cubicBezTo>
                      <a:lnTo>
                        <a:pt x="11384" y="61598"/>
                      </a:lnTo>
                      <a:lnTo>
                        <a:pt x="0" y="3878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9" name="Picture Placeholder 88">
                  <a:extLst>
                    <a:ext uri="{FF2B5EF4-FFF2-40B4-BE49-F238E27FC236}">
                      <a16:creationId xmlns:a16="http://schemas.microsoft.com/office/drawing/2014/main" id="{0BBB13EA-DD17-F65A-8D9E-2F93F1729EF6}"/>
                    </a:ext>
                  </a:extLst>
                </p:cNvPr>
                <p:cNvSpPr/>
                <p:nvPr/>
              </p:nvSpPr>
              <p:spPr>
                <a:xfrm>
                  <a:off x="6076871" y="2188942"/>
                  <a:ext cx="63246" cy="31688"/>
                </a:xfrm>
                <a:custGeom>
                  <a:avLst/>
                  <a:gdLst>
                    <a:gd name="connsiteX0" fmla="*/ 0 w 63246"/>
                    <a:gd name="connsiteY0" fmla="*/ 31689 h 31688"/>
                    <a:gd name="connsiteX1" fmla="*/ 31623 w 63246"/>
                    <a:gd name="connsiteY1" fmla="*/ 0 h 31688"/>
                    <a:gd name="connsiteX2" fmla="*/ 63246 w 63246"/>
                    <a:gd name="connsiteY2" fmla="*/ 31689 h 31688"/>
                  </a:gdLst>
                  <a:ahLst/>
                  <a:cxnLst>
                    <a:cxn ang="0">
                      <a:pos x="connsiteX0" y="connsiteY0"/>
                    </a:cxn>
                    <a:cxn ang="0">
                      <a:pos x="connsiteX1" y="connsiteY1"/>
                    </a:cxn>
                    <a:cxn ang="0">
                      <a:pos x="connsiteX2" y="connsiteY2"/>
                    </a:cxn>
                  </a:cxnLst>
                  <a:rect l="l" t="t" r="r" b="b"/>
                  <a:pathLst>
                    <a:path w="63246" h="31688">
                      <a:moveTo>
                        <a:pt x="0" y="31689"/>
                      </a:moveTo>
                      <a:cubicBezTo>
                        <a:pt x="0" y="13943"/>
                        <a:pt x="13914" y="0"/>
                        <a:pt x="31623" y="0"/>
                      </a:cubicBezTo>
                      <a:cubicBezTo>
                        <a:pt x="49332" y="0"/>
                        <a:pt x="63246" y="13943"/>
                        <a:pt x="63246" y="31689"/>
                      </a:cubicBez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97" name="Picture Placeholder 88">
                <a:extLst>
                  <a:ext uri="{FF2B5EF4-FFF2-40B4-BE49-F238E27FC236}">
                    <a16:creationId xmlns:a16="http://schemas.microsoft.com/office/drawing/2014/main" id="{7555A45D-0288-7E83-6546-4C742C4CCAA4}"/>
                  </a:ext>
                </a:extLst>
              </p:cNvPr>
              <p:cNvSpPr/>
              <p:nvPr/>
            </p:nvSpPr>
            <p:spPr>
              <a:xfrm>
                <a:off x="6279891" y="2290981"/>
                <a:ext cx="124594" cy="142600"/>
              </a:xfrm>
              <a:custGeom>
                <a:avLst/>
                <a:gdLst>
                  <a:gd name="connsiteX0" fmla="*/ 124595 w 124594"/>
                  <a:gd name="connsiteY0" fmla="*/ 142600 h 142600"/>
                  <a:gd name="connsiteX1" fmla="*/ 0 w 124594"/>
                  <a:gd name="connsiteY1" fmla="*/ 142600 h 142600"/>
                  <a:gd name="connsiteX2" fmla="*/ 0 w 124594"/>
                  <a:gd name="connsiteY2" fmla="*/ 126756 h 142600"/>
                  <a:gd name="connsiteX3" fmla="*/ 108783 w 124594"/>
                  <a:gd name="connsiteY3" fmla="*/ 126756 h 142600"/>
                  <a:gd name="connsiteX4" fmla="*/ 108783 w 124594"/>
                  <a:gd name="connsiteY4" fmla="*/ 15844 h 142600"/>
                  <a:gd name="connsiteX5" fmla="*/ 0 w 124594"/>
                  <a:gd name="connsiteY5" fmla="*/ 15844 h 142600"/>
                  <a:gd name="connsiteX6" fmla="*/ 0 w 124594"/>
                  <a:gd name="connsiteY6" fmla="*/ 0 h 142600"/>
                  <a:gd name="connsiteX7" fmla="*/ 124595 w 124594"/>
                  <a:gd name="connsiteY7" fmla="*/ 0 h 14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594" h="142600">
                    <a:moveTo>
                      <a:pt x="124595" y="142600"/>
                    </a:moveTo>
                    <a:lnTo>
                      <a:pt x="0" y="142600"/>
                    </a:lnTo>
                    <a:lnTo>
                      <a:pt x="0" y="126756"/>
                    </a:lnTo>
                    <a:lnTo>
                      <a:pt x="108783" y="126756"/>
                    </a:lnTo>
                    <a:lnTo>
                      <a:pt x="108783" y="15844"/>
                    </a:lnTo>
                    <a:lnTo>
                      <a:pt x="0" y="15844"/>
                    </a:lnTo>
                    <a:lnTo>
                      <a:pt x="0" y="0"/>
                    </a:lnTo>
                    <a:lnTo>
                      <a:pt x="124595"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8" name="Picture Placeholder 88">
                <a:extLst>
                  <a:ext uri="{FF2B5EF4-FFF2-40B4-BE49-F238E27FC236}">
                    <a16:creationId xmlns:a16="http://schemas.microsoft.com/office/drawing/2014/main" id="{4F7CED69-D219-A606-FBEE-0AA4C8D91E1A}"/>
                  </a:ext>
                </a:extLst>
              </p:cNvPr>
              <p:cNvSpPr/>
              <p:nvPr/>
            </p:nvSpPr>
            <p:spPr>
              <a:xfrm>
                <a:off x="6357051" y="2313797"/>
                <a:ext cx="25298" cy="25351"/>
              </a:xfrm>
              <a:custGeom>
                <a:avLst/>
                <a:gdLst>
                  <a:gd name="connsiteX0" fmla="*/ 25298 w 25298"/>
                  <a:gd name="connsiteY0" fmla="*/ 12676 h 25351"/>
                  <a:gd name="connsiteX1" fmla="*/ 12649 w 25298"/>
                  <a:gd name="connsiteY1" fmla="*/ 25351 h 25351"/>
                  <a:gd name="connsiteX2" fmla="*/ 0 w 25298"/>
                  <a:gd name="connsiteY2" fmla="*/ 12676 h 25351"/>
                  <a:gd name="connsiteX3" fmla="*/ 12649 w 25298"/>
                  <a:gd name="connsiteY3" fmla="*/ 0 h 25351"/>
                  <a:gd name="connsiteX4" fmla="*/ 25298 w 25298"/>
                  <a:gd name="connsiteY4" fmla="*/ 12676 h 25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98" h="25351">
                    <a:moveTo>
                      <a:pt x="25298" y="12676"/>
                    </a:moveTo>
                    <a:cubicBezTo>
                      <a:pt x="25298" y="19676"/>
                      <a:pt x="19635" y="25351"/>
                      <a:pt x="12649" y="25351"/>
                    </a:cubicBezTo>
                    <a:cubicBezTo>
                      <a:pt x="5663" y="25351"/>
                      <a:pt x="0" y="19676"/>
                      <a:pt x="0" y="12676"/>
                    </a:cubicBezTo>
                    <a:cubicBezTo>
                      <a:pt x="0" y="5675"/>
                      <a:pt x="5663" y="0"/>
                      <a:pt x="12649" y="0"/>
                    </a:cubicBezTo>
                    <a:cubicBezTo>
                      <a:pt x="19635" y="0"/>
                      <a:pt x="25298" y="5675"/>
                      <a:pt x="25298" y="1267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9" name="Picture Placeholder 88">
                <a:extLst>
                  <a:ext uri="{FF2B5EF4-FFF2-40B4-BE49-F238E27FC236}">
                    <a16:creationId xmlns:a16="http://schemas.microsoft.com/office/drawing/2014/main" id="{86268979-4549-3AD0-784A-53E6ACC6C947}"/>
                  </a:ext>
                </a:extLst>
              </p:cNvPr>
              <p:cNvSpPr/>
              <p:nvPr/>
            </p:nvSpPr>
            <p:spPr>
              <a:xfrm>
                <a:off x="6315308" y="2355626"/>
                <a:ext cx="25298" cy="25351"/>
              </a:xfrm>
              <a:custGeom>
                <a:avLst/>
                <a:gdLst>
                  <a:gd name="connsiteX0" fmla="*/ 25298 w 25298"/>
                  <a:gd name="connsiteY0" fmla="*/ 12676 h 25351"/>
                  <a:gd name="connsiteX1" fmla="*/ 12649 w 25298"/>
                  <a:gd name="connsiteY1" fmla="*/ 25351 h 25351"/>
                  <a:gd name="connsiteX2" fmla="*/ 0 w 25298"/>
                  <a:gd name="connsiteY2" fmla="*/ 12676 h 25351"/>
                  <a:gd name="connsiteX3" fmla="*/ 12649 w 25298"/>
                  <a:gd name="connsiteY3" fmla="*/ 0 h 25351"/>
                  <a:gd name="connsiteX4" fmla="*/ 25298 w 25298"/>
                  <a:gd name="connsiteY4" fmla="*/ 12676 h 25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98" h="25351">
                    <a:moveTo>
                      <a:pt x="25298" y="12676"/>
                    </a:moveTo>
                    <a:cubicBezTo>
                      <a:pt x="25298" y="19676"/>
                      <a:pt x="19635" y="25351"/>
                      <a:pt x="12649" y="25351"/>
                    </a:cubicBezTo>
                    <a:cubicBezTo>
                      <a:pt x="5663" y="25351"/>
                      <a:pt x="0" y="19676"/>
                      <a:pt x="0" y="12676"/>
                    </a:cubicBezTo>
                    <a:cubicBezTo>
                      <a:pt x="0" y="5675"/>
                      <a:pt x="5663" y="0"/>
                      <a:pt x="12649" y="0"/>
                    </a:cubicBezTo>
                    <a:cubicBezTo>
                      <a:pt x="19635" y="0"/>
                      <a:pt x="25298" y="5675"/>
                      <a:pt x="25298" y="1267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0" name="Picture Placeholder 88">
                <a:extLst>
                  <a:ext uri="{FF2B5EF4-FFF2-40B4-BE49-F238E27FC236}">
                    <a16:creationId xmlns:a16="http://schemas.microsoft.com/office/drawing/2014/main" id="{FF434199-0D77-560F-74B2-C9770E583D9A}"/>
                  </a:ext>
                </a:extLst>
              </p:cNvPr>
              <p:cNvSpPr/>
              <p:nvPr/>
            </p:nvSpPr>
            <p:spPr>
              <a:xfrm>
                <a:off x="6284950" y="2322669"/>
                <a:ext cx="89176" cy="55138"/>
              </a:xfrm>
              <a:custGeom>
                <a:avLst/>
                <a:gdLst>
                  <a:gd name="connsiteX0" fmla="*/ 46802 w 89176"/>
                  <a:gd name="connsiteY0" fmla="*/ 55139 h 55138"/>
                  <a:gd name="connsiteX1" fmla="*/ 0 w 89176"/>
                  <a:gd name="connsiteY1" fmla="*/ 55139 h 55138"/>
                  <a:gd name="connsiteX2" fmla="*/ 0 w 89176"/>
                  <a:gd name="connsiteY2" fmla="*/ 39294 h 55138"/>
                  <a:gd name="connsiteX3" fmla="*/ 39845 w 89176"/>
                  <a:gd name="connsiteY3" fmla="*/ 39294 h 55138"/>
                  <a:gd name="connsiteX4" fmla="*/ 77793 w 89176"/>
                  <a:gd name="connsiteY4" fmla="*/ 0 h 55138"/>
                  <a:gd name="connsiteX5" fmla="*/ 89177 w 89176"/>
                  <a:gd name="connsiteY5" fmla="*/ 10774 h 55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176" h="55138">
                    <a:moveTo>
                      <a:pt x="46802" y="55139"/>
                    </a:moveTo>
                    <a:lnTo>
                      <a:pt x="0" y="55139"/>
                    </a:lnTo>
                    <a:lnTo>
                      <a:pt x="0" y="39294"/>
                    </a:lnTo>
                    <a:lnTo>
                      <a:pt x="39845" y="39294"/>
                    </a:lnTo>
                    <a:lnTo>
                      <a:pt x="77793" y="0"/>
                    </a:lnTo>
                    <a:lnTo>
                      <a:pt x="89177" y="1077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1" name="Picture Placeholder 88">
                <a:extLst>
                  <a:ext uri="{FF2B5EF4-FFF2-40B4-BE49-F238E27FC236}">
                    <a16:creationId xmlns:a16="http://schemas.microsoft.com/office/drawing/2014/main" id="{92054B7E-495F-B2D6-75DB-E2DAC0393395}"/>
                  </a:ext>
                </a:extLst>
              </p:cNvPr>
              <p:cNvSpPr/>
              <p:nvPr/>
            </p:nvSpPr>
            <p:spPr>
              <a:xfrm>
                <a:off x="5804281" y="2290981"/>
                <a:ext cx="122697" cy="142600"/>
              </a:xfrm>
              <a:custGeom>
                <a:avLst/>
                <a:gdLst>
                  <a:gd name="connsiteX0" fmla="*/ 122697 w 122697"/>
                  <a:gd name="connsiteY0" fmla="*/ 142600 h 142600"/>
                  <a:gd name="connsiteX1" fmla="*/ 0 w 122697"/>
                  <a:gd name="connsiteY1" fmla="*/ 142600 h 142600"/>
                  <a:gd name="connsiteX2" fmla="*/ 0 w 122697"/>
                  <a:gd name="connsiteY2" fmla="*/ 0 h 142600"/>
                  <a:gd name="connsiteX3" fmla="*/ 122697 w 122697"/>
                  <a:gd name="connsiteY3" fmla="*/ 0 h 142600"/>
                  <a:gd name="connsiteX4" fmla="*/ 122697 w 122697"/>
                  <a:gd name="connsiteY4" fmla="*/ 15844 h 142600"/>
                  <a:gd name="connsiteX5" fmla="*/ 15812 w 122697"/>
                  <a:gd name="connsiteY5" fmla="*/ 15844 h 142600"/>
                  <a:gd name="connsiteX6" fmla="*/ 15812 w 122697"/>
                  <a:gd name="connsiteY6" fmla="*/ 126756 h 142600"/>
                  <a:gd name="connsiteX7" fmla="*/ 122697 w 122697"/>
                  <a:gd name="connsiteY7" fmla="*/ 126756 h 14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697" h="142600">
                    <a:moveTo>
                      <a:pt x="122697" y="142600"/>
                    </a:moveTo>
                    <a:lnTo>
                      <a:pt x="0" y="142600"/>
                    </a:lnTo>
                    <a:lnTo>
                      <a:pt x="0" y="0"/>
                    </a:lnTo>
                    <a:lnTo>
                      <a:pt x="122697" y="0"/>
                    </a:lnTo>
                    <a:lnTo>
                      <a:pt x="122697" y="15844"/>
                    </a:lnTo>
                    <a:lnTo>
                      <a:pt x="15812" y="15844"/>
                    </a:lnTo>
                    <a:lnTo>
                      <a:pt x="15812" y="126756"/>
                    </a:lnTo>
                    <a:lnTo>
                      <a:pt x="122697" y="126756"/>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2" name="Picture Placeholder 88">
                <a:extLst>
                  <a:ext uri="{FF2B5EF4-FFF2-40B4-BE49-F238E27FC236}">
                    <a16:creationId xmlns:a16="http://schemas.microsoft.com/office/drawing/2014/main" id="{A5333D7A-6A0C-1C47-2740-AC6B2527F366}"/>
                  </a:ext>
                </a:extLst>
              </p:cNvPr>
              <p:cNvSpPr/>
              <p:nvPr/>
            </p:nvSpPr>
            <p:spPr>
              <a:xfrm>
                <a:off x="6279891" y="2355626"/>
                <a:ext cx="13281" cy="25351"/>
              </a:xfrm>
              <a:custGeom>
                <a:avLst/>
                <a:gdLst>
                  <a:gd name="connsiteX0" fmla="*/ 632 w 13281"/>
                  <a:gd name="connsiteY0" fmla="*/ 0 h 25351"/>
                  <a:gd name="connsiteX1" fmla="*/ 0 w 13281"/>
                  <a:gd name="connsiteY1" fmla="*/ 0 h 25351"/>
                  <a:gd name="connsiteX2" fmla="*/ 0 w 13281"/>
                  <a:gd name="connsiteY2" fmla="*/ 25351 h 25351"/>
                  <a:gd name="connsiteX3" fmla="*/ 632 w 13281"/>
                  <a:gd name="connsiteY3" fmla="*/ 25351 h 25351"/>
                  <a:gd name="connsiteX4" fmla="*/ 13282 w 13281"/>
                  <a:gd name="connsiteY4" fmla="*/ 12676 h 25351"/>
                  <a:gd name="connsiteX5" fmla="*/ 632 w 13281"/>
                  <a:gd name="connsiteY5" fmla="*/ 0 h 25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81" h="25351">
                    <a:moveTo>
                      <a:pt x="632" y="0"/>
                    </a:moveTo>
                    <a:cubicBezTo>
                      <a:pt x="632" y="0"/>
                      <a:pt x="0" y="0"/>
                      <a:pt x="0" y="0"/>
                    </a:cubicBezTo>
                    <a:lnTo>
                      <a:pt x="0" y="25351"/>
                    </a:lnTo>
                    <a:cubicBezTo>
                      <a:pt x="0" y="25351"/>
                      <a:pt x="632" y="25351"/>
                      <a:pt x="632" y="25351"/>
                    </a:cubicBezTo>
                    <a:cubicBezTo>
                      <a:pt x="7590" y="25351"/>
                      <a:pt x="13282" y="19647"/>
                      <a:pt x="13282" y="12676"/>
                    </a:cubicBezTo>
                    <a:cubicBezTo>
                      <a:pt x="13282" y="5704"/>
                      <a:pt x="7590" y="0"/>
                      <a:pt x="632"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Picture Placeholder 88">
                <a:extLst>
                  <a:ext uri="{FF2B5EF4-FFF2-40B4-BE49-F238E27FC236}">
                    <a16:creationId xmlns:a16="http://schemas.microsoft.com/office/drawing/2014/main" id="{6B29CC53-EF12-3CE8-F216-59A52E3EBBF3}"/>
                  </a:ext>
                </a:extLst>
              </p:cNvPr>
              <p:cNvSpPr/>
              <p:nvPr/>
            </p:nvSpPr>
            <p:spPr>
              <a:xfrm>
                <a:off x="5829579" y="2322036"/>
                <a:ext cx="97398" cy="85560"/>
              </a:xfrm>
              <a:custGeom>
                <a:avLst/>
                <a:gdLst>
                  <a:gd name="connsiteX0" fmla="*/ 97399 w 97398"/>
                  <a:gd name="connsiteY0" fmla="*/ 0 h 85560"/>
                  <a:gd name="connsiteX1" fmla="*/ 61981 w 97398"/>
                  <a:gd name="connsiteY1" fmla="*/ 5704 h 85560"/>
                  <a:gd name="connsiteX2" fmla="*/ 70836 w 97398"/>
                  <a:gd name="connsiteY2" fmla="*/ 15844 h 85560"/>
                  <a:gd name="connsiteX3" fmla="*/ 0 w 97398"/>
                  <a:gd name="connsiteY3" fmla="*/ 73518 h 85560"/>
                  <a:gd name="connsiteX4" fmla="*/ 10119 w 97398"/>
                  <a:gd name="connsiteY4" fmla="*/ 85560 h 85560"/>
                  <a:gd name="connsiteX5" fmla="*/ 80322 w 97398"/>
                  <a:gd name="connsiteY5" fmla="*/ 28520 h 85560"/>
                  <a:gd name="connsiteX6" fmla="*/ 89177 w 97398"/>
                  <a:gd name="connsiteY6" fmla="*/ 38661 h 85560"/>
                  <a:gd name="connsiteX7" fmla="*/ 97399 w 97398"/>
                  <a:gd name="connsiteY7" fmla="*/ 17746 h 85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398" h="85560">
                    <a:moveTo>
                      <a:pt x="97399" y="0"/>
                    </a:moveTo>
                    <a:lnTo>
                      <a:pt x="61981" y="5704"/>
                    </a:lnTo>
                    <a:lnTo>
                      <a:pt x="70836" y="15844"/>
                    </a:lnTo>
                    <a:lnTo>
                      <a:pt x="0" y="73518"/>
                    </a:lnTo>
                    <a:lnTo>
                      <a:pt x="10119" y="85560"/>
                    </a:lnTo>
                    <a:lnTo>
                      <a:pt x="80322" y="28520"/>
                    </a:lnTo>
                    <a:lnTo>
                      <a:pt x="89177" y="38661"/>
                    </a:lnTo>
                    <a:lnTo>
                      <a:pt x="97399" y="17746"/>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4" name="Picture Placeholder 88">
                <a:extLst>
                  <a:ext uri="{FF2B5EF4-FFF2-40B4-BE49-F238E27FC236}">
                    <a16:creationId xmlns:a16="http://schemas.microsoft.com/office/drawing/2014/main" id="{0234724C-A26B-9E20-FA75-4CF912B660DF}"/>
                  </a:ext>
                </a:extLst>
              </p:cNvPr>
              <p:cNvSpPr/>
              <p:nvPr/>
            </p:nvSpPr>
            <p:spPr>
              <a:xfrm>
                <a:off x="5945319" y="2269432"/>
                <a:ext cx="316230" cy="244004"/>
              </a:xfrm>
              <a:custGeom>
                <a:avLst/>
                <a:gdLst>
                  <a:gd name="connsiteX0" fmla="*/ 316230 w 316230"/>
                  <a:gd name="connsiteY0" fmla="*/ 244005 h 244004"/>
                  <a:gd name="connsiteX1" fmla="*/ 0 w 316230"/>
                  <a:gd name="connsiteY1" fmla="*/ 244005 h 244004"/>
                  <a:gd name="connsiteX2" fmla="*/ 0 w 316230"/>
                  <a:gd name="connsiteY2" fmla="*/ 0 h 244004"/>
                  <a:gd name="connsiteX3" fmla="*/ 316230 w 316230"/>
                  <a:gd name="connsiteY3" fmla="*/ 0 h 244004"/>
                  <a:gd name="connsiteX4" fmla="*/ 316230 w 316230"/>
                  <a:gd name="connsiteY4" fmla="*/ 244005 h 244004"/>
                  <a:gd name="connsiteX5" fmla="*/ 15812 w 316230"/>
                  <a:gd name="connsiteY5" fmla="*/ 228160 h 244004"/>
                  <a:gd name="connsiteX6" fmla="*/ 300419 w 316230"/>
                  <a:gd name="connsiteY6" fmla="*/ 228160 h 244004"/>
                  <a:gd name="connsiteX7" fmla="*/ 300419 w 316230"/>
                  <a:gd name="connsiteY7" fmla="*/ 15844 h 244004"/>
                  <a:gd name="connsiteX8" fmla="*/ 15812 w 316230"/>
                  <a:gd name="connsiteY8" fmla="*/ 15844 h 244004"/>
                  <a:gd name="connsiteX9" fmla="*/ 15812 w 316230"/>
                  <a:gd name="connsiteY9" fmla="*/ 228160 h 24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230" h="244004">
                    <a:moveTo>
                      <a:pt x="316230" y="244005"/>
                    </a:moveTo>
                    <a:lnTo>
                      <a:pt x="0" y="244005"/>
                    </a:lnTo>
                    <a:lnTo>
                      <a:pt x="0" y="0"/>
                    </a:lnTo>
                    <a:lnTo>
                      <a:pt x="316230" y="0"/>
                    </a:lnTo>
                    <a:lnTo>
                      <a:pt x="316230" y="244005"/>
                    </a:lnTo>
                    <a:close/>
                    <a:moveTo>
                      <a:pt x="15812" y="228160"/>
                    </a:moveTo>
                    <a:lnTo>
                      <a:pt x="300419" y="228160"/>
                    </a:lnTo>
                    <a:lnTo>
                      <a:pt x="300419" y="15844"/>
                    </a:lnTo>
                    <a:lnTo>
                      <a:pt x="15812" y="15844"/>
                    </a:lnTo>
                    <a:lnTo>
                      <a:pt x="15812" y="22816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5" name="Picture Placeholder 88">
                <a:extLst>
                  <a:ext uri="{FF2B5EF4-FFF2-40B4-BE49-F238E27FC236}">
                    <a16:creationId xmlns:a16="http://schemas.microsoft.com/office/drawing/2014/main" id="{9FCDD1C7-1995-C73C-6120-048D392C0B1A}"/>
                  </a:ext>
                </a:extLst>
              </p:cNvPr>
              <p:cNvSpPr/>
              <p:nvPr/>
            </p:nvSpPr>
            <p:spPr>
              <a:xfrm>
                <a:off x="5957968" y="2323937"/>
                <a:ext cx="254248" cy="15844"/>
              </a:xfrm>
              <a:custGeom>
                <a:avLst/>
                <a:gdLst>
                  <a:gd name="connsiteX0" fmla="*/ 0 w 254248"/>
                  <a:gd name="connsiteY0" fmla="*/ 0 h 15844"/>
                  <a:gd name="connsiteX1" fmla="*/ 254249 w 254248"/>
                  <a:gd name="connsiteY1" fmla="*/ 0 h 15844"/>
                  <a:gd name="connsiteX2" fmla="*/ 254249 w 254248"/>
                  <a:gd name="connsiteY2" fmla="*/ 15844 h 15844"/>
                  <a:gd name="connsiteX3" fmla="*/ 0 w 254248"/>
                  <a:gd name="connsiteY3" fmla="*/ 15844 h 15844"/>
                </a:gdLst>
                <a:ahLst/>
                <a:cxnLst>
                  <a:cxn ang="0">
                    <a:pos x="connsiteX0" y="connsiteY0"/>
                  </a:cxn>
                  <a:cxn ang="0">
                    <a:pos x="connsiteX1" y="connsiteY1"/>
                  </a:cxn>
                  <a:cxn ang="0">
                    <a:pos x="connsiteX2" y="connsiteY2"/>
                  </a:cxn>
                  <a:cxn ang="0">
                    <a:pos x="connsiteX3" y="connsiteY3"/>
                  </a:cxn>
                </a:cxnLst>
                <a:rect l="l" t="t" r="r" b="b"/>
                <a:pathLst>
                  <a:path w="254248" h="15844">
                    <a:moveTo>
                      <a:pt x="0" y="0"/>
                    </a:moveTo>
                    <a:lnTo>
                      <a:pt x="254249" y="0"/>
                    </a:lnTo>
                    <a:lnTo>
                      <a:pt x="254249"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6" name="Picture Placeholder 88">
                <a:extLst>
                  <a:ext uri="{FF2B5EF4-FFF2-40B4-BE49-F238E27FC236}">
                    <a16:creationId xmlns:a16="http://schemas.microsoft.com/office/drawing/2014/main" id="{2E5623B5-C232-A24D-F4BF-759ECD4A3A21}"/>
                  </a:ext>
                </a:extLst>
              </p:cNvPr>
              <p:cNvSpPr/>
              <p:nvPr/>
            </p:nvSpPr>
            <p:spPr>
              <a:xfrm>
                <a:off x="6033231" y="2380977"/>
                <a:ext cx="37947" cy="101404"/>
              </a:xfrm>
              <a:custGeom>
                <a:avLst/>
                <a:gdLst>
                  <a:gd name="connsiteX0" fmla="*/ 37948 w 37947"/>
                  <a:gd name="connsiteY0" fmla="*/ 101405 h 101404"/>
                  <a:gd name="connsiteX1" fmla="*/ 0 w 37947"/>
                  <a:gd name="connsiteY1" fmla="*/ 101405 h 101404"/>
                  <a:gd name="connsiteX2" fmla="*/ 0 w 37947"/>
                  <a:gd name="connsiteY2" fmla="*/ 0 h 101404"/>
                  <a:gd name="connsiteX3" fmla="*/ 37948 w 37947"/>
                  <a:gd name="connsiteY3" fmla="*/ 0 h 101404"/>
                  <a:gd name="connsiteX4" fmla="*/ 37948 w 37947"/>
                  <a:gd name="connsiteY4" fmla="*/ 101405 h 101404"/>
                  <a:gd name="connsiteX5" fmla="*/ 13914 w 37947"/>
                  <a:gd name="connsiteY5" fmla="*/ 87461 h 101404"/>
                  <a:gd name="connsiteX6" fmla="*/ 23401 w 37947"/>
                  <a:gd name="connsiteY6" fmla="*/ 87461 h 101404"/>
                  <a:gd name="connsiteX7" fmla="*/ 23401 w 37947"/>
                  <a:gd name="connsiteY7" fmla="*/ 14577 h 101404"/>
                  <a:gd name="connsiteX8" fmla="*/ 13914 w 37947"/>
                  <a:gd name="connsiteY8" fmla="*/ 14577 h 101404"/>
                  <a:gd name="connsiteX9" fmla="*/ 13914 w 37947"/>
                  <a:gd name="connsiteY9" fmla="*/ 87461 h 10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47" h="101404">
                    <a:moveTo>
                      <a:pt x="37948" y="101405"/>
                    </a:moveTo>
                    <a:lnTo>
                      <a:pt x="0" y="101405"/>
                    </a:lnTo>
                    <a:lnTo>
                      <a:pt x="0" y="0"/>
                    </a:lnTo>
                    <a:lnTo>
                      <a:pt x="37948" y="0"/>
                    </a:lnTo>
                    <a:lnTo>
                      <a:pt x="37948" y="101405"/>
                    </a:lnTo>
                    <a:close/>
                    <a:moveTo>
                      <a:pt x="13914" y="87461"/>
                    </a:moveTo>
                    <a:lnTo>
                      <a:pt x="23401" y="87461"/>
                    </a:lnTo>
                    <a:lnTo>
                      <a:pt x="23401" y="14577"/>
                    </a:lnTo>
                    <a:lnTo>
                      <a:pt x="13914" y="14577"/>
                    </a:lnTo>
                    <a:lnTo>
                      <a:pt x="13914" y="8746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7" name="Picture Placeholder 88">
                <a:extLst>
                  <a:ext uri="{FF2B5EF4-FFF2-40B4-BE49-F238E27FC236}">
                    <a16:creationId xmlns:a16="http://schemas.microsoft.com/office/drawing/2014/main" id="{FE6107A3-DCD8-B3A3-8929-4134F453A780}"/>
                  </a:ext>
                </a:extLst>
              </p:cNvPr>
              <p:cNvSpPr/>
              <p:nvPr/>
            </p:nvSpPr>
            <p:spPr>
              <a:xfrm>
                <a:off x="5983267" y="2444355"/>
                <a:ext cx="37947" cy="38026"/>
              </a:xfrm>
              <a:custGeom>
                <a:avLst/>
                <a:gdLst>
                  <a:gd name="connsiteX0" fmla="*/ 37948 w 37947"/>
                  <a:gd name="connsiteY0" fmla="*/ 38027 h 38026"/>
                  <a:gd name="connsiteX1" fmla="*/ 0 w 37947"/>
                  <a:gd name="connsiteY1" fmla="*/ 38027 h 38026"/>
                  <a:gd name="connsiteX2" fmla="*/ 0 w 37947"/>
                  <a:gd name="connsiteY2" fmla="*/ 0 h 38026"/>
                  <a:gd name="connsiteX3" fmla="*/ 37948 w 37947"/>
                  <a:gd name="connsiteY3" fmla="*/ 0 h 38026"/>
                  <a:gd name="connsiteX4" fmla="*/ 37948 w 37947"/>
                  <a:gd name="connsiteY4" fmla="*/ 38027 h 38026"/>
                  <a:gd name="connsiteX5" fmla="*/ 13914 w 37947"/>
                  <a:gd name="connsiteY5" fmla="*/ 24084 h 38026"/>
                  <a:gd name="connsiteX6" fmla="*/ 23401 w 37947"/>
                  <a:gd name="connsiteY6" fmla="*/ 24084 h 38026"/>
                  <a:gd name="connsiteX7" fmla="*/ 23401 w 37947"/>
                  <a:gd name="connsiteY7" fmla="*/ 14577 h 38026"/>
                  <a:gd name="connsiteX8" fmla="*/ 13914 w 37947"/>
                  <a:gd name="connsiteY8" fmla="*/ 14577 h 38026"/>
                  <a:gd name="connsiteX9" fmla="*/ 13914 w 37947"/>
                  <a:gd name="connsiteY9" fmla="*/ 24084 h 38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47" h="38026">
                    <a:moveTo>
                      <a:pt x="37948" y="38027"/>
                    </a:moveTo>
                    <a:lnTo>
                      <a:pt x="0" y="38027"/>
                    </a:lnTo>
                    <a:lnTo>
                      <a:pt x="0" y="0"/>
                    </a:lnTo>
                    <a:lnTo>
                      <a:pt x="37948" y="0"/>
                    </a:lnTo>
                    <a:lnTo>
                      <a:pt x="37948" y="38027"/>
                    </a:lnTo>
                    <a:close/>
                    <a:moveTo>
                      <a:pt x="13914" y="24084"/>
                    </a:moveTo>
                    <a:lnTo>
                      <a:pt x="23401" y="24084"/>
                    </a:lnTo>
                    <a:lnTo>
                      <a:pt x="23401" y="14577"/>
                    </a:lnTo>
                    <a:lnTo>
                      <a:pt x="13914" y="14577"/>
                    </a:lnTo>
                    <a:lnTo>
                      <a:pt x="13914" y="2408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8" name="Picture Placeholder 88">
                <a:extLst>
                  <a:ext uri="{FF2B5EF4-FFF2-40B4-BE49-F238E27FC236}">
                    <a16:creationId xmlns:a16="http://schemas.microsoft.com/office/drawing/2014/main" id="{C0C6AE30-ED3B-E721-143A-5939585F07F5}"/>
                  </a:ext>
                </a:extLst>
              </p:cNvPr>
              <p:cNvSpPr/>
              <p:nvPr/>
            </p:nvSpPr>
            <p:spPr>
              <a:xfrm>
                <a:off x="6083196" y="2428510"/>
                <a:ext cx="37947" cy="53871"/>
              </a:xfrm>
              <a:custGeom>
                <a:avLst/>
                <a:gdLst>
                  <a:gd name="connsiteX0" fmla="*/ 37948 w 37947"/>
                  <a:gd name="connsiteY0" fmla="*/ 53871 h 53871"/>
                  <a:gd name="connsiteX1" fmla="*/ 0 w 37947"/>
                  <a:gd name="connsiteY1" fmla="*/ 53871 h 53871"/>
                  <a:gd name="connsiteX2" fmla="*/ 0 w 37947"/>
                  <a:gd name="connsiteY2" fmla="*/ 0 h 53871"/>
                  <a:gd name="connsiteX3" fmla="*/ 37948 w 37947"/>
                  <a:gd name="connsiteY3" fmla="*/ 0 h 53871"/>
                  <a:gd name="connsiteX4" fmla="*/ 37948 w 37947"/>
                  <a:gd name="connsiteY4" fmla="*/ 53871 h 53871"/>
                  <a:gd name="connsiteX5" fmla="*/ 13914 w 37947"/>
                  <a:gd name="connsiteY5" fmla="*/ 39928 h 53871"/>
                  <a:gd name="connsiteX6" fmla="*/ 23401 w 37947"/>
                  <a:gd name="connsiteY6" fmla="*/ 39928 h 53871"/>
                  <a:gd name="connsiteX7" fmla="*/ 23401 w 37947"/>
                  <a:gd name="connsiteY7" fmla="*/ 14577 h 53871"/>
                  <a:gd name="connsiteX8" fmla="*/ 13914 w 37947"/>
                  <a:gd name="connsiteY8" fmla="*/ 14577 h 53871"/>
                  <a:gd name="connsiteX9" fmla="*/ 13914 w 37947"/>
                  <a:gd name="connsiteY9" fmla="*/ 39928 h 5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47" h="53871">
                    <a:moveTo>
                      <a:pt x="37948" y="53871"/>
                    </a:moveTo>
                    <a:lnTo>
                      <a:pt x="0" y="53871"/>
                    </a:lnTo>
                    <a:lnTo>
                      <a:pt x="0" y="0"/>
                    </a:lnTo>
                    <a:lnTo>
                      <a:pt x="37948" y="0"/>
                    </a:lnTo>
                    <a:lnTo>
                      <a:pt x="37948" y="53871"/>
                    </a:lnTo>
                    <a:close/>
                    <a:moveTo>
                      <a:pt x="13914" y="39928"/>
                    </a:moveTo>
                    <a:lnTo>
                      <a:pt x="23401" y="39928"/>
                    </a:lnTo>
                    <a:lnTo>
                      <a:pt x="23401" y="14577"/>
                    </a:lnTo>
                    <a:lnTo>
                      <a:pt x="13914" y="14577"/>
                    </a:lnTo>
                    <a:lnTo>
                      <a:pt x="13914" y="3992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9" name="Picture Placeholder 88">
                <a:extLst>
                  <a:ext uri="{FF2B5EF4-FFF2-40B4-BE49-F238E27FC236}">
                    <a16:creationId xmlns:a16="http://schemas.microsoft.com/office/drawing/2014/main" id="{B1F4D3AD-5DF8-239A-9CA0-48616D2559E0}"/>
                  </a:ext>
                </a:extLst>
              </p:cNvPr>
              <p:cNvSpPr/>
              <p:nvPr/>
            </p:nvSpPr>
            <p:spPr>
              <a:xfrm>
                <a:off x="6183124" y="2428510"/>
                <a:ext cx="37947" cy="53871"/>
              </a:xfrm>
              <a:custGeom>
                <a:avLst/>
                <a:gdLst>
                  <a:gd name="connsiteX0" fmla="*/ 37948 w 37947"/>
                  <a:gd name="connsiteY0" fmla="*/ 53871 h 53871"/>
                  <a:gd name="connsiteX1" fmla="*/ 0 w 37947"/>
                  <a:gd name="connsiteY1" fmla="*/ 53871 h 53871"/>
                  <a:gd name="connsiteX2" fmla="*/ 0 w 37947"/>
                  <a:gd name="connsiteY2" fmla="*/ 0 h 53871"/>
                  <a:gd name="connsiteX3" fmla="*/ 37948 w 37947"/>
                  <a:gd name="connsiteY3" fmla="*/ 0 h 53871"/>
                  <a:gd name="connsiteX4" fmla="*/ 37948 w 37947"/>
                  <a:gd name="connsiteY4" fmla="*/ 53871 h 53871"/>
                  <a:gd name="connsiteX5" fmla="*/ 13914 w 37947"/>
                  <a:gd name="connsiteY5" fmla="*/ 39928 h 53871"/>
                  <a:gd name="connsiteX6" fmla="*/ 23401 w 37947"/>
                  <a:gd name="connsiteY6" fmla="*/ 39928 h 53871"/>
                  <a:gd name="connsiteX7" fmla="*/ 23401 w 37947"/>
                  <a:gd name="connsiteY7" fmla="*/ 14577 h 53871"/>
                  <a:gd name="connsiteX8" fmla="*/ 13914 w 37947"/>
                  <a:gd name="connsiteY8" fmla="*/ 14577 h 53871"/>
                  <a:gd name="connsiteX9" fmla="*/ 13914 w 37947"/>
                  <a:gd name="connsiteY9" fmla="*/ 39928 h 5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47" h="53871">
                    <a:moveTo>
                      <a:pt x="37948" y="53871"/>
                    </a:moveTo>
                    <a:lnTo>
                      <a:pt x="0" y="53871"/>
                    </a:lnTo>
                    <a:lnTo>
                      <a:pt x="0" y="0"/>
                    </a:lnTo>
                    <a:lnTo>
                      <a:pt x="37948" y="0"/>
                    </a:lnTo>
                    <a:lnTo>
                      <a:pt x="37948" y="53871"/>
                    </a:lnTo>
                    <a:close/>
                    <a:moveTo>
                      <a:pt x="13914" y="39928"/>
                    </a:moveTo>
                    <a:lnTo>
                      <a:pt x="23401" y="39928"/>
                    </a:lnTo>
                    <a:lnTo>
                      <a:pt x="23401" y="14577"/>
                    </a:lnTo>
                    <a:lnTo>
                      <a:pt x="13914" y="14577"/>
                    </a:lnTo>
                    <a:lnTo>
                      <a:pt x="13914" y="3992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0" name="Picture Placeholder 88">
                <a:extLst>
                  <a:ext uri="{FF2B5EF4-FFF2-40B4-BE49-F238E27FC236}">
                    <a16:creationId xmlns:a16="http://schemas.microsoft.com/office/drawing/2014/main" id="{9F7E6EB8-60D5-07C8-8AF4-341B5BB1FDE1}"/>
                  </a:ext>
                </a:extLst>
              </p:cNvPr>
              <p:cNvSpPr/>
              <p:nvPr/>
            </p:nvSpPr>
            <p:spPr>
              <a:xfrm>
                <a:off x="6133160" y="2380977"/>
                <a:ext cx="37947" cy="101404"/>
              </a:xfrm>
              <a:custGeom>
                <a:avLst/>
                <a:gdLst>
                  <a:gd name="connsiteX0" fmla="*/ 37948 w 37947"/>
                  <a:gd name="connsiteY0" fmla="*/ 101405 h 101404"/>
                  <a:gd name="connsiteX1" fmla="*/ 0 w 37947"/>
                  <a:gd name="connsiteY1" fmla="*/ 101405 h 101404"/>
                  <a:gd name="connsiteX2" fmla="*/ 0 w 37947"/>
                  <a:gd name="connsiteY2" fmla="*/ 0 h 101404"/>
                  <a:gd name="connsiteX3" fmla="*/ 37948 w 37947"/>
                  <a:gd name="connsiteY3" fmla="*/ 0 h 101404"/>
                  <a:gd name="connsiteX4" fmla="*/ 37948 w 37947"/>
                  <a:gd name="connsiteY4" fmla="*/ 101405 h 101404"/>
                  <a:gd name="connsiteX5" fmla="*/ 13914 w 37947"/>
                  <a:gd name="connsiteY5" fmla="*/ 87461 h 101404"/>
                  <a:gd name="connsiteX6" fmla="*/ 23401 w 37947"/>
                  <a:gd name="connsiteY6" fmla="*/ 87461 h 101404"/>
                  <a:gd name="connsiteX7" fmla="*/ 23401 w 37947"/>
                  <a:gd name="connsiteY7" fmla="*/ 14577 h 101404"/>
                  <a:gd name="connsiteX8" fmla="*/ 13914 w 37947"/>
                  <a:gd name="connsiteY8" fmla="*/ 14577 h 101404"/>
                  <a:gd name="connsiteX9" fmla="*/ 13914 w 37947"/>
                  <a:gd name="connsiteY9" fmla="*/ 87461 h 10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47" h="101404">
                    <a:moveTo>
                      <a:pt x="37948" y="101405"/>
                    </a:moveTo>
                    <a:lnTo>
                      <a:pt x="0" y="101405"/>
                    </a:lnTo>
                    <a:lnTo>
                      <a:pt x="0" y="0"/>
                    </a:lnTo>
                    <a:lnTo>
                      <a:pt x="37948" y="0"/>
                    </a:lnTo>
                    <a:lnTo>
                      <a:pt x="37948" y="101405"/>
                    </a:lnTo>
                    <a:close/>
                    <a:moveTo>
                      <a:pt x="13914" y="87461"/>
                    </a:moveTo>
                    <a:lnTo>
                      <a:pt x="23401" y="87461"/>
                    </a:lnTo>
                    <a:lnTo>
                      <a:pt x="23401" y="14577"/>
                    </a:lnTo>
                    <a:lnTo>
                      <a:pt x="13914" y="14577"/>
                    </a:lnTo>
                    <a:lnTo>
                      <a:pt x="13914" y="8746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56" name="Group 55">
            <a:extLst>
              <a:ext uri="{FF2B5EF4-FFF2-40B4-BE49-F238E27FC236}">
                <a16:creationId xmlns:a16="http://schemas.microsoft.com/office/drawing/2014/main" id="{43193747-1E9B-6CF3-A978-85FC5A34969C}"/>
              </a:ext>
            </a:extLst>
          </p:cNvPr>
          <p:cNvGrpSpPr/>
          <p:nvPr/>
        </p:nvGrpSpPr>
        <p:grpSpPr>
          <a:xfrm>
            <a:off x="4258342" y="1600201"/>
            <a:ext cx="3663431" cy="377904"/>
            <a:chOff x="4258342" y="1600201"/>
            <a:chExt cx="3663431" cy="377904"/>
          </a:xfrm>
        </p:grpSpPr>
        <p:sp>
          <p:nvSpPr>
            <p:cNvPr id="133" name="Isosceles Triangle 166">
              <a:extLst>
                <a:ext uri="{FF2B5EF4-FFF2-40B4-BE49-F238E27FC236}">
                  <a16:creationId xmlns:a16="http://schemas.microsoft.com/office/drawing/2014/main" id="{B222A358-5A74-C466-F95F-A24CFC050B0A}"/>
                </a:ext>
              </a:extLst>
            </p:cNvPr>
            <p:cNvSpPr/>
            <p:nvPr/>
          </p:nvSpPr>
          <p:spPr>
            <a:xfrm>
              <a:off x="4258342" y="1603432"/>
              <a:ext cx="670560" cy="374673"/>
            </a:xfrm>
            <a:prstGeom prst="triangle">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 name="Rectangle 133">
              <a:extLst>
                <a:ext uri="{FF2B5EF4-FFF2-40B4-BE49-F238E27FC236}">
                  <a16:creationId xmlns:a16="http://schemas.microsoft.com/office/drawing/2014/main" id="{ED9E069B-498D-56F9-B33B-7B24DAA4C653}"/>
                </a:ext>
              </a:extLst>
            </p:cNvPr>
            <p:cNvSpPr/>
            <p:nvPr/>
          </p:nvSpPr>
          <p:spPr>
            <a:xfrm>
              <a:off x="4594336" y="1600201"/>
              <a:ext cx="2994199" cy="377904"/>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Higher Storage Efficiency</a:t>
              </a:r>
            </a:p>
          </p:txBody>
        </p:sp>
        <p:sp>
          <p:nvSpPr>
            <p:cNvPr id="135" name="Isosceles Triangle 166">
              <a:extLst>
                <a:ext uri="{FF2B5EF4-FFF2-40B4-BE49-F238E27FC236}">
                  <a16:creationId xmlns:a16="http://schemas.microsoft.com/office/drawing/2014/main" id="{882EC636-E503-06F4-C08D-1987EF81C648}"/>
                </a:ext>
              </a:extLst>
            </p:cNvPr>
            <p:cNvSpPr/>
            <p:nvPr/>
          </p:nvSpPr>
          <p:spPr>
            <a:xfrm rot="10800000">
              <a:off x="7251213" y="1600201"/>
              <a:ext cx="670560" cy="374673"/>
            </a:xfrm>
            <a:prstGeom prst="triangle">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36" name="Picture Placeholder 108" descr="Compression&#10;">
              <a:extLst>
                <a:ext uri="{FF2B5EF4-FFF2-40B4-BE49-F238E27FC236}">
                  <a16:creationId xmlns:a16="http://schemas.microsoft.com/office/drawing/2014/main" id="{0D1960B6-4D0A-F9A1-71CF-5489AE44101E}"/>
                </a:ext>
              </a:extLst>
            </p:cNvPr>
            <p:cNvGrpSpPr/>
            <p:nvPr/>
          </p:nvGrpSpPr>
          <p:grpSpPr>
            <a:xfrm>
              <a:off x="4652130" y="1662020"/>
              <a:ext cx="295594" cy="254267"/>
              <a:chOff x="9765919" y="4464462"/>
              <a:chExt cx="592615" cy="509762"/>
            </a:xfrm>
            <a:solidFill>
              <a:schemeClr val="bg1"/>
            </a:solidFill>
          </p:grpSpPr>
          <p:sp>
            <p:nvSpPr>
              <p:cNvPr id="137" name="Picture Placeholder 108">
                <a:extLst>
                  <a:ext uri="{FF2B5EF4-FFF2-40B4-BE49-F238E27FC236}">
                    <a16:creationId xmlns:a16="http://schemas.microsoft.com/office/drawing/2014/main" id="{07808508-2A27-144D-FF62-02282388763F}"/>
                  </a:ext>
                </a:extLst>
              </p:cNvPr>
              <p:cNvSpPr/>
              <p:nvPr/>
            </p:nvSpPr>
            <p:spPr>
              <a:xfrm>
                <a:off x="10223820" y="4535298"/>
                <a:ext cx="6324" cy="149260"/>
              </a:xfrm>
              <a:custGeom>
                <a:avLst/>
                <a:gdLst>
                  <a:gd name="connsiteX0" fmla="*/ 0 w 6324"/>
                  <a:gd name="connsiteY0" fmla="*/ 0 h 149260"/>
                  <a:gd name="connsiteX1" fmla="*/ 0 w 6324"/>
                  <a:gd name="connsiteY1" fmla="*/ 149261 h 149260"/>
                </a:gdLst>
                <a:ahLst/>
                <a:cxnLst>
                  <a:cxn ang="0">
                    <a:pos x="connsiteX0" y="connsiteY0"/>
                  </a:cxn>
                  <a:cxn ang="0">
                    <a:pos x="connsiteX1" y="connsiteY1"/>
                  </a:cxn>
                </a:cxnLst>
                <a:rect l="l" t="t" r="r" b="b"/>
                <a:pathLst>
                  <a:path w="6324" h="149260">
                    <a:moveTo>
                      <a:pt x="0" y="0"/>
                    </a:moveTo>
                    <a:lnTo>
                      <a:pt x="0" y="149261"/>
                    </a:lnTo>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38" name="Picture Placeholder 108">
                <a:extLst>
                  <a:ext uri="{FF2B5EF4-FFF2-40B4-BE49-F238E27FC236}">
                    <a16:creationId xmlns:a16="http://schemas.microsoft.com/office/drawing/2014/main" id="{D36C3619-B9D9-86AF-0125-6235511C97BE}"/>
                  </a:ext>
                </a:extLst>
              </p:cNvPr>
              <p:cNvGrpSpPr/>
              <p:nvPr/>
            </p:nvGrpSpPr>
            <p:grpSpPr>
              <a:xfrm>
                <a:off x="10193462" y="4535298"/>
                <a:ext cx="60083" cy="149260"/>
                <a:chOff x="10193462" y="4535298"/>
                <a:chExt cx="60083" cy="149260"/>
              </a:xfrm>
              <a:grpFill/>
            </p:grpSpPr>
            <p:sp>
              <p:nvSpPr>
                <p:cNvPr id="154" name="Picture Placeholder 108">
                  <a:extLst>
                    <a:ext uri="{FF2B5EF4-FFF2-40B4-BE49-F238E27FC236}">
                      <a16:creationId xmlns:a16="http://schemas.microsoft.com/office/drawing/2014/main" id="{16FF9811-5D04-4493-0868-72B133BC21D4}"/>
                    </a:ext>
                  </a:extLst>
                </p:cNvPr>
                <p:cNvSpPr/>
                <p:nvPr/>
              </p:nvSpPr>
              <p:spPr>
                <a:xfrm>
                  <a:off x="10215598" y="4535298"/>
                  <a:ext cx="15811" cy="106253"/>
                </a:xfrm>
                <a:custGeom>
                  <a:avLst/>
                  <a:gdLst>
                    <a:gd name="connsiteX0" fmla="*/ 0 w 15811"/>
                    <a:gd name="connsiteY0" fmla="*/ 0 h 106253"/>
                    <a:gd name="connsiteX1" fmla="*/ 15811 w 15811"/>
                    <a:gd name="connsiteY1" fmla="*/ 0 h 106253"/>
                    <a:gd name="connsiteX2" fmla="*/ 15811 w 15811"/>
                    <a:gd name="connsiteY2" fmla="*/ 106253 h 106253"/>
                    <a:gd name="connsiteX3" fmla="*/ 0 w 15811"/>
                    <a:gd name="connsiteY3" fmla="*/ 106253 h 106253"/>
                  </a:gdLst>
                  <a:ahLst/>
                  <a:cxnLst>
                    <a:cxn ang="0">
                      <a:pos x="connsiteX0" y="connsiteY0"/>
                    </a:cxn>
                    <a:cxn ang="0">
                      <a:pos x="connsiteX1" y="connsiteY1"/>
                    </a:cxn>
                    <a:cxn ang="0">
                      <a:pos x="connsiteX2" y="connsiteY2"/>
                    </a:cxn>
                    <a:cxn ang="0">
                      <a:pos x="connsiteX3" y="connsiteY3"/>
                    </a:cxn>
                  </a:cxnLst>
                  <a:rect l="l" t="t" r="r" b="b"/>
                  <a:pathLst>
                    <a:path w="15811" h="106253">
                      <a:moveTo>
                        <a:pt x="0" y="0"/>
                      </a:moveTo>
                      <a:lnTo>
                        <a:pt x="15811" y="0"/>
                      </a:lnTo>
                      <a:lnTo>
                        <a:pt x="15811" y="106253"/>
                      </a:lnTo>
                      <a:lnTo>
                        <a:pt x="0" y="10625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5" name="Picture Placeholder 108">
                  <a:extLst>
                    <a:ext uri="{FF2B5EF4-FFF2-40B4-BE49-F238E27FC236}">
                      <a16:creationId xmlns:a16="http://schemas.microsoft.com/office/drawing/2014/main" id="{F9B22422-6689-8C8A-9A7E-ABA20B3AE956}"/>
                    </a:ext>
                  </a:extLst>
                </p:cNvPr>
                <p:cNvSpPr/>
                <p:nvPr/>
              </p:nvSpPr>
              <p:spPr>
                <a:xfrm>
                  <a:off x="10193462" y="4632697"/>
                  <a:ext cx="60083" cy="51861"/>
                </a:xfrm>
                <a:custGeom>
                  <a:avLst/>
                  <a:gdLst>
                    <a:gd name="connsiteX0" fmla="*/ 0 w 60083"/>
                    <a:gd name="connsiteY0" fmla="*/ 0 h 51861"/>
                    <a:gd name="connsiteX1" fmla="*/ 30358 w 60083"/>
                    <a:gd name="connsiteY1" fmla="*/ 51862 h 51861"/>
                    <a:gd name="connsiteX2" fmla="*/ 60084 w 60083"/>
                    <a:gd name="connsiteY2" fmla="*/ 0 h 51861"/>
                  </a:gdLst>
                  <a:ahLst/>
                  <a:cxnLst>
                    <a:cxn ang="0">
                      <a:pos x="connsiteX0" y="connsiteY0"/>
                    </a:cxn>
                    <a:cxn ang="0">
                      <a:pos x="connsiteX1" y="connsiteY1"/>
                    </a:cxn>
                    <a:cxn ang="0">
                      <a:pos x="connsiteX2" y="connsiteY2"/>
                    </a:cxn>
                  </a:cxnLst>
                  <a:rect l="l" t="t" r="r" b="b"/>
                  <a:pathLst>
                    <a:path w="60083" h="51861">
                      <a:moveTo>
                        <a:pt x="0" y="0"/>
                      </a:moveTo>
                      <a:lnTo>
                        <a:pt x="30358" y="51862"/>
                      </a:lnTo>
                      <a:lnTo>
                        <a:pt x="60084"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39" name="Picture Placeholder 108">
                <a:extLst>
                  <a:ext uri="{FF2B5EF4-FFF2-40B4-BE49-F238E27FC236}">
                    <a16:creationId xmlns:a16="http://schemas.microsoft.com/office/drawing/2014/main" id="{1B104362-4C63-1A9C-BC85-EE58005071B5}"/>
                  </a:ext>
                </a:extLst>
              </p:cNvPr>
              <p:cNvGrpSpPr/>
              <p:nvPr/>
            </p:nvGrpSpPr>
            <p:grpSpPr>
              <a:xfrm>
                <a:off x="9765919" y="4464462"/>
                <a:ext cx="277017" cy="509762"/>
                <a:chOff x="9765919" y="4464462"/>
                <a:chExt cx="277017" cy="509762"/>
              </a:xfrm>
              <a:grpFill/>
            </p:grpSpPr>
            <p:grpSp>
              <p:nvGrpSpPr>
                <p:cNvPr id="146" name="Picture Placeholder 108">
                  <a:extLst>
                    <a:ext uri="{FF2B5EF4-FFF2-40B4-BE49-F238E27FC236}">
                      <a16:creationId xmlns:a16="http://schemas.microsoft.com/office/drawing/2014/main" id="{05C4F17E-BDEB-6E53-1072-CB55B50BF4E8}"/>
                    </a:ext>
                  </a:extLst>
                </p:cNvPr>
                <p:cNvGrpSpPr/>
                <p:nvPr/>
              </p:nvGrpSpPr>
              <p:grpSpPr>
                <a:xfrm>
                  <a:off x="9765919" y="4464462"/>
                  <a:ext cx="277017" cy="509762"/>
                  <a:chOff x="9765919" y="4464462"/>
                  <a:chExt cx="277017" cy="509762"/>
                </a:xfrm>
                <a:grpFill/>
              </p:grpSpPr>
              <p:sp>
                <p:nvSpPr>
                  <p:cNvPr id="148" name="Picture Placeholder 108">
                    <a:extLst>
                      <a:ext uri="{FF2B5EF4-FFF2-40B4-BE49-F238E27FC236}">
                        <a16:creationId xmlns:a16="http://schemas.microsoft.com/office/drawing/2014/main" id="{00EB1755-3614-FC36-23D9-77E54062C993}"/>
                      </a:ext>
                    </a:extLst>
                  </p:cNvPr>
                  <p:cNvSpPr/>
                  <p:nvPr/>
                </p:nvSpPr>
                <p:spPr>
                  <a:xfrm>
                    <a:off x="9765919" y="4464462"/>
                    <a:ext cx="277017" cy="88544"/>
                  </a:xfrm>
                  <a:custGeom>
                    <a:avLst/>
                    <a:gdLst>
                      <a:gd name="connsiteX0" fmla="*/ 138509 w 277017"/>
                      <a:gd name="connsiteY0" fmla="*/ 88544 h 88544"/>
                      <a:gd name="connsiteX1" fmla="*/ 0 w 277017"/>
                      <a:gd name="connsiteY1" fmla="*/ 44272 h 88544"/>
                      <a:gd name="connsiteX2" fmla="*/ 138509 w 277017"/>
                      <a:gd name="connsiteY2" fmla="*/ 0 h 88544"/>
                      <a:gd name="connsiteX3" fmla="*/ 277017 w 277017"/>
                      <a:gd name="connsiteY3" fmla="*/ 44272 h 88544"/>
                      <a:gd name="connsiteX4" fmla="*/ 138509 w 277017"/>
                      <a:gd name="connsiteY4" fmla="*/ 88544 h 88544"/>
                      <a:gd name="connsiteX5" fmla="*/ 138509 w 277017"/>
                      <a:gd name="connsiteY5" fmla="*/ 19606 h 88544"/>
                      <a:gd name="connsiteX6" fmla="*/ 18974 w 277017"/>
                      <a:gd name="connsiteY6" fmla="*/ 44905 h 88544"/>
                      <a:gd name="connsiteX7" fmla="*/ 138509 w 277017"/>
                      <a:gd name="connsiteY7" fmla="*/ 70203 h 88544"/>
                      <a:gd name="connsiteX8" fmla="*/ 258044 w 277017"/>
                      <a:gd name="connsiteY8" fmla="*/ 44905 h 88544"/>
                      <a:gd name="connsiteX9" fmla="*/ 138509 w 277017"/>
                      <a:gd name="connsiteY9" fmla="*/ 19606 h 8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7017" h="88544">
                        <a:moveTo>
                          <a:pt x="138509" y="88544"/>
                        </a:moveTo>
                        <a:cubicBezTo>
                          <a:pt x="72100" y="88544"/>
                          <a:pt x="0" y="74630"/>
                          <a:pt x="0" y="44272"/>
                        </a:cubicBezTo>
                        <a:cubicBezTo>
                          <a:pt x="0" y="13914"/>
                          <a:pt x="71468" y="0"/>
                          <a:pt x="138509" y="0"/>
                        </a:cubicBezTo>
                        <a:cubicBezTo>
                          <a:pt x="205550" y="0"/>
                          <a:pt x="277017" y="13914"/>
                          <a:pt x="277017" y="44272"/>
                        </a:cubicBezTo>
                        <a:cubicBezTo>
                          <a:pt x="276385" y="74630"/>
                          <a:pt x="204917" y="88544"/>
                          <a:pt x="138509" y="88544"/>
                        </a:cubicBezTo>
                        <a:close/>
                        <a:moveTo>
                          <a:pt x="138509" y="19606"/>
                        </a:moveTo>
                        <a:cubicBezTo>
                          <a:pt x="61349" y="19606"/>
                          <a:pt x="19606" y="37315"/>
                          <a:pt x="18974" y="44905"/>
                        </a:cubicBezTo>
                        <a:cubicBezTo>
                          <a:pt x="19606" y="52494"/>
                          <a:pt x="60716" y="70203"/>
                          <a:pt x="138509" y="70203"/>
                        </a:cubicBezTo>
                        <a:cubicBezTo>
                          <a:pt x="215669" y="70203"/>
                          <a:pt x="257411" y="52494"/>
                          <a:pt x="258044" y="44905"/>
                        </a:cubicBezTo>
                        <a:cubicBezTo>
                          <a:pt x="256779" y="36683"/>
                          <a:pt x="215669" y="19606"/>
                          <a:pt x="138509" y="196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9" name="Picture Placeholder 108">
                    <a:extLst>
                      <a:ext uri="{FF2B5EF4-FFF2-40B4-BE49-F238E27FC236}">
                        <a16:creationId xmlns:a16="http://schemas.microsoft.com/office/drawing/2014/main" id="{50ABF87D-0885-A396-4E60-B742A458B554}"/>
                      </a:ext>
                    </a:extLst>
                  </p:cNvPr>
                  <p:cNvSpPr/>
                  <p:nvPr/>
                </p:nvSpPr>
                <p:spPr>
                  <a:xfrm>
                    <a:off x="9765919" y="4546050"/>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0" name="Picture Placeholder 108">
                    <a:extLst>
                      <a:ext uri="{FF2B5EF4-FFF2-40B4-BE49-F238E27FC236}">
                        <a16:creationId xmlns:a16="http://schemas.microsoft.com/office/drawing/2014/main" id="{E9BB32E7-193C-77E6-4A5E-0D421C7A8FE6}"/>
                      </a:ext>
                    </a:extLst>
                  </p:cNvPr>
                  <p:cNvSpPr/>
                  <p:nvPr/>
                </p:nvSpPr>
                <p:spPr>
                  <a:xfrm>
                    <a:off x="9765919" y="4630167"/>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1" name="Picture Placeholder 108">
                    <a:extLst>
                      <a:ext uri="{FF2B5EF4-FFF2-40B4-BE49-F238E27FC236}">
                        <a16:creationId xmlns:a16="http://schemas.microsoft.com/office/drawing/2014/main" id="{0AFD3C77-0C50-F6BB-3186-048D0C645CB6}"/>
                      </a:ext>
                    </a:extLst>
                  </p:cNvPr>
                  <p:cNvSpPr/>
                  <p:nvPr/>
                </p:nvSpPr>
                <p:spPr>
                  <a:xfrm>
                    <a:off x="9765919" y="471365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2" name="Picture Placeholder 108">
                    <a:extLst>
                      <a:ext uri="{FF2B5EF4-FFF2-40B4-BE49-F238E27FC236}">
                        <a16:creationId xmlns:a16="http://schemas.microsoft.com/office/drawing/2014/main" id="{51A72A7B-8196-FC7B-C03B-EF3A888F7FB1}"/>
                      </a:ext>
                    </a:extLst>
                  </p:cNvPr>
                  <p:cNvSpPr/>
                  <p:nvPr/>
                </p:nvSpPr>
                <p:spPr>
                  <a:xfrm>
                    <a:off x="9765919" y="4726301"/>
                    <a:ext cx="277017" cy="160012"/>
                  </a:xfrm>
                  <a:custGeom>
                    <a:avLst/>
                    <a:gdLst>
                      <a:gd name="connsiteX0" fmla="*/ 138509 w 277017"/>
                      <a:gd name="connsiteY0" fmla="*/ 160012 h 160012"/>
                      <a:gd name="connsiteX1" fmla="*/ 0 w 277017"/>
                      <a:gd name="connsiteY1" fmla="*/ 115740 h 160012"/>
                      <a:gd name="connsiteX2" fmla="*/ 0 w 277017"/>
                      <a:gd name="connsiteY2" fmla="*/ 77793 h 160012"/>
                      <a:gd name="connsiteX3" fmla="*/ 18974 w 277017"/>
                      <a:gd name="connsiteY3" fmla="*/ 77793 h 160012"/>
                      <a:gd name="connsiteX4" fmla="*/ 18974 w 277017"/>
                      <a:gd name="connsiteY4" fmla="*/ 115740 h 160012"/>
                      <a:gd name="connsiteX5" fmla="*/ 138509 w 277017"/>
                      <a:gd name="connsiteY5" fmla="*/ 141039 h 160012"/>
                      <a:gd name="connsiteX6" fmla="*/ 258044 w 277017"/>
                      <a:gd name="connsiteY6" fmla="*/ 115740 h 160012"/>
                      <a:gd name="connsiteX7" fmla="*/ 258044 w 277017"/>
                      <a:gd name="connsiteY7" fmla="*/ 0 h 160012"/>
                      <a:gd name="connsiteX8" fmla="*/ 277017 w 277017"/>
                      <a:gd name="connsiteY8" fmla="*/ 0 h 160012"/>
                      <a:gd name="connsiteX9" fmla="*/ 277017 w 277017"/>
                      <a:gd name="connsiteY9" fmla="*/ 115740 h 160012"/>
                      <a:gd name="connsiteX10" fmla="*/ 138509 w 277017"/>
                      <a:gd name="connsiteY10" fmla="*/ 160012 h 16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60012">
                        <a:moveTo>
                          <a:pt x="138509" y="160012"/>
                        </a:moveTo>
                        <a:cubicBezTo>
                          <a:pt x="72100" y="160012"/>
                          <a:pt x="0" y="146098"/>
                          <a:pt x="0" y="115740"/>
                        </a:cubicBezTo>
                        <a:lnTo>
                          <a:pt x="0" y="77793"/>
                        </a:lnTo>
                        <a:lnTo>
                          <a:pt x="18974" y="77793"/>
                        </a:lnTo>
                        <a:lnTo>
                          <a:pt x="18974" y="115740"/>
                        </a:lnTo>
                        <a:cubicBezTo>
                          <a:pt x="19606" y="123330"/>
                          <a:pt x="60716" y="141039"/>
                          <a:pt x="138509" y="141039"/>
                        </a:cubicBezTo>
                        <a:cubicBezTo>
                          <a:pt x="216301" y="141039"/>
                          <a:pt x="257411" y="123330"/>
                          <a:pt x="258044" y="115740"/>
                        </a:cubicBezTo>
                        <a:lnTo>
                          <a:pt x="258044" y="0"/>
                        </a:lnTo>
                        <a:lnTo>
                          <a:pt x="277017" y="0"/>
                        </a:lnTo>
                        <a:lnTo>
                          <a:pt x="277017" y="115740"/>
                        </a:lnTo>
                        <a:cubicBezTo>
                          <a:pt x="276385" y="146098"/>
                          <a:pt x="204917" y="160012"/>
                          <a:pt x="138509" y="16001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3" name="Picture Placeholder 108">
                    <a:extLst>
                      <a:ext uri="{FF2B5EF4-FFF2-40B4-BE49-F238E27FC236}">
                        <a16:creationId xmlns:a16="http://schemas.microsoft.com/office/drawing/2014/main" id="{0A0A01B0-B92A-45AA-D6FB-39A14F12342E}"/>
                      </a:ext>
                    </a:extLst>
                  </p:cNvPr>
                  <p:cNvSpPr/>
                  <p:nvPr/>
                </p:nvSpPr>
                <p:spPr>
                  <a:xfrm>
                    <a:off x="9765919" y="4814845"/>
                    <a:ext cx="277017" cy="159379"/>
                  </a:xfrm>
                  <a:custGeom>
                    <a:avLst/>
                    <a:gdLst>
                      <a:gd name="connsiteX0" fmla="*/ 138509 w 277017"/>
                      <a:gd name="connsiteY0" fmla="*/ 159380 h 159379"/>
                      <a:gd name="connsiteX1" fmla="*/ 0 w 277017"/>
                      <a:gd name="connsiteY1" fmla="*/ 115108 h 159379"/>
                      <a:gd name="connsiteX2" fmla="*/ 0 w 277017"/>
                      <a:gd name="connsiteY2" fmla="*/ 77160 h 159379"/>
                      <a:gd name="connsiteX3" fmla="*/ 18974 w 277017"/>
                      <a:gd name="connsiteY3" fmla="*/ 77160 h 159379"/>
                      <a:gd name="connsiteX4" fmla="*/ 18974 w 277017"/>
                      <a:gd name="connsiteY4" fmla="*/ 115108 h 159379"/>
                      <a:gd name="connsiteX5" fmla="*/ 138509 w 277017"/>
                      <a:gd name="connsiteY5" fmla="*/ 140406 h 159379"/>
                      <a:gd name="connsiteX6" fmla="*/ 258044 w 277017"/>
                      <a:gd name="connsiteY6" fmla="*/ 115108 h 159379"/>
                      <a:gd name="connsiteX7" fmla="*/ 258044 w 277017"/>
                      <a:gd name="connsiteY7" fmla="*/ 0 h 159379"/>
                      <a:gd name="connsiteX8" fmla="*/ 277017 w 277017"/>
                      <a:gd name="connsiteY8" fmla="*/ 0 h 159379"/>
                      <a:gd name="connsiteX9" fmla="*/ 277017 w 277017"/>
                      <a:gd name="connsiteY9" fmla="*/ 115740 h 159379"/>
                      <a:gd name="connsiteX10" fmla="*/ 138509 w 277017"/>
                      <a:gd name="connsiteY10" fmla="*/ 159380 h 15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159379">
                        <a:moveTo>
                          <a:pt x="138509" y="159380"/>
                        </a:moveTo>
                        <a:cubicBezTo>
                          <a:pt x="72100" y="159380"/>
                          <a:pt x="0" y="145466"/>
                          <a:pt x="0" y="115108"/>
                        </a:cubicBezTo>
                        <a:lnTo>
                          <a:pt x="0" y="77160"/>
                        </a:lnTo>
                        <a:lnTo>
                          <a:pt x="18974" y="77160"/>
                        </a:lnTo>
                        <a:lnTo>
                          <a:pt x="18974" y="115108"/>
                        </a:lnTo>
                        <a:cubicBezTo>
                          <a:pt x="19606" y="122697"/>
                          <a:pt x="60716" y="140406"/>
                          <a:pt x="138509" y="140406"/>
                        </a:cubicBezTo>
                        <a:cubicBezTo>
                          <a:pt x="216301" y="140406"/>
                          <a:pt x="257411" y="122697"/>
                          <a:pt x="258044" y="115108"/>
                        </a:cubicBezTo>
                        <a:lnTo>
                          <a:pt x="258044" y="0"/>
                        </a:lnTo>
                        <a:lnTo>
                          <a:pt x="277017" y="0"/>
                        </a:lnTo>
                        <a:lnTo>
                          <a:pt x="277017" y="115740"/>
                        </a:lnTo>
                        <a:cubicBezTo>
                          <a:pt x="276385" y="145466"/>
                          <a:pt x="204917" y="159380"/>
                          <a:pt x="138509" y="15938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47" name="Picture Placeholder 108">
                  <a:extLst>
                    <a:ext uri="{FF2B5EF4-FFF2-40B4-BE49-F238E27FC236}">
                      <a16:creationId xmlns:a16="http://schemas.microsoft.com/office/drawing/2014/main" id="{C30A2867-AC6A-CC55-06E5-024619B21B85}"/>
                    </a:ext>
                  </a:extLst>
                </p:cNvPr>
                <p:cNvSpPr/>
                <p:nvPr/>
              </p:nvSpPr>
              <p:spPr>
                <a:xfrm>
                  <a:off x="10023331" y="4508734"/>
                  <a:ext cx="18973" cy="278282"/>
                </a:xfrm>
                <a:custGeom>
                  <a:avLst/>
                  <a:gdLst>
                    <a:gd name="connsiteX0" fmla="*/ 0 w 18973"/>
                    <a:gd name="connsiteY0" fmla="*/ 0 h 278282"/>
                    <a:gd name="connsiteX1" fmla="*/ 18974 w 18973"/>
                    <a:gd name="connsiteY1" fmla="*/ 0 h 278282"/>
                    <a:gd name="connsiteX2" fmla="*/ 18974 w 18973"/>
                    <a:gd name="connsiteY2" fmla="*/ 278282 h 278282"/>
                    <a:gd name="connsiteX3" fmla="*/ 0 w 18973"/>
                    <a:gd name="connsiteY3" fmla="*/ 278282 h 278282"/>
                  </a:gdLst>
                  <a:ahLst/>
                  <a:cxnLst>
                    <a:cxn ang="0">
                      <a:pos x="connsiteX0" y="connsiteY0"/>
                    </a:cxn>
                    <a:cxn ang="0">
                      <a:pos x="connsiteX1" y="connsiteY1"/>
                    </a:cxn>
                    <a:cxn ang="0">
                      <a:pos x="connsiteX2" y="connsiteY2"/>
                    </a:cxn>
                    <a:cxn ang="0">
                      <a:pos x="connsiteX3" y="connsiteY3"/>
                    </a:cxn>
                  </a:cxnLst>
                  <a:rect l="l" t="t" r="r" b="b"/>
                  <a:pathLst>
                    <a:path w="18973" h="278282">
                      <a:moveTo>
                        <a:pt x="0" y="0"/>
                      </a:moveTo>
                      <a:lnTo>
                        <a:pt x="18974" y="0"/>
                      </a:lnTo>
                      <a:lnTo>
                        <a:pt x="18974" y="278282"/>
                      </a:lnTo>
                      <a:lnTo>
                        <a:pt x="0" y="27828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40" name="Picture Placeholder 108">
                <a:extLst>
                  <a:ext uri="{FF2B5EF4-FFF2-40B4-BE49-F238E27FC236}">
                    <a16:creationId xmlns:a16="http://schemas.microsoft.com/office/drawing/2014/main" id="{43427AC2-F12D-D37F-25F4-05CDDBDC1CD7}"/>
                  </a:ext>
                </a:extLst>
              </p:cNvPr>
              <p:cNvGrpSpPr/>
              <p:nvPr/>
            </p:nvGrpSpPr>
            <p:grpSpPr>
              <a:xfrm>
                <a:off x="10081517" y="4643448"/>
                <a:ext cx="277017" cy="328246"/>
                <a:chOff x="10081517" y="4643448"/>
                <a:chExt cx="277017" cy="328246"/>
              </a:xfrm>
              <a:grpFill/>
            </p:grpSpPr>
            <p:sp>
              <p:nvSpPr>
                <p:cNvPr id="141" name="Picture Placeholder 108">
                  <a:extLst>
                    <a:ext uri="{FF2B5EF4-FFF2-40B4-BE49-F238E27FC236}">
                      <a16:creationId xmlns:a16="http://schemas.microsoft.com/office/drawing/2014/main" id="{5FFC1F9E-CAAF-937A-42CB-13AE08CEFF24}"/>
                    </a:ext>
                  </a:extLst>
                </p:cNvPr>
                <p:cNvSpPr/>
                <p:nvPr/>
              </p:nvSpPr>
              <p:spPr>
                <a:xfrm>
                  <a:off x="10081517" y="4643448"/>
                  <a:ext cx="277017" cy="85382"/>
                </a:xfrm>
                <a:custGeom>
                  <a:avLst/>
                  <a:gdLst>
                    <a:gd name="connsiteX0" fmla="*/ 138509 w 277017"/>
                    <a:gd name="connsiteY0" fmla="*/ 85382 h 85382"/>
                    <a:gd name="connsiteX1" fmla="*/ 0 w 277017"/>
                    <a:gd name="connsiteY1" fmla="*/ 41110 h 85382"/>
                    <a:gd name="connsiteX2" fmla="*/ 84750 w 277017"/>
                    <a:gd name="connsiteY2" fmla="*/ 0 h 85382"/>
                    <a:gd name="connsiteX3" fmla="*/ 87279 w 277017"/>
                    <a:gd name="connsiteY3" fmla="*/ 18974 h 85382"/>
                    <a:gd name="connsiteX4" fmla="*/ 18974 w 277017"/>
                    <a:gd name="connsiteY4" fmla="*/ 41110 h 85382"/>
                    <a:gd name="connsiteX5" fmla="*/ 138509 w 277017"/>
                    <a:gd name="connsiteY5" fmla="*/ 66408 h 85382"/>
                    <a:gd name="connsiteX6" fmla="*/ 258044 w 277017"/>
                    <a:gd name="connsiteY6" fmla="*/ 41110 h 85382"/>
                    <a:gd name="connsiteX7" fmla="*/ 199225 w 277017"/>
                    <a:gd name="connsiteY7" fmla="*/ 20239 h 85382"/>
                    <a:gd name="connsiteX8" fmla="*/ 201755 w 277017"/>
                    <a:gd name="connsiteY8" fmla="*/ 1265 h 85382"/>
                    <a:gd name="connsiteX9" fmla="*/ 277017 w 277017"/>
                    <a:gd name="connsiteY9" fmla="*/ 41110 h 85382"/>
                    <a:gd name="connsiteX10" fmla="*/ 138509 w 277017"/>
                    <a:gd name="connsiteY10" fmla="*/ 85382 h 8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017" h="85382">
                      <a:moveTo>
                        <a:pt x="138509" y="85382"/>
                      </a:moveTo>
                      <a:cubicBezTo>
                        <a:pt x="72100" y="85382"/>
                        <a:pt x="0" y="71468"/>
                        <a:pt x="0" y="41110"/>
                      </a:cubicBezTo>
                      <a:cubicBezTo>
                        <a:pt x="0" y="14547"/>
                        <a:pt x="53127" y="3795"/>
                        <a:pt x="84750" y="0"/>
                      </a:cubicBezTo>
                      <a:lnTo>
                        <a:pt x="87279" y="18974"/>
                      </a:lnTo>
                      <a:cubicBezTo>
                        <a:pt x="36683" y="25298"/>
                        <a:pt x="19606" y="37315"/>
                        <a:pt x="18974" y="41110"/>
                      </a:cubicBezTo>
                      <a:cubicBezTo>
                        <a:pt x="19606" y="48699"/>
                        <a:pt x="60716" y="66408"/>
                        <a:pt x="138509" y="66408"/>
                      </a:cubicBezTo>
                      <a:cubicBezTo>
                        <a:pt x="216301" y="66408"/>
                        <a:pt x="257411" y="48699"/>
                        <a:pt x="258044" y="41110"/>
                      </a:cubicBezTo>
                      <a:cubicBezTo>
                        <a:pt x="258044" y="37948"/>
                        <a:pt x="243497" y="26563"/>
                        <a:pt x="199225" y="20239"/>
                      </a:cubicBezTo>
                      <a:lnTo>
                        <a:pt x="201755" y="1265"/>
                      </a:lnTo>
                      <a:cubicBezTo>
                        <a:pt x="235908" y="6325"/>
                        <a:pt x="277017" y="17076"/>
                        <a:pt x="277017" y="41110"/>
                      </a:cubicBezTo>
                      <a:cubicBezTo>
                        <a:pt x="276385" y="71468"/>
                        <a:pt x="204917" y="85382"/>
                        <a:pt x="138509" y="8538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2" name="Picture Placeholder 108">
                  <a:extLst>
                    <a:ext uri="{FF2B5EF4-FFF2-40B4-BE49-F238E27FC236}">
                      <a16:creationId xmlns:a16="http://schemas.microsoft.com/office/drawing/2014/main" id="{CEB24757-CC18-7AEB-3B9E-A36B06381FE4}"/>
                    </a:ext>
                  </a:extLst>
                </p:cNvPr>
                <p:cNvSpPr/>
                <p:nvPr/>
              </p:nvSpPr>
              <p:spPr>
                <a:xfrm>
                  <a:off x="10081517" y="4721873"/>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3" name="Picture Placeholder 108">
                  <a:extLst>
                    <a:ext uri="{FF2B5EF4-FFF2-40B4-BE49-F238E27FC236}">
                      <a16:creationId xmlns:a16="http://schemas.microsoft.com/office/drawing/2014/main" id="{491A635E-3B70-4D71-2AB3-F20081ADAECF}"/>
                    </a:ext>
                  </a:extLst>
                </p:cNvPr>
                <p:cNvSpPr/>
                <p:nvPr/>
              </p:nvSpPr>
              <p:spPr>
                <a:xfrm>
                  <a:off x="10081517" y="4805991"/>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306"/>
                        <a:pt x="204917" y="82220"/>
                        <a:pt x="138509" y="822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4" name="Picture Placeholder 108">
                  <a:extLst>
                    <a:ext uri="{FF2B5EF4-FFF2-40B4-BE49-F238E27FC236}">
                      <a16:creationId xmlns:a16="http://schemas.microsoft.com/office/drawing/2014/main" id="{B2E25A5D-0E40-957B-CC68-427F860A1905}"/>
                    </a:ext>
                  </a:extLst>
                </p:cNvPr>
                <p:cNvSpPr/>
                <p:nvPr/>
              </p:nvSpPr>
              <p:spPr>
                <a:xfrm>
                  <a:off x="10081517" y="4889475"/>
                  <a:ext cx="277017" cy="82219"/>
                </a:xfrm>
                <a:custGeom>
                  <a:avLst/>
                  <a:gdLst>
                    <a:gd name="connsiteX0" fmla="*/ 138509 w 277017"/>
                    <a:gd name="connsiteY0" fmla="*/ 82220 h 82219"/>
                    <a:gd name="connsiteX1" fmla="*/ 0 w 277017"/>
                    <a:gd name="connsiteY1" fmla="*/ 37948 h 82219"/>
                    <a:gd name="connsiteX2" fmla="*/ 0 w 277017"/>
                    <a:gd name="connsiteY2" fmla="*/ 0 h 82219"/>
                    <a:gd name="connsiteX3" fmla="*/ 18974 w 277017"/>
                    <a:gd name="connsiteY3" fmla="*/ 0 h 82219"/>
                    <a:gd name="connsiteX4" fmla="*/ 18974 w 277017"/>
                    <a:gd name="connsiteY4" fmla="*/ 37948 h 82219"/>
                    <a:gd name="connsiteX5" fmla="*/ 138509 w 277017"/>
                    <a:gd name="connsiteY5" fmla="*/ 63246 h 82219"/>
                    <a:gd name="connsiteX6" fmla="*/ 258044 w 277017"/>
                    <a:gd name="connsiteY6" fmla="*/ 37948 h 82219"/>
                    <a:gd name="connsiteX7" fmla="*/ 277017 w 277017"/>
                    <a:gd name="connsiteY7" fmla="*/ 37948 h 82219"/>
                    <a:gd name="connsiteX8" fmla="*/ 138509 w 277017"/>
                    <a:gd name="connsiteY8" fmla="*/ 82220 h 8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17" h="82219">
                      <a:moveTo>
                        <a:pt x="138509" y="82220"/>
                      </a:moveTo>
                      <a:cubicBezTo>
                        <a:pt x="72100" y="82220"/>
                        <a:pt x="0" y="68306"/>
                        <a:pt x="0" y="37948"/>
                      </a:cubicBezTo>
                      <a:lnTo>
                        <a:pt x="0" y="0"/>
                      </a:lnTo>
                      <a:lnTo>
                        <a:pt x="18974" y="0"/>
                      </a:lnTo>
                      <a:lnTo>
                        <a:pt x="18974" y="37948"/>
                      </a:lnTo>
                      <a:cubicBezTo>
                        <a:pt x="19606" y="45537"/>
                        <a:pt x="60716" y="63246"/>
                        <a:pt x="138509" y="63246"/>
                      </a:cubicBezTo>
                      <a:cubicBezTo>
                        <a:pt x="216301" y="63246"/>
                        <a:pt x="257411" y="45537"/>
                        <a:pt x="258044" y="37948"/>
                      </a:cubicBezTo>
                      <a:lnTo>
                        <a:pt x="277017" y="37948"/>
                      </a:lnTo>
                      <a:cubicBezTo>
                        <a:pt x="276385" y="68938"/>
                        <a:pt x="204917" y="82220"/>
                        <a:pt x="138509" y="8222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5" name="Picture Placeholder 108">
                  <a:extLst>
                    <a:ext uri="{FF2B5EF4-FFF2-40B4-BE49-F238E27FC236}">
                      <a16:creationId xmlns:a16="http://schemas.microsoft.com/office/drawing/2014/main" id="{0B70A546-647B-E07D-5F97-71965E962901}"/>
                    </a:ext>
                  </a:extLst>
                </p:cNvPr>
                <p:cNvSpPr/>
                <p:nvPr/>
              </p:nvSpPr>
              <p:spPr>
                <a:xfrm>
                  <a:off x="10338928" y="4684558"/>
                  <a:ext cx="18973" cy="242864"/>
                </a:xfrm>
                <a:custGeom>
                  <a:avLst/>
                  <a:gdLst>
                    <a:gd name="connsiteX0" fmla="*/ 0 w 18973"/>
                    <a:gd name="connsiteY0" fmla="*/ 0 h 242864"/>
                    <a:gd name="connsiteX1" fmla="*/ 18974 w 18973"/>
                    <a:gd name="connsiteY1" fmla="*/ 0 h 242864"/>
                    <a:gd name="connsiteX2" fmla="*/ 18974 w 18973"/>
                    <a:gd name="connsiteY2" fmla="*/ 242865 h 242864"/>
                    <a:gd name="connsiteX3" fmla="*/ 0 w 18973"/>
                    <a:gd name="connsiteY3" fmla="*/ 242865 h 242864"/>
                  </a:gdLst>
                  <a:ahLst/>
                  <a:cxnLst>
                    <a:cxn ang="0">
                      <a:pos x="connsiteX0" y="connsiteY0"/>
                    </a:cxn>
                    <a:cxn ang="0">
                      <a:pos x="connsiteX1" y="connsiteY1"/>
                    </a:cxn>
                    <a:cxn ang="0">
                      <a:pos x="connsiteX2" y="connsiteY2"/>
                    </a:cxn>
                    <a:cxn ang="0">
                      <a:pos x="connsiteX3" y="connsiteY3"/>
                    </a:cxn>
                  </a:cxnLst>
                  <a:rect l="l" t="t" r="r" b="b"/>
                  <a:pathLst>
                    <a:path w="18973" h="242864">
                      <a:moveTo>
                        <a:pt x="0" y="0"/>
                      </a:moveTo>
                      <a:lnTo>
                        <a:pt x="18974" y="0"/>
                      </a:lnTo>
                      <a:lnTo>
                        <a:pt x="18974" y="242865"/>
                      </a:lnTo>
                      <a:lnTo>
                        <a:pt x="0" y="242865"/>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nvGrpSpPr>
          <p:cNvPr id="57" name="Group 56">
            <a:extLst>
              <a:ext uri="{FF2B5EF4-FFF2-40B4-BE49-F238E27FC236}">
                <a16:creationId xmlns:a16="http://schemas.microsoft.com/office/drawing/2014/main" id="{E43D3A21-3DF5-D613-6AF6-6639835AD573}"/>
              </a:ext>
            </a:extLst>
          </p:cNvPr>
          <p:cNvGrpSpPr/>
          <p:nvPr/>
        </p:nvGrpSpPr>
        <p:grpSpPr>
          <a:xfrm>
            <a:off x="7921773" y="1600201"/>
            <a:ext cx="3672469" cy="377904"/>
            <a:chOff x="7921773" y="1600201"/>
            <a:chExt cx="3672469" cy="377904"/>
          </a:xfrm>
        </p:grpSpPr>
        <p:sp>
          <p:nvSpPr>
            <p:cNvPr id="181" name="Isosceles Triangle 166">
              <a:extLst>
                <a:ext uri="{FF2B5EF4-FFF2-40B4-BE49-F238E27FC236}">
                  <a16:creationId xmlns:a16="http://schemas.microsoft.com/office/drawing/2014/main" id="{0D272964-8545-65AD-9D81-E97BF9D3D6BA}"/>
                </a:ext>
              </a:extLst>
            </p:cNvPr>
            <p:cNvSpPr/>
            <p:nvPr/>
          </p:nvSpPr>
          <p:spPr>
            <a:xfrm>
              <a:off x="7921773" y="1603432"/>
              <a:ext cx="670560" cy="374673"/>
            </a:xfrm>
            <a:prstGeom prst="triangle">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2" name="Rectangle 181">
              <a:extLst>
                <a:ext uri="{FF2B5EF4-FFF2-40B4-BE49-F238E27FC236}">
                  <a16:creationId xmlns:a16="http://schemas.microsoft.com/office/drawing/2014/main" id="{0B492D26-FED1-E7F3-1299-BB7EE28C3071}"/>
                </a:ext>
              </a:extLst>
            </p:cNvPr>
            <p:cNvSpPr/>
            <p:nvPr/>
          </p:nvSpPr>
          <p:spPr>
            <a:xfrm>
              <a:off x="8257052" y="1600201"/>
              <a:ext cx="2996957" cy="377904"/>
            </a:xfrm>
            <a:prstGeom prst="rect">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Better Resilience &amp; Security</a:t>
              </a:r>
            </a:p>
          </p:txBody>
        </p:sp>
        <p:sp>
          <p:nvSpPr>
            <p:cNvPr id="183" name="Isosceles Triangle 166">
              <a:extLst>
                <a:ext uri="{FF2B5EF4-FFF2-40B4-BE49-F238E27FC236}">
                  <a16:creationId xmlns:a16="http://schemas.microsoft.com/office/drawing/2014/main" id="{A0CA6319-5209-E1D9-85C8-6E1B9211B3AC}"/>
                </a:ext>
              </a:extLst>
            </p:cNvPr>
            <p:cNvSpPr/>
            <p:nvPr/>
          </p:nvSpPr>
          <p:spPr>
            <a:xfrm rot="10800000">
              <a:off x="10923682" y="1600201"/>
              <a:ext cx="670560" cy="374673"/>
            </a:xfrm>
            <a:prstGeom prst="triangle">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60" name="Group 159" descr="Data Protection&#10;">
              <a:extLst>
                <a:ext uri="{FF2B5EF4-FFF2-40B4-BE49-F238E27FC236}">
                  <a16:creationId xmlns:a16="http://schemas.microsoft.com/office/drawing/2014/main" id="{845D0E94-F400-0C91-78C1-7097AB3DF463}"/>
                </a:ext>
              </a:extLst>
            </p:cNvPr>
            <p:cNvGrpSpPr/>
            <p:nvPr/>
          </p:nvGrpSpPr>
          <p:grpSpPr>
            <a:xfrm>
              <a:off x="8313706" y="1646704"/>
              <a:ext cx="283523" cy="284899"/>
              <a:chOff x="535250" y="1943265"/>
              <a:chExt cx="602089" cy="605011"/>
            </a:xfrm>
            <a:solidFill>
              <a:schemeClr val="bg1"/>
            </a:solidFill>
          </p:grpSpPr>
          <p:sp>
            <p:nvSpPr>
              <p:cNvPr id="161" name="Picture Placeholder 83">
                <a:extLst>
                  <a:ext uri="{FF2B5EF4-FFF2-40B4-BE49-F238E27FC236}">
                    <a16:creationId xmlns:a16="http://schemas.microsoft.com/office/drawing/2014/main" id="{7EC808FB-646A-C897-AC7C-2F9764F2A477}"/>
                  </a:ext>
                </a:extLst>
              </p:cNvPr>
              <p:cNvSpPr/>
              <p:nvPr/>
            </p:nvSpPr>
            <p:spPr>
              <a:xfrm>
                <a:off x="580248" y="1990067"/>
                <a:ext cx="15844" cy="15811"/>
              </a:xfrm>
              <a:custGeom>
                <a:avLst/>
                <a:gdLst>
                  <a:gd name="connsiteX0" fmla="*/ 15844 w 15844"/>
                  <a:gd name="connsiteY0" fmla="*/ 7906 h 15811"/>
                  <a:gd name="connsiteX1" fmla="*/ 7922 w 15844"/>
                  <a:gd name="connsiteY1" fmla="*/ 15812 h 15811"/>
                  <a:gd name="connsiteX2" fmla="*/ 0 w 15844"/>
                  <a:gd name="connsiteY2" fmla="*/ 7906 h 15811"/>
                  <a:gd name="connsiteX3" fmla="*/ 7922 w 15844"/>
                  <a:gd name="connsiteY3" fmla="*/ 0 h 15811"/>
                  <a:gd name="connsiteX4" fmla="*/ 15844 w 15844"/>
                  <a:gd name="connsiteY4" fmla="*/ 7906 h 15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4" h="15811">
                    <a:moveTo>
                      <a:pt x="15844" y="7906"/>
                    </a:moveTo>
                    <a:cubicBezTo>
                      <a:pt x="15844" y="12272"/>
                      <a:pt x="12298" y="15812"/>
                      <a:pt x="7922" y="15812"/>
                    </a:cubicBezTo>
                    <a:cubicBezTo>
                      <a:pt x="3547" y="15812"/>
                      <a:pt x="0" y="12272"/>
                      <a:pt x="0" y="7906"/>
                    </a:cubicBezTo>
                    <a:cubicBezTo>
                      <a:pt x="0" y="3540"/>
                      <a:pt x="3547" y="0"/>
                      <a:pt x="7922" y="0"/>
                    </a:cubicBezTo>
                    <a:cubicBezTo>
                      <a:pt x="12298" y="0"/>
                      <a:pt x="15844" y="3540"/>
                      <a:pt x="15844" y="79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2" name="Picture Placeholder 83">
                <a:extLst>
                  <a:ext uri="{FF2B5EF4-FFF2-40B4-BE49-F238E27FC236}">
                    <a16:creationId xmlns:a16="http://schemas.microsoft.com/office/drawing/2014/main" id="{398785F1-2174-D2D4-578B-361B8B1A7E37}"/>
                  </a:ext>
                </a:extLst>
              </p:cNvPr>
              <p:cNvSpPr/>
              <p:nvPr/>
            </p:nvSpPr>
            <p:spPr>
              <a:xfrm>
                <a:off x="611937" y="1990067"/>
                <a:ext cx="15844" cy="15811"/>
              </a:xfrm>
              <a:custGeom>
                <a:avLst/>
                <a:gdLst>
                  <a:gd name="connsiteX0" fmla="*/ 15844 w 15844"/>
                  <a:gd name="connsiteY0" fmla="*/ 7906 h 15811"/>
                  <a:gd name="connsiteX1" fmla="*/ 7922 w 15844"/>
                  <a:gd name="connsiteY1" fmla="*/ 15812 h 15811"/>
                  <a:gd name="connsiteX2" fmla="*/ 0 w 15844"/>
                  <a:gd name="connsiteY2" fmla="*/ 7906 h 15811"/>
                  <a:gd name="connsiteX3" fmla="*/ 7922 w 15844"/>
                  <a:gd name="connsiteY3" fmla="*/ 0 h 15811"/>
                  <a:gd name="connsiteX4" fmla="*/ 15844 w 15844"/>
                  <a:gd name="connsiteY4" fmla="*/ 7906 h 15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4" h="15811">
                    <a:moveTo>
                      <a:pt x="15844" y="7906"/>
                    </a:moveTo>
                    <a:cubicBezTo>
                      <a:pt x="15844" y="12272"/>
                      <a:pt x="12298" y="15812"/>
                      <a:pt x="7922" y="15812"/>
                    </a:cubicBezTo>
                    <a:cubicBezTo>
                      <a:pt x="3547" y="15812"/>
                      <a:pt x="0" y="12272"/>
                      <a:pt x="0" y="7906"/>
                    </a:cubicBezTo>
                    <a:cubicBezTo>
                      <a:pt x="0" y="3540"/>
                      <a:pt x="3547" y="0"/>
                      <a:pt x="7922" y="0"/>
                    </a:cubicBezTo>
                    <a:cubicBezTo>
                      <a:pt x="12298" y="0"/>
                      <a:pt x="15844" y="3540"/>
                      <a:pt x="15844" y="79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3" name="Picture Placeholder 83">
                <a:extLst>
                  <a:ext uri="{FF2B5EF4-FFF2-40B4-BE49-F238E27FC236}">
                    <a16:creationId xmlns:a16="http://schemas.microsoft.com/office/drawing/2014/main" id="{E1777087-9665-C5B7-A07F-18CF5B2EDA0B}"/>
                  </a:ext>
                </a:extLst>
              </p:cNvPr>
              <p:cNvSpPr/>
              <p:nvPr/>
            </p:nvSpPr>
            <p:spPr>
              <a:xfrm>
                <a:off x="643626" y="1990067"/>
                <a:ext cx="15844" cy="15811"/>
              </a:xfrm>
              <a:custGeom>
                <a:avLst/>
                <a:gdLst>
                  <a:gd name="connsiteX0" fmla="*/ 15844 w 15844"/>
                  <a:gd name="connsiteY0" fmla="*/ 7906 h 15811"/>
                  <a:gd name="connsiteX1" fmla="*/ 7922 w 15844"/>
                  <a:gd name="connsiteY1" fmla="*/ 15812 h 15811"/>
                  <a:gd name="connsiteX2" fmla="*/ 0 w 15844"/>
                  <a:gd name="connsiteY2" fmla="*/ 7906 h 15811"/>
                  <a:gd name="connsiteX3" fmla="*/ 7922 w 15844"/>
                  <a:gd name="connsiteY3" fmla="*/ 0 h 15811"/>
                  <a:gd name="connsiteX4" fmla="*/ 15844 w 15844"/>
                  <a:gd name="connsiteY4" fmla="*/ 7906 h 15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4" h="15811">
                    <a:moveTo>
                      <a:pt x="15844" y="7906"/>
                    </a:moveTo>
                    <a:cubicBezTo>
                      <a:pt x="15844" y="12272"/>
                      <a:pt x="12298" y="15812"/>
                      <a:pt x="7922" y="15812"/>
                    </a:cubicBezTo>
                    <a:cubicBezTo>
                      <a:pt x="3547" y="15812"/>
                      <a:pt x="0" y="12272"/>
                      <a:pt x="0" y="7906"/>
                    </a:cubicBezTo>
                    <a:cubicBezTo>
                      <a:pt x="0" y="3540"/>
                      <a:pt x="3547" y="0"/>
                      <a:pt x="7922" y="0"/>
                    </a:cubicBezTo>
                    <a:cubicBezTo>
                      <a:pt x="12298" y="0"/>
                      <a:pt x="15844" y="3540"/>
                      <a:pt x="15844" y="790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4" name="Picture Placeholder 83">
                <a:extLst>
                  <a:ext uri="{FF2B5EF4-FFF2-40B4-BE49-F238E27FC236}">
                    <a16:creationId xmlns:a16="http://schemas.microsoft.com/office/drawing/2014/main" id="{9D1631BC-B751-008C-8F27-44308549F379}"/>
                  </a:ext>
                </a:extLst>
              </p:cNvPr>
              <p:cNvSpPr/>
              <p:nvPr/>
            </p:nvSpPr>
            <p:spPr>
              <a:xfrm>
                <a:off x="535250" y="1943265"/>
                <a:ext cx="602089" cy="442974"/>
              </a:xfrm>
              <a:custGeom>
                <a:avLst/>
                <a:gdLst>
                  <a:gd name="connsiteX0" fmla="*/ 0 w 602089"/>
                  <a:gd name="connsiteY0" fmla="*/ 0 h 442974"/>
                  <a:gd name="connsiteX1" fmla="*/ 0 w 602089"/>
                  <a:gd name="connsiteY1" fmla="*/ 442722 h 442974"/>
                  <a:gd name="connsiteX2" fmla="*/ 142093 w 602089"/>
                  <a:gd name="connsiteY2" fmla="*/ 442722 h 442974"/>
                  <a:gd name="connsiteX3" fmla="*/ 141713 w 602089"/>
                  <a:gd name="connsiteY3" fmla="*/ 426911 h 442974"/>
                  <a:gd name="connsiteX4" fmla="*/ 15844 w 602089"/>
                  <a:gd name="connsiteY4" fmla="*/ 426911 h 442974"/>
                  <a:gd name="connsiteX5" fmla="*/ 15844 w 602089"/>
                  <a:gd name="connsiteY5" fmla="*/ 106696 h 442974"/>
                  <a:gd name="connsiteX6" fmla="*/ 550056 w 602089"/>
                  <a:gd name="connsiteY6" fmla="*/ 106696 h 442974"/>
                  <a:gd name="connsiteX7" fmla="*/ 550056 w 602089"/>
                  <a:gd name="connsiteY7" fmla="*/ 90885 h 442974"/>
                  <a:gd name="connsiteX8" fmla="*/ 15844 w 602089"/>
                  <a:gd name="connsiteY8" fmla="*/ 90885 h 442974"/>
                  <a:gd name="connsiteX9" fmla="*/ 15844 w 602089"/>
                  <a:gd name="connsiteY9" fmla="*/ 16064 h 442974"/>
                  <a:gd name="connsiteX10" fmla="*/ 586245 w 602089"/>
                  <a:gd name="connsiteY10" fmla="*/ 16064 h 442974"/>
                  <a:gd name="connsiteX11" fmla="*/ 586245 w 602089"/>
                  <a:gd name="connsiteY11" fmla="*/ 427163 h 442974"/>
                  <a:gd name="connsiteX12" fmla="*/ 461961 w 602089"/>
                  <a:gd name="connsiteY12" fmla="*/ 427163 h 442974"/>
                  <a:gd name="connsiteX13" fmla="*/ 461581 w 602089"/>
                  <a:gd name="connsiteY13" fmla="*/ 442975 h 442974"/>
                  <a:gd name="connsiteX14" fmla="*/ 602089 w 602089"/>
                  <a:gd name="connsiteY14" fmla="*/ 442975 h 442974"/>
                  <a:gd name="connsiteX15" fmla="*/ 602089 w 602089"/>
                  <a:gd name="connsiteY15" fmla="*/ 253 h 44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2089" h="442974">
                    <a:moveTo>
                      <a:pt x="0" y="0"/>
                    </a:moveTo>
                    <a:lnTo>
                      <a:pt x="0" y="442722"/>
                    </a:lnTo>
                    <a:lnTo>
                      <a:pt x="142093" y="442722"/>
                    </a:lnTo>
                    <a:cubicBezTo>
                      <a:pt x="142093" y="437346"/>
                      <a:pt x="142093" y="432033"/>
                      <a:pt x="141713" y="426911"/>
                    </a:cubicBezTo>
                    <a:lnTo>
                      <a:pt x="15844" y="426911"/>
                    </a:lnTo>
                    <a:lnTo>
                      <a:pt x="15844" y="106696"/>
                    </a:lnTo>
                    <a:lnTo>
                      <a:pt x="550056" y="106696"/>
                    </a:lnTo>
                    <a:lnTo>
                      <a:pt x="550056" y="90885"/>
                    </a:lnTo>
                    <a:lnTo>
                      <a:pt x="15844" y="90885"/>
                    </a:lnTo>
                    <a:lnTo>
                      <a:pt x="15844" y="16064"/>
                    </a:lnTo>
                    <a:lnTo>
                      <a:pt x="586245" y="16064"/>
                    </a:lnTo>
                    <a:lnTo>
                      <a:pt x="586245" y="427163"/>
                    </a:lnTo>
                    <a:lnTo>
                      <a:pt x="461961" y="427163"/>
                    </a:lnTo>
                    <a:cubicBezTo>
                      <a:pt x="461961" y="432286"/>
                      <a:pt x="461961" y="437599"/>
                      <a:pt x="461581" y="442975"/>
                    </a:cubicBezTo>
                    <a:lnTo>
                      <a:pt x="602089" y="442975"/>
                    </a:lnTo>
                    <a:lnTo>
                      <a:pt x="602089" y="25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5" name="Picture Placeholder 83">
                <a:extLst>
                  <a:ext uri="{FF2B5EF4-FFF2-40B4-BE49-F238E27FC236}">
                    <a16:creationId xmlns:a16="http://schemas.microsoft.com/office/drawing/2014/main" id="{F602C363-6437-80F5-D973-F49553744F15}"/>
                  </a:ext>
                </a:extLst>
              </p:cNvPr>
              <p:cNvSpPr/>
              <p:nvPr/>
            </p:nvSpPr>
            <p:spPr>
              <a:xfrm>
                <a:off x="706117" y="2242988"/>
                <a:ext cx="260672" cy="305288"/>
              </a:xfrm>
              <a:custGeom>
                <a:avLst/>
                <a:gdLst>
                  <a:gd name="connsiteX0" fmla="*/ 130178 w 260672"/>
                  <a:gd name="connsiteY0" fmla="*/ 305288 h 305288"/>
                  <a:gd name="connsiteX1" fmla="*/ 124601 w 260672"/>
                  <a:gd name="connsiteY1" fmla="*/ 303328 h 305288"/>
                  <a:gd name="connsiteX2" fmla="*/ 0 w 260672"/>
                  <a:gd name="connsiteY2" fmla="*/ 135093 h 305288"/>
                  <a:gd name="connsiteX3" fmla="*/ 0 w 260672"/>
                  <a:gd name="connsiteY3" fmla="*/ 56226 h 305288"/>
                  <a:gd name="connsiteX4" fmla="*/ 12676 w 260672"/>
                  <a:gd name="connsiteY4" fmla="*/ 53063 h 305288"/>
                  <a:gd name="connsiteX5" fmla="*/ 69272 w 260672"/>
                  <a:gd name="connsiteY5" fmla="*/ 33141 h 305288"/>
                  <a:gd name="connsiteX6" fmla="*/ 121369 w 260672"/>
                  <a:gd name="connsiteY6" fmla="*/ 5692 h 305288"/>
                  <a:gd name="connsiteX7" fmla="*/ 130241 w 260672"/>
                  <a:gd name="connsiteY7" fmla="*/ 0 h 305288"/>
                  <a:gd name="connsiteX8" fmla="*/ 139304 w 260672"/>
                  <a:gd name="connsiteY8" fmla="*/ 5566 h 305288"/>
                  <a:gd name="connsiteX9" fmla="*/ 191401 w 260672"/>
                  <a:gd name="connsiteY9" fmla="*/ 33014 h 305288"/>
                  <a:gd name="connsiteX10" fmla="*/ 247997 w 260672"/>
                  <a:gd name="connsiteY10" fmla="*/ 53127 h 305288"/>
                  <a:gd name="connsiteX11" fmla="*/ 260673 w 260672"/>
                  <a:gd name="connsiteY11" fmla="*/ 56226 h 305288"/>
                  <a:gd name="connsiteX12" fmla="*/ 260673 w 260672"/>
                  <a:gd name="connsiteY12" fmla="*/ 135093 h 305288"/>
                  <a:gd name="connsiteX13" fmla="*/ 136072 w 260672"/>
                  <a:gd name="connsiteY13" fmla="*/ 303201 h 305288"/>
                  <a:gd name="connsiteX14" fmla="*/ 136072 w 260672"/>
                  <a:gd name="connsiteY14" fmla="*/ 303201 h 305288"/>
                  <a:gd name="connsiteX15" fmla="*/ 16098 w 260672"/>
                  <a:gd name="connsiteY15" fmla="*/ 68559 h 305288"/>
                  <a:gd name="connsiteX16" fmla="*/ 16098 w 260672"/>
                  <a:gd name="connsiteY16" fmla="*/ 135093 h 305288"/>
                  <a:gd name="connsiteX17" fmla="*/ 130178 w 260672"/>
                  <a:gd name="connsiteY17" fmla="*/ 288465 h 305288"/>
                  <a:gd name="connsiteX18" fmla="*/ 130178 w 260672"/>
                  <a:gd name="connsiteY18" fmla="*/ 288465 h 305288"/>
                  <a:gd name="connsiteX19" fmla="*/ 131826 w 260672"/>
                  <a:gd name="connsiteY19" fmla="*/ 287896 h 305288"/>
                  <a:gd name="connsiteX20" fmla="*/ 244512 w 260672"/>
                  <a:gd name="connsiteY20" fmla="*/ 135030 h 305288"/>
                  <a:gd name="connsiteX21" fmla="*/ 244512 w 260672"/>
                  <a:gd name="connsiteY21" fmla="*/ 68559 h 305288"/>
                  <a:gd name="connsiteX22" fmla="*/ 243878 w 260672"/>
                  <a:gd name="connsiteY22" fmla="*/ 68559 h 305288"/>
                  <a:gd name="connsiteX23" fmla="*/ 184873 w 260672"/>
                  <a:gd name="connsiteY23" fmla="*/ 47687 h 305288"/>
                  <a:gd name="connsiteX24" fmla="*/ 130748 w 260672"/>
                  <a:gd name="connsiteY24" fmla="*/ 19164 h 305288"/>
                  <a:gd name="connsiteX25" fmla="*/ 130305 w 260672"/>
                  <a:gd name="connsiteY25" fmla="*/ 19164 h 305288"/>
                  <a:gd name="connsiteX26" fmla="*/ 129798 w 260672"/>
                  <a:gd name="connsiteY26" fmla="*/ 19164 h 305288"/>
                  <a:gd name="connsiteX27" fmla="*/ 75546 w 260672"/>
                  <a:gd name="connsiteY27" fmla="*/ 47751 h 305288"/>
                  <a:gd name="connsiteX28" fmla="*/ 16542 w 260672"/>
                  <a:gd name="connsiteY28" fmla="*/ 68495 h 30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0672" h="305288">
                    <a:moveTo>
                      <a:pt x="130178" y="305288"/>
                    </a:moveTo>
                    <a:lnTo>
                      <a:pt x="124601" y="303328"/>
                    </a:lnTo>
                    <a:cubicBezTo>
                      <a:pt x="119277" y="301304"/>
                      <a:pt x="0" y="254881"/>
                      <a:pt x="0" y="135093"/>
                    </a:cubicBezTo>
                    <a:lnTo>
                      <a:pt x="0" y="56226"/>
                    </a:lnTo>
                    <a:lnTo>
                      <a:pt x="12676" y="53063"/>
                    </a:lnTo>
                    <a:cubicBezTo>
                      <a:pt x="32053" y="47970"/>
                      <a:pt x="50981" y="41307"/>
                      <a:pt x="69272" y="33141"/>
                    </a:cubicBezTo>
                    <a:cubicBezTo>
                      <a:pt x="87314" y="25332"/>
                      <a:pt x="104731" y="16156"/>
                      <a:pt x="121369" y="5692"/>
                    </a:cubicBezTo>
                    <a:lnTo>
                      <a:pt x="130241" y="0"/>
                    </a:lnTo>
                    <a:lnTo>
                      <a:pt x="139304" y="5566"/>
                    </a:lnTo>
                    <a:cubicBezTo>
                      <a:pt x="155943" y="16028"/>
                      <a:pt x="173359" y="25204"/>
                      <a:pt x="191401" y="33014"/>
                    </a:cubicBezTo>
                    <a:cubicBezTo>
                      <a:pt x="209699" y="41215"/>
                      <a:pt x="228625" y="47940"/>
                      <a:pt x="247997" y="53127"/>
                    </a:cubicBezTo>
                    <a:lnTo>
                      <a:pt x="260673" y="56226"/>
                    </a:lnTo>
                    <a:lnTo>
                      <a:pt x="260673" y="135093"/>
                    </a:lnTo>
                    <a:cubicBezTo>
                      <a:pt x="260673" y="247292"/>
                      <a:pt x="155529" y="297636"/>
                      <a:pt x="136072" y="303201"/>
                    </a:cubicBezTo>
                    <a:lnTo>
                      <a:pt x="136072" y="303201"/>
                    </a:lnTo>
                    <a:close/>
                    <a:moveTo>
                      <a:pt x="16098" y="68559"/>
                    </a:moveTo>
                    <a:lnTo>
                      <a:pt x="16098" y="135093"/>
                    </a:lnTo>
                    <a:cubicBezTo>
                      <a:pt x="16098" y="244066"/>
                      <a:pt x="125551" y="286884"/>
                      <a:pt x="130178" y="288465"/>
                    </a:cubicBezTo>
                    <a:lnTo>
                      <a:pt x="130178" y="288465"/>
                    </a:lnTo>
                    <a:lnTo>
                      <a:pt x="131826" y="287896"/>
                    </a:lnTo>
                    <a:cubicBezTo>
                      <a:pt x="141903" y="283911"/>
                      <a:pt x="244512" y="240461"/>
                      <a:pt x="244512" y="135030"/>
                    </a:cubicBezTo>
                    <a:lnTo>
                      <a:pt x="244512" y="68559"/>
                    </a:lnTo>
                    <a:lnTo>
                      <a:pt x="243878" y="68559"/>
                    </a:lnTo>
                    <a:cubicBezTo>
                      <a:pt x="223688" y="63168"/>
                      <a:pt x="203958" y="56190"/>
                      <a:pt x="184873" y="47687"/>
                    </a:cubicBezTo>
                    <a:cubicBezTo>
                      <a:pt x="166137" y="39555"/>
                      <a:pt x="148043" y="30020"/>
                      <a:pt x="130748" y="19164"/>
                    </a:cubicBezTo>
                    <a:lnTo>
                      <a:pt x="130305" y="19164"/>
                    </a:lnTo>
                    <a:lnTo>
                      <a:pt x="129798" y="19164"/>
                    </a:lnTo>
                    <a:cubicBezTo>
                      <a:pt x="112468" y="30054"/>
                      <a:pt x="94332" y="39611"/>
                      <a:pt x="75546" y="47751"/>
                    </a:cubicBezTo>
                    <a:cubicBezTo>
                      <a:pt x="56463" y="56221"/>
                      <a:pt x="36732" y="63158"/>
                      <a:pt x="16542" y="6849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sp>
        <p:nvSpPr>
          <p:cNvPr id="250" name="TextBox 249">
            <a:extLst>
              <a:ext uri="{FF2B5EF4-FFF2-40B4-BE49-F238E27FC236}">
                <a16:creationId xmlns:a16="http://schemas.microsoft.com/office/drawing/2014/main" id="{18C163F5-3511-5E75-C3F2-CF5739055019}"/>
              </a:ext>
            </a:extLst>
          </p:cNvPr>
          <p:cNvSpPr txBox="1"/>
          <p:nvPr/>
        </p:nvSpPr>
        <p:spPr>
          <a:xfrm>
            <a:off x="692155" y="2075056"/>
            <a:ext cx="3467094" cy="1969770"/>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1" i="0" u="none" strike="noStrike" kern="1200" cap="none" spc="0" normalizeH="0" baseline="0" noProof="0" dirty="0">
                <a:ln>
                  <a:noFill/>
                </a:ln>
                <a:solidFill>
                  <a:srgbClr val="61A60E">
                    <a:lumMod val="75000"/>
                  </a:srgbClr>
                </a:solidFill>
                <a:effectLst/>
                <a:uLnTx/>
                <a:uFillTx/>
                <a:latin typeface="Arial" panose="020B0604020202020204"/>
                <a:ea typeface="+mn-ea"/>
                <a:cs typeface="+mn-cs"/>
              </a:rPr>
              <a:t>Consistent, scale-out </a:t>
            </a: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performance beating traditional storage</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Consistent </a:t>
            </a:r>
            <a:r>
              <a:rPr kumimoji="0" lang="en-US" sz="1400" b="1" i="0" u="none" strike="noStrike" kern="1200" cap="none" spc="0" normalizeH="0" baseline="0" noProof="0" dirty="0">
                <a:ln>
                  <a:noFill/>
                </a:ln>
                <a:solidFill>
                  <a:srgbClr val="61A60E">
                    <a:lumMod val="75000"/>
                  </a:srgbClr>
                </a:solidFill>
                <a:effectLst/>
                <a:uLnTx/>
                <a:uFillTx/>
                <a:latin typeface="Arial" panose="020B0604020202020204"/>
                <a:ea typeface="+mn-ea"/>
                <a:cs typeface="+mn-cs"/>
              </a:rPr>
              <a:t>low latency </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Adaptive write path for </a:t>
            </a:r>
            <a:r>
              <a:rPr kumimoji="0" lang="en-US" sz="1400" b="1" i="0" u="none" strike="noStrike" kern="1200" cap="none" spc="0" normalizeH="0" baseline="0" noProof="0" dirty="0">
                <a:ln>
                  <a:noFill/>
                </a:ln>
                <a:solidFill>
                  <a:srgbClr val="61A60E">
                    <a:lumMod val="75000"/>
                  </a:srgbClr>
                </a:solidFill>
                <a:effectLst/>
                <a:uLnTx/>
                <a:uFillTx/>
                <a:latin typeface="Arial" panose="020B0604020202020204"/>
                <a:ea typeface="+mn-ea"/>
                <a:cs typeface="+mn-cs"/>
              </a:rPr>
              <a:t>maximum throughput</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Supports latest CPU/server platform with fast and high capacity NVMe devices</a:t>
            </a:r>
          </a:p>
        </p:txBody>
      </p:sp>
      <p:sp>
        <p:nvSpPr>
          <p:cNvPr id="251" name="TextBox 250">
            <a:extLst>
              <a:ext uri="{FF2B5EF4-FFF2-40B4-BE49-F238E27FC236}">
                <a16:creationId xmlns:a16="http://schemas.microsoft.com/office/drawing/2014/main" id="{187A7028-AD5C-8549-4ACE-F7E4EF61A36C}"/>
              </a:ext>
            </a:extLst>
          </p:cNvPr>
          <p:cNvSpPr txBox="1"/>
          <p:nvPr/>
        </p:nvSpPr>
        <p:spPr>
          <a:xfrm>
            <a:off x="4357445" y="2075056"/>
            <a:ext cx="3467282" cy="2339102"/>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RAID-5/6 at the performance of RAID-1</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Global deduplication</a:t>
            </a: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 without compromise on performance or security</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Lower overheads </a:t>
            </a: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with single-tier architecture</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Lower CPU/Memory usage per I/O processed</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New data compression capabilities</a:t>
            </a:r>
          </a:p>
        </p:txBody>
      </p:sp>
      <p:sp>
        <p:nvSpPr>
          <p:cNvPr id="252" name="TextBox 251">
            <a:extLst>
              <a:ext uri="{FF2B5EF4-FFF2-40B4-BE49-F238E27FC236}">
                <a16:creationId xmlns:a16="http://schemas.microsoft.com/office/drawing/2014/main" id="{15A843EB-60E9-ECE8-0CDA-694824160DC7}"/>
              </a:ext>
            </a:extLst>
          </p:cNvPr>
          <p:cNvSpPr txBox="1"/>
          <p:nvPr/>
        </p:nvSpPr>
        <p:spPr>
          <a:xfrm>
            <a:off x="8022926" y="2075056"/>
            <a:ext cx="3467279" cy="2339102"/>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1" i="0" u="none" strike="noStrike" kern="1200" cap="none" spc="0" normalizeH="0" baseline="0" noProof="0" dirty="0">
                <a:ln>
                  <a:noFill/>
                </a:ln>
                <a:solidFill>
                  <a:srgbClr val="007B8C"/>
                </a:solidFill>
                <a:effectLst/>
                <a:uLnTx/>
                <a:uFillTx/>
                <a:latin typeface="Arial" panose="020B0604020202020204"/>
                <a:ea typeface="+mn-ea"/>
                <a:cs typeface="+mn-cs"/>
              </a:rPr>
              <a:t>Reduced failure domains </a:t>
            </a: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improve availability upon device failure</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1" i="0" u="none" strike="noStrike" kern="1200" cap="none" spc="0" normalizeH="0" baseline="0" noProof="0" dirty="0">
                <a:ln>
                  <a:noFill/>
                </a:ln>
                <a:solidFill>
                  <a:srgbClr val="007B8C"/>
                </a:solidFill>
                <a:effectLst/>
                <a:uLnTx/>
                <a:uFillTx/>
                <a:latin typeface="Arial" panose="020B0604020202020204"/>
                <a:ea typeface="+mn-ea"/>
                <a:cs typeface="+mn-cs"/>
              </a:rPr>
              <a:t>Native, scalable snapshots </a:t>
            </a: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with minimal performance impact</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Improved encryption in-transit and at-rest </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Durable data during planned and unplanned events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t>Automated resilience using Auto-RAID</a:t>
            </a:r>
          </a:p>
        </p:txBody>
      </p:sp>
      <p:sp>
        <p:nvSpPr>
          <p:cNvPr id="58" name="TextBox 57">
            <a:extLst>
              <a:ext uri="{FF2B5EF4-FFF2-40B4-BE49-F238E27FC236}">
                <a16:creationId xmlns:a16="http://schemas.microsoft.com/office/drawing/2014/main" id="{9A1FE47E-2EE6-6062-CCA9-3C43BC0AABE9}"/>
              </a:ext>
            </a:extLst>
          </p:cNvPr>
          <p:cNvSpPr txBox="1"/>
          <p:nvPr/>
        </p:nvSpPr>
        <p:spPr>
          <a:xfrm>
            <a:off x="692155" y="5371773"/>
            <a:ext cx="3467094" cy="615553"/>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dirty="0">
                <a:ln>
                  <a:noFill/>
                </a:ln>
                <a:solidFill>
                  <a:srgbClr val="61A60E">
                    <a:lumMod val="75000"/>
                  </a:srgbClr>
                </a:solidFill>
                <a:effectLst/>
                <a:uLnTx/>
                <a:uFillTx/>
                <a:latin typeface="Arial" panose="020B0604020202020204"/>
                <a:ea typeface="+mn-ea"/>
                <a:cs typeface="+mn-cs"/>
              </a:rPr>
              <a:t>Better performance than traditional storage!</a:t>
            </a:r>
          </a:p>
        </p:txBody>
      </p:sp>
      <p:sp>
        <p:nvSpPr>
          <p:cNvPr id="59" name="TextBox 58">
            <a:extLst>
              <a:ext uri="{FF2B5EF4-FFF2-40B4-BE49-F238E27FC236}">
                <a16:creationId xmlns:a16="http://schemas.microsoft.com/office/drawing/2014/main" id="{F7724768-87D5-9849-7A56-021CA69CFA33}"/>
              </a:ext>
            </a:extLst>
          </p:cNvPr>
          <p:cNvSpPr txBox="1"/>
          <p:nvPr/>
        </p:nvSpPr>
        <p:spPr>
          <a:xfrm>
            <a:off x="4357445" y="5371773"/>
            <a:ext cx="3467282" cy="615553"/>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dirty="0">
                <a:ln>
                  <a:noFill/>
                </a:ln>
                <a:solidFill>
                  <a:srgbClr val="005C8A"/>
                </a:solidFill>
                <a:effectLst/>
                <a:uLnTx/>
                <a:uFillTx/>
                <a:latin typeface="Arial" panose="020B0604020202020204"/>
                <a:ea typeface="+mn-ea"/>
                <a:cs typeface="+mn-cs"/>
              </a:rPr>
              <a:t>Lower TCO than traditional storage</a:t>
            </a:r>
          </a:p>
        </p:txBody>
      </p:sp>
      <p:sp>
        <p:nvSpPr>
          <p:cNvPr id="60" name="TextBox 59">
            <a:extLst>
              <a:ext uri="{FF2B5EF4-FFF2-40B4-BE49-F238E27FC236}">
                <a16:creationId xmlns:a16="http://schemas.microsoft.com/office/drawing/2014/main" id="{760FA149-8D10-4979-7C8D-F28A7688B281}"/>
              </a:ext>
            </a:extLst>
          </p:cNvPr>
          <p:cNvSpPr txBox="1"/>
          <p:nvPr/>
        </p:nvSpPr>
        <p:spPr>
          <a:xfrm>
            <a:off x="8022926" y="5371773"/>
            <a:ext cx="3467282" cy="615553"/>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dirty="0">
                <a:ln>
                  <a:noFill/>
                </a:ln>
                <a:solidFill>
                  <a:srgbClr val="007B8C">
                    <a:lumMod val="75000"/>
                  </a:srgbClr>
                </a:solidFill>
                <a:effectLst/>
                <a:uLnTx/>
                <a:uFillTx/>
                <a:latin typeface="Arial" panose="020B0604020202020204"/>
                <a:ea typeface="+mn-ea"/>
                <a:cs typeface="+mn-cs"/>
              </a:rPr>
              <a:t>Protection without compromise</a:t>
            </a:r>
          </a:p>
        </p:txBody>
      </p:sp>
      <p:sp>
        <p:nvSpPr>
          <p:cNvPr id="61" name="Arrow: Right 60">
            <a:extLst>
              <a:ext uri="{FF2B5EF4-FFF2-40B4-BE49-F238E27FC236}">
                <a16:creationId xmlns:a16="http://schemas.microsoft.com/office/drawing/2014/main" id="{D697A392-251D-01B4-EB44-9280CF9714A7}"/>
              </a:ext>
            </a:extLst>
          </p:cNvPr>
          <p:cNvSpPr/>
          <p:nvPr/>
        </p:nvSpPr>
        <p:spPr bwMode="gray">
          <a:xfrm rot="5400000">
            <a:off x="2155662" y="4593265"/>
            <a:ext cx="563526" cy="615553"/>
          </a:xfrm>
          <a:prstGeom prst="rightArrow">
            <a:avLst/>
          </a:prstGeom>
          <a:solidFill>
            <a:schemeClr val="accent4">
              <a:lumMod val="7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62" name="Arrow: Right 61">
            <a:extLst>
              <a:ext uri="{FF2B5EF4-FFF2-40B4-BE49-F238E27FC236}">
                <a16:creationId xmlns:a16="http://schemas.microsoft.com/office/drawing/2014/main" id="{B0FDDCDF-9FCC-3E0B-AB2F-7632600B2A09}"/>
              </a:ext>
            </a:extLst>
          </p:cNvPr>
          <p:cNvSpPr/>
          <p:nvPr/>
        </p:nvSpPr>
        <p:spPr bwMode="gray">
          <a:xfrm rot="5400000">
            <a:off x="5808294" y="4593265"/>
            <a:ext cx="563526" cy="615553"/>
          </a:xfrm>
          <a:prstGeom prst="rightArrow">
            <a:avLst/>
          </a:prstGeom>
          <a:solidFill>
            <a:schemeClr val="accent3">
              <a:lumMod val="7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63" name="Arrow: Right 62">
            <a:extLst>
              <a:ext uri="{FF2B5EF4-FFF2-40B4-BE49-F238E27FC236}">
                <a16:creationId xmlns:a16="http://schemas.microsoft.com/office/drawing/2014/main" id="{EEC6A8FA-8BBA-ABE9-6ED9-7A0D4DFE7FA1}"/>
              </a:ext>
            </a:extLst>
          </p:cNvPr>
          <p:cNvSpPr/>
          <p:nvPr/>
        </p:nvSpPr>
        <p:spPr bwMode="gray">
          <a:xfrm rot="5400000">
            <a:off x="9476244" y="4593265"/>
            <a:ext cx="563526" cy="615553"/>
          </a:xfrm>
          <a:prstGeom prst="rightArrow">
            <a:avLst/>
          </a:prstGeom>
          <a:solidFill>
            <a:schemeClr val="accent1">
              <a:lumMod val="7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1114705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250"/>
                                        </p:tgtEl>
                                        <p:attrNameLst>
                                          <p:attrName>style.visibility</p:attrName>
                                        </p:attrNameLst>
                                      </p:cBhvr>
                                      <p:to>
                                        <p:strVal val="visible"/>
                                      </p:to>
                                    </p:set>
                                    <p:animEffect transition="in" filter="fade">
                                      <p:cBhvr>
                                        <p:cTn id="7" dur="750"/>
                                        <p:tgtEl>
                                          <p:spTgt spid="250"/>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750"/>
                                        <p:tgtEl>
                                          <p:spTgt spid="251"/>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252"/>
                                        </p:tgtEl>
                                        <p:attrNameLst>
                                          <p:attrName>style.visibility</p:attrName>
                                        </p:attrNameLst>
                                      </p:cBhvr>
                                      <p:to>
                                        <p:strVal val="visible"/>
                                      </p:to>
                                    </p:set>
                                    <p:animEffect transition="in" filter="fade">
                                      <p:cBhvr>
                                        <p:cTn id="13" dur="750"/>
                                        <p:tgtEl>
                                          <p:spTgt spid="252"/>
                                        </p:tgtEl>
                                      </p:cBhvr>
                                    </p:animEffect>
                                  </p:childTnLst>
                                </p:cTn>
                              </p:par>
                            </p:childTnLst>
                          </p:cTn>
                        </p:par>
                        <p:par>
                          <p:cTn id="14" fill="hold">
                            <p:stCondLst>
                              <p:cond delay="1250"/>
                            </p:stCondLst>
                            <p:childTnLst>
                              <p:par>
                                <p:cTn id="15" presetID="22" presetClass="entr" presetSubtype="1" fill="hold" grpId="0" nodeType="afterEffect">
                                  <p:stCondLst>
                                    <p:cond delay="0"/>
                                  </p:stCondLst>
                                  <p:childTnLst>
                                    <p:set>
                                      <p:cBhvr>
                                        <p:cTn id="16" dur="1" fill="hold">
                                          <p:stCondLst>
                                            <p:cond delay="0"/>
                                          </p:stCondLst>
                                        </p:cTn>
                                        <p:tgtEl>
                                          <p:spTgt spid="61"/>
                                        </p:tgtEl>
                                        <p:attrNameLst>
                                          <p:attrName>style.visibility</p:attrName>
                                        </p:attrNameLst>
                                      </p:cBhvr>
                                      <p:to>
                                        <p:strVal val="visible"/>
                                      </p:to>
                                    </p:set>
                                    <p:animEffect transition="in" filter="wipe(up)">
                                      <p:cBhvr>
                                        <p:cTn id="17" dur="500"/>
                                        <p:tgtEl>
                                          <p:spTgt spid="61"/>
                                        </p:tgtEl>
                                      </p:cBhvr>
                                    </p:animEffect>
                                  </p:childTnLst>
                                </p:cTn>
                              </p:par>
                            </p:childTnLst>
                          </p:cTn>
                        </p:par>
                        <p:par>
                          <p:cTn id="18" fill="hold">
                            <p:stCondLst>
                              <p:cond delay="1750"/>
                            </p:stCondLst>
                            <p:childTnLst>
                              <p:par>
                                <p:cTn id="19" presetID="10" presetClass="entr" presetSubtype="0" fill="hold" grpId="0" nodeType="afterEffect">
                                  <p:stCondLst>
                                    <p:cond delay="0"/>
                                  </p:stCondLst>
                                  <p:childTnLst>
                                    <p:set>
                                      <p:cBhvr>
                                        <p:cTn id="20" dur="1" fill="hold">
                                          <p:stCondLst>
                                            <p:cond delay="0"/>
                                          </p:stCondLst>
                                        </p:cTn>
                                        <p:tgtEl>
                                          <p:spTgt spid="58"/>
                                        </p:tgtEl>
                                        <p:attrNameLst>
                                          <p:attrName>style.visibility</p:attrName>
                                        </p:attrNameLst>
                                      </p:cBhvr>
                                      <p:to>
                                        <p:strVal val="visible"/>
                                      </p:to>
                                    </p:set>
                                    <p:animEffect transition="in" filter="fade">
                                      <p:cBhvr>
                                        <p:cTn id="21" dur="750"/>
                                        <p:tgtEl>
                                          <p:spTgt spid="58"/>
                                        </p:tgtEl>
                                      </p:cBhvr>
                                    </p:animEffect>
                                  </p:childTnLst>
                                </p:cTn>
                              </p:par>
                            </p:childTnLst>
                          </p:cTn>
                        </p:par>
                        <p:par>
                          <p:cTn id="22" fill="hold">
                            <p:stCondLst>
                              <p:cond delay="2500"/>
                            </p:stCondLst>
                            <p:childTnLst>
                              <p:par>
                                <p:cTn id="23" presetID="26" presetClass="emph" presetSubtype="0" fill="hold" grpId="1" nodeType="afterEffect">
                                  <p:stCondLst>
                                    <p:cond delay="500"/>
                                  </p:stCondLst>
                                  <p:childTnLst>
                                    <p:animEffect transition="out" filter="fade">
                                      <p:cBhvr>
                                        <p:cTn id="24" dur="500" tmFilter="0, 0; .2, .5; .8, .5; 1, 0"/>
                                        <p:tgtEl>
                                          <p:spTgt spid="58"/>
                                        </p:tgtEl>
                                      </p:cBhvr>
                                    </p:animEffect>
                                    <p:animScale>
                                      <p:cBhvr>
                                        <p:cTn id="25" dur="250" autoRev="1" fill="hold"/>
                                        <p:tgtEl>
                                          <p:spTgt spid="58"/>
                                        </p:tgtEl>
                                      </p:cBhvr>
                                      <p:by x="105000" y="105000"/>
                                    </p:animScale>
                                  </p:childTnLst>
                                </p:cTn>
                              </p:par>
                            </p:childTnLst>
                          </p:cTn>
                        </p:par>
                        <p:par>
                          <p:cTn id="26" fill="hold">
                            <p:stCondLst>
                              <p:cond delay="3500"/>
                            </p:stCondLst>
                            <p:childTnLst>
                              <p:par>
                                <p:cTn id="27" presetID="22" presetClass="entr" presetSubtype="1" fill="hold" grpId="0" nodeType="afterEffect">
                                  <p:stCondLst>
                                    <p:cond delay="0"/>
                                  </p:stCondLst>
                                  <p:childTnLst>
                                    <p:set>
                                      <p:cBhvr>
                                        <p:cTn id="28" dur="1" fill="hold">
                                          <p:stCondLst>
                                            <p:cond delay="0"/>
                                          </p:stCondLst>
                                        </p:cTn>
                                        <p:tgtEl>
                                          <p:spTgt spid="62"/>
                                        </p:tgtEl>
                                        <p:attrNameLst>
                                          <p:attrName>style.visibility</p:attrName>
                                        </p:attrNameLst>
                                      </p:cBhvr>
                                      <p:to>
                                        <p:strVal val="visible"/>
                                      </p:to>
                                    </p:set>
                                    <p:animEffect transition="in" filter="wipe(up)">
                                      <p:cBhvr>
                                        <p:cTn id="29" dur="500"/>
                                        <p:tgtEl>
                                          <p:spTgt spid="6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59"/>
                                        </p:tgtEl>
                                        <p:attrNameLst>
                                          <p:attrName>style.visibility</p:attrName>
                                        </p:attrNameLst>
                                      </p:cBhvr>
                                      <p:to>
                                        <p:strVal val="visible"/>
                                      </p:to>
                                    </p:set>
                                    <p:animEffect transition="in" filter="fade">
                                      <p:cBhvr>
                                        <p:cTn id="32" dur="750"/>
                                        <p:tgtEl>
                                          <p:spTgt spid="59"/>
                                        </p:tgtEl>
                                      </p:cBhvr>
                                    </p:animEffect>
                                  </p:childTnLst>
                                </p:cTn>
                              </p:par>
                            </p:childTnLst>
                          </p:cTn>
                        </p:par>
                        <p:par>
                          <p:cTn id="33" fill="hold">
                            <p:stCondLst>
                              <p:cond delay="4250"/>
                            </p:stCondLst>
                            <p:childTnLst>
                              <p:par>
                                <p:cTn id="34" presetID="26" presetClass="emph" presetSubtype="0" fill="hold" grpId="1" nodeType="afterEffect">
                                  <p:stCondLst>
                                    <p:cond delay="500"/>
                                  </p:stCondLst>
                                  <p:childTnLst>
                                    <p:animEffect transition="out" filter="fade">
                                      <p:cBhvr>
                                        <p:cTn id="35" dur="500" tmFilter="0, 0; .2, .5; .8, .5; 1, 0"/>
                                        <p:tgtEl>
                                          <p:spTgt spid="59"/>
                                        </p:tgtEl>
                                      </p:cBhvr>
                                    </p:animEffect>
                                    <p:animScale>
                                      <p:cBhvr>
                                        <p:cTn id="36" dur="250" autoRev="1" fill="hold"/>
                                        <p:tgtEl>
                                          <p:spTgt spid="59"/>
                                        </p:tgtEl>
                                      </p:cBhvr>
                                      <p:by x="105000" y="105000"/>
                                    </p:animScale>
                                  </p:childTnLst>
                                </p:cTn>
                              </p:par>
                            </p:childTnLst>
                          </p:cTn>
                        </p:par>
                        <p:par>
                          <p:cTn id="37" fill="hold">
                            <p:stCondLst>
                              <p:cond delay="5250"/>
                            </p:stCondLst>
                            <p:childTnLst>
                              <p:par>
                                <p:cTn id="38" presetID="22" presetClass="entr" presetSubtype="1" fill="hold" grpId="0" nodeType="afterEffect">
                                  <p:stCondLst>
                                    <p:cond delay="0"/>
                                  </p:stCondLst>
                                  <p:childTnLst>
                                    <p:set>
                                      <p:cBhvr>
                                        <p:cTn id="39" dur="1" fill="hold">
                                          <p:stCondLst>
                                            <p:cond delay="0"/>
                                          </p:stCondLst>
                                        </p:cTn>
                                        <p:tgtEl>
                                          <p:spTgt spid="63"/>
                                        </p:tgtEl>
                                        <p:attrNameLst>
                                          <p:attrName>style.visibility</p:attrName>
                                        </p:attrNameLst>
                                      </p:cBhvr>
                                      <p:to>
                                        <p:strVal val="visible"/>
                                      </p:to>
                                    </p:set>
                                    <p:animEffect transition="in" filter="wipe(up)">
                                      <p:cBhvr>
                                        <p:cTn id="40" dur="500"/>
                                        <p:tgtEl>
                                          <p:spTgt spid="6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60"/>
                                        </p:tgtEl>
                                        <p:attrNameLst>
                                          <p:attrName>style.visibility</p:attrName>
                                        </p:attrNameLst>
                                      </p:cBhvr>
                                      <p:to>
                                        <p:strVal val="visible"/>
                                      </p:to>
                                    </p:set>
                                    <p:animEffect transition="in" filter="fade">
                                      <p:cBhvr>
                                        <p:cTn id="43" dur="750"/>
                                        <p:tgtEl>
                                          <p:spTgt spid="60"/>
                                        </p:tgtEl>
                                      </p:cBhvr>
                                    </p:animEffect>
                                  </p:childTnLst>
                                </p:cTn>
                              </p:par>
                            </p:childTnLst>
                          </p:cTn>
                        </p:par>
                        <p:par>
                          <p:cTn id="44" fill="hold">
                            <p:stCondLst>
                              <p:cond delay="6000"/>
                            </p:stCondLst>
                            <p:childTnLst>
                              <p:par>
                                <p:cTn id="45" presetID="26" presetClass="emph" presetSubtype="0" fill="hold" grpId="1" nodeType="afterEffect">
                                  <p:stCondLst>
                                    <p:cond delay="500"/>
                                  </p:stCondLst>
                                  <p:childTnLst>
                                    <p:animEffect transition="out" filter="fade">
                                      <p:cBhvr>
                                        <p:cTn id="46" dur="500" tmFilter="0, 0; .2, .5; .8, .5; 1, 0"/>
                                        <p:tgtEl>
                                          <p:spTgt spid="60"/>
                                        </p:tgtEl>
                                      </p:cBhvr>
                                    </p:animEffect>
                                    <p:animScale>
                                      <p:cBhvr>
                                        <p:cTn id="47" dur="250" autoRev="1" fill="hold"/>
                                        <p:tgtEl>
                                          <p:spTgt spid="6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 grpId="0"/>
      <p:bldP spid="251" grpId="0"/>
      <p:bldP spid="252" grpId="0"/>
      <p:bldP spid="58" grpId="0"/>
      <p:bldP spid="58" grpId="1"/>
      <p:bldP spid="59" grpId="0"/>
      <p:bldP spid="59" grpId="1"/>
      <p:bldP spid="60" grpId="0"/>
      <p:bldP spid="60" grpId="1"/>
      <p:bldP spid="61" grpId="0" animBg="1"/>
      <p:bldP spid="62" grpId="0" animBg="1"/>
      <p:bldP spid="63"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0A0480-9E81-2A98-DE8C-DACDFA7A458A}"/>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FB1AF53B-EC45-0FA4-8C8F-11E4FFE6C6E6}"/>
              </a:ext>
            </a:extLst>
          </p:cNvPr>
          <p:cNvSpPr>
            <a:spLocks/>
          </p:cNvSpPr>
          <p:nvPr/>
        </p:nvSpPr>
        <p:spPr>
          <a:xfrm>
            <a:off x="0" y="0"/>
            <a:ext cx="12188825" cy="6858000"/>
          </a:xfrm>
          <a:prstGeom prst="rect">
            <a:avLst/>
          </a:prstGeom>
          <a:gradFill flip="none" rotWithShape="1">
            <a:gsLst>
              <a:gs pos="0">
                <a:schemeClr val="accent2">
                  <a:lumMod val="40000"/>
                  <a:lumOff val="60000"/>
                </a:schemeClr>
              </a:gs>
              <a:gs pos="49000">
                <a:schemeClr val="accent2">
                  <a:lumMod val="95000"/>
                  <a:lumOff val="5000"/>
                </a:schemeClr>
              </a:gs>
              <a:gs pos="100000">
                <a:schemeClr val="accent2">
                  <a:lumMod val="60000"/>
                </a:schemeClr>
              </a:gs>
            </a:gsLst>
            <a:path path="circle">
              <a:fillToRect l="50000" t="130000" r="50000" b="-30000"/>
            </a:path>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0098C7">
                  <a:lumMod val="60000"/>
                  <a:lumOff val="40000"/>
                </a:srgbClr>
              </a:solidFill>
              <a:effectLst/>
              <a:uLnTx/>
              <a:uFillTx/>
              <a:latin typeface="Arial" panose="020B0604020202020204" pitchFamily="34" charset="0"/>
              <a:ea typeface="+mn-ea"/>
              <a:cs typeface="+mn-cs"/>
            </a:endParaRPr>
          </a:p>
        </p:txBody>
      </p:sp>
      <p:sp>
        <p:nvSpPr>
          <p:cNvPr id="4" name="Subtitle 2">
            <a:extLst>
              <a:ext uri="{FF2B5EF4-FFF2-40B4-BE49-F238E27FC236}">
                <a16:creationId xmlns:a16="http://schemas.microsoft.com/office/drawing/2014/main" id="{32EA3EAF-D398-DF3E-B00C-86FC3BCC39AF}"/>
              </a:ext>
            </a:extLst>
          </p:cNvPr>
          <p:cNvSpPr txBox="1">
            <a:spLocks/>
          </p:cNvSpPr>
          <p:nvPr/>
        </p:nvSpPr>
        <p:spPr>
          <a:xfrm>
            <a:off x="683390" y="1493110"/>
            <a:ext cx="4777828" cy="1769252"/>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None/>
              <a:defRPr sz="2400" kern="1200">
                <a:solidFill>
                  <a:schemeClr val="tx1"/>
                </a:solidFill>
                <a:latin typeface="+mj-lt"/>
                <a:ea typeface="+mn-ea"/>
                <a:cs typeface="+mn-cs"/>
              </a:defRPr>
            </a:lvl1pPr>
            <a:lvl2pPr marL="4572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60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32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2004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76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
                <a:srgbClr val="000000">
                  <a:lumMod val="60000"/>
                  <a:lumOff val="40000"/>
                </a:srgbClr>
              </a:buClr>
              <a:buSzPct val="90000"/>
              <a:buFont typeface="Arial" panose="020B0604020202020204" pitchFamily="34" charset="0"/>
              <a:buNone/>
              <a:tabLst/>
              <a:defRPr/>
            </a:pPr>
            <a:r>
              <a:rPr kumimoji="0" lang="en-US" sz="2400" b="0" i="1" u="none" strike="noStrike" kern="1200" cap="none" spc="0" normalizeH="0" baseline="0" noProof="0" dirty="0">
                <a:ln>
                  <a:noFill/>
                </a:ln>
                <a:solidFill>
                  <a:srgbClr val="FFFFFF"/>
                </a:solidFill>
                <a:effectLst/>
                <a:uLnTx/>
                <a:uFillTx/>
                <a:latin typeface="Arial" panose="020B0604020202020204"/>
                <a:ea typeface="+mn-ea"/>
                <a:cs typeface="+mn-cs"/>
              </a:rPr>
              <a:t>You’ve trusted the hypervisor to manage your workloads.  Why not let it manage your storage?</a:t>
            </a:r>
          </a:p>
        </p:txBody>
      </p:sp>
      <p:sp>
        <p:nvSpPr>
          <p:cNvPr id="5" name="Subtitle 2">
            <a:extLst>
              <a:ext uri="{FF2B5EF4-FFF2-40B4-BE49-F238E27FC236}">
                <a16:creationId xmlns:a16="http://schemas.microsoft.com/office/drawing/2014/main" id="{535CC5C2-7070-18A1-B9F6-54AFF66EC232}"/>
              </a:ext>
            </a:extLst>
          </p:cNvPr>
          <p:cNvSpPr txBox="1">
            <a:spLocks/>
          </p:cNvSpPr>
          <p:nvPr/>
        </p:nvSpPr>
        <p:spPr>
          <a:xfrm>
            <a:off x="3328714" y="5208428"/>
            <a:ext cx="5983383" cy="1323060"/>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None/>
              <a:defRPr sz="2400" kern="1200">
                <a:solidFill>
                  <a:schemeClr val="tx1"/>
                </a:solidFill>
                <a:latin typeface="+mj-lt"/>
                <a:ea typeface="+mn-ea"/>
                <a:cs typeface="+mn-cs"/>
              </a:defRPr>
            </a:lvl1pPr>
            <a:lvl2pPr marL="4572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60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32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2004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76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
                <a:srgbClr val="000000">
                  <a:lumMod val="60000"/>
                  <a:lumOff val="40000"/>
                </a:srgbClr>
              </a:buClr>
              <a:buSzPct val="90000"/>
              <a:buFont typeface="Arial" panose="020B0604020202020204" pitchFamily="34" charset="0"/>
              <a:buNone/>
              <a:tabLst/>
              <a:defRPr/>
            </a:pPr>
            <a:r>
              <a:rPr kumimoji="0" lang="en-US" sz="2400" b="0" i="1" u="none" strike="noStrike" kern="1200" cap="none" spc="0" normalizeH="0" baseline="0" noProof="0" dirty="0">
                <a:ln>
                  <a:noFill/>
                </a:ln>
                <a:solidFill>
                  <a:srgbClr val="FFFFFF"/>
                </a:solidFill>
                <a:effectLst/>
                <a:uLnTx/>
                <a:uFillTx/>
                <a:latin typeface="Arial" panose="020B0604020202020204"/>
                <a:ea typeface="+mn-ea"/>
                <a:cs typeface="+mn-cs"/>
              </a:rPr>
              <a:t>Manage and protect your workloads at the VM level for unprecedented levels of control, visibility, and protection</a:t>
            </a:r>
          </a:p>
        </p:txBody>
      </p:sp>
      <p:sp>
        <p:nvSpPr>
          <p:cNvPr id="6" name="Subtitle 2">
            <a:extLst>
              <a:ext uri="{FF2B5EF4-FFF2-40B4-BE49-F238E27FC236}">
                <a16:creationId xmlns:a16="http://schemas.microsoft.com/office/drawing/2014/main" id="{F5D445F2-9B91-181A-3DD0-4FB5FF05885D}"/>
              </a:ext>
            </a:extLst>
          </p:cNvPr>
          <p:cNvSpPr txBox="1">
            <a:spLocks/>
          </p:cNvSpPr>
          <p:nvPr/>
        </p:nvSpPr>
        <p:spPr>
          <a:xfrm>
            <a:off x="6802985" y="1710525"/>
            <a:ext cx="4777828" cy="1427990"/>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None/>
              <a:defRPr sz="2400" kern="1200">
                <a:solidFill>
                  <a:schemeClr val="tx1"/>
                </a:solidFill>
                <a:latin typeface="+mj-lt"/>
                <a:ea typeface="+mn-ea"/>
                <a:cs typeface="+mn-cs"/>
              </a:defRPr>
            </a:lvl1pPr>
            <a:lvl2pPr marL="4572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60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32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200400" indent="0" algn="ctr"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7600" indent="0" algn="ctr" defTabSz="914400"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
                <a:srgbClr val="000000">
                  <a:lumMod val="60000"/>
                  <a:lumOff val="40000"/>
                </a:srgbClr>
              </a:buClr>
              <a:buSzPct val="90000"/>
              <a:buFont typeface="Arial" panose="020B0604020202020204" pitchFamily="34" charset="0"/>
              <a:buNone/>
              <a:tabLst/>
              <a:defRPr/>
            </a:pPr>
            <a:r>
              <a:rPr kumimoji="0" lang="en-US" sz="2400" b="0" i="1" u="none" strike="noStrike" kern="1200" cap="none" spc="0" normalizeH="0" baseline="0" noProof="0" dirty="0">
                <a:ln>
                  <a:noFill/>
                </a:ln>
                <a:solidFill>
                  <a:srgbClr val="FFFFFF"/>
                </a:solidFill>
                <a:effectLst/>
                <a:uLnTx/>
                <a:uFillTx/>
                <a:latin typeface="Arial" panose="020B0604020202020204"/>
                <a:ea typeface="+mn-ea"/>
                <a:cs typeface="+mn-cs"/>
              </a:rPr>
              <a:t>vSAN is a part of the hypervisor and licensing.   Why not use it?</a:t>
            </a:r>
          </a:p>
        </p:txBody>
      </p:sp>
      <p:sp>
        <p:nvSpPr>
          <p:cNvPr id="64" name="Title 3">
            <a:extLst>
              <a:ext uri="{FF2B5EF4-FFF2-40B4-BE49-F238E27FC236}">
                <a16:creationId xmlns:a16="http://schemas.microsoft.com/office/drawing/2014/main" id="{D0DA9846-AFC6-346E-8A03-FBF3E32C9729}"/>
              </a:ext>
            </a:extLst>
          </p:cNvPr>
          <p:cNvSpPr txBox="1">
            <a:spLocks/>
          </p:cNvSpPr>
          <p:nvPr/>
        </p:nvSpPr>
        <p:spPr>
          <a:xfrm>
            <a:off x="579809" y="412751"/>
            <a:ext cx="11001004" cy="381000"/>
          </a:xfrm>
          <a:prstGeom prst="rect">
            <a:avLst/>
          </a:prstGeom>
        </p:spPr>
        <p:txBody>
          <a:bodyPr/>
          <a:lstStyle>
            <a:lvl1pPr algn="l" defTabSz="914400" rtl="0" eaLnBrk="1" latinLnBrk="0" hangingPunct="1">
              <a:lnSpc>
                <a:spcPct val="90000"/>
              </a:lnSpc>
              <a:spcBef>
                <a:spcPct val="0"/>
              </a:spcBef>
              <a:buNone/>
              <a:defRPr sz="2800" b="0" kern="1200">
                <a:solidFill>
                  <a:schemeClr val="tx1"/>
                </a:solidFill>
                <a:latin typeface="Metropolis Light" panose="00000400000000000000" pitchFamily="2"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800" b="0" i="0" u="none" strike="noStrike" kern="1200" cap="none" spc="0" normalizeH="0" baseline="0" noProof="0" dirty="0">
                <a:ln>
                  <a:noFill/>
                </a:ln>
                <a:solidFill>
                  <a:srgbClr val="FFFFFF"/>
                </a:solidFill>
                <a:effectLst/>
                <a:uLnTx/>
                <a:uFillTx/>
                <a:latin typeface="Arial" panose="020B0604020202020204"/>
                <a:ea typeface="+mj-ea"/>
                <a:cs typeface="+mj-cs"/>
              </a:rPr>
              <a:t>vSAN - The premier storage for VMware Cloud Foundation</a:t>
            </a:r>
          </a:p>
        </p:txBody>
      </p:sp>
      <p:pic>
        <p:nvPicPr>
          <p:cNvPr id="65" name="Graphic 64">
            <a:extLst>
              <a:ext uri="{FF2B5EF4-FFF2-40B4-BE49-F238E27FC236}">
                <a16:creationId xmlns:a16="http://schemas.microsoft.com/office/drawing/2014/main" id="{8739D99B-9D20-4F24-E382-298B9658E676}"/>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141912" y="2643139"/>
            <a:ext cx="1905000" cy="1905000"/>
          </a:xfrm>
          <a:prstGeom prst="rect">
            <a:avLst/>
          </a:prstGeom>
        </p:spPr>
      </p:pic>
      <p:sp>
        <p:nvSpPr>
          <p:cNvPr id="119" name="TextBox 118">
            <a:extLst>
              <a:ext uri="{FF2B5EF4-FFF2-40B4-BE49-F238E27FC236}">
                <a16:creationId xmlns:a16="http://schemas.microsoft.com/office/drawing/2014/main" id="{66A760DF-57F2-0AD3-42C6-ED6D11B533CB}"/>
              </a:ext>
            </a:extLst>
          </p:cNvPr>
          <p:cNvSpPr txBox="1"/>
          <p:nvPr/>
        </p:nvSpPr>
        <p:spPr>
          <a:xfrm>
            <a:off x="6751094" y="4213996"/>
            <a:ext cx="2045682"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EEEEEE">
                    <a:lumMod val="90000"/>
                  </a:srgbClr>
                </a:solidFill>
                <a:effectLst/>
                <a:uLnTx/>
                <a:uFillTx/>
                <a:latin typeface="Arial" panose="020B0604020202020204" pitchFamily="34" charset="0"/>
                <a:ea typeface="+mn-ea"/>
                <a:cs typeface="+mn-cs"/>
              </a:rPr>
              <a:t>vSAN storage clusters</a:t>
            </a:r>
          </a:p>
        </p:txBody>
      </p:sp>
      <p:grpSp>
        <p:nvGrpSpPr>
          <p:cNvPr id="120" name="Group 119">
            <a:extLst>
              <a:ext uri="{FF2B5EF4-FFF2-40B4-BE49-F238E27FC236}">
                <a16:creationId xmlns:a16="http://schemas.microsoft.com/office/drawing/2014/main" id="{E0BEA214-06CF-D7B4-39CC-7CDCC8477541}"/>
              </a:ext>
            </a:extLst>
          </p:cNvPr>
          <p:cNvGrpSpPr/>
          <p:nvPr/>
        </p:nvGrpSpPr>
        <p:grpSpPr>
          <a:xfrm>
            <a:off x="7384749" y="3738523"/>
            <a:ext cx="777769" cy="428496"/>
            <a:chOff x="1378394" y="57655"/>
            <a:chExt cx="500463" cy="275720"/>
          </a:xfrm>
          <a:noFill/>
        </p:grpSpPr>
        <p:grpSp>
          <p:nvGrpSpPr>
            <p:cNvPr id="121" name="Group 120">
              <a:extLst>
                <a:ext uri="{FF2B5EF4-FFF2-40B4-BE49-F238E27FC236}">
                  <a16:creationId xmlns:a16="http://schemas.microsoft.com/office/drawing/2014/main" id="{AB182031-9E56-DC6C-8B26-E19561DECA0B}"/>
                </a:ext>
              </a:extLst>
            </p:cNvPr>
            <p:cNvGrpSpPr/>
            <p:nvPr/>
          </p:nvGrpSpPr>
          <p:grpSpPr>
            <a:xfrm>
              <a:off x="1378394" y="57655"/>
              <a:ext cx="205188" cy="138973"/>
              <a:chOff x="1233088" y="57655"/>
              <a:chExt cx="205188" cy="138973"/>
            </a:xfrm>
            <a:grpFill/>
          </p:grpSpPr>
          <p:sp>
            <p:nvSpPr>
              <p:cNvPr id="130" name="Rectangle 129">
                <a:extLst>
                  <a:ext uri="{FF2B5EF4-FFF2-40B4-BE49-F238E27FC236}">
                    <a16:creationId xmlns:a16="http://schemas.microsoft.com/office/drawing/2014/main" id="{9FDD1CE3-94E6-8E29-9B94-2C9FE6757425}"/>
                  </a:ext>
                </a:extLst>
              </p:cNvPr>
              <p:cNvSpPr/>
              <p:nvPr/>
            </p:nvSpPr>
            <p:spPr>
              <a:xfrm>
                <a:off x="1233088" y="150909"/>
                <a:ext cx="205188" cy="45719"/>
              </a:xfrm>
              <a:prstGeom prst="rect">
                <a:avLst/>
              </a:prstGeom>
              <a:grp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131" name="Group 130">
                <a:extLst>
                  <a:ext uri="{FF2B5EF4-FFF2-40B4-BE49-F238E27FC236}">
                    <a16:creationId xmlns:a16="http://schemas.microsoft.com/office/drawing/2014/main" id="{7786595A-9509-AB1F-B922-31D167823636}"/>
                  </a:ext>
                </a:extLst>
              </p:cNvPr>
              <p:cNvGrpSpPr/>
              <p:nvPr/>
            </p:nvGrpSpPr>
            <p:grpSpPr>
              <a:xfrm>
                <a:off x="1247162" y="57655"/>
                <a:ext cx="177040" cy="59882"/>
                <a:chOff x="874169" y="57655"/>
                <a:chExt cx="177040" cy="59882"/>
              </a:xfrm>
              <a:grpFill/>
            </p:grpSpPr>
            <p:sp>
              <p:nvSpPr>
                <p:cNvPr id="132" name="Rectangle 131">
                  <a:extLst>
                    <a:ext uri="{FF2B5EF4-FFF2-40B4-BE49-F238E27FC236}">
                      <a16:creationId xmlns:a16="http://schemas.microsoft.com/office/drawing/2014/main" id="{F8EFE01C-D6E5-CDA9-680B-79FCE87AC925}"/>
                    </a:ext>
                  </a:extLst>
                </p:cNvPr>
                <p:cNvSpPr/>
                <p:nvPr/>
              </p:nvSpPr>
              <p:spPr>
                <a:xfrm>
                  <a:off x="874169"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 name="Rectangle 132">
                  <a:extLst>
                    <a:ext uri="{FF2B5EF4-FFF2-40B4-BE49-F238E27FC236}">
                      <a16:creationId xmlns:a16="http://schemas.microsoft.com/office/drawing/2014/main" id="{DB65F38A-D128-F9A1-10C1-DCB974AF818D}"/>
                    </a:ext>
                  </a:extLst>
                </p:cNvPr>
                <p:cNvSpPr/>
                <p:nvPr/>
              </p:nvSpPr>
              <p:spPr>
                <a:xfrm>
                  <a:off x="991327"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sp>
          <p:nvSpPr>
            <p:cNvPr id="122" name="Rectangle 121">
              <a:extLst>
                <a:ext uri="{FF2B5EF4-FFF2-40B4-BE49-F238E27FC236}">
                  <a16:creationId xmlns:a16="http://schemas.microsoft.com/office/drawing/2014/main" id="{FEC3F7CD-7680-3114-7875-E99BCEE5A685}"/>
                </a:ext>
              </a:extLst>
            </p:cNvPr>
            <p:cNvSpPr/>
            <p:nvPr/>
          </p:nvSpPr>
          <p:spPr>
            <a:xfrm>
              <a:off x="1410936" y="287656"/>
              <a:ext cx="435768" cy="45719"/>
            </a:xfrm>
            <a:prstGeom prst="rect">
              <a:avLst/>
            </a:prstGeom>
            <a:grp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123" name="Group 122">
              <a:extLst>
                <a:ext uri="{FF2B5EF4-FFF2-40B4-BE49-F238E27FC236}">
                  <a16:creationId xmlns:a16="http://schemas.microsoft.com/office/drawing/2014/main" id="{71720CAB-5711-ACE0-867A-6AFE9535069B}"/>
                </a:ext>
              </a:extLst>
            </p:cNvPr>
            <p:cNvGrpSpPr/>
            <p:nvPr/>
          </p:nvGrpSpPr>
          <p:grpSpPr>
            <a:xfrm>
              <a:off x="1673669" y="57655"/>
              <a:ext cx="205188" cy="138973"/>
              <a:chOff x="1233088" y="57655"/>
              <a:chExt cx="205188" cy="138973"/>
            </a:xfrm>
            <a:grpFill/>
          </p:grpSpPr>
          <p:sp>
            <p:nvSpPr>
              <p:cNvPr id="126" name="Rectangle 125">
                <a:extLst>
                  <a:ext uri="{FF2B5EF4-FFF2-40B4-BE49-F238E27FC236}">
                    <a16:creationId xmlns:a16="http://schemas.microsoft.com/office/drawing/2014/main" id="{BD325E4B-9EDF-5A9F-A71C-3AD01561ED6D}"/>
                  </a:ext>
                </a:extLst>
              </p:cNvPr>
              <p:cNvSpPr/>
              <p:nvPr/>
            </p:nvSpPr>
            <p:spPr>
              <a:xfrm>
                <a:off x="1233088" y="150909"/>
                <a:ext cx="205188" cy="45719"/>
              </a:xfrm>
              <a:prstGeom prst="rect">
                <a:avLst/>
              </a:prstGeom>
              <a:grp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127" name="Group 126">
                <a:extLst>
                  <a:ext uri="{FF2B5EF4-FFF2-40B4-BE49-F238E27FC236}">
                    <a16:creationId xmlns:a16="http://schemas.microsoft.com/office/drawing/2014/main" id="{6235096B-2D99-2B3D-237A-AD1DCA1A298B}"/>
                  </a:ext>
                </a:extLst>
              </p:cNvPr>
              <p:cNvGrpSpPr/>
              <p:nvPr/>
            </p:nvGrpSpPr>
            <p:grpSpPr>
              <a:xfrm>
                <a:off x="1247162" y="57655"/>
                <a:ext cx="177040" cy="59882"/>
                <a:chOff x="874169" y="57655"/>
                <a:chExt cx="177040" cy="59882"/>
              </a:xfrm>
              <a:grpFill/>
            </p:grpSpPr>
            <p:sp>
              <p:nvSpPr>
                <p:cNvPr id="128" name="Rectangle 127">
                  <a:extLst>
                    <a:ext uri="{FF2B5EF4-FFF2-40B4-BE49-F238E27FC236}">
                      <a16:creationId xmlns:a16="http://schemas.microsoft.com/office/drawing/2014/main" id="{E9250953-CFFA-271D-B553-45AD5AAE556A}"/>
                    </a:ext>
                  </a:extLst>
                </p:cNvPr>
                <p:cNvSpPr/>
                <p:nvPr/>
              </p:nvSpPr>
              <p:spPr>
                <a:xfrm>
                  <a:off x="874169"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 name="Rectangle 128">
                  <a:extLst>
                    <a:ext uri="{FF2B5EF4-FFF2-40B4-BE49-F238E27FC236}">
                      <a16:creationId xmlns:a16="http://schemas.microsoft.com/office/drawing/2014/main" id="{23096DB0-C770-B9E7-2601-16E73F4A0707}"/>
                    </a:ext>
                  </a:extLst>
                </p:cNvPr>
                <p:cNvSpPr/>
                <p:nvPr/>
              </p:nvSpPr>
              <p:spPr>
                <a:xfrm>
                  <a:off x="991327" y="57655"/>
                  <a:ext cx="59882" cy="59882"/>
                </a:xfrm>
                <a:prstGeom prst="rect">
                  <a:avLst/>
                </a:prstGeom>
                <a:grp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cxnSp>
          <p:nvCxnSpPr>
            <p:cNvPr id="124" name="Straight Connector 123">
              <a:extLst>
                <a:ext uri="{FF2B5EF4-FFF2-40B4-BE49-F238E27FC236}">
                  <a16:creationId xmlns:a16="http://schemas.microsoft.com/office/drawing/2014/main" id="{F9C6B5AE-22CC-3BEC-2889-AB48CB28298C}"/>
                </a:ext>
              </a:extLst>
            </p:cNvPr>
            <p:cNvCxnSpPr>
              <a:cxnSpLocks/>
            </p:cNvCxnSpPr>
            <p:nvPr/>
          </p:nvCxnSpPr>
          <p:spPr bwMode="gray">
            <a:xfrm flipV="1">
              <a:off x="1628820" y="230000"/>
              <a:ext cx="0" cy="34406"/>
            </a:xfrm>
            <a:prstGeom prst="line">
              <a:avLst/>
            </a:prstGeom>
            <a:grpFill/>
            <a:ln w="6350">
              <a:solidFill>
                <a:schemeClr val="accent3">
                  <a:lumMod val="60000"/>
                  <a:lumOff val="4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7EBD16C7-BF11-DF2E-DA74-78F7835D9F4C}"/>
                </a:ext>
              </a:extLst>
            </p:cNvPr>
            <p:cNvCxnSpPr>
              <a:cxnSpLocks/>
            </p:cNvCxnSpPr>
            <p:nvPr/>
          </p:nvCxnSpPr>
          <p:spPr bwMode="gray">
            <a:xfrm>
              <a:off x="1466864" y="230000"/>
              <a:ext cx="323913" cy="0"/>
            </a:xfrm>
            <a:prstGeom prst="line">
              <a:avLst/>
            </a:prstGeom>
            <a:grpFill/>
            <a:ln w="6350">
              <a:solidFill>
                <a:schemeClr val="accent3">
                  <a:lumMod val="60000"/>
                  <a:lumOff val="40000"/>
                </a:schemeClr>
              </a:solidFill>
              <a:prstDash val="sysDot"/>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34" name="Group 133">
            <a:extLst>
              <a:ext uri="{FF2B5EF4-FFF2-40B4-BE49-F238E27FC236}">
                <a16:creationId xmlns:a16="http://schemas.microsoft.com/office/drawing/2014/main" id="{31C03590-D242-0A13-8964-97196BCA4AD9}"/>
              </a:ext>
            </a:extLst>
          </p:cNvPr>
          <p:cNvGrpSpPr/>
          <p:nvPr/>
        </p:nvGrpSpPr>
        <p:grpSpPr>
          <a:xfrm>
            <a:off x="4084369" y="3737577"/>
            <a:ext cx="711695" cy="429444"/>
            <a:chOff x="392556" y="57655"/>
            <a:chExt cx="435768" cy="262947"/>
          </a:xfrm>
        </p:grpSpPr>
        <p:sp>
          <p:nvSpPr>
            <p:cNvPr id="135" name="Rectangle 134">
              <a:extLst>
                <a:ext uri="{FF2B5EF4-FFF2-40B4-BE49-F238E27FC236}">
                  <a16:creationId xmlns:a16="http://schemas.microsoft.com/office/drawing/2014/main" id="{02A918D7-0AF0-5819-D3FD-6D3ADBC0721D}"/>
                </a:ext>
              </a:extLst>
            </p:cNvPr>
            <p:cNvSpPr/>
            <p:nvPr/>
          </p:nvSpPr>
          <p:spPr>
            <a:xfrm>
              <a:off x="392556" y="150910"/>
              <a:ext cx="435768" cy="169692"/>
            </a:xfrm>
            <a:prstGeom prst="rect">
              <a:avLst/>
            </a:prstGeom>
            <a:noFill/>
            <a:ln>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36" name="Group 135">
              <a:extLst>
                <a:ext uri="{FF2B5EF4-FFF2-40B4-BE49-F238E27FC236}">
                  <a16:creationId xmlns:a16="http://schemas.microsoft.com/office/drawing/2014/main" id="{4A9D4C56-BC22-1685-2C0C-227117ED1EBC}"/>
                </a:ext>
              </a:extLst>
            </p:cNvPr>
            <p:cNvGrpSpPr/>
            <p:nvPr/>
          </p:nvGrpSpPr>
          <p:grpSpPr>
            <a:xfrm>
              <a:off x="404763" y="57655"/>
              <a:ext cx="411355" cy="59882"/>
              <a:chOff x="874169" y="57655"/>
              <a:chExt cx="411355" cy="59882"/>
            </a:xfrm>
          </p:grpSpPr>
          <p:sp>
            <p:nvSpPr>
              <p:cNvPr id="137" name="Rectangle 136">
                <a:extLst>
                  <a:ext uri="{FF2B5EF4-FFF2-40B4-BE49-F238E27FC236}">
                    <a16:creationId xmlns:a16="http://schemas.microsoft.com/office/drawing/2014/main" id="{054457E9-D34C-1DFA-ED47-2EA65DB75520}"/>
                  </a:ext>
                </a:extLst>
              </p:cNvPr>
              <p:cNvSpPr/>
              <p:nvPr/>
            </p:nvSpPr>
            <p:spPr>
              <a:xfrm>
                <a:off x="874169"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 name="Rectangle 137">
                <a:extLst>
                  <a:ext uri="{FF2B5EF4-FFF2-40B4-BE49-F238E27FC236}">
                    <a16:creationId xmlns:a16="http://schemas.microsoft.com/office/drawing/2014/main" id="{80F7A49E-50E9-27C7-9B7E-96CE4A086B85}"/>
                  </a:ext>
                </a:extLst>
              </p:cNvPr>
              <p:cNvSpPr/>
              <p:nvPr/>
            </p:nvSpPr>
            <p:spPr>
              <a:xfrm>
                <a:off x="991327"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 name="Rectangle 138">
                <a:extLst>
                  <a:ext uri="{FF2B5EF4-FFF2-40B4-BE49-F238E27FC236}">
                    <a16:creationId xmlns:a16="http://schemas.microsoft.com/office/drawing/2014/main" id="{5357EDE6-36BE-E72E-52F1-D42007AC6751}"/>
                  </a:ext>
                </a:extLst>
              </p:cNvPr>
              <p:cNvSpPr/>
              <p:nvPr/>
            </p:nvSpPr>
            <p:spPr>
              <a:xfrm>
                <a:off x="1108485"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0" name="Rectangle 139">
                <a:extLst>
                  <a:ext uri="{FF2B5EF4-FFF2-40B4-BE49-F238E27FC236}">
                    <a16:creationId xmlns:a16="http://schemas.microsoft.com/office/drawing/2014/main" id="{D0AAB048-E584-FB12-15AB-8BD01972AE3E}"/>
                  </a:ext>
                </a:extLst>
              </p:cNvPr>
              <p:cNvSpPr/>
              <p:nvPr/>
            </p:nvSpPr>
            <p:spPr>
              <a:xfrm>
                <a:off x="1225642" y="57655"/>
                <a:ext cx="59882" cy="59882"/>
              </a:xfrm>
              <a:prstGeom prst="rect">
                <a:avLst/>
              </a:prstGeom>
              <a:noFill/>
              <a:ln w="6350">
                <a:solidFill>
                  <a:schemeClr val="accent3">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sp>
        <p:nvSpPr>
          <p:cNvPr id="141" name="TextBox 140">
            <a:extLst>
              <a:ext uri="{FF2B5EF4-FFF2-40B4-BE49-F238E27FC236}">
                <a16:creationId xmlns:a16="http://schemas.microsoft.com/office/drawing/2014/main" id="{F041A626-BC06-C67F-C0C3-A1B9A24B75FD}"/>
              </a:ext>
            </a:extLst>
          </p:cNvPr>
          <p:cNvSpPr txBox="1"/>
          <p:nvPr/>
        </p:nvSpPr>
        <p:spPr>
          <a:xfrm>
            <a:off x="3830822" y="4213996"/>
            <a:ext cx="1266951" cy="184666"/>
          </a:xfrm>
          <a:prstGeom prst="rect">
            <a:avLst/>
          </a:prstGeom>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EEEEEE">
                    <a:lumMod val="90000"/>
                  </a:srgbClr>
                </a:solidFill>
                <a:effectLst/>
                <a:uLnTx/>
                <a:uFillTx/>
                <a:latin typeface="Arial" panose="020B0604020202020204" pitchFamily="34" charset="0"/>
                <a:ea typeface="+mn-ea"/>
                <a:cs typeface="+mn-cs"/>
              </a:rPr>
              <a:t>vSAN HCI</a:t>
            </a:r>
          </a:p>
        </p:txBody>
      </p:sp>
      <p:sp>
        <p:nvSpPr>
          <p:cNvPr id="142" name="Rounded Rectangle 4">
            <a:extLst>
              <a:ext uri="{FF2B5EF4-FFF2-40B4-BE49-F238E27FC236}">
                <a16:creationId xmlns:a16="http://schemas.microsoft.com/office/drawing/2014/main" id="{6C6CC9AE-A45B-DA36-3B97-96AEF497EDB3}"/>
              </a:ext>
            </a:extLst>
          </p:cNvPr>
          <p:cNvSpPr>
            <a:spLocks noChangeAspect="1"/>
          </p:cNvSpPr>
          <p:nvPr/>
        </p:nvSpPr>
        <p:spPr>
          <a:xfrm>
            <a:off x="3296179" y="4588413"/>
            <a:ext cx="5596467" cy="23202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ctr" defTabSz="914126"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EEEEE">
                    <a:lumMod val="90000"/>
                  </a:srgbClr>
                </a:solidFill>
                <a:effectLst/>
                <a:uLnTx/>
                <a:uFillTx/>
                <a:latin typeface="Arial" panose="020B0604020202020204"/>
                <a:ea typeface="+mn-ea"/>
                <a:cs typeface="+mn-cs"/>
              </a:rPr>
              <a:t>VMware Cloud Foundation</a:t>
            </a:r>
          </a:p>
        </p:txBody>
      </p:sp>
    </p:spTree>
    <p:extLst>
      <p:ext uri="{BB962C8B-B14F-4D97-AF65-F5344CB8AC3E}">
        <p14:creationId xmlns:p14="http://schemas.microsoft.com/office/powerpoint/2010/main" val="33145375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26" presetClass="emph" presetSubtype="0" fill="hold" grpId="1" nodeType="afterEffect">
                                  <p:stCondLst>
                                    <p:cond delay="500"/>
                                  </p:stCondLst>
                                  <p:childTnLst>
                                    <p:animEffect transition="out" filter="fade">
                                      <p:cBhvr>
                                        <p:cTn id="10" dur="500" tmFilter="0, 0; .2, .5; .8, .5; 1, 0"/>
                                        <p:tgtEl>
                                          <p:spTgt spid="4"/>
                                        </p:tgtEl>
                                      </p:cBhvr>
                                    </p:animEffect>
                                    <p:animScale>
                                      <p:cBhvr>
                                        <p:cTn id="11" dur="250" autoRev="1" fill="hold"/>
                                        <p:tgtEl>
                                          <p:spTgt spid="4"/>
                                        </p:tgtEl>
                                      </p:cBhvr>
                                      <p:by x="105000" y="105000"/>
                                    </p:animScale>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2000"/>
                            </p:stCondLst>
                            <p:childTnLst>
                              <p:par>
                                <p:cTn id="17" presetID="26" presetClass="emph" presetSubtype="0" fill="hold" grpId="1" nodeType="afterEffect">
                                  <p:stCondLst>
                                    <p:cond delay="500"/>
                                  </p:stCondLst>
                                  <p:childTnLst>
                                    <p:animEffect transition="out" filter="fade">
                                      <p:cBhvr>
                                        <p:cTn id="18" dur="500" tmFilter="0, 0; .2, .5; .8, .5; 1, 0"/>
                                        <p:tgtEl>
                                          <p:spTgt spid="6"/>
                                        </p:tgtEl>
                                      </p:cBhvr>
                                    </p:animEffect>
                                    <p:animScale>
                                      <p:cBhvr>
                                        <p:cTn id="19" dur="250" autoRev="1" fill="hold"/>
                                        <p:tgtEl>
                                          <p:spTgt spid="6"/>
                                        </p:tgtEl>
                                      </p:cBhvr>
                                      <p:by x="105000" y="105000"/>
                                    </p:animScale>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childTnLst>
                          </p:cTn>
                        </p:par>
                        <p:par>
                          <p:cTn id="24" fill="hold">
                            <p:stCondLst>
                              <p:cond delay="3500"/>
                            </p:stCondLst>
                            <p:childTnLst>
                              <p:par>
                                <p:cTn id="25" presetID="26" presetClass="emph" presetSubtype="0" fill="hold" grpId="1" nodeType="afterEffect">
                                  <p:stCondLst>
                                    <p:cond delay="500"/>
                                  </p:stCondLst>
                                  <p:childTnLst>
                                    <p:animEffect transition="out" filter="fade">
                                      <p:cBhvr>
                                        <p:cTn id="26" dur="500" tmFilter="0, 0; .2, .5; .8, .5; 1, 0"/>
                                        <p:tgtEl>
                                          <p:spTgt spid="5"/>
                                        </p:tgtEl>
                                      </p:cBhvr>
                                    </p:animEffect>
                                    <p:animScale>
                                      <p:cBhvr>
                                        <p:cTn id="27" dur="250" autoRev="1" fill="hold"/>
                                        <p:tgtEl>
                                          <p:spTgt spid="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5" grpId="1"/>
      <p:bldP spid="6" grpId="0"/>
      <p:bldP spid="6" grpId="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2756"/>
        <p:cNvGrpSpPr/>
        <p:nvPr/>
      </p:nvGrpSpPr>
      <p:grpSpPr>
        <a:xfrm>
          <a:off x="0" y="0"/>
          <a:ext cx="0" cy="0"/>
          <a:chOff x="0" y="0"/>
          <a:chExt cx="0" cy="0"/>
        </a:xfrm>
      </p:grpSpPr>
      <p:sp>
        <p:nvSpPr>
          <p:cNvPr id="12757" name="Google Shape;12757;p52"/>
          <p:cNvSpPr txBox="1">
            <a:spLocks noGrp="1"/>
          </p:cNvSpPr>
          <p:nvPr>
            <p:ph type="title"/>
          </p:nvPr>
        </p:nvSpPr>
        <p:spPr>
          <a:xfrm>
            <a:off x="589107" y="938794"/>
            <a:ext cx="8841972" cy="122936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a:t>Optimize Infrastructure and Operations </a:t>
            </a:r>
            <a:endParaRPr/>
          </a:p>
        </p:txBody>
      </p:sp>
      <p:sp>
        <p:nvSpPr>
          <p:cNvPr id="12758" name="Google Shape;12758;p52"/>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r>
              <a:rPr lang="en-US"/>
              <a:t>Networking - NSX</a:t>
            </a: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064929-1A07-D08B-B567-2606FF5CFCC0}"/>
            </a:ext>
          </a:extLst>
        </p:cNvPr>
        <p:cNvGrpSpPr/>
        <p:nvPr/>
      </p:nvGrpSpPr>
      <p:grpSpPr>
        <a:xfrm>
          <a:off x="0" y="0"/>
          <a:ext cx="0" cy="0"/>
          <a:chOff x="0" y="0"/>
          <a:chExt cx="0" cy="0"/>
        </a:xfrm>
      </p:grpSpPr>
      <p:grpSp>
        <p:nvGrpSpPr>
          <p:cNvPr id="8" name="Group 7">
            <a:extLst>
              <a:ext uri="{FF2B5EF4-FFF2-40B4-BE49-F238E27FC236}">
                <a16:creationId xmlns:a16="http://schemas.microsoft.com/office/drawing/2014/main" id="{7A5372C4-9585-124A-1108-DD39F1AA59BD}"/>
              </a:ext>
            </a:extLst>
          </p:cNvPr>
          <p:cNvGrpSpPr/>
          <p:nvPr/>
        </p:nvGrpSpPr>
        <p:grpSpPr>
          <a:xfrm>
            <a:off x="8734568" y="2731841"/>
            <a:ext cx="3021113" cy="3894754"/>
            <a:chOff x="8734568" y="2731841"/>
            <a:chExt cx="3021113" cy="3894754"/>
          </a:xfrm>
        </p:grpSpPr>
        <p:grpSp>
          <p:nvGrpSpPr>
            <p:cNvPr id="238" name="Group 237">
              <a:extLst>
                <a:ext uri="{FF2B5EF4-FFF2-40B4-BE49-F238E27FC236}">
                  <a16:creationId xmlns:a16="http://schemas.microsoft.com/office/drawing/2014/main" id="{C606E3E1-0F7C-BB96-8964-AF0EA251DD16}"/>
                </a:ext>
              </a:extLst>
            </p:cNvPr>
            <p:cNvGrpSpPr/>
            <p:nvPr/>
          </p:nvGrpSpPr>
          <p:grpSpPr>
            <a:xfrm>
              <a:off x="9541202" y="2731841"/>
              <a:ext cx="2214479" cy="3894754"/>
              <a:chOff x="390496" y="2735181"/>
              <a:chExt cx="2214479" cy="3894754"/>
            </a:xfrm>
          </p:grpSpPr>
          <p:sp>
            <p:nvSpPr>
              <p:cNvPr id="239" name="Google Shape;1703;g3345324a5da_0_5673">
                <a:extLst>
                  <a:ext uri="{FF2B5EF4-FFF2-40B4-BE49-F238E27FC236}">
                    <a16:creationId xmlns:a16="http://schemas.microsoft.com/office/drawing/2014/main" id="{CE9A8C49-6028-3AA2-A6B8-7CBE4FD54DC3}"/>
                  </a:ext>
                </a:extLst>
              </p:cNvPr>
              <p:cNvSpPr/>
              <p:nvPr/>
            </p:nvSpPr>
            <p:spPr>
              <a:xfrm>
                <a:off x="390496" y="2735181"/>
                <a:ext cx="2214479" cy="3894754"/>
              </a:xfrm>
              <a:prstGeom prst="roundRect">
                <a:avLst>
                  <a:gd name="adj" fmla="val 6272"/>
                </a:avLst>
              </a:prstGeom>
              <a:gradFill>
                <a:gsLst>
                  <a:gs pos="0">
                    <a:srgbClr val="E8F0F4">
                      <a:alpha val="67144"/>
                    </a:srgbClr>
                  </a:gs>
                  <a:gs pos="100000">
                    <a:srgbClr val="E8F0F4">
                      <a:alpha val="159"/>
                    </a:srgbClr>
                  </a:gs>
                </a:gsLst>
                <a:lin ang="5400012" scaled="0"/>
              </a:gra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40" name="Google Shape;1707;g3345324a5da_0_5673">
                <a:extLst>
                  <a:ext uri="{FF2B5EF4-FFF2-40B4-BE49-F238E27FC236}">
                    <a16:creationId xmlns:a16="http://schemas.microsoft.com/office/drawing/2014/main" id="{FDE005E7-4BB4-A2F3-1D17-5037A0230A99}"/>
                  </a:ext>
                </a:extLst>
              </p:cNvPr>
              <p:cNvPicPr preferRelativeResize="0"/>
              <p:nvPr/>
            </p:nvPicPr>
            <p:blipFill rotWithShape="1">
              <a:blip r:embed="rId3">
                <a:alphaModFix amt="20000"/>
              </a:blip>
              <a:srcRect l="1472" t="65195" r="2708" b="-31277"/>
              <a:stretch/>
            </p:blipFill>
            <p:spPr>
              <a:xfrm>
                <a:off x="455732" y="4010135"/>
                <a:ext cx="2092866" cy="407658"/>
              </a:xfrm>
              <a:prstGeom prst="rect">
                <a:avLst/>
              </a:prstGeom>
              <a:noFill/>
              <a:ln>
                <a:noFill/>
              </a:ln>
            </p:spPr>
          </p:pic>
          <p:pic>
            <p:nvPicPr>
              <p:cNvPr id="241" name="Google Shape;1707;g3345324a5da_0_5673">
                <a:extLst>
                  <a:ext uri="{FF2B5EF4-FFF2-40B4-BE49-F238E27FC236}">
                    <a16:creationId xmlns:a16="http://schemas.microsoft.com/office/drawing/2014/main" id="{239E1C94-BE6B-060B-27CE-97609FC5C7E6}"/>
                  </a:ext>
                </a:extLst>
              </p:cNvPr>
              <p:cNvPicPr preferRelativeResize="0"/>
              <p:nvPr/>
            </p:nvPicPr>
            <p:blipFill rotWithShape="1">
              <a:blip r:embed="rId3">
                <a:alphaModFix amt="20000"/>
              </a:blip>
              <a:srcRect l="1472" t="65195" r="2708" b="-31277"/>
              <a:stretch/>
            </p:blipFill>
            <p:spPr>
              <a:xfrm>
                <a:off x="455732" y="4649031"/>
                <a:ext cx="2092866" cy="407658"/>
              </a:xfrm>
              <a:prstGeom prst="rect">
                <a:avLst/>
              </a:prstGeom>
              <a:noFill/>
              <a:ln>
                <a:noFill/>
              </a:ln>
            </p:spPr>
          </p:pic>
          <p:pic>
            <p:nvPicPr>
              <p:cNvPr id="242" name="Google Shape;1707;g3345324a5da_0_5673">
                <a:extLst>
                  <a:ext uri="{FF2B5EF4-FFF2-40B4-BE49-F238E27FC236}">
                    <a16:creationId xmlns:a16="http://schemas.microsoft.com/office/drawing/2014/main" id="{7EE629B2-9C30-E75E-631A-F29AC445874C}"/>
                  </a:ext>
                </a:extLst>
              </p:cNvPr>
              <p:cNvPicPr preferRelativeResize="0"/>
              <p:nvPr/>
            </p:nvPicPr>
            <p:blipFill rotWithShape="1">
              <a:blip r:embed="rId3">
                <a:alphaModFix amt="20000"/>
              </a:blip>
              <a:srcRect l="1472" t="65195" r="2708" b="-31277"/>
              <a:stretch/>
            </p:blipFill>
            <p:spPr>
              <a:xfrm>
                <a:off x="455732" y="5251918"/>
                <a:ext cx="2092866" cy="407658"/>
              </a:xfrm>
              <a:prstGeom prst="rect">
                <a:avLst/>
              </a:prstGeom>
              <a:noFill/>
              <a:ln>
                <a:noFill/>
              </a:ln>
            </p:spPr>
          </p:pic>
        </p:grpSp>
        <p:sp>
          <p:nvSpPr>
            <p:cNvPr id="253" name="Text Placeholder 23">
              <a:extLst>
                <a:ext uri="{FF2B5EF4-FFF2-40B4-BE49-F238E27FC236}">
                  <a16:creationId xmlns:a16="http://schemas.microsoft.com/office/drawing/2014/main" id="{BD98C26D-279A-2EF0-850E-39643A8199CD}"/>
                </a:ext>
              </a:extLst>
            </p:cNvPr>
            <p:cNvSpPr txBox="1">
              <a:spLocks/>
            </p:cNvSpPr>
            <p:nvPr/>
          </p:nvSpPr>
          <p:spPr>
            <a:xfrm>
              <a:off x="9719429" y="4164859"/>
              <a:ext cx="1858024" cy="405509"/>
            </a:xfrm>
            <a:prstGeom prst="rect">
              <a:avLst/>
            </a:prstGeom>
          </p:spPr>
          <p:txBody>
            <a:bodyPr vert="horz" lIns="0" tIns="0" rIns="0" bIns="0" rtlCol="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2000" b="0" i="0" kern="1200">
                  <a:solidFill>
                    <a:schemeClr val="bg2">
                      <a:lumMod val="25000"/>
                    </a:schemeClr>
                  </a:solidFill>
                  <a:latin typeface="Arial" panose="020B0604020202020204" pitchFamily="34" charset="0"/>
                  <a:ea typeface="+mn-ea"/>
                  <a:cs typeface="Arial" panose="020B0604020202020204" pitchFamily="34" charset="0"/>
                </a:defRPr>
              </a:lvl1pPr>
              <a:lvl2pPr marL="285750" indent="-28575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lang="en-US" sz="1600" b="0" i="0" kern="1200" dirty="0">
                  <a:solidFill>
                    <a:schemeClr val="tx1"/>
                  </a:solidFill>
                  <a:latin typeface="Arial" panose="020B0604020202020204" pitchFamily="34" charset="0"/>
                  <a:ea typeface="+mn-ea"/>
                  <a:cs typeface="Arial" panose="020B0604020202020204" pitchFamily="34" charset="0"/>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Stateful L7</a:t>
              </a: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Distributed FW</a:t>
              </a:r>
              <a:endParaRPr kumimoji="0" lang="en-US" sz="1000" b="0" i="0" u="none" strike="noStrike" kern="1200" cap="none" spc="0" normalizeH="0" baseline="0" noProof="0" dirty="0">
                <a:ln>
                  <a:noFill/>
                </a:ln>
                <a:solidFill>
                  <a:srgbClr val="EEEEEE">
                    <a:lumMod val="25000"/>
                  </a:srgbClr>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10" name="Text Placeholder 19">
              <a:extLst>
                <a:ext uri="{FF2B5EF4-FFF2-40B4-BE49-F238E27FC236}">
                  <a16:creationId xmlns:a16="http://schemas.microsoft.com/office/drawing/2014/main" id="{E8CC48D9-5825-3B4C-CACF-FE69F6ED8D79}"/>
                </a:ext>
              </a:extLst>
            </p:cNvPr>
            <p:cNvSpPr txBox="1">
              <a:spLocks/>
            </p:cNvSpPr>
            <p:nvPr/>
          </p:nvSpPr>
          <p:spPr>
            <a:xfrm>
              <a:off x="9625767" y="3128301"/>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bg2">
                      <a:lumMod val="25000"/>
                    </a:schemeClr>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6C4B93"/>
                  </a:solidFill>
                  <a:effectLst/>
                  <a:uLnTx/>
                  <a:uFillTx/>
                  <a:latin typeface="Arial"/>
                  <a:ea typeface="Arial"/>
                  <a:cs typeface="Arial"/>
                  <a:sym typeface="Arial"/>
                </a:rPr>
                <a:t>E-W Traffic</a:t>
              </a: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6C4B93"/>
                  </a:solidFill>
                  <a:effectLst/>
                  <a:uLnTx/>
                  <a:uFillTx/>
                  <a:latin typeface="Arial"/>
                  <a:ea typeface="Arial"/>
                  <a:cs typeface="Arial"/>
                  <a:sym typeface="Arial"/>
                </a:rPr>
                <a:t>Protection</a:t>
              </a:r>
              <a:endParaRPr kumimoji="0" lang="en-US" sz="1200" b="0" i="0" u="none" strike="noStrike" kern="1200" cap="none" spc="0" normalizeH="0" baseline="0" noProof="0" dirty="0">
                <a:ln>
                  <a:noFill/>
                </a:ln>
                <a:solidFill>
                  <a:srgbClr val="EEEEEE">
                    <a:lumMod val="25000"/>
                  </a:srgbClr>
                </a:solidFill>
                <a:effectLst/>
                <a:uLnTx/>
                <a:uFillTx/>
                <a:latin typeface="Arial" panose="020B0604020202020204" pitchFamily="34" charset="0"/>
                <a:ea typeface="+mn-ea"/>
                <a:cs typeface="Arial" panose="020B0604020202020204" pitchFamily="34" charset="0"/>
              </a:endParaRPr>
            </a:p>
          </p:txBody>
        </p:sp>
        <p:sp>
          <p:nvSpPr>
            <p:cNvPr id="311" name="Google Shape;2647;p19">
              <a:extLst>
                <a:ext uri="{FF2B5EF4-FFF2-40B4-BE49-F238E27FC236}">
                  <a16:creationId xmlns:a16="http://schemas.microsoft.com/office/drawing/2014/main" id="{6F24321E-9E0F-A891-7AC8-3292F56201AC}"/>
                </a:ext>
              </a:extLst>
            </p:cNvPr>
            <p:cNvSpPr txBox="1"/>
            <p:nvPr/>
          </p:nvSpPr>
          <p:spPr>
            <a:xfrm>
              <a:off x="8734568" y="6059601"/>
              <a:ext cx="2826727" cy="153888"/>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C4B94"/>
                  </a:solidFill>
                  <a:effectLst/>
                  <a:uLnTx/>
                  <a:uFillTx/>
                  <a:latin typeface="Arial"/>
                  <a:ea typeface="Arial"/>
                  <a:cs typeface="Arial"/>
                  <a:sym typeface="Arial"/>
                </a:rPr>
                <a:t>*Add-on advanced services not included with VCF</a:t>
              </a:r>
              <a:endParaRPr kumimoji="0" sz="1000" b="0" i="0" u="none" strike="noStrike" kern="1200" cap="none" spc="0" normalizeH="0" baseline="0" noProof="0" dirty="0">
                <a:ln>
                  <a:noFill/>
                </a:ln>
                <a:solidFill>
                  <a:srgbClr val="1B1D36"/>
                </a:solidFill>
                <a:effectLst/>
                <a:uLnTx/>
                <a:uFillTx/>
                <a:latin typeface="Arial"/>
                <a:ea typeface="Arial"/>
                <a:cs typeface="Arial"/>
                <a:sym typeface="Arial"/>
              </a:endParaRPr>
            </a:p>
          </p:txBody>
        </p:sp>
        <p:sp>
          <p:nvSpPr>
            <p:cNvPr id="315" name="TextBox 314">
              <a:extLst>
                <a:ext uri="{FF2B5EF4-FFF2-40B4-BE49-F238E27FC236}">
                  <a16:creationId xmlns:a16="http://schemas.microsoft.com/office/drawing/2014/main" id="{C56E0FA9-CF9C-964E-7E62-C9135687168E}"/>
                </a:ext>
              </a:extLst>
            </p:cNvPr>
            <p:cNvSpPr txBox="1"/>
            <p:nvPr/>
          </p:nvSpPr>
          <p:spPr>
            <a:xfrm>
              <a:off x="9665794" y="5318647"/>
              <a:ext cx="1965295"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Security analytics and rule recommendations</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20" name="TextBox 319">
              <a:extLst>
                <a:ext uri="{FF2B5EF4-FFF2-40B4-BE49-F238E27FC236}">
                  <a16:creationId xmlns:a16="http://schemas.microsoft.com/office/drawing/2014/main" id="{83DC3860-7870-DC3B-2037-2CFD348ED0AE}"/>
                </a:ext>
              </a:extLst>
            </p:cNvPr>
            <p:cNvSpPr txBox="1"/>
            <p:nvPr/>
          </p:nvSpPr>
          <p:spPr>
            <a:xfrm>
              <a:off x="9585694" y="4728944"/>
              <a:ext cx="2125494"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ATP with IDS/IPS, Network Sandbox, NTA/NDR</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nvGrpSpPr>
          <p:cNvPr id="7" name="Group 6">
            <a:extLst>
              <a:ext uri="{FF2B5EF4-FFF2-40B4-BE49-F238E27FC236}">
                <a16:creationId xmlns:a16="http://schemas.microsoft.com/office/drawing/2014/main" id="{E27BB4D4-2CA7-712B-4309-F4FEB29EBD86}"/>
              </a:ext>
            </a:extLst>
          </p:cNvPr>
          <p:cNvGrpSpPr/>
          <p:nvPr/>
        </p:nvGrpSpPr>
        <p:grpSpPr>
          <a:xfrm>
            <a:off x="7258549" y="2740212"/>
            <a:ext cx="2214479" cy="3894754"/>
            <a:chOff x="7258549" y="2740212"/>
            <a:chExt cx="2214479" cy="3894754"/>
          </a:xfrm>
        </p:grpSpPr>
        <p:grpSp>
          <p:nvGrpSpPr>
            <p:cNvPr id="228" name="Group 227">
              <a:extLst>
                <a:ext uri="{FF2B5EF4-FFF2-40B4-BE49-F238E27FC236}">
                  <a16:creationId xmlns:a16="http://schemas.microsoft.com/office/drawing/2014/main" id="{19B0F4A7-07D7-7E08-C7BC-1375D73AACCC}"/>
                </a:ext>
              </a:extLst>
            </p:cNvPr>
            <p:cNvGrpSpPr/>
            <p:nvPr/>
          </p:nvGrpSpPr>
          <p:grpSpPr>
            <a:xfrm>
              <a:off x="7258549" y="2740212"/>
              <a:ext cx="2214479" cy="3894754"/>
              <a:chOff x="390496" y="2735181"/>
              <a:chExt cx="2214479" cy="3894754"/>
            </a:xfrm>
          </p:grpSpPr>
          <p:sp>
            <p:nvSpPr>
              <p:cNvPr id="234" name="Google Shape;1703;g3345324a5da_0_5673">
                <a:extLst>
                  <a:ext uri="{FF2B5EF4-FFF2-40B4-BE49-F238E27FC236}">
                    <a16:creationId xmlns:a16="http://schemas.microsoft.com/office/drawing/2014/main" id="{90CDCFB1-0430-0CAB-7AD9-B26494898F09}"/>
                  </a:ext>
                </a:extLst>
              </p:cNvPr>
              <p:cNvSpPr/>
              <p:nvPr/>
            </p:nvSpPr>
            <p:spPr>
              <a:xfrm>
                <a:off x="390496" y="2735181"/>
                <a:ext cx="2214479" cy="3894754"/>
              </a:xfrm>
              <a:prstGeom prst="roundRect">
                <a:avLst>
                  <a:gd name="adj" fmla="val 6272"/>
                </a:avLst>
              </a:prstGeom>
              <a:gradFill>
                <a:gsLst>
                  <a:gs pos="0">
                    <a:srgbClr val="E8F0F4">
                      <a:alpha val="67144"/>
                    </a:srgbClr>
                  </a:gs>
                  <a:gs pos="100000">
                    <a:srgbClr val="E8F0F4">
                      <a:alpha val="159"/>
                    </a:srgbClr>
                  </a:gs>
                </a:gsLst>
                <a:lin ang="5400012" scaled="0"/>
              </a:gra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35" name="Google Shape;1707;g3345324a5da_0_5673">
                <a:extLst>
                  <a:ext uri="{FF2B5EF4-FFF2-40B4-BE49-F238E27FC236}">
                    <a16:creationId xmlns:a16="http://schemas.microsoft.com/office/drawing/2014/main" id="{9D1569CD-ACAD-6B0E-BEDC-032CD1C90486}"/>
                  </a:ext>
                </a:extLst>
              </p:cNvPr>
              <p:cNvPicPr preferRelativeResize="0"/>
              <p:nvPr/>
            </p:nvPicPr>
            <p:blipFill rotWithShape="1">
              <a:blip r:embed="rId3">
                <a:alphaModFix amt="20000"/>
              </a:blip>
              <a:srcRect l="1472" t="65195" r="2708" b="-31277"/>
              <a:stretch/>
            </p:blipFill>
            <p:spPr>
              <a:xfrm>
                <a:off x="455732" y="4010135"/>
                <a:ext cx="2092866" cy="407658"/>
              </a:xfrm>
              <a:prstGeom prst="rect">
                <a:avLst/>
              </a:prstGeom>
              <a:noFill/>
              <a:ln>
                <a:noFill/>
              </a:ln>
            </p:spPr>
          </p:pic>
          <p:pic>
            <p:nvPicPr>
              <p:cNvPr id="236" name="Google Shape;1707;g3345324a5da_0_5673">
                <a:extLst>
                  <a:ext uri="{FF2B5EF4-FFF2-40B4-BE49-F238E27FC236}">
                    <a16:creationId xmlns:a16="http://schemas.microsoft.com/office/drawing/2014/main" id="{3D855B88-80D2-9790-F250-EB40384F4D9F}"/>
                  </a:ext>
                </a:extLst>
              </p:cNvPr>
              <p:cNvPicPr preferRelativeResize="0"/>
              <p:nvPr/>
            </p:nvPicPr>
            <p:blipFill rotWithShape="1">
              <a:blip r:embed="rId3">
                <a:alphaModFix amt="20000"/>
              </a:blip>
              <a:srcRect l="1472" t="65195" r="2708" b="-31277"/>
              <a:stretch/>
            </p:blipFill>
            <p:spPr>
              <a:xfrm>
                <a:off x="455732" y="4649031"/>
                <a:ext cx="2092866" cy="407658"/>
              </a:xfrm>
              <a:prstGeom prst="rect">
                <a:avLst/>
              </a:prstGeom>
              <a:noFill/>
              <a:ln>
                <a:noFill/>
              </a:ln>
            </p:spPr>
          </p:pic>
          <p:pic>
            <p:nvPicPr>
              <p:cNvPr id="237" name="Google Shape;1707;g3345324a5da_0_5673">
                <a:extLst>
                  <a:ext uri="{FF2B5EF4-FFF2-40B4-BE49-F238E27FC236}">
                    <a16:creationId xmlns:a16="http://schemas.microsoft.com/office/drawing/2014/main" id="{76EF3C92-2D86-C274-B3A8-D9817DC7F556}"/>
                  </a:ext>
                </a:extLst>
              </p:cNvPr>
              <p:cNvPicPr preferRelativeResize="0"/>
              <p:nvPr/>
            </p:nvPicPr>
            <p:blipFill rotWithShape="1">
              <a:blip r:embed="rId3">
                <a:alphaModFix amt="20000"/>
              </a:blip>
              <a:srcRect l="1472" t="65195" r="2708" b="-31277"/>
              <a:stretch/>
            </p:blipFill>
            <p:spPr>
              <a:xfrm>
                <a:off x="455732" y="5251918"/>
                <a:ext cx="2092866" cy="407658"/>
              </a:xfrm>
              <a:prstGeom prst="rect">
                <a:avLst/>
              </a:prstGeom>
              <a:noFill/>
              <a:ln>
                <a:noFill/>
              </a:ln>
            </p:spPr>
          </p:pic>
        </p:grpSp>
        <p:sp>
          <p:nvSpPr>
            <p:cNvPr id="252" name="Text Placeholder 25">
              <a:extLst>
                <a:ext uri="{FF2B5EF4-FFF2-40B4-BE49-F238E27FC236}">
                  <a16:creationId xmlns:a16="http://schemas.microsoft.com/office/drawing/2014/main" id="{259635E7-F4BA-B118-2BB8-8270FEF38C77}"/>
                </a:ext>
              </a:extLst>
            </p:cNvPr>
            <p:cNvSpPr txBox="1">
              <a:spLocks/>
            </p:cNvSpPr>
            <p:nvPr/>
          </p:nvSpPr>
          <p:spPr>
            <a:xfrm>
              <a:off x="7504930" y="4164859"/>
              <a:ext cx="1721716" cy="405509"/>
            </a:xfrm>
            <a:prstGeom prst="rect">
              <a:avLst/>
            </a:prstGeom>
          </p:spPr>
          <p:txBody>
            <a:bodyPr vert="horz" lIns="0" tIns="0" rIns="0" bIns="0" rtlCol="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2000" b="0" i="0" kern="1200">
                  <a:solidFill>
                    <a:schemeClr val="accent5"/>
                  </a:solidFill>
                  <a:latin typeface="Arial" panose="020B0604020202020204" pitchFamily="34" charset="0"/>
                  <a:ea typeface="+mn-ea"/>
                  <a:cs typeface="Arial" panose="020B0604020202020204" pitchFamily="34" charset="0"/>
                </a:defRPr>
              </a:lvl1pPr>
              <a:lvl2pPr marL="285750" indent="-28575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lang="en-US" sz="1600" b="0" i="0" kern="1200" dirty="0">
                  <a:solidFill>
                    <a:schemeClr val="tx1"/>
                  </a:solidFill>
                  <a:latin typeface="Arial" panose="020B0604020202020204" pitchFamily="34" charset="0"/>
                  <a:ea typeface="+mn-ea"/>
                  <a:cs typeface="Arial" panose="020B0604020202020204" pitchFamily="34" charset="0"/>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Any-to-any vSphere version</a:t>
              </a:r>
              <a:endParaRPr kumimoji="0" lang="en-US" sz="1000" b="0" i="0" u="none" strike="noStrike" kern="1200" cap="none" spc="0" normalizeH="0" baseline="0" noProof="0" dirty="0">
                <a:ln>
                  <a:noFill/>
                </a:ln>
                <a:solidFill>
                  <a:srgbClr val="6C4B94"/>
                </a:solidFill>
                <a:effectLst/>
                <a:uLnTx/>
                <a:uFillTx/>
                <a:latin typeface="Arial" panose="020B0604020202020204" pitchFamily="34" charset="0"/>
                <a:ea typeface="+mn-ea"/>
                <a:cs typeface="Arial" panose="020B0604020202020204" pitchFamily="34" charset="0"/>
              </a:endParaRPr>
            </a:p>
          </p:txBody>
        </p:sp>
        <p:sp>
          <p:nvSpPr>
            <p:cNvPr id="309" name="Text Placeholder 21">
              <a:extLst>
                <a:ext uri="{FF2B5EF4-FFF2-40B4-BE49-F238E27FC236}">
                  <a16:creationId xmlns:a16="http://schemas.microsoft.com/office/drawing/2014/main" id="{5A47521A-01F4-E475-8EA5-BA9BD37206A5}"/>
                </a:ext>
              </a:extLst>
            </p:cNvPr>
            <p:cNvSpPr txBox="1">
              <a:spLocks/>
            </p:cNvSpPr>
            <p:nvPr/>
          </p:nvSpPr>
          <p:spPr>
            <a:xfrm>
              <a:off x="7343114" y="3128301"/>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5"/>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5C8A"/>
                  </a:solidFill>
                  <a:effectLst/>
                  <a:uLnTx/>
                  <a:uFillTx/>
                  <a:latin typeface="Arial"/>
                  <a:ea typeface="Arial"/>
                  <a:cs typeface="Arial"/>
                  <a:sym typeface="Arial"/>
                </a:rPr>
                <a:t>Large-scale</a:t>
              </a:r>
              <a:endParaRPr kumimoji="0" lang="en-US" sz="1200" b="0" i="0" u="none" strike="noStrike" kern="1200" cap="none" spc="0" normalizeH="0" baseline="0" noProof="0" dirty="0">
                <a:ln>
                  <a:noFill/>
                </a:ln>
                <a:solidFill>
                  <a:srgbClr val="6C4B94"/>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5C8A"/>
                  </a:solidFill>
                  <a:effectLst/>
                  <a:uLnTx/>
                  <a:uFillTx/>
                  <a:latin typeface="Arial"/>
                  <a:ea typeface="Arial"/>
                  <a:cs typeface="Arial"/>
                  <a:sym typeface="Arial"/>
                </a:rPr>
                <a:t>Mobility</a:t>
              </a:r>
              <a:endParaRPr kumimoji="0" lang="en-US" sz="1200" b="0" i="0" u="none" strike="noStrike" kern="1200" cap="none" spc="0" normalizeH="0" baseline="0" noProof="0" dirty="0">
                <a:ln>
                  <a:noFill/>
                </a:ln>
                <a:solidFill>
                  <a:srgbClr val="6C4B94"/>
                </a:solidFill>
                <a:effectLst/>
                <a:uLnTx/>
                <a:uFillTx/>
                <a:latin typeface="Arial" panose="020B0604020202020204" pitchFamily="34" charset="0"/>
                <a:ea typeface="+mn-ea"/>
                <a:cs typeface="Arial" panose="020B0604020202020204" pitchFamily="34" charset="0"/>
              </a:endParaRPr>
            </a:p>
          </p:txBody>
        </p:sp>
        <p:sp>
          <p:nvSpPr>
            <p:cNvPr id="314" name="TextBox 313">
              <a:extLst>
                <a:ext uri="{FF2B5EF4-FFF2-40B4-BE49-F238E27FC236}">
                  <a16:creationId xmlns:a16="http://schemas.microsoft.com/office/drawing/2014/main" id="{567FBE1C-4CD2-5398-E33A-42155789B226}"/>
                </a:ext>
              </a:extLst>
            </p:cNvPr>
            <p:cNvSpPr txBox="1"/>
            <p:nvPr/>
          </p:nvSpPr>
          <p:spPr>
            <a:xfrm>
              <a:off x="7383141" y="5318647"/>
              <a:ext cx="1965295"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Various migration modes</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19" name="TextBox 318">
              <a:extLst>
                <a:ext uri="{FF2B5EF4-FFF2-40B4-BE49-F238E27FC236}">
                  <a16:creationId xmlns:a16="http://schemas.microsoft.com/office/drawing/2014/main" id="{DE5A11F1-77A3-D3E8-DED2-600D1B6639FC}"/>
                </a:ext>
              </a:extLst>
            </p:cNvPr>
            <p:cNvSpPr txBox="1"/>
            <p:nvPr/>
          </p:nvSpPr>
          <p:spPr>
            <a:xfrm>
              <a:off x="7383141" y="4728944"/>
              <a:ext cx="1965295"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Zero-downtime migration</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nvGrpSpPr>
          <p:cNvPr id="6" name="Group 5">
            <a:extLst>
              <a:ext uri="{FF2B5EF4-FFF2-40B4-BE49-F238E27FC236}">
                <a16:creationId xmlns:a16="http://schemas.microsoft.com/office/drawing/2014/main" id="{81B3066A-078F-5314-486A-8FC6F59E96CE}"/>
              </a:ext>
            </a:extLst>
          </p:cNvPr>
          <p:cNvGrpSpPr/>
          <p:nvPr/>
        </p:nvGrpSpPr>
        <p:grpSpPr>
          <a:xfrm>
            <a:off x="4975894" y="2738536"/>
            <a:ext cx="2214479" cy="3894754"/>
            <a:chOff x="4975894" y="2738536"/>
            <a:chExt cx="2214479" cy="3894754"/>
          </a:xfrm>
        </p:grpSpPr>
        <p:grpSp>
          <p:nvGrpSpPr>
            <p:cNvPr id="213" name="Group 212">
              <a:extLst>
                <a:ext uri="{FF2B5EF4-FFF2-40B4-BE49-F238E27FC236}">
                  <a16:creationId xmlns:a16="http://schemas.microsoft.com/office/drawing/2014/main" id="{3BD986E6-59A2-B097-0976-9ECC6B05216E}"/>
                </a:ext>
              </a:extLst>
            </p:cNvPr>
            <p:cNvGrpSpPr/>
            <p:nvPr/>
          </p:nvGrpSpPr>
          <p:grpSpPr>
            <a:xfrm>
              <a:off x="4975894" y="2738536"/>
              <a:ext cx="2214479" cy="3894754"/>
              <a:chOff x="390496" y="2735181"/>
              <a:chExt cx="2214479" cy="3894754"/>
            </a:xfrm>
          </p:grpSpPr>
          <p:sp>
            <p:nvSpPr>
              <p:cNvPr id="220" name="Google Shape;1703;g3345324a5da_0_5673">
                <a:extLst>
                  <a:ext uri="{FF2B5EF4-FFF2-40B4-BE49-F238E27FC236}">
                    <a16:creationId xmlns:a16="http://schemas.microsoft.com/office/drawing/2014/main" id="{CEF9413A-FB1B-65C5-285B-EFCD66416F91}"/>
                  </a:ext>
                </a:extLst>
              </p:cNvPr>
              <p:cNvSpPr/>
              <p:nvPr/>
            </p:nvSpPr>
            <p:spPr>
              <a:xfrm>
                <a:off x="390496" y="2735181"/>
                <a:ext cx="2214479" cy="3894754"/>
              </a:xfrm>
              <a:prstGeom prst="roundRect">
                <a:avLst>
                  <a:gd name="adj" fmla="val 6272"/>
                </a:avLst>
              </a:prstGeom>
              <a:gradFill>
                <a:gsLst>
                  <a:gs pos="0">
                    <a:srgbClr val="E8F0F4">
                      <a:alpha val="67144"/>
                    </a:srgbClr>
                  </a:gs>
                  <a:gs pos="100000">
                    <a:srgbClr val="E8F0F4">
                      <a:alpha val="159"/>
                    </a:srgbClr>
                  </a:gs>
                </a:gsLst>
                <a:lin ang="5400012" scaled="0"/>
              </a:gra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21" name="Google Shape;1707;g3345324a5da_0_5673">
                <a:extLst>
                  <a:ext uri="{FF2B5EF4-FFF2-40B4-BE49-F238E27FC236}">
                    <a16:creationId xmlns:a16="http://schemas.microsoft.com/office/drawing/2014/main" id="{E279B40D-3FF4-4E9A-B68F-FA8B717F5121}"/>
                  </a:ext>
                </a:extLst>
              </p:cNvPr>
              <p:cNvPicPr preferRelativeResize="0"/>
              <p:nvPr/>
            </p:nvPicPr>
            <p:blipFill rotWithShape="1">
              <a:blip r:embed="rId3">
                <a:alphaModFix amt="20000"/>
              </a:blip>
              <a:srcRect l="1472" t="65195" r="2708" b="-31277"/>
              <a:stretch/>
            </p:blipFill>
            <p:spPr>
              <a:xfrm>
                <a:off x="455732" y="4010135"/>
                <a:ext cx="2092866" cy="407658"/>
              </a:xfrm>
              <a:prstGeom prst="rect">
                <a:avLst/>
              </a:prstGeom>
              <a:noFill/>
              <a:ln>
                <a:noFill/>
              </a:ln>
            </p:spPr>
          </p:pic>
          <p:pic>
            <p:nvPicPr>
              <p:cNvPr id="225" name="Google Shape;1707;g3345324a5da_0_5673">
                <a:extLst>
                  <a:ext uri="{FF2B5EF4-FFF2-40B4-BE49-F238E27FC236}">
                    <a16:creationId xmlns:a16="http://schemas.microsoft.com/office/drawing/2014/main" id="{80ACC2AE-BBAB-921F-6C12-6BC92F1A3E13}"/>
                  </a:ext>
                </a:extLst>
              </p:cNvPr>
              <p:cNvPicPr preferRelativeResize="0"/>
              <p:nvPr/>
            </p:nvPicPr>
            <p:blipFill rotWithShape="1">
              <a:blip r:embed="rId3">
                <a:alphaModFix amt="20000"/>
              </a:blip>
              <a:srcRect l="1472" t="65195" r="2708" b="-31277"/>
              <a:stretch/>
            </p:blipFill>
            <p:spPr>
              <a:xfrm>
                <a:off x="455732" y="4649031"/>
                <a:ext cx="2092866" cy="407658"/>
              </a:xfrm>
              <a:prstGeom prst="rect">
                <a:avLst/>
              </a:prstGeom>
              <a:noFill/>
              <a:ln>
                <a:noFill/>
              </a:ln>
            </p:spPr>
          </p:pic>
          <p:pic>
            <p:nvPicPr>
              <p:cNvPr id="227" name="Google Shape;1707;g3345324a5da_0_5673">
                <a:extLst>
                  <a:ext uri="{FF2B5EF4-FFF2-40B4-BE49-F238E27FC236}">
                    <a16:creationId xmlns:a16="http://schemas.microsoft.com/office/drawing/2014/main" id="{94020623-278D-096C-6C0C-8723018C8FCC}"/>
                  </a:ext>
                </a:extLst>
              </p:cNvPr>
              <p:cNvPicPr preferRelativeResize="0"/>
              <p:nvPr/>
            </p:nvPicPr>
            <p:blipFill rotWithShape="1">
              <a:blip r:embed="rId3">
                <a:alphaModFix amt="20000"/>
              </a:blip>
              <a:srcRect l="1472" t="65195" r="2708" b="-31277"/>
              <a:stretch/>
            </p:blipFill>
            <p:spPr>
              <a:xfrm>
                <a:off x="455732" y="5251918"/>
                <a:ext cx="2092866" cy="407658"/>
              </a:xfrm>
              <a:prstGeom prst="rect">
                <a:avLst/>
              </a:prstGeom>
              <a:noFill/>
              <a:ln>
                <a:noFill/>
              </a:ln>
            </p:spPr>
          </p:pic>
        </p:grpSp>
        <p:sp>
          <p:nvSpPr>
            <p:cNvPr id="251" name="Text Placeholder 27">
              <a:extLst>
                <a:ext uri="{FF2B5EF4-FFF2-40B4-BE49-F238E27FC236}">
                  <a16:creationId xmlns:a16="http://schemas.microsoft.com/office/drawing/2014/main" id="{FF06B91F-EF86-DCF1-7CC8-22B81D3B168D}"/>
                </a:ext>
              </a:extLst>
            </p:cNvPr>
            <p:cNvSpPr txBox="1">
              <a:spLocks/>
            </p:cNvSpPr>
            <p:nvPr/>
          </p:nvSpPr>
          <p:spPr>
            <a:xfrm>
              <a:off x="5251860" y="4164859"/>
              <a:ext cx="1662546" cy="362698"/>
            </a:xfrm>
            <a:prstGeom prst="rect">
              <a:avLst/>
            </a:prstGeom>
          </p:spPr>
          <p:txBody>
            <a:bodyPr vert="horz" lIns="0" tIns="0" rIns="0" bIns="0" rtlCol="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2000" b="0" i="0" kern="1200">
                  <a:solidFill>
                    <a:schemeClr val="accent2"/>
                  </a:solidFill>
                  <a:latin typeface="Arial" panose="020B0604020202020204" pitchFamily="34" charset="0"/>
                  <a:ea typeface="+mn-ea"/>
                  <a:cs typeface="Arial" panose="020B0604020202020204" pitchFamily="34" charset="0"/>
                </a:defRPr>
              </a:lvl1pPr>
              <a:lvl2pPr marL="285750" indent="-28575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lang="en-US" sz="1600" b="0" i="0" kern="1200" dirty="0">
                  <a:solidFill>
                    <a:schemeClr val="tx1"/>
                  </a:solidFill>
                  <a:latin typeface="Arial" panose="020B0604020202020204" pitchFamily="34" charset="0"/>
                  <a:ea typeface="+mn-ea"/>
                  <a:cs typeface="Arial" panose="020B0604020202020204" pitchFamily="34" charset="0"/>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Pre-deployment assessment</a:t>
              </a:r>
              <a:endParaRPr kumimoji="0" lang="en-US" sz="1000" b="0" i="0" u="none" strike="noStrike" kern="1200" cap="none" spc="0" normalizeH="0" baseline="0" noProof="0" dirty="0">
                <a:ln>
                  <a:noFill/>
                </a:ln>
                <a:solidFill>
                  <a:srgbClr val="005C8A"/>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1000"/>
                </a:spcBef>
                <a:spcAft>
                  <a:spcPts val="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3C3C3C"/>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1000"/>
                </a:spcBef>
                <a:spcAft>
                  <a:spcPts val="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3C3C3C"/>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8" name="Text Placeholder 17">
              <a:extLst>
                <a:ext uri="{FF2B5EF4-FFF2-40B4-BE49-F238E27FC236}">
                  <a16:creationId xmlns:a16="http://schemas.microsoft.com/office/drawing/2014/main" id="{34F0493C-0D28-25A2-7DAB-3C88C30728FF}"/>
                </a:ext>
              </a:extLst>
            </p:cNvPr>
            <p:cNvSpPr txBox="1">
              <a:spLocks/>
            </p:cNvSpPr>
            <p:nvPr/>
          </p:nvSpPr>
          <p:spPr>
            <a:xfrm>
              <a:off x="5061622" y="3128301"/>
              <a:ext cx="2043023"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2"/>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7B8C"/>
                  </a:solidFill>
                  <a:effectLst/>
                  <a:uLnTx/>
                  <a:uFillTx/>
                  <a:latin typeface="Arial"/>
                  <a:ea typeface="Arial"/>
                  <a:cs typeface="Arial"/>
                  <a:sym typeface="Arial"/>
                </a:rPr>
                <a:t>Powerful </a:t>
              </a:r>
              <a:br>
                <a:rPr kumimoji="0" lang="en-US" sz="1600" b="0" i="0" u="none" strike="noStrike" kern="1200" cap="none" spc="0" normalizeH="0" baseline="0" noProof="0" dirty="0">
                  <a:ln>
                    <a:noFill/>
                  </a:ln>
                  <a:solidFill>
                    <a:srgbClr val="007B8C"/>
                  </a:solidFill>
                  <a:effectLst/>
                  <a:uLnTx/>
                  <a:uFillTx/>
                  <a:latin typeface="Arial"/>
                  <a:ea typeface="Arial"/>
                  <a:cs typeface="Arial"/>
                  <a:sym typeface="Arial"/>
                </a:rPr>
              </a:br>
              <a:r>
                <a:rPr kumimoji="0" lang="en-US" sz="1600" b="0" i="0" u="none" strike="noStrike" kern="1200" cap="none" spc="0" normalizeH="0" baseline="0" noProof="0" dirty="0">
                  <a:ln>
                    <a:noFill/>
                  </a:ln>
                  <a:solidFill>
                    <a:srgbClr val="007B8C"/>
                  </a:solidFill>
                  <a:effectLst/>
                  <a:uLnTx/>
                  <a:uFillTx/>
                  <a:latin typeface="Arial"/>
                  <a:ea typeface="Arial"/>
                  <a:cs typeface="Arial"/>
                  <a:sym typeface="Arial"/>
                </a:rPr>
                <a:t>Monitoring</a:t>
              </a:r>
              <a:endParaRPr kumimoji="0" lang="en-US" sz="1200" b="0" i="0" u="none" strike="noStrike" kern="1200" cap="none" spc="0" normalizeH="0" baseline="0" noProof="0" dirty="0">
                <a:ln>
                  <a:noFill/>
                </a:ln>
                <a:solidFill>
                  <a:srgbClr val="005C8A"/>
                </a:solidFill>
                <a:effectLst/>
                <a:uLnTx/>
                <a:uFillTx/>
                <a:latin typeface="Arial" panose="020B0604020202020204" pitchFamily="34" charset="0"/>
                <a:ea typeface="+mn-ea"/>
                <a:cs typeface="Arial" panose="020B0604020202020204" pitchFamily="34" charset="0"/>
              </a:endParaRPr>
            </a:p>
          </p:txBody>
        </p:sp>
        <p:sp>
          <p:nvSpPr>
            <p:cNvPr id="313" name="TextBox 312">
              <a:extLst>
                <a:ext uri="{FF2B5EF4-FFF2-40B4-BE49-F238E27FC236}">
                  <a16:creationId xmlns:a16="http://schemas.microsoft.com/office/drawing/2014/main" id="{57A1A2AF-B401-52AC-8B4A-A8B8F8BF3667}"/>
                </a:ext>
              </a:extLst>
            </p:cNvPr>
            <p:cNvSpPr txBox="1"/>
            <p:nvPr/>
          </p:nvSpPr>
          <p:spPr>
            <a:xfrm>
              <a:off x="5100486" y="5318647"/>
              <a:ext cx="1965295"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Network topology and metrics visualization</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18" name="TextBox 317">
              <a:extLst>
                <a:ext uri="{FF2B5EF4-FFF2-40B4-BE49-F238E27FC236}">
                  <a16:creationId xmlns:a16="http://schemas.microsoft.com/office/drawing/2014/main" id="{42BE1C2A-6A0B-BCFC-165B-6558066B5434}"/>
                </a:ext>
              </a:extLst>
            </p:cNvPr>
            <p:cNvSpPr txBox="1"/>
            <p:nvPr/>
          </p:nvSpPr>
          <p:spPr>
            <a:xfrm>
              <a:off x="5100486" y="4728944"/>
              <a:ext cx="1965295"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Application discovery</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nvGrpSpPr>
          <p:cNvPr id="5" name="Group 4">
            <a:extLst>
              <a:ext uri="{FF2B5EF4-FFF2-40B4-BE49-F238E27FC236}">
                <a16:creationId xmlns:a16="http://schemas.microsoft.com/office/drawing/2014/main" id="{9D706A55-7469-38E6-6A84-BBE50E4B5B07}"/>
              </a:ext>
            </a:extLst>
          </p:cNvPr>
          <p:cNvGrpSpPr/>
          <p:nvPr/>
        </p:nvGrpSpPr>
        <p:grpSpPr>
          <a:xfrm>
            <a:off x="2683193" y="2736860"/>
            <a:ext cx="2214479" cy="3894754"/>
            <a:chOff x="2683193" y="2736860"/>
            <a:chExt cx="2214479" cy="3894754"/>
          </a:xfrm>
        </p:grpSpPr>
        <p:grpSp>
          <p:nvGrpSpPr>
            <p:cNvPr id="204" name="Group 203">
              <a:extLst>
                <a:ext uri="{FF2B5EF4-FFF2-40B4-BE49-F238E27FC236}">
                  <a16:creationId xmlns:a16="http://schemas.microsoft.com/office/drawing/2014/main" id="{B8321807-3B40-95D3-D4C3-5F9065CA4CF8}"/>
                </a:ext>
              </a:extLst>
            </p:cNvPr>
            <p:cNvGrpSpPr/>
            <p:nvPr/>
          </p:nvGrpSpPr>
          <p:grpSpPr>
            <a:xfrm>
              <a:off x="2683193" y="2736860"/>
              <a:ext cx="2214479" cy="3894754"/>
              <a:chOff x="390496" y="2735181"/>
              <a:chExt cx="2214479" cy="3894754"/>
            </a:xfrm>
          </p:grpSpPr>
          <p:sp>
            <p:nvSpPr>
              <p:cNvPr id="205" name="Google Shape;1703;g3345324a5da_0_5673">
                <a:extLst>
                  <a:ext uri="{FF2B5EF4-FFF2-40B4-BE49-F238E27FC236}">
                    <a16:creationId xmlns:a16="http://schemas.microsoft.com/office/drawing/2014/main" id="{52925DD2-6065-2948-01E0-DBFE35DCDB48}"/>
                  </a:ext>
                </a:extLst>
              </p:cNvPr>
              <p:cNvSpPr/>
              <p:nvPr/>
            </p:nvSpPr>
            <p:spPr>
              <a:xfrm>
                <a:off x="390496" y="2735181"/>
                <a:ext cx="2214479" cy="3894754"/>
              </a:xfrm>
              <a:prstGeom prst="roundRect">
                <a:avLst>
                  <a:gd name="adj" fmla="val 6272"/>
                </a:avLst>
              </a:prstGeom>
              <a:gradFill>
                <a:gsLst>
                  <a:gs pos="0">
                    <a:srgbClr val="E8F0F4">
                      <a:alpha val="67144"/>
                    </a:srgbClr>
                  </a:gs>
                  <a:gs pos="100000">
                    <a:srgbClr val="E8F0F4">
                      <a:alpha val="159"/>
                    </a:srgbClr>
                  </a:gs>
                </a:gsLst>
                <a:lin ang="5400012" scaled="0"/>
              </a:gra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06" name="Google Shape;1707;g3345324a5da_0_5673">
                <a:extLst>
                  <a:ext uri="{FF2B5EF4-FFF2-40B4-BE49-F238E27FC236}">
                    <a16:creationId xmlns:a16="http://schemas.microsoft.com/office/drawing/2014/main" id="{86B232AD-D52D-0FD3-8A67-9E5F973CE301}"/>
                  </a:ext>
                </a:extLst>
              </p:cNvPr>
              <p:cNvPicPr preferRelativeResize="0"/>
              <p:nvPr/>
            </p:nvPicPr>
            <p:blipFill rotWithShape="1">
              <a:blip r:embed="rId3">
                <a:alphaModFix amt="20000"/>
              </a:blip>
              <a:srcRect l="1472" t="65195" r="2708" b="-31277"/>
              <a:stretch/>
            </p:blipFill>
            <p:spPr>
              <a:xfrm>
                <a:off x="455732" y="4010135"/>
                <a:ext cx="2092866" cy="407658"/>
              </a:xfrm>
              <a:prstGeom prst="rect">
                <a:avLst/>
              </a:prstGeom>
              <a:noFill/>
              <a:ln>
                <a:noFill/>
              </a:ln>
            </p:spPr>
          </p:pic>
          <p:pic>
            <p:nvPicPr>
              <p:cNvPr id="207" name="Google Shape;1707;g3345324a5da_0_5673">
                <a:extLst>
                  <a:ext uri="{FF2B5EF4-FFF2-40B4-BE49-F238E27FC236}">
                    <a16:creationId xmlns:a16="http://schemas.microsoft.com/office/drawing/2014/main" id="{71CE55BA-2926-73C5-1D1C-BA40D2EDD30C}"/>
                  </a:ext>
                </a:extLst>
              </p:cNvPr>
              <p:cNvPicPr preferRelativeResize="0"/>
              <p:nvPr/>
            </p:nvPicPr>
            <p:blipFill rotWithShape="1">
              <a:blip r:embed="rId3">
                <a:alphaModFix amt="20000"/>
              </a:blip>
              <a:srcRect l="1472" t="65195" r="2708" b="-31277"/>
              <a:stretch/>
            </p:blipFill>
            <p:spPr>
              <a:xfrm>
                <a:off x="455732" y="4649031"/>
                <a:ext cx="2092866" cy="407658"/>
              </a:xfrm>
              <a:prstGeom prst="rect">
                <a:avLst/>
              </a:prstGeom>
              <a:noFill/>
              <a:ln>
                <a:noFill/>
              </a:ln>
            </p:spPr>
          </p:pic>
          <p:pic>
            <p:nvPicPr>
              <p:cNvPr id="208" name="Google Shape;1707;g3345324a5da_0_5673">
                <a:extLst>
                  <a:ext uri="{FF2B5EF4-FFF2-40B4-BE49-F238E27FC236}">
                    <a16:creationId xmlns:a16="http://schemas.microsoft.com/office/drawing/2014/main" id="{BE72CB19-A01B-3F4B-6560-7A42046B999C}"/>
                  </a:ext>
                </a:extLst>
              </p:cNvPr>
              <p:cNvPicPr preferRelativeResize="0"/>
              <p:nvPr/>
            </p:nvPicPr>
            <p:blipFill rotWithShape="1">
              <a:blip r:embed="rId3">
                <a:alphaModFix amt="20000"/>
              </a:blip>
              <a:srcRect l="1472" t="65195" r="2708" b="-31277"/>
              <a:stretch/>
            </p:blipFill>
            <p:spPr>
              <a:xfrm>
                <a:off x="455732" y="5251918"/>
                <a:ext cx="2092866" cy="407658"/>
              </a:xfrm>
              <a:prstGeom prst="rect">
                <a:avLst/>
              </a:prstGeom>
              <a:noFill/>
              <a:ln>
                <a:noFill/>
              </a:ln>
            </p:spPr>
          </p:pic>
        </p:grpSp>
        <p:sp>
          <p:nvSpPr>
            <p:cNvPr id="250" name="Text Placeholder 29">
              <a:extLst>
                <a:ext uri="{FF2B5EF4-FFF2-40B4-BE49-F238E27FC236}">
                  <a16:creationId xmlns:a16="http://schemas.microsoft.com/office/drawing/2014/main" id="{14B00062-CDCF-A344-B074-084EEB1DE198}"/>
                </a:ext>
              </a:extLst>
            </p:cNvPr>
            <p:cNvSpPr txBox="1">
              <a:spLocks/>
            </p:cNvSpPr>
            <p:nvPr/>
          </p:nvSpPr>
          <p:spPr>
            <a:xfrm>
              <a:off x="2876032" y="4164859"/>
              <a:ext cx="1828800" cy="405508"/>
            </a:xfrm>
            <a:prstGeom prst="rect">
              <a:avLst/>
            </a:prstGeom>
          </p:spPr>
          <p:txBody>
            <a:bodyPr vert="horz" lIns="0" tIns="0" rIns="0" bIns="0" rtlCol="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2000" b="0" i="0" kern="1200">
                  <a:solidFill>
                    <a:schemeClr val="accent3"/>
                  </a:solidFill>
                  <a:latin typeface="Arial" panose="020B0604020202020204" pitchFamily="34" charset="0"/>
                  <a:ea typeface="+mn-ea"/>
                  <a:cs typeface="Arial" panose="020B0604020202020204" pitchFamily="34" charset="0"/>
                </a:defRPr>
              </a:lvl1pPr>
              <a:lvl2pPr marL="285750" indent="-28575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lang="en-US" sz="1600" b="0" i="0" kern="1200" dirty="0">
                  <a:solidFill>
                    <a:schemeClr val="tx1"/>
                  </a:solidFill>
                  <a:latin typeface="Arial" panose="020B0604020202020204" pitchFamily="34" charset="0"/>
                  <a:ea typeface="+mn-ea"/>
                  <a:cs typeface="Arial" panose="020B0604020202020204" pitchFamily="34" charset="0"/>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Comprehensive network</a:t>
              </a: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policy model</a:t>
              </a:r>
              <a:endParaRPr kumimoji="0" lang="en-US" sz="1000" b="0" i="0" u="none" strike="noStrike" kern="1200" cap="none" spc="0" normalizeH="0" baseline="0" noProof="0" dirty="0">
                <a:ln>
                  <a:noFill/>
                </a:ln>
                <a:solidFill>
                  <a:srgbClr val="0098C7"/>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1000"/>
                </a:spcBef>
                <a:spcAft>
                  <a:spcPts val="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3C3C3C"/>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7" name="Text Placeholder 15">
              <a:extLst>
                <a:ext uri="{FF2B5EF4-FFF2-40B4-BE49-F238E27FC236}">
                  <a16:creationId xmlns:a16="http://schemas.microsoft.com/office/drawing/2014/main" id="{130E153E-6F46-04EB-5881-1F389AC86F6E}"/>
                </a:ext>
              </a:extLst>
            </p:cNvPr>
            <p:cNvSpPr txBox="1">
              <a:spLocks/>
            </p:cNvSpPr>
            <p:nvPr/>
          </p:nvSpPr>
          <p:spPr>
            <a:xfrm>
              <a:off x="2767758" y="3128301"/>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3"/>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61A60E"/>
                  </a:solidFill>
                  <a:effectLst/>
                  <a:uLnTx/>
                  <a:uFillTx/>
                  <a:latin typeface="Arial"/>
                  <a:ea typeface="Arial"/>
                  <a:cs typeface="Arial"/>
                  <a:sym typeface="Arial"/>
                </a:rPr>
                <a:t>Simplified K8s Networking</a:t>
              </a:r>
              <a:endParaRPr kumimoji="0" lang="en-US" sz="1200" b="0" i="0" u="none" strike="noStrike" kern="1200" cap="none" spc="0" normalizeH="0" baseline="0" noProof="0" dirty="0">
                <a:ln>
                  <a:noFill/>
                </a:ln>
                <a:solidFill>
                  <a:srgbClr val="0098C7"/>
                </a:solidFill>
                <a:effectLst/>
                <a:uLnTx/>
                <a:uFillTx/>
                <a:latin typeface="Arial" panose="020B0604020202020204" pitchFamily="34" charset="0"/>
                <a:ea typeface="+mn-ea"/>
                <a:cs typeface="Arial" panose="020B0604020202020204" pitchFamily="34" charset="0"/>
              </a:endParaRPr>
            </a:p>
          </p:txBody>
        </p:sp>
        <p:sp>
          <p:nvSpPr>
            <p:cNvPr id="312" name="TextBox 311">
              <a:extLst>
                <a:ext uri="{FF2B5EF4-FFF2-40B4-BE49-F238E27FC236}">
                  <a16:creationId xmlns:a16="http://schemas.microsoft.com/office/drawing/2014/main" id="{6BCED895-286F-C2DF-4ADE-0F527AEB7A59}"/>
                </a:ext>
              </a:extLst>
            </p:cNvPr>
            <p:cNvSpPr txBox="1"/>
            <p:nvPr/>
          </p:nvSpPr>
          <p:spPr>
            <a:xfrm>
              <a:off x="2807785" y="5318647"/>
              <a:ext cx="196529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panose="020B0604020202020204"/>
                  <a:ea typeface="+mn-ea"/>
                  <a:cs typeface="+mn-cs"/>
                </a:rPr>
                <a:t>Integration</a:t>
              </a: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 with NSX offers a single pane of glass</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17" name="TextBox 316">
              <a:extLst>
                <a:ext uri="{FF2B5EF4-FFF2-40B4-BE49-F238E27FC236}">
                  <a16:creationId xmlns:a16="http://schemas.microsoft.com/office/drawing/2014/main" id="{845122C0-3FCD-69EC-9ED1-F4FDDD005EB6}"/>
                </a:ext>
              </a:extLst>
            </p:cNvPr>
            <p:cNvSpPr txBox="1"/>
            <p:nvPr/>
          </p:nvSpPr>
          <p:spPr>
            <a:xfrm>
              <a:off x="2807785" y="4728944"/>
              <a:ext cx="1965295"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K8s platform agnostic </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nvGrpSpPr>
          <p:cNvPr id="4" name="Group 3">
            <a:extLst>
              <a:ext uri="{FF2B5EF4-FFF2-40B4-BE49-F238E27FC236}">
                <a16:creationId xmlns:a16="http://schemas.microsoft.com/office/drawing/2014/main" id="{AE002EA6-447B-24C0-4CE6-2F88BB792F18}"/>
              </a:ext>
            </a:extLst>
          </p:cNvPr>
          <p:cNvGrpSpPr/>
          <p:nvPr/>
        </p:nvGrpSpPr>
        <p:grpSpPr>
          <a:xfrm>
            <a:off x="390496" y="2735181"/>
            <a:ext cx="2214479" cy="3894754"/>
            <a:chOff x="390496" y="2735181"/>
            <a:chExt cx="2214479" cy="3894754"/>
          </a:xfrm>
        </p:grpSpPr>
        <p:grpSp>
          <p:nvGrpSpPr>
            <p:cNvPr id="243" name="Group 242">
              <a:extLst>
                <a:ext uri="{FF2B5EF4-FFF2-40B4-BE49-F238E27FC236}">
                  <a16:creationId xmlns:a16="http://schemas.microsoft.com/office/drawing/2014/main" id="{96CD8B95-98D3-87C0-FEC7-4BC38F0BC700}"/>
                </a:ext>
              </a:extLst>
            </p:cNvPr>
            <p:cNvGrpSpPr/>
            <p:nvPr/>
          </p:nvGrpSpPr>
          <p:grpSpPr>
            <a:xfrm>
              <a:off x="390496" y="2735181"/>
              <a:ext cx="2214479" cy="3894754"/>
              <a:chOff x="390496" y="2735181"/>
              <a:chExt cx="2214479" cy="3894754"/>
            </a:xfrm>
          </p:grpSpPr>
          <p:sp>
            <p:nvSpPr>
              <p:cNvPr id="244" name="Google Shape;1703;g3345324a5da_0_5673">
                <a:extLst>
                  <a:ext uri="{FF2B5EF4-FFF2-40B4-BE49-F238E27FC236}">
                    <a16:creationId xmlns:a16="http://schemas.microsoft.com/office/drawing/2014/main" id="{20C042E3-54D8-DDE4-E609-4401C29FB652}"/>
                  </a:ext>
                </a:extLst>
              </p:cNvPr>
              <p:cNvSpPr/>
              <p:nvPr/>
            </p:nvSpPr>
            <p:spPr>
              <a:xfrm>
                <a:off x="390496" y="2735181"/>
                <a:ext cx="2214479" cy="3894754"/>
              </a:xfrm>
              <a:prstGeom prst="roundRect">
                <a:avLst>
                  <a:gd name="adj" fmla="val 6272"/>
                </a:avLst>
              </a:prstGeom>
              <a:gradFill>
                <a:gsLst>
                  <a:gs pos="0">
                    <a:srgbClr val="E8F0F4">
                      <a:alpha val="67144"/>
                    </a:srgbClr>
                  </a:gs>
                  <a:gs pos="100000">
                    <a:srgbClr val="E8F0F4">
                      <a:alpha val="159"/>
                    </a:srgbClr>
                  </a:gs>
                </a:gsLst>
                <a:lin ang="5400012" scaled="0"/>
              </a:gra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245" name="Google Shape;1707;g3345324a5da_0_5673">
                <a:extLst>
                  <a:ext uri="{FF2B5EF4-FFF2-40B4-BE49-F238E27FC236}">
                    <a16:creationId xmlns:a16="http://schemas.microsoft.com/office/drawing/2014/main" id="{F9FE46AB-E089-92A3-A1A6-14E3EED6D32E}"/>
                  </a:ext>
                </a:extLst>
              </p:cNvPr>
              <p:cNvPicPr preferRelativeResize="0"/>
              <p:nvPr/>
            </p:nvPicPr>
            <p:blipFill rotWithShape="1">
              <a:blip r:embed="rId3">
                <a:alphaModFix amt="20000"/>
              </a:blip>
              <a:srcRect l="1472" t="65195" r="2708" b="-31277"/>
              <a:stretch/>
            </p:blipFill>
            <p:spPr>
              <a:xfrm>
                <a:off x="455732" y="4010135"/>
                <a:ext cx="2092866" cy="407658"/>
              </a:xfrm>
              <a:prstGeom prst="rect">
                <a:avLst/>
              </a:prstGeom>
              <a:noFill/>
              <a:ln>
                <a:noFill/>
              </a:ln>
            </p:spPr>
          </p:pic>
          <p:pic>
            <p:nvPicPr>
              <p:cNvPr id="246" name="Google Shape;1707;g3345324a5da_0_5673">
                <a:extLst>
                  <a:ext uri="{FF2B5EF4-FFF2-40B4-BE49-F238E27FC236}">
                    <a16:creationId xmlns:a16="http://schemas.microsoft.com/office/drawing/2014/main" id="{591E00D2-A46D-5C42-CBFE-E620EE4B7B68}"/>
                  </a:ext>
                </a:extLst>
              </p:cNvPr>
              <p:cNvPicPr preferRelativeResize="0"/>
              <p:nvPr/>
            </p:nvPicPr>
            <p:blipFill rotWithShape="1">
              <a:blip r:embed="rId3">
                <a:alphaModFix amt="20000"/>
              </a:blip>
              <a:srcRect l="1472" t="65195" r="2708" b="-31277"/>
              <a:stretch/>
            </p:blipFill>
            <p:spPr>
              <a:xfrm>
                <a:off x="455732" y="4649031"/>
                <a:ext cx="2092866" cy="407658"/>
              </a:xfrm>
              <a:prstGeom prst="rect">
                <a:avLst/>
              </a:prstGeom>
              <a:noFill/>
              <a:ln>
                <a:noFill/>
              </a:ln>
            </p:spPr>
          </p:pic>
          <p:pic>
            <p:nvPicPr>
              <p:cNvPr id="247" name="Google Shape;1707;g3345324a5da_0_5673">
                <a:extLst>
                  <a:ext uri="{FF2B5EF4-FFF2-40B4-BE49-F238E27FC236}">
                    <a16:creationId xmlns:a16="http://schemas.microsoft.com/office/drawing/2014/main" id="{F20D8BB0-4508-1A75-5C37-E97462966122}"/>
                  </a:ext>
                </a:extLst>
              </p:cNvPr>
              <p:cNvPicPr preferRelativeResize="0"/>
              <p:nvPr/>
            </p:nvPicPr>
            <p:blipFill rotWithShape="1">
              <a:blip r:embed="rId3">
                <a:alphaModFix amt="20000"/>
              </a:blip>
              <a:srcRect l="1472" t="65195" r="2708" b="-31277"/>
              <a:stretch/>
            </p:blipFill>
            <p:spPr>
              <a:xfrm>
                <a:off x="455732" y="5251918"/>
                <a:ext cx="2092866" cy="407658"/>
              </a:xfrm>
              <a:prstGeom prst="rect">
                <a:avLst/>
              </a:prstGeom>
              <a:noFill/>
              <a:ln>
                <a:noFill/>
              </a:ln>
            </p:spPr>
          </p:pic>
        </p:grpSp>
        <p:sp>
          <p:nvSpPr>
            <p:cNvPr id="249" name="Text Placeholder 31">
              <a:extLst>
                <a:ext uri="{FF2B5EF4-FFF2-40B4-BE49-F238E27FC236}">
                  <a16:creationId xmlns:a16="http://schemas.microsoft.com/office/drawing/2014/main" id="{D3EF3F05-4006-FCB8-2E67-E2A608398B25}"/>
                </a:ext>
              </a:extLst>
            </p:cNvPr>
            <p:cNvSpPr txBox="1">
              <a:spLocks/>
            </p:cNvSpPr>
            <p:nvPr/>
          </p:nvSpPr>
          <p:spPr>
            <a:xfrm>
              <a:off x="565547" y="4164859"/>
              <a:ext cx="1864376" cy="378676"/>
            </a:xfrm>
            <a:prstGeom prst="rect">
              <a:avLst/>
            </a:prstGeom>
          </p:spPr>
          <p:txBody>
            <a:bodyPr vert="horz" lIns="0" tIns="0" rIns="0" bIns="0" rtlCol="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2000" b="0" i="0" kern="1200">
                  <a:solidFill>
                    <a:schemeClr val="accent4"/>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600" b="0" i="0" kern="1200">
                  <a:solidFill>
                    <a:schemeClr val="tx1"/>
                  </a:solidFill>
                  <a:latin typeface="Arial" panose="020B0604020202020204" pitchFamily="34" charset="0"/>
                  <a:ea typeface="+mn-ea"/>
                  <a:cs typeface="Arial" panose="020B0604020202020204" pitchFamily="34" charset="0"/>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Self-service networks </a:t>
              </a:r>
              <a:b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b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with Virtual Private Cloud</a:t>
              </a:r>
              <a:endParaRPr kumimoji="0" lang="en-US" sz="1000" b="0" i="0" u="none" strike="noStrike" kern="1200" cap="none" spc="0" normalizeH="0" baseline="0" noProof="0" dirty="0">
                <a:ln>
                  <a:noFill/>
                </a:ln>
                <a:solidFill>
                  <a:srgbClr val="61A60E"/>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None/>
                <a:tabLst/>
                <a:defRPr/>
              </a:pPr>
              <a:endParaRPr kumimoji="0" lang="en-US"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6" name="Text Placeholder 13">
              <a:extLst>
                <a:ext uri="{FF2B5EF4-FFF2-40B4-BE49-F238E27FC236}">
                  <a16:creationId xmlns:a16="http://schemas.microsoft.com/office/drawing/2014/main" id="{3FA24F92-91DB-A272-711A-062A2BC22CE9}"/>
                </a:ext>
              </a:extLst>
            </p:cNvPr>
            <p:cNvSpPr txBox="1">
              <a:spLocks/>
            </p:cNvSpPr>
            <p:nvPr/>
          </p:nvSpPr>
          <p:spPr>
            <a:xfrm>
              <a:off x="475061" y="3128301"/>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4"/>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98C7"/>
                  </a:solidFill>
                  <a:effectLst/>
                  <a:uLnTx/>
                  <a:uFillTx/>
                  <a:latin typeface="Arial"/>
                  <a:ea typeface="Arial"/>
                  <a:cs typeface="Arial"/>
                  <a:sym typeface="Arial"/>
                </a:rPr>
                <a:t>Integrated</a:t>
              </a:r>
              <a:endParaRPr kumimoji="0" lang="en-US" sz="1200" b="0" i="0" u="none" strike="noStrike" kern="1200" cap="none" spc="0" normalizeH="0" baseline="0" noProof="0" dirty="0">
                <a:ln>
                  <a:noFill/>
                </a:ln>
                <a:solidFill>
                  <a:srgbClr val="61A60E"/>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98C7"/>
                  </a:solidFill>
                  <a:effectLst/>
                  <a:uLnTx/>
                  <a:uFillTx/>
                  <a:latin typeface="Arial"/>
                  <a:ea typeface="Arial"/>
                  <a:cs typeface="Arial"/>
                  <a:sym typeface="Arial"/>
                </a:rPr>
                <a:t>SDN</a:t>
              </a:r>
              <a:endParaRPr kumimoji="0" lang="en-US" sz="1200" b="0" i="0" u="none" strike="noStrike" kern="1200" cap="none" spc="0" normalizeH="0" baseline="0" noProof="0" dirty="0">
                <a:ln>
                  <a:noFill/>
                </a:ln>
                <a:solidFill>
                  <a:srgbClr val="61A60E"/>
                </a:solidFill>
                <a:effectLst/>
                <a:uLnTx/>
                <a:uFillTx/>
                <a:latin typeface="Arial" panose="020B0604020202020204" pitchFamily="34" charset="0"/>
                <a:ea typeface="+mn-ea"/>
                <a:cs typeface="Arial" panose="020B0604020202020204" pitchFamily="34" charset="0"/>
              </a:endParaRPr>
            </a:p>
          </p:txBody>
        </p:sp>
        <p:sp>
          <p:nvSpPr>
            <p:cNvPr id="316" name="TextBox 315">
              <a:extLst>
                <a:ext uri="{FF2B5EF4-FFF2-40B4-BE49-F238E27FC236}">
                  <a16:creationId xmlns:a16="http://schemas.microsoft.com/office/drawing/2014/main" id="{62C00C58-AB82-8975-81E3-FF5A035F9836}"/>
                </a:ext>
              </a:extLst>
            </p:cNvPr>
            <p:cNvSpPr txBox="1"/>
            <p:nvPr/>
          </p:nvSpPr>
          <p:spPr>
            <a:xfrm>
              <a:off x="515088" y="5318647"/>
              <a:ext cx="1965295"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Consistent networking policies across sites</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21" name="TextBox 320">
              <a:extLst>
                <a:ext uri="{FF2B5EF4-FFF2-40B4-BE49-F238E27FC236}">
                  <a16:creationId xmlns:a16="http://schemas.microsoft.com/office/drawing/2014/main" id="{BC675C99-4AF5-328E-4EEC-EF22F3FE38EE}"/>
                </a:ext>
              </a:extLst>
            </p:cNvPr>
            <p:cNvSpPr txBox="1"/>
            <p:nvPr/>
          </p:nvSpPr>
          <p:spPr>
            <a:xfrm>
              <a:off x="515088" y="4728944"/>
              <a:ext cx="1965295"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3C3C3C"/>
                  </a:solidFill>
                  <a:effectLst/>
                  <a:uLnTx/>
                  <a:uFillTx/>
                  <a:latin typeface="Arial"/>
                  <a:ea typeface="Arial"/>
                  <a:cs typeface="Arial"/>
                  <a:sym typeface="Arial"/>
                </a:rPr>
                <a:t>Virtual distributed switching &amp; routing</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sp>
        <p:nvSpPr>
          <p:cNvPr id="2" name="Title 1">
            <a:extLst>
              <a:ext uri="{FF2B5EF4-FFF2-40B4-BE49-F238E27FC236}">
                <a16:creationId xmlns:a16="http://schemas.microsoft.com/office/drawing/2014/main" id="{072F8079-D652-82C9-C044-C7B1EB341F08}"/>
              </a:ext>
            </a:extLst>
          </p:cNvPr>
          <p:cNvSpPr>
            <a:spLocks noGrp="1"/>
          </p:cNvSpPr>
          <p:nvPr>
            <p:ph type="title"/>
          </p:nvPr>
        </p:nvSpPr>
        <p:spPr>
          <a:xfrm>
            <a:off x="579809" y="412751"/>
            <a:ext cx="11001004" cy="381000"/>
          </a:xfrm>
        </p:spPr>
        <p:txBody>
          <a:bodyPr/>
          <a:lstStyle/>
          <a:p>
            <a:r>
              <a:rPr lang="en-US" dirty="0"/>
              <a:t>Network Virtualization is Required to Deliver a Modern Private Cloud</a:t>
            </a:r>
          </a:p>
        </p:txBody>
      </p:sp>
      <p:sp>
        <p:nvSpPr>
          <p:cNvPr id="248" name="Google Shape;2591;p19">
            <a:extLst>
              <a:ext uri="{FF2B5EF4-FFF2-40B4-BE49-F238E27FC236}">
                <a16:creationId xmlns:a16="http://schemas.microsoft.com/office/drawing/2014/main" id="{73A134BD-D6FB-3BD0-58AB-A3DA6DE7E2B6}"/>
              </a:ext>
            </a:extLst>
          </p:cNvPr>
          <p:cNvSpPr/>
          <p:nvPr/>
        </p:nvSpPr>
        <p:spPr>
          <a:xfrm>
            <a:off x="1005934" y="2194193"/>
            <a:ext cx="983602" cy="985802"/>
          </a:xfrm>
          <a:prstGeom prst="ellipse">
            <a:avLst/>
          </a:prstGeom>
          <a:solidFill>
            <a:schemeClr val="accent3"/>
          </a:solidFill>
          <a:ln w="25400" cap="flat" cmpd="sng">
            <a:solidFill>
              <a:schemeClr val="accent3"/>
            </a:solidFill>
            <a:prstDash val="solid"/>
            <a:round/>
            <a:headEnd type="none" w="sm" len="sm"/>
            <a:tailEnd type="none" w="sm" len="sm"/>
          </a:ln>
          <a:effectLst>
            <a:outerShdw sx="120000" sy="120000" algn="ctr" rotWithShape="0">
              <a:schemeClr val="bg1"/>
            </a:outerShdw>
          </a:effectLst>
        </p:spPr>
        <p:txBody>
          <a:bodyPr spcFirstLastPara="1" wrap="square" lIns="82200" tIns="41075" rIns="82200" bIns="410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54" name="Text Placeholder 13">
            <a:extLst>
              <a:ext uri="{FF2B5EF4-FFF2-40B4-BE49-F238E27FC236}">
                <a16:creationId xmlns:a16="http://schemas.microsoft.com/office/drawing/2014/main" id="{7CB23F62-42D0-B17B-8104-9ECE9DB8562B}"/>
              </a:ext>
            </a:extLst>
          </p:cNvPr>
          <p:cNvSpPr txBox="1">
            <a:spLocks/>
          </p:cNvSpPr>
          <p:nvPr/>
        </p:nvSpPr>
        <p:spPr>
          <a:xfrm>
            <a:off x="475061" y="1019973"/>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4"/>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98C7"/>
                </a:solidFill>
                <a:effectLst/>
                <a:uLnTx/>
                <a:uFillTx/>
                <a:latin typeface="Arial"/>
                <a:ea typeface="Arial"/>
                <a:cs typeface="Arial"/>
                <a:sym typeface="Arial"/>
              </a:rPr>
              <a:t>Network </a:t>
            </a:r>
            <a:br>
              <a:rPr kumimoji="0" lang="en-US" sz="1600" b="0" i="0" u="none" strike="noStrike" kern="1200" cap="none" spc="0" normalizeH="0" baseline="0" noProof="0" dirty="0">
                <a:ln>
                  <a:noFill/>
                </a:ln>
                <a:solidFill>
                  <a:srgbClr val="0098C7"/>
                </a:solidFill>
                <a:effectLst/>
                <a:uLnTx/>
                <a:uFillTx/>
                <a:latin typeface="Arial"/>
                <a:ea typeface="Arial"/>
                <a:cs typeface="Arial"/>
                <a:sym typeface="Arial"/>
              </a:rPr>
            </a:br>
            <a:r>
              <a:rPr kumimoji="0" lang="en-US" sz="1600" b="0" i="0" u="none" strike="noStrike" kern="1200" cap="none" spc="0" normalizeH="0" baseline="0" noProof="0" dirty="0">
                <a:ln>
                  <a:noFill/>
                </a:ln>
                <a:solidFill>
                  <a:srgbClr val="0098C7"/>
                </a:solidFill>
                <a:effectLst/>
                <a:uLnTx/>
                <a:uFillTx/>
                <a:latin typeface="Arial"/>
                <a:ea typeface="Arial"/>
                <a:cs typeface="Arial"/>
                <a:sym typeface="Arial"/>
              </a:rPr>
              <a:t>Virtualization</a:t>
            </a:r>
            <a:endParaRPr kumimoji="0" lang="en-US" sz="1200" b="0" i="0" u="none" strike="noStrike" kern="1200" cap="none" spc="0" normalizeH="0" baseline="0" noProof="0" dirty="0">
              <a:ln>
                <a:noFill/>
              </a:ln>
              <a:solidFill>
                <a:srgbClr val="61A60E"/>
              </a:solidFill>
              <a:effectLst/>
              <a:uLnTx/>
              <a:uFillTx/>
              <a:latin typeface="Arial" panose="020B0604020202020204" pitchFamily="34" charset="0"/>
              <a:ea typeface="+mn-ea"/>
              <a:cs typeface="Arial" panose="020B0604020202020204" pitchFamily="34" charset="0"/>
            </a:endParaRPr>
          </a:p>
        </p:txBody>
      </p:sp>
      <p:sp>
        <p:nvSpPr>
          <p:cNvPr id="255" name="Text Placeholder 15">
            <a:extLst>
              <a:ext uri="{FF2B5EF4-FFF2-40B4-BE49-F238E27FC236}">
                <a16:creationId xmlns:a16="http://schemas.microsoft.com/office/drawing/2014/main" id="{04255C10-CF8C-9F2F-300C-2484772EDB13}"/>
              </a:ext>
            </a:extLst>
          </p:cNvPr>
          <p:cNvSpPr txBox="1">
            <a:spLocks/>
          </p:cNvSpPr>
          <p:nvPr/>
        </p:nvSpPr>
        <p:spPr>
          <a:xfrm>
            <a:off x="2767758" y="1019973"/>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3"/>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61A60E"/>
                </a:solidFill>
                <a:effectLst/>
                <a:uLnTx/>
                <a:uFillTx/>
                <a:latin typeface="Arial"/>
                <a:ea typeface="Arial"/>
                <a:cs typeface="Arial"/>
                <a:sym typeface="Arial"/>
              </a:rPr>
              <a:t>Modern Apps </a:t>
            </a:r>
            <a:br>
              <a:rPr kumimoji="0" lang="en-US" sz="1600" b="0" i="0" u="none" strike="noStrike" kern="1200" cap="none" spc="0" normalizeH="0" baseline="0" noProof="0" dirty="0">
                <a:ln>
                  <a:noFill/>
                </a:ln>
                <a:solidFill>
                  <a:srgbClr val="61A60E"/>
                </a:solidFill>
                <a:effectLst/>
                <a:uLnTx/>
                <a:uFillTx/>
                <a:latin typeface="Arial"/>
                <a:ea typeface="Arial"/>
                <a:cs typeface="Arial"/>
                <a:sym typeface="Arial"/>
              </a:rPr>
            </a:br>
            <a:r>
              <a:rPr kumimoji="0" lang="en-US" sz="1600" b="0" i="0" u="none" strike="noStrike" kern="1200" cap="none" spc="0" normalizeH="0" baseline="0" noProof="0" dirty="0">
                <a:ln>
                  <a:noFill/>
                </a:ln>
                <a:solidFill>
                  <a:srgbClr val="61A60E"/>
                </a:solidFill>
                <a:effectLst/>
                <a:uLnTx/>
                <a:uFillTx/>
                <a:latin typeface="Arial"/>
                <a:ea typeface="Arial"/>
                <a:cs typeface="Arial"/>
                <a:sym typeface="Arial"/>
              </a:rPr>
              <a:t>Networking </a:t>
            </a:r>
            <a:endParaRPr kumimoji="0" lang="en-US" sz="1200" b="0" i="0" u="none" strike="noStrike" kern="1200" cap="none" spc="0" normalizeH="0" baseline="0" noProof="0" dirty="0">
              <a:ln>
                <a:noFill/>
              </a:ln>
              <a:solidFill>
                <a:srgbClr val="0098C7"/>
              </a:solidFill>
              <a:effectLst/>
              <a:uLnTx/>
              <a:uFillTx/>
              <a:latin typeface="Arial" panose="020B0604020202020204" pitchFamily="34" charset="0"/>
              <a:ea typeface="+mn-ea"/>
              <a:cs typeface="Arial" panose="020B0604020202020204" pitchFamily="34" charset="0"/>
            </a:endParaRPr>
          </a:p>
        </p:txBody>
      </p:sp>
      <p:sp>
        <p:nvSpPr>
          <p:cNvPr id="256" name="Text Placeholder 17">
            <a:extLst>
              <a:ext uri="{FF2B5EF4-FFF2-40B4-BE49-F238E27FC236}">
                <a16:creationId xmlns:a16="http://schemas.microsoft.com/office/drawing/2014/main" id="{E18166D0-68D8-DAD7-B962-128878CEBBFB}"/>
              </a:ext>
            </a:extLst>
          </p:cNvPr>
          <p:cNvSpPr txBox="1">
            <a:spLocks/>
          </p:cNvSpPr>
          <p:nvPr/>
        </p:nvSpPr>
        <p:spPr>
          <a:xfrm>
            <a:off x="5061622" y="1019973"/>
            <a:ext cx="2043023"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2"/>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7B8C"/>
                </a:solidFill>
                <a:effectLst/>
                <a:uLnTx/>
                <a:uFillTx/>
                <a:latin typeface="Arial"/>
                <a:ea typeface="Arial"/>
                <a:cs typeface="Arial"/>
                <a:sym typeface="Arial"/>
              </a:rPr>
              <a:t>Network Visibility </a:t>
            </a:r>
            <a:br>
              <a:rPr kumimoji="0" lang="en-US" sz="1600" b="0" i="0" u="none" strike="noStrike" kern="1200" cap="none" spc="0" normalizeH="0" baseline="0" noProof="0" dirty="0">
                <a:ln>
                  <a:noFill/>
                </a:ln>
                <a:solidFill>
                  <a:srgbClr val="007B8C"/>
                </a:solidFill>
                <a:effectLst/>
                <a:uLnTx/>
                <a:uFillTx/>
                <a:latin typeface="Arial"/>
                <a:ea typeface="Arial"/>
                <a:cs typeface="Arial"/>
                <a:sym typeface="Arial"/>
              </a:rPr>
            </a:br>
            <a:r>
              <a:rPr kumimoji="0" lang="en-US" sz="1600" b="0" i="0" u="none" strike="noStrike" kern="1200" cap="none" spc="0" normalizeH="0" baseline="0" noProof="0" dirty="0">
                <a:ln>
                  <a:noFill/>
                </a:ln>
                <a:solidFill>
                  <a:srgbClr val="007B8C"/>
                </a:solidFill>
                <a:effectLst/>
                <a:uLnTx/>
                <a:uFillTx/>
                <a:latin typeface="Arial"/>
                <a:ea typeface="Arial"/>
                <a:cs typeface="Arial"/>
                <a:sym typeface="Arial"/>
              </a:rPr>
              <a:t>and Troubleshooting</a:t>
            </a:r>
            <a:endParaRPr kumimoji="0" lang="en-US" sz="1200" b="0" i="0" u="none" strike="noStrike" kern="1200" cap="none" spc="0" normalizeH="0" baseline="0" noProof="0" dirty="0">
              <a:ln>
                <a:noFill/>
              </a:ln>
              <a:solidFill>
                <a:srgbClr val="005C8A"/>
              </a:solidFill>
              <a:effectLst/>
              <a:uLnTx/>
              <a:uFillTx/>
              <a:latin typeface="Arial" panose="020B0604020202020204" pitchFamily="34" charset="0"/>
              <a:ea typeface="+mn-ea"/>
              <a:cs typeface="Arial" panose="020B0604020202020204" pitchFamily="34" charset="0"/>
            </a:endParaRPr>
          </a:p>
        </p:txBody>
      </p:sp>
      <p:sp>
        <p:nvSpPr>
          <p:cNvPr id="257" name="Text Placeholder 21">
            <a:extLst>
              <a:ext uri="{FF2B5EF4-FFF2-40B4-BE49-F238E27FC236}">
                <a16:creationId xmlns:a16="http://schemas.microsoft.com/office/drawing/2014/main" id="{98985B20-7AC7-430F-FE3F-2B9DE71A1CD1}"/>
              </a:ext>
            </a:extLst>
          </p:cNvPr>
          <p:cNvSpPr txBox="1">
            <a:spLocks/>
          </p:cNvSpPr>
          <p:nvPr/>
        </p:nvSpPr>
        <p:spPr>
          <a:xfrm>
            <a:off x="7343114" y="1019973"/>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accent5"/>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5C8A"/>
                </a:solidFill>
                <a:effectLst/>
                <a:uLnTx/>
                <a:uFillTx/>
                <a:latin typeface="Arial"/>
                <a:ea typeface="Arial"/>
                <a:cs typeface="Arial"/>
                <a:sym typeface="Arial"/>
              </a:rPr>
              <a:t>Workload </a:t>
            </a:r>
            <a:endParaRPr kumimoji="0" lang="en-US" sz="1200" b="0" i="0" u="none" strike="noStrike" kern="1200" cap="none" spc="0" normalizeH="0" baseline="0" noProof="0" dirty="0">
              <a:ln>
                <a:noFill/>
              </a:ln>
              <a:solidFill>
                <a:srgbClr val="6C4B94"/>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005C8A"/>
                </a:solidFill>
                <a:effectLst/>
                <a:uLnTx/>
                <a:uFillTx/>
                <a:latin typeface="Arial"/>
                <a:ea typeface="Arial"/>
                <a:cs typeface="Arial"/>
                <a:sym typeface="Arial"/>
              </a:rPr>
              <a:t>Mobility</a:t>
            </a:r>
            <a:endParaRPr kumimoji="0" lang="en-US" sz="1200" b="0" i="0" u="none" strike="noStrike" kern="1200" cap="none" spc="0" normalizeH="0" baseline="0" noProof="0" dirty="0">
              <a:ln>
                <a:noFill/>
              </a:ln>
              <a:solidFill>
                <a:srgbClr val="6C4B94"/>
              </a:solidFill>
              <a:effectLst/>
              <a:uLnTx/>
              <a:uFillTx/>
              <a:latin typeface="Arial" panose="020B0604020202020204" pitchFamily="34" charset="0"/>
              <a:ea typeface="+mn-ea"/>
              <a:cs typeface="Arial" panose="020B0604020202020204" pitchFamily="34" charset="0"/>
            </a:endParaRPr>
          </a:p>
        </p:txBody>
      </p:sp>
      <p:sp>
        <p:nvSpPr>
          <p:cNvPr id="258" name="Text Placeholder 19">
            <a:extLst>
              <a:ext uri="{FF2B5EF4-FFF2-40B4-BE49-F238E27FC236}">
                <a16:creationId xmlns:a16="http://schemas.microsoft.com/office/drawing/2014/main" id="{EE1C393E-D422-42BB-06F2-009E7014454D}"/>
              </a:ext>
            </a:extLst>
          </p:cNvPr>
          <p:cNvSpPr txBox="1">
            <a:spLocks/>
          </p:cNvSpPr>
          <p:nvPr/>
        </p:nvSpPr>
        <p:spPr>
          <a:xfrm>
            <a:off x="9625767" y="1019973"/>
            <a:ext cx="2045348" cy="1100138"/>
          </a:xfrm>
          <a:prstGeom prst="rect">
            <a:avLst/>
          </a:prstGeom>
        </p:spPr>
        <p:txBody>
          <a:bodyPr vert="horz" lIns="0" tIns="0" rIns="0" bIns="0" rtlCol="0" anchor="ctr" anchorCtr="0">
            <a:noAutofit/>
          </a:bodyPr>
          <a:lstStyle>
            <a:lvl1pPr marL="0" indent="0" algn="ctr" defTabSz="914400" rtl="0" eaLnBrk="1" latinLnBrk="0" hangingPunct="1">
              <a:lnSpc>
                <a:spcPct val="100000"/>
              </a:lnSpc>
              <a:spcBef>
                <a:spcPts val="600"/>
              </a:spcBef>
              <a:spcAft>
                <a:spcPts val="1200"/>
              </a:spcAft>
              <a:buClr>
                <a:schemeClr val="tx1">
                  <a:lumMod val="60000"/>
                  <a:lumOff val="40000"/>
                </a:schemeClr>
              </a:buClr>
              <a:buSzPct val="90000"/>
              <a:buFont typeface="Arial" panose="020B0604020202020204" pitchFamily="34" charset="0"/>
              <a:buChar char="​"/>
              <a:defRPr sz="1800" b="0" i="0" kern="1200">
                <a:solidFill>
                  <a:schemeClr val="bg2">
                    <a:lumMod val="25000"/>
                  </a:schemeClr>
                </a:solidFill>
                <a:latin typeface="Arial" panose="020B0604020202020204" pitchFamily="34" charset="0"/>
                <a:ea typeface="+mn-ea"/>
                <a:cs typeface="Arial" panose="020B0604020202020204" pitchFamily="34" charset="0"/>
              </a:defRPr>
            </a:lvl1pPr>
            <a:lvl2pPr marL="0" indent="0" algn="ctr" defTabSz="914400" rtl="0" eaLnBrk="1" latinLnBrk="0" hangingPunct="1">
              <a:lnSpc>
                <a:spcPct val="100000"/>
              </a:lnSpc>
              <a:spcBef>
                <a:spcPts val="600"/>
              </a:spcBef>
              <a:spcAft>
                <a:spcPts val="1200"/>
              </a:spcAft>
              <a:buClr>
                <a:schemeClr val="bg2">
                  <a:lumMod val="25000"/>
                </a:schemeClr>
              </a:buClr>
              <a:buSzPct val="90000"/>
              <a:buFont typeface="Open Sans" panose="020B0606030504020204" pitchFamily="34" charset="0"/>
              <a:buChar char="​"/>
              <a:defRPr sz="1800" b="0" i="0" kern="1200">
                <a:solidFill>
                  <a:schemeClr val="tx1"/>
                </a:solidFill>
                <a:latin typeface="Arial" panose="020B0604020202020204" pitchFamily="34" charset="0"/>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b="0" i="0" kern="1200">
                <a:solidFill>
                  <a:schemeClr val="tx1"/>
                </a:solidFill>
                <a:latin typeface="Arial" panose="020B0604020202020204" pitchFamily="34" charset="0"/>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b="0" i="0" kern="1200">
                <a:solidFill>
                  <a:schemeClr val="tx1"/>
                </a:solidFill>
                <a:latin typeface="Arial" panose="020B0604020202020204" pitchFamily="34" charset="0"/>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b="0" i="0" kern="1200">
                <a:solidFill>
                  <a:schemeClr val="tx1"/>
                </a:solidFill>
                <a:latin typeface="Arial" panose="020B0604020202020204" pitchFamily="34" charset="0"/>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6C4B94"/>
                </a:solidFill>
                <a:effectLst/>
                <a:uLnTx/>
                <a:uFillTx/>
                <a:latin typeface="Arial"/>
                <a:ea typeface="Arial"/>
                <a:cs typeface="Arial"/>
                <a:sym typeface="Arial"/>
              </a:rPr>
              <a:t>Lateral</a:t>
            </a:r>
            <a:endParaRPr kumimoji="0" lang="en-US" sz="1200" b="0" i="0" u="none" strike="noStrike" kern="1200" cap="none" spc="0" normalizeH="0" baseline="0" noProof="0" dirty="0">
              <a:ln>
                <a:noFill/>
              </a:ln>
              <a:solidFill>
                <a:srgbClr val="EEEEEE">
                  <a:lumMod val="25000"/>
                </a:srgbClr>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
                <a:srgbClr val="000000">
                  <a:lumMod val="60000"/>
                  <a:lumOff val="40000"/>
                </a:srgbClr>
              </a:buClr>
              <a:buSzPct val="90000"/>
              <a:buFont typeface="Arial" panose="020B0604020202020204" pitchFamily="34" charset="0"/>
              <a:buNone/>
              <a:tabLst/>
              <a:defRPr/>
            </a:pPr>
            <a:r>
              <a:rPr kumimoji="0" lang="en-US" sz="1600" b="0" i="0" u="none" strike="noStrike" kern="1200" cap="none" spc="0" normalizeH="0" baseline="0" noProof="0" dirty="0">
                <a:ln>
                  <a:noFill/>
                </a:ln>
                <a:solidFill>
                  <a:srgbClr val="6C4B94"/>
                </a:solidFill>
                <a:effectLst/>
                <a:uLnTx/>
                <a:uFillTx/>
                <a:latin typeface="Arial"/>
                <a:ea typeface="Arial"/>
                <a:cs typeface="Arial"/>
                <a:sym typeface="Arial"/>
              </a:rPr>
              <a:t>Security*</a:t>
            </a:r>
            <a:endParaRPr kumimoji="0" lang="en-US" sz="1200" b="0" i="0" u="none" strike="noStrike" kern="1200" cap="none" spc="0" normalizeH="0" baseline="0" noProof="0" dirty="0">
              <a:ln>
                <a:noFill/>
              </a:ln>
              <a:solidFill>
                <a:srgbClr val="EEEEEE">
                  <a:lumMod val="25000"/>
                </a:srgbClr>
              </a:solidFill>
              <a:effectLst/>
              <a:uLnTx/>
              <a:uFillTx/>
              <a:latin typeface="Arial" panose="020B0604020202020204" pitchFamily="34" charset="0"/>
              <a:ea typeface="+mn-ea"/>
              <a:cs typeface="Arial" panose="020B0604020202020204" pitchFamily="34" charset="0"/>
            </a:endParaRPr>
          </a:p>
        </p:txBody>
      </p:sp>
      <p:grpSp>
        <p:nvGrpSpPr>
          <p:cNvPr id="259" name="Google Shape;2590;p19">
            <a:extLst>
              <a:ext uri="{FF2B5EF4-FFF2-40B4-BE49-F238E27FC236}">
                <a16:creationId xmlns:a16="http://schemas.microsoft.com/office/drawing/2014/main" id="{7939429D-8C63-2FDF-60B7-3C539906558B}"/>
              </a:ext>
            </a:extLst>
          </p:cNvPr>
          <p:cNvGrpSpPr/>
          <p:nvPr/>
        </p:nvGrpSpPr>
        <p:grpSpPr>
          <a:xfrm>
            <a:off x="1005934" y="2194193"/>
            <a:ext cx="983602" cy="985802"/>
            <a:chOff x="964956" y="1631191"/>
            <a:chExt cx="983602" cy="985802"/>
          </a:xfrm>
        </p:grpSpPr>
        <p:sp>
          <p:nvSpPr>
            <p:cNvPr id="260" name="Google Shape;2591;p19">
              <a:extLst>
                <a:ext uri="{FF2B5EF4-FFF2-40B4-BE49-F238E27FC236}">
                  <a16:creationId xmlns:a16="http://schemas.microsoft.com/office/drawing/2014/main" id="{C273794B-7F47-07CB-9D01-57A83A04DC17}"/>
                </a:ext>
              </a:extLst>
            </p:cNvPr>
            <p:cNvSpPr/>
            <p:nvPr/>
          </p:nvSpPr>
          <p:spPr>
            <a:xfrm>
              <a:off x="964956" y="1631191"/>
              <a:ext cx="983602" cy="985802"/>
            </a:xfrm>
            <a:prstGeom prst="ellipse">
              <a:avLst/>
            </a:prstGeom>
            <a:solidFill>
              <a:schemeClr val="accent3"/>
            </a:solidFill>
            <a:ln w="25400" cap="flat" cmpd="sng">
              <a:solidFill>
                <a:schemeClr val="accent3"/>
              </a:solidFill>
              <a:prstDash val="solid"/>
              <a:round/>
              <a:headEnd type="none" w="sm" len="sm"/>
              <a:tailEnd type="none" w="sm" len="sm"/>
            </a:ln>
            <a:effectLst>
              <a:outerShdw sx="120000" sy="120000" algn="ctr" rotWithShape="0">
                <a:schemeClr val="accent3">
                  <a:alpha val="23921"/>
                </a:schemeClr>
              </a:outerShdw>
            </a:effectLst>
          </p:spPr>
          <p:txBody>
            <a:bodyPr spcFirstLastPara="1" wrap="square" lIns="82200" tIns="41075" rIns="82200" bIns="410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261" name="Google Shape;2592;p19">
              <a:extLst>
                <a:ext uri="{FF2B5EF4-FFF2-40B4-BE49-F238E27FC236}">
                  <a16:creationId xmlns:a16="http://schemas.microsoft.com/office/drawing/2014/main" id="{46F127ED-CB4E-B727-CFEB-B6CFE3BE06AB}"/>
                </a:ext>
              </a:extLst>
            </p:cNvPr>
            <p:cNvGrpSpPr/>
            <p:nvPr/>
          </p:nvGrpSpPr>
          <p:grpSpPr>
            <a:xfrm>
              <a:off x="1174622" y="1841368"/>
              <a:ext cx="564271" cy="565448"/>
              <a:chOff x="7933486" y="3950685"/>
              <a:chExt cx="512974" cy="514044"/>
            </a:xfrm>
          </p:grpSpPr>
          <p:sp>
            <p:nvSpPr>
              <p:cNvPr id="262" name="Google Shape;2593;p19">
                <a:extLst>
                  <a:ext uri="{FF2B5EF4-FFF2-40B4-BE49-F238E27FC236}">
                    <a16:creationId xmlns:a16="http://schemas.microsoft.com/office/drawing/2014/main" id="{155AD740-2634-A7C6-9D46-9635307ED308}"/>
                  </a:ext>
                </a:extLst>
              </p:cNvPr>
              <p:cNvSpPr/>
              <p:nvPr/>
            </p:nvSpPr>
            <p:spPr>
              <a:xfrm>
                <a:off x="7933486" y="3950685"/>
                <a:ext cx="512974" cy="514044"/>
              </a:xfrm>
              <a:custGeom>
                <a:avLst/>
                <a:gdLst/>
                <a:ahLst/>
                <a:cxnLst/>
                <a:rect l="l" t="t" r="r" b="b"/>
                <a:pathLst>
                  <a:path w="600837" h="602089" extrusionOk="0">
                    <a:moveTo>
                      <a:pt x="300419" y="15844"/>
                    </a:moveTo>
                    <a:cubicBezTo>
                      <a:pt x="457603" y="15844"/>
                      <a:pt x="585026" y="143533"/>
                      <a:pt x="585026" y="301045"/>
                    </a:cubicBezTo>
                    <a:cubicBezTo>
                      <a:pt x="585026" y="458556"/>
                      <a:pt x="457603" y="586245"/>
                      <a:pt x="300419" y="586245"/>
                    </a:cubicBezTo>
                    <a:cubicBezTo>
                      <a:pt x="143234" y="586245"/>
                      <a:pt x="15812" y="458556"/>
                      <a:pt x="15812" y="301045"/>
                    </a:cubicBezTo>
                    <a:cubicBezTo>
                      <a:pt x="15986" y="143605"/>
                      <a:pt x="143307" y="16019"/>
                      <a:pt x="300419" y="15844"/>
                    </a:cubicBezTo>
                    <a:moveTo>
                      <a:pt x="300419" y="0"/>
                    </a:moveTo>
                    <a:cubicBezTo>
                      <a:pt x="134502" y="0"/>
                      <a:pt x="0" y="134782"/>
                      <a:pt x="0" y="301045"/>
                    </a:cubicBezTo>
                    <a:cubicBezTo>
                      <a:pt x="0" y="467307"/>
                      <a:pt x="134502" y="602089"/>
                      <a:pt x="300419" y="602089"/>
                    </a:cubicBezTo>
                    <a:cubicBezTo>
                      <a:pt x="466335" y="602089"/>
                      <a:pt x="600837" y="467307"/>
                      <a:pt x="600837" y="301045"/>
                    </a:cubicBezTo>
                    <a:cubicBezTo>
                      <a:pt x="600837" y="134782"/>
                      <a:pt x="466335" y="0"/>
                      <a:pt x="300419"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3" name="Google Shape;2594;p19">
                <a:extLst>
                  <a:ext uri="{FF2B5EF4-FFF2-40B4-BE49-F238E27FC236}">
                    <a16:creationId xmlns:a16="http://schemas.microsoft.com/office/drawing/2014/main" id="{DC2CA480-C784-3C06-8260-568FAB7B86BB}"/>
                  </a:ext>
                </a:extLst>
              </p:cNvPr>
              <p:cNvSpPr/>
              <p:nvPr/>
            </p:nvSpPr>
            <p:spPr>
              <a:xfrm>
                <a:off x="8323616" y="4170371"/>
                <a:ext cx="80996" cy="81164"/>
              </a:xfrm>
              <a:custGeom>
                <a:avLst/>
                <a:gdLst/>
                <a:ahLst/>
                <a:cxnLst/>
                <a:rect l="l" t="t" r="r" b="b"/>
                <a:pathLst>
                  <a:path w="94869" h="95066" extrusionOk="0">
                    <a:moveTo>
                      <a:pt x="94869" y="47533"/>
                    </a:moveTo>
                    <a:cubicBezTo>
                      <a:pt x="94869" y="73785"/>
                      <a:pt x="73632" y="95067"/>
                      <a:pt x="47435" y="95067"/>
                    </a:cubicBezTo>
                    <a:cubicBezTo>
                      <a:pt x="21237" y="95067"/>
                      <a:pt x="0" y="73785"/>
                      <a:pt x="0" y="47533"/>
                    </a:cubicBezTo>
                    <a:cubicBezTo>
                      <a:pt x="0" y="21281"/>
                      <a:pt x="21237" y="0"/>
                      <a:pt x="47435" y="0"/>
                    </a:cubicBezTo>
                    <a:cubicBezTo>
                      <a:pt x="73632" y="0"/>
                      <a:pt x="94869" y="21281"/>
                      <a:pt x="94869" y="4753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4" name="Google Shape;2595;p19">
                <a:extLst>
                  <a:ext uri="{FF2B5EF4-FFF2-40B4-BE49-F238E27FC236}">
                    <a16:creationId xmlns:a16="http://schemas.microsoft.com/office/drawing/2014/main" id="{BB2EF111-EA0B-4001-D311-DFF756430934}"/>
                  </a:ext>
                </a:extLst>
              </p:cNvPr>
              <p:cNvSpPr/>
              <p:nvPr/>
            </p:nvSpPr>
            <p:spPr>
              <a:xfrm>
                <a:off x="7978034" y="4170371"/>
                <a:ext cx="80996" cy="81164"/>
              </a:xfrm>
              <a:custGeom>
                <a:avLst/>
                <a:gdLst/>
                <a:ahLst/>
                <a:cxnLst/>
                <a:rect l="l" t="t" r="r" b="b"/>
                <a:pathLst>
                  <a:path w="94869" h="95066" extrusionOk="0">
                    <a:moveTo>
                      <a:pt x="94869" y="47533"/>
                    </a:moveTo>
                    <a:cubicBezTo>
                      <a:pt x="94869" y="73785"/>
                      <a:pt x="73632" y="95067"/>
                      <a:pt x="47435" y="95067"/>
                    </a:cubicBezTo>
                    <a:cubicBezTo>
                      <a:pt x="21237" y="95067"/>
                      <a:pt x="0" y="73785"/>
                      <a:pt x="0" y="47533"/>
                    </a:cubicBezTo>
                    <a:cubicBezTo>
                      <a:pt x="0" y="21281"/>
                      <a:pt x="21237" y="0"/>
                      <a:pt x="47435" y="0"/>
                    </a:cubicBezTo>
                    <a:cubicBezTo>
                      <a:pt x="73632" y="0"/>
                      <a:pt x="94869" y="21281"/>
                      <a:pt x="94869" y="4753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5" name="Google Shape;2596;p19">
                <a:extLst>
                  <a:ext uri="{FF2B5EF4-FFF2-40B4-BE49-F238E27FC236}">
                    <a16:creationId xmlns:a16="http://schemas.microsoft.com/office/drawing/2014/main" id="{190137BB-F9B6-9743-B10A-771BC5C5A9AF}"/>
                  </a:ext>
                </a:extLst>
              </p:cNvPr>
              <p:cNvSpPr/>
              <p:nvPr/>
            </p:nvSpPr>
            <p:spPr>
              <a:xfrm>
                <a:off x="8150825" y="3995326"/>
                <a:ext cx="80996" cy="81164"/>
              </a:xfrm>
              <a:custGeom>
                <a:avLst/>
                <a:gdLst/>
                <a:ahLst/>
                <a:cxnLst/>
                <a:rect l="l" t="t" r="r" b="b"/>
                <a:pathLst>
                  <a:path w="94869" h="95066" extrusionOk="0">
                    <a:moveTo>
                      <a:pt x="94869" y="47533"/>
                    </a:moveTo>
                    <a:cubicBezTo>
                      <a:pt x="94869" y="73785"/>
                      <a:pt x="73632" y="95067"/>
                      <a:pt x="47435" y="95067"/>
                    </a:cubicBezTo>
                    <a:cubicBezTo>
                      <a:pt x="21237" y="95067"/>
                      <a:pt x="0" y="73785"/>
                      <a:pt x="0" y="47533"/>
                    </a:cubicBezTo>
                    <a:cubicBezTo>
                      <a:pt x="0" y="21281"/>
                      <a:pt x="21237" y="0"/>
                      <a:pt x="47435" y="0"/>
                    </a:cubicBezTo>
                    <a:cubicBezTo>
                      <a:pt x="73632" y="0"/>
                      <a:pt x="94869" y="21281"/>
                      <a:pt x="94869" y="4753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6" name="Google Shape;2597;p19">
                <a:extLst>
                  <a:ext uri="{FF2B5EF4-FFF2-40B4-BE49-F238E27FC236}">
                    <a16:creationId xmlns:a16="http://schemas.microsoft.com/office/drawing/2014/main" id="{FF408FDC-E618-EC3D-07F5-5A112A43FB61}"/>
                  </a:ext>
                </a:extLst>
              </p:cNvPr>
              <p:cNvSpPr/>
              <p:nvPr/>
            </p:nvSpPr>
            <p:spPr>
              <a:xfrm>
                <a:off x="8150825" y="4338707"/>
                <a:ext cx="80996" cy="81164"/>
              </a:xfrm>
              <a:custGeom>
                <a:avLst/>
                <a:gdLst/>
                <a:ahLst/>
                <a:cxnLst/>
                <a:rect l="l" t="t" r="r" b="b"/>
                <a:pathLst>
                  <a:path w="94869" h="95066" extrusionOk="0">
                    <a:moveTo>
                      <a:pt x="94869" y="47533"/>
                    </a:moveTo>
                    <a:cubicBezTo>
                      <a:pt x="94869" y="73785"/>
                      <a:pt x="73632" y="95067"/>
                      <a:pt x="47435" y="95067"/>
                    </a:cubicBezTo>
                    <a:cubicBezTo>
                      <a:pt x="21237" y="95067"/>
                      <a:pt x="0" y="73785"/>
                      <a:pt x="0" y="47533"/>
                    </a:cubicBezTo>
                    <a:cubicBezTo>
                      <a:pt x="0" y="21281"/>
                      <a:pt x="21237" y="0"/>
                      <a:pt x="47435" y="0"/>
                    </a:cubicBezTo>
                    <a:cubicBezTo>
                      <a:pt x="73632" y="0"/>
                      <a:pt x="94869" y="21281"/>
                      <a:pt x="94869" y="4753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7" name="Google Shape;2598;p19">
                <a:extLst>
                  <a:ext uri="{FF2B5EF4-FFF2-40B4-BE49-F238E27FC236}">
                    <a16:creationId xmlns:a16="http://schemas.microsoft.com/office/drawing/2014/main" id="{A84C4901-E6D1-FF1B-5B93-EF83912A1087}"/>
                  </a:ext>
                </a:extLst>
              </p:cNvPr>
              <p:cNvSpPr/>
              <p:nvPr/>
            </p:nvSpPr>
            <p:spPr>
              <a:xfrm>
                <a:off x="8150825" y="4169397"/>
                <a:ext cx="80996" cy="81164"/>
              </a:xfrm>
              <a:custGeom>
                <a:avLst/>
                <a:gdLst/>
                <a:ahLst/>
                <a:cxnLst/>
                <a:rect l="l" t="t" r="r" b="b"/>
                <a:pathLst>
                  <a:path w="94869" h="95066" extrusionOk="0">
                    <a:moveTo>
                      <a:pt x="94869" y="47533"/>
                    </a:moveTo>
                    <a:cubicBezTo>
                      <a:pt x="94869" y="73785"/>
                      <a:pt x="73632" y="95067"/>
                      <a:pt x="47435" y="95067"/>
                    </a:cubicBezTo>
                    <a:cubicBezTo>
                      <a:pt x="21237" y="95067"/>
                      <a:pt x="0" y="73785"/>
                      <a:pt x="0" y="47533"/>
                    </a:cubicBezTo>
                    <a:cubicBezTo>
                      <a:pt x="0" y="21281"/>
                      <a:pt x="21237" y="0"/>
                      <a:pt x="47435" y="0"/>
                    </a:cubicBezTo>
                    <a:cubicBezTo>
                      <a:pt x="73632" y="0"/>
                      <a:pt x="94869" y="21281"/>
                      <a:pt x="94869" y="47533"/>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8" name="Google Shape;2599;p19">
                <a:extLst>
                  <a:ext uri="{FF2B5EF4-FFF2-40B4-BE49-F238E27FC236}">
                    <a16:creationId xmlns:a16="http://schemas.microsoft.com/office/drawing/2014/main" id="{D554423C-A0B8-6631-1D10-154DD41C48C6}"/>
                  </a:ext>
                </a:extLst>
              </p:cNvPr>
              <p:cNvSpPr/>
              <p:nvPr/>
            </p:nvSpPr>
            <p:spPr>
              <a:xfrm rot="-2700000">
                <a:off x="8037869" y="4108819"/>
                <a:ext cx="120954" cy="13527"/>
              </a:xfrm>
              <a:custGeom>
                <a:avLst/>
                <a:gdLst/>
                <a:ahLst/>
                <a:cxnLst/>
                <a:rect l="l" t="t" r="r" b="b"/>
                <a:pathLst>
                  <a:path w="141671" h="15844" extrusionOk="0">
                    <a:moveTo>
                      <a:pt x="0" y="0"/>
                    </a:moveTo>
                    <a:lnTo>
                      <a:pt x="141671" y="0"/>
                    </a:lnTo>
                    <a:lnTo>
                      <a:pt x="141671" y="15844"/>
                    </a:lnTo>
                    <a:lnTo>
                      <a:pt x="0" y="15844"/>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9" name="Google Shape;2600;p19">
                <a:extLst>
                  <a:ext uri="{FF2B5EF4-FFF2-40B4-BE49-F238E27FC236}">
                    <a16:creationId xmlns:a16="http://schemas.microsoft.com/office/drawing/2014/main" id="{A65B8B36-1324-6D7C-D9B1-15C148E555AD}"/>
                  </a:ext>
                </a:extLst>
              </p:cNvPr>
              <p:cNvSpPr/>
              <p:nvPr/>
            </p:nvSpPr>
            <p:spPr>
              <a:xfrm rot="-2700000">
                <a:off x="8091594" y="4240521"/>
                <a:ext cx="13499" cy="121206"/>
              </a:xfrm>
              <a:custGeom>
                <a:avLst/>
                <a:gdLst/>
                <a:ahLst/>
                <a:cxnLst/>
                <a:rect l="l" t="t" r="r" b="b"/>
                <a:pathLst>
                  <a:path w="15811" h="141966" extrusionOk="0">
                    <a:moveTo>
                      <a:pt x="0" y="0"/>
                    </a:moveTo>
                    <a:lnTo>
                      <a:pt x="15811" y="0"/>
                    </a:lnTo>
                    <a:lnTo>
                      <a:pt x="15811" y="141966"/>
                    </a:lnTo>
                    <a:lnTo>
                      <a:pt x="0" y="141966"/>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70" name="Google Shape;2601;p19">
                <a:extLst>
                  <a:ext uri="{FF2B5EF4-FFF2-40B4-BE49-F238E27FC236}">
                    <a16:creationId xmlns:a16="http://schemas.microsoft.com/office/drawing/2014/main" id="{114AC583-2DE3-7965-E7C1-307AC639262F}"/>
                  </a:ext>
                </a:extLst>
              </p:cNvPr>
              <p:cNvSpPr/>
              <p:nvPr/>
            </p:nvSpPr>
            <p:spPr>
              <a:xfrm rot="-2700000">
                <a:off x="8282755" y="4055026"/>
                <a:ext cx="13499" cy="121206"/>
              </a:xfrm>
              <a:custGeom>
                <a:avLst/>
                <a:gdLst/>
                <a:ahLst/>
                <a:cxnLst/>
                <a:rect l="l" t="t" r="r" b="b"/>
                <a:pathLst>
                  <a:path w="15811" h="141966" extrusionOk="0">
                    <a:moveTo>
                      <a:pt x="0" y="0"/>
                    </a:moveTo>
                    <a:lnTo>
                      <a:pt x="15812" y="0"/>
                    </a:lnTo>
                    <a:lnTo>
                      <a:pt x="15812" y="141966"/>
                    </a:lnTo>
                    <a:lnTo>
                      <a:pt x="0" y="141966"/>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71" name="Google Shape;2602;p19">
                <a:extLst>
                  <a:ext uri="{FF2B5EF4-FFF2-40B4-BE49-F238E27FC236}">
                    <a16:creationId xmlns:a16="http://schemas.microsoft.com/office/drawing/2014/main" id="{0766188D-752A-B003-F9B8-38DBB41B38C9}"/>
                  </a:ext>
                </a:extLst>
              </p:cNvPr>
              <p:cNvSpPr/>
              <p:nvPr/>
            </p:nvSpPr>
            <p:spPr>
              <a:xfrm rot="-2700000">
                <a:off x="8229026" y="4294351"/>
                <a:ext cx="120954" cy="13527"/>
              </a:xfrm>
              <a:custGeom>
                <a:avLst/>
                <a:gdLst/>
                <a:ahLst/>
                <a:cxnLst/>
                <a:rect l="l" t="t" r="r" b="b"/>
                <a:pathLst>
                  <a:path w="141671" h="15844" extrusionOk="0">
                    <a:moveTo>
                      <a:pt x="0" y="0"/>
                    </a:moveTo>
                    <a:lnTo>
                      <a:pt x="141671" y="0"/>
                    </a:lnTo>
                    <a:lnTo>
                      <a:pt x="141671" y="15844"/>
                    </a:lnTo>
                    <a:lnTo>
                      <a:pt x="0" y="15844"/>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72" name="Google Shape;2603;p19">
                <a:extLst>
                  <a:ext uri="{FF2B5EF4-FFF2-40B4-BE49-F238E27FC236}">
                    <a16:creationId xmlns:a16="http://schemas.microsoft.com/office/drawing/2014/main" id="{FF6AF5FD-3BA2-8779-5B55-02D482CAA2FB}"/>
                  </a:ext>
                </a:extLst>
              </p:cNvPr>
              <p:cNvSpPr/>
              <p:nvPr/>
            </p:nvSpPr>
            <p:spPr>
              <a:xfrm>
                <a:off x="8076308" y="4205542"/>
                <a:ext cx="54915" cy="13527"/>
              </a:xfrm>
              <a:custGeom>
                <a:avLst/>
                <a:gdLst/>
                <a:ahLst/>
                <a:cxnLst/>
                <a:rect l="l" t="t" r="r" b="b"/>
                <a:pathLst>
                  <a:path w="64321" h="15844" extrusionOk="0">
                    <a:moveTo>
                      <a:pt x="0" y="0"/>
                    </a:moveTo>
                    <a:lnTo>
                      <a:pt x="64321" y="0"/>
                    </a:lnTo>
                    <a:lnTo>
                      <a:pt x="64321" y="15844"/>
                    </a:lnTo>
                    <a:lnTo>
                      <a:pt x="0" y="15844"/>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73" name="Google Shape;2604;p19">
                <a:extLst>
                  <a:ext uri="{FF2B5EF4-FFF2-40B4-BE49-F238E27FC236}">
                    <a16:creationId xmlns:a16="http://schemas.microsoft.com/office/drawing/2014/main" id="{48332D5A-420E-5545-C5F5-FCE96C5DE22D}"/>
                  </a:ext>
                </a:extLst>
              </p:cNvPr>
              <p:cNvSpPr/>
              <p:nvPr/>
            </p:nvSpPr>
            <p:spPr>
              <a:xfrm>
                <a:off x="8254230" y="4205542"/>
                <a:ext cx="54915" cy="13527"/>
              </a:xfrm>
              <a:custGeom>
                <a:avLst/>
                <a:gdLst/>
                <a:ahLst/>
                <a:cxnLst/>
                <a:rect l="l" t="t" r="r" b="b"/>
                <a:pathLst>
                  <a:path w="64321" h="15844" extrusionOk="0">
                    <a:moveTo>
                      <a:pt x="0" y="0"/>
                    </a:moveTo>
                    <a:lnTo>
                      <a:pt x="64321" y="0"/>
                    </a:lnTo>
                    <a:lnTo>
                      <a:pt x="64321" y="15844"/>
                    </a:lnTo>
                    <a:lnTo>
                      <a:pt x="0" y="15844"/>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274" name="Google Shape;2580;p19">
            <a:extLst>
              <a:ext uri="{FF2B5EF4-FFF2-40B4-BE49-F238E27FC236}">
                <a16:creationId xmlns:a16="http://schemas.microsoft.com/office/drawing/2014/main" id="{F8CF59CE-0CB2-2BFC-F36B-80DCA78D6A2F}"/>
              </a:ext>
            </a:extLst>
          </p:cNvPr>
          <p:cNvGrpSpPr/>
          <p:nvPr/>
        </p:nvGrpSpPr>
        <p:grpSpPr>
          <a:xfrm>
            <a:off x="3298631" y="2203591"/>
            <a:ext cx="983602" cy="985802"/>
            <a:chOff x="3284577" y="1631191"/>
            <a:chExt cx="983602" cy="985802"/>
          </a:xfrm>
        </p:grpSpPr>
        <p:sp>
          <p:nvSpPr>
            <p:cNvPr id="275" name="Google Shape;2581;p19">
              <a:extLst>
                <a:ext uri="{FF2B5EF4-FFF2-40B4-BE49-F238E27FC236}">
                  <a16:creationId xmlns:a16="http://schemas.microsoft.com/office/drawing/2014/main" id="{1D912785-7A73-E734-BE63-A2494A3A1582}"/>
                </a:ext>
              </a:extLst>
            </p:cNvPr>
            <p:cNvSpPr/>
            <p:nvPr/>
          </p:nvSpPr>
          <p:spPr>
            <a:xfrm>
              <a:off x="3284577" y="1631191"/>
              <a:ext cx="983602" cy="985802"/>
            </a:xfrm>
            <a:prstGeom prst="ellipse">
              <a:avLst/>
            </a:prstGeom>
            <a:solidFill>
              <a:schemeClr val="accent4"/>
            </a:solidFill>
            <a:ln w="25400" cap="flat" cmpd="sng">
              <a:solidFill>
                <a:schemeClr val="accent4"/>
              </a:solidFill>
              <a:prstDash val="solid"/>
              <a:round/>
              <a:headEnd type="none" w="sm" len="sm"/>
              <a:tailEnd type="none" w="sm" len="sm"/>
            </a:ln>
            <a:effectLst>
              <a:outerShdw sx="120000" sy="120000" algn="ctr" rotWithShape="0">
                <a:schemeClr val="accent4">
                  <a:alpha val="23921"/>
                </a:schemeClr>
              </a:outerShdw>
            </a:effectLst>
          </p:spPr>
          <p:txBody>
            <a:bodyPr spcFirstLastPara="1" wrap="square" lIns="82200" tIns="41075" rIns="82200" bIns="410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276" name="Google Shape;2582;p19" descr="Kubernetes&#10;">
              <a:extLst>
                <a:ext uri="{FF2B5EF4-FFF2-40B4-BE49-F238E27FC236}">
                  <a16:creationId xmlns:a16="http://schemas.microsoft.com/office/drawing/2014/main" id="{A4B367C5-3176-54AF-3836-EA4B6C00F4F7}"/>
                </a:ext>
              </a:extLst>
            </p:cNvPr>
            <p:cNvGrpSpPr/>
            <p:nvPr/>
          </p:nvGrpSpPr>
          <p:grpSpPr>
            <a:xfrm>
              <a:off x="3474379" y="1818531"/>
              <a:ext cx="603999" cy="588820"/>
              <a:chOff x="9760860" y="4425882"/>
              <a:chExt cx="603999" cy="588820"/>
            </a:xfrm>
          </p:grpSpPr>
          <p:sp>
            <p:nvSpPr>
              <p:cNvPr id="277" name="Google Shape;2583;p19">
                <a:extLst>
                  <a:ext uri="{FF2B5EF4-FFF2-40B4-BE49-F238E27FC236}">
                    <a16:creationId xmlns:a16="http://schemas.microsoft.com/office/drawing/2014/main" id="{0F9C1DAD-E839-F7A8-CBE2-515E556E3B74}"/>
                  </a:ext>
                </a:extLst>
              </p:cNvPr>
              <p:cNvSpPr/>
              <p:nvPr/>
            </p:nvSpPr>
            <p:spPr>
              <a:xfrm>
                <a:off x="9760860" y="4425882"/>
                <a:ext cx="603999" cy="588820"/>
              </a:xfrm>
              <a:custGeom>
                <a:avLst/>
                <a:gdLst/>
                <a:ahLst/>
                <a:cxnLst/>
                <a:rect l="l" t="t" r="r" b="b"/>
                <a:pathLst>
                  <a:path w="603999" h="588820" extrusionOk="0">
                    <a:moveTo>
                      <a:pt x="302316" y="17709"/>
                    </a:moveTo>
                    <a:lnTo>
                      <a:pt x="530634" y="127757"/>
                    </a:lnTo>
                    <a:lnTo>
                      <a:pt x="586923" y="375049"/>
                    </a:lnTo>
                    <a:lnTo>
                      <a:pt x="428808" y="573009"/>
                    </a:lnTo>
                    <a:lnTo>
                      <a:pt x="175824" y="573009"/>
                    </a:lnTo>
                    <a:lnTo>
                      <a:pt x="17709" y="375049"/>
                    </a:lnTo>
                    <a:lnTo>
                      <a:pt x="73998" y="127757"/>
                    </a:lnTo>
                    <a:lnTo>
                      <a:pt x="302316" y="17709"/>
                    </a:lnTo>
                    <a:moveTo>
                      <a:pt x="302316" y="0"/>
                    </a:moveTo>
                    <a:lnTo>
                      <a:pt x="60084" y="117005"/>
                    </a:lnTo>
                    <a:lnTo>
                      <a:pt x="0" y="378844"/>
                    </a:lnTo>
                    <a:lnTo>
                      <a:pt x="167602" y="588820"/>
                    </a:lnTo>
                    <a:lnTo>
                      <a:pt x="436397" y="588820"/>
                    </a:lnTo>
                    <a:lnTo>
                      <a:pt x="603999" y="378844"/>
                    </a:lnTo>
                    <a:lnTo>
                      <a:pt x="543916" y="117005"/>
                    </a:lnTo>
                    <a:lnTo>
                      <a:pt x="302316" y="0"/>
                    </a:lnTo>
                    <a:lnTo>
                      <a:pt x="302316" y="0"/>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78" name="Google Shape;2584;p19">
                <a:extLst>
                  <a:ext uri="{FF2B5EF4-FFF2-40B4-BE49-F238E27FC236}">
                    <a16:creationId xmlns:a16="http://schemas.microsoft.com/office/drawing/2014/main" id="{5209FD34-6425-5E7A-0D5E-345954E0308D}"/>
                  </a:ext>
                </a:extLst>
              </p:cNvPr>
              <p:cNvSpPr/>
              <p:nvPr/>
            </p:nvSpPr>
            <p:spPr>
              <a:xfrm>
                <a:off x="9843347" y="4504273"/>
                <a:ext cx="440592" cy="432636"/>
              </a:xfrm>
              <a:custGeom>
                <a:avLst/>
                <a:gdLst/>
                <a:ahLst/>
                <a:cxnLst/>
                <a:rect l="l" t="t" r="r" b="b"/>
                <a:pathLst>
                  <a:path w="440592" h="432636" extrusionOk="0">
                    <a:moveTo>
                      <a:pt x="130019" y="432637"/>
                    </a:moveTo>
                    <a:cubicBezTo>
                      <a:pt x="127489" y="432637"/>
                      <a:pt x="124327" y="432004"/>
                      <a:pt x="121797" y="430739"/>
                    </a:cubicBezTo>
                    <a:cubicBezTo>
                      <a:pt x="112310" y="426312"/>
                      <a:pt x="108516" y="414928"/>
                      <a:pt x="112310" y="404809"/>
                    </a:cubicBezTo>
                    <a:cubicBezTo>
                      <a:pt x="113575" y="401014"/>
                      <a:pt x="115473" y="397219"/>
                      <a:pt x="118635" y="392792"/>
                    </a:cubicBezTo>
                    <a:cubicBezTo>
                      <a:pt x="123695" y="385835"/>
                      <a:pt x="127489" y="379510"/>
                      <a:pt x="130652" y="373186"/>
                    </a:cubicBezTo>
                    <a:cubicBezTo>
                      <a:pt x="131284" y="371921"/>
                      <a:pt x="131284" y="371921"/>
                      <a:pt x="131284" y="371921"/>
                    </a:cubicBezTo>
                    <a:cubicBezTo>
                      <a:pt x="130019" y="369391"/>
                      <a:pt x="130019" y="366861"/>
                      <a:pt x="130652" y="364964"/>
                    </a:cubicBezTo>
                    <a:cubicBezTo>
                      <a:pt x="100294" y="344725"/>
                      <a:pt x="78157" y="317529"/>
                      <a:pt x="65508" y="283376"/>
                    </a:cubicBezTo>
                    <a:cubicBezTo>
                      <a:pt x="62978" y="283376"/>
                      <a:pt x="60449" y="282111"/>
                      <a:pt x="59184" y="281479"/>
                    </a:cubicBezTo>
                    <a:cubicBezTo>
                      <a:pt x="58551" y="281479"/>
                      <a:pt x="57919" y="281479"/>
                      <a:pt x="57919" y="282111"/>
                    </a:cubicBezTo>
                    <a:lnTo>
                      <a:pt x="57286" y="282111"/>
                    </a:lnTo>
                    <a:cubicBezTo>
                      <a:pt x="50962" y="283376"/>
                      <a:pt x="44637" y="285906"/>
                      <a:pt x="37048" y="289068"/>
                    </a:cubicBezTo>
                    <a:cubicBezTo>
                      <a:pt x="31988" y="290966"/>
                      <a:pt x="26928" y="292863"/>
                      <a:pt x="20604" y="292863"/>
                    </a:cubicBezTo>
                    <a:cubicBezTo>
                      <a:pt x="10484" y="292863"/>
                      <a:pt x="2262" y="286539"/>
                      <a:pt x="365" y="277052"/>
                    </a:cubicBezTo>
                    <a:cubicBezTo>
                      <a:pt x="-1532" y="268197"/>
                      <a:pt x="4160" y="258078"/>
                      <a:pt x="13014" y="254283"/>
                    </a:cubicBezTo>
                    <a:cubicBezTo>
                      <a:pt x="17441" y="252386"/>
                      <a:pt x="21869" y="251753"/>
                      <a:pt x="27561" y="251121"/>
                    </a:cubicBezTo>
                    <a:cubicBezTo>
                      <a:pt x="35150" y="251121"/>
                      <a:pt x="42740" y="249856"/>
                      <a:pt x="50329" y="248591"/>
                    </a:cubicBezTo>
                    <a:cubicBezTo>
                      <a:pt x="52227" y="247959"/>
                      <a:pt x="52227" y="247959"/>
                      <a:pt x="52227" y="247959"/>
                    </a:cubicBezTo>
                    <a:cubicBezTo>
                      <a:pt x="52859" y="246694"/>
                      <a:pt x="54124" y="244796"/>
                      <a:pt x="56654" y="242899"/>
                    </a:cubicBezTo>
                    <a:cubicBezTo>
                      <a:pt x="52227" y="206216"/>
                      <a:pt x="59816" y="172063"/>
                      <a:pt x="78790" y="140440"/>
                    </a:cubicBezTo>
                    <a:cubicBezTo>
                      <a:pt x="77525" y="138543"/>
                      <a:pt x="76893" y="136646"/>
                      <a:pt x="76893" y="134116"/>
                    </a:cubicBezTo>
                    <a:cubicBezTo>
                      <a:pt x="76893" y="133483"/>
                      <a:pt x="75628" y="132851"/>
                      <a:pt x="74363" y="132218"/>
                    </a:cubicBezTo>
                    <a:cubicBezTo>
                      <a:pt x="69303" y="128424"/>
                      <a:pt x="63611" y="124629"/>
                      <a:pt x="57286" y="120834"/>
                    </a:cubicBezTo>
                    <a:cubicBezTo>
                      <a:pt x="53492" y="118304"/>
                      <a:pt x="49064" y="115774"/>
                      <a:pt x="45270" y="111980"/>
                    </a:cubicBezTo>
                    <a:cubicBezTo>
                      <a:pt x="37680" y="104390"/>
                      <a:pt x="37048" y="93006"/>
                      <a:pt x="42740" y="85416"/>
                    </a:cubicBezTo>
                    <a:cubicBezTo>
                      <a:pt x="49064" y="77194"/>
                      <a:pt x="60449" y="75297"/>
                      <a:pt x="69936" y="80989"/>
                    </a:cubicBezTo>
                    <a:cubicBezTo>
                      <a:pt x="74995" y="84151"/>
                      <a:pt x="78790" y="88579"/>
                      <a:pt x="81952" y="91741"/>
                    </a:cubicBezTo>
                    <a:cubicBezTo>
                      <a:pt x="87644" y="98065"/>
                      <a:pt x="92704" y="102493"/>
                      <a:pt x="97764" y="106920"/>
                    </a:cubicBezTo>
                    <a:cubicBezTo>
                      <a:pt x="98396" y="107552"/>
                      <a:pt x="99029" y="107552"/>
                      <a:pt x="99029" y="107552"/>
                    </a:cubicBezTo>
                    <a:cubicBezTo>
                      <a:pt x="100926" y="106920"/>
                      <a:pt x="103456" y="106920"/>
                      <a:pt x="105353" y="108185"/>
                    </a:cubicBezTo>
                    <a:cubicBezTo>
                      <a:pt x="131917" y="82886"/>
                      <a:pt x="163540" y="67707"/>
                      <a:pt x="199590" y="62648"/>
                    </a:cubicBezTo>
                    <a:cubicBezTo>
                      <a:pt x="200222" y="60750"/>
                      <a:pt x="201487" y="58853"/>
                      <a:pt x="203385" y="56956"/>
                    </a:cubicBezTo>
                    <a:cubicBezTo>
                      <a:pt x="203385" y="56956"/>
                      <a:pt x="203385" y="56323"/>
                      <a:pt x="203385" y="55691"/>
                    </a:cubicBezTo>
                    <a:cubicBezTo>
                      <a:pt x="203385" y="47469"/>
                      <a:pt x="202120" y="39879"/>
                      <a:pt x="200855" y="32290"/>
                    </a:cubicBezTo>
                    <a:cubicBezTo>
                      <a:pt x="200222" y="27230"/>
                      <a:pt x="199590" y="22803"/>
                      <a:pt x="200222" y="18376"/>
                    </a:cubicBezTo>
                    <a:cubicBezTo>
                      <a:pt x="201487" y="7624"/>
                      <a:pt x="210342" y="-598"/>
                      <a:pt x="221093" y="34"/>
                    </a:cubicBezTo>
                    <a:cubicBezTo>
                      <a:pt x="230580" y="667"/>
                      <a:pt x="238170" y="7624"/>
                      <a:pt x="240067" y="17111"/>
                    </a:cubicBezTo>
                    <a:lnTo>
                      <a:pt x="240067" y="19640"/>
                    </a:lnTo>
                    <a:lnTo>
                      <a:pt x="239435" y="31657"/>
                    </a:lnTo>
                    <a:cubicBezTo>
                      <a:pt x="238802" y="36717"/>
                      <a:pt x="238170" y="41777"/>
                      <a:pt x="237537" y="46836"/>
                    </a:cubicBezTo>
                    <a:cubicBezTo>
                      <a:pt x="236905" y="49366"/>
                      <a:pt x="236905" y="52528"/>
                      <a:pt x="236905" y="55691"/>
                    </a:cubicBezTo>
                    <a:lnTo>
                      <a:pt x="236905" y="56956"/>
                    </a:lnTo>
                    <a:cubicBezTo>
                      <a:pt x="238170" y="58221"/>
                      <a:pt x="239435" y="60118"/>
                      <a:pt x="240700" y="62648"/>
                    </a:cubicBezTo>
                    <a:cubicBezTo>
                      <a:pt x="252084" y="64545"/>
                      <a:pt x="262836" y="66442"/>
                      <a:pt x="272323" y="70237"/>
                    </a:cubicBezTo>
                    <a:cubicBezTo>
                      <a:pt x="296356" y="78459"/>
                      <a:pt x="317227" y="91108"/>
                      <a:pt x="334936" y="108185"/>
                    </a:cubicBezTo>
                    <a:cubicBezTo>
                      <a:pt x="336834" y="106920"/>
                      <a:pt x="339364" y="106920"/>
                      <a:pt x="341893" y="107552"/>
                    </a:cubicBezTo>
                    <a:cubicBezTo>
                      <a:pt x="341893" y="107552"/>
                      <a:pt x="342526" y="107552"/>
                      <a:pt x="343791" y="106287"/>
                    </a:cubicBezTo>
                    <a:cubicBezTo>
                      <a:pt x="348850" y="101860"/>
                      <a:pt x="353910" y="96801"/>
                      <a:pt x="358970" y="91741"/>
                    </a:cubicBezTo>
                    <a:cubicBezTo>
                      <a:pt x="362132" y="87946"/>
                      <a:pt x="365927" y="84151"/>
                      <a:pt x="370354" y="81622"/>
                    </a:cubicBezTo>
                    <a:cubicBezTo>
                      <a:pt x="376679" y="77827"/>
                      <a:pt x="383636" y="77194"/>
                      <a:pt x="389960" y="80357"/>
                    </a:cubicBezTo>
                    <a:cubicBezTo>
                      <a:pt x="395652" y="82886"/>
                      <a:pt x="400080" y="87946"/>
                      <a:pt x="400712" y="94903"/>
                    </a:cubicBezTo>
                    <a:cubicBezTo>
                      <a:pt x="401345" y="99963"/>
                      <a:pt x="401345" y="106920"/>
                      <a:pt x="393755" y="113877"/>
                    </a:cubicBezTo>
                    <a:cubicBezTo>
                      <a:pt x="389960" y="117672"/>
                      <a:pt x="386166" y="119569"/>
                      <a:pt x="381738" y="122099"/>
                    </a:cubicBezTo>
                    <a:cubicBezTo>
                      <a:pt x="374149" y="126526"/>
                      <a:pt x="368457" y="130321"/>
                      <a:pt x="363397" y="134116"/>
                    </a:cubicBezTo>
                    <a:cubicBezTo>
                      <a:pt x="362765" y="134116"/>
                      <a:pt x="362765" y="134116"/>
                      <a:pt x="362765" y="134116"/>
                    </a:cubicBezTo>
                    <a:cubicBezTo>
                      <a:pt x="362765" y="136646"/>
                      <a:pt x="362132" y="138543"/>
                      <a:pt x="360867" y="140440"/>
                    </a:cubicBezTo>
                    <a:cubicBezTo>
                      <a:pt x="375414" y="164474"/>
                      <a:pt x="383636" y="190405"/>
                      <a:pt x="384901" y="217600"/>
                    </a:cubicBezTo>
                    <a:cubicBezTo>
                      <a:pt x="385533" y="225190"/>
                      <a:pt x="384901" y="233412"/>
                      <a:pt x="384268" y="241634"/>
                    </a:cubicBezTo>
                    <a:cubicBezTo>
                      <a:pt x="386166" y="242899"/>
                      <a:pt x="387430" y="244796"/>
                      <a:pt x="388063" y="246061"/>
                    </a:cubicBezTo>
                    <a:cubicBezTo>
                      <a:pt x="388695" y="247326"/>
                      <a:pt x="389328" y="247326"/>
                      <a:pt x="393755" y="247959"/>
                    </a:cubicBezTo>
                    <a:lnTo>
                      <a:pt x="395020" y="247959"/>
                    </a:lnTo>
                    <a:cubicBezTo>
                      <a:pt x="399447" y="248591"/>
                      <a:pt x="403874" y="249223"/>
                      <a:pt x="408302" y="249223"/>
                    </a:cubicBezTo>
                    <a:cubicBezTo>
                      <a:pt x="412729" y="249856"/>
                      <a:pt x="417156" y="249856"/>
                      <a:pt x="421583" y="250488"/>
                    </a:cubicBezTo>
                    <a:cubicBezTo>
                      <a:pt x="429173" y="251753"/>
                      <a:pt x="435497" y="256181"/>
                      <a:pt x="438660" y="263138"/>
                    </a:cubicBezTo>
                    <a:cubicBezTo>
                      <a:pt x="441822" y="270095"/>
                      <a:pt x="441190" y="277052"/>
                      <a:pt x="436130" y="282744"/>
                    </a:cubicBezTo>
                    <a:cubicBezTo>
                      <a:pt x="431070" y="289068"/>
                      <a:pt x="424113" y="291598"/>
                      <a:pt x="415891" y="290333"/>
                    </a:cubicBezTo>
                    <a:cubicBezTo>
                      <a:pt x="410831" y="289701"/>
                      <a:pt x="405772" y="287804"/>
                      <a:pt x="401345" y="285906"/>
                    </a:cubicBezTo>
                    <a:cubicBezTo>
                      <a:pt x="399447" y="285274"/>
                      <a:pt x="397550" y="284009"/>
                      <a:pt x="395020" y="283376"/>
                    </a:cubicBezTo>
                    <a:lnTo>
                      <a:pt x="394388" y="283376"/>
                    </a:lnTo>
                    <a:cubicBezTo>
                      <a:pt x="389960" y="282111"/>
                      <a:pt x="385533" y="280214"/>
                      <a:pt x="381106" y="279582"/>
                    </a:cubicBezTo>
                    <a:cubicBezTo>
                      <a:pt x="380473" y="279582"/>
                      <a:pt x="380473" y="279582"/>
                      <a:pt x="380473" y="279582"/>
                    </a:cubicBezTo>
                    <a:cubicBezTo>
                      <a:pt x="378576" y="280846"/>
                      <a:pt x="376679" y="281479"/>
                      <a:pt x="374781" y="282111"/>
                    </a:cubicBezTo>
                    <a:cubicBezTo>
                      <a:pt x="369089" y="298555"/>
                      <a:pt x="360867" y="313734"/>
                      <a:pt x="350115" y="327016"/>
                    </a:cubicBezTo>
                    <a:cubicBezTo>
                      <a:pt x="338731" y="341563"/>
                      <a:pt x="324817" y="354212"/>
                      <a:pt x="309638" y="363699"/>
                    </a:cubicBezTo>
                    <a:cubicBezTo>
                      <a:pt x="310270" y="366229"/>
                      <a:pt x="309638" y="368126"/>
                      <a:pt x="309005" y="369391"/>
                    </a:cubicBezTo>
                    <a:cubicBezTo>
                      <a:pt x="309005" y="369391"/>
                      <a:pt x="309005" y="370023"/>
                      <a:pt x="310270" y="373186"/>
                    </a:cubicBezTo>
                    <a:cubicBezTo>
                      <a:pt x="313433" y="378878"/>
                      <a:pt x="317227" y="385202"/>
                      <a:pt x="321655" y="391527"/>
                    </a:cubicBezTo>
                    <a:cubicBezTo>
                      <a:pt x="324184" y="395322"/>
                      <a:pt x="327347" y="399749"/>
                      <a:pt x="328612" y="405441"/>
                    </a:cubicBezTo>
                    <a:cubicBezTo>
                      <a:pt x="331142" y="414296"/>
                      <a:pt x="327347" y="423782"/>
                      <a:pt x="319757" y="428210"/>
                    </a:cubicBezTo>
                    <a:cubicBezTo>
                      <a:pt x="311535" y="432637"/>
                      <a:pt x="302048" y="431372"/>
                      <a:pt x="295091" y="424415"/>
                    </a:cubicBezTo>
                    <a:cubicBezTo>
                      <a:pt x="290664" y="419355"/>
                      <a:pt x="288767" y="413663"/>
                      <a:pt x="286869" y="409236"/>
                    </a:cubicBezTo>
                    <a:cubicBezTo>
                      <a:pt x="284972" y="402279"/>
                      <a:pt x="282442" y="394057"/>
                      <a:pt x="278647" y="386467"/>
                    </a:cubicBezTo>
                    <a:cubicBezTo>
                      <a:pt x="278015" y="385835"/>
                      <a:pt x="278015" y="385202"/>
                      <a:pt x="278015" y="385202"/>
                    </a:cubicBezTo>
                    <a:cubicBezTo>
                      <a:pt x="275485" y="384570"/>
                      <a:pt x="273588" y="383305"/>
                      <a:pt x="272323" y="382040"/>
                    </a:cubicBezTo>
                    <a:cubicBezTo>
                      <a:pt x="237537" y="393424"/>
                      <a:pt x="202120" y="393424"/>
                      <a:pt x="167967" y="382040"/>
                    </a:cubicBezTo>
                    <a:cubicBezTo>
                      <a:pt x="166702" y="383937"/>
                      <a:pt x="164172" y="385202"/>
                      <a:pt x="162275" y="385835"/>
                    </a:cubicBezTo>
                    <a:cubicBezTo>
                      <a:pt x="162275" y="385835"/>
                      <a:pt x="161642" y="386467"/>
                      <a:pt x="161010" y="387732"/>
                    </a:cubicBezTo>
                    <a:cubicBezTo>
                      <a:pt x="157847" y="394057"/>
                      <a:pt x="155318" y="401014"/>
                      <a:pt x="153420" y="409236"/>
                    </a:cubicBezTo>
                    <a:cubicBezTo>
                      <a:pt x="152155" y="413663"/>
                      <a:pt x="150258" y="417458"/>
                      <a:pt x="148361" y="421253"/>
                    </a:cubicBezTo>
                    <a:cubicBezTo>
                      <a:pt x="143933" y="428210"/>
                      <a:pt x="136976" y="432637"/>
                      <a:pt x="130019" y="432637"/>
                    </a:cubicBezTo>
                    <a:close/>
                    <a:moveTo>
                      <a:pt x="146463" y="366861"/>
                    </a:moveTo>
                    <a:cubicBezTo>
                      <a:pt x="148361" y="372553"/>
                      <a:pt x="145831" y="377613"/>
                      <a:pt x="145198" y="379510"/>
                    </a:cubicBezTo>
                    <a:cubicBezTo>
                      <a:pt x="142036" y="386467"/>
                      <a:pt x="137609" y="393424"/>
                      <a:pt x="131917" y="401646"/>
                    </a:cubicBezTo>
                    <a:cubicBezTo>
                      <a:pt x="129387" y="404809"/>
                      <a:pt x="128122" y="407338"/>
                      <a:pt x="127489" y="409868"/>
                    </a:cubicBezTo>
                    <a:cubicBezTo>
                      <a:pt x="126224" y="412398"/>
                      <a:pt x="127489" y="415560"/>
                      <a:pt x="129387" y="416193"/>
                    </a:cubicBezTo>
                    <a:cubicBezTo>
                      <a:pt x="131284" y="416825"/>
                      <a:pt x="133814" y="416193"/>
                      <a:pt x="135079" y="413663"/>
                    </a:cubicBezTo>
                    <a:cubicBezTo>
                      <a:pt x="136344" y="411766"/>
                      <a:pt x="137609" y="408603"/>
                      <a:pt x="138241" y="405441"/>
                    </a:cubicBezTo>
                    <a:cubicBezTo>
                      <a:pt x="140771" y="396587"/>
                      <a:pt x="143301" y="388997"/>
                      <a:pt x="146463" y="382040"/>
                    </a:cubicBezTo>
                    <a:cubicBezTo>
                      <a:pt x="147728" y="379510"/>
                      <a:pt x="150258" y="374451"/>
                      <a:pt x="155950" y="371921"/>
                    </a:cubicBezTo>
                    <a:cubicBezTo>
                      <a:pt x="157215" y="370023"/>
                      <a:pt x="158480" y="368126"/>
                      <a:pt x="161010" y="366861"/>
                    </a:cubicBezTo>
                    <a:cubicBezTo>
                      <a:pt x="165437" y="364964"/>
                      <a:pt x="169232" y="366229"/>
                      <a:pt x="170497" y="366861"/>
                    </a:cubicBezTo>
                    <a:cubicBezTo>
                      <a:pt x="202752" y="378245"/>
                      <a:pt x="235640" y="378245"/>
                      <a:pt x="268528" y="367493"/>
                    </a:cubicBezTo>
                    <a:cubicBezTo>
                      <a:pt x="271058" y="366861"/>
                      <a:pt x="275485" y="364964"/>
                      <a:pt x="279280" y="367493"/>
                    </a:cubicBezTo>
                    <a:cubicBezTo>
                      <a:pt x="281177" y="368758"/>
                      <a:pt x="282442" y="370023"/>
                      <a:pt x="283707" y="371921"/>
                    </a:cubicBezTo>
                    <a:cubicBezTo>
                      <a:pt x="287502" y="373186"/>
                      <a:pt x="290664" y="376348"/>
                      <a:pt x="292561" y="380775"/>
                    </a:cubicBezTo>
                    <a:cubicBezTo>
                      <a:pt x="296989" y="389630"/>
                      <a:pt x="299519" y="398484"/>
                      <a:pt x="302048" y="406074"/>
                    </a:cubicBezTo>
                    <a:cubicBezTo>
                      <a:pt x="303313" y="409868"/>
                      <a:pt x="304578" y="413031"/>
                      <a:pt x="306476" y="414928"/>
                    </a:cubicBezTo>
                    <a:cubicBezTo>
                      <a:pt x="308373" y="416825"/>
                      <a:pt x="310270" y="416825"/>
                      <a:pt x="311535" y="416193"/>
                    </a:cubicBezTo>
                    <a:cubicBezTo>
                      <a:pt x="312800" y="415560"/>
                      <a:pt x="314065" y="413031"/>
                      <a:pt x="313433" y="411133"/>
                    </a:cubicBezTo>
                    <a:cubicBezTo>
                      <a:pt x="312800" y="407971"/>
                      <a:pt x="310903" y="404809"/>
                      <a:pt x="308373" y="402279"/>
                    </a:cubicBezTo>
                    <a:cubicBezTo>
                      <a:pt x="303313" y="395322"/>
                      <a:pt x="299519" y="388997"/>
                      <a:pt x="295724" y="382040"/>
                    </a:cubicBezTo>
                    <a:cubicBezTo>
                      <a:pt x="294459" y="379510"/>
                      <a:pt x="291297" y="373818"/>
                      <a:pt x="293194" y="367493"/>
                    </a:cubicBezTo>
                    <a:cubicBezTo>
                      <a:pt x="291297" y="363066"/>
                      <a:pt x="291929" y="358007"/>
                      <a:pt x="298254" y="354212"/>
                    </a:cubicBezTo>
                    <a:cubicBezTo>
                      <a:pt x="313433" y="345357"/>
                      <a:pt x="326082" y="333341"/>
                      <a:pt x="337466" y="319427"/>
                    </a:cubicBezTo>
                    <a:cubicBezTo>
                      <a:pt x="347585" y="306145"/>
                      <a:pt x="355807" y="291598"/>
                      <a:pt x="360867" y="275787"/>
                    </a:cubicBezTo>
                    <a:cubicBezTo>
                      <a:pt x="363397" y="268830"/>
                      <a:pt x="368457" y="266932"/>
                      <a:pt x="372884" y="267565"/>
                    </a:cubicBezTo>
                    <a:cubicBezTo>
                      <a:pt x="376046" y="265667"/>
                      <a:pt x="380473" y="265035"/>
                      <a:pt x="384901" y="265667"/>
                    </a:cubicBezTo>
                    <a:cubicBezTo>
                      <a:pt x="389960" y="266932"/>
                      <a:pt x="395020" y="268197"/>
                      <a:pt x="400080" y="270095"/>
                    </a:cubicBezTo>
                    <a:lnTo>
                      <a:pt x="400712" y="270095"/>
                    </a:lnTo>
                    <a:cubicBezTo>
                      <a:pt x="403242" y="270727"/>
                      <a:pt x="405772" y="271992"/>
                      <a:pt x="407669" y="272624"/>
                    </a:cubicBezTo>
                    <a:cubicBezTo>
                      <a:pt x="411464" y="273889"/>
                      <a:pt x="414626" y="275787"/>
                      <a:pt x="418421" y="276419"/>
                    </a:cubicBezTo>
                    <a:cubicBezTo>
                      <a:pt x="421583" y="277052"/>
                      <a:pt x="422848" y="275787"/>
                      <a:pt x="424113" y="274522"/>
                    </a:cubicBezTo>
                    <a:cubicBezTo>
                      <a:pt x="424746" y="273257"/>
                      <a:pt x="425378" y="272624"/>
                      <a:pt x="424746" y="271360"/>
                    </a:cubicBezTo>
                    <a:lnTo>
                      <a:pt x="424746" y="271360"/>
                    </a:lnTo>
                    <a:cubicBezTo>
                      <a:pt x="423481" y="269462"/>
                      <a:pt x="422216" y="268197"/>
                      <a:pt x="419686" y="268197"/>
                    </a:cubicBezTo>
                    <a:cubicBezTo>
                      <a:pt x="415259" y="267565"/>
                      <a:pt x="411464" y="266932"/>
                      <a:pt x="407037" y="266932"/>
                    </a:cubicBezTo>
                    <a:cubicBezTo>
                      <a:pt x="402610" y="266300"/>
                      <a:pt x="397550" y="265667"/>
                      <a:pt x="393123" y="265035"/>
                    </a:cubicBezTo>
                    <a:lnTo>
                      <a:pt x="391858" y="265035"/>
                    </a:lnTo>
                    <a:cubicBezTo>
                      <a:pt x="387430" y="264402"/>
                      <a:pt x="379841" y="263770"/>
                      <a:pt x="375414" y="256813"/>
                    </a:cubicBezTo>
                    <a:cubicBezTo>
                      <a:pt x="372884" y="256181"/>
                      <a:pt x="370987" y="254916"/>
                      <a:pt x="370354" y="253651"/>
                    </a:cubicBezTo>
                    <a:cubicBezTo>
                      <a:pt x="367824" y="250488"/>
                      <a:pt x="367824" y="246061"/>
                      <a:pt x="368457" y="244796"/>
                    </a:cubicBezTo>
                    <a:cubicBezTo>
                      <a:pt x="369722" y="235942"/>
                      <a:pt x="369722" y="227720"/>
                      <a:pt x="369089" y="220130"/>
                    </a:cubicBezTo>
                    <a:cubicBezTo>
                      <a:pt x="367824" y="194199"/>
                      <a:pt x="359602" y="169533"/>
                      <a:pt x="345688" y="148030"/>
                    </a:cubicBezTo>
                    <a:cubicBezTo>
                      <a:pt x="344423" y="146132"/>
                      <a:pt x="342526" y="142338"/>
                      <a:pt x="343791" y="138543"/>
                    </a:cubicBezTo>
                    <a:cubicBezTo>
                      <a:pt x="344423" y="136646"/>
                      <a:pt x="345688" y="134748"/>
                      <a:pt x="347585" y="132851"/>
                    </a:cubicBezTo>
                    <a:cubicBezTo>
                      <a:pt x="348218" y="129056"/>
                      <a:pt x="350115" y="125261"/>
                      <a:pt x="353910" y="122099"/>
                    </a:cubicBezTo>
                    <a:cubicBezTo>
                      <a:pt x="359602" y="117672"/>
                      <a:pt x="365927" y="113245"/>
                      <a:pt x="374781" y="108185"/>
                    </a:cubicBezTo>
                    <a:cubicBezTo>
                      <a:pt x="377944" y="106287"/>
                      <a:pt x="381106" y="104390"/>
                      <a:pt x="383003" y="102493"/>
                    </a:cubicBezTo>
                    <a:cubicBezTo>
                      <a:pt x="385533" y="99963"/>
                      <a:pt x="385533" y="98065"/>
                      <a:pt x="384901" y="97433"/>
                    </a:cubicBezTo>
                    <a:cubicBezTo>
                      <a:pt x="384901" y="96168"/>
                      <a:pt x="384268" y="94903"/>
                      <a:pt x="383003" y="94903"/>
                    </a:cubicBezTo>
                    <a:cubicBezTo>
                      <a:pt x="381738" y="94271"/>
                      <a:pt x="379841" y="94271"/>
                      <a:pt x="377944" y="95536"/>
                    </a:cubicBezTo>
                    <a:cubicBezTo>
                      <a:pt x="375414" y="97433"/>
                      <a:pt x="372884" y="99330"/>
                      <a:pt x="370354" y="102493"/>
                    </a:cubicBezTo>
                    <a:cubicBezTo>
                      <a:pt x="365294" y="108817"/>
                      <a:pt x="359602" y="113877"/>
                      <a:pt x="353278" y="118937"/>
                    </a:cubicBezTo>
                    <a:cubicBezTo>
                      <a:pt x="350748" y="121467"/>
                      <a:pt x="346321" y="123996"/>
                      <a:pt x="340628" y="123996"/>
                    </a:cubicBezTo>
                    <a:cubicBezTo>
                      <a:pt x="338731" y="125261"/>
                      <a:pt x="336201" y="126526"/>
                      <a:pt x="334304" y="126526"/>
                    </a:cubicBezTo>
                    <a:cubicBezTo>
                      <a:pt x="329877" y="126526"/>
                      <a:pt x="326714" y="123364"/>
                      <a:pt x="325449" y="122099"/>
                    </a:cubicBezTo>
                    <a:cubicBezTo>
                      <a:pt x="309005" y="105655"/>
                      <a:pt x="289399" y="93638"/>
                      <a:pt x="267263" y="86049"/>
                    </a:cubicBezTo>
                    <a:cubicBezTo>
                      <a:pt x="257776" y="82886"/>
                      <a:pt x="247024" y="80357"/>
                      <a:pt x="235008" y="79092"/>
                    </a:cubicBezTo>
                    <a:cubicBezTo>
                      <a:pt x="233743" y="79092"/>
                      <a:pt x="230580" y="79092"/>
                      <a:pt x="227418" y="75929"/>
                    </a:cubicBezTo>
                    <a:cubicBezTo>
                      <a:pt x="226153" y="74032"/>
                      <a:pt x="224888" y="71502"/>
                      <a:pt x="225521" y="68972"/>
                    </a:cubicBezTo>
                    <a:cubicBezTo>
                      <a:pt x="225521" y="68972"/>
                      <a:pt x="225521" y="68972"/>
                      <a:pt x="224888" y="68340"/>
                    </a:cubicBezTo>
                    <a:cubicBezTo>
                      <a:pt x="222358" y="65810"/>
                      <a:pt x="221093" y="62015"/>
                      <a:pt x="221093" y="58221"/>
                    </a:cubicBezTo>
                    <a:lnTo>
                      <a:pt x="221093" y="56323"/>
                    </a:lnTo>
                    <a:cubicBezTo>
                      <a:pt x="221093" y="52528"/>
                      <a:pt x="221093" y="49366"/>
                      <a:pt x="221726" y="44939"/>
                    </a:cubicBezTo>
                    <a:cubicBezTo>
                      <a:pt x="222358" y="39879"/>
                      <a:pt x="222991" y="34819"/>
                      <a:pt x="223623" y="29760"/>
                    </a:cubicBezTo>
                    <a:lnTo>
                      <a:pt x="224256" y="25333"/>
                    </a:lnTo>
                    <a:lnTo>
                      <a:pt x="224256" y="24700"/>
                    </a:lnTo>
                    <a:lnTo>
                      <a:pt x="224256" y="23435"/>
                    </a:lnTo>
                    <a:cubicBezTo>
                      <a:pt x="224256" y="22803"/>
                      <a:pt x="224256" y="22170"/>
                      <a:pt x="224256" y="21538"/>
                    </a:cubicBezTo>
                    <a:cubicBezTo>
                      <a:pt x="224256" y="19008"/>
                      <a:pt x="222358" y="16478"/>
                      <a:pt x="220461" y="16478"/>
                    </a:cubicBezTo>
                    <a:cubicBezTo>
                      <a:pt x="217931" y="16478"/>
                      <a:pt x="216034" y="18376"/>
                      <a:pt x="216034" y="20905"/>
                    </a:cubicBezTo>
                    <a:cubicBezTo>
                      <a:pt x="215401" y="23435"/>
                      <a:pt x="216034" y="26598"/>
                      <a:pt x="216666" y="30392"/>
                    </a:cubicBezTo>
                    <a:cubicBezTo>
                      <a:pt x="217931" y="38614"/>
                      <a:pt x="219196" y="47469"/>
                      <a:pt x="219196" y="56323"/>
                    </a:cubicBezTo>
                    <a:cubicBezTo>
                      <a:pt x="219196" y="58853"/>
                      <a:pt x="219196" y="63913"/>
                      <a:pt x="214769" y="68340"/>
                    </a:cubicBezTo>
                    <a:cubicBezTo>
                      <a:pt x="214769" y="68340"/>
                      <a:pt x="214769" y="68340"/>
                      <a:pt x="214769" y="68340"/>
                    </a:cubicBezTo>
                    <a:cubicBezTo>
                      <a:pt x="214769" y="70870"/>
                      <a:pt x="214136" y="73400"/>
                      <a:pt x="212871" y="75297"/>
                    </a:cubicBezTo>
                    <a:cubicBezTo>
                      <a:pt x="210974" y="77194"/>
                      <a:pt x="208444" y="78459"/>
                      <a:pt x="205282" y="78459"/>
                    </a:cubicBezTo>
                    <a:cubicBezTo>
                      <a:pt x="204649" y="78459"/>
                      <a:pt x="204649" y="78459"/>
                      <a:pt x="204017" y="78459"/>
                    </a:cubicBezTo>
                    <a:cubicBezTo>
                      <a:pt x="203385" y="78459"/>
                      <a:pt x="202752" y="78459"/>
                      <a:pt x="202120" y="78459"/>
                    </a:cubicBezTo>
                    <a:cubicBezTo>
                      <a:pt x="167967" y="82886"/>
                      <a:pt x="138874" y="96801"/>
                      <a:pt x="114840" y="120834"/>
                    </a:cubicBezTo>
                    <a:cubicBezTo>
                      <a:pt x="113575" y="122099"/>
                      <a:pt x="110413" y="125261"/>
                      <a:pt x="105353" y="125261"/>
                    </a:cubicBezTo>
                    <a:cubicBezTo>
                      <a:pt x="103456" y="125261"/>
                      <a:pt x="101559" y="124629"/>
                      <a:pt x="99661" y="123364"/>
                    </a:cubicBezTo>
                    <a:cubicBezTo>
                      <a:pt x="95866" y="123364"/>
                      <a:pt x="92072" y="122099"/>
                      <a:pt x="88277" y="119569"/>
                    </a:cubicBezTo>
                    <a:cubicBezTo>
                      <a:pt x="82585" y="115142"/>
                      <a:pt x="76893" y="109450"/>
                      <a:pt x="70568" y="102493"/>
                    </a:cubicBezTo>
                    <a:cubicBezTo>
                      <a:pt x="67406" y="99330"/>
                      <a:pt x="64876" y="96801"/>
                      <a:pt x="62346" y="94903"/>
                    </a:cubicBezTo>
                    <a:cubicBezTo>
                      <a:pt x="59816" y="93638"/>
                      <a:pt x="57286" y="93638"/>
                      <a:pt x="56021" y="95536"/>
                    </a:cubicBezTo>
                    <a:cubicBezTo>
                      <a:pt x="54756" y="97433"/>
                      <a:pt x="55389" y="99963"/>
                      <a:pt x="57286" y="101860"/>
                    </a:cubicBezTo>
                    <a:cubicBezTo>
                      <a:pt x="59816" y="104390"/>
                      <a:pt x="62978" y="106287"/>
                      <a:pt x="65508" y="107552"/>
                    </a:cubicBezTo>
                    <a:cubicBezTo>
                      <a:pt x="72465" y="111347"/>
                      <a:pt x="78790" y="115774"/>
                      <a:pt x="85115" y="120202"/>
                    </a:cubicBezTo>
                    <a:cubicBezTo>
                      <a:pt x="87644" y="122099"/>
                      <a:pt x="92072" y="125894"/>
                      <a:pt x="93337" y="132218"/>
                    </a:cubicBezTo>
                    <a:cubicBezTo>
                      <a:pt x="95234" y="133483"/>
                      <a:pt x="95866" y="135381"/>
                      <a:pt x="96499" y="137278"/>
                    </a:cubicBezTo>
                    <a:cubicBezTo>
                      <a:pt x="97764" y="141705"/>
                      <a:pt x="95234" y="145500"/>
                      <a:pt x="93969" y="147397"/>
                    </a:cubicBezTo>
                    <a:cubicBezTo>
                      <a:pt x="75628" y="177123"/>
                      <a:pt x="68038" y="210011"/>
                      <a:pt x="72465" y="244164"/>
                    </a:cubicBezTo>
                    <a:cubicBezTo>
                      <a:pt x="73730" y="253018"/>
                      <a:pt x="68038" y="256181"/>
                      <a:pt x="64876" y="256813"/>
                    </a:cubicBezTo>
                    <a:cubicBezTo>
                      <a:pt x="61081" y="262505"/>
                      <a:pt x="55389" y="263138"/>
                      <a:pt x="52859" y="263770"/>
                    </a:cubicBezTo>
                    <a:cubicBezTo>
                      <a:pt x="44637" y="265667"/>
                      <a:pt x="35783" y="266300"/>
                      <a:pt x="27561" y="266932"/>
                    </a:cubicBezTo>
                    <a:cubicBezTo>
                      <a:pt x="23766" y="266932"/>
                      <a:pt x="20604" y="267565"/>
                      <a:pt x="18074" y="268830"/>
                    </a:cubicBezTo>
                    <a:cubicBezTo>
                      <a:pt x="15544" y="269462"/>
                      <a:pt x="14912" y="271992"/>
                      <a:pt x="14912" y="273889"/>
                    </a:cubicBezTo>
                    <a:cubicBezTo>
                      <a:pt x="15544" y="275787"/>
                      <a:pt x="17441" y="277052"/>
                      <a:pt x="19971" y="277052"/>
                    </a:cubicBezTo>
                    <a:cubicBezTo>
                      <a:pt x="23133" y="277052"/>
                      <a:pt x="26928" y="275787"/>
                      <a:pt x="30091" y="274522"/>
                    </a:cubicBezTo>
                    <a:cubicBezTo>
                      <a:pt x="38313" y="271360"/>
                      <a:pt x="45902" y="268830"/>
                      <a:pt x="52859" y="266932"/>
                    </a:cubicBezTo>
                    <a:lnTo>
                      <a:pt x="53492" y="266932"/>
                    </a:lnTo>
                    <a:cubicBezTo>
                      <a:pt x="56654" y="266300"/>
                      <a:pt x="61081" y="265035"/>
                      <a:pt x="66141" y="267565"/>
                    </a:cubicBezTo>
                    <a:cubicBezTo>
                      <a:pt x="66773" y="268197"/>
                      <a:pt x="67406" y="268197"/>
                      <a:pt x="67406" y="268197"/>
                    </a:cubicBezTo>
                    <a:cubicBezTo>
                      <a:pt x="69303" y="267565"/>
                      <a:pt x="72465" y="267565"/>
                      <a:pt x="74363" y="268830"/>
                    </a:cubicBezTo>
                    <a:cubicBezTo>
                      <a:pt x="78157" y="270727"/>
                      <a:pt x="78790" y="273889"/>
                      <a:pt x="79422" y="275154"/>
                    </a:cubicBezTo>
                    <a:cubicBezTo>
                      <a:pt x="91439" y="308675"/>
                      <a:pt x="112310" y="335238"/>
                      <a:pt x="142668" y="354212"/>
                    </a:cubicBezTo>
                    <a:cubicBezTo>
                      <a:pt x="147728" y="357374"/>
                      <a:pt x="148361" y="363066"/>
                      <a:pt x="146463" y="366861"/>
                    </a:cubicBezTo>
                    <a:close/>
                    <a:moveTo>
                      <a:pt x="284972" y="374451"/>
                    </a:moveTo>
                    <a:cubicBezTo>
                      <a:pt x="284972" y="374451"/>
                      <a:pt x="284972" y="374451"/>
                      <a:pt x="284972" y="374451"/>
                    </a:cubicBezTo>
                    <a:cubicBezTo>
                      <a:pt x="284972" y="374451"/>
                      <a:pt x="284972" y="374451"/>
                      <a:pt x="284972" y="374451"/>
                    </a:cubicBezTo>
                    <a:close/>
                    <a:moveTo>
                      <a:pt x="155318" y="373818"/>
                    </a:moveTo>
                    <a:cubicBezTo>
                      <a:pt x="155318" y="373818"/>
                      <a:pt x="155318" y="373818"/>
                      <a:pt x="155318" y="373818"/>
                    </a:cubicBezTo>
                    <a:cubicBezTo>
                      <a:pt x="155318" y="373818"/>
                      <a:pt x="155318" y="373818"/>
                      <a:pt x="155318" y="373818"/>
                    </a:cubicBezTo>
                    <a:close/>
                    <a:moveTo>
                      <a:pt x="145198" y="364964"/>
                    </a:moveTo>
                    <a:cubicBezTo>
                      <a:pt x="145198" y="364964"/>
                      <a:pt x="145198" y="364964"/>
                      <a:pt x="145198" y="364964"/>
                    </a:cubicBezTo>
                    <a:cubicBezTo>
                      <a:pt x="145198" y="364964"/>
                      <a:pt x="145198" y="364964"/>
                      <a:pt x="145198" y="364964"/>
                    </a:cubicBezTo>
                    <a:close/>
                    <a:moveTo>
                      <a:pt x="294459" y="364331"/>
                    </a:moveTo>
                    <a:cubicBezTo>
                      <a:pt x="294459" y="364331"/>
                      <a:pt x="294459" y="364331"/>
                      <a:pt x="294459" y="364331"/>
                    </a:cubicBezTo>
                    <a:cubicBezTo>
                      <a:pt x="294459" y="364331"/>
                      <a:pt x="294459" y="364331"/>
                      <a:pt x="294459" y="364331"/>
                    </a:cubicBezTo>
                    <a:close/>
                    <a:moveTo>
                      <a:pt x="65508" y="254283"/>
                    </a:moveTo>
                    <a:cubicBezTo>
                      <a:pt x="65508" y="254283"/>
                      <a:pt x="65508" y="254283"/>
                      <a:pt x="65508" y="254283"/>
                    </a:cubicBezTo>
                    <a:cubicBezTo>
                      <a:pt x="65508" y="254283"/>
                      <a:pt x="65508" y="254283"/>
                      <a:pt x="65508" y="254283"/>
                    </a:cubicBezTo>
                    <a:close/>
                    <a:moveTo>
                      <a:pt x="89542" y="129688"/>
                    </a:moveTo>
                    <a:cubicBezTo>
                      <a:pt x="89542" y="129688"/>
                      <a:pt x="89542" y="129688"/>
                      <a:pt x="89542" y="129688"/>
                    </a:cubicBezTo>
                    <a:cubicBezTo>
                      <a:pt x="89542" y="129688"/>
                      <a:pt x="89542" y="129688"/>
                      <a:pt x="89542" y="129688"/>
                    </a:cubicBezTo>
                    <a:close/>
                    <a:moveTo>
                      <a:pt x="219829" y="359904"/>
                    </a:moveTo>
                    <a:cubicBezTo>
                      <a:pt x="206547" y="359904"/>
                      <a:pt x="193265" y="358007"/>
                      <a:pt x="180616" y="353579"/>
                    </a:cubicBezTo>
                    <a:cubicBezTo>
                      <a:pt x="179351" y="352947"/>
                      <a:pt x="174924" y="351682"/>
                      <a:pt x="173659" y="347887"/>
                    </a:cubicBezTo>
                    <a:cubicBezTo>
                      <a:pt x="171762" y="343460"/>
                      <a:pt x="174291" y="339665"/>
                      <a:pt x="174924" y="338400"/>
                    </a:cubicBezTo>
                    <a:cubicBezTo>
                      <a:pt x="180616" y="328281"/>
                      <a:pt x="186308" y="317529"/>
                      <a:pt x="192000" y="307410"/>
                    </a:cubicBezTo>
                    <a:lnTo>
                      <a:pt x="203385" y="286539"/>
                    </a:lnTo>
                    <a:cubicBezTo>
                      <a:pt x="207179" y="280214"/>
                      <a:pt x="212871" y="276419"/>
                      <a:pt x="219829" y="276419"/>
                    </a:cubicBezTo>
                    <a:cubicBezTo>
                      <a:pt x="226786" y="276419"/>
                      <a:pt x="232478" y="280214"/>
                      <a:pt x="236272" y="286539"/>
                    </a:cubicBezTo>
                    <a:cubicBezTo>
                      <a:pt x="241332" y="295393"/>
                      <a:pt x="245759" y="304247"/>
                      <a:pt x="250819" y="312469"/>
                    </a:cubicBezTo>
                    <a:lnTo>
                      <a:pt x="259041" y="327648"/>
                    </a:lnTo>
                    <a:cubicBezTo>
                      <a:pt x="260938" y="330811"/>
                      <a:pt x="262836" y="334606"/>
                      <a:pt x="264733" y="337768"/>
                    </a:cubicBezTo>
                    <a:cubicBezTo>
                      <a:pt x="265366" y="339033"/>
                      <a:pt x="267896" y="343460"/>
                      <a:pt x="265998" y="347887"/>
                    </a:cubicBezTo>
                    <a:cubicBezTo>
                      <a:pt x="264101" y="352314"/>
                      <a:pt x="259674" y="353579"/>
                      <a:pt x="258409" y="354212"/>
                    </a:cubicBezTo>
                    <a:lnTo>
                      <a:pt x="258409" y="354212"/>
                    </a:lnTo>
                    <a:cubicBezTo>
                      <a:pt x="245759" y="357374"/>
                      <a:pt x="232478" y="359271"/>
                      <a:pt x="219829" y="359904"/>
                    </a:cubicBezTo>
                    <a:close/>
                    <a:moveTo>
                      <a:pt x="191368" y="340298"/>
                    </a:moveTo>
                    <a:cubicBezTo>
                      <a:pt x="200855" y="342828"/>
                      <a:pt x="210342" y="344092"/>
                      <a:pt x="219829" y="344092"/>
                    </a:cubicBezTo>
                    <a:cubicBezTo>
                      <a:pt x="229315" y="344092"/>
                      <a:pt x="238170" y="342828"/>
                      <a:pt x="247657" y="340298"/>
                    </a:cubicBezTo>
                    <a:cubicBezTo>
                      <a:pt x="246392" y="338400"/>
                      <a:pt x="245759" y="336503"/>
                      <a:pt x="244494" y="335238"/>
                    </a:cubicBezTo>
                    <a:lnTo>
                      <a:pt x="236272" y="320059"/>
                    </a:lnTo>
                    <a:cubicBezTo>
                      <a:pt x="231213" y="311205"/>
                      <a:pt x="226786" y="302983"/>
                      <a:pt x="221726" y="294128"/>
                    </a:cubicBezTo>
                    <a:cubicBezTo>
                      <a:pt x="221093" y="292863"/>
                      <a:pt x="219829" y="291598"/>
                      <a:pt x="219196" y="292231"/>
                    </a:cubicBezTo>
                    <a:cubicBezTo>
                      <a:pt x="218564" y="292231"/>
                      <a:pt x="217299" y="292863"/>
                      <a:pt x="216666" y="294128"/>
                    </a:cubicBezTo>
                    <a:lnTo>
                      <a:pt x="205282" y="314999"/>
                    </a:lnTo>
                    <a:cubicBezTo>
                      <a:pt x="200855" y="323221"/>
                      <a:pt x="196428" y="331443"/>
                      <a:pt x="191368" y="340298"/>
                    </a:cubicBezTo>
                    <a:close/>
                    <a:moveTo>
                      <a:pt x="288134" y="339033"/>
                    </a:moveTo>
                    <a:cubicBezTo>
                      <a:pt x="287502" y="339033"/>
                      <a:pt x="286237" y="339033"/>
                      <a:pt x="285604" y="338400"/>
                    </a:cubicBezTo>
                    <a:cubicBezTo>
                      <a:pt x="281177" y="337135"/>
                      <a:pt x="279912" y="333341"/>
                      <a:pt x="279280" y="332076"/>
                    </a:cubicBezTo>
                    <a:cubicBezTo>
                      <a:pt x="273588" y="317529"/>
                      <a:pt x="267263" y="302983"/>
                      <a:pt x="261571" y="289068"/>
                    </a:cubicBezTo>
                    <a:lnTo>
                      <a:pt x="256511" y="276419"/>
                    </a:lnTo>
                    <a:cubicBezTo>
                      <a:pt x="255879" y="274522"/>
                      <a:pt x="254614" y="271992"/>
                      <a:pt x="255246" y="268830"/>
                    </a:cubicBezTo>
                    <a:cubicBezTo>
                      <a:pt x="255246" y="263770"/>
                      <a:pt x="257776" y="258710"/>
                      <a:pt x="262203" y="254916"/>
                    </a:cubicBezTo>
                    <a:cubicBezTo>
                      <a:pt x="266631" y="251753"/>
                      <a:pt x="271690" y="249856"/>
                      <a:pt x="276750" y="251121"/>
                    </a:cubicBezTo>
                    <a:cubicBezTo>
                      <a:pt x="289399" y="253018"/>
                      <a:pt x="302048" y="255548"/>
                      <a:pt x="314698" y="257445"/>
                    </a:cubicBezTo>
                    <a:lnTo>
                      <a:pt x="336201" y="261240"/>
                    </a:lnTo>
                    <a:cubicBezTo>
                      <a:pt x="337466" y="261240"/>
                      <a:pt x="341893" y="261873"/>
                      <a:pt x="343791" y="266300"/>
                    </a:cubicBezTo>
                    <a:cubicBezTo>
                      <a:pt x="345056" y="268830"/>
                      <a:pt x="345688" y="271992"/>
                      <a:pt x="343791" y="275787"/>
                    </a:cubicBezTo>
                    <a:lnTo>
                      <a:pt x="343791" y="275787"/>
                    </a:lnTo>
                    <a:cubicBezTo>
                      <a:pt x="333671" y="301718"/>
                      <a:pt x="317227" y="322589"/>
                      <a:pt x="294459" y="337768"/>
                    </a:cubicBezTo>
                    <a:cubicBezTo>
                      <a:pt x="293826" y="337135"/>
                      <a:pt x="291297" y="339033"/>
                      <a:pt x="288134" y="339033"/>
                    </a:cubicBezTo>
                    <a:close/>
                    <a:moveTo>
                      <a:pt x="270425" y="268830"/>
                    </a:moveTo>
                    <a:cubicBezTo>
                      <a:pt x="270425" y="268830"/>
                      <a:pt x="270425" y="269462"/>
                      <a:pt x="270425" y="269462"/>
                    </a:cubicBezTo>
                    <a:lnTo>
                      <a:pt x="275485" y="282111"/>
                    </a:lnTo>
                    <a:cubicBezTo>
                      <a:pt x="280545" y="294128"/>
                      <a:pt x="285604" y="306777"/>
                      <a:pt x="290664" y="318794"/>
                    </a:cubicBezTo>
                    <a:cubicBezTo>
                      <a:pt x="306476" y="306777"/>
                      <a:pt x="317860" y="291598"/>
                      <a:pt x="326082" y="273889"/>
                    </a:cubicBezTo>
                    <a:lnTo>
                      <a:pt x="310903" y="271360"/>
                    </a:lnTo>
                    <a:cubicBezTo>
                      <a:pt x="298254" y="269462"/>
                      <a:pt x="285604" y="266932"/>
                      <a:pt x="272955" y="265035"/>
                    </a:cubicBezTo>
                    <a:cubicBezTo>
                      <a:pt x="271690" y="265035"/>
                      <a:pt x="271058" y="265035"/>
                      <a:pt x="271058" y="265667"/>
                    </a:cubicBezTo>
                    <a:cubicBezTo>
                      <a:pt x="271058" y="266932"/>
                      <a:pt x="270425" y="267565"/>
                      <a:pt x="270425" y="268830"/>
                    </a:cubicBezTo>
                    <a:lnTo>
                      <a:pt x="270425" y="268830"/>
                    </a:lnTo>
                    <a:close/>
                    <a:moveTo>
                      <a:pt x="151523" y="338400"/>
                    </a:moveTo>
                    <a:cubicBezTo>
                      <a:pt x="148361" y="338400"/>
                      <a:pt x="145831" y="336503"/>
                      <a:pt x="144566" y="335870"/>
                    </a:cubicBezTo>
                    <a:cubicBezTo>
                      <a:pt x="122430" y="320691"/>
                      <a:pt x="106618" y="300453"/>
                      <a:pt x="96499" y="275154"/>
                    </a:cubicBezTo>
                    <a:cubicBezTo>
                      <a:pt x="95866" y="273257"/>
                      <a:pt x="93969" y="269462"/>
                      <a:pt x="96499" y="265667"/>
                    </a:cubicBezTo>
                    <a:cubicBezTo>
                      <a:pt x="97764" y="263138"/>
                      <a:pt x="100926" y="261240"/>
                      <a:pt x="104088" y="260608"/>
                    </a:cubicBezTo>
                    <a:cubicBezTo>
                      <a:pt x="119267" y="258078"/>
                      <a:pt x="135079" y="255548"/>
                      <a:pt x="150258" y="253018"/>
                    </a:cubicBezTo>
                    <a:lnTo>
                      <a:pt x="166702" y="250488"/>
                    </a:lnTo>
                    <a:cubicBezTo>
                      <a:pt x="172394" y="250488"/>
                      <a:pt x="177454" y="253018"/>
                      <a:pt x="181248" y="257445"/>
                    </a:cubicBezTo>
                    <a:cubicBezTo>
                      <a:pt x="185043" y="261873"/>
                      <a:pt x="186308" y="267565"/>
                      <a:pt x="185043" y="272624"/>
                    </a:cubicBezTo>
                    <a:lnTo>
                      <a:pt x="185043" y="272624"/>
                    </a:lnTo>
                    <a:cubicBezTo>
                      <a:pt x="184411" y="275154"/>
                      <a:pt x="183778" y="277052"/>
                      <a:pt x="183146" y="278949"/>
                    </a:cubicBezTo>
                    <a:lnTo>
                      <a:pt x="176821" y="294761"/>
                    </a:lnTo>
                    <a:cubicBezTo>
                      <a:pt x="171762" y="306777"/>
                      <a:pt x="166702" y="318794"/>
                      <a:pt x="161642" y="331443"/>
                    </a:cubicBezTo>
                    <a:cubicBezTo>
                      <a:pt x="161010" y="332708"/>
                      <a:pt x="159112" y="337135"/>
                      <a:pt x="154685" y="338400"/>
                    </a:cubicBezTo>
                    <a:cubicBezTo>
                      <a:pt x="153420" y="338400"/>
                      <a:pt x="152155" y="338400"/>
                      <a:pt x="151523" y="338400"/>
                    </a:cubicBezTo>
                    <a:close/>
                    <a:moveTo>
                      <a:pt x="113575" y="275154"/>
                    </a:moveTo>
                    <a:cubicBezTo>
                      <a:pt x="121797" y="292863"/>
                      <a:pt x="133814" y="307410"/>
                      <a:pt x="148993" y="319427"/>
                    </a:cubicBezTo>
                    <a:cubicBezTo>
                      <a:pt x="153420" y="308675"/>
                      <a:pt x="157215" y="298555"/>
                      <a:pt x="161642" y="288436"/>
                    </a:cubicBezTo>
                    <a:lnTo>
                      <a:pt x="167967" y="272624"/>
                    </a:lnTo>
                    <a:cubicBezTo>
                      <a:pt x="168599" y="271360"/>
                      <a:pt x="168599" y="270095"/>
                      <a:pt x="169232" y="269462"/>
                    </a:cubicBezTo>
                    <a:cubicBezTo>
                      <a:pt x="169232" y="268830"/>
                      <a:pt x="169232" y="268197"/>
                      <a:pt x="168599" y="267565"/>
                    </a:cubicBezTo>
                    <a:cubicBezTo>
                      <a:pt x="167967" y="266932"/>
                      <a:pt x="167334" y="266932"/>
                      <a:pt x="167334" y="266300"/>
                    </a:cubicBezTo>
                    <a:lnTo>
                      <a:pt x="152788" y="268830"/>
                    </a:lnTo>
                    <a:cubicBezTo>
                      <a:pt x="139506" y="270727"/>
                      <a:pt x="126224" y="273257"/>
                      <a:pt x="113575" y="275154"/>
                    </a:cubicBezTo>
                    <a:close/>
                    <a:moveTo>
                      <a:pt x="89542" y="249223"/>
                    </a:moveTo>
                    <a:lnTo>
                      <a:pt x="87644" y="241001"/>
                    </a:lnTo>
                    <a:cubicBezTo>
                      <a:pt x="85747" y="232147"/>
                      <a:pt x="86379" y="223925"/>
                      <a:pt x="87012" y="216968"/>
                    </a:cubicBezTo>
                    <a:cubicBezTo>
                      <a:pt x="88277" y="196729"/>
                      <a:pt x="94601" y="177755"/>
                      <a:pt x="104088" y="160047"/>
                    </a:cubicBezTo>
                    <a:cubicBezTo>
                      <a:pt x="104721" y="158782"/>
                      <a:pt x="107251" y="154987"/>
                      <a:pt x="111678" y="154354"/>
                    </a:cubicBezTo>
                    <a:cubicBezTo>
                      <a:pt x="114840" y="153722"/>
                      <a:pt x="117370" y="154987"/>
                      <a:pt x="120532" y="157517"/>
                    </a:cubicBezTo>
                    <a:cubicBezTo>
                      <a:pt x="135079" y="170798"/>
                      <a:pt x="149625" y="183448"/>
                      <a:pt x="164172" y="196729"/>
                    </a:cubicBezTo>
                    <a:cubicBezTo>
                      <a:pt x="170497" y="202421"/>
                      <a:pt x="173026" y="208746"/>
                      <a:pt x="171129" y="216336"/>
                    </a:cubicBezTo>
                    <a:cubicBezTo>
                      <a:pt x="169232" y="223293"/>
                      <a:pt x="164805" y="228352"/>
                      <a:pt x="156583" y="230250"/>
                    </a:cubicBezTo>
                    <a:cubicBezTo>
                      <a:pt x="142036" y="234677"/>
                      <a:pt x="127489" y="238472"/>
                      <a:pt x="112943" y="242899"/>
                    </a:cubicBezTo>
                    <a:lnTo>
                      <a:pt x="89542" y="249223"/>
                    </a:lnTo>
                    <a:close/>
                    <a:moveTo>
                      <a:pt x="114840" y="173328"/>
                    </a:moveTo>
                    <a:cubicBezTo>
                      <a:pt x="107883" y="187242"/>
                      <a:pt x="103456" y="202421"/>
                      <a:pt x="102823" y="217600"/>
                    </a:cubicBezTo>
                    <a:lnTo>
                      <a:pt x="102823" y="217600"/>
                    </a:lnTo>
                    <a:cubicBezTo>
                      <a:pt x="102823" y="221395"/>
                      <a:pt x="102191" y="225190"/>
                      <a:pt x="102191" y="228352"/>
                    </a:cubicBezTo>
                    <a:lnTo>
                      <a:pt x="108516" y="226455"/>
                    </a:lnTo>
                    <a:cubicBezTo>
                      <a:pt x="123062" y="222028"/>
                      <a:pt x="137609" y="218233"/>
                      <a:pt x="152155" y="213806"/>
                    </a:cubicBezTo>
                    <a:cubicBezTo>
                      <a:pt x="155318" y="213173"/>
                      <a:pt x="155318" y="211908"/>
                      <a:pt x="155950" y="211276"/>
                    </a:cubicBezTo>
                    <a:cubicBezTo>
                      <a:pt x="155950" y="210643"/>
                      <a:pt x="156583" y="209378"/>
                      <a:pt x="154053" y="207481"/>
                    </a:cubicBezTo>
                    <a:cubicBezTo>
                      <a:pt x="140771" y="196729"/>
                      <a:pt x="128122" y="184713"/>
                      <a:pt x="114840" y="173328"/>
                    </a:cubicBezTo>
                    <a:close/>
                    <a:moveTo>
                      <a:pt x="343158" y="246694"/>
                    </a:moveTo>
                    <a:cubicBezTo>
                      <a:pt x="341261" y="246694"/>
                      <a:pt x="339996" y="246061"/>
                      <a:pt x="339364" y="246061"/>
                    </a:cubicBezTo>
                    <a:lnTo>
                      <a:pt x="321022" y="241001"/>
                    </a:lnTo>
                    <a:cubicBezTo>
                      <a:pt x="307741" y="237207"/>
                      <a:pt x="294459" y="233412"/>
                      <a:pt x="281177" y="229617"/>
                    </a:cubicBezTo>
                    <a:cubicBezTo>
                      <a:pt x="274220" y="227720"/>
                      <a:pt x="269160" y="222660"/>
                      <a:pt x="267896" y="215703"/>
                    </a:cubicBezTo>
                    <a:cubicBezTo>
                      <a:pt x="266631" y="209378"/>
                      <a:pt x="268528" y="202421"/>
                      <a:pt x="274220" y="197362"/>
                    </a:cubicBezTo>
                    <a:cubicBezTo>
                      <a:pt x="281177" y="191037"/>
                      <a:pt x="288767" y="184080"/>
                      <a:pt x="295724" y="177755"/>
                    </a:cubicBezTo>
                    <a:cubicBezTo>
                      <a:pt x="303313" y="170798"/>
                      <a:pt x="310903" y="164474"/>
                      <a:pt x="318492" y="157517"/>
                    </a:cubicBezTo>
                    <a:cubicBezTo>
                      <a:pt x="319757" y="156884"/>
                      <a:pt x="322920" y="153722"/>
                      <a:pt x="327347" y="154354"/>
                    </a:cubicBezTo>
                    <a:cubicBezTo>
                      <a:pt x="331774" y="154987"/>
                      <a:pt x="334304" y="158782"/>
                      <a:pt x="334936" y="160047"/>
                    </a:cubicBezTo>
                    <a:cubicBezTo>
                      <a:pt x="345056" y="177755"/>
                      <a:pt x="350748" y="196097"/>
                      <a:pt x="352645" y="215703"/>
                    </a:cubicBezTo>
                    <a:lnTo>
                      <a:pt x="352645" y="216968"/>
                    </a:lnTo>
                    <a:cubicBezTo>
                      <a:pt x="352645" y="220130"/>
                      <a:pt x="353278" y="223925"/>
                      <a:pt x="353278" y="227720"/>
                    </a:cubicBezTo>
                    <a:cubicBezTo>
                      <a:pt x="353278" y="231515"/>
                      <a:pt x="353278" y="234677"/>
                      <a:pt x="352645" y="237839"/>
                    </a:cubicBezTo>
                    <a:lnTo>
                      <a:pt x="352645" y="237839"/>
                    </a:lnTo>
                    <a:cubicBezTo>
                      <a:pt x="352013" y="242266"/>
                      <a:pt x="350115" y="244164"/>
                      <a:pt x="348218" y="245429"/>
                    </a:cubicBezTo>
                    <a:cubicBezTo>
                      <a:pt x="346953" y="246061"/>
                      <a:pt x="345056" y="246694"/>
                      <a:pt x="343158" y="246694"/>
                    </a:cubicBezTo>
                    <a:close/>
                    <a:moveTo>
                      <a:pt x="324184" y="173328"/>
                    </a:moveTo>
                    <a:cubicBezTo>
                      <a:pt x="318492" y="178388"/>
                      <a:pt x="312168" y="184080"/>
                      <a:pt x="306476" y="189140"/>
                    </a:cubicBezTo>
                    <a:cubicBezTo>
                      <a:pt x="299519" y="195464"/>
                      <a:pt x="291929" y="202421"/>
                      <a:pt x="284972" y="208746"/>
                    </a:cubicBezTo>
                    <a:cubicBezTo>
                      <a:pt x="283707" y="210011"/>
                      <a:pt x="283075" y="210643"/>
                      <a:pt x="283075" y="211908"/>
                    </a:cubicBezTo>
                    <a:cubicBezTo>
                      <a:pt x="283075" y="212541"/>
                      <a:pt x="284339" y="213173"/>
                      <a:pt x="285604" y="213806"/>
                    </a:cubicBezTo>
                    <a:cubicBezTo>
                      <a:pt x="298886" y="217600"/>
                      <a:pt x="312168" y="221395"/>
                      <a:pt x="325449" y="225190"/>
                    </a:cubicBezTo>
                    <a:lnTo>
                      <a:pt x="336834" y="228352"/>
                    </a:lnTo>
                    <a:cubicBezTo>
                      <a:pt x="336834" y="227720"/>
                      <a:pt x="336834" y="227087"/>
                      <a:pt x="336834" y="227087"/>
                    </a:cubicBezTo>
                    <a:lnTo>
                      <a:pt x="336834" y="226455"/>
                    </a:lnTo>
                    <a:cubicBezTo>
                      <a:pt x="336834" y="223925"/>
                      <a:pt x="336834" y="220763"/>
                      <a:pt x="336201" y="217600"/>
                    </a:cubicBezTo>
                    <a:lnTo>
                      <a:pt x="336201" y="216336"/>
                    </a:lnTo>
                    <a:cubicBezTo>
                      <a:pt x="335569" y="201789"/>
                      <a:pt x="331142" y="187242"/>
                      <a:pt x="324184" y="173328"/>
                    </a:cubicBezTo>
                    <a:close/>
                    <a:moveTo>
                      <a:pt x="128754" y="129056"/>
                    </a:moveTo>
                    <a:cubicBezTo>
                      <a:pt x="147096" y="111980"/>
                      <a:pt x="169232" y="100595"/>
                      <a:pt x="194530" y="95536"/>
                    </a:cubicBezTo>
                    <a:lnTo>
                      <a:pt x="195163" y="95536"/>
                    </a:lnTo>
                    <a:cubicBezTo>
                      <a:pt x="196428" y="95536"/>
                      <a:pt x="197060" y="94903"/>
                      <a:pt x="198325" y="94903"/>
                    </a:cubicBezTo>
                    <a:cubicBezTo>
                      <a:pt x="201487" y="94271"/>
                      <a:pt x="205282" y="93638"/>
                      <a:pt x="209077" y="96801"/>
                    </a:cubicBezTo>
                    <a:cubicBezTo>
                      <a:pt x="212239" y="99963"/>
                      <a:pt x="212239" y="103758"/>
                      <a:pt x="212239" y="106920"/>
                    </a:cubicBezTo>
                    <a:lnTo>
                      <a:pt x="210974" y="123364"/>
                    </a:lnTo>
                    <a:cubicBezTo>
                      <a:pt x="210342" y="137910"/>
                      <a:pt x="209077" y="151825"/>
                      <a:pt x="208444" y="166371"/>
                    </a:cubicBezTo>
                    <a:cubicBezTo>
                      <a:pt x="207812" y="173328"/>
                      <a:pt x="204017" y="179020"/>
                      <a:pt x="198325" y="182183"/>
                    </a:cubicBezTo>
                    <a:cubicBezTo>
                      <a:pt x="195795" y="183448"/>
                      <a:pt x="193265" y="184080"/>
                      <a:pt x="190735" y="184080"/>
                    </a:cubicBezTo>
                    <a:cubicBezTo>
                      <a:pt x="186941" y="184080"/>
                      <a:pt x="183146" y="182815"/>
                      <a:pt x="179984" y="180918"/>
                    </a:cubicBezTo>
                    <a:cubicBezTo>
                      <a:pt x="171762" y="175226"/>
                      <a:pt x="163540" y="168901"/>
                      <a:pt x="154685" y="163209"/>
                    </a:cubicBezTo>
                    <a:cubicBezTo>
                      <a:pt x="146463" y="157517"/>
                      <a:pt x="138241" y="151192"/>
                      <a:pt x="129387" y="145500"/>
                    </a:cubicBezTo>
                    <a:cubicBezTo>
                      <a:pt x="126857" y="142970"/>
                      <a:pt x="124960" y="140440"/>
                      <a:pt x="124960" y="137278"/>
                    </a:cubicBezTo>
                    <a:cubicBezTo>
                      <a:pt x="124327" y="132851"/>
                      <a:pt x="127489" y="130321"/>
                      <a:pt x="128754" y="129056"/>
                    </a:cubicBezTo>
                    <a:moveTo>
                      <a:pt x="144566" y="136013"/>
                    </a:moveTo>
                    <a:cubicBezTo>
                      <a:pt x="150890" y="140440"/>
                      <a:pt x="157215" y="144868"/>
                      <a:pt x="163540" y="149295"/>
                    </a:cubicBezTo>
                    <a:cubicBezTo>
                      <a:pt x="171762" y="154987"/>
                      <a:pt x="179984" y="161311"/>
                      <a:pt x="188206" y="167004"/>
                    </a:cubicBezTo>
                    <a:cubicBezTo>
                      <a:pt x="189470" y="167636"/>
                      <a:pt x="190103" y="167636"/>
                      <a:pt x="190735" y="167636"/>
                    </a:cubicBezTo>
                    <a:cubicBezTo>
                      <a:pt x="191368" y="167636"/>
                      <a:pt x="192000" y="167004"/>
                      <a:pt x="192000" y="165106"/>
                    </a:cubicBezTo>
                    <a:cubicBezTo>
                      <a:pt x="192633" y="150560"/>
                      <a:pt x="193898" y="136646"/>
                      <a:pt x="194530" y="122099"/>
                    </a:cubicBezTo>
                    <a:lnTo>
                      <a:pt x="195163" y="111347"/>
                    </a:lnTo>
                    <a:cubicBezTo>
                      <a:pt x="176821" y="115142"/>
                      <a:pt x="159745" y="123996"/>
                      <a:pt x="144566" y="136013"/>
                    </a:cubicBezTo>
                    <a:close/>
                    <a:moveTo>
                      <a:pt x="248922" y="183448"/>
                    </a:moveTo>
                    <a:cubicBezTo>
                      <a:pt x="245759" y="183448"/>
                      <a:pt x="243230" y="182815"/>
                      <a:pt x="241332" y="181550"/>
                    </a:cubicBezTo>
                    <a:cubicBezTo>
                      <a:pt x="236905" y="179653"/>
                      <a:pt x="231213" y="174593"/>
                      <a:pt x="230580" y="164474"/>
                    </a:cubicBezTo>
                    <a:lnTo>
                      <a:pt x="227418" y="110082"/>
                    </a:lnTo>
                    <a:cubicBezTo>
                      <a:pt x="227418" y="104390"/>
                      <a:pt x="227418" y="100595"/>
                      <a:pt x="230580" y="97433"/>
                    </a:cubicBezTo>
                    <a:cubicBezTo>
                      <a:pt x="234375" y="94271"/>
                      <a:pt x="238170" y="94903"/>
                      <a:pt x="242597" y="95536"/>
                    </a:cubicBezTo>
                    <a:lnTo>
                      <a:pt x="242597" y="95536"/>
                    </a:lnTo>
                    <a:cubicBezTo>
                      <a:pt x="267263" y="99963"/>
                      <a:pt x="289399" y="111347"/>
                      <a:pt x="309005" y="128424"/>
                    </a:cubicBezTo>
                    <a:cubicBezTo>
                      <a:pt x="310270" y="129688"/>
                      <a:pt x="313433" y="132851"/>
                      <a:pt x="313433" y="137278"/>
                    </a:cubicBezTo>
                    <a:cubicBezTo>
                      <a:pt x="313433" y="142338"/>
                      <a:pt x="309638" y="144868"/>
                      <a:pt x="307741" y="145500"/>
                    </a:cubicBezTo>
                    <a:cubicBezTo>
                      <a:pt x="291929" y="156252"/>
                      <a:pt x="276118" y="167636"/>
                      <a:pt x="260306" y="179020"/>
                    </a:cubicBezTo>
                    <a:cubicBezTo>
                      <a:pt x="257144" y="182183"/>
                      <a:pt x="252716" y="183448"/>
                      <a:pt x="248922" y="183448"/>
                    </a:cubicBezTo>
                    <a:close/>
                    <a:moveTo>
                      <a:pt x="243862" y="111347"/>
                    </a:moveTo>
                    <a:lnTo>
                      <a:pt x="247024" y="163209"/>
                    </a:lnTo>
                    <a:cubicBezTo>
                      <a:pt x="247024" y="166371"/>
                      <a:pt x="247657" y="166371"/>
                      <a:pt x="248289" y="167004"/>
                    </a:cubicBezTo>
                    <a:cubicBezTo>
                      <a:pt x="248922" y="167636"/>
                      <a:pt x="250187" y="167636"/>
                      <a:pt x="252716" y="165739"/>
                    </a:cubicBezTo>
                    <a:cubicBezTo>
                      <a:pt x="266631" y="155619"/>
                      <a:pt x="280545" y="145500"/>
                      <a:pt x="295091" y="136013"/>
                    </a:cubicBezTo>
                    <a:cubicBezTo>
                      <a:pt x="278647" y="123364"/>
                      <a:pt x="262203" y="115774"/>
                      <a:pt x="243862" y="111347"/>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79" name="Google Shape;2585;p19">
                <a:extLst>
                  <a:ext uri="{FF2B5EF4-FFF2-40B4-BE49-F238E27FC236}">
                    <a16:creationId xmlns:a16="http://schemas.microsoft.com/office/drawing/2014/main" id="{BAE435B4-DC4E-CDDE-2556-D1352E34F385}"/>
                  </a:ext>
                </a:extLst>
              </p:cNvPr>
              <p:cNvSpPr/>
              <p:nvPr/>
            </p:nvSpPr>
            <p:spPr>
              <a:xfrm>
                <a:off x="10032185" y="4702267"/>
                <a:ext cx="60716" cy="60083"/>
              </a:xfrm>
              <a:custGeom>
                <a:avLst/>
                <a:gdLst/>
                <a:ahLst/>
                <a:cxnLst/>
                <a:rect l="l" t="t" r="r" b="b"/>
                <a:pathLst>
                  <a:path w="60716" h="60083" extrusionOk="0">
                    <a:moveTo>
                      <a:pt x="30991" y="60084"/>
                    </a:moveTo>
                    <a:lnTo>
                      <a:pt x="6325" y="48067"/>
                    </a:lnTo>
                    <a:lnTo>
                      <a:pt x="0" y="21504"/>
                    </a:lnTo>
                    <a:lnTo>
                      <a:pt x="17076" y="0"/>
                    </a:lnTo>
                    <a:lnTo>
                      <a:pt x="44272" y="0"/>
                    </a:lnTo>
                    <a:lnTo>
                      <a:pt x="60716" y="21504"/>
                    </a:lnTo>
                    <a:lnTo>
                      <a:pt x="55024" y="48067"/>
                    </a:lnTo>
                    <a:lnTo>
                      <a:pt x="30991" y="60084"/>
                    </a:lnTo>
                    <a:close/>
                    <a:moveTo>
                      <a:pt x="20239" y="37315"/>
                    </a:moveTo>
                    <a:lnTo>
                      <a:pt x="30991" y="42375"/>
                    </a:lnTo>
                    <a:lnTo>
                      <a:pt x="41742" y="37315"/>
                    </a:lnTo>
                    <a:lnTo>
                      <a:pt x="44272" y="25931"/>
                    </a:lnTo>
                    <a:lnTo>
                      <a:pt x="37315" y="17076"/>
                    </a:lnTo>
                    <a:lnTo>
                      <a:pt x="24666" y="17076"/>
                    </a:lnTo>
                    <a:lnTo>
                      <a:pt x="17076" y="26563"/>
                    </a:lnTo>
                    <a:lnTo>
                      <a:pt x="20239" y="37315"/>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280" name="Google Shape;2610;p19">
            <a:extLst>
              <a:ext uri="{FF2B5EF4-FFF2-40B4-BE49-F238E27FC236}">
                <a16:creationId xmlns:a16="http://schemas.microsoft.com/office/drawing/2014/main" id="{5D8E5DFF-75BB-E311-3401-2639D708B49A}"/>
              </a:ext>
            </a:extLst>
          </p:cNvPr>
          <p:cNvGrpSpPr/>
          <p:nvPr/>
        </p:nvGrpSpPr>
        <p:grpSpPr>
          <a:xfrm>
            <a:off x="5591332" y="2203591"/>
            <a:ext cx="983602" cy="985802"/>
            <a:chOff x="5604198" y="1631191"/>
            <a:chExt cx="983602" cy="985802"/>
          </a:xfrm>
        </p:grpSpPr>
        <p:sp>
          <p:nvSpPr>
            <p:cNvPr id="281" name="Google Shape;2611;p19">
              <a:extLst>
                <a:ext uri="{FF2B5EF4-FFF2-40B4-BE49-F238E27FC236}">
                  <a16:creationId xmlns:a16="http://schemas.microsoft.com/office/drawing/2014/main" id="{60F180F6-5B06-05C2-021C-F3778D6CE8F5}"/>
                </a:ext>
              </a:extLst>
            </p:cNvPr>
            <p:cNvSpPr/>
            <p:nvPr/>
          </p:nvSpPr>
          <p:spPr>
            <a:xfrm>
              <a:off x="5604198" y="1631191"/>
              <a:ext cx="983602" cy="985802"/>
            </a:xfrm>
            <a:prstGeom prst="ellipse">
              <a:avLst/>
            </a:prstGeom>
            <a:solidFill>
              <a:schemeClr val="accent1"/>
            </a:solidFill>
            <a:ln w="25400" cap="flat" cmpd="sng">
              <a:solidFill>
                <a:schemeClr val="accent1"/>
              </a:solidFill>
              <a:prstDash val="solid"/>
              <a:round/>
              <a:headEnd type="none" w="sm" len="sm"/>
              <a:tailEnd type="none" w="sm" len="sm"/>
            </a:ln>
            <a:effectLst>
              <a:outerShdw sx="120000" sy="120000" algn="ctr" rotWithShape="0">
                <a:schemeClr val="accent1">
                  <a:alpha val="23921"/>
                </a:schemeClr>
              </a:outerShdw>
            </a:effectLst>
          </p:spPr>
          <p:txBody>
            <a:bodyPr spcFirstLastPara="1" wrap="square" lIns="82200" tIns="41075" rIns="82200" bIns="410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282" name="Google Shape;2612;p19" descr="Search">
              <a:extLst>
                <a:ext uri="{FF2B5EF4-FFF2-40B4-BE49-F238E27FC236}">
                  <a16:creationId xmlns:a16="http://schemas.microsoft.com/office/drawing/2014/main" id="{D69CCA4E-CA82-1ACB-D53E-84E4CB1C381E}"/>
                </a:ext>
              </a:extLst>
            </p:cNvPr>
            <p:cNvPicPr preferRelativeResize="0"/>
            <p:nvPr/>
          </p:nvPicPr>
          <p:blipFill rotWithShape="1">
            <a:blip r:embed="rId4">
              <a:alphaModFix/>
            </a:blip>
            <a:srcRect/>
            <a:stretch/>
          </p:blipFill>
          <p:spPr>
            <a:xfrm>
              <a:off x="5782383" y="1810476"/>
              <a:ext cx="627233" cy="627233"/>
            </a:xfrm>
            <a:prstGeom prst="rect">
              <a:avLst/>
            </a:prstGeom>
            <a:noFill/>
            <a:ln>
              <a:noFill/>
            </a:ln>
          </p:spPr>
        </p:pic>
      </p:grpSp>
      <p:grpSp>
        <p:nvGrpSpPr>
          <p:cNvPr id="283" name="Google Shape;2618;p19">
            <a:extLst>
              <a:ext uri="{FF2B5EF4-FFF2-40B4-BE49-F238E27FC236}">
                <a16:creationId xmlns:a16="http://schemas.microsoft.com/office/drawing/2014/main" id="{54F115E7-1F7A-DD7B-8228-9E3682FE3912}"/>
              </a:ext>
            </a:extLst>
          </p:cNvPr>
          <p:cNvGrpSpPr/>
          <p:nvPr/>
        </p:nvGrpSpPr>
        <p:grpSpPr>
          <a:xfrm>
            <a:off x="7873987" y="2203591"/>
            <a:ext cx="983602" cy="985802"/>
            <a:chOff x="7923819" y="1631191"/>
            <a:chExt cx="983602" cy="985802"/>
          </a:xfrm>
        </p:grpSpPr>
        <p:sp>
          <p:nvSpPr>
            <p:cNvPr id="284" name="Google Shape;2619;p19">
              <a:extLst>
                <a:ext uri="{FF2B5EF4-FFF2-40B4-BE49-F238E27FC236}">
                  <a16:creationId xmlns:a16="http://schemas.microsoft.com/office/drawing/2014/main" id="{4F670394-4B79-5468-44E4-2FC1D43434F8}"/>
                </a:ext>
              </a:extLst>
            </p:cNvPr>
            <p:cNvSpPr/>
            <p:nvPr/>
          </p:nvSpPr>
          <p:spPr>
            <a:xfrm>
              <a:off x="7923819" y="1631191"/>
              <a:ext cx="983602" cy="985802"/>
            </a:xfrm>
            <a:prstGeom prst="ellipse">
              <a:avLst/>
            </a:prstGeom>
            <a:solidFill>
              <a:schemeClr val="accent2"/>
            </a:solidFill>
            <a:ln w="25400" cap="flat" cmpd="sng">
              <a:solidFill>
                <a:schemeClr val="accent2"/>
              </a:solidFill>
              <a:prstDash val="solid"/>
              <a:round/>
              <a:headEnd type="none" w="sm" len="sm"/>
              <a:tailEnd type="none" w="sm" len="sm"/>
            </a:ln>
            <a:effectLst>
              <a:outerShdw sx="120000" sy="120000" algn="ctr" rotWithShape="0">
                <a:schemeClr val="accent2">
                  <a:alpha val="23921"/>
                </a:schemeClr>
              </a:outerShdw>
            </a:effectLst>
          </p:spPr>
          <p:txBody>
            <a:bodyPr spcFirstLastPara="1" wrap="square" lIns="82200" tIns="41075" rIns="82200" bIns="410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285" name="Google Shape;2620;p19">
              <a:extLst>
                <a:ext uri="{FF2B5EF4-FFF2-40B4-BE49-F238E27FC236}">
                  <a16:creationId xmlns:a16="http://schemas.microsoft.com/office/drawing/2014/main" id="{FEED149D-E8D0-2D7D-E90B-31CEB4C179C2}"/>
                </a:ext>
              </a:extLst>
            </p:cNvPr>
            <p:cNvGrpSpPr/>
            <p:nvPr/>
          </p:nvGrpSpPr>
          <p:grpSpPr>
            <a:xfrm>
              <a:off x="8170698" y="1878748"/>
              <a:ext cx="489844" cy="490688"/>
              <a:chOff x="8522025" y="2016051"/>
              <a:chExt cx="398787" cy="399474"/>
            </a:xfrm>
          </p:grpSpPr>
          <p:grpSp>
            <p:nvGrpSpPr>
              <p:cNvPr id="286" name="Google Shape;2621;p19">
                <a:extLst>
                  <a:ext uri="{FF2B5EF4-FFF2-40B4-BE49-F238E27FC236}">
                    <a16:creationId xmlns:a16="http://schemas.microsoft.com/office/drawing/2014/main" id="{027CA539-6F9E-FCFD-2174-1F3150160C54}"/>
                  </a:ext>
                </a:extLst>
              </p:cNvPr>
              <p:cNvGrpSpPr/>
              <p:nvPr/>
            </p:nvGrpSpPr>
            <p:grpSpPr>
              <a:xfrm>
                <a:off x="8522025" y="2016051"/>
                <a:ext cx="398787" cy="399474"/>
                <a:chOff x="653669" y="4606564"/>
                <a:chExt cx="476684" cy="477506"/>
              </a:xfrm>
            </p:grpSpPr>
            <p:sp>
              <p:nvSpPr>
                <p:cNvPr id="290" name="Google Shape;2622;p19">
                  <a:extLst>
                    <a:ext uri="{FF2B5EF4-FFF2-40B4-BE49-F238E27FC236}">
                      <a16:creationId xmlns:a16="http://schemas.microsoft.com/office/drawing/2014/main" id="{F077A31B-BC12-C146-BB8D-385261792E48}"/>
                    </a:ext>
                  </a:extLst>
                </p:cNvPr>
                <p:cNvSpPr/>
                <p:nvPr/>
              </p:nvSpPr>
              <p:spPr>
                <a:xfrm>
                  <a:off x="719634" y="4935317"/>
                  <a:ext cx="37947" cy="15811"/>
                </a:xfrm>
                <a:custGeom>
                  <a:avLst/>
                  <a:gdLst/>
                  <a:ahLst/>
                  <a:cxnLst/>
                  <a:rect l="l" t="t" r="r" b="b"/>
                  <a:pathLst>
                    <a:path w="37947" h="15811" extrusionOk="0">
                      <a:moveTo>
                        <a:pt x="0" y="0"/>
                      </a:moveTo>
                      <a:lnTo>
                        <a:pt x="37948" y="0"/>
                      </a:lnTo>
                      <a:lnTo>
                        <a:pt x="37948" y="15811"/>
                      </a:lnTo>
                      <a:lnTo>
                        <a:pt x="0" y="15811"/>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1" name="Google Shape;2623;p19">
                  <a:extLst>
                    <a:ext uri="{FF2B5EF4-FFF2-40B4-BE49-F238E27FC236}">
                      <a16:creationId xmlns:a16="http://schemas.microsoft.com/office/drawing/2014/main" id="{B34CBDC6-1B42-0DC3-6943-01E1AD9E97FC}"/>
                    </a:ext>
                  </a:extLst>
                </p:cNvPr>
                <p:cNvSpPr/>
                <p:nvPr/>
              </p:nvSpPr>
              <p:spPr>
                <a:xfrm>
                  <a:off x="653669" y="4905275"/>
                  <a:ext cx="45853" cy="45853"/>
                </a:xfrm>
                <a:custGeom>
                  <a:avLst/>
                  <a:gdLst/>
                  <a:ahLst/>
                  <a:cxnLst/>
                  <a:rect l="l" t="t" r="r" b="b"/>
                  <a:pathLst>
                    <a:path w="45853" h="45853" extrusionOk="0">
                      <a:moveTo>
                        <a:pt x="45853" y="45853"/>
                      </a:moveTo>
                      <a:lnTo>
                        <a:pt x="0" y="45853"/>
                      </a:lnTo>
                      <a:lnTo>
                        <a:pt x="0" y="0"/>
                      </a:lnTo>
                      <a:lnTo>
                        <a:pt x="15812" y="0"/>
                      </a:lnTo>
                      <a:lnTo>
                        <a:pt x="15812" y="30042"/>
                      </a:lnTo>
                      <a:lnTo>
                        <a:pt x="45853" y="30042"/>
                      </a:lnTo>
                      <a:lnTo>
                        <a:pt x="45853" y="45853"/>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2" name="Google Shape;2624;p19">
                  <a:extLst>
                    <a:ext uri="{FF2B5EF4-FFF2-40B4-BE49-F238E27FC236}">
                      <a16:creationId xmlns:a16="http://schemas.microsoft.com/office/drawing/2014/main" id="{6BC3DE16-33A2-15F6-30CD-69F67923D0B9}"/>
                    </a:ext>
                  </a:extLst>
                </p:cNvPr>
                <p:cNvSpPr/>
                <p:nvPr/>
              </p:nvSpPr>
              <p:spPr>
                <a:xfrm>
                  <a:off x="653858" y="4680372"/>
                  <a:ext cx="15811" cy="196821"/>
                </a:xfrm>
                <a:custGeom>
                  <a:avLst/>
                  <a:gdLst/>
                  <a:ahLst/>
                  <a:cxnLst/>
                  <a:rect l="l" t="t" r="r" b="b"/>
                  <a:pathLst>
                    <a:path w="15811" h="196821" extrusionOk="0">
                      <a:moveTo>
                        <a:pt x="15812" y="196822"/>
                      </a:moveTo>
                      <a:lnTo>
                        <a:pt x="0" y="196822"/>
                      </a:lnTo>
                      <a:lnTo>
                        <a:pt x="0" y="112515"/>
                      </a:lnTo>
                      <a:lnTo>
                        <a:pt x="15812" y="112515"/>
                      </a:lnTo>
                      <a:close/>
                      <a:moveTo>
                        <a:pt x="15812" y="84433"/>
                      </a:moveTo>
                      <a:lnTo>
                        <a:pt x="0" y="84433"/>
                      </a:lnTo>
                      <a:lnTo>
                        <a:pt x="0" y="0"/>
                      </a:lnTo>
                      <a:lnTo>
                        <a:pt x="15812" y="0"/>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3" name="Google Shape;2625;p19">
                  <a:extLst>
                    <a:ext uri="{FF2B5EF4-FFF2-40B4-BE49-F238E27FC236}">
                      <a16:creationId xmlns:a16="http://schemas.microsoft.com/office/drawing/2014/main" id="{D8BB1C2A-D31D-5B6F-2E43-04A85EBAE128}"/>
                    </a:ext>
                  </a:extLst>
                </p:cNvPr>
                <p:cNvSpPr/>
                <p:nvPr/>
              </p:nvSpPr>
              <p:spPr>
                <a:xfrm>
                  <a:off x="653669" y="4606564"/>
                  <a:ext cx="45853" cy="45853"/>
                </a:xfrm>
                <a:custGeom>
                  <a:avLst/>
                  <a:gdLst/>
                  <a:ahLst/>
                  <a:cxnLst/>
                  <a:rect l="l" t="t" r="r" b="b"/>
                  <a:pathLst>
                    <a:path w="45853" h="45853" extrusionOk="0">
                      <a:moveTo>
                        <a:pt x="15812" y="45853"/>
                      </a:moveTo>
                      <a:lnTo>
                        <a:pt x="0" y="45853"/>
                      </a:lnTo>
                      <a:lnTo>
                        <a:pt x="0" y="0"/>
                      </a:lnTo>
                      <a:lnTo>
                        <a:pt x="45853" y="0"/>
                      </a:lnTo>
                      <a:lnTo>
                        <a:pt x="45853" y="15812"/>
                      </a:lnTo>
                      <a:lnTo>
                        <a:pt x="15812" y="15812"/>
                      </a:lnTo>
                      <a:lnTo>
                        <a:pt x="15812" y="45853"/>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4" name="Google Shape;2626;p19">
                  <a:extLst>
                    <a:ext uri="{FF2B5EF4-FFF2-40B4-BE49-F238E27FC236}">
                      <a16:creationId xmlns:a16="http://schemas.microsoft.com/office/drawing/2014/main" id="{849C01CE-055E-7D5F-3001-5D83959663C1}"/>
                    </a:ext>
                  </a:extLst>
                </p:cNvPr>
                <p:cNvSpPr/>
                <p:nvPr/>
              </p:nvSpPr>
              <p:spPr>
                <a:xfrm>
                  <a:off x="727793" y="4606564"/>
                  <a:ext cx="197517" cy="15811"/>
                </a:xfrm>
                <a:custGeom>
                  <a:avLst/>
                  <a:gdLst/>
                  <a:ahLst/>
                  <a:cxnLst/>
                  <a:rect l="l" t="t" r="r" b="b"/>
                  <a:pathLst>
                    <a:path w="197517" h="15811" extrusionOk="0">
                      <a:moveTo>
                        <a:pt x="197517" y="15812"/>
                      </a:moveTo>
                      <a:lnTo>
                        <a:pt x="112641" y="15812"/>
                      </a:lnTo>
                      <a:lnTo>
                        <a:pt x="112641" y="0"/>
                      </a:lnTo>
                      <a:lnTo>
                        <a:pt x="197517" y="0"/>
                      </a:lnTo>
                      <a:close/>
                      <a:moveTo>
                        <a:pt x="84623" y="15812"/>
                      </a:moveTo>
                      <a:lnTo>
                        <a:pt x="0" y="15812"/>
                      </a:lnTo>
                      <a:lnTo>
                        <a:pt x="0" y="0"/>
                      </a:lnTo>
                      <a:lnTo>
                        <a:pt x="84623" y="0"/>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5" name="Google Shape;2627;p19">
                  <a:extLst>
                    <a:ext uri="{FF2B5EF4-FFF2-40B4-BE49-F238E27FC236}">
                      <a16:creationId xmlns:a16="http://schemas.microsoft.com/office/drawing/2014/main" id="{4E556FB3-8887-2B96-108E-D8C3FE54F14D}"/>
                    </a:ext>
                  </a:extLst>
                </p:cNvPr>
                <p:cNvSpPr/>
                <p:nvPr/>
              </p:nvSpPr>
              <p:spPr>
                <a:xfrm>
                  <a:off x="953581" y="4606564"/>
                  <a:ext cx="45853" cy="45853"/>
                </a:xfrm>
                <a:custGeom>
                  <a:avLst/>
                  <a:gdLst/>
                  <a:ahLst/>
                  <a:cxnLst/>
                  <a:rect l="l" t="t" r="r" b="b"/>
                  <a:pathLst>
                    <a:path w="45853" h="45853" extrusionOk="0">
                      <a:moveTo>
                        <a:pt x="45853" y="45853"/>
                      </a:moveTo>
                      <a:lnTo>
                        <a:pt x="30042" y="45853"/>
                      </a:lnTo>
                      <a:lnTo>
                        <a:pt x="30042" y="15812"/>
                      </a:lnTo>
                      <a:lnTo>
                        <a:pt x="0" y="15812"/>
                      </a:lnTo>
                      <a:lnTo>
                        <a:pt x="0" y="0"/>
                      </a:lnTo>
                      <a:lnTo>
                        <a:pt x="45853" y="0"/>
                      </a:lnTo>
                      <a:lnTo>
                        <a:pt x="45853" y="45853"/>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6" name="Google Shape;2628;p19">
                  <a:extLst>
                    <a:ext uri="{FF2B5EF4-FFF2-40B4-BE49-F238E27FC236}">
                      <a16:creationId xmlns:a16="http://schemas.microsoft.com/office/drawing/2014/main" id="{12F19559-2CA8-487C-1334-E336E383BCA6}"/>
                    </a:ext>
                  </a:extLst>
                </p:cNvPr>
                <p:cNvSpPr/>
                <p:nvPr/>
              </p:nvSpPr>
              <p:spPr>
                <a:xfrm>
                  <a:off x="983623" y="4674427"/>
                  <a:ext cx="15811" cy="37947"/>
                </a:xfrm>
                <a:custGeom>
                  <a:avLst/>
                  <a:gdLst/>
                  <a:ahLst/>
                  <a:cxnLst/>
                  <a:rect l="l" t="t" r="r" b="b"/>
                  <a:pathLst>
                    <a:path w="15811" h="37947" extrusionOk="0">
                      <a:moveTo>
                        <a:pt x="0" y="0"/>
                      </a:moveTo>
                      <a:lnTo>
                        <a:pt x="15811" y="0"/>
                      </a:lnTo>
                      <a:lnTo>
                        <a:pt x="15811" y="37948"/>
                      </a:lnTo>
                      <a:lnTo>
                        <a:pt x="0" y="37948"/>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7" name="Google Shape;2629;p19">
                  <a:extLst>
                    <a:ext uri="{FF2B5EF4-FFF2-40B4-BE49-F238E27FC236}">
                      <a16:creationId xmlns:a16="http://schemas.microsoft.com/office/drawing/2014/main" id="{594729BB-6D8D-A344-E4CD-00F880ECC3B0}"/>
                    </a:ext>
                  </a:extLst>
                </p:cNvPr>
                <p:cNvSpPr/>
                <p:nvPr/>
              </p:nvSpPr>
              <p:spPr>
                <a:xfrm>
                  <a:off x="773646" y="4728565"/>
                  <a:ext cx="356707" cy="355505"/>
                </a:xfrm>
                <a:custGeom>
                  <a:avLst/>
                  <a:gdLst/>
                  <a:ahLst/>
                  <a:cxnLst/>
                  <a:rect l="l" t="t" r="r" b="b"/>
                  <a:pathLst>
                    <a:path w="356707" h="355505" extrusionOk="0">
                      <a:moveTo>
                        <a:pt x="340896" y="15812"/>
                      </a:moveTo>
                      <a:lnTo>
                        <a:pt x="340896" y="339694"/>
                      </a:lnTo>
                      <a:lnTo>
                        <a:pt x="15812" y="339694"/>
                      </a:lnTo>
                      <a:lnTo>
                        <a:pt x="15812" y="15812"/>
                      </a:lnTo>
                      <a:lnTo>
                        <a:pt x="340896" y="15812"/>
                      </a:lnTo>
                      <a:moveTo>
                        <a:pt x="356707" y="0"/>
                      </a:moveTo>
                      <a:lnTo>
                        <a:pt x="0" y="0"/>
                      </a:lnTo>
                      <a:lnTo>
                        <a:pt x="0" y="355506"/>
                      </a:lnTo>
                      <a:lnTo>
                        <a:pt x="356707" y="355506"/>
                      </a:lnTo>
                      <a:lnTo>
                        <a:pt x="356707" y="0"/>
                      </a:ln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8" name="Google Shape;2630;p19">
                  <a:extLst>
                    <a:ext uri="{FF2B5EF4-FFF2-40B4-BE49-F238E27FC236}">
                      <a16:creationId xmlns:a16="http://schemas.microsoft.com/office/drawing/2014/main" id="{523F9887-6669-03A5-F79F-8DDFDE81C856}"/>
                    </a:ext>
                  </a:extLst>
                </p:cNvPr>
                <p:cNvSpPr/>
                <p:nvPr/>
              </p:nvSpPr>
              <p:spPr>
                <a:xfrm>
                  <a:off x="844988" y="4799858"/>
                  <a:ext cx="213265" cy="213265"/>
                </a:xfrm>
                <a:custGeom>
                  <a:avLst/>
                  <a:gdLst/>
                  <a:ahLst/>
                  <a:cxnLst/>
                  <a:rect l="l" t="t" r="r" b="b"/>
                  <a:pathLst>
                    <a:path w="213265" h="213265" extrusionOk="0">
                      <a:moveTo>
                        <a:pt x="194418" y="83660"/>
                      </a:moveTo>
                      <a:cubicBezTo>
                        <a:pt x="196430" y="91104"/>
                        <a:pt x="197451" y="98781"/>
                        <a:pt x="197453" y="106492"/>
                      </a:cubicBezTo>
                      <a:cubicBezTo>
                        <a:pt x="197565" y="156860"/>
                        <a:pt x="156824" y="197782"/>
                        <a:pt x="106455" y="197894"/>
                      </a:cubicBezTo>
                      <a:cubicBezTo>
                        <a:pt x="56086" y="198006"/>
                        <a:pt x="15164" y="157264"/>
                        <a:pt x="15053" y="106895"/>
                      </a:cubicBezTo>
                      <a:cubicBezTo>
                        <a:pt x="14941" y="56527"/>
                        <a:pt x="55683" y="15605"/>
                        <a:pt x="106051" y="15493"/>
                      </a:cubicBezTo>
                      <a:cubicBezTo>
                        <a:pt x="129981" y="15440"/>
                        <a:pt x="152973" y="24794"/>
                        <a:pt x="170068" y="41538"/>
                      </a:cubicBezTo>
                      <a:lnTo>
                        <a:pt x="181199" y="30407"/>
                      </a:lnTo>
                      <a:cubicBezTo>
                        <a:pt x="139101" y="-10775"/>
                        <a:pt x="71589" y="-10032"/>
                        <a:pt x="30407" y="32066"/>
                      </a:cubicBezTo>
                      <a:cubicBezTo>
                        <a:pt x="-10775" y="74164"/>
                        <a:pt x="-10032" y="141677"/>
                        <a:pt x="32066" y="182859"/>
                      </a:cubicBezTo>
                      <a:cubicBezTo>
                        <a:pt x="74165" y="224040"/>
                        <a:pt x="141677" y="223298"/>
                        <a:pt x="182859" y="181199"/>
                      </a:cubicBezTo>
                      <a:cubicBezTo>
                        <a:pt x="202431" y="161191"/>
                        <a:pt x="213352" y="134291"/>
                        <a:pt x="213265" y="106302"/>
                      </a:cubicBezTo>
                      <a:cubicBezTo>
                        <a:pt x="213225" y="94198"/>
                        <a:pt x="211086" y="82193"/>
                        <a:pt x="206940" y="7082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99" name="Google Shape;2631;p19">
                  <a:extLst>
                    <a:ext uri="{FF2B5EF4-FFF2-40B4-BE49-F238E27FC236}">
                      <a16:creationId xmlns:a16="http://schemas.microsoft.com/office/drawing/2014/main" id="{B6A4D772-53AC-DA56-D96B-B0E92AA2B715}"/>
                    </a:ext>
                  </a:extLst>
                </p:cNvPr>
                <p:cNvSpPr/>
                <p:nvPr/>
              </p:nvSpPr>
              <p:spPr>
                <a:xfrm rot="10800000">
                  <a:off x="844988" y="4799858"/>
                  <a:ext cx="213264" cy="213265"/>
                </a:xfrm>
                <a:custGeom>
                  <a:avLst/>
                  <a:gdLst/>
                  <a:ahLst/>
                  <a:cxnLst/>
                  <a:rect l="l" t="t" r="r" b="b"/>
                  <a:pathLst>
                    <a:path w="213265" h="213265" extrusionOk="0">
                      <a:moveTo>
                        <a:pt x="194418" y="83660"/>
                      </a:moveTo>
                      <a:cubicBezTo>
                        <a:pt x="196430" y="91104"/>
                        <a:pt x="197451" y="98781"/>
                        <a:pt x="197453" y="106492"/>
                      </a:cubicBezTo>
                      <a:cubicBezTo>
                        <a:pt x="197565" y="156860"/>
                        <a:pt x="156824" y="197782"/>
                        <a:pt x="106455" y="197894"/>
                      </a:cubicBezTo>
                      <a:cubicBezTo>
                        <a:pt x="56086" y="198006"/>
                        <a:pt x="15164" y="157264"/>
                        <a:pt x="15053" y="106895"/>
                      </a:cubicBezTo>
                      <a:cubicBezTo>
                        <a:pt x="14941" y="56527"/>
                        <a:pt x="55683" y="15605"/>
                        <a:pt x="106051" y="15493"/>
                      </a:cubicBezTo>
                      <a:cubicBezTo>
                        <a:pt x="129981" y="15440"/>
                        <a:pt x="152973" y="24794"/>
                        <a:pt x="170068" y="41538"/>
                      </a:cubicBezTo>
                      <a:lnTo>
                        <a:pt x="181199" y="30407"/>
                      </a:lnTo>
                      <a:cubicBezTo>
                        <a:pt x="139101" y="-10775"/>
                        <a:pt x="71589" y="-10032"/>
                        <a:pt x="30407" y="32066"/>
                      </a:cubicBezTo>
                      <a:cubicBezTo>
                        <a:pt x="-10775" y="74164"/>
                        <a:pt x="-10032" y="141677"/>
                        <a:pt x="32066" y="182859"/>
                      </a:cubicBezTo>
                      <a:cubicBezTo>
                        <a:pt x="74165" y="224040"/>
                        <a:pt x="141677" y="223298"/>
                        <a:pt x="182859" y="181199"/>
                      </a:cubicBezTo>
                      <a:cubicBezTo>
                        <a:pt x="202431" y="161191"/>
                        <a:pt x="213352" y="134291"/>
                        <a:pt x="213265" y="106302"/>
                      </a:cubicBezTo>
                      <a:cubicBezTo>
                        <a:pt x="213225" y="94198"/>
                        <a:pt x="211086" y="82193"/>
                        <a:pt x="206940" y="7082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grpSp>
          <p:grpSp>
            <p:nvGrpSpPr>
              <p:cNvPr id="287" name="Google Shape;2632;p19">
                <a:extLst>
                  <a:ext uri="{FF2B5EF4-FFF2-40B4-BE49-F238E27FC236}">
                    <a16:creationId xmlns:a16="http://schemas.microsoft.com/office/drawing/2014/main" id="{ED9576F1-C65D-7E7A-DFC9-3103FBB46BE3}"/>
                  </a:ext>
                </a:extLst>
              </p:cNvPr>
              <p:cNvGrpSpPr/>
              <p:nvPr/>
            </p:nvGrpSpPr>
            <p:grpSpPr>
              <a:xfrm>
                <a:off x="8760959" y="2209564"/>
                <a:ext cx="56627" cy="75371"/>
                <a:chOff x="8459452" y="355744"/>
                <a:chExt cx="100932" cy="134341"/>
              </a:xfrm>
            </p:grpSpPr>
            <p:sp>
              <p:nvSpPr>
                <p:cNvPr id="288" name="Google Shape;2633;p19">
                  <a:extLst>
                    <a:ext uri="{FF2B5EF4-FFF2-40B4-BE49-F238E27FC236}">
                      <a16:creationId xmlns:a16="http://schemas.microsoft.com/office/drawing/2014/main" id="{DFA92B05-261D-90E1-1C25-F0EA0A6EA196}"/>
                    </a:ext>
                  </a:extLst>
                </p:cNvPr>
                <p:cNvSpPr/>
                <p:nvPr/>
              </p:nvSpPr>
              <p:spPr>
                <a:xfrm>
                  <a:off x="8459452" y="355744"/>
                  <a:ext cx="24516" cy="134341"/>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9" name="Google Shape;2634;p19">
                  <a:extLst>
                    <a:ext uri="{FF2B5EF4-FFF2-40B4-BE49-F238E27FC236}">
                      <a16:creationId xmlns:a16="http://schemas.microsoft.com/office/drawing/2014/main" id="{49696DB0-1219-CF9A-32B9-DDB450555306}"/>
                    </a:ext>
                  </a:extLst>
                </p:cNvPr>
                <p:cNvSpPr/>
                <p:nvPr/>
              </p:nvSpPr>
              <p:spPr>
                <a:xfrm rot="5400000">
                  <a:off x="8497660" y="427361"/>
                  <a:ext cx="24516" cy="100932"/>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grpSp>
      </p:grpSp>
      <p:grpSp>
        <p:nvGrpSpPr>
          <p:cNvPr id="300" name="Google Shape;2640;p19">
            <a:extLst>
              <a:ext uri="{FF2B5EF4-FFF2-40B4-BE49-F238E27FC236}">
                <a16:creationId xmlns:a16="http://schemas.microsoft.com/office/drawing/2014/main" id="{A9B8D541-38D2-9535-85F7-AF2E6B1F053C}"/>
              </a:ext>
            </a:extLst>
          </p:cNvPr>
          <p:cNvGrpSpPr/>
          <p:nvPr/>
        </p:nvGrpSpPr>
        <p:grpSpPr>
          <a:xfrm>
            <a:off x="10156640" y="2203591"/>
            <a:ext cx="983602" cy="985802"/>
            <a:chOff x="10243442" y="1631191"/>
            <a:chExt cx="983602" cy="985802"/>
          </a:xfrm>
        </p:grpSpPr>
        <p:sp>
          <p:nvSpPr>
            <p:cNvPr id="301" name="Google Shape;2641;p19">
              <a:extLst>
                <a:ext uri="{FF2B5EF4-FFF2-40B4-BE49-F238E27FC236}">
                  <a16:creationId xmlns:a16="http://schemas.microsoft.com/office/drawing/2014/main" id="{F2EA0D09-4754-CEDC-C673-75FB6737F53E}"/>
                </a:ext>
              </a:extLst>
            </p:cNvPr>
            <p:cNvSpPr/>
            <p:nvPr/>
          </p:nvSpPr>
          <p:spPr>
            <a:xfrm>
              <a:off x="10243442" y="1631191"/>
              <a:ext cx="983602" cy="985802"/>
            </a:xfrm>
            <a:prstGeom prst="ellipse">
              <a:avLst/>
            </a:prstGeom>
            <a:solidFill>
              <a:schemeClr val="accent5"/>
            </a:solidFill>
            <a:ln w="25400" cap="flat" cmpd="sng">
              <a:solidFill>
                <a:schemeClr val="accent5"/>
              </a:solidFill>
              <a:prstDash val="solid"/>
              <a:round/>
              <a:headEnd type="none" w="sm" len="sm"/>
              <a:tailEnd type="none" w="sm" len="sm"/>
            </a:ln>
            <a:effectLst>
              <a:outerShdw sx="120000" sy="120000" algn="ctr" rotWithShape="0">
                <a:schemeClr val="accent5">
                  <a:alpha val="23921"/>
                </a:schemeClr>
              </a:outerShdw>
            </a:effectLst>
          </p:spPr>
          <p:txBody>
            <a:bodyPr spcFirstLastPara="1" wrap="square" lIns="82200" tIns="41075" rIns="82200" bIns="410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302" name="Google Shape;2642;p19">
              <a:extLst>
                <a:ext uri="{FF2B5EF4-FFF2-40B4-BE49-F238E27FC236}">
                  <a16:creationId xmlns:a16="http://schemas.microsoft.com/office/drawing/2014/main" id="{E32D4E9F-6D1F-807A-ACB8-B853DC5D90CB}"/>
                </a:ext>
              </a:extLst>
            </p:cNvPr>
            <p:cNvGrpSpPr/>
            <p:nvPr/>
          </p:nvGrpSpPr>
          <p:grpSpPr>
            <a:xfrm>
              <a:off x="10556466" y="1862310"/>
              <a:ext cx="357555" cy="523565"/>
              <a:chOff x="3405310" y="4118933"/>
              <a:chExt cx="766453" cy="1122306"/>
            </a:xfrm>
          </p:grpSpPr>
          <p:sp>
            <p:nvSpPr>
              <p:cNvPr id="303" name="Google Shape;2643;p19">
                <a:extLst>
                  <a:ext uri="{FF2B5EF4-FFF2-40B4-BE49-F238E27FC236}">
                    <a16:creationId xmlns:a16="http://schemas.microsoft.com/office/drawing/2014/main" id="{0106E090-0E31-55A9-B5C2-23B910243A98}"/>
                  </a:ext>
                </a:extLst>
              </p:cNvPr>
              <p:cNvSpPr/>
              <p:nvPr/>
            </p:nvSpPr>
            <p:spPr>
              <a:xfrm>
                <a:off x="3491353" y="4548512"/>
                <a:ext cx="310231" cy="310231"/>
              </a:xfrm>
              <a:custGeom>
                <a:avLst/>
                <a:gdLst/>
                <a:ahLst/>
                <a:cxnLst/>
                <a:rect l="l" t="t" r="r" b="b"/>
                <a:pathLst>
                  <a:path w="310230" h="310230" extrusionOk="0">
                    <a:moveTo>
                      <a:pt x="14873" y="312695"/>
                    </a:moveTo>
                    <a:cubicBezTo>
                      <a:pt x="6661" y="312695"/>
                      <a:pt x="0" y="306034"/>
                      <a:pt x="0" y="297822"/>
                    </a:cubicBezTo>
                    <a:cubicBezTo>
                      <a:pt x="0" y="133582"/>
                      <a:pt x="133582" y="0"/>
                      <a:pt x="297822" y="0"/>
                    </a:cubicBezTo>
                    <a:cubicBezTo>
                      <a:pt x="306034" y="0"/>
                      <a:pt x="312694" y="6661"/>
                      <a:pt x="312694" y="14873"/>
                    </a:cubicBezTo>
                    <a:cubicBezTo>
                      <a:pt x="312694" y="23085"/>
                      <a:pt x="306034" y="29746"/>
                      <a:pt x="297822" y="29746"/>
                    </a:cubicBezTo>
                    <a:cubicBezTo>
                      <a:pt x="150006" y="29746"/>
                      <a:pt x="29654" y="150006"/>
                      <a:pt x="29654" y="297913"/>
                    </a:cubicBezTo>
                    <a:cubicBezTo>
                      <a:pt x="29746" y="306034"/>
                      <a:pt x="23085" y="312695"/>
                      <a:pt x="14873" y="312695"/>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04" name="Google Shape;2644;p19">
                <a:extLst>
                  <a:ext uri="{FF2B5EF4-FFF2-40B4-BE49-F238E27FC236}">
                    <a16:creationId xmlns:a16="http://schemas.microsoft.com/office/drawing/2014/main" id="{E4431683-24A5-98D2-2A0C-AA36114F5002}"/>
                  </a:ext>
                </a:extLst>
              </p:cNvPr>
              <p:cNvSpPr/>
              <p:nvPr/>
            </p:nvSpPr>
            <p:spPr>
              <a:xfrm>
                <a:off x="3405310" y="4118933"/>
                <a:ext cx="766453" cy="1122306"/>
              </a:xfrm>
              <a:custGeom>
                <a:avLst/>
                <a:gdLst/>
                <a:ahLst/>
                <a:cxnLst/>
                <a:rect l="l" t="t" r="r" b="b"/>
                <a:pathLst>
                  <a:path w="766452" h="1122306" extrusionOk="0">
                    <a:moveTo>
                      <a:pt x="593088" y="412698"/>
                    </a:moveTo>
                    <a:lnTo>
                      <a:pt x="593088" y="196632"/>
                    </a:lnTo>
                    <a:cubicBezTo>
                      <a:pt x="593088" y="88233"/>
                      <a:pt x="507866" y="0"/>
                      <a:pt x="403118" y="0"/>
                    </a:cubicBezTo>
                    <a:lnTo>
                      <a:pt x="367897" y="0"/>
                    </a:lnTo>
                    <a:cubicBezTo>
                      <a:pt x="263149" y="0"/>
                      <a:pt x="177926" y="88233"/>
                      <a:pt x="177926" y="196632"/>
                    </a:cubicBezTo>
                    <a:lnTo>
                      <a:pt x="177926" y="412698"/>
                    </a:lnTo>
                    <a:cubicBezTo>
                      <a:pt x="70988" y="481223"/>
                      <a:pt x="0" y="601027"/>
                      <a:pt x="0" y="737437"/>
                    </a:cubicBezTo>
                    <a:cubicBezTo>
                      <a:pt x="0" y="950310"/>
                      <a:pt x="172634" y="1122945"/>
                      <a:pt x="385507" y="1122945"/>
                    </a:cubicBezTo>
                    <a:cubicBezTo>
                      <a:pt x="598381" y="1122945"/>
                      <a:pt x="771015" y="950310"/>
                      <a:pt x="771015" y="737437"/>
                    </a:cubicBezTo>
                    <a:cubicBezTo>
                      <a:pt x="771015" y="601027"/>
                      <a:pt x="700027" y="481223"/>
                      <a:pt x="593088" y="412698"/>
                    </a:cubicBezTo>
                    <a:close/>
                    <a:moveTo>
                      <a:pt x="207581" y="196632"/>
                    </a:moveTo>
                    <a:cubicBezTo>
                      <a:pt x="207581" y="104566"/>
                      <a:pt x="279481" y="29654"/>
                      <a:pt x="367897" y="29654"/>
                    </a:cubicBezTo>
                    <a:lnTo>
                      <a:pt x="403118" y="29654"/>
                    </a:lnTo>
                    <a:cubicBezTo>
                      <a:pt x="491533" y="29654"/>
                      <a:pt x="563434" y="104566"/>
                      <a:pt x="563434" y="196632"/>
                    </a:cubicBezTo>
                    <a:lnTo>
                      <a:pt x="563434" y="395453"/>
                    </a:lnTo>
                    <a:cubicBezTo>
                      <a:pt x="510147" y="367715"/>
                      <a:pt x="449743" y="351930"/>
                      <a:pt x="385507" y="351930"/>
                    </a:cubicBezTo>
                    <a:cubicBezTo>
                      <a:pt x="321271" y="351930"/>
                      <a:pt x="260868" y="367715"/>
                      <a:pt x="207581" y="395453"/>
                    </a:cubicBezTo>
                    <a:lnTo>
                      <a:pt x="207581" y="196632"/>
                    </a:lnTo>
                    <a:close/>
                    <a:moveTo>
                      <a:pt x="385507" y="1093290"/>
                    </a:moveTo>
                    <a:cubicBezTo>
                      <a:pt x="189332" y="1093290"/>
                      <a:pt x="29654" y="933613"/>
                      <a:pt x="29654" y="737437"/>
                    </a:cubicBezTo>
                    <a:cubicBezTo>
                      <a:pt x="29654" y="541262"/>
                      <a:pt x="189332" y="381584"/>
                      <a:pt x="385507" y="381584"/>
                    </a:cubicBezTo>
                    <a:cubicBezTo>
                      <a:pt x="581683" y="381584"/>
                      <a:pt x="741360" y="541262"/>
                      <a:pt x="741360" y="737437"/>
                    </a:cubicBezTo>
                    <a:cubicBezTo>
                      <a:pt x="741360" y="933613"/>
                      <a:pt x="581683" y="1093290"/>
                      <a:pt x="385507" y="109329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05" name="Google Shape;2645;p19">
                <a:extLst>
                  <a:ext uri="{FF2B5EF4-FFF2-40B4-BE49-F238E27FC236}">
                    <a16:creationId xmlns:a16="http://schemas.microsoft.com/office/drawing/2014/main" id="{8C6037AF-AC4A-008A-3D11-9C39DBE1F940}"/>
                  </a:ext>
                </a:extLst>
              </p:cNvPr>
              <p:cNvSpPr/>
              <p:nvPr/>
            </p:nvSpPr>
            <p:spPr>
              <a:xfrm>
                <a:off x="3727494" y="4756001"/>
                <a:ext cx="118618" cy="200738"/>
              </a:xfrm>
              <a:custGeom>
                <a:avLst/>
                <a:gdLst/>
                <a:ahLst/>
                <a:cxnLst/>
                <a:rect l="l" t="t" r="r" b="b"/>
                <a:pathLst>
                  <a:path w="118617" h="200737" extrusionOk="0">
                    <a:moveTo>
                      <a:pt x="63324" y="0"/>
                    </a:moveTo>
                    <a:cubicBezTo>
                      <a:pt x="28377" y="0"/>
                      <a:pt x="0" y="28377"/>
                      <a:pt x="0" y="63324"/>
                    </a:cubicBezTo>
                    <a:cubicBezTo>
                      <a:pt x="0" y="86773"/>
                      <a:pt x="12774" y="107212"/>
                      <a:pt x="31662" y="118161"/>
                    </a:cubicBezTo>
                    <a:lnTo>
                      <a:pt x="31662" y="183949"/>
                    </a:lnTo>
                    <a:cubicBezTo>
                      <a:pt x="31662" y="193256"/>
                      <a:pt x="39235" y="200829"/>
                      <a:pt x="48542" y="200829"/>
                    </a:cubicBezTo>
                    <a:lnTo>
                      <a:pt x="78105" y="200829"/>
                    </a:lnTo>
                    <a:cubicBezTo>
                      <a:pt x="87412" y="200829"/>
                      <a:pt x="94985" y="193256"/>
                      <a:pt x="94985" y="183949"/>
                    </a:cubicBezTo>
                    <a:lnTo>
                      <a:pt x="94985" y="118161"/>
                    </a:lnTo>
                    <a:cubicBezTo>
                      <a:pt x="113873" y="107212"/>
                      <a:pt x="126647" y="86773"/>
                      <a:pt x="126647" y="63324"/>
                    </a:cubicBezTo>
                    <a:cubicBezTo>
                      <a:pt x="126647" y="28286"/>
                      <a:pt x="98270" y="0"/>
                      <a:pt x="63324"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Tree>
    <p:extLst>
      <p:ext uri="{BB962C8B-B14F-4D97-AF65-F5344CB8AC3E}">
        <p14:creationId xmlns:p14="http://schemas.microsoft.com/office/powerpoint/2010/main" val="8245434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wipe(up)">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up)">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0296">
          <a:extLst>
            <a:ext uri="{FF2B5EF4-FFF2-40B4-BE49-F238E27FC236}">
              <a16:creationId xmlns:a16="http://schemas.microsoft.com/office/drawing/2014/main" id="{BE4E5E38-D440-9DD6-4FA1-366337A09A3C}"/>
            </a:ext>
          </a:extLst>
        </p:cNvPr>
        <p:cNvGrpSpPr/>
        <p:nvPr/>
      </p:nvGrpSpPr>
      <p:grpSpPr>
        <a:xfrm>
          <a:off x="0" y="0"/>
          <a:ext cx="0" cy="0"/>
          <a:chOff x="0" y="0"/>
          <a:chExt cx="0" cy="0"/>
        </a:xfrm>
      </p:grpSpPr>
      <p:sp>
        <p:nvSpPr>
          <p:cNvPr id="10299" name="Google Shape;10299;p69">
            <a:extLst>
              <a:ext uri="{FF2B5EF4-FFF2-40B4-BE49-F238E27FC236}">
                <a16:creationId xmlns:a16="http://schemas.microsoft.com/office/drawing/2014/main" id="{00CFE393-CC07-C235-B7F6-841616FC4096}"/>
              </a:ext>
            </a:extLst>
          </p:cNvPr>
          <p:cNvSpPr/>
          <p:nvPr/>
        </p:nvSpPr>
        <p:spPr>
          <a:xfrm>
            <a:off x="1588" y="1600679"/>
            <a:ext cx="8187372" cy="4569757"/>
          </a:xfrm>
          <a:prstGeom prst="rect">
            <a:avLst/>
          </a:prstGeom>
          <a:solidFill>
            <a:schemeClr val="accent2">
              <a:alpha val="10000"/>
            </a:schemeClr>
          </a:solid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254" name="Rounded Rectangle 10253">
            <a:extLst>
              <a:ext uri="{FF2B5EF4-FFF2-40B4-BE49-F238E27FC236}">
                <a16:creationId xmlns:a16="http://schemas.microsoft.com/office/drawing/2014/main" id="{05554ADC-9029-FA1E-D071-F55A2B2D7AAA}"/>
              </a:ext>
            </a:extLst>
          </p:cNvPr>
          <p:cNvSpPr/>
          <p:nvPr/>
        </p:nvSpPr>
        <p:spPr>
          <a:xfrm>
            <a:off x="421641" y="2149652"/>
            <a:ext cx="7594599" cy="3824427"/>
          </a:xfrm>
          <a:prstGeom prst="roundRect">
            <a:avLst>
              <a:gd name="adj" fmla="val 1923"/>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97" name="Google Shape;10297;p69">
            <a:extLst>
              <a:ext uri="{FF2B5EF4-FFF2-40B4-BE49-F238E27FC236}">
                <a16:creationId xmlns:a16="http://schemas.microsoft.com/office/drawing/2014/main" id="{8162A27C-4310-AFA9-AF9E-B9C5B22BA9C5}"/>
              </a:ext>
            </a:extLst>
          </p:cNvPr>
          <p:cNvSpPr txBox="1">
            <a:spLocks noGrp="1"/>
          </p:cNvSpPr>
          <p:nvPr>
            <p:ph type="title"/>
          </p:nvPr>
        </p:nvSpPr>
        <p:spPr>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1"/>
              </a:buClr>
              <a:buSzPts val="2800"/>
              <a:buFont typeface="Arial"/>
              <a:buNone/>
            </a:pPr>
            <a:r>
              <a:rPr lang="en-US" dirty="0">
                <a:solidFill>
                  <a:schemeClr val="accent2"/>
                </a:solidFill>
                <a:latin typeface="+mn-lt"/>
              </a:rPr>
              <a:t>Virtual Networking in VMware Cloud Foundation</a:t>
            </a:r>
            <a:endParaRPr dirty="0">
              <a:solidFill>
                <a:schemeClr val="accent2"/>
              </a:solidFill>
              <a:latin typeface="+mn-lt"/>
            </a:endParaRPr>
          </a:p>
        </p:txBody>
      </p:sp>
      <p:sp>
        <p:nvSpPr>
          <p:cNvPr id="2" name="Subtitle 1">
            <a:extLst>
              <a:ext uri="{FF2B5EF4-FFF2-40B4-BE49-F238E27FC236}">
                <a16:creationId xmlns:a16="http://schemas.microsoft.com/office/drawing/2014/main" id="{00727E43-6914-D346-2F7A-5D1E2B1DD47F}"/>
              </a:ext>
            </a:extLst>
          </p:cNvPr>
          <p:cNvSpPr>
            <a:spLocks noGrp="1"/>
          </p:cNvSpPr>
          <p:nvPr>
            <p:ph type="subTitle" idx="10"/>
          </p:nvPr>
        </p:nvSpPr>
        <p:spPr/>
        <p:txBody>
          <a:bodyPr/>
          <a:lstStyle/>
          <a:p>
            <a:r>
              <a:rPr lang="en-US" dirty="0"/>
              <a:t>Networking has changed…</a:t>
            </a:r>
          </a:p>
        </p:txBody>
      </p:sp>
      <p:cxnSp>
        <p:nvCxnSpPr>
          <p:cNvPr id="10298" name="Google Shape;10298;p69">
            <a:extLst>
              <a:ext uri="{FF2B5EF4-FFF2-40B4-BE49-F238E27FC236}">
                <a16:creationId xmlns:a16="http://schemas.microsoft.com/office/drawing/2014/main" id="{C541F4CC-7FF9-0084-EB76-9699EEF65552}"/>
              </a:ext>
            </a:extLst>
          </p:cNvPr>
          <p:cNvCxnSpPr/>
          <p:nvPr/>
        </p:nvCxnSpPr>
        <p:spPr>
          <a:xfrm>
            <a:off x="8379818" y="3872326"/>
            <a:ext cx="3807420" cy="0"/>
          </a:xfrm>
          <a:prstGeom prst="straightConnector1">
            <a:avLst/>
          </a:prstGeom>
          <a:noFill/>
          <a:ln w="57150" cap="flat" cmpd="sng">
            <a:solidFill>
              <a:schemeClr val="accent1"/>
            </a:solidFill>
            <a:prstDash val="solid"/>
            <a:miter lim="800000"/>
            <a:headEnd type="none" w="sm" len="sm"/>
            <a:tailEnd type="none" w="sm" len="sm"/>
          </a:ln>
        </p:spPr>
      </p:cxnSp>
      <p:sp>
        <p:nvSpPr>
          <p:cNvPr id="10300" name="Google Shape;10300;p69">
            <a:extLst>
              <a:ext uri="{FF2B5EF4-FFF2-40B4-BE49-F238E27FC236}">
                <a16:creationId xmlns:a16="http://schemas.microsoft.com/office/drawing/2014/main" id="{F7EBB7ED-A7FF-B16D-8FA0-D27B6647AD56}"/>
              </a:ext>
            </a:extLst>
          </p:cNvPr>
          <p:cNvSpPr txBox="1"/>
          <p:nvPr/>
        </p:nvSpPr>
        <p:spPr>
          <a:xfrm>
            <a:off x="581246" y="1761408"/>
            <a:ext cx="6733637" cy="369236"/>
          </a:xfrm>
          <a:prstGeom prst="rect">
            <a:avLst/>
          </a:prstGeom>
          <a:noFill/>
          <a:ln>
            <a:noFill/>
          </a:ln>
        </p:spPr>
        <p:txBody>
          <a:bodyPr spcFirstLastPara="1" wrap="square" lIns="0" tIns="45700" rIns="0"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005C8A"/>
                </a:solidFill>
                <a:effectLst/>
                <a:uLnTx/>
                <a:uFillTx/>
                <a:latin typeface="Arial" panose="020B0604020202020204"/>
                <a:ea typeface="Arial"/>
                <a:cs typeface="Arial"/>
                <a:sym typeface="Arial"/>
              </a:rPr>
              <a:t>Virtual Networking is Built for the Application</a:t>
            </a:r>
            <a:endParaRPr kumimoji="0" sz="1800" b="0" i="0" u="none" strike="noStrike" kern="1200" cap="none" spc="0" normalizeH="0" baseline="0" noProof="0" dirty="0">
              <a:ln>
                <a:noFill/>
              </a:ln>
              <a:solidFill>
                <a:srgbClr val="005C8A"/>
              </a:solidFill>
              <a:effectLst/>
              <a:uLnTx/>
              <a:uFillTx/>
              <a:latin typeface="Arial" panose="020B0604020202020204"/>
              <a:ea typeface="+mn-ea"/>
              <a:cs typeface="+mn-cs"/>
            </a:endParaRPr>
          </a:p>
        </p:txBody>
      </p:sp>
      <p:cxnSp>
        <p:nvCxnSpPr>
          <p:cNvPr id="10301" name="Google Shape;10301;p69">
            <a:extLst>
              <a:ext uri="{FF2B5EF4-FFF2-40B4-BE49-F238E27FC236}">
                <a16:creationId xmlns:a16="http://schemas.microsoft.com/office/drawing/2014/main" id="{01A83A6A-8ECE-1EB2-FF5A-6C976768080C}"/>
              </a:ext>
            </a:extLst>
          </p:cNvPr>
          <p:cNvCxnSpPr/>
          <p:nvPr/>
        </p:nvCxnSpPr>
        <p:spPr>
          <a:xfrm>
            <a:off x="8379818" y="1609142"/>
            <a:ext cx="3807420" cy="0"/>
          </a:xfrm>
          <a:prstGeom prst="straightConnector1">
            <a:avLst/>
          </a:prstGeom>
          <a:noFill/>
          <a:ln w="57150" cap="flat" cmpd="sng">
            <a:solidFill>
              <a:schemeClr val="accent2"/>
            </a:solidFill>
            <a:prstDash val="solid"/>
            <a:miter lim="800000"/>
            <a:headEnd type="none" w="sm" len="sm"/>
            <a:tailEnd type="none" w="sm" len="sm"/>
          </a:ln>
        </p:spPr>
      </p:cxnSp>
      <p:sp>
        <p:nvSpPr>
          <p:cNvPr id="10302" name="Google Shape;10302;p69">
            <a:extLst>
              <a:ext uri="{FF2B5EF4-FFF2-40B4-BE49-F238E27FC236}">
                <a16:creationId xmlns:a16="http://schemas.microsoft.com/office/drawing/2014/main" id="{5BF54A19-8BCD-BAEB-0872-3ECCCAB60E3E}"/>
              </a:ext>
            </a:extLst>
          </p:cNvPr>
          <p:cNvSpPr txBox="1"/>
          <p:nvPr/>
        </p:nvSpPr>
        <p:spPr>
          <a:xfrm>
            <a:off x="8379818" y="1700138"/>
            <a:ext cx="2935882" cy="1935648"/>
          </a:xfrm>
          <a:prstGeom prst="rect">
            <a:avLst/>
          </a:prstGeom>
          <a:noFill/>
          <a:ln>
            <a:noFill/>
          </a:ln>
        </p:spPr>
        <p:txBody>
          <a:bodyPr spcFirstLastPara="1" wrap="square" lIns="0" tIns="45700" rIns="0" bIns="45700" anchor="t" anchorCtr="0">
            <a:noAutofit/>
          </a:bodyPr>
          <a:lstStyle/>
          <a:p>
            <a:pPr marL="0" marR="0" lvl="0" indent="0" algn="l" defTabSz="914400" rtl="0" eaLnBrk="1" fontAlgn="auto" latinLnBrk="0" hangingPunct="1">
              <a:lnSpc>
                <a:spcPct val="100000"/>
              </a:lnSpc>
              <a:spcBef>
                <a:spcPts val="0"/>
              </a:spcBef>
              <a:spcAft>
                <a:spcPts val="0"/>
              </a:spcAft>
              <a:buClr>
                <a:srgbClr val="A8A8AB"/>
              </a:buClr>
              <a:buSzPts val="1620"/>
              <a:buFontTx/>
              <a:buNone/>
              <a:tabLst/>
              <a:defRPr/>
            </a:pPr>
            <a:r>
              <a:rPr kumimoji="0" lang="en-US" sz="1800" b="0" i="0" u="none" strike="noStrike" kern="1200" cap="none" spc="0" normalizeH="0" baseline="0" noProof="0" dirty="0">
                <a:ln>
                  <a:noFill/>
                </a:ln>
                <a:solidFill>
                  <a:srgbClr val="1B1E35"/>
                </a:solidFill>
                <a:effectLst/>
                <a:uLnTx/>
                <a:uFillTx/>
                <a:latin typeface="Arial" panose="020B0604020202020204"/>
                <a:ea typeface="Arial"/>
                <a:cs typeface="Arial"/>
                <a:sym typeface="Arial"/>
              </a:rPr>
              <a:t>Applications in Focus</a:t>
            </a:r>
            <a:endParaRPr kumimoji="0" sz="2000" b="0" i="0" u="none" strike="noStrike" kern="1200" cap="none" spc="0" normalizeH="0" baseline="0" noProof="0" dirty="0">
              <a:ln>
                <a:noFill/>
              </a:ln>
              <a:solidFill>
                <a:srgbClr val="1B1E35"/>
              </a:solidFill>
              <a:effectLst/>
              <a:uLnTx/>
              <a:uFillTx/>
              <a:latin typeface="Arial" panose="020B0604020202020204"/>
              <a:ea typeface="Arial"/>
              <a:cs typeface="Arial"/>
              <a:sym typeface="Arial"/>
            </a:endParaRPr>
          </a:p>
          <a:p>
            <a:pPr marL="0" marR="0" lvl="0" indent="0" algn="l" defTabSz="914400" rtl="0" eaLnBrk="1" fontAlgn="auto" latinLnBrk="0" hangingPunct="1">
              <a:lnSpc>
                <a:spcPct val="100000"/>
              </a:lnSpc>
              <a:spcBef>
                <a:spcPts val="1200"/>
              </a:spcBef>
              <a:spcAft>
                <a:spcPts val="0"/>
              </a:spcAft>
              <a:buClr>
                <a:srgbClr val="A8A8AB"/>
              </a:buClr>
              <a:buSzPts val="1440"/>
              <a:buFontTx/>
              <a:buNone/>
              <a:tabLst/>
              <a:defRPr/>
            </a:pPr>
            <a:r>
              <a:rPr kumimoji="0" lang="en-US" sz="1600" b="0" i="0" u="none" strike="noStrike" kern="1200" cap="none" spc="0" normalizeH="0" baseline="0" noProof="0" dirty="0">
                <a:ln>
                  <a:noFill/>
                </a:ln>
                <a:solidFill>
                  <a:srgbClr val="005B84"/>
                </a:solidFill>
                <a:effectLst/>
                <a:uLnTx/>
                <a:uFillTx/>
                <a:latin typeface="Arial" panose="020B0604020202020204"/>
                <a:ea typeface="Arial"/>
                <a:cs typeface="Arial"/>
                <a:sym typeface="Arial"/>
              </a:rPr>
              <a:t>Building a repeatable infrastructure for applications</a:t>
            </a:r>
            <a:endParaRPr kumimoji="0" sz="2000" b="0" i="0" u="none" strike="noStrike" kern="1200" cap="none" spc="0" normalizeH="0" baseline="0" noProof="0" dirty="0">
              <a:ln>
                <a:noFill/>
              </a:ln>
              <a:solidFill>
                <a:srgbClr val="005B84"/>
              </a:solidFill>
              <a:effectLst/>
              <a:uLnTx/>
              <a:uFillTx/>
              <a:latin typeface="Arial" panose="020B0604020202020204"/>
              <a:ea typeface="Arial"/>
              <a:cs typeface="Arial"/>
              <a:sym typeface="Arial"/>
            </a:endParaRPr>
          </a:p>
          <a:p>
            <a:pPr marL="0" marR="0" lvl="0" indent="0" algn="l" defTabSz="914400" rtl="0" eaLnBrk="1" fontAlgn="auto" latinLnBrk="0" hangingPunct="1">
              <a:lnSpc>
                <a:spcPct val="100000"/>
              </a:lnSpc>
              <a:spcBef>
                <a:spcPts val="1200"/>
              </a:spcBef>
              <a:spcAft>
                <a:spcPts val="0"/>
              </a:spcAft>
              <a:buClr>
                <a:srgbClr val="A8A8AB"/>
              </a:buClr>
              <a:buSzPts val="1440"/>
              <a:buFontTx/>
              <a:buNone/>
              <a:tabLst/>
              <a:defRPr/>
            </a:pPr>
            <a:r>
              <a:rPr kumimoji="0" lang="en-US" sz="1600" b="0" i="0" u="none" strike="noStrike" kern="1200" cap="none" spc="0" normalizeH="0" baseline="0" noProof="0" dirty="0">
                <a:ln>
                  <a:noFill/>
                </a:ln>
                <a:solidFill>
                  <a:srgbClr val="005B84"/>
                </a:solidFill>
                <a:effectLst/>
                <a:uLnTx/>
                <a:uFillTx/>
                <a:latin typeface="Arial" panose="020B0604020202020204"/>
                <a:ea typeface="Arial"/>
                <a:cs typeface="Arial"/>
                <a:sym typeface="Arial"/>
              </a:rPr>
              <a:t>Abstracts the hardware layer and virtualizes network resources</a:t>
            </a:r>
            <a:endParaRPr kumimoji="0" sz="2000" b="0" i="0" u="none" strike="noStrike" kern="1200" cap="none" spc="0" normalizeH="0" baseline="0" noProof="0" dirty="0">
              <a:ln>
                <a:noFill/>
              </a:ln>
              <a:solidFill>
                <a:srgbClr val="005B84"/>
              </a:solidFill>
              <a:effectLst/>
              <a:uLnTx/>
              <a:uFillTx/>
              <a:latin typeface="Arial" panose="020B0604020202020204"/>
              <a:ea typeface="Arial"/>
              <a:cs typeface="Arial"/>
              <a:sym typeface="Arial"/>
            </a:endParaRPr>
          </a:p>
        </p:txBody>
      </p:sp>
      <p:sp>
        <p:nvSpPr>
          <p:cNvPr id="10303" name="Google Shape;10303;p69">
            <a:extLst>
              <a:ext uri="{FF2B5EF4-FFF2-40B4-BE49-F238E27FC236}">
                <a16:creationId xmlns:a16="http://schemas.microsoft.com/office/drawing/2014/main" id="{A8CBA7DF-2A3F-B634-313C-4BCBB69134F2}"/>
              </a:ext>
            </a:extLst>
          </p:cNvPr>
          <p:cNvSpPr txBox="1"/>
          <p:nvPr/>
        </p:nvSpPr>
        <p:spPr>
          <a:xfrm>
            <a:off x="8379819" y="3972328"/>
            <a:ext cx="2935882" cy="2122978"/>
          </a:xfrm>
          <a:prstGeom prst="rect">
            <a:avLst/>
          </a:prstGeom>
          <a:noFill/>
          <a:ln>
            <a:noFill/>
          </a:ln>
        </p:spPr>
        <p:txBody>
          <a:bodyPr spcFirstLastPara="1" wrap="square" lIns="0" tIns="45700" rIns="0" bIns="45700" anchor="t" anchorCtr="0">
            <a:noAutofit/>
          </a:bodyPr>
          <a:lstStyle/>
          <a:p>
            <a:pPr marL="0" marR="0" lvl="0" indent="0" algn="l" defTabSz="914400" rtl="0" eaLnBrk="1" fontAlgn="auto" latinLnBrk="0" hangingPunct="1">
              <a:lnSpc>
                <a:spcPct val="100000"/>
              </a:lnSpc>
              <a:spcBef>
                <a:spcPts val="0"/>
              </a:spcBef>
              <a:spcAft>
                <a:spcPts val="0"/>
              </a:spcAft>
              <a:buClr>
                <a:srgbClr val="A8A8AB"/>
              </a:buClr>
              <a:buSzPts val="1620"/>
              <a:buFontTx/>
              <a:buNone/>
              <a:tabLst/>
              <a:defRPr/>
            </a:pPr>
            <a:r>
              <a:rPr kumimoji="0" lang="en-US" sz="1800" b="0" i="0" u="none" strike="noStrike" kern="1200" cap="none" spc="0" normalizeH="0" baseline="0" noProof="0" dirty="0">
                <a:ln>
                  <a:noFill/>
                </a:ln>
                <a:solidFill>
                  <a:srgbClr val="1B1E35"/>
                </a:solidFill>
                <a:effectLst/>
                <a:uLnTx/>
                <a:uFillTx/>
                <a:latin typeface="Arial" panose="020B0604020202020204"/>
                <a:ea typeface="Arial"/>
                <a:cs typeface="Arial"/>
                <a:sym typeface="Arial"/>
              </a:rPr>
              <a:t>Operations</a:t>
            </a:r>
            <a:endParaRPr kumimoji="0" sz="1800" b="0" i="0" u="none" strike="noStrike" kern="1200" cap="none" spc="0" normalizeH="0" baseline="0" noProof="0" dirty="0">
              <a:ln>
                <a:noFill/>
              </a:ln>
              <a:solidFill>
                <a:srgbClr val="1B1E35"/>
              </a:solidFill>
              <a:effectLst/>
              <a:uLnTx/>
              <a:uFillTx/>
              <a:latin typeface="Arial" panose="020B0604020202020204"/>
              <a:ea typeface="Arial"/>
              <a:cs typeface="Arial"/>
              <a:sym typeface="Arial"/>
            </a:endParaRPr>
          </a:p>
          <a:p>
            <a:pPr marL="0" marR="0" lvl="0" indent="0" algn="l" defTabSz="914400" rtl="0" eaLnBrk="1" fontAlgn="auto" latinLnBrk="0" hangingPunct="1">
              <a:lnSpc>
                <a:spcPct val="100000"/>
              </a:lnSpc>
              <a:spcBef>
                <a:spcPts val="1200"/>
              </a:spcBef>
              <a:spcAft>
                <a:spcPts val="0"/>
              </a:spcAft>
              <a:buClr>
                <a:srgbClr val="A8A8AB"/>
              </a:buClr>
              <a:buSzPts val="1440"/>
              <a:buFontTx/>
              <a:buNone/>
              <a:tabLst/>
              <a:defRPr/>
            </a:pPr>
            <a:r>
              <a:rPr kumimoji="0" lang="en-US" sz="1600" b="0" i="0" u="none" strike="noStrike" kern="1200" cap="none" spc="0" normalizeH="0" baseline="0" noProof="0" dirty="0">
                <a:ln>
                  <a:noFill/>
                </a:ln>
                <a:solidFill>
                  <a:srgbClr val="005B84"/>
                </a:solidFill>
                <a:effectLst/>
                <a:uLnTx/>
                <a:uFillTx/>
                <a:latin typeface="Arial" panose="020B0604020202020204"/>
                <a:ea typeface="Arial"/>
                <a:cs typeface="Arial"/>
                <a:sym typeface="Arial"/>
              </a:rPr>
              <a:t>Policy-based enforcement based on application behavior</a:t>
            </a:r>
            <a:endParaRPr kumimoji="0" sz="1800" b="0" i="0" u="none" strike="noStrike" kern="1200" cap="none" spc="0" normalizeH="0" baseline="0" noProof="0" dirty="0">
              <a:ln>
                <a:noFill/>
              </a:ln>
              <a:solidFill>
                <a:srgbClr val="005B84"/>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1200"/>
              </a:spcBef>
              <a:spcAft>
                <a:spcPts val="0"/>
              </a:spcAft>
              <a:buClr>
                <a:srgbClr val="A8A8AB"/>
              </a:buClr>
              <a:buSzPts val="1440"/>
              <a:buFontTx/>
              <a:buNone/>
              <a:tabLst/>
              <a:defRPr/>
            </a:pPr>
            <a:r>
              <a:rPr kumimoji="0" lang="en-US" sz="1600" b="0" i="0" u="none" strike="noStrike" kern="1200" cap="none" spc="0" normalizeH="0" baseline="0" noProof="0" dirty="0">
                <a:ln>
                  <a:noFill/>
                </a:ln>
                <a:solidFill>
                  <a:srgbClr val="005B84"/>
                </a:solidFill>
                <a:effectLst/>
                <a:uLnTx/>
                <a:uFillTx/>
                <a:latin typeface="Arial" panose="020B0604020202020204"/>
                <a:ea typeface="Arial"/>
                <a:cs typeface="Arial"/>
                <a:sym typeface="Arial"/>
              </a:rPr>
              <a:t>Enforcement at application level and not at multiple points in the infrastructure</a:t>
            </a:r>
            <a:endParaRPr kumimoji="0" sz="1800" b="0" i="0" u="none" strike="noStrike" kern="1200" cap="none" spc="0" normalizeH="0" baseline="0" noProof="0" dirty="0">
              <a:ln>
                <a:noFill/>
              </a:ln>
              <a:solidFill>
                <a:srgbClr val="005B84"/>
              </a:solidFill>
              <a:effectLst/>
              <a:uLnTx/>
              <a:uFillTx/>
              <a:latin typeface="Arial" panose="020B0604020202020204"/>
              <a:ea typeface="+mn-ea"/>
              <a:cs typeface="+mn-cs"/>
            </a:endParaRPr>
          </a:p>
        </p:txBody>
      </p:sp>
      <p:sp>
        <p:nvSpPr>
          <p:cNvPr id="10304" name="Google Shape;10304;p69">
            <a:extLst>
              <a:ext uri="{FF2B5EF4-FFF2-40B4-BE49-F238E27FC236}">
                <a16:creationId xmlns:a16="http://schemas.microsoft.com/office/drawing/2014/main" id="{BBFBE045-54B3-541D-6CD3-313719955935}"/>
              </a:ext>
            </a:extLst>
          </p:cNvPr>
          <p:cNvSpPr/>
          <p:nvPr/>
        </p:nvSpPr>
        <p:spPr>
          <a:xfrm>
            <a:off x="579809" y="2331170"/>
            <a:ext cx="6328991" cy="974748"/>
          </a:xfrm>
          <a:prstGeom prst="roundRect">
            <a:avLst>
              <a:gd name="adj" fmla="val 5410"/>
            </a:avLst>
          </a:prstGeom>
          <a:solidFill>
            <a:schemeClr val="accent2">
              <a:alpha val="10000"/>
            </a:schemeClr>
          </a:solidFill>
          <a:ln w="25400" cap="flat" cmpd="sng">
            <a:solidFill>
              <a:schemeClr val="accent3"/>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05" name="Google Shape;10305;p69">
            <a:extLst>
              <a:ext uri="{FF2B5EF4-FFF2-40B4-BE49-F238E27FC236}">
                <a16:creationId xmlns:a16="http://schemas.microsoft.com/office/drawing/2014/main" id="{B7826C8E-2AB0-801E-FD40-4253DBBEDFD4}"/>
              </a:ext>
            </a:extLst>
          </p:cNvPr>
          <p:cNvSpPr/>
          <p:nvPr/>
        </p:nvSpPr>
        <p:spPr>
          <a:xfrm>
            <a:off x="732376" y="2668588"/>
            <a:ext cx="1644040" cy="307777"/>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EEEEE">
                    <a:lumMod val="10000"/>
                  </a:srgbClr>
                </a:solidFill>
                <a:effectLst/>
                <a:uLnTx/>
                <a:uFillTx/>
                <a:latin typeface="Arial" panose="020B0604020202020204"/>
                <a:ea typeface="Arial"/>
                <a:cs typeface="Arial"/>
                <a:sym typeface="Arial"/>
              </a:rPr>
              <a:t>Application Layer</a:t>
            </a:r>
            <a:endParaRPr kumimoji="0" sz="1800" b="0" i="0" u="none" strike="noStrike" kern="1200" cap="none" spc="0" normalizeH="0" baseline="0" noProof="0" dirty="0">
              <a:ln>
                <a:noFill/>
              </a:ln>
              <a:solidFill>
                <a:srgbClr val="EEEEEE">
                  <a:lumMod val="10000"/>
                </a:srgbClr>
              </a:solidFill>
              <a:effectLst/>
              <a:uLnTx/>
              <a:uFillTx/>
              <a:latin typeface="Arial" panose="020B0604020202020204"/>
              <a:ea typeface="+mn-ea"/>
              <a:cs typeface="+mn-cs"/>
            </a:endParaRPr>
          </a:p>
        </p:txBody>
      </p:sp>
      <p:grpSp>
        <p:nvGrpSpPr>
          <p:cNvPr id="10306" name="Google Shape;10306;p69" descr="app">
            <a:extLst>
              <a:ext uri="{FF2B5EF4-FFF2-40B4-BE49-F238E27FC236}">
                <a16:creationId xmlns:a16="http://schemas.microsoft.com/office/drawing/2014/main" id="{A0CF6AAE-D1C1-8871-6FC1-5FCE0F07CE54}"/>
              </a:ext>
            </a:extLst>
          </p:cNvPr>
          <p:cNvGrpSpPr/>
          <p:nvPr/>
        </p:nvGrpSpPr>
        <p:grpSpPr>
          <a:xfrm>
            <a:off x="3240687" y="2527578"/>
            <a:ext cx="581934" cy="581932"/>
            <a:chOff x="1226691" y="4955658"/>
            <a:chExt cx="582086" cy="582084"/>
          </a:xfrm>
        </p:grpSpPr>
        <p:sp>
          <p:nvSpPr>
            <p:cNvPr id="10307" name="Google Shape;10307;p69">
              <a:extLst>
                <a:ext uri="{FF2B5EF4-FFF2-40B4-BE49-F238E27FC236}">
                  <a16:creationId xmlns:a16="http://schemas.microsoft.com/office/drawing/2014/main" id="{D98AADFF-65F6-F280-7987-AF6DA481A38A}"/>
                </a:ext>
              </a:extLst>
            </p:cNvPr>
            <p:cNvSpPr/>
            <p:nvPr/>
          </p:nvSpPr>
          <p:spPr>
            <a:xfrm>
              <a:off x="1226691" y="4955658"/>
              <a:ext cx="582086" cy="582084"/>
            </a:xfrm>
            <a:prstGeom prst="ellipse">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308" name="Google Shape;10308;p69">
              <a:extLst>
                <a:ext uri="{FF2B5EF4-FFF2-40B4-BE49-F238E27FC236}">
                  <a16:creationId xmlns:a16="http://schemas.microsoft.com/office/drawing/2014/main" id="{79122600-E500-353D-CC62-66AD30E4280F}"/>
                </a:ext>
              </a:extLst>
            </p:cNvPr>
            <p:cNvGrpSpPr/>
            <p:nvPr/>
          </p:nvGrpSpPr>
          <p:grpSpPr>
            <a:xfrm>
              <a:off x="1353456" y="5072847"/>
              <a:ext cx="336964" cy="336964"/>
              <a:chOff x="988779" y="1554296"/>
              <a:chExt cx="1035620" cy="1035620"/>
            </a:xfrm>
          </p:grpSpPr>
          <p:grpSp>
            <p:nvGrpSpPr>
              <p:cNvPr id="10309" name="Google Shape;10309;p69">
                <a:extLst>
                  <a:ext uri="{FF2B5EF4-FFF2-40B4-BE49-F238E27FC236}">
                    <a16:creationId xmlns:a16="http://schemas.microsoft.com/office/drawing/2014/main" id="{02DBF19D-0FC7-DA57-D84B-FC0E76C66B86}"/>
                  </a:ext>
                </a:extLst>
              </p:cNvPr>
              <p:cNvGrpSpPr/>
              <p:nvPr/>
            </p:nvGrpSpPr>
            <p:grpSpPr>
              <a:xfrm>
                <a:off x="1165295" y="1944645"/>
                <a:ext cx="663299" cy="217354"/>
                <a:chOff x="1165295" y="1944645"/>
                <a:chExt cx="663299" cy="217354"/>
              </a:xfrm>
            </p:grpSpPr>
            <p:sp>
              <p:nvSpPr>
                <p:cNvPr id="10310" name="Google Shape;10310;p69">
                  <a:extLst>
                    <a:ext uri="{FF2B5EF4-FFF2-40B4-BE49-F238E27FC236}">
                      <a16:creationId xmlns:a16="http://schemas.microsoft.com/office/drawing/2014/main" id="{39517C5C-30B7-54FC-266D-111FA57BC153}"/>
                    </a:ext>
                  </a:extLst>
                </p:cNvPr>
                <p:cNvSpPr/>
                <p:nvPr/>
              </p:nvSpPr>
              <p:spPr>
                <a:xfrm>
                  <a:off x="1165295" y="1944645"/>
                  <a:ext cx="218612" cy="217270"/>
                </a:xfrm>
                <a:custGeom>
                  <a:avLst/>
                  <a:gdLst/>
                  <a:ahLst/>
                  <a:cxnLst/>
                  <a:rect l="l" t="t" r="r" b="b"/>
                  <a:pathLst>
                    <a:path w="218612" h="217270" extrusionOk="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311" name="Google Shape;10311;p69">
                  <a:extLst>
                    <a:ext uri="{FF2B5EF4-FFF2-40B4-BE49-F238E27FC236}">
                      <a16:creationId xmlns:a16="http://schemas.microsoft.com/office/drawing/2014/main" id="{8A60A5CA-7484-4155-C4BA-368D67ED4561}"/>
                    </a:ext>
                  </a:extLst>
                </p:cNvPr>
                <p:cNvSpPr/>
                <p:nvPr/>
              </p:nvSpPr>
              <p:spPr>
                <a:xfrm>
                  <a:off x="1437827" y="1944729"/>
                  <a:ext cx="168214" cy="217270"/>
                </a:xfrm>
                <a:custGeom>
                  <a:avLst/>
                  <a:gdLst/>
                  <a:ahLst/>
                  <a:cxnLst/>
                  <a:rect l="l" t="t" r="r" b="b"/>
                  <a:pathLst>
                    <a:path w="168214" h="217270" extrusionOk="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312" name="Google Shape;10312;p69">
                  <a:extLst>
                    <a:ext uri="{FF2B5EF4-FFF2-40B4-BE49-F238E27FC236}">
                      <a16:creationId xmlns:a16="http://schemas.microsoft.com/office/drawing/2014/main" id="{AAD67BB8-7A8F-DDA0-0905-9B28CD45B1C7}"/>
                    </a:ext>
                  </a:extLst>
                </p:cNvPr>
                <p:cNvSpPr/>
                <p:nvPr/>
              </p:nvSpPr>
              <p:spPr>
                <a:xfrm>
                  <a:off x="1660380" y="1944729"/>
                  <a:ext cx="168214" cy="217270"/>
                </a:xfrm>
                <a:custGeom>
                  <a:avLst/>
                  <a:gdLst/>
                  <a:ahLst/>
                  <a:cxnLst/>
                  <a:rect l="l" t="t" r="r" b="b"/>
                  <a:pathLst>
                    <a:path w="168214" h="217270" extrusionOk="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sp>
            <p:nvSpPr>
              <p:cNvPr id="10313" name="Google Shape;10313;p69">
                <a:extLst>
                  <a:ext uri="{FF2B5EF4-FFF2-40B4-BE49-F238E27FC236}">
                    <a16:creationId xmlns:a16="http://schemas.microsoft.com/office/drawing/2014/main" id="{23C755D4-3EC9-664D-26E3-78B8B0BA9F23}"/>
                  </a:ext>
                </a:extLst>
              </p:cNvPr>
              <p:cNvSpPr/>
              <p:nvPr/>
            </p:nvSpPr>
            <p:spPr>
              <a:xfrm>
                <a:off x="988779" y="1554296"/>
                <a:ext cx="1035620" cy="1035620"/>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nvGrpSpPr>
          <p:cNvPr id="10314" name="Google Shape;10314;p69" descr="app">
            <a:extLst>
              <a:ext uri="{FF2B5EF4-FFF2-40B4-BE49-F238E27FC236}">
                <a16:creationId xmlns:a16="http://schemas.microsoft.com/office/drawing/2014/main" id="{DEBAA3B8-72D6-A9F1-6888-CD492AB1B3BE}"/>
              </a:ext>
            </a:extLst>
          </p:cNvPr>
          <p:cNvGrpSpPr/>
          <p:nvPr/>
        </p:nvGrpSpPr>
        <p:grpSpPr>
          <a:xfrm>
            <a:off x="4050310" y="2527578"/>
            <a:ext cx="581934" cy="581932"/>
            <a:chOff x="2869224" y="4955658"/>
            <a:chExt cx="582086" cy="582084"/>
          </a:xfrm>
        </p:grpSpPr>
        <p:sp>
          <p:nvSpPr>
            <p:cNvPr id="10315" name="Google Shape;10315;p69">
              <a:extLst>
                <a:ext uri="{FF2B5EF4-FFF2-40B4-BE49-F238E27FC236}">
                  <a16:creationId xmlns:a16="http://schemas.microsoft.com/office/drawing/2014/main" id="{E00BAA1A-F1EF-8551-92D8-5AEDA5551785}"/>
                </a:ext>
              </a:extLst>
            </p:cNvPr>
            <p:cNvSpPr/>
            <p:nvPr/>
          </p:nvSpPr>
          <p:spPr>
            <a:xfrm>
              <a:off x="2869224" y="4955658"/>
              <a:ext cx="582086" cy="582084"/>
            </a:xfrm>
            <a:prstGeom prst="ellipse">
              <a:avLst/>
            </a:prstGeom>
            <a:solidFill>
              <a:schemeClr val="lt1"/>
            </a:solidFill>
            <a:ln w="19050" cap="flat" cmpd="sng">
              <a:solidFill>
                <a:schemeClr val="accen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316" name="Google Shape;10316;p69">
              <a:extLst>
                <a:ext uri="{FF2B5EF4-FFF2-40B4-BE49-F238E27FC236}">
                  <a16:creationId xmlns:a16="http://schemas.microsoft.com/office/drawing/2014/main" id="{B61871D0-F44E-85C0-45BF-4FB466AC3AC7}"/>
                </a:ext>
              </a:extLst>
            </p:cNvPr>
            <p:cNvGrpSpPr/>
            <p:nvPr/>
          </p:nvGrpSpPr>
          <p:grpSpPr>
            <a:xfrm>
              <a:off x="2995989" y="5072847"/>
              <a:ext cx="336964" cy="336964"/>
              <a:chOff x="988779" y="1554296"/>
              <a:chExt cx="1035620" cy="1035620"/>
            </a:xfrm>
          </p:grpSpPr>
          <p:grpSp>
            <p:nvGrpSpPr>
              <p:cNvPr id="10317" name="Google Shape;10317;p69">
                <a:extLst>
                  <a:ext uri="{FF2B5EF4-FFF2-40B4-BE49-F238E27FC236}">
                    <a16:creationId xmlns:a16="http://schemas.microsoft.com/office/drawing/2014/main" id="{C7F94D2F-0953-4BBA-43CF-A184EC96828B}"/>
                  </a:ext>
                </a:extLst>
              </p:cNvPr>
              <p:cNvGrpSpPr/>
              <p:nvPr/>
            </p:nvGrpSpPr>
            <p:grpSpPr>
              <a:xfrm>
                <a:off x="1165295" y="1944645"/>
                <a:ext cx="663299" cy="217354"/>
                <a:chOff x="1165295" y="1944645"/>
                <a:chExt cx="663299" cy="217354"/>
              </a:xfrm>
            </p:grpSpPr>
            <p:sp>
              <p:nvSpPr>
                <p:cNvPr id="10318" name="Google Shape;10318;p69">
                  <a:extLst>
                    <a:ext uri="{FF2B5EF4-FFF2-40B4-BE49-F238E27FC236}">
                      <a16:creationId xmlns:a16="http://schemas.microsoft.com/office/drawing/2014/main" id="{AB1015C9-8CC6-D469-9546-14219F051CD8}"/>
                    </a:ext>
                  </a:extLst>
                </p:cNvPr>
                <p:cNvSpPr/>
                <p:nvPr/>
              </p:nvSpPr>
              <p:spPr>
                <a:xfrm>
                  <a:off x="1165295" y="1944645"/>
                  <a:ext cx="218612" cy="217270"/>
                </a:xfrm>
                <a:custGeom>
                  <a:avLst/>
                  <a:gdLst/>
                  <a:ahLst/>
                  <a:cxnLst/>
                  <a:rect l="l" t="t" r="r" b="b"/>
                  <a:pathLst>
                    <a:path w="218612" h="217270" extrusionOk="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319" name="Google Shape;10319;p69">
                  <a:extLst>
                    <a:ext uri="{FF2B5EF4-FFF2-40B4-BE49-F238E27FC236}">
                      <a16:creationId xmlns:a16="http://schemas.microsoft.com/office/drawing/2014/main" id="{2B939645-DF68-D868-3147-B0C883F93FBC}"/>
                    </a:ext>
                  </a:extLst>
                </p:cNvPr>
                <p:cNvSpPr/>
                <p:nvPr/>
              </p:nvSpPr>
              <p:spPr>
                <a:xfrm>
                  <a:off x="1437827" y="1944729"/>
                  <a:ext cx="168214" cy="217270"/>
                </a:xfrm>
                <a:custGeom>
                  <a:avLst/>
                  <a:gdLst/>
                  <a:ahLst/>
                  <a:cxnLst/>
                  <a:rect l="l" t="t" r="r" b="b"/>
                  <a:pathLst>
                    <a:path w="168214" h="217270" extrusionOk="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320" name="Google Shape;10320;p69">
                  <a:extLst>
                    <a:ext uri="{FF2B5EF4-FFF2-40B4-BE49-F238E27FC236}">
                      <a16:creationId xmlns:a16="http://schemas.microsoft.com/office/drawing/2014/main" id="{EE8849C5-6823-63B0-881C-0E9ACAD7468D}"/>
                    </a:ext>
                  </a:extLst>
                </p:cNvPr>
                <p:cNvSpPr/>
                <p:nvPr/>
              </p:nvSpPr>
              <p:spPr>
                <a:xfrm>
                  <a:off x="1660380" y="1944729"/>
                  <a:ext cx="168214" cy="217270"/>
                </a:xfrm>
                <a:custGeom>
                  <a:avLst/>
                  <a:gdLst/>
                  <a:ahLst/>
                  <a:cxnLst/>
                  <a:rect l="l" t="t" r="r" b="b"/>
                  <a:pathLst>
                    <a:path w="168214" h="217270" extrusionOk="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sp>
            <p:nvSpPr>
              <p:cNvPr id="10321" name="Google Shape;10321;p69">
                <a:extLst>
                  <a:ext uri="{FF2B5EF4-FFF2-40B4-BE49-F238E27FC236}">
                    <a16:creationId xmlns:a16="http://schemas.microsoft.com/office/drawing/2014/main" id="{EEEF4AEB-C98A-359E-87F0-0F82ED433327}"/>
                  </a:ext>
                </a:extLst>
              </p:cNvPr>
              <p:cNvSpPr/>
              <p:nvPr/>
            </p:nvSpPr>
            <p:spPr>
              <a:xfrm>
                <a:off x="988779" y="1554296"/>
                <a:ext cx="1035620" cy="1035620"/>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nvGrpSpPr>
          <p:cNvPr id="10322" name="Google Shape;10322;p69" descr="DB">
            <a:extLst>
              <a:ext uri="{FF2B5EF4-FFF2-40B4-BE49-F238E27FC236}">
                <a16:creationId xmlns:a16="http://schemas.microsoft.com/office/drawing/2014/main" id="{FD140A57-8CB9-17F5-732B-4DCAD1004770}"/>
              </a:ext>
            </a:extLst>
          </p:cNvPr>
          <p:cNvGrpSpPr/>
          <p:nvPr/>
        </p:nvGrpSpPr>
        <p:grpSpPr>
          <a:xfrm>
            <a:off x="4857326" y="2527578"/>
            <a:ext cx="581934" cy="581932"/>
            <a:chOff x="4494824" y="4955658"/>
            <a:chExt cx="582086" cy="582084"/>
          </a:xfrm>
        </p:grpSpPr>
        <p:sp>
          <p:nvSpPr>
            <p:cNvPr id="10323" name="Google Shape;10323;p69">
              <a:extLst>
                <a:ext uri="{FF2B5EF4-FFF2-40B4-BE49-F238E27FC236}">
                  <a16:creationId xmlns:a16="http://schemas.microsoft.com/office/drawing/2014/main" id="{119FDB91-493F-C9D3-009C-042F060B4B81}"/>
                </a:ext>
              </a:extLst>
            </p:cNvPr>
            <p:cNvSpPr/>
            <p:nvPr/>
          </p:nvSpPr>
          <p:spPr>
            <a:xfrm>
              <a:off x="4494824" y="4955658"/>
              <a:ext cx="582086" cy="582084"/>
            </a:xfrm>
            <a:prstGeom prst="ellipse">
              <a:avLst/>
            </a:prstGeom>
            <a:solidFill>
              <a:schemeClr val="lt1"/>
            </a:solidFill>
            <a:ln w="1905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324" name="Google Shape;10324;p69">
              <a:extLst>
                <a:ext uri="{FF2B5EF4-FFF2-40B4-BE49-F238E27FC236}">
                  <a16:creationId xmlns:a16="http://schemas.microsoft.com/office/drawing/2014/main" id="{4615B10C-D1C4-FEBB-C9B1-AF3AC6E1BFC2}"/>
                </a:ext>
              </a:extLst>
            </p:cNvPr>
            <p:cNvGrpSpPr/>
            <p:nvPr/>
          </p:nvGrpSpPr>
          <p:grpSpPr>
            <a:xfrm>
              <a:off x="4626539" y="5083870"/>
              <a:ext cx="336964" cy="336964"/>
              <a:chOff x="7845192" y="1553112"/>
              <a:chExt cx="1035620" cy="1035620"/>
            </a:xfrm>
          </p:grpSpPr>
          <p:grpSp>
            <p:nvGrpSpPr>
              <p:cNvPr id="10325" name="Google Shape;10325;p69">
                <a:extLst>
                  <a:ext uri="{FF2B5EF4-FFF2-40B4-BE49-F238E27FC236}">
                    <a16:creationId xmlns:a16="http://schemas.microsoft.com/office/drawing/2014/main" id="{6F24F059-FC69-7338-0BCE-1E64AB1B4B95}"/>
                  </a:ext>
                </a:extLst>
              </p:cNvPr>
              <p:cNvGrpSpPr/>
              <p:nvPr/>
            </p:nvGrpSpPr>
            <p:grpSpPr>
              <a:xfrm>
                <a:off x="8145479" y="1943545"/>
                <a:ext cx="427749" cy="217270"/>
                <a:chOff x="8145479" y="1943545"/>
                <a:chExt cx="427749" cy="217270"/>
              </a:xfrm>
            </p:grpSpPr>
            <p:sp>
              <p:nvSpPr>
                <p:cNvPr id="10326" name="Google Shape;10326;p69">
                  <a:extLst>
                    <a:ext uri="{FF2B5EF4-FFF2-40B4-BE49-F238E27FC236}">
                      <a16:creationId xmlns:a16="http://schemas.microsoft.com/office/drawing/2014/main" id="{F8DF92ED-F947-E842-4C20-3695E5452736}"/>
                    </a:ext>
                  </a:extLst>
                </p:cNvPr>
                <p:cNvSpPr/>
                <p:nvPr/>
              </p:nvSpPr>
              <p:spPr>
                <a:xfrm>
                  <a:off x="8145479" y="1943545"/>
                  <a:ext cx="191023" cy="217186"/>
                </a:xfrm>
                <a:custGeom>
                  <a:avLst/>
                  <a:gdLst/>
                  <a:ahLst/>
                  <a:cxnLst/>
                  <a:rect l="l" t="t" r="r" b="b"/>
                  <a:pathLst>
                    <a:path w="191023" h="217186" extrusionOk="0">
                      <a:moveTo>
                        <a:pt x="0" y="0"/>
                      </a:moveTo>
                      <a:lnTo>
                        <a:pt x="73374" y="0"/>
                      </a:lnTo>
                      <a:cubicBezTo>
                        <a:pt x="142303" y="0"/>
                        <a:pt x="191024" y="44863"/>
                        <a:pt x="191024" y="108426"/>
                      </a:cubicBezTo>
                      <a:cubicBezTo>
                        <a:pt x="191024" y="171988"/>
                        <a:pt x="142303" y="217187"/>
                        <a:pt x="73374" y="217187"/>
                      </a:cubicBezTo>
                      <a:lnTo>
                        <a:pt x="0" y="217187"/>
                      </a:lnTo>
                      <a:lnTo>
                        <a:pt x="0" y="0"/>
                      </a:lnTo>
                      <a:close/>
                      <a:moveTo>
                        <a:pt x="73374" y="194797"/>
                      </a:moveTo>
                      <a:cubicBezTo>
                        <a:pt x="127796" y="194797"/>
                        <a:pt x="166035" y="159075"/>
                        <a:pt x="166035" y="108510"/>
                      </a:cubicBezTo>
                      <a:cubicBezTo>
                        <a:pt x="166035" y="58196"/>
                        <a:pt x="127796" y="22473"/>
                        <a:pt x="73374" y="22473"/>
                      </a:cubicBezTo>
                      <a:lnTo>
                        <a:pt x="24654" y="22473"/>
                      </a:lnTo>
                      <a:lnTo>
                        <a:pt x="24654" y="194797"/>
                      </a:lnTo>
                      <a:lnTo>
                        <a:pt x="73374" y="194797"/>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327" name="Google Shape;10327;p69">
                  <a:extLst>
                    <a:ext uri="{FF2B5EF4-FFF2-40B4-BE49-F238E27FC236}">
                      <a16:creationId xmlns:a16="http://schemas.microsoft.com/office/drawing/2014/main" id="{BD3191F5-67A7-898D-7FAA-9CFD868B1278}"/>
                    </a:ext>
                  </a:extLst>
                </p:cNvPr>
                <p:cNvSpPr/>
                <p:nvPr/>
              </p:nvSpPr>
              <p:spPr>
                <a:xfrm>
                  <a:off x="8405349" y="1943545"/>
                  <a:ext cx="167879" cy="217270"/>
                </a:xfrm>
                <a:custGeom>
                  <a:avLst/>
                  <a:gdLst/>
                  <a:ahLst/>
                  <a:cxnLst/>
                  <a:rect l="l" t="t" r="r" b="b"/>
                  <a:pathLst>
                    <a:path w="167879" h="217270" extrusionOk="0">
                      <a:moveTo>
                        <a:pt x="0" y="0"/>
                      </a:moveTo>
                      <a:lnTo>
                        <a:pt x="99621" y="0"/>
                      </a:lnTo>
                      <a:cubicBezTo>
                        <a:pt x="134756" y="0"/>
                        <a:pt x="159410" y="22473"/>
                        <a:pt x="159410" y="54087"/>
                      </a:cubicBezTo>
                      <a:cubicBezTo>
                        <a:pt x="159410" y="77147"/>
                        <a:pt x="148006" y="90480"/>
                        <a:pt x="128383" y="101801"/>
                      </a:cubicBezTo>
                      <a:cubicBezTo>
                        <a:pt x="153372" y="114463"/>
                        <a:pt x="167879" y="134086"/>
                        <a:pt x="167879" y="157817"/>
                      </a:cubicBezTo>
                      <a:cubicBezTo>
                        <a:pt x="167879" y="192617"/>
                        <a:pt x="140962" y="217271"/>
                        <a:pt x="103394" y="217271"/>
                      </a:cubicBezTo>
                      <a:lnTo>
                        <a:pt x="0" y="217271"/>
                      </a:lnTo>
                      <a:lnTo>
                        <a:pt x="0" y="0"/>
                      </a:lnTo>
                      <a:close/>
                      <a:moveTo>
                        <a:pt x="93332" y="91990"/>
                      </a:moveTo>
                      <a:cubicBezTo>
                        <a:pt x="117398" y="91990"/>
                        <a:pt x="134421" y="77399"/>
                        <a:pt x="134421" y="57190"/>
                      </a:cubicBezTo>
                      <a:cubicBezTo>
                        <a:pt x="134421" y="36980"/>
                        <a:pt x="117314" y="22390"/>
                        <a:pt x="93332" y="22390"/>
                      </a:cubicBezTo>
                      <a:lnTo>
                        <a:pt x="24737" y="22390"/>
                      </a:lnTo>
                      <a:lnTo>
                        <a:pt x="24737" y="91990"/>
                      </a:lnTo>
                      <a:lnTo>
                        <a:pt x="93332" y="91990"/>
                      </a:lnTo>
                      <a:close/>
                      <a:moveTo>
                        <a:pt x="97105" y="194797"/>
                      </a:moveTo>
                      <a:cubicBezTo>
                        <a:pt x="123939" y="194797"/>
                        <a:pt x="142974" y="178026"/>
                        <a:pt x="142974" y="154630"/>
                      </a:cubicBezTo>
                      <a:cubicBezTo>
                        <a:pt x="142974" y="131234"/>
                        <a:pt x="124023" y="114463"/>
                        <a:pt x="97105" y="114463"/>
                      </a:cubicBezTo>
                      <a:lnTo>
                        <a:pt x="24654" y="114463"/>
                      </a:lnTo>
                      <a:lnTo>
                        <a:pt x="24654" y="194797"/>
                      </a:lnTo>
                      <a:lnTo>
                        <a:pt x="97105" y="194797"/>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sp>
            <p:nvSpPr>
              <p:cNvPr id="10328" name="Google Shape;10328;p69">
                <a:extLst>
                  <a:ext uri="{FF2B5EF4-FFF2-40B4-BE49-F238E27FC236}">
                    <a16:creationId xmlns:a16="http://schemas.microsoft.com/office/drawing/2014/main" id="{160733B4-F1B5-14FA-60B5-045BA6DD51FE}"/>
                  </a:ext>
                </a:extLst>
              </p:cNvPr>
              <p:cNvSpPr/>
              <p:nvPr/>
            </p:nvSpPr>
            <p:spPr>
              <a:xfrm>
                <a:off x="7845192" y="1553112"/>
                <a:ext cx="1035620" cy="1035620"/>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sp>
        <p:nvSpPr>
          <p:cNvPr id="10329" name="Google Shape;10329;p69">
            <a:extLst>
              <a:ext uri="{FF2B5EF4-FFF2-40B4-BE49-F238E27FC236}">
                <a16:creationId xmlns:a16="http://schemas.microsoft.com/office/drawing/2014/main" id="{3F5E42E3-7EFF-3AF2-E137-9CD5E67EB4CE}"/>
              </a:ext>
            </a:extLst>
          </p:cNvPr>
          <p:cNvSpPr/>
          <p:nvPr/>
        </p:nvSpPr>
        <p:spPr>
          <a:xfrm>
            <a:off x="7025013" y="2603244"/>
            <a:ext cx="712448" cy="461665"/>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Hosted on VMS</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6" name="Group 5">
            <a:extLst>
              <a:ext uri="{FF2B5EF4-FFF2-40B4-BE49-F238E27FC236}">
                <a16:creationId xmlns:a16="http://schemas.microsoft.com/office/drawing/2014/main" id="{430B38D6-0205-525C-E445-6DCFACF765E1}"/>
              </a:ext>
            </a:extLst>
          </p:cNvPr>
          <p:cNvGrpSpPr/>
          <p:nvPr/>
        </p:nvGrpSpPr>
        <p:grpSpPr>
          <a:xfrm>
            <a:off x="579809" y="4851008"/>
            <a:ext cx="7674526" cy="974748"/>
            <a:chOff x="579809" y="4851008"/>
            <a:chExt cx="7674526" cy="974748"/>
          </a:xfrm>
        </p:grpSpPr>
        <p:sp>
          <p:nvSpPr>
            <p:cNvPr id="10331" name="Google Shape;10331;p69">
              <a:extLst>
                <a:ext uri="{FF2B5EF4-FFF2-40B4-BE49-F238E27FC236}">
                  <a16:creationId xmlns:a16="http://schemas.microsoft.com/office/drawing/2014/main" id="{5C58F2B5-B782-BAC1-CFF2-5A7838E45880}"/>
                </a:ext>
              </a:extLst>
            </p:cNvPr>
            <p:cNvSpPr/>
            <p:nvPr/>
          </p:nvSpPr>
          <p:spPr>
            <a:xfrm>
              <a:off x="579809" y="4851008"/>
              <a:ext cx="6328991" cy="974748"/>
            </a:xfrm>
            <a:prstGeom prst="roundRect">
              <a:avLst>
                <a:gd name="adj" fmla="val 7286"/>
              </a:avLst>
            </a:prstGeom>
            <a:solidFill>
              <a:schemeClr val="accent2">
                <a:alpha val="10000"/>
              </a:schemeClr>
            </a:solidFill>
            <a:ln w="25400" cap="flat" cmpd="sng">
              <a:solidFill>
                <a:schemeClr val="accent3"/>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38" name="Google Shape;10338;p69">
              <a:extLst>
                <a:ext uri="{FF2B5EF4-FFF2-40B4-BE49-F238E27FC236}">
                  <a16:creationId xmlns:a16="http://schemas.microsoft.com/office/drawing/2014/main" id="{13850F90-35A4-2320-396D-B9A751E46807}"/>
                </a:ext>
              </a:extLst>
            </p:cNvPr>
            <p:cNvSpPr/>
            <p:nvPr/>
          </p:nvSpPr>
          <p:spPr>
            <a:xfrm>
              <a:off x="732374" y="5184494"/>
              <a:ext cx="1839606" cy="307777"/>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EEEEE">
                      <a:lumMod val="10000"/>
                    </a:srgbClr>
                  </a:solidFill>
                  <a:effectLst/>
                  <a:uLnTx/>
                  <a:uFillTx/>
                  <a:latin typeface="Arial" panose="020B0604020202020204"/>
                  <a:ea typeface="Arial"/>
                  <a:cs typeface="Arial"/>
                  <a:sym typeface="Arial"/>
                </a:rPr>
                <a:t>Infrastructure Layer</a:t>
              </a:r>
              <a:endParaRPr kumimoji="0" sz="1800" b="0" i="0" u="none" strike="noStrike" kern="1200" cap="none" spc="0" normalizeH="0" baseline="0" noProof="0" dirty="0">
                <a:ln>
                  <a:noFill/>
                </a:ln>
                <a:solidFill>
                  <a:srgbClr val="EEEEEE">
                    <a:lumMod val="10000"/>
                  </a:srgbClr>
                </a:solidFill>
                <a:effectLst/>
                <a:uLnTx/>
                <a:uFillTx/>
                <a:latin typeface="Arial" panose="020B0604020202020204"/>
                <a:ea typeface="+mn-ea"/>
                <a:cs typeface="+mn-cs"/>
              </a:endParaRPr>
            </a:p>
          </p:txBody>
        </p:sp>
        <p:sp>
          <p:nvSpPr>
            <p:cNvPr id="10339" name="Google Shape;10339;p69">
              <a:extLst>
                <a:ext uri="{FF2B5EF4-FFF2-40B4-BE49-F238E27FC236}">
                  <a16:creationId xmlns:a16="http://schemas.microsoft.com/office/drawing/2014/main" id="{A683111A-92AC-E4B8-DC85-1035DE4C79FC}"/>
                </a:ext>
              </a:extLst>
            </p:cNvPr>
            <p:cNvSpPr/>
            <p:nvPr/>
          </p:nvSpPr>
          <p:spPr>
            <a:xfrm>
              <a:off x="7025015" y="5009620"/>
              <a:ext cx="1229320" cy="646331"/>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Physical Infrastructure</a:t>
              </a:r>
              <a:b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br>
              <a: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as Transport</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10379" name="Google Shape;10379;p69">
              <a:extLst>
                <a:ext uri="{FF2B5EF4-FFF2-40B4-BE49-F238E27FC236}">
                  <a16:creationId xmlns:a16="http://schemas.microsoft.com/office/drawing/2014/main" id="{622A11E1-BFB8-AF54-AB92-9D799C59E4F1}"/>
                </a:ext>
              </a:extLst>
            </p:cNvPr>
            <p:cNvGrpSpPr/>
            <p:nvPr/>
          </p:nvGrpSpPr>
          <p:grpSpPr>
            <a:xfrm>
              <a:off x="3240687" y="5046602"/>
              <a:ext cx="581934" cy="581932"/>
              <a:chOff x="3612718" y="5047023"/>
              <a:chExt cx="582086" cy="582084"/>
            </a:xfrm>
          </p:grpSpPr>
          <p:sp>
            <p:nvSpPr>
              <p:cNvPr id="10380" name="Google Shape;10380;p69">
                <a:extLst>
                  <a:ext uri="{FF2B5EF4-FFF2-40B4-BE49-F238E27FC236}">
                    <a16:creationId xmlns:a16="http://schemas.microsoft.com/office/drawing/2014/main" id="{48CD13DE-6F21-1DBC-5CE4-F7DD6CD74D8B}"/>
                  </a:ext>
                </a:extLst>
              </p:cNvPr>
              <p:cNvSpPr/>
              <p:nvPr/>
            </p:nvSpPr>
            <p:spPr>
              <a:xfrm>
                <a:off x="3612718" y="5047023"/>
                <a:ext cx="582086" cy="582084"/>
              </a:xfrm>
              <a:prstGeom prst="ellipse">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81" name="Google Shape;10381;p69">
                <a:extLst>
                  <a:ext uri="{FF2B5EF4-FFF2-40B4-BE49-F238E27FC236}">
                    <a16:creationId xmlns:a16="http://schemas.microsoft.com/office/drawing/2014/main" id="{8E72317D-EA54-8686-92F9-7C69661A253A}"/>
                  </a:ext>
                </a:extLst>
              </p:cNvPr>
              <p:cNvSpPr/>
              <p:nvPr/>
            </p:nvSpPr>
            <p:spPr>
              <a:xfrm>
                <a:off x="3682462" y="5282503"/>
                <a:ext cx="454528" cy="119612"/>
              </a:xfrm>
              <a:custGeom>
                <a:avLst/>
                <a:gdLst/>
                <a:ahLst/>
                <a:cxnLst/>
                <a:rect l="l" t="t" r="r" b="b"/>
                <a:pathLst>
                  <a:path w="1298516" h="341714" extrusionOk="0">
                    <a:moveTo>
                      <a:pt x="1028720" y="170857"/>
                    </a:moveTo>
                    <a:cubicBezTo>
                      <a:pt x="1028720" y="189678"/>
                      <a:pt x="1013369" y="205029"/>
                      <a:pt x="994548" y="205029"/>
                    </a:cubicBezTo>
                    <a:cubicBezTo>
                      <a:pt x="975728" y="205029"/>
                      <a:pt x="960377" y="189678"/>
                      <a:pt x="960377" y="170857"/>
                    </a:cubicBezTo>
                    <a:cubicBezTo>
                      <a:pt x="960377" y="152037"/>
                      <a:pt x="975623" y="136686"/>
                      <a:pt x="994548" y="136686"/>
                    </a:cubicBezTo>
                    <a:cubicBezTo>
                      <a:pt x="1013369" y="136686"/>
                      <a:pt x="1028720" y="152037"/>
                      <a:pt x="1028720" y="170857"/>
                    </a:cubicBezTo>
                    <a:close/>
                    <a:moveTo>
                      <a:pt x="1134389" y="136686"/>
                    </a:moveTo>
                    <a:cubicBezTo>
                      <a:pt x="1115568" y="136686"/>
                      <a:pt x="1100217" y="152037"/>
                      <a:pt x="1100217" y="170857"/>
                    </a:cubicBezTo>
                    <a:cubicBezTo>
                      <a:pt x="1100217" y="189678"/>
                      <a:pt x="1115568" y="205029"/>
                      <a:pt x="1134389" y="205029"/>
                    </a:cubicBezTo>
                    <a:cubicBezTo>
                      <a:pt x="1153209" y="205029"/>
                      <a:pt x="1168560" y="189678"/>
                      <a:pt x="1168560" y="170857"/>
                    </a:cubicBezTo>
                    <a:cubicBezTo>
                      <a:pt x="1168560" y="152037"/>
                      <a:pt x="1153209" y="136686"/>
                      <a:pt x="1134389" y="136686"/>
                    </a:cubicBezTo>
                    <a:close/>
                    <a:moveTo>
                      <a:pt x="1264345" y="34171"/>
                    </a:moveTo>
                    <a:lnTo>
                      <a:pt x="34171" y="34171"/>
                    </a:lnTo>
                    <a:lnTo>
                      <a:pt x="34171" y="307543"/>
                    </a:lnTo>
                    <a:lnTo>
                      <a:pt x="1264345" y="307543"/>
                    </a:lnTo>
                    <a:lnTo>
                      <a:pt x="1264345" y="34171"/>
                    </a:lnTo>
                    <a:moveTo>
                      <a:pt x="1298517" y="0"/>
                    </a:moveTo>
                    <a:lnTo>
                      <a:pt x="1298517" y="341715"/>
                    </a:lnTo>
                    <a:lnTo>
                      <a:pt x="0" y="341715"/>
                    </a:lnTo>
                    <a:lnTo>
                      <a:pt x="0" y="0"/>
                    </a:lnTo>
                    <a:lnTo>
                      <a:pt x="1298517" y="0"/>
                    </a:lnTo>
                    <a:lnTo>
                      <a:pt x="1298517" y="0"/>
                    </a:lnTo>
                    <a:close/>
                    <a:moveTo>
                      <a:pt x="136581" y="119653"/>
                    </a:moveTo>
                    <a:lnTo>
                      <a:pt x="102409" y="119653"/>
                    </a:lnTo>
                    <a:lnTo>
                      <a:pt x="102409" y="153824"/>
                    </a:lnTo>
                    <a:lnTo>
                      <a:pt x="136581" y="153824"/>
                    </a:lnTo>
                    <a:lnTo>
                      <a:pt x="136581" y="119653"/>
                    </a:lnTo>
                    <a:close/>
                    <a:moveTo>
                      <a:pt x="136581" y="187996"/>
                    </a:moveTo>
                    <a:lnTo>
                      <a:pt x="102409" y="187996"/>
                    </a:lnTo>
                    <a:lnTo>
                      <a:pt x="102409" y="222167"/>
                    </a:lnTo>
                    <a:lnTo>
                      <a:pt x="136581" y="222167"/>
                    </a:lnTo>
                    <a:lnTo>
                      <a:pt x="136581" y="187996"/>
                    </a:lnTo>
                    <a:close/>
                    <a:moveTo>
                      <a:pt x="204924" y="119653"/>
                    </a:moveTo>
                    <a:lnTo>
                      <a:pt x="170752" y="119653"/>
                    </a:lnTo>
                    <a:lnTo>
                      <a:pt x="170752" y="153824"/>
                    </a:lnTo>
                    <a:lnTo>
                      <a:pt x="204924" y="153824"/>
                    </a:lnTo>
                    <a:lnTo>
                      <a:pt x="204924" y="119653"/>
                    </a:lnTo>
                    <a:close/>
                    <a:moveTo>
                      <a:pt x="204924" y="187996"/>
                    </a:moveTo>
                    <a:lnTo>
                      <a:pt x="170752" y="187996"/>
                    </a:lnTo>
                    <a:lnTo>
                      <a:pt x="170752" y="222167"/>
                    </a:lnTo>
                    <a:lnTo>
                      <a:pt x="204924" y="222167"/>
                    </a:lnTo>
                    <a:lnTo>
                      <a:pt x="204924" y="187996"/>
                    </a:lnTo>
                    <a:close/>
                    <a:moveTo>
                      <a:pt x="273267" y="119653"/>
                    </a:moveTo>
                    <a:lnTo>
                      <a:pt x="239095" y="119653"/>
                    </a:lnTo>
                    <a:lnTo>
                      <a:pt x="239095" y="153824"/>
                    </a:lnTo>
                    <a:lnTo>
                      <a:pt x="273267" y="153824"/>
                    </a:lnTo>
                    <a:lnTo>
                      <a:pt x="273267" y="119653"/>
                    </a:lnTo>
                    <a:close/>
                    <a:moveTo>
                      <a:pt x="273267" y="187996"/>
                    </a:moveTo>
                    <a:lnTo>
                      <a:pt x="239095" y="187996"/>
                    </a:lnTo>
                    <a:lnTo>
                      <a:pt x="239095" y="222167"/>
                    </a:lnTo>
                    <a:lnTo>
                      <a:pt x="273267" y="222167"/>
                    </a:lnTo>
                    <a:lnTo>
                      <a:pt x="273267" y="187996"/>
                    </a:lnTo>
                    <a:close/>
                    <a:moveTo>
                      <a:pt x="341610" y="119653"/>
                    </a:moveTo>
                    <a:lnTo>
                      <a:pt x="307438" y="119653"/>
                    </a:lnTo>
                    <a:lnTo>
                      <a:pt x="307438" y="153824"/>
                    </a:lnTo>
                    <a:lnTo>
                      <a:pt x="341610" y="153824"/>
                    </a:lnTo>
                    <a:lnTo>
                      <a:pt x="341610" y="119653"/>
                    </a:lnTo>
                    <a:close/>
                    <a:moveTo>
                      <a:pt x="341610" y="187996"/>
                    </a:moveTo>
                    <a:lnTo>
                      <a:pt x="307438" y="187996"/>
                    </a:lnTo>
                    <a:lnTo>
                      <a:pt x="307438" y="222167"/>
                    </a:lnTo>
                    <a:lnTo>
                      <a:pt x="341610" y="222167"/>
                    </a:lnTo>
                    <a:lnTo>
                      <a:pt x="341610" y="187996"/>
                    </a:lnTo>
                    <a:close/>
                    <a:moveTo>
                      <a:pt x="409953" y="119653"/>
                    </a:moveTo>
                    <a:lnTo>
                      <a:pt x="375781" y="119653"/>
                    </a:lnTo>
                    <a:lnTo>
                      <a:pt x="375781" y="153824"/>
                    </a:lnTo>
                    <a:lnTo>
                      <a:pt x="409953" y="153824"/>
                    </a:lnTo>
                    <a:lnTo>
                      <a:pt x="409953" y="119653"/>
                    </a:lnTo>
                    <a:close/>
                    <a:moveTo>
                      <a:pt x="409953" y="187996"/>
                    </a:moveTo>
                    <a:lnTo>
                      <a:pt x="375781" y="187996"/>
                    </a:lnTo>
                    <a:lnTo>
                      <a:pt x="375781" y="222167"/>
                    </a:lnTo>
                    <a:lnTo>
                      <a:pt x="409953" y="222167"/>
                    </a:lnTo>
                    <a:lnTo>
                      <a:pt x="409953" y="187996"/>
                    </a:lnTo>
                    <a:close/>
                    <a:moveTo>
                      <a:pt x="478296" y="119653"/>
                    </a:moveTo>
                    <a:lnTo>
                      <a:pt x="444124" y="119653"/>
                    </a:lnTo>
                    <a:lnTo>
                      <a:pt x="444124" y="153824"/>
                    </a:lnTo>
                    <a:lnTo>
                      <a:pt x="478296" y="153824"/>
                    </a:lnTo>
                    <a:lnTo>
                      <a:pt x="478296" y="119653"/>
                    </a:lnTo>
                    <a:close/>
                    <a:moveTo>
                      <a:pt x="478296" y="187996"/>
                    </a:moveTo>
                    <a:lnTo>
                      <a:pt x="444124" y="187996"/>
                    </a:lnTo>
                    <a:lnTo>
                      <a:pt x="444124" y="222167"/>
                    </a:lnTo>
                    <a:lnTo>
                      <a:pt x="478296" y="222167"/>
                    </a:lnTo>
                    <a:lnTo>
                      <a:pt x="478296" y="187996"/>
                    </a:lnTo>
                    <a:close/>
                    <a:moveTo>
                      <a:pt x="546639" y="119653"/>
                    </a:moveTo>
                    <a:lnTo>
                      <a:pt x="512467" y="119653"/>
                    </a:lnTo>
                    <a:lnTo>
                      <a:pt x="512467" y="153824"/>
                    </a:lnTo>
                    <a:lnTo>
                      <a:pt x="546639" y="153824"/>
                    </a:lnTo>
                    <a:lnTo>
                      <a:pt x="546639" y="119653"/>
                    </a:lnTo>
                    <a:close/>
                    <a:moveTo>
                      <a:pt x="546639" y="187996"/>
                    </a:moveTo>
                    <a:lnTo>
                      <a:pt x="512467" y="187996"/>
                    </a:lnTo>
                    <a:lnTo>
                      <a:pt x="512467" y="222167"/>
                    </a:lnTo>
                    <a:lnTo>
                      <a:pt x="546639" y="222167"/>
                    </a:lnTo>
                    <a:lnTo>
                      <a:pt x="546639" y="187996"/>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nvGrpSpPr>
            <p:cNvPr id="10382" name="Google Shape;10382;p69">
              <a:extLst>
                <a:ext uri="{FF2B5EF4-FFF2-40B4-BE49-F238E27FC236}">
                  <a16:creationId xmlns:a16="http://schemas.microsoft.com/office/drawing/2014/main" id="{A208D925-9D8E-F631-FD75-23821F16C92A}"/>
                </a:ext>
              </a:extLst>
            </p:cNvPr>
            <p:cNvGrpSpPr/>
            <p:nvPr/>
          </p:nvGrpSpPr>
          <p:grpSpPr>
            <a:xfrm>
              <a:off x="4050310" y="5046602"/>
              <a:ext cx="581934" cy="581932"/>
              <a:chOff x="4488927" y="5047023"/>
              <a:chExt cx="582086" cy="582084"/>
            </a:xfrm>
          </p:grpSpPr>
          <p:sp>
            <p:nvSpPr>
              <p:cNvPr id="10383" name="Google Shape;10383;p69">
                <a:extLst>
                  <a:ext uri="{FF2B5EF4-FFF2-40B4-BE49-F238E27FC236}">
                    <a16:creationId xmlns:a16="http://schemas.microsoft.com/office/drawing/2014/main" id="{DE1DC852-1BE9-B027-DFC9-AC946ACDFB99}"/>
                  </a:ext>
                </a:extLst>
              </p:cNvPr>
              <p:cNvSpPr/>
              <p:nvPr/>
            </p:nvSpPr>
            <p:spPr>
              <a:xfrm>
                <a:off x="4488927" y="5047023"/>
                <a:ext cx="582086" cy="582084"/>
              </a:xfrm>
              <a:prstGeom prst="ellipse">
                <a:avLst/>
              </a:prstGeom>
              <a:solidFill>
                <a:schemeClr val="lt1"/>
              </a:solidFill>
              <a:ln w="19050" cap="flat" cmpd="sng">
                <a:solidFill>
                  <a:schemeClr val="accen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84" name="Google Shape;10384;p69">
                <a:extLst>
                  <a:ext uri="{FF2B5EF4-FFF2-40B4-BE49-F238E27FC236}">
                    <a16:creationId xmlns:a16="http://schemas.microsoft.com/office/drawing/2014/main" id="{280DB205-326C-1658-61D6-6EE980296FEA}"/>
                  </a:ext>
                </a:extLst>
              </p:cNvPr>
              <p:cNvSpPr/>
              <p:nvPr/>
            </p:nvSpPr>
            <p:spPr>
              <a:xfrm>
                <a:off x="4559048" y="5282503"/>
                <a:ext cx="454528" cy="119612"/>
              </a:xfrm>
              <a:custGeom>
                <a:avLst/>
                <a:gdLst/>
                <a:ahLst/>
                <a:cxnLst/>
                <a:rect l="l" t="t" r="r" b="b"/>
                <a:pathLst>
                  <a:path w="1298516" h="341714" extrusionOk="0">
                    <a:moveTo>
                      <a:pt x="1028720" y="170857"/>
                    </a:moveTo>
                    <a:cubicBezTo>
                      <a:pt x="1028720" y="189678"/>
                      <a:pt x="1013369" y="205029"/>
                      <a:pt x="994548" y="205029"/>
                    </a:cubicBezTo>
                    <a:cubicBezTo>
                      <a:pt x="975728" y="205029"/>
                      <a:pt x="960377" y="189678"/>
                      <a:pt x="960377" y="170857"/>
                    </a:cubicBezTo>
                    <a:cubicBezTo>
                      <a:pt x="960377" y="152037"/>
                      <a:pt x="975623" y="136686"/>
                      <a:pt x="994548" y="136686"/>
                    </a:cubicBezTo>
                    <a:cubicBezTo>
                      <a:pt x="1013369" y="136686"/>
                      <a:pt x="1028720" y="152037"/>
                      <a:pt x="1028720" y="170857"/>
                    </a:cubicBezTo>
                    <a:close/>
                    <a:moveTo>
                      <a:pt x="1134389" y="136686"/>
                    </a:moveTo>
                    <a:cubicBezTo>
                      <a:pt x="1115568" y="136686"/>
                      <a:pt x="1100217" y="152037"/>
                      <a:pt x="1100217" y="170857"/>
                    </a:cubicBezTo>
                    <a:cubicBezTo>
                      <a:pt x="1100217" y="189678"/>
                      <a:pt x="1115568" y="205029"/>
                      <a:pt x="1134389" y="205029"/>
                    </a:cubicBezTo>
                    <a:cubicBezTo>
                      <a:pt x="1153209" y="205029"/>
                      <a:pt x="1168560" y="189678"/>
                      <a:pt x="1168560" y="170857"/>
                    </a:cubicBezTo>
                    <a:cubicBezTo>
                      <a:pt x="1168560" y="152037"/>
                      <a:pt x="1153209" y="136686"/>
                      <a:pt x="1134389" y="136686"/>
                    </a:cubicBezTo>
                    <a:close/>
                    <a:moveTo>
                      <a:pt x="1264345" y="34171"/>
                    </a:moveTo>
                    <a:lnTo>
                      <a:pt x="34171" y="34171"/>
                    </a:lnTo>
                    <a:lnTo>
                      <a:pt x="34171" y="307543"/>
                    </a:lnTo>
                    <a:lnTo>
                      <a:pt x="1264345" y="307543"/>
                    </a:lnTo>
                    <a:lnTo>
                      <a:pt x="1264345" y="34171"/>
                    </a:lnTo>
                    <a:moveTo>
                      <a:pt x="1298517" y="0"/>
                    </a:moveTo>
                    <a:lnTo>
                      <a:pt x="1298517" y="341715"/>
                    </a:lnTo>
                    <a:lnTo>
                      <a:pt x="0" y="341715"/>
                    </a:lnTo>
                    <a:lnTo>
                      <a:pt x="0" y="0"/>
                    </a:lnTo>
                    <a:lnTo>
                      <a:pt x="1298517" y="0"/>
                    </a:lnTo>
                    <a:lnTo>
                      <a:pt x="1298517" y="0"/>
                    </a:lnTo>
                    <a:close/>
                    <a:moveTo>
                      <a:pt x="136581" y="119653"/>
                    </a:moveTo>
                    <a:lnTo>
                      <a:pt x="102409" y="119653"/>
                    </a:lnTo>
                    <a:lnTo>
                      <a:pt x="102409" y="153824"/>
                    </a:lnTo>
                    <a:lnTo>
                      <a:pt x="136581" y="153824"/>
                    </a:lnTo>
                    <a:lnTo>
                      <a:pt x="136581" y="119653"/>
                    </a:lnTo>
                    <a:close/>
                    <a:moveTo>
                      <a:pt x="136581" y="187996"/>
                    </a:moveTo>
                    <a:lnTo>
                      <a:pt x="102409" y="187996"/>
                    </a:lnTo>
                    <a:lnTo>
                      <a:pt x="102409" y="222167"/>
                    </a:lnTo>
                    <a:lnTo>
                      <a:pt x="136581" y="222167"/>
                    </a:lnTo>
                    <a:lnTo>
                      <a:pt x="136581" y="187996"/>
                    </a:lnTo>
                    <a:close/>
                    <a:moveTo>
                      <a:pt x="204924" y="119653"/>
                    </a:moveTo>
                    <a:lnTo>
                      <a:pt x="170752" y="119653"/>
                    </a:lnTo>
                    <a:lnTo>
                      <a:pt x="170752" y="153824"/>
                    </a:lnTo>
                    <a:lnTo>
                      <a:pt x="204924" y="153824"/>
                    </a:lnTo>
                    <a:lnTo>
                      <a:pt x="204924" y="119653"/>
                    </a:lnTo>
                    <a:close/>
                    <a:moveTo>
                      <a:pt x="204924" y="187996"/>
                    </a:moveTo>
                    <a:lnTo>
                      <a:pt x="170752" y="187996"/>
                    </a:lnTo>
                    <a:lnTo>
                      <a:pt x="170752" y="222167"/>
                    </a:lnTo>
                    <a:lnTo>
                      <a:pt x="204924" y="222167"/>
                    </a:lnTo>
                    <a:lnTo>
                      <a:pt x="204924" y="187996"/>
                    </a:lnTo>
                    <a:close/>
                    <a:moveTo>
                      <a:pt x="273267" y="119653"/>
                    </a:moveTo>
                    <a:lnTo>
                      <a:pt x="239095" y="119653"/>
                    </a:lnTo>
                    <a:lnTo>
                      <a:pt x="239095" y="153824"/>
                    </a:lnTo>
                    <a:lnTo>
                      <a:pt x="273267" y="153824"/>
                    </a:lnTo>
                    <a:lnTo>
                      <a:pt x="273267" y="119653"/>
                    </a:lnTo>
                    <a:close/>
                    <a:moveTo>
                      <a:pt x="273267" y="187996"/>
                    </a:moveTo>
                    <a:lnTo>
                      <a:pt x="239095" y="187996"/>
                    </a:lnTo>
                    <a:lnTo>
                      <a:pt x="239095" y="222167"/>
                    </a:lnTo>
                    <a:lnTo>
                      <a:pt x="273267" y="222167"/>
                    </a:lnTo>
                    <a:lnTo>
                      <a:pt x="273267" y="187996"/>
                    </a:lnTo>
                    <a:close/>
                    <a:moveTo>
                      <a:pt x="341610" y="119653"/>
                    </a:moveTo>
                    <a:lnTo>
                      <a:pt x="307438" y="119653"/>
                    </a:lnTo>
                    <a:lnTo>
                      <a:pt x="307438" y="153824"/>
                    </a:lnTo>
                    <a:lnTo>
                      <a:pt x="341610" y="153824"/>
                    </a:lnTo>
                    <a:lnTo>
                      <a:pt x="341610" y="119653"/>
                    </a:lnTo>
                    <a:close/>
                    <a:moveTo>
                      <a:pt x="341610" y="187996"/>
                    </a:moveTo>
                    <a:lnTo>
                      <a:pt x="307438" y="187996"/>
                    </a:lnTo>
                    <a:lnTo>
                      <a:pt x="307438" y="222167"/>
                    </a:lnTo>
                    <a:lnTo>
                      <a:pt x="341610" y="222167"/>
                    </a:lnTo>
                    <a:lnTo>
                      <a:pt x="341610" y="187996"/>
                    </a:lnTo>
                    <a:close/>
                    <a:moveTo>
                      <a:pt x="409953" y="119653"/>
                    </a:moveTo>
                    <a:lnTo>
                      <a:pt x="375781" y="119653"/>
                    </a:lnTo>
                    <a:lnTo>
                      <a:pt x="375781" y="153824"/>
                    </a:lnTo>
                    <a:lnTo>
                      <a:pt x="409953" y="153824"/>
                    </a:lnTo>
                    <a:lnTo>
                      <a:pt x="409953" y="119653"/>
                    </a:lnTo>
                    <a:close/>
                    <a:moveTo>
                      <a:pt x="409953" y="187996"/>
                    </a:moveTo>
                    <a:lnTo>
                      <a:pt x="375781" y="187996"/>
                    </a:lnTo>
                    <a:lnTo>
                      <a:pt x="375781" y="222167"/>
                    </a:lnTo>
                    <a:lnTo>
                      <a:pt x="409953" y="222167"/>
                    </a:lnTo>
                    <a:lnTo>
                      <a:pt x="409953" y="187996"/>
                    </a:lnTo>
                    <a:close/>
                    <a:moveTo>
                      <a:pt x="478296" y="119653"/>
                    </a:moveTo>
                    <a:lnTo>
                      <a:pt x="444124" y="119653"/>
                    </a:lnTo>
                    <a:lnTo>
                      <a:pt x="444124" y="153824"/>
                    </a:lnTo>
                    <a:lnTo>
                      <a:pt x="478296" y="153824"/>
                    </a:lnTo>
                    <a:lnTo>
                      <a:pt x="478296" y="119653"/>
                    </a:lnTo>
                    <a:close/>
                    <a:moveTo>
                      <a:pt x="478296" y="187996"/>
                    </a:moveTo>
                    <a:lnTo>
                      <a:pt x="444124" y="187996"/>
                    </a:lnTo>
                    <a:lnTo>
                      <a:pt x="444124" y="222167"/>
                    </a:lnTo>
                    <a:lnTo>
                      <a:pt x="478296" y="222167"/>
                    </a:lnTo>
                    <a:lnTo>
                      <a:pt x="478296" y="187996"/>
                    </a:lnTo>
                    <a:close/>
                    <a:moveTo>
                      <a:pt x="546639" y="119653"/>
                    </a:moveTo>
                    <a:lnTo>
                      <a:pt x="512467" y="119653"/>
                    </a:lnTo>
                    <a:lnTo>
                      <a:pt x="512467" y="153824"/>
                    </a:lnTo>
                    <a:lnTo>
                      <a:pt x="546639" y="153824"/>
                    </a:lnTo>
                    <a:lnTo>
                      <a:pt x="546639" y="119653"/>
                    </a:lnTo>
                    <a:close/>
                    <a:moveTo>
                      <a:pt x="546639" y="187996"/>
                    </a:moveTo>
                    <a:lnTo>
                      <a:pt x="512467" y="187996"/>
                    </a:lnTo>
                    <a:lnTo>
                      <a:pt x="512467" y="222167"/>
                    </a:lnTo>
                    <a:lnTo>
                      <a:pt x="546639" y="222167"/>
                    </a:lnTo>
                    <a:lnTo>
                      <a:pt x="546639" y="187996"/>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nvGrpSpPr>
            <p:cNvPr id="10385" name="Google Shape;10385;p69">
              <a:extLst>
                <a:ext uri="{FF2B5EF4-FFF2-40B4-BE49-F238E27FC236}">
                  <a16:creationId xmlns:a16="http://schemas.microsoft.com/office/drawing/2014/main" id="{3B1DB164-F217-846B-523F-F03A854A6ECB}"/>
                </a:ext>
              </a:extLst>
            </p:cNvPr>
            <p:cNvGrpSpPr/>
            <p:nvPr/>
          </p:nvGrpSpPr>
          <p:grpSpPr>
            <a:xfrm>
              <a:off x="4857326" y="5046602"/>
              <a:ext cx="581934" cy="581932"/>
              <a:chOff x="5365136" y="5047023"/>
              <a:chExt cx="582086" cy="582084"/>
            </a:xfrm>
          </p:grpSpPr>
          <p:sp>
            <p:nvSpPr>
              <p:cNvPr id="10386" name="Google Shape;10386;p69">
                <a:extLst>
                  <a:ext uri="{FF2B5EF4-FFF2-40B4-BE49-F238E27FC236}">
                    <a16:creationId xmlns:a16="http://schemas.microsoft.com/office/drawing/2014/main" id="{792E958D-8800-9971-877A-18DE0AB15E25}"/>
                  </a:ext>
                </a:extLst>
              </p:cNvPr>
              <p:cNvSpPr/>
              <p:nvPr/>
            </p:nvSpPr>
            <p:spPr>
              <a:xfrm>
                <a:off x="5365136" y="5047023"/>
                <a:ext cx="582086" cy="582084"/>
              </a:xfrm>
              <a:prstGeom prst="ellipse">
                <a:avLst/>
              </a:prstGeom>
              <a:solidFill>
                <a:schemeClr val="lt1"/>
              </a:solidFill>
              <a:ln w="1905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87" name="Google Shape;10387;p69">
                <a:extLst>
                  <a:ext uri="{FF2B5EF4-FFF2-40B4-BE49-F238E27FC236}">
                    <a16:creationId xmlns:a16="http://schemas.microsoft.com/office/drawing/2014/main" id="{9E6E6EF2-F6DF-81D8-7DB2-C61E5A677962}"/>
                  </a:ext>
                </a:extLst>
              </p:cNvPr>
              <p:cNvSpPr/>
              <p:nvPr/>
            </p:nvSpPr>
            <p:spPr>
              <a:xfrm>
                <a:off x="5435635" y="5282503"/>
                <a:ext cx="454528" cy="119612"/>
              </a:xfrm>
              <a:custGeom>
                <a:avLst/>
                <a:gdLst/>
                <a:ahLst/>
                <a:cxnLst/>
                <a:rect l="l" t="t" r="r" b="b"/>
                <a:pathLst>
                  <a:path w="1298516" h="341714" extrusionOk="0">
                    <a:moveTo>
                      <a:pt x="1028720" y="170857"/>
                    </a:moveTo>
                    <a:cubicBezTo>
                      <a:pt x="1028720" y="189678"/>
                      <a:pt x="1013369" y="205029"/>
                      <a:pt x="994548" y="205029"/>
                    </a:cubicBezTo>
                    <a:cubicBezTo>
                      <a:pt x="975728" y="205029"/>
                      <a:pt x="960377" y="189678"/>
                      <a:pt x="960377" y="170857"/>
                    </a:cubicBezTo>
                    <a:cubicBezTo>
                      <a:pt x="960377" y="152037"/>
                      <a:pt x="975623" y="136686"/>
                      <a:pt x="994548" y="136686"/>
                    </a:cubicBezTo>
                    <a:cubicBezTo>
                      <a:pt x="1013369" y="136686"/>
                      <a:pt x="1028720" y="152037"/>
                      <a:pt x="1028720" y="170857"/>
                    </a:cubicBezTo>
                    <a:close/>
                    <a:moveTo>
                      <a:pt x="1134389" y="136686"/>
                    </a:moveTo>
                    <a:cubicBezTo>
                      <a:pt x="1115568" y="136686"/>
                      <a:pt x="1100217" y="152037"/>
                      <a:pt x="1100217" y="170857"/>
                    </a:cubicBezTo>
                    <a:cubicBezTo>
                      <a:pt x="1100217" y="189678"/>
                      <a:pt x="1115568" y="205029"/>
                      <a:pt x="1134389" y="205029"/>
                    </a:cubicBezTo>
                    <a:cubicBezTo>
                      <a:pt x="1153209" y="205029"/>
                      <a:pt x="1168560" y="189678"/>
                      <a:pt x="1168560" y="170857"/>
                    </a:cubicBezTo>
                    <a:cubicBezTo>
                      <a:pt x="1168560" y="152037"/>
                      <a:pt x="1153209" y="136686"/>
                      <a:pt x="1134389" y="136686"/>
                    </a:cubicBezTo>
                    <a:close/>
                    <a:moveTo>
                      <a:pt x="1264345" y="34171"/>
                    </a:moveTo>
                    <a:lnTo>
                      <a:pt x="34171" y="34171"/>
                    </a:lnTo>
                    <a:lnTo>
                      <a:pt x="34171" y="307543"/>
                    </a:lnTo>
                    <a:lnTo>
                      <a:pt x="1264345" y="307543"/>
                    </a:lnTo>
                    <a:lnTo>
                      <a:pt x="1264345" y="34171"/>
                    </a:lnTo>
                    <a:moveTo>
                      <a:pt x="1298517" y="0"/>
                    </a:moveTo>
                    <a:lnTo>
                      <a:pt x="1298517" y="341715"/>
                    </a:lnTo>
                    <a:lnTo>
                      <a:pt x="0" y="341715"/>
                    </a:lnTo>
                    <a:lnTo>
                      <a:pt x="0" y="0"/>
                    </a:lnTo>
                    <a:lnTo>
                      <a:pt x="1298517" y="0"/>
                    </a:lnTo>
                    <a:lnTo>
                      <a:pt x="1298517" y="0"/>
                    </a:lnTo>
                    <a:close/>
                    <a:moveTo>
                      <a:pt x="136581" y="119653"/>
                    </a:moveTo>
                    <a:lnTo>
                      <a:pt x="102409" y="119653"/>
                    </a:lnTo>
                    <a:lnTo>
                      <a:pt x="102409" y="153824"/>
                    </a:lnTo>
                    <a:lnTo>
                      <a:pt x="136581" y="153824"/>
                    </a:lnTo>
                    <a:lnTo>
                      <a:pt x="136581" y="119653"/>
                    </a:lnTo>
                    <a:close/>
                    <a:moveTo>
                      <a:pt x="136581" y="187996"/>
                    </a:moveTo>
                    <a:lnTo>
                      <a:pt x="102409" y="187996"/>
                    </a:lnTo>
                    <a:lnTo>
                      <a:pt x="102409" y="222167"/>
                    </a:lnTo>
                    <a:lnTo>
                      <a:pt x="136581" y="222167"/>
                    </a:lnTo>
                    <a:lnTo>
                      <a:pt x="136581" y="187996"/>
                    </a:lnTo>
                    <a:close/>
                    <a:moveTo>
                      <a:pt x="204924" y="119653"/>
                    </a:moveTo>
                    <a:lnTo>
                      <a:pt x="170752" y="119653"/>
                    </a:lnTo>
                    <a:lnTo>
                      <a:pt x="170752" y="153824"/>
                    </a:lnTo>
                    <a:lnTo>
                      <a:pt x="204924" y="153824"/>
                    </a:lnTo>
                    <a:lnTo>
                      <a:pt x="204924" y="119653"/>
                    </a:lnTo>
                    <a:close/>
                    <a:moveTo>
                      <a:pt x="204924" y="187996"/>
                    </a:moveTo>
                    <a:lnTo>
                      <a:pt x="170752" y="187996"/>
                    </a:lnTo>
                    <a:lnTo>
                      <a:pt x="170752" y="222167"/>
                    </a:lnTo>
                    <a:lnTo>
                      <a:pt x="204924" y="222167"/>
                    </a:lnTo>
                    <a:lnTo>
                      <a:pt x="204924" y="187996"/>
                    </a:lnTo>
                    <a:close/>
                    <a:moveTo>
                      <a:pt x="273267" y="119653"/>
                    </a:moveTo>
                    <a:lnTo>
                      <a:pt x="239095" y="119653"/>
                    </a:lnTo>
                    <a:lnTo>
                      <a:pt x="239095" y="153824"/>
                    </a:lnTo>
                    <a:lnTo>
                      <a:pt x="273267" y="153824"/>
                    </a:lnTo>
                    <a:lnTo>
                      <a:pt x="273267" y="119653"/>
                    </a:lnTo>
                    <a:close/>
                    <a:moveTo>
                      <a:pt x="273267" y="187996"/>
                    </a:moveTo>
                    <a:lnTo>
                      <a:pt x="239095" y="187996"/>
                    </a:lnTo>
                    <a:lnTo>
                      <a:pt x="239095" y="222167"/>
                    </a:lnTo>
                    <a:lnTo>
                      <a:pt x="273267" y="222167"/>
                    </a:lnTo>
                    <a:lnTo>
                      <a:pt x="273267" y="187996"/>
                    </a:lnTo>
                    <a:close/>
                    <a:moveTo>
                      <a:pt x="341610" y="119653"/>
                    </a:moveTo>
                    <a:lnTo>
                      <a:pt x="307438" y="119653"/>
                    </a:lnTo>
                    <a:lnTo>
                      <a:pt x="307438" y="153824"/>
                    </a:lnTo>
                    <a:lnTo>
                      <a:pt x="341610" y="153824"/>
                    </a:lnTo>
                    <a:lnTo>
                      <a:pt x="341610" y="119653"/>
                    </a:lnTo>
                    <a:close/>
                    <a:moveTo>
                      <a:pt x="341610" y="187996"/>
                    </a:moveTo>
                    <a:lnTo>
                      <a:pt x="307438" y="187996"/>
                    </a:lnTo>
                    <a:lnTo>
                      <a:pt x="307438" y="222167"/>
                    </a:lnTo>
                    <a:lnTo>
                      <a:pt x="341610" y="222167"/>
                    </a:lnTo>
                    <a:lnTo>
                      <a:pt x="341610" y="187996"/>
                    </a:lnTo>
                    <a:close/>
                    <a:moveTo>
                      <a:pt x="409953" y="119653"/>
                    </a:moveTo>
                    <a:lnTo>
                      <a:pt x="375781" y="119653"/>
                    </a:lnTo>
                    <a:lnTo>
                      <a:pt x="375781" y="153824"/>
                    </a:lnTo>
                    <a:lnTo>
                      <a:pt x="409953" y="153824"/>
                    </a:lnTo>
                    <a:lnTo>
                      <a:pt x="409953" y="119653"/>
                    </a:lnTo>
                    <a:close/>
                    <a:moveTo>
                      <a:pt x="409953" y="187996"/>
                    </a:moveTo>
                    <a:lnTo>
                      <a:pt x="375781" y="187996"/>
                    </a:lnTo>
                    <a:lnTo>
                      <a:pt x="375781" y="222167"/>
                    </a:lnTo>
                    <a:lnTo>
                      <a:pt x="409953" y="222167"/>
                    </a:lnTo>
                    <a:lnTo>
                      <a:pt x="409953" y="187996"/>
                    </a:lnTo>
                    <a:close/>
                    <a:moveTo>
                      <a:pt x="478296" y="119653"/>
                    </a:moveTo>
                    <a:lnTo>
                      <a:pt x="444124" y="119653"/>
                    </a:lnTo>
                    <a:lnTo>
                      <a:pt x="444124" y="153824"/>
                    </a:lnTo>
                    <a:lnTo>
                      <a:pt x="478296" y="153824"/>
                    </a:lnTo>
                    <a:lnTo>
                      <a:pt x="478296" y="119653"/>
                    </a:lnTo>
                    <a:close/>
                    <a:moveTo>
                      <a:pt x="478296" y="187996"/>
                    </a:moveTo>
                    <a:lnTo>
                      <a:pt x="444124" y="187996"/>
                    </a:lnTo>
                    <a:lnTo>
                      <a:pt x="444124" y="222167"/>
                    </a:lnTo>
                    <a:lnTo>
                      <a:pt x="478296" y="222167"/>
                    </a:lnTo>
                    <a:lnTo>
                      <a:pt x="478296" y="187996"/>
                    </a:lnTo>
                    <a:close/>
                    <a:moveTo>
                      <a:pt x="546639" y="119653"/>
                    </a:moveTo>
                    <a:lnTo>
                      <a:pt x="512467" y="119653"/>
                    </a:lnTo>
                    <a:lnTo>
                      <a:pt x="512467" y="153824"/>
                    </a:lnTo>
                    <a:lnTo>
                      <a:pt x="546639" y="153824"/>
                    </a:lnTo>
                    <a:lnTo>
                      <a:pt x="546639" y="119653"/>
                    </a:lnTo>
                    <a:close/>
                    <a:moveTo>
                      <a:pt x="546639" y="187996"/>
                    </a:moveTo>
                    <a:lnTo>
                      <a:pt x="512467" y="187996"/>
                    </a:lnTo>
                    <a:lnTo>
                      <a:pt x="512467" y="222167"/>
                    </a:lnTo>
                    <a:lnTo>
                      <a:pt x="546639" y="222167"/>
                    </a:lnTo>
                    <a:lnTo>
                      <a:pt x="546639" y="187996"/>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nvGrpSpPr>
          <p:cNvPr id="5" name="Group 4">
            <a:extLst>
              <a:ext uri="{FF2B5EF4-FFF2-40B4-BE49-F238E27FC236}">
                <a16:creationId xmlns:a16="http://schemas.microsoft.com/office/drawing/2014/main" id="{EDBDE823-F789-331F-349C-94FD3549A86D}"/>
              </a:ext>
            </a:extLst>
          </p:cNvPr>
          <p:cNvGrpSpPr/>
          <p:nvPr/>
        </p:nvGrpSpPr>
        <p:grpSpPr>
          <a:xfrm>
            <a:off x="579809" y="3591232"/>
            <a:ext cx="7573812" cy="974748"/>
            <a:chOff x="579809" y="3591232"/>
            <a:chExt cx="7573812" cy="974748"/>
          </a:xfrm>
        </p:grpSpPr>
        <p:sp>
          <p:nvSpPr>
            <p:cNvPr id="10330" name="sdn box">
              <a:extLst>
                <a:ext uri="{FF2B5EF4-FFF2-40B4-BE49-F238E27FC236}">
                  <a16:creationId xmlns:a16="http://schemas.microsoft.com/office/drawing/2014/main" id="{370C2A42-99A3-63C8-56A8-10E5692F5309}"/>
                </a:ext>
              </a:extLst>
            </p:cNvPr>
            <p:cNvSpPr/>
            <p:nvPr/>
          </p:nvSpPr>
          <p:spPr>
            <a:xfrm>
              <a:off x="579809" y="3591232"/>
              <a:ext cx="6328991" cy="974748"/>
            </a:xfrm>
            <a:prstGeom prst="roundRect">
              <a:avLst>
                <a:gd name="adj" fmla="val 8224"/>
              </a:avLst>
            </a:prstGeom>
            <a:solidFill>
              <a:schemeClr val="accent2">
                <a:alpha val="10000"/>
              </a:schemeClr>
            </a:solidFill>
            <a:ln w="25400" cap="flat" cmpd="sng">
              <a:solidFill>
                <a:schemeClr val="accent3"/>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32" name="Google Shape;10332;p69">
              <a:extLst>
                <a:ext uri="{FF2B5EF4-FFF2-40B4-BE49-F238E27FC236}">
                  <a16:creationId xmlns:a16="http://schemas.microsoft.com/office/drawing/2014/main" id="{DF4DF5FA-0D01-A897-B54D-1D467D0FA7E5}"/>
                </a:ext>
              </a:extLst>
            </p:cNvPr>
            <p:cNvSpPr/>
            <p:nvPr/>
          </p:nvSpPr>
          <p:spPr>
            <a:xfrm>
              <a:off x="732374" y="3924717"/>
              <a:ext cx="1033296" cy="307777"/>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EEEEE">
                      <a:lumMod val="10000"/>
                    </a:srgbClr>
                  </a:solidFill>
                  <a:effectLst/>
                  <a:uLnTx/>
                  <a:uFillTx/>
                  <a:latin typeface="Arial" panose="020B0604020202020204"/>
                  <a:ea typeface="Arial"/>
                  <a:cs typeface="Arial"/>
                  <a:sym typeface="Arial"/>
                </a:rPr>
                <a:t>SDN Layer</a:t>
              </a:r>
              <a:endParaRPr kumimoji="0" sz="1800" b="0" i="0" u="none" strike="noStrike" kern="1200" cap="none" spc="0" normalizeH="0" baseline="0" noProof="0" dirty="0">
                <a:ln>
                  <a:noFill/>
                </a:ln>
                <a:solidFill>
                  <a:srgbClr val="EEEEEE">
                    <a:lumMod val="10000"/>
                  </a:srgbClr>
                </a:solidFill>
                <a:effectLst/>
                <a:uLnTx/>
                <a:uFillTx/>
                <a:latin typeface="Arial" panose="020B0604020202020204"/>
                <a:ea typeface="+mn-ea"/>
                <a:cs typeface="+mn-cs"/>
              </a:endParaRPr>
            </a:p>
          </p:txBody>
        </p:sp>
        <p:sp>
          <p:nvSpPr>
            <p:cNvPr id="10335" name="Google Shape;10335;p69">
              <a:extLst>
                <a:ext uri="{FF2B5EF4-FFF2-40B4-BE49-F238E27FC236}">
                  <a16:creationId xmlns:a16="http://schemas.microsoft.com/office/drawing/2014/main" id="{CDFEA025-5028-E6E3-BF2F-C40287A00F79}"/>
                </a:ext>
              </a:extLst>
            </p:cNvPr>
            <p:cNvSpPr/>
            <p:nvPr/>
          </p:nvSpPr>
          <p:spPr>
            <a:xfrm>
              <a:off x="4999441" y="4300382"/>
              <a:ext cx="1109332" cy="21538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NAT</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336" name="Google Shape;10336;p69">
              <a:extLst>
                <a:ext uri="{FF2B5EF4-FFF2-40B4-BE49-F238E27FC236}">
                  <a16:creationId xmlns:a16="http://schemas.microsoft.com/office/drawing/2014/main" id="{555EB2CA-0645-0B53-CB18-66956D81B3C7}"/>
                </a:ext>
              </a:extLst>
            </p:cNvPr>
            <p:cNvSpPr/>
            <p:nvPr/>
          </p:nvSpPr>
          <p:spPr>
            <a:xfrm>
              <a:off x="5913479" y="4300382"/>
              <a:ext cx="911230" cy="215403"/>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3F3F3F"/>
                  </a:solidFill>
                  <a:effectLst/>
                  <a:uLnTx/>
                  <a:uFillTx/>
                  <a:latin typeface="Arial" panose="020B0604020202020204"/>
                  <a:ea typeface="+mn-ea"/>
                  <a:cs typeface="Arial"/>
                  <a:sym typeface="Arial"/>
                </a:rPr>
                <a:t>VPN</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337" name="centrally controlled">
              <a:extLst>
                <a:ext uri="{FF2B5EF4-FFF2-40B4-BE49-F238E27FC236}">
                  <a16:creationId xmlns:a16="http://schemas.microsoft.com/office/drawing/2014/main" id="{A3DD3EAF-CA96-0B97-ED06-74DBCB6ADA59}"/>
                </a:ext>
              </a:extLst>
            </p:cNvPr>
            <p:cNvSpPr/>
            <p:nvPr/>
          </p:nvSpPr>
          <p:spPr>
            <a:xfrm>
              <a:off x="7025014" y="3760266"/>
              <a:ext cx="1128607" cy="646331"/>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Centrally Controlled </a:t>
              </a:r>
              <a:b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br>
              <a:r>
                <a:rPr kumimoji="0" lang="en-US" sz="12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and Deployed</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400" name="Google Shape;10333;p69">
              <a:extLst>
                <a:ext uri="{FF2B5EF4-FFF2-40B4-BE49-F238E27FC236}">
                  <a16:creationId xmlns:a16="http://schemas.microsoft.com/office/drawing/2014/main" id="{DA86C2DF-9EBF-4705-1FDF-9473F2DAE9B7}"/>
                </a:ext>
              </a:extLst>
            </p:cNvPr>
            <p:cNvSpPr/>
            <p:nvPr/>
          </p:nvSpPr>
          <p:spPr>
            <a:xfrm>
              <a:off x="1924792" y="4300382"/>
              <a:ext cx="818921" cy="21538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Switching</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401" name="Google Shape;10334;p69">
              <a:extLst>
                <a:ext uri="{FF2B5EF4-FFF2-40B4-BE49-F238E27FC236}">
                  <a16:creationId xmlns:a16="http://schemas.microsoft.com/office/drawing/2014/main" id="{1A056724-7582-68BC-989E-260D433D44C1}"/>
                </a:ext>
              </a:extLst>
            </p:cNvPr>
            <p:cNvSpPr/>
            <p:nvPr/>
          </p:nvSpPr>
          <p:spPr>
            <a:xfrm>
              <a:off x="2691320" y="4300382"/>
              <a:ext cx="911230" cy="21538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Routing</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402" name="Google Shape;10335;p69">
              <a:extLst>
                <a:ext uri="{FF2B5EF4-FFF2-40B4-BE49-F238E27FC236}">
                  <a16:creationId xmlns:a16="http://schemas.microsoft.com/office/drawing/2014/main" id="{4DF98F9D-FA93-5E1B-ACD3-7C1B7374A95E}"/>
                </a:ext>
              </a:extLst>
            </p:cNvPr>
            <p:cNvSpPr/>
            <p:nvPr/>
          </p:nvSpPr>
          <p:spPr>
            <a:xfrm>
              <a:off x="3373841" y="4300382"/>
              <a:ext cx="1109332" cy="21538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Stateful Firewalling</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403" name="Google Shape;10336;p69">
              <a:extLst>
                <a:ext uri="{FF2B5EF4-FFF2-40B4-BE49-F238E27FC236}">
                  <a16:creationId xmlns:a16="http://schemas.microsoft.com/office/drawing/2014/main" id="{EDDE72FA-3B44-E699-C1C1-895CA1640287}"/>
                </a:ext>
              </a:extLst>
            </p:cNvPr>
            <p:cNvSpPr/>
            <p:nvPr/>
          </p:nvSpPr>
          <p:spPr>
            <a:xfrm>
              <a:off x="4287879" y="4300382"/>
              <a:ext cx="911230" cy="215388"/>
            </a:xfrm>
            <a:prstGeom prst="rect">
              <a:avLst/>
            </a:prstGeom>
            <a:noFill/>
            <a:ln>
              <a:noFill/>
            </a:ln>
          </p:spPr>
          <p:txBody>
            <a:bodyPr spcFirstLastPara="1" wrap="square" lIns="0" tIns="45700" rIns="0"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3F3F3F"/>
                  </a:solidFill>
                  <a:effectLst/>
                  <a:uLnTx/>
                  <a:uFillTx/>
                  <a:latin typeface="Arial" panose="020B0604020202020204"/>
                  <a:ea typeface="Arial"/>
                  <a:cs typeface="Arial"/>
                  <a:sym typeface="Arial"/>
                </a:rPr>
                <a:t>LB</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10404" name="s4">
              <a:extLst>
                <a:ext uri="{FF2B5EF4-FFF2-40B4-BE49-F238E27FC236}">
                  <a16:creationId xmlns:a16="http://schemas.microsoft.com/office/drawing/2014/main" id="{3773F5D8-ABC4-459C-65B9-9262EC3F26FE}"/>
                </a:ext>
              </a:extLst>
            </p:cNvPr>
            <p:cNvGrpSpPr/>
            <p:nvPr/>
          </p:nvGrpSpPr>
          <p:grpSpPr>
            <a:xfrm>
              <a:off x="4471246" y="3714783"/>
              <a:ext cx="581934" cy="581932"/>
              <a:chOff x="5365136" y="3787183"/>
              <a:chExt cx="582086" cy="582084"/>
            </a:xfrm>
          </p:grpSpPr>
          <p:sp>
            <p:nvSpPr>
              <p:cNvPr id="10405" name="Google Shape;10341;p69">
                <a:extLst>
                  <a:ext uri="{FF2B5EF4-FFF2-40B4-BE49-F238E27FC236}">
                    <a16:creationId xmlns:a16="http://schemas.microsoft.com/office/drawing/2014/main" id="{464FA3E4-97A2-6B1C-B41C-B94D9539F17E}"/>
                  </a:ext>
                </a:extLst>
              </p:cNvPr>
              <p:cNvSpPr/>
              <p:nvPr/>
            </p:nvSpPr>
            <p:spPr>
              <a:xfrm>
                <a:off x="5365136" y="3787183"/>
                <a:ext cx="582086" cy="582084"/>
              </a:xfrm>
              <a:prstGeom prst="ellipse">
                <a:avLst/>
              </a:prstGeom>
              <a:solidFill>
                <a:schemeClr val="lt1"/>
              </a:solidFill>
              <a:ln w="19050"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406" name="Google Shape;10342;p69">
                <a:extLst>
                  <a:ext uri="{FF2B5EF4-FFF2-40B4-BE49-F238E27FC236}">
                    <a16:creationId xmlns:a16="http://schemas.microsoft.com/office/drawing/2014/main" id="{60E48A4E-15CF-8EB4-8193-F07A3ECA637E}"/>
                  </a:ext>
                </a:extLst>
              </p:cNvPr>
              <p:cNvGrpSpPr/>
              <p:nvPr/>
            </p:nvGrpSpPr>
            <p:grpSpPr>
              <a:xfrm>
                <a:off x="5459436" y="3898647"/>
                <a:ext cx="351294" cy="351294"/>
                <a:chOff x="7817903" y="1558637"/>
                <a:chExt cx="1037102" cy="1037102"/>
              </a:xfrm>
            </p:grpSpPr>
            <p:sp>
              <p:nvSpPr>
                <p:cNvPr id="10407" name="Google Shape;10343;p69">
                  <a:extLst>
                    <a:ext uri="{FF2B5EF4-FFF2-40B4-BE49-F238E27FC236}">
                      <a16:creationId xmlns:a16="http://schemas.microsoft.com/office/drawing/2014/main" id="{6E0AD388-4D73-4FC4-0CA9-0889EDC9D957}"/>
                    </a:ext>
                  </a:extLst>
                </p:cNvPr>
                <p:cNvSpPr/>
                <p:nvPr/>
              </p:nvSpPr>
              <p:spPr>
                <a:xfrm>
                  <a:off x="7817903" y="1558637"/>
                  <a:ext cx="1037102" cy="1037102"/>
                </a:xfrm>
                <a:custGeom>
                  <a:avLst/>
                  <a:gdLst/>
                  <a:ahLst/>
                  <a:cxnLst/>
                  <a:rect l="l" t="t" r="r" b="b"/>
                  <a:pathLst>
                    <a:path w="1037102" h="1037102" extrusionOk="0">
                      <a:moveTo>
                        <a:pt x="1037102" y="1037102"/>
                      </a:moveTo>
                      <a:lnTo>
                        <a:pt x="336491" y="1037102"/>
                      </a:lnTo>
                      <a:lnTo>
                        <a:pt x="0" y="683984"/>
                      </a:lnTo>
                      <a:lnTo>
                        <a:pt x="0" y="357905"/>
                      </a:lnTo>
                      <a:lnTo>
                        <a:pt x="323979" y="0"/>
                      </a:lnTo>
                      <a:lnTo>
                        <a:pt x="1037102" y="0"/>
                      </a:lnTo>
                      <a:lnTo>
                        <a:pt x="1037102" y="1037102"/>
                      </a:lnTo>
                      <a:close/>
                      <a:moveTo>
                        <a:pt x="348164" y="1009810"/>
                      </a:moveTo>
                      <a:lnTo>
                        <a:pt x="1009810" y="1009810"/>
                      </a:lnTo>
                      <a:lnTo>
                        <a:pt x="1009810" y="27292"/>
                      </a:lnTo>
                      <a:lnTo>
                        <a:pt x="336072" y="27292"/>
                      </a:lnTo>
                      <a:lnTo>
                        <a:pt x="27292" y="368402"/>
                      </a:lnTo>
                      <a:lnTo>
                        <a:pt x="27292" y="672983"/>
                      </a:lnTo>
                      <a:lnTo>
                        <a:pt x="348164" y="1009810"/>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08" name="Google Shape;10344;p69">
                  <a:extLst>
                    <a:ext uri="{FF2B5EF4-FFF2-40B4-BE49-F238E27FC236}">
                      <a16:creationId xmlns:a16="http://schemas.microsoft.com/office/drawing/2014/main" id="{B746B437-E9F7-3287-A42D-1700EE715E62}"/>
                    </a:ext>
                  </a:extLst>
                </p:cNvPr>
                <p:cNvSpPr/>
                <p:nvPr/>
              </p:nvSpPr>
              <p:spPr>
                <a:xfrm>
                  <a:off x="8231568" y="1690311"/>
                  <a:ext cx="163752" cy="163752"/>
                </a:xfrm>
                <a:custGeom>
                  <a:avLst/>
                  <a:gdLst/>
                  <a:ahLst/>
                  <a:cxnLst/>
                  <a:rect l="l" t="t" r="r" b="b"/>
                  <a:pathLst>
                    <a:path w="163752" h="163752" extrusionOk="0">
                      <a:moveTo>
                        <a:pt x="163753" y="81876"/>
                      </a:moveTo>
                      <a:cubicBezTo>
                        <a:pt x="163753" y="127096"/>
                        <a:pt x="127096" y="163753"/>
                        <a:pt x="81877" y="163753"/>
                      </a:cubicBezTo>
                      <a:cubicBezTo>
                        <a:pt x="36657" y="163753"/>
                        <a:pt x="0" y="127096"/>
                        <a:pt x="0" y="81876"/>
                      </a:cubicBezTo>
                      <a:cubicBezTo>
                        <a:pt x="0" y="36657"/>
                        <a:pt x="36657" y="0"/>
                        <a:pt x="81877" y="0"/>
                      </a:cubicBezTo>
                      <a:cubicBezTo>
                        <a:pt x="127096" y="0"/>
                        <a:pt x="163753" y="36657"/>
                        <a:pt x="163753" y="8187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09" name="Google Shape;10345;p69">
                  <a:extLst>
                    <a:ext uri="{FF2B5EF4-FFF2-40B4-BE49-F238E27FC236}">
                      <a16:creationId xmlns:a16="http://schemas.microsoft.com/office/drawing/2014/main" id="{285E027B-DD67-7E08-DDC0-B5E02A4A3BAF}"/>
                    </a:ext>
                  </a:extLst>
                </p:cNvPr>
                <p:cNvSpPr/>
                <p:nvPr/>
              </p:nvSpPr>
              <p:spPr>
                <a:xfrm>
                  <a:off x="8231568" y="2012526"/>
                  <a:ext cx="163752" cy="163752"/>
                </a:xfrm>
                <a:custGeom>
                  <a:avLst/>
                  <a:gdLst/>
                  <a:ahLst/>
                  <a:cxnLst/>
                  <a:rect l="l" t="t" r="r" b="b"/>
                  <a:pathLst>
                    <a:path w="163752" h="163752" extrusionOk="0">
                      <a:moveTo>
                        <a:pt x="163753" y="81876"/>
                      </a:moveTo>
                      <a:cubicBezTo>
                        <a:pt x="163753" y="127096"/>
                        <a:pt x="127096" y="163753"/>
                        <a:pt x="81877" y="163753"/>
                      </a:cubicBezTo>
                      <a:cubicBezTo>
                        <a:pt x="36657" y="163753"/>
                        <a:pt x="0" y="127096"/>
                        <a:pt x="0" y="81877"/>
                      </a:cubicBezTo>
                      <a:cubicBezTo>
                        <a:pt x="0" y="36657"/>
                        <a:pt x="36657" y="0"/>
                        <a:pt x="81877" y="0"/>
                      </a:cubicBezTo>
                      <a:cubicBezTo>
                        <a:pt x="127096" y="0"/>
                        <a:pt x="163753" y="36657"/>
                        <a:pt x="163753" y="8187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0" name="Google Shape;10346;p69">
                  <a:extLst>
                    <a:ext uri="{FF2B5EF4-FFF2-40B4-BE49-F238E27FC236}">
                      <a16:creationId xmlns:a16="http://schemas.microsoft.com/office/drawing/2014/main" id="{EFFB0D33-AE8E-2812-BAA3-153E13B00720}"/>
                    </a:ext>
                  </a:extLst>
                </p:cNvPr>
                <p:cNvSpPr/>
                <p:nvPr/>
              </p:nvSpPr>
              <p:spPr>
                <a:xfrm>
                  <a:off x="7911872" y="2012526"/>
                  <a:ext cx="163752" cy="163752"/>
                </a:xfrm>
                <a:custGeom>
                  <a:avLst/>
                  <a:gdLst/>
                  <a:ahLst/>
                  <a:cxnLst/>
                  <a:rect l="l" t="t" r="r" b="b"/>
                  <a:pathLst>
                    <a:path w="163752" h="163752" extrusionOk="0">
                      <a:moveTo>
                        <a:pt x="163753" y="81876"/>
                      </a:moveTo>
                      <a:cubicBezTo>
                        <a:pt x="163753" y="127096"/>
                        <a:pt x="127096" y="163753"/>
                        <a:pt x="81876" y="163753"/>
                      </a:cubicBezTo>
                      <a:cubicBezTo>
                        <a:pt x="36657" y="163753"/>
                        <a:pt x="0" y="127096"/>
                        <a:pt x="0" y="81877"/>
                      </a:cubicBezTo>
                      <a:cubicBezTo>
                        <a:pt x="0" y="36657"/>
                        <a:pt x="36657" y="0"/>
                        <a:pt x="81876" y="0"/>
                      </a:cubicBezTo>
                      <a:cubicBezTo>
                        <a:pt x="127096" y="0"/>
                        <a:pt x="163753" y="36657"/>
                        <a:pt x="163753" y="8187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1" name="Google Shape;10347;p69">
                  <a:extLst>
                    <a:ext uri="{FF2B5EF4-FFF2-40B4-BE49-F238E27FC236}">
                      <a16:creationId xmlns:a16="http://schemas.microsoft.com/office/drawing/2014/main" id="{09A697B1-C417-CF5C-F29F-66D1D9FC842E}"/>
                    </a:ext>
                  </a:extLst>
                </p:cNvPr>
                <p:cNvSpPr/>
                <p:nvPr/>
              </p:nvSpPr>
              <p:spPr>
                <a:xfrm>
                  <a:off x="8231568" y="2332558"/>
                  <a:ext cx="163752" cy="163752"/>
                </a:xfrm>
                <a:custGeom>
                  <a:avLst/>
                  <a:gdLst/>
                  <a:ahLst/>
                  <a:cxnLst/>
                  <a:rect l="l" t="t" r="r" b="b"/>
                  <a:pathLst>
                    <a:path w="163752" h="163752" extrusionOk="0">
                      <a:moveTo>
                        <a:pt x="163753" y="81877"/>
                      </a:moveTo>
                      <a:cubicBezTo>
                        <a:pt x="163753" y="127096"/>
                        <a:pt x="127096" y="163753"/>
                        <a:pt x="81877" y="163753"/>
                      </a:cubicBezTo>
                      <a:cubicBezTo>
                        <a:pt x="36657" y="163753"/>
                        <a:pt x="0" y="127096"/>
                        <a:pt x="0" y="81877"/>
                      </a:cubicBezTo>
                      <a:cubicBezTo>
                        <a:pt x="0" y="36657"/>
                        <a:pt x="36657" y="0"/>
                        <a:pt x="81877" y="0"/>
                      </a:cubicBezTo>
                      <a:cubicBezTo>
                        <a:pt x="127096" y="0"/>
                        <a:pt x="163753" y="36657"/>
                        <a:pt x="163753" y="81877"/>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2" name="Google Shape;10348;p69">
                  <a:extLst>
                    <a:ext uri="{FF2B5EF4-FFF2-40B4-BE49-F238E27FC236}">
                      <a16:creationId xmlns:a16="http://schemas.microsoft.com/office/drawing/2014/main" id="{3D122248-9DC9-0619-FF97-ED062EB40F89}"/>
                    </a:ext>
                  </a:extLst>
                </p:cNvPr>
                <p:cNvSpPr/>
                <p:nvPr/>
              </p:nvSpPr>
              <p:spPr>
                <a:xfrm rot="-2700000">
                  <a:off x="8076133" y="1924551"/>
                  <a:ext cx="177103" cy="27291"/>
                </a:xfrm>
                <a:custGeom>
                  <a:avLst/>
                  <a:gdLst/>
                  <a:ahLst/>
                  <a:cxnLst/>
                  <a:rect l="l" t="t" r="r" b="b"/>
                  <a:pathLst>
                    <a:path w="177103" h="27291" extrusionOk="0">
                      <a:moveTo>
                        <a:pt x="0" y="0"/>
                      </a:moveTo>
                      <a:lnTo>
                        <a:pt x="177103" y="0"/>
                      </a:lnTo>
                      <a:lnTo>
                        <a:pt x="177103" y="27292"/>
                      </a:lnTo>
                      <a:lnTo>
                        <a:pt x="0" y="27292"/>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3" name="Google Shape;10349;p69">
                  <a:extLst>
                    <a:ext uri="{FF2B5EF4-FFF2-40B4-BE49-F238E27FC236}">
                      <a16:creationId xmlns:a16="http://schemas.microsoft.com/office/drawing/2014/main" id="{5E58FB0A-3DA8-6B35-C327-D822B081B138}"/>
                    </a:ext>
                  </a:extLst>
                </p:cNvPr>
                <p:cNvSpPr/>
                <p:nvPr/>
              </p:nvSpPr>
              <p:spPr>
                <a:xfrm rot="-2700000">
                  <a:off x="8151103" y="2173741"/>
                  <a:ext cx="27291" cy="177103"/>
                </a:xfrm>
                <a:custGeom>
                  <a:avLst/>
                  <a:gdLst/>
                  <a:ahLst/>
                  <a:cxnLst/>
                  <a:rect l="l" t="t" r="r" b="b"/>
                  <a:pathLst>
                    <a:path w="27291" h="177103" extrusionOk="0">
                      <a:moveTo>
                        <a:pt x="0" y="0"/>
                      </a:moveTo>
                      <a:lnTo>
                        <a:pt x="27292" y="0"/>
                      </a:lnTo>
                      <a:lnTo>
                        <a:pt x="27292" y="177103"/>
                      </a:lnTo>
                      <a:lnTo>
                        <a:pt x="0" y="177103"/>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4" name="Google Shape;10350;p69">
                  <a:extLst>
                    <a:ext uri="{FF2B5EF4-FFF2-40B4-BE49-F238E27FC236}">
                      <a16:creationId xmlns:a16="http://schemas.microsoft.com/office/drawing/2014/main" id="{056399C8-EA15-9119-697A-224F720FA821}"/>
                    </a:ext>
                  </a:extLst>
                </p:cNvPr>
                <p:cNvSpPr/>
                <p:nvPr/>
              </p:nvSpPr>
              <p:spPr>
                <a:xfrm>
                  <a:off x="8119628" y="2080799"/>
                  <a:ext cx="96908" cy="27292"/>
                </a:xfrm>
                <a:custGeom>
                  <a:avLst/>
                  <a:gdLst/>
                  <a:ahLst/>
                  <a:cxnLst/>
                  <a:rect l="l" t="t" r="r" b="b"/>
                  <a:pathLst>
                    <a:path w="96908" h="27292" extrusionOk="0">
                      <a:moveTo>
                        <a:pt x="0" y="0"/>
                      </a:moveTo>
                      <a:lnTo>
                        <a:pt x="96908" y="0"/>
                      </a:lnTo>
                      <a:lnTo>
                        <a:pt x="96908" y="27292"/>
                      </a:lnTo>
                      <a:lnTo>
                        <a:pt x="0" y="27292"/>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nvGrpSpPr>
                <p:cNvPr id="10415" name="Google Shape;10351;p69">
                  <a:extLst>
                    <a:ext uri="{FF2B5EF4-FFF2-40B4-BE49-F238E27FC236}">
                      <a16:creationId xmlns:a16="http://schemas.microsoft.com/office/drawing/2014/main" id="{7B38A67F-97B9-80B6-3524-9911E229C594}"/>
                    </a:ext>
                  </a:extLst>
                </p:cNvPr>
                <p:cNvGrpSpPr/>
                <p:nvPr/>
              </p:nvGrpSpPr>
              <p:grpSpPr>
                <a:xfrm>
                  <a:off x="8436889" y="1698708"/>
                  <a:ext cx="327505" cy="789205"/>
                  <a:chOff x="8436889" y="1698708"/>
                  <a:chExt cx="327505" cy="789205"/>
                </a:xfrm>
              </p:grpSpPr>
              <p:sp>
                <p:nvSpPr>
                  <p:cNvPr id="10416" name="Google Shape;10352;p69">
                    <a:extLst>
                      <a:ext uri="{FF2B5EF4-FFF2-40B4-BE49-F238E27FC236}">
                        <a16:creationId xmlns:a16="http://schemas.microsoft.com/office/drawing/2014/main" id="{60FFD33E-D345-8F15-86F7-390CC3632094}"/>
                      </a:ext>
                    </a:extLst>
                  </p:cNvPr>
                  <p:cNvSpPr/>
                  <p:nvPr/>
                </p:nvSpPr>
                <p:spPr>
                  <a:xfrm>
                    <a:off x="8436889" y="1698708"/>
                    <a:ext cx="327505" cy="146957"/>
                  </a:xfrm>
                  <a:custGeom>
                    <a:avLst/>
                    <a:gdLst/>
                    <a:ahLst/>
                    <a:cxnLst/>
                    <a:rect l="l" t="t" r="r" b="b"/>
                    <a:pathLst>
                      <a:path w="327505" h="146957" extrusionOk="0">
                        <a:moveTo>
                          <a:pt x="200199" y="146958"/>
                        </a:moveTo>
                        <a:lnTo>
                          <a:pt x="327506" y="73479"/>
                        </a:lnTo>
                        <a:lnTo>
                          <a:pt x="200199" y="0"/>
                        </a:lnTo>
                        <a:lnTo>
                          <a:pt x="200199" y="46187"/>
                        </a:lnTo>
                        <a:lnTo>
                          <a:pt x="0" y="46187"/>
                        </a:lnTo>
                        <a:lnTo>
                          <a:pt x="0" y="100771"/>
                        </a:lnTo>
                        <a:lnTo>
                          <a:pt x="200199" y="100771"/>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7" name="Google Shape;10353;p69">
                    <a:extLst>
                      <a:ext uri="{FF2B5EF4-FFF2-40B4-BE49-F238E27FC236}">
                        <a16:creationId xmlns:a16="http://schemas.microsoft.com/office/drawing/2014/main" id="{4517EF58-ACBF-6F0E-966C-2DB4FF5977B5}"/>
                      </a:ext>
                    </a:extLst>
                  </p:cNvPr>
                  <p:cNvSpPr/>
                  <p:nvPr/>
                </p:nvSpPr>
                <p:spPr>
                  <a:xfrm>
                    <a:off x="8436889" y="2020840"/>
                    <a:ext cx="327505" cy="147041"/>
                  </a:xfrm>
                  <a:custGeom>
                    <a:avLst/>
                    <a:gdLst/>
                    <a:ahLst/>
                    <a:cxnLst/>
                    <a:rect l="l" t="t" r="r" b="b"/>
                    <a:pathLst>
                      <a:path w="327505" h="147041" extrusionOk="0">
                        <a:moveTo>
                          <a:pt x="200199" y="46271"/>
                        </a:moveTo>
                        <a:lnTo>
                          <a:pt x="0" y="46271"/>
                        </a:lnTo>
                        <a:lnTo>
                          <a:pt x="0" y="100855"/>
                        </a:lnTo>
                        <a:lnTo>
                          <a:pt x="200199" y="100855"/>
                        </a:lnTo>
                        <a:lnTo>
                          <a:pt x="200199" y="147042"/>
                        </a:lnTo>
                        <a:lnTo>
                          <a:pt x="327506" y="73563"/>
                        </a:lnTo>
                        <a:lnTo>
                          <a:pt x="200199" y="0"/>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18" name="Google Shape;10354;p69">
                    <a:extLst>
                      <a:ext uri="{FF2B5EF4-FFF2-40B4-BE49-F238E27FC236}">
                        <a16:creationId xmlns:a16="http://schemas.microsoft.com/office/drawing/2014/main" id="{7A0D0BE0-EDE0-ACDB-6331-4B150A5CE566}"/>
                      </a:ext>
                    </a:extLst>
                  </p:cNvPr>
                  <p:cNvSpPr/>
                  <p:nvPr/>
                </p:nvSpPr>
                <p:spPr>
                  <a:xfrm>
                    <a:off x="8436889" y="2340956"/>
                    <a:ext cx="327505" cy="146957"/>
                  </a:xfrm>
                  <a:custGeom>
                    <a:avLst/>
                    <a:gdLst/>
                    <a:ahLst/>
                    <a:cxnLst/>
                    <a:rect l="l" t="t" r="r" b="b"/>
                    <a:pathLst>
                      <a:path w="327505" h="146957" extrusionOk="0">
                        <a:moveTo>
                          <a:pt x="200199" y="46187"/>
                        </a:moveTo>
                        <a:lnTo>
                          <a:pt x="0" y="46187"/>
                        </a:lnTo>
                        <a:lnTo>
                          <a:pt x="0" y="100771"/>
                        </a:lnTo>
                        <a:lnTo>
                          <a:pt x="200199" y="100771"/>
                        </a:lnTo>
                        <a:lnTo>
                          <a:pt x="200199" y="146958"/>
                        </a:lnTo>
                        <a:lnTo>
                          <a:pt x="327506" y="73479"/>
                        </a:lnTo>
                        <a:lnTo>
                          <a:pt x="200199" y="0"/>
                        </a:lnTo>
                        <a:close/>
                      </a:path>
                    </a:pathLst>
                  </a:custGeom>
                  <a:solidFill>
                    <a:schemeClr val="accent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grpSp>
          <p:nvGrpSpPr>
            <p:cNvPr id="10419" name="s3">
              <a:extLst>
                <a:ext uri="{FF2B5EF4-FFF2-40B4-BE49-F238E27FC236}">
                  <a16:creationId xmlns:a16="http://schemas.microsoft.com/office/drawing/2014/main" id="{A1301899-8B47-578E-0E1C-BFEAAD151EA4}"/>
                </a:ext>
              </a:extLst>
            </p:cNvPr>
            <p:cNvGrpSpPr/>
            <p:nvPr/>
          </p:nvGrpSpPr>
          <p:grpSpPr>
            <a:xfrm>
              <a:off x="3667886" y="3714783"/>
              <a:ext cx="581934" cy="581932"/>
              <a:chOff x="4488927" y="3787183"/>
              <a:chExt cx="582086" cy="582084"/>
            </a:xfrm>
          </p:grpSpPr>
          <p:sp>
            <p:nvSpPr>
              <p:cNvPr id="10420" name="Google Shape;10356;p69">
                <a:extLst>
                  <a:ext uri="{FF2B5EF4-FFF2-40B4-BE49-F238E27FC236}">
                    <a16:creationId xmlns:a16="http://schemas.microsoft.com/office/drawing/2014/main" id="{23DE64A0-A79C-BB15-115D-90F05A85F9D2}"/>
                  </a:ext>
                </a:extLst>
              </p:cNvPr>
              <p:cNvSpPr/>
              <p:nvPr/>
            </p:nvSpPr>
            <p:spPr>
              <a:xfrm>
                <a:off x="4488927" y="3787183"/>
                <a:ext cx="582086" cy="582084"/>
              </a:xfrm>
              <a:prstGeom prst="ellipse">
                <a:avLst/>
              </a:prstGeom>
              <a:solidFill>
                <a:schemeClr val="lt1"/>
              </a:solidFill>
              <a:ln w="1905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421" name="Google Shape;10357;p69">
                <a:extLst>
                  <a:ext uri="{FF2B5EF4-FFF2-40B4-BE49-F238E27FC236}">
                    <a16:creationId xmlns:a16="http://schemas.microsoft.com/office/drawing/2014/main" id="{EE6B31F5-3B8D-900B-39DF-E3BF08CBDF4B}"/>
                  </a:ext>
                </a:extLst>
              </p:cNvPr>
              <p:cNvGrpSpPr/>
              <p:nvPr/>
            </p:nvGrpSpPr>
            <p:grpSpPr>
              <a:xfrm>
                <a:off x="4593640" y="3963179"/>
                <a:ext cx="353116" cy="273695"/>
                <a:chOff x="5503033" y="1634472"/>
                <a:chExt cx="1152583" cy="893349"/>
              </a:xfrm>
            </p:grpSpPr>
            <p:sp>
              <p:nvSpPr>
                <p:cNvPr id="10422" name="Google Shape;10358;p69">
                  <a:extLst>
                    <a:ext uri="{FF2B5EF4-FFF2-40B4-BE49-F238E27FC236}">
                      <a16:creationId xmlns:a16="http://schemas.microsoft.com/office/drawing/2014/main" id="{7D440977-6FD3-59E6-5113-8CDBE9A0A941}"/>
                    </a:ext>
                  </a:extLst>
                </p:cNvPr>
                <p:cNvSpPr/>
                <p:nvPr/>
              </p:nvSpPr>
              <p:spPr>
                <a:xfrm>
                  <a:off x="5503033" y="1634472"/>
                  <a:ext cx="1150905" cy="653891"/>
                </a:xfrm>
                <a:custGeom>
                  <a:avLst/>
                  <a:gdLst/>
                  <a:ahLst/>
                  <a:cxnLst/>
                  <a:rect l="l" t="t" r="r" b="b"/>
                  <a:pathLst>
                    <a:path w="1150905" h="653891" extrusionOk="0">
                      <a:moveTo>
                        <a:pt x="566261" y="622840"/>
                      </a:moveTo>
                      <a:lnTo>
                        <a:pt x="246698" y="622840"/>
                      </a:lnTo>
                      <a:lnTo>
                        <a:pt x="246698" y="446151"/>
                      </a:lnTo>
                      <a:lnTo>
                        <a:pt x="587216" y="446151"/>
                      </a:lnTo>
                      <a:lnTo>
                        <a:pt x="587216" y="575215"/>
                      </a:lnTo>
                      <a:cubicBezTo>
                        <a:pt x="594074" y="561118"/>
                        <a:pt x="605219" y="538258"/>
                        <a:pt x="618173" y="511778"/>
                      </a:cubicBezTo>
                      <a:lnTo>
                        <a:pt x="618173" y="446151"/>
                      </a:lnTo>
                      <a:lnTo>
                        <a:pt x="650177" y="446151"/>
                      </a:lnTo>
                      <a:cubicBezTo>
                        <a:pt x="655320" y="435674"/>
                        <a:pt x="660273" y="425291"/>
                        <a:pt x="665226" y="415195"/>
                      </a:cubicBezTo>
                      <a:lnTo>
                        <a:pt x="499300" y="415195"/>
                      </a:lnTo>
                      <a:lnTo>
                        <a:pt x="499300" y="238601"/>
                      </a:lnTo>
                      <a:lnTo>
                        <a:pt x="839819" y="238601"/>
                      </a:lnTo>
                      <a:lnTo>
                        <a:pt x="839819" y="371285"/>
                      </a:lnTo>
                      <a:lnTo>
                        <a:pt x="870776" y="307086"/>
                      </a:lnTo>
                      <a:lnTo>
                        <a:pt x="870776" y="238506"/>
                      </a:lnTo>
                      <a:lnTo>
                        <a:pt x="903827" y="238506"/>
                      </a:lnTo>
                      <a:lnTo>
                        <a:pt x="918782" y="207550"/>
                      </a:lnTo>
                      <a:lnTo>
                        <a:pt x="689038" y="207550"/>
                      </a:lnTo>
                      <a:lnTo>
                        <a:pt x="689038" y="30956"/>
                      </a:lnTo>
                      <a:lnTo>
                        <a:pt x="1029557" y="30956"/>
                      </a:lnTo>
                      <a:lnTo>
                        <a:pt x="1029557" y="207645"/>
                      </a:lnTo>
                      <a:lnTo>
                        <a:pt x="1015270" y="207645"/>
                      </a:lnTo>
                      <a:lnTo>
                        <a:pt x="1025366" y="228505"/>
                      </a:lnTo>
                      <a:cubicBezTo>
                        <a:pt x="1026890" y="231743"/>
                        <a:pt x="1028605" y="235172"/>
                        <a:pt x="1030224" y="238601"/>
                      </a:cubicBezTo>
                      <a:lnTo>
                        <a:pt x="1119950" y="238601"/>
                      </a:lnTo>
                      <a:lnTo>
                        <a:pt x="1119950" y="415290"/>
                      </a:lnTo>
                      <a:lnTo>
                        <a:pt x="1116044" y="415290"/>
                      </a:lnTo>
                      <a:cubicBezTo>
                        <a:pt x="1129379" y="442722"/>
                        <a:pt x="1141571" y="467678"/>
                        <a:pt x="1150906" y="486728"/>
                      </a:cubicBezTo>
                      <a:lnTo>
                        <a:pt x="1150906" y="446246"/>
                      </a:lnTo>
                      <a:lnTo>
                        <a:pt x="1150906" y="415290"/>
                      </a:lnTo>
                      <a:lnTo>
                        <a:pt x="1150906" y="238601"/>
                      </a:lnTo>
                      <a:lnTo>
                        <a:pt x="1150906" y="207645"/>
                      </a:lnTo>
                      <a:lnTo>
                        <a:pt x="1150906" y="0"/>
                      </a:lnTo>
                      <a:lnTo>
                        <a:pt x="0" y="0"/>
                      </a:lnTo>
                      <a:lnTo>
                        <a:pt x="0" y="207645"/>
                      </a:lnTo>
                      <a:lnTo>
                        <a:pt x="0" y="238601"/>
                      </a:lnTo>
                      <a:lnTo>
                        <a:pt x="0" y="415290"/>
                      </a:lnTo>
                      <a:lnTo>
                        <a:pt x="0" y="446246"/>
                      </a:lnTo>
                      <a:lnTo>
                        <a:pt x="0" y="653891"/>
                      </a:lnTo>
                      <a:lnTo>
                        <a:pt x="557975" y="653891"/>
                      </a:lnTo>
                      <a:cubicBezTo>
                        <a:pt x="560070" y="643319"/>
                        <a:pt x="562832" y="632936"/>
                        <a:pt x="566261" y="622840"/>
                      </a:cubicBezTo>
                      <a:close/>
                      <a:moveTo>
                        <a:pt x="1060514" y="30956"/>
                      </a:moveTo>
                      <a:lnTo>
                        <a:pt x="1120045" y="30956"/>
                      </a:lnTo>
                      <a:lnTo>
                        <a:pt x="1120045" y="207645"/>
                      </a:lnTo>
                      <a:lnTo>
                        <a:pt x="1060514" y="207645"/>
                      </a:lnTo>
                      <a:lnTo>
                        <a:pt x="1060514" y="30956"/>
                      </a:lnTo>
                      <a:close/>
                      <a:moveTo>
                        <a:pt x="468344" y="415195"/>
                      </a:moveTo>
                      <a:lnTo>
                        <a:pt x="127826" y="415195"/>
                      </a:lnTo>
                      <a:lnTo>
                        <a:pt x="127826" y="238601"/>
                      </a:lnTo>
                      <a:lnTo>
                        <a:pt x="468344" y="238601"/>
                      </a:lnTo>
                      <a:lnTo>
                        <a:pt x="468344" y="415195"/>
                      </a:lnTo>
                      <a:close/>
                      <a:moveTo>
                        <a:pt x="317564" y="30956"/>
                      </a:moveTo>
                      <a:lnTo>
                        <a:pt x="658082" y="30956"/>
                      </a:lnTo>
                      <a:lnTo>
                        <a:pt x="658082" y="207645"/>
                      </a:lnTo>
                      <a:lnTo>
                        <a:pt x="317564" y="207645"/>
                      </a:lnTo>
                      <a:lnTo>
                        <a:pt x="317564" y="30956"/>
                      </a:lnTo>
                      <a:close/>
                      <a:moveTo>
                        <a:pt x="30956" y="30956"/>
                      </a:moveTo>
                      <a:lnTo>
                        <a:pt x="286607" y="30956"/>
                      </a:lnTo>
                      <a:lnTo>
                        <a:pt x="286607" y="207645"/>
                      </a:lnTo>
                      <a:lnTo>
                        <a:pt x="30956" y="207645"/>
                      </a:lnTo>
                      <a:lnTo>
                        <a:pt x="30956" y="30956"/>
                      </a:lnTo>
                      <a:close/>
                      <a:moveTo>
                        <a:pt x="30956" y="238601"/>
                      </a:moveTo>
                      <a:lnTo>
                        <a:pt x="96869" y="238601"/>
                      </a:lnTo>
                      <a:lnTo>
                        <a:pt x="96869" y="415290"/>
                      </a:lnTo>
                      <a:lnTo>
                        <a:pt x="30956" y="415290"/>
                      </a:lnTo>
                      <a:lnTo>
                        <a:pt x="30956" y="238601"/>
                      </a:lnTo>
                      <a:close/>
                      <a:moveTo>
                        <a:pt x="215741" y="622840"/>
                      </a:moveTo>
                      <a:lnTo>
                        <a:pt x="30956" y="622840"/>
                      </a:lnTo>
                      <a:lnTo>
                        <a:pt x="30956" y="446151"/>
                      </a:lnTo>
                      <a:lnTo>
                        <a:pt x="215741" y="446151"/>
                      </a:lnTo>
                      <a:lnTo>
                        <a:pt x="215741" y="62284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23" name="Google Shape;10359;p69">
                  <a:extLst>
                    <a:ext uri="{FF2B5EF4-FFF2-40B4-BE49-F238E27FC236}">
                      <a16:creationId xmlns:a16="http://schemas.microsoft.com/office/drawing/2014/main" id="{9702963C-F277-7DD4-3416-D2C779C372EB}"/>
                    </a:ext>
                  </a:extLst>
                </p:cNvPr>
                <p:cNvSpPr/>
                <p:nvPr/>
              </p:nvSpPr>
              <p:spPr>
                <a:xfrm>
                  <a:off x="6105272" y="1875835"/>
                  <a:ext cx="550344" cy="651986"/>
                </a:xfrm>
                <a:custGeom>
                  <a:avLst/>
                  <a:gdLst/>
                  <a:ahLst/>
                  <a:cxnLst/>
                  <a:rect l="l" t="t" r="r" b="b"/>
                  <a:pathLst>
                    <a:path w="550344" h="651986" extrusionOk="0">
                      <a:moveTo>
                        <a:pt x="364644" y="651986"/>
                      </a:moveTo>
                      <a:lnTo>
                        <a:pt x="150712" y="651986"/>
                      </a:lnTo>
                      <a:cubicBezTo>
                        <a:pt x="68988" y="651986"/>
                        <a:pt x="27" y="567023"/>
                        <a:pt x="27" y="466535"/>
                      </a:cubicBezTo>
                      <a:cubicBezTo>
                        <a:pt x="-545" y="430339"/>
                        <a:pt x="8123" y="394811"/>
                        <a:pt x="25077" y="364046"/>
                      </a:cubicBezTo>
                      <a:cubicBezTo>
                        <a:pt x="39270" y="334994"/>
                        <a:pt x="105564" y="198882"/>
                        <a:pt x="137568" y="133064"/>
                      </a:cubicBezTo>
                      <a:cubicBezTo>
                        <a:pt x="140139" y="127730"/>
                        <a:pt x="145569" y="124397"/>
                        <a:pt x="151474" y="124397"/>
                      </a:cubicBezTo>
                      <a:cubicBezTo>
                        <a:pt x="151474" y="124397"/>
                        <a:pt x="151474" y="124397"/>
                        <a:pt x="151569" y="124397"/>
                      </a:cubicBezTo>
                      <a:cubicBezTo>
                        <a:pt x="157475" y="124397"/>
                        <a:pt x="162809" y="127730"/>
                        <a:pt x="165476" y="133064"/>
                      </a:cubicBezTo>
                      <a:lnTo>
                        <a:pt x="225388" y="254508"/>
                      </a:lnTo>
                      <a:cubicBezTo>
                        <a:pt x="227198" y="258223"/>
                        <a:pt x="230532" y="258318"/>
                        <a:pt x="232341" y="254603"/>
                      </a:cubicBezTo>
                      <a:lnTo>
                        <a:pt x="350928" y="8763"/>
                      </a:lnTo>
                      <a:cubicBezTo>
                        <a:pt x="353499" y="3429"/>
                        <a:pt x="358929" y="0"/>
                        <a:pt x="364834" y="0"/>
                      </a:cubicBezTo>
                      <a:cubicBezTo>
                        <a:pt x="364834" y="0"/>
                        <a:pt x="364834" y="0"/>
                        <a:pt x="364834" y="0"/>
                      </a:cubicBezTo>
                      <a:cubicBezTo>
                        <a:pt x="370740" y="0"/>
                        <a:pt x="376169" y="3429"/>
                        <a:pt x="378741" y="8763"/>
                      </a:cubicBezTo>
                      <a:cubicBezTo>
                        <a:pt x="422937" y="99822"/>
                        <a:pt x="502280" y="263271"/>
                        <a:pt x="519901" y="298514"/>
                      </a:cubicBezTo>
                      <a:cubicBezTo>
                        <a:pt x="540666" y="336042"/>
                        <a:pt x="551238" y="379952"/>
                        <a:pt x="550286" y="424910"/>
                      </a:cubicBezTo>
                      <a:cubicBezTo>
                        <a:pt x="550286" y="549878"/>
                        <a:pt x="467037" y="651986"/>
                        <a:pt x="364644" y="651986"/>
                      </a:cubicBezTo>
                      <a:close/>
                      <a:moveTo>
                        <a:pt x="151665" y="175070"/>
                      </a:moveTo>
                      <a:cubicBezTo>
                        <a:pt x="117375" y="245650"/>
                        <a:pt x="65368" y="352520"/>
                        <a:pt x="52605" y="378333"/>
                      </a:cubicBezTo>
                      <a:cubicBezTo>
                        <a:pt x="37841" y="405098"/>
                        <a:pt x="30507" y="435293"/>
                        <a:pt x="30983" y="466249"/>
                      </a:cubicBezTo>
                      <a:cubicBezTo>
                        <a:pt x="30983" y="550259"/>
                        <a:pt x="85847" y="621030"/>
                        <a:pt x="150712" y="621030"/>
                      </a:cubicBezTo>
                      <a:lnTo>
                        <a:pt x="364644" y="621030"/>
                      </a:lnTo>
                      <a:cubicBezTo>
                        <a:pt x="449892" y="621030"/>
                        <a:pt x="519330" y="532829"/>
                        <a:pt x="519330" y="424434"/>
                      </a:cubicBezTo>
                      <a:cubicBezTo>
                        <a:pt x="520187" y="384524"/>
                        <a:pt x="510852" y="346043"/>
                        <a:pt x="492469" y="312706"/>
                      </a:cubicBezTo>
                      <a:cubicBezTo>
                        <a:pt x="476277" y="280321"/>
                        <a:pt x="410078" y="144209"/>
                        <a:pt x="364834" y="50864"/>
                      </a:cubicBezTo>
                      <a:lnTo>
                        <a:pt x="260154" y="268034"/>
                      </a:lnTo>
                      <a:cubicBezTo>
                        <a:pt x="253963" y="280702"/>
                        <a:pt x="242057" y="288512"/>
                        <a:pt x="228817" y="288512"/>
                      </a:cubicBezTo>
                      <a:cubicBezTo>
                        <a:pt x="215577" y="288512"/>
                        <a:pt x="203671" y="280702"/>
                        <a:pt x="197480" y="268129"/>
                      </a:cubicBezTo>
                      <a:lnTo>
                        <a:pt x="151665" y="17507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24" name="Google Shape;10360;p69">
                  <a:extLst>
                    <a:ext uri="{FF2B5EF4-FFF2-40B4-BE49-F238E27FC236}">
                      <a16:creationId xmlns:a16="http://schemas.microsoft.com/office/drawing/2014/main" id="{00257958-64DF-B27F-5A46-88DBEFCD8099}"/>
                    </a:ext>
                  </a:extLst>
                </p:cNvPr>
                <p:cNvSpPr/>
                <p:nvPr/>
              </p:nvSpPr>
              <p:spPr>
                <a:xfrm>
                  <a:off x="6229350" y="2164356"/>
                  <a:ext cx="302054" cy="301076"/>
                </a:xfrm>
                <a:custGeom>
                  <a:avLst/>
                  <a:gdLst/>
                  <a:ahLst/>
                  <a:cxnLst/>
                  <a:rect l="l" t="t" r="r" b="b"/>
                  <a:pathLst>
                    <a:path w="302054" h="301076" extrusionOk="0">
                      <a:moveTo>
                        <a:pt x="52066" y="301077"/>
                      </a:moveTo>
                      <a:cubicBezTo>
                        <a:pt x="49208" y="301077"/>
                        <a:pt x="46255" y="300315"/>
                        <a:pt x="43684" y="298600"/>
                      </a:cubicBezTo>
                      <a:cubicBezTo>
                        <a:pt x="-18610" y="258405"/>
                        <a:pt x="-2989" y="170299"/>
                        <a:pt x="21490" y="124198"/>
                      </a:cubicBezTo>
                      <a:cubicBezTo>
                        <a:pt x="24062" y="119435"/>
                        <a:pt x="28825" y="116292"/>
                        <a:pt x="34254" y="116006"/>
                      </a:cubicBezTo>
                      <a:cubicBezTo>
                        <a:pt x="39588" y="115720"/>
                        <a:pt x="44827" y="118197"/>
                        <a:pt x="47875" y="122578"/>
                      </a:cubicBezTo>
                      <a:cubicBezTo>
                        <a:pt x="57400" y="136199"/>
                        <a:pt x="90356" y="175061"/>
                        <a:pt x="115978" y="175537"/>
                      </a:cubicBezTo>
                      <a:cubicBezTo>
                        <a:pt x="116359" y="175537"/>
                        <a:pt x="116740" y="175537"/>
                        <a:pt x="117121" y="175537"/>
                      </a:cubicBezTo>
                      <a:cubicBezTo>
                        <a:pt x="158841" y="175537"/>
                        <a:pt x="184177" y="132294"/>
                        <a:pt x="210181" y="17137"/>
                      </a:cubicBezTo>
                      <a:lnTo>
                        <a:pt x="210276" y="15041"/>
                      </a:lnTo>
                      <a:cubicBezTo>
                        <a:pt x="210466" y="9231"/>
                        <a:pt x="213800" y="3992"/>
                        <a:pt x="219039" y="1516"/>
                      </a:cubicBezTo>
                      <a:cubicBezTo>
                        <a:pt x="224278" y="-961"/>
                        <a:pt x="230469" y="-389"/>
                        <a:pt x="235136" y="3135"/>
                      </a:cubicBezTo>
                      <a:cubicBezTo>
                        <a:pt x="294477" y="48379"/>
                        <a:pt x="336863" y="171727"/>
                        <a:pt x="261997" y="285551"/>
                      </a:cubicBezTo>
                      <a:cubicBezTo>
                        <a:pt x="257329" y="292695"/>
                        <a:pt x="247709" y="294695"/>
                        <a:pt x="240565" y="289933"/>
                      </a:cubicBezTo>
                      <a:cubicBezTo>
                        <a:pt x="233422" y="285265"/>
                        <a:pt x="231421" y="275645"/>
                        <a:pt x="236184" y="268501"/>
                      </a:cubicBezTo>
                      <a:cubicBezTo>
                        <a:pt x="295525" y="178300"/>
                        <a:pt x="269617" y="90384"/>
                        <a:pt x="235136" y="46569"/>
                      </a:cubicBezTo>
                      <a:cubicBezTo>
                        <a:pt x="210562" y="146772"/>
                        <a:pt x="180272" y="207256"/>
                        <a:pt x="115597" y="206398"/>
                      </a:cubicBezTo>
                      <a:cubicBezTo>
                        <a:pt x="85498" y="205827"/>
                        <a:pt x="57019" y="180586"/>
                        <a:pt x="39683" y="161250"/>
                      </a:cubicBezTo>
                      <a:cubicBezTo>
                        <a:pt x="27967" y="196683"/>
                        <a:pt x="23491" y="248499"/>
                        <a:pt x="60733" y="272502"/>
                      </a:cubicBezTo>
                      <a:cubicBezTo>
                        <a:pt x="67877" y="277169"/>
                        <a:pt x="69973" y="286694"/>
                        <a:pt x="65305" y="293933"/>
                      </a:cubicBezTo>
                      <a:cubicBezTo>
                        <a:pt x="62067" y="298505"/>
                        <a:pt x="57114" y="301077"/>
                        <a:pt x="52066" y="301077"/>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nvGrpSpPr>
            <p:cNvPr id="10425" name="s1">
              <a:extLst>
                <a:ext uri="{FF2B5EF4-FFF2-40B4-BE49-F238E27FC236}">
                  <a16:creationId xmlns:a16="http://schemas.microsoft.com/office/drawing/2014/main" id="{1C16C8F8-65EB-EAA4-989A-B5EDFBAA4CED}"/>
                </a:ext>
              </a:extLst>
            </p:cNvPr>
            <p:cNvGrpSpPr/>
            <p:nvPr/>
          </p:nvGrpSpPr>
          <p:grpSpPr>
            <a:xfrm>
              <a:off x="2061166" y="3714783"/>
              <a:ext cx="581934" cy="581932"/>
              <a:chOff x="2736509" y="3787183"/>
              <a:chExt cx="582086" cy="582084"/>
            </a:xfrm>
          </p:grpSpPr>
          <p:sp>
            <p:nvSpPr>
              <p:cNvPr id="10426" name="Google Shape;10362;p69">
                <a:extLst>
                  <a:ext uri="{FF2B5EF4-FFF2-40B4-BE49-F238E27FC236}">
                    <a16:creationId xmlns:a16="http://schemas.microsoft.com/office/drawing/2014/main" id="{29021CAE-774F-3088-AC05-21D9BB6D4111}"/>
                  </a:ext>
                </a:extLst>
              </p:cNvPr>
              <p:cNvSpPr/>
              <p:nvPr/>
            </p:nvSpPr>
            <p:spPr>
              <a:xfrm>
                <a:off x="2736509" y="3787183"/>
                <a:ext cx="582086" cy="582084"/>
              </a:xfrm>
              <a:prstGeom prst="ellipse">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427" name="Google Shape;10363;p69">
                <a:extLst>
                  <a:ext uri="{FF2B5EF4-FFF2-40B4-BE49-F238E27FC236}">
                    <a16:creationId xmlns:a16="http://schemas.microsoft.com/office/drawing/2014/main" id="{71F9BFFF-B917-4094-5D7A-6BA3C553563E}"/>
                  </a:ext>
                </a:extLst>
              </p:cNvPr>
              <p:cNvGrpSpPr/>
              <p:nvPr/>
            </p:nvGrpSpPr>
            <p:grpSpPr>
              <a:xfrm>
                <a:off x="2860020" y="3912579"/>
                <a:ext cx="333713" cy="333711"/>
                <a:chOff x="1008670" y="1522211"/>
                <a:chExt cx="1053587" cy="1053587"/>
              </a:xfrm>
            </p:grpSpPr>
            <p:sp>
              <p:nvSpPr>
                <p:cNvPr id="10428" name="Google Shape;10364;p69">
                  <a:extLst>
                    <a:ext uri="{FF2B5EF4-FFF2-40B4-BE49-F238E27FC236}">
                      <a16:creationId xmlns:a16="http://schemas.microsoft.com/office/drawing/2014/main" id="{CB806D46-1121-481C-9A8E-56FF0582AE14}"/>
                    </a:ext>
                  </a:extLst>
                </p:cNvPr>
                <p:cNvSpPr/>
                <p:nvPr/>
              </p:nvSpPr>
              <p:spPr>
                <a:xfrm>
                  <a:off x="1008670" y="1522211"/>
                  <a:ext cx="1053587" cy="1053587"/>
                </a:xfrm>
                <a:custGeom>
                  <a:avLst/>
                  <a:gdLst/>
                  <a:ahLst/>
                  <a:cxnLst/>
                  <a:rect l="l" t="t" r="r" b="b"/>
                  <a:pathLst>
                    <a:path w="1053587" h="1053587" extrusionOk="0">
                      <a:moveTo>
                        <a:pt x="1025862" y="27726"/>
                      </a:moveTo>
                      <a:lnTo>
                        <a:pt x="1025862" y="1025862"/>
                      </a:lnTo>
                      <a:lnTo>
                        <a:pt x="27726" y="1025862"/>
                      </a:lnTo>
                      <a:lnTo>
                        <a:pt x="27726" y="27726"/>
                      </a:lnTo>
                      <a:lnTo>
                        <a:pt x="1025862" y="27726"/>
                      </a:lnTo>
                      <a:moveTo>
                        <a:pt x="1053588" y="0"/>
                      </a:moveTo>
                      <a:lnTo>
                        <a:pt x="0" y="0"/>
                      </a:lnTo>
                      <a:lnTo>
                        <a:pt x="0" y="1053588"/>
                      </a:lnTo>
                      <a:lnTo>
                        <a:pt x="1053588" y="1053588"/>
                      </a:lnTo>
                      <a:lnTo>
                        <a:pt x="1053588" y="0"/>
                      </a:lnTo>
                      <a:lnTo>
                        <a:pt x="1053588"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nvGrpSpPr>
                <p:cNvPr id="10429" name="Google Shape;10365;p69">
                  <a:extLst>
                    <a:ext uri="{FF2B5EF4-FFF2-40B4-BE49-F238E27FC236}">
                      <a16:creationId xmlns:a16="http://schemas.microsoft.com/office/drawing/2014/main" id="{B512087D-8AEC-54F7-C638-256E919A4393}"/>
                    </a:ext>
                  </a:extLst>
                </p:cNvPr>
                <p:cNvGrpSpPr/>
                <p:nvPr/>
              </p:nvGrpSpPr>
              <p:grpSpPr>
                <a:xfrm>
                  <a:off x="1173746" y="1654527"/>
                  <a:ext cx="720875" cy="814803"/>
                  <a:chOff x="1173746" y="1654527"/>
                  <a:chExt cx="720875" cy="814803"/>
                </a:xfrm>
              </p:grpSpPr>
              <p:sp>
                <p:nvSpPr>
                  <p:cNvPr id="10430" name="Google Shape;10366;p69">
                    <a:extLst>
                      <a:ext uri="{FF2B5EF4-FFF2-40B4-BE49-F238E27FC236}">
                        <a16:creationId xmlns:a16="http://schemas.microsoft.com/office/drawing/2014/main" id="{6FD752ED-E92E-DAA4-5F9F-7663E9157A83}"/>
                      </a:ext>
                    </a:extLst>
                  </p:cNvPr>
                  <p:cNvSpPr/>
                  <p:nvPr/>
                </p:nvSpPr>
                <p:spPr>
                  <a:xfrm>
                    <a:off x="1173746" y="1654527"/>
                    <a:ext cx="720875" cy="149379"/>
                  </a:xfrm>
                  <a:custGeom>
                    <a:avLst/>
                    <a:gdLst/>
                    <a:ahLst/>
                    <a:cxnLst/>
                    <a:rect l="l" t="t" r="r" b="b"/>
                    <a:pathLst>
                      <a:path w="720875" h="149379" extrusionOk="0">
                        <a:moveTo>
                          <a:pt x="591545" y="149379"/>
                        </a:moveTo>
                        <a:lnTo>
                          <a:pt x="720876" y="74732"/>
                        </a:lnTo>
                        <a:lnTo>
                          <a:pt x="591545" y="0"/>
                        </a:lnTo>
                        <a:lnTo>
                          <a:pt x="591545" y="47006"/>
                        </a:lnTo>
                        <a:lnTo>
                          <a:pt x="0" y="47006"/>
                        </a:lnTo>
                        <a:lnTo>
                          <a:pt x="0" y="102458"/>
                        </a:lnTo>
                        <a:lnTo>
                          <a:pt x="591545" y="102458"/>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431" name="Google Shape;10367;p69">
                    <a:extLst>
                      <a:ext uri="{FF2B5EF4-FFF2-40B4-BE49-F238E27FC236}">
                        <a16:creationId xmlns:a16="http://schemas.microsoft.com/office/drawing/2014/main" id="{12FEFC14-31A5-A807-3607-26D50F712F28}"/>
                      </a:ext>
                    </a:extLst>
                  </p:cNvPr>
                  <p:cNvSpPr/>
                  <p:nvPr/>
                </p:nvSpPr>
                <p:spPr>
                  <a:xfrm>
                    <a:off x="1173746" y="2319951"/>
                    <a:ext cx="720875" cy="149379"/>
                  </a:xfrm>
                  <a:custGeom>
                    <a:avLst/>
                    <a:gdLst/>
                    <a:ahLst/>
                    <a:cxnLst/>
                    <a:rect l="l" t="t" r="r" b="b"/>
                    <a:pathLst>
                      <a:path w="720875" h="149379" extrusionOk="0">
                        <a:moveTo>
                          <a:pt x="129246" y="0"/>
                        </a:moveTo>
                        <a:lnTo>
                          <a:pt x="0" y="74732"/>
                        </a:lnTo>
                        <a:lnTo>
                          <a:pt x="129246" y="149379"/>
                        </a:lnTo>
                        <a:lnTo>
                          <a:pt x="129246" y="102458"/>
                        </a:lnTo>
                        <a:lnTo>
                          <a:pt x="720876" y="102458"/>
                        </a:lnTo>
                        <a:lnTo>
                          <a:pt x="720876" y="47006"/>
                        </a:lnTo>
                        <a:lnTo>
                          <a:pt x="129246" y="47006"/>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240" name="Google Shape;10368;p69">
                    <a:extLst>
                      <a:ext uri="{FF2B5EF4-FFF2-40B4-BE49-F238E27FC236}">
                        <a16:creationId xmlns:a16="http://schemas.microsoft.com/office/drawing/2014/main" id="{8F6A0E50-79A7-7853-6C63-B5E58C7D2DBE}"/>
                      </a:ext>
                    </a:extLst>
                  </p:cNvPr>
                  <p:cNvSpPr/>
                  <p:nvPr/>
                </p:nvSpPr>
                <p:spPr>
                  <a:xfrm>
                    <a:off x="1173746" y="2098143"/>
                    <a:ext cx="720875" cy="149379"/>
                  </a:xfrm>
                  <a:custGeom>
                    <a:avLst/>
                    <a:gdLst/>
                    <a:ahLst/>
                    <a:cxnLst/>
                    <a:rect l="l" t="t" r="r" b="b"/>
                    <a:pathLst>
                      <a:path w="720875" h="149379" extrusionOk="0">
                        <a:moveTo>
                          <a:pt x="591545" y="47006"/>
                        </a:moveTo>
                        <a:lnTo>
                          <a:pt x="0" y="47006"/>
                        </a:lnTo>
                        <a:lnTo>
                          <a:pt x="0" y="102458"/>
                        </a:lnTo>
                        <a:lnTo>
                          <a:pt x="591545" y="102458"/>
                        </a:lnTo>
                        <a:lnTo>
                          <a:pt x="591545" y="149379"/>
                        </a:lnTo>
                        <a:lnTo>
                          <a:pt x="720876" y="74732"/>
                        </a:lnTo>
                        <a:lnTo>
                          <a:pt x="591545"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241" name="Google Shape;10369;p69">
                    <a:extLst>
                      <a:ext uri="{FF2B5EF4-FFF2-40B4-BE49-F238E27FC236}">
                        <a16:creationId xmlns:a16="http://schemas.microsoft.com/office/drawing/2014/main" id="{989D77B4-E3BA-FEBC-FEEE-FAF9BA26F313}"/>
                      </a:ext>
                    </a:extLst>
                  </p:cNvPr>
                  <p:cNvSpPr/>
                  <p:nvPr/>
                </p:nvSpPr>
                <p:spPr>
                  <a:xfrm>
                    <a:off x="1173746" y="1876335"/>
                    <a:ext cx="720875" cy="149379"/>
                  </a:xfrm>
                  <a:custGeom>
                    <a:avLst/>
                    <a:gdLst/>
                    <a:ahLst/>
                    <a:cxnLst/>
                    <a:rect l="l" t="t" r="r" b="b"/>
                    <a:pathLst>
                      <a:path w="720875" h="149379" extrusionOk="0">
                        <a:moveTo>
                          <a:pt x="0" y="74732"/>
                        </a:moveTo>
                        <a:lnTo>
                          <a:pt x="129246" y="149379"/>
                        </a:lnTo>
                        <a:lnTo>
                          <a:pt x="129246" y="102458"/>
                        </a:lnTo>
                        <a:lnTo>
                          <a:pt x="720876" y="102458"/>
                        </a:lnTo>
                        <a:lnTo>
                          <a:pt x="720876" y="47006"/>
                        </a:lnTo>
                        <a:lnTo>
                          <a:pt x="129246" y="47006"/>
                        </a:lnTo>
                        <a:lnTo>
                          <a:pt x="129246"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grpSp>
          <p:nvGrpSpPr>
            <p:cNvPr id="10242" name="s2">
              <a:extLst>
                <a:ext uri="{FF2B5EF4-FFF2-40B4-BE49-F238E27FC236}">
                  <a16:creationId xmlns:a16="http://schemas.microsoft.com/office/drawing/2014/main" id="{CA10CD1C-5547-D884-8FC8-F4029A451CFA}"/>
                </a:ext>
              </a:extLst>
            </p:cNvPr>
            <p:cNvGrpSpPr/>
            <p:nvPr/>
          </p:nvGrpSpPr>
          <p:grpSpPr>
            <a:xfrm>
              <a:off x="2864526" y="3714783"/>
              <a:ext cx="581934" cy="581932"/>
              <a:chOff x="3612718" y="3787183"/>
              <a:chExt cx="582086" cy="582084"/>
            </a:xfrm>
          </p:grpSpPr>
          <p:sp>
            <p:nvSpPr>
              <p:cNvPr id="10243" name="Google Shape;10371;p69">
                <a:extLst>
                  <a:ext uri="{FF2B5EF4-FFF2-40B4-BE49-F238E27FC236}">
                    <a16:creationId xmlns:a16="http://schemas.microsoft.com/office/drawing/2014/main" id="{4BCCB7D7-C963-D53D-E501-E51E241006CD}"/>
                  </a:ext>
                </a:extLst>
              </p:cNvPr>
              <p:cNvSpPr/>
              <p:nvPr/>
            </p:nvSpPr>
            <p:spPr>
              <a:xfrm>
                <a:off x="3612718" y="3787183"/>
                <a:ext cx="582086" cy="582084"/>
              </a:xfrm>
              <a:prstGeom prst="ellipse">
                <a:avLst/>
              </a:prstGeom>
              <a:solidFill>
                <a:schemeClr val="lt1"/>
              </a:solidFill>
              <a:ln w="19050" cap="flat" cmpd="sng">
                <a:solidFill>
                  <a:schemeClr val="accen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nvGrpSpPr>
              <p:cNvPr id="10244" name="Google Shape;10372;p69">
                <a:extLst>
                  <a:ext uri="{FF2B5EF4-FFF2-40B4-BE49-F238E27FC236}">
                    <a16:creationId xmlns:a16="http://schemas.microsoft.com/office/drawing/2014/main" id="{BDAB2D75-A1C1-AF2C-0441-7F7C2D420763}"/>
                  </a:ext>
                </a:extLst>
              </p:cNvPr>
              <p:cNvGrpSpPr/>
              <p:nvPr/>
            </p:nvGrpSpPr>
            <p:grpSpPr>
              <a:xfrm>
                <a:off x="3710232" y="3877011"/>
                <a:ext cx="393228" cy="393228"/>
                <a:chOff x="3215733" y="1508956"/>
                <a:chExt cx="1141759" cy="1141759"/>
              </a:xfrm>
            </p:grpSpPr>
            <p:sp>
              <p:nvSpPr>
                <p:cNvPr id="10245" name="Google Shape;10373;p69">
                  <a:extLst>
                    <a:ext uri="{FF2B5EF4-FFF2-40B4-BE49-F238E27FC236}">
                      <a16:creationId xmlns:a16="http://schemas.microsoft.com/office/drawing/2014/main" id="{59B77778-80AF-6FB7-8673-2B68A8079A72}"/>
                    </a:ext>
                  </a:extLst>
                </p:cNvPr>
                <p:cNvSpPr/>
                <p:nvPr/>
              </p:nvSpPr>
              <p:spPr>
                <a:xfrm>
                  <a:off x="3215733" y="1508956"/>
                  <a:ext cx="1141759" cy="1141759"/>
                </a:xfrm>
                <a:custGeom>
                  <a:avLst/>
                  <a:gdLst/>
                  <a:ahLst/>
                  <a:cxnLst/>
                  <a:rect l="l" t="t" r="r" b="b"/>
                  <a:pathLst>
                    <a:path w="1141759" h="1141759" extrusionOk="0">
                      <a:moveTo>
                        <a:pt x="570880" y="30046"/>
                      </a:moveTo>
                      <a:cubicBezTo>
                        <a:pt x="869124" y="30046"/>
                        <a:pt x="1111713" y="272636"/>
                        <a:pt x="1111713" y="570880"/>
                      </a:cubicBezTo>
                      <a:cubicBezTo>
                        <a:pt x="1111713" y="869124"/>
                        <a:pt x="869124" y="1111713"/>
                        <a:pt x="570880" y="1111713"/>
                      </a:cubicBezTo>
                      <a:cubicBezTo>
                        <a:pt x="272636" y="1111713"/>
                        <a:pt x="30046" y="869124"/>
                        <a:pt x="30046" y="570880"/>
                      </a:cubicBezTo>
                      <a:cubicBezTo>
                        <a:pt x="30046" y="272636"/>
                        <a:pt x="272636" y="30046"/>
                        <a:pt x="570880" y="30046"/>
                      </a:cubicBezTo>
                      <a:moveTo>
                        <a:pt x="570880" y="0"/>
                      </a:moveTo>
                      <a:cubicBezTo>
                        <a:pt x="255625" y="0"/>
                        <a:pt x="0" y="255625"/>
                        <a:pt x="0" y="570880"/>
                      </a:cubicBezTo>
                      <a:cubicBezTo>
                        <a:pt x="0" y="886135"/>
                        <a:pt x="255625" y="1141760"/>
                        <a:pt x="570880" y="1141760"/>
                      </a:cubicBezTo>
                      <a:cubicBezTo>
                        <a:pt x="886135" y="1141760"/>
                        <a:pt x="1141760" y="886135"/>
                        <a:pt x="1141760" y="570880"/>
                      </a:cubicBezTo>
                      <a:cubicBezTo>
                        <a:pt x="1141760" y="255625"/>
                        <a:pt x="886135" y="0"/>
                        <a:pt x="570880" y="0"/>
                      </a:cubicBezTo>
                      <a:lnTo>
                        <a:pt x="570880" y="0"/>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nvGrpSpPr>
                <p:cNvPr id="10246" name="Google Shape;10374;p69">
                  <a:extLst>
                    <a:ext uri="{FF2B5EF4-FFF2-40B4-BE49-F238E27FC236}">
                      <a16:creationId xmlns:a16="http://schemas.microsoft.com/office/drawing/2014/main" id="{3AAF6988-2DB8-6ADA-0EFA-5E9DF474057C}"/>
                    </a:ext>
                  </a:extLst>
                </p:cNvPr>
                <p:cNvGrpSpPr/>
                <p:nvPr/>
              </p:nvGrpSpPr>
              <p:grpSpPr>
                <a:xfrm>
                  <a:off x="3332774" y="1635612"/>
                  <a:ext cx="907675" cy="888446"/>
                  <a:chOff x="3332774" y="1635612"/>
                  <a:chExt cx="907675" cy="888446"/>
                </a:xfrm>
              </p:grpSpPr>
              <p:sp>
                <p:nvSpPr>
                  <p:cNvPr id="10247" name="Google Shape;10375;p69">
                    <a:extLst>
                      <a:ext uri="{FF2B5EF4-FFF2-40B4-BE49-F238E27FC236}">
                        <a16:creationId xmlns:a16="http://schemas.microsoft.com/office/drawing/2014/main" id="{E6CC0665-F361-C8CC-B4F2-4F9B10D82B9F}"/>
                      </a:ext>
                    </a:extLst>
                  </p:cNvPr>
                  <p:cNvSpPr/>
                  <p:nvPr/>
                </p:nvSpPr>
                <p:spPr>
                  <a:xfrm>
                    <a:off x="3332774" y="1998941"/>
                    <a:ext cx="360555" cy="161787"/>
                  </a:xfrm>
                  <a:custGeom>
                    <a:avLst/>
                    <a:gdLst/>
                    <a:ahLst/>
                    <a:cxnLst/>
                    <a:rect l="l" t="t" r="r" b="b"/>
                    <a:pathLst>
                      <a:path w="360555" h="161787" extrusionOk="0">
                        <a:moveTo>
                          <a:pt x="220494" y="50848"/>
                        </a:moveTo>
                        <a:lnTo>
                          <a:pt x="0" y="50848"/>
                        </a:lnTo>
                        <a:lnTo>
                          <a:pt x="0" y="110940"/>
                        </a:lnTo>
                        <a:lnTo>
                          <a:pt x="220494" y="110940"/>
                        </a:lnTo>
                        <a:lnTo>
                          <a:pt x="220494" y="161788"/>
                        </a:lnTo>
                        <a:lnTo>
                          <a:pt x="360556" y="80894"/>
                        </a:lnTo>
                        <a:lnTo>
                          <a:pt x="220494" y="0"/>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248" name="Google Shape;10376;p69">
                    <a:extLst>
                      <a:ext uri="{FF2B5EF4-FFF2-40B4-BE49-F238E27FC236}">
                        <a16:creationId xmlns:a16="http://schemas.microsoft.com/office/drawing/2014/main" id="{4CBC6A9D-4537-AB9B-911A-DD56CE5F782C}"/>
                      </a:ext>
                    </a:extLst>
                  </p:cNvPr>
                  <p:cNvSpPr/>
                  <p:nvPr/>
                </p:nvSpPr>
                <p:spPr>
                  <a:xfrm>
                    <a:off x="3879894" y="1998941"/>
                    <a:ext cx="360555" cy="161787"/>
                  </a:xfrm>
                  <a:custGeom>
                    <a:avLst/>
                    <a:gdLst/>
                    <a:ahLst/>
                    <a:cxnLst/>
                    <a:rect l="l" t="t" r="r" b="b"/>
                    <a:pathLst>
                      <a:path w="360555" h="161787" extrusionOk="0">
                        <a:moveTo>
                          <a:pt x="360556" y="50848"/>
                        </a:moveTo>
                        <a:lnTo>
                          <a:pt x="140062" y="50848"/>
                        </a:lnTo>
                        <a:lnTo>
                          <a:pt x="140062" y="0"/>
                        </a:lnTo>
                        <a:lnTo>
                          <a:pt x="0" y="80894"/>
                        </a:lnTo>
                        <a:lnTo>
                          <a:pt x="140062" y="161788"/>
                        </a:lnTo>
                        <a:lnTo>
                          <a:pt x="140062" y="110940"/>
                        </a:lnTo>
                        <a:lnTo>
                          <a:pt x="360556" y="110940"/>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249" name="Google Shape;10377;p69">
                    <a:extLst>
                      <a:ext uri="{FF2B5EF4-FFF2-40B4-BE49-F238E27FC236}">
                        <a16:creationId xmlns:a16="http://schemas.microsoft.com/office/drawing/2014/main" id="{A88754E3-D72E-B397-051E-C559687F2B87}"/>
                      </a:ext>
                    </a:extLst>
                  </p:cNvPr>
                  <p:cNvSpPr/>
                  <p:nvPr/>
                </p:nvSpPr>
                <p:spPr>
                  <a:xfrm>
                    <a:off x="3705718" y="1635612"/>
                    <a:ext cx="161787" cy="360555"/>
                  </a:xfrm>
                  <a:custGeom>
                    <a:avLst/>
                    <a:gdLst/>
                    <a:ahLst/>
                    <a:cxnLst/>
                    <a:rect l="l" t="t" r="r" b="b"/>
                    <a:pathLst>
                      <a:path w="161787" h="360555" extrusionOk="0">
                        <a:moveTo>
                          <a:pt x="0" y="140062"/>
                        </a:moveTo>
                        <a:lnTo>
                          <a:pt x="50848" y="140062"/>
                        </a:lnTo>
                        <a:lnTo>
                          <a:pt x="50848" y="360556"/>
                        </a:lnTo>
                        <a:lnTo>
                          <a:pt x="110940" y="360556"/>
                        </a:lnTo>
                        <a:lnTo>
                          <a:pt x="110940" y="140062"/>
                        </a:lnTo>
                        <a:lnTo>
                          <a:pt x="161788" y="140062"/>
                        </a:lnTo>
                        <a:lnTo>
                          <a:pt x="80894" y="0"/>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sp>
                <p:nvSpPr>
                  <p:cNvPr id="10250" name="Google Shape;10378;p69">
                    <a:extLst>
                      <a:ext uri="{FF2B5EF4-FFF2-40B4-BE49-F238E27FC236}">
                        <a16:creationId xmlns:a16="http://schemas.microsoft.com/office/drawing/2014/main" id="{B231BA62-F915-3D28-7798-920676056E54}"/>
                      </a:ext>
                    </a:extLst>
                  </p:cNvPr>
                  <p:cNvSpPr/>
                  <p:nvPr/>
                </p:nvSpPr>
                <p:spPr>
                  <a:xfrm>
                    <a:off x="3705718" y="2163503"/>
                    <a:ext cx="161787" cy="360555"/>
                  </a:xfrm>
                  <a:custGeom>
                    <a:avLst/>
                    <a:gdLst/>
                    <a:ahLst/>
                    <a:cxnLst/>
                    <a:rect l="l" t="t" r="r" b="b"/>
                    <a:pathLst>
                      <a:path w="161787" h="360555" extrusionOk="0">
                        <a:moveTo>
                          <a:pt x="110940" y="0"/>
                        </a:moveTo>
                        <a:lnTo>
                          <a:pt x="50848" y="0"/>
                        </a:lnTo>
                        <a:lnTo>
                          <a:pt x="50848" y="220494"/>
                        </a:lnTo>
                        <a:lnTo>
                          <a:pt x="0" y="220494"/>
                        </a:lnTo>
                        <a:lnTo>
                          <a:pt x="80894" y="360556"/>
                        </a:lnTo>
                        <a:lnTo>
                          <a:pt x="161788" y="220494"/>
                        </a:lnTo>
                        <a:lnTo>
                          <a:pt x="110940" y="220494"/>
                        </a:lnTo>
                        <a:close/>
                      </a:path>
                    </a:pathLst>
                  </a:custGeom>
                  <a:solidFill>
                    <a:schemeClr val="accen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717074"/>
                      </a:solidFill>
                      <a:effectLst/>
                      <a:uLnTx/>
                      <a:uFillTx/>
                      <a:latin typeface="Arial" panose="020B0604020202020204"/>
                      <a:ea typeface="Arial"/>
                      <a:cs typeface="Arial"/>
                      <a:sym typeface="Arial"/>
                    </a:endParaRPr>
                  </a:p>
                </p:txBody>
              </p:sp>
            </p:grpSp>
          </p:grpSp>
        </p:grpSp>
        <p:sp>
          <p:nvSpPr>
            <p:cNvPr id="10251" name="Google Shape;10356;p69">
              <a:extLst>
                <a:ext uri="{FF2B5EF4-FFF2-40B4-BE49-F238E27FC236}">
                  <a16:creationId xmlns:a16="http://schemas.microsoft.com/office/drawing/2014/main" id="{BC203A3C-E7B0-34E3-60D5-6842BA94FB47}"/>
                </a:ext>
              </a:extLst>
            </p:cNvPr>
            <p:cNvSpPr/>
            <p:nvPr/>
          </p:nvSpPr>
          <p:spPr>
            <a:xfrm>
              <a:off x="5273166" y="3714783"/>
              <a:ext cx="581934" cy="581932"/>
            </a:xfrm>
            <a:prstGeom prst="ellipse">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252" name="Google Shape;10341;p69">
              <a:extLst>
                <a:ext uri="{FF2B5EF4-FFF2-40B4-BE49-F238E27FC236}">
                  <a16:creationId xmlns:a16="http://schemas.microsoft.com/office/drawing/2014/main" id="{313EA2F3-1E3B-5849-4C95-416F36822287}"/>
                </a:ext>
              </a:extLst>
            </p:cNvPr>
            <p:cNvSpPr/>
            <p:nvPr/>
          </p:nvSpPr>
          <p:spPr>
            <a:xfrm>
              <a:off x="6076526" y="3714783"/>
              <a:ext cx="581934" cy="581932"/>
            </a:xfrm>
            <a:prstGeom prst="ellipse">
              <a:avLst/>
            </a:prstGeom>
            <a:solidFill>
              <a:schemeClr val="lt1"/>
            </a:solidFill>
            <a:ln w="19050" cap="flat" cmpd="sng">
              <a:solidFill>
                <a:schemeClr val="accent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00"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pic>
          <p:nvPicPr>
            <p:cNvPr id="3" name="Graphic 2">
              <a:extLst>
                <a:ext uri="{FF2B5EF4-FFF2-40B4-BE49-F238E27FC236}">
                  <a16:creationId xmlns:a16="http://schemas.microsoft.com/office/drawing/2014/main" id="{16DDD572-099D-97FA-D38B-AEFA5EE948C4}"/>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5398546" y="3826218"/>
              <a:ext cx="332613" cy="357251"/>
            </a:xfrm>
            <a:prstGeom prst="rect">
              <a:avLst/>
            </a:prstGeom>
          </p:spPr>
        </p:pic>
        <p:pic>
          <p:nvPicPr>
            <p:cNvPr id="4" name="Graphic 3">
              <a:extLst>
                <a:ext uri="{FF2B5EF4-FFF2-40B4-BE49-F238E27FC236}">
                  <a16:creationId xmlns:a16="http://schemas.microsoft.com/office/drawing/2014/main" id="{B2A090A2-F883-1A28-DD80-2ADBDCDB8D19}"/>
                </a:ext>
              </a:extLst>
            </p:cNvPr>
            <p:cNvPicPr>
              <a:picLocks noChangeAspect="1"/>
            </p:cNvPicPr>
            <p:nvPr/>
          </p:nvPicPr>
          <p:blipFill>
            <a:blip>
              <a:extLst>
                <a:ext uri="{96DAC541-7B7A-43D3-8B79-37D633B846F1}">
                  <asvg:svgBlip xmlns:asvg="http://schemas.microsoft.com/office/drawing/2016/SVG/main" r:embed="rId4"/>
                </a:ext>
              </a:extLst>
            </a:blip>
            <a:srcRect/>
            <a:stretch/>
          </p:blipFill>
          <p:spPr>
            <a:xfrm>
              <a:off x="6209676" y="3827379"/>
              <a:ext cx="332613" cy="357251"/>
            </a:xfrm>
            <a:prstGeom prst="rect">
              <a:avLst/>
            </a:prstGeom>
          </p:spPr>
        </p:pic>
      </p:grpSp>
    </p:spTree>
    <p:extLst>
      <p:ext uri="{BB962C8B-B14F-4D97-AF65-F5344CB8AC3E}">
        <p14:creationId xmlns:p14="http://schemas.microsoft.com/office/powerpoint/2010/main" val="10155169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9E0CC5-62E1-B5FD-93A3-4EB037421657}"/>
            </a:ext>
          </a:extLst>
        </p:cNvPr>
        <p:cNvGrpSpPr/>
        <p:nvPr/>
      </p:nvGrpSpPr>
      <p:grpSpPr>
        <a:xfrm>
          <a:off x="0" y="0"/>
          <a:ext cx="0" cy="0"/>
          <a:chOff x="0" y="0"/>
          <a:chExt cx="0" cy="0"/>
        </a:xfrm>
      </p:grpSpPr>
      <p:grpSp>
        <p:nvGrpSpPr>
          <p:cNvPr id="102" name="g1">
            <a:extLst>
              <a:ext uri="{FF2B5EF4-FFF2-40B4-BE49-F238E27FC236}">
                <a16:creationId xmlns:a16="http://schemas.microsoft.com/office/drawing/2014/main" id="{1D1F1B08-1080-239F-81AE-B2EEC516A092}"/>
              </a:ext>
            </a:extLst>
          </p:cNvPr>
          <p:cNvGrpSpPr/>
          <p:nvPr/>
        </p:nvGrpSpPr>
        <p:grpSpPr>
          <a:xfrm>
            <a:off x="6801707" y="2159776"/>
            <a:ext cx="3030663" cy="457200"/>
            <a:chOff x="6801707" y="2190938"/>
            <a:chExt cx="3030663" cy="457200"/>
          </a:xfrm>
        </p:grpSpPr>
        <p:sp>
          <p:nvSpPr>
            <p:cNvPr id="97" name="Freeform: Shape 24">
              <a:extLst>
                <a:ext uri="{FF2B5EF4-FFF2-40B4-BE49-F238E27FC236}">
                  <a16:creationId xmlns:a16="http://schemas.microsoft.com/office/drawing/2014/main" id="{14D91B66-574C-CABD-D936-91B18A131E9A}"/>
                </a:ext>
              </a:extLst>
            </p:cNvPr>
            <p:cNvSpPr/>
            <p:nvPr/>
          </p:nvSpPr>
          <p:spPr>
            <a:xfrm flipH="1">
              <a:off x="6801707" y="2190938"/>
              <a:ext cx="3030663" cy="457200"/>
            </a:xfrm>
            <a:custGeom>
              <a:avLst/>
              <a:gdLst>
                <a:gd name="connsiteX0" fmla="*/ 0 w 3030663"/>
                <a:gd name="connsiteY0" fmla="*/ 0 h 457200"/>
                <a:gd name="connsiteX1" fmla="*/ 2520956 w 3030663"/>
                <a:gd name="connsiteY1" fmla="*/ 0 h 457200"/>
                <a:gd name="connsiteX2" fmla="*/ 2539224 w 3030663"/>
                <a:gd name="connsiteY2" fmla="*/ 0 h 457200"/>
                <a:gd name="connsiteX3" fmla="*/ 2856223 w 3030663"/>
                <a:gd name="connsiteY3" fmla="*/ 0 h 457200"/>
                <a:gd name="connsiteX4" fmla="*/ 2886476 w 3030663"/>
                <a:gd name="connsiteY4" fmla="*/ 15527 h 457200"/>
                <a:gd name="connsiteX5" fmla="*/ 3023732 w 3030663"/>
                <a:gd name="connsiteY5" fmla="*/ 207028 h 457200"/>
                <a:gd name="connsiteX6" fmla="*/ 3023732 w 3030663"/>
                <a:gd name="connsiteY6" fmla="*/ 250171 h 457200"/>
                <a:gd name="connsiteX7" fmla="*/ 2886476 w 3030663"/>
                <a:gd name="connsiteY7" fmla="*/ 441673 h 457200"/>
                <a:gd name="connsiteX8" fmla="*/ 2856223 w 3030663"/>
                <a:gd name="connsiteY8" fmla="*/ 457200 h 457200"/>
                <a:gd name="connsiteX9" fmla="*/ 2539224 w 3030663"/>
                <a:gd name="connsiteY9" fmla="*/ 457200 h 457200"/>
                <a:gd name="connsiteX10" fmla="*/ 2520956 w 3030663"/>
                <a:gd name="connsiteY10" fmla="*/ 457200 h 457200"/>
                <a:gd name="connsiteX11" fmla="*/ 0 w 3030663"/>
                <a:gd name="connsiteY11"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0663" h="457200">
                  <a:moveTo>
                    <a:pt x="0" y="0"/>
                  </a:moveTo>
                  <a:lnTo>
                    <a:pt x="2520956" y="0"/>
                  </a:lnTo>
                  <a:lnTo>
                    <a:pt x="2539224" y="0"/>
                  </a:lnTo>
                  <a:lnTo>
                    <a:pt x="2856223" y="0"/>
                  </a:lnTo>
                  <a:cubicBezTo>
                    <a:pt x="2868239" y="0"/>
                    <a:pt x="2879509" y="5778"/>
                    <a:pt x="2886476" y="15527"/>
                  </a:cubicBezTo>
                  <a:lnTo>
                    <a:pt x="3023732" y="207028"/>
                  </a:lnTo>
                  <a:cubicBezTo>
                    <a:pt x="3032974" y="219932"/>
                    <a:pt x="3032974" y="237268"/>
                    <a:pt x="3023732" y="250171"/>
                  </a:cubicBezTo>
                  <a:lnTo>
                    <a:pt x="2886476" y="441673"/>
                  </a:lnTo>
                  <a:cubicBezTo>
                    <a:pt x="2879509" y="451421"/>
                    <a:pt x="2868204" y="457200"/>
                    <a:pt x="2856223" y="457200"/>
                  </a:cubicBezTo>
                  <a:lnTo>
                    <a:pt x="2539224" y="457200"/>
                  </a:lnTo>
                  <a:lnTo>
                    <a:pt x="2520956" y="457200"/>
                  </a:lnTo>
                  <a:lnTo>
                    <a:pt x="0" y="457200"/>
                  </a:lnTo>
                  <a:close/>
                </a:path>
              </a:pathLst>
            </a:custGeom>
            <a:gradFill>
              <a:gsLst>
                <a:gs pos="0">
                  <a:schemeClr val="bg2">
                    <a:lumMod val="90000"/>
                  </a:schemeClr>
                </a:gs>
                <a:gs pos="100000">
                  <a:schemeClr val="bg2">
                    <a:lumMod val="90000"/>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 name="Striped Right Arrow 225">
              <a:extLst>
                <a:ext uri="{FF2B5EF4-FFF2-40B4-BE49-F238E27FC236}">
                  <a16:creationId xmlns:a16="http://schemas.microsoft.com/office/drawing/2014/main" id="{BBCCC58F-916E-0138-1E96-A989354CD120}"/>
                </a:ext>
              </a:extLst>
            </p:cNvPr>
            <p:cNvSpPr/>
            <p:nvPr/>
          </p:nvSpPr>
          <p:spPr>
            <a:xfrm flipH="1">
              <a:off x="7209211" y="2233918"/>
              <a:ext cx="2368967" cy="36917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Vendor #1 configuration/API</a:t>
              </a:r>
            </a:p>
          </p:txBody>
        </p:sp>
        <p:sp>
          <p:nvSpPr>
            <p:cNvPr id="99" name="Graphic 6096">
              <a:extLst>
                <a:ext uri="{FF2B5EF4-FFF2-40B4-BE49-F238E27FC236}">
                  <a16:creationId xmlns:a16="http://schemas.microsoft.com/office/drawing/2014/main" id="{A57D7A59-00B0-D57F-71F6-63E796F066A0}"/>
                </a:ext>
              </a:extLst>
            </p:cNvPr>
            <p:cNvSpPr/>
            <p:nvPr/>
          </p:nvSpPr>
          <p:spPr>
            <a:xfrm flipH="1">
              <a:off x="6816283" y="2234303"/>
              <a:ext cx="258311" cy="370470"/>
            </a:xfrm>
            <a:custGeom>
              <a:avLst/>
              <a:gdLst>
                <a:gd name="connsiteX0" fmla="*/ 0 w 469820"/>
                <a:gd name="connsiteY0" fmla="*/ 675704 h 675703"/>
                <a:gd name="connsiteX1" fmla="*/ 210503 w 469820"/>
                <a:gd name="connsiteY1" fmla="*/ 675704 h 675703"/>
                <a:gd name="connsiteX2" fmla="*/ 258699 w 469820"/>
                <a:gd name="connsiteY2" fmla="*/ 650843 h 675703"/>
                <a:gd name="connsiteX3" fmla="*/ 459962 w 469820"/>
                <a:gd name="connsiteY3" fmla="*/ 368713 h 675703"/>
                <a:gd name="connsiteX4" fmla="*/ 459962 w 469820"/>
                <a:gd name="connsiteY4" fmla="*/ 306896 h 675703"/>
                <a:gd name="connsiteX5" fmla="*/ 260033 w 469820"/>
                <a:gd name="connsiteY5" fmla="*/ 26670 h 675703"/>
                <a:gd name="connsiteX6" fmla="*/ 208217 w 469820"/>
                <a:gd name="connsiteY6" fmla="*/ 0 h 675703"/>
                <a:gd name="connsiteX7" fmla="*/ 0 w 469820"/>
                <a:gd name="connsiteY7" fmla="*/ 0 h 675703"/>
                <a:gd name="connsiteX8" fmla="*/ 223266 w 469820"/>
                <a:gd name="connsiteY8" fmla="*/ 312992 h 675703"/>
                <a:gd name="connsiteX9" fmla="*/ 223266 w 469820"/>
                <a:gd name="connsiteY9" fmla="*/ 362712 h 675703"/>
                <a:gd name="connsiteX10" fmla="*/ 0 w 469820"/>
                <a:gd name="connsiteY10" fmla="*/ 675704 h 675703"/>
                <a:gd name="connsiteX11" fmla="*/ 0 w 469820"/>
                <a:gd name="connsiteY11" fmla="*/ 675704 h 6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20" h="675703">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401" tIns="45688" rIns="91401"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Tx/>
                <a:buNone/>
                <a:tabLst/>
                <a:defRPr/>
              </a:pPr>
              <a:endParaRPr kumimoji="0" lang="en-US" sz="1200" b="0" i="0" u="none" strike="noStrike" kern="1200" cap="none" spc="0" normalizeH="0" baseline="0" noProof="0" dirty="0">
                <a:ln>
                  <a:noFill/>
                </a:ln>
                <a:solidFill>
                  <a:srgbClr val="3C3C3C"/>
                </a:solidFill>
                <a:effectLst/>
                <a:uLnTx/>
                <a:uFillTx/>
                <a:latin typeface="Arial" panose="020B0604020202020204"/>
                <a:ea typeface="+mn-ea"/>
                <a:cs typeface="Arial"/>
              </a:endParaRPr>
            </a:p>
          </p:txBody>
        </p:sp>
      </p:grpSp>
      <p:sp>
        <p:nvSpPr>
          <p:cNvPr id="3" name="!!BOTTOM">
            <a:extLst>
              <a:ext uri="{FF2B5EF4-FFF2-40B4-BE49-F238E27FC236}">
                <a16:creationId xmlns:a16="http://schemas.microsoft.com/office/drawing/2014/main" id="{144AB5F9-FD03-828B-B3F6-569204A6A917}"/>
              </a:ext>
            </a:extLst>
          </p:cNvPr>
          <p:cNvSpPr/>
          <p:nvPr/>
        </p:nvSpPr>
        <p:spPr>
          <a:xfrm rot="10800000" flipV="1">
            <a:off x="627405" y="1600200"/>
            <a:ext cx="5924208" cy="2071149"/>
          </a:xfrm>
          <a:prstGeom prst="round2SameRect">
            <a:avLst>
              <a:gd name="adj1" fmla="val 7233"/>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4" name="!!TOP">
            <a:extLst>
              <a:ext uri="{FF2B5EF4-FFF2-40B4-BE49-F238E27FC236}">
                <a16:creationId xmlns:a16="http://schemas.microsoft.com/office/drawing/2014/main" id="{542BE31C-FDDE-7E15-2EAC-B3E82AAD0F7A}"/>
              </a:ext>
            </a:extLst>
          </p:cNvPr>
          <p:cNvSpPr/>
          <p:nvPr/>
        </p:nvSpPr>
        <p:spPr>
          <a:xfrm flipV="1">
            <a:off x="627406" y="3886200"/>
            <a:ext cx="5924207" cy="2285996"/>
          </a:xfrm>
          <a:prstGeom prst="round2SameRect">
            <a:avLst>
              <a:gd name="adj1" fmla="val 72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grpSp>
        <p:nvGrpSpPr>
          <p:cNvPr id="5" name="Group 4">
            <a:extLst>
              <a:ext uri="{FF2B5EF4-FFF2-40B4-BE49-F238E27FC236}">
                <a16:creationId xmlns:a16="http://schemas.microsoft.com/office/drawing/2014/main" id="{A6B51BEC-FD5A-70FD-5DA1-435CBB0D55A3}"/>
              </a:ext>
            </a:extLst>
          </p:cNvPr>
          <p:cNvGrpSpPr/>
          <p:nvPr/>
        </p:nvGrpSpPr>
        <p:grpSpPr>
          <a:xfrm>
            <a:off x="2292252" y="2515495"/>
            <a:ext cx="1203522" cy="543290"/>
            <a:chOff x="2247375" y="4148923"/>
            <a:chExt cx="1203522" cy="543290"/>
          </a:xfrm>
        </p:grpSpPr>
        <p:sp>
          <p:nvSpPr>
            <p:cNvPr id="6" name="Rectangle: Rounded Corners 5">
              <a:extLst>
                <a:ext uri="{FF2B5EF4-FFF2-40B4-BE49-F238E27FC236}">
                  <a16:creationId xmlns:a16="http://schemas.microsoft.com/office/drawing/2014/main" id="{F440273F-040A-684D-B5A9-A2F833BDEDFA}"/>
                </a:ext>
              </a:extLst>
            </p:cNvPr>
            <p:cNvSpPr>
              <a:spLocks noChangeAspect="1"/>
            </p:cNvSpPr>
            <p:nvPr/>
          </p:nvSpPr>
          <p:spPr>
            <a:xfrm>
              <a:off x="2247375" y="4148923"/>
              <a:ext cx="1203522" cy="543290"/>
            </a:xfrm>
            <a:prstGeom prst="roundRect">
              <a:avLst>
                <a:gd name="adj" fmla="val 10033"/>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Graphic 9">
              <a:extLst>
                <a:ext uri="{FF2B5EF4-FFF2-40B4-BE49-F238E27FC236}">
                  <a16:creationId xmlns:a16="http://schemas.microsoft.com/office/drawing/2014/main" id="{B2AACACE-D034-A4BE-54E2-8E0D629E1898}"/>
                </a:ext>
              </a:extLst>
            </p:cNvPr>
            <p:cNvSpPr>
              <a:spLocks noChangeAspect="1"/>
            </p:cNvSpPr>
            <p:nvPr/>
          </p:nvSpPr>
          <p:spPr>
            <a:xfrm>
              <a:off x="2481912"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6E6D7032-DC62-F166-41BB-BEB3BA64D322}"/>
              </a:ext>
            </a:extLst>
          </p:cNvPr>
          <p:cNvGrpSpPr/>
          <p:nvPr/>
        </p:nvGrpSpPr>
        <p:grpSpPr>
          <a:xfrm>
            <a:off x="826995" y="2514600"/>
            <a:ext cx="1200052" cy="545078"/>
            <a:chOff x="782118" y="4148028"/>
            <a:chExt cx="1200052" cy="545078"/>
          </a:xfrm>
        </p:grpSpPr>
        <p:sp>
          <p:nvSpPr>
            <p:cNvPr id="9" name="Rectangle: Rounded Corners 8">
              <a:extLst>
                <a:ext uri="{FF2B5EF4-FFF2-40B4-BE49-F238E27FC236}">
                  <a16:creationId xmlns:a16="http://schemas.microsoft.com/office/drawing/2014/main" id="{9F71FE2D-B1A4-3788-C8B8-2A6A8FC1B619}"/>
                </a:ext>
              </a:extLst>
            </p:cNvPr>
            <p:cNvSpPr>
              <a:spLocks noChangeAspect="1"/>
            </p:cNvSpPr>
            <p:nvPr/>
          </p:nvSpPr>
          <p:spPr>
            <a:xfrm>
              <a:off x="782118" y="4148028"/>
              <a:ext cx="1200052"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Graphic 9">
              <a:extLst>
                <a:ext uri="{FF2B5EF4-FFF2-40B4-BE49-F238E27FC236}">
                  <a16:creationId xmlns:a16="http://schemas.microsoft.com/office/drawing/2014/main" id="{1537EFEE-981B-107A-C846-A196EB869DBF}"/>
                </a:ext>
              </a:extLst>
            </p:cNvPr>
            <p:cNvSpPr>
              <a:spLocks noChangeAspect="1"/>
            </p:cNvSpPr>
            <p:nvPr/>
          </p:nvSpPr>
          <p:spPr>
            <a:xfrm>
              <a:off x="1014920"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1" name="Group 10">
            <a:extLst>
              <a:ext uri="{FF2B5EF4-FFF2-40B4-BE49-F238E27FC236}">
                <a16:creationId xmlns:a16="http://schemas.microsoft.com/office/drawing/2014/main" id="{0D7CE463-509E-42E4-17D0-1D6670B25401}"/>
              </a:ext>
            </a:extLst>
          </p:cNvPr>
          <p:cNvGrpSpPr/>
          <p:nvPr/>
        </p:nvGrpSpPr>
        <p:grpSpPr>
          <a:xfrm>
            <a:off x="5228818" y="2514600"/>
            <a:ext cx="1202590" cy="545078"/>
            <a:chOff x="5183941" y="4148028"/>
            <a:chExt cx="1202590" cy="545078"/>
          </a:xfrm>
        </p:grpSpPr>
        <p:sp>
          <p:nvSpPr>
            <p:cNvPr id="12" name="Rectangle: Rounded Corners 25">
              <a:extLst>
                <a:ext uri="{FF2B5EF4-FFF2-40B4-BE49-F238E27FC236}">
                  <a16:creationId xmlns:a16="http://schemas.microsoft.com/office/drawing/2014/main" id="{19FAAC35-6D41-DA35-66CA-A073CAC7F299}"/>
                </a:ext>
              </a:extLst>
            </p:cNvPr>
            <p:cNvSpPr>
              <a:spLocks noChangeAspect="1"/>
            </p:cNvSpPr>
            <p:nvPr/>
          </p:nvSpPr>
          <p:spPr>
            <a:xfrm>
              <a:off x="5183941" y="4148028"/>
              <a:ext cx="1202590"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 name="Graphic 9">
              <a:extLst>
                <a:ext uri="{FF2B5EF4-FFF2-40B4-BE49-F238E27FC236}">
                  <a16:creationId xmlns:a16="http://schemas.microsoft.com/office/drawing/2014/main" id="{EE8ABD51-E4F1-32BB-2333-4A17F9C2AA79}"/>
                </a:ext>
              </a:extLst>
            </p:cNvPr>
            <p:cNvSpPr>
              <a:spLocks noChangeAspect="1"/>
            </p:cNvSpPr>
            <p:nvPr/>
          </p:nvSpPr>
          <p:spPr>
            <a:xfrm>
              <a:off x="5418012"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4" name="Group 13">
            <a:extLst>
              <a:ext uri="{FF2B5EF4-FFF2-40B4-BE49-F238E27FC236}">
                <a16:creationId xmlns:a16="http://schemas.microsoft.com/office/drawing/2014/main" id="{8F08238C-9DAA-2D17-C7F5-108D8108E1F2}"/>
              </a:ext>
            </a:extLst>
          </p:cNvPr>
          <p:cNvGrpSpPr/>
          <p:nvPr/>
        </p:nvGrpSpPr>
        <p:grpSpPr>
          <a:xfrm>
            <a:off x="3761005" y="2514600"/>
            <a:ext cx="1202590" cy="545078"/>
            <a:chOff x="3716128" y="4148028"/>
            <a:chExt cx="1202590" cy="545078"/>
          </a:xfrm>
        </p:grpSpPr>
        <p:sp>
          <p:nvSpPr>
            <p:cNvPr id="15" name="Rectangle: Rounded Corners 28">
              <a:extLst>
                <a:ext uri="{FF2B5EF4-FFF2-40B4-BE49-F238E27FC236}">
                  <a16:creationId xmlns:a16="http://schemas.microsoft.com/office/drawing/2014/main" id="{3463F0DF-FF9E-6B8D-2AAF-969ADF219BAE}"/>
                </a:ext>
              </a:extLst>
            </p:cNvPr>
            <p:cNvSpPr>
              <a:spLocks noChangeAspect="1"/>
            </p:cNvSpPr>
            <p:nvPr/>
          </p:nvSpPr>
          <p:spPr>
            <a:xfrm>
              <a:off x="3716128" y="4148028"/>
              <a:ext cx="1202590"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Graphic 9">
              <a:extLst>
                <a:ext uri="{FF2B5EF4-FFF2-40B4-BE49-F238E27FC236}">
                  <a16:creationId xmlns:a16="http://schemas.microsoft.com/office/drawing/2014/main" id="{68CDE4D3-CDBC-C80E-D95A-3A6F821052D2}"/>
                </a:ext>
              </a:extLst>
            </p:cNvPr>
            <p:cNvSpPr>
              <a:spLocks noChangeAspect="1"/>
            </p:cNvSpPr>
            <p:nvPr/>
          </p:nvSpPr>
          <p:spPr>
            <a:xfrm>
              <a:off x="3950199"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
        <p:nvSpPr>
          <p:cNvPr id="43" name="Rectangle: Rounded Corners 42">
            <a:extLst>
              <a:ext uri="{FF2B5EF4-FFF2-40B4-BE49-F238E27FC236}">
                <a16:creationId xmlns:a16="http://schemas.microsoft.com/office/drawing/2014/main" id="{BD31CDA8-A31F-FD72-05DA-C9CC4A4C6218}"/>
              </a:ext>
            </a:extLst>
          </p:cNvPr>
          <p:cNvSpPr/>
          <p:nvPr/>
        </p:nvSpPr>
        <p:spPr>
          <a:xfrm>
            <a:off x="1068209" y="4335490"/>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09" name="Title 108">
            <a:extLst>
              <a:ext uri="{FF2B5EF4-FFF2-40B4-BE49-F238E27FC236}">
                <a16:creationId xmlns:a16="http://schemas.microsoft.com/office/drawing/2014/main" id="{CB185129-0704-BC2A-828E-729EFCAE10D1}"/>
              </a:ext>
            </a:extLst>
          </p:cNvPr>
          <p:cNvSpPr>
            <a:spLocks noGrp="1"/>
          </p:cNvSpPr>
          <p:nvPr>
            <p:ph type="title"/>
          </p:nvPr>
        </p:nvSpPr>
        <p:spPr/>
        <p:txBody>
          <a:bodyPr/>
          <a:lstStyle/>
          <a:p>
            <a:r>
              <a:rPr lang="en-US" dirty="0">
                <a:latin typeface="+mn-lt"/>
              </a:rPr>
              <a:t>VCF with Physical Networking</a:t>
            </a:r>
          </a:p>
        </p:txBody>
      </p:sp>
      <p:sp>
        <p:nvSpPr>
          <p:cNvPr id="82" name="Subtitle 81">
            <a:extLst>
              <a:ext uri="{FF2B5EF4-FFF2-40B4-BE49-F238E27FC236}">
                <a16:creationId xmlns:a16="http://schemas.microsoft.com/office/drawing/2014/main" id="{284A53C7-566E-7004-9B0E-73B675D47A09}"/>
              </a:ext>
            </a:extLst>
          </p:cNvPr>
          <p:cNvSpPr>
            <a:spLocks noGrp="1"/>
          </p:cNvSpPr>
          <p:nvPr>
            <p:ph type="subTitle" idx="10"/>
          </p:nvPr>
        </p:nvSpPr>
        <p:spPr/>
        <p:txBody>
          <a:bodyPr/>
          <a:lstStyle/>
          <a:p>
            <a:endParaRPr lang="en-US" dirty="0"/>
          </a:p>
        </p:txBody>
      </p:sp>
      <p:sp>
        <p:nvSpPr>
          <p:cNvPr id="88" name="Rectangle: Rounded Corners 42">
            <a:extLst>
              <a:ext uri="{FF2B5EF4-FFF2-40B4-BE49-F238E27FC236}">
                <a16:creationId xmlns:a16="http://schemas.microsoft.com/office/drawing/2014/main" id="{6DE9EB56-BD97-1252-B520-E94FD2D0F48A}"/>
              </a:ext>
            </a:extLst>
          </p:cNvPr>
          <p:cNvSpPr/>
          <p:nvPr/>
        </p:nvSpPr>
        <p:spPr>
          <a:xfrm>
            <a:off x="2884734" y="4326211"/>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89" name="Rectangle: Rounded Corners 42">
            <a:extLst>
              <a:ext uri="{FF2B5EF4-FFF2-40B4-BE49-F238E27FC236}">
                <a16:creationId xmlns:a16="http://schemas.microsoft.com/office/drawing/2014/main" id="{561C7AAD-F1DE-A1E7-04CA-5C3192AB12FA}"/>
              </a:ext>
            </a:extLst>
          </p:cNvPr>
          <p:cNvSpPr/>
          <p:nvPr/>
        </p:nvSpPr>
        <p:spPr>
          <a:xfrm>
            <a:off x="4713534" y="4324492"/>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91" name="Rectangle 90">
            <a:extLst>
              <a:ext uri="{FF2B5EF4-FFF2-40B4-BE49-F238E27FC236}">
                <a16:creationId xmlns:a16="http://schemas.microsoft.com/office/drawing/2014/main" id="{6E9EB999-DF97-A882-96DB-B251089F4EC7}"/>
              </a:ext>
            </a:extLst>
          </p:cNvPr>
          <p:cNvSpPr/>
          <p:nvPr/>
        </p:nvSpPr>
        <p:spPr>
          <a:xfrm>
            <a:off x="900108" y="5915991"/>
            <a:ext cx="5360611"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pic>
        <p:nvPicPr>
          <p:cNvPr id="92" name="Picture 91">
            <a:extLst>
              <a:ext uri="{FF2B5EF4-FFF2-40B4-BE49-F238E27FC236}">
                <a16:creationId xmlns:a16="http://schemas.microsoft.com/office/drawing/2014/main" id="{7BAC420A-CF69-F3FB-8900-F3FB7B610EF6}"/>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979613" y="5840173"/>
            <a:ext cx="348488" cy="295148"/>
          </a:xfrm>
          <a:prstGeom prst="rect">
            <a:avLst/>
          </a:prstGeom>
        </p:spPr>
      </p:pic>
      <p:sp>
        <p:nvSpPr>
          <p:cNvPr id="45" name="Content Placeholder 9">
            <a:extLst>
              <a:ext uri="{FF2B5EF4-FFF2-40B4-BE49-F238E27FC236}">
                <a16:creationId xmlns:a16="http://schemas.microsoft.com/office/drawing/2014/main" id="{035E2D23-32D8-8CB5-1395-10AEC47A51A3}"/>
              </a:ext>
            </a:extLst>
          </p:cNvPr>
          <p:cNvSpPr txBox="1">
            <a:spLocks/>
          </p:cNvSpPr>
          <p:nvPr/>
        </p:nvSpPr>
        <p:spPr>
          <a:xfrm>
            <a:off x="9855505" y="4971082"/>
            <a:ext cx="1764000"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Monitoring and Analytics</a:t>
            </a:r>
          </a:p>
        </p:txBody>
      </p:sp>
      <p:grpSp>
        <p:nvGrpSpPr>
          <p:cNvPr id="96" name="Group 95">
            <a:extLst>
              <a:ext uri="{FF2B5EF4-FFF2-40B4-BE49-F238E27FC236}">
                <a16:creationId xmlns:a16="http://schemas.microsoft.com/office/drawing/2014/main" id="{89B2CDFA-EBDA-BE36-DD71-F67DAE774532}"/>
              </a:ext>
            </a:extLst>
          </p:cNvPr>
          <p:cNvGrpSpPr/>
          <p:nvPr/>
        </p:nvGrpSpPr>
        <p:grpSpPr>
          <a:xfrm>
            <a:off x="9294813" y="3442318"/>
            <a:ext cx="2286000" cy="575945"/>
            <a:chOff x="9294813" y="2703803"/>
            <a:chExt cx="2286000" cy="575945"/>
          </a:xfrm>
        </p:grpSpPr>
        <p:sp>
          <p:nvSpPr>
            <p:cNvPr id="53" name="Rectangle: Rounded Corners 612">
              <a:extLst>
                <a:ext uri="{FF2B5EF4-FFF2-40B4-BE49-F238E27FC236}">
                  <a16:creationId xmlns:a16="http://schemas.microsoft.com/office/drawing/2014/main" id="{121DED75-92B3-4F40-D9FD-B96EF3B0A913}"/>
                </a:ext>
              </a:extLst>
            </p:cNvPr>
            <p:cNvSpPr/>
            <p:nvPr/>
          </p:nvSpPr>
          <p:spPr>
            <a:xfrm>
              <a:off x="9294813" y="2703803"/>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 name="Content Placeholder 9">
              <a:extLst>
                <a:ext uri="{FF2B5EF4-FFF2-40B4-BE49-F238E27FC236}">
                  <a16:creationId xmlns:a16="http://schemas.microsoft.com/office/drawing/2014/main" id="{8CF66B6E-02FE-3596-FC00-58108AA0C64B}"/>
                </a:ext>
              </a:extLst>
            </p:cNvPr>
            <p:cNvSpPr txBox="1">
              <a:spLocks/>
            </p:cNvSpPr>
            <p:nvPr/>
          </p:nvSpPr>
          <p:spPr>
            <a:xfrm>
              <a:off x="9922670" y="2890654"/>
              <a:ext cx="1620000"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Load Balancing</a:t>
              </a:r>
            </a:p>
          </p:txBody>
        </p:sp>
        <p:grpSp>
          <p:nvGrpSpPr>
            <p:cNvPr id="55" name="Group 54">
              <a:extLst>
                <a:ext uri="{FF2B5EF4-FFF2-40B4-BE49-F238E27FC236}">
                  <a16:creationId xmlns:a16="http://schemas.microsoft.com/office/drawing/2014/main" id="{361768FB-A4AA-5C6E-2241-F6E2E7E194FC}"/>
                </a:ext>
              </a:extLst>
            </p:cNvPr>
            <p:cNvGrpSpPr>
              <a:grpSpLocks noChangeAspect="1"/>
            </p:cNvGrpSpPr>
            <p:nvPr/>
          </p:nvGrpSpPr>
          <p:grpSpPr>
            <a:xfrm>
              <a:off x="9345407" y="2763175"/>
              <a:ext cx="461084" cy="457200"/>
              <a:chOff x="6306684" y="2484407"/>
              <a:chExt cx="902850" cy="902850"/>
            </a:xfrm>
          </p:grpSpPr>
          <p:sp>
            <p:nvSpPr>
              <p:cNvPr id="56" name="Oval 25">
                <a:extLst>
                  <a:ext uri="{FF2B5EF4-FFF2-40B4-BE49-F238E27FC236}">
                    <a16:creationId xmlns:a16="http://schemas.microsoft.com/office/drawing/2014/main" id="{A598607E-01A9-FBB3-5BBC-EA4238F7E496}"/>
                  </a:ext>
                </a:extLst>
              </p:cNvPr>
              <p:cNvSpPr>
                <a:spLocks noChangeAspect="1"/>
              </p:cNvSpPr>
              <p:nvPr/>
            </p:nvSpPr>
            <p:spPr bwMode="gray">
              <a:xfrm>
                <a:off x="6306684" y="2484407"/>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Graphic 62">
                <a:extLst>
                  <a:ext uri="{FF2B5EF4-FFF2-40B4-BE49-F238E27FC236}">
                    <a16:creationId xmlns:a16="http://schemas.microsoft.com/office/drawing/2014/main" id="{0F234F47-019E-B6B1-5452-A99E22A89597}"/>
                  </a:ext>
                </a:extLst>
              </p:cNvPr>
              <p:cNvSpPr/>
              <p:nvPr/>
            </p:nvSpPr>
            <p:spPr>
              <a:xfrm>
                <a:off x="6449156" y="2663422"/>
                <a:ext cx="537323" cy="537323"/>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90" name="Group 89">
            <a:extLst>
              <a:ext uri="{FF2B5EF4-FFF2-40B4-BE49-F238E27FC236}">
                <a16:creationId xmlns:a16="http://schemas.microsoft.com/office/drawing/2014/main" id="{D79BA256-DEDC-EAC8-58F0-A09817AFE73B}"/>
              </a:ext>
            </a:extLst>
          </p:cNvPr>
          <p:cNvGrpSpPr/>
          <p:nvPr/>
        </p:nvGrpSpPr>
        <p:grpSpPr>
          <a:xfrm>
            <a:off x="9294813" y="4113275"/>
            <a:ext cx="2334335" cy="575945"/>
            <a:chOff x="9294813" y="3364531"/>
            <a:chExt cx="2334335" cy="575945"/>
          </a:xfrm>
        </p:grpSpPr>
        <p:sp>
          <p:nvSpPr>
            <p:cNvPr id="58" name="Rectangle: Rounded Corners 623">
              <a:extLst>
                <a:ext uri="{FF2B5EF4-FFF2-40B4-BE49-F238E27FC236}">
                  <a16:creationId xmlns:a16="http://schemas.microsoft.com/office/drawing/2014/main" id="{0DA64004-4282-6F1A-EB9B-7AF55123A266}"/>
                </a:ext>
              </a:extLst>
            </p:cNvPr>
            <p:cNvSpPr/>
            <p:nvPr/>
          </p:nvSpPr>
          <p:spPr>
            <a:xfrm>
              <a:off x="9294813" y="3364531"/>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 name="Content Placeholder 9">
              <a:extLst>
                <a:ext uri="{FF2B5EF4-FFF2-40B4-BE49-F238E27FC236}">
                  <a16:creationId xmlns:a16="http://schemas.microsoft.com/office/drawing/2014/main" id="{EE8B4E27-CB87-578E-0506-0E1544A31CD3}"/>
                </a:ext>
              </a:extLst>
            </p:cNvPr>
            <p:cNvSpPr txBox="1">
              <a:spLocks/>
            </p:cNvSpPr>
            <p:nvPr/>
          </p:nvSpPr>
          <p:spPr>
            <a:xfrm>
              <a:off x="9860794" y="3551382"/>
              <a:ext cx="1768354"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Firewall, IDS/IPS, ATP</a:t>
              </a:r>
            </a:p>
          </p:txBody>
        </p:sp>
        <p:grpSp>
          <p:nvGrpSpPr>
            <p:cNvPr id="60" name="Group 59">
              <a:extLst>
                <a:ext uri="{FF2B5EF4-FFF2-40B4-BE49-F238E27FC236}">
                  <a16:creationId xmlns:a16="http://schemas.microsoft.com/office/drawing/2014/main" id="{EEE24F41-8183-4C82-D7BD-74F5E924370B}"/>
                </a:ext>
              </a:extLst>
            </p:cNvPr>
            <p:cNvGrpSpPr>
              <a:grpSpLocks noChangeAspect="1"/>
            </p:cNvGrpSpPr>
            <p:nvPr/>
          </p:nvGrpSpPr>
          <p:grpSpPr>
            <a:xfrm>
              <a:off x="9345406" y="3423904"/>
              <a:ext cx="461084" cy="457200"/>
              <a:chOff x="9206590" y="1111625"/>
              <a:chExt cx="902850" cy="902850"/>
            </a:xfrm>
          </p:grpSpPr>
          <p:sp>
            <p:nvSpPr>
              <p:cNvPr id="61" name="Oval 7">
                <a:extLst>
                  <a:ext uri="{FF2B5EF4-FFF2-40B4-BE49-F238E27FC236}">
                    <a16:creationId xmlns:a16="http://schemas.microsoft.com/office/drawing/2014/main" id="{95F8BBDF-E9DF-D5A4-D59B-8C1469BDE2A9}"/>
                  </a:ext>
                </a:extLst>
              </p:cNvPr>
              <p:cNvSpPr>
                <a:spLocks noChangeAspect="1"/>
              </p:cNvSpPr>
              <p:nvPr/>
            </p:nvSpPr>
            <p:spPr bwMode="gray">
              <a:xfrm>
                <a:off x="9206590" y="1111625"/>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62" name="Group 61">
                <a:extLst>
                  <a:ext uri="{FF2B5EF4-FFF2-40B4-BE49-F238E27FC236}">
                    <a16:creationId xmlns:a16="http://schemas.microsoft.com/office/drawing/2014/main" id="{15A605FC-A900-C768-B9DB-093417EF6FDB}"/>
                  </a:ext>
                </a:extLst>
              </p:cNvPr>
              <p:cNvGrpSpPr/>
              <p:nvPr/>
            </p:nvGrpSpPr>
            <p:grpSpPr>
              <a:xfrm>
                <a:off x="9370580" y="1353439"/>
                <a:ext cx="586735" cy="398365"/>
                <a:chOff x="9370580" y="1353439"/>
                <a:chExt cx="586735" cy="398365"/>
              </a:xfrm>
            </p:grpSpPr>
            <p:sp>
              <p:nvSpPr>
                <p:cNvPr id="63" name="Freeform: Shape 214">
                  <a:extLst>
                    <a:ext uri="{FF2B5EF4-FFF2-40B4-BE49-F238E27FC236}">
                      <a16:creationId xmlns:a16="http://schemas.microsoft.com/office/drawing/2014/main" id="{72219EA2-91EF-E357-7C53-B313BBC40373}"/>
                    </a:ext>
                  </a:extLst>
                </p:cNvPr>
                <p:cNvSpPr/>
                <p:nvPr/>
              </p:nvSpPr>
              <p:spPr>
                <a:xfrm>
                  <a:off x="9845237" y="1465737"/>
                  <a:ext cx="112078" cy="82722"/>
                </a:xfrm>
                <a:custGeom>
                  <a:avLst/>
                  <a:gdLst>
                    <a:gd name="connsiteX0" fmla="*/ 6046 w 112078"/>
                    <a:gd name="connsiteY0" fmla="*/ 0 h 82722"/>
                    <a:gd name="connsiteX1" fmla="*/ 106032 w 112078"/>
                    <a:gd name="connsiteY1" fmla="*/ 0 h 82722"/>
                    <a:gd name="connsiteX2" fmla="*/ 112079 w 112078"/>
                    <a:gd name="connsiteY2" fmla="*/ 6046 h 82722"/>
                    <a:gd name="connsiteX3" fmla="*/ 112079 w 112078"/>
                    <a:gd name="connsiteY3" fmla="*/ 76676 h 82722"/>
                    <a:gd name="connsiteX4" fmla="*/ 106032 w 112078"/>
                    <a:gd name="connsiteY4" fmla="*/ 82723 h 82722"/>
                    <a:gd name="connsiteX5" fmla="*/ 6046 w 112078"/>
                    <a:gd name="connsiteY5" fmla="*/ 82723 h 82722"/>
                    <a:gd name="connsiteX6" fmla="*/ 0 w 112078"/>
                    <a:gd name="connsiteY6" fmla="*/ 76676 h 82722"/>
                    <a:gd name="connsiteX7" fmla="*/ 0 w 112078"/>
                    <a:gd name="connsiteY7" fmla="*/ 6046 h 82722"/>
                    <a:gd name="connsiteX8" fmla="*/ 6046 w 112078"/>
                    <a:gd name="connsiteY8" fmla="*/ 0 h 82722"/>
                    <a:gd name="connsiteX9" fmla="*/ 6046 w 112078"/>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078" h="82722">
                      <a:moveTo>
                        <a:pt x="6046" y="0"/>
                      </a:moveTo>
                      <a:lnTo>
                        <a:pt x="106032" y="0"/>
                      </a:lnTo>
                      <a:cubicBezTo>
                        <a:pt x="109362" y="0"/>
                        <a:pt x="112079" y="3330"/>
                        <a:pt x="112079" y="6046"/>
                      </a:cubicBezTo>
                      <a:lnTo>
                        <a:pt x="112079" y="76676"/>
                      </a:lnTo>
                      <a:cubicBezTo>
                        <a:pt x="112079" y="80006"/>
                        <a:pt x="109362" y="82723"/>
                        <a:pt x="106032" y="82723"/>
                      </a:cubicBezTo>
                      <a:lnTo>
                        <a:pt x="6046" y="82723"/>
                      </a:lnTo>
                      <a:cubicBezTo>
                        <a:pt x="2717" y="82723"/>
                        <a:pt x="0" y="79393"/>
                        <a:pt x="0" y="76676"/>
                      </a:cubicBezTo>
                      <a:lnTo>
                        <a:pt x="0" y="6046"/>
                      </a:lnTo>
                      <a:cubicBezTo>
                        <a:pt x="0" y="2717"/>
                        <a:pt x="2717" y="0"/>
                        <a:pt x="6046" y="0"/>
                      </a:cubicBezTo>
                      <a:lnTo>
                        <a:pt x="6046"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4" name="Freeform: Shape 215">
                  <a:extLst>
                    <a:ext uri="{FF2B5EF4-FFF2-40B4-BE49-F238E27FC236}">
                      <a16:creationId xmlns:a16="http://schemas.microsoft.com/office/drawing/2014/main" id="{5B995331-231F-DF71-4110-4F9AB959666F}"/>
                    </a:ext>
                  </a:extLst>
                </p:cNvPr>
                <p:cNvSpPr/>
                <p:nvPr/>
              </p:nvSpPr>
              <p:spPr>
                <a:xfrm>
                  <a:off x="9845237" y="1669082"/>
                  <a:ext cx="112078" cy="82722"/>
                </a:xfrm>
                <a:custGeom>
                  <a:avLst/>
                  <a:gdLst>
                    <a:gd name="connsiteX0" fmla="*/ 6046 w 112078"/>
                    <a:gd name="connsiteY0" fmla="*/ 0 h 82722"/>
                    <a:gd name="connsiteX1" fmla="*/ 106032 w 112078"/>
                    <a:gd name="connsiteY1" fmla="*/ 0 h 82722"/>
                    <a:gd name="connsiteX2" fmla="*/ 112079 w 112078"/>
                    <a:gd name="connsiteY2" fmla="*/ 6046 h 82722"/>
                    <a:gd name="connsiteX3" fmla="*/ 112079 w 112078"/>
                    <a:gd name="connsiteY3" fmla="*/ 76676 h 82722"/>
                    <a:gd name="connsiteX4" fmla="*/ 106032 w 112078"/>
                    <a:gd name="connsiteY4" fmla="*/ 82723 h 82722"/>
                    <a:gd name="connsiteX5" fmla="*/ 6046 w 112078"/>
                    <a:gd name="connsiteY5" fmla="*/ 82723 h 82722"/>
                    <a:gd name="connsiteX6" fmla="*/ 0 w 112078"/>
                    <a:gd name="connsiteY6" fmla="*/ 76676 h 82722"/>
                    <a:gd name="connsiteX7" fmla="*/ 0 w 112078"/>
                    <a:gd name="connsiteY7" fmla="*/ 6046 h 82722"/>
                    <a:gd name="connsiteX8" fmla="*/ 6046 w 112078"/>
                    <a:gd name="connsiteY8" fmla="*/ 0 h 82722"/>
                    <a:gd name="connsiteX9" fmla="*/ 6046 w 112078"/>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078" h="82722">
                      <a:moveTo>
                        <a:pt x="6046" y="0"/>
                      </a:moveTo>
                      <a:lnTo>
                        <a:pt x="106032" y="0"/>
                      </a:lnTo>
                      <a:cubicBezTo>
                        <a:pt x="109362" y="0"/>
                        <a:pt x="112079" y="3330"/>
                        <a:pt x="112079" y="6046"/>
                      </a:cubicBezTo>
                      <a:lnTo>
                        <a:pt x="112079" y="76676"/>
                      </a:lnTo>
                      <a:cubicBezTo>
                        <a:pt x="112079" y="80006"/>
                        <a:pt x="109362" y="82723"/>
                        <a:pt x="106032" y="82723"/>
                      </a:cubicBezTo>
                      <a:lnTo>
                        <a:pt x="6046" y="82723"/>
                      </a:lnTo>
                      <a:cubicBezTo>
                        <a:pt x="2717" y="82723"/>
                        <a:pt x="0" y="79393"/>
                        <a:pt x="0" y="76676"/>
                      </a:cubicBezTo>
                      <a:lnTo>
                        <a:pt x="0" y="6046"/>
                      </a:lnTo>
                      <a:cubicBezTo>
                        <a:pt x="0" y="2717"/>
                        <a:pt x="2717" y="0"/>
                        <a:pt x="6046" y="0"/>
                      </a:cubicBezTo>
                      <a:lnTo>
                        <a:pt x="6046"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5" name="Freeform: Shape 216">
                  <a:extLst>
                    <a:ext uri="{FF2B5EF4-FFF2-40B4-BE49-F238E27FC236}">
                      <a16:creationId xmlns:a16="http://schemas.microsoft.com/office/drawing/2014/main" id="{A7316E37-B8DF-6F8C-5EAC-EC33858E2CBC}"/>
                    </a:ext>
                  </a:extLst>
                </p:cNvPr>
                <p:cNvSpPr/>
                <p:nvPr/>
              </p:nvSpPr>
              <p:spPr>
                <a:xfrm>
                  <a:off x="9715281" y="1364086"/>
                  <a:ext cx="241990" cy="82722"/>
                </a:xfrm>
                <a:custGeom>
                  <a:avLst/>
                  <a:gdLst>
                    <a:gd name="connsiteX0" fmla="*/ 6046 w 241990"/>
                    <a:gd name="connsiteY0" fmla="*/ 0 h 82722"/>
                    <a:gd name="connsiteX1" fmla="*/ 235944 w 241990"/>
                    <a:gd name="connsiteY1" fmla="*/ 0 h 82722"/>
                    <a:gd name="connsiteX2" fmla="*/ 241990 w 241990"/>
                    <a:gd name="connsiteY2" fmla="*/ 6046 h 82722"/>
                    <a:gd name="connsiteX3" fmla="*/ 241990 w 241990"/>
                    <a:gd name="connsiteY3" fmla="*/ 76676 h 82722"/>
                    <a:gd name="connsiteX4" fmla="*/ 235944 w 241990"/>
                    <a:gd name="connsiteY4" fmla="*/ 82723 h 82722"/>
                    <a:gd name="connsiteX5" fmla="*/ 6046 w 241990"/>
                    <a:gd name="connsiteY5" fmla="*/ 82723 h 82722"/>
                    <a:gd name="connsiteX6" fmla="*/ 0 w 241990"/>
                    <a:gd name="connsiteY6" fmla="*/ 76676 h 82722"/>
                    <a:gd name="connsiteX7" fmla="*/ 0 w 241990"/>
                    <a:gd name="connsiteY7" fmla="*/ 6046 h 82722"/>
                    <a:gd name="connsiteX8" fmla="*/ 6046 w 241990"/>
                    <a:gd name="connsiteY8"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990" h="82722">
                      <a:moveTo>
                        <a:pt x="6046" y="0"/>
                      </a:moveTo>
                      <a:lnTo>
                        <a:pt x="235944" y="0"/>
                      </a:lnTo>
                      <a:cubicBezTo>
                        <a:pt x="239274" y="0"/>
                        <a:pt x="241990" y="3330"/>
                        <a:pt x="241990" y="6046"/>
                      </a:cubicBezTo>
                      <a:lnTo>
                        <a:pt x="241990" y="76676"/>
                      </a:lnTo>
                      <a:cubicBezTo>
                        <a:pt x="241990" y="80006"/>
                        <a:pt x="239274" y="82723"/>
                        <a:pt x="235944" y="82723"/>
                      </a:cubicBezTo>
                      <a:lnTo>
                        <a:pt x="6046" y="82723"/>
                      </a:lnTo>
                      <a:cubicBezTo>
                        <a:pt x="2717" y="82723"/>
                        <a:pt x="0" y="79393"/>
                        <a:pt x="0" y="76676"/>
                      </a:cubicBezTo>
                      <a:lnTo>
                        <a:pt x="0" y="6046"/>
                      </a:lnTo>
                      <a:cubicBezTo>
                        <a:pt x="0" y="2717"/>
                        <a:pt x="2717" y="0"/>
                        <a:pt x="6046" y="0"/>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6" name="Freeform: Shape 217">
                  <a:extLst>
                    <a:ext uri="{FF2B5EF4-FFF2-40B4-BE49-F238E27FC236}">
                      <a16:creationId xmlns:a16="http://schemas.microsoft.com/office/drawing/2014/main" id="{10D4F704-DCB9-FA04-8956-1BC44B0D1945}"/>
                    </a:ext>
                  </a:extLst>
                </p:cNvPr>
                <p:cNvSpPr/>
                <p:nvPr/>
              </p:nvSpPr>
              <p:spPr>
                <a:xfrm>
                  <a:off x="9370580" y="1353439"/>
                  <a:ext cx="351959" cy="398278"/>
                </a:xfrm>
                <a:custGeom>
                  <a:avLst/>
                  <a:gdLst>
                    <a:gd name="connsiteX0" fmla="*/ 351756 w 351959"/>
                    <a:gd name="connsiteY0" fmla="*/ 243086 h 398278"/>
                    <a:gd name="connsiteX1" fmla="*/ 351668 w 351959"/>
                    <a:gd name="connsiteY1" fmla="*/ 241815 h 398278"/>
                    <a:gd name="connsiteX2" fmla="*/ 277358 w 351959"/>
                    <a:gd name="connsiteY2" fmla="*/ 84344 h 398278"/>
                    <a:gd name="connsiteX3" fmla="*/ 263381 w 351959"/>
                    <a:gd name="connsiteY3" fmla="*/ 149234 h 398278"/>
                    <a:gd name="connsiteX4" fmla="*/ 258079 w 351959"/>
                    <a:gd name="connsiteY4" fmla="*/ 153834 h 398278"/>
                    <a:gd name="connsiteX5" fmla="*/ 256239 w 351959"/>
                    <a:gd name="connsiteY5" fmla="*/ 147043 h 398278"/>
                    <a:gd name="connsiteX6" fmla="*/ 187011 w 351959"/>
                    <a:gd name="connsiteY6" fmla="*/ 26377 h 398278"/>
                    <a:gd name="connsiteX7" fmla="*/ 149330 w 351959"/>
                    <a:gd name="connsiteY7" fmla="*/ 0 h 398278"/>
                    <a:gd name="connsiteX8" fmla="*/ 114410 w 351959"/>
                    <a:gd name="connsiteY8" fmla="*/ 121850 h 398278"/>
                    <a:gd name="connsiteX9" fmla="*/ 69149 w 351959"/>
                    <a:gd name="connsiteY9" fmla="*/ 186039 h 398278"/>
                    <a:gd name="connsiteX10" fmla="*/ 62577 w 351959"/>
                    <a:gd name="connsiteY10" fmla="*/ 193443 h 398278"/>
                    <a:gd name="connsiteX11" fmla="*/ 61481 w 351959"/>
                    <a:gd name="connsiteY11" fmla="*/ 183585 h 398278"/>
                    <a:gd name="connsiteX12" fmla="*/ 49169 w 351959"/>
                    <a:gd name="connsiteY12" fmla="*/ 124259 h 398278"/>
                    <a:gd name="connsiteX13" fmla="*/ 12452 w 351959"/>
                    <a:gd name="connsiteY13" fmla="*/ 221047 h 398278"/>
                    <a:gd name="connsiteX14" fmla="*/ 6888 w 351959"/>
                    <a:gd name="connsiteY14" fmla="*/ 311919 h 398278"/>
                    <a:gd name="connsiteX15" fmla="*/ 87858 w 351959"/>
                    <a:gd name="connsiteY15" fmla="*/ 397577 h 398278"/>
                    <a:gd name="connsiteX16" fmla="*/ 89786 w 351959"/>
                    <a:gd name="connsiteY16" fmla="*/ 303331 h 398278"/>
                    <a:gd name="connsiteX17" fmla="*/ 109415 w 351959"/>
                    <a:gd name="connsiteY17" fmla="*/ 271303 h 398278"/>
                    <a:gd name="connsiteX18" fmla="*/ 130402 w 351959"/>
                    <a:gd name="connsiteY18" fmla="*/ 218111 h 398278"/>
                    <a:gd name="connsiteX19" fmla="*/ 132155 w 351959"/>
                    <a:gd name="connsiteY19" fmla="*/ 212240 h 398278"/>
                    <a:gd name="connsiteX20" fmla="*/ 137150 w 351959"/>
                    <a:gd name="connsiteY20" fmla="*/ 215833 h 398278"/>
                    <a:gd name="connsiteX21" fmla="*/ 150995 w 351959"/>
                    <a:gd name="connsiteY21" fmla="*/ 266220 h 398278"/>
                    <a:gd name="connsiteX22" fmla="*/ 175313 w 351959"/>
                    <a:gd name="connsiteY22" fmla="*/ 165402 h 398278"/>
                    <a:gd name="connsiteX23" fmla="*/ 174568 w 351959"/>
                    <a:gd name="connsiteY23" fmla="*/ 156288 h 398278"/>
                    <a:gd name="connsiteX24" fmla="*/ 182148 w 351959"/>
                    <a:gd name="connsiteY24" fmla="*/ 161414 h 398278"/>
                    <a:gd name="connsiteX25" fmla="*/ 247257 w 351959"/>
                    <a:gd name="connsiteY25" fmla="*/ 242647 h 398278"/>
                    <a:gd name="connsiteX26" fmla="*/ 250193 w 351959"/>
                    <a:gd name="connsiteY26" fmla="*/ 398278 h 398278"/>
                    <a:gd name="connsiteX27" fmla="*/ 351668 w 351959"/>
                    <a:gd name="connsiteY27" fmla="*/ 243173 h 39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1959" h="398278">
                      <a:moveTo>
                        <a:pt x="351756" y="243086"/>
                      </a:moveTo>
                      <a:lnTo>
                        <a:pt x="351668" y="241815"/>
                      </a:lnTo>
                      <a:cubicBezTo>
                        <a:pt x="345972" y="162291"/>
                        <a:pt x="299397" y="106514"/>
                        <a:pt x="277358" y="84344"/>
                      </a:cubicBezTo>
                      <a:cubicBezTo>
                        <a:pt x="287085" y="127852"/>
                        <a:pt x="264476" y="148270"/>
                        <a:pt x="263381" y="149234"/>
                      </a:cubicBezTo>
                      <a:lnTo>
                        <a:pt x="258079" y="153834"/>
                      </a:lnTo>
                      <a:lnTo>
                        <a:pt x="256239" y="147043"/>
                      </a:lnTo>
                      <a:cubicBezTo>
                        <a:pt x="239239" y="84212"/>
                        <a:pt x="209226" y="46751"/>
                        <a:pt x="187011" y="26377"/>
                      </a:cubicBezTo>
                      <a:cubicBezTo>
                        <a:pt x="171369" y="12049"/>
                        <a:pt x="157305" y="3943"/>
                        <a:pt x="149330" y="0"/>
                      </a:cubicBezTo>
                      <a:cubicBezTo>
                        <a:pt x="153011" y="34482"/>
                        <a:pt x="141268" y="75449"/>
                        <a:pt x="114410" y="121850"/>
                      </a:cubicBezTo>
                      <a:cubicBezTo>
                        <a:pt x="93028" y="158829"/>
                        <a:pt x="69368" y="185732"/>
                        <a:pt x="69149" y="186039"/>
                      </a:cubicBezTo>
                      <a:lnTo>
                        <a:pt x="62577" y="193443"/>
                      </a:lnTo>
                      <a:lnTo>
                        <a:pt x="61481" y="183585"/>
                      </a:lnTo>
                      <a:cubicBezTo>
                        <a:pt x="57450" y="146912"/>
                        <a:pt x="52455" y="131051"/>
                        <a:pt x="49169" y="124259"/>
                      </a:cubicBezTo>
                      <a:cubicBezTo>
                        <a:pt x="39661" y="163430"/>
                        <a:pt x="13635" y="218549"/>
                        <a:pt x="12452" y="221047"/>
                      </a:cubicBezTo>
                      <a:cubicBezTo>
                        <a:pt x="-2007" y="252681"/>
                        <a:pt x="-3891" y="283264"/>
                        <a:pt x="6888" y="311919"/>
                      </a:cubicBezTo>
                      <a:cubicBezTo>
                        <a:pt x="23625" y="356479"/>
                        <a:pt x="66914" y="385616"/>
                        <a:pt x="87858" y="397577"/>
                      </a:cubicBezTo>
                      <a:cubicBezTo>
                        <a:pt x="79840" y="378649"/>
                        <a:pt x="69237" y="340881"/>
                        <a:pt x="89786" y="303331"/>
                      </a:cubicBezTo>
                      <a:cubicBezTo>
                        <a:pt x="99644" y="285323"/>
                        <a:pt x="105296" y="277218"/>
                        <a:pt x="109415" y="271303"/>
                      </a:cubicBezTo>
                      <a:cubicBezTo>
                        <a:pt x="116469" y="261181"/>
                        <a:pt x="118397" y="258421"/>
                        <a:pt x="130402" y="218111"/>
                      </a:cubicBezTo>
                      <a:lnTo>
                        <a:pt x="132155" y="212240"/>
                      </a:lnTo>
                      <a:lnTo>
                        <a:pt x="137150" y="215833"/>
                      </a:lnTo>
                      <a:cubicBezTo>
                        <a:pt x="138683" y="216928"/>
                        <a:pt x="151039" y="227006"/>
                        <a:pt x="150995" y="266220"/>
                      </a:cubicBezTo>
                      <a:cubicBezTo>
                        <a:pt x="161818" y="251235"/>
                        <a:pt x="179650" y="217936"/>
                        <a:pt x="175313" y="165402"/>
                      </a:cubicBezTo>
                      <a:lnTo>
                        <a:pt x="174568" y="156288"/>
                      </a:lnTo>
                      <a:lnTo>
                        <a:pt x="182148" y="161414"/>
                      </a:lnTo>
                      <a:cubicBezTo>
                        <a:pt x="211679" y="181350"/>
                        <a:pt x="234200" y="209436"/>
                        <a:pt x="247257" y="242647"/>
                      </a:cubicBezTo>
                      <a:cubicBezTo>
                        <a:pt x="266404" y="292903"/>
                        <a:pt x="273502" y="337156"/>
                        <a:pt x="250193" y="398278"/>
                      </a:cubicBezTo>
                      <a:cubicBezTo>
                        <a:pt x="279198" y="381716"/>
                        <a:pt x="357320" y="328919"/>
                        <a:pt x="351668" y="243173"/>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7" name="Freeform: Shape 219">
                  <a:extLst>
                    <a:ext uri="{FF2B5EF4-FFF2-40B4-BE49-F238E27FC236}">
                      <a16:creationId xmlns:a16="http://schemas.microsoft.com/office/drawing/2014/main" id="{7220B2CE-B6ED-F58D-8C2C-63AA67620091}"/>
                    </a:ext>
                  </a:extLst>
                </p:cNvPr>
                <p:cNvSpPr/>
                <p:nvPr/>
              </p:nvSpPr>
              <p:spPr>
                <a:xfrm>
                  <a:off x="9573627" y="1364174"/>
                  <a:ext cx="123733" cy="82722"/>
                </a:xfrm>
                <a:custGeom>
                  <a:avLst/>
                  <a:gdLst>
                    <a:gd name="connsiteX0" fmla="*/ 55996 w 123733"/>
                    <a:gd name="connsiteY0" fmla="*/ 82679 h 82722"/>
                    <a:gd name="connsiteX1" fmla="*/ 57792 w 123733"/>
                    <a:gd name="connsiteY1" fmla="*/ 82679 h 82722"/>
                    <a:gd name="connsiteX2" fmla="*/ 52271 w 123733"/>
                    <a:gd name="connsiteY2" fmla="*/ 59150 h 82722"/>
                    <a:gd name="connsiteX3" fmla="*/ 34964 w 123733"/>
                    <a:gd name="connsiteY3" fmla="*/ 11567 h 82722"/>
                    <a:gd name="connsiteX4" fmla="*/ 74485 w 123733"/>
                    <a:gd name="connsiteY4" fmla="*/ 43245 h 82722"/>
                    <a:gd name="connsiteX5" fmla="*/ 111641 w 123733"/>
                    <a:gd name="connsiteY5" fmla="*/ 82723 h 82722"/>
                    <a:gd name="connsiteX6" fmla="*/ 115014 w 123733"/>
                    <a:gd name="connsiteY6" fmla="*/ 82723 h 82722"/>
                    <a:gd name="connsiteX7" fmla="*/ 121192 w 123733"/>
                    <a:gd name="connsiteY7" fmla="*/ 80181 h 82722"/>
                    <a:gd name="connsiteX8" fmla="*/ 123734 w 123733"/>
                    <a:gd name="connsiteY8" fmla="*/ 74004 h 82722"/>
                    <a:gd name="connsiteX9" fmla="*/ 123734 w 123733"/>
                    <a:gd name="connsiteY9" fmla="*/ 8719 h 82722"/>
                    <a:gd name="connsiteX10" fmla="*/ 121192 w 123733"/>
                    <a:gd name="connsiteY10" fmla="*/ 2541 h 82722"/>
                    <a:gd name="connsiteX11" fmla="*/ 115014 w 123733"/>
                    <a:gd name="connsiteY11" fmla="*/ 0 h 82722"/>
                    <a:gd name="connsiteX12" fmla="*/ 0 w 123733"/>
                    <a:gd name="connsiteY12" fmla="*/ 0 h 82722"/>
                    <a:gd name="connsiteX13" fmla="*/ 55996 w 123733"/>
                    <a:gd name="connsiteY13" fmla="*/ 82723 h 82722"/>
                    <a:gd name="connsiteX14" fmla="*/ 55996 w 123733"/>
                    <a:gd name="connsiteY14" fmla="*/ 82723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733" h="82722">
                      <a:moveTo>
                        <a:pt x="55996" y="82679"/>
                      </a:moveTo>
                      <a:lnTo>
                        <a:pt x="57792" y="82679"/>
                      </a:lnTo>
                      <a:cubicBezTo>
                        <a:pt x="56959" y="74617"/>
                        <a:pt x="55119" y="66730"/>
                        <a:pt x="52271" y="59150"/>
                      </a:cubicBezTo>
                      <a:lnTo>
                        <a:pt x="34964" y="11567"/>
                      </a:lnTo>
                      <a:lnTo>
                        <a:pt x="74485" y="43245"/>
                      </a:lnTo>
                      <a:cubicBezTo>
                        <a:pt x="88287" y="54988"/>
                        <a:pt x="100731" y="68220"/>
                        <a:pt x="111641" y="82723"/>
                      </a:cubicBezTo>
                      <a:lnTo>
                        <a:pt x="115014" y="82723"/>
                      </a:lnTo>
                      <a:cubicBezTo>
                        <a:pt x="117337" y="82723"/>
                        <a:pt x="119527" y="81803"/>
                        <a:pt x="121192" y="80181"/>
                      </a:cubicBezTo>
                      <a:cubicBezTo>
                        <a:pt x="122813" y="78560"/>
                        <a:pt x="123734" y="76326"/>
                        <a:pt x="123734" y="74004"/>
                      </a:cubicBezTo>
                      <a:lnTo>
                        <a:pt x="123734" y="8719"/>
                      </a:lnTo>
                      <a:cubicBezTo>
                        <a:pt x="123734" y="6397"/>
                        <a:pt x="122813" y="4206"/>
                        <a:pt x="121192" y="2541"/>
                      </a:cubicBezTo>
                      <a:cubicBezTo>
                        <a:pt x="119571" y="920"/>
                        <a:pt x="117337" y="0"/>
                        <a:pt x="115014" y="0"/>
                      </a:cubicBezTo>
                      <a:lnTo>
                        <a:pt x="0" y="0"/>
                      </a:lnTo>
                      <a:cubicBezTo>
                        <a:pt x="24054" y="23529"/>
                        <a:pt x="43114" y="51658"/>
                        <a:pt x="55996" y="82723"/>
                      </a:cubicBezTo>
                      <a:lnTo>
                        <a:pt x="55996" y="82723"/>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8" name="Freeform: Shape 220">
                  <a:extLst>
                    <a:ext uri="{FF2B5EF4-FFF2-40B4-BE49-F238E27FC236}">
                      <a16:creationId xmlns:a16="http://schemas.microsoft.com/office/drawing/2014/main" id="{9D094206-78B1-5DBA-9925-941B320884CE}"/>
                    </a:ext>
                  </a:extLst>
                </p:cNvPr>
                <p:cNvSpPr/>
                <p:nvPr/>
              </p:nvSpPr>
              <p:spPr>
                <a:xfrm>
                  <a:off x="9698588" y="1465737"/>
                  <a:ext cx="129122" cy="82722"/>
                </a:xfrm>
                <a:custGeom>
                  <a:avLst/>
                  <a:gdLst>
                    <a:gd name="connsiteX0" fmla="*/ 120404 w 129122"/>
                    <a:gd name="connsiteY0" fmla="*/ 0 h 82722"/>
                    <a:gd name="connsiteX1" fmla="*/ 0 w 129122"/>
                    <a:gd name="connsiteY1" fmla="*/ 0 h 82722"/>
                    <a:gd name="connsiteX2" fmla="*/ 35972 w 129122"/>
                    <a:gd name="connsiteY2" fmla="*/ 82723 h 82722"/>
                    <a:gd name="connsiteX3" fmla="*/ 120404 w 129122"/>
                    <a:gd name="connsiteY3" fmla="*/ 82723 h 82722"/>
                    <a:gd name="connsiteX4" fmla="*/ 126582 w 129122"/>
                    <a:gd name="connsiteY4" fmla="*/ 80181 h 82722"/>
                    <a:gd name="connsiteX5" fmla="*/ 129123 w 129122"/>
                    <a:gd name="connsiteY5" fmla="*/ 74004 h 82722"/>
                    <a:gd name="connsiteX6" fmla="*/ 129123 w 129122"/>
                    <a:gd name="connsiteY6" fmla="*/ 8719 h 82722"/>
                    <a:gd name="connsiteX7" fmla="*/ 126582 w 129122"/>
                    <a:gd name="connsiteY7" fmla="*/ 2541 h 82722"/>
                    <a:gd name="connsiteX8" fmla="*/ 120404 w 129122"/>
                    <a:gd name="connsiteY8" fmla="*/ 0 h 82722"/>
                    <a:gd name="connsiteX9" fmla="*/ 120404 w 129122"/>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122" h="82722">
                      <a:moveTo>
                        <a:pt x="120404" y="0"/>
                      </a:moveTo>
                      <a:lnTo>
                        <a:pt x="0" y="0"/>
                      </a:lnTo>
                      <a:cubicBezTo>
                        <a:pt x="16606" y="25325"/>
                        <a:pt x="28786" y="53323"/>
                        <a:pt x="35972" y="82723"/>
                      </a:cubicBezTo>
                      <a:lnTo>
                        <a:pt x="120404" y="82723"/>
                      </a:lnTo>
                      <a:cubicBezTo>
                        <a:pt x="122726" y="82723"/>
                        <a:pt x="124917" y="81803"/>
                        <a:pt x="126582" y="80181"/>
                      </a:cubicBezTo>
                      <a:cubicBezTo>
                        <a:pt x="128203" y="78560"/>
                        <a:pt x="129123" y="76326"/>
                        <a:pt x="129123" y="74004"/>
                      </a:cubicBezTo>
                      <a:lnTo>
                        <a:pt x="129123" y="8719"/>
                      </a:lnTo>
                      <a:cubicBezTo>
                        <a:pt x="129123" y="6397"/>
                        <a:pt x="128203" y="4162"/>
                        <a:pt x="126582" y="2541"/>
                      </a:cubicBezTo>
                      <a:cubicBezTo>
                        <a:pt x="124960" y="920"/>
                        <a:pt x="122726" y="0"/>
                        <a:pt x="120404" y="0"/>
                      </a:cubicBezTo>
                      <a:lnTo>
                        <a:pt x="120404"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 name="Freeform: Shape 221">
                  <a:extLst>
                    <a:ext uri="{FF2B5EF4-FFF2-40B4-BE49-F238E27FC236}">
                      <a16:creationId xmlns:a16="http://schemas.microsoft.com/office/drawing/2014/main" id="{3B49F11D-5B5D-CE3F-859F-013D1882F3A1}"/>
                    </a:ext>
                  </a:extLst>
                </p:cNvPr>
                <p:cNvSpPr/>
                <p:nvPr/>
              </p:nvSpPr>
              <p:spPr>
                <a:xfrm>
                  <a:off x="9732676" y="1567432"/>
                  <a:ext cx="224595" cy="82766"/>
                </a:xfrm>
                <a:custGeom>
                  <a:avLst/>
                  <a:gdLst>
                    <a:gd name="connsiteX0" fmla="*/ 215920 w 224595"/>
                    <a:gd name="connsiteY0" fmla="*/ 0 h 82766"/>
                    <a:gd name="connsiteX1" fmla="*/ 5608 w 224595"/>
                    <a:gd name="connsiteY1" fmla="*/ 0 h 82766"/>
                    <a:gd name="connsiteX2" fmla="*/ 8237 w 224595"/>
                    <a:gd name="connsiteY2" fmla="*/ 22696 h 82766"/>
                    <a:gd name="connsiteX3" fmla="*/ 8237 w 224595"/>
                    <a:gd name="connsiteY3" fmla="*/ 22696 h 82766"/>
                    <a:gd name="connsiteX4" fmla="*/ 0 w 224595"/>
                    <a:gd name="connsiteY4" fmla="*/ 82767 h 82766"/>
                    <a:gd name="connsiteX5" fmla="*/ 215920 w 224595"/>
                    <a:gd name="connsiteY5" fmla="*/ 82767 h 82766"/>
                    <a:gd name="connsiteX6" fmla="*/ 222054 w 224595"/>
                    <a:gd name="connsiteY6" fmla="*/ 80225 h 82766"/>
                    <a:gd name="connsiteX7" fmla="*/ 224596 w 224595"/>
                    <a:gd name="connsiteY7" fmla="*/ 74091 h 82766"/>
                    <a:gd name="connsiteX8" fmla="*/ 224596 w 224595"/>
                    <a:gd name="connsiteY8" fmla="*/ 8763 h 82766"/>
                    <a:gd name="connsiteX9" fmla="*/ 222054 w 224595"/>
                    <a:gd name="connsiteY9" fmla="*/ 2585 h 82766"/>
                    <a:gd name="connsiteX10" fmla="*/ 215876 w 224595"/>
                    <a:gd name="connsiteY10" fmla="*/ 44 h 82766"/>
                    <a:gd name="connsiteX11" fmla="*/ 215876 w 224595"/>
                    <a:gd name="connsiteY11" fmla="*/ 44 h 8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595" h="82766">
                      <a:moveTo>
                        <a:pt x="215920" y="0"/>
                      </a:moveTo>
                      <a:lnTo>
                        <a:pt x="5608" y="0"/>
                      </a:lnTo>
                      <a:cubicBezTo>
                        <a:pt x="6791" y="7361"/>
                        <a:pt x="7711" y="14897"/>
                        <a:pt x="8237" y="22696"/>
                      </a:cubicBezTo>
                      <a:lnTo>
                        <a:pt x="8237" y="22696"/>
                      </a:lnTo>
                      <a:cubicBezTo>
                        <a:pt x="9639" y="43070"/>
                        <a:pt x="6835" y="63488"/>
                        <a:pt x="0" y="82767"/>
                      </a:cubicBezTo>
                      <a:lnTo>
                        <a:pt x="215920" y="82767"/>
                      </a:lnTo>
                      <a:cubicBezTo>
                        <a:pt x="218243" y="82767"/>
                        <a:pt x="220433" y="81846"/>
                        <a:pt x="222054" y="80225"/>
                      </a:cubicBezTo>
                      <a:cubicBezTo>
                        <a:pt x="223676" y="78604"/>
                        <a:pt x="224596" y="76370"/>
                        <a:pt x="224596" y="74091"/>
                      </a:cubicBezTo>
                      <a:lnTo>
                        <a:pt x="224596" y="8763"/>
                      </a:lnTo>
                      <a:cubicBezTo>
                        <a:pt x="224596" y="6441"/>
                        <a:pt x="223676" y="4250"/>
                        <a:pt x="222054" y="2585"/>
                      </a:cubicBezTo>
                      <a:cubicBezTo>
                        <a:pt x="220433" y="964"/>
                        <a:pt x="218199" y="44"/>
                        <a:pt x="215876" y="44"/>
                      </a:cubicBezTo>
                      <a:lnTo>
                        <a:pt x="215876" y="44"/>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0" name="Freeform: Shape 222">
                  <a:extLst>
                    <a:ext uri="{FF2B5EF4-FFF2-40B4-BE49-F238E27FC236}">
                      <a16:creationId xmlns:a16="http://schemas.microsoft.com/office/drawing/2014/main" id="{86ED07F0-997C-939B-FB26-E7BE478BD030}"/>
                    </a:ext>
                  </a:extLst>
                </p:cNvPr>
                <p:cNvSpPr/>
                <p:nvPr/>
              </p:nvSpPr>
              <p:spPr>
                <a:xfrm>
                  <a:off x="9647499" y="1669082"/>
                  <a:ext cx="179816" cy="82722"/>
                </a:xfrm>
                <a:custGeom>
                  <a:avLst/>
                  <a:gdLst>
                    <a:gd name="connsiteX0" fmla="*/ 171141 w 179816"/>
                    <a:gd name="connsiteY0" fmla="*/ 0 h 82722"/>
                    <a:gd name="connsiteX1" fmla="*/ 77027 w 179816"/>
                    <a:gd name="connsiteY1" fmla="*/ 0 h 82722"/>
                    <a:gd name="connsiteX2" fmla="*/ 0 w 179816"/>
                    <a:gd name="connsiteY2" fmla="*/ 82723 h 82722"/>
                    <a:gd name="connsiteX3" fmla="*/ 171098 w 179816"/>
                    <a:gd name="connsiteY3" fmla="*/ 82723 h 82722"/>
                    <a:gd name="connsiteX4" fmla="*/ 177275 w 179816"/>
                    <a:gd name="connsiteY4" fmla="*/ 80181 h 82722"/>
                    <a:gd name="connsiteX5" fmla="*/ 179817 w 179816"/>
                    <a:gd name="connsiteY5" fmla="*/ 74004 h 82722"/>
                    <a:gd name="connsiteX6" fmla="*/ 179817 w 179816"/>
                    <a:gd name="connsiteY6" fmla="*/ 8719 h 82722"/>
                    <a:gd name="connsiteX7" fmla="*/ 177275 w 179816"/>
                    <a:gd name="connsiteY7" fmla="*/ 2541 h 82722"/>
                    <a:gd name="connsiteX8" fmla="*/ 171098 w 179816"/>
                    <a:gd name="connsiteY8" fmla="*/ 0 h 82722"/>
                    <a:gd name="connsiteX9" fmla="*/ 171098 w 179816"/>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816" h="82722">
                      <a:moveTo>
                        <a:pt x="171141" y="0"/>
                      </a:moveTo>
                      <a:lnTo>
                        <a:pt x="77027" y="0"/>
                      </a:lnTo>
                      <a:cubicBezTo>
                        <a:pt x="57310" y="38995"/>
                        <a:pt x="24098" y="66599"/>
                        <a:pt x="0" y="82723"/>
                      </a:cubicBezTo>
                      <a:lnTo>
                        <a:pt x="171098" y="82723"/>
                      </a:lnTo>
                      <a:cubicBezTo>
                        <a:pt x="173420" y="82723"/>
                        <a:pt x="175611" y="81803"/>
                        <a:pt x="177275" y="80181"/>
                      </a:cubicBezTo>
                      <a:cubicBezTo>
                        <a:pt x="178897" y="78560"/>
                        <a:pt x="179817" y="76326"/>
                        <a:pt x="179817" y="74004"/>
                      </a:cubicBezTo>
                      <a:lnTo>
                        <a:pt x="179817" y="8719"/>
                      </a:lnTo>
                      <a:cubicBezTo>
                        <a:pt x="179817" y="6397"/>
                        <a:pt x="178897" y="4206"/>
                        <a:pt x="177275" y="2541"/>
                      </a:cubicBezTo>
                      <a:cubicBezTo>
                        <a:pt x="175654" y="920"/>
                        <a:pt x="173420" y="0"/>
                        <a:pt x="171098" y="0"/>
                      </a:cubicBezTo>
                      <a:lnTo>
                        <a:pt x="171098"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nvGrpSpPr>
          <p:cNvPr id="83" name="Group 82">
            <a:extLst>
              <a:ext uri="{FF2B5EF4-FFF2-40B4-BE49-F238E27FC236}">
                <a16:creationId xmlns:a16="http://schemas.microsoft.com/office/drawing/2014/main" id="{1297AD69-3683-29B3-DC02-01D486E84D2D}"/>
              </a:ext>
            </a:extLst>
          </p:cNvPr>
          <p:cNvGrpSpPr/>
          <p:nvPr/>
        </p:nvGrpSpPr>
        <p:grpSpPr>
          <a:xfrm>
            <a:off x="9294813" y="2771361"/>
            <a:ext cx="2314149" cy="575945"/>
            <a:chOff x="9294813" y="4025259"/>
            <a:chExt cx="2314149" cy="575945"/>
          </a:xfrm>
        </p:grpSpPr>
        <p:sp>
          <p:nvSpPr>
            <p:cNvPr id="71" name="Rectangle: Rounded Corners 634">
              <a:extLst>
                <a:ext uri="{FF2B5EF4-FFF2-40B4-BE49-F238E27FC236}">
                  <a16:creationId xmlns:a16="http://schemas.microsoft.com/office/drawing/2014/main" id="{3FE4524C-EF2F-66E4-ADC0-95630C6C7ADE}"/>
                </a:ext>
              </a:extLst>
            </p:cNvPr>
            <p:cNvSpPr/>
            <p:nvPr/>
          </p:nvSpPr>
          <p:spPr>
            <a:xfrm>
              <a:off x="9294813" y="4025259"/>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 name="Content Placeholder 9">
              <a:extLst>
                <a:ext uri="{FF2B5EF4-FFF2-40B4-BE49-F238E27FC236}">
                  <a16:creationId xmlns:a16="http://schemas.microsoft.com/office/drawing/2014/main" id="{62E5BD5B-AC2C-AB25-FE1B-207BE1032E92}"/>
                </a:ext>
              </a:extLst>
            </p:cNvPr>
            <p:cNvSpPr txBox="1">
              <a:spLocks/>
            </p:cNvSpPr>
            <p:nvPr/>
          </p:nvSpPr>
          <p:spPr>
            <a:xfrm>
              <a:off x="9855505" y="4212110"/>
              <a:ext cx="1753457"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Routing/NAT</a:t>
              </a:r>
            </a:p>
          </p:txBody>
        </p:sp>
        <p:grpSp>
          <p:nvGrpSpPr>
            <p:cNvPr id="73" name="Group 72">
              <a:extLst>
                <a:ext uri="{FF2B5EF4-FFF2-40B4-BE49-F238E27FC236}">
                  <a16:creationId xmlns:a16="http://schemas.microsoft.com/office/drawing/2014/main" id="{5A254924-F65B-2A07-E96B-A7873ADBDE38}"/>
                </a:ext>
              </a:extLst>
            </p:cNvPr>
            <p:cNvGrpSpPr>
              <a:grpSpLocks noChangeAspect="1"/>
            </p:cNvGrpSpPr>
            <p:nvPr/>
          </p:nvGrpSpPr>
          <p:grpSpPr>
            <a:xfrm>
              <a:off x="9344980" y="4084632"/>
              <a:ext cx="457200" cy="457200"/>
              <a:chOff x="4856731" y="3857189"/>
              <a:chExt cx="902850" cy="902850"/>
            </a:xfrm>
          </p:grpSpPr>
          <p:sp>
            <p:nvSpPr>
              <p:cNvPr id="74" name="Oval 34">
                <a:extLst>
                  <a:ext uri="{FF2B5EF4-FFF2-40B4-BE49-F238E27FC236}">
                    <a16:creationId xmlns:a16="http://schemas.microsoft.com/office/drawing/2014/main" id="{0930CA90-BF72-9E2F-CAEE-6277512690EC}"/>
                  </a:ext>
                </a:extLst>
              </p:cNvPr>
              <p:cNvSpPr>
                <a:spLocks noChangeAspect="1"/>
              </p:cNvSpPr>
              <p:nvPr/>
            </p:nvSpPr>
            <p:spPr bwMode="gray">
              <a:xfrm>
                <a:off x="4856731" y="3857189"/>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 name="Graphic 579">
                <a:extLst>
                  <a:ext uri="{FF2B5EF4-FFF2-40B4-BE49-F238E27FC236}">
                    <a16:creationId xmlns:a16="http://schemas.microsoft.com/office/drawing/2014/main" id="{1B87F75E-9F4C-3251-8DA7-FB32C637EFE7}"/>
                  </a:ext>
                </a:extLst>
              </p:cNvPr>
              <p:cNvSpPr/>
              <p:nvPr/>
            </p:nvSpPr>
            <p:spPr>
              <a:xfrm>
                <a:off x="5015911" y="4016368"/>
                <a:ext cx="584492" cy="584492"/>
              </a:xfrm>
              <a:custGeom>
                <a:avLst/>
                <a:gdLst>
                  <a:gd name="connsiteX0" fmla="*/ 292246 w 584492"/>
                  <a:gd name="connsiteY0" fmla="*/ 0 h 584492"/>
                  <a:gd name="connsiteX1" fmla="*/ 0 w 584492"/>
                  <a:gd name="connsiteY1" fmla="*/ 292246 h 584492"/>
                  <a:gd name="connsiteX2" fmla="*/ 292246 w 584492"/>
                  <a:gd name="connsiteY2" fmla="*/ 584492 h 584492"/>
                  <a:gd name="connsiteX3" fmla="*/ 584492 w 584492"/>
                  <a:gd name="connsiteY3" fmla="*/ 292246 h 584492"/>
                  <a:gd name="connsiteX4" fmla="*/ 292246 w 584492"/>
                  <a:gd name="connsiteY4" fmla="*/ 0 h 584492"/>
                  <a:gd name="connsiteX5" fmla="*/ 172982 w 584492"/>
                  <a:gd name="connsiteY5" fmla="*/ 333520 h 584492"/>
                  <a:gd name="connsiteX6" fmla="*/ 172982 w 584492"/>
                  <a:gd name="connsiteY6" fmla="*/ 307581 h 584492"/>
                  <a:gd name="connsiteX7" fmla="*/ 59895 w 584492"/>
                  <a:gd name="connsiteY7" fmla="*/ 307581 h 584492"/>
                  <a:gd name="connsiteX8" fmla="*/ 59895 w 584492"/>
                  <a:gd name="connsiteY8" fmla="*/ 276911 h 584492"/>
                  <a:gd name="connsiteX9" fmla="*/ 172982 w 584492"/>
                  <a:gd name="connsiteY9" fmla="*/ 276911 h 584492"/>
                  <a:gd name="connsiteX10" fmla="*/ 172982 w 584492"/>
                  <a:gd name="connsiteY10" fmla="*/ 250972 h 584492"/>
                  <a:gd name="connsiteX11" fmla="*/ 244488 w 584492"/>
                  <a:gd name="connsiteY11" fmla="*/ 292246 h 584492"/>
                  <a:gd name="connsiteX12" fmla="*/ 172982 w 584492"/>
                  <a:gd name="connsiteY12" fmla="*/ 333520 h 584492"/>
                  <a:gd name="connsiteX13" fmla="*/ 292246 w 584492"/>
                  <a:gd name="connsiteY13" fmla="*/ 519646 h 584492"/>
                  <a:gd name="connsiteX14" fmla="*/ 250972 w 584492"/>
                  <a:gd name="connsiteY14" fmla="*/ 448140 h 584492"/>
                  <a:gd name="connsiteX15" fmla="*/ 276911 w 584492"/>
                  <a:gd name="connsiteY15" fmla="*/ 448140 h 584492"/>
                  <a:gd name="connsiteX16" fmla="*/ 276911 w 584492"/>
                  <a:gd name="connsiteY16" fmla="*/ 335053 h 584492"/>
                  <a:gd name="connsiteX17" fmla="*/ 307581 w 584492"/>
                  <a:gd name="connsiteY17" fmla="*/ 335053 h 584492"/>
                  <a:gd name="connsiteX18" fmla="*/ 307581 w 584492"/>
                  <a:gd name="connsiteY18" fmla="*/ 448140 h 584492"/>
                  <a:gd name="connsiteX19" fmla="*/ 333520 w 584492"/>
                  <a:gd name="connsiteY19" fmla="*/ 448140 h 584492"/>
                  <a:gd name="connsiteX20" fmla="*/ 292246 w 584492"/>
                  <a:gd name="connsiteY20" fmla="*/ 519646 h 584492"/>
                  <a:gd name="connsiteX21" fmla="*/ 307581 w 584492"/>
                  <a:gd name="connsiteY21" fmla="*/ 136352 h 584492"/>
                  <a:gd name="connsiteX22" fmla="*/ 307581 w 584492"/>
                  <a:gd name="connsiteY22" fmla="*/ 249439 h 584492"/>
                  <a:gd name="connsiteX23" fmla="*/ 276911 w 584492"/>
                  <a:gd name="connsiteY23" fmla="*/ 249439 h 584492"/>
                  <a:gd name="connsiteX24" fmla="*/ 276911 w 584492"/>
                  <a:gd name="connsiteY24" fmla="*/ 136352 h 584492"/>
                  <a:gd name="connsiteX25" fmla="*/ 250972 w 584492"/>
                  <a:gd name="connsiteY25" fmla="*/ 136352 h 584492"/>
                  <a:gd name="connsiteX26" fmla="*/ 292246 w 584492"/>
                  <a:gd name="connsiteY26" fmla="*/ 64846 h 584492"/>
                  <a:gd name="connsiteX27" fmla="*/ 333520 w 584492"/>
                  <a:gd name="connsiteY27" fmla="*/ 136352 h 584492"/>
                  <a:gd name="connsiteX28" fmla="*/ 307581 w 584492"/>
                  <a:gd name="connsiteY28" fmla="*/ 136352 h 584492"/>
                  <a:gd name="connsiteX29" fmla="*/ 411511 w 584492"/>
                  <a:gd name="connsiteY29" fmla="*/ 307581 h 584492"/>
                  <a:gd name="connsiteX30" fmla="*/ 411511 w 584492"/>
                  <a:gd name="connsiteY30" fmla="*/ 333520 h 584492"/>
                  <a:gd name="connsiteX31" fmla="*/ 340004 w 584492"/>
                  <a:gd name="connsiteY31" fmla="*/ 292246 h 584492"/>
                  <a:gd name="connsiteX32" fmla="*/ 411511 w 584492"/>
                  <a:gd name="connsiteY32" fmla="*/ 250972 h 584492"/>
                  <a:gd name="connsiteX33" fmla="*/ 411511 w 584492"/>
                  <a:gd name="connsiteY33" fmla="*/ 276911 h 584492"/>
                  <a:gd name="connsiteX34" fmla="*/ 524597 w 584492"/>
                  <a:gd name="connsiteY34" fmla="*/ 276911 h 584492"/>
                  <a:gd name="connsiteX35" fmla="*/ 524597 w 584492"/>
                  <a:gd name="connsiteY35" fmla="*/ 307581 h 584492"/>
                  <a:gd name="connsiteX36" fmla="*/ 411511 w 584492"/>
                  <a:gd name="connsiteY36" fmla="*/ 307581 h 58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84492" h="584492">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124" name="Group 123">
            <a:extLst>
              <a:ext uri="{FF2B5EF4-FFF2-40B4-BE49-F238E27FC236}">
                <a16:creationId xmlns:a16="http://schemas.microsoft.com/office/drawing/2014/main" id="{AEC40D3E-3D46-840F-DEE3-44CAC90102A8}"/>
              </a:ext>
            </a:extLst>
          </p:cNvPr>
          <p:cNvGrpSpPr/>
          <p:nvPr/>
        </p:nvGrpSpPr>
        <p:grpSpPr>
          <a:xfrm>
            <a:off x="9294813" y="2100404"/>
            <a:ext cx="2314149" cy="575945"/>
            <a:chOff x="9294813" y="2100404"/>
            <a:chExt cx="2314149" cy="575945"/>
          </a:xfrm>
        </p:grpSpPr>
        <p:sp>
          <p:nvSpPr>
            <p:cNvPr id="76" name="Rectangle: Rounded Corners 645">
              <a:extLst>
                <a:ext uri="{FF2B5EF4-FFF2-40B4-BE49-F238E27FC236}">
                  <a16:creationId xmlns:a16="http://schemas.microsoft.com/office/drawing/2014/main" id="{727CF6D8-79F4-3388-9ED9-C783F4721A83}"/>
                </a:ext>
              </a:extLst>
            </p:cNvPr>
            <p:cNvSpPr/>
            <p:nvPr/>
          </p:nvSpPr>
          <p:spPr>
            <a:xfrm>
              <a:off x="9294813" y="2100404"/>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 name="Content Placeholder 9">
              <a:extLst>
                <a:ext uri="{FF2B5EF4-FFF2-40B4-BE49-F238E27FC236}">
                  <a16:creationId xmlns:a16="http://schemas.microsoft.com/office/drawing/2014/main" id="{6253C610-13A7-3B78-4A64-8E643CD8B4CF}"/>
                </a:ext>
              </a:extLst>
            </p:cNvPr>
            <p:cNvSpPr txBox="1">
              <a:spLocks/>
            </p:cNvSpPr>
            <p:nvPr/>
          </p:nvSpPr>
          <p:spPr>
            <a:xfrm>
              <a:off x="9855505" y="2287255"/>
              <a:ext cx="1753457"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Switching</a:t>
              </a:r>
            </a:p>
          </p:txBody>
        </p:sp>
        <p:grpSp>
          <p:nvGrpSpPr>
            <p:cNvPr id="78" name="Group 77">
              <a:extLst>
                <a:ext uri="{FF2B5EF4-FFF2-40B4-BE49-F238E27FC236}">
                  <a16:creationId xmlns:a16="http://schemas.microsoft.com/office/drawing/2014/main" id="{C66347E4-AB33-E0E7-1F12-DA81AF0C2A76}"/>
                </a:ext>
              </a:extLst>
            </p:cNvPr>
            <p:cNvGrpSpPr>
              <a:grpSpLocks noChangeAspect="1"/>
            </p:cNvGrpSpPr>
            <p:nvPr/>
          </p:nvGrpSpPr>
          <p:grpSpPr>
            <a:xfrm>
              <a:off x="9344980" y="2159776"/>
              <a:ext cx="457200" cy="457200"/>
              <a:chOff x="4856731" y="5229970"/>
              <a:chExt cx="902850" cy="902850"/>
            </a:xfrm>
          </p:grpSpPr>
          <p:sp>
            <p:nvSpPr>
              <p:cNvPr id="79" name="Oval 44">
                <a:extLst>
                  <a:ext uri="{FF2B5EF4-FFF2-40B4-BE49-F238E27FC236}">
                    <a16:creationId xmlns:a16="http://schemas.microsoft.com/office/drawing/2014/main" id="{8C62B4B6-A084-E683-787D-B318F45B4596}"/>
                  </a:ext>
                </a:extLst>
              </p:cNvPr>
              <p:cNvSpPr>
                <a:spLocks noChangeAspect="1"/>
              </p:cNvSpPr>
              <p:nvPr/>
            </p:nvSpPr>
            <p:spPr bwMode="gray">
              <a:xfrm>
                <a:off x="4856731" y="5229970"/>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Graphic 249">
                <a:extLst>
                  <a:ext uri="{FF2B5EF4-FFF2-40B4-BE49-F238E27FC236}">
                    <a16:creationId xmlns:a16="http://schemas.microsoft.com/office/drawing/2014/main" id="{FCD5890F-EE4F-FFA0-8967-3BC3A0A04313}"/>
                  </a:ext>
                </a:extLst>
              </p:cNvPr>
              <p:cNvSpPr/>
              <p:nvPr/>
            </p:nvSpPr>
            <p:spPr>
              <a:xfrm>
                <a:off x="5013745" y="5480096"/>
                <a:ext cx="594328" cy="406891"/>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107" name="g2">
            <a:extLst>
              <a:ext uri="{FF2B5EF4-FFF2-40B4-BE49-F238E27FC236}">
                <a16:creationId xmlns:a16="http://schemas.microsoft.com/office/drawing/2014/main" id="{A2F6B196-36CC-AD2B-4741-3810C3187B0E}"/>
              </a:ext>
            </a:extLst>
          </p:cNvPr>
          <p:cNvGrpSpPr/>
          <p:nvPr/>
        </p:nvGrpSpPr>
        <p:grpSpPr>
          <a:xfrm>
            <a:off x="6801707" y="2830733"/>
            <a:ext cx="3030663" cy="457200"/>
            <a:chOff x="6801707" y="2190938"/>
            <a:chExt cx="3030663" cy="457200"/>
          </a:xfrm>
        </p:grpSpPr>
        <p:sp>
          <p:nvSpPr>
            <p:cNvPr id="108" name="Freeform: Shape 24">
              <a:extLst>
                <a:ext uri="{FF2B5EF4-FFF2-40B4-BE49-F238E27FC236}">
                  <a16:creationId xmlns:a16="http://schemas.microsoft.com/office/drawing/2014/main" id="{2D89D156-3ADD-87E5-B08D-DF350CFA9DCC}"/>
                </a:ext>
              </a:extLst>
            </p:cNvPr>
            <p:cNvSpPr/>
            <p:nvPr/>
          </p:nvSpPr>
          <p:spPr>
            <a:xfrm flipH="1">
              <a:off x="6801707" y="2190938"/>
              <a:ext cx="3030663" cy="457200"/>
            </a:xfrm>
            <a:custGeom>
              <a:avLst/>
              <a:gdLst>
                <a:gd name="connsiteX0" fmla="*/ 0 w 3030663"/>
                <a:gd name="connsiteY0" fmla="*/ 0 h 457200"/>
                <a:gd name="connsiteX1" fmla="*/ 2520956 w 3030663"/>
                <a:gd name="connsiteY1" fmla="*/ 0 h 457200"/>
                <a:gd name="connsiteX2" fmla="*/ 2539224 w 3030663"/>
                <a:gd name="connsiteY2" fmla="*/ 0 h 457200"/>
                <a:gd name="connsiteX3" fmla="*/ 2856223 w 3030663"/>
                <a:gd name="connsiteY3" fmla="*/ 0 h 457200"/>
                <a:gd name="connsiteX4" fmla="*/ 2886476 w 3030663"/>
                <a:gd name="connsiteY4" fmla="*/ 15527 h 457200"/>
                <a:gd name="connsiteX5" fmla="*/ 3023732 w 3030663"/>
                <a:gd name="connsiteY5" fmla="*/ 207028 h 457200"/>
                <a:gd name="connsiteX6" fmla="*/ 3023732 w 3030663"/>
                <a:gd name="connsiteY6" fmla="*/ 250171 h 457200"/>
                <a:gd name="connsiteX7" fmla="*/ 2886476 w 3030663"/>
                <a:gd name="connsiteY7" fmla="*/ 441673 h 457200"/>
                <a:gd name="connsiteX8" fmla="*/ 2856223 w 3030663"/>
                <a:gd name="connsiteY8" fmla="*/ 457200 h 457200"/>
                <a:gd name="connsiteX9" fmla="*/ 2539224 w 3030663"/>
                <a:gd name="connsiteY9" fmla="*/ 457200 h 457200"/>
                <a:gd name="connsiteX10" fmla="*/ 2520956 w 3030663"/>
                <a:gd name="connsiteY10" fmla="*/ 457200 h 457200"/>
                <a:gd name="connsiteX11" fmla="*/ 0 w 3030663"/>
                <a:gd name="connsiteY11"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0663" h="457200">
                  <a:moveTo>
                    <a:pt x="0" y="0"/>
                  </a:moveTo>
                  <a:lnTo>
                    <a:pt x="2520956" y="0"/>
                  </a:lnTo>
                  <a:lnTo>
                    <a:pt x="2539224" y="0"/>
                  </a:lnTo>
                  <a:lnTo>
                    <a:pt x="2856223" y="0"/>
                  </a:lnTo>
                  <a:cubicBezTo>
                    <a:pt x="2868239" y="0"/>
                    <a:pt x="2879509" y="5778"/>
                    <a:pt x="2886476" y="15527"/>
                  </a:cubicBezTo>
                  <a:lnTo>
                    <a:pt x="3023732" y="207028"/>
                  </a:lnTo>
                  <a:cubicBezTo>
                    <a:pt x="3032974" y="219932"/>
                    <a:pt x="3032974" y="237268"/>
                    <a:pt x="3023732" y="250171"/>
                  </a:cubicBezTo>
                  <a:lnTo>
                    <a:pt x="2886476" y="441673"/>
                  </a:lnTo>
                  <a:cubicBezTo>
                    <a:pt x="2879509" y="451421"/>
                    <a:pt x="2868204" y="457200"/>
                    <a:pt x="2856223" y="457200"/>
                  </a:cubicBezTo>
                  <a:lnTo>
                    <a:pt x="2539224" y="457200"/>
                  </a:lnTo>
                  <a:lnTo>
                    <a:pt x="2520956" y="457200"/>
                  </a:lnTo>
                  <a:lnTo>
                    <a:pt x="0" y="457200"/>
                  </a:lnTo>
                  <a:close/>
                </a:path>
              </a:pathLst>
            </a:custGeom>
            <a:gradFill>
              <a:gsLst>
                <a:gs pos="0">
                  <a:schemeClr val="bg2">
                    <a:lumMod val="90000"/>
                  </a:schemeClr>
                </a:gs>
                <a:gs pos="100000">
                  <a:schemeClr val="bg2">
                    <a:lumMod val="90000"/>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 name="Striped Right Arrow 225">
              <a:extLst>
                <a:ext uri="{FF2B5EF4-FFF2-40B4-BE49-F238E27FC236}">
                  <a16:creationId xmlns:a16="http://schemas.microsoft.com/office/drawing/2014/main" id="{CCFB2C7E-A4E0-A05D-3D99-790885F37979}"/>
                </a:ext>
              </a:extLst>
            </p:cNvPr>
            <p:cNvSpPr/>
            <p:nvPr/>
          </p:nvSpPr>
          <p:spPr>
            <a:xfrm flipH="1">
              <a:off x="7209211" y="2233918"/>
              <a:ext cx="2368967" cy="36917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Vendor #2 configuration/API</a:t>
              </a:r>
            </a:p>
          </p:txBody>
        </p:sp>
        <p:sp>
          <p:nvSpPr>
            <p:cNvPr id="111" name="Graphic 6096">
              <a:extLst>
                <a:ext uri="{FF2B5EF4-FFF2-40B4-BE49-F238E27FC236}">
                  <a16:creationId xmlns:a16="http://schemas.microsoft.com/office/drawing/2014/main" id="{83B4E862-751B-0A51-B988-EEFCC755BC55}"/>
                </a:ext>
              </a:extLst>
            </p:cNvPr>
            <p:cNvSpPr/>
            <p:nvPr/>
          </p:nvSpPr>
          <p:spPr>
            <a:xfrm flipH="1">
              <a:off x="6816283" y="2234303"/>
              <a:ext cx="258311" cy="370470"/>
            </a:xfrm>
            <a:custGeom>
              <a:avLst/>
              <a:gdLst>
                <a:gd name="connsiteX0" fmla="*/ 0 w 469820"/>
                <a:gd name="connsiteY0" fmla="*/ 675704 h 675703"/>
                <a:gd name="connsiteX1" fmla="*/ 210503 w 469820"/>
                <a:gd name="connsiteY1" fmla="*/ 675704 h 675703"/>
                <a:gd name="connsiteX2" fmla="*/ 258699 w 469820"/>
                <a:gd name="connsiteY2" fmla="*/ 650843 h 675703"/>
                <a:gd name="connsiteX3" fmla="*/ 459962 w 469820"/>
                <a:gd name="connsiteY3" fmla="*/ 368713 h 675703"/>
                <a:gd name="connsiteX4" fmla="*/ 459962 w 469820"/>
                <a:gd name="connsiteY4" fmla="*/ 306896 h 675703"/>
                <a:gd name="connsiteX5" fmla="*/ 260033 w 469820"/>
                <a:gd name="connsiteY5" fmla="*/ 26670 h 675703"/>
                <a:gd name="connsiteX6" fmla="*/ 208217 w 469820"/>
                <a:gd name="connsiteY6" fmla="*/ 0 h 675703"/>
                <a:gd name="connsiteX7" fmla="*/ 0 w 469820"/>
                <a:gd name="connsiteY7" fmla="*/ 0 h 675703"/>
                <a:gd name="connsiteX8" fmla="*/ 223266 w 469820"/>
                <a:gd name="connsiteY8" fmla="*/ 312992 h 675703"/>
                <a:gd name="connsiteX9" fmla="*/ 223266 w 469820"/>
                <a:gd name="connsiteY9" fmla="*/ 362712 h 675703"/>
                <a:gd name="connsiteX10" fmla="*/ 0 w 469820"/>
                <a:gd name="connsiteY10" fmla="*/ 675704 h 675703"/>
                <a:gd name="connsiteX11" fmla="*/ 0 w 469820"/>
                <a:gd name="connsiteY11" fmla="*/ 675704 h 6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20" h="675703">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4"/>
            </a:solidFill>
            <a:ln>
              <a:noFill/>
            </a:ln>
          </p:spPr>
          <p:txBody>
            <a:bodyPr spcFirstLastPara="1" wrap="square" lIns="91401" tIns="45688" rIns="91401"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Tx/>
                <a:buNone/>
                <a:tabLst/>
                <a:defRPr/>
              </a:pPr>
              <a:endParaRPr kumimoji="0" lang="en-US" sz="1200" b="0" i="0" u="none" strike="noStrike" kern="1200" cap="none" spc="0" normalizeH="0" baseline="0" noProof="0">
                <a:ln>
                  <a:noFill/>
                </a:ln>
                <a:solidFill>
                  <a:srgbClr val="3C3C3C"/>
                </a:solidFill>
                <a:effectLst/>
                <a:uLnTx/>
                <a:uFillTx/>
                <a:latin typeface="Arial" panose="020B0604020202020204"/>
                <a:ea typeface="+mn-ea"/>
                <a:cs typeface="Arial"/>
              </a:endParaRPr>
            </a:p>
          </p:txBody>
        </p:sp>
      </p:grpSp>
      <p:grpSp>
        <p:nvGrpSpPr>
          <p:cNvPr id="112" name="g3">
            <a:extLst>
              <a:ext uri="{FF2B5EF4-FFF2-40B4-BE49-F238E27FC236}">
                <a16:creationId xmlns:a16="http://schemas.microsoft.com/office/drawing/2014/main" id="{ADFDD117-2BE6-F54D-7FE4-9F6C76FC45E0}"/>
              </a:ext>
            </a:extLst>
          </p:cNvPr>
          <p:cNvGrpSpPr/>
          <p:nvPr/>
        </p:nvGrpSpPr>
        <p:grpSpPr>
          <a:xfrm>
            <a:off x="6801707" y="3501690"/>
            <a:ext cx="3030663" cy="457200"/>
            <a:chOff x="6801707" y="2190938"/>
            <a:chExt cx="3030663" cy="457200"/>
          </a:xfrm>
        </p:grpSpPr>
        <p:sp>
          <p:nvSpPr>
            <p:cNvPr id="113" name="Freeform: Shape 24">
              <a:extLst>
                <a:ext uri="{FF2B5EF4-FFF2-40B4-BE49-F238E27FC236}">
                  <a16:creationId xmlns:a16="http://schemas.microsoft.com/office/drawing/2014/main" id="{1653DBC4-560F-3FF1-0129-93373DEDA203}"/>
                </a:ext>
              </a:extLst>
            </p:cNvPr>
            <p:cNvSpPr/>
            <p:nvPr/>
          </p:nvSpPr>
          <p:spPr>
            <a:xfrm flipH="1">
              <a:off x="6801707" y="2190938"/>
              <a:ext cx="3030663" cy="457200"/>
            </a:xfrm>
            <a:custGeom>
              <a:avLst/>
              <a:gdLst>
                <a:gd name="connsiteX0" fmla="*/ 0 w 3030663"/>
                <a:gd name="connsiteY0" fmla="*/ 0 h 457200"/>
                <a:gd name="connsiteX1" fmla="*/ 2520956 w 3030663"/>
                <a:gd name="connsiteY1" fmla="*/ 0 h 457200"/>
                <a:gd name="connsiteX2" fmla="*/ 2539224 w 3030663"/>
                <a:gd name="connsiteY2" fmla="*/ 0 h 457200"/>
                <a:gd name="connsiteX3" fmla="*/ 2856223 w 3030663"/>
                <a:gd name="connsiteY3" fmla="*/ 0 h 457200"/>
                <a:gd name="connsiteX4" fmla="*/ 2886476 w 3030663"/>
                <a:gd name="connsiteY4" fmla="*/ 15527 h 457200"/>
                <a:gd name="connsiteX5" fmla="*/ 3023732 w 3030663"/>
                <a:gd name="connsiteY5" fmla="*/ 207028 h 457200"/>
                <a:gd name="connsiteX6" fmla="*/ 3023732 w 3030663"/>
                <a:gd name="connsiteY6" fmla="*/ 250171 h 457200"/>
                <a:gd name="connsiteX7" fmla="*/ 2886476 w 3030663"/>
                <a:gd name="connsiteY7" fmla="*/ 441673 h 457200"/>
                <a:gd name="connsiteX8" fmla="*/ 2856223 w 3030663"/>
                <a:gd name="connsiteY8" fmla="*/ 457200 h 457200"/>
                <a:gd name="connsiteX9" fmla="*/ 2539224 w 3030663"/>
                <a:gd name="connsiteY9" fmla="*/ 457200 h 457200"/>
                <a:gd name="connsiteX10" fmla="*/ 2520956 w 3030663"/>
                <a:gd name="connsiteY10" fmla="*/ 457200 h 457200"/>
                <a:gd name="connsiteX11" fmla="*/ 0 w 3030663"/>
                <a:gd name="connsiteY11"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0663" h="457200">
                  <a:moveTo>
                    <a:pt x="0" y="0"/>
                  </a:moveTo>
                  <a:lnTo>
                    <a:pt x="2520956" y="0"/>
                  </a:lnTo>
                  <a:lnTo>
                    <a:pt x="2539224" y="0"/>
                  </a:lnTo>
                  <a:lnTo>
                    <a:pt x="2856223" y="0"/>
                  </a:lnTo>
                  <a:cubicBezTo>
                    <a:pt x="2868239" y="0"/>
                    <a:pt x="2879509" y="5778"/>
                    <a:pt x="2886476" y="15527"/>
                  </a:cubicBezTo>
                  <a:lnTo>
                    <a:pt x="3023732" y="207028"/>
                  </a:lnTo>
                  <a:cubicBezTo>
                    <a:pt x="3032974" y="219932"/>
                    <a:pt x="3032974" y="237268"/>
                    <a:pt x="3023732" y="250171"/>
                  </a:cubicBezTo>
                  <a:lnTo>
                    <a:pt x="2886476" y="441673"/>
                  </a:lnTo>
                  <a:cubicBezTo>
                    <a:pt x="2879509" y="451421"/>
                    <a:pt x="2868204" y="457200"/>
                    <a:pt x="2856223" y="457200"/>
                  </a:cubicBezTo>
                  <a:lnTo>
                    <a:pt x="2539224" y="457200"/>
                  </a:lnTo>
                  <a:lnTo>
                    <a:pt x="2520956" y="457200"/>
                  </a:lnTo>
                  <a:lnTo>
                    <a:pt x="0" y="457200"/>
                  </a:lnTo>
                  <a:close/>
                </a:path>
              </a:pathLst>
            </a:custGeom>
            <a:gradFill>
              <a:gsLst>
                <a:gs pos="0">
                  <a:schemeClr val="bg2">
                    <a:lumMod val="90000"/>
                  </a:schemeClr>
                </a:gs>
                <a:gs pos="100000">
                  <a:schemeClr val="bg2">
                    <a:lumMod val="90000"/>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 name="Striped Right Arrow 225">
              <a:extLst>
                <a:ext uri="{FF2B5EF4-FFF2-40B4-BE49-F238E27FC236}">
                  <a16:creationId xmlns:a16="http://schemas.microsoft.com/office/drawing/2014/main" id="{6FABB5DA-50DA-3373-65E6-F3DB8C0A6E8F}"/>
                </a:ext>
              </a:extLst>
            </p:cNvPr>
            <p:cNvSpPr/>
            <p:nvPr/>
          </p:nvSpPr>
          <p:spPr>
            <a:xfrm flipH="1">
              <a:off x="7209211" y="2233918"/>
              <a:ext cx="2368967" cy="36917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Vendor #3 configuration/API</a:t>
              </a:r>
            </a:p>
          </p:txBody>
        </p:sp>
        <p:sp>
          <p:nvSpPr>
            <p:cNvPr id="115" name="Graphic 6096">
              <a:extLst>
                <a:ext uri="{FF2B5EF4-FFF2-40B4-BE49-F238E27FC236}">
                  <a16:creationId xmlns:a16="http://schemas.microsoft.com/office/drawing/2014/main" id="{9067C050-6516-2510-7216-8C2138A66747}"/>
                </a:ext>
              </a:extLst>
            </p:cNvPr>
            <p:cNvSpPr/>
            <p:nvPr/>
          </p:nvSpPr>
          <p:spPr>
            <a:xfrm flipH="1">
              <a:off x="6816283" y="2234303"/>
              <a:ext cx="258311" cy="370470"/>
            </a:xfrm>
            <a:custGeom>
              <a:avLst/>
              <a:gdLst>
                <a:gd name="connsiteX0" fmla="*/ 0 w 469820"/>
                <a:gd name="connsiteY0" fmla="*/ 675704 h 675703"/>
                <a:gd name="connsiteX1" fmla="*/ 210503 w 469820"/>
                <a:gd name="connsiteY1" fmla="*/ 675704 h 675703"/>
                <a:gd name="connsiteX2" fmla="*/ 258699 w 469820"/>
                <a:gd name="connsiteY2" fmla="*/ 650843 h 675703"/>
                <a:gd name="connsiteX3" fmla="*/ 459962 w 469820"/>
                <a:gd name="connsiteY3" fmla="*/ 368713 h 675703"/>
                <a:gd name="connsiteX4" fmla="*/ 459962 w 469820"/>
                <a:gd name="connsiteY4" fmla="*/ 306896 h 675703"/>
                <a:gd name="connsiteX5" fmla="*/ 260033 w 469820"/>
                <a:gd name="connsiteY5" fmla="*/ 26670 h 675703"/>
                <a:gd name="connsiteX6" fmla="*/ 208217 w 469820"/>
                <a:gd name="connsiteY6" fmla="*/ 0 h 675703"/>
                <a:gd name="connsiteX7" fmla="*/ 0 w 469820"/>
                <a:gd name="connsiteY7" fmla="*/ 0 h 675703"/>
                <a:gd name="connsiteX8" fmla="*/ 223266 w 469820"/>
                <a:gd name="connsiteY8" fmla="*/ 312992 h 675703"/>
                <a:gd name="connsiteX9" fmla="*/ 223266 w 469820"/>
                <a:gd name="connsiteY9" fmla="*/ 362712 h 675703"/>
                <a:gd name="connsiteX10" fmla="*/ 0 w 469820"/>
                <a:gd name="connsiteY10" fmla="*/ 675704 h 675703"/>
                <a:gd name="connsiteX11" fmla="*/ 0 w 469820"/>
                <a:gd name="connsiteY11" fmla="*/ 675704 h 6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20" h="675703">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5"/>
            </a:solidFill>
            <a:ln>
              <a:noFill/>
            </a:ln>
          </p:spPr>
          <p:txBody>
            <a:bodyPr spcFirstLastPara="1" wrap="square" lIns="91401" tIns="45688" rIns="91401"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Tx/>
                <a:buNone/>
                <a:tabLst/>
                <a:defRPr/>
              </a:pPr>
              <a:endParaRPr kumimoji="0" lang="en-US" sz="1200" b="0" i="0" u="none" strike="noStrike" kern="1200" cap="none" spc="0" normalizeH="0" baseline="0" noProof="0">
                <a:ln>
                  <a:noFill/>
                </a:ln>
                <a:solidFill>
                  <a:srgbClr val="3C3C3C"/>
                </a:solidFill>
                <a:effectLst/>
                <a:uLnTx/>
                <a:uFillTx/>
                <a:latin typeface="Arial" panose="020B0604020202020204"/>
                <a:ea typeface="+mn-ea"/>
                <a:cs typeface="Arial"/>
              </a:endParaRPr>
            </a:p>
          </p:txBody>
        </p:sp>
      </p:grpSp>
      <p:grpSp>
        <p:nvGrpSpPr>
          <p:cNvPr id="116" name="g4">
            <a:extLst>
              <a:ext uri="{FF2B5EF4-FFF2-40B4-BE49-F238E27FC236}">
                <a16:creationId xmlns:a16="http://schemas.microsoft.com/office/drawing/2014/main" id="{EF7C02AD-D001-F7D7-9E7F-BA81716AD707}"/>
              </a:ext>
            </a:extLst>
          </p:cNvPr>
          <p:cNvGrpSpPr/>
          <p:nvPr/>
        </p:nvGrpSpPr>
        <p:grpSpPr>
          <a:xfrm>
            <a:off x="6801707" y="4172647"/>
            <a:ext cx="3030663" cy="457200"/>
            <a:chOff x="6801707" y="2190938"/>
            <a:chExt cx="3030663" cy="457200"/>
          </a:xfrm>
        </p:grpSpPr>
        <p:sp>
          <p:nvSpPr>
            <p:cNvPr id="117" name="Freeform: Shape 24">
              <a:extLst>
                <a:ext uri="{FF2B5EF4-FFF2-40B4-BE49-F238E27FC236}">
                  <a16:creationId xmlns:a16="http://schemas.microsoft.com/office/drawing/2014/main" id="{8BE286B8-5AD6-D847-98A0-0C18F26F837D}"/>
                </a:ext>
              </a:extLst>
            </p:cNvPr>
            <p:cNvSpPr/>
            <p:nvPr/>
          </p:nvSpPr>
          <p:spPr>
            <a:xfrm flipH="1">
              <a:off x="6801707" y="2190938"/>
              <a:ext cx="3030663" cy="457200"/>
            </a:xfrm>
            <a:custGeom>
              <a:avLst/>
              <a:gdLst>
                <a:gd name="connsiteX0" fmla="*/ 0 w 3030663"/>
                <a:gd name="connsiteY0" fmla="*/ 0 h 457200"/>
                <a:gd name="connsiteX1" fmla="*/ 2520956 w 3030663"/>
                <a:gd name="connsiteY1" fmla="*/ 0 h 457200"/>
                <a:gd name="connsiteX2" fmla="*/ 2539224 w 3030663"/>
                <a:gd name="connsiteY2" fmla="*/ 0 h 457200"/>
                <a:gd name="connsiteX3" fmla="*/ 2856223 w 3030663"/>
                <a:gd name="connsiteY3" fmla="*/ 0 h 457200"/>
                <a:gd name="connsiteX4" fmla="*/ 2886476 w 3030663"/>
                <a:gd name="connsiteY4" fmla="*/ 15527 h 457200"/>
                <a:gd name="connsiteX5" fmla="*/ 3023732 w 3030663"/>
                <a:gd name="connsiteY5" fmla="*/ 207028 h 457200"/>
                <a:gd name="connsiteX6" fmla="*/ 3023732 w 3030663"/>
                <a:gd name="connsiteY6" fmla="*/ 250171 h 457200"/>
                <a:gd name="connsiteX7" fmla="*/ 2886476 w 3030663"/>
                <a:gd name="connsiteY7" fmla="*/ 441673 h 457200"/>
                <a:gd name="connsiteX8" fmla="*/ 2856223 w 3030663"/>
                <a:gd name="connsiteY8" fmla="*/ 457200 h 457200"/>
                <a:gd name="connsiteX9" fmla="*/ 2539224 w 3030663"/>
                <a:gd name="connsiteY9" fmla="*/ 457200 h 457200"/>
                <a:gd name="connsiteX10" fmla="*/ 2520956 w 3030663"/>
                <a:gd name="connsiteY10" fmla="*/ 457200 h 457200"/>
                <a:gd name="connsiteX11" fmla="*/ 0 w 3030663"/>
                <a:gd name="connsiteY11"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0663" h="457200">
                  <a:moveTo>
                    <a:pt x="0" y="0"/>
                  </a:moveTo>
                  <a:lnTo>
                    <a:pt x="2520956" y="0"/>
                  </a:lnTo>
                  <a:lnTo>
                    <a:pt x="2539224" y="0"/>
                  </a:lnTo>
                  <a:lnTo>
                    <a:pt x="2856223" y="0"/>
                  </a:lnTo>
                  <a:cubicBezTo>
                    <a:pt x="2868239" y="0"/>
                    <a:pt x="2879509" y="5778"/>
                    <a:pt x="2886476" y="15527"/>
                  </a:cubicBezTo>
                  <a:lnTo>
                    <a:pt x="3023732" y="207028"/>
                  </a:lnTo>
                  <a:cubicBezTo>
                    <a:pt x="3032974" y="219932"/>
                    <a:pt x="3032974" y="237268"/>
                    <a:pt x="3023732" y="250171"/>
                  </a:cubicBezTo>
                  <a:lnTo>
                    <a:pt x="2886476" y="441673"/>
                  </a:lnTo>
                  <a:cubicBezTo>
                    <a:pt x="2879509" y="451421"/>
                    <a:pt x="2868204" y="457200"/>
                    <a:pt x="2856223" y="457200"/>
                  </a:cubicBezTo>
                  <a:lnTo>
                    <a:pt x="2539224" y="457200"/>
                  </a:lnTo>
                  <a:lnTo>
                    <a:pt x="2520956" y="457200"/>
                  </a:lnTo>
                  <a:lnTo>
                    <a:pt x="0" y="457200"/>
                  </a:lnTo>
                  <a:close/>
                </a:path>
              </a:pathLst>
            </a:custGeom>
            <a:gradFill>
              <a:gsLst>
                <a:gs pos="0">
                  <a:schemeClr val="bg2">
                    <a:lumMod val="90000"/>
                  </a:schemeClr>
                </a:gs>
                <a:gs pos="100000">
                  <a:schemeClr val="bg2">
                    <a:lumMod val="90000"/>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 name="Striped Right Arrow 225">
              <a:extLst>
                <a:ext uri="{FF2B5EF4-FFF2-40B4-BE49-F238E27FC236}">
                  <a16:creationId xmlns:a16="http://schemas.microsoft.com/office/drawing/2014/main" id="{74E2C4B2-67BB-059E-6A4F-D5D5FFEDA5E5}"/>
                </a:ext>
              </a:extLst>
            </p:cNvPr>
            <p:cNvSpPr/>
            <p:nvPr/>
          </p:nvSpPr>
          <p:spPr>
            <a:xfrm flipH="1">
              <a:off x="7209211" y="2233918"/>
              <a:ext cx="2368967" cy="36917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Vendor #4 configuration/API</a:t>
              </a:r>
            </a:p>
          </p:txBody>
        </p:sp>
        <p:sp>
          <p:nvSpPr>
            <p:cNvPr id="119" name="Graphic 6096">
              <a:extLst>
                <a:ext uri="{FF2B5EF4-FFF2-40B4-BE49-F238E27FC236}">
                  <a16:creationId xmlns:a16="http://schemas.microsoft.com/office/drawing/2014/main" id="{34205841-6159-32AA-18A2-99A7EE2E73FC}"/>
                </a:ext>
              </a:extLst>
            </p:cNvPr>
            <p:cNvSpPr/>
            <p:nvPr/>
          </p:nvSpPr>
          <p:spPr>
            <a:xfrm flipH="1">
              <a:off x="6816283" y="2234303"/>
              <a:ext cx="258311" cy="370470"/>
            </a:xfrm>
            <a:custGeom>
              <a:avLst/>
              <a:gdLst>
                <a:gd name="connsiteX0" fmla="*/ 0 w 469820"/>
                <a:gd name="connsiteY0" fmla="*/ 675704 h 675703"/>
                <a:gd name="connsiteX1" fmla="*/ 210503 w 469820"/>
                <a:gd name="connsiteY1" fmla="*/ 675704 h 675703"/>
                <a:gd name="connsiteX2" fmla="*/ 258699 w 469820"/>
                <a:gd name="connsiteY2" fmla="*/ 650843 h 675703"/>
                <a:gd name="connsiteX3" fmla="*/ 459962 w 469820"/>
                <a:gd name="connsiteY3" fmla="*/ 368713 h 675703"/>
                <a:gd name="connsiteX4" fmla="*/ 459962 w 469820"/>
                <a:gd name="connsiteY4" fmla="*/ 306896 h 675703"/>
                <a:gd name="connsiteX5" fmla="*/ 260033 w 469820"/>
                <a:gd name="connsiteY5" fmla="*/ 26670 h 675703"/>
                <a:gd name="connsiteX6" fmla="*/ 208217 w 469820"/>
                <a:gd name="connsiteY6" fmla="*/ 0 h 675703"/>
                <a:gd name="connsiteX7" fmla="*/ 0 w 469820"/>
                <a:gd name="connsiteY7" fmla="*/ 0 h 675703"/>
                <a:gd name="connsiteX8" fmla="*/ 223266 w 469820"/>
                <a:gd name="connsiteY8" fmla="*/ 312992 h 675703"/>
                <a:gd name="connsiteX9" fmla="*/ 223266 w 469820"/>
                <a:gd name="connsiteY9" fmla="*/ 362712 h 675703"/>
                <a:gd name="connsiteX10" fmla="*/ 0 w 469820"/>
                <a:gd name="connsiteY10" fmla="*/ 675704 h 675703"/>
                <a:gd name="connsiteX11" fmla="*/ 0 w 469820"/>
                <a:gd name="connsiteY11" fmla="*/ 675704 h 6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20" h="675703">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rgbClr val="A6192E"/>
            </a:solidFill>
            <a:ln>
              <a:noFill/>
            </a:ln>
          </p:spPr>
          <p:txBody>
            <a:bodyPr spcFirstLastPara="1" wrap="square" lIns="91401" tIns="45688" rIns="91401"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Tx/>
                <a:buNone/>
                <a:tabLst/>
                <a:defRPr/>
              </a:pPr>
              <a:endParaRPr kumimoji="0" lang="en-US" sz="1200" b="0" i="0" u="none" strike="noStrike" kern="1200" cap="none" spc="0" normalizeH="0" baseline="0" noProof="0" dirty="0">
                <a:ln>
                  <a:noFill/>
                </a:ln>
                <a:solidFill>
                  <a:srgbClr val="3C3C3C"/>
                </a:solidFill>
                <a:effectLst/>
                <a:uLnTx/>
                <a:uFillTx/>
                <a:latin typeface="Arial" panose="020B0604020202020204"/>
                <a:ea typeface="+mn-ea"/>
                <a:cs typeface="Arial"/>
              </a:endParaRPr>
            </a:p>
          </p:txBody>
        </p:sp>
      </p:grpSp>
      <p:grpSp>
        <p:nvGrpSpPr>
          <p:cNvPr id="151" name="Group 150">
            <a:extLst>
              <a:ext uri="{FF2B5EF4-FFF2-40B4-BE49-F238E27FC236}">
                <a16:creationId xmlns:a16="http://schemas.microsoft.com/office/drawing/2014/main" id="{7A6B0DC6-1B10-8842-8350-43BBAD4E5249}"/>
              </a:ext>
            </a:extLst>
          </p:cNvPr>
          <p:cNvGrpSpPr>
            <a:grpSpLocks noChangeAspect="1"/>
          </p:cNvGrpSpPr>
          <p:nvPr/>
        </p:nvGrpSpPr>
        <p:grpSpPr>
          <a:xfrm>
            <a:off x="1904965" y="5028964"/>
            <a:ext cx="438912" cy="438912"/>
            <a:chOff x="2008163" y="2122216"/>
            <a:chExt cx="530226" cy="530226"/>
          </a:xfrm>
        </p:grpSpPr>
        <p:sp>
          <p:nvSpPr>
            <p:cNvPr id="152" name="Google Shape;1802;p69">
              <a:extLst>
                <a:ext uri="{FF2B5EF4-FFF2-40B4-BE49-F238E27FC236}">
                  <a16:creationId xmlns:a16="http://schemas.microsoft.com/office/drawing/2014/main" id="{AAC19DE8-8701-489E-CA4F-7DE69FBC8EED}"/>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53" name="Google Shape;1803;p69">
              <a:extLst>
                <a:ext uri="{FF2B5EF4-FFF2-40B4-BE49-F238E27FC236}">
                  <a16:creationId xmlns:a16="http://schemas.microsoft.com/office/drawing/2014/main" id="{CCC1933B-E078-DE9C-1EC1-A5011DC253D4}"/>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54" name="Group 153">
            <a:extLst>
              <a:ext uri="{FF2B5EF4-FFF2-40B4-BE49-F238E27FC236}">
                <a16:creationId xmlns:a16="http://schemas.microsoft.com/office/drawing/2014/main" id="{16E2E701-F430-A072-79E6-796BB0A4184B}"/>
              </a:ext>
            </a:extLst>
          </p:cNvPr>
          <p:cNvGrpSpPr>
            <a:grpSpLocks noChangeAspect="1"/>
          </p:cNvGrpSpPr>
          <p:nvPr/>
        </p:nvGrpSpPr>
        <p:grpSpPr>
          <a:xfrm>
            <a:off x="2981039" y="5028964"/>
            <a:ext cx="438912" cy="438912"/>
            <a:chOff x="2008163" y="2122216"/>
            <a:chExt cx="530226" cy="530226"/>
          </a:xfrm>
        </p:grpSpPr>
        <p:sp>
          <p:nvSpPr>
            <p:cNvPr id="155" name="Google Shape;1802;p69">
              <a:extLst>
                <a:ext uri="{FF2B5EF4-FFF2-40B4-BE49-F238E27FC236}">
                  <a16:creationId xmlns:a16="http://schemas.microsoft.com/office/drawing/2014/main" id="{B56BCC76-A742-BEE7-D94D-366F1E5A37B9}"/>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56" name="Google Shape;1803;p69">
              <a:extLst>
                <a:ext uri="{FF2B5EF4-FFF2-40B4-BE49-F238E27FC236}">
                  <a16:creationId xmlns:a16="http://schemas.microsoft.com/office/drawing/2014/main" id="{A3F800A7-AC73-17D3-4111-F84AFD4200F7}"/>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57" name="Group 156">
            <a:extLst>
              <a:ext uri="{FF2B5EF4-FFF2-40B4-BE49-F238E27FC236}">
                <a16:creationId xmlns:a16="http://schemas.microsoft.com/office/drawing/2014/main" id="{01CA4831-A2B5-D9F6-4DCB-A5D9E0D3FEF4}"/>
              </a:ext>
            </a:extLst>
          </p:cNvPr>
          <p:cNvGrpSpPr>
            <a:grpSpLocks noChangeAspect="1"/>
          </p:cNvGrpSpPr>
          <p:nvPr/>
        </p:nvGrpSpPr>
        <p:grpSpPr>
          <a:xfrm>
            <a:off x="1145335" y="5028964"/>
            <a:ext cx="438912" cy="438912"/>
            <a:chOff x="2008163" y="2122216"/>
            <a:chExt cx="530226" cy="530226"/>
          </a:xfrm>
        </p:grpSpPr>
        <p:sp>
          <p:nvSpPr>
            <p:cNvPr id="158" name="Google Shape;1802;p69">
              <a:extLst>
                <a:ext uri="{FF2B5EF4-FFF2-40B4-BE49-F238E27FC236}">
                  <a16:creationId xmlns:a16="http://schemas.microsoft.com/office/drawing/2014/main" id="{C8A5B4CC-D3B1-7986-E0D3-D52E1B48F492}"/>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59" name="Google Shape;1803;p69">
              <a:extLst>
                <a:ext uri="{FF2B5EF4-FFF2-40B4-BE49-F238E27FC236}">
                  <a16:creationId xmlns:a16="http://schemas.microsoft.com/office/drawing/2014/main" id="{6A4EACE4-4437-3B54-8552-60DF59A815DA}"/>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60" name="Group 159">
            <a:extLst>
              <a:ext uri="{FF2B5EF4-FFF2-40B4-BE49-F238E27FC236}">
                <a16:creationId xmlns:a16="http://schemas.microsoft.com/office/drawing/2014/main" id="{A0DE4FE0-CADF-161C-1E6F-6F868213F655}"/>
              </a:ext>
            </a:extLst>
          </p:cNvPr>
          <p:cNvGrpSpPr>
            <a:grpSpLocks noChangeAspect="1"/>
          </p:cNvGrpSpPr>
          <p:nvPr/>
        </p:nvGrpSpPr>
        <p:grpSpPr>
          <a:xfrm>
            <a:off x="5563935" y="5028964"/>
            <a:ext cx="438912" cy="438912"/>
            <a:chOff x="2008163" y="2122216"/>
            <a:chExt cx="530226" cy="530226"/>
          </a:xfrm>
        </p:grpSpPr>
        <p:sp>
          <p:nvSpPr>
            <p:cNvPr id="161" name="Google Shape;1802;p69">
              <a:extLst>
                <a:ext uri="{FF2B5EF4-FFF2-40B4-BE49-F238E27FC236}">
                  <a16:creationId xmlns:a16="http://schemas.microsoft.com/office/drawing/2014/main" id="{4DBCE1D2-ACDC-B4CF-381A-968CD3E9D4A1}"/>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62" name="Google Shape;1803;p69">
              <a:extLst>
                <a:ext uri="{FF2B5EF4-FFF2-40B4-BE49-F238E27FC236}">
                  <a16:creationId xmlns:a16="http://schemas.microsoft.com/office/drawing/2014/main" id="{62FF6400-6655-BACF-4566-A29613A386E0}"/>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63" name="Group 162">
            <a:extLst>
              <a:ext uri="{FF2B5EF4-FFF2-40B4-BE49-F238E27FC236}">
                <a16:creationId xmlns:a16="http://schemas.microsoft.com/office/drawing/2014/main" id="{9DB175AA-05A6-769D-B564-BE1ECDF692C3}"/>
              </a:ext>
            </a:extLst>
          </p:cNvPr>
          <p:cNvGrpSpPr>
            <a:grpSpLocks noChangeAspect="1"/>
          </p:cNvGrpSpPr>
          <p:nvPr/>
        </p:nvGrpSpPr>
        <p:grpSpPr>
          <a:xfrm>
            <a:off x="3724035" y="5028964"/>
            <a:ext cx="438912" cy="438912"/>
            <a:chOff x="2008163" y="2122216"/>
            <a:chExt cx="530226" cy="530226"/>
          </a:xfrm>
        </p:grpSpPr>
        <p:sp>
          <p:nvSpPr>
            <p:cNvPr id="164" name="Google Shape;1802;p69">
              <a:extLst>
                <a:ext uri="{FF2B5EF4-FFF2-40B4-BE49-F238E27FC236}">
                  <a16:creationId xmlns:a16="http://schemas.microsoft.com/office/drawing/2014/main" id="{50232E30-3BB3-A0D3-A9E9-BB50A106235E}"/>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65" name="Google Shape;1803;p69">
              <a:extLst>
                <a:ext uri="{FF2B5EF4-FFF2-40B4-BE49-F238E27FC236}">
                  <a16:creationId xmlns:a16="http://schemas.microsoft.com/office/drawing/2014/main" id="{210FFB49-C118-E4ED-17BE-40295E0DBD89}"/>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66" name="Group 165">
            <a:extLst>
              <a:ext uri="{FF2B5EF4-FFF2-40B4-BE49-F238E27FC236}">
                <a16:creationId xmlns:a16="http://schemas.microsoft.com/office/drawing/2014/main" id="{BB92C581-B3AB-2B47-A5DC-42EA906C862C}"/>
              </a:ext>
            </a:extLst>
          </p:cNvPr>
          <p:cNvGrpSpPr>
            <a:grpSpLocks noChangeAspect="1"/>
          </p:cNvGrpSpPr>
          <p:nvPr/>
        </p:nvGrpSpPr>
        <p:grpSpPr>
          <a:xfrm>
            <a:off x="4813645" y="5028964"/>
            <a:ext cx="438912" cy="438912"/>
            <a:chOff x="2008163" y="2122216"/>
            <a:chExt cx="530226" cy="530226"/>
          </a:xfrm>
        </p:grpSpPr>
        <p:sp>
          <p:nvSpPr>
            <p:cNvPr id="167" name="Google Shape;1802;p69">
              <a:extLst>
                <a:ext uri="{FF2B5EF4-FFF2-40B4-BE49-F238E27FC236}">
                  <a16:creationId xmlns:a16="http://schemas.microsoft.com/office/drawing/2014/main" id="{7E0A2DDE-1FE7-CAE1-3C9E-BCF072481790}"/>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68" name="Google Shape;1803;p69">
              <a:extLst>
                <a:ext uri="{FF2B5EF4-FFF2-40B4-BE49-F238E27FC236}">
                  <a16:creationId xmlns:a16="http://schemas.microsoft.com/office/drawing/2014/main" id="{C56AA8F0-4C90-CDF1-8912-B488A2BC9E1B}"/>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sp>
        <p:nvSpPr>
          <p:cNvPr id="169" name="Rectangle: Rounded Corners 92">
            <a:extLst>
              <a:ext uri="{FF2B5EF4-FFF2-40B4-BE49-F238E27FC236}">
                <a16:creationId xmlns:a16="http://schemas.microsoft.com/office/drawing/2014/main" id="{A4992FC6-6C7C-40C7-3F30-7F74A1CC0BB1}"/>
              </a:ext>
            </a:extLst>
          </p:cNvPr>
          <p:cNvSpPr/>
          <p:nvPr/>
        </p:nvSpPr>
        <p:spPr>
          <a:xfrm>
            <a:off x="1851220" y="4678758"/>
            <a:ext cx="540000" cy="243683"/>
          </a:xfrm>
          <a:prstGeom prst="roundRect">
            <a:avLst>
              <a:gd name="adj" fmla="val 1876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err="1">
                <a:ln>
                  <a:noFill/>
                </a:ln>
                <a:solidFill>
                  <a:srgbClr val="FFFFFF"/>
                </a:solidFill>
                <a:effectLst/>
                <a:uLnTx/>
                <a:uFillTx/>
                <a:latin typeface="Arial" panose="020B0604020202020204"/>
                <a:ea typeface="+mn-ea"/>
                <a:cs typeface="+mn-cs"/>
              </a:rPr>
              <a:t>DvPG</a:t>
            </a: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y</a:t>
            </a:r>
          </a:p>
        </p:txBody>
      </p:sp>
      <p:sp>
        <p:nvSpPr>
          <p:cNvPr id="170" name="Rectangle: Rounded Corners 93">
            <a:extLst>
              <a:ext uri="{FF2B5EF4-FFF2-40B4-BE49-F238E27FC236}">
                <a16:creationId xmlns:a16="http://schemas.microsoft.com/office/drawing/2014/main" id="{EF5A44FE-BA30-E4C5-76FF-8FA1292B8F66}"/>
              </a:ext>
            </a:extLst>
          </p:cNvPr>
          <p:cNvSpPr/>
          <p:nvPr/>
        </p:nvSpPr>
        <p:spPr>
          <a:xfrm>
            <a:off x="2929739" y="4678758"/>
            <a:ext cx="540000" cy="243683"/>
          </a:xfrm>
          <a:prstGeom prst="roundRect">
            <a:avLst>
              <a:gd name="adj" fmla="val 18762"/>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err="1">
                <a:ln>
                  <a:noFill/>
                </a:ln>
                <a:solidFill>
                  <a:srgbClr val="FFFFFF"/>
                </a:solidFill>
                <a:effectLst/>
                <a:uLnTx/>
                <a:uFillTx/>
                <a:latin typeface="Arial" panose="020B0604020202020204"/>
                <a:ea typeface="+mn-ea"/>
                <a:cs typeface="+mn-cs"/>
              </a:rPr>
              <a:t>DvPG</a:t>
            </a: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z</a:t>
            </a:r>
          </a:p>
        </p:txBody>
      </p:sp>
      <p:sp>
        <p:nvSpPr>
          <p:cNvPr id="171" name="Rectangle: Rounded Corners 93">
            <a:extLst>
              <a:ext uri="{FF2B5EF4-FFF2-40B4-BE49-F238E27FC236}">
                <a16:creationId xmlns:a16="http://schemas.microsoft.com/office/drawing/2014/main" id="{B1283DE5-7A0D-5EB4-094C-1852A149835F}"/>
              </a:ext>
            </a:extLst>
          </p:cNvPr>
          <p:cNvSpPr/>
          <p:nvPr/>
        </p:nvSpPr>
        <p:spPr>
          <a:xfrm>
            <a:off x="5512730" y="4678758"/>
            <a:ext cx="540000" cy="243683"/>
          </a:xfrm>
          <a:prstGeom prst="roundRect">
            <a:avLst>
              <a:gd name="adj" fmla="val 18762"/>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err="1">
                <a:ln>
                  <a:noFill/>
                </a:ln>
                <a:solidFill>
                  <a:srgbClr val="FFFFFF"/>
                </a:solidFill>
                <a:effectLst/>
                <a:uLnTx/>
                <a:uFillTx/>
                <a:latin typeface="Arial" panose="020B0604020202020204"/>
                <a:ea typeface="+mn-ea"/>
                <a:cs typeface="+mn-cs"/>
              </a:rPr>
              <a:t>DvPG</a:t>
            </a: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z</a:t>
            </a:r>
          </a:p>
        </p:txBody>
      </p:sp>
      <p:sp>
        <p:nvSpPr>
          <p:cNvPr id="172" name="Rectangle: Rounded Corners 92">
            <a:extLst>
              <a:ext uri="{FF2B5EF4-FFF2-40B4-BE49-F238E27FC236}">
                <a16:creationId xmlns:a16="http://schemas.microsoft.com/office/drawing/2014/main" id="{97B3DA26-D2D2-4217-3836-AA149F62459A}"/>
              </a:ext>
            </a:extLst>
          </p:cNvPr>
          <p:cNvSpPr/>
          <p:nvPr/>
        </p:nvSpPr>
        <p:spPr>
          <a:xfrm>
            <a:off x="4763163" y="4678758"/>
            <a:ext cx="540000" cy="243683"/>
          </a:xfrm>
          <a:prstGeom prst="roundRect">
            <a:avLst>
              <a:gd name="adj" fmla="val 1876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err="1">
                <a:ln>
                  <a:noFill/>
                </a:ln>
                <a:solidFill>
                  <a:srgbClr val="FFFFFF"/>
                </a:solidFill>
                <a:effectLst/>
                <a:uLnTx/>
                <a:uFillTx/>
                <a:latin typeface="Arial" panose="020B0604020202020204"/>
                <a:ea typeface="+mn-ea"/>
                <a:cs typeface="+mn-cs"/>
              </a:rPr>
              <a:t>DvPG</a:t>
            </a: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y</a:t>
            </a:r>
          </a:p>
        </p:txBody>
      </p:sp>
      <p:sp>
        <p:nvSpPr>
          <p:cNvPr id="173" name="Rectangle: Rounded Corners 93">
            <a:extLst>
              <a:ext uri="{FF2B5EF4-FFF2-40B4-BE49-F238E27FC236}">
                <a16:creationId xmlns:a16="http://schemas.microsoft.com/office/drawing/2014/main" id="{7DECD242-B1B8-DA5C-3B63-CE2DC5F609FB}"/>
              </a:ext>
            </a:extLst>
          </p:cNvPr>
          <p:cNvSpPr/>
          <p:nvPr/>
        </p:nvSpPr>
        <p:spPr>
          <a:xfrm>
            <a:off x="3672977" y="4678758"/>
            <a:ext cx="540000" cy="243683"/>
          </a:xfrm>
          <a:prstGeom prst="roundRect">
            <a:avLst>
              <a:gd name="adj" fmla="val 1876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err="1">
                <a:ln>
                  <a:noFill/>
                </a:ln>
                <a:solidFill>
                  <a:srgbClr val="FFFFFF"/>
                </a:solidFill>
                <a:effectLst/>
                <a:uLnTx/>
                <a:uFillTx/>
                <a:latin typeface="Arial" panose="020B0604020202020204"/>
                <a:ea typeface="+mn-ea"/>
                <a:cs typeface="+mn-cs"/>
              </a:rPr>
              <a:t>DvPG</a:t>
            </a: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x</a:t>
            </a:r>
          </a:p>
        </p:txBody>
      </p:sp>
      <p:sp>
        <p:nvSpPr>
          <p:cNvPr id="174" name="Rectangle: Rounded Corners 93">
            <a:extLst>
              <a:ext uri="{FF2B5EF4-FFF2-40B4-BE49-F238E27FC236}">
                <a16:creationId xmlns:a16="http://schemas.microsoft.com/office/drawing/2014/main" id="{BDF7ED02-4D95-D2FC-CDE5-F6CF1F7DAF37}"/>
              </a:ext>
            </a:extLst>
          </p:cNvPr>
          <p:cNvSpPr/>
          <p:nvPr/>
        </p:nvSpPr>
        <p:spPr>
          <a:xfrm>
            <a:off x="1094791" y="4678758"/>
            <a:ext cx="540000" cy="243683"/>
          </a:xfrm>
          <a:prstGeom prst="roundRect">
            <a:avLst>
              <a:gd name="adj" fmla="val 1876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err="1">
                <a:ln>
                  <a:noFill/>
                </a:ln>
                <a:solidFill>
                  <a:srgbClr val="FFFFFF"/>
                </a:solidFill>
                <a:effectLst/>
                <a:uLnTx/>
                <a:uFillTx/>
                <a:latin typeface="Arial" panose="020B0604020202020204"/>
                <a:ea typeface="+mn-ea"/>
                <a:cs typeface="+mn-cs"/>
              </a:rPr>
              <a:t>DvPG</a:t>
            </a: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x</a:t>
            </a:r>
          </a:p>
        </p:txBody>
      </p:sp>
      <p:sp>
        <p:nvSpPr>
          <p:cNvPr id="200" name="Rectangle 199">
            <a:extLst>
              <a:ext uri="{FF2B5EF4-FFF2-40B4-BE49-F238E27FC236}">
                <a16:creationId xmlns:a16="http://schemas.microsoft.com/office/drawing/2014/main" id="{DD5D0314-1FEF-7251-FD25-7FC1345BB938}"/>
              </a:ext>
            </a:extLst>
          </p:cNvPr>
          <p:cNvSpPr/>
          <p:nvPr/>
        </p:nvSpPr>
        <p:spPr>
          <a:xfrm>
            <a:off x="608014" y="1710756"/>
            <a:ext cx="5943600"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IP Fabric with service appliances</a:t>
            </a:r>
          </a:p>
        </p:txBody>
      </p:sp>
      <p:cxnSp>
        <p:nvCxnSpPr>
          <p:cNvPr id="179" name="Straight Connector 178">
            <a:extLst>
              <a:ext uri="{FF2B5EF4-FFF2-40B4-BE49-F238E27FC236}">
                <a16:creationId xmlns:a16="http://schemas.microsoft.com/office/drawing/2014/main" id="{071D8730-00C0-3915-907E-69A5B6ED1382}"/>
              </a:ext>
            </a:extLst>
          </p:cNvPr>
          <p:cNvCxnSpPr>
            <a:cxnSpLocks/>
            <a:stCxn id="158" idx="0"/>
            <a:endCxn id="174" idx="2"/>
          </p:cNvCxnSpPr>
          <p:nvPr/>
        </p:nvCxnSpPr>
        <p:spPr bwMode="gray">
          <a:xfrm flipV="1">
            <a:off x="1364791" y="4922441"/>
            <a:ext cx="0" cy="106523"/>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A48C291D-21BD-06F2-EB50-122142E24AB3}"/>
              </a:ext>
            </a:extLst>
          </p:cNvPr>
          <p:cNvCxnSpPr>
            <a:cxnSpLocks/>
            <a:stCxn id="152" idx="0"/>
            <a:endCxn id="169" idx="2"/>
          </p:cNvCxnSpPr>
          <p:nvPr/>
        </p:nvCxnSpPr>
        <p:spPr bwMode="gray">
          <a:xfrm flipH="1" flipV="1">
            <a:off x="2121220" y="4922441"/>
            <a:ext cx="3201" cy="106523"/>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2D34DDA0-9E9E-075D-B71F-B964D872E57B}"/>
              </a:ext>
            </a:extLst>
          </p:cNvPr>
          <p:cNvCxnSpPr>
            <a:cxnSpLocks/>
            <a:stCxn id="155" idx="0"/>
            <a:endCxn id="170" idx="2"/>
          </p:cNvCxnSpPr>
          <p:nvPr/>
        </p:nvCxnSpPr>
        <p:spPr bwMode="gray">
          <a:xfrm flipH="1" flipV="1">
            <a:off x="3199739" y="4922441"/>
            <a:ext cx="756" cy="106523"/>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81EC50E-BC3D-14FE-50EC-F8BA3F23D4E7}"/>
              </a:ext>
            </a:extLst>
          </p:cNvPr>
          <p:cNvCxnSpPr>
            <a:cxnSpLocks/>
            <a:stCxn id="164" idx="0"/>
            <a:endCxn id="173" idx="2"/>
          </p:cNvCxnSpPr>
          <p:nvPr/>
        </p:nvCxnSpPr>
        <p:spPr bwMode="gray">
          <a:xfrm flipH="1" flipV="1">
            <a:off x="3942977" y="4922441"/>
            <a:ext cx="514" cy="106523"/>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6588F4EB-7264-8501-3348-AC8D87791035}"/>
              </a:ext>
            </a:extLst>
          </p:cNvPr>
          <p:cNvCxnSpPr>
            <a:cxnSpLocks/>
            <a:stCxn id="167" idx="0"/>
            <a:endCxn id="172" idx="2"/>
          </p:cNvCxnSpPr>
          <p:nvPr/>
        </p:nvCxnSpPr>
        <p:spPr bwMode="gray">
          <a:xfrm flipV="1">
            <a:off x="5033101" y="4922441"/>
            <a:ext cx="62" cy="106523"/>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11D53AD7-396A-8CB9-A55F-E81259A5C7C5}"/>
              </a:ext>
            </a:extLst>
          </p:cNvPr>
          <p:cNvCxnSpPr>
            <a:cxnSpLocks/>
            <a:stCxn id="161" idx="0"/>
            <a:endCxn id="171" idx="2"/>
          </p:cNvCxnSpPr>
          <p:nvPr/>
        </p:nvCxnSpPr>
        <p:spPr bwMode="gray">
          <a:xfrm flipH="1" flipV="1">
            <a:off x="5782730" y="4922441"/>
            <a:ext cx="661" cy="106523"/>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569494A8-0034-17DE-C768-73514958BA8D}"/>
              </a:ext>
            </a:extLst>
          </p:cNvPr>
          <p:cNvGrpSpPr>
            <a:grpSpLocks noChangeAspect="1"/>
          </p:cNvGrpSpPr>
          <p:nvPr/>
        </p:nvGrpSpPr>
        <p:grpSpPr>
          <a:xfrm>
            <a:off x="2879202" y="1951839"/>
            <a:ext cx="457202" cy="457200"/>
            <a:chOff x="7498117" y="3244694"/>
            <a:chExt cx="615026" cy="615024"/>
          </a:xfrm>
        </p:grpSpPr>
        <p:sp>
          <p:nvSpPr>
            <p:cNvPr id="41" name="Oval 40">
              <a:extLst>
                <a:ext uri="{FF2B5EF4-FFF2-40B4-BE49-F238E27FC236}">
                  <a16:creationId xmlns:a16="http://schemas.microsoft.com/office/drawing/2014/main" id="{5C408B1C-46B9-4A8B-EFB8-076BBCA2154F}"/>
                </a:ext>
              </a:extLst>
            </p:cNvPr>
            <p:cNvSpPr>
              <a:spLocks noChangeAspect="1"/>
            </p:cNvSpPr>
            <p:nvPr/>
          </p:nvSpPr>
          <p:spPr>
            <a:xfrm>
              <a:off x="7498117" y="3244694"/>
              <a:ext cx="615026" cy="615024"/>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42" name="Graphic 62">
              <a:extLst>
                <a:ext uri="{FF2B5EF4-FFF2-40B4-BE49-F238E27FC236}">
                  <a16:creationId xmlns:a16="http://schemas.microsoft.com/office/drawing/2014/main" id="{23756DDC-1278-C14C-EB49-BA3EF601468E}"/>
                </a:ext>
              </a:extLst>
            </p:cNvPr>
            <p:cNvSpPr/>
            <p:nvPr/>
          </p:nvSpPr>
          <p:spPr>
            <a:xfrm>
              <a:off x="7601547" y="3369194"/>
              <a:ext cx="366027" cy="366026"/>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 name="Group 18">
            <a:extLst>
              <a:ext uri="{FF2B5EF4-FFF2-40B4-BE49-F238E27FC236}">
                <a16:creationId xmlns:a16="http://schemas.microsoft.com/office/drawing/2014/main" id="{842A32F1-228A-BAE6-A68B-1BA320AD4DF7}"/>
              </a:ext>
            </a:extLst>
          </p:cNvPr>
          <p:cNvGrpSpPr>
            <a:grpSpLocks noChangeAspect="1"/>
          </p:cNvGrpSpPr>
          <p:nvPr/>
        </p:nvGrpSpPr>
        <p:grpSpPr>
          <a:xfrm>
            <a:off x="2075198" y="1951839"/>
            <a:ext cx="457202" cy="457200"/>
            <a:chOff x="6236527" y="4282407"/>
            <a:chExt cx="615026" cy="615024"/>
          </a:xfrm>
        </p:grpSpPr>
        <p:sp>
          <p:nvSpPr>
            <p:cNvPr id="37" name="Oval 36">
              <a:extLst>
                <a:ext uri="{FF2B5EF4-FFF2-40B4-BE49-F238E27FC236}">
                  <a16:creationId xmlns:a16="http://schemas.microsoft.com/office/drawing/2014/main" id="{A6BB11BF-EDA4-597E-54DB-941B918FA12A}"/>
                </a:ext>
              </a:extLst>
            </p:cNvPr>
            <p:cNvSpPr>
              <a:spLocks noChangeAspect="1"/>
            </p:cNvSpPr>
            <p:nvPr/>
          </p:nvSpPr>
          <p:spPr>
            <a:xfrm>
              <a:off x="6236527" y="4282407"/>
              <a:ext cx="615026" cy="615024"/>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38" name="Group 37">
              <a:extLst>
                <a:ext uri="{FF2B5EF4-FFF2-40B4-BE49-F238E27FC236}">
                  <a16:creationId xmlns:a16="http://schemas.microsoft.com/office/drawing/2014/main" id="{60C71EFF-9859-81FB-0ED1-669E7A9C48F5}"/>
                </a:ext>
              </a:extLst>
            </p:cNvPr>
            <p:cNvGrpSpPr/>
            <p:nvPr/>
          </p:nvGrpSpPr>
          <p:grpSpPr>
            <a:xfrm>
              <a:off x="6341349" y="4462363"/>
              <a:ext cx="395473" cy="299841"/>
              <a:chOff x="3560655" y="2748581"/>
              <a:chExt cx="580548" cy="440165"/>
            </a:xfrm>
          </p:grpSpPr>
          <p:sp>
            <p:nvSpPr>
              <p:cNvPr id="39" name="Freeform: Shape 155">
                <a:extLst>
                  <a:ext uri="{FF2B5EF4-FFF2-40B4-BE49-F238E27FC236}">
                    <a16:creationId xmlns:a16="http://schemas.microsoft.com/office/drawing/2014/main" id="{F6B17A82-C265-3883-B94E-A5F64F4E2E22}"/>
                  </a:ext>
                </a:extLst>
              </p:cNvPr>
              <p:cNvSpPr/>
              <p:nvPr/>
            </p:nvSpPr>
            <p:spPr>
              <a:xfrm>
                <a:off x="3560655" y="2748581"/>
                <a:ext cx="580548" cy="336411"/>
              </a:xfrm>
              <a:custGeom>
                <a:avLst/>
                <a:gdLst>
                  <a:gd name="connsiteX0" fmla="*/ 284140 w 580548"/>
                  <a:gd name="connsiteY0" fmla="*/ 305741 h 336411"/>
                  <a:gd name="connsiteX1" fmla="*/ 134381 w 580548"/>
                  <a:gd name="connsiteY1" fmla="*/ 305741 h 336411"/>
                  <a:gd name="connsiteX2" fmla="*/ 134381 w 580548"/>
                  <a:gd name="connsiteY2" fmla="*/ 234498 h 336411"/>
                  <a:gd name="connsiteX3" fmla="*/ 290450 w 580548"/>
                  <a:gd name="connsiteY3" fmla="*/ 234498 h 336411"/>
                  <a:gd name="connsiteX4" fmla="*/ 290450 w 580548"/>
                  <a:gd name="connsiteY4" fmla="*/ 292597 h 336411"/>
                  <a:gd name="connsiteX5" fmla="*/ 316739 w 580548"/>
                  <a:gd name="connsiteY5" fmla="*/ 238660 h 336411"/>
                  <a:gd name="connsiteX6" fmla="*/ 316739 w 580548"/>
                  <a:gd name="connsiteY6" fmla="*/ 234498 h 336411"/>
                  <a:gd name="connsiteX7" fmla="*/ 318754 w 580548"/>
                  <a:gd name="connsiteY7" fmla="*/ 234498 h 336411"/>
                  <a:gd name="connsiteX8" fmla="*/ 333695 w 580548"/>
                  <a:gd name="connsiteY8" fmla="*/ 203827 h 336411"/>
                  <a:gd name="connsiteX9" fmla="*/ 258421 w 580548"/>
                  <a:gd name="connsiteY9" fmla="*/ 203827 h 336411"/>
                  <a:gd name="connsiteX10" fmla="*/ 258421 w 580548"/>
                  <a:gd name="connsiteY10" fmla="*/ 132584 h 336411"/>
                  <a:gd name="connsiteX11" fmla="*/ 414490 w 580548"/>
                  <a:gd name="connsiteY11" fmla="*/ 132584 h 336411"/>
                  <a:gd name="connsiteX12" fmla="*/ 414490 w 580548"/>
                  <a:gd name="connsiteY12" fmla="*/ 192479 h 336411"/>
                  <a:gd name="connsiteX13" fmla="*/ 440779 w 580548"/>
                  <a:gd name="connsiteY13" fmla="*/ 137973 h 336411"/>
                  <a:gd name="connsiteX14" fmla="*/ 440779 w 580548"/>
                  <a:gd name="connsiteY14" fmla="*/ 132584 h 336411"/>
                  <a:gd name="connsiteX15" fmla="*/ 443364 w 580548"/>
                  <a:gd name="connsiteY15" fmla="*/ 132584 h 336411"/>
                  <a:gd name="connsiteX16" fmla="*/ 458173 w 580548"/>
                  <a:gd name="connsiteY16" fmla="*/ 101914 h 336411"/>
                  <a:gd name="connsiteX17" fmla="*/ 351528 w 580548"/>
                  <a:gd name="connsiteY17" fmla="*/ 101914 h 336411"/>
                  <a:gd name="connsiteX18" fmla="*/ 351528 w 580548"/>
                  <a:gd name="connsiteY18" fmla="*/ 30671 h 336411"/>
                  <a:gd name="connsiteX19" fmla="*/ 507597 w 580548"/>
                  <a:gd name="connsiteY19" fmla="*/ 30671 h 336411"/>
                  <a:gd name="connsiteX20" fmla="*/ 507597 w 580548"/>
                  <a:gd name="connsiteY20" fmla="*/ 101914 h 336411"/>
                  <a:gd name="connsiteX21" fmla="*/ 496643 w 580548"/>
                  <a:gd name="connsiteY21" fmla="*/ 101914 h 336411"/>
                  <a:gd name="connsiteX22" fmla="*/ 506063 w 580548"/>
                  <a:gd name="connsiteY22" fmla="*/ 121324 h 336411"/>
                  <a:gd name="connsiteX23" fmla="*/ 511540 w 580548"/>
                  <a:gd name="connsiteY23" fmla="*/ 132584 h 336411"/>
                  <a:gd name="connsiteX24" fmla="*/ 549834 w 580548"/>
                  <a:gd name="connsiteY24" fmla="*/ 132584 h 336411"/>
                  <a:gd name="connsiteX25" fmla="*/ 549834 w 580548"/>
                  <a:gd name="connsiteY25" fmla="*/ 203827 h 336411"/>
                  <a:gd name="connsiteX26" fmla="*/ 546154 w 580548"/>
                  <a:gd name="connsiteY26" fmla="*/ 203827 h 336411"/>
                  <a:gd name="connsiteX27" fmla="*/ 574984 w 580548"/>
                  <a:gd name="connsiteY27" fmla="*/ 262759 h 336411"/>
                  <a:gd name="connsiteX28" fmla="*/ 580549 w 580548"/>
                  <a:gd name="connsiteY28" fmla="*/ 274326 h 336411"/>
                  <a:gd name="connsiteX29" fmla="*/ 580549 w 580548"/>
                  <a:gd name="connsiteY29" fmla="*/ 0 h 336411"/>
                  <a:gd name="connsiteX30" fmla="*/ 0 w 580548"/>
                  <a:gd name="connsiteY30" fmla="*/ 0 h 336411"/>
                  <a:gd name="connsiteX31" fmla="*/ 0 w 580548"/>
                  <a:gd name="connsiteY31" fmla="*/ 336412 h 336411"/>
                  <a:gd name="connsiteX32" fmla="*/ 275509 w 580548"/>
                  <a:gd name="connsiteY32" fmla="*/ 336412 h 336411"/>
                  <a:gd name="connsiteX33" fmla="*/ 284140 w 580548"/>
                  <a:gd name="connsiteY33" fmla="*/ 305741 h 336411"/>
                  <a:gd name="connsiteX34" fmla="*/ 533886 w 580548"/>
                  <a:gd name="connsiteY34" fmla="*/ 30671 h 336411"/>
                  <a:gd name="connsiteX35" fmla="*/ 549834 w 580548"/>
                  <a:gd name="connsiteY35" fmla="*/ 30671 h 336411"/>
                  <a:gd name="connsiteX36" fmla="*/ 549834 w 580548"/>
                  <a:gd name="connsiteY36" fmla="*/ 101914 h 336411"/>
                  <a:gd name="connsiteX37" fmla="*/ 533886 w 580548"/>
                  <a:gd name="connsiteY37" fmla="*/ 101914 h 336411"/>
                  <a:gd name="connsiteX38" fmla="*/ 533886 w 580548"/>
                  <a:gd name="connsiteY38" fmla="*/ 30671 h 336411"/>
                  <a:gd name="connsiteX39" fmla="*/ 232132 w 580548"/>
                  <a:gd name="connsiteY39" fmla="*/ 203827 h 336411"/>
                  <a:gd name="connsiteX40" fmla="*/ 76063 w 580548"/>
                  <a:gd name="connsiteY40" fmla="*/ 203827 h 336411"/>
                  <a:gd name="connsiteX41" fmla="*/ 76063 w 580548"/>
                  <a:gd name="connsiteY41" fmla="*/ 132584 h 336411"/>
                  <a:gd name="connsiteX42" fmla="*/ 232132 w 580548"/>
                  <a:gd name="connsiteY42" fmla="*/ 132584 h 336411"/>
                  <a:gd name="connsiteX43" fmla="*/ 232132 w 580548"/>
                  <a:gd name="connsiteY43" fmla="*/ 203827 h 336411"/>
                  <a:gd name="connsiteX44" fmla="*/ 169170 w 580548"/>
                  <a:gd name="connsiteY44" fmla="*/ 30671 h 336411"/>
                  <a:gd name="connsiteX45" fmla="*/ 325239 w 580548"/>
                  <a:gd name="connsiteY45" fmla="*/ 30671 h 336411"/>
                  <a:gd name="connsiteX46" fmla="*/ 325239 w 580548"/>
                  <a:gd name="connsiteY46" fmla="*/ 101914 h 336411"/>
                  <a:gd name="connsiteX47" fmla="*/ 169170 w 580548"/>
                  <a:gd name="connsiteY47" fmla="*/ 101914 h 336411"/>
                  <a:gd name="connsiteX48" fmla="*/ 169170 w 580548"/>
                  <a:gd name="connsiteY48" fmla="*/ 30671 h 336411"/>
                  <a:gd name="connsiteX49" fmla="*/ 30671 w 580548"/>
                  <a:gd name="connsiteY49" fmla="*/ 30671 h 336411"/>
                  <a:gd name="connsiteX50" fmla="*/ 142881 w 580548"/>
                  <a:gd name="connsiteY50" fmla="*/ 30671 h 336411"/>
                  <a:gd name="connsiteX51" fmla="*/ 142881 w 580548"/>
                  <a:gd name="connsiteY51" fmla="*/ 101914 h 336411"/>
                  <a:gd name="connsiteX52" fmla="*/ 30671 w 580548"/>
                  <a:gd name="connsiteY52" fmla="*/ 101914 h 336411"/>
                  <a:gd name="connsiteX53" fmla="*/ 30671 w 580548"/>
                  <a:gd name="connsiteY53" fmla="*/ 30671 h 336411"/>
                  <a:gd name="connsiteX54" fmla="*/ 30671 w 580548"/>
                  <a:gd name="connsiteY54" fmla="*/ 132584 h 336411"/>
                  <a:gd name="connsiteX55" fmla="*/ 49774 w 580548"/>
                  <a:gd name="connsiteY55" fmla="*/ 132584 h 336411"/>
                  <a:gd name="connsiteX56" fmla="*/ 49774 w 580548"/>
                  <a:gd name="connsiteY56" fmla="*/ 203827 h 336411"/>
                  <a:gd name="connsiteX57" fmla="*/ 30671 w 580548"/>
                  <a:gd name="connsiteY57" fmla="*/ 203827 h 336411"/>
                  <a:gd name="connsiteX58" fmla="*/ 30671 w 580548"/>
                  <a:gd name="connsiteY58" fmla="*/ 132584 h 336411"/>
                  <a:gd name="connsiteX59" fmla="*/ 108092 w 580548"/>
                  <a:gd name="connsiteY59" fmla="*/ 305741 h 336411"/>
                  <a:gd name="connsiteX60" fmla="*/ 30671 w 580548"/>
                  <a:gd name="connsiteY60" fmla="*/ 305741 h 336411"/>
                  <a:gd name="connsiteX61" fmla="*/ 30671 w 580548"/>
                  <a:gd name="connsiteY61" fmla="*/ 234498 h 336411"/>
                  <a:gd name="connsiteX62" fmla="*/ 108092 w 580548"/>
                  <a:gd name="connsiteY62" fmla="*/ 234498 h 336411"/>
                  <a:gd name="connsiteX63" fmla="*/ 108092 w 580548"/>
                  <a:gd name="connsiteY63" fmla="*/ 305741 h 33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0548" h="336411">
                    <a:moveTo>
                      <a:pt x="284140" y="305741"/>
                    </a:moveTo>
                    <a:lnTo>
                      <a:pt x="134381" y="305741"/>
                    </a:lnTo>
                    <a:lnTo>
                      <a:pt x="134381" y="234498"/>
                    </a:lnTo>
                    <a:lnTo>
                      <a:pt x="290450" y="234498"/>
                    </a:lnTo>
                    <a:lnTo>
                      <a:pt x="290450" y="292597"/>
                    </a:lnTo>
                    <a:cubicBezTo>
                      <a:pt x="295445" y="282432"/>
                      <a:pt x="305829" y="261094"/>
                      <a:pt x="316739" y="238660"/>
                    </a:cubicBezTo>
                    <a:lnTo>
                      <a:pt x="316739" y="234498"/>
                    </a:lnTo>
                    <a:lnTo>
                      <a:pt x="318754" y="234498"/>
                    </a:lnTo>
                    <a:cubicBezTo>
                      <a:pt x="323837" y="224026"/>
                      <a:pt x="329007" y="213467"/>
                      <a:pt x="333695" y="203827"/>
                    </a:cubicBezTo>
                    <a:lnTo>
                      <a:pt x="258421" y="203827"/>
                    </a:lnTo>
                    <a:lnTo>
                      <a:pt x="258421" y="132584"/>
                    </a:lnTo>
                    <a:lnTo>
                      <a:pt x="414490" y="132584"/>
                    </a:lnTo>
                    <a:lnTo>
                      <a:pt x="414490" y="192479"/>
                    </a:lnTo>
                    <a:lnTo>
                      <a:pt x="440779" y="137973"/>
                    </a:lnTo>
                    <a:lnTo>
                      <a:pt x="440779" y="132584"/>
                    </a:lnTo>
                    <a:lnTo>
                      <a:pt x="443364" y="132584"/>
                    </a:lnTo>
                    <a:lnTo>
                      <a:pt x="458173" y="101914"/>
                    </a:lnTo>
                    <a:lnTo>
                      <a:pt x="351528" y="101914"/>
                    </a:lnTo>
                    <a:lnTo>
                      <a:pt x="351528" y="30671"/>
                    </a:lnTo>
                    <a:lnTo>
                      <a:pt x="507597" y="30671"/>
                    </a:lnTo>
                    <a:lnTo>
                      <a:pt x="507597" y="101914"/>
                    </a:lnTo>
                    <a:lnTo>
                      <a:pt x="496643" y="101914"/>
                    </a:lnTo>
                    <a:lnTo>
                      <a:pt x="506063" y="121324"/>
                    </a:lnTo>
                    <a:cubicBezTo>
                      <a:pt x="507728" y="124785"/>
                      <a:pt x="509568" y="128597"/>
                      <a:pt x="511540" y="132584"/>
                    </a:cubicBezTo>
                    <a:lnTo>
                      <a:pt x="549834" y="132584"/>
                    </a:lnTo>
                    <a:lnTo>
                      <a:pt x="549834" y="203827"/>
                    </a:lnTo>
                    <a:lnTo>
                      <a:pt x="546154" y="203827"/>
                    </a:lnTo>
                    <a:cubicBezTo>
                      <a:pt x="559079" y="230379"/>
                      <a:pt x="570559" y="253908"/>
                      <a:pt x="574984" y="262759"/>
                    </a:cubicBezTo>
                    <a:cubicBezTo>
                      <a:pt x="577044" y="266527"/>
                      <a:pt x="578840" y="270382"/>
                      <a:pt x="580549" y="274326"/>
                    </a:cubicBezTo>
                    <a:lnTo>
                      <a:pt x="580549" y="0"/>
                    </a:lnTo>
                    <a:lnTo>
                      <a:pt x="0" y="0"/>
                    </a:lnTo>
                    <a:lnTo>
                      <a:pt x="0" y="336412"/>
                    </a:lnTo>
                    <a:lnTo>
                      <a:pt x="275509" y="336412"/>
                    </a:lnTo>
                    <a:cubicBezTo>
                      <a:pt x="277042" y="325852"/>
                      <a:pt x="279978" y="315512"/>
                      <a:pt x="284140" y="305741"/>
                    </a:cubicBezTo>
                    <a:close/>
                    <a:moveTo>
                      <a:pt x="533886" y="30671"/>
                    </a:moveTo>
                    <a:lnTo>
                      <a:pt x="549834" y="30671"/>
                    </a:lnTo>
                    <a:lnTo>
                      <a:pt x="549834" y="101914"/>
                    </a:lnTo>
                    <a:lnTo>
                      <a:pt x="533886" y="101914"/>
                    </a:lnTo>
                    <a:lnTo>
                      <a:pt x="533886" y="30671"/>
                    </a:lnTo>
                    <a:close/>
                    <a:moveTo>
                      <a:pt x="232132" y="203827"/>
                    </a:moveTo>
                    <a:lnTo>
                      <a:pt x="76063" y="203827"/>
                    </a:lnTo>
                    <a:lnTo>
                      <a:pt x="76063" y="132584"/>
                    </a:lnTo>
                    <a:lnTo>
                      <a:pt x="232132" y="132584"/>
                    </a:lnTo>
                    <a:lnTo>
                      <a:pt x="232132" y="203827"/>
                    </a:lnTo>
                    <a:close/>
                    <a:moveTo>
                      <a:pt x="169170" y="30671"/>
                    </a:moveTo>
                    <a:lnTo>
                      <a:pt x="325239" y="30671"/>
                    </a:lnTo>
                    <a:lnTo>
                      <a:pt x="325239" y="101914"/>
                    </a:lnTo>
                    <a:lnTo>
                      <a:pt x="169170" y="101914"/>
                    </a:lnTo>
                    <a:lnTo>
                      <a:pt x="169170" y="30671"/>
                    </a:lnTo>
                    <a:close/>
                    <a:moveTo>
                      <a:pt x="30671" y="30671"/>
                    </a:moveTo>
                    <a:lnTo>
                      <a:pt x="142881" y="30671"/>
                    </a:lnTo>
                    <a:lnTo>
                      <a:pt x="142881" y="101914"/>
                    </a:lnTo>
                    <a:lnTo>
                      <a:pt x="30671" y="101914"/>
                    </a:lnTo>
                    <a:lnTo>
                      <a:pt x="30671" y="30671"/>
                    </a:lnTo>
                    <a:close/>
                    <a:moveTo>
                      <a:pt x="30671" y="132584"/>
                    </a:moveTo>
                    <a:lnTo>
                      <a:pt x="49774" y="132584"/>
                    </a:lnTo>
                    <a:lnTo>
                      <a:pt x="49774" y="203827"/>
                    </a:lnTo>
                    <a:lnTo>
                      <a:pt x="30671" y="203827"/>
                    </a:lnTo>
                    <a:lnTo>
                      <a:pt x="30671" y="132584"/>
                    </a:lnTo>
                    <a:close/>
                    <a:moveTo>
                      <a:pt x="108092" y="305741"/>
                    </a:moveTo>
                    <a:lnTo>
                      <a:pt x="30671" y="305741"/>
                    </a:lnTo>
                    <a:lnTo>
                      <a:pt x="30671" y="234498"/>
                    </a:lnTo>
                    <a:lnTo>
                      <a:pt x="108092" y="234498"/>
                    </a:lnTo>
                    <a:lnTo>
                      <a:pt x="108092" y="30574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0" name="Freeform: Shape 156">
                <a:extLst>
                  <a:ext uri="{FF2B5EF4-FFF2-40B4-BE49-F238E27FC236}">
                    <a16:creationId xmlns:a16="http://schemas.microsoft.com/office/drawing/2014/main" id="{82E93F3A-A48D-3235-AADF-3C6C138F0109}"/>
                  </a:ext>
                </a:extLst>
              </p:cNvPr>
              <p:cNvSpPr/>
              <p:nvPr/>
            </p:nvSpPr>
            <p:spPr>
              <a:xfrm>
                <a:off x="3866603" y="2883794"/>
                <a:ext cx="254911" cy="304952"/>
              </a:xfrm>
              <a:custGeom>
                <a:avLst/>
                <a:gdLst>
                  <a:gd name="connsiteX0" fmla="*/ 240819 w 254911"/>
                  <a:gd name="connsiteY0" fmla="*/ 142311 h 304952"/>
                  <a:gd name="connsiteX1" fmla="*/ 171504 w 254911"/>
                  <a:gd name="connsiteY1" fmla="*/ 0 h 304952"/>
                  <a:gd name="connsiteX2" fmla="*/ 113274 w 254911"/>
                  <a:gd name="connsiteY2" fmla="*/ 120710 h 304952"/>
                  <a:gd name="connsiteX3" fmla="*/ 104730 w 254911"/>
                  <a:gd name="connsiteY3" fmla="*/ 126450 h 304952"/>
                  <a:gd name="connsiteX4" fmla="*/ 96186 w 254911"/>
                  <a:gd name="connsiteY4" fmla="*/ 120710 h 304952"/>
                  <a:gd name="connsiteX5" fmla="*/ 66786 w 254911"/>
                  <a:gd name="connsiteY5" fmla="*/ 61078 h 304952"/>
                  <a:gd name="connsiteX6" fmla="*/ 11404 w 254911"/>
                  <a:gd name="connsiteY6" fmla="*/ 174822 h 304952"/>
                  <a:gd name="connsiteX7" fmla="*/ 12 w 254911"/>
                  <a:gd name="connsiteY7" fmla="*/ 221485 h 304952"/>
                  <a:gd name="connsiteX8" fmla="*/ 66392 w 254911"/>
                  <a:gd name="connsiteY8" fmla="*/ 304952 h 304952"/>
                  <a:gd name="connsiteX9" fmla="*/ 102802 w 254911"/>
                  <a:gd name="connsiteY9" fmla="*/ 304952 h 304952"/>
                  <a:gd name="connsiteX10" fmla="*/ 75549 w 254911"/>
                  <a:gd name="connsiteY10" fmla="*/ 196116 h 304952"/>
                  <a:gd name="connsiteX11" fmla="*/ 115070 w 254911"/>
                  <a:gd name="connsiteY11" fmla="*/ 225341 h 304952"/>
                  <a:gd name="connsiteX12" fmla="*/ 169007 w 254911"/>
                  <a:gd name="connsiteY12" fmla="*/ 140953 h 304952"/>
                  <a:gd name="connsiteX13" fmla="*/ 169007 w 254911"/>
                  <a:gd name="connsiteY13" fmla="*/ 139200 h 304952"/>
                  <a:gd name="connsiteX14" fmla="*/ 164581 w 254911"/>
                  <a:gd name="connsiteY14" fmla="*/ 304952 h 304952"/>
                  <a:gd name="connsiteX15" fmla="*/ 171373 w 254911"/>
                  <a:gd name="connsiteY15" fmla="*/ 304952 h 304952"/>
                  <a:gd name="connsiteX16" fmla="*/ 254884 w 254911"/>
                  <a:gd name="connsiteY16" fmla="*/ 200848 h 304952"/>
                  <a:gd name="connsiteX17" fmla="*/ 240776 w 254911"/>
                  <a:gd name="connsiteY17" fmla="*/ 142355 h 30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4911" h="304952">
                    <a:moveTo>
                      <a:pt x="240819" y="142311"/>
                    </a:moveTo>
                    <a:cubicBezTo>
                      <a:pt x="231794" y="124259"/>
                      <a:pt x="189731" y="37637"/>
                      <a:pt x="171504" y="0"/>
                    </a:cubicBezTo>
                    <a:lnTo>
                      <a:pt x="113274" y="120710"/>
                    </a:lnTo>
                    <a:cubicBezTo>
                      <a:pt x="111521" y="124259"/>
                      <a:pt x="108279" y="126450"/>
                      <a:pt x="104730" y="126450"/>
                    </a:cubicBezTo>
                    <a:cubicBezTo>
                      <a:pt x="101181" y="126450"/>
                      <a:pt x="97939" y="124259"/>
                      <a:pt x="96186" y="120710"/>
                    </a:cubicBezTo>
                    <a:lnTo>
                      <a:pt x="66786" y="61078"/>
                    </a:lnTo>
                    <a:cubicBezTo>
                      <a:pt x="51101" y="93370"/>
                      <a:pt x="18546" y="160231"/>
                      <a:pt x="11404" y="174822"/>
                    </a:cubicBezTo>
                    <a:cubicBezTo>
                      <a:pt x="3736" y="188755"/>
                      <a:pt x="-251" y="204967"/>
                      <a:pt x="12" y="221485"/>
                    </a:cubicBezTo>
                    <a:cubicBezTo>
                      <a:pt x="12" y="267228"/>
                      <a:pt x="30683" y="304952"/>
                      <a:pt x="66392" y="304952"/>
                    </a:cubicBezTo>
                    <a:lnTo>
                      <a:pt x="102802" y="304952"/>
                    </a:lnTo>
                    <a:cubicBezTo>
                      <a:pt x="62142" y="268060"/>
                      <a:pt x="66567" y="213072"/>
                      <a:pt x="75549" y="196116"/>
                    </a:cubicBezTo>
                    <a:cubicBezTo>
                      <a:pt x="75549" y="196116"/>
                      <a:pt x="95704" y="224990"/>
                      <a:pt x="115070" y="225341"/>
                    </a:cubicBezTo>
                    <a:cubicBezTo>
                      <a:pt x="142367" y="225823"/>
                      <a:pt x="156213" y="197869"/>
                      <a:pt x="169007" y="140953"/>
                    </a:cubicBezTo>
                    <a:lnTo>
                      <a:pt x="169007" y="139200"/>
                    </a:lnTo>
                    <a:cubicBezTo>
                      <a:pt x="193061" y="157471"/>
                      <a:pt x="220139" y="242297"/>
                      <a:pt x="164581" y="304952"/>
                    </a:cubicBezTo>
                    <a:lnTo>
                      <a:pt x="171373" y="304952"/>
                    </a:lnTo>
                    <a:cubicBezTo>
                      <a:pt x="217466" y="304952"/>
                      <a:pt x="254884" y="258289"/>
                      <a:pt x="254884" y="200848"/>
                    </a:cubicBezTo>
                    <a:cubicBezTo>
                      <a:pt x="255322" y="180167"/>
                      <a:pt x="250415" y="159793"/>
                      <a:pt x="240776" y="142355"/>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20" name="Group 19">
            <a:extLst>
              <a:ext uri="{FF2B5EF4-FFF2-40B4-BE49-F238E27FC236}">
                <a16:creationId xmlns:a16="http://schemas.microsoft.com/office/drawing/2014/main" id="{C59F00B6-2315-2552-20BF-EF56E78E93DB}"/>
              </a:ext>
            </a:extLst>
          </p:cNvPr>
          <p:cNvGrpSpPr>
            <a:grpSpLocks noChangeAspect="1"/>
          </p:cNvGrpSpPr>
          <p:nvPr/>
        </p:nvGrpSpPr>
        <p:grpSpPr>
          <a:xfrm>
            <a:off x="4487210" y="1951839"/>
            <a:ext cx="457202" cy="457200"/>
            <a:chOff x="4686723" y="1587682"/>
            <a:chExt cx="547621" cy="547619"/>
          </a:xfrm>
        </p:grpSpPr>
        <p:sp>
          <p:nvSpPr>
            <p:cNvPr id="35" name="Oval 34">
              <a:extLst>
                <a:ext uri="{FF2B5EF4-FFF2-40B4-BE49-F238E27FC236}">
                  <a16:creationId xmlns:a16="http://schemas.microsoft.com/office/drawing/2014/main" id="{695D26F2-78DC-3A50-7E1E-24612C6BD256}"/>
                </a:ext>
              </a:extLst>
            </p:cNvPr>
            <p:cNvSpPr>
              <a:spLocks noChangeAspect="1"/>
            </p:cNvSpPr>
            <p:nvPr/>
          </p:nvSpPr>
          <p:spPr>
            <a:xfrm>
              <a:off x="4686723" y="1587682"/>
              <a:ext cx="547621" cy="547619"/>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36" name="Google Shape;3149;p83">
              <a:extLst>
                <a:ext uri="{FF2B5EF4-FFF2-40B4-BE49-F238E27FC236}">
                  <a16:creationId xmlns:a16="http://schemas.microsoft.com/office/drawing/2014/main" id="{992993F9-466F-537E-16B2-09074CB360B3}"/>
                </a:ext>
              </a:extLst>
            </p:cNvPr>
            <p:cNvSpPr>
              <a:spLocks noChangeAspect="1"/>
            </p:cNvSpPr>
            <p:nvPr/>
          </p:nvSpPr>
          <p:spPr>
            <a:xfrm>
              <a:off x="4775072" y="1678710"/>
              <a:ext cx="365562" cy="365562"/>
            </a:xfrm>
            <a:custGeom>
              <a:avLst/>
              <a:gdLst/>
              <a:ahLst/>
              <a:cxnLst/>
              <a:rect l="l" t="t" r="r" b="b"/>
              <a:pathLst>
                <a:path w="584492" h="584492" extrusionOk="0">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mn-ea"/>
                <a:cs typeface="+mn-cs"/>
                <a:sym typeface="Arial"/>
              </a:endParaRPr>
            </a:p>
          </p:txBody>
        </p:sp>
      </p:grpSp>
      <p:grpSp>
        <p:nvGrpSpPr>
          <p:cNvPr id="22" name="Group 21">
            <a:extLst>
              <a:ext uri="{FF2B5EF4-FFF2-40B4-BE49-F238E27FC236}">
                <a16:creationId xmlns:a16="http://schemas.microsoft.com/office/drawing/2014/main" id="{8A0E8BDA-773B-5E79-66CD-ED04BE6C5B06}"/>
              </a:ext>
            </a:extLst>
          </p:cNvPr>
          <p:cNvGrpSpPr>
            <a:grpSpLocks noChangeAspect="1"/>
          </p:cNvGrpSpPr>
          <p:nvPr/>
        </p:nvGrpSpPr>
        <p:grpSpPr>
          <a:xfrm>
            <a:off x="3683206" y="1951839"/>
            <a:ext cx="457202" cy="457200"/>
            <a:chOff x="5341314" y="5151711"/>
            <a:chExt cx="547621" cy="547619"/>
          </a:xfrm>
        </p:grpSpPr>
        <p:sp>
          <p:nvSpPr>
            <p:cNvPr id="26" name="Oval 25">
              <a:extLst>
                <a:ext uri="{FF2B5EF4-FFF2-40B4-BE49-F238E27FC236}">
                  <a16:creationId xmlns:a16="http://schemas.microsoft.com/office/drawing/2014/main" id="{2AD4482E-FBFB-1FBA-B7FD-F3FCE2FC8737}"/>
                </a:ext>
              </a:extLst>
            </p:cNvPr>
            <p:cNvSpPr>
              <a:spLocks noChangeAspect="1"/>
            </p:cNvSpPr>
            <p:nvPr/>
          </p:nvSpPr>
          <p:spPr>
            <a:xfrm>
              <a:off x="5341314" y="5151711"/>
              <a:ext cx="547621" cy="547619"/>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27" name="Group 26">
              <a:extLst>
                <a:ext uri="{FF2B5EF4-FFF2-40B4-BE49-F238E27FC236}">
                  <a16:creationId xmlns:a16="http://schemas.microsoft.com/office/drawing/2014/main" id="{FCD014BC-8945-006A-CFAB-0F6D0B5A764E}"/>
                </a:ext>
              </a:extLst>
            </p:cNvPr>
            <p:cNvGrpSpPr/>
            <p:nvPr/>
          </p:nvGrpSpPr>
          <p:grpSpPr>
            <a:xfrm>
              <a:off x="5475978" y="5286375"/>
              <a:ext cx="278292" cy="278290"/>
              <a:chOff x="7453826" y="4235509"/>
              <a:chExt cx="199845" cy="199844"/>
            </a:xfrm>
            <a:solidFill>
              <a:schemeClr val="bg1"/>
            </a:solidFill>
          </p:grpSpPr>
          <p:sp>
            <p:nvSpPr>
              <p:cNvPr id="28" name="Freeform: Shape 110">
                <a:extLst>
                  <a:ext uri="{FF2B5EF4-FFF2-40B4-BE49-F238E27FC236}">
                    <a16:creationId xmlns:a16="http://schemas.microsoft.com/office/drawing/2014/main" id="{ED73A3F0-F843-36B3-3091-91CCDA4DF2E5}"/>
                  </a:ext>
                </a:extLst>
              </p:cNvPr>
              <p:cNvSpPr/>
              <p:nvPr/>
            </p:nvSpPr>
            <p:spPr>
              <a:xfrm>
                <a:off x="7453826" y="4235509"/>
                <a:ext cx="199845" cy="199844"/>
              </a:xfrm>
              <a:custGeom>
                <a:avLst/>
                <a:gdLst>
                  <a:gd name="connsiteX0" fmla="*/ 539067 w 539067"/>
                  <a:gd name="connsiteY0" fmla="*/ 539067 h 539067"/>
                  <a:gd name="connsiteX1" fmla="*/ 366846 w 539067"/>
                  <a:gd name="connsiteY1" fmla="*/ 539067 h 539067"/>
                  <a:gd name="connsiteX2" fmla="*/ 366846 w 539067"/>
                  <a:gd name="connsiteY2" fmla="*/ 511064 h 539067"/>
                  <a:gd name="connsiteX3" fmla="*/ 511064 w 539067"/>
                  <a:gd name="connsiteY3" fmla="*/ 511064 h 539067"/>
                  <a:gd name="connsiteX4" fmla="*/ 511064 w 539067"/>
                  <a:gd name="connsiteY4" fmla="*/ 28004 h 539067"/>
                  <a:gd name="connsiteX5" fmla="*/ 28004 w 539067"/>
                  <a:gd name="connsiteY5" fmla="*/ 28004 h 539067"/>
                  <a:gd name="connsiteX6" fmla="*/ 28004 w 539067"/>
                  <a:gd name="connsiteY6" fmla="*/ 511064 h 539067"/>
                  <a:gd name="connsiteX7" fmla="*/ 173462 w 539067"/>
                  <a:gd name="connsiteY7" fmla="*/ 511064 h 539067"/>
                  <a:gd name="connsiteX8" fmla="*/ 173462 w 539067"/>
                  <a:gd name="connsiteY8" fmla="*/ 539067 h 539067"/>
                  <a:gd name="connsiteX9" fmla="*/ 0 w 539067"/>
                  <a:gd name="connsiteY9" fmla="*/ 539067 h 539067"/>
                  <a:gd name="connsiteX10" fmla="*/ 0 w 539067"/>
                  <a:gd name="connsiteY10" fmla="*/ 0 h 539067"/>
                  <a:gd name="connsiteX11" fmla="*/ 539067 w 539067"/>
                  <a:gd name="connsiteY11" fmla="*/ 0 h 539067"/>
                  <a:gd name="connsiteX12" fmla="*/ 539067 w 539067"/>
                  <a:gd name="connsiteY12" fmla="*/ 539067 h 53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67" h="539067">
                    <a:moveTo>
                      <a:pt x="539067" y="539067"/>
                    </a:moveTo>
                    <a:lnTo>
                      <a:pt x="366846" y="539067"/>
                    </a:lnTo>
                    <a:lnTo>
                      <a:pt x="366846" y="511064"/>
                    </a:lnTo>
                    <a:lnTo>
                      <a:pt x="511064" y="511064"/>
                    </a:lnTo>
                    <a:lnTo>
                      <a:pt x="511064" y="28004"/>
                    </a:lnTo>
                    <a:lnTo>
                      <a:pt x="28004" y="28004"/>
                    </a:lnTo>
                    <a:lnTo>
                      <a:pt x="28004" y="511064"/>
                    </a:lnTo>
                    <a:lnTo>
                      <a:pt x="173462" y="511064"/>
                    </a:lnTo>
                    <a:lnTo>
                      <a:pt x="173462" y="539067"/>
                    </a:lnTo>
                    <a:lnTo>
                      <a:pt x="0" y="539067"/>
                    </a:lnTo>
                    <a:lnTo>
                      <a:pt x="0" y="0"/>
                    </a:lnTo>
                    <a:lnTo>
                      <a:pt x="539067" y="0"/>
                    </a:lnTo>
                    <a:lnTo>
                      <a:pt x="539067" y="539067"/>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Freeform: Shape 115">
                <a:extLst>
                  <a:ext uri="{FF2B5EF4-FFF2-40B4-BE49-F238E27FC236}">
                    <a16:creationId xmlns:a16="http://schemas.microsoft.com/office/drawing/2014/main" id="{72A5720F-B511-E332-A37D-9417EFA68164}"/>
                  </a:ext>
                </a:extLst>
              </p:cNvPr>
              <p:cNvSpPr/>
              <p:nvPr/>
            </p:nvSpPr>
            <p:spPr>
              <a:xfrm>
                <a:off x="7491571" y="4315610"/>
                <a:ext cx="51745" cy="27941"/>
              </a:xfrm>
              <a:custGeom>
                <a:avLst/>
                <a:gdLst>
                  <a:gd name="connsiteX0" fmla="*/ 74289 w 139577"/>
                  <a:gd name="connsiteY0" fmla="*/ 23683 h 75369"/>
                  <a:gd name="connsiteX1" fmla="*/ 0 w 139577"/>
                  <a:gd name="connsiteY1" fmla="*/ 23683 h 75369"/>
                  <a:gd name="connsiteX2" fmla="*/ 0 w 139577"/>
                  <a:gd name="connsiteY2" fmla="*/ 51686 h 75369"/>
                  <a:gd name="connsiteX3" fmla="*/ 74289 w 139577"/>
                  <a:gd name="connsiteY3" fmla="*/ 51686 h 75369"/>
                  <a:gd name="connsiteX4" fmla="*/ 74289 w 139577"/>
                  <a:gd name="connsiteY4" fmla="*/ 75369 h 75369"/>
                  <a:gd name="connsiteX5" fmla="*/ 139577 w 139577"/>
                  <a:gd name="connsiteY5" fmla="*/ 37685 h 75369"/>
                  <a:gd name="connsiteX6" fmla="*/ 74289 w 139577"/>
                  <a:gd name="connsiteY6" fmla="*/ 0 h 75369"/>
                  <a:gd name="connsiteX7" fmla="*/ 74289 w 139577"/>
                  <a:gd name="connsiteY7" fmla="*/ 23683 h 7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369">
                    <a:moveTo>
                      <a:pt x="74289" y="23683"/>
                    </a:moveTo>
                    <a:lnTo>
                      <a:pt x="0" y="23683"/>
                    </a:lnTo>
                    <a:lnTo>
                      <a:pt x="0" y="51686"/>
                    </a:lnTo>
                    <a:lnTo>
                      <a:pt x="74289" y="51686"/>
                    </a:lnTo>
                    <a:lnTo>
                      <a:pt x="74289" y="7536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 name="Freeform: Shape 116">
                <a:extLst>
                  <a:ext uri="{FF2B5EF4-FFF2-40B4-BE49-F238E27FC236}">
                    <a16:creationId xmlns:a16="http://schemas.microsoft.com/office/drawing/2014/main" id="{54EC41A9-BC35-CAB3-3940-0DA759BFFC90}"/>
                  </a:ext>
                </a:extLst>
              </p:cNvPr>
              <p:cNvSpPr/>
              <p:nvPr/>
            </p:nvSpPr>
            <p:spPr>
              <a:xfrm>
                <a:off x="7550583" y="4276590"/>
                <a:ext cx="71247" cy="108695"/>
              </a:xfrm>
              <a:custGeom>
                <a:avLst/>
                <a:gdLst>
                  <a:gd name="connsiteX0" fmla="*/ 192184 w 192184"/>
                  <a:gd name="connsiteY0" fmla="*/ 142938 h 293196"/>
                  <a:gd name="connsiteX1" fmla="*/ 126896 w 192184"/>
                  <a:gd name="connsiteY1" fmla="*/ 105253 h 293196"/>
                  <a:gd name="connsiteX2" fmla="*/ 126896 w 192184"/>
                  <a:gd name="connsiteY2" fmla="*/ 128936 h 293196"/>
                  <a:gd name="connsiteX3" fmla="*/ 104973 w 192184"/>
                  <a:gd name="connsiteY3" fmla="*/ 128936 h 293196"/>
                  <a:gd name="connsiteX4" fmla="*/ 104973 w 192184"/>
                  <a:gd name="connsiteY4" fmla="*/ 0 h 293196"/>
                  <a:gd name="connsiteX5" fmla="*/ 0 w 192184"/>
                  <a:gd name="connsiteY5" fmla="*/ 0 h 293196"/>
                  <a:gd name="connsiteX6" fmla="*/ 0 w 192184"/>
                  <a:gd name="connsiteY6" fmla="*/ 28004 h 293196"/>
                  <a:gd name="connsiteX7" fmla="*/ 76970 w 192184"/>
                  <a:gd name="connsiteY7" fmla="*/ 28004 h 293196"/>
                  <a:gd name="connsiteX8" fmla="*/ 76970 w 192184"/>
                  <a:gd name="connsiteY8" fmla="*/ 128936 h 293196"/>
                  <a:gd name="connsiteX9" fmla="*/ 22123 w 192184"/>
                  <a:gd name="connsiteY9" fmla="*/ 128936 h 293196"/>
                  <a:gd name="connsiteX10" fmla="*/ 22123 w 192184"/>
                  <a:gd name="connsiteY10" fmla="*/ 156940 h 293196"/>
                  <a:gd name="connsiteX11" fmla="*/ 76970 w 192184"/>
                  <a:gd name="connsiteY11" fmla="*/ 156940 h 293196"/>
                  <a:gd name="connsiteX12" fmla="*/ 76970 w 192184"/>
                  <a:gd name="connsiteY12" fmla="*/ 265193 h 293196"/>
                  <a:gd name="connsiteX13" fmla="*/ 0 w 192184"/>
                  <a:gd name="connsiteY13" fmla="*/ 265193 h 293196"/>
                  <a:gd name="connsiteX14" fmla="*/ 0 w 192184"/>
                  <a:gd name="connsiteY14" fmla="*/ 293197 h 293196"/>
                  <a:gd name="connsiteX15" fmla="*/ 104973 w 192184"/>
                  <a:gd name="connsiteY15" fmla="*/ 293197 h 293196"/>
                  <a:gd name="connsiteX16" fmla="*/ 104973 w 192184"/>
                  <a:gd name="connsiteY16" fmla="*/ 156940 h 293196"/>
                  <a:gd name="connsiteX17" fmla="*/ 126896 w 192184"/>
                  <a:gd name="connsiteY17" fmla="*/ 156940 h 293196"/>
                  <a:gd name="connsiteX18" fmla="*/ 126896 w 192184"/>
                  <a:gd name="connsiteY18" fmla="*/ 180623 h 293196"/>
                  <a:gd name="connsiteX19" fmla="*/ 192184 w 192184"/>
                  <a:gd name="connsiteY19" fmla="*/ 142938 h 2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184" h="293196">
                    <a:moveTo>
                      <a:pt x="192184" y="142938"/>
                    </a:moveTo>
                    <a:lnTo>
                      <a:pt x="126896" y="105253"/>
                    </a:lnTo>
                    <a:lnTo>
                      <a:pt x="126896" y="128936"/>
                    </a:lnTo>
                    <a:lnTo>
                      <a:pt x="104973" y="128936"/>
                    </a:lnTo>
                    <a:lnTo>
                      <a:pt x="104973" y="0"/>
                    </a:lnTo>
                    <a:lnTo>
                      <a:pt x="0" y="0"/>
                    </a:lnTo>
                    <a:lnTo>
                      <a:pt x="0" y="28004"/>
                    </a:lnTo>
                    <a:lnTo>
                      <a:pt x="76970" y="28004"/>
                    </a:lnTo>
                    <a:lnTo>
                      <a:pt x="76970" y="128936"/>
                    </a:lnTo>
                    <a:lnTo>
                      <a:pt x="22123" y="128936"/>
                    </a:lnTo>
                    <a:lnTo>
                      <a:pt x="22123" y="156940"/>
                    </a:lnTo>
                    <a:lnTo>
                      <a:pt x="76970" y="156940"/>
                    </a:lnTo>
                    <a:lnTo>
                      <a:pt x="76970" y="265193"/>
                    </a:lnTo>
                    <a:lnTo>
                      <a:pt x="0" y="265193"/>
                    </a:lnTo>
                    <a:lnTo>
                      <a:pt x="0" y="293197"/>
                    </a:lnTo>
                    <a:lnTo>
                      <a:pt x="104973" y="293197"/>
                    </a:lnTo>
                    <a:lnTo>
                      <a:pt x="104973" y="156940"/>
                    </a:lnTo>
                    <a:lnTo>
                      <a:pt x="126896" y="156940"/>
                    </a:lnTo>
                    <a:lnTo>
                      <a:pt x="126896" y="180623"/>
                    </a:lnTo>
                    <a:lnTo>
                      <a:pt x="192184" y="142938"/>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 name="Freeform: Shape 124">
                <a:extLst>
                  <a:ext uri="{FF2B5EF4-FFF2-40B4-BE49-F238E27FC236}">
                    <a16:creationId xmlns:a16="http://schemas.microsoft.com/office/drawing/2014/main" id="{36CF6B0F-8873-B105-CA49-18BEEB59C17F}"/>
                  </a:ext>
                </a:extLst>
              </p:cNvPr>
              <p:cNvSpPr/>
              <p:nvPr/>
            </p:nvSpPr>
            <p:spPr>
              <a:xfrm>
                <a:off x="7491571" y="4266446"/>
                <a:ext cx="51745" cy="27956"/>
              </a:xfrm>
              <a:custGeom>
                <a:avLst/>
                <a:gdLst>
                  <a:gd name="connsiteX0" fmla="*/ 74289 w 139577"/>
                  <a:gd name="connsiteY0" fmla="*/ 23723 h 75409"/>
                  <a:gd name="connsiteX1" fmla="*/ 0 w 139577"/>
                  <a:gd name="connsiteY1" fmla="*/ 23723 h 75409"/>
                  <a:gd name="connsiteX2" fmla="*/ 0 w 139577"/>
                  <a:gd name="connsiteY2" fmla="*/ 51726 h 75409"/>
                  <a:gd name="connsiteX3" fmla="*/ 74289 w 139577"/>
                  <a:gd name="connsiteY3" fmla="*/ 51726 h 75409"/>
                  <a:gd name="connsiteX4" fmla="*/ 74289 w 139577"/>
                  <a:gd name="connsiteY4" fmla="*/ 75409 h 75409"/>
                  <a:gd name="connsiteX5" fmla="*/ 139577 w 139577"/>
                  <a:gd name="connsiteY5" fmla="*/ 37725 h 75409"/>
                  <a:gd name="connsiteX6" fmla="*/ 74289 w 139577"/>
                  <a:gd name="connsiteY6" fmla="*/ 0 h 75409"/>
                  <a:gd name="connsiteX7" fmla="*/ 74289 w 139577"/>
                  <a:gd name="connsiteY7" fmla="*/ 2372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723"/>
                    </a:moveTo>
                    <a:lnTo>
                      <a:pt x="0" y="23723"/>
                    </a:lnTo>
                    <a:lnTo>
                      <a:pt x="0" y="51726"/>
                    </a:lnTo>
                    <a:lnTo>
                      <a:pt x="74289" y="51726"/>
                    </a:lnTo>
                    <a:lnTo>
                      <a:pt x="74289" y="75409"/>
                    </a:lnTo>
                    <a:lnTo>
                      <a:pt x="139577" y="37725"/>
                    </a:lnTo>
                    <a:lnTo>
                      <a:pt x="74289" y="0"/>
                    </a:lnTo>
                    <a:lnTo>
                      <a:pt x="74289" y="2372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Freeform: Shape 170">
                <a:extLst>
                  <a:ext uri="{FF2B5EF4-FFF2-40B4-BE49-F238E27FC236}">
                    <a16:creationId xmlns:a16="http://schemas.microsoft.com/office/drawing/2014/main" id="{718BBDF0-1EC1-F5FC-1EA2-F2B81B0FA1CE}"/>
                  </a:ext>
                </a:extLst>
              </p:cNvPr>
              <p:cNvSpPr/>
              <p:nvPr/>
            </p:nvSpPr>
            <p:spPr>
              <a:xfrm>
                <a:off x="7491571" y="4364759"/>
                <a:ext cx="51745" cy="27956"/>
              </a:xfrm>
              <a:custGeom>
                <a:avLst/>
                <a:gdLst>
                  <a:gd name="connsiteX0" fmla="*/ 74289 w 139577"/>
                  <a:gd name="connsiteY0" fmla="*/ 23683 h 75409"/>
                  <a:gd name="connsiteX1" fmla="*/ 0 w 139577"/>
                  <a:gd name="connsiteY1" fmla="*/ 23683 h 75409"/>
                  <a:gd name="connsiteX2" fmla="*/ 0 w 139577"/>
                  <a:gd name="connsiteY2" fmla="*/ 51686 h 75409"/>
                  <a:gd name="connsiteX3" fmla="*/ 74289 w 139577"/>
                  <a:gd name="connsiteY3" fmla="*/ 51686 h 75409"/>
                  <a:gd name="connsiteX4" fmla="*/ 74289 w 139577"/>
                  <a:gd name="connsiteY4" fmla="*/ 75409 h 75409"/>
                  <a:gd name="connsiteX5" fmla="*/ 139577 w 139577"/>
                  <a:gd name="connsiteY5" fmla="*/ 37685 h 75409"/>
                  <a:gd name="connsiteX6" fmla="*/ 74289 w 139577"/>
                  <a:gd name="connsiteY6" fmla="*/ 0 h 75409"/>
                  <a:gd name="connsiteX7" fmla="*/ 74289 w 139577"/>
                  <a:gd name="connsiteY7" fmla="*/ 2368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683"/>
                    </a:moveTo>
                    <a:lnTo>
                      <a:pt x="0" y="23683"/>
                    </a:lnTo>
                    <a:lnTo>
                      <a:pt x="0" y="51686"/>
                    </a:lnTo>
                    <a:lnTo>
                      <a:pt x="74289" y="51686"/>
                    </a:lnTo>
                    <a:lnTo>
                      <a:pt x="74289" y="7540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106" name="Group 105">
            <a:extLst>
              <a:ext uri="{FF2B5EF4-FFF2-40B4-BE49-F238E27FC236}">
                <a16:creationId xmlns:a16="http://schemas.microsoft.com/office/drawing/2014/main" id="{66903D8B-C1E9-8761-D5FF-F471658424B3}"/>
              </a:ext>
            </a:extLst>
          </p:cNvPr>
          <p:cNvGrpSpPr/>
          <p:nvPr/>
        </p:nvGrpSpPr>
        <p:grpSpPr>
          <a:xfrm>
            <a:off x="5291213" y="1951839"/>
            <a:ext cx="457202" cy="457200"/>
            <a:chOff x="4637608" y="1958564"/>
            <a:chExt cx="457202" cy="457200"/>
          </a:xfrm>
        </p:grpSpPr>
        <p:sp>
          <p:nvSpPr>
            <p:cNvPr id="24" name="Oval 23">
              <a:extLst>
                <a:ext uri="{FF2B5EF4-FFF2-40B4-BE49-F238E27FC236}">
                  <a16:creationId xmlns:a16="http://schemas.microsoft.com/office/drawing/2014/main" id="{B1E6C947-32B1-7182-4AFF-2AAD85CB0A85}"/>
                </a:ext>
              </a:extLst>
            </p:cNvPr>
            <p:cNvSpPr>
              <a:spLocks noChangeAspect="1"/>
            </p:cNvSpPr>
            <p:nvPr/>
          </p:nvSpPr>
          <p:spPr>
            <a:xfrm>
              <a:off x="4637608" y="1958564"/>
              <a:ext cx="457202" cy="457200"/>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05" name="Graphic 249">
              <a:extLst>
                <a:ext uri="{FF2B5EF4-FFF2-40B4-BE49-F238E27FC236}">
                  <a16:creationId xmlns:a16="http://schemas.microsoft.com/office/drawing/2014/main" id="{C54F541B-07E2-8952-A75F-158DB89C87A0}"/>
                </a:ext>
              </a:extLst>
            </p:cNvPr>
            <p:cNvSpPr/>
            <p:nvPr/>
          </p:nvSpPr>
          <p:spPr>
            <a:xfrm>
              <a:off x="4718148" y="2085390"/>
              <a:ext cx="300966" cy="206048"/>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20" name="Group 219">
            <a:extLst>
              <a:ext uri="{FF2B5EF4-FFF2-40B4-BE49-F238E27FC236}">
                <a16:creationId xmlns:a16="http://schemas.microsoft.com/office/drawing/2014/main" id="{EE99F160-CD5C-95E0-3805-D40594D1B39E}"/>
              </a:ext>
            </a:extLst>
          </p:cNvPr>
          <p:cNvGrpSpPr>
            <a:grpSpLocks noChangeAspect="1"/>
          </p:cNvGrpSpPr>
          <p:nvPr/>
        </p:nvGrpSpPr>
        <p:grpSpPr>
          <a:xfrm>
            <a:off x="1271196" y="1951839"/>
            <a:ext cx="457200" cy="457200"/>
            <a:chOff x="7756637" y="2484407"/>
            <a:chExt cx="902850" cy="902850"/>
          </a:xfrm>
        </p:grpSpPr>
        <p:sp>
          <p:nvSpPr>
            <p:cNvPr id="221" name="Oval 26">
              <a:extLst>
                <a:ext uri="{FF2B5EF4-FFF2-40B4-BE49-F238E27FC236}">
                  <a16:creationId xmlns:a16="http://schemas.microsoft.com/office/drawing/2014/main" id="{288F9292-1541-38D2-6DDC-F351E540279E}"/>
                </a:ext>
              </a:extLst>
            </p:cNvPr>
            <p:cNvSpPr>
              <a:spLocks noChangeAspect="1"/>
            </p:cNvSpPr>
            <p:nvPr/>
          </p:nvSpPr>
          <p:spPr bwMode="gray">
            <a:xfrm>
              <a:off x="7756637" y="2484407"/>
              <a:ext cx="902850" cy="90285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22" name="Group 221">
              <a:extLst>
                <a:ext uri="{FF2B5EF4-FFF2-40B4-BE49-F238E27FC236}">
                  <a16:creationId xmlns:a16="http://schemas.microsoft.com/office/drawing/2014/main" id="{D32FEB9B-BEAE-3B69-ACC4-1EF899C2A871}"/>
                </a:ext>
              </a:extLst>
            </p:cNvPr>
            <p:cNvGrpSpPr/>
            <p:nvPr/>
          </p:nvGrpSpPr>
          <p:grpSpPr>
            <a:xfrm>
              <a:off x="7930273" y="2670781"/>
              <a:ext cx="558302" cy="538093"/>
              <a:chOff x="7930273" y="2670781"/>
              <a:chExt cx="558302" cy="538093"/>
            </a:xfrm>
          </p:grpSpPr>
          <p:sp>
            <p:nvSpPr>
              <p:cNvPr id="223" name="Freeform: Shape 201">
                <a:extLst>
                  <a:ext uri="{FF2B5EF4-FFF2-40B4-BE49-F238E27FC236}">
                    <a16:creationId xmlns:a16="http://schemas.microsoft.com/office/drawing/2014/main" id="{6CE4625B-5961-5EA1-E77E-9613918D6522}"/>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24" name="Graphic 41">
                <a:extLst>
                  <a:ext uri="{FF2B5EF4-FFF2-40B4-BE49-F238E27FC236}">
                    <a16:creationId xmlns:a16="http://schemas.microsoft.com/office/drawing/2014/main" id="{E47F93E3-AF9B-A9D5-8CCE-5B26ED5F5CA0}"/>
                  </a:ext>
                </a:extLst>
              </p:cNvPr>
              <p:cNvGrpSpPr/>
              <p:nvPr/>
            </p:nvGrpSpPr>
            <p:grpSpPr>
              <a:xfrm>
                <a:off x="8250435" y="3017491"/>
                <a:ext cx="238140" cy="191383"/>
                <a:chOff x="8250435" y="3017491"/>
                <a:chExt cx="238140" cy="191383"/>
              </a:xfrm>
              <a:solidFill>
                <a:schemeClr val="bg1"/>
              </a:solidFill>
            </p:grpSpPr>
            <p:sp>
              <p:nvSpPr>
                <p:cNvPr id="225" name="Freeform: Shape 203">
                  <a:extLst>
                    <a:ext uri="{FF2B5EF4-FFF2-40B4-BE49-F238E27FC236}">
                      <a16:creationId xmlns:a16="http://schemas.microsoft.com/office/drawing/2014/main" id="{AAF3E088-7E59-E9E6-EACA-E51C655D6A11}"/>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6" name="Freeform: Shape 204">
                  <a:extLst>
                    <a:ext uri="{FF2B5EF4-FFF2-40B4-BE49-F238E27FC236}">
                      <a16:creationId xmlns:a16="http://schemas.microsoft.com/office/drawing/2014/main" id="{A23E7528-07BA-2FCB-1117-3551D6749403}"/>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nvGrpSpPr>
          <p:cNvPr id="212" name="switching">
            <a:extLst>
              <a:ext uri="{FF2B5EF4-FFF2-40B4-BE49-F238E27FC236}">
                <a16:creationId xmlns:a16="http://schemas.microsoft.com/office/drawing/2014/main" id="{496F046F-A68C-09AD-5EEB-6C2F935E4607}"/>
              </a:ext>
            </a:extLst>
          </p:cNvPr>
          <p:cNvGrpSpPr/>
          <p:nvPr/>
        </p:nvGrpSpPr>
        <p:grpSpPr>
          <a:xfrm>
            <a:off x="808660" y="1951812"/>
            <a:ext cx="5415801" cy="2726946"/>
            <a:chOff x="808660" y="1951812"/>
            <a:chExt cx="5415801" cy="2726946"/>
          </a:xfrm>
        </p:grpSpPr>
        <p:grpSp>
          <p:nvGrpSpPr>
            <p:cNvPr id="148" name="Group 147">
              <a:extLst>
                <a:ext uri="{FF2B5EF4-FFF2-40B4-BE49-F238E27FC236}">
                  <a16:creationId xmlns:a16="http://schemas.microsoft.com/office/drawing/2014/main" id="{E2DD1A0B-301F-5C1D-F838-4CD6E19B781B}"/>
                </a:ext>
              </a:extLst>
            </p:cNvPr>
            <p:cNvGrpSpPr/>
            <p:nvPr/>
          </p:nvGrpSpPr>
          <p:grpSpPr>
            <a:xfrm>
              <a:off x="5287648" y="1951812"/>
              <a:ext cx="457202" cy="457200"/>
              <a:chOff x="4967584" y="1954463"/>
              <a:chExt cx="457202" cy="457200"/>
            </a:xfrm>
          </p:grpSpPr>
          <p:sp>
            <p:nvSpPr>
              <p:cNvPr id="149" name="Oval 148">
                <a:extLst>
                  <a:ext uri="{FF2B5EF4-FFF2-40B4-BE49-F238E27FC236}">
                    <a16:creationId xmlns:a16="http://schemas.microsoft.com/office/drawing/2014/main" id="{821A0AA1-CC45-936D-4D52-D31C03457C1F}"/>
                  </a:ext>
                </a:extLst>
              </p:cNvPr>
              <p:cNvSpPr>
                <a:spLocks noChangeAspect="1"/>
              </p:cNvSpPr>
              <p:nvPr/>
            </p:nvSpPr>
            <p:spPr>
              <a:xfrm>
                <a:off x="4967584" y="1954463"/>
                <a:ext cx="457202" cy="457200"/>
              </a:xfrm>
              <a:prstGeom prst="ellipse">
                <a:avLst/>
              </a:prstGeom>
              <a:solidFill>
                <a:schemeClr val="accent3"/>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50" name="Graphic 249">
                <a:extLst>
                  <a:ext uri="{FF2B5EF4-FFF2-40B4-BE49-F238E27FC236}">
                    <a16:creationId xmlns:a16="http://schemas.microsoft.com/office/drawing/2014/main" id="{6C89B6E1-40A4-E573-F348-C6CC0CFB8A0A}"/>
                  </a:ext>
                </a:extLst>
              </p:cNvPr>
              <p:cNvSpPr/>
              <p:nvPr/>
            </p:nvSpPr>
            <p:spPr>
              <a:xfrm>
                <a:off x="5054384" y="2089490"/>
                <a:ext cx="300966" cy="206048"/>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11" name="Group 210">
              <a:extLst>
                <a:ext uri="{FF2B5EF4-FFF2-40B4-BE49-F238E27FC236}">
                  <a16:creationId xmlns:a16="http://schemas.microsoft.com/office/drawing/2014/main" id="{6DCADB82-9131-B469-C659-76FCCD037C5F}"/>
                </a:ext>
              </a:extLst>
            </p:cNvPr>
            <p:cNvGrpSpPr/>
            <p:nvPr/>
          </p:nvGrpSpPr>
          <p:grpSpPr>
            <a:xfrm>
              <a:off x="808660" y="3087513"/>
              <a:ext cx="5415801" cy="1591245"/>
              <a:chOff x="808660" y="3087513"/>
              <a:chExt cx="5415801" cy="1591245"/>
            </a:xfrm>
          </p:grpSpPr>
          <p:cxnSp>
            <p:nvCxnSpPr>
              <p:cNvPr id="177" name="Straight Connector 176">
                <a:extLst>
                  <a:ext uri="{FF2B5EF4-FFF2-40B4-BE49-F238E27FC236}">
                    <a16:creationId xmlns:a16="http://schemas.microsoft.com/office/drawing/2014/main" id="{ABFE32D8-AA8F-D922-6124-A1C8DDAE7350}"/>
                  </a:ext>
                </a:extLst>
              </p:cNvPr>
              <p:cNvCxnSpPr>
                <a:cxnSpLocks/>
                <a:stCxn id="174" idx="0"/>
              </p:cNvCxnSpPr>
              <p:nvPr/>
            </p:nvCxnSpPr>
            <p:spPr bwMode="gray">
              <a:xfrm flipV="1">
                <a:off x="1364791" y="3470656"/>
                <a:ext cx="0" cy="1208102"/>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C1E20D5C-A97F-7FA3-DB98-5AFA0C2B26C5}"/>
                  </a:ext>
                </a:extLst>
              </p:cNvPr>
              <p:cNvCxnSpPr>
                <a:cxnSpLocks/>
                <a:stCxn id="173" idx="0"/>
              </p:cNvCxnSpPr>
              <p:nvPr/>
            </p:nvCxnSpPr>
            <p:spPr bwMode="gray">
              <a:xfrm flipV="1">
                <a:off x="3942977" y="3461657"/>
                <a:ext cx="0" cy="1217101"/>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593F1F75-A372-B4AC-BA00-5B393306A20E}"/>
                  </a:ext>
                </a:extLst>
              </p:cNvPr>
              <p:cNvCxnSpPr>
                <a:cxnSpLocks/>
                <a:stCxn id="169" idx="0"/>
              </p:cNvCxnSpPr>
              <p:nvPr/>
            </p:nvCxnSpPr>
            <p:spPr bwMode="gray">
              <a:xfrm flipV="1">
                <a:off x="2121220" y="3315956"/>
                <a:ext cx="3201" cy="1362802"/>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A62B85DA-9391-771B-C551-E8A57300344C}"/>
                  </a:ext>
                </a:extLst>
              </p:cNvPr>
              <p:cNvCxnSpPr>
                <a:cxnSpLocks/>
                <a:stCxn id="172" idx="0"/>
              </p:cNvCxnSpPr>
              <p:nvPr/>
            </p:nvCxnSpPr>
            <p:spPr bwMode="gray">
              <a:xfrm flipV="1">
                <a:off x="5033163" y="3324497"/>
                <a:ext cx="0" cy="1354261"/>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E7A6B61E-70C9-8032-B7D5-C98992F65876}"/>
                  </a:ext>
                </a:extLst>
              </p:cNvPr>
              <p:cNvCxnSpPr>
                <a:cxnSpLocks/>
                <a:stCxn id="23" idx="3"/>
              </p:cNvCxnSpPr>
              <p:nvPr/>
            </p:nvCxnSpPr>
            <p:spPr bwMode="gray">
              <a:xfrm>
                <a:off x="1291739" y="3311106"/>
                <a:ext cx="4932722" cy="485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A00BE394-AB9D-5EA3-8EC6-06AF046318A1}"/>
                  </a:ext>
                </a:extLst>
              </p:cNvPr>
              <p:cNvCxnSpPr>
                <a:cxnSpLocks/>
                <a:stCxn id="2" idx="3"/>
              </p:cNvCxnSpPr>
              <p:nvPr/>
            </p:nvCxnSpPr>
            <p:spPr bwMode="gray">
              <a:xfrm>
                <a:off x="1291739" y="3457755"/>
                <a:ext cx="3663351" cy="0"/>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ABB12D99-2D19-42F9-7D85-D86CF0E84891}"/>
                  </a:ext>
                </a:extLst>
              </p:cNvPr>
              <p:cNvCxnSpPr>
                <a:cxnSpLocks/>
                <a:stCxn id="170" idx="0"/>
              </p:cNvCxnSpPr>
              <p:nvPr/>
            </p:nvCxnSpPr>
            <p:spPr bwMode="gray">
              <a:xfrm flipV="1">
                <a:off x="3199739" y="3167743"/>
                <a:ext cx="0" cy="1511015"/>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C1517DEA-5A3F-4C13-1369-947AA6ADE06F}"/>
                  </a:ext>
                </a:extLst>
              </p:cNvPr>
              <p:cNvCxnSpPr>
                <a:cxnSpLocks/>
                <a:stCxn id="17" idx="3"/>
              </p:cNvCxnSpPr>
              <p:nvPr/>
            </p:nvCxnSpPr>
            <p:spPr bwMode="gray">
              <a:xfrm>
                <a:off x="1291739" y="3164457"/>
                <a:ext cx="4932722" cy="0"/>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FBD3DD14-AE9E-F4CB-7B0E-3B5B1E38F161}"/>
                  </a:ext>
                </a:extLst>
              </p:cNvPr>
              <p:cNvCxnSpPr>
                <a:cxnSpLocks/>
                <a:stCxn id="171" idx="0"/>
              </p:cNvCxnSpPr>
              <p:nvPr/>
            </p:nvCxnSpPr>
            <p:spPr bwMode="gray">
              <a:xfrm flipV="1">
                <a:off x="5782730" y="3164477"/>
                <a:ext cx="0" cy="1514281"/>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3CEFC12B-68A4-8BCE-CE30-ADFAE4376315}"/>
                  </a:ext>
                </a:extLst>
              </p:cNvPr>
              <p:cNvSpPr txBox="1"/>
              <p:nvPr/>
            </p:nvSpPr>
            <p:spPr>
              <a:xfrm>
                <a:off x="808660" y="3380811"/>
                <a:ext cx="483079"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98C7"/>
                    </a:solidFill>
                    <a:effectLst/>
                    <a:uLnTx/>
                    <a:uFillTx/>
                    <a:latin typeface="Arial" panose="020B0604020202020204"/>
                    <a:ea typeface="+mn-ea"/>
                    <a:cs typeface="+mn-cs"/>
                  </a:rPr>
                  <a:t>VLAN x</a:t>
                </a:r>
              </a:p>
            </p:txBody>
          </p:sp>
          <p:sp>
            <p:nvSpPr>
              <p:cNvPr id="17" name="TextBox 16">
                <a:extLst>
                  <a:ext uri="{FF2B5EF4-FFF2-40B4-BE49-F238E27FC236}">
                    <a16:creationId xmlns:a16="http://schemas.microsoft.com/office/drawing/2014/main" id="{94071360-F203-E189-262F-F8E1873AC949}"/>
                  </a:ext>
                </a:extLst>
              </p:cNvPr>
              <p:cNvSpPr txBox="1"/>
              <p:nvPr/>
            </p:nvSpPr>
            <p:spPr>
              <a:xfrm>
                <a:off x="808660" y="3087513"/>
                <a:ext cx="483079"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C4B94"/>
                    </a:solidFill>
                    <a:effectLst/>
                    <a:uLnTx/>
                    <a:uFillTx/>
                    <a:latin typeface="Arial" panose="020B0604020202020204"/>
                    <a:ea typeface="+mn-ea"/>
                    <a:cs typeface="+mn-cs"/>
                  </a:rPr>
                  <a:t>VLAN z</a:t>
                </a:r>
              </a:p>
            </p:txBody>
          </p:sp>
          <p:sp>
            <p:nvSpPr>
              <p:cNvPr id="23" name="TextBox 22">
                <a:extLst>
                  <a:ext uri="{FF2B5EF4-FFF2-40B4-BE49-F238E27FC236}">
                    <a16:creationId xmlns:a16="http://schemas.microsoft.com/office/drawing/2014/main" id="{F1537048-B809-60A9-295D-4B9931CD991B}"/>
                  </a:ext>
                </a:extLst>
              </p:cNvPr>
              <p:cNvSpPr txBox="1"/>
              <p:nvPr/>
            </p:nvSpPr>
            <p:spPr>
              <a:xfrm>
                <a:off x="808660" y="3234162"/>
                <a:ext cx="483079"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VLAN y</a:t>
                </a:r>
              </a:p>
            </p:txBody>
          </p:sp>
        </p:grpSp>
      </p:grpSp>
      <p:sp>
        <p:nvSpPr>
          <p:cNvPr id="93" name="Rectangle: Rounded Corners 144">
            <a:extLst>
              <a:ext uri="{FF2B5EF4-FFF2-40B4-BE49-F238E27FC236}">
                <a16:creationId xmlns:a16="http://schemas.microsoft.com/office/drawing/2014/main" id="{EA0B45B9-1F7E-0CFE-86AC-18FE1048B837}"/>
              </a:ext>
            </a:extLst>
          </p:cNvPr>
          <p:cNvSpPr/>
          <p:nvPr/>
        </p:nvSpPr>
        <p:spPr>
          <a:xfrm>
            <a:off x="869486" y="3567173"/>
            <a:ext cx="5421854" cy="393192"/>
          </a:xfrm>
          <a:prstGeom prst="roundRect">
            <a:avLst>
              <a:gd name="adj" fmla="val 50000"/>
            </a:avLst>
          </a:prstGeom>
          <a:solidFill>
            <a:schemeClr val="tx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VCF with vSphere Networking</a:t>
            </a:r>
          </a:p>
        </p:txBody>
      </p:sp>
      <p:grpSp>
        <p:nvGrpSpPr>
          <p:cNvPr id="129" name="Group 128">
            <a:extLst>
              <a:ext uri="{FF2B5EF4-FFF2-40B4-BE49-F238E27FC236}">
                <a16:creationId xmlns:a16="http://schemas.microsoft.com/office/drawing/2014/main" id="{017A1B74-74CD-1ABE-A030-F99ECDC2874D}"/>
              </a:ext>
            </a:extLst>
          </p:cNvPr>
          <p:cNvGrpSpPr>
            <a:grpSpLocks noChangeAspect="1"/>
          </p:cNvGrpSpPr>
          <p:nvPr/>
        </p:nvGrpSpPr>
        <p:grpSpPr>
          <a:xfrm>
            <a:off x="2074436" y="1950788"/>
            <a:ext cx="457202" cy="457200"/>
            <a:chOff x="6236527" y="4282407"/>
            <a:chExt cx="615026" cy="615024"/>
          </a:xfrm>
        </p:grpSpPr>
        <p:sp>
          <p:nvSpPr>
            <p:cNvPr id="130" name="Oval 129">
              <a:extLst>
                <a:ext uri="{FF2B5EF4-FFF2-40B4-BE49-F238E27FC236}">
                  <a16:creationId xmlns:a16="http://schemas.microsoft.com/office/drawing/2014/main" id="{D27EA683-7B01-49B7-DB5C-BDFE74E76D5D}"/>
                </a:ext>
              </a:extLst>
            </p:cNvPr>
            <p:cNvSpPr>
              <a:spLocks noChangeAspect="1"/>
            </p:cNvSpPr>
            <p:nvPr/>
          </p:nvSpPr>
          <p:spPr>
            <a:xfrm>
              <a:off x="6236527" y="4282407"/>
              <a:ext cx="615026" cy="615024"/>
            </a:xfrm>
            <a:prstGeom prst="ellipse">
              <a:avLst/>
            </a:prstGeom>
            <a:solidFill>
              <a:srgbClr val="C00000"/>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31" name="Group 130">
              <a:extLst>
                <a:ext uri="{FF2B5EF4-FFF2-40B4-BE49-F238E27FC236}">
                  <a16:creationId xmlns:a16="http://schemas.microsoft.com/office/drawing/2014/main" id="{52E5FA09-3ECB-1AEA-FEEE-EF258FCE41FC}"/>
                </a:ext>
              </a:extLst>
            </p:cNvPr>
            <p:cNvGrpSpPr/>
            <p:nvPr/>
          </p:nvGrpSpPr>
          <p:grpSpPr>
            <a:xfrm>
              <a:off x="6341349" y="4462363"/>
              <a:ext cx="395473" cy="299841"/>
              <a:chOff x="3560655" y="2748581"/>
              <a:chExt cx="580548" cy="440165"/>
            </a:xfrm>
          </p:grpSpPr>
          <p:sp>
            <p:nvSpPr>
              <p:cNvPr id="132" name="Freeform: Shape 155">
                <a:extLst>
                  <a:ext uri="{FF2B5EF4-FFF2-40B4-BE49-F238E27FC236}">
                    <a16:creationId xmlns:a16="http://schemas.microsoft.com/office/drawing/2014/main" id="{18022690-F272-8305-6D04-6C6E5EBD58CE}"/>
                  </a:ext>
                </a:extLst>
              </p:cNvPr>
              <p:cNvSpPr/>
              <p:nvPr/>
            </p:nvSpPr>
            <p:spPr>
              <a:xfrm>
                <a:off x="3560655" y="2748581"/>
                <a:ext cx="580548" cy="336411"/>
              </a:xfrm>
              <a:custGeom>
                <a:avLst/>
                <a:gdLst>
                  <a:gd name="connsiteX0" fmla="*/ 284140 w 580548"/>
                  <a:gd name="connsiteY0" fmla="*/ 305741 h 336411"/>
                  <a:gd name="connsiteX1" fmla="*/ 134381 w 580548"/>
                  <a:gd name="connsiteY1" fmla="*/ 305741 h 336411"/>
                  <a:gd name="connsiteX2" fmla="*/ 134381 w 580548"/>
                  <a:gd name="connsiteY2" fmla="*/ 234498 h 336411"/>
                  <a:gd name="connsiteX3" fmla="*/ 290450 w 580548"/>
                  <a:gd name="connsiteY3" fmla="*/ 234498 h 336411"/>
                  <a:gd name="connsiteX4" fmla="*/ 290450 w 580548"/>
                  <a:gd name="connsiteY4" fmla="*/ 292597 h 336411"/>
                  <a:gd name="connsiteX5" fmla="*/ 316739 w 580548"/>
                  <a:gd name="connsiteY5" fmla="*/ 238660 h 336411"/>
                  <a:gd name="connsiteX6" fmla="*/ 316739 w 580548"/>
                  <a:gd name="connsiteY6" fmla="*/ 234498 h 336411"/>
                  <a:gd name="connsiteX7" fmla="*/ 318754 w 580548"/>
                  <a:gd name="connsiteY7" fmla="*/ 234498 h 336411"/>
                  <a:gd name="connsiteX8" fmla="*/ 333695 w 580548"/>
                  <a:gd name="connsiteY8" fmla="*/ 203827 h 336411"/>
                  <a:gd name="connsiteX9" fmla="*/ 258421 w 580548"/>
                  <a:gd name="connsiteY9" fmla="*/ 203827 h 336411"/>
                  <a:gd name="connsiteX10" fmla="*/ 258421 w 580548"/>
                  <a:gd name="connsiteY10" fmla="*/ 132584 h 336411"/>
                  <a:gd name="connsiteX11" fmla="*/ 414490 w 580548"/>
                  <a:gd name="connsiteY11" fmla="*/ 132584 h 336411"/>
                  <a:gd name="connsiteX12" fmla="*/ 414490 w 580548"/>
                  <a:gd name="connsiteY12" fmla="*/ 192479 h 336411"/>
                  <a:gd name="connsiteX13" fmla="*/ 440779 w 580548"/>
                  <a:gd name="connsiteY13" fmla="*/ 137973 h 336411"/>
                  <a:gd name="connsiteX14" fmla="*/ 440779 w 580548"/>
                  <a:gd name="connsiteY14" fmla="*/ 132584 h 336411"/>
                  <a:gd name="connsiteX15" fmla="*/ 443364 w 580548"/>
                  <a:gd name="connsiteY15" fmla="*/ 132584 h 336411"/>
                  <a:gd name="connsiteX16" fmla="*/ 458173 w 580548"/>
                  <a:gd name="connsiteY16" fmla="*/ 101914 h 336411"/>
                  <a:gd name="connsiteX17" fmla="*/ 351528 w 580548"/>
                  <a:gd name="connsiteY17" fmla="*/ 101914 h 336411"/>
                  <a:gd name="connsiteX18" fmla="*/ 351528 w 580548"/>
                  <a:gd name="connsiteY18" fmla="*/ 30671 h 336411"/>
                  <a:gd name="connsiteX19" fmla="*/ 507597 w 580548"/>
                  <a:gd name="connsiteY19" fmla="*/ 30671 h 336411"/>
                  <a:gd name="connsiteX20" fmla="*/ 507597 w 580548"/>
                  <a:gd name="connsiteY20" fmla="*/ 101914 h 336411"/>
                  <a:gd name="connsiteX21" fmla="*/ 496643 w 580548"/>
                  <a:gd name="connsiteY21" fmla="*/ 101914 h 336411"/>
                  <a:gd name="connsiteX22" fmla="*/ 506063 w 580548"/>
                  <a:gd name="connsiteY22" fmla="*/ 121324 h 336411"/>
                  <a:gd name="connsiteX23" fmla="*/ 511540 w 580548"/>
                  <a:gd name="connsiteY23" fmla="*/ 132584 h 336411"/>
                  <a:gd name="connsiteX24" fmla="*/ 549834 w 580548"/>
                  <a:gd name="connsiteY24" fmla="*/ 132584 h 336411"/>
                  <a:gd name="connsiteX25" fmla="*/ 549834 w 580548"/>
                  <a:gd name="connsiteY25" fmla="*/ 203827 h 336411"/>
                  <a:gd name="connsiteX26" fmla="*/ 546154 w 580548"/>
                  <a:gd name="connsiteY26" fmla="*/ 203827 h 336411"/>
                  <a:gd name="connsiteX27" fmla="*/ 574984 w 580548"/>
                  <a:gd name="connsiteY27" fmla="*/ 262759 h 336411"/>
                  <a:gd name="connsiteX28" fmla="*/ 580549 w 580548"/>
                  <a:gd name="connsiteY28" fmla="*/ 274326 h 336411"/>
                  <a:gd name="connsiteX29" fmla="*/ 580549 w 580548"/>
                  <a:gd name="connsiteY29" fmla="*/ 0 h 336411"/>
                  <a:gd name="connsiteX30" fmla="*/ 0 w 580548"/>
                  <a:gd name="connsiteY30" fmla="*/ 0 h 336411"/>
                  <a:gd name="connsiteX31" fmla="*/ 0 w 580548"/>
                  <a:gd name="connsiteY31" fmla="*/ 336412 h 336411"/>
                  <a:gd name="connsiteX32" fmla="*/ 275509 w 580548"/>
                  <a:gd name="connsiteY32" fmla="*/ 336412 h 336411"/>
                  <a:gd name="connsiteX33" fmla="*/ 284140 w 580548"/>
                  <a:gd name="connsiteY33" fmla="*/ 305741 h 336411"/>
                  <a:gd name="connsiteX34" fmla="*/ 533886 w 580548"/>
                  <a:gd name="connsiteY34" fmla="*/ 30671 h 336411"/>
                  <a:gd name="connsiteX35" fmla="*/ 549834 w 580548"/>
                  <a:gd name="connsiteY35" fmla="*/ 30671 h 336411"/>
                  <a:gd name="connsiteX36" fmla="*/ 549834 w 580548"/>
                  <a:gd name="connsiteY36" fmla="*/ 101914 h 336411"/>
                  <a:gd name="connsiteX37" fmla="*/ 533886 w 580548"/>
                  <a:gd name="connsiteY37" fmla="*/ 101914 h 336411"/>
                  <a:gd name="connsiteX38" fmla="*/ 533886 w 580548"/>
                  <a:gd name="connsiteY38" fmla="*/ 30671 h 336411"/>
                  <a:gd name="connsiteX39" fmla="*/ 232132 w 580548"/>
                  <a:gd name="connsiteY39" fmla="*/ 203827 h 336411"/>
                  <a:gd name="connsiteX40" fmla="*/ 76063 w 580548"/>
                  <a:gd name="connsiteY40" fmla="*/ 203827 h 336411"/>
                  <a:gd name="connsiteX41" fmla="*/ 76063 w 580548"/>
                  <a:gd name="connsiteY41" fmla="*/ 132584 h 336411"/>
                  <a:gd name="connsiteX42" fmla="*/ 232132 w 580548"/>
                  <a:gd name="connsiteY42" fmla="*/ 132584 h 336411"/>
                  <a:gd name="connsiteX43" fmla="*/ 232132 w 580548"/>
                  <a:gd name="connsiteY43" fmla="*/ 203827 h 336411"/>
                  <a:gd name="connsiteX44" fmla="*/ 169170 w 580548"/>
                  <a:gd name="connsiteY44" fmla="*/ 30671 h 336411"/>
                  <a:gd name="connsiteX45" fmla="*/ 325239 w 580548"/>
                  <a:gd name="connsiteY45" fmla="*/ 30671 h 336411"/>
                  <a:gd name="connsiteX46" fmla="*/ 325239 w 580548"/>
                  <a:gd name="connsiteY46" fmla="*/ 101914 h 336411"/>
                  <a:gd name="connsiteX47" fmla="*/ 169170 w 580548"/>
                  <a:gd name="connsiteY47" fmla="*/ 101914 h 336411"/>
                  <a:gd name="connsiteX48" fmla="*/ 169170 w 580548"/>
                  <a:gd name="connsiteY48" fmla="*/ 30671 h 336411"/>
                  <a:gd name="connsiteX49" fmla="*/ 30671 w 580548"/>
                  <a:gd name="connsiteY49" fmla="*/ 30671 h 336411"/>
                  <a:gd name="connsiteX50" fmla="*/ 142881 w 580548"/>
                  <a:gd name="connsiteY50" fmla="*/ 30671 h 336411"/>
                  <a:gd name="connsiteX51" fmla="*/ 142881 w 580548"/>
                  <a:gd name="connsiteY51" fmla="*/ 101914 h 336411"/>
                  <a:gd name="connsiteX52" fmla="*/ 30671 w 580548"/>
                  <a:gd name="connsiteY52" fmla="*/ 101914 h 336411"/>
                  <a:gd name="connsiteX53" fmla="*/ 30671 w 580548"/>
                  <a:gd name="connsiteY53" fmla="*/ 30671 h 336411"/>
                  <a:gd name="connsiteX54" fmla="*/ 30671 w 580548"/>
                  <a:gd name="connsiteY54" fmla="*/ 132584 h 336411"/>
                  <a:gd name="connsiteX55" fmla="*/ 49774 w 580548"/>
                  <a:gd name="connsiteY55" fmla="*/ 132584 h 336411"/>
                  <a:gd name="connsiteX56" fmla="*/ 49774 w 580548"/>
                  <a:gd name="connsiteY56" fmla="*/ 203827 h 336411"/>
                  <a:gd name="connsiteX57" fmla="*/ 30671 w 580548"/>
                  <a:gd name="connsiteY57" fmla="*/ 203827 h 336411"/>
                  <a:gd name="connsiteX58" fmla="*/ 30671 w 580548"/>
                  <a:gd name="connsiteY58" fmla="*/ 132584 h 336411"/>
                  <a:gd name="connsiteX59" fmla="*/ 108092 w 580548"/>
                  <a:gd name="connsiteY59" fmla="*/ 305741 h 336411"/>
                  <a:gd name="connsiteX60" fmla="*/ 30671 w 580548"/>
                  <a:gd name="connsiteY60" fmla="*/ 305741 h 336411"/>
                  <a:gd name="connsiteX61" fmla="*/ 30671 w 580548"/>
                  <a:gd name="connsiteY61" fmla="*/ 234498 h 336411"/>
                  <a:gd name="connsiteX62" fmla="*/ 108092 w 580548"/>
                  <a:gd name="connsiteY62" fmla="*/ 234498 h 336411"/>
                  <a:gd name="connsiteX63" fmla="*/ 108092 w 580548"/>
                  <a:gd name="connsiteY63" fmla="*/ 305741 h 33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0548" h="336411">
                    <a:moveTo>
                      <a:pt x="284140" y="305741"/>
                    </a:moveTo>
                    <a:lnTo>
                      <a:pt x="134381" y="305741"/>
                    </a:lnTo>
                    <a:lnTo>
                      <a:pt x="134381" y="234498"/>
                    </a:lnTo>
                    <a:lnTo>
                      <a:pt x="290450" y="234498"/>
                    </a:lnTo>
                    <a:lnTo>
                      <a:pt x="290450" y="292597"/>
                    </a:lnTo>
                    <a:cubicBezTo>
                      <a:pt x="295445" y="282432"/>
                      <a:pt x="305829" y="261094"/>
                      <a:pt x="316739" y="238660"/>
                    </a:cubicBezTo>
                    <a:lnTo>
                      <a:pt x="316739" y="234498"/>
                    </a:lnTo>
                    <a:lnTo>
                      <a:pt x="318754" y="234498"/>
                    </a:lnTo>
                    <a:cubicBezTo>
                      <a:pt x="323837" y="224026"/>
                      <a:pt x="329007" y="213467"/>
                      <a:pt x="333695" y="203827"/>
                    </a:cubicBezTo>
                    <a:lnTo>
                      <a:pt x="258421" y="203827"/>
                    </a:lnTo>
                    <a:lnTo>
                      <a:pt x="258421" y="132584"/>
                    </a:lnTo>
                    <a:lnTo>
                      <a:pt x="414490" y="132584"/>
                    </a:lnTo>
                    <a:lnTo>
                      <a:pt x="414490" y="192479"/>
                    </a:lnTo>
                    <a:lnTo>
                      <a:pt x="440779" y="137973"/>
                    </a:lnTo>
                    <a:lnTo>
                      <a:pt x="440779" y="132584"/>
                    </a:lnTo>
                    <a:lnTo>
                      <a:pt x="443364" y="132584"/>
                    </a:lnTo>
                    <a:lnTo>
                      <a:pt x="458173" y="101914"/>
                    </a:lnTo>
                    <a:lnTo>
                      <a:pt x="351528" y="101914"/>
                    </a:lnTo>
                    <a:lnTo>
                      <a:pt x="351528" y="30671"/>
                    </a:lnTo>
                    <a:lnTo>
                      <a:pt x="507597" y="30671"/>
                    </a:lnTo>
                    <a:lnTo>
                      <a:pt x="507597" y="101914"/>
                    </a:lnTo>
                    <a:lnTo>
                      <a:pt x="496643" y="101914"/>
                    </a:lnTo>
                    <a:lnTo>
                      <a:pt x="506063" y="121324"/>
                    </a:lnTo>
                    <a:cubicBezTo>
                      <a:pt x="507728" y="124785"/>
                      <a:pt x="509568" y="128597"/>
                      <a:pt x="511540" y="132584"/>
                    </a:cubicBezTo>
                    <a:lnTo>
                      <a:pt x="549834" y="132584"/>
                    </a:lnTo>
                    <a:lnTo>
                      <a:pt x="549834" y="203827"/>
                    </a:lnTo>
                    <a:lnTo>
                      <a:pt x="546154" y="203827"/>
                    </a:lnTo>
                    <a:cubicBezTo>
                      <a:pt x="559079" y="230379"/>
                      <a:pt x="570559" y="253908"/>
                      <a:pt x="574984" y="262759"/>
                    </a:cubicBezTo>
                    <a:cubicBezTo>
                      <a:pt x="577044" y="266527"/>
                      <a:pt x="578840" y="270382"/>
                      <a:pt x="580549" y="274326"/>
                    </a:cubicBezTo>
                    <a:lnTo>
                      <a:pt x="580549" y="0"/>
                    </a:lnTo>
                    <a:lnTo>
                      <a:pt x="0" y="0"/>
                    </a:lnTo>
                    <a:lnTo>
                      <a:pt x="0" y="336412"/>
                    </a:lnTo>
                    <a:lnTo>
                      <a:pt x="275509" y="336412"/>
                    </a:lnTo>
                    <a:cubicBezTo>
                      <a:pt x="277042" y="325852"/>
                      <a:pt x="279978" y="315512"/>
                      <a:pt x="284140" y="305741"/>
                    </a:cubicBezTo>
                    <a:close/>
                    <a:moveTo>
                      <a:pt x="533886" y="30671"/>
                    </a:moveTo>
                    <a:lnTo>
                      <a:pt x="549834" y="30671"/>
                    </a:lnTo>
                    <a:lnTo>
                      <a:pt x="549834" y="101914"/>
                    </a:lnTo>
                    <a:lnTo>
                      <a:pt x="533886" y="101914"/>
                    </a:lnTo>
                    <a:lnTo>
                      <a:pt x="533886" y="30671"/>
                    </a:lnTo>
                    <a:close/>
                    <a:moveTo>
                      <a:pt x="232132" y="203827"/>
                    </a:moveTo>
                    <a:lnTo>
                      <a:pt x="76063" y="203827"/>
                    </a:lnTo>
                    <a:lnTo>
                      <a:pt x="76063" y="132584"/>
                    </a:lnTo>
                    <a:lnTo>
                      <a:pt x="232132" y="132584"/>
                    </a:lnTo>
                    <a:lnTo>
                      <a:pt x="232132" y="203827"/>
                    </a:lnTo>
                    <a:close/>
                    <a:moveTo>
                      <a:pt x="169170" y="30671"/>
                    </a:moveTo>
                    <a:lnTo>
                      <a:pt x="325239" y="30671"/>
                    </a:lnTo>
                    <a:lnTo>
                      <a:pt x="325239" y="101914"/>
                    </a:lnTo>
                    <a:lnTo>
                      <a:pt x="169170" y="101914"/>
                    </a:lnTo>
                    <a:lnTo>
                      <a:pt x="169170" y="30671"/>
                    </a:lnTo>
                    <a:close/>
                    <a:moveTo>
                      <a:pt x="30671" y="30671"/>
                    </a:moveTo>
                    <a:lnTo>
                      <a:pt x="142881" y="30671"/>
                    </a:lnTo>
                    <a:lnTo>
                      <a:pt x="142881" y="101914"/>
                    </a:lnTo>
                    <a:lnTo>
                      <a:pt x="30671" y="101914"/>
                    </a:lnTo>
                    <a:lnTo>
                      <a:pt x="30671" y="30671"/>
                    </a:lnTo>
                    <a:close/>
                    <a:moveTo>
                      <a:pt x="30671" y="132584"/>
                    </a:moveTo>
                    <a:lnTo>
                      <a:pt x="49774" y="132584"/>
                    </a:lnTo>
                    <a:lnTo>
                      <a:pt x="49774" y="203827"/>
                    </a:lnTo>
                    <a:lnTo>
                      <a:pt x="30671" y="203827"/>
                    </a:lnTo>
                    <a:lnTo>
                      <a:pt x="30671" y="132584"/>
                    </a:lnTo>
                    <a:close/>
                    <a:moveTo>
                      <a:pt x="108092" y="305741"/>
                    </a:moveTo>
                    <a:lnTo>
                      <a:pt x="30671" y="305741"/>
                    </a:lnTo>
                    <a:lnTo>
                      <a:pt x="30671" y="234498"/>
                    </a:lnTo>
                    <a:lnTo>
                      <a:pt x="108092" y="234498"/>
                    </a:lnTo>
                    <a:lnTo>
                      <a:pt x="108092" y="30574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3" name="Freeform: Shape 156">
                <a:extLst>
                  <a:ext uri="{FF2B5EF4-FFF2-40B4-BE49-F238E27FC236}">
                    <a16:creationId xmlns:a16="http://schemas.microsoft.com/office/drawing/2014/main" id="{0F0DFD28-1E31-9B10-EAE9-E2A7A3BBBA2E}"/>
                  </a:ext>
                </a:extLst>
              </p:cNvPr>
              <p:cNvSpPr/>
              <p:nvPr/>
            </p:nvSpPr>
            <p:spPr>
              <a:xfrm>
                <a:off x="3866603" y="2883794"/>
                <a:ext cx="254911" cy="304952"/>
              </a:xfrm>
              <a:custGeom>
                <a:avLst/>
                <a:gdLst>
                  <a:gd name="connsiteX0" fmla="*/ 240819 w 254911"/>
                  <a:gd name="connsiteY0" fmla="*/ 142311 h 304952"/>
                  <a:gd name="connsiteX1" fmla="*/ 171504 w 254911"/>
                  <a:gd name="connsiteY1" fmla="*/ 0 h 304952"/>
                  <a:gd name="connsiteX2" fmla="*/ 113274 w 254911"/>
                  <a:gd name="connsiteY2" fmla="*/ 120710 h 304952"/>
                  <a:gd name="connsiteX3" fmla="*/ 104730 w 254911"/>
                  <a:gd name="connsiteY3" fmla="*/ 126450 h 304952"/>
                  <a:gd name="connsiteX4" fmla="*/ 96186 w 254911"/>
                  <a:gd name="connsiteY4" fmla="*/ 120710 h 304952"/>
                  <a:gd name="connsiteX5" fmla="*/ 66786 w 254911"/>
                  <a:gd name="connsiteY5" fmla="*/ 61078 h 304952"/>
                  <a:gd name="connsiteX6" fmla="*/ 11404 w 254911"/>
                  <a:gd name="connsiteY6" fmla="*/ 174822 h 304952"/>
                  <a:gd name="connsiteX7" fmla="*/ 12 w 254911"/>
                  <a:gd name="connsiteY7" fmla="*/ 221485 h 304952"/>
                  <a:gd name="connsiteX8" fmla="*/ 66392 w 254911"/>
                  <a:gd name="connsiteY8" fmla="*/ 304952 h 304952"/>
                  <a:gd name="connsiteX9" fmla="*/ 102802 w 254911"/>
                  <a:gd name="connsiteY9" fmla="*/ 304952 h 304952"/>
                  <a:gd name="connsiteX10" fmla="*/ 75549 w 254911"/>
                  <a:gd name="connsiteY10" fmla="*/ 196116 h 304952"/>
                  <a:gd name="connsiteX11" fmla="*/ 115070 w 254911"/>
                  <a:gd name="connsiteY11" fmla="*/ 225341 h 304952"/>
                  <a:gd name="connsiteX12" fmla="*/ 169007 w 254911"/>
                  <a:gd name="connsiteY12" fmla="*/ 140953 h 304952"/>
                  <a:gd name="connsiteX13" fmla="*/ 169007 w 254911"/>
                  <a:gd name="connsiteY13" fmla="*/ 139200 h 304952"/>
                  <a:gd name="connsiteX14" fmla="*/ 164581 w 254911"/>
                  <a:gd name="connsiteY14" fmla="*/ 304952 h 304952"/>
                  <a:gd name="connsiteX15" fmla="*/ 171373 w 254911"/>
                  <a:gd name="connsiteY15" fmla="*/ 304952 h 304952"/>
                  <a:gd name="connsiteX16" fmla="*/ 254884 w 254911"/>
                  <a:gd name="connsiteY16" fmla="*/ 200848 h 304952"/>
                  <a:gd name="connsiteX17" fmla="*/ 240776 w 254911"/>
                  <a:gd name="connsiteY17" fmla="*/ 142355 h 30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4911" h="304952">
                    <a:moveTo>
                      <a:pt x="240819" y="142311"/>
                    </a:moveTo>
                    <a:cubicBezTo>
                      <a:pt x="231794" y="124259"/>
                      <a:pt x="189731" y="37637"/>
                      <a:pt x="171504" y="0"/>
                    </a:cubicBezTo>
                    <a:lnTo>
                      <a:pt x="113274" y="120710"/>
                    </a:lnTo>
                    <a:cubicBezTo>
                      <a:pt x="111521" y="124259"/>
                      <a:pt x="108279" y="126450"/>
                      <a:pt x="104730" y="126450"/>
                    </a:cubicBezTo>
                    <a:cubicBezTo>
                      <a:pt x="101181" y="126450"/>
                      <a:pt x="97939" y="124259"/>
                      <a:pt x="96186" y="120710"/>
                    </a:cubicBezTo>
                    <a:lnTo>
                      <a:pt x="66786" y="61078"/>
                    </a:lnTo>
                    <a:cubicBezTo>
                      <a:pt x="51101" y="93370"/>
                      <a:pt x="18546" y="160231"/>
                      <a:pt x="11404" y="174822"/>
                    </a:cubicBezTo>
                    <a:cubicBezTo>
                      <a:pt x="3736" y="188755"/>
                      <a:pt x="-251" y="204967"/>
                      <a:pt x="12" y="221485"/>
                    </a:cubicBezTo>
                    <a:cubicBezTo>
                      <a:pt x="12" y="267228"/>
                      <a:pt x="30683" y="304952"/>
                      <a:pt x="66392" y="304952"/>
                    </a:cubicBezTo>
                    <a:lnTo>
                      <a:pt x="102802" y="304952"/>
                    </a:lnTo>
                    <a:cubicBezTo>
                      <a:pt x="62142" y="268060"/>
                      <a:pt x="66567" y="213072"/>
                      <a:pt x="75549" y="196116"/>
                    </a:cubicBezTo>
                    <a:cubicBezTo>
                      <a:pt x="75549" y="196116"/>
                      <a:pt x="95704" y="224990"/>
                      <a:pt x="115070" y="225341"/>
                    </a:cubicBezTo>
                    <a:cubicBezTo>
                      <a:pt x="142367" y="225823"/>
                      <a:pt x="156213" y="197869"/>
                      <a:pt x="169007" y="140953"/>
                    </a:cubicBezTo>
                    <a:lnTo>
                      <a:pt x="169007" y="139200"/>
                    </a:lnTo>
                    <a:cubicBezTo>
                      <a:pt x="193061" y="157471"/>
                      <a:pt x="220139" y="242297"/>
                      <a:pt x="164581" y="304952"/>
                    </a:cubicBezTo>
                    <a:lnTo>
                      <a:pt x="171373" y="304952"/>
                    </a:lnTo>
                    <a:cubicBezTo>
                      <a:pt x="217466" y="304952"/>
                      <a:pt x="254884" y="258289"/>
                      <a:pt x="254884" y="200848"/>
                    </a:cubicBezTo>
                    <a:cubicBezTo>
                      <a:pt x="255322" y="180167"/>
                      <a:pt x="250415" y="159793"/>
                      <a:pt x="240776" y="142355"/>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134" name="Group 133">
            <a:extLst>
              <a:ext uri="{FF2B5EF4-FFF2-40B4-BE49-F238E27FC236}">
                <a16:creationId xmlns:a16="http://schemas.microsoft.com/office/drawing/2014/main" id="{C2E010A5-6C3F-0DA6-B388-618BD00465C8}"/>
              </a:ext>
            </a:extLst>
          </p:cNvPr>
          <p:cNvGrpSpPr>
            <a:grpSpLocks noChangeAspect="1"/>
          </p:cNvGrpSpPr>
          <p:nvPr/>
        </p:nvGrpSpPr>
        <p:grpSpPr>
          <a:xfrm>
            <a:off x="4490112" y="1950788"/>
            <a:ext cx="457202" cy="457200"/>
            <a:chOff x="4686723" y="1587682"/>
            <a:chExt cx="547621" cy="547619"/>
          </a:xfrm>
        </p:grpSpPr>
        <p:sp>
          <p:nvSpPr>
            <p:cNvPr id="135" name="Oval 134">
              <a:extLst>
                <a:ext uri="{FF2B5EF4-FFF2-40B4-BE49-F238E27FC236}">
                  <a16:creationId xmlns:a16="http://schemas.microsoft.com/office/drawing/2014/main" id="{E22B8328-CD67-4587-E30B-4B60B08A6CEA}"/>
                </a:ext>
              </a:extLst>
            </p:cNvPr>
            <p:cNvSpPr>
              <a:spLocks noChangeAspect="1"/>
            </p:cNvSpPr>
            <p:nvPr/>
          </p:nvSpPr>
          <p:spPr>
            <a:xfrm>
              <a:off x="4686723" y="1587682"/>
              <a:ext cx="547621" cy="547619"/>
            </a:xfrm>
            <a:prstGeom prst="ellipse">
              <a:avLst/>
            </a:prstGeom>
            <a:solidFill>
              <a:schemeClr val="accent4"/>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36" name="Google Shape;3149;p83">
              <a:extLst>
                <a:ext uri="{FF2B5EF4-FFF2-40B4-BE49-F238E27FC236}">
                  <a16:creationId xmlns:a16="http://schemas.microsoft.com/office/drawing/2014/main" id="{A3869C03-4C40-5B9D-D8F7-B0EE92448DCB}"/>
                </a:ext>
              </a:extLst>
            </p:cNvPr>
            <p:cNvSpPr>
              <a:spLocks noChangeAspect="1"/>
            </p:cNvSpPr>
            <p:nvPr/>
          </p:nvSpPr>
          <p:spPr>
            <a:xfrm>
              <a:off x="4775072" y="1678710"/>
              <a:ext cx="365562" cy="365562"/>
            </a:xfrm>
            <a:custGeom>
              <a:avLst/>
              <a:gdLst/>
              <a:ahLst/>
              <a:cxnLst/>
              <a:rect l="l" t="t" r="r" b="b"/>
              <a:pathLst>
                <a:path w="584492" h="584492" extrusionOk="0">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mn-ea"/>
                <a:cs typeface="+mn-cs"/>
                <a:sym typeface="Arial"/>
              </a:endParaRPr>
            </a:p>
          </p:txBody>
        </p:sp>
      </p:grpSp>
      <p:grpSp>
        <p:nvGrpSpPr>
          <p:cNvPr id="140" name="Group 139">
            <a:extLst>
              <a:ext uri="{FF2B5EF4-FFF2-40B4-BE49-F238E27FC236}">
                <a16:creationId xmlns:a16="http://schemas.microsoft.com/office/drawing/2014/main" id="{3D6E43E9-054E-541F-53AD-4EB97DA4DEBA}"/>
              </a:ext>
            </a:extLst>
          </p:cNvPr>
          <p:cNvGrpSpPr>
            <a:grpSpLocks noChangeAspect="1"/>
          </p:cNvGrpSpPr>
          <p:nvPr/>
        </p:nvGrpSpPr>
        <p:grpSpPr>
          <a:xfrm>
            <a:off x="3684886" y="1950788"/>
            <a:ext cx="457202" cy="457200"/>
            <a:chOff x="5341314" y="5151711"/>
            <a:chExt cx="547621" cy="547619"/>
          </a:xfrm>
        </p:grpSpPr>
        <p:sp>
          <p:nvSpPr>
            <p:cNvPr id="141" name="Oval 140">
              <a:extLst>
                <a:ext uri="{FF2B5EF4-FFF2-40B4-BE49-F238E27FC236}">
                  <a16:creationId xmlns:a16="http://schemas.microsoft.com/office/drawing/2014/main" id="{AAA077F3-4046-E0DD-571B-47485EEA90FF}"/>
                </a:ext>
              </a:extLst>
            </p:cNvPr>
            <p:cNvSpPr>
              <a:spLocks noChangeAspect="1"/>
            </p:cNvSpPr>
            <p:nvPr/>
          </p:nvSpPr>
          <p:spPr>
            <a:xfrm>
              <a:off x="5341314" y="5151711"/>
              <a:ext cx="547621" cy="547619"/>
            </a:xfrm>
            <a:prstGeom prst="ellipse">
              <a:avLst/>
            </a:prstGeom>
            <a:solidFill>
              <a:schemeClr val="accent4"/>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42" name="Group 141">
              <a:extLst>
                <a:ext uri="{FF2B5EF4-FFF2-40B4-BE49-F238E27FC236}">
                  <a16:creationId xmlns:a16="http://schemas.microsoft.com/office/drawing/2014/main" id="{54CD25BF-ED58-05C5-20E4-4D0742524B21}"/>
                </a:ext>
              </a:extLst>
            </p:cNvPr>
            <p:cNvGrpSpPr/>
            <p:nvPr/>
          </p:nvGrpSpPr>
          <p:grpSpPr>
            <a:xfrm>
              <a:off x="5475978" y="5286375"/>
              <a:ext cx="278292" cy="278290"/>
              <a:chOff x="7453826" y="4235509"/>
              <a:chExt cx="199845" cy="199844"/>
            </a:xfrm>
            <a:solidFill>
              <a:schemeClr val="bg1"/>
            </a:solidFill>
          </p:grpSpPr>
          <p:sp>
            <p:nvSpPr>
              <p:cNvPr id="143" name="Freeform: Shape 110">
                <a:extLst>
                  <a:ext uri="{FF2B5EF4-FFF2-40B4-BE49-F238E27FC236}">
                    <a16:creationId xmlns:a16="http://schemas.microsoft.com/office/drawing/2014/main" id="{CDCCD3D8-EFBB-52F0-D002-0E4B1BE824D9}"/>
                  </a:ext>
                </a:extLst>
              </p:cNvPr>
              <p:cNvSpPr/>
              <p:nvPr/>
            </p:nvSpPr>
            <p:spPr>
              <a:xfrm>
                <a:off x="7453826" y="4235509"/>
                <a:ext cx="199845" cy="199844"/>
              </a:xfrm>
              <a:custGeom>
                <a:avLst/>
                <a:gdLst>
                  <a:gd name="connsiteX0" fmla="*/ 539067 w 539067"/>
                  <a:gd name="connsiteY0" fmla="*/ 539067 h 539067"/>
                  <a:gd name="connsiteX1" fmla="*/ 366846 w 539067"/>
                  <a:gd name="connsiteY1" fmla="*/ 539067 h 539067"/>
                  <a:gd name="connsiteX2" fmla="*/ 366846 w 539067"/>
                  <a:gd name="connsiteY2" fmla="*/ 511064 h 539067"/>
                  <a:gd name="connsiteX3" fmla="*/ 511064 w 539067"/>
                  <a:gd name="connsiteY3" fmla="*/ 511064 h 539067"/>
                  <a:gd name="connsiteX4" fmla="*/ 511064 w 539067"/>
                  <a:gd name="connsiteY4" fmla="*/ 28004 h 539067"/>
                  <a:gd name="connsiteX5" fmla="*/ 28004 w 539067"/>
                  <a:gd name="connsiteY5" fmla="*/ 28004 h 539067"/>
                  <a:gd name="connsiteX6" fmla="*/ 28004 w 539067"/>
                  <a:gd name="connsiteY6" fmla="*/ 511064 h 539067"/>
                  <a:gd name="connsiteX7" fmla="*/ 173462 w 539067"/>
                  <a:gd name="connsiteY7" fmla="*/ 511064 h 539067"/>
                  <a:gd name="connsiteX8" fmla="*/ 173462 w 539067"/>
                  <a:gd name="connsiteY8" fmla="*/ 539067 h 539067"/>
                  <a:gd name="connsiteX9" fmla="*/ 0 w 539067"/>
                  <a:gd name="connsiteY9" fmla="*/ 539067 h 539067"/>
                  <a:gd name="connsiteX10" fmla="*/ 0 w 539067"/>
                  <a:gd name="connsiteY10" fmla="*/ 0 h 539067"/>
                  <a:gd name="connsiteX11" fmla="*/ 539067 w 539067"/>
                  <a:gd name="connsiteY11" fmla="*/ 0 h 539067"/>
                  <a:gd name="connsiteX12" fmla="*/ 539067 w 539067"/>
                  <a:gd name="connsiteY12" fmla="*/ 539067 h 53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67" h="539067">
                    <a:moveTo>
                      <a:pt x="539067" y="539067"/>
                    </a:moveTo>
                    <a:lnTo>
                      <a:pt x="366846" y="539067"/>
                    </a:lnTo>
                    <a:lnTo>
                      <a:pt x="366846" y="511064"/>
                    </a:lnTo>
                    <a:lnTo>
                      <a:pt x="511064" y="511064"/>
                    </a:lnTo>
                    <a:lnTo>
                      <a:pt x="511064" y="28004"/>
                    </a:lnTo>
                    <a:lnTo>
                      <a:pt x="28004" y="28004"/>
                    </a:lnTo>
                    <a:lnTo>
                      <a:pt x="28004" y="511064"/>
                    </a:lnTo>
                    <a:lnTo>
                      <a:pt x="173462" y="511064"/>
                    </a:lnTo>
                    <a:lnTo>
                      <a:pt x="173462" y="539067"/>
                    </a:lnTo>
                    <a:lnTo>
                      <a:pt x="0" y="539067"/>
                    </a:lnTo>
                    <a:lnTo>
                      <a:pt x="0" y="0"/>
                    </a:lnTo>
                    <a:lnTo>
                      <a:pt x="539067" y="0"/>
                    </a:lnTo>
                    <a:lnTo>
                      <a:pt x="539067" y="539067"/>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4" name="Freeform: Shape 115">
                <a:extLst>
                  <a:ext uri="{FF2B5EF4-FFF2-40B4-BE49-F238E27FC236}">
                    <a16:creationId xmlns:a16="http://schemas.microsoft.com/office/drawing/2014/main" id="{5175E21E-2EC4-12D1-9CE4-4E09D0D10535}"/>
                  </a:ext>
                </a:extLst>
              </p:cNvPr>
              <p:cNvSpPr/>
              <p:nvPr/>
            </p:nvSpPr>
            <p:spPr>
              <a:xfrm>
                <a:off x="7491571" y="4315610"/>
                <a:ext cx="51745" cy="27941"/>
              </a:xfrm>
              <a:custGeom>
                <a:avLst/>
                <a:gdLst>
                  <a:gd name="connsiteX0" fmla="*/ 74289 w 139577"/>
                  <a:gd name="connsiteY0" fmla="*/ 23683 h 75369"/>
                  <a:gd name="connsiteX1" fmla="*/ 0 w 139577"/>
                  <a:gd name="connsiteY1" fmla="*/ 23683 h 75369"/>
                  <a:gd name="connsiteX2" fmla="*/ 0 w 139577"/>
                  <a:gd name="connsiteY2" fmla="*/ 51686 h 75369"/>
                  <a:gd name="connsiteX3" fmla="*/ 74289 w 139577"/>
                  <a:gd name="connsiteY3" fmla="*/ 51686 h 75369"/>
                  <a:gd name="connsiteX4" fmla="*/ 74289 w 139577"/>
                  <a:gd name="connsiteY4" fmla="*/ 75369 h 75369"/>
                  <a:gd name="connsiteX5" fmla="*/ 139577 w 139577"/>
                  <a:gd name="connsiteY5" fmla="*/ 37685 h 75369"/>
                  <a:gd name="connsiteX6" fmla="*/ 74289 w 139577"/>
                  <a:gd name="connsiteY6" fmla="*/ 0 h 75369"/>
                  <a:gd name="connsiteX7" fmla="*/ 74289 w 139577"/>
                  <a:gd name="connsiteY7" fmla="*/ 23683 h 7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369">
                    <a:moveTo>
                      <a:pt x="74289" y="23683"/>
                    </a:moveTo>
                    <a:lnTo>
                      <a:pt x="0" y="23683"/>
                    </a:lnTo>
                    <a:lnTo>
                      <a:pt x="0" y="51686"/>
                    </a:lnTo>
                    <a:lnTo>
                      <a:pt x="74289" y="51686"/>
                    </a:lnTo>
                    <a:lnTo>
                      <a:pt x="74289" y="7536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5" name="Freeform: Shape 116">
                <a:extLst>
                  <a:ext uri="{FF2B5EF4-FFF2-40B4-BE49-F238E27FC236}">
                    <a16:creationId xmlns:a16="http://schemas.microsoft.com/office/drawing/2014/main" id="{35517881-A36B-C7E2-6ED0-048EB5C43EBC}"/>
                  </a:ext>
                </a:extLst>
              </p:cNvPr>
              <p:cNvSpPr/>
              <p:nvPr/>
            </p:nvSpPr>
            <p:spPr>
              <a:xfrm>
                <a:off x="7550583" y="4276590"/>
                <a:ext cx="71247" cy="108695"/>
              </a:xfrm>
              <a:custGeom>
                <a:avLst/>
                <a:gdLst>
                  <a:gd name="connsiteX0" fmla="*/ 192184 w 192184"/>
                  <a:gd name="connsiteY0" fmla="*/ 142938 h 293196"/>
                  <a:gd name="connsiteX1" fmla="*/ 126896 w 192184"/>
                  <a:gd name="connsiteY1" fmla="*/ 105253 h 293196"/>
                  <a:gd name="connsiteX2" fmla="*/ 126896 w 192184"/>
                  <a:gd name="connsiteY2" fmla="*/ 128936 h 293196"/>
                  <a:gd name="connsiteX3" fmla="*/ 104973 w 192184"/>
                  <a:gd name="connsiteY3" fmla="*/ 128936 h 293196"/>
                  <a:gd name="connsiteX4" fmla="*/ 104973 w 192184"/>
                  <a:gd name="connsiteY4" fmla="*/ 0 h 293196"/>
                  <a:gd name="connsiteX5" fmla="*/ 0 w 192184"/>
                  <a:gd name="connsiteY5" fmla="*/ 0 h 293196"/>
                  <a:gd name="connsiteX6" fmla="*/ 0 w 192184"/>
                  <a:gd name="connsiteY6" fmla="*/ 28004 h 293196"/>
                  <a:gd name="connsiteX7" fmla="*/ 76970 w 192184"/>
                  <a:gd name="connsiteY7" fmla="*/ 28004 h 293196"/>
                  <a:gd name="connsiteX8" fmla="*/ 76970 w 192184"/>
                  <a:gd name="connsiteY8" fmla="*/ 128936 h 293196"/>
                  <a:gd name="connsiteX9" fmla="*/ 22123 w 192184"/>
                  <a:gd name="connsiteY9" fmla="*/ 128936 h 293196"/>
                  <a:gd name="connsiteX10" fmla="*/ 22123 w 192184"/>
                  <a:gd name="connsiteY10" fmla="*/ 156940 h 293196"/>
                  <a:gd name="connsiteX11" fmla="*/ 76970 w 192184"/>
                  <a:gd name="connsiteY11" fmla="*/ 156940 h 293196"/>
                  <a:gd name="connsiteX12" fmla="*/ 76970 w 192184"/>
                  <a:gd name="connsiteY12" fmla="*/ 265193 h 293196"/>
                  <a:gd name="connsiteX13" fmla="*/ 0 w 192184"/>
                  <a:gd name="connsiteY13" fmla="*/ 265193 h 293196"/>
                  <a:gd name="connsiteX14" fmla="*/ 0 w 192184"/>
                  <a:gd name="connsiteY14" fmla="*/ 293197 h 293196"/>
                  <a:gd name="connsiteX15" fmla="*/ 104973 w 192184"/>
                  <a:gd name="connsiteY15" fmla="*/ 293197 h 293196"/>
                  <a:gd name="connsiteX16" fmla="*/ 104973 w 192184"/>
                  <a:gd name="connsiteY16" fmla="*/ 156940 h 293196"/>
                  <a:gd name="connsiteX17" fmla="*/ 126896 w 192184"/>
                  <a:gd name="connsiteY17" fmla="*/ 156940 h 293196"/>
                  <a:gd name="connsiteX18" fmla="*/ 126896 w 192184"/>
                  <a:gd name="connsiteY18" fmla="*/ 180623 h 293196"/>
                  <a:gd name="connsiteX19" fmla="*/ 192184 w 192184"/>
                  <a:gd name="connsiteY19" fmla="*/ 142938 h 2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184" h="293196">
                    <a:moveTo>
                      <a:pt x="192184" y="142938"/>
                    </a:moveTo>
                    <a:lnTo>
                      <a:pt x="126896" y="105253"/>
                    </a:lnTo>
                    <a:lnTo>
                      <a:pt x="126896" y="128936"/>
                    </a:lnTo>
                    <a:lnTo>
                      <a:pt x="104973" y="128936"/>
                    </a:lnTo>
                    <a:lnTo>
                      <a:pt x="104973" y="0"/>
                    </a:lnTo>
                    <a:lnTo>
                      <a:pt x="0" y="0"/>
                    </a:lnTo>
                    <a:lnTo>
                      <a:pt x="0" y="28004"/>
                    </a:lnTo>
                    <a:lnTo>
                      <a:pt x="76970" y="28004"/>
                    </a:lnTo>
                    <a:lnTo>
                      <a:pt x="76970" y="128936"/>
                    </a:lnTo>
                    <a:lnTo>
                      <a:pt x="22123" y="128936"/>
                    </a:lnTo>
                    <a:lnTo>
                      <a:pt x="22123" y="156940"/>
                    </a:lnTo>
                    <a:lnTo>
                      <a:pt x="76970" y="156940"/>
                    </a:lnTo>
                    <a:lnTo>
                      <a:pt x="76970" y="265193"/>
                    </a:lnTo>
                    <a:lnTo>
                      <a:pt x="0" y="265193"/>
                    </a:lnTo>
                    <a:lnTo>
                      <a:pt x="0" y="293197"/>
                    </a:lnTo>
                    <a:lnTo>
                      <a:pt x="104973" y="293197"/>
                    </a:lnTo>
                    <a:lnTo>
                      <a:pt x="104973" y="156940"/>
                    </a:lnTo>
                    <a:lnTo>
                      <a:pt x="126896" y="156940"/>
                    </a:lnTo>
                    <a:lnTo>
                      <a:pt x="126896" y="180623"/>
                    </a:lnTo>
                    <a:lnTo>
                      <a:pt x="192184" y="142938"/>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6" name="Freeform: Shape 124">
                <a:extLst>
                  <a:ext uri="{FF2B5EF4-FFF2-40B4-BE49-F238E27FC236}">
                    <a16:creationId xmlns:a16="http://schemas.microsoft.com/office/drawing/2014/main" id="{A8A4724B-7280-BE88-47FA-51A7E556858A}"/>
                  </a:ext>
                </a:extLst>
              </p:cNvPr>
              <p:cNvSpPr/>
              <p:nvPr/>
            </p:nvSpPr>
            <p:spPr>
              <a:xfrm>
                <a:off x="7491571" y="4266446"/>
                <a:ext cx="51745" cy="27956"/>
              </a:xfrm>
              <a:custGeom>
                <a:avLst/>
                <a:gdLst>
                  <a:gd name="connsiteX0" fmla="*/ 74289 w 139577"/>
                  <a:gd name="connsiteY0" fmla="*/ 23723 h 75409"/>
                  <a:gd name="connsiteX1" fmla="*/ 0 w 139577"/>
                  <a:gd name="connsiteY1" fmla="*/ 23723 h 75409"/>
                  <a:gd name="connsiteX2" fmla="*/ 0 w 139577"/>
                  <a:gd name="connsiteY2" fmla="*/ 51726 h 75409"/>
                  <a:gd name="connsiteX3" fmla="*/ 74289 w 139577"/>
                  <a:gd name="connsiteY3" fmla="*/ 51726 h 75409"/>
                  <a:gd name="connsiteX4" fmla="*/ 74289 w 139577"/>
                  <a:gd name="connsiteY4" fmla="*/ 75409 h 75409"/>
                  <a:gd name="connsiteX5" fmla="*/ 139577 w 139577"/>
                  <a:gd name="connsiteY5" fmla="*/ 37725 h 75409"/>
                  <a:gd name="connsiteX6" fmla="*/ 74289 w 139577"/>
                  <a:gd name="connsiteY6" fmla="*/ 0 h 75409"/>
                  <a:gd name="connsiteX7" fmla="*/ 74289 w 139577"/>
                  <a:gd name="connsiteY7" fmla="*/ 2372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723"/>
                    </a:moveTo>
                    <a:lnTo>
                      <a:pt x="0" y="23723"/>
                    </a:lnTo>
                    <a:lnTo>
                      <a:pt x="0" y="51726"/>
                    </a:lnTo>
                    <a:lnTo>
                      <a:pt x="74289" y="51726"/>
                    </a:lnTo>
                    <a:lnTo>
                      <a:pt x="74289" y="75409"/>
                    </a:lnTo>
                    <a:lnTo>
                      <a:pt x="139577" y="37725"/>
                    </a:lnTo>
                    <a:lnTo>
                      <a:pt x="74289" y="0"/>
                    </a:lnTo>
                    <a:lnTo>
                      <a:pt x="74289" y="2372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7" name="Freeform: Shape 170">
                <a:extLst>
                  <a:ext uri="{FF2B5EF4-FFF2-40B4-BE49-F238E27FC236}">
                    <a16:creationId xmlns:a16="http://schemas.microsoft.com/office/drawing/2014/main" id="{A42E1D60-2B6A-50B8-488E-308104FC4725}"/>
                  </a:ext>
                </a:extLst>
              </p:cNvPr>
              <p:cNvSpPr/>
              <p:nvPr/>
            </p:nvSpPr>
            <p:spPr>
              <a:xfrm>
                <a:off x="7491571" y="4364759"/>
                <a:ext cx="51745" cy="27956"/>
              </a:xfrm>
              <a:custGeom>
                <a:avLst/>
                <a:gdLst>
                  <a:gd name="connsiteX0" fmla="*/ 74289 w 139577"/>
                  <a:gd name="connsiteY0" fmla="*/ 23683 h 75409"/>
                  <a:gd name="connsiteX1" fmla="*/ 0 w 139577"/>
                  <a:gd name="connsiteY1" fmla="*/ 23683 h 75409"/>
                  <a:gd name="connsiteX2" fmla="*/ 0 w 139577"/>
                  <a:gd name="connsiteY2" fmla="*/ 51686 h 75409"/>
                  <a:gd name="connsiteX3" fmla="*/ 74289 w 139577"/>
                  <a:gd name="connsiteY3" fmla="*/ 51686 h 75409"/>
                  <a:gd name="connsiteX4" fmla="*/ 74289 w 139577"/>
                  <a:gd name="connsiteY4" fmla="*/ 75409 h 75409"/>
                  <a:gd name="connsiteX5" fmla="*/ 139577 w 139577"/>
                  <a:gd name="connsiteY5" fmla="*/ 37685 h 75409"/>
                  <a:gd name="connsiteX6" fmla="*/ 74289 w 139577"/>
                  <a:gd name="connsiteY6" fmla="*/ 0 h 75409"/>
                  <a:gd name="connsiteX7" fmla="*/ 74289 w 139577"/>
                  <a:gd name="connsiteY7" fmla="*/ 2368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683"/>
                    </a:moveTo>
                    <a:lnTo>
                      <a:pt x="0" y="23683"/>
                    </a:lnTo>
                    <a:lnTo>
                      <a:pt x="0" y="51686"/>
                    </a:lnTo>
                    <a:lnTo>
                      <a:pt x="74289" y="51686"/>
                    </a:lnTo>
                    <a:lnTo>
                      <a:pt x="74289" y="7540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234" name="Group 233">
            <a:extLst>
              <a:ext uri="{FF2B5EF4-FFF2-40B4-BE49-F238E27FC236}">
                <a16:creationId xmlns:a16="http://schemas.microsoft.com/office/drawing/2014/main" id="{3430A49A-DA47-3B54-5677-1594AAB69A27}"/>
              </a:ext>
            </a:extLst>
          </p:cNvPr>
          <p:cNvGrpSpPr>
            <a:grpSpLocks noChangeAspect="1"/>
          </p:cNvGrpSpPr>
          <p:nvPr/>
        </p:nvGrpSpPr>
        <p:grpSpPr>
          <a:xfrm>
            <a:off x="1269213" y="1950788"/>
            <a:ext cx="457200" cy="457200"/>
            <a:chOff x="7756637" y="2484407"/>
            <a:chExt cx="902850" cy="902850"/>
          </a:xfrm>
        </p:grpSpPr>
        <p:sp>
          <p:nvSpPr>
            <p:cNvPr id="235" name="Oval 26">
              <a:extLst>
                <a:ext uri="{FF2B5EF4-FFF2-40B4-BE49-F238E27FC236}">
                  <a16:creationId xmlns:a16="http://schemas.microsoft.com/office/drawing/2014/main" id="{0FB795E9-2EA4-25EC-244B-70C099420D49}"/>
                </a:ext>
              </a:extLst>
            </p:cNvPr>
            <p:cNvSpPr>
              <a:spLocks noChangeAspect="1"/>
            </p:cNvSpPr>
            <p:nvPr/>
          </p:nvSpPr>
          <p:spPr bwMode="gray">
            <a:xfrm>
              <a:off x="7756637" y="2484407"/>
              <a:ext cx="902850" cy="902850"/>
            </a:xfrm>
            <a:prstGeom prst="ellipse">
              <a:avLst/>
            </a:prstGeom>
            <a:solidFill>
              <a:srgbClr val="E68C28"/>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36" name="Group 235">
              <a:extLst>
                <a:ext uri="{FF2B5EF4-FFF2-40B4-BE49-F238E27FC236}">
                  <a16:creationId xmlns:a16="http://schemas.microsoft.com/office/drawing/2014/main" id="{6CF5B35B-E3B4-D960-A22C-23CFFF7EA1EF}"/>
                </a:ext>
              </a:extLst>
            </p:cNvPr>
            <p:cNvGrpSpPr/>
            <p:nvPr/>
          </p:nvGrpSpPr>
          <p:grpSpPr>
            <a:xfrm>
              <a:off x="7930273" y="2670781"/>
              <a:ext cx="558302" cy="538093"/>
              <a:chOff x="7930273" y="2670781"/>
              <a:chExt cx="558302" cy="538093"/>
            </a:xfrm>
          </p:grpSpPr>
          <p:sp>
            <p:nvSpPr>
              <p:cNvPr id="237" name="Freeform: Shape 201">
                <a:extLst>
                  <a:ext uri="{FF2B5EF4-FFF2-40B4-BE49-F238E27FC236}">
                    <a16:creationId xmlns:a16="http://schemas.microsoft.com/office/drawing/2014/main" id="{DD665B55-2A9E-CB22-D2F5-2DAA76DD36BE}"/>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38" name="Graphic 41">
                <a:extLst>
                  <a:ext uri="{FF2B5EF4-FFF2-40B4-BE49-F238E27FC236}">
                    <a16:creationId xmlns:a16="http://schemas.microsoft.com/office/drawing/2014/main" id="{57E212EE-90AE-6166-B73F-A334404404F9}"/>
                  </a:ext>
                </a:extLst>
              </p:cNvPr>
              <p:cNvGrpSpPr/>
              <p:nvPr/>
            </p:nvGrpSpPr>
            <p:grpSpPr>
              <a:xfrm>
                <a:off x="8250435" y="3017491"/>
                <a:ext cx="238140" cy="191383"/>
                <a:chOff x="8250435" y="3017491"/>
                <a:chExt cx="238140" cy="191383"/>
              </a:xfrm>
              <a:solidFill>
                <a:schemeClr val="bg1"/>
              </a:solidFill>
            </p:grpSpPr>
            <p:sp>
              <p:nvSpPr>
                <p:cNvPr id="239" name="Freeform: Shape 203">
                  <a:extLst>
                    <a:ext uri="{FF2B5EF4-FFF2-40B4-BE49-F238E27FC236}">
                      <a16:creationId xmlns:a16="http://schemas.microsoft.com/office/drawing/2014/main" id="{AC56DA57-1AB1-0238-6C23-E6331051040C}"/>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40" name="Freeform: Shape 204">
                  <a:extLst>
                    <a:ext uri="{FF2B5EF4-FFF2-40B4-BE49-F238E27FC236}">
                      <a16:creationId xmlns:a16="http://schemas.microsoft.com/office/drawing/2014/main" id="{F5628B27-83A0-007E-7D2F-7879666CAAA6}"/>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nvGrpSpPr>
          <p:cNvPr id="126" name="Group 125">
            <a:extLst>
              <a:ext uri="{FF2B5EF4-FFF2-40B4-BE49-F238E27FC236}">
                <a16:creationId xmlns:a16="http://schemas.microsoft.com/office/drawing/2014/main" id="{B4DE6C7E-6EFD-32AC-345D-9CAA66EBE348}"/>
              </a:ext>
            </a:extLst>
          </p:cNvPr>
          <p:cNvGrpSpPr>
            <a:grpSpLocks noChangeAspect="1"/>
          </p:cNvGrpSpPr>
          <p:nvPr/>
        </p:nvGrpSpPr>
        <p:grpSpPr>
          <a:xfrm>
            <a:off x="2879661" y="1950788"/>
            <a:ext cx="457202" cy="457200"/>
            <a:chOff x="7498117" y="3244694"/>
            <a:chExt cx="615026" cy="615024"/>
          </a:xfrm>
        </p:grpSpPr>
        <p:sp>
          <p:nvSpPr>
            <p:cNvPr id="127" name="Oval 126">
              <a:extLst>
                <a:ext uri="{FF2B5EF4-FFF2-40B4-BE49-F238E27FC236}">
                  <a16:creationId xmlns:a16="http://schemas.microsoft.com/office/drawing/2014/main" id="{BEB10F7D-9BC2-2CB3-C712-989D29FFDF60}"/>
                </a:ext>
              </a:extLst>
            </p:cNvPr>
            <p:cNvSpPr>
              <a:spLocks noChangeAspect="1"/>
            </p:cNvSpPr>
            <p:nvPr/>
          </p:nvSpPr>
          <p:spPr>
            <a:xfrm>
              <a:off x="7498117" y="3244694"/>
              <a:ext cx="615026" cy="615024"/>
            </a:xfrm>
            <a:prstGeom prst="ellipse">
              <a:avLst/>
            </a:prstGeom>
            <a:solidFill>
              <a:schemeClr val="accent5"/>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28" name="Graphic 62">
              <a:extLst>
                <a:ext uri="{FF2B5EF4-FFF2-40B4-BE49-F238E27FC236}">
                  <a16:creationId xmlns:a16="http://schemas.microsoft.com/office/drawing/2014/main" id="{54C8AB5E-C018-7D72-0718-B09190CFE9A7}"/>
                </a:ext>
              </a:extLst>
            </p:cNvPr>
            <p:cNvSpPr/>
            <p:nvPr/>
          </p:nvSpPr>
          <p:spPr>
            <a:xfrm>
              <a:off x="7601547" y="3369194"/>
              <a:ext cx="366027" cy="366026"/>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59" name="g5">
            <a:extLst>
              <a:ext uri="{FF2B5EF4-FFF2-40B4-BE49-F238E27FC236}">
                <a16:creationId xmlns:a16="http://schemas.microsoft.com/office/drawing/2014/main" id="{C1B57F5F-BBC5-63F8-D141-BF862309A855}"/>
              </a:ext>
            </a:extLst>
          </p:cNvPr>
          <p:cNvGrpSpPr/>
          <p:nvPr/>
        </p:nvGrpSpPr>
        <p:grpSpPr>
          <a:xfrm>
            <a:off x="6801707" y="4843603"/>
            <a:ext cx="3030663" cy="457200"/>
            <a:chOff x="6801707" y="2190938"/>
            <a:chExt cx="3030663" cy="457200"/>
          </a:xfrm>
        </p:grpSpPr>
        <p:sp>
          <p:nvSpPr>
            <p:cNvPr id="260" name="Freeform: Shape 24">
              <a:extLst>
                <a:ext uri="{FF2B5EF4-FFF2-40B4-BE49-F238E27FC236}">
                  <a16:creationId xmlns:a16="http://schemas.microsoft.com/office/drawing/2014/main" id="{CBA04376-6715-FC28-DD2A-E18DDF15A802}"/>
                </a:ext>
              </a:extLst>
            </p:cNvPr>
            <p:cNvSpPr/>
            <p:nvPr/>
          </p:nvSpPr>
          <p:spPr>
            <a:xfrm flipH="1">
              <a:off x="6801707" y="2190938"/>
              <a:ext cx="3030663" cy="457200"/>
            </a:xfrm>
            <a:custGeom>
              <a:avLst/>
              <a:gdLst>
                <a:gd name="connsiteX0" fmla="*/ 0 w 3030663"/>
                <a:gd name="connsiteY0" fmla="*/ 0 h 457200"/>
                <a:gd name="connsiteX1" fmla="*/ 2520956 w 3030663"/>
                <a:gd name="connsiteY1" fmla="*/ 0 h 457200"/>
                <a:gd name="connsiteX2" fmla="*/ 2539224 w 3030663"/>
                <a:gd name="connsiteY2" fmla="*/ 0 h 457200"/>
                <a:gd name="connsiteX3" fmla="*/ 2856223 w 3030663"/>
                <a:gd name="connsiteY3" fmla="*/ 0 h 457200"/>
                <a:gd name="connsiteX4" fmla="*/ 2886476 w 3030663"/>
                <a:gd name="connsiteY4" fmla="*/ 15527 h 457200"/>
                <a:gd name="connsiteX5" fmla="*/ 3023732 w 3030663"/>
                <a:gd name="connsiteY5" fmla="*/ 207028 h 457200"/>
                <a:gd name="connsiteX6" fmla="*/ 3023732 w 3030663"/>
                <a:gd name="connsiteY6" fmla="*/ 250171 h 457200"/>
                <a:gd name="connsiteX7" fmla="*/ 2886476 w 3030663"/>
                <a:gd name="connsiteY7" fmla="*/ 441673 h 457200"/>
                <a:gd name="connsiteX8" fmla="*/ 2856223 w 3030663"/>
                <a:gd name="connsiteY8" fmla="*/ 457200 h 457200"/>
                <a:gd name="connsiteX9" fmla="*/ 2539224 w 3030663"/>
                <a:gd name="connsiteY9" fmla="*/ 457200 h 457200"/>
                <a:gd name="connsiteX10" fmla="*/ 2520956 w 3030663"/>
                <a:gd name="connsiteY10" fmla="*/ 457200 h 457200"/>
                <a:gd name="connsiteX11" fmla="*/ 0 w 3030663"/>
                <a:gd name="connsiteY11"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0663" h="457200">
                  <a:moveTo>
                    <a:pt x="0" y="0"/>
                  </a:moveTo>
                  <a:lnTo>
                    <a:pt x="2520956" y="0"/>
                  </a:lnTo>
                  <a:lnTo>
                    <a:pt x="2539224" y="0"/>
                  </a:lnTo>
                  <a:lnTo>
                    <a:pt x="2856223" y="0"/>
                  </a:lnTo>
                  <a:cubicBezTo>
                    <a:pt x="2868239" y="0"/>
                    <a:pt x="2879509" y="5778"/>
                    <a:pt x="2886476" y="15527"/>
                  </a:cubicBezTo>
                  <a:lnTo>
                    <a:pt x="3023732" y="207028"/>
                  </a:lnTo>
                  <a:cubicBezTo>
                    <a:pt x="3032974" y="219932"/>
                    <a:pt x="3032974" y="237268"/>
                    <a:pt x="3023732" y="250171"/>
                  </a:cubicBezTo>
                  <a:lnTo>
                    <a:pt x="2886476" y="441673"/>
                  </a:lnTo>
                  <a:cubicBezTo>
                    <a:pt x="2879509" y="451421"/>
                    <a:pt x="2868204" y="457200"/>
                    <a:pt x="2856223" y="457200"/>
                  </a:cubicBezTo>
                  <a:lnTo>
                    <a:pt x="2539224" y="457200"/>
                  </a:lnTo>
                  <a:lnTo>
                    <a:pt x="2520956" y="457200"/>
                  </a:lnTo>
                  <a:lnTo>
                    <a:pt x="0" y="457200"/>
                  </a:lnTo>
                  <a:close/>
                </a:path>
              </a:pathLst>
            </a:custGeom>
            <a:gradFill>
              <a:gsLst>
                <a:gs pos="0">
                  <a:schemeClr val="bg2">
                    <a:lumMod val="90000"/>
                  </a:schemeClr>
                </a:gs>
                <a:gs pos="100000">
                  <a:schemeClr val="bg2">
                    <a:lumMod val="90000"/>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1" name="Striped Right Arrow 225">
              <a:extLst>
                <a:ext uri="{FF2B5EF4-FFF2-40B4-BE49-F238E27FC236}">
                  <a16:creationId xmlns:a16="http://schemas.microsoft.com/office/drawing/2014/main" id="{07482B37-97AA-6DA0-641D-DCD4D3D3ED1B}"/>
                </a:ext>
              </a:extLst>
            </p:cNvPr>
            <p:cNvSpPr/>
            <p:nvPr/>
          </p:nvSpPr>
          <p:spPr>
            <a:xfrm flipH="1">
              <a:off x="7209211" y="2233918"/>
              <a:ext cx="2368967" cy="36917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rPr>
                <a:t>Vendor #5 configuration/API</a:t>
              </a:r>
            </a:p>
          </p:txBody>
        </p:sp>
        <p:sp>
          <p:nvSpPr>
            <p:cNvPr id="262" name="Graphic 6096">
              <a:extLst>
                <a:ext uri="{FF2B5EF4-FFF2-40B4-BE49-F238E27FC236}">
                  <a16:creationId xmlns:a16="http://schemas.microsoft.com/office/drawing/2014/main" id="{045246E6-0A64-0B31-F721-72CFDE41C3DB}"/>
                </a:ext>
              </a:extLst>
            </p:cNvPr>
            <p:cNvSpPr/>
            <p:nvPr/>
          </p:nvSpPr>
          <p:spPr>
            <a:xfrm flipH="1">
              <a:off x="6816283" y="2234303"/>
              <a:ext cx="258311" cy="370470"/>
            </a:xfrm>
            <a:custGeom>
              <a:avLst/>
              <a:gdLst>
                <a:gd name="connsiteX0" fmla="*/ 0 w 469820"/>
                <a:gd name="connsiteY0" fmla="*/ 675704 h 675703"/>
                <a:gd name="connsiteX1" fmla="*/ 210503 w 469820"/>
                <a:gd name="connsiteY1" fmla="*/ 675704 h 675703"/>
                <a:gd name="connsiteX2" fmla="*/ 258699 w 469820"/>
                <a:gd name="connsiteY2" fmla="*/ 650843 h 675703"/>
                <a:gd name="connsiteX3" fmla="*/ 459962 w 469820"/>
                <a:gd name="connsiteY3" fmla="*/ 368713 h 675703"/>
                <a:gd name="connsiteX4" fmla="*/ 459962 w 469820"/>
                <a:gd name="connsiteY4" fmla="*/ 306896 h 675703"/>
                <a:gd name="connsiteX5" fmla="*/ 260033 w 469820"/>
                <a:gd name="connsiteY5" fmla="*/ 26670 h 675703"/>
                <a:gd name="connsiteX6" fmla="*/ 208217 w 469820"/>
                <a:gd name="connsiteY6" fmla="*/ 0 h 675703"/>
                <a:gd name="connsiteX7" fmla="*/ 0 w 469820"/>
                <a:gd name="connsiteY7" fmla="*/ 0 h 675703"/>
                <a:gd name="connsiteX8" fmla="*/ 223266 w 469820"/>
                <a:gd name="connsiteY8" fmla="*/ 312992 h 675703"/>
                <a:gd name="connsiteX9" fmla="*/ 223266 w 469820"/>
                <a:gd name="connsiteY9" fmla="*/ 362712 h 675703"/>
                <a:gd name="connsiteX10" fmla="*/ 0 w 469820"/>
                <a:gd name="connsiteY10" fmla="*/ 675704 h 675703"/>
                <a:gd name="connsiteX11" fmla="*/ 0 w 469820"/>
                <a:gd name="connsiteY11" fmla="*/ 675704 h 6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20" h="675703">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rgbClr val="E68C28"/>
            </a:solidFill>
            <a:ln>
              <a:noFill/>
            </a:ln>
          </p:spPr>
          <p:txBody>
            <a:bodyPr spcFirstLastPara="1" wrap="square" lIns="91401" tIns="45688" rIns="91401"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Tx/>
                <a:buNone/>
                <a:tabLst/>
                <a:defRPr/>
              </a:pPr>
              <a:endParaRPr kumimoji="0" lang="en-US" sz="1200" b="0" i="0" u="none" strike="noStrike" kern="1200" cap="none" spc="0" normalizeH="0" baseline="0" noProof="0">
                <a:ln>
                  <a:noFill/>
                </a:ln>
                <a:solidFill>
                  <a:srgbClr val="3C3C3C"/>
                </a:solidFill>
                <a:effectLst/>
                <a:uLnTx/>
                <a:uFillTx/>
                <a:latin typeface="Arial" panose="020B0604020202020204"/>
                <a:ea typeface="+mn-ea"/>
                <a:cs typeface="Arial"/>
              </a:endParaRPr>
            </a:p>
          </p:txBody>
        </p:sp>
      </p:grpSp>
      <p:grpSp>
        <p:nvGrpSpPr>
          <p:cNvPr id="263" name="Group 262">
            <a:extLst>
              <a:ext uri="{FF2B5EF4-FFF2-40B4-BE49-F238E27FC236}">
                <a16:creationId xmlns:a16="http://schemas.microsoft.com/office/drawing/2014/main" id="{EE6A7040-A951-33DB-D27B-9DF8C5435170}"/>
              </a:ext>
            </a:extLst>
          </p:cNvPr>
          <p:cNvGrpSpPr/>
          <p:nvPr/>
        </p:nvGrpSpPr>
        <p:grpSpPr>
          <a:xfrm>
            <a:off x="9294813" y="4784231"/>
            <a:ext cx="2324692" cy="575945"/>
            <a:chOff x="9294813" y="2043075"/>
            <a:chExt cx="2324692" cy="575945"/>
          </a:xfrm>
        </p:grpSpPr>
        <p:sp>
          <p:nvSpPr>
            <p:cNvPr id="264" name="Rectangle: Rounded Corners 557">
              <a:extLst>
                <a:ext uri="{FF2B5EF4-FFF2-40B4-BE49-F238E27FC236}">
                  <a16:creationId xmlns:a16="http://schemas.microsoft.com/office/drawing/2014/main" id="{17E43D22-39C6-2DC2-EFC9-A531044A6CF3}"/>
                </a:ext>
              </a:extLst>
            </p:cNvPr>
            <p:cNvSpPr/>
            <p:nvPr/>
          </p:nvSpPr>
          <p:spPr>
            <a:xfrm>
              <a:off x="9294813" y="2043075"/>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5" name="Content Placeholder 9">
              <a:extLst>
                <a:ext uri="{FF2B5EF4-FFF2-40B4-BE49-F238E27FC236}">
                  <a16:creationId xmlns:a16="http://schemas.microsoft.com/office/drawing/2014/main" id="{91D2BECB-7C87-1B0A-CA27-A86564F0EF71}"/>
                </a:ext>
              </a:extLst>
            </p:cNvPr>
            <p:cNvSpPr txBox="1">
              <a:spLocks/>
            </p:cNvSpPr>
            <p:nvPr/>
          </p:nvSpPr>
          <p:spPr>
            <a:xfrm>
              <a:off x="9855505" y="2229926"/>
              <a:ext cx="1764000"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Monitoring and Analytics</a:t>
              </a:r>
            </a:p>
          </p:txBody>
        </p:sp>
        <p:grpSp>
          <p:nvGrpSpPr>
            <p:cNvPr id="266" name="Group 265">
              <a:extLst>
                <a:ext uri="{FF2B5EF4-FFF2-40B4-BE49-F238E27FC236}">
                  <a16:creationId xmlns:a16="http://schemas.microsoft.com/office/drawing/2014/main" id="{6ABD47D3-5FCF-59E2-AD1A-81A393B3B15A}"/>
                </a:ext>
              </a:extLst>
            </p:cNvPr>
            <p:cNvGrpSpPr>
              <a:grpSpLocks noChangeAspect="1"/>
            </p:cNvGrpSpPr>
            <p:nvPr/>
          </p:nvGrpSpPr>
          <p:grpSpPr>
            <a:xfrm>
              <a:off x="9344980" y="2102447"/>
              <a:ext cx="457200" cy="457200"/>
              <a:chOff x="7756637" y="2484407"/>
              <a:chExt cx="902850" cy="902850"/>
            </a:xfrm>
          </p:grpSpPr>
          <p:sp>
            <p:nvSpPr>
              <p:cNvPr id="267" name="Oval 26">
                <a:extLst>
                  <a:ext uri="{FF2B5EF4-FFF2-40B4-BE49-F238E27FC236}">
                    <a16:creationId xmlns:a16="http://schemas.microsoft.com/office/drawing/2014/main" id="{12ABE2BA-2CDD-6B22-B9FE-318111682458}"/>
                  </a:ext>
                </a:extLst>
              </p:cNvPr>
              <p:cNvSpPr>
                <a:spLocks noChangeAspect="1"/>
              </p:cNvSpPr>
              <p:nvPr/>
            </p:nvSpPr>
            <p:spPr bwMode="gray">
              <a:xfrm>
                <a:off x="7756637" y="2484407"/>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68" name="Group 267">
                <a:extLst>
                  <a:ext uri="{FF2B5EF4-FFF2-40B4-BE49-F238E27FC236}">
                    <a16:creationId xmlns:a16="http://schemas.microsoft.com/office/drawing/2014/main" id="{2599C7CD-403C-EAD8-7E98-F9E25A0CF903}"/>
                  </a:ext>
                </a:extLst>
              </p:cNvPr>
              <p:cNvGrpSpPr/>
              <p:nvPr/>
            </p:nvGrpSpPr>
            <p:grpSpPr>
              <a:xfrm>
                <a:off x="7930273" y="2670781"/>
                <a:ext cx="558302" cy="538093"/>
                <a:chOff x="7930273" y="2670781"/>
                <a:chExt cx="558302" cy="538093"/>
              </a:xfrm>
            </p:grpSpPr>
            <p:sp>
              <p:nvSpPr>
                <p:cNvPr id="269" name="Freeform: Shape 201">
                  <a:extLst>
                    <a:ext uri="{FF2B5EF4-FFF2-40B4-BE49-F238E27FC236}">
                      <a16:creationId xmlns:a16="http://schemas.microsoft.com/office/drawing/2014/main" id="{2B00B8A5-9535-0083-1C5D-C841897EF2FF}"/>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70" name="Graphic 41">
                  <a:extLst>
                    <a:ext uri="{FF2B5EF4-FFF2-40B4-BE49-F238E27FC236}">
                      <a16:creationId xmlns:a16="http://schemas.microsoft.com/office/drawing/2014/main" id="{F0FA68E5-7E0D-6FBA-E2AC-F177E8728DE9}"/>
                    </a:ext>
                  </a:extLst>
                </p:cNvPr>
                <p:cNvGrpSpPr/>
                <p:nvPr/>
              </p:nvGrpSpPr>
              <p:grpSpPr>
                <a:xfrm>
                  <a:off x="8250435" y="3017491"/>
                  <a:ext cx="238140" cy="191383"/>
                  <a:chOff x="8250435" y="3017491"/>
                  <a:chExt cx="238140" cy="191383"/>
                </a:xfrm>
                <a:solidFill>
                  <a:schemeClr val="bg1"/>
                </a:solidFill>
              </p:grpSpPr>
              <p:sp>
                <p:nvSpPr>
                  <p:cNvPr id="271" name="Freeform: Shape 203">
                    <a:extLst>
                      <a:ext uri="{FF2B5EF4-FFF2-40B4-BE49-F238E27FC236}">
                        <a16:creationId xmlns:a16="http://schemas.microsoft.com/office/drawing/2014/main" id="{AA88B343-65FC-92B9-D1F2-A3202188B5FC}"/>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2" name="Freeform: Shape 204">
                    <a:extLst>
                      <a:ext uri="{FF2B5EF4-FFF2-40B4-BE49-F238E27FC236}">
                        <a16:creationId xmlns:a16="http://schemas.microsoft.com/office/drawing/2014/main" id="{01EC811A-B1BE-38B6-C59D-D053067AEB74}"/>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spTree>
    <p:extLst>
      <p:ext uri="{BB962C8B-B14F-4D97-AF65-F5344CB8AC3E}">
        <p14:creationId xmlns:p14="http://schemas.microsoft.com/office/powerpoint/2010/main" val="3370558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wipe(right)">
                                      <p:cBhvr>
                                        <p:cTn id="7" dur="500"/>
                                        <p:tgtEl>
                                          <p:spTgt spid="102"/>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212"/>
                                        </p:tgtEl>
                                        <p:attrNameLst>
                                          <p:attrName>style.visibility</p:attrName>
                                        </p:attrNameLst>
                                      </p:cBhvr>
                                      <p:to>
                                        <p:strVal val="visible"/>
                                      </p:to>
                                    </p:set>
                                  </p:childTnLst>
                                </p:cTn>
                              </p:par>
                            </p:childTnLst>
                          </p:cTn>
                        </p:par>
                        <p:par>
                          <p:cTn id="11" fill="hold">
                            <p:stCondLst>
                              <p:cond delay="500"/>
                            </p:stCondLst>
                            <p:childTnLst>
                              <p:par>
                                <p:cTn id="12" presetID="26" presetClass="emph" presetSubtype="0" fill="hold" nodeType="afterEffect">
                                  <p:stCondLst>
                                    <p:cond delay="0"/>
                                  </p:stCondLst>
                                  <p:childTnLst>
                                    <p:animEffect transition="out" filter="fade">
                                      <p:cBhvr>
                                        <p:cTn id="13" dur="200" tmFilter="0, 0; .2, .5; .8, .5; 1, 0"/>
                                        <p:tgtEl>
                                          <p:spTgt spid="212"/>
                                        </p:tgtEl>
                                      </p:cBhvr>
                                    </p:animEffect>
                                    <p:animScale>
                                      <p:cBhvr>
                                        <p:cTn id="14" dur="100" autoRev="1" fill="hold"/>
                                        <p:tgtEl>
                                          <p:spTgt spid="212"/>
                                        </p:tgtEl>
                                      </p:cBhvr>
                                      <p:by x="105000" y="105000"/>
                                    </p:animScale>
                                  </p:childTnLst>
                                </p:cTn>
                              </p:par>
                              <p:par>
                                <p:cTn id="15" presetID="1" presetClass="exit" presetSubtype="0" fill="hold" nodeType="withEffect">
                                  <p:stCondLst>
                                    <p:cond delay="0"/>
                                  </p:stCondLst>
                                  <p:childTnLst>
                                    <p:set>
                                      <p:cBhvr>
                                        <p:cTn id="16" dur="1" fill="hold">
                                          <p:stCondLst>
                                            <p:cond delay="0"/>
                                          </p:stCondLst>
                                        </p:cTn>
                                        <p:tgtEl>
                                          <p:spTgt spid="106"/>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107"/>
                                        </p:tgtEl>
                                        <p:attrNameLst>
                                          <p:attrName>style.visibility</p:attrName>
                                        </p:attrNameLst>
                                      </p:cBhvr>
                                      <p:to>
                                        <p:strVal val="visible"/>
                                      </p:to>
                                    </p:set>
                                    <p:animEffect transition="in" filter="wipe(right)">
                                      <p:cBhvr>
                                        <p:cTn id="21" dur="500"/>
                                        <p:tgtEl>
                                          <p:spTgt spid="107"/>
                                        </p:tgtEl>
                                      </p:cBhvr>
                                    </p:animEffec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134"/>
                                        </p:tgtEl>
                                        <p:attrNameLst>
                                          <p:attrName>style.visibility</p:attrName>
                                        </p:attrNameLst>
                                      </p:cBhvr>
                                      <p:to>
                                        <p:strVal val="visible"/>
                                      </p:to>
                                    </p:set>
                                  </p:childTnLst>
                                </p:cTn>
                              </p:par>
                              <p:par>
                                <p:cTn id="25" presetID="26" presetClass="emph" presetSubtype="0" fill="hold" nodeType="withEffect">
                                  <p:stCondLst>
                                    <p:cond delay="0"/>
                                  </p:stCondLst>
                                  <p:childTnLst>
                                    <p:animEffect transition="out" filter="fade">
                                      <p:cBhvr>
                                        <p:cTn id="26" dur="500" tmFilter="0, 0; .2, .5; .8, .5; 1, 0"/>
                                        <p:tgtEl>
                                          <p:spTgt spid="134"/>
                                        </p:tgtEl>
                                      </p:cBhvr>
                                    </p:animEffect>
                                    <p:animScale>
                                      <p:cBhvr>
                                        <p:cTn id="27" dur="250" autoRev="1" fill="hold"/>
                                        <p:tgtEl>
                                          <p:spTgt spid="134"/>
                                        </p:tgtEl>
                                      </p:cBhvr>
                                      <p:by x="105000" y="105000"/>
                                    </p:animScale>
                                  </p:childTnLst>
                                </p:cTn>
                              </p:par>
                            </p:childTnLst>
                          </p:cTn>
                        </p:par>
                        <p:par>
                          <p:cTn id="28" fill="hold">
                            <p:stCondLst>
                              <p:cond delay="1000"/>
                            </p:stCondLst>
                            <p:childTnLst>
                              <p:par>
                                <p:cTn id="29" presetID="1" presetClass="entr" presetSubtype="0" fill="hold" nodeType="afterEffect">
                                  <p:stCondLst>
                                    <p:cond delay="0"/>
                                  </p:stCondLst>
                                  <p:childTnLst>
                                    <p:set>
                                      <p:cBhvr>
                                        <p:cTn id="30" dur="1" fill="hold">
                                          <p:stCondLst>
                                            <p:cond delay="0"/>
                                          </p:stCondLst>
                                        </p:cTn>
                                        <p:tgtEl>
                                          <p:spTgt spid="140"/>
                                        </p:tgtEl>
                                        <p:attrNameLst>
                                          <p:attrName>style.visibility</p:attrName>
                                        </p:attrNameLst>
                                      </p:cBhvr>
                                      <p:to>
                                        <p:strVal val="visible"/>
                                      </p:to>
                                    </p:set>
                                  </p:childTnLst>
                                </p:cTn>
                              </p:par>
                              <p:par>
                                <p:cTn id="31" presetID="26" presetClass="emph" presetSubtype="0" fill="hold" nodeType="withEffect">
                                  <p:stCondLst>
                                    <p:cond delay="0"/>
                                  </p:stCondLst>
                                  <p:childTnLst>
                                    <p:animEffect transition="out" filter="fade">
                                      <p:cBhvr>
                                        <p:cTn id="32" dur="500" tmFilter="0, 0; .2, .5; .8, .5; 1, 0"/>
                                        <p:tgtEl>
                                          <p:spTgt spid="134"/>
                                        </p:tgtEl>
                                      </p:cBhvr>
                                    </p:animEffect>
                                    <p:animScale>
                                      <p:cBhvr>
                                        <p:cTn id="33" dur="250" autoRev="1" fill="hold"/>
                                        <p:tgtEl>
                                          <p:spTgt spid="134"/>
                                        </p:tgtEl>
                                      </p:cBhvr>
                                      <p:by x="105000" y="105000"/>
                                    </p:animScale>
                                  </p:childTnLst>
                                </p:cTn>
                              </p:par>
                              <p:par>
                                <p:cTn id="34" presetID="26" presetClass="emph" presetSubtype="0" fill="hold" nodeType="withEffect">
                                  <p:stCondLst>
                                    <p:cond delay="0"/>
                                  </p:stCondLst>
                                  <p:childTnLst>
                                    <p:animEffect transition="out" filter="fade">
                                      <p:cBhvr>
                                        <p:cTn id="35" dur="500" tmFilter="0, 0; .2, .5; .8, .5; 1, 0"/>
                                        <p:tgtEl>
                                          <p:spTgt spid="140"/>
                                        </p:tgtEl>
                                      </p:cBhvr>
                                    </p:animEffect>
                                    <p:animScale>
                                      <p:cBhvr>
                                        <p:cTn id="36" dur="250" autoRev="1" fill="hold"/>
                                        <p:tgtEl>
                                          <p:spTgt spid="140"/>
                                        </p:tgtEl>
                                      </p:cBhvr>
                                      <p:by x="105000" y="105000"/>
                                    </p:animScale>
                                  </p:childTnLst>
                                </p:cTn>
                              </p:par>
                              <p:par>
                                <p:cTn id="37" presetID="1" presetClass="exit" presetSubtype="0" fill="hold" nodeType="withEffect">
                                  <p:stCondLst>
                                    <p:cond delay="0"/>
                                  </p:stCondLst>
                                  <p:childTnLst>
                                    <p:set>
                                      <p:cBhvr>
                                        <p:cTn id="38" dur="1" fill="hold">
                                          <p:stCondLst>
                                            <p:cond delay="0"/>
                                          </p:stCondLst>
                                        </p:cTn>
                                        <p:tgtEl>
                                          <p:spTgt spid="20"/>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22"/>
                                        </p:tgtEl>
                                        <p:attrNameLst>
                                          <p:attrName>style.visibility</p:attrName>
                                        </p:attrNameLst>
                                      </p:cBhvr>
                                      <p:to>
                                        <p:strVal val="hidden"/>
                                      </p:to>
                                    </p:set>
                                  </p:childTnLst>
                                </p:cTn>
                              </p:par>
                            </p:childTnLst>
                          </p:cTn>
                        </p:par>
                        <p:par>
                          <p:cTn id="41" fill="hold">
                            <p:stCondLst>
                              <p:cond delay="1500"/>
                            </p:stCondLst>
                            <p:childTnLst>
                              <p:par>
                                <p:cTn id="42" presetID="22" presetClass="entr" presetSubtype="2" fill="hold" nodeType="afterEffect">
                                  <p:stCondLst>
                                    <p:cond delay="0"/>
                                  </p:stCondLst>
                                  <p:childTnLst>
                                    <p:set>
                                      <p:cBhvr>
                                        <p:cTn id="43" dur="1" fill="hold">
                                          <p:stCondLst>
                                            <p:cond delay="0"/>
                                          </p:stCondLst>
                                        </p:cTn>
                                        <p:tgtEl>
                                          <p:spTgt spid="112"/>
                                        </p:tgtEl>
                                        <p:attrNameLst>
                                          <p:attrName>style.visibility</p:attrName>
                                        </p:attrNameLst>
                                      </p:cBhvr>
                                      <p:to>
                                        <p:strVal val="visible"/>
                                      </p:to>
                                    </p:set>
                                    <p:animEffect transition="in" filter="wipe(right)">
                                      <p:cBhvr>
                                        <p:cTn id="44" dur="500"/>
                                        <p:tgtEl>
                                          <p:spTgt spid="112"/>
                                        </p:tgtEl>
                                      </p:cBhvr>
                                    </p:animEffect>
                                  </p:childTnLst>
                                </p:cTn>
                              </p:par>
                            </p:childTnLst>
                          </p:cTn>
                        </p:par>
                        <p:par>
                          <p:cTn id="45" fill="hold">
                            <p:stCondLst>
                              <p:cond delay="2000"/>
                            </p:stCondLst>
                            <p:childTnLst>
                              <p:par>
                                <p:cTn id="46" presetID="1" presetClass="entr" presetSubtype="0" fill="hold" nodeType="afterEffect">
                                  <p:stCondLst>
                                    <p:cond delay="0"/>
                                  </p:stCondLst>
                                  <p:childTnLst>
                                    <p:set>
                                      <p:cBhvr>
                                        <p:cTn id="47" dur="1" fill="hold">
                                          <p:stCondLst>
                                            <p:cond delay="0"/>
                                          </p:stCondLst>
                                        </p:cTn>
                                        <p:tgtEl>
                                          <p:spTgt spid="126"/>
                                        </p:tgtEl>
                                        <p:attrNameLst>
                                          <p:attrName>style.visibility</p:attrName>
                                        </p:attrNameLst>
                                      </p:cBhvr>
                                      <p:to>
                                        <p:strVal val="visible"/>
                                      </p:to>
                                    </p:set>
                                  </p:childTnLst>
                                </p:cTn>
                              </p:par>
                              <p:par>
                                <p:cTn id="48" presetID="26" presetClass="emph" presetSubtype="0" fill="hold" nodeType="withEffect">
                                  <p:stCondLst>
                                    <p:cond delay="0"/>
                                  </p:stCondLst>
                                  <p:childTnLst>
                                    <p:animEffect transition="out" filter="fade">
                                      <p:cBhvr>
                                        <p:cTn id="49" dur="500" tmFilter="0, 0; .2, .5; .8, .5; 1, 0"/>
                                        <p:tgtEl>
                                          <p:spTgt spid="126"/>
                                        </p:tgtEl>
                                      </p:cBhvr>
                                    </p:animEffect>
                                    <p:animScale>
                                      <p:cBhvr>
                                        <p:cTn id="50" dur="250" autoRev="1" fill="hold"/>
                                        <p:tgtEl>
                                          <p:spTgt spid="126"/>
                                        </p:tgtEl>
                                      </p:cBhvr>
                                      <p:by x="105000" y="105000"/>
                                    </p:animScale>
                                  </p:childTnLst>
                                </p:cTn>
                              </p:par>
                              <p:par>
                                <p:cTn id="51" presetID="1" presetClass="exit" presetSubtype="0" fill="hold" nodeType="withEffect">
                                  <p:stCondLst>
                                    <p:cond delay="0"/>
                                  </p:stCondLst>
                                  <p:childTnLst>
                                    <p:set>
                                      <p:cBhvr>
                                        <p:cTn id="52" dur="1" fill="hold">
                                          <p:stCondLst>
                                            <p:cond delay="0"/>
                                          </p:stCondLst>
                                        </p:cTn>
                                        <p:tgtEl>
                                          <p:spTgt spid="18"/>
                                        </p:tgtEl>
                                        <p:attrNameLst>
                                          <p:attrName>style.visibility</p:attrName>
                                        </p:attrNameLst>
                                      </p:cBhvr>
                                      <p:to>
                                        <p:strVal val="hidden"/>
                                      </p:to>
                                    </p:set>
                                  </p:childTnLst>
                                </p:cTn>
                              </p:par>
                            </p:childTnLst>
                          </p:cTn>
                        </p:par>
                        <p:par>
                          <p:cTn id="53" fill="hold">
                            <p:stCondLst>
                              <p:cond delay="2500"/>
                            </p:stCondLst>
                            <p:childTnLst>
                              <p:par>
                                <p:cTn id="54" presetID="22" presetClass="entr" presetSubtype="2" fill="hold" nodeType="afterEffect">
                                  <p:stCondLst>
                                    <p:cond delay="0"/>
                                  </p:stCondLst>
                                  <p:childTnLst>
                                    <p:set>
                                      <p:cBhvr>
                                        <p:cTn id="55" dur="1" fill="hold">
                                          <p:stCondLst>
                                            <p:cond delay="0"/>
                                          </p:stCondLst>
                                        </p:cTn>
                                        <p:tgtEl>
                                          <p:spTgt spid="116"/>
                                        </p:tgtEl>
                                        <p:attrNameLst>
                                          <p:attrName>style.visibility</p:attrName>
                                        </p:attrNameLst>
                                      </p:cBhvr>
                                      <p:to>
                                        <p:strVal val="visible"/>
                                      </p:to>
                                    </p:set>
                                    <p:animEffect transition="in" filter="wipe(right)">
                                      <p:cBhvr>
                                        <p:cTn id="56" dur="500"/>
                                        <p:tgtEl>
                                          <p:spTgt spid="116"/>
                                        </p:tgtEl>
                                      </p:cBhvr>
                                    </p:animEffect>
                                  </p:childTnLst>
                                </p:cTn>
                              </p:par>
                            </p:childTnLst>
                          </p:cTn>
                        </p:par>
                        <p:par>
                          <p:cTn id="57" fill="hold">
                            <p:stCondLst>
                              <p:cond delay="3000"/>
                            </p:stCondLst>
                            <p:childTnLst>
                              <p:par>
                                <p:cTn id="58" presetID="1" presetClass="entr" presetSubtype="0" fill="hold" nodeType="afterEffect">
                                  <p:stCondLst>
                                    <p:cond delay="0"/>
                                  </p:stCondLst>
                                  <p:childTnLst>
                                    <p:set>
                                      <p:cBhvr>
                                        <p:cTn id="59" dur="1" fill="hold">
                                          <p:stCondLst>
                                            <p:cond delay="0"/>
                                          </p:stCondLst>
                                        </p:cTn>
                                        <p:tgtEl>
                                          <p:spTgt spid="129"/>
                                        </p:tgtEl>
                                        <p:attrNameLst>
                                          <p:attrName>style.visibility</p:attrName>
                                        </p:attrNameLst>
                                      </p:cBhvr>
                                      <p:to>
                                        <p:strVal val="visible"/>
                                      </p:to>
                                    </p:set>
                                  </p:childTnLst>
                                </p:cTn>
                              </p:par>
                            </p:childTnLst>
                          </p:cTn>
                        </p:par>
                        <p:par>
                          <p:cTn id="60" fill="hold">
                            <p:stCondLst>
                              <p:cond delay="3000"/>
                            </p:stCondLst>
                            <p:childTnLst>
                              <p:par>
                                <p:cTn id="61" presetID="26" presetClass="emph" presetSubtype="0" fill="hold" nodeType="afterEffect">
                                  <p:stCondLst>
                                    <p:cond delay="0"/>
                                  </p:stCondLst>
                                  <p:childTnLst>
                                    <p:animEffect transition="out" filter="fade">
                                      <p:cBhvr>
                                        <p:cTn id="62" dur="500" tmFilter="0, 0; .2, .5; .8, .5; 1, 0"/>
                                        <p:tgtEl>
                                          <p:spTgt spid="129"/>
                                        </p:tgtEl>
                                      </p:cBhvr>
                                    </p:animEffect>
                                    <p:animScale>
                                      <p:cBhvr>
                                        <p:cTn id="63" dur="250" autoRev="1" fill="hold"/>
                                        <p:tgtEl>
                                          <p:spTgt spid="129"/>
                                        </p:tgtEl>
                                      </p:cBhvr>
                                      <p:by x="105000" y="105000"/>
                                    </p:animScale>
                                  </p:childTnLst>
                                </p:cTn>
                              </p:par>
                              <p:par>
                                <p:cTn id="64" presetID="1" presetClass="exit" presetSubtype="0" fill="hold" nodeType="withEffect">
                                  <p:stCondLst>
                                    <p:cond delay="0"/>
                                  </p:stCondLst>
                                  <p:childTnLst>
                                    <p:set>
                                      <p:cBhvr>
                                        <p:cTn id="65" dur="1" fill="hold">
                                          <p:stCondLst>
                                            <p:cond delay="0"/>
                                          </p:stCondLst>
                                        </p:cTn>
                                        <p:tgtEl>
                                          <p:spTgt spid="19"/>
                                        </p:tgtEl>
                                        <p:attrNameLst>
                                          <p:attrName>style.visibility</p:attrName>
                                        </p:attrNameLst>
                                      </p:cBhvr>
                                      <p:to>
                                        <p:strVal val="hidden"/>
                                      </p:to>
                                    </p:set>
                                  </p:childTnLst>
                                </p:cTn>
                              </p:par>
                            </p:childTnLst>
                          </p:cTn>
                        </p:par>
                        <p:par>
                          <p:cTn id="66" fill="hold">
                            <p:stCondLst>
                              <p:cond delay="3500"/>
                            </p:stCondLst>
                            <p:childTnLst>
                              <p:par>
                                <p:cTn id="67" presetID="22" presetClass="entr" presetSubtype="2" fill="hold" nodeType="afterEffect">
                                  <p:stCondLst>
                                    <p:cond delay="0"/>
                                  </p:stCondLst>
                                  <p:childTnLst>
                                    <p:set>
                                      <p:cBhvr>
                                        <p:cTn id="68" dur="1" fill="hold">
                                          <p:stCondLst>
                                            <p:cond delay="0"/>
                                          </p:stCondLst>
                                        </p:cTn>
                                        <p:tgtEl>
                                          <p:spTgt spid="259"/>
                                        </p:tgtEl>
                                        <p:attrNameLst>
                                          <p:attrName>style.visibility</p:attrName>
                                        </p:attrNameLst>
                                      </p:cBhvr>
                                      <p:to>
                                        <p:strVal val="visible"/>
                                      </p:to>
                                    </p:set>
                                    <p:animEffect transition="in" filter="wipe(right)">
                                      <p:cBhvr>
                                        <p:cTn id="69" dur="500"/>
                                        <p:tgtEl>
                                          <p:spTgt spid="259"/>
                                        </p:tgtEl>
                                      </p:cBhvr>
                                    </p:animEffect>
                                  </p:childTnLst>
                                </p:cTn>
                              </p:par>
                            </p:childTnLst>
                          </p:cTn>
                        </p:par>
                        <p:par>
                          <p:cTn id="70" fill="hold">
                            <p:stCondLst>
                              <p:cond delay="4000"/>
                            </p:stCondLst>
                            <p:childTnLst>
                              <p:par>
                                <p:cTn id="71" presetID="1" presetClass="entr" presetSubtype="0" fill="hold" nodeType="afterEffect">
                                  <p:stCondLst>
                                    <p:cond delay="0"/>
                                  </p:stCondLst>
                                  <p:childTnLst>
                                    <p:set>
                                      <p:cBhvr>
                                        <p:cTn id="72" dur="1" fill="hold">
                                          <p:stCondLst>
                                            <p:cond delay="0"/>
                                          </p:stCondLst>
                                        </p:cTn>
                                        <p:tgtEl>
                                          <p:spTgt spid="234"/>
                                        </p:tgtEl>
                                        <p:attrNameLst>
                                          <p:attrName>style.visibility</p:attrName>
                                        </p:attrNameLst>
                                      </p:cBhvr>
                                      <p:to>
                                        <p:strVal val="visible"/>
                                      </p:to>
                                    </p:set>
                                  </p:childTnLst>
                                </p:cTn>
                              </p:par>
                              <p:par>
                                <p:cTn id="73" presetID="1" presetClass="exit" presetSubtype="0" fill="hold" nodeType="withEffect">
                                  <p:stCondLst>
                                    <p:cond delay="0"/>
                                  </p:stCondLst>
                                  <p:childTnLst>
                                    <p:set>
                                      <p:cBhvr>
                                        <p:cTn id="74" dur="1" fill="hold">
                                          <p:stCondLst>
                                            <p:cond delay="0"/>
                                          </p:stCondLst>
                                        </p:cTn>
                                        <p:tgtEl>
                                          <p:spTgt spid="220"/>
                                        </p:tgtEl>
                                        <p:attrNameLst>
                                          <p:attrName>style.visibility</p:attrName>
                                        </p:attrNameLst>
                                      </p:cBhvr>
                                      <p:to>
                                        <p:strVal val="hidden"/>
                                      </p:to>
                                    </p:set>
                                  </p:childTnLst>
                                </p:cTn>
                              </p:par>
                            </p:childTnLst>
                          </p:cTn>
                        </p:par>
                        <p:par>
                          <p:cTn id="75" fill="hold">
                            <p:stCondLst>
                              <p:cond delay="4000"/>
                            </p:stCondLst>
                            <p:childTnLst>
                              <p:par>
                                <p:cTn id="76" presetID="26" presetClass="emph" presetSubtype="0" fill="hold" nodeType="afterEffect">
                                  <p:stCondLst>
                                    <p:cond delay="0"/>
                                  </p:stCondLst>
                                  <p:childTnLst>
                                    <p:animEffect transition="out" filter="fade">
                                      <p:cBhvr>
                                        <p:cTn id="77" dur="500" tmFilter="0, 0; .2, .5; .8, .5; 1, 0"/>
                                        <p:tgtEl>
                                          <p:spTgt spid="234"/>
                                        </p:tgtEl>
                                      </p:cBhvr>
                                    </p:animEffect>
                                    <p:animScale>
                                      <p:cBhvr>
                                        <p:cTn id="78" dur="250" autoRev="1" fill="hold"/>
                                        <p:tgtEl>
                                          <p:spTgt spid="23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6F0C2E-B722-86B9-5E7D-E6CC08E40944}"/>
            </a:ext>
          </a:extLst>
        </p:cNvPr>
        <p:cNvGrpSpPr/>
        <p:nvPr/>
      </p:nvGrpSpPr>
      <p:grpSpPr>
        <a:xfrm>
          <a:off x="0" y="0"/>
          <a:ext cx="0" cy="0"/>
          <a:chOff x="0" y="0"/>
          <a:chExt cx="0" cy="0"/>
        </a:xfrm>
      </p:grpSpPr>
      <p:sp>
        <p:nvSpPr>
          <p:cNvPr id="3" name="!!BOTTOM">
            <a:extLst>
              <a:ext uri="{FF2B5EF4-FFF2-40B4-BE49-F238E27FC236}">
                <a16:creationId xmlns:a16="http://schemas.microsoft.com/office/drawing/2014/main" id="{671DBF99-9FE3-8617-760E-BED261655F37}"/>
              </a:ext>
            </a:extLst>
          </p:cNvPr>
          <p:cNvSpPr/>
          <p:nvPr/>
        </p:nvSpPr>
        <p:spPr>
          <a:xfrm rot="10800000" flipV="1">
            <a:off x="627405" y="1600200"/>
            <a:ext cx="5924208" cy="2071149"/>
          </a:xfrm>
          <a:prstGeom prst="round2SameRect">
            <a:avLst>
              <a:gd name="adj1" fmla="val 7233"/>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4" name="!!TOP">
            <a:extLst>
              <a:ext uri="{FF2B5EF4-FFF2-40B4-BE49-F238E27FC236}">
                <a16:creationId xmlns:a16="http://schemas.microsoft.com/office/drawing/2014/main" id="{3EB2FFA0-8A22-5F57-387E-2856C29D7E3E}"/>
              </a:ext>
            </a:extLst>
          </p:cNvPr>
          <p:cNvSpPr/>
          <p:nvPr/>
        </p:nvSpPr>
        <p:spPr>
          <a:xfrm flipV="1">
            <a:off x="627406" y="3886200"/>
            <a:ext cx="5924207" cy="2285996"/>
          </a:xfrm>
          <a:prstGeom prst="round2SameRect">
            <a:avLst>
              <a:gd name="adj1" fmla="val 72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grpSp>
        <p:nvGrpSpPr>
          <p:cNvPr id="5" name="Group 4">
            <a:extLst>
              <a:ext uri="{FF2B5EF4-FFF2-40B4-BE49-F238E27FC236}">
                <a16:creationId xmlns:a16="http://schemas.microsoft.com/office/drawing/2014/main" id="{929D2824-D741-A93C-4D19-124E8225AC7E}"/>
              </a:ext>
            </a:extLst>
          </p:cNvPr>
          <p:cNvGrpSpPr/>
          <p:nvPr/>
        </p:nvGrpSpPr>
        <p:grpSpPr>
          <a:xfrm>
            <a:off x="2292252" y="2515495"/>
            <a:ext cx="1203522" cy="543290"/>
            <a:chOff x="2247375" y="4148923"/>
            <a:chExt cx="1203522" cy="543290"/>
          </a:xfrm>
        </p:grpSpPr>
        <p:sp>
          <p:nvSpPr>
            <p:cNvPr id="6" name="Rectangle: Rounded Corners 5">
              <a:extLst>
                <a:ext uri="{FF2B5EF4-FFF2-40B4-BE49-F238E27FC236}">
                  <a16:creationId xmlns:a16="http://schemas.microsoft.com/office/drawing/2014/main" id="{7E780885-0242-52EC-475D-AA7AA1A6D9E4}"/>
                </a:ext>
              </a:extLst>
            </p:cNvPr>
            <p:cNvSpPr>
              <a:spLocks noChangeAspect="1"/>
            </p:cNvSpPr>
            <p:nvPr/>
          </p:nvSpPr>
          <p:spPr>
            <a:xfrm>
              <a:off x="2247375" y="4148923"/>
              <a:ext cx="1203522" cy="543290"/>
            </a:xfrm>
            <a:prstGeom prst="roundRect">
              <a:avLst>
                <a:gd name="adj" fmla="val 10033"/>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Graphic 9">
              <a:extLst>
                <a:ext uri="{FF2B5EF4-FFF2-40B4-BE49-F238E27FC236}">
                  <a16:creationId xmlns:a16="http://schemas.microsoft.com/office/drawing/2014/main" id="{EDE78EA7-F9C0-53EC-B105-AD639FEE6145}"/>
                </a:ext>
              </a:extLst>
            </p:cNvPr>
            <p:cNvSpPr>
              <a:spLocks noChangeAspect="1"/>
            </p:cNvSpPr>
            <p:nvPr/>
          </p:nvSpPr>
          <p:spPr>
            <a:xfrm>
              <a:off x="2481912"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30FCBA5B-23DE-F15E-E48C-A7D757409CD7}"/>
              </a:ext>
            </a:extLst>
          </p:cNvPr>
          <p:cNvGrpSpPr/>
          <p:nvPr/>
        </p:nvGrpSpPr>
        <p:grpSpPr>
          <a:xfrm>
            <a:off x="826995" y="2514600"/>
            <a:ext cx="1200052" cy="545078"/>
            <a:chOff x="782118" y="4148028"/>
            <a:chExt cx="1200052" cy="545078"/>
          </a:xfrm>
        </p:grpSpPr>
        <p:sp>
          <p:nvSpPr>
            <p:cNvPr id="9" name="Rectangle: Rounded Corners 8">
              <a:extLst>
                <a:ext uri="{FF2B5EF4-FFF2-40B4-BE49-F238E27FC236}">
                  <a16:creationId xmlns:a16="http://schemas.microsoft.com/office/drawing/2014/main" id="{8DBC721D-AB69-969E-C1DD-EC442EC498A8}"/>
                </a:ext>
              </a:extLst>
            </p:cNvPr>
            <p:cNvSpPr>
              <a:spLocks noChangeAspect="1"/>
            </p:cNvSpPr>
            <p:nvPr/>
          </p:nvSpPr>
          <p:spPr>
            <a:xfrm>
              <a:off x="782118" y="4148028"/>
              <a:ext cx="1200052"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Graphic 9">
              <a:extLst>
                <a:ext uri="{FF2B5EF4-FFF2-40B4-BE49-F238E27FC236}">
                  <a16:creationId xmlns:a16="http://schemas.microsoft.com/office/drawing/2014/main" id="{2D057886-5DF6-C7D8-ED7D-51AEABEA1706}"/>
                </a:ext>
              </a:extLst>
            </p:cNvPr>
            <p:cNvSpPr>
              <a:spLocks noChangeAspect="1"/>
            </p:cNvSpPr>
            <p:nvPr/>
          </p:nvSpPr>
          <p:spPr>
            <a:xfrm>
              <a:off x="1014920"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1" name="Group 10">
            <a:extLst>
              <a:ext uri="{FF2B5EF4-FFF2-40B4-BE49-F238E27FC236}">
                <a16:creationId xmlns:a16="http://schemas.microsoft.com/office/drawing/2014/main" id="{BEEFA408-2A9A-18FD-FF88-00DBFADA769E}"/>
              </a:ext>
            </a:extLst>
          </p:cNvPr>
          <p:cNvGrpSpPr/>
          <p:nvPr/>
        </p:nvGrpSpPr>
        <p:grpSpPr>
          <a:xfrm>
            <a:off x="5228818" y="2514600"/>
            <a:ext cx="1202590" cy="545078"/>
            <a:chOff x="5183941" y="4148028"/>
            <a:chExt cx="1202590" cy="545078"/>
          </a:xfrm>
        </p:grpSpPr>
        <p:sp>
          <p:nvSpPr>
            <p:cNvPr id="12" name="Rectangle: Rounded Corners 25">
              <a:extLst>
                <a:ext uri="{FF2B5EF4-FFF2-40B4-BE49-F238E27FC236}">
                  <a16:creationId xmlns:a16="http://schemas.microsoft.com/office/drawing/2014/main" id="{15E054E9-A11C-3DA4-029B-A29F58E9469B}"/>
                </a:ext>
              </a:extLst>
            </p:cNvPr>
            <p:cNvSpPr>
              <a:spLocks noChangeAspect="1"/>
            </p:cNvSpPr>
            <p:nvPr/>
          </p:nvSpPr>
          <p:spPr>
            <a:xfrm>
              <a:off x="5183941" y="4148028"/>
              <a:ext cx="1202590"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 name="Graphic 9">
              <a:extLst>
                <a:ext uri="{FF2B5EF4-FFF2-40B4-BE49-F238E27FC236}">
                  <a16:creationId xmlns:a16="http://schemas.microsoft.com/office/drawing/2014/main" id="{8B117726-66ED-41A9-3EC0-268C4C9097CD}"/>
                </a:ext>
              </a:extLst>
            </p:cNvPr>
            <p:cNvSpPr>
              <a:spLocks noChangeAspect="1"/>
            </p:cNvSpPr>
            <p:nvPr/>
          </p:nvSpPr>
          <p:spPr>
            <a:xfrm>
              <a:off x="5418012"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4" name="Group 13">
            <a:extLst>
              <a:ext uri="{FF2B5EF4-FFF2-40B4-BE49-F238E27FC236}">
                <a16:creationId xmlns:a16="http://schemas.microsoft.com/office/drawing/2014/main" id="{137D406D-D1FB-F28B-3DE3-F132C012AB33}"/>
              </a:ext>
            </a:extLst>
          </p:cNvPr>
          <p:cNvGrpSpPr/>
          <p:nvPr/>
        </p:nvGrpSpPr>
        <p:grpSpPr>
          <a:xfrm>
            <a:off x="3761005" y="2514600"/>
            <a:ext cx="1202590" cy="545078"/>
            <a:chOff x="3716128" y="4148028"/>
            <a:chExt cx="1202590" cy="545078"/>
          </a:xfrm>
        </p:grpSpPr>
        <p:sp>
          <p:nvSpPr>
            <p:cNvPr id="15" name="Rectangle: Rounded Corners 28">
              <a:extLst>
                <a:ext uri="{FF2B5EF4-FFF2-40B4-BE49-F238E27FC236}">
                  <a16:creationId xmlns:a16="http://schemas.microsoft.com/office/drawing/2014/main" id="{7C5D6991-C667-DF75-0C70-5318AC2EB8A1}"/>
                </a:ext>
              </a:extLst>
            </p:cNvPr>
            <p:cNvSpPr>
              <a:spLocks noChangeAspect="1"/>
            </p:cNvSpPr>
            <p:nvPr/>
          </p:nvSpPr>
          <p:spPr>
            <a:xfrm>
              <a:off x="3716128" y="4148028"/>
              <a:ext cx="1202590"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Graphic 9">
              <a:extLst>
                <a:ext uri="{FF2B5EF4-FFF2-40B4-BE49-F238E27FC236}">
                  <a16:creationId xmlns:a16="http://schemas.microsoft.com/office/drawing/2014/main" id="{E60C2CE3-F4B7-FF07-AF1D-F54ECE0AE763}"/>
                </a:ext>
              </a:extLst>
            </p:cNvPr>
            <p:cNvSpPr>
              <a:spLocks noChangeAspect="1"/>
            </p:cNvSpPr>
            <p:nvPr/>
          </p:nvSpPr>
          <p:spPr>
            <a:xfrm>
              <a:off x="3950199"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
        <p:nvSpPr>
          <p:cNvPr id="43" name="Rectangle: Rounded Corners 42">
            <a:extLst>
              <a:ext uri="{FF2B5EF4-FFF2-40B4-BE49-F238E27FC236}">
                <a16:creationId xmlns:a16="http://schemas.microsoft.com/office/drawing/2014/main" id="{9D374775-0B47-E850-7F69-AF6A32CA09DE}"/>
              </a:ext>
            </a:extLst>
          </p:cNvPr>
          <p:cNvSpPr/>
          <p:nvPr/>
        </p:nvSpPr>
        <p:spPr>
          <a:xfrm>
            <a:off x="1068209" y="4335490"/>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09" name="Title 108">
            <a:extLst>
              <a:ext uri="{FF2B5EF4-FFF2-40B4-BE49-F238E27FC236}">
                <a16:creationId xmlns:a16="http://schemas.microsoft.com/office/drawing/2014/main" id="{F51B1F80-658A-F1D9-7BC3-4F43843546A5}"/>
              </a:ext>
            </a:extLst>
          </p:cNvPr>
          <p:cNvSpPr>
            <a:spLocks noGrp="1"/>
          </p:cNvSpPr>
          <p:nvPr>
            <p:ph type="title"/>
          </p:nvPr>
        </p:nvSpPr>
        <p:spPr/>
        <p:txBody>
          <a:bodyPr/>
          <a:lstStyle/>
          <a:p>
            <a:r>
              <a:rPr lang="en-US" dirty="0">
                <a:latin typeface="+mn-lt"/>
              </a:rPr>
              <a:t>VCF with NSX Virtual Networking</a:t>
            </a:r>
          </a:p>
        </p:txBody>
      </p:sp>
      <p:sp>
        <p:nvSpPr>
          <p:cNvPr id="82" name="Subtitle 81">
            <a:extLst>
              <a:ext uri="{FF2B5EF4-FFF2-40B4-BE49-F238E27FC236}">
                <a16:creationId xmlns:a16="http://schemas.microsoft.com/office/drawing/2014/main" id="{E4BC4F41-7182-1E18-1C7D-ACBE382EA159}"/>
              </a:ext>
            </a:extLst>
          </p:cNvPr>
          <p:cNvSpPr>
            <a:spLocks noGrp="1"/>
          </p:cNvSpPr>
          <p:nvPr>
            <p:ph type="subTitle" idx="10"/>
          </p:nvPr>
        </p:nvSpPr>
        <p:spPr/>
        <p:txBody>
          <a:bodyPr/>
          <a:lstStyle/>
          <a:p>
            <a:r>
              <a:rPr lang="en-US" dirty="0"/>
              <a:t>Independent of the physical infrastructure</a:t>
            </a:r>
          </a:p>
        </p:txBody>
      </p:sp>
      <p:sp>
        <p:nvSpPr>
          <p:cNvPr id="88" name="Rectangle: Rounded Corners 42">
            <a:extLst>
              <a:ext uri="{FF2B5EF4-FFF2-40B4-BE49-F238E27FC236}">
                <a16:creationId xmlns:a16="http://schemas.microsoft.com/office/drawing/2014/main" id="{CBFA2973-B9CE-197B-C4AE-1A9FF327538D}"/>
              </a:ext>
            </a:extLst>
          </p:cNvPr>
          <p:cNvSpPr/>
          <p:nvPr/>
        </p:nvSpPr>
        <p:spPr>
          <a:xfrm>
            <a:off x="2884734" y="4326211"/>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89" name="Rectangle: Rounded Corners 42">
            <a:extLst>
              <a:ext uri="{FF2B5EF4-FFF2-40B4-BE49-F238E27FC236}">
                <a16:creationId xmlns:a16="http://schemas.microsoft.com/office/drawing/2014/main" id="{FFFDAD48-90AD-5AD6-4C0F-E74BD5F871EC}"/>
              </a:ext>
            </a:extLst>
          </p:cNvPr>
          <p:cNvSpPr/>
          <p:nvPr/>
        </p:nvSpPr>
        <p:spPr>
          <a:xfrm>
            <a:off x="4713534" y="4324492"/>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91" name="Rectangle 90">
            <a:extLst>
              <a:ext uri="{FF2B5EF4-FFF2-40B4-BE49-F238E27FC236}">
                <a16:creationId xmlns:a16="http://schemas.microsoft.com/office/drawing/2014/main" id="{BB686B1F-72B4-0F81-D03E-6F5A8A49BDF2}"/>
              </a:ext>
            </a:extLst>
          </p:cNvPr>
          <p:cNvSpPr/>
          <p:nvPr/>
        </p:nvSpPr>
        <p:spPr>
          <a:xfrm>
            <a:off x="900108" y="5915991"/>
            <a:ext cx="5360611"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pic>
        <p:nvPicPr>
          <p:cNvPr id="92" name="Picture 91">
            <a:extLst>
              <a:ext uri="{FF2B5EF4-FFF2-40B4-BE49-F238E27FC236}">
                <a16:creationId xmlns:a16="http://schemas.microsoft.com/office/drawing/2014/main" id="{0C103CAD-84EE-14DC-2E48-43A66BB8B243}"/>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979613" y="5840173"/>
            <a:ext cx="348488" cy="295148"/>
          </a:xfrm>
          <a:prstGeom prst="rect">
            <a:avLst/>
          </a:prstGeom>
        </p:spPr>
      </p:pic>
      <p:sp>
        <p:nvSpPr>
          <p:cNvPr id="23" name="Rectangle 22">
            <a:extLst>
              <a:ext uri="{FF2B5EF4-FFF2-40B4-BE49-F238E27FC236}">
                <a16:creationId xmlns:a16="http://schemas.microsoft.com/office/drawing/2014/main" id="{FA8C969B-883A-C502-0365-2B84A1135D15}"/>
              </a:ext>
            </a:extLst>
          </p:cNvPr>
          <p:cNvSpPr/>
          <p:nvPr/>
        </p:nvSpPr>
        <p:spPr>
          <a:xfrm>
            <a:off x="608014" y="1710756"/>
            <a:ext cx="5943600"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IP Fabric with service appliances</a:t>
            </a:r>
          </a:p>
        </p:txBody>
      </p:sp>
      <p:grpSp>
        <p:nvGrpSpPr>
          <p:cNvPr id="19" name="Group 18">
            <a:extLst>
              <a:ext uri="{FF2B5EF4-FFF2-40B4-BE49-F238E27FC236}">
                <a16:creationId xmlns:a16="http://schemas.microsoft.com/office/drawing/2014/main" id="{73442E32-9530-8624-204A-028FD460F4DB}"/>
              </a:ext>
            </a:extLst>
          </p:cNvPr>
          <p:cNvGrpSpPr/>
          <p:nvPr/>
        </p:nvGrpSpPr>
        <p:grpSpPr>
          <a:xfrm>
            <a:off x="1582703" y="3145134"/>
            <a:ext cx="4014317" cy="1279909"/>
            <a:chOff x="1582703" y="3145134"/>
            <a:chExt cx="4014317" cy="1279909"/>
          </a:xfrm>
        </p:grpSpPr>
        <p:sp>
          <p:nvSpPr>
            <p:cNvPr id="135" name="Freeform 134">
              <a:extLst>
                <a:ext uri="{FF2B5EF4-FFF2-40B4-BE49-F238E27FC236}">
                  <a16:creationId xmlns:a16="http://schemas.microsoft.com/office/drawing/2014/main" id="{E296717A-F98A-F7E5-2724-E20EE6378CB1}"/>
                </a:ext>
              </a:extLst>
            </p:cNvPr>
            <p:cNvSpPr/>
            <p:nvPr/>
          </p:nvSpPr>
          <p:spPr bwMode="gray">
            <a:xfrm>
              <a:off x="1587727" y="3145134"/>
              <a:ext cx="4009293" cy="1198266"/>
            </a:xfrm>
            <a:custGeom>
              <a:avLst/>
              <a:gdLst>
                <a:gd name="connsiteX0" fmla="*/ 199715 w 4009293"/>
                <a:gd name="connsiteY0" fmla="*/ 0 h 1198266"/>
                <a:gd name="connsiteX1" fmla="*/ 3809578 w 4009293"/>
                <a:gd name="connsiteY1" fmla="*/ 0 h 1198266"/>
                <a:gd name="connsiteX2" fmla="*/ 4009293 w 4009293"/>
                <a:gd name="connsiteY2" fmla="*/ 199715 h 1198266"/>
                <a:gd name="connsiteX3" fmla="*/ 4009293 w 4009293"/>
                <a:gd name="connsiteY3" fmla="*/ 1193238 h 1198266"/>
                <a:gd name="connsiteX4" fmla="*/ 4005619 w 4009293"/>
                <a:gd name="connsiteY4" fmla="*/ 1174511 h 1198266"/>
                <a:gd name="connsiteX5" fmla="*/ 3828423 w 4009293"/>
                <a:gd name="connsiteY5" fmla="*/ 1100295 h 1198266"/>
                <a:gd name="connsiteX6" fmla="*/ 3647552 w 4009293"/>
                <a:gd name="connsiteY6" fmla="*/ 1193243 h 1198266"/>
                <a:gd name="connsiteX7" fmla="*/ 3648537 w 4009293"/>
                <a:gd name="connsiteY7" fmla="*/ 1198266 h 1198266"/>
                <a:gd name="connsiteX8" fmla="*/ 3642527 w 4009293"/>
                <a:gd name="connsiteY8" fmla="*/ 1198266 h 1198266"/>
                <a:gd name="connsiteX9" fmla="*/ 3642527 w 4009293"/>
                <a:gd name="connsiteY9" fmla="*/ 494257 h 1198266"/>
                <a:gd name="connsiteX10" fmla="*/ 3486146 w 4009293"/>
                <a:gd name="connsiteY10" fmla="*/ 337876 h 1198266"/>
                <a:gd name="connsiteX11" fmla="*/ 2331851 w 4009293"/>
                <a:gd name="connsiteY11" fmla="*/ 337876 h 1198266"/>
                <a:gd name="connsiteX12" fmla="*/ 2175470 w 4009293"/>
                <a:gd name="connsiteY12" fmla="*/ 494257 h 1198266"/>
                <a:gd name="connsiteX13" fmla="*/ 2175470 w 4009293"/>
                <a:gd name="connsiteY13" fmla="*/ 1172278 h 1198266"/>
                <a:gd name="connsiteX14" fmla="*/ 2166280 w 4009293"/>
                <a:gd name="connsiteY14" fmla="*/ 1157063 h 1198266"/>
                <a:gd name="connsiteX15" fmla="*/ 1999623 w 4009293"/>
                <a:gd name="connsiteY15" fmla="*/ 1100295 h 1198266"/>
                <a:gd name="connsiteX16" fmla="*/ 1832966 w 4009293"/>
                <a:gd name="connsiteY16" fmla="*/ 1157063 h 1198266"/>
                <a:gd name="connsiteX17" fmla="*/ 1823775 w 4009293"/>
                <a:gd name="connsiteY17" fmla="*/ 1172279 h 1198266"/>
                <a:gd name="connsiteX18" fmla="*/ 1823775 w 4009293"/>
                <a:gd name="connsiteY18" fmla="*/ 495931 h 1198266"/>
                <a:gd name="connsiteX19" fmla="*/ 1665720 w 4009293"/>
                <a:gd name="connsiteY19" fmla="*/ 337876 h 1198266"/>
                <a:gd name="connsiteX20" fmla="*/ 514773 w 4009293"/>
                <a:gd name="connsiteY20" fmla="*/ 337876 h 1198266"/>
                <a:gd name="connsiteX21" fmla="*/ 356718 w 4009293"/>
                <a:gd name="connsiteY21" fmla="*/ 495931 h 1198266"/>
                <a:gd name="connsiteX22" fmla="*/ 356718 w 4009293"/>
                <a:gd name="connsiteY22" fmla="*/ 1192795 h 1198266"/>
                <a:gd name="connsiteX23" fmla="*/ 353131 w 4009293"/>
                <a:gd name="connsiteY23" fmla="*/ 1174511 h 1198266"/>
                <a:gd name="connsiteX24" fmla="*/ 175935 w 4009293"/>
                <a:gd name="connsiteY24" fmla="*/ 1100295 h 1198266"/>
                <a:gd name="connsiteX25" fmla="*/ 9278 w 4009293"/>
                <a:gd name="connsiteY25" fmla="*/ 1157063 h 1198266"/>
                <a:gd name="connsiteX26" fmla="*/ 0 w 4009293"/>
                <a:gd name="connsiteY26" fmla="*/ 1172423 h 1198266"/>
                <a:gd name="connsiteX27" fmla="*/ 0 w 4009293"/>
                <a:gd name="connsiteY27" fmla="*/ 199715 h 1198266"/>
                <a:gd name="connsiteX28" fmla="*/ 199715 w 4009293"/>
                <a:gd name="connsiteY28" fmla="*/ 0 h 11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09293" h="1198266">
                  <a:moveTo>
                    <a:pt x="199715" y="0"/>
                  </a:moveTo>
                  <a:lnTo>
                    <a:pt x="3809578" y="0"/>
                  </a:lnTo>
                  <a:cubicBezTo>
                    <a:pt x="3919878" y="0"/>
                    <a:pt x="4009293" y="89415"/>
                    <a:pt x="4009293" y="199715"/>
                  </a:cubicBezTo>
                  <a:lnTo>
                    <a:pt x="4009293" y="1193238"/>
                  </a:lnTo>
                  <a:lnTo>
                    <a:pt x="4005619" y="1174511"/>
                  </a:lnTo>
                  <a:cubicBezTo>
                    <a:pt x="3988754" y="1132156"/>
                    <a:pt x="3915828" y="1100295"/>
                    <a:pt x="3828423" y="1100295"/>
                  </a:cubicBezTo>
                  <a:cubicBezTo>
                    <a:pt x="3728531" y="1100295"/>
                    <a:pt x="3647552" y="1141909"/>
                    <a:pt x="3647552" y="1193243"/>
                  </a:cubicBezTo>
                  <a:lnTo>
                    <a:pt x="3648537" y="1198266"/>
                  </a:lnTo>
                  <a:lnTo>
                    <a:pt x="3642527" y="1198266"/>
                  </a:lnTo>
                  <a:lnTo>
                    <a:pt x="3642527" y="494257"/>
                  </a:lnTo>
                  <a:cubicBezTo>
                    <a:pt x="3642527" y="407890"/>
                    <a:pt x="3572513" y="337876"/>
                    <a:pt x="3486146" y="337876"/>
                  </a:cubicBezTo>
                  <a:lnTo>
                    <a:pt x="2331851" y="337876"/>
                  </a:lnTo>
                  <a:cubicBezTo>
                    <a:pt x="2245484" y="337876"/>
                    <a:pt x="2175470" y="407890"/>
                    <a:pt x="2175470" y="494257"/>
                  </a:cubicBezTo>
                  <a:lnTo>
                    <a:pt x="2175470" y="1172278"/>
                  </a:lnTo>
                  <a:lnTo>
                    <a:pt x="2166280" y="1157063"/>
                  </a:lnTo>
                  <a:cubicBezTo>
                    <a:pt x="2138822" y="1123703"/>
                    <a:pt x="2074542" y="1100295"/>
                    <a:pt x="1999623" y="1100295"/>
                  </a:cubicBezTo>
                  <a:cubicBezTo>
                    <a:pt x="1924704" y="1100295"/>
                    <a:pt x="1860424" y="1123703"/>
                    <a:pt x="1832966" y="1157063"/>
                  </a:cubicBezTo>
                  <a:lnTo>
                    <a:pt x="1823775" y="1172279"/>
                  </a:lnTo>
                  <a:lnTo>
                    <a:pt x="1823775" y="495931"/>
                  </a:lnTo>
                  <a:cubicBezTo>
                    <a:pt x="1823775" y="408640"/>
                    <a:pt x="1753011" y="337876"/>
                    <a:pt x="1665720" y="337876"/>
                  </a:cubicBezTo>
                  <a:lnTo>
                    <a:pt x="514773" y="337876"/>
                  </a:lnTo>
                  <a:cubicBezTo>
                    <a:pt x="427482" y="337876"/>
                    <a:pt x="356718" y="408640"/>
                    <a:pt x="356718" y="495931"/>
                  </a:cubicBezTo>
                  <a:lnTo>
                    <a:pt x="356718" y="1192795"/>
                  </a:lnTo>
                  <a:lnTo>
                    <a:pt x="353131" y="1174511"/>
                  </a:lnTo>
                  <a:cubicBezTo>
                    <a:pt x="336266" y="1132156"/>
                    <a:pt x="263341" y="1100295"/>
                    <a:pt x="175935" y="1100295"/>
                  </a:cubicBezTo>
                  <a:cubicBezTo>
                    <a:pt x="101016" y="1100295"/>
                    <a:pt x="36736" y="1123703"/>
                    <a:pt x="9278" y="1157063"/>
                  </a:cubicBezTo>
                  <a:lnTo>
                    <a:pt x="0" y="1172423"/>
                  </a:lnTo>
                  <a:lnTo>
                    <a:pt x="0" y="199715"/>
                  </a:lnTo>
                  <a:cubicBezTo>
                    <a:pt x="0" y="89415"/>
                    <a:pt x="89415" y="0"/>
                    <a:pt x="199715" y="0"/>
                  </a:cubicBezTo>
                  <a:close/>
                </a:path>
              </a:pathLst>
            </a:custGeom>
            <a:solidFill>
              <a:schemeClr val="bg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42" name="Oval 141">
              <a:extLst>
                <a:ext uri="{FF2B5EF4-FFF2-40B4-BE49-F238E27FC236}">
                  <a16:creationId xmlns:a16="http://schemas.microsoft.com/office/drawing/2014/main" id="{073C9428-FB8C-5CF2-603D-363BD7DF0236}"/>
                </a:ext>
              </a:extLst>
            </p:cNvPr>
            <p:cNvSpPr/>
            <p:nvPr/>
          </p:nvSpPr>
          <p:spPr bwMode="gray">
            <a:xfrm>
              <a:off x="3401455" y="4251709"/>
              <a:ext cx="361741" cy="173334"/>
            </a:xfrm>
            <a:prstGeom prst="ellipse">
              <a:avLst/>
            </a:prstGeom>
            <a:solidFill>
              <a:schemeClr val="bg1"/>
            </a:solidFill>
            <a:ln w="6350">
              <a:solidFill>
                <a:schemeClr val="tx1">
                  <a:lumMod val="50000"/>
                  <a:lumOff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43" name="Oval 142">
              <a:extLst>
                <a:ext uri="{FF2B5EF4-FFF2-40B4-BE49-F238E27FC236}">
                  <a16:creationId xmlns:a16="http://schemas.microsoft.com/office/drawing/2014/main" id="{24BF9249-3491-C735-39E7-A90337306AD1}"/>
                </a:ext>
              </a:extLst>
            </p:cNvPr>
            <p:cNvSpPr/>
            <p:nvPr/>
          </p:nvSpPr>
          <p:spPr bwMode="gray">
            <a:xfrm>
              <a:off x="1582703" y="4251709"/>
              <a:ext cx="361741" cy="173334"/>
            </a:xfrm>
            <a:prstGeom prst="ellipse">
              <a:avLst/>
            </a:prstGeom>
            <a:solidFill>
              <a:schemeClr val="bg1"/>
            </a:solidFill>
            <a:ln w="6350">
              <a:solidFill>
                <a:schemeClr val="tx1">
                  <a:lumMod val="50000"/>
                  <a:lumOff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44" name="Oval 143">
              <a:extLst>
                <a:ext uri="{FF2B5EF4-FFF2-40B4-BE49-F238E27FC236}">
                  <a16:creationId xmlns:a16="http://schemas.microsoft.com/office/drawing/2014/main" id="{EBC5201C-A9AA-6FF5-EA32-2204E48EAA8A}"/>
                </a:ext>
              </a:extLst>
            </p:cNvPr>
            <p:cNvSpPr/>
            <p:nvPr/>
          </p:nvSpPr>
          <p:spPr bwMode="gray">
            <a:xfrm>
              <a:off x="5230255" y="4251709"/>
              <a:ext cx="361741" cy="173334"/>
            </a:xfrm>
            <a:prstGeom prst="ellipse">
              <a:avLst/>
            </a:prstGeom>
            <a:solidFill>
              <a:schemeClr val="bg1"/>
            </a:solidFill>
            <a:ln w="6350">
              <a:solidFill>
                <a:schemeClr val="tx1">
                  <a:lumMod val="50000"/>
                  <a:lumOff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grpSp>
        <p:nvGrpSpPr>
          <p:cNvPr id="191" name="Group 190">
            <a:extLst>
              <a:ext uri="{FF2B5EF4-FFF2-40B4-BE49-F238E27FC236}">
                <a16:creationId xmlns:a16="http://schemas.microsoft.com/office/drawing/2014/main" id="{EA1F4DBA-B646-AFEB-789E-0AE0F2B43421}"/>
              </a:ext>
            </a:extLst>
          </p:cNvPr>
          <p:cNvGrpSpPr>
            <a:grpSpLocks noChangeAspect="1"/>
          </p:cNvGrpSpPr>
          <p:nvPr/>
        </p:nvGrpSpPr>
        <p:grpSpPr>
          <a:xfrm>
            <a:off x="1904965" y="5028964"/>
            <a:ext cx="438912" cy="438912"/>
            <a:chOff x="2008163" y="2122216"/>
            <a:chExt cx="530226" cy="530226"/>
          </a:xfrm>
        </p:grpSpPr>
        <p:sp>
          <p:nvSpPr>
            <p:cNvPr id="193" name="Google Shape;1802;p69">
              <a:extLst>
                <a:ext uri="{FF2B5EF4-FFF2-40B4-BE49-F238E27FC236}">
                  <a16:creationId xmlns:a16="http://schemas.microsoft.com/office/drawing/2014/main" id="{B41850E9-02BA-9002-5719-2DD0F0ADD45C}"/>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94" name="Google Shape;1803;p69">
              <a:extLst>
                <a:ext uri="{FF2B5EF4-FFF2-40B4-BE49-F238E27FC236}">
                  <a16:creationId xmlns:a16="http://schemas.microsoft.com/office/drawing/2014/main" id="{A0A72AE2-2FD8-1044-5292-16DB76B5A418}"/>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95" name="Group 194">
            <a:extLst>
              <a:ext uri="{FF2B5EF4-FFF2-40B4-BE49-F238E27FC236}">
                <a16:creationId xmlns:a16="http://schemas.microsoft.com/office/drawing/2014/main" id="{DAB577BE-2186-60FA-43D3-B0E9278F41A1}"/>
              </a:ext>
            </a:extLst>
          </p:cNvPr>
          <p:cNvGrpSpPr>
            <a:grpSpLocks noChangeAspect="1"/>
          </p:cNvGrpSpPr>
          <p:nvPr/>
        </p:nvGrpSpPr>
        <p:grpSpPr>
          <a:xfrm>
            <a:off x="2981039" y="5028964"/>
            <a:ext cx="438912" cy="438912"/>
            <a:chOff x="2008163" y="2122216"/>
            <a:chExt cx="530226" cy="530226"/>
          </a:xfrm>
        </p:grpSpPr>
        <p:sp>
          <p:nvSpPr>
            <p:cNvPr id="197" name="Google Shape;1802;p69">
              <a:extLst>
                <a:ext uri="{FF2B5EF4-FFF2-40B4-BE49-F238E27FC236}">
                  <a16:creationId xmlns:a16="http://schemas.microsoft.com/office/drawing/2014/main" id="{CCACA52D-A8E1-1740-0FC4-6ECBE6AF795C}"/>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98" name="Google Shape;1803;p69">
              <a:extLst>
                <a:ext uri="{FF2B5EF4-FFF2-40B4-BE49-F238E27FC236}">
                  <a16:creationId xmlns:a16="http://schemas.microsoft.com/office/drawing/2014/main" id="{73055394-E9D3-670F-E136-6903C3758578}"/>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99" name="Group 198">
            <a:extLst>
              <a:ext uri="{FF2B5EF4-FFF2-40B4-BE49-F238E27FC236}">
                <a16:creationId xmlns:a16="http://schemas.microsoft.com/office/drawing/2014/main" id="{054F9B27-FFD1-04FC-49C7-731F044BFC8C}"/>
              </a:ext>
            </a:extLst>
          </p:cNvPr>
          <p:cNvGrpSpPr>
            <a:grpSpLocks noChangeAspect="1"/>
          </p:cNvGrpSpPr>
          <p:nvPr/>
        </p:nvGrpSpPr>
        <p:grpSpPr>
          <a:xfrm>
            <a:off x="1145335" y="5028964"/>
            <a:ext cx="438912" cy="438912"/>
            <a:chOff x="2008163" y="2122216"/>
            <a:chExt cx="530226" cy="530226"/>
          </a:xfrm>
        </p:grpSpPr>
        <p:sp>
          <p:nvSpPr>
            <p:cNvPr id="200" name="Google Shape;1802;p69">
              <a:extLst>
                <a:ext uri="{FF2B5EF4-FFF2-40B4-BE49-F238E27FC236}">
                  <a16:creationId xmlns:a16="http://schemas.microsoft.com/office/drawing/2014/main" id="{954EB95D-4DF0-8465-07D2-E442F68E24F0}"/>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201" name="Google Shape;1803;p69">
              <a:extLst>
                <a:ext uri="{FF2B5EF4-FFF2-40B4-BE49-F238E27FC236}">
                  <a16:creationId xmlns:a16="http://schemas.microsoft.com/office/drawing/2014/main" id="{EDAB1F65-A80E-D550-16A2-0BE2C83067A4}"/>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202" name="Group 201">
            <a:extLst>
              <a:ext uri="{FF2B5EF4-FFF2-40B4-BE49-F238E27FC236}">
                <a16:creationId xmlns:a16="http://schemas.microsoft.com/office/drawing/2014/main" id="{96E62A9A-652D-EDD5-FD16-F354134A0436}"/>
              </a:ext>
            </a:extLst>
          </p:cNvPr>
          <p:cNvGrpSpPr>
            <a:grpSpLocks noChangeAspect="1"/>
          </p:cNvGrpSpPr>
          <p:nvPr/>
        </p:nvGrpSpPr>
        <p:grpSpPr>
          <a:xfrm>
            <a:off x="5563935" y="5028964"/>
            <a:ext cx="438912" cy="438912"/>
            <a:chOff x="2008163" y="2122216"/>
            <a:chExt cx="530226" cy="530226"/>
          </a:xfrm>
        </p:grpSpPr>
        <p:sp>
          <p:nvSpPr>
            <p:cNvPr id="203" name="Google Shape;1802;p69">
              <a:extLst>
                <a:ext uri="{FF2B5EF4-FFF2-40B4-BE49-F238E27FC236}">
                  <a16:creationId xmlns:a16="http://schemas.microsoft.com/office/drawing/2014/main" id="{71A4A924-0952-F3DE-1C4E-A0F34D5334DF}"/>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204" name="Google Shape;1803;p69">
              <a:extLst>
                <a:ext uri="{FF2B5EF4-FFF2-40B4-BE49-F238E27FC236}">
                  <a16:creationId xmlns:a16="http://schemas.microsoft.com/office/drawing/2014/main" id="{9C3EF85F-CE0A-BA14-9C39-877869981348}"/>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205" name="Group 204">
            <a:extLst>
              <a:ext uri="{FF2B5EF4-FFF2-40B4-BE49-F238E27FC236}">
                <a16:creationId xmlns:a16="http://schemas.microsoft.com/office/drawing/2014/main" id="{462F5D2B-551C-1D89-B3BA-00D1CC7E7CA3}"/>
              </a:ext>
            </a:extLst>
          </p:cNvPr>
          <p:cNvGrpSpPr>
            <a:grpSpLocks noChangeAspect="1"/>
          </p:cNvGrpSpPr>
          <p:nvPr/>
        </p:nvGrpSpPr>
        <p:grpSpPr>
          <a:xfrm>
            <a:off x="3724035" y="5028964"/>
            <a:ext cx="438912" cy="438912"/>
            <a:chOff x="2008163" y="2122216"/>
            <a:chExt cx="530226" cy="530226"/>
          </a:xfrm>
        </p:grpSpPr>
        <p:sp>
          <p:nvSpPr>
            <p:cNvPr id="206" name="Google Shape;1802;p69">
              <a:extLst>
                <a:ext uri="{FF2B5EF4-FFF2-40B4-BE49-F238E27FC236}">
                  <a16:creationId xmlns:a16="http://schemas.microsoft.com/office/drawing/2014/main" id="{F4CCAB45-A54F-7666-8F19-C706269BD8C5}"/>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207" name="Google Shape;1803;p69">
              <a:extLst>
                <a:ext uri="{FF2B5EF4-FFF2-40B4-BE49-F238E27FC236}">
                  <a16:creationId xmlns:a16="http://schemas.microsoft.com/office/drawing/2014/main" id="{1A5A779C-3227-3796-F99C-D46C04235EDD}"/>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208" name="Group 207">
            <a:extLst>
              <a:ext uri="{FF2B5EF4-FFF2-40B4-BE49-F238E27FC236}">
                <a16:creationId xmlns:a16="http://schemas.microsoft.com/office/drawing/2014/main" id="{E5F1CE6F-1090-E194-1810-13F044483171}"/>
              </a:ext>
            </a:extLst>
          </p:cNvPr>
          <p:cNvGrpSpPr>
            <a:grpSpLocks noChangeAspect="1"/>
          </p:cNvGrpSpPr>
          <p:nvPr/>
        </p:nvGrpSpPr>
        <p:grpSpPr>
          <a:xfrm>
            <a:off x="4813645" y="5028964"/>
            <a:ext cx="438912" cy="438912"/>
            <a:chOff x="2008163" y="2122216"/>
            <a:chExt cx="530226" cy="530226"/>
          </a:xfrm>
        </p:grpSpPr>
        <p:sp>
          <p:nvSpPr>
            <p:cNvPr id="209" name="Google Shape;1802;p69">
              <a:extLst>
                <a:ext uri="{FF2B5EF4-FFF2-40B4-BE49-F238E27FC236}">
                  <a16:creationId xmlns:a16="http://schemas.microsoft.com/office/drawing/2014/main" id="{9BC0A424-E5DD-40C2-BB78-02D9B113A82D}"/>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210" name="Google Shape;1803;p69">
              <a:extLst>
                <a:ext uri="{FF2B5EF4-FFF2-40B4-BE49-F238E27FC236}">
                  <a16:creationId xmlns:a16="http://schemas.microsoft.com/office/drawing/2014/main" id="{5AC3E1FE-5DE7-32F0-F733-73E9F20E9D83}"/>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sp>
        <p:nvSpPr>
          <p:cNvPr id="45" name="Round Same Side Corner Rectangle 44">
            <a:extLst>
              <a:ext uri="{FF2B5EF4-FFF2-40B4-BE49-F238E27FC236}">
                <a16:creationId xmlns:a16="http://schemas.microsoft.com/office/drawing/2014/main" id="{AED907DE-3A3D-3346-51E2-D0EFE3F0B3E8}"/>
              </a:ext>
            </a:extLst>
          </p:cNvPr>
          <p:cNvSpPr/>
          <p:nvPr/>
        </p:nvSpPr>
        <p:spPr bwMode="gray">
          <a:xfrm>
            <a:off x="3652064" y="3349641"/>
            <a:ext cx="1805909" cy="1185641"/>
          </a:xfrm>
          <a:custGeom>
            <a:avLst/>
            <a:gdLst>
              <a:gd name="connsiteX0" fmla="*/ 36327 w 1227097"/>
              <a:gd name="connsiteY0" fmla="*/ 0 h 928613"/>
              <a:gd name="connsiteX1" fmla="*/ 1190770 w 1227097"/>
              <a:gd name="connsiteY1" fmla="*/ 0 h 928613"/>
              <a:gd name="connsiteX2" fmla="*/ 1227097 w 1227097"/>
              <a:gd name="connsiteY2" fmla="*/ 36327 h 928613"/>
              <a:gd name="connsiteX3" fmla="*/ 1227097 w 1227097"/>
              <a:gd name="connsiteY3" fmla="*/ 928613 h 928613"/>
              <a:gd name="connsiteX4" fmla="*/ 1227097 w 1227097"/>
              <a:gd name="connsiteY4" fmla="*/ 928613 h 928613"/>
              <a:gd name="connsiteX5" fmla="*/ 0 w 1227097"/>
              <a:gd name="connsiteY5" fmla="*/ 928613 h 928613"/>
              <a:gd name="connsiteX6" fmla="*/ 0 w 1227097"/>
              <a:gd name="connsiteY6" fmla="*/ 928613 h 928613"/>
              <a:gd name="connsiteX7" fmla="*/ 0 w 1227097"/>
              <a:gd name="connsiteY7" fmla="*/ 36327 h 928613"/>
              <a:gd name="connsiteX8" fmla="*/ 36327 w 1227097"/>
              <a:gd name="connsiteY8" fmla="*/ 0 h 928613"/>
              <a:gd name="connsiteX0" fmla="*/ 36327 w 1227097"/>
              <a:gd name="connsiteY0" fmla="*/ 0 h 938089"/>
              <a:gd name="connsiteX1" fmla="*/ 1190770 w 1227097"/>
              <a:gd name="connsiteY1" fmla="*/ 0 h 938089"/>
              <a:gd name="connsiteX2" fmla="*/ 1227097 w 1227097"/>
              <a:gd name="connsiteY2" fmla="*/ 36327 h 938089"/>
              <a:gd name="connsiteX3" fmla="*/ 1227097 w 1227097"/>
              <a:gd name="connsiteY3" fmla="*/ 928613 h 938089"/>
              <a:gd name="connsiteX4" fmla="*/ 1227097 w 1227097"/>
              <a:gd name="connsiteY4" fmla="*/ 928613 h 938089"/>
              <a:gd name="connsiteX5" fmla="*/ 592228 w 1227097"/>
              <a:gd name="connsiteY5" fmla="*/ 938089 h 938089"/>
              <a:gd name="connsiteX6" fmla="*/ 0 w 1227097"/>
              <a:gd name="connsiteY6" fmla="*/ 928613 h 938089"/>
              <a:gd name="connsiteX7" fmla="*/ 0 w 1227097"/>
              <a:gd name="connsiteY7" fmla="*/ 928613 h 938089"/>
              <a:gd name="connsiteX8" fmla="*/ 0 w 1227097"/>
              <a:gd name="connsiteY8" fmla="*/ 36327 h 938089"/>
              <a:gd name="connsiteX9" fmla="*/ 36327 w 1227097"/>
              <a:gd name="connsiteY9" fmla="*/ 0 h 938089"/>
              <a:gd name="connsiteX0" fmla="*/ 592228 w 1227097"/>
              <a:gd name="connsiteY0" fmla="*/ 938089 h 1029529"/>
              <a:gd name="connsiteX1" fmla="*/ 0 w 1227097"/>
              <a:gd name="connsiteY1" fmla="*/ 928613 h 1029529"/>
              <a:gd name="connsiteX2" fmla="*/ 0 w 1227097"/>
              <a:gd name="connsiteY2" fmla="*/ 928613 h 1029529"/>
              <a:gd name="connsiteX3" fmla="*/ 0 w 1227097"/>
              <a:gd name="connsiteY3" fmla="*/ 36327 h 1029529"/>
              <a:gd name="connsiteX4" fmla="*/ 36327 w 1227097"/>
              <a:gd name="connsiteY4" fmla="*/ 0 h 1029529"/>
              <a:gd name="connsiteX5" fmla="*/ 1190770 w 1227097"/>
              <a:gd name="connsiteY5" fmla="*/ 0 h 1029529"/>
              <a:gd name="connsiteX6" fmla="*/ 1227097 w 1227097"/>
              <a:gd name="connsiteY6" fmla="*/ 36327 h 1029529"/>
              <a:gd name="connsiteX7" fmla="*/ 1227097 w 1227097"/>
              <a:gd name="connsiteY7" fmla="*/ 928613 h 1029529"/>
              <a:gd name="connsiteX8" fmla="*/ 1227097 w 1227097"/>
              <a:gd name="connsiteY8" fmla="*/ 928613 h 1029529"/>
              <a:gd name="connsiteX9" fmla="*/ 683668 w 1227097"/>
              <a:gd name="connsiteY9" fmla="*/ 1029529 h 1029529"/>
              <a:gd name="connsiteX0" fmla="*/ 592228 w 1227097"/>
              <a:gd name="connsiteY0" fmla="*/ 938089 h 938089"/>
              <a:gd name="connsiteX1" fmla="*/ 0 w 1227097"/>
              <a:gd name="connsiteY1" fmla="*/ 928613 h 938089"/>
              <a:gd name="connsiteX2" fmla="*/ 0 w 1227097"/>
              <a:gd name="connsiteY2" fmla="*/ 928613 h 938089"/>
              <a:gd name="connsiteX3" fmla="*/ 0 w 1227097"/>
              <a:gd name="connsiteY3" fmla="*/ 36327 h 938089"/>
              <a:gd name="connsiteX4" fmla="*/ 36327 w 1227097"/>
              <a:gd name="connsiteY4" fmla="*/ 0 h 938089"/>
              <a:gd name="connsiteX5" fmla="*/ 1190770 w 1227097"/>
              <a:gd name="connsiteY5" fmla="*/ 0 h 938089"/>
              <a:gd name="connsiteX6" fmla="*/ 1227097 w 1227097"/>
              <a:gd name="connsiteY6" fmla="*/ 36327 h 938089"/>
              <a:gd name="connsiteX7" fmla="*/ 1227097 w 1227097"/>
              <a:gd name="connsiteY7" fmla="*/ 928613 h 938089"/>
              <a:gd name="connsiteX8" fmla="*/ 1227097 w 1227097"/>
              <a:gd name="connsiteY8" fmla="*/ 928613 h 938089"/>
              <a:gd name="connsiteX0" fmla="*/ 0 w 1227097"/>
              <a:gd name="connsiteY0" fmla="*/ 928613 h 928613"/>
              <a:gd name="connsiteX1" fmla="*/ 0 w 1227097"/>
              <a:gd name="connsiteY1" fmla="*/ 928613 h 928613"/>
              <a:gd name="connsiteX2" fmla="*/ 0 w 1227097"/>
              <a:gd name="connsiteY2" fmla="*/ 36327 h 928613"/>
              <a:gd name="connsiteX3" fmla="*/ 36327 w 1227097"/>
              <a:gd name="connsiteY3" fmla="*/ 0 h 928613"/>
              <a:gd name="connsiteX4" fmla="*/ 1190770 w 1227097"/>
              <a:gd name="connsiteY4" fmla="*/ 0 h 928613"/>
              <a:gd name="connsiteX5" fmla="*/ 1227097 w 1227097"/>
              <a:gd name="connsiteY5" fmla="*/ 36327 h 928613"/>
              <a:gd name="connsiteX6" fmla="*/ 1227097 w 1227097"/>
              <a:gd name="connsiteY6" fmla="*/ 928613 h 928613"/>
              <a:gd name="connsiteX7" fmla="*/ 1227097 w 1227097"/>
              <a:gd name="connsiteY7" fmla="*/ 928613 h 92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7097" h="928613">
                <a:moveTo>
                  <a:pt x="0" y="928613"/>
                </a:moveTo>
                <a:lnTo>
                  <a:pt x="0" y="928613"/>
                </a:lnTo>
                <a:lnTo>
                  <a:pt x="0" y="36327"/>
                </a:lnTo>
                <a:cubicBezTo>
                  <a:pt x="0" y="16264"/>
                  <a:pt x="16264" y="0"/>
                  <a:pt x="36327" y="0"/>
                </a:cubicBezTo>
                <a:lnTo>
                  <a:pt x="1190770" y="0"/>
                </a:lnTo>
                <a:cubicBezTo>
                  <a:pt x="1210833" y="0"/>
                  <a:pt x="1227097" y="16264"/>
                  <a:pt x="1227097" y="36327"/>
                </a:cubicBezTo>
                <a:lnTo>
                  <a:pt x="1227097" y="928613"/>
                </a:lnTo>
                <a:lnTo>
                  <a:pt x="1227097" y="928613"/>
                </a:lnTo>
              </a:path>
            </a:pathLst>
          </a:custGeom>
          <a:noFill/>
          <a:ln w="38100">
            <a:solidFill>
              <a:schemeClr val="accent5"/>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6" name="Round Same Side Corner Rectangle 44">
            <a:extLst>
              <a:ext uri="{FF2B5EF4-FFF2-40B4-BE49-F238E27FC236}">
                <a16:creationId xmlns:a16="http://schemas.microsoft.com/office/drawing/2014/main" id="{49F295E7-209D-23AF-4268-F5937B5D39F7}"/>
              </a:ext>
            </a:extLst>
          </p:cNvPr>
          <p:cNvSpPr/>
          <p:nvPr/>
        </p:nvSpPr>
        <p:spPr bwMode="gray">
          <a:xfrm>
            <a:off x="1719032" y="3349641"/>
            <a:ext cx="1805909" cy="1516104"/>
          </a:xfrm>
          <a:custGeom>
            <a:avLst/>
            <a:gdLst>
              <a:gd name="connsiteX0" fmla="*/ 36327 w 1227097"/>
              <a:gd name="connsiteY0" fmla="*/ 0 h 928613"/>
              <a:gd name="connsiteX1" fmla="*/ 1190770 w 1227097"/>
              <a:gd name="connsiteY1" fmla="*/ 0 h 928613"/>
              <a:gd name="connsiteX2" fmla="*/ 1227097 w 1227097"/>
              <a:gd name="connsiteY2" fmla="*/ 36327 h 928613"/>
              <a:gd name="connsiteX3" fmla="*/ 1227097 w 1227097"/>
              <a:gd name="connsiteY3" fmla="*/ 928613 h 928613"/>
              <a:gd name="connsiteX4" fmla="*/ 1227097 w 1227097"/>
              <a:gd name="connsiteY4" fmla="*/ 928613 h 928613"/>
              <a:gd name="connsiteX5" fmla="*/ 0 w 1227097"/>
              <a:gd name="connsiteY5" fmla="*/ 928613 h 928613"/>
              <a:gd name="connsiteX6" fmla="*/ 0 w 1227097"/>
              <a:gd name="connsiteY6" fmla="*/ 928613 h 928613"/>
              <a:gd name="connsiteX7" fmla="*/ 0 w 1227097"/>
              <a:gd name="connsiteY7" fmla="*/ 36327 h 928613"/>
              <a:gd name="connsiteX8" fmla="*/ 36327 w 1227097"/>
              <a:gd name="connsiteY8" fmla="*/ 0 h 928613"/>
              <a:gd name="connsiteX0" fmla="*/ 36327 w 1227097"/>
              <a:gd name="connsiteY0" fmla="*/ 0 h 938089"/>
              <a:gd name="connsiteX1" fmla="*/ 1190770 w 1227097"/>
              <a:gd name="connsiteY1" fmla="*/ 0 h 938089"/>
              <a:gd name="connsiteX2" fmla="*/ 1227097 w 1227097"/>
              <a:gd name="connsiteY2" fmla="*/ 36327 h 938089"/>
              <a:gd name="connsiteX3" fmla="*/ 1227097 w 1227097"/>
              <a:gd name="connsiteY3" fmla="*/ 928613 h 938089"/>
              <a:gd name="connsiteX4" fmla="*/ 1227097 w 1227097"/>
              <a:gd name="connsiteY4" fmla="*/ 928613 h 938089"/>
              <a:gd name="connsiteX5" fmla="*/ 592228 w 1227097"/>
              <a:gd name="connsiteY5" fmla="*/ 938089 h 938089"/>
              <a:gd name="connsiteX6" fmla="*/ 0 w 1227097"/>
              <a:gd name="connsiteY6" fmla="*/ 928613 h 938089"/>
              <a:gd name="connsiteX7" fmla="*/ 0 w 1227097"/>
              <a:gd name="connsiteY7" fmla="*/ 928613 h 938089"/>
              <a:gd name="connsiteX8" fmla="*/ 0 w 1227097"/>
              <a:gd name="connsiteY8" fmla="*/ 36327 h 938089"/>
              <a:gd name="connsiteX9" fmla="*/ 36327 w 1227097"/>
              <a:gd name="connsiteY9" fmla="*/ 0 h 938089"/>
              <a:gd name="connsiteX0" fmla="*/ 592228 w 1227097"/>
              <a:gd name="connsiteY0" fmla="*/ 938089 h 1029529"/>
              <a:gd name="connsiteX1" fmla="*/ 0 w 1227097"/>
              <a:gd name="connsiteY1" fmla="*/ 928613 h 1029529"/>
              <a:gd name="connsiteX2" fmla="*/ 0 w 1227097"/>
              <a:gd name="connsiteY2" fmla="*/ 928613 h 1029529"/>
              <a:gd name="connsiteX3" fmla="*/ 0 w 1227097"/>
              <a:gd name="connsiteY3" fmla="*/ 36327 h 1029529"/>
              <a:gd name="connsiteX4" fmla="*/ 36327 w 1227097"/>
              <a:gd name="connsiteY4" fmla="*/ 0 h 1029529"/>
              <a:gd name="connsiteX5" fmla="*/ 1190770 w 1227097"/>
              <a:gd name="connsiteY5" fmla="*/ 0 h 1029529"/>
              <a:gd name="connsiteX6" fmla="*/ 1227097 w 1227097"/>
              <a:gd name="connsiteY6" fmla="*/ 36327 h 1029529"/>
              <a:gd name="connsiteX7" fmla="*/ 1227097 w 1227097"/>
              <a:gd name="connsiteY7" fmla="*/ 928613 h 1029529"/>
              <a:gd name="connsiteX8" fmla="*/ 1227097 w 1227097"/>
              <a:gd name="connsiteY8" fmla="*/ 928613 h 1029529"/>
              <a:gd name="connsiteX9" fmla="*/ 683668 w 1227097"/>
              <a:gd name="connsiteY9" fmla="*/ 1029529 h 1029529"/>
              <a:gd name="connsiteX0" fmla="*/ 592228 w 1227097"/>
              <a:gd name="connsiteY0" fmla="*/ 938089 h 938089"/>
              <a:gd name="connsiteX1" fmla="*/ 0 w 1227097"/>
              <a:gd name="connsiteY1" fmla="*/ 928613 h 938089"/>
              <a:gd name="connsiteX2" fmla="*/ 0 w 1227097"/>
              <a:gd name="connsiteY2" fmla="*/ 928613 h 938089"/>
              <a:gd name="connsiteX3" fmla="*/ 0 w 1227097"/>
              <a:gd name="connsiteY3" fmla="*/ 36327 h 938089"/>
              <a:gd name="connsiteX4" fmla="*/ 36327 w 1227097"/>
              <a:gd name="connsiteY4" fmla="*/ 0 h 938089"/>
              <a:gd name="connsiteX5" fmla="*/ 1190770 w 1227097"/>
              <a:gd name="connsiteY5" fmla="*/ 0 h 938089"/>
              <a:gd name="connsiteX6" fmla="*/ 1227097 w 1227097"/>
              <a:gd name="connsiteY6" fmla="*/ 36327 h 938089"/>
              <a:gd name="connsiteX7" fmla="*/ 1227097 w 1227097"/>
              <a:gd name="connsiteY7" fmla="*/ 928613 h 938089"/>
              <a:gd name="connsiteX8" fmla="*/ 1227097 w 1227097"/>
              <a:gd name="connsiteY8" fmla="*/ 928613 h 938089"/>
              <a:gd name="connsiteX0" fmla="*/ 0 w 1227097"/>
              <a:gd name="connsiteY0" fmla="*/ 928613 h 928613"/>
              <a:gd name="connsiteX1" fmla="*/ 0 w 1227097"/>
              <a:gd name="connsiteY1" fmla="*/ 928613 h 928613"/>
              <a:gd name="connsiteX2" fmla="*/ 0 w 1227097"/>
              <a:gd name="connsiteY2" fmla="*/ 36327 h 928613"/>
              <a:gd name="connsiteX3" fmla="*/ 36327 w 1227097"/>
              <a:gd name="connsiteY3" fmla="*/ 0 h 928613"/>
              <a:gd name="connsiteX4" fmla="*/ 1190770 w 1227097"/>
              <a:gd name="connsiteY4" fmla="*/ 0 h 928613"/>
              <a:gd name="connsiteX5" fmla="*/ 1227097 w 1227097"/>
              <a:gd name="connsiteY5" fmla="*/ 36327 h 928613"/>
              <a:gd name="connsiteX6" fmla="*/ 1227097 w 1227097"/>
              <a:gd name="connsiteY6" fmla="*/ 928613 h 928613"/>
              <a:gd name="connsiteX7" fmla="*/ 1227097 w 1227097"/>
              <a:gd name="connsiteY7" fmla="*/ 928613 h 92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7097" h="928613">
                <a:moveTo>
                  <a:pt x="0" y="928613"/>
                </a:moveTo>
                <a:lnTo>
                  <a:pt x="0" y="928613"/>
                </a:lnTo>
                <a:lnTo>
                  <a:pt x="0" y="36327"/>
                </a:lnTo>
                <a:cubicBezTo>
                  <a:pt x="0" y="16264"/>
                  <a:pt x="16264" y="0"/>
                  <a:pt x="36327" y="0"/>
                </a:cubicBezTo>
                <a:lnTo>
                  <a:pt x="1190770" y="0"/>
                </a:lnTo>
                <a:cubicBezTo>
                  <a:pt x="1210833" y="0"/>
                  <a:pt x="1227097" y="16264"/>
                  <a:pt x="1227097" y="36327"/>
                </a:cubicBezTo>
                <a:lnTo>
                  <a:pt x="1227097" y="928613"/>
                </a:lnTo>
                <a:lnTo>
                  <a:pt x="1227097" y="928613"/>
                </a:lnTo>
              </a:path>
            </a:pathLst>
          </a:custGeom>
          <a:noFill/>
          <a:ln w="38100">
            <a:solidFill>
              <a:schemeClr val="accent3"/>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7" name="Round Same Side Corner Rectangle 44">
            <a:extLst>
              <a:ext uri="{FF2B5EF4-FFF2-40B4-BE49-F238E27FC236}">
                <a16:creationId xmlns:a16="http://schemas.microsoft.com/office/drawing/2014/main" id="{7B843D45-8301-1ADF-58A1-EC161DB0F2D0}"/>
              </a:ext>
            </a:extLst>
          </p:cNvPr>
          <p:cNvSpPr/>
          <p:nvPr/>
        </p:nvSpPr>
        <p:spPr bwMode="gray">
          <a:xfrm>
            <a:off x="1851691" y="3429000"/>
            <a:ext cx="3459410" cy="1266183"/>
          </a:xfrm>
          <a:custGeom>
            <a:avLst/>
            <a:gdLst>
              <a:gd name="connsiteX0" fmla="*/ 36327 w 1227097"/>
              <a:gd name="connsiteY0" fmla="*/ 0 h 928613"/>
              <a:gd name="connsiteX1" fmla="*/ 1190770 w 1227097"/>
              <a:gd name="connsiteY1" fmla="*/ 0 h 928613"/>
              <a:gd name="connsiteX2" fmla="*/ 1227097 w 1227097"/>
              <a:gd name="connsiteY2" fmla="*/ 36327 h 928613"/>
              <a:gd name="connsiteX3" fmla="*/ 1227097 w 1227097"/>
              <a:gd name="connsiteY3" fmla="*/ 928613 h 928613"/>
              <a:gd name="connsiteX4" fmla="*/ 1227097 w 1227097"/>
              <a:gd name="connsiteY4" fmla="*/ 928613 h 928613"/>
              <a:gd name="connsiteX5" fmla="*/ 0 w 1227097"/>
              <a:gd name="connsiteY5" fmla="*/ 928613 h 928613"/>
              <a:gd name="connsiteX6" fmla="*/ 0 w 1227097"/>
              <a:gd name="connsiteY6" fmla="*/ 928613 h 928613"/>
              <a:gd name="connsiteX7" fmla="*/ 0 w 1227097"/>
              <a:gd name="connsiteY7" fmla="*/ 36327 h 928613"/>
              <a:gd name="connsiteX8" fmla="*/ 36327 w 1227097"/>
              <a:gd name="connsiteY8" fmla="*/ 0 h 928613"/>
              <a:gd name="connsiteX0" fmla="*/ 36327 w 1227097"/>
              <a:gd name="connsiteY0" fmla="*/ 0 h 938089"/>
              <a:gd name="connsiteX1" fmla="*/ 1190770 w 1227097"/>
              <a:gd name="connsiteY1" fmla="*/ 0 h 938089"/>
              <a:gd name="connsiteX2" fmla="*/ 1227097 w 1227097"/>
              <a:gd name="connsiteY2" fmla="*/ 36327 h 938089"/>
              <a:gd name="connsiteX3" fmla="*/ 1227097 w 1227097"/>
              <a:gd name="connsiteY3" fmla="*/ 928613 h 938089"/>
              <a:gd name="connsiteX4" fmla="*/ 1227097 w 1227097"/>
              <a:gd name="connsiteY4" fmla="*/ 928613 h 938089"/>
              <a:gd name="connsiteX5" fmla="*/ 592228 w 1227097"/>
              <a:gd name="connsiteY5" fmla="*/ 938089 h 938089"/>
              <a:gd name="connsiteX6" fmla="*/ 0 w 1227097"/>
              <a:gd name="connsiteY6" fmla="*/ 928613 h 938089"/>
              <a:gd name="connsiteX7" fmla="*/ 0 w 1227097"/>
              <a:gd name="connsiteY7" fmla="*/ 928613 h 938089"/>
              <a:gd name="connsiteX8" fmla="*/ 0 w 1227097"/>
              <a:gd name="connsiteY8" fmla="*/ 36327 h 938089"/>
              <a:gd name="connsiteX9" fmla="*/ 36327 w 1227097"/>
              <a:gd name="connsiteY9" fmla="*/ 0 h 938089"/>
              <a:gd name="connsiteX0" fmla="*/ 592228 w 1227097"/>
              <a:gd name="connsiteY0" fmla="*/ 938089 h 1029529"/>
              <a:gd name="connsiteX1" fmla="*/ 0 w 1227097"/>
              <a:gd name="connsiteY1" fmla="*/ 928613 h 1029529"/>
              <a:gd name="connsiteX2" fmla="*/ 0 w 1227097"/>
              <a:gd name="connsiteY2" fmla="*/ 928613 h 1029529"/>
              <a:gd name="connsiteX3" fmla="*/ 0 w 1227097"/>
              <a:gd name="connsiteY3" fmla="*/ 36327 h 1029529"/>
              <a:gd name="connsiteX4" fmla="*/ 36327 w 1227097"/>
              <a:gd name="connsiteY4" fmla="*/ 0 h 1029529"/>
              <a:gd name="connsiteX5" fmla="*/ 1190770 w 1227097"/>
              <a:gd name="connsiteY5" fmla="*/ 0 h 1029529"/>
              <a:gd name="connsiteX6" fmla="*/ 1227097 w 1227097"/>
              <a:gd name="connsiteY6" fmla="*/ 36327 h 1029529"/>
              <a:gd name="connsiteX7" fmla="*/ 1227097 w 1227097"/>
              <a:gd name="connsiteY7" fmla="*/ 928613 h 1029529"/>
              <a:gd name="connsiteX8" fmla="*/ 1227097 w 1227097"/>
              <a:gd name="connsiteY8" fmla="*/ 928613 h 1029529"/>
              <a:gd name="connsiteX9" fmla="*/ 683668 w 1227097"/>
              <a:gd name="connsiteY9" fmla="*/ 1029529 h 1029529"/>
              <a:gd name="connsiteX0" fmla="*/ 592228 w 1227097"/>
              <a:gd name="connsiteY0" fmla="*/ 938089 h 938089"/>
              <a:gd name="connsiteX1" fmla="*/ 0 w 1227097"/>
              <a:gd name="connsiteY1" fmla="*/ 928613 h 938089"/>
              <a:gd name="connsiteX2" fmla="*/ 0 w 1227097"/>
              <a:gd name="connsiteY2" fmla="*/ 928613 h 938089"/>
              <a:gd name="connsiteX3" fmla="*/ 0 w 1227097"/>
              <a:gd name="connsiteY3" fmla="*/ 36327 h 938089"/>
              <a:gd name="connsiteX4" fmla="*/ 36327 w 1227097"/>
              <a:gd name="connsiteY4" fmla="*/ 0 h 938089"/>
              <a:gd name="connsiteX5" fmla="*/ 1190770 w 1227097"/>
              <a:gd name="connsiteY5" fmla="*/ 0 h 938089"/>
              <a:gd name="connsiteX6" fmla="*/ 1227097 w 1227097"/>
              <a:gd name="connsiteY6" fmla="*/ 36327 h 938089"/>
              <a:gd name="connsiteX7" fmla="*/ 1227097 w 1227097"/>
              <a:gd name="connsiteY7" fmla="*/ 928613 h 938089"/>
              <a:gd name="connsiteX8" fmla="*/ 1227097 w 1227097"/>
              <a:gd name="connsiteY8" fmla="*/ 928613 h 938089"/>
              <a:gd name="connsiteX0" fmla="*/ 0 w 1227097"/>
              <a:gd name="connsiteY0" fmla="*/ 928613 h 928613"/>
              <a:gd name="connsiteX1" fmla="*/ 0 w 1227097"/>
              <a:gd name="connsiteY1" fmla="*/ 928613 h 928613"/>
              <a:gd name="connsiteX2" fmla="*/ 0 w 1227097"/>
              <a:gd name="connsiteY2" fmla="*/ 36327 h 928613"/>
              <a:gd name="connsiteX3" fmla="*/ 36327 w 1227097"/>
              <a:gd name="connsiteY3" fmla="*/ 0 h 928613"/>
              <a:gd name="connsiteX4" fmla="*/ 1190770 w 1227097"/>
              <a:gd name="connsiteY4" fmla="*/ 0 h 928613"/>
              <a:gd name="connsiteX5" fmla="*/ 1227097 w 1227097"/>
              <a:gd name="connsiteY5" fmla="*/ 36327 h 928613"/>
              <a:gd name="connsiteX6" fmla="*/ 1227097 w 1227097"/>
              <a:gd name="connsiteY6" fmla="*/ 928613 h 928613"/>
              <a:gd name="connsiteX7" fmla="*/ 1227097 w 1227097"/>
              <a:gd name="connsiteY7" fmla="*/ 928613 h 92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7097" h="928613">
                <a:moveTo>
                  <a:pt x="0" y="928613"/>
                </a:moveTo>
                <a:lnTo>
                  <a:pt x="0" y="928613"/>
                </a:lnTo>
                <a:lnTo>
                  <a:pt x="0" y="36327"/>
                </a:lnTo>
                <a:cubicBezTo>
                  <a:pt x="0" y="16264"/>
                  <a:pt x="16264" y="0"/>
                  <a:pt x="36327" y="0"/>
                </a:cubicBezTo>
                <a:lnTo>
                  <a:pt x="1190770" y="0"/>
                </a:lnTo>
                <a:cubicBezTo>
                  <a:pt x="1210833" y="0"/>
                  <a:pt x="1227097" y="16264"/>
                  <a:pt x="1227097" y="36327"/>
                </a:cubicBezTo>
                <a:lnTo>
                  <a:pt x="1227097" y="928613"/>
                </a:lnTo>
                <a:lnTo>
                  <a:pt x="1227097" y="928613"/>
                </a:lnTo>
              </a:path>
            </a:pathLst>
          </a:custGeom>
          <a:noFill/>
          <a:ln w="38100">
            <a:solidFill>
              <a:schemeClr val="accent4"/>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25" name="Group 24">
            <a:extLst>
              <a:ext uri="{FF2B5EF4-FFF2-40B4-BE49-F238E27FC236}">
                <a16:creationId xmlns:a16="http://schemas.microsoft.com/office/drawing/2014/main" id="{84A395BA-245B-4F32-99B0-0244DC4CFE3B}"/>
              </a:ext>
            </a:extLst>
          </p:cNvPr>
          <p:cNvGrpSpPr/>
          <p:nvPr/>
        </p:nvGrpSpPr>
        <p:grpSpPr>
          <a:xfrm>
            <a:off x="1271196" y="1951839"/>
            <a:ext cx="4477219" cy="457200"/>
            <a:chOff x="939060" y="1951839"/>
            <a:chExt cx="4477219" cy="457200"/>
          </a:xfrm>
        </p:grpSpPr>
        <p:grpSp>
          <p:nvGrpSpPr>
            <p:cNvPr id="44" name="Group 43">
              <a:extLst>
                <a:ext uri="{FF2B5EF4-FFF2-40B4-BE49-F238E27FC236}">
                  <a16:creationId xmlns:a16="http://schemas.microsoft.com/office/drawing/2014/main" id="{948E3CDF-DBED-5EE6-0B37-301EF3CE4D7D}"/>
                </a:ext>
              </a:extLst>
            </p:cNvPr>
            <p:cNvGrpSpPr>
              <a:grpSpLocks noChangeAspect="1"/>
            </p:cNvGrpSpPr>
            <p:nvPr/>
          </p:nvGrpSpPr>
          <p:grpSpPr>
            <a:xfrm>
              <a:off x="2547066" y="1951839"/>
              <a:ext cx="457202" cy="457200"/>
              <a:chOff x="7498117" y="3244694"/>
              <a:chExt cx="615026" cy="615024"/>
            </a:xfrm>
          </p:grpSpPr>
          <p:sp>
            <p:nvSpPr>
              <p:cNvPr id="74" name="Oval 73">
                <a:extLst>
                  <a:ext uri="{FF2B5EF4-FFF2-40B4-BE49-F238E27FC236}">
                    <a16:creationId xmlns:a16="http://schemas.microsoft.com/office/drawing/2014/main" id="{32403B78-AF51-22FA-F49F-2DD8DFE7386C}"/>
                  </a:ext>
                </a:extLst>
              </p:cNvPr>
              <p:cNvSpPr>
                <a:spLocks noChangeAspect="1"/>
              </p:cNvSpPr>
              <p:nvPr/>
            </p:nvSpPr>
            <p:spPr>
              <a:xfrm>
                <a:off x="7498117" y="3244694"/>
                <a:ext cx="615026" cy="615024"/>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5" name="Graphic 62">
                <a:extLst>
                  <a:ext uri="{FF2B5EF4-FFF2-40B4-BE49-F238E27FC236}">
                    <a16:creationId xmlns:a16="http://schemas.microsoft.com/office/drawing/2014/main" id="{DF2A68E8-46AA-76E4-4884-ADD452EBF284}"/>
                  </a:ext>
                </a:extLst>
              </p:cNvPr>
              <p:cNvSpPr/>
              <p:nvPr/>
            </p:nvSpPr>
            <p:spPr>
              <a:xfrm>
                <a:off x="7601547" y="3369194"/>
                <a:ext cx="366027" cy="366026"/>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48" name="Group 47">
              <a:extLst>
                <a:ext uri="{FF2B5EF4-FFF2-40B4-BE49-F238E27FC236}">
                  <a16:creationId xmlns:a16="http://schemas.microsoft.com/office/drawing/2014/main" id="{F8453336-50AB-DFCE-CDBD-29FE69E465AF}"/>
                </a:ext>
              </a:extLst>
            </p:cNvPr>
            <p:cNvGrpSpPr>
              <a:grpSpLocks noChangeAspect="1"/>
            </p:cNvGrpSpPr>
            <p:nvPr/>
          </p:nvGrpSpPr>
          <p:grpSpPr>
            <a:xfrm>
              <a:off x="1743062" y="1951839"/>
              <a:ext cx="457202" cy="457200"/>
              <a:chOff x="6236527" y="4282407"/>
              <a:chExt cx="615026" cy="615024"/>
            </a:xfrm>
          </p:grpSpPr>
          <p:sp>
            <p:nvSpPr>
              <p:cNvPr id="70" name="Oval 69">
                <a:extLst>
                  <a:ext uri="{FF2B5EF4-FFF2-40B4-BE49-F238E27FC236}">
                    <a16:creationId xmlns:a16="http://schemas.microsoft.com/office/drawing/2014/main" id="{E6F43D4E-35A6-5533-6C28-A6C8C25FFFF3}"/>
                  </a:ext>
                </a:extLst>
              </p:cNvPr>
              <p:cNvSpPr>
                <a:spLocks noChangeAspect="1"/>
              </p:cNvSpPr>
              <p:nvPr/>
            </p:nvSpPr>
            <p:spPr>
              <a:xfrm>
                <a:off x="6236527" y="4282407"/>
                <a:ext cx="615026" cy="615024"/>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71" name="Group 70">
                <a:extLst>
                  <a:ext uri="{FF2B5EF4-FFF2-40B4-BE49-F238E27FC236}">
                    <a16:creationId xmlns:a16="http://schemas.microsoft.com/office/drawing/2014/main" id="{448F7357-1AB1-DF31-3ABF-C80D1805F780}"/>
                  </a:ext>
                </a:extLst>
              </p:cNvPr>
              <p:cNvGrpSpPr/>
              <p:nvPr/>
            </p:nvGrpSpPr>
            <p:grpSpPr>
              <a:xfrm>
                <a:off x="6341349" y="4462363"/>
                <a:ext cx="395473" cy="299841"/>
                <a:chOff x="3560655" y="2748581"/>
                <a:chExt cx="580548" cy="440165"/>
              </a:xfrm>
            </p:grpSpPr>
            <p:sp>
              <p:nvSpPr>
                <p:cNvPr id="72" name="Freeform: Shape 155">
                  <a:extLst>
                    <a:ext uri="{FF2B5EF4-FFF2-40B4-BE49-F238E27FC236}">
                      <a16:creationId xmlns:a16="http://schemas.microsoft.com/office/drawing/2014/main" id="{9E7E6829-7FE6-F3E6-5074-7A5F70BA0B24}"/>
                    </a:ext>
                  </a:extLst>
                </p:cNvPr>
                <p:cNvSpPr/>
                <p:nvPr/>
              </p:nvSpPr>
              <p:spPr>
                <a:xfrm>
                  <a:off x="3560655" y="2748581"/>
                  <a:ext cx="580548" cy="336411"/>
                </a:xfrm>
                <a:custGeom>
                  <a:avLst/>
                  <a:gdLst>
                    <a:gd name="connsiteX0" fmla="*/ 284140 w 580548"/>
                    <a:gd name="connsiteY0" fmla="*/ 305741 h 336411"/>
                    <a:gd name="connsiteX1" fmla="*/ 134381 w 580548"/>
                    <a:gd name="connsiteY1" fmla="*/ 305741 h 336411"/>
                    <a:gd name="connsiteX2" fmla="*/ 134381 w 580548"/>
                    <a:gd name="connsiteY2" fmla="*/ 234498 h 336411"/>
                    <a:gd name="connsiteX3" fmla="*/ 290450 w 580548"/>
                    <a:gd name="connsiteY3" fmla="*/ 234498 h 336411"/>
                    <a:gd name="connsiteX4" fmla="*/ 290450 w 580548"/>
                    <a:gd name="connsiteY4" fmla="*/ 292597 h 336411"/>
                    <a:gd name="connsiteX5" fmla="*/ 316739 w 580548"/>
                    <a:gd name="connsiteY5" fmla="*/ 238660 h 336411"/>
                    <a:gd name="connsiteX6" fmla="*/ 316739 w 580548"/>
                    <a:gd name="connsiteY6" fmla="*/ 234498 h 336411"/>
                    <a:gd name="connsiteX7" fmla="*/ 318754 w 580548"/>
                    <a:gd name="connsiteY7" fmla="*/ 234498 h 336411"/>
                    <a:gd name="connsiteX8" fmla="*/ 333695 w 580548"/>
                    <a:gd name="connsiteY8" fmla="*/ 203827 h 336411"/>
                    <a:gd name="connsiteX9" fmla="*/ 258421 w 580548"/>
                    <a:gd name="connsiteY9" fmla="*/ 203827 h 336411"/>
                    <a:gd name="connsiteX10" fmla="*/ 258421 w 580548"/>
                    <a:gd name="connsiteY10" fmla="*/ 132584 h 336411"/>
                    <a:gd name="connsiteX11" fmla="*/ 414490 w 580548"/>
                    <a:gd name="connsiteY11" fmla="*/ 132584 h 336411"/>
                    <a:gd name="connsiteX12" fmla="*/ 414490 w 580548"/>
                    <a:gd name="connsiteY12" fmla="*/ 192479 h 336411"/>
                    <a:gd name="connsiteX13" fmla="*/ 440779 w 580548"/>
                    <a:gd name="connsiteY13" fmla="*/ 137973 h 336411"/>
                    <a:gd name="connsiteX14" fmla="*/ 440779 w 580548"/>
                    <a:gd name="connsiteY14" fmla="*/ 132584 h 336411"/>
                    <a:gd name="connsiteX15" fmla="*/ 443364 w 580548"/>
                    <a:gd name="connsiteY15" fmla="*/ 132584 h 336411"/>
                    <a:gd name="connsiteX16" fmla="*/ 458173 w 580548"/>
                    <a:gd name="connsiteY16" fmla="*/ 101914 h 336411"/>
                    <a:gd name="connsiteX17" fmla="*/ 351528 w 580548"/>
                    <a:gd name="connsiteY17" fmla="*/ 101914 h 336411"/>
                    <a:gd name="connsiteX18" fmla="*/ 351528 w 580548"/>
                    <a:gd name="connsiteY18" fmla="*/ 30671 h 336411"/>
                    <a:gd name="connsiteX19" fmla="*/ 507597 w 580548"/>
                    <a:gd name="connsiteY19" fmla="*/ 30671 h 336411"/>
                    <a:gd name="connsiteX20" fmla="*/ 507597 w 580548"/>
                    <a:gd name="connsiteY20" fmla="*/ 101914 h 336411"/>
                    <a:gd name="connsiteX21" fmla="*/ 496643 w 580548"/>
                    <a:gd name="connsiteY21" fmla="*/ 101914 h 336411"/>
                    <a:gd name="connsiteX22" fmla="*/ 506063 w 580548"/>
                    <a:gd name="connsiteY22" fmla="*/ 121324 h 336411"/>
                    <a:gd name="connsiteX23" fmla="*/ 511540 w 580548"/>
                    <a:gd name="connsiteY23" fmla="*/ 132584 h 336411"/>
                    <a:gd name="connsiteX24" fmla="*/ 549834 w 580548"/>
                    <a:gd name="connsiteY24" fmla="*/ 132584 h 336411"/>
                    <a:gd name="connsiteX25" fmla="*/ 549834 w 580548"/>
                    <a:gd name="connsiteY25" fmla="*/ 203827 h 336411"/>
                    <a:gd name="connsiteX26" fmla="*/ 546154 w 580548"/>
                    <a:gd name="connsiteY26" fmla="*/ 203827 h 336411"/>
                    <a:gd name="connsiteX27" fmla="*/ 574984 w 580548"/>
                    <a:gd name="connsiteY27" fmla="*/ 262759 h 336411"/>
                    <a:gd name="connsiteX28" fmla="*/ 580549 w 580548"/>
                    <a:gd name="connsiteY28" fmla="*/ 274326 h 336411"/>
                    <a:gd name="connsiteX29" fmla="*/ 580549 w 580548"/>
                    <a:gd name="connsiteY29" fmla="*/ 0 h 336411"/>
                    <a:gd name="connsiteX30" fmla="*/ 0 w 580548"/>
                    <a:gd name="connsiteY30" fmla="*/ 0 h 336411"/>
                    <a:gd name="connsiteX31" fmla="*/ 0 w 580548"/>
                    <a:gd name="connsiteY31" fmla="*/ 336412 h 336411"/>
                    <a:gd name="connsiteX32" fmla="*/ 275509 w 580548"/>
                    <a:gd name="connsiteY32" fmla="*/ 336412 h 336411"/>
                    <a:gd name="connsiteX33" fmla="*/ 284140 w 580548"/>
                    <a:gd name="connsiteY33" fmla="*/ 305741 h 336411"/>
                    <a:gd name="connsiteX34" fmla="*/ 533886 w 580548"/>
                    <a:gd name="connsiteY34" fmla="*/ 30671 h 336411"/>
                    <a:gd name="connsiteX35" fmla="*/ 549834 w 580548"/>
                    <a:gd name="connsiteY35" fmla="*/ 30671 h 336411"/>
                    <a:gd name="connsiteX36" fmla="*/ 549834 w 580548"/>
                    <a:gd name="connsiteY36" fmla="*/ 101914 h 336411"/>
                    <a:gd name="connsiteX37" fmla="*/ 533886 w 580548"/>
                    <a:gd name="connsiteY37" fmla="*/ 101914 h 336411"/>
                    <a:gd name="connsiteX38" fmla="*/ 533886 w 580548"/>
                    <a:gd name="connsiteY38" fmla="*/ 30671 h 336411"/>
                    <a:gd name="connsiteX39" fmla="*/ 232132 w 580548"/>
                    <a:gd name="connsiteY39" fmla="*/ 203827 h 336411"/>
                    <a:gd name="connsiteX40" fmla="*/ 76063 w 580548"/>
                    <a:gd name="connsiteY40" fmla="*/ 203827 h 336411"/>
                    <a:gd name="connsiteX41" fmla="*/ 76063 w 580548"/>
                    <a:gd name="connsiteY41" fmla="*/ 132584 h 336411"/>
                    <a:gd name="connsiteX42" fmla="*/ 232132 w 580548"/>
                    <a:gd name="connsiteY42" fmla="*/ 132584 h 336411"/>
                    <a:gd name="connsiteX43" fmla="*/ 232132 w 580548"/>
                    <a:gd name="connsiteY43" fmla="*/ 203827 h 336411"/>
                    <a:gd name="connsiteX44" fmla="*/ 169170 w 580548"/>
                    <a:gd name="connsiteY44" fmla="*/ 30671 h 336411"/>
                    <a:gd name="connsiteX45" fmla="*/ 325239 w 580548"/>
                    <a:gd name="connsiteY45" fmla="*/ 30671 h 336411"/>
                    <a:gd name="connsiteX46" fmla="*/ 325239 w 580548"/>
                    <a:gd name="connsiteY46" fmla="*/ 101914 h 336411"/>
                    <a:gd name="connsiteX47" fmla="*/ 169170 w 580548"/>
                    <a:gd name="connsiteY47" fmla="*/ 101914 h 336411"/>
                    <a:gd name="connsiteX48" fmla="*/ 169170 w 580548"/>
                    <a:gd name="connsiteY48" fmla="*/ 30671 h 336411"/>
                    <a:gd name="connsiteX49" fmla="*/ 30671 w 580548"/>
                    <a:gd name="connsiteY49" fmla="*/ 30671 h 336411"/>
                    <a:gd name="connsiteX50" fmla="*/ 142881 w 580548"/>
                    <a:gd name="connsiteY50" fmla="*/ 30671 h 336411"/>
                    <a:gd name="connsiteX51" fmla="*/ 142881 w 580548"/>
                    <a:gd name="connsiteY51" fmla="*/ 101914 h 336411"/>
                    <a:gd name="connsiteX52" fmla="*/ 30671 w 580548"/>
                    <a:gd name="connsiteY52" fmla="*/ 101914 h 336411"/>
                    <a:gd name="connsiteX53" fmla="*/ 30671 w 580548"/>
                    <a:gd name="connsiteY53" fmla="*/ 30671 h 336411"/>
                    <a:gd name="connsiteX54" fmla="*/ 30671 w 580548"/>
                    <a:gd name="connsiteY54" fmla="*/ 132584 h 336411"/>
                    <a:gd name="connsiteX55" fmla="*/ 49774 w 580548"/>
                    <a:gd name="connsiteY55" fmla="*/ 132584 h 336411"/>
                    <a:gd name="connsiteX56" fmla="*/ 49774 w 580548"/>
                    <a:gd name="connsiteY56" fmla="*/ 203827 h 336411"/>
                    <a:gd name="connsiteX57" fmla="*/ 30671 w 580548"/>
                    <a:gd name="connsiteY57" fmla="*/ 203827 h 336411"/>
                    <a:gd name="connsiteX58" fmla="*/ 30671 w 580548"/>
                    <a:gd name="connsiteY58" fmla="*/ 132584 h 336411"/>
                    <a:gd name="connsiteX59" fmla="*/ 108092 w 580548"/>
                    <a:gd name="connsiteY59" fmla="*/ 305741 h 336411"/>
                    <a:gd name="connsiteX60" fmla="*/ 30671 w 580548"/>
                    <a:gd name="connsiteY60" fmla="*/ 305741 h 336411"/>
                    <a:gd name="connsiteX61" fmla="*/ 30671 w 580548"/>
                    <a:gd name="connsiteY61" fmla="*/ 234498 h 336411"/>
                    <a:gd name="connsiteX62" fmla="*/ 108092 w 580548"/>
                    <a:gd name="connsiteY62" fmla="*/ 234498 h 336411"/>
                    <a:gd name="connsiteX63" fmla="*/ 108092 w 580548"/>
                    <a:gd name="connsiteY63" fmla="*/ 305741 h 33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0548" h="336411">
                      <a:moveTo>
                        <a:pt x="284140" y="305741"/>
                      </a:moveTo>
                      <a:lnTo>
                        <a:pt x="134381" y="305741"/>
                      </a:lnTo>
                      <a:lnTo>
                        <a:pt x="134381" y="234498"/>
                      </a:lnTo>
                      <a:lnTo>
                        <a:pt x="290450" y="234498"/>
                      </a:lnTo>
                      <a:lnTo>
                        <a:pt x="290450" y="292597"/>
                      </a:lnTo>
                      <a:cubicBezTo>
                        <a:pt x="295445" y="282432"/>
                        <a:pt x="305829" y="261094"/>
                        <a:pt x="316739" y="238660"/>
                      </a:cubicBezTo>
                      <a:lnTo>
                        <a:pt x="316739" y="234498"/>
                      </a:lnTo>
                      <a:lnTo>
                        <a:pt x="318754" y="234498"/>
                      </a:lnTo>
                      <a:cubicBezTo>
                        <a:pt x="323837" y="224026"/>
                        <a:pt x="329007" y="213467"/>
                        <a:pt x="333695" y="203827"/>
                      </a:cubicBezTo>
                      <a:lnTo>
                        <a:pt x="258421" y="203827"/>
                      </a:lnTo>
                      <a:lnTo>
                        <a:pt x="258421" y="132584"/>
                      </a:lnTo>
                      <a:lnTo>
                        <a:pt x="414490" y="132584"/>
                      </a:lnTo>
                      <a:lnTo>
                        <a:pt x="414490" y="192479"/>
                      </a:lnTo>
                      <a:lnTo>
                        <a:pt x="440779" y="137973"/>
                      </a:lnTo>
                      <a:lnTo>
                        <a:pt x="440779" y="132584"/>
                      </a:lnTo>
                      <a:lnTo>
                        <a:pt x="443364" y="132584"/>
                      </a:lnTo>
                      <a:lnTo>
                        <a:pt x="458173" y="101914"/>
                      </a:lnTo>
                      <a:lnTo>
                        <a:pt x="351528" y="101914"/>
                      </a:lnTo>
                      <a:lnTo>
                        <a:pt x="351528" y="30671"/>
                      </a:lnTo>
                      <a:lnTo>
                        <a:pt x="507597" y="30671"/>
                      </a:lnTo>
                      <a:lnTo>
                        <a:pt x="507597" y="101914"/>
                      </a:lnTo>
                      <a:lnTo>
                        <a:pt x="496643" y="101914"/>
                      </a:lnTo>
                      <a:lnTo>
                        <a:pt x="506063" y="121324"/>
                      </a:lnTo>
                      <a:cubicBezTo>
                        <a:pt x="507728" y="124785"/>
                        <a:pt x="509568" y="128597"/>
                        <a:pt x="511540" y="132584"/>
                      </a:cubicBezTo>
                      <a:lnTo>
                        <a:pt x="549834" y="132584"/>
                      </a:lnTo>
                      <a:lnTo>
                        <a:pt x="549834" y="203827"/>
                      </a:lnTo>
                      <a:lnTo>
                        <a:pt x="546154" y="203827"/>
                      </a:lnTo>
                      <a:cubicBezTo>
                        <a:pt x="559079" y="230379"/>
                        <a:pt x="570559" y="253908"/>
                        <a:pt x="574984" y="262759"/>
                      </a:cubicBezTo>
                      <a:cubicBezTo>
                        <a:pt x="577044" y="266527"/>
                        <a:pt x="578840" y="270382"/>
                        <a:pt x="580549" y="274326"/>
                      </a:cubicBezTo>
                      <a:lnTo>
                        <a:pt x="580549" y="0"/>
                      </a:lnTo>
                      <a:lnTo>
                        <a:pt x="0" y="0"/>
                      </a:lnTo>
                      <a:lnTo>
                        <a:pt x="0" y="336412"/>
                      </a:lnTo>
                      <a:lnTo>
                        <a:pt x="275509" y="336412"/>
                      </a:lnTo>
                      <a:cubicBezTo>
                        <a:pt x="277042" y="325852"/>
                        <a:pt x="279978" y="315512"/>
                        <a:pt x="284140" y="305741"/>
                      </a:cubicBezTo>
                      <a:close/>
                      <a:moveTo>
                        <a:pt x="533886" y="30671"/>
                      </a:moveTo>
                      <a:lnTo>
                        <a:pt x="549834" y="30671"/>
                      </a:lnTo>
                      <a:lnTo>
                        <a:pt x="549834" y="101914"/>
                      </a:lnTo>
                      <a:lnTo>
                        <a:pt x="533886" y="101914"/>
                      </a:lnTo>
                      <a:lnTo>
                        <a:pt x="533886" y="30671"/>
                      </a:lnTo>
                      <a:close/>
                      <a:moveTo>
                        <a:pt x="232132" y="203827"/>
                      </a:moveTo>
                      <a:lnTo>
                        <a:pt x="76063" y="203827"/>
                      </a:lnTo>
                      <a:lnTo>
                        <a:pt x="76063" y="132584"/>
                      </a:lnTo>
                      <a:lnTo>
                        <a:pt x="232132" y="132584"/>
                      </a:lnTo>
                      <a:lnTo>
                        <a:pt x="232132" y="203827"/>
                      </a:lnTo>
                      <a:close/>
                      <a:moveTo>
                        <a:pt x="169170" y="30671"/>
                      </a:moveTo>
                      <a:lnTo>
                        <a:pt x="325239" y="30671"/>
                      </a:lnTo>
                      <a:lnTo>
                        <a:pt x="325239" y="101914"/>
                      </a:lnTo>
                      <a:lnTo>
                        <a:pt x="169170" y="101914"/>
                      </a:lnTo>
                      <a:lnTo>
                        <a:pt x="169170" y="30671"/>
                      </a:lnTo>
                      <a:close/>
                      <a:moveTo>
                        <a:pt x="30671" y="30671"/>
                      </a:moveTo>
                      <a:lnTo>
                        <a:pt x="142881" y="30671"/>
                      </a:lnTo>
                      <a:lnTo>
                        <a:pt x="142881" y="101914"/>
                      </a:lnTo>
                      <a:lnTo>
                        <a:pt x="30671" y="101914"/>
                      </a:lnTo>
                      <a:lnTo>
                        <a:pt x="30671" y="30671"/>
                      </a:lnTo>
                      <a:close/>
                      <a:moveTo>
                        <a:pt x="30671" y="132584"/>
                      </a:moveTo>
                      <a:lnTo>
                        <a:pt x="49774" y="132584"/>
                      </a:lnTo>
                      <a:lnTo>
                        <a:pt x="49774" y="203827"/>
                      </a:lnTo>
                      <a:lnTo>
                        <a:pt x="30671" y="203827"/>
                      </a:lnTo>
                      <a:lnTo>
                        <a:pt x="30671" y="132584"/>
                      </a:lnTo>
                      <a:close/>
                      <a:moveTo>
                        <a:pt x="108092" y="305741"/>
                      </a:moveTo>
                      <a:lnTo>
                        <a:pt x="30671" y="305741"/>
                      </a:lnTo>
                      <a:lnTo>
                        <a:pt x="30671" y="234498"/>
                      </a:lnTo>
                      <a:lnTo>
                        <a:pt x="108092" y="234498"/>
                      </a:lnTo>
                      <a:lnTo>
                        <a:pt x="108092" y="30574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3" name="Freeform: Shape 156">
                  <a:extLst>
                    <a:ext uri="{FF2B5EF4-FFF2-40B4-BE49-F238E27FC236}">
                      <a16:creationId xmlns:a16="http://schemas.microsoft.com/office/drawing/2014/main" id="{DA865292-8ED3-0902-DC18-15086D3D2BC7}"/>
                    </a:ext>
                  </a:extLst>
                </p:cNvPr>
                <p:cNvSpPr/>
                <p:nvPr/>
              </p:nvSpPr>
              <p:spPr>
                <a:xfrm>
                  <a:off x="3866603" y="2883794"/>
                  <a:ext cx="254911" cy="304952"/>
                </a:xfrm>
                <a:custGeom>
                  <a:avLst/>
                  <a:gdLst>
                    <a:gd name="connsiteX0" fmla="*/ 240819 w 254911"/>
                    <a:gd name="connsiteY0" fmla="*/ 142311 h 304952"/>
                    <a:gd name="connsiteX1" fmla="*/ 171504 w 254911"/>
                    <a:gd name="connsiteY1" fmla="*/ 0 h 304952"/>
                    <a:gd name="connsiteX2" fmla="*/ 113274 w 254911"/>
                    <a:gd name="connsiteY2" fmla="*/ 120710 h 304952"/>
                    <a:gd name="connsiteX3" fmla="*/ 104730 w 254911"/>
                    <a:gd name="connsiteY3" fmla="*/ 126450 h 304952"/>
                    <a:gd name="connsiteX4" fmla="*/ 96186 w 254911"/>
                    <a:gd name="connsiteY4" fmla="*/ 120710 h 304952"/>
                    <a:gd name="connsiteX5" fmla="*/ 66786 w 254911"/>
                    <a:gd name="connsiteY5" fmla="*/ 61078 h 304952"/>
                    <a:gd name="connsiteX6" fmla="*/ 11404 w 254911"/>
                    <a:gd name="connsiteY6" fmla="*/ 174822 h 304952"/>
                    <a:gd name="connsiteX7" fmla="*/ 12 w 254911"/>
                    <a:gd name="connsiteY7" fmla="*/ 221485 h 304952"/>
                    <a:gd name="connsiteX8" fmla="*/ 66392 w 254911"/>
                    <a:gd name="connsiteY8" fmla="*/ 304952 h 304952"/>
                    <a:gd name="connsiteX9" fmla="*/ 102802 w 254911"/>
                    <a:gd name="connsiteY9" fmla="*/ 304952 h 304952"/>
                    <a:gd name="connsiteX10" fmla="*/ 75549 w 254911"/>
                    <a:gd name="connsiteY10" fmla="*/ 196116 h 304952"/>
                    <a:gd name="connsiteX11" fmla="*/ 115070 w 254911"/>
                    <a:gd name="connsiteY11" fmla="*/ 225341 h 304952"/>
                    <a:gd name="connsiteX12" fmla="*/ 169007 w 254911"/>
                    <a:gd name="connsiteY12" fmla="*/ 140953 h 304952"/>
                    <a:gd name="connsiteX13" fmla="*/ 169007 w 254911"/>
                    <a:gd name="connsiteY13" fmla="*/ 139200 h 304952"/>
                    <a:gd name="connsiteX14" fmla="*/ 164581 w 254911"/>
                    <a:gd name="connsiteY14" fmla="*/ 304952 h 304952"/>
                    <a:gd name="connsiteX15" fmla="*/ 171373 w 254911"/>
                    <a:gd name="connsiteY15" fmla="*/ 304952 h 304952"/>
                    <a:gd name="connsiteX16" fmla="*/ 254884 w 254911"/>
                    <a:gd name="connsiteY16" fmla="*/ 200848 h 304952"/>
                    <a:gd name="connsiteX17" fmla="*/ 240776 w 254911"/>
                    <a:gd name="connsiteY17" fmla="*/ 142355 h 30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4911" h="304952">
                      <a:moveTo>
                        <a:pt x="240819" y="142311"/>
                      </a:moveTo>
                      <a:cubicBezTo>
                        <a:pt x="231794" y="124259"/>
                        <a:pt x="189731" y="37637"/>
                        <a:pt x="171504" y="0"/>
                      </a:cubicBezTo>
                      <a:lnTo>
                        <a:pt x="113274" y="120710"/>
                      </a:lnTo>
                      <a:cubicBezTo>
                        <a:pt x="111521" y="124259"/>
                        <a:pt x="108279" y="126450"/>
                        <a:pt x="104730" y="126450"/>
                      </a:cubicBezTo>
                      <a:cubicBezTo>
                        <a:pt x="101181" y="126450"/>
                        <a:pt x="97939" y="124259"/>
                        <a:pt x="96186" y="120710"/>
                      </a:cubicBezTo>
                      <a:lnTo>
                        <a:pt x="66786" y="61078"/>
                      </a:lnTo>
                      <a:cubicBezTo>
                        <a:pt x="51101" y="93370"/>
                        <a:pt x="18546" y="160231"/>
                        <a:pt x="11404" y="174822"/>
                      </a:cubicBezTo>
                      <a:cubicBezTo>
                        <a:pt x="3736" y="188755"/>
                        <a:pt x="-251" y="204967"/>
                        <a:pt x="12" y="221485"/>
                      </a:cubicBezTo>
                      <a:cubicBezTo>
                        <a:pt x="12" y="267228"/>
                        <a:pt x="30683" y="304952"/>
                        <a:pt x="66392" y="304952"/>
                      </a:cubicBezTo>
                      <a:lnTo>
                        <a:pt x="102802" y="304952"/>
                      </a:lnTo>
                      <a:cubicBezTo>
                        <a:pt x="62142" y="268060"/>
                        <a:pt x="66567" y="213072"/>
                        <a:pt x="75549" y="196116"/>
                      </a:cubicBezTo>
                      <a:cubicBezTo>
                        <a:pt x="75549" y="196116"/>
                        <a:pt x="95704" y="224990"/>
                        <a:pt x="115070" y="225341"/>
                      </a:cubicBezTo>
                      <a:cubicBezTo>
                        <a:pt x="142367" y="225823"/>
                        <a:pt x="156213" y="197869"/>
                        <a:pt x="169007" y="140953"/>
                      </a:cubicBezTo>
                      <a:lnTo>
                        <a:pt x="169007" y="139200"/>
                      </a:lnTo>
                      <a:cubicBezTo>
                        <a:pt x="193061" y="157471"/>
                        <a:pt x="220139" y="242297"/>
                        <a:pt x="164581" y="304952"/>
                      </a:cubicBezTo>
                      <a:lnTo>
                        <a:pt x="171373" y="304952"/>
                      </a:lnTo>
                      <a:cubicBezTo>
                        <a:pt x="217466" y="304952"/>
                        <a:pt x="254884" y="258289"/>
                        <a:pt x="254884" y="200848"/>
                      </a:cubicBezTo>
                      <a:cubicBezTo>
                        <a:pt x="255322" y="180167"/>
                        <a:pt x="250415" y="159793"/>
                        <a:pt x="240776" y="142355"/>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49" name="Group 48">
              <a:extLst>
                <a:ext uri="{FF2B5EF4-FFF2-40B4-BE49-F238E27FC236}">
                  <a16:creationId xmlns:a16="http://schemas.microsoft.com/office/drawing/2014/main" id="{24242136-7E36-F19B-FF67-EB63A9694C1A}"/>
                </a:ext>
              </a:extLst>
            </p:cNvPr>
            <p:cNvGrpSpPr>
              <a:grpSpLocks noChangeAspect="1"/>
            </p:cNvGrpSpPr>
            <p:nvPr/>
          </p:nvGrpSpPr>
          <p:grpSpPr>
            <a:xfrm>
              <a:off x="4155074" y="1951839"/>
              <a:ext cx="457202" cy="457200"/>
              <a:chOff x="4686723" y="1587682"/>
              <a:chExt cx="547621" cy="547619"/>
            </a:xfrm>
          </p:grpSpPr>
          <p:sp>
            <p:nvSpPr>
              <p:cNvPr id="68" name="Oval 67">
                <a:extLst>
                  <a:ext uri="{FF2B5EF4-FFF2-40B4-BE49-F238E27FC236}">
                    <a16:creationId xmlns:a16="http://schemas.microsoft.com/office/drawing/2014/main" id="{9D2D3BEB-B219-1636-49B3-BBF38938C6F4}"/>
                  </a:ext>
                </a:extLst>
              </p:cNvPr>
              <p:cNvSpPr>
                <a:spLocks noChangeAspect="1"/>
              </p:cNvSpPr>
              <p:nvPr/>
            </p:nvSpPr>
            <p:spPr>
              <a:xfrm>
                <a:off x="4686723" y="1587682"/>
                <a:ext cx="547621" cy="547619"/>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69" name="Google Shape;3149;p83">
                <a:extLst>
                  <a:ext uri="{FF2B5EF4-FFF2-40B4-BE49-F238E27FC236}">
                    <a16:creationId xmlns:a16="http://schemas.microsoft.com/office/drawing/2014/main" id="{308A667E-FB0E-623A-28E6-226204121695}"/>
                  </a:ext>
                </a:extLst>
              </p:cNvPr>
              <p:cNvSpPr>
                <a:spLocks noChangeAspect="1"/>
              </p:cNvSpPr>
              <p:nvPr/>
            </p:nvSpPr>
            <p:spPr>
              <a:xfrm>
                <a:off x="4775072" y="1678710"/>
                <a:ext cx="365562" cy="365562"/>
              </a:xfrm>
              <a:custGeom>
                <a:avLst/>
                <a:gdLst/>
                <a:ahLst/>
                <a:cxnLst/>
                <a:rect l="l" t="t" r="r" b="b"/>
                <a:pathLst>
                  <a:path w="584492" h="584492" extrusionOk="0">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mn-ea"/>
                  <a:cs typeface="+mn-cs"/>
                  <a:sym typeface="Arial"/>
                </a:endParaRPr>
              </a:p>
            </p:txBody>
          </p:sp>
        </p:grpSp>
        <p:grpSp>
          <p:nvGrpSpPr>
            <p:cNvPr id="50" name="Group 49">
              <a:extLst>
                <a:ext uri="{FF2B5EF4-FFF2-40B4-BE49-F238E27FC236}">
                  <a16:creationId xmlns:a16="http://schemas.microsoft.com/office/drawing/2014/main" id="{3A1B049E-1B18-76DD-68F7-CC932E06014F}"/>
                </a:ext>
              </a:extLst>
            </p:cNvPr>
            <p:cNvGrpSpPr>
              <a:grpSpLocks noChangeAspect="1"/>
            </p:cNvGrpSpPr>
            <p:nvPr/>
          </p:nvGrpSpPr>
          <p:grpSpPr>
            <a:xfrm>
              <a:off x="3351070" y="1951839"/>
              <a:ext cx="457202" cy="457200"/>
              <a:chOff x="5341314" y="5151711"/>
              <a:chExt cx="547621" cy="547619"/>
            </a:xfrm>
          </p:grpSpPr>
          <p:sp>
            <p:nvSpPr>
              <p:cNvPr id="61" name="Oval 60">
                <a:extLst>
                  <a:ext uri="{FF2B5EF4-FFF2-40B4-BE49-F238E27FC236}">
                    <a16:creationId xmlns:a16="http://schemas.microsoft.com/office/drawing/2014/main" id="{FADFA5A7-A798-2BA9-F80E-67E9EEC6A20C}"/>
                  </a:ext>
                </a:extLst>
              </p:cNvPr>
              <p:cNvSpPr>
                <a:spLocks noChangeAspect="1"/>
              </p:cNvSpPr>
              <p:nvPr/>
            </p:nvSpPr>
            <p:spPr>
              <a:xfrm>
                <a:off x="5341314" y="5151711"/>
                <a:ext cx="547621" cy="547619"/>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62" name="Group 61">
                <a:extLst>
                  <a:ext uri="{FF2B5EF4-FFF2-40B4-BE49-F238E27FC236}">
                    <a16:creationId xmlns:a16="http://schemas.microsoft.com/office/drawing/2014/main" id="{4EB22095-2811-8EF0-6DFF-312490BB0C28}"/>
                  </a:ext>
                </a:extLst>
              </p:cNvPr>
              <p:cNvGrpSpPr/>
              <p:nvPr/>
            </p:nvGrpSpPr>
            <p:grpSpPr>
              <a:xfrm>
                <a:off x="5475978" y="5286375"/>
                <a:ext cx="278292" cy="278290"/>
                <a:chOff x="7453826" y="4235509"/>
                <a:chExt cx="199845" cy="199844"/>
              </a:xfrm>
              <a:solidFill>
                <a:schemeClr val="bg1"/>
              </a:solidFill>
            </p:grpSpPr>
            <p:sp>
              <p:nvSpPr>
                <p:cNvPr id="63" name="Freeform: Shape 110">
                  <a:extLst>
                    <a:ext uri="{FF2B5EF4-FFF2-40B4-BE49-F238E27FC236}">
                      <a16:creationId xmlns:a16="http://schemas.microsoft.com/office/drawing/2014/main" id="{FE3128DE-0DF4-B806-E26D-ECDA59AC2263}"/>
                    </a:ext>
                  </a:extLst>
                </p:cNvPr>
                <p:cNvSpPr/>
                <p:nvPr/>
              </p:nvSpPr>
              <p:spPr>
                <a:xfrm>
                  <a:off x="7453826" y="4235509"/>
                  <a:ext cx="199845" cy="199844"/>
                </a:xfrm>
                <a:custGeom>
                  <a:avLst/>
                  <a:gdLst>
                    <a:gd name="connsiteX0" fmla="*/ 539067 w 539067"/>
                    <a:gd name="connsiteY0" fmla="*/ 539067 h 539067"/>
                    <a:gd name="connsiteX1" fmla="*/ 366846 w 539067"/>
                    <a:gd name="connsiteY1" fmla="*/ 539067 h 539067"/>
                    <a:gd name="connsiteX2" fmla="*/ 366846 w 539067"/>
                    <a:gd name="connsiteY2" fmla="*/ 511064 h 539067"/>
                    <a:gd name="connsiteX3" fmla="*/ 511064 w 539067"/>
                    <a:gd name="connsiteY3" fmla="*/ 511064 h 539067"/>
                    <a:gd name="connsiteX4" fmla="*/ 511064 w 539067"/>
                    <a:gd name="connsiteY4" fmla="*/ 28004 h 539067"/>
                    <a:gd name="connsiteX5" fmla="*/ 28004 w 539067"/>
                    <a:gd name="connsiteY5" fmla="*/ 28004 h 539067"/>
                    <a:gd name="connsiteX6" fmla="*/ 28004 w 539067"/>
                    <a:gd name="connsiteY6" fmla="*/ 511064 h 539067"/>
                    <a:gd name="connsiteX7" fmla="*/ 173462 w 539067"/>
                    <a:gd name="connsiteY7" fmla="*/ 511064 h 539067"/>
                    <a:gd name="connsiteX8" fmla="*/ 173462 w 539067"/>
                    <a:gd name="connsiteY8" fmla="*/ 539067 h 539067"/>
                    <a:gd name="connsiteX9" fmla="*/ 0 w 539067"/>
                    <a:gd name="connsiteY9" fmla="*/ 539067 h 539067"/>
                    <a:gd name="connsiteX10" fmla="*/ 0 w 539067"/>
                    <a:gd name="connsiteY10" fmla="*/ 0 h 539067"/>
                    <a:gd name="connsiteX11" fmla="*/ 539067 w 539067"/>
                    <a:gd name="connsiteY11" fmla="*/ 0 h 539067"/>
                    <a:gd name="connsiteX12" fmla="*/ 539067 w 539067"/>
                    <a:gd name="connsiteY12" fmla="*/ 539067 h 53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67" h="539067">
                      <a:moveTo>
                        <a:pt x="539067" y="539067"/>
                      </a:moveTo>
                      <a:lnTo>
                        <a:pt x="366846" y="539067"/>
                      </a:lnTo>
                      <a:lnTo>
                        <a:pt x="366846" y="511064"/>
                      </a:lnTo>
                      <a:lnTo>
                        <a:pt x="511064" y="511064"/>
                      </a:lnTo>
                      <a:lnTo>
                        <a:pt x="511064" y="28004"/>
                      </a:lnTo>
                      <a:lnTo>
                        <a:pt x="28004" y="28004"/>
                      </a:lnTo>
                      <a:lnTo>
                        <a:pt x="28004" y="511064"/>
                      </a:lnTo>
                      <a:lnTo>
                        <a:pt x="173462" y="511064"/>
                      </a:lnTo>
                      <a:lnTo>
                        <a:pt x="173462" y="539067"/>
                      </a:lnTo>
                      <a:lnTo>
                        <a:pt x="0" y="539067"/>
                      </a:lnTo>
                      <a:lnTo>
                        <a:pt x="0" y="0"/>
                      </a:lnTo>
                      <a:lnTo>
                        <a:pt x="539067" y="0"/>
                      </a:lnTo>
                      <a:lnTo>
                        <a:pt x="539067" y="539067"/>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 name="Freeform: Shape 115">
                  <a:extLst>
                    <a:ext uri="{FF2B5EF4-FFF2-40B4-BE49-F238E27FC236}">
                      <a16:creationId xmlns:a16="http://schemas.microsoft.com/office/drawing/2014/main" id="{7BF4BA90-9463-FDA8-1E2E-39784AC9EA32}"/>
                    </a:ext>
                  </a:extLst>
                </p:cNvPr>
                <p:cNvSpPr/>
                <p:nvPr/>
              </p:nvSpPr>
              <p:spPr>
                <a:xfrm>
                  <a:off x="7491571" y="4315610"/>
                  <a:ext cx="51745" cy="27941"/>
                </a:xfrm>
                <a:custGeom>
                  <a:avLst/>
                  <a:gdLst>
                    <a:gd name="connsiteX0" fmla="*/ 74289 w 139577"/>
                    <a:gd name="connsiteY0" fmla="*/ 23683 h 75369"/>
                    <a:gd name="connsiteX1" fmla="*/ 0 w 139577"/>
                    <a:gd name="connsiteY1" fmla="*/ 23683 h 75369"/>
                    <a:gd name="connsiteX2" fmla="*/ 0 w 139577"/>
                    <a:gd name="connsiteY2" fmla="*/ 51686 h 75369"/>
                    <a:gd name="connsiteX3" fmla="*/ 74289 w 139577"/>
                    <a:gd name="connsiteY3" fmla="*/ 51686 h 75369"/>
                    <a:gd name="connsiteX4" fmla="*/ 74289 w 139577"/>
                    <a:gd name="connsiteY4" fmla="*/ 75369 h 75369"/>
                    <a:gd name="connsiteX5" fmla="*/ 139577 w 139577"/>
                    <a:gd name="connsiteY5" fmla="*/ 37685 h 75369"/>
                    <a:gd name="connsiteX6" fmla="*/ 74289 w 139577"/>
                    <a:gd name="connsiteY6" fmla="*/ 0 h 75369"/>
                    <a:gd name="connsiteX7" fmla="*/ 74289 w 139577"/>
                    <a:gd name="connsiteY7" fmla="*/ 23683 h 7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369">
                      <a:moveTo>
                        <a:pt x="74289" y="23683"/>
                      </a:moveTo>
                      <a:lnTo>
                        <a:pt x="0" y="23683"/>
                      </a:lnTo>
                      <a:lnTo>
                        <a:pt x="0" y="51686"/>
                      </a:lnTo>
                      <a:lnTo>
                        <a:pt x="74289" y="51686"/>
                      </a:lnTo>
                      <a:lnTo>
                        <a:pt x="74289" y="7536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 name="Freeform: Shape 116">
                  <a:extLst>
                    <a:ext uri="{FF2B5EF4-FFF2-40B4-BE49-F238E27FC236}">
                      <a16:creationId xmlns:a16="http://schemas.microsoft.com/office/drawing/2014/main" id="{C48C3B71-FC98-F35F-B0D5-AA2421E065EA}"/>
                    </a:ext>
                  </a:extLst>
                </p:cNvPr>
                <p:cNvSpPr/>
                <p:nvPr/>
              </p:nvSpPr>
              <p:spPr>
                <a:xfrm>
                  <a:off x="7550583" y="4276590"/>
                  <a:ext cx="71247" cy="108695"/>
                </a:xfrm>
                <a:custGeom>
                  <a:avLst/>
                  <a:gdLst>
                    <a:gd name="connsiteX0" fmla="*/ 192184 w 192184"/>
                    <a:gd name="connsiteY0" fmla="*/ 142938 h 293196"/>
                    <a:gd name="connsiteX1" fmla="*/ 126896 w 192184"/>
                    <a:gd name="connsiteY1" fmla="*/ 105253 h 293196"/>
                    <a:gd name="connsiteX2" fmla="*/ 126896 w 192184"/>
                    <a:gd name="connsiteY2" fmla="*/ 128936 h 293196"/>
                    <a:gd name="connsiteX3" fmla="*/ 104973 w 192184"/>
                    <a:gd name="connsiteY3" fmla="*/ 128936 h 293196"/>
                    <a:gd name="connsiteX4" fmla="*/ 104973 w 192184"/>
                    <a:gd name="connsiteY4" fmla="*/ 0 h 293196"/>
                    <a:gd name="connsiteX5" fmla="*/ 0 w 192184"/>
                    <a:gd name="connsiteY5" fmla="*/ 0 h 293196"/>
                    <a:gd name="connsiteX6" fmla="*/ 0 w 192184"/>
                    <a:gd name="connsiteY6" fmla="*/ 28004 h 293196"/>
                    <a:gd name="connsiteX7" fmla="*/ 76970 w 192184"/>
                    <a:gd name="connsiteY7" fmla="*/ 28004 h 293196"/>
                    <a:gd name="connsiteX8" fmla="*/ 76970 w 192184"/>
                    <a:gd name="connsiteY8" fmla="*/ 128936 h 293196"/>
                    <a:gd name="connsiteX9" fmla="*/ 22123 w 192184"/>
                    <a:gd name="connsiteY9" fmla="*/ 128936 h 293196"/>
                    <a:gd name="connsiteX10" fmla="*/ 22123 w 192184"/>
                    <a:gd name="connsiteY10" fmla="*/ 156940 h 293196"/>
                    <a:gd name="connsiteX11" fmla="*/ 76970 w 192184"/>
                    <a:gd name="connsiteY11" fmla="*/ 156940 h 293196"/>
                    <a:gd name="connsiteX12" fmla="*/ 76970 w 192184"/>
                    <a:gd name="connsiteY12" fmla="*/ 265193 h 293196"/>
                    <a:gd name="connsiteX13" fmla="*/ 0 w 192184"/>
                    <a:gd name="connsiteY13" fmla="*/ 265193 h 293196"/>
                    <a:gd name="connsiteX14" fmla="*/ 0 w 192184"/>
                    <a:gd name="connsiteY14" fmla="*/ 293197 h 293196"/>
                    <a:gd name="connsiteX15" fmla="*/ 104973 w 192184"/>
                    <a:gd name="connsiteY15" fmla="*/ 293197 h 293196"/>
                    <a:gd name="connsiteX16" fmla="*/ 104973 w 192184"/>
                    <a:gd name="connsiteY16" fmla="*/ 156940 h 293196"/>
                    <a:gd name="connsiteX17" fmla="*/ 126896 w 192184"/>
                    <a:gd name="connsiteY17" fmla="*/ 156940 h 293196"/>
                    <a:gd name="connsiteX18" fmla="*/ 126896 w 192184"/>
                    <a:gd name="connsiteY18" fmla="*/ 180623 h 293196"/>
                    <a:gd name="connsiteX19" fmla="*/ 192184 w 192184"/>
                    <a:gd name="connsiteY19" fmla="*/ 142938 h 2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184" h="293196">
                      <a:moveTo>
                        <a:pt x="192184" y="142938"/>
                      </a:moveTo>
                      <a:lnTo>
                        <a:pt x="126896" y="105253"/>
                      </a:lnTo>
                      <a:lnTo>
                        <a:pt x="126896" y="128936"/>
                      </a:lnTo>
                      <a:lnTo>
                        <a:pt x="104973" y="128936"/>
                      </a:lnTo>
                      <a:lnTo>
                        <a:pt x="104973" y="0"/>
                      </a:lnTo>
                      <a:lnTo>
                        <a:pt x="0" y="0"/>
                      </a:lnTo>
                      <a:lnTo>
                        <a:pt x="0" y="28004"/>
                      </a:lnTo>
                      <a:lnTo>
                        <a:pt x="76970" y="28004"/>
                      </a:lnTo>
                      <a:lnTo>
                        <a:pt x="76970" y="128936"/>
                      </a:lnTo>
                      <a:lnTo>
                        <a:pt x="22123" y="128936"/>
                      </a:lnTo>
                      <a:lnTo>
                        <a:pt x="22123" y="156940"/>
                      </a:lnTo>
                      <a:lnTo>
                        <a:pt x="76970" y="156940"/>
                      </a:lnTo>
                      <a:lnTo>
                        <a:pt x="76970" y="265193"/>
                      </a:lnTo>
                      <a:lnTo>
                        <a:pt x="0" y="265193"/>
                      </a:lnTo>
                      <a:lnTo>
                        <a:pt x="0" y="293197"/>
                      </a:lnTo>
                      <a:lnTo>
                        <a:pt x="104973" y="293197"/>
                      </a:lnTo>
                      <a:lnTo>
                        <a:pt x="104973" y="156940"/>
                      </a:lnTo>
                      <a:lnTo>
                        <a:pt x="126896" y="156940"/>
                      </a:lnTo>
                      <a:lnTo>
                        <a:pt x="126896" y="180623"/>
                      </a:lnTo>
                      <a:lnTo>
                        <a:pt x="192184" y="142938"/>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 name="Freeform: Shape 124">
                  <a:extLst>
                    <a:ext uri="{FF2B5EF4-FFF2-40B4-BE49-F238E27FC236}">
                      <a16:creationId xmlns:a16="http://schemas.microsoft.com/office/drawing/2014/main" id="{C7265059-A322-20E8-BEBF-501A83759984}"/>
                    </a:ext>
                  </a:extLst>
                </p:cNvPr>
                <p:cNvSpPr/>
                <p:nvPr/>
              </p:nvSpPr>
              <p:spPr>
                <a:xfrm>
                  <a:off x="7491571" y="4266446"/>
                  <a:ext cx="51745" cy="27956"/>
                </a:xfrm>
                <a:custGeom>
                  <a:avLst/>
                  <a:gdLst>
                    <a:gd name="connsiteX0" fmla="*/ 74289 w 139577"/>
                    <a:gd name="connsiteY0" fmla="*/ 23723 h 75409"/>
                    <a:gd name="connsiteX1" fmla="*/ 0 w 139577"/>
                    <a:gd name="connsiteY1" fmla="*/ 23723 h 75409"/>
                    <a:gd name="connsiteX2" fmla="*/ 0 w 139577"/>
                    <a:gd name="connsiteY2" fmla="*/ 51726 h 75409"/>
                    <a:gd name="connsiteX3" fmla="*/ 74289 w 139577"/>
                    <a:gd name="connsiteY3" fmla="*/ 51726 h 75409"/>
                    <a:gd name="connsiteX4" fmla="*/ 74289 w 139577"/>
                    <a:gd name="connsiteY4" fmla="*/ 75409 h 75409"/>
                    <a:gd name="connsiteX5" fmla="*/ 139577 w 139577"/>
                    <a:gd name="connsiteY5" fmla="*/ 37725 h 75409"/>
                    <a:gd name="connsiteX6" fmla="*/ 74289 w 139577"/>
                    <a:gd name="connsiteY6" fmla="*/ 0 h 75409"/>
                    <a:gd name="connsiteX7" fmla="*/ 74289 w 139577"/>
                    <a:gd name="connsiteY7" fmla="*/ 2372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723"/>
                      </a:moveTo>
                      <a:lnTo>
                        <a:pt x="0" y="23723"/>
                      </a:lnTo>
                      <a:lnTo>
                        <a:pt x="0" y="51726"/>
                      </a:lnTo>
                      <a:lnTo>
                        <a:pt x="74289" y="51726"/>
                      </a:lnTo>
                      <a:lnTo>
                        <a:pt x="74289" y="75409"/>
                      </a:lnTo>
                      <a:lnTo>
                        <a:pt x="139577" y="37725"/>
                      </a:lnTo>
                      <a:lnTo>
                        <a:pt x="74289" y="0"/>
                      </a:lnTo>
                      <a:lnTo>
                        <a:pt x="74289" y="2372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 name="Freeform: Shape 170">
                  <a:extLst>
                    <a:ext uri="{FF2B5EF4-FFF2-40B4-BE49-F238E27FC236}">
                      <a16:creationId xmlns:a16="http://schemas.microsoft.com/office/drawing/2014/main" id="{6F92BF85-EB2A-F24A-B37D-B83E5C97B269}"/>
                    </a:ext>
                  </a:extLst>
                </p:cNvPr>
                <p:cNvSpPr/>
                <p:nvPr/>
              </p:nvSpPr>
              <p:spPr>
                <a:xfrm>
                  <a:off x="7491571" y="4364759"/>
                  <a:ext cx="51745" cy="27956"/>
                </a:xfrm>
                <a:custGeom>
                  <a:avLst/>
                  <a:gdLst>
                    <a:gd name="connsiteX0" fmla="*/ 74289 w 139577"/>
                    <a:gd name="connsiteY0" fmla="*/ 23683 h 75409"/>
                    <a:gd name="connsiteX1" fmla="*/ 0 w 139577"/>
                    <a:gd name="connsiteY1" fmla="*/ 23683 h 75409"/>
                    <a:gd name="connsiteX2" fmla="*/ 0 w 139577"/>
                    <a:gd name="connsiteY2" fmla="*/ 51686 h 75409"/>
                    <a:gd name="connsiteX3" fmla="*/ 74289 w 139577"/>
                    <a:gd name="connsiteY3" fmla="*/ 51686 h 75409"/>
                    <a:gd name="connsiteX4" fmla="*/ 74289 w 139577"/>
                    <a:gd name="connsiteY4" fmla="*/ 75409 h 75409"/>
                    <a:gd name="connsiteX5" fmla="*/ 139577 w 139577"/>
                    <a:gd name="connsiteY5" fmla="*/ 37685 h 75409"/>
                    <a:gd name="connsiteX6" fmla="*/ 74289 w 139577"/>
                    <a:gd name="connsiteY6" fmla="*/ 0 h 75409"/>
                    <a:gd name="connsiteX7" fmla="*/ 74289 w 139577"/>
                    <a:gd name="connsiteY7" fmla="*/ 2368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683"/>
                      </a:moveTo>
                      <a:lnTo>
                        <a:pt x="0" y="23683"/>
                      </a:lnTo>
                      <a:lnTo>
                        <a:pt x="0" y="51686"/>
                      </a:lnTo>
                      <a:lnTo>
                        <a:pt x="74289" y="51686"/>
                      </a:lnTo>
                      <a:lnTo>
                        <a:pt x="74289" y="7540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51" name="Group 50">
              <a:extLst>
                <a:ext uri="{FF2B5EF4-FFF2-40B4-BE49-F238E27FC236}">
                  <a16:creationId xmlns:a16="http://schemas.microsoft.com/office/drawing/2014/main" id="{60465264-D04C-0301-7654-74BB93871880}"/>
                </a:ext>
              </a:extLst>
            </p:cNvPr>
            <p:cNvGrpSpPr/>
            <p:nvPr/>
          </p:nvGrpSpPr>
          <p:grpSpPr>
            <a:xfrm>
              <a:off x="4959077" y="1951839"/>
              <a:ext cx="457202" cy="457200"/>
              <a:chOff x="4637608" y="1958564"/>
              <a:chExt cx="457202" cy="457200"/>
            </a:xfrm>
          </p:grpSpPr>
          <p:sp>
            <p:nvSpPr>
              <p:cNvPr id="59" name="Oval 58">
                <a:extLst>
                  <a:ext uri="{FF2B5EF4-FFF2-40B4-BE49-F238E27FC236}">
                    <a16:creationId xmlns:a16="http://schemas.microsoft.com/office/drawing/2014/main" id="{D3A58CD4-1C48-DD55-43D3-5AF56C5830E0}"/>
                  </a:ext>
                </a:extLst>
              </p:cNvPr>
              <p:cNvSpPr>
                <a:spLocks noChangeAspect="1"/>
              </p:cNvSpPr>
              <p:nvPr/>
            </p:nvSpPr>
            <p:spPr>
              <a:xfrm>
                <a:off x="4637608" y="1958564"/>
                <a:ext cx="457202" cy="457200"/>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60" name="Graphic 249">
                <a:extLst>
                  <a:ext uri="{FF2B5EF4-FFF2-40B4-BE49-F238E27FC236}">
                    <a16:creationId xmlns:a16="http://schemas.microsoft.com/office/drawing/2014/main" id="{3D49765F-0811-80D8-36CC-BDE4E8C9192D}"/>
                  </a:ext>
                </a:extLst>
              </p:cNvPr>
              <p:cNvSpPr/>
              <p:nvPr/>
            </p:nvSpPr>
            <p:spPr>
              <a:xfrm>
                <a:off x="4718148" y="2085390"/>
                <a:ext cx="300966" cy="206048"/>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52" name="Group 51">
              <a:extLst>
                <a:ext uri="{FF2B5EF4-FFF2-40B4-BE49-F238E27FC236}">
                  <a16:creationId xmlns:a16="http://schemas.microsoft.com/office/drawing/2014/main" id="{06D11585-0625-3B8F-762A-58E330CECE19}"/>
                </a:ext>
              </a:extLst>
            </p:cNvPr>
            <p:cNvGrpSpPr>
              <a:grpSpLocks noChangeAspect="1"/>
            </p:cNvGrpSpPr>
            <p:nvPr/>
          </p:nvGrpSpPr>
          <p:grpSpPr>
            <a:xfrm>
              <a:off x="939060" y="1951839"/>
              <a:ext cx="457200" cy="457200"/>
              <a:chOff x="7756637" y="2484407"/>
              <a:chExt cx="902850" cy="902850"/>
            </a:xfrm>
          </p:grpSpPr>
          <p:sp>
            <p:nvSpPr>
              <p:cNvPr id="53" name="Oval 26">
                <a:extLst>
                  <a:ext uri="{FF2B5EF4-FFF2-40B4-BE49-F238E27FC236}">
                    <a16:creationId xmlns:a16="http://schemas.microsoft.com/office/drawing/2014/main" id="{0606C604-0A2D-FE34-8B93-32A1BA261391}"/>
                  </a:ext>
                </a:extLst>
              </p:cNvPr>
              <p:cNvSpPr>
                <a:spLocks noChangeAspect="1"/>
              </p:cNvSpPr>
              <p:nvPr/>
            </p:nvSpPr>
            <p:spPr bwMode="gray">
              <a:xfrm>
                <a:off x="7756637" y="2484407"/>
                <a:ext cx="902850" cy="90285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54" name="Group 53">
                <a:extLst>
                  <a:ext uri="{FF2B5EF4-FFF2-40B4-BE49-F238E27FC236}">
                    <a16:creationId xmlns:a16="http://schemas.microsoft.com/office/drawing/2014/main" id="{DAF58C0A-50A0-A0F4-8BC7-12923753C250}"/>
                  </a:ext>
                </a:extLst>
              </p:cNvPr>
              <p:cNvGrpSpPr/>
              <p:nvPr/>
            </p:nvGrpSpPr>
            <p:grpSpPr>
              <a:xfrm>
                <a:off x="7930273" y="2670781"/>
                <a:ext cx="558302" cy="538093"/>
                <a:chOff x="7930273" y="2670781"/>
                <a:chExt cx="558302" cy="538093"/>
              </a:xfrm>
            </p:grpSpPr>
            <p:sp>
              <p:nvSpPr>
                <p:cNvPr id="55" name="Freeform: Shape 201">
                  <a:extLst>
                    <a:ext uri="{FF2B5EF4-FFF2-40B4-BE49-F238E27FC236}">
                      <a16:creationId xmlns:a16="http://schemas.microsoft.com/office/drawing/2014/main" id="{F987BE93-74C7-CAEC-F3E9-857600D69EF1}"/>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56" name="Graphic 41">
                  <a:extLst>
                    <a:ext uri="{FF2B5EF4-FFF2-40B4-BE49-F238E27FC236}">
                      <a16:creationId xmlns:a16="http://schemas.microsoft.com/office/drawing/2014/main" id="{27CBD657-D0CE-6AB8-DFA1-DAE5EDF196FB}"/>
                    </a:ext>
                  </a:extLst>
                </p:cNvPr>
                <p:cNvGrpSpPr/>
                <p:nvPr/>
              </p:nvGrpSpPr>
              <p:grpSpPr>
                <a:xfrm>
                  <a:off x="8250435" y="3017491"/>
                  <a:ext cx="238140" cy="191383"/>
                  <a:chOff x="8250435" y="3017491"/>
                  <a:chExt cx="238140" cy="191383"/>
                </a:xfrm>
                <a:solidFill>
                  <a:schemeClr val="bg1"/>
                </a:solidFill>
              </p:grpSpPr>
              <p:sp>
                <p:nvSpPr>
                  <p:cNvPr id="57" name="Freeform: Shape 203">
                    <a:extLst>
                      <a:ext uri="{FF2B5EF4-FFF2-40B4-BE49-F238E27FC236}">
                        <a16:creationId xmlns:a16="http://schemas.microsoft.com/office/drawing/2014/main" id="{3D096C90-F545-ED70-E1B7-6C281695FD29}"/>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8" name="Freeform: Shape 204">
                    <a:extLst>
                      <a:ext uri="{FF2B5EF4-FFF2-40B4-BE49-F238E27FC236}">
                        <a16:creationId xmlns:a16="http://schemas.microsoft.com/office/drawing/2014/main" id="{BEBEB2D7-FF80-879F-0CD9-E667ECC603F7}"/>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grpSp>
        <p:nvGrpSpPr>
          <p:cNvPr id="77" name="Group 76">
            <a:extLst>
              <a:ext uri="{FF2B5EF4-FFF2-40B4-BE49-F238E27FC236}">
                <a16:creationId xmlns:a16="http://schemas.microsoft.com/office/drawing/2014/main" id="{5022973E-C0F1-C2D5-1EC0-6109C95B845F}"/>
              </a:ext>
            </a:extLst>
          </p:cNvPr>
          <p:cNvGrpSpPr/>
          <p:nvPr/>
        </p:nvGrpSpPr>
        <p:grpSpPr>
          <a:xfrm>
            <a:off x="3084844" y="4520497"/>
            <a:ext cx="2954215" cy="508467"/>
            <a:chOff x="3084844" y="4520497"/>
            <a:chExt cx="2954215" cy="508467"/>
          </a:xfrm>
        </p:grpSpPr>
        <p:cxnSp>
          <p:nvCxnSpPr>
            <p:cNvPr id="215" name="Straight Connector 214">
              <a:extLst>
                <a:ext uri="{FF2B5EF4-FFF2-40B4-BE49-F238E27FC236}">
                  <a16:creationId xmlns:a16="http://schemas.microsoft.com/office/drawing/2014/main" id="{487FEFCC-866B-FDFA-84DF-A4BD7EF22D46}"/>
                </a:ext>
              </a:extLst>
            </p:cNvPr>
            <p:cNvCxnSpPr>
              <a:cxnSpLocks/>
              <a:stCxn id="197" idx="0"/>
            </p:cNvCxnSpPr>
            <p:nvPr/>
          </p:nvCxnSpPr>
          <p:spPr bwMode="gray">
            <a:xfrm flipV="1">
              <a:off x="3200495" y="4541855"/>
              <a:ext cx="0" cy="487109"/>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8D42309A-5D41-9A88-C0BD-19163026AD7A}"/>
                </a:ext>
              </a:extLst>
            </p:cNvPr>
            <p:cNvCxnSpPr>
              <a:cxnSpLocks/>
              <a:stCxn id="203" idx="0"/>
            </p:cNvCxnSpPr>
            <p:nvPr/>
          </p:nvCxnSpPr>
          <p:spPr bwMode="gray">
            <a:xfrm flipV="1">
              <a:off x="5783391" y="4587073"/>
              <a:ext cx="0" cy="441891"/>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9" name="Rectangle: Rounded Corners 92">
              <a:extLst>
                <a:ext uri="{FF2B5EF4-FFF2-40B4-BE49-F238E27FC236}">
                  <a16:creationId xmlns:a16="http://schemas.microsoft.com/office/drawing/2014/main" id="{55F0BEBD-9707-4E80-8EF8-BD7C475684D9}"/>
                </a:ext>
              </a:extLst>
            </p:cNvPr>
            <p:cNvSpPr/>
            <p:nvPr/>
          </p:nvSpPr>
          <p:spPr>
            <a:xfrm>
              <a:off x="3084844" y="4520497"/>
              <a:ext cx="2954215" cy="124354"/>
            </a:xfrm>
            <a:prstGeom prst="roundRect">
              <a:avLst>
                <a:gd name="adj" fmla="val 18762"/>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Subnet Z</a:t>
              </a:r>
            </a:p>
          </p:txBody>
        </p:sp>
      </p:grpSp>
      <p:grpSp>
        <p:nvGrpSpPr>
          <p:cNvPr id="76" name="Group 75">
            <a:extLst>
              <a:ext uri="{FF2B5EF4-FFF2-40B4-BE49-F238E27FC236}">
                <a16:creationId xmlns:a16="http://schemas.microsoft.com/office/drawing/2014/main" id="{944D2125-E2B4-7926-A032-31647B525365}"/>
              </a:ext>
            </a:extLst>
          </p:cNvPr>
          <p:cNvGrpSpPr/>
          <p:nvPr/>
        </p:nvGrpSpPr>
        <p:grpSpPr>
          <a:xfrm>
            <a:off x="1788607" y="4682528"/>
            <a:ext cx="3637503" cy="346436"/>
            <a:chOff x="1788607" y="4682528"/>
            <a:chExt cx="3637503" cy="346436"/>
          </a:xfrm>
        </p:grpSpPr>
        <p:cxnSp>
          <p:nvCxnSpPr>
            <p:cNvPr id="213" name="Straight Connector 212">
              <a:extLst>
                <a:ext uri="{FF2B5EF4-FFF2-40B4-BE49-F238E27FC236}">
                  <a16:creationId xmlns:a16="http://schemas.microsoft.com/office/drawing/2014/main" id="{99B335E6-F006-869A-995D-1E63B316FDCA}"/>
                </a:ext>
              </a:extLst>
            </p:cNvPr>
            <p:cNvCxnSpPr>
              <a:cxnSpLocks/>
              <a:stCxn id="193" idx="0"/>
            </p:cNvCxnSpPr>
            <p:nvPr/>
          </p:nvCxnSpPr>
          <p:spPr bwMode="gray">
            <a:xfrm flipV="1">
              <a:off x="2124421" y="4717701"/>
              <a:ext cx="0" cy="311263"/>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B3FF4D0D-41B4-6AA7-B8F7-3E122C702B1A}"/>
                </a:ext>
              </a:extLst>
            </p:cNvPr>
            <p:cNvCxnSpPr>
              <a:cxnSpLocks/>
              <a:stCxn id="209" idx="0"/>
            </p:cNvCxnSpPr>
            <p:nvPr/>
          </p:nvCxnSpPr>
          <p:spPr bwMode="gray">
            <a:xfrm flipV="1">
              <a:off x="5033101" y="4762919"/>
              <a:ext cx="0" cy="266045"/>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8" name="Rectangle: Rounded Corners 92">
              <a:extLst>
                <a:ext uri="{FF2B5EF4-FFF2-40B4-BE49-F238E27FC236}">
                  <a16:creationId xmlns:a16="http://schemas.microsoft.com/office/drawing/2014/main" id="{E2484132-B398-661B-4CC1-DE421D49C639}"/>
                </a:ext>
              </a:extLst>
            </p:cNvPr>
            <p:cNvSpPr/>
            <p:nvPr/>
          </p:nvSpPr>
          <p:spPr>
            <a:xfrm>
              <a:off x="1788607" y="4682528"/>
              <a:ext cx="3637503" cy="124354"/>
            </a:xfrm>
            <a:prstGeom prst="roundRect">
              <a:avLst>
                <a:gd name="adj" fmla="val 1876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Subnet Y</a:t>
              </a:r>
            </a:p>
          </p:txBody>
        </p:sp>
      </p:grpSp>
      <p:grpSp>
        <p:nvGrpSpPr>
          <p:cNvPr id="20" name="Group 19">
            <a:extLst>
              <a:ext uri="{FF2B5EF4-FFF2-40B4-BE49-F238E27FC236}">
                <a16:creationId xmlns:a16="http://schemas.microsoft.com/office/drawing/2014/main" id="{607D3124-13D0-0DC5-4E56-118E04FA840D}"/>
              </a:ext>
            </a:extLst>
          </p:cNvPr>
          <p:cNvGrpSpPr/>
          <p:nvPr/>
        </p:nvGrpSpPr>
        <p:grpSpPr>
          <a:xfrm>
            <a:off x="1090334" y="4844558"/>
            <a:ext cx="3114902" cy="184406"/>
            <a:chOff x="1090334" y="4844558"/>
            <a:chExt cx="3114902" cy="184406"/>
          </a:xfrm>
        </p:grpSpPr>
        <p:cxnSp>
          <p:nvCxnSpPr>
            <p:cNvPr id="211" name="Straight Connector 210">
              <a:extLst>
                <a:ext uri="{FF2B5EF4-FFF2-40B4-BE49-F238E27FC236}">
                  <a16:creationId xmlns:a16="http://schemas.microsoft.com/office/drawing/2014/main" id="{DDF41687-BCEA-8B0E-7369-F909185AF427}"/>
                </a:ext>
              </a:extLst>
            </p:cNvPr>
            <p:cNvCxnSpPr>
              <a:cxnSpLocks/>
              <a:stCxn id="200" idx="0"/>
            </p:cNvCxnSpPr>
            <p:nvPr/>
          </p:nvCxnSpPr>
          <p:spPr bwMode="gray">
            <a:xfrm flipV="1">
              <a:off x="1364791" y="4903596"/>
              <a:ext cx="0" cy="125368"/>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C7DF0EA6-D12E-7191-7D93-63B1E0737747}"/>
                </a:ext>
              </a:extLst>
            </p:cNvPr>
            <p:cNvCxnSpPr>
              <a:cxnSpLocks/>
              <a:stCxn id="206" idx="0"/>
            </p:cNvCxnSpPr>
            <p:nvPr/>
          </p:nvCxnSpPr>
          <p:spPr bwMode="gray">
            <a:xfrm flipV="1">
              <a:off x="3943491" y="4898571"/>
              <a:ext cx="0" cy="130393"/>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7" name="Rectangle: Rounded Corners 92">
              <a:extLst>
                <a:ext uri="{FF2B5EF4-FFF2-40B4-BE49-F238E27FC236}">
                  <a16:creationId xmlns:a16="http://schemas.microsoft.com/office/drawing/2014/main" id="{5CB999B5-F9BA-6105-91B9-51E0A4A047CC}"/>
                </a:ext>
              </a:extLst>
            </p:cNvPr>
            <p:cNvSpPr/>
            <p:nvPr/>
          </p:nvSpPr>
          <p:spPr>
            <a:xfrm>
              <a:off x="1090334" y="4844558"/>
              <a:ext cx="3114902" cy="124354"/>
            </a:xfrm>
            <a:prstGeom prst="roundRect">
              <a:avLst>
                <a:gd name="adj" fmla="val 1876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Subnet X (virtual network)</a:t>
              </a:r>
            </a:p>
          </p:txBody>
        </p:sp>
      </p:grpSp>
      <p:grpSp>
        <p:nvGrpSpPr>
          <p:cNvPr id="18" name="Group 17">
            <a:extLst>
              <a:ext uri="{FF2B5EF4-FFF2-40B4-BE49-F238E27FC236}">
                <a16:creationId xmlns:a16="http://schemas.microsoft.com/office/drawing/2014/main" id="{8B21D86A-BB1F-282C-8623-DFE7004BA3E8}"/>
              </a:ext>
            </a:extLst>
          </p:cNvPr>
          <p:cNvGrpSpPr/>
          <p:nvPr/>
        </p:nvGrpSpPr>
        <p:grpSpPr>
          <a:xfrm>
            <a:off x="1588882" y="3146801"/>
            <a:ext cx="4009293" cy="1201171"/>
            <a:chOff x="1588882" y="3146801"/>
            <a:chExt cx="4009293" cy="1201171"/>
          </a:xfrm>
        </p:grpSpPr>
        <p:sp>
          <p:nvSpPr>
            <p:cNvPr id="17" name="Freeform 16">
              <a:extLst>
                <a:ext uri="{FF2B5EF4-FFF2-40B4-BE49-F238E27FC236}">
                  <a16:creationId xmlns:a16="http://schemas.microsoft.com/office/drawing/2014/main" id="{99229883-FDF4-641C-9581-D657AA7F5F3C}"/>
                </a:ext>
              </a:extLst>
            </p:cNvPr>
            <p:cNvSpPr/>
            <p:nvPr/>
          </p:nvSpPr>
          <p:spPr bwMode="gray">
            <a:xfrm>
              <a:off x="1588882" y="3149706"/>
              <a:ext cx="4009293" cy="1198266"/>
            </a:xfrm>
            <a:custGeom>
              <a:avLst/>
              <a:gdLst>
                <a:gd name="connsiteX0" fmla="*/ 199715 w 4009293"/>
                <a:gd name="connsiteY0" fmla="*/ 0 h 1198266"/>
                <a:gd name="connsiteX1" fmla="*/ 3809578 w 4009293"/>
                <a:gd name="connsiteY1" fmla="*/ 0 h 1198266"/>
                <a:gd name="connsiteX2" fmla="*/ 4009293 w 4009293"/>
                <a:gd name="connsiteY2" fmla="*/ 199715 h 1198266"/>
                <a:gd name="connsiteX3" fmla="*/ 4009293 w 4009293"/>
                <a:gd name="connsiteY3" fmla="*/ 1193238 h 1198266"/>
                <a:gd name="connsiteX4" fmla="*/ 4005619 w 4009293"/>
                <a:gd name="connsiteY4" fmla="*/ 1174511 h 1198266"/>
                <a:gd name="connsiteX5" fmla="*/ 3828423 w 4009293"/>
                <a:gd name="connsiteY5" fmla="*/ 1100295 h 1198266"/>
                <a:gd name="connsiteX6" fmla="*/ 3647552 w 4009293"/>
                <a:gd name="connsiteY6" fmla="*/ 1193243 h 1198266"/>
                <a:gd name="connsiteX7" fmla="*/ 3648537 w 4009293"/>
                <a:gd name="connsiteY7" fmla="*/ 1198266 h 1198266"/>
                <a:gd name="connsiteX8" fmla="*/ 3642527 w 4009293"/>
                <a:gd name="connsiteY8" fmla="*/ 1198266 h 1198266"/>
                <a:gd name="connsiteX9" fmla="*/ 3642527 w 4009293"/>
                <a:gd name="connsiteY9" fmla="*/ 494257 h 1198266"/>
                <a:gd name="connsiteX10" fmla="*/ 3486146 w 4009293"/>
                <a:gd name="connsiteY10" fmla="*/ 337876 h 1198266"/>
                <a:gd name="connsiteX11" fmla="*/ 2331851 w 4009293"/>
                <a:gd name="connsiteY11" fmla="*/ 337876 h 1198266"/>
                <a:gd name="connsiteX12" fmla="*/ 2175470 w 4009293"/>
                <a:gd name="connsiteY12" fmla="*/ 494257 h 1198266"/>
                <a:gd name="connsiteX13" fmla="*/ 2175470 w 4009293"/>
                <a:gd name="connsiteY13" fmla="*/ 1172278 h 1198266"/>
                <a:gd name="connsiteX14" fmla="*/ 2166280 w 4009293"/>
                <a:gd name="connsiteY14" fmla="*/ 1157063 h 1198266"/>
                <a:gd name="connsiteX15" fmla="*/ 1999623 w 4009293"/>
                <a:gd name="connsiteY15" fmla="*/ 1100295 h 1198266"/>
                <a:gd name="connsiteX16" fmla="*/ 1832966 w 4009293"/>
                <a:gd name="connsiteY16" fmla="*/ 1157063 h 1198266"/>
                <a:gd name="connsiteX17" fmla="*/ 1823775 w 4009293"/>
                <a:gd name="connsiteY17" fmla="*/ 1172279 h 1198266"/>
                <a:gd name="connsiteX18" fmla="*/ 1823775 w 4009293"/>
                <a:gd name="connsiteY18" fmla="*/ 495931 h 1198266"/>
                <a:gd name="connsiteX19" fmla="*/ 1665720 w 4009293"/>
                <a:gd name="connsiteY19" fmla="*/ 337876 h 1198266"/>
                <a:gd name="connsiteX20" fmla="*/ 514773 w 4009293"/>
                <a:gd name="connsiteY20" fmla="*/ 337876 h 1198266"/>
                <a:gd name="connsiteX21" fmla="*/ 356718 w 4009293"/>
                <a:gd name="connsiteY21" fmla="*/ 495931 h 1198266"/>
                <a:gd name="connsiteX22" fmla="*/ 356718 w 4009293"/>
                <a:gd name="connsiteY22" fmla="*/ 1192795 h 1198266"/>
                <a:gd name="connsiteX23" fmla="*/ 353131 w 4009293"/>
                <a:gd name="connsiteY23" fmla="*/ 1174511 h 1198266"/>
                <a:gd name="connsiteX24" fmla="*/ 175935 w 4009293"/>
                <a:gd name="connsiteY24" fmla="*/ 1100295 h 1198266"/>
                <a:gd name="connsiteX25" fmla="*/ 9278 w 4009293"/>
                <a:gd name="connsiteY25" fmla="*/ 1157063 h 1198266"/>
                <a:gd name="connsiteX26" fmla="*/ 0 w 4009293"/>
                <a:gd name="connsiteY26" fmla="*/ 1172423 h 1198266"/>
                <a:gd name="connsiteX27" fmla="*/ 0 w 4009293"/>
                <a:gd name="connsiteY27" fmla="*/ 199715 h 1198266"/>
                <a:gd name="connsiteX28" fmla="*/ 199715 w 4009293"/>
                <a:gd name="connsiteY28" fmla="*/ 0 h 1198266"/>
                <a:gd name="connsiteX0" fmla="*/ 199715 w 4009293"/>
                <a:gd name="connsiteY0" fmla="*/ 0 h 1198266"/>
                <a:gd name="connsiteX1" fmla="*/ 3809578 w 4009293"/>
                <a:gd name="connsiteY1" fmla="*/ 0 h 1198266"/>
                <a:gd name="connsiteX2" fmla="*/ 4009293 w 4009293"/>
                <a:gd name="connsiteY2" fmla="*/ 199715 h 1198266"/>
                <a:gd name="connsiteX3" fmla="*/ 4005619 w 4009293"/>
                <a:gd name="connsiteY3" fmla="*/ 1174511 h 1198266"/>
                <a:gd name="connsiteX4" fmla="*/ 3828423 w 4009293"/>
                <a:gd name="connsiteY4" fmla="*/ 1100295 h 1198266"/>
                <a:gd name="connsiteX5" fmla="*/ 3647552 w 4009293"/>
                <a:gd name="connsiteY5" fmla="*/ 1193243 h 1198266"/>
                <a:gd name="connsiteX6" fmla="*/ 3648537 w 4009293"/>
                <a:gd name="connsiteY6" fmla="*/ 1198266 h 1198266"/>
                <a:gd name="connsiteX7" fmla="*/ 3642527 w 4009293"/>
                <a:gd name="connsiteY7" fmla="*/ 1198266 h 1198266"/>
                <a:gd name="connsiteX8" fmla="*/ 3642527 w 4009293"/>
                <a:gd name="connsiteY8" fmla="*/ 494257 h 1198266"/>
                <a:gd name="connsiteX9" fmla="*/ 3486146 w 4009293"/>
                <a:gd name="connsiteY9" fmla="*/ 337876 h 1198266"/>
                <a:gd name="connsiteX10" fmla="*/ 2331851 w 4009293"/>
                <a:gd name="connsiteY10" fmla="*/ 337876 h 1198266"/>
                <a:gd name="connsiteX11" fmla="*/ 2175470 w 4009293"/>
                <a:gd name="connsiteY11" fmla="*/ 494257 h 1198266"/>
                <a:gd name="connsiteX12" fmla="*/ 2175470 w 4009293"/>
                <a:gd name="connsiteY12" fmla="*/ 1172278 h 1198266"/>
                <a:gd name="connsiteX13" fmla="*/ 2166280 w 4009293"/>
                <a:gd name="connsiteY13" fmla="*/ 1157063 h 1198266"/>
                <a:gd name="connsiteX14" fmla="*/ 1999623 w 4009293"/>
                <a:gd name="connsiteY14" fmla="*/ 1100295 h 1198266"/>
                <a:gd name="connsiteX15" fmla="*/ 1832966 w 4009293"/>
                <a:gd name="connsiteY15" fmla="*/ 1157063 h 1198266"/>
                <a:gd name="connsiteX16" fmla="*/ 1823775 w 4009293"/>
                <a:gd name="connsiteY16" fmla="*/ 1172279 h 1198266"/>
                <a:gd name="connsiteX17" fmla="*/ 1823775 w 4009293"/>
                <a:gd name="connsiteY17" fmla="*/ 495931 h 1198266"/>
                <a:gd name="connsiteX18" fmla="*/ 1665720 w 4009293"/>
                <a:gd name="connsiteY18" fmla="*/ 337876 h 1198266"/>
                <a:gd name="connsiteX19" fmla="*/ 514773 w 4009293"/>
                <a:gd name="connsiteY19" fmla="*/ 337876 h 1198266"/>
                <a:gd name="connsiteX20" fmla="*/ 356718 w 4009293"/>
                <a:gd name="connsiteY20" fmla="*/ 495931 h 1198266"/>
                <a:gd name="connsiteX21" fmla="*/ 356718 w 4009293"/>
                <a:gd name="connsiteY21" fmla="*/ 1192795 h 1198266"/>
                <a:gd name="connsiteX22" fmla="*/ 353131 w 4009293"/>
                <a:gd name="connsiteY22" fmla="*/ 1174511 h 1198266"/>
                <a:gd name="connsiteX23" fmla="*/ 175935 w 4009293"/>
                <a:gd name="connsiteY23" fmla="*/ 1100295 h 1198266"/>
                <a:gd name="connsiteX24" fmla="*/ 9278 w 4009293"/>
                <a:gd name="connsiteY24" fmla="*/ 1157063 h 1198266"/>
                <a:gd name="connsiteX25" fmla="*/ 0 w 4009293"/>
                <a:gd name="connsiteY25" fmla="*/ 1172423 h 1198266"/>
                <a:gd name="connsiteX26" fmla="*/ 0 w 4009293"/>
                <a:gd name="connsiteY26" fmla="*/ 199715 h 1198266"/>
                <a:gd name="connsiteX27" fmla="*/ 199715 w 4009293"/>
                <a:gd name="connsiteY27" fmla="*/ 0 h 1198266"/>
                <a:gd name="connsiteX0" fmla="*/ 199715 w 4009293"/>
                <a:gd name="connsiteY0" fmla="*/ 0 h 1198266"/>
                <a:gd name="connsiteX1" fmla="*/ 3809578 w 4009293"/>
                <a:gd name="connsiteY1" fmla="*/ 0 h 1198266"/>
                <a:gd name="connsiteX2" fmla="*/ 4009293 w 4009293"/>
                <a:gd name="connsiteY2" fmla="*/ 199715 h 1198266"/>
                <a:gd name="connsiteX3" fmla="*/ 4005619 w 4009293"/>
                <a:gd name="connsiteY3" fmla="*/ 1174511 h 1198266"/>
                <a:gd name="connsiteX4" fmla="*/ 3828423 w 4009293"/>
                <a:gd name="connsiteY4" fmla="*/ 1100295 h 1198266"/>
                <a:gd name="connsiteX5" fmla="*/ 3647552 w 4009293"/>
                <a:gd name="connsiteY5" fmla="*/ 1193243 h 1198266"/>
                <a:gd name="connsiteX6" fmla="*/ 3648537 w 4009293"/>
                <a:gd name="connsiteY6" fmla="*/ 1198266 h 1198266"/>
                <a:gd name="connsiteX7" fmla="*/ 3642527 w 4009293"/>
                <a:gd name="connsiteY7" fmla="*/ 1198266 h 1198266"/>
                <a:gd name="connsiteX8" fmla="*/ 3642527 w 4009293"/>
                <a:gd name="connsiteY8" fmla="*/ 494257 h 1198266"/>
                <a:gd name="connsiteX9" fmla="*/ 3486146 w 4009293"/>
                <a:gd name="connsiteY9" fmla="*/ 337876 h 1198266"/>
                <a:gd name="connsiteX10" fmla="*/ 2331851 w 4009293"/>
                <a:gd name="connsiteY10" fmla="*/ 337876 h 1198266"/>
                <a:gd name="connsiteX11" fmla="*/ 2175470 w 4009293"/>
                <a:gd name="connsiteY11" fmla="*/ 494257 h 1198266"/>
                <a:gd name="connsiteX12" fmla="*/ 2166280 w 4009293"/>
                <a:gd name="connsiteY12" fmla="*/ 1157063 h 1198266"/>
                <a:gd name="connsiteX13" fmla="*/ 1999623 w 4009293"/>
                <a:gd name="connsiteY13" fmla="*/ 1100295 h 1198266"/>
                <a:gd name="connsiteX14" fmla="*/ 1832966 w 4009293"/>
                <a:gd name="connsiteY14" fmla="*/ 1157063 h 1198266"/>
                <a:gd name="connsiteX15" fmla="*/ 1823775 w 4009293"/>
                <a:gd name="connsiteY15" fmla="*/ 1172279 h 1198266"/>
                <a:gd name="connsiteX16" fmla="*/ 1823775 w 4009293"/>
                <a:gd name="connsiteY16" fmla="*/ 495931 h 1198266"/>
                <a:gd name="connsiteX17" fmla="*/ 1665720 w 4009293"/>
                <a:gd name="connsiteY17" fmla="*/ 337876 h 1198266"/>
                <a:gd name="connsiteX18" fmla="*/ 514773 w 4009293"/>
                <a:gd name="connsiteY18" fmla="*/ 337876 h 1198266"/>
                <a:gd name="connsiteX19" fmla="*/ 356718 w 4009293"/>
                <a:gd name="connsiteY19" fmla="*/ 495931 h 1198266"/>
                <a:gd name="connsiteX20" fmla="*/ 356718 w 4009293"/>
                <a:gd name="connsiteY20" fmla="*/ 1192795 h 1198266"/>
                <a:gd name="connsiteX21" fmla="*/ 353131 w 4009293"/>
                <a:gd name="connsiteY21" fmla="*/ 1174511 h 1198266"/>
                <a:gd name="connsiteX22" fmla="*/ 175935 w 4009293"/>
                <a:gd name="connsiteY22" fmla="*/ 1100295 h 1198266"/>
                <a:gd name="connsiteX23" fmla="*/ 9278 w 4009293"/>
                <a:gd name="connsiteY23" fmla="*/ 1157063 h 1198266"/>
                <a:gd name="connsiteX24" fmla="*/ 0 w 4009293"/>
                <a:gd name="connsiteY24" fmla="*/ 1172423 h 1198266"/>
                <a:gd name="connsiteX25" fmla="*/ 0 w 4009293"/>
                <a:gd name="connsiteY25" fmla="*/ 199715 h 1198266"/>
                <a:gd name="connsiteX26" fmla="*/ 199715 w 4009293"/>
                <a:gd name="connsiteY26" fmla="*/ 0 h 1198266"/>
                <a:gd name="connsiteX0" fmla="*/ 199715 w 4009293"/>
                <a:gd name="connsiteY0" fmla="*/ 0 h 1198266"/>
                <a:gd name="connsiteX1" fmla="*/ 3809578 w 4009293"/>
                <a:gd name="connsiteY1" fmla="*/ 0 h 1198266"/>
                <a:gd name="connsiteX2" fmla="*/ 4009293 w 4009293"/>
                <a:gd name="connsiteY2" fmla="*/ 199715 h 1198266"/>
                <a:gd name="connsiteX3" fmla="*/ 4005619 w 4009293"/>
                <a:gd name="connsiteY3" fmla="*/ 1174511 h 1198266"/>
                <a:gd name="connsiteX4" fmla="*/ 3828423 w 4009293"/>
                <a:gd name="connsiteY4" fmla="*/ 1100295 h 1198266"/>
                <a:gd name="connsiteX5" fmla="*/ 3647552 w 4009293"/>
                <a:gd name="connsiteY5" fmla="*/ 1193243 h 1198266"/>
                <a:gd name="connsiteX6" fmla="*/ 3648537 w 4009293"/>
                <a:gd name="connsiteY6" fmla="*/ 1198266 h 1198266"/>
                <a:gd name="connsiteX7" fmla="*/ 3642527 w 4009293"/>
                <a:gd name="connsiteY7" fmla="*/ 1198266 h 1198266"/>
                <a:gd name="connsiteX8" fmla="*/ 3642527 w 4009293"/>
                <a:gd name="connsiteY8" fmla="*/ 494257 h 1198266"/>
                <a:gd name="connsiteX9" fmla="*/ 3486146 w 4009293"/>
                <a:gd name="connsiteY9" fmla="*/ 337876 h 1198266"/>
                <a:gd name="connsiteX10" fmla="*/ 2331851 w 4009293"/>
                <a:gd name="connsiteY10" fmla="*/ 337876 h 1198266"/>
                <a:gd name="connsiteX11" fmla="*/ 2175470 w 4009293"/>
                <a:gd name="connsiteY11" fmla="*/ 494257 h 1198266"/>
                <a:gd name="connsiteX12" fmla="*/ 2166280 w 4009293"/>
                <a:gd name="connsiteY12" fmla="*/ 1157063 h 1198266"/>
                <a:gd name="connsiteX13" fmla="*/ 1999623 w 4009293"/>
                <a:gd name="connsiteY13" fmla="*/ 1100295 h 1198266"/>
                <a:gd name="connsiteX14" fmla="*/ 1832966 w 4009293"/>
                <a:gd name="connsiteY14" fmla="*/ 1157063 h 1198266"/>
                <a:gd name="connsiteX15" fmla="*/ 1823775 w 4009293"/>
                <a:gd name="connsiteY15" fmla="*/ 1172279 h 1198266"/>
                <a:gd name="connsiteX16" fmla="*/ 1823775 w 4009293"/>
                <a:gd name="connsiteY16" fmla="*/ 495931 h 1198266"/>
                <a:gd name="connsiteX17" fmla="*/ 1665720 w 4009293"/>
                <a:gd name="connsiteY17" fmla="*/ 337876 h 1198266"/>
                <a:gd name="connsiteX18" fmla="*/ 514773 w 4009293"/>
                <a:gd name="connsiteY18" fmla="*/ 337876 h 1198266"/>
                <a:gd name="connsiteX19" fmla="*/ 356718 w 4009293"/>
                <a:gd name="connsiteY19" fmla="*/ 495931 h 1198266"/>
                <a:gd name="connsiteX20" fmla="*/ 353131 w 4009293"/>
                <a:gd name="connsiteY20" fmla="*/ 1174511 h 1198266"/>
                <a:gd name="connsiteX21" fmla="*/ 175935 w 4009293"/>
                <a:gd name="connsiteY21" fmla="*/ 1100295 h 1198266"/>
                <a:gd name="connsiteX22" fmla="*/ 9278 w 4009293"/>
                <a:gd name="connsiteY22" fmla="*/ 1157063 h 1198266"/>
                <a:gd name="connsiteX23" fmla="*/ 0 w 4009293"/>
                <a:gd name="connsiteY23" fmla="*/ 1172423 h 1198266"/>
                <a:gd name="connsiteX24" fmla="*/ 0 w 4009293"/>
                <a:gd name="connsiteY24" fmla="*/ 199715 h 1198266"/>
                <a:gd name="connsiteX25" fmla="*/ 199715 w 4009293"/>
                <a:gd name="connsiteY25" fmla="*/ 0 h 11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09293" h="1198266">
                  <a:moveTo>
                    <a:pt x="199715" y="0"/>
                  </a:moveTo>
                  <a:lnTo>
                    <a:pt x="3809578" y="0"/>
                  </a:lnTo>
                  <a:cubicBezTo>
                    <a:pt x="3919878" y="0"/>
                    <a:pt x="4009293" y="89415"/>
                    <a:pt x="4009293" y="199715"/>
                  </a:cubicBezTo>
                  <a:cubicBezTo>
                    <a:pt x="4008068" y="524647"/>
                    <a:pt x="4006844" y="849579"/>
                    <a:pt x="4005619" y="1174511"/>
                  </a:cubicBezTo>
                  <a:cubicBezTo>
                    <a:pt x="3988754" y="1132156"/>
                    <a:pt x="3915828" y="1100295"/>
                    <a:pt x="3828423" y="1100295"/>
                  </a:cubicBezTo>
                  <a:cubicBezTo>
                    <a:pt x="3728531" y="1100295"/>
                    <a:pt x="3647552" y="1141909"/>
                    <a:pt x="3647552" y="1193243"/>
                  </a:cubicBezTo>
                  <a:lnTo>
                    <a:pt x="3648537" y="1198266"/>
                  </a:lnTo>
                  <a:lnTo>
                    <a:pt x="3642527" y="1198266"/>
                  </a:lnTo>
                  <a:lnTo>
                    <a:pt x="3642527" y="494257"/>
                  </a:lnTo>
                  <a:cubicBezTo>
                    <a:pt x="3642527" y="407890"/>
                    <a:pt x="3572513" y="337876"/>
                    <a:pt x="3486146" y="337876"/>
                  </a:cubicBezTo>
                  <a:lnTo>
                    <a:pt x="2331851" y="337876"/>
                  </a:lnTo>
                  <a:cubicBezTo>
                    <a:pt x="2245484" y="337876"/>
                    <a:pt x="2175470" y="407890"/>
                    <a:pt x="2175470" y="494257"/>
                  </a:cubicBezTo>
                  <a:lnTo>
                    <a:pt x="2166280" y="1157063"/>
                  </a:lnTo>
                  <a:cubicBezTo>
                    <a:pt x="2138822" y="1123703"/>
                    <a:pt x="2074542" y="1100295"/>
                    <a:pt x="1999623" y="1100295"/>
                  </a:cubicBezTo>
                  <a:cubicBezTo>
                    <a:pt x="1924704" y="1100295"/>
                    <a:pt x="1860424" y="1123703"/>
                    <a:pt x="1832966" y="1157063"/>
                  </a:cubicBezTo>
                  <a:lnTo>
                    <a:pt x="1823775" y="1172279"/>
                  </a:lnTo>
                  <a:lnTo>
                    <a:pt x="1823775" y="495931"/>
                  </a:lnTo>
                  <a:cubicBezTo>
                    <a:pt x="1823775" y="408640"/>
                    <a:pt x="1753011" y="337876"/>
                    <a:pt x="1665720" y="337876"/>
                  </a:cubicBezTo>
                  <a:lnTo>
                    <a:pt x="514773" y="337876"/>
                  </a:lnTo>
                  <a:cubicBezTo>
                    <a:pt x="427482" y="337876"/>
                    <a:pt x="356718" y="408640"/>
                    <a:pt x="356718" y="495931"/>
                  </a:cubicBezTo>
                  <a:cubicBezTo>
                    <a:pt x="355522" y="722124"/>
                    <a:pt x="354327" y="948318"/>
                    <a:pt x="353131" y="1174511"/>
                  </a:cubicBezTo>
                  <a:cubicBezTo>
                    <a:pt x="336266" y="1132156"/>
                    <a:pt x="263341" y="1100295"/>
                    <a:pt x="175935" y="1100295"/>
                  </a:cubicBezTo>
                  <a:cubicBezTo>
                    <a:pt x="101016" y="1100295"/>
                    <a:pt x="36736" y="1123703"/>
                    <a:pt x="9278" y="1157063"/>
                  </a:cubicBezTo>
                  <a:lnTo>
                    <a:pt x="0" y="1172423"/>
                  </a:lnTo>
                  <a:lnTo>
                    <a:pt x="0" y="199715"/>
                  </a:lnTo>
                  <a:cubicBezTo>
                    <a:pt x="0" y="89415"/>
                    <a:pt x="89415" y="0"/>
                    <a:pt x="199715" y="0"/>
                  </a:cubicBezTo>
                  <a:close/>
                </a:path>
              </a:pathLst>
            </a:custGeom>
            <a:solidFill>
              <a:schemeClr val="accent2">
                <a:alpha val="60000"/>
              </a:schemeClr>
            </a:solidFill>
            <a:ln w="12700">
              <a:noFill/>
              <a:miter lim="800000"/>
            </a:ln>
            <a:effectLst/>
            <a:scene3d>
              <a:camera prst="orthographicFront"/>
              <a:lightRig rig="contrasting" dir="t"/>
            </a:scene3d>
            <a:sp3d contourW="12700">
              <a:bevelT/>
              <a:contourClr>
                <a:schemeClr val="bg1">
                  <a:lumMod val="95000"/>
                </a:schemeClr>
              </a:contourClr>
            </a:sp3d>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90" name="TextBox 189">
              <a:extLst>
                <a:ext uri="{FF2B5EF4-FFF2-40B4-BE49-F238E27FC236}">
                  <a16:creationId xmlns:a16="http://schemas.microsoft.com/office/drawing/2014/main" id="{455E8523-934B-24EC-E299-D2053533F75F}"/>
                </a:ext>
              </a:extLst>
            </p:cNvPr>
            <p:cNvSpPr txBox="1"/>
            <p:nvPr/>
          </p:nvSpPr>
          <p:spPr>
            <a:xfrm>
              <a:off x="2194560" y="3146801"/>
              <a:ext cx="3036771"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Tunnels over physical infrastructure</a:t>
              </a:r>
            </a:p>
          </p:txBody>
        </p:sp>
      </p:grpSp>
      <p:sp>
        <p:nvSpPr>
          <p:cNvPr id="78" name="Rectangle 77">
            <a:extLst>
              <a:ext uri="{FF2B5EF4-FFF2-40B4-BE49-F238E27FC236}">
                <a16:creationId xmlns:a16="http://schemas.microsoft.com/office/drawing/2014/main" id="{1958E77C-0FF5-0FE3-4706-CC58FF6F1FC0}"/>
              </a:ext>
            </a:extLst>
          </p:cNvPr>
          <p:cNvSpPr/>
          <p:nvPr/>
        </p:nvSpPr>
        <p:spPr bwMode="gray">
          <a:xfrm>
            <a:off x="1270312" y="4958697"/>
            <a:ext cx="185871" cy="185871"/>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 name="Rectangle: Rounded Corners 144">
            <a:extLst>
              <a:ext uri="{FF2B5EF4-FFF2-40B4-BE49-F238E27FC236}">
                <a16:creationId xmlns:a16="http://schemas.microsoft.com/office/drawing/2014/main" id="{EBEDA37C-744B-92CC-B144-2E599BC967E2}"/>
              </a:ext>
            </a:extLst>
          </p:cNvPr>
          <p:cNvSpPr/>
          <p:nvPr/>
        </p:nvSpPr>
        <p:spPr>
          <a:xfrm>
            <a:off x="869486" y="3567173"/>
            <a:ext cx="5421854" cy="393192"/>
          </a:xfrm>
          <a:prstGeom prst="roundRect">
            <a:avLst>
              <a:gd name="adj" fmla="val 50000"/>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VCF with NSX Virtual Networking</a:t>
            </a:r>
          </a:p>
        </p:txBody>
      </p:sp>
    </p:spTree>
    <p:extLst>
      <p:ext uri="{BB962C8B-B14F-4D97-AF65-F5344CB8AC3E}">
        <p14:creationId xmlns:p14="http://schemas.microsoft.com/office/powerpoint/2010/main" val="3413237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1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wipe(left)">
                                      <p:cBhvr>
                                        <p:cTn id="18" dur="500"/>
                                        <p:tgtEl>
                                          <p:spTgt spid="46"/>
                                        </p:tgtEl>
                                      </p:cBhvr>
                                    </p:animEffect>
                                  </p:childTnLst>
                                </p:cTn>
                              </p:par>
                            </p:childTnLst>
                          </p:cTn>
                        </p:par>
                        <p:par>
                          <p:cTn id="19" fill="hold">
                            <p:stCondLst>
                              <p:cond delay="500"/>
                            </p:stCondLst>
                            <p:childTnLst>
                              <p:par>
                                <p:cTn id="20" presetID="1" presetClass="entr" presetSubtype="0" fill="hold" grpId="1" nodeType="afterEffect">
                                  <p:stCondLst>
                                    <p:cond delay="0"/>
                                  </p:stCondLst>
                                  <p:childTnLst>
                                    <p:set>
                                      <p:cBhvr>
                                        <p:cTn id="21" dur="1" fill="hold">
                                          <p:stCondLst>
                                            <p:cond delay="0"/>
                                          </p:stCondLst>
                                        </p:cTn>
                                        <p:tgtEl>
                                          <p:spTgt spid="78"/>
                                        </p:tgtEl>
                                        <p:attrNameLst>
                                          <p:attrName>style.visibility</p:attrName>
                                        </p:attrNameLst>
                                      </p:cBhvr>
                                      <p:to>
                                        <p:strVal val="visible"/>
                                      </p:to>
                                    </p:set>
                                  </p:childTnLst>
                                </p:cTn>
                              </p:par>
                            </p:childTnLst>
                          </p:cTn>
                        </p:par>
                        <p:par>
                          <p:cTn id="22" fill="hold">
                            <p:stCondLst>
                              <p:cond delay="500"/>
                            </p:stCondLst>
                            <p:childTnLst>
                              <p:par>
                                <p:cTn id="23" presetID="0" presetClass="path" presetSubtype="0" repeatCount="indefinite" fill="hold" grpId="0" nodeType="afterEffect">
                                  <p:stCondLst>
                                    <p:cond delay="0"/>
                                  </p:stCondLst>
                                  <p:endCondLst>
                                    <p:cond evt="onNext" delay="0">
                                      <p:tgtEl>
                                        <p:sldTgt/>
                                      </p:tgtEl>
                                    </p:cond>
                                  </p:endCondLst>
                                  <p:childTnLst>
                                    <p:animMotion origin="layout" path="M 2.149E-6 -0.0162 L 0.02709 -0.01504 C 0.02774 -0.09305 0.02826 -0.1706 0.02865 -0.24791 L 0.17439 -0.24421 C 0.17491 -0.16736 0.1753 -0.09004 0.17596 -0.01273 L 0.21177 -0.0162 " pathEditMode="relative" rAng="0" ptsTypes="AAAAAA">
                                      <p:cBhvr>
                                        <p:cTn id="24" dur="1000" fill="hold"/>
                                        <p:tgtEl>
                                          <p:spTgt spid="78"/>
                                        </p:tgtEl>
                                        <p:attrNameLst>
                                          <p:attrName>ppt_x</p:attrName>
                                          <p:attrName>ppt_y</p:attrName>
                                        </p:attrNameLst>
                                      </p:cBhvr>
                                      <p:rCtr x="10589" y="-11412"/>
                                    </p:animMotion>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2" nodeType="clickEffect">
                                  <p:stCondLst>
                                    <p:cond delay="0"/>
                                  </p:stCondLst>
                                  <p:childTnLst>
                                    <p:set>
                                      <p:cBhvr>
                                        <p:cTn id="28" dur="1" fill="hold">
                                          <p:stCondLst>
                                            <p:cond delay="0"/>
                                          </p:stCondLst>
                                        </p:cTn>
                                        <p:tgtEl>
                                          <p:spTgt spid="78"/>
                                        </p:tgtEl>
                                        <p:attrNameLst>
                                          <p:attrName>style.visibility</p:attrName>
                                        </p:attrNameLst>
                                      </p:cBhvr>
                                      <p:to>
                                        <p:strVal val="hidden"/>
                                      </p:to>
                                    </p:set>
                                  </p:childTnLst>
                                </p:cTn>
                              </p:par>
                              <p:par>
                                <p:cTn id="29" presetID="22" presetClass="entr" presetSubtype="8" fill="hold" nodeType="withEffect">
                                  <p:stCondLst>
                                    <p:cond delay="0"/>
                                  </p:stCondLst>
                                  <p:childTnLst>
                                    <p:set>
                                      <p:cBhvr>
                                        <p:cTn id="30" dur="1" fill="hold">
                                          <p:stCondLst>
                                            <p:cond delay="0"/>
                                          </p:stCondLst>
                                        </p:cTn>
                                        <p:tgtEl>
                                          <p:spTgt spid="76"/>
                                        </p:tgtEl>
                                        <p:attrNameLst>
                                          <p:attrName>style.visibility</p:attrName>
                                        </p:attrNameLst>
                                      </p:cBhvr>
                                      <p:to>
                                        <p:strVal val="visible"/>
                                      </p:to>
                                    </p:set>
                                    <p:animEffect transition="in" filter="wipe(left)">
                                      <p:cBhvr>
                                        <p:cTn id="31" dur="500"/>
                                        <p:tgtEl>
                                          <p:spTgt spid="76"/>
                                        </p:tgtEl>
                                      </p:cBhvr>
                                    </p:animEffect>
                                  </p:childTnLst>
                                </p:cTn>
                              </p:par>
                            </p:childTnLst>
                          </p:cTn>
                        </p:par>
                        <p:par>
                          <p:cTn id="32" fill="hold">
                            <p:stCondLst>
                              <p:cond delay="500"/>
                            </p:stCondLst>
                            <p:childTnLst>
                              <p:par>
                                <p:cTn id="33" presetID="22" presetClass="entr" presetSubtype="4" fill="hold" grpId="0" nodeType="afterEffect">
                                  <p:stCondLst>
                                    <p:cond delay="0"/>
                                  </p:stCondLst>
                                  <p:childTnLst>
                                    <p:set>
                                      <p:cBhvr>
                                        <p:cTn id="34" dur="1" fill="hold">
                                          <p:stCondLst>
                                            <p:cond delay="0"/>
                                          </p:stCondLst>
                                        </p:cTn>
                                        <p:tgtEl>
                                          <p:spTgt spid="47"/>
                                        </p:tgtEl>
                                        <p:attrNameLst>
                                          <p:attrName>style.visibility</p:attrName>
                                        </p:attrNameLst>
                                      </p:cBhvr>
                                      <p:to>
                                        <p:strVal val="visible"/>
                                      </p:to>
                                    </p:set>
                                    <p:animEffect transition="in" filter="wipe(down)">
                                      <p:cBhvr>
                                        <p:cTn id="35" dur="500"/>
                                        <p:tgtEl>
                                          <p:spTgt spid="47"/>
                                        </p:tgtEl>
                                      </p:cBhvr>
                                    </p:animEffect>
                                  </p:childTnLst>
                                </p:cTn>
                              </p:par>
                            </p:childTnLst>
                          </p:cTn>
                        </p:par>
                        <p:par>
                          <p:cTn id="36" fill="hold">
                            <p:stCondLst>
                              <p:cond delay="1000"/>
                            </p:stCondLst>
                            <p:childTnLst>
                              <p:par>
                                <p:cTn id="37" presetID="22" presetClass="entr" presetSubtype="8" fill="hold" nodeType="afterEffect">
                                  <p:stCondLst>
                                    <p:cond delay="0"/>
                                  </p:stCondLst>
                                  <p:childTnLst>
                                    <p:set>
                                      <p:cBhvr>
                                        <p:cTn id="38" dur="1" fill="hold">
                                          <p:stCondLst>
                                            <p:cond delay="0"/>
                                          </p:stCondLst>
                                        </p:cTn>
                                        <p:tgtEl>
                                          <p:spTgt spid="77"/>
                                        </p:tgtEl>
                                        <p:attrNameLst>
                                          <p:attrName>style.visibility</p:attrName>
                                        </p:attrNameLst>
                                      </p:cBhvr>
                                      <p:to>
                                        <p:strVal val="visible"/>
                                      </p:to>
                                    </p:set>
                                    <p:animEffect transition="in" filter="wipe(left)">
                                      <p:cBhvr>
                                        <p:cTn id="39" dur="500"/>
                                        <p:tgtEl>
                                          <p:spTgt spid="77"/>
                                        </p:tgtEl>
                                      </p:cBhvr>
                                    </p:animEffect>
                                  </p:childTnLst>
                                </p:cTn>
                              </p:par>
                            </p:childTnLst>
                          </p:cTn>
                        </p:par>
                        <p:par>
                          <p:cTn id="40" fill="hold">
                            <p:stCondLst>
                              <p:cond delay="1500"/>
                            </p:stCondLst>
                            <p:childTnLst>
                              <p:par>
                                <p:cTn id="41" presetID="22" presetClass="entr" presetSubtype="4" fill="hold" grpId="0" nodeType="afterEffect">
                                  <p:stCondLst>
                                    <p:cond delay="0"/>
                                  </p:stCondLst>
                                  <p:childTnLst>
                                    <p:set>
                                      <p:cBhvr>
                                        <p:cTn id="42" dur="1" fill="hold">
                                          <p:stCondLst>
                                            <p:cond delay="0"/>
                                          </p:stCondLst>
                                        </p:cTn>
                                        <p:tgtEl>
                                          <p:spTgt spid="45"/>
                                        </p:tgtEl>
                                        <p:attrNameLst>
                                          <p:attrName>style.visibility</p:attrName>
                                        </p:attrNameLst>
                                      </p:cBhvr>
                                      <p:to>
                                        <p:strVal val="visible"/>
                                      </p:to>
                                    </p:set>
                                    <p:animEffect transition="in" filter="wipe(down)">
                                      <p:cBhvr>
                                        <p:cTn id="43"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animBg="1"/>
      <p:bldP spid="47" grpId="0" animBg="1"/>
      <p:bldP spid="78" grpId="0" animBg="1"/>
      <p:bldP spid="78" grpId="1" animBg="1"/>
      <p:bldP spid="78" grpId="2"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47455B-41A4-47E5-EE9F-7E7B482DAB3B}"/>
            </a:ext>
          </a:extLst>
        </p:cNvPr>
        <p:cNvGrpSpPr/>
        <p:nvPr/>
      </p:nvGrpSpPr>
      <p:grpSpPr>
        <a:xfrm>
          <a:off x="0" y="0"/>
          <a:ext cx="0" cy="0"/>
          <a:chOff x="0" y="0"/>
          <a:chExt cx="0" cy="0"/>
        </a:xfrm>
      </p:grpSpPr>
      <p:grpSp>
        <p:nvGrpSpPr>
          <p:cNvPr id="94" name="Group 93">
            <a:extLst>
              <a:ext uri="{FF2B5EF4-FFF2-40B4-BE49-F238E27FC236}">
                <a16:creationId xmlns:a16="http://schemas.microsoft.com/office/drawing/2014/main" id="{58FB4D0D-4D9D-4083-6627-57BA16C0FE06}"/>
              </a:ext>
            </a:extLst>
          </p:cNvPr>
          <p:cNvGrpSpPr/>
          <p:nvPr/>
        </p:nvGrpSpPr>
        <p:grpSpPr>
          <a:xfrm flipH="1">
            <a:off x="6596829" y="4638119"/>
            <a:ext cx="5380806" cy="792064"/>
            <a:chOff x="3383881" y="2102447"/>
            <a:chExt cx="3261261" cy="457200"/>
          </a:xfrm>
        </p:grpSpPr>
        <p:sp>
          <p:nvSpPr>
            <p:cNvPr id="100" name="Freeform: Shape 126">
              <a:extLst>
                <a:ext uri="{FF2B5EF4-FFF2-40B4-BE49-F238E27FC236}">
                  <a16:creationId xmlns:a16="http://schemas.microsoft.com/office/drawing/2014/main" id="{0BDB21E1-E2D2-C76E-8B74-4738CD5DD728}"/>
                </a:ext>
              </a:extLst>
            </p:cNvPr>
            <p:cNvSpPr/>
            <p:nvPr/>
          </p:nvSpPr>
          <p:spPr>
            <a:xfrm>
              <a:off x="3383881" y="2102447"/>
              <a:ext cx="3261261" cy="457200"/>
            </a:xfrm>
            <a:custGeom>
              <a:avLst/>
              <a:gdLst>
                <a:gd name="connsiteX0" fmla="*/ 0 w 3030663"/>
                <a:gd name="connsiteY0" fmla="*/ 0 h 457200"/>
                <a:gd name="connsiteX1" fmla="*/ 2520956 w 3030663"/>
                <a:gd name="connsiteY1" fmla="*/ 0 h 457200"/>
                <a:gd name="connsiteX2" fmla="*/ 2539224 w 3030663"/>
                <a:gd name="connsiteY2" fmla="*/ 0 h 457200"/>
                <a:gd name="connsiteX3" fmla="*/ 2856223 w 3030663"/>
                <a:gd name="connsiteY3" fmla="*/ 0 h 457200"/>
                <a:gd name="connsiteX4" fmla="*/ 2886476 w 3030663"/>
                <a:gd name="connsiteY4" fmla="*/ 15527 h 457200"/>
                <a:gd name="connsiteX5" fmla="*/ 3023732 w 3030663"/>
                <a:gd name="connsiteY5" fmla="*/ 207028 h 457200"/>
                <a:gd name="connsiteX6" fmla="*/ 3023732 w 3030663"/>
                <a:gd name="connsiteY6" fmla="*/ 250171 h 457200"/>
                <a:gd name="connsiteX7" fmla="*/ 2886476 w 3030663"/>
                <a:gd name="connsiteY7" fmla="*/ 441673 h 457200"/>
                <a:gd name="connsiteX8" fmla="*/ 2856223 w 3030663"/>
                <a:gd name="connsiteY8" fmla="*/ 457200 h 457200"/>
                <a:gd name="connsiteX9" fmla="*/ 2539224 w 3030663"/>
                <a:gd name="connsiteY9" fmla="*/ 457200 h 457200"/>
                <a:gd name="connsiteX10" fmla="*/ 2520956 w 3030663"/>
                <a:gd name="connsiteY10" fmla="*/ 457200 h 457200"/>
                <a:gd name="connsiteX11" fmla="*/ 0 w 3030663"/>
                <a:gd name="connsiteY11"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0663" h="457200">
                  <a:moveTo>
                    <a:pt x="0" y="0"/>
                  </a:moveTo>
                  <a:lnTo>
                    <a:pt x="2520956" y="0"/>
                  </a:lnTo>
                  <a:lnTo>
                    <a:pt x="2539224" y="0"/>
                  </a:lnTo>
                  <a:lnTo>
                    <a:pt x="2856223" y="0"/>
                  </a:lnTo>
                  <a:cubicBezTo>
                    <a:pt x="2868239" y="0"/>
                    <a:pt x="2879509" y="5778"/>
                    <a:pt x="2886476" y="15527"/>
                  </a:cubicBezTo>
                  <a:lnTo>
                    <a:pt x="3023732" y="207028"/>
                  </a:lnTo>
                  <a:cubicBezTo>
                    <a:pt x="3032974" y="219932"/>
                    <a:pt x="3032974" y="237268"/>
                    <a:pt x="3023732" y="250171"/>
                  </a:cubicBezTo>
                  <a:lnTo>
                    <a:pt x="2886476" y="441673"/>
                  </a:lnTo>
                  <a:cubicBezTo>
                    <a:pt x="2879509" y="451421"/>
                    <a:pt x="2868204" y="457200"/>
                    <a:pt x="2856223" y="457200"/>
                  </a:cubicBezTo>
                  <a:lnTo>
                    <a:pt x="2539224" y="457200"/>
                  </a:lnTo>
                  <a:lnTo>
                    <a:pt x="2520956" y="457200"/>
                  </a:lnTo>
                  <a:lnTo>
                    <a:pt x="0" y="457200"/>
                  </a:lnTo>
                  <a:close/>
                </a:path>
              </a:pathLst>
            </a:custGeom>
            <a:gradFill>
              <a:gsLst>
                <a:gs pos="0">
                  <a:schemeClr val="bg2">
                    <a:lumMod val="90000"/>
                  </a:schemeClr>
                </a:gs>
                <a:gs pos="70000">
                  <a:schemeClr val="bg2">
                    <a:lumMod val="90000"/>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01" name="Striped Right Arrow 225">
              <a:extLst>
                <a:ext uri="{FF2B5EF4-FFF2-40B4-BE49-F238E27FC236}">
                  <a16:creationId xmlns:a16="http://schemas.microsoft.com/office/drawing/2014/main" id="{35F77437-00B0-300D-3817-46CDC3FCE918}"/>
                </a:ext>
              </a:extLst>
            </p:cNvPr>
            <p:cNvSpPr/>
            <p:nvPr/>
          </p:nvSpPr>
          <p:spPr>
            <a:xfrm>
              <a:off x="3918857" y="2145427"/>
              <a:ext cx="2368967" cy="36917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NSX REST API</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Automation</a:t>
              </a:r>
            </a:p>
          </p:txBody>
        </p:sp>
        <p:sp>
          <p:nvSpPr>
            <p:cNvPr id="103" name="Graphic 6096">
              <a:extLst>
                <a:ext uri="{FF2B5EF4-FFF2-40B4-BE49-F238E27FC236}">
                  <a16:creationId xmlns:a16="http://schemas.microsoft.com/office/drawing/2014/main" id="{D536C4BD-8500-208D-3E65-F9B2A2769838}"/>
                </a:ext>
              </a:extLst>
            </p:cNvPr>
            <p:cNvSpPr/>
            <p:nvPr/>
          </p:nvSpPr>
          <p:spPr>
            <a:xfrm>
              <a:off x="6293302" y="2145812"/>
              <a:ext cx="258311" cy="370470"/>
            </a:xfrm>
            <a:custGeom>
              <a:avLst/>
              <a:gdLst>
                <a:gd name="connsiteX0" fmla="*/ 0 w 469820"/>
                <a:gd name="connsiteY0" fmla="*/ 675704 h 675703"/>
                <a:gd name="connsiteX1" fmla="*/ 210503 w 469820"/>
                <a:gd name="connsiteY1" fmla="*/ 675704 h 675703"/>
                <a:gd name="connsiteX2" fmla="*/ 258699 w 469820"/>
                <a:gd name="connsiteY2" fmla="*/ 650843 h 675703"/>
                <a:gd name="connsiteX3" fmla="*/ 459962 w 469820"/>
                <a:gd name="connsiteY3" fmla="*/ 368713 h 675703"/>
                <a:gd name="connsiteX4" fmla="*/ 459962 w 469820"/>
                <a:gd name="connsiteY4" fmla="*/ 306896 h 675703"/>
                <a:gd name="connsiteX5" fmla="*/ 260033 w 469820"/>
                <a:gd name="connsiteY5" fmla="*/ 26670 h 675703"/>
                <a:gd name="connsiteX6" fmla="*/ 208217 w 469820"/>
                <a:gd name="connsiteY6" fmla="*/ 0 h 675703"/>
                <a:gd name="connsiteX7" fmla="*/ 0 w 469820"/>
                <a:gd name="connsiteY7" fmla="*/ 0 h 675703"/>
                <a:gd name="connsiteX8" fmla="*/ 223266 w 469820"/>
                <a:gd name="connsiteY8" fmla="*/ 312992 h 675703"/>
                <a:gd name="connsiteX9" fmla="*/ 223266 w 469820"/>
                <a:gd name="connsiteY9" fmla="*/ 362712 h 675703"/>
                <a:gd name="connsiteX10" fmla="*/ 0 w 469820"/>
                <a:gd name="connsiteY10" fmla="*/ 675704 h 675703"/>
                <a:gd name="connsiteX11" fmla="*/ 0 w 469820"/>
                <a:gd name="connsiteY11" fmla="*/ 675704 h 6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20" h="675703">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401" tIns="45688" rIns="91401"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Tx/>
                <a:buNone/>
                <a:tabLst/>
                <a:defRPr/>
              </a:pPr>
              <a:endParaRPr kumimoji="0" lang="en-US" sz="1200" b="0" i="0" u="none" strike="noStrike" kern="1200" cap="none" spc="0" normalizeH="0" baseline="0" noProof="0">
                <a:ln>
                  <a:noFill/>
                </a:ln>
                <a:solidFill>
                  <a:srgbClr val="3C3C3C"/>
                </a:solidFill>
                <a:effectLst/>
                <a:uLnTx/>
                <a:uFillTx/>
                <a:latin typeface="Arial" panose="020B0604020202020204"/>
                <a:ea typeface="+mn-ea"/>
                <a:cs typeface="Arial"/>
              </a:endParaRPr>
            </a:p>
          </p:txBody>
        </p:sp>
      </p:grpSp>
      <p:sp>
        <p:nvSpPr>
          <p:cNvPr id="104" name="Rectangle: Rounded Corners 171">
            <a:extLst>
              <a:ext uri="{FF2B5EF4-FFF2-40B4-BE49-F238E27FC236}">
                <a16:creationId xmlns:a16="http://schemas.microsoft.com/office/drawing/2014/main" id="{9827191F-4BFD-830B-615B-00B7DD563A30}"/>
              </a:ext>
            </a:extLst>
          </p:cNvPr>
          <p:cNvSpPr/>
          <p:nvPr/>
        </p:nvSpPr>
        <p:spPr>
          <a:xfrm flipH="1">
            <a:off x="9143999" y="1923583"/>
            <a:ext cx="2436989" cy="3628663"/>
          </a:xfrm>
          <a:prstGeom prst="roundRect">
            <a:avLst>
              <a:gd name="adj" fmla="val 4067"/>
            </a:avLst>
          </a:prstGeom>
          <a:gradFill>
            <a:gsLst>
              <a:gs pos="0">
                <a:schemeClr val="bg2"/>
              </a:gs>
              <a:gs pos="99000">
                <a:schemeClr val="bg2">
                  <a:alpha val="0"/>
                </a:schemeClr>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BOTTOM">
            <a:extLst>
              <a:ext uri="{FF2B5EF4-FFF2-40B4-BE49-F238E27FC236}">
                <a16:creationId xmlns:a16="http://schemas.microsoft.com/office/drawing/2014/main" id="{D06293B1-4FCE-F138-CA9B-871B7FE1103A}"/>
              </a:ext>
            </a:extLst>
          </p:cNvPr>
          <p:cNvSpPr/>
          <p:nvPr/>
        </p:nvSpPr>
        <p:spPr>
          <a:xfrm rot="10800000" flipV="1">
            <a:off x="627405" y="1600200"/>
            <a:ext cx="5924208" cy="2071149"/>
          </a:xfrm>
          <a:prstGeom prst="round2SameRect">
            <a:avLst>
              <a:gd name="adj1" fmla="val 7233"/>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4" name="!!TOP">
            <a:extLst>
              <a:ext uri="{FF2B5EF4-FFF2-40B4-BE49-F238E27FC236}">
                <a16:creationId xmlns:a16="http://schemas.microsoft.com/office/drawing/2014/main" id="{5E20045C-2190-ADCC-623E-13CD144FA8E9}"/>
              </a:ext>
            </a:extLst>
          </p:cNvPr>
          <p:cNvSpPr/>
          <p:nvPr/>
        </p:nvSpPr>
        <p:spPr>
          <a:xfrm flipV="1">
            <a:off x="627406" y="3886200"/>
            <a:ext cx="5924207" cy="2285996"/>
          </a:xfrm>
          <a:prstGeom prst="round2SameRect">
            <a:avLst>
              <a:gd name="adj1" fmla="val 72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grpSp>
        <p:nvGrpSpPr>
          <p:cNvPr id="5" name="Group 4">
            <a:extLst>
              <a:ext uri="{FF2B5EF4-FFF2-40B4-BE49-F238E27FC236}">
                <a16:creationId xmlns:a16="http://schemas.microsoft.com/office/drawing/2014/main" id="{6DA25DF1-0FB1-37FC-DF60-E01FC83BED69}"/>
              </a:ext>
            </a:extLst>
          </p:cNvPr>
          <p:cNvGrpSpPr/>
          <p:nvPr/>
        </p:nvGrpSpPr>
        <p:grpSpPr>
          <a:xfrm>
            <a:off x="2292252" y="2515495"/>
            <a:ext cx="1203522" cy="543290"/>
            <a:chOff x="2247375" y="4148923"/>
            <a:chExt cx="1203522" cy="543290"/>
          </a:xfrm>
        </p:grpSpPr>
        <p:sp>
          <p:nvSpPr>
            <p:cNvPr id="6" name="Rectangle: Rounded Corners 5">
              <a:extLst>
                <a:ext uri="{FF2B5EF4-FFF2-40B4-BE49-F238E27FC236}">
                  <a16:creationId xmlns:a16="http://schemas.microsoft.com/office/drawing/2014/main" id="{E190BDEC-F418-8BFE-8E25-2E4E730EF880}"/>
                </a:ext>
              </a:extLst>
            </p:cNvPr>
            <p:cNvSpPr>
              <a:spLocks noChangeAspect="1"/>
            </p:cNvSpPr>
            <p:nvPr/>
          </p:nvSpPr>
          <p:spPr>
            <a:xfrm>
              <a:off x="2247375" y="4148923"/>
              <a:ext cx="1203522" cy="543290"/>
            </a:xfrm>
            <a:prstGeom prst="roundRect">
              <a:avLst>
                <a:gd name="adj" fmla="val 10033"/>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Graphic 9">
              <a:extLst>
                <a:ext uri="{FF2B5EF4-FFF2-40B4-BE49-F238E27FC236}">
                  <a16:creationId xmlns:a16="http://schemas.microsoft.com/office/drawing/2014/main" id="{C826357B-3A9A-00E8-FDC0-EF0795BDCA67}"/>
                </a:ext>
              </a:extLst>
            </p:cNvPr>
            <p:cNvSpPr>
              <a:spLocks noChangeAspect="1"/>
            </p:cNvSpPr>
            <p:nvPr/>
          </p:nvSpPr>
          <p:spPr>
            <a:xfrm>
              <a:off x="2481912"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CFB77BE2-A046-178C-3BCE-24ECF8C52613}"/>
              </a:ext>
            </a:extLst>
          </p:cNvPr>
          <p:cNvGrpSpPr/>
          <p:nvPr/>
        </p:nvGrpSpPr>
        <p:grpSpPr>
          <a:xfrm>
            <a:off x="826995" y="2514600"/>
            <a:ext cx="1200052" cy="545078"/>
            <a:chOff x="782118" y="4148028"/>
            <a:chExt cx="1200052" cy="545078"/>
          </a:xfrm>
        </p:grpSpPr>
        <p:sp>
          <p:nvSpPr>
            <p:cNvPr id="9" name="Rectangle: Rounded Corners 8">
              <a:extLst>
                <a:ext uri="{FF2B5EF4-FFF2-40B4-BE49-F238E27FC236}">
                  <a16:creationId xmlns:a16="http://schemas.microsoft.com/office/drawing/2014/main" id="{976C5EE8-D33E-549A-D579-55B1F506471C}"/>
                </a:ext>
              </a:extLst>
            </p:cNvPr>
            <p:cNvSpPr>
              <a:spLocks noChangeAspect="1"/>
            </p:cNvSpPr>
            <p:nvPr/>
          </p:nvSpPr>
          <p:spPr>
            <a:xfrm>
              <a:off x="782118" y="4148028"/>
              <a:ext cx="1200052"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Graphic 9">
              <a:extLst>
                <a:ext uri="{FF2B5EF4-FFF2-40B4-BE49-F238E27FC236}">
                  <a16:creationId xmlns:a16="http://schemas.microsoft.com/office/drawing/2014/main" id="{E3D925FD-D8E7-F322-388A-2381E0B164C5}"/>
                </a:ext>
              </a:extLst>
            </p:cNvPr>
            <p:cNvSpPr>
              <a:spLocks noChangeAspect="1"/>
            </p:cNvSpPr>
            <p:nvPr/>
          </p:nvSpPr>
          <p:spPr>
            <a:xfrm>
              <a:off x="1014920"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1" name="Group 10">
            <a:extLst>
              <a:ext uri="{FF2B5EF4-FFF2-40B4-BE49-F238E27FC236}">
                <a16:creationId xmlns:a16="http://schemas.microsoft.com/office/drawing/2014/main" id="{800C9080-EC01-5951-ACA7-B816B0BB4BB7}"/>
              </a:ext>
            </a:extLst>
          </p:cNvPr>
          <p:cNvGrpSpPr/>
          <p:nvPr/>
        </p:nvGrpSpPr>
        <p:grpSpPr>
          <a:xfrm>
            <a:off x="5228818" y="2514600"/>
            <a:ext cx="1202590" cy="545078"/>
            <a:chOff x="5183941" y="4148028"/>
            <a:chExt cx="1202590" cy="545078"/>
          </a:xfrm>
        </p:grpSpPr>
        <p:sp>
          <p:nvSpPr>
            <p:cNvPr id="12" name="Rectangle: Rounded Corners 25">
              <a:extLst>
                <a:ext uri="{FF2B5EF4-FFF2-40B4-BE49-F238E27FC236}">
                  <a16:creationId xmlns:a16="http://schemas.microsoft.com/office/drawing/2014/main" id="{75EB6C65-6DBA-A500-4426-2E02DA31DAFF}"/>
                </a:ext>
              </a:extLst>
            </p:cNvPr>
            <p:cNvSpPr>
              <a:spLocks noChangeAspect="1"/>
            </p:cNvSpPr>
            <p:nvPr/>
          </p:nvSpPr>
          <p:spPr>
            <a:xfrm>
              <a:off x="5183941" y="4148028"/>
              <a:ext cx="1202590"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 name="Graphic 9">
              <a:extLst>
                <a:ext uri="{FF2B5EF4-FFF2-40B4-BE49-F238E27FC236}">
                  <a16:creationId xmlns:a16="http://schemas.microsoft.com/office/drawing/2014/main" id="{BF7896F6-6C00-C6DF-6A2E-830DAE5D0636}"/>
                </a:ext>
              </a:extLst>
            </p:cNvPr>
            <p:cNvSpPr>
              <a:spLocks noChangeAspect="1"/>
            </p:cNvSpPr>
            <p:nvPr/>
          </p:nvSpPr>
          <p:spPr>
            <a:xfrm>
              <a:off x="5418012"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4" name="Group 13">
            <a:extLst>
              <a:ext uri="{FF2B5EF4-FFF2-40B4-BE49-F238E27FC236}">
                <a16:creationId xmlns:a16="http://schemas.microsoft.com/office/drawing/2014/main" id="{DE2A2853-2DF7-52DA-D0EC-1DBFF2C088E3}"/>
              </a:ext>
            </a:extLst>
          </p:cNvPr>
          <p:cNvGrpSpPr/>
          <p:nvPr/>
        </p:nvGrpSpPr>
        <p:grpSpPr>
          <a:xfrm>
            <a:off x="3761005" y="2514600"/>
            <a:ext cx="1202590" cy="545078"/>
            <a:chOff x="3716128" y="4148028"/>
            <a:chExt cx="1202590" cy="545078"/>
          </a:xfrm>
        </p:grpSpPr>
        <p:sp>
          <p:nvSpPr>
            <p:cNvPr id="15" name="Rectangle: Rounded Corners 28">
              <a:extLst>
                <a:ext uri="{FF2B5EF4-FFF2-40B4-BE49-F238E27FC236}">
                  <a16:creationId xmlns:a16="http://schemas.microsoft.com/office/drawing/2014/main" id="{33DC0BD6-8BB1-6A56-06EC-721446B8C864}"/>
                </a:ext>
              </a:extLst>
            </p:cNvPr>
            <p:cNvSpPr>
              <a:spLocks noChangeAspect="1"/>
            </p:cNvSpPr>
            <p:nvPr/>
          </p:nvSpPr>
          <p:spPr>
            <a:xfrm>
              <a:off x="3716128" y="4148028"/>
              <a:ext cx="1202590" cy="545078"/>
            </a:xfrm>
            <a:prstGeom prst="roundRect">
              <a:avLst>
                <a:gd name="adj" fmla="val 10000"/>
              </a:avLst>
            </a:prstGeom>
            <a:solidFill>
              <a:schemeClr val="bg1"/>
            </a:solidFill>
            <a:ln w="1905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Graphic 9">
              <a:extLst>
                <a:ext uri="{FF2B5EF4-FFF2-40B4-BE49-F238E27FC236}">
                  <a16:creationId xmlns:a16="http://schemas.microsoft.com/office/drawing/2014/main" id="{A90F43FB-D8C8-1285-B048-386CC3A04BE9}"/>
                </a:ext>
              </a:extLst>
            </p:cNvPr>
            <p:cNvSpPr>
              <a:spLocks noChangeAspect="1"/>
            </p:cNvSpPr>
            <p:nvPr/>
          </p:nvSpPr>
          <p:spPr>
            <a:xfrm>
              <a:off x="3950199" y="4323931"/>
              <a:ext cx="734448" cy="193273"/>
            </a:xfrm>
            <a:custGeom>
              <a:avLst/>
              <a:gdLst>
                <a:gd name="connsiteX0" fmla="*/ 0 w 763913"/>
                <a:gd name="connsiteY0" fmla="*/ 0 h 201029"/>
                <a:gd name="connsiteX1" fmla="*/ 0 w 763913"/>
                <a:gd name="connsiteY1" fmla="*/ 201030 h 201029"/>
                <a:gd name="connsiteX2" fmla="*/ 763913 w 763913"/>
                <a:gd name="connsiteY2" fmla="*/ 201030 h 201029"/>
                <a:gd name="connsiteX3" fmla="*/ 763913 w 763913"/>
                <a:gd name="connsiteY3" fmla="*/ 0 h 201029"/>
                <a:gd name="connsiteX4" fmla="*/ 0 w 763913"/>
                <a:gd name="connsiteY4" fmla="*/ 0 h 201029"/>
                <a:gd name="connsiteX5" fmla="*/ 80357 w 763913"/>
                <a:gd name="connsiteY5" fmla="*/ 130683 h 201029"/>
                <a:gd name="connsiteX6" fmla="*/ 60282 w 763913"/>
                <a:gd name="connsiteY6" fmla="*/ 130683 h 201029"/>
                <a:gd name="connsiteX7" fmla="*/ 60282 w 763913"/>
                <a:gd name="connsiteY7" fmla="*/ 110607 h 201029"/>
                <a:gd name="connsiteX8" fmla="*/ 80357 w 763913"/>
                <a:gd name="connsiteY8" fmla="*/ 110607 h 201029"/>
                <a:gd name="connsiteX9" fmla="*/ 80357 w 763913"/>
                <a:gd name="connsiteY9" fmla="*/ 130683 h 201029"/>
                <a:gd name="connsiteX10" fmla="*/ 80357 w 763913"/>
                <a:gd name="connsiteY10" fmla="*/ 90477 h 201029"/>
                <a:gd name="connsiteX11" fmla="*/ 60282 w 763913"/>
                <a:gd name="connsiteY11" fmla="*/ 90477 h 201029"/>
                <a:gd name="connsiteX12" fmla="*/ 60282 w 763913"/>
                <a:gd name="connsiteY12" fmla="*/ 70401 h 201029"/>
                <a:gd name="connsiteX13" fmla="*/ 80357 w 763913"/>
                <a:gd name="connsiteY13" fmla="*/ 70401 h 201029"/>
                <a:gd name="connsiteX14" fmla="*/ 80357 w 763913"/>
                <a:gd name="connsiteY14" fmla="*/ 90477 h 201029"/>
                <a:gd name="connsiteX15" fmla="*/ 120563 w 763913"/>
                <a:gd name="connsiteY15" fmla="*/ 130683 h 201029"/>
                <a:gd name="connsiteX16" fmla="*/ 100488 w 763913"/>
                <a:gd name="connsiteY16" fmla="*/ 130683 h 201029"/>
                <a:gd name="connsiteX17" fmla="*/ 100488 w 763913"/>
                <a:gd name="connsiteY17" fmla="*/ 110607 h 201029"/>
                <a:gd name="connsiteX18" fmla="*/ 120563 w 763913"/>
                <a:gd name="connsiteY18" fmla="*/ 110607 h 201029"/>
                <a:gd name="connsiteX19" fmla="*/ 120563 w 763913"/>
                <a:gd name="connsiteY19" fmla="*/ 130683 h 201029"/>
                <a:gd name="connsiteX20" fmla="*/ 120563 w 763913"/>
                <a:gd name="connsiteY20" fmla="*/ 90477 h 201029"/>
                <a:gd name="connsiteX21" fmla="*/ 100488 w 763913"/>
                <a:gd name="connsiteY21" fmla="*/ 90477 h 201029"/>
                <a:gd name="connsiteX22" fmla="*/ 100488 w 763913"/>
                <a:gd name="connsiteY22" fmla="*/ 70401 h 201029"/>
                <a:gd name="connsiteX23" fmla="*/ 120563 w 763913"/>
                <a:gd name="connsiteY23" fmla="*/ 70401 h 201029"/>
                <a:gd name="connsiteX24" fmla="*/ 120563 w 763913"/>
                <a:gd name="connsiteY24" fmla="*/ 90477 h 201029"/>
                <a:gd name="connsiteX25" fmla="*/ 160769 w 763913"/>
                <a:gd name="connsiteY25" fmla="*/ 130683 h 201029"/>
                <a:gd name="connsiteX26" fmla="*/ 140694 w 763913"/>
                <a:gd name="connsiteY26" fmla="*/ 130683 h 201029"/>
                <a:gd name="connsiteX27" fmla="*/ 140694 w 763913"/>
                <a:gd name="connsiteY27" fmla="*/ 110607 h 201029"/>
                <a:gd name="connsiteX28" fmla="*/ 160769 w 763913"/>
                <a:gd name="connsiteY28" fmla="*/ 110607 h 201029"/>
                <a:gd name="connsiteX29" fmla="*/ 160769 w 763913"/>
                <a:gd name="connsiteY29" fmla="*/ 130683 h 201029"/>
                <a:gd name="connsiteX30" fmla="*/ 160769 w 763913"/>
                <a:gd name="connsiteY30" fmla="*/ 90477 h 201029"/>
                <a:gd name="connsiteX31" fmla="*/ 140694 w 763913"/>
                <a:gd name="connsiteY31" fmla="*/ 90477 h 201029"/>
                <a:gd name="connsiteX32" fmla="*/ 140694 w 763913"/>
                <a:gd name="connsiteY32" fmla="*/ 70401 h 201029"/>
                <a:gd name="connsiteX33" fmla="*/ 160769 w 763913"/>
                <a:gd name="connsiteY33" fmla="*/ 70401 h 201029"/>
                <a:gd name="connsiteX34" fmla="*/ 160769 w 763913"/>
                <a:gd name="connsiteY34" fmla="*/ 90477 h 201029"/>
                <a:gd name="connsiteX35" fmla="*/ 200975 w 763913"/>
                <a:gd name="connsiteY35" fmla="*/ 130683 h 201029"/>
                <a:gd name="connsiteX36" fmla="*/ 180900 w 763913"/>
                <a:gd name="connsiteY36" fmla="*/ 130683 h 201029"/>
                <a:gd name="connsiteX37" fmla="*/ 180900 w 763913"/>
                <a:gd name="connsiteY37" fmla="*/ 110607 h 201029"/>
                <a:gd name="connsiteX38" fmla="*/ 200975 w 763913"/>
                <a:gd name="connsiteY38" fmla="*/ 110607 h 201029"/>
                <a:gd name="connsiteX39" fmla="*/ 200975 w 763913"/>
                <a:gd name="connsiteY39" fmla="*/ 130683 h 201029"/>
                <a:gd name="connsiteX40" fmla="*/ 200975 w 763913"/>
                <a:gd name="connsiteY40" fmla="*/ 90477 h 201029"/>
                <a:gd name="connsiteX41" fmla="*/ 180900 w 763913"/>
                <a:gd name="connsiteY41" fmla="*/ 90477 h 201029"/>
                <a:gd name="connsiteX42" fmla="*/ 180900 w 763913"/>
                <a:gd name="connsiteY42" fmla="*/ 70401 h 201029"/>
                <a:gd name="connsiteX43" fmla="*/ 200975 w 763913"/>
                <a:gd name="connsiteY43" fmla="*/ 70401 h 201029"/>
                <a:gd name="connsiteX44" fmla="*/ 200975 w 763913"/>
                <a:gd name="connsiteY44" fmla="*/ 90477 h 201029"/>
                <a:gd name="connsiteX45" fmla="*/ 241181 w 763913"/>
                <a:gd name="connsiteY45" fmla="*/ 130683 h 201029"/>
                <a:gd name="connsiteX46" fmla="*/ 221051 w 763913"/>
                <a:gd name="connsiteY46" fmla="*/ 130683 h 201029"/>
                <a:gd name="connsiteX47" fmla="*/ 221051 w 763913"/>
                <a:gd name="connsiteY47" fmla="*/ 110607 h 201029"/>
                <a:gd name="connsiteX48" fmla="*/ 241181 w 763913"/>
                <a:gd name="connsiteY48" fmla="*/ 110607 h 201029"/>
                <a:gd name="connsiteX49" fmla="*/ 241181 w 763913"/>
                <a:gd name="connsiteY49" fmla="*/ 130683 h 201029"/>
                <a:gd name="connsiteX50" fmla="*/ 241181 w 763913"/>
                <a:gd name="connsiteY50" fmla="*/ 90477 h 201029"/>
                <a:gd name="connsiteX51" fmla="*/ 221051 w 763913"/>
                <a:gd name="connsiteY51" fmla="*/ 90477 h 201029"/>
                <a:gd name="connsiteX52" fmla="*/ 221051 w 763913"/>
                <a:gd name="connsiteY52" fmla="*/ 70401 h 201029"/>
                <a:gd name="connsiteX53" fmla="*/ 241181 w 763913"/>
                <a:gd name="connsiteY53" fmla="*/ 70401 h 201029"/>
                <a:gd name="connsiteX54" fmla="*/ 241181 w 763913"/>
                <a:gd name="connsiteY54" fmla="*/ 90477 h 201029"/>
                <a:gd name="connsiteX55" fmla="*/ 281387 w 763913"/>
                <a:gd name="connsiteY55" fmla="*/ 130683 h 201029"/>
                <a:gd name="connsiteX56" fmla="*/ 261311 w 763913"/>
                <a:gd name="connsiteY56" fmla="*/ 130683 h 201029"/>
                <a:gd name="connsiteX57" fmla="*/ 261311 w 763913"/>
                <a:gd name="connsiteY57" fmla="*/ 110607 h 201029"/>
                <a:gd name="connsiteX58" fmla="*/ 281387 w 763913"/>
                <a:gd name="connsiteY58" fmla="*/ 110607 h 201029"/>
                <a:gd name="connsiteX59" fmla="*/ 281387 w 763913"/>
                <a:gd name="connsiteY59" fmla="*/ 130683 h 201029"/>
                <a:gd name="connsiteX60" fmla="*/ 281387 w 763913"/>
                <a:gd name="connsiteY60" fmla="*/ 90477 h 201029"/>
                <a:gd name="connsiteX61" fmla="*/ 261311 w 763913"/>
                <a:gd name="connsiteY61" fmla="*/ 90477 h 201029"/>
                <a:gd name="connsiteX62" fmla="*/ 261311 w 763913"/>
                <a:gd name="connsiteY62" fmla="*/ 70401 h 201029"/>
                <a:gd name="connsiteX63" fmla="*/ 281387 w 763913"/>
                <a:gd name="connsiteY63" fmla="*/ 70401 h 201029"/>
                <a:gd name="connsiteX64" fmla="*/ 281387 w 763913"/>
                <a:gd name="connsiteY64" fmla="*/ 90477 h 201029"/>
                <a:gd name="connsiteX65" fmla="*/ 321593 w 763913"/>
                <a:gd name="connsiteY65" fmla="*/ 130683 h 201029"/>
                <a:gd name="connsiteX66" fmla="*/ 301517 w 763913"/>
                <a:gd name="connsiteY66" fmla="*/ 130683 h 201029"/>
                <a:gd name="connsiteX67" fmla="*/ 301517 w 763913"/>
                <a:gd name="connsiteY67" fmla="*/ 110607 h 201029"/>
                <a:gd name="connsiteX68" fmla="*/ 321593 w 763913"/>
                <a:gd name="connsiteY68" fmla="*/ 110607 h 201029"/>
                <a:gd name="connsiteX69" fmla="*/ 321593 w 763913"/>
                <a:gd name="connsiteY69" fmla="*/ 130683 h 201029"/>
                <a:gd name="connsiteX70" fmla="*/ 321593 w 763913"/>
                <a:gd name="connsiteY70" fmla="*/ 90477 h 201029"/>
                <a:gd name="connsiteX71" fmla="*/ 301517 w 763913"/>
                <a:gd name="connsiteY71" fmla="*/ 90477 h 201029"/>
                <a:gd name="connsiteX72" fmla="*/ 301517 w 763913"/>
                <a:gd name="connsiteY72" fmla="*/ 70401 h 201029"/>
                <a:gd name="connsiteX73" fmla="*/ 321593 w 763913"/>
                <a:gd name="connsiteY73" fmla="*/ 70401 h 201029"/>
                <a:gd name="connsiteX74" fmla="*/ 321593 w 763913"/>
                <a:gd name="connsiteY74" fmla="*/ 90477 h 201029"/>
                <a:gd name="connsiteX75" fmla="*/ 585093 w 763913"/>
                <a:gd name="connsiteY75" fmla="*/ 120673 h 201029"/>
                <a:gd name="connsiteX76" fmla="*/ 565017 w 763913"/>
                <a:gd name="connsiteY76" fmla="*/ 100542 h 201029"/>
                <a:gd name="connsiteX77" fmla="*/ 585093 w 763913"/>
                <a:gd name="connsiteY77" fmla="*/ 80467 h 201029"/>
                <a:gd name="connsiteX78" fmla="*/ 605168 w 763913"/>
                <a:gd name="connsiteY78" fmla="*/ 100542 h 201029"/>
                <a:gd name="connsiteX79" fmla="*/ 585093 w 763913"/>
                <a:gd name="connsiteY79" fmla="*/ 120673 h 201029"/>
                <a:gd name="connsiteX80" fmla="*/ 667364 w 763913"/>
                <a:gd name="connsiteY80" fmla="*/ 120673 h 201029"/>
                <a:gd name="connsiteX81" fmla="*/ 647289 w 763913"/>
                <a:gd name="connsiteY81" fmla="*/ 100542 h 201029"/>
                <a:gd name="connsiteX82" fmla="*/ 667364 w 763913"/>
                <a:gd name="connsiteY82" fmla="*/ 80467 h 201029"/>
                <a:gd name="connsiteX83" fmla="*/ 687440 w 763913"/>
                <a:gd name="connsiteY83" fmla="*/ 100542 h 201029"/>
                <a:gd name="connsiteX84" fmla="*/ 667364 w 763913"/>
                <a:gd name="connsiteY84" fmla="*/ 120673 h 2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3913" h="201029">
                  <a:moveTo>
                    <a:pt x="0" y="0"/>
                  </a:moveTo>
                  <a:lnTo>
                    <a:pt x="0" y="201030"/>
                  </a:lnTo>
                  <a:lnTo>
                    <a:pt x="763913" y="201030"/>
                  </a:lnTo>
                  <a:lnTo>
                    <a:pt x="763913" y="0"/>
                  </a:lnTo>
                  <a:lnTo>
                    <a:pt x="0" y="0"/>
                  </a:lnTo>
                  <a:close/>
                  <a:moveTo>
                    <a:pt x="80357" y="130683"/>
                  </a:moveTo>
                  <a:lnTo>
                    <a:pt x="60282" y="130683"/>
                  </a:lnTo>
                  <a:lnTo>
                    <a:pt x="60282" y="110607"/>
                  </a:lnTo>
                  <a:lnTo>
                    <a:pt x="80357" y="110607"/>
                  </a:lnTo>
                  <a:lnTo>
                    <a:pt x="80357" y="130683"/>
                  </a:lnTo>
                  <a:close/>
                  <a:moveTo>
                    <a:pt x="80357" y="90477"/>
                  </a:moveTo>
                  <a:lnTo>
                    <a:pt x="60282" y="90477"/>
                  </a:lnTo>
                  <a:lnTo>
                    <a:pt x="60282" y="70401"/>
                  </a:lnTo>
                  <a:lnTo>
                    <a:pt x="80357" y="70401"/>
                  </a:lnTo>
                  <a:lnTo>
                    <a:pt x="80357" y="90477"/>
                  </a:lnTo>
                  <a:close/>
                  <a:moveTo>
                    <a:pt x="120563" y="130683"/>
                  </a:moveTo>
                  <a:lnTo>
                    <a:pt x="100488" y="130683"/>
                  </a:lnTo>
                  <a:lnTo>
                    <a:pt x="100488" y="110607"/>
                  </a:lnTo>
                  <a:lnTo>
                    <a:pt x="120563" y="110607"/>
                  </a:lnTo>
                  <a:lnTo>
                    <a:pt x="120563" y="130683"/>
                  </a:lnTo>
                  <a:close/>
                  <a:moveTo>
                    <a:pt x="120563" y="90477"/>
                  </a:moveTo>
                  <a:lnTo>
                    <a:pt x="100488" y="90477"/>
                  </a:lnTo>
                  <a:lnTo>
                    <a:pt x="100488" y="70401"/>
                  </a:lnTo>
                  <a:lnTo>
                    <a:pt x="120563" y="70401"/>
                  </a:lnTo>
                  <a:lnTo>
                    <a:pt x="120563" y="90477"/>
                  </a:lnTo>
                  <a:close/>
                  <a:moveTo>
                    <a:pt x="160769" y="130683"/>
                  </a:moveTo>
                  <a:lnTo>
                    <a:pt x="140694" y="130683"/>
                  </a:lnTo>
                  <a:lnTo>
                    <a:pt x="140694" y="110607"/>
                  </a:lnTo>
                  <a:lnTo>
                    <a:pt x="160769" y="110607"/>
                  </a:lnTo>
                  <a:lnTo>
                    <a:pt x="160769" y="130683"/>
                  </a:lnTo>
                  <a:close/>
                  <a:moveTo>
                    <a:pt x="160769" y="90477"/>
                  </a:moveTo>
                  <a:lnTo>
                    <a:pt x="140694" y="90477"/>
                  </a:lnTo>
                  <a:lnTo>
                    <a:pt x="140694" y="70401"/>
                  </a:lnTo>
                  <a:lnTo>
                    <a:pt x="160769" y="70401"/>
                  </a:lnTo>
                  <a:lnTo>
                    <a:pt x="160769" y="90477"/>
                  </a:lnTo>
                  <a:close/>
                  <a:moveTo>
                    <a:pt x="200975" y="130683"/>
                  </a:moveTo>
                  <a:lnTo>
                    <a:pt x="180900" y="130683"/>
                  </a:lnTo>
                  <a:lnTo>
                    <a:pt x="180900" y="110607"/>
                  </a:lnTo>
                  <a:lnTo>
                    <a:pt x="200975" y="110607"/>
                  </a:lnTo>
                  <a:lnTo>
                    <a:pt x="200975" y="130683"/>
                  </a:lnTo>
                  <a:close/>
                  <a:moveTo>
                    <a:pt x="200975" y="90477"/>
                  </a:moveTo>
                  <a:lnTo>
                    <a:pt x="180900" y="90477"/>
                  </a:lnTo>
                  <a:lnTo>
                    <a:pt x="180900" y="70401"/>
                  </a:lnTo>
                  <a:lnTo>
                    <a:pt x="200975" y="70401"/>
                  </a:lnTo>
                  <a:lnTo>
                    <a:pt x="200975" y="90477"/>
                  </a:lnTo>
                  <a:close/>
                  <a:moveTo>
                    <a:pt x="241181" y="130683"/>
                  </a:moveTo>
                  <a:lnTo>
                    <a:pt x="221051" y="130683"/>
                  </a:lnTo>
                  <a:lnTo>
                    <a:pt x="221051" y="110607"/>
                  </a:lnTo>
                  <a:lnTo>
                    <a:pt x="241181" y="110607"/>
                  </a:lnTo>
                  <a:lnTo>
                    <a:pt x="241181" y="130683"/>
                  </a:lnTo>
                  <a:close/>
                  <a:moveTo>
                    <a:pt x="241181" y="90477"/>
                  </a:moveTo>
                  <a:lnTo>
                    <a:pt x="221051" y="90477"/>
                  </a:lnTo>
                  <a:lnTo>
                    <a:pt x="221051" y="70401"/>
                  </a:lnTo>
                  <a:lnTo>
                    <a:pt x="241181" y="70401"/>
                  </a:lnTo>
                  <a:lnTo>
                    <a:pt x="241181" y="90477"/>
                  </a:lnTo>
                  <a:close/>
                  <a:moveTo>
                    <a:pt x="281387" y="130683"/>
                  </a:moveTo>
                  <a:lnTo>
                    <a:pt x="261311" y="130683"/>
                  </a:lnTo>
                  <a:lnTo>
                    <a:pt x="261311" y="110607"/>
                  </a:lnTo>
                  <a:lnTo>
                    <a:pt x="281387" y="110607"/>
                  </a:lnTo>
                  <a:lnTo>
                    <a:pt x="281387" y="130683"/>
                  </a:lnTo>
                  <a:close/>
                  <a:moveTo>
                    <a:pt x="281387" y="90477"/>
                  </a:moveTo>
                  <a:lnTo>
                    <a:pt x="261311" y="90477"/>
                  </a:lnTo>
                  <a:lnTo>
                    <a:pt x="261311" y="70401"/>
                  </a:lnTo>
                  <a:lnTo>
                    <a:pt x="281387" y="70401"/>
                  </a:lnTo>
                  <a:lnTo>
                    <a:pt x="281387" y="90477"/>
                  </a:lnTo>
                  <a:close/>
                  <a:moveTo>
                    <a:pt x="321593" y="130683"/>
                  </a:moveTo>
                  <a:lnTo>
                    <a:pt x="301517" y="130683"/>
                  </a:lnTo>
                  <a:lnTo>
                    <a:pt x="301517" y="110607"/>
                  </a:lnTo>
                  <a:lnTo>
                    <a:pt x="321593" y="110607"/>
                  </a:lnTo>
                  <a:lnTo>
                    <a:pt x="321593" y="130683"/>
                  </a:lnTo>
                  <a:close/>
                  <a:moveTo>
                    <a:pt x="321593" y="90477"/>
                  </a:moveTo>
                  <a:lnTo>
                    <a:pt x="301517" y="90477"/>
                  </a:lnTo>
                  <a:lnTo>
                    <a:pt x="301517" y="70401"/>
                  </a:lnTo>
                  <a:lnTo>
                    <a:pt x="321593" y="70401"/>
                  </a:lnTo>
                  <a:lnTo>
                    <a:pt x="321593" y="90477"/>
                  </a:lnTo>
                  <a:close/>
                  <a:moveTo>
                    <a:pt x="585093" y="120673"/>
                  </a:moveTo>
                  <a:cubicBezTo>
                    <a:pt x="573988" y="120673"/>
                    <a:pt x="565017" y="111647"/>
                    <a:pt x="565017" y="100542"/>
                  </a:cubicBezTo>
                  <a:cubicBezTo>
                    <a:pt x="565017" y="89438"/>
                    <a:pt x="574043" y="80467"/>
                    <a:pt x="585093" y="80467"/>
                  </a:cubicBezTo>
                  <a:cubicBezTo>
                    <a:pt x="596142" y="80467"/>
                    <a:pt x="605168" y="89492"/>
                    <a:pt x="605168" y="100542"/>
                  </a:cubicBezTo>
                  <a:cubicBezTo>
                    <a:pt x="605168" y="111592"/>
                    <a:pt x="596142" y="120673"/>
                    <a:pt x="585093" y="120673"/>
                  </a:cubicBezTo>
                  <a:close/>
                  <a:moveTo>
                    <a:pt x="667364" y="120673"/>
                  </a:moveTo>
                  <a:cubicBezTo>
                    <a:pt x="656260" y="120673"/>
                    <a:pt x="647289" y="111647"/>
                    <a:pt x="647289" y="100542"/>
                  </a:cubicBezTo>
                  <a:cubicBezTo>
                    <a:pt x="647289" y="89438"/>
                    <a:pt x="656315" y="80467"/>
                    <a:pt x="667364" y="80467"/>
                  </a:cubicBezTo>
                  <a:cubicBezTo>
                    <a:pt x="678414" y="80467"/>
                    <a:pt x="687440" y="89492"/>
                    <a:pt x="687440" y="100542"/>
                  </a:cubicBezTo>
                  <a:cubicBezTo>
                    <a:pt x="687440" y="111592"/>
                    <a:pt x="678414" y="120673"/>
                    <a:pt x="667364" y="120673"/>
                  </a:cubicBezTo>
                  <a:close/>
                </a:path>
              </a:pathLst>
            </a:cu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
        <p:nvSpPr>
          <p:cNvPr id="43" name="Rectangle: Rounded Corners 42">
            <a:extLst>
              <a:ext uri="{FF2B5EF4-FFF2-40B4-BE49-F238E27FC236}">
                <a16:creationId xmlns:a16="http://schemas.microsoft.com/office/drawing/2014/main" id="{E6635740-61DF-0AC2-F718-4CE2D9A3F489}"/>
              </a:ext>
            </a:extLst>
          </p:cNvPr>
          <p:cNvSpPr/>
          <p:nvPr/>
        </p:nvSpPr>
        <p:spPr>
          <a:xfrm>
            <a:off x="1068209" y="4335490"/>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09" name="Title 108">
            <a:extLst>
              <a:ext uri="{FF2B5EF4-FFF2-40B4-BE49-F238E27FC236}">
                <a16:creationId xmlns:a16="http://schemas.microsoft.com/office/drawing/2014/main" id="{DF96ED6F-D3BE-C1F3-BB57-66EE06E71229}"/>
              </a:ext>
            </a:extLst>
          </p:cNvPr>
          <p:cNvSpPr>
            <a:spLocks noGrp="1"/>
          </p:cNvSpPr>
          <p:nvPr>
            <p:ph type="title"/>
          </p:nvPr>
        </p:nvSpPr>
        <p:spPr/>
        <p:txBody>
          <a:bodyPr/>
          <a:lstStyle/>
          <a:p>
            <a:r>
              <a:rPr lang="en-US" dirty="0">
                <a:latin typeface="+mn-lt"/>
              </a:rPr>
              <a:t>VCF with NSX Networking</a:t>
            </a:r>
          </a:p>
        </p:txBody>
      </p:sp>
      <p:sp>
        <p:nvSpPr>
          <p:cNvPr id="82" name="Subtitle 81">
            <a:extLst>
              <a:ext uri="{FF2B5EF4-FFF2-40B4-BE49-F238E27FC236}">
                <a16:creationId xmlns:a16="http://schemas.microsoft.com/office/drawing/2014/main" id="{04EB6973-E271-6A8F-527E-05ED3A823A64}"/>
              </a:ext>
            </a:extLst>
          </p:cNvPr>
          <p:cNvSpPr>
            <a:spLocks noGrp="1"/>
          </p:cNvSpPr>
          <p:nvPr>
            <p:ph type="subTitle" idx="10"/>
          </p:nvPr>
        </p:nvSpPr>
        <p:spPr/>
        <p:txBody>
          <a:bodyPr/>
          <a:lstStyle/>
          <a:p>
            <a:r>
              <a:rPr lang="en-US" dirty="0"/>
              <a:t>The whole networking stack is virtualized</a:t>
            </a:r>
          </a:p>
        </p:txBody>
      </p:sp>
      <p:sp>
        <p:nvSpPr>
          <p:cNvPr id="88" name="Rectangle: Rounded Corners 42">
            <a:extLst>
              <a:ext uri="{FF2B5EF4-FFF2-40B4-BE49-F238E27FC236}">
                <a16:creationId xmlns:a16="http://schemas.microsoft.com/office/drawing/2014/main" id="{D5A96F57-EB9E-E2FE-0C6A-0A8D3D71F932}"/>
              </a:ext>
            </a:extLst>
          </p:cNvPr>
          <p:cNvSpPr/>
          <p:nvPr/>
        </p:nvSpPr>
        <p:spPr>
          <a:xfrm>
            <a:off x="2884734" y="4326211"/>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89" name="Rectangle: Rounded Corners 42">
            <a:extLst>
              <a:ext uri="{FF2B5EF4-FFF2-40B4-BE49-F238E27FC236}">
                <a16:creationId xmlns:a16="http://schemas.microsoft.com/office/drawing/2014/main" id="{C89E36FB-7B52-150A-065C-184261B76EF6}"/>
              </a:ext>
            </a:extLst>
          </p:cNvPr>
          <p:cNvSpPr/>
          <p:nvPr/>
        </p:nvSpPr>
        <p:spPr>
          <a:xfrm>
            <a:off x="4713534" y="4324492"/>
            <a:ext cx="1380879" cy="138087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91" name="Rectangle 90">
            <a:extLst>
              <a:ext uri="{FF2B5EF4-FFF2-40B4-BE49-F238E27FC236}">
                <a16:creationId xmlns:a16="http://schemas.microsoft.com/office/drawing/2014/main" id="{A65E5801-EF1A-A2EC-C396-6D79CA5F9C06}"/>
              </a:ext>
            </a:extLst>
          </p:cNvPr>
          <p:cNvSpPr/>
          <p:nvPr/>
        </p:nvSpPr>
        <p:spPr>
          <a:xfrm>
            <a:off x="900108" y="5915991"/>
            <a:ext cx="5360611"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pic>
        <p:nvPicPr>
          <p:cNvPr id="92" name="Picture 91">
            <a:extLst>
              <a:ext uri="{FF2B5EF4-FFF2-40B4-BE49-F238E27FC236}">
                <a16:creationId xmlns:a16="http://schemas.microsoft.com/office/drawing/2014/main" id="{24FC4E08-6691-C203-16E9-2BEE4AF568CE}"/>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979613" y="5840173"/>
            <a:ext cx="348488" cy="295148"/>
          </a:xfrm>
          <a:prstGeom prst="rect">
            <a:avLst/>
          </a:prstGeom>
        </p:spPr>
      </p:pic>
      <p:grpSp>
        <p:nvGrpSpPr>
          <p:cNvPr id="95" name="Group 94">
            <a:extLst>
              <a:ext uri="{FF2B5EF4-FFF2-40B4-BE49-F238E27FC236}">
                <a16:creationId xmlns:a16="http://schemas.microsoft.com/office/drawing/2014/main" id="{484969AB-0427-5DC5-250F-EBE5E173F6D9}"/>
              </a:ext>
            </a:extLst>
          </p:cNvPr>
          <p:cNvGrpSpPr/>
          <p:nvPr/>
        </p:nvGrpSpPr>
        <p:grpSpPr>
          <a:xfrm>
            <a:off x="9294813" y="4784231"/>
            <a:ext cx="2324692" cy="575945"/>
            <a:chOff x="9294813" y="2043075"/>
            <a:chExt cx="2324692" cy="575945"/>
          </a:xfrm>
        </p:grpSpPr>
        <p:sp>
          <p:nvSpPr>
            <p:cNvPr id="44" name="Rectangle: Rounded Corners 557">
              <a:extLst>
                <a:ext uri="{FF2B5EF4-FFF2-40B4-BE49-F238E27FC236}">
                  <a16:creationId xmlns:a16="http://schemas.microsoft.com/office/drawing/2014/main" id="{ECCCA341-F204-24AB-34A3-F70D7C640D06}"/>
                </a:ext>
              </a:extLst>
            </p:cNvPr>
            <p:cNvSpPr/>
            <p:nvPr/>
          </p:nvSpPr>
          <p:spPr>
            <a:xfrm>
              <a:off x="9294813" y="2043075"/>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 name="Content Placeholder 9">
              <a:extLst>
                <a:ext uri="{FF2B5EF4-FFF2-40B4-BE49-F238E27FC236}">
                  <a16:creationId xmlns:a16="http://schemas.microsoft.com/office/drawing/2014/main" id="{842C1A3B-4C7B-C64D-2528-27AA0B5C3280}"/>
                </a:ext>
              </a:extLst>
            </p:cNvPr>
            <p:cNvSpPr txBox="1">
              <a:spLocks/>
            </p:cNvSpPr>
            <p:nvPr/>
          </p:nvSpPr>
          <p:spPr>
            <a:xfrm>
              <a:off x="9855505" y="2229926"/>
              <a:ext cx="1764000"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Monitoring and Analytics</a:t>
              </a:r>
            </a:p>
          </p:txBody>
        </p:sp>
        <p:grpSp>
          <p:nvGrpSpPr>
            <p:cNvPr id="46" name="Group 45">
              <a:extLst>
                <a:ext uri="{FF2B5EF4-FFF2-40B4-BE49-F238E27FC236}">
                  <a16:creationId xmlns:a16="http://schemas.microsoft.com/office/drawing/2014/main" id="{87637112-EA73-9E22-B53B-B2C05ABAE9A7}"/>
                </a:ext>
              </a:extLst>
            </p:cNvPr>
            <p:cNvGrpSpPr>
              <a:grpSpLocks noChangeAspect="1"/>
            </p:cNvGrpSpPr>
            <p:nvPr/>
          </p:nvGrpSpPr>
          <p:grpSpPr>
            <a:xfrm>
              <a:off x="9344980" y="2102447"/>
              <a:ext cx="457200" cy="457200"/>
              <a:chOff x="7756637" y="2484407"/>
              <a:chExt cx="902850" cy="902850"/>
            </a:xfrm>
          </p:grpSpPr>
          <p:sp>
            <p:nvSpPr>
              <p:cNvPr id="47" name="Oval 26">
                <a:extLst>
                  <a:ext uri="{FF2B5EF4-FFF2-40B4-BE49-F238E27FC236}">
                    <a16:creationId xmlns:a16="http://schemas.microsoft.com/office/drawing/2014/main" id="{34E60969-DE5E-2852-B8EC-41D6DC338308}"/>
                  </a:ext>
                </a:extLst>
              </p:cNvPr>
              <p:cNvSpPr>
                <a:spLocks noChangeAspect="1"/>
              </p:cNvSpPr>
              <p:nvPr/>
            </p:nvSpPr>
            <p:spPr bwMode="gray">
              <a:xfrm>
                <a:off x="7756637" y="2484407"/>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48" name="Group 47">
                <a:extLst>
                  <a:ext uri="{FF2B5EF4-FFF2-40B4-BE49-F238E27FC236}">
                    <a16:creationId xmlns:a16="http://schemas.microsoft.com/office/drawing/2014/main" id="{43C94F03-7EE2-AB7A-8BE6-59AAE0D4BCF0}"/>
                  </a:ext>
                </a:extLst>
              </p:cNvPr>
              <p:cNvGrpSpPr/>
              <p:nvPr/>
            </p:nvGrpSpPr>
            <p:grpSpPr>
              <a:xfrm>
                <a:off x="7930273" y="2670781"/>
                <a:ext cx="558302" cy="538093"/>
                <a:chOff x="7930273" y="2670781"/>
                <a:chExt cx="558302" cy="538093"/>
              </a:xfrm>
            </p:grpSpPr>
            <p:sp>
              <p:nvSpPr>
                <p:cNvPr id="49" name="Freeform: Shape 201">
                  <a:extLst>
                    <a:ext uri="{FF2B5EF4-FFF2-40B4-BE49-F238E27FC236}">
                      <a16:creationId xmlns:a16="http://schemas.microsoft.com/office/drawing/2014/main" id="{B5154EBC-600D-86AB-B371-B505B18121CC}"/>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50" name="Graphic 41">
                  <a:extLst>
                    <a:ext uri="{FF2B5EF4-FFF2-40B4-BE49-F238E27FC236}">
                      <a16:creationId xmlns:a16="http://schemas.microsoft.com/office/drawing/2014/main" id="{CB0EB632-A1B8-1A87-4A97-5E5EDF6AEB19}"/>
                    </a:ext>
                  </a:extLst>
                </p:cNvPr>
                <p:cNvGrpSpPr/>
                <p:nvPr/>
              </p:nvGrpSpPr>
              <p:grpSpPr>
                <a:xfrm>
                  <a:off x="8250435" y="3017491"/>
                  <a:ext cx="238140" cy="191383"/>
                  <a:chOff x="8250435" y="3017491"/>
                  <a:chExt cx="238140" cy="191383"/>
                </a:xfrm>
                <a:solidFill>
                  <a:schemeClr val="bg1"/>
                </a:solidFill>
              </p:grpSpPr>
              <p:sp>
                <p:nvSpPr>
                  <p:cNvPr id="51" name="Freeform: Shape 203">
                    <a:extLst>
                      <a:ext uri="{FF2B5EF4-FFF2-40B4-BE49-F238E27FC236}">
                        <a16:creationId xmlns:a16="http://schemas.microsoft.com/office/drawing/2014/main" id="{E3D950F6-A2C6-0A60-FB05-EBE18BA81297}"/>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2" name="Freeform: Shape 204">
                    <a:extLst>
                      <a:ext uri="{FF2B5EF4-FFF2-40B4-BE49-F238E27FC236}">
                        <a16:creationId xmlns:a16="http://schemas.microsoft.com/office/drawing/2014/main" id="{5A37263F-744F-25DD-258F-FE0D4B28D41E}"/>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grpSp>
        <p:nvGrpSpPr>
          <p:cNvPr id="96" name="Group 95">
            <a:extLst>
              <a:ext uri="{FF2B5EF4-FFF2-40B4-BE49-F238E27FC236}">
                <a16:creationId xmlns:a16="http://schemas.microsoft.com/office/drawing/2014/main" id="{4B57A2EB-B41B-DA2C-C45E-8050771B8E0F}"/>
              </a:ext>
            </a:extLst>
          </p:cNvPr>
          <p:cNvGrpSpPr/>
          <p:nvPr/>
        </p:nvGrpSpPr>
        <p:grpSpPr>
          <a:xfrm>
            <a:off x="9294813" y="3442318"/>
            <a:ext cx="2286000" cy="575945"/>
            <a:chOff x="9294813" y="2703803"/>
            <a:chExt cx="2286000" cy="575945"/>
          </a:xfrm>
        </p:grpSpPr>
        <p:sp>
          <p:nvSpPr>
            <p:cNvPr id="53" name="Rectangle: Rounded Corners 612">
              <a:extLst>
                <a:ext uri="{FF2B5EF4-FFF2-40B4-BE49-F238E27FC236}">
                  <a16:creationId xmlns:a16="http://schemas.microsoft.com/office/drawing/2014/main" id="{0185EC91-70FF-C2E0-5F5D-E697ED7CDD4C}"/>
                </a:ext>
              </a:extLst>
            </p:cNvPr>
            <p:cNvSpPr/>
            <p:nvPr/>
          </p:nvSpPr>
          <p:spPr>
            <a:xfrm>
              <a:off x="9294813" y="2703803"/>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 name="Content Placeholder 9">
              <a:extLst>
                <a:ext uri="{FF2B5EF4-FFF2-40B4-BE49-F238E27FC236}">
                  <a16:creationId xmlns:a16="http://schemas.microsoft.com/office/drawing/2014/main" id="{B7BB4191-9908-DD42-4C33-38B0C31A3FD7}"/>
                </a:ext>
              </a:extLst>
            </p:cNvPr>
            <p:cNvSpPr txBox="1">
              <a:spLocks/>
            </p:cNvSpPr>
            <p:nvPr/>
          </p:nvSpPr>
          <p:spPr>
            <a:xfrm>
              <a:off x="9922670" y="2890654"/>
              <a:ext cx="1620000"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Load Balancing</a:t>
              </a:r>
            </a:p>
          </p:txBody>
        </p:sp>
        <p:grpSp>
          <p:nvGrpSpPr>
            <p:cNvPr id="55" name="Group 54">
              <a:extLst>
                <a:ext uri="{FF2B5EF4-FFF2-40B4-BE49-F238E27FC236}">
                  <a16:creationId xmlns:a16="http://schemas.microsoft.com/office/drawing/2014/main" id="{38F84B40-67D2-5F4C-8699-8DE712E96386}"/>
                </a:ext>
              </a:extLst>
            </p:cNvPr>
            <p:cNvGrpSpPr>
              <a:grpSpLocks noChangeAspect="1"/>
            </p:cNvGrpSpPr>
            <p:nvPr/>
          </p:nvGrpSpPr>
          <p:grpSpPr>
            <a:xfrm>
              <a:off x="9345407" y="2763175"/>
              <a:ext cx="461084" cy="457200"/>
              <a:chOff x="6306684" y="2484407"/>
              <a:chExt cx="902850" cy="902850"/>
            </a:xfrm>
          </p:grpSpPr>
          <p:sp>
            <p:nvSpPr>
              <p:cNvPr id="56" name="Oval 25">
                <a:extLst>
                  <a:ext uri="{FF2B5EF4-FFF2-40B4-BE49-F238E27FC236}">
                    <a16:creationId xmlns:a16="http://schemas.microsoft.com/office/drawing/2014/main" id="{39E2C18D-A964-70E2-497D-647C6B621EC9}"/>
                  </a:ext>
                </a:extLst>
              </p:cNvPr>
              <p:cNvSpPr>
                <a:spLocks noChangeAspect="1"/>
              </p:cNvSpPr>
              <p:nvPr/>
            </p:nvSpPr>
            <p:spPr bwMode="gray">
              <a:xfrm>
                <a:off x="6306684" y="2484407"/>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Graphic 62">
                <a:extLst>
                  <a:ext uri="{FF2B5EF4-FFF2-40B4-BE49-F238E27FC236}">
                    <a16:creationId xmlns:a16="http://schemas.microsoft.com/office/drawing/2014/main" id="{19E997FD-E626-A97A-F2EF-7552C709B575}"/>
                  </a:ext>
                </a:extLst>
              </p:cNvPr>
              <p:cNvSpPr/>
              <p:nvPr/>
            </p:nvSpPr>
            <p:spPr>
              <a:xfrm>
                <a:off x="6449156" y="2663422"/>
                <a:ext cx="537323" cy="537323"/>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90" name="Group 89">
            <a:extLst>
              <a:ext uri="{FF2B5EF4-FFF2-40B4-BE49-F238E27FC236}">
                <a16:creationId xmlns:a16="http://schemas.microsoft.com/office/drawing/2014/main" id="{4995C427-546A-4479-4A18-BD60AE8A291B}"/>
              </a:ext>
            </a:extLst>
          </p:cNvPr>
          <p:cNvGrpSpPr/>
          <p:nvPr/>
        </p:nvGrpSpPr>
        <p:grpSpPr>
          <a:xfrm>
            <a:off x="9294813" y="4113275"/>
            <a:ext cx="2334335" cy="575945"/>
            <a:chOff x="9294813" y="3364531"/>
            <a:chExt cx="2334335" cy="575945"/>
          </a:xfrm>
        </p:grpSpPr>
        <p:sp>
          <p:nvSpPr>
            <p:cNvPr id="58" name="Rectangle: Rounded Corners 623">
              <a:extLst>
                <a:ext uri="{FF2B5EF4-FFF2-40B4-BE49-F238E27FC236}">
                  <a16:creationId xmlns:a16="http://schemas.microsoft.com/office/drawing/2014/main" id="{8649B9F4-5CC6-8DDE-407A-1DA2A2E9FCC5}"/>
                </a:ext>
              </a:extLst>
            </p:cNvPr>
            <p:cNvSpPr/>
            <p:nvPr/>
          </p:nvSpPr>
          <p:spPr>
            <a:xfrm>
              <a:off x="9294813" y="3364531"/>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 name="Content Placeholder 9">
              <a:extLst>
                <a:ext uri="{FF2B5EF4-FFF2-40B4-BE49-F238E27FC236}">
                  <a16:creationId xmlns:a16="http://schemas.microsoft.com/office/drawing/2014/main" id="{93A84B38-CC1C-EEF2-6A98-801A76E84624}"/>
                </a:ext>
              </a:extLst>
            </p:cNvPr>
            <p:cNvSpPr txBox="1">
              <a:spLocks/>
            </p:cNvSpPr>
            <p:nvPr/>
          </p:nvSpPr>
          <p:spPr>
            <a:xfrm>
              <a:off x="9860794" y="3551382"/>
              <a:ext cx="1768354"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Firewall, IDS/IPS, ATP</a:t>
              </a:r>
            </a:p>
          </p:txBody>
        </p:sp>
        <p:grpSp>
          <p:nvGrpSpPr>
            <p:cNvPr id="60" name="Group 59">
              <a:extLst>
                <a:ext uri="{FF2B5EF4-FFF2-40B4-BE49-F238E27FC236}">
                  <a16:creationId xmlns:a16="http://schemas.microsoft.com/office/drawing/2014/main" id="{1680F925-F02E-41AB-84FE-BE08D30800E2}"/>
                </a:ext>
              </a:extLst>
            </p:cNvPr>
            <p:cNvGrpSpPr>
              <a:grpSpLocks noChangeAspect="1"/>
            </p:cNvGrpSpPr>
            <p:nvPr/>
          </p:nvGrpSpPr>
          <p:grpSpPr>
            <a:xfrm>
              <a:off x="9345406" y="3423904"/>
              <a:ext cx="461084" cy="457200"/>
              <a:chOff x="9206590" y="1111625"/>
              <a:chExt cx="902850" cy="902850"/>
            </a:xfrm>
          </p:grpSpPr>
          <p:sp>
            <p:nvSpPr>
              <p:cNvPr id="61" name="Oval 7">
                <a:extLst>
                  <a:ext uri="{FF2B5EF4-FFF2-40B4-BE49-F238E27FC236}">
                    <a16:creationId xmlns:a16="http://schemas.microsoft.com/office/drawing/2014/main" id="{9E0C532E-B68B-91B1-6B0F-38F09124E87E}"/>
                  </a:ext>
                </a:extLst>
              </p:cNvPr>
              <p:cNvSpPr>
                <a:spLocks noChangeAspect="1"/>
              </p:cNvSpPr>
              <p:nvPr/>
            </p:nvSpPr>
            <p:spPr bwMode="gray">
              <a:xfrm>
                <a:off x="9206590" y="1111625"/>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62" name="Group 61">
                <a:extLst>
                  <a:ext uri="{FF2B5EF4-FFF2-40B4-BE49-F238E27FC236}">
                    <a16:creationId xmlns:a16="http://schemas.microsoft.com/office/drawing/2014/main" id="{6ABE3706-8309-9623-23B8-163F21154E16}"/>
                  </a:ext>
                </a:extLst>
              </p:cNvPr>
              <p:cNvGrpSpPr/>
              <p:nvPr/>
            </p:nvGrpSpPr>
            <p:grpSpPr>
              <a:xfrm>
                <a:off x="9370580" y="1353439"/>
                <a:ext cx="586735" cy="398365"/>
                <a:chOff x="9370580" y="1353439"/>
                <a:chExt cx="586735" cy="398365"/>
              </a:xfrm>
            </p:grpSpPr>
            <p:sp>
              <p:nvSpPr>
                <p:cNvPr id="63" name="Freeform: Shape 214">
                  <a:extLst>
                    <a:ext uri="{FF2B5EF4-FFF2-40B4-BE49-F238E27FC236}">
                      <a16:creationId xmlns:a16="http://schemas.microsoft.com/office/drawing/2014/main" id="{A380D228-7A86-3D54-EC2C-A7C9D6DDEE35}"/>
                    </a:ext>
                  </a:extLst>
                </p:cNvPr>
                <p:cNvSpPr/>
                <p:nvPr/>
              </p:nvSpPr>
              <p:spPr>
                <a:xfrm>
                  <a:off x="9845237" y="1465737"/>
                  <a:ext cx="112078" cy="82722"/>
                </a:xfrm>
                <a:custGeom>
                  <a:avLst/>
                  <a:gdLst>
                    <a:gd name="connsiteX0" fmla="*/ 6046 w 112078"/>
                    <a:gd name="connsiteY0" fmla="*/ 0 h 82722"/>
                    <a:gd name="connsiteX1" fmla="*/ 106032 w 112078"/>
                    <a:gd name="connsiteY1" fmla="*/ 0 h 82722"/>
                    <a:gd name="connsiteX2" fmla="*/ 112079 w 112078"/>
                    <a:gd name="connsiteY2" fmla="*/ 6046 h 82722"/>
                    <a:gd name="connsiteX3" fmla="*/ 112079 w 112078"/>
                    <a:gd name="connsiteY3" fmla="*/ 76676 h 82722"/>
                    <a:gd name="connsiteX4" fmla="*/ 106032 w 112078"/>
                    <a:gd name="connsiteY4" fmla="*/ 82723 h 82722"/>
                    <a:gd name="connsiteX5" fmla="*/ 6046 w 112078"/>
                    <a:gd name="connsiteY5" fmla="*/ 82723 h 82722"/>
                    <a:gd name="connsiteX6" fmla="*/ 0 w 112078"/>
                    <a:gd name="connsiteY6" fmla="*/ 76676 h 82722"/>
                    <a:gd name="connsiteX7" fmla="*/ 0 w 112078"/>
                    <a:gd name="connsiteY7" fmla="*/ 6046 h 82722"/>
                    <a:gd name="connsiteX8" fmla="*/ 6046 w 112078"/>
                    <a:gd name="connsiteY8" fmla="*/ 0 h 82722"/>
                    <a:gd name="connsiteX9" fmla="*/ 6046 w 112078"/>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078" h="82722">
                      <a:moveTo>
                        <a:pt x="6046" y="0"/>
                      </a:moveTo>
                      <a:lnTo>
                        <a:pt x="106032" y="0"/>
                      </a:lnTo>
                      <a:cubicBezTo>
                        <a:pt x="109362" y="0"/>
                        <a:pt x="112079" y="3330"/>
                        <a:pt x="112079" y="6046"/>
                      </a:cubicBezTo>
                      <a:lnTo>
                        <a:pt x="112079" y="76676"/>
                      </a:lnTo>
                      <a:cubicBezTo>
                        <a:pt x="112079" y="80006"/>
                        <a:pt x="109362" y="82723"/>
                        <a:pt x="106032" y="82723"/>
                      </a:cubicBezTo>
                      <a:lnTo>
                        <a:pt x="6046" y="82723"/>
                      </a:lnTo>
                      <a:cubicBezTo>
                        <a:pt x="2717" y="82723"/>
                        <a:pt x="0" y="79393"/>
                        <a:pt x="0" y="76676"/>
                      </a:cubicBezTo>
                      <a:lnTo>
                        <a:pt x="0" y="6046"/>
                      </a:lnTo>
                      <a:cubicBezTo>
                        <a:pt x="0" y="2717"/>
                        <a:pt x="2717" y="0"/>
                        <a:pt x="6046" y="0"/>
                      </a:cubicBezTo>
                      <a:lnTo>
                        <a:pt x="6046"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4" name="Freeform: Shape 215">
                  <a:extLst>
                    <a:ext uri="{FF2B5EF4-FFF2-40B4-BE49-F238E27FC236}">
                      <a16:creationId xmlns:a16="http://schemas.microsoft.com/office/drawing/2014/main" id="{D46E3FD1-05D7-DEAD-D60C-F09FB8692BA8}"/>
                    </a:ext>
                  </a:extLst>
                </p:cNvPr>
                <p:cNvSpPr/>
                <p:nvPr/>
              </p:nvSpPr>
              <p:spPr>
                <a:xfrm>
                  <a:off x="9845237" y="1669082"/>
                  <a:ext cx="112078" cy="82722"/>
                </a:xfrm>
                <a:custGeom>
                  <a:avLst/>
                  <a:gdLst>
                    <a:gd name="connsiteX0" fmla="*/ 6046 w 112078"/>
                    <a:gd name="connsiteY0" fmla="*/ 0 h 82722"/>
                    <a:gd name="connsiteX1" fmla="*/ 106032 w 112078"/>
                    <a:gd name="connsiteY1" fmla="*/ 0 h 82722"/>
                    <a:gd name="connsiteX2" fmla="*/ 112079 w 112078"/>
                    <a:gd name="connsiteY2" fmla="*/ 6046 h 82722"/>
                    <a:gd name="connsiteX3" fmla="*/ 112079 w 112078"/>
                    <a:gd name="connsiteY3" fmla="*/ 76676 h 82722"/>
                    <a:gd name="connsiteX4" fmla="*/ 106032 w 112078"/>
                    <a:gd name="connsiteY4" fmla="*/ 82723 h 82722"/>
                    <a:gd name="connsiteX5" fmla="*/ 6046 w 112078"/>
                    <a:gd name="connsiteY5" fmla="*/ 82723 h 82722"/>
                    <a:gd name="connsiteX6" fmla="*/ 0 w 112078"/>
                    <a:gd name="connsiteY6" fmla="*/ 76676 h 82722"/>
                    <a:gd name="connsiteX7" fmla="*/ 0 w 112078"/>
                    <a:gd name="connsiteY7" fmla="*/ 6046 h 82722"/>
                    <a:gd name="connsiteX8" fmla="*/ 6046 w 112078"/>
                    <a:gd name="connsiteY8" fmla="*/ 0 h 82722"/>
                    <a:gd name="connsiteX9" fmla="*/ 6046 w 112078"/>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078" h="82722">
                      <a:moveTo>
                        <a:pt x="6046" y="0"/>
                      </a:moveTo>
                      <a:lnTo>
                        <a:pt x="106032" y="0"/>
                      </a:lnTo>
                      <a:cubicBezTo>
                        <a:pt x="109362" y="0"/>
                        <a:pt x="112079" y="3330"/>
                        <a:pt x="112079" y="6046"/>
                      </a:cubicBezTo>
                      <a:lnTo>
                        <a:pt x="112079" y="76676"/>
                      </a:lnTo>
                      <a:cubicBezTo>
                        <a:pt x="112079" y="80006"/>
                        <a:pt x="109362" y="82723"/>
                        <a:pt x="106032" y="82723"/>
                      </a:cubicBezTo>
                      <a:lnTo>
                        <a:pt x="6046" y="82723"/>
                      </a:lnTo>
                      <a:cubicBezTo>
                        <a:pt x="2717" y="82723"/>
                        <a:pt x="0" y="79393"/>
                        <a:pt x="0" y="76676"/>
                      </a:cubicBezTo>
                      <a:lnTo>
                        <a:pt x="0" y="6046"/>
                      </a:lnTo>
                      <a:cubicBezTo>
                        <a:pt x="0" y="2717"/>
                        <a:pt x="2717" y="0"/>
                        <a:pt x="6046" y="0"/>
                      </a:cubicBezTo>
                      <a:lnTo>
                        <a:pt x="6046"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5" name="Freeform: Shape 216">
                  <a:extLst>
                    <a:ext uri="{FF2B5EF4-FFF2-40B4-BE49-F238E27FC236}">
                      <a16:creationId xmlns:a16="http://schemas.microsoft.com/office/drawing/2014/main" id="{CD3E7729-1E46-F372-7D1B-D60C3B3A3509}"/>
                    </a:ext>
                  </a:extLst>
                </p:cNvPr>
                <p:cNvSpPr/>
                <p:nvPr/>
              </p:nvSpPr>
              <p:spPr>
                <a:xfrm>
                  <a:off x="9715281" y="1364086"/>
                  <a:ext cx="241990" cy="82722"/>
                </a:xfrm>
                <a:custGeom>
                  <a:avLst/>
                  <a:gdLst>
                    <a:gd name="connsiteX0" fmla="*/ 6046 w 241990"/>
                    <a:gd name="connsiteY0" fmla="*/ 0 h 82722"/>
                    <a:gd name="connsiteX1" fmla="*/ 235944 w 241990"/>
                    <a:gd name="connsiteY1" fmla="*/ 0 h 82722"/>
                    <a:gd name="connsiteX2" fmla="*/ 241990 w 241990"/>
                    <a:gd name="connsiteY2" fmla="*/ 6046 h 82722"/>
                    <a:gd name="connsiteX3" fmla="*/ 241990 w 241990"/>
                    <a:gd name="connsiteY3" fmla="*/ 76676 h 82722"/>
                    <a:gd name="connsiteX4" fmla="*/ 235944 w 241990"/>
                    <a:gd name="connsiteY4" fmla="*/ 82723 h 82722"/>
                    <a:gd name="connsiteX5" fmla="*/ 6046 w 241990"/>
                    <a:gd name="connsiteY5" fmla="*/ 82723 h 82722"/>
                    <a:gd name="connsiteX6" fmla="*/ 0 w 241990"/>
                    <a:gd name="connsiteY6" fmla="*/ 76676 h 82722"/>
                    <a:gd name="connsiteX7" fmla="*/ 0 w 241990"/>
                    <a:gd name="connsiteY7" fmla="*/ 6046 h 82722"/>
                    <a:gd name="connsiteX8" fmla="*/ 6046 w 241990"/>
                    <a:gd name="connsiteY8"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990" h="82722">
                      <a:moveTo>
                        <a:pt x="6046" y="0"/>
                      </a:moveTo>
                      <a:lnTo>
                        <a:pt x="235944" y="0"/>
                      </a:lnTo>
                      <a:cubicBezTo>
                        <a:pt x="239274" y="0"/>
                        <a:pt x="241990" y="3330"/>
                        <a:pt x="241990" y="6046"/>
                      </a:cubicBezTo>
                      <a:lnTo>
                        <a:pt x="241990" y="76676"/>
                      </a:lnTo>
                      <a:cubicBezTo>
                        <a:pt x="241990" y="80006"/>
                        <a:pt x="239274" y="82723"/>
                        <a:pt x="235944" y="82723"/>
                      </a:cubicBezTo>
                      <a:lnTo>
                        <a:pt x="6046" y="82723"/>
                      </a:lnTo>
                      <a:cubicBezTo>
                        <a:pt x="2717" y="82723"/>
                        <a:pt x="0" y="79393"/>
                        <a:pt x="0" y="76676"/>
                      </a:cubicBezTo>
                      <a:lnTo>
                        <a:pt x="0" y="6046"/>
                      </a:lnTo>
                      <a:cubicBezTo>
                        <a:pt x="0" y="2717"/>
                        <a:pt x="2717" y="0"/>
                        <a:pt x="6046" y="0"/>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6" name="Freeform: Shape 217">
                  <a:extLst>
                    <a:ext uri="{FF2B5EF4-FFF2-40B4-BE49-F238E27FC236}">
                      <a16:creationId xmlns:a16="http://schemas.microsoft.com/office/drawing/2014/main" id="{F36E88BE-7532-A6BD-9765-114321DB465E}"/>
                    </a:ext>
                  </a:extLst>
                </p:cNvPr>
                <p:cNvSpPr/>
                <p:nvPr/>
              </p:nvSpPr>
              <p:spPr>
                <a:xfrm>
                  <a:off x="9370580" y="1353439"/>
                  <a:ext cx="351959" cy="398278"/>
                </a:xfrm>
                <a:custGeom>
                  <a:avLst/>
                  <a:gdLst>
                    <a:gd name="connsiteX0" fmla="*/ 351756 w 351959"/>
                    <a:gd name="connsiteY0" fmla="*/ 243086 h 398278"/>
                    <a:gd name="connsiteX1" fmla="*/ 351668 w 351959"/>
                    <a:gd name="connsiteY1" fmla="*/ 241815 h 398278"/>
                    <a:gd name="connsiteX2" fmla="*/ 277358 w 351959"/>
                    <a:gd name="connsiteY2" fmla="*/ 84344 h 398278"/>
                    <a:gd name="connsiteX3" fmla="*/ 263381 w 351959"/>
                    <a:gd name="connsiteY3" fmla="*/ 149234 h 398278"/>
                    <a:gd name="connsiteX4" fmla="*/ 258079 w 351959"/>
                    <a:gd name="connsiteY4" fmla="*/ 153834 h 398278"/>
                    <a:gd name="connsiteX5" fmla="*/ 256239 w 351959"/>
                    <a:gd name="connsiteY5" fmla="*/ 147043 h 398278"/>
                    <a:gd name="connsiteX6" fmla="*/ 187011 w 351959"/>
                    <a:gd name="connsiteY6" fmla="*/ 26377 h 398278"/>
                    <a:gd name="connsiteX7" fmla="*/ 149330 w 351959"/>
                    <a:gd name="connsiteY7" fmla="*/ 0 h 398278"/>
                    <a:gd name="connsiteX8" fmla="*/ 114410 w 351959"/>
                    <a:gd name="connsiteY8" fmla="*/ 121850 h 398278"/>
                    <a:gd name="connsiteX9" fmla="*/ 69149 w 351959"/>
                    <a:gd name="connsiteY9" fmla="*/ 186039 h 398278"/>
                    <a:gd name="connsiteX10" fmla="*/ 62577 w 351959"/>
                    <a:gd name="connsiteY10" fmla="*/ 193443 h 398278"/>
                    <a:gd name="connsiteX11" fmla="*/ 61481 w 351959"/>
                    <a:gd name="connsiteY11" fmla="*/ 183585 h 398278"/>
                    <a:gd name="connsiteX12" fmla="*/ 49169 w 351959"/>
                    <a:gd name="connsiteY12" fmla="*/ 124259 h 398278"/>
                    <a:gd name="connsiteX13" fmla="*/ 12452 w 351959"/>
                    <a:gd name="connsiteY13" fmla="*/ 221047 h 398278"/>
                    <a:gd name="connsiteX14" fmla="*/ 6888 w 351959"/>
                    <a:gd name="connsiteY14" fmla="*/ 311919 h 398278"/>
                    <a:gd name="connsiteX15" fmla="*/ 87858 w 351959"/>
                    <a:gd name="connsiteY15" fmla="*/ 397577 h 398278"/>
                    <a:gd name="connsiteX16" fmla="*/ 89786 w 351959"/>
                    <a:gd name="connsiteY16" fmla="*/ 303331 h 398278"/>
                    <a:gd name="connsiteX17" fmla="*/ 109415 w 351959"/>
                    <a:gd name="connsiteY17" fmla="*/ 271303 h 398278"/>
                    <a:gd name="connsiteX18" fmla="*/ 130402 w 351959"/>
                    <a:gd name="connsiteY18" fmla="*/ 218111 h 398278"/>
                    <a:gd name="connsiteX19" fmla="*/ 132155 w 351959"/>
                    <a:gd name="connsiteY19" fmla="*/ 212240 h 398278"/>
                    <a:gd name="connsiteX20" fmla="*/ 137150 w 351959"/>
                    <a:gd name="connsiteY20" fmla="*/ 215833 h 398278"/>
                    <a:gd name="connsiteX21" fmla="*/ 150995 w 351959"/>
                    <a:gd name="connsiteY21" fmla="*/ 266220 h 398278"/>
                    <a:gd name="connsiteX22" fmla="*/ 175313 w 351959"/>
                    <a:gd name="connsiteY22" fmla="*/ 165402 h 398278"/>
                    <a:gd name="connsiteX23" fmla="*/ 174568 w 351959"/>
                    <a:gd name="connsiteY23" fmla="*/ 156288 h 398278"/>
                    <a:gd name="connsiteX24" fmla="*/ 182148 w 351959"/>
                    <a:gd name="connsiteY24" fmla="*/ 161414 h 398278"/>
                    <a:gd name="connsiteX25" fmla="*/ 247257 w 351959"/>
                    <a:gd name="connsiteY25" fmla="*/ 242647 h 398278"/>
                    <a:gd name="connsiteX26" fmla="*/ 250193 w 351959"/>
                    <a:gd name="connsiteY26" fmla="*/ 398278 h 398278"/>
                    <a:gd name="connsiteX27" fmla="*/ 351668 w 351959"/>
                    <a:gd name="connsiteY27" fmla="*/ 243173 h 39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1959" h="398278">
                      <a:moveTo>
                        <a:pt x="351756" y="243086"/>
                      </a:moveTo>
                      <a:lnTo>
                        <a:pt x="351668" y="241815"/>
                      </a:lnTo>
                      <a:cubicBezTo>
                        <a:pt x="345972" y="162291"/>
                        <a:pt x="299397" y="106514"/>
                        <a:pt x="277358" y="84344"/>
                      </a:cubicBezTo>
                      <a:cubicBezTo>
                        <a:pt x="287085" y="127852"/>
                        <a:pt x="264476" y="148270"/>
                        <a:pt x="263381" y="149234"/>
                      </a:cubicBezTo>
                      <a:lnTo>
                        <a:pt x="258079" y="153834"/>
                      </a:lnTo>
                      <a:lnTo>
                        <a:pt x="256239" y="147043"/>
                      </a:lnTo>
                      <a:cubicBezTo>
                        <a:pt x="239239" y="84212"/>
                        <a:pt x="209226" y="46751"/>
                        <a:pt x="187011" y="26377"/>
                      </a:cubicBezTo>
                      <a:cubicBezTo>
                        <a:pt x="171369" y="12049"/>
                        <a:pt x="157305" y="3943"/>
                        <a:pt x="149330" y="0"/>
                      </a:cubicBezTo>
                      <a:cubicBezTo>
                        <a:pt x="153011" y="34482"/>
                        <a:pt x="141268" y="75449"/>
                        <a:pt x="114410" y="121850"/>
                      </a:cubicBezTo>
                      <a:cubicBezTo>
                        <a:pt x="93028" y="158829"/>
                        <a:pt x="69368" y="185732"/>
                        <a:pt x="69149" y="186039"/>
                      </a:cubicBezTo>
                      <a:lnTo>
                        <a:pt x="62577" y="193443"/>
                      </a:lnTo>
                      <a:lnTo>
                        <a:pt x="61481" y="183585"/>
                      </a:lnTo>
                      <a:cubicBezTo>
                        <a:pt x="57450" y="146912"/>
                        <a:pt x="52455" y="131051"/>
                        <a:pt x="49169" y="124259"/>
                      </a:cubicBezTo>
                      <a:cubicBezTo>
                        <a:pt x="39661" y="163430"/>
                        <a:pt x="13635" y="218549"/>
                        <a:pt x="12452" y="221047"/>
                      </a:cubicBezTo>
                      <a:cubicBezTo>
                        <a:pt x="-2007" y="252681"/>
                        <a:pt x="-3891" y="283264"/>
                        <a:pt x="6888" y="311919"/>
                      </a:cubicBezTo>
                      <a:cubicBezTo>
                        <a:pt x="23625" y="356479"/>
                        <a:pt x="66914" y="385616"/>
                        <a:pt x="87858" y="397577"/>
                      </a:cubicBezTo>
                      <a:cubicBezTo>
                        <a:pt x="79840" y="378649"/>
                        <a:pt x="69237" y="340881"/>
                        <a:pt x="89786" y="303331"/>
                      </a:cubicBezTo>
                      <a:cubicBezTo>
                        <a:pt x="99644" y="285323"/>
                        <a:pt x="105296" y="277218"/>
                        <a:pt x="109415" y="271303"/>
                      </a:cubicBezTo>
                      <a:cubicBezTo>
                        <a:pt x="116469" y="261181"/>
                        <a:pt x="118397" y="258421"/>
                        <a:pt x="130402" y="218111"/>
                      </a:cubicBezTo>
                      <a:lnTo>
                        <a:pt x="132155" y="212240"/>
                      </a:lnTo>
                      <a:lnTo>
                        <a:pt x="137150" y="215833"/>
                      </a:lnTo>
                      <a:cubicBezTo>
                        <a:pt x="138683" y="216928"/>
                        <a:pt x="151039" y="227006"/>
                        <a:pt x="150995" y="266220"/>
                      </a:cubicBezTo>
                      <a:cubicBezTo>
                        <a:pt x="161818" y="251235"/>
                        <a:pt x="179650" y="217936"/>
                        <a:pt x="175313" y="165402"/>
                      </a:cubicBezTo>
                      <a:lnTo>
                        <a:pt x="174568" y="156288"/>
                      </a:lnTo>
                      <a:lnTo>
                        <a:pt x="182148" y="161414"/>
                      </a:lnTo>
                      <a:cubicBezTo>
                        <a:pt x="211679" y="181350"/>
                        <a:pt x="234200" y="209436"/>
                        <a:pt x="247257" y="242647"/>
                      </a:cubicBezTo>
                      <a:cubicBezTo>
                        <a:pt x="266404" y="292903"/>
                        <a:pt x="273502" y="337156"/>
                        <a:pt x="250193" y="398278"/>
                      </a:cubicBezTo>
                      <a:cubicBezTo>
                        <a:pt x="279198" y="381716"/>
                        <a:pt x="357320" y="328919"/>
                        <a:pt x="351668" y="243173"/>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7" name="Freeform: Shape 219">
                  <a:extLst>
                    <a:ext uri="{FF2B5EF4-FFF2-40B4-BE49-F238E27FC236}">
                      <a16:creationId xmlns:a16="http://schemas.microsoft.com/office/drawing/2014/main" id="{DF3794E3-204E-708A-4F83-3E507935BD95}"/>
                    </a:ext>
                  </a:extLst>
                </p:cNvPr>
                <p:cNvSpPr/>
                <p:nvPr/>
              </p:nvSpPr>
              <p:spPr>
                <a:xfrm>
                  <a:off x="9573627" y="1364174"/>
                  <a:ext cx="123733" cy="82722"/>
                </a:xfrm>
                <a:custGeom>
                  <a:avLst/>
                  <a:gdLst>
                    <a:gd name="connsiteX0" fmla="*/ 55996 w 123733"/>
                    <a:gd name="connsiteY0" fmla="*/ 82679 h 82722"/>
                    <a:gd name="connsiteX1" fmla="*/ 57792 w 123733"/>
                    <a:gd name="connsiteY1" fmla="*/ 82679 h 82722"/>
                    <a:gd name="connsiteX2" fmla="*/ 52271 w 123733"/>
                    <a:gd name="connsiteY2" fmla="*/ 59150 h 82722"/>
                    <a:gd name="connsiteX3" fmla="*/ 34964 w 123733"/>
                    <a:gd name="connsiteY3" fmla="*/ 11567 h 82722"/>
                    <a:gd name="connsiteX4" fmla="*/ 74485 w 123733"/>
                    <a:gd name="connsiteY4" fmla="*/ 43245 h 82722"/>
                    <a:gd name="connsiteX5" fmla="*/ 111641 w 123733"/>
                    <a:gd name="connsiteY5" fmla="*/ 82723 h 82722"/>
                    <a:gd name="connsiteX6" fmla="*/ 115014 w 123733"/>
                    <a:gd name="connsiteY6" fmla="*/ 82723 h 82722"/>
                    <a:gd name="connsiteX7" fmla="*/ 121192 w 123733"/>
                    <a:gd name="connsiteY7" fmla="*/ 80181 h 82722"/>
                    <a:gd name="connsiteX8" fmla="*/ 123734 w 123733"/>
                    <a:gd name="connsiteY8" fmla="*/ 74004 h 82722"/>
                    <a:gd name="connsiteX9" fmla="*/ 123734 w 123733"/>
                    <a:gd name="connsiteY9" fmla="*/ 8719 h 82722"/>
                    <a:gd name="connsiteX10" fmla="*/ 121192 w 123733"/>
                    <a:gd name="connsiteY10" fmla="*/ 2541 h 82722"/>
                    <a:gd name="connsiteX11" fmla="*/ 115014 w 123733"/>
                    <a:gd name="connsiteY11" fmla="*/ 0 h 82722"/>
                    <a:gd name="connsiteX12" fmla="*/ 0 w 123733"/>
                    <a:gd name="connsiteY12" fmla="*/ 0 h 82722"/>
                    <a:gd name="connsiteX13" fmla="*/ 55996 w 123733"/>
                    <a:gd name="connsiteY13" fmla="*/ 82723 h 82722"/>
                    <a:gd name="connsiteX14" fmla="*/ 55996 w 123733"/>
                    <a:gd name="connsiteY14" fmla="*/ 82723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733" h="82722">
                      <a:moveTo>
                        <a:pt x="55996" y="82679"/>
                      </a:moveTo>
                      <a:lnTo>
                        <a:pt x="57792" y="82679"/>
                      </a:lnTo>
                      <a:cubicBezTo>
                        <a:pt x="56959" y="74617"/>
                        <a:pt x="55119" y="66730"/>
                        <a:pt x="52271" y="59150"/>
                      </a:cubicBezTo>
                      <a:lnTo>
                        <a:pt x="34964" y="11567"/>
                      </a:lnTo>
                      <a:lnTo>
                        <a:pt x="74485" y="43245"/>
                      </a:lnTo>
                      <a:cubicBezTo>
                        <a:pt x="88287" y="54988"/>
                        <a:pt x="100731" y="68220"/>
                        <a:pt x="111641" y="82723"/>
                      </a:cubicBezTo>
                      <a:lnTo>
                        <a:pt x="115014" y="82723"/>
                      </a:lnTo>
                      <a:cubicBezTo>
                        <a:pt x="117337" y="82723"/>
                        <a:pt x="119527" y="81803"/>
                        <a:pt x="121192" y="80181"/>
                      </a:cubicBezTo>
                      <a:cubicBezTo>
                        <a:pt x="122813" y="78560"/>
                        <a:pt x="123734" y="76326"/>
                        <a:pt x="123734" y="74004"/>
                      </a:cubicBezTo>
                      <a:lnTo>
                        <a:pt x="123734" y="8719"/>
                      </a:lnTo>
                      <a:cubicBezTo>
                        <a:pt x="123734" y="6397"/>
                        <a:pt x="122813" y="4206"/>
                        <a:pt x="121192" y="2541"/>
                      </a:cubicBezTo>
                      <a:cubicBezTo>
                        <a:pt x="119571" y="920"/>
                        <a:pt x="117337" y="0"/>
                        <a:pt x="115014" y="0"/>
                      </a:cubicBezTo>
                      <a:lnTo>
                        <a:pt x="0" y="0"/>
                      </a:lnTo>
                      <a:cubicBezTo>
                        <a:pt x="24054" y="23529"/>
                        <a:pt x="43114" y="51658"/>
                        <a:pt x="55996" y="82723"/>
                      </a:cubicBezTo>
                      <a:lnTo>
                        <a:pt x="55996" y="82723"/>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8" name="Freeform: Shape 220">
                  <a:extLst>
                    <a:ext uri="{FF2B5EF4-FFF2-40B4-BE49-F238E27FC236}">
                      <a16:creationId xmlns:a16="http://schemas.microsoft.com/office/drawing/2014/main" id="{D5AED07B-057A-2233-C08D-9CA14C2199F9}"/>
                    </a:ext>
                  </a:extLst>
                </p:cNvPr>
                <p:cNvSpPr/>
                <p:nvPr/>
              </p:nvSpPr>
              <p:spPr>
                <a:xfrm>
                  <a:off x="9698588" y="1465737"/>
                  <a:ext cx="129122" cy="82722"/>
                </a:xfrm>
                <a:custGeom>
                  <a:avLst/>
                  <a:gdLst>
                    <a:gd name="connsiteX0" fmla="*/ 120404 w 129122"/>
                    <a:gd name="connsiteY0" fmla="*/ 0 h 82722"/>
                    <a:gd name="connsiteX1" fmla="*/ 0 w 129122"/>
                    <a:gd name="connsiteY1" fmla="*/ 0 h 82722"/>
                    <a:gd name="connsiteX2" fmla="*/ 35972 w 129122"/>
                    <a:gd name="connsiteY2" fmla="*/ 82723 h 82722"/>
                    <a:gd name="connsiteX3" fmla="*/ 120404 w 129122"/>
                    <a:gd name="connsiteY3" fmla="*/ 82723 h 82722"/>
                    <a:gd name="connsiteX4" fmla="*/ 126582 w 129122"/>
                    <a:gd name="connsiteY4" fmla="*/ 80181 h 82722"/>
                    <a:gd name="connsiteX5" fmla="*/ 129123 w 129122"/>
                    <a:gd name="connsiteY5" fmla="*/ 74004 h 82722"/>
                    <a:gd name="connsiteX6" fmla="*/ 129123 w 129122"/>
                    <a:gd name="connsiteY6" fmla="*/ 8719 h 82722"/>
                    <a:gd name="connsiteX7" fmla="*/ 126582 w 129122"/>
                    <a:gd name="connsiteY7" fmla="*/ 2541 h 82722"/>
                    <a:gd name="connsiteX8" fmla="*/ 120404 w 129122"/>
                    <a:gd name="connsiteY8" fmla="*/ 0 h 82722"/>
                    <a:gd name="connsiteX9" fmla="*/ 120404 w 129122"/>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122" h="82722">
                      <a:moveTo>
                        <a:pt x="120404" y="0"/>
                      </a:moveTo>
                      <a:lnTo>
                        <a:pt x="0" y="0"/>
                      </a:lnTo>
                      <a:cubicBezTo>
                        <a:pt x="16606" y="25325"/>
                        <a:pt x="28786" y="53323"/>
                        <a:pt x="35972" y="82723"/>
                      </a:cubicBezTo>
                      <a:lnTo>
                        <a:pt x="120404" y="82723"/>
                      </a:lnTo>
                      <a:cubicBezTo>
                        <a:pt x="122726" y="82723"/>
                        <a:pt x="124917" y="81803"/>
                        <a:pt x="126582" y="80181"/>
                      </a:cubicBezTo>
                      <a:cubicBezTo>
                        <a:pt x="128203" y="78560"/>
                        <a:pt x="129123" y="76326"/>
                        <a:pt x="129123" y="74004"/>
                      </a:cubicBezTo>
                      <a:lnTo>
                        <a:pt x="129123" y="8719"/>
                      </a:lnTo>
                      <a:cubicBezTo>
                        <a:pt x="129123" y="6397"/>
                        <a:pt x="128203" y="4162"/>
                        <a:pt x="126582" y="2541"/>
                      </a:cubicBezTo>
                      <a:cubicBezTo>
                        <a:pt x="124960" y="920"/>
                        <a:pt x="122726" y="0"/>
                        <a:pt x="120404" y="0"/>
                      </a:cubicBezTo>
                      <a:lnTo>
                        <a:pt x="120404"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 name="Freeform: Shape 221">
                  <a:extLst>
                    <a:ext uri="{FF2B5EF4-FFF2-40B4-BE49-F238E27FC236}">
                      <a16:creationId xmlns:a16="http://schemas.microsoft.com/office/drawing/2014/main" id="{173C6A61-E426-3407-3A1C-735675CCFE76}"/>
                    </a:ext>
                  </a:extLst>
                </p:cNvPr>
                <p:cNvSpPr/>
                <p:nvPr/>
              </p:nvSpPr>
              <p:spPr>
                <a:xfrm>
                  <a:off x="9732676" y="1567432"/>
                  <a:ext cx="224595" cy="82766"/>
                </a:xfrm>
                <a:custGeom>
                  <a:avLst/>
                  <a:gdLst>
                    <a:gd name="connsiteX0" fmla="*/ 215920 w 224595"/>
                    <a:gd name="connsiteY0" fmla="*/ 0 h 82766"/>
                    <a:gd name="connsiteX1" fmla="*/ 5608 w 224595"/>
                    <a:gd name="connsiteY1" fmla="*/ 0 h 82766"/>
                    <a:gd name="connsiteX2" fmla="*/ 8237 w 224595"/>
                    <a:gd name="connsiteY2" fmla="*/ 22696 h 82766"/>
                    <a:gd name="connsiteX3" fmla="*/ 8237 w 224595"/>
                    <a:gd name="connsiteY3" fmla="*/ 22696 h 82766"/>
                    <a:gd name="connsiteX4" fmla="*/ 0 w 224595"/>
                    <a:gd name="connsiteY4" fmla="*/ 82767 h 82766"/>
                    <a:gd name="connsiteX5" fmla="*/ 215920 w 224595"/>
                    <a:gd name="connsiteY5" fmla="*/ 82767 h 82766"/>
                    <a:gd name="connsiteX6" fmla="*/ 222054 w 224595"/>
                    <a:gd name="connsiteY6" fmla="*/ 80225 h 82766"/>
                    <a:gd name="connsiteX7" fmla="*/ 224596 w 224595"/>
                    <a:gd name="connsiteY7" fmla="*/ 74091 h 82766"/>
                    <a:gd name="connsiteX8" fmla="*/ 224596 w 224595"/>
                    <a:gd name="connsiteY8" fmla="*/ 8763 h 82766"/>
                    <a:gd name="connsiteX9" fmla="*/ 222054 w 224595"/>
                    <a:gd name="connsiteY9" fmla="*/ 2585 h 82766"/>
                    <a:gd name="connsiteX10" fmla="*/ 215876 w 224595"/>
                    <a:gd name="connsiteY10" fmla="*/ 44 h 82766"/>
                    <a:gd name="connsiteX11" fmla="*/ 215876 w 224595"/>
                    <a:gd name="connsiteY11" fmla="*/ 44 h 8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595" h="82766">
                      <a:moveTo>
                        <a:pt x="215920" y="0"/>
                      </a:moveTo>
                      <a:lnTo>
                        <a:pt x="5608" y="0"/>
                      </a:lnTo>
                      <a:cubicBezTo>
                        <a:pt x="6791" y="7361"/>
                        <a:pt x="7711" y="14897"/>
                        <a:pt x="8237" y="22696"/>
                      </a:cubicBezTo>
                      <a:lnTo>
                        <a:pt x="8237" y="22696"/>
                      </a:lnTo>
                      <a:cubicBezTo>
                        <a:pt x="9639" y="43070"/>
                        <a:pt x="6835" y="63488"/>
                        <a:pt x="0" y="82767"/>
                      </a:cubicBezTo>
                      <a:lnTo>
                        <a:pt x="215920" y="82767"/>
                      </a:lnTo>
                      <a:cubicBezTo>
                        <a:pt x="218243" y="82767"/>
                        <a:pt x="220433" y="81846"/>
                        <a:pt x="222054" y="80225"/>
                      </a:cubicBezTo>
                      <a:cubicBezTo>
                        <a:pt x="223676" y="78604"/>
                        <a:pt x="224596" y="76370"/>
                        <a:pt x="224596" y="74091"/>
                      </a:cubicBezTo>
                      <a:lnTo>
                        <a:pt x="224596" y="8763"/>
                      </a:lnTo>
                      <a:cubicBezTo>
                        <a:pt x="224596" y="6441"/>
                        <a:pt x="223676" y="4250"/>
                        <a:pt x="222054" y="2585"/>
                      </a:cubicBezTo>
                      <a:cubicBezTo>
                        <a:pt x="220433" y="964"/>
                        <a:pt x="218199" y="44"/>
                        <a:pt x="215876" y="44"/>
                      </a:cubicBezTo>
                      <a:lnTo>
                        <a:pt x="215876" y="44"/>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0" name="Freeform: Shape 222">
                  <a:extLst>
                    <a:ext uri="{FF2B5EF4-FFF2-40B4-BE49-F238E27FC236}">
                      <a16:creationId xmlns:a16="http://schemas.microsoft.com/office/drawing/2014/main" id="{9F7771A2-B9A7-E197-7D2B-4386F40974E3}"/>
                    </a:ext>
                  </a:extLst>
                </p:cNvPr>
                <p:cNvSpPr/>
                <p:nvPr/>
              </p:nvSpPr>
              <p:spPr>
                <a:xfrm>
                  <a:off x="9647499" y="1669082"/>
                  <a:ext cx="179816" cy="82722"/>
                </a:xfrm>
                <a:custGeom>
                  <a:avLst/>
                  <a:gdLst>
                    <a:gd name="connsiteX0" fmla="*/ 171141 w 179816"/>
                    <a:gd name="connsiteY0" fmla="*/ 0 h 82722"/>
                    <a:gd name="connsiteX1" fmla="*/ 77027 w 179816"/>
                    <a:gd name="connsiteY1" fmla="*/ 0 h 82722"/>
                    <a:gd name="connsiteX2" fmla="*/ 0 w 179816"/>
                    <a:gd name="connsiteY2" fmla="*/ 82723 h 82722"/>
                    <a:gd name="connsiteX3" fmla="*/ 171098 w 179816"/>
                    <a:gd name="connsiteY3" fmla="*/ 82723 h 82722"/>
                    <a:gd name="connsiteX4" fmla="*/ 177275 w 179816"/>
                    <a:gd name="connsiteY4" fmla="*/ 80181 h 82722"/>
                    <a:gd name="connsiteX5" fmla="*/ 179817 w 179816"/>
                    <a:gd name="connsiteY5" fmla="*/ 74004 h 82722"/>
                    <a:gd name="connsiteX6" fmla="*/ 179817 w 179816"/>
                    <a:gd name="connsiteY6" fmla="*/ 8719 h 82722"/>
                    <a:gd name="connsiteX7" fmla="*/ 177275 w 179816"/>
                    <a:gd name="connsiteY7" fmla="*/ 2541 h 82722"/>
                    <a:gd name="connsiteX8" fmla="*/ 171098 w 179816"/>
                    <a:gd name="connsiteY8" fmla="*/ 0 h 82722"/>
                    <a:gd name="connsiteX9" fmla="*/ 171098 w 179816"/>
                    <a:gd name="connsiteY9" fmla="*/ 0 h 8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816" h="82722">
                      <a:moveTo>
                        <a:pt x="171141" y="0"/>
                      </a:moveTo>
                      <a:lnTo>
                        <a:pt x="77027" y="0"/>
                      </a:lnTo>
                      <a:cubicBezTo>
                        <a:pt x="57310" y="38995"/>
                        <a:pt x="24098" y="66599"/>
                        <a:pt x="0" y="82723"/>
                      </a:cubicBezTo>
                      <a:lnTo>
                        <a:pt x="171098" y="82723"/>
                      </a:lnTo>
                      <a:cubicBezTo>
                        <a:pt x="173420" y="82723"/>
                        <a:pt x="175611" y="81803"/>
                        <a:pt x="177275" y="80181"/>
                      </a:cubicBezTo>
                      <a:cubicBezTo>
                        <a:pt x="178897" y="78560"/>
                        <a:pt x="179817" y="76326"/>
                        <a:pt x="179817" y="74004"/>
                      </a:cubicBezTo>
                      <a:lnTo>
                        <a:pt x="179817" y="8719"/>
                      </a:lnTo>
                      <a:cubicBezTo>
                        <a:pt x="179817" y="6397"/>
                        <a:pt x="178897" y="4206"/>
                        <a:pt x="177275" y="2541"/>
                      </a:cubicBezTo>
                      <a:cubicBezTo>
                        <a:pt x="175654" y="920"/>
                        <a:pt x="173420" y="0"/>
                        <a:pt x="171098" y="0"/>
                      </a:cubicBezTo>
                      <a:lnTo>
                        <a:pt x="171098" y="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nvGrpSpPr>
          <p:cNvPr id="83" name="Group 82">
            <a:extLst>
              <a:ext uri="{FF2B5EF4-FFF2-40B4-BE49-F238E27FC236}">
                <a16:creationId xmlns:a16="http://schemas.microsoft.com/office/drawing/2014/main" id="{A3C673BC-2ABE-F315-2075-EB6075B2CD7D}"/>
              </a:ext>
            </a:extLst>
          </p:cNvPr>
          <p:cNvGrpSpPr/>
          <p:nvPr/>
        </p:nvGrpSpPr>
        <p:grpSpPr>
          <a:xfrm>
            <a:off x="9294813" y="2771361"/>
            <a:ext cx="2314149" cy="575945"/>
            <a:chOff x="9294813" y="4025259"/>
            <a:chExt cx="2314149" cy="575945"/>
          </a:xfrm>
        </p:grpSpPr>
        <p:sp>
          <p:nvSpPr>
            <p:cNvPr id="71" name="Rectangle: Rounded Corners 634">
              <a:extLst>
                <a:ext uri="{FF2B5EF4-FFF2-40B4-BE49-F238E27FC236}">
                  <a16:creationId xmlns:a16="http://schemas.microsoft.com/office/drawing/2014/main" id="{2C4C75C5-EB4F-3533-5439-C9C15BF0991D}"/>
                </a:ext>
              </a:extLst>
            </p:cNvPr>
            <p:cNvSpPr/>
            <p:nvPr/>
          </p:nvSpPr>
          <p:spPr>
            <a:xfrm>
              <a:off x="9294813" y="4025259"/>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 name="Content Placeholder 9">
              <a:extLst>
                <a:ext uri="{FF2B5EF4-FFF2-40B4-BE49-F238E27FC236}">
                  <a16:creationId xmlns:a16="http://schemas.microsoft.com/office/drawing/2014/main" id="{B160D0C2-4FD2-DBFC-2FAF-5A986BDF91A0}"/>
                </a:ext>
              </a:extLst>
            </p:cNvPr>
            <p:cNvSpPr txBox="1">
              <a:spLocks/>
            </p:cNvSpPr>
            <p:nvPr/>
          </p:nvSpPr>
          <p:spPr>
            <a:xfrm>
              <a:off x="9855505" y="4212110"/>
              <a:ext cx="1753457"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Routing/NAT</a:t>
              </a:r>
            </a:p>
          </p:txBody>
        </p:sp>
        <p:grpSp>
          <p:nvGrpSpPr>
            <p:cNvPr id="73" name="Group 72">
              <a:extLst>
                <a:ext uri="{FF2B5EF4-FFF2-40B4-BE49-F238E27FC236}">
                  <a16:creationId xmlns:a16="http://schemas.microsoft.com/office/drawing/2014/main" id="{B6D569F6-8102-0C18-F1A4-A69ACA4445F7}"/>
                </a:ext>
              </a:extLst>
            </p:cNvPr>
            <p:cNvGrpSpPr>
              <a:grpSpLocks noChangeAspect="1"/>
            </p:cNvGrpSpPr>
            <p:nvPr/>
          </p:nvGrpSpPr>
          <p:grpSpPr>
            <a:xfrm>
              <a:off x="9344980" y="4084632"/>
              <a:ext cx="457200" cy="457200"/>
              <a:chOff x="4856731" y="3857189"/>
              <a:chExt cx="902850" cy="902850"/>
            </a:xfrm>
          </p:grpSpPr>
          <p:sp>
            <p:nvSpPr>
              <p:cNvPr id="74" name="Oval 34">
                <a:extLst>
                  <a:ext uri="{FF2B5EF4-FFF2-40B4-BE49-F238E27FC236}">
                    <a16:creationId xmlns:a16="http://schemas.microsoft.com/office/drawing/2014/main" id="{DC7C42B3-FD0E-FD1D-0A54-743A5381666C}"/>
                  </a:ext>
                </a:extLst>
              </p:cNvPr>
              <p:cNvSpPr>
                <a:spLocks noChangeAspect="1"/>
              </p:cNvSpPr>
              <p:nvPr/>
            </p:nvSpPr>
            <p:spPr bwMode="gray">
              <a:xfrm>
                <a:off x="4856731" y="3857189"/>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 name="Graphic 579">
                <a:extLst>
                  <a:ext uri="{FF2B5EF4-FFF2-40B4-BE49-F238E27FC236}">
                    <a16:creationId xmlns:a16="http://schemas.microsoft.com/office/drawing/2014/main" id="{D87E8951-504F-FF5F-F337-689E383F0C69}"/>
                  </a:ext>
                </a:extLst>
              </p:cNvPr>
              <p:cNvSpPr/>
              <p:nvPr/>
            </p:nvSpPr>
            <p:spPr>
              <a:xfrm>
                <a:off x="5015911" y="4016368"/>
                <a:ext cx="584492" cy="584492"/>
              </a:xfrm>
              <a:custGeom>
                <a:avLst/>
                <a:gdLst>
                  <a:gd name="connsiteX0" fmla="*/ 292246 w 584492"/>
                  <a:gd name="connsiteY0" fmla="*/ 0 h 584492"/>
                  <a:gd name="connsiteX1" fmla="*/ 0 w 584492"/>
                  <a:gd name="connsiteY1" fmla="*/ 292246 h 584492"/>
                  <a:gd name="connsiteX2" fmla="*/ 292246 w 584492"/>
                  <a:gd name="connsiteY2" fmla="*/ 584492 h 584492"/>
                  <a:gd name="connsiteX3" fmla="*/ 584492 w 584492"/>
                  <a:gd name="connsiteY3" fmla="*/ 292246 h 584492"/>
                  <a:gd name="connsiteX4" fmla="*/ 292246 w 584492"/>
                  <a:gd name="connsiteY4" fmla="*/ 0 h 584492"/>
                  <a:gd name="connsiteX5" fmla="*/ 172982 w 584492"/>
                  <a:gd name="connsiteY5" fmla="*/ 333520 h 584492"/>
                  <a:gd name="connsiteX6" fmla="*/ 172982 w 584492"/>
                  <a:gd name="connsiteY6" fmla="*/ 307581 h 584492"/>
                  <a:gd name="connsiteX7" fmla="*/ 59895 w 584492"/>
                  <a:gd name="connsiteY7" fmla="*/ 307581 h 584492"/>
                  <a:gd name="connsiteX8" fmla="*/ 59895 w 584492"/>
                  <a:gd name="connsiteY8" fmla="*/ 276911 h 584492"/>
                  <a:gd name="connsiteX9" fmla="*/ 172982 w 584492"/>
                  <a:gd name="connsiteY9" fmla="*/ 276911 h 584492"/>
                  <a:gd name="connsiteX10" fmla="*/ 172982 w 584492"/>
                  <a:gd name="connsiteY10" fmla="*/ 250972 h 584492"/>
                  <a:gd name="connsiteX11" fmla="*/ 244488 w 584492"/>
                  <a:gd name="connsiteY11" fmla="*/ 292246 h 584492"/>
                  <a:gd name="connsiteX12" fmla="*/ 172982 w 584492"/>
                  <a:gd name="connsiteY12" fmla="*/ 333520 h 584492"/>
                  <a:gd name="connsiteX13" fmla="*/ 292246 w 584492"/>
                  <a:gd name="connsiteY13" fmla="*/ 519646 h 584492"/>
                  <a:gd name="connsiteX14" fmla="*/ 250972 w 584492"/>
                  <a:gd name="connsiteY14" fmla="*/ 448140 h 584492"/>
                  <a:gd name="connsiteX15" fmla="*/ 276911 w 584492"/>
                  <a:gd name="connsiteY15" fmla="*/ 448140 h 584492"/>
                  <a:gd name="connsiteX16" fmla="*/ 276911 w 584492"/>
                  <a:gd name="connsiteY16" fmla="*/ 335053 h 584492"/>
                  <a:gd name="connsiteX17" fmla="*/ 307581 w 584492"/>
                  <a:gd name="connsiteY17" fmla="*/ 335053 h 584492"/>
                  <a:gd name="connsiteX18" fmla="*/ 307581 w 584492"/>
                  <a:gd name="connsiteY18" fmla="*/ 448140 h 584492"/>
                  <a:gd name="connsiteX19" fmla="*/ 333520 w 584492"/>
                  <a:gd name="connsiteY19" fmla="*/ 448140 h 584492"/>
                  <a:gd name="connsiteX20" fmla="*/ 292246 w 584492"/>
                  <a:gd name="connsiteY20" fmla="*/ 519646 h 584492"/>
                  <a:gd name="connsiteX21" fmla="*/ 307581 w 584492"/>
                  <a:gd name="connsiteY21" fmla="*/ 136352 h 584492"/>
                  <a:gd name="connsiteX22" fmla="*/ 307581 w 584492"/>
                  <a:gd name="connsiteY22" fmla="*/ 249439 h 584492"/>
                  <a:gd name="connsiteX23" fmla="*/ 276911 w 584492"/>
                  <a:gd name="connsiteY23" fmla="*/ 249439 h 584492"/>
                  <a:gd name="connsiteX24" fmla="*/ 276911 w 584492"/>
                  <a:gd name="connsiteY24" fmla="*/ 136352 h 584492"/>
                  <a:gd name="connsiteX25" fmla="*/ 250972 w 584492"/>
                  <a:gd name="connsiteY25" fmla="*/ 136352 h 584492"/>
                  <a:gd name="connsiteX26" fmla="*/ 292246 w 584492"/>
                  <a:gd name="connsiteY26" fmla="*/ 64846 h 584492"/>
                  <a:gd name="connsiteX27" fmla="*/ 333520 w 584492"/>
                  <a:gd name="connsiteY27" fmla="*/ 136352 h 584492"/>
                  <a:gd name="connsiteX28" fmla="*/ 307581 w 584492"/>
                  <a:gd name="connsiteY28" fmla="*/ 136352 h 584492"/>
                  <a:gd name="connsiteX29" fmla="*/ 411511 w 584492"/>
                  <a:gd name="connsiteY29" fmla="*/ 307581 h 584492"/>
                  <a:gd name="connsiteX30" fmla="*/ 411511 w 584492"/>
                  <a:gd name="connsiteY30" fmla="*/ 333520 h 584492"/>
                  <a:gd name="connsiteX31" fmla="*/ 340004 w 584492"/>
                  <a:gd name="connsiteY31" fmla="*/ 292246 h 584492"/>
                  <a:gd name="connsiteX32" fmla="*/ 411511 w 584492"/>
                  <a:gd name="connsiteY32" fmla="*/ 250972 h 584492"/>
                  <a:gd name="connsiteX33" fmla="*/ 411511 w 584492"/>
                  <a:gd name="connsiteY33" fmla="*/ 276911 h 584492"/>
                  <a:gd name="connsiteX34" fmla="*/ 524597 w 584492"/>
                  <a:gd name="connsiteY34" fmla="*/ 276911 h 584492"/>
                  <a:gd name="connsiteX35" fmla="*/ 524597 w 584492"/>
                  <a:gd name="connsiteY35" fmla="*/ 307581 h 584492"/>
                  <a:gd name="connsiteX36" fmla="*/ 411511 w 584492"/>
                  <a:gd name="connsiteY36" fmla="*/ 307581 h 58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84492" h="584492">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124" name="Group 123">
            <a:extLst>
              <a:ext uri="{FF2B5EF4-FFF2-40B4-BE49-F238E27FC236}">
                <a16:creationId xmlns:a16="http://schemas.microsoft.com/office/drawing/2014/main" id="{9B97CD6F-03D8-6AC8-FB6B-187391EC7F7A}"/>
              </a:ext>
            </a:extLst>
          </p:cNvPr>
          <p:cNvGrpSpPr/>
          <p:nvPr/>
        </p:nvGrpSpPr>
        <p:grpSpPr>
          <a:xfrm>
            <a:off x="9294813" y="2100404"/>
            <a:ext cx="2314149" cy="575945"/>
            <a:chOff x="9294813" y="2100404"/>
            <a:chExt cx="2314149" cy="575945"/>
          </a:xfrm>
        </p:grpSpPr>
        <p:sp>
          <p:nvSpPr>
            <p:cNvPr id="76" name="Rectangle: Rounded Corners 645">
              <a:extLst>
                <a:ext uri="{FF2B5EF4-FFF2-40B4-BE49-F238E27FC236}">
                  <a16:creationId xmlns:a16="http://schemas.microsoft.com/office/drawing/2014/main" id="{4CC505FD-250A-BE4D-7114-6BF1AC4AA91F}"/>
                </a:ext>
              </a:extLst>
            </p:cNvPr>
            <p:cNvSpPr/>
            <p:nvPr/>
          </p:nvSpPr>
          <p:spPr>
            <a:xfrm>
              <a:off x="9294813" y="2100404"/>
              <a:ext cx="2286000" cy="575945"/>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 name="Content Placeholder 9">
              <a:extLst>
                <a:ext uri="{FF2B5EF4-FFF2-40B4-BE49-F238E27FC236}">
                  <a16:creationId xmlns:a16="http://schemas.microsoft.com/office/drawing/2014/main" id="{C2801BD6-798E-AABB-AF51-033C97511826}"/>
                </a:ext>
              </a:extLst>
            </p:cNvPr>
            <p:cNvSpPr txBox="1">
              <a:spLocks/>
            </p:cNvSpPr>
            <p:nvPr/>
          </p:nvSpPr>
          <p:spPr>
            <a:xfrm>
              <a:off x="9855505" y="2287255"/>
              <a:ext cx="1753457" cy="202243"/>
            </a:xfrm>
            <a:prstGeom prst="rect">
              <a:avLst/>
            </a:prstGeom>
          </p:spPr>
          <p:txBody>
            <a:bodyPr vert="horz" lIns="0" tIns="0" rIns="0" bIns="0" rtlCol="0" anchor="ctr">
              <a:noAutofit/>
            </a:bodyPr>
            <a:lstStyle>
              <a:lvl1pPr marL="0" indent="0" algn="ctr" defTabSz="914400" rtl="0" eaLnBrk="1" latinLnBrk="0" hangingPunct="1">
                <a:lnSpc>
                  <a:spcPct val="100000"/>
                </a:lnSpc>
                <a:spcBef>
                  <a:spcPts val="600"/>
                </a:spcBef>
                <a:buClr>
                  <a:schemeClr val="tx1">
                    <a:lumMod val="60000"/>
                    <a:lumOff val="40000"/>
                  </a:schemeClr>
                </a:buClr>
                <a:buSzPct val="90000"/>
                <a:buFont typeface="Arial" panose="020B0604020202020204" pitchFamily="34" charset="0"/>
                <a:buChar char="​"/>
                <a:defRPr sz="2400" kern="1200">
                  <a:solidFill>
                    <a:schemeClr val="accent5"/>
                  </a:solidFill>
                  <a:latin typeface="+mn-lt"/>
                  <a:ea typeface="+mn-ea"/>
                  <a:cs typeface="+mn-cs"/>
                </a:defRPr>
              </a:lvl1pPr>
              <a:lvl2pPr marL="0" indent="0" algn="ctr" defTabSz="914400" rtl="0" eaLnBrk="1" latinLnBrk="0" hangingPunct="1">
                <a:lnSpc>
                  <a:spcPct val="100000"/>
                </a:lnSpc>
                <a:spcBef>
                  <a:spcPts val="600"/>
                </a:spcBef>
                <a:buClr>
                  <a:schemeClr val="tx2"/>
                </a:buClr>
                <a:buSzPct val="90000"/>
                <a:buFont typeface="Open Sans" panose="020B0606030504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6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6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6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1258888" indent="-111125"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6pPr>
              <a:lvl7pPr marL="13795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7pPr>
              <a:lvl8pPr marL="1550988" indent="-120650" algn="l" defTabSz="914400" rtl="0" eaLnBrk="1" latinLnBrk="0" hangingPunct="1">
                <a:lnSpc>
                  <a:spcPct val="100000"/>
                </a:lnSpc>
                <a:spcBef>
                  <a:spcPts val="600"/>
                </a:spcBef>
                <a:buClr>
                  <a:schemeClr val="tx2"/>
                </a:buClr>
                <a:buSzPct val="90000"/>
                <a:buFont typeface="Arial" panose="020B0604020202020204" pitchFamily="34" charset="0"/>
                <a:buChar char="•"/>
                <a:tabLst/>
                <a:defRPr sz="1400" kern="1200">
                  <a:solidFill>
                    <a:schemeClr val="tx2"/>
                  </a:solidFill>
                  <a:latin typeface="+mn-lt"/>
                  <a:ea typeface="+mn-ea"/>
                  <a:cs typeface="+mn-cs"/>
                </a:defRPr>
              </a:lvl8pPr>
              <a:lvl9pPr marL="1722438" indent="-120650" algn="l" defTabSz="914400" rtl="0" eaLnBrk="1" latinLnBrk="0" hangingPunct="1">
                <a:lnSpc>
                  <a:spcPct val="100000"/>
                </a:lnSpc>
                <a:spcBef>
                  <a:spcPts val="600"/>
                </a:spcBef>
                <a:buClr>
                  <a:schemeClr val="tx2"/>
                </a:buClr>
                <a:buSzPct val="90000"/>
                <a:buFont typeface="System Font Regular"/>
                <a:buChar char="-"/>
                <a:tabLst/>
                <a:defRPr sz="1400" kern="1200">
                  <a:solidFill>
                    <a:schemeClr val="tx2"/>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
                  <a:srgbClr val="000000">
                    <a:lumMod val="60000"/>
                    <a:lumOff val="40000"/>
                  </a:srgbClr>
                </a:buClr>
                <a:buSzPct val="90000"/>
                <a:buFont typeface="Arial" panose="020B0604020202020204" pitchFamily="34" charset="0"/>
                <a:buChar char="​"/>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Switching</a:t>
              </a:r>
            </a:p>
          </p:txBody>
        </p:sp>
        <p:grpSp>
          <p:nvGrpSpPr>
            <p:cNvPr id="78" name="Group 77">
              <a:extLst>
                <a:ext uri="{FF2B5EF4-FFF2-40B4-BE49-F238E27FC236}">
                  <a16:creationId xmlns:a16="http://schemas.microsoft.com/office/drawing/2014/main" id="{D613B6D2-6CA3-7A99-4B65-7A2E733A33C2}"/>
                </a:ext>
              </a:extLst>
            </p:cNvPr>
            <p:cNvGrpSpPr>
              <a:grpSpLocks noChangeAspect="1"/>
            </p:cNvGrpSpPr>
            <p:nvPr/>
          </p:nvGrpSpPr>
          <p:grpSpPr>
            <a:xfrm>
              <a:off x="9344980" y="2159776"/>
              <a:ext cx="457200" cy="457200"/>
              <a:chOff x="4856731" y="5229970"/>
              <a:chExt cx="902850" cy="902850"/>
            </a:xfrm>
          </p:grpSpPr>
          <p:sp>
            <p:nvSpPr>
              <p:cNvPr id="79" name="Oval 44">
                <a:extLst>
                  <a:ext uri="{FF2B5EF4-FFF2-40B4-BE49-F238E27FC236}">
                    <a16:creationId xmlns:a16="http://schemas.microsoft.com/office/drawing/2014/main" id="{797FF077-5175-57A8-FC4D-235375E6C3E4}"/>
                  </a:ext>
                </a:extLst>
              </p:cNvPr>
              <p:cNvSpPr>
                <a:spLocks noChangeAspect="1"/>
              </p:cNvSpPr>
              <p:nvPr/>
            </p:nvSpPr>
            <p:spPr bwMode="gray">
              <a:xfrm>
                <a:off x="4856731" y="5229970"/>
                <a:ext cx="902850" cy="902850"/>
              </a:xfrm>
              <a:prstGeom prst="ellipse">
                <a:avLst/>
              </a:prstGeom>
              <a:solidFill>
                <a:schemeClr val="tx2">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Graphic 249">
                <a:extLst>
                  <a:ext uri="{FF2B5EF4-FFF2-40B4-BE49-F238E27FC236}">
                    <a16:creationId xmlns:a16="http://schemas.microsoft.com/office/drawing/2014/main" id="{28847C24-C091-D404-90B6-244C45F65B3A}"/>
                  </a:ext>
                </a:extLst>
              </p:cNvPr>
              <p:cNvSpPr/>
              <p:nvPr/>
            </p:nvSpPr>
            <p:spPr>
              <a:xfrm>
                <a:off x="5013745" y="5480096"/>
                <a:ext cx="594328" cy="406891"/>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151" name="Group 150">
            <a:extLst>
              <a:ext uri="{FF2B5EF4-FFF2-40B4-BE49-F238E27FC236}">
                <a16:creationId xmlns:a16="http://schemas.microsoft.com/office/drawing/2014/main" id="{C37ACD0F-F62E-4411-63C3-127D3FA98BE5}"/>
              </a:ext>
            </a:extLst>
          </p:cNvPr>
          <p:cNvGrpSpPr>
            <a:grpSpLocks noChangeAspect="1"/>
          </p:cNvGrpSpPr>
          <p:nvPr/>
        </p:nvGrpSpPr>
        <p:grpSpPr>
          <a:xfrm>
            <a:off x="1904965" y="5028964"/>
            <a:ext cx="438912" cy="438912"/>
            <a:chOff x="2008163" y="2122216"/>
            <a:chExt cx="530226" cy="530226"/>
          </a:xfrm>
        </p:grpSpPr>
        <p:sp>
          <p:nvSpPr>
            <p:cNvPr id="152" name="Google Shape;1802;p69">
              <a:extLst>
                <a:ext uri="{FF2B5EF4-FFF2-40B4-BE49-F238E27FC236}">
                  <a16:creationId xmlns:a16="http://schemas.microsoft.com/office/drawing/2014/main" id="{526493AF-4725-E670-7AA4-8EA74B41CBF1}"/>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53" name="Google Shape;1803;p69">
              <a:extLst>
                <a:ext uri="{FF2B5EF4-FFF2-40B4-BE49-F238E27FC236}">
                  <a16:creationId xmlns:a16="http://schemas.microsoft.com/office/drawing/2014/main" id="{1C75C309-F3FB-0089-8772-113428052D47}"/>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54" name="Group 153">
            <a:extLst>
              <a:ext uri="{FF2B5EF4-FFF2-40B4-BE49-F238E27FC236}">
                <a16:creationId xmlns:a16="http://schemas.microsoft.com/office/drawing/2014/main" id="{658E8FE8-4723-6BD1-1207-B191112A0C53}"/>
              </a:ext>
            </a:extLst>
          </p:cNvPr>
          <p:cNvGrpSpPr>
            <a:grpSpLocks noChangeAspect="1"/>
          </p:cNvGrpSpPr>
          <p:nvPr/>
        </p:nvGrpSpPr>
        <p:grpSpPr>
          <a:xfrm>
            <a:off x="2981039" y="5028964"/>
            <a:ext cx="438912" cy="438912"/>
            <a:chOff x="2008163" y="2122216"/>
            <a:chExt cx="530226" cy="530226"/>
          </a:xfrm>
        </p:grpSpPr>
        <p:sp>
          <p:nvSpPr>
            <p:cNvPr id="155" name="Google Shape;1802;p69">
              <a:extLst>
                <a:ext uri="{FF2B5EF4-FFF2-40B4-BE49-F238E27FC236}">
                  <a16:creationId xmlns:a16="http://schemas.microsoft.com/office/drawing/2014/main" id="{5518E6AB-92C1-DB70-1BFE-FFB0B44E8286}"/>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56" name="Google Shape;1803;p69">
              <a:extLst>
                <a:ext uri="{FF2B5EF4-FFF2-40B4-BE49-F238E27FC236}">
                  <a16:creationId xmlns:a16="http://schemas.microsoft.com/office/drawing/2014/main" id="{BD442152-9980-69E5-3063-DAAA92C55BCF}"/>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57" name="Group 156">
            <a:extLst>
              <a:ext uri="{FF2B5EF4-FFF2-40B4-BE49-F238E27FC236}">
                <a16:creationId xmlns:a16="http://schemas.microsoft.com/office/drawing/2014/main" id="{E986F148-1F16-006C-DC54-223B900242DE}"/>
              </a:ext>
            </a:extLst>
          </p:cNvPr>
          <p:cNvGrpSpPr>
            <a:grpSpLocks noChangeAspect="1"/>
          </p:cNvGrpSpPr>
          <p:nvPr/>
        </p:nvGrpSpPr>
        <p:grpSpPr>
          <a:xfrm>
            <a:off x="1145335" y="5028964"/>
            <a:ext cx="438912" cy="438912"/>
            <a:chOff x="2008163" y="2122216"/>
            <a:chExt cx="530226" cy="530226"/>
          </a:xfrm>
        </p:grpSpPr>
        <p:sp>
          <p:nvSpPr>
            <p:cNvPr id="158" name="Google Shape;1802;p69">
              <a:extLst>
                <a:ext uri="{FF2B5EF4-FFF2-40B4-BE49-F238E27FC236}">
                  <a16:creationId xmlns:a16="http://schemas.microsoft.com/office/drawing/2014/main" id="{7677F944-C100-3683-B73B-982E268F4681}"/>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59" name="Google Shape;1803;p69">
              <a:extLst>
                <a:ext uri="{FF2B5EF4-FFF2-40B4-BE49-F238E27FC236}">
                  <a16:creationId xmlns:a16="http://schemas.microsoft.com/office/drawing/2014/main" id="{022175FF-7DBB-B737-156E-92004D88ADE4}"/>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60" name="Group 159">
            <a:extLst>
              <a:ext uri="{FF2B5EF4-FFF2-40B4-BE49-F238E27FC236}">
                <a16:creationId xmlns:a16="http://schemas.microsoft.com/office/drawing/2014/main" id="{118B558B-9574-FBF7-4E51-1D1792AE0CBC}"/>
              </a:ext>
            </a:extLst>
          </p:cNvPr>
          <p:cNvGrpSpPr>
            <a:grpSpLocks noChangeAspect="1"/>
          </p:cNvGrpSpPr>
          <p:nvPr/>
        </p:nvGrpSpPr>
        <p:grpSpPr>
          <a:xfrm>
            <a:off x="5563935" y="5028964"/>
            <a:ext cx="438912" cy="438912"/>
            <a:chOff x="2008163" y="2122216"/>
            <a:chExt cx="530226" cy="530226"/>
          </a:xfrm>
        </p:grpSpPr>
        <p:sp>
          <p:nvSpPr>
            <p:cNvPr id="161" name="Google Shape;1802;p69">
              <a:extLst>
                <a:ext uri="{FF2B5EF4-FFF2-40B4-BE49-F238E27FC236}">
                  <a16:creationId xmlns:a16="http://schemas.microsoft.com/office/drawing/2014/main" id="{AB066948-E634-F649-016B-BEF2C27492CF}"/>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62" name="Google Shape;1803;p69">
              <a:extLst>
                <a:ext uri="{FF2B5EF4-FFF2-40B4-BE49-F238E27FC236}">
                  <a16:creationId xmlns:a16="http://schemas.microsoft.com/office/drawing/2014/main" id="{8613B870-48C3-F732-B883-0010724811B9}"/>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63" name="Group 162">
            <a:extLst>
              <a:ext uri="{FF2B5EF4-FFF2-40B4-BE49-F238E27FC236}">
                <a16:creationId xmlns:a16="http://schemas.microsoft.com/office/drawing/2014/main" id="{8A285737-F7EA-592A-8B53-A2398981BE91}"/>
              </a:ext>
            </a:extLst>
          </p:cNvPr>
          <p:cNvGrpSpPr>
            <a:grpSpLocks noChangeAspect="1"/>
          </p:cNvGrpSpPr>
          <p:nvPr/>
        </p:nvGrpSpPr>
        <p:grpSpPr>
          <a:xfrm>
            <a:off x="3724035" y="5028964"/>
            <a:ext cx="438912" cy="438912"/>
            <a:chOff x="2008163" y="2122216"/>
            <a:chExt cx="530226" cy="530226"/>
          </a:xfrm>
        </p:grpSpPr>
        <p:sp>
          <p:nvSpPr>
            <p:cNvPr id="164" name="Google Shape;1802;p69">
              <a:extLst>
                <a:ext uri="{FF2B5EF4-FFF2-40B4-BE49-F238E27FC236}">
                  <a16:creationId xmlns:a16="http://schemas.microsoft.com/office/drawing/2014/main" id="{2E836F42-D351-1B06-CA8E-5C0B389D3918}"/>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65" name="Google Shape;1803;p69">
              <a:extLst>
                <a:ext uri="{FF2B5EF4-FFF2-40B4-BE49-F238E27FC236}">
                  <a16:creationId xmlns:a16="http://schemas.microsoft.com/office/drawing/2014/main" id="{DF946CD3-EC40-6B00-C0B2-79F138AFDC20}"/>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66" name="Group 165">
            <a:extLst>
              <a:ext uri="{FF2B5EF4-FFF2-40B4-BE49-F238E27FC236}">
                <a16:creationId xmlns:a16="http://schemas.microsoft.com/office/drawing/2014/main" id="{BEB9BC24-07BD-1C4F-53CB-B9273C4933AD}"/>
              </a:ext>
            </a:extLst>
          </p:cNvPr>
          <p:cNvGrpSpPr>
            <a:grpSpLocks noChangeAspect="1"/>
          </p:cNvGrpSpPr>
          <p:nvPr/>
        </p:nvGrpSpPr>
        <p:grpSpPr>
          <a:xfrm>
            <a:off x="4813645" y="5028964"/>
            <a:ext cx="438912" cy="438912"/>
            <a:chOff x="2008163" y="2122216"/>
            <a:chExt cx="530226" cy="530226"/>
          </a:xfrm>
        </p:grpSpPr>
        <p:sp>
          <p:nvSpPr>
            <p:cNvPr id="167" name="Google Shape;1802;p69">
              <a:extLst>
                <a:ext uri="{FF2B5EF4-FFF2-40B4-BE49-F238E27FC236}">
                  <a16:creationId xmlns:a16="http://schemas.microsoft.com/office/drawing/2014/main" id="{1FFC7553-CE20-FC28-FF5F-FE690B85067E}"/>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mn-ea"/>
                <a:cs typeface="Arial"/>
                <a:sym typeface="Arial"/>
              </a:endParaRPr>
            </a:p>
          </p:txBody>
        </p:sp>
        <p:sp>
          <p:nvSpPr>
            <p:cNvPr id="168" name="Google Shape;1803;p69">
              <a:extLst>
                <a:ext uri="{FF2B5EF4-FFF2-40B4-BE49-F238E27FC236}">
                  <a16:creationId xmlns:a16="http://schemas.microsoft.com/office/drawing/2014/main" id="{05DAF5B7-8716-B83A-A52B-D1F1ABC0E746}"/>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sp>
        <p:nvSpPr>
          <p:cNvPr id="93" name="Rectangle: Rounded Corners 144">
            <a:extLst>
              <a:ext uri="{FF2B5EF4-FFF2-40B4-BE49-F238E27FC236}">
                <a16:creationId xmlns:a16="http://schemas.microsoft.com/office/drawing/2014/main" id="{97CC3D6D-EB39-D718-4A2C-BAAE347D2607}"/>
              </a:ext>
            </a:extLst>
          </p:cNvPr>
          <p:cNvSpPr/>
          <p:nvPr/>
        </p:nvSpPr>
        <p:spPr>
          <a:xfrm>
            <a:off x="869486" y="3567173"/>
            <a:ext cx="5421854" cy="393192"/>
          </a:xfrm>
          <a:prstGeom prst="roundRect">
            <a:avLst>
              <a:gd name="adj" fmla="val 50000"/>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VCF with NSX Virtual Networking</a:t>
            </a:r>
          </a:p>
        </p:txBody>
      </p:sp>
      <p:sp>
        <p:nvSpPr>
          <p:cNvPr id="175" name="Rectangle 174">
            <a:extLst>
              <a:ext uri="{FF2B5EF4-FFF2-40B4-BE49-F238E27FC236}">
                <a16:creationId xmlns:a16="http://schemas.microsoft.com/office/drawing/2014/main" id="{19E22E5A-3F7D-FF14-F93F-F46E04B72C03}"/>
              </a:ext>
            </a:extLst>
          </p:cNvPr>
          <p:cNvSpPr/>
          <p:nvPr/>
        </p:nvSpPr>
        <p:spPr>
          <a:xfrm>
            <a:off x="608014" y="1710756"/>
            <a:ext cx="5943600"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IP Fabric with service appliances</a:t>
            </a:r>
          </a:p>
        </p:txBody>
      </p:sp>
      <p:grpSp>
        <p:nvGrpSpPr>
          <p:cNvPr id="182" name="Group 181">
            <a:extLst>
              <a:ext uri="{FF2B5EF4-FFF2-40B4-BE49-F238E27FC236}">
                <a16:creationId xmlns:a16="http://schemas.microsoft.com/office/drawing/2014/main" id="{490DE5FB-64FE-365C-A3BC-E7E715F641D2}"/>
              </a:ext>
            </a:extLst>
          </p:cNvPr>
          <p:cNvGrpSpPr/>
          <p:nvPr/>
        </p:nvGrpSpPr>
        <p:grpSpPr>
          <a:xfrm>
            <a:off x="608013" y="1768510"/>
            <a:ext cx="5943600" cy="209925"/>
            <a:chOff x="608013" y="1768510"/>
            <a:chExt cx="5943600" cy="209925"/>
          </a:xfrm>
        </p:grpSpPr>
        <p:sp>
          <p:nvSpPr>
            <p:cNvPr id="176" name="Rectangle 175">
              <a:extLst>
                <a:ext uri="{FF2B5EF4-FFF2-40B4-BE49-F238E27FC236}">
                  <a16:creationId xmlns:a16="http://schemas.microsoft.com/office/drawing/2014/main" id="{95CDA68E-E45D-9A46-0773-3CCBE5C79E90}"/>
                </a:ext>
              </a:extLst>
            </p:cNvPr>
            <p:cNvSpPr/>
            <p:nvPr/>
          </p:nvSpPr>
          <p:spPr>
            <a:xfrm>
              <a:off x="608013" y="1833011"/>
              <a:ext cx="5943600"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GENERIC IP FABRIC</a:t>
              </a:r>
            </a:p>
          </p:txBody>
        </p:sp>
        <p:cxnSp>
          <p:nvCxnSpPr>
            <p:cNvPr id="180" name="Straight Connector 179">
              <a:extLst>
                <a:ext uri="{FF2B5EF4-FFF2-40B4-BE49-F238E27FC236}">
                  <a16:creationId xmlns:a16="http://schemas.microsoft.com/office/drawing/2014/main" id="{2182FFA5-B8B5-AFB7-F2A3-3CEC729D4D06}"/>
                </a:ext>
              </a:extLst>
            </p:cNvPr>
            <p:cNvCxnSpPr/>
            <p:nvPr/>
          </p:nvCxnSpPr>
          <p:spPr bwMode="gray">
            <a:xfrm>
              <a:off x="1979613" y="1768510"/>
              <a:ext cx="3200400" cy="0"/>
            </a:xfrm>
            <a:prstGeom prst="line">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15" name="Group 214">
            <a:extLst>
              <a:ext uri="{FF2B5EF4-FFF2-40B4-BE49-F238E27FC236}">
                <a16:creationId xmlns:a16="http://schemas.microsoft.com/office/drawing/2014/main" id="{C33C2444-5BFF-D1E4-4873-57028BFCFD69}"/>
              </a:ext>
            </a:extLst>
          </p:cNvPr>
          <p:cNvGrpSpPr/>
          <p:nvPr/>
        </p:nvGrpSpPr>
        <p:grpSpPr>
          <a:xfrm>
            <a:off x="1090334" y="4520497"/>
            <a:ext cx="4948725" cy="508467"/>
            <a:chOff x="1090334" y="4520497"/>
            <a:chExt cx="4948725" cy="508467"/>
          </a:xfrm>
        </p:grpSpPr>
        <p:cxnSp>
          <p:nvCxnSpPr>
            <p:cNvPr id="177" name="Straight Connector 176">
              <a:extLst>
                <a:ext uri="{FF2B5EF4-FFF2-40B4-BE49-F238E27FC236}">
                  <a16:creationId xmlns:a16="http://schemas.microsoft.com/office/drawing/2014/main" id="{C264BBE4-3784-AB61-AE64-82F9CF321935}"/>
                </a:ext>
              </a:extLst>
            </p:cNvPr>
            <p:cNvCxnSpPr>
              <a:cxnSpLocks/>
              <a:stCxn id="158" idx="0"/>
            </p:cNvCxnSpPr>
            <p:nvPr/>
          </p:nvCxnSpPr>
          <p:spPr bwMode="gray">
            <a:xfrm flipV="1">
              <a:off x="1364791" y="4903596"/>
              <a:ext cx="0" cy="125368"/>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C34BEB0D-9E71-413D-F93C-52DDDBE7CF29}"/>
                </a:ext>
              </a:extLst>
            </p:cNvPr>
            <p:cNvCxnSpPr>
              <a:cxnSpLocks/>
              <a:stCxn id="164" idx="0"/>
            </p:cNvCxnSpPr>
            <p:nvPr/>
          </p:nvCxnSpPr>
          <p:spPr bwMode="gray">
            <a:xfrm flipV="1">
              <a:off x="3943491" y="4898571"/>
              <a:ext cx="0" cy="130393"/>
            </a:xfrm>
            <a:prstGeom prst="line">
              <a:avLst/>
            </a:prstGeom>
            <a:ln w="2540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359C9408-76BC-E21A-A97B-98C296C9C715}"/>
                </a:ext>
              </a:extLst>
            </p:cNvPr>
            <p:cNvCxnSpPr>
              <a:cxnSpLocks/>
              <a:stCxn id="152" idx="0"/>
            </p:cNvCxnSpPr>
            <p:nvPr/>
          </p:nvCxnSpPr>
          <p:spPr bwMode="gray">
            <a:xfrm flipV="1">
              <a:off x="2124421" y="4717701"/>
              <a:ext cx="0" cy="311263"/>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DBA9BF72-4F38-FE0D-DA13-ACCED1E79663}"/>
                </a:ext>
              </a:extLst>
            </p:cNvPr>
            <p:cNvCxnSpPr>
              <a:cxnSpLocks/>
              <a:stCxn id="167" idx="0"/>
            </p:cNvCxnSpPr>
            <p:nvPr/>
          </p:nvCxnSpPr>
          <p:spPr bwMode="gray">
            <a:xfrm flipV="1">
              <a:off x="5033101" y="4762919"/>
              <a:ext cx="0" cy="266045"/>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F3FC34E9-4C5C-6EBE-8E92-5ACC978202B5}"/>
                </a:ext>
              </a:extLst>
            </p:cNvPr>
            <p:cNvCxnSpPr>
              <a:cxnSpLocks/>
              <a:stCxn id="155" idx="0"/>
            </p:cNvCxnSpPr>
            <p:nvPr/>
          </p:nvCxnSpPr>
          <p:spPr bwMode="gray">
            <a:xfrm flipV="1">
              <a:off x="3200495" y="4541855"/>
              <a:ext cx="0" cy="487109"/>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B84F1C1B-0CBC-6C9E-0BFF-15EC6575F48B}"/>
                </a:ext>
              </a:extLst>
            </p:cNvPr>
            <p:cNvCxnSpPr>
              <a:cxnSpLocks/>
              <a:stCxn id="161" idx="0"/>
            </p:cNvCxnSpPr>
            <p:nvPr/>
          </p:nvCxnSpPr>
          <p:spPr bwMode="gray">
            <a:xfrm flipV="1">
              <a:off x="5783391" y="4587073"/>
              <a:ext cx="0" cy="441891"/>
            </a:xfrm>
            <a:prstGeom prst="line">
              <a:avLst/>
            </a:prstGeom>
            <a:ln w="2540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9" name="Rectangle: Rounded Corners 92">
              <a:extLst>
                <a:ext uri="{FF2B5EF4-FFF2-40B4-BE49-F238E27FC236}">
                  <a16:creationId xmlns:a16="http://schemas.microsoft.com/office/drawing/2014/main" id="{E88BFEFA-0B78-160E-29C2-05BD432C52DA}"/>
                </a:ext>
              </a:extLst>
            </p:cNvPr>
            <p:cNvSpPr/>
            <p:nvPr/>
          </p:nvSpPr>
          <p:spPr>
            <a:xfrm>
              <a:off x="1090334" y="4844558"/>
              <a:ext cx="3114902" cy="124354"/>
            </a:xfrm>
            <a:prstGeom prst="roundRect">
              <a:avLst>
                <a:gd name="adj" fmla="val 1876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Subnet X</a:t>
              </a:r>
            </a:p>
          </p:txBody>
        </p:sp>
        <p:sp>
          <p:nvSpPr>
            <p:cNvPr id="17" name="Rectangle: Rounded Corners 92">
              <a:extLst>
                <a:ext uri="{FF2B5EF4-FFF2-40B4-BE49-F238E27FC236}">
                  <a16:creationId xmlns:a16="http://schemas.microsoft.com/office/drawing/2014/main" id="{11548975-9B28-F8EA-9BF7-8CB10A1F9AD9}"/>
                </a:ext>
              </a:extLst>
            </p:cNvPr>
            <p:cNvSpPr/>
            <p:nvPr/>
          </p:nvSpPr>
          <p:spPr>
            <a:xfrm>
              <a:off x="3084844" y="4520497"/>
              <a:ext cx="2954215" cy="124354"/>
            </a:xfrm>
            <a:prstGeom prst="roundRect">
              <a:avLst>
                <a:gd name="adj" fmla="val 18762"/>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Subnet Z</a:t>
              </a:r>
            </a:p>
          </p:txBody>
        </p:sp>
        <p:sp>
          <p:nvSpPr>
            <p:cNvPr id="23" name="Rectangle: Rounded Corners 92">
              <a:extLst>
                <a:ext uri="{FF2B5EF4-FFF2-40B4-BE49-F238E27FC236}">
                  <a16:creationId xmlns:a16="http://schemas.microsoft.com/office/drawing/2014/main" id="{9DF71C8F-D178-47BF-6B9A-724D67534886}"/>
                </a:ext>
              </a:extLst>
            </p:cNvPr>
            <p:cNvSpPr/>
            <p:nvPr/>
          </p:nvSpPr>
          <p:spPr>
            <a:xfrm>
              <a:off x="1788607" y="4682528"/>
              <a:ext cx="3637503" cy="124354"/>
            </a:xfrm>
            <a:prstGeom prst="roundRect">
              <a:avLst>
                <a:gd name="adj" fmla="val 1876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Subnet Y</a:t>
              </a:r>
            </a:p>
          </p:txBody>
        </p:sp>
      </p:grpSp>
      <p:grpSp>
        <p:nvGrpSpPr>
          <p:cNvPr id="25" name="Group 24">
            <a:extLst>
              <a:ext uri="{FF2B5EF4-FFF2-40B4-BE49-F238E27FC236}">
                <a16:creationId xmlns:a16="http://schemas.microsoft.com/office/drawing/2014/main" id="{58790751-F4D0-DE93-5F7B-D20C85C412AB}"/>
              </a:ext>
            </a:extLst>
          </p:cNvPr>
          <p:cNvGrpSpPr/>
          <p:nvPr/>
        </p:nvGrpSpPr>
        <p:grpSpPr>
          <a:xfrm>
            <a:off x="1271196" y="1951839"/>
            <a:ext cx="4477219" cy="457200"/>
            <a:chOff x="939060" y="1951839"/>
            <a:chExt cx="4477219" cy="457200"/>
          </a:xfrm>
        </p:grpSpPr>
        <p:grpSp>
          <p:nvGrpSpPr>
            <p:cNvPr id="81" name="Group 80">
              <a:extLst>
                <a:ext uri="{FF2B5EF4-FFF2-40B4-BE49-F238E27FC236}">
                  <a16:creationId xmlns:a16="http://schemas.microsoft.com/office/drawing/2014/main" id="{0BBE15FB-4E44-604E-885E-09409BB27CE7}"/>
                </a:ext>
              </a:extLst>
            </p:cNvPr>
            <p:cNvGrpSpPr>
              <a:grpSpLocks noChangeAspect="1"/>
            </p:cNvGrpSpPr>
            <p:nvPr/>
          </p:nvGrpSpPr>
          <p:grpSpPr>
            <a:xfrm>
              <a:off x="2547066" y="1951839"/>
              <a:ext cx="457202" cy="457200"/>
              <a:chOff x="7498117" y="3244694"/>
              <a:chExt cx="615026" cy="615024"/>
            </a:xfrm>
          </p:grpSpPr>
          <p:sp>
            <p:nvSpPr>
              <p:cNvPr id="128" name="Oval 127">
                <a:extLst>
                  <a:ext uri="{FF2B5EF4-FFF2-40B4-BE49-F238E27FC236}">
                    <a16:creationId xmlns:a16="http://schemas.microsoft.com/office/drawing/2014/main" id="{8C622859-F7C7-12EC-9F60-AC4A3B985237}"/>
                  </a:ext>
                </a:extLst>
              </p:cNvPr>
              <p:cNvSpPr>
                <a:spLocks noChangeAspect="1"/>
              </p:cNvSpPr>
              <p:nvPr/>
            </p:nvSpPr>
            <p:spPr>
              <a:xfrm>
                <a:off x="7498117" y="3244694"/>
                <a:ext cx="615026" cy="615024"/>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29" name="Graphic 62">
                <a:extLst>
                  <a:ext uri="{FF2B5EF4-FFF2-40B4-BE49-F238E27FC236}">
                    <a16:creationId xmlns:a16="http://schemas.microsoft.com/office/drawing/2014/main" id="{84AAD63C-3D51-9E00-DD91-24CC79CB84F4}"/>
                  </a:ext>
                </a:extLst>
              </p:cNvPr>
              <p:cNvSpPr/>
              <p:nvPr/>
            </p:nvSpPr>
            <p:spPr>
              <a:xfrm>
                <a:off x="7601547" y="3369194"/>
                <a:ext cx="366027" cy="366026"/>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84" name="Group 83">
              <a:extLst>
                <a:ext uri="{FF2B5EF4-FFF2-40B4-BE49-F238E27FC236}">
                  <a16:creationId xmlns:a16="http://schemas.microsoft.com/office/drawing/2014/main" id="{FE6F47D0-9CC8-1A9B-24FC-5AABA7DA28EA}"/>
                </a:ext>
              </a:extLst>
            </p:cNvPr>
            <p:cNvGrpSpPr>
              <a:grpSpLocks noChangeAspect="1"/>
            </p:cNvGrpSpPr>
            <p:nvPr/>
          </p:nvGrpSpPr>
          <p:grpSpPr>
            <a:xfrm>
              <a:off x="1743062" y="1951839"/>
              <a:ext cx="457202" cy="457200"/>
              <a:chOff x="6236527" y="4282407"/>
              <a:chExt cx="615026" cy="615024"/>
            </a:xfrm>
          </p:grpSpPr>
          <p:sp>
            <p:nvSpPr>
              <p:cNvPr id="122" name="Oval 121">
                <a:extLst>
                  <a:ext uri="{FF2B5EF4-FFF2-40B4-BE49-F238E27FC236}">
                    <a16:creationId xmlns:a16="http://schemas.microsoft.com/office/drawing/2014/main" id="{D55D4683-6BA1-B246-B33B-AE6FBD86863D}"/>
                  </a:ext>
                </a:extLst>
              </p:cNvPr>
              <p:cNvSpPr>
                <a:spLocks noChangeAspect="1"/>
              </p:cNvSpPr>
              <p:nvPr/>
            </p:nvSpPr>
            <p:spPr>
              <a:xfrm>
                <a:off x="6236527" y="4282407"/>
                <a:ext cx="615026" cy="615024"/>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23" name="Group 122">
                <a:extLst>
                  <a:ext uri="{FF2B5EF4-FFF2-40B4-BE49-F238E27FC236}">
                    <a16:creationId xmlns:a16="http://schemas.microsoft.com/office/drawing/2014/main" id="{E338B9BC-8144-8B98-ECF2-DCA11FC0C8E9}"/>
                  </a:ext>
                </a:extLst>
              </p:cNvPr>
              <p:cNvGrpSpPr/>
              <p:nvPr/>
            </p:nvGrpSpPr>
            <p:grpSpPr>
              <a:xfrm>
                <a:off x="6341349" y="4462363"/>
                <a:ext cx="395473" cy="299841"/>
                <a:chOff x="3560655" y="2748581"/>
                <a:chExt cx="580548" cy="440165"/>
              </a:xfrm>
            </p:grpSpPr>
            <p:sp>
              <p:nvSpPr>
                <p:cNvPr id="126" name="Freeform: Shape 155">
                  <a:extLst>
                    <a:ext uri="{FF2B5EF4-FFF2-40B4-BE49-F238E27FC236}">
                      <a16:creationId xmlns:a16="http://schemas.microsoft.com/office/drawing/2014/main" id="{003D66BC-E212-14E9-D3BE-62BE1C3B89CF}"/>
                    </a:ext>
                  </a:extLst>
                </p:cNvPr>
                <p:cNvSpPr/>
                <p:nvPr/>
              </p:nvSpPr>
              <p:spPr>
                <a:xfrm>
                  <a:off x="3560655" y="2748581"/>
                  <a:ext cx="580548" cy="336411"/>
                </a:xfrm>
                <a:custGeom>
                  <a:avLst/>
                  <a:gdLst>
                    <a:gd name="connsiteX0" fmla="*/ 284140 w 580548"/>
                    <a:gd name="connsiteY0" fmla="*/ 305741 h 336411"/>
                    <a:gd name="connsiteX1" fmla="*/ 134381 w 580548"/>
                    <a:gd name="connsiteY1" fmla="*/ 305741 h 336411"/>
                    <a:gd name="connsiteX2" fmla="*/ 134381 w 580548"/>
                    <a:gd name="connsiteY2" fmla="*/ 234498 h 336411"/>
                    <a:gd name="connsiteX3" fmla="*/ 290450 w 580548"/>
                    <a:gd name="connsiteY3" fmla="*/ 234498 h 336411"/>
                    <a:gd name="connsiteX4" fmla="*/ 290450 w 580548"/>
                    <a:gd name="connsiteY4" fmla="*/ 292597 h 336411"/>
                    <a:gd name="connsiteX5" fmla="*/ 316739 w 580548"/>
                    <a:gd name="connsiteY5" fmla="*/ 238660 h 336411"/>
                    <a:gd name="connsiteX6" fmla="*/ 316739 w 580548"/>
                    <a:gd name="connsiteY6" fmla="*/ 234498 h 336411"/>
                    <a:gd name="connsiteX7" fmla="*/ 318754 w 580548"/>
                    <a:gd name="connsiteY7" fmla="*/ 234498 h 336411"/>
                    <a:gd name="connsiteX8" fmla="*/ 333695 w 580548"/>
                    <a:gd name="connsiteY8" fmla="*/ 203827 h 336411"/>
                    <a:gd name="connsiteX9" fmla="*/ 258421 w 580548"/>
                    <a:gd name="connsiteY9" fmla="*/ 203827 h 336411"/>
                    <a:gd name="connsiteX10" fmla="*/ 258421 w 580548"/>
                    <a:gd name="connsiteY10" fmla="*/ 132584 h 336411"/>
                    <a:gd name="connsiteX11" fmla="*/ 414490 w 580548"/>
                    <a:gd name="connsiteY11" fmla="*/ 132584 h 336411"/>
                    <a:gd name="connsiteX12" fmla="*/ 414490 w 580548"/>
                    <a:gd name="connsiteY12" fmla="*/ 192479 h 336411"/>
                    <a:gd name="connsiteX13" fmla="*/ 440779 w 580548"/>
                    <a:gd name="connsiteY13" fmla="*/ 137973 h 336411"/>
                    <a:gd name="connsiteX14" fmla="*/ 440779 w 580548"/>
                    <a:gd name="connsiteY14" fmla="*/ 132584 h 336411"/>
                    <a:gd name="connsiteX15" fmla="*/ 443364 w 580548"/>
                    <a:gd name="connsiteY15" fmla="*/ 132584 h 336411"/>
                    <a:gd name="connsiteX16" fmla="*/ 458173 w 580548"/>
                    <a:gd name="connsiteY16" fmla="*/ 101914 h 336411"/>
                    <a:gd name="connsiteX17" fmla="*/ 351528 w 580548"/>
                    <a:gd name="connsiteY17" fmla="*/ 101914 h 336411"/>
                    <a:gd name="connsiteX18" fmla="*/ 351528 w 580548"/>
                    <a:gd name="connsiteY18" fmla="*/ 30671 h 336411"/>
                    <a:gd name="connsiteX19" fmla="*/ 507597 w 580548"/>
                    <a:gd name="connsiteY19" fmla="*/ 30671 h 336411"/>
                    <a:gd name="connsiteX20" fmla="*/ 507597 w 580548"/>
                    <a:gd name="connsiteY20" fmla="*/ 101914 h 336411"/>
                    <a:gd name="connsiteX21" fmla="*/ 496643 w 580548"/>
                    <a:gd name="connsiteY21" fmla="*/ 101914 h 336411"/>
                    <a:gd name="connsiteX22" fmla="*/ 506063 w 580548"/>
                    <a:gd name="connsiteY22" fmla="*/ 121324 h 336411"/>
                    <a:gd name="connsiteX23" fmla="*/ 511540 w 580548"/>
                    <a:gd name="connsiteY23" fmla="*/ 132584 h 336411"/>
                    <a:gd name="connsiteX24" fmla="*/ 549834 w 580548"/>
                    <a:gd name="connsiteY24" fmla="*/ 132584 h 336411"/>
                    <a:gd name="connsiteX25" fmla="*/ 549834 w 580548"/>
                    <a:gd name="connsiteY25" fmla="*/ 203827 h 336411"/>
                    <a:gd name="connsiteX26" fmla="*/ 546154 w 580548"/>
                    <a:gd name="connsiteY26" fmla="*/ 203827 h 336411"/>
                    <a:gd name="connsiteX27" fmla="*/ 574984 w 580548"/>
                    <a:gd name="connsiteY27" fmla="*/ 262759 h 336411"/>
                    <a:gd name="connsiteX28" fmla="*/ 580549 w 580548"/>
                    <a:gd name="connsiteY28" fmla="*/ 274326 h 336411"/>
                    <a:gd name="connsiteX29" fmla="*/ 580549 w 580548"/>
                    <a:gd name="connsiteY29" fmla="*/ 0 h 336411"/>
                    <a:gd name="connsiteX30" fmla="*/ 0 w 580548"/>
                    <a:gd name="connsiteY30" fmla="*/ 0 h 336411"/>
                    <a:gd name="connsiteX31" fmla="*/ 0 w 580548"/>
                    <a:gd name="connsiteY31" fmla="*/ 336412 h 336411"/>
                    <a:gd name="connsiteX32" fmla="*/ 275509 w 580548"/>
                    <a:gd name="connsiteY32" fmla="*/ 336412 h 336411"/>
                    <a:gd name="connsiteX33" fmla="*/ 284140 w 580548"/>
                    <a:gd name="connsiteY33" fmla="*/ 305741 h 336411"/>
                    <a:gd name="connsiteX34" fmla="*/ 533886 w 580548"/>
                    <a:gd name="connsiteY34" fmla="*/ 30671 h 336411"/>
                    <a:gd name="connsiteX35" fmla="*/ 549834 w 580548"/>
                    <a:gd name="connsiteY35" fmla="*/ 30671 h 336411"/>
                    <a:gd name="connsiteX36" fmla="*/ 549834 w 580548"/>
                    <a:gd name="connsiteY36" fmla="*/ 101914 h 336411"/>
                    <a:gd name="connsiteX37" fmla="*/ 533886 w 580548"/>
                    <a:gd name="connsiteY37" fmla="*/ 101914 h 336411"/>
                    <a:gd name="connsiteX38" fmla="*/ 533886 w 580548"/>
                    <a:gd name="connsiteY38" fmla="*/ 30671 h 336411"/>
                    <a:gd name="connsiteX39" fmla="*/ 232132 w 580548"/>
                    <a:gd name="connsiteY39" fmla="*/ 203827 h 336411"/>
                    <a:gd name="connsiteX40" fmla="*/ 76063 w 580548"/>
                    <a:gd name="connsiteY40" fmla="*/ 203827 h 336411"/>
                    <a:gd name="connsiteX41" fmla="*/ 76063 w 580548"/>
                    <a:gd name="connsiteY41" fmla="*/ 132584 h 336411"/>
                    <a:gd name="connsiteX42" fmla="*/ 232132 w 580548"/>
                    <a:gd name="connsiteY42" fmla="*/ 132584 h 336411"/>
                    <a:gd name="connsiteX43" fmla="*/ 232132 w 580548"/>
                    <a:gd name="connsiteY43" fmla="*/ 203827 h 336411"/>
                    <a:gd name="connsiteX44" fmla="*/ 169170 w 580548"/>
                    <a:gd name="connsiteY44" fmla="*/ 30671 h 336411"/>
                    <a:gd name="connsiteX45" fmla="*/ 325239 w 580548"/>
                    <a:gd name="connsiteY45" fmla="*/ 30671 h 336411"/>
                    <a:gd name="connsiteX46" fmla="*/ 325239 w 580548"/>
                    <a:gd name="connsiteY46" fmla="*/ 101914 h 336411"/>
                    <a:gd name="connsiteX47" fmla="*/ 169170 w 580548"/>
                    <a:gd name="connsiteY47" fmla="*/ 101914 h 336411"/>
                    <a:gd name="connsiteX48" fmla="*/ 169170 w 580548"/>
                    <a:gd name="connsiteY48" fmla="*/ 30671 h 336411"/>
                    <a:gd name="connsiteX49" fmla="*/ 30671 w 580548"/>
                    <a:gd name="connsiteY49" fmla="*/ 30671 h 336411"/>
                    <a:gd name="connsiteX50" fmla="*/ 142881 w 580548"/>
                    <a:gd name="connsiteY50" fmla="*/ 30671 h 336411"/>
                    <a:gd name="connsiteX51" fmla="*/ 142881 w 580548"/>
                    <a:gd name="connsiteY51" fmla="*/ 101914 h 336411"/>
                    <a:gd name="connsiteX52" fmla="*/ 30671 w 580548"/>
                    <a:gd name="connsiteY52" fmla="*/ 101914 h 336411"/>
                    <a:gd name="connsiteX53" fmla="*/ 30671 w 580548"/>
                    <a:gd name="connsiteY53" fmla="*/ 30671 h 336411"/>
                    <a:gd name="connsiteX54" fmla="*/ 30671 w 580548"/>
                    <a:gd name="connsiteY54" fmla="*/ 132584 h 336411"/>
                    <a:gd name="connsiteX55" fmla="*/ 49774 w 580548"/>
                    <a:gd name="connsiteY55" fmla="*/ 132584 h 336411"/>
                    <a:gd name="connsiteX56" fmla="*/ 49774 w 580548"/>
                    <a:gd name="connsiteY56" fmla="*/ 203827 h 336411"/>
                    <a:gd name="connsiteX57" fmla="*/ 30671 w 580548"/>
                    <a:gd name="connsiteY57" fmla="*/ 203827 h 336411"/>
                    <a:gd name="connsiteX58" fmla="*/ 30671 w 580548"/>
                    <a:gd name="connsiteY58" fmla="*/ 132584 h 336411"/>
                    <a:gd name="connsiteX59" fmla="*/ 108092 w 580548"/>
                    <a:gd name="connsiteY59" fmla="*/ 305741 h 336411"/>
                    <a:gd name="connsiteX60" fmla="*/ 30671 w 580548"/>
                    <a:gd name="connsiteY60" fmla="*/ 305741 h 336411"/>
                    <a:gd name="connsiteX61" fmla="*/ 30671 w 580548"/>
                    <a:gd name="connsiteY61" fmla="*/ 234498 h 336411"/>
                    <a:gd name="connsiteX62" fmla="*/ 108092 w 580548"/>
                    <a:gd name="connsiteY62" fmla="*/ 234498 h 336411"/>
                    <a:gd name="connsiteX63" fmla="*/ 108092 w 580548"/>
                    <a:gd name="connsiteY63" fmla="*/ 305741 h 33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0548" h="336411">
                      <a:moveTo>
                        <a:pt x="284140" y="305741"/>
                      </a:moveTo>
                      <a:lnTo>
                        <a:pt x="134381" y="305741"/>
                      </a:lnTo>
                      <a:lnTo>
                        <a:pt x="134381" y="234498"/>
                      </a:lnTo>
                      <a:lnTo>
                        <a:pt x="290450" y="234498"/>
                      </a:lnTo>
                      <a:lnTo>
                        <a:pt x="290450" y="292597"/>
                      </a:lnTo>
                      <a:cubicBezTo>
                        <a:pt x="295445" y="282432"/>
                        <a:pt x="305829" y="261094"/>
                        <a:pt x="316739" y="238660"/>
                      </a:cubicBezTo>
                      <a:lnTo>
                        <a:pt x="316739" y="234498"/>
                      </a:lnTo>
                      <a:lnTo>
                        <a:pt x="318754" y="234498"/>
                      </a:lnTo>
                      <a:cubicBezTo>
                        <a:pt x="323837" y="224026"/>
                        <a:pt x="329007" y="213467"/>
                        <a:pt x="333695" y="203827"/>
                      </a:cubicBezTo>
                      <a:lnTo>
                        <a:pt x="258421" y="203827"/>
                      </a:lnTo>
                      <a:lnTo>
                        <a:pt x="258421" y="132584"/>
                      </a:lnTo>
                      <a:lnTo>
                        <a:pt x="414490" y="132584"/>
                      </a:lnTo>
                      <a:lnTo>
                        <a:pt x="414490" y="192479"/>
                      </a:lnTo>
                      <a:lnTo>
                        <a:pt x="440779" y="137973"/>
                      </a:lnTo>
                      <a:lnTo>
                        <a:pt x="440779" y="132584"/>
                      </a:lnTo>
                      <a:lnTo>
                        <a:pt x="443364" y="132584"/>
                      </a:lnTo>
                      <a:lnTo>
                        <a:pt x="458173" y="101914"/>
                      </a:lnTo>
                      <a:lnTo>
                        <a:pt x="351528" y="101914"/>
                      </a:lnTo>
                      <a:lnTo>
                        <a:pt x="351528" y="30671"/>
                      </a:lnTo>
                      <a:lnTo>
                        <a:pt x="507597" y="30671"/>
                      </a:lnTo>
                      <a:lnTo>
                        <a:pt x="507597" y="101914"/>
                      </a:lnTo>
                      <a:lnTo>
                        <a:pt x="496643" y="101914"/>
                      </a:lnTo>
                      <a:lnTo>
                        <a:pt x="506063" y="121324"/>
                      </a:lnTo>
                      <a:cubicBezTo>
                        <a:pt x="507728" y="124785"/>
                        <a:pt x="509568" y="128597"/>
                        <a:pt x="511540" y="132584"/>
                      </a:cubicBezTo>
                      <a:lnTo>
                        <a:pt x="549834" y="132584"/>
                      </a:lnTo>
                      <a:lnTo>
                        <a:pt x="549834" y="203827"/>
                      </a:lnTo>
                      <a:lnTo>
                        <a:pt x="546154" y="203827"/>
                      </a:lnTo>
                      <a:cubicBezTo>
                        <a:pt x="559079" y="230379"/>
                        <a:pt x="570559" y="253908"/>
                        <a:pt x="574984" y="262759"/>
                      </a:cubicBezTo>
                      <a:cubicBezTo>
                        <a:pt x="577044" y="266527"/>
                        <a:pt x="578840" y="270382"/>
                        <a:pt x="580549" y="274326"/>
                      </a:cubicBezTo>
                      <a:lnTo>
                        <a:pt x="580549" y="0"/>
                      </a:lnTo>
                      <a:lnTo>
                        <a:pt x="0" y="0"/>
                      </a:lnTo>
                      <a:lnTo>
                        <a:pt x="0" y="336412"/>
                      </a:lnTo>
                      <a:lnTo>
                        <a:pt x="275509" y="336412"/>
                      </a:lnTo>
                      <a:cubicBezTo>
                        <a:pt x="277042" y="325852"/>
                        <a:pt x="279978" y="315512"/>
                        <a:pt x="284140" y="305741"/>
                      </a:cubicBezTo>
                      <a:close/>
                      <a:moveTo>
                        <a:pt x="533886" y="30671"/>
                      </a:moveTo>
                      <a:lnTo>
                        <a:pt x="549834" y="30671"/>
                      </a:lnTo>
                      <a:lnTo>
                        <a:pt x="549834" y="101914"/>
                      </a:lnTo>
                      <a:lnTo>
                        <a:pt x="533886" y="101914"/>
                      </a:lnTo>
                      <a:lnTo>
                        <a:pt x="533886" y="30671"/>
                      </a:lnTo>
                      <a:close/>
                      <a:moveTo>
                        <a:pt x="232132" y="203827"/>
                      </a:moveTo>
                      <a:lnTo>
                        <a:pt x="76063" y="203827"/>
                      </a:lnTo>
                      <a:lnTo>
                        <a:pt x="76063" y="132584"/>
                      </a:lnTo>
                      <a:lnTo>
                        <a:pt x="232132" y="132584"/>
                      </a:lnTo>
                      <a:lnTo>
                        <a:pt x="232132" y="203827"/>
                      </a:lnTo>
                      <a:close/>
                      <a:moveTo>
                        <a:pt x="169170" y="30671"/>
                      </a:moveTo>
                      <a:lnTo>
                        <a:pt x="325239" y="30671"/>
                      </a:lnTo>
                      <a:lnTo>
                        <a:pt x="325239" y="101914"/>
                      </a:lnTo>
                      <a:lnTo>
                        <a:pt x="169170" y="101914"/>
                      </a:lnTo>
                      <a:lnTo>
                        <a:pt x="169170" y="30671"/>
                      </a:lnTo>
                      <a:close/>
                      <a:moveTo>
                        <a:pt x="30671" y="30671"/>
                      </a:moveTo>
                      <a:lnTo>
                        <a:pt x="142881" y="30671"/>
                      </a:lnTo>
                      <a:lnTo>
                        <a:pt x="142881" y="101914"/>
                      </a:lnTo>
                      <a:lnTo>
                        <a:pt x="30671" y="101914"/>
                      </a:lnTo>
                      <a:lnTo>
                        <a:pt x="30671" y="30671"/>
                      </a:lnTo>
                      <a:close/>
                      <a:moveTo>
                        <a:pt x="30671" y="132584"/>
                      </a:moveTo>
                      <a:lnTo>
                        <a:pt x="49774" y="132584"/>
                      </a:lnTo>
                      <a:lnTo>
                        <a:pt x="49774" y="203827"/>
                      </a:lnTo>
                      <a:lnTo>
                        <a:pt x="30671" y="203827"/>
                      </a:lnTo>
                      <a:lnTo>
                        <a:pt x="30671" y="132584"/>
                      </a:lnTo>
                      <a:close/>
                      <a:moveTo>
                        <a:pt x="108092" y="305741"/>
                      </a:moveTo>
                      <a:lnTo>
                        <a:pt x="30671" y="305741"/>
                      </a:lnTo>
                      <a:lnTo>
                        <a:pt x="30671" y="234498"/>
                      </a:lnTo>
                      <a:lnTo>
                        <a:pt x="108092" y="234498"/>
                      </a:lnTo>
                      <a:lnTo>
                        <a:pt x="108092" y="30574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7" name="Freeform: Shape 156">
                  <a:extLst>
                    <a:ext uri="{FF2B5EF4-FFF2-40B4-BE49-F238E27FC236}">
                      <a16:creationId xmlns:a16="http://schemas.microsoft.com/office/drawing/2014/main" id="{37F8E34A-B7B2-0D9F-A7E3-485AA394BD44}"/>
                    </a:ext>
                  </a:extLst>
                </p:cNvPr>
                <p:cNvSpPr/>
                <p:nvPr/>
              </p:nvSpPr>
              <p:spPr>
                <a:xfrm>
                  <a:off x="3866603" y="2883794"/>
                  <a:ext cx="254911" cy="304952"/>
                </a:xfrm>
                <a:custGeom>
                  <a:avLst/>
                  <a:gdLst>
                    <a:gd name="connsiteX0" fmla="*/ 240819 w 254911"/>
                    <a:gd name="connsiteY0" fmla="*/ 142311 h 304952"/>
                    <a:gd name="connsiteX1" fmla="*/ 171504 w 254911"/>
                    <a:gd name="connsiteY1" fmla="*/ 0 h 304952"/>
                    <a:gd name="connsiteX2" fmla="*/ 113274 w 254911"/>
                    <a:gd name="connsiteY2" fmla="*/ 120710 h 304952"/>
                    <a:gd name="connsiteX3" fmla="*/ 104730 w 254911"/>
                    <a:gd name="connsiteY3" fmla="*/ 126450 h 304952"/>
                    <a:gd name="connsiteX4" fmla="*/ 96186 w 254911"/>
                    <a:gd name="connsiteY4" fmla="*/ 120710 h 304952"/>
                    <a:gd name="connsiteX5" fmla="*/ 66786 w 254911"/>
                    <a:gd name="connsiteY5" fmla="*/ 61078 h 304952"/>
                    <a:gd name="connsiteX6" fmla="*/ 11404 w 254911"/>
                    <a:gd name="connsiteY6" fmla="*/ 174822 h 304952"/>
                    <a:gd name="connsiteX7" fmla="*/ 12 w 254911"/>
                    <a:gd name="connsiteY7" fmla="*/ 221485 h 304952"/>
                    <a:gd name="connsiteX8" fmla="*/ 66392 w 254911"/>
                    <a:gd name="connsiteY8" fmla="*/ 304952 h 304952"/>
                    <a:gd name="connsiteX9" fmla="*/ 102802 w 254911"/>
                    <a:gd name="connsiteY9" fmla="*/ 304952 h 304952"/>
                    <a:gd name="connsiteX10" fmla="*/ 75549 w 254911"/>
                    <a:gd name="connsiteY10" fmla="*/ 196116 h 304952"/>
                    <a:gd name="connsiteX11" fmla="*/ 115070 w 254911"/>
                    <a:gd name="connsiteY11" fmla="*/ 225341 h 304952"/>
                    <a:gd name="connsiteX12" fmla="*/ 169007 w 254911"/>
                    <a:gd name="connsiteY12" fmla="*/ 140953 h 304952"/>
                    <a:gd name="connsiteX13" fmla="*/ 169007 w 254911"/>
                    <a:gd name="connsiteY13" fmla="*/ 139200 h 304952"/>
                    <a:gd name="connsiteX14" fmla="*/ 164581 w 254911"/>
                    <a:gd name="connsiteY14" fmla="*/ 304952 h 304952"/>
                    <a:gd name="connsiteX15" fmla="*/ 171373 w 254911"/>
                    <a:gd name="connsiteY15" fmla="*/ 304952 h 304952"/>
                    <a:gd name="connsiteX16" fmla="*/ 254884 w 254911"/>
                    <a:gd name="connsiteY16" fmla="*/ 200848 h 304952"/>
                    <a:gd name="connsiteX17" fmla="*/ 240776 w 254911"/>
                    <a:gd name="connsiteY17" fmla="*/ 142355 h 30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4911" h="304952">
                      <a:moveTo>
                        <a:pt x="240819" y="142311"/>
                      </a:moveTo>
                      <a:cubicBezTo>
                        <a:pt x="231794" y="124259"/>
                        <a:pt x="189731" y="37637"/>
                        <a:pt x="171504" y="0"/>
                      </a:cubicBezTo>
                      <a:lnTo>
                        <a:pt x="113274" y="120710"/>
                      </a:lnTo>
                      <a:cubicBezTo>
                        <a:pt x="111521" y="124259"/>
                        <a:pt x="108279" y="126450"/>
                        <a:pt x="104730" y="126450"/>
                      </a:cubicBezTo>
                      <a:cubicBezTo>
                        <a:pt x="101181" y="126450"/>
                        <a:pt x="97939" y="124259"/>
                        <a:pt x="96186" y="120710"/>
                      </a:cubicBezTo>
                      <a:lnTo>
                        <a:pt x="66786" y="61078"/>
                      </a:lnTo>
                      <a:cubicBezTo>
                        <a:pt x="51101" y="93370"/>
                        <a:pt x="18546" y="160231"/>
                        <a:pt x="11404" y="174822"/>
                      </a:cubicBezTo>
                      <a:cubicBezTo>
                        <a:pt x="3736" y="188755"/>
                        <a:pt x="-251" y="204967"/>
                        <a:pt x="12" y="221485"/>
                      </a:cubicBezTo>
                      <a:cubicBezTo>
                        <a:pt x="12" y="267228"/>
                        <a:pt x="30683" y="304952"/>
                        <a:pt x="66392" y="304952"/>
                      </a:cubicBezTo>
                      <a:lnTo>
                        <a:pt x="102802" y="304952"/>
                      </a:lnTo>
                      <a:cubicBezTo>
                        <a:pt x="62142" y="268060"/>
                        <a:pt x="66567" y="213072"/>
                        <a:pt x="75549" y="196116"/>
                      </a:cubicBezTo>
                      <a:cubicBezTo>
                        <a:pt x="75549" y="196116"/>
                        <a:pt x="95704" y="224990"/>
                        <a:pt x="115070" y="225341"/>
                      </a:cubicBezTo>
                      <a:cubicBezTo>
                        <a:pt x="142367" y="225823"/>
                        <a:pt x="156213" y="197869"/>
                        <a:pt x="169007" y="140953"/>
                      </a:cubicBezTo>
                      <a:lnTo>
                        <a:pt x="169007" y="139200"/>
                      </a:lnTo>
                      <a:cubicBezTo>
                        <a:pt x="193061" y="157471"/>
                        <a:pt x="220139" y="242297"/>
                        <a:pt x="164581" y="304952"/>
                      </a:cubicBezTo>
                      <a:lnTo>
                        <a:pt x="171373" y="304952"/>
                      </a:lnTo>
                      <a:cubicBezTo>
                        <a:pt x="217466" y="304952"/>
                        <a:pt x="254884" y="258289"/>
                        <a:pt x="254884" y="200848"/>
                      </a:cubicBezTo>
                      <a:cubicBezTo>
                        <a:pt x="255322" y="180167"/>
                        <a:pt x="250415" y="159793"/>
                        <a:pt x="240776" y="142355"/>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85" name="Group 84">
              <a:extLst>
                <a:ext uri="{FF2B5EF4-FFF2-40B4-BE49-F238E27FC236}">
                  <a16:creationId xmlns:a16="http://schemas.microsoft.com/office/drawing/2014/main" id="{3AFF7250-F69C-81B8-29D7-069D16A7066F}"/>
                </a:ext>
              </a:extLst>
            </p:cNvPr>
            <p:cNvGrpSpPr>
              <a:grpSpLocks noChangeAspect="1"/>
            </p:cNvGrpSpPr>
            <p:nvPr/>
          </p:nvGrpSpPr>
          <p:grpSpPr>
            <a:xfrm>
              <a:off x="4155074" y="1951839"/>
              <a:ext cx="457202" cy="457200"/>
              <a:chOff x="4686723" y="1587682"/>
              <a:chExt cx="547621" cy="547619"/>
            </a:xfrm>
          </p:grpSpPr>
          <p:sp>
            <p:nvSpPr>
              <p:cNvPr id="120" name="Oval 119">
                <a:extLst>
                  <a:ext uri="{FF2B5EF4-FFF2-40B4-BE49-F238E27FC236}">
                    <a16:creationId xmlns:a16="http://schemas.microsoft.com/office/drawing/2014/main" id="{D8325BBA-2EF2-7473-2042-DB6B0E197031}"/>
                  </a:ext>
                </a:extLst>
              </p:cNvPr>
              <p:cNvSpPr>
                <a:spLocks noChangeAspect="1"/>
              </p:cNvSpPr>
              <p:nvPr/>
            </p:nvSpPr>
            <p:spPr>
              <a:xfrm>
                <a:off x="4686723" y="1587682"/>
                <a:ext cx="547621" cy="547619"/>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21" name="Google Shape;3149;p83">
                <a:extLst>
                  <a:ext uri="{FF2B5EF4-FFF2-40B4-BE49-F238E27FC236}">
                    <a16:creationId xmlns:a16="http://schemas.microsoft.com/office/drawing/2014/main" id="{E0CA7EBE-E278-6EBE-847D-F8F61F8778E3}"/>
                  </a:ext>
                </a:extLst>
              </p:cNvPr>
              <p:cNvSpPr>
                <a:spLocks noChangeAspect="1"/>
              </p:cNvSpPr>
              <p:nvPr/>
            </p:nvSpPr>
            <p:spPr>
              <a:xfrm>
                <a:off x="4775072" y="1678710"/>
                <a:ext cx="365562" cy="365562"/>
              </a:xfrm>
              <a:custGeom>
                <a:avLst/>
                <a:gdLst/>
                <a:ahLst/>
                <a:cxnLst/>
                <a:rect l="l" t="t" r="r" b="b"/>
                <a:pathLst>
                  <a:path w="584492" h="584492" extrusionOk="0">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mn-ea"/>
                  <a:cs typeface="+mn-cs"/>
                  <a:sym typeface="Arial"/>
                </a:endParaRPr>
              </a:p>
            </p:txBody>
          </p:sp>
        </p:grpSp>
        <p:grpSp>
          <p:nvGrpSpPr>
            <p:cNvPr id="86" name="Group 85">
              <a:extLst>
                <a:ext uri="{FF2B5EF4-FFF2-40B4-BE49-F238E27FC236}">
                  <a16:creationId xmlns:a16="http://schemas.microsoft.com/office/drawing/2014/main" id="{53668650-D445-7001-E584-5912A31ABBB4}"/>
                </a:ext>
              </a:extLst>
            </p:cNvPr>
            <p:cNvGrpSpPr>
              <a:grpSpLocks noChangeAspect="1"/>
            </p:cNvGrpSpPr>
            <p:nvPr/>
          </p:nvGrpSpPr>
          <p:grpSpPr>
            <a:xfrm>
              <a:off x="3351070" y="1951839"/>
              <a:ext cx="457202" cy="457200"/>
              <a:chOff x="5341314" y="5151711"/>
              <a:chExt cx="547621" cy="547619"/>
            </a:xfrm>
          </p:grpSpPr>
          <p:sp>
            <p:nvSpPr>
              <p:cNvPr id="113" name="Oval 112">
                <a:extLst>
                  <a:ext uri="{FF2B5EF4-FFF2-40B4-BE49-F238E27FC236}">
                    <a16:creationId xmlns:a16="http://schemas.microsoft.com/office/drawing/2014/main" id="{3DFA8788-9849-D213-3298-8DFD98AE45C0}"/>
                  </a:ext>
                </a:extLst>
              </p:cNvPr>
              <p:cNvSpPr>
                <a:spLocks noChangeAspect="1"/>
              </p:cNvSpPr>
              <p:nvPr/>
            </p:nvSpPr>
            <p:spPr>
              <a:xfrm>
                <a:off x="5341314" y="5151711"/>
                <a:ext cx="547621" cy="547619"/>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14" name="Group 113">
                <a:extLst>
                  <a:ext uri="{FF2B5EF4-FFF2-40B4-BE49-F238E27FC236}">
                    <a16:creationId xmlns:a16="http://schemas.microsoft.com/office/drawing/2014/main" id="{B57BE6EE-4DA8-FFA5-0D15-4D76779E74BE}"/>
                  </a:ext>
                </a:extLst>
              </p:cNvPr>
              <p:cNvGrpSpPr/>
              <p:nvPr/>
            </p:nvGrpSpPr>
            <p:grpSpPr>
              <a:xfrm>
                <a:off x="5475978" y="5286375"/>
                <a:ext cx="278292" cy="278290"/>
                <a:chOff x="7453826" y="4235509"/>
                <a:chExt cx="199845" cy="199844"/>
              </a:xfrm>
              <a:solidFill>
                <a:schemeClr val="bg1"/>
              </a:solidFill>
            </p:grpSpPr>
            <p:sp>
              <p:nvSpPr>
                <p:cNvPr id="115" name="Freeform: Shape 110">
                  <a:extLst>
                    <a:ext uri="{FF2B5EF4-FFF2-40B4-BE49-F238E27FC236}">
                      <a16:creationId xmlns:a16="http://schemas.microsoft.com/office/drawing/2014/main" id="{DE5A6DBE-CC11-24E0-DFEA-9613E9FD53CD}"/>
                    </a:ext>
                  </a:extLst>
                </p:cNvPr>
                <p:cNvSpPr/>
                <p:nvPr/>
              </p:nvSpPr>
              <p:spPr>
                <a:xfrm>
                  <a:off x="7453826" y="4235509"/>
                  <a:ext cx="199845" cy="199844"/>
                </a:xfrm>
                <a:custGeom>
                  <a:avLst/>
                  <a:gdLst>
                    <a:gd name="connsiteX0" fmla="*/ 539067 w 539067"/>
                    <a:gd name="connsiteY0" fmla="*/ 539067 h 539067"/>
                    <a:gd name="connsiteX1" fmla="*/ 366846 w 539067"/>
                    <a:gd name="connsiteY1" fmla="*/ 539067 h 539067"/>
                    <a:gd name="connsiteX2" fmla="*/ 366846 w 539067"/>
                    <a:gd name="connsiteY2" fmla="*/ 511064 h 539067"/>
                    <a:gd name="connsiteX3" fmla="*/ 511064 w 539067"/>
                    <a:gd name="connsiteY3" fmla="*/ 511064 h 539067"/>
                    <a:gd name="connsiteX4" fmla="*/ 511064 w 539067"/>
                    <a:gd name="connsiteY4" fmla="*/ 28004 h 539067"/>
                    <a:gd name="connsiteX5" fmla="*/ 28004 w 539067"/>
                    <a:gd name="connsiteY5" fmla="*/ 28004 h 539067"/>
                    <a:gd name="connsiteX6" fmla="*/ 28004 w 539067"/>
                    <a:gd name="connsiteY6" fmla="*/ 511064 h 539067"/>
                    <a:gd name="connsiteX7" fmla="*/ 173462 w 539067"/>
                    <a:gd name="connsiteY7" fmla="*/ 511064 h 539067"/>
                    <a:gd name="connsiteX8" fmla="*/ 173462 w 539067"/>
                    <a:gd name="connsiteY8" fmla="*/ 539067 h 539067"/>
                    <a:gd name="connsiteX9" fmla="*/ 0 w 539067"/>
                    <a:gd name="connsiteY9" fmla="*/ 539067 h 539067"/>
                    <a:gd name="connsiteX10" fmla="*/ 0 w 539067"/>
                    <a:gd name="connsiteY10" fmla="*/ 0 h 539067"/>
                    <a:gd name="connsiteX11" fmla="*/ 539067 w 539067"/>
                    <a:gd name="connsiteY11" fmla="*/ 0 h 539067"/>
                    <a:gd name="connsiteX12" fmla="*/ 539067 w 539067"/>
                    <a:gd name="connsiteY12" fmla="*/ 539067 h 53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67" h="539067">
                      <a:moveTo>
                        <a:pt x="539067" y="539067"/>
                      </a:moveTo>
                      <a:lnTo>
                        <a:pt x="366846" y="539067"/>
                      </a:lnTo>
                      <a:lnTo>
                        <a:pt x="366846" y="511064"/>
                      </a:lnTo>
                      <a:lnTo>
                        <a:pt x="511064" y="511064"/>
                      </a:lnTo>
                      <a:lnTo>
                        <a:pt x="511064" y="28004"/>
                      </a:lnTo>
                      <a:lnTo>
                        <a:pt x="28004" y="28004"/>
                      </a:lnTo>
                      <a:lnTo>
                        <a:pt x="28004" y="511064"/>
                      </a:lnTo>
                      <a:lnTo>
                        <a:pt x="173462" y="511064"/>
                      </a:lnTo>
                      <a:lnTo>
                        <a:pt x="173462" y="539067"/>
                      </a:lnTo>
                      <a:lnTo>
                        <a:pt x="0" y="539067"/>
                      </a:lnTo>
                      <a:lnTo>
                        <a:pt x="0" y="0"/>
                      </a:lnTo>
                      <a:lnTo>
                        <a:pt x="539067" y="0"/>
                      </a:lnTo>
                      <a:lnTo>
                        <a:pt x="539067" y="539067"/>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 name="Freeform: Shape 115">
                  <a:extLst>
                    <a:ext uri="{FF2B5EF4-FFF2-40B4-BE49-F238E27FC236}">
                      <a16:creationId xmlns:a16="http://schemas.microsoft.com/office/drawing/2014/main" id="{0278878D-6B05-3623-A1DA-CA0959DB2ECC}"/>
                    </a:ext>
                  </a:extLst>
                </p:cNvPr>
                <p:cNvSpPr/>
                <p:nvPr/>
              </p:nvSpPr>
              <p:spPr>
                <a:xfrm>
                  <a:off x="7491571" y="4315610"/>
                  <a:ext cx="51745" cy="27941"/>
                </a:xfrm>
                <a:custGeom>
                  <a:avLst/>
                  <a:gdLst>
                    <a:gd name="connsiteX0" fmla="*/ 74289 w 139577"/>
                    <a:gd name="connsiteY0" fmla="*/ 23683 h 75369"/>
                    <a:gd name="connsiteX1" fmla="*/ 0 w 139577"/>
                    <a:gd name="connsiteY1" fmla="*/ 23683 h 75369"/>
                    <a:gd name="connsiteX2" fmla="*/ 0 w 139577"/>
                    <a:gd name="connsiteY2" fmla="*/ 51686 h 75369"/>
                    <a:gd name="connsiteX3" fmla="*/ 74289 w 139577"/>
                    <a:gd name="connsiteY3" fmla="*/ 51686 h 75369"/>
                    <a:gd name="connsiteX4" fmla="*/ 74289 w 139577"/>
                    <a:gd name="connsiteY4" fmla="*/ 75369 h 75369"/>
                    <a:gd name="connsiteX5" fmla="*/ 139577 w 139577"/>
                    <a:gd name="connsiteY5" fmla="*/ 37685 h 75369"/>
                    <a:gd name="connsiteX6" fmla="*/ 74289 w 139577"/>
                    <a:gd name="connsiteY6" fmla="*/ 0 h 75369"/>
                    <a:gd name="connsiteX7" fmla="*/ 74289 w 139577"/>
                    <a:gd name="connsiteY7" fmla="*/ 23683 h 7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369">
                      <a:moveTo>
                        <a:pt x="74289" y="23683"/>
                      </a:moveTo>
                      <a:lnTo>
                        <a:pt x="0" y="23683"/>
                      </a:lnTo>
                      <a:lnTo>
                        <a:pt x="0" y="51686"/>
                      </a:lnTo>
                      <a:lnTo>
                        <a:pt x="74289" y="51686"/>
                      </a:lnTo>
                      <a:lnTo>
                        <a:pt x="74289" y="7536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 name="Freeform: Shape 116">
                  <a:extLst>
                    <a:ext uri="{FF2B5EF4-FFF2-40B4-BE49-F238E27FC236}">
                      <a16:creationId xmlns:a16="http://schemas.microsoft.com/office/drawing/2014/main" id="{745BC35B-B106-2471-BB71-9077BDA51757}"/>
                    </a:ext>
                  </a:extLst>
                </p:cNvPr>
                <p:cNvSpPr/>
                <p:nvPr/>
              </p:nvSpPr>
              <p:spPr>
                <a:xfrm>
                  <a:off x="7550583" y="4276590"/>
                  <a:ext cx="71247" cy="108695"/>
                </a:xfrm>
                <a:custGeom>
                  <a:avLst/>
                  <a:gdLst>
                    <a:gd name="connsiteX0" fmla="*/ 192184 w 192184"/>
                    <a:gd name="connsiteY0" fmla="*/ 142938 h 293196"/>
                    <a:gd name="connsiteX1" fmla="*/ 126896 w 192184"/>
                    <a:gd name="connsiteY1" fmla="*/ 105253 h 293196"/>
                    <a:gd name="connsiteX2" fmla="*/ 126896 w 192184"/>
                    <a:gd name="connsiteY2" fmla="*/ 128936 h 293196"/>
                    <a:gd name="connsiteX3" fmla="*/ 104973 w 192184"/>
                    <a:gd name="connsiteY3" fmla="*/ 128936 h 293196"/>
                    <a:gd name="connsiteX4" fmla="*/ 104973 w 192184"/>
                    <a:gd name="connsiteY4" fmla="*/ 0 h 293196"/>
                    <a:gd name="connsiteX5" fmla="*/ 0 w 192184"/>
                    <a:gd name="connsiteY5" fmla="*/ 0 h 293196"/>
                    <a:gd name="connsiteX6" fmla="*/ 0 w 192184"/>
                    <a:gd name="connsiteY6" fmla="*/ 28004 h 293196"/>
                    <a:gd name="connsiteX7" fmla="*/ 76970 w 192184"/>
                    <a:gd name="connsiteY7" fmla="*/ 28004 h 293196"/>
                    <a:gd name="connsiteX8" fmla="*/ 76970 w 192184"/>
                    <a:gd name="connsiteY8" fmla="*/ 128936 h 293196"/>
                    <a:gd name="connsiteX9" fmla="*/ 22123 w 192184"/>
                    <a:gd name="connsiteY9" fmla="*/ 128936 h 293196"/>
                    <a:gd name="connsiteX10" fmla="*/ 22123 w 192184"/>
                    <a:gd name="connsiteY10" fmla="*/ 156940 h 293196"/>
                    <a:gd name="connsiteX11" fmla="*/ 76970 w 192184"/>
                    <a:gd name="connsiteY11" fmla="*/ 156940 h 293196"/>
                    <a:gd name="connsiteX12" fmla="*/ 76970 w 192184"/>
                    <a:gd name="connsiteY12" fmla="*/ 265193 h 293196"/>
                    <a:gd name="connsiteX13" fmla="*/ 0 w 192184"/>
                    <a:gd name="connsiteY13" fmla="*/ 265193 h 293196"/>
                    <a:gd name="connsiteX14" fmla="*/ 0 w 192184"/>
                    <a:gd name="connsiteY14" fmla="*/ 293197 h 293196"/>
                    <a:gd name="connsiteX15" fmla="*/ 104973 w 192184"/>
                    <a:gd name="connsiteY15" fmla="*/ 293197 h 293196"/>
                    <a:gd name="connsiteX16" fmla="*/ 104973 w 192184"/>
                    <a:gd name="connsiteY16" fmla="*/ 156940 h 293196"/>
                    <a:gd name="connsiteX17" fmla="*/ 126896 w 192184"/>
                    <a:gd name="connsiteY17" fmla="*/ 156940 h 293196"/>
                    <a:gd name="connsiteX18" fmla="*/ 126896 w 192184"/>
                    <a:gd name="connsiteY18" fmla="*/ 180623 h 293196"/>
                    <a:gd name="connsiteX19" fmla="*/ 192184 w 192184"/>
                    <a:gd name="connsiteY19" fmla="*/ 142938 h 2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184" h="293196">
                      <a:moveTo>
                        <a:pt x="192184" y="142938"/>
                      </a:moveTo>
                      <a:lnTo>
                        <a:pt x="126896" y="105253"/>
                      </a:lnTo>
                      <a:lnTo>
                        <a:pt x="126896" y="128936"/>
                      </a:lnTo>
                      <a:lnTo>
                        <a:pt x="104973" y="128936"/>
                      </a:lnTo>
                      <a:lnTo>
                        <a:pt x="104973" y="0"/>
                      </a:lnTo>
                      <a:lnTo>
                        <a:pt x="0" y="0"/>
                      </a:lnTo>
                      <a:lnTo>
                        <a:pt x="0" y="28004"/>
                      </a:lnTo>
                      <a:lnTo>
                        <a:pt x="76970" y="28004"/>
                      </a:lnTo>
                      <a:lnTo>
                        <a:pt x="76970" y="128936"/>
                      </a:lnTo>
                      <a:lnTo>
                        <a:pt x="22123" y="128936"/>
                      </a:lnTo>
                      <a:lnTo>
                        <a:pt x="22123" y="156940"/>
                      </a:lnTo>
                      <a:lnTo>
                        <a:pt x="76970" y="156940"/>
                      </a:lnTo>
                      <a:lnTo>
                        <a:pt x="76970" y="265193"/>
                      </a:lnTo>
                      <a:lnTo>
                        <a:pt x="0" y="265193"/>
                      </a:lnTo>
                      <a:lnTo>
                        <a:pt x="0" y="293197"/>
                      </a:lnTo>
                      <a:lnTo>
                        <a:pt x="104973" y="293197"/>
                      </a:lnTo>
                      <a:lnTo>
                        <a:pt x="104973" y="156940"/>
                      </a:lnTo>
                      <a:lnTo>
                        <a:pt x="126896" y="156940"/>
                      </a:lnTo>
                      <a:lnTo>
                        <a:pt x="126896" y="180623"/>
                      </a:lnTo>
                      <a:lnTo>
                        <a:pt x="192184" y="142938"/>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 name="Freeform: Shape 124">
                  <a:extLst>
                    <a:ext uri="{FF2B5EF4-FFF2-40B4-BE49-F238E27FC236}">
                      <a16:creationId xmlns:a16="http://schemas.microsoft.com/office/drawing/2014/main" id="{8E290EB4-C29E-BD9D-F9CF-FD4FBABFB47D}"/>
                    </a:ext>
                  </a:extLst>
                </p:cNvPr>
                <p:cNvSpPr/>
                <p:nvPr/>
              </p:nvSpPr>
              <p:spPr>
                <a:xfrm>
                  <a:off x="7491571" y="4266446"/>
                  <a:ext cx="51745" cy="27956"/>
                </a:xfrm>
                <a:custGeom>
                  <a:avLst/>
                  <a:gdLst>
                    <a:gd name="connsiteX0" fmla="*/ 74289 w 139577"/>
                    <a:gd name="connsiteY0" fmla="*/ 23723 h 75409"/>
                    <a:gd name="connsiteX1" fmla="*/ 0 w 139577"/>
                    <a:gd name="connsiteY1" fmla="*/ 23723 h 75409"/>
                    <a:gd name="connsiteX2" fmla="*/ 0 w 139577"/>
                    <a:gd name="connsiteY2" fmla="*/ 51726 h 75409"/>
                    <a:gd name="connsiteX3" fmla="*/ 74289 w 139577"/>
                    <a:gd name="connsiteY3" fmla="*/ 51726 h 75409"/>
                    <a:gd name="connsiteX4" fmla="*/ 74289 w 139577"/>
                    <a:gd name="connsiteY4" fmla="*/ 75409 h 75409"/>
                    <a:gd name="connsiteX5" fmla="*/ 139577 w 139577"/>
                    <a:gd name="connsiteY5" fmla="*/ 37725 h 75409"/>
                    <a:gd name="connsiteX6" fmla="*/ 74289 w 139577"/>
                    <a:gd name="connsiteY6" fmla="*/ 0 h 75409"/>
                    <a:gd name="connsiteX7" fmla="*/ 74289 w 139577"/>
                    <a:gd name="connsiteY7" fmla="*/ 2372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723"/>
                      </a:moveTo>
                      <a:lnTo>
                        <a:pt x="0" y="23723"/>
                      </a:lnTo>
                      <a:lnTo>
                        <a:pt x="0" y="51726"/>
                      </a:lnTo>
                      <a:lnTo>
                        <a:pt x="74289" y="51726"/>
                      </a:lnTo>
                      <a:lnTo>
                        <a:pt x="74289" y="75409"/>
                      </a:lnTo>
                      <a:lnTo>
                        <a:pt x="139577" y="37725"/>
                      </a:lnTo>
                      <a:lnTo>
                        <a:pt x="74289" y="0"/>
                      </a:lnTo>
                      <a:lnTo>
                        <a:pt x="74289" y="2372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 name="Freeform: Shape 170">
                  <a:extLst>
                    <a:ext uri="{FF2B5EF4-FFF2-40B4-BE49-F238E27FC236}">
                      <a16:creationId xmlns:a16="http://schemas.microsoft.com/office/drawing/2014/main" id="{113307AD-2EA6-AB58-7229-BC5F4C3C9628}"/>
                    </a:ext>
                  </a:extLst>
                </p:cNvPr>
                <p:cNvSpPr/>
                <p:nvPr/>
              </p:nvSpPr>
              <p:spPr>
                <a:xfrm>
                  <a:off x="7491571" y="4364759"/>
                  <a:ext cx="51745" cy="27956"/>
                </a:xfrm>
                <a:custGeom>
                  <a:avLst/>
                  <a:gdLst>
                    <a:gd name="connsiteX0" fmla="*/ 74289 w 139577"/>
                    <a:gd name="connsiteY0" fmla="*/ 23683 h 75409"/>
                    <a:gd name="connsiteX1" fmla="*/ 0 w 139577"/>
                    <a:gd name="connsiteY1" fmla="*/ 23683 h 75409"/>
                    <a:gd name="connsiteX2" fmla="*/ 0 w 139577"/>
                    <a:gd name="connsiteY2" fmla="*/ 51686 h 75409"/>
                    <a:gd name="connsiteX3" fmla="*/ 74289 w 139577"/>
                    <a:gd name="connsiteY3" fmla="*/ 51686 h 75409"/>
                    <a:gd name="connsiteX4" fmla="*/ 74289 w 139577"/>
                    <a:gd name="connsiteY4" fmla="*/ 75409 h 75409"/>
                    <a:gd name="connsiteX5" fmla="*/ 139577 w 139577"/>
                    <a:gd name="connsiteY5" fmla="*/ 37685 h 75409"/>
                    <a:gd name="connsiteX6" fmla="*/ 74289 w 139577"/>
                    <a:gd name="connsiteY6" fmla="*/ 0 h 75409"/>
                    <a:gd name="connsiteX7" fmla="*/ 74289 w 139577"/>
                    <a:gd name="connsiteY7" fmla="*/ 2368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683"/>
                      </a:moveTo>
                      <a:lnTo>
                        <a:pt x="0" y="23683"/>
                      </a:lnTo>
                      <a:lnTo>
                        <a:pt x="0" y="51686"/>
                      </a:lnTo>
                      <a:lnTo>
                        <a:pt x="74289" y="51686"/>
                      </a:lnTo>
                      <a:lnTo>
                        <a:pt x="74289" y="7540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87" name="Group 86">
              <a:extLst>
                <a:ext uri="{FF2B5EF4-FFF2-40B4-BE49-F238E27FC236}">
                  <a16:creationId xmlns:a16="http://schemas.microsoft.com/office/drawing/2014/main" id="{03C05BD9-683A-B313-C39F-C2D469C578A1}"/>
                </a:ext>
              </a:extLst>
            </p:cNvPr>
            <p:cNvGrpSpPr/>
            <p:nvPr/>
          </p:nvGrpSpPr>
          <p:grpSpPr>
            <a:xfrm>
              <a:off x="4959077" y="1951839"/>
              <a:ext cx="457202" cy="457200"/>
              <a:chOff x="4637608" y="1958564"/>
              <a:chExt cx="457202" cy="457200"/>
            </a:xfrm>
          </p:grpSpPr>
          <p:sp>
            <p:nvSpPr>
              <p:cNvPr id="111" name="Oval 110">
                <a:extLst>
                  <a:ext uri="{FF2B5EF4-FFF2-40B4-BE49-F238E27FC236}">
                    <a16:creationId xmlns:a16="http://schemas.microsoft.com/office/drawing/2014/main" id="{DBF4FF21-80E2-B3E3-0230-59120C07A867}"/>
                  </a:ext>
                </a:extLst>
              </p:cNvPr>
              <p:cNvSpPr>
                <a:spLocks noChangeAspect="1"/>
              </p:cNvSpPr>
              <p:nvPr/>
            </p:nvSpPr>
            <p:spPr>
              <a:xfrm>
                <a:off x="4637608" y="1958564"/>
                <a:ext cx="457202" cy="457200"/>
              </a:xfrm>
              <a:prstGeom prst="ellipse">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12" name="Graphic 249">
                <a:extLst>
                  <a:ext uri="{FF2B5EF4-FFF2-40B4-BE49-F238E27FC236}">
                    <a16:creationId xmlns:a16="http://schemas.microsoft.com/office/drawing/2014/main" id="{CC46F5D2-3B2A-0310-D3B0-67554DCA6473}"/>
                  </a:ext>
                </a:extLst>
              </p:cNvPr>
              <p:cNvSpPr/>
              <p:nvPr/>
            </p:nvSpPr>
            <p:spPr>
              <a:xfrm>
                <a:off x="4718148" y="2085390"/>
                <a:ext cx="300966" cy="206048"/>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7" name="Group 96">
              <a:extLst>
                <a:ext uri="{FF2B5EF4-FFF2-40B4-BE49-F238E27FC236}">
                  <a16:creationId xmlns:a16="http://schemas.microsoft.com/office/drawing/2014/main" id="{4BE18395-88E7-AC8E-2284-D888E6C6A5EC}"/>
                </a:ext>
              </a:extLst>
            </p:cNvPr>
            <p:cNvGrpSpPr>
              <a:grpSpLocks noChangeAspect="1"/>
            </p:cNvGrpSpPr>
            <p:nvPr/>
          </p:nvGrpSpPr>
          <p:grpSpPr>
            <a:xfrm>
              <a:off x="939060" y="1951839"/>
              <a:ext cx="457200" cy="457200"/>
              <a:chOff x="7756637" y="2484407"/>
              <a:chExt cx="902850" cy="902850"/>
            </a:xfrm>
          </p:grpSpPr>
          <p:sp>
            <p:nvSpPr>
              <p:cNvPr id="98" name="Oval 26">
                <a:extLst>
                  <a:ext uri="{FF2B5EF4-FFF2-40B4-BE49-F238E27FC236}">
                    <a16:creationId xmlns:a16="http://schemas.microsoft.com/office/drawing/2014/main" id="{9A99D181-9DE6-A676-ED6E-2F4946CCE76C}"/>
                  </a:ext>
                </a:extLst>
              </p:cNvPr>
              <p:cNvSpPr>
                <a:spLocks noChangeAspect="1"/>
              </p:cNvSpPr>
              <p:nvPr/>
            </p:nvSpPr>
            <p:spPr bwMode="gray">
              <a:xfrm>
                <a:off x="7756637" y="2484407"/>
                <a:ext cx="902850" cy="90285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99" name="Group 98">
                <a:extLst>
                  <a:ext uri="{FF2B5EF4-FFF2-40B4-BE49-F238E27FC236}">
                    <a16:creationId xmlns:a16="http://schemas.microsoft.com/office/drawing/2014/main" id="{A2C895A0-7C07-D74B-C290-6E91F52AB8FE}"/>
                  </a:ext>
                </a:extLst>
              </p:cNvPr>
              <p:cNvGrpSpPr/>
              <p:nvPr/>
            </p:nvGrpSpPr>
            <p:grpSpPr>
              <a:xfrm>
                <a:off x="7930273" y="2670781"/>
                <a:ext cx="558302" cy="538093"/>
                <a:chOff x="7930273" y="2670781"/>
                <a:chExt cx="558302" cy="538093"/>
              </a:xfrm>
            </p:grpSpPr>
            <p:sp>
              <p:nvSpPr>
                <p:cNvPr id="102" name="Freeform: Shape 201">
                  <a:extLst>
                    <a:ext uri="{FF2B5EF4-FFF2-40B4-BE49-F238E27FC236}">
                      <a16:creationId xmlns:a16="http://schemas.microsoft.com/office/drawing/2014/main" id="{EAD2CFAF-6C93-1898-8925-6D4C0EEC2622}"/>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07" name="Graphic 41">
                  <a:extLst>
                    <a:ext uri="{FF2B5EF4-FFF2-40B4-BE49-F238E27FC236}">
                      <a16:creationId xmlns:a16="http://schemas.microsoft.com/office/drawing/2014/main" id="{B1FE61AE-DC3D-F677-F700-E54B3D28F13F}"/>
                    </a:ext>
                  </a:extLst>
                </p:cNvPr>
                <p:cNvGrpSpPr/>
                <p:nvPr/>
              </p:nvGrpSpPr>
              <p:grpSpPr>
                <a:xfrm>
                  <a:off x="8250435" y="3017491"/>
                  <a:ext cx="238140" cy="191383"/>
                  <a:chOff x="8250435" y="3017491"/>
                  <a:chExt cx="238140" cy="191383"/>
                </a:xfrm>
                <a:solidFill>
                  <a:schemeClr val="bg1"/>
                </a:solidFill>
              </p:grpSpPr>
              <p:sp>
                <p:nvSpPr>
                  <p:cNvPr id="108" name="Freeform: Shape 203">
                    <a:extLst>
                      <a:ext uri="{FF2B5EF4-FFF2-40B4-BE49-F238E27FC236}">
                        <a16:creationId xmlns:a16="http://schemas.microsoft.com/office/drawing/2014/main" id="{3A61CBE3-A650-48E1-5E3A-93CFB94772BB}"/>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0" name="Freeform: Shape 204">
                    <a:extLst>
                      <a:ext uri="{FF2B5EF4-FFF2-40B4-BE49-F238E27FC236}">
                        <a16:creationId xmlns:a16="http://schemas.microsoft.com/office/drawing/2014/main" id="{99566C2C-9830-CCA8-DFE4-8D4885EBD781}"/>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grpSp>
        <p:nvGrpSpPr>
          <p:cNvPr id="130" name="Group 129">
            <a:extLst>
              <a:ext uri="{FF2B5EF4-FFF2-40B4-BE49-F238E27FC236}">
                <a16:creationId xmlns:a16="http://schemas.microsoft.com/office/drawing/2014/main" id="{EBA43A77-BAB9-F408-5FD3-6359A66A4536}"/>
              </a:ext>
            </a:extLst>
          </p:cNvPr>
          <p:cNvGrpSpPr/>
          <p:nvPr/>
        </p:nvGrpSpPr>
        <p:grpSpPr>
          <a:xfrm>
            <a:off x="1275298" y="3989763"/>
            <a:ext cx="4477219" cy="457200"/>
            <a:chOff x="939060" y="1951839"/>
            <a:chExt cx="4477219" cy="457200"/>
          </a:xfrm>
        </p:grpSpPr>
        <p:grpSp>
          <p:nvGrpSpPr>
            <p:cNvPr id="131" name="Group 130">
              <a:extLst>
                <a:ext uri="{FF2B5EF4-FFF2-40B4-BE49-F238E27FC236}">
                  <a16:creationId xmlns:a16="http://schemas.microsoft.com/office/drawing/2014/main" id="{9ECDB8F3-C404-8259-1371-3BB4EB79F221}"/>
                </a:ext>
              </a:extLst>
            </p:cNvPr>
            <p:cNvGrpSpPr>
              <a:grpSpLocks noChangeAspect="1"/>
            </p:cNvGrpSpPr>
            <p:nvPr/>
          </p:nvGrpSpPr>
          <p:grpSpPr>
            <a:xfrm>
              <a:off x="2547066" y="1951839"/>
              <a:ext cx="457202" cy="457200"/>
              <a:chOff x="7498117" y="3244694"/>
              <a:chExt cx="615026" cy="615024"/>
            </a:xfrm>
          </p:grpSpPr>
          <p:sp>
            <p:nvSpPr>
              <p:cNvPr id="185" name="Oval 184">
                <a:extLst>
                  <a:ext uri="{FF2B5EF4-FFF2-40B4-BE49-F238E27FC236}">
                    <a16:creationId xmlns:a16="http://schemas.microsoft.com/office/drawing/2014/main" id="{61D4EFE4-E46F-8865-4835-4B1769501B7B}"/>
                  </a:ext>
                </a:extLst>
              </p:cNvPr>
              <p:cNvSpPr>
                <a:spLocks noChangeAspect="1"/>
              </p:cNvSpPr>
              <p:nvPr/>
            </p:nvSpPr>
            <p:spPr>
              <a:xfrm>
                <a:off x="7498117" y="3244694"/>
                <a:ext cx="615026" cy="615024"/>
              </a:xfrm>
              <a:prstGeom prst="ellipse">
                <a:avLst/>
              </a:prstGeom>
              <a:solidFill>
                <a:schemeClr val="accent5"/>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86" name="Graphic 62">
                <a:extLst>
                  <a:ext uri="{FF2B5EF4-FFF2-40B4-BE49-F238E27FC236}">
                    <a16:creationId xmlns:a16="http://schemas.microsoft.com/office/drawing/2014/main" id="{58D130AF-B260-E777-F42B-7F5A09958085}"/>
                  </a:ext>
                </a:extLst>
              </p:cNvPr>
              <p:cNvSpPr/>
              <p:nvPr/>
            </p:nvSpPr>
            <p:spPr>
              <a:xfrm>
                <a:off x="7601547" y="3369194"/>
                <a:ext cx="366027" cy="366026"/>
              </a:xfrm>
              <a:custGeom>
                <a:avLst/>
                <a:gdLst>
                  <a:gd name="connsiteX0" fmla="*/ 168355 w 537323"/>
                  <a:gd name="connsiteY0" fmla="*/ 0 h 537323"/>
                  <a:gd name="connsiteX1" fmla="*/ 0 w 537323"/>
                  <a:gd name="connsiteY1" fmla="*/ 185968 h 537323"/>
                  <a:gd name="connsiteX2" fmla="*/ 0 w 537323"/>
                  <a:gd name="connsiteY2" fmla="*/ 353777 h 537323"/>
                  <a:gd name="connsiteX3" fmla="*/ 174877 w 537323"/>
                  <a:gd name="connsiteY3" fmla="*/ 537324 h 537323"/>
                  <a:gd name="connsiteX4" fmla="*/ 537324 w 537323"/>
                  <a:gd name="connsiteY4" fmla="*/ 537324 h 537323"/>
                  <a:gd name="connsiteX5" fmla="*/ 537324 w 537323"/>
                  <a:gd name="connsiteY5" fmla="*/ 0 h 537323"/>
                  <a:gd name="connsiteX6" fmla="*/ 168355 w 537323"/>
                  <a:gd name="connsiteY6" fmla="*/ 0 h 537323"/>
                  <a:gd name="connsiteX7" fmla="*/ 200964 w 537323"/>
                  <a:gd name="connsiteY7" fmla="*/ 151680 h 537323"/>
                  <a:gd name="connsiteX8" fmla="*/ 220295 w 537323"/>
                  <a:gd name="connsiteY8" fmla="*/ 171011 h 537323"/>
                  <a:gd name="connsiteX9" fmla="*/ 153633 w 537323"/>
                  <a:gd name="connsiteY9" fmla="*/ 237674 h 537323"/>
                  <a:gd name="connsiteX10" fmla="*/ 134302 w 537323"/>
                  <a:gd name="connsiteY10" fmla="*/ 218343 h 537323"/>
                  <a:gd name="connsiteX11" fmla="*/ 200964 w 537323"/>
                  <a:gd name="connsiteY11" fmla="*/ 151680 h 537323"/>
                  <a:gd name="connsiteX12" fmla="*/ 204870 w 537323"/>
                  <a:gd name="connsiteY12" fmla="*/ 264151 h 537323"/>
                  <a:gd name="connsiteX13" fmla="*/ 204870 w 537323"/>
                  <a:gd name="connsiteY13" fmla="*/ 291488 h 537323"/>
                  <a:gd name="connsiteX14" fmla="*/ 153320 w 537323"/>
                  <a:gd name="connsiteY14" fmla="*/ 291488 h 537323"/>
                  <a:gd name="connsiteX15" fmla="*/ 153320 w 537323"/>
                  <a:gd name="connsiteY15" fmla="*/ 264151 h 537323"/>
                  <a:gd name="connsiteX16" fmla="*/ 204870 w 537323"/>
                  <a:gd name="connsiteY16" fmla="*/ 264151 h 537323"/>
                  <a:gd name="connsiteX17" fmla="*/ 117119 w 537323"/>
                  <a:gd name="connsiteY17" fmla="*/ 308632 h 537323"/>
                  <a:gd name="connsiteX18" fmla="*/ 55494 w 537323"/>
                  <a:gd name="connsiteY18" fmla="*/ 308632 h 537323"/>
                  <a:gd name="connsiteX19" fmla="*/ 55494 w 537323"/>
                  <a:gd name="connsiteY19" fmla="*/ 247007 h 537323"/>
                  <a:gd name="connsiteX20" fmla="*/ 117119 w 537323"/>
                  <a:gd name="connsiteY20" fmla="*/ 247007 h 537323"/>
                  <a:gd name="connsiteX21" fmla="*/ 117119 w 537323"/>
                  <a:gd name="connsiteY21" fmla="*/ 308632 h 537323"/>
                  <a:gd name="connsiteX22" fmla="*/ 134302 w 537323"/>
                  <a:gd name="connsiteY22" fmla="*/ 343506 h 537323"/>
                  <a:gd name="connsiteX23" fmla="*/ 153633 w 537323"/>
                  <a:gd name="connsiteY23" fmla="*/ 324175 h 537323"/>
                  <a:gd name="connsiteX24" fmla="*/ 220295 w 537323"/>
                  <a:gd name="connsiteY24" fmla="*/ 390838 h 537323"/>
                  <a:gd name="connsiteX25" fmla="*/ 200964 w 537323"/>
                  <a:gd name="connsiteY25" fmla="*/ 410169 h 537323"/>
                  <a:gd name="connsiteX26" fmla="*/ 134302 w 537323"/>
                  <a:gd name="connsiteY26" fmla="*/ 343506 h 537323"/>
                  <a:gd name="connsiteX27" fmla="*/ 287231 w 537323"/>
                  <a:gd name="connsiteY27" fmla="*/ 478901 h 537323"/>
                  <a:gd name="connsiteX28" fmla="*/ 225606 w 537323"/>
                  <a:gd name="connsiteY28" fmla="*/ 478901 h 537323"/>
                  <a:gd name="connsiteX29" fmla="*/ 225606 w 537323"/>
                  <a:gd name="connsiteY29" fmla="*/ 417276 h 537323"/>
                  <a:gd name="connsiteX30" fmla="*/ 287231 w 537323"/>
                  <a:gd name="connsiteY30" fmla="*/ 417276 h 537323"/>
                  <a:gd name="connsiteX31" fmla="*/ 287231 w 537323"/>
                  <a:gd name="connsiteY31" fmla="*/ 478901 h 537323"/>
                  <a:gd name="connsiteX32" fmla="*/ 287231 w 537323"/>
                  <a:gd name="connsiteY32" fmla="*/ 308593 h 537323"/>
                  <a:gd name="connsiteX33" fmla="*/ 225606 w 537323"/>
                  <a:gd name="connsiteY33" fmla="*/ 308593 h 537323"/>
                  <a:gd name="connsiteX34" fmla="*/ 225606 w 537323"/>
                  <a:gd name="connsiteY34" fmla="*/ 246968 h 537323"/>
                  <a:gd name="connsiteX35" fmla="*/ 287231 w 537323"/>
                  <a:gd name="connsiteY35" fmla="*/ 246968 h 537323"/>
                  <a:gd name="connsiteX36" fmla="*/ 287231 w 537323"/>
                  <a:gd name="connsiteY36" fmla="*/ 308593 h 537323"/>
                  <a:gd name="connsiteX37" fmla="*/ 287231 w 537323"/>
                  <a:gd name="connsiteY37" fmla="*/ 137192 h 537323"/>
                  <a:gd name="connsiteX38" fmla="*/ 225606 w 537323"/>
                  <a:gd name="connsiteY38" fmla="*/ 137192 h 537323"/>
                  <a:gd name="connsiteX39" fmla="*/ 225606 w 537323"/>
                  <a:gd name="connsiteY39" fmla="*/ 75567 h 537323"/>
                  <a:gd name="connsiteX40" fmla="*/ 287231 w 537323"/>
                  <a:gd name="connsiteY40" fmla="*/ 75567 h 537323"/>
                  <a:gd name="connsiteX41" fmla="*/ 287231 w 537323"/>
                  <a:gd name="connsiteY41" fmla="*/ 137192 h 537323"/>
                  <a:gd name="connsiteX42" fmla="*/ 449143 w 537323"/>
                  <a:gd name="connsiteY42" fmla="*/ 475386 h 537323"/>
                  <a:gd name="connsiteX43" fmla="*/ 449143 w 537323"/>
                  <a:gd name="connsiteY43" fmla="*/ 461796 h 537323"/>
                  <a:gd name="connsiteX44" fmla="*/ 322105 w 537323"/>
                  <a:gd name="connsiteY44" fmla="*/ 461796 h 537323"/>
                  <a:gd name="connsiteX45" fmla="*/ 322105 w 537323"/>
                  <a:gd name="connsiteY45" fmla="*/ 434459 h 537323"/>
                  <a:gd name="connsiteX46" fmla="*/ 449143 w 537323"/>
                  <a:gd name="connsiteY46" fmla="*/ 434459 h 537323"/>
                  <a:gd name="connsiteX47" fmla="*/ 449143 w 537323"/>
                  <a:gd name="connsiteY47" fmla="*/ 420869 h 537323"/>
                  <a:gd name="connsiteX48" fmla="*/ 496358 w 537323"/>
                  <a:gd name="connsiteY48" fmla="*/ 448128 h 537323"/>
                  <a:gd name="connsiteX49" fmla="*/ 449143 w 537323"/>
                  <a:gd name="connsiteY49" fmla="*/ 475386 h 537323"/>
                  <a:gd name="connsiteX50" fmla="*/ 449143 w 537323"/>
                  <a:gd name="connsiteY50" fmla="*/ 305039 h 537323"/>
                  <a:gd name="connsiteX51" fmla="*/ 449143 w 537323"/>
                  <a:gd name="connsiteY51" fmla="*/ 291449 h 537323"/>
                  <a:gd name="connsiteX52" fmla="*/ 322105 w 537323"/>
                  <a:gd name="connsiteY52" fmla="*/ 291449 h 537323"/>
                  <a:gd name="connsiteX53" fmla="*/ 322105 w 537323"/>
                  <a:gd name="connsiteY53" fmla="*/ 264112 h 537323"/>
                  <a:gd name="connsiteX54" fmla="*/ 449143 w 537323"/>
                  <a:gd name="connsiteY54" fmla="*/ 264112 h 537323"/>
                  <a:gd name="connsiteX55" fmla="*/ 449143 w 537323"/>
                  <a:gd name="connsiteY55" fmla="*/ 250522 h 537323"/>
                  <a:gd name="connsiteX56" fmla="*/ 496358 w 537323"/>
                  <a:gd name="connsiteY56" fmla="*/ 277781 h 537323"/>
                  <a:gd name="connsiteX57" fmla="*/ 449143 w 537323"/>
                  <a:gd name="connsiteY57" fmla="*/ 305039 h 537323"/>
                  <a:gd name="connsiteX58" fmla="*/ 449143 w 537323"/>
                  <a:gd name="connsiteY58" fmla="*/ 133638 h 537323"/>
                  <a:gd name="connsiteX59" fmla="*/ 449143 w 537323"/>
                  <a:gd name="connsiteY59" fmla="*/ 120047 h 537323"/>
                  <a:gd name="connsiteX60" fmla="*/ 322105 w 537323"/>
                  <a:gd name="connsiteY60" fmla="*/ 120047 h 537323"/>
                  <a:gd name="connsiteX61" fmla="*/ 322105 w 537323"/>
                  <a:gd name="connsiteY61" fmla="*/ 92711 h 537323"/>
                  <a:gd name="connsiteX62" fmla="*/ 449143 w 537323"/>
                  <a:gd name="connsiteY62" fmla="*/ 92711 h 537323"/>
                  <a:gd name="connsiteX63" fmla="*/ 449143 w 537323"/>
                  <a:gd name="connsiteY63" fmla="*/ 79120 h 537323"/>
                  <a:gd name="connsiteX64" fmla="*/ 496358 w 537323"/>
                  <a:gd name="connsiteY64" fmla="*/ 106379 h 537323"/>
                  <a:gd name="connsiteX65" fmla="*/ 449143 w 537323"/>
                  <a:gd name="connsiteY65" fmla="*/ 133638 h 53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37323" h="537323">
                    <a:moveTo>
                      <a:pt x="168355" y="0"/>
                    </a:moveTo>
                    <a:lnTo>
                      <a:pt x="0" y="185968"/>
                    </a:lnTo>
                    <a:lnTo>
                      <a:pt x="0" y="353777"/>
                    </a:lnTo>
                    <a:lnTo>
                      <a:pt x="174877" y="537324"/>
                    </a:lnTo>
                    <a:lnTo>
                      <a:pt x="537324" y="537324"/>
                    </a:lnTo>
                    <a:lnTo>
                      <a:pt x="537324" y="0"/>
                    </a:lnTo>
                    <a:lnTo>
                      <a:pt x="168355" y="0"/>
                    </a:lnTo>
                    <a:close/>
                    <a:moveTo>
                      <a:pt x="200964" y="151680"/>
                    </a:moveTo>
                    <a:lnTo>
                      <a:pt x="220295" y="171011"/>
                    </a:lnTo>
                    <a:lnTo>
                      <a:pt x="153633" y="237674"/>
                    </a:lnTo>
                    <a:lnTo>
                      <a:pt x="134302" y="218343"/>
                    </a:lnTo>
                    <a:lnTo>
                      <a:pt x="200964" y="151680"/>
                    </a:lnTo>
                    <a:close/>
                    <a:moveTo>
                      <a:pt x="204870" y="264151"/>
                    </a:moveTo>
                    <a:lnTo>
                      <a:pt x="204870" y="291488"/>
                    </a:lnTo>
                    <a:lnTo>
                      <a:pt x="153320" y="291488"/>
                    </a:lnTo>
                    <a:lnTo>
                      <a:pt x="153320" y="264151"/>
                    </a:lnTo>
                    <a:lnTo>
                      <a:pt x="204870" y="264151"/>
                    </a:lnTo>
                    <a:close/>
                    <a:moveTo>
                      <a:pt x="117119" y="308632"/>
                    </a:moveTo>
                    <a:cubicBezTo>
                      <a:pt x="100092" y="325659"/>
                      <a:pt x="72521" y="325659"/>
                      <a:pt x="55494" y="308632"/>
                    </a:cubicBezTo>
                    <a:cubicBezTo>
                      <a:pt x="38467" y="291605"/>
                      <a:pt x="38467" y="264034"/>
                      <a:pt x="55494" y="247007"/>
                    </a:cubicBezTo>
                    <a:cubicBezTo>
                      <a:pt x="72521" y="229980"/>
                      <a:pt x="100092" y="229980"/>
                      <a:pt x="117119" y="247007"/>
                    </a:cubicBezTo>
                    <a:cubicBezTo>
                      <a:pt x="134145" y="264034"/>
                      <a:pt x="134145" y="291605"/>
                      <a:pt x="117119" y="308632"/>
                    </a:cubicBezTo>
                    <a:close/>
                    <a:moveTo>
                      <a:pt x="134302" y="343506"/>
                    </a:moveTo>
                    <a:lnTo>
                      <a:pt x="153633" y="324175"/>
                    </a:lnTo>
                    <a:lnTo>
                      <a:pt x="220295" y="390838"/>
                    </a:lnTo>
                    <a:lnTo>
                      <a:pt x="200964" y="410169"/>
                    </a:lnTo>
                    <a:lnTo>
                      <a:pt x="134302" y="343506"/>
                    </a:lnTo>
                    <a:close/>
                    <a:moveTo>
                      <a:pt x="287231" y="478901"/>
                    </a:moveTo>
                    <a:cubicBezTo>
                      <a:pt x="270204" y="495928"/>
                      <a:pt x="242633" y="495928"/>
                      <a:pt x="225606" y="478901"/>
                    </a:cubicBezTo>
                    <a:cubicBezTo>
                      <a:pt x="208580" y="461874"/>
                      <a:pt x="208580" y="434303"/>
                      <a:pt x="225606" y="417276"/>
                    </a:cubicBezTo>
                    <a:cubicBezTo>
                      <a:pt x="242633" y="400249"/>
                      <a:pt x="270204" y="400249"/>
                      <a:pt x="287231" y="417276"/>
                    </a:cubicBezTo>
                    <a:cubicBezTo>
                      <a:pt x="304258" y="434303"/>
                      <a:pt x="304258" y="461874"/>
                      <a:pt x="287231" y="478901"/>
                    </a:cubicBezTo>
                    <a:close/>
                    <a:moveTo>
                      <a:pt x="287231" y="308593"/>
                    </a:moveTo>
                    <a:cubicBezTo>
                      <a:pt x="270204" y="325620"/>
                      <a:pt x="242633" y="325620"/>
                      <a:pt x="225606" y="308593"/>
                    </a:cubicBezTo>
                    <a:cubicBezTo>
                      <a:pt x="208580" y="291566"/>
                      <a:pt x="208580" y="263995"/>
                      <a:pt x="225606" y="246968"/>
                    </a:cubicBezTo>
                    <a:cubicBezTo>
                      <a:pt x="242633" y="229941"/>
                      <a:pt x="270204" y="229941"/>
                      <a:pt x="287231" y="246968"/>
                    </a:cubicBezTo>
                    <a:cubicBezTo>
                      <a:pt x="304258" y="263995"/>
                      <a:pt x="304258" y="291566"/>
                      <a:pt x="287231" y="308593"/>
                    </a:cubicBezTo>
                    <a:close/>
                    <a:moveTo>
                      <a:pt x="287231" y="137192"/>
                    </a:moveTo>
                    <a:cubicBezTo>
                      <a:pt x="270204" y="154218"/>
                      <a:pt x="242633" y="154218"/>
                      <a:pt x="225606" y="137192"/>
                    </a:cubicBezTo>
                    <a:cubicBezTo>
                      <a:pt x="208580" y="120165"/>
                      <a:pt x="208580" y="92594"/>
                      <a:pt x="225606" y="75567"/>
                    </a:cubicBezTo>
                    <a:cubicBezTo>
                      <a:pt x="242633" y="58540"/>
                      <a:pt x="270204" y="58540"/>
                      <a:pt x="287231" y="75567"/>
                    </a:cubicBezTo>
                    <a:cubicBezTo>
                      <a:pt x="304258" y="92594"/>
                      <a:pt x="304258" y="120165"/>
                      <a:pt x="287231" y="137192"/>
                    </a:cubicBezTo>
                    <a:close/>
                    <a:moveTo>
                      <a:pt x="449143" y="475386"/>
                    </a:moveTo>
                    <a:lnTo>
                      <a:pt x="449143" y="461796"/>
                    </a:lnTo>
                    <a:lnTo>
                      <a:pt x="322105" y="461796"/>
                    </a:lnTo>
                    <a:lnTo>
                      <a:pt x="322105" y="434459"/>
                    </a:lnTo>
                    <a:lnTo>
                      <a:pt x="449143" y="434459"/>
                    </a:lnTo>
                    <a:lnTo>
                      <a:pt x="449143" y="420869"/>
                    </a:lnTo>
                    <a:lnTo>
                      <a:pt x="496358" y="448128"/>
                    </a:lnTo>
                    <a:lnTo>
                      <a:pt x="449143" y="475386"/>
                    </a:lnTo>
                    <a:close/>
                    <a:moveTo>
                      <a:pt x="449143" y="305039"/>
                    </a:moveTo>
                    <a:lnTo>
                      <a:pt x="449143" y="291449"/>
                    </a:lnTo>
                    <a:lnTo>
                      <a:pt x="322105" y="291449"/>
                    </a:lnTo>
                    <a:lnTo>
                      <a:pt x="322105" y="264112"/>
                    </a:lnTo>
                    <a:lnTo>
                      <a:pt x="449143" y="264112"/>
                    </a:lnTo>
                    <a:lnTo>
                      <a:pt x="449143" y="250522"/>
                    </a:lnTo>
                    <a:lnTo>
                      <a:pt x="496358" y="277781"/>
                    </a:lnTo>
                    <a:lnTo>
                      <a:pt x="449143" y="305039"/>
                    </a:lnTo>
                    <a:close/>
                    <a:moveTo>
                      <a:pt x="449143" y="133638"/>
                    </a:moveTo>
                    <a:lnTo>
                      <a:pt x="449143" y="120047"/>
                    </a:lnTo>
                    <a:lnTo>
                      <a:pt x="322105" y="120047"/>
                    </a:lnTo>
                    <a:lnTo>
                      <a:pt x="322105" y="92711"/>
                    </a:lnTo>
                    <a:lnTo>
                      <a:pt x="449143" y="92711"/>
                    </a:lnTo>
                    <a:lnTo>
                      <a:pt x="449143" y="79120"/>
                    </a:lnTo>
                    <a:lnTo>
                      <a:pt x="496358" y="106379"/>
                    </a:lnTo>
                    <a:lnTo>
                      <a:pt x="449143" y="133638"/>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32" name="Group 131">
              <a:extLst>
                <a:ext uri="{FF2B5EF4-FFF2-40B4-BE49-F238E27FC236}">
                  <a16:creationId xmlns:a16="http://schemas.microsoft.com/office/drawing/2014/main" id="{5868C20C-8A0E-E81F-8D90-6ABFF36727D5}"/>
                </a:ext>
              </a:extLst>
            </p:cNvPr>
            <p:cNvGrpSpPr>
              <a:grpSpLocks noChangeAspect="1"/>
            </p:cNvGrpSpPr>
            <p:nvPr/>
          </p:nvGrpSpPr>
          <p:grpSpPr>
            <a:xfrm>
              <a:off x="1743062" y="1951839"/>
              <a:ext cx="457202" cy="457200"/>
              <a:chOff x="6236527" y="4282407"/>
              <a:chExt cx="615026" cy="615024"/>
            </a:xfrm>
          </p:grpSpPr>
          <p:sp>
            <p:nvSpPr>
              <p:cNvPr id="173" name="Oval 172">
                <a:extLst>
                  <a:ext uri="{FF2B5EF4-FFF2-40B4-BE49-F238E27FC236}">
                    <a16:creationId xmlns:a16="http://schemas.microsoft.com/office/drawing/2014/main" id="{6AF461D3-97ED-3768-B6D6-985300342940}"/>
                  </a:ext>
                </a:extLst>
              </p:cNvPr>
              <p:cNvSpPr>
                <a:spLocks noChangeAspect="1"/>
              </p:cNvSpPr>
              <p:nvPr/>
            </p:nvSpPr>
            <p:spPr>
              <a:xfrm>
                <a:off x="6236527" y="4282407"/>
                <a:ext cx="615026" cy="615024"/>
              </a:xfrm>
              <a:prstGeom prst="ellipse">
                <a:avLst/>
              </a:prstGeom>
              <a:solidFill>
                <a:srgbClr val="C00000"/>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74" name="Group 173">
                <a:extLst>
                  <a:ext uri="{FF2B5EF4-FFF2-40B4-BE49-F238E27FC236}">
                    <a16:creationId xmlns:a16="http://schemas.microsoft.com/office/drawing/2014/main" id="{8AAA623D-A9A1-1A83-2823-9C7673691C56}"/>
                  </a:ext>
                </a:extLst>
              </p:cNvPr>
              <p:cNvGrpSpPr/>
              <p:nvPr/>
            </p:nvGrpSpPr>
            <p:grpSpPr>
              <a:xfrm>
                <a:off x="6341349" y="4462363"/>
                <a:ext cx="395473" cy="299841"/>
                <a:chOff x="3560655" y="2748581"/>
                <a:chExt cx="580548" cy="440165"/>
              </a:xfrm>
            </p:grpSpPr>
            <p:sp>
              <p:nvSpPr>
                <p:cNvPr id="179" name="Freeform: Shape 155">
                  <a:extLst>
                    <a:ext uri="{FF2B5EF4-FFF2-40B4-BE49-F238E27FC236}">
                      <a16:creationId xmlns:a16="http://schemas.microsoft.com/office/drawing/2014/main" id="{79D7907B-9535-F0F3-A6E2-A225B1BDDA40}"/>
                    </a:ext>
                  </a:extLst>
                </p:cNvPr>
                <p:cNvSpPr/>
                <p:nvPr/>
              </p:nvSpPr>
              <p:spPr>
                <a:xfrm>
                  <a:off x="3560655" y="2748581"/>
                  <a:ext cx="580548" cy="336411"/>
                </a:xfrm>
                <a:custGeom>
                  <a:avLst/>
                  <a:gdLst>
                    <a:gd name="connsiteX0" fmla="*/ 284140 w 580548"/>
                    <a:gd name="connsiteY0" fmla="*/ 305741 h 336411"/>
                    <a:gd name="connsiteX1" fmla="*/ 134381 w 580548"/>
                    <a:gd name="connsiteY1" fmla="*/ 305741 h 336411"/>
                    <a:gd name="connsiteX2" fmla="*/ 134381 w 580548"/>
                    <a:gd name="connsiteY2" fmla="*/ 234498 h 336411"/>
                    <a:gd name="connsiteX3" fmla="*/ 290450 w 580548"/>
                    <a:gd name="connsiteY3" fmla="*/ 234498 h 336411"/>
                    <a:gd name="connsiteX4" fmla="*/ 290450 w 580548"/>
                    <a:gd name="connsiteY4" fmla="*/ 292597 h 336411"/>
                    <a:gd name="connsiteX5" fmla="*/ 316739 w 580548"/>
                    <a:gd name="connsiteY5" fmla="*/ 238660 h 336411"/>
                    <a:gd name="connsiteX6" fmla="*/ 316739 w 580548"/>
                    <a:gd name="connsiteY6" fmla="*/ 234498 h 336411"/>
                    <a:gd name="connsiteX7" fmla="*/ 318754 w 580548"/>
                    <a:gd name="connsiteY7" fmla="*/ 234498 h 336411"/>
                    <a:gd name="connsiteX8" fmla="*/ 333695 w 580548"/>
                    <a:gd name="connsiteY8" fmla="*/ 203827 h 336411"/>
                    <a:gd name="connsiteX9" fmla="*/ 258421 w 580548"/>
                    <a:gd name="connsiteY9" fmla="*/ 203827 h 336411"/>
                    <a:gd name="connsiteX10" fmla="*/ 258421 w 580548"/>
                    <a:gd name="connsiteY10" fmla="*/ 132584 h 336411"/>
                    <a:gd name="connsiteX11" fmla="*/ 414490 w 580548"/>
                    <a:gd name="connsiteY11" fmla="*/ 132584 h 336411"/>
                    <a:gd name="connsiteX12" fmla="*/ 414490 w 580548"/>
                    <a:gd name="connsiteY12" fmla="*/ 192479 h 336411"/>
                    <a:gd name="connsiteX13" fmla="*/ 440779 w 580548"/>
                    <a:gd name="connsiteY13" fmla="*/ 137973 h 336411"/>
                    <a:gd name="connsiteX14" fmla="*/ 440779 w 580548"/>
                    <a:gd name="connsiteY14" fmla="*/ 132584 h 336411"/>
                    <a:gd name="connsiteX15" fmla="*/ 443364 w 580548"/>
                    <a:gd name="connsiteY15" fmla="*/ 132584 h 336411"/>
                    <a:gd name="connsiteX16" fmla="*/ 458173 w 580548"/>
                    <a:gd name="connsiteY16" fmla="*/ 101914 h 336411"/>
                    <a:gd name="connsiteX17" fmla="*/ 351528 w 580548"/>
                    <a:gd name="connsiteY17" fmla="*/ 101914 h 336411"/>
                    <a:gd name="connsiteX18" fmla="*/ 351528 w 580548"/>
                    <a:gd name="connsiteY18" fmla="*/ 30671 h 336411"/>
                    <a:gd name="connsiteX19" fmla="*/ 507597 w 580548"/>
                    <a:gd name="connsiteY19" fmla="*/ 30671 h 336411"/>
                    <a:gd name="connsiteX20" fmla="*/ 507597 w 580548"/>
                    <a:gd name="connsiteY20" fmla="*/ 101914 h 336411"/>
                    <a:gd name="connsiteX21" fmla="*/ 496643 w 580548"/>
                    <a:gd name="connsiteY21" fmla="*/ 101914 h 336411"/>
                    <a:gd name="connsiteX22" fmla="*/ 506063 w 580548"/>
                    <a:gd name="connsiteY22" fmla="*/ 121324 h 336411"/>
                    <a:gd name="connsiteX23" fmla="*/ 511540 w 580548"/>
                    <a:gd name="connsiteY23" fmla="*/ 132584 h 336411"/>
                    <a:gd name="connsiteX24" fmla="*/ 549834 w 580548"/>
                    <a:gd name="connsiteY24" fmla="*/ 132584 h 336411"/>
                    <a:gd name="connsiteX25" fmla="*/ 549834 w 580548"/>
                    <a:gd name="connsiteY25" fmla="*/ 203827 h 336411"/>
                    <a:gd name="connsiteX26" fmla="*/ 546154 w 580548"/>
                    <a:gd name="connsiteY26" fmla="*/ 203827 h 336411"/>
                    <a:gd name="connsiteX27" fmla="*/ 574984 w 580548"/>
                    <a:gd name="connsiteY27" fmla="*/ 262759 h 336411"/>
                    <a:gd name="connsiteX28" fmla="*/ 580549 w 580548"/>
                    <a:gd name="connsiteY28" fmla="*/ 274326 h 336411"/>
                    <a:gd name="connsiteX29" fmla="*/ 580549 w 580548"/>
                    <a:gd name="connsiteY29" fmla="*/ 0 h 336411"/>
                    <a:gd name="connsiteX30" fmla="*/ 0 w 580548"/>
                    <a:gd name="connsiteY30" fmla="*/ 0 h 336411"/>
                    <a:gd name="connsiteX31" fmla="*/ 0 w 580548"/>
                    <a:gd name="connsiteY31" fmla="*/ 336412 h 336411"/>
                    <a:gd name="connsiteX32" fmla="*/ 275509 w 580548"/>
                    <a:gd name="connsiteY32" fmla="*/ 336412 h 336411"/>
                    <a:gd name="connsiteX33" fmla="*/ 284140 w 580548"/>
                    <a:gd name="connsiteY33" fmla="*/ 305741 h 336411"/>
                    <a:gd name="connsiteX34" fmla="*/ 533886 w 580548"/>
                    <a:gd name="connsiteY34" fmla="*/ 30671 h 336411"/>
                    <a:gd name="connsiteX35" fmla="*/ 549834 w 580548"/>
                    <a:gd name="connsiteY35" fmla="*/ 30671 h 336411"/>
                    <a:gd name="connsiteX36" fmla="*/ 549834 w 580548"/>
                    <a:gd name="connsiteY36" fmla="*/ 101914 h 336411"/>
                    <a:gd name="connsiteX37" fmla="*/ 533886 w 580548"/>
                    <a:gd name="connsiteY37" fmla="*/ 101914 h 336411"/>
                    <a:gd name="connsiteX38" fmla="*/ 533886 w 580548"/>
                    <a:gd name="connsiteY38" fmla="*/ 30671 h 336411"/>
                    <a:gd name="connsiteX39" fmla="*/ 232132 w 580548"/>
                    <a:gd name="connsiteY39" fmla="*/ 203827 h 336411"/>
                    <a:gd name="connsiteX40" fmla="*/ 76063 w 580548"/>
                    <a:gd name="connsiteY40" fmla="*/ 203827 h 336411"/>
                    <a:gd name="connsiteX41" fmla="*/ 76063 w 580548"/>
                    <a:gd name="connsiteY41" fmla="*/ 132584 h 336411"/>
                    <a:gd name="connsiteX42" fmla="*/ 232132 w 580548"/>
                    <a:gd name="connsiteY42" fmla="*/ 132584 h 336411"/>
                    <a:gd name="connsiteX43" fmla="*/ 232132 w 580548"/>
                    <a:gd name="connsiteY43" fmla="*/ 203827 h 336411"/>
                    <a:gd name="connsiteX44" fmla="*/ 169170 w 580548"/>
                    <a:gd name="connsiteY44" fmla="*/ 30671 h 336411"/>
                    <a:gd name="connsiteX45" fmla="*/ 325239 w 580548"/>
                    <a:gd name="connsiteY45" fmla="*/ 30671 h 336411"/>
                    <a:gd name="connsiteX46" fmla="*/ 325239 w 580548"/>
                    <a:gd name="connsiteY46" fmla="*/ 101914 h 336411"/>
                    <a:gd name="connsiteX47" fmla="*/ 169170 w 580548"/>
                    <a:gd name="connsiteY47" fmla="*/ 101914 h 336411"/>
                    <a:gd name="connsiteX48" fmla="*/ 169170 w 580548"/>
                    <a:gd name="connsiteY48" fmla="*/ 30671 h 336411"/>
                    <a:gd name="connsiteX49" fmla="*/ 30671 w 580548"/>
                    <a:gd name="connsiteY49" fmla="*/ 30671 h 336411"/>
                    <a:gd name="connsiteX50" fmla="*/ 142881 w 580548"/>
                    <a:gd name="connsiteY50" fmla="*/ 30671 h 336411"/>
                    <a:gd name="connsiteX51" fmla="*/ 142881 w 580548"/>
                    <a:gd name="connsiteY51" fmla="*/ 101914 h 336411"/>
                    <a:gd name="connsiteX52" fmla="*/ 30671 w 580548"/>
                    <a:gd name="connsiteY52" fmla="*/ 101914 h 336411"/>
                    <a:gd name="connsiteX53" fmla="*/ 30671 w 580548"/>
                    <a:gd name="connsiteY53" fmla="*/ 30671 h 336411"/>
                    <a:gd name="connsiteX54" fmla="*/ 30671 w 580548"/>
                    <a:gd name="connsiteY54" fmla="*/ 132584 h 336411"/>
                    <a:gd name="connsiteX55" fmla="*/ 49774 w 580548"/>
                    <a:gd name="connsiteY55" fmla="*/ 132584 h 336411"/>
                    <a:gd name="connsiteX56" fmla="*/ 49774 w 580548"/>
                    <a:gd name="connsiteY56" fmla="*/ 203827 h 336411"/>
                    <a:gd name="connsiteX57" fmla="*/ 30671 w 580548"/>
                    <a:gd name="connsiteY57" fmla="*/ 203827 h 336411"/>
                    <a:gd name="connsiteX58" fmla="*/ 30671 w 580548"/>
                    <a:gd name="connsiteY58" fmla="*/ 132584 h 336411"/>
                    <a:gd name="connsiteX59" fmla="*/ 108092 w 580548"/>
                    <a:gd name="connsiteY59" fmla="*/ 305741 h 336411"/>
                    <a:gd name="connsiteX60" fmla="*/ 30671 w 580548"/>
                    <a:gd name="connsiteY60" fmla="*/ 305741 h 336411"/>
                    <a:gd name="connsiteX61" fmla="*/ 30671 w 580548"/>
                    <a:gd name="connsiteY61" fmla="*/ 234498 h 336411"/>
                    <a:gd name="connsiteX62" fmla="*/ 108092 w 580548"/>
                    <a:gd name="connsiteY62" fmla="*/ 234498 h 336411"/>
                    <a:gd name="connsiteX63" fmla="*/ 108092 w 580548"/>
                    <a:gd name="connsiteY63" fmla="*/ 305741 h 33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0548" h="336411">
                      <a:moveTo>
                        <a:pt x="284140" y="305741"/>
                      </a:moveTo>
                      <a:lnTo>
                        <a:pt x="134381" y="305741"/>
                      </a:lnTo>
                      <a:lnTo>
                        <a:pt x="134381" y="234498"/>
                      </a:lnTo>
                      <a:lnTo>
                        <a:pt x="290450" y="234498"/>
                      </a:lnTo>
                      <a:lnTo>
                        <a:pt x="290450" y="292597"/>
                      </a:lnTo>
                      <a:cubicBezTo>
                        <a:pt x="295445" y="282432"/>
                        <a:pt x="305829" y="261094"/>
                        <a:pt x="316739" y="238660"/>
                      </a:cubicBezTo>
                      <a:lnTo>
                        <a:pt x="316739" y="234498"/>
                      </a:lnTo>
                      <a:lnTo>
                        <a:pt x="318754" y="234498"/>
                      </a:lnTo>
                      <a:cubicBezTo>
                        <a:pt x="323837" y="224026"/>
                        <a:pt x="329007" y="213467"/>
                        <a:pt x="333695" y="203827"/>
                      </a:cubicBezTo>
                      <a:lnTo>
                        <a:pt x="258421" y="203827"/>
                      </a:lnTo>
                      <a:lnTo>
                        <a:pt x="258421" y="132584"/>
                      </a:lnTo>
                      <a:lnTo>
                        <a:pt x="414490" y="132584"/>
                      </a:lnTo>
                      <a:lnTo>
                        <a:pt x="414490" y="192479"/>
                      </a:lnTo>
                      <a:lnTo>
                        <a:pt x="440779" y="137973"/>
                      </a:lnTo>
                      <a:lnTo>
                        <a:pt x="440779" y="132584"/>
                      </a:lnTo>
                      <a:lnTo>
                        <a:pt x="443364" y="132584"/>
                      </a:lnTo>
                      <a:lnTo>
                        <a:pt x="458173" y="101914"/>
                      </a:lnTo>
                      <a:lnTo>
                        <a:pt x="351528" y="101914"/>
                      </a:lnTo>
                      <a:lnTo>
                        <a:pt x="351528" y="30671"/>
                      </a:lnTo>
                      <a:lnTo>
                        <a:pt x="507597" y="30671"/>
                      </a:lnTo>
                      <a:lnTo>
                        <a:pt x="507597" y="101914"/>
                      </a:lnTo>
                      <a:lnTo>
                        <a:pt x="496643" y="101914"/>
                      </a:lnTo>
                      <a:lnTo>
                        <a:pt x="506063" y="121324"/>
                      </a:lnTo>
                      <a:cubicBezTo>
                        <a:pt x="507728" y="124785"/>
                        <a:pt x="509568" y="128597"/>
                        <a:pt x="511540" y="132584"/>
                      </a:cubicBezTo>
                      <a:lnTo>
                        <a:pt x="549834" y="132584"/>
                      </a:lnTo>
                      <a:lnTo>
                        <a:pt x="549834" y="203827"/>
                      </a:lnTo>
                      <a:lnTo>
                        <a:pt x="546154" y="203827"/>
                      </a:lnTo>
                      <a:cubicBezTo>
                        <a:pt x="559079" y="230379"/>
                        <a:pt x="570559" y="253908"/>
                        <a:pt x="574984" y="262759"/>
                      </a:cubicBezTo>
                      <a:cubicBezTo>
                        <a:pt x="577044" y="266527"/>
                        <a:pt x="578840" y="270382"/>
                        <a:pt x="580549" y="274326"/>
                      </a:cubicBezTo>
                      <a:lnTo>
                        <a:pt x="580549" y="0"/>
                      </a:lnTo>
                      <a:lnTo>
                        <a:pt x="0" y="0"/>
                      </a:lnTo>
                      <a:lnTo>
                        <a:pt x="0" y="336412"/>
                      </a:lnTo>
                      <a:lnTo>
                        <a:pt x="275509" y="336412"/>
                      </a:lnTo>
                      <a:cubicBezTo>
                        <a:pt x="277042" y="325852"/>
                        <a:pt x="279978" y="315512"/>
                        <a:pt x="284140" y="305741"/>
                      </a:cubicBezTo>
                      <a:close/>
                      <a:moveTo>
                        <a:pt x="533886" y="30671"/>
                      </a:moveTo>
                      <a:lnTo>
                        <a:pt x="549834" y="30671"/>
                      </a:lnTo>
                      <a:lnTo>
                        <a:pt x="549834" y="101914"/>
                      </a:lnTo>
                      <a:lnTo>
                        <a:pt x="533886" y="101914"/>
                      </a:lnTo>
                      <a:lnTo>
                        <a:pt x="533886" y="30671"/>
                      </a:lnTo>
                      <a:close/>
                      <a:moveTo>
                        <a:pt x="232132" y="203827"/>
                      </a:moveTo>
                      <a:lnTo>
                        <a:pt x="76063" y="203827"/>
                      </a:lnTo>
                      <a:lnTo>
                        <a:pt x="76063" y="132584"/>
                      </a:lnTo>
                      <a:lnTo>
                        <a:pt x="232132" y="132584"/>
                      </a:lnTo>
                      <a:lnTo>
                        <a:pt x="232132" y="203827"/>
                      </a:lnTo>
                      <a:close/>
                      <a:moveTo>
                        <a:pt x="169170" y="30671"/>
                      </a:moveTo>
                      <a:lnTo>
                        <a:pt x="325239" y="30671"/>
                      </a:lnTo>
                      <a:lnTo>
                        <a:pt x="325239" y="101914"/>
                      </a:lnTo>
                      <a:lnTo>
                        <a:pt x="169170" y="101914"/>
                      </a:lnTo>
                      <a:lnTo>
                        <a:pt x="169170" y="30671"/>
                      </a:lnTo>
                      <a:close/>
                      <a:moveTo>
                        <a:pt x="30671" y="30671"/>
                      </a:moveTo>
                      <a:lnTo>
                        <a:pt x="142881" y="30671"/>
                      </a:lnTo>
                      <a:lnTo>
                        <a:pt x="142881" y="101914"/>
                      </a:lnTo>
                      <a:lnTo>
                        <a:pt x="30671" y="101914"/>
                      </a:lnTo>
                      <a:lnTo>
                        <a:pt x="30671" y="30671"/>
                      </a:lnTo>
                      <a:close/>
                      <a:moveTo>
                        <a:pt x="30671" y="132584"/>
                      </a:moveTo>
                      <a:lnTo>
                        <a:pt x="49774" y="132584"/>
                      </a:lnTo>
                      <a:lnTo>
                        <a:pt x="49774" y="203827"/>
                      </a:lnTo>
                      <a:lnTo>
                        <a:pt x="30671" y="203827"/>
                      </a:lnTo>
                      <a:lnTo>
                        <a:pt x="30671" y="132584"/>
                      </a:lnTo>
                      <a:close/>
                      <a:moveTo>
                        <a:pt x="108092" y="305741"/>
                      </a:moveTo>
                      <a:lnTo>
                        <a:pt x="30671" y="305741"/>
                      </a:lnTo>
                      <a:lnTo>
                        <a:pt x="30671" y="234498"/>
                      </a:lnTo>
                      <a:lnTo>
                        <a:pt x="108092" y="234498"/>
                      </a:lnTo>
                      <a:lnTo>
                        <a:pt x="108092" y="305741"/>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3" name="Freeform: Shape 156">
                  <a:extLst>
                    <a:ext uri="{FF2B5EF4-FFF2-40B4-BE49-F238E27FC236}">
                      <a16:creationId xmlns:a16="http://schemas.microsoft.com/office/drawing/2014/main" id="{E9F188EE-48A2-0366-B229-AE1A81F2B61F}"/>
                    </a:ext>
                  </a:extLst>
                </p:cNvPr>
                <p:cNvSpPr/>
                <p:nvPr/>
              </p:nvSpPr>
              <p:spPr>
                <a:xfrm>
                  <a:off x="3866603" y="2883794"/>
                  <a:ext cx="254911" cy="304952"/>
                </a:xfrm>
                <a:custGeom>
                  <a:avLst/>
                  <a:gdLst>
                    <a:gd name="connsiteX0" fmla="*/ 240819 w 254911"/>
                    <a:gd name="connsiteY0" fmla="*/ 142311 h 304952"/>
                    <a:gd name="connsiteX1" fmla="*/ 171504 w 254911"/>
                    <a:gd name="connsiteY1" fmla="*/ 0 h 304952"/>
                    <a:gd name="connsiteX2" fmla="*/ 113274 w 254911"/>
                    <a:gd name="connsiteY2" fmla="*/ 120710 h 304952"/>
                    <a:gd name="connsiteX3" fmla="*/ 104730 w 254911"/>
                    <a:gd name="connsiteY3" fmla="*/ 126450 h 304952"/>
                    <a:gd name="connsiteX4" fmla="*/ 96186 w 254911"/>
                    <a:gd name="connsiteY4" fmla="*/ 120710 h 304952"/>
                    <a:gd name="connsiteX5" fmla="*/ 66786 w 254911"/>
                    <a:gd name="connsiteY5" fmla="*/ 61078 h 304952"/>
                    <a:gd name="connsiteX6" fmla="*/ 11404 w 254911"/>
                    <a:gd name="connsiteY6" fmla="*/ 174822 h 304952"/>
                    <a:gd name="connsiteX7" fmla="*/ 12 w 254911"/>
                    <a:gd name="connsiteY7" fmla="*/ 221485 h 304952"/>
                    <a:gd name="connsiteX8" fmla="*/ 66392 w 254911"/>
                    <a:gd name="connsiteY8" fmla="*/ 304952 h 304952"/>
                    <a:gd name="connsiteX9" fmla="*/ 102802 w 254911"/>
                    <a:gd name="connsiteY9" fmla="*/ 304952 h 304952"/>
                    <a:gd name="connsiteX10" fmla="*/ 75549 w 254911"/>
                    <a:gd name="connsiteY10" fmla="*/ 196116 h 304952"/>
                    <a:gd name="connsiteX11" fmla="*/ 115070 w 254911"/>
                    <a:gd name="connsiteY11" fmla="*/ 225341 h 304952"/>
                    <a:gd name="connsiteX12" fmla="*/ 169007 w 254911"/>
                    <a:gd name="connsiteY12" fmla="*/ 140953 h 304952"/>
                    <a:gd name="connsiteX13" fmla="*/ 169007 w 254911"/>
                    <a:gd name="connsiteY13" fmla="*/ 139200 h 304952"/>
                    <a:gd name="connsiteX14" fmla="*/ 164581 w 254911"/>
                    <a:gd name="connsiteY14" fmla="*/ 304952 h 304952"/>
                    <a:gd name="connsiteX15" fmla="*/ 171373 w 254911"/>
                    <a:gd name="connsiteY15" fmla="*/ 304952 h 304952"/>
                    <a:gd name="connsiteX16" fmla="*/ 254884 w 254911"/>
                    <a:gd name="connsiteY16" fmla="*/ 200848 h 304952"/>
                    <a:gd name="connsiteX17" fmla="*/ 240776 w 254911"/>
                    <a:gd name="connsiteY17" fmla="*/ 142355 h 30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4911" h="304952">
                      <a:moveTo>
                        <a:pt x="240819" y="142311"/>
                      </a:moveTo>
                      <a:cubicBezTo>
                        <a:pt x="231794" y="124259"/>
                        <a:pt x="189731" y="37637"/>
                        <a:pt x="171504" y="0"/>
                      </a:cubicBezTo>
                      <a:lnTo>
                        <a:pt x="113274" y="120710"/>
                      </a:lnTo>
                      <a:cubicBezTo>
                        <a:pt x="111521" y="124259"/>
                        <a:pt x="108279" y="126450"/>
                        <a:pt x="104730" y="126450"/>
                      </a:cubicBezTo>
                      <a:cubicBezTo>
                        <a:pt x="101181" y="126450"/>
                        <a:pt x="97939" y="124259"/>
                        <a:pt x="96186" y="120710"/>
                      </a:cubicBezTo>
                      <a:lnTo>
                        <a:pt x="66786" y="61078"/>
                      </a:lnTo>
                      <a:cubicBezTo>
                        <a:pt x="51101" y="93370"/>
                        <a:pt x="18546" y="160231"/>
                        <a:pt x="11404" y="174822"/>
                      </a:cubicBezTo>
                      <a:cubicBezTo>
                        <a:pt x="3736" y="188755"/>
                        <a:pt x="-251" y="204967"/>
                        <a:pt x="12" y="221485"/>
                      </a:cubicBezTo>
                      <a:cubicBezTo>
                        <a:pt x="12" y="267228"/>
                        <a:pt x="30683" y="304952"/>
                        <a:pt x="66392" y="304952"/>
                      </a:cubicBezTo>
                      <a:lnTo>
                        <a:pt x="102802" y="304952"/>
                      </a:lnTo>
                      <a:cubicBezTo>
                        <a:pt x="62142" y="268060"/>
                        <a:pt x="66567" y="213072"/>
                        <a:pt x="75549" y="196116"/>
                      </a:cubicBezTo>
                      <a:cubicBezTo>
                        <a:pt x="75549" y="196116"/>
                        <a:pt x="95704" y="224990"/>
                        <a:pt x="115070" y="225341"/>
                      </a:cubicBezTo>
                      <a:cubicBezTo>
                        <a:pt x="142367" y="225823"/>
                        <a:pt x="156213" y="197869"/>
                        <a:pt x="169007" y="140953"/>
                      </a:cubicBezTo>
                      <a:lnTo>
                        <a:pt x="169007" y="139200"/>
                      </a:lnTo>
                      <a:cubicBezTo>
                        <a:pt x="193061" y="157471"/>
                        <a:pt x="220139" y="242297"/>
                        <a:pt x="164581" y="304952"/>
                      </a:cubicBezTo>
                      <a:lnTo>
                        <a:pt x="171373" y="304952"/>
                      </a:lnTo>
                      <a:cubicBezTo>
                        <a:pt x="217466" y="304952"/>
                        <a:pt x="254884" y="258289"/>
                        <a:pt x="254884" y="200848"/>
                      </a:cubicBezTo>
                      <a:cubicBezTo>
                        <a:pt x="255322" y="180167"/>
                        <a:pt x="250415" y="159793"/>
                        <a:pt x="240776" y="142355"/>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nvGrpSpPr>
            <p:cNvPr id="133" name="Group 132">
              <a:extLst>
                <a:ext uri="{FF2B5EF4-FFF2-40B4-BE49-F238E27FC236}">
                  <a16:creationId xmlns:a16="http://schemas.microsoft.com/office/drawing/2014/main" id="{263FC37D-DE71-3121-4503-976DEDF7E548}"/>
                </a:ext>
              </a:extLst>
            </p:cNvPr>
            <p:cNvGrpSpPr>
              <a:grpSpLocks noChangeAspect="1"/>
            </p:cNvGrpSpPr>
            <p:nvPr/>
          </p:nvGrpSpPr>
          <p:grpSpPr>
            <a:xfrm>
              <a:off x="4155074" y="1951839"/>
              <a:ext cx="457202" cy="457200"/>
              <a:chOff x="4686723" y="1587682"/>
              <a:chExt cx="547621" cy="547619"/>
            </a:xfrm>
          </p:grpSpPr>
          <p:sp>
            <p:nvSpPr>
              <p:cNvPr id="171" name="Oval 170">
                <a:extLst>
                  <a:ext uri="{FF2B5EF4-FFF2-40B4-BE49-F238E27FC236}">
                    <a16:creationId xmlns:a16="http://schemas.microsoft.com/office/drawing/2014/main" id="{0496C2A1-CF48-5920-8BC2-4481CF85749C}"/>
                  </a:ext>
                </a:extLst>
              </p:cNvPr>
              <p:cNvSpPr>
                <a:spLocks noChangeAspect="1"/>
              </p:cNvSpPr>
              <p:nvPr/>
            </p:nvSpPr>
            <p:spPr>
              <a:xfrm>
                <a:off x="4686723" y="1587682"/>
                <a:ext cx="547621" cy="547619"/>
              </a:xfrm>
              <a:prstGeom prst="ellipse">
                <a:avLst/>
              </a:prstGeom>
              <a:solidFill>
                <a:schemeClr val="accent4"/>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72" name="Google Shape;3149;p83">
                <a:extLst>
                  <a:ext uri="{FF2B5EF4-FFF2-40B4-BE49-F238E27FC236}">
                    <a16:creationId xmlns:a16="http://schemas.microsoft.com/office/drawing/2014/main" id="{4AAD9219-FF4D-78A9-6954-A066B1BCD6B9}"/>
                  </a:ext>
                </a:extLst>
              </p:cNvPr>
              <p:cNvSpPr>
                <a:spLocks noChangeAspect="1"/>
              </p:cNvSpPr>
              <p:nvPr/>
            </p:nvSpPr>
            <p:spPr>
              <a:xfrm>
                <a:off x="4775072" y="1678710"/>
                <a:ext cx="365562" cy="365562"/>
              </a:xfrm>
              <a:custGeom>
                <a:avLst/>
                <a:gdLst/>
                <a:ahLst/>
                <a:cxnLst/>
                <a:rect l="l" t="t" r="r" b="b"/>
                <a:pathLst>
                  <a:path w="584492" h="584492" extrusionOk="0">
                    <a:moveTo>
                      <a:pt x="292246" y="0"/>
                    </a:moveTo>
                    <a:cubicBezTo>
                      <a:pt x="130832" y="0"/>
                      <a:pt x="0" y="130832"/>
                      <a:pt x="0" y="292246"/>
                    </a:cubicBezTo>
                    <a:cubicBezTo>
                      <a:pt x="0" y="453661"/>
                      <a:pt x="130832" y="584492"/>
                      <a:pt x="292246" y="584492"/>
                    </a:cubicBezTo>
                    <a:cubicBezTo>
                      <a:pt x="453661" y="584492"/>
                      <a:pt x="584492" y="453661"/>
                      <a:pt x="584492" y="292246"/>
                    </a:cubicBezTo>
                    <a:cubicBezTo>
                      <a:pt x="584492" y="130832"/>
                      <a:pt x="453617" y="0"/>
                      <a:pt x="292246" y="0"/>
                    </a:cubicBezTo>
                    <a:close/>
                    <a:moveTo>
                      <a:pt x="172982" y="333520"/>
                    </a:moveTo>
                    <a:lnTo>
                      <a:pt x="172982" y="307581"/>
                    </a:lnTo>
                    <a:lnTo>
                      <a:pt x="59895" y="307581"/>
                    </a:lnTo>
                    <a:lnTo>
                      <a:pt x="59895" y="276911"/>
                    </a:lnTo>
                    <a:lnTo>
                      <a:pt x="172982" y="276911"/>
                    </a:lnTo>
                    <a:lnTo>
                      <a:pt x="172982" y="250972"/>
                    </a:lnTo>
                    <a:lnTo>
                      <a:pt x="244488" y="292246"/>
                    </a:lnTo>
                    <a:lnTo>
                      <a:pt x="172982" y="333520"/>
                    </a:lnTo>
                    <a:close/>
                    <a:moveTo>
                      <a:pt x="292246" y="519646"/>
                    </a:moveTo>
                    <a:lnTo>
                      <a:pt x="250972" y="448140"/>
                    </a:lnTo>
                    <a:lnTo>
                      <a:pt x="276911" y="448140"/>
                    </a:lnTo>
                    <a:lnTo>
                      <a:pt x="276911" y="335053"/>
                    </a:lnTo>
                    <a:lnTo>
                      <a:pt x="307581" y="335053"/>
                    </a:lnTo>
                    <a:lnTo>
                      <a:pt x="307581" y="448140"/>
                    </a:lnTo>
                    <a:lnTo>
                      <a:pt x="333520" y="448140"/>
                    </a:lnTo>
                    <a:lnTo>
                      <a:pt x="292246" y="519646"/>
                    </a:lnTo>
                    <a:close/>
                    <a:moveTo>
                      <a:pt x="307581" y="136352"/>
                    </a:moveTo>
                    <a:lnTo>
                      <a:pt x="307581" y="249439"/>
                    </a:lnTo>
                    <a:lnTo>
                      <a:pt x="276911" y="249439"/>
                    </a:lnTo>
                    <a:lnTo>
                      <a:pt x="276911" y="136352"/>
                    </a:lnTo>
                    <a:lnTo>
                      <a:pt x="250972" y="136352"/>
                    </a:lnTo>
                    <a:lnTo>
                      <a:pt x="292246" y="64846"/>
                    </a:lnTo>
                    <a:lnTo>
                      <a:pt x="333520" y="136352"/>
                    </a:lnTo>
                    <a:lnTo>
                      <a:pt x="307581" y="136352"/>
                    </a:lnTo>
                    <a:close/>
                    <a:moveTo>
                      <a:pt x="411511" y="307581"/>
                    </a:moveTo>
                    <a:lnTo>
                      <a:pt x="411511" y="333520"/>
                    </a:lnTo>
                    <a:lnTo>
                      <a:pt x="340004" y="292246"/>
                    </a:lnTo>
                    <a:lnTo>
                      <a:pt x="411511" y="250972"/>
                    </a:lnTo>
                    <a:lnTo>
                      <a:pt x="411511" y="276911"/>
                    </a:lnTo>
                    <a:lnTo>
                      <a:pt x="524597" y="276911"/>
                    </a:lnTo>
                    <a:lnTo>
                      <a:pt x="524597" y="307581"/>
                    </a:lnTo>
                    <a:lnTo>
                      <a:pt x="411511" y="307581"/>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mn-ea"/>
                  <a:cs typeface="+mn-cs"/>
                  <a:sym typeface="Arial"/>
                </a:endParaRPr>
              </a:p>
            </p:txBody>
          </p:sp>
        </p:grpSp>
        <p:grpSp>
          <p:nvGrpSpPr>
            <p:cNvPr id="134" name="Group 133">
              <a:extLst>
                <a:ext uri="{FF2B5EF4-FFF2-40B4-BE49-F238E27FC236}">
                  <a16:creationId xmlns:a16="http://schemas.microsoft.com/office/drawing/2014/main" id="{65027EE0-B362-3594-889D-68B62CAA49BB}"/>
                </a:ext>
              </a:extLst>
            </p:cNvPr>
            <p:cNvGrpSpPr>
              <a:grpSpLocks noChangeAspect="1"/>
            </p:cNvGrpSpPr>
            <p:nvPr/>
          </p:nvGrpSpPr>
          <p:grpSpPr>
            <a:xfrm>
              <a:off x="3351070" y="1951839"/>
              <a:ext cx="457202" cy="457200"/>
              <a:chOff x="5341314" y="5151711"/>
              <a:chExt cx="547621" cy="547619"/>
            </a:xfrm>
          </p:grpSpPr>
          <p:sp>
            <p:nvSpPr>
              <p:cNvPr id="145" name="Oval 144">
                <a:extLst>
                  <a:ext uri="{FF2B5EF4-FFF2-40B4-BE49-F238E27FC236}">
                    <a16:creationId xmlns:a16="http://schemas.microsoft.com/office/drawing/2014/main" id="{F0D9F6A2-0EE4-0975-6C82-E01B35C509B2}"/>
                  </a:ext>
                </a:extLst>
              </p:cNvPr>
              <p:cNvSpPr>
                <a:spLocks noChangeAspect="1"/>
              </p:cNvSpPr>
              <p:nvPr/>
            </p:nvSpPr>
            <p:spPr>
              <a:xfrm>
                <a:off x="5341314" y="5151711"/>
                <a:ext cx="547621" cy="547619"/>
              </a:xfrm>
              <a:prstGeom prst="ellipse">
                <a:avLst/>
              </a:prstGeom>
              <a:solidFill>
                <a:schemeClr val="accent4"/>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46" name="Group 145">
                <a:extLst>
                  <a:ext uri="{FF2B5EF4-FFF2-40B4-BE49-F238E27FC236}">
                    <a16:creationId xmlns:a16="http://schemas.microsoft.com/office/drawing/2014/main" id="{DD55E297-B6C8-6934-6AFB-355B91D87988}"/>
                  </a:ext>
                </a:extLst>
              </p:cNvPr>
              <p:cNvGrpSpPr/>
              <p:nvPr/>
            </p:nvGrpSpPr>
            <p:grpSpPr>
              <a:xfrm>
                <a:off x="5475978" y="5286375"/>
                <a:ext cx="278292" cy="278290"/>
                <a:chOff x="7453826" y="4235509"/>
                <a:chExt cx="199845" cy="199844"/>
              </a:xfrm>
              <a:solidFill>
                <a:schemeClr val="bg1"/>
              </a:solidFill>
            </p:grpSpPr>
            <p:sp>
              <p:nvSpPr>
                <p:cNvPr id="147" name="Freeform: Shape 110">
                  <a:extLst>
                    <a:ext uri="{FF2B5EF4-FFF2-40B4-BE49-F238E27FC236}">
                      <a16:creationId xmlns:a16="http://schemas.microsoft.com/office/drawing/2014/main" id="{F7195824-80A7-6943-B825-C734C602506F}"/>
                    </a:ext>
                  </a:extLst>
                </p:cNvPr>
                <p:cNvSpPr/>
                <p:nvPr/>
              </p:nvSpPr>
              <p:spPr>
                <a:xfrm>
                  <a:off x="7453826" y="4235509"/>
                  <a:ext cx="199845" cy="199844"/>
                </a:xfrm>
                <a:custGeom>
                  <a:avLst/>
                  <a:gdLst>
                    <a:gd name="connsiteX0" fmla="*/ 539067 w 539067"/>
                    <a:gd name="connsiteY0" fmla="*/ 539067 h 539067"/>
                    <a:gd name="connsiteX1" fmla="*/ 366846 w 539067"/>
                    <a:gd name="connsiteY1" fmla="*/ 539067 h 539067"/>
                    <a:gd name="connsiteX2" fmla="*/ 366846 w 539067"/>
                    <a:gd name="connsiteY2" fmla="*/ 511064 h 539067"/>
                    <a:gd name="connsiteX3" fmla="*/ 511064 w 539067"/>
                    <a:gd name="connsiteY3" fmla="*/ 511064 h 539067"/>
                    <a:gd name="connsiteX4" fmla="*/ 511064 w 539067"/>
                    <a:gd name="connsiteY4" fmla="*/ 28004 h 539067"/>
                    <a:gd name="connsiteX5" fmla="*/ 28004 w 539067"/>
                    <a:gd name="connsiteY5" fmla="*/ 28004 h 539067"/>
                    <a:gd name="connsiteX6" fmla="*/ 28004 w 539067"/>
                    <a:gd name="connsiteY6" fmla="*/ 511064 h 539067"/>
                    <a:gd name="connsiteX7" fmla="*/ 173462 w 539067"/>
                    <a:gd name="connsiteY7" fmla="*/ 511064 h 539067"/>
                    <a:gd name="connsiteX8" fmla="*/ 173462 w 539067"/>
                    <a:gd name="connsiteY8" fmla="*/ 539067 h 539067"/>
                    <a:gd name="connsiteX9" fmla="*/ 0 w 539067"/>
                    <a:gd name="connsiteY9" fmla="*/ 539067 h 539067"/>
                    <a:gd name="connsiteX10" fmla="*/ 0 w 539067"/>
                    <a:gd name="connsiteY10" fmla="*/ 0 h 539067"/>
                    <a:gd name="connsiteX11" fmla="*/ 539067 w 539067"/>
                    <a:gd name="connsiteY11" fmla="*/ 0 h 539067"/>
                    <a:gd name="connsiteX12" fmla="*/ 539067 w 539067"/>
                    <a:gd name="connsiteY12" fmla="*/ 539067 h 53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067" h="539067">
                      <a:moveTo>
                        <a:pt x="539067" y="539067"/>
                      </a:moveTo>
                      <a:lnTo>
                        <a:pt x="366846" y="539067"/>
                      </a:lnTo>
                      <a:lnTo>
                        <a:pt x="366846" y="511064"/>
                      </a:lnTo>
                      <a:lnTo>
                        <a:pt x="511064" y="511064"/>
                      </a:lnTo>
                      <a:lnTo>
                        <a:pt x="511064" y="28004"/>
                      </a:lnTo>
                      <a:lnTo>
                        <a:pt x="28004" y="28004"/>
                      </a:lnTo>
                      <a:lnTo>
                        <a:pt x="28004" y="511064"/>
                      </a:lnTo>
                      <a:lnTo>
                        <a:pt x="173462" y="511064"/>
                      </a:lnTo>
                      <a:lnTo>
                        <a:pt x="173462" y="539067"/>
                      </a:lnTo>
                      <a:lnTo>
                        <a:pt x="0" y="539067"/>
                      </a:lnTo>
                      <a:lnTo>
                        <a:pt x="0" y="0"/>
                      </a:lnTo>
                      <a:lnTo>
                        <a:pt x="539067" y="0"/>
                      </a:lnTo>
                      <a:lnTo>
                        <a:pt x="539067" y="539067"/>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8" name="Freeform: Shape 115">
                  <a:extLst>
                    <a:ext uri="{FF2B5EF4-FFF2-40B4-BE49-F238E27FC236}">
                      <a16:creationId xmlns:a16="http://schemas.microsoft.com/office/drawing/2014/main" id="{3EE347DD-28BA-473A-B27D-CD1E2BF31C87}"/>
                    </a:ext>
                  </a:extLst>
                </p:cNvPr>
                <p:cNvSpPr/>
                <p:nvPr/>
              </p:nvSpPr>
              <p:spPr>
                <a:xfrm>
                  <a:off x="7491571" y="4315610"/>
                  <a:ext cx="51745" cy="27941"/>
                </a:xfrm>
                <a:custGeom>
                  <a:avLst/>
                  <a:gdLst>
                    <a:gd name="connsiteX0" fmla="*/ 74289 w 139577"/>
                    <a:gd name="connsiteY0" fmla="*/ 23683 h 75369"/>
                    <a:gd name="connsiteX1" fmla="*/ 0 w 139577"/>
                    <a:gd name="connsiteY1" fmla="*/ 23683 h 75369"/>
                    <a:gd name="connsiteX2" fmla="*/ 0 w 139577"/>
                    <a:gd name="connsiteY2" fmla="*/ 51686 h 75369"/>
                    <a:gd name="connsiteX3" fmla="*/ 74289 w 139577"/>
                    <a:gd name="connsiteY3" fmla="*/ 51686 h 75369"/>
                    <a:gd name="connsiteX4" fmla="*/ 74289 w 139577"/>
                    <a:gd name="connsiteY4" fmla="*/ 75369 h 75369"/>
                    <a:gd name="connsiteX5" fmla="*/ 139577 w 139577"/>
                    <a:gd name="connsiteY5" fmla="*/ 37685 h 75369"/>
                    <a:gd name="connsiteX6" fmla="*/ 74289 w 139577"/>
                    <a:gd name="connsiteY6" fmla="*/ 0 h 75369"/>
                    <a:gd name="connsiteX7" fmla="*/ 74289 w 139577"/>
                    <a:gd name="connsiteY7" fmla="*/ 23683 h 7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369">
                      <a:moveTo>
                        <a:pt x="74289" y="23683"/>
                      </a:moveTo>
                      <a:lnTo>
                        <a:pt x="0" y="23683"/>
                      </a:lnTo>
                      <a:lnTo>
                        <a:pt x="0" y="51686"/>
                      </a:lnTo>
                      <a:lnTo>
                        <a:pt x="74289" y="51686"/>
                      </a:lnTo>
                      <a:lnTo>
                        <a:pt x="74289" y="7536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9" name="Freeform: Shape 116">
                  <a:extLst>
                    <a:ext uri="{FF2B5EF4-FFF2-40B4-BE49-F238E27FC236}">
                      <a16:creationId xmlns:a16="http://schemas.microsoft.com/office/drawing/2014/main" id="{8EA6B4D7-E302-101F-DAC8-09077A17EE60}"/>
                    </a:ext>
                  </a:extLst>
                </p:cNvPr>
                <p:cNvSpPr/>
                <p:nvPr/>
              </p:nvSpPr>
              <p:spPr>
                <a:xfrm>
                  <a:off x="7550583" y="4276590"/>
                  <a:ext cx="71247" cy="108695"/>
                </a:xfrm>
                <a:custGeom>
                  <a:avLst/>
                  <a:gdLst>
                    <a:gd name="connsiteX0" fmla="*/ 192184 w 192184"/>
                    <a:gd name="connsiteY0" fmla="*/ 142938 h 293196"/>
                    <a:gd name="connsiteX1" fmla="*/ 126896 w 192184"/>
                    <a:gd name="connsiteY1" fmla="*/ 105253 h 293196"/>
                    <a:gd name="connsiteX2" fmla="*/ 126896 w 192184"/>
                    <a:gd name="connsiteY2" fmla="*/ 128936 h 293196"/>
                    <a:gd name="connsiteX3" fmla="*/ 104973 w 192184"/>
                    <a:gd name="connsiteY3" fmla="*/ 128936 h 293196"/>
                    <a:gd name="connsiteX4" fmla="*/ 104973 w 192184"/>
                    <a:gd name="connsiteY4" fmla="*/ 0 h 293196"/>
                    <a:gd name="connsiteX5" fmla="*/ 0 w 192184"/>
                    <a:gd name="connsiteY5" fmla="*/ 0 h 293196"/>
                    <a:gd name="connsiteX6" fmla="*/ 0 w 192184"/>
                    <a:gd name="connsiteY6" fmla="*/ 28004 h 293196"/>
                    <a:gd name="connsiteX7" fmla="*/ 76970 w 192184"/>
                    <a:gd name="connsiteY7" fmla="*/ 28004 h 293196"/>
                    <a:gd name="connsiteX8" fmla="*/ 76970 w 192184"/>
                    <a:gd name="connsiteY8" fmla="*/ 128936 h 293196"/>
                    <a:gd name="connsiteX9" fmla="*/ 22123 w 192184"/>
                    <a:gd name="connsiteY9" fmla="*/ 128936 h 293196"/>
                    <a:gd name="connsiteX10" fmla="*/ 22123 w 192184"/>
                    <a:gd name="connsiteY10" fmla="*/ 156940 h 293196"/>
                    <a:gd name="connsiteX11" fmla="*/ 76970 w 192184"/>
                    <a:gd name="connsiteY11" fmla="*/ 156940 h 293196"/>
                    <a:gd name="connsiteX12" fmla="*/ 76970 w 192184"/>
                    <a:gd name="connsiteY12" fmla="*/ 265193 h 293196"/>
                    <a:gd name="connsiteX13" fmla="*/ 0 w 192184"/>
                    <a:gd name="connsiteY13" fmla="*/ 265193 h 293196"/>
                    <a:gd name="connsiteX14" fmla="*/ 0 w 192184"/>
                    <a:gd name="connsiteY14" fmla="*/ 293197 h 293196"/>
                    <a:gd name="connsiteX15" fmla="*/ 104973 w 192184"/>
                    <a:gd name="connsiteY15" fmla="*/ 293197 h 293196"/>
                    <a:gd name="connsiteX16" fmla="*/ 104973 w 192184"/>
                    <a:gd name="connsiteY16" fmla="*/ 156940 h 293196"/>
                    <a:gd name="connsiteX17" fmla="*/ 126896 w 192184"/>
                    <a:gd name="connsiteY17" fmla="*/ 156940 h 293196"/>
                    <a:gd name="connsiteX18" fmla="*/ 126896 w 192184"/>
                    <a:gd name="connsiteY18" fmla="*/ 180623 h 293196"/>
                    <a:gd name="connsiteX19" fmla="*/ 192184 w 192184"/>
                    <a:gd name="connsiteY19" fmla="*/ 142938 h 2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2184" h="293196">
                      <a:moveTo>
                        <a:pt x="192184" y="142938"/>
                      </a:moveTo>
                      <a:lnTo>
                        <a:pt x="126896" y="105253"/>
                      </a:lnTo>
                      <a:lnTo>
                        <a:pt x="126896" y="128936"/>
                      </a:lnTo>
                      <a:lnTo>
                        <a:pt x="104973" y="128936"/>
                      </a:lnTo>
                      <a:lnTo>
                        <a:pt x="104973" y="0"/>
                      </a:lnTo>
                      <a:lnTo>
                        <a:pt x="0" y="0"/>
                      </a:lnTo>
                      <a:lnTo>
                        <a:pt x="0" y="28004"/>
                      </a:lnTo>
                      <a:lnTo>
                        <a:pt x="76970" y="28004"/>
                      </a:lnTo>
                      <a:lnTo>
                        <a:pt x="76970" y="128936"/>
                      </a:lnTo>
                      <a:lnTo>
                        <a:pt x="22123" y="128936"/>
                      </a:lnTo>
                      <a:lnTo>
                        <a:pt x="22123" y="156940"/>
                      </a:lnTo>
                      <a:lnTo>
                        <a:pt x="76970" y="156940"/>
                      </a:lnTo>
                      <a:lnTo>
                        <a:pt x="76970" y="265193"/>
                      </a:lnTo>
                      <a:lnTo>
                        <a:pt x="0" y="265193"/>
                      </a:lnTo>
                      <a:lnTo>
                        <a:pt x="0" y="293197"/>
                      </a:lnTo>
                      <a:lnTo>
                        <a:pt x="104973" y="293197"/>
                      </a:lnTo>
                      <a:lnTo>
                        <a:pt x="104973" y="156940"/>
                      </a:lnTo>
                      <a:lnTo>
                        <a:pt x="126896" y="156940"/>
                      </a:lnTo>
                      <a:lnTo>
                        <a:pt x="126896" y="180623"/>
                      </a:lnTo>
                      <a:lnTo>
                        <a:pt x="192184" y="142938"/>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0" name="Freeform: Shape 124">
                  <a:extLst>
                    <a:ext uri="{FF2B5EF4-FFF2-40B4-BE49-F238E27FC236}">
                      <a16:creationId xmlns:a16="http://schemas.microsoft.com/office/drawing/2014/main" id="{E6EE4BA9-B518-2D4C-FEBD-7051ECE4F331}"/>
                    </a:ext>
                  </a:extLst>
                </p:cNvPr>
                <p:cNvSpPr/>
                <p:nvPr/>
              </p:nvSpPr>
              <p:spPr>
                <a:xfrm>
                  <a:off x="7491571" y="4266446"/>
                  <a:ext cx="51745" cy="27956"/>
                </a:xfrm>
                <a:custGeom>
                  <a:avLst/>
                  <a:gdLst>
                    <a:gd name="connsiteX0" fmla="*/ 74289 w 139577"/>
                    <a:gd name="connsiteY0" fmla="*/ 23723 h 75409"/>
                    <a:gd name="connsiteX1" fmla="*/ 0 w 139577"/>
                    <a:gd name="connsiteY1" fmla="*/ 23723 h 75409"/>
                    <a:gd name="connsiteX2" fmla="*/ 0 w 139577"/>
                    <a:gd name="connsiteY2" fmla="*/ 51726 h 75409"/>
                    <a:gd name="connsiteX3" fmla="*/ 74289 w 139577"/>
                    <a:gd name="connsiteY3" fmla="*/ 51726 h 75409"/>
                    <a:gd name="connsiteX4" fmla="*/ 74289 w 139577"/>
                    <a:gd name="connsiteY4" fmla="*/ 75409 h 75409"/>
                    <a:gd name="connsiteX5" fmla="*/ 139577 w 139577"/>
                    <a:gd name="connsiteY5" fmla="*/ 37725 h 75409"/>
                    <a:gd name="connsiteX6" fmla="*/ 74289 w 139577"/>
                    <a:gd name="connsiteY6" fmla="*/ 0 h 75409"/>
                    <a:gd name="connsiteX7" fmla="*/ 74289 w 139577"/>
                    <a:gd name="connsiteY7" fmla="*/ 2372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723"/>
                      </a:moveTo>
                      <a:lnTo>
                        <a:pt x="0" y="23723"/>
                      </a:lnTo>
                      <a:lnTo>
                        <a:pt x="0" y="51726"/>
                      </a:lnTo>
                      <a:lnTo>
                        <a:pt x="74289" y="51726"/>
                      </a:lnTo>
                      <a:lnTo>
                        <a:pt x="74289" y="75409"/>
                      </a:lnTo>
                      <a:lnTo>
                        <a:pt x="139577" y="37725"/>
                      </a:lnTo>
                      <a:lnTo>
                        <a:pt x="74289" y="0"/>
                      </a:lnTo>
                      <a:lnTo>
                        <a:pt x="74289" y="2372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0" name="Freeform: Shape 170">
                  <a:extLst>
                    <a:ext uri="{FF2B5EF4-FFF2-40B4-BE49-F238E27FC236}">
                      <a16:creationId xmlns:a16="http://schemas.microsoft.com/office/drawing/2014/main" id="{585AFB33-4733-C87F-6FEC-E9B102D8DC14}"/>
                    </a:ext>
                  </a:extLst>
                </p:cNvPr>
                <p:cNvSpPr/>
                <p:nvPr/>
              </p:nvSpPr>
              <p:spPr>
                <a:xfrm>
                  <a:off x="7491571" y="4364759"/>
                  <a:ext cx="51745" cy="27956"/>
                </a:xfrm>
                <a:custGeom>
                  <a:avLst/>
                  <a:gdLst>
                    <a:gd name="connsiteX0" fmla="*/ 74289 w 139577"/>
                    <a:gd name="connsiteY0" fmla="*/ 23683 h 75409"/>
                    <a:gd name="connsiteX1" fmla="*/ 0 w 139577"/>
                    <a:gd name="connsiteY1" fmla="*/ 23683 h 75409"/>
                    <a:gd name="connsiteX2" fmla="*/ 0 w 139577"/>
                    <a:gd name="connsiteY2" fmla="*/ 51686 h 75409"/>
                    <a:gd name="connsiteX3" fmla="*/ 74289 w 139577"/>
                    <a:gd name="connsiteY3" fmla="*/ 51686 h 75409"/>
                    <a:gd name="connsiteX4" fmla="*/ 74289 w 139577"/>
                    <a:gd name="connsiteY4" fmla="*/ 75409 h 75409"/>
                    <a:gd name="connsiteX5" fmla="*/ 139577 w 139577"/>
                    <a:gd name="connsiteY5" fmla="*/ 37685 h 75409"/>
                    <a:gd name="connsiteX6" fmla="*/ 74289 w 139577"/>
                    <a:gd name="connsiteY6" fmla="*/ 0 h 75409"/>
                    <a:gd name="connsiteX7" fmla="*/ 74289 w 139577"/>
                    <a:gd name="connsiteY7" fmla="*/ 23683 h 7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77" h="75409">
                      <a:moveTo>
                        <a:pt x="74289" y="23683"/>
                      </a:moveTo>
                      <a:lnTo>
                        <a:pt x="0" y="23683"/>
                      </a:lnTo>
                      <a:lnTo>
                        <a:pt x="0" y="51686"/>
                      </a:lnTo>
                      <a:lnTo>
                        <a:pt x="74289" y="51686"/>
                      </a:lnTo>
                      <a:lnTo>
                        <a:pt x="74289" y="75409"/>
                      </a:lnTo>
                      <a:lnTo>
                        <a:pt x="139577" y="37685"/>
                      </a:lnTo>
                      <a:lnTo>
                        <a:pt x="74289" y="0"/>
                      </a:lnTo>
                      <a:lnTo>
                        <a:pt x="74289" y="23683"/>
                      </a:ln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grpSp>
          <p:nvGrpSpPr>
            <p:cNvPr id="135" name="Group 134">
              <a:extLst>
                <a:ext uri="{FF2B5EF4-FFF2-40B4-BE49-F238E27FC236}">
                  <a16:creationId xmlns:a16="http://schemas.microsoft.com/office/drawing/2014/main" id="{A5F0ECC6-6BFD-0379-DB7E-5FA62C0C74A0}"/>
                </a:ext>
              </a:extLst>
            </p:cNvPr>
            <p:cNvGrpSpPr/>
            <p:nvPr/>
          </p:nvGrpSpPr>
          <p:grpSpPr>
            <a:xfrm>
              <a:off x="4959077" y="1951839"/>
              <a:ext cx="457202" cy="457200"/>
              <a:chOff x="4637608" y="1958564"/>
              <a:chExt cx="457202" cy="457200"/>
            </a:xfrm>
          </p:grpSpPr>
          <p:sp>
            <p:nvSpPr>
              <p:cNvPr id="143" name="Oval 142">
                <a:extLst>
                  <a:ext uri="{FF2B5EF4-FFF2-40B4-BE49-F238E27FC236}">
                    <a16:creationId xmlns:a16="http://schemas.microsoft.com/office/drawing/2014/main" id="{19791819-024E-B2B1-2000-1DB4F64F7DDA}"/>
                  </a:ext>
                </a:extLst>
              </p:cNvPr>
              <p:cNvSpPr>
                <a:spLocks noChangeAspect="1"/>
              </p:cNvSpPr>
              <p:nvPr/>
            </p:nvSpPr>
            <p:spPr>
              <a:xfrm>
                <a:off x="4637608" y="1958564"/>
                <a:ext cx="457202" cy="457200"/>
              </a:xfrm>
              <a:prstGeom prst="ellipse">
                <a:avLst/>
              </a:prstGeom>
              <a:solidFill>
                <a:schemeClr val="accent3"/>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44" name="Graphic 249">
                <a:extLst>
                  <a:ext uri="{FF2B5EF4-FFF2-40B4-BE49-F238E27FC236}">
                    <a16:creationId xmlns:a16="http://schemas.microsoft.com/office/drawing/2014/main" id="{7A118C4C-3674-29FE-C3F7-2DA8D3001069}"/>
                  </a:ext>
                </a:extLst>
              </p:cNvPr>
              <p:cNvSpPr/>
              <p:nvPr/>
            </p:nvSpPr>
            <p:spPr>
              <a:xfrm>
                <a:off x="4718148" y="2085390"/>
                <a:ext cx="300966" cy="206048"/>
              </a:xfrm>
              <a:custGeom>
                <a:avLst/>
                <a:gdLst>
                  <a:gd name="connsiteX0" fmla="*/ 515311 w 594328"/>
                  <a:gd name="connsiteY0" fmla="*/ 344910 h 406891"/>
                  <a:gd name="connsiteX1" fmla="*/ 470272 w 594328"/>
                  <a:gd name="connsiteY1" fmla="*/ 344910 h 406891"/>
                  <a:gd name="connsiteX2" fmla="*/ 328808 w 594328"/>
                  <a:gd name="connsiteY2" fmla="*/ 203446 h 406891"/>
                  <a:gd name="connsiteX3" fmla="*/ 470272 w 594328"/>
                  <a:gd name="connsiteY3" fmla="*/ 61934 h 406891"/>
                  <a:gd name="connsiteX4" fmla="*/ 515311 w 594328"/>
                  <a:gd name="connsiteY4" fmla="*/ 61934 h 406891"/>
                  <a:gd name="connsiteX5" fmla="*/ 515311 w 594328"/>
                  <a:gd name="connsiteY5" fmla="*/ 91245 h 406891"/>
                  <a:gd name="connsiteX6" fmla="*/ 594328 w 594328"/>
                  <a:gd name="connsiteY6" fmla="*/ 45599 h 406891"/>
                  <a:gd name="connsiteX7" fmla="*/ 515311 w 594328"/>
                  <a:gd name="connsiteY7" fmla="*/ 0 h 406891"/>
                  <a:gd name="connsiteX8" fmla="*/ 515311 w 594328"/>
                  <a:gd name="connsiteY8" fmla="*/ 29264 h 406891"/>
                  <a:gd name="connsiteX9" fmla="*/ 456737 w 594328"/>
                  <a:gd name="connsiteY9" fmla="*/ 29264 h 406891"/>
                  <a:gd name="connsiteX10" fmla="*/ 305658 w 594328"/>
                  <a:gd name="connsiteY10" fmla="*/ 180343 h 406891"/>
                  <a:gd name="connsiteX11" fmla="*/ 154626 w 594328"/>
                  <a:gd name="connsiteY11" fmla="*/ 29264 h 406891"/>
                  <a:gd name="connsiteX12" fmla="*/ 78970 w 594328"/>
                  <a:gd name="connsiteY12" fmla="*/ 29264 h 406891"/>
                  <a:gd name="connsiteX13" fmla="*/ 78970 w 594328"/>
                  <a:gd name="connsiteY13" fmla="*/ 0 h 406891"/>
                  <a:gd name="connsiteX14" fmla="*/ 0 w 594328"/>
                  <a:gd name="connsiteY14" fmla="*/ 45599 h 406891"/>
                  <a:gd name="connsiteX15" fmla="*/ 78970 w 594328"/>
                  <a:gd name="connsiteY15" fmla="*/ 91245 h 406891"/>
                  <a:gd name="connsiteX16" fmla="*/ 78970 w 594328"/>
                  <a:gd name="connsiteY16" fmla="*/ 61934 h 406891"/>
                  <a:gd name="connsiteX17" fmla="*/ 141091 w 594328"/>
                  <a:gd name="connsiteY17" fmla="*/ 61934 h 406891"/>
                  <a:gd name="connsiteX18" fmla="*/ 282556 w 594328"/>
                  <a:gd name="connsiteY18" fmla="*/ 203446 h 406891"/>
                  <a:gd name="connsiteX19" fmla="*/ 141091 w 594328"/>
                  <a:gd name="connsiteY19" fmla="*/ 344910 h 406891"/>
                  <a:gd name="connsiteX20" fmla="*/ 78970 w 594328"/>
                  <a:gd name="connsiteY20" fmla="*/ 344910 h 406891"/>
                  <a:gd name="connsiteX21" fmla="*/ 78970 w 594328"/>
                  <a:gd name="connsiteY21" fmla="*/ 315646 h 406891"/>
                  <a:gd name="connsiteX22" fmla="*/ 0 w 594328"/>
                  <a:gd name="connsiteY22" fmla="*/ 361245 h 406891"/>
                  <a:gd name="connsiteX23" fmla="*/ 78970 w 594328"/>
                  <a:gd name="connsiteY23" fmla="*/ 406891 h 406891"/>
                  <a:gd name="connsiteX24" fmla="*/ 78970 w 594328"/>
                  <a:gd name="connsiteY24" fmla="*/ 377581 h 406891"/>
                  <a:gd name="connsiteX25" fmla="*/ 154626 w 594328"/>
                  <a:gd name="connsiteY25" fmla="*/ 377581 h 406891"/>
                  <a:gd name="connsiteX26" fmla="*/ 305658 w 594328"/>
                  <a:gd name="connsiteY26" fmla="*/ 226548 h 406891"/>
                  <a:gd name="connsiteX27" fmla="*/ 456737 w 594328"/>
                  <a:gd name="connsiteY27" fmla="*/ 377581 h 406891"/>
                  <a:gd name="connsiteX28" fmla="*/ 515311 w 594328"/>
                  <a:gd name="connsiteY28" fmla="*/ 377581 h 406891"/>
                  <a:gd name="connsiteX29" fmla="*/ 515311 w 594328"/>
                  <a:gd name="connsiteY29" fmla="*/ 406891 h 406891"/>
                  <a:gd name="connsiteX30" fmla="*/ 594328 w 594328"/>
                  <a:gd name="connsiteY30" fmla="*/ 361245 h 406891"/>
                  <a:gd name="connsiteX31" fmla="*/ 515311 w 594328"/>
                  <a:gd name="connsiteY31" fmla="*/ 315646 h 406891"/>
                  <a:gd name="connsiteX32" fmla="*/ 515311 w 594328"/>
                  <a:gd name="connsiteY32" fmla="*/ 344910 h 40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94328" h="406891">
                    <a:moveTo>
                      <a:pt x="515311" y="344910"/>
                    </a:moveTo>
                    <a:lnTo>
                      <a:pt x="470272" y="344910"/>
                    </a:lnTo>
                    <a:lnTo>
                      <a:pt x="328808" y="203446"/>
                    </a:lnTo>
                    <a:lnTo>
                      <a:pt x="470272" y="61934"/>
                    </a:lnTo>
                    <a:lnTo>
                      <a:pt x="515311" y="61934"/>
                    </a:lnTo>
                    <a:lnTo>
                      <a:pt x="515311" y="91245"/>
                    </a:lnTo>
                    <a:lnTo>
                      <a:pt x="594328" y="45599"/>
                    </a:lnTo>
                    <a:lnTo>
                      <a:pt x="515311" y="0"/>
                    </a:lnTo>
                    <a:lnTo>
                      <a:pt x="515311" y="29264"/>
                    </a:lnTo>
                    <a:lnTo>
                      <a:pt x="456737" y="29264"/>
                    </a:lnTo>
                    <a:lnTo>
                      <a:pt x="305658" y="180343"/>
                    </a:lnTo>
                    <a:lnTo>
                      <a:pt x="154626" y="29264"/>
                    </a:lnTo>
                    <a:lnTo>
                      <a:pt x="78970" y="29264"/>
                    </a:lnTo>
                    <a:lnTo>
                      <a:pt x="78970" y="0"/>
                    </a:lnTo>
                    <a:lnTo>
                      <a:pt x="0" y="45599"/>
                    </a:lnTo>
                    <a:lnTo>
                      <a:pt x="78970" y="91245"/>
                    </a:lnTo>
                    <a:lnTo>
                      <a:pt x="78970" y="61934"/>
                    </a:lnTo>
                    <a:lnTo>
                      <a:pt x="141091" y="61934"/>
                    </a:lnTo>
                    <a:lnTo>
                      <a:pt x="282556" y="203446"/>
                    </a:lnTo>
                    <a:lnTo>
                      <a:pt x="141091" y="344910"/>
                    </a:lnTo>
                    <a:lnTo>
                      <a:pt x="78970" y="344910"/>
                    </a:lnTo>
                    <a:lnTo>
                      <a:pt x="78970" y="315646"/>
                    </a:lnTo>
                    <a:lnTo>
                      <a:pt x="0" y="361245"/>
                    </a:lnTo>
                    <a:lnTo>
                      <a:pt x="78970" y="406891"/>
                    </a:lnTo>
                    <a:lnTo>
                      <a:pt x="78970" y="377581"/>
                    </a:lnTo>
                    <a:lnTo>
                      <a:pt x="154626" y="377581"/>
                    </a:lnTo>
                    <a:lnTo>
                      <a:pt x="305658" y="226548"/>
                    </a:lnTo>
                    <a:lnTo>
                      <a:pt x="456737" y="377581"/>
                    </a:lnTo>
                    <a:lnTo>
                      <a:pt x="515311" y="377581"/>
                    </a:lnTo>
                    <a:lnTo>
                      <a:pt x="515311" y="406891"/>
                    </a:lnTo>
                    <a:lnTo>
                      <a:pt x="594328" y="361245"/>
                    </a:lnTo>
                    <a:lnTo>
                      <a:pt x="515311" y="315646"/>
                    </a:lnTo>
                    <a:lnTo>
                      <a:pt x="515311" y="344910"/>
                    </a:ln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36" name="Group 135">
              <a:extLst>
                <a:ext uri="{FF2B5EF4-FFF2-40B4-BE49-F238E27FC236}">
                  <a16:creationId xmlns:a16="http://schemas.microsoft.com/office/drawing/2014/main" id="{0F333C4F-D42C-9E5A-0EA6-9EB87871CAAC}"/>
                </a:ext>
              </a:extLst>
            </p:cNvPr>
            <p:cNvGrpSpPr>
              <a:grpSpLocks noChangeAspect="1"/>
            </p:cNvGrpSpPr>
            <p:nvPr/>
          </p:nvGrpSpPr>
          <p:grpSpPr>
            <a:xfrm>
              <a:off x="939060" y="1951839"/>
              <a:ext cx="457200" cy="457200"/>
              <a:chOff x="7756637" y="2484407"/>
              <a:chExt cx="902850" cy="902850"/>
            </a:xfrm>
          </p:grpSpPr>
          <p:sp>
            <p:nvSpPr>
              <p:cNvPr id="137" name="Oval 26">
                <a:extLst>
                  <a:ext uri="{FF2B5EF4-FFF2-40B4-BE49-F238E27FC236}">
                    <a16:creationId xmlns:a16="http://schemas.microsoft.com/office/drawing/2014/main" id="{FA9ABA06-F2D5-1C7D-3A8C-39CCD42E85E1}"/>
                  </a:ext>
                </a:extLst>
              </p:cNvPr>
              <p:cNvSpPr>
                <a:spLocks noChangeAspect="1"/>
              </p:cNvSpPr>
              <p:nvPr/>
            </p:nvSpPr>
            <p:spPr bwMode="gray">
              <a:xfrm>
                <a:off x="7756637" y="2484407"/>
                <a:ext cx="902850" cy="902850"/>
              </a:xfrm>
              <a:prstGeom prst="ellipse">
                <a:avLst/>
              </a:prstGeom>
              <a:solidFill>
                <a:srgbClr val="E68C28"/>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38" name="Group 137">
                <a:extLst>
                  <a:ext uri="{FF2B5EF4-FFF2-40B4-BE49-F238E27FC236}">
                    <a16:creationId xmlns:a16="http://schemas.microsoft.com/office/drawing/2014/main" id="{CBA54935-16FC-6914-1583-9B3AAA6431C3}"/>
                  </a:ext>
                </a:extLst>
              </p:cNvPr>
              <p:cNvGrpSpPr/>
              <p:nvPr/>
            </p:nvGrpSpPr>
            <p:grpSpPr>
              <a:xfrm>
                <a:off x="7930273" y="2670781"/>
                <a:ext cx="558302" cy="538093"/>
                <a:chOff x="7930273" y="2670781"/>
                <a:chExt cx="558302" cy="538093"/>
              </a:xfrm>
            </p:grpSpPr>
            <p:sp>
              <p:nvSpPr>
                <p:cNvPr id="139" name="Freeform: Shape 201">
                  <a:extLst>
                    <a:ext uri="{FF2B5EF4-FFF2-40B4-BE49-F238E27FC236}">
                      <a16:creationId xmlns:a16="http://schemas.microsoft.com/office/drawing/2014/main" id="{D1F9D3BD-674A-887D-39EE-AF18115CCB6B}"/>
                    </a:ext>
                  </a:extLst>
                </p:cNvPr>
                <p:cNvSpPr/>
                <p:nvPr/>
              </p:nvSpPr>
              <p:spPr>
                <a:xfrm>
                  <a:off x="7930273" y="2670781"/>
                  <a:ext cx="432694" cy="432694"/>
                </a:xfrm>
                <a:custGeom>
                  <a:avLst/>
                  <a:gdLst>
                    <a:gd name="connsiteX0" fmla="*/ 0 w 432694"/>
                    <a:gd name="connsiteY0" fmla="*/ 0 h 432694"/>
                    <a:gd name="connsiteX1" fmla="*/ 0 w 432694"/>
                    <a:gd name="connsiteY1" fmla="*/ 432694 h 432694"/>
                    <a:gd name="connsiteX2" fmla="*/ 295991 w 432694"/>
                    <a:gd name="connsiteY2" fmla="*/ 432694 h 432694"/>
                    <a:gd name="connsiteX3" fmla="*/ 295991 w 432694"/>
                    <a:gd name="connsiteY3" fmla="*/ 393070 h 432694"/>
                    <a:gd name="connsiteX4" fmla="*/ 165232 w 432694"/>
                    <a:gd name="connsiteY4" fmla="*/ 393070 h 432694"/>
                    <a:gd name="connsiteX5" fmla="*/ 206441 w 432694"/>
                    <a:gd name="connsiteY5" fmla="*/ 214762 h 432694"/>
                    <a:gd name="connsiteX6" fmla="*/ 236159 w 432694"/>
                    <a:gd name="connsiteY6" fmla="*/ 323728 h 432694"/>
                    <a:gd name="connsiteX7" fmla="*/ 285689 w 432694"/>
                    <a:gd name="connsiteY7" fmla="*/ 135514 h 432694"/>
                    <a:gd name="connsiteX8" fmla="*/ 306294 w 432694"/>
                    <a:gd name="connsiteY8" fmla="*/ 237744 h 432694"/>
                    <a:gd name="connsiteX9" fmla="*/ 393070 w 432694"/>
                    <a:gd name="connsiteY9" fmla="*/ 237744 h 432694"/>
                    <a:gd name="connsiteX10" fmla="*/ 393070 w 432694"/>
                    <a:gd name="connsiteY10" fmla="*/ 326106 h 432694"/>
                    <a:gd name="connsiteX11" fmla="*/ 432694 w 432694"/>
                    <a:gd name="connsiteY11" fmla="*/ 326106 h 432694"/>
                    <a:gd name="connsiteX12" fmla="*/ 432694 w 432694"/>
                    <a:gd name="connsiteY12" fmla="*/ 0 h 432694"/>
                    <a:gd name="connsiteX13" fmla="*/ 0 w 432694"/>
                    <a:gd name="connsiteY13" fmla="*/ 0 h 432694"/>
                    <a:gd name="connsiteX14" fmla="*/ 39624 w 432694"/>
                    <a:gd name="connsiteY14" fmla="*/ 393070 h 432694"/>
                    <a:gd name="connsiteX15" fmla="*/ 39624 w 432694"/>
                    <a:gd name="connsiteY15" fmla="*/ 237744 h 432694"/>
                    <a:gd name="connsiteX16" fmla="*/ 111740 w 432694"/>
                    <a:gd name="connsiteY16" fmla="*/ 237744 h 432694"/>
                    <a:gd name="connsiteX17" fmla="*/ 130759 w 432694"/>
                    <a:gd name="connsiteY17" fmla="*/ 168798 h 432694"/>
                    <a:gd name="connsiteX18" fmla="*/ 162458 w 432694"/>
                    <a:gd name="connsiteY18" fmla="*/ 393070 h 432694"/>
                    <a:gd name="connsiteX19" fmla="*/ 39624 w 432694"/>
                    <a:gd name="connsiteY19" fmla="*/ 393070 h 432694"/>
                    <a:gd name="connsiteX20" fmla="*/ 322539 w 432694"/>
                    <a:gd name="connsiteY20" fmla="*/ 217932 h 432694"/>
                    <a:gd name="connsiteX21" fmla="*/ 288066 w 432694"/>
                    <a:gd name="connsiteY21" fmla="*/ 47945 h 432694"/>
                    <a:gd name="connsiteX22" fmla="*/ 235763 w 432694"/>
                    <a:gd name="connsiteY22" fmla="*/ 246858 h 432694"/>
                    <a:gd name="connsiteX23" fmla="*/ 204856 w 432694"/>
                    <a:gd name="connsiteY23" fmla="*/ 133533 h 432694"/>
                    <a:gd name="connsiteX24" fmla="*/ 168006 w 432694"/>
                    <a:gd name="connsiteY24" fmla="*/ 292029 h 432694"/>
                    <a:gd name="connsiteX25" fmla="*/ 136703 w 432694"/>
                    <a:gd name="connsiteY25" fmla="*/ 72116 h 432694"/>
                    <a:gd name="connsiteX26" fmla="*/ 96683 w 432694"/>
                    <a:gd name="connsiteY26" fmla="*/ 217932 h 432694"/>
                    <a:gd name="connsiteX27" fmla="*/ 39624 w 432694"/>
                    <a:gd name="connsiteY27" fmla="*/ 217932 h 432694"/>
                    <a:gd name="connsiteX28" fmla="*/ 39624 w 432694"/>
                    <a:gd name="connsiteY28" fmla="*/ 39624 h 432694"/>
                    <a:gd name="connsiteX29" fmla="*/ 393070 w 432694"/>
                    <a:gd name="connsiteY29" fmla="*/ 39624 h 432694"/>
                    <a:gd name="connsiteX30" fmla="*/ 393070 w 432694"/>
                    <a:gd name="connsiteY30" fmla="*/ 217932 h 432694"/>
                    <a:gd name="connsiteX31" fmla="*/ 322539 w 432694"/>
                    <a:gd name="connsiteY31" fmla="*/ 217932 h 43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694" h="432694">
                      <a:moveTo>
                        <a:pt x="0" y="0"/>
                      </a:moveTo>
                      <a:lnTo>
                        <a:pt x="0" y="432694"/>
                      </a:lnTo>
                      <a:lnTo>
                        <a:pt x="295991" y="432694"/>
                      </a:lnTo>
                      <a:lnTo>
                        <a:pt x="295991" y="393070"/>
                      </a:lnTo>
                      <a:lnTo>
                        <a:pt x="165232" y="393070"/>
                      </a:lnTo>
                      <a:lnTo>
                        <a:pt x="206441" y="214762"/>
                      </a:lnTo>
                      <a:lnTo>
                        <a:pt x="236159" y="323728"/>
                      </a:lnTo>
                      <a:lnTo>
                        <a:pt x="285689" y="135514"/>
                      </a:lnTo>
                      <a:lnTo>
                        <a:pt x="306294" y="237744"/>
                      </a:lnTo>
                      <a:lnTo>
                        <a:pt x="393070" y="237744"/>
                      </a:lnTo>
                      <a:lnTo>
                        <a:pt x="393070" y="326106"/>
                      </a:lnTo>
                      <a:lnTo>
                        <a:pt x="432694" y="326106"/>
                      </a:lnTo>
                      <a:lnTo>
                        <a:pt x="432694" y="0"/>
                      </a:lnTo>
                      <a:lnTo>
                        <a:pt x="0" y="0"/>
                      </a:lnTo>
                      <a:close/>
                      <a:moveTo>
                        <a:pt x="39624" y="393070"/>
                      </a:moveTo>
                      <a:lnTo>
                        <a:pt x="39624" y="237744"/>
                      </a:lnTo>
                      <a:lnTo>
                        <a:pt x="111740" y="237744"/>
                      </a:lnTo>
                      <a:lnTo>
                        <a:pt x="130759" y="168798"/>
                      </a:lnTo>
                      <a:lnTo>
                        <a:pt x="162458" y="393070"/>
                      </a:lnTo>
                      <a:lnTo>
                        <a:pt x="39624" y="393070"/>
                      </a:lnTo>
                      <a:close/>
                      <a:moveTo>
                        <a:pt x="322539" y="217932"/>
                      </a:moveTo>
                      <a:lnTo>
                        <a:pt x="288066" y="47945"/>
                      </a:lnTo>
                      <a:lnTo>
                        <a:pt x="235763" y="246858"/>
                      </a:lnTo>
                      <a:lnTo>
                        <a:pt x="204856" y="133533"/>
                      </a:lnTo>
                      <a:lnTo>
                        <a:pt x="168006" y="292029"/>
                      </a:lnTo>
                      <a:lnTo>
                        <a:pt x="136703" y="72116"/>
                      </a:lnTo>
                      <a:lnTo>
                        <a:pt x="96683" y="217932"/>
                      </a:lnTo>
                      <a:lnTo>
                        <a:pt x="39624" y="217932"/>
                      </a:lnTo>
                      <a:lnTo>
                        <a:pt x="39624" y="39624"/>
                      </a:lnTo>
                      <a:lnTo>
                        <a:pt x="393070" y="39624"/>
                      </a:lnTo>
                      <a:lnTo>
                        <a:pt x="393070" y="217932"/>
                      </a:lnTo>
                      <a:lnTo>
                        <a:pt x="322539" y="217932"/>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40" name="Graphic 41">
                  <a:extLst>
                    <a:ext uri="{FF2B5EF4-FFF2-40B4-BE49-F238E27FC236}">
                      <a16:creationId xmlns:a16="http://schemas.microsoft.com/office/drawing/2014/main" id="{64628DC3-9024-C4F2-3F6A-3F4500B6359F}"/>
                    </a:ext>
                  </a:extLst>
                </p:cNvPr>
                <p:cNvGrpSpPr/>
                <p:nvPr/>
              </p:nvGrpSpPr>
              <p:grpSpPr>
                <a:xfrm>
                  <a:off x="8250435" y="3017491"/>
                  <a:ext cx="238140" cy="191383"/>
                  <a:chOff x="8250435" y="3017491"/>
                  <a:chExt cx="238140" cy="191383"/>
                </a:xfrm>
                <a:solidFill>
                  <a:schemeClr val="bg1"/>
                </a:solidFill>
              </p:grpSpPr>
              <p:sp>
                <p:nvSpPr>
                  <p:cNvPr id="141" name="Freeform: Shape 203">
                    <a:extLst>
                      <a:ext uri="{FF2B5EF4-FFF2-40B4-BE49-F238E27FC236}">
                        <a16:creationId xmlns:a16="http://schemas.microsoft.com/office/drawing/2014/main" id="{34845F5C-F578-D5A8-BB14-90E27785979E}"/>
                      </a:ext>
                    </a:extLst>
                  </p:cNvPr>
                  <p:cNvSpPr/>
                  <p:nvPr/>
                </p:nvSpPr>
                <p:spPr>
                  <a:xfrm>
                    <a:off x="8250435" y="3017491"/>
                    <a:ext cx="238140" cy="30510"/>
                  </a:xfrm>
                  <a:custGeom>
                    <a:avLst/>
                    <a:gdLst>
                      <a:gd name="connsiteX0" fmla="*/ 238140 w 238140"/>
                      <a:gd name="connsiteY0" fmla="*/ 0 h 30510"/>
                      <a:gd name="connsiteX1" fmla="*/ 0 w 238140"/>
                      <a:gd name="connsiteY1" fmla="*/ 0 h 30510"/>
                      <a:gd name="connsiteX2" fmla="*/ 0 w 238140"/>
                      <a:gd name="connsiteY2" fmla="*/ 30510 h 30510"/>
                      <a:gd name="connsiteX3" fmla="*/ 238140 w 238140"/>
                      <a:gd name="connsiteY3" fmla="*/ 30510 h 30510"/>
                      <a:gd name="connsiteX4" fmla="*/ 238140 w 238140"/>
                      <a:gd name="connsiteY4" fmla="*/ 0 h 30510"/>
                      <a:gd name="connsiteX5" fmla="*/ 15057 w 238140"/>
                      <a:gd name="connsiteY5" fmla="*/ 21793 h 30510"/>
                      <a:gd name="connsiteX6" fmla="*/ 8321 w 238140"/>
                      <a:gd name="connsiteY6" fmla="*/ 15057 h 30510"/>
                      <a:gd name="connsiteX7" fmla="*/ 15057 w 238140"/>
                      <a:gd name="connsiteY7" fmla="*/ 8321 h 30510"/>
                      <a:gd name="connsiteX8" fmla="*/ 22586 w 238140"/>
                      <a:gd name="connsiteY8" fmla="*/ 15057 h 30510"/>
                      <a:gd name="connsiteX9" fmla="*/ 15057 w 238140"/>
                      <a:gd name="connsiteY9" fmla="*/ 21793 h 30510"/>
                      <a:gd name="connsiteX10" fmla="*/ 37247 w 238140"/>
                      <a:gd name="connsiteY10" fmla="*/ 21793 h 30510"/>
                      <a:gd name="connsiteX11" fmla="*/ 30510 w 238140"/>
                      <a:gd name="connsiteY11" fmla="*/ 15057 h 30510"/>
                      <a:gd name="connsiteX12" fmla="*/ 37247 w 238140"/>
                      <a:gd name="connsiteY12" fmla="*/ 8321 h 30510"/>
                      <a:gd name="connsiteX13" fmla="*/ 43983 w 238140"/>
                      <a:gd name="connsiteY13" fmla="*/ 15057 h 30510"/>
                      <a:gd name="connsiteX14" fmla="*/ 37247 w 238140"/>
                      <a:gd name="connsiteY14" fmla="*/ 21793 h 30510"/>
                      <a:gd name="connsiteX15" fmla="*/ 58644 w 238140"/>
                      <a:gd name="connsiteY15" fmla="*/ 21793 h 30510"/>
                      <a:gd name="connsiteX16" fmla="*/ 51907 w 238140"/>
                      <a:gd name="connsiteY16" fmla="*/ 15057 h 30510"/>
                      <a:gd name="connsiteX17" fmla="*/ 58644 w 238140"/>
                      <a:gd name="connsiteY17" fmla="*/ 8321 h 30510"/>
                      <a:gd name="connsiteX18" fmla="*/ 65380 w 238140"/>
                      <a:gd name="connsiteY18" fmla="*/ 15057 h 30510"/>
                      <a:gd name="connsiteX19" fmla="*/ 58644 w 238140"/>
                      <a:gd name="connsiteY19" fmla="*/ 21793 h 3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40" h="30510">
                        <a:moveTo>
                          <a:pt x="238140" y="0"/>
                        </a:moveTo>
                        <a:lnTo>
                          <a:pt x="0" y="0"/>
                        </a:lnTo>
                        <a:cubicBezTo>
                          <a:pt x="0" y="30510"/>
                          <a:pt x="0" y="30510"/>
                          <a:pt x="0" y="30510"/>
                        </a:cubicBezTo>
                        <a:cubicBezTo>
                          <a:pt x="238140" y="30510"/>
                          <a:pt x="238140" y="30510"/>
                          <a:pt x="238140" y="30510"/>
                        </a:cubicBezTo>
                        <a:cubicBezTo>
                          <a:pt x="238140" y="0"/>
                          <a:pt x="238140" y="0"/>
                          <a:pt x="238140" y="0"/>
                        </a:cubicBezTo>
                        <a:close/>
                        <a:moveTo>
                          <a:pt x="15057" y="21793"/>
                        </a:moveTo>
                        <a:cubicBezTo>
                          <a:pt x="11491" y="21793"/>
                          <a:pt x="8321" y="18227"/>
                          <a:pt x="8321" y="15057"/>
                        </a:cubicBezTo>
                        <a:cubicBezTo>
                          <a:pt x="8321" y="11095"/>
                          <a:pt x="11887" y="8321"/>
                          <a:pt x="15057" y="8321"/>
                        </a:cubicBezTo>
                        <a:cubicBezTo>
                          <a:pt x="19020" y="8321"/>
                          <a:pt x="22586" y="11095"/>
                          <a:pt x="22586" y="15057"/>
                        </a:cubicBezTo>
                        <a:cubicBezTo>
                          <a:pt x="22189" y="18623"/>
                          <a:pt x="19020" y="21793"/>
                          <a:pt x="15057" y="21793"/>
                        </a:cubicBezTo>
                        <a:close/>
                        <a:moveTo>
                          <a:pt x="37247" y="21793"/>
                        </a:moveTo>
                        <a:cubicBezTo>
                          <a:pt x="33284" y="21793"/>
                          <a:pt x="30510" y="18227"/>
                          <a:pt x="30510" y="15057"/>
                        </a:cubicBezTo>
                        <a:cubicBezTo>
                          <a:pt x="30510" y="11095"/>
                          <a:pt x="33284" y="8321"/>
                          <a:pt x="37247" y="8321"/>
                        </a:cubicBezTo>
                        <a:cubicBezTo>
                          <a:pt x="40813" y="8321"/>
                          <a:pt x="43983" y="11095"/>
                          <a:pt x="43983" y="15057"/>
                        </a:cubicBezTo>
                        <a:cubicBezTo>
                          <a:pt x="43983" y="18623"/>
                          <a:pt x="40417" y="21793"/>
                          <a:pt x="37247" y="21793"/>
                        </a:cubicBezTo>
                        <a:close/>
                        <a:moveTo>
                          <a:pt x="58644" y="21793"/>
                        </a:moveTo>
                        <a:cubicBezTo>
                          <a:pt x="55077" y="21793"/>
                          <a:pt x="51907" y="18227"/>
                          <a:pt x="51907" y="15057"/>
                        </a:cubicBezTo>
                        <a:cubicBezTo>
                          <a:pt x="51907" y="11095"/>
                          <a:pt x="55474" y="8321"/>
                          <a:pt x="58644" y="8321"/>
                        </a:cubicBezTo>
                        <a:cubicBezTo>
                          <a:pt x="62606" y="8321"/>
                          <a:pt x="65380" y="11095"/>
                          <a:pt x="65380" y="15057"/>
                        </a:cubicBezTo>
                        <a:cubicBezTo>
                          <a:pt x="65380" y="18623"/>
                          <a:pt x="63002" y="21793"/>
                          <a:pt x="58644" y="21793"/>
                        </a:cubicBez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2" name="Freeform: Shape 204">
                    <a:extLst>
                      <a:ext uri="{FF2B5EF4-FFF2-40B4-BE49-F238E27FC236}">
                        <a16:creationId xmlns:a16="http://schemas.microsoft.com/office/drawing/2014/main" id="{58231E4C-8A0B-D63B-EB62-CBA8E6C91A6A}"/>
                      </a:ext>
                    </a:extLst>
                  </p:cNvPr>
                  <p:cNvSpPr/>
                  <p:nvPr/>
                </p:nvSpPr>
                <p:spPr>
                  <a:xfrm>
                    <a:off x="8250435" y="3057907"/>
                    <a:ext cx="238140" cy="150967"/>
                  </a:xfrm>
                  <a:custGeom>
                    <a:avLst/>
                    <a:gdLst>
                      <a:gd name="connsiteX0" fmla="*/ 0 w 238140"/>
                      <a:gd name="connsiteY0" fmla="*/ 0 h 150967"/>
                      <a:gd name="connsiteX1" fmla="*/ 0 w 238140"/>
                      <a:gd name="connsiteY1" fmla="*/ 143439 h 150967"/>
                      <a:gd name="connsiteX2" fmla="*/ 6736 w 238140"/>
                      <a:gd name="connsiteY2" fmla="*/ 150967 h 150967"/>
                      <a:gd name="connsiteX3" fmla="*/ 230612 w 238140"/>
                      <a:gd name="connsiteY3" fmla="*/ 150967 h 150967"/>
                      <a:gd name="connsiteX4" fmla="*/ 238140 w 238140"/>
                      <a:gd name="connsiteY4" fmla="*/ 143439 h 150967"/>
                      <a:gd name="connsiteX5" fmla="*/ 238140 w 238140"/>
                      <a:gd name="connsiteY5" fmla="*/ 0 h 150967"/>
                      <a:gd name="connsiteX6" fmla="*/ 0 w 238140"/>
                      <a:gd name="connsiteY6" fmla="*/ 0 h 15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40" h="150967">
                        <a:moveTo>
                          <a:pt x="0" y="0"/>
                        </a:moveTo>
                        <a:cubicBezTo>
                          <a:pt x="0" y="143439"/>
                          <a:pt x="0" y="143439"/>
                          <a:pt x="0" y="143439"/>
                        </a:cubicBezTo>
                        <a:cubicBezTo>
                          <a:pt x="0" y="147401"/>
                          <a:pt x="2774" y="150967"/>
                          <a:pt x="6736" y="150967"/>
                        </a:cubicBezTo>
                        <a:cubicBezTo>
                          <a:pt x="230612" y="150967"/>
                          <a:pt x="230612" y="150967"/>
                          <a:pt x="230612" y="150967"/>
                        </a:cubicBezTo>
                        <a:cubicBezTo>
                          <a:pt x="234574" y="150967"/>
                          <a:pt x="238140" y="147798"/>
                          <a:pt x="238140" y="143439"/>
                        </a:cubicBezTo>
                        <a:cubicBezTo>
                          <a:pt x="238140" y="0"/>
                          <a:pt x="238140" y="0"/>
                          <a:pt x="238140" y="0"/>
                        </a:cubicBezTo>
                        <a:lnTo>
                          <a:pt x="0" y="0"/>
                        </a:lnTo>
                        <a:close/>
                      </a:path>
                    </a:pathLst>
                  </a:custGeom>
                  <a:solidFill>
                    <a:schemeClr val="bg1"/>
                  </a:solidFill>
                  <a:ln w="393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spTree>
    <p:extLst>
      <p:ext uri="{BB962C8B-B14F-4D97-AF65-F5344CB8AC3E}">
        <p14:creationId xmlns:p14="http://schemas.microsoft.com/office/powerpoint/2010/main" val="2855603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38395E-6 4.44444E-6 L 0.00039 0.29722 " pathEditMode="relative" rAng="0" ptsTypes="AA">
                                      <p:cBhvr>
                                        <p:cTn id="6" dur="500" fill="hold"/>
                                        <p:tgtEl>
                                          <p:spTgt spid="25"/>
                                        </p:tgtEl>
                                        <p:attrNameLst>
                                          <p:attrName>ppt_x</p:attrName>
                                          <p:attrName>ppt_y</p:attrName>
                                        </p:attrNameLst>
                                      </p:cBhvr>
                                      <p:rCtr x="13" y="14861"/>
                                    </p:animMotion>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0"/>
                                          </p:stCondLst>
                                        </p:cTn>
                                        <p:tgtEl>
                                          <p:spTgt spid="182"/>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94"/>
                                        </p:tgtEl>
                                        <p:attrNameLst>
                                          <p:attrName>style.visibility</p:attrName>
                                        </p:attrNameLst>
                                      </p:cBhvr>
                                      <p:to>
                                        <p:strVal val="visible"/>
                                      </p:to>
                                    </p:set>
                                    <p:animEffect transition="in" filter="wipe(right)">
                                      <p:cBhvr>
                                        <p:cTn id="14" dur="500"/>
                                        <p:tgtEl>
                                          <p:spTgt spid="94"/>
                                        </p:tgtEl>
                                      </p:cBhvr>
                                    </p:animEffect>
                                  </p:childTnLst>
                                </p:cTn>
                              </p:par>
                            </p:childTnLst>
                          </p:cTn>
                        </p:par>
                        <p:par>
                          <p:cTn id="15" fill="hold">
                            <p:stCondLst>
                              <p:cond delay="500"/>
                            </p:stCondLst>
                            <p:childTnLst>
                              <p:par>
                                <p:cTn id="16" presetID="22" presetClass="entr" presetSubtype="2" fill="hold" nodeType="afterEffect">
                                  <p:stCondLst>
                                    <p:cond delay="0"/>
                                  </p:stCondLst>
                                  <p:childTnLst>
                                    <p:set>
                                      <p:cBhvr>
                                        <p:cTn id="17" dur="1" fill="hold">
                                          <p:stCondLst>
                                            <p:cond delay="0"/>
                                          </p:stCondLst>
                                        </p:cTn>
                                        <p:tgtEl>
                                          <p:spTgt spid="130"/>
                                        </p:tgtEl>
                                        <p:attrNameLst>
                                          <p:attrName>style.visibility</p:attrName>
                                        </p:attrNameLst>
                                      </p:cBhvr>
                                      <p:to>
                                        <p:strVal val="visible"/>
                                      </p:to>
                                    </p:set>
                                    <p:animEffect transition="in" filter="wipe(right)">
                                      <p:cBhvr>
                                        <p:cTn id="18" dur="500"/>
                                        <p:tgtEl>
                                          <p:spTgt spid="130"/>
                                        </p:tgtEl>
                                      </p:cBhvr>
                                    </p:animEffect>
                                  </p:childTnLst>
                                </p:cTn>
                              </p:par>
                              <p:par>
                                <p:cTn id="19" presetID="22" presetClass="entr" presetSubtype="2" fill="hold" nodeType="withEffect">
                                  <p:stCondLst>
                                    <p:cond delay="0"/>
                                  </p:stCondLst>
                                  <p:childTnLst>
                                    <p:set>
                                      <p:cBhvr>
                                        <p:cTn id="20" dur="1" fill="hold">
                                          <p:stCondLst>
                                            <p:cond delay="0"/>
                                          </p:stCondLst>
                                        </p:cTn>
                                        <p:tgtEl>
                                          <p:spTgt spid="215"/>
                                        </p:tgtEl>
                                        <p:attrNameLst>
                                          <p:attrName>style.visibility</p:attrName>
                                        </p:attrNameLst>
                                      </p:cBhvr>
                                      <p:to>
                                        <p:strVal val="visible"/>
                                      </p:to>
                                    </p:set>
                                    <p:animEffect transition="in" filter="wipe(right)">
                                      <p:cBhvr>
                                        <p:cTn id="21" dur="500"/>
                                        <p:tgtEl>
                                          <p:spTgt spid="215"/>
                                        </p:tgtEl>
                                      </p:cBhvr>
                                    </p:animEffect>
                                  </p:childTnLst>
                                </p:cTn>
                              </p:par>
                            </p:childTnLst>
                          </p:cTn>
                        </p:par>
                        <p:par>
                          <p:cTn id="22" fill="hold">
                            <p:stCondLst>
                              <p:cond delay="1000"/>
                            </p:stCondLst>
                            <p:childTnLst>
                              <p:par>
                                <p:cTn id="23" presetID="22" presetClass="exit" presetSubtype="2" fill="hold" nodeType="afterEffect">
                                  <p:stCondLst>
                                    <p:cond delay="0"/>
                                  </p:stCondLst>
                                  <p:childTnLst>
                                    <p:animEffect transition="out" filter="wipe(right)">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699DAF-15D2-A174-671D-4B76FC3A474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143A68CF-CCD0-98B7-C8FB-274FF056E733}"/>
              </a:ext>
            </a:extLst>
          </p:cNvPr>
          <p:cNvSpPr>
            <a:spLocks noGrp="1"/>
          </p:cNvSpPr>
          <p:nvPr>
            <p:ph type="title"/>
          </p:nvPr>
        </p:nvSpPr>
        <p:spPr/>
        <p:txBody>
          <a:bodyPr/>
          <a:lstStyle/>
          <a:p>
            <a:r>
              <a:rPr lang="en-US" dirty="0"/>
              <a:t>Some Additional Uses Cases for VCF with NSX</a:t>
            </a:r>
          </a:p>
        </p:txBody>
      </p:sp>
      <p:sp>
        <p:nvSpPr>
          <p:cNvPr id="16" name="Rectangle: Rounded Corners 125">
            <a:extLst>
              <a:ext uri="{FF2B5EF4-FFF2-40B4-BE49-F238E27FC236}">
                <a16:creationId xmlns:a16="http://schemas.microsoft.com/office/drawing/2014/main" id="{3AFFCE49-5CAA-EDB2-C0E5-348E11480867}"/>
              </a:ext>
            </a:extLst>
          </p:cNvPr>
          <p:cNvSpPr/>
          <p:nvPr/>
        </p:nvSpPr>
        <p:spPr>
          <a:xfrm>
            <a:off x="972666" y="1419332"/>
            <a:ext cx="5055077" cy="2192228"/>
          </a:xfrm>
          <a:prstGeom prst="roundRect">
            <a:avLst>
              <a:gd name="adj" fmla="val 4171"/>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9144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005C8A"/>
                </a:solidFill>
                <a:effectLst/>
                <a:uLnTx/>
                <a:uFillTx/>
                <a:latin typeface="Arial" panose="020B0604020202020204"/>
                <a:ea typeface="+mn-ea"/>
                <a:cs typeface="+mn-cs"/>
              </a:rPr>
              <a:t>VM Mobility</a:t>
            </a:r>
          </a:p>
        </p:txBody>
      </p:sp>
      <p:sp>
        <p:nvSpPr>
          <p:cNvPr id="17" name="Rectangle: Rounded Corners 125">
            <a:extLst>
              <a:ext uri="{FF2B5EF4-FFF2-40B4-BE49-F238E27FC236}">
                <a16:creationId xmlns:a16="http://schemas.microsoft.com/office/drawing/2014/main" id="{91663E51-AD10-2D5E-D723-7E0B6E2F2B73}"/>
              </a:ext>
            </a:extLst>
          </p:cNvPr>
          <p:cNvSpPr/>
          <p:nvPr/>
        </p:nvSpPr>
        <p:spPr>
          <a:xfrm>
            <a:off x="6132877" y="1419332"/>
            <a:ext cx="5055077" cy="2192228"/>
          </a:xfrm>
          <a:prstGeom prst="roundRect">
            <a:avLst>
              <a:gd name="adj" fmla="val 4171"/>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9144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0098C7"/>
                </a:solidFill>
                <a:effectLst/>
                <a:uLnTx/>
                <a:uFillTx/>
                <a:latin typeface="Arial" panose="020B0604020202020204"/>
                <a:ea typeface="+mn-ea"/>
                <a:cs typeface="+mn-cs"/>
              </a:rPr>
              <a:t>L2 DC Extension</a:t>
            </a:r>
          </a:p>
        </p:txBody>
      </p:sp>
      <p:sp>
        <p:nvSpPr>
          <p:cNvPr id="18" name="Rectangle: Rounded Corners 125">
            <a:extLst>
              <a:ext uri="{FF2B5EF4-FFF2-40B4-BE49-F238E27FC236}">
                <a16:creationId xmlns:a16="http://schemas.microsoft.com/office/drawing/2014/main" id="{58EC202E-FFE2-908A-0894-D71DBE360224}"/>
              </a:ext>
            </a:extLst>
          </p:cNvPr>
          <p:cNvSpPr/>
          <p:nvPr/>
        </p:nvSpPr>
        <p:spPr>
          <a:xfrm>
            <a:off x="972666" y="3715086"/>
            <a:ext cx="5055077" cy="2192228"/>
          </a:xfrm>
          <a:prstGeom prst="roundRect">
            <a:avLst>
              <a:gd name="adj" fmla="val 4171"/>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9144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61A60E"/>
                </a:solidFill>
                <a:effectLst/>
                <a:uLnTx/>
                <a:uFillTx/>
                <a:latin typeface="Arial" panose="020B0604020202020204"/>
                <a:ea typeface="+mn-ea"/>
                <a:cs typeface="+mn-cs"/>
              </a:rPr>
              <a:t>Disaster Recovery</a:t>
            </a:r>
          </a:p>
        </p:txBody>
      </p:sp>
      <p:sp>
        <p:nvSpPr>
          <p:cNvPr id="19" name="Rectangle: Rounded Corners 125">
            <a:extLst>
              <a:ext uri="{FF2B5EF4-FFF2-40B4-BE49-F238E27FC236}">
                <a16:creationId xmlns:a16="http://schemas.microsoft.com/office/drawing/2014/main" id="{7E9D05CF-F75B-D5DD-B618-C04FDB8B6530}"/>
              </a:ext>
            </a:extLst>
          </p:cNvPr>
          <p:cNvSpPr/>
          <p:nvPr/>
        </p:nvSpPr>
        <p:spPr>
          <a:xfrm>
            <a:off x="6132877" y="3715086"/>
            <a:ext cx="5055077" cy="2192228"/>
          </a:xfrm>
          <a:prstGeom prst="roundRect">
            <a:avLst>
              <a:gd name="adj" fmla="val 4171"/>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9144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6C4B94"/>
                </a:solidFill>
                <a:effectLst/>
                <a:uLnTx/>
                <a:uFillTx/>
                <a:latin typeface="Arial" panose="020B0604020202020204"/>
                <a:ea typeface="+mn-ea"/>
                <a:cs typeface="+mn-cs"/>
              </a:rPr>
              <a:t>Multi-Site</a:t>
            </a:r>
          </a:p>
        </p:txBody>
      </p:sp>
      <p:sp>
        <p:nvSpPr>
          <p:cNvPr id="29" name="Google Shape;963;p55">
            <a:extLst>
              <a:ext uri="{FF2B5EF4-FFF2-40B4-BE49-F238E27FC236}">
                <a16:creationId xmlns:a16="http://schemas.microsoft.com/office/drawing/2014/main" id="{888FC14E-2A4D-61E1-448C-0A0E7B8517DB}"/>
              </a:ext>
            </a:extLst>
          </p:cNvPr>
          <p:cNvSpPr/>
          <p:nvPr/>
        </p:nvSpPr>
        <p:spPr>
          <a:xfrm>
            <a:off x="1383704" y="4109866"/>
            <a:ext cx="1779145" cy="1146822"/>
          </a:xfrm>
          <a:prstGeom prst="roundRect">
            <a:avLst>
              <a:gd name="adj" fmla="val 4567"/>
            </a:avLst>
          </a:prstGeom>
          <a:solidFill>
            <a:schemeClr val="bg1">
              <a:alpha val="59000"/>
            </a:schemeClr>
          </a:solidFill>
          <a:ln w="25400" cap="flat" cmpd="sng">
            <a:solidFill>
              <a:schemeClr val="accent4"/>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31" name="Google Shape;963;p55">
            <a:extLst>
              <a:ext uri="{FF2B5EF4-FFF2-40B4-BE49-F238E27FC236}">
                <a16:creationId xmlns:a16="http://schemas.microsoft.com/office/drawing/2014/main" id="{D0C6EFB6-8BF0-2B2A-2C56-AEA19062FE9A}"/>
              </a:ext>
            </a:extLst>
          </p:cNvPr>
          <p:cNvSpPr/>
          <p:nvPr/>
        </p:nvSpPr>
        <p:spPr>
          <a:xfrm>
            <a:off x="3826752" y="4109866"/>
            <a:ext cx="1779145" cy="1146822"/>
          </a:xfrm>
          <a:prstGeom prst="roundRect">
            <a:avLst>
              <a:gd name="adj" fmla="val 4567"/>
            </a:avLst>
          </a:prstGeom>
          <a:solidFill>
            <a:srgbClr val="FFFFFF"/>
          </a:solidFill>
          <a:ln w="25400" cap="flat" cmpd="sng">
            <a:solidFill>
              <a:schemeClr val="accent4"/>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32" name="Google Shape;978;p55">
            <a:extLst>
              <a:ext uri="{FF2B5EF4-FFF2-40B4-BE49-F238E27FC236}">
                <a16:creationId xmlns:a16="http://schemas.microsoft.com/office/drawing/2014/main" id="{E9196505-EFC3-1D6C-3154-0C412D39D218}"/>
              </a:ext>
            </a:extLst>
          </p:cNvPr>
          <p:cNvSpPr/>
          <p:nvPr/>
        </p:nvSpPr>
        <p:spPr>
          <a:xfrm>
            <a:off x="4247101" y="4006340"/>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US" sz="1050" b="0" i="0" u="none" strike="noStrike" kern="1200" cap="none" spc="0" normalizeH="0" baseline="0" noProof="0">
                <a:ln>
                  <a:noFill/>
                </a:ln>
                <a:solidFill>
                  <a:srgbClr val="FFFFFF"/>
                </a:solidFill>
                <a:effectLst/>
                <a:uLnTx/>
                <a:uFillTx/>
                <a:latin typeface="Arial" panose="020B0604020202020204"/>
                <a:ea typeface="Roboto"/>
                <a:cs typeface="Roboto"/>
                <a:sym typeface="Roboto"/>
              </a:rPr>
              <a:t>DC2</a:t>
            </a:r>
          </a:p>
        </p:txBody>
      </p:sp>
      <p:grpSp>
        <p:nvGrpSpPr>
          <p:cNvPr id="173" name="Group 172">
            <a:extLst>
              <a:ext uri="{FF2B5EF4-FFF2-40B4-BE49-F238E27FC236}">
                <a16:creationId xmlns:a16="http://schemas.microsoft.com/office/drawing/2014/main" id="{9FC72B9F-A3D5-015E-8ADD-0CE281FB1CE8}"/>
              </a:ext>
            </a:extLst>
          </p:cNvPr>
          <p:cNvGrpSpPr/>
          <p:nvPr/>
        </p:nvGrpSpPr>
        <p:grpSpPr>
          <a:xfrm>
            <a:off x="6549319" y="1710586"/>
            <a:ext cx="1779145" cy="1250348"/>
            <a:chOff x="6549319" y="1710586"/>
            <a:chExt cx="1779145" cy="1250348"/>
          </a:xfrm>
        </p:grpSpPr>
        <p:sp>
          <p:nvSpPr>
            <p:cNvPr id="35" name="Google Shape;963;p55">
              <a:extLst>
                <a:ext uri="{FF2B5EF4-FFF2-40B4-BE49-F238E27FC236}">
                  <a16:creationId xmlns:a16="http://schemas.microsoft.com/office/drawing/2014/main" id="{257258CC-5D29-9C9C-03F9-1A8D6F031F0E}"/>
                </a:ext>
              </a:extLst>
            </p:cNvPr>
            <p:cNvSpPr/>
            <p:nvPr/>
          </p:nvSpPr>
          <p:spPr>
            <a:xfrm>
              <a:off x="6549319" y="1814112"/>
              <a:ext cx="1779145" cy="1146822"/>
            </a:xfrm>
            <a:prstGeom prst="roundRect">
              <a:avLst>
                <a:gd name="adj" fmla="val 4567"/>
              </a:avLst>
            </a:prstGeom>
            <a:solidFill>
              <a:srgbClr val="FFFFFF"/>
            </a:solidFill>
            <a:ln w="25400" cap="flat" cmpd="sng">
              <a:solidFill>
                <a:schemeClr val="accent3"/>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36" name="Google Shape;978;p55">
              <a:extLst>
                <a:ext uri="{FF2B5EF4-FFF2-40B4-BE49-F238E27FC236}">
                  <a16:creationId xmlns:a16="http://schemas.microsoft.com/office/drawing/2014/main" id="{4737FD9E-911E-B8C4-F658-5E725BA4D7D9}"/>
                </a:ext>
              </a:extLst>
            </p:cNvPr>
            <p:cNvSpPr/>
            <p:nvPr/>
          </p:nvSpPr>
          <p:spPr>
            <a:xfrm>
              <a:off x="6969668" y="1710586"/>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Roboto"/>
                  <a:cs typeface="Roboto"/>
                  <a:sym typeface="Roboto"/>
                </a:rPr>
                <a:t>DC1</a:t>
              </a:r>
            </a:p>
          </p:txBody>
        </p:sp>
      </p:grpSp>
      <p:grpSp>
        <p:nvGrpSpPr>
          <p:cNvPr id="174" name="Group 173">
            <a:extLst>
              <a:ext uri="{FF2B5EF4-FFF2-40B4-BE49-F238E27FC236}">
                <a16:creationId xmlns:a16="http://schemas.microsoft.com/office/drawing/2014/main" id="{6F7396D5-001E-89EE-52CC-5B2938E52409}"/>
              </a:ext>
            </a:extLst>
          </p:cNvPr>
          <p:cNvGrpSpPr/>
          <p:nvPr/>
        </p:nvGrpSpPr>
        <p:grpSpPr>
          <a:xfrm>
            <a:off x="8992367" y="1710586"/>
            <a:ext cx="1779145" cy="1250348"/>
            <a:chOff x="8992367" y="1710586"/>
            <a:chExt cx="1779145" cy="1250348"/>
          </a:xfrm>
        </p:grpSpPr>
        <p:sp>
          <p:nvSpPr>
            <p:cNvPr id="37" name="Google Shape;963;p55">
              <a:extLst>
                <a:ext uri="{FF2B5EF4-FFF2-40B4-BE49-F238E27FC236}">
                  <a16:creationId xmlns:a16="http://schemas.microsoft.com/office/drawing/2014/main" id="{DC40C7C5-20EE-0204-96B4-FD783484323B}"/>
                </a:ext>
              </a:extLst>
            </p:cNvPr>
            <p:cNvSpPr/>
            <p:nvPr/>
          </p:nvSpPr>
          <p:spPr>
            <a:xfrm>
              <a:off x="8992367" y="1814112"/>
              <a:ext cx="1779145" cy="1146822"/>
            </a:xfrm>
            <a:prstGeom prst="roundRect">
              <a:avLst>
                <a:gd name="adj" fmla="val 4567"/>
              </a:avLst>
            </a:prstGeom>
            <a:solidFill>
              <a:srgbClr val="FFFFFF"/>
            </a:solidFill>
            <a:ln w="25400" cap="flat" cmpd="sng">
              <a:solidFill>
                <a:schemeClr val="accent3"/>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38" name="Google Shape;978;p55">
              <a:extLst>
                <a:ext uri="{FF2B5EF4-FFF2-40B4-BE49-F238E27FC236}">
                  <a16:creationId xmlns:a16="http://schemas.microsoft.com/office/drawing/2014/main" id="{A0E4ACE7-98E1-CE82-A69A-B20DD0DEA55C}"/>
                </a:ext>
              </a:extLst>
            </p:cNvPr>
            <p:cNvSpPr/>
            <p:nvPr/>
          </p:nvSpPr>
          <p:spPr>
            <a:xfrm>
              <a:off x="9412716" y="1710586"/>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US" sz="1050" b="0" i="0" u="none" strike="noStrike" kern="1200" cap="none" spc="0" normalizeH="0" baseline="0" noProof="0">
                  <a:ln>
                    <a:noFill/>
                  </a:ln>
                  <a:solidFill>
                    <a:srgbClr val="FFFFFF"/>
                  </a:solidFill>
                  <a:effectLst/>
                  <a:uLnTx/>
                  <a:uFillTx/>
                  <a:latin typeface="Arial" panose="020B0604020202020204"/>
                  <a:ea typeface="Roboto"/>
                  <a:cs typeface="Roboto"/>
                  <a:sym typeface="Roboto"/>
                </a:rPr>
                <a:t>DC2</a:t>
              </a:r>
            </a:p>
          </p:txBody>
        </p:sp>
      </p:grpSp>
      <p:cxnSp>
        <p:nvCxnSpPr>
          <p:cNvPr id="64" name="Straight Connector 63">
            <a:extLst>
              <a:ext uri="{FF2B5EF4-FFF2-40B4-BE49-F238E27FC236}">
                <a16:creationId xmlns:a16="http://schemas.microsoft.com/office/drawing/2014/main" id="{26E631E1-DFDA-19C7-85F0-4B4F5D52D165}"/>
              </a:ext>
            </a:extLst>
          </p:cNvPr>
          <p:cNvCxnSpPr>
            <a:cxnSpLocks/>
          </p:cNvCxnSpPr>
          <p:nvPr/>
        </p:nvCxnSpPr>
        <p:spPr bwMode="gray">
          <a:xfrm>
            <a:off x="6993030" y="2807370"/>
            <a:ext cx="930183" cy="0"/>
          </a:xfrm>
          <a:prstGeom prst="line">
            <a:avLst/>
          </a:prstGeom>
          <a:solidFill>
            <a:srgbClr val="FFFFFF"/>
          </a:solidFill>
          <a:ln w="25400" cap="flat" cmpd="sng">
            <a:solidFill>
              <a:schemeClr val="accent3"/>
            </a:solidFill>
            <a:prstDash val="solid"/>
            <a:round/>
            <a:headEnd type="none" w="sm" len="sm"/>
            <a:tailEnd type="none" w="sm" len="sm"/>
          </a:ln>
        </p:spPr>
      </p:cxnSp>
      <p:grpSp>
        <p:nvGrpSpPr>
          <p:cNvPr id="68" name="Group 67">
            <a:extLst>
              <a:ext uri="{FF2B5EF4-FFF2-40B4-BE49-F238E27FC236}">
                <a16:creationId xmlns:a16="http://schemas.microsoft.com/office/drawing/2014/main" id="{455ED06F-7129-7F46-B8B2-56BA2C45F4EF}"/>
              </a:ext>
            </a:extLst>
          </p:cNvPr>
          <p:cNvGrpSpPr/>
          <p:nvPr/>
        </p:nvGrpSpPr>
        <p:grpSpPr>
          <a:xfrm>
            <a:off x="6810935" y="2087315"/>
            <a:ext cx="530226" cy="720055"/>
            <a:chOff x="7173777" y="2087315"/>
            <a:chExt cx="530226" cy="720055"/>
          </a:xfrm>
        </p:grpSpPr>
        <p:grpSp>
          <p:nvGrpSpPr>
            <p:cNvPr id="63" name="Group 62">
              <a:extLst>
                <a:ext uri="{FF2B5EF4-FFF2-40B4-BE49-F238E27FC236}">
                  <a16:creationId xmlns:a16="http://schemas.microsoft.com/office/drawing/2014/main" id="{C493078C-6247-5426-EF46-2E497BA6FB1B}"/>
                </a:ext>
              </a:extLst>
            </p:cNvPr>
            <p:cNvGrpSpPr/>
            <p:nvPr/>
          </p:nvGrpSpPr>
          <p:grpSpPr>
            <a:xfrm>
              <a:off x="7173777" y="2087315"/>
              <a:ext cx="530226" cy="530226"/>
              <a:chOff x="2008163" y="2122216"/>
              <a:chExt cx="530226" cy="530226"/>
            </a:xfrm>
          </p:grpSpPr>
          <p:sp>
            <p:nvSpPr>
              <p:cNvPr id="66" name="Google Shape;1802;p69">
                <a:extLst>
                  <a:ext uri="{FF2B5EF4-FFF2-40B4-BE49-F238E27FC236}">
                    <a16:creationId xmlns:a16="http://schemas.microsoft.com/office/drawing/2014/main" id="{8DF62701-935F-9CA5-5995-DEDE8B333F5C}"/>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67" name="Google Shape;1803;p69">
                <a:extLst>
                  <a:ext uri="{FF2B5EF4-FFF2-40B4-BE49-F238E27FC236}">
                    <a16:creationId xmlns:a16="http://schemas.microsoft.com/office/drawing/2014/main" id="{BA786C13-51FD-F042-89FC-18ACBEF4D277}"/>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65" name="Straight Connector 64">
              <a:extLst>
                <a:ext uri="{FF2B5EF4-FFF2-40B4-BE49-F238E27FC236}">
                  <a16:creationId xmlns:a16="http://schemas.microsoft.com/office/drawing/2014/main" id="{F4120EE8-4560-A572-2D75-BA7071F8CBAC}"/>
                </a:ext>
              </a:extLst>
            </p:cNvPr>
            <p:cNvCxnSpPr>
              <a:cxnSpLocks/>
            </p:cNvCxnSpPr>
            <p:nvPr/>
          </p:nvCxnSpPr>
          <p:spPr bwMode="gray">
            <a:xfrm>
              <a:off x="7438890" y="2617541"/>
              <a:ext cx="0" cy="189829"/>
            </a:xfrm>
            <a:prstGeom prst="line">
              <a:avLst/>
            </a:prstGeom>
            <a:solidFill>
              <a:srgbClr val="FFFFFF"/>
            </a:solidFill>
            <a:ln w="25400" cap="flat" cmpd="sng">
              <a:solidFill>
                <a:schemeClr val="accent3"/>
              </a:solidFill>
              <a:prstDash val="solid"/>
              <a:round/>
              <a:headEnd type="none" w="sm" len="sm"/>
              <a:tailEnd type="none" w="sm" len="sm"/>
            </a:ln>
          </p:spPr>
        </p:cxnSp>
      </p:grpSp>
      <p:grpSp>
        <p:nvGrpSpPr>
          <p:cNvPr id="69" name="Group 68">
            <a:extLst>
              <a:ext uri="{FF2B5EF4-FFF2-40B4-BE49-F238E27FC236}">
                <a16:creationId xmlns:a16="http://schemas.microsoft.com/office/drawing/2014/main" id="{94D9EA20-EFCF-9086-CC77-052F4F54A1BF}"/>
              </a:ext>
            </a:extLst>
          </p:cNvPr>
          <p:cNvGrpSpPr/>
          <p:nvPr/>
        </p:nvGrpSpPr>
        <p:grpSpPr>
          <a:xfrm>
            <a:off x="7536621" y="2087315"/>
            <a:ext cx="530226" cy="720055"/>
            <a:chOff x="7173777" y="2087315"/>
            <a:chExt cx="530226" cy="720055"/>
          </a:xfrm>
        </p:grpSpPr>
        <p:grpSp>
          <p:nvGrpSpPr>
            <p:cNvPr id="70" name="Group 69">
              <a:extLst>
                <a:ext uri="{FF2B5EF4-FFF2-40B4-BE49-F238E27FC236}">
                  <a16:creationId xmlns:a16="http://schemas.microsoft.com/office/drawing/2014/main" id="{5D142035-BC5B-B808-F6EB-A36F782B0AEF}"/>
                </a:ext>
              </a:extLst>
            </p:cNvPr>
            <p:cNvGrpSpPr/>
            <p:nvPr/>
          </p:nvGrpSpPr>
          <p:grpSpPr>
            <a:xfrm>
              <a:off x="7173777" y="2087315"/>
              <a:ext cx="530226" cy="530226"/>
              <a:chOff x="2008163" y="2122216"/>
              <a:chExt cx="530226" cy="530226"/>
            </a:xfrm>
          </p:grpSpPr>
          <p:sp>
            <p:nvSpPr>
              <p:cNvPr id="72" name="Google Shape;1802;p69">
                <a:extLst>
                  <a:ext uri="{FF2B5EF4-FFF2-40B4-BE49-F238E27FC236}">
                    <a16:creationId xmlns:a16="http://schemas.microsoft.com/office/drawing/2014/main" id="{E4939CD9-E426-4A61-0357-CDC3495373DD}"/>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73" name="Google Shape;1803;p69">
                <a:extLst>
                  <a:ext uri="{FF2B5EF4-FFF2-40B4-BE49-F238E27FC236}">
                    <a16:creationId xmlns:a16="http://schemas.microsoft.com/office/drawing/2014/main" id="{5667B05B-767E-A5AC-DCE4-72F836800552}"/>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71" name="Straight Connector 70">
              <a:extLst>
                <a:ext uri="{FF2B5EF4-FFF2-40B4-BE49-F238E27FC236}">
                  <a16:creationId xmlns:a16="http://schemas.microsoft.com/office/drawing/2014/main" id="{806EDBE6-1099-4000-0AA7-23C05D1A2EA3}"/>
                </a:ext>
              </a:extLst>
            </p:cNvPr>
            <p:cNvCxnSpPr>
              <a:cxnSpLocks/>
            </p:cNvCxnSpPr>
            <p:nvPr/>
          </p:nvCxnSpPr>
          <p:spPr bwMode="gray">
            <a:xfrm>
              <a:off x="7438890" y="2617541"/>
              <a:ext cx="0" cy="189829"/>
            </a:xfrm>
            <a:prstGeom prst="line">
              <a:avLst/>
            </a:prstGeom>
            <a:solidFill>
              <a:srgbClr val="FFFFFF"/>
            </a:solidFill>
            <a:ln w="25400" cap="flat" cmpd="sng">
              <a:solidFill>
                <a:schemeClr val="accent3"/>
              </a:solidFill>
              <a:prstDash val="solid"/>
              <a:round/>
              <a:headEnd type="none" w="sm" len="sm"/>
              <a:tailEnd type="none" w="sm" len="sm"/>
            </a:ln>
          </p:spPr>
        </p:cxnSp>
      </p:grpSp>
      <p:grpSp>
        <p:nvGrpSpPr>
          <p:cNvPr id="104" name="Group 103">
            <a:extLst>
              <a:ext uri="{FF2B5EF4-FFF2-40B4-BE49-F238E27FC236}">
                <a16:creationId xmlns:a16="http://schemas.microsoft.com/office/drawing/2014/main" id="{465E5C27-6F47-3F0A-FACB-565C108D084B}"/>
              </a:ext>
            </a:extLst>
          </p:cNvPr>
          <p:cNvGrpSpPr/>
          <p:nvPr/>
        </p:nvGrpSpPr>
        <p:grpSpPr>
          <a:xfrm>
            <a:off x="6549319" y="4006340"/>
            <a:ext cx="4222193" cy="1250348"/>
            <a:chOff x="6549319" y="4006340"/>
            <a:chExt cx="4222193" cy="1250348"/>
          </a:xfrm>
        </p:grpSpPr>
        <p:sp>
          <p:nvSpPr>
            <p:cNvPr id="40" name="Google Shape;963;p55">
              <a:extLst>
                <a:ext uri="{FF2B5EF4-FFF2-40B4-BE49-F238E27FC236}">
                  <a16:creationId xmlns:a16="http://schemas.microsoft.com/office/drawing/2014/main" id="{47FB59EB-A817-C6DD-5BFD-B2E962FF5C19}"/>
                </a:ext>
              </a:extLst>
            </p:cNvPr>
            <p:cNvSpPr/>
            <p:nvPr/>
          </p:nvSpPr>
          <p:spPr>
            <a:xfrm>
              <a:off x="6549319" y="4109866"/>
              <a:ext cx="1779145" cy="1146822"/>
            </a:xfrm>
            <a:prstGeom prst="roundRect">
              <a:avLst>
                <a:gd name="adj" fmla="val 4567"/>
              </a:avLst>
            </a:prstGeom>
            <a:solidFill>
              <a:srgbClr val="FFFFFF"/>
            </a:solidFill>
            <a:ln w="25400" cap="flat" cmpd="sng">
              <a:solidFill>
                <a:srgbClr val="6C4B93"/>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41" name="Google Shape;978;p55">
              <a:extLst>
                <a:ext uri="{FF2B5EF4-FFF2-40B4-BE49-F238E27FC236}">
                  <a16:creationId xmlns:a16="http://schemas.microsoft.com/office/drawing/2014/main" id="{5C521F2F-1AB2-6928-1DEB-AC3272DB4214}"/>
                </a:ext>
              </a:extLst>
            </p:cNvPr>
            <p:cNvSpPr/>
            <p:nvPr/>
          </p:nvSpPr>
          <p:spPr>
            <a:xfrm>
              <a:off x="6969668" y="4006340"/>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US" sz="1050" b="0" i="0" u="none" strike="noStrike" kern="1200" cap="none" spc="0" normalizeH="0" baseline="0" noProof="0">
                  <a:ln>
                    <a:noFill/>
                  </a:ln>
                  <a:solidFill>
                    <a:srgbClr val="FFFFFF"/>
                  </a:solidFill>
                  <a:effectLst/>
                  <a:uLnTx/>
                  <a:uFillTx/>
                  <a:latin typeface="Arial" panose="020B0604020202020204"/>
                  <a:ea typeface="Roboto"/>
                  <a:cs typeface="Roboto"/>
                  <a:sym typeface="Roboto"/>
                </a:rPr>
                <a:t>London</a:t>
              </a:r>
            </a:p>
          </p:txBody>
        </p:sp>
        <p:sp>
          <p:nvSpPr>
            <p:cNvPr id="42" name="Google Shape;963;p55">
              <a:extLst>
                <a:ext uri="{FF2B5EF4-FFF2-40B4-BE49-F238E27FC236}">
                  <a16:creationId xmlns:a16="http://schemas.microsoft.com/office/drawing/2014/main" id="{18214E12-4325-B36A-4B84-828B8ACBB5A8}"/>
                </a:ext>
              </a:extLst>
            </p:cNvPr>
            <p:cNvSpPr/>
            <p:nvPr/>
          </p:nvSpPr>
          <p:spPr>
            <a:xfrm>
              <a:off x="8992367" y="4109866"/>
              <a:ext cx="1779145" cy="1146822"/>
            </a:xfrm>
            <a:prstGeom prst="roundRect">
              <a:avLst>
                <a:gd name="adj" fmla="val 4567"/>
              </a:avLst>
            </a:prstGeom>
            <a:solidFill>
              <a:srgbClr val="FFFFFF"/>
            </a:solidFill>
            <a:ln w="25400" cap="flat" cmpd="sng">
              <a:solidFill>
                <a:srgbClr val="6C4B93"/>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43" name="Google Shape;978;p55">
              <a:extLst>
                <a:ext uri="{FF2B5EF4-FFF2-40B4-BE49-F238E27FC236}">
                  <a16:creationId xmlns:a16="http://schemas.microsoft.com/office/drawing/2014/main" id="{BDF529ED-9AD7-F675-C2F3-015D1CC9D52E}"/>
                </a:ext>
              </a:extLst>
            </p:cNvPr>
            <p:cNvSpPr/>
            <p:nvPr/>
          </p:nvSpPr>
          <p:spPr>
            <a:xfrm>
              <a:off x="9412716" y="4006340"/>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 sz="1050" b="0" i="0" u="none" strike="noStrike" kern="1200" cap="none" spc="0" normalizeH="0" baseline="0" noProof="0" dirty="0">
                  <a:ln>
                    <a:noFill/>
                  </a:ln>
                  <a:solidFill>
                    <a:srgbClr val="FFFFFF"/>
                  </a:solidFill>
                  <a:effectLst/>
                  <a:uLnTx/>
                  <a:uFillTx/>
                  <a:latin typeface="Arial" panose="020B0604020202020204"/>
                  <a:ea typeface="Roboto"/>
                  <a:cs typeface="Roboto"/>
                  <a:sym typeface="Roboto"/>
                </a:rPr>
                <a:t>Paris</a:t>
              </a:r>
              <a:endParaRPr kumimoji="0"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82" name="Straight Connector 81">
              <a:extLst>
                <a:ext uri="{FF2B5EF4-FFF2-40B4-BE49-F238E27FC236}">
                  <a16:creationId xmlns:a16="http://schemas.microsoft.com/office/drawing/2014/main" id="{7A0C4632-16AA-7034-72F2-B2380FF532CC}"/>
                </a:ext>
              </a:extLst>
            </p:cNvPr>
            <p:cNvCxnSpPr>
              <a:cxnSpLocks/>
            </p:cNvCxnSpPr>
            <p:nvPr/>
          </p:nvCxnSpPr>
          <p:spPr bwMode="gray">
            <a:xfrm>
              <a:off x="6993030" y="5103124"/>
              <a:ext cx="3334771" cy="0"/>
            </a:xfrm>
            <a:prstGeom prst="line">
              <a:avLst/>
            </a:prstGeom>
            <a:solidFill>
              <a:srgbClr val="FFFFFF"/>
            </a:solidFill>
            <a:ln w="25400" cap="flat" cmpd="sng">
              <a:solidFill>
                <a:schemeClr val="accent5"/>
              </a:solidFill>
              <a:prstDash val="solid"/>
              <a:round/>
              <a:headEnd type="none" w="sm" len="sm"/>
              <a:tailEnd type="none" w="sm" len="sm"/>
            </a:ln>
          </p:spPr>
        </p:cxnSp>
        <p:grpSp>
          <p:nvGrpSpPr>
            <p:cNvPr id="94" name="Group 93">
              <a:extLst>
                <a:ext uri="{FF2B5EF4-FFF2-40B4-BE49-F238E27FC236}">
                  <a16:creationId xmlns:a16="http://schemas.microsoft.com/office/drawing/2014/main" id="{537F37ED-C7DC-8E80-B5FF-356B7B5B1F83}"/>
                </a:ext>
              </a:extLst>
            </p:cNvPr>
            <p:cNvGrpSpPr/>
            <p:nvPr/>
          </p:nvGrpSpPr>
          <p:grpSpPr>
            <a:xfrm>
              <a:off x="6810935" y="4383069"/>
              <a:ext cx="1255912" cy="720055"/>
              <a:chOff x="6810935" y="4383069"/>
              <a:chExt cx="1255912" cy="720055"/>
            </a:xfrm>
          </p:grpSpPr>
          <p:grpSp>
            <p:nvGrpSpPr>
              <p:cNvPr id="90" name="Group 89">
                <a:extLst>
                  <a:ext uri="{FF2B5EF4-FFF2-40B4-BE49-F238E27FC236}">
                    <a16:creationId xmlns:a16="http://schemas.microsoft.com/office/drawing/2014/main" id="{4ACDE9D1-7D6F-F4D5-148E-D14A73D9BC80}"/>
                  </a:ext>
                </a:extLst>
              </p:cNvPr>
              <p:cNvGrpSpPr/>
              <p:nvPr/>
            </p:nvGrpSpPr>
            <p:grpSpPr>
              <a:xfrm>
                <a:off x="6810935" y="4383069"/>
                <a:ext cx="530226" cy="530226"/>
                <a:chOff x="2008163" y="2122216"/>
                <a:chExt cx="530226" cy="530226"/>
              </a:xfrm>
            </p:grpSpPr>
            <p:sp>
              <p:nvSpPr>
                <p:cNvPr id="92" name="Google Shape;1802;p69">
                  <a:extLst>
                    <a:ext uri="{FF2B5EF4-FFF2-40B4-BE49-F238E27FC236}">
                      <a16:creationId xmlns:a16="http://schemas.microsoft.com/office/drawing/2014/main" id="{52AC1DF0-BCBA-A1A9-B064-C7053873CE96}"/>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93" name="Google Shape;1803;p69">
                  <a:extLst>
                    <a:ext uri="{FF2B5EF4-FFF2-40B4-BE49-F238E27FC236}">
                      <a16:creationId xmlns:a16="http://schemas.microsoft.com/office/drawing/2014/main" id="{60D545CB-B76E-87C9-EF6C-D54B89D91824}"/>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91" name="Straight Connector 90">
                <a:extLst>
                  <a:ext uri="{FF2B5EF4-FFF2-40B4-BE49-F238E27FC236}">
                    <a16:creationId xmlns:a16="http://schemas.microsoft.com/office/drawing/2014/main" id="{3DE2DE3A-A5F1-B5FE-1815-37144833FA80}"/>
                  </a:ext>
                </a:extLst>
              </p:cNvPr>
              <p:cNvCxnSpPr>
                <a:cxnSpLocks/>
              </p:cNvCxnSpPr>
              <p:nvPr/>
            </p:nvCxnSpPr>
            <p:spPr bwMode="gray">
              <a:xfrm>
                <a:off x="7076048" y="4913295"/>
                <a:ext cx="0" cy="189829"/>
              </a:xfrm>
              <a:prstGeom prst="line">
                <a:avLst/>
              </a:prstGeom>
              <a:solidFill>
                <a:srgbClr val="FFFFFF"/>
              </a:solidFill>
              <a:ln w="25400" cap="flat" cmpd="sng">
                <a:solidFill>
                  <a:schemeClr val="accent5"/>
                </a:solidFill>
                <a:prstDash val="solid"/>
                <a:round/>
                <a:headEnd type="none" w="sm" len="sm"/>
                <a:tailEnd type="none" w="sm" len="sm"/>
              </a:ln>
            </p:spPr>
          </p:cxnSp>
          <p:grpSp>
            <p:nvGrpSpPr>
              <p:cNvPr id="86" name="Group 85">
                <a:extLst>
                  <a:ext uri="{FF2B5EF4-FFF2-40B4-BE49-F238E27FC236}">
                    <a16:creationId xmlns:a16="http://schemas.microsoft.com/office/drawing/2014/main" id="{A1B3C6D4-FA9B-35CF-79EE-DA3DAEF286BD}"/>
                  </a:ext>
                </a:extLst>
              </p:cNvPr>
              <p:cNvGrpSpPr/>
              <p:nvPr/>
            </p:nvGrpSpPr>
            <p:grpSpPr>
              <a:xfrm>
                <a:off x="7536621" y="4383069"/>
                <a:ext cx="530226" cy="530226"/>
                <a:chOff x="2008163" y="2122216"/>
                <a:chExt cx="530226" cy="530226"/>
              </a:xfrm>
            </p:grpSpPr>
            <p:sp>
              <p:nvSpPr>
                <p:cNvPr id="88" name="Google Shape;1802;p69">
                  <a:extLst>
                    <a:ext uri="{FF2B5EF4-FFF2-40B4-BE49-F238E27FC236}">
                      <a16:creationId xmlns:a16="http://schemas.microsoft.com/office/drawing/2014/main" id="{74875938-8424-EC6D-CA30-136D8F54DFDD}"/>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89" name="Google Shape;1803;p69">
                  <a:extLst>
                    <a:ext uri="{FF2B5EF4-FFF2-40B4-BE49-F238E27FC236}">
                      <a16:creationId xmlns:a16="http://schemas.microsoft.com/office/drawing/2014/main" id="{C72D2A5F-6FAE-EEE0-1865-1D7D46493950}"/>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87" name="Straight Connector 86">
                <a:extLst>
                  <a:ext uri="{FF2B5EF4-FFF2-40B4-BE49-F238E27FC236}">
                    <a16:creationId xmlns:a16="http://schemas.microsoft.com/office/drawing/2014/main" id="{191D0D5C-7AD1-7E69-599E-5F639990758F}"/>
                  </a:ext>
                </a:extLst>
              </p:cNvPr>
              <p:cNvCxnSpPr>
                <a:cxnSpLocks/>
              </p:cNvCxnSpPr>
              <p:nvPr/>
            </p:nvCxnSpPr>
            <p:spPr bwMode="gray">
              <a:xfrm>
                <a:off x="7801734" y="4913295"/>
                <a:ext cx="0" cy="189829"/>
              </a:xfrm>
              <a:prstGeom prst="line">
                <a:avLst/>
              </a:prstGeom>
              <a:solidFill>
                <a:srgbClr val="FFFFFF"/>
              </a:solidFill>
              <a:ln w="25400" cap="flat" cmpd="sng">
                <a:solidFill>
                  <a:schemeClr val="accent5"/>
                </a:solidFill>
                <a:prstDash val="solid"/>
                <a:round/>
                <a:headEnd type="none" w="sm" len="sm"/>
                <a:tailEnd type="none" w="sm" len="sm"/>
              </a:ln>
            </p:spPr>
          </p:cxnSp>
        </p:grpSp>
        <p:grpSp>
          <p:nvGrpSpPr>
            <p:cNvPr id="95" name="Group 94">
              <a:extLst>
                <a:ext uri="{FF2B5EF4-FFF2-40B4-BE49-F238E27FC236}">
                  <a16:creationId xmlns:a16="http://schemas.microsoft.com/office/drawing/2014/main" id="{0F665B45-3234-A945-0181-70A03820072C}"/>
                </a:ext>
              </a:extLst>
            </p:cNvPr>
            <p:cNvGrpSpPr/>
            <p:nvPr/>
          </p:nvGrpSpPr>
          <p:grpSpPr>
            <a:xfrm>
              <a:off x="9253983" y="4383069"/>
              <a:ext cx="1255912" cy="720055"/>
              <a:chOff x="6810935" y="4383069"/>
              <a:chExt cx="1255912" cy="720055"/>
            </a:xfrm>
          </p:grpSpPr>
          <p:grpSp>
            <p:nvGrpSpPr>
              <p:cNvPr id="96" name="Group 95">
                <a:extLst>
                  <a:ext uri="{FF2B5EF4-FFF2-40B4-BE49-F238E27FC236}">
                    <a16:creationId xmlns:a16="http://schemas.microsoft.com/office/drawing/2014/main" id="{44977457-FDFB-CDD8-27FF-D09FE2350505}"/>
                  </a:ext>
                </a:extLst>
              </p:cNvPr>
              <p:cNvGrpSpPr/>
              <p:nvPr/>
            </p:nvGrpSpPr>
            <p:grpSpPr>
              <a:xfrm>
                <a:off x="6810935" y="4383069"/>
                <a:ext cx="530226" cy="530226"/>
                <a:chOff x="2008163" y="2122216"/>
                <a:chExt cx="530226" cy="530226"/>
              </a:xfrm>
            </p:grpSpPr>
            <p:sp>
              <p:nvSpPr>
                <p:cNvPr id="102" name="Google Shape;1802;p69">
                  <a:extLst>
                    <a:ext uri="{FF2B5EF4-FFF2-40B4-BE49-F238E27FC236}">
                      <a16:creationId xmlns:a16="http://schemas.microsoft.com/office/drawing/2014/main" id="{02CDFD45-573C-9D61-C21F-CBABA5A9CE5D}"/>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3" name="Google Shape;1803;p69">
                  <a:extLst>
                    <a:ext uri="{FF2B5EF4-FFF2-40B4-BE49-F238E27FC236}">
                      <a16:creationId xmlns:a16="http://schemas.microsoft.com/office/drawing/2014/main" id="{05E451FD-9C96-0DFC-5B5D-BF8BE7B4E790}"/>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97" name="Straight Connector 96">
                <a:extLst>
                  <a:ext uri="{FF2B5EF4-FFF2-40B4-BE49-F238E27FC236}">
                    <a16:creationId xmlns:a16="http://schemas.microsoft.com/office/drawing/2014/main" id="{E4756E63-0D91-6581-8254-B563A43DB390}"/>
                  </a:ext>
                </a:extLst>
              </p:cNvPr>
              <p:cNvCxnSpPr>
                <a:cxnSpLocks/>
              </p:cNvCxnSpPr>
              <p:nvPr/>
            </p:nvCxnSpPr>
            <p:spPr bwMode="gray">
              <a:xfrm>
                <a:off x="7076048" y="4913295"/>
                <a:ext cx="0" cy="189829"/>
              </a:xfrm>
              <a:prstGeom prst="line">
                <a:avLst/>
              </a:prstGeom>
              <a:solidFill>
                <a:srgbClr val="FFFFFF"/>
              </a:solidFill>
              <a:ln w="25400" cap="flat" cmpd="sng">
                <a:solidFill>
                  <a:schemeClr val="accent5"/>
                </a:solidFill>
                <a:prstDash val="solid"/>
                <a:round/>
                <a:headEnd type="none" w="sm" len="sm"/>
                <a:tailEnd type="none" w="sm" len="sm"/>
              </a:ln>
            </p:spPr>
          </p:cxnSp>
          <p:grpSp>
            <p:nvGrpSpPr>
              <p:cNvPr id="98" name="Group 97">
                <a:extLst>
                  <a:ext uri="{FF2B5EF4-FFF2-40B4-BE49-F238E27FC236}">
                    <a16:creationId xmlns:a16="http://schemas.microsoft.com/office/drawing/2014/main" id="{C127A3C3-90B0-3F35-60DC-3CC384EC2723}"/>
                  </a:ext>
                </a:extLst>
              </p:cNvPr>
              <p:cNvGrpSpPr/>
              <p:nvPr/>
            </p:nvGrpSpPr>
            <p:grpSpPr>
              <a:xfrm>
                <a:off x="7536621" y="4383069"/>
                <a:ext cx="530226" cy="530226"/>
                <a:chOff x="2008163" y="2122216"/>
                <a:chExt cx="530226" cy="530226"/>
              </a:xfrm>
            </p:grpSpPr>
            <p:sp>
              <p:nvSpPr>
                <p:cNvPr id="100" name="Google Shape;1802;p69">
                  <a:extLst>
                    <a:ext uri="{FF2B5EF4-FFF2-40B4-BE49-F238E27FC236}">
                      <a16:creationId xmlns:a16="http://schemas.microsoft.com/office/drawing/2014/main" id="{97030D2E-03A7-4093-3CE4-A27AD120F000}"/>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1" name="Google Shape;1803;p69">
                  <a:extLst>
                    <a:ext uri="{FF2B5EF4-FFF2-40B4-BE49-F238E27FC236}">
                      <a16:creationId xmlns:a16="http://schemas.microsoft.com/office/drawing/2014/main" id="{952E1CE5-D763-3006-3A88-2ECACEE01F28}"/>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99" name="Straight Connector 98">
                <a:extLst>
                  <a:ext uri="{FF2B5EF4-FFF2-40B4-BE49-F238E27FC236}">
                    <a16:creationId xmlns:a16="http://schemas.microsoft.com/office/drawing/2014/main" id="{8F626AB2-EF00-D6DA-2B54-169B1D6A365A}"/>
                  </a:ext>
                </a:extLst>
              </p:cNvPr>
              <p:cNvCxnSpPr>
                <a:cxnSpLocks/>
              </p:cNvCxnSpPr>
              <p:nvPr/>
            </p:nvCxnSpPr>
            <p:spPr bwMode="gray">
              <a:xfrm>
                <a:off x="7801734" y="4913295"/>
                <a:ext cx="0" cy="189829"/>
              </a:xfrm>
              <a:prstGeom prst="line">
                <a:avLst/>
              </a:prstGeom>
              <a:solidFill>
                <a:srgbClr val="FFFFFF"/>
              </a:solidFill>
              <a:ln w="25400" cap="flat" cmpd="sng">
                <a:solidFill>
                  <a:schemeClr val="accent5"/>
                </a:solidFill>
                <a:prstDash val="solid"/>
                <a:round/>
                <a:headEnd type="none" w="sm" len="sm"/>
                <a:tailEnd type="none" w="sm" len="sm"/>
              </a:ln>
            </p:spPr>
          </p:cxnSp>
        </p:grpSp>
      </p:grpSp>
      <p:cxnSp>
        <p:nvCxnSpPr>
          <p:cNvPr id="110" name="Straight Connector 109">
            <a:extLst>
              <a:ext uri="{FF2B5EF4-FFF2-40B4-BE49-F238E27FC236}">
                <a16:creationId xmlns:a16="http://schemas.microsoft.com/office/drawing/2014/main" id="{053A5D20-0736-331C-0025-DC793B6D0035}"/>
              </a:ext>
            </a:extLst>
          </p:cNvPr>
          <p:cNvCxnSpPr>
            <a:cxnSpLocks/>
          </p:cNvCxnSpPr>
          <p:nvPr/>
        </p:nvCxnSpPr>
        <p:spPr bwMode="gray">
          <a:xfrm>
            <a:off x="1832818" y="5103124"/>
            <a:ext cx="3334771" cy="0"/>
          </a:xfrm>
          <a:prstGeom prst="line">
            <a:avLst/>
          </a:prstGeom>
          <a:solidFill>
            <a:srgbClr val="FFFFFF"/>
          </a:solidFill>
          <a:ln w="25400" cap="flat" cmpd="sng">
            <a:solidFill>
              <a:schemeClr val="accent4"/>
            </a:solidFill>
            <a:prstDash val="solid"/>
            <a:round/>
            <a:headEnd type="none" w="sm" len="sm"/>
            <a:tailEnd type="none" w="sm" len="sm"/>
          </a:ln>
        </p:spPr>
      </p:cxnSp>
      <p:grpSp>
        <p:nvGrpSpPr>
          <p:cNvPr id="111" name="Group 110">
            <a:extLst>
              <a:ext uri="{FF2B5EF4-FFF2-40B4-BE49-F238E27FC236}">
                <a16:creationId xmlns:a16="http://schemas.microsoft.com/office/drawing/2014/main" id="{531B3F75-68CB-36D8-D727-4E398736FCF3}"/>
              </a:ext>
            </a:extLst>
          </p:cNvPr>
          <p:cNvGrpSpPr/>
          <p:nvPr/>
        </p:nvGrpSpPr>
        <p:grpSpPr>
          <a:xfrm>
            <a:off x="1650723" y="4383069"/>
            <a:ext cx="1255912" cy="720055"/>
            <a:chOff x="6810935" y="4383069"/>
            <a:chExt cx="1255912" cy="720055"/>
          </a:xfrm>
        </p:grpSpPr>
        <p:grpSp>
          <p:nvGrpSpPr>
            <p:cNvPr id="121" name="Group 120">
              <a:extLst>
                <a:ext uri="{FF2B5EF4-FFF2-40B4-BE49-F238E27FC236}">
                  <a16:creationId xmlns:a16="http://schemas.microsoft.com/office/drawing/2014/main" id="{F250A936-8A3E-67EB-47AC-06283A2614DB}"/>
                </a:ext>
              </a:extLst>
            </p:cNvPr>
            <p:cNvGrpSpPr/>
            <p:nvPr/>
          </p:nvGrpSpPr>
          <p:grpSpPr>
            <a:xfrm>
              <a:off x="6810935" y="4383069"/>
              <a:ext cx="530226" cy="530226"/>
              <a:chOff x="2008163" y="2122216"/>
              <a:chExt cx="530226" cy="530226"/>
            </a:xfrm>
          </p:grpSpPr>
          <p:sp>
            <p:nvSpPr>
              <p:cNvPr id="127" name="Google Shape;1802;p69">
                <a:extLst>
                  <a:ext uri="{FF2B5EF4-FFF2-40B4-BE49-F238E27FC236}">
                    <a16:creationId xmlns:a16="http://schemas.microsoft.com/office/drawing/2014/main" id="{4ED969DA-6196-858E-BB36-DF0639F1DE71}"/>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28" name="Google Shape;1803;p69">
                <a:extLst>
                  <a:ext uri="{FF2B5EF4-FFF2-40B4-BE49-F238E27FC236}">
                    <a16:creationId xmlns:a16="http://schemas.microsoft.com/office/drawing/2014/main" id="{84A7030C-1AC4-BF5A-0A2C-8D2A36B4649D}"/>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122" name="Straight Connector 121">
              <a:extLst>
                <a:ext uri="{FF2B5EF4-FFF2-40B4-BE49-F238E27FC236}">
                  <a16:creationId xmlns:a16="http://schemas.microsoft.com/office/drawing/2014/main" id="{DE6C447B-3700-04A9-F3C9-B3DF2F2416FF}"/>
                </a:ext>
              </a:extLst>
            </p:cNvPr>
            <p:cNvCxnSpPr>
              <a:cxnSpLocks/>
            </p:cNvCxnSpPr>
            <p:nvPr/>
          </p:nvCxnSpPr>
          <p:spPr bwMode="gray">
            <a:xfrm>
              <a:off x="7076048" y="4913295"/>
              <a:ext cx="0" cy="189829"/>
            </a:xfrm>
            <a:prstGeom prst="line">
              <a:avLst/>
            </a:prstGeom>
            <a:solidFill>
              <a:srgbClr val="FFFFFF"/>
            </a:solidFill>
            <a:ln w="25400" cap="flat" cmpd="sng">
              <a:solidFill>
                <a:schemeClr val="accent4"/>
              </a:solidFill>
              <a:prstDash val="solid"/>
              <a:round/>
              <a:headEnd type="none" w="sm" len="sm"/>
              <a:tailEnd type="none" w="sm" len="sm"/>
            </a:ln>
          </p:spPr>
        </p:cxnSp>
        <p:grpSp>
          <p:nvGrpSpPr>
            <p:cNvPr id="123" name="Group 122">
              <a:extLst>
                <a:ext uri="{FF2B5EF4-FFF2-40B4-BE49-F238E27FC236}">
                  <a16:creationId xmlns:a16="http://schemas.microsoft.com/office/drawing/2014/main" id="{30FFFE5E-97CC-641B-EAF0-2A5E5F80EBDE}"/>
                </a:ext>
              </a:extLst>
            </p:cNvPr>
            <p:cNvGrpSpPr/>
            <p:nvPr/>
          </p:nvGrpSpPr>
          <p:grpSpPr>
            <a:xfrm>
              <a:off x="7536621" y="4383069"/>
              <a:ext cx="530226" cy="530226"/>
              <a:chOff x="2008163" y="2122216"/>
              <a:chExt cx="530226" cy="530226"/>
            </a:xfrm>
          </p:grpSpPr>
          <p:sp>
            <p:nvSpPr>
              <p:cNvPr id="125" name="Google Shape;1802;p69">
                <a:extLst>
                  <a:ext uri="{FF2B5EF4-FFF2-40B4-BE49-F238E27FC236}">
                    <a16:creationId xmlns:a16="http://schemas.microsoft.com/office/drawing/2014/main" id="{5849F967-3CF8-C18A-B460-C4E46918C785}"/>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26" name="Google Shape;1803;p69">
                <a:extLst>
                  <a:ext uri="{FF2B5EF4-FFF2-40B4-BE49-F238E27FC236}">
                    <a16:creationId xmlns:a16="http://schemas.microsoft.com/office/drawing/2014/main" id="{2B490F35-8B9D-6250-ED26-A8AAEC890896}"/>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124" name="Straight Connector 123">
              <a:extLst>
                <a:ext uri="{FF2B5EF4-FFF2-40B4-BE49-F238E27FC236}">
                  <a16:creationId xmlns:a16="http://schemas.microsoft.com/office/drawing/2014/main" id="{EF53A705-42AC-CFFB-6214-B271DBBA00F5}"/>
                </a:ext>
              </a:extLst>
            </p:cNvPr>
            <p:cNvCxnSpPr>
              <a:cxnSpLocks/>
            </p:cNvCxnSpPr>
            <p:nvPr/>
          </p:nvCxnSpPr>
          <p:spPr bwMode="gray">
            <a:xfrm>
              <a:off x="7801734" y="4913295"/>
              <a:ext cx="0" cy="189829"/>
            </a:xfrm>
            <a:prstGeom prst="line">
              <a:avLst/>
            </a:prstGeom>
            <a:solidFill>
              <a:srgbClr val="FFFFFF"/>
            </a:solidFill>
            <a:ln w="25400" cap="flat" cmpd="sng">
              <a:solidFill>
                <a:schemeClr val="accent4"/>
              </a:solidFill>
              <a:prstDash val="solid"/>
              <a:round/>
              <a:headEnd type="none" w="sm" len="sm"/>
              <a:tailEnd type="none" w="sm" len="sm"/>
            </a:ln>
          </p:spPr>
        </p:cxnSp>
      </p:grpSp>
      <p:grpSp>
        <p:nvGrpSpPr>
          <p:cNvPr id="112" name="Group 111">
            <a:extLst>
              <a:ext uri="{FF2B5EF4-FFF2-40B4-BE49-F238E27FC236}">
                <a16:creationId xmlns:a16="http://schemas.microsoft.com/office/drawing/2014/main" id="{CA04B400-4CFD-B2D5-72C4-D919E443D7DE}"/>
              </a:ext>
            </a:extLst>
          </p:cNvPr>
          <p:cNvGrpSpPr/>
          <p:nvPr/>
        </p:nvGrpSpPr>
        <p:grpSpPr>
          <a:xfrm>
            <a:off x="4093771" y="4383069"/>
            <a:ext cx="1255912" cy="720055"/>
            <a:chOff x="6810935" y="4383069"/>
            <a:chExt cx="1255912" cy="720055"/>
          </a:xfrm>
        </p:grpSpPr>
        <p:grpSp>
          <p:nvGrpSpPr>
            <p:cNvPr id="113" name="Group 112">
              <a:extLst>
                <a:ext uri="{FF2B5EF4-FFF2-40B4-BE49-F238E27FC236}">
                  <a16:creationId xmlns:a16="http://schemas.microsoft.com/office/drawing/2014/main" id="{86A2CE65-742F-0FA4-BDE4-BCD0305C255B}"/>
                </a:ext>
              </a:extLst>
            </p:cNvPr>
            <p:cNvGrpSpPr/>
            <p:nvPr/>
          </p:nvGrpSpPr>
          <p:grpSpPr>
            <a:xfrm>
              <a:off x="6810935" y="4383069"/>
              <a:ext cx="530226" cy="530226"/>
              <a:chOff x="2008163" y="2122216"/>
              <a:chExt cx="530226" cy="530226"/>
            </a:xfrm>
          </p:grpSpPr>
          <p:sp>
            <p:nvSpPr>
              <p:cNvPr id="119" name="Google Shape;1802;p69">
                <a:extLst>
                  <a:ext uri="{FF2B5EF4-FFF2-40B4-BE49-F238E27FC236}">
                    <a16:creationId xmlns:a16="http://schemas.microsoft.com/office/drawing/2014/main" id="{2E8BA83D-3893-D106-F509-3EF43B6AD4A5}"/>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20" name="Google Shape;1803;p69">
                <a:extLst>
                  <a:ext uri="{FF2B5EF4-FFF2-40B4-BE49-F238E27FC236}">
                    <a16:creationId xmlns:a16="http://schemas.microsoft.com/office/drawing/2014/main" id="{DBE53A19-61AF-B81E-EFE4-CD17FCE952C3}"/>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114" name="Straight Connector 113">
              <a:extLst>
                <a:ext uri="{FF2B5EF4-FFF2-40B4-BE49-F238E27FC236}">
                  <a16:creationId xmlns:a16="http://schemas.microsoft.com/office/drawing/2014/main" id="{6C7046EB-F1FB-C528-CA41-69E2EAFFD639}"/>
                </a:ext>
              </a:extLst>
            </p:cNvPr>
            <p:cNvCxnSpPr>
              <a:cxnSpLocks/>
            </p:cNvCxnSpPr>
            <p:nvPr/>
          </p:nvCxnSpPr>
          <p:spPr bwMode="gray">
            <a:xfrm>
              <a:off x="7076048" y="4913295"/>
              <a:ext cx="0" cy="189829"/>
            </a:xfrm>
            <a:prstGeom prst="line">
              <a:avLst/>
            </a:prstGeom>
            <a:solidFill>
              <a:srgbClr val="FFFFFF"/>
            </a:solidFill>
            <a:ln w="25400" cap="flat" cmpd="sng">
              <a:solidFill>
                <a:schemeClr val="accent4"/>
              </a:solidFill>
              <a:prstDash val="solid"/>
              <a:round/>
              <a:headEnd type="none" w="sm" len="sm"/>
              <a:tailEnd type="none" w="sm" len="sm"/>
            </a:ln>
          </p:spPr>
        </p:cxnSp>
        <p:grpSp>
          <p:nvGrpSpPr>
            <p:cNvPr id="115" name="Group 114">
              <a:extLst>
                <a:ext uri="{FF2B5EF4-FFF2-40B4-BE49-F238E27FC236}">
                  <a16:creationId xmlns:a16="http://schemas.microsoft.com/office/drawing/2014/main" id="{20F4E5C2-E97A-A4CA-469F-42D37CA65EE4}"/>
                </a:ext>
              </a:extLst>
            </p:cNvPr>
            <p:cNvGrpSpPr/>
            <p:nvPr/>
          </p:nvGrpSpPr>
          <p:grpSpPr>
            <a:xfrm>
              <a:off x="7536621" y="4383069"/>
              <a:ext cx="530226" cy="530226"/>
              <a:chOff x="2008163" y="2122216"/>
              <a:chExt cx="530226" cy="530226"/>
            </a:xfrm>
          </p:grpSpPr>
          <p:sp>
            <p:nvSpPr>
              <p:cNvPr id="117" name="Google Shape;1802;p69">
                <a:extLst>
                  <a:ext uri="{FF2B5EF4-FFF2-40B4-BE49-F238E27FC236}">
                    <a16:creationId xmlns:a16="http://schemas.microsoft.com/office/drawing/2014/main" id="{D48B7EDD-38D6-BC57-A9CC-76DD0F861A79}"/>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18" name="Google Shape;1803;p69">
                <a:extLst>
                  <a:ext uri="{FF2B5EF4-FFF2-40B4-BE49-F238E27FC236}">
                    <a16:creationId xmlns:a16="http://schemas.microsoft.com/office/drawing/2014/main" id="{4FFD1B30-DF66-3109-E689-FDEF3D77D9C4}"/>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116" name="Straight Connector 115">
              <a:extLst>
                <a:ext uri="{FF2B5EF4-FFF2-40B4-BE49-F238E27FC236}">
                  <a16:creationId xmlns:a16="http://schemas.microsoft.com/office/drawing/2014/main" id="{CC4B1DDE-74D9-E4E3-2C0A-E1BE72054D03}"/>
                </a:ext>
              </a:extLst>
            </p:cNvPr>
            <p:cNvCxnSpPr>
              <a:cxnSpLocks/>
            </p:cNvCxnSpPr>
            <p:nvPr/>
          </p:nvCxnSpPr>
          <p:spPr bwMode="gray">
            <a:xfrm>
              <a:off x="7801734" y="4913295"/>
              <a:ext cx="0" cy="189829"/>
            </a:xfrm>
            <a:prstGeom prst="line">
              <a:avLst/>
            </a:prstGeom>
            <a:solidFill>
              <a:srgbClr val="FFFFFF"/>
            </a:solidFill>
            <a:ln w="25400" cap="flat" cmpd="sng">
              <a:solidFill>
                <a:schemeClr val="accent4"/>
              </a:solidFill>
              <a:prstDash val="solid"/>
              <a:round/>
              <a:headEnd type="none" w="sm" len="sm"/>
              <a:tailEnd type="none" w="sm" len="sm"/>
            </a:ln>
          </p:spPr>
        </p:cxnSp>
      </p:grpSp>
      <p:grpSp>
        <p:nvGrpSpPr>
          <p:cNvPr id="175" name="Group 174">
            <a:extLst>
              <a:ext uri="{FF2B5EF4-FFF2-40B4-BE49-F238E27FC236}">
                <a16:creationId xmlns:a16="http://schemas.microsoft.com/office/drawing/2014/main" id="{8862E8B8-1AD0-C7A0-EDA3-FB1DB3D68F2E}"/>
              </a:ext>
            </a:extLst>
          </p:cNvPr>
          <p:cNvGrpSpPr/>
          <p:nvPr/>
        </p:nvGrpSpPr>
        <p:grpSpPr>
          <a:xfrm>
            <a:off x="9616826" y="2087315"/>
            <a:ext cx="530226" cy="720055"/>
            <a:chOff x="7173777" y="2087315"/>
            <a:chExt cx="530226" cy="720055"/>
          </a:xfrm>
        </p:grpSpPr>
        <p:grpSp>
          <p:nvGrpSpPr>
            <p:cNvPr id="176" name="Group 175">
              <a:extLst>
                <a:ext uri="{FF2B5EF4-FFF2-40B4-BE49-F238E27FC236}">
                  <a16:creationId xmlns:a16="http://schemas.microsoft.com/office/drawing/2014/main" id="{22107089-E93D-2DAB-FE48-6BE63F8C411E}"/>
                </a:ext>
              </a:extLst>
            </p:cNvPr>
            <p:cNvGrpSpPr/>
            <p:nvPr/>
          </p:nvGrpSpPr>
          <p:grpSpPr>
            <a:xfrm>
              <a:off x="7173777" y="2087315"/>
              <a:ext cx="530226" cy="530226"/>
              <a:chOff x="2008163" y="2122216"/>
              <a:chExt cx="530226" cy="530226"/>
            </a:xfrm>
          </p:grpSpPr>
          <p:sp>
            <p:nvSpPr>
              <p:cNvPr id="178" name="Google Shape;1802;p69">
                <a:extLst>
                  <a:ext uri="{FF2B5EF4-FFF2-40B4-BE49-F238E27FC236}">
                    <a16:creationId xmlns:a16="http://schemas.microsoft.com/office/drawing/2014/main" id="{3C8114BD-150D-939E-A08E-B0FD0AD27D44}"/>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79" name="Google Shape;1803;p69">
                <a:extLst>
                  <a:ext uri="{FF2B5EF4-FFF2-40B4-BE49-F238E27FC236}">
                    <a16:creationId xmlns:a16="http://schemas.microsoft.com/office/drawing/2014/main" id="{4B723A86-21A0-8865-4122-82551727DC46}"/>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177" name="Straight Connector 176">
              <a:extLst>
                <a:ext uri="{FF2B5EF4-FFF2-40B4-BE49-F238E27FC236}">
                  <a16:creationId xmlns:a16="http://schemas.microsoft.com/office/drawing/2014/main" id="{E55179E8-79EE-501E-1864-506C14A24EC1}"/>
                </a:ext>
              </a:extLst>
            </p:cNvPr>
            <p:cNvCxnSpPr>
              <a:cxnSpLocks/>
            </p:cNvCxnSpPr>
            <p:nvPr/>
          </p:nvCxnSpPr>
          <p:spPr bwMode="gray">
            <a:xfrm>
              <a:off x="7438890" y="2617541"/>
              <a:ext cx="0" cy="189829"/>
            </a:xfrm>
            <a:prstGeom prst="line">
              <a:avLst/>
            </a:prstGeom>
            <a:solidFill>
              <a:srgbClr val="FFFFFF"/>
            </a:solidFill>
            <a:ln w="25400" cap="flat" cmpd="sng">
              <a:solidFill>
                <a:schemeClr val="accent3"/>
              </a:solidFill>
              <a:prstDash val="solid"/>
              <a:round/>
              <a:headEnd type="none" w="sm" len="sm"/>
              <a:tailEnd type="none" w="sm" len="sm"/>
            </a:ln>
          </p:spPr>
        </p:cxnSp>
      </p:grpSp>
      <p:sp>
        <p:nvSpPr>
          <p:cNvPr id="181" name="Google Shape;963;p55">
            <a:extLst>
              <a:ext uri="{FF2B5EF4-FFF2-40B4-BE49-F238E27FC236}">
                <a16:creationId xmlns:a16="http://schemas.microsoft.com/office/drawing/2014/main" id="{6AC39D59-A4E8-B8C3-17F7-D53804DBB1C7}"/>
              </a:ext>
            </a:extLst>
          </p:cNvPr>
          <p:cNvSpPr/>
          <p:nvPr/>
        </p:nvSpPr>
        <p:spPr>
          <a:xfrm>
            <a:off x="1383704" y="4110978"/>
            <a:ext cx="1779145" cy="1146822"/>
          </a:xfrm>
          <a:prstGeom prst="roundRect">
            <a:avLst>
              <a:gd name="adj" fmla="val 4567"/>
            </a:avLst>
          </a:prstGeom>
          <a:blipFill dpi="0" rotWithShape="0">
            <a:blip r:embed="rId3"/>
            <a:srcRect/>
            <a:stretch>
              <a:fillRect/>
            </a:stretch>
          </a:blipFill>
          <a:ln w="25400" cap="flat" cmpd="sng">
            <a:solidFill>
              <a:schemeClr val="tx1">
                <a:lumMod val="85000"/>
                <a:lumOff val="15000"/>
              </a:schemeClr>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2" name="Google Shape;963;p55">
            <a:extLst>
              <a:ext uri="{FF2B5EF4-FFF2-40B4-BE49-F238E27FC236}">
                <a16:creationId xmlns:a16="http://schemas.microsoft.com/office/drawing/2014/main" id="{D766EEE9-AED2-9930-D13A-713A88AB4425}"/>
              </a:ext>
            </a:extLst>
          </p:cNvPr>
          <p:cNvSpPr/>
          <p:nvPr/>
        </p:nvSpPr>
        <p:spPr>
          <a:xfrm>
            <a:off x="1435098" y="1814112"/>
            <a:ext cx="1221931" cy="1146822"/>
          </a:xfrm>
          <a:prstGeom prst="roundRect">
            <a:avLst>
              <a:gd name="adj" fmla="val 4567"/>
            </a:avLst>
          </a:prstGeom>
          <a:solidFill>
            <a:srgbClr val="FFFFFF"/>
          </a:solidFill>
          <a:ln w="25400" cap="flat" cmpd="sng">
            <a:solidFill>
              <a:schemeClr val="accent2"/>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3" name="Google Shape;978;p55">
            <a:extLst>
              <a:ext uri="{FF2B5EF4-FFF2-40B4-BE49-F238E27FC236}">
                <a16:creationId xmlns:a16="http://schemas.microsoft.com/office/drawing/2014/main" id="{8B37B7AA-E0C9-0916-A0EA-F3E92AF11A29}"/>
              </a:ext>
            </a:extLst>
          </p:cNvPr>
          <p:cNvSpPr/>
          <p:nvPr/>
        </p:nvSpPr>
        <p:spPr>
          <a:xfrm>
            <a:off x="1589803" y="1710586"/>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 sz="1050" b="0" i="0" u="none" strike="noStrike" kern="1200" cap="none" spc="0" normalizeH="0" baseline="0" noProof="0" dirty="0">
                <a:ln>
                  <a:noFill/>
                </a:ln>
                <a:solidFill>
                  <a:srgbClr val="FFFFFF"/>
                </a:solidFill>
                <a:effectLst/>
                <a:uLnTx/>
                <a:uFillTx/>
                <a:latin typeface="Arial" panose="020B0604020202020204"/>
                <a:ea typeface="Roboto"/>
                <a:cs typeface="Roboto"/>
                <a:sym typeface="Roboto"/>
              </a:rPr>
              <a:t>Rack 1</a:t>
            </a:r>
            <a:endParaRPr kumimoji="0"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5" name="Straight Connector 4">
            <a:extLst>
              <a:ext uri="{FF2B5EF4-FFF2-40B4-BE49-F238E27FC236}">
                <a16:creationId xmlns:a16="http://schemas.microsoft.com/office/drawing/2014/main" id="{D698B603-294D-8B88-11FD-312FC191F9BD}"/>
              </a:ext>
            </a:extLst>
          </p:cNvPr>
          <p:cNvCxnSpPr>
            <a:cxnSpLocks/>
          </p:cNvCxnSpPr>
          <p:nvPr/>
        </p:nvCxnSpPr>
        <p:spPr bwMode="gray">
          <a:xfrm flipV="1">
            <a:off x="1712219" y="2182159"/>
            <a:ext cx="0" cy="653806"/>
          </a:xfrm>
          <a:prstGeom prst="line">
            <a:avLst/>
          </a:prstGeom>
          <a:ln w="1905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60A346A-17B4-C9D4-20B3-614FA392D911}"/>
              </a:ext>
            </a:extLst>
          </p:cNvPr>
          <p:cNvCxnSpPr>
            <a:cxnSpLocks/>
          </p:cNvCxnSpPr>
          <p:nvPr/>
        </p:nvCxnSpPr>
        <p:spPr bwMode="gray">
          <a:xfrm flipV="1">
            <a:off x="2039106" y="2428185"/>
            <a:ext cx="0" cy="411093"/>
          </a:xfrm>
          <a:prstGeom prst="line">
            <a:avLst/>
          </a:prstGeom>
          <a:ln w="1905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 name="Google Shape;963;p55">
            <a:extLst>
              <a:ext uri="{FF2B5EF4-FFF2-40B4-BE49-F238E27FC236}">
                <a16:creationId xmlns:a16="http://schemas.microsoft.com/office/drawing/2014/main" id="{894489E7-0B9C-0130-6209-17395BC83902}"/>
              </a:ext>
            </a:extLst>
          </p:cNvPr>
          <p:cNvSpPr/>
          <p:nvPr/>
        </p:nvSpPr>
        <p:spPr>
          <a:xfrm>
            <a:off x="4415282" y="1814112"/>
            <a:ext cx="1221931" cy="1146822"/>
          </a:xfrm>
          <a:prstGeom prst="roundRect">
            <a:avLst>
              <a:gd name="adj" fmla="val 4567"/>
            </a:avLst>
          </a:prstGeom>
          <a:solidFill>
            <a:schemeClr val="bg1"/>
          </a:solidFill>
          <a:ln w="25400" cap="flat" cmpd="sng">
            <a:solidFill>
              <a:schemeClr val="accent2"/>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8" name="Google Shape;978;p55">
            <a:extLst>
              <a:ext uri="{FF2B5EF4-FFF2-40B4-BE49-F238E27FC236}">
                <a16:creationId xmlns:a16="http://schemas.microsoft.com/office/drawing/2014/main" id="{FEAB679B-6FB3-43D2-E2AC-1A358FC187F3}"/>
              </a:ext>
            </a:extLst>
          </p:cNvPr>
          <p:cNvSpPr/>
          <p:nvPr/>
        </p:nvSpPr>
        <p:spPr>
          <a:xfrm>
            <a:off x="4569987" y="1710586"/>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 sz="1050" b="0" i="0" u="none" strike="noStrike" kern="1200" cap="none" spc="0" normalizeH="0" baseline="0" noProof="0" dirty="0">
                <a:ln>
                  <a:noFill/>
                </a:ln>
                <a:solidFill>
                  <a:srgbClr val="FFFFFF"/>
                </a:solidFill>
                <a:effectLst/>
                <a:uLnTx/>
                <a:uFillTx/>
                <a:latin typeface="Arial" panose="020B0604020202020204"/>
                <a:ea typeface="Roboto"/>
                <a:cs typeface="Roboto"/>
                <a:sym typeface="Roboto"/>
              </a:rPr>
              <a:t>Rack 3</a:t>
            </a:r>
            <a:endParaRPr kumimoji="0"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 name="Google Shape;963;p55">
            <a:extLst>
              <a:ext uri="{FF2B5EF4-FFF2-40B4-BE49-F238E27FC236}">
                <a16:creationId xmlns:a16="http://schemas.microsoft.com/office/drawing/2014/main" id="{EC2E7394-5A4F-F50A-9954-110B4999512E}"/>
              </a:ext>
            </a:extLst>
          </p:cNvPr>
          <p:cNvSpPr/>
          <p:nvPr/>
        </p:nvSpPr>
        <p:spPr>
          <a:xfrm>
            <a:off x="2925190" y="1814112"/>
            <a:ext cx="1221931" cy="1146822"/>
          </a:xfrm>
          <a:prstGeom prst="roundRect">
            <a:avLst>
              <a:gd name="adj" fmla="val 4567"/>
            </a:avLst>
          </a:prstGeom>
          <a:solidFill>
            <a:srgbClr val="FFFFFF"/>
          </a:solidFill>
          <a:ln w="25400" cap="flat" cmpd="sng">
            <a:solidFill>
              <a:schemeClr val="accent2"/>
            </a:solidFill>
            <a:prstDash val="solid"/>
            <a:round/>
            <a:headEnd type="none" w="sm" len="sm"/>
            <a:tailEnd type="none" w="sm" len="sm"/>
          </a:ln>
        </p:spPr>
        <p:txBody>
          <a:bodyPr spcFirstLastPara="1" wrap="square" lIns="0" tIns="45675" rIns="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1200" cap="none" spc="0" normalizeH="0" baseline="0" noProof="0">
              <a:ln>
                <a:noFill/>
              </a:ln>
              <a:solidFill>
                <a:srgbClr val="FFFFFF"/>
              </a:solidFill>
              <a:effectLst/>
              <a:uLnTx/>
              <a:uFillTx/>
              <a:latin typeface="Arial" panose="020B0604020202020204"/>
              <a:ea typeface="Roboto"/>
              <a:cs typeface="Roboto"/>
              <a:sym typeface="Roboto"/>
            </a:endParaRPr>
          </a:p>
        </p:txBody>
      </p:sp>
      <p:sp>
        <p:nvSpPr>
          <p:cNvPr id="10" name="Google Shape;978;p55">
            <a:extLst>
              <a:ext uri="{FF2B5EF4-FFF2-40B4-BE49-F238E27FC236}">
                <a16:creationId xmlns:a16="http://schemas.microsoft.com/office/drawing/2014/main" id="{51C86FB6-2D89-3423-3A96-8E16B4958B34}"/>
              </a:ext>
            </a:extLst>
          </p:cNvPr>
          <p:cNvSpPr/>
          <p:nvPr/>
        </p:nvSpPr>
        <p:spPr>
          <a:xfrm>
            <a:off x="3079895" y="1710586"/>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 sz="1050" b="0" i="0" u="none" strike="noStrike" kern="1200" cap="none" spc="0" normalizeH="0" baseline="0" noProof="0" dirty="0">
                <a:ln>
                  <a:noFill/>
                </a:ln>
                <a:solidFill>
                  <a:srgbClr val="FFFFFF"/>
                </a:solidFill>
                <a:effectLst/>
                <a:uLnTx/>
                <a:uFillTx/>
                <a:latin typeface="Arial" panose="020B0604020202020204"/>
                <a:ea typeface="Roboto"/>
                <a:cs typeface="Roboto"/>
                <a:sym typeface="Roboto"/>
              </a:rPr>
              <a:t>Rack 2</a:t>
            </a:r>
            <a:endParaRPr kumimoji="0" sz="1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11" name="Straight Connector 10">
            <a:extLst>
              <a:ext uri="{FF2B5EF4-FFF2-40B4-BE49-F238E27FC236}">
                <a16:creationId xmlns:a16="http://schemas.microsoft.com/office/drawing/2014/main" id="{C49CA79D-2F5B-1013-A10B-CB450B536B39}"/>
              </a:ext>
            </a:extLst>
          </p:cNvPr>
          <p:cNvCxnSpPr>
            <a:cxnSpLocks/>
          </p:cNvCxnSpPr>
          <p:nvPr/>
        </p:nvCxnSpPr>
        <p:spPr bwMode="gray">
          <a:xfrm flipV="1">
            <a:off x="3568997" y="2154600"/>
            <a:ext cx="0" cy="720000"/>
          </a:xfrm>
          <a:prstGeom prst="line">
            <a:avLst/>
          </a:prstGeom>
          <a:ln w="190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F418594-C425-E16B-EE47-3E841DB2A3D9}"/>
              </a:ext>
            </a:extLst>
          </p:cNvPr>
          <p:cNvCxnSpPr>
            <a:cxnSpLocks/>
          </p:cNvCxnSpPr>
          <p:nvPr/>
        </p:nvCxnSpPr>
        <p:spPr bwMode="gray">
          <a:xfrm>
            <a:off x="2998788" y="2876585"/>
            <a:ext cx="1068387" cy="0"/>
          </a:xfrm>
          <a:prstGeom prst="line">
            <a:avLst/>
          </a:prstGeom>
          <a:ln w="190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514F0EE-AFC8-F474-AC06-D059350569C7}"/>
              </a:ext>
            </a:extLst>
          </p:cNvPr>
          <p:cNvCxnSpPr>
            <a:cxnSpLocks/>
          </p:cNvCxnSpPr>
          <p:nvPr/>
        </p:nvCxnSpPr>
        <p:spPr bwMode="gray">
          <a:xfrm>
            <a:off x="1522413" y="2837647"/>
            <a:ext cx="1071562" cy="0"/>
          </a:xfrm>
          <a:prstGeom prst="line">
            <a:avLst/>
          </a:prstGeom>
          <a:ln w="1905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25D539A-14E2-A149-F841-08D8483B1D1C}"/>
              </a:ext>
            </a:extLst>
          </p:cNvPr>
          <p:cNvCxnSpPr>
            <a:cxnSpLocks/>
          </p:cNvCxnSpPr>
          <p:nvPr/>
        </p:nvCxnSpPr>
        <p:spPr bwMode="gray">
          <a:xfrm flipV="1">
            <a:off x="3901772" y="2554315"/>
            <a:ext cx="0" cy="318094"/>
          </a:xfrm>
          <a:prstGeom prst="line">
            <a:avLst/>
          </a:prstGeom>
          <a:ln w="190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6" name="removegroup">
            <a:extLst>
              <a:ext uri="{FF2B5EF4-FFF2-40B4-BE49-F238E27FC236}">
                <a16:creationId xmlns:a16="http://schemas.microsoft.com/office/drawing/2014/main" id="{6DD0208A-BF39-8CE0-786A-1563F5A710B5}"/>
              </a:ext>
            </a:extLst>
          </p:cNvPr>
          <p:cNvGrpSpPr/>
          <p:nvPr/>
        </p:nvGrpSpPr>
        <p:grpSpPr>
          <a:xfrm>
            <a:off x="2394844" y="2182159"/>
            <a:ext cx="3169274" cy="730051"/>
            <a:chOff x="2394844" y="2182159"/>
            <a:chExt cx="3169274" cy="730051"/>
          </a:xfrm>
        </p:grpSpPr>
        <p:grpSp>
          <p:nvGrpSpPr>
            <p:cNvPr id="27" name="remove3">
              <a:extLst>
                <a:ext uri="{FF2B5EF4-FFF2-40B4-BE49-F238E27FC236}">
                  <a16:creationId xmlns:a16="http://schemas.microsoft.com/office/drawing/2014/main" id="{5A76727E-9F48-D081-4BA6-DCD946CCE37F}"/>
                </a:ext>
              </a:extLst>
            </p:cNvPr>
            <p:cNvGrpSpPr/>
            <p:nvPr/>
          </p:nvGrpSpPr>
          <p:grpSpPr>
            <a:xfrm>
              <a:off x="4500493" y="2222780"/>
              <a:ext cx="1063625" cy="689430"/>
              <a:chOff x="4500493" y="2222780"/>
              <a:chExt cx="1063625" cy="689430"/>
            </a:xfrm>
          </p:grpSpPr>
          <p:cxnSp>
            <p:nvCxnSpPr>
              <p:cNvPr id="34" name="Straight Connector 33">
                <a:extLst>
                  <a:ext uri="{FF2B5EF4-FFF2-40B4-BE49-F238E27FC236}">
                    <a16:creationId xmlns:a16="http://schemas.microsoft.com/office/drawing/2014/main" id="{839699CE-BDCD-1A6E-55F8-5C1CDDC3E20A}"/>
                  </a:ext>
                </a:extLst>
              </p:cNvPr>
              <p:cNvCxnSpPr>
                <a:cxnSpLocks/>
              </p:cNvCxnSpPr>
              <p:nvPr/>
            </p:nvCxnSpPr>
            <p:spPr bwMode="gray">
              <a:xfrm>
                <a:off x="4500493" y="2912210"/>
                <a:ext cx="1063625" cy="0"/>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4B1F119-E45A-496A-37A1-D92AA53B60CB}"/>
                  </a:ext>
                </a:extLst>
              </p:cNvPr>
              <p:cNvCxnSpPr>
                <a:cxnSpLocks/>
              </p:cNvCxnSpPr>
              <p:nvPr/>
            </p:nvCxnSpPr>
            <p:spPr bwMode="gray">
              <a:xfrm flipV="1">
                <a:off x="4697799" y="2415209"/>
                <a:ext cx="0" cy="490058"/>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5291EAE-09C6-A3A0-2868-6ED6D294D3B7}"/>
                  </a:ext>
                </a:extLst>
              </p:cNvPr>
              <p:cNvCxnSpPr>
                <a:cxnSpLocks/>
              </p:cNvCxnSpPr>
              <p:nvPr/>
            </p:nvCxnSpPr>
            <p:spPr bwMode="gray">
              <a:xfrm flipV="1">
                <a:off x="5383599" y="2222780"/>
                <a:ext cx="0" cy="685800"/>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04693156-CFF5-C88B-18A1-DB7F9835DF8E}"/>
                  </a:ext>
                </a:extLst>
              </p:cNvPr>
              <p:cNvCxnSpPr>
                <a:cxnSpLocks/>
              </p:cNvCxnSpPr>
              <p:nvPr/>
            </p:nvCxnSpPr>
            <p:spPr bwMode="gray">
              <a:xfrm flipV="1">
                <a:off x="5037524" y="2653334"/>
                <a:ext cx="0" cy="251933"/>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28" name="remove2">
              <a:extLst>
                <a:ext uri="{FF2B5EF4-FFF2-40B4-BE49-F238E27FC236}">
                  <a16:creationId xmlns:a16="http://schemas.microsoft.com/office/drawing/2014/main" id="{600EBB4D-48CC-B8A7-C8EB-C5AE3C0D400A}"/>
                </a:ext>
              </a:extLst>
            </p:cNvPr>
            <p:cNvCxnSpPr>
              <a:cxnSpLocks/>
              <a:stCxn id="24" idx="0"/>
              <a:endCxn id="109" idx="4"/>
            </p:cNvCxnSpPr>
            <p:nvPr/>
          </p:nvCxnSpPr>
          <p:spPr bwMode="gray">
            <a:xfrm flipV="1">
              <a:off x="3892247" y="2527285"/>
              <a:ext cx="0" cy="27030"/>
            </a:xfrm>
            <a:prstGeom prst="line">
              <a:avLst/>
            </a:prstGeom>
            <a:ln w="190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3" name="remove1">
              <a:extLst>
                <a:ext uri="{FF2B5EF4-FFF2-40B4-BE49-F238E27FC236}">
                  <a16:creationId xmlns:a16="http://schemas.microsoft.com/office/drawing/2014/main" id="{D2C31BCA-44EE-2381-E79E-C100840C3AE8}"/>
                </a:ext>
              </a:extLst>
            </p:cNvPr>
            <p:cNvCxnSpPr>
              <a:cxnSpLocks/>
            </p:cNvCxnSpPr>
            <p:nvPr/>
          </p:nvCxnSpPr>
          <p:spPr bwMode="gray">
            <a:xfrm flipV="1">
              <a:off x="2394844" y="2182159"/>
              <a:ext cx="0" cy="660432"/>
            </a:xfrm>
            <a:prstGeom prst="line">
              <a:avLst/>
            </a:prstGeom>
            <a:ln w="1905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50" name="addgroup">
            <a:extLst>
              <a:ext uri="{FF2B5EF4-FFF2-40B4-BE49-F238E27FC236}">
                <a16:creationId xmlns:a16="http://schemas.microsoft.com/office/drawing/2014/main" id="{419E2DFE-B2E1-2C0B-3338-235B20CD2273}"/>
              </a:ext>
            </a:extLst>
          </p:cNvPr>
          <p:cNvGrpSpPr/>
          <p:nvPr/>
        </p:nvGrpSpPr>
        <p:grpSpPr>
          <a:xfrm>
            <a:off x="1522413" y="2130287"/>
            <a:ext cx="2543934" cy="781923"/>
            <a:chOff x="1522413" y="2130287"/>
            <a:chExt cx="2543934" cy="781923"/>
          </a:xfrm>
        </p:grpSpPr>
        <p:cxnSp>
          <p:nvCxnSpPr>
            <p:cNvPr id="51" name="add2">
              <a:extLst>
                <a:ext uri="{FF2B5EF4-FFF2-40B4-BE49-F238E27FC236}">
                  <a16:creationId xmlns:a16="http://schemas.microsoft.com/office/drawing/2014/main" id="{C17ADBF1-6AE7-B65E-6BE8-55C051C4E021}"/>
                </a:ext>
              </a:extLst>
            </p:cNvPr>
            <p:cNvCxnSpPr>
              <a:cxnSpLocks/>
            </p:cNvCxnSpPr>
            <p:nvPr/>
          </p:nvCxnSpPr>
          <p:spPr bwMode="gray">
            <a:xfrm>
              <a:off x="1522413" y="2876585"/>
              <a:ext cx="1479204" cy="0"/>
            </a:xfrm>
            <a:prstGeom prst="line">
              <a:avLst/>
            </a:prstGeom>
            <a:ln w="190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 name="add1">
              <a:extLst>
                <a:ext uri="{FF2B5EF4-FFF2-40B4-BE49-F238E27FC236}">
                  <a16:creationId xmlns:a16="http://schemas.microsoft.com/office/drawing/2014/main" id="{7F176A5C-0910-B08D-667F-898211DCB7B1}"/>
                </a:ext>
              </a:extLst>
            </p:cNvPr>
            <p:cNvCxnSpPr>
              <a:cxnSpLocks/>
            </p:cNvCxnSpPr>
            <p:nvPr/>
          </p:nvCxnSpPr>
          <p:spPr bwMode="gray">
            <a:xfrm flipV="1">
              <a:off x="2064737" y="2663687"/>
              <a:ext cx="0" cy="215348"/>
            </a:xfrm>
            <a:prstGeom prst="line">
              <a:avLst/>
            </a:prstGeom>
            <a:ln w="1905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 name="add3">
              <a:extLst>
                <a:ext uri="{FF2B5EF4-FFF2-40B4-BE49-F238E27FC236}">
                  <a16:creationId xmlns:a16="http://schemas.microsoft.com/office/drawing/2014/main" id="{26FEB3D7-DC6C-BBF4-F08C-676A0DA6D6F7}"/>
                </a:ext>
              </a:extLst>
            </p:cNvPr>
            <p:cNvCxnSpPr>
              <a:cxnSpLocks/>
            </p:cNvCxnSpPr>
            <p:nvPr/>
          </p:nvCxnSpPr>
          <p:spPr bwMode="gray">
            <a:xfrm>
              <a:off x="2584174" y="2837647"/>
              <a:ext cx="1482173" cy="0"/>
            </a:xfrm>
            <a:prstGeom prst="line">
              <a:avLst/>
            </a:prstGeom>
            <a:ln w="1905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4" name="add4">
              <a:extLst>
                <a:ext uri="{FF2B5EF4-FFF2-40B4-BE49-F238E27FC236}">
                  <a16:creationId xmlns:a16="http://schemas.microsoft.com/office/drawing/2014/main" id="{CC26AFD7-B184-AA08-E7F4-7B16AFE22083}"/>
                </a:ext>
              </a:extLst>
            </p:cNvPr>
            <p:cNvCxnSpPr>
              <a:cxnSpLocks/>
            </p:cNvCxnSpPr>
            <p:nvPr/>
          </p:nvCxnSpPr>
          <p:spPr bwMode="gray">
            <a:xfrm flipV="1">
              <a:off x="3216342" y="2182159"/>
              <a:ext cx="0" cy="653806"/>
            </a:xfrm>
            <a:prstGeom prst="line">
              <a:avLst/>
            </a:prstGeom>
            <a:ln w="19050">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5" name="add5">
              <a:extLst>
                <a:ext uri="{FF2B5EF4-FFF2-40B4-BE49-F238E27FC236}">
                  <a16:creationId xmlns:a16="http://schemas.microsoft.com/office/drawing/2014/main" id="{36429D6D-7B6B-7B26-A570-981D3B71FFB5}"/>
                </a:ext>
              </a:extLst>
            </p:cNvPr>
            <p:cNvCxnSpPr>
              <a:cxnSpLocks/>
            </p:cNvCxnSpPr>
            <p:nvPr/>
          </p:nvCxnSpPr>
          <p:spPr bwMode="gray">
            <a:xfrm>
              <a:off x="1522413" y="2912210"/>
              <a:ext cx="2542691" cy="0"/>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7" name="add6">
              <a:extLst>
                <a:ext uri="{FF2B5EF4-FFF2-40B4-BE49-F238E27FC236}">
                  <a16:creationId xmlns:a16="http://schemas.microsoft.com/office/drawing/2014/main" id="{41EBD7C4-8981-9564-AA35-C12B1FBCD64C}"/>
                </a:ext>
              </a:extLst>
            </p:cNvPr>
            <p:cNvCxnSpPr>
              <a:cxnSpLocks/>
            </p:cNvCxnSpPr>
            <p:nvPr/>
          </p:nvCxnSpPr>
          <p:spPr bwMode="gray">
            <a:xfrm flipV="1">
              <a:off x="3184533" y="2415209"/>
              <a:ext cx="0" cy="490058"/>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8" name="add7">
              <a:extLst>
                <a:ext uri="{FF2B5EF4-FFF2-40B4-BE49-F238E27FC236}">
                  <a16:creationId xmlns:a16="http://schemas.microsoft.com/office/drawing/2014/main" id="{ED238C9A-D38E-4156-5E4C-5F25596FBEC4}"/>
                </a:ext>
              </a:extLst>
            </p:cNvPr>
            <p:cNvCxnSpPr>
              <a:cxnSpLocks/>
            </p:cNvCxnSpPr>
            <p:nvPr/>
          </p:nvCxnSpPr>
          <p:spPr bwMode="gray">
            <a:xfrm flipV="1">
              <a:off x="3544859" y="2676939"/>
              <a:ext cx="0" cy="228328"/>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9" name="add8">
              <a:extLst>
                <a:ext uri="{FF2B5EF4-FFF2-40B4-BE49-F238E27FC236}">
                  <a16:creationId xmlns:a16="http://schemas.microsoft.com/office/drawing/2014/main" id="{ACB3FDAF-7A53-CEAF-91A5-4EC5BE759789}"/>
                </a:ext>
              </a:extLst>
            </p:cNvPr>
            <p:cNvCxnSpPr>
              <a:cxnSpLocks/>
            </p:cNvCxnSpPr>
            <p:nvPr/>
          </p:nvCxnSpPr>
          <p:spPr bwMode="gray">
            <a:xfrm flipV="1">
              <a:off x="3876164" y="2130287"/>
              <a:ext cx="0" cy="774980"/>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0" name="add9">
              <a:extLst>
                <a:ext uri="{FF2B5EF4-FFF2-40B4-BE49-F238E27FC236}">
                  <a16:creationId xmlns:a16="http://schemas.microsoft.com/office/drawing/2014/main" id="{BCD692AC-2303-1EB4-3166-9CEB224EECE9}"/>
                </a:ext>
              </a:extLst>
            </p:cNvPr>
            <p:cNvCxnSpPr>
              <a:cxnSpLocks/>
            </p:cNvCxnSpPr>
            <p:nvPr/>
          </p:nvCxnSpPr>
          <p:spPr bwMode="gray">
            <a:xfrm flipV="1">
              <a:off x="2381567" y="2676939"/>
              <a:ext cx="0" cy="228328"/>
            </a:xfrm>
            <a:prstGeom prst="line">
              <a:avLst/>
            </a:prstGeom>
            <a:ln w="19050">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47EB0685-65AE-88F7-DFAC-EF534D67ECF9}"/>
              </a:ext>
            </a:extLst>
          </p:cNvPr>
          <p:cNvGrpSpPr/>
          <p:nvPr/>
        </p:nvGrpSpPr>
        <p:grpSpPr>
          <a:xfrm>
            <a:off x="3422126" y="1992283"/>
            <a:ext cx="253986" cy="253986"/>
            <a:chOff x="2008163" y="2122216"/>
            <a:chExt cx="530226" cy="530226"/>
          </a:xfrm>
        </p:grpSpPr>
        <p:sp>
          <p:nvSpPr>
            <p:cNvPr id="62" name="Google Shape;1802;p69">
              <a:extLst>
                <a:ext uri="{FF2B5EF4-FFF2-40B4-BE49-F238E27FC236}">
                  <a16:creationId xmlns:a16="http://schemas.microsoft.com/office/drawing/2014/main" id="{04589BE2-818F-8A83-C63E-3A2A2D7CDDB0}"/>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74" name="Google Shape;1803;p69">
              <a:extLst>
                <a:ext uri="{FF2B5EF4-FFF2-40B4-BE49-F238E27FC236}">
                  <a16:creationId xmlns:a16="http://schemas.microsoft.com/office/drawing/2014/main" id="{C58DC110-79C3-EFCD-8F3E-28EF6FA2E98C}"/>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75" name="Group 74">
            <a:extLst>
              <a:ext uri="{FF2B5EF4-FFF2-40B4-BE49-F238E27FC236}">
                <a16:creationId xmlns:a16="http://schemas.microsoft.com/office/drawing/2014/main" id="{4FE5C7C4-A566-925F-987C-5B2068D8B9E2}"/>
              </a:ext>
            </a:extLst>
          </p:cNvPr>
          <p:cNvGrpSpPr/>
          <p:nvPr/>
        </p:nvGrpSpPr>
        <p:grpSpPr>
          <a:xfrm>
            <a:off x="2275162" y="1992283"/>
            <a:ext cx="253986" cy="253986"/>
            <a:chOff x="2008163" y="2122216"/>
            <a:chExt cx="530226" cy="530226"/>
          </a:xfrm>
        </p:grpSpPr>
        <p:sp>
          <p:nvSpPr>
            <p:cNvPr id="76" name="Google Shape;1802;p69">
              <a:extLst>
                <a:ext uri="{FF2B5EF4-FFF2-40B4-BE49-F238E27FC236}">
                  <a16:creationId xmlns:a16="http://schemas.microsoft.com/office/drawing/2014/main" id="{5579A865-EB62-E238-76AE-201E8FC1631E}"/>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77" name="Google Shape;1803;p69">
              <a:extLst>
                <a:ext uri="{FF2B5EF4-FFF2-40B4-BE49-F238E27FC236}">
                  <a16:creationId xmlns:a16="http://schemas.microsoft.com/office/drawing/2014/main" id="{3962F176-5C27-E5FB-944F-DC327634929D}"/>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78" name="Group 77">
            <a:extLst>
              <a:ext uri="{FF2B5EF4-FFF2-40B4-BE49-F238E27FC236}">
                <a16:creationId xmlns:a16="http://schemas.microsoft.com/office/drawing/2014/main" id="{CE67AA88-33C1-C738-507F-E61D1412DBA1}"/>
              </a:ext>
            </a:extLst>
          </p:cNvPr>
          <p:cNvGrpSpPr/>
          <p:nvPr/>
        </p:nvGrpSpPr>
        <p:grpSpPr>
          <a:xfrm>
            <a:off x="1588905" y="1992283"/>
            <a:ext cx="253986" cy="253986"/>
            <a:chOff x="2008163" y="2122216"/>
            <a:chExt cx="530226" cy="530226"/>
          </a:xfrm>
        </p:grpSpPr>
        <p:sp>
          <p:nvSpPr>
            <p:cNvPr id="79" name="Google Shape;1802;p69">
              <a:extLst>
                <a:ext uri="{FF2B5EF4-FFF2-40B4-BE49-F238E27FC236}">
                  <a16:creationId xmlns:a16="http://schemas.microsoft.com/office/drawing/2014/main" id="{BF7A5FBF-8B1C-7CCE-8BB7-7691EFE27C8D}"/>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80" name="Google Shape;1803;p69">
              <a:extLst>
                <a:ext uri="{FF2B5EF4-FFF2-40B4-BE49-F238E27FC236}">
                  <a16:creationId xmlns:a16="http://schemas.microsoft.com/office/drawing/2014/main" id="{C1DC4C3B-69D6-0F42-03A1-E843907EFF06}"/>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81" name="Group 80">
            <a:extLst>
              <a:ext uri="{FF2B5EF4-FFF2-40B4-BE49-F238E27FC236}">
                <a16:creationId xmlns:a16="http://schemas.microsoft.com/office/drawing/2014/main" id="{8626FC5B-0D86-3240-0AA9-9451310B102C}"/>
              </a:ext>
            </a:extLst>
          </p:cNvPr>
          <p:cNvGrpSpPr/>
          <p:nvPr/>
        </p:nvGrpSpPr>
        <p:grpSpPr>
          <a:xfrm>
            <a:off x="1588905" y="2554315"/>
            <a:ext cx="253986" cy="253986"/>
            <a:chOff x="2008163" y="2122216"/>
            <a:chExt cx="530226" cy="530226"/>
          </a:xfrm>
        </p:grpSpPr>
        <p:sp>
          <p:nvSpPr>
            <p:cNvPr id="83" name="Google Shape;1802;p69">
              <a:extLst>
                <a:ext uri="{FF2B5EF4-FFF2-40B4-BE49-F238E27FC236}">
                  <a16:creationId xmlns:a16="http://schemas.microsoft.com/office/drawing/2014/main" id="{9CCC9BB9-8395-FB5A-5FF4-09246AE30A69}"/>
                </a:ext>
              </a:extLst>
            </p:cNvPr>
            <p:cNvSpPr/>
            <p:nvPr/>
          </p:nvSpPr>
          <p:spPr>
            <a:xfrm>
              <a:off x="2008163" y="2122216"/>
              <a:ext cx="530226" cy="53022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84" name="Google Shape;1803;p69">
              <a:extLst>
                <a:ext uri="{FF2B5EF4-FFF2-40B4-BE49-F238E27FC236}">
                  <a16:creationId xmlns:a16="http://schemas.microsoft.com/office/drawing/2014/main" id="{5FBF7877-553A-BDA1-49AB-B9CA0ADBD00C}"/>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85" name="Group 84">
            <a:extLst>
              <a:ext uri="{FF2B5EF4-FFF2-40B4-BE49-F238E27FC236}">
                <a16:creationId xmlns:a16="http://schemas.microsoft.com/office/drawing/2014/main" id="{D3CE27B8-0D1E-AF78-7835-0763D33CC6BF}"/>
              </a:ext>
            </a:extLst>
          </p:cNvPr>
          <p:cNvGrpSpPr/>
          <p:nvPr/>
        </p:nvGrpSpPr>
        <p:grpSpPr>
          <a:xfrm>
            <a:off x="3422126" y="2273299"/>
            <a:ext cx="597114" cy="535002"/>
            <a:chOff x="3422126" y="2273299"/>
            <a:chExt cx="597114" cy="535002"/>
          </a:xfrm>
        </p:grpSpPr>
        <p:grpSp>
          <p:nvGrpSpPr>
            <p:cNvPr id="105" name="Group 104">
              <a:extLst>
                <a:ext uri="{FF2B5EF4-FFF2-40B4-BE49-F238E27FC236}">
                  <a16:creationId xmlns:a16="http://schemas.microsoft.com/office/drawing/2014/main" id="{C0C26964-B034-DF88-E25F-662DF4BBD0DB}"/>
                </a:ext>
              </a:extLst>
            </p:cNvPr>
            <p:cNvGrpSpPr/>
            <p:nvPr/>
          </p:nvGrpSpPr>
          <p:grpSpPr>
            <a:xfrm>
              <a:off x="3765254" y="2273299"/>
              <a:ext cx="253986" cy="253986"/>
              <a:chOff x="2008163" y="2122216"/>
              <a:chExt cx="530226" cy="530226"/>
            </a:xfrm>
          </p:grpSpPr>
          <p:sp>
            <p:nvSpPr>
              <p:cNvPr id="109" name="Google Shape;1802;p69">
                <a:extLst>
                  <a:ext uri="{FF2B5EF4-FFF2-40B4-BE49-F238E27FC236}">
                    <a16:creationId xmlns:a16="http://schemas.microsoft.com/office/drawing/2014/main" id="{E6F5AED1-E961-6DE6-400E-9873D6E13A55}"/>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29" name="Google Shape;1803;p69">
                <a:extLst>
                  <a:ext uri="{FF2B5EF4-FFF2-40B4-BE49-F238E27FC236}">
                    <a16:creationId xmlns:a16="http://schemas.microsoft.com/office/drawing/2014/main" id="{431553BA-9B54-577D-F161-BCA5FF0C8867}"/>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06" name="Group 105">
              <a:extLst>
                <a:ext uri="{FF2B5EF4-FFF2-40B4-BE49-F238E27FC236}">
                  <a16:creationId xmlns:a16="http://schemas.microsoft.com/office/drawing/2014/main" id="{A92352F1-B5F7-0BA4-E26A-89DBDEE7B725}"/>
                </a:ext>
              </a:extLst>
            </p:cNvPr>
            <p:cNvGrpSpPr/>
            <p:nvPr/>
          </p:nvGrpSpPr>
          <p:grpSpPr>
            <a:xfrm>
              <a:off x="3422126" y="2554315"/>
              <a:ext cx="253986" cy="253986"/>
              <a:chOff x="2008163" y="2122216"/>
              <a:chExt cx="530226" cy="530226"/>
            </a:xfrm>
          </p:grpSpPr>
          <p:sp>
            <p:nvSpPr>
              <p:cNvPr id="107" name="Google Shape;1802;p69">
                <a:extLst>
                  <a:ext uri="{FF2B5EF4-FFF2-40B4-BE49-F238E27FC236}">
                    <a16:creationId xmlns:a16="http://schemas.microsoft.com/office/drawing/2014/main" id="{3899CE5D-4F21-D13B-E4AE-5295B12A7DBC}"/>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08" name="Google Shape;1803;p69">
                <a:extLst>
                  <a:ext uri="{FF2B5EF4-FFF2-40B4-BE49-F238E27FC236}">
                    <a16:creationId xmlns:a16="http://schemas.microsoft.com/office/drawing/2014/main" id="{96C8FCD0-AD76-34FD-C19F-57318255D5DB}"/>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grpSp>
        <p:nvGrpSpPr>
          <p:cNvPr id="130" name="Group 129">
            <a:extLst>
              <a:ext uri="{FF2B5EF4-FFF2-40B4-BE49-F238E27FC236}">
                <a16:creationId xmlns:a16="http://schemas.microsoft.com/office/drawing/2014/main" id="{FA3A90A3-0FCD-F3C3-CDFF-786573591B4F}"/>
              </a:ext>
            </a:extLst>
          </p:cNvPr>
          <p:cNvGrpSpPr/>
          <p:nvPr/>
        </p:nvGrpSpPr>
        <p:grpSpPr>
          <a:xfrm>
            <a:off x="4569089" y="1992283"/>
            <a:ext cx="940243" cy="816018"/>
            <a:chOff x="4569089" y="1992283"/>
            <a:chExt cx="940243" cy="816018"/>
          </a:xfrm>
        </p:grpSpPr>
        <p:grpSp>
          <p:nvGrpSpPr>
            <p:cNvPr id="131" name="Group 130">
              <a:extLst>
                <a:ext uri="{FF2B5EF4-FFF2-40B4-BE49-F238E27FC236}">
                  <a16:creationId xmlns:a16="http://schemas.microsoft.com/office/drawing/2014/main" id="{AB7E0DF7-57B3-866E-035B-F8DA9AADF41B}"/>
                </a:ext>
              </a:extLst>
            </p:cNvPr>
            <p:cNvGrpSpPr/>
            <p:nvPr/>
          </p:nvGrpSpPr>
          <p:grpSpPr>
            <a:xfrm>
              <a:off x="5255346" y="1992283"/>
              <a:ext cx="253986" cy="253986"/>
              <a:chOff x="2008163" y="2122216"/>
              <a:chExt cx="530226" cy="530226"/>
            </a:xfrm>
          </p:grpSpPr>
          <p:sp>
            <p:nvSpPr>
              <p:cNvPr id="138" name="Google Shape;1802;p69">
                <a:extLst>
                  <a:ext uri="{FF2B5EF4-FFF2-40B4-BE49-F238E27FC236}">
                    <a16:creationId xmlns:a16="http://schemas.microsoft.com/office/drawing/2014/main" id="{D1E4D9DD-D60B-55A2-ADF8-CFDEEFEEC04F}"/>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39" name="Google Shape;1803;p69">
                <a:extLst>
                  <a:ext uri="{FF2B5EF4-FFF2-40B4-BE49-F238E27FC236}">
                    <a16:creationId xmlns:a16="http://schemas.microsoft.com/office/drawing/2014/main" id="{61435AC0-65B5-D488-3BA1-9B45A14A7CD7}"/>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32" name="Group 131">
              <a:extLst>
                <a:ext uri="{FF2B5EF4-FFF2-40B4-BE49-F238E27FC236}">
                  <a16:creationId xmlns:a16="http://schemas.microsoft.com/office/drawing/2014/main" id="{B5B6E7EA-53F9-2A16-010E-0C8A8D6D1D9B}"/>
                </a:ext>
              </a:extLst>
            </p:cNvPr>
            <p:cNvGrpSpPr/>
            <p:nvPr/>
          </p:nvGrpSpPr>
          <p:grpSpPr>
            <a:xfrm>
              <a:off x="4912218" y="2554315"/>
              <a:ext cx="253986" cy="253986"/>
              <a:chOff x="2008163" y="2122216"/>
              <a:chExt cx="530226" cy="530226"/>
            </a:xfrm>
          </p:grpSpPr>
          <p:sp>
            <p:nvSpPr>
              <p:cNvPr id="136" name="Google Shape;1802;p69">
                <a:extLst>
                  <a:ext uri="{FF2B5EF4-FFF2-40B4-BE49-F238E27FC236}">
                    <a16:creationId xmlns:a16="http://schemas.microsoft.com/office/drawing/2014/main" id="{3A1DEAAA-09BA-CE20-82B1-FB89FF762DC5}"/>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37" name="Google Shape;1803;p69">
                <a:extLst>
                  <a:ext uri="{FF2B5EF4-FFF2-40B4-BE49-F238E27FC236}">
                    <a16:creationId xmlns:a16="http://schemas.microsoft.com/office/drawing/2014/main" id="{5CA6E91C-4F4F-F2E4-97A9-998693C56E7D}"/>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33" name="Group 132">
              <a:extLst>
                <a:ext uri="{FF2B5EF4-FFF2-40B4-BE49-F238E27FC236}">
                  <a16:creationId xmlns:a16="http://schemas.microsoft.com/office/drawing/2014/main" id="{71649A46-53E7-1C31-E6C5-0E2B129678BD}"/>
                </a:ext>
              </a:extLst>
            </p:cNvPr>
            <p:cNvGrpSpPr/>
            <p:nvPr/>
          </p:nvGrpSpPr>
          <p:grpSpPr>
            <a:xfrm>
              <a:off x="4569089" y="2273299"/>
              <a:ext cx="253986" cy="253986"/>
              <a:chOff x="4569089" y="2273299"/>
              <a:chExt cx="253986" cy="253986"/>
            </a:xfrm>
          </p:grpSpPr>
          <p:sp>
            <p:nvSpPr>
              <p:cNvPr id="134" name="Google Shape;1802;p69">
                <a:extLst>
                  <a:ext uri="{FF2B5EF4-FFF2-40B4-BE49-F238E27FC236}">
                    <a16:creationId xmlns:a16="http://schemas.microsoft.com/office/drawing/2014/main" id="{1FCB042D-3255-DEC9-1A2C-A0D551FB309C}"/>
                  </a:ext>
                </a:extLst>
              </p:cNvPr>
              <p:cNvSpPr/>
              <p:nvPr/>
            </p:nvSpPr>
            <p:spPr>
              <a:xfrm>
                <a:off x="4569089" y="2273299"/>
                <a:ext cx="253986" cy="25398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35" name="Google Shape;1803;p69">
                <a:extLst>
                  <a:ext uri="{FF2B5EF4-FFF2-40B4-BE49-F238E27FC236}">
                    <a16:creationId xmlns:a16="http://schemas.microsoft.com/office/drawing/2014/main" id="{8F233ED2-7394-0394-CBDE-B4F4CCBE9C46}"/>
                  </a:ext>
                </a:extLst>
              </p:cNvPr>
              <p:cNvSpPr/>
              <p:nvPr/>
            </p:nvSpPr>
            <p:spPr>
              <a:xfrm>
                <a:off x="4624107" y="2328266"/>
                <a:ext cx="143951" cy="144052"/>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grpSp>
        <p:nvGrpSpPr>
          <p:cNvPr id="140" name="Group 139">
            <a:extLst>
              <a:ext uri="{FF2B5EF4-FFF2-40B4-BE49-F238E27FC236}">
                <a16:creationId xmlns:a16="http://schemas.microsoft.com/office/drawing/2014/main" id="{2716888B-D681-766E-18A4-740BF5E8030D}"/>
              </a:ext>
            </a:extLst>
          </p:cNvPr>
          <p:cNvGrpSpPr/>
          <p:nvPr/>
        </p:nvGrpSpPr>
        <p:grpSpPr>
          <a:xfrm>
            <a:off x="1932034" y="2273299"/>
            <a:ext cx="253986" cy="253986"/>
            <a:chOff x="1932034" y="2273299"/>
            <a:chExt cx="253986" cy="253986"/>
          </a:xfrm>
        </p:grpSpPr>
        <p:sp>
          <p:nvSpPr>
            <p:cNvPr id="141" name="Google Shape;1802;p69">
              <a:extLst>
                <a:ext uri="{FF2B5EF4-FFF2-40B4-BE49-F238E27FC236}">
                  <a16:creationId xmlns:a16="http://schemas.microsoft.com/office/drawing/2014/main" id="{42F416E2-9CAF-62C8-C615-FE070A058C1F}"/>
                </a:ext>
              </a:extLst>
            </p:cNvPr>
            <p:cNvSpPr/>
            <p:nvPr/>
          </p:nvSpPr>
          <p:spPr>
            <a:xfrm>
              <a:off x="1932034" y="2273299"/>
              <a:ext cx="253986" cy="25398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42" name="Google Shape;1803;p69">
              <a:extLst>
                <a:ext uri="{FF2B5EF4-FFF2-40B4-BE49-F238E27FC236}">
                  <a16:creationId xmlns:a16="http://schemas.microsoft.com/office/drawing/2014/main" id="{02894BAB-E90C-6DEB-3BC3-08CB7560BE11}"/>
                </a:ext>
              </a:extLst>
            </p:cNvPr>
            <p:cNvSpPr/>
            <p:nvPr/>
          </p:nvSpPr>
          <p:spPr>
            <a:xfrm>
              <a:off x="1987052" y="2331579"/>
              <a:ext cx="143951" cy="144052"/>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grpSp>
        <p:nvGrpSpPr>
          <p:cNvPr id="143" name="Group 142">
            <a:extLst>
              <a:ext uri="{FF2B5EF4-FFF2-40B4-BE49-F238E27FC236}">
                <a16:creationId xmlns:a16="http://schemas.microsoft.com/office/drawing/2014/main" id="{8C5E28A5-6861-7357-18B1-C8D908FAB0A2}"/>
              </a:ext>
            </a:extLst>
          </p:cNvPr>
          <p:cNvGrpSpPr/>
          <p:nvPr/>
        </p:nvGrpSpPr>
        <p:grpSpPr>
          <a:xfrm>
            <a:off x="4569089" y="2554315"/>
            <a:ext cx="253986" cy="253986"/>
            <a:chOff x="2008163" y="2122216"/>
            <a:chExt cx="530226" cy="530226"/>
          </a:xfrm>
        </p:grpSpPr>
        <p:sp>
          <p:nvSpPr>
            <p:cNvPr id="145" name="Google Shape;1802;p69">
              <a:extLst>
                <a:ext uri="{FF2B5EF4-FFF2-40B4-BE49-F238E27FC236}">
                  <a16:creationId xmlns:a16="http://schemas.microsoft.com/office/drawing/2014/main" id="{DCE63EEC-6846-0144-64D5-14F4DD922E56}"/>
                </a:ext>
              </a:extLst>
            </p:cNvPr>
            <p:cNvSpPr/>
            <p:nvPr/>
          </p:nvSpPr>
          <p:spPr>
            <a:xfrm>
              <a:off x="2008163" y="2122216"/>
              <a:ext cx="530226" cy="530226"/>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146" name="Google Shape;1803;p69">
              <a:extLst>
                <a:ext uri="{FF2B5EF4-FFF2-40B4-BE49-F238E27FC236}">
                  <a16:creationId xmlns:a16="http://schemas.microsoft.com/office/drawing/2014/main" id="{71F54099-9CC0-9CCD-8C08-A5895AD8DF25}"/>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cxnSp>
        <p:nvCxnSpPr>
          <p:cNvPr id="21" name="Straight Connector 20">
            <a:extLst>
              <a:ext uri="{FF2B5EF4-FFF2-40B4-BE49-F238E27FC236}">
                <a16:creationId xmlns:a16="http://schemas.microsoft.com/office/drawing/2014/main" id="{753FE80B-3828-4E9C-6DAA-6729A04C78BC}"/>
              </a:ext>
            </a:extLst>
          </p:cNvPr>
          <p:cNvCxnSpPr>
            <a:cxnSpLocks/>
          </p:cNvCxnSpPr>
          <p:nvPr/>
        </p:nvCxnSpPr>
        <p:spPr bwMode="gray">
          <a:xfrm>
            <a:off x="7889961" y="2807370"/>
            <a:ext cx="2609012" cy="0"/>
          </a:xfrm>
          <a:prstGeom prst="line">
            <a:avLst/>
          </a:prstGeom>
          <a:solidFill>
            <a:srgbClr val="FFFFFF"/>
          </a:solidFill>
          <a:ln w="25400" cap="flat" cmpd="sng">
            <a:solidFill>
              <a:schemeClr val="accent3"/>
            </a:solidFill>
            <a:prstDash val="solid"/>
            <a:round/>
            <a:headEnd type="none" w="sm" len="sm"/>
            <a:tailEnd type="none" w="sm" len="sm"/>
          </a:ln>
        </p:spPr>
      </p:cxnSp>
      <p:cxnSp>
        <p:nvCxnSpPr>
          <p:cNvPr id="45" name="Straight Connector 44">
            <a:extLst>
              <a:ext uri="{FF2B5EF4-FFF2-40B4-BE49-F238E27FC236}">
                <a16:creationId xmlns:a16="http://schemas.microsoft.com/office/drawing/2014/main" id="{A9A25E03-DAAA-97A2-7E99-CA266C865946}"/>
              </a:ext>
            </a:extLst>
          </p:cNvPr>
          <p:cNvCxnSpPr>
            <a:cxnSpLocks/>
          </p:cNvCxnSpPr>
          <p:nvPr/>
        </p:nvCxnSpPr>
        <p:spPr bwMode="gray">
          <a:xfrm>
            <a:off x="4225159" y="5103555"/>
            <a:ext cx="954854" cy="0"/>
          </a:xfrm>
          <a:prstGeom prst="line">
            <a:avLst/>
          </a:prstGeom>
          <a:solidFill>
            <a:srgbClr val="FFFFFF"/>
          </a:solidFill>
          <a:ln w="25400" cap="flat" cmpd="sng">
            <a:solidFill>
              <a:schemeClr val="accent4"/>
            </a:solidFill>
            <a:prstDash val="solid"/>
            <a:round/>
            <a:headEnd type="none" w="sm" len="sm"/>
            <a:tailEnd type="none" w="sm" len="sm"/>
          </a:ln>
        </p:spPr>
      </p:cxnSp>
      <p:sp>
        <p:nvSpPr>
          <p:cNvPr id="20" name="Google Shape;978;p55">
            <a:extLst>
              <a:ext uri="{FF2B5EF4-FFF2-40B4-BE49-F238E27FC236}">
                <a16:creationId xmlns:a16="http://schemas.microsoft.com/office/drawing/2014/main" id="{1CD268FB-DBC7-4C20-7D4E-AAA5177A7366}"/>
              </a:ext>
            </a:extLst>
          </p:cNvPr>
          <p:cNvSpPr/>
          <p:nvPr/>
        </p:nvSpPr>
        <p:spPr>
          <a:xfrm>
            <a:off x="1804053" y="4006340"/>
            <a:ext cx="938446" cy="216000"/>
          </a:xfrm>
          <a:prstGeom prst="roundRect">
            <a:avLst>
              <a:gd name="adj" fmla="val 50000"/>
            </a:avLst>
          </a:prstGeom>
          <a:solidFill>
            <a:srgbClr val="00000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Roboto"/>
                <a:cs typeface="Roboto"/>
                <a:sym typeface="Roboto"/>
              </a:rPr>
              <a:t>DC1</a:t>
            </a:r>
          </a:p>
        </p:txBody>
      </p:sp>
      <p:grpSp>
        <p:nvGrpSpPr>
          <p:cNvPr id="22" name="Group 21">
            <a:extLst>
              <a:ext uri="{FF2B5EF4-FFF2-40B4-BE49-F238E27FC236}">
                <a16:creationId xmlns:a16="http://schemas.microsoft.com/office/drawing/2014/main" id="{77B40088-D752-525E-F12A-7F07BE11E142}"/>
              </a:ext>
            </a:extLst>
          </p:cNvPr>
          <p:cNvGrpSpPr/>
          <p:nvPr/>
        </p:nvGrpSpPr>
        <p:grpSpPr>
          <a:xfrm>
            <a:off x="1815975" y="4046380"/>
            <a:ext cx="983908" cy="226814"/>
            <a:chOff x="3101850" y="2707291"/>
            <a:chExt cx="983908" cy="226814"/>
          </a:xfrm>
        </p:grpSpPr>
        <p:sp>
          <p:nvSpPr>
            <p:cNvPr id="23" name="Freeform 22">
              <a:extLst>
                <a:ext uri="{FF2B5EF4-FFF2-40B4-BE49-F238E27FC236}">
                  <a16:creationId xmlns:a16="http://schemas.microsoft.com/office/drawing/2014/main" id="{040FDF78-1853-453A-19F0-D9D6E1F85C09}"/>
                </a:ext>
              </a:extLst>
            </p:cNvPr>
            <p:cNvSpPr/>
            <p:nvPr/>
          </p:nvSpPr>
          <p:spPr bwMode="gray">
            <a:xfrm rot="377976">
              <a:off x="3101850" y="2718105"/>
              <a:ext cx="735048" cy="216000"/>
            </a:xfrm>
            <a:custGeom>
              <a:avLst/>
              <a:gdLst>
                <a:gd name="connsiteX0" fmla="*/ 134618 w 735048"/>
                <a:gd name="connsiteY0" fmla="*/ 0 h 270259"/>
                <a:gd name="connsiteX1" fmla="*/ 709540 w 735048"/>
                <a:gd name="connsiteY1" fmla="*/ 0 h 270259"/>
                <a:gd name="connsiteX2" fmla="*/ 661499 w 735048"/>
                <a:gd name="connsiteY2" fmla="*/ 87074 h 270259"/>
                <a:gd name="connsiteX3" fmla="*/ 735048 w 735048"/>
                <a:gd name="connsiteY3" fmla="*/ 168795 h 270259"/>
                <a:gd name="connsiteX4" fmla="*/ 587464 w 735048"/>
                <a:gd name="connsiteY4" fmla="*/ 270259 h 270259"/>
                <a:gd name="connsiteX5" fmla="*/ 556903 w 735048"/>
                <a:gd name="connsiteY5" fmla="*/ 270259 h 270259"/>
                <a:gd name="connsiteX6" fmla="*/ 557468 w 735048"/>
                <a:gd name="connsiteY6" fmla="*/ 269236 h 270259"/>
                <a:gd name="connsiteX7" fmla="*/ 134618 w 735048"/>
                <a:gd name="connsiteY7" fmla="*/ 269236 h 270259"/>
                <a:gd name="connsiteX8" fmla="*/ 0 w 735048"/>
                <a:gd name="connsiteY8" fmla="*/ 134618 h 270259"/>
                <a:gd name="connsiteX9" fmla="*/ 134618 w 735048"/>
                <a:gd name="connsiteY9" fmla="*/ 0 h 27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5048" h="270259">
                  <a:moveTo>
                    <a:pt x="134618" y="0"/>
                  </a:moveTo>
                  <a:lnTo>
                    <a:pt x="709540" y="0"/>
                  </a:lnTo>
                  <a:lnTo>
                    <a:pt x="661499" y="87074"/>
                  </a:lnTo>
                  <a:lnTo>
                    <a:pt x="735048" y="168795"/>
                  </a:lnTo>
                  <a:lnTo>
                    <a:pt x="587464" y="270259"/>
                  </a:lnTo>
                  <a:lnTo>
                    <a:pt x="556903" y="270259"/>
                  </a:lnTo>
                  <a:lnTo>
                    <a:pt x="557468" y="269236"/>
                  </a:lnTo>
                  <a:lnTo>
                    <a:pt x="134618" y="269236"/>
                  </a:lnTo>
                  <a:cubicBezTo>
                    <a:pt x="60271" y="269236"/>
                    <a:pt x="0" y="208965"/>
                    <a:pt x="0" y="134618"/>
                  </a:cubicBezTo>
                  <a:cubicBezTo>
                    <a:pt x="0" y="60271"/>
                    <a:pt x="60271" y="0"/>
                    <a:pt x="134618" y="0"/>
                  </a:cubicBezTo>
                  <a:close/>
                </a:path>
              </a:pathLst>
            </a:custGeom>
            <a:solidFill>
              <a:schemeClr val="tx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FFFFFF"/>
                  </a:solidFill>
                  <a:effectLst/>
                  <a:uLnTx/>
                  <a:uFillTx/>
                  <a:latin typeface="Arial" panose="020B0604020202020204"/>
                  <a:ea typeface="+mn-ea"/>
                  <a:cs typeface="+mn-cs"/>
                </a:rPr>
                <a:t>       DC1</a:t>
              </a: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6" name="Freeform 45">
              <a:extLst>
                <a:ext uri="{FF2B5EF4-FFF2-40B4-BE49-F238E27FC236}">
                  <a16:creationId xmlns:a16="http://schemas.microsoft.com/office/drawing/2014/main" id="{0D1F5F74-ED7F-8717-B8C0-D7904384BBF5}"/>
                </a:ext>
              </a:extLst>
            </p:cNvPr>
            <p:cNvSpPr/>
            <p:nvPr/>
          </p:nvSpPr>
          <p:spPr bwMode="gray">
            <a:xfrm rot="20997256">
              <a:off x="3738869" y="2707291"/>
              <a:ext cx="346889" cy="216000"/>
            </a:xfrm>
            <a:custGeom>
              <a:avLst/>
              <a:gdLst>
                <a:gd name="connsiteX0" fmla="*/ 119180 w 346889"/>
                <a:gd name="connsiteY0" fmla="*/ 0 h 269236"/>
                <a:gd name="connsiteX1" fmla="*/ 212271 w 346889"/>
                <a:gd name="connsiteY1" fmla="*/ 0 h 269236"/>
                <a:gd name="connsiteX2" fmla="*/ 346889 w 346889"/>
                <a:gd name="connsiteY2" fmla="*/ 134618 h 269236"/>
                <a:gd name="connsiteX3" fmla="*/ 212271 w 346889"/>
                <a:gd name="connsiteY3" fmla="*/ 269236 h 269236"/>
                <a:gd name="connsiteX4" fmla="*/ 0 w 346889"/>
                <a:gd name="connsiteY4" fmla="*/ 269236 h 269236"/>
                <a:gd name="connsiteX5" fmla="*/ 147584 w 346889"/>
                <a:gd name="connsiteY5" fmla="*/ 167772 h 269236"/>
                <a:gd name="connsiteX6" fmla="*/ 73776 w 346889"/>
                <a:gd name="connsiteY6" fmla="*/ 85763 h 269236"/>
                <a:gd name="connsiteX7" fmla="*/ 119180 w 346889"/>
                <a:gd name="connsiteY7" fmla="*/ 0 h 26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889" h="269236">
                  <a:moveTo>
                    <a:pt x="119180" y="0"/>
                  </a:moveTo>
                  <a:lnTo>
                    <a:pt x="212271" y="0"/>
                  </a:lnTo>
                  <a:cubicBezTo>
                    <a:pt x="286618" y="0"/>
                    <a:pt x="346889" y="60271"/>
                    <a:pt x="346889" y="134618"/>
                  </a:cubicBezTo>
                  <a:cubicBezTo>
                    <a:pt x="346889" y="208965"/>
                    <a:pt x="286618" y="269236"/>
                    <a:pt x="212271" y="269236"/>
                  </a:cubicBezTo>
                  <a:lnTo>
                    <a:pt x="0" y="269236"/>
                  </a:lnTo>
                  <a:lnTo>
                    <a:pt x="147584" y="167772"/>
                  </a:lnTo>
                  <a:lnTo>
                    <a:pt x="73776" y="85763"/>
                  </a:lnTo>
                  <a:lnTo>
                    <a:pt x="119180" y="0"/>
                  </a:lnTo>
                  <a:close/>
                </a:path>
              </a:pathLst>
            </a:custGeom>
            <a:solidFill>
              <a:schemeClr val="tx1"/>
            </a:solidFill>
            <a:ln w="12700">
              <a:noFill/>
              <a:miter lim="800000"/>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grpSp>
        <p:nvGrpSpPr>
          <p:cNvPr id="15" name="Group 14">
            <a:extLst>
              <a:ext uri="{FF2B5EF4-FFF2-40B4-BE49-F238E27FC236}">
                <a16:creationId xmlns:a16="http://schemas.microsoft.com/office/drawing/2014/main" id="{1926BD2C-9EC4-8301-D817-0DBDFBE68FBC}"/>
              </a:ext>
            </a:extLst>
          </p:cNvPr>
          <p:cNvGrpSpPr/>
          <p:nvPr/>
        </p:nvGrpSpPr>
        <p:grpSpPr>
          <a:xfrm>
            <a:off x="3765254" y="2554315"/>
            <a:ext cx="253986" cy="253986"/>
            <a:chOff x="2008163" y="2122216"/>
            <a:chExt cx="530226" cy="530226"/>
          </a:xfrm>
        </p:grpSpPr>
        <p:sp>
          <p:nvSpPr>
            <p:cNvPr id="24" name="Google Shape;1802;p69">
              <a:extLst>
                <a:ext uri="{FF2B5EF4-FFF2-40B4-BE49-F238E27FC236}">
                  <a16:creationId xmlns:a16="http://schemas.microsoft.com/office/drawing/2014/main" id="{0D9913D0-FE8B-146B-5BC0-136515DF6A95}"/>
                </a:ext>
              </a:extLst>
            </p:cNvPr>
            <p:cNvSpPr/>
            <p:nvPr/>
          </p:nvSpPr>
          <p:spPr>
            <a:xfrm>
              <a:off x="2008163" y="2122216"/>
              <a:ext cx="530226" cy="53022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sz="1999" b="1"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sp>
          <p:nvSpPr>
            <p:cNvPr id="25" name="Google Shape;1803;p69">
              <a:extLst>
                <a:ext uri="{FF2B5EF4-FFF2-40B4-BE49-F238E27FC236}">
                  <a16:creationId xmlns:a16="http://schemas.microsoft.com/office/drawing/2014/main" id="{DBE62651-9D85-1E70-843A-CAC02416CC6A}"/>
                </a:ext>
              </a:extLst>
            </p:cNvPr>
            <p:cNvSpPr/>
            <p:nvPr/>
          </p:nvSpPr>
          <p:spPr>
            <a:xfrm>
              <a:off x="2123019" y="2236966"/>
              <a:ext cx="300514" cy="300725"/>
            </a:xfrm>
            <a:custGeom>
              <a:avLst/>
              <a:gdLst/>
              <a:ahLst/>
              <a:cxnLst/>
              <a:rect l="l" t="t" r="r" b="b"/>
              <a:pathLst>
                <a:path w="682595" h="683075" extrusionOk="0">
                  <a:moveTo>
                    <a:pt x="210738" y="294991"/>
                  </a:moveTo>
                  <a:lnTo>
                    <a:pt x="228711" y="294991"/>
                  </a:lnTo>
                  <a:lnTo>
                    <a:pt x="257969" y="370973"/>
                  </a:lnTo>
                  <a:lnTo>
                    <a:pt x="286713" y="294991"/>
                  </a:lnTo>
                  <a:lnTo>
                    <a:pt x="304723" y="294991"/>
                  </a:lnTo>
                  <a:lnTo>
                    <a:pt x="265593" y="390215"/>
                  </a:lnTo>
                  <a:lnTo>
                    <a:pt x="250394" y="390215"/>
                  </a:lnTo>
                  <a:close/>
                  <a:moveTo>
                    <a:pt x="378083" y="292859"/>
                  </a:moveTo>
                  <a:cubicBezTo>
                    <a:pt x="385696" y="292859"/>
                    <a:pt x="392356" y="294930"/>
                    <a:pt x="398065" y="299070"/>
                  </a:cubicBezTo>
                  <a:cubicBezTo>
                    <a:pt x="403775" y="303211"/>
                    <a:pt x="407152" y="308360"/>
                    <a:pt x="408199" y="314517"/>
                  </a:cubicBezTo>
                  <a:cubicBezTo>
                    <a:pt x="408787" y="308654"/>
                    <a:pt x="411886" y="303579"/>
                    <a:pt x="417498" y="299291"/>
                  </a:cubicBezTo>
                  <a:cubicBezTo>
                    <a:pt x="423109" y="295003"/>
                    <a:pt x="429736" y="292859"/>
                    <a:pt x="437378" y="292859"/>
                  </a:cubicBezTo>
                  <a:cubicBezTo>
                    <a:pt x="443995" y="292859"/>
                    <a:pt x="449937" y="294458"/>
                    <a:pt x="455204" y="297656"/>
                  </a:cubicBezTo>
                  <a:cubicBezTo>
                    <a:pt x="460471" y="300855"/>
                    <a:pt x="464563" y="305278"/>
                    <a:pt x="467481" y="310926"/>
                  </a:cubicBezTo>
                  <a:cubicBezTo>
                    <a:pt x="470398" y="316573"/>
                    <a:pt x="471857" y="322930"/>
                    <a:pt x="471857" y="329996"/>
                  </a:cubicBezTo>
                  <a:lnTo>
                    <a:pt x="471857" y="390215"/>
                  </a:lnTo>
                  <a:lnTo>
                    <a:pt x="454921" y="390215"/>
                  </a:lnTo>
                  <a:lnTo>
                    <a:pt x="454921" y="331772"/>
                  </a:lnTo>
                  <a:cubicBezTo>
                    <a:pt x="454921" y="324793"/>
                    <a:pt x="453091" y="319118"/>
                    <a:pt x="449431" y="314749"/>
                  </a:cubicBezTo>
                  <a:cubicBezTo>
                    <a:pt x="445771" y="310379"/>
                    <a:pt x="441163" y="308194"/>
                    <a:pt x="435605" y="308194"/>
                  </a:cubicBezTo>
                  <a:cubicBezTo>
                    <a:pt x="428762" y="308194"/>
                    <a:pt x="423210" y="310243"/>
                    <a:pt x="418950" y="314340"/>
                  </a:cubicBezTo>
                  <a:cubicBezTo>
                    <a:pt x="414689" y="318437"/>
                    <a:pt x="412559" y="323656"/>
                    <a:pt x="412559" y="329996"/>
                  </a:cubicBezTo>
                  <a:lnTo>
                    <a:pt x="412559" y="390215"/>
                  </a:lnTo>
                  <a:lnTo>
                    <a:pt x="395624" y="390215"/>
                  </a:lnTo>
                  <a:lnTo>
                    <a:pt x="395624" y="331772"/>
                  </a:lnTo>
                  <a:cubicBezTo>
                    <a:pt x="395624" y="324793"/>
                    <a:pt x="393794" y="319118"/>
                    <a:pt x="390135" y="314749"/>
                  </a:cubicBezTo>
                  <a:cubicBezTo>
                    <a:pt x="386476" y="310379"/>
                    <a:pt x="381867" y="308194"/>
                    <a:pt x="376307" y="308194"/>
                  </a:cubicBezTo>
                  <a:cubicBezTo>
                    <a:pt x="369464" y="308194"/>
                    <a:pt x="363913" y="310243"/>
                    <a:pt x="359652" y="314340"/>
                  </a:cubicBezTo>
                  <a:cubicBezTo>
                    <a:pt x="355392" y="318437"/>
                    <a:pt x="353261" y="323656"/>
                    <a:pt x="353261" y="329996"/>
                  </a:cubicBezTo>
                  <a:lnTo>
                    <a:pt x="353261" y="390215"/>
                  </a:lnTo>
                  <a:lnTo>
                    <a:pt x="336326" y="390215"/>
                  </a:lnTo>
                  <a:lnTo>
                    <a:pt x="336326" y="294991"/>
                  </a:lnTo>
                  <a:lnTo>
                    <a:pt x="353261" y="294991"/>
                  </a:lnTo>
                  <a:lnTo>
                    <a:pt x="353261" y="308301"/>
                  </a:lnTo>
                  <a:cubicBezTo>
                    <a:pt x="353452" y="303930"/>
                    <a:pt x="356036" y="300263"/>
                    <a:pt x="361015" y="297302"/>
                  </a:cubicBezTo>
                  <a:cubicBezTo>
                    <a:pt x="365994" y="294340"/>
                    <a:pt x="371683" y="292859"/>
                    <a:pt x="378083" y="292859"/>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panose="020B0604020202020204"/>
                <a:ea typeface="Arial"/>
                <a:cs typeface="Arial"/>
                <a:sym typeface="Arial"/>
              </a:endParaRPr>
            </a:p>
          </p:txBody>
        </p:sp>
      </p:grpSp>
    </p:spTree>
    <p:extLst>
      <p:ext uri="{BB962C8B-B14F-4D97-AF65-F5344CB8AC3E}">
        <p14:creationId xmlns:p14="http://schemas.microsoft.com/office/powerpoint/2010/main" val="1272759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26"/>
                                        </p:tgtEl>
                                        <p:attrNameLst>
                                          <p:attrName>style.visibility</p:attrName>
                                        </p:attrNameLst>
                                      </p:cBhvr>
                                      <p:to>
                                        <p:strVal val="hidden"/>
                                      </p:to>
                                    </p:set>
                                  </p:childTnLst>
                                </p:cTn>
                              </p:par>
                              <p:par>
                                <p:cTn id="7" presetID="42" presetClass="path" presetSubtype="0" accel="50000" decel="50000" fill="hold" nodeType="withEffect">
                                  <p:stCondLst>
                                    <p:cond delay="0"/>
                                  </p:stCondLst>
                                  <p:childTnLst>
                                    <p:animMotion origin="layout" path="M 2.16463E-6 -3.7037E-7 L -0.12269 0.00069 " pathEditMode="relative" rAng="0" ptsTypes="AA">
                                      <p:cBhvr>
                                        <p:cTn id="8" dur="500" fill="hold"/>
                                        <p:tgtEl>
                                          <p:spTgt spid="85"/>
                                        </p:tgtEl>
                                        <p:attrNameLst>
                                          <p:attrName>ppt_x</p:attrName>
                                          <p:attrName>ppt_y</p:attrName>
                                        </p:attrNameLst>
                                      </p:cBhvr>
                                      <p:rCtr x="-6134" y="23"/>
                                    </p:animMotion>
                                  </p:childTnLst>
                                </p:cTn>
                              </p:par>
                              <p:par>
                                <p:cTn id="9" presetID="42" presetClass="path" presetSubtype="0" accel="50000" decel="50000" fill="hold" nodeType="withEffect">
                                  <p:stCondLst>
                                    <p:cond delay="0"/>
                                  </p:stCondLst>
                                  <p:childTnLst>
                                    <p:animMotion origin="layout" path="M 3.47486E-6 2.22222E-6 L 0.06525 0.00069 " pathEditMode="relative" rAng="0" ptsTypes="AA">
                                      <p:cBhvr>
                                        <p:cTn id="10" dur="500" fill="hold"/>
                                        <p:tgtEl>
                                          <p:spTgt spid="75"/>
                                        </p:tgtEl>
                                        <p:attrNameLst>
                                          <p:attrName>ppt_x</p:attrName>
                                          <p:attrName>ppt_y</p:attrName>
                                        </p:attrNameLst>
                                      </p:cBhvr>
                                      <p:rCtr x="3256" y="23"/>
                                    </p:animMotion>
                                  </p:childTnLst>
                                </p:cTn>
                              </p:par>
                              <p:par>
                                <p:cTn id="11" presetID="42" presetClass="path" presetSubtype="0" accel="50000" decel="50000" fill="hold" nodeType="withEffect">
                                  <p:stCondLst>
                                    <p:cond delay="0"/>
                                  </p:stCondLst>
                                  <p:childTnLst>
                                    <p:animMotion origin="layout" path="M 1.09664E-6 -5.55112E-17 L -0.12204 0.00023 " pathEditMode="relative" rAng="0" ptsTypes="AA">
                                      <p:cBhvr>
                                        <p:cTn id="12" dur="500" fill="hold"/>
                                        <p:tgtEl>
                                          <p:spTgt spid="130"/>
                                        </p:tgtEl>
                                        <p:attrNameLst>
                                          <p:attrName>ppt_x</p:attrName>
                                          <p:attrName>ppt_y</p:attrName>
                                        </p:attrNameLst>
                                      </p:cBhvr>
                                      <p:rCtr x="-6108" y="0"/>
                                    </p:animMotion>
                                  </p:childTnLst>
                                </p:cTn>
                              </p:par>
                              <p:par>
                                <p:cTn id="13" presetID="42" presetClass="path" presetSubtype="0" accel="50000" decel="50000" fill="hold" nodeType="withEffect">
                                  <p:stCondLst>
                                    <p:cond delay="0"/>
                                  </p:stCondLst>
                                  <p:childTnLst>
                                    <p:animMotion origin="layout" path="M 3.42277E-6 -2.22222E-6 L -0.18898 -0.00023 " pathEditMode="relative" rAng="0" ptsTypes="AA">
                                      <p:cBhvr>
                                        <p:cTn id="14" dur="500" fill="hold"/>
                                        <p:tgtEl>
                                          <p:spTgt spid="143"/>
                                        </p:tgtEl>
                                        <p:attrNameLst>
                                          <p:attrName>ppt_x</p:attrName>
                                          <p:attrName>ppt_y</p:attrName>
                                        </p:attrNameLst>
                                      </p:cBhvr>
                                      <p:rCtr x="-9456" y="-23"/>
                                    </p:animMotion>
                                  </p:childTnLst>
                                </p:cTn>
                              </p:par>
                            </p:childTnLst>
                          </p:cTn>
                        </p:par>
                        <p:par>
                          <p:cTn id="15" fill="hold">
                            <p:stCondLst>
                              <p:cond delay="500"/>
                            </p:stCondLst>
                            <p:childTnLst>
                              <p:par>
                                <p:cTn id="16" presetID="1" presetClass="entr" presetSubtype="0" fill="hold" nodeType="afterEffect">
                                  <p:stCondLst>
                                    <p:cond delay="0"/>
                                  </p:stCondLst>
                                  <p:childTnLst>
                                    <p:set>
                                      <p:cBhvr>
                                        <p:cTn id="17" dur="1" fill="hold">
                                          <p:stCondLst>
                                            <p:cond delay="0"/>
                                          </p:stCondLst>
                                        </p:cTn>
                                        <p:tgtEl>
                                          <p:spTgt spid="5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par>
                                <p:cTn id="23" presetID="1" presetClass="entr" presetSubtype="0" fill="hold" nodeType="withEffect">
                                  <p:stCondLst>
                                    <p:cond delay="0"/>
                                  </p:stCondLst>
                                  <p:childTnLst>
                                    <p:set>
                                      <p:cBhvr>
                                        <p:cTn id="24" dur="1" fill="hold">
                                          <p:stCondLst>
                                            <p:cond delay="0"/>
                                          </p:stCondLst>
                                        </p:cTn>
                                        <p:tgtEl>
                                          <p:spTgt spid="173"/>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7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64"/>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8"/>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9"/>
                                        </p:tgtEl>
                                        <p:attrNameLst>
                                          <p:attrName>style.visibility</p:attrName>
                                        </p:attrNameLst>
                                      </p:cBhvr>
                                      <p:to>
                                        <p:strVal val="visible"/>
                                      </p:to>
                                    </p:set>
                                  </p:childTnLst>
                                </p:cTn>
                              </p:par>
                              <p:par>
                                <p:cTn id="33" presetID="22" presetClass="entr" presetSubtype="8"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500"/>
                            </p:stCondLst>
                            <p:childTnLst>
                              <p:par>
                                <p:cTn id="37" presetID="10" presetClass="entr" presetSubtype="0" fill="hold" nodeType="afterEffect">
                                  <p:stCondLst>
                                    <p:cond delay="0"/>
                                  </p:stCondLst>
                                  <p:childTnLst>
                                    <p:set>
                                      <p:cBhvr>
                                        <p:cTn id="38" dur="1" fill="hold">
                                          <p:stCondLst>
                                            <p:cond delay="0"/>
                                          </p:stCondLst>
                                        </p:cTn>
                                        <p:tgtEl>
                                          <p:spTgt spid="175"/>
                                        </p:tgtEl>
                                        <p:attrNameLst>
                                          <p:attrName>style.visibility</p:attrName>
                                        </p:attrNameLst>
                                      </p:cBhvr>
                                      <p:to>
                                        <p:strVal val="visible"/>
                                      </p:to>
                                    </p:set>
                                    <p:animEffect transition="in" filter="fade">
                                      <p:cBhvr>
                                        <p:cTn id="39" dur="500"/>
                                        <p:tgtEl>
                                          <p:spTgt spid="17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2"/>
                                        </p:tgtEl>
                                        <p:attrNameLst>
                                          <p:attrName>style.visibility</p:attrName>
                                        </p:attrNameLst>
                                      </p:cBhvr>
                                      <p:to>
                                        <p:strVal val="visible"/>
                                      </p:to>
                                    </p:set>
                                    <p:animEffect transition="in" filter="fade">
                                      <p:cBhvr>
                                        <p:cTn id="56" dur="500"/>
                                        <p:tgtEl>
                                          <p:spTgt spid="32"/>
                                        </p:tgtEl>
                                      </p:cBhvr>
                                    </p:animEffect>
                                  </p:childTnLst>
                                </p:cTn>
                              </p:par>
                              <p:par>
                                <p:cTn id="57" presetID="10" presetClass="entr" presetSubtype="0" fill="hold" nodeType="withEffect">
                                  <p:stCondLst>
                                    <p:cond delay="0"/>
                                  </p:stCondLst>
                                  <p:childTnLst>
                                    <p:set>
                                      <p:cBhvr>
                                        <p:cTn id="58" dur="1" fill="hold">
                                          <p:stCondLst>
                                            <p:cond delay="0"/>
                                          </p:stCondLst>
                                        </p:cTn>
                                        <p:tgtEl>
                                          <p:spTgt spid="110"/>
                                        </p:tgtEl>
                                        <p:attrNameLst>
                                          <p:attrName>style.visibility</p:attrName>
                                        </p:attrNameLst>
                                      </p:cBhvr>
                                      <p:to>
                                        <p:strVal val="visible"/>
                                      </p:to>
                                    </p:set>
                                    <p:animEffect transition="in" filter="fade">
                                      <p:cBhvr>
                                        <p:cTn id="59" dur="500"/>
                                        <p:tgtEl>
                                          <p:spTgt spid="110"/>
                                        </p:tgtEl>
                                      </p:cBhvr>
                                    </p:animEffect>
                                  </p:childTnLst>
                                </p:cTn>
                              </p:par>
                              <p:par>
                                <p:cTn id="60" presetID="10" presetClass="entr" presetSubtype="0" fill="hold" nodeType="withEffect">
                                  <p:stCondLst>
                                    <p:cond delay="0"/>
                                  </p:stCondLst>
                                  <p:childTnLst>
                                    <p:set>
                                      <p:cBhvr>
                                        <p:cTn id="61" dur="1" fill="hold">
                                          <p:stCondLst>
                                            <p:cond delay="0"/>
                                          </p:stCondLst>
                                        </p:cTn>
                                        <p:tgtEl>
                                          <p:spTgt spid="111"/>
                                        </p:tgtEl>
                                        <p:attrNameLst>
                                          <p:attrName>style.visibility</p:attrName>
                                        </p:attrNameLst>
                                      </p:cBhvr>
                                      <p:to>
                                        <p:strVal val="visible"/>
                                      </p:to>
                                    </p:set>
                                    <p:animEffect transition="in" filter="fade">
                                      <p:cBhvr>
                                        <p:cTn id="62" dur="500"/>
                                        <p:tgtEl>
                                          <p:spTgt spid="111"/>
                                        </p:tgtEl>
                                      </p:cBhvr>
                                    </p:animEffect>
                                  </p:childTnLst>
                                </p:cTn>
                              </p:par>
                              <p:par>
                                <p:cTn id="63" presetID="1" presetClass="entr" presetSubtype="0" fill="hold" nodeType="withEffect">
                                  <p:stCondLst>
                                    <p:cond delay="0"/>
                                  </p:stCondLst>
                                  <p:childTnLst>
                                    <p:set>
                                      <p:cBhvr>
                                        <p:cTn id="64" dur="1" fill="hold">
                                          <p:stCondLst>
                                            <p:cond delay="0"/>
                                          </p:stCondLst>
                                        </p:cTn>
                                        <p:tgtEl>
                                          <p:spTgt spid="4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20"/>
                                        </p:tgtEl>
                                      </p:cBhvr>
                                    </p:animEffect>
                                    <p:set>
                                      <p:cBhvr>
                                        <p:cTn id="69" dur="1" fill="hold">
                                          <p:stCondLst>
                                            <p:cond delay="499"/>
                                          </p:stCondLst>
                                        </p:cTn>
                                        <p:tgtEl>
                                          <p:spTgt spid="20"/>
                                        </p:tgtEl>
                                        <p:attrNameLst>
                                          <p:attrName>style.visibility</p:attrName>
                                        </p:attrNameLst>
                                      </p:cBhvr>
                                      <p:to>
                                        <p:strVal val="hidden"/>
                                      </p:to>
                                    </p:set>
                                  </p:childTnLst>
                                </p:cTn>
                              </p:par>
                              <p:par>
                                <p:cTn id="70" presetID="10" presetClass="entr" presetSubtype="0" fill="hold"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par>
                          <p:cTn id="73" fill="hold">
                            <p:stCondLst>
                              <p:cond delay="500"/>
                            </p:stCondLst>
                            <p:childTnLst>
                              <p:par>
                                <p:cTn id="74" presetID="1" presetClass="entr" presetSubtype="0" fill="hold" grpId="0" nodeType="afterEffect">
                                  <p:stCondLst>
                                    <p:cond delay="0"/>
                                  </p:stCondLst>
                                  <p:childTnLst>
                                    <p:set>
                                      <p:cBhvr>
                                        <p:cTn id="75" dur="1" fill="hold">
                                          <p:stCondLst>
                                            <p:cond delay="0"/>
                                          </p:stCondLst>
                                        </p:cTn>
                                        <p:tgtEl>
                                          <p:spTgt spid="181"/>
                                        </p:tgtEl>
                                        <p:attrNameLst>
                                          <p:attrName>style.visibility</p:attrName>
                                        </p:attrNameLst>
                                      </p:cBhvr>
                                      <p:to>
                                        <p:strVal val="visible"/>
                                      </p:to>
                                    </p:set>
                                  </p:childTnLst>
                                </p:cTn>
                              </p:par>
                            </p:childTnLst>
                          </p:cTn>
                        </p:par>
                        <p:par>
                          <p:cTn id="76" fill="hold">
                            <p:stCondLst>
                              <p:cond delay="500"/>
                            </p:stCondLst>
                            <p:childTnLst>
                              <p:par>
                                <p:cTn id="77" presetID="9" presetClass="exit" presetSubtype="0" fill="hold" nodeType="afterEffect">
                                  <p:stCondLst>
                                    <p:cond delay="0"/>
                                  </p:stCondLst>
                                  <p:childTnLst>
                                    <p:animEffect transition="out" filter="dissolve">
                                      <p:cBhvr>
                                        <p:cTn id="78" dur="500"/>
                                        <p:tgtEl>
                                          <p:spTgt spid="111"/>
                                        </p:tgtEl>
                                      </p:cBhvr>
                                    </p:animEffect>
                                    <p:set>
                                      <p:cBhvr>
                                        <p:cTn id="79" dur="1" fill="hold">
                                          <p:stCondLst>
                                            <p:cond delay="499"/>
                                          </p:stCondLst>
                                        </p:cTn>
                                        <p:tgtEl>
                                          <p:spTgt spid="111"/>
                                        </p:tgtEl>
                                        <p:attrNameLst>
                                          <p:attrName>style.visibility</p:attrName>
                                        </p:attrNameLst>
                                      </p:cBhvr>
                                      <p:to>
                                        <p:strVal val="hidden"/>
                                      </p:to>
                                    </p:set>
                                  </p:childTnLst>
                                </p:cTn>
                              </p:par>
                            </p:childTnLst>
                          </p:cTn>
                        </p:par>
                        <p:par>
                          <p:cTn id="80" fill="hold">
                            <p:stCondLst>
                              <p:cond delay="1000"/>
                            </p:stCondLst>
                            <p:childTnLst>
                              <p:par>
                                <p:cTn id="81" presetID="10" presetClass="entr" presetSubtype="0" fill="hold" nodeType="afterEffect">
                                  <p:stCondLst>
                                    <p:cond delay="0"/>
                                  </p:stCondLst>
                                  <p:childTnLst>
                                    <p:set>
                                      <p:cBhvr>
                                        <p:cTn id="82" dur="1" fill="hold">
                                          <p:stCondLst>
                                            <p:cond delay="0"/>
                                          </p:stCondLst>
                                        </p:cTn>
                                        <p:tgtEl>
                                          <p:spTgt spid="112"/>
                                        </p:tgtEl>
                                        <p:attrNameLst>
                                          <p:attrName>style.visibility</p:attrName>
                                        </p:attrNameLst>
                                      </p:cBhvr>
                                      <p:to>
                                        <p:strVal val="visible"/>
                                      </p:to>
                                    </p:set>
                                    <p:animEffect transition="in" filter="fade">
                                      <p:cBhvr>
                                        <p:cTn id="83" dur="500"/>
                                        <p:tgtEl>
                                          <p:spTgt spid="112"/>
                                        </p:tgtEl>
                                      </p:cBhvr>
                                    </p:animEffect>
                                  </p:childTnLst>
                                </p:cTn>
                              </p:par>
                              <p:par>
                                <p:cTn id="84" presetID="1" presetClass="exit" presetSubtype="0" fill="hold" nodeType="withEffect">
                                  <p:stCondLst>
                                    <p:cond delay="0"/>
                                  </p:stCondLst>
                                  <p:childTnLst>
                                    <p:set>
                                      <p:cBhvr>
                                        <p:cTn id="85" dur="1" fill="hold">
                                          <p:stCondLst>
                                            <p:cond delay="0"/>
                                          </p:stCondLst>
                                        </p:cTn>
                                        <p:tgtEl>
                                          <p:spTgt spid="110"/>
                                        </p:tgtEl>
                                        <p:attrNameLst>
                                          <p:attrName>style.visibility</p:attrName>
                                        </p:attrNameLst>
                                      </p:cBhvr>
                                      <p:to>
                                        <p:strVal val="hidden"/>
                                      </p:to>
                                    </p:se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19"/>
                                        </p:tgtEl>
                                        <p:attrNameLst>
                                          <p:attrName>style.visibility</p:attrName>
                                        </p:attrNameLst>
                                      </p:cBhvr>
                                      <p:to>
                                        <p:strVal val="visible"/>
                                      </p:to>
                                    </p:set>
                                    <p:animEffect transition="in" filter="fade">
                                      <p:cBhvr>
                                        <p:cTn id="90" dur="500"/>
                                        <p:tgtEl>
                                          <p:spTgt spid="19"/>
                                        </p:tgtEl>
                                      </p:cBhvr>
                                    </p:animEffect>
                                  </p:childTnLst>
                                </p:cTn>
                              </p:par>
                              <p:par>
                                <p:cTn id="91" presetID="10" presetClass="entr" presetSubtype="0" fill="hold" nodeType="withEffect">
                                  <p:stCondLst>
                                    <p:cond delay="0"/>
                                  </p:stCondLst>
                                  <p:childTnLst>
                                    <p:set>
                                      <p:cBhvr>
                                        <p:cTn id="92" dur="1" fill="hold">
                                          <p:stCondLst>
                                            <p:cond delay="0"/>
                                          </p:stCondLst>
                                        </p:cTn>
                                        <p:tgtEl>
                                          <p:spTgt spid="104"/>
                                        </p:tgtEl>
                                        <p:attrNameLst>
                                          <p:attrName>style.visibility</p:attrName>
                                        </p:attrNameLst>
                                      </p:cBhvr>
                                      <p:to>
                                        <p:strVal val="visible"/>
                                      </p:to>
                                    </p:set>
                                    <p:animEffect transition="in" filter="fade">
                                      <p:cBhvr>
                                        <p:cTn id="9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9" grpId="0" animBg="1"/>
      <p:bldP spid="31" grpId="0" animBg="1"/>
      <p:bldP spid="32" grpId="0" animBg="1"/>
      <p:bldP spid="181" grpId="0" animBg="1"/>
      <p:bldP spid="20" grpId="0" animBg="1"/>
      <p:bldP spid="20" grpId="1"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48EBA1-7FEB-DEB2-3F5F-44F062733931}"/>
            </a:ext>
          </a:extLst>
        </p:cNvPr>
        <p:cNvGrpSpPr/>
        <p:nvPr/>
      </p:nvGrpSpPr>
      <p:grpSpPr>
        <a:xfrm>
          <a:off x="0" y="0"/>
          <a:ext cx="0" cy="0"/>
          <a:chOff x="0" y="0"/>
          <a:chExt cx="0" cy="0"/>
        </a:xfrm>
      </p:grpSpPr>
      <p:grpSp>
        <p:nvGrpSpPr>
          <p:cNvPr id="11" name="!!vnacluster">
            <a:extLst>
              <a:ext uri="{FF2B5EF4-FFF2-40B4-BE49-F238E27FC236}">
                <a16:creationId xmlns:a16="http://schemas.microsoft.com/office/drawing/2014/main" id="{B67C02E7-ACC2-03B4-06A7-72360915258C}"/>
              </a:ext>
            </a:extLst>
          </p:cNvPr>
          <p:cNvGrpSpPr/>
          <p:nvPr/>
        </p:nvGrpSpPr>
        <p:grpSpPr>
          <a:xfrm>
            <a:off x="6268474" y="3479165"/>
            <a:ext cx="2054429" cy="1234816"/>
            <a:chOff x="5020938" y="3474720"/>
            <a:chExt cx="2054429" cy="1234816"/>
          </a:xfrm>
        </p:grpSpPr>
        <p:sp>
          <p:nvSpPr>
            <p:cNvPr id="14" name="Rounded Rectangle 13">
              <a:extLst>
                <a:ext uri="{FF2B5EF4-FFF2-40B4-BE49-F238E27FC236}">
                  <a16:creationId xmlns:a16="http://schemas.microsoft.com/office/drawing/2014/main" id="{9BBE0962-EFFD-A69B-73FA-C63C1529898F}"/>
                </a:ext>
              </a:extLst>
            </p:cNvPr>
            <p:cNvSpPr/>
            <p:nvPr/>
          </p:nvSpPr>
          <p:spPr bwMode="gray">
            <a:xfrm>
              <a:off x="5020938" y="3474720"/>
              <a:ext cx="2054429" cy="1152000"/>
            </a:xfrm>
            <a:prstGeom prst="roundRect">
              <a:avLst>
                <a:gd name="adj" fmla="val 6757"/>
              </a:avLst>
            </a:prstGeom>
            <a:noFill/>
            <a:ln w="12700">
              <a:solidFill>
                <a:schemeClr val="accent3"/>
              </a:solidFill>
              <a:prstDash val="sysDash"/>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5" name="TextBox 14">
              <a:extLst>
                <a:ext uri="{FF2B5EF4-FFF2-40B4-BE49-F238E27FC236}">
                  <a16:creationId xmlns:a16="http://schemas.microsoft.com/office/drawing/2014/main" id="{E141B26B-7425-7413-B571-446F2FAEB5B3}"/>
                </a:ext>
              </a:extLst>
            </p:cNvPr>
            <p:cNvSpPr txBox="1"/>
            <p:nvPr/>
          </p:nvSpPr>
          <p:spPr>
            <a:xfrm>
              <a:off x="5646092" y="4540259"/>
              <a:ext cx="829368" cy="169277"/>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5C8A"/>
                  </a:solidFill>
                  <a:effectLst/>
                  <a:uLnTx/>
                  <a:uFillTx/>
                  <a:latin typeface="Arial" panose="020B0604020202020204"/>
                  <a:ea typeface="+mn-ea"/>
                  <a:cs typeface="+mn-cs"/>
                </a:rPr>
                <a:t>VNA Cluster</a:t>
              </a:r>
            </a:p>
          </p:txBody>
        </p:sp>
      </p:grpSp>
      <p:grpSp>
        <p:nvGrpSpPr>
          <p:cNvPr id="16" name="!!edgecluster">
            <a:extLst>
              <a:ext uri="{FF2B5EF4-FFF2-40B4-BE49-F238E27FC236}">
                <a16:creationId xmlns:a16="http://schemas.microsoft.com/office/drawing/2014/main" id="{2ED8CD6F-8D33-93F5-511F-53957A7F7A46}"/>
              </a:ext>
            </a:extLst>
          </p:cNvPr>
          <p:cNvGrpSpPr/>
          <p:nvPr/>
        </p:nvGrpSpPr>
        <p:grpSpPr>
          <a:xfrm>
            <a:off x="4072105" y="3474720"/>
            <a:ext cx="2054429" cy="1234816"/>
            <a:chOff x="4072105" y="3474720"/>
            <a:chExt cx="2054429" cy="1234816"/>
          </a:xfrm>
        </p:grpSpPr>
        <p:sp>
          <p:nvSpPr>
            <p:cNvPr id="101" name="Rounded Rectangle 100">
              <a:extLst>
                <a:ext uri="{FF2B5EF4-FFF2-40B4-BE49-F238E27FC236}">
                  <a16:creationId xmlns:a16="http://schemas.microsoft.com/office/drawing/2014/main" id="{C9EA1406-460A-EA1C-BC83-37012BA91C9E}"/>
                </a:ext>
              </a:extLst>
            </p:cNvPr>
            <p:cNvSpPr/>
            <p:nvPr/>
          </p:nvSpPr>
          <p:spPr bwMode="gray">
            <a:xfrm>
              <a:off x="4072105" y="3474720"/>
              <a:ext cx="2054429" cy="1152000"/>
            </a:xfrm>
            <a:prstGeom prst="roundRect">
              <a:avLst>
                <a:gd name="adj" fmla="val 6757"/>
              </a:avLst>
            </a:prstGeom>
            <a:noFill/>
            <a:ln w="12700">
              <a:solidFill>
                <a:schemeClr val="accent3"/>
              </a:solidFill>
              <a:prstDash val="sysDash"/>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02" name="TextBox 101">
              <a:extLst>
                <a:ext uri="{FF2B5EF4-FFF2-40B4-BE49-F238E27FC236}">
                  <a16:creationId xmlns:a16="http://schemas.microsoft.com/office/drawing/2014/main" id="{3D99887B-627F-9E24-D9E3-39B8CCA7AC11}"/>
                </a:ext>
              </a:extLst>
            </p:cNvPr>
            <p:cNvSpPr txBox="1"/>
            <p:nvPr/>
          </p:nvSpPr>
          <p:spPr>
            <a:xfrm>
              <a:off x="4697259" y="4540259"/>
              <a:ext cx="829368" cy="169277"/>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5C8A"/>
                  </a:solidFill>
                  <a:effectLst/>
                  <a:uLnTx/>
                  <a:uFillTx/>
                  <a:latin typeface="Arial" panose="020B0604020202020204"/>
                  <a:ea typeface="+mn-ea"/>
                  <a:cs typeface="+mn-cs"/>
                </a:rPr>
                <a:t>Edge Cluster</a:t>
              </a:r>
            </a:p>
          </p:txBody>
        </p:sp>
      </p:grpSp>
      <p:sp>
        <p:nvSpPr>
          <p:cNvPr id="3" name="!!BOTTOM">
            <a:extLst>
              <a:ext uri="{FF2B5EF4-FFF2-40B4-BE49-F238E27FC236}">
                <a16:creationId xmlns:a16="http://schemas.microsoft.com/office/drawing/2014/main" id="{D5D08910-ABDA-1599-DA12-9C5B80DA1CAC}"/>
              </a:ext>
            </a:extLst>
          </p:cNvPr>
          <p:cNvSpPr/>
          <p:nvPr/>
        </p:nvSpPr>
        <p:spPr>
          <a:xfrm rot="10800000" flipV="1">
            <a:off x="627405" y="1600200"/>
            <a:ext cx="10953408" cy="1487103"/>
          </a:xfrm>
          <a:prstGeom prst="round2SameRect">
            <a:avLst>
              <a:gd name="adj1" fmla="val 7233"/>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Physical Network Infrastructure</a:t>
            </a:r>
          </a:p>
        </p:txBody>
      </p:sp>
      <p:sp>
        <p:nvSpPr>
          <p:cNvPr id="4" name="!!TOP">
            <a:extLst>
              <a:ext uri="{FF2B5EF4-FFF2-40B4-BE49-F238E27FC236}">
                <a16:creationId xmlns:a16="http://schemas.microsoft.com/office/drawing/2014/main" id="{0F3B0A22-E307-D833-AE08-B2C043F7F22A}"/>
              </a:ext>
            </a:extLst>
          </p:cNvPr>
          <p:cNvSpPr/>
          <p:nvPr/>
        </p:nvSpPr>
        <p:spPr>
          <a:xfrm flipV="1">
            <a:off x="627406" y="3174959"/>
            <a:ext cx="10953407" cy="1741143"/>
          </a:xfrm>
          <a:prstGeom prst="round2SameRect">
            <a:avLst>
              <a:gd name="adj1" fmla="val 72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109" name="Title 108">
            <a:extLst>
              <a:ext uri="{FF2B5EF4-FFF2-40B4-BE49-F238E27FC236}">
                <a16:creationId xmlns:a16="http://schemas.microsoft.com/office/drawing/2014/main" id="{3ACE516C-8EB4-8135-2B95-D61E8163B721}"/>
              </a:ext>
            </a:extLst>
          </p:cNvPr>
          <p:cNvSpPr>
            <a:spLocks noGrp="1"/>
          </p:cNvSpPr>
          <p:nvPr>
            <p:ph type="title"/>
          </p:nvPr>
        </p:nvSpPr>
        <p:spPr/>
        <p:txBody>
          <a:bodyPr/>
          <a:lstStyle/>
          <a:p>
            <a:r>
              <a:rPr lang="en-US" dirty="0">
                <a:latin typeface="+mn-lt"/>
              </a:rPr>
              <a:t>NSX Components</a:t>
            </a:r>
          </a:p>
        </p:txBody>
      </p:sp>
      <p:sp>
        <p:nvSpPr>
          <p:cNvPr id="91" name="Rectangle 90">
            <a:extLst>
              <a:ext uri="{FF2B5EF4-FFF2-40B4-BE49-F238E27FC236}">
                <a16:creationId xmlns:a16="http://schemas.microsoft.com/office/drawing/2014/main" id="{8BB01469-05E2-EEA5-4C95-6CD76F47EAC8}"/>
              </a:ext>
            </a:extLst>
          </p:cNvPr>
          <p:cNvSpPr/>
          <p:nvPr/>
        </p:nvSpPr>
        <p:spPr>
          <a:xfrm>
            <a:off x="-77002" y="4633021"/>
            <a:ext cx="5360611" cy="145424"/>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sp>
        <p:nvSpPr>
          <p:cNvPr id="37" name="!!TextBox 75">
            <a:extLst>
              <a:ext uri="{FF2B5EF4-FFF2-40B4-BE49-F238E27FC236}">
                <a16:creationId xmlns:a16="http://schemas.microsoft.com/office/drawing/2014/main" id="{1EC282C6-6B54-285D-EF5F-3B562135CAA8}"/>
              </a:ext>
            </a:extLst>
          </p:cNvPr>
          <p:cNvSpPr txBox="1"/>
          <p:nvPr/>
        </p:nvSpPr>
        <p:spPr>
          <a:xfrm>
            <a:off x="9500125" y="2572350"/>
            <a:ext cx="1707625" cy="169277"/>
          </a:xfrm>
          <a:prstGeom prst="rect">
            <a:avLst/>
          </a:prstGeom>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3F3F3F"/>
                </a:solidFill>
                <a:effectLst/>
                <a:uLnTx/>
                <a:uFillTx/>
                <a:latin typeface="Arial" panose="020B0604020202020204"/>
                <a:ea typeface="+mn-ea"/>
                <a:cs typeface="+mn-cs"/>
              </a:rPr>
              <a:t>VM Management Network</a:t>
            </a:r>
          </a:p>
        </p:txBody>
      </p:sp>
      <p:pic>
        <p:nvPicPr>
          <p:cNvPr id="92" name="Picture 91">
            <a:extLst>
              <a:ext uri="{FF2B5EF4-FFF2-40B4-BE49-F238E27FC236}">
                <a16:creationId xmlns:a16="http://schemas.microsoft.com/office/drawing/2014/main" id="{ED4F6D37-AFF7-B5B9-78E3-938B890ECCF9}"/>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027661" y="4552389"/>
            <a:ext cx="348488" cy="295148"/>
          </a:xfrm>
          <a:prstGeom prst="rect">
            <a:avLst/>
          </a:prstGeom>
        </p:spPr>
      </p:pic>
      <p:sp>
        <p:nvSpPr>
          <p:cNvPr id="120" name="Rectangle 119">
            <a:extLst>
              <a:ext uri="{FF2B5EF4-FFF2-40B4-BE49-F238E27FC236}">
                <a16:creationId xmlns:a16="http://schemas.microsoft.com/office/drawing/2014/main" id="{BAE3EEEA-4EB7-6249-837D-EA4A8DA1B326}"/>
              </a:ext>
            </a:extLst>
          </p:cNvPr>
          <p:cNvSpPr/>
          <p:nvPr/>
        </p:nvSpPr>
        <p:spPr bwMode="gray">
          <a:xfrm>
            <a:off x="8687793" y="4916103"/>
            <a:ext cx="2700000" cy="812549"/>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Deployed by VCF Operations</a:t>
            </a:r>
          </a:p>
        </p:txBody>
      </p:sp>
      <p:cxnSp>
        <p:nvCxnSpPr>
          <p:cNvPr id="25" name="Straight Connector 24">
            <a:extLst>
              <a:ext uri="{FF2B5EF4-FFF2-40B4-BE49-F238E27FC236}">
                <a16:creationId xmlns:a16="http://schemas.microsoft.com/office/drawing/2014/main" id="{A6E7A90D-13D3-CFF7-9A91-9FCBAD22F347}"/>
              </a:ext>
            </a:extLst>
          </p:cNvPr>
          <p:cNvCxnSpPr>
            <a:cxnSpLocks/>
          </p:cNvCxnSpPr>
          <p:nvPr/>
        </p:nvCxnSpPr>
        <p:spPr bwMode="gray">
          <a:xfrm>
            <a:off x="8618838" y="2777196"/>
            <a:ext cx="2588912"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23" name="Group 122">
            <a:extLst>
              <a:ext uri="{FF2B5EF4-FFF2-40B4-BE49-F238E27FC236}">
                <a16:creationId xmlns:a16="http://schemas.microsoft.com/office/drawing/2014/main" id="{B054C83B-4901-760C-FEB9-6E9C6C8505BA}"/>
              </a:ext>
            </a:extLst>
          </p:cNvPr>
          <p:cNvGrpSpPr/>
          <p:nvPr/>
        </p:nvGrpSpPr>
        <p:grpSpPr>
          <a:xfrm>
            <a:off x="8910758" y="2768628"/>
            <a:ext cx="2291138" cy="1549947"/>
            <a:chOff x="8896685" y="2768628"/>
            <a:chExt cx="2291138" cy="1549947"/>
          </a:xfrm>
        </p:grpSpPr>
        <p:grpSp>
          <p:nvGrpSpPr>
            <p:cNvPr id="118" name="Group 117">
              <a:extLst>
                <a:ext uri="{FF2B5EF4-FFF2-40B4-BE49-F238E27FC236}">
                  <a16:creationId xmlns:a16="http://schemas.microsoft.com/office/drawing/2014/main" id="{DACA57EF-A766-6C55-E6CF-E554C585DFAD}"/>
                </a:ext>
              </a:extLst>
            </p:cNvPr>
            <p:cNvGrpSpPr/>
            <p:nvPr/>
          </p:nvGrpSpPr>
          <p:grpSpPr>
            <a:xfrm>
              <a:off x="8896685" y="2776888"/>
              <a:ext cx="900000" cy="1254239"/>
              <a:chOff x="8948529" y="2776888"/>
              <a:chExt cx="900000" cy="1254239"/>
            </a:xfrm>
          </p:grpSpPr>
          <p:sp>
            <p:nvSpPr>
              <p:cNvPr id="22" name="Rectangle: Rounded Corners 42">
                <a:extLst>
                  <a:ext uri="{FF2B5EF4-FFF2-40B4-BE49-F238E27FC236}">
                    <a16:creationId xmlns:a16="http://schemas.microsoft.com/office/drawing/2014/main" id="{96CB15CF-68D2-81B4-5409-3854935FC713}"/>
                  </a:ext>
                </a:extLst>
              </p:cNvPr>
              <p:cNvSpPr/>
              <p:nvPr/>
            </p:nvSpPr>
            <p:spPr>
              <a:xfrm>
                <a:off x="8948529" y="3544503"/>
                <a:ext cx="900000" cy="486624"/>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vCenter</a:t>
                </a:r>
              </a:p>
            </p:txBody>
          </p:sp>
          <p:cxnSp>
            <p:nvCxnSpPr>
              <p:cNvPr id="39" name="Straight Connector 38">
                <a:extLst>
                  <a:ext uri="{FF2B5EF4-FFF2-40B4-BE49-F238E27FC236}">
                    <a16:creationId xmlns:a16="http://schemas.microsoft.com/office/drawing/2014/main" id="{BD057A79-CEE3-A33B-A071-1E76D9A7F0C0}"/>
                  </a:ext>
                </a:extLst>
              </p:cNvPr>
              <p:cNvCxnSpPr>
                <a:cxnSpLocks/>
                <a:endCxn id="22" idx="0"/>
              </p:cNvCxnSpPr>
              <p:nvPr/>
            </p:nvCxnSpPr>
            <p:spPr bwMode="gray">
              <a:xfrm flipH="1">
                <a:off x="9398529" y="2776888"/>
                <a:ext cx="11840" cy="76761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BB31186C-40A6-FA66-DBC7-BACA47B60378}"/>
                </a:ext>
              </a:extLst>
            </p:cNvPr>
            <p:cNvGrpSpPr/>
            <p:nvPr/>
          </p:nvGrpSpPr>
          <p:grpSpPr>
            <a:xfrm>
              <a:off x="9933306" y="2768628"/>
              <a:ext cx="1254517" cy="1549947"/>
              <a:chOff x="9985150" y="2768628"/>
              <a:chExt cx="1254517" cy="1549947"/>
            </a:xfrm>
          </p:grpSpPr>
          <p:sp>
            <p:nvSpPr>
              <p:cNvPr id="18" name="Rectangle: Rounded Corners 42">
                <a:extLst>
                  <a:ext uri="{FF2B5EF4-FFF2-40B4-BE49-F238E27FC236}">
                    <a16:creationId xmlns:a16="http://schemas.microsoft.com/office/drawing/2014/main" id="{DA4B67FC-B8BC-3BAD-AE30-B3E446840B84}"/>
                  </a:ext>
                </a:extLst>
              </p:cNvPr>
              <p:cNvSpPr/>
              <p:nvPr/>
            </p:nvSpPr>
            <p:spPr>
              <a:xfrm>
                <a:off x="9985150" y="3831951"/>
                <a:ext cx="900000" cy="486624"/>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007B8C"/>
                  </a:solidFill>
                  <a:effectLst/>
                  <a:uLnTx/>
                  <a:uFillTx/>
                  <a:latin typeface="Arial" panose="020B0604020202020204"/>
                  <a:ea typeface="+mn-ea"/>
                  <a:cs typeface="+mn-cs"/>
                </a:endParaRPr>
              </a:p>
            </p:txBody>
          </p:sp>
          <p:sp>
            <p:nvSpPr>
              <p:cNvPr id="19" name="Rectangle: Rounded Corners 42">
                <a:extLst>
                  <a:ext uri="{FF2B5EF4-FFF2-40B4-BE49-F238E27FC236}">
                    <a16:creationId xmlns:a16="http://schemas.microsoft.com/office/drawing/2014/main" id="{3C2342FE-23B8-7F54-5573-6A0BEF5F2FE7}"/>
                  </a:ext>
                </a:extLst>
              </p:cNvPr>
              <p:cNvSpPr/>
              <p:nvPr/>
            </p:nvSpPr>
            <p:spPr>
              <a:xfrm>
                <a:off x="10149544" y="3680305"/>
                <a:ext cx="900000" cy="486624"/>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007B8C"/>
                  </a:solidFill>
                  <a:effectLst/>
                  <a:uLnTx/>
                  <a:uFillTx/>
                  <a:latin typeface="Arial" panose="020B0604020202020204"/>
                  <a:ea typeface="+mn-ea"/>
                  <a:cs typeface="+mn-cs"/>
                </a:endParaRPr>
              </a:p>
            </p:txBody>
          </p:sp>
          <p:cxnSp>
            <p:nvCxnSpPr>
              <p:cNvPr id="42" name="Straight Connector 41">
                <a:extLst>
                  <a:ext uri="{FF2B5EF4-FFF2-40B4-BE49-F238E27FC236}">
                    <a16:creationId xmlns:a16="http://schemas.microsoft.com/office/drawing/2014/main" id="{20F0AB92-0151-974E-6685-5CA48778C9F7}"/>
                  </a:ext>
                </a:extLst>
              </p:cNvPr>
              <p:cNvCxnSpPr>
                <a:cxnSpLocks/>
              </p:cNvCxnSpPr>
              <p:nvPr/>
            </p:nvCxnSpPr>
            <p:spPr bwMode="gray">
              <a:xfrm>
                <a:off x="10784754" y="2776888"/>
                <a:ext cx="3284" cy="76761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FC04EC5-3ECF-D10A-B9E7-08937B740F3F}"/>
                  </a:ext>
                </a:extLst>
              </p:cNvPr>
              <p:cNvCxnSpPr>
                <a:cxnSpLocks/>
              </p:cNvCxnSpPr>
              <p:nvPr/>
            </p:nvCxnSpPr>
            <p:spPr bwMode="gray">
              <a:xfrm flipH="1">
                <a:off x="10599544" y="2768628"/>
                <a:ext cx="11840" cy="91785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611AE8BF-65ED-BB57-E9C1-F8E040C0FA2B}"/>
                  </a:ext>
                </a:extLst>
              </p:cNvPr>
              <p:cNvCxnSpPr>
                <a:cxnSpLocks/>
                <a:endCxn id="18" idx="0"/>
              </p:cNvCxnSpPr>
              <p:nvPr/>
            </p:nvCxnSpPr>
            <p:spPr bwMode="gray">
              <a:xfrm flipH="1">
                <a:off x="10435150" y="2781701"/>
                <a:ext cx="11840" cy="105025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 name="Rectangle: Rounded Corners 42">
                <a:extLst>
                  <a:ext uri="{FF2B5EF4-FFF2-40B4-BE49-F238E27FC236}">
                    <a16:creationId xmlns:a16="http://schemas.microsoft.com/office/drawing/2014/main" id="{2D026CBB-2EA2-51C2-B832-CCE7444DC776}"/>
                  </a:ext>
                </a:extLst>
              </p:cNvPr>
              <p:cNvSpPr/>
              <p:nvPr/>
            </p:nvSpPr>
            <p:spPr>
              <a:xfrm>
                <a:off x="10339667" y="3544503"/>
                <a:ext cx="900000" cy="486624"/>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NSX manager</a:t>
                </a:r>
              </a:p>
            </p:txBody>
          </p:sp>
        </p:grpSp>
      </p:grpSp>
      <p:sp>
        <p:nvSpPr>
          <p:cNvPr id="43" name="Rectangle: Rounded Corners 42">
            <a:extLst>
              <a:ext uri="{FF2B5EF4-FFF2-40B4-BE49-F238E27FC236}">
                <a16:creationId xmlns:a16="http://schemas.microsoft.com/office/drawing/2014/main" id="{8C16897E-D81B-803C-656A-2854F7277022}"/>
              </a:ext>
            </a:extLst>
          </p:cNvPr>
          <p:cNvSpPr/>
          <p:nvPr/>
        </p:nvSpPr>
        <p:spPr>
          <a:xfrm>
            <a:off x="827722" y="3544503"/>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32" name="Rectangle: Rounded Corners 42">
            <a:extLst>
              <a:ext uri="{FF2B5EF4-FFF2-40B4-BE49-F238E27FC236}">
                <a16:creationId xmlns:a16="http://schemas.microsoft.com/office/drawing/2014/main" id="{498A00A3-54D8-6B04-1CCF-0A9C5C629EDB}"/>
              </a:ext>
            </a:extLst>
          </p:cNvPr>
          <p:cNvSpPr/>
          <p:nvPr/>
        </p:nvSpPr>
        <p:spPr>
          <a:xfrm>
            <a:off x="1817722" y="3544503"/>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57" name="Rectangle: Rounded Corners 42">
            <a:extLst>
              <a:ext uri="{FF2B5EF4-FFF2-40B4-BE49-F238E27FC236}">
                <a16:creationId xmlns:a16="http://schemas.microsoft.com/office/drawing/2014/main" id="{E869C66A-4284-3715-E719-9134170F87F1}"/>
              </a:ext>
            </a:extLst>
          </p:cNvPr>
          <p:cNvSpPr/>
          <p:nvPr/>
        </p:nvSpPr>
        <p:spPr>
          <a:xfrm>
            <a:off x="2807722" y="3544503"/>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40" name="!!TextBox 75">
            <a:extLst>
              <a:ext uri="{FF2B5EF4-FFF2-40B4-BE49-F238E27FC236}">
                <a16:creationId xmlns:a16="http://schemas.microsoft.com/office/drawing/2014/main" id="{3F4684D1-0F1D-5DFC-3E9B-89093B0C82B0}"/>
              </a:ext>
            </a:extLst>
          </p:cNvPr>
          <p:cNvSpPr txBox="1"/>
          <p:nvPr/>
        </p:nvSpPr>
        <p:spPr>
          <a:xfrm>
            <a:off x="2179656" y="2759219"/>
            <a:ext cx="1620235" cy="169277"/>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3F3F3F"/>
                </a:solidFill>
                <a:effectLst/>
                <a:uLnTx/>
                <a:uFillTx/>
                <a:latin typeface="Arial" panose="020B0604020202020204"/>
                <a:ea typeface="+mn-ea"/>
                <a:cs typeface="+mn-cs"/>
              </a:rPr>
              <a:t>/Edge Overlay Network</a:t>
            </a:r>
          </a:p>
        </p:txBody>
      </p:sp>
      <p:grpSp>
        <p:nvGrpSpPr>
          <p:cNvPr id="8" name="Group 7">
            <a:extLst>
              <a:ext uri="{FF2B5EF4-FFF2-40B4-BE49-F238E27FC236}">
                <a16:creationId xmlns:a16="http://schemas.microsoft.com/office/drawing/2014/main" id="{45AC74BC-0D4D-CFB2-CAAA-BB7433E01442}"/>
              </a:ext>
            </a:extLst>
          </p:cNvPr>
          <p:cNvGrpSpPr/>
          <p:nvPr/>
        </p:nvGrpSpPr>
        <p:grpSpPr>
          <a:xfrm>
            <a:off x="820426" y="2759219"/>
            <a:ext cx="3124214" cy="2969432"/>
            <a:chOff x="820426" y="2759219"/>
            <a:chExt cx="3124214" cy="2969432"/>
          </a:xfrm>
        </p:grpSpPr>
        <p:sp>
          <p:nvSpPr>
            <p:cNvPr id="121" name="Rectangle 120">
              <a:extLst>
                <a:ext uri="{FF2B5EF4-FFF2-40B4-BE49-F238E27FC236}">
                  <a16:creationId xmlns:a16="http://schemas.microsoft.com/office/drawing/2014/main" id="{B0C18690-D60D-21B2-DE6E-FE06BCEA728F}"/>
                </a:ext>
              </a:extLst>
            </p:cNvPr>
            <p:cNvSpPr/>
            <p:nvPr/>
          </p:nvSpPr>
          <p:spPr bwMode="gray">
            <a:xfrm>
              <a:off x="827722" y="4916102"/>
              <a:ext cx="2880000" cy="812549"/>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Configured by VCF Operations</a:t>
              </a:r>
            </a:p>
          </p:txBody>
        </p:sp>
        <p:grpSp>
          <p:nvGrpSpPr>
            <p:cNvPr id="52" name="Group 51">
              <a:extLst>
                <a:ext uri="{FF2B5EF4-FFF2-40B4-BE49-F238E27FC236}">
                  <a16:creationId xmlns:a16="http://schemas.microsoft.com/office/drawing/2014/main" id="{0B8A1AD6-3C22-2FBD-64F3-EA7EB17F0804}"/>
                </a:ext>
              </a:extLst>
            </p:cNvPr>
            <p:cNvGrpSpPr/>
            <p:nvPr/>
          </p:nvGrpSpPr>
          <p:grpSpPr>
            <a:xfrm>
              <a:off x="820426" y="2759219"/>
              <a:ext cx="3124214" cy="209159"/>
              <a:chOff x="1029028" y="2759219"/>
              <a:chExt cx="3124214" cy="209159"/>
            </a:xfrm>
          </p:grpSpPr>
          <p:sp>
            <p:nvSpPr>
              <p:cNvPr id="23" name="!!TextBox 75">
                <a:extLst>
                  <a:ext uri="{FF2B5EF4-FFF2-40B4-BE49-F238E27FC236}">
                    <a16:creationId xmlns:a16="http://schemas.microsoft.com/office/drawing/2014/main" id="{A5CE6B6A-077B-834A-512F-ED710200C699}"/>
                  </a:ext>
                </a:extLst>
              </p:cNvPr>
              <p:cNvSpPr txBox="1"/>
              <p:nvPr/>
            </p:nvSpPr>
            <p:spPr>
              <a:xfrm>
                <a:off x="1034323" y="2759219"/>
                <a:ext cx="3118919" cy="169277"/>
              </a:xfrm>
              <a:prstGeom prst="rect">
                <a:avLst/>
              </a:prstGeom>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3F3F3F"/>
                    </a:solidFill>
                    <a:effectLst/>
                    <a:uLnTx/>
                    <a:uFillTx/>
                    <a:latin typeface="Arial" panose="020B0604020202020204"/>
                    <a:ea typeface="+mn-ea"/>
                    <a:cs typeface="+mn-cs"/>
                  </a:rPr>
                  <a:t>NSX Overlay network</a:t>
                </a:r>
              </a:p>
            </p:txBody>
          </p:sp>
          <p:cxnSp>
            <p:nvCxnSpPr>
              <p:cNvPr id="9" name="Straight Connector 8">
                <a:extLst>
                  <a:ext uri="{FF2B5EF4-FFF2-40B4-BE49-F238E27FC236}">
                    <a16:creationId xmlns:a16="http://schemas.microsoft.com/office/drawing/2014/main" id="{06B95211-BB68-6727-8DB3-74A76490DAB5}"/>
                  </a:ext>
                </a:extLst>
              </p:cNvPr>
              <p:cNvCxnSpPr>
                <a:cxnSpLocks/>
              </p:cNvCxnSpPr>
              <p:nvPr/>
            </p:nvCxnSpPr>
            <p:spPr bwMode="gray">
              <a:xfrm>
                <a:off x="1029028" y="2968378"/>
                <a:ext cx="2880000"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48" name="Rectangle 618">
              <a:extLst>
                <a:ext uri="{FF2B5EF4-FFF2-40B4-BE49-F238E27FC236}">
                  <a16:creationId xmlns:a16="http://schemas.microsoft.com/office/drawing/2014/main" id="{A2A4F612-E217-C37F-710A-B6FE769C5B65}"/>
                </a:ext>
              </a:extLst>
            </p:cNvPr>
            <p:cNvSpPr>
              <a:spLocks noChangeArrowheads="1"/>
            </p:cNvSpPr>
            <p:nvPr/>
          </p:nvSpPr>
          <p:spPr bwMode="auto">
            <a:xfrm>
              <a:off x="1285325"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sp>
          <p:nvSpPr>
            <p:cNvPr id="49" name="Rectangle 618">
              <a:extLst>
                <a:ext uri="{FF2B5EF4-FFF2-40B4-BE49-F238E27FC236}">
                  <a16:creationId xmlns:a16="http://schemas.microsoft.com/office/drawing/2014/main" id="{545E3A5B-0199-2236-6B40-60873141FDD3}"/>
                </a:ext>
              </a:extLst>
            </p:cNvPr>
            <p:cNvSpPr>
              <a:spLocks noChangeArrowheads="1"/>
            </p:cNvSpPr>
            <p:nvPr/>
          </p:nvSpPr>
          <p:spPr bwMode="auto">
            <a:xfrm>
              <a:off x="1030554"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54" name="Straight Connector 53">
              <a:extLst>
                <a:ext uri="{FF2B5EF4-FFF2-40B4-BE49-F238E27FC236}">
                  <a16:creationId xmlns:a16="http://schemas.microsoft.com/office/drawing/2014/main" id="{1A55B6CE-7747-740A-4900-5F821BE0E7D3}"/>
                </a:ext>
              </a:extLst>
            </p:cNvPr>
            <p:cNvCxnSpPr>
              <a:cxnSpLocks/>
            </p:cNvCxnSpPr>
            <p:nvPr/>
          </p:nvCxnSpPr>
          <p:spPr bwMode="gray">
            <a:xfrm>
              <a:off x="1150337"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990E5284-E59A-1AAE-A87F-F38E108C0F01}"/>
                </a:ext>
              </a:extLst>
            </p:cNvPr>
            <p:cNvCxnSpPr>
              <a:cxnSpLocks/>
            </p:cNvCxnSpPr>
            <p:nvPr/>
          </p:nvCxnSpPr>
          <p:spPr bwMode="gray">
            <a:xfrm>
              <a:off x="1405108"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1" name="Rectangle 618">
              <a:extLst>
                <a:ext uri="{FF2B5EF4-FFF2-40B4-BE49-F238E27FC236}">
                  <a16:creationId xmlns:a16="http://schemas.microsoft.com/office/drawing/2014/main" id="{695926BA-AF8F-D7DC-4212-786FEEBB4AEC}"/>
                </a:ext>
              </a:extLst>
            </p:cNvPr>
            <p:cNvSpPr>
              <a:spLocks noChangeArrowheads="1"/>
            </p:cNvSpPr>
            <p:nvPr/>
          </p:nvSpPr>
          <p:spPr bwMode="auto">
            <a:xfrm>
              <a:off x="2275325"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sp>
          <p:nvSpPr>
            <p:cNvPr id="51" name="Rectangle 618">
              <a:extLst>
                <a:ext uri="{FF2B5EF4-FFF2-40B4-BE49-F238E27FC236}">
                  <a16:creationId xmlns:a16="http://schemas.microsoft.com/office/drawing/2014/main" id="{DD013B05-1986-B52F-F857-67F3CCD6FF1F}"/>
                </a:ext>
              </a:extLst>
            </p:cNvPr>
            <p:cNvSpPr>
              <a:spLocks noChangeArrowheads="1"/>
            </p:cNvSpPr>
            <p:nvPr/>
          </p:nvSpPr>
          <p:spPr bwMode="auto">
            <a:xfrm>
              <a:off x="2020554"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53" name="Straight Connector 52">
              <a:extLst>
                <a:ext uri="{FF2B5EF4-FFF2-40B4-BE49-F238E27FC236}">
                  <a16:creationId xmlns:a16="http://schemas.microsoft.com/office/drawing/2014/main" id="{CD55AB7C-8724-698D-DBE3-286BE9F63BB9}"/>
                </a:ext>
              </a:extLst>
            </p:cNvPr>
            <p:cNvCxnSpPr>
              <a:cxnSpLocks/>
            </p:cNvCxnSpPr>
            <p:nvPr/>
          </p:nvCxnSpPr>
          <p:spPr bwMode="gray">
            <a:xfrm>
              <a:off x="2140337"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9739723B-4A19-6E5B-7D7B-7387470A944D}"/>
                </a:ext>
              </a:extLst>
            </p:cNvPr>
            <p:cNvCxnSpPr>
              <a:cxnSpLocks/>
            </p:cNvCxnSpPr>
            <p:nvPr/>
          </p:nvCxnSpPr>
          <p:spPr bwMode="gray">
            <a:xfrm>
              <a:off x="2395108"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2" name="Rectangle 618">
              <a:extLst>
                <a:ext uri="{FF2B5EF4-FFF2-40B4-BE49-F238E27FC236}">
                  <a16:creationId xmlns:a16="http://schemas.microsoft.com/office/drawing/2014/main" id="{BCE57A20-A876-5EB0-DF8F-13F9FD146157}"/>
                </a:ext>
              </a:extLst>
            </p:cNvPr>
            <p:cNvSpPr>
              <a:spLocks noChangeArrowheads="1"/>
            </p:cNvSpPr>
            <p:nvPr/>
          </p:nvSpPr>
          <p:spPr bwMode="auto">
            <a:xfrm>
              <a:off x="3265325"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sp>
          <p:nvSpPr>
            <p:cNvPr id="63" name="Rectangle 618">
              <a:extLst>
                <a:ext uri="{FF2B5EF4-FFF2-40B4-BE49-F238E27FC236}">
                  <a16:creationId xmlns:a16="http://schemas.microsoft.com/office/drawing/2014/main" id="{92BE5D1E-CB1A-8926-B8B7-25F1CBEB4F72}"/>
                </a:ext>
              </a:extLst>
            </p:cNvPr>
            <p:cNvSpPr>
              <a:spLocks noChangeArrowheads="1"/>
            </p:cNvSpPr>
            <p:nvPr/>
          </p:nvSpPr>
          <p:spPr bwMode="auto">
            <a:xfrm>
              <a:off x="3010554"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64" name="Straight Connector 63">
              <a:extLst>
                <a:ext uri="{FF2B5EF4-FFF2-40B4-BE49-F238E27FC236}">
                  <a16:creationId xmlns:a16="http://schemas.microsoft.com/office/drawing/2014/main" id="{C630BCF3-7A28-7E2F-C12B-06B8BFEB33B3}"/>
                </a:ext>
              </a:extLst>
            </p:cNvPr>
            <p:cNvCxnSpPr>
              <a:cxnSpLocks/>
            </p:cNvCxnSpPr>
            <p:nvPr/>
          </p:nvCxnSpPr>
          <p:spPr bwMode="gray">
            <a:xfrm>
              <a:off x="3130337"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0665F651-EB8D-0BD0-27ED-E517A62F256F}"/>
                </a:ext>
              </a:extLst>
            </p:cNvPr>
            <p:cNvCxnSpPr>
              <a:cxnSpLocks/>
            </p:cNvCxnSpPr>
            <p:nvPr/>
          </p:nvCxnSpPr>
          <p:spPr bwMode="gray">
            <a:xfrm>
              <a:off x="3385108"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122" name="Rectangle 121">
            <a:extLst>
              <a:ext uri="{FF2B5EF4-FFF2-40B4-BE49-F238E27FC236}">
                <a16:creationId xmlns:a16="http://schemas.microsoft.com/office/drawing/2014/main" id="{D8D3D41B-3AC6-86F1-1E24-B3C780604605}"/>
              </a:ext>
            </a:extLst>
          </p:cNvPr>
          <p:cNvSpPr/>
          <p:nvPr/>
        </p:nvSpPr>
        <p:spPr bwMode="gray">
          <a:xfrm>
            <a:off x="4066230" y="4916103"/>
            <a:ext cx="4263055" cy="812549"/>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Optional Appliances for Centralized Services</a:t>
            </a:r>
          </a:p>
        </p:txBody>
      </p:sp>
      <p:sp>
        <p:nvSpPr>
          <p:cNvPr id="2" name="!!VNA1">
            <a:extLst>
              <a:ext uri="{FF2B5EF4-FFF2-40B4-BE49-F238E27FC236}">
                <a16:creationId xmlns:a16="http://schemas.microsoft.com/office/drawing/2014/main" id="{9830A600-3672-EA63-A0AD-EF1CE8544400}"/>
              </a:ext>
            </a:extLst>
          </p:cNvPr>
          <p:cNvSpPr>
            <a:spLocks/>
          </p:cNvSpPr>
          <p:nvPr/>
        </p:nvSpPr>
        <p:spPr>
          <a:xfrm>
            <a:off x="6341767" y="3554132"/>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Virtual Network Appliance (VNA)</a:t>
            </a:r>
          </a:p>
        </p:txBody>
      </p:sp>
      <p:cxnSp>
        <p:nvCxnSpPr>
          <p:cNvPr id="5" name="Straight Connector 4">
            <a:extLst>
              <a:ext uri="{FF2B5EF4-FFF2-40B4-BE49-F238E27FC236}">
                <a16:creationId xmlns:a16="http://schemas.microsoft.com/office/drawing/2014/main" id="{D5B88F71-B8C1-FBCB-1939-0C1515A9BBC5}"/>
              </a:ext>
            </a:extLst>
          </p:cNvPr>
          <p:cNvCxnSpPr>
            <a:cxnSpLocks/>
          </p:cNvCxnSpPr>
          <p:nvPr/>
        </p:nvCxnSpPr>
        <p:spPr bwMode="gray">
          <a:xfrm>
            <a:off x="7100267" y="2776888"/>
            <a:ext cx="0" cy="76761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 name="!!VNA2">
            <a:extLst>
              <a:ext uri="{FF2B5EF4-FFF2-40B4-BE49-F238E27FC236}">
                <a16:creationId xmlns:a16="http://schemas.microsoft.com/office/drawing/2014/main" id="{3BE76D85-1F93-95C3-7BC6-1FE90B48204F}"/>
              </a:ext>
            </a:extLst>
          </p:cNvPr>
          <p:cNvSpPr>
            <a:spLocks/>
          </p:cNvSpPr>
          <p:nvPr/>
        </p:nvSpPr>
        <p:spPr>
          <a:xfrm>
            <a:off x="7363628" y="3554132"/>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Virtual Network Appliance (VNA)</a:t>
            </a:r>
          </a:p>
        </p:txBody>
      </p:sp>
      <p:cxnSp>
        <p:nvCxnSpPr>
          <p:cNvPr id="7" name="Straight Connector 6">
            <a:extLst>
              <a:ext uri="{FF2B5EF4-FFF2-40B4-BE49-F238E27FC236}">
                <a16:creationId xmlns:a16="http://schemas.microsoft.com/office/drawing/2014/main" id="{057C9A72-82CD-4ACE-1A6F-1DF58FD2BD90}"/>
              </a:ext>
            </a:extLst>
          </p:cNvPr>
          <p:cNvCxnSpPr>
            <a:cxnSpLocks/>
          </p:cNvCxnSpPr>
          <p:nvPr/>
        </p:nvCxnSpPr>
        <p:spPr bwMode="gray">
          <a:xfrm>
            <a:off x="8122128" y="2776888"/>
            <a:ext cx="0" cy="76761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edge1">
            <a:extLst>
              <a:ext uri="{FF2B5EF4-FFF2-40B4-BE49-F238E27FC236}">
                <a16:creationId xmlns:a16="http://schemas.microsoft.com/office/drawing/2014/main" id="{05131162-3A1C-9B9B-ABF5-B6541427B542}"/>
              </a:ext>
            </a:extLst>
          </p:cNvPr>
          <p:cNvSpPr>
            <a:spLocks/>
          </p:cNvSpPr>
          <p:nvPr/>
        </p:nvSpPr>
        <p:spPr>
          <a:xfrm>
            <a:off x="4139732" y="3554132"/>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Edge Node VM</a:t>
            </a:r>
          </a:p>
        </p:txBody>
      </p:sp>
      <p:sp>
        <p:nvSpPr>
          <p:cNvPr id="74" name="!!edge2">
            <a:extLst>
              <a:ext uri="{FF2B5EF4-FFF2-40B4-BE49-F238E27FC236}">
                <a16:creationId xmlns:a16="http://schemas.microsoft.com/office/drawing/2014/main" id="{E3E4CAF9-98AF-7C95-627D-A6996A87E78C}"/>
              </a:ext>
            </a:extLst>
          </p:cNvPr>
          <p:cNvSpPr>
            <a:spLocks/>
          </p:cNvSpPr>
          <p:nvPr/>
        </p:nvSpPr>
        <p:spPr>
          <a:xfrm>
            <a:off x="5161593" y="3554132"/>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Edge Node VM</a:t>
            </a:r>
          </a:p>
        </p:txBody>
      </p:sp>
      <p:grpSp>
        <p:nvGrpSpPr>
          <p:cNvPr id="130" name="edge uplinks">
            <a:extLst>
              <a:ext uri="{FF2B5EF4-FFF2-40B4-BE49-F238E27FC236}">
                <a16:creationId xmlns:a16="http://schemas.microsoft.com/office/drawing/2014/main" id="{AD70C238-A246-27C2-C4C8-87011C5ABD09}"/>
              </a:ext>
            </a:extLst>
          </p:cNvPr>
          <p:cNvGrpSpPr/>
          <p:nvPr/>
        </p:nvGrpSpPr>
        <p:grpSpPr>
          <a:xfrm>
            <a:off x="3686075" y="2776888"/>
            <a:ext cx="4940474" cy="1013391"/>
            <a:chOff x="3686075" y="2776888"/>
            <a:chExt cx="4940474" cy="1013391"/>
          </a:xfrm>
        </p:grpSpPr>
        <p:cxnSp>
          <p:nvCxnSpPr>
            <p:cNvPr id="12" name="Straight Connector 11">
              <a:extLst>
                <a:ext uri="{FF2B5EF4-FFF2-40B4-BE49-F238E27FC236}">
                  <a16:creationId xmlns:a16="http://schemas.microsoft.com/office/drawing/2014/main" id="{0C8C61E2-D428-3F30-9FE1-A4CE1E5837F5}"/>
                </a:ext>
              </a:extLst>
            </p:cNvPr>
            <p:cNvCxnSpPr>
              <a:cxnSpLocks/>
            </p:cNvCxnSpPr>
            <p:nvPr/>
          </p:nvCxnSpPr>
          <p:spPr bwMode="gray">
            <a:xfrm>
              <a:off x="3686075" y="2968378"/>
              <a:ext cx="2356494" cy="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5190A4A-19E9-B370-2BB6-208B7033C005}"/>
                </a:ext>
              </a:extLst>
            </p:cNvPr>
            <p:cNvCxnSpPr>
              <a:cxnSpLocks/>
            </p:cNvCxnSpPr>
            <p:nvPr/>
          </p:nvCxnSpPr>
          <p:spPr bwMode="gray">
            <a:xfrm>
              <a:off x="4295722" y="2776888"/>
              <a:ext cx="0" cy="76761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23F893E7-7393-2C24-5FC3-BC572A6583FD}"/>
                </a:ext>
              </a:extLst>
            </p:cNvPr>
            <p:cNvGrpSpPr/>
            <p:nvPr/>
          </p:nvGrpSpPr>
          <p:grpSpPr>
            <a:xfrm>
              <a:off x="4442203" y="2960436"/>
              <a:ext cx="239566" cy="829843"/>
              <a:chOff x="4364299" y="2960436"/>
              <a:chExt cx="239566" cy="829843"/>
            </a:xfrm>
          </p:grpSpPr>
          <p:sp>
            <p:nvSpPr>
              <p:cNvPr id="76" name="Rectangle 618">
                <a:extLst>
                  <a:ext uri="{FF2B5EF4-FFF2-40B4-BE49-F238E27FC236}">
                    <a16:creationId xmlns:a16="http://schemas.microsoft.com/office/drawing/2014/main" id="{E7E8B63B-EF4C-D0AD-2674-E83B39D6CB4F}"/>
                  </a:ext>
                </a:extLst>
              </p:cNvPr>
              <p:cNvSpPr>
                <a:spLocks noChangeArrowheads="1"/>
              </p:cNvSpPr>
              <p:nvPr/>
            </p:nvSpPr>
            <p:spPr bwMode="auto">
              <a:xfrm>
                <a:off x="4364299"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77" name="Straight Connector 76">
                <a:extLst>
                  <a:ext uri="{FF2B5EF4-FFF2-40B4-BE49-F238E27FC236}">
                    <a16:creationId xmlns:a16="http://schemas.microsoft.com/office/drawing/2014/main" id="{378759DD-95EF-928C-6D79-B52D09A888D8}"/>
                  </a:ext>
                </a:extLst>
              </p:cNvPr>
              <p:cNvCxnSpPr>
                <a:cxnSpLocks/>
              </p:cNvCxnSpPr>
              <p:nvPr/>
            </p:nvCxnSpPr>
            <p:spPr bwMode="gray">
              <a:xfrm>
                <a:off x="4484082"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13" name="Straight Connector 12">
              <a:extLst>
                <a:ext uri="{FF2B5EF4-FFF2-40B4-BE49-F238E27FC236}">
                  <a16:creationId xmlns:a16="http://schemas.microsoft.com/office/drawing/2014/main" id="{FCBAD710-9D0A-BC88-CB67-0FE35EB9E1C4}"/>
                </a:ext>
              </a:extLst>
            </p:cNvPr>
            <p:cNvCxnSpPr>
              <a:cxnSpLocks/>
            </p:cNvCxnSpPr>
            <p:nvPr/>
          </p:nvCxnSpPr>
          <p:spPr bwMode="gray">
            <a:xfrm>
              <a:off x="4067310" y="2777196"/>
              <a:ext cx="4559239" cy="0"/>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1" name="Group 70">
              <a:extLst>
                <a:ext uri="{FF2B5EF4-FFF2-40B4-BE49-F238E27FC236}">
                  <a16:creationId xmlns:a16="http://schemas.microsoft.com/office/drawing/2014/main" id="{ECAE8932-0C60-B9B8-751A-DAF605DAA54E}"/>
                </a:ext>
              </a:extLst>
            </p:cNvPr>
            <p:cNvGrpSpPr/>
            <p:nvPr/>
          </p:nvGrpSpPr>
          <p:grpSpPr>
            <a:xfrm>
              <a:off x="4726408" y="2960436"/>
              <a:ext cx="239566" cy="829843"/>
              <a:chOff x="4364299" y="2960436"/>
              <a:chExt cx="239566" cy="829843"/>
            </a:xfrm>
          </p:grpSpPr>
          <p:sp>
            <p:nvSpPr>
              <p:cNvPr id="72" name="Rectangle 618">
                <a:extLst>
                  <a:ext uri="{FF2B5EF4-FFF2-40B4-BE49-F238E27FC236}">
                    <a16:creationId xmlns:a16="http://schemas.microsoft.com/office/drawing/2014/main" id="{3481BCA1-62E6-0D69-822E-C9601C38A144}"/>
                  </a:ext>
                </a:extLst>
              </p:cNvPr>
              <p:cNvSpPr>
                <a:spLocks noChangeArrowheads="1"/>
              </p:cNvSpPr>
              <p:nvPr/>
            </p:nvSpPr>
            <p:spPr bwMode="auto">
              <a:xfrm>
                <a:off x="4364299"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73" name="Straight Connector 72">
                <a:extLst>
                  <a:ext uri="{FF2B5EF4-FFF2-40B4-BE49-F238E27FC236}">
                    <a16:creationId xmlns:a16="http://schemas.microsoft.com/office/drawing/2014/main" id="{B4745937-6F48-13A5-D4DB-5E85A047204A}"/>
                  </a:ext>
                </a:extLst>
              </p:cNvPr>
              <p:cNvCxnSpPr>
                <a:cxnSpLocks/>
              </p:cNvCxnSpPr>
              <p:nvPr/>
            </p:nvCxnSpPr>
            <p:spPr bwMode="gray">
              <a:xfrm>
                <a:off x="4484082"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79" name="Straight Connector 78">
              <a:extLst>
                <a:ext uri="{FF2B5EF4-FFF2-40B4-BE49-F238E27FC236}">
                  <a16:creationId xmlns:a16="http://schemas.microsoft.com/office/drawing/2014/main" id="{1F1B45BF-8135-97E6-E0F7-21295CB89339}"/>
                </a:ext>
              </a:extLst>
            </p:cNvPr>
            <p:cNvCxnSpPr>
              <a:cxnSpLocks/>
            </p:cNvCxnSpPr>
            <p:nvPr/>
          </p:nvCxnSpPr>
          <p:spPr bwMode="gray">
            <a:xfrm>
              <a:off x="5317583" y="2776888"/>
              <a:ext cx="0" cy="767615"/>
            </a:xfrm>
            <a:prstGeom prst="line">
              <a:avLst/>
            </a:prstGeom>
            <a:ln w="25400">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9BADA9BB-5F01-D5B2-DB70-4AE736F48598}"/>
                </a:ext>
              </a:extLst>
            </p:cNvPr>
            <p:cNvGrpSpPr/>
            <p:nvPr/>
          </p:nvGrpSpPr>
          <p:grpSpPr>
            <a:xfrm>
              <a:off x="5464064" y="2960436"/>
              <a:ext cx="239566" cy="829843"/>
              <a:chOff x="4364299" y="2960436"/>
              <a:chExt cx="239566" cy="829843"/>
            </a:xfrm>
          </p:grpSpPr>
          <p:sp>
            <p:nvSpPr>
              <p:cNvPr id="84" name="Rectangle 618">
                <a:extLst>
                  <a:ext uri="{FF2B5EF4-FFF2-40B4-BE49-F238E27FC236}">
                    <a16:creationId xmlns:a16="http://schemas.microsoft.com/office/drawing/2014/main" id="{A3EE60F1-C692-0ACE-D7E1-D796947D5F63}"/>
                  </a:ext>
                </a:extLst>
              </p:cNvPr>
              <p:cNvSpPr>
                <a:spLocks noChangeArrowheads="1"/>
              </p:cNvSpPr>
              <p:nvPr/>
            </p:nvSpPr>
            <p:spPr bwMode="auto">
              <a:xfrm>
                <a:off x="4364299"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85" name="Straight Connector 84">
                <a:extLst>
                  <a:ext uri="{FF2B5EF4-FFF2-40B4-BE49-F238E27FC236}">
                    <a16:creationId xmlns:a16="http://schemas.microsoft.com/office/drawing/2014/main" id="{5FF42857-BFB9-F282-762C-330B8B01C20E}"/>
                  </a:ext>
                </a:extLst>
              </p:cNvPr>
              <p:cNvCxnSpPr>
                <a:cxnSpLocks/>
              </p:cNvCxnSpPr>
              <p:nvPr/>
            </p:nvCxnSpPr>
            <p:spPr bwMode="gray">
              <a:xfrm>
                <a:off x="4484082"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18C33551-8AC4-841B-E92F-F1DCD858DB6F}"/>
                </a:ext>
              </a:extLst>
            </p:cNvPr>
            <p:cNvGrpSpPr/>
            <p:nvPr/>
          </p:nvGrpSpPr>
          <p:grpSpPr>
            <a:xfrm>
              <a:off x="5748269" y="2960436"/>
              <a:ext cx="239566" cy="829843"/>
              <a:chOff x="4364299" y="2960436"/>
              <a:chExt cx="239566" cy="829843"/>
            </a:xfrm>
          </p:grpSpPr>
          <p:sp>
            <p:nvSpPr>
              <p:cNvPr id="87" name="Rectangle 618">
                <a:extLst>
                  <a:ext uri="{FF2B5EF4-FFF2-40B4-BE49-F238E27FC236}">
                    <a16:creationId xmlns:a16="http://schemas.microsoft.com/office/drawing/2014/main" id="{4211EFBE-25A2-E0AA-62BC-C37421BD2FDD}"/>
                  </a:ext>
                </a:extLst>
              </p:cNvPr>
              <p:cNvSpPr>
                <a:spLocks noChangeArrowheads="1"/>
              </p:cNvSpPr>
              <p:nvPr/>
            </p:nvSpPr>
            <p:spPr bwMode="auto">
              <a:xfrm>
                <a:off x="4364299" y="3596560"/>
                <a:ext cx="239566" cy="19371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IN" sz="900" b="0" i="0" u="none" strike="noStrike" kern="1200" cap="none" spc="0" normalizeH="0" baseline="0" noProof="0" dirty="0">
                    <a:ln>
                      <a:noFill/>
                    </a:ln>
                    <a:solidFill>
                      <a:prstClr val="white"/>
                    </a:solidFill>
                    <a:effectLst/>
                    <a:uLnTx/>
                    <a:uFillTx/>
                    <a:latin typeface="Arial" panose="020B0604020202020204"/>
                    <a:ea typeface="+mn-ea"/>
                    <a:cs typeface="+mn-cs"/>
                  </a:rPr>
                  <a:t>TEP</a:t>
                </a:r>
              </a:p>
            </p:txBody>
          </p:sp>
          <p:cxnSp>
            <p:nvCxnSpPr>
              <p:cNvPr id="88" name="Straight Connector 87">
                <a:extLst>
                  <a:ext uri="{FF2B5EF4-FFF2-40B4-BE49-F238E27FC236}">
                    <a16:creationId xmlns:a16="http://schemas.microsoft.com/office/drawing/2014/main" id="{304A2BD5-383F-53AD-8F91-E29E62D279F7}"/>
                  </a:ext>
                </a:extLst>
              </p:cNvPr>
              <p:cNvCxnSpPr>
                <a:cxnSpLocks/>
              </p:cNvCxnSpPr>
              <p:nvPr/>
            </p:nvCxnSpPr>
            <p:spPr bwMode="gray">
              <a:xfrm>
                <a:off x="4484082" y="2960436"/>
                <a:ext cx="0" cy="648000"/>
              </a:xfrm>
              <a:prstGeom prst="line">
                <a:avLst/>
              </a:prstGeom>
              <a:ln w="25400">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9271015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4"/>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122" grpId="0" animBg="1"/>
      <p:bldP spid="2" grpId="0" animBg="1"/>
      <p:bldP spid="6" grpId="0" animBg="1"/>
      <p:bldP spid="17" grpId="0" animBg="1"/>
      <p:bldP spid="74"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edgecluster">
            <a:extLst>
              <a:ext uri="{FF2B5EF4-FFF2-40B4-BE49-F238E27FC236}">
                <a16:creationId xmlns:a16="http://schemas.microsoft.com/office/drawing/2014/main" id="{FDC44BD8-B6D8-E853-4CEB-32910A8AC4CE}"/>
              </a:ext>
            </a:extLst>
          </p:cNvPr>
          <p:cNvGrpSpPr/>
          <p:nvPr/>
        </p:nvGrpSpPr>
        <p:grpSpPr>
          <a:xfrm>
            <a:off x="6551613" y="1802759"/>
            <a:ext cx="2194560" cy="1238653"/>
            <a:chOff x="5014760" y="3474718"/>
            <a:chExt cx="2194560" cy="1238653"/>
          </a:xfrm>
        </p:grpSpPr>
        <p:sp>
          <p:nvSpPr>
            <p:cNvPr id="4" name="Rounded Rectangle 3">
              <a:extLst>
                <a:ext uri="{FF2B5EF4-FFF2-40B4-BE49-F238E27FC236}">
                  <a16:creationId xmlns:a16="http://schemas.microsoft.com/office/drawing/2014/main" id="{C037980F-C31D-E79D-0EF6-10868EF4828C}"/>
                </a:ext>
              </a:extLst>
            </p:cNvPr>
            <p:cNvSpPr/>
            <p:nvPr/>
          </p:nvSpPr>
          <p:spPr bwMode="gray">
            <a:xfrm>
              <a:off x="5014760" y="3474718"/>
              <a:ext cx="2194560" cy="1152000"/>
            </a:xfrm>
            <a:prstGeom prst="roundRect">
              <a:avLst>
                <a:gd name="adj" fmla="val 6757"/>
              </a:avLst>
            </a:prstGeom>
            <a:noFill/>
            <a:ln w="12700">
              <a:solidFill>
                <a:schemeClr val="accent3"/>
              </a:solidFill>
              <a:prstDash val="sysDash"/>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5" name="TextBox 4">
              <a:extLst>
                <a:ext uri="{FF2B5EF4-FFF2-40B4-BE49-F238E27FC236}">
                  <a16:creationId xmlns:a16="http://schemas.microsoft.com/office/drawing/2014/main" id="{AFFF194C-7760-B4EA-DC85-AC744E0FFB80}"/>
                </a:ext>
              </a:extLst>
            </p:cNvPr>
            <p:cNvSpPr txBox="1"/>
            <p:nvPr/>
          </p:nvSpPr>
          <p:spPr>
            <a:xfrm>
              <a:off x="5727058" y="4544094"/>
              <a:ext cx="829368" cy="169277"/>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5C8A"/>
                  </a:solidFill>
                  <a:effectLst/>
                  <a:uLnTx/>
                  <a:uFillTx/>
                  <a:latin typeface="Arial" panose="020B0604020202020204"/>
                  <a:ea typeface="+mn-ea"/>
                  <a:cs typeface="+mn-cs"/>
                </a:rPr>
                <a:t>Edge Cluster</a:t>
              </a:r>
            </a:p>
          </p:txBody>
        </p:sp>
      </p:grpSp>
      <p:grpSp>
        <p:nvGrpSpPr>
          <p:cNvPr id="11" name="!!vnacluster">
            <a:extLst>
              <a:ext uri="{FF2B5EF4-FFF2-40B4-BE49-F238E27FC236}">
                <a16:creationId xmlns:a16="http://schemas.microsoft.com/office/drawing/2014/main" id="{49346FD4-AF6F-EB6D-4F61-FC0CCBA086D5}"/>
              </a:ext>
            </a:extLst>
          </p:cNvPr>
          <p:cNvGrpSpPr/>
          <p:nvPr/>
        </p:nvGrpSpPr>
        <p:grpSpPr>
          <a:xfrm>
            <a:off x="8887229" y="1801864"/>
            <a:ext cx="2054429" cy="1234816"/>
            <a:chOff x="5020938" y="3474720"/>
            <a:chExt cx="2054429" cy="1234816"/>
          </a:xfrm>
        </p:grpSpPr>
        <p:sp>
          <p:nvSpPr>
            <p:cNvPr id="12" name="Rounded Rectangle 11">
              <a:extLst>
                <a:ext uri="{FF2B5EF4-FFF2-40B4-BE49-F238E27FC236}">
                  <a16:creationId xmlns:a16="http://schemas.microsoft.com/office/drawing/2014/main" id="{FFCCA6C3-1840-567E-9644-AC22235ECCCA}"/>
                </a:ext>
              </a:extLst>
            </p:cNvPr>
            <p:cNvSpPr/>
            <p:nvPr/>
          </p:nvSpPr>
          <p:spPr bwMode="gray">
            <a:xfrm>
              <a:off x="5020938" y="3474720"/>
              <a:ext cx="2054429" cy="1152000"/>
            </a:xfrm>
            <a:prstGeom prst="roundRect">
              <a:avLst>
                <a:gd name="adj" fmla="val 6757"/>
              </a:avLst>
            </a:prstGeom>
            <a:noFill/>
            <a:ln w="12700">
              <a:solidFill>
                <a:schemeClr val="accent3"/>
              </a:solidFill>
              <a:prstDash val="sysDash"/>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3" name="TextBox 12">
              <a:extLst>
                <a:ext uri="{FF2B5EF4-FFF2-40B4-BE49-F238E27FC236}">
                  <a16:creationId xmlns:a16="http://schemas.microsoft.com/office/drawing/2014/main" id="{3A78979E-7AC5-43E5-5C46-C29A24606939}"/>
                </a:ext>
              </a:extLst>
            </p:cNvPr>
            <p:cNvSpPr txBox="1"/>
            <p:nvPr/>
          </p:nvSpPr>
          <p:spPr>
            <a:xfrm>
              <a:off x="5646092" y="4540259"/>
              <a:ext cx="829368" cy="169277"/>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5C8A"/>
                  </a:solidFill>
                  <a:effectLst/>
                  <a:uLnTx/>
                  <a:uFillTx/>
                  <a:latin typeface="Arial" panose="020B0604020202020204"/>
                  <a:ea typeface="+mn-ea"/>
                  <a:cs typeface="+mn-cs"/>
                </a:rPr>
                <a:t>VNA Cluster</a:t>
              </a:r>
            </a:p>
          </p:txBody>
        </p:sp>
      </p:grpSp>
      <p:sp>
        <p:nvSpPr>
          <p:cNvPr id="6" name="!!TOP">
            <a:extLst>
              <a:ext uri="{FF2B5EF4-FFF2-40B4-BE49-F238E27FC236}">
                <a16:creationId xmlns:a16="http://schemas.microsoft.com/office/drawing/2014/main" id="{58CB1D81-CE1B-F335-CE68-96DD02F16E25}"/>
              </a:ext>
            </a:extLst>
          </p:cNvPr>
          <p:cNvSpPr/>
          <p:nvPr/>
        </p:nvSpPr>
        <p:spPr>
          <a:xfrm flipV="1">
            <a:off x="627406" y="1600200"/>
            <a:ext cx="10953407" cy="1573099"/>
          </a:xfrm>
          <a:prstGeom prst="round2SameRect">
            <a:avLst>
              <a:gd name="adj1" fmla="val 72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2" name="Title 1">
            <a:extLst>
              <a:ext uri="{FF2B5EF4-FFF2-40B4-BE49-F238E27FC236}">
                <a16:creationId xmlns:a16="http://schemas.microsoft.com/office/drawing/2014/main" id="{11B190E4-5A49-6852-6470-E3B0FFFB0A99}"/>
              </a:ext>
            </a:extLst>
          </p:cNvPr>
          <p:cNvSpPr>
            <a:spLocks noGrp="1"/>
          </p:cNvSpPr>
          <p:nvPr>
            <p:ph type="title"/>
          </p:nvPr>
        </p:nvSpPr>
        <p:spPr/>
        <p:txBody>
          <a:bodyPr/>
          <a:lstStyle/>
          <a:p>
            <a:r>
              <a:rPr lang="en-US" dirty="0"/>
              <a:t>Major NSX features</a:t>
            </a:r>
          </a:p>
        </p:txBody>
      </p:sp>
      <p:sp>
        <p:nvSpPr>
          <p:cNvPr id="27" name="Subtitle 26">
            <a:extLst>
              <a:ext uri="{FF2B5EF4-FFF2-40B4-BE49-F238E27FC236}">
                <a16:creationId xmlns:a16="http://schemas.microsoft.com/office/drawing/2014/main" id="{EB522AA7-A768-E7CA-8114-7A8E635A2019}"/>
              </a:ext>
            </a:extLst>
          </p:cNvPr>
          <p:cNvSpPr>
            <a:spLocks noGrp="1"/>
          </p:cNvSpPr>
          <p:nvPr>
            <p:ph type="subTitle" idx="10"/>
          </p:nvPr>
        </p:nvSpPr>
        <p:spPr/>
        <p:txBody>
          <a:bodyPr/>
          <a:lstStyle/>
          <a:p>
            <a:r>
              <a:rPr lang="en-US" dirty="0"/>
              <a:t>Distributed or centralized on edge nodes</a:t>
            </a:r>
          </a:p>
          <a:p>
            <a:endParaRPr lang="en-US" dirty="0"/>
          </a:p>
        </p:txBody>
      </p:sp>
      <p:sp>
        <p:nvSpPr>
          <p:cNvPr id="7" name="Rectangle: Rounded Corners 42">
            <a:extLst>
              <a:ext uri="{FF2B5EF4-FFF2-40B4-BE49-F238E27FC236}">
                <a16:creationId xmlns:a16="http://schemas.microsoft.com/office/drawing/2014/main" id="{59151469-A901-61DD-1013-C0C153047CBE}"/>
              </a:ext>
            </a:extLst>
          </p:cNvPr>
          <p:cNvSpPr/>
          <p:nvPr/>
        </p:nvSpPr>
        <p:spPr>
          <a:xfrm>
            <a:off x="1058931" y="1872544"/>
            <a:ext cx="911404" cy="915769"/>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8" name="Rectangle: Rounded Corners 42">
            <a:extLst>
              <a:ext uri="{FF2B5EF4-FFF2-40B4-BE49-F238E27FC236}">
                <a16:creationId xmlns:a16="http://schemas.microsoft.com/office/drawing/2014/main" id="{205C9B5F-E14E-D032-C04F-98A24F8B1CF7}"/>
              </a:ext>
            </a:extLst>
          </p:cNvPr>
          <p:cNvSpPr/>
          <p:nvPr/>
        </p:nvSpPr>
        <p:spPr>
          <a:xfrm>
            <a:off x="2201683" y="1895923"/>
            <a:ext cx="923679" cy="90649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9" name="Rectangle: Rounded Corners 42">
            <a:extLst>
              <a:ext uri="{FF2B5EF4-FFF2-40B4-BE49-F238E27FC236}">
                <a16:creationId xmlns:a16="http://schemas.microsoft.com/office/drawing/2014/main" id="{4987DE31-EEF7-2070-422C-BB2B0CBF30C3}"/>
              </a:ext>
            </a:extLst>
          </p:cNvPr>
          <p:cNvSpPr/>
          <p:nvPr/>
        </p:nvSpPr>
        <p:spPr>
          <a:xfrm>
            <a:off x="3346739" y="1882173"/>
            <a:ext cx="923679" cy="904771"/>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5" name="!!edge2">
            <a:extLst>
              <a:ext uri="{FF2B5EF4-FFF2-40B4-BE49-F238E27FC236}">
                <a16:creationId xmlns:a16="http://schemas.microsoft.com/office/drawing/2014/main" id="{92C05E10-1C80-CC0C-DE0C-835D2FCA9CC3}"/>
              </a:ext>
            </a:extLst>
          </p:cNvPr>
          <p:cNvSpPr/>
          <p:nvPr/>
        </p:nvSpPr>
        <p:spPr>
          <a:xfrm>
            <a:off x="7752543" y="1880139"/>
            <a:ext cx="923679" cy="904771"/>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Edge node VM2</a:t>
            </a:r>
          </a:p>
        </p:txBody>
      </p:sp>
      <p:sp>
        <p:nvSpPr>
          <p:cNvPr id="17" name="TextBox 16">
            <a:extLst>
              <a:ext uri="{FF2B5EF4-FFF2-40B4-BE49-F238E27FC236}">
                <a16:creationId xmlns:a16="http://schemas.microsoft.com/office/drawing/2014/main" id="{3C6F58D5-BC16-5A6B-6491-42C4E7391C91}"/>
              </a:ext>
            </a:extLst>
          </p:cNvPr>
          <p:cNvSpPr txBox="1"/>
          <p:nvPr/>
        </p:nvSpPr>
        <p:spPr>
          <a:xfrm>
            <a:off x="1065213" y="3436375"/>
            <a:ext cx="4572000"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rPr>
              <a:t>Features distributed across ESX hosts</a:t>
            </a:r>
          </a:p>
        </p:txBody>
      </p:sp>
      <p:sp>
        <p:nvSpPr>
          <p:cNvPr id="18" name="TextBox 17">
            <a:extLst>
              <a:ext uri="{FF2B5EF4-FFF2-40B4-BE49-F238E27FC236}">
                <a16:creationId xmlns:a16="http://schemas.microsoft.com/office/drawing/2014/main" id="{9F48B41E-9BAA-7ED9-F546-4DA58C304597}"/>
              </a:ext>
            </a:extLst>
          </p:cNvPr>
          <p:cNvSpPr txBox="1"/>
          <p:nvPr/>
        </p:nvSpPr>
        <p:spPr>
          <a:xfrm>
            <a:off x="6551613" y="3436375"/>
            <a:ext cx="4572000"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rPr>
              <a:t>Features requiring edge nodes or VNAs</a:t>
            </a:r>
          </a:p>
        </p:txBody>
      </p:sp>
      <p:sp>
        <p:nvSpPr>
          <p:cNvPr id="19" name="TextBox 18">
            <a:extLst>
              <a:ext uri="{FF2B5EF4-FFF2-40B4-BE49-F238E27FC236}">
                <a16:creationId xmlns:a16="http://schemas.microsoft.com/office/drawing/2014/main" id="{0E6CAE90-3B8B-082B-A018-9172E3090480}"/>
              </a:ext>
            </a:extLst>
          </p:cNvPr>
          <p:cNvSpPr txBox="1"/>
          <p:nvPr/>
        </p:nvSpPr>
        <p:spPr>
          <a:xfrm>
            <a:off x="1065213" y="3872242"/>
            <a:ext cx="4760821" cy="166199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Distributed routing and switching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Distributed routing to physical infrastructure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1:1 NAT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Distributed DHCP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QoS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	</a:t>
            </a:r>
          </a:p>
        </p:txBody>
      </p:sp>
      <p:sp>
        <p:nvSpPr>
          <p:cNvPr id="20" name="TextBox 19">
            <a:extLst>
              <a:ext uri="{FF2B5EF4-FFF2-40B4-BE49-F238E27FC236}">
                <a16:creationId xmlns:a16="http://schemas.microsoft.com/office/drawing/2014/main" id="{79FD8B44-77A6-280F-B468-0598EDEBBED9}"/>
              </a:ext>
            </a:extLst>
          </p:cNvPr>
          <p:cNvSpPr txBox="1"/>
          <p:nvPr/>
        </p:nvSpPr>
        <p:spPr>
          <a:xfrm>
            <a:off x="6551613" y="3872242"/>
            <a:ext cx="5029200" cy="166199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BGP, EVPN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NAT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DHCP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Load balancing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Edge only: Gateway QoS, VPN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endParaRPr>
          </a:p>
        </p:txBody>
      </p:sp>
      <p:grpSp>
        <p:nvGrpSpPr>
          <p:cNvPr id="26" name="Group 25">
            <a:extLst>
              <a:ext uri="{FF2B5EF4-FFF2-40B4-BE49-F238E27FC236}">
                <a16:creationId xmlns:a16="http://schemas.microsoft.com/office/drawing/2014/main" id="{1AE8A81F-C0CE-1A9D-8CF8-F9B6B80A2F7E}"/>
              </a:ext>
            </a:extLst>
          </p:cNvPr>
          <p:cNvGrpSpPr/>
          <p:nvPr/>
        </p:nvGrpSpPr>
        <p:grpSpPr>
          <a:xfrm>
            <a:off x="608014" y="5750434"/>
            <a:ext cx="10972800" cy="277891"/>
            <a:chOff x="608014" y="5409233"/>
            <a:chExt cx="10972800" cy="277891"/>
          </a:xfrm>
        </p:grpSpPr>
        <p:sp>
          <p:nvSpPr>
            <p:cNvPr id="24" name="Rectangle 23">
              <a:extLst>
                <a:ext uri="{FF2B5EF4-FFF2-40B4-BE49-F238E27FC236}">
                  <a16:creationId xmlns:a16="http://schemas.microsoft.com/office/drawing/2014/main" id="{1AC57DDD-2829-FA23-B3A6-30054A85AAD5}"/>
                </a:ext>
              </a:extLst>
            </p:cNvPr>
            <p:cNvSpPr/>
            <p:nvPr/>
          </p:nvSpPr>
          <p:spPr bwMode="gray">
            <a:xfrm>
              <a:off x="608014" y="5425070"/>
              <a:ext cx="10972800" cy="262054"/>
            </a:xfrm>
            <a:prstGeom prst="rect">
              <a:avLst/>
            </a:prstGeom>
            <a:solidFill>
              <a:schemeClr val="bg1">
                <a:lumMod val="95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1" name="TextBox 20">
              <a:extLst>
                <a:ext uri="{FF2B5EF4-FFF2-40B4-BE49-F238E27FC236}">
                  <a16:creationId xmlns:a16="http://schemas.microsoft.com/office/drawing/2014/main" id="{CE68D843-0EB2-0567-37B2-0C4527717152}"/>
                </a:ext>
              </a:extLst>
            </p:cNvPr>
            <p:cNvSpPr txBox="1"/>
            <p:nvPr/>
          </p:nvSpPr>
          <p:spPr>
            <a:xfrm>
              <a:off x="8903643" y="5440010"/>
              <a:ext cx="2219970"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*requires vDefend add-on</a:t>
              </a:r>
            </a:p>
          </p:txBody>
        </p:sp>
        <p:sp>
          <p:nvSpPr>
            <p:cNvPr id="22" name="TextBox 21">
              <a:extLst>
                <a:ext uri="{FF2B5EF4-FFF2-40B4-BE49-F238E27FC236}">
                  <a16:creationId xmlns:a16="http://schemas.microsoft.com/office/drawing/2014/main" id="{BCF753A7-A021-C6A5-1CF9-CA3662EE15B0}"/>
                </a:ext>
              </a:extLst>
            </p:cNvPr>
            <p:cNvSpPr txBox="1"/>
            <p:nvPr/>
          </p:nvSpPr>
          <p:spPr>
            <a:xfrm>
              <a:off x="6551613" y="5409233"/>
              <a:ext cx="2241124"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Gateway firewall*</a:t>
              </a:r>
            </a:p>
          </p:txBody>
        </p:sp>
        <p:sp>
          <p:nvSpPr>
            <p:cNvPr id="23" name="TextBox 22">
              <a:extLst>
                <a:ext uri="{FF2B5EF4-FFF2-40B4-BE49-F238E27FC236}">
                  <a16:creationId xmlns:a16="http://schemas.microsoft.com/office/drawing/2014/main" id="{C2E64C5A-4305-8C74-6091-0BA67C78085F}"/>
                </a:ext>
              </a:extLst>
            </p:cNvPr>
            <p:cNvSpPr txBox="1"/>
            <p:nvPr/>
          </p:nvSpPr>
          <p:spPr>
            <a:xfrm>
              <a:off x="1065213" y="5409233"/>
              <a:ext cx="4572000"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Distributed firewall, IDS/IPS, ATP*</a:t>
              </a:r>
            </a:p>
          </p:txBody>
        </p:sp>
      </p:grpSp>
      <p:sp>
        <p:nvSpPr>
          <p:cNvPr id="16" name="!!edge1">
            <a:extLst>
              <a:ext uri="{FF2B5EF4-FFF2-40B4-BE49-F238E27FC236}">
                <a16:creationId xmlns:a16="http://schemas.microsoft.com/office/drawing/2014/main" id="{A20AB8CD-4EF6-255A-A588-7FEA25B6F648}"/>
              </a:ext>
            </a:extLst>
          </p:cNvPr>
          <p:cNvSpPr/>
          <p:nvPr/>
        </p:nvSpPr>
        <p:spPr>
          <a:xfrm>
            <a:off x="6625418" y="1880139"/>
            <a:ext cx="923679" cy="904771"/>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Edge node VM1</a:t>
            </a:r>
          </a:p>
        </p:txBody>
      </p:sp>
      <p:sp>
        <p:nvSpPr>
          <p:cNvPr id="14" name="!!VNA1">
            <a:extLst>
              <a:ext uri="{FF2B5EF4-FFF2-40B4-BE49-F238E27FC236}">
                <a16:creationId xmlns:a16="http://schemas.microsoft.com/office/drawing/2014/main" id="{65A2185F-468A-8EF5-3A9F-8B39709C8D3B}"/>
              </a:ext>
            </a:extLst>
          </p:cNvPr>
          <p:cNvSpPr>
            <a:spLocks/>
          </p:cNvSpPr>
          <p:nvPr/>
        </p:nvSpPr>
        <p:spPr>
          <a:xfrm>
            <a:off x="8954856" y="1881276"/>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Virtual Network Appliance (VNA)</a:t>
            </a:r>
          </a:p>
        </p:txBody>
      </p:sp>
      <p:sp>
        <p:nvSpPr>
          <p:cNvPr id="25" name="!!VNA2">
            <a:extLst>
              <a:ext uri="{FF2B5EF4-FFF2-40B4-BE49-F238E27FC236}">
                <a16:creationId xmlns:a16="http://schemas.microsoft.com/office/drawing/2014/main" id="{FA86FAD0-908C-AEC1-40CE-633B5CEA15CC}"/>
              </a:ext>
            </a:extLst>
          </p:cNvPr>
          <p:cNvSpPr>
            <a:spLocks/>
          </p:cNvSpPr>
          <p:nvPr/>
        </p:nvSpPr>
        <p:spPr>
          <a:xfrm>
            <a:off x="9976717" y="1881276"/>
            <a:ext cx="900000" cy="900000"/>
          </a:xfrm>
          <a:prstGeom prst="roundRect">
            <a:avLst>
              <a:gd name="adj" fmla="val 5914"/>
            </a:avLst>
          </a:prstGeom>
          <a:solidFill>
            <a:schemeClr val="bg1"/>
          </a:solidFill>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005C8A"/>
                </a:solidFill>
                <a:effectLst/>
                <a:uLnTx/>
                <a:uFillTx/>
                <a:latin typeface="Arial" panose="020B0604020202020204"/>
                <a:ea typeface="+mn-ea"/>
                <a:cs typeface="+mn-cs"/>
              </a:rPr>
              <a:t>Virtual Network Appliance (VNA)</a:t>
            </a:r>
          </a:p>
        </p:txBody>
      </p:sp>
    </p:spTree>
    <p:extLst>
      <p:ext uri="{BB962C8B-B14F-4D97-AF65-F5344CB8AC3E}">
        <p14:creationId xmlns:p14="http://schemas.microsoft.com/office/powerpoint/2010/main" val="1515852630"/>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3D745A-02FC-C086-2A9F-0E0F203261A3}"/>
            </a:ext>
          </a:extLst>
        </p:cNvPr>
        <p:cNvGrpSpPr/>
        <p:nvPr/>
      </p:nvGrpSpPr>
      <p:grpSpPr>
        <a:xfrm>
          <a:off x="0" y="0"/>
          <a:ext cx="0" cy="0"/>
          <a:chOff x="0" y="0"/>
          <a:chExt cx="0" cy="0"/>
        </a:xfrm>
      </p:grpSpPr>
      <p:grpSp>
        <p:nvGrpSpPr>
          <p:cNvPr id="33" name="Group 32">
            <a:extLst>
              <a:ext uri="{FF2B5EF4-FFF2-40B4-BE49-F238E27FC236}">
                <a16:creationId xmlns:a16="http://schemas.microsoft.com/office/drawing/2014/main" id="{7B47594F-A4DA-F8E9-E54B-112138134BC6}"/>
              </a:ext>
            </a:extLst>
          </p:cNvPr>
          <p:cNvGrpSpPr/>
          <p:nvPr/>
        </p:nvGrpSpPr>
        <p:grpSpPr>
          <a:xfrm>
            <a:off x="615821" y="1801344"/>
            <a:ext cx="7311557" cy="4415468"/>
            <a:chOff x="615821" y="1807607"/>
            <a:chExt cx="7311557" cy="4415468"/>
          </a:xfrm>
        </p:grpSpPr>
        <p:grpSp>
          <p:nvGrpSpPr>
            <p:cNvPr id="8" name="Group 7">
              <a:extLst>
                <a:ext uri="{FF2B5EF4-FFF2-40B4-BE49-F238E27FC236}">
                  <a16:creationId xmlns:a16="http://schemas.microsoft.com/office/drawing/2014/main" id="{AA4157A4-350B-317F-9036-A0CE7C05F9D2}"/>
                </a:ext>
              </a:extLst>
            </p:cNvPr>
            <p:cNvGrpSpPr/>
            <p:nvPr/>
          </p:nvGrpSpPr>
          <p:grpSpPr>
            <a:xfrm>
              <a:off x="6621092" y="2046514"/>
              <a:ext cx="1306286" cy="3937519"/>
              <a:chOff x="6948194" y="2046514"/>
              <a:chExt cx="1306286" cy="3937519"/>
            </a:xfrm>
          </p:grpSpPr>
          <p:sp>
            <p:nvSpPr>
              <p:cNvPr id="2" name="Rectangle 1">
                <a:extLst>
                  <a:ext uri="{FF2B5EF4-FFF2-40B4-BE49-F238E27FC236}">
                    <a16:creationId xmlns:a16="http://schemas.microsoft.com/office/drawing/2014/main" id="{974B92D9-5A8D-7AE4-1E65-16ED6D17666F}"/>
                  </a:ext>
                </a:extLst>
              </p:cNvPr>
              <p:cNvSpPr/>
              <p:nvPr/>
            </p:nvSpPr>
            <p:spPr bwMode="gray">
              <a:xfrm>
                <a:off x="6948194" y="2046514"/>
                <a:ext cx="1306286" cy="2096278"/>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3" name="Rectangle 2">
                <a:extLst>
                  <a:ext uri="{FF2B5EF4-FFF2-40B4-BE49-F238E27FC236}">
                    <a16:creationId xmlns:a16="http://schemas.microsoft.com/office/drawing/2014/main" id="{74242E25-F297-0CB9-8EE3-FEDF08276543}"/>
                  </a:ext>
                </a:extLst>
              </p:cNvPr>
              <p:cNvSpPr/>
              <p:nvPr/>
            </p:nvSpPr>
            <p:spPr bwMode="gray">
              <a:xfrm>
                <a:off x="6948194" y="4217436"/>
                <a:ext cx="1306286" cy="1766597"/>
              </a:xfrm>
              <a:prstGeom prst="rect">
                <a:avLst/>
              </a:prstGeom>
              <a:solidFill>
                <a:schemeClr val="accent5"/>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sp>
          <p:nvSpPr>
            <p:cNvPr id="131" name="Freeform 130">
              <a:extLst>
                <a:ext uri="{FF2B5EF4-FFF2-40B4-BE49-F238E27FC236}">
                  <a16:creationId xmlns:a16="http://schemas.microsoft.com/office/drawing/2014/main" id="{D3DB9099-D79D-85E5-444D-A2D8B9041833}"/>
                </a:ext>
              </a:extLst>
            </p:cNvPr>
            <p:cNvSpPr/>
            <p:nvPr/>
          </p:nvSpPr>
          <p:spPr bwMode="gray">
            <a:xfrm>
              <a:off x="615821" y="2058955"/>
              <a:ext cx="7307392" cy="2090057"/>
            </a:xfrm>
            <a:custGeom>
              <a:avLst/>
              <a:gdLst>
                <a:gd name="connsiteX0" fmla="*/ 0 w 7632441"/>
                <a:gd name="connsiteY0" fmla="*/ 0 h 2096277"/>
                <a:gd name="connsiteX1" fmla="*/ 5101569 w 7632441"/>
                <a:gd name="connsiteY1" fmla="*/ 0 h 2096277"/>
                <a:gd name="connsiteX2" fmla="*/ 5101569 w 7632441"/>
                <a:gd name="connsiteY2" fmla="*/ 124802 h 2096277"/>
                <a:gd name="connsiteX3" fmla="*/ 4971471 w 7632441"/>
                <a:gd name="connsiteY3" fmla="*/ 124802 h 2096277"/>
                <a:gd name="connsiteX4" fmla="*/ 5231667 w 7632441"/>
                <a:gd name="connsiteY4" fmla="*/ 258616 h 2096277"/>
                <a:gd name="connsiteX5" fmla="*/ 5491862 w 7632441"/>
                <a:gd name="connsiteY5" fmla="*/ 124802 h 2096277"/>
                <a:gd name="connsiteX6" fmla="*/ 5361764 w 7632441"/>
                <a:gd name="connsiteY6" fmla="*/ 124802 h 2096277"/>
                <a:gd name="connsiteX7" fmla="*/ 5361764 w 7632441"/>
                <a:gd name="connsiteY7" fmla="*/ 0 h 2096277"/>
                <a:gd name="connsiteX8" fmla="*/ 7632441 w 7632441"/>
                <a:gd name="connsiteY8" fmla="*/ 0 h 2096277"/>
                <a:gd name="connsiteX9" fmla="*/ 7632441 w 7632441"/>
                <a:gd name="connsiteY9" fmla="*/ 2096277 h 2096277"/>
                <a:gd name="connsiteX10" fmla="*/ 0 w 7632441"/>
                <a:gd name="connsiteY10" fmla="*/ 2096277 h 2096277"/>
                <a:gd name="connsiteX11" fmla="*/ 0 w 7632441"/>
                <a:gd name="connsiteY11" fmla="*/ 0 h 209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2441" h="2096277">
                  <a:moveTo>
                    <a:pt x="0" y="0"/>
                  </a:moveTo>
                  <a:lnTo>
                    <a:pt x="5101569" y="0"/>
                  </a:lnTo>
                  <a:lnTo>
                    <a:pt x="5101569" y="124802"/>
                  </a:lnTo>
                  <a:lnTo>
                    <a:pt x="4971471" y="124802"/>
                  </a:lnTo>
                  <a:lnTo>
                    <a:pt x="5231667" y="258616"/>
                  </a:lnTo>
                  <a:lnTo>
                    <a:pt x="5491862" y="124802"/>
                  </a:lnTo>
                  <a:lnTo>
                    <a:pt x="5361764" y="124802"/>
                  </a:lnTo>
                  <a:lnTo>
                    <a:pt x="5361764" y="0"/>
                  </a:lnTo>
                  <a:lnTo>
                    <a:pt x="7632441" y="0"/>
                  </a:lnTo>
                  <a:lnTo>
                    <a:pt x="7632441" y="2096277"/>
                  </a:lnTo>
                  <a:lnTo>
                    <a:pt x="0" y="2096277"/>
                  </a:lnTo>
                  <a:lnTo>
                    <a:pt x="0" y="0"/>
                  </a:lnTo>
                  <a:close/>
                </a:path>
              </a:pathLst>
            </a:custGeom>
            <a:solidFill>
              <a:schemeClr val="accent2">
                <a:alpha val="10000"/>
              </a:schemeClr>
            </a:solidFill>
            <a:ln w="254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38" name="TextBox 37">
              <a:extLst>
                <a:ext uri="{FF2B5EF4-FFF2-40B4-BE49-F238E27FC236}">
                  <a16:creationId xmlns:a16="http://schemas.microsoft.com/office/drawing/2014/main" id="{782E9453-1C01-C50B-856C-DA3680EE22A3}"/>
                </a:ext>
              </a:extLst>
            </p:cNvPr>
            <p:cNvSpPr txBox="1"/>
            <p:nvPr/>
          </p:nvSpPr>
          <p:spPr>
            <a:xfrm>
              <a:off x="4722813" y="6007631"/>
              <a:ext cx="2893470"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t>Self-service resources consumption</a:t>
              </a:r>
            </a:p>
          </p:txBody>
        </p:sp>
        <p:sp>
          <p:nvSpPr>
            <p:cNvPr id="36" name="TextBox 35">
              <a:extLst>
                <a:ext uri="{FF2B5EF4-FFF2-40B4-BE49-F238E27FC236}">
                  <a16:creationId xmlns:a16="http://schemas.microsoft.com/office/drawing/2014/main" id="{0B0A8F86-31DB-6D20-75EF-A25EAB615E14}"/>
                </a:ext>
              </a:extLst>
            </p:cNvPr>
            <p:cNvSpPr txBox="1"/>
            <p:nvPr/>
          </p:nvSpPr>
          <p:spPr>
            <a:xfrm>
              <a:off x="4722813" y="1807607"/>
              <a:ext cx="27432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Resources pre-provisioning</a:t>
              </a:r>
            </a:p>
          </p:txBody>
        </p:sp>
        <p:sp>
          <p:nvSpPr>
            <p:cNvPr id="135" name="Freeform 134">
              <a:extLst>
                <a:ext uri="{FF2B5EF4-FFF2-40B4-BE49-F238E27FC236}">
                  <a16:creationId xmlns:a16="http://schemas.microsoft.com/office/drawing/2014/main" id="{24CC31DD-7185-1F12-17EF-20072E3C586E}"/>
                </a:ext>
              </a:extLst>
            </p:cNvPr>
            <p:cNvSpPr/>
            <p:nvPr/>
          </p:nvSpPr>
          <p:spPr bwMode="gray">
            <a:xfrm flipH="1" flipV="1">
              <a:off x="1726490" y="4229875"/>
              <a:ext cx="6196723" cy="1754155"/>
            </a:xfrm>
            <a:custGeom>
              <a:avLst/>
              <a:gdLst>
                <a:gd name="connsiteX0" fmla="*/ 6102220 w 6102220"/>
                <a:gd name="connsiteY0" fmla="*/ 1754155 h 1754155"/>
                <a:gd name="connsiteX1" fmla="*/ 0 w 6102220"/>
                <a:gd name="connsiteY1" fmla="*/ 1754155 h 1754155"/>
                <a:gd name="connsiteX2" fmla="*/ 0 w 6102220"/>
                <a:gd name="connsiteY2" fmla="*/ 0 h 1754155"/>
                <a:gd name="connsiteX3" fmla="*/ 2270677 w 6102220"/>
                <a:gd name="connsiteY3" fmla="*/ 0 h 1754155"/>
                <a:gd name="connsiteX4" fmla="*/ 2270677 w 6102220"/>
                <a:gd name="connsiteY4" fmla="*/ 130238 h 1754155"/>
                <a:gd name="connsiteX5" fmla="*/ 2140579 w 6102220"/>
                <a:gd name="connsiteY5" fmla="*/ 130238 h 1754155"/>
                <a:gd name="connsiteX6" fmla="*/ 2400775 w 6102220"/>
                <a:gd name="connsiteY6" fmla="*/ 264052 h 1754155"/>
                <a:gd name="connsiteX7" fmla="*/ 2660970 w 6102220"/>
                <a:gd name="connsiteY7" fmla="*/ 130238 h 1754155"/>
                <a:gd name="connsiteX8" fmla="*/ 2530872 w 6102220"/>
                <a:gd name="connsiteY8" fmla="*/ 130238 h 1754155"/>
                <a:gd name="connsiteX9" fmla="*/ 2530872 w 6102220"/>
                <a:gd name="connsiteY9" fmla="*/ 0 h 1754155"/>
                <a:gd name="connsiteX10" fmla="*/ 6102220 w 6102220"/>
                <a:gd name="connsiteY10" fmla="*/ 0 h 1754155"/>
                <a:gd name="connsiteX11" fmla="*/ 6102220 w 6102220"/>
                <a:gd name="connsiteY11" fmla="*/ 1754155 h 175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02220" h="1754155">
                  <a:moveTo>
                    <a:pt x="6102220" y="1754155"/>
                  </a:moveTo>
                  <a:lnTo>
                    <a:pt x="0" y="1754155"/>
                  </a:lnTo>
                  <a:lnTo>
                    <a:pt x="0" y="0"/>
                  </a:lnTo>
                  <a:lnTo>
                    <a:pt x="2270677" y="0"/>
                  </a:lnTo>
                  <a:lnTo>
                    <a:pt x="2270677" y="130238"/>
                  </a:lnTo>
                  <a:lnTo>
                    <a:pt x="2140579" y="130238"/>
                  </a:lnTo>
                  <a:lnTo>
                    <a:pt x="2400775" y="264052"/>
                  </a:lnTo>
                  <a:lnTo>
                    <a:pt x="2660970" y="130238"/>
                  </a:lnTo>
                  <a:lnTo>
                    <a:pt x="2530872" y="130238"/>
                  </a:lnTo>
                  <a:lnTo>
                    <a:pt x="2530872" y="0"/>
                  </a:lnTo>
                  <a:lnTo>
                    <a:pt x="6102220" y="0"/>
                  </a:lnTo>
                  <a:lnTo>
                    <a:pt x="6102220" y="1754155"/>
                  </a:lnTo>
                  <a:close/>
                </a:path>
              </a:pathLst>
            </a:custGeom>
            <a:solidFill>
              <a:schemeClr val="accent5">
                <a:alpha val="10000"/>
              </a:schemeClr>
            </a:solid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140" name="Group 139">
              <a:extLst>
                <a:ext uri="{FF2B5EF4-FFF2-40B4-BE49-F238E27FC236}">
                  <a16:creationId xmlns:a16="http://schemas.microsoft.com/office/drawing/2014/main" id="{A322F8FB-C537-50F1-D134-6439888596AC}"/>
                </a:ext>
              </a:extLst>
            </p:cNvPr>
            <p:cNvGrpSpPr/>
            <p:nvPr/>
          </p:nvGrpSpPr>
          <p:grpSpPr>
            <a:xfrm>
              <a:off x="6770687" y="4339343"/>
              <a:ext cx="972388" cy="1001142"/>
              <a:chOff x="7172130" y="4339343"/>
              <a:chExt cx="972388" cy="1001142"/>
            </a:xfrm>
          </p:grpSpPr>
          <p:grpSp>
            <p:nvGrpSpPr>
              <p:cNvPr id="30" name="Group 29">
                <a:extLst>
                  <a:ext uri="{FF2B5EF4-FFF2-40B4-BE49-F238E27FC236}">
                    <a16:creationId xmlns:a16="http://schemas.microsoft.com/office/drawing/2014/main" id="{852E13AA-B56F-E0D5-99F8-4EDED2B2724A}"/>
                  </a:ext>
                </a:extLst>
              </p:cNvPr>
              <p:cNvGrpSpPr/>
              <p:nvPr/>
            </p:nvGrpSpPr>
            <p:grpSpPr>
              <a:xfrm>
                <a:off x="7243828" y="4929221"/>
                <a:ext cx="848284" cy="252000"/>
                <a:chOff x="7313613" y="4629473"/>
                <a:chExt cx="848284" cy="252000"/>
              </a:xfrm>
            </p:grpSpPr>
            <p:sp>
              <p:nvSpPr>
                <p:cNvPr id="21" name="Rectangle 20">
                  <a:extLst>
                    <a:ext uri="{FF2B5EF4-FFF2-40B4-BE49-F238E27FC236}">
                      <a16:creationId xmlns:a16="http://schemas.microsoft.com/office/drawing/2014/main" id="{37F5936F-E374-4FD8-ECFD-1233140287DB}"/>
                    </a:ext>
                  </a:extLst>
                </p:cNvPr>
                <p:cNvSpPr/>
                <p:nvPr/>
              </p:nvSpPr>
              <p:spPr bwMode="gray">
                <a:xfrm>
                  <a:off x="7313613" y="4629473"/>
                  <a:ext cx="848284" cy="252000"/>
                </a:xfrm>
                <a:prstGeom prst="rect">
                  <a:avLst/>
                </a:prstGeom>
                <a:no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2" name="Rectangle 21">
                  <a:extLst>
                    <a:ext uri="{FF2B5EF4-FFF2-40B4-BE49-F238E27FC236}">
                      <a16:creationId xmlns:a16="http://schemas.microsoft.com/office/drawing/2014/main" id="{5EED551C-50EC-E109-A16A-AE088DEE5AB1}"/>
                    </a:ext>
                  </a:extLst>
                </p:cNvPr>
                <p:cNvSpPr/>
                <p:nvPr/>
              </p:nvSpPr>
              <p:spPr bwMode="gray">
                <a:xfrm>
                  <a:off x="7346949" y="4665473"/>
                  <a:ext cx="56137" cy="180000"/>
                </a:xfrm>
                <a:prstGeom prst="rect">
                  <a:avLst/>
                </a:prstGeom>
                <a:solidFill>
                  <a:schemeClr val="accent4"/>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sp>
            <p:nvSpPr>
              <p:cNvPr id="127" name="TextBox 126">
                <a:extLst>
                  <a:ext uri="{FF2B5EF4-FFF2-40B4-BE49-F238E27FC236}">
                    <a16:creationId xmlns:a16="http://schemas.microsoft.com/office/drawing/2014/main" id="{BB0CC1EB-B454-34B3-EDAB-D15548B52B15}"/>
                  </a:ext>
                </a:extLst>
              </p:cNvPr>
              <p:cNvSpPr txBox="1"/>
              <p:nvPr/>
            </p:nvSpPr>
            <p:spPr>
              <a:xfrm>
                <a:off x="7247106" y="5187604"/>
                <a:ext cx="875490" cy="15288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minimal</a:t>
                </a:r>
              </a:p>
            </p:txBody>
          </p:sp>
          <p:sp>
            <p:nvSpPr>
              <p:cNvPr id="137" name="TextBox 136">
                <a:extLst>
                  <a:ext uri="{FF2B5EF4-FFF2-40B4-BE49-F238E27FC236}">
                    <a16:creationId xmlns:a16="http://schemas.microsoft.com/office/drawing/2014/main" id="{568F23A9-0738-1D10-C97E-86B55543EE22}"/>
                  </a:ext>
                </a:extLst>
              </p:cNvPr>
              <p:cNvSpPr txBox="1"/>
              <p:nvPr/>
            </p:nvSpPr>
            <p:spPr>
              <a:xfrm>
                <a:off x="7172130" y="4339343"/>
                <a:ext cx="972388" cy="46166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Required</a:t>
                </a:r>
                <a:b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Networking</a:t>
                </a:r>
                <a:b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Expertise</a:t>
                </a:r>
              </a:p>
            </p:txBody>
          </p:sp>
        </p:grpSp>
        <p:grpSp>
          <p:nvGrpSpPr>
            <p:cNvPr id="141" name="Group 140">
              <a:extLst>
                <a:ext uri="{FF2B5EF4-FFF2-40B4-BE49-F238E27FC236}">
                  <a16:creationId xmlns:a16="http://schemas.microsoft.com/office/drawing/2014/main" id="{D59583EB-7A11-65AB-435E-169FD9BDD0FA}"/>
                </a:ext>
              </a:extLst>
            </p:cNvPr>
            <p:cNvGrpSpPr/>
            <p:nvPr/>
          </p:nvGrpSpPr>
          <p:grpSpPr>
            <a:xfrm>
              <a:off x="6764467" y="2112438"/>
              <a:ext cx="972388" cy="1866175"/>
              <a:chOff x="7165910" y="2112438"/>
              <a:chExt cx="972388" cy="1866175"/>
            </a:xfrm>
          </p:grpSpPr>
          <p:grpSp>
            <p:nvGrpSpPr>
              <p:cNvPr id="28" name="Group 27">
                <a:extLst>
                  <a:ext uri="{FF2B5EF4-FFF2-40B4-BE49-F238E27FC236}">
                    <a16:creationId xmlns:a16="http://schemas.microsoft.com/office/drawing/2014/main" id="{6C9B9796-FBB0-0A2A-6E0F-B23463A98B4B}"/>
                  </a:ext>
                </a:extLst>
              </p:cNvPr>
              <p:cNvGrpSpPr/>
              <p:nvPr/>
            </p:nvGrpSpPr>
            <p:grpSpPr>
              <a:xfrm>
                <a:off x="7243828" y="2680389"/>
                <a:ext cx="848284" cy="252000"/>
                <a:chOff x="7313613" y="2343473"/>
                <a:chExt cx="848284" cy="252000"/>
              </a:xfrm>
            </p:grpSpPr>
            <p:sp>
              <p:nvSpPr>
                <p:cNvPr id="106" name="Rectangle 105">
                  <a:extLst>
                    <a:ext uri="{FF2B5EF4-FFF2-40B4-BE49-F238E27FC236}">
                      <a16:creationId xmlns:a16="http://schemas.microsoft.com/office/drawing/2014/main" id="{F3AE3655-E1C4-A8AF-569C-A277BFA4B413}"/>
                    </a:ext>
                  </a:extLst>
                </p:cNvPr>
                <p:cNvSpPr/>
                <p:nvPr/>
              </p:nvSpPr>
              <p:spPr bwMode="gray">
                <a:xfrm>
                  <a:off x="7313613" y="2343473"/>
                  <a:ext cx="848284" cy="252000"/>
                </a:xfrm>
                <a:prstGeom prst="rect">
                  <a:avLst/>
                </a:prstGeom>
                <a:no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107" name="Rectangle 106">
                  <a:extLst>
                    <a:ext uri="{FF2B5EF4-FFF2-40B4-BE49-F238E27FC236}">
                      <a16:creationId xmlns:a16="http://schemas.microsoft.com/office/drawing/2014/main" id="{FC232601-6351-2720-3BFC-DCA445511E4E}"/>
                    </a:ext>
                  </a:extLst>
                </p:cNvPr>
                <p:cNvSpPr/>
                <p:nvPr/>
              </p:nvSpPr>
              <p:spPr bwMode="gray">
                <a:xfrm>
                  <a:off x="7346949" y="2379473"/>
                  <a:ext cx="756802" cy="180000"/>
                </a:xfrm>
                <a:prstGeom prst="rect">
                  <a:avLst/>
                </a:prstGeom>
                <a:solidFill>
                  <a:schemeClr val="accent3"/>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sp>
            <p:nvSpPr>
              <p:cNvPr id="108" name="TextBox 107">
                <a:extLst>
                  <a:ext uri="{FF2B5EF4-FFF2-40B4-BE49-F238E27FC236}">
                    <a16:creationId xmlns:a16="http://schemas.microsoft.com/office/drawing/2014/main" id="{345DE631-FB4E-8C0D-D62D-2CC66AA577EC}"/>
                  </a:ext>
                </a:extLst>
              </p:cNvPr>
              <p:cNvSpPr txBox="1"/>
              <p:nvPr/>
            </p:nvSpPr>
            <p:spPr>
              <a:xfrm>
                <a:off x="7165910" y="2112438"/>
                <a:ext cx="972388" cy="46166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Required</a:t>
                </a:r>
                <a:b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Networking</a:t>
                </a:r>
                <a:b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Expertise</a:t>
                </a:r>
              </a:p>
            </p:txBody>
          </p:sp>
          <p:sp>
            <p:nvSpPr>
              <p:cNvPr id="125" name="TextBox 124">
                <a:extLst>
                  <a:ext uri="{FF2B5EF4-FFF2-40B4-BE49-F238E27FC236}">
                    <a16:creationId xmlns:a16="http://schemas.microsoft.com/office/drawing/2014/main" id="{8F00E467-4D0A-0FF4-85E6-D51511294D88}"/>
                  </a:ext>
                </a:extLst>
              </p:cNvPr>
              <p:cNvSpPr txBox="1"/>
              <p:nvPr/>
            </p:nvSpPr>
            <p:spPr>
              <a:xfrm>
                <a:off x="7247106" y="2951696"/>
                <a:ext cx="875490" cy="15288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advanced</a:t>
                </a:r>
              </a:p>
            </p:txBody>
          </p:sp>
          <p:grpSp>
            <p:nvGrpSpPr>
              <p:cNvPr id="29" name="Group 28">
                <a:extLst>
                  <a:ext uri="{FF2B5EF4-FFF2-40B4-BE49-F238E27FC236}">
                    <a16:creationId xmlns:a16="http://schemas.microsoft.com/office/drawing/2014/main" id="{50963C06-72FA-E4EE-2147-6827830628F6}"/>
                  </a:ext>
                </a:extLst>
              </p:cNvPr>
              <p:cNvGrpSpPr/>
              <p:nvPr/>
            </p:nvGrpSpPr>
            <p:grpSpPr>
              <a:xfrm>
                <a:off x="7243828" y="3553903"/>
                <a:ext cx="848284" cy="252000"/>
                <a:chOff x="7313613" y="3535026"/>
                <a:chExt cx="848284" cy="252000"/>
              </a:xfrm>
            </p:grpSpPr>
            <p:sp>
              <p:nvSpPr>
                <p:cNvPr id="6" name="Rectangle 5">
                  <a:extLst>
                    <a:ext uri="{FF2B5EF4-FFF2-40B4-BE49-F238E27FC236}">
                      <a16:creationId xmlns:a16="http://schemas.microsoft.com/office/drawing/2014/main" id="{EBA03B12-4DA6-5F30-016E-A8B52D5D2287}"/>
                    </a:ext>
                  </a:extLst>
                </p:cNvPr>
                <p:cNvSpPr/>
                <p:nvPr/>
              </p:nvSpPr>
              <p:spPr bwMode="gray">
                <a:xfrm>
                  <a:off x="7313613" y="3535026"/>
                  <a:ext cx="848284" cy="252000"/>
                </a:xfrm>
                <a:prstGeom prst="rect">
                  <a:avLst/>
                </a:prstGeom>
                <a:no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7" name="Rectangle 6">
                  <a:extLst>
                    <a:ext uri="{FF2B5EF4-FFF2-40B4-BE49-F238E27FC236}">
                      <a16:creationId xmlns:a16="http://schemas.microsoft.com/office/drawing/2014/main" id="{B25D442C-7A8C-1EDF-C86E-5A015C9936FE}"/>
                    </a:ext>
                  </a:extLst>
                </p:cNvPr>
                <p:cNvSpPr/>
                <p:nvPr/>
              </p:nvSpPr>
              <p:spPr bwMode="gray">
                <a:xfrm>
                  <a:off x="7346949" y="3571026"/>
                  <a:ext cx="222191" cy="180000"/>
                </a:xfrm>
                <a:prstGeom prst="rect">
                  <a:avLst/>
                </a:prstGeom>
                <a:solidFill>
                  <a:schemeClr val="accent4"/>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sp>
            <p:nvSpPr>
              <p:cNvPr id="126" name="TextBox 125">
                <a:extLst>
                  <a:ext uri="{FF2B5EF4-FFF2-40B4-BE49-F238E27FC236}">
                    <a16:creationId xmlns:a16="http://schemas.microsoft.com/office/drawing/2014/main" id="{F46F8546-6C57-79B5-C40C-BC8CE129AAF4}"/>
                  </a:ext>
                </a:extLst>
              </p:cNvPr>
              <p:cNvSpPr txBox="1"/>
              <p:nvPr/>
            </p:nvSpPr>
            <p:spPr>
              <a:xfrm>
                <a:off x="7247106" y="3825732"/>
                <a:ext cx="875490" cy="15288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basic</a:t>
                </a:r>
              </a:p>
            </p:txBody>
          </p:sp>
        </p:grpSp>
      </p:grpSp>
      <p:sp>
        <p:nvSpPr>
          <p:cNvPr id="82" name="TextBox 81">
            <a:extLst>
              <a:ext uri="{FF2B5EF4-FFF2-40B4-BE49-F238E27FC236}">
                <a16:creationId xmlns:a16="http://schemas.microsoft.com/office/drawing/2014/main" id="{0143B6ED-E1F7-BF5E-E459-D7355E56D195}"/>
              </a:ext>
            </a:extLst>
          </p:cNvPr>
          <p:cNvSpPr txBox="1"/>
          <p:nvPr/>
        </p:nvSpPr>
        <p:spPr>
          <a:xfrm>
            <a:off x="865556" y="2393108"/>
            <a:ext cx="3142514" cy="646331"/>
          </a:xfrm>
          <a:prstGeom prst="rect">
            <a:avLst/>
          </a:prstGeom>
          <a:noFill/>
        </p:spPr>
        <p:txBody>
          <a:bodyPr wrap="square" lIns="0" tIns="0" rIns="0" bIns="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Configure external connectivity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Create projects, a</a:t>
            </a:r>
            <a:r>
              <a:rPr kumimoji="0" lang="en-US" sz="1400" b="0" i="0" u="none" strike="noStrike" kern="1200" cap="none" spc="0" normalizeH="0" baseline="0" noProof="0" dirty="0" err="1">
                <a:ln>
                  <a:noFill/>
                </a:ln>
                <a:solidFill>
                  <a:srgbClr val="005C8A"/>
                </a:solidFill>
                <a:effectLst/>
                <a:uLnTx/>
                <a:uFillTx/>
                <a:latin typeface="Arial" panose="020B0604020202020204"/>
                <a:ea typeface="+mn-ea"/>
                <a:cs typeface="+mn-cs"/>
              </a:rPr>
              <a:t>llocate</a:t>
            </a: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 resources </a:t>
            </a:r>
            <a:b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b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(ex. IP pools)</a:t>
            </a:r>
          </a:p>
        </p:txBody>
      </p:sp>
      <p:sp>
        <p:nvSpPr>
          <p:cNvPr id="4" name="Title 3">
            <a:extLst>
              <a:ext uri="{FF2B5EF4-FFF2-40B4-BE49-F238E27FC236}">
                <a16:creationId xmlns:a16="http://schemas.microsoft.com/office/drawing/2014/main" id="{E1C94C26-5463-4176-2221-F6B521F10CC4}"/>
              </a:ext>
            </a:extLst>
          </p:cNvPr>
          <p:cNvSpPr>
            <a:spLocks noGrp="1"/>
          </p:cNvSpPr>
          <p:nvPr>
            <p:ph type="title"/>
          </p:nvPr>
        </p:nvSpPr>
        <p:spPr/>
        <p:txBody>
          <a:bodyPr/>
          <a:lstStyle/>
          <a:p>
            <a:r>
              <a:rPr lang="en-US" dirty="0"/>
              <a:t>Simple Networking with Virtual Private Clouds (VPCs)</a:t>
            </a:r>
            <a:endParaRPr lang="en-US" strike="sngStrike" dirty="0"/>
          </a:p>
        </p:txBody>
      </p:sp>
      <p:sp>
        <p:nvSpPr>
          <p:cNvPr id="5" name="Subtitle 4">
            <a:extLst>
              <a:ext uri="{FF2B5EF4-FFF2-40B4-BE49-F238E27FC236}">
                <a16:creationId xmlns:a16="http://schemas.microsoft.com/office/drawing/2014/main" id="{9FB74391-3DC1-29C8-D847-12D2B8B5C573}"/>
              </a:ext>
            </a:extLst>
          </p:cNvPr>
          <p:cNvSpPr>
            <a:spLocks noGrp="1"/>
          </p:cNvSpPr>
          <p:nvPr>
            <p:ph type="subTitle" idx="10"/>
          </p:nvPr>
        </p:nvSpPr>
        <p:spPr/>
        <p:txBody>
          <a:bodyPr/>
          <a:lstStyle/>
          <a:p>
            <a:r>
              <a:rPr lang="en-US" dirty="0"/>
              <a:t>Clear role definition allows self-service network for the end user</a:t>
            </a:r>
          </a:p>
        </p:txBody>
      </p:sp>
      <p:sp>
        <p:nvSpPr>
          <p:cNvPr id="23" name="Text Placeholder 22">
            <a:extLst>
              <a:ext uri="{FF2B5EF4-FFF2-40B4-BE49-F238E27FC236}">
                <a16:creationId xmlns:a16="http://schemas.microsoft.com/office/drawing/2014/main" id="{59FA4D49-B4C1-2BC3-CFAE-E96F8CCC6782}"/>
              </a:ext>
            </a:extLst>
          </p:cNvPr>
          <p:cNvSpPr>
            <a:spLocks noGrp="1"/>
          </p:cNvSpPr>
          <p:nvPr>
            <p:ph type="body" sz="quarter" idx="4294967295"/>
          </p:nvPr>
        </p:nvSpPr>
        <p:spPr>
          <a:xfrm>
            <a:off x="8380413" y="2046914"/>
            <a:ext cx="3808412" cy="4125286"/>
          </a:xfrm>
        </p:spPr>
        <p:txBody>
          <a:bodyPr rIns="576000"/>
          <a:lstStyle/>
          <a:p>
            <a:pPr marL="180000" indent="0">
              <a:spcBef>
                <a:spcPts val="1200"/>
              </a:spcBef>
              <a:spcAft>
                <a:spcPts val="600"/>
              </a:spcAft>
            </a:pPr>
            <a:r>
              <a:rPr lang="en-US" sz="1600" b="1" dirty="0">
                <a:solidFill>
                  <a:schemeClr val="accent2"/>
                </a:solidFill>
              </a:rPr>
              <a:t>Enterprise Admin:</a:t>
            </a:r>
          </a:p>
          <a:p>
            <a:pPr marL="540000" lvl="1">
              <a:spcBef>
                <a:spcPts val="600"/>
              </a:spcBef>
              <a:spcAft>
                <a:spcPts val="600"/>
              </a:spcAft>
              <a:buClr>
                <a:schemeClr val="accent2"/>
              </a:buClr>
            </a:pPr>
            <a:r>
              <a:rPr lang="en-US" sz="1400" dirty="0">
                <a:solidFill>
                  <a:schemeClr val="accent2"/>
                </a:solidFill>
              </a:rPr>
              <a:t>Owns the physical infrastructure</a:t>
            </a:r>
          </a:p>
          <a:p>
            <a:pPr marL="180000" indent="0">
              <a:spcBef>
                <a:spcPts val="1200"/>
              </a:spcBef>
              <a:spcAft>
                <a:spcPts val="600"/>
              </a:spcAft>
            </a:pPr>
            <a:r>
              <a:rPr lang="en-US" sz="1600" b="1" dirty="0">
                <a:solidFill>
                  <a:schemeClr val="accent2"/>
                </a:solidFill>
              </a:rPr>
              <a:t>Project Admin:</a:t>
            </a:r>
          </a:p>
          <a:p>
            <a:pPr marL="540000" lvl="1">
              <a:spcBef>
                <a:spcPts val="600"/>
              </a:spcBef>
              <a:spcAft>
                <a:spcPts val="600"/>
              </a:spcAft>
              <a:buClr>
                <a:schemeClr val="accent2"/>
              </a:buClr>
            </a:pPr>
            <a:r>
              <a:rPr lang="en-US" sz="1400" dirty="0">
                <a:solidFill>
                  <a:schemeClr val="accent2"/>
                </a:solidFill>
              </a:rPr>
              <a:t>A tenant</a:t>
            </a:r>
          </a:p>
          <a:p>
            <a:pPr marL="540000" lvl="1">
              <a:spcBef>
                <a:spcPts val="600"/>
              </a:spcBef>
              <a:spcAft>
                <a:spcPts val="600"/>
              </a:spcAft>
              <a:buClr>
                <a:schemeClr val="accent2"/>
              </a:buClr>
            </a:pPr>
            <a:r>
              <a:rPr lang="en-US" sz="1400" dirty="0">
                <a:solidFill>
                  <a:schemeClr val="accent2"/>
                </a:solidFill>
              </a:rPr>
              <a:t>No direct access to physical network</a:t>
            </a:r>
          </a:p>
          <a:p>
            <a:pPr marL="180000" indent="0">
              <a:spcBef>
                <a:spcPts val="1200"/>
              </a:spcBef>
              <a:spcAft>
                <a:spcPts val="600"/>
              </a:spcAft>
            </a:pPr>
            <a:r>
              <a:rPr lang="en-US" sz="1600" b="1" dirty="0">
                <a:solidFill>
                  <a:schemeClr val="accent2"/>
                </a:solidFill>
              </a:rPr>
              <a:t>VPC Admin:</a:t>
            </a:r>
          </a:p>
          <a:p>
            <a:pPr marL="540000" lvl="1">
              <a:spcBef>
                <a:spcPts val="600"/>
              </a:spcBef>
              <a:spcAft>
                <a:spcPts val="600"/>
              </a:spcAft>
              <a:buClr>
                <a:schemeClr val="accent2"/>
              </a:buClr>
            </a:pPr>
            <a:r>
              <a:rPr lang="en-US" sz="1400" dirty="0">
                <a:solidFill>
                  <a:schemeClr val="accent2"/>
                </a:solidFill>
              </a:rPr>
              <a:t>End user</a:t>
            </a:r>
          </a:p>
          <a:p>
            <a:pPr marL="540000" lvl="1">
              <a:spcBef>
                <a:spcPts val="600"/>
              </a:spcBef>
              <a:spcAft>
                <a:spcPts val="600"/>
              </a:spcAft>
              <a:buClr>
                <a:schemeClr val="accent2"/>
              </a:buClr>
            </a:pPr>
            <a:r>
              <a:rPr lang="en-US" sz="1400" dirty="0">
                <a:solidFill>
                  <a:schemeClr val="accent2"/>
                </a:solidFill>
              </a:rPr>
              <a:t>Simple, self-service networking</a:t>
            </a:r>
          </a:p>
          <a:p>
            <a:pPr lvl="1"/>
            <a:endParaRPr lang="en-US" dirty="0"/>
          </a:p>
        </p:txBody>
      </p:sp>
      <p:sp>
        <p:nvSpPr>
          <p:cNvPr id="24" name="Rounded Rectangle 23">
            <a:extLst>
              <a:ext uri="{FF2B5EF4-FFF2-40B4-BE49-F238E27FC236}">
                <a16:creationId xmlns:a16="http://schemas.microsoft.com/office/drawing/2014/main" id="{C144A354-D455-0664-4CD9-F97030A2F5F0}"/>
              </a:ext>
            </a:extLst>
          </p:cNvPr>
          <p:cNvSpPr/>
          <p:nvPr/>
        </p:nvSpPr>
        <p:spPr>
          <a:xfrm>
            <a:off x="614940" y="2057400"/>
            <a:ext cx="3657600" cy="4114800"/>
          </a:xfrm>
          <a:prstGeom prst="roundRect">
            <a:avLst>
              <a:gd name="adj" fmla="val 1799"/>
            </a:avLst>
          </a:prstGeom>
          <a:noFill/>
          <a:ln w="2540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VCF with VPCs</a:t>
            </a:r>
          </a:p>
        </p:txBody>
      </p:sp>
      <p:grpSp>
        <p:nvGrpSpPr>
          <p:cNvPr id="17" name="deployed by ent admin">
            <a:extLst>
              <a:ext uri="{FF2B5EF4-FFF2-40B4-BE49-F238E27FC236}">
                <a16:creationId xmlns:a16="http://schemas.microsoft.com/office/drawing/2014/main" id="{072B47F7-EF11-34E0-B80C-848AFAA4E650}"/>
              </a:ext>
            </a:extLst>
          </p:cNvPr>
          <p:cNvGrpSpPr/>
          <p:nvPr/>
        </p:nvGrpSpPr>
        <p:grpSpPr>
          <a:xfrm>
            <a:off x="843540" y="3171625"/>
            <a:ext cx="3200400" cy="2899462"/>
            <a:chOff x="843540" y="3171625"/>
            <a:chExt cx="3200400" cy="2899462"/>
          </a:xfrm>
        </p:grpSpPr>
        <p:sp>
          <p:nvSpPr>
            <p:cNvPr id="9" name="Rounded Rectangle 8">
              <a:extLst>
                <a:ext uri="{FF2B5EF4-FFF2-40B4-BE49-F238E27FC236}">
                  <a16:creationId xmlns:a16="http://schemas.microsoft.com/office/drawing/2014/main" id="{17635AB9-2FAA-CA22-9BDA-6EF5B9B41D4C}"/>
                </a:ext>
              </a:extLst>
            </p:cNvPr>
            <p:cNvSpPr/>
            <p:nvPr/>
          </p:nvSpPr>
          <p:spPr>
            <a:xfrm>
              <a:off x="843540" y="3171625"/>
              <a:ext cx="3200400" cy="2899462"/>
            </a:xfrm>
            <a:prstGeom prst="roundRect">
              <a:avLst>
                <a:gd name="adj" fmla="val 1537"/>
              </a:avLst>
            </a:prstGeom>
            <a:no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Project</a:t>
              </a:r>
            </a:p>
          </p:txBody>
        </p:sp>
        <p:sp>
          <p:nvSpPr>
            <p:cNvPr id="10" name="Freeform 9">
              <a:extLst>
                <a:ext uri="{FF2B5EF4-FFF2-40B4-BE49-F238E27FC236}">
                  <a16:creationId xmlns:a16="http://schemas.microsoft.com/office/drawing/2014/main" id="{67B6D190-9DA5-C461-2128-5ECBB7B63A38}"/>
                </a:ext>
              </a:extLst>
            </p:cNvPr>
            <p:cNvSpPr>
              <a:spLocks noChangeAspect="1"/>
            </p:cNvSpPr>
            <p:nvPr/>
          </p:nvSpPr>
          <p:spPr>
            <a:xfrm>
              <a:off x="1392941" y="3255096"/>
              <a:ext cx="180033" cy="180000"/>
            </a:xfrm>
            <a:custGeom>
              <a:avLst/>
              <a:gdLst>
                <a:gd name="connsiteX0" fmla="*/ 228433 w 266747"/>
                <a:gd name="connsiteY0" fmla="*/ 213550 h 266700"/>
                <a:gd name="connsiteX1" fmla="*/ 213289 w 266747"/>
                <a:gd name="connsiteY1" fmla="*/ 228695 h 266700"/>
                <a:gd name="connsiteX2" fmla="*/ 228433 w 266747"/>
                <a:gd name="connsiteY2" fmla="*/ 243840 h 266700"/>
                <a:gd name="connsiteX3" fmla="*/ 243578 w 266747"/>
                <a:gd name="connsiteY3" fmla="*/ 228695 h 266700"/>
                <a:gd name="connsiteX4" fmla="*/ 133374 w 266747"/>
                <a:gd name="connsiteY4" fmla="*/ 213550 h 266700"/>
                <a:gd name="connsiteX5" fmla="*/ 118229 w 266747"/>
                <a:gd name="connsiteY5" fmla="*/ 228695 h 266700"/>
                <a:gd name="connsiteX6" fmla="*/ 133374 w 266747"/>
                <a:gd name="connsiteY6" fmla="*/ 243840 h 266700"/>
                <a:gd name="connsiteX7" fmla="*/ 148519 w 266747"/>
                <a:gd name="connsiteY7" fmla="*/ 228695 h 266700"/>
                <a:gd name="connsiteX8" fmla="*/ 38124 w 266747"/>
                <a:gd name="connsiteY8" fmla="*/ 213550 h 266700"/>
                <a:gd name="connsiteX9" fmla="*/ 22979 w 266747"/>
                <a:gd name="connsiteY9" fmla="*/ 228695 h 266700"/>
                <a:gd name="connsiteX10" fmla="*/ 38124 w 266747"/>
                <a:gd name="connsiteY10" fmla="*/ 243840 h 266700"/>
                <a:gd name="connsiteX11" fmla="*/ 53269 w 266747"/>
                <a:gd name="connsiteY11" fmla="*/ 228695 h 266700"/>
                <a:gd name="connsiteX12" fmla="*/ 123754 w 266747"/>
                <a:gd name="connsiteY12" fmla="*/ 76200 h 266700"/>
                <a:gd name="connsiteX13" fmla="*/ 142708 w 266747"/>
                <a:gd name="connsiteY13" fmla="*/ 76200 h 266700"/>
                <a:gd name="connsiteX14" fmla="*/ 142708 w 266747"/>
                <a:gd name="connsiteY14" fmla="*/ 152400 h 266700"/>
                <a:gd name="connsiteX15" fmla="*/ 228433 w 266747"/>
                <a:gd name="connsiteY15" fmla="*/ 152400 h 266700"/>
                <a:gd name="connsiteX16" fmla="*/ 237958 w 266747"/>
                <a:gd name="connsiteY16" fmla="*/ 161925 h 266700"/>
                <a:gd name="connsiteX17" fmla="*/ 237958 w 266747"/>
                <a:gd name="connsiteY17" fmla="*/ 196120 h 266700"/>
                <a:gd name="connsiteX18" fmla="*/ 263771 w 266747"/>
                <a:gd name="connsiteY18" fmla="*/ 221933 h 266700"/>
                <a:gd name="connsiteX19" fmla="*/ 263962 w 266747"/>
                <a:gd name="connsiteY19" fmla="*/ 221933 h 266700"/>
                <a:gd name="connsiteX20" fmla="*/ 263962 w 266747"/>
                <a:gd name="connsiteY20" fmla="*/ 235363 h 266700"/>
                <a:gd name="connsiteX21" fmla="*/ 235387 w 266747"/>
                <a:gd name="connsiteY21" fmla="*/ 263938 h 266700"/>
                <a:gd name="connsiteX22" fmla="*/ 228624 w 266747"/>
                <a:gd name="connsiteY22" fmla="*/ 266700 h 266700"/>
                <a:gd name="connsiteX23" fmla="*/ 221861 w 266747"/>
                <a:gd name="connsiteY23" fmla="*/ 263938 h 266700"/>
                <a:gd name="connsiteX24" fmla="*/ 193286 w 266747"/>
                <a:gd name="connsiteY24" fmla="*/ 235363 h 266700"/>
                <a:gd name="connsiteX25" fmla="*/ 193286 w 266747"/>
                <a:gd name="connsiteY25" fmla="*/ 221933 h 266700"/>
                <a:gd name="connsiteX26" fmla="*/ 219099 w 266747"/>
                <a:gd name="connsiteY26" fmla="*/ 196120 h 266700"/>
                <a:gd name="connsiteX27" fmla="*/ 219099 w 266747"/>
                <a:gd name="connsiteY27" fmla="*/ 171450 h 266700"/>
                <a:gd name="connsiteX28" fmla="*/ 142899 w 266747"/>
                <a:gd name="connsiteY28" fmla="*/ 171450 h 266700"/>
                <a:gd name="connsiteX29" fmla="*/ 142899 w 266747"/>
                <a:gd name="connsiteY29" fmla="*/ 195929 h 266700"/>
                <a:gd name="connsiteX30" fmla="*/ 168807 w 266747"/>
                <a:gd name="connsiteY30" fmla="*/ 221837 h 266700"/>
                <a:gd name="connsiteX31" fmla="*/ 168807 w 266747"/>
                <a:gd name="connsiteY31" fmla="*/ 235268 h 266700"/>
                <a:gd name="connsiteX32" fmla="*/ 140232 w 266747"/>
                <a:gd name="connsiteY32" fmla="*/ 263843 h 266700"/>
                <a:gd name="connsiteX33" fmla="*/ 133469 w 266747"/>
                <a:gd name="connsiteY33" fmla="*/ 266605 h 266700"/>
                <a:gd name="connsiteX34" fmla="*/ 126706 w 266747"/>
                <a:gd name="connsiteY34" fmla="*/ 263843 h 266700"/>
                <a:gd name="connsiteX35" fmla="*/ 98131 w 266747"/>
                <a:gd name="connsiteY35" fmla="*/ 235268 h 266700"/>
                <a:gd name="connsiteX36" fmla="*/ 98131 w 266747"/>
                <a:gd name="connsiteY36" fmla="*/ 221837 h 266700"/>
                <a:gd name="connsiteX37" fmla="*/ 123754 w 266747"/>
                <a:gd name="connsiteY37" fmla="*/ 196215 h 266700"/>
                <a:gd name="connsiteX38" fmla="*/ 123754 w 266747"/>
                <a:gd name="connsiteY38" fmla="*/ 171450 h 266700"/>
                <a:gd name="connsiteX39" fmla="*/ 47554 w 266747"/>
                <a:gd name="connsiteY39" fmla="*/ 171450 h 266700"/>
                <a:gd name="connsiteX40" fmla="*/ 47554 w 266747"/>
                <a:gd name="connsiteY40" fmla="*/ 195929 h 266700"/>
                <a:gd name="connsiteX41" fmla="*/ 73462 w 266747"/>
                <a:gd name="connsiteY41" fmla="*/ 221837 h 266700"/>
                <a:gd name="connsiteX42" fmla="*/ 73462 w 266747"/>
                <a:gd name="connsiteY42" fmla="*/ 235268 h 266700"/>
                <a:gd name="connsiteX43" fmla="*/ 44887 w 266747"/>
                <a:gd name="connsiteY43" fmla="*/ 263843 h 266700"/>
                <a:gd name="connsiteX44" fmla="*/ 38124 w 266747"/>
                <a:gd name="connsiteY44" fmla="*/ 266605 h 266700"/>
                <a:gd name="connsiteX45" fmla="*/ 31361 w 266747"/>
                <a:gd name="connsiteY45" fmla="*/ 263843 h 266700"/>
                <a:gd name="connsiteX46" fmla="*/ 2786 w 266747"/>
                <a:gd name="connsiteY46" fmla="*/ 235268 h 266700"/>
                <a:gd name="connsiteX47" fmla="*/ 2786 w 266747"/>
                <a:gd name="connsiteY47" fmla="*/ 221837 h 266700"/>
                <a:gd name="connsiteX48" fmla="*/ 28408 w 266747"/>
                <a:gd name="connsiteY48" fmla="*/ 196215 h 266700"/>
                <a:gd name="connsiteX49" fmla="*/ 28408 w 266747"/>
                <a:gd name="connsiteY49" fmla="*/ 161925 h 266700"/>
                <a:gd name="connsiteX50" fmla="*/ 37933 w 266747"/>
                <a:gd name="connsiteY50" fmla="*/ 152400 h 266700"/>
                <a:gd name="connsiteX51" fmla="*/ 123754 w 266747"/>
                <a:gd name="connsiteY51" fmla="*/ 152400 h 266700"/>
                <a:gd name="connsiteX52" fmla="*/ 133183 w 266747"/>
                <a:gd name="connsiteY52" fmla="*/ 0 h 266700"/>
                <a:gd name="connsiteX53" fmla="*/ 197668 w 266747"/>
                <a:gd name="connsiteY53" fmla="*/ 50006 h 266700"/>
                <a:gd name="connsiteX54" fmla="*/ 206621 w 266747"/>
                <a:gd name="connsiteY54" fmla="*/ 48958 h 266700"/>
                <a:gd name="connsiteX55" fmla="*/ 248817 w 266747"/>
                <a:gd name="connsiteY55" fmla="*/ 91154 h 266700"/>
                <a:gd name="connsiteX56" fmla="*/ 206621 w 266747"/>
                <a:gd name="connsiteY56" fmla="*/ 133350 h 266700"/>
                <a:gd name="connsiteX57" fmla="*/ 161854 w 266747"/>
                <a:gd name="connsiteY57" fmla="*/ 133350 h 266700"/>
                <a:gd name="connsiteX58" fmla="*/ 161854 w 266747"/>
                <a:gd name="connsiteY58" fmla="*/ 114300 h 266700"/>
                <a:gd name="connsiteX59" fmla="*/ 206621 w 266747"/>
                <a:gd name="connsiteY59" fmla="*/ 114300 h 266700"/>
                <a:gd name="connsiteX60" fmla="*/ 229767 w 266747"/>
                <a:gd name="connsiteY60" fmla="*/ 91154 h 266700"/>
                <a:gd name="connsiteX61" fmla="*/ 206621 w 266747"/>
                <a:gd name="connsiteY61" fmla="*/ 68008 h 266700"/>
                <a:gd name="connsiteX62" fmla="*/ 195001 w 266747"/>
                <a:gd name="connsiteY62" fmla="*/ 71342 h 266700"/>
                <a:gd name="connsiteX63" fmla="*/ 185666 w 266747"/>
                <a:gd name="connsiteY63" fmla="*/ 71533 h 266700"/>
                <a:gd name="connsiteX64" fmla="*/ 180618 w 266747"/>
                <a:gd name="connsiteY64" fmla="*/ 63722 h 266700"/>
                <a:gd name="connsiteX65" fmla="*/ 133183 w 266747"/>
                <a:gd name="connsiteY65" fmla="*/ 19050 h 266700"/>
                <a:gd name="connsiteX66" fmla="*/ 89273 w 266747"/>
                <a:gd name="connsiteY66" fmla="*/ 48101 h 266700"/>
                <a:gd name="connsiteX67" fmla="*/ 77557 w 266747"/>
                <a:gd name="connsiteY67" fmla="*/ 53435 h 266700"/>
                <a:gd name="connsiteX68" fmla="*/ 67842 w 266747"/>
                <a:gd name="connsiteY68" fmla="*/ 51721 h 266700"/>
                <a:gd name="connsiteX69" fmla="*/ 36505 w 266747"/>
                <a:gd name="connsiteY69" fmla="*/ 83058 h 266700"/>
                <a:gd name="connsiteX70" fmla="*/ 67842 w 266747"/>
                <a:gd name="connsiteY70" fmla="*/ 114395 h 266700"/>
                <a:gd name="connsiteX71" fmla="*/ 104704 w 266747"/>
                <a:gd name="connsiteY71" fmla="*/ 114395 h 266700"/>
                <a:gd name="connsiteX72" fmla="*/ 104704 w 266747"/>
                <a:gd name="connsiteY72" fmla="*/ 133445 h 266700"/>
                <a:gd name="connsiteX73" fmla="*/ 67937 w 266747"/>
                <a:gd name="connsiteY73" fmla="*/ 133445 h 266700"/>
                <a:gd name="connsiteX74" fmla="*/ 17550 w 266747"/>
                <a:gd name="connsiteY74" fmla="*/ 83058 h 266700"/>
                <a:gd name="connsiteX75" fmla="*/ 67937 w 266747"/>
                <a:gd name="connsiteY75" fmla="*/ 32671 h 266700"/>
                <a:gd name="connsiteX76" fmla="*/ 75462 w 266747"/>
                <a:gd name="connsiteY76" fmla="*/ 33338 h 266700"/>
                <a:gd name="connsiteX77" fmla="*/ 133183 w 266747"/>
                <a:gd name="connsiteY77"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66747" h="266700">
                  <a:moveTo>
                    <a:pt x="228433" y="213550"/>
                  </a:moveTo>
                  <a:lnTo>
                    <a:pt x="213289" y="228695"/>
                  </a:lnTo>
                  <a:lnTo>
                    <a:pt x="228433" y="243840"/>
                  </a:lnTo>
                  <a:lnTo>
                    <a:pt x="243578" y="228695"/>
                  </a:lnTo>
                  <a:close/>
                  <a:moveTo>
                    <a:pt x="133374" y="213550"/>
                  </a:moveTo>
                  <a:lnTo>
                    <a:pt x="118229" y="228695"/>
                  </a:lnTo>
                  <a:lnTo>
                    <a:pt x="133374" y="243840"/>
                  </a:lnTo>
                  <a:lnTo>
                    <a:pt x="148519" y="228695"/>
                  </a:lnTo>
                  <a:close/>
                  <a:moveTo>
                    <a:pt x="38124" y="213550"/>
                  </a:moveTo>
                  <a:lnTo>
                    <a:pt x="22979" y="228695"/>
                  </a:lnTo>
                  <a:lnTo>
                    <a:pt x="38124" y="243840"/>
                  </a:lnTo>
                  <a:lnTo>
                    <a:pt x="53269" y="228695"/>
                  </a:lnTo>
                  <a:close/>
                  <a:moveTo>
                    <a:pt x="123754" y="76200"/>
                  </a:moveTo>
                  <a:lnTo>
                    <a:pt x="142708" y="76200"/>
                  </a:lnTo>
                  <a:lnTo>
                    <a:pt x="142708" y="152400"/>
                  </a:lnTo>
                  <a:lnTo>
                    <a:pt x="228433" y="152400"/>
                  </a:lnTo>
                  <a:cubicBezTo>
                    <a:pt x="233672" y="152400"/>
                    <a:pt x="237958" y="156686"/>
                    <a:pt x="237958" y="161925"/>
                  </a:cubicBezTo>
                  <a:lnTo>
                    <a:pt x="237958" y="196120"/>
                  </a:lnTo>
                  <a:lnTo>
                    <a:pt x="263771" y="221933"/>
                  </a:lnTo>
                  <a:lnTo>
                    <a:pt x="263962" y="221933"/>
                  </a:lnTo>
                  <a:cubicBezTo>
                    <a:pt x="267676" y="225647"/>
                    <a:pt x="267676" y="231648"/>
                    <a:pt x="263962" y="235363"/>
                  </a:cubicBezTo>
                  <a:lnTo>
                    <a:pt x="235387" y="263938"/>
                  </a:lnTo>
                  <a:cubicBezTo>
                    <a:pt x="233482" y="265748"/>
                    <a:pt x="231100" y="266700"/>
                    <a:pt x="228624" y="266700"/>
                  </a:cubicBezTo>
                  <a:cubicBezTo>
                    <a:pt x="226147" y="266700"/>
                    <a:pt x="223766" y="265843"/>
                    <a:pt x="221861" y="263938"/>
                  </a:cubicBezTo>
                  <a:lnTo>
                    <a:pt x="193286" y="235363"/>
                  </a:lnTo>
                  <a:cubicBezTo>
                    <a:pt x="189571" y="231648"/>
                    <a:pt x="189571" y="225647"/>
                    <a:pt x="193286" y="221933"/>
                  </a:cubicBezTo>
                  <a:lnTo>
                    <a:pt x="219099" y="196120"/>
                  </a:lnTo>
                  <a:lnTo>
                    <a:pt x="219099" y="171450"/>
                  </a:lnTo>
                  <a:lnTo>
                    <a:pt x="142899" y="171450"/>
                  </a:lnTo>
                  <a:lnTo>
                    <a:pt x="142899" y="195929"/>
                  </a:lnTo>
                  <a:lnTo>
                    <a:pt x="168807" y="221837"/>
                  </a:lnTo>
                  <a:cubicBezTo>
                    <a:pt x="172522" y="225552"/>
                    <a:pt x="172522" y="231553"/>
                    <a:pt x="168807" y="235268"/>
                  </a:cubicBezTo>
                  <a:lnTo>
                    <a:pt x="140232" y="263843"/>
                  </a:lnTo>
                  <a:cubicBezTo>
                    <a:pt x="138327" y="265652"/>
                    <a:pt x="135946" y="266605"/>
                    <a:pt x="133469" y="266605"/>
                  </a:cubicBezTo>
                  <a:cubicBezTo>
                    <a:pt x="130993" y="266605"/>
                    <a:pt x="128611" y="265748"/>
                    <a:pt x="126706" y="263843"/>
                  </a:cubicBezTo>
                  <a:lnTo>
                    <a:pt x="98131" y="235268"/>
                  </a:lnTo>
                  <a:cubicBezTo>
                    <a:pt x="94417" y="231553"/>
                    <a:pt x="94417" y="225552"/>
                    <a:pt x="98131" y="221837"/>
                  </a:cubicBezTo>
                  <a:lnTo>
                    <a:pt x="123754" y="196215"/>
                  </a:lnTo>
                  <a:lnTo>
                    <a:pt x="123754" y="171450"/>
                  </a:lnTo>
                  <a:lnTo>
                    <a:pt x="47554" y="171450"/>
                  </a:lnTo>
                  <a:lnTo>
                    <a:pt x="47554" y="195929"/>
                  </a:lnTo>
                  <a:lnTo>
                    <a:pt x="73462" y="221837"/>
                  </a:lnTo>
                  <a:cubicBezTo>
                    <a:pt x="77176" y="225552"/>
                    <a:pt x="77176" y="231553"/>
                    <a:pt x="73462" y="235268"/>
                  </a:cubicBezTo>
                  <a:lnTo>
                    <a:pt x="44887" y="263843"/>
                  </a:lnTo>
                  <a:cubicBezTo>
                    <a:pt x="42982" y="265652"/>
                    <a:pt x="40600" y="266605"/>
                    <a:pt x="38124" y="266605"/>
                  </a:cubicBezTo>
                  <a:cubicBezTo>
                    <a:pt x="35647" y="266605"/>
                    <a:pt x="33266" y="265748"/>
                    <a:pt x="31361" y="263843"/>
                  </a:cubicBezTo>
                  <a:lnTo>
                    <a:pt x="2786" y="235268"/>
                  </a:lnTo>
                  <a:cubicBezTo>
                    <a:pt x="-929" y="231553"/>
                    <a:pt x="-929" y="225552"/>
                    <a:pt x="2786" y="221837"/>
                  </a:cubicBezTo>
                  <a:lnTo>
                    <a:pt x="28408" y="196215"/>
                  </a:lnTo>
                  <a:lnTo>
                    <a:pt x="28408" y="161925"/>
                  </a:lnTo>
                  <a:cubicBezTo>
                    <a:pt x="28408" y="156686"/>
                    <a:pt x="32695" y="152400"/>
                    <a:pt x="37933" y="152400"/>
                  </a:cubicBezTo>
                  <a:lnTo>
                    <a:pt x="123754" y="152400"/>
                  </a:lnTo>
                  <a:close/>
                  <a:moveTo>
                    <a:pt x="133183" y="0"/>
                  </a:moveTo>
                  <a:cubicBezTo>
                    <a:pt x="163949" y="0"/>
                    <a:pt x="190238" y="21145"/>
                    <a:pt x="197668" y="50006"/>
                  </a:cubicBezTo>
                  <a:cubicBezTo>
                    <a:pt x="200621" y="49340"/>
                    <a:pt x="203573" y="48958"/>
                    <a:pt x="206621" y="48958"/>
                  </a:cubicBezTo>
                  <a:cubicBezTo>
                    <a:pt x="229862" y="48958"/>
                    <a:pt x="248817" y="67913"/>
                    <a:pt x="248817" y="91154"/>
                  </a:cubicBezTo>
                  <a:cubicBezTo>
                    <a:pt x="248817" y="114395"/>
                    <a:pt x="229862" y="133350"/>
                    <a:pt x="206621" y="133350"/>
                  </a:cubicBezTo>
                  <a:lnTo>
                    <a:pt x="161854" y="133350"/>
                  </a:lnTo>
                  <a:lnTo>
                    <a:pt x="161854" y="114300"/>
                  </a:lnTo>
                  <a:lnTo>
                    <a:pt x="206621" y="114300"/>
                  </a:lnTo>
                  <a:cubicBezTo>
                    <a:pt x="219385" y="114300"/>
                    <a:pt x="229767" y="103918"/>
                    <a:pt x="229767" y="91154"/>
                  </a:cubicBezTo>
                  <a:cubicBezTo>
                    <a:pt x="229767" y="78391"/>
                    <a:pt x="219385" y="68008"/>
                    <a:pt x="206621" y="68008"/>
                  </a:cubicBezTo>
                  <a:cubicBezTo>
                    <a:pt x="202621" y="68008"/>
                    <a:pt x="198716" y="69152"/>
                    <a:pt x="195001" y="71342"/>
                  </a:cubicBezTo>
                  <a:cubicBezTo>
                    <a:pt x="192143" y="72962"/>
                    <a:pt x="188619" y="73057"/>
                    <a:pt x="185666" y="71533"/>
                  </a:cubicBezTo>
                  <a:cubicBezTo>
                    <a:pt x="182714" y="70009"/>
                    <a:pt x="180809" y="67056"/>
                    <a:pt x="180618" y="63722"/>
                  </a:cubicBezTo>
                  <a:cubicBezTo>
                    <a:pt x="179094" y="38671"/>
                    <a:pt x="158234" y="19050"/>
                    <a:pt x="133183" y="19050"/>
                  </a:cubicBezTo>
                  <a:cubicBezTo>
                    <a:pt x="113943" y="19050"/>
                    <a:pt x="96798" y="30480"/>
                    <a:pt x="89273" y="48101"/>
                  </a:cubicBezTo>
                  <a:cubicBezTo>
                    <a:pt x="87368" y="52673"/>
                    <a:pt x="82225" y="54959"/>
                    <a:pt x="77557" y="53435"/>
                  </a:cubicBezTo>
                  <a:cubicBezTo>
                    <a:pt x="74033" y="52292"/>
                    <a:pt x="70795" y="51721"/>
                    <a:pt x="67842" y="51721"/>
                  </a:cubicBezTo>
                  <a:cubicBezTo>
                    <a:pt x="50506" y="51721"/>
                    <a:pt x="36505" y="65723"/>
                    <a:pt x="36505" y="83058"/>
                  </a:cubicBezTo>
                  <a:cubicBezTo>
                    <a:pt x="36505" y="100394"/>
                    <a:pt x="50602" y="114395"/>
                    <a:pt x="67842" y="114395"/>
                  </a:cubicBezTo>
                  <a:lnTo>
                    <a:pt x="104704" y="114395"/>
                  </a:lnTo>
                  <a:lnTo>
                    <a:pt x="104704" y="133445"/>
                  </a:lnTo>
                  <a:lnTo>
                    <a:pt x="67937" y="133445"/>
                  </a:lnTo>
                  <a:cubicBezTo>
                    <a:pt x="40124" y="133445"/>
                    <a:pt x="17550" y="110871"/>
                    <a:pt x="17550" y="83058"/>
                  </a:cubicBezTo>
                  <a:cubicBezTo>
                    <a:pt x="17550" y="55245"/>
                    <a:pt x="40219" y="32671"/>
                    <a:pt x="67937" y="32671"/>
                  </a:cubicBezTo>
                  <a:cubicBezTo>
                    <a:pt x="70414" y="32671"/>
                    <a:pt x="72890" y="32861"/>
                    <a:pt x="75462" y="33338"/>
                  </a:cubicBezTo>
                  <a:cubicBezTo>
                    <a:pt x="87273" y="12859"/>
                    <a:pt x="109085" y="0"/>
                    <a:pt x="133183" y="0"/>
                  </a:cubicBezTo>
                  <a:close/>
                </a:path>
              </a:pathLst>
            </a:custGeom>
            <a:solidFill>
              <a:schemeClr val="accent4"/>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pic>
        <p:nvPicPr>
          <p:cNvPr id="97" name="Google Shape;4667;p52">
            <a:extLst>
              <a:ext uri="{FF2B5EF4-FFF2-40B4-BE49-F238E27FC236}">
                <a16:creationId xmlns:a16="http://schemas.microsoft.com/office/drawing/2014/main" id="{23D1947C-1EA5-EC24-91A1-857A9A6754D2}"/>
              </a:ext>
            </a:extLst>
          </p:cNvPr>
          <p:cNvPicPr preferRelativeResize="0">
            <a:picLocks noChangeAspect="1"/>
          </p:cNvPicPr>
          <p:nvPr/>
        </p:nvPicPr>
        <p:blipFill rotWithShape="1">
          <a:blip r:embed="rId3">
            <a:alphaModFix/>
            <a:duotone>
              <a:schemeClr val="accent3">
                <a:shade val="45000"/>
                <a:satMod val="135000"/>
              </a:schemeClr>
              <a:prstClr val="white"/>
            </a:duotone>
          </a:blip>
          <a:srcRect/>
          <a:stretch/>
        </p:blipFill>
        <p:spPr>
          <a:xfrm>
            <a:off x="4271367" y="2267531"/>
            <a:ext cx="432000" cy="432000"/>
          </a:xfrm>
          <a:prstGeom prst="rect">
            <a:avLst/>
          </a:prstGeom>
          <a:noFill/>
          <a:ln>
            <a:noFill/>
          </a:ln>
        </p:spPr>
      </p:pic>
      <p:grpSp>
        <p:nvGrpSpPr>
          <p:cNvPr id="115" name="subnets">
            <a:extLst>
              <a:ext uri="{FF2B5EF4-FFF2-40B4-BE49-F238E27FC236}">
                <a16:creationId xmlns:a16="http://schemas.microsoft.com/office/drawing/2014/main" id="{65A5CEBA-D7F8-2853-56D1-16A93DE323FC}"/>
              </a:ext>
            </a:extLst>
          </p:cNvPr>
          <p:cNvGrpSpPr/>
          <p:nvPr/>
        </p:nvGrpSpPr>
        <p:grpSpPr>
          <a:xfrm>
            <a:off x="2211285" y="5464513"/>
            <a:ext cx="1510014" cy="463878"/>
            <a:chOff x="2249649" y="5400573"/>
            <a:chExt cx="1510014" cy="463878"/>
          </a:xfrm>
        </p:grpSpPr>
        <p:cxnSp>
          <p:nvCxnSpPr>
            <p:cNvPr id="93" name="Straight Connector 92">
              <a:extLst>
                <a:ext uri="{FF2B5EF4-FFF2-40B4-BE49-F238E27FC236}">
                  <a16:creationId xmlns:a16="http://schemas.microsoft.com/office/drawing/2014/main" id="{B2909B3D-5E3E-5E33-3203-0B1DDFF6423B}"/>
                </a:ext>
              </a:extLst>
            </p:cNvPr>
            <p:cNvCxnSpPr>
              <a:cxnSpLocks/>
            </p:cNvCxnSpPr>
            <p:nvPr/>
          </p:nvCxnSpPr>
          <p:spPr bwMode="gray">
            <a:xfrm>
              <a:off x="2457061" y="5487426"/>
              <a:ext cx="552029"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4" name="Freeform 93">
              <a:extLst>
                <a:ext uri="{FF2B5EF4-FFF2-40B4-BE49-F238E27FC236}">
                  <a16:creationId xmlns:a16="http://schemas.microsoft.com/office/drawing/2014/main" id="{44642F1C-41C4-91BB-F8B3-B40FAA38D34B}"/>
                </a:ext>
              </a:extLst>
            </p:cNvPr>
            <p:cNvSpPr>
              <a:spLocks noChangeAspect="1"/>
            </p:cNvSpPr>
            <p:nvPr/>
          </p:nvSpPr>
          <p:spPr>
            <a:xfrm>
              <a:off x="2249649" y="5400573"/>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5" name="TextBox 94">
              <a:extLst>
                <a:ext uri="{FF2B5EF4-FFF2-40B4-BE49-F238E27FC236}">
                  <a16:creationId xmlns:a16="http://schemas.microsoft.com/office/drawing/2014/main" id="{9C07C47F-C6FD-9B0B-E4A3-5D15CB01641E}"/>
                </a:ext>
              </a:extLst>
            </p:cNvPr>
            <p:cNvSpPr txBox="1"/>
            <p:nvPr/>
          </p:nvSpPr>
          <p:spPr>
            <a:xfrm>
              <a:off x="2539484" y="5479001"/>
              <a:ext cx="546427" cy="179216"/>
            </a:xfrm>
            <a:prstGeom prst="rect">
              <a:avLst/>
            </a:prstGeom>
            <a:noFill/>
          </p:spPr>
          <p:txBody>
            <a:bodyPr wrap="squar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subnet</a:t>
              </a:r>
            </a:p>
          </p:txBody>
        </p:sp>
        <p:cxnSp>
          <p:nvCxnSpPr>
            <p:cNvPr id="111" name="Straight Connector 110">
              <a:extLst>
                <a:ext uri="{FF2B5EF4-FFF2-40B4-BE49-F238E27FC236}">
                  <a16:creationId xmlns:a16="http://schemas.microsoft.com/office/drawing/2014/main" id="{43D9CD55-B026-6A7B-B218-DA2C304BD80F}"/>
                </a:ext>
              </a:extLst>
            </p:cNvPr>
            <p:cNvCxnSpPr>
              <a:cxnSpLocks/>
            </p:cNvCxnSpPr>
            <p:nvPr/>
          </p:nvCxnSpPr>
          <p:spPr bwMode="gray">
            <a:xfrm>
              <a:off x="2973493" y="5693659"/>
              <a:ext cx="588329"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Freeform 111">
              <a:extLst>
                <a:ext uri="{FF2B5EF4-FFF2-40B4-BE49-F238E27FC236}">
                  <a16:creationId xmlns:a16="http://schemas.microsoft.com/office/drawing/2014/main" id="{09391CA9-1755-C461-9882-D6B927CDBDCD}"/>
                </a:ext>
              </a:extLst>
            </p:cNvPr>
            <p:cNvSpPr>
              <a:spLocks noChangeAspect="1"/>
            </p:cNvSpPr>
            <p:nvPr/>
          </p:nvSpPr>
          <p:spPr>
            <a:xfrm>
              <a:off x="3581165" y="5610291"/>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3" name="TextBox 112">
              <a:extLst>
                <a:ext uri="{FF2B5EF4-FFF2-40B4-BE49-F238E27FC236}">
                  <a16:creationId xmlns:a16="http://schemas.microsoft.com/office/drawing/2014/main" id="{C41025EC-A8ED-C7DE-AA00-9965316D70F2}"/>
                </a:ext>
              </a:extLst>
            </p:cNvPr>
            <p:cNvSpPr txBox="1"/>
            <p:nvPr/>
          </p:nvSpPr>
          <p:spPr>
            <a:xfrm>
              <a:off x="3101221" y="5685235"/>
              <a:ext cx="546427" cy="179216"/>
            </a:xfrm>
            <a:prstGeom prst="rect">
              <a:avLst/>
            </a:prstGeom>
            <a:noFill/>
          </p:spPr>
          <p:txBody>
            <a:bodyPr wrap="squar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subnet</a:t>
              </a:r>
            </a:p>
          </p:txBody>
        </p:sp>
      </p:grpSp>
      <p:sp>
        <p:nvSpPr>
          <p:cNvPr id="83" name="TextBox 82">
            <a:extLst>
              <a:ext uri="{FF2B5EF4-FFF2-40B4-BE49-F238E27FC236}">
                <a16:creationId xmlns:a16="http://schemas.microsoft.com/office/drawing/2014/main" id="{4051EAB5-9419-6E17-E2AB-71E89BC48F0A}"/>
              </a:ext>
            </a:extLst>
          </p:cNvPr>
          <p:cNvSpPr txBox="1"/>
          <p:nvPr/>
        </p:nvSpPr>
        <p:spPr>
          <a:xfrm>
            <a:off x="4722813" y="3549156"/>
            <a:ext cx="2171233"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61A60E"/>
                </a:solidFill>
                <a:effectLst/>
                <a:uLnTx/>
                <a:uFillTx/>
                <a:latin typeface="Arial" panose="020B0604020202020204"/>
                <a:ea typeface="+mn-ea"/>
                <a:cs typeface="+mn-cs"/>
              </a:rPr>
              <a:t>Project Admin</a:t>
            </a:r>
          </a:p>
        </p:txBody>
      </p:sp>
      <p:pic>
        <p:nvPicPr>
          <p:cNvPr id="98" name="Google Shape;4667;p52">
            <a:extLst>
              <a:ext uri="{FF2B5EF4-FFF2-40B4-BE49-F238E27FC236}">
                <a16:creationId xmlns:a16="http://schemas.microsoft.com/office/drawing/2014/main" id="{274FDE8A-9FEF-631F-1AEE-E22F3CA61803}"/>
              </a:ext>
            </a:extLst>
          </p:cNvPr>
          <p:cNvPicPr preferRelativeResize="0">
            <a:picLocks noChangeAspect="1"/>
          </p:cNvPicPr>
          <p:nvPr/>
        </p:nvPicPr>
        <p:blipFill rotWithShape="1">
          <a:blip r:embed="rId3">
            <a:alphaModFix/>
            <a:duotone>
              <a:schemeClr val="accent4">
                <a:shade val="45000"/>
                <a:satMod val="135000"/>
              </a:schemeClr>
              <a:prstClr val="white"/>
            </a:duotone>
          </a:blip>
          <a:srcRect/>
          <a:stretch/>
        </p:blipFill>
        <p:spPr>
          <a:xfrm>
            <a:off x="4271368" y="3456266"/>
            <a:ext cx="432000" cy="432000"/>
          </a:xfrm>
          <a:prstGeom prst="rect">
            <a:avLst/>
          </a:prstGeom>
          <a:noFill/>
          <a:ln>
            <a:noFill/>
          </a:ln>
        </p:spPr>
      </p:pic>
      <p:sp>
        <p:nvSpPr>
          <p:cNvPr id="84" name="TextBox 83">
            <a:extLst>
              <a:ext uri="{FF2B5EF4-FFF2-40B4-BE49-F238E27FC236}">
                <a16:creationId xmlns:a16="http://schemas.microsoft.com/office/drawing/2014/main" id="{2C4E16B6-1EF7-271F-1C1E-485BBC67D5C0}"/>
              </a:ext>
            </a:extLst>
          </p:cNvPr>
          <p:cNvSpPr txBox="1"/>
          <p:nvPr/>
        </p:nvSpPr>
        <p:spPr>
          <a:xfrm>
            <a:off x="1800576" y="4596946"/>
            <a:ext cx="1997707" cy="430887"/>
          </a:xfrm>
          <a:prstGeom prst="rect">
            <a:avLst/>
          </a:prstGeom>
          <a:noFill/>
        </p:spPr>
        <p:txBody>
          <a:bodyPr wrap="square" lIns="0" tIns="0" rIns="0" bIns="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t>Create subnets (1click)</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6C4B94"/>
                </a:solidFill>
                <a:effectLst/>
                <a:uLnTx/>
                <a:uFillTx/>
                <a:latin typeface="Arial" panose="020B0604020202020204"/>
                <a:ea typeface="+mn-ea"/>
                <a:cs typeface="+mn-cs"/>
              </a:rPr>
              <a:t>Attach VMs</a:t>
            </a:r>
          </a:p>
        </p:txBody>
      </p:sp>
      <p:pic>
        <p:nvPicPr>
          <p:cNvPr id="99" name="Google Shape;4667;p52">
            <a:extLst>
              <a:ext uri="{FF2B5EF4-FFF2-40B4-BE49-F238E27FC236}">
                <a16:creationId xmlns:a16="http://schemas.microsoft.com/office/drawing/2014/main" id="{E9E1247D-A7F5-A256-9A69-8F2AE2A43376}"/>
              </a:ext>
            </a:extLst>
          </p:cNvPr>
          <p:cNvPicPr preferRelativeResize="0">
            <a:picLocks noChangeAspect="1"/>
          </p:cNvPicPr>
          <p:nvPr/>
        </p:nvPicPr>
        <p:blipFill rotWithShape="1">
          <a:blip r:embed="rId3">
            <a:alphaModFix/>
            <a:duotone>
              <a:schemeClr val="accent5">
                <a:shade val="45000"/>
                <a:satMod val="135000"/>
              </a:schemeClr>
              <a:prstClr val="white"/>
            </a:duotone>
          </a:blip>
          <a:srcRect/>
          <a:stretch/>
        </p:blipFill>
        <p:spPr>
          <a:xfrm>
            <a:off x="4271367" y="4501116"/>
            <a:ext cx="432000" cy="432000"/>
          </a:xfrm>
          <a:prstGeom prst="rect">
            <a:avLst/>
          </a:prstGeom>
          <a:noFill/>
          <a:ln>
            <a:noFill/>
          </a:ln>
        </p:spPr>
      </p:pic>
      <p:grpSp>
        <p:nvGrpSpPr>
          <p:cNvPr id="116" name="VMs">
            <a:extLst>
              <a:ext uri="{FF2B5EF4-FFF2-40B4-BE49-F238E27FC236}">
                <a16:creationId xmlns:a16="http://schemas.microsoft.com/office/drawing/2014/main" id="{29B03A6C-C316-D369-0FB7-9C4B0725BAF9}"/>
              </a:ext>
            </a:extLst>
          </p:cNvPr>
          <p:cNvGrpSpPr/>
          <p:nvPr/>
        </p:nvGrpSpPr>
        <p:grpSpPr>
          <a:xfrm>
            <a:off x="2561721" y="5142107"/>
            <a:ext cx="884393" cy="609197"/>
            <a:chOff x="2600085" y="5078167"/>
            <a:chExt cx="884393" cy="609197"/>
          </a:xfrm>
        </p:grpSpPr>
        <p:grpSp>
          <p:nvGrpSpPr>
            <p:cNvPr id="100" name="Google Shape;3733;p22">
              <a:extLst>
                <a:ext uri="{FF2B5EF4-FFF2-40B4-BE49-F238E27FC236}">
                  <a16:creationId xmlns:a16="http://schemas.microsoft.com/office/drawing/2014/main" id="{90B4FE58-3181-9D4A-591E-ED0B03EA5D9D}"/>
                </a:ext>
              </a:extLst>
            </p:cNvPr>
            <p:cNvGrpSpPr/>
            <p:nvPr/>
          </p:nvGrpSpPr>
          <p:grpSpPr>
            <a:xfrm>
              <a:off x="2600085" y="5078167"/>
              <a:ext cx="269469" cy="269658"/>
              <a:chOff x="658852" y="4954224"/>
              <a:chExt cx="583799" cy="584209"/>
            </a:xfrm>
          </p:grpSpPr>
          <p:sp>
            <p:nvSpPr>
              <p:cNvPr id="101" name="Google Shape;3734;p22">
                <a:extLst>
                  <a:ext uri="{FF2B5EF4-FFF2-40B4-BE49-F238E27FC236}">
                    <a16:creationId xmlns:a16="http://schemas.microsoft.com/office/drawing/2014/main" id="{88DBB343-E70E-648C-4F2C-9A4D6A7E113B}"/>
                  </a:ext>
                </a:extLst>
              </p:cNvPr>
              <p:cNvSpPr/>
              <p:nvPr/>
            </p:nvSpPr>
            <p:spPr>
              <a:xfrm>
                <a:off x="658852" y="4954224"/>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02" name="Google Shape;3735;p22">
                <a:extLst>
                  <a:ext uri="{FF2B5EF4-FFF2-40B4-BE49-F238E27FC236}">
                    <a16:creationId xmlns:a16="http://schemas.microsoft.com/office/drawing/2014/main" id="{AC5271FA-BB75-C97E-4142-B7CFF6C0A3A7}"/>
                  </a:ext>
                </a:extLst>
              </p:cNvPr>
              <p:cNvGrpSpPr/>
              <p:nvPr/>
            </p:nvGrpSpPr>
            <p:grpSpPr>
              <a:xfrm>
                <a:off x="834156" y="5211637"/>
                <a:ext cx="216359" cy="78004"/>
                <a:chOff x="834156" y="5211637"/>
                <a:chExt cx="216359" cy="78004"/>
              </a:xfrm>
            </p:grpSpPr>
            <p:sp>
              <p:nvSpPr>
                <p:cNvPr id="103" name="Google Shape;3736;p22">
                  <a:extLst>
                    <a:ext uri="{FF2B5EF4-FFF2-40B4-BE49-F238E27FC236}">
                      <a16:creationId xmlns:a16="http://schemas.microsoft.com/office/drawing/2014/main" id="{739084DE-C391-38B0-0AC5-FC537DE53EBC}"/>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104" name="Google Shape;3737;p22">
                  <a:extLst>
                    <a:ext uri="{FF2B5EF4-FFF2-40B4-BE49-F238E27FC236}">
                      <a16:creationId xmlns:a16="http://schemas.microsoft.com/office/drawing/2014/main" id="{329C337F-EB8A-919E-5345-949C33532430}"/>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105" name="Straight Connector 104">
              <a:extLst>
                <a:ext uri="{FF2B5EF4-FFF2-40B4-BE49-F238E27FC236}">
                  <a16:creationId xmlns:a16="http://schemas.microsoft.com/office/drawing/2014/main" id="{6D85E784-1F19-CD81-40A6-2C3F804EEB9F}"/>
                </a:ext>
              </a:extLst>
            </p:cNvPr>
            <p:cNvCxnSpPr>
              <a:cxnSpLocks/>
            </p:cNvCxnSpPr>
            <p:nvPr/>
          </p:nvCxnSpPr>
          <p:spPr bwMode="gray">
            <a:xfrm>
              <a:off x="2734820" y="534220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51" name="Google Shape;3733;p22">
              <a:extLst>
                <a:ext uri="{FF2B5EF4-FFF2-40B4-BE49-F238E27FC236}">
                  <a16:creationId xmlns:a16="http://schemas.microsoft.com/office/drawing/2014/main" id="{377A2746-95B1-CC83-96ED-B9DE846BD932}"/>
                </a:ext>
              </a:extLst>
            </p:cNvPr>
            <p:cNvGrpSpPr/>
            <p:nvPr/>
          </p:nvGrpSpPr>
          <p:grpSpPr>
            <a:xfrm>
              <a:off x="3215009" y="5293790"/>
              <a:ext cx="269469" cy="269658"/>
              <a:chOff x="658852" y="4954224"/>
              <a:chExt cx="583799" cy="584209"/>
            </a:xfrm>
          </p:grpSpPr>
          <p:sp>
            <p:nvSpPr>
              <p:cNvPr id="52" name="Google Shape;3734;p22">
                <a:extLst>
                  <a:ext uri="{FF2B5EF4-FFF2-40B4-BE49-F238E27FC236}">
                    <a16:creationId xmlns:a16="http://schemas.microsoft.com/office/drawing/2014/main" id="{05DF98C8-2685-2E90-DE08-6080BDD5BE7E}"/>
                  </a:ext>
                </a:extLst>
              </p:cNvPr>
              <p:cNvSpPr/>
              <p:nvPr/>
            </p:nvSpPr>
            <p:spPr>
              <a:xfrm>
                <a:off x="658852" y="4954224"/>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53" name="Google Shape;3735;p22">
                <a:extLst>
                  <a:ext uri="{FF2B5EF4-FFF2-40B4-BE49-F238E27FC236}">
                    <a16:creationId xmlns:a16="http://schemas.microsoft.com/office/drawing/2014/main" id="{21CC7CB3-A1E1-A5D4-02DF-D9C38AC479E6}"/>
                  </a:ext>
                </a:extLst>
              </p:cNvPr>
              <p:cNvGrpSpPr/>
              <p:nvPr/>
            </p:nvGrpSpPr>
            <p:grpSpPr>
              <a:xfrm>
                <a:off x="834156" y="5211637"/>
                <a:ext cx="216359" cy="78004"/>
                <a:chOff x="834156" y="5211637"/>
                <a:chExt cx="216359" cy="78004"/>
              </a:xfrm>
            </p:grpSpPr>
            <p:sp>
              <p:nvSpPr>
                <p:cNvPr id="54" name="Google Shape;3736;p22">
                  <a:extLst>
                    <a:ext uri="{FF2B5EF4-FFF2-40B4-BE49-F238E27FC236}">
                      <a16:creationId xmlns:a16="http://schemas.microsoft.com/office/drawing/2014/main" id="{97E70E09-7869-8D05-CE74-7B31A165BC62}"/>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56" name="Google Shape;3737;p22">
                  <a:extLst>
                    <a:ext uri="{FF2B5EF4-FFF2-40B4-BE49-F238E27FC236}">
                      <a16:creationId xmlns:a16="http://schemas.microsoft.com/office/drawing/2014/main" id="{2A6203B5-1601-F816-0DA3-0F8CED779928}"/>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57" name="Straight Connector 56">
              <a:extLst>
                <a:ext uri="{FF2B5EF4-FFF2-40B4-BE49-F238E27FC236}">
                  <a16:creationId xmlns:a16="http://schemas.microsoft.com/office/drawing/2014/main" id="{1735674A-E6E6-4705-88E3-B2F4A33B30D6}"/>
                </a:ext>
              </a:extLst>
            </p:cNvPr>
            <p:cNvCxnSpPr>
              <a:cxnSpLocks/>
            </p:cNvCxnSpPr>
            <p:nvPr/>
          </p:nvCxnSpPr>
          <p:spPr bwMode="gray">
            <a:xfrm>
              <a:off x="3349744" y="5557828"/>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grpSp>
        <p:nvGrpSpPr>
          <p:cNvPr id="81" name="VPCs">
            <a:extLst>
              <a:ext uri="{FF2B5EF4-FFF2-40B4-BE49-F238E27FC236}">
                <a16:creationId xmlns:a16="http://schemas.microsoft.com/office/drawing/2014/main" id="{099DE47F-C093-4503-8704-FEF5E8C57C70}"/>
              </a:ext>
            </a:extLst>
          </p:cNvPr>
          <p:cNvGrpSpPr/>
          <p:nvPr/>
        </p:nvGrpSpPr>
        <p:grpSpPr>
          <a:xfrm>
            <a:off x="987012" y="4231532"/>
            <a:ext cx="2913575" cy="1744986"/>
            <a:chOff x="987012" y="4231532"/>
            <a:chExt cx="2913575" cy="1744986"/>
          </a:xfrm>
        </p:grpSpPr>
        <p:pic>
          <p:nvPicPr>
            <p:cNvPr id="92" name="Graphic 91">
              <a:extLst>
                <a:ext uri="{FF2B5EF4-FFF2-40B4-BE49-F238E27FC236}">
                  <a16:creationId xmlns:a16="http://schemas.microsoft.com/office/drawing/2014/main" id="{21059072-93C8-5247-7CC0-5FF59B06FCA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139119" y="4275030"/>
              <a:ext cx="180000" cy="180000"/>
            </a:xfrm>
            <a:prstGeom prst="rect">
              <a:avLst/>
            </a:prstGeom>
          </p:spPr>
        </p:pic>
        <p:sp>
          <p:nvSpPr>
            <p:cNvPr id="11" name="Rounded Rectangle 10">
              <a:extLst>
                <a:ext uri="{FF2B5EF4-FFF2-40B4-BE49-F238E27FC236}">
                  <a16:creationId xmlns:a16="http://schemas.microsoft.com/office/drawing/2014/main" id="{3AAAA8D3-D6F5-E2CF-1A91-240902BC3FCD}"/>
                </a:ext>
              </a:extLst>
            </p:cNvPr>
            <p:cNvSpPr/>
            <p:nvPr/>
          </p:nvSpPr>
          <p:spPr>
            <a:xfrm>
              <a:off x="987012" y="4231532"/>
              <a:ext cx="637174" cy="1744986"/>
            </a:xfrm>
            <a:prstGeom prst="roundRect">
              <a:avLst>
                <a:gd name="adj" fmla="val 4574"/>
              </a:avLst>
            </a:prstGeom>
            <a:no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p>
          </p:txBody>
        </p:sp>
        <p:pic>
          <p:nvPicPr>
            <p:cNvPr id="12" name="Graphic 11">
              <a:extLst>
                <a:ext uri="{FF2B5EF4-FFF2-40B4-BE49-F238E27FC236}">
                  <a16:creationId xmlns:a16="http://schemas.microsoft.com/office/drawing/2014/main" id="{84C3C6EE-27BF-58E8-3F70-C378DD01A08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399387" y="4274235"/>
              <a:ext cx="180000" cy="180000"/>
            </a:xfrm>
            <a:prstGeom prst="rect">
              <a:avLst/>
            </a:prstGeom>
          </p:spPr>
        </p:pic>
        <p:sp>
          <p:nvSpPr>
            <p:cNvPr id="91" name="Rounded Rectangle 90">
              <a:extLst>
                <a:ext uri="{FF2B5EF4-FFF2-40B4-BE49-F238E27FC236}">
                  <a16:creationId xmlns:a16="http://schemas.microsoft.com/office/drawing/2014/main" id="{49C1529D-D57E-6007-480A-5679403C1A96}"/>
                </a:ext>
              </a:extLst>
            </p:cNvPr>
            <p:cNvSpPr/>
            <p:nvPr/>
          </p:nvSpPr>
          <p:spPr>
            <a:xfrm>
              <a:off x="1726490" y="4231532"/>
              <a:ext cx="2174097" cy="1744986"/>
            </a:xfrm>
            <a:prstGeom prst="roundRect">
              <a:avLst>
                <a:gd name="adj" fmla="val 3200"/>
              </a:avLst>
            </a:prstGeom>
            <a:no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p>
          </p:txBody>
        </p:sp>
      </p:grpSp>
      <p:sp>
        <p:nvSpPr>
          <p:cNvPr id="13" name="TextBox 12">
            <a:extLst>
              <a:ext uri="{FF2B5EF4-FFF2-40B4-BE49-F238E27FC236}">
                <a16:creationId xmlns:a16="http://schemas.microsoft.com/office/drawing/2014/main" id="{A1C13FA0-162B-1133-EBB1-0EFD41F9EF61}"/>
              </a:ext>
            </a:extLst>
          </p:cNvPr>
          <p:cNvSpPr txBox="1"/>
          <p:nvPr/>
        </p:nvSpPr>
        <p:spPr>
          <a:xfrm>
            <a:off x="4722813" y="2360421"/>
            <a:ext cx="2343324"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5C8A"/>
                </a:solidFill>
                <a:effectLst/>
                <a:uLnTx/>
                <a:uFillTx/>
                <a:latin typeface="Arial" panose="020B0604020202020204"/>
                <a:ea typeface="+mn-ea"/>
                <a:cs typeface="+mn-cs"/>
              </a:rPr>
              <a:t>Enterprise Admin</a:t>
            </a:r>
          </a:p>
        </p:txBody>
      </p:sp>
      <p:sp>
        <p:nvSpPr>
          <p:cNvPr id="14" name="TextBox 13">
            <a:extLst>
              <a:ext uri="{FF2B5EF4-FFF2-40B4-BE49-F238E27FC236}">
                <a16:creationId xmlns:a16="http://schemas.microsoft.com/office/drawing/2014/main" id="{E0510E44-C2C6-E5BD-E5E3-D4B07F1ACD4D}"/>
              </a:ext>
            </a:extLst>
          </p:cNvPr>
          <p:cNvSpPr txBox="1"/>
          <p:nvPr/>
        </p:nvSpPr>
        <p:spPr>
          <a:xfrm>
            <a:off x="1065213" y="3539528"/>
            <a:ext cx="2743200" cy="430887"/>
          </a:xfrm>
          <a:prstGeom prst="rect">
            <a:avLst/>
          </a:prstGeom>
          <a:noFill/>
        </p:spPr>
        <p:txBody>
          <a:bodyPr wrap="square" lIns="0" tIns="0" rIns="0" bIns="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61A60E"/>
                </a:solidFill>
                <a:effectLst/>
                <a:uLnTx/>
                <a:uFillTx/>
                <a:latin typeface="Arial" panose="020B0604020202020204"/>
                <a:ea typeface="+mn-ea"/>
                <a:cs typeface="+mn-cs"/>
              </a:rPr>
              <a:t>Create VPCs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61A60E"/>
                </a:solidFill>
                <a:effectLst/>
                <a:uLnTx/>
                <a:uFillTx/>
                <a:latin typeface="Arial" panose="020B0604020202020204"/>
                <a:ea typeface="+mn-ea"/>
                <a:cs typeface="+mn-cs"/>
              </a:rPr>
              <a:t>Distribute network resources</a:t>
            </a:r>
          </a:p>
        </p:txBody>
      </p:sp>
      <p:sp>
        <p:nvSpPr>
          <p:cNvPr id="15" name="TextBox 14">
            <a:extLst>
              <a:ext uri="{FF2B5EF4-FFF2-40B4-BE49-F238E27FC236}">
                <a16:creationId xmlns:a16="http://schemas.microsoft.com/office/drawing/2014/main" id="{E6623F94-3317-2336-E136-A0EC572A7E65}"/>
              </a:ext>
            </a:extLst>
          </p:cNvPr>
          <p:cNvSpPr txBox="1"/>
          <p:nvPr/>
        </p:nvSpPr>
        <p:spPr>
          <a:xfrm>
            <a:off x="4722813" y="4594006"/>
            <a:ext cx="2163800"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6C4B94"/>
                </a:solidFill>
                <a:effectLst/>
                <a:uLnTx/>
                <a:uFillTx/>
                <a:latin typeface="Arial" panose="020B0604020202020204"/>
                <a:ea typeface="+mn-ea"/>
                <a:cs typeface="+mn-cs"/>
              </a:rPr>
              <a:t>VPC Admin</a:t>
            </a:r>
          </a:p>
        </p:txBody>
      </p:sp>
      <p:grpSp>
        <p:nvGrpSpPr>
          <p:cNvPr id="31" name="Group 30">
            <a:extLst>
              <a:ext uri="{FF2B5EF4-FFF2-40B4-BE49-F238E27FC236}">
                <a16:creationId xmlns:a16="http://schemas.microsoft.com/office/drawing/2014/main" id="{6E6048A7-BD7F-9E19-A432-F9779BEAB723}"/>
              </a:ext>
            </a:extLst>
          </p:cNvPr>
          <p:cNvGrpSpPr/>
          <p:nvPr/>
        </p:nvGrpSpPr>
        <p:grpSpPr>
          <a:xfrm>
            <a:off x="2098344" y="1939636"/>
            <a:ext cx="686799" cy="117764"/>
            <a:chOff x="2098344" y="1939636"/>
            <a:chExt cx="686799" cy="117764"/>
          </a:xfrm>
        </p:grpSpPr>
        <p:cxnSp>
          <p:nvCxnSpPr>
            <p:cNvPr id="18" name="Straight Connector 17">
              <a:extLst>
                <a:ext uri="{FF2B5EF4-FFF2-40B4-BE49-F238E27FC236}">
                  <a16:creationId xmlns:a16="http://schemas.microsoft.com/office/drawing/2014/main" id="{366C59C1-214A-3A65-374C-36BE30EA134E}"/>
                </a:ext>
              </a:extLst>
            </p:cNvPr>
            <p:cNvCxnSpPr>
              <a:cxnSpLocks/>
            </p:cNvCxnSpPr>
            <p:nvPr/>
          </p:nvCxnSpPr>
          <p:spPr bwMode="gray">
            <a:xfrm flipV="1">
              <a:off x="2098344" y="1939636"/>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34BD8B1-7133-8448-B246-AD93AFD4EE82}"/>
                </a:ext>
              </a:extLst>
            </p:cNvPr>
            <p:cNvCxnSpPr>
              <a:cxnSpLocks/>
            </p:cNvCxnSpPr>
            <p:nvPr/>
          </p:nvCxnSpPr>
          <p:spPr bwMode="gray">
            <a:xfrm flipV="1">
              <a:off x="2785143" y="1939636"/>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5" name="!!bob123">
            <a:extLst>
              <a:ext uri="{FF2B5EF4-FFF2-40B4-BE49-F238E27FC236}">
                <a16:creationId xmlns:a16="http://schemas.microsoft.com/office/drawing/2014/main" id="{3F055DEF-E4F2-A774-635E-A8C7FFB1608D}"/>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flipV="1">
            <a:off x="8372825" y="1589923"/>
            <a:ext cx="3816000"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6" name="!!BOTTOM">
            <a:extLst>
              <a:ext uri="{FF2B5EF4-FFF2-40B4-BE49-F238E27FC236}">
                <a16:creationId xmlns:a16="http://schemas.microsoft.com/office/drawing/2014/main" id="{56B524F8-61B3-6DA0-CA29-7C4683F94EBE}"/>
              </a:ext>
            </a:extLst>
          </p:cNvPr>
          <p:cNvSpPr/>
          <p:nvPr/>
        </p:nvSpPr>
        <p:spPr>
          <a:xfrm rot="10800000" flipV="1">
            <a:off x="608013" y="1600200"/>
            <a:ext cx="3657600" cy="359229"/>
          </a:xfrm>
          <a:prstGeom prst="round2SameRect">
            <a:avLst>
              <a:gd name="adj1" fmla="val 19290"/>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PHYSICAL NETWORK</a:t>
            </a:r>
          </a:p>
        </p:txBody>
      </p:sp>
    </p:spTree>
    <p:extLst>
      <p:ext uri="{BB962C8B-B14F-4D97-AF65-F5344CB8AC3E}">
        <p14:creationId xmlns:p14="http://schemas.microsoft.com/office/powerpoint/2010/main" val="34967240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2">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nodeType="afterEffect">
                                  <p:stCondLst>
                                    <p:cond delay="0"/>
                                  </p:stCondLst>
                                  <p:childTnLst>
                                    <p:set>
                                      <p:cBhvr>
                                        <p:cTn id="11" dur="1" fill="hold">
                                          <p:stCondLst>
                                            <p:cond delay="0"/>
                                          </p:stCondLst>
                                        </p:cTn>
                                        <p:tgtEl>
                                          <p:spTgt spid="82">
                                            <p:txEl>
                                              <p:pRg st="1" end="1"/>
                                            </p:txEl>
                                          </p:spTgt>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1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83">
                                            <p:txEl>
                                              <p:pRg st="0" end="0"/>
                                            </p:txEl>
                                          </p:spTgt>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98"/>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23">
                                            <p:txEl>
                                              <p:pRg st="2" end="2"/>
                                            </p:txEl>
                                          </p:spTgt>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3">
                                            <p:txEl>
                                              <p:pRg st="3" end="3"/>
                                            </p:txEl>
                                          </p:spTgt>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23">
                                            <p:txEl>
                                              <p:pRg st="4" end="4"/>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8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98"/>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14">
                                            <p:txEl>
                                              <p:pRg st="0" end="0"/>
                                            </p:txEl>
                                          </p:spTgt>
                                        </p:tgtEl>
                                        <p:attrNameLst>
                                          <p:attrName>style.visibility</p:attrName>
                                        </p:attrNameLst>
                                      </p:cBhvr>
                                      <p:to>
                                        <p:strVal val="visible"/>
                                      </p:to>
                                    </p:set>
                                  </p:childTnLst>
                                </p:cTn>
                              </p:par>
                            </p:childTnLst>
                          </p:cTn>
                        </p:par>
                        <p:par>
                          <p:cTn id="34" fill="hold">
                            <p:stCondLst>
                              <p:cond delay="0"/>
                            </p:stCondLst>
                            <p:childTnLst>
                              <p:par>
                                <p:cTn id="35" presetID="1" presetClass="entr" presetSubtype="0" fill="hold" nodeType="afterEffect">
                                  <p:stCondLst>
                                    <p:cond delay="0"/>
                                  </p:stCondLst>
                                  <p:childTnLst>
                                    <p:set>
                                      <p:cBhvr>
                                        <p:cTn id="36" dur="1" fill="hold">
                                          <p:stCondLst>
                                            <p:cond delay="0"/>
                                          </p:stCondLst>
                                        </p:cTn>
                                        <p:tgtEl>
                                          <p:spTgt spid="81"/>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14">
                                            <p:txEl>
                                              <p:pRg st="1" end="1"/>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5">
                                            <p:txEl>
                                              <p:pRg st="0" end="0"/>
                                            </p:txEl>
                                          </p:spTgt>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99"/>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99"/>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23">
                                            <p:txEl>
                                              <p:pRg st="5" end="5"/>
                                            </p:txEl>
                                          </p:spTgt>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23">
                                            <p:txEl>
                                              <p:pRg st="6" end="6"/>
                                            </p:txEl>
                                          </p:spTgt>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23">
                                            <p:txEl>
                                              <p:pRg st="7" end="7"/>
                                            </p:txEl>
                                          </p:spTgt>
                                        </p:tgtEl>
                                        <p:attrNameLst>
                                          <p:attrName>style.visibility</p:attrName>
                                        </p:attrNameLst>
                                      </p:cBhvr>
                                      <p:to>
                                        <p:strVal val="visible"/>
                                      </p:to>
                                    </p:set>
                                  </p:childTnLst>
                                </p:cTn>
                              </p:par>
                            </p:childTnLst>
                          </p:cTn>
                        </p:par>
                        <p:par>
                          <p:cTn id="54" fill="hold">
                            <p:stCondLst>
                              <p:cond delay="0"/>
                            </p:stCondLst>
                            <p:childTnLst>
                              <p:par>
                                <p:cTn id="55" presetID="1" presetClass="entr" presetSubtype="0" fill="hold" nodeType="afterEffect">
                                  <p:stCondLst>
                                    <p:cond delay="0"/>
                                  </p:stCondLst>
                                  <p:childTnLst>
                                    <p:set>
                                      <p:cBhvr>
                                        <p:cTn id="56" dur="1" fill="hold">
                                          <p:stCondLst>
                                            <p:cond delay="0"/>
                                          </p:stCondLst>
                                        </p:cTn>
                                        <p:tgtEl>
                                          <p:spTgt spid="84">
                                            <p:txEl>
                                              <p:pRg st="0" end="0"/>
                                            </p:txEl>
                                          </p:spTgt>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15"/>
                                        </p:tgtEl>
                                        <p:attrNameLst>
                                          <p:attrName>style.visibility</p:attrName>
                                        </p:attrNameLst>
                                      </p:cBhvr>
                                      <p:to>
                                        <p:strVal val="visible"/>
                                      </p:to>
                                    </p:set>
                                  </p:childTnLst>
                                </p:cTn>
                              </p:par>
                            </p:childTnLst>
                          </p:cTn>
                        </p:par>
                        <p:par>
                          <p:cTn id="59" fill="hold">
                            <p:stCondLst>
                              <p:cond delay="0"/>
                            </p:stCondLst>
                            <p:childTnLst>
                              <p:par>
                                <p:cTn id="60" presetID="1" presetClass="entr" presetSubtype="0" fill="hold" nodeType="afterEffect">
                                  <p:stCondLst>
                                    <p:cond delay="0"/>
                                  </p:stCondLst>
                                  <p:childTnLst>
                                    <p:set>
                                      <p:cBhvr>
                                        <p:cTn id="61" dur="1" fill="hold">
                                          <p:stCondLst>
                                            <p:cond delay="0"/>
                                          </p:stCondLst>
                                        </p:cTn>
                                        <p:tgtEl>
                                          <p:spTgt spid="84">
                                            <p:txEl>
                                              <p:pRg st="1" end="1"/>
                                            </p:txEl>
                                          </p:spTgt>
                                        </p:tgtEl>
                                        <p:attrNameLst>
                                          <p:attrName>style.visibility</p:attrName>
                                        </p:attrNameLst>
                                      </p:cBhvr>
                                      <p:to>
                                        <p:strVal val="visible"/>
                                      </p:to>
                                    </p:set>
                                  </p:childTnLst>
                                </p:cTn>
                              </p:par>
                            </p:childTnLst>
                          </p:cTn>
                        </p:par>
                        <p:par>
                          <p:cTn id="62" fill="hold">
                            <p:stCondLst>
                              <p:cond delay="0"/>
                            </p:stCondLst>
                            <p:childTnLst>
                              <p:par>
                                <p:cTn id="63" presetID="22" presetClass="entr" presetSubtype="4" fill="hold" nodeType="afterEffect">
                                  <p:stCondLst>
                                    <p:cond delay="0"/>
                                  </p:stCondLst>
                                  <p:childTnLst>
                                    <p:set>
                                      <p:cBhvr>
                                        <p:cTn id="64" dur="1" fill="hold">
                                          <p:stCondLst>
                                            <p:cond delay="0"/>
                                          </p:stCondLst>
                                        </p:cTn>
                                        <p:tgtEl>
                                          <p:spTgt spid="116"/>
                                        </p:tgtEl>
                                        <p:attrNameLst>
                                          <p:attrName>style.visibility</p:attrName>
                                        </p:attrNameLst>
                                      </p:cBhvr>
                                      <p:to>
                                        <p:strVal val="visible"/>
                                      </p:to>
                                    </p:set>
                                    <p:animEffect transition="in" filter="wipe(down)">
                                      <p:cBhvr>
                                        <p:cTn id="65" dur="500"/>
                                        <p:tgtEl>
                                          <p:spTgt spid="116"/>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wipe(left)">
                                      <p:cBhvr>
                                        <p:cTn id="70"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3813B7-220A-CA86-782D-38FEDD4FEB02}"/>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5F9328EB-ADD1-DB34-B8C9-FB55E45EE50B}"/>
              </a:ext>
            </a:extLst>
          </p:cNvPr>
          <p:cNvSpPr>
            <a:spLocks noGrp="1"/>
          </p:cNvSpPr>
          <p:nvPr>
            <p:ph type="title"/>
          </p:nvPr>
        </p:nvSpPr>
        <p:spPr>
          <a:xfrm>
            <a:off x="579809" y="412751"/>
            <a:ext cx="11001004" cy="381000"/>
          </a:xfrm>
        </p:spPr>
        <p:txBody>
          <a:bodyPr/>
          <a:lstStyle/>
          <a:p>
            <a:r>
              <a:rPr lang="en-US" dirty="0"/>
              <a:t>Consume VPCs in vCenter and VCF Automation</a:t>
            </a:r>
          </a:p>
        </p:txBody>
      </p:sp>
      <p:sp>
        <p:nvSpPr>
          <p:cNvPr id="5" name="Subtitle 4">
            <a:extLst>
              <a:ext uri="{FF2B5EF4-FFF2-40B4-BE49-F238E27FC236}">
                <a16:creationId xmlns:a16="http://schemas.microsoft.com/office/drawing/2014/main" id="{BB0D18A0-4816-E855-537D-4476D2FC9A89}"/>
              </a:ext>
            </a:extLst>
          </p:cNvPr>
          <p:cNvSpPr>
            <a:spLocks noGrp="1"/>
          </p:cNvSpPr>
          <p:nvPr>
            <p:ph type="subTitle" idx="10"/>
          </p:nvPr>
        </p:nvSpPr>
        <p:spPr>
          <a:xfrm>
            <a:off x="592866" y="811830"/>
            <a:ext cx="10962687" cy="247743"/>
          </a:xfrm>
        </p:spPr>
        <p:txBody>
          <a:bodyPr/>
          <a:lstStyle/>
          <a:p>
            <a:r>
              <a:rPr lang="en-US"/>
              <a:t>Consistent implementation of Virtual Private Clouds (VPCs) across the platform</a:t>
            </a:r>
            <a:endParaRPr lang="en-US" dirty="0"/>
          </a:p>
        </p:txBody>
      </p:sp>
      <p:sp>
        <p:nvSpPr>
          <p:cNvPr id="23" name="Text Placeholder 22">
            <a:extLst>
              <a:ext uri="{FF2B5EF4-FFF2-40B4-BE49-F238E27FC236}">
                <a16:creationId xmlns:a16="http://schemas.microsoft.com/office/drawing/2014/main" id="{B432C35F-AC67-2A58-6BD0-65E551246373}"/>
              </a:ext>
            </a:extLst>
          </p:cNvPr>
          <p:cNvSpPr>
            <a:spLocks noGrp="1"/>
          </p:cNvSpPr>
          <p:nvPr>
            <p:ph type="body" sz="quarter" idx="4294967295"/>
          </p:nvPr>
        </p:nvSpPr>
        <p:spPr>
          <a:xfrm>
            <a:off x="8380413" y="2057400"/>
            <a:ext cx="3200400" cy="4114800"/>
          </a:xfrm>
        </p:spPr>
        <p:txBody>
          <a:bodyPr/>
          <a:lstStyle/>
          <a:p>
            <a:pPr marL="180000" lvl="0" indent="0"/>
            <a:r>
              <a:rPr lang="en-US" sz="1600" dirty="0">
                <a:solidFill>
                  <a:schemeClr val="accent2"/>
                </a:solidFill>
              </a:rPr>
              <a:t>VPCs can be configured directly from vCenter and VCF Automation</a:t>
            </a:r>
          </a:p>
          <a:p>
            <a:pPr marL="180000" lvl="0" indent="0"/>
            <a:endParaRPr lang="en-US" sz="1600" dirty="0">
              <a:solidFill>
                <a:schemeClr val="accent2"/>
              </a:solidFill>
            </a:endParaRPr>
          </a:p>
          <a:p>
            <a:pPr marL="180000" lvl="0" indent="0"/>
            <a:r>
              <a:rPr lang="en-US" sz="1600" dirty="0">
                <a:solidFill>
                  <a:schemeClr val="accent2"/>
                </a:solidFill>
              </a:rPr>
              <a:t>VPCs and subnets are first-class objects</a:t>
            </a:r>
          </a:p>
          <a:p>
            <a:pPr marL="180000" lvl="0" indent="0"/>
            <a:endParaRPr lang="en-US" sz="1600" dirty="0">
              <a:solidFill>
                <a:schemeClr val="accent2"/>
              </a:solidFill>
            </a:endParaRPr>
          </a:p>
          <a:p>
            <a:pPr marL="180000" lvl="0" indent="0"/>
            <a:r>
              <a:rPr lang="en-US" sz="1600" dirty="0">
                <a:solidFill>
                  <a:schemeClr val="accent2"/>
                </a:solidFill>
              </a:rPr>
              <a:t>Attaching a VM to a subnet is straightforward</a:t>
            </a:r>
          </a:p>
          <a:p>
            <a:pPr lvl="1"/>
            <a:endParaRPr lang="en-US" dirty="0"/>
          </a:p>
        </p:txBody>
      </p:sp>
      <p:grpSp>
        <p:nvGrpSpPr>
          <p:cNvPr id="66" name="Group 65">
            <a:extLst>
              <a:ext uri="{FF2B5EF4-FFF2-40B4-BE49-F238E27FC236}">
                <a16:creationId xmlns:a16="http://schemas.microsoft.com/office/drawing/2014/main" id="{5A68A603-FA6D-C9EF-4DA7-ED19A80884E2}"/>
              </a:ext>
            </a:extLst>
          </p:cNvPr>
          <p:cNvGrpSpPr/>
          <p:nvPr/>
        </p:nvGrpSpPr>
        <p:grpSpPr>
          <a:xfrm>
            <a:off x="591618" y="1598122"/>
            <a:ext cx="7332193" cy="4061460"/>
            <a:chOff x="608013" y="1600200"/>
            <a:chExt cx="7332193" cy="4061460"/>
          </a:xfrm>
        </p:grpSpPr>
        <p:pic>
          <p:nvPicPr>
            <p:cNvPr id="67" name="Picture 66">
              <a:extLst>
                <a:ext uri="{FF2B5EF4-FFF2-40B4-BE49-F238E27FC236}">
                  <a16:creationId xmlns:a16="http://schemas.microsoft.com/office/drawing/2014/main" id="{F1FE034B-BCC5-B39D-6CA7-970A441D4274}"/>
                </a:ext>
              </a:extLst>
            </p:cNvPr>
            <p:cNvPicPr>
              <a:picLocks noChangeAspect="1"/>
            </p:cNvPicPr>
            <p:nvPr/>
          </p:nvPicPr>
          <p:blipFill>
            <a:blip r:embed="rId3"/>
            <a:srcRect r="30334" b="30507"/>
            <a:stretch/>
          </p:blipFill>
          <p:spPr>
            <a:xfrm>
              <a:off x="608013" y="1600200"/>
              <a:ext cx="7332193" cy="4061460"/>
            </a:xfrm>
            <a:prstGeom prst="rect">
              <a:avLst/>
            </a:prstGeom>
            <a:ln w="25400">
              <a:solidFill>
                <a:schemeClr val="tx1">
                  <a:lumMod val="50000"/>
                  <a:lumOff val="50000"/>
                </a:schemeClr>
              </a:solidFill>
            </a:ln>
          </p:spPr>
        </p:pic>
        <p:grpSp>
          <p:nvGrpSpPr>
            <p:cNvPr id="68" name="Group 67">
              <a:extLst>
                <a:ext uri="{FF2B5EF4-FFF2-40B4-BE49-F238E27FC236}">
                  <a16:creationId xmlns:a16="http://schemas.microsoft.com/office/drawing/2014/main" id="{90F3921D-D9A3-E58B-EF17-D9ADE4E7B526}"/>
                </a:ext>
              </a:extLst>
            </p:cNvPr>
            <p:cNvGrpSpPr/>
            <p:nvPr/>
          </p:nvGrpSpPr>
          <p:grpSpPr>
            <a:xfrm>
              <a:off x="976760" y="1623060"/>
              <a:ext cx="6961201" cy="4037644"/>
              <a:chOff x="947234" y="1863111"/>
              <a:chExt cx="6961201" cy="4037644"/>
            </a:xfrm>
          </p:grpSpPr>
          <p:grpSp>
            <p:nvGrpSpPr>
              <p:cNvPr id="69" name="Group 68">
                <a:extLst>
                  <a:ext uri="{FF2B5EF4-FFF2-40B4-BE49-F238E27FC236}">
                    <a16:creationId xmlns:a16="http://schemas.microsoft.com/office/drawing/2014/main" id="{9D9B73F9-920B-7E36-BD2D-318D2C9CBB31}"/>
                  </a:ext>
                </a:extLst>
              </p:cNvPr>
              <p:cNvGrpSpPr/>
              <p:nvPr/>
            </p:nvGrpSpPr>
            <p:grpSpPr>
              <a:xfrm>
                <a:off x="947234" y="2304098"/>
                <a:ext cx="6961201" cy="3596657"/>
                <a:chOff x="947234" y="2304098"/>
                <a:chExt cx="6961201" cy="3596657"/>
              </a:xfrm>
            </p:grpSpPr>
            <p:sp>
              <p:nvSpPr>
                <p:cNvPr id="71" name="Rectangle 70">
                  <a:extLst>
                    <a:ext uri="{FF2B5EF4-FFF2-40B4-BE49-F238E27FC236}">
                      <a16:creationId xmlns:a16="http://schemas.microsoft.com/office/drawing/2014/main" id="{CE4C9AE7-B1E6-0879-AA2E-96E77B1057E7}"/>
                    </a:ext>
                  </a:extLst>
                </p:cNvPr>
                <p:cNvSpPr/>
                <p:nvPr/>
              </p:nvSpPr>
              <p:spPr bwMode="gray">
                <a:xfrm>
                  <a:off x="947234" y="4289574"/>
                  <a:ext cx="1713099" cy="1490217"/>
                </a:xfrm>
                <a:prstGeom prst="rect">
                  <a:avLst/>
                </a:prstGeom>
                <a:solidFill>
                  <a:srgbClr val="FCFEFE"/>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72" name="Rectangle 71">
                  <a:extLst>
                    <a:ext uri="{FF2B5EF4-FFF2-40B4-BE49-F238E27FC236}">
                      <a16:creationId xmlns:a16="http://schemas.microsoft.com/office/drawing/2014/main" id="{FA203323-AD5F-731C-49FF-2E8244FC0B22}"/>
                    </a:ext>
                  </a:extLst>
                </p:cNvPr>
                <p:cNvSpPr/>
                <p:nvPr/>
              </p:nvSpPr>
              <p:spPr bwMode="gray">
                <a:xfrm>
                  <a:off x="4097615" y="2777019"/>
                  <a:ext cx="3810820" cy="3123736"/>
                </a:xfrm>
                <a:prstGeom prst="rect">
                  <a:avLst/>
                </a:prstGeom>
                <a:solidFill>
                  <a:srgbClr val="FCFEFE"/>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pic>
              <p:nvPicPr>
                <p:cNvPr id="73" name="Picture 72">
                  <a:extLst>
                    <a:ext uri="{FF2B5EF4-FFF2-40B4-BE49-F238E27FC236}">
                      <a16:creationId xmlns:a16="http://schemas.microsoft.com/office/drawing/2014/main" id="{E38EDE47-07F2-0B05-3C7F-74C8C08BF8DB}"/>
                    </a:ext>
                  </a:extLst>
                </p:cNvPr>
                <p:cNvPicPr>
                  <a:picLocks noChangeAspect="1"/>
                </p:cNvPicPr>
                <p:nvPr/>
              </p:nvPicPr>
              <p:blipFill>
                <a:blip r:embed="rId4"/>
                <a:stretch>
                  <a:fillRect/>
                </a:stretch>
              </p:blipFill>
              <p:spPr>
                <a:xfrm>
                  <a:off x="4892431" y="2304098"/>
                  <a:ext cx="2934263" cy="3575133"/>
                </a:xfrm>
                <a:prstGeom prst="rect">
                  <a:avLst/>
                </a:prstGeom>
              </p:spPr>
            </p:pic>
          </p:grpSp>
          <p:pic>
            <p:nvPicPr>
              <p:cNvPr id="70" name="Content Placeholder ">
                <a:extLst>
                  <a:ext uri="{FF2B5EF4-FFF2-40B4-BE49-F238E27FC236}">
                    <a16:creationId xmlns:a16="http://schemas.microsoft.com/office/drawing/2014/main" id="{7FDD139C-AF00-FEEA-6903-669CB0930E64}"/>
                  </a:ext>
                </a:extLst>
              </p:cNvPr>
              <p:cNvPicPr>
                <a:picLocks noChangeAspect="1"/>
              </p:cNvPicPr>
              <p:nvPr/>
            </p:nvPicPr>
            <p:blipFill>
              <a:blip r:embed="rId3"/>
              <a:srcRect l="60397" t="4" r="10784" b="93424"/>
              <a:stretch/>
            </p:blipFill>
            <p:spPr bwMode="ltGray">
              <a:xfrm>
                <a:off x="5041900" y="1863111"/>
                <a:ext cx="2844000" cy="360000"/>
              </a:xfrm>
              <a:prstGeom prst="rect">
                <a:avLst/>
              </a:prstGeom>
              <a:ln w="25400" cap="flat" cmpd="sng" algn="ctr">
                <a:solidFill>
                  <a:srgbClr val="2D4048"/>
                </a:solidFill>
                <a:prstDash val="solid"/>
              </a:ln>
            </p:spPr>
            <p:style>
              <a:lnRef idx="2">
                <a:schemeClr val="dk1"/>
              </a:lnRef>
              <a:fillRef idx="1">
                <a:schemeClr val="lt1"/>
              </a:fillRef>
              <a:effectRef idx="0">
                <a:schemeClr val="dk1"/>
              </a:effectRef>
              <a:fontRef idx="minor">
                <a:schemeClr val="dk1"/>
              </a:fontRef>
            </p:style>
          </p:pic>
        </p:grpSp>
      </p:grpSp>
      <p:pic>
        <p:nvPicPr>
          <p:cNvPr id="40" name="Picture 39">
            <a:extLst>
              <a:ext uri="{FF2B5EF4-FFF2-40B4-BE49-F238E27FC236}">
                <a16:creationId xmlns:a16="http://schemas.microsoft.com/office/drawing/2014/main" id="{3FAD18AF-3D01-AEDA-FFBC-B71B8906A0E7}"/>
              </a:ext>
            </a:extLst>
          </p:cNvPr>
          <p:cNvPicPr>
            <a:picLocks noChangeAspect="1"/>
          </p:cNvPicPr>
          <p:nvPr/>
        </p:nvPicPr>
        <p:blipFill>
          <a:blip r:embed="rId5"/>
          <a:stretch>
            <a:fillRect/>
          </a:stretch>
        </p:blipFill>
        <p:spPr>
          <a:xfrm>
            <a:off x="1589927" y="3883680"/>
            <a:ext cx="6117386" cy="2098020"/>
          </a:xfrm>
          <a:prstGeom prst="rect">
            <a:avLst/>
          </a:prstGeom>
        </p:spPr>
        <p:style>
          <a:lnRef idx="2">
            <a:schemeClr val="dk1"/>
          </a:lnRef>
          <a:fillRef idx="1">
            <a:schemeClr val="lt1"/>
          </a:fillRef>
          <a:effectRef idx="0">
            <a:schemeClr val="dk1"/>
          </a:effectRef>
          <a:fontRef idx="minor">
            <a:schemeClr val="dk1"/>
          </a:fontRef>
        </p:style>
      </p:pic>
      <p:sp>
        <p:nvSpPr>
          <p:cNvPr id="39" name="!!bob123">
            <a:extLst>
              <a:ext uri="{FF2B5EF4-FFF2-40B4-BE49-F238E27FC236}">
                <a16:creationId xmlns:a16="http://schemas.microsoft.com/office/drawing/2014/main" id="{1BCF9CB1-8E5E-E322-F8E0-29B26B818496}"/>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flipV="1">
            <a:off x="8372825" y="1589923"/>
            <a:ext cx="3816000"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 name="Rectangle: Rounded Corners 2">
            <a:extLst>
              <a:ext uri="{FF2B5EF4-FFF2-40B4-BE49-F238E27FC236}">
                <a16:creationId xmlns:a16="http://schemas.microsoft.com/office/drawing/2014/main" id="{79852013-F650-5298-D1F6-545C8C83B674}"/>
              </a:ext>
            </a:extLst>
          </p:cNvPr>
          <p:cNvSpPr/>
          <p:nvPr/>
        </p:nvSpPr>
        <p:spPr bwMode="gray">
          <a:xfrm>
            <a:off x="497840" y="1473200"/>
            <a:ext cx="7528560" cy="4621461"/>
          </a:xfrm>
          <a:prstGeom prst="roundRect">
            <a:avLst>
              <a:gd name="adj" fmla="val 2597"/>
            </a:avLst>
          </a:prstGeom>
          <a:noFill/>
          <a:ln w="12700">
            <a:solidFill>
              <a:schemeClr val="bg2">
                <a:lumMod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6832866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F7A489-F6F7-FFD2-610F-396D8AB9BC88}"/>
            </a:ext>
          </a:extLst>
        </p:cNvPr>
        <p:cNvGrpSpPr/>
        <p:nvPr/>
      </p:nvGrpSpPr>
      <p:grpSpPr>
        <a:xfrm>
          <a:off x="0" y="0"/>
          <a:ext cx="0" cy="0"/>
          <a:chOff x="0" y="0"/>
          <a:chExt cx="0" cy="0"/>
        </a:xfrm>
      </p:grpSpPr>
      <p:sp>
        <p:nvSpPr>
          <p:cNvPr id="6" name="!!TOP">
            <a:extLst>
              <a:ext uri="{FF2B5EF4-FFF2-40B4-BE49-F238E27FC236}">
                <a16:creationId xmlns:a16="http://schemas.microsoft.com/office/drawing/2014/main" id="{F8ADBAB0-2BB2-8F1F-452B-4F6C5820B351}"/>
              </a:ext>
            </a:extLst>
          </p:cNvPr>
          <p:cNvSpPr/>
          <p:nvPr/>
        </p:nvSpPr>
        <p:spPr>
          <a:xfrm flipV="1">
            <a:off x="608013" y="2057400"/>
            <a:ext cx="4114800" cy="4114800"/>
          </a:xfrm>
          <a:prstGeom prst="round2SameRect">
            <a:avLst>
              <a:gd name="adj1" fmla="val 4733"/>
              <a:gd name="adj2" fmla="val 0"/>
            </a:avLst>
          </a:prstGeom>
          <a:no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4" name="Title 3">
            <a:extLst>
              <a:ext uri="{FF2B5EF4-FFF2-40B4-BE49-F238E27FC236}">
                <a16:creationId xmlns:a16="http://schemas.microsoft.com/office/drawing/2014/main" id="{F36A29AE-3C0F-A803-614D-B100501CAA60}"/>
              </a:ext>
            </a:extLst>
          </p:cNvPr>
          <p:cNvSpPr>
            <a:spLocks noGrp="1"/>
          </p:cNvSpPr>
          <p:nvPr>
            <p:ph type="title"/>
          </p:nvPr>
        </p:nvSpPr>
        <p:spPr>
          <a:xfrm>
            <a:off x="579809" y="412751"/>
            <a:ext cx="11001004" cy="381000"/>
          </a:xfrm>
        </p:spPr>
        <p:txBody>
          <a:bodyPr/>
          <a:lstStyle/>
          <a:p>
            <a:r>
              <a:rPr lang="en-US" dirty="0"/>
              <a:t>Virtual Network Infrastructure Supporting Each VPC Tier</a:t>
            </a:r>
          </a:p>
        </p:txBody>
      </p:sp>
      <p:sp>
        <p:nvSpPr>
          <p:cNvPr id="15" name="Subtitle 14">
            <a:extLst>
              <a:ext uri="{FF2B5EF4-FFF2-40B4-BE49-F238E27FC236}">
                <a16:creationId xmlns:a16="http://schemas.microsoft.com/office/drawing/2014/main" id="{31BFD2AB-3CBA-F94F-AC16-BB01D695E155}"/>
              </a:ext>
            </a:extLst>
          </p:cNvPr>
          <p:cNvSpPr>
            <a:spLocks noGrp="1"/>
          </p:cNvSpPr>
          <p:nvPr>
            <p:ph type="subTitle" idx="10"/>
          </p:nvPr>
        </p:nvSpPr>
        <p:spPr>
          <a:xfrm>
            <a:off x="592866" y="811830"/>
            <a:ext cx="10962687" cy="247743"/>
          </a:xfrm>
        </p:spPr>
        <p:txBody>
          <a:bodyPr/>
          <a:lstStyle/>
          <a:p>
            <a:r>
              <a:rPr lang="en-US" dirty="0"/>
              <a:t>Logical view</a:t>
            </a:r>
          </a:p>
        </p:txBody>
      </p:sp>
      <p:sp>
        <p:nvSpPr>
          <p:cNvPr id="9" name="Rectangle 8">
            <a:extLst>
              <a:ext uri="{FF2B5EF4-FFF2-40B4-BE49-F238E27FC236}">
                <a16:creationId xmlns:a16="http://schemas.microsoft.com/office/drawing/2014/main" id="{B792B7E5-55DF-DD93-AC13-9C5F11D0E208}"/>
              </a:ext>
            </a:extLst>
          </p:cNvPr>
          <p:cNvSpPr/>
          <p:nvPr/>
        </p:nvSpPr>
        <p:spPr>
          <a:xfrm>
            <a:off x="718956" y="3240157"/>
            <a:ext cx="3908885" cy="2750944"/>
          </a:xfrm>
          <a:prstGeom prst="rect">
            <a:avLst/>
          </a:prstGeom>
          <a:noFill/>
          <a:ln w="25400">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project</a:t>
            </a:r>
          </a:p>
        </p:txBody>
      </p:sp>
      <p:sp>
        <p:nvSpPr>
          <p:cNvPr id="10" name="Freeform 9">
            <a:extLst>
              <a:ext uri="{FF2B5EF4-FFF2-40B4-BE49-F238E27FC236}">
                <a16:creationId xmlns:a16="http://schemas.microsoft.com/office/drawing/2014/main" id="{245350AA-31DA-9E62-93B3-731E3421095B}"/>
              </a:ext>
            </a:extLst>
          </p:cNvPr>
          <p:cNvSpPr>
            <a:spLocks noChangeAspect="1"/>
          </p:cNvSpPr>
          <p:nvPr/>
        </p:nvSpPr>
        <p:spPr>
          <a:xfrm>
            <a:off x="1211950" y="3299854"/>
            <a:ext cx="180033" cy="180000"/>
          </a:xfrm>
          <a:custGeom>
            <a:avLst/>
            <a:gdLst>
              <a:gd name="connsiteX0" fmla="*/ 228433 w 266747"/>
              <a:gd name="connsiteY0" fmla="*/ 213550 h 266700"/>
              <a:gd name="connsiteX1" fmla="*/ 213289 w 266747"/>
              <a:gd name="connsiteY1" fmla="*/ 228695 h 266700"/>
              <a:gd name="connsiteX2" fmla="*/ 228433 w 266747"/>
              <a:gd name="connsiteY2" fmla="*/ 243840 h 266700"/>
              <a:gd name="connsiteX3" fmla="*/ 243578 w 266747"/>
              <a:gd name="connsiteY3" fmla="*/ 228695 h 266700"/>
              <a:gd name="connsiteX4" fmla="*/ 133374 w 266747"/>
              <a:gd name="connsiteY4" fmla="*/ 213550 h 266700"/>
              <a:gd name="connsiteX5" fmla="*/ 118229 w 266747"/>
              <a:gd name="connsiteY5" fmla="*/ 228695 h 266700"/>
              <a:gd name="connsiteX6" fmla="*/ 133374 w 266747"/>
              <a:gd name="connsiteY6" fmla="*/ 243840 h 266700"/>
              <a:gd name="connsiteX7" fmla="*/ 148519 w 266747"/>
              <a:gd name="connsiteY7" fmla="*/ 228695 h 266700"/>
              <a:gd name="connsiteX8" fmla="*/ 38124 w 266747"/>
              <a:gd name="connsiteY8" fmla="*/ 213550 h 266700"/>
              <a:gd name="connsiteX9" fmla="*/ 22979 w 266747"/>
              <a:gd name="connsiteY9" fmla="*/ 228695 h 266700"/>
              <a:gd name="connsiteX10" fmla="*/ 38124 w 266747"/>
              <a:gd name="connsiteY10" fmla="*/ 243840 h 266700"/>
              <a:gd name="connsiteX11" fmla="*/ 53269 w 266747"/>
              <a:gd name="connsiteY11" fmla="*/ 228695 h 266700"/>
              <a:gd name="connsiteX12" fmla="*/ 123754 w 266747"/>
              <a:gd name="connsiteY12" fmla="*/ 76200 h 266700"/>
              <a:gd name="connsiteX13" fmla="*/ 142708 w 266747"/>
              <a:gd name="connsiteY13" fmla="*/ 76200 h 266700"/>
              <a:gd name="connsiteX14" fmla="*/ 142708 w 266747"/>
              <a:gd name="connsiteY14" fmla="*/ 152400 h 266700"/>
              <a:gd name="connsiteX15" fmla="*/ 228433 w 266747"/>
              <a:gd name="connsiteY15" fmla="*/ 152400 h 266700"/>
              <a:gd name="connsiteX16" fmla="*/ 237958 w 266747"/>
              <a:gd name="connsiteY16" fmla="*/ 161925 h 266700"/>
              <a:gd name="connsiteX17" fmla="*/ 237958 w 266747"/>
              <a:gd name="connsiteY17" fmla="*/ 196120 h 266700"/>
              <a:gd name="connsiteX18" fmla="*/ 263771 w 266747"/>
              <a:gd name="connsiteY18" fmla="*/ 221933 h 266700"/>
              <a:gd name="connsiteX19" fmla="*/ 263962 w 266747"/>
              <a:gd name="connsiteY19" fmla="*/ 221933 h 266700"/>
              <a:gd name="connsiteX20" fmla="*/ 263962 w 266747"/>
              <a:gd name="connsiteY20" fmla="*/ 235363 h 266700"/>
              <a:gd name="connsiteX21" fmla="*/ 235387 w 266747"/>
              <a:gd name="connsiteY21" fmla="*/ 263938 h 266700"/>
              <a:gd name="connsiteX22" fmla="*/ 228624 w 266747"/>
              <a:gd name="connsiteY22" fmla="*/ 266700 h 266700"/>
              <a:gd name="connsiteX23" fmla="*/ 221861 w 266747"/>
              <a:gd name="connsiteY23" fmla="*/ 263938 h 266700"/>
              <a:gd name="connsiteX24" fmla="*/ 193286 w 266747"/>
              <a:gd name="connsiteY24" fmla="*/ 235363 h 266700"/>
              <a:gd name="connsiteX25" fmla="*/ 193286 w 266747"/>
              <a:gd name="connsiteY25" fmla="*/ 221933 h 266700"/>
              <a:gd name="connsiteX26" fmla="*/ 219099 w 266747"/>
              <a:gd name="connsiteY26" fmla="*/ 196120 h 266700"/>
              <a:gd name="connsiteX27" fmla="*/ 219099 w 266747"/>
              <a:gd name="connsiteY27" fmla="*/ 171450 h 266700"/>
              <a:gd name="connsiteX28" fmla="*/ 142899 w 266747"/>
              <a:gd name="connsiteY28" fmla="*/ 171450 h 266700"/>
              <a:gd name="connsiteX29" fmla="*/ 142899 w 266747"/>
              <a:gd name="connsiteY29" fmla="*/ 195929 h 266700"/>
              <a:gd name="connsiteX30" fmla="*/ 168807 w 266747"/>
              <a:gd name="connsiteY30" fmla="*/ 221837 h 266700"/>
              <a:gd name="connsiteX31" fmla="*/ 168807 w 266747"/>
              <a:gd name="connsiteY31" fmla="*/ 235268 h 266700"/>
              <a:gd name="connsiteX32" fmla="*/ 140232 w 266747"/>
              <a:gd name="connsiteY32" fmla="*/ 263843 h 266700"/>
              <a:gd name="connsiteX33" fmla="*/ 133469 w 266747"/>
              <a:gd name="connsiteY33" fmla="*/ 266605 h 266700"/>
              <a:gd name="connsiteX34" fmla="*/ 126706 w 266747"/>
              <a:gd name="connsiteY34" fmla="*/ 263843 h 266700"/>
              <a:gd name="connsiteX35" fmla="*/ 98131 w 266747"/>
              <a:gd name="connsiteY35" fmla="*/ 235268 h 266700"/>
              <a:gd name="connsiteX36" fmla="*/ 98131 w 266747"/>
              <a:gd name="connsiteY36" fmla="*/ 221837 h 266700"/>
              <a:gd name="connsiteX37" fmla="*/ 123754 w 266747"/>
              <a:gd name="connsiteY37" fmla="*/ 196215 h 266700"/>
              <a:gd name="connsiteX38" fmla="*/ 123754 w 266747"/>
              <a:gd name="connsiteY38" fmla="*/ 171450 h 266700"/>
              <a:gd name="connsiteX39" fmla="*/ 47554 w 266747"/>
              <a:gd name="connsiteY39" fmla="*/ 171450 h 266700"/>
              <a:gd name="connsiteX40" fmla="*/ 47554 w 266747"/>
              <a:gd name="connsiteY40" fmla="*/ 195929 h 266700"/>
              <a:gd name="connsiteX41" fmla="*/ 73462 w 266747"/>
              <a:gd name="connsiteY41" fmla="*/ 221837 h 266700"/>
              <a:gd name="connsiteX42" fmla="*/ 73462 w 266747"/>
              <a:gd name="connsiteY42" fmla="*/ 235268 h 266700"/>
              <a:gd name="connsiteX43" fmla="*/ 44887 w 266747"/>
              <a:gd name="connsiteY43" fmla="*/ 263843 h 266700"/>
              <a:gd name="connsiteX44" fmla="*/ 38124 w 266747"/>
              <a:gd name="connsiteY44" fmla="*/ 266605 h 266700"/>
              <a:gd name="connsiteX45" fmla="*/ 31361 w 266747"/>
              <a:gd name="connsiteY45" fmla="*/ 263843 h 266700"/>
              <a:gd name="connsiteX46" fmla="*/ 2786 w 266747"/>
              <a:gd name="connsiteY46" fmla="*/ 235268 h 266700"/>
              <a:gd name="connsiteX47" fmla="*/ 2786 w 266747"/>
              <a:gd name="connsiteY47" fmla="*/ 221837 h 266700"/>
              <a:gd name="connsiteX48" fmla="*/ 28408 w 266747"/>
              <a:gd name="connsiteY48" fmla="*/ 196215 h 266700"/>
              <a:gd name="connsiteX49" fmla="*/ 28408 w 266747"/>
              <a:gd name="connsiteY49" fmla="*/ 161925 h 266700"/>
              <a:gd name="connsiteX50" fmla="*/ 37933 w 266747"/>
              <a:gd name="connsiteY50" fmla="*/ 152400 h 266700"/>
              <a:gd name="connsiteX51" fmla="*/ 123754 w 266747"/>
              <a:gd name="connsiteY51" fmla="*/ 152400 h 266700"/>
              <a:gd name="connsiteX52" fmla="*/ 133183 w 266747"/>
              <a:gd name="connsiteY52" fmla="*/ 0 h 266700"/>
              <a:gd name="connsiteX53" fmla="*/ 197668 w 266747"/>
              <a:gd name="connsiteY53" fmla="*/ 50006 h 266700"/>
              <a:gd name="connsiteX54" fmla="*/ 206621 w 266747"/>
              <a:gd name="connsiteY54" fmla="*/ 48958 h 266700"/>
              <a:gd name="connsiteX55" fmla="*/ 248817 w 266747"/>
              <a:gd name="connsiteY55" fmla="*/ 91154 h 266700"/>
              <a:gd name="connsiteX56" fmla="*/ 206621 w 266747"/>
              <a:gd name="connsiteY56" fmla="*/ 133350 h 266700"/>
              <a:gd name="connsiteX57" fmla="*/ 161854 w 266747"/>
              <a:gd name="connsiteY57" fmla="*/ 133350 h 266700"/>
              <a:gd name="connsiteX58" fmla="*/ 161854 w 266747"/>
              <a:gd name="connsiteY58" fmla="*/ 114300 h 266700"/>
              <a:gd name="connsiteX59" fmla="*/ 206621 w 266747"/>
              <a:gd name="connsiteY59" fmla="*/ 114300 h 266700"/>
              <a:gd name="connsiteX60" fmla="*/ 229767 w 266747"/>
              <a:gd name="connsiteY60" fmla="*/ 91154 h 266700"/>
              <a:gd name="connsiteX61" fmla="*/ 206621 w 266747"/>
              <a:gd name="connsiteY61" fmla="*/ 68008 h 266700"/>
              <a:gd name="connsiteX62" fmla="*/ 195001 w 266747"/>
              <a:gd name="connsiteY62" fmla="*/ 71342 h 266700"/>
              <a:gd name="connsiteX63" fmla="*/ 185666 w 266747"/>
              <a:gd name="connsiteY63" fmla="*/ 71533 h 266700"/>
              <a:gd name="connsiteX64" fmla="*/ 180618 w 266747"/>
              <a:gd name="connsiteY64" fmla="*/ 63722 h 266700"/>
              <a:gd name="connsiteX65" fmla="*/ 133183 w 266747"/>
              <a:gd name="connsiteY65" fmla="*/ 19050 h 266700"/>
              <a:gd name="connsiteX66" fmla="*/ 89273 w 266747"/>
              <a:gd name="connsiteY66" fmla="*/ 48101 h 266700"/>
              <a:gd name="connsiteX67" fmla="*/ 77557 w 266747"/>
              <a:gd name="connsiteY67" fmla="*/ 53435 h 266700"/>
              <a:gd name="connsiteX68" fmla="*/ 67842 w 266747"/>
              <a:gd name="connsiteY68" fmla="*/ 51721 h 266700"/>
              <a:gd name="connsiteX69" fmla="*/ 36505 w 266747"/>
              <a:gd name="connsiteY69" fmla="*/ 83058 h 266700"/>
              <a:gd name="connsiteX70" fmla="*/ 67842 w 266747"/>
              <a:gd name="connsiteY70" fmla="*/ 114395 h 266700"/>
              <a:gd name="connsiteX71" fmla="*/ 104704 w 266747"/>
              <a:gd name="connsiteY71" fmla="*/ 114395 h 266700"/>
              <a:gd name="connsiteX72" fmla="*/ 104704 w 266747"/>
              <a:gd name="connsiteY72" fmla="*/ 133445 h 266700"/>
              <a:gd name="connsiteX73" fmla="*/ 67937 w 266747"/>
              <a:gd name="connsiteY73" fmla="*/ 133445 h 266700"/>
              <a:gd name="connsiteX74" fmla="*/ 17550 w 266747"/>
              <a:gd name="connsiteY74" fmla="*/ 83058 h 266700"/>
              <a:gd name="connsiteX75" fmla="*/ 67937 w 266747"/>
              <a:gd name="connsiteY75" fmla="*/ 32671 h 266700"/>
              <a:gd name="connsiteX76" fmla="*/ 75462 w 266747"/>
              <a:gd name="connsiteY76" fmla="*/ 33338 h 266700"/>
              <a:gd name="connsiteX77" fmla="*/ 133183 w 266747"/>
              <a:gd name="connsiteY77"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66747" h="266700">
                <a:moveTo>
                  <a:pt x="228433" y="213550"/>
                </a:moveTo>
                <a:lnTo>
                  <a:pt x="213289" y="228695"/>
                </a:lnTo>
                <a:lnTo>
                  <a:pt x="228433" y="243840"/>
                </a:lnTo>
                <a:lnTo>
                  <a:pt x="243578" y="228695"/>
                </a:lnTo>
                <a:close/>
                <a:moveTo>
                  <a:pt x="133374" y="213550"/>
                </a:moveTo>
                <a:lnTo>
                  <a:pt x="118229" y="228695"/>
                </a:lnTo>
                <a:lnTo>
                  <a:pt x="133374" y="243840"/>
                </a:lnTo>
                <a:lnTo>
                  <a:pt x="148519" y="228695"/>
                </a:lnTo>
                <a:close/>
                <a:moveTo>
                  <a:pt x="38124" y="213550"/>
                </a:moveTo>
                <a:lnTo>
                  <a:pt x="22979" y="228695"/>
                </a:lnTo>
                <a:lnTo>
                  <a:pt x="38124" y="243840"/>
                </a:lnTo>
                <a:lnTo>
                  <a:pt x="53269" y="228695"/>
                </a:lnTo>
                <a:close/>
                <a:moveTo>
                  <a:pt x="123754" y="76200"/>
                </a:moveTo>
                <a:lnTo>
                  <a:pt x="142708" y="76200"/>
                </a:lnTo>
                <a:lnTo>
                  <a:pt x="142708" y="152400"/>
                </a:lnTo>
                <a:lnTo>
                  <a:pt x="228433" y="152400"/>
                </a:lnTo>
                <a:cubicBezTo>
                  <a:pt x="233672" y="152400"/>
                  <a:pt x="237958" y="156686"/>
                  <a:pt x="237958" y="161925"/>
                </a:cubicBezTo>
                <a:lnTo>
                  <a:pt x="237958" y="196120"/>
                </a:lnTo>
                <a:lnTo>
                  <a:pt x="263771" y="221933"/>
                </a:lnTo>
                <a:lnTo>
                  <a:pt x="263962" y="221933"/>
                </a:lnTo>
                <a:cubicBezTo>
                  <a:pt x="267676" y="225647"/>
                  <a:pt x="267676" y="231648"/>
                  <a:pt x="263962" y="235363"/>
                </a:cubicBezTo>
                <a:lnTo>
                  <a:pt x="235387" y="263938"/>
                </a:lnTo>
                <a:cubicBezTo>
                  <a:pt x="233482" y="265748"/>
                  <a:pt x="231100" y="266700"/>
                  <a:pt x="228624" y="266700"/>
                </a:cubicBezTo>
                <a:cubicBezTo>
                  <a:pt x="226147" y="266700"/>
                  <a:pt x="223766" y="265843"/>
                  <a:pt x="221861" y="263938"/>
                </a:cubicBezTo>
                <a:lnTo>
                  <a:pt x="193286" y="235363"/>
                </a:lnTo>
                <a:cubicBezTo>
                  <a:pt x="189571" y="231648"/>
                  <a:pt x="189571" y="225647"/>
                  <a:pt x="193286" y="221933"/>
                </a:cubicBezTo>
                <a:lnTo>
                  <a:pt x="219099" y="196120"/>
                </a:lnTo>
                <a:lnTo>
                  <a:pt x="219099" y="171450"/>
                </a:lnTo>
                <a:lnTo>
                  <a:pt x="142899" y="171450"/>
                </a:lnTo>
                <a:lnTo>
                  <a:pt x="142899" y="195929"/>
                </a:lnTo>
                <a:lnTo>
                  <a:pt x="168807" y="221837"/>
                </a:lnTo>
                <a:cubicBezTo>
                  <a:pt x="172522" y="225552"/>
                  <a:pt x="172522" y="231553"/>
                  <a:pt x="168807" y="235268"/>
                </a:cubicBezTo>
                <a:lnTo>
                  <a:pt x="140232" y="263843"/>
                </a:lnTo>
                <a:cubicBezTo>
                  <a:pt x="138327" y="265652"/>
                  <a:pt x="135946" y="266605"/>
                  <a:pt x="133469" y="266605"/>
                </a:cubicBezTo>
                <a:cubicBezTo>
                  <a:pt x="130993" y="266605"/>
                  <a:pt x="128611" y="265748"/>
                  <a:pt x="126706" y="263843"/>
                </a:cubicBezTo>
                <a:lnTo>
                  <a:pt x="98131" y="235268"/>
                </a:lnTo>
                <a:cubicBezTo>
                  <a:pt x="94417" y="231553"/>
                  <a:pt x="94417" y="225552"/>
                  <a:pt x="98131" y="221837"/>
                </a:cubicBezTo>
                <a:lnTo>
                  <a:pt x="123754" y="196215"/>
                </a:lnTo>
                <a:lnTo>
                  <a:pt x="123754" y="171450"/>
                </a:lnTo>
                <a:lnTo>
                  <a:pt x="47554" y="171450"/>
                </a:lnTo>
                <a:lnTo>
                  <a:pt x="47554" y="195929"/>
                </a:lnTo>
                <a:lnTo>
                  <a:pt x="73462" y="221837"/>
                </a:lnTo>
                <a:cubicBezTo>
                  <a:pt x="77176" y="225552"/>
                  <a:pt x="77176" y="231553"/>
                  <a:pt x="73462" y="235268"/>
                </a:cubicBezTo>
                <a:lnTo>
                  <a:pt x="44887" y="263843"/>
                </a:lnTo>
                <a:cubicBezTo>
                  <a:pt x="42982" y="265652"/>
                  <a:pt x="40600" y="266605"/>
                  <a:pt x="38124" y="266605"/>
                </a:cubicBezTo>
                <a:cubicBezTo>
                  <a:pt x="35647" y="266605"/>
                  <a:pt x="33266" y="265748"/>
                  <a:pt x="31361" y="263843"/>
                </a:cubicBezTo>
                <a:lnTo>
                  <a:pt x="2786" y="235268"/>
                </a:lnTo>
                <a:cubicBezTo>
                  <a:pt x="-929" y="231553"/>
                  <a:pt x="-929" y="225552"/>
                  <a:pt x="2786" y="221837"/>
                </a:cubicBezTo>
                <a:lnTo>
                  <a:pt x="28408" y="196215"/>
                </a:lnTo>
                <a:lnTo>
                  <a:pt x="28408" y="161925"/>
                </a:lnTo>
                <a:cubicBezTo>
                  <a:pt x="28408" y="156686"/>
                  <a:pt x="32695" y="152400"/>
                  <a:pt x="37933" y="152400"/>
                </a:cubicBezTo>
                <a:lnTo>
                  <a:pt x="123754" y="152400"/>
                </a:lnTo>
                <a:close/>
                <a:moveTo>
                  <a:pt x="133183" y="0"/>
                </a:moveTo>
                <a:cubicBezTo>
                  <a:pt x="163949" y="0"/>
                  <a:pt x="190238" y="21145"/>
                  <a:pt x="197668" y="50006"/>
                </a:cubicBezTo>
                <a:cubicBezTo>
                  <a:pt x="200621" y="49340"/>
                  <a:pt x="203573" y="48958"/>
                  <a:pt x="206621" y="48958"/>
                </a:cubicBezTo>
                <a:cubicBezTo>
                  <a:pt x="229862" y="48958"/>
                  <a:pt x="248817" y="67913"/>
                  <a:pt x="248817" y="91154"/>
                </a:cubicBezTo>
                <a:cubicBezTo>
                  <a:pt x="248817" y="114395"/>
                  <a:pt x="229862" y="133350"/>
                  <a:pt x="206621" y="133350"/>
                </a:cubicBezTo>
                <a:lnTo>
                  <a:pt x="161854" y="133350"/>
                </a:lnTo>
                <a:lnTo>
                  <a:pt x="161854" y="114300"/>
                </a:lnTo>
                <a:lnTo>
                  <a:pt x="206621" y="114300"/>
                </a:lnTo>
                <a:cubicBezTo>
                  <a:pt x="219385" y="114300"/>
                  <a:pt x="229767" y="103918"/>
                  <a:pt x="229767" y="91154"/>
                </a:cubicBezTo>
                <a:cubicBezTo>
                  <a:pt x="229767" y="78391"/>
                  <a:pt x="219385" y="68008"/>
                  <a:pt x="206621" y="68008"/>
                </a:cubicBezTo>
                <a:cubicBezTo>
                  <a:pt x="202621" y="68008"/>
                  <a:pt x="198716" y="69152"/>
                  <a:pt x="195001" y="71342"/>
                </a:cubicBezTo>
                <a:cubicBezTo>
                  <a:pt x="192143" y="72962"/>
                  <a:pt x="188619" y="73057"/>
                  <a:pt x="185666" y="71533"/>
                </a:cubicBezTo>
                <a:cubicBezTo>
                  <a:pt x="182714" y="70009"/>
                  <a:pt x="180809" y="67056"/>
                  <a:pt x="180618" y="63722"/>
                </a:cubicBezTo>
                <a:cubicBezTo>
                  <a:pt x="179094" y="38671"/>
                  <a:pt x="158234" y="19050"/>
                  <a:pt x="133183" y="19050"/>
                </a:cubicBezTo>
                <a:cubicBezTo>
                  <a:pt x="113943" y="19050"/>
                  <a:pt x="96798" y="30480"/>
                  <a:pt x="89273" y="48101"/>
                </a:cubicBezTo>
                <a:cubicBezTo>
                  <a:pt x="87368" y="52673"/>
                  <a:pt x="82225" y="54959"/>
                  <a:pt x="77557" y="53435"/>
                </a:cubicBezTo>
                <a:cubicBezTo>
                  <a:pt x="74033" y="52292"/>
                  <a:pt x="70795" y="51721"/>
                  <a:pt x="67842" y="51721"/>
                </a:cubicBezTo>
                <a:cubicBezTo>
                  <a:pt x="50506" y="51721"/>
                  <a:pt x="36505" y="65723"/>
                  <a:pt x="36505" y="83058"/>
                </a:cubicBezTo>
                <a:cubicBezTo>
                  <a:pt x="36505" y="100394"/>
                  <a:pt x="50602" y="114395"/>
                  <a:pt x="67842" y="114395"/>
                </a:cubicBezTo>
                <a:lnTo>
                  <a:pt x="104704" y="114395"/>
                </a:lnTo>
                <a:lnTo>
                  <a:pt x="104704" y="133445"/>
                </a:lnTo>
                <a:lnTo>
                  <a:pt x="67937" y="133445"/>
                </a:lnTo>
                <a:cubicBezTo>
                  <a:pt x="40124" y="133445"/>
                  <a:pt x="17550" y="110871"/>
                  <a:pt x="17550" y="83058"/>
                </a:cubicBezTo>
                <a:cubicBezTo>
                  <a:pt x="17550" y="55245"/>
                  <a:pt x="40219" y="32671"/>
                  <a:pt x="67937" y="32671"/>
                </a:cubicBezTo>
                <a:cubicBezTo>
                  <a:pt x="70414" y="32671"/>
                  <a:pt x="72890" y="32861"/>
                  <a:pt x="75462" y="33338"/>
                </a:cubicBezTo>
                <a:cubicBezTo>
                  <a:pt x="87273" y="12859"/>
                  <a:pt x="109085" y="0"/>
                  <a:pt x="133183" y="0"/>
                </a:cubicBezTo>
                <a:close/>
              </a:path>
            </a:pathLst>
          </a:custGeom>
          <a:solidFill>
            <a:schemeClr val="accent4"/>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 name="Text Placeholder 22">
            <a:extLst>
              <a:ext uri="{FF2B5EF4-FFF2-40B4-BE49-F238E27FC236}">
                <a16:creationId xmlns:a16="http://schemas.microsoft.com/office/drawing/2014/main" id="{6EE3AD0A-A735-5DD7-4D85-B92963B14B1F}"/>
              </a:ext>
            </a:extLst>
          </p:cNvPr>
          <p:cNvSpPr txBox="1">
            <a:spLocks/>
          </p:cNvSpPr>
          <p:nvPr/>
        </p:nvSpPr>
        <p:spPr>
          <a:xfrm>
            <a:off x="5180013" y="2057400"/>
            <a:ext cx="6719544" cy="4114799"/>
          </a:xfrm>
          <a:prstGeom prst="rect">
            <a:avLst/>
          </a:prstGeom>
        </p:spPr>
        <p:txBody>
          <a:bodyPr/>
          <a:lstStyle>
            <a:lvl1pPr marL="0" indent="0" algn="l" defTabSz="914400" rtl="0" eaLnBrk="1" latinLnBrk="0" hangingPunct="1">
              <a:lnSpc>
                <a:spcPct val="100000"/>
              </a:lnSpc>
              <a:spcBef>
                <a:spcPts val="0"/>
              </a:spcBef>
              <a:spcAft>
                <a:spcPts val="600"/>
              </a:spcAft>
              <a:buClr>
                <a:schemeClr val="tx1">
                  <a:lumMod val="60000"/>
                  <a:lumOff val="40000"/>
                </a:schemeClr>
              </a:buClr>
              <a:buSzPct val="90000"/>
              <a:buFont typeface="Arial" panose="020B0604020202020204" pitchFamily="34" charset="0"/>
              <a:buChar char="​"/>
              <a:defRPr sz="2000" kern="1200">
                <a:solidFill>
                  <a:schemeClr val="tx1"/>
                </a:solidFill>
                <a:latin typeface="+mn-lt"/>
                <a:ea typeface="+mn-ea"/>
                <a:cs typeface="+mn-cs"/>
              </a:defRPr>
            </a:lvl1pPr>
            <a:lvl2pPr marL="457200" indent="-1841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800" kern="1200">
                <a:solidFill>
                  <a:schemeClr val="tx1"/>
                </a:solidFill>
                <a:latin typeface="+mn-lt"/>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defRPr sz="1600" kern="1200">
                <a:solidFill>
                  <a:schemeClr val="tx1"/>
                </a:solidFill>
                <a:latin typeface="+mn-lt"/>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defRPr sz="1400" kern="1200">
                <a:solidFill>
                  <a:schemeClr val="tx1"/>
                </a:solidFill>
                <a:latin typeface="+mn-lt"/>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Char char="–"/>
              <a:tabLst/>
              <a:defRPr sz="1400" kern="1200">
                <a:solidFill>
                  <a:schemeClr val="tx1"/>
                </a:solidFill>
                <a:latin typeface="+mn-lt"/>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System Font Regular"/>
              <a:buChar char="-"/>
              <a:tabLst/>
              <a:defRPr sz="14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5C8A"/>
                </a:solidFill>
                <a:effectLst/>
                <a:uLnTx/>
                <a:uFillTx/>
                <a:latin typeface="Arial" panose="020B0604020202020204"/>
                <a:ea typeface="+mn-ea"/>
                <a:cs typeface="+mn-cs"/>
              </a:rPr>
              <a:t>The enterprise admin creates external connections</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They represent connectivity to the physical network</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Can be a </a:t>
            </a: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centralized</a:t>
            </a: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 (tied to a Tier0 GW) or </a:t>
            </a: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distributed </a:t>
            </a: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(VLAN/VXLAN)</a:t>
            </a:r>
          </a:p>
          <a:p>
            <a:pPr marL="0" marR="0" lvl="0" indent="0" algn="l" defTabSz="914400" rtl="0" eaLnBrk="1" fontAlgn="auto" latinLnBrk="0" hangingPunct="1">
              <a:lnSpc>
                <a:spcPct val="100000"/>
              </a:lnSpc>
              <a:spcBef>
                <a:spcPts val="0"/>
              </a:spcBef>
              <a:spcAft>
                <a:spcPts val="6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5C8A"/>
                </a:solidFill>
                <a:effectLst/>
                <a:uLnTx/>
                <a:uFillTx/>
                <a:latin typeface="Arial" panose="020B0604020202020204"/>
                <a:ea typeface="+mn-ea"/>
                <a:cs typeface="+mn-cs"/>
              </a:rPr>
              <a:t>The transit gateways (TGW)</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Owned by the project admin</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centralized</a:t>
            </a: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 (CTGW) or </a:t>
            </a:r>
            <a:r>
              <a:rPr kumimoji="0" lang="en-US" sz="1400" b="1" i="0" u="none" strike="noStrike" kern="1200" cap="none" spc="0" normalizeH="0" baseline="0" noProof="0" dirty="0">
                <a:ln>
                  <a:noFill/>
                </a:ln>
                <a:solidFill>
                  <a:srgbClr val="005C8A"/>
                </a:solidFill>
                <a:effectLst/>
                <a:uLnTx/>
                <a:uFillTx/>
                <a:latin typeface="Arial" panose="020B0604020202020204"/>
                <a:ea typeface="+mn-ea"/>
                <a:cs typeface="+mn-cs"/>
              </a:rPr>
              <a:t>distributed </a:t>
            </a: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(DTGW) based on the external connection selected by the project admin for N/S connectivity</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Mix and match centralized/distributed possible in each project</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Centralized TGW can attach to multiple centralized external connections</a:t>
            </a:r>
          </a:p>
          <a:p>
            <a:pPr marL="0" marR="0" lvl="0" indent="0" algn="l" defTabSz="914400" rtl="0" eaLnBrk="1" fontAlgn="auto" latinLnBrk="0" hangingPunct="1">
              <a:lnSpc>
                <a:spcPct val="100000"/>
              </a:lnSpc>
              <a:spcBef>
                <a:spcPts val="0"/>
              </a:spcBef>
              <a:spcAft>
                <a:spcPts val="6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5C8A"/>
                </a:solidFill>
                <a:effectLst/>
                <a:uLnTx/>
                <a:uFillTx/>
                <a:latin typeface="Arial" panose="020B0604020202020204"/>
                <a:ea typeface="+mn-ea"/>
                <a:cs typeface="+mn-cs"/>
              </a:rPr>
              <a:t>The Virtual Private Cloud gateway (VPC GW)</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Local to a VPC</a:t>
            </a:r>
          </a:p>
          <a:p>
            <a:pPr marL="457200" marR="0" lvl="1" indent="-18415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Char char="•"/>
              <a:tabLst/>
              <a:defRPr/>
            </a:pPr>
            <a:r>
              <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rPr>
              <a:t>The transit gateway interconnects the VPC gateways within a project</a:t>
            </a:r>
          </a:p>
          <a:p>
            <a:pPr marL="273050" marR="0" lvl="1" indent="0" algn="l" defTabSz="914400" rtl="0" eaLnBrk="1" fontAlgn="auto" latinLnBrk="0" hangingPunct="1">
              <a:lnSpc>
                <a:spcPct val="100000"/>
              </a:lnSpc>
              <a:spcBef>
                <a:spcPts val="0"/>
              </a:spcBef>
              <a:spcAft>
                <a:spcPts val="1200"/>
              </a:spcAft>
              <a:buClr>
                <a:srgbClr val="005C8A"/>
              </a:buClr>
              <a:buSzPct val="90000"/>
              <a:buFont typeface="Arial" panose="020B0604020202020204" pitchFamily="34" charset="0"/>
              <a:buNone/>
              <a:tabLst/>
              <a:defRPr/>
            </a:pPr>
            <a:endParaRPr kumimoji="0" lang="en-US" sz="1400" b="0" i="0" u="none" strike="noStrike" kern="1200" cap="none" spc="0" normalizeH="0" baseline="0" noProof="0" dirty="0">
              <a:ln>
                <a:noFill/>
              </a:ln>
              <a:solidFill>
                <a:srgbClr val="005C8A"/>
              </a:solidFill>
              <a:effectLst/>
              <a:uLnTx/>
              <a:uFillTx/>
              <a:latin typeface="Arial" panose="020B0604020202020204"/>
              <a:ea typeface="+mn-ea"/>
              <a:cs typeface="+mn-cs"/>
            </a:endParaRPr>
          </a:p>
        </p:txBody>
      </p:sp>
      <p:sp>
        <p:nvSpPr>
          <p:cNvPr id="47" name="!!bob123">
            <a:extLst>
              <a:ext uri="{FF2B5EF4-FFF2-40B4-BE49-F238E27FC236}">
                <a16:creationId xmlns:a16="http://schemas.microsoft.com/office/drawing/2014/main" id="{853C9D06-E67C-27E1-A291-CD820D75092F}"/>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flipV="1">
            <a:off x="5180013" y="1589923"/>
            <a:ext cx="7020000"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94" name="Freeform 93">
            <a:extLst>
              <a:ext uri="{FF2B5EF4-FFF2-40B4-BE49-F238E27FC236}">
                <a16:creationId xmlns:a16="http://schemas.microsoft.com/office/drawing/2014/main" id="{0AC7B624-F0D6-5322-B071-183494FBB2BE}"/>
              </a:ext>
            </a:extLst>
          </p:cNvPr>
          <p:cNvSpPr>
            <a:spLocks noChangeAspect="1"/>
          </p:cNvSpPr>
          <p:nvPr/>
        </p:nvSpPr>
        <p:spPr>
          <a:xfrm>
            <a:off x="1307706" y="5329321"/>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11" name="Straight Connector 110">
            <a:extLst>
              <a:ext uri="{FF2B5EF4-FFF2-40B4-BE49-F238E27FC236}">
                <a16:creationId xmlns:a16="http://schemas.microsoft.com/office/drawing/2014/main" id="{CCE9CFE5-4324-9D34-41C4-ACB8033B1987}"/>
              </a:ext>
            </a:extLst>
          </p:cNvPr>
          <p:cNvCxnSpPr>
            <a:cxnSpLocks/>
          </p:cNvCxnSpPr>
          <p:nvPr/>
        </p:nvCxnSpPr>
        <p:spPr bwMode="gray">
          <a:xfrm>
            <a:off x="1372895" y="5539279"/>
            <a:ext cx="588329"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3" name="TextBox 112">
            <a:extLst>
              <a:ext uri="{FF2B5EF4-FFF2-40B4-BE49-F238E27FC236}">
                <a16:creationId xmlns:a16="http://schemas.microsoft.com/office/drawing/2014/main" id="{E71E6D57-D166-02CF-6FED-C5AEA0B83F59}"/>
              </a:ext>
            </a:extLst>
          </p:cNvPr>
          <p:cNvSpPr txBox="1"/>
          <p:nvPr/>
        </p:nvSpPr>
        <p:spPr>
          <a:xfrm>
            <a:off x="1476444" y="5535784"/>
            <a:ext cx="546427" cy="179216"/>
          </a:xfrm>
          <a:prstGeom prst="rect">
            <a:avLst/>
          </a:prstGeom>
          <a:noFill/>
        </p:spPr>
        <p:txBody>
          <a:bodyPr wrap="squar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subnet</a:t>
            </a:r>
          </a:p>
        </p:txBody>
      </p:sp>
      <p:sp>
        <p:nvSpPr>
          <p:cNvPr id="11" name="Rectangle 10">
            <a:extLst>
              <a:ext uri="{FF2B5EF4-FFF2-40B4-BE49-F238E27FC236}">
                <a16:creationId xmlns:a16="http://schemas.microsoft.com/office/drawing/2014/main" id="{5889409F-CA2E-3A42-AD93-291FA12593FD}"/>
              </a:ext>
            </a:extLst>
          </p:cNvPr>
          <p:cNvSpPr/>
          <p:nvPr/>
        </p:nvSpPr>
        <p:spPr>
          <a:xfrm>
            <a:off x="1221175" y="4231532"/>
            <a:ext cx="824192" cy="1557689"/>
          </a:xfrm>
          <a:prstGeom prst="rect">
            <a:avLst/>
          </a:prstGeom>
          <a:no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p>
        </p:txBody>
      </p:sp>
      <p:pic>
        <p:nvPicPr>
          <p:cNvPr id="12" name="Graphic 11">
            <a:extLst>
              <a:ext uri="{FF2B5EF4-FFF2-40B4-BE49-F238E27FC236}">
                <a16:creationId xmlns:a16="http://schemas.microsoft.com/office/drawing/2014/main" id="{EBD12C4B-013F-160E-5369-9B6170D2027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580747" y="4259796"/>
            <a:ext cx="180000" cy="180000"/>
          </a:xfrm>
          <a:prstGeom prst="rect">
            <a:avLst/>
          </a:prstGeom>
        </p:spPr>
      </p:pic>
      <p:sp>
        <p:nvSpPr>
          <p:cNvPr id="63" name="Freeform 62">
            <a:extLst>
              <a:ext uri="{FF2B5EF4-FFF2-40B4-BE49-F238E27FC236}">
                <a16:creationId xmlns:a16="http://schemas.microsoft.com/office/drawing/2014/main" id="{C20D2DE0-E8F9-2E17-5528-6ECE6F298B06}"/>
              </a:ext>
            </a:extLst>
          </p:cNvPr>
          <p:cNvSpPr>
            <a:spLocks noChangeAspect="1"/>
          </p:cNvSpPr>
          <p:nvPr/>
        </p:nvSpPr>
        <p:spPr>
          <a:xfrm flipH="1">
            <a:off x="2734185" y="5329321"/>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64" name="Straight Connector 63">
            <a:extLst>
              <a:ext uri="{FF2B5EF4-FFF2-40B4-BE49-F238E27FC236}">
                <a16:creationId xmlns:a16="http://schemas.microsoft.com/office/drawing/2014/main" id="{6A2CC44C-0362-8CDD-0AC1-1CB3747F3B23}"/>
              </a:ext>
            </a:extLst>
          </p:cNvPr>
          <p:cNvCxnSpPr>
            <a:cxnSpLocks/>
          </p:cNvCxnSpPr>
          <p:nvPr/>
        </p:nvCxnSpPr>
        <p:spPr bwMode="gray">
          <a:xfrm flipH="1">
            <a:off x="2259165" y="5539279"/>
            <a:ext cx="588329"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212A5575-5DBE-DF50-A193-A4D251088D43}"/>
              </a:ext>
            </a:extLst>
          </p:cNvPr>
          <p:cNvSpPr txBox="1"/>
          <p:nvPr/>
        </p:nvSpPr>
        <p:spPr>
          <a:xfrm flipH="1">
            <a:off x="2277833" y="5535784"/>
            <a:ext cx="546427" cy="179216"/>
          </a:xfrm>
          <a:prstGeom prst="rect">
            <a:avLst/>
          </a:prstGeom>
          <a:noFill/>
        </p:spPr>
        <p:txBody>
          <a:bodyPr wrap="squar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subnet</a:t>
            </a:r>
          </a:p>
        </p:txBody>
      </p:sp>
      <p:sp>
        <p:nvSpPr>
          <p:cNvPr id="66" name="Rectangle 65">
            <a:extLst>
              <a:ext uri="{FF2B5EF4-FFF2-40B4-BE49-F238E27FC236}">
                <a16:creationId xmlns:a16="http://schemas.microsoft.com/office/drawing/2014/main" id="{C35B2607-B251-CAA1-042A-C6428848B143}"/>
              </a:ext>
            </a:extLst>
          </p:cNvPr>
          <p:cNvSpPr/>
          <p:nvPr/>
        </p:nvSpPr>
        <p:spPr>
          <a:xfrm flipH="1">
            <a:off x="2175022" y="4231532"/>
            <a:ext cx="824192" cy="1557689"/>
          </a:xfrm>
          <a:prstGeom prst="rect">
            <a:avLst/>
          </a:prstGeom>
          <a:no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36000" bIns="45720" numCol="1" spcCol="0" rtlCol="0" fromWordArt="0" anchor="t" anchorCtr="0" forceAA="0" compatLnSpc="1">
            <a:prstTxWarp prst="textNoShape">
              <a:avLst/>
            </a:prstTxWarp>
            <a:no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p>
        </p:txBody>
      </p:sp>
      <p:pic>
        <p:nvPicPr>
          <p:cNvPr id="67" name="Graphic 66">
            <a:extLst>
              <a:ext uri="{FF2B5EF4-FFF2-40B4-BE49-F238E27FC236}">
                <a16:creationId xmlns:a16="http://schemas.microsoft.com/office/drawing/2014/main" id="{6BE82D2B-A635-F3AF-ADF4-A9213A07B84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flipH="1">
            <a:off x="2509066" y="4259796"/>
            <a:ext cx="180000" cy="180000"/>
          </a:xfrm>
          <a:prstGeom prst="rect">
            <a:avLst/>
          </a:prstGeom>
        </p:spPr>
      </p:pic>
      <p:cxnSp>
        <p:nvCxnSpPr>
          <p:cNvPr id="141" name="Straight Connector 140">
            <a:extLst>
              <a:ext uri="{FF2B5EF4-FFF2-40B4-BE49-F238E27FC236}">
                <a16:creationId xmlns:a16="http://schemas.microsoft.com/office/drawing/2014/main" id="{D633D59D-0729-0572-3F44-BD5CB909F3D6}"/>
              </a:ext>
            </a:extLst>
          </p:cNvPr>
          <p:cNvCxnSpPr>
            <a:cxnSpLocks/>
          </p:cNvCxnSpPr>
          <p:nvPr/>
        </p:nvCxnSpPr>
        <p:spPr bwMode="gray">
          <a:xfrm flipV="1">
            <a:off x="1518290" y="1935778"/>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7D10911-A171-46AD-6B42-6B89962B0BD0}"/>
              </a:ext>
            </a:extLst>
          </p:cNvPr>
          <p:cNvCxnSpPr>
            <a:cxnSpLocks/>
          </p:cNvCxnSpPr>
          <p:nvPr/>
        </p:nvCxnSpPr>
        <p:spPr bwMode="gray">
          <a:xfrm flipV="1">
            <a:off x="2674133" y="1939636"/>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72D2C422-B2E9-09A3-20C6-D009414DE302}"/>
              </a:ext>
            </a:extLst>
          </p:cNvPr>
          <p:cNvCxnSpPr>
            <a:cxnSpLocks/>
          </p:cNvCxnSpPr>
          <p:nvPr/>
        </p:nvCxnSpPr>
        <p:spPr bwMode="gray">
          <a:xfrm flipV="1">
            <a:off x="3818882" y="1939636"/>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 name="!!BOTTOM">
            <a:extLst>
              <a:ext uri="{FF2B5EF4-FFF2-40B4-BE49-F238E27FC236}">
                <a16:creationId xmlns:a16="http://schemas.microsoft.com/office/drawing/2014/main" id="{DDB2E535-BB2D-88B8-CFAA-9BB1B8135F82}"/>
              </a:ext>
            </a:extLst>
          </p:cNvPr>
          <p:cNvSpPr/>
          <p:nvPr/>
        </p:nvSpPr>
        <p:spPr>
          <a:xfrm rot="10800000" flipV="1">
            <a:off x="608013" y="1600200"/>
            <a:ext cx="4114800" cy="359229"/>
          </a:xfrm>
          <a:prstGeom prst="round2SameRect">
            <a:avLst>
              <a:gd name="adj1" fmla="val 20630"/>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PHYSICAL NETWORK</a:t>
            </a:r>
          </a:p>
        </p:txBody>
      </p:sp>
      <p:sp>
        <p:nvSpPr>
          <p:cNvPr id="23" name="Freeform 22">
            <a:extLst>
              <a:ext uri="{FF2B5EF4-FFF2-40B4-BE49-F238E27FC236}">
                <a16:creationId xmlns:a16="http://schemas.microsoft.com/office/drawing/2014/main" id="{2B8FB77D-0347-E495-13E8-CCCD09661346}"/>
              </a:ext>
            </a:extLst>
          </p:cNvPr>
          <p:cNvSpPr>
            <a:spLocks noChangeAspect="1"/>
          </p:cNvSpPr>
          <p:nvPr/>
        </p:nvSpPr>
        <p:spPr>
          <a:xfrm>
            <a:off x="3324970" y="5329321"/>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5" name="Straight Connector 24">
            <a:extLst>
              <a:ext uri="{FF2B5EF4-FFF2-40B4-BE49-F238E27FC236}">
                <a16:creationId xmlns:a16="http://schemas.microsoft.com/office/drawing/2014/main" id="{4AAD8621-D3FE-5789-8456-6AF249FDE8AD}"/>
              </a:ext>
            </a:extLst>
          </p:cNvPr>
          <p:cNvCxnSpPr>
            <a:cxnSpLocks/>
          </p:cNvCxnSpPr>
          <p:nvPr/>
        </p:nvCxnSpPr>
        <p:spPr bwMode="gray">
          <a:xfrm>
            <a:off x="3390159" y="5539279"/>
            <a:ext cx="588329"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28A04545-7374-F06D-1C5E-1C3D6DCA6DAD}"/>
              </a:ext>
            </a:extLst>
          </p:cNvPr>
          <p:cNvSpPr txBox="1"/>
          <p:nvPr/>
        </p:nvSpPr>
        <p:spPr>
          <a:xfrm>
            <a:off x="3493708" y="5535784"/>
            <a:ext cx="546427" cy="179216"/>
          </a:xfrm>
          <a:prstGeom prst="rect">
            <a:avLst/>
          </a:prstGeom>
          <a:noFill/>
        </p:spPr>
        <p:txBody>
          <a:bodyPr wrap="squar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subnet</a:t>
            </a:r>
          </a:p>
        </p:txBody>
      </p:sp>
      <p:sp>
        <p:nvSpPr>
          <p:cNvPr id="27" name="Rectangle 26">
            <a:extLst>
              <a:ext uri="{FF2B5EF4-FFF2-40B4-BE49-F238E27FC236}">
                <a16:creationId xmlns:a16="http://schemas.microsoft.com/office/drawing/2014/main" id="{201935DA-044D-F5D0-607E-F750000B6DCA}"/>
              </a:ext>
            </a:extLst>
          </p:cNvPr>
          <p:cNvSpPr/>
          <p:nvPr/>
        </p:nvSpPr>
        <p:spPr>
          <a:xfrm>
            <a:off x="3238439" y="4231532"/>
            <a:ext cx="824192" cy="1557689"/>
          </a:xfrm>
          <a:prstGeom prst="rect">
            <a:avLst/>
          </a:prstGeom>
          <a:noFill/>
          <a:ln w="25400">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p>
        </p:txBody>
      </p:sp>
      <p:pic>
        <p:nvPicPr>
          <p:cNvPr id="29" name="Graphic 28">
            <a:extLst>
              <a:ext uri="{FF2B5EF4-FFF2-40B4-BE49-F238E27FC236}">
                <a16:creationId xmlns:a16="http://schemas.microsoft.com/office/drawing/2014/main" id="{D7A09DF6-95DF-028C-7C8B-058B75190EA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598011" y="4259796"/>
            <a:ext cx="180000" cy="180000"/>
          </a:xfrm>
          <a:prstGeom prst="rect">
            <a:avLst/>
          </a:prstGeom>
        </p:spPr>
      </p:pic>
      <p:sp>
        <p:nvSpPr>
          <p:cNvPr id="14" name="!!conn2">
            <a:extLst>
              <a:ext uri="{FF2B5EF4-FFF2-40B4-BE49-F238E27FC236}">
                <a16:creationId xmlns:a16="http://schemas.microsoft.com/office/drawing/2014/main" id="{82D5FB5B-7E4C-AB92-2EA8-EAF13F8CB7D0}"/>
              </a:ext>
            </a:extLst>
          </p:cNvPr>
          <p:cNvSpPr/>
          <p:nvPr/>
        </p:nvSpPr>
        <p:spPr bwMode="gray">
          <a:xfrm>
            <a:off x="1857553" y="2514600"/>
            <a:ext cx="1600740" cy="248478"/>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External Connection</a:t>
            </a:r>
            <a:endPar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8" name="!!conn2">
            <a:extLst>
              <a:ext uri="{FF2B5EF4-FFF2-40B4-BE49-F238E27FC236}">
                <a16:creationId xmlns:a16="http://schemas.microsoft.com/office/drawing/2014/main" id="{C7D458EF-4688-73F8-AEEF-029CD1C365EC}"/>
              </a:ext>
            </a:extLst>
          </p:cNvPr>
          <p:cNvSpPr/>
          <p:nvPr/>
        </p:nvSpPr>
        <p:spPr bwMode="gray">
          <a:xfrm>
            <a:off x="1857553" y="2514600"/>
            <a:ext cx="1600740" cy="248478"/>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External Connection</a:t>
            </a:r>
            <a:endPar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9" name="!!conn2">
            <a:extLst>
              <a:ext uri="{FF2B5EF4-FFF2-40B4-BE49-F238E27FC236}">
                <a16:creationId xmlns:a16="http://schemas.microsoft.com/office/drawing/2014/main" id="{CC4BE38C-17A5-09C5-7467-8BEDB2DC32D5}"/>
              </a:ext>
            </a:extLst>
          </p:cNvPr>
          <p:cNvSpPr/>
          <p:nvPr/>
        </p:nvSpPr>
        <p:spPr bwMode="gray">
          <a:xfrm>
            <a:off x="1857553" y="2514600"/>
            <a:ext cx="1600740" cy="248478"/>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External Connection</a:t>
            </a:r>
            <a:endPar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22" name="Group 21">
            <a:extLst>
              <a:ext uri="{FF2B5EF4-FFF2-40B4-BE49-F238E27FC236}">
                <a16:creationId xmlns:a16="http://schemas.microsoft.com/office/drawing/2014/main" id="{6584C1FF-CF6C-357B-0620-4A0B6A036446}"/>
              </a:ext>
            </a:extLst>
          </p:cNvPr>
          <p:cNvGrpSpPr/>
          <p:nvPr/>
        </p:nvGrpSpPr>
        <p:grpSpPr>
          <a:xfrm>
            <a:off x="1019775" y="2057400"/>
            <a:ext cx="3305778" cy="1182757"/>
            <a:chOff x="1019775" y="2057400"/>
            <a:chExt cx="3305778" cy="1182757"/>
          </a:xfrm>
        </p:grpSpPr>
        <p:cxnSp>
          <p:nvCxnSpPr>
            <p:cNvPr id="30" name="Straight Connector 29">
              <a:extLst>
                <a:ext uri="{FF2B5EF4-FFF2-40B4-BE49-F238E27FC236}">
                  <a16:creationId xmlns:a16="http://schemas.microsoft.com/office/drawing/2014/main" id="{FCD46772-2182-1D71-9EDB-408F0066AD13}"/>
                </a:ext>
              </a:extLst>
            </p:cNvPr>
            <p:cNvCxnSpPr>
              <a:cxnSpLocks/>
            </p:cNvCxnSpPr>
            <p:nvPr/>
          </p:nvCxnSpPr>
          <p:spPr bwMode="gray">
            <a:xfrm flipV="1">
              <a:off x="2674133" y="2971800"/>
              <a:ext cx="0" cy="268357"/>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 name="!!Tier0-uplink">
              <a:extLst>
                <a:ext uri="{FF2B5EF4-FFF2-40B4-BE49-F238E27FC236}">
                  <a16:creationId xmlns:a16="http://schemas.microsoft.com/office/drawing/2014/main" id="{E9C787D4-6D21-BE2F-6893-36275178B1AA}"/>
                </a:ext>
              </a:extLst>
            </p:cNvPr>
            <p:cNvCxnSpPr>
              <a:cxnSpLocks/>
            </p:cNvCxnSpPr>
            <p:nvPr/>
          </p:nvCxnSpPr>
          <p:spPr bwMode="gray">
            <a:xfrm flipV="1">
              <a:off x="1518290" y="2057400"/>
              <a:ext cx="0" cy="109847"/>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2" name="!!Tier0-downlink">
              <a:extLst>
                <a:ext uri="{FF2B5EF4-FFF2-40B4-BE49-F238E27FC236}">
                  <a16:creationId xmlns:a16="http://schemas.microsoft.com/office/drawing/2014/main" id="{9B140D4E-CBE6-3A2D-0125-AFB3388CC912}"/>
                </a:ext>
              </a:extLst>
            </p:cNvPr>
            <p:cNvCxnSpPr>
              <a:cxnSpLocks/>
            </p:cNvCxnSpPr>
            <p:nvPr/>
          </p:nvCxnSpPr>
          <p:spPr bwMode="gray">
            <a:xfrm flipV="1">
              <a:off x="1518290" y="2971800"/>
              <a:ext cx="1" cy="264226"/>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3" name="!!Tier0-uplink">
              <a:extLst>
                <a:ext uri="{FF2B5EF4-FFF2-40B4-BE49-F238E27FC236}">
                  <a16:creationId xmlns:a16="http://schemas.microsoft.com/office/drawing/2014/main" id="{1D8F8378-C440-E275-673D-CB14FBD26E51}"/>
                </a:ext>
              </a:extLst>
            </p:cNvPr>
            <p:cNvCxnSpPr>
              <a:cxnSpLocks/>
            </p:cNvCxnSpPr>
            <p:nvPr/>
          </p:nvCxnSpPr>
          <p:spPr bwMode="gray">
            <a:xfrm flipV="1">
              <a:off x="2674133" y="2057400"/>
              <a:ext cx="0" cy="109847"/>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66B0D1A1-B7AD-1CF9-A2A2-1A48FDCFF50E}"/>
                </a:ext>
              </a:extLst>
            </p:cNvPr>
            <p:cNvCxnSpPr>
              <a:cxnSpLocks/>
            </p:cNvCxnSpPr>
            <p:nvPr/>
          </p:nvCxnSpPr>
          <p:spPr bwMode="gray">
            <a:xfrm flipV="1">
              <a:off x="3818882" y="2971800"/>
              <a:ext cx="0" cy="268357"/>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6" name="!!T0">
              <a:extLst>
                <a:ext uri="{FF2B5EF4-FFF2-40B4-BE49-F238E27FC236}">
                  <a16:creationId xmlns:a16="http://schemas.microsoft.com/office/drawing/2014/main" id="{2A3AD878-36DF-4D8C-9DDC-A9D6A3F7619B}"/>
                </a:ext>
              </a:extLst>
            </p:cNvPr>
            <p:cNvSpPr txBox="1"/>
            <p:nvPr/>
          </p:nvSpPr>
          <p:spPr>
            <a:xfrm>
              <a:off x="1664488" y="2354774"/>
              <a:ext cx="902735"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Tier0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Gateways</a:t>
              </a:r>
            </a:p>
          </p:txBody>
        </p:sp>
        <p:sp>
          <p:nvSpPr>
            <p:cNvPr id="37" name="!!Tier0">
              <a:extLst>
                <a:ext uri="{FF2B5EF4-FFF2-40B4-BE49-F238E27FC236}">
                  <a16:creationId xmlns:a16="http://schemas.microsoft.com/office/drawing/2014/main" id="{CA206CA8-EED8-8BE0-DFF4-BA0D4E049DF8}"/>
                </a:ext>
              </a:extLst>
            </p:cNvPr>
            <p:cNvSpPr txBox="1">
              <a:spLocks noChangeAspect="1"/>
            </p:cNvSpPr>
            <p:nvPr/>
          </p:nvSpPr>
          <p:spPr>
            <a:xfrm>
              <a:off x="1248290" y="2167589"/>
              <a:ext cx="540000" cy="540000"/>
            </a:xfrm>
            <a:custGeom>
              <a:avLst/>
              <a:gdLst/>
              <a:ahLst/>
              <a:cxnLst/>
              <a:rect l="l" t="t" r="r" b="b"/>
              <a:pathLst>
                <a:path w="3411855" h="3411855">
                  <a:moveTo>
                    <a:pt x="1616141" y="2365151"/>
                  </a:moveTo>
                  <a:lnTo>
                    <a:pt x="1795712" y="2365151"/>
                  </a:lnTo>
                  <a:lnTo>
                    <a:pt x="1795712" y="2702754"/>
                  </a:lnTo>
                  <a:lnTo>
                    <a:pt x="1947657" y="2702754"/>
                  </a:lnTo>
                  <a:lnTo>
                    <a:pt x="1705927" y="3121293"/>
                  </a:lnTo>
                  <a:lnTo>
                    <a:pt x="1464196" y="2702754"/>
                  </a:lnTo>
                  <a:lnTo>
                    <a:pt x="1616141" y="2702754"/>
                  </a:lnTo>
                  <a:close/>
                  <a:moveTo>
                    <a:pt x="1943213" y="1472645"/>
                  </a:moveTo>
                  <a:cubicBezTo>
                    <a:pt x="1909685" y="1472645"/>
                    <a:pt x="1879790" y="1482703"/>
                    <a:pt x="1853526" y="1502820"/>
                  </a:cubicBezTo>
                  <a:cubicBezTo>
                    <a:pt x="1827262" y="1522937"/>
                    <a:pt x="1806726" y="1551017"/>
                    <a:pt x="1791918" y="1587059"/>
                  </a:cubicBezTo>
                  <a:cubicBezTo>
                    <a:pt x="1777110" y="1623102"/>
                    <a:pt x="1769706" y="1664034"/>
                    <a:pt x="1769706" y="1709855"/>
                  </a:cubicBezTo>
                  <a:cubicBezTo>
                    <a:pt x="1769706" y="1755677"/>
                    <a:pt x="1777110" y="1796609"/>
                    <a:pt x="1791918" y="1832652"/>
                  </a:cubicBezTo>
                  <a:cubicBezTo>
                    <a:pt x="1806726" y="1868694"/>
                    <a:pt x="1827262" y="1896914"/>
                    <a:pt x="1853526" y="1917310"/>
                  </a:cubicBezTo>
                  <a:cubicBezTo>
                    <a:pt x="1879790" y="1937706"/>
                    <a:pt x="1909685" y="1947904"/>
                    <a:pt x="1943213" y="1947904"/>
                  </a:cubicBezTo>
                  <a:cubicBezTo>
                    <a:pt x="1976741" y="1947904"/>
                    <a:pt x="2006637" y="1937706"/>
                    <a:pt x="2032901" y="1917310"/>
                  </a:cubicBezTo>
                  <a:cubicBezTo>
                    <a:pt x="2059164" y="1896914"/>
                    <a:pt x="2079561" y="1868694"/>
                    <a:pt x="2094089" y="1832652"/>
                  </a:cubicBezTo>
                  <a:cubicBezTo>
                    <a:pt x="2108618" y="1796609"/>
                    <a:pt x="2115883" y="1755677"/>
                    <a:pt x="2115883" y="1709855"/>
                  </a:cubicBezTo>
                  <a:cubicBezTo>
                    <a:pt x="2115883" y="1664034"/>
                    <a:pt x="2108618" y="1623102"/>
                    <a:pt x="2094089" y="1587059"/>
                  </a:cubicBezTo>
                  <a:cubicBezTo>
                    <a:pt x="2079561" y="1551017"/>
                    <a:pt x="2059164" y="1522937"/>
                    <a:pt x="2032901" y="1502820"/>
                  </a:cubicBezTo>
                  <a:cubicBezTo>
                    <a:pt x="2006637" y="1482703"/>
                    <a:pt x="1976741" y="1472645"/>
                    <a:pt x="1943213" y="1472645"/>
                  </a:cubicBezTo>
                  <a:close/>
                  <a:moveTo>
                    <a:pt x="2786046" y="1464196"/>
                  </a:moveTo>
                  <a:lnTo>
                    <a:pt x="2786046" y="1616141"/>
                  </a:lnTo>
                  <a:lnTo>
                    <a:pt x="3123649" y="1616141"/>
                  </a:lnTo>
                  <a:lnTo>
                    <a:pt x="3123649" y="1795712"/>
                  </a:lnTo>
                  <a:lnTo>
                    <a:pt x="2786046" y="1795712"/>
                  </a:lnTo>
                  <a:lnTo>
                    <a:pt x="2786046" y="1947657"/>
                  </a:lnTo>
                  <a:lnTo>
                    <a:pt x="2367507" y="1705927"/>
                  </a:lnTo>
                  <a:close/>
                  <a:moveTo>
                    <a:pt x="609184" y="1464195"/>
                  </a:moveTo>
                  <a:lnTo>
                    <a:pt x="1027723" y="1705925"/>
                  </a:lnTo>
                  <a:lnTo>
                    <a:pt x="609184" y="1947656"/>
                  </a:lnTo>
                  <a:lnTo>
                    <a:pt x="609184" y="1795711"/>
                  </a:lnTo>
                  <a:lnTo>
                    <a:pt x="271581" y="1795711"/>
                  </a:lnTo>
                  <a:lnTo>
                    <a:pt x="271581" y="1616140"/>
                  </a:lnTo>
                  <a:lnTo>
                    <a:pt x="609184" y="1616140"/>
                  </a:lnTo>
                  <a:close/>
                  <a:moveTo>
                    <a:pt x="1178851" y="1422353"/>
                  </a:moveTo>
                  <a:lnTo>
                    <a:pt x="1631479" y="1422353"/>
                  </a:lnTo>
                  <a:lnTo>
                    <a:pt x="1631479" y="1484380"/>
                  </a:lnTo>
                  <a:lnTo>
                    <a:pt x="1437855" y="1484380"/>
                  </a:lnTo>
                  <a:lnTo>
                    <a:pt x="1437855" y="1998196"/>
                  </a:lnTo>
                  <a:lnTo>
                    <a:pt x="1372475" y="1998196"/>
                  </a:lnTo>
                  <a:lnTo>
                    <a:pt x="1372475" y="1484380"/>
                  </a:lnTo>
                  <a:lnTo>
                    <a:pt x="1178851" y="1484380"/>
                  </a:lnTo>
                  <a:close/>
                  <a:moveTo>
                    <a:pt x="1943213" y="1412294"/>
                  </a:moveTo>
                  <a:cubicBezTo>
                    <a:pt x="1989035" y="1412294"/>
                    <a:pt x="2030107" y="1425007"/>
                    <a:pt x="2066429" y="1450433"/>
                  </a:cubicBezTo>
                  <a:cubicBezTo>
                    <a:pt x="2102751" y="1475858"/>
                    <a:pt x="2131110" y="1511063"/>
                    <a:pt x="2151506" y="1556046"/>
                  </a:cubicBezTo>
                  <a:cubicBezTo>
                    <a:pt x="2171902" y="1601029"/>
                    <a:pt x="2182100" y="1652299"/>
                    <a:pt x="2182100" y="1709855"/>
                  </a:cubicBezTo>
                  <a:cubicBezTo>
                    <a:pt x="2182100" y="1767412"/>
                    <a:pt x="2171902" y="1818821"/>
                    <a:pt x="2151506" y="1864084"/>
                  </a:cubicBezTo>
                  <a:cubicBezTo>
                    <a:pt x="2131110" y="1909347"/>
                    <a:pt x="2102890" y="1944691"/>
                    <a:pt x="2066848" y="1970116"/>
                  </a:cubicBezTo>
                  <a:cubicBezTo>
                    <a:pt x="2030805" y="1995542"/>
                    <a:pt x="1989594" y="2008254"/>
                    <a:pt x="1943213" y="2008254"/>
                  </a:cubicBezTo>
                  <a:cubicBezTo>
                    <a:pt x="1896833" y="2008254"/>
                    <a:pt x="1855482" y="1995542"/>
                    <a:pt x="1819160" y="1970116"/>
                  </a:cubicBezTo>
                  <a:cubicBezTo>
                    <a:pt x="1782838" y="1944691"/>
                    <a:pt x="1754479" y="1909347"/>
                    <a:pt x="1734082" y="1864084"/>
                  </a:cubicBezTo>
                  <a:cubicBezTo>
                    <a:pt x="1713686" y="1818821"/>
                    <a:pt x="1703488" y="1767412"/>
                    <a:pt x="1703488" y="1709855"/>
                  </a:cubicBezTo>
                  <a:cubicBezTo>
                    <a:pt x="1703488" y="1652299"/>
                    <a:pt x="1713686" y="1601029"/>
                    <a:pt x="1734082" y="1556046"/>
                  </a:cubicBezTo>
                  <a:cubicBezTo>
                    <a:pt x="1754479" y="1511063"/>
                    <a:pt x="1782838" y="1475858"/>
                    <a:pt x="1819160" y="1450433"/>
                  </a:cubicBezTo>
                  <a:cubicBezTo>
                    <a:pt x="1855482" y="1425007"/>
                    <a:pt x="1896833" y="1412294"/>
                    <a:pt x="1943213" y="1412294"/>
                  </a:cubicBezTo>
                  <a:close/>
                  <a:moveTo>
                    <a:pt x="1705927" y="290561"/>
                  </a:moveTo>
                  <a:lnTo>
                    <a:pt x="1947657" y="709100"/>
                  </a:lnTo>
                  <a:lnTo>
                    <a:pt x="1795712" y="709100"/>
                  </a:lnTo>
                  <a:lnTo>
                    <a:pt x="1795712" y="1046703"/>
                  </a:lnTo>
                  <a:lnTo>
                    <a:pt x="1616141" y="1046703"/>
                  </a:lnTo>
                  <a:lnTo>
                    <a:pt x="1616141" y="709100"/>
                  </a:lnTo>
                  <a:lnTo>
                    <a:pt x="1464196" y="709100"/>
                  </a:lnTo>
                  <a:close/>
                  <a:moveTo>
                    <a:pt x="1705927" y="89786"/>
                  </a:moveTo>
                  <a:cubicBezTo>
                    <a:pt x="814701" y="89786"/>
                    <a:pt x="89786" y="814701"/>
                    <a:pt x="89786" y="1705928"/>
                  </a:cubicBezTo>
                  <a:cubicBezTo>
                    <a:pt x="89786" y="2597154"/>
                    <a:pt x="814701" y="3322069"/>
                    <a:pt x="1705927" y="3322069"/>
                  </a:cubicBezTo>
                  <a:cubicBezTo>
                    <a:pt x="2597154" y="3322069"/>
                    <a:pt x="3322069" y="2597154"/>
                    <a:pt x="3322069" y="1705928"/>
                  </a:cubicBezTo>
                  <a:cubicBezTo>
                    <a:pt x="3322069" y="814701"/>
                    <a:pt x="2597154" y="89786"/>
                    <a:pt x="1705927" y="89786"/>
                  </a:cubicBezTo>
                  <a:close/>
                  <a:moveTo>
                    <a:pt x="1705927" y="0"/>
                  </a:moveTo>
                  <a:cubicBezTo>
                    <a:pt x="2647986" y="0"/>
                    <a:pt x="3411855" y="763869"/>
                    <a:pt x="3411855" y="1705928"/>
                  </a:cubicBezTo>
                  <a:cubicBezTo>
                    <a:pt x="3411855" y="2647986"/>
                    <a:pt x="2647986" y="3411855"/>
                    <a:pt x="1705927" y="3411855"/>
                  </a:cubicBezTo>
                  <a:cubicBezTo>
                    <a:pt x="763869" y="3411855"/>
                    <a:pt x="0" y="2647986"/>
                    <a:pt x="0" y="1705928"/>
                  </a:cubicBezTo>
                  <a:cubicBezTo>
                    <a:pt x="0" y="763869"/>
                    <a:pt x="763869" y="0"/>
                    <a:pt x="1705927" y="0"/>
                  </a:cubicBez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6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38" name="Straight Connector 37">
              <a:extLst>
                <a:ext uri="{FF2B5EF4-FFF2-40B4-BE49-F238E27FC236}">
                  <a16:creationId xmlns:a16="http://schemas.microsoft.com/office/drawing/2014/main" id="{954AA139-5E3F-6B4E-6626-7B63C73E0C09}"/>
                </a:ext>
              </a:extLst>
            </p:cNvPr>
            <p:cNvCxnSpPr>
              <a:cxnSpLocks/>
            </p:cNvCxnSpPr>
            <p:nvPr/>
          </p:nvCxnSpPr>
          <p:spPr bwMode="gray">
            <a:xfrm flipV="1">
              <a:off x="3818882" y="2057400"/>
              <a:ext cx="0" cy="766119"/>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48DD5487-7574-1AB7-BB5F-6A98B5244F81}"/>
                </a:ext>
              </a:extLst>
            </p:cNvPr>
            <p:cNvSpPr txBox="1"/>
            <p:nvPr/>
          </p:nvSpPr>
          <p:spPr>
            <a:xfrm>
              <a:off x="3372647" y="2354774"/>
              <a:ext cx="417825"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VLAN/VXLAN</a:t>
              </a:r>
            </a:p>
          </p:txBody>
        </p:sp>
        <p:sp>
          <p:nvSpPr>
            <p:cNvPr id="40" name="!!conn1">
              <a:extLst>
                <a:ext uri="{FF2B5EF4-FFF2-40B4-BE49-F238E27FC236}">
                  <a16:creationId xmlns:a16="http://schemas.microsoft.com/office/drawing/2014/main" id="{04AB8E02-2289-D69C-81D5-39B77A50B92C}"/>
                </a:ext>
              </a:extLst>
            </p:cNvPr>
            <p:cNvSpPr/>
            <p:nvPr/>
          </p:nvSpPr>
          <p:spPr bwMode="gray">
            <a:xfrm>
              <a:off x="1019775" y="2763983"/>
              <a:ext cx="1008000" cy="288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Centralized</a:t>
              </a:r>
              <a:endPar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1" name="!!Tier0">
              <a:extLst>
                <a:ext uri="{FF2B5EF4-FFF2-40B4-BE49-F238E27FC236}">
                  <a16:creationId xmlns:a16="http://schemas.microsoft.com/office/drawing/2014/main" id="{2059BE4E-74C4-910F-93B5-5FB5C42B267E}"/>
                </a:ext>
              </a:extLst>
            </p:cNvPr>
            <p:cNvSpPr txBox="1">
              <a:spLocks noChangeAspect="1"/>
            </p:cNvSpPr>
            <p:nvPr/>
          </p:nvSpPr>
          <p:spPr>
            <a:xfrm>
              <a:off x="2404133" y="2167589"/>
              <a:ext cx="540000" cy="540000"/>
            </a:xfrm>
            <a:custGeom>
              <a:avLst/>
              <a:gdLst/>
              <a:ahLst/>
              <a:cxnLst/>
              <a:rect l="l" t="t" r="r" b="b"/>
              <a:pathLst>
                <a:path w="3411855" h="3411855">
                  <a:moveTo>
                    <a:pt x="1616141" y="2365151"/>
                  </a:moveTo>
                  <a:lnTo>
                    <a:pt x="1795712" y="2365151"/>
                  </a:lnTo>
                  <a:lnTo>
                    <a:pt x="1795712" y="2702754"/>
                  </a:lnTo>
                  <a:lnTo>
                    <a:pt x="1947657" y="2702754"/>
                  </a:lnTo>
                  <a:lnTo>
                    <a:pt x="1705927" y="3121293"/>
                  </a:lnTo>
                  <a:lnTo>
                    <a:pt x="1464196" y="2702754"/>
                  </a:lnTo>
                  <a:lnTo>
                    <a:pt x="1616141" y="2702754"/>
                  </a:lnTo>
                  <a:close/>
                  <a:moveTo>
                    <a:pt x="1943213" y="1472645"/>
                  </a:moveTo>
                  <a:cubicBezTo>
                    <a:pt x="1909685" y="1472645"/>
                    <a:pt x="1879790" y="1482703"/>
                    <a:pt x="1853526" y="1502820"/>
                  </a:cubicBezTo>
                  <a:cubicBezTo>
                    <a:pt x="1827262" y="1522937"/>
                    <a:pt x="1806726" y="1551017"/>
                    <a:pt x="1791918" y="1587059"/>
                  </a:cubicBezTo>
                  <a:cubicBezTo>
                    <a:pt x="1777110" y="1623102"/>
                    <a:pt x="1769706" y="1664034"/>
                    <a:pt x="1769706" y="1709855"/>
                  </a:cubicBezTo>
                  <a:cubicBezTo>
                    <a:pt x="1769706" y="1755677"/>
                    <a:pt x="1777110" y="1796609"/>
                    <a:pt x="1791918" y="1832652"/>
                  </a:cubicBezTo>
                  <a:cubicBezTo>
                    <a:pt x="1806726" y="1868694"/>
                    <a:pt x="1827262" y="1896914"/>
                    <a:pt x="1853526" y="1917310"/>
                  </a:cubicBezTo>
                  <a:cubicBezTo>
                    <a:pt x="1879790" y="1937706"/>
                    <a:pt x="1909685" y="1947904"/>
                    <a:pt x="1943213" y="1947904"/>
                  </a:cubicBezTo>
                  <a:cubicBezTo>
                    <a:pt x="1976741" y="1947904"/>
                    <a:pt x="2006637" y="1937706"/>
                    <a:pt x="2032901" y="1917310"/>
                  </a:cubicBezTo>
                  <a:cubicBezTo>
                    <a:pt x="2059164" y="1896914"/>
                    <a:pt x="2079561" y="1868694"/>
                    <a:pt x="2094089" y="1832652"/>
                  </a:cubicBezTo>
                  <a:cubicBezTo>
                    <a:pt x="2108618" y="1796609"/>
                    <a:pt x="2115883" y="1755677"/>
                    <a:pt x="2115883" y="1709855"/>
                  </a:cubicBezTo>
                  <a:cubicBezTo>
                    <a:pt x="2115883" y="1664034"/>
                    <a:pt x="2108618" y="1623102"/>
                    <a:pt x="2094089" y="1587059"/>
                  </a:cubicBezTo>
                  <a:cubicBezTo>
                    <a:pt x="2079561" y="1551017"/>
                    <a:pt x="2059164" y="1522937"/>
                    <a:pt x="2032901" y="1502820"/>
                  </a:cubicBezTo>
                  <a:cubicBezTo>
                    <a:pt x="2006637" y="1482703"/>
                    <a:pt x="1976741" y="1472645"/>
                    <a:pt x="1943213" y="1472645"/>
                  </a:cubicBezTo>
                  <a:close/>
                  <a:moveTo>
                    <a:pt x="2786046" y="1464196"/>
                  </a:moveTo>
                  <a:lnTo>
                    <a:pt x="2786046" y="1616141"/>
                  </a:lnTo>
                  <a:lnTo>
                    <a:pt x="3123649" y="1616141"/>
                  </a:lnTo>
                  <a:lnTo>
                    <a:pt x="3123649" y="1795712"/>
                  </a:lnTo>
                  <a:lnTo>
                    <a:pt x="2786046" y="1795712"/>
                  </a:lnTo>
                  <a:lnTo>
                    <a:pt x="2786046" y="1947657"/>
                  </a:lnTo>
                  <a:lnTo>
                    <a:pt x="2367507" y="1705927"/>
                  </a:lnTo>
                  <a:close/>
                  <a:moveTo>
                    <a:pt x="609184" y="1464195"/>
                  </a:moveTo>
                  <a:lnTo>
                    <a:pt x="1027723" y="1705925"/>
                  </a:lnTo>
                  <a:lnTo>
                    <a:pt x="609184" y="1947656"/>
                  </a:lnTo>
                  <a:lnTo>
                    <a:pt x="609184" y="1795711"/>
                  </a:lnTo>
                  <a:lnTo>
                    <a:pt x="271581" y="1795711"/>
                  </a:lnTo>
                  <a:lnTo>
                    <a:pt x="271581" y="1616140"/>
                  </a:lnTo>
                  <a:lnTo>
                    <a:pt x="609184" y="1616140"/>
                  </a:lnTo>
                  <a:close/>
                  <a:moveTo>
                    <a:pt x="1178851" y="1422353"/>
                  </a:moveTo>
                  <a:lnTo>
                    <a:pt x="1631479" y="1422353"/>
                  </a:lnTo>
                  <a:lnTo>
                    <a:pt x="1631479" y="1484380"/>
                  </a:lnTo>
                  <a:lnTo>
                    <a:pt x="1437855" y="1484380"/>
                  </a:lnTo>
                  <a:lnTo>
                    <a:pt x="1437855" y="1998196"/>
                  </a:lnTo>
                  <a:lnTo>
                    <a:pt x="1372475" y="1998196"/>
                  </a:lnTo>
                  <a:lnTo>
                    <a:pt x="1372475" y="1484380"/>
                  </a:lnTo>
                  <a:lnTo>
                    <a:pt x="1178851" y="1484380"/>
                  </a:lnTo>
                  <a:close/>
                  <a:moveTo>
                    <a:pt x="1943213" y="1412294"/>
                  </a:moveTo>
                  <a:cubicBezTo>
                    <a:pt x="1989035" y="1412294"/>
                    <a:pt x="2030107" y="1425007"/>
                    <a:pt x="2066429" y="1450433"/>
                  </a:cubicBezTo>
                  <a:cubicBezTo>
                    <a:pt x="2102751" y="1475858"/>
                    <a:pt x="2131110" y="1511063"/>
                    <a:pt x="2151506" y="1556046"/>
                  </a:cubicBezTo>
                  <a:cubicBezTo>
                    <a:pt x="2171902" y="1601029"/>
                    <a:pt x="2182100" y="1652299"/>
                    <a:pt x="2182100" y="1709855"/>
                  </a:cubicBezTo>
                  <a:cubicBezTo>
                    <a:pt x="2182100" y="1767412"/>
                    <a:pt x="2171902" y="1818821"/>
                    <a:pt x="2151506" y="1864084"/>
                  </a:cubicBezTo>
                  <a:cubicBezTo>
                    <a:pt x="2131110" y="1909347"/>
                    <a:pt x="2102890" y="1944691"/>
                    <a:pt x="2066848" y="1970116"/>
                  </a:cubicBezTo>
                  <a:cubicBezTo>
                    <a:pt x="2030805" y="1995542"/>
                    <a:pt x="1989594" y="2008254"/>
                    <a:pt x="1943213" y="2008254"/>
                  </a:cubicBezTo>
                  <a:cubicBezTo>
                    <a:pt x="1896833" y="2008254"/>
                    <a:pt x="1855482" y="1995542"/>
                    <a:pt x="1819160" y="1970116"/>
                  </a:cubicBezTo>
                  <a:cubicBezTo>
                    <a:pt x="1782838" y="1944691"/>
                    <a:pt x="1754479" y="1909347"/>
                    <a:pt x="1734082" y="1864084"/>
                  </a:cubicBezTo>
                  <a:cubicBezTo>
                    <a:pt x="1713686" y="1818821"/>
                    <a:pt x="1703488" y="1767412"/>
                    <a:pt x="1703488" y="1709855"/>
                  </a:cubicBezTo>
                  <a:cubicBezTo>
                    <a:pt x="1703488" y="1652299"/>
                    <a:pt x="1713686" y="1601029"/>
                    <a:pt x="1734082" y="1556046"/>
                  </a:cubicBezTo>
                  <a:cubicBezTo>
                    <a:pt x="1754479" y="1511063"/>
                    <a:pt x="1782838" y="1475858"/>
                    <a:pt x="1819160" y="1450433"/>
                  </a:cubicBezTo>
                  <a:cubicBezTo>
                    <a:pt x="1855482" y="1425007"/>
                    <a:pt x="1896833" y="1412294"/>
                    <a:pt x="1943213" y="1412294"/>
                  </a:cubicBezTo>
                  <a:close/>
                  <a:moveTo>
                    <a:pt x="1705927" y="290561"/>
                  </a:moveTo>
                  <a:lnTo>
                    <a:pt x="1947657" y="709100"/>
                  </a:lnTo>
                  <a:lnTo>
                    <a:pt x="1795712" y="709100"/>
                  </a:lnTo>
                  <a:lnTo>
                    <a:pt x="1795712" y="1046703"/>
                  </a:lnTo>
                  <a:lnTo>
                    <a:pt x="1616141" y="1046703"/>
                  </a:lnTo>
                  <a:lnTo>
                    <a:pt x="1616141" y="709100"/>
                  </a:lnTo>
                  <a:lnTo>
                    <a:pt x="1464196" y="709100"/>
                  </a:lnTo>
                  <a:close/>
                  <a:moveTo>
                    <a:pt x="1705927" y="89786"/>
                  </a:moveTo>
                  <a:cubicBezTo>
                    <a:pt x="814701" y="89786"/>
                    <a:pt x="89786" y="814701"/>
                    <a:pt x="89786" y="1705928"/>
                  </a:cubicBezTo>
                  <a:cubicBezTo>
                    <a:pt x="89786" y="2597154"/>
                    <a:pt x="814701" y="3322069"/>
                    <a:pt x="1705927" y="3322069"/>
                  </a:cubicBezTo>
                  <a:cubicBezTo>
                    <a:pt x="2597154" y="3322069"/>
                    <a:pt x="3322069" y="2597154"/>
                    <a:pt x="3322069" y="1705928"/>
                  </a:cubicBezTo>
                  <a:cubicBezTo>
                    <a:pt x="3322069" y="814701"/>
                    <a:pt x="2597154" y="89786"/>
                    <a:pt x="1705927" y="89786"/>
                  </a:cubicBezTo>
                  <a:close/>
                  <a:moveTo>
                    <a:pt x="1705927" y="0"/>
                  </a:moveTo>
                  <a:cubicBezTo>
                    <a:pt x="2647986" y="0"/>
                    <a:pt x="3411855" y="763869"/>
                    <a:pt x="3411855" y="1705928"/>
                  </a:cubicBezTo>
                  <a:cubicBezTo>
                    <a:pt x="3411855" y="2647986"/>
                    <a:pt x="2647986" y="3411855"/>
                    <a:pt x="1705927" y="3411855"/>
                  </a:cubicBezTo>
                  <a:cubicBezTo>
                    <a:pt x="763869" y="3411855"/>
                    <a:pt x="0" y="2647986"/>
                    <a:pt x="0" y="1705928"/>
                  </a:cubicBezTo>
                  <a:cubicBezTo>
                    <a:pt x="0" y="763869"/>
                    <a:pt x="763869" y="0"/>
                    <a:pt x="1705927" y="0"/>
                  </a:cubicBez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6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42" name="!!Tier0-downlink">
              <a:extLst>
                <a:ext uri="{FF2B5EF4-FFF2-40B4-BE49-F238E27FC236}">
                  <a16:creationId xmlns:a16="http://schemas.microsoft.com/office/drawing/2014/main" id="{16025A25-6C8C-ED03-8C62-BFAB76CE9A6D}"/>
                </a:ext>
              </a:extLst>
            </p:cNvPr>
            <p:cNvCxnSpPr>
              <a:cxnSpLocks/>
            </p:cNvCxnSpPr>
            <p:nvPr/>
          </p:nvCxnSpPr>
          <p:spPr bwMode="gray">
            <a:xfrm flipV="1">
              <a:off x="2674133" y="2706853"/>
              <a:ext cx="0" cy="93871"/>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Tier0-downlink">
              <a:extLst>
                <a:ext uri="{FF2B5EF4-FFF2-40B4-BE49-F238E27FC236}">
                  <a16:creationId xmlns:a16="http://schemas.microsoft.com/office/drawing/2014/main" id="{0D16DC43-8F72-A116-D3CC-84C173117934}"/>
                </a:ext>
              </a:extLst>
            </p:cNvPr>
            <p:cNvCxnSpPr>
              <a:cxnSpLocks/>
              <a:stCxn id="40" idx="0"/>
            </p:cNvCxnSpPr>
            <p:nvPr/>
          </p:nvCxnSpPr>
          <p:spPr bwMode="gray">
            <a:xfrm flipH="1" flipV="1">
              <a:off x="1522413" y="2709541"/>
              <a:ext cx="1362" cy="54442"/>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4" name="!!externalconnection">
              <a:extLst>
                <a:ext uri="{FF2B5EF4-FFF2-40B4-BE49-F238E27FC236}">
                  <a16:creationId xmlns:a16="http://schemas.microsoft.com/office/drawing/2014/main" id="{B4C92866-DDDD-B7FC-05D8-06677760D0FF}"/>
                </a:ext>
              </a:extLst>
            </p:cNvPr>
            <p:cNvSpPr/>
            <p:nvPr/>
          </p:nvSpPr>
          <p:spPr bwMode="gray">
            <a:xfrm>
              <a:off x="2177476" y="2763983"/>
              <a:ext cx="1008000" cy="288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Centralized</a:t>
              </a:r>
              <a:endPar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6" name="!!externalconnection">
              <a:extLst>
                <a:ext uri="{FF2B5EF4-FFF2-40B4-BE49-F238E27FC236}">
                  <a16:creationId xmlns:a16="http://schemas.microsoft.com/office/drawing/2014/main" id="{015071EE-B6FA-54B2-CC61-4BDE43E8BC83}"/>
                </a:ext>
              </a:extLst>
            </p:cNvPr>
            <p:cNvSpPr/>
            <p:nvPr/>
          </p:nvSpPr>
          <p:spPr bwMode="gray">
            <a:xfrm>
              <a:off x="3317553" y="2763983"/>
              <a:ext cx="1008000" cy="288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Distributed</a:t>
              </a:r>
              <a:endPar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sp>
        <p:nvSpPr>
          <p:cNvPr id="2" name="!!conn3">
            <a:extLst>
              <a:ext uri="{FF2B5EF4-FFF2-40B4-BE49-F238E27FC236}">
                <a16:creationId xmlns:a16="http://schemas.microsoft.com/office/drawing/2014/main" id="{362C84B6-1C4A-1A95-9DA1-FB9C18C8C180}"/>
              </a:ext>
            </a:extLst>
          </p:cNvPr>
          <p:cNvSpPr/>
          <p:nvPr/>
        </p:nvSpPr>
        <p:spPr bwMode="gray">
          <a:xfrm>
            <a:off x="3317553" y="2925418"/>
            <a:ext cx="1008000" cy="144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External Connection</a:t>
            </a:r>
            <a:endParaRPr kumimoji="0" lang="en-US" sz="6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3" name="!!conn2">
            <a:extLst>
              <a:ext uri="{FF2B5EF4-FFF2-40B4-BE49-F238E27FC236}">
                <a16:creationId xmlns:a16="http://schemas.microsoft.com/office/drawing/2014/main" id="{95825A60-4785-8789-43BB-482FA50B69E2}"/>
              </a:ext>
            </a:extLst>
          </p:cNvPr>
          <p:cNvSpPr/>
          <p:nvPr/>
        </p:nvSpPr>
        <p:spPr bwMode="gray">
          <a:xfrm>
            <a:off x="2177476" y="2925418"/>
            <a:ext cx="1008000" cy="144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External Connection</a:t>
            </a:r>
            <a:endParaRPr kumimoji="0" lang="en-US" sz="6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3" name="!!conn1">
            <a:extLst>
              <a:ext uri="{FF2B5EF4-FFF2-40B4-BE49-F238E27FC236}">
                <a16:creationId xmlns:a16="http://schemas.microsoft.com/office/drawing/2014/main" id="{CC92E445-2E86-E5E2-F853-2E93214DC86A}"/>
              </a:ext>
            </a:extLst>
          </p:cNvPr>
          <p:cNvSpPr/>
          <p:nvPr/>
        </p:nvSpPr>
        <p:spPr bwMode="gray">
          <a:xfrm>
            <a:off x="1019775" y="2925418"/>
            <a:ext cx="1008000" cy="144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External Connection</a:t>
            </a:r>
            <a:endParaRPr kumimoji="0" lang="en-US" sz="6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nvGrpSpPr>
          <p:cNvPr id="48" name="TGW">
            <a:extLst>
              <a:ext uri="{FF2B5EF4-FFF2-40B4-BE49-F238E27FC236}">
                <a16:creationId xmlns:a16="http://schemas.microsoft.com/office/drawing/2014/main" id="{65EBC4DB-64BB-1190-9C03-51C00B2C3376}"/>
              </a:ext>
            </a:extLst>
          </p:cNvPr>
          <p:cNvGrpSpPr/>
          <p:nvPr/>
        </p:nvGrpSpPr>
        <p:grpSpPr>
          <a:xfrm>
            <a:off x="1340928" y="3240157"/>
            <a:ext cx="3235301" cy="806031"/>
            <a:chOff x="1340928" y="3240157"/>
            <a:chExt cx="3235301" cy="806031"/>
          </a:xfrm>
        </p:grpSpPr>
        <p:sp>
          <p:nvSpPr>
            <p:cNvPr id="49" name="!!TGW">
              <a:extLst>
                <a:ext uri="{FF2B5EF4-FFF2-40B4-BE49-F238E27FC236}">
                  <a16:creationId xmlns:a16="http://schemas.microsoft.com/office/drawing/2014/main" id="{0F439782-C7E3-8CBE-2082-714125A9813E}"/>
                </a:ext>
              </a:extLst>
            </p:cNvPr>
            <p:cNvSpPr txBox="1">
              <a:spLocks noChangeAspect="1"/>
            </p:cNvSpPr>
            <p:nvPr/>
          </p:nvSpPr>
          <p:spPr>
            <a:xfrm>
              <a:off x="1827562" y="3506188"/>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50" name="!!TG">
              <a:extLst>
                <a:ext uri="{FF2B5EF4-FFF2-40B4-BE49-F238E27FC236}">
                  <a16:creationId xmlns:a16="http://schemas.microsoft.com/office/drawing/2014/main" id="{7B0E38D4-E8D2-EAE8-CFBA-7DABBDB15CCC}"/>
                </a:ext>
              </a:extLst>
            </p:cNvPr>
            <p:cNvSpPr txBox="1"/>
            <p:nvPr/>
          </p:nvSpPr>
          <p:spPr>
            <a:xfrm>
              <a:off x="2452887" y="3695988"/>
              <a:ext cx="1018363" cy="15388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Transit Gateways</a:t>
              </a:r>
            </a:p>
          </p:txBody>
        </p:sp>
        <p:cxnSp>
          <p:nvCxnSpPr>
            <p:cNvPr id="51" name="!!TGW-uplink2">
              <a:extLst>
                <a:ext uri="{FF2B5EF4-FFF2-40B4-BE49-F238E27FC236}">
                  <a16:creationId xmlns:a16="http://schemas.microsoft.com/office/drawing/2014/main" id="{7C6177C2-D79F-F154-A889-54E7D26D30E2}"/>
                </a:ext>
              </a:extLst>
            </p:cNvPr>
            <p:cNvCxnSpPr>
              <a:cxnSpLocks/>
            </p:cNvCxnSpPr>
            <p:nvPr/>
          </p:nvCxnSpPr>
          <p:spPr bwMode="gray">
            <a:xfrm>
              <a:off x="2674133" y="3240157"/>
              <a:ext cx="0" cy="1790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 name="!!TGW-uplink2">
              <a:extLst>
                <a:ext uri="{FF2B5EF4-FFF2-40B4-BE49-F238E27FC236}">
                  <a16:creationId xmlns:a16="http://schemas.microsoft.com/office/drawing/2014/main" id="{9E5A7D2A-0399-AEBA-2DBE-9CC474FB40D5}"/>
                </a:ext>
              </a:extLst>
            </p:cNvPr>
            <p:cNvCxnSpPr>
              <a:cxnSpLocks/>
            </p:cNvCxnSpPr>
            <p:nvPr/>
          </p:nvCxnSpPr>
          <p:spPr bwMode="gray">
            <a:xfrm>
              <a:off x="1518290" y="3240157"/>
              <a:ext cx="0" cy="1790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4D6F8773-4B1C-2529-8FB1-30BBC48583AE}"/>
                </a:ext>
              </a:extLst>
            </p:cNvPr>
            <p:cNvCxnSpPr>
              <a:cxnSpLocks/>
            </p:cNvCxnSpPr>
            <p:nvPr/>
          </p:nvCxnSpPr>
          <p:spPr bwMode="gray">
            <a:xfrm flipH="1">
              <a:off x="2339252" y="3429000"/>
              <a:ext cx="334881" cy="21078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E20BA9AC-106E-6549-EEFD-DCBB8B388C73}"/>
                </a:ext>
              </a:extLst>
            </p:cNvPr>
            <p:cNvCxnSpPr>
              <a:cxnSpLocks/>
            </p:cNvCxnSpPr>
            <p:nvPr/>
          </p:nvCxnSpPr>
          <p:spPr bwMode="gray">
            <a:xfrm>
              <a:off x="1523651" y="3429000"/>
              <a:ext cx="334881" cy="21078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5" name="!!TGW">
              <a:extLst>
                <a:ext uri="{FF2B5EF4-FFF2-40B4-BE49-F238E27FC236}">
                  <a16:creationId xmlns:a16="http://schemas.microsoft.com/office/drawing/2014/main" id="{DAC2AF7E-F360-1D0F-0D61-67AD105CDDD8}"/>
                </a:ext>
              </a:extLst>
            </p:cNvPr>
            <p:cNvSpPr txBox="1">
              <a:spLocks noChangeAspect="1"/>
            </p:cNvSpPr>
            <p:nvPr/>
          </p:nvSpPr>
          <p:spPr>
            <a:xfrm>
              <a:off x="3548263" y="3506188"/>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56" name="!!TGW-uplink2">
              <a:extLst>
                <a:ext uri="{FF2B5EF4-FFF2-40B4-BE49-F238E27FC236}">
                  <a16:creationId xmlns:a16="http://schemas.microsoft.com/office/drawing/2014/main" id="{78F21D44-1A9C-72F4-7D5D-9AC5D69872DA}"/>
                </a:ext>
              </a:extLst>
            </p:cNvPr>
            <p:cNvCxnSpPr>
              <a:cxnSpLocks/>
            </p:cNvCxnSpPr>
            <p:nvPr/>
          </p:nvCxnSpPr>
          <p:spPr bwMode="gray">
            <a:xfrm>
              <a:off x="3818882" y="3246335"/>
              <a:ext cx="0" cy="25062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DCC79504-AF88-10EF-FBFF-4FF7570E869D}"/>
                </a:ext>
              </a:extLst>
            </p:cNvPr>
            <p:cNvSpPr txBox="1"/>
            <p:nvPr/>
          </p:nvSpPr>
          <p:spPr>
            <a:xfrm>
              <a:off x="4115539" y="3695988"/>
              <a:ext cx="460690"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DTGW</a:t>
              </a:r>
            </a:p>
          </p:txBody>
        </p:sp>
        <p:sp>
          <p:nvSpPr>
            <p:cNvPr id="58" name="TextBox 57">
              <a:extLst>
                <a:ext uri="{FF2B5EF4-FFF2-40B4-BE49-F238E27FC236}">
                  <a16:creationId xmlns:a16="http://schemas.microsoft.com/office/drawing/2014/main" id="{8B6ED8A9-9A52-1FFF-C6FB-AABF7A224CBB}"/>
                </a:ext>
              </a:extLst>
            </p:cNvPr>
            <p:cNvSpPr txBox="1"/>
            <p:nvPr/>
          </p:nvSpPr>
          <p:spPr>
            <a:xfrm>
              <a:off x="1340928" y="3695988"/>
              <a:ext cx="460690" cy="15388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CTGW</a:t>
              </a:r>
            </a:p>
          </p:txBody>
        </p:sp>
      </p:grpSp>
      <p:grpSp>
        <p:nvGrpSpPr>
          <p:cNvPr id="59" name="VPC GW">
            <a:extLst>
              <a:ext uri="{FF2B5EF4-FFF2-40B4-BE49-F238E27FC236}">
                <a16:creationId xmlns:a16="http://schemas.microsoft.com/office/drawing/2014/main" id="{E82B6C38-1C41-5939-C3F6-CD350AAF0F4D}"/>
              </a:ext>
            </a:extLst>
          </p:cNvPr>
          <p:cNvGrpSpPr/>
          <p:nvPr/>
        </p:nvGrpSpPr>
        <p:grpSpPr>
          <a:xfrm>
            <a:off x="1307551" y="3980781"/>
            <a:ext cx="2691079" cy="1555729"/>
            <a:chOff x="1307551" y="3980781"/>
            <a:chExt cx="2691079" cy="1555729"/>
          </a:xfrm>
        </p:grpSpPr>
        <p:sp>
          <p:nvSpPr>
            <p:cNvPr id="60" name="TextBox 59">
              <a:extLst>
                <a:ext uri="{FF2B5EF4-FFF2-40B4-BE49-F238E27FC236}">
                  <a16:creationId xmlns:a16="http://schemas.microsoft.com/office/drawing/2014/main" id="{1E3CA5BA-19A6-D9FA-718B-DEBF15003B6B}"/>
                </a:ext>
              </a:extLst>
            </p:cNvPr>
            <p:cNvSpPr txBox="1"/>
            <p:nvPr/>
          </p:nvSpPr>
          <p:spPr>
            <a:xfrm>
              <a:off x="1307551" y="4800600"/>
              <a:ext cx="507123"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b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Gateway</a:t>
              </a:r>
            </a:p>
          </p:txBody>
        </p:sp>
        <p:cxnSp>
          <p:nvCxnSpPr>
            <p:cNvPr id="61" name="Straight Connector 60">
              <a:extLst>
                <a:ext uri="{FF2B5EF4-FFF2-40B4-BE49-F238E27FC236}">
                  <a16:creationId xmlns:a16="http://schemas.microsoft.com/office/drawing/2014/main" id="{A6586C89-F321-5642-5E20-076871871970}"/>
                </a:ext>
              </a:extLst>
            </p:cNvPr>
            <p:cNvCxnSpPr>
              <a:cxnSpLocks/>
            </p:cNvCxnSpPr>
            <p:nvPr/>
          </p:nvCxnSpPr>
          <p:spPr bwMode="gray">
            <a:xfrm>
              <a:off x="1887031" y="4922069"/>
              <a:ext cx="0" cy="61444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D265C17F-0A41-DA99-8CE9-496906B68222}"/>
                </a:ext>
              </a:extLst>
            </p:cNvPr>
            <p:cNvCxnSpPr>
              <a:cxnSpLocks/>
            </p:cNvCxnSpPr>
            <p:nvPr/>
          </p:nvCxnSpPr>
          <p:spPr bwMode="gray">
            <a:xfrm>
              <a:off x="1799900" y="4245429"/>
              <a:ext cx="0" cy="349946"/>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901E7C48-A56B-70EE-6D64-E291D7E63024}"/>
                </a:ext>
              </a:extLst>
            </p:cNvPr>
            <p:cNvSpPr txBox="1">
              <a:spLocks noChangeAspect="1"/>
            </p:cNvSpPr>
            <p:nvPr/>
          </p:nvSpPr>
          <p:spPr>
            <a:xfrm>
              <a:off x="1616852" y="4591411"/>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69" name="TextBox 68">
              <a:extLst>
                <a:ext uri="{FF2B5EF4-FFF2-40B4-BE49-F238E27FC236}">
                  <a16:creationId xmlns:a16="http://schemas.microsoft.com/office/drawing/2014/main" id="{CB6BC624-D36D-98C1-3A5F-63A15437A0A9}"/>
                </a:ext>
              </a:extLst>
            </p:cNvPr>
            <p:cNvSpPr txBox="1"/>
            <p:nvPr/>
          </p:nvSpPr>
          <p:spPr>
            <a:xfrm flipH="1">
              <a:off x="2405715" y="4800600"/>
              <a:ext cx="507123"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b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Gateway</a:t>
              </a:r>
            </a:p>
          </p:txBody>
        </p:sp>
        <p:cxnSp>
          <p:nvCxnSpPr>
            <p:cNvPr id="70" name="Straight Connector 69">
              <a:extLst>
                <a:ext uri="{FF2B5EF4-FFF2-40B4-BE49-F238E27FC236}">
                  <a16:creationId xmlns:a16="http://schemas.microsoft.com/office/drawing/2014/main" id="{BADFB321-7CB9-C432-F521-78D3A17BCEFD}"/>
                </a:ext>
              </a:extLst>
            </p:cNvPr>
            <p:cNvCxnSpPr>
              <a:cxnSpLocks/>
            </p:cNvCxnSpPr>
            <p:nvPr/>
          </p:nvCxnSpPr>
          <p:spPr bwMode="gray">
            <a:xfrm flipH="1">
              <a:off x="2333358" y="4922069"/>
              <a:ext cx="0" cy="61444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5812F51-7924-2893-B822-B99C55B258AD}"/>
                </a:ext>
              </a:extLst>
            </p:cNvPr>
            <p:cNvCxnSpPr>
              <a:cxnSpLocks/>
            </p:cNvCxnSpPr>
            <p:nvPr/>
          </p:nvCxnSpPr>
          <p:spPr bwMode="gray">
            <a:xfrm flipH="1">
              <a:off x="2420489" y="4245429"/>
              <a:ext cx="0" cy="349946"/>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163DAC0-31C3-260E-D444-BD98DCA31652}"/>
                </a:ext>
              </a:extLst>
            </p:cNvPr>
            <p:cNvSpPr txBox="1">
              <a:spLocks noChangeAspect="1"/>
            </p:cNvSpPr>
            <p:nvPr/>
          </p:nvSpPr>
          <p:spPr>
            <a:xfrm>
              <a:off x="2244042" y="4591411"/>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75" name="Straight Connector 74">
              <a:extLst>
                <a:ext uri="{FF2B5EF4-FFF2-40B4-BE49-F238E27FC236}">
                  <a16:creationId xmlns:a16="http://schemas.microsoft.com/office/drawing/2014/main" id="{91009951-2188-D718-24C2-33A555D0B771}"/>
                </a:ext>
              </a:extLst>
            </p:cNvPr>
            <p:cNvCxnSpPr>
              <a:cxnSpLocks/>
            </p:cNvCxnSpPr>
            <p:nvPr/>
          </p:nvCxnSpPr>
          <p:spPr bwMode="gray">
            <a:xfrm flipV="1">
              <a:off x="1798082" y="3997411"/>
              <a:ext cx="160638" cy="23477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51C2B3F9-B4A1-D11F-D5DD-D9CE807DA582}"/>
                </a:ext>
              </a:extLst>
            </p:cNvPr>
            <p:cNvCxnSpPr>
              <a:cxnSpLocks/>
            </p:cNvCxnSpPr>
            <p:nvPr/>
          </p:nvCxnSpPr>
          <p:spPr bwMode="gray">
            <a:xfrm flipH="1" flipV="1">
              <a:off x="2272374" y="3980781"/>
              <a:ext cx="148281" cy="247135"/>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EBE49BE1-34EB-8EA7-F14B-EA9C373860CD}"/>
                </a:ext>
              </a:extLst>
            </p:cNvPr>
            <p:cNvCxnSpPr>
              <a:cxnSpLocks/>
            </p:cNvCxnSpPr>
            <p:nvPr/>
          </p:nvCxnSpPr>
          <p:spPr bwMode="gray">
            <a:xfrm flipV="1">
              <a:off x="3818882" y="4050649"/>
              <a:ext cx="0" cy="17299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4EBBF11E-7B9E-DF42-F8E0-72F5C176E1C9}"/>
                </a:ext>
              </a:extLst>
            </p:cNvPr>
            <p:cNvSpPr txBox="1"/>
            <p:nvPr/>
          </p:nvSpPr>
          <p:spPr>
            <a:xfrm>
              <a:off x="3324815" y="4800600"/>
              <a:ext cx="507123"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a:t>
              </a:r>
              <a:b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b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Gateway</a:t>
              </a:r>
            </a:p>
          </p:txBody>
        </p:sp>
        <p:cxnSp>
          <p:nvCxnSpPr>
            <p:cNvPr id="80" name="Straight Connector 79">
              <a:extLst>
                <a:ext uri="{FF2B5EF4-FFF2-40B4-BE49-F238E27FC236}">
                  <a16:creationId xmlns:a16="http://schemas.microsoft.com/office/drawing/2014/main" id="{FC3B3F8F-5F27-02D2-2519-8B94054C401B}"/>
                </a:ext>
              </a:extLst>
            </p:cNvPr>
            <p:cNvCxnSpPr>
              <a:cxnSpLocks/>
            </p:cNvCxnSpPr>
            <p:nvPr/>
          </p:nvCxnSpPr>
          <p:spPr bwMode="gray">
            <a:xfrm>
              <a:off x="3904295" y="4922069"/>
              <a:ext cx="0" cy="61444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AB9DD16-7096-0AEF-9522-948DD293FD2B}"/>
                </a:ext>
              </a:extLst>
            </p:cNvPr>
            <p:cNvCxnSpPr>
              <a:cxnSpLocks/>
            </p:cNvCxnSpPr>
            <p:nvPr/>
          </p:nvCxnSpPr>
          <p:spPr bwMode="gray">
            <a:xfrm>
              <a:off x="3818882" y="4245429"/>
              <a:ext cx="0" cy="349946"/>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E33CC000-903E-D4A5-16F8-4EC4ACF5ED7C}"/>
                </a:ext>
              </a:extLst>
            </p:cNvPr>
            <p:cNvSpPr txBox="1">
              <a:spLocks noChangeAspect="1"/>
            </p:cNvSpPr>
            <p:nvPr/>
          </p:nvSpPr>
          <p:spPr>
            <a:xfrm>
              <a:off x="3639135" y="4591411"/>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grpSp>
      <p:sp>
        <p:nvSpPr>
          <p:cNvPr id="7" name="!!conn2">
            <a:extLst>
              <a:ext uri="{FF2B5EF4-FFF2-40B4-BE49-F238E27FC236}">
                <a16:creationId xmlns:a16="http://schemas.microsoft.com/office/drawing/2014/main" id="{9AFACE1C-D896-1A71-8851-805DE1C971A8}"/>
              </a:ext>
            </a:extLst>
          </p:cNvPr>
          <p:cNvSpPr/>
          <p:nvPr/>
        </p:nvSpPr>
        <p:spPr bwMode="gray">
          <a:xfrm>
            <a:off x="3459373" y="2514600"/>
            <a:ext cx="126808" cy="248478"/>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36000" rIns="3600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s</a:t>
            </a:r>
            <a:endPar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2512047660"/>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xEl>
                                              <p:pRg st="2" end="2"/>
                                            </p:txEl>
                                          </p:spTgt>
                                        </p:tgtEl>
                                        <p:attrNameLst>
                                          <p:attrName>style.visibility</p:attrName>
                                        </p:attrNameLst>
                                      </p:cBhvr>
                                      <p:to>
                                        <p:strVal val="visible"/>
                                      </p:to>
                                    </p:set>
                                  </p:childTnLst>
                                </p:cTn>
                              </p:par>
                              <p:par>
                                <p:cTn id="7" presetID="1" presetClass="exit"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hidden"/>
                                      </p:to>
                                    </p:set>
                                  </p:childTnLst>
                                </p:cTn>
                              </p:par>
                              <p:par>
                                <p:cTn id="9" presetID="6" presetClass="emph" presetSubtype="0" fill="hold" grpId="0" nodeType="withEffect">
                                  <p:stCondLst>
                                    <p:cond delay="0"/>
                                  </p:stCondLst>
                                  <p:childTnLst>
                                    <p:animScale>
                                      <p:cBhvr>
                                        <p:cTn id="10" dur="500" fill="hold"/>
                                        <p:tgtEl>
                                          <p:spTgt spid="14"/>
                                        </p:tgtEl>
                                      </p:cBhvr>
                                      <p:by x="50000" y="50000"/>
                                    </p:animScale>
                                  </p:childTnLst>
                                </p:cTn>
                              </p:par>
                              <p:par>
                                <p:cTn id="11" presetID="42" presetClass="path" presetSubtype="0" accel="50000" decel="50000" fill="hold" grpId="1" nodeType="withEffect">
                                  <p:stCondLst>
                                    <p:cond delay="0"/>
                                  </p:stCondLst>
                                  <p:childTnLst>
                                    <p:animMotion origin="layout" path="M 4.47252E-6 -2.22222E-6 L 0.09442 0.04861 " pathEditMode="relative" rAng="0" ptsTypes="AA">
                                      <p:cBhvr>
                                        <p:cTn id="12" dur="500" fill="hold"/>
                                        <p:tgtEl>
                                          <p:spTgt spid="14"/>
                                        </p:tgtEl>
                                        <p:attrNameLst>
                                          <p:attrName>ppt_x</p:attrName>
                                          <p:attrName>ppt_y</p:attrName>
                                        </p:attrNameLst>
                                      </p:cBhvr>
                                      <p:rCtr x="4715" y="2431"/>
                                    </p:animMotion>
                                  </p:childTnLst>
                                </p:cTn>
                              </p:par>
                              <p:par>
                                <p:cTn id="13" presetID="6" presetClass="emph" presetSubtype="0" fill="hold" grpId="0" nodeType="withEffect">
                                  <p:stCondLst>
                                    <p:cond delay="0"/>
                                  </p:stCondLst>
                                  <p:childTnLst>
                                    <p:animScale>
                                      <p:cBhvr>
                                        <p:cTn id="14" dur="500" fill="hold"/>
                                        <p:tgtEl>
                                          <p:spTgt spid="18"/>
                                        </p:tgtEl>
                                      </p:cBhvr>
                                      <p:by x="62000" y="62000"/>
                                    </p:animScale>
                                  </p:childTnLst>
                                </p:cTn>
                              </p:par>
                              <p:par>
                                <p:cTn id="15" presetID="42" presetClass="path" presetSubtype="0" accel="50000" decel="50000" fill="hold" grpId="1" nodeType="withEffect">
                                  <p:stCondLst>
                                    <p:cond delay="0"/>
                                  </p:stCondLst>
                                  <p:childTnLst>
                                    <p:animMotion origin="layout" path="M 4.47252E-6 -2.22222E-6 L 0.00234 0.04861 " pathEditMode="relative" rAng="0" ptsTypes="AA">
                                      <p:cBhvr>
                                        <p:cTn id="16" dur="500" fill="hold"/>
                                        <p:tgtEl>
                                          <p:spTgt spid="18"/>
                                        </p:tgtEl>
                                        <p:attrNameLst>
                                          <p:attrName>ppt_x</p:attrName>
                                          <p:attrName>ppt_y</p:attrName>
                                        </p:attrNameLst>
                                      </p:cBhvr>
                                      <p:rCtr x="117" y="2431"/>
                                    </p:animMotion>
                                  </p:childTnLst>
                                </p:cTn>
                              </p:par>
                              <p:par>
                                <p:cTn id="17" presetID="6" presetClass="emph" presetSubtype="0" fill="hold" grpId="0" nodeType="withEffect">
                                  <p:stCondLst>
                                    <p:cond delay="0"/>
                                  </p:stCondLst>
                                  <p:childTnLst>
                                    <p:animScale>
                                      <p:cBhvr>
                                        <p:cTn id="18" dur="500" fill="hold"/>
                                        <p:tgtEl>
                                          <p:spTgt spid="19"/>
                                        </p:tgtEl>
                                      </p:cBhvr>
                                      <p:by x="62000" y="62000"/>
                                    </p:animScale>
                                  </p:childTnLst>
                                </p:cTn>
                              </p:par>
                              <p:par>
                                <p:cTn id="19" presetID="42" presetClass="path" presetSubtype="0" accel="50000" decel="50000" fill="hold" grpId="1" nodeType="withEffect">
                                  <p:stCondLst>
                                    <p:cond delay="0"/>
                                  </p:stCondLst>
                                  <p:childTnLst>
                                    <p:animMotion origin="layout" path="M 4.47252E-6 -2.22222E-6 L -0.09313 0.04861 " pathEditMode="relative" rAng="0" ptsTypes="AA">
                                      <p:cBhvr>
                                        <p:cTn id="20" dur="500" fill="hold"/>
                                        <p:tgtEl>
                                          <p:spTgt spid="19"/>
                                        </p:tgtEl>
                                        <p:attrNameLst>
                                          <p:attrName>ppt_x</p:attrName>
                                          <p:attrName>ppt_y</p:attrName>
                                        </p:attrNameLst>
                                      </p:cBhvr>
                                      <p:rCtr x="-4663" y="2431"/>
                                    </p:animMotion>
                                  </p:childTnLst>
                                </p:cTn>
                              </p:par>
                            </p:childTnLst>
                          </p:cTn>
                        </p:par>
                        <p:par>
                          <p:cTn id="21" fill="hold">
                            <p:stCondLst>
                              <p:cond delay="500"/>
                            </p:stCondLst>
                            <p:childTnLst>
                              <p:par>
                                <p:cTn id="22" presetID="1" presetClass="entr" presetSubtype="0" fill="hold" grpId="0" nodeType="afterEffect">
                                  <p:stCondLst>
                                    <p:cond delay="0"/>
                                  </p:stCondLst>
                                  <p:childTnLst>
                                    <p:set>
                                      <p:cBhvr>
                                        <p:cTn id="23" dur="1" fill="hold">
                                          <p:stCondLst>
                                            <p:cond delay="0"/>
                                          </p:stCondLst>
                                        </p:cTn>
                                        <p:tgtEl>
                                          <p:spTgt spid="2"/>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22"/>
                                        </p:tgtEl>
                                        <p:attrNameLst>
                                          <p:attrName>style.visibility</p:attrName>
                                        </p:attrNameLst>
                                      </p:cBhvr>
                                      <p:to>
                                        <p:strVal val="visible"/>
                                      </p:to>
                                    </p:set>
                                  </p:childTnLst>
                                </p:cTn>
                              </p:par>
                            </p:childTnLst>
                          </p:cTn>
                        </p:par>
                        <p:par>
                          <p:cTn id="30" fill="hold">
                            <p:stCondLst>
                              <p:cond delay="500"/>
                            </p:stCondLst>
                            <p:childTnLst>
                              <p:par>
                                <p:cTn id="31" presetID="1" presetClass="entr" presetSubtype="0" fill="hold" nodeType="afterEffect">
                                  <p:stCondLst>
                                    <p:cond delay="0"/>
                                  </p:stCondLst>
                                  <p:childTnLst>
                                    <p:set>
                                      <p:cBhvr>
                                        <p:cTn id="32" dur="1" fill="hold">
                                          <p:stCondLst>
                                            <p:cond delay="0"/>
                                          </p:stCondLst>
                                        </p:cTn>
                                        <p:tgtEl>
                                          <p:spTgt spid="2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6">
                                            <p:txEl>
                                              <p:pRg st="3" end="3"/>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6">
                                            <p:txEl>
                                              <p:pRg st="4" end="4"/>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6">
                                            <p:txEl>
                                              <p:pRg st="5" end="5"/>
                                            </p:txEl>
                                          </p:spTgt>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6">
                                            <p:txEl>
                                              <p:pRg st="6" end="6"/>
                                            </p:txEl>
                                          </p:spTgt>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6">
                                            <p:txEl>
                                              <p:pRg st="7" end="7"/>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16">
                                            <p:txEl>
                                              <p:pRg st="8" end="8"/>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6">
                                            <p:txEl>
                                              <p:pRg st="9" end="9"/>
                                            </p:txEl>
                                          </p:spTgt>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6">
                                            <p:txEl>
                                              <p:pRg st="10" end="10"/>
                                            </p:txEl>
                                          </p:spTgt>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8" grpId="0" animBg="1"/>
      <p:bldP spid="18" grpId="1" animBg="1"/>
      <p:bldP spid="19" grpId="0" animBg="1"/>
      <p:bldP spid="19" grpId="1" animBg="1"/>
      <p:bldP spid="2" grpId="0" animBg="1"/>
      <p:bldP spid="3" grpId="0" animBg="1"/>
      <p:bldP spid="13" grpId="0" animBg="1"/>
      <p:bldP spid="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538092-6EBA-8E98-3B97-A6370725D17C}"/>
            </a:ext>
          </a:extLst>
        </p:cNvPr>
        <p:cNvGrpSpPr/>
        <p:nvPr/>
      </p:nvGrpSpPr>
      <p:grpSpPr>
        <a:xfrm>
          <a:off x="0" y="0"/>
          <a:ext cx="0" cy="0"/>
          <a:chOff x="0" y="0"/>
          <a:chExt cx="0" cy="0"/>
        </a:xfrm>
      </p:grpSpPr>
      <p:cxnSp>
        <p:nvCxnSpPr>
          <p:cNvPr id="46" name="!!greystuff">
            <a:extLst>
              <a:ext uri="{FF2B5EF4-FFF2-40B4-BE49-F238E27FC236}">
                <a16:creationId xmlns:a16="http://schemas.microsoft.com/office/drawing/2014/main" id="{50A6E044-47A8-7C98-4096-1F7D13A81181}"/>
              </a:ext>
            </a:extLst>
          </p:cNvPr>
          <p:cNvCxnSpPr>
            <a:cxnSpLocks/>
          </p:cNvCxnSpPr>
          <p:nvPr/>
        </p:nvCxnSpPr>
        <p:spPr bwMode="gray">
          <a:xfrm flipV="1">
            <a:off x="5403197" y="1939636"/>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 name="!!TOP">
            <a:extLst>
              <a:ext uri="{FF2B5EF4-FFF2-40B4-BE49-F238E27FC236}">
                <a16:creationId xmlns:a16="http://schemas.microsoft.com/office/drawing/2014/main" id="{CE0EDF26-72F0-AB5A-1E55-6FEC90E4F9D7}"/>
              </a:ext>
            </a:extLst>
          </p:cNvPr>
          <p:cNvSpPr/>
          <p:nvPr/>
        </p:nvSpPr>
        <p:spPr>
          <a:xfrm flipV="1">
            <a:off x="608013" y="2057400"/>
            <a:ext cx="7315200" cy="4114800"/>
          </a:xfrm>
          <a:prstGeom prst="round2SameRect">
            <a:avLst>
              <a:gd name="adj1" fmla="val 454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50" name="Rounded Rectangle 49">
            <a:extLst>
              <a:ext uri="{FF2B5EF4-FFF2-40B4-BE49-F238E27FC236}">
                <a16:creationId xmlns:a16="http://schemas.microsoft.com/office/drawing/2014/main" id="{09686B4A-5EFD-F172-837D-57F9AC9EA3C4}"/>
              </a:ext>
            </a:extLst>
          </p:cNvPr>
          <p:cNvSpPr/>
          <p:nvPr/>
        </p:nvSpPr>
        <p:spPr bwMode="gray">
          <a:xfrm>
            <a:off x="2365085" y="2263537"/>
            <a:ext cx="1655999" cy="1800000"/>
          </a:xfrm>
          <a:prstGeom prst="roundRect">
            <a:avLst>
              <a:gd name="adj" fmla="val 6464"/>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0" rIns="9144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180" name="Rounded Rectangle 179">
            <a:extLst>
              <a:ext uri="{FF2B5EF4-FFF2-40B4-BE49-F238E27FC236}">
                <a16:creationId xmlns:a16="http://schemas.microsoft.com/office/drawing/2014/main" id="{09BF9099-A942-8740-1455-ACBB7E7FB501}"/>
              </a:ext>
            </a:extLst>
          </p:cNvPr>
          <p:cNvSpPr/>
          <p:nvPr/>
        </p:nvSpPr>
        <p:spPr bwMode="gray">
          <a:xfrm>
            <a:off x="4478745" y="2263536"/>
            <a:ext cx="1655999" cy="1800000"/>
          </a:xfrm>
          <a:prstGeom prst="roundRect">
            <a:avLst>
              <a:gd name="adj" fmla="val 4968"/>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0" rIns="9144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8" name="!!ESX1">
            <a:extLst>
              <a:ext uri="{FF2B5EF4-FFF2-40B4-BE49-F238E27FC236}">
                <a16:creationId xmlns:a16="http://schemas.microsoft.com/office/drawing/2014/main" id="{A1F01AB2-DB2B-1350-7B45-FC418F607820}"/>
              </a:ext>
            </a:extLst>
          </p:cNvPr>
          <p:cNvSpPr/>
          <p:nvPr/>
        </p:nvSpPr>
        <p:spPr bwMode="gray">
          <a:xfrm>
            <a:off x="825778" y="4292425"/>
            <a:ext cx="1371600" cy="1427743"/>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7" name="!!ESX2">
            <a:extLst>
              <a:ext uri="{FF2B5EF4-FFF2-40B4-BE49-F238E27FC236}">
                <a16:creationId xmlns:a16="http://schemas.microsoft.com/office/drawing/2014/main" id="{9C616E43-8831-9AF9-E8D9-60BAE4BF481A}"/>
              </a:ext>
            </a:extLst>
          </p:cNvPr>
          <p:cNvSpPr/>
          <p:nvPr/>
        </p:nvSpPr>
        <p:spPr bwMode="gray">
          <a:xfrm>
            <a:off x="2649945" y="4292425"/>
            <a:ext cx="1371600" cy="1427743"/>
          </a:xfrm>
          <a:prstGeom prst="roundRect">
            <a:avLst>
              <a:gd name="adj" fmla="val 4902"/>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9" name="ESX3">
            <a:extLst>
              <a:ext uri="{FF2B5EF4-FFF2-40B4-BE49-F238E27FC236}">
                <a16:creationId xmlns:a16="http://schemas.microsoft.com/office/drawing/2014/main" id="{1D63C774-E8E3-9CD6-A0A8-710741B31BB7}"/>
              </a:ext>
            </a:extLst>
          </p:cNvPr>
          <p:cNvSpPr/>
          <p:nvPr/>
        </p:nvSpPr>
        <p:spPr bwMode="gray">
          <a:xfrm>
            <a:off x="4481316" y="4292425"/>
            <a:ext cx="1371600" cy="1427743"/>
          </a:xfrm>
          <a:prstGeom prst="roundRect">
            <a:avLst>
              <a:gd name="adj" fmla="val 5615"/>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10" name="ESX4">
            <a:extLst>
              <a:ext uri="{FF2B5EF4-FFF2-40B4-BE49-F238E27FC236}">
                <a16:creationId xmlns:a16="http://schemas.microsoft.com/office/drawing/2014/main" id="{1E00ECE6-0C5A-E56C-D45C-690EFF1E7477}"/>
              </a:ext>
            </a:extLst>
          </p:cNvPr>
          <p:cNvSpPr/>
          <p:nvPr/>
        </p:nvSpPr>
        <p:spPr bwMode="gray">
          <a:xfrm>
            <a:off x="6313765" y="4292425"/>
            <a:ext cx="1371600" cy="1427743"/>
          </a:xfrm>
          <a:prstGeom prst="roundRect">
            <a:avLst>
              <a:gd name="adj" fmla="val 525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4" name="Title 3">
            <a:extLst>
              <a:ext uri="{FF2B5EF4-FFF2-40B4-BE49-F238E27FC236}">
                <a16:creationId xmlns:a16="http://schemas.microsoft.com/office/drawing/2014/main" id="{E3646E6A-849F-E2B9-8F7F-CB8AC55BEF0E}"/>
              </a:ext>
            </a:extLst>
          </p:cNvPr>
          <p:cNvSpPr>
            <a:spLocks noGrp="1"/>
          </p:cNvSpPr>
          <p:nvPr>
            <p:ph type="title"/>
          </p:nvPr>
        </p:nvSpPr>
        <p:spPr/>
        <p:txBody>
          <a:bodyPr/>
          <a:lstStyle/>
          <a:p>
            <a:r>
              <a:rPr lang="en-US" dirty="0"/>
              <a:t>Centralized External Connection</a:t>
            </a:r>
          </a:p>
        </p:txBody>
      </p:sp>
      <p:sp>
        <p:nvSpPr>
          <p:cNvPr id="15" name="Subtitle 14">
            <a:extLst>
              <a:ext uri="{FF2B5EF4-FFF2-40B4-BE49-F238E27FC236}">
                <a16:creationId xmlns:a16="http://schemas.microsoft.com/office/drawing/2014/main" id="{4144E4B6-75DC-A10C-4D36-1FB4D9757DA3}"/>
              </a:ext>
            </a:extLst>
          </p:cNvPr>
          <p:cNvSpPr>
            <a:spLocks noGrp="1"/>
          </p:cNvSpPr>
          <p:nvPr>
            <p:ph type="subTitle" idx="10"/>
          </p:nvPr>
        </p:nvSpPr>
        <p:spPr/>
        <p:txBody>
          <a:bodyPr/>
          <a:lstStyle/>
          <a:p>
            <a:r>
              <a:rPr lang="en-US" dirty="0"/>
              <a:t>Logical to physical component mapping</a:t>
            </a:r>
          </a:p>
        </p:txBody>
      </p:sp>
      <p:sp>
        <p:nvSpPr>
          <p:cNvPr id="187" name="Text Placeholder 186">
            <a:extLst>
              <a:ext uri="{FF2B5EF4-FFF2-40B4-BE49-F238E27FC236}">
                <a16:creationId xmlns:a16="http://schemas.microsoft.com/office/drawing/2014/main" id="{E02BD8FE-9893-99BB-0131-E5D02C7C7112}"/>
              </a:ext>
            </a:extLst>
          </p:cNvPr>
          <p:cNvSpPr>
            <a:spLocks noGrp="1"/>
          </p:cNvSpPr>
          <p:nvPr>
            <p:ph type="body" sz="quarter" idx="4294967295"/>
          </p:nvPr>
        </p:nvSpPr>
        <p:spPr>
          <a:xfrm>
            <a:off x="8380413" y="2057400"/>
            <a:ext cx="3808412" cy="4114800"/>
          </a:xfrm>
        </p:spPr>
        <p:txBody>
          <a:bodyPr rIns="540000"/>
          <a:lstStyle/>
          <a:p>
            <a:pPr marL="465750" indent="-285750">
              <a:spcAft>
                <a:spcPts val="600"/>
              </a:spcAft>
              <a:buFont typeface="Wingdings" pitchFamily="2" charset="2"/>
              <a:buChar char="§"/>
            </a:pPr>
            <a:r>
              <a:rPr lang="en-US" sz="1600" b="1" dirty="0">
                <a:solidFill>
                  <a:schemeClr val="accent2"/>
                </a:solidFill>
              </a:rPr>
              <a:t>Centralized</a:t>
            </a:r>
            <a:r>
              <a:rPr lang="en-US" sz="1600" dirty="0">
                <a:solidFill>
                  <a:schemeClr val="accent2"/>
                </a:solidFill>
              </a:rPr>
              <a:t> transit gateway runs on NSX Edges</a:t>
            </a:r>
          </a:p>
          <a:p>
            <a:pPr marL="465750" indent="-285750">
              <a:spcAft>
                <a:spcPts val="600"/>
              </a:spcAft>
              <a:buFont typeface="Wingdings" pitchFamily="2" charset="2"/>
              <a:buChar char="§"/>
            </a:pPr>
            <a:r>
              <a:rPr lang="en-US" sz="1600" dirty="0">
                <a:solidFill>
                  <a:schemeClr val="accent2"/>
                </a:solidFill>
              </a:rPr>
              <a:t>Follows the traditional NSX deployment model and provides the richest feature set</a:t>
            </a:r>
          </a:p>
          <a:p>
            <a:pPr marL="465750" indent="-285750">
              <a:spcAft>
                <a:spcPts val="600"/>
              </a:spcAft>
              <a:buFont typeface="Wingdings" pitchFamily="2" charset="2"/>
              <a:buChar char="§"/>
            </a:pPr>
            <a:r>
              <a:rPr lang="en-US" sz="1600" dirty="0">
                <a:solidFill>
                  <a:schemeClr val="accent2"/>
                </a:solidFill>
              </a:rPr>
              <a:t>All traffic in/out VCF go through one of those NSX edges</a:t>
            </a:r>
          </a:p>
          <a:p>
            <a:pPr marL="465750" indent="-285750">
              <a:spcAft>
                <a:spcPts val="600"/>
              </a:spcAft>
              <a:buFont typeface="Wingdings" pitchFamily="2" charset="2"/>
              <a:buChar char="§"/>
            </a:pPr>
            <a:r>
              <a:rPr lang="en-US" sz="1600" dirty="0">
                <a:solidFill>
                  <a:schemeClr val="accent2"/>
                </a:solidFill>
              </a:rPr>
              <a:t>VPC gateways include a distributed component on each ESX host</a:t>
            </a:r>
          </a:p>
          <a:p>
            <a:pPr marL="465750" indent="-285750">
              <a:spcAft>
                <a:spcPts val="600"/>
              </a:spcAft>
              <a:buFont typeface="Wingdings" pitchFamily="2" charset="2"/>
              <a:buChar char="§"/>
            </a:pPr>
            <a:r>
              <a:rPr lang="en-US" sz="1600" dirty="0">
                <a:solidFill>
                  <a:schemeClr val="accent2"/>
                </a:solidFill>
              </a:rPr>
              <a:t>Traffic between VCF workloads can bypass the edges</a:t>
            </a:r>
          </a:p>
        </p:txBody>
      </p:sp>
      <p:sp>
        <p:nvSpPr>
          <p:cNvPr id="88" name="!!T0">
            <a:extLst>
              <a:ext uri="{FF2B5EF4-FFF2-40B4-BE49-F238E27FC236}">
                <a16:creationId xmlns:a16="http://schemas.microsoft.com/office/drawing/2014/main" id="{8CB00145-2E7D-A2C4-A0E4-E7E289F5B162}"/>
              </a:ext>
            </a:extLst>
          </p:cNvPr>
          <p:cNvSpPr txBox="1"/>
          <p:nvPr/>
        </p:nvSpPr>
        <p:spPr>
          <a:xfrm>
            <a:off x="2765169" y="2461982"/>
            <a:ext cx="902735"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Tier0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5C8A"/>
                </a:solidFill>
                <a:effectLst/>
                <a:uLnTx/>
                <a:uFillTx/>
                <a:latin typeface="Arial" panose="020B0604020202020204"/>
                <a:ea typeface="+mn-ea"/>
                <a:cs typeface="+mn-cs"/>
              </a:rPr>
              <a:t>Gateway</a:t>
            </a:r>
          </a:p>
        </p:txBody>
      </p:sp>
      <p:sp>
        <p:nvSpPr>
          <p:cNvPr id="35" name="!!Tier0">
            <a:extLst>
              <a:ext uri="{FF2B5EF4-FFF2-40B4-BE49-F238E27FC236}">
                <a16:creationId xmlns:a16="http://schemas.microsoft.com/office/drawing/2014/main" id="{9BBE9977-1C28-5918-7F23-DEDEC8DA112C}"/>
              </a:ext>
            </a:extLst>
          </p:cNvPr>
          <p:cNvSpPr txBox="1">
            <a:spLocks noChangeAspect="1"/>
          </p:cNvSpPr>
          <p:nvPr/>
        </p:nvSpPr>
        <p:spPr>
          <a:xfrm>
            <a:off x="3302444" y="2339738"/>
            <a:ext cx="540000" cy="540000"/>
          </a:xfrm>
          <a:custGeom>
            <a:avLst/>
            <a:gdLst/>
            <a:ahLst/>
            <a:cxnLst/>
            <a:rect l="l" t="t" r="r" b="b"/>
            <a:pathLst>
              <a:path w="3411855" h="3411855">
                <a:moveTo>
                  <a:pt x="1616141" y="2365151"/>
                </a:moveTo>
                <a:lnTo>
                  <a:pt x="1795712" y="2365151"/>
                </a:lnTo>
                <a:lnTo>
                  <a:pt x="1795712" y="2702754"/>
                </a:lnTo>
                <a:lnTo>
                  <a:pt x="1947657" y="2702754"/>
                </a:lnTo>
                <a:lnTo>
                  <a:pt x="1705927" y="3121293"/>
                </a:lnTo>
                <a:lnTo>
                  <a:pt x="1464196" y="2702754"/>
                </a:lnTo>
                <a:lnTo>
                  <a:pt x="1616141" y="2702754"/>
                </a:lnTo>
                <a:close/>
                <a:moveTo>
                  <a:pt x="1943213" y="1472645"/>
                </a:moveTo>
                <a:cubicBezTo>
                  <a:pt x="1909685" y="1472645"/>
                  <a:pt x="1879790" y="1482703"/>
                  <a:pt x="1853526" y="1502820"/>
                </a:cubicBezTo>
                <a:cubicBezTo>
                  <a:pt x="1827262" y="1522937"/>
                  <a:pt x="1806726" y="1551017"/>
                  <a:pt x="1791918" y="1587059"/>
                </a:cubicBezTo>
                <a:cubicBezTo>
                  <a:pt x="1777110" y="1623102"/>
                  <a:pt x="1769706" y="1664034"/>
                  <a:pt x="1769706" y="1709855"/>
                </a:cubicBezTo>
                <a:cubicBezTo>
                  <a:pt x="1769706" y="1755677"/>
                  <a:pt x="1777110" y="1796609"/>
                  <a:pt x="1791918" y="1832652"/>
                </a:cubicBezTo>
                <a:cubicBezTo>
                  <a:pt x="1806726" y="1868694"/>
                  <a:pt x="1827262" y="1896914"/>
                  <a:pt x="1853526" y="1917310"/>
                </a:cubicBezTo>
                <a:cubicBezTo>
                  <a:pt x="1879790" y="1937706"/>
                  <a:pt x="1909685" y="1947904"/>
                  <a:pt x="1943213" y="1947904"/>
                </a:cubicBezTo>
                <a:cubicBezTo>
                  <a:pt x="1976741" y="1947904"/>
                  <a:pt x="2006637" y="1937706"/>
                  <a:pt x="2032901" y="1917310"/>
                </a:cubicBezTo>
                <a:cubicBezTo>
                  <a:pt x="2059164" y="1896914"/>
                  <a:pt x="2079561" y="1868694"/>
                  <a:pt x="2094089" y="1832652"/>
                </a:cubicBezTo>
                <a:cubicBezTo>
                  <a:pt x="2108618" y="1796609"/>
                  <a:pt x="2115883" y="1755677"/>
                  <a:pt x="2115883" y="1709855"/>
                </a:cubicBezTo>
                <a:cubicBezTo>
                  <a:pt x="2115883" y="1664034"/>
                  <a:pt x="2108618" y="1623102"/>
                  <a:pt x="2094089" y="1587059"/>
                </a:cubicBezTo>
                <a:cubicBezTo>
                  <a:pt x="2079561" y="1551017"/>
                  <a:pt x="2059164" y="1522937"/>
                  <a:pt x="2032901" y="1502820"/>
                </a:cubicBezTo>
                <a:cubicBezTo>
                  <a:pt x="2006637" y="1482703"/>
                  <a:pt x="1976741" y="1472645"/>
                  <a:pt x="1943213" y="1472645"/>
                </a:cubicBezTo>
                <a:close/>
                <a:moveTo>
                  <a:pt x="2786046" y="1464196"/>
                </a:moveTo>
                <a:lnTo>
                  <a:pt x="2786046" y="1616141"/>
                </a:lnTo>
                <a:lnTo>
                  <a:pt x="3123649" y="1616141"/>
                </a:lnTo>
                <a:lnTo>
                  <a:pt x="3123649" y="1795712"/>
                </a:lnTo>
                <a:lnTo>
                  <a:pt x="2786046" y="1795712"/>
                </a:lnTo>
                <a:lnTo>
                  <a:pt x="2786046" y="1947657"/>
                </a:lnTo>
                <a:lnTo>
                  <a:pt x="2367507" y="1705927"/>
                </a:lnTo>
                <a:close/>
                <a:moveTo>
                  <a:pt x="609184" y="1464195"/>
                </a:moveTo>
                <a:lnTo>
                  <a:pt x="1027723" y="1705925"/>
                </a:lnTo>
                <a:lnTo>
                  <a:pt x="609184" y="1947656"/>
                </a:lnTo>
                <a:lnTo>
                  <a:pt x="609184" y="1795711"/>
                </a:lnTo>
                <a:lnTo>
                  <a:pt x="271581" y="1795711"/>
                </a:lnTo>
                <a:lnTo>
                  <a:pt x="271581" y="1616140"/>
                </a:lnTo>
                <a:lnTo>
                  <a:pt x="609184" y="1616140"/>
                </a:lnTo>
                <a:close/>
                <a:moveTo>
                  <a:pt x="1178851" y="1422353"/>
                </a:moveTo>
                <a:lnTo>
                  <a:pt x="1631479" y="1422353"/>
                </a:lnTo>
                <a:lnTo>
                  <a:pt x="1631479" y="1484380"/>
                </a:lnTo>
                <a:lnTo>
                  <a:pt x="1437855" y="1484380"/>
                </a:lnTo>
                <a:lnTo>
                  <a:pt x="1437855" y="1998196"/>
                </a:lnTo>
                <a:lnTo>
                  <a:pt x="1372475" y="1998196"/>
                </a:lnTo>
                <a:lnTo>
                  <a:pt x="1372475" y="1484380"/>
                </a:lnTo>
                <a:lnTo>
                  <a:pt x="1178851" y="1484380"/>
                </a:lnTo>
                <a:close/>
                <a:moveTo>
                  <a:pt x="1943213" y="1412294"/>
                </a:moveTo>
                <a:cubicBezTo>
                  <a:pt x="1989035" y="1412294"/>
                  <a:pt x="2030107" y="1425007"/>
                  <a:pt x="2066429" y="1450433"/>
                </a:cubicBezTo>
                <a:cubicBezTo>
                  <a:pt x="2102751" y="1475858"/>
                  <a:pt x="2131110" y="1511063"/>
                  <a:pt x="2151506" y="1556046"/>
                </a:cubicBezTo>
                <a:cubicBezTo>
                  <a:pt x="2171902" y="1601029"/>
                  <a:pt x="2182100" y="1652299"/>
                  <a:pt x="2182100" y="1709855"/>
                </a:cubicBezTo>
                <a:cubicBezTo>
                  <a:pt x="2182100" y="1767412"/>
                  <a:pt x="2171902" y="1818821"/>
                  <a:pt x="2151506" y="1864084"/>
                </a:cubicBezTo>
                <a:cubicBezTo>
                  <a:pt x="2131110" y="1909347"/>
                  <a:pt x="2102890" y="1944691"/>
                  <a:pt x="2066848" y="1970116"/>
                </a:cubicBezTo>
                <a:cubicBezTo>
                  <a:pt x="2030805" y="1995542"/>
                  <a:pt x="1989594" y="2008254"/>
                  <a:pt x="1943213" y="2008254"/>
                </a:cubicBezTo>
                <a:cubicBezTo>
                  <a:pt x="1896833" y="2008254"/>
                  <a:pt x="1855482" y="1995542"/>
                  <a:pt x="1819160" y="1970116"/>
                </a:cubicBezTo>
                <a:cubicBezTo>
                  <a:pt x="1782838" y="1944691"/>
                  <a:pt x="1754479" y="1909347"/>
                  <a:pt x="1734082" y="1864084"/>
                </a:cubicBezTo>
                <a:cubicBezTo>
                  <a:pt x="1713686" y="1818821"/>
                  <a:pt x="1703488" y="1767412"/>
                  <a:pt x="1703488" y="1709855"/>
                </a:cubicBezTo>
                <a:cubicBezTo>
                  <a:pt x="1703488" y="1652299"/>
                  <a:pt x="1713686" y="1601029"/>
                  <a:pt x="1734082" y="1556046"/>
                </a:cubicBezTo>
                <a:cubicBezTo>
                  <a:pt x="1754479" y="1511063"/>
                  <a:pt x="1782838" y="1475858"/>
                  <a:pt x="1819160" y="1450433"/>
                </a:cubicBezTo>
                <a:cubicBezTo>
                  <a:pt x="1855482" y="1425007"/>
                  <a:pt x="1896833" y="1412294"/>
                  <a:pt x="1943213" y="1412294"/>
                </a:cubicBezTo>
                <a:close/>
                <a:moveTo>
                  <a:pt x="1705927" y="290561"/>
                </a:moveTo>
                <a:lnTo>
                  <a:pt x="1947657" y="709100"/>
                </a:lnTo>
                <a:lnTo>
                  <a:pt x="1795712" y="709100"/>
                </a:lnTo>
                <a:lnTo>
                  <a:pt x="1795712" y="1046703"/>
                </a:lnTo>
                <a:lnTo>
                  <a:pt x="1616141" y="1046703"/>
                </a:lnTo>
                <a:lnTo>
                  <a:pt x="1616141" y="709100"/>
                </a:lnTo>
                <a:lnTo>
                  <a:pt x="1464196" y="709100"/>
                </a:lnTo>
                <a:close/>
                <a:moveTo>
                  <a:pt x="1705927" y="89786"/>
                </a:moveTo>
                <a:cubicBezTo>
                  <a:pt x="814701" y="89786"/>
                  <a:pt x="89786" y="814701"/>
                  <a:pt x="89786" y="1705928"/>
                </a:cubicBezTo>
                <a:cubicBezTo>
                  <a:pt x="89786" y="2597154"/>
                  <a:pt x="814701" y="3322069"/>
                  <a:pt x="1705927" y="3322069"/>
                </a:cubicBezTo>
                <a:cubicBezTo>
                  <a:pt x="2597154" y="3322069"/>
                  <a:pt x="3322069" y="2597154"/>
                  <a:pt x="3322069" y="1705928"/>
                </a:cubicBezTo>
                <a:cubicBezTo>
                  <a:pt x="3322069" y="814701"/>
                  <a:pt x="2597154" y="89786"/>
                  <a:pt x="1705927" y="89786"/>
                </a:cubicBezTo>
                <a:close/>
                <a:moveTo>
                  <a:pt x="1705927" y="0"/>
                </a:moveTo>
                <a:cubicBezTo>
                  <a:pt x="2647986" y="0"/>
                  <a:pt x="3411855" y="763869"/>
                  <a:pt x="3411855" y="1705928"/>
                </a:cubicBezTo>
                <a:cubicBezTo>
                  <a:pt x="3411855" y="2647986"/>
                  <a:pt x="2647986" y="3411855"/>
                  <a:pt x="1705927" y="3411855"/>
                </a:cubicBezTo>
                <a:cubicBezTo>
                  <a:pt x="763869" y="3411855"/>
                  <a:pt x="0" y="2647986"/>
                  <a:pt x="0" y="1705928"/>
                </a:cubicBezTo>
                <a:cubicBezTo>
                  <a:pt x="0" y="763869"/>
                  <a:pt x="763869" y="0"/>
                  <a:pt x="1705927" y="0"/>
                </a:cubicBez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6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72" name="!!Tier0-uplink">
            <a:extLst>
              <a:ext uri="{FF2B5EF4-FFF2-40B4-BE49-F238E27FC236}">
                <a16:creationId xmlns:a16="http://schemas.microsoft.com/office/drawing/2014/main" id="{4712AB3C-ADA7-851D-BF8E-680D327A2472}"/>
              </a:ext>
            </a:extLst>
          </p:cNvPr>
          <p:cNvCxnSpPr>
            <a:cxnSpLocks/>
          </p:cNvCxnSpPr>
          <p:nvPr/>
        </p:nvCxnSpPr>
        <p:spPr bwMode="gray">
          <a:xfrm flipV="1">
            <a:off x="3572444" y="2057400"/>
            <a:ext cx="0" cy="276726"/>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 name="!!greystuff">
            <a:extLst>
              <a:ext uri="{FF2B5EF4-FFF2-40B4-BE49-F238E27FC236}">
                <a16:creationId xmlns:a16="http://schemas.microsoft.com/office/drawing/2014/main" id="{2930913A-E858-4D97-D2F5-BB51937991F6}"/>
              </a:ext>
            </a:extLst>
          </p:cNvPr>
          <p:cNvCxnSpPr>
            <a:cxnSpLocks/>
          </p:cNvCxnSpPr>
          <p:nvPr/>
        </p:nvCxnSpPr>
        <p:spPr bwMode="gray">
          <a:xfrm flipV="1">
            <a:off x="3572444" y="1939636"/>
            <a:ext cx="0" cy="117764"/>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7" name="TextBox 176">
            <a:extLst>
              <a:ext uri="{FF2B5EF4-FFF2-40B4-BE49-F238E27FC236}">
                <a16:creationId xmlns:a16="http://schemas.microsoft.com/office/drawing/2014/main" id="{A8DECBFB-999A-F3BF-1A84-3E36CD1843F9}"/>
              </a:ext>
            </a:extLst>
          </p:cNvPr>
          <p:cNvSpPr txBox="1">
            <a:spLocks noChangeAspect="1"/>
          </p:cNvSpPr>
          <p:nvPr/>
        </p:nvSpPr>
        <p:spPr>
          <a:xfrm>
            <a:off x="5132578"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78" name="Straight Connector 177">
            <a:extLst>
              <a:ext uri="{FF2B5EF4-FFF2-40B4-BE49-F238E27FC236}">
                <a16:creationId xmlns:a16="http://schemas.microsoft.com/office/drawing/2014/main" id="{55081877-EBC3-B68E-275B-AA44F808F1A0}"/>
              </a:ext>
            </a:extLst>
          </p:cNvPr>
          <p:cNvCxnSpPr>
            <a:cxnSpLocks/>
          </p:cNvCxnSpPr>
          <p:nvPr/>
        </p:nvCxnSpPr>
        <p:spPr bwMode="gray">
          <a:xfrm flipV="1">
            <a:off x="5403197" y="2057400"/>
            <a:ext cx="0" cy="276726"/>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3" name="!!bob">
            <a:extLst>
              <a:ext uri="{FF2B5EF4-FFF2-40B4-BE49-F238E27FC236}">
                <a16:creationId xmlns:a16="http://schemas.microsoft.com/office/drawing/2014/main" id="{9B531449-2145-B157-F25A-83E47B3CA4F5}"/>
              </a:ext>
            </a:extLst>
          </p:cNvPr>
          <p:cNvSpPr txBox="1">
            <a:spLocks noChangeAspect="1"/>
          </p:cNvSpPr>
          <p:nvPr/>
        </p:nvSpPr>
        <p:spPr>
          <a:xfrm>
            <a:off x="5133197" y="2339738"/>
            <a:ext cx="540000" cy="540000"/>
          </a:xfrm>
          <a:custGeom>
            <a:avLst/>
            <a:gdLst/>
            <a:ahLst/>
            <a:cxnLst/>
            <a:rect l="l" t="t" r="r" b="b"/>
            <a:pathLst>
              <a:path w="3411855" h="3411855">
                <a:moveTo>
                  <a:pt x="1616141" y="2365151"/>
                </a:moveTo>
                <a:lnTo>
                  <a:pt x="1795712" y="2365151"/>
                </a:lnTo>
                <a:lnTo>
                  <a:pt x="1795712" y="2702754"/>
                </a:lnTo>
                <a:lnTo>
                  <a:pt x="1947657" y="2702754"/>
                </a:lnTo>
                <a:lnTo>
                  <a:pt x="1705927" y="3121293"/>
                </a:lnTo>
                <a:lnTo>
                  <a:pt x="1464196" y="2702754"/>
                </a:lnTo>
                <a:lnTo>
                  <a:pt x="1616141" y="2702754"/>
                </a:lnTo>
                <a:close/>
                <a:moveTo>
                  <a:pt x="1943213" y="1472645"/>
                </a:moveTo>
                <a:cubicBezTo>
                  <a:pt x="1909685" y="1472645"/>
                  <a:pt x="1879790" y="1482703"/>
                  <a:pt x="1853526" y="1502820"/>
                </a:cubicBezTo>
                <a:cubicBezTo>
                  <a:pt x="1827262" y="1522937"/>
                  <a:pt x="1806726" y="1551017"/>
                  <a:pt x="1791918" y="1587059"/>
                </a:cubicBezTo>
                <a:cubicBezTo>
                  <a:pt x="1777110" y="1623102"/>
                  <a:pt x="1769706" y="1664034"/>
                  <a:pt x="1769706" y="1709855"/>
                </a:cubicBezTo>
                <a:cubicBezTo>
                  <a:pt x="1769706" y="1755677"/>
                  <a:pt x="1777110" y="1796609"/>
                  <a:pt x="1791918" y="1832652"/>
                </a:cubicBezTo>
                <a:cubicBezTo>
                  <a:pt x="1806726" y="1868694"/>
                  <a:pt x="1827262" y="1896914"/>
                  <a:pt x="1853526" y="1917310"/>
                </a:cubicBezTo>
                <a:cubicBezTo>
                  <a:pt x="1879790" y="1937706"/>
                  <a:pt x="1909685" y="1947904"/>
                  <a:pt x="1943213" y="1947904"/>
                </a:cubicBezTo>
                <a:cubicBezTo>
                  <a:pt x="1976741" y="1947904"/>
                  <a:pt x="2006637" y="1937706"/>
                  <a:pt x="2032901" y="1917310"/>
                </a:cubicBezTo>
                <a:cubicBezTo>
                  <a:pt x="2059164" y="1896914"/>
                  <a:pt x="2079561" y="1868694"/>
                  <a:pt x="2094089" y="1832652"/>
                </a:cubicBezTo>
                <a:cubicBezTo>
                  <a:pt x="2108618" y="1796609"/>
                  <a:pt x="2115883" y="1755677"/>
                  <a:pt x="2115883" y="1709855"/>
                </a:cubicBezTo>
                <a:cubicBezTo>
                  <a:pt x="2115883" y="1664034"/>
                  <a:pt x="2108618" y="1623102"/>
                  <a:pt x="2094089" y="1587059"/>
                </a:cubicBezTo>
                <a:cubicBezTo>
                  <a:pt x="2079561" y="1551017"/>
                  <a:pt x="2059164" y="1522937"/>
                  <a:pt x="2032901" y="1502820"/>
                </a:cubicBezTo>
                <a:cubicBezTo>
                  <a:pt x="2006637" y="1482703"/>
                  <a:pt x="1976741" y="1472645"/>
                  <a:pt x="1943213" y="1472645"/>
                </a:cubicBezTo>
                <a:close/>
                <a:moveTo>
                  <a:pt x="2786046" y="1464196"/>
                </a:moveTo>
                <a:lnTo>
                  <a:pt x="2786046" y="1616141"/>
                </a:lnTo>
                <a:lnTo>
                  <a:pt x="3123649" y="1616141"/>
                </a:lnTo>
                <a:lnTo>
                  <a:pt x="3123649" y="1795712"/>
                </a:lnTo>
                <a:lnTo>
                  <a:pt x="2786046" y="1795712"/>
                </a:lnTo>
                <a:lnTo>
                  <a:pt x="2786046" y="1947657"/>
                </a:lnTo>
                <a:lnTo>
                  <a:pt x="2367507" y="1705927"/>
                </a:lnTo>
                <a:close/>
                <a:moveTo>
                  <a:pt x="609184" y="1464195"/>
                </a:moveTo>
                <a:lnTo>
                  <a:pt x="1027723" y="1705925"/>
                </a:lnTo>
                <a:lnTo>
                  <a:pt x="609184" y="1947656"/>
                </a:lnTo>
                <a:lnTo>
                  <a:pt x="609184" y="1795711"/>
                </a:lnTo>
                <a:lnTo>
                  <a:pt x="271581" y="1795711"/>
                </a:lnTo>
                <a:lnTo>
                  <a:pt x="271581" y="1616140"/>
                </a:lnTo>
                <a:lnTo>
                  <a:pt x="609184" y="1616140"/>
                </a:lnTo>
                <a:close/>
                <a:moveTo>
                  <a:pt x="1178851" y="1422353"/>
                </a:moveTo>
                <a:lnTo>
                  <a:pt x="1631479" y="1422353"/>
                </a:lnTo>
                <a:lnTo>
                  <a:pt x="1631479" y="1484380"/>
                </a:lnTo>
                <a:lnTo>
                  <a:pt x="1437855" y="1484380"/>
                </a:lnTo>
                <a:lnTo>
                  <a:pt x="1437855" y="1998196"/>
                </a:lnTo>
                <a:lnTo>
                  <a:pt x="1372475" y="1998196"/>
                </a:lnTo>
                <a:lnTo>
                  <a:pt x="1372475" y="1484380"/>
                </a:lnTo>
                <a:lnTo>
                  <a:pt x="1178851" y="1484380"/>
                </a:lnTo>
                <a:close/>
                <a:moveTo>
                  <a:pt x="1943213" y="1412294"/>
                </a:moveTo>
                <a:cubicBezTo>
                  <a:pt x="1989035" y="1412294"/>
                  <a:pt x="2030107" y="1425007"/>
                  <a:pt x="2066429" y="1450433"/>
                </a:cubicBezTo>
                <a:cubicBezTo>
                  <a:pt x="2102751" y="1475858"/>
                  <a:pt x="2131110" y="1511063"/>
                  <a:pt x="2151506" y="1556046"/>
                </a:cubicBezTo>
                <a:cubicBezTo>
                  <a:pt x="2171902" y="1601029"/>
                  <a:pt x="2182100" y="1652299"/>
                  <a:pt x="2182100" y="1709855"/>
                </a:cubicBezTo>
                <a:cubicBezTo>
                  <a:pt x="2182100" y="1767412"/>
                  <a:pt x="2171902" y="1818821"/>
                  <a:pt x="2151506" y="1864084"/>
                </a:cubicBezTo>
                <a:cubicBezTo>
                  <a:pt x="2131110" y="1909347"/>
                  <a:pt x="2102890" y="1944691"/>
                  <a:pt x="2066848" y="1970116"/>
                </a:cubicBezTo>
                <a:cubicBezTo>
                  <a:pt x="2030805" y="1995542"/>
                  <a:pt x="1989594" y="2008254"/>
                  <a:pt x="1943213" y="2008254"/>
                </a:cubicBezTo>
                <a:cubicBezTo>
                  <a:pt x="1896833" y="2008254"/>
                  <a:pt x="1855482" y="1995542"/>
                  <a:pt x="1819160" y="1970116"/>
                </a:cubicBezTo>
                <a:cubicBezTo>
                  <a:pt x="1782838" y="1944691"/>
                  <a:pt x="1754479" y="1909347"/>
                  <a:pt x="1734082" y="1864084"/>
                </a:cubicBezTo>
                <a:cubicBezTo>
                  <a:pt x="1713686" y="1818821"/>
                  <a:pt x="1703488" y="1767412"/>
                  <a:pt x="1703488" y="1709855"/>
                </a:cubicBezTo>
                <a:cubicBezTo>
                  <a:pt x="1703488" y="1652299"/>
                  <a:pt x="1713686" y="1601029"/>
                  <a:pt x="1734082" y="1556046"/>
                </a:cubicBezTo>
                <a:cubicBezTo>
                  <a:pt x="1754479" y="1511063"/>
                  <a:pt x="1782838" y="1475858"/>
                  <a:pt x="1819160" y="1450433"/>
                </a:cubicBezTo>
                <a:cubicBezTo>
                  <a:pt x="1855482" y="1425007"/>
                  <a:pt x="1896833" y="1412294"/>
                  <a:pt x="1943213" y="1412294"/>
                </a:cubicBezTo>
                <a:close/>
                <a:moveTo>
                  <a:pt x="1705927" y="290561"/>
                </a:moveTo>
                <a:lnTo>
                  <a:pt x="1947657" y="709100"/>
                </a:lnTo>
                <a:lnTo>
                  <a:pt x="1795712" y="709100"/>
                </a:lnTo>
                <a:lnTo>
                  <a:pt x="1795712" y="1046703"/>
                </a:lnTo>
                <a:lnTo>
                  <a:pt x="1616141" y="1046703"/>
                </a:lnTo>
                <a:lnTo>
                  <a:pt x="1616141" y="709100"/>
                </a:lnTo>
                <a:lnTo>
                  <a:pt x="1464196" y="709100"/>
                </a:lnTo>
                <a:close/>
                <a:moveTo>
                  <a:pt x="1705927" y="89786"/>
                </a:moveTo>
                <a:cubicBezTo>
                  <a:pt x="814701" y="89786"/>
                  <a:pt x="89786" y="814701"/>
                  <a:pt x="89786" y="1705928"/>
                </a:cubicBezTo>
                <a:cubicBezTo>
                  <a:pt x="89786" y="2597154"/>
                  <a:pt x="814701" y="3322069"/>
                  <a:pt x="1705927" y="3322069"/>
                </a:cubicBezTo>
                <a:cubicBezTo>
                  <a:pt x="2597154" y="3322069"/>
                  <a:pt x="3322069" y="2597154"/>
                  <a:pt x="3322069" y="1705928"/>
                </a:cubicBezTo>
                <a:cubicBezTo>
                  <a:pt x="3322069" y="814701"/>
                  <a:pt x="2597154" y="89786"/>
                  <a:pt x="1705927" y="89786"/>
                </a:cubicBezTo>
                <a:close/>
                <a:moveTo>
                  <a:pt x="1705927" y="0"/>
                </a:moveTo>
                <a:cubicBezTo>
                  <a:pt x="2647986" y="0"/>
                  <a:pt x="3411855" y="763869"/>
                  <a:pt x="3411855" y="1705928"/>
                </a:cubicBezTo>
                <a:cubicBezTo>
                  <a:pt x="3411855" y="2647986"/>
                  <a:pt x="2647986" y="3411855"/>
                  <a:pt x="1705927" y="3411855"/>
                </a:cubicBezTo>
                <a:cubicBezTo>
                  <a:pt x="763869" y="3411855"/>
                  <a:pt x="0" y="2647986"/>
                  <a:pt x="0" y="1705928"/>
                </a:cubicBezTo>
                <a:cubicBezTo>
                  <a:pt x="0" y="763869"/>
                  <a:pt x="763869" y="0"/>
                  <a:pt x="1705927" y="0"/>
                </a:cubicBezTo>
                <a:close/>
              </a:path>
            </a:pathLst>
          </a:custGeom>
          <a:solidFill>
            <a:schemeClr val="accent2"/>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6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73" name="Straight Connector 72">
            <a:extLst>
              <a:ext uri="{FF2B5EF4-FFF2-40B4-BE49-F238E27FC236}">
                <a16:creationId xmlns:a16="http://schemas.microsoft.com/office/drawing/2014/main" id="{48A417A0-1757-C7F8-EC53-0C27DFA5062C}"/>
              </a:ext>
            </a:extLst>
          </p:cNvPr>
          <p:cNvCxnSpPr>
            <a:cxnSpLocks/>
          </p:cNvCxnSpPr>
          <p:nvPr/>
        </p:nvCxnSpPr>
        <p:spPr bwMode="gray">
          <a:xfrm>
            <a:off x="3572444" y="3704492"/>
            <a:ext cx="0" cy="64867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8E2F05A0-98D4-61AA-1D41-51F97B8BC7AE}"/>
              </a:ext>
            </a:extLst>
          </p:cNvPr>
          <p:cNvCxnSpPr>
            <a:cxnSpLocks/>
          </p:cNvCxnSpPr>
          <p:nvPr/>
        </p:nvCxnSpPr>
        <p:spPr bwMode="gray">
          <a:xfrm flipH="1">
            <a:off x="1278345" y="4183476"/>
            <a:ext cx="64008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5788E199-E70A-6AD7-40E8-B7D877A3F807}"/>
              </a:ext>
            </a:extLst>
          </p:cNvPr>
          <p:cNvCxnSpPr>
            <a:cxnSpLocks/>
          </p:cNvCxnSpPr>
          <p:nvPr/>
        </p:nvCxnSpPr>
        <p:spPr bwMode="gray">
          <a:xfrm>
            <a:off x="5403197" y="3717036"/>
            <a:ext cx="0" cy="62875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DAD5B28D-1F33-B8E0-D0A1-A7F8FD5C5865}"/>
              </a:ext>
            </a:extLst>
          </p:cNvPr>
          <p:cNvCxnSpPr>
            <a:cxnSpLocks/>
          </p:cNvCxnSpPr>
          <p:nvPr/>
        </p:nvCxnSpPr>
        <p:spPr bwMode="gray">
          <a:xfrm>
            <a:off x="7226580" y="4202320"/>
            <a:ext cx="0" cy="1540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7D18852B-2CC9-8A32-C0B8-2B537F79F1D3}"/>
              </a:ext>
            </a:extLst>
          </p:cNvPr>
          <p:cNvCxnSpPr>
            <a:cxnSpLocks/>
          </p:cNvCxnSpPr>
          <p:nvPr/>
        </p:nvCxnSpPr>
        <p:spPr bwMode="gray">
          <a:xfrm>
            <a:off x="1740179" y="4191790"/>
            <a:ext cx="0" cy="161379"/>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TGW-uplink2">
            <a:extLst>
              <a:ext uri="{FF2B5EF4-FFF2-40B4-BE49-F238E27FC236}">
                <a16:creationId xmlns:a16="http://schemas.microsoft.com/office/drawing/2014/main" id="{7EDBEF8A-146F-7A48-FFC4-EAA4C5F3EB55}"/>
              </a:ext>
            </a:extLst>
          </p:cNvPr>
          <p:cNvCxnSpPr>
            <a:cxnSpLocks/>
          </p:cNvCxnSpPr>
          <p:nvPr/>
        </p:nvCxnSpPr>
        <p:spPr bwMode="gray">
          <a:xfrm>
            <a:off x="3572444" y="2971800"/>
            <a:ext cx="0" cy="20749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930EEA1-F172-90E3-0262-87BCFA78D031}"/>
              </a:ext>
            </a:extLst>
          </p:cNvPr>
          <p:cNvCxnSpPr>
            <a:cxnSpLocks/>
          </p:cNvCxnSpPr>
          <p:nvPr/>
        </p:nvCxnSpPr>
        <p:spPr bwMode="gray">
          <a:xfrm>
            <a:off x="5403197" y="3002284"/>
            <a:ext cx="0" cy="18000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6D462ED7-D766-E6E1-323A-CB59B9D19088}"/>
              </a:ext>
            </a:extLst>
          </p:cNvPr>
          <p:cNvCxnSpPr>
            <a:cxnSpLocks/>
          </p:cNvCxnSpPr>
          <p:nvPr/>
        </p:nvCxnSpPr>
        <p:spPr bwMode="gray">
          <a:xfrm flipV="1">
            <a:off x="5403197" y="2889289"/>
            <a:ext cx="0" cy="109566"/>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7" name="!!Tier0-downlink">
            <a:extLst>
              <a:ext uri="{FF2B5EF4-FFF2-40B4-BE49-F238E27FC236}">
                <a16:creationId xmlns:a16="http://schemas.microsoft.com/office/drawing/2014/main" id="{8DDB664B-EA13-4226-DE69-7EF0388DBD69}"/>
              </a:ext>
            </a:extLst>
          </p:cNvPr>
          <p:cNvCxnSpPr>
            <a:cxnSpLocks/>
          </p:cNvCxnSpPr>
          <p:nvPr/>
        </p:nvCxnSpPr>
        <p:spPr bwMode="gray">
          <a:xfrm flipV="1">
            <a:off x="3572444" y="2894729"/>
            <a:ext cx="0" cy="93304"/>
          </a:xfrm>
          <a:prstGeom prst="line">
            <a:avLst/>
          </a:prstGeom>
          <a:ln w="25400" cap="rnd">
            <a:solidFill>
              <a:schemeClr val="accent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531CFAA6-8ED6-DC1A-5016-8952903F554C}"/>
              </a:ext>
            </a:extLst>
          </p:cNvPr>
          <p:cNvSpPr txBox="1"/>
          <p:nvPr/>
        </p:nvSpPr>
        <p:spPr>
          <a:xfrm>
            <a:off x="8211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4" name="TextBox 13">
            <a:extLst>
              <a:ext uri="{FF2B5EF4-FFF2-40B4-BE49-F238E27FC236}">
                <a16:creationId xmlns:a16="http://schemas.microsoft.com/office/drawing/2014/main" id="{75A5E246-2373-02ED-2DD5-29D102C8670A}"/>
              </a:ext>
            </a:extLst>
          </p:cNvPr>
          <p:cNvSpPr txBox="1"/>
          <p:nvPr/>
        </p:nvSpPr>
        <p:spPr>
          <a:xfrm>
            <a:off x="26499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6" name="TextBox 15">
            <a:extLst>
              <a:ext uri="{FF2B5EF4-FFF2-40B4-BE49-F238E27FC236}">
                <a16:creationId xmlns:a16="http://schemas.microsoft.com/office/drawing/2014/main" id="{C8F77781-45A5-5694-FA10-2600BD792106}"/>
              </a:ext>
            </a:extLst>
          </p:cNvPr>
          <p:cNvSpPr txBox="1"/>
          <p:nvPr/>
        </p:nvSpPr>
        <p:spPr>
          <a:xfrm>
            <a:off x="4478745" y="5573776"/>
            <a:ext cx="38175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7" name="TextBox 16">
            <a:extLst>
              <a:ext uri="{FF2B5EF4-FFF2-40B4-BE49-F238E27FC236}">
                <a16:creationId xmlns:a16="http://schemas.microsoft.com/office/drawing/2014/main" id="{310513B9-1B99-B312-638B-01B00B1F52A0}"/>
              </a:ext>
            </a:extLst>
          </p:cNvPr>
          <p:cNvSpPr txBox="1"/>
          <p:nvPr/>
        </p:nvSpPr>
        <p:spPr>
          <a:xfrm>
            <a:off x="6307545" y="5573776"/>
            <a:ext cx="37197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29" name="Rounded Rectangle 28">
            <a:extLst>
              <a:ext uri="{FF2B5EF4-FFF2-40B4-BE49-F238E27FC236}">
                <a16:creationId xmlns:a16="http://schemas.microsoft.com/office/drawing/2014/main" id="{AFE32E39-58D5-BF19-DBCB-543ED202E7BA}"/>
              </a:ext>
            </a:extLst>
          </p:cNvPr>
          <p:cNvSpPr/>
          <p:nvPr/>
        </p:nvSpPr>
        <p:spPr bwMode="gray">
          <a:xfrm>
            <a:off x="3287725" y="2334026"/>
            <a:ext cx="2393396" cy="559993"/>
          </a:xfrm>
          <a:prstGeom prst="roundRect">
            <a:avLst/>
          </a:prstGeom>
          <a:noFill/>
          <a:ln w="9525">
            <a:solidFill>
              <a:schemeClr val="accent2"/>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30" name="!!zorglub2">
            <a:extLst>
              <a:ext uri="{FF2B5EF4-FFF2-40B4-BE49-F238E27FC236}">
                <a16:creationId xmlns:a16="http://schemas.microsoft.com/office/drawing/2014/main" id="{B7A9AEF9-E1F7-D289-C3DB-5EA09A28C4EC}"/>
              </a:ext>
            </a:extLst>
          </p:cNvPr>
          <p:cNvSpPr txBox="1">
            <a:spLocks noChangeAspect="1"/>
          </p:cNvSpPr>
          <p:nvPr/>
        </p:nvSpPr>
        <p:spPr>
          <a:xfrm>
            <a:off x="3613966" y="3795541"/>
            <a:ext cx="240135" cy="240472"/>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32" name="!!zorglub">
            <a:extLst>
              <a:ext uri="{FF2B5EF4-FFF2-40B4-BE49-F238E27FC236}">
                <a16:creationId xmlns:a16="http://schemas.microsoft.com/office/drawing/2014/main" id="{1B8F8A37-B24E-396C-4C41-3E80BCA47378}"/>
              </a:ext>
            </a:extLst>
          </p:cNvPr>
          <p:cNvSpPr txBox="1">
            <a:spLocks noChangeAspect="1"/>
          </p:cNvSpPr>
          <p:nvPr/>
        </p:nvSpPr>
        <p:spPr>
          <a:xfrm>
            <a:off x="5610210" y="3776293"/>
            <a:ext cx="240135" cy="240472"/>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0" name="!!bob123">
            <a:extLst>
              <a:ext uri="{FF2B5EF4-FFF2-40B4-BE49-F238E27FC236}">
                <a16:creationId xmlns:a16="http://schemas.microsoft.com/office/drawing/2014/main" id="{518799FA-6FB4-7C45-19FF-28F3825AAC54}"/>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flipV="1">
            <a:off x="8372825" y="1589923"/>
            <a:ext cx="3816000"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1" name="!!BOTTOM">
            <a:extLst>
              <a:ext uri="{FF2B5EF4-FFF2-40B4-BE49-F238E27FC236}">
                <a16:creationId xmlns:a16="http://schemas.microsoft.com/office/drawing/2014/main" id="{08264F30-B367-EBDC-947C-A5774D8289F5}"/>
              </a:ext>
            </a:extLst>
          </p:cNvPr>
          <p:cNvSpPr/>
          <p:nvPr/>
        </p:nvSpPr>
        <p:spPr>
          <a:xfrm rot="10800000" flipV="1">
            <a:off x="608013" y="1600200"/>
            <a:ext cx="7315200" cy="359229"/>
          </a:xfrm>
          <a:prstGeom prst="round2SameRect">
            <a:avLst>
              <a:gd name="adj1" fmla="val 20630"/>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PHYSICAL NETWORK</a:t>
            </a:r>
          </a:p>
        </p:txBody>
      </p:sp>
      <p:sp>
        <p:nvSpPr>
          <p:cNvPr id="3" name="TextBox 2">
            <a:extLst>
              <a:ext uri="{FF2B5EF4-FFF2-40B4-BE49-F238E27FC236}">
                <a16:creationId xmlns:a16="http://schemas.microsoft.com/office/drawing/2014/main" id="{17A38BC0-E261-D663-E64C-76300EB860F8}"/>
              </a:ext>
            </a:extLst>
          </p:cNvPr>
          <p:cNvSpPr txBox="1"/>
          <p:nvPr/>
        </p:nvSpPr>
        <p:spPr>
          <a:xfrm>
            <a:off x="2513814" y="3876427"/>
            <a:ext cx="664755"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NSX Edge</a:t>
            </a:r>
          </a:p>
        </p:txBody>
      </p:sp>
      <p:sp>
        <p:nvSpPr>
          <p:cNvPr id="23" name="TextBox 22">
            <a:extLst>
              <a:ext uri="{FF2B5EF4-FFF2-40B4-BE49-F238E27FC236}">
                <a16:creationId xmlns:a16="http://schemas.microsoft.com/office/drawing/2014/main" id="{7AA6C3D2-E22D-8ECB-442C-E60C305914E1}"/>
              </a:ext>
            </a:extLst>
          </p:cNvPr>
          <p:cNvSpPr txBox="1"/>
          <p:nvPr/>
        </p:nvSpPr>
        <p:spPr>
          <a:xfrm>
            <a:off x="4515258" y="3876427"/>
            <a:ext cx="664755"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NSX Edge</a:t>
            </a:r>
          </a:p>
        </p:txBody>
      </p:sp>
      <p:sp>
        <p:nvSpPr>
          <p:cNvPr id="41" name="!!TGW">
            <a:extLst>
              <a:ext uri="{FF2B5EF4-FFF2-40B4-BE49-F238E27FC236}">
                <a16:creationId xmlns:a16="http://schemas.microsoft.com/office/drawing/2014/main" id="{906C8DEE-9773-3B2E-0267-03EF2ECC877B}"/>
              </a:ext>
            </a:extLst>
          </p:cNvPr>
          <p:cNvSpPr txBox="1">
            <a:spLocks noChangeAspect="1"/>
          </p:cNvSpPr>
          <p:nvPr/>
        </p:nvSpPr>
        <p:spPr>
          <a:xfrm>
            <a:off x="3301825"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grpSp>
        <p:nvGrpSpPr>
          <p:cNvPr id="51" name="Group 50">
            <a:extLst>
              <a:ext uri="{FF2B5EF4-FFF2-40B4-BE49-F238E27FC236}">
                <a16:creationId xmlns:a16="http://schemas.microsoft.com/office/drawing/2014/main" id="{903416D1-4186-2C46-3713-381500B02083}"/>
              </a:ext>
            </a:extLst>
          </p:cNvPr>
          <p:cNvGrpSpPr/>
          <p:nvPr/>
        </p:nvGrpSpPr>
        <p:grpSpPr>
          <a:xfrm>
            <a:off x="2787207" y="5855142"/>
            <a:ext cx="3056154" cy="265509"/>
            <a:chOff x="2620950" y="5869812"/>
            <a:chExt cx="3056154" cy="265509"/>
          </a:xfrm>
        </p:grpSpPr>
        <p:sp>
          <p:nvSpPr>
            <p:cNvPr id="47" name="Rectangle 46">
              <a:extLst>
                <a:ext uri="{FF2B5EF4-FFF2-40B4-BE49-F238E27FC236}">
                  <a16:creationId xmlns:a16="http://schemas.microsoft.com/office/drawing/2014/main" id="{9654588A-7267-160D-F0E1-A62FDF1D15F5}"/>
                </a:ext>
              </a:extLst>
            </p:cNvPr>
            <p:cNvSpPr/>
            <p:nvPr/>
          </p:nvSpPr>
          <p:spPr>
            <a:xfrm>
              <a:off x="2742826" y="5915992"/>
              <a:ext cx="2934278" cy="16619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pic>
          <p:nvPicPr>
            <p:cNvPr id="48" name="Picture 47">
              <a:extLst>
                <a:ext uri="{FF2B5EF4-FFF2-40B4-BE49-F238E27FC236}">
                  <a16:creationId xmlns:a16="http://schemas.microsoft.com/office/drawing/2014/main" id="{69E2DD28-D12E-362B-ED7C-9CD3D826AB7E}"/>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2620950" y="5869812"/>
              <a:ext cx="313492" cy="265509"/>
            </a:xfrm>
            <a:prstGeom prst="rect">
              <a:avLst/>
            </a:prstGeom>
          </p:spPr>
        </p:pic>
      </p:grpSp>
      <p:sp>
        <p:nvSpPr>
          <p:cNvPr id="34" name="TextBox 33">
            <a:extLst>
              <a:ext uri="{FF2B5EF4-FFF2-40B4-BE49-F238E27FC236}">
                <a16:creationId xmlns:a16="http://schemas.microsoft.com/office/drawing/2014/main" id="{835D6A9A-0729-57C8-F728-BDD95D5242B0}"/>
              </a:ext>
            </a:extLst>
          </p:cNvPr>
          <p:cNvSpPr txBox="1"/>
          <p:nvPr/>
        </p:nvSpPr>
        <p:spPr>
          <a:xfrm>
            <a:off x="2678561" y="3275111"/>
            <a:ext cx="498916"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Transit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Gateway</a:t>
            </a:r>
          </a:p>
        </p:txBody>
      </p:sp>
      <p:sp>
        <p:nvSpPr>
          <p:cNvPr id="33" name="Rounded Rectangle 32">
            <a:extLst>
              <a:ext uri="{FF2B5EF4-FFF2-40B4-BE49-F238E27FC236}">
                <a16:creationId xmlns:a16="http://schemas.microsoft.com/office/drawing/2014/main" id="{B1EA42CA-A242-5C92-8314-091F9C6FF06D}"/>
              </a:ext>
            </a:extLst>
          </p:cNvPr>
          <p:cNvSpPr/>
          <p:nvPr/>
        </p:nvSpPr>
        <p:spPr bwMode="gray">
          <a:xfrm>
            <a:off x="1440872" y="3752892"/>
            <a:ext cx="6084000" cy="982583"/>
          </a:xfrm>
          <a:prstGeom prst="roundRect">
            <a:avLst>
              <a:gd name="adj" fmla="val 6797"/>
            </a:avLst>
          </a:prstGeom>
          <a:noFill/>
          <a:ln w="9525">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37" name="TextBox 36">
            <a:extLst>
              <a:ext uri="{FF2B5EF4-FFF2-40B4-BE49-F238E27FC236}">
                <a16:creationId xmlns:a16="http://schemas.microsoft.com/office/drawing/2014/main" id="{17ACE432-42EF-DBC2-951B-36068BDD5204}"/>
              </a:ext>
            </a:extLst>
          </p:cNvPr>
          <p:cNvSpPr txBox="1"/>
          <p:nvPr/>
        </p:nvSpPr>
        <p:spPr>
          <a:xfrm>
            <a:off x="836698" y="3782603"/>
            <a:ext cx="575987"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 Gateway</a:t>
            </a:r>
          </a:p>
        </p:txBody>
      </p:sp>
      <p:sp>
        <p:nvSpPr>
          <p:cNvPr id="38" name="Rounded Rectangle 37">
            <a:extLst>
              <a:ext uri="{FF2B5EF4-FFF2-40B4-BE49-F238E27FC236}">
                <a16:creationId xmlns:a16="http://schemas.microsoft.com/office/drawing/2014/main" id="{E6BDB5C8-62FC-63E6-9A44-5BA4C0923C4C}"/>
              </a:ext>
            </a:extLst>
          </p:cNvPr>
          <p:cNvSpPr/>
          <p:nvPr/>
        </p:nvSpPr>
        <p:spPr bwMode="gray">
          <a:xfrm>
            <a:off x="3259836" y="3150215"/>
            <a:ext cx="2432304" cy="559993"/>
          </a:xfrm>
          <a:prstGeom prst="roundRect">
            <a:avLst/>
          </a:prstGeom>
          <a:noFill/>
          <a:ln w="9525">
            <a:solidFill>
              <a:srgbClr val="61A60E"/>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cxnSp>
        <p:nvCxnSpPr>
          <p:cNvPr id="49" name="Straight Connector 48">
            <a:extLst>
              <a:ext uri="{FF2B5EF4-FFF2-40B4-BE49-F238E27FC236}">
                <a16:creationId xmlns:a16="http://schemas.microsoft.com/office/drawing/2014/main" id="{6261DC20-A0A9-EB52-25A6-4DA045AE721E}"/>
              </a:ext>
            </a:extLst>
          </p:cNvPr>
          <p:cNvCxnSpPr>
            <a:cxnSpLocks/>
          </p:cNvCxnSpPr>
          <p:nvPr/>
        </p:nvCxnSpPr>
        <p:spPr bwMode="gray">
          <a:xfrm>
            <a:off x="3055306"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3" name="Freeform 52">
            <a:extLst>
              <a:ext uri="{FF2B5EF4-FFF2-40B4-BE49-F238E27FC236}">
                <a16:creationId xmlns:a16="http://schemas.microsoft.com/office/drawing/2014/main" id="{D945C6C2-C8B3-D2C2-231C-0AE435D29383}"/>
              </a:ext>
            </a:extLst>
          </p:cNvPr>
          <p:cNvSpPr>
            <a:spLocks noChangeAspect="1"/>
          </p:cNvSpPr>
          <p:nvPr/>
        </p:nvSpPr>
        <p:spPr>
          <a:xfrm>
            <a:off x="2847891"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54" name="Straight Connector 53">
            <a:extLst>
              <a:ext uri="{FF2B5EF4-FFF2-40B4-BE49-F238E27FC236}">
                <a16:creationId xmlns:a16="http://schemas.microsoft.com/office/drawing/2014/main" id="{528DA1EB-E8E8-974D-1AB6-07ECF422CD85}"/>
              </a:ext>
            </a:extLst>
          </p:cNvPr>
          <p:cNvCxnSpPr>
            <a:cxnSpLocks/>
          </p:cNvCxnSpPr>
          <p:nvPr/>
        </p:nvCxnSpPr>
        <p:spPr bwMode="gray">
          <a:xfrm>
            <a:off x="3497414"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63FED128-1EBA-62CF-76FD-378227A54A92}"/>
              </a:ext>
            </a:extLst>
          </p:cNvPr>
          <p:cNvCxnSpPr>
            <a:cxnSpLocks/>
          </p:cNvCxnSpPr>
          <p:nvPr/>
        </p:nvCxnSpPr>
        <p:spPr bwMode="gray">
          <a:xfrm>
            <a:off x="3261129"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C833632F-A4B5-FB5F-C18E-6AB523150BC3}"/>
              </a:ext>
            </a:extLst>
          </p:cNvPr>
          <p:cNvSpPr>
            <a:spLocks noChangeAspect="1"/>
          </p:cNvSpPr>
          <p:nvPr/>
        </p:nvSpPr>
        <p:spPr>
          <a:xfrm>
            <a:off x="3036553"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57" name="Straight Connector 56">
            <a:extLst>
              <a:ext uri="{FF2B5EF4-FFF2-40B4-BE49-F238E27FC236}">
                <a16:creationId xmlns:a16="http://schemas.microsoft.com/office/drawing/2014/main" id="{08593938-AE88-EBC9-63D9-47C947CB8181}"/>
              </a:ext>
            </a:extLst>
          </p:cNvPr>
          <p:cNvCxnSpPr>
            <a:cxnSpLocks/>
          </p:cNvCxnSpPr>
          <p:nvPr/>
        </p:nvCxnSpPr>
        <p:spPr bwMode="gray">
          <a:xfrm>
            <a:off x="3620630"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3A87989-731C-3C29-64A1-82DA648347D7}"/>
              </a:ext>
            </a:extLst>
          </p:cNvPr>
          <p:cNvCxnSpPr>
            <a:cxnSpLocks/>
          </p:cNvCxnSpPr>
          <p:nvPr/>
        </p:nvCxnSpPr>
        <p:spPr bwMode="gray">
          <a:xfrm>
            <a:off x="3177553"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59" name="Group 58">
            <a:extLst>
              <a:ext uri="{FF2B5EF4-FFF2-40B4-BE49-F238E27FC236}">
                <a16:creationId xmlns:a16="http://schemas.microsoft.com/office/drawing/2014/main" id="{4BFAAEEA-84CF-0DC7-9F43-B6930B9E1AF9}"/>
              </a:ext>
            </a:extLst>
          </p:cNvPr>
          <p:cNvGrpSpPr/>
          <p:nvPr/>
        </p:nvGrpSpPr>
        <p:grpSpPr>
          <a:xfrm>
            <a:off x="3234755" y="5140064"/>
            <a:ext cx="269469" cy="395289"/>
            <a:chOff x="3513038" y="5316536"/>
            <a:chExt cx="269469" cy="395289"/>
          </a:xfrm>
        </p:grpSpPr>
        <p:grpSp>
          <p:nvGrpSpPr>
            <p:cNvPr id="60" name="Google Shape;3733;p22">
              <a:extLst>
                <a:ext uri="{FF2B5EF4-FFF2-40B4-BE49-F238E27FC236}">
                  <a16:creationId xmlns:a16="http://schemas.microsoft.com/office/drawing/2014/main" id="{0B9FDF68-1CAD-180E-3028-4E1628A53310}"/>
                </a:ext>
              </a:extLst>
            </p:cNvPr>
            <p:cNvGrpSpPr/>
            <p:nvPr/>
          </p:nvGrpSpPr>
          <p:grpSpPr>
            <a:xfrm>
              <a:off x="3513038" y="5316536"/>
              <a:ext cx="269469" cy="269658"/>
              <a:chOff x="658852" y="4943630"/>
              <a:chExt cx="583799" cy="584209"/>
            </a:xfrm>
          </p:grpSpPr>
          <p:sp>
            <p:nvSpPr>
              <p:cNvPr id="74" name="Google Shape;3734;p22">
                <a:extLst>
                  <a:ext uri="{FF2B5EF4-FFF2-40B4-BE49-F238E27FC236}">
                    <a16:creationId xmlns:a16="http://schemas.microsoft.com/office/drawing/2014/main" id="{2A6C3A7D-9B35-D5DF-22EE-3B913952475B}"/>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76" name="Google Shape;3735;p22">
                <a:extLst>
                  <a:ext uri="{FF2B5EF4-FFF2-40B4-BE49-F238E27FC236}">
                    <a16:creationId xmlns:a16="http://schemas.microsoft.com/office/drawing/2014/main" id="{7DB1F283-6CCB-5256-8631-3AC36018A770}"/>
                  </a:ext>
                </a:extLst>
              </p:cNvPr>
              <p:cNvGrpSpPr/>
              <p:nvPr/>
            </p:nvGrpSpPr>
            <p:grpSpPr>
              <a:xfrm>
                <a:off x="834156" y="5211637"/>
                <a:ext cx="216359" cy="78004"/>
                <a:chOff x="834156" y="5211637"/>
                <a:chExt cx="216359" cy="78004"/>
              </a:xfrm>
            </p:grpSpPr>
            <p:sp>
              <p:nvSpPr>
                <p:cNvPr id="89" name="Google Shape;3736;p22">
                  <a:extLst>
                    <a:ext uri="{FF2B5EF4-FFF2-40B4-BE49-F238E27FC236}">
                      <a16:creationId xmlns:a16="http://schemas.microsoft.com/office/drawing/2014/main" id="{A01E4D2D-6919-CE4F-2984-ECD456BFC24F}"/>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90" name="Google Shape;3737;p22">
                  <a:extLst>
                    <a:ext uri="{FF2B5EF4-FFF2-40B4-BE49-F238E27FC236}">
                      <a16:creationId xmlns:a16="http://schemas.microsoft.com/office/drawing/2014/main" id="{FCB010AF-81A3-4E4E-4C02-DC02FB09BEA8}"/>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62" name="Straight Connector 61">
              <a:extLst>
                <a:ext uri="{FF2B5EF4-FFF2-40B4-BE49-F238E27FC236}">
                  <a16:creationId xmlns:a16="http://schemas.microsoft.com/office/drawing/2014/main" id="{6D8DDE22-0749-ED8D-3828-5FD9110D15EB}"/>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cxnSp>
        <p:nvCxnSpPr>
          <p:cNvPr id="91" name="Straight Connector 90">
            <a:extLst>
              <a:ext uri="{FF2B5EF4-FFF2-40B4-BE49-F238E27FC236}">
                <a16:creationId xmlns:a16="http://schemas.microsoft.com/office/drawing/2014/main" id="{6A8BD38F-FACC-F8EA-F3BE-760033D17004}"/>
              </a:ext>
            </a:extLst>
          </p:cNvPr>
          <p:cNvCxnSpPr>
            <a:cxnSpLocks/>
          </p:cNvCxnSpPr>
          <p:nvPr/>
        </p:nvCxnSpPr>
        <p:spPr bwMode="gray">
          <a:xfrm>
            <a:off x="48887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2" name="Freeform 91">
            <a:extLst>
              <a:ext uri="{FF2B5EF4-FFF2-40B4-BE49-F238E27FC236}">
                <a16:creationId xmlns:a16="http://schemas.microsoft.com/office/drawing/2014/main" id="{E6808ABF-F3A8-EA16-A7B6-23F311F10AAD}"/>
              </a:ext>
            </a:extLst>
          </p:cNvPr>
          <p:cNvSpPr>
            <a:spLocks noChangeAspect="1"/>
          </p:cNvSpPr>
          <p:nvPr/>
        </p:nvSpPr>
        <p:spPr>
          <a:xfrm>
            <a:off x="46813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93" name="Straight Connector 92">
            <a:extLst>
              <a:ext uri="{FF2B5EF4-FFF2-40B4-BE49-F238E27FC236}">
                <a16:creationId xmlns:a16="http://schemas.microsoft.com/office/drawing/2014/main" id="{AA81E9D9-8F0A-D92E-B5AC-05100B736FEA}"/>
              </a:ext>
            </a:extLst>
          </p:cNvPr>
          <p:cNvCxnSpPr>
            <a:cxnSpLocks/>
          </p:cNvCxnSpPr>
          <p:nvPr/>
        </p:nvCxnSpPr>
        <p:spPr bwMode="gray">
          <a:xfrm>
            <a:off x="53308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74E98B27-B88E-80C0-41E5-D8B5DB728857}"/>
              </a:ext>
            </a:extLst>
          </p:cNvPr>
          <p:cNvCxnSpPr>
            <a:cxnSpLocks/>
          </p:cNvCxnSpPr>
          <p:nvPr/>
        </p:nvCxnSpPr>
        <p:spPr bwMode="gray">
          <a:xfrm>
            <a:off x="50945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5" name="Freeform 94">
            <a:extLst>
              <a:ext uri="{FF2B5EF4-FFF2-40B4-BE49-F238E27FC236}">
                <a16:creationId xmlns:a16="http://schemas.microsoft.com/office/drawing/2014/main" id="{5CF5CB05-ADF2-4CCF-C7CA-655D5166429B}"/>
              </a:ext>
            </a:extLst>
          </p:cNvPr>
          <p:cNvSpPr>
            <a:spLocks noChangeAspect="1"/>
          </p:cNvSpPr>
          <p:nvPr/>
        </p:nvSpPr>
        <p:spPr>
          <a:xfrm>
            <a:off x="48699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96" name="Straight Connector 95">
            <a:extLst>
              <a:ext uri="{FF2B5EF4-FFF2-40B4-BE49-F238E27FC236}">
                <a16:creationId xmlns:a16="http://schemas.microsoft.com/office/drawing/2014/main" id="{A80B7257-45DD-BF4C-DB49-D851248396AF}"/>
              </a:ext>
            </a:extLst>
          </p:cNvPr>
          <p:cNvCxnSpPr>
            <a:cxnSpLocks/>
          </p:cNvCxnSpPr>
          <p:nvPr/>
        </p:nvCxnSpPr>
        <p:spPr bwMode="gray">
          <a:xfrm>
            <a:off x="54540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C5674454-A085-7BF8-CCF1-DC4578DFB7FB}"/>
              </a:ext>
            </a:extLst>
          </p:cNvPr>
          <p:cNvCxnSpPr>
            <a:cxnSpLocks/>
          </p:cNvCxnSpPr>
          <p:nvPr/>
        </p:nvCxnSpPr>
        <p:spPr bwMode="gray">
          <a:xfrm>
            <a:off x="50109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00" name="Group 99">
            <a:extLst>
              <a:ext uri="{FF2B5EF4-FFF2-40B4-BE49-F238E27FC236}">
                <a16:creationId xmlns:a16="http://schemas.microsoft.com/office/drawing/2014/main" id="{9F7B31F9-BD87-CD89-16F1-5EC1810FCCC0}"/>
              </a:ext>
            </a:extLst>
          </p:cNvPr>
          <p:cNvGrpSpPr/>
          <p:nvPr/>
        </p:nvGrpSpPr>
        <p:grpSpPr>
          <a:xfrm>
            <a:off x="5068190" y="5140064"/>
            <a:ext cx="269469" cy="395289"/>
            <a:chOff x="3513038" y="5316536"/>
            <a:chExt cx="269469" cy="395289"/>
          </a:xfrm>
        </p:grpSpPr>
        <p:grpSp>
          <p:nvGrpSpPr>
            <p:cNvPr id="101" name="Google Shape;3733;p22">
              <a:extLst>
                <a:ext uri="{FF2B5EF4-FFF2-40B4-BE49-F238E27FC236}">
                  <a16:creationId xmlns:a16="http://schemas.microsoft.com/office/drawing/2014/main" id="{30600C77-765F-2942-71BF-3053E0B326A5}"/>
                </a:ext>
              </a:extLst>
            </p:cNvPr>
            <p:cNvGrpSpPr/>
            <p:nvPr/>
          </p:nvGrpSpPr>
          <p:grpSpPr>
            <a:xfrm>
              <a:off x="3513038" y="5316536"/>
              <a:ext cx="269469" cy="269658"/>
              <a:chOff x="658852" y="4943630"/>
              <a:chExt cx="583799" cy="584209"/>
            </a:xfrm>
          </p:grpSpPr>
          <p:sp>
            <p:nvSpPr>
              <p:cNvPr id="103" name="Google Shape;3734;p22">
                <a:extLst>
                  <a:ext uri="{FF2B5EF4-FFF2-40B4-BE49-F238E27FC236}">
                    <a16:creationId xmlns:a16="http://schemas.microsoft.com/office/drawing/2014/main" id="{2D6388F1-8EF6-3147-8F41-A7589325DD51}"/>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04" name="Google Shape;3735;p22">
                <a:extLst>
                  <a:ext uri="{FF2B5EF4-FFF2-40B4-BE49-F238E27FC236}">
                    <a16:creationId xmlns:a16="http://schemas.microsoft.com/office/drawing/2014/main" id="{D8C7F766-AA49-83DB-84FF-DF86712AAC72}"/>
                  </a:ext>
                </a:extLst>
              </p:cNvPr>
              <p:cNvGrpSpPr/>
              <p:nvPr/>
            </p:nvGrpSpPr>
            <p:grpSpPr>
              <a:xfrm>
                <a:off x="834156" y="5211637"/>
                <a:ext cx="216359" cy="78004"/>
                <a:chOff x="834156" y="5211637"/>
                <a:chExt cx="216359" cy="78004"/>
              </a:xfrm>
            </p:grpSpPr>
            <p:sp>
              <p:nvSpPr>
                <p:cNvPr id="105" name="Google Shape;3736;p22">
                  <a:extLst>
                    <a:ext uri="{FF2B5EF4-FFF2-40B4-BE49-F238E27FC236}">
                      <a16:creationId xmlns:a16="http://schemas.microsoft.com/office/drawing/2014/main" id="{9F483AE7-0A99-BFF5-4A33-B43D5C5A5ECA}"/>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110" name="Google Shape;3737;p22">
                  <a:extLst>
                    <a:ext uri="{FF2B5EF4-FFF2-40B4-BE49-F238E27FC236}">
                      <a16:creationId xmlns:a16="http://schemas.microsoft.com/office/drawing/2014/main" id="{066AC5C9-9227-F33C-6384-98ED78BA7F64}"/>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102" name="Straight Connector 101">
              <a:extLst>
                <a:ext uri="{FF2B5EF4-FFF2-40B4-BE49-F238E27FC236}">
                  <a16:creationId xmlns:a16="http://schemas.microsoft.com/office/drawing/2014/main" id="{9B94D562-750E-F0AE-AA0B-9414B7AB99A6}"/>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cxnSp>
        <p:nvCxnSpPr>
          <p:cNvPr id="111" name="Straight Connector 110">
            <a:extLst>
              <a:ext uri="{FF2B5EF4-FFF2-40B4-BE49-F238E27FC236}">
                <a16:creationId xmlns:a16="http://schemas.microsoft.com/office/drawing/2014/main" id="{65151140-BB03-B9B0-A052-E2B95AC4C3B7}"/>
              </a:ext>
            </a:extLst>
          </p:cNvPr>
          <p:cNvCxnSpPr>
            <a:cxnSpLocks/>
          </p:cNvCxnSpPr>
          <p:nvPr/>
        </p:nvCxnSpPr>
        <p:spPr bwMode="gray">
          <a:xfrm>
            <a:off x="67175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Freeform 111">
            <a:extLst>
              <a:ext uri="{FF2B5EF4-FFF2-40B4-BE49-F238E27FC236}">
                <a16:creationId xmlns:a16="http://schemas.microsoft.com/office/drawing/2014/main" id="{838DAECD-C9B5-7BDD-05A3-3050EBD483AF}"/>
              </a:ext>
            </a:extLst>
          </p:cNvPr>
          <p:cNvSpPr>
            <a:spLocks noChangeAspect="1"/>
          </p:cNvSpPr>
          <p:nvPr/>
        </p:nvSpPr>
        <p:spPr>
          <a:xfrm>
            <a:off x="65101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13" name="Straight Connector 112">
            <a:extLst>
              <a:ext uri="{FF2B5EF4-FFF2-40B4-BE49-F238E27FC236}">
                <a16:creationId xmlns:a16="http://schemas.microsoft.com/office/drawing/2014/main" id="{863BBA69-FC52-031F-F948-DCA26F7C58B1}"/>
              </a:ext>
            </a:extLst>
          </p:cNvPr>
          <p:cNvCxnSpPr>
            <a:cxnSpLocks/>
          </p:cNvCxnSpPr>
          <p:nvPr/>
        </p:nvCxnSpPr>
        <p:spPr bwMode="gray">
          <a:xfrm>
            <a:off x="71596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FB5F7ECA-6707-D406-0E8A-602CF2E5BB83}"/>
              </a:ext>
            </a:extLst>
          </p:cNvPr>
          <p:cNvCxnSpPr>
            <a:cxnSpLocks/>
          </p:cNvCxnSpPr>
          <p:nvPr/>
        </p:nvCxnSpPr>
        <p:spPr bwMode="gray">
          <a:xfrm>
            <a:off x="69233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Freeform 117">
            <a:extLst>
              <a:ext uri="{FF2B5EF4-FFF2-40B4-BE49-F238E27FC236}">
                <a16:creationId xmlns:a16="http://schemas.microsoft.com/office/drawing/2014/main" id="{913B7F02-5120-E698-4728-D2550FF51196}"/>
              </a:ext>
            </a:extLst>
          </p:cNvPr>
          <p:cNvSpPr>
            <a:spLocks noChangeAspect="1"/>
          </p:cNvSpPr>
          <p:nvPr/>
        </p:nvSpPr>
        <p:spPr>
          <a:xfrm>
            <a:off x="66987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20" name="Straight Connector 119">
            <a:extLst>
              <a:ext uri="{FF2B5EF4-FFF2-40B4-BE49-F238E27FC236}">
                <a16:creationId xmlns:a16="http://schemas.microsoft.com/office/drawing/2014/main" id="{37A2CA7D-0F39-FF57-65F0-54343315F030}"/>
              </a:ext>
            </a:extLst>
          </p:cNvPr>
          <p:cNvCxnSpPr>
            <a:cxnSpLocks/>
          </p:cNvCxnSpPr>
          <p:nvPr/>
        </p:nvCxnSpPr>
        <p:spPr bwMode="gray">
          <a:xfrm>
            <a:off x="72828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075C672D-1D65-F30A-576B-05504D4012BD}"/>
              </a:ext>
            </a:extLst>
          </p:cNvPr>
          <p:cNvCxnSpPr>
            <a:cxnSpLocks/>
          </p:cNvCxnSpPr>
          <p:nvPr/>
        </p:nvCxnSpPr>
        <p:spPr bwMode="gray">
          <a:xfrm>
            <a:off x="68397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24" name="Group 123">
            <a:extLst>
              <a:ext uri="{FF2B5EF4-FFF2-40B4-BE49-F238E27FC236}">
                <a16:creationId xmlns:a16="http://schemas.microsoft.com/office/drawing/2014/main" id="{B0FE4B44-D04D-1A2E-BC5E-EC4779CE7C1D}"/>
              </a:ext>
            </a:extLst>
          </p:cNvPr>
          <p:cNvGrpSpPr/>
          <p:nvPr/>
        </p:nvGrpSpPr>
        <p:grpSpPr>
          <a:xfrm>
            <a:off x="6896990" y="5140064"/>
            <a:ext cx="269469" cy="395289"/>
            <a:chOff x="3513038" y="5316536"/>
            <a:chExt cx="269469" cy="395289"/>
          </a:xfrm>
        </p:grpSpPr>
        <p:grpSp>
          <p:nvGrpSpPr>
            <p:cNvPr id="176" name="Google Shape;3733;p22">
              <a:extLst>
                <a:ext uri="{FF2B5EF4-FFF2-40B4-BE49-F238E27FC236}">
                  <a16:creationId xmlns:a16="http://schemas.microsoft.com/office/drawing/2014/main" id="{05BC5026-11DD-703D-8FF4-CCE79D251DB4}"/>
                </a:ext>
              </a:extLst>
            </p:cNvPr>
            <p:cNvGrpSpPr/>
            <p:nvPr/>
          </p:nvGrpSpPr>
          <p:grpSpPr>
            <a:xfrm>
              <a:off x="3513038" y="5316536"/>
              <a:ext cx="269469" cy="269658"/>
              <a:chOff x="658852" y="4943630"/>
              <a:chExt cx="583799" cy="584209"/>
            </a:xfrm>
          </p:grpSpPr>
          <p:sp>
            <p:nvSpPr>
              <p:cNvPr id="182" name="Google Shape;3734;p22">
                <a:extLst>
                  <a:ext uri="{FF2B5EF4-FFF2-40B4-BE49-F238E27FC236}">
                    <a16:creationId xmlns:a16="http://schemas.microsoft.com/office/drawing/2014/main" id="{CD6B7BFE-A992-F827-281B-C1230F6BEA77}"/>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84" name="Google Shape;3735;p22">
                <a:extLst>
                  <a:ext uri="{FF2B5EF4-FFF2-40B4-BE49-F238E27FC236}">
                    <a16:creationId xmlns:a16="http://schemas.microsoft.com/office/drawing/2014/main" id="{0D17A6C8-7C44-EE0A-D9D5-DF80817EA4CB}"/>
                  </a:ext>
                </a:extLst>
              </p:cNvPr>
              <p:cNvGrpSpPr/>
              <p:nvPr/>
            </p:nvGrpSpPr>
            <p:grpSpPr>
              <a:xfrm>
                <a:off x="834156" y="5211637"/>
                <a:ext cx="216359" cy="78004"/>
                <a:chOff x="834156" y="5211637"/>
                <a:chExt cx="216359" cy="78004"/>
              </a:xfrm>
            </p:grpSpPr>
            <p:sp>
              <p:nvSpPr>
                <p:cNvPr id="185" name="Google Shape;3736;p22">
                  <a:extLst>
                    <a:ext uri="{FF2B5EF4-FFF2-40B4-BE49-F238E27FC236}">
                      <a16:creationId xmlns:a16="http://schemas.microsoft.com/office/drawing/2014/main" id="{416C17E1-8AEE-EEDF-4C4B-7FB63C85CD66}"/>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186" name="Google Shape;3737;p22">
                  <a:extLst>
                    <a:ext uri="{FF2B5EF4-FFF2-40B4-BE49-F238E27FC236}">
                      <a16:creationId xmlns:a16="http://schemas.microsoft.com/office/drawing/2014/main" id="{FEA4C3B8-C785-4C0D-783B-EFC9556426B1}"/>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181" name="Straight Connector 180">
              <a:extLst>
                <a:ext uri="{FF2B5EF4-FFF2-40B4-BE49-F238E27FC236}">
                  <a16:creationId xmlns:a16="http://schemas.microsoft.com/office/drawing/2014/main" id="{E610C83C-AABB-C718-6FE5-169E467131E0}"/>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cxnSp>
        <p:nvCxnSpPr>
          <p:cNvPr id="189" name="Straight Connector 188">
            <a:extLst>
              <a:ext uri="{FF2B5EF4-FFF2-40B4-BE49-F238E27FC236}">
                <a16:creationId xmlns:a16="http://schemas.microsoft.com/office/drawing/2014/main" id="{197FF151-F290-6C24-B408-EDCEADEB02C8}"/>
              </a:ext>
            </a:extLst>
          </p:cNvPr>
          <p:cNvCxnSpPr>
            <a:cxnSpLocks/>
          </p:cNvCxnSpPr>
          <p:nvPr/>
        </p:nvCxnSpPr>
        <p:spPr bwMode="gray">
          <a:xfrm>
            <a:off x="12311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0" name="Freeform 189">
            <a:extLst>
              <a:ext uri="{FF2B5EF4-FFF2-40B4-BE49-F238E27FC236}">
                <a16:creationId xmlns:a16="http://schemas.microsoft.com/office/drawing/2014/main" id="{1C7E1D91-E01E-5C7F-D99A-9558F8FDCAE2}"/>
              </a:ext>
            </a:extLst>
          </p:cNvPr>
          <p:cNvSpPr>
            <a:spLocks noChangeAspect="1"/>
          </p:cNvSpPr>
          <p:nvPr/>
        </p:nvSpPr>
        <p:spPr>
          <a:xfrm>
            <a:off x="10237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91" name="Straight Connector 190">
            <a:extLst>
              <a:ext uri="{FF2B5EF4-FFF2-40B4-BE49-F238E27FC236}">
                <a16:creationId xmlns:a16="http://schemas.microsoft.com/office/drawing/2014/main" id="{B27E62DD-2457-C1BE-64D4-45360856FC23}"/>
              </a:ext>
            </a:extLst>
          </p:cNvPr>
          <p:cNvCxnSpPr>
            <a:cxnSpLocks/>
          </p:cNvCxnSpPr>
          <p:nvPr/>
        </p:nvCxnSpPr>
        <p:spPr bwMode="gray">
          <a:xfrm>
            <a:off x="16732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9F4D9AE7-DD35-8D22-6B0C-AB9A81ECE21B}"/>
              </a:ext>
            </a:extLst>
          </p:cNvPr>
          <p:cNvCxnSpPr>
            <a:cxnSpLocks/>
          </p:cNvCxnSpPr>
          <p:nvPr/>
        </p:nvCxnSpPr>
        <p:spPr bwMode="gray">
          <a:xfrm>
            <a:off x="14369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3" name="Freeform 192">
            <a:extLst>
              <a:ext uri="{FF2B5EF4-FFF2-40B4-BE49-F238E27FC236}">
                <a16:creationId xmlns:a16="http://schemas.microsoft.com/office/drawing/2014/main" id="{8D085DE6-3F3E-78AE-DA0B-6229214F5F26}"/>
              </a:ext>
            </a:extLst>
          </p:cNvPr>
          <p:cNvSpPr>
            <a:spLocks noChangeAspect="1"/>
          </p:cNvSpPr>
          <p:nvPr/>
        </p:nvSpPr>
        <p:spPr>
          <a:xfrm>
            <a:off x="12123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94" name="Straight Connector 193">
            <a:extLst>
              <a:ext uri="{FF2B5EF4-FFF2-40B4-BE49-F238E27FC236}">
                <a16:creationId xmlns:a16="http://schemas.microsoft.com/office/drawing/2014/main" id="{1987324D-2FD1-35F1-D131-4C945FAF4DD3}"/>
              </a:ext>
            </a:extLst>
          </p:cNvPr>
          <p:cNvCxnSpPr>
            <a:cxnSpLocks/>
          </p:cNvCxnSpPr>
          <p:nvPr/>
        </p:nvCxnSpPr>
        <p:spPr bwMode="gray">
          <a:xfrm>
            <a:off x="17964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7FCE7DD-7E2B-C9AF-8BF7-79D8D568F61F}"/>
              </a:ext>
            </a:extLst>
          </p:cNvPr>
          <p:cNvCxnSpPr>
            <a:cxnSpLocks/>
          </p:cNvCxnSpPr>
          <p:nvPr/>
        </p:nvCxnSpPr>
        <p:spPr bwMode="gray">
          <a:xfrm>
            <a:off x="13533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96" name="Group 195">
            <a:extLst>
              <a:ext uri="{FF2B5EF4-FFF2-40B4-BE49-F238E27FC236}">
                <a16:creationId xmlns:a16="http://schemas.microsoft.com/office/drawing/2014/main" id="{2EDAA4B7-0875-32D4-2972-9B67AE29F883}"/>
              </a:ext>
            </a:extLst>
          </p:cNvPr>
          <p:cNvGrpSpPr/>
          <p:nvPr/>
        </p:nvGrpSpPr>
        <p:grpSpPr>
          <a:xfrm>
            <a:off x="1410590" y="5140064"/>
            <a:ext cx="269469" cy="395289"/>
            <a:chOff x="3513038" y="5316536"/>
            <a:chExt cx="269469" cy="395289"/>
          </a:xfrm>
        </p:grpSpPr>
        <p:grpSp>
          <p:nvGrpSpPr>
            <p:cNvPr id="197" name="Google Shape;3733;p22">
              <a:extLst>
                <a:ext uri="{FF2B5EF4-FFF2-40B4-BE49-F238E27FC236}">
                  <a16:creationId xmlns:a16="http://schemas.microsoft.com/office/drawing/2014/main" id="{6B26C482-2277-5C4E-5F1A-DF28F5F94A53}"/>
                </a:ext>
              </a:extLst>
            </p:cNvPr>
            <p:cNvGrpSpPr/>
            <p:nvPr/>
          </p:nvGrpSpPr>
          <p:grpSpPr>
            <a:xfrm>
              <a:off x="3513038" y="5316536"/>
              <a:ext cx="269469" cy="269658"/>
              <a:chOff x="658852" y="4943630"/>
              <a:chExt cx="583799" cy="584209"/>
            </a:xfrm>
          </p:grpSpPr>
          <p:sp>
            <p:nvSpPr>
              <p:cNvPr id="199" name="Google Shape;3734;p22">
                <a:extLst>
                  <a:ext uri="{FF2B5EF4-FFF2-40B4-BE49-F238E27FC236}">
                    <a16:creationId xmlns:a16="http://schemas.microsoft.com/office/drawing/2014/main" id="{C67206DC-9BEA-E85C-1A6F-704C50643BF9}"/>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00" name="Google Shape;3735;p22">
                <a:extLst>
                  <a:ext uri="{FF2B5EF4-FFF2-40B4-BE49-F238E27FC236}">
                    <a16:creationId xmlns:a16="http://schemas.microsoft.com/office/drawing/2014/main" id="{DA125C8F-FFEA-A505-8756-94F13B8AF351}"/>
                  </a:ext>
                </a:extLst>
              </p:cNvPr>
              <p:cNvGrpSpPr/>
              <p:nvPr/>
            </p:nvGrpSpPr>
            <p:grpSpPr>
              <a:xfrm>
                <a:off x="834156" y="5211637"/>
                <a:ext cx="216359" cy="78004"/>
                <a:chOff x="834156" y="5211637"/>
                <a:chExt cx="216359" cy="78004"/>
              </a:xfrm>
            </p:grpSpPr>
            <p:sp>
              <p:nvSpPr>
                <p:cNvPr id="201" name="Google Shape;3736;p22">
                  <a:extLst>
                    <a:ext uri="{FF2B5EF4-FFF2-40B4-BE49-F238E27FC236}">
                      <a16:creationId xmlns:a16="http://schemas.microsoft.com/office/drawing/2014/main" id="{2A368631-9420-0DEB-1171-D8E3554233A1}"/>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02" name="Google Shape;3737;p22">
                  <a:extLst>
                    <a:ext uri="{FF2B5EF4-FFF2-40B4-BE49-F238E27FC236}">
                      <a16:creationId xmlns:a16="http://schemas.microsoft.com/office/drawing/2014/main" id="{C2A4A4F2-D9EA-6DA1-7EE7-E7715B1B70FA}"/>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198" name="Straight Connector 197">
              <a:extLst>
                <a:ext uri="{FF2B5EF4-FFF2-40B4-BE49-F238E27FC236}">
                  <a16:creationId xmlns:a16="http://schemas.microsoft.com/office/drawing/2014/main" id="{A28CF3E8-2537-9A8D-8AA0-DEFE8745A2E9}"/>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203" name="TextBox 202">
            <a:extLst>
              <a:ext uri="{FF2B5EF4-FFF2-40B4-BE49-F238E27FC236}">
                <a16:creationId xmlns:a16="http://schemas.microsoft.com/office/drawing/2014/main" id="{6C858CCF-D28A-1BF0-E95D-733654EA2EE2}"/>
              </a:ext>
            </a:extLst>
          </p:cNvPr>
          <p:cNvSpPr txBox="1"/>
          <p:nvPr/>
        </p:nvSpPr>
        <p:spPr>
          <a:xfrm>
            <a:off x="8211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204" name="TextBox 203">
            <a:extLst>
              <a:ext uri="{FF2B5EF4-FFF2-40B4-BE49-F238E27FC236}">
                <a16:creationId xmlns:a16="http://schemas.microsoft.com/office/drawing/2014/main" id="{BBBA86DF-3BCD-1C5C-9F1B-0F26A10294D3}"/>
              </a:ext>
            </a:extLst>
          </p:cNvPr>
          <p:cNvSpPr txBox="1"/>
          <p:nvPr/>
        </p:nvSpPr>
        <p:spPr>
          <a:xfrm>
            <a:off x="26499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205" name="TextBox 204">
            <a:extLst>
              <a:ext uri="{FF2B5EF4-FFF2-40B4-BE49-F238E27FC236}">
                <a16:creationId xmlns:a16="http://schemas.microsoft.com/office/drawing/2014/main" id="{6A0B0D3D-1BE6-888A-87B8-40D92FF5D571}"/>
              </a:ext>
            </a:extLst>
          </p:cNvPr>
          <p:cNvSpPr txBox="1"/>
          <p:nvPr/>
        </p:nvSpPr>
        <p:spPr>
          <a:xfrm>
            <a:off x="4478745" y="5573776"/>
            <a:ext cx="38175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206" name="TextBox 205">
            <a:extLst>
              <a:ext uri="{FF2B5EF4-FFF2-40B4-BE49-F238E27FC236}">
                <a16:creationId xmlns:a16="http://schemas.microsoft.com/office/drawing/2014/main" id="{7914AAE0-59D5-7DEC-A283-F95A14CB846F}"/>
              </a:ext>
            </a:extLst>
          </p:cNvPr>
          <p:cNvSpPr txBox="1"/>
          <p:nvPr/>
        </p:nvSpPr>
        <p:spPr>
          <a:xfrm>
            <a:off x="6307545" y="5573776"/>
            <a:ext cx="37197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207" name="Rectangle 206">
            <a:extLst>
              <a:ext uri="{FF2B5EF4-FFF2-40B4-BE49-F238E27FC236}">
                <a16:creationId xmlns:a16="http://schemas.microsoft.com/office/drawing/2014/main" id="{2C547A88-2029-6828-C499-E5DBE664649C}"/>
              </a:ext>
            </a:extLst>
          </p:cNvPr>
          <p:cNvSpPr/>
          <p:nvPr/>
        </p:nvSpPr>
        <p:spPr bwMode="gray">
          <a:xfrm>
            <a:off x="3057131"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08" name="Rectangle 207">
            <a:extLst>
              <a:ext uri="{FF2B5EF4-FFF2-40B4-BE49-F238E27FC236}">
                <a16:creationId xmlns:a16="http://schemas.microsoft.com/office/drawing/2014/main" id="{C16E22FD-3875-2FF4-58D1-A2756C5E3546}"/>
              </a:ext>
            </a:extLst>
          </p:cNvPr>
          <p:cNvSpPr/>
          <p:nvPr/>
        </p:nvSpPr>
        <p:spPr bwMode="gray">
          <a:xfrm>
            <a:off x="4892485"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09" name="Rectangle 208">
            <a:extLst>
              <a:ext uri="{FF2B5EF4-FFF2-40B4-BE49-F238E27FC236}">
                <a16:creationId xmlns:a16="http://schemas.microsoft.com/office/drawing/2014/main" id="{A3939B2A-A734-14CC-BB6C-A9BD1EABDD70}"/>
              </a:ext>
            </a:extLst>
          </p:cNvPr>
          <p:cNvSpPr/>
          <p:nvPr/>
        </p:nvSpPr>
        <p:spPr bwMode="gray">
          <a:xfrm>
            <a:off x="6718008"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210" name="Google Shape;3733;p22">
            <a:extLst>
              <a:ext uri="{FF2B5EF4-FFF2-40B4-BE49-F238E27FC236}">
                <a16:creationId xmlns:a16="http://schemas.microsoft.com/office/drawing/2014/main" id="{B9C3D280-37C7-B83E-AD1D-DB8E9337E16D}"/>
              </a:ext>
            </a:extLst>
          </p:cNvPr>
          <p:cNvGrpSpPr/>
          <p:nvPr/>
        </p:nvGrpSpPr>
        <p:grpSpPr>
          <a:xfrm>
            <a:off x="3042821" y="4618492"/>
            <a:ext cx="269469" cy="269658"/>
            <a:chOff x="658852" y="4943630"/>
            <a:chExt cx="583799" cy="584209"/>
          </a:xfrm>
        </p:grpSpPr>
        <p:sp>
          <p:nvSpPr>
            <p:cNvPr id="211" name="Google Shape;3734;p22">
              <a:extLst>
                <a:ext uri="{FF2B5EF4-FFF2-40B4-BE49-F238E27FC236}">
                  <a16:creationId xmlns:a16="http://schemas.microsoft.com/office/drawing/2014/main" id="{EBD2A113-1287-1B1E-F95B-51A07E7277DD}"/>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12" name="Google Shape;3735;p22">
              <a:extLst>
                <a:ext uri="{FF2B5EF4-FFF2-40B4-BE49-F238E27FC236}">
                  <a16:creationId xmlns:a16="http://schemas.microsoft.com/office/drawing/2014/main" id="{83B72F08-1549-33C3-27DF-508FA7C22D21}"/>
                </a:ext>
              </a:extLst>
            </p:cNvPr>
            <p:cNvGrpSpPr/>
            <p:nvPr/>
          </p:nvGrpSpPr>
          <p:grpSpPr>
            <a:xfrm>
              <a:off x="834156" y="5211637"/>
              <a:ext cx="216359" cy="78004"/>
              <a:chOff x="834156" y="5211637"/>
              <a:chExt cx="216359" cy="78004"/>
            </a:xfrm>
          </p:grpSpPr>
          <p:sp>
            <p:nvSpPr>
              <p:cNvPr id="213" name="Google Shape;3736;p22">
                <a:extLst>
                  <a:ext uri="{FF2B5EF4-FFF2-40B4-BE49-F238E27FC236}">
                    <a16:creationId xmlns:a16="http://schemas.microsoft.com/office/drawing/2014/main" id="{231ABBB1-F8E6-C48B-6EBD-413EC5234A49}"/>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14" name="Google Shape;3737;p22">
                <a:extLst>
                  <a:ext uri="{FF2B5EF4-FFF2-40B4-BE49-F238E27FC236}">
                    <a16:creationId xmlns:a16="http://schemas.microsoft.com/office/drawing/2014/main" id="{AC66C8E3-9AF0-0A7F-C92F-38D8D29E999C}"/>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215" name="Google Shape;3733;p22">
            <a:extLst>
              <a:ext uri="{FF2B5EF4-FFF2-40B4-BE49-F238E27FC236}">
                <a16:creationId xmlns:a16="http://schemas.microsoft.com/office/drawing/2014/main" id="{8A2D372C-05CE-A633-ACAA-BE6FBB191F49}"/>
              </a:ext>
            </a:extLst>
          </p:cNvPr>
          <p:cNvGrpSpPr/>
          <p:nvPr/>
        </p:nvGrpSpPr>
        <p:grpSpPr>
          <a:xfrm>
            <a:off x="4876256" y="4618492"/>
            <a:ext cx="269469" cy="269658"/>
            <a:chOff x="658852" y="4943630"/>
            <a:chExt cx="583799" cy="584209"/>
          </a:xfrm>
        </p:grpSpPr>
        <p:sp>
          <p:nvSpPr>
            <p:cNvPr id="216" name="Google Shape;3734;p22">
              <a:extLst>
                <a:ext uri="{FF2B5EF4-FFF2-40B4-BE49-F238E27FC236}">
                  <a16:creationId xmlns:a16="http://schemas.microsoft.com/office/drawing/2014/main" id="{8392ACFD-910C-F699-EB74-FC3BBFF82464}"/>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17" name="Google Shape;3735;p22">
              <a:extLst>
                <a:ext uri="{FF2B5EF4-FFF2-40B4-BE49-F238E27FC236}">
                  <a16:creationId xmlns:a16="http://schemas.microsoft.com/office/drawing/2014/main" id="{A317BB1E-7827-8D84-451B-014CE8363725}"/>
                </a:ext>
              </a:extLst>
            </p:cNvPr>
            <p:cNvGrpSpPr/>
            <p:nvPr/>
          </p:nvGrpSpPr>
          <p:grpSpPr>
            <a:xfrm>
              <a:off x="834156" y="5211637"/>
              <a:ext cx="216359" cy="78004"/>
              <a:chOff x="834156" y="5211637"/>
              <a:chExt cx="216359" cy="78004"/>
            </a:xfrm>
          </p:grpSpPr>
          <p:sp>
            <p:nvSpPr>
              <p:cNvPr id="218" name="Google Shape;3736;p22">
                <a:extLst>
                  <a:ext uri="{FF2B5EF4-FFF2-40B4-BE49-F238E27FC236}">
                    <a16:creationId xmlns:a16="http://schemas.microsoft.com/office/drawing/2014/main" id="{A87505C0-9E73-9B28-41D4-DD888D880358}"/>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19" name="Google Shape;3737;p22">
                <a:extLst>
                  <a:ext uri="{FF2B5EF4-FFF2-40B4-BE49-F238E27FC236}">
                    <a16:creationId xmlns:a16="http://schemas.microsoft.com/office/drawing/2014/main" id="{2EFA12D5-6D37-FCFC-5D14-BBFA3DE47B2E}"/>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220" name="Google Shape;3733;p22">
            <a:extLst>
              <a:ext uri="{FF2B5EF4-FFF2-40B4-BE49-F238E27FC236}">
                <a16:creationId xmlns:a16="http://schemas.microsoft.com/office/drawing/2014/main" id="{E020068A-B08F-94EB-84B3-E2FFB7625320}"/>
              </a:ext>
            </a:extLst>
          </p:cNvPr>
          <p:cNvGrpSpPr/>
          <p:nvPr/>
        </p:nvGrpSpPr>
        <p:grpSpPr>
          <a:xfrm>
            <a:off x="6705056" y="4618492"/>
            <a:ext cx="269469" cy="269658"/>
            <a:chOff x="658852" y="4943630"/>
            <a:chExt cx="583799" cy="584209"/>
          </a:xfrm>
        </p:grpSpPr>
        <p:sp>
          <p:nvSpPr>
            <p:cNvPr id="221" name="Google Shape;3734;p22">
              <a:extLst>
                <a:ext uri="{FF2B5EF4-FFF2-40B4-BE49-F238E27FC236}">
                  <a16:creationId xmlns:a16="http://schemas.microsoft.com/office/drawing/2014/main" id="{CF538997-6D41-44DC-9FA0-B47E3C16F542}"/>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22" name="Google Shape;3735;p22">
              <a:extLst>
                <a:ext uri="{FF2B5EF4-FFF2-40B4-BE49-F238E27FC236}">
                  <a16:creationId xmlns:a16="http://schemas.microsoft.com/office/drawing/2014/main" id="{D822D0D5-2D69-1C2F-3721-6449A8534E52}"/>
                </a:ext>
              </a:extLst>
            </p:cNvPr>
            <p:cNvGrpSpPr/>
            <p:nvPr/>
          </p:nvGrpSpPr>
          <p:grpSpPr>
            <a:xfrm>
              <a:off x="834156" y="5211637"/>
              <a:ext cx="216359" cy="78004"/>
              <a:chOff x="834156" y="5211637"/>
              <a:chExt cx="216359" cy="78004"/>
            </a:xfrm>
          </p:grpSpPr>
          <p:sp>
            <p:nvSpPr>
              <p:cNvPr id="223" name="Google Shape;3736;p22">
                <a:extLst>
                  <a:ext uri="{FF2B5EF4-FFF2-40B4-BE49-F238E27FC236}">
                    <a16:creationId xmlns:a16="http://schemas.microsoft.com/office/drawing/2014/main" id="{CEDB758F-822F-E615-49BC-468C08F94361}"/>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24" name="Google Shape;3737;p22">
                <a:extLst>
                  <a:ext uri="{FF2B5EF4-FFF2-40B4-BE49-F238E27FC236}">
                    <a16:creationId xmlns:a16="http://schemas.microsoft.com/office/drawing/2014/main" id="{86CCCC71-E3B7-8D8E-E1F6-2694661A0708}"/>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
        <p:nvSpPr>
          <p:cNvPr id="225" name="Rectangle 224">
            <a:extLst>
              <a:ext uri="{FF2B5EF4-FFF2-40B4-BE49-F238E27FC236}">
                <a16:creationId xmlns:a16="http://schemas.microsoft.com/office/drawing/2014/main" id="{5E1D66E6-7C7E-EDCD-B040-9587F83D0557}"/>
              </a:ext>
            </a:extLst>
          </p:cNvPr>
          <p:cNvSpPr/>
          <p:nvPr/>
        </p:nvSpPr>
        <p:spPr bwMode="gray">
          <a:xfrm>
            <a:off x="1234520"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226" name="Google Shape;3733;p22">
            <a:extLst>
              <a:ext uri="{FF2B5EF4-FFF2-40B4-BE49-F238E27FC236}">
                <a16:creationId xmlns:a16="http://schemas.microsoft.com/office/drawing/2014/main" id="{74B6DE1F-C79F-EA88-5181-45541848B97E}"/>
              </a:ext>
            </a:extLst>
          </p:cNvPr>
          <p:cNvGrpSpPr/>
          <p:nvPr/>
        </p:nvGrpSpPr>
        <p:grpSpPr>
          <a:xfrm>
            <a:off x="1218656" y="4618492"/>
            <a:ext cx="269469" cy="269658"/>
            <a:chOff x="658852" y="4943630"/>
            <a:chExt cx="583799" cy="584209"/>
          </a:xfrm>
        </p:grpSpPr>
        <p:sp>
          <p:nvSpPr>
            <p:cNvPr id="227" name="Google Shape;3734;p22">
              <a:extLst>
                <a:ext uri="{FF2B5EF4-FFF2-40B4-BE49-F238E27FC236}">
                  <a16:creationId xmlns:a16="http://schemas.microsoft.com/office/drawing/2014/main" id="{43B54447-9934-4172-F906-8F4FD30BD49C}"/>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28" name="Google Shape;3735;p22">
              <a:extLst>
                <a:ext uri="{FF2B5EF4-FFF2-40B4-BE49-F238E27FC236}">
                  <a16:creationId xmlns:a16="http://schemas.microsoft.com/office/drawing/2014/main" id="{571E6D35-74F2-F024-5756-6FF8465ACBB0}"/>
                </a:ext>
              </a:extLst>
            </p:cNvPr>
            <p:cNvGrpSpPr/>
            <p:nvPr/>
          </p:nvGrpSpPr>
          <p:grpSpPr>
            <a:xfrm>
              <a:off x="834156" y="5211637"/>
              <a:ext cx="216359" cy="78004"/>
              <a:chOff x="834156" y="5211637"/>
              <a:chExt cx="216359" cy="78004"/>
            </a:xfrm>
          </p:grpSpPr>
          <p:sp>
            <p:nvSpPr>
              <p:cNvPr id="229" name="Google Shape;3736;p22">
                <a:extLst>
                  <a:ext uri="{FF2B5EF4-FFF2-40B4-BE49-F238E27FC236}">
                    <a16:creationId xmlns:a16="http://schemas.microsoft.com/office/drawing/2014/main" id="{7E8B3B3F-393D-8C63-7E10-C613E289FE94}"/>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30" name="Google Shape;3737;p22">
                <a:extLst>
                  <a:ext uri="{FF2B5EF4-FFF2-40B4-BE49-F238E27FC236}">
                    <a16:creationId xmlns:a16="http://schemas.microsoft.com/office/drawing/2014/main" id="{21BFAA67-E254-06B2-ECFD-5C89077BF89B}"/>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
        <p:nvSpPr>
          <p:cNvPr id="231" name="TextBox 230">
            <a:extLst>
              <a:ext uri="{FF2B5EF4-FFF2-40B4-BE49-F238E27FC236}">
                <a16:creationId xmlns:a16="http://schemas.microsoft.com/office/drawing/2014/main" id="{1DABC74A-EC82-4AF3-A8E8-EC6D47C3F065}"/>
              </a:ext>
            </a:extLst>
          </p:cNvPr>
          <p:cNvSpPr txBox="1">
            <a:spLocks noChangeAspect="1"/>
          </p:cNvSpPr>
          <p:nvPr/>
        </p:nvSpPr>
        <p:spPr>
          <a:xfrm>
            <a:off x="3391521"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32" name="TextBox 231">
            <a:extLst>
              <a:ext uri="{FF2B5EF4-FFF2-40B4-BE49-F238E27FC236}">
                <a16:creationId xmlns:a16="http://schemas.microsoft.com/office/drawing/2014/main" id="{77F79217-7BF9-86E2-2702-A9207458EDB7}"/>
              </a:ext>
            </a:extLst>
          </p:cNvPr>
          <p:cNvSpPr txBox="1">
            <a:spLocks noChangeAspect="1"/>
          </p:cNvSpPr>
          <p:nvPr/>
        </p:nvSpPr>
        <p:spPr>
          <a:xfrm>
            <a:off x="5222890"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33" name="TextBox 232">
            <a:extLst>
              <a:ext uri="{FF2B5EF4-FFF2-40B4-BE49-F238E27FC236}">
                <a16:creationId xmlns:a16="http://schemas.microsoft.com/office/drawing/2014/main" id="{E439BD24-D819-792F-F67E-95E1B364F92E}"/>
              </a:ext>
            </a:extLst>
          </p:cNvPr>
          <p:cNvSpPr txBox="1">
            <a:spLocks noChangeAspect="1"/>
          </p:cNvSpPr>
          <p:nvPr/>
        </p:nvSpPr>
        <p:spPr>
          <a:xfrm>
            <a:off x="7055339"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34" name="TextBox 233">
            <a:extLst>
              <a:ext uri="{FF2B5EF4-FFF2-40B4-BE49-F238E27FC236}">
                <a16:creationId xmlns:a16="http://schemas.microsoft.com/office/drawing/2014/main" id="{0BC15DAD-B628-B1C6-0FE2-EF346BF90894}"/>
              </a:ext>
            </a:extLst>
          </p:cNvPr>
          <p:cNvSpPr txBox="1">
            <a:spLocks noChangeAspect="1"/>
          </p:cNvSpPr>
          <p:nvPr/>
        </p:nvSpPr>
        <p:spPr>
          <a:xfrm>
            <a:off x="1567352"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39" name="!!externalconnection">
            <a:extLst>
              <a:ext uri="{FF2B5EF4-FFF2-40B4-BE49-F238E27FC236}">
                <a16:creationId xmlns:a16="http://schemas.microsoft.com/office/drawing/2014/main" id="{66C279FE-2FB8-E3B0-5B86-65969A39AABA}"/>
              </a:ext>
            </a:extLst>
          </p:cNvPr>
          <p:cNvSpPr/>
          <p:nvPr/>
        </p:nvSpPr>
        <p:spPr bwMode="gray">
          <a:xfrm>
            <a:off x="1065213" y="2924944"/>
            <a:ext cx="6400800" cy="180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	External Connection</a:t>
            </a:r>
          </a:p>
        </p:txBody>
      </p:sp>
      <p:sp>
        <p:nvSpPr>
          <p:cNvPr id="240" name="!!externalconnection">
            <a:extLst>
              <a:ext uri="{FF2B5EF4-FFF2-40B4-BE49-F238E27FC236}">
                <a16:creationId xmlns:a16="http://schemas.microsoft.com/office/drawing/2014/main" id="{CB244D34-AFE8-B725-EFDF-4C041060B125}"/>
              </a:ext>
            </a:extLst>
          </p:cNvPr>
          <p:cNvSpPr/>
          <p:nvPr/>
        </p:nvSpPr>
        <p:spPr bwMode="gray">
          <a:xfrm>
            <a:off x="3419857" y="2924944"/>
            <a:ext cx="699515" cy="180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Centralized</a:t>
            </a:r>
          </a:p>
        </p:txBody>
      </p:sp>
      <p:sp>
        <p:nvSpPr>
          <p:cNvPr id="2" name="!!Freeform 1we">
            <a:extLst>
              <a:ext uri="{FF2B5EF4-FFF2-40B4-BE49-F238E27FC236}">
                <a16:creationId xmlns:a16="http://schemas.microsoft.com/office/drawing/2014/main" id="{45481F03-F221-EE16-2F30-8E51AD0DB84B}"/>
              </a:ext>
            </a:extLst>
          </p:cNvPr>
          <p:cNvSpPr/>
          <p:nvPr/>
        </p:nvSpPr>
        <p:spPr bwMode="gray">
          <a:xfrm>
            <a:off x="1681566" y="5261675"/>
            <a:ext cx="1534332" cy="7749"/>
          </a:xfrm>
          <a:custGeom>
            <a:avLst/>
            <a:gdLst>
              <a:gd name="csX0" fmla="*/ 0 w 1534332"/>
              <a:gd name="csY0" fmla="*/ 7749 h 7749"/>
              <a:gd name="csX1" fmla="*/ 1534332 w 1534332"/>
              <a:gd name="csY1" fmla="*/ 0 h 7749"/>
            </a:gdLst>
            <a:ahLst/>
            <a:cxnLst>
              <a:cxn ang="0">
                <a:pos x="csX0" y="csY0"/>
              </a:cxn>
              <a:cxn ang="0">
                <a:pos x="csX1" y="csY1"/>
              </a:cxn>
            </a:cxnLst>
            <a:rect l="l" t="t" r="r" b="b"/>
            <a:pathLst>
              <a:path w="1534332" h="7749">
                <a:moveTo>
                  <a:pt x="0" y="7749"/>
                </a:moveTo>
                <a:lnTo>
                  <a:pt x="1534332" y="0"/>
                </a:ln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4" name="Group 23">
            <a:extLst>
              <a:ext uri="{FF2B5EF4-FFF2-40B4-BE49-F238E27FC236}">
                <a16:creationId xmlns:a16="http://schemas.microsoft.com/office/drawing/2014/main" id="{72F02520-EC62-DAB2-7353-D19F2B1835FB}"/>
              </a:ext>
            </a:extLst>
          </p:cNvPr>
          <p:cNvGrpSpPr/>
          <p:nvPr/>
        </p:nvGrpSpPr>
        <p:grpSpPr>
          <a:xfrm>
            <a:off x="1590429" y="1929532"/>
            <a:ext cx="5182961" cy="3184908"/>
            <a:chOff x="1590429" y="1929532"/>
            <a:chExt cx="5182961" cy="3184908"/>
          </a:xfrm>
        </p:grpSpPr>
        <p:sp>
          <p:nvSpPr>
            <p:cNvPr id="5" name="Freeform 4">
              <a:extLst>
                <a:ext uri="{FF2B5EF4-FFF2-40B4-BE49-F238E27FC236}">
                  <a16:creationId xmlns:a16="http://schemas.microsoft.com/office/drawing/2014/main" id="{9F0DC670-2C8F-6E78-7291-FEA6EE9B7C3C}"/>
                </a:ext>
              </a:extLst>
            </p:cNvPr>
            <p:cNvSpPr/>
            <p:nvPr/>
          </p:nvSpPr>
          <p:spPr bwMode="gray">
            <a:xfrm flipV="1">
              <a:off x="3265974" y="1929533"/>
              <a:ext cx="389184" cy="3184907"/>
            </a:xfrm>
            <a:custGeom>
              <a:avLst/>
              <a:gdLst>
                <a:gd name="csX0" fmla="*/ 0 w 1534332"/>
                <a:gd name="csY0" fmla="*/ 7749 h 7749"/>
                <a:gd name="csX1" fmla="*/ 1534332 w 1534332"/>
                <a:gd name="csY1" fmla="*/ 0 h 7749"/>
                <a:gd name="csX0" fmla="*/ 50949 w 51088"/>
                <a:gd name="csY0" fmla="*/ 15279 h 15279"/>
                <a:gd name="csX1" fmla="*/ 140 w 51088"/>
                <a:gd name="csY1" fmla="*/ 0 h 15279"/>
                <a:gd name="csX0" fmla="*/ 50809 w 52655"/>
                <a:gd name="csY0" fmla="*/ 15279 h 15279"/>
                <a:gd name="csX1" fmla="*/ 0 w 52655"/>
                <a:gd name="csY1" fmla="*/ 0 h 15279"/>
              </a:gdLst>
              <a:ahLst/>
              <a:cxnLst>
                <a:cxn ang="0">
                  <a:pos x="csX0" y="csY0"/>
                </a:cxn>
                <a:cxn ang="0">
                  <a:pos x="csX1" y="csY1"/>
                </a:cxn>
              </a:cxnLst>
              <a:rect l="l" t="t" r="r" b="b"/>
              <a:pathLst>
                <a:path w="52655" h="15279">
                  <a:moveTo>
                    <a:pt x="50809" y="15279"/>
                  </a:moveTo>
                  <a:cubicBezTo>
                    <a:pt x="54142" y="11946"/>
                    <a:pt x="59573" y="3376"/>
                    <a:pt x="0" y="0"/>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 name="Freeform 5">
              <a:extLst>
                <a:ext uri="{FF2B5EF4-FFF2-40B4-BE49-F238E27FC236}">
                  <a16:creationId xmlns:a16="http://schemas.microsoft.com/office/drawing/2014/main" id="{25C07A8D-F5DB-6446-D823-205B63A4EF63}"/>
                </a:ext>
              </a:extLst>
            </p:cNvPr>
            <p:cNvSpPr/>
            <p:nvPr/>
          </p:nvSpPr>
          <p:spPr bwMode="gray">
            <a:xfrm flipV="1">
              <a:off x="1590429" y="1929532"/>
              <a:ext cx="1842446" cy="2871068"/>
            </a:xfrm>
            <a:custGeom>
              <a:avLst/>
              <a:gdLst>
                <a:gd name="csX0" fmla="*/ 0 w 1534332"/>
                <a:gd name="csY0" fmla="*/ 7749 h 7749"/>
                <a:gd name="csX1" fmla="*/ 1534332 w 1534332"/>
                <a:gd name="csY1" fmla="*/ 0 h 7749"/>
                <a:gd name="csX0" fmla="*/ 50949 w 51088"/>
                <a:gd name="csY0" fmla="*/ 15279 h 15279"/>
                <a:gd name="csX1" fmla="*/ 140 w 51088"/>
                <a:gd name="csY1" fmla="*/ 0 h 15279"/>
                <a:gd name="csX0" fmla="*/ 50809 w 52655"/>
                <a:gd name="csY0" fmla="*/ 15279 h 15279"/>
                <a:gd name="csX1" fmla="*/ 0 w 52655"/>
                <a:gd name="csY1" fmla="*/ 0 h 15279"/>
              </a:gdLst>
              <a:ahLst/>
              <a:cxnLst>
                <a:cxn ang="0">
                  <a:pos x="csX0" y="csY0"/>
                </a:cxn>
                <a:cxn ang="0">
                  <a:pos x="csX1" y="csY1"/>
                </a:cxn>
              </a:cxnLst>
              <a:rect l="l" t="t" r="r" b="b"/>
              <a:pathLst>
                <a:path w="52655" h="15279">
                  <a:moveTo>
                    <a:pt x="50809" y="15279"/>
                  </a:moveTo>
                  <a:cubicBezTo>
                    <a:pt x="54142" y="11946"/>
                    <a:pt x="59573" y="3376"/>
                    <a:pt x="0" y="0"/>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9" name="Freeform 18">
              <a:extLst>
                <a:ext uri="{FF2B5EF4-FFF2-40B4-BE49-F238E27FC236}">
                  <a16:creationId xmlns:a16="http://schemas.microsoft.com/office/drawing/2014/main" id="{D00E0867-0789-FD52-800D-B06F9A46F0BC}"/>
                </a:ext>
              </a:extLst>
            </p:cNvPr>
            <p:cNvSpPr/>
            <p:nvPr/>
          </p:nvSpPr>
          <p:spPr bwMode="gray">
            <a:xfrm flipH="1" flipV="1">
              <a:off x="3822059" y="1929532"/>
              <a:ext cx="1357954" cy="2871068"/>
            </a:xfrm>
            <a:custGeom>
              <a:avLst/>
              <a:gdLst>
                <a:gd name="csX0" fmla="*/ 0 w 1534332"/>
                <a:gd name="csY0" fmla="*/ 7749 h 7749"/>
                <a:gd name="csX1" fmla="*/ 1534332 w 1534332"/>
                <a:gd name="csY1" fmla="*/ 0 h 7749"/>
                <a:gd name="csX0" fmla="*/ 50949 w 51088"/>
                <a:gd name="csY0" fmla="*/ 15279 h 15279"/>
                <a:gd name="csX1" fmla="*/ 140 w 51088"/>
                <a:gd name="csY1" fmla="*/ 0 h 15279"/>
                <a:gd name="csX0" fmla="*/ 50809 w 52655"/>
                <a:gd name="csY0" fmla="*/ 15279 h 15279"/>
                <a:gd name="csX1" fmla="*/ 0 w 52655"/>
                <a:gd name="csY1" fmla="*/ 0 h 15279"/>
              </a:gdLst>
              <a:ahLst/>
              <a:cxnLst>
                <a:cxn ang="0">
                  <a:pos x="csX0" y="csY0"/>
                </a:cxn>
                <a:cxn ang="0">
                  <a:pos x="csX1" y="csY1"/>
                </a:cxn>
              </a:cxnLst>
              <a:rect l="l" t="t" r="r" b="b"/>
              <a:pathLst>
                <a:path w="52655" h="15279">
                  <a:moveTo>
                    <a:pt x="50809" y="15279"/>
                  </a:moveTo>
                  <a:cubicBezTo>
                    <a:pt x="54142" y="11946"/>
                    <a:pt x="59573" y="3376"/>
                    <a:pt x="0" y="0"/>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 name="Freeform 21">
              <a:extLst>
                <a:ext uri="{FF2B5EF4-FFF2-40B4-BE49-F238E27FC236}">
                  <a16:creationId xmlns:a16="http://schemas.microsoft.com/office/drawing/2014/main" id="{80B92ECB-991A-3798-5E23-B31EAC11757F}"/>
                </a:ext>
              </a:extLst>
            </p:cNvPr>
            <p:cNvSpPr/>
            <p:nvPr/>
          </p:nvSpPr>
          <p:spPr bwMode="gray">
            <a:xfrm flipH="1" flipV="1">
              <a:off x="5415436" y="1929532"/>
              <a:ext cx="1357954" cy="2871068"/>
            </a:xfrm>
            <a:custGeom>
              <a:avLst/>
              <a:gdLst>
                <a:gd name="csX0" fmla="*/ 0 w 1534332"/>
                <a:gd name="csY0" fmla="*/ 7749 h 7749"/>
                <a:gd name="csX1" fmla="*/ 1534332 w 1534332"/>
                <a:gd name="csY1" fmla="*/ 0 h 7749"/>
                <a:gd name="csX0" fmla="*/ 50949 w 51088"/>
                <a:gd name="csY0" fmla="*/ 15279 h 15279"/>
                <a:gd name="csX1" fmla="*/ 140 w 51088"/>
                <a:gd name="csY1" fmla="*/ 0 h 15279"/>
                <a:gd name="csX0" fmla="*/ 50809 w 52655"/>
                <a:gd name="csY0" fmla="*/ 15279 h 15279"/>
                <a:gd name="csX1" fmla="*/ 0 w 52655"/>
                <a:gd name="csY1" fmla="*/ 0 h 15279"/>
              </a:gdLst>
              <a:ahLst/>
              <a:cxnLst>
                <a:cxn ang="0">
                  <a:pos x="csX0" y="csY0"/>
                </a:cxn>
                <a:cxn ang="0">
                  <a:pos x="csX1" y="csY1"/>
                </a:cxn>
              </a:cxnLst>
              <a:rect l="l" t="t" r="r" b="b"/>
              <a:pathLst>
                <a:path w="52655" h="15279">
                  <a:moveTo>
                    <a:pt x="50809" y="15279"/>
                  </a:moveTo>
                  <a:cubicBezTo>
                    <a:pt x="54142" y="11946"/>
                    <a:pt x="59573" y="3376"/>
                    <a:pt x="0" y="0"/>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6645860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par>
                                <p:cTn id="8" presetID="1" presetClass="entr" presetSubtype="0" fill="hold" nodeType="withEffect">
                                  <p:stCondLst>
                                    <p:cond delay="0"/>
                                  </p:stCondLst>
                                  <p:childTnLst>
                                    <p:set>
                                      <p:cBhvr>
                                        <p:cTn id="9" dur="1" fill="hold">
                                          <p:stCondLst>
                                            <p:cond delay="0"/>
                                          </p:stCondLst>
                                        </p:cTn>
                                        <p:tgtEl>
                                          <p:spTgt spid="187">
                                            <p:txEl>
                                              <p:pRg st="2" end="2"/>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24"/>
                                        </p:tgtEl>
                                        <p:attrNameLst>
                                          <p:attrName>style.visibility</p:attrName>
                                        </p:attrNameLst>
                                      </p:cBhvr>
                                      <p:to>
                                        <p:strVal val="hidden"/>
                                      </p:to>
                                    </p:set>
                                  </p:childTnLst>
                                </p:cTn>
                              </p:par>
                              <p:par>
                                <p:cTn id="14" presetID="1" presetClass="entr" presetSubtype="0" fill="hold" nodeType="withEffect">
                                  <p:stCondLst>
                                    <p:cond delay="0"/>
                                  </p:stCondLst>
                                  <p:childTnLst>
                                    <p:set>
                                      <p:cBhvr>
                                        <p:cTn id="15" dur="1" fill="hold">
                                          <p:stCondLst>
                                            <p:cond delay="0"/>
                                          </p:stCondLst>
                                        </p:cTn>
                                        <p:tgtEl>
                                          <p:spTgt spid="187">
                                            <p:txEl>
                                              <p:pRg st="3" end="3"/>
                                            </p:txEl>
                                          </p:spTgt>
                                        </p:tgtEl>
                                        <p:attrNameLst>
                                          <p:attrName>style.visibility</p:attrName>
                                        </p:attrNameLst>
                                      </p:cBhvr>
                                      <p:to>
                                        <p:strVal val="visible"/>
                                      </p:to>
                                    </p:set>
                                  </p:childTnLst>
                                </p:cTn>
                              </p:par>
                              <p:par>
                                <p:cTn id="16" presetID="35" presetClass="emph" presetSubtype="0" repeatCount="10000" fill="hold" grpId="0" nodeType="withEffect">
                                  <p:stCondLst>
                                    <p:cond delay="0"/>
                                  </p:stCondLst>
                                  <p:childTnLst>
                                    <p:anim calcmode="discrete" valueType="str">
                                      <p:cBhvr>
                                        <p:cTn id="17" dur="100" fill="hold"/>
                                        <p:tgtEl>
                                          <p:spTgt spid="33"/>
                                        </p:tgtEl>
                                        <p:attrNameLst>
                                          <p:attrName>style.visibility</p:attrName>
                                        </p:attrNameLst>
                                      </p:cBhvr>
                                      <p:tavLst>
                                        <p:tav tm="0">
                                          <p:val>
                                            <p:strVal val="hidden"/>
                                          </p:val>
                                        </p:tav>
                                        <p:tav tm="50000">
                                          <p:val>
                                            <p:strVal val="visible"/>
                                          </p:val>
                                        </p:tav>
                                      </p:tavLst>
                                    </p:anim>
                                  </p:childTnLst>
                                </p:cTn>
                              </p:par>
                              <p:par>
                                <p:cTn id="18" presetID="1" presetClass="entr" presetSubtype="0" fill="hold" nodeType="withEffect">
                                  <p:stCondLst>
                                    <p:cond delay="0"/>
                                  </p:stCondLst>
                                  <p:childTnLst>
                                    <p:set>
                                      <p:cBhvr>
                                        <p:cTn id="19" dur="1" fill="hold">
                                          <p:stCondLst>
                                            <p:cond delay="0"/>
                                          </p:stCondLst>
                                        </p:cTn>
                                        <p:tgtEl>
                                          <p:spTgt spid="187">
                                            <p:txEl>
                                              <p:pRg st="4" end="4"/>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left)">
                                      <p:cBhvr>
                                        <p:cTn id="2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2"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3B3654-D98A-CC47-687F-7A9E7F38436B}"/>
            </a:ext>
          </a:extLst>
        </p:cNvPr>
        <p:cNvGrpSpPr/>
        <p:nvPr/>
      </p:nvGrpSpPr>
      <p:grpSpPr>
        <a:xfrm>
          <a:off x="0" y="0"/>
          <a:ext cx="0" cy="0"/>
          <a:chOff x="0" y="0"/>
          <a:chExt cx="0" cy="0"/>
        </a:xfrm>
      </p:grpSpPr>
      <p:sp>
        <p:nvSpPr>
          <p:cNvPr id="6" name="!!TOP">
            <a:extLst>
              <a:ext uri="{FF2B5EF4-FFF2-40B4-BE49-F238E27FC236}">
                <a16:creationId xmlns:a16="http://schemas.microsoft.com/office/drawing/2014/main" id="{C003EDA9-EB42-9620-65F8-DC3E05200962}"/>
              </a:ext>
            </a:extLst>
          </p:cNvPr>
          <p:cNvSpPr/>
          <p:nvPr/>
        </p:nvSpPr>
        <p:spPr>
          <a:xfrm flipV="1">
            <a:off x="608013" y="2626326"/>
            <a:ext cx="7315200" cy="3545873"/>
          </a:xfrm>
          <a:prstGeom prst="round2SameRect">
            <a:avLst>
              <a:gd name="adj1" fmla="val 53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10" name="!!BOTTOM">
            <a:extLst>
              <a:ext uri="{FF2B5EF4-FFF2-40B4-BE49-F238E27FC236}">
                <a16:creationId xmlns:a16="http://schemas.microsoft.com/office/drawing/2014/main" id="{BA989EF1-8C8F-0DCB-59AD-778D6F531546}"/>
              </a:ext>
            </a:extLst>
          </p:cNvPr>
          <p:cNvSpPr/>
          <p:nvPr/>
        </p:nvSpPr>
        <p:spPr>
          <a:xfrm rot="10800000" flipV="1">
            <a:off x="608013" y="1600200"/>
            <a:ext cx="7315200" cy="914400"/>
          </a:xfrm>
          <a:prstGeom prst="round2SameRect">
            <a:avLst>
              <a:gd name="adj1" fmla="val 7233"/>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PHYSICAL NETWORK</a:t>
            </a:r>
          </a:p>
        </p:txBody>
      </p:sp>
      <p:sp>
        <p:nvSpPr>
          <p:cNvPr id="28" name="!!ESX2">
            <a:extLst>
              <a:ext uri="{FF2B5EF4-FFF2-40B4-BE49-F238E27FC236}">
                <a16:creationId xmlns:a16="http://schemas.microsoft.com/office/drawing/2014/main" id="{A1476BD3-0892-E1B7-B760-A676E83E6457}"/>
              </a:ext>
            </a:extLst>
          </p:cNvPr>
          <p:cNvSpPr/>
          <p:nvPr/>
        </p:nvSpPr>
        <p:spPr bwMode="gray">
          <a:xfrm>
            <a:off x="2645309" y="2842958"/>
            <a:ext cx="1371600" cy="2877065"/>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15" name="!!ESX1">
            <a:extLst>
              <a:ext uri="{FF2B5EF4-FFF2-40B4-BE49-F238E27FC236}">
                <a16:creationId xmlns:a16="http://schemas.microsoft.com/office/drawing/2014/main" id="{047AEED6-C5CE-3A20-BCAC-286EEAE1F54C}"/>
              </a:ext>
            </a:extLst>
          </p:cNvPr>
          <p:cNvSpPr/>
          <p:nvPr/>
        </p:nvSpPr>
        <p:spPr bwMode="gray">
          <a:xfrm>
            <a:off x="821142" y="2842957"/>
            <a:ext cx="1371600" cy="2877065"/>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59" name="ESX3">
            <a:extLst>
              <a:ext uri="{FF2B5EF4-FFF2-40B4-BE49-F238E27FC236}">
                <a16:creationId xmlns:a16="http://schemas.microsoft.com/office/drawing/2014/main" id="{ABCB0C11-A2B7-5783-FCB8-A225F482D5D6}"/>
              </a:ext>
            </a:extLst>
          </p:cNvPr>
          <p:cNvSpPr/>
          <p:nvPr/>
        </p:nvSpPr>
        <p:spPr bwMode="gray">
          <a:xfrm>
            <a:off x="4476680" y="2842958"/>
            <a:ext cx="1371600" cy="2877065"/>
          </a:xfrm>
          <a:prstGeom prst="roundRect">
            <a:avLst>
              <a:gd name="adj" fmla="val 525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87" name="ESX4">
            <a:extLst>
              <a:ext uri="{FF2B5EF4-FFF2-40B4-BE49-F238E27FC236}">
                <a16:creationId xmlns:a16="http://schemas.microsoft.com/office/drawing/2014/main" id="{78B5B0E7-FA47-735C-9919-3C58B6080F59}"/>
              </a:ext>
            </a:extLst>
          </p:cNvPr>
          <p:cNvSpPr/>
          <p:nvPr/>
        </p:nvSpPr>
        <p:spPr bwMode="gray">
          <a:xfrm>
            <a:off x="6309129" y="2842958"/>
            <a:ext cx="1371600" cy="2877065"/>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3" name="Rounded Rectangle 2">
            <a:extLst>
              <a:ext uri="{FF2B5EF4-FFF2-40B4-BE49-F238E27FC236}">
                <a16:creationId xmlns:a16="http://schemas.microsoft.com/office/drawing/2014/main" id="{2A046EE0-A528-B17F-24C1-838D110E682F}"/>
              </a:ext>
            </a:extLst>
          </p:cNvPr>
          <p:cNvSpPr/>
          <p:nvPr/>
        </p:nvSpPr>
        <p:spPr bwMode="gray">
          <a:xfrm>
            <a:off x="1440872" y="3752892"/>
            <a:ext cx="6084000" cy="982583"/>
          </a:xfrm>
          <a:prstGeom prst="roundRect">
            <a:avLst>
              <a:gd name="adj" fmla="val 6797"/>
            </a:avLst>
          </a:prstGeom>
          <a:noFill/>
          <a:ln w="9525">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4" name="Title 3">
            <a:extLst>
              <a:ext uri="{FF2B5EF4-FFF2-40B4-BE49-F238E27FC236}">
                <a16:creationId xmlns:a16="http://schemas.microsoft.com/office/drawing/2014/main" id="{4EAEE8E2-479B-5CC0-2454-75835003466B}"/>
              </a:ext>
            </a:extLst>
          </p:cNvPr>
          <p:cNvSpPr>
            <a:spLocks noGrp="1"/>
          </p:cNvSpPr>
          <p:nvPr>
            <p:ph type="title"/>
          </p:nvPr>
        </p:nvSpPr>
        <p:spPr/>
        <p:txBody>
          <a:bodyPr/>
          <a:lstStyle/>
          <a:p>
            <a:r>
              <a:rPr lang="en-US" dirty="0"/>
              <a:t>Distributed External Connection</a:t>
            </a:r>
          </a:p>
        </p:txBody>
      </p:sp>
      <p:sp>
        <p:nvSpPr>
          <p:cNvPr id="5" name="Subtitle 4">
            <a:extLst>
              <a:ext uri="{FF2B5EF4-FFF2-40B4-BE49-F238E27FC236}">
                <a16:creationId xmlns:a16="http://schemas.microsoft.com/office/drawing/2014/main" id="{F71DD9AC-80B1-A0D0-5610-1748F8320A2C}"/>
              </a:ext>
            </a:extLst>
          </p:cNvPr>
          <p:cNvSpPr>
            <a:spLocks noGrp="1"/>
          </p:cNvSpPr>
          <p:nvPr>
            <p:ph type="subTitle" idx="10"/>
          </p:nvPr>
        </p:nvSpPr>
        <p:spPr/>
        <p:txBody>
          <a:bodyPr/>
          <a:lstStyle/>
          <a:p>
            <a:r>
              <a:rPr lang="en-US" dirty="0"/>
              <a:t>Logical to physical component mapping</a:t>
            </a:r>
          </a:p>
        </p:txBody>
      </p:sp>
      <p:sp>
        <p:nvSpPr>
          <p:cNvPr id="23" name="Text Placeholder 22">
            <a:extLst>
              <a:ext uri="{FF2B5EF4-FFF2-40B4-BE49-F238E27FC236}">
                <a16:creationId xmlns:a16="http://schemas.microsoft.com/office/drawing/2014/main" id="{F60D4909-FA15-DA6E-157C-DFB1AD79E732}"/>
              </a:ext>
            </a:extLst>
          </p:cNvPr>
          <p:cNvSpPr>
            <a:spLocks noGrp="1"/>
          </p:cNvSpPr>
          <p:nvPr>
            <p:ph type="body" sz="quarter" idx="4294967295"/>
          </p:nvPr>
        </p:nvSpPr>
        <p:spPr>
          <a:xfrm>
            <a:off x="8380413" y="2057400"/>
            <a:ext cx="3808412" cy="4114800"/>
          </a:xfrm>
        </p:spPr>
        <p:txBody>
          <a:bodyPr rIns="503998"/>
          <a:lstStyle/>
          <a:p>
            <a:pPr marL="465750" indent="-285750">
              <a:spcAft>
                <a:spcPts val="600"/>
              </a:spcAft>
              <a:buFont typeface="Wingdings" pitchFamily="2" charset="2"/>
              <a:buChar char="§"/>
            </a:pPr>
            <a:r>
              <a:rPr lang="en-US" sz="1600" b="1" dirty="0">
                <a:solidFill>
                  <a:schemeClr val="accent2"/>
                </a:solidFill>
              </a:rPr>
              <a:t>Distributed</a:t>
            </a:r>
            <a:r>
              <a:rPr lang="en-US" sz="1600" dirty="0">
                <a:solidFill>
                  <a:schemeClr val="accent2"/>
                </a:solidFill>
              </a:rPr>
              <a:t> transit gateway instantiated on every ESX host</a:t>
            </a:r>
          </a:p>
          <a:p>
            <a:pPr marL="465750" indent="-285750">
              <a:spcAft>
                <a:spcPts val="600"/>
              </a:spcAft>
              <a:buFont typeface="Wingdings" pitchFamily="2" charset="2"/>
              <a:buChar char="§"/>
            </a:pPr>
            <a:r>
              <a:rPr lang="en-US" sz="1600" dirty="0">
                <a:solidFill>
                  <a:schemeClr val="accent2"/>
                </a:solidFill>
              </a:rPr>
              <a:t>Simpler deployment model, no NSX Edge required</a:t>
            </a:r>
          </a:p>
          <a:p>
            <a:pPr marL="465750" indent="-285750">
              <a:spcAft>
                <a:spcPts val="600"/>
              </a:spcAft>
              <a:buFont typeface="Wingdings" pitchFamily="2" charset="2"/>
              <a:buChar char="§"/>
            </a:pPr>
            <a:r>
              <a:rPr lang="en-US" sz="1600" dirty="0">
                <a:solidFill>
                  <a:schemeClr val="accent2"/>
                </a:solidFill>
              </a:rPr>
              <a:t>ESX hosts must connect to a common physical VLAN</a:t>
            </a:r>
          </a:p>
          <a:p>
            <a:pPr marL="465750" indent="-285750">
              <a:spcAft>
                <a:spcPts val="600"/>
              </a:spcAft>
              <a:buFont typeface="Wingdings" pitchFamily="2" charset="2"/>
              <a:buChar char="§"/>
            </a:pPr>
            <a:r>
              <a:rPr lang="en-US" sz="1600" dirty="0">
                <a:solidFill>
                  <a:schemeClr val="accent2"/>
                </a:solidFill>
              </a:rPr>
              <a:t>Direct VCF ingress and egress through ESX uplinks to the common VLAN</a:t>
            </a:r>
          </a:p>
          <a:p>
            <a:pPr marL="465750" indent="-285750">
              <a:spcAft>
                <a:spcPts val="600"/>
              </a:spcAft>
              <a:buFont typeface="Wingdings" pitchFamily="2" charset="2"/>
              <a:buChar char="§"/>
            </a:pPr>
            <a:r>
              <a:rPr lang="en-US" sz="1600" dirty="0">
                <a:solidFill>
                  <a:schemeClr val="accent2"/>
                </a:solidFill>
              </a:rPr>
              <a:t>VNAs are available for traffic requiring centralized services</a:t>
            </a:r>
          </a:p>
          <a:p>
            <a:pPr marL="465750" indent="-285750">
              <a:spcAft>
                <a:spcPts val="600"/>
              </a:spcAft>
              <a:buFont typeface="Wingdings" pitchFamily="2" charset="2"/>
              <a:buChar char="§"/>
            </a:pPr>
            <a:r>
              <a:rPr lang="en-US" sz="1600" dirty="0">
                <a:solidFill>
                  <a:schemeClr val="accent2"/>
                </a:solidFill>
              </a:rPr>
              <a:t>Traffic between VCF workloads doesn’t use the common VLAN</a:t>
            </a:r>
          </a:p>
        </p:txBody>
      </p:sp>
      <p:cxnSp>
        <p:nvCxnSpPr>
          <p:cNvPr id="120" name="Straight Connector 119">
            <a:extLst>
              <a:ext uri="{FF2B5EF4-FFF2-40B4-BE49-F238E27FC236}">
                <a16:creationId xmlns:a16="http://schemas.microsoft.com/office/drawing/2014/main" id="{5084088F-B0C2-C4CE-20AF-FA46498BFDDD}"/>
              </a:ext>
            </a:extLst>
          </p:cNvPr>
          <p:cNvCxnSpPr>
            <a:cxnSpLocks/>
          </p:cNvCxnSpPr>
          <p:nvPr/>
        </p:nvCxnSpPr>
        <p:spPr bwMode="gray">
          <a:xfrm>
            <a:off x="3571268" y="3701108"/>
            <a:ext cx="0" cy="6637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9CB1D0E-E0AA-45BD-1E0F-A49C1630BE3B}"/>
              </a:ext>
            </a:extLst>
          </p:cNvPr>
          <p:cNvSpPr txBox="1">
            <a:spLocks noChangeAspect="1"/>
          </p:cNvSpPr>
          <p:nvPr/>
        </p:nvSpPr>
        <p:spPr>
          <a:xfrm>
            <a:off x="1476480"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5739CE01-B842-5011-A63A-2B35F9DB6714}"/>
              </a:ext>
            </a:extLst>
          </p:cNvPr>
          <p:cNvSpPr txBox="1"/>
          <p:nvPr/>
        </p:nvSpPr>
        <p:spPr>
          <a:xfrm>
            <a:off x="913769" y="3275111"/>
            <a:ext cx="498916"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Transit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Gateway</a:t>
            </a:r>
          </a:p>
        </p:txBody>
      </p:sp>
      <p:cxnSp>
        <p:nvCxnSpPr>
          <p:cNvPr id="55" name="Straight Connector 54">
            <a:extLst>
              <a:ext uri="{FF2B5EF4-FFF2-40B4-BE49-F238E27FC236}">
                <a16:creationId xmlns:a16="http://schemas.microsoft.com/office/drawing/2014/main" id="{FF258D92-E7A5-F7AB-7636-5B866FEB08CA}"/>
              </a:ext>
            </a:extLst>
          </p:cNvPr>
          <p:cNvCxnSpPr>
            <a:cxnSpLocks/>
          </p:cNvCxnSpPr>
          <p:nvPr/>
        </p:nvCxnSpPr>
        <p:spPr bwMode="gray">
          <a:xfrm>
            <a:off x="1747099" y="3701108"/>
            <a:ext cx="0" cy="65913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562D4B3F-07E9-4E85-7EEF-279926FE34F7}"/>
              </a:ext>
            </a:extLst>
          </p:cNvPr>
          <p:cNvSpPr txBox="1">
            <a:spLocks noChangeAspect="1"/>
          </p:cNvSpPr>
          <p:nvPr/>
        </p:nvSpPr>
        <p:spPr>
          <a:xfrm>
            <a:off x="5132018"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82" name="Straight Connector 81">
            <a:extLst>
              <a:ext uri="{FF2B5EF4-FFF2-40B4-BE49-F238E27FC236}">
                <a16:creationId xmlns:a16="http://schemas.microsoft.com/office/drawing/2014/main" id="{71B98451-FED1-BE2E-8458-529423610126}"/>
              </a:ext>
            </a:extLst>
          </p:cNvPr>
          <p:cNvCxnSpPr>
            <a:cxnSpLocks/>
          </p:cNvCxnSpPr>
          <p:nvPr/>
        </p:nvCxnSpPr>
        <p:spPr bwMode="gray">
          <a:xfrm>
            <a:off x="5402637" y="3701108"/>
            <a:ext cx="0" cy="65913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36097EA5-B270-DD8D-CDBC-A30C04290033}"/>
              </a:ext>
            </a:extLst>
          </p:cNvPr>
          <p:cNvSpPr txBox="1">
            <a:spLocks noChangeAspect="1"/>
          </p:cNvSpPr>
          <p:nvPr/>
        </p:nvSpPr>
        <p:spPr>
          <a:xfrm>
            <a:off x="6964467"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10" name="Straight Connector 109">
            <a:extLst>
              <a:ext uri="{FF2B5EF4-FFF2-40B4-BE49-F238E27FC236}">
                <a16:creationId xmlns:a16="http://schemas.microsoft.com/office/drawing/2014/main" id="{1AA8BAC9-599D-BD4C-26A4-B62AFB654A9E}"/>
              </a:ext>
            </a:extLst>
          </p:cNvPr>
          <p:cNvCxnSpPr>
            <a:cxnSpLocks/>
          </p:cNvCxnSpPr>
          <p:nvPr/>
        </p:nvCxnSpPr>
        <p:spPr bwMode="gray">
          <a:xfrm>
            <a:off x="7235086" y="3701108"/>
            <a:ext cx="0" cy="65913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122B200F-3604-A306-7E78-DC158B4488E8}"/>
              </a:ext>
            </a:extLst>
          </p:cNvPr>
          <p:cNvSpPr txBox="1">
            <a:spLocks noChangeAspect="1"/>
          </p:cNvSpPr>
          <p:nvPr/>
        </p:nvSpPr>
        <p:spPr>
          <a:xfrm>
            <a:off x="3391521"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29" name="Straight Connector 128">
            <a:extLst>
              <a:ext uri="{FF2B5EF4-FFF2-40B4-BE49-F238E27FC236}">
                <a16:creationId xmlns:a16="http://schemas.microsoft.com/office/drawing/2014/main" id="{065377BF-8D1F-61B5-C28D-CD60C0251137}"/>
              </a:ext>
            </a:extLst>
          </p:cNvPr>
          <p:cNvCxnSpPr>
            <a:cxnSpLocks/>
          </p:cNvCxnSpPr>
          <p:nvPr/>
        </p:nvCxnSpPr>
        <p:spPr bwMode="gray">
          <a:xfrm>
            <a:off x="3055306"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0" name="Freeform 129">
            <a:extLst>
              <a:ext uri="{FF2B5EF4-FFF2-40B4-BE49-F238E27FC236}">
                <a16:creationId xmlns:a16="http://schemas.microsoft.com/office/drawing/2014/main" id="{C7AF4947-8FF3-88D8-DB30-7ED309929EE4}"/>
              </a:ext>
            </a:extLst>
          </p:cNvPr>
          <p:cNvSpPr>
            <a:spLocks noChangeAspect="1"/>
          </p:cNvSpPr>
          <p:nvPr/>
        </p:nvSpPr>
        <p:spPr>
          <a:xfrm>
            <a:off x="2847891"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31" name="Straight Connector 130">
            <a:extLst>
              <a:ext uri="{FF2B5EF4-FFF2-40B4-BE49-F238E27FC236}">
                <a16:creationId xmlns:a16="http://schemas.microsoft.com/office/drawing/2014/main" id="{B0DCC01B-3ECE-24C1-D29E-AFD7E1A852B7}"/>
              </a:ext>
            </a:extLst>
          </p:cNvPr>
          <p:cNvCxnSpPr>
            <a:cxnSpLocks/>
          </p:cNvCxnSpPr>
          <p:nvPr/>
        </p:nvCxnSpPr>
        <p:spPr bwMode="gray">
          <a:xfrm>
            <a:off x="3497414"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99903521-8EA6-AEE5-BA0A-3092A59DEEB1}"/>
              </a:ext>
            </a:extLst>
          </p:cNvPr>
          <p:cNvCxnSpPr>
            <a:cxnSpLocks/>
          </p:cNvCxnSpPr>
          <p:nvPr/>
        </p:nvCxnSpPr>
        <p:spPr bwMode="gray">
          <a:xfrm>
            <a:off x="3261129"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3" name="Freeform 132">
            <a:extLst>
              <a:ext uri="{FF2B5EF4-FFF2-40B4-BE49-F238E27FC236}">
                <a16:creationId xmlns:a16="http://schemas.microsoft.com/office/drawing/2014/main" id="{A8A2EEDA-BB04-7AC0-BBF1-629B4D4B8418}"/>
              </a:ext>
            </a:extLst>
          </p:cNvPr>
          <p:cNvSpPr>
            <a:spLocks noChangeAspect="1"/>
          </p:cNvSpPr>
          <p:nvPr/>
        </p:nvSpPr>
        <p:spPr>
          <a:xfrm>
            <a:off x="3036553"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34" name="Straight Connector 133">
            <a:extLst>
              <a:ext uri="{FF2B5EF4-FFF2-40B4-BE49-F238E27FC236}">
                <a16:creationId xmlns:a16="http://schemas.microsoft.com/office/drawing/2014/main" id="{B87F1261-CA78-F35D-D771-0346A3FC714A}"/>
              </a:ext>
            </a:extLst>
          </p:cNvPr>
          <p:cNvCxnSpPr>
            <a:cxnSpLocks/>
          </p:cNvCxnSpPr>
          <p:nvPr/>
        </p:nvCxnSpPr>
        <p:spPr bwMode="gray">
          <a:xfrm>
            <a:off x="3620630"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6B3A0DE3-F2DD-BB55-2C99-C95555BC0F1C}"/>
              </a:ext>
            </a:extLst>
          </p:cNvPr>
          <p:cNvCxnSpPr>
            <a:cxnSpLocks/>
          </p:cNvCxnSpPr>
          <p:nvPr/>
        </p:nvCxnSpPr>
        <p:spPr bwMode="gray">
          <a:xfrm>
            <a:off x="3177553"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DCF7C936-42F1-E1F0-9D44-3F02048EABBD}"/>
              </a:ext>
            </a:extLst>
          </p:cNvPr>
          <p:cNvGrpSpPr/>
          <p:nvPr/>
        </p:nvGrpSpPr>
        <p:grpSpPr>
          <a:xfrm>
            <a:off x="3234755" y="5140064"/>
            <a:ext cx="269469" cy="395289"/>
            <a:chOff x="3513038" y="5316536"/>
            <a:chExt cx="269469" cy="395289"/>
          </a:xfrm>
        </p:grpSpPr>
        <p:grpSp>
          <p:nvGrpSpPr>
            <p:cNvPr id="273" name="Google Shape;3733;p22">
              <a:extLst>
                <a:ext uri="{FF2B5EF4-FFF2-40B4-BE49-F238E27FC236}">
                  <a16:creationId xmlns:a16="http://schemas.microsoft.com/office/drawing/2014/main" id="{4621DABC-C4F6-7127-6D9F-4E06D07ACDBA}"/>
                </a:ext>
              </a:extLst>
            </p:cNvPr>
            <p:cNvGrpSpPr/>
            <p:nvPr/>
          </p:nvGrpSpPr>
          <p:grpSpPr>
            <a:xfrm>
              <a:off x="3513038" y="5316536"/>
              <a:ext cx="269469" cy="269658"/>
              <a:chOff x="658852" y="4943630"/>
              <a:chExt cx="583799" cy="584209"/>
            </a:xfrm>
          </p:grpSpPr>
          <p:sp>
            <p:nvSpPr>
              <p:cNvPr id="275" name="Google Shape;3734;p22">
                <a:extLst>
                  <a:ext uri="{FF2B5EF4-FFF2-40B4-BE49-F238E27FC236}">
                    <a16:creationId xmlns:a16="http://schemas.microsoft.com/office/drawing/2014/main" id="{665861FF-9F6E-0D1B-22A3-57B17E49CD13}"/>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76" name="Google Shape;3735;p22">
                <a:extLst>
                  <a:ext uri="{FF2B5EF4-FFF2-40B4-BE49-F238E27FC236}">
                    <a16:creationId xmlns:a16="http://schemas.microsoft.com/office/drawing/2014/main" id="{01FB368C-E97F-772F-B2E2-95F933983420}"/>
                  </a:ext>
                </a:extLst>
              </p:cNvPr>
              <p:cNvGrpSpPr/>
              <p:nvPr/>
            </p:nvGrpSpPr>
            <p:grpSpPr>
              <a:xfrm>
                <a:off x="834156" y="5211637"/>
                <a:ext cx="216359" cy="78004"/>
                <a:chOff x="834156" y="5211637"/>
                <a:chExt cx="216359" cy="78004"/>
              </a:xfrm>
            </p:grpSpPr>
            <p:sp>
              <p:nvSpPr>
                <p:cNvPr id="277" name="Google Shape;3736;p22">
                  <a:extLst>
                    <a:ext uri="{FF2B5EF4-FFF2-40B4-BE49-F238E27FC236}">
                      <a16:creationId xmlns:a16="http://schemas.microsoft.com/office/drawing/2014/main" id="{662E6BFF-BF67-DD04-55E2-90842DB01A58}"/>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78" name="Google Shape;3737;p22">
                  <a:extLst>
                    <a:ext uri="{FF2B5EF4-FFF2-40B4-BE49-F238E27FC236}">
                      <a16:creationId xmlns:a16="http://schemas.microsoft.com/office/drawing/2014/main" id="{B4909185-90BF-DF3A-C365-15A365B21900}"/>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74" name="Straight Connector 273">
              <a:extLst>
                <a:ext uri="{FF2B5EF4-FFF2-40B4-BE49-F238E27FC236}">
                  <a16:creationId xmlns:a16="http://schemas.microsoft.com/office/drawing/2014/main" id="{ED286AEF-B1B1-0EE6-177D-B8B8345803D7}"/>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02B15CFA-B3CF-7DDC-9B89-EDBEA5D5FEB6}"/>
              </a:ext>
            </a:extLst>
          </p:cNvPr>
          <p:cNvSpPr txBox="1">
            <a:spLocks noChangeAspect="1"/>
          </p:cNvSpPr>
          <p:nvPr/>
        </p:nvSpPr>
        <p:spPr>
          <a:xfrm>
            <a:off x="5222890"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39" name="Straight Connector 138">
            <a:extLst>
              <a:ext uri="{FF2B5EF4-FFF2-40B4-BE49-F238E27FC236}">
                <a16:creationId xmlns:a16="http://schemas.microsoft.com/office/drawing/2014/main" id="{499B49BF-F273-5339-5274-20A34E1FFEB8}"/>
              </a:ext>
            </a:extLst>
          </p:cNvPr>
          <p:cNvCxnSpPr>
            <a:cxnSpLocks/>
          </p:cNvCxnSpPr>
          <p:nvPr/>
        </p:nvCxnSpPr>
        <p:spPr bwMode="gray">
          <a:xfrm>
            <a:off x="48887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1" name="Freeform 140">
            <a:extLst>
              <a:ext uri="{FF2B5EF4-FFF2-40B4-BE49-F238E27FC236}">
                <a16:creationId xmlns:a16="http://schemas.microsoft.com/office/drawing/2014/main" id="{5F9C921E-6684-B052-856E-5421CABD4B81}"/>
              </a:ext>
            </a:extLst>
          </p:cNvPr>
          <p:cNvSpPr>
            <a:spLocks noChangeAspect="1"/>
          </p:cNvSpPr>
          <p:nvPr/>
        </p:nvSpPr>
        <p:spPr>
          <a:xfrm>
            <a:off x="46813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42" name="Straight Connector 141">
            <a:extLst>
              <a:ext uri="{FF2B5EF4-FFF2-40B4-BE49-F238E27FC236}">
                <a16:creationId xmlns:a16="http://schemas.microsoft.com/office/drawing/2014/main" id="{18747D43-4287-994B-58F5-AF1BAEA84C4E}"/>
              </a:ext>
            </a:extLst>
          </p:cNvPr>
          <p:cNvCxnSpPr>
            <a:cxnSpLocks/>
          </p:cNvCxnSpPr>
          <p:nvPr/>
        </p:nvCxnSpPr>
        <p:spPr bwMode="gray">
          <a:xfrm>
            <a:off x="53308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4424077-6499-F560-A102-E737DF0372E2}"/>
              </a:ext>
            </a:extLst>
          </p:cNvPr>
          <p:cNvCxnSpPr>
            <a:cxnSpLocks/>
          </p:cNvCxnSpPr>
          <p:nvPr/>
        </p:nvCxnSpPr>
        <p:spPr bwMode="gray">
          <a:xfrm>
            <a:off x="50945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4" name="Freeform 173">
            <a:extLst>
              <a:ext uri="{FF2B5EF4-FFF2-40B4-BE49-F238E27FC236}">
                <a16:creationId xmlns:a16="http://schemas.microsoft.com/office/drawing/2014/main" id="{240677CC-4CBC-99AB-B81C-5287A9DD8DF2}"/>
              </a:ext>
            </a:extLst>
          </p:cNvPr>
          <p:cNvSpPr>
            <a:spLocks noChangeAspect="1"/>
          </p:cNvSpPr>
          <p:nvPr/>
        </p:nvSpPr>
        <p:spPr>
          <a:xfrm>
            <a:off x="48699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75" name="Straight Connector 174">
            <a:extLst>
              <a:ext uri="{FF2B5EF4-FFF2-40B4-BE49-F238E27FC236}">
                <a16:creationId xmlns:a16="http://schemas.microsoft.com/office/drawing/2014/main" id="{71D0C421-815B-DB46-69ED-5F740FDF8FF9}"/>
              </a:ext>
            </a:extLst>
          </p:cNvPr>
          <p:cNvCxnSpPr>
            <a:cxnSpLocks/>
          </p:cNvCxnSpPr>
          <p:nvPr/>
        </p:nvCxnSpPr>
        <p:spPr bwMode="gray">
          <a:xfrm>
            <a:off x="54540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841A1E99-2F56-46A4-B8A8-BCC96E1D8151}"/>
              </a:ext>
            </a:extLst>
          </p:cNvPr>
          <p:cNvCxnSpPr>
            <a:cxnSpLocks/>
          </p:cNvCxnSpPr>
          <p:nvPr/>
        </p:nvCxnSpPr>
        <p:spPr bwMode="gray">
          <a:xfrm>
            <a:off x="50109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78" name="Group 177">
            <a:extLst>
              <a:ext uri="{FF2B5EF4-FFF2-40B4-BE49-F238E27FC236}">
                <a16:creationId xmlns:a16="http://schemas.microsoft.com/office/drawing/2014/main" id="{91271D48-16F2-4A82-E0AA-741D09EB9923}"/>
              </a:ext>
            </a:extLst>
          </p:cNvPr>
          <p:cNvGrpSpPr/>
          <p:nvPr/>
        </p:nvGrpSpPr>
        <p:grpSpPr>
          <a:xfrm>
            <a:off x="5068190" y="5140064"/>
            <a:ext cx="269469" cy="395289"/>
            <a:chOff x="3513038" y="5316536"/>
            <a:chExt cx="269469" cy="395289"/>
          </a:xfrm>
        </p:grpSpPr>
        <p:grpSp>
          <p:nvGrpSpPr>
            <p:cNvPr id="263" name="Google Shape;3733;p22">
              <a:extLst>
                <a:ext uri="{FF2B5EF4-FFF2-40B4-BE49-F238E27FC236}">
                  <a16:creationId xmlns:a16="http://schemas.microsoft.com/office/drawing/2014/main" id="{A11B3732-F354-9871-ADD1-FD8058B9C7F6}"/>
                </a:ext>
              </a:extLst>
            </p:cNvPr>
            <p:cNvGrpSpPr/>
            <p:nvPr/>
          </p:nvGrpSpPr>
          <p:grpSpPr>
            <a:xfrm>
              <a:off x="3513038" y="5316536"/>
              <a:ext cx="269469" cy="269658"/>
              <a:chOff x="658852" y="4943630"/>
              <a:chExt cx="583799" cy="584209"/>
            </a:xfrm>
          </p:grpSpPr>
          <p:sp>
            <p:nvSpPr>
              <p:cNvPr id="265" name="Google Shape;3734;p22">
                <a:extLst>
                  <a:ext uri="{FF2B5EF4-FFF2-40B4-BE49-F238E27FC236}">
                    <a16:creationId xmlns:a16="http://schemas.microsoft.com/office/drawing/2014/main" id="{32FF3B74-B4FD-A9D6-DE47-7F9C5810816D}"/>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66" name="Google Shape;3735;p22">
                <a:extLst>
                  <a:ext uri="{FF2B5EF4-FFF2-40B4-BE49-F238E27FC236}">
                    <a16:creationId xmlns:a16="http://schemas.microsoft.com/office/drawing/2014/main" id="{1DBC875D-6ADB-CFAB-5714-F93BE3E94AEB}"/>
                  </a:ext>
                </a:extLst>
              </p:cNvPr>
              <p:cNvGrpSpPr/>
              <p:nvPr/>
            </p:nvGrpSpPr>
            <p:grpSpPr>
              <a:xfrm>
                <a:off x="834156" y="5211637"/>
                <a:ext cx="216359" cy="78004"/>
                <a:chOff x="834156" y="5211637"/>
                <a:chExt cx="216359" cy="78004"/>
              </a:xfrm>
            </p:grpSpPr>
            <p:sp>
              <p:nvSpPr>
                <p:cNvPr id="267" name="Google Shape;3736;p22">
                  <a:extLst>
                    <a:ext uri="{FF2B5EF4-FFF2-40B4-BE49-F238E27FC236}">
                      <a16:creationId xmlns:a16="http://schemas.microsoft.com/office/drawing/2014/main" id="{5244D256-292F-3955-2B06-203860E68181}"/>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68" name="Google Shape;3737;p22">
                  <a:extLst>
                    <a:ext uri="{FF2B5EF4-FFF2-40B4-BE49-F238E27FC236}">
                      <a16:creationId xmlns:a16="http://schemas.microsoft.com/office/drawing/2014/main" id="{0745243D-B055-C6BC-A7A1-36D8B25E2764}"/>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64" name="Straight Connector 263">
              <a:extLst>
                <a:ext uri="{FF2B5EF4-FFF2-40B4-BE49-F238E27FC236}">
                  <a16:creationId xmlns:a16="http://schemas.microsoft.com/office/drawing/2014/main" id="{14B44FB9-4098-3920-676E-958D1DA2F838}"/>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179" name="TextBox 178">
            <a:extLst>
              <a:ext uri="{FF2B5EF4-FFF2-40B4-BE49-F238E27FC236}">
                <a16:creationId xmlns:a16="http://schemas.microsoft.com/office/drawing/2014/main" id="{CEBA84EC-9957-2A83-C771-F10D97C349F7}"/>
              </a:ext>
            </a:extLst>
          </p:cNvPr>
          <p:cNvSpPr txBox="1">
            <a:spLocks noChangeAspect="1"/>
          </p:cNvSpPr>
          <p:nvPr/>
        </p:nvSpPr>
        <p:spPr>
          <a:xfrm>
            <a:off x="7055339"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80" name="Straight Connector 179">
            <a:extLst>
              <a:ext uri="{FF2B5EF4-FFF2-40B4-BE49-F238E27FC236}">
                <a16:creationId xmlns:a16="http://schemas.microsoft.com/office/drawing/2014/main" id="{56DF87B8-14CA-39BE-3AE0-CBDA02346373}"/>
              </a:ext>
            </a:extLst>
          </p:cNvPr>
          <p:cNvCxnSpPr>
            <a:cxnSpLocks/>
          </p:cNvCxnSpPr>
          <p:nvPr/>
        </p:nvCxnSpPr>
        <p:spPr bwMode="gray">
          <a:xfrm>
            <a:off x="67175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3" name="Freeform 202">
            <a:extLst>
              <a:ext uri="{FF2B5EF4-FFF2-40B4-BE49-F238E27FC236}">
                <a16:creationId xmlns:a16="http://schemas.microsoft.com/office/drawing/2014/main" id="{25AF5BA2-081D-F5E5-9CA3-800D66465F25}"/>
              </a:ext>
            </a:extLst>
          </p:cNvPr>
          <p:cNvSpPr>
            <a:spLocks noChangeAspect="1"/>
          </p:cNvSpPr>
          <p:nvPr/>
        </p:nvSpPr>
        <p:spPr>
          <a:xfrm>
            <a:off x="65101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04" name="Straight Connector 203">
            <a:extLst>
              <a:ext uri="{FF2B5EF4-FFF2-40B4-BE49-F238E27FC236}">
                <a16:creationId xmlns:a16="http://schemas.microsoft.com/office/drawing/2014/main" id="{206238BE-2F6F-05EE-4D2F-1EBC50EC714B}"/>
              </a:ext>
            </a:extLst>
          </p:cNvPr>
          <p:cNvCxnSpPr>
            <a:cxnSpLocks/>
          </p:cNvCxnSpPr>
          <p:nvPr/>
        </p:nvCxnSpPr>
        <p:spPr bwMode="gray">
          <a:xfrm>
            <a:off x="71596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0992A376-DCC7-5A41-8B98-B637B80C917B}"/>
              </a:ext>
            </a:extLst>
          </p:cNvPr>
          <p:cNvCxnSpPr>
            <a:cxnSpLocks/>
          </p:cNvCxnSpPr>
          <p:nvPr/>
        </p:nvCxnSpPr>
        <p:spPr bwMode="gray">
          <a:xfrm>
            <a:off x="69233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6" name="Freeform 205">
            <a:extLst>
              <a:ext uri="{FF2B5EF4-FFF2-40B4-BE49-F238E27FC236}">
                <a16:creationId xmlns:a16="http://schemas.microsoft.com/office/drawing/2014/main" id="{4CDD5709-ACDC-C484-CD11-F3DD728271FC}"/>
              </a:ext>
            </a:extLst>
          </p:cNvPr>
          <p:cNvSpPr>
            <a:spLocks noChangeAspect="1"/>
          </p:cNvSpPr>
          <p:nvPr/>
        </p:nvSpPr>
        <p:spPr>
          <a:xfrm>
            <a:off x="66987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07" name="Straight Connector 206">
            <a:extLst>
              <a:ext uri="{FF2B5EF4-FFF2-40B4-BE49-F238E27FC236}">
                <a16:creationId xmlns:a16="http://schemas.microsoft.com/office/drawing/2014/main" id="{B7E65671-678F-AFDF-CD80-BA984BD2535A}"/>
              </a:ext>
            </a:extLst>
          </p:cNvPr>
          <p:cNvCxnSpPr>
            <a:cxnSpLocks/>
          </p:cNvCxnSpPr>
          <p:nvPr/>
        </p:nvCxnSpPr>
        <p:spPr bwMode="gray">
          <a:xfrm>
            <a:off x="72828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F6C2E56A-7960-5962-EA95-848E202DF292}"/>
              </a:ext>
            </a:extLst>
          </p:cNvPr>
          <p:cNvCxnSpPr>
            <a:cxnSpLocks/>
          </p:cNvCxnSpPr>
          <p:nvPr/>
        </p:nvCxnSpPr>
        <p:spPr bwMode="gray">
          <a:xfrm>
            <a:off x="68397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210" name="Group 209">
            <a:extLst>
              <a:ext uri="{FF2B5EF4-FFF2-40B4-BE49-F238E27FC236}">
                <a16:creationId xmlns:a16="http://schemas.microsoft.com/office/drawing/2014/main" id="{4D5EDAF2-625D-8728-332C-F9A2A6EF6A4B}"/>
              </a:ext>
            </a:extLst>
          </p:cNvPr>
          <p:cNvGrpSpPr/>
          <p:nvPr/>
        </p:nvGrpSpPr>
        <p:grpSpPr>
          <a:xfrm>
            <a:off x="6896990" y="5140064"/>
            <a:ext cx="269469" cy="395289"/>
            <a:chOff x="3513038" y="5316536"/>
            <a:chExt cx="269469" cy="395289"/>
          </a:xfrm>
        </p:grpSpPr>
        <p:grpSp>
          <p:nvGrpSpPr>
            <p:cNvPr id="253" name="Google Shape;3733;p22">
              <a:extLst>
                <a:ext uri="{FF2B5EF4-FFF2-40B4-BE49-F238E27FC236}">
                  <a16:creationId xmlns:a16="http://schemas.microsoft.com/office/drawing/2014/main" id="{88BE1D12-FE34-A1A1-1C67-75D1BF199C29}"/>
                </a:ext>
              </a:extLst>
            </p:cNvPr>
            <p:cNvGrpSpPr/>
            <p:nvPr/>
          </p:nvGrpSpPr>
          <p:grpSpPr>
            <a:xfrm>
              <a:off x="3513038" y="5316536"/>
              <a:ext cx="269469" cy="269658"/>
              <a:chOff x="658852" y="4943630"/>
              <a:chExt cx="583799" cy="584209"/>
            </a:xfrm>
          </p:grpSpPr>
          <p:sp>
            <p:nvSpPr>
              <p:cNvPr id="255" name="Google Shape;3734;p22">
                <a:extLst>
                  <a:ext uri="{FF2B5EF4-FFF2-40B4-BE49-F238E27FC236}">
                    <a16:creationId xmlns:a16="http://schemas.microsoft.com/office/drawing/2014/main" id="{598D7C87-9E06-AAAE-2789-9ABB34FBEBE3}"/>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56" name="Google Shape;3735;p22">
                <a:extLst>
                  <a:ext uri="{FF2B5EF4-FFF2-40B4-BE49-F238E27FC236}">
                    <a16:creationId xmlns:a16="http://schemas.microsoft.com/office/drawing/2014/main" id="{C6B6AEF2-6744-CF53-58B3-B6C9D37697FC}"/>
                  </a:ext>
                </a:extLst>
              </p:cNvPr>
              <p:cNvGrpSpPr/>
              <p:nvPr/>
            </p:nvGrpSpPr>
            <p:grpSpPr>
              <a:xfrm>
                <a:off x="834156" y="5211637"/>
                <a:ext cx="216359" cy="78004"/>
                <a:chOff x="834156" y="5211637"/>
                <a:chExt cx="216359" cy="78004"/>
              </a:xfrm>
            </p:grpSpPr>
            <p:sp>
              <p:nvSpPr>
                <p:cNvPr id="257" name="Google Shape;3736;p22">
                  <a:extLst>
                    <a:ext uri="{FF2B5EF4-FFF2-40B4-BE49-F238E27FC236}">
                      <a16:creationId xmlns:a16="http://schemas.microsoft.com/office/drawing/2014/main" id="{C738A066-9AE4-BE20-E84B-C773317B5C90}"/>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58" name="Google Shape;3737;p22">
                  <a:extLst>
                    <a:ext uri="{FF2B5EF4-FFF2-40B4-BE49-F238E27FC236}">
                      <a16:creationId xmlns:a16="http://schemas.microsoft.com/office/drawing/2014/main" id="{63080A7B-7CC3-C5EE-73E3-305EC338939D}"/>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54" name="Straight Connector 253">
              <a:extLst>
                <a:ext uri="{FF2B5EF4-FFF2-40B4-BE49-F238E27FC236}">
                  <a16:creationId xmlns:a16="http://schemas.microsoft.com/office/drawing/2014/main" id="{555C8F40-976C-A691-3010-36E06F2C17F0}"/>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233" name="TextBox 232">
            <a:extLst>
              <a:ext uri="{FF2B5EF4-FFF2-40B4-BE49-F238E27FC236}">
                <a16:creationId xmlns:a16="http://schemas.microsoft.com/office/drawing/2014/main" id="{5A6E4718-133A-B641-F167-618F6AD49869}"/>
              </a:ext>
            </a:extLst>
          </p:cNvPr>
          <p:cNvSpPr txBox="1">
            <a:spLocks noChangeAspect="1"/>
          </p:cNvSpPr>
          <p:nvPr/>
        </p:nvSpPr>
        <p:spPr>
          <a:xfrm>
            <a:off x="1567352"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234" name="Straight Connector 233">
            <a:extLst>
              <a:ext uri="{FF2B5EF4-FFF2-40B4-BE49-F238E27FC236}">
                <a16:creationId xmlns:a16="http://schemas.microsoft.com/office/drawing/2014/main" id="{9D6689C7-CB31-7DBF-8A11-B2A7EDAB65A7}"/>
              </a:ext>
            </a:extLst>
          </p:cNvPr>
          <p:cNvCxnSpPr>
            <a:cxnSpLocks/>
          </p:cNvCxnSpPr>
          <p:nvPr/>
        </p:nvCxnSpPr>
        <p:spPr bwMode="gray">
          <a:xfrm>
            <a:off x="12311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5" name="Freeform 234">
            <a:extLst>
              <a:ext uri="{FF2B5EF4-FFF2-40B4-BE49-F238E27FC236}">
                <a16:creationId xmlns:a16="http://schemas.microsoft.com/office/drawing/2014/main" id="{DA47B670-6AF9-E64C-26FB-DB9F74D7F169}"/>
              </a:ext>
            </a:extLst>
          </p:cNvPr>
          <p:cNvSpPr>
            <a:spLocks noChangeAspect="1"/>
          </p:cNvSpPr>
          <p:nvPr/>
        </p:nvSpPr>
        <p:spPr>
          <a:xfrm>
            <a:off x="10237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36" name="Straight Connector 235">
            <a:extLst>
              <a:ext uri="{FF2B5EF4-FFF2-40B4-BE49-F238E27FC236}">
                <a16:creationId xmlns:a16="http://schemas.microsoft.com/office/drawing/2014/main" id="{4859016B-5701-DE87-0606-C5B4C7A8F028}"/>
              </a:ext>
            </a:extLst>
          </p:cNvPr>
          <p:cNvCxnSpPr>
            <a:cxnSpLocks/>
          </p:cNvCxnSpPr>
          <p:nvPr/>
        </p:nvCxnSpPr>
        <p:spPr bwMode="gray">
          <a:xfrm>
            <a:off x="16732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D203E571-ACB4-0801-5BC0-F1AE260A009B}"/>
              </a:ext>
            </a:extLst>
          </p:cNvPr>
          <p:cNvCxnSpPr>
            <a:cxnSpLocks/>
          </p:cNvCxnSpPr>
          <p:nvPr/>
        </p:nvCxnSpPr>
        <p:spPr bwMode="gray">
          <a:xfrm>
            <a:off x="14369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8" name="Freeform 237">
            <a:extLst>
              <a:ext uri="{FF2B5EF4-FFF2-40B4-BE49-F238E27FC236}">
                <a16:creationId xmlns:a16="http://schemas.microsoft.com/office/drawing/2014/main" id="{D9218042-F56A-0223-21A9-465DE580FCD6}"/>
              </a:ext>
            </a:extLst>
          </p:cNvPr>
          <p:cNvSpPr>
            <a:spLocks noChangeAspect="1"/>
          </p:cNvSpPr>
          <p:nvPr/>
        </p:nvSpPr>
        <p:spPr>
          <a:xfrm>
            <a:off x="12123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39" name="Straight Connector 238">
            <a:extLst>
              <a:ext uri="{FF2B5EF4-FFF2-40B4-BE49-F238E27FC236}">
                <a16:creationId xmlns:a16="http://schemas.microsoft.com/office/drawing/2014/main" id="{E82B6277-92A2-A642-01E7-7222AD7184AA}"/>
              </a:ext>
            </a:extLst>
          </p:cNvPr>
          <p:cNvCxnSpPr>
            <a:cxnSpLocks/>
          </p:cNvCxnSpPr>
          <p:nvPr/>
        </p:nvCxnSpPr>
        <p:spPr bwMode="gray">
          <a:xfrm>
            <a:off x="17964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92C9CD8E-3BF8-AF2E-8C2F-ECF48CA4F0AB}"/>
              </a:ext>
            </a:extLst>
          </p:cNvPr>
          <p:cNvCxnSpPr>
            <a:cxnSpLocks/>
          </p:cNvCxnSpPr>
          <p:nvPr/>
        </p:nvCxnSpPr>
        <p:spPr bwMode="gray">
          <a:xfrm>
            <a:off x="13533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242" name="Group 241">
            <a:extLst>
              <a:ext uri="{FF2B5EF4-FFF2-40B4-BE49-F238E27FC236}">
                <a16:creationId xmlns:a16="http://schemas.microsoft.com/office/drawing/2014/main" id="{34752B04-BE3D-5002-0F37-27DE00BBE64D}"/>
              </a:ext>
            </a:extLst>
          </p:cNvPr>
          <p:cNvGrpSpPr/>
          <p:nvPr/>
        </p:nvGrpSpPr>
        <p:grpSpPr>
          <a:xfrm>
            <a:off x="1410590" y="5140064"/>
            <a:ext cx="269469" cy="395289"/>
            <a:chOff x="3513038" y="5316536"/>
            <a:chExt cx="269469" cy="395289"/>
          </a:xfrm>
        </p:grpSpPr>
        <p:grpSp>
          <p:nvGrpSpPr>
            <p:cNvPr id="243" name="Google Shape;3733;p22">
              <a:extLst>
                <a:ext uri="{FF2B5EF4-FFF2-40B4-BE49-F238E27FC236}">
                  <a16:creationId xmlns:a16="http://schemas.microsoft.com/office/drawing/2014/main" id="{4D94D4EB-DC16-9782-57A3-94040A99F4A4}"/>
                </a:ext>
              </a:extLst>
            </p:cNvPr>
            <p:cNvGrpSpPr/>
            <p:nvPr/>
          </p:nvGrpSpPr>
          <p:grpSpPr>
            <a:xfrm>
              <a:off x="3513038" y="5316536"/>
              <a:ext cx="269469" cy="269658"/>
              <a:chOff x="658852" y="4943630"/>
              <a:chExt cx="583799" cy="584209"/>
            </a:xfrm>
          </p:grpSpPr>
          <p:sp>
            <p:nvSpPr>
              <p:cNvPr id="245" name="Google Shape;3734;p22">
                <a:extLst>
                  <a:ext uri="{FF2B5EF4-FFF2-40B4-BE49-F238E27FC236}">
                    <a16:creationId xmlns:a16="http://schemas.microsoft.com/office/drawing/2014/main" id="{FB8A2870-9EA0-F12B-009F-9DACFC7F6194}"/>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46" name="Google Shape;3735;p22">
                <a:extLst>
                  <a:ext uri="{FF2B5EF4-FFF2-40B4-BE49-F238E27FC236}">
                    <a16:creationId xmlns:a16="http://schemas.microsoft.com/office/drawing/2014/main" id="{A5158FBE-20AA-670E-02BC-9D9EB8F4DAEB}"/>
                  </a:ext>
                </a:extLst>
              </p:cNvPr>
              <p:cNvGrpSpPr/>
              <p:nvPr/>
            </p:nvGrpSpPr>
            <p:grpSpPr>
              <a:xfrm>
                <a:off x="834156" y="5211637"/>
                <a:ext cx="216359" cy="78004"/>
                <a:chOff x="834156" y="5211637"/>
                <a:chExt cx="216359" cy="78004"/>
              </a:xfrm>
            </p:grpSpPr>
            <p:sp>
              <p:nvSpPr>
                <p:cNvPr id="247" name="Google Shape;3736;p22">
                  <a:extLst>
                    <a:ext uri="{FF2B5EF4-FFF2-40B4-BE49-F238E27FC236}">
                      <a16:creationId xmlns:a16="http://schemas.microsoft.com/office/drawing/2014/main" id="{F61BE9E6-1D3B-24B7-F0F3-67A8AE6BB16C}"/>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48" name="Google Shape;3737;p22">
                  <a:extLst>
                    <a:ext uri="{FF2B5EF4-FFF2-40B4-BE49-F238E27FC236}">
                      <a16:creationId xmlns:a16="http://schemas.microsoft.com/office/drawing/2014/main" id="{6508EE08-79EA-97F5-1E6A-3D3603C9FE64}"/>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44" name="Straight Connector 243">
              <a:extLst>
                <a:ext uri="{FF2B5EF4-FFF2-40B4-BE49-F238E27FC236}">
                  <a16:creationId xmlns:a16="http://schemas.microsoft.com/office/drawing/2014/main" id="{0889D681-F448-A503-7C04-03AA09F9B7BB}"/>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283" name="!!TGW">
            <a:extLst>
              <a:ext uri="{FF2B5EF4-FFF2-40B4-BE49-F238E27FC236}">
                <a16:creationId xmlns:a16="http://schemas.microsoft.com/office/drawing/2014/main" id="{4BB37B7C-B2E1-CBF5-BFD3-AA3B22AE4A2C}"/>
              </a:ext>
            </a:extLst>
          </p:cNvPr>
          <p:cNvSpPr txBox="1">
            <a:spLocks noChangeAspect="1"/>
          </p:cNvSpPr>
          <p:nvPr/>
        </p:nvSpPr>
        <p:spPr>
          <a:xfrm>
            <a:off x="3300649"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72" name="Straight Connector 71">
            <a:extLst>
              <a:ext uri="{FF2B5EF4-FFF2-40B4-BE49-F238E27FC236}">
                <a16:creationId xmlns:a16="http://schemas.microsoft.com/office/drawing/2014/main" id="{7416BBEB-239F-6A5D-89EF-72BA731FDB28}"/>
              </a:ext>
            </a:extLst>
          </p:cNvPr>
          <p:cNvCxnSpPr>
            <a:cxnSpLocks/>
          </p:cNvCxnSpPr>
          <p:nvPr/>
        </p:nvCxnSpPr>
        <p:spPr bwMode="gray">
          <a:xfrm flipV="1">
            <a:off x="3571268" y="2057400"/>
            <a:ext cx="0" cy="770860"/>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D234F62-3A3D-F795-F3BC-E245DDC0F500}"/>
              </a:ext>
            </a:extLst>
          </p:cNvPr>
          <p:cNvCxnSpPr>
            <a:cxnSpLocks/>
          </p:cNvCxnSpPr>
          <p:nvPr/>
        </p:nvCxnSpPr>
        <p:spPr bwMode="gray">
          <a:xfrm flipV="1">
            <a:off x="1747099" y="2057400"/>
            <a:ext cx="0" cy="914400"/>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EFB941B-1C2B-3777-4FC1-95F95B49FCF9}"/>
              </a:ext>
            </a:extLst>
          </p:cNvPr>
          <p:cNvCxnSpPr>
            <a:cxnSpLocks/>
          </p:cNvCxnSpPr>
          <p:nvPr/>
        </p:nvCxnSpPr>
        <p:spPr bwMode="gray">
          <a:xfrm flipV="1">
            <a:off x="5402637" y="2057400"/>
            <a:ext cx="0" cy="914400"/>
          </a:xfrm>
          <a:prstGeom prst="line">
            <a:avLst/>
          </a:prstGeom>
          <a:ln w="25400" cap="rnd">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F33D110D-88FA-0B17-82E0-CA4B36DD711D}"/>
              </a:ext>
            </a:extLst>
          </p:cNvPr>
          <p:cNvCxnSpPr/>
          <p:nvPr/>
        </p:nvCxnSpPr>
        <p:spPr bwMode="gray">
          <a:xfrm>
            <a:off x="1278342" y="2057400"/>
            <a:ext cx="6227685" cy="0"/>
          </a:xfrm>
          <a:prstGeom prst="line">
            <a:avLst/>
          </a:prstGeom>
          <a:ln w="25400">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E260FF6A-7207-7835-2AFF-61AEF448B52A}"/>
              </a:ext>
            </a:extLst>
          </p:cNvPr>
          <p:cNvCxnSpPr>
            <a:cxnSpLocks/>
          </p:cNvCxnSpPr>
          <p:nvPr/>
        </p:nvCxnSpPr>
        <p:spPr bwMode="gray">
          <a:xfrm flipV="1">
            <a:off x="7235086" y="2057400"/>
            <a:ext cx="0" cy="914400"/>
          </a:xfrm>
          <a:prstGeom prst="line">
            <a:avLst/>
          </a:prstGeom>
          <a:ln w="25400">
            <a:solidFill>
              <a:schemeClr val="tx1">
                <a:lumMod val="50000"/>
                <a:lumOff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FD2C4B8F-86CA-0280-846B-F4609D9B4AED}"/>
              </a:ext>
            </a:extLst>
          </p:cNvPr>
          <p:cNvCxnSpPr>
            <a:cxnSpLocks/>
          </p:cNvCxnSpPr>
          <p:nvPr/>
        </p:nvCxnSpPr>
        <p:spPr bwMode="gray">
          <a:xfrm>
            <a:off x="5402637" y="2838893"/>
            <a:ext cx="0" cy="32551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TGW-uplink2">
            <a:extLst>
              <a:ext uri="{FF2B5EF4-FFF2-40B4-BE49-F238E27FC236}">
                <a16:creationId xmlns:a16="http://schemas.microsoft.com/office/drawing/2014/main" id="{F195A621-431D-EDAF-EF00-31C490524C8D}"/>
              </a:ext>
            </a:extLst>
          </p:cNvPr>
          <p:cNvCxnSpPr>
            <a:cxnSpLocks/>
          </p:cNvCxnSpPr>
          <p:nvPr/>
        </p:nvCxnSpPr>
        <p:spPr bwMode="gray">
          <a:xfrm>
            <a:off x="1747099" y="2849526"/>
            <a:ext cx="0" cy="31487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8" name="!!TGW-uplink2">
            <a:extLst>
              <a:ext uri="{FF2B5EF4-FFF2-40B4-BE49-F238E27FC236}">
                <a16:creationId xmlns:a16="http://schemas.microsoft.com/office/drawing/2014/main" id="{A3B86D0A-2994-3CF6-DA17-0327966C9DAD}"/>
              </a:ext>
            </a:extLst>
          </p:cNvPr>
          <p:cNvCxnSpPr>
            <a:cxnSpLocks/>
          </p:cNvCxnSpPr>
          <p:nvPr/>
        </p:nvCxnSpPr>
        <p:spPr bwMode="gray">
          <a:xfrm>
            <a:off x="7235086" y="2838893"/>
            <a:ext cx="0" cy="32551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826A85D-FDAD-84C5-D76E-FE366D03501C}"/>
              </a:ext>
            </a:extLst>
          </p:cNvPr>
          <p:cNvSpPr txBox="1"/>
          <p:nvPr/>
        </p:nvSpPr>
        <p:spPr>
          <a:xfrm>
            <a:off x="5907628" y="1864558"/>
            <a:ext cx="1213843"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rPr>
              <a:t>Common VLAN</a:t>
            </a:r>
          </a:p>
        </p:txBody>
      </p:sp>
      <p:sp>
        <p:nvSpPr>
          <p:cNvPr id="7" name="!!bob123">
            <a:extLst>
              <a:ext uri="{FF2B5EF4-FFF2-40B4-BE49-F238E27FC236}">
                <a16:creationId xmlns:a16="http://schemas.microsoft.com/office/drawing/2014/main" id="{CBCB33FA-0F1D-B01C-8A48-53778189F131}"/>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flipV="1">
            <a:off x="8372825" y="1589923"/>
            <a:ext cx="3816000"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B9EE2570-E446-4565-3725-4FAD3CF39AD6}"/>
              </a:ext>
            </a:extLst>
          </p:cNvPr>
          <p:cNvSpPr txBox="1"/>
          <p:nvPr/>
        </p:nvSpPr>
        <p:spPr>
          <a:xfrm>
            <a:off x="8211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2" name="TextBox 11">
            <a:extLst>
              <a:ext uri="{FF2B5EF4-FFF2-40B4-BE49-F238E27FC236}">
                <a16:creationId xmlns:a16="http://schemas.microsoft.com/office/drawing/2014/main" id="{E6C2B734-7FF0-CE2C-7495-95424544FC17}"/>
              </a:ext>
            </a:extLst>
          </p:cNvPr>
          <p:cNvSpPr txBox="1"/>
          <p:nvPr/>
        </p:nvSpPr>
        <p:spPr>
          <a:xfrm>
            <a:off x="26499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4" name="TextBox 13">
            <a:extLst>
              <a:ext uri="{FF2B5EF4-FFF2-40B4-BE49-F238E27FC236}">
                <a16:creationId xmlns:a16="http://schemas.microsoft.com/office/drawing/2014/main" id="{F01233A0-3DE0-BC4B-C1A4-1F8961AC0DB1}"/>
              </a:ext>
            </a:extLst>
          </p:cNvPr>
          <p:cNvSpPr txBox="1"/>
          <p:nvPr/>
        </p:nvSpPr>
        <p:spPr>
          <a:xfrm>
            <a:off x="4478745" y="5573776"/>
            <a:ext cx="38175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6" name="TextBox 15">
            <a:extLst>
              <a:ext uri="{FF2B5EF4-FFF2-40B4-BE49-F238E27FC236}">
                <a16:creationId xmlns:a16="http://schemas.microsoft.com/office/drawing/2014/main" id="{BA06A3DA-0B3A-D1EF-5B4E-54B34D7A5610}"/>
              </a:ext>
            </a:extLst>
          </p:cNvPr>
          <p:cNvSpPr txBox="1"/>
          <p:nvPr/>
        </p:nvSpPr>
        <p:spPr>
          <a:xfrm>
            <a:off x="6307545" y="5573776"/>
            <a:ext cx="37197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grpSp>
        <p:nvGrpSpPr>
          <p:cNvPr id="17" name="Group 16">
            <a:extLst>
              <a:ext uri="{FF2B5EF4-FFF2-40B4-BE49-F238E27FC236}">
                <a16:creationId xmlns:a16="http://schemas.microsoft.com/office/drawing/2014/main" id="{C4DA79D3-76E2-F41B-BC1A-823DD3724E0A}"/>
              </a:ext>
            </a:extLst>
          </p:cNvPr>
          <p:cNvGrpSpPr/>
          <p:nvPr/>
        </p:nvGrpSpPr>
        <p:grpSpPr>
          <a:xfrm>
            <a:off x="2787207" y="5855142"/>
            <a:ext cx="3056154" cy="265509"/>
            <a:chOff x="2620950" y="5869812"/>
            <a:chExt cx="3056154" cy="265509"/>
          </a:xfrm>
        </p:grpSpPr>
        <p:sp>
          <p:nvSpPr>
            <p:cNvPr id="18" name="Rectangle 17">
              <a:extLst>
                <a:ext uri="{FF2B5EF4-FFF2-40B4-BE49-F238E27FC236}">
                  <a16:creationId xmlns:a16="http://schemas.microsoft.com/office/drawing/2014/main" id="{9352C2A5-D65D-E85D-6934-B0698D215B7A}"/>
                </a:ext>
              </a:extLst>
            </p:cNvPr>
            <p:cNvSpPr/>
            <p:nvPr/>
          </p:nvSpPr>
          <p:spPr>
            <a:xfrm>
              <a:off x="2742826" y="5915992"/>
              <a:ext cx="2934278" cy="16619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pic>
          <p:nvPicPr>
            <p:cNvPr id="19" name="Picture 18">
              <a:extLst>
                <a:ext uri="{FF2B5EF4-FFF2-40B4-BE49-F238E27FC236}">
                  <a16:creationId xmlns:a16="http://schemas.microsoft.com/office/drawing/2014/main" id="{7B4261EA-30C8-C801-D8BA-6FD6AB528614}"/>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2620950" y="5869812"/>
              <a:ext cx="313492" cy="265509"/>
            </a:xfrm>
            <a:prstGeom prst="rect">
              <a:avLst/>
            </a:prstGeom>
          </p:spPr>
        </p:pic>
      </p:grpSp>
      <p:grpSp>
        <p:nvGrpSpPr>
          <p:cNvPr id="54" name="VNAs + downlinks">
            <a:extLst>
              <a:ext uri="{FF2B5EF4-FFF2-40B4-BE49-F238E27FC236}">
                <a16:creationId xmlns:a16="http://schemas.microsoft.com/office/drawing/2014/main" id="{920EA793-AE9B-5B83-4879-C441EBEC4A6A}"/>
              </a:ext>
            </a:extLst>
          </p:cNvPr>
          <p:cNvGrpSpPr/>
          <p:nvPr/>
        </p:nvGrpSpPr>
        <p:grpSpPr>
          <a:xfrm>
            <a:off x="4553592" y="3895828"/>
            <a:ext cx="2547793" cy="534440"/>
            <a:chOff x="4533492" y="3712948"/>
            <a:chExt cx="2547793" cy="534440"/>
          </a:xfrm>
        </p:grpSpPr>
        <p:grpSp>
          <p:nvGrpSpPr>
            <p:cNvPr id="39" name="VNAs">
              <a:extLst>
                <a:ext uri="{FF2B5EF4-FFF2-40B4-BE49-F238E27FC236}">
                  <a16:creationId xmlns:a16="http://schemas.microsoft.com/office/drawing/2014/main" id="{0C95A863-FBEA-3A73-10AD-DC2088A979F8}"/>
                </a:ext>
              </a:extLst>
            </p:cNvPr>
            <p:cNvGrpSpPr/>
            <p:nvPr/>
          </p:nvGrpSpPr>
          <p:grpSpPr>
            <a:xfrm>
              <a:off x="4533492" y="3712948"/>
              <a:ext cx="2547793" cy="462110"/>
              <a:chOff x="4533492" y="3819268"/>
              <a:chExt cx="2547793" cy="462110"/>
            </a:xfrm>
          </p:grpSpPr>
          <p:grpSp>
            <p:nvGrpSpPr>
              <p:cNvPr id="34" name="Group 33">
                <a:extLst>
                  <a:ext uri="{FF2B5EF4-FFF2-40B4-BE49-F238E27FC236}">
                    <a16:creationId xmlns:a16="http://schemas.microsoft.com/office/drawing/2014/main" id="{D516FB1F-86AE-6603-4D4F-B4489A4DE969}"/>
                  </a:ext>
                </a:extLst>
              </p:cNvPr>
              <p:cNvGrpSpPr/>
              <p:nvPr/>
            </p:nvGrpSpPr>
            <p:grpSpPr>
              <a:xfrm>
                <a:off x="6362293" y="3819268"/>
                <a:ext cx="718992" cy="462110"/>
                <a:chOff x="6376469" y="3819268"/>
                <a:chExt cx="718992" cy="462110"/>
              </a:xfrm>
            </p:grpSpPr>
            <p:sp>
              <p:nvSpPr>
                <p:cNvPr id="26" name="ESX4">
                  <a:extLst>
                    <a:ext uri="{FF2B5EF4-FFF2-40B4-BE49-F238E27FC236}">
                      <a16:creationId xmlns:a16="http://schemas.microsoft.com/office/drawing/2014/main" id="{320637DF-C986-5B9B-B5BD-1D2C0B479C08}"/>
                    </a:ext>
                  </a:extLst>
                </p:cNvPr>
                <p:cNvSpPr/>
                <p:nvPr/>
              </p:nvSpPr>
              <p:spPr bwMode="gray">
                <a:xfrm>
                  <a:off x="6376469" y="3819268"/>
                  <a:ext cx="718992" cy="462110"/>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5720" rIns="91440" bIns="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rPr>
                    <a:t>VNA</a:t>
                  </a:r>
                </a:p>
              </p:txBody>
            </p:sp>
            <p:sp>
              <p:nvSpPr>
                <p:cNvPr id="32" name="TextBox 31">
                  <a:extLst>
                    <a:ext uri="{FF2B5EF4-FFF2-40B4-BE49-F238E27FC236}">
                      <a16:creationId xmlns:a16="http://schemas.microsoft.com/office/drawing/2014/main" id="{459F46B1-87E0-95A0-C4DD-81761EFAFDF2}"/>
                    </a:ext>
                  </a:extLst>
                </p:cNvPr>
                <p:cNvSpPr txBox="1">
                  <a:spLocks noChangeAspect="1"/>
                </p:cNvSpPr>
                <p:nvPr/>
              </p:nvSpPr>
              <p:spPr>
                <a:xfrm>
                  <a:off x="6649318" y="3874766"/>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grpSp>
          <p:grpSp>
            <p:nvGrpSpPr>
              <p:cNvPr id="35" name="Group 34">
                <a:extLst>
                  <a:ext uri="{FF2B5EF4-FFF2-40B4-BE49-F238E27FC236}">
                    <a16:creationId xmlns:a16="http://schemas.microsoft.com/office/drawing/2014/main" id="{286CC303-2122-503F-7D3C-56AB6EB5D730}"/>
                  </a:ext>
                </a:extLst>
              </p:cNvPr>
              <p:cNvGrpSpPr/>
              <p:nvPr/>
            </p:nvGrpSpPr>
            <p:grpSpPr>
              <a:xfrm>
                <a:off x="4533492" y="3819268"/>
                <a:ext cx="718992" cy="462110"/>
                <a:chOff x="6376469" y="3819268"/>
                <a:chExt cx="718992" cy="462110"/>
              </a:xfrm>
            </p:grpSpPr>
            <p:sp>
              <p:nvSpPr>
                <p:cNvPr id="36" name="ESX4">
                  <a:extLst>
                    <a:ext uri="{FF2B5EF4-FFF2-40B4-BE49-F238E27FC236}">
                      <a16:creationId xmlns:a16="http://schemas.microsoft.com/office/drawing/2014/main" id="{A157908C-01E0-E08A-6026-2D8E2EC1ADA0}"/>
                    </a:ext>
                  </a:extLst>
                </p:cNvPr>
                <p:cNvSpPr/>
                <p:nvPr/>
              </p:nvSpPr>
              <p:spPr bwMode="gray">
                <a:xfrm>
                  <a:off x="6376469" y="3819268"/>
                  <a:ext cx="718992" cy="462110"/>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36000" tIns="45720" rIns="91440" bIns="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rPr>
                    <a:t>VNA</a:t>
                  </a:r>
                </a:p>
              </p:txBody>
            </p:sp>
            <p:sp>
              <p:nvSpPr>
                <p:cNvPr id="38" name="TextBox 37">
                  <a:extLst>
                    <a:ext uri="{FF2B5EF4-FFF2-40B4-BE49-F238E27FC236}">
                      <a16:creationId xmlns:a16="http://schemas.microsoft.com/office/drawing/2014/main" id="{2E52B915-E8CC-C9D6-6BF3-50768D10A389}"/>
                    </a:ext>
                  </a:extLst>
                </p:cNvPr>
                <p:cNvSpPr txBox="1">
                  <a:spLocks noChangeAspect="1"/>
                </p:cNvSpPr>
                <p:nvPr/>
              </p:nvSpPr>
              <p:spPr>
                <a:xfrm>
                  <a:off x="6649318" y="3874766"/>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grpSp>
        </p:grpSp>
        <p:cxnSp>
          <p:nvCxnSpPr>
            <p:cNvPr id="48" name="Straight Connector 47">
              <a:extLst>
                <a:ext uri="{FF2B5EF4-FFF2-40B4-BE49-F238E27FC236}">
                  <a16:creationId xmlns:a16="http://schemas.microsoft.com/office/drawing/2014/main" id="{F60AB0BA-11F2-E765-4F0F-DC600838B999}"/>
                </a:ext>
              </a:extLst>
            </p:cNvPr>
            <p:cNvCxnSpPr>
              <a:cxnSpLocks/>
            </p:cNvCxnSpPr>
            <p:nvPr/>
          </p:nvCxnSpPr>
          <p:spPr bwMode="gray">
            <a:xfrm>
              <a:off x="5095968" y="4091940"/>
              <a:ext cx="155448" cy="155448"/>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80D380CF-1375-11DC-A762-759FF1C7FC4E}"/>
                </a:ext>
              </a:extLst>
            </p:cNvPr>
            <p:cNvCxnSpPr>
              <a:cxnSpLocks/>
            </p:cNvCxnSpPr>
            <p:nvPr/>
          </p:nvCxnSpPr>
          <p:spPr bwMode="gray">
            <a:xfrm>
              <a:off x="6920133" y="4091940"/>
              <a:ext cx="155448" cy="155448"/>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0" name="Rectangle 19">
            <a:extLst>
              <a:ext uri="{FF2B5EF4-FFF2-40B4-BE49-F238E27FC236}">
                <a16:creationId xmlns:a16="http://schemas.microsoft.com/office/drawing/2014/main" id="{7C1CE0A0-D125-2AC7-5265-680C9068EE39}"/>
              </a:ext>
            </a:extLst>
          </p:cNvPr>
          <p:cNvSpPr/>
          <p:nvPr/>
        </p:nvSpPr>
        <p:spPr bwMode="gray">
          <a:xfrm>
            <a:off x="3057131"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1" name="Rectangle 20">
            <a:extLst>
              <a:ext uri="{FF2B5EF4-FFF2-40B4-BE49-F238E27FC236}">
                <a16:creationId xmlns:a16="http://schemas.microsoft.com/office/drawing/2014/main" id="{45AB7DB8-C2DE-25C8-A855-D8BBE132AD8F}"/>
              </a:ext>
            </a:extLst>
          </p:cNvPr>
          <p:cNvSpPr/>
          <p:nvPr/>
        </p:nvSpPr>
        <p:spPr bwMode="gray">
          <a:xfrm>
            <a:off x="4892485"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2" name="Rectangle 21">
            <a:extLst>
              <a:ext uri="{FF2B5EF4-FFF2-40B4-BE49-F238E27FC236}">
                <a16:creationId xmlns:a16="http://schemas.microsoft.com/office/drawing/2014/main" id="{7B7640A0-CC0D-CDB8-D127-2BE96AD898F6}"/>
              </a:ext>
            </a:extLst>
          </p:cNvPr>
          <p:cNvSpPr/>
          <p:nvPr/>
        </p:nvSpPr>
        <p:spPr bwMode="gray">
          <a:xfrm>
            <a:off x="6718008"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24" name="Google Shape;3733;p22">
            <a:extLst>
              <a:ext uri="{FF2B5EF4-FFF2-40B4-BE49-F238E27FC236}">
                <a16:creationId xmlns:a16="http://schemas.microsoft.com/office/drawing/2014/main" id="{276240B7-7F42-A08C-9B20-5AC3477EC7C3}"/>
              </a:ext>
            </a:extLst>
          </p:cNvPr>
          <p:cNvGrpSpPr/>
          <p:nvPr/>
        </p:nvGrpSpPr>
        <p:grpSpPr>
          <a:xfrm>
            <a:off x="3042821" y="4618492"/>
            <a:ext cx="269469" cy="269658"/>
            <a:chOff x="658852" y="4943630"/>
            <a:chExt cx="583799" cy="584209"/>
          </a:xfrm>
        </p:grpSpPr>
        <p:sp>
          <p:nvSpPr>
            <p:cNvPr id="25" name="Google Shape;3734;p22">
              <a:extLst>
                <a:ext uri="{FF2B5EF4-FFF2-40B4-BE49-F238E27FC236}">
                  <a16:creationId xmlns:a16="http://schemas.microsoft.com/office/drawing/2014/main" id="{522C41B5-EEC7-5FF6-62F0-1819AEB2F272}"/>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9" name="Google Shape;3735;p22">
              <a:extLst>
                <a:ext uri="{FF2B5EF4-FFF2-40B4-BE49-F238E27FC236}">
                  <a16:creationId xmlns:a16="http://schemas.microsoft.com/office/drawing/2014/main" id="{87997915-28F5-449E-18C4-7742DFF4774B}"/>
                </a:ext>
              </a:extLst>
            </p:cNvPr>
            <p:cNvGrpSpPr/>
            <p:nvPr/>
          </p:nvGrpSpPr>
          <p:grpSpPr>
            <a:xfrm>
              <a:off x="834156" y="5211637"/>
              <a:ext cx="216359" cy="78004"/>
              <a:chOff x="834156" y="5211637"/>
              <a:chExt cx="216359" cy="78004"/>
            </a:xfrm>
          </p:grpSpPr>
          <p:sp>
            <p:nvSpPr>
              <p:cNvPr id="30" name="Google Shape;3736;p22">
                <a:extLst>
                  <a:ext uri="{FF2B5EF4-FFF2-40B4-BE49-F238E27FC236}">
                    <a16:creationId xmlns:a16="http://schemas.microsoft.com/office/drawing/2014/main" id="{6FDC42B9-56DE-B44B-57D4-0BC4CC4B3F8E}"/>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31" name="Google Shape;3737;p22">
                <a:extLst>
                  <a:ext uri="{FF2B5EF4-FFF2-40B4-BE49-F238E27FC236}">
                    <a16:creationId xmlns:a16="http://schemas.microsoft.com/office/drawing/2014/main" id="{82F8D193-B7DC-FE89-D30B-A14467C7FEE4}"/>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33" name="Google Shape;3733;p22">
            <a:extLst>
              <a:ext uri="{FF2B5EF4-FFF2-40B4-BE49-F238E27FC236}">
                <a16:creationId xmlns:a16="http://schemas.microsoft.com/office/drawing/2014/main" id="{E07DA077-298B-30E7-0E98-0DF9754FCA6B}"/>
              </a:ext>
            </a:extLst>
          </p:cNvPr>
          <p:cNvGrpSpPr/>
          <p:nvPr/>
        </p:nvGrpSpPr>
        <p:grpSpPr>
          <a:xfrm>
            <a:off x="4876256" y="4618492"/>
            <a:ext cx="269469" cy="269658"/>
            <a:chOff x="658852" y="4943630"/>
            <a:chExt cx="583799" cy="584209"/>
          </a:xfrm>
        </p:grpSpPr>
        <p:sp>
          <p:nvSpPr>
            <p:cNvPr id="41" name="Google Shape;3734;p22">
              <a:extLst>
                <a:ext uri="{FF2B5EF4-FFF2-40B4-BE49-F238E27FC236}">
                  <a16:creationId xmlns:a16="http://schemas.microsoft.com/office/drawing/2014/main" id="{7CD8CE04-98AD-1152-C139-034850B898F2}"/>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2" name="Google Shape;3735;p22">
              <a:extLst>
                <a:ext uri="{FF2B5EF4-FFF2-40B4-BE49-F238E27FC236}">
                  <a16:creationId xmlns:a16="http://schemas.microsoft.com/office/drawing/2014/main" id="{5023990A-DF5E-CE85-FE40-1DEB602372D8}"/>
                </a:ext>
              </a:extLst>
            </p:cNvPr>
            <p:cNvGrpSpPr/>
            <p:nvPr/>
          </p:nvGrpSpPr>
          <p:grpSpPr>
            <a:xfrm>
              <a:off x="834156" y="5211637"/>
              <a:ext cx="216359" cy="78004"/>
              <a:chOff x="834156" y="5211637"/>
              <a:chExt cx="216359" cy="78004"/>
            </a:xfrm>
          </p:grpSpPr>
          <p:sp>
            <p:nvSpPr>
              <p:cNvPr id="43" name="Google Shape;3736;p22">
                <a:extLst>
                  <a:ext uri="{FF2B5EF4-FFF2-40B4-BE49-F238E27FC236}">
                    <a16:creationId xmlns:a16="http://schemas.microsoft.com/office/drawing/2014/main" id="{33A98D30-1038-DB80-A762-BF91B94C1DB1}"/>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49" name="Google Shape;3737;p22">
                <a:extLst>
                  <a:ext uri="{FF2B5EF4-FFF2-40B4-BE49-F238E27FC236}">
                    <a16:creationId xmlns:a16="http://schemas.microsoft.com/office/drawing/2014/main" id="{7C400493-6309-86C2-1173-D011CE6A06A0}"/>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50" name="Google Shape;3733;p22">
            <a:extLst>
              <a:ext uri="{FF2B5EF4-FFF2-40B4-BE49-F238E27FC236}">
                <a16:creationId xmlns:a16="http://schemas.microsoft.com/office/drawing/2014/main" id="{4196C733-DC33-2E1D-EB1C-6F3B54F99F52}"/>
              </a:ext>
            </a:extLst>
          </p:cNvPr>
          <p:cNvGrpSpPr/>
          <p:nvPr/>
        </p:nvGrpSpPr>
        <p:grpSpPr>
          <a:xfrm>
            <a:off x="6705056" y="4618492"/>
            <a:ext cx="269469" cy="269658"/>
            <a:chOff x="658852" y="4943630"/>
            <a:chExt cx="583799" cy="584209"/>
          </a:xfrm>
        </p:grpSpPr>
        <p:sp>
          <p:nvSpPr>
            <p:cNvPr id="51" name="Google Shape;3734;p22">
              <a:extLst>
                <a:ext uri="{FF2B5EF4-FFF2-40B4-BE49-F238E27FC236}">
                  <a16:creationId xmlns:a16="http://schemas.microsoft.com/office/drawing/2014/main" id="{7088882E-F24D-C3D9-B322-C3E15AE0A2D9}"/>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60" name="Google Shape;3735;p22">
              <a:extLst>
                <a:ext uri="{FF2B5EF4-FFF2-40B4-BE49-F238E27FC236}">
                  <a16:creationId xmlns:a16="http://schemas.microsoft.com/office/drawing/2014/main" id="{5FD804A3-637B-69FF-D2EF-FE85C3C9A65B}"/>
                </a:ext>
              </a:extLst>
            </p:cNvPr>
            <p:cNvGrpSpPr/>
            <p:nvPr/>
          </p:nvGrpSpPr>
          <p:grpSpPr>
            <a:xfrm>
              <a:off x="834156" y="5211637"/>
              <a:ext cx="216359" cy="78004"/>
              <a:chOff x="834156" y="5211637"/>
              <a:chExt cx="216359" cy="78004"/>
            </a:xfrm>
          </p:grpSpPr>
          <p:sp>
            <p:nvSpPr>
              <p:cNvPr id="61" name="Google Shape;3736;p22">
                <a:extLst>
                  <a:ext uri="{FF2B5EF4-FFF2-40B4-BE49-F238E27FC236}">
                    <a16:creationId xmlns:a16="http://schemas.microsoft.com/office/drawing/2014/main" id="{B6DC4033-BA4E-858B-4322-BC8705E3B0D1}"/>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62" name="Google Shape;3737;p22">
                <a:extLst>
                  <a:ext uri="{FF2B5EF4-FFF2-40B4-BE49-F238E27FC236}">
                    <a16:creationId xmlns:a16="http://schemas.microsoft.com/office/drawing/2014/main" id="{396B5C9A-E56A-BC5F-1E59-86B3AC59C8E4}"/>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
        <p:nvSpPr>
          <p:cNvPr id="69" name="TextBox 68">
            <a:extLst>
              <a:ext uri="{FF2B5EF4-FFF2-40B4-BE49-F238E27FC236}">
                <a16:creationId xmlns:a16="http://schemas.microsoft.com/office/drawing/2014/main" id="{FFC89FFC-29D5-8052-7D9F-040E9AEF6AE1}"/>
              </a:ext>
            </a:extLst>
          </p:cNvPr>
          <p:cNvSpPr txBox="1"/>
          <p:nvPr/>
        </p:nvSpPr>
        <p:spPr>
          <a:xfrm>
            <a:off x="836698" y="3782603"/>
            <a:ext cx="575987"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 Gateway</a:t>
            </a:r>
          </a:p>
        </p:txBody>
      </p:sp>
      <p:sp>
        <p:nvSpPr>
          <p:cNvPr id="70" name="Rounded Rectangle 69">
            <a:extLst>
              <a:ext uri="{FF2B5EF4-FFF2-40B4-BE49-F238E27FC236}">
                <a16:creationId xmlns:a16="http://schemas.microsoft.com/office/drawing/2014/main" id="{33D73EEF-266F-D823-A3DA-EB9491B2A582}"/>
              </a:ext>
            </a:extLst>
          </p:cNvPr>
          <p:cNvSpPr/>
          <p:nvPr/>
        </p:nvSpPr>
        <p:spPr bwMode="gray">
          <a:xfrm>
            <a:off x="1440872" y="3150215"/>
            <a:ext cx="6084000" cy="559993"/>
          </a:xfrm>
          <a:prstGeom prst="roundRect">
            <a:avLst/>
          </a:prstGeom>
          <a:noFill/>
          <a:ln w="9525">
            <a:solidFill>
              <a:srgbClr val="61A60E"/>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88" name="Rectangle 87">
            <a:extLst>
              <a:ext uri="{FF2B5EF4-FFF2-40B4-BE49-F238E27FC236}">
                <a16:creationId xmlns:a16="http://schemas.microsoft.com/office/drawing/2014/main" id="{60EB8EBD-446C-B7FD-ECBF-18260C936F43}"/>
              </a:ext>
            </a:extLst>
          </p:cNvPr>
          <p:cNvSpPr/>
          <p:nvPr/>
        </p:nvSpPr>
        <p:spPr bwMode="gray">
          <a:xfrm>
            <a:off x="1234520"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63" name="Google Shape;3733;p22">
            <a:extLst>
              <a:ext uri="{FF2B5EF4-FFF2-40B4-BE49-F238E27FC236}">
                <a16:creationId xmlns:a16="http://schemas.microsoft.com/office/drawing/2014/main" id="{38CC0207-4AA5-0B4A-5C3D-A3C6ADBAAAFE}"/>
              </a:ext>
            </a:extLst>
          </p:cNvPr>
          <p:cNvGrpSpPr/>
          <p:nvPr/>
        </p:nvGrpSpPr>
        <p:grpSpPr>
          <a:xfrm>
            <a:off x="1218656" y="4618492"/>
            <a:ext cx="269469" cy="269658"/>
            <a:chOff x="658852" y="4943630"/>
            <a:chExt cx="583799" cy="584209"/>
          </a:xfrm>
        </p:grpSpPr>
        <p:sp>
          <p:nvSpPr>
            <p:cNvPr id="64" name="Google Shape;3734;p22">
              <a:extLst>
                <a:ext uri="{FF2B5EF4-FFF2-40B4-BE49-F238E27FC236}">
                  <a16:creationId xmlns:a16="http://schemas.microsoft.com/office/drawing/2014/main" id="{0AA9A76F-CA17-EDE8-4915-CDA98D9635B8}"/>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65" name="Google Shape;3735;p22">
              <a:extLst>
                <a:ext uri="{FF2B5EF4-FFF2-40B4-BE49-F238E27FC236}">
                  <a16:creationId xmlns:a16="http://schemas.microsoft.com/office/drawing/2014/main" id="{6FDAD856-287D-D0D6-61CF-1848228B87BD}"/>
                </a:ext>
              </a:extLst>
            </p:cNvPr>
            <p:cNvGrpSpPr/>
            <p:nvPr/>
          </p:nvGrpSpPr>
          <p:grpSpPr>
            <a:xfrm>
              <a:off x="834156" y="5211637"/>
              <a:ext cx="216359" cy="78004"/>
              <a:chOff x="834156" y="5211637"/>
              <a:chExt cx="216359" cy="78004"/>
            </a:xfrm>
          </p:grpSpPr>
          <p:sp>
            <p:nvSpPr>
              <p:cNvPr id="66" name="Google Shape;3736;p22">
                <a:extLst>
                  <a:ext uri="{FF2B5EF4-FFF2-40B4-BE49-F238E27FC236}">
                    <a16:creationId xmlns:a16="http://schemas.microsoft.com/office/drawing/2014/main" id="{022AC95B-9BCF-F5D8-5D7F-2165CED7694F}"/>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67" name="Google Shape;3737;p22">
                <a:extLst>
                  <a:ext uri="{FF2B5EF4-FFF2-40B4-BE49-F238E27FC236}">
                    <a16:creationId xmlns:a16="http://schemas.microsoft.com/office/drawing/2014/main" id="{B5A3FE70-A8CB-91A8-B5E3-AC44C948D70F}"/>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98" name="!!TGW-uplink2">
            <a:extLst>
              <a:ext uri="{FF2B5EF4-FFF2-40B4-BE49-F238E27FC236}">
                <a16:creationId xmlns:a16="http://schemas.microsoft.com/office/drawing/2014/main" id="{89BA77BB-D0B2-182A-7C9C-EDBFE5E2B4D0}"/>
              </a:ext>
            </a:extLst>
          </p:cNvPr>
          <p:cNvCxnSpPr>
            <a:cxnSpLocks/>
          </p:cNvCxnSpPr>
          <p:nvPr/>
        </p:nvCxnSpPr>
        <p:spPr bwMode="gray">
          <a:xfrm>
            <a:off x="3572444" y="2849526"/>
            <a:ext cx="0" cy="297711"/>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0" name="!!externalconnection">
            <a:extLst>
              <a:ext uri="{FF2B5EF4-FFF2-40B4-BE49-F238E27FC236}">
                <a16:creationId xmlns:a16="http://schemas.microsoft.com/office/drawing/2014/main" id="{BD50AE26-0FAF-7594-A8E9-8D2FC141193E}"/>
              </a:ext>
            </a:extLst>
          </p:cNvPr>
          <p:cNvSpPr/>
          <p:nvPr/>
        </p:nvSpPr>
        <p:spPr bwMode="gray">
          <a:xfrm>
            <a:off x="1065213" y="2924944"/>
            <a:ext cx="6400800" cy="180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	External Connection</a:t>
            </a:r>
          </a:p>
        </p:txBody>
      </p:sp>
      <p:sp>
        <p:nvSpPr>
          <p:cNvPr id="101" name="!!externalconnection">
            <a:extLst>
              <a:ext uri="{FF2B5EF4-FFF2-40B4-BE49-F238E27FC236}">
                <a16:creationId xmlns:a16="http://schemas.microsoft.com/office/drawing/2014/main" id="{30968657-198D-A44F-3003-9838DB1EECA8}"/>
              </a:ext>
            </a:extLst>
          </p:cNvPr>
          <p:cNvSpPr/>
          <p:nvPr/>
        </p:nvSpPr>
        <p:spPr bwMode="gray">
          <a:xfrm>
            <a:off x="3419857" y="2924944"/>
            <a:ext cx="699515" cy="180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Distributed</a:t>
            </a:r>
          </a:p>
        </p:txBody>
      </p:sp>
      <p:sp>
        <p:nvSpPr>
          <p:cNvPr id="40" name="Freeform 39">
            <a:extLst>
              <a:ext uri="{FF2B5EF4-FFF2-40B4-BE49-F238E27FC236}">
                <a16:creationId xmlns:a16="http://schemas.microsoft.com/office/drawing/2014/main" id="{B3097859-20EA-5C0D-2C1D-385CE4194075}"/>
              </a:ext>
            </a:extLst>
          </p:cNvPr>
          <p:cNvSpPr/>
          <p:nvPr/>
        </p:nvSpPr>
        <p:spPr bwMode="gray">
          <a:xfrm>
            <a:off x="3351213" y="2131017"/>
            <a:ext cx="2065445" cy="2669583"/>
          </a:xfrm>
          <a:custGeom>
            <a:avLst/>
            <a:gdLst>
              <a:gd name="csX0" fmla="*/ 0 w 1534332"/>
              <a:gd name="csY0" fmla="*/ 7749 h 7749"/>
              <a:gd name="csX1" fmla="*/ 1534332 w 1534332"/>
              <a:gd name="csY1" fmla="*/ 0 h 7749"/>
              <a:gd name="csX0" fmla="*/ 0 w 10505"/>
              <a:gd name="csY0" fmla="*/ 3 h 3580076"/>
              <a:gd name="csX1" fmla="*/ 10505 w 10505"/>
              <a:gd name="csY1" fmla="*/ 3580074 h 3580076"/>
              <a:gd name="csX0" fmla="*/ 1051 w 2001"/>
              <a:gd name="csY0" fmla="*/ 2 h 4690097"/>
              <a:gd name="csX1" fmla="*/ 950 w 2001"/>
              <a:gd name="csY1" fmla="*/ 4690096 h 4690097"/>
              <a:gd name="csX0" fmla="*/ 504 w 10805"/>
              <a:gd name="csY0" fmla="*/ 0 h 10000"/>
              <a:gd name="csX1" fmla="*/ 0 w 10805"/>
              <a:gd name="csY1" fmla="*/ 10000 h 10000"/>
              <a:gd name="csX0" fmla="*/ 6181 w 10861"/>
              <a:gd name="csY0" fmla="*/ 0 h 10000"/>
              <a:gd name="csX1" fmla="*/ 260 w 10861"/>
              <a:gd name="csY1" fmla="*/ 6510 h 10000"/>
              <a:gd name="csX2" fmla="*/ 5677 w 10861"/>
              <a:gd name="csY2" fmla="*/ 10000 h 10000"/>
              <a:gd name="csX0" fmla="*/ 8012 w 12692"/>
              <a:gd name="csY0" fmla="*/ 0 h 10000"/>
              <a:gd name="csX1" fmla="*/ 2091 w 12692"/>
              <a:gd name="csY1" fmla="*/ 6510 h 10000"/>
              <a:gd name="csX2" fmla="*/ 7508 w 12692"/>
              <a:gd name="csY2" fmla="*/ 10000 h 10000"/>
              <a:gd name="csX0" fmla="*/ 5922 w 9237"/>
              <a:gd name="csY0" fmla="*/ 0 h 10000"/>
              <a:gd name="csX1" fmla="*/ 1 w 9237"/>
              <a:gd name="csY1" fmla="*/ 6510 h 10000"/>
              <a:gd name="csX2" fmla="*/ 5418 w 9237"/>
              <a:gd name="csY2" fmla="*/ 10000 h 10000"/>
              <a:gd name="csX0" fmla="*/ 11328 w 14268"/>
              <a:gd name="csY0" fmla="*/ 0 h 10000"/>
              <a:gd name="csX1" fmla="*/ 0 w 14268"/>
              <a:gd name="csY1" fmla="*/ 6275 h 10000"/>
              <a:gd name="csX2" fmla="*/ 10783 w 14268"/>
              <a:gd name="csY2" fmla="*/ 10000 h 10000"/>
              <a:gd name="csX0" fmla="*/ 11328 w 14268"/>
              <a:gd name="csY0" fmla="*/ 0 h 10000"/>
              <a:gd name="csX1" fmla="*/ 0 w 14268"/>
              <a:gd name="csY1" fmla="*/ 6275 h 10000"/>
              <a:gd name="csX2" fmla="*/ 10783 w 14268"/>
              <a:gd name="csY2" fmla="*/ 10000 h 10000"/>
              <a:gd name="csX0" fmla="*/ 11328 w 16473"/>
              <a:gd name="csY0" fmla="*/ 0 h 10000"/>
              <a:gd name="csX1" fmla="*/ 0 w 16473"/>
              <a:gd name="csY1" fmla="*/ 6275 h 10000"/>
              <a:gd name="csX2" fmla="*/ 10783 w 16473"/>
              <a:gd name="csY2" fmla="*/ 10000 h 10000"/>
              <a:gd name="csX0" fmla="*/ 545 w 58076"/>
              <a:gd name="csY0" fmla="*/ 0 h 10000"/>
              <a:gd name="csX1" fmla="*/ 58076 w 58076"/>
              <a:gd name="csY1" fmla="*/ 6296 h 10000"/>
              <a:gd name="csX2" fmla="*/ 0 w 58076"/>
              <a:gd name="csY2" fmla="*/ 10000 h 10000"/>
              <a:gd name="csX0" fmla="*/ 61206 w 67325"/>
              <a:gd name="csY0" fmla="*/ 0 h 9510"/>
              <a:gd name="csX1" fmla="*/ 58076 w 67325"/>
              <a:gd name="csY1" fmla="*/ 5806 h 9510"/>
              <a:gd name="csX2" fmla="*/ 0 w 67325"/>
              <a:gd name="csY2" fmla="*/ 9510 h 9510"/>
              <a:gd name="csX0" fmla="*/ 9091 w 9663"/>
              <a:gd name="csY0" fmla="*/ 0 h 10000"/>
              <a:gd name="csX1" fmla="*/ 8626 w 9663"/>
              <a:gd name="csY1" fmla="*/ 6105 h 10000"/>
              <a:gd name="csX2" fmla="*/ 0 w 9663"/>
              <a:gd name="csY2" fmla="*/ 10000 h 10000"/>
              <a:gd name="csX0" fmla="*/ 9408 w 10000"/>
              <a:gd name="csY0" fmla="*/ 0 h 10000"/>
              <a:gd name="csX1" fmla="*/ 8927 w 10000"/>
              <a:gd name="csY1" fmla="*/ 6105 h 10000"/>
              <a:gd name="csX2" fmla="*/ 0 w 10000"/>
              <a:gd name="csY2" fmla="*/ 10000 h 10000"/>
              <a:gd name="csX0" fmla="*/ 9408 w 10225"/>
              <a:gd name="csY0" fmla="*/ 0 h 10000"/>
              <a:gd name="csX1" fmla="*/ 8927 w 10225"/>
              <a:gd name="csY1" fmla="*/ 6105 h 10000"/>
              <a:gd name="csX2" fmla="*/ 0 w 10225"/>
              <a:gd name="csY2" fmla="*/ 10000 h 10000"/>
              <a:gd name="csX0" fmla="*/ 9408 w 9934"/>
              <a:gd name="csY0" fmla="*/ 0 h 10000"/>
              <a:gd name="csX1" fmla="*/ 8927 w 9934"/>
              <a:gd name="csY1" fmla="*/ 6105 h 10000"/>
              <a:gd name="csX2" fmla="*/ 0 w 9934"/>
              <a:gd name="csY2" fmla="*/ 10000 h 10000"/>
              <a:gd name="csX0" fmla="*/ 9471 w 10000"/>
              <a:gd name="csY0" fmla="*/ 0 h 10000"/>
              <a:gd name="csX1" fmla="*/ 8986 w 10000"/>
              <a:gd name="csY1" fmla="*/ 6105 h 10000"/>
              <a:gd name="csX2" fmla="*/ 0 w 10000"/>
              <a:gd name="csY2" fmla="*/ 10000 h 10000"/>
              <a:gd name="csX0" fmla="*/ 9471 w 10000"/>
              <a:gd name="csY0" fmla="*/ 0 h 10000"/>
              <a:gd name="csX1" fmla="*/ 8986 w 10000"/>
              <a:gd name="csY1" fmla="*/ 6105 h 10000"/>
              <a:gd name="csX2" fmla="*/ 0 w 10000"/>
              <a:gd name="csY2" fmla="*/ 10000 h 10000"/>
              <a:gd name="csX0" fmla="*/ 9556 w 10231"/>
              <a:gd name="csY0" fmla="*/ 0 h 9753"/>
              <a:gd name="csX1" fmla="*/ 9071 w 10231"/>
              <a:gd name="csY1" fmla="*/ 6105 h 9753"/>
              <a:gd name="csX2" fmla="*/ 0 w 10231"/>
              <a:gd name="csY2" fmla="*/ 9753 h 9753"/>
              <a:gd name="csX0" fmla="*/ 9340 w 10000"/>
              <a:gd name="csY0" fmla="*/ 0 h 10000"/>
              <a:gd name="csX1" fmla="*/ 8866 w 10000"/>
              <a:gd name="csY1" fmla="*/ 6260 h 10000"/>
              <a:gd name="csX2" fmla="*/ 0 w 10000"/>
              <a:gd name="csY2" fmla="*/ 10000 h 10000"/>
              <a:gd name="csX0" fmla="*/ 9340 w 9970"/>
              <a:gd name="csY0" fmla="*/ 0 h 10000"/>
              <a:gd name="csX1" fmla="*/ 8866 w 9970"/>
              <a:gd name="csY1" fmla="*/ 6260 h 10000"/>
              <a:gd name="csX2" fmla="*/ 0 w 9970"/>
              <a:gd name="csY2" fmla="*/ 10000 h 10000"/>
              <a:gd name="csX0" fmla="*/ 9368 w 9733"/>
              <a:gd name="csY0" fmla="*/ 0 h 10000"/>
              <a:gd name="csX1" fmla="*/ 8064 w 9733"/>
              <a:gd name="csY1" fmla="*/ 6835 h 10000"/>
              <a:gd name="csX2" fmla="*/ 0 w 9733"/>
              <a:gd name="csY2" fmla="*/ 10000 h 10000"/>
            </a:gdLst>
            <a:ahLst/>
            <a:cxnLst>
              <a:cxn ang="0">
                <a:pos x="csX0" y="csY0"/>
              </a:cxn>
              <a:cxn ang="0">
                <a:pos x="csX1" y="csY1"/>
              </a:cxn>
              <a:cxn ang="0">
                <a:pos x="csX2" y="csY2"/>
              </a:cxn>
            </a:cxnLst>
            <a:rect l="l" t="t" r="r" b="b"/>
            <a:pathLst>
              <a:path w="9733" h="10000">
                <a:moveTo>
                  <a:pt x="9368" y="0"/>
                </a:moveTo>
                <a:cubicBezTo>
                  <a:pt x="10201" y="4286"/>
                  <a:pt x="9542" y="6111"/>
                  <a:pt x="8064" y="6835"/>
                </a:cubicBezTo>
                <a:cubicBezTo>
                  <a:pt x="6585" y="7559"/>
                  <a:pt x="1825" y="9226"/>
                  <a:pt x="0" y="10000"/>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58" name="Group 57">
            <a:extLst>
              <a:ext uri="{FF2B5EF4-FFF2-40B4-BE49-F238E27FC236}">
                <a16:creationId xmlns:a16="http://schemas.microsoft.com/office/drawing/2014/main" id="{67E01D20-A8E2-6084-A47B-089B39A512BE}"/>
              </a:ext>
            </a:extLst>
          </p:cNvPr>
          <p:cNvGrpSpPr/>
          <p:nvPr/>
        </p:nvGrpSpPr>
        <p:grpSpPr>
          <a:xfrm>
            <a:off x="1599906" y="2057399"/>
            <a:ext cx="5661048" cy="3018295"/>
            <a:chOff x="1599906" y="2057399"/>
            <a:chExt cx="5661048" cy="3018295"/>
          </a:xfrm>
        </p:grpSpPr>
        <p:sp>
          <p:nvSpPr>
            <p:cNvPr id="44" name="Freeform 43">
              <a:extLst>
                <a:ext uri="{FF2B5EF4-FFF2-40B4-BE49-F238E27FC236}">
                  <a16:creationId xmlns:a16="http://schemas.microsoft.com/office/drawing/2014/main" id="{FCCF36FF-4968-DA2E-4541-F298468B560D}"/>
                </a:ext>
              </a:extLst>
            </p:cNvPr>
            <p:cNvSpPr/>
            <p:nvPr/>
          </p:nvSpPr>
          <p:spPr bwMode="gray">
            <a:xfrm flipH="1">
              <a:off x="3258225" y="2057400"/>
              <a:ext cx="471966" cy="2743200"/>
            </a:xfrm>
            <a:custGeom>
              <a:avLst/>
              <a:gdLst>
                <a:gd name="csX0" fmla="*/ 0 w 1534332"/>
                <a:gd name="csY0" fmla="*/ 7749 h 7749"/>
                <a:gd name="csX1" fmla="*/ 1534332 w 1534332"/>
                <a:gd name="csY1" fmla="*/ 0 h 7749"/>
                <a:gd name="csX0" fmla="*/ 0 w 10505"/>
                <a:gd name="csY0" fmla="*/ 3 h 3580076"/>
                <a:gd name="csX1" fmla="*/ 10505 w 10505"/>
                <a:gd name="csY1" fmla="*/ 3580074 h 3580076"/>
                <a:gd name="csX0" fmla="*/ 1051 w 2001"/>
                <a:gd name="csY0" fmla="*/ 2 h 4690097"/>
                <a:gd name="csX1" fmla="*/ 950 w 2001"/>
                <a:gd name="csY1" fmla="*/ 4690096 h 4690097"/>
                <a:gd name="csX0" fmla="*/ 504 w 10805"/>
                <a:gd name="csY0" fmla="*/ 0 h 10000"/>
                <a:gd name="csX1" fmla="*/ 0 w 10805"/>
                <a:gd name="csY1" fmla="*/ 10000 h 10000"/>
                <a:gd name="csX0" fmla="*/ 0 w 31012"/>
                <a:gd name="csY0" fmla="*/ 0 h 12616"/>
                <a:gd name="csX1" fmla="*/ 28049 w 31012"/>
                <a:gd name="csY1" fmla="*/ 12616 h 12616"/>
                <a:gd name="csX0" fmla="*/ 0 w 30604"/>
                <a:gd name="csY0" fmla="*/ 0 h 12616"/>
                <a:gd name="csX1" fmla="*/ 28049 w 30604"/>
                <a:gd name="csY1" fmla="*/ 12616 h 12616"/>
                <a:gd name="csX0" fmla="*/ 0 w 28049"/>
                <a:gd name="csY0" fmla="*/ 0 h 12616"/>
                <a:gd name="csX1" fmla="*/ 28049 w 28049"/>
                <a:gd name="csY1" fmla="*/ 12616 h 12616"/>
              </a:gdLst>
              <a:ahLst/>
              <a:cxnLst>
                <a:cxn ang="0">
                  <a:pos x="csX0" y="csY0"/>
                </a:cxn>
                <a:cxn ang="0">
                  <a:pos x="csX1" y="csY1"/>
                </a:cxn>
              </a:cxnLst>
              <a:rect l="l" t="t" r="r" b="b"/>
              <a:pathLst>
                <a:path w="28049" h="12616">
                  <a:moveTo>
                    <a:pt x="0" y="0"/>
                  </a:moveTo>
                  <a:cubicBezTo>
                    <a:pt x="11131" y="6161"/>
                    <a:pt x="18893" y="10638"/>
                    <a:pt x="28049" y="12616"/>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 name="Freeform 44">
              <a:extLst>
                <a:ext uri="{FF2B5EF4-FFF2-40B4-BE49-F238E27FC236}">
                  <a16:creationId xmlns:a16="http://schemas.microsoft.com/office/drawing/2014/main" id="{664C6FB8-4D4D-42A2-0395-F031C1DCFF70}"/>
                </a:ext>
              </a:extLst>
            </p:cNvPr>
            <p:cNvSpPr/>
            <p:nvPr/>
          </p:nvSpPr>
          <p:spPr bwMode="gray">
            <a:xfrm flipH="1">
              <a:off x="1599906" y="2057400"/>
              <a:ext cx="252141" cy="2743200"/>
            </a:xfrm>
            <a:custGeom>
              <a:avLst/>
              <a:gdLst>
                <a:gd name="csX0" fmla="*/ 0 w 1534332"/>
                <a:gd name="csY0" fmla="*/ 7749 h 7749"/>
                <a:gd name="csX1" fmla="*/ 1534332 w 1534332"/>
                <a:gd name="csY1" fmla="*/ 0 h 7749"/>
                <a:gd name="csX0" fmla="*/ 0 w 10505"/>
                <a:gd name="csY0" fmla="*/ 3 h 3580076"/>
                <a:gd name="csX1" fmla="*/ 10505 w 10505"/>
                <a:gd name="csY1" fmla="*/ 3580074 h 3580076"/>
                <a:gd name="csX0" fmla="*/ 1051 w 2001"/>
                <a:gd name="csY0" fmla="*/ 2 h 4690097"/>
                <a:gd name="csX1" fmla="*/ 950 w 2001"/>
                <a:gd name="csY1" fmla="*/ 4690096 h 4690097"/>
                <a:gd name="csX0" fmla="*/ 504 w 10805"/>
                <a:gd name="csY0" fmla="*/ 0 h 10000"/>
                <a:gd name="csX1" fmla="*/ 0 w 10805"/>
                <a:gd name="csY1" fmla="*/ 10000 h 10000"/>
                <a:gd name="csX0" fmla="*/ 0 w 31012"/>
                <a:gd name="csY0" fmla="*/ 0 h 12616"/>
                <a:gd name="csX1" fmla="*/ 28049 w 31012"/>
                <a:gd name="csY1" fmla="*/ 12616 h 12616"/>
                <a:gd name="csX0" fmla="*/ 0 w 30604"/>
                <a:gd name="csY0" fmla="*/ 0 h 12616"/>
                <a:gd name="csX1" fmla="*/ 28049 w 30604"/>
                <a:gd name="csY1" fmla="*/ 12616 h 12616"/>
                <a:gd name="csX0" fmla="*/ 0 w 28049"/>
                <a:gd name="csY0" fmla="*/ 0 h 12616"/>
                <a:gd name="csX1" fmla="*/ 28049 w 28049"/>
                <a:gd name="csY1" fmla="*/ 12616 h 12616"/>
              </a:gdLst>
              <a:ahLst/>
              <a:cxnLst>
                <a:cxn ang="0">
                  <a:pos x="csX0" y="csY0"/>
                </a:cxn>
                <a:cxn ang="0">
                  <a:pos x="csX1" y="csY1"/>
                </a:cxn>
              </a:cxnLst>
              <a:rect l="l" t="t" r="r" b="b"/>
              <a:pathLst>
                <a:path w="28049" h="12616">
                  <a:moveTo>
                    <a:pt x="0" y="0"/>
                  </a:moveTo>
                  <a:cubicBezTo>
                    <a:pt x="11131" y="6161"/>
                    <a:pt x="18893" y="10638"/>
                    <a:pt x="28049" y="12616"/>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 name="Freeform 45">
              <a:extLst>
                <a:ext uri="{FF2B5EF4-FFF2-40B4-BE49-F238E27FC236}">
                  <a16:creationId xmlns:a16="http://schemas.microsoft.com/office/drawing/2014/main" id="{09DC38CE-E71A-349E-6783-6E34DA847660}"/>
                </a:ext>
              </a:extLst>
            </p:cNvPr>
            <p:cNvSpPr/>
            <p:nvPr/>
          </p:nvSpPr>
          <p:spPr bwMode="gray">
            <a:xfrm flipH="1">
              <a:off x="7008813" y="2057400"/>
              <a:ext cx="252141" cy="2743200"/>
            </a:xfrm>
            <a:custGeom>
              <a:avLst/>
              <a:gdLst>
                <a:gd name="csX0" fmla="*/ 0 w 1534332"/>
                <a:gd name="csY0" fmla="*/ 7749 h 7749"/>
                <a:gd name="csX1" fmla="*/ 1534332 w 1534332"/>
                <a:gd name="csY1" fmla="*/ 0 h 7749"/>
                <a:gd name="csX0" fmla="*/ 0 w 10505"/>
                <a:gd name="csY0" fmla="*/ 3 h 3580076"/>
                <a:gd name="csX1" fmla="*/ 10505 w 10505"/>
                <a:gd name="csY1" fmla="*/ 3580074 h 3580076"/>
                <a:gd name="csX0" fmla="*/ 1051 w 2001"/>
                <a:gd name="csY0" fmla="*/ 2 h 4690097"/>
                <a:gd name="csX1" fmla="*/ 950 w 2001"/>
                <a:gd name="csY1" fmla="*/ 4690096 h 4690097"/>
                <a:gd name="csX0" fmla="*/ 504 w 10805"/>
                <a:gd name="csY0" fmla="*/ 0 h 10000"/>
                <a:gd name="csX1" fmla="*/ 0 w 10805"/>
                <a:gd name="csY1" fmla="*/ 10000 h 10000"/>
                <a:gd name="csX0" fmla="*/ 0 w 31012"/>
                <a:gd name="csY0" fmla="*/ 0 h 12616"/>
                <a:gd name="csX1" fmla="*/ 28049 w 31012"/>
                <a:gd name="csY1" fmla="*/ 12616 h 12616"/>
                <a:gd name="csX0" fmla="*/ 0 w 30604"/>
                <a:gd name="csY0" fmla="*/ 0 h 12616"/>
                <a:gd name="csX1" fmla="*/ 28049 w 30604"/>
                <a:gd name="csY1" fmla="*/ 12616 h 12616"/>
                <a:gd name="csX0" fmla="*/ 0 w 28049"/>
                <a:gd name="csY0" fmla="*/ 0 h 12616"/>
                <a:gd name="csX1" fmla="*/ 28049 w 28049"/>
                <a:gd name="csY1" fmla="*/ 12616 h 12616"/>
              </a:gdLst>
              <a:ahLst/>
              <a:cxnLst>
                <a:cxn ang="0">
                  <a:pos x="csX0" y="csY0"/>
                </a:cxn>
                <a:cxn ang="0">
                  <a:pos x="csX1" y="csY1"/>
                </a:cxn>
              </a:cxnLst>
              <a:rect l="l" t="t" r="r" b="b"/>
              <a:pathLst>
                <a:path w="28049" h="12616">
                  <a:moveTo>
                    <a:pt x="0" y="0"/>
                  </a:moveTo>
                  <a:cubicBezTo>
                    <a:pt x="11131" y="6161"/>
                    <a:pt x="18893" y="10638"/>
                    <a:pt x="28049" y="12616"/>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 name="Freeform 46">
              <a:extLst>
                <a:ext uri="{FF2B5EF4-FFF2-40B4-BE49-F238E27FC236}">
                  <a16:creationId xmlns:a16="http://schemas.microsoft.com/office/drawing/2014/main" id="{0959B8DF-FF99-4B67-5F9B-3A473216FD75}"/>
                </a:ext>
              </a:extLst>
            </p:cNvPr>
            <p:cNvSpPr/>
            <p:nvPr/>
          </p:nvSpPr>
          <p:spPr bwMode="gray">
            <a:xfrm flipH="1">
              <a:off x="5385071" y="2057399"/>
              <a:ext cx="252141" cy="3018295"/>
            </a:xfrm>
            <a:custGeom>
              <a:avLst/>
              <a:gdLst>
                <a:gd name="csX0" fmla="*/ 0 w 1534332"/>
                <a:gd name="csY0" fmla="*/ 7749 h 7749"/>
                <a:gd name="csX1" fmla="*/ 1534332 w 1534332"/>
                <a:gd name="csY1" fmla="*/ 0 h 7749"/>
                <a:gd name="csX0" fmla="*/ 0 w 10505"/>
                <a:gd name="csY0" fmla="*/ 3 h 3580076"/>
                <a:gd name="csX1" fmla="*/ 10505 w 10505"/>
                <a:gd name="csY1" fmla="*/ 3580074 h 3580076"/>
                <a:gd name="csX0" fmla="*/ 1051 w 2001"/>
                <a:gd name="csY0" fmla="*/ 2 h 4690097"/>
                <a:gd name="csX1" fmla="*/ 950 w 2001"/>
                <a:gd name="csY1" fmla="*/ 4690096 h 4690097"/>
                <a:gd name="csX0" fmla="*/ 504 w 10805"/>
                <a:gd name="csY0" fmla="*/ 0 h 10000"/>
                <a:gd name="csX1" fmla="*/ 0 w 10805"/>
                <a:gd name="csY1" fmla="*/ 10000 h 10000"/>
                <a:gd name="csX0" fmla="*/ 0 w 31012"/>
                <a:gd name="csY0" fmla="*/ 0 h 12616"/>
                <a:gd name="csX1" fmla="*/ 28049 w 31012"/>
                <a:gd name="csY1" fmla="*/ 12616 h 12616"/>
                <a:gd name="csX0" fmla="*/ 0 w 30604"/>
                <a:gd name="csY0" fmla="*/ 0 h 12616"/>
                <a:gd name="csX1" fmla="*/ 28049 w 30604"/>
                <a:gd name="csY1" fmla="*/ 12616 h 12616"/>
                <a:gd name="csX0" fmla="*/ 0 w 28049"/>
                <a:gd name="csY0" fmla="*/ 0 h 12616"/>
                <a:gd name="csX1" fmla="*/ 28049 w 28049"/>
                <a:gd name="csY1" fmla="*/ 12616 h 12616"/>
              </a:gdLst>
              <a:ahLst/>
              <a:cxnLst>
                <a:cxn ang="0">
                  <a:pos x="csX0" y="csY0"/>
                </a:cxn>
                <a:cxn ang="0">
                  <a:pos x="csX1" y="csY1"/>
                </a:cxn>
              </a:cxnLst>
              <a:rect l="l" t="t" r="r" b="b"/>
              <a:pathLst>
                <a:path w="28049" h="12616">
                  <a:moveTo>
                    <a:pt x="0" y="0"/>
                  </a:moveTo>
                  <a:cubicBezTo>
                    <a:pt x="11131" y="6161"/>
                    <a:pt x="18893" y="10638"/>
                    <a:pt x="28049" y="12616"/>
                  </a:cubicBez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52" name="Freeform 5sdf1">
            <a:extLst>
              <a:ext uri="{FF2B5EF4-FFF2-40B4-BE49-F238E27FC236}">
                <a16:creationId xmlns:a16="http://schemas.microsoft.com/office/drawing/2014/main" id="{127D416F-A3BF-0BD3-E46B-2BC16F32DAE7}"/>
              </a:ext>
            </a:extLst>
          </p:cNvPr>
          <p:cNvSpPr/>
          <p:nvPr/>
        </p:nvSpPr>
        <p:spPr bwMode="gray">
          <a:xfrm>
            <a:off x="1681566" y="5261675"/>
            <a:ext cx="1534332" cy="7749"/>
          </a:xfrm>
          <a:custGeom>
            <a:avLst/>
            <a:gdLst>
              <a:gd name="csX0" fmla="*/ 0 w 1534332"/>
              <a:gd name="csY0" fmla="*/ 7749 h 7749"/>
              <a:gd name="csX1" fmla="*/ 1534332 w 1534332"/>
              <a:gd name="csY1" fmla="*/ 0 h 7749"/>
            </a:gdLst>
            <a:ahLst/>
            <a:cxnLst>
              <a:cxn ang="0">
                <a:pos x="csX0" y="csY0"/>
              </a:cxn>
              <a:cxn ang="0">
                <a:pos x="csX1" y="csY1"/>
              </a:cxn>
            </a:cxnLst>
            <a:rect l="l" t="t" r="r" b="b"/>
            <a:pathLst>
              <a:path w="1534332" h="7749">
                <a:moveTo>
                  <a:pt x="0" y="7749"/>
                </a:moveTo>
                <a:lnTo>
                  <a:pt x="1534332" y="0"/>
                </a:lnTo>
              </a:path>
            </a:pathLst>
          </a:custGeom>
          <a:noFill/>
          <a:ln w="127000">
            <a:solidFill>
              <a:srgbClr val="FF0000"/>
            </a:solidFill>
            <a:miter lim="800000"/>
            <a:headEnd type="triangle"/>
            <a:tailEnd type="triangle"/>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1211552222"/>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xEl>
                                              <p:pRg st="3" end="3"/>
                                            </p:txEl>
                                          </p:spTgt>
                                        </p:tgtEl>
                                        <p:attrNameLst>
                                          <p:attrName>style.visibility</p:attrName>
                                        </p:attrNameLst>
                                      </p:cBhvr>
                                      <p:to>
                                        <p:strVal val="visible"/>
                                      </p:to>
                                    </p:set>
                                  </p:childTnLst>
                                </p:cTn>
                              </p:par>
                              <p:par>
                                <p:cTn id="7" presetID="22" presetClass="entr" presetSubtype="4" fill="hold" nodeType="withEffect">
                                  <p:stCondLst>
                                    <p:cond delay="0"/>
                                  </p:stCondLst>
                                  <p:childTnLst>
                                    <p:set>
                                      <p:cBhvr>
                                        <p:cTn id="8" dur="1" fill="hold">
                                          <p:stCondLst>
                                            <p:cond delay="0"/>
                                          </p:stCondLst>
                                        </p:cTn>
                                        <p:tgtEl>
                                          <p:spTgt spid="58"/>
                                        </p:tgtEl>
                                        <p:attrNameLst>
                                          <p:attrName>style.visibility</p:attrName>
                                        </p:attrNameLst>
                                      </p:cBhvr>
                                      <p:to>
                                        <p:strVal val="visible"/>
                                      </p:to>
                                    </p:set>
                                    <p:animEffect transition="in" filter="wipe(down)">
                                      <p:cBhvr>
                                        <p:cTn id="9" dur="500"/>
                                        <p:tgtEl>
                                          <p:spTgt spid="58"/>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23">
                                            <p:txEl>
                                              <p:pRg st="4" end="4"/>
                                            </p:txEl>
                                          </p:spTgt>
                                        </p:tgtEl>
                                        <p:attrNameLst>
                                          <p:attrName>style.visibility</p:attrName>
                                        </p:attrNameLst>
                                      </p:cBhvr>
                                      <p:to>
                                        <p:strVal val="visible"/>
                                      </p:to>
                                    </p:set>
                                  </p:childTnLst>
                                </p:cTn>
                              </p:par>
                              <p:par>
                                <p:cTn id="14" presetID="1" presetClass="exit" presetSubtype="0" fill="hold" nodeType="withEffect">
                                  <p:stCondLst>
                                    <p:cond delay="0"/>
                                  </p:stCondLst>
                                  <p:childTnLst>
                                    <p:set>
                                      <p:cBhvr>
                                        <p:cTn id="15" dur="1" fill="hold">
                                          <p:stCondLst>
                                            <p:cond delay="0"/>
                                          </p:stCondLst>
                                        </p:cTn>
                                        <p:tgtEl>
                                          <p:spTgt spid="58"/>
                                        </p:tgtEl>
                                        <p:attrNameLst>
                                          <p:attrName>style.visibility</p:attrName>
                                        </p:attrNameLst>
                                      </p:cBhvr>
                                      <p:to>
                                        <p:strVal val="hidden"/>
                                      </p:to>
                                    </p:set>
                                  </p:childTnLst>
                                </p:cTn>
                              </p:par>
                              <p:par>
                                <p:cTn id="16" presetID="10" presetClass="entr" presetSubtype="0" fill="hold"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fad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40"/>
                                        </p:tgtEl>
                                        <p:attrNameLst>
                                          <p:attrName>style.visibility</p:attrName>
                                        </p:attrNameLst>
                                      </p:cBhvr>
                                      <p:to>
                                        <p:strVal val="visible"/>
                                      </p:to>
                                    </p:set>
                                    <p:animEffect transition="in" filter="wipe(down)">
                                      <p:cBhvr>
                                        <p:cTn id="23" dur="500"/>
                                        <p:tgtEl>
                                          <p:spTgt spid="4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23">
                                            <p:txEl>
                                              <p:pRg st="5" end="5"/>
                                            </p:txEl>
                                          </p:spTgt>
                                        </p:tgtEl>
                                        <p:attrNameLst>
                                          <p:attrName>style.visibility</p:attrName>
                                        </p:attrNameLst>
                                      </p:cBhvr>
                                      <p:to>
                                        <p:strVal val="visible"/>
                                      </p:to>
                                    </p:set>
                                  </p:childTnLst>
                                </p:cTn>
                              </p:par>
                              <p:par>
                                <p:cTn id="28" presetID="1" presetClass="exit" presetSubtype="0" fill="hold" grpId="1" nodeType="withEffect">
                                  <p:stCondLst>
                                    <p:cond delay="0"/>
                                  </p:stCondLst>
                                  <p:childTnLst>
                                    <p:set>
                                      <p:cBhvr>
                                        <p:cTn id="29" dur="1" fill="hold">
                                          <p:stCondLst>
                                            <p:cond delay="0"/>
                                          </p:stCondLst>
                                        </p:cTn>
                                        <p:tgtEl>
                                          <p:spTgt spid="40"/>
                                        </p:tgtEl>
                                        <p:attrNameLst>
                                          <p:attrName>style.visibility</p:attrName>
                                        </p:attrNameLst>
                                      </p:cBhvr>
                                      <p:to>
                                        <p:strVal val="hidden"/>
                                      </p:to>
                                    </p:set>
                                  </p:childTnLst>
                                </p:cTn>
                              </p:par>
                              <p:par>
                                <p:cTn id="30" presetID="22" presetClass="entr" presetSubtype="8" fill="hold" grpId="0" nodeType="withEffect">
                                  <p:stCondLst>
                                    <p:cond delay="0"/>
                                  </p:stCondLst>
                                  <p:childTnLst>
                                    <p:set>
                                      <p:cBhvr>
                                        <p:cTn id="31" dur="1" fill="hold">
                                          <p:stCondLst>
                                            <p:cond delay="0"/>
                                          </p:stCondLst>
                                        </p:cTn>
                                        <p:tgtEl>
                                          <p:spTgt spid="52"/>
                                        </p:tgtEl>
                                        <p:attrNameLst>
                                          <p:attrName>style.visibility</p:attrName>
                                        </p:attrNameLst>
                                      </p:cBhvr>
                                      <p:to>
                                        <p:strVal val="visible"/>
                                      </p:to>
                                    </p:set>
                                    <p:animEffect transition="in" filter="wipe(left)">
                                      <p:cBhvr>
                                        <p:cTn id="32"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0" grpId="1" animBg="1"/>
      <p:bldP spid="52"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2C8E16-A667-A9A6-EE0A-C14FB367130B}"/>
            </a:ext>
          </a:extLst>
        </p:cNvPr>
        <p:cNvGrpSpPr/>
        <p:nvPr/>
      </p:nvGrpSpPr>
      <p:grpSpPr>
        <a:xfrm>
          <a:off x="0" y="0"/>
          <a:ext cx="0" cy="0"/>
          <a:chOff x="0" y="0"/>
          <a:chExt cx="0" cy="0"/>
        </a:xfrm>
      </p:grpSpPr>
      <p:sp>
        <p:nvSpPr>
          <p:cNvPr id="10" name="!!BOTTOM">
            <a:extLst>
              <a:ext uri="{FF2B5EF4-FFF2-40B4-BE49-F238E27FC236}">
                <a16:creationId xmlns:a16="http://schemas.microsoft.com/office/drawing/2014/main" id="{CC78C4F7-19CE-589C-79FC-6C0A105EAEC5}"/>
              </a:ext>
            </a:extLst>
          </p:cNvPr>
          <p:cNvSpPr/>
          <p:nvPr/>
        </p:nvSpPr>
        <p:spPr>
          <a:xfrm rot="10800000" flipV="1">
            <a:off x="608013" y="1600200"/>
            <a:ext cx="7315200" cy="914400"/>
          </a:xfrm>
          <a:prstGeom prst="round2SameRect">
            <a:avLst>
              <a:gd name="adj1" fmla="val 7233"/>
              <a:gd name="adj2" fmla="val 0"/>
            </a:avLst>
          </a:prstGeom>
          <a:solidFill>
            <a:srgbClr val="E8E8EA"/>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PHYSICAL NETWORK</a:t>
            </a:r>
          </a:p>
        </p:txBody>
      </p:sp>
      <p:sp>
        <p:nvSpPr>
          <p:cNvPr id="6" name="!!TOP">
            <a:extLst>
              <a:ext uri="{FF2B5EF4-FFF2-40B4-BE49-F238E27FC236}">
                <a16:creationId xmlns:a16="http://schemas.microsoft.com/office/drawing/2014/main" id="{7D04C927-5379-4970-16E0-199D44754F3F}"/>
              </a:ext>
            </a:extLst>
          </p:cNvPr>
          <p:cNvSpPr/>
          <p:nvPr/>
        </p:nvSpPr>
        <p:spPr>
          <a:xfrm flipV="1">
            <a:off x="608013" y="2626326"/>
            <a:ext cx="7315200" cy="3545873"/>
          </a:xfrm>
          <a:prstGeom prst="round2SameRect">
            <a:avLst>
              <a:gd name="adj1" fmla="val 5333"/>
              <a:gd name="adj2" fmla="val 0"/>
            </a:avLst>
          </a:prstGeom>
          <a:solidFill>
            <a:schemeClr val="accent2">
              <a:alpha val="10000"/>
            </a:schemeClr>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endParaRPr>
          </a:p>
        </p:txBody>
      </p:sp>
      <p:sp>
        <p:nvSpPr>
          <p:cNvPr id="28" name="!!ESX2">
            <a:extLst>
              <a:ext uri="{FF2B5EF4-FFF2-40B4-BE49-F238E27FC236}">
                <a16:creationId xmlns:a16="http://schemas.microsoft.com/office/drawing/2014/main" id="{D75C7DDD-44D9-32EB-8700-C6E07E29FFE7}"/>
              </a:ext>
            </a:extLst>
          </p:cNvPr>
          <p:cNvSpPr/>
          <p:nvPr/>
        </p:nvSpPr>
        <p:spPr bwMode="gray">
          <a:xfrm>
            <a:off x="2645309" y="2842958"/>
            <a:ext cx="1371600" cy="2877065"/>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15" name="!!ESX1">
            <a:extLst>
              <a:ext uri="{FF2B5EF4-FFF2-40B4-BE49-F238E27FC236}">
                <a16:creationId xmlns:a16="http://schemas.microsoft.com/office/drawing/2014/main" id="{12D53BEE-ACCB-9E53-CE63-87AFAD41AD95}"/>
              </a:ext>
            </a:extLst>
          </p:cNvPr>
          <p:cNvSpPr/>
          <p:nvPr/>
        </p:nvSpPr>
        <p:spPr bwMode="gray">
          <a:xfrm>
            <a:off x="821142" y="2842957"/>
            <a:ext cx="1371600" cy="2877065"/>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59" name="ESX3">
            <a:extLst>
              <a:ext uri="{FF2B5EF4-FFF2-40B4-BE49-F238E27FC236}">
                <a16:creationId xmlns:a16="http://schemas.microsoft.com/office/drawing/2014/main" id="{BE65DA82-19E9-2765-F044-740171B7D63F}"/>
              </a:ext>
            </a:extLst>
          </p:cNvPr>
          <p:cNvSpPr/>
          <p:nvPr/>
        </p:nvSpPr>
        <p:spPr bwMode="gray">
          <a:xfrm>
            <a:off x="4476680" y="2842958"/>
            <a:ext cx="1371600" cy="2877065"/>
          </a:xfrm>
          <a:prstGeom prst="roundRect">
            <a:avLst>
              <a:gd name="adj" fmla="val 525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87" name="ESX4">
            <a:extLst>
              <a:ext uri="{FF2B5EF4-FFF2-40B4-BE49-F238E27FC236}">
                <a16:creationId xmlns:a16="http://schemas.microsoft.com/office/drawing/2014/main" id="{1AD73E75-F17C-FBB7-F969-716083625740}"/>
              </a:ext>
            </a:extLst>
          </p:cNvPr>
          <p:cNvSpPr/>
          <p:nvPr/>
        </p:nvSpPr>
        <p:spPr bwMode="gray">
          <a:xfrm>
            <a:off x="6309129" y="2842958"/>
            <a:ext cx="1371600" cy="2877065"/>
          </a:xfrm>
          <a:prstGeom prst="roundRect">
            <a:avLst>
              <a:gd name="adj" fmla="val 4189"/>
            </a:avLst>
          </a:prstGeom>
          <a:solidFill>
            <a:schemeClr val="bg1"/>
          </a:solidFill>
          <a:ln w="25400">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lumOff val="50000"/>
                </a:srgbClr>
              </a:solidFill>
              <a:effectLst/>
              <a:uLnTx/>
              <a:uFillTx/>
              <a:latin typeface="Arial" panose="020B0604020202020204"/>
              <a:ea typeface="+mn-ea"/>
              <a:cs typeface="+mn-cs"/>
            </a:endParaRPr>
          </a:p>
        </p:txBody>
      </p:sp>
      <p:sp>
        <p:nvSpPr>
          <p:cNvPr id="4" name="Title 3">
            <a:extLst>
              <a:ext uri="{FF2B5EF4-FFF2-40B4-BE49-F238E27FC236}">
                <a16:creationId xmlns:a16="http://schemas.microsoft.com/office/drawing/2014/main" id="{AB8FA9BA-C563-FAAD-F4AA-A48CEB573322}"/>
              </a:ext>
            </a:extLst>
          </p:cNvPr>
          <p:cNvSpPr>
            <a:spLocks noGrp="1"/>
          </p:cNvSpPr>
          <p:nvPr>
            <p:ph type="title"/>
          </p:nvPr>
        </p:nvSpPr>
        <p:spPr/>
        <p:txBody>
          <a:bodyPr/>
          <a:lstStyle/>
          <a:p>
            <a:r>
              <a:rPr lang="en-US" dirty="0"/>
              <a:t>Distributed VXLAN External Connection</a:t>
            </a:r>
          </a:p>
        </p:txBody>
      </p:sp>
      <p:sp>
        <p:nvSpPr>
          <p:cNvPr id="5" name="Subtitle 4">
            <a:extLst>
              <a:ext uri="{FF2B5EF4-FFF2-40B4-BE49-F238E27FC236}">
                <a16:creationId xmlns:a16="http://schemas.microsoft.com/office/drawing/2014/main" id="{11F5FC5E-51AE-C26D-A868-3F356C8393E7}"/>
              </a:ext>
            </a:extLst>
          </p:cNvPr>
          <p:cNvSpPr>
            <a:spLocks noGrp="1"/>
          </p:cNvSpPr>
          <p:nvPr>
            <p:ph type="subTitle" idx="10"/>
          </p:nvPr>
        </p:nvSpPr>
        <p:spPr/>
        <p:txBody>
          <a:bodyPr/>
          <a:lstStyle/>
          <a:p>
            <a:r>
              <a:rPr lang="en-US" dirty="0"/>
              <a:t>Direct connectivity to EVPN/VXLAN fabric</a:t>
            </a:r>
          </a:p>
        </p:txBody>
      </p:sp>
      <p:sp>
        <p:nvSpPr>
          <p:cNvPr id="23" name="Text Placeholder 22">
            <a:extLst>
              <a:ext uri="{FF2B5EF4-FFF2-40B4-BE49-F238E27FC236}">
                <a16:creationId xmlns:a16="http://schemas.microsoft.com/office/drawing/2014/main" id="{778263A9-E1CF-8296-1EC4-0A92C72636D0}"/>
              </a:ext>
            </a:extLst>
          </p:cNvPr>
          <p:cNvSpPr>
            <a:spLocks noGrp="1"/>
          </p:cNvSpPr>
          <p:nvPr>
            <p:ph type="body" sz="quarter" idx="4294967295"/>
          </p:nvPr>
        </p:nvSpPr>
        <p:spPr>
          <a:xfrm>
            <a:off x="8380413" y="2057400"/>
            <a:ext cx="3808412" cy="4114800"/>
          </a:xfrm>
        </p:spPr>
        <p:txBody>
          <a:bodyPr rIns="503998"/>
          <a:lstStyle/>
          <a:p>
            <a:pPr marL="465750" indent="-285750">
              <a:spcAft>
                <a:spcPts val="600"/>
              </a:spcAft>
              <a:buFont typeface="Wingdings" pitchFamily="2" charset="2"/>
              <a:buChar char="§"/>
            </a:pPr>
            <a:r>
              <a:rPr lang="en-US" sz="1600" dirty="0">
                <a:solidFill>
                  <a:schemeClr val="accent2"/>
                </a:solidFill>
              </a:rPr>
              <a:t>With an EVPN/VXLAN external connection, the transit gateway is still instantiated on every ESX host</a:t>
            </a:r>
          </a:p>
          <a:p>
            <a:pPr marL="465750" indent="-285750">
              <a:spcAft>
                <a:spcPts val="600"/>
              </a:spcAft>
              <a:buFont typeface="Wingdings" pitchFamily="2" charset="2"/>
              <a:buChar char="§"/>
            </a:pPr>
            <a:r>
              <a:rPr lang="en-US" sz="1600" dirty="0">
                <a:solidFill>
                  <a:schemeClr val="accent2"/>
                </a:solidFill>
              </a:rPr>
              <a:t>Direct VCF ingress and egress through ESX uplinks using VXLAN</a:t>
            </a:r>
          </a:p>
          <a:p>
            <a:pPr marL="465750" indent="-285750">
              <a:spcAft>
                <a:spcPts val="600"/>
              </a:spcAft>
              <a:buFont typeface="Wingdings" pitchFamily="2" charset="2"/>
              <a:buChar char="§"/>
            </a:pPr>
            <a:r>
              <a:rPr lang="en-US" sz="1600" dirty="0">
                <a:solidFill>
                  <a:schemeClr val="accent2"/>
                </a:solidFill>
              </a:rPr>
              <a:t>No NSX Edge required</a:t>
            </a:r>
          </a:p>
          <a:p>
            <a:pPr marL="465750" indent="-285750">
              <a:spcAft>
                <a:spcPts val="600"/>
              </a:spcAft>
              <a:buFont typeface="Wingdings" pitchFamily="2" charset="2"/>
              <a:buChar char="§"/>
            </a:pPr>
            <a:r>
              <a:rPr lang="en-US" sz="1600" dirty="0">
                <a:solidFill>
                  <a:schemeClr val="accent2"/>
                </a:solidFill>
              </a:rPr>
              <a:t>No need for a common VLAN in the physical network</a:t>
            </a:r>
          </a:p>
          <a:p>
            <a:pPr marL="465750" indent="-285750">
              <a:spcAft>
                <a:spcPts val="600"/>
              </a:spcAft>
              <a:buFont typeface="Wingdings" pitchFamily="2" charset="2"/>
              <a:buChar char="§"/>
            </a:pPr>
            <a:r>
              <a:rPr lang="en-US" sz="1600" dirty="0">
                <a:solidFill>
                  <a:schemeClr val="accent2"/>
                </a:solidFill>
              </a:rPr>
              <a:t>A route controller VM peers using BGP with EVPN Gateways in the physical infrastructure</a:t>
            </a:r>
          </a:p>
        </p:txBody>
      </p:sp>
      <p:cxnSp>
        <p:nvCxnSpPr>
          <p:cNvPr id="120" name="Straight Connector 119">
            <a:extLst>
              <a:ext uri="{FF2B5EF4-FFF2-40B4-BE49-F238E27FC236}">
                <a16:creationId xmlns:a16="http://schemas.microsoft.com/office/drawing/2014/main" id="{EDE4211E-FC5B-299B-E58C-E72EAABAC1CD}"/>
              </a:ext>
            </a:extLst>
          </p:cNvPr>
          <p:cNvCxnSpPr>
            <a:cxnSpLocks/>
          </p:cNvCxnSpPr>
          <p:nvPr/>
        </p:nvCxnSpPr>
        <p:spPr bwMode="gray">
          <a:xfrm>
            <a:off x="3571268" y="3701108"/>
            <a:ext cx="0" cy="6637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D86F9EC-243B-1780-CF9F-CD7E75EDABB9}"/>
              </a:ext>
            </a:extLst>
          </p:cNvPr>
          <p:cNvSpPr txBox="1">
            <a:spLocks noChangeAspect="1"/>
          </p:cNvSpPr>
          <p:nvPr/>
        </p:nvSpPr>
        <p:spPr>
          <a:xfrm>
            <a:off x="1476480"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55" name="Straight Connector 54">
            <a:extLst>
              <a:ext uri="{FF2B5EF4-FFF2-40B4-BE49-F238E27FC236}">
                <a16:creationId xmlns:a16="http://schemas.microsoft.com/office/drawing/2014/main" id="{7D4C089F-DB0C-FB9F-D7B6-AD0448F4C1D6}"/>
              </a:ext>
            </a:extLst>
          </p:cNvPr>
          <p:cNvCxnSpPr>
            <a:cxnSpLocks/>
          </p:cNvCxnSpPr>
          <p:nvPr/>
        </p:nvCxnSpPr>
        <p:spPr bwMode="gray">
          <a:xfrm>
            <a:off x="1747099" y="3701108"/>
            <a:ext cx="0" cy="65913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1C65F9CB-E63C-2F18-D8EE-4A15D26134A3}"/>
              </a:ext>
            </a:extLst>
          </p:cNvPr>
          <p:cNvSpPr txBox="1">
            <a:spLocks noChangeAspect="1"/>
          </p:cNvSpPr>
          <p:nvPr/>
        </p:nvSpPr>
        <p:spPr>
          <a:xfrm>
            <a:off x="5132018"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82" name="Straight Connector 81">
            <a:extLst>
              <a:ext uri="{FF2B5EF4-FFF2-40B4-BE49-F238E27FC236}">
                <a16:creationId xmlns:a16="http://schemas.microsoft.com/office/drawing/2014/main" id="{9739566E-99B9-2F7F-0484-28E018D9F148}"/>
              </a:ext>
            </a:extLst>
          </p:cNvPr>
          <p:cNvCxnSpPr>
            <a:cxnSpLocks/>
          </p:cNvCxnSpPr>
          <p:nvPr/>
        </p:nvCxnSpPr>
        <p:spPr bwMode="gray">
          <a:xfrm>
            <a:off x="5402637" y="3701108"/>
            <a:ext cx="0" cy="65913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719D7F4E-EBC9-268D-F516-408C8E43C287}"/>
              </a:ext>
            </a:extLst>
          </p:cNvPr>
          <p:cNvSpPr txBox="1">
            <a:spLocks noChangeAspect="1"/>
          </p:cNvSpPr>
          <p:nvPr/>
        </p:nvSpPr>
        <p:spPr>
          <a:xfrm>
            <a:off x="6964467"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10" name="Straight Connector 109">
            <a:extLst>
              <a:ext uri="{FF2B5EF4-FFF2-40B4-BE49-F238E27FC236}">
                <a16:creationId xmlns:a16="http://schemas.microsoft.com/office/drawing/2014/main" id="{D1C60A43-8A6B-53B5-2B84-2EC0A8F42D35}"/>
              </a:ext>
            </a:extLst>
          </p:cNvPr>
          <p:cNvCxnSpPr>
            <a:cxnSpLocks/>
          </p:cNvCxnSpPr>
          <p:nvPr/>
        </p:nvCxnSpPr>
        <p:spPr bwMode="gray">
          <a:xfrm>
            <a:off x="7235086" y="3701108"/>
            <a:ext cx="0" cy="65913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9F3D45FF-5691-BAAB-71AB-811D7E8A7846}"/>
              </a:ext>
            </a:extLst>
          </p:cNvPr>
          <p:cNvSpPr txBox="1">
            <a:spLocks noChangeAspect="1"/>
          </p:cNvSpPr>
          <p:nvPr/>
        </p:nvSpPr>
        <p:spPr>
          <a:xfrm>
            <a:off x="3391521"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29" name="Straight Connector 128">
            <a:extLst>
              <a:ext uri="{FF2B5EF4-FFF2-40B4-BE49-F238E27FC236}">
                <a16:creationId xmlns:a16="http://schemas.microsoft.com/office/drawing/2014/main" id="{C2C1F2C8-AD78-BDF2-B38C-97F6723CF106}"/>
              </a:ext>
            </a:extLst>
          </p:cNvPr>
          <p:cNvCxnSpPr>
            <a:cxnSpLocks/>
          </p:cNvCxnSpPr>
          <p:nvPr/>
        </p:nvCxnSpPr>
        <p:spPr bwMode="gray">
          <a:xfrm>
            <a:off x="3055306"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0" name="Freeform 129">
            <a:extLst>
              <a:ext uri="{FF2B5EF4-FFF2-40B4-BE49-F238E27FC236}">
                <a16:creationId xmlns:a16="http://schemas.microsoft.com/office/drawing/2014/main" id="{377EEC5A-3676-F4A6-FD43-7AD96A0F4389}"/>
              </a:ext>
            </a:extLst>
          </p:cNvPr>
          <p:cNvSpPr>
            <a:spLocks noChangeAspect="1"/>
          </p:cNvSpPr>
          <p:nvPr/>
        </p:nvSpPr>
        <p:spPr>
          <a:xfrm>
            <a:off x="2847891"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31" name="Straight Connector 130">
            <a:extLst>
              <a:ext uri="{FF2B5EF4-FFF2-40B4-BE49-F238E27FC236}">
                <a16:creationId xmlns:a16="http://schemas.microsoft.com/office/drawing/2014/main" id="{EBB8B45E-3CFC-51F2-A0DF-14D85FF0B9F1}"/>
              </a:ext>
            </a:extLst>
          </p:cNvPr>
          <p:cNvCxnSpPr>
            <a:cxnSpLocks/>
          </p:cNvCxnSpPr>
          <p:nvPr/>
        </p:nvCxnSpPr>
        <p:spPr bwMode="gray">
          <a:xfrm>
            <a:off x="3497414"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54E9529-EF7D-5EF5-88D1-EF578A605F38}"/>
              </a:ext>
            </a:extLst>
          </p:cNvPr>
          <p:cNvCxnSpPr>
            <a:cxnSpLocks/>
          </p:cNvCxnSpPr>
          <p:nvPr/>
        </p:nvCxnSpPr>
        <p:spPr bwMode="gray">
          <a:xfrm>
            <a:off x="3261129"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3" name="Freeform 132">
            <a:extLst>
              <a:ext uri="{FF2B5EF4-FFF2-40B4-BE49-F238E27FC236}">
                <a16:creationId xmlns:a16="http://schemas.microsoft.com/office/drawing/2014/main" id="{820940ED-EF3A-443F-C808-3DFD8474C6FB}"/>
              </a:ext>
            </a:extLst>
          </p:cNvPr>
          <p:cNvSpPr>
            <a:spLocks noChangeAspect="1"/>
          </p:cNvSpPr>
          <p:nvPr/>
        </p:nvSpPr>
        <p:spPr>
          <a:xfrm>
            <a:off x="3036553"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34" name="Straight Connector 133">
            <a:extLst>
              <a:ext uri="{FF2B5EF4-FFF2-40B4-BE49-F238E27FC236}">
                <a16:creationId xmlns:a16="http://schemas.microsoft.com/office/drawing/2014/main" id="{D2EC289D-42D2-AFC0-F740-DEEDCF8C7F80}"/>
              </a:ext>
            </a:extLst>
          </p:cNvPr>
          <p:cNvCxnSpPr>
            <a:cxnSpLocks/>
          </p:cNvCxnSpPr>
          <p:nvPr/>
        </p:nvCxnSpPr>
        <p:spPr bwMode="gray">
          <a:xfrm>
            <a:off x="3620630"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7E9412F5-F99B-5291-B2F3-EDFCBD9F2708}"/>
              </a:ext>
            </a:extLst>
          </p:cNvPr>
          <p:cNvCxnSpPr>
            <a:cxnSpLocks/>
          </p:cNvCxnSpPr>
          <p:nvPr/>
        </p:nvCxnSpPr>
        <p:spPr bwMode="gray">
          <a:xfrm>
            <a:off x="3177553"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287B9314-C655-0133-29C2-8CF2F4AF01AE}"/>
              </a:ext>
            </a:extLst>
          </p:cNvPr>
          <p:cNvGrpSpPr/>
          <p:nvPr/>
        </p:nvGrpSpPr>
        <p:grpSpPr>
          <a:xfrm>
            <a:off x="3234755" y="5140064"/>
            <a:ext cx="269469" cy="395289"/>
            <a:chOff x="3513038" y="5316536"/>
            <a:chExt cx="269469" cy="395289"/>
          </a:xfrm>
        </p:grpSpPr>
        <p:grpSp>
          <p:nvGrpSpPr>
            <p:cNvPr id="273" name="Google Shape;3733;p22">
              <a:extLst>
                <a:ext uri="{FF2B5EF4-FFF2-40B4-BE49-F238E27FC236}">
                  <a16:creationId xmlns:a16="http://schemas.microsoft.com/office/drawing/2014/main" id="{DB776FDE-95A9-3D3D-3A59-88DBAEA44E69}"/>
                </a:ext>
              </a:extLst>
            </p:cNvPr>
            <p:cNvGrpSpPr/>
            <p:nvPr/>
          </p:nvGrpSpPr>
          <p:grpSpPr>
            <a:xfrm>
              <a:off x="3513038" y="5316536"/>
              <a:ext cx="269469" cy="269658"/>
              <a:chOff x="658852" y="4943630"/>
              <a:chExt cx="583799" cy="584209"/>
            </a:xfrm>
          </p:grpSpPr>
          <p:sp>
            <p:nvSpPr>
              <p:cNvPr id="275" name="Google Shape;3734;p22">
                <a:extLst>
                  <a:ext uri="{FF2B5EF4-FFF2-40B4-BE49-F238E27FC236}">
                    <a16:creationId xmlns:a16="http://schemas.microsoft.com/office/drawing/2014/main" id="{5A8B489C-133D-66C8-6F94-460FDD019009}"/>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76" name="Google Shape;3735;p22">
                <a:extLst>
                  <a:ext uri="{FF2B5EF4-FFF2-40B4-BE49-F238E27FC236}">
                    <a16:creationId xmlns:a16="http://schemas.microsoft.com/office/drawing/2014/main" id="{818311F1-A775-090A-6232-CAA5677CF071}"/>
                  </a:ext>
                </a:extLst>
              </p:cNvPr>
              <p:cNvGrpSpPr/>
              <p:nvPr/>
            </p:nvGrpSpPr>
            <p:grpSpPr>
              <a:xfrm>
                <a:off x="834156" y="5211637"/>
                <a:ext cx="216359" cy="78004"/>
                <a:chOff x="834156" y="5211637"/>
                <a:chExt cx="216359" cy="78004"/>
              </a:xfrm>
            </p:grpSpPr>
            <p:sp>
              <p:nvSpPr>
                <p:cNvPr id="277" name="Google Shape;3736;p22">
                  <a:extLst>
                    <a:ext uri="{FF2B5EF4-FFF2-40B4-BE49-F238E27FC236}">
                      <a16:creationId xmlns:a16="http://schemas.microsoft.com/office/drawing/2014/main" id="{15FB094B-EFCA-9350-054A-9B2AD54DA5E5}"/>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78" name="Google Shape;3737;p22">
                  <a:extLst>
                    <a:ext uri="{FF2B5EF4-FFF2-40B4-BE49-F238E27FC236}">
                      <a16:creationId xmlns:a16="http://schemas.microsoft.com/office/drawing/2014/main" id="{DC240827-96D9-E1B5-6605-9D9FB4B55E57}"/>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74" name="Straight Connector 273">
              <a:extLst>
                <a:ext uri="{FF2B5EF4-FFF2-40B4-BE49-F238E27FC236}">
                  <a16:creationId xmlns:a16="http://schemas.microsoft.com/office/drawing/2014/main" id="{83034F64-F4BE-4E02-B2CF-C03797525A94}"/>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229DEABA-9FBE-A214-B82D-FECA5E9D7655}"/>
              </a:ext>
            </a:extLst>
          </p:cNvPr>
          <p:cNvSpPr txBox="1">
            <a:spLocks noChangeAspect="1"/>
          </p:cNvSpPr>
          <p:nvPr/>
        </p:nvSpPr>
        <p:spPr>
          <a:xfrm>
            <a:off x="5222890"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39" name="Straight Connector 138">
            <a:extLst>
              <a:ext uri="{FF2B5EF4-FFF2-40B4-BE49-F238E27FC236}">
                <a16:creationId xmlns:a16="http://schemas.microsoft.com/office/drawing/2014/main" id="{0033D95A-D3F8-D5D9-26A5-AE5350F5BE47}"/>
              </a:ext>
            </a:extLst>
          </p:cNvPr>
          <p:cNvCxnSpPr>
            <a:cxnSpLocks/>
          </p:cNvCxnSpPr>
          <p:nvPr/>
        </p:nvCxnSpPr>
        <p:spPr bwMode="gray">
          <a:xfrm>
            <a:off x="48887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1" name="Freeform 140">
            <a:extLst>
              <a:ext uri="{FF2B5EF4-FFF2-40B4-BE49-F238E27FC236}">
                <a16:creationId xmlns:a16="http://schemas.microsoft.com/office/drawing/2014/main" id="{AFC699C0-EEEB-2643-F5C5-6489F7DAD2F0}"/>
              </a:ext>
            </a:extLst>
          </p:cNvPr>
          <p:cNvSpPr>
            <a:spLocks noChangeAspect="1"/>
          </p:cNvSpPr>
          <p:nvPr/>
        </p:nvSpPr>
        <p:spPr>
          <a:xfrm>
            <a:off x="46813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42" name="Straight Connector 141">
            <a:extLst>
              <a:ext uri="{FF2B5EF4-FFF2-40B4-BE49-F238E27FC236}">
                <a16:creationId xmlns:a16="http://schemas.microsoft.com/office/drawing/2014/main" id="{07C22A43-9D52-595E-E940-CC4FF5A13467}"/>
              </a:ext>
            </a:extLst>
          </p:cNvPr>
          <p:cNvCxnSpPr>
            <a:cxnSpLocks/>
          </p:cNvCxnSpPr>
          <p:nvPr/>
        </p:nvCxnSpPr>
        <p:spPr bwMode="gray">
          <a:xfrm>
            <a:off x="53308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F0CDCF8D-8826-D8D5-43DE-E7CF9F654644}"/>
              </a:ext>
            </a:extLst>
          </p:cNvPr>
          <p:cNvCxnSpPr>
            <a:cxnSpLocks/>
          </p:cNvCxnSpPr>
          <p:nvPr/>
        </p:nvCxnSpPr>
        <p:spPr bwMode="gray">
          <a:xfrm>
            <a:off x="50945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4" name="Freeform 173">
            <a:extLst>
              <a:ext uri="{FF2B5EF4-FFF2-40B4-BE49-F238E27FC236}">
                <a16:creationId xmlns:a16="http://schemas.microsoft.com/office/drawing/2014/main" id="{A54D9002-7E27-F216-993D-6F2B0112179B}"/>
              </a:ext>
            </a:extLst>
          </p:cNvPr>
          <p:cNvSpPr>
            <a:spLocks noChangeAspect="1"/>
          </p:cNvSpPr>
          <p:nvPr/>
        </p:nvSpPr>
        <p:spPr>
          <a:xfrm>
            <a:off x="48699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75" name="Straight Connector 174">
            <a:extLst>
              <a:ext uri="{FF2B5EF4-FFF2-40B4-BE49-F238E27FC236}">
                <a16:creationId xmlns:a16="http://schemas.microsoft.com/office/drawing/2014/main" id="{FE17E418-8BAA-012E-9AED-F16F624F290B}"/>
              </a:ext>
            </a:extLst>
          </p:cNvPr>
          <p:cNvCxnSpPr>
            <a:cxnSpLocks/>
          </p:cNvCxnSpPr>
          <p:nvPr/>
        </p:nvCxnSpPr>
        <p:spPr bwMode="gray">
          <a:xfrm>
            <a:off x="54540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83F5DE76-5AA1-3E6B-579B-171CF7A7FBE3}"/>
              </a:ext>
            </a:extLst>
          </p:cNvPr>
          <p:cNvCxnSpPr>
            <a:cxnSpLocks/>
          </p:cNvCxnSpPr>
          <p:nvPr/>
        </p:nvCxnSpPr>
        <p:spPr bwMode="gray">
          <a:xfrm>
            <a:off x="50109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178" name="Group 177">
            <a:extLst>
              <a:ext uri="{FF2B5EF4-FFF2-40B4-BE49-F238E27FC236}">
                <a16:creationId xmlns:a16="http://schemas.microsoft.com/office/drawing/2014/main" id="{D17F0233-F996-B2E5-EC10-2070E0F94E3E}"/>
              </a:ext>
            </a:extLst>
          </p:cNvPr>
          <p:cNvGrpSpPr/>
          <p:nvPr/>
        </p:nvGrpSpPr>
        <p:grpSpPr>
          <a:xfrm>
            <a:off x="5068190" y="5140064"/>
            <a:ext cx="269469" cy="395289"/>
            <a:chOff x="3513038" y="5316536"/>
            <a:chExt cx="269469" cy="395289"/>
          </a:xfrm>
        </p:grpSpPr>
        <p:grpSp>
          <p:nvGrpSpPr>
            <p:cNvPr id="263" name="Google Shape;3733;p22">
              <a:extLst>
                <a:ext uri="{FF2B5EF4-FFF2-40B4-BE49-F238E27FC236}">
                  <a16:creationId xmlns:a16="http://schemas.microsoft.com/office/drawing/2014/main" id="{252A7793-587D-06EE-D0D8-AE05D9A3BF1A}"/>
                </a:ext>
              </a:extLst>
            </p:cNvPr>
            <p:cNvGrpSpPr/>
            <p:nvPr/>
          </p:nvGrpSpPr>
          <p:grpSpPr>
            <a:xfrm>
              <a:off x="3513038" y="5316536"/>
              <a:ext cx="269469" cy="269658"/>
              <a:chOff x="658852" y="4943630"/>
              <a:chExt cx="583799" cy="584209"/>
            </a:xfrm>
          </p:grpSpPr>
          <p:sp>
            <p:nvSpPr>
              <p:cNvPr id="265" name="Google Shape;3734;p22">
                <a:extLst>
                  <a:ext uri="{FF2B5EF4-FFF2-40B4-BE49-F238E27FC236}">
                    <a16:creationId xmlns:a16="http://schemas.microsoft.com/office/drawing/2014/main" id="{658972D9-8E8E-D129-D9A7-0F5A903238B7}"/>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66" name="Google Shape;3735;p22">
                <a:extLst>
                  <a:ext uri="{FF2B5EF4-FFF2-40B4-BE49-F238E27FC236}">
                    <a16:creationId xmlns:a16="http://schemas.microsoft.com/office/drawing/2014/main" id="{0B340E7D-FFA5-949B-7C72-36CC6DBE0649}"/>
                  </a:ext>
                </a:extLst>
              </p:cNvPr>
              <p:cNvGrpSpPr/>
              <p:nvPr/>
            </p:nvGrpSpPr>
            <p:grpSpPr>
              <a:xfrm>
                <a:off x="834156" y="5211637"/>
                <a:ext cx="216359" cy="78004"/>
                <a:chOff x="834156" y="5211637"/>
                <a:chExt cx="216359" cy="78004"/>
              </a:xfrm>
            </p:grpSpPr>
            <p:sp>
              <p:nvSpPr>
                <p:cNvPr id="267" name="Google Shape;3736;p22">
                  <a:extLst>
                    <a:ext uri="{FF2B5EF4-FFF2-40B4-BE49-F238E27FC236}">
                      <a16:creationId xmlns:a16="http://schemas.microsoft.com/office/drawing/2014/main" id="{2146236E-D20D-C0CF-A3BD-1A5AF003292B}"/>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68" name="Google Shape;3737;p22">
                  <a:extLst>
                    <a:ext uri="{FF2B5EF4-FFF2-40B4-BE49-F238E27FC236}">
                      <a16:creationId xmlns:a16="http://schemas.microsoft.com/office/drawing/2014/main" id="{7042FA79-062A-A763-8005-A7F090E75638}"/>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64" name="Straight Connector 263">
              <a:extLst>
                <a:ext uri="{FF2B5EF4-FFF2-40B4-BE49-F238E27FC236}">
                  <a16:creationId xmlns:a16="http://schemas.microsoft.com/office/drawing/2014/main" id="{94A6A021-F13A-232D-E4BE-17846B877F63}"/>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179" name="TextBox 178">
            <a:extLst>
              <a:ext uri="{FF2B5EF4-FFF2-40B4-BE49-F238E27FC236}">
                <a16:creationId xmlns:a16="http://schemas.microsoft.com/office/drawing/2014/main" id="{7E92EBFF-4EA3-91F1-5658-241741AA60FB}"/>
              </a:ext>
            </a:extLst>
          </p:cNvPr>
          <p:cNvSpPr txBox="1">
            <a:spLocks noChangeAspect="1"/>
          </p:cNvSpPr>
          <p:nvPr/>
        </p:nvSpPr>
        <p:spPr>
          <a:xfrm>
            <a:off x="7055339"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180" name="Straight Connector 179">
            <a:extLst>
              <a:ext uri="{FF2B5EF4-FFF2-40B4-BE49-F238E27FC236}">
                <a16:creationId xmlns:a16="http://schemas.microsoft.com/office/drawing/2014/main" id="{B3DCB988-AEAE-6377-5A38-8469BB1CA4CE}"/>
              </a:ext>
            </a:extLst>
          </p:cNvPr>
          <p:cNvCxnSpPr>
            <a:cxnSpLocks/>
          </p:cNvCxnSpPr>
          <p:nvPr/>
        </p:nvCxnSpPr>
        <p:spPr bwMode="gray">
          <a:xfrm>
            <a:off x="67175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3" name="Freeform 202">
            <a:extLst>
              <a:ext uri="{FF2B5EF4-FFF2-40B4-BE49-F238E27FC236}">
                <a16:creationId xmlns:a16="http://schemas.microsoft.com/office/drawing/2014/main" id="{D6816E98-8447-BB16-58CB-0BC75E46CCF8}"/>
              </a:ext>
            </a:extLst>
          </p:cNvPr>
          <p:cNvSpPr>
            <a:spLocks noChangeAspect="1"/>
          </p:cNvSpPr>
          <p:nvPr/>
        </p:nvSpPr>
        <p:spPr>
          <a:xfrm>
            <a:off x="65101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04" name="Straight Connector 203">
            <a:extLst>
              <a:ext uri="{FF2B5EF4-FFF2-40B4-BE49-F238E27FC236}">
                <a16:creationId xmlns:a16="http://schemas.microsoft.com/office/drawing/2014/main" id="{E0502011-803D-6C9D-80BB-821CD1C0B729}"/>
              </a:ext>
            </a:extLst>
          </p:cNvPr>
          <p:cNvCxnSpPr>
            <a:cxnSpLocks/>
          </p:cNvCxnSpPr>
          <p:nvPr/>
        </p:nvCxnSpPr>
        <p:spPr bwMode="gray">
          <a:xfrm>
            <a:off x="71596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D83DB366-791A-EAFA-6C39-C30820B2E6EC}"/>
              </a:ext>
            </a:extLst>
          </p:cNvPr>
          <p:cNvCxnSpPr>
            <a:cxnSpLocks/>
          </p:cNvCxnSpPr>
          <p:nvPr/>
        </p:nvCxnSpPr>
        <p:spPr bwMode="gray">
          <a:xfrm>
            <a:off x="69233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6" name="Freeform 205">
            <a:extLst>
              <a:ext uri="{FF2B5EF4-FFF2-40B4-BE49-F238E27FC236}">
                <a16:creationId xmlns:a16="http://schemas.microsoft.com/office/drawing/2014/main" id="{898C7AF1-CAFF-BD23-6E9D-7ECF50ECB6A0}"/>
              </a:ext>
            </a:extLst>
          </p:cNvPr>
          <p:cNvSpPr>
            <a:spLocks noChangeAspect="1"/>
          </p:cNvSpPr>
          <p:nvPr/>
        </p:nvSpPr>
        <p:spPr>
          <a:xfrm>
            <a:off x="66987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07" name="Straight Connector 206">
            <a:extLst>
              <a:ext uri="{FF2B5EF4-FFF2-40B4-BE49-F238E27FC236}">
                <a16:creationId xmlns:a16="http://schemas.microsoft.com/office/drawing/2014/main" id="{3303D621-43BC-0C57-3F09-40B64AC81F29}"/>
              </a:ext>
            </a:extLst>
          </p:cNvPr>
          <p:cNvCxnSpPr>
            <a:cxnSpLocks/>
          </p:cNvCxnSpPr>
          <p:nvPr/>
        </p:nvCxnSpPr>
        <p:spPr bwMode="gray">
          <a:xfrm>
            <a:off x="72828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C86F8E3D-5A02-7BE4-F4FB-996A12701BAD}"/>
              </a:ext>
            </a:extLst>
          </p:cNvPr>
          <p:cNvCxnSpPr>
            <a:cxnSpLocks/>
          </p:cNvCxnSpPr>
          <p:nvPr/>
        </p:nvCxnSpPr>
        <p:spPr bwMode="gray">
          <a:xfrm>
            <a:off x="68397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210" name="Group 209">
            <a:extLst>
              <a:ext uri="{FF2B5EF4-FFF2-40B4-BE49-F238E27FC236}">
                <a16:creationId xmlns:a16="http://schemas.microsoft.com/office/drawing/2014/main" id="{812BAB7D-7CC4-9B7C-084D-930F6C487012}"/>
              </a:ext>
            </a:extLst>
          </p:cNvPr>
          <p:cNvGrpSpPr/>
          <p:nvPr/>
        </p:nvGrpSpPr>
        <p:grpSpPr>
          <a:xfrm>
            <a:off x="6896990" y="5140064"/>
            <a:ext cx="269469" cy="395289"/>
            <a:chOff x="3513038" y="5316536"/>
            <a:chExt cx="269469" cy="395289"/>
          </a:xfrm>
        </p:grpSpPr>
        <p:grpSp>
          <p:nvGrpSpPr>
            <p:cNvPr id="253" name="Google Shape;3733;p22">
              <a:extLst>
                <a:ext uri="{FF2B5EF4-FFF2-40B4-BE49-F238E27FC236}">
                  <a16:creationId xmlns:a16="http://schemas.microsoft.com/office/drawing/2014/main" id="{50337001-CC79-AFB4-74DA-BDF7E28FB968}"/>
                </a:ext>
              </a:extLst>
            </p:cNvPr>
            <p:cNvGrpSpPr/>
            <p:nvPr/>
          </p:nvGrpSpPr>
          <p:grpSpPr>
            <a:xfrm>
              <a:off x="3513038" y="5316536"/>
              <a:ext cx="269469" cy="269658"/>
              <a:chOff x="658852" y="4943630"/>
              <a:chExt cx="583799" cy="584209"/>
            </a:xfrm>
          </p:grpSpPr>
          <p:sp>
            <p:nvSpPr>
              <p:cNvPr id="255" name="Google Shape;3734;p22">
                <a:extLst>
                  <a:ext uri="{FF2B5EF4-FFF2-40B4-BE49-F238E27FC236}">
                    <a16:creationId xmlns:a16="http://schemas.microsoft.com/office/drawing/2014/main" id="{DD30BEF9-44E4-F193-9859-C0D34D02A5EE}"/>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56" name="Google Shape;3735;p22">
                <a:extLst>
                  <a:ext uri="{FF2B5EF4-FFF2-40B4-BE49-F238E27FC236}">
                    <a16:creationId xmlns:a16="http://schemas.microsoft.com/office/drawing/2014/main" id="{4A9A6CAD-DDB1-6DFC-4176-7341DF755A51}"/>
                  </a:ext>
                </a:extLst>
              </p:cNvPr>
              <p:cNvGrpSpPr/>
              <p:nvPr/>
            </p:nvGrpSpPr>
            <p:grpSpPr>
              <a:xfrm>
                <a:off x="834156" y="5211637"/>
                <a:ext cx="216359" cy="78004"/>
                <a:chOff x="834156" y="5211637"/>
                <a:chExt cx="216359" cy="78004"/>
              </a:xfrm>
            </p:grpSpPr>
            <p:sp>
              <p:nvSpPr>
                <p:cNvPr id="257" name="Google Shape;3736;p22">
                  <a:extLst>
                    <a:ext uri="{FF2B5EF4-FFF2-40B4-BE49-F238E27FC236}">
                      <a16:creationId xmlns:a16="http://schemas.microsoft.com/office/drawing/2014/main" id="{712EBF7A-F0BA-9C9E-E887-3472730DE505}"/>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58" name="Google Shape;3737;p22">
                  <a:extLst>
                    <a:ext uri="{FF2B5EF4-FFF2-40B4-BE49-F238E27FC236}">
                      <a16:creationId xmlns:a16="http://schemas.microsoft.com/office/drawing/2014/main" id="{BFD228EA-CE52-73C1-A66F-198DAB374020}"/>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54" name="Straight Connector 253">
              <a:extLst>
                <a:ext uri="{FF2B5EF4-FFF2-40B4-BE49-F238E27FC236}">
                  <a16:creationId xmlns:a16="http://schemas.microsoft.com/office/drawing/2014/main" id="{AAB7D57E-A485-0B79-F845-61358D70C473}"/>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233" name="TextBox 232">
            <a:extLst>
              <a:ext uri="{FF2B5EF4-FFF2-40B4-BE49-F238E27FC236}">
                <a16:creationId xmlns:a16="http://schemas.microsoft.com/office/drawing/2014/main" id="{AF4F9D17-B634-FC79-C038-A68C71A4DCE4}"/>
              </a:ext>
            </a:extLst>
          </p:cNvPr>
          <p:cNvSpPr txBox="1">
            <a:spLocks noChangeAspect="1"/>
          </p:cNvSpPr>
          <p:nvPr/>
        </p:nvSpPr>
        <p:spPr>
          <a:xfrm>
            <a:off x="1567352" y="4365528"/>
            <a:ext cx="359495" cy="360000"/>
          </a:xfrm>
          <a:custGeom>
            <a:avLst/>
            <a:gdLst/>
            <a:ahLst/>
            <a:cxnLst/>
            <a:rect l="l" t="t" r="r" b="b"/>
            <a:pathLst>
              <a:path w="1139359" h="1139359">
                <a:moveTo>
                  <a:pt x="504594" y="524233"/>
                </a:moveTo>
                <a:lnTo>
                  <a:pt x="523151" y="524233"/>
                </a:lnTo>
                <a:lnTo>
                  <a:pt x="556818" y="618343"/>
                </a:lnTo>
                <a:cubicBezTo>
                  <a:pt x="559528" y="625884"/>
                  <a:pt x="561796" y="632953"/>
                  <a:pt x="563623" y="639551"/>
                </a:cubicBezTo>
                <a:cubicBezTo>
                  <a:pt x="565625" y="632482"/>
                  <a:pt x="567952" y="625412"/>
                  <a:pt x="570603" y="618343"/>
                </a:cubicBezTo>
                <a:lnTo>
                  <a:pt x="605597" y="524233"/>
                </a:lnTo>
                <a:lnTo>
                  <a:pt x="623093" y="524233"/>
                </a:lnTo>
                <a:lnTo>
                  <a:pt x="572371" y="653778"/>
                </a:lnTo>
                <a:lnTo>
                  <a:pt x="554786" y="653778"/>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5"/>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234" name="Straight Connector 233">
            <a:extLst>
              <a:ext uri="{FF2B5EF4-FFF2-40B4-BE49-F238E27FC236}">
                <a16:creationId xmlns:a16="http://schemas.microsoft.com/office/drawing/2014/main" id="{74BBD5C9-439D-41AD-272E-62A4A93FA983}"/>
              </a:ext>
            </a:extLst>
          </p:cNvPr>
          <p:cNvCxnSpPr>
            <a:cxnSpLocks/>
          </p:cNvCxnSpPr>
          <p:nvPr/>
        </p:nvCxnSpPr>
        <p:spPr bwMode="gray">
          <a:xfrm>
            <a:off x="1231141" y="5027080"/>
            <a:ext cx="509036"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5" name="Freeform 234">
            <a:extLst>
              <a:ext uri="{FF2B5EF4-FFF2-40B4-BE49-F238E27FC236}">
                <a16:creationId xmlns:a16="http://schemas.microsoft.com/office/drawing/2014/main" id="{6801CD52-07BA-2E50-6CC4-DFC0DA0BBC2C}"/>
              </a:ext>
            </a:extLst>
          </p:cNvPr>
          <p:cNvSpPr>
            <a:spLocks noChangeAspect="1"/>
          </p:cNvSpPr>
          <p:nvPr/>
        </p:nvSpPr>
        <p:spPr>
          <a:xfrm>
            <a:off x="1023726" y="4940227"/>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36" name="Straight Connector 235">
            <a:extLst>
              <a:ext uri="{FF2B5EF4-FFF2-40B4-BE49-F238E27FC236}">
                <a16:creationId xmlns:a16="http://schemas.microsoft.com/office/drawing/2014/main" id="{39FDAA68-7A51-D597-75F9-E6AF9A4C2706}"/>
              </a:ext>
            </a:extLst>
          </p:cNvPr>
          <p:cNvCxnSpPr>
            <a:cxnSpLocks/>
          </p:cNvCxnSpPr>
          <p:nvPr/>
        </p:nvCxnSpPr>
        <p:spPr bwMode="gray">
          <a:xfrm>
            <a:off x="1673249" y="4715872"/>
            <a:ext cx="0" cy="290031"/>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563F3D72-DB81-456C-69EF-6B70DBD756F0}"/>
              </a:ext>
            </a:extLst>
          </p:cNvPr>
          <p:cNvCxnSpPr>
            <a:cxnSpLocks/>
          </p:cNvCxnSpPr>
          <p:nvPr/>
        </p:nvCxnSpPr>
        <p:spPr bwMode="gray">
          <a:xfrm>
            <a:off x="1436964" y="5538113"/>
            <a:ext cx="402192" cy="0"/>
          </a:xfrm>
          <a:prstGeom prst="line">
            <a:avLst/>
          </a:prstGeom>
          <a:ln w="25400" cap="rnd">
            <a:solidFill>
              <a:schemeClr val="accent5"/>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8" name="Freeform 237">
            <a:extLst>
              <a:ext uri="{FF2B5EF4-FFF2-40B4-BE49-F238E27FC236}">
                <a16:creationId xmlns:a16="http://schemas.microsoft.com/office/drawing/2014/main" id="{956FC322-61AF-CFEC-B9C0-0FD30F70F279}"/>
              </a:ext>
            </a:extLst>
          </p:cNvPr>
          <p:cNvSpPr>
            <a:spLocks noChangeAspect="1"/>
          </p:cNvSpPr>
          <p:nvPr/>
        </p:nvSpPr>
        <p:spPr>
          <a:xfrm>
            <a:off x="1212388" y="5459928"/>
            <a:ext cx="178498" cy="180000"/>
          </a:xfrm>
          <a:custGeom>
            <a:avLst/>
            <a:gdLst>
              <a:gd name="connsiteX0" fmla="*/ 226866 w 265133"/>
              <a:gd name="connsiteY0" fmla="*/ 204597 h 267367"/>
              <a:gd name="connsiteX1" fmla="*/ 235181 w 265133"/>
              <a:gd name="connsiteY1" fmla="*/ 212884 h 267367"/>
              <a:gd name="connsiteX2" fmla="*/ 226866 w 265133"/>
              <a:gd name="connsiteY2" fmla="*/ 221171 h 267367"/>
              <a:gd name="connsiteX3" fmla="*/ 218551 w 265133"/>
              <a:gd name="connsiteY3" fmla="*/ 212884 h 267367"/>
              <a:gd name="connsiteX4" fmla="*/ 226866 w 265133"/>
              <a:gd name="connsiteY4" fmla="*/ 204597 h 267367"/>
              <a:gd name="connsiteX5" fmla="*/ 193701 w 265133"/>
              <a:gd name="connsiteY5" fmla="*/ 204597 h 267367"/>
              <a:gd name="connsiteX6" fmla="*/ 202016 w 265133"/>
              <a:gd name="connsiteY6" fmla="*/ 204597 h 267367"/>
              <a:gd name="connsiteX7" fmla="*/ 210331 w 265133"/>
              <a:gd name="connsiteY7" fmla="*/ 212884 h 267367"/>
              <a:gd name="connsiteX8" fmla="*/ 202016 w 265133"/>
              <a:gd name="connsiteY8" fmla="*/ 221171 h 267367"/>
              <a:gd name="connsiteX9" fmla="*/ 193701 w 265133"/>
              <a:gd name="connsiteY9" fmla="*/ 221171 h 267367"/>
              <a:gd name="connsiteX10" fmla="*/ 185386 w 265133"/>
              <a:gd name="connsiteY10" fmla="*/ 212884 h 267367"/>
              <a:gd name="connsiteX11" fmla="*/ 193701 w 265133"/>
              <a:gd name="connsiteY11" fmla="*/ 204597 h 267367"/>
              <a:gd name="connsiteX12" fmla="*/ 129733 w 265133"/>
              <a:gd name="connsiteY12" fmla="*/ 182214 h 267367"/>
              <a:gd name="connsiteX13" fmla="*/ 141449 w 265133"/>
              <a:gd name="connsiteY13" fmla="*/ 182214 h 267367"/>
              <a:gd name="connsiteX14" fmla="*/ 141449 w 265133"/>
              <a:gd name="connsiteY14" fmla="*/ 193930 h 267367"/>
              <a:gd name="connsiteX15" fmla="*/ 130772 w 265133"/>
              <a:gd name="connsiteY15" fmla="*/ 204598 h 267367"/>
              <a:gd name="connsiteX16" fmla="*/ 168756 w 265133"/>
              <a:gd name="connsiteY16" fmla="*/ 204598 h 267367"/>
              <a:gd name="connsiteX17" fmla="*/ 177166 w 265133"/>
              <a:gd name="connsiteY17" fmla="*/ 212884 h 267367"/>
              <a:gd name="connsiteX18" fmla="*/ 177166 w 265133"/>
              <a:gd name="connsiteY18" fmla="*/ 213075 h 267367"/>
              <a:gd name="connsiteX19" fmla="*/ 168851 w 265133"/>
              <a:gd name="connsiteY19" fmla="*/ 221362 h 267367"/>
              <a:gd name="connsiteX20" fmla="*/ 130772 w 265133"/>
              <a:gd name="connsiteY20" fmla="*/ 221362 h 267367"/>
              <a:gd name="connsiteX21" fmla="*/ 141449 w 265133"/>
              <a:gd name="connsiteY21" fmla="*/ 232030 h 267367"/>
              <a:gd name="connsiteX22" fmla="*/ 141449 w 265133"/>
              <a:gd name="connsiteY22" fmla="*/ 243745 h 267367"/>
              <a:gd name="connsiteX23" fmla="*/ 135591 w 265133"/>
              <a:gd name="connsiteY23" fmla="*/ 246127 h 267367"/>
              <a:gd name="connsiteX24" fmla="*/ 129733 w 265133"/>
              <a:gd name="connsiteY24" fmla="*/ 243745 h 267367"/>
              <a:gd name="connsiteX25" fmla="*/ 104882 w 265133"/>
              <a:gd name="connsiteY25" fmla="*/ 218885 h 267367"/>
              <a:gd name="connsiteX26" fmla="*/ 99024 w 265133"/>
              <a:gd name="connsiteY26" fmla="*/ 212980 h 267367"/>
              <a:gd name="connsiteX27" fmla="*/ 104882 w 265133"/>
              <a:gd name="connsiteY27" fmla="*/ 207074 h 267367"/>
              <a:gd name="connsiteX28" fmla="*/ 135685 w 265133"/>
              <a:gd name="connsiteY28" fmla="*/ 146685 h 267367"/>
              <a:gd name="connsiteX29" fmla="*/ 144000 w 265133"/>
              <a:gd name="connsiteY29" fmla="*/ 146685 h 267367"/>
              <a:gd name="connsiteX30" fmla="*/ 152315 w 265133"/>
              <a:gd name="connsiteY30" fmla="*/ 154972 h 267367"/>
              <a:gd name="connsiteX31" fmla="*/ 144000 w 265133"/>
              <a:gd name="connsiteY31" fmla="*/ 163258 h 267367"/>
              <a:gd name="connsiteX32" fmla="*/ 135685 w 265133"/>
              <a:gd name="connsiteY32" fmla="*/ 163258 h 267367"/>
              <a:gd name="connsiteX33" fmla="*/ 127370 w 265133"/>
              <a:gd name="connsiteY33" fmla="*/ 154972 h 267367"/>
              <a:gd name="connsiteX34" fmla="*/ 135685 w 265133"/>
              <a:gd name="connsiteY34" fmla="*/ 146685 h 267367"/>
              <a:gd name="connsiteX35" fmla="*/ 110835 w 265133"/>
              <a:gd name="connsiteY35" fmla="*/ 146685 h 267367"/>
              <a:gd name="connsiteX36" fmla="*/ 119150 w 265133"/>
              <a:gd name="connsiteY36" fmla="*/ 154972 h 267367"/>
              <a:gd name="connsiteX37" fmla="*/ 110835 w 265133"/>
              <a:gd name="connsiteY37" fmla="*/ 163258 h 267367"/>
              <a:gd name="connsiteX38" fmla="*/ 102520 w 265133"/>
              <a:gd name="connsiteY38" fmla="*/ 154972 h 267367"/>
              <a:gd name="connsiteX39" fmla="*/ 110835 w 265133"/>
              <a:gd name="connsiteY39" fmla="*/ 146685 h 267367"/>
              <a:gd name="connsiteX40" fmla="*/ 196251 w 265133"/>
              <a:gd name="connsiteY40" fmla="*/ 124111 h 267367"/>
              <a:gd name="connsiteX41" fmla="*/ 207968 w 265133"/>
              <a:gd name="connsiteY41" fmla="*/ 124111 h 267367"/>
              <a:gd name="connsiteX42" fmla="*/ 232818 w 265133"/>
              <a:gd name="connsiteY42" fmla="*/ 148971 h 267367"/>
              <a:gd name="connsiteX43" fmla="*/ 238677 w 265133"/>
              <a:gd name="connsiteY43" fmla="*/ 154877 h 267367"/>
              <a:gd name="connsiteX44" fmla="*/ 232818 w 265133"/>
              <a:gd name="connsiteY44" fmla="*/ 160782 h 267367"/>
              <a:gd name="connsiteX45" fmla="*/ 207968 w 265133"/>
              <a:gd name="connsiteY45" fmla="*/ 185642 h 267367"/>
              <a:gd name="connsiteX46" fmla="*/ 202110 w 265133"/>
              <a:gd name="connsiteY46" fmla="*/ 188024 h 267367"/>
              <a:gd name="connsiteX47" fmla="*/ 196251 w 265133"/>
              <a:gd name="connsiteY47" fmla="*/ 185642 h 267367"/>
              <a:gd name="connsiteX48" fmla="*/ 196251 w 265133"/>
              <a:gd name="connsiteY48" fmla="*/ 173927 h 267367"/>
              <a:gd name="connsiteX49" fmla="*/ 206929 w 265133"/>
              <a:gd name="connsiteY49" fmla="*/ 163259 h 267367"/>
              <a:gd name="connsiteX50" fmla="*/ 168850 w 265133"/>
              <a:gd name="connsiteY50" fmla="*/ 163259 h 267367"/>
              <a:gd name="connsiteX51" fmla="*/ 160535 w 265133"/>
              <a:gd name="connsiteY51" fmla="*/ 154972 h 267367"/>
              <a:gd name="connsiteX52" fmla="*/ 168850 w 265133"/>
              <a:gd name="connsiteY52" fmla="*/ 146685 h 267367"/>
              <a:gd name="connsiteX53" fmla="*/ 206929 w 265133"/>
              <a:gd name="connsiteY53" fmla="*/ 146685 h 267367"/>
              <a:gd name="connsiteX54" fmla="*/ 206929 w 265133"/>
              <a:gd name="connsiteY54" fmla="*/ 146495 h 267367"/>
              <a:gd name="connsiteX55" fmla="*/ 196251 w 265133"/>
              <a:gd name="connsiteY55" fmla="*/ 135827 h 267367"/>
              <a:gd name="connsiteX56" fmla="*/ 196251 w 265133"/>
              <a:gd name="connsiteY56" fmla="*/ 124111 h 267367"/>
              <a:gd name="connsiteX57" fmla="*/ 90236 w 265133"/>
              <a:gd name="connsiteY57" fmla="*/ 117158 h 267367"/>
              <a:gd name="connsiteX58" fmla="*/ 90236 w 265133"/>
              <a:gd name="connsiteY58" fmla="*/ 250794 h 267367"/>
              <a:gd name="connsiteX59" fmla="*/ 248503 w 265133"/>
              <a:gd name="connsiteY59" fmla="*/ 250794 h 267367"/>
              <a:gd name="connsiteX60" fmla="*/ 248503 w 265133"/>
              <a:gd name="connsiteY60" fmla="*/ 117158 h 267367"/>
              <a:gd name="connsiteX61" fmla="*/ 90236 w 265133"/>
              <a:gd name="connsiteY61" fmla="*/ 100394 h 267367"/>
              <a:gd name="connsiteX62" fmla="*/ 248503 w 265133"/>
              <a:gd name="connsiteY62" fmla="*/ 100394 h 267367"/>
              <a:gd name="connsiteX63" fmla="*/ 265133 w 265133"/>
              <a:gd name="connsiteY63" fmla="*/ 117063 h 267367"/>
              <a:gd name="connsiteX64" fmla="*/ 265133 w 265133"/>
              <a:gd name="connsiteY64" fmla="*/ 250698 h 267367"/>
              <a:gd name="connsiteX65" fmla="*/ 248503 w 265133"/>
              <a:gd name="connsiteY65" fmla="*/ 267367 h 267367"/>
              <a:gd name="connsiteX66" fmla="*/ 90236 w 265133"/>
              <a:gd name="connsiteY66" fmla="*/ 267367 h 267367"/>
              <a:gd name="connsiteX67" fmla="*/ 73606 w 265133"/>
              <a:gd name="connsiteY67" fmla="*/ 250698 h 267367"/>
              <a:gd name="connsiteX68" fmla="*/ 73606 w 265133"/>
              <a:gd name="connsiteY68" fmla="*/ 117063 h 267367"/>
              <a:gd name="connsiteX69" fmla="*/ 90236 w 265133"/>
              <a:gd name="connsiteY69" fmla="*/ 100394 h 267367"/>
              <a:gd name="connsiteX70" fmla="*/ 117827 w 265133"/>
              <a:gd name="connsiteY70" fmla="*/ 0 h 267367"/>
              <a:gd name="connsiteX71" fmla="*/ 199748 w 265133"/>
              <a:gd name="connsiteY71" fmla="*/ 75533 h 267367"/>
              <a:gd name="connsiteX72" fmla="*/ 200126 w 265133"/>
              <a:gd name="connsiteY72" fmla="*/ 81248 h 267367"/>
              <a:gd name="connsiteX73" fmla="*/ 181134 w 265133"/>
              <a:gd name="connsiteY73" fmla="*/ 81248 h 267367"/>
              <a:gd name="connsiteX74" fmla="*/ 117827 w 265133"/>
              <a:gd name="connsiteY74" fmla="*/ 18955 h 267367"/>
              <a:gd name="connsiteX75" fmla="*/ 54425 w 265133"/>
              <a:gd name="connsiteY75" fmla="*/ 82772 h 267367"/>
              <a:gd name="connsiteX76" fmla="*/ 47433 w 265133"/>
              <a:gd name="connsiteY76" fmla="*/ 91916 h 267367"/>
              <a:gd name="connsiteX77" fmla="*/ 26859 w 265133"/>
              <a:gd name="connsiteY77" fmla="*/ 105954 h 267367"/>
              <a:gd name="connsiteX78" fmla="*/ 18915 w 265133"/>
              <a:gd name="connsiteY78" fmla="*/ 129584 h 267367"/>
              <a:gd name="connsiteX79" fmla="*/ 18898 w 265133"/>
              <a:gd name="connsiteY79" fmla="*/ 129540 h 267367"/>
              <a:gd name="connsiteX80" fmla="*/ 18898 w 265133"/>
              <a:gd name="connsiteY80" fmla="*/ 129635 h 267367"/>
              <a:gd name="connsiteX81" fmla="*/ 18915 w 265133"/>
              <a:gd name="connsiteY81" fmla="*/ 129584 h 267367"/>
              <a:gd name="connsiteX82" fmla="*/ 29327 w 265133"/>
              <a:gd name="connsiteY82" fmla="*/ 156079 h 267367"/>
              <a:gd name="connsiteX83" fmla="*/ 54709 w 265133"/>
              <a:gd name="connsiteY83" fmla="*/ 168402 h 267367"/>
              <a:gd name="connsiteX84" fmla="*/ 54709 w 265133"/>
              <a:gd name="connsiteY84" fmla="*/ 187643 h 267367"/>
              <a:gd name="connsiteX85" fmla="*/ 0 w 265133"/>
              <a:gd name="connsiteY85" fmla="*/ 129635 h 267367"/>
              <a:gd name="connsiteX86" fmla="*/ 35811 w 265133"/>
              <a:gd name="connsiteY86" fmla="*/ 75914 h 267367"/>
              <a:gd name="connsiteX87" fmla="*/ 117827 w 265133"/>
              <a:gd name="connsiteY87" fmla="*/ 0 h 2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65133" h="267367">
                <a:moveTo>
                  <a:pt x="226866" y="204597"/>
                </a:moveTo>
                <a:cubicBezTo>
                  <a:pt x="231496" y="204597"/>
                  <a:pt x="235181" y="208312"/>
                  <a:pt x="235181" y="212884"/>
                </a:cubicBezTo>
                <a:cubicBezTo>
                  <a:pt x="235181" y="217456"/>
                  <a:pt x="231496" y="221171"/>
                  <a:pt x="226866" y="221171"/>
                </a:cubicBezTo>
                <a:cubicBezTo>
                  <a:pt x="222236" y="221171"/>
                  <a:pt x="218551" y="217456"/>
                  <a:pt x="218551" y="212884"/>
                </a:cubicBezTo>
                <a:cubicBezTo>
                  <a:pt x="218551" y="208312"/>
                  <a:pt x="222331" y="204597"/>
                  <a:pt x="226866" y="204597"/>
                </a:cubicBezTo>
                <a:close/>
                <a:moveTo>
                  <a:pt x="193701" y="204597"/>
                </a:moveTo>
                <a:lnTo>
                  <a:pt x="202016" y="204597"/>
                </a:lnTo>
                <a:cubicBezTo>
                  <a:pt x="206646" y="204597"/>
                  <a:pt x="210331" y="208312"/>
                  <a:pt x="210331" y="212884"/>
                </a:cubicBezTo>
                <a:cubicBezTo>
                  <a:pt x="210331" y="217456"/>
                  <a:pt x="206551" y="221171"/>
                  <a:pt x="202016" y="221171"/>
                </a:cubicBezTo>
                <a:lnTo>
                  <a:pt x="193701" y="221171"/>
                </a:lnTo>
                <a:cubicBezTo>
                  <a:pt x="189071" y="221171"/>
                  <a:pt x="185386" y="217456"/>
                  <a:pt x="185386" y="212884"/>
                </a:cubicBezTo>
                <a:cubicBezTo>
                  <a:pt x="185386" y="208312"/>
                  <a:pt x="189166" y="204597"/>
                  <a:pt x="193701" y="204597"/>
                </a:cubicBezTo>
                <a:close/>
                <a:moveTo>
                  <a:pt x="129733" y="182214"/>
                </a:moveTo>
                <a:cubicBezTo>
                  <a:pt x="133040" y="178975"/>
                  <a:pt x="138237" y="178975"/>
                  <a:pt x="141449" y="182214"/>
                </a:cubicBezTo>
                <a:cubicBezTo>
                  <a:pt x="144662" y="185452"/>
                  <a:pt x="144662" y="190691"/>
                  <a:pt x="141449" y="193930"/>
                </a:cubicBezTo>
                <a:lnTo>
                  <a:pt x="130772" y="204598"/>
                </a:lnTo>
                <a:lnTo>
                  <a:pt x="168756" y="204598"/>
                </a:lnTo>
                <a:cubicBezTo>
                  <a:pt x="173386" y="204598"/>
                  <a:pt x="177166" y="208312"/>
                  <a:pt x="177166" y="212884"/>
                </a:cubicBezTo>
                <a:lnTo>
                  <a:pt x="177166" y="213075"/>
                </a:lnTo>
                <a:cubicBezTo>
                  <a:pt x="177166" y="217647"/>
                  <a:pt x="173386" y="221362"/>
                  <a:pt x="168851" y="221362"/>
                </a:cubicBezTo>
                <a:lnTo>
                  <a:pt x="130772" y="221362"/>
                </a:lnTo>
                <a:lnTo>
                  <a:pt x="141449" y="232030"/>
                </a:lnTo>
                <a:cubicBezTo>
                  <a:pt x="144662" y="235268"/>
                  <a:pt x="144662" y="240507"/>
                  <a:pt x="141449" y="243745"/>
                </a:cubicBezTo>
                <a:cubicBezTo>
                  <a:pt x="139843" y="245269"/>
                  <a:pt x="137764" y="246127"/>
                  <a:pt x="135591" y="246127"/>
                </a:cubicBezTo>
                <a:cubicBezTo>
                  <a:pt x="133418" y="246127"/>
                  <a:pt x="131433" y="245365"/>
                  <a:pt x="129733" y="243745"/>
                </a:cubicBezTo>
                <a:lnTo>
                  <a:pt x="104882" y="218885"/>
                </a:lnTo>
                <a:lnTo>
                  <a:pt x="99024" y="212980"/>
                </a:lnTo>
                <a:lnTo>
                  <a:pt x="104882" y="207074"/>
                </a:lnTo>
                <a:close/>
                <a:moveTo>
                  <a:pt x="135685" y="146685"/>
                </a:moveTo>
                <a:lnTo>
                  <a:pt x="144000" y="146685"/>
                </a:lnTo>
                <a:cubicBezTo>
                  <a:pt x="148630" y="146685"/>
                  <a:pt x="152315" y="150400"/>
                  <a:pt x="152315" y="154972"/>
                </a:cubicBezTo>
                <a:cubicBezTo>
                  <a:pt x="152315" y="159544"/>
                  <a:pt x="148535" y="163258"/>
                  <a:pt x="144000" y="163258"/>
                </a:cubicBezTo>
                <a:lnTo>
                  <a:pt x="135685" y="163258"/>
                </a:lnTo>
                <a:cubicBezTo>
                  <a:pt x="131055" y="163258"/>
                  <a:pt x="127370" y="159544"/>
                  <a:pt x="127370" y="154972"/>
                </a:cubicBezTo>
                <a:cubicBezTo>
                  <a:pt x="127370" y="150400"/>
                  <a:pt x="131149" y="146685"/>
                  <a:pt x="135685" y="146685"/>
                </a:cubicBezTo>
                <a:close/>
                <a:moveTo>
                  <a:pt x="110835" y="146685"/>
                </a:moveTo>
                <a:cubicBezTo>
                  <a:pt x="115427" y="146685"/>
                  <a:pt x="119150" y="150395"/>
                  <a:pt x="119150" y="154972"/>
                </a:cubicBezTo>
                <a:cubicBezTo>
                  <a:pt x="119150" y="159548"/>
                  <a:pt x="115427" y="163258"/>
                  <a:pt x="110835" y="163258"/>
                </a:cubicBezTo>
                <a:cubicBezTo>
                  <a:pt x="106243" y="163258"/>
                  <a:pt x="102520" y="159548"/>
                  <a:pt x="102520" y="154972"/>
                </a:cubicBezTo>
                <a:cubicBezTo>
                  <a:pt x="102520" y="150395"/>
                  <a:pt x="106243" y="146685"/>
                  <a:pt x="110835" y="146685"/>
                </a:cubicBezTo>
                <a:close/>
                <a:moveTo>
                  <a:pt x="196251" y="124111"/>
                </a:moveTo>
                <a:cubicBezTo>
                  <a:pt x="199559" y="120872"/>
                  <a:pt x="204755" y="120872"/>
                  <a:pt x="207968" y="124111"/>
                </a:cubicBezTo>
                <a:lnTo>
                  <a:pt x="232818" y="148971"/>
                </a:lnTo>
                <a:lnTo>
                  <a:pt x="238677" y="154877"/>
                </a:lnTo>
                <a:lnTo>
                  <a:pt x="232818" y="160782"/>
                </a:lnTo>
                <a:lnTo>
                  <a:pt x="207968" y="185642"/>
                </a:lnTo>
                <a:cubicBezTo>
                  <a:pt x="206362" y="187166"/>
                  <a:pt x="204283" y="188024"/>
                  <a:pt x="202110" y="188024"/>
                </a:cubicBezTo>
                <a:cubicBezTo>
                  <a:pt x="199937" y="188024"/>
                  <a:pt x="197952" y="187262"/>
                  <a:pt x="196251" y="185642"/>
                </a:cubicBezTo>
                <a:cubicBezTo>
                  <a:pt x="193039" y="182404"/>
                  <a:pt x="193039" y="177165"/>
                  <a:pt x="196251" y="173927"/>
                </a:cubicBezTo>
                <a:lnTo>
                  <a:pt x="206929" y="163259"/>
                </a:lnTo>
                <a:lnTo>
                  <a:pt x="168850" y="163259"/>
                </a:lnTo>
                <a:cubicBezTo>
                  <a:pt x="164220" y="163259"/>
                  <a:pt x="160535" y="159544"/>
                  <a:pt x="160535" y="154972"/>
                </a:cubicBezTo>
                <a:cubicBezTo>
                  <a:pt x="160535" y="150400"/>
                  <a:pt x="164315" y="146685"/>
                  <a:pt x="168850" y="146685"/>
                </a:cubicBezTo>
                <a:lnTo>
                  <a:pt x="206929" y="146685"/>
                </a:lnTo>
                <a:lnTo>
                  <a:pt x="206929" y="146495"/>
                </a:lnTo>
                <a:lnTo>
                  <a:pt x="196251" y="135827"/>
                </a:lnTo>
                <a:cubicBezTo>
                  <a:pt x="193039" y="132588"/>
                  <a:pt x="193039" y="127349"/>
                  <a:pt x="196251" y="124111"/>
                </a:cubicBezTo>
                <a:close/>
                <a:moveTo>
                  <a:pt x="90236" y="117158"/>
                </a:moveTo>
                <a:lnTo>
                  <a:pt x="90236" y="250794"/>
                </a:lnTo>
                <a:lnTo>
                  <a:pt x="248503" y="250794"/>
                </a:lnTo>
                <a:lnTo>
                  <a:pt x="248503" y="117158"/>
                </a:lnTo>
                <a:close/>
                <a:moveTo>
                  <a:pt x="90236" y="100394"/>
                </a:moveTo>
                <a:lnTo>
                  <a:pt x="248503" y="100394"/>
                </a:lnTo>
                <a:cubicBezTo>
                  <a:pt x="257669" y="100394"/>
                  <a:pt x="265133" y="107823"/>
                  <a:pt x="265133" y="117063"/>
                </a:cubicBezTo>
                <a:lnTo>
                  <a:pt x="265133" y="250698"/>
                </a:lnTo>
                <a:cubicBezTo>
                  <a:pt x="265133" y="259842"/>
                  <a:pt x="257669" y="267367"/>
                  <a:pt x="248503" y="267367"/>
                </a:cubicBezTo>
                <a:lnTo>
                  <a:pt x="90236" y="267367"/>
                </a:lnTo>
                <a:cubicBezTo>
                  <a:pt x="81071" y="267367"/>
                  <a:pt x="73606" y="259938"/>
                  <a:pt x="73606" y="250698"/>
                </a:cubicBezTo>
                <a:lnTo>
                  <a:pt x="73606" y="117063"/>
                </a:lnTo>
                <a:cubicBezTo>
                  <a:pt x="73606" y="107919"/>
                  <a:pt x="81071" y="100394"/>
                  <a:pt x="90236" y="100394"/>
                </a:cubicBezTo>
                <a:close/>
                <a:moveTo>
                  <a:pt x="117827" y="0"/>
                </a:moveTo>
                <a:cubicBezTo>
                  <a:pt x="160630" y="0"/>
                  <a:pt x="195968" y="33242"/>
                  <a:pt x="199748" y="75533"/>
                </a:cubicBezTo>
                <a:lnTo>
                  <a:pt x="200126" y="81248"/>
                </a:lnTo>
                <a:lnTo>
                  <a:pt x="181134" y="81248"/>
                </a:lnTo>
                <a:cubicBezTo>
                  <a:pt x="180283" y="46768"/>
                  <a:pt x="152693" y="18955"/>
                  <a:pt x="117827" y="18955"/>
                </a:cubicBezTo>
                <a:cubicBezTo>
                  <a:pt x="82960" y="18955"/>
                  <a:pt x="54425" y="47625"/>
                  <a:pt x="54425" y="82772"/>
                </a:cubicBezTo>
                <a:cubicBezTo>
                  <a:pt x="54331" y="87058"/>
                  <a:pt x="51496" y="90773"/>
                  <a:pt x="47433" y="91916"/>
                </a:cubicBezTo>
                <a:cubicBezTo>
                  <a:pt x="39024" y="94250"/>
                  <a:pt x="31890" y="99298"/>
                  <a:pt x="26859" y="105954"/>
                </a:cubicBezTo>
                <a:lnTo>
                  <a:pt x="18915" y="129584"/>
                </a:lnTo>
                <a:lnTo>
                  <a:pt x="18898" y="129540"/>
                </a:lnTo>
                <a:lnTo>
                  <a:pt x="18898" y="129635"/>
                </a:lnTo>
                <a:lnTo>
                  <a:pt x="18915" y="129584"/>
                </a:lnTo>
                <a:lnTo>
                  <a:pt x="29327" y="156079"/>
                </a:lnTo>
                <a:cubicBezTo>
                  <a:pt x="35788" y="163021"/>
                  <a:pt x="44741" y="167593"/>
                  <a:pt x="54709" y="168402"/>
                </a:cubicBezTo>
                <a:lnTo>
                  <a:pt x="54709" y="187643"/>
                </a:lnTo>
                <a:cubicBezTo>
                  <a:pt x="24283" y="186023"/>
                  <a:pt x="0" y="160687"/>
                  <a:pt x="0" y="129635"/>
                </a:cubicBezTo>
                <a:cubicBezTo>
                  <a:pt x="0" y="106013"/>
                  <a:pt x="14457" y="84773"/>
                  <a:pt x="35811" y="75914"/>
                </a:cubicBezTo>
                <a:cubicBezTo>
                  <a:pt x="39307" y="33433"/>
                  <a:pt x="75023" y="0"/>
                  <a:pt x="117827" y="0"/>
                </a:cubicBezTo>
                <a:close/>
              </a:path>
            </a:pathLst>
          </a:custGeom>
          <a:solidFill>
            <a:schemeClr val="accent5"/>
          </a:solidFill>
          <a:ln w="944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239" name="Straight Connector 238">
            <a:extLst>
              <a:ext uri="{FF2B5EF4-FFF2-40B4-BE49-F238E27FC236}">
                <a16:creationId xmlns:a16="http://schemas.microsoft.com/office/drawing/2014/main" id="{CA34A4B7-7E3E-8BDD-89E3-DB3E4BAF4507}"/>
              </a:ext>
            </a:extLst>
          </p:cNvPr>
          <p:cNvCxnSpPr>
            <a:cxnSpLocks/>
          </p:cNvCxnSpPr>
          <p:nvPr/>
        </p:nvCxnSpPr>
        <p:spPr bwMode="gray">
          <a:xfrm>
            <a:off x="1796465" y="4717030"/>
            <a:ext cx="0" cy="812878"/>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EAAEC9D-2185-0BB8-5C97-26352CD364AB}"/>
              </a:ext>
            </a:extLst>
          </p:cNvPr>
          <p:cNvCxnSpPr>
            <a:cxnSpLocks/>
          </p:cNvCxnSpPr>
          <p:nvPr/>
        </p:nvCxnSpPr>
        <p:spPr bwMode="gray">
          <a:xfrm>
            <a:off x="1353388" y="4897055"/>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nvGrpSpPr>
          <p:cNvPr id="242" name="Group 241">
            <a:extLst>
              <a:ext uri="{FF2B5EF4-FFF2-40B4-BE49-F238E27FC236}">
                <a16:creationId xmlns:a16="http://schemas.microsoft.com/office/drawing/2014/main" id="{94280475-0731-41B2-60BC-1CCF37F0A86B}"/>
              </a:ext>
            </a:extLst>
          </p:cNvPr>
          <p:cNvGrpSpPr/>
          <p:nvPr/>
        </p:nvGrpSpPr>
        <p:grpSpPr>
          <a:xfrm>
            <a:off x="1410590" y="5140064"/>
            <a:ext cx="269469" cy="395289"/>
            <a:chOff x="3513038" y="5316536"/>
            <a:chExt cx="269469" cy="395289"/>
          </a:xfrm>
        </p:grpSpPr>
        <p:grpSp>
          <p:nvGrpSpPr>
            <p:cNvPr id="243" name="Google Shape;3733;p22">
              <a:extLst>
                <a:ext uri="{FF2B5EF4-FFF2-40B4-BE49-F238E27FC236}">
                  <a16:creationId xmlns:a16="http://schemas.microsoft.com/office/drawing/2014/main" id="{05E11D90-5AE9-0F71-8E0E-1F6A03C9B4D9}"/>
                </a:ext>
              </a:extLst>
            </p:cNvPr>
            <p:cNvGrpSpPr/>
            <p:nvPr/>
          </p:nvGrpSpPr>
          <p:grpSpPr>
            <a:xfrm>
              <a:off x="3513038" y="5316536"/>
              <a:ext cx="269469" cy="269658"/>
              <a:chOff x="658852" y="4943630"/>
              <a:chExt cx="583799" cy="584209"/>
            </a:xfrm>
          </p:grpSpPr>
          <p:sp>
            <p:nvSpPr>
              <p:cNvPr id="245" name="Google Shape;3734;p22">
                <a:extLst>
                  <a:ext uri="{FF2B5EF4-FFF2-40B4-BE49-F238E27FC236}">
                    <a16:creationId xmlns:a16="http://schemas.microsoft.com/office/drawing/2014/main" id="{A3371E69-7A38-B8FD-8823-922988B83814}"/>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46" name="Google Shape;3735;p22">
                <a:extLst>
                  <a:ext uri="{FF2B5EF4-FFF2-40B4-BE49-F238E27FC236}">
                    <a16:creationId xmlns:a16="http://schemas.microsoft.com/office/drawing/2014/main" id="{3F7483D0-CA1C-19C7-7A7E-7BF9A4FC2029}"/>
                  </a:ext>
                </a:extLst>
              </p:cNvPr>
              <p:cNvGrpSpPr/>
              <p:nvPr/>
            </p:nvGrpSpPr>
            <p:grpSpPr>
              <a:xfrm>
                <a:off x="834156" y="5211637"/>
                <a:ext cx="216359" cy="78004"/>
                <a:chOff x="834156" y="5211637"/>
                <a:chExt cx="216359" cy="78004"/>
              </a:xfrm>
            </p:grpSpPr>
            <p:sp>
              <p:nvSpPr>
                <p:cNvPr id="247" name="Google Shape;3736;p22">
                  <a:extLst>
                    <a:ext uri="{FF2B5EF4-FFF2-40B4-BE49-F238E27FC236}">
                      <a16:creationId xmlns:a16="http://schemas.microsoft.com/office/drawing/2014/main" id="{73DDB64B-1B6F-A462-58E9-5E41059636FB}"/>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248" name="Google Shape;3737;p22">
                  <a:extLst>
                    <a:ext uri="{FF2B5EF4-FFF2-40B4-BE49-F238E27FC236}">
                      <a16:creationId xmlns:a16="http://schemas.microsoft.com/office/drawing/2014/main" id="{670427D3-45AC-7833-CC83-630B4AC4E05D}"/>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244" name="Straight Connector 243">
              <a:extLst>
                <a:ext uri="{FF2B5EF4-FFF2-40B4-BE49-F238E27FC236}">
                  <a16:creationId xmlns:a16="http://schemas.microsoft.com/office/drawing/2014/main" id="{732DA9DA-4CB6-B966-5F4A-F072FC7940CC}"/>
                </a:ext>
              </a:extLst>
            </p:cNvPr>
            <p:cNvCxnSpPr>
              <a:cxnSpLocks/>
            </p:cNvCxnSpPr>
            <p:nvPr/>
          </p:nvCxnSpPr>
          <p:spPr bwMode="gray">
            <a:xfrm>
              <a:off x="3647773" y="5582289"/>
              <a:ext cx="0" cy="129536"/>
            </a:xfrm>
            <a:prstGeom prst="line">
              <a:avLst/>
            </a:prstGeom>
            <a:ln w="25400" cap="rnd">
              <a:solidFill>
                <a:schemeClr val="accent5"/>
              </a:solidFill>
              <a:round/>
              <a:tailEnd type="none"/>
            </a:ln>
          </p:spPr>
          <p:style>
            <a:lnRef idx="1">
              <a:schemeClr val="accent1"/>
            </a:lnRef>
            <a:fillRef idx="0">
              <a:schemeClr val="accent1"/>
            </a:fillRef>
            <a:effectRef idx="0">
              <a:schemeClr val="accent1"/>
            </a:effectRef>
            <a:fontRef idx="minor">
              <a:schemeClr val="tx1"/>
            </a:fontRef>
          </p:style>
        </p:cxnSp>
      </p:grpSp>
      <p:sp>
        <p:nvSpPr>
          <p:cNvPr id="283" name="!!TGW">
            <a:extLst>
              <a:ext uri="{FF2B5EF4-FFF2-40B4-BE49-F238E27FC236}">
                <a16:creationId xmlns:a16="http://schemas.microsoft.com/office/drawing/2014/main" id="{518F16BB-5B4B-F358-D7C2-60358DF8B085}"/>
              </a:ext>
            </a:extLst>
          </p:cNvPr>
          <p:cNvSpPr txBox="1">
            <a:spLocks noChangeAspect="1"/>
          </p:cNvSpPr>
          <p:nvPr/>
        </p:nvSpPr>
        <p:spPr>
          <a:xfrm>
            <a:off x="3300649" y="3165446"/>
            <a:ext cx="541238" cy="540000"/>
          </a:xfrm>
          <a:custGeom>
            <a:avLst/>
            <a:gdLst/>
            <a:ahLst/>
            <a:cxnLst/>
            <a:rect l="l" t="t" r="r" b="b"/>
            <a:pathLst>
              <a:path w="1139359" h="1139359">
                <a:moveTo>
                  <a:pt x="517596" y="524233"/>
                </a:moveTo>
                <a:lnTo>
                  <a:pt x="620278" y="524233"/>
                </a:lnTo>
                <a:lnTo>
                  <a:pt x="620278" y="539520"/>
                </a:lnTo>
                <a:lnTo>
                  <a:pt x="577421" y="539520"/>
                </a:lnTo>
                <a:lnTo>
                  <a:pt x="577421" y="653778"/>
                </a:lnTo>
                <a:lnTo>
                  <a:pt x="560277" y="653778"/>
                </a:lnTo>
                <a:lnTo>
                  <a:pt x="560277" y="539520"/>
                </a:lnTo>
                <a:lnTo>
                  <a:pt x="517596" y="539520"/>
                </a:lnTo>
                <a:close/>
                <a:moveTo>
                  <a:pt x="710021" y="84064"/>
                </a:moveTo>
                <a:lnTo>
                  <a:pt x="803938" y="246490"/>
                </a:lnTo>
                <a:lnTo>
                  <a:pt x="744864" y="246490"/>
                </a:lnTo>
                <a:lnTo>
                  <a:pt x="744864" y="668475"/>
                </a:lnTo>
                <a:lnTo>
                  <a:pt x="878771" y="667404"/>
                </a:lnTo>
                <a:lnTo>
                  <a:pt x="878235" y="608437"/>
                </a:lnTo>
                <a:lnTo>
                  <a:pt x="1041519" y="700854"/>
                </a:lnTo>
                <a:lnTo>
                  <a:pt x="879844" y="796058"/>
                </a:lnTo>
                <a:lnTo>
                  <a:pt x="879308" y="737091"/>
                </a:lnTo>
                <a:lnTo>
                  <a:pt x="518540" y="740093"/>
                </a:lnTo>
                <a:lnTo>
                  <a:pt x="518005" y="670405"/>
                </a:lnTo>
                <a:lnTo>
                  <a:pt x="675177" y="669012"/>
                </a:lnTo>
                <a:lnTo>
                  <a:pt x="675177" y="473350"/>
                </a:lnTo>
                <a:lnTo>
                  <a:pt x="464076" y="473350"/>
                </a:lnTo>
                <a:lnTo>
                  <a:pt x="464076" y="892870"/>
                </a:lnTo>
                <a:lnTo>
                  <a:pt x="523044" y="892870"/>
                </a:lnTo>
                <a:lnTo>
                  <a:pt x="429233" y="1055295"/>
                </a:lnTo>
                <a:lnTo>
                  <a:pt x="335422" y="892870"/>
                </a:lnTo>
                <a:lnTo>
                  <a:pt x="394389" y="892870"/>
                </a:lnTo>
                <a:lnTo>
                  <a:pt x="394389" y="473350"/>
                </a:lnTo>
                <a:lnTo>
                  <a:pt x="260267" y="473350"/>
                </a:lnTo>
                <a:lnTo>
                  <a:pt x="260267" y="532317"/>
                </a:lnTo>
                <a:lnTo>
                  <a:pt x="97841" y="438506"/>
                </a:lnTo>
                <a:lnTo>
                  <a:pt x="260267" y="344696"/>
                </a:lnTo>
                <a:lnTo>
                  <a:pt x="260267" y="403663"/>
                </a:lnTo>
                <a:lnTo>
                  <a:pt x="675177" y="403663"/>
                </a:lnTo>
                <a:lnTo>
                  <a:pt x="675177" y="246490"/>
                </a:lnTo>
                <a:lnTo>
                  <a:pt x="616210" y="246490"/>
                </a:lnTo>
                <a:close/>
                <a:moveTo>
                  <a:pt x="569680" y="29983"/>
                </a:moveTo>
                <a:cubicBezTo>
                  <a:pt x="272062" y="29983"/>
                  <a:pt x="29983" y="272062"/>
                  <a:pt x="29983" y="569680"/>
                </a:cubicBezTo>
                <a:cubicBezTo>
                  <a:pt x="29983" y="867297"/>
                  <a:pt x="272062" y="1109376"/>
                  <a:pt x="569680" y="1109376"/>
                </a:cubicBezTo>
                <a:cubicBezTo>
                  <a:pt x="867297" y="1109376"/>
                  <a:pt x="1109376" y="867297"/>
                  <a:pt x="1109376" y="569680"/>
                </a:cubicBezTo>
                <a:cubicBezTo>
                  <a:pt x="1109376" y="272062"/>
                  <a:pt x="867297" y="29983"/>
                  <a:pt x="569680" y="29983"/>
                </a:cubicBezTo>
                <a:close/>
                <a:moveTo>
                  <a:pt x="569680" y="0"/>
                </a:moveTo>
                <a:cubicBezTo>
                  <a:pt x="884272" y="0"/>
                  <a:pt x="1139359" y="255087"/>
                  <a:pt x="1139359" y="569680"/>
                </a:cubicBezTo>
                <a:cubicBezTo>
                  <a:pt x="1139359" y="884272"/>
                  <a:pt x="884272" y="1139359"/>
                  <a:pt x="569680" y="1139359"/>
                </a:cubicBezTo>
                <a:cubicBezTo>
                  <a:pt x="255087" y="1139359"/>
                  <a:pt x="0" y="884272"/>
                  <a:pt x="0" y="569680"/>
                </a:cubicBezTo>
                <a:cubicBezTo>
                  <a:pt x="0" y="255087"/>
                  <a:pt x="255087" y="0"/>
                  <a:pt x="569680" y="0"/>
                </a:cubicBezTo>
                <a:close/>
              </a:path>
            </a:pathLst>
          </a:custGeom>
          <a:solidFill>
            <a:schemeClr val="accent4"/>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291" name="!!TGW-uplink2">
            <a:extLst>
              <a:ext uri="{FF2B5EF4-FFF2-40B4-BE49-F238E27FC236}">
                <a16:creationId xmlns:a16="http://schemas.microsoft.com/office/drawing/2014/main" id="{7FA1ACE9-9802-C7F6-2C99-00ED300EF041}"/>
              </a:ext>
            </a:extLst>
          </p:cNvPr>
          <p:cNvCxnSpPr>
            <a:cxnSpLocks/>
          </p:cNvCxnSpPr>
          <p:nvPr/>
        </p:nvCxnSpPr>
        <p:spPr bwMode="gray">
          <a:xfrm>
            <a:off x="3571268" y="2849526"/>
            <a:ext cx="0" cy="31487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D89DA5EF-DBA5-37D1-E9BD-C8930B4CC08F}"/>
              </a:ext>
            </a:extLst>
          </p:cNvPr>
          <p:cNvCxnSpPr>
            <a:cxnSpLocks/>
          </p:cNvCxnSpPr>
          <p:nvPr/>
        </p:nvCxnSpPr>
        <p:spPr bwMode="gray">
          <a:xfrm>
            <a:off x="5402637" y="2838893"/>
            <a:ext cx="0" cy="32551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TGW-uplink2">
            <a:extLst>
              <a:ext uri="{FF2B5EF4-FFF2-40B4-BE49-F238E27FC236}">
                <a16:creationId xmlns:a16="http://schemas.microsoft.com/office/drawing/2014/main" id="{760888D5-78EB-32D1-2A15-D14A91332272}"/>
              </a:ext>
            </a:extLst>
          </p:cNvPr>
          <p:cNvCxnSpPr>
            <a:cxnSpLocks/>
          </p:cNvCxnSpPr>
          <p:nvPr/>
        </p:nvCxnSpPr>
        <p:spPr bwMode="gray">
          <a:xfrm>
            <a:off x="1747099" y="2849526"/>
            <a:ext cx="0" cy="31487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8" name="!!TGW-uplink2">
            <a:extLst>
              <a:ext uri="{FF2B5EF4-FFF2-40B4-BE49-F238E27FC236}">
                <a16:creationId xmlns:a16="http://schemas.microsoft.com/office/drawing/2014/main" id="{67D24C10-97B9-BC32-71A3-A390B59ED4FD}"/>
              </a:ext>
            </a:extLst>
          </p:cNvPr>
          <p:cNvCxnSpPr>
            <a:cxnSpLocks/>
          </p:cNvCxnSpPr>
          <p:nvPr/>
        </p:nvCxnSpPr>
        <p:spPr bwMode="gray">
          <a:xfrm>
            <a:off x="7235086" y="2838893"/>
            <a:ext cx="0" cy="32551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 name="!!bob123">
            <a:extLst>
              <a:ext uri="{FF2B5EF4-FFF2-40B4-BE49-F238E27FC236}">
                <a16:creationId xmlns:a16="http://schemas.microsoft.com/office/drawing/2014/main" id="{ED1900E0-B469-246B-E725-AA8C98716D82}"/>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a:xfrm flipV="1">
            <a:off x="8372825" y="1589923"/>
            <a:ext cx="3816000" cy="8261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476FF9BB-40DD-1F86-0D1B-671D3E1FCA0B}"/>
              </a:ext>
            </a:extLst>
          </p:cNvPr>
          <p:cNvSpPr txBox="1"/>
          <p:nvPr/>
        </p:nvSpPr>
        <p:spPr>
          <a:xfrm>
            <a:off x="8211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2" name="TextBox 11">
            <a:extLst>
              <a:ext uri="{FF2B5EF4-FFF2-40B4-BE49-F238E27FC236}">
                <a16:creationId xmlns:a16="http://schemas.microsoft.com/office/drawing/2014/main" id="{F5538E6A-056C-EF4A-B032-FF9E893EBAEE}"/>
              </a:ext>
            </a:extLst>
          </p:cNvPr>
          <p:cNvSpPr txBox="1"/>
          <p:nvPr/>
        </p:nvSpPr>
        <p:spPr>
          <a:xfrm>
            <a:off x="2649945" y="5573776"/>
            <a:ext cx="37686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4" name="TextBox 13">
            <a:extLst>
              <a:ext uri="{FF2B5EF4-FFF2-40B4-BE49-F238E27FC236}">
                <a16:creationId xmlns:a16="http://schemas.microsoft.com/office/drawing/2014/main" id="{9E7B3BB3-4A21-91B2-34DB-E94371961505}"/>
              </a:ext>
            </a:extLst>
          </p:cNvPr>
          <p:cNvSpPr txBox="1"/>
          <p:nvPr/>
        </p:nvSpPr>
        <p:spPr>
          <a:xfrm>
            <a:off x="4478745" y="5573776"/>
            <a:ext cx="38175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sp>
        <p:nvSpPr>
          <p:cNvPr id="16" name="TextBox 15">
            <a:extLst>
              <a:ext uri="{FF2B5EF4-FFF2-40B4-BE49-F238E27FC236}">
                <a16:creationId xmlns:a16="http://schemas.microsoft.com/office/drawing/2014/main" id="{02608BE1-0596-0129-7167-9DCE87E0B179}"/>
              </a:ext>
            </a:extLst>
          </p:cNvPr>
          <p:cNvSpPr txBox="1"/>
          <p:nvPr/>
        </p:nvSpPr>
        <p:spPr>
          <a:xfrm>
            <a:off x="6307545" y="5573776"/>
            <a:ext cx="371976" cy="138499"/>
          </a:xfrm>
          <a:prstGeom prst="rect">
            <a:avLst/>
          </a:prstGeom>
          <a:noFill/>
        </p:spPr>
        <p:txBody>
          <a:bodyPr wrap="square" lIns="7200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5C8A"/>
                </a:solidFill>
                <a:effectLst/>
                <a:uLnTx/>
                <a:uFillTx/>
                <a:latin typeface="Arial" panose="020B0604020202020204"/>
                <a:ea typeface="+mn-ea"/>
                <a:cs typeface="+mn-cs"/>
              </a:rPr>
              <a:t>ESX</a:t>
            </a:r>
          </a:p>
        </p:txBody>
      </p:sp>
      <p:grpSp>
        <p:nvGrpSpPr>
          <p:cNvPr id="17" name="Group 16">
            <a:extLst>
              <a:ext uri="{FF2B5EF4-FFF2-40B4-BE49-F238E27FC236}">
                <a16:creationId xmlns:a16="http://schemas.microsoft.com/office/drawing/2014/main" id="{D1594B4B-B81F-DCCD-C26B-97A134A8ED7F}"/>
              </a:ext>
            </a:extLst>
          </p:cNvPr>
          <p:cNvGrpSpPr/>
          <p:nvPr/>
        </p:nvGrpSpPr>
        <p:grpSpPr>
          <a:xfrm>
            <a:off x="2787207" y="5855142"/>
            <a:ext cx="3056154" cy="265509"/>
            <a:chOff x="2620950" y="5869812"/>
            <a:chExt cx="3056154" cy="265509"/>
          </a:xfrm>
        </p:grpSpPr>
        <p:sp>
          <p:nvSpPr>
            <p:cNvPr id="18" name="Rectangle 17">
              <a:extLst>
                <a:ext uri="{FF2B5EF4-FFF2-40B4-BE49-F238E27FC236}">
                  <a16:creationId xmlns:a16="http://schemas.microsoft.com/office/drawing/2014/main" id="{73487A8B-C943-FB46-16B3-5F91568A9B5C}"/>
                </a:ext>
              </a:extLst>
            </p:cNvPr>
            <p:cNvSpPr/>
            <p:nvPr/>
          </p:nvSpPr>
          <p:spPr>
            <a:xfrm>
              <a:off x="2742826" y="5915992"/>
              <a:ext cx="2934278" cy="16619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200" b="1" i="0" u="none" strike="noStrike" kern="1200" cap="all" spc="50" normalizeH="0" baseline="0" noProof="0" dirty="0">
                  <a:ln>
                    <a:noFill/>
                  </a:ln>
                  <a:solidFill>
                    <a:prstClr val="black"/>
                  </a:solidFill>
                  <a:effectLst/>
                  <a:uLnTx/>
                  <a:uFillTx/>
                  <a:latin typeface="Arial" panose="020B0604020202020204"/>
                  <a:ea typeface="+mn-ea"/>
                  <a:cs typeface="Arial"/>
                </a:rPr>
                <a:t>Vmware Cloud Foundation</a:t>
              </a:r>
            </a:p>
          </p:txBody>
        </p:sp>
        <p:pic>
          <p:nvPicPr>
            <p:cNvPr id="19" name="Picture 18">
              <a:extLst>
                <a:ext uri="{FF2B5EF4-FFF2-40B4-BE49-F238E27FC236}">
                  <a16:creationId xmlns:a16="http://schemas.microsoft.com/office/drawing/2014/main" id="{2E7612A9-28E1-BF8A-C158-6603B38AD03D}"/>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2620950" y="5869812"/>
              <a:ext cx="313492" cy="265509"/>
            </a:xfrm>
            <a:prstGeom prst="rect">
              <a:avLst/>
            </a:prstGeom>
          </p:spPr>
        </p:pic>
      </p:grpSp>
      <p:grpSp>
        <p:nvGrpSpPr>
          <p:cNvPr id="21" name="Group 20">
            <a:extLst>
              <a:ext uri="{FF2B5EF4-FFF2-40B4-BE49-F238E27FC236}">
                <a16:creationId xmlns:a16="http://schemas.microsoft.com/office/drawing/2014/main" id="{DC3638E4-EC14-A59B-F7F2-03FDB6BD3CDD}"/>
              </a:ext>
            </a:extLst>
          </p:cNvPr>
          <p:cNvGrpSpPr/>
          <p:nvPr/>
        </p:nvGrpSpPr>
        <p:grpSpPr>
          <a:xfrm>
            <a:off x="7055086" y="2023970"/>
            <a:ext cx="360000" cy="360000"/>
            <a:chOff x="8453081" y="4440600"/>
            <a:chExt cx="360000" cy="360000"/>
          </a:xfrm>
        </p:grpSpPr>
        <p:sp>
          <p:nvSpPr>
            <p:cNvPr id="22" name="Oval 21">
              <a:extLst>
                <a:ext uri="{FF2B5EF4-FFF2-40B4-BE49-F238E27FC236}">
                  <a16:creationId xmlns:a16="http://schemas.microsoft.com/office/drawing/2014/main" id="{DB7BEAE7-FA9B-1DD3-3C31-74127EBE33FE}"/>
                </a:ext>
              </a:extLst>
            </p:cNvPr>
            <p:cNvSpPr/>
            <p:nvPr/>
          </p:nvSpPr>
          <p:spPr>
            <a:xfrm>
              <a:off x="8453081" y="4440600"/>
              <a:ext cx="360000" cy="3600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24" name="Graphic 23">
              <a:extLst>
                <a:ext uri="{FF2B5EF4-FFF2-40B4-BE49-F238E27FC236}">
                  <a16:creationId xmlns:a16="http://schemas.microsoft.com/office/drawing/2014/main" id="{CF353E90-91FA-B0AA-3837-1702B2CD3AF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453081" y="4440600"/>
              <a:ext cx="360000" cy="360000"/>
            </a:xfrm>
            <a:prstGeom prst="rect">
              <a:avLst/>
            </a:prstGeom>
          </p:spPr>
        </p:pic>
      </p:grpSp>
      <p:grpSp>
        <p:nvGrpSpPr>
          <p:cNvPr id="41" name="Group 40">
            <a:extLst>
              <a:ext uri="{FF2B5EF4-FFF2-40B4-BE49-F238E27FC236}">
                <a16:creationId xmlns:a16="http://schemas.microsoft.com/office/drawing/2014/main" id="{58C8E68D-25A0-CECA-7BD0-D200E2EC76C5}"/>
              </a:ext>
            </a:extLst>
          </p:cNvPr>
          <p:cNvGrpSpPr/>
          <p:nvPr/>
        </p:nvGrpSpPr>
        <p:grpSpPr>
          <a:xfrm>
            <a:off x="1567099" y="2023970"/>
            <a:ext cx="360000" cy="360000"/>
            <a:chOff x="8453081" y="4440600"/>
            <a:chExt cx="360000" cy="360000"/>
          </a:xfrm>
        </p:grpSpPr>
        <p:sp>
          <p:nvSpPr>
            <p:cNvPr id="42" name="Oval 41">
              <a:extLst>
                <a:ext uri="{FF2B5EF4-FFF2-40B4-BE49-F238E27FC236}">
                  <a16:creationId xmlns:a16="http://schemas.microsoft.com/office/drawing/2014/main" id="{7CD66882-7B03-B5CD-AA06-50068F95B9F1}"/>
                </a:ext>
              </a:extLst>
            </p:cNvPr>
            <p:cNvSpPr/>
            <p:nvPr/>
          </p:nvSpPr>
          <p:spPr>
            <a:xfrm>
              <a:off x="8453081" y="4440600"/>
              <a:ext cx="360000" cy="3600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43" name="Graphic 42">
              <a:extLst>
                <a:ext uri="{FF2B5EF4-FFF2-40B4-BE49-F238E27FC236}">
                  <a16:creationId xmlns:a16="http://schemas.microsoft.com/office/drawing/2014/main" id="{EC8566DB-73F3-B5B9-BDD9-B2DBC9EE4BC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453081" y="4440600"/>
              <a:ext cx="360000" cy="360000"/>
            </a:xfrm>
            <a:prstGeom prst="rect">
              <a:avLst/>
            </a:prstGeom>
          </p:spPr>
        </p:pic>
      </p:grpSp>
      <p:sp>
        <p:nvSpPr>
          <p:cNvPr id="44" name="TextBox 43">
            <a:extLst>
              <a:ext uri="{FF2B5EF4-FFF2-40B4-BE49-F238E27FC236}">
                <a16:creationId xmlns:a16="http://schemas.microsoft.com/office/drawing/2014/main" id="{AA462E24-06EC-E4A4-826B-052AA00D47CA}"/>
              </a:ext>
            </a:extLst>
          </p:cNvPr>
          <p:cNvSpPr txBox="1"/>
          <p:nvPr/>
        </p:nvSpPr>
        <p:spPr>
          <a:xfrm>
            <a:off x="629721" y="2104549"/>
            <a:ext cx="870983"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EVPN GWs</a:t>
            </a:r>
          </a:p>
        </p:txBody>
      </p:sp>
      <p:grpSp>
        <p:nvGrpSpPr>
          <p:cNvPr id="90" name="Group 89">
            <a:extLst>
              <a:ext uri="{FF2B5EF4-FFF2-40B4-BE49-F238E27FC236}">
                <a16:creationId xmlns:a16="http://schemas.microsoft.com/office/drawing/2014/main" id="{B1C6CBA3-9E03-2478-5AAF-FB8819E818E7}"/>
              </a:ext>
            </a:extLst>
          </p:cNvPr>
          <p:cNvGrpSpPr/>
          <p:nvPr/>
        </p:nvGrpSpPr>
        <p:grpSpPr>
          <a:xfrm>
            <a:off x="1601291" y="2379410"/>
            <a:ext cx="5779604" cy="518169"/>
            <a:chOff x="1601291" y="2239928"/>
            <a:chExt cx="5779604" cy="623774"/>
          </a:xfrm>
        </p:grpSpPr>
        <p:sp>
          <p:nvSpPr>
            <p:cNvPr id="45" name="Up-Down Arrow 44">
              <a:extLst>
                <a:ext uri="{FF2B5EF4-FFF2-40B4-BE49-F238E27FC236}">
                  <a16:creationId xmlns:a16="http://schemas.microsoft.com/office/drawing/2014/main" id="{0D2CC545-4346-A063-68B2-D1B89E9AA7AB}"/>
                </a:ext>
              </a:extLst>
            </p:cNvPr>
            <p:cNvSpPr/>
            <p:nvPr/>
          </p:nvSpPr>
          <p:spPr bwMode="gray">
            <a:xfrm>
              <a:off x="1601291" y="2239928"/>
              <a:ext cx="291617" cy="623774"/>
            </a:xfrm>
            <a:prstGeom prst="upDownArrow">
              <a:avLst/>
            </a:prstGeom>
            <a:solidFill>
              <a:srgbClr val="CC092F"/>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Arial" panose="020B0604020202020204"/>
                  <a:ea typeface="+mn-ea"/>
                  <a:cs typeface="+mn-cs"/>
                </a:rPr>
                <a:t>VXLAN</a:t>
              </a:r>
            </a:p>
          </p:txBody>
        </p:sp>
        <p:sp>
          <p:nvSpPr>
            <p:cNvPr id="46" name="Up-Down Arrow 45">
              <a:extLst>
                <a:ext uri="{FF2B5EF4-FFF2-40B4-BE49-F238E27FC236}">
                  <a16:creationId xmlns:a16="http://schemas.microsoft.com/office/drawing/2014/main" id="{D1799909-C6FD-EE28-970D-C4D24F198629}"/>
                </a:ext>
              </a:extLst>
            </p:cNvPr>
            <p:cNvSpPr/>
            <p:nvPr/>
          </p:nvSpPr>
          <p:spPr bwMode="gray">
            <a:xfrm>
              <a:off x="3425460" y="2239928"/>
              <a:ext cx="291617" cy="623774"/>
            </a:xfrm>
            <a:prstGeom prst="upDownArrow">
              <a:avLst/>
            </a:prstGeom>
            <a:solidFill>
              <a:srgbClr val="CC092F"/>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Arial" panose="020B0604020202020204"/>
                  <a:ea typeface="+mn-ea"/>
                  <a:cs typeface="+mn-cs"/>
                </a:rPr>
                <a:t>VXLAN</a:t>
              </a:r>
            </a:p>
          </p:txBody>
        </p:sp>
        <p:sp>
          <p:nvSpPr>
            <p:cNvPr id="47" name="Up-Down Arrow 46">
              <a:extLst>
                <a:ext uri="{FF2B5EF4-FFF2-40B4-BE49-F238E27FC236}">
                  <a16:creationId xmlns:a16="http://schemas.microsoft.com/office/drawing/2014/main" id="{9AE4D865-CBB9-B58E-0A87-09CBC5EAF006}"/>
                </a:ext>
              </a:extLst>
            </p:cNvPr>
            <p:cNvSpPr/>
            <p:nvPr/>
          </p:nvSpPr>
          <p:spPr bwMode="gray">
            <a:xfrm>
              <a:off x="5256829" y="2239928"/>
              <a:ext cx="291617" cy="623774"/>
            </a:xfrm>
            <a:prstGeom prst="upDownArrow">
              <a:avLst/>
            </a:prstGeom>
            <a:solidFill>
              <a:srgbClr val="CC092F"/>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Arial" panose="020B0604020202020204"/>
                  <a:ea typeface="+mn-ea"/>
                  <a:cs typeface="+mn-cs"/>
                </a:rPr>
                <a:t>VXLAN</a:t>
              </a:r>
            </a:p>
          </p:txBody>
        </p:sp>
        <p:sp>
          <p:nvSpPr>
            <p:cNvPr id="48" name="Up-Down Arrow 47">
              <a:extLst>
                <a:ext uri="{FF2B5EF4-FFF2-40B4-BE49-F238E27FC236}">
                  <a16:creationId xmlns:a16="http://schemas.microsoft.com/office/drawing/2014/main" id="{889CF774-1952-730E-AADF-E7AF887C1B6E}"/>
                </a:ext>
              </a:extLst>
            </p:cNvPr>
            <p:cNvSpPr/>
            <p:nvPr/>
          </p:nvSpPr>
          <p:spPr bwMode="gray">
            <a:xfrm>
              <a:off x="7089278" y="2239928"/>
              <a:ext cx="291617" cy="623774"/>
            </a:xfrm>
            <a:prstGeom prst="upDownArrow">
              <a:avLst/>
            </a:prstGeom>
            <a:solidFill>
              <a:srgbClr val="CC092F"/>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vert270"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Arial" panose="020B0604020202020204"/>
                  <a:ea typeface="+mn-ea"/>
                  <a:cs typeface="+mn-cs"/>
                </a:rPr>
                <a:t>VXLAN</a:t>
              </a:r>
            </a:p>
          </p:txBody>
        </p:sp>
      </p:grpSp>
      <p:sp>
        <p:nvSpPr>
          <p:cNvPr id="64" name="TextBox 63">
            <a:extLst>
              <a:ext uri="{FF2B5EF4-FFF2-40B4-BE49-F238E27FC236}">
                <a16:creationId xmlns:a16="http://schemas.microsoft.com/office/drawing/2014/main" id="{CDF8E6BF-65C8-BF88-C028-DA3AA4697702}"/>
              </a:ext>
            </a:extLst>
          </p:cNvPr>
          <p:cNvSpPr txBox="1"/>
          <p:nvPr/>
        </p:nvSpPr>
        <p:spPr>
          <a:xfrm>
            <a:off x="913769" y="3275111"/>
            <a:ext cx="498916"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Transit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61A60E"/>
                </a:solidFill>
                <a:effectLst/>
                <a:uLnTx/>
                <a:uFillTx/>
                <a:latin typeface="Arial" panose="020B0604020202020204"/>
                <a:ea typeface="+mn-ea"/>
                <a:cs typeface="+mn-cs"/>
              </a:rPr>
              <a:t>Gateway</a:t>
            </a:r>
          </a:p>
        </p:txBody>
      </p:sp>
      <p:sp>
        <p:nvSpPr>
          <p:cNvPr id="65" name="Rounded Rectangle 64">
            <a:extLst>
              <a:ext uri="{FF2B5EF4-FFF2-40B4-BE49-F238E27FC236}">
                <a16:creationId xmlns:a16="http://schemas.microsoft.com/office/drawing/2014/main" id="{F0985B1B-EC70-C0A9-308C-D91A11899DC6}"/>
              </a:ext>
            </a:extLst>
          </p:cNvPr>
          <p:cNvSpPr/>
          <p:nvPr/>
        </p:nvSpPr>
        <p:spPr bwMode="gray">
          <a:xfrm>
            <a:off x="1440872" y="3150215"/>
            <a:ext cx="6084000" cy="559993"/>
          </a:xfrm>
          <a:prstGeom prst="roundRect">
            <a:avLst/>
          </a:prstGeom>
          <a:noFill/>
          <a:ln w="9525">
            <a:solidFill>
              <a:srgbClr val="61A60E"/>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66" name="Rounded Rectangle 65">
            <a:extLst>
              <a:ext uri="{FF2B5EF4-FFF2-40B4-BE49-F238E27FC236}">
                <a16:creationId xmlns:a16="http://schemas.microsoft.com/office/drawing/2014/main" id="{FF680D09-AA21-BC24-E163-BE7D1F8ED6A2}"/>
              </a:ext>
            </a:extLst>
          </p:cNvPr>
          <p:cNvSpPr/>
          <p:nvPr/>
        </p:nvSpPr>
        <p:spPr bwMode="gray">
          <a:xfrm>
            <a:off x="1440872" y="4343400"/>
            <a:ext cx="6084000" cy="392075"/>
          </a:xfrm>
          <a:prstGeom prst="roundRect">
            <a:avLst>
              <a:gd name="adj" fmla="val 6797"/>
            </a:avLst>
          </a:prstGeom>
          <a:noFill/>
          <a:ln w="9525">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67" name="TextBox 66">
            <a:extLst>
              <a:ext uri="{FF2B5EF4-FFF2-40B4-BE49-F238E27FC236}">
                <a16:creationId xmlns:a16="http://schemas.microsoft.com/office/drawing/2014/main" id="{15B07093-BF02-750E-5485-11540A8309B7}"/>
              </a:ext>
            </a:extLst>
          </p:cNvPr>
          <p:cNvSpPr txBox="1"/>
          <p:nvPr/>
        </p:nvSpPr>
        <p:spPr>
          <a:xfrm>
            <a:off x="824823" y="4281367"/>
            <a:ext cx="575987" cy="307777"/>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030A0"/>
                </a:solidFill>
                <a:effectLst/>
                <a:uLnTx/>
                <a:uFillTx/>
                <a:latin typeface="Arial" panose="020B0604020202020204"/>
                <a:ea typeface="+mn-ea"/>
                <a:cs typeface="+mn-cs"/>
              </a:rPr>
              <a:t>VPC Gateway</a:t>
            </a:r>
          </a:p>
        </p:txBody>
      </p:sp>
      <p:sp>
        <p:nvSpPr>
          <p:cNvPr id="3" name="Rectangle 2">
            <a:extLst>
              <a:ext uri="{FF2B5EF4-FFF2-40B4-BE49-F238E27FC236}">
                <a16:creationId xmlns:a16="http://schemas.microsoft.com/office/drawing/2014/main" id="{383A288F-9C1F-2B11-F5C4-5089B0B73944}"/>
              </a:ext>
            </a:extLst>
          </p:cNvPr>
          <p:cNvSpPr/>
          <p:nvPr/>
        </p:nvSpPr>
        <p:spPr bwMode="gray">
          <a:xfrm>
            <a:off x="3057131"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9" name="Rectangle 8">
            <a:extLst>
              <a:ext uri="{FF2B5EF4-FFF2-40B4-BE49-F238E27FC236}">
                <a16:creationId xmlns:a16="http://schemas.microsoft.com/office/drawing/2014/main" id="{285FDF48-CAF5-F6C4-0024-4704C922AD25}"/>
              </a:ext>
            </a:extLst>
          </p:cNvPr>
          <p:cNvSpPr/>
          <p:nvPr/>
        </p:nvSpPr>
        <p:spPr bwMode="gray">
          <a:xfrm>
            <a:off x="4892485"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0" name="Rectangle 19">
            <a:extLst>
              <a:ext uri="{FF2B5EF4-FFF2-40B4-BE49-F238E27FC236}">
                <a16:creationId xmlns:a16="http://schemas.microsoft.com/office/drawing/2014/main" id="{C57BA09E-7698-AC34-3A97-8AC152403DAB}"/>
              </a:ext>
            </a:extLst>
          </p:cNvPr>
          <p:cNvSpPr/>
          <p:nvPr/>
        </p:nvSpPr>
        <p:spPr bwMode="gray">
          <a:xfrm>
            <a:off x="6718008"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26" name="Google Shape;3733;p22">
            <a:extLst>
              <a:ext uri="{FF2B5EF4-FFF2-40B4-BE49-F238E27FC236}">
                <a16:creationId xmlns:a16="http://schemas.microsoft.com/office/drawing/2014/main" id="{11EF779F-76D9-9669-ECC3-3FB2A2A4E937}"/>
              </a:ext>
            </a:extLst>
          </p:cNvPr>
          <p:cNvGrpSpPr/>
          <p:nvPr/>
        </p:nvGrpSpPr>
        <p:grpSpPr>
          <a:xfrm>
            <a:off x="3042821" y="4618492"/>
            <a:ext cx="269469" cy="269658"/>
            <a:chOff x="658852" y="4943630"/>
            <a:chExt cx="583799" cy="584209"/>
          </a:xfrm>
        </p:grpSpPr>
        <p:sp>
          <p:nvSpPr>
            <p:cNvPr id="27" name="Google Shape;3734;p22">
              <a:extLst>
                <a:ext uri="{FF2B5EF4-FFF2-40B4-BE49-F238E27FC236}">
                  <a16:creationId xmlns:a16="http://schemas.microsoft.com/office/drawing/2014/main" id="{5EA9C0DC-BB3B-F631-9DBF-29FE3E397962}"/>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32" name="Google Shape;3735;p22">
              <a:extLst>
                <a:ext uri="{FF2B5EF4-FFF2-40B4-BE49-F238E27FC236}">
                  <a16:creationId xmlns:a16="http://schemas.microsoft.com/office/drawing/2014/main" id="{10315DE8-7FB7-C059-D028-6019A67685BF}"/>
                </a:ext>
              </a:extLst>
            </p:cNvPr>
            <p:cNvGrpSpPr/>
            <p:nvPr/>
          </p:nvGrpSpPr>
          <p:grpSpPr>
            <a:xfrm>
              <a:off x="834156" y="5211637"/>
              <a:ext cx="216359" cy="78004"/>
              <a:chOff x="834156" y="5211637"/>
              <a:chExt cx="216359" cy="78004"/>
            </a:xfrm>
          </p:grpSpPr>
          <p:sp>
            <p:nvSpPr>
              <p:cNvPr id="34" name="Google Shape;3736;p22">
                <a:extLst>
                  <a:ext uri="{FF2B5EF4-FFF2-40B4-BE49-F238E27FC236}">
                    <a16:creationId xmlns:a16="http://schemas.microsoft.com/office/drawing/2014/main" id="{AA070188-9C8B-3F86-5288-44B2DC82E136}"/>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35" name="Google Shape;3737;p22">
                <a:extLst>
                  <a:ext uri="{FF2B5EF4-FFF2-40B4-BE49-F238E27FC236}">
                    <a16:creationId xmlns:a16="http://schemas.microsoft.com/office/drawing/2014/main" id="{FD779387-9417-AE91-25C5-221707F72F1D}"/>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36" name="Google Shape;3733;p22">
            <a:extLst>
              <a:ext uri="{FF2B5EF4-FFF2-40B4-BE49-F238E27FC236}">
                <a16:creationId xmlns:a16="http://schemas.microsoft.com/office/drawing/2014/main" id="{C7ACBA39-4858-A14B-EC7C-72A444E987C1}"/>
              </a:ext>
            </a:extLst>
          </p:cNvPr>
          <p:cNvGrpSpPr/>
          <p:nvPr/>
        </p:nvGrpSpPr>
        <p:grpSpPr>
          <a:xfrm>
            <a:off x="4876256" y="4618492"/>
            <a:ext cx="269469" cy="269658"/>
            <a:chOff x="658852" y="4943630"/>
            <a:chExt cx="583799" cy="584209"/>
          </a:xfrm>
        </p:grpSpPr>
        <p:sp>
          <p:nvSpPr>
            <p:cNvPr id="37" name="Google Shape;3734;p22">
              <a:extLst>
                <a:ext uri="{FF2B5EF4-FFF2-40B4-BE49-F238E27FC236}">
                  <a16:creationId xmlns:a16="http://schemas.microsoft.com/office/drawing/2014/main" id="{9A183204-B7BF-E788-8961-18C34FDAB663}"/>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38" name="Google Shape;3735;p22">
              <a:extLst>
                <a:ext uri="{FF2B5EF4-FFF2-40B4-BE49-F238E27FC236}">
                  <a16:creationId xmlns:a16="http://schemas.microsoft.com/office/drawing/2014/main" id="{6F49257F-707B-15FF-075D-5C0FE0EC7E81}"/>
                </a:ext>
              </a:extLst>
            </p:cNvPr>
            <p:cNvGrpSpPr/>
            <p:nvPr/>
          </p:nvGrpSpPr>
          <p:grpSpPr>
            <a:xfrm>
              <a:off x="834156" y="5211637"/>
              <a:ext cx="216359" cy="78004"/>
              <a:chOff x="834156" y="5211637"/>
              <a:chExt cx="216359" cy="78004"/>
            </a:xfrm>
          </p:grpSpPr>
          <p:sp>
            <p:nvSpPr>
              <p:cNvPr id="39" name="Google Shape;3736;p22">
                <a:extLst>
                  <a:ext uri="{FF2B5EF4-FFF2-40B4-BE49-F238E27FC236}">
                    <a16:creationId xmlns:a16="http://schemas.microsoft.com/office/drawing/2014/main" id="{3A3490C0-1E93-9E78-6D40-E53466E1B06F}"/>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49" name="Google Shape;3737;p22">
                <a:extLst>
                  <a:ext uri="{FF2B5EF4-FFF2-40B4-BE49-F238E27FC236}">
                    <a16:creationId xmlns:a16="http://schemas.microsoft.com/office/drawing/2014/main" id="{C12C6CE8-EA1A-CA30-E90E-7605CD1C1BDA}"/>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nvGrpSpPr>
          <p:cNvPr id="50" name="Google Shape;3733;p22">
            <a:extLst>
              <a:ext uri="{FF2B5EF4-FFF2-40B4-BE49-F238E27FC236}">
                <a16:creationId xmlns:a16="http://schemas.microsoft.com/office/drawing/2014/main" id="{C85B9F4C-CA2F-C940-2F02-E9A2891AAD17}"/>
              </a:ext>
            </a:extLst>
          </p:cNvPr>
          <p:cNvGrpSpPr/>
          <p:nvPr/>
        </p:nvGrpSpPr>
        <p:grpSpPr>
          <a:xfrm>
            <a:off x="6705056" y="4618492"/>
            <a:ext cx="269469" cy="269658"/>
            <a:chOff x="658852" y="4943630"/>
            <a:chExt cx="583799" cy="584209"/>
          </a:xfrm>
        </p:grpSpPr>
        <p:sp>
          <p:nvSpPr>
            <p:cNvPr id="51" name="Google Shape;3734;p22">
              <a:extLst>
                <a:ext uri="{FF2B5EF4-FFF2-40B4-BE49-F238E27FC236}">
                  <a16:creationId xmlns:a16="http://schemas.microsoft.com/office/drawing/2014/main" id="{538D0505-8E5E-A7D2-9E67-2250C006BB60}"/>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52" name="Google Shape;3735;p22">
              <a:extLst>
                <a:ext uri="{FF2B5EF4-FFF2-40B4-BE49-F238E27FC236}">
                  <a16:creationId xmlns:a16="http://schemas.microsoft.com/office/drawing/2014/main" id="{3FEF97AA-16A5-58D1-AB2A-71062BEAB828}"/>
                </a:ext>
              </a:extLst>
            </p:cNvPr>
            <p:cNvGrpSpPr/>
            <p:nvPr/>
          </p:nvGrpSpPr>
          <p:grpSpPr>
            <a:xfrm>
              <a:off x="834156" y="5211637"/>
              <a:ext cx="216359" cy="78004"/>
              <a:chOff x="834156" y="5211637"/>
              <a:chExt cx="216359" cy="78004"/>
            </a:xfrm>
          </p:grpSpPr>
          <p:sp>
            <p:nvSpPr>
              <p:cNvPr id="53" name="Google Shape;3736;p22">
                <a:extLst>
                  <a:ext uri="{FF2B5EF4-FFF2-40B4-BE49-F238E27FC236}">
                    <a16:creationId xmlns:a16="http://schemas.microsoft.com/office/drawing/2014/main" id="{DDF794CC-EC25-5728-064A-6DB270173E68}"/>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54" name="Google Shape;3737;p22">
                <a:extLst>
                  <a:ext uri="{FF2B5EF4-FFF2-40B4-BE49-F238E27FC236}">
                    <a16:creationId xmlns:a16="http://schemas.microsoft.com/office/drawing/2014/main" id="{99BD77CE-C795-DFE5-E7A0-3B2D847CF442}"/>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
        <p:nvSpPr>
          <p:cNvPr id="68" name="Rectangle 67">
            <a:extLst>
              <a:ext uri="{FF2B5EF4-FFF2-40B4-BE49-F238E27FC236}">
                <a16:creationId xmlns:a16="http://schemas.microsoft.com/office/drawing/2014/main" id="{758C3468-4423-6408-5A8E-BDBF75B193A1}"/>
              </a:ext>
            </a:extLst>
          </p:cNvPr>
          <p:cNvSpPr/>
          <p:nvPr/>
        </p:nvSpPr>
        <p:spPr bwMode="gray">
          <a:xfrm>
            <a:off x="1234520" y="4624093"/>
            <a:ext cx="237601" cy="252000"/>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69" name="Google Shape;3733;p22">
            <a:extLst>
              <a:ext uri="{FF2B5EF4-FFF2-40B4-BE49-F238E27FC236}">
                <a16:creationId xmlns:a16="http://schemas.microsoft.com/office/drawing/2014/main" id="{DA59D7F0-EAF8-259A-80DB-E419C143872F}"/>
              </a:ext>
            </a:extLst>
          </p:cNvPr>
          <p:cNvGrpSpPr/>
          <p:nvPr/>
        </p:nvGrpSpPr>
        <p:grpSpPr>
          <a:xfrm>
            <a:off x="1218656" y="4618492"/>
            <a:ext cx="269469" cy="269658"/>
            <a:chOff x="658852" y="4943630"/>
            <a:chExt cx="583799" cy="584209"/>
          </a:xfrm>
        </p:grpSpPr>
        <p:sp>
          <p:nvSpPr>
            <p:cNvPr id="70" name="Google Shape;3734;p22">
              <a:extLst>
                <a:ext uri="{FF2B5EF4-FFF2-40B4-BE49-F238E27FC236}">
                  <a16:creationId xmlns:a16="http://schemas.microsoft.com/office/drawing/2014/main" id="{8572230B-8533-3C14-D1D3-C018FD8B3B5B}"/>
                </a:ext>
              </a:extLst>
            </p:cNvPr>
            <p:cNvSpPr/>
            <p:nvPr/>
          </p:nvSpPr>
          <p:spPr>
            <a:xfrm>
              <a:off x="658852" y="4943630"/>
              <a:ext cx="583799" cy="584209"/>
            </a:xfrm>
            <a:custGeom>
              <a:avLst/>
              <a:gdLst/>
              <a:ahLst/>
              <a:cxnLst/>
              <a:rect l="l" t="t" r="r" b="b"/>
              <a:pathLst>
                <a:path w="583799" h="584209" extrusionOk="0">
                  <a:moveTo>
                    <a:pt x="491426" y="584210"/>
                  </a:moveTo>
                  <a:lnTo>
                    <a:pt x="0" y="584210"/>
                  </a:lnTo>
                  <a:lnTo>
                    <a:pt x="0" y="0"/>
                  </a:lnTo>
                  <a:lnTo>
                    <a:pt x="583799" y="0"/>
                  </a:lnTo>
                  <a:lnTo>
                    <a:pt x="583799" y="566146"/>
                  </a:lnTo>
                  <a:lnTo>
                    <a:pt x="542745" y="566146"/>
                  </a:lnTo>
                  <a:lnTo>
                    <a:pt x="542745" y="41055"/>
                  </a:lnTo>
                  <a:lnTo>
                    <a:pt x="41055" y="41055"/>
                  </a:lnTo>
                  <a:lnTo>
                    <a:pt x="41055" y="543155"/>
                  </a:lnTo>
                  <a:lnTo>
                    <a:pt x="491426" y="543155"/>
                  </a:lnTo>
                  <a:lnTo>
                    <a:pt x="491426" y="58421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71" name="Google Shape;3735;p22">
              <a:extLst>
                <a:ext uri="{FF2B5EF4-FFF2-40B4-BE49-F238E27FC236}">
                  <a16:creationId xmlns:a16="http://schemas.microsoft.com/office/drawing/2014/main" id="{FE258561-9BD1-0A03-4010-A3D06823C95C}"/>
                </a:ext>
              </a:extLst>
            </p:cNvPr>
            <p:cNvGrpSpPr/>
            <p:nvPr/>
          </p:nvGrpSpPr>
          <p:grpSpPr>
            <a:xfrm>
              <a:off x="834156" y="5211637"/>
              <a:ext cx="216359" cy="78004"/>
              <a:chOff x="834156" y="5211637"/>
              <a:chExt cx="216359" cy="78004"/>
            </a:xfrm>
          </p:grpSpPr>
          <p:sp>
            <p:nvSpPr>
              <p:cNvPr id="72" name="Google Shape;3736;p22">
                <a:extLst>
                  <a:ext uri="{FF2B5EF4-FFF2-40B4-BE49-F238E27FC236}">
                    <a16:creationId xmlns:a16="http://schemas.microsoft.com/office/drawing/2014/main" id="{236BF18B-0583-DB3B-295D-B85CC7DA9097}"/>
                  </a:ext>
                </a:extLst>
              </p:cNvPr>
              <p:cNvSpPr/>
              <p:nvPr/>
            </p:nvSpPr>
            <p:spPr>
              <a:xfrm>
                <a:off x="834156" y="5213690"/>
                <a:ext cx="81699" cy="75951"/>
              </a:xfrm>
              <a:custGeom>
                <a:avLst/>
                <a:gdLst/>
                <a:ahLst/>
                <a:cxnLst/>
                <a:rect l="l" t="t" r="r" b="b"/>
                <a:pathLst>
                  <a:path w="81699" h="75951" extrusionOk="0">
                    <a:moveTo>
                      <a:pt x="0" y="0"/>
                    </a:moveTo>
                    <a:lnTo>
                      <a:pt x="18885" y="0"/>
                    </a:lnTo>
                    <a:lnTo>
                      <a:pt x="41055" y="55013"/>
                    </a:lnTo>
                    <a:lnTo>
                      <a:pt x="62814" y="0"/>
                    </a:lnTo>
                    <a:lnTo>
                      <a:pt x="81699" y="0"/>
                    </a:lnTo>
                    <a:lnTo>
                      <a:pt x="49676" y="75951"/>
                    </a:lnTo>
                    <a:lnTo>
                      <a:pt x="32844" y="75951"/>
                    </a:lnTo>
                    <a:lnTo>
                      <a:pt x="0" y="0"/>
                    </a:ln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7030A0"/>
                  </a:solidFill>
                  <a:effectLst/>
                  <a:uLnTx/>
                  <a:uFillTx/>
                  <a:latin typeface="Arial"/>
                  <a:ea typeface="Arial"/>
                  <a:cs typeface="Arial"/>
                  <a:sym typeface="Arial"/>
                </a:endParaRPr>
              </a:p>
            </p:txBody>
          </p:sp>
          <p:sp>
            <p:nvSpPr>
              <p:cNvPr id="73" name="Google Shape;3737;p22">
                <a:extLst>
                  <a:ext uri="{FF2B5EF4-FFF2-40B4-BE49-F238E27FC236}">
                    <a16:creationId xmlns:a16="http://schemas.microsoft.com/office/drawing/2014/main" id="{8F8D065D-B604-6236-3ACD-6535FB368284}"/>
                  </a:ext>
                </a:extLst>
              </p:cNvPr>
              <p:cNvSpPr/>
              <p:nvPr/>
            </p:nvSpPr>
            <p:spPr>
              <a:xfrm>
                <a:off x="935151" y="5211637"/>
                <a:ext cx="115364" cy="77593"/>
              </a:xfrm>
              <a:custGeom>
                <a:avLst/>
                <a:gdLst/>
                <a:ahLst/>
                <a:cxnLst/>
                <a:rect l="l" t="t" r="r" b="b"/>
                <a:pathLst>
                  <a:path w="115364" h="77593" extrusionOk="0">
                    <a:moveTo>
                      <a:pt x="101816" y="3695"/>
                    </a:moveTo>
                    <a:cubicBezTo>
                      <a:pt x="105921" y="6158"/>
                      <a:pt x="109206" y="9853"/>
                      <a:pt x="111669" y="13959"/>
                    </a:cubicBezTo>
                    <a:cubicBezTo>
                      <a:pt x="114132" y="18475"/>
                      <a:pt x="115364" y="23401"/>
                      <a:pt x="115364" y="29149"/>
                    </a:cubicBezTo>
                    <a:lnTo>
                      <a:pt x="115364" y="77594"/>
                    </a:lnTo>
                    <a:lnTo>
                      <a:pt x="97710" y="77594"/>
                    </a:lnTo>
                    <a:lnTo>
                      <a:pt x="97710" y="32433"/>
                    </a:lnTo>
                    <a:cubicBezTo>
                      <a:pt x="97710" y="27507"/>
                      <a:pt x="96479" y="23401"/>
                      <a:pt x="93605" y="20117"/>
                    </a:cubicBezTo>
                    <a:cubicBezTo>
                      <a:pt x="90731" y="16832"/>
                      <a:pt x="87447" y="15190"/>
                      <a:pt x="82931" y="15190"/>
                    </a:cubicBezTo>
                    <a:cubicBezTo>
                      <a:pt x="78415" y="15190"/>
                      <a:pt x="73899" y="16832"/>
                      <a:pt x="71025" y="19706"/>
                    </a:cubicBezTo>
                    <a:cubicBezTo>
                      <a:pt x="67740" y="22580"/>
                      <a:pt x="66509" y="26686"/>
                      <a:pt x="66509" y="31202"/>
                    </a:cubicBezTo>
                    <a:lnTo>
                      <a:pt x="66509" y="77594"/>
                    </a:lnTo>
                    <a:lnTo>
                      <a:pt x="49266" y="77594"/>
                    </a:lnTo>
                    <a:lnTo>
                      <a:pt x="49266" y="32433"/>
                    </a:lnTo>
                    <a:cubicBezTo>
                      <a:pt x="49266" y="27507"/>
                      <a:pt x="48034" y="23401"/>
                      <a:pt x="45160" y="20117"/>
                    </a:cubicBezTo>
                    <a:cubicBezTo>
                      <a:pt x="42286" y="16832"/>
                      <a:pt x="39002" y="15190"/>
                      <a:pt x="34486" y="15190"/>
                    </a:cubicBezTo>
                    <a:cubicBezTo>
                      <a:pt x="29970" y="15190"/>
                      <a:pt x="25865" y="16832"/>
                      <a:pt x="22580" y="19706"/>
                    </a:cubicBezTo>
                    <a:cubicBezTo>
                      <a:pt x="19296" y="22580"/>
                      <a:pt x="18064" y="26686"/>
                      <a:pt x="18064" y="31202"/>
                    </a:cubicBezTo>
                    <a:lnTo>
                      <a:pt x="18064" y="77594"/>
                    </a:lnTo>
                    <a:lnTo>
                      <a:pt x="0" y="77594"/>
                    </a:lnTo>
                    <a:lnTo>
                      <a:pt x="0" y="1642"/>
                    </a:lnTo>
                    <a:lnTo>
                      <a:pt x="18064" y="1642"/>
                    </a:lnTo>
                    <a:lnTo>
                      <a:pt x="18064" y="11906"/>
                    </a:lnTo>
                    <a:cubicBezTo>
                      <a:pt x="20117" y="8211"/>
                      <a:pt x="22991" y="5337"/>
                      <a:pt x="26686" y="3284"/>
                    </a:cubicBezTo>
                    <a:cubicBezTo>
                      <a:pt x="30381" y="1232"/>
                      <a:pt x="34486" y="0"/>
                      <a:pt x="39413" y="0"/>
                    </a:cubicBezTo>
                    <a:cubicBezTo>
                      <a:pt x="44339" y="0"/>
                      <a:pt x="50497" y="1642"/>
                      <a:pt x="55424" y="4927"/>
                    </a:cubicBezTo>
                    <a:cubicBezTo>
                      <a:pt x="59940" y="8211"/>
                      <a:pt x="63224" y="12727"/>
                      <a:pt x="65277" y="18064"/>
                    </a:cubicBezTo>
                    <a:cubicBezTo>
                      <a:pt x="66509" y="12727"/>
                      <a:pt x="68972" y="8211"/>
                      <a:pt x="73078" y="4927"/>
                    </a:cubicBezTo>
                    <a:cubicBezTo>
                      <a:pt x="77183" y="1642"/>
                      <a:pt x="82110" y="0"/>
                      <a:pt x="88268" y="0"/>
                    </a:cubicBezTo>
                    <a:cubicBezTo>
                      <a:pt x="94426" y="0"/>
                      <a:pt x="98121" y="1232"/>
                      <a:pt x="102226" y="369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
        <p:nvSpPr>
          <p:cNvPr id="88" name="!!externalconnection">
            <a:extLst>
              <a:ext uri="{FF2B5EF4-FFF2-40B4-BE49-F238E27FC236}">
                <a16:creationId xmlns:a16="http://schemas.microsoft.com/office/drawing/2014/main" id="{02417564-257B-0EB6-75C6-80DA99F98D31}"/>
              </a:ext>
            </a:extLst>
          </p:cNvPr>
          <p:cNvSpPr/>
          <p:nvPr/>
        </p:nvSpPr>
        <p:spPr bwMode="gray">
          <a:xfrm>
            <a:off x="1065213" y="2924944"/>
            <a:ext cx="6400800" cy="180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	External Connection</a:t>
            </a:r>
          </a:p>
        </p:txBody>
      </p:sp>
      <p:sp>
        <p:nvSpPr>
          <p:cNvPr id="89" name="!!externalconnection">
            <a:extLst>
              <a:ext uri="{FF2B5EF4-FFF2-40B4-BE49-F238E27FC236}">
                <a16:creationId xmlns:a16="http://schemas.microsoft.com/office/drawing/2014/main" id="{10FDEF47-2883-D993-2D4B-D601E3715307}"/>
              </a:ext>
            </a:extLst>
          </p:cNvPr>
          <p:cNvSpPr/>
          <p:nvPr/>
        </p:nvSpPr>
        <p:spPr bwMode="gray">
          <a:xfrm>
            <a:off x="3419857" y="2924944"/>
            <a:ext cx="699515" cy="180000"/>
          </a:xfrm>
          <a:prstGeom prst="rect">
            <a:avLst/>
          </a:prstGeom>
          <a:solidFill>
            <a:schemeClr val="accent2"/>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Distributed</a:t>
            </a:r>
          </a:p>
        </p:txBody>
      </p:sp>
      <p:sp>
        <p:nvSpPr>
          <p:cNvPr id="2" name="Rounded Rectangle 1">
            <a:extLst>
              <a:ext uri="{FF2B5EF4-FFF2-40B4-BE49-F238E27FC236}">
                <a16:creationId xmlns:a16="http://schemas.microsoft.com/office/drawing/2014/main" id="{0E0C39C8-2353-3991-6EEB-68CE5C2908FF}"/>
              </a:ext>
            </a:extLst>
          </p:cNvPr>
          <p:cNvSpPr/>
          <p:nvPr/>
        </p:nvSpPr>
        <p:spPr bwMode="gray">
          <a:xfrm>
            <a:off x="4556501" y="3782794"/>
            <a:ext cx="526943" cy="503695"/>
          </a:xfrm>
          <a:prstGeom prst="roundRect">
            <a:avLst/>
          </a:prstGeom>
          <a:solidFill>
            <a:schemeClr val="bg1"/>
          </a:solidFill>
          <a:ln w="15875">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Route Controller</a:t>
            </a:r>
            <a:b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b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VM</a:t>
            </a:r>
          </a:p>
        </p:txBody>
      </p:sp>
      <p:grpSp>
        <p:nvGrpSpPr>
          <p:cNvPr id="95" name="Group 94">
            <a:extLst>
              <a:ext uri="{FF2B5EF4-FFF2-40B4-BE49-F238E27FC236}">
                <a16:creationId xmlns:a16="http://schemas.microsoft.com/office/drawing/2014/main" id="{1DF4BCB2-CF10-D968-8A23-407A495AC61A}"/>
              </a:ext>
            </a:extLst>
          </p:cNvPr>
          <p:cNvGrpSpPr/>
          <p:nvPr/>
        </p:nvGrpSpPr>
        <p:grpSpPr>
          <a:xfrm>
            <a:off x="1747099" y="1935678"/>
            <a:ext cx="5487986" cy="1847116"/>
            <a:chOff x="1747099" y="1872734"/>
            <a:chExt cx="5487986" cy="1910060"/>
          </a:xfrm>
        </p:grpSpPr>
        <p:cxnSp>
          <p:nvCxnSpPr>
            <p:cNvPr id="57" name="Elbow Connector 56">
              <a:extLst>
                <a:ext uri="{FF2B5EF4-FFF2-40B4-BE49-F238E27FC236}">
                  <a16:creationId xmlns:a16="http://schemas.microsoft.com/office/drawing/2014/main" id="{0BBD975E-CED7-7CB5-EADC-9E44FC819D6F}"/>
                </a:ext>
              </a:extLst>
            </p:cNvPr>
            <p:cNvCxnSpPr>
              <a:cxnSpLocks/>
              <a:stCxn id="2" idx="0"/>
              <a:endCxn id="33" idx="0"/>
            </p:cNvCxnSpPr>
            <p:nvPr/>
          </p:nvCxnSpPr>
          <p:spPr bwMode="gray">
            <a:xfrm rot="16200000" flipV="1">
              <a:off x="3286241" y="2249061"/>
              <a:ext cx="1818759" cy="1248705"/>
            </a:xfrm>
            <a:prstGeom prst="bentConnector3">
              <a:avLst>
                <a:gd name="adj1" fmla="val 109621"/>
              </a:avLst>
            </a:prstGeom>
            <a:ln w="38100">
              <a:solidFill>
                <a:schemeClr val="accent6"/>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Elbow Connector 57">
              <a:extLst>
                <a:ext uri="{FF2B5EF4-FFF2-40B4-BE49-F238E27FC236}">
                  <a16:creationId xmlns:a16="http://schemas.microsoft.com/office/drawing/2014/main" id="{38967A46-4F14-6EE2-027C-75DDE28A0722}"/>
                </a:ext>
              </a:extLst>
            </p:cNvPr>
            <p:cNvCxnSpPr>
              <a:cxnSpLocks/>
              <a:stCxn id="2" idx="0"/>
              <a:endCxn id="43" idx="0"/>
            </p:cNvCxnSpPr>
            <p:nvPr/>
          </p:nvCxnSpPr>
          <p:spPr bwMode="gray">
            <a:xfrm rot="16200000" flipV="1">
              <a:off x="2374156" y="1336977"/>
              <a:ext cx="1818759" cy="3072874"/>
            </a:xfrm>
            <a:prstGeom prst="bentConnector3">
              <a:avLst>
                <a:gd name="adj1" fmla="val 109621"/>
              </a:avLst>
            </a:prstGeom>
            <a:ln w="38100">
              <a:solidFill>
                <a:schemeClr val="accent6"/>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2" name="Elbow Connector 61">
              <a:extLst>
                <a:ext uri="{FF2B5EF4-FFF2-40B4-BE49-F238E27FC236}">
                  <a16:creationId xmlns:a16="http://schemas.microsoft.com/office/drawing/2014/main" id="{EA3DC4C5-237F-0DF9-3854-3FDB651C3E9A}"/>
                </a:ext>
              </a:extLst>
            </p:cNvPr>
            <p:cNvCxnSpPr>
              <a:cxnSpLocks/>
              <a:stCxn id="2" idx="0"/>
              <a:endCxn id="30" idx="0"/>
            </p:cNvCxnSpPr>
            <p:nvPr/>
          </p:nvCxnSpPr>
          <p:spPr bwMode="gray">
            <a:xfrm rot="5400000" flipH="1" flipV="1">
              <a:off x="4201925" y="2582082"/>
              <a:ext cx="1818759" cy="582664"/>
            </a:xfrm>
            <a:prstGeom prst="bentConnector3">
              <a:avLst>
                <a:gd name="adj1" fmla="val 109520"/>
              </a:avLst>
            </a:prstGeom>
            <a:ln w="38100">
              <a:solidFill>
                <a:schemeClr val="accent6"/>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5" name="Elbow Connector 74">
              <a:extLst>
                <a:ext uri="{FF2B5EF4-FFF2-40B4-BE49-F238E27FC236}">
                  <a16:creationId xmlns:a16="http://schemas.microsoft.com/office/drawing/2014/main" id="{276A8EFD-00EC-202E-AFC9-2A641BEEF81D}"/>
                </a:ext>
              </a:extLst>
            </p:cNvPr>
            <p:cNvCxnSpPr>
              <a:cxnSpLocks/>
              <a:stCxn id="2" idx="0"/>
              <a:endCxn id="22" idx="0"/>
            </p:cNvCxnSpPr>
            <p:nvPr/>
          </p:nvCxnSpPr>
          <p:spPr bwMode="gray">
            <a:xfrm rot="5400000" flipH="1" flipV="1">
              <a:off x="5118149" y="1665858"/>
              <a:ext cx="1818759" cy="2415113"/>
            </a:xfrm>
            <a:prstGeom prst="bentConnector3">
              <a:avLst>
                <a:gd name="adj1" fmla="val 109621"/>
              </a:avLst>
            </a:prstGeom>
            <a:ln w="38100">
              <a:solidFill>
                <a:schemeClr val="accent6"/>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5A22DF39-438C-5FD8-A974-E90AB64E1E42}"/>
                </a:ext>
              </a:extLst>
            </p:cNvPr>
            <p:cNvSpPr txBox="1"/>
            <p:nvPr/>
          </p:nvSpPr>
          <p:spPr>
            <a:xfrm>
              <a:off x="3808413" y="1872734"/>
              <a:ext cx="870983" cy="184666"/>
            </a:xfrm>
            <a:prstGeom prst="rect">
              <a:avLst/>
            </a:prstGeom>
            <a:noFill/>
            <a:ln w="38100">
              <a:noFill/>
            </a:ln>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3BA16"/>
                  </a:solidFill>
                  <a:effectLst/>
                  <a:uLnTx/>
                  <a:uFillTx/>
                  <a:latin typeface="Arial" panose="020B0604020202020204"/>
                  <a:ea typeface="+mn-ea"/>
                  <a:cs typeface="+mn-cs"/>
                </a:rPr>
                <a:t>BGP EVPN</a:t>
              </a:r>
            </a:p>
          </p:txBody>
        </p:sp>
      </p:grpSp>
      <p:grpSp>
        <p:nvGrpSpPr>
          <p:cNvPr id="25" name="Group 24">
            <a:extLst>
              <a:ext uri="{FF2B5EF4-FFF2-40B4-BE49-F238E27FC236}">
                <a16:creationId xmlns:a16="http://schemas.microsoft.com/office/drawing/2014/main" id="{69D580E1-ADC7-6407-A5B1-84F45E5E0E22}"/>
              </a:ext>
            </a:extLst>
          </p:cNvPr>
          <p:cNvGrpSpPr/>
          <p:nvPr/>
        </p:nvGrpSpPr>
        <p:grpSpPr>
          <a:xfrm>
            <a:off x="5222637" y="2023970"/>
            <a:ext cx="360000" cy="360000"/>
            <a:chOff x="8453081" y="4440600"/>
            <a:chExt cx="360000" cy="360000"/>
          </a:xfrm>
        </p:grpSpPr>
        <p:sp>
          <p:nvSpPr>
            <p:cNvPr id="29" name="Oval 28">
              <a:extLst>
                <a:ext uri="{FF2B5EF4-FFF2-40B4-BE49-F238E27FC236}">
                  <a16:creationId xmlns:a16="http://schemas.microsoft.com/office/drawing/2014/main" id="{5FC76634-3542-A81A-8F7B-2B2BA1EDC0D0}"/>
                </a:ext>
              </a:extLst>
            </p:cNvPr>
            <p:cNvSpPr/>
            <p:nvPr/>
          </p:nvSpPr>
          <p:spPr>
            <a:xfrm>
              <a:off x="8453081" y="4440600"/>
              <a:ext cx="360000" cy="3600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30" name="Graphic 29">
              <a:extLst>
                <a:ext uri="{FF2B5EF4-FFF2-40B4-BE49-F238E27FC236}">
                  <a16:creationId xmlns:a16="http://schemas.microsoft.com/office/drawing/2014/main" id="{1643E9B3-9B5B-ADC0-E561-74D6FFF84D27}"/>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453081" y="4440600"/>
              <a:ext cx="360000" cy="360000"/>
            </a:xfrm>
            <a:prstGeom prst="rect">
              <a:avLst/>
            </a:prstGeom>
          </p:spPr>
        </p:pic>
      </p:grpSp>
      <p:grpSp>
        <p:nvGrpSpPr>
          <p:cNvPr id="31" name="Group 30">
            <a:extLst>
              <a:ext uri="{FF2B5EF4-FFF2-40B4-BE49-F238E27FC236}">
                <a16:creationId xmlns:a16="http://schemas.microsoft.com/office/drawing/2014/main" id="{C89C5BF1-ABEB-B5FD-84DB-030E9DFDB443}"/>
              </a:ext>
            </a:extLst>
          </p:cNvPr>
          <p:cNvGrpSpPr/>
          <p:nvPr/>
        </p:nvGrpSpPr>
        <p:grpSpPr>
          <a:xfrm>
            <a:off x="3391268" y="2023970"/>
            <a:ext cx="360000" cy="360000"/>
            <a:chOff x="8453081" y="4440600"/>
            <a:chExt cx="360000" cy="360000"/>
          </a:xfrm>
        </p:grpSpPr>
        <p:sp>
          <p:nvSpPr>
            <p:cNvPr id="33" name="Oval 32">
              <a:extLst>
                <a:ext uri="{FF2B5EF4-FFF2-40B4-BE49-F238E27FC236}">
                  <a16:creationId xmlns:a16="http://schemas.microsoft.com/office/drawing/2014/main" id="{878C3191-3CD1-E3D7-33B1-BFC95C851529}"/>
                </a:ext>
              </a:extLst>
            </p:cNvPr>
            <p:cNvSpPr/>
            <p:nvPr/>
          </p:nvSpPr>
          <p:spPr>
            <a:xfrm>
              <a:off x="8453081" y="4440600"/>
              <a:ext cx="360000" cy="36000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40" name="Graphic 39">
              <a:extLst>
                <a:ext uri="{FF2B5EF4-FFF2-40B4-BE49-F238E27FC236}">
                  <a16:creationId xmlns:a16="http://schemas.microsoft.com/office/drawing/2014/main" id="{F912F046-0B55-B2DE-B5EB-F955BEC54B9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453081" y="4440600"/>
              <a:ext cx="360000" cy="360000"/>
            </a:xfrm>
            <a:prstGeom prst="rect">
              <a:avLst/>
            </a:prstGeom>
          </p:spPr>
        </p:pic>
      </p:grpSp>
    </p:spTree>
    <p:extLst>
      <p:ext uri="{BB962C8B-B14F-4D97-AF65-F5344CB8AC3E}">
        <p14:creationId xmlns:p14="http://schemas.microsoft.com/office/powerpoint/2010/main" val="2857702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4239"/>
        <p:cNvGrpSpPr/>
        <p:nvPr/>
      </p:nvGrpSpPr>
      <p:grpSpPr>
        <a:xfrm>
          <a:off x="0" y="0"/>
          <a:ext cx="0" cy="0"/>
          <a:chOff x="0" y="0"/>
          <a:chExt cx="0" cy="0"/>
        </a:xfrm>
      </p:grpSpPr>
      <p:sp>
        <p:nvSpPr>
          <p:cNvPr id="14240" name="Google Shape;14240;p69"/>
          <p:cNvSpPr txBox="1">
            <a:spLocks noGrp="1"/>
          </p:cNvSpPr>
          <p:nvPr>
            <p:ph type="title"/>
          </p:nvPr>
        </p:nvSpPr>
        <p:spPr>
          <a:xfrm>
            <a:off x="589107" y="938794"/>
            <a:ext cx="6555971" cy="122936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a:t>Modernize Infrastructure</a:t>
            </a:r>
            <a:endParaRPr/>
          </a:p>
        </p:txBody>
      </p:sp>
      <p:sp>
        <p:nvSpPr>
          <p:cNvPr id="14241" name="Google Shape;14241;p69"/>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r>
              <a:rPr lang="en-US"/>
              <a:t>Migrating to VCF with HCX</a:t>
            </a: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4247"/>
        <p:cNvGrpSpPr/>
        <p:nvPr/>
      </p:nvGrpSpPr>
      <p:grpSpPr>
        <a:xfrm>
          <a:off x="0" y="0"/>
          <a:ext cx="0" cy="0"/>
          <a:chOff x="0" y="0"/>
          <a:chExt cx="0" cy="0"/>
        </a:xfrm>
      </p:grpSpPr>
      <p:grpSp>
        <p:nvGrpSpPr>
          <p:cNvPr id="14248" name="Google Shape;14248;p70"/>
          <p:cNvGrpSpPr/>
          <p:nvPr/>
        </p:nvGrpSpPr>
        <p:grpSpPr>
          <a:xfrm>
            <a:off x="0" y="977059"/>
            <a:ext cx="12188825" cy="2473479"/>
            <a:chOff x="0" y="977059"/>
            <a:chExt cx="12188825" cy="2473479"/>
          </a:xfrm>
        </p:grpSpPr>
        <p:sp>
          <p:nvSpPr>
            <p:cNvPr id="14249" name="Google Shape;14249;p70"/>
            <p:cNvSpPr/>
            <p:nvPr/>
          </p:nvSpPr>
          <p:spPr>
            <a:xfrm>
              <a:off x="467052" y="977059"/>
              <a:ext cx="11353888" cy="2473479"/>
            </a:xfrm>
            <a:prstGeom prst="rect">
              <a:avLst/>
            </a:prstGeom>
            <a:gradFill>
              <a:gsLst>
                <a:gs pos="0">
                  <a:srgbClr val="61A60E">
                    <a:alpha val="67058"/>
                  </a:srgbClr>
                </a:gs>
                <a:gs pos="100000">
                  <a:srgbClr val="2C996F"/>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600"/>
                </a:spcAft>
                <a:buClr>
                  <a:srgbClr val="000000"/>
                </a:buClr>
                <a:buSzPts val="2000"/>
                <a:buFont typeface="Arial"/>
                <a:buNone/>
              </a:pPr>
              <a:endParaRPr sz="2000" b="0" i="0" u="none" strike="noStrike" cap="none">
                <a:solidFill>
                  <a:srgbClr val="FFFFFF"/>
                </a:solidFill>
                <a:latin typeface="Arial"/>
                <a:ea typeface="Arial"/>
                <a:cs typeface="Arial"/>
                <a:sym typeface="Arial"/>
              </a:endParaRPr>
            </a:p>
          </p:txBody>
        </p:sp>
        <p:grpSp>
          <p:nvGrpSpPr>
            <p:cNvPr id="14250" name="Google Shape;14250;p70"/>
            <p:cNvGrpSpPr/>
            <p:nvPr/>
          </p:nvGrpSpPr>
          <p:grpSpPr>
            <a:xfrm>
              <a:off x="0" y="1399658"/>
              <a:ext cx="12188825" cy="1943533"/>
              <a:chOff x="0" y="1002196"/>
              <a:chExt cx="12188825" cy="2517913"/>
            </a:xfrm>
          </p:grpSpPr>
          <p:pic>
            <p:nvPicPr>
              <p:cNvPr id="14251" name="Google Shape;14251;p70"/>
              <p:cNvPicPr preferRelativeResize="0"/>
              <p:nvPr/>
            </p:nvPicPr>
            <p:blipFill rotWithShape="1">
              <a:blip r:embed="rId3">
                <a:alphaModFix/>
              </a:blip>
              <a:srcRect l="8253" t="84196" r="8374" b="-1918"/>
              <a:stretch/>
            </p:blipFill>
            <p:spPr>
              <a:xfrm>
                <a:off x="0" y="1002196"/>
                <a:ext cx="12188825" cy="151388"/>
              </a:xfrm>
              <a:prstGeom prst="rect">
                <a:avLst/>
              </a:prstGeom>
              <a:noFill/>
              <a:ln>
                <a:noFill/>
              </a:ln>
            </p:spPr>
          </p:pic>
          <p:pic>
            <p:nvPicPr>
              <p:cNvPr id="14252" name="Google Shape;14252;p70"/>
              <p:cNvPicPr preferRelativeResize="0"/>
              <p:nvPr/>
            </p:nvPicPr>
            <p:blipFill rotWithShape="1">
              <a:blip r:embed="rId3">
                <a:alphaModFix/>
              </a:blip>
              <a:srcRect l="8253" t="84196" r="8374" b="-1918"/>
              <a:stretch/>
            </p:blipFill>
            <p:spPr>
              <a:xfrm rot="10800000" flipH="1">
                <a:off x="0" y="3336033"/>
                <a:ext cx="12188825" cy="184076"/>
              </a:xfrm>
              <a:prstGeom prst="rect">
                <a:avLst/>
              </a:prstGeom>
              <a:noFill/>
              <a:ln>
                <a:noFill/>
              </a:ln>
            </p:spPr>
          </p:pic>
        </p:grpSp>
        <p:sp>
          <p:nvSpPr>
            <p:cNvPr id="14253" name="Google Shape;14253;p70"/>
            <p:cNvSpPr txBox="1"/>
            <p:nvPr/>
          </p:nvSpPr>
          <p:spPr>
            <a:xfrm>
              <a:off x="4418312" y="1036162"/>
              <a:ext cx="3352074" cy="307777"/>
            </a:xfrm>
            <a:prstGeom prst="rect">
              <a:avLst/>
            </a:prstGeom>
            <a:noFill/>
            <a:ln>
              <a:noFill/>
            </a:ln>
          </p:spPr>
          <p:txBody>
            <a:bodyPr spcFirstLastPara="1" wrap="square" lIns="0" tIns="0" rIns="0" bIns="0" anchor="ctr" anchorCtr="0">
              <a:spAutoFit/>
            </a:bodyPr>
            <a:lstStyle/>
            <a:p>
              <a:pPr marL="0" marR="0" lvl="0" indent="-102870" algn="ctr" rtl="0">
                <a:lnSpc>
                  <a:spcPct val="100000"/>
                </a:lnSpc>
                <a:spcBef>
                  <a:spcPts val="0"/>
                </a:spcBef>
                <a:spcAft>
                  <a:spcPts val="0"/>
                </a:spcAft>
                <a:buClr>
                  <a:srgbClr val="666666"/>
                </a:buClr>
                <a:buSzPts val="1620"/>
                <a:buFont typeface="Arial"/>
                <a:buChar char="​"/>
              </a:pPr>
              <a:r>
                <a:rPr lang="en-US" sz="2000" b="0" i="0" u="none" strike="noStrike" cap="none">
                  <a:solidFill>
                    <a:srgbClr val="FFFFFF"/>
                  </a:solidFill>
                  <a:latin typeface="Arial"/>
                  <a:ea typeface="Arial"/>
                  <a:cs typeface="Arial"/>
                  <a:sym typeface="Arial"/>
                </a:rPr>
                <a:t>HCX Networking</a:t>
              </a:r>
              <a:endParaRPr sz="2000" b="0" i="0" u="none" strike="noStrike" cap="none">
                <a:solidFill>
                  <a:srgbClr val="FFFFFF"/>
                </a:solidFill>
                <a:latin typeface="Arial"/>
                <a:ea typeface="Arial"/>
                <a:cs typeface="Arial"/>
                <a:sym typeface="Arial"/>
              </a:endParaRPr>
            </a:p>
          </p:txBody>
        </p:sp>
      </p:grpSp>
      <p:grpSp>
        <p:nvGrpSpPr>
          <p:cNvPr id="14254" name="Google Shape;14254;p70"/>
          <p:cNvGrpSpPr/>
          <p:nvPr/>
        </p:nvGrpSpPr>
        <p:grpSpPr>
          <a:xfrm>
            <a:off x="0" y="3561234"/>
            <a:ext cx="12188825" cy="2473479"/>
            <a:chOff x="0" y="3561234"/>
            <a:chExt cx="12188825" cy="2473479"/>
          </a:xfrm>
        </p:grpSpPr>
        <p:sp>
          <p:nvSpPr>
            <p:cNvPr id="14255" name="Google Shape;14255;p70"/>
            <p:cNvSpPr/>
            <p:nvPr/>
          </p:nvSpPr>
          <p:spPr>
            <a:xfrm>
              <a:off x="467051" y="3561234"/>
              <a:ext cx="11353888" cy="2473479"/>
            </a:xfrm>
            <a:prstGeom prst="rect">
              <a:avLst/>
            </a:prstGeom>
            <a:gradFill>
              <a:gsLst>
                <a:gs pos="0">
                  <a:srgbClr val="2D996D">
                    <a:alpha val="67058"/>
                  </a:srgbClr>
                </a:gs>
                <a:gs pos="100000">
                  <a:schemeClr val="accent3"/>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600"/>
                </a:spcAft>
                <a:buClr>
                  <a:srgbClr val="000000"/>
                </a:buClr>
                <a:buSzPts val="2000"/>
                <a:buFont typeface="Arial"/>
                <a:buNone/>
              </a:pPr>
              <a:endParaRPr sz="2000" b="0" i="0" u="none" strike="noStrike" cap="none">
                <a:solidFill>
                  <a:srgbClr val="FFFFFF"/>
                </a:solidFill>
                <a:latin typeface="Arial"/>
                <a:ea typeface="Arial"/>
                <a:cs typeface="Arial"/>
                <a:sym typeface="Arial"/>
              </a:endParaRPr>
            </a:p>
          </p:txBody>
        </p:sp>
        <p:grpSp>
          <p:nvGrpSpPr>
            <p:cNvPr id="14256" name="Google Shape;14256;p70"/>
            <p:cNvGrpSpPr/>
            <p:nvPr/>
          </p:nvGrpSpPr>
          <p:grpSpPr>
            <a:xfrm>
              <a:off x="0" y="3983833"/>
              <a:ext cx="12188825" cy="1943533"/>
              <a:chOff x="0" y="3679135"/>
              <a:chExt cx="12188825" cy="2517913"/>
            </a:xfrm>
          </p:grpSpPr>
          <p:pic>
            <p:nvPicPr>
              <p:cNvPr id="14257" name="Google Shape;14257;p70"/>
              <p:cNvPicPr preferRelativeResize="0"/>
              <p:nvPr/>
            </p:nvPicPr>
            <p:blipFill rotWithShape="1">
              <a:blip r:embed="rId3">
                <a:alphaModFix/>
              </a:blip>
              <a:srcRect l="8253" t="84196" r="8374" b="-1918"/>
              <a:stretch/>
            </p:blipFill>
            <p:spPr>
              <a:xfrm>
                <a:off x="0" y="3679135"/>
                <a:ext cx="12188825" cy="151388"/>
              </a:xfrm>
              <a:prstGeom prst="rect">
                <a:avLst/>
              </a:prstGeom>
              <a:noFill/>
              <a:ln>
                <a:noFill/>
              </a:ln>
            </p:spPr>
          </p:pic>
          <p:pic>
            <p:nvPicPr>
              <p:cNvPr id="14258" name="Google Shape;14258;p70"/>
              <p:cNvPicPr preferRelativeResize="0"/>
              <p:nvPr/>
            </p:nvPicPr>
            <p:blipFill rotWithShape="1">
              <a:blip r:embed="rId3">
                <a:alphaModFix/>
              </a:blip>
              <a:srcRect l="8253" t="84196" r="8374" b="-1918"/>
              <a:stretch/>
            </p:blipFill>
            <p:spPr>
              <a:xfrm rot="10800000" flipH="1">
                <a:off x="0" y="6012972"/>
                <a:ext cx="12188825" cy="184076"/>
              </a:xfrm>
              <a:prstGeom prst="rect">
                <a:avLst/>
              </a:prstGeom>
              <a:noFill/>
              <a:ln>
                <a:noFill/>
              </a:ln>
            </p:spPr>
          </p:pic>
        </p:grpSp>
        <p:sp>
          <p:nvSpPr>
            <p:cNvPr id="14259" name="Google Shape;14259;p70"/>
            <p:cNvSpPr txBox="1"/>
            <p:nvPr/>
          </p:nvSpPr>
          <p:spPr>
            <a:xfrm>
              <a:off x="4532058" y="3627900"/>
              <a:ext cx="3124582" cy="307777"/>
            </a:xfrm>
            <a:prstGeom prst="rect">
              <a:avLst/>
            </a:prstGeom>
            <a:noFill/>
            <a:ln>
              <a:noFill/>
            </a:ln>
          </p:spPr>
          <p:txBody>
            <a:bodyPr spcFirstLastPara="1" wrap="square" lIns="0" tIns="0" rIns="0" bIns="0" anchor="ctr" anchorCtr="0">
              <a:spAutoFit/>
            </a:bodyPr>
            <a:lstStyle/>
            <a:p>
              <a:pPr marL="0" marR="0" lvl="0" indent="0" algn="ctr" rtl="0">
                <a:lnSpc>
                  <a:spcPct val="100000"/>
                </a:lnSpc>
                <a:spcBef>
                  <a:spcPts val="0"/>
                </a:spcBef>
                <a:spcAft>
                  <a:spcPts val="0"/>
                </a:spcAft>
                <a:buClr>
                  <a:srgbClr val="FFFFFF"/>
                </a:buClr>
                <a:buSzPts val="2000"/>
                <a:buFont typeface="Arial"/>
                <a:buNone/>
              </a:pPr>
              <a:r>
                <a:rPr lang="en-US" sz="2000" b="0" i="0" u="none" strike="noStrike" cap="none">
                  <a:solidFill>
                    <a:srgbClr val="FFFFFF"/>
                  </a:solidFill>
                  <a:latin typeface="Arial"/>
                  <a:ea typeface="Arial"/>
                  <a:cs typeface="Arial"/>
                  <a:sym typeface="Arial"/>
                </a:rPr>
                <a:t>HCX Migration</a:t>
              </a:r>
              <a:endParaRPr sz="2000" b="0" i="0" u="none" strike="noStrike" cap="none">
                <a:solidFill>
                  <a:srgbClr val="FFFFFF"/>
                </a:solidFill>
                <a:latin typeface="Arial"/>
                <a:ea typeface="Arial"/>
                <a:cs typeface="Arial"/>
                <a:sym typeface="Arial"/>
              </a:endParaRPr>
            </a:p>
          </p:txBody>
        </p:sp>
      </p:grpSp>
      <p:sp>
        <p:nvSpPr>
          <p:cNvPr id="14260" name="Google Shape;14260;p70"/>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rgbClr val="1D428A"/>
              </a:buClr>
              <a:buSzPts val="2800"/>
              <a:buFont typeface="Arial"/>
              <a:buNone/>
            </a:pPr>
            <a:r>
              <a:rPr lang="en-US">
                <a:latin typeface="Arial"/>
                <a:ea typeface="Arial"/>
                <a:cs typeface="Arial"/>
                <a:sym typeface="Arial"/>
              </a:rPr>
              <a:t>HCX Capabilities in VCF</a:t>
            </a:r>
            <a:endParaRPr>
              <a:latin typeface="Arial"/>
              <a:ea typeface="Arial"/>
              <a:cs typeface="Arial"/>
              <a:sym typeface="Arial"/>
            </a:endParaRPr>
          </a:p>
        </p:txBody>
      </p:sp>
      <p:grpSp>
        <p:nvGrpSpPr>
          <p:cNvPr id="14261" name="Google Shape;14261;p70"/>
          <p:cNvGrpSpPr/>
          <p:nvPr/>
        </p:nvGrpSpPr>
        <p:grpSpPr>
          <a:xfrm>
            <a:off x="662225" y="1579304"/>
            <a:ext cx="1084253" cy="1613026"/>
            <a:chOff x="662225" y="1579304"/>
            <a:chExt cx="1084253" cy="1613026"/>
          </a:xfrm>
        </p:grpSpPr>
        <p:sp>
          <p:nvSpPr>
            <p:cNvPr id="14262" name="Google Shape;14262;p70"/>
            <p:cNvSpPr/>
            <p:nvPr/>
          </p:nvSpPr>
          <p:spPr>
            <a:xfrm>
              <a:off x="662225" y="1579304"/>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63" name="Google Shape;14263;p70"/>
            <p:cNvSpPr/>
            <p:nvPr/>
          </p:nvSpPr>
          <p:spPr>
            <a:xfrm>
              <a:off x="751048" y="1668127"/>
              <a:ext cx="906606" cy="906606"/>
            </a:xfrm>
            <a:prstGeom prst="ellipse">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64" name="Google Shape;14264;p70"/>
            <p:cNvSpPr txBox="1"/>
            <p:nvPr/>
          </p:nvSpPr>
          <p:spPr>
            <a:xfrm>
              <a:off x="734608" y="2823030"/>
              <a:ext cx="981600" cy="3693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Hybrid Interconnect</a:t>
              </a:r>
              <a:endParaRPr sz="1800" b="0" i="0" u="none" strike="noStrike" cap="none">
                <a:solidFill>
                  <a:srgbClr val="FFFFFF"/>
                </a:solidFill>
                <a:latin typeface="Arial"/>
                <a:ea typeface="Arial"/>
                <a:cs typeface="Arial"/>
                <a:sym typeface="Arial"/>
              </a:endParaRPr>
            </a:p>
          </p:txBody>
        </p:sp>
        <p:grpSp>
          <p:nvGrpSpPr>
            <p:cNvPr id="14265" name="Google Shape;14265;p70"/>
            <p:cNvGrpSpPr/>
            <p:nvPr/>
          </p:nvGrpSpPr>
          <p:grpSpPr>
            <a:xfrm>
              <a:off x="1001562" y="1917899"/>
              <a:ext cx="455766" cy="411524"/>
              <a:chOff x="2364283" y="-962520"/>
              <a:chExt cx="551477" cy="497944"/>
            </a:xfrm>
          </p:grpSpPr>
          <p:sp>
            <p:nvSpPr>
              <p:cNvPr id="14266" name="Google Shape;14266;p70"/>
              <p:cNvSpPr/>
              <p:nvPr/>
            </p:nvSpPr>
            <p:spPr>
              <a:xfrm>
                <a:off x="2364283" y="-962520"/>
                <a:ext cx="497944" cy="497944"/>
              </a:xfrm>
              <a:custGeom>
                <a:avLst/>
                <a:gdLst/>
                <a:ahLst/>
                <a:cxnLst/>
                <a:rect l="l" t="t" r="r" b="b"/>
                <a:pathLst>
                  <a:path w="497944" h="497944" extrusionOk="0">
                    <a:moveTo>
                      <a:pt x="497944" y="315"/>
                    </a:moveTo>
                    <a:lnTo>
                      <a:pt x="497944" y="0"/>
                    </a:lnTo>
                    <a:lnTo>
                      <a:pt x="0" y="0"/>
                    </a:lnTo>
                    <a:lnTo>
                      <a:pt x="0" y="497944"/>
                    </a:lnTo>
                    <a:lnTo>
                      <a:pt x="497905" y="497944"/>
                    </a:lnTo>
                    <a:lnTo>
                      <a:pt x="497905" y="157565"/>
                    </a:lnTo>
                    <a:lnTo>
                      <a:pt x="456977" y="198492"/>
                    </a:lnTo>
                    <a:lnTo>
                      <a:pt x="456977" y="457017"/>
                    </a:lnTo>
                    <a:lnTo>
                      <a:pt x="40927" y="457017"/>
                    </a:lnTo>
                    <a:lnTo>
                      <a:pt x="40927" y="40888"/>
                    </a:lnTo>
                    <a:lnTo>
                      <a:pt x="457017" y="40888"/>
                    </a:lnTo>
                    <a:lnTo>
                      <a:pt x="457017" y="41203"/>
                    </a:lnTo>
                    <a:lnTo>
                      <a:pt x="497944" y="276"/>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267" name="Google Shape;14267;p70"/>
              <p:cNvSpPr/>
              <p:nvPr/>
            </p:nvSpPr>
            <p:spPr>
              <a:xfrm>
                <a:off x="2458783" y="-934671"/>
                <a:ext cx="456977" cy="344633"/>
              </a:xfrm>
              <a:custGeom>
                <a:avLst/>
                <a:gdLst/>
                <a:ahLst/>
                <a:cxnLst/>
                <a:rect l="l" t="t" r="r" b="b"/>
                <a:pathLst>
                  <a:path w="456977" h="344633" extrusionOk="0">
                    <a:moveTo>
                      <a:pt x="456977" y="28913"/>
                    </a:moveTo>
                    <a:lnTo>
                      <a:pt x="403445" y="82446"/>
                    </a:lnTo>
                    <a:lnTo>
                      <a:pt x="362517" y="123373"/>
                    </a:lnTo>
                    <a:lnTo>
                      <a:pt x="314775" y="171155"/>
                    </a:lnTo>
                    <a:lnTo>
                      <a:pt x="141296" y="344634"/>
                    </a:lnTo>
                    <a:lnTo>
                      <a:pt x="0" y="203298"/>
                    </a:lnTo>
                    <a:lnTo>
                      <a:pt x="28913" y="174385"/>
                    </a:lnTo>
                    <a:lnTo>
                      <a:pt x="141296" y="286768"/>
                    </a:lnTo>
                    <a:lnTo>
                      <a:pt x="285862" y="142242"/>
                    </a:lnTo>
                    <a:lnTo>
                      <a:pt x="362517" y="65547"/>
                    </a:lnTo>
                    <a:lnTo>
                      <a:pt x="428064" y="0"/>
                    </a:lnTo>
                    <a:lnTo>
                      <a:pt x="456977" y="28913"/>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4268" name="Google Shape;14268;p70"/>
          <p:cNvGrpSpPr/>
          <p:nvPr/>
        </p:nvGrpSpPr>
        <p:grpSpPr>
          <a:xfrm>
            <a:off x="2476817" y="1579304"/>
            <a:ext cx="1421700" cy="1613058"/>
            <a:chOff x="2476817" y="1579304"/>
            <a:chExt cx="1421700" cy="1613058"/>
          </a:xfrm>
        </p:grpSpPr>
        <p:sp>
          <p:nvSpPr>
            <p:cNvPr id="14269" name="Google Shape;14269;p70"/>
            <p:cNvSpPr/>
            <p:nvPr/>
          </p:nvSpPr>
          <p:spPr>
            <a:xfrm>
              <a:off x="2618250" y="1579304"/>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70" name="Google Shape;14270;p70"/>
            <p:cNvSpPr/>
            <p:nvPr/>
          </p:nvSpPr>
          <p:spPr>
            <a:xfrm>
              <a:off x="2707073" y="1668127"/>
              <a:ext cx="906606" cy="906606"/>
            </a:xfrm>
            <a:prstGeom prst="ellipse">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71" name="Google Shape;14271;p70"/>
            <p:cNvSpPr txBox="1"/>
            <p:nvPr/>
          </p:nvSpPr>
          <p:spPr>
            <a:xfrm>
              <a:off x="2476817" y="2823030"/>
              <a:ext cx="1421700" cy="369332"/>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Configurable Transport Encryption</a:t>
              </a:r>
              <a:endParaRPr sz="1200" b="0" i="0" u="none" strike="noStrike" cap="none">
                <a:solidFill>
                  <a:srgbClr val="FFFFFF"/>
                </a:solidFill>
                <a:latin typeface="Arial"/>
                <a:ea typeface="Arial"/>
                <a:cs typeface="Arial"/>
                <a:sym typeface="Arial"/>
              </a:endParaRPr>
            </a:p>
          </p:txBody>
        </p:sp>
        <p:grpSp>
          <p:nvGrpSpPr>
            <p:cNvPr id="14272" name="Google Shape;14272;p70"/>
            <p:cNvGrpSpPr/>
            <p:nvPr/>
          </p:nvGrpSpPr>
          <p:grpSpPr>
            <a:xfrm>
              <a:off x="2819637" y="1820273"/>
              <a:ext cx="681480" cy="602315"/>
              <a:chOff x="3885261" y="102032"/>
              <a:chExt cx="824591" cy="728802"/>
            </a:xfrm>
          </p:grpSpPr>
          <p:grpSp>
            <p:nvGrpSpPr>
              <p:cNvPr id="14273" name="Google Shape;14273;p70"/>
              <p:cNvGrpSpPr/>
              <p:nvPr/>
            </p:nvGrpSpPr>
            <p:grpSpPr>
              <a:xfrm>
                <a:off x="3962095" y="102032"/>
                <a:ext cx="670709" cy="728802"/>
                <a:chOff x="3962095" y="102032"/>
                <a:chExt cx="670709" cy="728802"/>
              </a:xfrm>
            </p:grpSpPr>
            <p:sp>
              <p:nvSpPr>
                <p:cNvPr id="14274" name="Google Shape;14274;p70"/>
                <p:cNvSpPr/>
                <p:nvPr/>
              </p:nvSpPr>
              <p:spPr>
                <a:xfrm>
                  <a:off x="3962095" y="581705"/>
                  <a:ext cx="670709" cy="249129"/>
                </a:xfrm>
                <a:custGeom>
                  <a:avLst/>
                  <a:gdLst/>
                  <a:ahLst/>
                  <a:cxnLst/>
                  <a:rect l="l" t="t" r="r" b="b"/>
                  <a:pathLst>
                    <a:path w="670709" h="249129" extrusionOk="0">
                      <a:moveTo>
                        <a:pt x="560925" y="114869"/>
                      </a:moveTo>
                      <a:cubicBezTo>
                        <a:pt x="500978" y="174698"/>
                        <a:pt x="421403" y="207686"/>
                        <a:pt x="336685" y="207686"/>
                      </a:cubicBezTo>
                      <a:lnTo>
                        <a:pt x="336508" y="207686"/>
                      </a:lnTo>
                      <a:cubicBezTo>
                        <a:pt x="251790" y="207686"/>
                        <a:pt x="172097" y="174580"/>
                        <a:pt x="112209" y="114633"/>
                      </a:cubicBezTo>
                      <a:cubicBezTo>
                        <a:pt x="79397" y="81762"/>
                        <a:pt x="54685" y="43216"/>
                        <a:pt x="38841" y="0"/>
                      </a:cubicBezTo>
                      <a:lnTo>
                        <a:pt x="0" y="14248"/>
                      </a:lnTo>
                      <a:cubicBezTo>
                        <a:pt x="17972" y="63140"/>
                        <a:pt x="45818" y="106770"/>
                        <a:pt x="82945" y="143897"/>
                      </a:cubicBezTo>
                      <a:cubicBezTo>
                        <a:pt x="150636" y="211707"/>
                        <a:pt x="240675" y="249070"/>
                        <a:pt x="336508" y="249129"/>
                      </a:cubicBezTo>
                      <a:lnTo>
                        <a:pt x="336744" y="249129"/>
                      </a:lnTo>
                      <a:cubicBezTo>
                        <a:pt x="432458" y="249129"/>
                        <a:pt x="522497" y="211884"/>
                        <a:pt x="590189" y="144251"/>
                      </a:cubicBezTo>
                      <a:cubicBezTo>
                        <a:pt x="625483" y="108957"/>
                        <a:pt x="652619" y="67692"/>
                        <a:pt x="670710" y="21579"/>
                      </a:cubicBezTo>
                      <a:lnTo>
                        <a:pt x="632164" y="6503"/>
                      </a:lnTo>
                      <a:cubicBezTo>
                        <a:pt x="616202" y="47296"/>
                        <a:pt x="592199" y="83831"/>
                        <a:pt x="560984" y="11504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275" name="Google Shape;14275;p70"/>
                <p:cNvSpPr/>
                <p:nvPr/>
              </p:nvSpPr>
              <p:spPr>
                <a:xfrm>
                  <a:off x="3963809" y="102032"/>
                  <a:ext cx="667398" cy="245146"/>
                </a:xfrm>
                <a:custGeom>
                  <a:avLst/>
                  <a:gdLst/>
                  <a:ahLst/>
                  <a:cxnLst/>
                  <a:rect l="l" t="t" r="r" b="b"/>
                  <a:pathLst>
                    <a:path w="667398" h="245146" extrusionOk="0">
                      <a:moveTo>
                        <a:pt x="108070" y="134061"/>
                      </a:moveTo>
                      <a:cubicBezTo>
                        <a:pt x="168017" y="74232"/>
                        <a:pt x="247592" y="41243"/>
                        <a:pt x="332310" y="41243"/>
                      </a:cubicBezTo>
                      <a:lnTo>
                        <a:pt x="332488" y="41243"/>
                      </a:lnTo>
                      <a:cubicBezTo>
                        <a:pt x="417265" y="41243"/>
                        <a:pt x="496899" y="74350"/>
                        <a:pt x="556787" y="134297"/>
                      </a:cubicBezTo>
                      <a:cubicBezTo>
                        <a:pt x="588593" y="166163"/>
                        <a:pt x="612832" y="203467"/>
                        <a:pt x="628735" y="245146"/>
                      </a:cubicBezTo>
                      <a:lnTo>
                        <a:pt x="667399" y="230366"/>
                      </a:lnTo>
                      <a:cubicBezTo>
                        <a:pt x="649427" y="183189"/>
                        <a:pt x="622054" y="141037"/>
                        <a:pt x="586110" y="105033"/>
                      </a:cubicBezTo>
                      <a:cubicBezTo>
                        <a:pt x="446351" y="-34903"/>
                        <a:pt x="218801" y="-35021"/>
                        <a:pt x="78865" y="104737"/>
                      </a:cubicBezTo>
                      <a:cubicBezTo>
                        <a:pt x="44635" y="138968"/>
                        <a:pt x="18091" y="178873"/>
                        <a:pt x="0" y="223331"/>
                      </a:cubicBezTo>
                      <a:lnTo>
                        <a:pt x="38368" y="238879"/>
                      </a:lnTo>
                      <a:cubicBezTo>
                        <a:pt x="54331" y="199565"/>
                        <a:pt x="77801" y="164271"/>
                        <a:pt x="108129" y="13394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4276" name="Google Shape;14276;p70"/>
              <p:cNvSpPr/>
              <p:nvPr/>
            </p:nvSpPr>
            <p:spPr>
              <a:xfrm>
                <a:off x="3885261" y="315762"/>
                <a:ext cx="824591" cy="299132"/>
              </a:xfrm>
              <a:custGeom>
                <a:avLst/>
                <a:gdLst/>
                <a:ahLst/>
                <a:cxnLst/>
                <a:rect l="l" t="t" r="r" b="b"/>
                <a:pathLst>
                  <a:path w="824591" h="299132" extrusionOk="0">
                    <a:moveTo>
                      <a:pt x="797795" y="81963"/>
                    </a:moveTo>
                    <a:cubicBezTo>
                      <a:pt x="761200" y="44009"/>
                      <a:pt x="700780" y="42944"/>
                      <a:pt x="662884" y="79539"/>
                    </a:cubicBezTo>
                    <a:cubicBezTo>
                      <a:pt x="648636" y="93314"/>
                      <a:pt x="639591" y="110459"/>
                      <a:pt x="635808" y="128490"/>
                    </a:cubicBezTo>
                    <a:lnTo>
                      <a:pt x="560903" y="128490"/>
                    </a:lnTo>
                    <a:cubicBezTo>
                      <a:pt x="556647" y="98398"/>
                      <a:pt x="543227" y="69312"/>
                      <a:pt x="520466" y="45723"/>
                    </a:cubicBezTo>
                    <a:cubicBezTo>
                      <a:pt x="463120" y="-13751"/>
                      <a:pt x="368410" y="-15406"/>
                      <a:pt x="308995" y="41939"/>
                    </a:cubicBezTo>
                    <a:cubicBezTo>
                      <a:pt x="284047" y="66001"/>
                      <a:pt x="269326" y="96625"/>
                      <a:pt x="264833" y="128490"/>
                    </a:cubicBezTo>
                    <a:lnTo>
                      <a:pt x="188687" y="128490"/>
                    </a:lnTo>
                    <a:cubicBezTo>
                      <a:pt x="185140" y="111523"/>
                      <a:pt x="176982" y="95324"/>
                      <a:pt x="164094" y="81963"/>
                    </a:cubicBezTo>
                    <a:cubicBezTo>
                      <a:pt x="127499" y="44009"/>
                      <a:pt x="67079" y="42944"/>
                      <a:pt x="29183" y="79539"/>
                    </a:cubicBezTo>
                    <a:cubicBezTo>
                      <a:pt x="-8771" y="116134"/>
                      <a:pt x="-9835" y="176554"/>
                      <a:pt x="26759" y="214450"/>
                    </a:cubicBezTo>
                    <a:cubicBezTo>
                      <a:pt x="63354" y="252404"/>
                      <a:pt x="123774" y="253469"/>
                      <a:pt x="161670" y="216874"/>
                    </a:cubicBezTo>
                    <a:cubicBezTo>
                      <a:pt x="175445" y="203572"/>
                      <a:pt x="184254" y="187196"/>
                      <a:pt x="188274" y="169815"/>
                    </a:cubicBezTo>
                    <a:lnTo>
                      <a:pt x="264715" y="169815"/>
                    </a:lnTo>
                    <a:cubicBezTo>
                      <a:pt x="268853" y="200202"/>
                      <a:pt x="282333" y="229644"/>
                      <a:pt x="305271" y="253409"/>
                    </a:cubicBezTo>
                    <a:cubicBezTo>
                      <a:pt x="362617" y="312884"/>
                      <a:pt x="457326" y="314539"/>
                      <a:pt x="516741" y="257193"/>
                    </a:cubicBezTo>
                    <a:cubicBezTo>
                      <a:pt x="541867" y="232954"/>
                      <a:pt x="556647" y="201976"/>
                      <a:pt x="561021" y="169815"/>
                    </a:cubicBezTo>
                    <a:lnTo>
                      <a:pt x="636340" y="169815"/>
                    </a:lnTo>
                    <a:cubicBezTo>
                      <a:pt x="640123" y="186072"/>
                      <a:pt x="648104" y="201562"/>
                      <a:pt x="660519" y="214450"/>
                    </a:cubicBezTo>
                    <a:cubicBezTo>
                      <a:pt x="697114" y="252404"/>
                      <a:pt x="757534" y="253469"/>
                      <a:pt x="795430" y="216874"/>
                    </a:cubicBezTo>
                    <a:cubicBezTo>
                      <a:pt x="833325" y="180279"/>
                      <a:pt x="834449" y="119859"/>
                      <a:pt x="797854" y="81963"/>
                    </a:cubicBezTo>
                    <a:close/>
                    <a:moveTo>
                      <a:pt x="110413" y="163903"/>
                    </a:moveTo>
                    <a:cubicBezTo>
                      <a:pt x="101782" y="172239"/>
                      <a:pt x="88007" y="172002"/>
                      <a:pt x="79671" y="163371"/>
                    </a:cubicBezTo>
                    <a:cubicBezTo>
                      <a:pt x="71335" y="154739"/>
                      <a:pt x="71572" y="140964"/>
                      <a:pt x="80203" y="132629"/>
                    </a:cubicBezTo>
                    <a:cubicBezTo>
                      <a:pt x="88835" y="124293"/>
                      <a:pt x="102610" y="124529"/>
                      <a:pt x="110945" y="133161"/>
                    </a:cubicBezTo>
                    <a:cubicBezTo>
                      <a:pt x="119281" y="141792"/>
                      <a:pt x="119045" y="155567"/>
                      <a:pt x="110413" y="163903"/>
                    </a:cubicBezTo>
                    <a:close/>
                    <a:moveTo>
                      <a:pt x="392413" y="231772"/>
                    </a:moveTo>
                    <a:lnTo>
                      <a:pt x="323953" y="163312"/>
                    </a:lnTo>
                    <a:lnTo>
                      <a:pt x="353217" y="134047"/>
                    </a:lnTo>
                    <a:lnTo>
                      <a:pt x="392413" y="173244"/>
                    </a:lnTo>
                    <a:lnTo>
                      <a:pt x="477722" y="87934"/>
                    </a:lnTo>
                    <a:lnTo>
                      <a:pt x="506986" y="117198"/>
                    </a:lnTo>
                    <a:lnTo>
                      <a:pt x="392413" y="231772"/>
                    </a:lnTo>
                    <a:close/>
                    <a:moveTo>
                      <a:pt x="744233" y="163903"/>
                    </a:moveTo>
                    <a:cubicBezTo>
                      <a:pt x="735601" y="172239"/>
                      <a:pt x="721826" y="172002"/>
                      <a:pt x="713490" y="163371"/>
                    </a:cubicBezTo>
                    <a:cubicBezTo>
                      <a:pt x="705155" y="154739"/>
                      <a:pt x="705391" y="140964"/>
                      <a:pt x="714022" y="132629"/>
                    </a:cubicBezTo>
                    <a:cubicBezTo>
                      <a:pt x="722654" y="124293"/>
                      <a:pt x="736429" y="124529"/>
                      <a:pt x="744765" y="133161"/>
                    </a:cubicBezTo>
                    <a:cubicBezTo>
                      <a:pt x="753100" y="141792"/>
                      <a:pt x="752864" y="155567"/>
                      <a:pt x="744233" y="163903"/>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4277" name="Google Shape;14277;p70"/>
          <p:cNvGrpSpPr/>
          <p:nvPr/>
        </p:nvGrpSpPr>
        <p:grpSpPr>
          <a:xfrm>
            <a:off x="4550363" y="1579304"/>
            <a:ext cx="1140000" cy="1520725"/>
            <a:chOff x="4550363" y="1579304"/>
            <a:chExt cx="1140000" cy="1520725"/>
          </a:xfrm>
        </p:grpSpPr>
        <p:sp>
          <p:nvSpPr>
            <p:cNvPr id="14278" name="Google Shape;14278;p70"/>
            <p:cNvSpPr/>
            <p:nvPr/>
          </p:nvSpPr>
          <p:spPr>
            <a:xfrm>
              <a:off x="4574275" y="1579304"/>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79" name="Google Shape;14279;p70"/>
            <p:cNvSpPr/>
            <p:nvPr/>
          </p:nvSpPr>
          <p:spPr>
            <a:xfrm>
              <a:off x="4663098" y="1668127"/>
              <a:ext cx="906606" cy="906606"/>
            </a:xfrm>
            <a:prstGeom prst="ellipse">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80" name="Google Shape;14280;p70"/>
            <p:cNvSpPr txBox="1"/>
            <p:nvPr/>
          </p:nvSpPr>
          <p:spPr>
            <a:xfrm>
              <a:off x="4550363" y="2823030"/>
              <a:ext cx="1140000" cy="276999"/>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endParaRPr sz="1800" b="0" i="0" u="none" strike="noStrike" cap="none">
                <a:solidFill>
                  <a:srgbClr val="FFFFFF"/>
                </a:solidFill>
                <a:latin typeface="Arial"/>
                <a:ea typeface="Arial"/>
                <a:cs typeface="Arial"/>
                <a:sym typeface="Arial"/>
              </a:endParaRPr>
            </a:p>
          </p:txBody>
        </p:sp>
        <p:pic>
          <p:nvPicPr>
            <p:cNvPr id="14281" name="Google Shape;14281;p70"/>
            <p:cNvPicPr preferRelativeResize="0"/>
            <p:nvPr/>
          </p:nvPicPr>
          <p:blipFill rotWithShape="1">
            <a:blip r:embed="rId4">
              <a:alphaModFix/>
            </a:blip>
            <a:srcRect/>
            <a:stretch/>
          </p:blipFill>
          <p:spPr>
            <a:xfrm>
              <a:off x="4810196" y="1815225"/>
              <a:ext cx="612410" cy="612410"/>
            </a:xfrm>
            <a:prstGeom prst="rect">
              <a:avLst/>
            </a:prstGeom>
            <a:noFill/>
            <a:ln>
              <a:noFill/>
            </a:ln>
          </p:spPr>
        </p:pic>
      </p:grpSp>
      <p:grpSp>
        <p:nvGrpSpPr>
          <p:cNvPr id="14282" name="Google Shape;14282;p70"/>
          <p:cNvGrpSpPr/>
          <p:nvPr/>
        </p:nvGrpSpPr>
        <p:grpSpPr>
          <a:xfrm>
            <a:off x="6512388" y="1579304"/>
            <a:ext cx="1128000" cy="1613026"/>
            <a:chOff x="6512388" y="1579304"/>
            <a:chExt cx="1128000" cy="1613026"/>
          </a:xfrm>
        </p:grpSpPr>
        <p:sp>
          <p:nvSpPr>
            <p:cNvPr id="14283" name="Google Shape;14283;p70"/>
            <p:cNvSpPr/>
            <p:nvPr/>
          </p:nvSpPr>
          <p:spPr>
            <a:xfrm>
              <a:off x="6530300" y="1579304"/>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84" name="Google Shape;14284;p70"/>
            <p:cNvSpPr/>
            <p:nvPr/>
          </p:nvSpPr>
          <p:spPr>
            <a:xfrm>
              <a:off x="6619123" y="1668127"/>
              <a:ext cx="906606" cy="906606"/>
            </a:xfrm>
            <a:prstGeom prst="ellipse">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85" name="Google Shape;14285;p70"/>
            <p:cNvSpPr txBox="1"/>
            <p:nvPr/>
          </p:nvSpPr>
          <p:spPr>
            <a:xfrm>
              <a:off x="6512388" y="2823030"/>
              <a:ext cx="1128000" cy="3693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Traffic Engineering</a:t>
              </a:r>
              <a:endParaRPr sz="1800" b="0" i="0" u="none" strike="noStrike" cap="none">
                <a:solidFill>
                  <a:srgbClr val="FFFFFF"/>
                </a:solidFill>
                <a:latin typeface="Arial"/>
                <a:ea typeface="Arial"/>
                <a:cs typeface="Arial"/>
                <a:sym typeface="Arial"/>
              </a:endParaRPr>
            </a:p>
          </p:txBody>
        </p:sp>
        <p:pic>
          <p:nvPicPr>
            <p:cNvPr id="14286" name="Google Shape;14286;p70"/>
            <p:cNvPicPr preferRelativeResize="0"/>
            <p:nvPr/>
          </p:nvPicPr>
          <p:blipFill rotWithShape="1">
            <a:blip r:embed="rId5">
              <a:alphaModFix/>
            </a:blip>
            <a:srcRect/>
            <a:stretch/>
          </p:blipFill>
          <p:spPr>
            <a:xfrm>
              <a:off x="6782428" y="1809528"/>
              <a:ext cx="579996" cy="579996"/>
            </a:xfrm>
            <a:prstGeom prst="rect">
              <a:avLst/>
            </a:prstGeom>
            <a:noFill/>
            <a:ln>
              <a:noFill/>
            </a:ln>
          </p:spPr>
        </p:pic>
      </p:grpSp>
      <p:grpSp>
        <p:nvGrpSpPr>
          <p:cNvPr id="14287" name="Google Shape;14287;p70"/>
          <p:cNvGrpSpPr/>
          <p:nvPr/>
        </p:nvGrpSpPr>
        <p:grpSpPr>
          <a:xfrm>
            <a:off x="8321563" y="1579304"/>
            <a:ext cx="1421700" cy="1613026"/>
            <a:chOff x="8321563" y="1579304"/>
            <a:chExt cx="1421700" cy="1613026"/>
          </a:xfrm>
        </p:grpSpPr>
        <p:sp>
          <p:nvSpPr>
            <p:cNvPr id="14288" name="Google Shape;14288;p70"/>
            <p:cNvSpPr/>
            <p:nvPr/>
          </p:nvSpPr>
          <p:spPr>
            <a:xfrm>
              <a:off x="8486325" y="1579304"/>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89" name="Google Shape;14289;p70"/>
            <p:cNvSpPr/>
            <p:nvPr/>
          </p:nvSpPr>
          <p:spPr>
            <a:xfrm>
              <a:off x="8575148" y="1668127"/>
              <a:ext cx="906606" cy="906606"/>
            </a:xfrm>
            <a:prstGeom prst="ellipse">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90" name="Google Shape;14290;p70"/>
            <p:cNvSpPr txBox="1"/>
            <p:nvPr/>
          </p:nvSpPr>
          <p:spPr>
            <a:xfrm>
              <a:off x="8321563" y="2823030"/>
              <a:ext cx="1421700" cy="3693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Mobility Optimized Networking</a:t>
              </a:r>
              <a:endParaRPr sz="1800" b="0" i="0" u="none" strike="noStrike" cap="none">
                <a:solidFill>
                  <a:srgbClr val="FFFFFF"/>
                </a:solidFill>
                <a:latin typeface="Arial"/>
                <a:ea typeface="Arial"/>
                <a:cs typeface="Arial"/>
                <a:sym typeface="Arial"/>
              </a:endParaRPr>
            </a:p>
          </p:txBody>
        </p:sp>
        <p:pic>
          <p:nvPicPr>
            <p:cNvPr id="14291" name="Google Shape;14291;p70"/>
            <p:cNvPicPr preferRelativeResize="0"/>
            <p:nvPr/>
          </p:nvPicPr>
          <p:blipFill rotWithShape="1">
            <a:blip r:embed="rId6">
              <a:alphaModFix/>
            </a:blip>
            <a:srcRect/>
            <a:stretch/>
          </p:blipFill>
          <p:spPr>
            <a:xfrm>
              <a:off x="8725688" y="1835095"/>
              <a:ext cx="605525" cy="605525"/>
            </a:xfrm>
            <a:prstGeom prst="rect">
              <a:avLst/>
            </a:prstGeom>
            <a:noFill/>
            <a:ln>
              <a:noFill/>
            </a:ln>
          </p:spPr>
        </p:pic>
      </p:grpSp>
      <p:grpSp>
        <p:nvGrpSpPr>
          <p:cNvPr id="14292" name="Google Shape;14292;p70"/>
          <p:cNvGrpSpPr/>
          <p:nvPr/>
        </p:nvGrpSpPr>
        <p:grpSpPr>
          <a:xfrm>
            <a:off x="10300073" y="1579304"/>
            <a:ext cx="1421700" cy="1613026"/>
            <a:chOff x="10300073" y="1579304"/>
            <a:chExt cx="1421700" cy="1613026"/>
          </a:xfrm>
        </p:grpSpPr>
        <p:sp>
          <p:nvSpPr>
            <p:cNvPr id="14293" name="Google Shape;14293;p70"/>
            <p:cNvSpPr/>
            <p:nvPr/>
          </p:nvSpPr>
          <p:spPr>
            <a:xfrm>
              <a:off x="10442348" y="1579304"/>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94" name="Google Shape;14294;p70"/>
            <p:cNvSpPr/>
            <p:nvPr/>
          </p:nvSpPr>
          <p:spPr>
            <a:xfrm>
              <a:off x="10531171" y="1668127"/>
              <a:ext cx="906606" cy="906606"/>
            </a:xfrm>
            <a:prstGeom prst="ellipse">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95" name="Google Shape;14295;p70"/>
            <p:cNvSpPr txBox="1"/>
            <p:nvPr/>
          </p:nvSpPr>
          <p:spPr>
            <a:xfrm>
              <a:off x="10300073" y="2823030"/>
              <a:ext cx="1421700" cy="369300"/>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HCX Network </a:t>
              </a:r>
              <a:br>
                <a:rPr lang="en-US" sz="1200" b="0" i="0" u="none" strike="noStrike" cap="none">
                  <a:solidFill>
                    <a:srgbClr val="FFFFFF"/>
                  </a:solidFill>
                  <a:latin typeface="Arial"/>
                  <a:ea typeface="Arial"/>
                  <a:cs typeface="Arial"/>
                  <a:sym typeface="Arial"/>
                </a:rPr>
              </a:br>
              <a:r>
                <a:rPr lang="en-US" sz="1200" b="0" i="0" u="none" strike="noStrike" cap="none">
                  <a:solidFill>
                    <a:srgbClr val="FFFFFF"/>
                  </a:solidFill>
                  <a:latin typeface="Arial"/>
                  <a:ea typeface="Arial"/>
                  <a:cs typeface="Arial"/>
                  <a:sym typeface="Arial"/>
                </a:rPr>
                <a:t>Extension w/ HA</a:t>
              </a:r>
              <a:endParaRPr sz="1800" b="0" i="0" u="none" strike="noStrike" cap="none">
                <a:solidFill>
                  <a:srgbClr val="FFFFFF"/>
                </a:solidFill>
                <a:latin typeface="Arial"/>
                <a:ea typeface="Arial"/>
                <a:cs typeface="Arial"/>
                <a:sym typeface="Arial"/>
              </a:endParaRPr>
            </a:p>
          </p:txBody>
        </p:sp>
        <p:pic>
          <p:nvPicPr>
            <p:cNvPr id="14296" name="Google Shape;14296;p70"/>
            <p:cNvPicPr preferRelativeResize="0"/>
            <p:nvPr/>
          </p:nvPicPr>
          <p:blipFill rotWithShape="1">
            <a:blip r:embed="rId7">
              <a:alphaModFix/>
            </a:blip>
            <a:srcRect/>
            <a:stretch/>
          </p:blipFill>
          <p:spPr>
            <a:xfrm>
              <a:off x="10652106" y="1772634"/>
              <a:ext cx="664738" cy="664738"/>
            </a:xfrm>
            <a:prstGeom prst="rect">
              <a:avLst/>
            </a:prstGeom>
            <a:noFill/>
            <a:ln>
              <a:noFill/>
            </a:ln>
          </p:spPr>
        </p:pic>
      </p:grpSp>
      <p:grpSp>
        <p:nvGrpSpPr>
          <p:cNvPr id="14297" name="Google Shape;14297;p70"/>
          <p:cNvGrpSpPr/>
          <p:nvPr/>
        </p:nvGrpSpPr>
        <p:grpSpPr>
          <a:xfrm>
            <a:off x="10283386" y="4163479"/>
            <a:ext cx="1421614" cy="1613975"/>
            <a:chOff x="10283386" y="4163479"/>
            <a:chExt cx="1421614" cy="1613975"/>
          </a:xfrm>
        </p:grpSpPr>
        <p:sp>
          <p:nvSpPr>
            <p:cNvPr id="14298" name="Google Shape;14298;p70"/>
            <p:cNvSpPr/>
            <p:nvPr/>
          </p:nvSpPr>
          <p:spPr>
            <a:xfrm>
              <a:off x="10442348" y="4163479"/>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299" name="Google Shape;14299;p70"/>
            <p:cNvSpPr/>
            <p:nvPr/>
          </p:nvSpPr>
          <p:spPr>
            <a:xfrm>
              <a:off x="10531171" y="4252302"/>
              <a:ext cx="906606" cy="906606"/>
            </a:xfrm>
            <a:prstGeom prst="ellipse">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00" name="Google Shape;14300;p70"/>
            <p:cNvSpPr txBox="1"/>
            <p:nvPr/>
          </p:nvSpPr>
          <p:spPr>
            <a:xfrm>
              <a:off x="10283386" y="5408122"/>
              <a:ext cx="1421614" cy="369332"/>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Cloud to Cloud</a:t>
              </a:r>
              <a:br>
                <a:rPr lang="en-US" sz="1200" b="0" i="0" u="none" strike="noStrike" cap="none">
                  <a:solidFill>
                    <a:srgbClr val="FFFFFF"/>
                  </a:solidFill>
                  <a:latin typeface="Arial"/>
                  <a:ea typeface="Arial"/>
                  <a:cs typeface="Arial"/>
                  <a:sym typeface="Arial"/>
                </a:rPr>
              </a:br>
              <a:r>
                <a:rPr lang="en-US" sz="1200" b="0" i="0" u="none" strike="noStrike" cap="none">
                  <a:solidFill>
                    <a:srgbClr val="FFFFFF"/>
                  </a:solidFill>
                  <a:latin typeface="Arial"/>
                  <a:ea typeface="Arial"/>
                  <a:cs typeface="Arial"/>
                  <a:sym typeface="Arial"/>
                </a:rPr>
                <a:t>Reverse Migration</a:t>
              </a:r>
              <a:endParaRPr sz="1800" b="0" i="0" u="none" strike="noStrike" cap="none">
                <a:solidFill>
                  <a:srgbClr val="FFFFFF"/>
                </a:solidFill>
                <a:latin typeface="Arial"/>
                <a:ea typeface="Arial"/>
                <a:cs typeface="Arial"/>
                <a:sym typeface="Arial"/>
              </a:endParaRPr>
            </a:p>
          </p:txBody>
        </p:sp>
        <p:sp>
          <p:nvSpPr>
            <p:cNvPr id="14301" name="Google Shape;14301;p70"/>
            <p:cNvSpPr/>
            <p:nvPr/>
          </p:nvSpPr>
          <p:spPr>
            <a:xfrm>
              <a:off x="10532391" y="4260101"/>
              <a:ext cx="906606" cy="906606"/>
            </a:xfrm>
            <a:prstGeom prst="ellipse">
              <a:avLst/>
            </a:prstGeom>
            <a:no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Clr>
                  <a:srgbClr val="000000"/>
                </a:buClr>
                <a:buSzPts val="1999"/>
                <a:buFont typeface="Arial"/>
                <a:buNone/>
              </a:pPr>
              <a:endParaRPr sz="1999" b="0" i="0" u="none" strike="noStrike" cap="none">
                <a:solidFill>
                  <a:srgbClr val="FFFFFF"/>
                </a:solidFill>
                <a:latin typeface="Arial"/>
                <a:ea typeface="Arial"/>
                <a:cs typeface="Arial"/>
                <a:sym typeface="Arial"/>
              </a:endParaRPr>
            </a:p>
          </p:txBody>
        </p:sp>
        <p:grpSp>
          <p:nvGrpSpPr>
            <p:cNvPr id="14302" name="Google Shape;14302;p70"/>
            <p:cNvGrpSpPr/>
            <p:nvPr/>
          </p:nvGrpSpPr>
          <p:grpSpPr>
            <a:xfrm>
              <a:off x="10697674" y="4447037"/>
              <a:ext cx="576039" cy="532734"/>
              <a:chOff x="10426074" y="6774900"/>
              <a:chExt cx="697008" cy="644609"/>
            </a:xfrm>
          </p:grpSpPr>
          <p:sp>
            <p:nvSpPr>
              <p:cNvPr id="14303" name="Google Shape;14303;p70"/>
              <p:cNvSpPr/>
              <p:nvPr/>
            </p:nvSpPr>
            <p:spPr>
              <a:xfrm>
                <a:off x="11063114" y="7265087"/>
                <a:ext cx="2111" cy="638"/>
              </a:xfrm>
              <a:custGeom>
                <a:avLst/>
                <a:gdLst/>
                <a:ahLst/>
                <a:cxnLst/>
                <a:rect l="l" t="t" r="r" b="b"/>
                <a:pathLst>
                  <a:path w="2111" h="638" extrusionOk="0">
                    <a:moveTo>
                      <a:pt x="49" y="344"/>
                    </a:moveTo>
                    <a:cubicBezTo>
                      <a:pt x="736" y="393"/>
                      <a:pt x="1424" y="589"/>
                      <a:pt x="2111" y="638"/>
                    </a:cubicBezTo>
                    <a:lnTo>
                      <a:pt x="0" y="0"/>
                    </a:lnTo>
                    <a:cubicBezTo>
                      <a:pt x="0" y="0"/>
                      <a:pt x="0" y="196"/>
                      <a:pt x="0" y="29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04" name="Google Shape;14304;p70"/>
              <p:cNvSpPr/>
              <p:nvPr/>
            </p:nvSpPr>
            <p:spPr>
              <a:xfrm>
                <a:off x="10974797" y="7418746"/>
                <a:ext cx="4860" cy="245"/>
              </a:xfrm>
              <a:custGeom>
                <a:avLst/>
                <a:gdLst/>
                <a:ahLst/>
                <a:cxnLst/>
                <a:rect l="l" t="t" r="r" b="b"/>
                <a:pathLst>
                  <a:path w="4860" h="245" extrusionOk="0">
                    <a:moveTo>
                      <a:pt x="491" y="245"/>
                    </a:moveTo>
                    <a:cubicBezTo>
                      <a:pt x="2013" y="245"/>
                      <a:pt x="3486" y="147"/>
                      <a:pt x="4860" y="0"/>
                    </a:cubicBezTo>
                    <a:cubicBezTo>
                      <a:pt x="3240" y="0"/>
                      <a:pt x="1620" y="0"/>
                      <a:pt x="0" y="0"/>
                    </a:cubicBezTo>
                    <a:lnTo>
                      <a:pt x="442" y="196"/>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4305" name="Google Shape;14305;p70"/>
              <p:cNvGrpSpPr/>
              <p:nvPr/>
            </p:nvGrpSpPr>
            <p:grpSpPr>
              <a:xfrm>
                <a:off x="10426074" y="6774900"/>
                <a:ext cx="697008" cy="644609"/>
                <a:chOff x="10426074" y="6774900"/>
                <a:chExt cx="697008" cy="644609"/>
              </a:xfrm>
            </p:grpSpPr>
            <p:sp>
              <p:nvSpPr>
                <p:cNvPr id="14306" name="Google Shape;14306;p70"/>
                <p:cNvSpPr/>
                <p:nvPr/>
              </p:nvSpPr>
              <p:spPr>
                <a:xfrm>
                  <a:off x="10675382" y="7059635"/>
                  <a:ext cx="122730" cy="93717"/>
                </a:xfrm>
                <a:custGeom>
                  <a:avLst/>
                  <a:gdLst/>
                  <a:ahLst/>
                  <a:cxnLst/>
                  <a:rect l="l" t="t" r="r" b="b"/>
                  <a:pathLst>
                    <a:path w="122730" h="93717" extrusionOk="0">
                      <a:moveTo>
                        <a:pt x="122731" y="32450"/>
                      </a:moveTo>
                      <a:lnTo>
                        <a:pt x="122731" y="0"/>
                      </a:lnTo>
                      <a:cubicBezTo>
                        <a:pt x="121209" y="0"/>
                        <a:pt x="119540" y="0"/>
                        <a:pt x="118018" y="0"/>
                      </a:cubicBezTo>
                      <a:cubicBezTo>
                        <a:pt x="100001" y="0"/>
                        <a:pt x="51940" y="147"/>
                        <a:pt x="0" y="344"/>
                      </a:cubicBezTo>
                      <a:lnTo>
                        <a:pt x="0" y="32450"/>
                      </a:lnTo>
                      <a:lnTo>
                        <a:pt x="61365" y="93717"/>
                      </a:lnTo>
                      <a:lnTo>
                        <a:pt x="122731" y="3245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07" name="Google Shape;14307;p70"/>
                <p:cNvSpPr/>
                <p:nvPr/>
              </p:nvSpPr>
              <p:spPr>
                <a:xfrm>
                  <a:off x="10426074" y="6774900"/>
                  <a:ext cx="452730" cy="267995"/>
                </a:xfrm>
                <a:custGeom>
                  <a:avLst/>
                  <a:gdLst/>
                  <a:ahLst/>
                  <a:cxnLst/>
                  <a:rect l="l" t="t" r="r" b="b"/>
                  <a:pathLst>
                    <a:path w="452730" h="267995" extrusionOk="0">
                      <a:moveTo>
                        <a:pt x="374298" y="267210"/>
                      </a:moveTo>
                      <a:cubicBezTo>
                        <a:pt x="392904" y="267701"/>
                        <a:pt x="410724" y="260484"/>
                        <a:pt x="424961" y="246934"/>
                      </a:cubicBezTo>
                      <a:cubicBezTo>
                        <a:pt x="442045" y="230685"/>
                        <a:pt x="452109" y="206875"/>
                        <a:pt x="452698" y="181593"/>
                      </a:cubicBezTo>
                      <a:cubicBezTo>
                        <a:pt x="453778" y="138833"/>
                        <a:pt x="427661" y="102063"/>
                        <a:pt x="391873" y="93815"/>
                      </a:cubicBezTo>
                      <a:cubicBezTo>
                        <a:pt x="383380" y="40943"/>
                        <a:pt x="341602" y="1227"/>
                        <a:pt x="291675" y="0"/>
                      </a:cubicBezTo>
                      <a:cubicBezTo>
                        <a:pt x="290791" y="0"/>
                        <a:pt x="289957" y="0"/>
                        <a:pt x="289073" y="0"/>
                      </a:cubicBezTo>
                      <a:cubicBezTo>
                        <a:pt x="250339" y="0"/>
                        <a:pt x="215435" y="22926"/>
                        <a:pt x="197221" y="59794"/>
                      </a:cubicBezTo>
                      <a:cubicBezTo>
                        <a:pt x="188876" y="56996"/>
                        <a:pt x="180088" y="55474"/>
                        <a:pt x="170957" y="55229"/>
                      </a:cubicBezTo>
                      <a:cubicBezTo>
                        <a:pt x="131536" y="54247"/>
                        <a:pt x="95944" y="79677"/>
                        <a:pt x="83376" y="116889"/>
                      </a:cubicBezTo>
                      <a:cubicBezTo>
                        <a:pt x="80873" y="116594"/>
                        <a:pt x="78369" y="116398"/>
                        <a:pt x="75816" y="116349"/>
                      </a:cubicBezTo>
                      <a:cubicBezTo>
                        <a:pt x="55934" y="115956"/>
                        <a:pt x="37279" y="123173"/>
                        <a:pt x="22944" y="136869"/>
                      </a:cubicBezTo>
                      <a:cubicBezTo>
                        <a:pt x="8609" y="150566"/>
                        <a:pt x="508" y="169025"/>
                        <a:pt x="18" y="188858"/>
                      </a:cubicBezTo>
                      <a:cubicBezTo>
                        <a:pt x="-915" y="229163"/>
                        <a:pt x="35511" y="266866"/>
                        <a:pt x="76602" y="267995"/>
                      </a:cubicBezTo>
                      <a:cubicBezTo>
                        <a:pt x="77534" y="267995"/>
                        <a:pt x="80185" y="267995"/>
                        <a:pt x="84309" y="267995"/>
                      </a:cubicBezTo>
                      <a:cubicBezTo>
                        <a:pt x="105321" y="267995"/>
                        <a:pt x="164477" y="267799"/>
                        <a:pt x="226480" y="267553"/>
                      </a:cubicBezTo>
                      <a:cubicBezTo>
                        <a:pt x="296732" y="267308"/>
                        <a:pt x="369388" y="267062"/>
                        <a:pt x="374347" y="267161"/>
                      </a:cubicBezTo>
                      <a:close/>
                      <a:moveTo>
                        <a:pt x="226333" y="245953"/>
                      </a:moveTo>
                      <a:cubicBezTo>
                        <a:pt x="155542" y="246198"/>
                        <a:pt x="82345" y="246444"/>
                        <a:pt x="77043" y="246345"/>
                      </a:cubicBezTo>
                      <a:cubicBezTo>
                        <a:pt x="47883" y="245560"/>
                        <a:pt x="20931" y="217872"/>
                        <a:pt x="21569" y="189349"/>
                      </a:cubicBezTo>
                      <a:cubicBezTo>
                        <a:pt x="21913" y="175260"/>
                        <a:pt x="27657" y="162201"/>
                        <a:pt x="37819" y="152481"/>
                      </a:cubicBezTo>
                      <a:cubicBezTo>
                        <a:pt x="47637" y="143055"/>
                        <a:pt x="60401" y="137949"/>
                        <a:pt x="73951" y="137949"/>
                      </a:cubicBezTo>
                      <a:cubicBezTo>
                        <a:pt x="74392" y="137949"/>
                        <a:pt x="74834" y="137949"/>
                        <a:pt x="75227" y="137949"/>
                      </a:cubicBezTo>
                      <a:cubicBezTo>
                        <a:pt x="79743" y="138048"/>
                        <a:pt x="84064" y="138637"/>
                        <a:pt x="88138" y="139766"/>
                      </a:cubicBezTo>
                      <a:lnTo>
                        <a:pt x="99184" y="142859"/>
                      </a:lnTo>
                      <a:lnTo>
                        <a:pt x="101590" y="131617"/>
                      </a:lnTo>
                      <a:cubicBezTo>
                        <a:pt x="108561" y="99068"/>
                        <a:pt x="137525" y="75848"/>
                        <a:pt x="170270" y="76830"/>
                      </a:cubicBezTo>
                      <a:cubicBezTo>
                        <a:pt x="180186" y="77124"/>
                        <a:pt x="189563" y="79333"/>
                        <a:pt x="198056" y="83457"/>
                      </a:cubicBezTo>
                      <a:lnTo>
                        <a:pt x="208611" y="88563"/>
                      </a:lnTo>
                      <a:lnTo>
                        <a:pt x="212882" y="77615"/>
                      </a:lnTo>
                      <a:cubicBezTo>
                        <a:pt x="226431" y="42661"/>
                        <a:pt x="257360" y="20668"/>
                        <a:pt x="291037" y="21601"/>
                      </a:cubicBezTo>
                      <a:lnTo>
                        <a:pt x="291037" y="21601"/>
                      </a:lnTo>
                      <a:cubicBezTo>
                        <a:pt x="332569" y="22632"/>
                        <a:pt x="367032" y="58076"/>
                        <a:pt x="371254" y="104125"/>
                      </a:cubicBezTo>
                      <a:lnTo>
                        <a:pt x="372088" y="113060"/>
                      </a:lnTo>
                      <a:lnTo>
                        <a:pt x="381023" y="113894"/>
                      </a:lnTo>
                      <a:cubicBezTo>
                        <a:pt x="409939" y="116643"/>
                        <a:pt x="431883" y="146099"/>
                        <a:pt x="430999" y="181003"/>
                      </a:cubicBezTo>
                      <a:cubicBezTo>
                        <a:pt x="430557" y="200591"/>
                        <a:pt x="422899" y="218854"/>
                        <a:pt x="409988" y="231176"/>
                      </a:cubicBezTo>
                      <a:cubicBezTo>
                        <a:pt x="399973" y="240749"/>
                        <a:pt x="387405" y="245854"/>
                        <a:pt x="374739" y="245511"/>
                      </a:cubicBezTo>
                      <a:cubicBezTo>
                        <a:pt x="369486" y="245413"/>
                        <a:pt x="299923" y="245658"/>
                        <a:pt x="226284" y="245904"/>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08" name="Google Shape;14308;p70"/>
                <p:cNvSpPr/>
                <p:nvPr/>
              </p:nvSpPr>
              <p:spPr>
                <a:xfrm>
                  <a:off x="10753243" y="7105684"/>
                  <a:ext cx="122730" cy="166079"/>
                </a:xfrm>
                <a:custGeom>
                  <a:avLst/>
                  <a:gdLst/>
                  <a:ahLst/>
                  <a:cxnLst/>
                  <a:rect l="l" t="t" r="r" b="b"/>
                  <a:pathLst>
                    <a:path w="122730" h="166079" extrusionOk="0">
                      <a:moveTo>
                        <a:pt x="49" y="61316"/>
                      </a:moveTo>
                      <a:lnTo>
                        <a:pt x="49" y="166079"/>
                      </a:lnTo>
                      <a:cubicBezTo>
                        <a:pt x="687" y="166079"/>
                        <a:pt x="1276" y="165981"/>
                        <a:pt x="1865" y="165981"/>
                      </a:cubicBezTo>
                      <a:lnTo>
                        <a:pt x="3829" y="165981"/>
                      </a:lnTo>
                      <a:cubicBezTo>
                        <a:pt x="4664" y="165981"/>
                        <a:pt x="5547" y="166030"/>
                        <a:pt x="6382" y="166079"/>
                      </a:cubicBezTo>
                      <a:cubicBezTo>
                        <a:pt x="21110" y="129947"/>
                        <a:pt x="56554" y="105156"/>
                        <a:pt x="96221" y="105156"/>
                      </a:cubicBezTo>
                      <a:lnTo>
                        <a:pt x="98626" y="105156"/>
                      </a:lnTo>
                      <a:cubicBezTo>
                        <a:pt x="106334" y="105401"/>
                        <a:pt x="113845" y="106432"/>
                        <a:pt x="121013" y="108347"/>
                      </a:cubicBezTo>
                      <a:cubicBezTo>
                        <a:pt x="121553" y="107365"/>
                        <a:pt x="122191" y="106432"/>
                        <a:pt x="122731" y="105450"/>
                      </a:cubicBezTo>
                      <a:lnTo>
                        <a:pt x="122731" y="61267"/>
                      </a:lnTo>
                      <a:lnTo>
                        <a:pt x="61365" y="0"/>
                      </a:lnTo>
                      <a:lnTo>
                        <a:pt x="0" y="6126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09" name="Google Shape;14309;p70"/>
                <p:cNvSpPr/>
                <p:nvPr/>
              </p:nvSpPr>
              <p:spPr>
                <a:xfrm>
                  <a:off x="10691912" y="7173105"/>
                  <a:ext cx="431170" cy="246404"/>
                </a:xfrm>
                <a:custGeom>
                  <a:avLst/>
                  <a:gdLst/>
                  <a:ahLst/>
                  <a:cxnLst/>
                  <a:rect l="l" t="t" r="r" b="b"/>
                  <a:pathLst>
                    <a:path w="431170" h="246404" extrusionOk="0">
                      <a:moveTo>
                        <a:pt x="408168" y="110342"/>
                      </a:moveTo>
                      <a:cubicBezTo>
                        <a:pt x="398595" y="100769"/>
                        <a:pt x="386568" y="94436"/>
                        <a:pt x="373313" y="92669"/>
                      </a:cubicBezTo>
                      <a:cubicBezTo>
                        <a:pt x="372625" y="92571"/>
                        <a:pt x="371938" y="92424"/>
                        <a:pt x="371251" y="92374"/>
                      </a:cubicBezTo>
                      <a:cubicBezTo>
                        <a:pt x="371251" y="92276"/>
                        <a:pt x="371251" y="92178"/>
                        <a:pt x="371251" y="92080"/>
                      </a:cubicBezTo>
                      <a:cubicBezTo>
                        <a:pt x="366489" y="41220"/>
                        <a:pt x="328148" y="1210"/>
                        <a:pt x="280577" y="32"/>
                      </a:cubicBezTo>
                      <a:cubicBezTo>
                        <a:pt x="248078" y="-852"/>
                        <a:pt x="219065" y="16772"/>
                        <a:pt x="201637" y="44068"/>
                      </a:cubicBezTo>
                      <a:cubicBezTo>
                        <a:pt x="200999" y="45000"/>
                        <a:pt x="200459" y="46031"/>
                        <a:pt x="199869" y="47013"/>
                      </a:cubicBezTo>
                      <a:cubicBezTo>
                        <a:pt x="199378" y="47848"/>
                        <a:pt x="198838" y="48682"/>
                        <a:pt x="198348" y="49517"/>
                      </a:cubicBezTo>
                      <a:cubicBezTo>
                        <a:pt x="198298" y="49615"/>
                        <a:pt x="198200" y="49713"/>
                        <a:pt x="198151" y="49860"/>
                      </a:cubicBezTo>
                      <a:lnTo>
                        <a:pt x="191327" y="62035"/>
                      </a:lnTo>
                      <a:lnTo>
                        <a:pt x="187351" y="61004"/>
                      </a:lnTo>
                      <a:cubicBezTo>
                        <a:pt x="178809" y="57568"/>
                        <a:pt x="169579" y="55555"/>
                        <a:pt x="159859" y="55261"/>
                      </a:cubicBezTo>
                      <a:cubicBezTo>
                        <a:pt x="123874" y="54377"/>
                        <a:pt x="93094" y="77745"/>
                        <a:pt x="82441" y="110686"/>
                      </a:cubicBezTo>
                      <a:lnTo>
                        <a:pt x="79691" y="117412"/>
                      </a:lnTo>
                      <a:lnTo>
                        <a:pt x="73015" y="117068"/>
                      </a:lnTo>
                      <a:cubicBezTo>
                        <a:pt x="70266" y="116675"/>
                        <a:pt x="67516" y="116430"/>
                        <a:pt x="64718" y="116381"/>
                      </a:cubicBezTo>
                      <a:cubicBezTo>
                        <a:pt x="29814" y="115546"/>
                        <a:pt x="849" y="143283"/>
                        <a:pt x="14" y="178335"/>
                      </a:cubicBezTo>
                      <a:cubicBezTo>
                        <a:pt x="-476" y="200034"/>
                        <a:pt x="11551" y="220555"/>
                        <a:pt x="29126" y="233319"/>
                      </a:cubicBezTo>
                      <a:cubicBezTo>
                        <a:pt x="39927" y="241124"/>
                        <a:pt x="52740" y="246033"/>
                        <a:pt x="66044" y="246377"/>
                      </a:cubicBezTo>
                      <a:cubicBezTo>
                        <a:pt x="73309" y="246524"/>
                        <a:pt x="197267" y="246033"/>
                        <a:pt x="283032" y="245739"/>
                      </a:cubicBezTo>
                      <a:cubicBezTo>
                        <a:pt x="284652" y="245739"/>
                        <a:pt x="286272" y="245739"/>
                        <a:pt x="287892" y="245739"/>
                      </a:cubicBezTo>
                      <a:cubicBezTo>
                        <a:pt x="329130" y="245592"/>
                        <a:pt x="360500" y="245543"/>
                        <a:pt x="363838" y="245592"/>
                      </a:cubicBezTo>
                      <a:cubicBezTo>
                        <a:pt x="399970" y="246524"/>
                        <a:pt x="430211" y="212749"/>
                        <a:pt x="431143" y="170529"/>
                      </a:cubicBezTo>
                      <a:cubicBezTo>
                        <a:pt x="431732" y="146425"/>
                        <a:pt x="422749" y="124824"/>
                        <a:pt x="408315" y="11044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grpSp>
        <p:nvGrpSpPr>
          <p:cNvPr id="14310" name="Google Shape;14310;p70"/>
          <p:cNvGrpSpPr/>
          <p:nvPr/>
        </p:nvGrpSpPr>
        <p:grpSpPr>
          <a:xfrm>
            <a:off x="6512388" y="4163479"/>
            <a:ext cx="1127962" cy="1613975"/>
            <a:chOff x="6512388" y="4163479"/>
            <a:chExt cx="1127962" cy="1613975"/>
          </a:xfrm>
        </p:grpSpPr>
        <p:sp>
          <p:nvSpPr>
            <p:cNvPr id="14311" name="Google Shape;14311;p70"/>
            <p:cNvSpPr/>
            <p:nvPr/>
          </p:nvSpPr>
          <p:spPr>
            <a:xfrm>
              <a:off x="6530300" y="4163479"/>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12" name="Google Shape;14312;p70"/>
            <p:cNvSpPr/>
            <p:nvPr/>
          </p:nvSpPr>
          <p:spPr>
            <a:xfrm>
              <a:off x="6619123" y="4252302"/>
              <a:ext cx="906606" cy="906606"/>
            </a:xfrm>
            <a:prstGeom prst="ellipse">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13" name="Google Shape;14313;p70"/>
            <p:cNvSpPr txBox="1"/>
            <p:nvPr/>
          </p:nvSpPr>
          <p:spPr>
            <a:xfrm>
              <a:off x="6512388" y="5408122"/>
              <a:ext cx="1127962" cy="369332"/>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HCX Assisted vMotion</a:t>
              </a:r>
              <a:endParaRPr sz="1800" b="0" i="0" u="none" strike="noStrike" cap="none">
                <a:solidFill>
                  <a:srgbClr val="FFFFFF"/>
                </a:solidFill>
                <a:latin typeface="Arial"/>
                <a:ea typeface="Arial"/>
                <a:cs typeface="Arial"/>
                <a:sym typeface="Arial"/>
              </a:endParaRPr>
            </a:p>
          </p:txBody>
        </p:sp>
        <p:grpSp>
          <p:nvGrpSpPr>
            <p:cNvPr id="14314" name="Google Shape;14314;p70"/>
            <p:cNvGrpSpPr/>
            <p:nvPr/>
          </p:nvGrpSpPr>
          <p:grpSpPr>
            <a:xfrm>
              <a:off x="6796593" y="4584524"/>
              <a:ext cx="552154" cy="257760"/>
              <a:chOff x="7114251" y="6895422"/>
              <a:chExt cx="668107" cy="311890"/>
            </a:xfrm>
          </p:grpSpPr>
          <p:grpSp>
            <p:nvGrpSpPr>
              <p:cNvPr id="14315" name="Google Shape;14315;p70"/>
              <p:cNvGrpSpPr/>
              <p:nvPr/>
            </p:nvGrpSpPr>
            <p:grpSpPr>
              <a:xfrm>
                <a:off x="7114251" y="6895422"/>
                <a:ext cx="311890" cy="311890"/>
                <a:chOff x="7114251" y="6895422"/>
                <a:chExt cx="311890" cy="311890"/>
              </a:xfrm>
            </p:grpSpPr>
            <p:sp>
              <p:nvSpPr>
                <p:cNvPr id="14316" name="Google Shape;14316;p70"/>
                <p:cNvSpPr/>
                <p:nvPr/>
              </p:nvSpPr>
              <p:spPr>
                <a:xfrm>
                  <a:off x="7380746" y="7161917"/>
                  <a:ext cx="45395" cy="45395"/>
                </a:xfrm>
                <a:custGeom>
                  <a:avLst/>
                  <a:gdLst/>
                  <a:ahLst/>
                  <a:cxnLst/>
                  <a:rect l="l" t="t" r="r" b="b"/>
                  <a:pathLst>
                    <a:path w="45395" h="45395" extrusionOk="0">
                      <a:moveTo>
                        <a:pt x="45395" y="45395"/>
                      </a:moveTo>
                      <a:lnTo>
                        <a:pt x="0" y="45395"/>
                      </a:lnTo>
                      <a:lnTo>
                        <a:pt x="0" y="18692"/>
                      </a:lnTo>
                      <a:lnTo>
                        <a:pt x="18692" y="18692"/>
                      </a:lnTo>
                      <a:lnTo>
                        <a:pt x="18692" y="0"/>
                      </a:lnTo>
                      <a:lnTo>
                        <a:pt x="45395" y="0"/>
                      </a:lnTo>
                      <a:lnTo>
                        <a:pt x="45395" y="4539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17" name="Google Shape;14317;p70"/>
                <p:cNvSpPr/>
                <p:nvPr/>
              </p:nvSpPr>
              <p:spPr>
                <a:xfrm>
                  <a:off x="7184212" y="7180609"/>
                  <a:ext cx="171966" cy="26702"/>
                </a:xfrm>
                <a:custGeom>
                  <a:avLst/>
                  <a:gdLst/>
                  <a:ahLst/>
                  <a:cxnLst/>
                  <a:rect l="l" t="t" r="r" b="b"/>
                  <a:pathLst>
                    <a:path w="171966" h="26702" extrusionOk="0">
                      <a:moveTo>
                        <a:pt x="171967" y="26703"/>
                      </a:moveTo>
                      <a:lnTo>
                        <a:pt x="98267" y="26703"/>
                      </a:lnTo>
                      <a:lnTo>
                        <a:pt x="98267" y="0"/>
                      </a:lnTo>
                      <a:lnTo>
                        <a:pt x="171967" y="0"/>
                      </a:lnTo>
                      <a:lnTo>
                        <a:pt x="171967" y="26703"/>
                      </a:lnTo>
                      <a:close/>
                      <a:moveTo>
                        <a:pt x="73700" y="26703"/>
                      </a:moveTo>
                      <a:lnTo>
                        <a:pt x="0" y="26703"/>
                      </a:lnTo>
                      <a:lnTo>
                        <a:pt x="0" y="0"/>
                      </a:lnTo>
                      <a:lnTo>
                        <a:pt x="73700" y="0"/>
                      </a:lnTo>
                      <a:lnTo>
                        <a:pt x="73700" y="2670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18" name="Google Shape;14318;p70"/>
                <p:cNvSpPr/>
                <p:nvPr/>
              </p:nvSpPr>
              <p:spPr>
                <a:xfrm>
                  <a:off x="7114251" y="7161917"/>
                  <a:ext cx="45394" cy="45395"/>
                </a:xfrm>
                <a:custGeom>
                  <a:avLst/>
                  <a:gdLst/>
                  <a:ahLst/>
                  <a:cxnLst/>
                  <a:rect l="l" t="t" r="r" b="b"/>
                  <a:pathLst>
                    <a:path w="45394" h="45395" extrusionOk="0">
                      <a:moveTo>
                        <a:pt x="45395" y="45395"/>
                      </a:moveTo>
                      <a:lnTo>
                        <a:pt x="0" y="45395"/>
                      </a:lnTo>
                      <a:lnTo>
                        <a:pt x="0" y="0"/>
                      </a:lnTo>
                      <a:lnTo>
                        <a:pt x="26703" y="0"/>
                      </a:lnTo>
                      <a:lnTo>
                        <a:pt x="26703" y="18692"/>
                      </a:lnTo>
                      <a:lnTo>
                        <a:pt x="45395" y="18692"/>
                      </a:lnTo>
                      <a:lnTo>
                        <a:pt x="45395" y="4539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19" name="Google Shape;14319;p70"/>
                <p:cNvSpPr/>
                <p:nvPr/>
              </p:nvSpPr>
              <p:spPr>
                <a:xfrm>
                  <a:off x="7114251" y="6965383"/>
                  <a:ext cx="26702" cy="171966"/>
                </a:xfrm>
                <a:custGeom>
                  <a:avLst/>
                  <a:gdLst/>
                  <a:ahLst/>
                  <a:cxnLst/>
                  <a:rect l="l" t="t" r="r" b="b"/>
                  <a:pathLst>
                    <a:path w="26702" h="171966" extrusionOk="0">
                      <a:moveTo>
                        <a:pt x="26703" y="171967"/>
                      </a:moveTo>
                      <a:lnTo>
                        <a:pt x="0" y="171967"/>
                      </a:lnTo>
                      <a:lnTo>
                        <a:pt x="0" y="98267"/>
                      </a:lnTo>
                      <a:lnTo>
                        <a:pt x="26703" y="98267"/>
                      </a:lnTo>
                      <a:lnTo>
                        <a:pt x="26703" y="171967"/>
                      </a:lnTo>
                      <a:close/>
                      <a:moveTo>
                        <a:pt x="26703" y="73700"/>
                      </a:moveTo>
                      <a:lnTo>
                        <a:pt x="0" y="73700"/>
                      </a:lnTo>
                      <a:lnTo>
                        <a:pt x="0" y="0"/>
                      </a:lnTo>
                      <a:lnTo>
                        <a:pt x="26703" y="0"/>
                      </a:lnTo>
                      <a:lnTo>
                        <a:pt x="26703" y="7370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20" name="Google Shape;14320;p70"/>
                <p:cNvSpPr/>
                <p:nvPr/>
              </p:nvSpPr>
              <p:spPr>
                <a:xfrm>
                  <a:off x="7399438" y="6963781"/>
                  <a:ext cx="26702" cy="172500"/>
                </a:xfrm>
                <a:custGeom>
                  <a:avLst/>
                  <a:gdLst/>
                  <a:ahLst/>
                  <a:cxnLst/>
                  <a:rect l="l" t="t" r="r" b="b"/>
                  <a:pathLst>
                    <a:path w="26702" h="172500" extrusionOk="0">
                      <a:moveTo>
                        <a:pt x="26703" y="172501"/>
                      </a:moveTo>
                      <a:lnTo>
                        <a:pt x="0" y="172501"/>
                      </a:lnTo>
                      <a:lnTo>
                        <a:pt x="0" y="98801"/>
                      </a:lnTo>
                      <a:lnTo>
                        <a:pt x="26703" y="98801"/>
                      </a:lnTo>
                      <a:lnTo>
                        <a:pt x="26703" y="172501"/>
                      </a:lnTo>
                      <a:close/>
                      <a:moveTo>
                        <a:pt x="26703" y="64087"/>
                      </a:moveTo>
                      <a:lnTo>
                        <a:pt x="0" y="64087"/>
                      </a:lnTo>
                      <a:lnTo>
                        <a:pt x="0" y="0"/>
                      </a:lnTo>
                      <a:lnTo>
                        <a:pt x="26703" y="0"/>
                      </a:lnTo>
                      <a:lnTo>
                        <a:pt x="26703" y="6408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21" name="Google Shape;14321;p70"/>
                <p:cNvSpPr/>
                <p:nvPr/>
              </p:nvSpPr>
              <p:spPr>
                <a:xfrm>
                  <a:off x="7114251" y="6895422"/>
                  <a:ext cx="45394" cy="45394"/>
                </a:xfrm>
                <a:custGeom>
                  <a:avLst/>
                  <a:gdLst/>
                  <a:ahLst/>
                  <a:cxnLst/>
                  <a:rect l="l" t="t" r="r" b="b"/>
                  <a:pathLst>
                    <a:path w="45394" h="45394" extrusionOk="0">
                      <a:moveTo>
                        <a:pt x="26703" y="45395"/>
                      </a:moveTo>
                      <a:lnTo>
                        <a:pt x="0" y="45395"/>
                      </a:lnTo>
                      <a:lnTo>
                        <a:pt x="0" y="0"/>
                      </a:lnTo>
                      <a:lnTo>
                        <a:pt x="45395" y="0"/>
                      </a:lnTo>
                      <a:lnTo>
                        <a:pt x="45395" y="26703"/>
                      </a:lnTo>
                      <a:lnTo>
                        <a:pt x="26703" y="26703"/>
                      </a:lnTo>
                      <a:lnTo>
                        <a:pt x="26703" y="4539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22" name="Google Shape;14322;p70"/>
                <p:cNvSpPr/>
                <p:nvPr/>
              </p:nvSpPr>
              <p:spPr>
                <a:xfrm>
                  <a:off x="7184212" y="6895422"/>
                  <a:ext cx="171966" cy="26702"/>
                </a:xfrm>
                <a:custGeom>
                  <a:avLst/>
                  <a:gdLst/>
                  <a:ahLst/>
                  <a:cxnLst/>
                  <a:rect l="l" t="t" r="r" b="b"/>
                  <a:pathLst>
                    <a:path w="171966" h="26702" extrusionOk="0">
                      <a:moveTo>
                        <a:pt x="171967" y="26703"/>
                      </a:moveTo>
                      <a:lnTo>
                        <a:pt x="98267" y="26703"/>
                      </a:lnTo>
                      <a:lnTo>
                        <a:pt x="98267" y="0"/>
                      </a:lnTo>
                      <a:lnTo>
                        <a:pt x="171967" y="0"/>
                      </a:lnTo>
                      <a:lnTo>
                        <a:pt x="171967" y="26703"/>
                      </a:lnTo>
                      <a:close/>
                      <a:moveTo>
                        <a:pt x="73700" y="26703"/>
                      </a:moveTo>
                      <a:lnTo>
                        <a:pt x="0" y="26703"/>
                      </a:lnTo>
                      <a:lnTo>
                        <a:pt x="0" y="0"/>
                      </a:lnTo>
                      <a:lnTo>
                        <a:pt x="73700" y="0"/>
                      </a:lnTo>
                      <a:lnTo>
                        <a:pt x="73700" y="2670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23" name="Google Shape;14323;p70"/>
                <p:cNvSpPr/>
                <p:nvPr/>
              </p:nvSpPr>
              <p:spPr>
                <a:xfrm>
                  <a:off x="7380746" y="6895422"/>
                  <a:ext cx="45395" cy="45394"/>
                </a:xfrm>
                <a:custGeom>
                  <a:avLst/>
                  <a:gdLst/>
                  <a:ahLst/>
                  <a:cxnLst/>
                  <a:rect l="l" t="t" r="r" b="b"/>
                  <a:pathLst>
                    <a:path w="45395" h="45394" extrusionOk="0">
                      <a:moveTo>
                        <a:pt x="45395" y="45395"/>
                      </a:moveTo>
                      <a:lnTo>
                        <a:pt x="18692" y="45395"/>
                      </a:lnTo>
                      <a:lnTo>
                        <a:pt x="18692" y="26703"/>
                      </a:lnTo>
                      <a:lnTo>
                        <a:pt x="0" y="26703"/>
                      </a:lnTo>
                      <a:lnTo>
                        <a:pt x="0" y="0"/>
                      </a:lnTo>
                      <a:lnTo>
                        <a:pt x="45395" y="0"/>
                      </a:lnTo>
                      <a:lnTo>
                        <a:pt x="45395" y="4539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4324" name="Google Shape;14324;p70"/>
              <p:cNvSpPr/>
              <p:nvPr/>
            </p:nvSpPr>
            <p:spPr>
              <a:xfrm>
                <a:off x="7480081" y="6900228"/>
                <a:ext cx="302277" cy="302277"/>
              </a:xfrm>
              <a:custGeom>
                <a:avLst/>
                <a:gdLst/>
                <a:ahLst/>
                <a:cxnLst/>
                <a:rect l="l" t="t" r="r" b="b"/>
                <a:pathLst>
                  <a:path w="302277" h="302277" extrusionOk="0">
                    <a:moveTo>
                      <a:pt x="0" y="0"/>
                    </a:moveTo>
                    <a:lnTo>
                      <a:pt x="0" y="127106"/>
                    </a:lnTo>
                    <a:lnTo>
                      <a:pt x="26703" y="127106"/>
                    </a:lnTo>
                    <a:lnTo>
                      <a:pt x="26703" y="26703"/>
                    </a:lnTo>
                    <a:lnTo>
                      <a:pt x="275574" y="26703"/>
                    </a:lnTo>
                    <a:lnTo>
                      <a:pt x="275574" y="275574"/>
                    </a:lnTo>
                    <a:lnTo>
                      <a:pt x="26703" y="275574"/>
                    </a:lnTo>
                    <a:lnTo>
                      <a:pt x="26703" y="175171"/>
                    </a:lnTo>
                    <a:lnTo>
                      <a:pt x="0" y="175171"/>
                    </a:lnTo>
                    <a:lnTo>
                      <a:pt x="0" y="302277"/>
                    </a:lnTo>
                    <a:lnTo>
                      <a:pt x="302277" y="302277"/>
                    </a:lnTo>
                    <a:lnTo>
                      <a:pt x="302277" y="0"/>
                    </a:lnTo>
                    <a:lnTo>
                      <a:pt x="0"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4325" name="Google Shape;14325;p70"/>
              <p:cNvGrpSpPr/>
              <p:nvPr/>
            </p:nvGrpSpPr>
            <p:grpSpPr>
              <a:xfrm>
                <a:off x="7312386" y="7011312"/>
                <a:ext cx="373841" cy="80108"/>
                <a:chOff x="7312386" y="7011312"/>
                <a:chExt cx="373841" cy="80108"/>
              </a:xfrm>
            </p:grpSpPr>
            <p:sp>
              <p:nvSpPr>
                <p:cNvPr id="14326" name="Google Shape;14326;p70"/>
                <p:cNvSpPr/>
                <p:nvPr/>
              </p:nvSpPr>
              <p:spPr>
                <a:xfrm>
                  <a:off x="7312386" y="7043356"/>
                  <a:ext cx="316162" cy="16021"/>
                </a:xfrm>
                <a:custGeom>
                  <a:avLst/>
                  <a:gdLst/>
                  <a:ahLst/>
                  <a:cxnLst/>
                  <a:rect l="l" t="t" r="r" b="b"/>
                  <a:pathLst>
                    <a:path w="316162" h="16021" extrusionOk="0">
                      <a:moveTo>
                        <a:pt x="0" y="0"/>
                      </a:moveTo>
                      <a:lnTo>
                        <a:pt x="316163" y="0"/>
                      </a:lnTo>
                      <a:lnTo>
                        <a:pt x="316163" y="16022"/>
                      </a:lnTo>
                      <a:lnTo>
                        <a:pt x="0" y="16022"/>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27" name="Google Shape;14327;p70"/>
                <p:cNvSpPr/>
                <p:nvPr/>
              </p:nvSpPr>
              <p:spPr>
                <a:xfrm>
                  <a:off x="7616800" y="7011312"/>
                  <a:ext cx="69427" cy="80108"/>
                </a:xfrm>
                <a:custGeom>
                  <a:avLst/>
                  <a:gdLst/>
                  <a:ahLst/>
                  <a:cxnLst/>
                  <a:rect l="l" t="t" r="r" b="b"/>
                  <a:pathLst>
                    <a:path w="69427" h="80108" extrusionOk="0">
                      <a:moveTo>
                        <a:pt x="0" y="80109"/>
                      </a:moveTo>
                      <a:lnTo>
                        <a:pt x="69428" y="40054"/>
                      </a:lnTo>
                      <a:lnTo>
                        <a:pt x="0" y="0"/>
                      </a:lnTo>
                      <a:lnTo>
                        <a:pt x="0" y="80109"/>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4328" name="Google Shape;14328;p70"/>
              <p:cNvSpPr/>
              <p:nvPr/>
            </p:nvSpPr>
            <p:spPr>
              <a:xfrm>
                <a:off x="7223733" y="7003302"/>
                <a:ext cx="95596" cy="95596"/>
              </a:xfrm>
              <a:custGeom>
                <a:avLst/>
                <a:gdLst/>
                <a:ahLst/>
                <a:cxnLst/>
                <a:rect l="l" t="t" r="r" b="b"/>
                <a:pathLst>
                  <a:path w="95596" h="95596" extrusionOk="0">
                    <a:moveTo>
                      <a:pt x="0" y="0"/>
                    </a:moveTo>
                    <a:lnTo>
                      <a:pt x="95597" y="0"/>
                    </a:lnTo>
                    <a:lnTo>
                      <a:pt x="95597" y="95597"/>
                    </a:lnTo>
                    <a:lnTo>
                      <a:pt x="0" y="9559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4329" name="Google Shape;14329;p70"/>
          <p:cNvGrpSpPr/>
          <p:nvPr/>
        </p:nvGrpSpPr>
        <p:grpSpPr>
          <a:xfrm>
            <a:off x="8459908" y="4163479"/>
            <a:ext cx="1145010" cy="1429309"/>
            <a:chOff x="8459908" y="4163479"/>
            <a:chExt cx="1145010" cy="1429309"/>
          </a:xfrm>
        </p:grpSpPr>
        <p:sp>
          <p:nvSpPr>
            <p:cNvPr id="14330" name="Google Shape;14330;p70"/>
            <p:cNvSpPr/>
            <p:nvPr/>
          </p:nvSpPr>
          <p:spPr>
            <a:xfrm>
              <a:off x="8486325" y="4163479"/>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31" name="Google Shape;14331;p70"/>
            <p:cNvSpPr/>
            <p:nvPr/>
          </p:nvSpPr>
          <p:spPr>
            <a:xfrm>
              <a:off x="8575148" y="4252302"/>
              <a:ext cx="906606" cy="906606"/>
            </a:xfrm>
            <a:prstGeom prst="ellipse">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32" name="Google Shape;14332;p70"/>
            <p:cNvSpPr txBox="1"/>
            <p:nvPr/>
          </p:nvSpPr>
          <p:spPr>
            <a:xfrm>
              <a:off x="8459908" y="5408122"/>
              <a:ext cx="1145010"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Bulk Migration</a:t>
              </a:r>
              <a:endParaRPr sz="1800" b="0" i="0" u="none" strike="noStrike" cap="none">
                <a:solidFill>
                  <a:srgbClr val="FFFFFF"/>
                </a:solidFill>
                <a:latin typeface="Arial"/>
                <a:ea typeface="Arial"/>
                <a:cs typeface="Arial"/>
                <a:sym typeface="Arial"/>
              </a:endParaRPr>
            </a:p>
          </p:txBody>
        </p:sp>
        <p:grpSp>
          <p:nvGrpSpPr>
            <p:cNvPr id="14333" name="Google Shape;14333;p70"/>
            <p:cNvGrpSpPr/>
            <p:nvPr/>
          </p:nvGrpSpPr>
          <p:grpSpPr>
            <a:xfrm>
              <a:off x="8774473" y="4458260"/>
              <a:ext cx="509420" cy="510290"/>
              <a:chOff x="8684822" y="6817966"/>
              <a:chExt cx="616399" cy="617451"/>
            </a:xfrm>
          </p:grpSpPr>
          <p:grpSp>
            <p:nvGrpSpPr>
              <p:cNvPr id="14334" name="Google Shape;14334;p70"/>
              <p:cNvGrpSpPr/>
              <p:nvPr/>
            </p:nvGrpSpPr>
            <p:grpSpPr>
              <a:xfrm>
                <a:off x="8684822" y="6817966"/>
                <a:ext cx="436002" cy="436002"/>
                <a:chOff x="8684822" y="6817966"/>
                <a:chExt cx="436002" cy="436002"/>
              </a:xfrm>
            </p:grpSpPr>
            <p:sp>
              <p:nvSpPr>
                <p:cNvPr id="14335" name="Google Shape;14335;p70"/>
                <p:cNvSpPr/>
                <p:nvPr/>
              </p:nvSpPr>
              <p:spPr>
                <a:xfrm>
                  <a:off x="8750039" y="7227672"/>
                  <a:ext cx="142529" cy="26296"/>
                </a:xfrm>
                <a:custGeom>
                  <a:avLst/>
                  <a:gdLst/>
                  <a:ahLst/>
                  <a:cxnLst/>
                  <a:rect l="l" t="t" r="r" b="b"/>
                  <a:pathLst>
                    <a:path w="142529" h="26296" extrusionOk="0">
                      <a:moveTo>
                        <a:pt x="142529" y="26297"/>
                      </a:moveTo>
                      <a:lnTo>
                        <a:pt x="81520" y="26297"/>
                      </a:lnTo>
                      <a:lnTo>
                        <a:pt x="81520" y="0"/>
                      </a:lnTo>
                      <a:lnTo>
                        <a:pt x="142529" y="0"/>
                      </a:lnTo>
                      <a:lnTo>
                        <a:pt x="142529" y="26297"/>
                      </a:lnTo>
                      <a:close/>
                      <a:moveTo>
                        <a:pt x="61009" y="26297"/>
                      </a:moveTo>
                      <a:lnTo>
                        <a:pt x="0" y="26297"/>
                      </a:lnTo>
                      <a:lnTo>
                        <a:pt x="0" y="0"/>
                      </a:lnTo>
                      <a:lnTo>
                        <a:pt x="61009" y="0"/>
                      </a:lnTo>
                      <a:lnTo>
                        <a:pt x="61009" y="2629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36" name="Google Shape;14336;p70"/>
                <p:cNvSpPr/>
                <p:nvPr/>
              </p:nvSpPr>
              <p:spPr>
                <a:xfrm>
                  <a:off x="8684822" y="7209264"/>
                  <a:ext cx="44704" cy="44704"/>
                </a:xfrm>
                <a:custGeom>
                  <a:avLst/>
                  <a:gdLst/>
                  <a:ahLst/>
                  <a:cxnLst/>
                  <a:rect l="l" t="t" r="r" b="b"/>
                  <a:pathLst>
                    <a:path w="44704" h="44704" extrusionOk="0">
                      <a:moveTo>
                        <a:pt x="44705" y="44705"/>
                      </a:moveTo>
                      <a:lnTo>
                        <a:pt x="0" y="44705"/>
                      </a:lnTo>
                      <a:lnTo>
                        <a:pt x="0" y="0"/>
                      </a:lnTo>
                      <a:lnTo>
                        <a:pt x="26297" y="0"/>
                      </a:lnTo>
                      <a:lnTo>
                        <a:pt x="26297" y="18408"/>
                      </a:lnTo>
                      <a:lnTo>
                        <a:pt x="44705" y="18408"/>
                      </a:lnTo>
                      <a:lnTo>
                        <a:pt x="44705" y="4470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37" name="Google Shape;14337;p70"/>
                <p:cNvSpPr/>
                <p:nvPr/>
              </p:nvSpPr>
              <p:spPr>
                <a:xfrm>
                  <a:off x="8684822" y="6883183"/>
                  <a:ext cx="26296" cy="305569"/>
                </a:xfrm>
                <a:custGeom>
                  <a:avLst/>
                  <a:gdLst/>
                  <a:ahLst/>
                  <a:cxnLst/>
                  <a:rect l="l" t="t" r="r" b="b"/>
                  <a:pathLst>
                    <a:path w="26296" h="305569" extrusionOk="0">
                      <a:moveTo>
                        <a:pt x="26297" y="305570"/>
                      </a:moveTo>
                      <a:lnTo>
                        <a:pt x="0" y="305570"/>
                      </a:lnTo>
                      <a:lnTo>
                        <a:pt x="0" y="244561"/>
                      </a:lnTo>
                      <a:lnTo>
                        <a:pt x="26297" y="244561"/>
                      </a:lnTo>
                      <a:lnTo>
                        <a:pt x="26297" y="305570"/>
                      </a:lnTo>
                      <a:close/>
                      <a:moveTo>
                        <a:pt x="26297" y="224049"/>
                      </a:moveTo>
                      <a:lnTo>
                        <a:pt x="0" y="224049"/>
                      </a:lnTo>
                      <a:lnTo>
                        <a:pt x="0" y="163041"/>
                      </a:lnTo>
                      <a:lnTo>
                        <a:pt x="26297" y="163041"/>
                      </a:lnTo>
                      <a:lnTo>
                        <a:pt x="26297" y="224049"/>
                      </a:lnTo>
                      <a:close/>
                      <a:moveTo>
                        <a:pt x="26297" y="142529"/>
                      </a:moveTo>
                      <a:lnTo>
                        <a:pt x="0" y="142529"/>
                      </a:lnTo>
                      <a:lnTo>
                        <a:pt x="0" y="81520"/>
                      </a:lnTo>
                      <a:lnTo>
                        <a:pt x="26297" y="81520"/>
                      </a:lnTo>
                      <a:lnTo>
                        <a:pt x="26297" y="142529"/>
                      </a:lnTo>
                      <a:close/>
                      <a:moveTo>
                        <a:pt x="26297" y="61009"/>
                      </a:moveTo>
                      <a:lnTo>
                        <a:pt x="0" y="61009"/>
                      </a:lnTo>
                      <a:lnTo>
                        <a:pt x="0" y="0"/>
                      </a:lnTo>
                      <a:lnTo>
                        <a:pt x="26297" y="0"/>
                      </a:lnTo>
                      <a:lnTo>
                        <a:pt x="26297" y="61009"/>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38" name="Google Shape;14338;p70"/>
                <p:cNvSpPr/>
                <p:nvPr/>
              </p:nvSpPr>
              <p:spPr>
                <a:xfrm>
                  <a:off x="8684822" y="6817966"/>
                  <a:ext cx="44704" cy="44704"/>
                </a:xfrm>
                <a:custGeom>
                  <a:avLst/>
                  <a:gdLst/>
                  <a:ahLst/>
                  <a:cxnLst/>
                  <a:rect l="l" t="t" r="r" b="b"/>
                  <a:pathLst>
                    <a:path w="44704" h="44704" extrusionOk="0">
                      <a:moveTo>
                        <a:pt x="26297" y="44705"/>
                      </a:moveTo>
                      <a:lnTo>
                        <a:pt x="0" y="44705"/>
                      </a:lnTo>
                      <a:lnTo>
                        <a:pt x="0" y="0"/>
                      </a:lnTo>
                      <a:lnTo>
                        <a:pt x="44705" y="0"/>
                      </a:lnTo>
                      <a:lnTo>
                        <a:pt x="44705" y="26297"/>
                      </a:lnTo>
                      <a:lnTo>
                        <a:pt x="26297" y="26297"/>
                      </a:lnTo>
                      <a:lnTo>
                        <a:pt x="26297" y="4470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39" name="Google Shape;14339;p70"/>
                <p:cNvSpPr/>
                <p:nvPr/>
              </p:nvSpPr>
              <p:spPr>
                <a:xfrm>
                  <a:off x="8750039" y="6817966"/>
                  <a:ext cx="305569" cy="26296"/>
                </a:xfrm>
                <a:custGeom>
                  <a:avLst/>
                  <a:gdLst/>
                  <a:ahLst/>
                  <a:cxnLst/>
                  <a:rect l="l" t="t" r="r" b="b"/>
                  <a:pathLst>
                    <a:path w="305569" h="26296" extrusionOk="0">
                      <a:moveTo>
                        <a:pt x="305570" y="26297"/>
                      </a:moveTo>
                      <a:lnTo>
                        <a:pt x="244561" y="26297"/>
                      </a:lnTo>
                      <a:lnTo>
                        <a:pt x="244561" y="0"/>
                      </a:lnTo>
                      <a:lnTo>
                        <a:pt x="305570" y="0"/>
                      </a:lnTo>
                      <a:lnTo>
                        <a:pt x="305570" y="26297"/>
                      </a:lnTo>
                      <a:close/>
                      <a:moveTo>
                        <a:pt x="224049" y="26297"/>
                      </a:moveTo>
                      <a:lnTo>
                        <a:pt x="163041" y="26297"/>
                      </a:lnTo>
                      <a:lnTo>
                        <a:pt x="163041" y="0"/>
                      </a:lnTo>
                      <a:lnTo>
                        <a:pt x="224049" y="0"/>
                      </a:lnTo>
                      <a:lnTo>
                        <a:pt x="224049" y="26297"/>
                      </a:lnTo>
                      <a:close/>
                      <a:moveTo>
                        <a:pt x="142529" y="26297"/>
                      </a:moveTo>
                      <a:lnTo>
                        <a:pt x="81520" y="26297"/>
                      </a:lnTo>
                      <a:lnTo>
                        <a:pt x="81520" y="0"/>
                      </a:lnTo>
                      <a:lnTo>
                        <a:pt x="142529" y="0"/>
                      </a:lnTo>
                      <a:lnTo>
                        <a:pt x="142529" y="26297"/>
                      </a:lnTo>
                      <a:close/>
                      <a:moveTo>
                        <a:pt x="61009" y="26297"/>
                      </a:moveTo>
                      <a:lnTo>
                        <a:pt x="0" y="26297"/>
                      </a:lnTo>
                      <a:lnTo>
                        <a:pt x="0" y="0"/>
                      </a:lnTo>
                      <a:lnTo>
                        <a:pt x="61009" y="0"/>
                      </a:lnTo>
                      <a:lnTo>
                        <a:pt x="61009" y="2629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40" name="Google Shape;14340;p70"/>
                <p:cNvSpPr/>
                <p:nvPr/>
              </p:nvSpPr>
              <p:spPr>
                <a:xfrm>
                  <a:off x="9076120" y="6817966"/>
                  <a:ext cx="44704" cy="44704"/>
                </a:xfrm>
                <a:custGeom>
                  <a:avLst/>
                  <a:gdLst/>
                  <a:ahLst/>
                  <a:cxnLst/>
                  <a:rect l="l" t="t" r="r" b="b"/>
                  <a:pathLst>
                    <a:path w="44704" h="44704" extrusionOk="0">
                      <a:moveTo>
                        <a:pt x="44705" y="44705"/>
                      </a:moveTo>
                      <a:lnTo>
                        <a:pt x="18408" y="44705"/>
                      </a:lnTo>
                      <a:lnTo>
                        <a:pt x="18408" y="26297"/>
                      </a:lnTo>
                      <a:lnTo>
                        <a:pt x="0" y="26297"/>
                      </a:lnTo>
                      <a:lnTo>
                        <a:pt x="0" y="0"/>
                      </a:lnTo>
                      <a:lnTo>
                        <a:pt x="44705" y="0"/>
                      </a:lnTo>
                      <a:lnTo>
                        <a:pt x="44705" y="4470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41" name="Google Shape;14341;p70"/>
                <p:cNvSpPr/>
                <p:nvPr/>
              </p:nvSpPr>
              <p:spPr>
                <a:xfrm>
                  <a:off x="9094527" y="6883183"/>
                  <a:ext cx="26296" cy="305569"/>
                </a:xfrm>
                <a:custGeom>
                  <a:avLst/>
                  <a:gdLst/>
                  <a:ahLst/>
                  <a:cxnLst/>
                  <a:rect l="l" t="t" r="r" b="b"/>
                  <a:pathLst>
                    <a:path w="26296" h="305569" extrusionOk="0">
                      <a:moveTo>
                        <a:pt x="26297" y="305570"/>
                      </a:moveTo>
                      <a:lnTo>
                        <a:pt x="0" y="305570"/>
                      </a:lnTo>
                      <a:lnTo>
                        <a:pt x="0" y="244561"/>
                      </a:lnTo>
                      <a:lnTo>
                        <a:pt x="26297" y="244561"/>
                      </a:lnTo>
                      <a:lnTo>
                        <a:pt x="26297" y="305570"/>
                      </a:lnTo>
                      <a:close/>
                      <a:moveTo>
                        <a:pt x="26297" y="142529"/>
                      </a:moveTo>
                      <a:lnTo>
                        <a:pt x="0" y="142529"/>
                      </a:lnTo>
                      <a:lnTo>
                        <a:pt x="0" y="81520"/>
                      </a:lnTo>
                      <a:lnTo>
                        <a:pt x="26297" y="81520"/>
                      </a:lnTo>
                      <a:lnTo>
                        <a:pt x="26297" y="142529"/>
                      </a:lnTo>
                      <a:close/>
                      <a:moveTo>
                        <a:pt x="26297" y="61009"/>
                      </a:moveTo>
                      <a:lnTo>
                        <a:pt x="0" y="61009"/>
                      </a:lnTo>
                      <a:lnTo>
                        <a:pt x="0" y="0"/>
                      </a:lnTo>
                      <a:lnTo>
                        <a:pt x="26297" y="0"/>
                      </a:lnTo>
                      <a:lnTo>
                        <a:pt x="26297" y="61009"/>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4342" name="Google Shape;14342;p70"/>
              <p:cNvGrpSpPr/>
              <p:nvPr/>
            </p:nvGrpSpPr>
            <p:grpSpPr>
              <a:xfrm>
                <a:off x="8858382" y="6992578"/>
                <a:ext cx="442839" cy="442839"/>
                <a:chOff x="8858382" y="6992578"/>
                <a:chExt cx="442839" cy="442839"/>
              </a:xfrm>
            </p:grpSpPr>
            <p:sp>
              <p:nvSpPr>
                <p:cNvPr id="14343" name="Google Shape;14343;p70"/>
                <p:cNvSpPr/>
                <p:nvPr/>
              </p:nvSpPr>
              <p:spPr>
                <a:xfrm>
                  <a:off x="8858382" y="6992578"/>
                  <a:ext cx="442839" cy="442839"/>
                </a:xfrm>
                <a:custGeom>
                  <a:avLst/>
                  <a:gdLst/>
                  <a:ahLst/>
                  <a:cxnLst/>
                  <a:rect l="l" t="t" r="r" b="b"/>
                  <a:pathLst>
                    <a:path w="442839" h="442839" extrusionOk="0">
                      <a:moveTo>
                        <a:pt x="0" y="0"/>
                      </a:moveTo>
                      <a:lnTo>
                        <a:pt x="0" y="442839"/>
                      </a:lnTo>
                      <a:lnTo>
                        <a:pt x="442839" y="442839"/>
                      </a:lnTo>
                      <a:lnTo>
                        <a:pt x="442839" y="0"/>
                      </a:lnTo>
                      <a:lnTo>
                        <a:pt x="0" y="0"/>
                      </a:lnTo>
                      <a:close/>
                      <a:moveTo>
                        <a:pt x="221420" y="359741"/>
                      </a:moveTo>
                      <a:cubicBezTo>
                        <a:pt x="145159" y="359741"/>
                        <a:pt x="83098" y="297681"/>
                        <a:pt x="83098" y="221420"/>
                      </a:cubicBezTo>
                      <a:cubicBezTo>
                        <a:pt x="83098" y="145159"/>
                        <a:pt x="145159" y="83098"/>
                        <a:pt x="221420" y="83098"/>
                      </a:cubicBezTo>
                      <a:cubicBezTo>
                        <a:pt x="297681" y="83098"/>
                        <a:pt x="359741" y="145159"/>
                        <a:pt x="359741" y="221420"/>
                      </a:cubicBezTo>
                      <a:cubicBezTo>
                        <a:pt x="359741" y="297681"/>
                        <a:pt x="297681" y="359741"/>
                        <a:pt x="221420" y="359741"/>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44" name="Google Shape;14344;p70"/>
                <p:cNvSpPr/>
                <p:nvPr/>
              </p:nvSpPr>
              <p:spPr>
                <a:xfrm>
                  <a:off x="8957258" y="7091454"/>
                  <a:ext cx="245086" cy="245086"/>
                </a:xfrm>
                <a:custGeom>
                  <a:avLst/>
                  <a:gdLst/>
                  <a:ahLst/>
                  <a:cxnLst/>
                  <a:rect l="l" t="t" r="r" b="b"/>
                  <a:pathLst>
                    <a:path w="245086" h="245086" extrusionOk="0">
                      <a:moveTo>
                        <a:pt x="122543" y="0"/>
                      </a:moveTo>
                      <a:cubicBezTo>
                        <a:pt x="55223" y="0"/>
                        <a:pt x="0" y="55223"/>
                        <a:pt x="0" y="122543"/>
                      </a:cubicBezTo>
                      <a:cubicBezTo>
                        <a:pt x="0" y="189863"/>
                        <a:pt x="55223" y="245087"/>
                        <a:pt x="122543" y="245087"/>
                      </a:cubicBezTo>
                      <a:cubicBezTo>
                        <a:pt x="189863" y="245087"/>
                        <a:pt x="245087" y="189863"/>
                        <a:pt x="245087" y="122543"/>
                      </a:cubicBezTo>
                      <a:cubicBezTo>
                        <a:pt x="245087" y="55223"/>
                        <a:pt x="189863" y="0"/>
                        <a:pt x="122543" y="0"/>
                      </a:cubicBezTo>
                      <a:close/>
                      <a:moveTo>
                        <a:pt x="190915" y="130432"/>
                      </a:moveTo>
                      <a:lnTo>
                        <a:pt x="114654" y="130432"/>
                      </a:lnTo>
                      <a:lnTo>
                        <a:pt x="114654" y="24193"/>
                      </a:lnTo>
                      <a:lnTo>
                        <a:pt x="130432" y="24193"/>
                      </a:lnTo>
                      <a:lnTo>
                        <a:pt x="130432" y="114654"/>
                      </a:lnTo>
                      <a:lnTo>
                        <a:pt x="190915" y="114654"/>
                      </a:lnTo>
                      <a:lnTo>
                        <a:pt x="190915" y="130432"/>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grpSp>
        <p:nvGrpSpPr>
          <p:cNvPr id="14345" name="Google Shape;14345;p70"/>
          <p:cNvGrpSpPr/>
          <p:nvPr/>
        </p:nvGrpSpPr>
        <p:grpSpPr>
          <a:xfrm>
            <a:off x="4574275" y="4163479"/>
            <a:ext cx="1084253" cy="1613975"/>
            <a:chOff x="4574275" y="4163479"/>
            <a:chExt cx="1084253" cy="1613975"/>
          </a:xfrm>
        </p:grpSpPr>
        <p:sp>
          <p:nvSpPr>
            <p:cNvPr id="14346" name="Google Shape;14346;p70"/>
            <p:cNvSpPr/>
            <p:nvPr/>
          </p:nvSpPr>
          <p:spPr>
            <a:xfrm>
              <a:off x="4574275" y="4163479"/>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47" name="Google Shape;14347;p70"/>
            <p:cNvSpPr/>
            <p:nvPr/>
          </p:nvSpPr>
          <p:spPr>
            <a:xfrm>
              <a:off x="4663098" y="4252302"/>
              <a:ext cx="906606" cy="906606"/>
            </a:xfrm>
            <a:prstGeom prst="ellipse">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48" name="Google Shape;14348;p70"/>
            <p:cNvSpPr txBox="1"/>
            <p:nvPr/>
          </p:nvSpPr>
          <p:spPr>
            <a:xfrm>
              <a:off x="4581975" y="5408122"/>
              <a:ext cx="1060786" cy="369332"/>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OS Assisted Migration</a:t>
              </a:r>
              <a:endParaRPr sz="1800" b="0" i="0" u="none" strike="noStrike" cap="none">
                <a:solidFill>
                  <a:srgbClr val="FFFFFF"/>
                </a:solidFill>
                <a:latin typeface="Arial"/>
                <a:ea typeface="Arial"/>
                <a:cs typeface="Arial"/>
                <a:sym typeface="Arial"/>
              </a:endParaRPr>
            </a:p>
          </p:txBody>
        </p:sp>
        <p:pic>
          <p:nvPicPr>
            <p:cNvPr id="14349" name="Google Shape;14349;p70"/>
            <p:cNvPicPr preferRelativeResize="0"/>
            <p:nvPr/>
          </p:nvPicPr>
          <p:blipFill rotWithShape="1">
            <a:blip r:embed="rId8">
              <a:alphaModFix/>
            </a:blip>
            <a:srcRect/>
            <a:stretch/>
          </p:blipFill>
          <p:spPr>
            <a:xfrm>
              <a:off x="4833938" y="4431185"/>
              <a:ext cx="564438" cy="564438"/>
            </a:xfrm>
            <a:prstGeom prst="rect">
              <a:avLst/>
            </a:prstGeom>
            <a:noFill/>
            <a:ln>
              <a:noFill/>
            </a:ln>
          </p:spPr>
        </p:pic>
      </p:grpSp>
      <p:grpSp>
        <p:nvGrpSpPr>
          <p:cNvPr id="14350" name="Google Shape;14350;p70"/>
          <p:cNvGrpSpPr/>
          <p:nvPr/>
        </p:nvGrpSpPr>
        <p:grpSpPr>
          <a:xfrm>
            <a:off x="2430032" y="4163479"/>
            <a:ext cx="1444794" cy="1613975"/>
            <a:chOff x="2430032" y="4163479"/>
            <a:chExt cx="1444794" cy="1613975"/>
          </a:xfrm>
        </p:grpSpPr>
        <p:sp>
          <p:nvSpPr>
            <p:cNvPr id="14351" name="Google Shape;14351;p70"/>
            <p:cNvSpPr/>
            <p:nvPr/>
          </p:nvSpPr>
          <p:spPr>
            <a:xfrm>
              <a:off x="2618250" y="4163479"/>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52" name="Google Shape;14352;p70"/>
            <p:cNvSpPr/>
            <p:nvPr/>
          </p:nvSpPr>
          <p:spPr>
            <a:xfrm>
              <a:off x="2707073" y="4252302"/>
              <a:ext cx="906606" cy="906606"/>
            </a:xfrm>
            <a:prstGeom prst="ellipse">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53" name="Google Shape;14353;p70"/>
            <p:cNvSpPr txBox="1"/>
            <p:nvPr/>
          </p:nvSpPr>
          <p:spPr>
            <a:xfrm>
              <a:off x="2430032" y="5408122"/>
              <a:ext cx="1444794" cy="369332"/>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Replication Assisted vMotion</a:t>
              </a:r>
              <a:endParaRPr sz="1800" b="0" i="0" u="none" strike="noStrike" cap="none">
                <a:solidFill>
                  <a:srgbClr val="FFFFFF"/>
                </a:solidFill>
                <a:latin typeface="Arial"/>
                <a:ea typeface="Arial"/>
                <a:cs typeface="Arial"/>
                <a:sym typeface="Arial"/>
              </a:endParaRPr>
            </a:p>
          </p:txBody>
        </p:sp>
        <p:grpSp>
          <p:nvGrpSpPr>
            <p:cNvPr id="14354" name="Google Shape;14354;p70"/>
            <p:cNvGrpSpPr/>
            <p:nvPr/>
          </p:nvGrpSpPr>
          <p:grpSpPr>
            <a:xfrm>
              <a:off x="2913529" y="4467071"/>
              <a:ext cx="492229" cy="492666"/>
              <a:chOff x="3862268" y="6801825"/>
              <a:chExt cx="595598" cy="596126"/>
            </a:xfrm>
          </p:grpSpPr>
          <p:grpSp>
            <p:nvGrpSpPr>
              <p:cNvPr id="14355" name="Google Shape;14355;p70"/>
              <p:cNvGrpSpPr/>
              <p:nvPr/>
            </p:nvGrpSpPr>
            <p:grpSpPr>
              <a:xfrm>
                <a:off x="3862268" y="6801825"/>
                <a:ext cx="350817" cy="349762"/>
                <a:chOff x="3862268" y="6801825"/>
                <a:chExt cx="350817" cy="349762"/>
              </a:xfrm>
            </p:grpSpPr>
            <p:sp>
              <p:nvSpPr>
                <p:cNvPr id="14356" name="Google Shape;14356;p70"/>
                <p:cNvSpPr/>
                <p:nvPr/>
              </p:nvSpPr>
              <p:spPr>
                <a:xfrm>
                  <a:off x="4168244" y="7106746"/>
                  <a:ext cx="44841" cy="44841"/>
                </a:xfrm>
                <a:custGeom>
                  <a:avLst/>
                  <a:gdLst/>
                  <a:ahLst/>
                  <a:cxnLst/>
                  <a:rect l="l" t="t" r="r" b="b"/>
                  <a:pathLst>
                    <a:path w="44841" h="44841" extrusionOk="0">
                      <a:moveTo>
                        <a:pt x="44841" y="0"/>
                      </a:moveTo>
                      <a:lnTo>
                        <a:pt x="18464" y="0"/>
                      </a:lnTo>
                      <a:lnTo>
                        <a:pt x="18464" y="18464"/>
                      </a:lnTo>
                      <a:lnTo>
                        <a:pt x="0" y="18464"/>
                      </a:lnTo>
                      <a:lnTo>
                        <a:pt x="0" y="44841"/>
                      </a:lnTo>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57" name="Google Shape;14357;p70"/>
                <p:cNvSpPr/>
                <p:nvPr/>
              </p:nvSpPr>
              <p:spPr>
                <a:xfrm>
                  <a:off x="3927156" y="7125210"/>
                  <a:ext cx="60140" cy="26377"/>
                </a:xfrm>
                <a:custGeom>
                  <a:avLst/>
                  <a:gdLst/>
                  <a:ahLst/>
                  <a:cxnLst/>
                  <a:rect l="l" t="t" r="r" b="b"/>
                  <a:pathLst>
                    <a:path w="60140" h="26377" extrusionOk="0">
                      <a:moveTo>
                        <a:pt x="0" y="0"/>
                      </a:moveTo>
                      <a:lnTo>
                        <a:pt x="60140" y="0"/>
                      </a:lnTo>
                      <a:lnTo>
                        <a:pt x="60140" y="26377"/>
                      </a:lnTo>
                      <a:lnTo>
                        <a:pt x="0" y="2637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58" name="Google Shape;14358;p70"/>
                <p:cNvSpPr/>
                <p:nvPr/>
              </p:nvSpPr>
              <p:spPr>
                <a:xfrm>
                  <a:off x="3862268" y="7106746"/>
                  <a:ext cx="44841" cy="44841"/>
                </a:xfrm>
                <a:custGeom>
                  <a:avLst/>
                  <a:gdLst/>
                  <a:ahLst/>
                  <a:cxnLst/>
                  <a:rect l="l" t="t" r="r" b="b"/>
                  <a:pathLst>
                    <a:path w="44841" h="44841" extrusionOk="0">
                      <a:moveTo>
                        <a:pt x="26377" y="0"/>
                      </a:moveTo>
                      <a:lnTo>
                        <a:pt x="0" y="0"/>
                      </a:lnTo>
                      <a:lnTo>
                        <a:pt x="0" y="44841"/>
                      </a:lnTo>
                      <a:lnTo>
                        <a:pt x="44841" y="44841"/>
                      </a:lnTo>
                      <a:lnTo>
                        <a:pt x="44841" y="18464"/>
                      </a:lnTo>
                      <a:lnTo>
                        <a:pt x="26377" y="18464"/>
                      </a:lnTo>
                      <a:lnTo>
                        <a:pt x="26377"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59" name="Google Shape;14359;p70"/>
                <p:cNvSpPr/>
                <p:nvPr/>
              </p:nvSpPr>
              <p:spPr>
                <a:xfrm>
                  <a:off x="3862268" y="6946900"/>
                  <a:ext cx="26377" cy="60140"/>
                </a:xfrm>
                <a:custGeom>
                  <a:avLst/>
                  <a:gdLst/>
                  <a:ahLst/>
                  <a:cxnLst/>
                  <a:rect l="l" t="t" r="r" b="b"/>
                  <a:pathLst>
                    <a:path w="26377" h="60140" extrusionOk="0">
                      <a:moveTo>
                        <a:pt x="0" y="0"/>
                      </a:moveTo>
                      <a:lnTo>
                        <a:pt x="26377" y="0"/>
                      </a:lnTo>
                      <a:lnTo>
                        <a:pt x="26377" y="60140"/>
                      </a:lnTo>
                      <a:lnTo>
                        <a:pt x="0" y="6014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0" name="Google Shape;14360;p70"/>
                <p:cNvSpPr/>
                <p:nvPr/>
              </p:nvSpPr>
              <p:spPr>
                <a:xfrm>
                  <a:off x="3862268" y="7026559"/>
                  <a:ext cx="26377" cy="60140"/>
                </a:xfrm>
                <a:custGeom>
                  <a:avLst/>
                  <a:gdLst/>
                  <a:ahLst/>
                  <a:cxnLst/>
                  <a:rect l="l" t="t" r="r" b="b"/>
                  <a:pathLst>
                    <a:path w="26377" h="60140" extrusionOk="0">
                      <a:moveTo>
                        <a:pt x="0" y="0"/>
                      </a:moveTo>
                      <a:lnTo>
                        <a:pt x="26377" y="0"/>
                      </a:lnTo>
                      <a:lnTo>
                        <a:pt x="26377" y="60140"/>
                      </a:lnTo>
                      <a:lnTo>
                        <a:pt x="0" y="6014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1" name="Google Shape;14361;p70"/>
                <p:cNvSpPr/>
                <p:nvPr/>
              </p:nvSpPr>
              <p:spPr>
                <a:xfrm>
                  <a:off x="3862268" y="6866713"/>
                  <a:ext cx="26377" cy="60140"/>
                </a:xfrm>
                <a:custGeom>
                  <a:avLst/>
                  <a:gdLst/>
                  <a:ahLst/>
                  <a:cxnLst/>
                  <a:rect l="l" t="t" r="r" b="b"/>
                  <a:pathLst>
                    <a:path w="26377" h="60140" extrusionOk="0">
                      <a:moveTo>
                        <a:pt x="0" y="0"/>
                      </a:moveTo>
                      <a:lnTo>
                        <a:pt x="26377" y="0"/>
                      </a:lnTo>
                      <a:lnTo>
                        <a:pt x="26377" y="60140"/>
                      </a:lnTo>
                      <a:lnTo>
                        <a:pt x="0" y="6014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2" name="Google Shape;14362;p70"/>
                <p:cNvSpPr/>
                <p:nvPr/>
              </p:nvSpPr>
              <p:spPr>
                <a:xfrm>
                  <a:off x="3862268" y="6801825"/>
                  <a:ext cx="44841" cy="44841"/>
                </a:xfrm>
                <a:custGeom>
                  <a:avLst/>
                  <a:gdLst/>
                  <a:ahLst/>
                  <a:cxnLst/>
                  <a:rect l="l" t="t" r="r" b="b"/>
                  <a:pathLst>
                    <a:path w="44841" h="44841" extrusionOk="0">
                      <a:moveTo>
                        <a:pt x="0" y="44841"/>
                      </a:moveTo>
                      <a:lnTo>
                        <a:pt x="26377" y="44841"/>
                      </a:lnTo>
                      <a:lnTo>
                        <a:pt x="26377" y="26377"/>
                      </a:lnTo>
                      <a:lnTo>
                        <a:pt x="44841" y="26377"/>
                      </a:lnTo>
                      <a:lnTo>
                        <a:pt x="44841" y="0"/>
                      </a:lnTo>
                      <a:lnTo>
                        <a:pt x="0" y="0"/>
                      </a:lnTo>
                      <a:lnTo>
                        <a:pt x="0" y="4484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3" name="Google Shape;14363;p70"/>
                <p:cNvSpPr/>
                <p:nvPr/>
              </p:nvSpPr>
              <p:spPr>
                <a:xfrm>
                  <a:off x="4087530" y="6801825"/>
                  <a:ext cx="60140" cy="26377"/>
                </a:xfrm>
                <a:custGeom>
                  <a:avLst/>
                  <a:gdLst/>
                  <a:ahLst/>
                  <a:cxnLst/>
                  <a:rect l="l" t="t" r="r" b="b"/>
                  <a:pathLst>
                    <a:path w="60140" h="26377" extrusionOk="0">
                      <a:moveTo>
                        <a:pt x="0" y="0"/>
                      </a:moveTo>
                      <a:lnTo>
                        <a:pt x="60140" y="0"/>
                      </a:lnTo>
                      <a:lnTo>
                        <a:pt x="60140" y="26377"/>
                      </a:lnTo>
                      <a:lnTo>
                        <a:pt x="0" y="2637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4" name="Google Shape;14364;p70"/>
                <p:cNvSpPr/>
                <p:nvPr/>
              </p:nvSpPr>
              <p:spPr>
                <a:xfrm>
                  <a:off x="3927156" y="6801825"/>
                  <a:ext cx="60140" cy="26377"/>
                </a:xfrm>
                <a:custGeom>
                  <a:avLst/>
                  <a:gdLst/>
                  <a:ahLst/>
                  <a:cxnLst/>
                  <a:rect l="l" t="t" r="r" b="b"/>
                  <a:pathLst>
                    <a:path w="60140" h="26377" extrusionOk="0">
                      <a:moveTo>
                        <a:pt x="0" y="0"/>
                      </a:moveTo>
                      <a:lnTo>
                        <a:pt x="60140" y="0"/>
                      </a:lnTo>
                      <a:lnTo>
                        <a:pt x="60140" y="26377"/>
                      </a:lnTo>
                      <a:lnTo>
                        <a:pt x="0" y="2637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5" name="Google Shape;14365;p70"/>
                <p:cNvSpPr/>
                <p:nvPr/>
              </p:nvSpPr>
              <p:spPr>
                <a:xfrm>
                  <a:off x="4007343" y="6801825"/>
                  <a:ext cx="60140" cy="26377"/>
                </a:xfrm>
                <a:custGeom>
                  <a:avLst/>
                  <a:gdLst/>
                  <a:ahLst/>
                  <a:cxnLst/>
                  <a:rect l="l" t="t" r="r" b="b"/>
                  <a:pathLst>
                    <a:path w="60140" h="26377" extrusionOk="0">
                      <a:moveTo>
                        <a:pt x="0" y="0"/>
                      </a:moveTo>
                      <a:lnTo>
                        <a:pt x="60140" y="0"/>
                      </a:lnTo>
                      <a:lnTo>
                        <a:pt x="60140" y="26377"/>
                      </a:lnTo>
                      <a:lnTo>
                        <a:pt x="0" y="2637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6" name="Google Shape;14366;p70"/>
                <p:cNvSpPr/>
                <p:nvPr/>
              </p:nvSpPr>
              <p:spPr>
                <a:xfrm>
                  <a:off x="4168244" y="6801825"/>
                  <a:ext cx="44841" cy="44841"/>
                </a:xfrm>
                <a:custGeom>
                  <a:avLst/>
                  <a:gdLst/>
                  <a:ahLst/>
                  <a:cxnLst/>
                  <a:rect l="l" t="t" r="r" b="b"/>
                  <a:pathLst>
                    <a:path w="44841" h="44841" extrusionOk="0">
                      <a:moveTo>
                        <a:pt x="0" y="0"/>
                      </a:moveTo>
                      <a:lnTo>
                        <a:pt x="0" y="26377"/>
                      </a:lnTo>
                      <a:lnTo>
                        <a:pt x="18464" y="26377"/>
                      </a:lnTo>
                      <a:lnTo>
                        <a:pt x="18464" y="44841"/>
                      </a:lnTo>
                      <a:lnTo>
                        <a:pt x="44841" y="44841"/>
                      </a:lnTo>
                      <a:lnTo>
                        <a:pt x="44841" y="0"/>
                      </a:lnTo>
                      <a:lnTo>
                        <a:pt x="0" y="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67" name="Google Shape;14367;p70"/>
                <p:cNvSpPr/>
                <p:nvPr/>
              </p:nvSpPr>
              <p:spPr>
                <a:xfrm>
                  <a:off x="4186708" y="6866713"/>
                  <a:ext cx="26377" cy="60140"/>
                </a:xfrm>
                <a:custGeom>
                  <a:avLst/>
                  <a:gdLst/>
                  <a:ahLst/>
                  <a:cxnLst/>
                  <a:rect l="l" t="t" r="r" b="b"/>
                  <a:pathLst>
                    <a:path w="26377" h="60140" extrusionOk="0">
                      <a:moveTo>
                        <a:pt x="0" y="0"/>
                      </a:moveTo>
                      <a:lnTo>
                        <a:pt x="26377" y="0"/>
                      </a:lnTo>
                      <a:lnTo>
                        <a:pt x="26377" y="60140"/>
                      </a:lnTo>
                      <a:lnTo>
                        <a:pt x="0" y="6014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4368" name="Google Shape;14368;p70"/>
              <p:cNvGrpSpPr/>
              <p:nvPr/>
            </p:nvGrpSpPr>
            <p:grpSpPr>
              <a:xfrm>
                <a:off x="3984131" y="6923160"/>
                <a:ext cx="350290" cy="349763"/>
                <a:chOff x="3984131" y="6923160"/>
                <a:chExt cx="350290" cy="349763"/>
              </a:xfrm>
            </p:grpSpPr>
            <p:sp>
              <p:nvSpPr>
                <p:cNvPr id="14369" name="Google Shape;14369;p70"/>
                <p:cNvSpPr/>
                <p:nvPr/>
              </p:nvSpPr>
              <p:spPr>
                <a:xfrm>
                  <a:off x="4049019" y="7246546"/>
                  <a:ext cx="220513" cy="26377"/>
                </a:xfrm>
                <a:custGeom>
                  <a:avLst/>
                  <a:gdLst/>
                  <a:ahLst/>
                  <a:cxnLst/>
                  <a:rect l="l" t="t" r="r" b="b"/>
                  <a:pathLst>
                    <a:path w="220513" h="26377" extrusionOk="0">
                      <a:moveTo>
                        <a:pt x="220514" y="26377"/>
                      </a:moveTo>
                      <a:lnTo>
                        <a:pt x="160374" y="26377"/>
                      </a:lnTo>
                      <a:lnTo>
                        <a:pt x="160374" y="0"/>
                      </a:lnTo>
                      <a:moveTo>
                        <a:pt x="140327" y="26377"/>
                      </a:moveTo>
                      <a:lnTo>
                        <a:pt x="80187" y="26377"/>
                      </a:lnTo>
                      <a:lnTo>
                        <a:pt x="80187" y="0"/>
                      </a:lnTo>
                      <a:moveTo>
                        <a:pt x="60140" y="26377"/>
                      </a:moveTo>
                      <a:lnTo>
                        <a:pt x="0" y="26377"/>
                      </a:lnTo>
                      <a:lnTo>
                        <a:pt x="0" y="0"/>
                      </a:lnTo>
                      <a:lnTo>
                        <a:pt x="60140" y="0"/>
                      </a:lnTo>
                      <a:lnTo>
                        <a:pt x="60140" y="2637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0" name="Google Shape;14370;p70"/>
                <p:cNvSpPr/>
                <p:nvPr/>
              </p:nvSpPr>
              <p:spPr>
                <a:xfrm>
                  <a:off x="3984131" y="7228082"/>
                  <a:ext cx="44841" cy="44841"/>
                </a:xfrm>
                <a:custGeom>
                  <a:avLst/>
                  <a:gdLst/>
                  <a:ahLst/>
                  <a:cxnLst/>
                  <a:rect l="l" t="t" r="r" b="b"/>
                  <a:pathLst>
                    <a:path w="44841" h="44841" extrusionOk="0">
                      <a:moveTo>
                        <a:pt x="44841" y="44841"/>
                      </a:moveTo>
                      <a:lnTo>
                        <a:pt x="0" y="44841"/>
                      </a:lnTo>
                      <a:lnTo>
                        <a:pt x="0" y="0"/>
                      </a:lnTo>
                      <a:lnTo>
                        <a:pt x="26377" y="0"/>
                      </a:lnTo>
                      <a:lnTo>
                        <a:pt x="26377" y="18464"/>
                      </a:lnTo>
                      <a:lnTo>
                        <a:pt x="44841" y="18464"/>
                      </a:lnTo>
                      <a:lnTo>
                        <a:pt x="44841" y="4484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1" name="Google Shape;14371;p70"/>
                <p:cNvSpPr/>
                <p:nvPr/>
              </p:nvSpPr>
              <p:spPr>
                <a:xfrm>
                  <a:off x="3984131" y="6988048"/>
                  <a:ext cx="26377" cy="219986"/>
                </a:xfrm>
                <a:custGeom>
                  <a:avLst/>
                  <a:gdLst/>
                  <a:ahLst/>
                  <a:cxnLst/>
                  <a:rect l="l" t="t" r="r" b="b"/>
                  <a:pathLst>
                    <a:path w="26377" h="219986" extrusionOk="0">
                      <a:moveTo>
                        <a:pt x="26377" y="219986"/>
                      </a:moveTo>
                      <a:lnTo>
                        <a:pt x="0" y="219986"/>
                      </a:lnTo>
                      <a:lnTo>
                        <a:pt x="0" y="159846"/>
                      </a:lnTo>
                      <a:lnTo>
                        <a:pt x="26377" y="159846"/>
                      </a:lnTo>
                      <a:lnTo>
                        <a:pt x="26377" y="219986"/>
                      </a:lnTo>
                      <a:close/>
                      <a:moveTo>
                        <a:pt x="26377" y="140327"/>
                      </a:moveTo>
                      <a:lnTo>
                        <a:pt x="0" y="140327"/>
                      </a:lnTo>
                      <a:lnTo>
                        <a:pt x="0" y="80187"/>
                      </a:lnTo>
                      <a:lnTo>
                        <a:pt x="26377" y="80187"/>
                      </a:lnTo>
                      <a:lnTo>
                        <a:pt x="26377" y="140327"/>
                      </a:lnTo>
                      <a:close/>
                      <a:moveTo>
                        <a:pt x="26377" y="60140"/>
                      </a:moveTo>
                      <a:lnTo>
                        <a:pt x="0" y="60140"/>
                      </a:lnTo>
                      <a:lnTo>
                        <a:pt x="0" y="0"/>
                      </a:lnTo>
                      <a:lnTo>
                        <a:pt x="26377" y="0"/>
                      </a:lnTo>
                      <a:lnTo>
                        <a:pt x="26377" y="6014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2" name="Google Shape;14372;p70"/>
                <p:cNvSpPr/>
                <p:nvPr/>
              </p:nvSpPr>
              <p:spPr>
                <a:xfrm>
                  <a:off x="3984131" y="6923160"/>
                  <a:ext cx="44841" cy="44841"/>
                </a:xfrm>
                <a:custGeom>
                  <a:avLst/>
                  <a:gdLst/>
                  <a:ahLst/>
                  <a:cxnLst/>
                  <a:rect l="l" t="t" r="r" b="b"/>
                  <a:pathLst>
                    <a:path w="44841" h="44841" extrusionOk="0">
                      <a:moveTo>
                        <a:pt x="26377" y="44841"/>
                      </a:moveTo>
                      <a:lnTo>
                        <a:pt x="0" y="44841"/>
                      </a:lnTo>
                      <a:lnTo>
                        <a:pt x="0" y="0"/>
                      </a:lnTo>
                      <a:lnTo>
                        <a:pt x="44841" y="0"/>
                      </a:lnTo>
                      <a:lnTo>
                        <a:pt x="44841" y="26377"/>
                      </a:lnTo>
                      <a:lnTo>
                        <a:pt x="26377" y="26377"/>
                      </a:lnTo>
                      <a:lnTo>
                        <a:pt x="26377" y="4484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3" name="Google Shape;14373;p70"/>
                <p:cNvSpPr/>
                <p:nvPr/>
              </p:nvSpPr>
              <p:spPr>
                <a:xfrm>
                  <a:off x="4049019" y="6923160"/>
                  <a:ext cx="220513" cy="26377"/>
                </a:xfrm>
                <a:custGeom>
                  <a:avLst/>
                  <a:gdLst/>
                  <a:ahLst/>
                  <a:cxnLst/>
                  <a:rect l="l" t="t" r="r" b="b"/>
                  <a:pathLst>
                    <a:path w="220513" h="26377" extrusionOk="0">
                      <a:moveTo>
                        <a:pt x="220514" y="26377"/>
                      </a:moveTo>
                      <a:lnTo>
                        <a:pt x="160374" y="26377"/>
                      </a:lnTo>
                      <a:lnTo>
                        <a:pt x="160374" y="0"/>
                      </a:lnTo>
                      <a:lnTo>
                        <a:pt x="220514" y="0"/>
                      </a:lnTo>
                      <a:lnTo>
                        <a:pt x="220514" y="26377"/>
                      </a:lnTo>
                      <a:close/>
                      <a:moveTo>
                        <a:pt x="140327" y="26377"/>
                      </a:moveTo>
                      <a:lnTo>
                        <a:pt x="80187" y="26377"/>
                      </a:lnTo>
                      <a:lnTo>
                        <a:pt x="80187" y="0"/>
                      </a:lnTo>
                      <a:lnTo>
                        <a:pt x="140327" y="0"/>
                      </a:lnTo>
                      <a:lnTo>
                        <a:pt x="140327" y="26377"/>
                      </a:lnTo>
                      <a:close/>
                      <a:moveTo>
                        <a:pt x="60140" y="26377"/>
                      </a:moveTo>
                      <a:lnTo>
                        <a:pt x="0" y="26377"/>
                      </a:lnTo>
                      <a:lnTo>
                        <a:pt x="0" y="0"/>
                      </a:lnTo>
                      <a:lnTo>
                        <a:pt x="60140" y="0"/>
                      </a:lnTo>
                      <a:lnTo>
                        <a:pt x="60140" y="2637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4" name="Google Shape;14374;p70"/>
                <p:cNvSpPr/>
                <p:nvPr/>
              </p:nvSpPr>
              <p:spPr>
                <a:xfrm>
                  <a:off x="4289579" y="6923160"/>
                  <a:ext cx="44841" cy="44841"/>
                </a:xfrm>
                <a:custGeom>
                  <a:avLst/>
                  <a:gdLst/>
                  <a:ahLst/>
                  <a:cxnLst/>
                  <a:rect l="l" t="t" r="r" b="b"/>
                  <a:pathLst>
                    <a:path w="44841" h="44841" extrusionOk="0">
                      <a:moveTo>
                        <a:pt x="44841" y="44841"/>
                      </a:moveTo>
                      <a:lnTo>
                        <a:pt x="18464" y="44841"/>
                      </a:lnTo>
                      <a:lnTo>
                        <a:pt x="18464" y="26377"/>
                      </a:lnTo>
                      <a:lnTo>
                        <a:pt x="0" y="26377"/>
                      </a:lnTo>
                      <a:lnTo>
                        <a:pt x="0" y="0"/>
                      </a:lnTo>
                      <a:lnTo>
                        <a:pt x="44841" y="0"/>
                      </a:lnTo>
                      <a:lnTo>
                        <a:pt x="44841" y="4484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5" name="Google Shape;14375;p70"/>
                <p:cNvSpPr/>
                <p:nvPr/>
              </p:nvSpPr>
              <p:spPr>
                <a:xfrm>
                  <a:off x="4308044" y="6988048"/>
                  <a:ext cx="26377" cy="219986"/>
                </a:xfrm>
                <a:custGeom>
                  <a:avLst/>
                  <a:gdLst/>
                  <a:ahLst/>
                  <a:cxnLst/>
                  <a:rect l="l" t="t" r="r" b="b"/>
                  <a:pathLst>
                    <a:path w="26377" h="219986" extrusionOk="0">
                      <a:moveTo>
                        <a:pt x="0" y="219986"/>
                      </a:moveTo>
                      <a:lnTo>
                        <a:pt x="0" y="159846"/>
                      </a:lnTo>
                      <a:lnTo>
                        <a:pt x="26377" y="159846"/>
                      </a:lnTo>
                      <a:moveTo>
                        <a:pt x="26377" y="140327"/>
                      </a:moveTo>
                      <a:lnTo>
                        <a:pt x="0" y="80187"/>
                      </a:lnTo>
                      <a:lnTo>
                        <a:pt x="26377" y="60140"/>
                      </a:lnTo>
                      <a:lnTo>
                        <a:pt x="0" y="60140"/>
                      </a:lnTo>
                      <a:lnTo>
                        <a:pt x="0" y="0"/>
                      </a:lnTo>
                      <a:lnTo>
                        <a:pt x="26377" y="0"/>
                      </a:lnTo>
                      <a:lnTo>
                        <a:pt x="26377" y="60140"/>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4376" name="Google Shape;14376;p70"/>
              <p:cNvSpPr/>
              <p:nvPr/>
            </p:nvSpPr>
            <p:spPr>
              <a:xfrm>
                <a:off x="4107049" y="7048716"/>
                <a:ext cx="350817" cy="349235"/>
              </a:xfrm>
              <a:custGeom>
                <a:avLst/>
                <a:gdLst/>
                <a:ahLst/>
                <a:cxnLst/>
                <a:rect l="l" t="t" r="r" b="b"/>
                <a:pathLst>
                  <a:path w="350817" h="349235" extrusionOk="0">
                    <a:moveTo>
                      <a:pt x="0" y="0"/>
                    </a:moveTo>
                    <a:lnTo>
                      <a:pt x="0" y="349235"/>
                    </a:lnTo>
                    <a:lnTo>
                      <a:pt x="350818" y="349235"/>
                    </a:lnTo>
                    <a:lnTo>
                      <a:pt x="350818" y="0"/>
                    </a:lnTo>
                    <a:lnTo>
                      <a:pt x="0" y="0"/>
                    </a:lnTo>
                    <a:close/>
                    <a:moveTo>
                      <a:pt x="280127" y="174618"/>
                    </a:moveTo>
                    <a:cubicBezTo>
                      <a:pt x="280127" y="232648"/>
                      <a:pt x="232647" y="279599"/>
                      <a:pt x="174617" y="279599"/>
                    </a:cubicBezTo>
                    <a:cubicBezTo>
                      <a:pt x="116588" y="279599"/>
                      <a:pt x="69108" y="232648"/>
                      <a:pt x="69108" y="174618"/>
                    </a:cubicBezTo>
                    <a:cubicBezTo>
                      <a:pt x="69108" y="116587"/>
                      <a:pt x="116588" y="69636"/>
                      <a:pt x="174617" y="69636"/>
                    </a:cubicBezTo>
                    <a:cubicBezTo>
                      <a:pt x="206270" y="69636"/>
                      <a:pt x="234230" y="83880"/>
                      <a:pt x="253749" y="106037"/>
                    </a:cubicBezTo>
                    <a:lnTo>
                      <a:pt x="276961" y="82825"/>
                    </a:lnTo>
                    <a:lnTo>
                      <a:pt x="298591" y="104454"/>
                    </a:lnTo>
                    <a:lnTo>
                      <a:pt x="270631" y="132414"/>
                    </a:lnTo>
                    <a:cubicBezTo>
                      <a:pt x="276434" y="145603"/>
                      <a:pt x="279599" y="159846"/>
                      <a:pt x="279599" y="17514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77" name="Google Shape;14377;p70"/>
              <p:cNvSpPr/>
              <p:nvPr/>
            </p:nvSpPr>
            <p:spPr>
              <a:xfrm>
                <a:off x="4191984" y="7133651"/>
                <a:ext cx="179365" cy="178310"/>
              </a:xfrm>
              <a:custGeom>
                <a:avLst/>
                <a:gdLst/>
                <a:ahLst/>
                <a:cxnLst/>
                <a:rect l="l" t="t" r="r" b="b"/>
                <a:pathLst>
                  <a:path w="179365" h="178310" extrusionOk="0">
                    <a:moveTo>
                      <a:pt x="83880" y="149295"/>
                    </a:moveTo>
                    <a:lnTo>
                      <a:pt x="22684" y="88100"/>
                    </a:lnTo>
                    <a:lnTo>
                      <a:pt x="44314" y="66471"/>
                    </a:lnTo>
                    <a:lnTo>
                      <a:pt x="83880" y="105509"/>
                    </a:lnTo>
                    <a:lnTo>
                      <a:pt x="157736" y="31653"/>
                    </a:lnTo>
                    <a:cubicBezTo>
                      <a:pt x="141382" y="12661"/>
                      <a:pt x="117115" y="0"/>
                      <a:pt x="89683" y="0"/>
                    </a:cubicBezTo>
                    <a:cubicBezTo>
                      <a:pt x="40093" y="0"/>
                      <a:pt x="0" y="40093"/>
                      <a:pt x="0" y="89155"/>
                    </a:cubicBezTo>
                    <a:cubicBezTo>
                      <a:pt x="0" y="138217"/>
                      <a:pt x="40093" y="178310"/>
                      <a:pt x="89683" y="178310"/>
                    </a:cubicBezTo>
                    <a:cubicBezTo>
                      <a:pt x="139272" y="178310"/>
                      <a:pt x="179365" y="138217"/>
                      <a:pt x="179365" y="89155"/>
                    </a:cubicBezTo>
                    <a:cubicBezTo>
                      <a:pt x="179365" y="78604"/>
                      <a:pt x="177255" y="68581"/>
                      <a:pt x="173562" y="59085"/>
                    </a:cubicBezTo>
                    <a:lnTo>
                      <a:pt x="83880" y="14929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4378" name="Google Shape;14378;p70"/>
          <p:cNvGrpSpPr/>
          <p:nvPr/>
        </p:nvGrpSpPr>
        <p:grpSpPr>
          <a:xfrm>
            <a:off x="662225" y="4163479"/>
            <a:ext cx="1084253" cy="1613975"/>
            <a:chOff x="662225" y="4163479"/>
            <a:chExt cx="1084253" cy="1613975"/>
          </a:xfrm>
        </p:grpSpPr>
        <p:sp>
          <p:nvSpPr>
            <p:cNvPr id="14379" name="Google Shape;14379;p70"/>
            <p:cNvSpPr/>
            <p:nvPr/>
          </p:nvSpPr>
          <p:spPr>
            <a:xfrm>
              <a:off x="662225" y="4163479"/>
              <a:ext cx="1084253" cy="1084253"/>
            </a:xfrm>
            <a:prstGeom prst="ellipse">
              <a:avLst/>
            </a:prstGeom>
            <a:solidFill>
              <a:schemeClr val="lt1">
                <a:alpha val="2745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80" name="Google Shape;14380;p70"/>
            <p:cNvSpPr/>
            <p:nvPr/>
          </p:nvSpPr>
          <p:spPr>
            <a:xfrm>
              <a:off x="751048" y="4252302"/>
              <a:ext cx="906606" cy="906606"/>
            </a:xfrm>
            <a:prstGeom prst="ellipse">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381" name="Google Shape;14381;p70"/>
            <p:cNvSpPr txBox="1"/>
            <p:nvPr/>
          </p:nvSpPr>
          <p:spPr>
            <a:xfrm>
              <a:off x="665735" y="5408122"/>
              <a:ext cx="1060786" cy="369332"/>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666666"/>
                </a:buClr>
                <a:buSzPts val="1080"/>
                <a:buFont typeface="Arial"/>
                <a:buNone/>
              </a:pPr>
              <a:r>
                <a:rPr lang="en-US" sz="1200" b="0" i="0" u="none" strike="noStrike" cap="none">
                  <a:solidFill>
                    <a:srgbClr val="FFFFFF"/>
                  </a:solidFill>
                  <a:latin typeface="Arial"/>
                  <a:ea typeface="Arial"/>
                  <a:cs typeface="Arial"/>
                  <a:sym typeface="Arial"/>
                </a:rPr>
                <a:t>Migration Planning</a:t>
              </a:r>
              <a:endParaRPr sz="1800" b="0" i="0" u="none" strike="noStrike" cap="none">
                <a:solidFill>
                  <a:srgbClr val="FFFFFF"/>
                </a:solidFill>
                <a:latin typeface="Arial"/>
                <a:ea typeface="Arial"/>
                <a:cs typeface="Arial"/>
                <a:sym typeface="Arial"/>
              </a:endParaRPr>
            </a:p>
          </p:txBody>
        </p:sp>
        <p:grpSp>
          <p:nvGrpSpPr>
            <p:cNvPr id="14382" name="Google Shape;14382;p70"/>
            <p:cNvGrpSpPr/>
            <p:nvPr/>
          </p:nvGrpSpPr>
          <p:grpSpPr>
            <a:xfrm>
              <a:off x="946970" y="4498058"/>
              <a:ext cx="511401" cy="430692"/>
              <a:chOff x="2323767" y="6815232"/>
              <a:chExt cx="618796" cy="521138"/>
            </a:xfrm>
          </p:grpSpPr>
          <p:sp>
            <p:nvSpPr>
              <p:cNvPr id="14383" name="Google Shape;14383;p70"/>
              <p:cNvSpPr/>
              <p:nvPr/>
            </p:nvSpPr>
            <p:spPr>
              <a:xfrm>
                <a:off x="2534833" y="7224952"/>
                <a:ext cx="196992" cy="111418"/>
              </a:xfrm>
              <a:custGeom>
                <a:avLst/>
                <a:gdLst/>
                <a:ahLst/>
                <a:cxnLst/>
                <a:rect l="l" t="t" r="r" b="b"/>
                <a:pathLst>
                  <a:path w="196992" h="111418" extrusionOk="0">
                    <a:moveTo>
                      <a:pt x="60157" y="0"/>
                    </a:moveTo>
                    <a:lnTo>
                      <a:pt x="49504" y="81678"/>
                    </a:lnTo>
                    <a:cubicBezTo>
                      <a:pt x="49504" y="81678"/>
                      <a:pt x="13548" y="94995"/>
                      <a:pt x="2006" y="102985"/>
                    </a:cubicBezTo>
                    <a:cubicBezTo>
                      <a:pt x="-1545" y="105648"/>
                      <a:pt x="-213" y="111419"/>
                      <a:pt x="4670" y="111419"/>
                    </a:cubicBezTo>
                    <a:lnTo>
                      <a:pt x="192439" y="111419"/>
                    </a:lnTo>
                    <a:cubicBezTo>
                      <a:pt x="196878" y="111419"/>
                      <a:pt x="198654" y="105648"/>
                      <a:pt x="195103" y="102985"/>
                    </a:cubicBezTo>
                    <a:cubicBezTo>
                      <a:pt x="184005" y="95438"/>
                      <a:pt x="147606" y="81678"/>
                      <a:pt x="147606" y="81678"/>
                    </a:cubicBezTo>
                    <a:lnTo>
                      <a:pt x="139615"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4384" name="Google Shape;14384;p70"/>
              <p:cNvGrpSpPr/>
              <p:nvPr/>
            </p:nvGrpSpPr>
            <p:grpSpPr>
              <a:xfrm>
                <a:off x="2323767" y="6815232"/>
                <a:ext cx="618796" cy="414158"/>
                <a:chOff x="2323767" y="6815232"/>
                <a:chExt cx="618796" cy="414158"/>
              </a:xfrm>
            </p:grpSpPr>
            <p:sp>
              <p:nvSpPr>
                <p:cNvPr id="14385" name="Google Shape;14385;p70"/>
                <p:cNvSpPr/>
                <p:nvPr/>
              </p:nvSpPr>
              <p:spPr>
                <a:xfrm>
                  <a:off x="2323767" y="6818783"/>
                  <a:ext cx="618796" cy="410607"/>
                </a:xfrm>
                <a:custGeom>
                  <a:avLst/>
                  <a:gdLst/>
                  <a:ahLst/>
                  <a:cxnLst/>
                  <a:rect l="l" t="t" r="r" b="b"/>
                  <a:pathLst>
                    <a:path w="618796" h="410607" extrusionOk="0">
                      <a:moveTo>
                        <a:pt x="575738" y="232160"/>
                      </a:moveTo>
                      <a:lnTo>
                        <a:pt x="575738" y="360447"/>
                      </a:lnTo>
                      <a:cubicBezTo>
                        <a:pt x="575738" y="364442"/>
                        <a:pt x="571743" y="367549"/>
                        <a:pt x="567304" y="367549"/>
                      </a:cubicBezTo>
                      <a:lnTo>
                        <a:pt x="50605" y="367549"/>
                      </a:lnTo>
                      <a:cubicBezTo>
                        <a:pt x="46610" y="367549"/>
                        <a:pt x="43058" y="364886"/>
                        <a:pt x="43058" y="361335"/>
                      </a:cubicBezTo>
                      <a:lnTo>
                        <a:pt x="43058" y="49273"/>
                      </a:lnTo>
                      <a:cubicBezTo>
                        <a:pt x="43058" y="45722"/>
                        <a:pt x="46166" y="43058"/>
                        <a:pt x="50161" y="43058"/>
                      </a:cubicBezTo>
                      <a:lnTo>
                        <a:pt x="366661" y="43058"/>
                      </a:lnTo>
                      <a:cubicBezTo>
                        <a:pt x="375095" y="26634"/>
                        <a:pt x="386193" y="12429"/>
                        <a:pt x="399510" y="0"/>
                      </a:cubicBezTo>
                      <a:lnTo>
                        <a:pt x="50161" y="0"/>
                      </a:lnTo>
                      <a:cubicBezTo>
                        <a:pt x="22639" y="0"/>
                        <a:pt x="0" y="21751"/>
                        <a:pt x="0" y="48829"/>
                      </a:cubicBezTo>
                      <a:lnTo>
                        <a:pt x="0" y="361335"/>
                      </a:lnTo>
                      <a:cubicBezTo>
                        <a:pt x="0" y="388413"/>
                        <a:pt x="22639" y="410608"/>
                        <a:pt x="50161" y="410608"/>
                      </a:cubicBezTo>
                      <a:lnTo>
                        <a:pt x="567304" y="410608"/>
                      </a:lnTo>
                      <a:cubicBezTo>
                        <a:pt x="595714" y="410608"/>
                        <a:pt x="618797" y="387969"/>
                        <a:pt x="618797" y="360447"/>
                      </a:cubicBezTo>
                      <a:lnTo>
                        <a:pt x="618797" y="190433"/>
                      </a:lnTo>
                      <a:cubicBezTo>
                        <a:pt x="607699" y="207301"/>
                        <a:pt x="593050" y="221506"/>
                        <a:pt x="575738" y="23216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4386" name="Google Shape;14386;p70"/>
                <p:cNvGrpSpPr/>
                <p:nvPr/>
              </p:nvGrpSpPr>
              <p:grpSpPr>
                <a:xfrm>
                  <a:off x="2707741" y="6815232"/>
                  <a:ext cx="225501" cy="225501"/>
                  <a:chOff x="2707741" y="6815232"/>
                  <a:chExt cx="225501" cy="225501"/>
                </a:xfrm>
              </p:grpSpPr>
              <p:sp>
                <p:nvSpPr>
                  <p:cNvPr id="14387" name="Google Shape;14387;p70"/>
                  <p:cNvSpPr/>
                  <p:nvPr/>
                </p:nvSpPr>
                <p:spPr>
                  <a:xfrm>
                    <a:off x="2707741" y="6815232"/>
                    <a:ext cx="225501" cy="225501"/>
                  </a:xfrm>
                  <a:custGeom>
                    <a:avLst/>
                    <a:gdLst/>
                    <a:ahLst/>
                    <a:cxnLst/>
                    <a:rect l="l" t="t" r="r" b="b"/>
                    <a:pathLst>
                      <a:path w="225501" h="225501" extrusionOk="0">
                        <a:moveTo>
                          <a:pt x="112751" y="225501"/>
                        </a:moveTo>
                        <a:cubicBezTo>
                          <a:pt x="50605" y="225501"/>
                          <a:pt x="0" y="174897"/>
                          <a:pt x="0" y="112751"/>
                        </a:cubicBezTo>
                        <a:cubicBezTo>
                          <a:pt x="0" y="50605"/>
                          <a:pt x="50605" y="0"/>
                          <a:pt x="112751" y="0"/>
                        </a:cubicBezTo>
                        <a:cubicBezTo>
                          <a:pt x="174897" y="0"/>
                          <a:pt x="225501" y="50605"/>
                          <a:pt x="225501" y="112751"/>
                        </a:cubicBezTo>
                        <a:cubicBezTo>
                          <a:pt x="225501" y="174897"/>
                          <a:pt x="174897" y="225501"/>
                          <a:pt x="112751" y="225501"/>
                        </a:cubicBezTo>
                        <a:close/>
                        <a:moveTo>
                          <a:pt x="112751" y="31073"/>
                        </a:moveTo>
                        <a:cubicBezTo>
                          <a:pt x="67917" y="31073"/>
                          <a:pt x="31073" y="67917"/>
                          <a:pt x="31073" y="112751"/>
                        </a:cubicBezTo>
                        <a:cubicBezTo>
                          <a:pt x="31073" y="157585"/>
                          <a:pt x="67917" y="194428"/>
                          <a:pt x="112751" y="194428"/>
                        </a:cubicBezTo>
                        <a:cubicBezTo>
                          <a:pt x="157584" y="194428"/>
                          <a:pt x="194428" y="157585"/>
                          <a:pt x="194428" y="112751"/>
                        </a:cubicBezTo>
                        <a:cubicBezTo>
                          <a:pt x="194428" y="67917"/>
                          <a:pt x="157584" y="31073"/>
                          <a:pt x="112751" y="31073"/>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88" name="Google Shape;14388;p70"/>
                  <p:cNvSpPr/>
                  <p:nvPr/>
                </p:nvSpPr>
                <p:spPr>
                  <a:xfrm>
                    <a:off x="2766336" y="6888476"/>
                    <a:ext cx="105648" cy="73687"/>
                  </a:xfrm>
                  <a:custGeom>
                    <a:avLst/>
                    <a:gdLst/>
                    <a:ahLst/>
                    <a:cxnLst/>
                    <a:rect l="l" t="t" r="r" b="b"/>
                    <a:pathLst>
                      <a:path w="105648" h="73687" extrusionOk="0">
                        <a:moveTo>
                          <a:pt x="41283" y="73687"/>
                        </a:moveTo>
                        <a:lnTo>
                          <a:pt x="0" y="31961"/>
                        </a:lnTo>
                        <a:lnTo>
                          <a:pt x="9322" y="22639"/>
                        </a:lnTo>
                        <a:lnTo>
                          <a:pt x="41283" y="54600"/>
                        </a:lnTo>
                        <a:lnTo>
                          <a:pt x="95882" y="0"/>
                        </a:lnTo>
                        <a:lnTo>
                          <a:pt x="105648" y="9322"/>
                        </a:lnTo>
                        <a:lnTo>
                          <a:pt x="41283" y="7368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4389" name="Google Shape;14389;p70"/>
              <p:cNvGrpSpPr/>
              <p:nvPr/>
            </p:nvGrpSpPr>
            <p:grpSpPr>
              <a:xfrm>
                <a:off x="2419206" y="6940412"/>
                <a:ext cx="266339" cy="206857"/>
                <a:chOff x="2419206" y="6940412"/>
                <a:chExt cx="266339" cy="206857"/>
              </a:xfrm>
            </p:grpSpPr>
            <p:sp>
              <p:nvSpPr>
                <p:cNvPr id="14390" name="Google Shape;14390;p70"/>
                <p:cNvSpPr/>
                <p:nvPr/>
              </p:nvSpPr>
              <p:spPr>
                <a:xfrm>
                  <a:off x="2419206" y="7017651"/>
                  <a:ext cx="160247" cy="129618"/>
                </a:xfrm>
                <a:custGeom>
                  <a:avLst/>
                  <a:gdLst/>
                  <a:ahLst/>
                  <a:cxnLst/>
                  <a:rect l="l" t="t" r="r" b="b"/>
                  <a:pathLst>
                    <a:path w="160247" h="129618" extrusionOk="0">
                      <a:moveTo>
                        <a:pt x="160248" y="129619"/>
                      </a:moveTo>
                      <a:lnTo>
                        <a:pt x="0" y="129619"/>
                      </a:lnTo>
                      <a:lnTo>
                        <a:pt x="0" y="0"/>
                      </a:lnTo>
                      <a:lnTo>
                        <a:pt x="160248" y="0"/>
                      </a:lnTo>
                      <a:lnTo>
                        <a:pt x="160248" y="129619"/>
                      </a:lnTo>
                      <a:close/>
                      <a:moveTo>
                        <a:pt x="22639" y="107424"/>
                      </a:moveTo>
                      <a:lnTo>
                        <a:pt x="138497" y="107424"/>
                      </a:lnTo>
                      <a:lnTo>
                        <a:pt x="138497" y="22195"/>
                      </a:lnTo>
                      <a:lnTo>
                        <a:pt x="22639" y="22195"/>
                      </a:lnTo>
                      <a:lnTo>
                        <a:pt x="22639" y="107424"/>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391" name="Google Shape;14391;p70"/>
                <p:cNvSpPr/>
                <p:nvPr/>
              </p:nvSpPr>
              <p:spPr>
                <a:xfrm>
                  <a:off x="2510649" y="6940412"/>
                  <a:ext cx="174896" cy="129174"/>
                </a:xfrm>
                <a:custGeom>
                  <a:avLst/>
                  <a:gdLst/>
                  <a:ahLst/>
                  <a:cxnLst/>
                  <a:rect l="l" t="t" r="r" b="b"/>
                  <a:pathLst>
                    <a:path w="174896" h="129174" extrusionOk="0">
                      <a:moveTo>
                        <a:pt x="174897" y="129175"/>
                      </a:moveTo>
                      <a:lnTo>
                        <a:pt x="88780" y="129175"/>
                      </a:lnTo>
                      <a:lnTo>
                        <a:pt x="88780" y="106980"/>
                      </a:lnTo>
                      <a:lnTo>
                        <a:pt x="152702" y="106980"/>
                      </a:lnTo>
                      <a:lnTo>
                        <a:pt x="152702" y="22195"/>
                      </a:lnTo>
                      <a:lnTo>
                        <a:pt x="22195" y="22195"/>
                      </a:lnTo>
                      <a:lnTo>
                        <a:pt x="22195" y="63478"/>
                      </a:lnTo>
                      <a:lnTo>
                        <a:pt x="0" y="63478"/>
                      </a:lnTo>
                      <a:lnTo>
                        <a:pt x="0" y="0"/>
                      </a:lnTo>
                      <a:lnTo>
                        <a:pt x="174897" y="0"/>
                      </a:lnTo>
                      <a:lnTo>
                        <a:pt x="174897" y="12917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4248"/>
                                        </p:tgtEl>
                                        <p:attrNameLst>
                                          <p:attrName>style.visibility</p:attrName>
                                        </p:attrNameLst>
                                      </p:cBhvr>
                                      <p:to>
                                        <p:strVal val="visible"/>
                                      </p:to>
                                    </p:set>
                                    <p:animEffect transition="in" filter="fade">
                                      <p:cBhvr>
                                        <p:cTn id="7" dur="500"/>
                                        <p:tgtEl>
                                          <p:spTgt spid="1424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4261"/>
                                        </p:tgtEl>
                                        <p:attrNameLst>
                                          <p:attrName>style.visibility</p:attrName>
                                        </p:attrNameLst>
                                      </p:cBhvr>
                                      <p:to>
                                        <p:strVal val="visible"/>
                                      </p:to>
                                    </p:set>
                                    <p:animEffect transition="in" filter="fade">
                                      <p:cBhvr>
                                        <p:cTn id="11" dur="250"/>
                                        <p:tgtEl>
                                          <p:spTgt spid="14261"/>
                                        </p:tgtEl>
                                      </p:cBhvr>
                                    </p:animEffect>
                                  </p:childTnLst>
                                </p:cTn>
                              </p:par>
                            </p:childTnLst>
                          </p:cTn>
                        </p:par>
                        <p:par>
                          <p:cTn id="12" fill="hold">
                            <p:stCondLst>
                              <p:cond delay="750"/>
                            </p:stCondLst>
                            <p:childTnLst>
                              <p:par>
                                <p:cTn id="13" presetID="10" presetClass="entr" presetSubtype="0" fill="hold" nodeType="afterEffect">
                                  <p:stCondLst>
                                    <p:cond delay="0"/>
                                  </p:stCondLst>
                                  <p:childTnLst>
                                    <p:set>
                                      <p:cBhvr>
                                        <p:cTn id="14" dur="1" fill="hold">
                                          <p:stCondLst>
                                            <p:cond delay="0"/>
                                          </p:stCondLst>
                                        </p:cTn>
                                        <p:tgtEl>
                                          <p:spTgt spid="14268"/>
                                        </p:tgtEl>
                                        <p:attrNameLst>
                                          <p:attrName>style.visibility</p:attrName>
                                        </p:attrNameLst>
                                      </p:cBhvr>
                                      <p:to>
                                        <p:strVal val="visible"/>
                                      </p:to>
                                    </p:set>
                                    <p:animEffect transition="in" filter="fade">
                                      <p:cBhvr>
                                        <p:cTn id="15" dur="250"/>
                                        <p:tgtEl>
                                          <p:spTgt spid="14268"/>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14277"/>
                                        </p:tgtEl>
                                        <p:attrNameLst>
                                          <p:attrName>style.visibility</p:attrName>
                                        </p:attrNameLst>
                                      </p:cBhvr>
                                      <p:to>
                                        <p:strVal val="visible"/>
                                      </p:to>
                                    </p:set>
                                    <p:animEffect transition="in" filter="fade">
                                      <p:cBhvr>
                                        <p:cTn id="19" dur="250"/>
                                        <p:tgtEl>
                                          <p:spTgt spid="14277"/>
                                        </p:tgtEl>
                                      </p:cBhvr>
                                    </p:animEffect>
                                  </p:childTnLst>
                                </p:cTn>
                              </p:par>
                            </p:childTnLst>
                          </p:cTn>
                        </p:par>
                        <p:par>
                          <p:cTn id="20" fill="hold">
                            <p:stCondLst>
                              <p:cond delay="1250"/>
                            </p:stCondLst>
                            <p:childTnLst>
                              <p:par>
                                <p:cTn id="21" presetID="10" presetClass="entr" presetSubtype="0" fill="hold" nodeType="afterEffect">
                                  <p:stCondLst>
                                    <p:cond delay="0"/>
                                  </p:stCondLst>
                                  <p:childTnLst>
                                    <p:set>
                                      <p:cBhvr>
                                        <p:cTn id="22" dur="1" fill="hold">
                                          <p:stCondLst>
                                            <p:cond delay="0"/>
                                          </p:stCondLst>
                                        </p:cTn>
                                        <p:tgtEl>
                                          <p:spTgt spid="14282"/>
                                        </p:tgtEl>
                                        <p:attrNameLst>
                                          <p:attrName>style.visibility</p:attrName>
                                        </p:attrNameLst>
                                      </p:cBhvr>
                                      <p:to>
                                        <p:strVal val="visible"/>
                                      </p:to>
                                    </p:set>
                                    <p:animEffect transition="in" filter="fade">
                                      <p:cBhvr>
                                        <p:cTn id="23" dur="250"/>
                                        <p:tgtEl>
                                          <p:spTgt spid="14282"/>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14287"/>
                                        </p:tgtEl>
                                        <p:attrNameLst>
                                          <p:attrName>style.visibility</p:attrName>
                                        </p:attrNameLst>
                                      </p:cBhvr>
                                      <p:to>
                                        <p:strVal val="visible"/>
                                      </p:to>
                                    </p:set>
                                    <p:animEffect transition="in" filter="fade">
                                      <p:cBhvr>
                                        <p:cTn id="27" dur="250"/>
                                        <p:tgtEl>
                                          <p:spTgt spid="14287"/>
                                        </p:tgtEl>
                                      </p:cBhvr>
                                    </p:animEffect>
                                  </p:childTnLst>
                                </p:cTn>
                              </p:par>
                            </p:childTnLst>
                          </p:cTn>
                        </p:par>
                        <p:par>
                          <p:cTn id="28" fill="hold">
                            <p:stCondLst>
                              <p:cond delay="1750"/>
                            </p:stCondLst>
                            <p:childTnLst>
                              <p:par>
                                <p:cTn id="29" presetID="10" presetClass="entr" presetSubtype="0" fill="hold" nodeType="afterEffect">
                                  <p:stCondLst>
                                    <p:cond delay="0"/>
                                  </p:stCondLst>
                                  <p:childTnLst>
                                    <p:set>
                                      <p:cBhvr>
                                        <p:cTn id="30" dur="1" fill="hold">
                                          <p:stCondLst>
                                            <p:cond delay="0"/>
                                          </p:stCondLst>
                                        </p:cTn>
                                        <p:tgtEl>
                                          <p:spTgt spid="14292"/>
                                        </p:tgtEl>
                                        <p:attrNameLst>
                                          <p:attrName>style.visibility</p:attrName>
                                        </p:attrNameLst>
                                      </p:cBhvr>
                                      <p:to>
                                        <p:strVal val="visible"/>
                                      </p:to>
                                    </p:set>
                                    <p:animEffect transition="in" filter="fade">
                                      <p:cBhvr>
                                        <p:cTn id="31" dur="250"/>
                                        <p:tgtEl>
                                          <p:spTgt spid="14292"/>
                                        </p:tgtEl>
                                      </p:cBhvr>
                                    </p:animEffect>
                                  </p:childTnLst>
                                </p:cTn>
                              </p:par>
                            </p:childTnLst>
                          </p:cTn>
                        </p:par>
                        <p:par>
                          <p:cTn id="32" fill="hold">
                            <p:stCondLst>
                              <p:cond delay="2000"/>
                            </p:stCondLst>
                            <p:childTnLst>
                              <p:par>
                                <p:cTn id="33" presetID="10" presetClass="entr" presetSubtype="0" fill="hold" nodeType="afterEffect">
                                  <p:stCondLst>
                                    <p:cond delay="0"/>
                                  </p:stCondLst>
                                  <p:childTnLst>
                                    <p:set>
                                      <p:cBhvr>
                                        <p:cTn id="34" dur="1" fill="hold">
                                          <p:stCondLst>
                                            <p:cond delay="0"/>
                                          </p:stCondLst>
                                        </p:cTn>
                                        <p:tgtEl>
                                          <p:spTgt spid="14254"/>
                                        </p:tgtEl>
                                        <p:attrNameLst>
                                          <p:attrName>style.visibility</p:attrName>
                                        </p:attrNameLst>
                                      </p:cBhvr>
                                      <p:to>
                                        <p:strVal val="visible"/>
                                      </p:to>
                                    </p:set>
                                    <p:animEffect transition="in" filter="fade">
                                      <p:cBhvr>
                                        <p:cTn id="35" dur="500"/>
                                        <p:tgtEl>
                                          <p:spTgt spid="14254"/>
                                        </p:tgtEl>
                                      </p:cBhvr>
                                    </p:animEffect>
                                  </p:childTnLst>
                                </p:cTn>
                              </p:par>
                            </p:childTnLst>
                          </p:cTn>
                        </p:par>
                        <p:par>
                          <p:cTn id="36" fill="hold">
                            <p:stCondLst>
                              <p:cond delay="2500"/>
                            </p:stCondLst>
                            <p:childTnLst>
                              <p:par>
                                <p:cTn id="37" presetID="10" presetClass="entr" presetSubtype="0" fill="hold" nodeType="afterEffect">
                                  <p:stCondLst>
                                    <p:cond delay="0"/>
                                  </p:stCondLst>
                                  <p:childTnLst>
                                    <p:set>
                                      <p:cBhvr>
                                        <p:cTn id="38" dur="1" fill="hold">
                                          <p:stCondLst>
                                            <p:cond delay="0"/>
                                          </p:stCondLst>
                                        </p:cTn>
                                        <p:tgtEl>
                                          <p:spTgt spid="14378"/>
                                        </p:tgtEl>
                                        <p:attrNameLst>
                                          <p:attrName>style.visibility</p:attrName>
                                        </p:attrNameLst>
                                      </p:cBhvr>
                                      <p:to>
                                        <p:strVal val="visible"/>
                                      </p:to>
                                    </p:set>
                                    <p:animEffect transition="in" filter="fade">
                                      <p:cBhvr>
                                        <p:cTn id="39" dur="250"/>
                                        <p:tgtEl>
                                          <p:spTgt spid="14378"/>
                                        </p:tgtEl>
                                      </p:cBhvr>
                                    </p:animEffect>
                                  </p:childTnLst>
                                </p:cTn>
                              </p:par>
                            </p:childTnLst>
                          </p:cTn>
                        </p:par>
                        <p:par>
                          <p:cTn id="40" fill="hold">
                            <p:stCondLst>
                              <p:cond delay="2750"/>
                            </p:stCondLst>
                            <p:childTnLst>
                              <p:par>
                                <p:cTn id="41" presetID="10" presetClass="entr" presetSubtype="0" fill="hold" nodeType="afterEffect">
                                  <p:stCondLst>
                                    <p:cond delay="0"/>
                                  </p:stCondLst>
                                  <p:childTnLst>
                                    <p:set>
                                      <p:cBhvr>
                                        <p:cTn id="42" dur="1" fill="hold">
                                          <p:stCondLst>
                                            <p:cond delay="0"/>
                                          </p:stCondLst>
                                        </p:cTn>
                                        <p:tgtEl>
                                          <p:spTgt spid="14350"/>
                                        </p:tgtEl>
                                        <p:attrNameLst>
                                          <p:attrName>style.visibility</p:attrName>
                                        </p:attrNameLst>
                                      </p:cBhvr>
                                      <p:to>
                                        <p:strVal val="visible"/>
                                      </p:to>
                                    </p:set>
                                    <p:animEffect transition="in" filter="fade">
                                      <p:cBhvr>
                                        <p:cTn id="43" dur="250"/>
                                        <p:tgtEl>
                                          <p:spTgt spid="14350"/>
                                        </p:tgtEl>
                                      </p:cBhvr>
                                    </p:animEffect>
                                  </p:childTnLst>
                                </p:cTn>
                              </p:par>
                            </p:childTnLst>
                          </p:cTn>
                        </p:par>
                        <p:par>
                          <p:cTn id="44" fill="hold">
                            <p:stCondLst>
                              <p:cond delay="3000"/>
                            </p:stCondLst>
                            <p:childTnLst>
                              <p:par>
                                <p:cTn id="45" presetID="10" presetClass="entr" presetSubtype="0" fill="hold" nodeType="afterEffect">
                                  <p:stCondLst>
                                    <p:cond delay="0"/>
                                  </p:stCondLst>
                                  <p:childTnLst>
                                    <p:set>
                                      <p:cBhvr>
                                        <p:cTn id="46" dur="1" fill="hold">
                                          <p:stCondLst>
                                            <p:cond delay="0"/>
                                          </p:stCondLst>
                                        </p:cTn>
                                        <p:tgtEl>
                                          <p:spTgt spid="14345"/>
                                        </p:tgtEl>
                                        <p:attrNameLst>
                                          <p:attrName>style.visibility</p:attrName>
                                        </p:attrNameLst>
                                      </p:cBhvr>
                                      <p:to>
                                        <p:strVal val="visible"/>
                                      </p:to>
                                    </p:set>
                                    <p:animEffect transition="in" filter="fade">
                                      <p:cBhvr>
                                        <p:cTn id="47" dur="250"/>
                                        <p:tgtEl>
                                          <p:spTgt spid="14345"/>
                                        </p:tgtEl>
                                      </p:cBhvr>
                                    </p:animEffect>
                                  </p:childTnLst>
                                </p:cTn>
                              </p:par>
                            </p:childTnLst>
                          </p:cTn>
                        </p:par>
                        <p:par>
                          <p:cTn id="48" fill="hold">
                            <p:stCondLst>
                              <p:cond delay="3250"/>
                            </p:stCondLst>
                            <p:childTnLst>
                              <p:par>
                                <p:cTn id="49" presetID="10" presetClass="entr" presetSubtype="0" fill="hold" nodeType="afterEffect">
                                  <p:stCondLst>
                                    <p:cond delay="0"/>
                                  </p:stCondLst>
                                  <p:childTnLst>
                                    <p:set>
                                      <p:cBhvr>
                                        <p:cTn id="50" dur="1" fill="hold">
                                          <p:stCondLst>
                                            <p:cond delay="0"/>
                                          </p:stCondLst>
                                        </p:cTn>
                                        <p:tgtEl>
                                          <p:spTgt spid="14310"/>
                                        </p:tgtEl>
                                        <p:attrNameLst>
                                          <p:attrName>style.visibility</p:attrName>
                                        </p:attrNameLst>
                                      </p:cBhvr>
                                      <p:to>
                                        <p:strVal val="visible"/>
                                      </p:to>
                                    </p:set>
                                    <p:animEffect transition="in" filter="fade">
                                      <p:cBhvr>
                                        <p:cTn id="51" dur="250"/>
                                        <p:tgtEl>
                                          <p:spTgt spid="14310"/>
                                        </p:tgtEl>
                                      </p:cBhvr>
                                    </p:animEffect>
                                  </p:childTnLst>
                                </p:cTn>
                              </p:par>
                            </p:childTnLst>
                          </p:cTn>
                        </p:par>
                        <p:par>
                          <p:cTn id="52" fill="hold">
                            <p:stCondLst>
                              <p:cond delay="3500"/>
                            </p:stCondLst>
                            <p:childTnLst>
                              <p:par>
                                <p:cTn id="53" presetID="10" presetClass="entr" presetSubtype="0" fill="hold" nodeType="afterEffect">
                                  <p:stCondLst>
                                    <p:cond delay="0"/>
                                  </p:stCondLst>
                                  <p:childTnLst>
                                    <p:set>
                                      <p:cBhvr>
                                        <p:cTn id="54" dur="1" fill="hold">
                                          <p:stCondLst>
                                            <p:cond delay="0"/>
                                          </p:stCondLst>
                                        </p:cTn>
                                        <p:tgtEl>
                                          <p:spTgt spid="14329"/>
                                        </p:tgtEl>
                                        <p:attrNameLst>
                                          <p:attrName>style.visibility</p:attrName>
                                        </p:attrNameLst>
                                      </p:cBhvr>
                                      <p:to>
                                        <p:strVal val="visible"/>
                                      </p:to>
                                    </p:set>
                                    <p:animEffect transition="in" filter="fade">
                                      <p:cBhvr>
                                        <p:cTn id="55" dur="250"/>
                                        <p:tgtEl>
                                          <p:spTgt spid="14329"/>
                                        </p:tgtEl>
                                      </p:cBhvr>
                                    </p:animEffect>
                                  </p:childTnLst>
                                </p:cTn>
                              </p:par>
                            </p:childTnLst>
                          </p:cTn>
                        </p:par>
                        <p:par>
                          <p:cTn id="56" fill="hold">
                            <p:stCondLst>
                              <p:cond delay="3750"/>
                            </p:stCondLst>
                            <p:childTnLst>
                              <p:par>
                                <p:cTn id="57" presetID="10" presetClass="entr" presetSubtype="0" fill="hold" nodeType="afterEffect">
                                  <p:stCondLst>
                                    <p:cond delay="0"/>
                                  </p:stCondLst>
                                  <p:childTnLst>
                                    <p:set>
                                      <p:cBhvr>
                                        <p:cTn id="58" dur="1" fill="hold">
                                          <p:stCondLst>
                                            <p:cond delay="0"/>
                                          </p:stCondLst>
                                        </p:cTn>
                                        <p:tgtEl>
                                          <p:spTgt spid="14297"/>
                                        </p:tgtEl>
                                        <p:attrNameLst>
                                          <p:attrName>style.visibility</p:attrName>
                                        </p:attrNameLst>
                                      </p:cBhvr>
                                      <p:to>
                                        <p:strVal val="visible"/>
                                      </p:to>
                                    </p:set>
                                    <p:animEffect transition="in" filter="fade">
                                      <p:cBhvr>
                                        <p:cTn id="59" dur="250"/>
                                        <p:tgtEl>
                                          <p:spTgt spid="14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4396"/>
        <p:cNvGrpSpPr/>
        <p:nvPr/>
      </p:nvGrpSpPr>
      <p:grpSpPr>
        <a:xfrm>
          <a:off x="0" y="0"/>
          <a:ext cx="0" cy="0"/>
          <a:chOff x="0" y="0"/>
          <a:chExt cx="0" cy="0"/>
        </a:xfrm>
      </p:grpSpPr>
      <p:sp>
        <p:nvSpPr>
          <p:cNvPr id="14397" name="Google Shape;14397;p71"/>
          <p:cNvSpPr/>
          <p:nvPr/>
        </p:nvSpPr>
        <p:spPr>
          <a:xfrm>
            <a:off x="6479" y="1572369"/>
            <a:ext cx="8133399" cy="4612079"/>
          </a:xfrm>
          <a:prstGeom prst="roundRect">
            <a:avLst>
              <a:gd name="adj" fmla="val 0"/>
            </a:avLst>
          </a:prstGeom>
          <a:solidFill>
            <a:srgbClr val="F4F8FA"/>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endParaRPr sz="1000" b="0" i="0" u="none" strike="noStrike" cap="none">
              <a:solidFill>
                <a:srgbClr val="000000"/>
              </a:solidFill>
              <a:latin typeface="Arial"/>
              <a:ea typeface="Arial"/>
              <a:cs typeface="Arial"/>
              <a:sym typeface="Arial"/>
            </a:endParaRPr>
          </a:p>
        </p:txBody>
      </p:sp>
      <p:sp>
        <p:nvSpPr>
          <p:cNvPr id="14398" name="Google Shape;14398;p71"/>
          <p:cNvSpPr/>
          <p:nvPr/>
        </p:nvSpPr>
        <p:spPr>
          <a:xfrm>
            <a:off x="608012" y="1724894"/>
            <a:ext cx="7398303" cy="1916213"/>
          </a:xfrm>
          <a:prstGeom prst="roundRect">
            <a:avLst>
              <a:gd name="adj" fmla="val 2790"/>
            </a:avLst>
          </a:prstGeom>
          <a:solidFill>
            <a:schemeClr val="lt1"/>
          </a:solidFill>
          <a:ln w="12700" cap="flat" cmpd="sng">
            <a:solidFill>
              <a:srgbClr val="7979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a:solidFill>
                  <a:srgbClr val="FFFFFF"/>
                </a:solidFill>
                <a:latin typeface="Arial"/>
                <a:ea typeface="Arial"/>
                <a:cs typeface="Arial"/>
                <a:sym typeface="Arial"/>
              </a:rPr>
              <a:t>V\</a:t>
            </a:r>
            <a:endParaRPr sz="1200" b="0" i="0" u="none" strike="noStrike" cap="none">
              <a:solidFill>
                <a:srgbClr val="FFFFFF"/>
              </a:solidFill>
              <a:latin typeface="Arial"/>
              <a:ea typeface="Arial"/>
              <a:cs typeface="Arial"/>
              <a:sym typeface="Arial"/>
            </a:endParaRPr>
          </a:p>
        </p:txBody>
      </p:sp>
      <p:sp>
        <p:nvSpPr>
          <p:cNvPr id="14399" name="Google Shape;14399;p71"/>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latin typeface="Arial"/>
                <a:ea typeface="Arial"/>
                <a:cs typeface="Arial"/>
                <a:sym typeface="Arial"/>
              </a:rPr>
              <a:t>VCF Mobility Use Case – Workload Migration to VCF</a:t>
            </a:r>
            <a:endParaRPr/>
          </a:p>
        </p:txBody>
      </p:sp>
      <p:sp>
        <p:nvSpPr>
          <p:cNvPr id="14400" name="Google Shape;14400;p71"/>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vCenter to vCenter Migration </a:t>
            </a:r>
            <a:endParaRPr/>
          </a:p>
        </p:txBody>
      </p:sp>
      <p:sp>
        <p:nvSpPr>
          <p:cNvPr id="14401" name="Google Shape;14401;p71"/>
          <p:cNvSpPr txBox="1">
            <a:spLocks noGrp="1"/>
          </p:cNvSpPr>
          <p:nvPr>
            <p:ph type="body" idx="2"/>
          </p:nvPr>
        </p:nvSpPr>
        <p:spPr>
          <a:xfrm>
            <a:off x="8380413" y="1600200"/>
            <a:ext cx="3963838" cy="4572000"/>
          </a:xfrm>
          <a:prstGeom prst="rect">
            <a:avLst/>
          </a:prstGeom>
          <a:noFill/>
          <a:ln>
            <a:noFill/>
          </a:ln>
        </p:spPr>
        <p:txBody>
          <a:bodyPr spcFirstLastPara="1" wrap="square" lIns="0" tIns="457200" rIns="594350" bIns="457200" anchor="t" anchorCtr="0">
            <a:noAutofit/>
          </a:bodyPr>
          <a:lstStyle/>
          <a:p>
            <a:pPr marL="171450" marR="0" lvl="0" indent="-171450" algn="l" rtl="0">
              <a:lnSpc>
                <a:spcPct val="100000"/>
              </a:lnSpc>
              <a:spcBef>
                <a:spcPts val="0"/>
              </a:spcBef>
              <a:spcAft>
                <a:spcPts val="0"/>
              </a:spcAft>
              <a:buClr>
                <a:schemeClr val="dk2"/>
              </a:buClr>
              <a:buSzPts val="1000"/>
              <a:buFont typeface="Arial"/>
              <a:buChar char="•"/>
            </a:pPr>
            <a:r>
              <a:rPr lang="en-US">
                <a:solidFill>
                  <a:schemeClr val="lt1"/>
                </a:solidFill>
              </a:rPr>
              <a:t>c</a:t>
            </a:r>
            <a:endParaRPr>
              <a:solidFill>
                <a:schemeClr val="lt1"/>
              </a:solidFill>
              <a:latin typeface="Arial"/>
              <a:ea typeface="Arial"/>
              <a:cs typeface="Arial"/>
              <a:sym typeface="Arial"/>
            </a:endParaRPr>
          </a:p>
          <a:p>
            <a:pPr marL="457200" lvl="0" indent="-228600" algn="l" rtl="0">
              <a:lnSpc>
                <a:spcPct val="100000"/>
              </a:lnSpc>
              <a:spcBef>
                <a:spcPts val="0"/>
              </a:spcBef>
              <a:spcAft>
                <a:spcPts val="0"/>
              </a:spcAft>
              <a:buSzPts val="1440"/>
              <a:buNone/>
            </a:pPr>
            <a:endParaRPr/>
          </a:p>
        </p:txBody>
      </p:sp>
      <p:sp>
        <p:nvSpPr>
          <p:cNvPr id="14402" name="Google Shape;14402;p71"/>
          <p:cNvSpPr txBox="1"/>
          <p:nvPr/>
        </p:nvSpPr>
        <p:spPr>
          <a:xfrm>
            <a:off x="1835762" y="1784107"/>
            <a:ext cx="1279196" cy="240066"/>
          </a:xfrm>
          <a:prstGeom prst="rect">
            <a:avLst/>
          </a:prstGeom>
          <a:noFill/>
          <a:ln>
            <a:noFill/>
          </a:ln>
        </p:spPr>
        <p:txBody>
          <a:bodyPr spcFirstLastPara="1" wrap="square" lIns="0" tIns="0" rIns="0" bIns="0" anchor="b" anchorCtr="0">
            <a:spAutoFit/>
          </a:bodyPr>
          <a:lstStyle/>
          <a:p>
            <a:pPr marL="0" marR="0" lvl="0" indent="0" algn="ctr" rtl="0">
              <a:lnSpc>
                <a:spcPct val="130000"/>
              </a:lnSpc>
              <a:spcBef>
                <a:spcPts val="0"/>
              </a:spcBef>
              <a:spcAft>
                <a:spcPts val="0"/>
              </a:spcAft>
              <a:buClr>
                <a:srgbClr val="1B1D36"/>
              </a:buClr>
              <a:buSzPts val="1200"/>
              <a:buFont typeface="Arial"/>
              <a:buNone/>
            </a:pPr>
            <a:r>
              <a:rPr lang="en-US" sz="1200" b="0" i="0" u="none" strike="noStrike" cap="none">
                <a:solidFill>
                  <a:srgbClr val="1B1D36"/>
                </a:solidFill>
                <a:latin typeface="Arial"/>
                <a:ea typeface="Arial"/>
                <a:cs typeface="Arial"/>
                <a:sym typeface="Arial"/>
              </a:rPr>
              <a:t>vSphere</a:t>
            </a:r>
            <a:endParaRPr sz="1800" b="0" i="0" u="none" strike="noStrike" cap="none">
              <a:solidFill>
                <a:srgbClr val="000000"/>
              </a:solidFill>
              <a:latin typeface="Arial"/>
              <a:ea typeface="Arial"/>
              <a:cs typeface="Arial"/>
              <a:sym typeface="Arial"/>
            </a:endParaRPr>
          </a:p>
        </p:txBody>
      </p:sp>
      <p:sp>
        <p:nvSpPr>
          <p:cNvPr id="14403" name="Google Shape;14403;p71"/>
          <p:cNvSpPr txBox="1"/>
          <p:nvPr/>
        </p:nvSpPr>
        <p:spPr>
          <a:xfrm>
            <a:off x="1697326" y="3387166"/>
            <a:ext cx="1472545"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1B1D36"/>
              </a:buClr>
              <a:buSzPts val="1200"/>
              <a:buFont typeface="Arial"/>
              <a:buNone/>
            </a:pPr>
            <a:r>
              <a:rPr lang="en-US" sz="1200" b="0" i="0" u="none" strike="noStrike" cap="none">
                <a:solidFill>
                  <a:srgbClr val="1B1D36"/>
                </a:solidFill>
                <a:latin typeface="Arial"/>
                <a:ea typeface="Arial"/>
                <a:cs typeface="Arial"/>
                <a:sym typeface="Arial"/>
              </a:rPr>
              <a:t>Legacy Data Center</a:t>
            </a:r>
            <a:endParaRPr sz="1800" b="0" i="0" u="none" strike="noStrike" cap="none">
              <a:solidFill>
                <a:srgbClr val="000000"/>
              </a:solidFill>
              <a:latin typeface="Arial"/>
              <a:ea typeface="Arial"/>
              <a:cs typeface="Arial"/>
              <a:sym typeface="Arial"/>
            </a:endParaRPr>
          </a:p>
        </p:txBody>
      </p:sp>
      <p:sp>
        <p:nvSpPr>
          <p:cNvPr id="14404" name="Google Shape;14404;p71"/>
          <p:cNvSpPr txBox="1"/>
          <p:nvPr/>
        </p:nvSpPr>
        <p:spPr>
          <a:xfrm>
            <a:off x="4601855" y="1776877"/>
            <a:ext cx="2647860" cy="184666"/>
          </a:xfrm>
          <a:prstGeom prst="rect">
            <a:avLst/>
          </a:prstGeom>
          <a:noFill/>
          <a:ln>
            <a:noFill/>
          </a:ln>
        </p:spPr>
        <p:txBody>
          <a:bodyPr spcFirstLastPara="1" wrap="square" lIns="0" tIns="0" rIns="0" bIns="0" anchor="b" anchorCtr="0">
            <a:spAutoFit/>
          </a:bodyPr>
          <a:lstStyle/>
          <a:p>
            <a:pPr marL="0" marR="0" lvl="0" indent="0" algn="ctr" rtl="0">
              <a:lnSpc>
                <a:spcPct val="100000"/>
              </a:lnSpc>
              <a:spcBef>
                <a:spcPts val="0"/>
              </a:spcBef>
              <a:spcAft>
                <a:spcPts val="0"/>
              </a:spcAft>
              <a:buClr>
                <a:srgbClr val="1B1D36"/>
              </a:buClr>
              <a:buSzPts val="1200"/>
              <a:buFont typeface="Arial"/>
              <a:buNone/>
            </a:pPr>
            <a:r>
              <a:rPr lang="en-US" sz="1200" b="0" i="0" u="none" strike="noStrike" cap="none">
                <a:solidFill>
                  <a:srgbClr val="1B1D36"/>
                </a:solidFill>
                <a:latin typeface="Arial"/>
                <a:ea typeface="Arial"/>
                <a:cs typeface="Arial"/>
                <a:sym typeface="Arial"/>
              </a:rPr>
              <a:t>VCF</a:t>
            </a:r>
            <a:endParaRPr sz="1800" b="0" i="0" u="none" strike="noStrike" cap="none">
              <a:solidFill>
                <a:srgbClr val="000000"/>
              </a:solidFill>
              <a:latin typeface="Arial"/>
              <a:ea typeface="Arial"/>
              <a:cs typeface="Arial"/>
              <a:sym typeface="Arial"/>
            </a:endParaRPr>
          </a:p>
        </p:txBody>
      </p:sp>
      <p:sp>
        <p:nvSpPr>
          <p:cNvPr id="14405" name="Google Shape;14405;p71"/>
          <p:cNvSpPr txBox="1"/>
          <p:nvPr/>
        </p:nvSpPr>
        <p:spPr>
          <a:xfrm>
            <a:off x="5211478" y="3387166"/>
            <a:ext cx="1428614"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1B1D36"/>
              </a:buClr>
              <a:buSzPts val="1200"/>
              <a:buFont typeface="Arial"/>
              <a:buNone/>
            </a:pPr>
            <a:r>
              <a:rPr lang="en-US" sz="1200" b="0" i="0" u="none" strike="noStrike" cap="none">
                <a:solidFill>
                  <a:srgbClr val="1B1D36"/>
                </a:solidFill>
                <a:latin typeface="Arial"/>
                <a:ea typeface="Arial"/>
                <a:cs typeface="Arial"/>
                <a:sym typeface="Arial"/>
              </a:rPr>
              <a:t>Private Cloud</a:t>
            </a:r>
            <a:endParaRPr sz="1800" b="0" i="0" u="none" strike="noStrike" cap="none">
              <a:solidFill>
                <a:srgbClr val="000000"/>
              </a:solidFill>
              <a:latin typeface="Arial"/>
              <a:ea typeface="Arial"/>
              <a:cs typeface="Arial"/>
              <a:sym typeface="Arial"/>
            </a:endParaRPr>
          </a:p>
        </p:txBody>
      </p:sp>
      <p:sp>
        <p:nvSpPr>
          <p:cNvPr id="14406" name="Google Shape;14406;p71"/>
          <p:cNvSpPr/>
          <p:nvPr/>
        </p:nvSpPr>
        <p:spPr>
          <a:xfrm>
            <a:off x="5249900" y="2090047"/>
            <a:ext cx="1350310" cy="1006279"/>
          </a:xfrm>
          <a:custGeom>
            <a:avLst/>
            <a:gdLst/>
            <a:ahLst/>
            <a:cxnLst/>
            <a:rect l="l" t="t" r="r" b="b"/>
            <a:pathLst>
              <a:path w="1552081" h="1156642" extrusionOk="0">
                <a:moveTo>
                  <a:pt x="1429604" y="1115854"/>
                </a:moveTo>
                <a:lnTo>
                  <a:pt x="1429604" y="58571"/>
                </a:lnTo>
                <a:lnTo>
                  <a:pt x="1289122" y="58571"/>
                </a:lnTo>
                <a:lnTo>
                  <a:pt x="1289122" y="0"/>
                </a:lnTo>
                <a:lnTo>
                  <a:pt x="880680" y="0"/>
                </a:lnTo>
                <a:lnTo>
                  <a:pt x="880680" y="58571"/>
                </a:lnTo>
                <a:lnTo>
                  <a:pt x="122588" y="58571"/>
                </a:lnTo>
                <a:lnTo>
                  <a:pt x="122588" y="339424"/>
                </a:lnTo>
                <a:lnTo>
                  <a:pt x="122588" y="339424"/>
                </a:lnTo>
                <a:lnTo>
                  <a:pt x="122588" y="1115743"/>
                </a:lnTo>
                <a:lnTo>
                  <a:pt x="0" y="1115743"/>
                </a:lnTo>
                <a:lnTo>
                  <a:pt x="0" y="1156642"/>
                </a:lnTo>
                <a:lnTo>
                  <a:pt x="1552081" y="1156642"/>
                </a:lnTo>
                <a:lnTo>
                  <a:pt x="1552081" y="1115743"/>
                </a:lnTo>
                <a:lnTo>
                  <a:pt x="1429604" y="1115743"/>
                </a:lnTo>
                <a:close/>
                <a:moveTo>
                  <a:pt x="881013" y="207500"/>
                </a:moveTo>
                <a:lnTo>
                  <a:pt x="1289456" y="207500"/>
                </a:lnTo>
                <a:lnTo>
                  <a:pt x="1289456" y="240842"/>
                </a:lnTo>
                <a:lnTo>
                  <a:pt x="881013" y="240842"/>
                </a:lnTo>
                <a:lnTo>
                  <a:pt x="881013" y="207500"/>
                </a:lnTo>
                <a:close/>
                <a:moveTo>
                  <a:pt x="274073" y="208278"/>
                </a:moveTo>
                <a:lnTo>
                  <a:pt x="682516" y="208278"/>
                </a:lnTo>
                <a:lnTo>
                  <a:pt x="682516" y="241620"/>
                </a:lnTo>
                <a:lnTo>
                  <a:pt x="274073" y="241620"/>
                </a:lnTo>
                <a:lnTo>
                  <a:pt x="274073" y="208278"/>
                </a:lnTo>
                <a:close/>
                <a:moveTo>
                  <a:pt x="308193" y="1021495"/>
                </a:moveTo>
                <a:lnTo>
                  <a:pt x="274851" y="1021495"/>
                </a:lnTo>
                <a:lnTo>
                  <a:pt x="274851" y="858118"/>
                </a:lnTo>
                <a:lnTo>
                  <a:pt x="308193" y="858118"/>
                </a:lnTo>
                <a:lnTo>
                  <a:pt x="308193" y="1021495"/>
                </a:lnTo>
                <a:close/>
                <a:moveTo>
                  <a:pt x="308193" y="665400"/>
                </a:moveTo>
                <a:lnTo>
                  <a:pt x="274851" y="665400"/>
                </a:lnTo>
                <a:lnTo>
                  <a:pt x="274851" y="502023"/>
                </a:lnTo>
                <a:lnTo>
                  <a:pt x="308193" y="502023"/>
                </a:lnTo>
                <a:lnTo>
                  <a:pt x="308193" y="665400"/>
                </a:lnTo>
                <a:close/>
                <a:moveTo>
                  <a:pt x="471237" y="1021495"/>
                </a:moveTo>
                <a:lnTo>
                  <a:pt x="437895" y="1021495"/>
                </a:lnTo>
                <a:lnTo>
                  <a:pt x="437895" y="858118"/>
                </a:lnTo>
                <a:lnTo>
                  <a:pt x="471237" y="858118"/>
                </a:lnTo>
                <a:lnTo>
                  <a:pt x="471237" y="1021495"/>
                </a:lnTo>
                <a:close/>
                <a:moveTo>
                  <a:pt x="471237" y="665400"/>
                </a:moveTo>
                <a:lnTo>
                  <a:pt x="437895" y="665400"/>
                </a:lnTo>
                <a:lnTo>
                  <a:pt x="437895" y="502023"/>
                </a:lnTo>
                <a:lnTo>
                  <a:pt x="471237" y="502023"/>
                </a:lnTo>
                <a:lnTo>
                  <a:pt x="471237" y="665400"/>
                </a:lnTo>
                <a:close/>
                <a:moveTo>
                  <a:pt x="634392" y="1021495"/>
                </a:moveTo>
                <a:lnTo>
                  <a:pt x="601049" y="1021495"/>
                </a:lnTo>
                <a:lnTo>
                  <a:pt x="601049" y="858118"/>
                </a:lnTo>
                <a:lnTo>
                  <a:pt x="634392" y="858118"/>
                </a:lnTo>
                <a:lnTo>
                  <a:pt x="634392" y="1021495"/>
                </a:lnTo>
                <a:close/>
                <a:moveTo>
                  <a:pt x="634392" y="665400"/>
                </a:moveTo>
                <a:lnTo>
                  <a:pt x="601049" y="665400"/>
                </a:lnTo>
                <a:lnTo>
                  <a:pt x="601049" y="502023"/>
                </a:lnTo>
                <a:lnTo>
                  <a:pt x="634392" y="502023"/>
                </a:lnTo>
                <a:lnTo>
                  <a:pt x="634392" y="665400"/>
                </a:lnTo>
                <a:close/>
                <a:moveTo>
                  <a:pt x="797546" y="1021495"/>
                </a:moveTo>
                <a:lnTo>
                  <a:pt x="764204" y="1021495"/>
                </a:lnTo>
                <a:lnTo>
                  <a:pt x="764204" y="858118"/>
                </a:lnTo>
                <a:lnTo>
                  <a:pt x="797546" y="858118"/>
                </a:lnTo>
                <a:lnTo>
                  <a:pt x="797546" y="1021495"/>
                </a:lnTo>
                <a:close/>
                <a:moveTo>
                  <a:pt x="797546" y="665400"/>
                </a:moveTo>
                <a:lnTo>
                  <a:pt x="764204" y="665400"/>
                </a:lnTo>
                <a:lnTo>
                  <a:pt x="764204" y="502023"/>
                </a:lnTo>
                <a:lnTo>
                  <a:pt x="797546" y="502023"/>
                </a:lnTo>
                <a:lnTo>
                  <a:pt x="797546" y="665400"/>
                </a:lnTo>
                <a:close/>
                <a:moveTo>
                  <a:pt x="960701" y="1021495"/>
                </a:moveTo>
                <a:lnTo>
                  <a:pt x="927359" y="1021495"/>
                </a:lnTo>
                <a:lnTo>
                  <a:pt x="927359" y="858118"/>
                </a:lnTo>
                <a:lnTo>
                  <a:pt x="960701" y="858118"/>
                </a:lnTo>
                <a:lnTo>
                  <a:pt x="960701" y="1021495"/>
                </a:lnTo>
                <a:close/>
                <a:moveTo>
                  <a:pt x="960701" y="665400"/>
                </a:moveTo>
                <a:lnTo>
                  <a:pt x="927359" y="665400"/>
                </a:lnTo>
                <a:lnTo>
                  <a:pt x="927359" y="502023"/>
                </a:lnTo>
                <a:lnTo>
                  <a:pt x="960701" y="502023"/>
                </a:lnTo>
                <a:lnTo>
                  <a:pt x="960701" y="665400"/>
                </a:lnTo>
                <a:close/>
                <a:moveTo>
                  <a:pt x="1124078" y="1021495"/>
                </a:moveTo>
                <a:lnTo>
                  <a:pt x="1090736" y="1021495"/>
                </a:lnTo>
                <a:lnTo>
                  <a:pt x="1090736" y="858118"/>
                </a:lnTo>
                <a:lnTo>
                  <a:pt x="1124078" y="858118"/>
                </a:lnTo>
                <a:lnTo>
                  <a:pt x="1124078" y="1021495"/>
                </a:lnTo>
                <a:close/>
                <a:moveTo>
                  <a:pt x="1124078" y="665400"/>
                </a:moveTo>
                <a:lnTo>
                  <a:pt x="1090736" y="665400"/>
                </a:lnTo>
                <a:lnTo>
                  <a:pt x="1090736" y="502023"/>
                </a:lnTo>
                <a:lnTo>
                  <a:pt x="1124078" y="502023"/>
                </a:lnTo>
                <a:lnTo>
                  <a:pt x="1124078" y="665400"/>
                </a:lnTo>
                <a:close/>
                <a:moveTo>
                  <a:pt x="1287455" y="1021495"/>
                </a:moveTo>
                <a:lnTo>
                  <a:pt x="1254113" y="1021495"/>
                </a:lnTo>
                <a:lnTo>
                  <a:pt x="1254113" y="858118"/>
                </a:lnTo>
                <a:lnTo>
                  <a:pt x="1287455" y="858118"/>
                </a:lnTo>
                <a:lnTo>
                  <a:pt x="1287455" y="1021495"/>
                </a:lnTo>
                <a:close/>
                <a:moveTo>
                  <a:pt x="1287455" y="665400"/>
                </a:moveTo>
                <a:lnTo>
                  <a:pt x="1254113" y="665400"/>
                </a:lnTo>
                <a:lnTo>
                  <a:pt x="1254113" y="502023"/>
                </a:lnTo>
                <a:lnTo>
                  <a:pt x="1287455" y="502023"/>
                </a:lnTo>
                <a:lnTo>
                  <a:pt x="1287455" y="665400"/>
                </a:lnTo>
                <a:close/>
                <a:moveTo>
                  <a:pt x="1429604" y="401996"/>
                </a:moveTo>
                <a:lnTo>
                  <a:pt x="271184" y="401996"/>
                </a:lnTo>
                <a:lnTo>
                  <a:pt x="271184" y="368654"/>
                </a:lnTo>
                <a:lnTo>
                  <a:pt x="1429604" y="368654"/>
                </a:lnTo>
                <a:lnTo>
                  <a:pt x="1429604" y="401996"/>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4407" name="Google Shape;14407;p71"/>
          <p:cNvCxnSpPr/>
          <p:nvPr/>
        </p:nvCxnSpPr>
        <p:spPr>
          <a:xfrm>
            <a:off x="3163204" y="2677836"/>
            <a:ext cx="2030079" cy="802"/>
          </a:xfrm>
          <a:prstGeom prst="straightConnector1">
            <a:avLst/>
          </a:prstGeom>
          <a:noFill/>
          <a:ln w="25400" cap="flat" cmpd="sng">
            <a:solidFill>
              <a:schemeClr val="accent2"/>
            </a:solidFill>
            <a:prstDash val="solid"/>
            <a:miter lim="800000"/>
            <a:headEnd type="none" w="sm" len="sm"/>
            <a:tailEnd type="triangle" w="med" len="med"/>
          </a:ln>
        </p:spPr>
      </p:cxnSp>
      <p:grpSp>
        <p:nvGrpSpPr>
          <p:cNvPr id="14408" name="Google Shape;14408;p71"/>
          <p:cNvGrpSpPr/>
          <p:nvPr/>
        </p:nvGrpSpPr>
        <p:grpSpPr>
          <a:xfrm>
            <a:off x="3933455" y="2857860"/>
            <a:ext cx="576663" cy="638882"/>
            <a:chOff x="3778290" y="4221840"/>
            <a:chExt cx="656353" cy="727169"/>
          </a:xfrm>
        </p:grpSpPr>
        <p:grpSp>
          <p:nvGrpSpPr>
            <p:cNvPr id="14409" name="Google Shape;14409;p71"/>
            <p:cNvGrpSpPr/>
            <p:nvPr/>
          </p:nvGrpSpPr>
          <p:grpSpPr>
            <a:xfrm>
              <a:off x="3778290" y="4628578"/>
              <a:ext cx="656353" cy="320431"/>
              <a:chOff x="3745473" y="4612557"/>
              <a:chExt cx="721988" cy="352474"/>
            </a:xfrm>
          </p:grpSpPr>
          <p:sp>
            <p:nvSpPr>
              <p:cNvPr id="14410" name="Google Shape;14410;p71"/>
              <p:cNvSpPr/>
              <p:nvPr/>
            </p:nvSpPr>
            <p:spPr>
              <a:xfrm>
                <a:off x="3745473" y="4612557"/>
                <a:ext cx="133191" cy="132236"/>
              </a:xfrm>
              <a:custGeom>
                <a:avLst/>
                <a:gdLst/>
                <a:ahLst/>
                <a:cxnLst/>
                <a:rect l="l" t="t" r="r" b="b"/>
                <a:pathLst>
                  <a:path w="133191" h="132236" extrusionOk="0">
                    <a:moveTo>
                      <a:pt x="133191" y="0"/>
                    </a:moveTo>
                    <a:lnTo>
                      <a:pt x="74795" y="132237"/>
                    </a:lnTo>
                    <a:lnTo>
                      <a:pt x="58396" y="132237"/>
                    </a:lnTo>
                    <a:lnTo>
                      <a:pt x="0" y="0"/>
                    </a:lnTo>
                    <a:lnTo>
                      <a:pt x="16363" y="0"/>
                    </a:lnTo>
                    <a:lnTo>
                      <a:pt x="66650" y="113750"/>
                    </a:lnTo>
                    <a:lnTo>
                      <a:pt x="116756" y="0"/>
                    </a:lnTo>
                    <a:lnTo>
                      <a:pt x="133155"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1" name="Google Shape;14411;p71"/>
              <p:cNvSpPr/>
              <p:nvPr/>
            </p:nvSpPr>
            <p:spPr>
              <a:xfrm>
                <a:off x="3899390" y="4612557"/>
                <a:ext cx="128318" cy="132236"/>
              </a:xfrm>
              <a:custGeom>
                <a:avLst/>
                <a:gdLst/>
                <a:ahLst/>
                <a:cxnLst/>
                <a:rect l="l" t="t" r="r" b="b"/>
                <a:pathLst>
                  <a:path w="128318" h="132236" extrusionOk="0">
                    <a:moveTo>
                      <a:pt x="0" y="0"/>
                    </a:moveTo>
                    <a:lnTo>
                      <a:pt x="15017" y="0"/>
                    </a:lnTo>
                    <a:lnTo>
                      <a:pt x="64141" y="92213"/>
                    </a:lnTo>
                    <a:lnTo>
                      <a:pt x="113302" y="0"/>
                    </a:lnTo>
                    <a:lnTo>
                      <a:pt x="128319" y="0"/>
                    </a:lnTo>
                    <a:lnTo>
                      <a:pt x="128319" y="132237"/>
                    </a:lnTo>
                    <a:lnTo>
                      <a:pt x="113302" y="132237"/>
                    </a:lnTo>
                    <a:lnTo>
                      <a:pt x="113302" y="32324"/>
                    </a:lnTo>
                    <a:lnTo>
                      <a:pt x="64141" y="124537"/>
                    </a:lnTo>
                    <a:lnTo>
                      <a:pt x="15017" y="32324"/>
                    </a:lnTo>
                    <a:lnTo>
                      <a:pt x="15017" y="132237"/>
                    </a:lnTo>
                    <a:lnTo>
                      <a:pt x="0" y="132237"/>
                    </a:lnTo>
                    <a:lnTo>
                      <a:pt x="0"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2" name="Google Shape;14412;p71"/>
              <p:cNvSpPr/>
              <p:nvPr/>
            </p:nvSpPr>
            <p:spPr>
              <a:xfrm>
                <a:off x="4046835" y="4645281"/>
                <a:ext cx="147408" cy="99513"/>
              </a:xfrm>
              <a:custGeom>
                <a:avLst/>
                <a:gdLst/>
                <a:ahLst/>
                <a:cxnLst/>
                <a:rect l="l" t="t" r="r" b="b"/>
                <a:pathLst>
                  <a:path w="147408" h="99513" extrusionOk="0">
                    <a:moveTo>
                      <a:pt x="0" y="0"/>
                    </a:moveTo>
                    <a:lnTo>
                      <a:pt x="15417" y="0"/>
                    </a:lnTo>
                    <a:lnTo>
                      <a:pt x="40288" y="80265"/>
                    </a:lnTo>
                    <a:lnTo>
                      <a:pt x="67450" y="0"/>
                    </a:lnTo>
                    <a:lnTo>
                      <a:pt x="79958" y="0"/>
                    </a:lnTo>
                    <a:lnTo>
                      <a:pt x="107120" y="80265"/>
                    </a:lnTo>
                    <a:lnTo>
                      <a:pt x="131991" y="0"/>
                    </a:lnTo>
                    <a:lnTo>
                      <a:pt x="147409" y="0"/>
                    </a:lnTo>
                    <a:lnTo>
                      <a:pt x="113883" y="99513"/>
                    </a:lnTo>
                    <a:lnTo>
                      <a:pt x="100212" y="99513"/>
                    </a:lnTo>
                    <a:lnTo>
                      <a:pt x="73813" y="20012"/>
                    </a:lnTo>
                    <a:lnTo>
                      <a:pt x="47015" y="99513"/>
                    </a:lnTo>
                    <a:lnTo>
                      <a:pt x="33343" y="99513"/>
                    </a:lnTo>
                    <a:lnTo>
                      <a:pt x="0"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3" name="Google Shape;14413;p71"/>
              <p:cNvSpPr/>
              <p:nvPr/>
            </p:nvSpPr>
            <p:spPr>
              <a:xfrm>
                <a:off x="4199297" y="4642993"/>
                <a:ext cx="85994" cy="104125"/>
              </a:xfrm>
              <a:custGeom>
                <a:avLst/>
                <a:gdLst/>
                <a:ahLst/>
                <a:cxnLst/>
                <a:rect l="l" t="t" r="r" b="b"/>
                <a:pathLst>
                  <a:path w="85994" h="104125" extrusionOk="0">
                    <a:moveTo>
                      <a:pt x="75668" y="11259"/>
                    </a:moveTo>
                    <a:cubicBezTo>
                      <a:pt x="82540" y="18777"/>
                      <a:pt x="85994" y="28728"/>
                      <a:pt x="85994" y="41186"/>
                    </a:cubicBezTo>
                    <a:lnTo>
                      <a:pt x="85994" y="101802"/>
                    </a:lnTo>
                    <a:lnTo>
                      <a:pt x="71523" y="101802"/>
                    </a:lnTo>
                    <a:lnTo>
                      <a:pt x="71523" y="86221"/>
                    </a:lnTo>
                    <a:cubicBezTo>
                      <a:pt x="68068" y="91887"/>
                      <a:pt x="63087" y="96281"/>
                      <a:pt x="56578" y="99405"/>
                    </a:cubicBezTo>
                    <a:cubicBezTo>
                      <a:pt x="50106" y="102564"/>
                      <a:pt x="43379" y="104126"/>
                      <a:pt x="36434" y="104126"/>
                    </a:cubicBezTo>
                    <a:cubicBezTo>
                      <a:pt x="25780" y="104126"/>
                      <a:pt x="17017" y="101220"/>
                      <a:pt x="10218" y="95446"/>
                    </a:cubicBezTo>
                    <a:cubicBezTo>
                      <a:pt x="3418" y="89671"/>
                      <a:pt x="0" y="81972"/>
                      <a:pt x="0" y="72347"/>
                    </a:cubicBezTo>
                    <a:cubicBezTo>
                      <a:pt x="0" y="65919"/>
                      <a:pt x="1745" y="60180"/>
                      <a:pt x="5309" y="55132"/>
                    </a:cubicBezTo>
                    <a:cubicBezTo>
                      <a:pt x="8836" y="50047"/>
                      <a:pt x="13599" y="46161"/>
                      <a:pt x="19562" y="43401"/>
                    </a:cubicBezTo>
                    <a:cubicBezTo>
                      <a:pt x="25526" y="40641"/>
                      <a:pt x="32071" y="39261"/>
                      <a:pt x="39125" y="39261"/>
                    </a:cubicBezTo>
                    <a:cubicBezTo>
                      <a:pt x="49160" y="39261"/>
                      <a:pt x="59923" y="41113"/>
                      <a:pt x="71486" y="44854"/>
                    </a:cubicBezTo>
                    <a:lnTo>
                      <a:pt x="71486" y="41186"/>
                    </a:lnTo>
                    <a:cubicBezTo>
                      <a:pt x="71486" y="33086"/>
                      <a:pt x="69414" y="26259"/>
                      <a:pt x="65305" y="20702"/>
                    </a:cubicBezTo>
                    <a:cubicBezTo>
                      <a:pt x="61196" y="15109"/>
                      <a:pt x="54251" y="12312"/>
                      <a:pt x="44506" y="12312"/>
                    </a:cubicBezTo>
                    <a:cubicBezTo>
                      <a:pt x="39997" y="12312"/>
                      <a:pt x="35416" y="13111"/>
                      <a:pt x="30725" y="14709"/>
                    </a:cubicBezTo>
                    <a:cubicBezTo>
                      <a:pt x="26035" y="16307"/>
                      <a:pt x="20944" y="18523"/>
                      <a:pt x="15417" y="21355"/>
                    </a:cubicBezTo>
                    <a:lnTo>
                      <a:pt x="9636" y="9625"/>
                    </a:lnTo>
                    <a:cubicBezTo>
                      <a:pt x="22471" y="3196"/>
                      <a:pt x="34434" y="0"/>
                      <a:pt x="45488" y="0"/>
                    </a:cubicBezTo>
                    <a:cubicBezTo>
                      <a:pt x="58723" y="0"/>
                      <a:pt x="68759" y="3741"/>
                      <a:pt x="75631" y="11259"/>
                    </a:cubicBezTo>
                    <a:close/>
                    <a:moveTo>
                      <a:pt x="59269" y="85930"/>
                    </a:moveTo>
                    <a:cubicBezTo>
                      <a:pt x="65632" y="82262"/>
                      <a:pt x="69705" y="77177"/>
                      <a:pt x="71523" y="70640"/>
                    </a:cubicBezTo>
                    <a:lnTo>
                      <a:pt x="71523" y="55422"/>
                    </a:lnTo>
                    <a:cubicBezTo>
                      <a:pt x="61741" y="52735"/>
                      <a:pt x="51742" y="51391"/>
                      <a:pt x="41452" y="51391"/>
                    </a:cubicBezTo>
                    <a:cubicBezTo>
                      <a:pt x="33852" y="51391"/>
                      <a:pt x="27416" y="53316"/>
                      <a:pt x="22071" y="57166"/>
                    </a:cubicBezTo>
                    <a:cubicBezTo>
                      <a:pt x="16726" y="61016"/>
                      <a:pt x="14072" y="65882"/>
                      <a:pt x="14072" y="71802"/>
                    </a:cubicBezTo>
                    <a:cubicBezTo>
                      <a:pt x="14072" y="77722"/>
                      <a:pt x="16399" y="82625"/>
                      <a:pt x="21090" y="86148"/>
                    </a:cubicBezTo>
                    <a:cubicBezTo>
                      <a:pt x="25780" y="89671"/>
                      <a:pt x="31707" y="91451"/>
                      <a:pt x="38907" y="91451"/>
                    </a:cubicBezTo>
                    <a:cubicBezTo>
                      <a:pt x="46106" y="91451"/>
                      <a:pt x="52869" y="89635"/>
                      <a:pt x="59232" y="85967"/>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4" name="Google Shape;14414;p71"/>
              <p:cNvSpPr/>
              <p:nvPr/>
            </p:nvSpPr>
            <p:spPr>
              <a:xfrm>
                <a:off x="4312163" y="4642956"/>
                <a:ext cx="53014" cy="101837"/>
              </a:xfrm>
              <a:custGeom>
                <a:avLst/>
                <a:gdLst/>
                <a:ahLst/>
                <a:cxnLst/>
                <a:rect l="l" t="t" r="r" b="b"/>
                <a:pathLst>
                  <a:path w="53014" h="101837" extrusionOk="0">
                    <a:moveTo>
                      <a:pt x="29125" y="5884"/>
                    </a:moveTo>
                    <a:cubicBezTo>
                      <a:pt x="35925" y="1961"/>
                      <a:pt x="43888" y="0"/>
                      <a:pt x="53015" y="0"/>
                    </a:cubicBezTo>
                    <a:lnTo>
                      <a:pt x="53015" y="12893"/>
                    </a:lnTo>
                    <a:cubicBezTo>
                      <a:pt x="45561" y="12893"/>
                      <a:pt x="38907" y="14310"/>
                      <a:pt x="33052" y="17142"/>
                    </a:cubicBezTo>
                    <a:cubicBezTo>
                      <a:pt x="27198" y="19975"/>
                      <a:pt x="22653" y="23898"/>
                      <a:pt x="19381" y="28982"/>
                    </a:cubicBezTo>
                    <a:cubicBezTo>
                      <a:pt x="16108" y="34067"/>
                      <a:pt x="14472" y="39805"/>
                      <a:pt x="14472" y="46197"/>
                    </a:cubicBezTo>
                    <a:lnTo>
                      <a:pt x="14472" y="101838"/>
                    </a:lnTo>
                    <a:lnTo>
                      <a:pt x="0" y="101838"/>
                    </a:lnTo>
                    <a:lnTo>
                      <a:pt x="0" y="2324"/>
                    </a:lnTo>
                    <a:lnTo>
                      <a:pt x="14472" y="2324"/>
                    </a:lnTo>
                    <a:lnTo>
                      <a:pt x="14472" y="21755"/>
                    </a:lnTo>
                    <a:cubicBezTo>
                      <a:pt x="17417" y="15072"/>
                      <a:pt x="22289" y="9806"/>
                      <a:pt x="29125" y="5884"/>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5" name="Google Shape;14415;p71"/>
              <p:cNvSpPr/>
              <p:nvPr/>
            </p:nvSpPr>
            <p:spPr>
              <a:xfrm>
                <a:off x="4371068" y="4642993"/>
                <a:ext cx="96393" cy="104125"/>
              </a:xfrm>
              <a:custGeom>
                <a:avLst/>
                <a:gdLst/>
                <a:ahLst/>
                <a:cxnLst/>
                <a:rect l="l" t="t" r="r" b="b"/>
                <a:pathLst>
                  <a:path w="96393" h="104125" extrusionOk="0">
                    <a:moveTo>
                      <a:pt x="68068" y="87746"/>
                    </a:moveTo>
                    <a:cubicBezTo>
                      <a:pt x="74032" y="85422"/>
                      <a:pt x="78577" y="82625"/>
                      <a:pt x="81667" y="79284"/>
                    </a:cubicBezTo>
                    <a:lnTo>
                      <a:pt x="90540" y="88727"/>
                    </a:lnTo>
                    <a:cubicBezTo>
                      <a:pt x="86285" y="93339"/>
                      <a:pt x="80358" y="97080"/>
                      <a:pt x="72723" y="99877"/>
                    </a:cubicBezTo>
                    <a:cubicBezTo>
                      <a:pt x="65087" y="102710"/>
                      <a:pt x="57669" y="104126"/>
                      <a:pt x="50469" y="104126"/>
                    </a:cubicBezTo>
                    <a:cubicBezTo>
                      <a:pt x="41597" y="104126"/>
                      <a:pt x="33307" y="101874"/>
                      <a:pt x="25598" y="97371"/>
                    </a:cubicBezTo>
                    <a:cubicBezTo>
                      <a:pt x="17890" y="92867"/>
                      <a:pt x="11672" y="86620"/>
                      <a:pt x="7018" y="78594"/>
                    </a:cubicBezTo>
                    <a:cubicBezTo>
                      <a:pt x="2327" y="70567"/>
                      <a:pt x="0" y="61633"/>
                      <a:pt x="0" y="51754"/>
                    </a:cubicBezTo>
                    <a:cubicBezTo>
                      <a:pt x="0" y="41876"/>
                      <a:pt x="2218" y="33341"/>
                      <a:pt x="6654" y="25387"/>
                    </a:cubicBezTo>
                    <a:cubicBezTo>
                      <a:pt x="11090" y="17433"/>
                      <a:pt x="17053" y="11223"/>
                      <a:pt x="24580" y="6719"/>
                    </a:cubicBezTo>
                    <a:cubicBezTo>
                      <a:pt x="32107" y="2215"/>
                      <a:pt x="40288" y="0"/>
                      <a:pt x="49160" y="0"/>
                    </a:cubicBezTo>
                    <a:cubicBezTo>
                      <a:pt x="64069" y="0"/>
                      <a:pt x="75668" y="5194"/>
                      <a:pt x="83958" y="15581"/>
                    </a:cubicBezTo>
                    <a:cubicBezTo>
                      <a:pt x="92249" y="25968"/>
                      <a:pt x="96394" y="39951"/>
                      <a:pt x="96394" y="57529"/>
                    </a:cubicBezTo>
                    <a:lnTo>
                      <a:pt x="14872" y="57529"/>
                    </a:lnTo>
                    <a:cubicBezTo>
                      <a:pt x="15890" y="67408"/>
                      <a:pt x="19671" y="75507"/>
                      <a:pt x="26144" y="81790"/>
                    </a:cubicBezTo>
                    <a:cubicBezTo>
                      <a:pt x="32616" y="88073"/>
                      <a:pt x="40688" y="91233"/>
                      <a:pt x="50324" y="91233"/>
                    </a:cubicBezTo>
                    <a:cubicBezTo>
                      <a:pt x="56215" y="91233"/>
                      <a:pt x="62178" y="90071"/>
                      <a:pt x="68141" y="87782"/>
                    </a:cubicBezTo>
                    <a:close/>
                    <a:moveTo>
                      <a:pt x="26544" y="21646"/>
                    </a:moveTo>
                    <a:cubicBezTo>
                      <a:pt x="20108" y="27493"/>
                      <a:pt x="16253" y="35157"/>
                      <a:pt x="14981" y="44636"/>
                    </a:cubicBezTo>
                    <a:lnTo>
                      <a:pt x="82031" y="44636"/>
                    </a:lnTo>
                    <a:cubicBezTo>
                      <a:pt x="81013" y="35157"/>
                      <a:pt x="77740" y="27457"/>
                      <a:pt x="72213" y="21646"/>
                    </a:cubicBezTo>
                    <a:cubicBezTo>
                      <a:pt x="66687" y="15799"/>
                      <a:pt x="59160" y="12893"/>
                      <a:pt x="49669" y="12893"/>
                    </a:cubicBezTo>
                    <a:cubicBezTo>
                      <a:pt x="40688" y="12893"/>
                      <a:pt x="32980" y="15799"/>
                      <a:pt x="26544" y="21646"/>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6" name="Google Shape;14416;p71"/>
              <p:cNvSpPr/>
              <p:nvPr/>
            </p:nvSpPr>
            <p:spPr>
              <a:xfrm>
                <a:off x="3893572" y="4830470"/>
                <a:ext cx="108065" cy="132236"/>
              </a:xfrm>
              <a:custGeom>
                <a:avLst/>
                <a:gdLst/>
                <a:ahLst/>
                <a:cxnLst/>
                <a:rect l="l" t="t" r="r" b="b"/>
                <a:pathLst>
                  <a:path w="108065" h="132236" extrusionOk="0">
                    <a:moveTo>
                      <a:pt x="108066" y="0"/>
                    </a:moveTo>
                    <a:lnTo>
                      <a:pt x="108066" y="132237"/>
                    </a:lnTo>
                    <a:lnTo>
                      <a:pt x="93048" y="132237"/>
                    </a:lnTo>
                    <a:lnTo>
                      <a:pt x="93048" y="71984"/>
                    </a:lnTo>
                    <a:lnTo>
                      <a:pt x="15017" y="71984"/>
                    </a:lnTo>
                    <a:lnTo>
                      <a:pt x="15017" y="132237"/>
                    </a:lnTo>
                    <a:lnTo>
                      <a:pt x="0" y="132237"/>
                    </a:lnTo>
                    <a:lnTo>
                      <a:pt x="0" y="0"/>
                    </a:lnTo>
                    <a:lnTo>
                      <a:pt x="15017" y="0"/>
                    </a:lnTo>
                    <a:lnTo>
                      <a:pt x="15017" y="57747"/>
                    </a:lnTo>
                    <a:lnTo>
                      <a:pt x="93048" y="57747"/>
                    </a:lnTo>
                    <a:lnTo>
                      <a:pt x="93048" y="0"/>
                    </a:lnTo>
                    <a:lnTo>
                      <a:pt x="108066"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7" name="Google Shape;14417;p71"/>
              <p:cNvSpPr/>
              <p:nvPr/>
            </p:nvSpPr>
            <p:spPr>
              <a:xfrm>
                <a:off x="4029927" y="4828182"/>
                <a:ext cx="115410" cy="136849"/>
              </a:xfrm>
              <a:custGeom>
                <a:avLst/>
                <a:gdLst/>
                <a:ahLst/>
                <a:cxnLst/>
                <a:rect l="l" t="t" r="r" b="b"/>
                <a:pathLst>
                  <a:path w="115410" h="136849" extrusionOk="0">
                    <a:moveTo>
                      <a:pt x="34180" y="127515"/>
                    </a:moveTo>
                    <a:cubicBezTo>
                      <a:pt x="23708" y="121305"/>
                      <a:pt x="15381" y="112915"/>
                      <a:pt x="9236" y="102383"/>
                    </a:cubicBezTo>
                    <a:cubicBezTo>
                      <a:pt x="3054" y="91850"/>
                      <a:pt x="0" y="80519"/>
                      <a:pt x="0" y="68316"/>
                    </a:cubicBezTo>
                    <a:cubicBezTo>
                      <a:pt x="0" y="56113"/>
                      <a:pt x="3091" y="44817"/>
                      <a:pt x="9236" y="34358"/>
                    </a:cubicBezTo>
                    <a:cubicBezTo>
                      <a:pt x="15417" y="23898"/>
                      <a:pt x="23708" y="15544"/>
                      <a:pt x="34180" y="9334"/>
                    </a:cubicBezTo>
                    <a:cubicBezTo>
                      <a:pt x="44652" y="3123"/>
                      <a:pt x="55851" y="0"/>
                      <a:pt x="67814" y="0"/>
                    </a:cubicBezTo>
                    <a:cubicBezTo>
                      <a:pt x="76795" y="0"/>
                      <a:pt x="85413" y="1780"/>
                      <a:pt x="93630" y="5303"/>
                    </a:cubicBezTo>
                    <a:cubicBezTo>
                      <a:pt x="101848" y="8825"/>
                      <a:pt x="109120" y="13801"/>
                      <a:pt x="115411" y="20230"/>
                    </a:cubicBezTo>
                    <a:lnTo>
                      <a:pt x="105193" y="30617"/>
                    </a:lnTo>
                    <a:cubicBezTo>
                      <a:pt x="100321" y="25350"/>
                      <a:pt x="94612" y="21247"/>
                      <a:pt x="88140" y="18305"/>
                    </a:cubicBezTo>
                    <a:cubicBezTo>
                      <a:pt x="81667" y="15363"/>
                      <a:pt x="74868" y="13874"/>
                      <a:pt x="67814" y="13874"/>
                    </a:cubicBezTo>
                    <a:cubicBezTo>
                      <a:pt x="58433" y="13874"/>
                      <a:pt x="49742" y="16343"/>
                      <a:pt x="41706" y="21283"/>
                    </a:cubicBezTo>
                    <a:cubicBezTo>
                      <a:pt x="33671" y="26222"/>
                      <a:pt x="27235" y="32905"/>
                      <a:pt x="22435" y="41294"/>
                    </a:cubicBezTo>
                    <a:cubicBezTo>
                      <a:pt x="17599" y="49684"/>
                      <a:pt x="15199" y="58727"/>
                      <a:pt x="15199" y="68352"/>
                    </a:cubicBezTo>
                    <a:cubicBezTo>
                      <a:pt x="15199" y="77976"/>
                      <a:pt x="17599" y="87165"/>
                      <a:pt x="22435" y="95482"/>
                    </a:cubicBezTo>
                    <a:cubicBezTo>
                      <a:pt x="27235" y="103835"/>
                      <a:pt x="33671" y="110482"/>
                      <a:pt x="41706" y="115494"/>
                    </a:cubicBezTo>
                    <a:cubicBezTo>
                      <a:pt x="49742" y="120506"/>
                      <a:pt x="58433" y="123012"/>
                      <a:pt x="67814" y="123012"/>
                    </a:cubicBezTo>
                    <a:cubicBezTo>
                      <a:pt x="74868" y="123012"/>
                      <a:pt x="81667" y="121523"/>
                      <a:pt x="88140" y="118581"/>
                    </a:cubicBezTo>
                    <a:cubicBezTo>
                      <a:pt x="94612" y="115639"/>
                      <a:pt x="100321" y="111535"/>
                      <a:pt x="105193" y="106269"/>
                    </a:cubicBezTo>
                    <a:lnTo>
                      <a:pt x="115411" y="116656"/>
                    </a:lnTo>
                    <a:cubicBezTo>
                      <a:pt x="109120" y="122939"/>
                      <a:pt x="101848" y="127878"/>
                      <a:pt x="93630" y="131474"/>
                    </a:cubicBezTo>
                    <a:cubicBezTo>
                      <a:pt x="85413" y="135070"/>
                      <a:pt x="76795" y="136849"/>
                      <a:pt x="67814" y="136849"/>
                    </a:cubicBezTo>
                    <a:cubicBezTo>
                      <a:pt x="55851" y="136849"/>
                      <a:pt x="44652" y="133726"/>
                      <a:pt x="34180" y="127515"/>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8" name="Google Shape;14418;p71"/>
              <p:cNvSpPr/>
              <p:nvPr/>
            </p:nvSpPr>
            <p:spPr>
              <a:xfrm>
                <a:off x="4154064" y="4830470"/>
                <a:ext cx="119737" cy="132236"/>
              </a:xfrm>
              <a:custGeom>
                <a:avLst/>
                <a:gdLst/>
                <a:ahLst/>
                <a:cxnLst/>
                <a:rect l="l" t="t" r="r" b="b"/>
                <a:pathLst>
                  <a:path w="119737" h="132236" extrusionOk="0">
                    <a:moveTo>
                      <a:pt x="69050" y="66028"/>
                    </a:moveTo>
                    <a:lnTo>
                      <a:pt x="119738" y="132237"/>
                    </a:lnTo>
                    <a:lnTo>
                      <a:pt x="101230" y="132237"/>
                    </a:lnTo>
                    <a:lnTo>
                      <a:pt x="59778" y="78158"/>
                    </a:lnTo>
                    <a:lnTo>
                      <a:pt x="18326" y="132237"/>
                    </a:lnTo>
                    <a:lnTo>
                      <a:pt x="0" y="132237"/>
                    </a:lnTo>
                    <a:lnTo>
                      <a:pt x="50688" y="66209"/>
                    </a:lnTo>
                    <a:lnTo>
                      <a:pt x="0" y="0"/>
                    </a:lnTo>
                    <a:lnTo>
                      <a:pt x="18508" y="0"/>
                    </a:lnTo>
                    <a:lnTo>
                      <a:pt x="59960" y="54079"/>
                    </a:lnTo>
                    <a:lnTo>
                      <a:pt x="101412" y="0"/>
                    </a:lnTo>
                    <a:lnTo>
                      <a:pt x="119738" y="0"/>
                    </a:lnTo>
                    <a:lnTo>
                      <a:pt x="69050" y="66028"/>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19" name="Google Shape;14419;p71"/>
              <p:cNvSpPr/>
              <p:nvPr/>
            </p:nvSpPr>
            <p:spPr>
              <a:xfrm>
                <a:off x="4278165" y="4822879"/>
                <a:ext cx="55450" cy="55168"/>
              </a:xfrm>
              <a:custGeom>
                <a:avLst/>
                <a:gdLst/>
                <a:ahLst/>
                <a:cxnLst/>
                <a:rect l="l" t="t" r="r" b="b"/>
                <a:pathLst>
                  <a:path w="55450" h="55168" extrusionOk="0">
                    <a:moveTo>
                      <a:pt x="41561" y="3705"/>
                    </a:moveTo>
                    <a:cubicBezTo>
                      <a:pt x="45779" y="6174"/>
                      <a:pt x="49160" y="9516"/>
                      <a:pt x="51669" y="13765"/>
                    </a:cubicBezTo>
                    <a:cubicBezTo>
                      <a:pt x="54178" y="17978"/>
                      <a:pt x="55451" y="22590"/>
                      <a:pt x="55451" y="27530"/>
                    </a:cubicBezTo>
                    <a:cubicBezTo>
                      <a:pt x="55451" y="32469"/>
                      <a:pt x="54178" y="37045"/>
                      <a:pt x="51669" y="41294"/>
                    </a:cubicBezTo>
                    <a:cubicBezTo>
                      <a:pt x="49160" y="45507"/>
                      <a:pt x="45779" y="48885"/>
                      <a:pt x="41561" y="51391"/>
                    </a:cubicBezTo>
                    <a:cubicBezTo>
                      <a:pt x="37343" y="53897"/>
                      <a:pt x="32725" y="55168"/>
                      <a:pt x="27780" y="55168"/>
                    </a:cubicBezTo>
                    <a:cubicBezTo>
                      <a:pt x="22835" y="55168"/>
                      <a:pt x="18144" y="53933"/>
                      <a:pt x="13890" y="51391"/>
                    </a:cubicBezTo>
                    <a:cubicBezTo>
                      <a:pt x="9672" y="48885"/>
                      <a:pt x="6290" y="45507"/>
                      <a:pt x="3782" y="41294"/>
                    </a:cubicBezTo>
                    <a:cubicBezTo>
                      <a:pt x="1273" y="37081"/>
                      <a:pt x="0" y="32469"/>
                      <a:pt x="0" y="27530"/>
                    </a:cubicBezTo>
                    <a:cubicBezTo>
                      <a:pt x="0" y="22590"/>
                      <a:pt x="1236" y="18014"/>
                      <a:pt x="3782" y="13765"/>
                    </a:cubicBezTo>
                    <a:cubicBezTo>
                      <a:pt x="6290" y="9552"/>
                      <a:pt x="9672" y="6174"/>
                      <a:pt x="13890" y="3705"/>
                    </a:cubicBezTo>
                    <a:cubicBezTo>
                      <a:pt x="18108" y="1235"/>
                      <a:pt x="22762" y="0"/>
                      <a:pt x="27780" y="0"/>
                    </a:cubicBezTo>
                    <a:cubicBezTo>
                      <a:pt x="32798" y="0"/>
                      <a:pt x="37307" y="1235"/>
                      <a:pt x="41561" y="3705"/>
                    </a:cubicBezTo>
                    <a:close/>
                    <a:moveTo>
                      <a:pt x="39670" y="47904"/>
                    </a:moveTo>
                    <a:cubicBezTo>
                      <a:pt x="43306" y="45798"/>
                      <a:pt x="46179" y="42965"/>
                      <a:pt x="48251" y="39333"/>
                    </a:cubicBezTo>
                    <a:cubicBezTo>
                      <a:pt x="50360" y="35701"/>
                      <a:pt x="51415" y="31743"/>
                      <a:pt x="51415" y="27493"/>
                    </a:cubicBezTo>
                    <a:cubicBezTo>
                      <a:pt x="51415" y="23244"/>
                      <a:pt x="50360" y="19285"/>
                      <a:pt x="48215" y="15726"/>
                    </a:cubicBezTo>
                    <a:cubicBezTo>
                      <a:pt x="46070" y="12131"/>
                      <a:pt x="43197" y="9298"/>
                      <a:pt x="39634" y="7191"/>
                    </a:cubicBezTo>
                    <a:cubicBezTo>
                      <a:pt x="36034" y="5085"/>
                      <a:pt x="32107" y="4031"/>
                      <a:pt x="27853" y="4031"/>
                    </a:cubicBezTo>
                    <a:cubicBezTo>
                      <a:pt x="23598" y="4031"/>
                      <a:pt x="19635" y="5085"/>
                      <a:pt x="15999" y="7191"/>
                    </a:cubicBezTo>
                    <a:cubicBezTo>
                      <a:pt x="12363" y="9298"/>
                      <a:pt x="9490" y="12131"/>
                      <a:pt x="7345" y="15726"/>
                    </a:cubicBezTo>
                    <a:cubicBezTo>
                      <a:pt x="5200" y="19322"/>
                      <a:pt x="4145" y="23244"/>
                      <a:pt x="4145" y="27493"/>
                    </a:cubicBezTo>
                    <a:cubicBezTo>
                      <a:pt x="4145" y="31743"/>
                      <a:pt x="5200" y="35701"/>
                      <a:pt x="7345" y="39261"/>
                    </a:cubicBezTo>
                    <a:cubicBezTo>
                      <a:pt x="9490" y="42856"/>
                      <a:pt x="12363" y="45725"/>
                      <a:pt x="15999" y="47832"/>
                    </a:cubicBezTo>
                    <a:cubicBezTo>
                      <a:pt x="19635" y="49975"/>
                      <a:pt x="23598" y="51028"/>
                      <a:pt x="27853" y="51028"/>
                    </a:cubicBezTo>
                    <a:cubicBezTo>
                      <a:pt x="32107" y="51028"/>
                      <a:pt x="36070" y="49975"/>
                      <a:pt x="39706" y="47868"/>
                    </a:cubicBezTo>
                    <a:close/>
                    <a:moveTo>
                      <a:pt x="40797" y="29128"/>
                    </a:moveTo>
                    <a:cubicBezTo>
                      <a:pt x="39488" y="31016"/>
                      <a:pt x="37707" y="32396"/>
                      <a:pt x="35452" y="33232"/>
                    </a:cubicBezTo>
                    <a:lnTo>
                      <a:pt x="43306" y="44454"/>
                    </a:lnTo>
                    <a:lnTo>
                      <a:pt x="34870" y="44454"/>
                    </a:lnTo>
                    <a:lnTo>
                      <a:pt x="27671" y="34249"/>
                    </a:lnTo>
                    <a:lnTo>
                      <a:pt x="22508" y="34249"/>
                    </a:lnTo>
                    <a:lnTo>
                      <a:pt x="22508" y="44454"/>
                    </a:lnTo>
                    <a:lnTo>
                      <a:pt x="14072" y="44454"/>
                    </a:lnTo>
                    <a:lnTo>
                      <a:pt x="14072" y="10787"/>
                    </a:lnTo>
                    <a:lnTo>
                      <a:pt x="29925" y="10787"/>
                    </a:lnTo>
                    <a:cubicBezTo>
                      <a:pt x="33743" y="10787"/>
                      <a:pt x="36834" y="11840"/>
                      <a:pt x="39197" y="13983"/>
                    </a:cubicBezTo>
                    <a:cubicBezTo>
                      <a:pt x="41561" y="16126"/>
                      <a:pt x="42724" y="18922"/>
                      <a:pt x="42724" y="22445"/>
                    </a:cubicBezTo>
                    <a:cubicBezTo>
                      <a:pt x="42724" y="24987"/>
                      <a:pt x="42070" y="27203"/>
                      <a:pt x="40761" y="29128"/>
                    </a:cubicBezTo>
                    <a:close/>
                    <a:moveTo>
                      <a:pt x="22544" y="25895"/>
                    </a:moveTo>
                    <a:lnTo>
                      <a:pt x="29053" y="25895"/>
                    </a:lnTo>
                    <a:cubicBezTo>
                      <a:pt x="30471" y="25895"/>
                      <a:pt x="31634" y="25568"/>
                      <a:pt x="32543" y="24951"/>
                    </a:cubicBezTo>
                    <a:cubicBezTo>
                      <a:pt x="33452" y="24334"/>
                      <a:pt x="33889" y="23462"/>
                      <a:pt x="33889" y="22409"/>
                    </a:cubicBezTo>
                    <a:cubicBezTo>
                      <a:pt x="33889" y="21428"/>
                      <a:pt x="33452" y="20629"/>
                      <a:pt x="32543" y="20012"/>
                    </a:cubicBezTo>
                    <a:cubicBezTo>
                      <a:pt x="31634" y="19394"/>
                      <a:pt x="30471" y="19067"/>
                      <a:pt x="29053" y="19067"/>
                    </a:cubicBezTo>
                    <a:lnTo>
                      <a:pt x="22544" y="19067"/>
                    </a:lnTo>
                    <a:lnTo>
                      <a:pt x="22544" y="25895"/>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4420" name="Google Shape;14420;p71"/>
            <p:cNvGrpSpPr/>
            <p:nvPr/>
          </p:nvGrpSpPr>
          <p:grpSpPr>
            <a:xfrm>
              <a:off x="3910116" y="4221840"/>
              <a:ext cx="392665" cy="312413"/>
              <a:chOff x="3910116" y="4221840"/>
              <a:chExt cx="392665" cy="312413"/>
            </a:xfrm>
          </p:grpSpPr>
          <p:grpSp>
            <p:nvGrpSpPr>
              <p:cNvPr id="14421" name="Google Shape;14421;p71"/>
              <p:cNvGrpSpPr/>
              <p:nvPr/>
            </p:nvGrpSpPr>
            <p:grpSpPr>
              <a:xfrm>
                <a:off x="3910116" y="4221840"/>
                <a:ext cx="392665" cy="310779"/>
                <a:chOff x="3910116" y="4221840"/>
                <a:chExt cx="392665" cy="310779"/>
              </a:xfrm>
            </p:grpSpPr>
            <p:sp>
              <p:nvSpPr>
                <p:cNvPr id="14422" name="Google Shape;14422;p71"/>
                <p:cNvSpPr/>
                <p:nvPr/>
              </p:nvSpPr>
              <p:spPr>
                <a:xfrm>
                  <a:off x="3910116" y="4221840"/>
                  <a:ext cx="392665" cy="310779"/>
                </a:xfrm>
                <a:custGeom>
                  <a:avLst/>
                  <a:gdLst/>
                  <a:ahLst/>
                  <a:cxnLst/>
                  <a:rect l="l" t="t" r="r" b="b"/>
                  <a:pathLst>
                    <a:path w="392665" h="310779" extrusionOk="0">
                      <a:moveTo>
                        <a:pt x="356195" y="98279"/>
                      </a:moveTo>
                      <a:cubicBezTo>
                        <a:pt x="341105" y="83206"/>
                        <a:pt x="322524" y="72274"/>
                        <a:pt x="302235" y="66536"/>
                      </a:cubicBezTo>
                      <a:cubicBezTo>
                        <a:pt x="277873" y="25387"/>
                        <a:pt x="233403" y="0"/>
                        <a:pt x="185370" y="0"/>
                      </a:cubicBezTo>
                      <a:cubicBezTo>
                        <a:pt x="149118" y="0"/>
                        <a:pt x="115011" y="14092"/>
                        <a:pt x="89376" y="39696"/>
                      </a:cubicBezTo>
                      <a:cubicBezTo>
                        <a:pt x="72795" y="56258"/>
                        <a:pt x="60796" y="76742"/>
                        <a:pt x="54578" y="99041"/>
                      </a:cubicBezTo>
                      <a:cubicBezTo>
                        <a:pt x="20835" y="119779"/>
                        <a:pt x="0" y="156788"/>
                        <a:pt x="0" y="196448"/>
                      </a:cubicBezTo>
                      <a:cubicBezTo>
                        <a:pt x="0" y="226992"/>
                        <a:pt x="11890" y="255684"/>
                        <a:pt x="33525" y="277258"/>
                      </a:cubicBezTo>
                      <a:cubicBezTo>
                        <a:pt x="55124" y="298831"/>
                        <a:pt x="83885" y="310743"/>
                        <a:pt x="114429" y="310743"/>
                      </a:cubicBezTo>
                      <a:lnTo>
                        <a:pt x="130937" y="310743"/>
                      </a:lnTo>
                      <a:cubicBezTo>
                        <a:pt x="125192" y="306095"/>
                        <a:pt x="119992" y="300828"/>
                        <a:pt x="115374" y="295054"/>
                      </a:cubicBezTo>
                      <a:lnTo>
                        <a:pt x="114429" y="295054"/>
                      </a:lnTo>
                      <a:cubicBezTo>
                        <a:pt x="88067" y="295054"/>
                        <a:pt x="63269" y="284812"/>
                        <a:pt x="44615" y="266180"/>
                      </a:cubicBezTo>
                      <a:cubicBezTo>
                        <a:pt x="25962" y="247549"/>
                        <a:pt x="15708" y="222779"/>
                        <a:pt x="15708" y="196448"/>
                      </a:cubicBezTo>
                      <a:cubicBezTo>
                        <a:pt x="15708" y="161292"/>
                        <a:pt x="34689" y="128532"/>
                        <a:pt x="65268" y="110954"/>
                      </a:cubicBezTo>
                      <a:lnTo>
                        <a:pt x="68141" y="109283"/>
                      </a:lnTo>
                      <a:lnTo>
                        <a:pt x="68941" y="106051"/>
                      </a:lnTo>
                      <a:cubicBezTo>
                        <a:pt x="74177" y="85240"/>
                        <a:pt x="85085" y="66136"/>
                        <a:pt x="100466" y="50774"/>
                      </a:cubicBezTo>
                      <a:cubicBezTo>
                        <a:pt x="123156" y="28111"/>
                        <a:pt x="153299" y="15653"/>
                        <a:pt x="185333" y="15653"/>
                      </a:cubicBezTo>
                      <a:cubicBezTo>
                        <a:pt x="228821" y="15653"/>
                        <a:pt x="269001" y="39188"/>
                        <a:pt x="290163" y="77068"/>
                      </a:cubicBezTo>
                      <a:lnTo>
                        <a:pt x="291799" y="80010"/>
                      </a:lnTo>
                      <a:lnTo>
                        <a:pt x="295072" y="80846"/>
                      </a:lnTo>
                      <a:cubicBezTo>
                        <a:pt x="313870" y="85603"/>
                        <a:pt x="331142" y="95482"/>
                        <a:pt x="345032" y="109356"/>
                      </a:cubicBezTo>
                      <a:cubicBezTo>
                        <a:pt x="365612" y="129912"/>
                        <a:pt x="376921" y="157224"/>
                        <a:pt x="376921" y="186279"/>
                      </a:cubicBezTo>
                      <a:cubicBezTo>
                        <a:pt x="376921" y="215334"/>
                        <a:pt x="365576" y="242646"/>
                        <a:pt x="345032" y="263202"/>
                      </a:cubicBezTo>
                      <a:cubicBezTo>
                        <a:pt x="326742" y="281471"/>
                        <a:pt x="303071" y="292439"/>
                        <a:pt x="277582" y="294654"/>
                      </a:cubicBezTo>
                      <a:cubicBezTo>
                        <a:pt x="272891" y="300574"/>
                        <a:pt x="267546" y="305986"/>
                        <a:pt x="261692" y="310780"/>
                      </a:cubicBezTo>
                      <a:lnTo>
                        <a:pt x="268055" y="310780"/>
                      </a:lnTo>
                      <a:cubicBezTo>
                        <a:pt x="301326" y="310780"/>
                        <a:pt x="332633" y="297850"/>
                        <a:pt x="356159" y="274316"/>
                      </a:cubicBezTo>
                      <a:cubicBezTo>
                        <a:pt x="379684" y="250817"/>
                        <a:pt x="392665" y="219547"/>
                        <a:pt x="392665" y="186315"/>
                      </a:cubicBezTo>
                      <a:cubicBezTo>
                        <a:pt x="392665" y="153084"/>
                        <a:pt x="379721" y="121813"/>
                        <a:pt x="356159" y="98315"/>
                      </a:cubicBezTo>
                      <a:close/>
                    </a:path>
                  </a:pathLst>
                </a:custGeom>
                <a:solidFill>
                  <a:srgbClr val="0098C7"/>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23" name="Google Shape;14423;p71"/>
                <p:cNvSpPr/>
                <p:nvPr/>
              </p:nvSpPr>
              <p:spPr>
                <a:xfrm>
                  <a:off x="3955204" y="4266948"/>
                  <a:ext cx="302416" cy="218566"/>
                </a:xfrm>
                <a:custGeom>
                  <a:avLst/>
                  <a:gdLst/>
                  <a:ahLst/>
                  <a:cxnLst/>
                  <a:rect l="l" t="t" r="r" b="b"/>
                  <a:pathLst>
                    <a:path w="302416" h="218566" extrusionOk="0">
                      <a:moveTo>
                        <a:pt x="302417" y="141207"/>
                      </a:moveTo>
                      <a:cubicBezTo>
                        <a:pt x="302417" y="98533"/>
                        <a:pt x="268528" y="63630"/>
                        <a:pt x="226203" y="61924"/>
                      </a:cubicBezTo>
                      <a:cubicBezTo>
                        <a:pt x="213986" y="25169"/>
                        <a:pt x="179479" y="0"/>
                        <a:pt x="140209" y="0"/>
                      </a:cubicBezTo>
                      <a:cubicBezTo>
                        <a:pt x="92103" y="0"/>
                        <a:pt x="52651" y="37626"/>
                        <a:pt x="49779" y="84950"/>
                      </a:cubicBezTo>
                      <a:cubicBezTo>
                        <a:pt x="20580" y="93485"/>
                        <a:pt x="0" y="120433"/>
                        <a:pt x="0" y="151340"/>
                      </a:cubicBezTo>
                      <a:cubicBezTo>
                        <a:pt x="0" y="183882"/>
                        <a:pt x="22617" y="211230"/>
                        <a:pt x="52978" y="218566"/>
                      </a:cubicBezTo>
                      <a:cubicBezTo>
                        <a:pt x="51015" y="212828"/>
                        <a:pt x="49560" y="206835"/>
                        <a:pt x="48651" y="200698"/>
                      </a:cubicBezTo>
                      <a:cubicBezTo>
                        <a:pt x="29307" y="192598"/>
                        <a:pt x="15708" y="173531"/>
                        <a:pt x="15708" y="151340"/>
                      </a:cubicBezTo>
                      <a:cubicBezTo>
                        <a:pt x="15708" y="125772"/>
                        <a:pt x="33889" y="103726"/>
                        <a:pt x="58978" y="98823"/>
                      </a:cubicBezTo>
                      <a:lnTo>
                        <a:pt x="65378" y="97589"/>
                      </a:lnTo>
                      <a:lnTo>
                        <a:pt x="65378" y="91088"/>
                      </a:lnTo>
                      <a:cubicBezTo>
                        <a:pt x="65378" y="91088"/>
                        <a:pt x="65305" y="90724"/>
                        <a:pt x="65305" y="90543"/>
                      </a:cubicBezTo>
                      <a:lnTo>
                        <a:pt x="65305" y="90470"/>
                      </a:lnTo>
                      <a:cubicBezTo>
                        <a:pt x="65305" y="49212"/>
                        <a:pt x="98903" y="15690"/>
                        <a:pt x="140173" y="15690"/>
                      </a:cubicBezTo>
                      <a:cubicBezTo>
                        <a:pt x="174316" y="15690"/>
                        <a:pt x="204132" y="38716"/>
                        <a:pt x="212677" y="71730"/>
                      </a:cubicBezTo>
                      <a:lnTo>
                        <a:pt x="214241" y="77831"/>
                      </a:lnTo>
                      <a:lnTo>
                        <a:pt x="220786" y="77577"/>
                      </a:lnTo>
                      <a:cubicBezTo>
                        <a:pt x="221476" y="77577"/>
                        <a:pt x="222204" y="77541"/>
                        <a:pt x="222895" y="77541"/>
                      </a:cubicBezTo>
                      <a:cubicBezTo>
                        <a:pt x="258019" y="77541"/>
                        <a:pt x="286636" y="106087"/>
                        <a:pt x="286636" y="141207"/>
                      </a:cubicBezTo>
                      <a:cubicBezTo>
                        <a:pt x="286636" y="164960"/>
                        <a:pt x="273546" y="185662"/>
                        <a:pt x="254202" y="196630"/>
                      </a:cubicBezTo>
                      <a:cubicBezTo>
                        <a:pt x="253474" y="203204"/>
                        <a:pt x="252165" y="209559"/>
                        <a:pt x="250275" y="215697"/>
                      </a:cubicBezTo>
                      <a:cubicBezTo>
                        <a:pt x="280636" y="204511"/>
                        <a:pt x="302344" y="175347"/>
                        <a:pt x="302344" y="141207"/>
                      </a:cubicBezTo>
                      <a:close/>
                    </a:path>
                  </a:pathLst>
                </a:custGeom>
                <a:solidFill>
                  <a:srgbClr val="005C8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4424" name="Google Shape;14424;p71"/>
              <p:cNvSpPr/>
              <p:nvPr/>
            </p:nvSpPr>
            <p:spPr>
              <a:xfrm>
                <a:off x="4024363" y="4370311"/>
                <a:ext cx="164134" cy="163942"/>
              </a:xfrm>
              <a:custGeom>
                <a:avLst/>
                <a:gdLst/>
                <a:ahLst/>
                <a:cxnLst/>
                <a:rect l="l" t="t" r="r" b="b"/>
                <a:pathLst>
                  <a:path w="164134" h="163942" extrusionOk="0">
                    <a:moveTo>
                      <a:pt x="82067" y="0"/>
                    </a:moveTo>
                    <a:cubicBezTo>
                      <a:pt x="36798" y="0"/>
                      <a:pt x="0" y="36791"/>
                      <a:pt x="0" y="81971"/>
                    </a:cubicBezTo>
                    <a:cubicBezTo>
                      <a:pt x="0" y="127152"/>
                      <a:pt x="36834" y="163943"/>
                      <a:pt x="82067" y="163943"/>
                    </a:cubicBezTo>
                    <a:cubicBezTo>
                      <a:pt x="127301" y="163943"/>
                      <a:pt x="164135" y="127152"/>
                      <a:pt x="164135" y="81971"/>
                    </a:cubicBezTo>
                    <a:cubicBezTo>
                      <a:pt x="164135" y="36791"/>
                      <a:pt x="127301" y="0"/>
                      <a:pt x="82067" y="0"/>
                    </a:cubicBezTo>
                    <a:close/>
                    <a:moveTo>
                      <a:pt x="116720" y="66645"/>
                    </a:moveTo>
                    <a:cubicBezTo>
                      <a:pt x="113956" y="63122"/>
                      <a:pt x="110938" y="59708"/>
                      <a:pt x="107666" y="56439"/>
                    </a:cubicBezTo>
                    <a:cubicBezTo>
                      <a:pt x="104393" y="53171"/>
                      <a:pt x="100975" y="50156"/>
                      <a:pt x="97448" y="47396"/>
                    </a:cubicBezTo>
                    <a:cubicBezTo>
                      <a:pt x="105666" y="44055"/>
                      <a:pt x="113920" y="42348"/>
                      <a:pt x="121519" y="42602"/>
                    </a:cubicBezTo>
                    <a:cubicBezTo>
                      <a:pt x="121774" y="50193"/>
                      <a:pt x="120065" y="58437"/>
                      <a:pt x="116720" y="66645"/>
                    </a:cubicBezTo>
                    <a:close/>
                    <a:moveTo>
                      <a:pt x="121519" y="121377"/>
                    </a:moveTo>
                    <a:cubicBezTo>
                      <a:pt x="113920" y="121632"/>
                      <a:pt x="105666" y="119925"/>
                      <a:pt x="97448" y="116583"/>
                    </a:cubicBezTo>
                    <a:cubicBezTo>
                      <a:pt x="100975" y="113823"/>
                      <a:pt x="104393" y="110809"/>
                      <a:pt x="107666" y="107540"/>
                    </a:cubicBezTo>
                    <a:cubicBezTo>
                      <a:pt x="107666" y="107540"/>
                      <a:pt x="107666" y="107540"/>
                      <a:pt x="107666" y="107540"/>
                    </a:cubicBezTo>
                    <a:cubicBezTo>
                      <a:pt x="110938" y="104271"/>
                      <a:pt x="113956" y="100857"/>
                      <a:pt x="116720" y="97334"/>
                    </a:cubicBezTo>
                    <a:cubicBezTo>
                      <a:pt x="120065" y="105542"/>
                      <a:pt x="121774" y="113787"/>
                      <a:pt x="121519" y="121377"/>
                    </a:cubicBezTo>
                    <a:close/>
                    <a:moveTo>
                      <a:pt x="96539" y="96426"/>
                    </a:moveTo>
                    <a:lnTo>
                      <a:pt x="96539" y="96426"/>
                    </a:lnTo>
                    <a:cubicBezTo>
                      <a:pt x="91994" y="100966"/>
                      <a:pt x="87122" y="104925"/>
                      <a:pt x="82067" y="108339"/>
                    </a:cubicBezTo>
                    <a:cubicBezTo>
                      <a:pt x="77013" y="104961"/>
                      <a:pt x="72141" y="100966"/>
                      <a:pt x="67632" y="96426"/>
                    </a:cubicBezTo>
                    <a:lnTo>
                      <a:pt x="67632" y="96426"/>
                    </a:lnTo>
                    <a:cubicBezTo>
                      <a:pt x="63087" y="91886"/>
                      <a:pt x="59087" y="87020"/>
                      <a:pt x="55705" y="81971"/>
                    </a:cubicBezTo>
                    <a:cubicBezTo>
                      <a:pt x="59087" y="76923"/>
                      <a:pt x="63087" y="72056"/>
                      <a:pt x="67632" y="67517"/>
                    </a:cubicBezTo>
                    <a:cubicBezTo>
                      <a:pt x="72177" y="62977"/>
                      <a:pt x="77050" y="58982"/>
                      <a:pt x="82104" y="55604"/>
                    </a:cubicBezTo>
                    <a:cubicBezTo>
                      <a:pt x="87158" y="58982"/>
                      <a:pt x="92030" y="62977"/>
                      <a:pt x="96575" y="67517"/>
                    </a:cubicBezTo>
                    <a:cubicBezTo>
                      <a:pt x="101121" y="72056"/>
                      <a:pt x="105120" y="76923"/>
                      <a:pt x="108502" y="81971"/>
                    </a:cubicBezTo>
                    <a:cubicBezTo>
                      <a:pt x="105120" y="87020"/>
                      <a:pt x="101121" y="91886"/>
                      <a:pt x="96575" y="96426"/>
                    </a:cubicBezTo>
                    <a:close/>
                    <a:moveTo>
                      <a:pt x="42652" y="121377"/>
                    </a:moveTo>
                    <a:cubicBezTo>
                      <a:pt x="42397" y="113787"/>
                      <a:pt x="44106" y="105542"/>
                      <a:pt x="47451" y="97334"/>
                    </a:cubicBezTo>
                    <a:cubicBezTo>
                      <a:pt x="50215" y="100857"/>
                      <a:pt x="53233" y="104271"/>
                      <a:pt x="56505" y="107540"/>
                    </a:cubicBezTo>
                    <a:cubicBezTo>
                      <a:pt x="56505" y="107540"/>
                      <a:pt x="56505" y="107540"/>
                      <a:pt x="56505" y="107540"/>
                    </a:cubicBezTo>
                    <a:cubicBezTo>
                      <a:pt x="59778" y="110809"/>
                      <a:pt x="63196" y="113823"/>
                      <a:pt x="66687" y="116583"/>
                    </a:cubicBezTo>
                    <a:cubicBezTo>
                      <a:pt x="58978" y="119707"/>
                      <a:pt x="51269" y="121414"/>
                      <a:pt x="44070" y="121414"/>
                    </a:cubicBezTo>
                    <a:cubicBezTo>
                      <a:pt x="43597" y="121414"/>
                      <a:pt x="43088" y="121414"/>
                      <a:pt x="42615" y="121414"/>
                    </a:cubicBezTo>
                    <a:close/>
                    <a:moveTo>
                      <a:pt x="42652" y="42602"/>
                    </a:moveTo>
                    <a:cubicBezTo>
                      <a:pt x="50251" y="42348"/>
                      <a:pt x="58505" y="44055"/>
                      <a:pt x="66723" y="47396"/>
                    </a:cubicBezTo>
                    <a:cubicBezTo>
                      <a:pt x="63196" y="50156"/>
                      <a:pt x="59778" y="53171"/>
                      <a:pt x="56505" y="56439"/>
                    </a:cubicBezTo>
                    <a:cubicBezTo>
                      <a:pt x="53233" y="59708"/>
                      <a:pt x="50215" y="63122"/>
                      <a:pt x="47451" y="66645"/>
                    </a:cubicBezTo>
                    <a:cubicBezTo>
                      <a:pt x="44106" y="58437"/>
                      <a:pt x="42397" y="50193"/>
                      <a:pt x="42652" y="42602"/>
                    </a:cubicBezTo>
                    <a:close/>
                    <a:moveTo>
                      <a:pt x="118938" y="26912"/>
                    </a:moveTo>
                    <a:cubicBezTo>
                      <a:pt x="106938" y="27094"/>
                      <a:pt x="94212" y="30726"/>
                      <a:pt x="82067" y="37299"/>
                    </a:cubicBezTo>
                    <a:cubicBezTo>
                      <a:pt x="69923" y="30762"/>
                      <a:pt x="57196" y="27130"/>
                      <a:pt x="45197" y="26912"/>
                    </a:cubicBezTo>
                    <a:cubicBezTo>
                      <a:pt x="55742" y="19830"/>
                      <a:pt x="68432" y="15726"/>
                      <a:pt x="82067" y="15726"/>
                    </a:cubicBezTo>
                    <a:cubicBezTo>
                      <a:pt x="95703" y="15726"/>
                      <a:pt x="108393" y="19866"/>
                      <a:pt x="118938" y="26912"/>
                    </a:cubicBezTo>
                    <a:close/>
                    <a:moveTo>
                      <a:pt x="15708" y="82008"/>
                    </a:moveTo>
                    <a:cubicBezTo>
                      <a:pt x="15708" y="68388"/>
                      <a:pt x="19853" y="55713"/>
                      <a:pt x="26907" y="45181"/>
                    </a:cubicBezTo>
                    <a:cubicBezTo>
                      <a:pt x="27089" y="57166"/>
                      <a:pt x="30725" y="69877"/>
                      <a:pt x="37307" y="82008"/>
                    </a:cubicBezTo>
                    <a:cubicBezTo>
                      <a:pt x="30762" y="94138"/>
                      <a:pt x="27125" y="106850"/>
                      <a:pt x="26907" y="118835"/>
                    </a:cubicBezTo>
                    <a:cubicBezTo>
                      <a:pt x="19817" y="108303"/>
                      <a:pt x="15708" y="95627"/>
                      <a:pt x="15708" y="82008"/>
                    </a:cubicBezTo>
                    <a:close/>
                    <a:moveTo>
                      <a:pt x="45197" y="137067"/>
                    </a:moveTo>
                    <a:cubicBezTo>
                      <a:pt x="57196" y="136885"/>
                      <a:pt x="69923" y="133254"/>
                      <a:pt x="82067" y="126680"/>
                    </a:cubicBezTo>
                    <a:cubicBezTo>
                      <a:pt x="94212" y="133217"/>
                      <a:pt x="106938" y="136849"/>
                      <a:pt x="118938" y="137067"/>
                    </a:cubicBezTo>
                    <a:cubicBezTo>
                      <a:pt x="108393" y="144149"/>
                      <a:pt x="95703" y="148253"/>
                      <a:pt x="82067" y="148253"/>
                    </a:cubicBezTo>
                    <a:cubicBezTo>
                      <a:pt x="68432" y="148253"/>
                      <a:pt x="55742" y="144113"/>
                      <a:pt x="45197" y="137067"/>
                    </a:cubicBezTo>
                    <a:close/>
                    <a:moveTo>
                      <a:pt x="137227" y="118799"/>
                    </a:moveTo>
                    <a:cubicBezTo>
                      <a:pt x="137046" y="106814"/>
                      <a:pt x="133409" y="94102"/>
                      <a:pt x="126828" y="81971"/>
                    </a:cubicBezTo>
                    <a:cubicBezTo>
                      <a:pt x="133373" y="69841"/>
                      <a:pt x="137009" y="57129"/>
                      <a:pt x="137227" y="45144"/>
                    </a:cubicBezTo>
                    <a:cubicBezTo>
                      <a:pt x="144318" y="55677"/>
                      <a:pt x="148427" y="68352"/>
                      <a:pt x="148427" y="81971"/>
                    </a:cubicBezTo>
                    <a:cubicBezTo>
                      <a:pt x="148427" y="95591"/>
                      <a:pt x="144281" y="108266"/>
                      <a:pt x="137227" y="118799"/>
                    </a:cubicBezTo>
                    <a:close/>
                  </a:path>
                </a:pathLst>
              </a:custGeom>
              <a:solidFill>
                <a:srgbClr val="0098C7"/>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4425" name="Google Shape;14425;p71"/>
          <p:cNvGrpSpPr/>
          <p:nvPr/>
        </p:nvGrpSpPr>
        <p:grpSpPr>
          <a:xfrm>
            <a:off x="4030227" y="2156770"/>
            <a:ext cx="390973" cy="396743"/>
            <a:chOff x="3760539" y="2983369"/>
            <a:chExt cx="445002" cy="451571"/>
          </a:xfrm>
        </p:grpSpPr>
        <p:grpSp>
          <p:nvGrpSpPr>
            <p:cNvPr id="14426" name="Google Shape;14426;p71"/>
            <p:cNvGrpSpPr/>
            <p:nvPr/>
          </p:nvGrpSpPr>
          <p:grpSpPr>
            <a:xfrm>
              <a:off x="3760539" y="3123069"/>
              <a:ext cx="311652" cy="311871"/>
              <a:chOff x="6015634" y="3223071"/>
              <a:chExt cx="311652" cy="311871"/>
            </a:xfrm>
          </p:grpSpPr>
          <p:sp>
            <p:nvSpPr>
              <p:cNvPr id="14427" name="Google Shape;14427;p71"/>
              <p:cNvSpPr/>
              <p:nvPr/>
            </p:nvSpPr>
            <p:spPr>
              <a:xfrm>
                <a:off x="6015634" y="3223071"/>
                <a:ext cx="311652" cy="311871"/>
              </a:xfrm>
              <a:custGeom>
                <a:avLst/>
                <a:gdLst/>
                <a:ahLst/>
                <a:cxnLst/>
                <a:rect l="l" t="t" r="r" b="b"/>
                <a:pathLst>
                  <a:path w="682595" h="683075" extrusionOk="0">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28" name="Google Shape;14428;p71"/>
              <p:cNvSpPr/>
              <p:nvPr/>
            </p:nvSpPr>
            <p:spPr>
              <a:xfrm>
                <a:off x="6165710" y="3353867"/>
                <a:ext cx="68451" cy="46010"/>
              </a:xfrm>
              <a:custGeom>
                <a:avLst/>
                <a:gdLst/>
                <a:ahLst/>
                <a:cxnLst/>
                <a:rect l="l" t="t" r="r" b="b"/>
                <a:pathLst>
                  <a:path w="149924" h="100774" extrusionOk="0">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429" name="Google Shape;14429;p71"/>
              <p:cNvSpPr/>
              <p:nvPr/>
            </p:nvSpPr>
            <p:spPr>
              <a:xfrm>
                <a:off x="6109320" y="3354911"/>
                <a:ext cx="48359" cy="44967"/>
              </a:xfrm>
              <a:custGeom>
                <a:avLst/>
                <a:gdLst/>
                <a:ahLst/>
                <a:cxnLst/>
                <a:rect l="l" t="t" r="r" b="b"/>
                <a:pathLst>
                  <a:path w="105918" h="98488" extrusionOk="0">
                    <a:moveTo>
                      <a:pt x="0" y="0"/>
                    </a:moveTo>
                    <a:lnTo>
                      <a:pt x="24765" y="0"/>
                    </a:lnTo>
                    <a:lnTo>
                      <a:pt x="53340" y="71628"/>
                    </a:lnTo>
                    <a:lnTo>
                      <a:pt x="81343" y="0"/>
                    </a:lnTo>
                    <a:lnTo>
                      <a:pt x="105918" y="0"/>
                    </a:lnTo>
                    <a:lnTo>
                      <a:pt x="64198" y="98488"/>
                    </a:lnTo>
                    <a:lnTo>
                      <a:pt x="42481" y="98488"/>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sp>
          <p:nvSpPr>
            <p:cNvPr id="14430" name="Google Shape;14430;p71"/>
            <p:cNvSpPr/>
            <p:nvPr/>
          </p:nvSpPr>
          <p:spPr>
            <a:xfrm>
              <a:off x="3827214" y="3056394"/>
              <a:ext cx="311652" cy="305931"/>
            </a:xfrm>
            <a:custGeom>
              <a:avLst/>
              <a:gdLst/>
              <a:ahLst/>
              <a:cxnLst/>
              <a:rect l="l" t="t" r="r" b="b"/>
              <a:pathLst>
                <a:path w="311652" h="305931" extrusionOk="0">
                  <a:moveTo>
                    <a:pt x="0" y="0"/>
                  </a:moveTo>
                  <a:lnTo>
                    <a:pt x="311652" y="0"/>
                  </a:lnTo>
                  <a:lnTo>
                    <a:pt x="311652" y="305931"/>
                  </a:lnTo>
                  <a:lnTo>
                    <a:pt x="244977" y="305931"/>
                  </a:lnTo>
                  <a:lnTo>
                    <a:pt x="244977" y="73025"/>
                  </a:lnTo>
                  <a:lnTo>
                    <a:pt x="0" y="73025"/>
                  </a:lnTo>
                  <a:close/>
                </a:path>
              </a:pathLst>
            </a:custGeom>
            <a:solidFill>
              <a:schemeClr val="accent2">
                <a:alpha val="31372"/>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431" name="Google Shape;14431;p71"/>
            <p:cNvSpPr/>
            <p:nvPr/>
          </p:nvSpPr>
          <p:spPr>
            <a:xfrm>
              <a:off x="3893889" y="2983369"/>
              <a:ext cx="311652" cy="305931"/>
            </a:xfrm>
            <a:custGeom>
              <a:avLst/>
              <a:gdLst/>
              <a:ahLst/>
              <a:cxnLst/>
              <a:rect l="l" t="t" r="r" b="b"/>
              <a:pathLst>
                <a:path w="311652" h="305931" extrusionOk="0">
                  <a:moveTo>
                    <a:pt x="0" y="0"/>
                  </a:moveTo>
                  <a:lnTo>
                    <a:pt x="311652" y="0"/>
                  </a:lnTo>
                  <a:lnTo>
                    <a:pt x="311652" y="305931"/>
                  </a:lnTo>
                  <a:lnTo>
                    <a:pt x="244977" y="305931"/>
                  </a:lnTo>
                  <a:lnTo>
                    <a:pt x="244977" y="73025"/>
                  </a:lnTo>
                  <a:lnTo>
                    <a:pt x="0" y="73025"/>
                  </a:lnTo>
                  <a:close/>
                </a:path>
              </a:pathLst>
            </a:custGeom>
            <a:solidFill>
              <a:schemeClr val="accent2">
                <a:alpha val="2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grpSp>
        <p:nvGrpSpPr>
          <p:cNvPr id="14432" name="Google Shape;14432;p71"/>
          <p:cNvGrpSpPr/>
          <p:nvPr/>
        </p:nvGrpSpPr>
        <p:grpSpPr>
          <a:xfrm>
            <a:off x="1825289" y="2144441"/>
            <a:ext cx="1232827" cy="918727"/>
            <a:chOff x="1152156" y="3888118"/>
            <a:chExt cx="1766567" cy="1316481"/>
          </a:xfrm>
        </p:grpSpPr>
        <p:sp>
          <p:nvSpPr>
            <p:cNvPr id="14433" name="Google Shape;14433;p71"/>
            <p:cNvSpPr/>
            <p:nvPr/>
          </p:nvSpPr>
          <p:spPr>
            <a:xfrm>
              <a:off x="1152156" y="3888118"/>
              <a:ext cx="1766567" cy="1316481"/>
            </a:xfrm>
            <a:custGeom>
              <a:avLst/>
              <a:gdLst/>
              <a:ahLst/>
              <a:cxnLst/>
              <a:rect l="l" t="t" r="r" b="b"/>
              <a:pathLst>
                <a:path w="1766567" h="1316481" extrusionOk="0">
                  <a:moveTo>
                    <a:pt x="1627164" y="1270056"/>
                  </a:moveTo>
                  <a:lnTo>
                    <a:pt x="1627164" y="66665"/>
                  </a:lnTo>
                  <a:lnTo>
                    <a:pt x="1467269" y="66665"/>
                  </a:lnTo>
                  <a:lnTo>
                    <a:pt x="1467269" y="0"/>
                  </a:lnTo>
                  <a:lnTo>
                    <a:pt x="1002383" y="0"/>
                  </a:lnTo>
                  <a:lnTo>
                    <a:pt x="1002383" y="66665"/>
                  </a:lnTo>
                  <a:lnTo>
                    <a:pt x="139529" y="66665"/>
                  </a:lnTo>
                  <a:lnTo>
                    <a:pt x="139529" y="386330"/>
                  </a:lnTo>
                  <a:lnTo>
                    <a:pt x="139529" y="386330"/>
                  </a:lnTo>
                  <a:lnTo>
                    <a:pt x="139529" y="1269930"/>
                  </a:lnTo>
                  <a:lnTo>
                    <a:pt x="0" y="1269930"/>
                  </a:lnTo>
                  <a:lnTo>
                    <a:pt x="0" y="1316481"/>
                  </a:lnTo>
                  <a:lnTo>
                    <a:pt x="1766567" y="1316481"/>
                  </a:lnTo>
                  <a:lnTo>
                    <a:pt x="1766567" y="1269930"/>
                  </a:lnTo>
                  <a:lnTo>
                    <a:pt x="1627164" y="1269930"/>
                  </a:lnTo>
                  <a:close/>
                  <a:moveTo>
                    <a:pt x="1002762" y="236175"/>
                  </a:moveTo>
                  <a:lnTo>
                    <a:pt x="1467648" y="236175"/>
                  </a:lnTo>
                  <a:lnTo>
                    <a:pt x="1467648" y="274125"/>
                  </a:lnTo>
                  <a:lnTo>
                    <a:pt x="1002762" y="274125"/>
                  </a:lnTo>
                  <a:lnTo>
                    <a:pt x="1002762" y="236175"/>
                  </a:lnTo>
                  <a:close/>
                  <a:moveTo>
                    <a:pt x="311948" y="237060"/>
                  </a:moveTo>
                  <a:lnTo>
                    <a:pt x="776834" y="237060"/>
                  </a:lnTo>
                  <a:lnTo>
                    <a:pt x="776834" y="275010"/>
                  </a:lnTo>
                  <a:lnTo>
                    <a:pt x="311948" y="275010"/>
                  </a:lnTo>
                  <a:lnTo>
                    <a:pt x="311948" y="237060"/>
                  </a:lnTo>
                  <a:close/>
                  <a:moveTo>
                    <a:pt x="350783" y="1162658"/>
                  </a:moveTo>
                  <a:lnTo>
                    <a:pt x="312834" y="1162658"/>
                  </a:lnTo>
                  <a:lnTo>
                    <a:pt x="312834" y="976703"/>
                  </a:lnTo>
                  <a:lnTo>
                    <a:pt x="350783" y="976703"/>
                  </a:lnTo>
                  <a:lnTo>
                    <a:pt x="350783" y="1162658"/>
                  </a:lnTo>
                  <a:close/>
                  <a:moveTo>
                    <a:pt x="350783" y="757353"/>
                  </a:moveTo>
                  <a:lnTo>
                    <a:pt x="312834" y="757353"/>
                  </a:lnTo>
                  <a:lnTo>
                    <a:pt x="312834" y="571399"/>
                  </a:lnTo>
                  <a:lnTo>
                    <a:pt x="350783" y="571399"/>
                  </a:lnTo>
                  <a:lnTo>
                    <a:pt x="350783" y="757353"/>
                  </a:lnTo>
                  <a:close/>
                  <a:moveTo>
                    <a:pt x="536358" y="1162658"/>
                  </a:moveTo>
                  <a:lnTo>
                    <a:pt x="498408" y="1162658"/>
                  </a:lnTo>
                  <a:lnTo>
                    <a:pt x="498408" y="976703"/>
                  </a:lnTo>
                  <a:lnTo>
                    <a:pt x="536358" y="976703"/>
                  </a:lnTo>
                  <a:lnTo>
                    <a:pt x="536358" y="1162658"/>
                  </a:lnTo>
                  <a:close/>
                  <a:moveTo>
                    <a:pt x="536358" y="757353"/>
                  </a:moveTo>
                  <a:lnTo>
                    <a:pt x="498408" y="757353"/>
                  </a:lnTo>
                  <a:lnTo>
                    <a:pt x="498408" y="571399"/>
                  </a:lnTo>
                  <a:lnTo>
                    <a:pt x="536358" y="571399"/>
                  </a:lnTo>
                  <a:lnTo>
                    <a:pt x="536358" y="757353"/>
                  </a:lnTo>
                  <a:close/>
                  <a:moveTo>
                    <a:pt x="722060" y="1162658"/>
                  </a:moveTo>
                  <a:lnTo>
                    <a:pt x="684110" y="1162658"/>
                  </a:lnTo>
                  <a:lnTo>
                    <a:pt x="684110" y="976703"/>
                  </a:lnTo>
                  <a:lnTo>
                    <a:pt x="722060" y="976703"/>
                  </a:lnTo>
                  <a:lnTo>
                    <a:pt x="722060" y="1162658"/>
                  </a:lnTo>
                  <a:close/>
                  <a:moveTo>
                    <a:pt x="722060" y="757353"/>
                  </a:moveTo>
                  <a:lnTo>
                    <a:pt x="684110" y="757353"/>
                  </a:lnTo>
                  <a:lnTo>
                    <a:pt x="684110" y="571399"/>
                  </a:lnTo>
                  <a:lnTo>
                    <a:pt x="722060" y="571399"/>
                  </a:lnTo>
                  <a:lnTo>
                    <a:pt x="722060" y="757353"/>
                  </a:lnTo>
                  <a:close/>
                  <a:moveTo>
                    <a:pt x="907761" y="1162658"/>
                  </a:moveTo>
                  <a:lnTo>
                    <a:pt x="869811" y="1162658"/>
                  </a:lnTo>
                  <a:lnTo>
                    <a:pt x="869811" y="976703"/>
                  </a:lnTo>
                  <a:lnTo>
                    <a:pt x="907761" y="976703"/>
                  </a:lnTo>
                  <a:lnTo>
                    <a:pt x="907761" y="1162658"/>
                  </a:lnTo>
                  <a:close/>
                  <a:moveTo>
                    <a:pt x="907761" y="757353"/>
                  </a:moveTo>
                  <a:lnTo>
                    <a:pt x="869811" y="757353"/>
                  </a:lnTo>
                  <a:lnTo>
                    <a:pt x="869811" y="571399"/>
                  </a:lnTo>
                  <a:lnTo>
                    <a:pt x="907761" y="571399"/>
                  </a:lnTo>
                  <a:lnTo>
                    <a:pt x="907761" y="757353"/>
                  </a:lnTo>
                  <a:close/>
                  <a:moveTo>
                    <a:pt x="1093463" y="1162658"/>
                  </a:moveTo>
                  <a:lnTo>
                    <a:pt x="1055513" y="1162658"/>
                  </a:lnTo>
                  <a:lnTo>
                    <a:pt x="1055513" y="976703"/>
                  </a:lnTo>
                  <a:lnTo>
                    <a:pt x="1093463" y="976703"/>
                  </a:lnTo>
                  <a:lnTo>
                    <a:pt x="1093463" y="1162658"/>
                  </a:lnTo>
                  <a:close/>
                  <a:moveTo>
                    <a:pt x="1093463" y="757353"/>
                  </a:moveTo>
                  <a:lnTo>
                    <a:pt x="1055513" y="757353"/>
                  </a:lnTo>
                  <a:lnTo>
                    <a:pt x="1055513" y="571399"/>
                  </a:lnTo>
                  <a:lnTo>
                    <a:pt x="1093463" y="571399"/>
                  </a:lnTo>
                  <a:lnTo>
                    <a:pt x="1093463" y="757353"/>
                  </a:lnTo>
                  <a:close/>
                  <a:moveTo>
                    <a:pt x="1279417" y="1162658"/>
                  </a:moveTo>
                  <a:lnTo>
                    <a:pt x="1241467" y="1162658"/>
                  </a:lnTo>
                  <a:lnTo>
                    <a:pt x="1241467" y="976703"/>
                  </a:lnTo>
                  <a:lnTo>
                    <a:pt x="1279417" y="976703"/>
                  </a:lnTo>
                  <a:lnTo>
                    <a:pt x="1279417" y="1162658"/>
                  </a:lnTo>
                  <a:close/>
                  <a:moveTo>
                    <a:pt x="1279417" y="757353"/>
                  </a:moveTo>
                  <a:lnTo>
                    <a:pt x="1241467" y="757353"/>
                  </a:lnTo>
                  <a:lnTo>
                    <a:pt x="1241467" y="571399"/>
                  </a:lnTo>
                  <a:lnTo>
                    <a:pt x="1279417" y="571399"/>
                  </a:lnTo>
                  <a:lnTo>
                    <a:pt x="1279417" y="757353"/>
                  </a:lnTo>
                  <a:close/>
                  <a:moveTo>
                    <a:pt x="1465371" y="1162658"/>
                  </a:moveTo>
                  <a:lnTo>
                    <a:pt x="1427422" y="1162658"/>
                  </a:lnTo>
                  <a:lnTo>
                    <a:pt x="1427422" y="976703"/>
                  </a:lnTo>
                  <a:lnTo>
                    <a:pt x="1465371" y="976703"/>
                  </a:lnTo>
                  <a:lnTo>
                    <a:pt x="1465371" y="1162658"/>
                  </a:lnTo>
                  <a:close/>
                  <a:moveTo>
                    <a:pt x="1465371" y="757353"/>
                  </a:moveTo>
                  <a:lnTo>
                    <a:pt x="1427422" y="757353"/>
                  </a:lnTo>
                  <a:lnTo>
                    <a:pt x="1427422" y="571399"/>
                  </a:lnTo>
                  <a:lnTo>
                    <a:pt x="1465371" y="571399"/>
                  </a:lnTo>
                  <a:lnTo>
                    <a:pt x="1465371" y="757353"/>
                  </a:lnTo>
                  <a:close/>
                  <a:moveTo>
                    <a:pt x="1627164" y="457549"/>
                  </a:moveTo>
                  <a:lnTo>
                    <a:pt x="308659" y="457549"/>
                  </a:lnTo>
                  <a:lnTo>
                    <a:pt x="308659" y="419599"/>
                  </a:lnTo>
                  <a:lnTo>
                    <a:pt x="1627164" y="419599"/>
                  </a:lnTo>
                  <a:lnTo>
                    <a:pt x="1627164" y="457549"/>
                  </a:lnTo>
                  <a:close/>
                </a:path>
              </a:pathLst>
            </a:custGeom>
            <a:noFill/>
            <a:ln w="50800" cap="flat" cmpd="sng">
              <a:solidFill>
                <a:schemeClr val="accent2"/>
              </a:solidFill>
              <a:prstDash val="solid"/>
              <a:miter lim="8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34" name="Google Shape;14434;p71"/>
            <p:cNvSpPr/>
            <p:nvPr/>
          </p:nvSpPr>
          <p:spPr>
            <a:xfrm>
              <a:off x="1152156" y="3888118"/>
              <a:ext cx="1766567" cy="1316481"/>
            </a:xfrm>
            <a:custGeom>
              <a:avLst/>
              <a:gdLst/>
              <a:ahLst/>
              <a:cxnLst/>
              <a:rect l="l" t="t" r="r" b="b"/>
              <a:pathLst>
                <a:path w="1766567" h="1316481" extrusionOk="0">
                  <a:moveTo>
                    <a:pt x="1627164" y="1270056"/>
                  </a:moveTo>
                  <a:lnTo>
                    <a:pt x="1627164" y="66665"/>
                  </a:lnTo>
                  <a:lnTo>
                    <a:pt x="1467269" y="66665"/>
                  </a:lnTo>
                  <a:lnTo>
                    <a:pt x="1467269" y="0"/>
                  </a:lnTo>
                  <a:lnTo>
                    <a:pt x="1002383" y="0"/>
                  </a:lnTo>
                  <a:lnTo>
                    <a:pt x="1002383" y="66665"/>
                  </a:lnTo>
                  <a:lnTo>
                    <a:pt x="139529" y="66665"/>
                  </a:lnTo>
                  <a:lnTo>
                    <a:pt x="139529" y="386330"/>
                  </a:lnTo>
                  <a:lnTo>
                    <a:pt x="139529" y="386330"/>
                  </a:lnTo>
                  <a:lnTo>
                    <a:pt x="139529" y="1269930"/>
                  </a:lnTo>
                  <a:lnTo>
                    <a:pt x="0" y="1269930"/>
                  </a:lnTo>
                  <a:lnTo>
                    <a:pt x="0" y="1316481"/>
                  </a:lnTo>
                  <a:lnTo>
                    <a:pt x="1766567" y="1316481"/>
                  </a:lnTo>
                  <a:lnTo>
                    <a:pt x="1766567" y="1269930"/>
                  </a:lnTo>
                  <a:lnTo>
                    <a:pt x="1627164" y="1269930"/>
                  </a:lnTo>
                  <a:close/>
                  <a:moveTo>
                    <a:pt x="1002762" y="236175"/>
                  </a:moveTo>
                  <a:lnTo>
                    <a:pt x="1467648" y="236175"/>
                  </a:lnTo>
                  <a:lnTo>
                    <a:pt x="1467648" y="274125"/>
                  </a:lnTo>
                  <a:lnTo>
                    <a:pt x="1002762" y="274125"/>
                  </a:lnTo>
                  <a:lnTo>
                    <a:pt x="1002762" y="236175"/>
                  </a:lnTo>
                  <a:close/>
                  <a:moveTo>
                    <a:pt x="311948" y="237060"/>
                  </a:moveTo>
                  <a:lnTo>
                    <a:pt x="776834" y="237060"/>
                  </a:lnTo>
                  <a:lnTo>
                    <a:pt x="776834" y="275010"/>
                  </a:lnTo>
                  <a:lnTo>
                    <a:pt x="311948" y="275010"/>
                  </a:lnTo>
                  <a:lnTo>
                    <a:pt x="311948" y="237060"/>
                  </a:lnTo>
                  <a:close/>
                  <a:moveTo>
                    <a:pt x="350783" y="1162658"/>
                  </a:moveTo>
                  <a:lnTo>
                    <a:pt x="312834" y="1162658"/>
                  </a:lnTo>
                  <a:lnTo>
                    <a:pt x="312834" y="976703"/>
                  </a:lnTo>
                  <a:lnTo>
                    <a:pt x="350783" y="976703"/>
                  </a:lnTo>
                  <a:lnTo>
                    <a:pt x="350783" y="1162658"/>
                  </a:lnTo>
                  <a:close/>
                  <a:moveTo>
                    <a:pt x="350783" y="757353"/>
                  </a:moveTo>
                  <a:lnTo>
                    <a:pt x="312834" y="757353"/>
                  </a:lnTo>
                  <a:lnTo>
                    <a:pt x="312834" y="571399"/>
                  </a:lnTo>
                  <a:lnTo>
                    <a:pt x="350783" y="571399"/>
                  </a:lnTo>
                  <a:lnTo>
                    <a:pt x="350783" y="757353"/>
                  </a:lnTo>
                  <a:close/>
                  <a:moveTo>
                    <a:pt x="536358" y="1162658"/>
                  </a:moveTo>
                  <a:lnTo>
                    <a:pt x="498408" y="1162658"/>
                  </a:lnTo>
                  <a:lnTo>
                    <a:pt x="498408" y="976703"/>
                  </a:lnTo>
                  <a:lnTo>
                    <a:pt x="536358" y="976703"/>
                  </a:lnTo>
                  <a:lnTo>
                    <a:pt x="536358" y="1162658"/>
                  </a:lnTo>
                  <a:close/>
                  <a:moveTo>
                    <a:pt x="536358" y="757353"/>
                  </a:moveTo>
                  <a:lnTo>
                    <a:pt x="498408" y="757353"/>
                  </a:lnTo>
                  <a:lnTo>
                    <a:pt x="498408" y="571399"/>
                  </a:lnTo>
                  <a:lnTo>
                    <a:pt x="536358" y="571399"/>
                  </a:lnTo>
                  <a:lnTo>
                    <a:pt x="536358" y="757353"/>
                  </a:lnTo>
                  <a:close/>
                  <a:moveTo>
                    <a:pt x="722060" y="1162658"/>
                  </a:moveTo>
                  <a:lnTo>
                    <a:pt x="684110" y="1162658"/>
                  </a:lnTo>
                  <a:lnTo>
                    <a:pt x="684110" y="976703"/>
                  </a:lnTo>
                  <a:lnTo>
                    <a:pt x="722060" y="976703"/>
                  </a:lnTo>
                  <a:lnTo>
                    <a:pt x="722060" y="1162658"/>
                  </a:lnTo>
                  <a:close/>
                  <a:moveTo>
                    <a:pt x="722060" y="757353"/>
                  </a:moveTo>
                  <a:lnTo>
                    <a:pt x="684110" y="757353"/>
                  </a:lnTo>
                  <a:lnTo>
                    <a:pt x="684110" y="571399"/>
                  </a:lnTo>
                  <a:lnTo>
                    <a:pt x="722060" y="571399"/>
                  </a:lnTo>
                  <a:lnTo>
                    <a:pt x="722060" y="757353"/>
                  </a:lnTo>
                  <a:close/>
                  <a:moveTo>
                    <a:pt x="907761" y="1162658"/>
                  </a:moveTo>
                  <a:lnTo>
                    <a:pt x="869811" y="1162658"/>
                  </a:lnTo>
                  <a:lnTo>
                    <a:pt x="869811" y="976703"/>
                  </a:lnTo>
                  <a:lnTo>
                    <a:pt x="907761" y="976703"/>
                  </a:lnTo>
                  <a:lnTo>
                    <a:pt x="907761" y="1162658"/>
                  </a:lnTo>
                  <a:close/>
                  <a:moveTo>
                    <a:pt x="907761" y="757353"/>
                  </a:moveTo>
                  <a:lnTo>
                    <a:pt x="869811" y="757353"/>
                  </a:lnTo>
                  <a:lnTo>
                    <a:pt x="869811" y="571399"/>
                  </a:lnTo>
                  <a:lnTo>
                    <a:pt x="907761" y="571399"/>
                  </a:lnTo>
                  <a:lnTo>
                    <a:pt x="907761" y="757353"/>
                  </a:lnTo>
                  <a:close/>
                  <a:moveTo>
                    <a:pt x="1093463" y="1162658"/>
                  </a:moveTo>
                  <a:lnTo>
                    <a:pt x="1055513" y="1162658"/>
                  </a:lnTo>
                  <a:lnTo>
                    <a:pt x="1055513" y="976703"/>
                  </a:lnTo>
                  <a:lnTo>
                    <a:pt x="1093463" y="976703"/>
                  </a:lnTo>
                  <a:lnTo>
                    <a:pt x="1093463" y="1162658"/>
                  </a:lnTo>
                  <a:close/>
                  <a:moveTo>
                    <a:pt x="1093463" y="757353"/>
                  </a:moveTo>
                  <a:lnTo>
                    <a:pt x="1055513" y="757353"/>
                  </a:lnTo>
                  <a:lnTo>
                    <a:pt x="1055513" y="571399"/>
                  </a:lnTo>
                  <a:lnTo>
                    <a:pt x="1093463" y="571399"/>
                  </a:lnTo>
                  <a:lnTo>
                    <a:pt x="1093463" y="757353"/>
                  </a:lnTo>
                  <a:close/>
                  <a:moveTo>
                    <a:pt x="1279417" y="1162658"/>
                  </a:moveTo>
                  <a:lnTo>
                    <a:pt x="1241467" y="1162658"/>
                  </a:lnTo>
                  <a:lnTo>
                    <a:pt x="1241467" y="976703"/>
                  </a:lnTo>
                  <a:lnTo>
                    <a:pt x="1279417" y="976703"/>
                  </a:lnTo>
                  <a:lnTo>
                    <a:pt x="1279417" y="1162658"/>
                  </a:lnTo>
                  <a:close/>
                  <a:moveTo>
                    <a:pt x="1279417" y="757353"/>
                  </a:moveTo>
                  <a:lnTo>
                    <a:pt x="1241467" y="757353"/>
                  </a:lnTo>
                  <a:lnTo>
                    <a:pt x="1241467" y="571399"/>
                  </a:lnTo>
                  <a:lnTo>
                    <a:pt x="1279417" y="571399"/>
                  </a:lnTo>
                  <a:lnTo>
                    <a:pt x="1279417" y="757353"/>
                  </a:lnTo>
                  <a:close/>
                  <a:moveTo>
                    <a:pt x="1465371" y="1162658"/>
                  </a:moveTo>
                  <a:lnTo>
                    <a:pt x="1427422" y="1162658"/>
                  </a:lnTo>
                  <a:lnTo>
                    <a:pt x="1427422" y="976703"/>
                  </a:lnTo>
                  <a:lnTo>
                    <a:pt x="1465371" y="976703"/>
                  </a:lnTo>
                  <a:lnTo>
                    <a:pt x="1465371" y="1162658"/>
                  </a:lnTo>
                  <a:close/>
                  <a:moveTo>
                    <a:pt x="1465371" y="757353"/>
                  </a:moveTo>
                  <a:lnTo>
                    <a:pt x="1427422" y="757353"/>
                  </a:lnTo>
                  <a:lnTo>
                    <a:pt x="1427422" y="571399"/>
                  </a:lnTo>
                  <a:lnTo>
                    <a:pt x="1465371" y="571399"/>
                  </a:lnTo>
                  <a:lnTo>
                    <a:pt x="1465371" y="757353"/>
                  </a:lnTo>
                  <a:close/>
                  <a:moveTo>
                    <a:pt x="1627164" y="457549"/>
                  </a:moveTo>
                  <a:lnTo>
                    <a:pt x="308659" y="457549"/>
                  </a:lnTo>
                  <a:lnTo>
                    <a:pt x="308659" y="419599"/>
                  </a:lnTo>
                  <a:lnTo>
                    <a:pt x="1627164" y="419599"/>
                  </a:lnTo>
                  <a:lnTo>
                    <a:pt x="1627164" y="457549"/>
                  </a:lnTo>
                  <a:close/>
                </a:path>
              </a:pathLst>
            </a:custGeom>
            <a:solidFill>
              <a:srgbClr val="F4F8F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4435" name="Google Shape;14435;p71"/>
          <p:cNvGrpSpPr/>
          <p:nvPr/>
        </p:nvGrpSpPr>
        <p:grpSpPr>
          <a:xfrm>
            <a:off x="5633231" y="2750001"/>
            <a:ext cx="580828" cy="580828"/>
            <a:chOff x="5560957" y="2759363"/>
            <a:chExt cx="638911" cy="638911"/>
          </a:xfrm>
        </p:grpSpPr>
        <p:sp>
          <p:nvSpPr>
            <p:cNvPr id="14436" name="Google Shape;14436;p71"/>
            <p:cNvSpPr/>
            <p:nvPr/>
          </p:nvSpPr>
          <p:spPr>
            <a:xfrm>
              <a:off x="5560957" y="2759363"/>
              <a:ext cx="638911" cy="638911"/>
            </a:xfrm>
            <a:prstGeom prst="ellipse">
              <a:avLst/>
            </a:prstGeom>
            <a:solidFill>
              <a:schemeClr val="lt1"/>
            </a:solidFill>
            <a:ln>
              <a:noFill/>
            </a:ln>
            <a:effectLst>
              <a:outerShdw blurRad="253260" algn="ctr" rotWithShape="0">
                <a:srgbClr val="000000">
                  <a:alpha val="20000"/>
                </a:srgbClr>
              </a:outerShdw>
            </a:effectLst>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pic>
          <p:nvPicPr>
            <p:cNvPr id="14437" name="Google Shape;14437;p71"/>
            <p:cNvPicPr preferRelativeResize="0"/>
            <p:nvPr/>
          </p:nvPicPr>
          <p:blipFill rotWithShape="1">
            <a:blip r:embed="rId3">
              <a:alphaModFix/>
            </a:blip>
            <a:srcRect/>
            <a:stretch/>
          </p:blipFill>
          <p:spPr>
            <a:xfrm>
              <a:off x="5665697" y="2829951"/>
              <a:ext cx="440251" cy="440251"/>
            </a:xfrm>
            <a:prstGeom prst="rect">
              <a:avLst/>
            </a:prstGeom>
            <a:noFill/>
            <a:ln>
              <a:noFill/>
            </a:ln>
          </p:spPr>
        </p:pic>
      </p:grpSp>
      <p:sp>
        <p:nvSpPr>
          <p:cNvPr id="14438" name="Google Shape;14438;p71"/>
          <p:cNvSpPr/>
          <p:nvPr/>
        </p:nvSpPr>
        <p:spPr>
          <a:xfrm>
            <a:off x="608012" y="3822063"/>
            <a:ext cx="7398303" cy="2220737"/>
          </a:xfrm>
          <a:prstGeom prst="roundRect">
            <a:avLst>
              <a:gd name="adj" fmla="val 2790"/>
            </a:avLst>
          </a:prstGeom>
          <a:solidFill>
            <a:schemeClr val="lt1"/>
          </a:solidFill>
          <a:ln w="12700" cap="flat" cmpd="sng">
            <a:solidFill>
              <a:srgbClr val="7979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0" i="0" u="none" strike="noStrike" cap="none">
                <a:solidFill>
                  <a:srgbClr val="FFFFFF"/>
                </a:solidFill>
                <a:latin typeface="Arial"/>
                <a:ea typeface="Arial"/>
                <a:cs typeface="Arial"/>
                <a:sym typeface="Arial"/>
              </a:rPr>
              <a:t>V\</a:t>
            </a:r>
            <a:endParaRPr sz="1200" b="0" i="0" u="none" strike="noStrike" cap="none">
              <a:solidFill>
                <a:srgbClr val="FFFFFF"/>
              </a:solidFill>
              <a:latin typeface="Arial"/>
              <a:ea typeface="Arial"/>
              <a:cs typeface="Arial"/>
              <a:sym typeface="Arial"/>
            </a:endParaRPr>
          </a:p>
        </p:txBody>
      </p:sp>
      <p:sp>
        <p:nvSpPr>
          <p:cNvPr id="14439" name="Google Shape;14439;p71"/>
          <p:cNvSpPr txBox="1"/>
          <p:nvPr/>
        </p:nvSpPr>
        <p:spPr>
          <a:xfrm>
            <a:off x="896086" y="3892894"/>
            <a:ext cx="6316536" cy="2359620"/>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B1D36"/>
              </a:buClr>
              <a:buSzPts val="1000"/>
              <a:buFont typeface="Arial"/>
              <a:buNone/>
            </a:pPr>
            <a:r>
              <a:rPr lang="en-US" sz="1400" b="1" i="0" u="none" strike="noStrike" cap="none">
                <a:solidFill>
                  <a:srgbClr val="1B1D36"/>
                </a:solidFill>
                <a:latin typeface="Arial"/>
                <a:ea typeface="Arial"/>
                <a:cs typeface="Arial"/>
                <a:sym typeface="Arial"/>
              </a:rPr>
              <a:t>Sample Customer Scenario: </a:t>
            </a:r>
            <a:endParaRPr/>
          </a:p>
          <a:p>
            <a:pPr marL="0" marR="0" lvl="0" indent="0" algn="l" rtl="0">
              <a:lnSpc>
                <a:spcPct val="100000"/>
              </a:lnSpc>
              <a:spcBef>
                <a:spcPts val="0"/>
              </a:spcBef>
              <a:spcAft>
                <a:spcPts val="0"/>
              </a:spcAft>
              <a:buClr>
                <a:srgbClr val="1B1D36"/>
              </a:buClr>
              <a:buSzPts val="1000"/>
              <a:buFont typeface="Arial"/>
              <a:buNone/>
            </a:pPr>
            <a:endParaRPr sz="400" b="0" i="0" u="none" strike="noStrike" cap="none">
              <a:solidFill>
                <a:srgbClr val="1B1D36"/>
              </a:solidFill>
              <a:latin typeface="Arial"/>
              <a:ea typeface="Arial"/>
              <a:cs typeface="Arial"/>
              <a:sym typeface="Arial"/>
            </a:endParaRPr>
          </a:p>
          <a:p>
            <a:pPr marL="0" marR="0" lvl="0" indent="0" algn="l" rtl="0">
              <a:lnSpc>
                <a:spcPct val="100000"/>
              </a:lnSpc>
              <a:spcBef>
                <a:spcPts val="0"/>
              </a:spcBef>
              <a:spcAft>
                <a:spcPts val="0"/>
              </a:spcAft>
              <a:buClr>
                <a:srgbClr val="1B1D36"/>
              </a:buClr>
              <a:buSzPts val="1000"/>
              <a:buFont typeface="Arial"/>
              <a:buNone/>
            </a:pPr>
            <a:r>
              <a:rPr lang="en-US" sz="1400" b="0" i="0" u="none" strike="noStrike" cap="none">
                <a:solidFill>
                  <a:srgbClr val="1B1D36"/>
                </a:solidFill>
                <a:latin typeface="Arial"/>
                <a:ea typeface="Arial"/>
                <a:cs typeface="Arial"/>
                <a:sym typeface="Arial"/>
              </a:rPr>
              <a:t>Ageing HW/SW incompatible source software stack &amp; modern target infra stack </a:t>
            </a:r>
            <a:endParaRPr sz="1400" b="0" i="0" u="none" strike="noStrike" cap="none">
              <a:solidFill>
                <a:srgbClr val="000000"/>
              </a:solidFill>
              <a:latin typeface="Arial"/>
              <a:ea typeface="Arial"/>
              <a:cs typeface="Arial"/>
              <a:sym typeface="Arial"/>
            </a:endParaRPr>
          </a:p>
          <a:p>
            <a:pPr marL="171450" marR="0" lvl="0" indent="-171450" algn="l" rtl="0">
              <a:lnSpc>
                <a:spcPct val="100000"/>
              </a:lnSpc>
              <a:spcBef>
                <a:spcPts val="4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No infra changes to reduce impact to stable source environment</a:t>
            </a:r>
            <a:endParaRPr sz="1400" b="0" i="0" u="none" strike="noStrike" cap="none">
              <a:solidFill>
                <a:srgbClr val="000000"/>
              </a:solidFill>
              <a:latin typeface="Arial"/>
              <a:ea typeface="Arial"/>
              <a:cs typeface="Arial"/>
              <a:sym typeface="Arial"/>
            </a:endParaRPr>
          </a:p>
          <a:p>
            <a:pPr marL="171450" marR="0" lvl="0" indent="-171450" algn="l" rtl="0">
              <a:lnSpc>
                <a:spcPct val="100000"/>
              </a:lnSpc>
              <a:spcBef>
                <a:spcPts val="4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No investment of time or effort in aging infrastructure </a:t>
            </a:r>
            <a:endParaRPr sz="1400" b="0" i="0" u="none" strike="noStrike" cap="none">
              <a:solidFill>
                <a:srgbClr val="000000"/>
              </a:solidFill>
              <a:latin typeface="Arial"/>
              <a:ea typeface="Arial"/>
              <a:cs typeface="Arial"/>
              <a:sym typeface="Arial"/>
            </a:endParaRPr>
          </a:p>
          <a:p>
            <a:pPr marL="171450" marR="0" lvl="0" indent="-171450" algn="l" rtl="0">
              <a:lnSpc>
                <a:spcPct val="100000"/>
              </a:lnSpc>
              <a:spcBef>
                <a:spcPts val="4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No disruption to existing applications </a:t>
            </a:r>
            <a:endParaRPr sz="1400" b="0" i="0" u="none" strike="noStrike" cap="none">
              <a:solidFill>
                <a:srgbClr val="000000"/>
              </a:solidFill>
              <a:latin typeface="Arial"/>
              <a:ea typeface="Arial"/>
              <a:cs typeface="Arial"/>
              <a:sym typeface="Arial"/>
            </a:endParaRPr>
          </a:p>
          <a:p>
            <a:pPr marL="171450" marR="0" lvl="0" indent="-171450" algn="l" rtl="0">
              <a:lnSpc>
                <a:spcPct val="100000"/>
              </a:lnSpc>
              <a:spcBef>
                <a:spcPts val="4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Scale for aggressive evac deadlines. Execution based planned milestones </a:t>
            </a:r>
            <a:endParaRPr sz="1400" b="0" i="0" u="none" strike="noStrike" cap="none">
              <a:solidFill>
                <a:srgbClr val="000000"/>
              </a:solidFill>
              <a:latin typeface="Arial"/>
              <a:ea typeface="Arial"/>
              <a:cs typeface="Arial"/>
              <a:sym typeface="Arial"/>
            </a:endParaRPr>
          </a:p>
          <a:p>
            <a:pPr marL="171450" marR="0" lvl="0" indent="-171450" algn="l" rtl="0">
              <a:lnSpc>
                <a:spcPct val="100000"/>
              </a:lnSpc>
              <a:spcBef>
                <a:spcPts val="4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Built-in workload networks at destination</a:t>
            </a:r>
            <a:endParaRPr sz="1400" b="0" i="0" u="none" strike="noStrike" cap="none">
              <a:solidFill>
                <a:srgbClr val="000000"/>
              </a:solidFill>
              <a:latin typeface="Arial"/>
              <a:ea typeface="Arial"/>
              <a:cs typeface="Arial"/>
              <a:sym typeface="Arial"/>
            </a:endParaRPr>
          </a:p>
          <a:p>
            <a:pPr marL="171450" marR="0" lvl="0" indent="-171450" algn="l" rtl="0">
              <a:lnSpc>
                <a:spcPct val="100000"/>
              </a:lnSpc>
              <a:spcBef>
                <a:spcPts val="4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Unified/prescriptive/planned approach for variable workload mobility scenarios</a:t>
            </a:r>
            <a:endParaRPr sz="1400" b="0" i="0" u="none" strike="noStrike" cap="none">
              <a:solidFill>
                <a:srgbClr val="000000"/>
              </a:solidFill>
              <a:latin typeface="Arial"/>
              <a:ea typeface="Arial"/>
              <a:cs typeface="Arial"/>
              <a:sym typeface="Arial"/>
            </a:endParaRPr>
          </a:p>
          <a:p>
            <a:pPr marL="171450" marR="0" lvl="0" indent="-107950" algn="l" rtl="0">
              <a:lnSpc>
                <a:spcPct val="100000"/>
              </a:lnSpc>
              <a:spcBef>
                <a:spcPts val="400"/>
              </a:spcBef>
              <a:spcAft>
                <a:spcPts val="0"/>
              </a:spcAft>
              <a:buClr>
                <a:srgbClr val="1B1D36"/>
              </a:buClr>
              <a:buSzPts val="1000"/>
              <a:buFont typeface="Arial"/>
              <a:buNone/>
            </a:pPr>
            <a:endParaRPr sz="1400" b="0" i="0" u="none" strike="noStrike" cap="none">
              <a:solidFill>
                <a:srgbClr val="1B1D36"/>
              </a:solidFill>
              <a:latin typeface="Arial"/>
              <a:ea typeface="Arial"/>
              <a:cs typeface="Arial"/>
              <a:sym typeface="Arial"/>
            </a:endParaRPr>
          </a:p>
        </p:txBody>
      </p:sp>
      <p:sp>
        <p:nvSpPr>
          <p:cNvPr id="14440" name="Google Shape;14440;p71"/>
          <p:cNvSpPr/>
          <p:nvPr/>
        </p:nvSpPr>
        <p:spPr>
          <a:xfrm>
            <a:off x="9256785" y="2320742"/>
            <a:ext cx="444932" cy="465542"/>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14441" name="Google Shape;14441;p71"/>
          <p:cNvSpPr txBox="1"/>
          <p:nvPr/>
        </p:nvSpPr>
        <p:spPr>
          <a:xfrm>
            <a:off x="8380410" y="1600197"/>
            <a:ext cx="3963838" cy="4572000"/>
          </a:xfrm>
          <a:prstGeom prst="rect">
            <a:avLst/>
          </a:prstGeom>
          <a:noFill/>
          <a:ln>
            <a:noFill/>
          </a:ln>
        </p:spPr>
        <p:txBody>
          <a:bodyPr spcFirstLastPara="1" wrap="square" lIns="0" tIns="457200" rIns="594350" bIns="457200" anchor="t" anchorCtr="0">
            <a:noAutofit/>
          </a:bodyPr>
          <a:lstStyle/>
          <a:p>
            <a:pPr marL="171450" marR="0" lvl="0" indent="-171450" algn="l" rtl="0">
              <a:lnSpc>
                <a:spcPct val="100000"/>
              </a:lnSpc>
              <a:spcBef>
                <a:spcPts val="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Certified compatibility between legacy &amp; latest software</a:t>
            </a:r>
            <a:endParaRPr/>
          </a:p>
          <a:p>
            <a:pPr marL="171450" marR="0" lvl="0" indent="-171450" algn="l" rtl="0">
              <a:lnSpc>
                <a:spcPct val="100000"/>
              </a:lnSpc>
              <a:spcBef>
                <a:spcPts val="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Reduction of VC-VC &amp; NSX-NSX cross-site dependencies with Traditional IX Mobility Transport</a:t>
            </a:r>
            <a:endParaRPr/>
          </a:p>
          <a:p>
            <a:pPr marL="171450" marR="0" lvl="0" indent="-171450" algn="l" rtl="0">
              <a:lnSpc>
                <a:spcPct val="100000"/>
              </a:lnSpc>
              <a:spcBef>
                <a:spcPts val="40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Leverages existing compute/networks/storage as is </a:t>
            </a:r>
            <a:endParaRPr/>
          </a:p>
          <a:p>
            <a:pPr marL="171450" marR="0" lvl="0" indent="-171450" algn="l" rtl="0">
              <a:lnSpc>
                <a:spcPct val="100000"/>
              </a:lnSpc>
              <a:spcBef>
                <a:spcPts val="40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Scheduled replication allows high concurrency data prep with minimum VC overhead</a:t>
            </a:r>
            <a:endParaRPr/>
          </a:p>
          <a:p>
            <a:pPr marL="171450" marR="0" lvl="0" indent="-171450" algn="l" rtl="0">
              <a:lnSpc>
                <a:spcPct val="100000"/>
              </a:lnSpc>
              <a:spcBef>
                <a:spcPts val="40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RAV allows large scale data prep with scheduled live switchovers </a:t>
            </a:r>
            <a:endParaRPr/>
          </a:p>
          <a:p>
            <a:pPr marL="171450" marR="0" lvl="0" indent="-171450" algn="l" rtl="0">
              <a:lnSpc>
                <a:spcPct val="100000"/>
              </a:lnSpc>
              <a:spcBef>
                <a:spcPts val="40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Mapped Network extension allows the workloads to remain connected </a:t>
            </a:r>
            <a:endParaRPr/>
          </a:p>
          <a:p>
            <a:pPr marL="171450" marR="0" lvl="0" indent="-171450" algn="l" rtl="0">
              <a:lnSpc>
                <a:spcPct val="100000"/>
              </a:lnSpc>
              <a:spcBef>
                <a:spcPts val="400"/>
              </a:spcBef>
              <a:spcAft>
                <a:spcPts val="0"/>
              </a:spcAft>
              <a:buClr>
                <a:srgbClr val="1B1D36"/>
              </a:buClr>
              <a:buSzPts val="1000"/>
              <a:buFont typeface="Arial"/>
              <a:buChar char="•"/>
            </a:pPr>
            <a:r>
              <a:rPr lang="en-US" sz="1600" b="0" i="0" u="none" strike="noStrike" cap="none">
                <a:solidFill>
                  <a:srgbClr val="005C8A"/>
                </a:solidFill>
                <a:latin typeface="Arial"/>
                <a:ea typeface="Arial"/>
                <a:cs typeface="Arial"/>
                <a:sym typeface="Arial"/>
              </a:rPr>
              <a:t>MON for reduced latency patterns and conditional traffic steering</a:t>
            </a:r>
            <a:endParaRPr/>
          </a:p>
          <a:p>
            <a:pPr marL="171450" marR="0" lvl="0" indent="-107950" algn="l" rtl="0">
              <a:lnSpc>
                <a:spcPct val="110000"/>
              </a:lnSpc>
              <a:spcBef>
                <a:spcPts val="300"/>
              </a:spcBef>
              <a:spcAft>
                <a:spcPts val="0"/>
              </a:spcAft>
              <a:buClr>
                <a:srgbClr val="1B1D36"/>
              </a:buClr>
              <a:buSzPts val="1000"/>
              <a:buFont typeface="Arial"/>
              <a:buNone/>
            </a:pPr>
            <a:endParaRPr sz="1600" b="0" i="0" u="none" strike="noStrike" cap="none">
              <a:solidFill>
                <a:srgbClr val="005C8A"/>
              </a:solidFill>
              <a:latin typeface="Arial"/>
              <a:ea typeface="Arial"/>
              <a:cs typeface="Arial"/>
              <a:sym typeface="Arial"/>
            </a:endParaRPr>
          </a:p>
          <a:p>
            <a:pPr marL="457200" marR="0" lvl="0" indent="-228600" algn="l" rtl="0">
              <a:lnSpc>
                <a:spcPct val="100000"/>
              </a:lnSpc>
              <a:spcBef>
                <a:spcPts val="0"/>
              </a:spcBef>
              <a:spcAft>
                <a:spcPts val="0"/>
              </a:spcAft>
              <a:buClr>
                <a:srgbClr val="666666"/>
              </a:buClr>
              <a:buSzPts val="1440"/>
              <a:buFont typeface="Arial"/>
              <a:buNone/>
            </a:pPr>
            <a:endParaRPr sz="1600" b="0" i="0" u="none" strike="noStrike" cap="none">
              <a:solidFill>
                <a:srgbClr val="005C8A"/>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4446"/>
        <p:cNvGrpSpPr/>
        <p:nvPr/>
      </p:nvGrpSpPr>
      <p:grpSpPr>
        <a:xfrm>
          <a:off x="0" y="0"/>
          <a:ext cx="0" cy="0"/>
          <a:chOff x="0" y="0"/>
          <a:chExt cx="0" cy="0"/>
        </a:xfrm>
      </p:grpSpPr>
      <p:sp>
        <p:nvSpPr>
          <p:cNvPr id="14447" name="Google Shape;14447;p72"/>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VCF Mobility Use Case – Workload Migration to VCF</a:t>
            </a:r>
            <a:endParaRPr/>
          </a:p>
        </p:txBody>
      </p:sp>
      <p:sp>
        <p:nvSpPr>
          <p:cNvPr id="14448" name="Google Shape;14448;p72"/>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Same vCenter (Cluster to Cluster Migration)</a:t>
            </a:r>
            <a:endParaRPr/>
          </a:p>
          <a:p>
            <a:pPr marL="0" lvl="0" indent="0" algn="l" rtl="0">
              <a:lnSpc>
                <a:spcPct val="100000"/>
              </a:lnSpc>
              <a:spcBef>
                <a:spcPts val="1200"/>
              </a:spcBef>
              <a:spcAft>
                <a:spcPts val="0"/>
              </a:spcAft>
              <a:buSzPts val="1800"/>
              <a:buNone/>
            </a:pPr>
            <a:endParaRPr/>
          </a:p>
        </p:txBody>
      </p:sp>
      <p:sp>
        <p:nvSpPr>
          <p:cNvPr id="14449" name="Google Shape;14449;p72"/>
          <p:cNvSpPr txBox="1">
            <a:spLocks noGrp="1"/>
          </p:cNvSpPr>
          <p:nvPr>
            <p:ph type="body" idx="3"/>
          </p:nvPr>
        </p:nvSpPr>
        <p:spPr>
          <a:xfrm>
            <a:off x="0" y="1600201"/>
            <a:ext cx="5893593" cy="4572000"/>
          </a:xfrm>
          <a:prstGeom prst="rect">
            <a:avLst/>
          </a:prstGeom>
          <a:solidFill>
            <a:srgbClr val="F4F8FA"/>
          </a:solidFill>
          <a:ln>
            <a:noFill/>
          </a:ln>
        </p:spPr>
        <p:txBody>
          <a:bodyPr spcFirstLastPara="1" wrap="square" lIns="594350" tIns="457200" rIns="457200" bIns="457200" anchor="t" anchorCtr="0">
            <a:noAutofit/>
          </a:bodyPr>
          <a:lstStyle/>
          <a:p>
            <a:pPr marL="0" lvl="0" indent="-102870" algn="l" rtl="0">
              <a:lnSpc>
                <a:spcPct val="100000"/>
              </a:lnSpc>
              <a:spcBef>
                <a:spcPts val="0"/>
              </a:spcBef>
              <a:spcAft>
                <a:spcPts val="0"/>
              </a:spcAft>
              <a:buSzPts val="1620"/>
              <a:buChar char="​"/>
            </a:pPr>
            <a:r>
              <a:rPr lang="en-US"/>
              <a:t>One platform for workload mobility</a:t>
            </a:r>
            <a:endParaRPr/>
          </a:p>
          <a:p>
            <a:pPr marL="0" lvl="0" indent="-102870" algn="l" rtl="0">
              <a:lnSpc>
                <a:spcPct val="100000"/>
              </a:lnSpc>
              <a:spcBef>
                <a:spcPts val="1200"/>
              </a:spcBef>
              <a:spcAft>
                <a:spcPts val="0"/>
              </a:spcAft>
              <a:buSzPts val="1620"/>
              <a:buChar char="​"/>
            </a:pPr>
            <a:r>
              <a:rPr lang="en-US"/>
              <a:t>Bulk migration for cross-vendor &amp; VM Transformation with inbuilt scheduling</a:t>
            </a:r>
            <a:endParaRPr/>
          </a:p>
          <a:p>
            <a:pPr marL="0" lvl="0" indent="-102870" algn="l" rtl="0">
              <a:lnSpc>
                <a:spcPct val="100000"/>
              </a:lnSpc>
              <a:spcBef>
                <a:spcPts val="1200"/>
              </a:spcBef>
              <a:spcAft>
                <a:spcPts val="0"/>
              </a:spcAft>
              <a:buSzPts val="1620"/>
              <a:buChar char="​"/>
            </a:pPr>
            <a:r>
              <a:rPr lang="en-US"/>
              <a:t>Network extension allows workloads to remain connected &amp; eases VCF adoption over time</a:t>
            </a:r>
            <a:endParaRPr/>
          </a:p>
          <a:p>
            <a:pPr marL="0" lvl="0" indent="-102870" algn="l" rtl="0">
              <a:lnSpc>
                <a:spcPct val="100000"/>
              </a:lnSpc>
              <a:spcBef>
                <a:spcPts val="1200"/>
              </a:spcBef>
              <a:spcAft>
                <a:spcPts val="0"/>
              </a:spcAft>
              <a:buSzPts val="1620"/>
              <a:buChar char="​"/>
            </a:pPr>
            <a:r>
              <a:rPr lang="en-US"/>
              <a:t>Scheduled replication allows high concurrency data prep with minimal VC overhead</a:t>
            </a:r>
            <a:endParaRPr/>
          </a:p>
          <a:p>
            <a:pPr marL="0" lvl="0" indent="-102870" algn="l" rtl="0">
              <a:lnSpc>
                <a:spcPct val="100000"/>
              </a:lnSpc>
              <a:spcBef>
                <a:spcPts val="1200"/>
              </a:spcBef>
              <a:spcAft>
                <a:spcPts val="0"/>
              </a:spcAft>
              <a:buSzPts val="1620"/>
              <a:buChar char="​"/>
            </a:pPr>
            <a:r>
              <a:rPr lang="en-US"/>
              <a:t>RAV allows extra large data prep with scheduled live switchovers</a:t>
            </a:r>
            <a:endParaRPr/>
          </a:p>
          <a:p>
            <a:pPr marL="0" lvl="0" indent="-102870" algn="l" rtl="0">
              <a:lnSpc>
                <a:spcPct val="100000"/>
              </a:lnSpc>
              <a:spcBef>
                <a:spcPts val="1200"/>
              </a:spcBef>
              <a:spcAft>
                <a:spcPts val="0"/>
              </a:spcAft>
              <a:buSzPts val="1620"/>
              <a:buChar char="​"/>
            </a:pPr>
            <a:r>
              <a:rPr lang="en-US"/>
              <a:t>Migration over the traditional HCX transports or directly between clusters in one place</a:t>
            </a:r>
            <a:endParaRPr/>
          </a:p>
          <a:p>
            <a:pPr marL="0" lvl="0" indent="0" algn="l" rtl="0">
              <a:lnSpc>
                <a:spcPct val="100000"/>
              </a:lnSpc>
              <a:spcBef>
                <a:spcPts val="1200"/>
              </a:spcBef>
              <a:spcAft>
                <a:spcPts val="0"/>
              </a:spcAft>
              <a:buSzPts val="1620"/>
              <a:buNone/>
            </a:pPr>
            <a:endParaRPr/>
          </a:p>
          <a:p>
            <a:pPr marL="0" lvl="0" indent="0" algn="l" rtl="0">
              <a:lnSpc>
                <a:spcPct val="100000"/>
              </a:lnSpc>
              <a:spcBef>
                <a:spcPts val="1200"/>
              </a:spcBef>
              <a:spcAft>
                <a:spcPts val="0"/>
              </a:spcAft>
              <a:buSzPts val="1620"/>
              <a:buNone/>
            </a:pPr>
            <a:endParaRPr/>
          </a:p>
          <a:p>
            <a:pPr marL="0" lvl="0" indent="0" algn="l" rtl="0">
              <a:lnSpc>
                <a:spcPct val="100000"/>
              </a:lnSpc>
              <a:spcBef>
                <a:spcPts val="1200"/>
              </a:spcBef>
              <a:spcAft>
                <a:spcPts val="0"/>
              </a:spcAft>
              <a:buSzPts val="1620"/>
              <a:buNone/>
            </a:pPr>
            <a:endParaRPr/>
          </a:p>
          <a:p>
            <a:pPr marL="0" lvl="0" indent="0" algn="l" rtl="0">
              <a:lnSpc>
                <a:spcPct val="100000"/>
              </a:lnSpc>
              <a:spcBef>
                <a:spcPts val="1200"/>
              </a:spcBef>
              <a:spcAft>
                <a:spcPts val="0"/>
              </a:spcAft>
              <a:buSzPts val="1620"/>
              <a:buNone/>
            </a:pPr>
            <a:endParaRPr/>
          </a:p>
        </p:txBody>
      </p:sp>
      <p:grpSp>
        <p:nvGrpSpPr>
          <p:cNvPr id="14450" name="Google Shape;14450;p72"/>
          <p:cNvGrpSpPr/>
          <p:nvPr/>
        </p:nvGrpSpPr>
        <p:grpSpPr>
          <a:xfrm>
            <a:off x="6067123" y="1684175"/>
            <a:ext cx="5488429" cy="4488026"/>
            <a:chOff x="1654607" y="1739286"/>
            <a:chExt cx="5343747" cy="4369716"/>
          </a:xfrm>
        </p:grpSpPr>
        <p:sp>
          <p:nvSpPr>
            <p:cNvPr id="14451" name="Google Shape;14451;p72"/>
            <p:cNvSpPr/>
            <p:nvPr/>
          </p:nvSpPr>
          <p:spPr>
            <a:xfrm>
              <a:off x="1654607" y="1739286"/>
              <a:ext cx="5343747" cy="4369716"/>
            </a:xfrm>
            <a:prstGeom prst="roundRect">
              <a:avLst>
                <a:gd name="adj" fmla="val 1498"/>
              </a:avLst>
            </a:prstGeom>
            <a:solidFill>
              <a:schemeClr val="lt1"/>
            </a:solidFill>
            <a:ln w="12700" cap="flat" cmpd="sng">
              <a:solidFill>
                <a:srgbClr val="777777"/>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452" name="Google Shape;14452;p72"/>
            <p:cNvSpPr/>
            <p:nvPr/>
          </p:nvSpPr>
          <p:spPr>
            <a:xfrm>
              <a:off x="5227800" y="5415762"/>
              <a:ext cx="1209642" cy="316199"/>
            </a:xfrm>
            <a:prstGeom prst="rect">
              <a:avLst/>
            </a:prstGeom>
            <a:solidFill>
              <a:srgbClr val="FCFEF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Arial"/>
                <a:buNone/>
              </a:pPr>
              <a:endParaRPr sz="1200" b="0" i="0" u="none" strike="noStrike" cap="none">
                <a:solidFill>
                  <a:srgbClr val="FFFFFF"/>
                </a:solidFill>
                <a:latin typeface="Arial"/>
                <a:ea typeface="Arial"/>
                <a:cs typeface="Arial"/>
                <a:sym typeface="Arial"/>
              </a:endParaRPr>
            </a:p>
          </p:txBody>
        </p:sp>
      </p:grpSp>
      <p:cxnSp>
        <p:nvCxnSpPr>
          <p:cNvPr id="14453" name="Google Shape;14453;p72"/>
          <p:cNvCxnSpPr/>
          <p:nvPr/>
        </p:nvCxnSpPr>
        <p:spPr>
          <a:xfrm>
            <a:off x="7716765" y="3128758"/>
            <a:ext cx="2212901" cy="188"/>
          </a:xfrm>
          <a:prstGeom prst="straightConnector1">
            <a:avLst/>
          </a:prstGeom>
          <a:noFill/>
          <a:ln w="25400" cap="flat" cmpd="sng">
            <a:solidFill>
              <a:schemeClr val="accent2"/>
            </a:solidFill>
            <a:prstDash val="solid"/>
            <a:miter lim="800000"/>
            <a:headEnd type="none" w="sm" len="sm"/>
            <a:tailEnd type="triangle" w="med" len="med"/>
          </a:ln>
        </p:spPr>
      </p:cxnSp>
      <p:grpSp>
        <p:nvGrpSpPr>
          <p:cNvPr id="14454" name="Google Shape;14454;p72"/>
          <p:cNvGrpSpPr/>
          <p:nvPr/>
        </p:nvGrpSpPr>
        <p:grpSpPr>
          <a:xfrm>
            <a:off x="6466777" y="2666955"/>
            <a:ext cx="1249988" cy="930221"/>
            <a:chOff x="924967" y="3484382"/>
            <a:chExt cx="1249988" cy="930221"/>
          </a:xfrm>
        </p:grpSpPr>
        <p:sp>
          <p:nvSpPr>
            <p:cNvPr id="14455" name="Google Shape;14455;p72"/>
            <p:cNvSpPr/>
            <p:nvPr/>
          </p:nvSpPr>
          <p:spPr>
            <a:xfrm>
              <a:off x="924967" y="3484382"/>
              <a:ext cx="1249988" cy="930221"/>
            </a:xfrm>
            <a:prstGeom prst="rect">
              <a:avLst/>
            </a:prstGeom>
            <a:noFill/>
            <a:ln w="15875" cap="flat" cmpd="sng">
              <a:solidFill>
                <a:schemeClr val="accent2"/>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nvGrpSpPr>
            <p:cNvPr id="14456" name="Google Shape;14456;p72"/>
            <p:cNvGrpSpPr/>
            <p:nvPr/>
          </p:nvGrpSpPr>
          <p:grpSpPr>
            <a:xfrm>
              <a:off x="961283" y="3495770"/>
              <a:ext cx="465299" cy="907444"/>
              <a:chOff x="961283" y="3507348"/>
              <a:chExt cx="465299" cy="907444"/>
            </a:xfrm>
          </p:grpSpPr>
          <p:pic>
            <p:nvPicPr>
              <p:cNvPr id="14457" name="Google Shape;14457;p72"/>
              <p:cNvPicPr preferRelativeResize="0"/>
              <p:nvPr/>
            </p:nvPicPr>
            <p:blipFill rotWithShape="1">
              <a:blip r:embed="rId3">
                <a:alphaModFix/>
              </a:blip>
              <a:srcRect/>
              <a:stretch/>
            </p:blipFill>
            <p:spPr>
              <a:xfrm>
                <a:off x="961283" y="3949493"/>
                <a:ext cx="465299" cy="465299"/>
              </a:xfrm>
              <a:prstGeom prst="rect">
                <a:avLst/>
              </a:prstGeom>
              <a:noFill/>
              <a:ln>
                <a:noFill/>
              </a:ln>
            </p:spPr>
          </p:pic>
          <p:pic>
            <p:nvPicPr>
              <p:cNvPr id="14458" name="Google Shape;14458;p72"/>
              <p:cNvPicPr preferRelativeResize="0"/>
              <p:nvPr/>
            </p:nvPicPr>
            <p:blipFill rotWithShape="1">
              <a:blip r:embed="rId3">
                <a:alphaModFix/>
              </a:blip>
              <a:srcRect/>
              <a:stretch/>
            </p:blipFill>
            <p:spPr>
              <a:xfrm>
                <a:off x="961283" y="3507348"/>
                <a:ext cx="465299" cy="465299"/>
              </a:xfrm>
              <a:prstGeom prst="rect">
                <a:avLst/>
              </a:prstGeom>
              <a:noFill/>
              <a:ln>
                <a:noFill/>
              </a:ln>
            </p:spPr>
          </p:pic>
        </p:grpSp>
        <p:grpSp>
          <p:nvGrpSpPr>
            <p:cNvPr id="14459" name="Google Shape;14459;p72"/>
            <p:cNvGrpSpPr/>
            <p:nvPr/>
          </p:nvGrpSpPr>
          <p:grpSpPr>
            <a:xfrm>
              <a:off x="1515512" y="3650049"/>
              <a:ext cx="594384" cy="598886"/>
              <a:chOff x="1515512" y="3697969"/>
              <a:chExt cx="594384" cy="598886"/>
            </a:xfrm>
          </p:grpSpPr>
          <p:pic>
            <p:nvPicPr>
              <p:cNvPr id="14460" name="Google Shape;14460;p72"/>
              <p:cNvPicPr preferRelativeResize="0"/>
              <p:nvPr/>
            </p:nvPicPr>
            <p:blipFill rotWithShape="1">
              <a:blip r:embed="rId4">
                <a:alphaModFix/>
              </a:blip>
              <a:srcRect/>
              <a:stretch/>
            </p:blipFill>
            <p:spPr>
              <a:xfrm>
                <a:off x="1515512" y="4018963"/>
                <a:ext cx="277892" cy="277892"/>
              </a:xfrm>
              <a:prstGeom prst="rect">
                <a:avLst/>
              </a:prstGeom>
              <a:noFill/>
              <a:ln>
                <a:noFill/>
              </a:ln>
            </p:spPr>
          </p:pic>
          <p:pic>
            <p:nvPicPr>
              <p:cNvPr id="14461" name="Google Shape;14461;p72"/>
              <p:cNvPicPr preferRelativeResize="0"/>
              <p:nvPr/>
            </p:nvPicPr>
            <p:blipFill rotWithShape="1">
              <a:blip r:embed="rId5">
                <a:alphaModFix/>
              </a:blip>
              <a:srcRect/>
              <a:stretch/>
            </p:blipFill>
            <p:spPr>
              <a:xfrm>
                <a:off x="1832004" y="3697969"/>
                <a:ext cx="277892" cy="277892"/>
              </a:xfrm>
              <a:prstGeom prst="rect">
                <a:avLst/>
              </a:prstGeom>
              <a:noFill/>
              <a:ln>
                <a:noFill/>
              </a:ln>
            </p:spPr>
          </p:pic>
          <p:pic>
            <p:nvPicPr>
              <p:cNvPr id="14462" name="Google Shape;14462;p72"/>
              <p:cNvPicPr preferRelativeResize="0"/>
              <p:nvPr/>
            </p:nvPicPr>
            <p:blipFill rotWithShape="1">
              <a:blip r:embed="rId6">
                <a:alphaModFix/>
              </a:blip>
              <a:srcRect/>
              <a:stretch/>
            </p:blipFill>
            <p:spPr>
              <a:xfrm>
                <a:off x="1832004" y="4018963"/>
                <a:ext cx="277892" cy="277892"/>
              </a:xfrm>
              <a:prstGeom prst="rect">
                <a:avLst/>
              </a:prstGeom>
              <a:noFill/>
              <a:ln>
                <a:noFill/>
              </a:ln>
            </p:spPr>
          </p:pic>
          <p:pic>
            <p:nvPicPr>
              <p:cNvPr id="14463" name="Google Shape;14463;p72"/>
              <p:cNvPicPr preferRelativeResize="0"/>
              <p:nvPr/>
            </p:nvPicPr>
            <p:blipFill rotWithShape="1">
              <a:blip r:embed="rId7">
                <a:alphaModFix/>
              </a:blip>
              <a:srcRect/>
              <a:stretch/>
            </p:blipFill>
            <p:spPr>
              <a:xfrm>
                <a:off x="1515512" y="3697969"/>
                <a:ext cx="277892" cy="277892"/>
              </a:xfrm>
              <a:prstGeom prst="rect">
                <a:avLst/>
              </a:prstGeom>
              <a:noFill/>
              <a:ln>
                <a:noFill/>
              </a:ln>
            </p:spPr>
          </p:pic>
        </p:grpSp>
      </p:grpSp>
      <p:sp>
        <p:nvSpPr>
          <p:cNvPr id="14464" name="Google Shape;14464;p72"/>
          <p:cNvSpPr/>
          <p:nvPr/>
        </p:nvSpPr>
        <p:spPr>
          <a:xfrm>
            <a:off x="7196268" y="2064970"/>
            <a:ext cx="3409889" cy="539105"/>
          </a:xfrm>
          <a:prstGeom prst="triangle">
            <a:avLst>
              <a:gd name="adj" fmla="val 50000"/>
            </a:avLst>
          </a:prstGeom>
          <a:gradFill>
            <a:gsLst>
              <a:gs pos="0">
                <a:srgbClr val="95BCC4"/>
              </a:gs>
              <a:gs pos="52999">
                <a:srgbClr val="95BCC4">
                  <a:alpha val="21568"/>
                </a:srgbClr>
              </a:gs>
              <a:gs pos="100000">
                <a:srgbClr val="95BCC4">
                  <a:alpha val="0"/>
                </a:srgbClr>
              </a:gs>
            </a:gsLst>
            <a:lin ang="540000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465" name="Google Shape;14465;p72"/>
          <p:cNvSpPr/>
          <p:nvPr/>
        </p:nvSpPr>
        <p:spPr>
          <a:xfrm>
            <a:off x="8175400" y="1797887"/>
            <a:ext cx="1451623" cy="328255"/>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Arial"/>
              <a:buNone/>
            </a:pPr>
            <a:r>
              <a:rPr lang="en-US" sz="1200" b="0" i="0" u="none" strike="noStrike" cap="none">
                <a:solidFill>
                  <a:srgbClr val="FFFFFF"/>
                </a:solidFill>
                <a:latin typeface="Arial"/>
                <a:ea typeface="Arial"/>
                <a:cs typeface="Arial"/>
                <a:sym typeface="Arial"/>
              </a:rPr>
              <a:t>vCenter Server</a:t>
            </a:r>
            <a:endParaRPr sz="1800" b="0" i="0" u="none" strike="noStrike" cap="none">
              <a:solidFill>
                <a:srgbClr val="000000"/>
              </a:solidFill>
              <a:latin typeface="Arial"/>
              <a:ea typeface="Arial"/>
              <a:cs typeface="Arial"/>
              <a:sym typeface="Arial"/>
            </a:endParaRPr>
          </a:p>
        </p:txBody>
      </p:sp>
      <p:grpSp>
        <p:nvGrpSpPr>
          <p:cNvPr id="14466" name="Google Shape;14466;p72"/>
          <p:cNvGrpSpPr/>
          <p:nvPr/>
        </p:nvGrpSpPr>
        <p:grpSpPr>
          <a:xfrm>
            <a:off x="8564470" y="3331176"/>
            <a:ext cx="576663" cy="638882"/>
            <a:chOff x="3778290" y="4221840"/>
            <a:chExt cx="656353" cy="727169"/>
          </a:xfrm>
        </p:grpSpPr>
        <p:grpSp>
          <p:nvGrpSpPr>
            <p:cNvPr id="14467" name="Google Shape;14467;p72"/>
            <p:cNvGrpSpPr/>
            <p:nvPr/>
          </p:nvGrpSpPr>
          <p:grpSpPr>
            <a:xfrm>
              <a:off x="3778290" y="4628578"/>
              <a:ext cx="656353" cy="320431"/>
              <a:chOff x="3745473" y="4612557"/>
              <a:chExt cx="721988" cy="352474"/>
            </a:xfrm>
          </p:grpSpPr>
          <p:sp>
            <p:nvSpPr>
              <p:cNvPr id="14468" name="Google Shape;14468;p72"/>
              <p:cNvSpPr/>
              <p:nvPr/>
            </p:nvSpPr>
            <p:spPr>
              <a:xfrm>
                <a:off x="3745473" y="4612557"/>
                <a:ext cx="133191" cy="132236"/>
              </a:xfrm>
              <a:custGeom>
                <a:avLst/>
                <a:gdLst/>
                <a:ahLst/>
                <a:cxnLst/>
                <a:rect l="l" t="t" r="r" b="b"/>
                <a:pathLst>
                  <a:path w="133191" h="132236" extrusionOk="0">
                    <a:moveTo>
                      <a:pt x="133191" y="0"/>
                    </a:moveTo>
                    <a:lnTo>
                      <a:pt x="74795" y="132237"/>
                    </a:lnTo>
                    <a:lnTo>
                      <a:pt x="58396" y="132237"/>
                    </a:lnTo>
                    <a:lnTo>
                      <a:pt x="0" y="0"/>
                    </a:lnTo>
                    <a:lnTo>
                      <a:pt x="16363" y="0"/>
                    </a:lnTo>
                    <a:lnTo>
                      <a:pt x="66650" y="113750"/>
                    </a:lnTo>
                    <a:lnTo>
                      <a:pt x="116756" y="0"/>
                    </a:lnTo>
                    <a:lnTo>
                      <a:pt x="133155"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69" name="Google Shape;14469;p72"/>
              <p:cNvSpPr/>
              <p:nvPr/>
            </p:nvSpPr>
            <p:spPr>
              <a:xfrm>
                <a:off x="3899390" y="4612557"/>
                <a:ext cx="128318" cy="132236"/>
              </a:xfrm>
              <a:custGeom>
                <a:avLst/>
                <a:gdLst/>
                <a:ahLst/>
                <a:cxnLst/>
                <a:rect l="l" t="t" r="r" b="b"/>
                <a:pathLst>
                  <a:path w="128318" h="132236" extrusionOk="0">
                    <a:moveTo>
                      <a:pt x="0" y="0"/>
                    </a:moveTo>
                    <a:lnTo>
                      <a:pt x="15017" y="0"/>
                    </a:lnTo>
                    <a:lnTo>
                      <a:pt x="64141" y="92213"/>
                    </a:lnTo>
                    <a:lnTo>
                      <a:pt x="113302" y="0"/>
                    </a:lnTo>
                    <a:lnTo>
                      <a:pt x="128319" y="0"/>
                    </a:lnTo>
                    <a:lnTo>
                      <a:pt x="128319" y="132237"/>
                    </a:lnTo>
                    <a:lnTo>
                      <a:pt x="113302" y="132237"/>
                    </a:lnTo>
                    <a:lnTo>
                      <a:pt x="113302" y="32324"/>
                    </a:lnTo>
                    <a:lnTo>
                      <a:pt x="64141" y="124537"/>
                    </a:lnTo>
                    <a:lnTo>
                      <a:pt x="15017" y="32324"/>
                    </a:lnTo>
                    <a:lnTo>
                      <a:pt x="15017" y="132237"/>
                    </a:lnTo>
                    <a:lnTo>
                      <a:pt x="0" y="132237"/>
                    </a:lnTo>
                    <a:lnTo>
                      <a:pt x="0"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0" name="Google Shape;14470;p72"/>
              <p:cNvSpPr/>
              <p:nvPr/>
            </p:nvSpPr>
            <p:spPr>
              <a:xfrm>
                <a:off x="4046835" y="4645281"/>
                <a:ext cx="147408" cy="99513"/>
              </a:xfrm>
              <a:custGeom>
                <a:avLst/>
                <a:gdLst/>
                <a:ahLst/>
                <a:cxnLst/>
                <a:rect l="l" t="t" r="r" b="b"/>
                <a:pathLst>
                  <a:path w="147408" h="99513" extrusionOk="0">
                    <a:moveTo>
                      <a:pt x="0" y="0"/>
                    </a:moveTo>
                    <a:lnTo>
                      <a:pt x="15417" y="0"/>
                    </a:lnTo>
                    <a:lnTo>
                      <a:pt x="40288" y="80265"/>
                    </a:lnTo>
                    <a:lnTo>
                      <a:pt x="67450" y="0"/>
                    </a:lnTo>
                    <a:lnTo>
                      <a:pt x="79958" y="0"/>
                    </a:lnTo>
                    <a:lnTo>
                      <a:pt x="107120" y="80265"/>
                    </a:lnTo>
                    <a:lnTo>
                      <a:pt x="131991" y="0"/>
                    </a:lnTo>
                    <a:lnTo>
                      <a:pt x="147409" y="0"/>
                    </a:lnTo>
                    <a:lnTo>
                      <a:pt x="113883" y="99513"/>
                    </a:lnTo>
                    <a:lnTo>
                      <a:pt x="100212" y="99513"/>
                    </a:lnTo>
                    <a:lnTo>
                      <a:pt x="73813" y="20012"/>
                    </a:lnTo>
                    <a:lnTo>
                      <a:pt x="47015" y="99513"/>
                    </a:lnTo>
                    <a:lnTo>
                      <a:pt x="33343" y="99513"/>
                    </a:lnTo>
                    <a:lnTo>
                      <a:pt x="0"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1" name="Google Shape;14471;p72"/>
              <p:cNvSpPr/>
              <p:nvPr/>
            </p:nvSpPr>
            <p:spPr>
              <a:xfrm>
                <a:off x="4199297" y="4642993"/>
                <a:ext cx="85994" cy="104125"/>
              </a:xfrm>
              <a:custGeom>
                <a:avLst/>
                <a:gdLst/>
                <a:ahLst/>
                <a:cxnLst/>
                <a:rect l="l" t="t" r="r" b="b"/>
                <a:pathLst>
                  <a:path w="85994" h="104125" extrusionOk="0">
                    <a:moveTo>
                      <a:pt x="75668" y="11259"/>
                    </a:moveTo>
                    <a:cubicBezTo>
                      <a:pt x="82540" y="18777"/>
                      <a:pt x="85994" y="28728"/>
                      <a:pt x="85994" y="41186"/>
                    </a:cubicBezTo>
                    <a:lnTo>
                      <a:pt x="85994" y="101802"/>
                    </a:lnTo>
                    <a:lnTo>
                      <a:pt x="71523" y="101802"/>
                    </a:lnTo>
                    <a:lnTo>
                      <a:pt x="71523" y="86221"/>
                    </a:lnTo>
                    <a:cubicBezTo>
                      <a:pt x="68068" y="91887"/>
                      <a:pt x="63087" y="96281"/>
                      <a:pt x="56578" y="99405"/>
                    </a:cubicBezTo>
                    <a:cubicBezTo>
                      <a:pt x="50106" y="102564"/>
                      <a:pt x="43379" y="104126"/>
                      <a:pt x="36434" y="104126"/>
                    </a:cubicBezTo>
                    <a:cubicBezTo>
                      <a:pt x="25780" y="104126"/>
                      <a:pt x="17017" y="101220"/>
                      <a:pt x="10218" y="95446"/>
                    </a:cubicBezTo>
                    <a:cubicBezTo>
                      <a:pt x="3418" y="89671"/>
                      <a:pt x="0" y="81972"/>
                      <a:pt x="0" y="72347"/>
                    </a:cubicBezTo>
                    <a:cubicBezTo>
                      <a:pt x="0" y="65919"/>
                      <a:pt x="1745" y="60180"/>
                      <a:pt x="5309" y="55132"/>
                    </a:cubicBezTo>
                    <a:cubicBezTo>
                      <a:pt x="8836" y="50047"/>
                      <a:pt x="13599" y="46161"/>
                      <a:pt x="19562" y="43401"/>
                    </a:cubicBezTo>
                    <a:cubicBezTo>
                      <a:pt x="25526" y="40641"/>
                      <a:pt x="32071" y="39261"/>
                      <a:pt x="39125" y="39261"/>
                    </a:cubicBezTo>
                    <a:cubicBezTo>
                      <a:pt x="49160" y="39261"/>
                      <a:pt x="59923" y="41113"/>
                      <a:pt x="71486" y="44854"/>
                    </a:cubicBezTo>
                    <a:lnTo>
                      <a:pt x="71486" y="41186"/>
                    </a:lnTo>
                    <a:cubicBezTo>
                      <a:pt x="71486" y="33086"/>
                      <a:pt x="69414" y="26259"/>
                      <a:pt x="65305" y="20702"/>
                    </a:cubicBezTo>
                    <a:cubicBezTo>
                      <a:pt x="61196" y="15109"/>
                      <a:pt x="54251" y="12312"/>
                      <a:pt x="44506" y="12312"/>
                    </a:cubicBezTo>
                    <a:cubicBezTo>
                      <a:pt x="39997" y="12312"/>
                      <a:pt x="35416" y="13111"/>
                      <a:pt x="30725" y="14709"/>
                    </a:cubicBezTo>
                    <a:cubicBezTo>
                      <a:pt x="26035" y="16307"/>
                      <a:pt x="20944" y="18523"/>
                      <a:pt x="15417" y="21355"/>
                    </a:cubicBezTo>
                    <a:lnTo>
                      <a:pt x="9636" y="9625"/>
                    </a:lnTo>
                    <a:cubicBezTo>
                      <a:pt x="22471" y="3196"/>
                      <a:pt x="34434" y="0"/>
                      <a:pt x="45488" y="0"/>
                    </a:cubicBezTo>
                    <a:cubicBezTo>
                      <a:pt x="58723" y="0"/>
                      <a:pt x="68759" y="3741"/>
                      <a:pt x="75631" y="11259"/>
                    </a:cubicBezTo>
                    <a:close/>
                    <a:moveTo>
                      <a:pt x="59269" y="85930"/>
                    </a:moveTo>
                    <a:cubicBezTo>
                      <a:pt x="65632" y="82262"/>
                      <a:pt x="69705" y="77177"/>
                      <a:pt x="71523" y="70640"/>
                    </a:cubicBezTo>
                    <a:lnTo>
                      <a:pt x="71523" y="55422"/>
                    </a:lnTo>
                    <a:cubicBezTo>
                      <a:pt x="61741" y="52735"/>
                      <a:pt x="51742" y="51391"/>
                      <a:pt x="41452" y="51391"/>
                    </a:cubicBezTo>
                    <a:cubicBezTo>
                      <a:pt x="33852" y="51391"/>
                      <a:pt x="27416" y="53316"/>
                      <a:pt x="22071" y="57166"/>
                    </a:cubicBezTo>
                    <a:cubicBezTo>
                      <a:pt x="16726" y="61016"/>
                      <a:pt x="14072" y="65882"/>
                      <a:pt x="14072" y="71802"/>
                    </a:cubicBezTo>
                    <a:cubicBezTo>
                      <a:pt x="14072" y="77722"/>
                      <a:pt x="16399" y="82625"/>
                      <a:pt x="21090" y="86148"/>
                    </a:cubicBezTo>
                    <a:cubicBezTo>
                      <a:pt x="25780" y="89671"/>
                      <a:pt x="31707" y="91451"/>
                      <a:pt x="38907" y="91451"/>
                    </a:cubicBezTo>
                    <a:cubicBezTo>
                      <a:pt x="46106" y="91451"/>
                      <a:pt x="52869" y="89635"/>
                      <a:pt x="59232" y="85967"/>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2" name="Google Shape;14472;p72"/>
              <p:cNvSpPr/>
              <p:nvPr/>
            </p:nvSpPr>
            <p:spPr>
              <a:xfrm>
                <a:off x="4312163" y="4642956"/>
                <a:ext cx="53014" cy="101837"/>
              </a:xfrm>
              <a:custGeom>
                <a:avLst/>
                <a:gdLst/>
                <a:ahLst/>
                <a:cxnLst/>
                <a:rect l="l" t="t" r="r" b="b"/>
                <a:pathLst>
                  <a:path w="53014" h="101837" extrusionOk="0">
                    <a:moveTo>
                      <a:pt x="29125" y="5884"/>
                    </a:moveTo>
                    <a:cubicBezTo>
                      <a:pt x="35925" y="1961"/>
                      <a:pt x="43888" y="0"/>
                      <a:pt x="53015" y="0"/>
                    </a:cubicBezTo>
                    <a:lnTo>
                      <a:pt x="53015" y="12893"/>
                    </a:lnTo>
                    <a:cubicBezTo>
                      <a:pt x="45561" y="12893"/>
                      <a:pt x="38907" y="14310"/>
                      <a:pt x="33052" y="17142"/>
                    </a:cubicBezTo>
                    <a:cubicBezTo>
                      <a:pt x="27198" y="19975"/>
                      <a:pt x="22653" y="23898"/>
                      <a:pt x="19381" y="28982"/>
                    </a:cubicBezTo>
                    <a:cubicBezTo>
                      <a:pt x="16108" y="34067"/>
                      <a:pt x="14472" y="39805"/>
                      <a:pt x="14472" y="46197"/>
                    </a:cubicBezTo>
                    <a:lnTo>
                      <a:pt x="14472" y="101838"/>
                    </a:lnTo>
                    <a:lnTo>
                      <a:pt x="0" y="101838"/>
                    </a:lnTo>
                    <a:lnTo>
                      <a:pt x="0" y="2324"/>
                    </a:lnTo>
                    <a:lnTo>
                      <a:pt x="14472" y="2324"/>
                    </a:lnTo>
                    <a:lnTo>
                      <a:pt x="14472" y="21755"/>
                    </a:lnTo>
                    <a:cubicBezTo>
                      <a:pt x="17417" y="15072"/>
                      <a:pt x="22289" y="9806"/>
                      <a:pt x="29125" y="5884"/>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3" name="Google Shape;14473;p72"/>
              <p:cNvSpPr/>
              <p:nvPr/>
            </p:nvSpPr>
            <p:spPr>
              <a:xfrm>
                <a:off x="4371068" y="4642993"/>
                <a:ext cx="96393" cy="104125"/>
              </a:xfrm>
              <a:custGeom>
                <a:avLst/>
                <a:gdLst/>
                <a:ahLst/>
                <a:cxnLst/>
                <a:rect l="l" t="t" r="r" b="b"/>
                <a:pathLst>
                  <a:path w="96393" h="104125" extrusionOk="0">
                    <a:moveTo>
                      <a:pt x="68068" y="87746"/>
                    </a:moveTo>
                    <a:cubicBezTo>
                      <a:pt x="74032" y="85422"/>
                      <a:pt x="78577" y="82625"/>
                      <a:pt x="81667" y="79284"/>
                    </a:cubicBezTo>
                    <a:lnTo>
                      <a:pt x="90540" y="88727"/>
                    </a:lnTo>
                    <a:cubicBezTo>
                      <a:pt x="86285" y="93339"/>
                      <a:pt x="80358" y="97080"/>
                      <a:pt x="72723" y="99877"/>
                    </a:cubicBezTo>
                    <a:cubicBezTo>
                      <a:pt x="65087" y="102710"/>
                      <a:pt x="57669" y="104126"/>
                      <a:pt x="50469" y="104126"/>
                    </a:cubicBezTo>
                    <a:cubicBezTo>
                      <a:pt x="41597" y="104126"/>
                      <a:pt x="33307" y="101874"/>
                      <a:pt x="25598" y="97371"/>
                    </a:cubicBezTo>
                    <a:cubicBezTo>
                      <a:pt x="17890" y="92867"/>
                      <a:pt x="11672" y="86620"/>
                      <a:pt x="7018" y="78594"/>
                    </a:cubicBezTo>
                    <a:cubicBezTo>
                      <a:pt x="2327" y="70567"/>
                      <a:pt x="0" y="61633"/>
                      <a:pt x="0" y="51754"/>
                    </a:cubicBezTo>
                    <a:cubicBezTo>
                      <a:pt x="0" y="41876"/>
                      <a:pt x="2218" y="33341"/>
                      <a:pt x="6654" y="25387"/>
                    </a:cubicBezTo>
                    <a:cubicBezTo>
                      <a:pt x="11090" y="17433"/>
                      <a:pt x="17053" y="11223"/>
                      <a:pt x="24580" y="6719"/>
                    </a:cubicBezTo>
                    <a:cubicBezTo>
                      <a:pt x="32107" y="2215"/>
                      <a:pt x="40288" y="0"/>
                      <a:pt x="49160" y="0"/>
                    </a:cubicBezTo>
                    <a:cubicBezTo>
                      <a:pt x="64069" y="0"/>
                      <a:pt x="75668" y="5194"/>
                      <a:pt x="83958" y="15581"/>
                    </a:cubicBezTo>
                    <a:cubicBezTo>
                      <a:pt x="92249" y="25968"/>
                      <a:pt x="96394" y="39951"/>
                      <a:pt x="96394" y="57529"/>
                    </a:cubicBezTo>
                    <a:lnTo>
                      <a:pt x="14872" y="57529"/>
                    </a:lnTo>
                    <a:cubicBezTo>
                      <a:pt x="15890" y="67408"/>
                      <a:pt x="19671" y="75507"/>
                      <a:pt x="26144" y="81790"/>
                    </a:cubicBezTo>
                    <a:cubicBezTo>
                      <a:pt x="32616" y="88073"/>
                      <a:pt x="40688" y="91233"/>
                      <a:pt x="50324" y="91233"/>
                    </a:cubicBezTo>
                    <a:cubicBezTo>
                      <a:pt x="56215" y="91233"/>
                      <a:pt x="62178" y="90071"/>
                      <a:pt x="68141" y="87782"/>
                    </a:cubicBezTo>
                    <a:close/>
                    <a:moveTo>
                      <a:pt x="26544" y="21646"/>
                    </a:moveTo>
                    <a:cubicBezTo>
                      <a:pt x="20108" y="27493"/>
                      <a:pt x="16253" y="35157"/>
                      <a:pt x="14981" y="44636"/>
                    </a:cubicBezTo>
                    <a:lnTo>
                      <a:pt x="82031" y="44636"/>
                    </a:lnTo>
                    <a:cubicBezTo>
                      <a:pt x="81013" y="35157"/>
                      <a:pt x="77740" y="27457"/>
                      <a:pt x="72213" y="21646"/>
                    </a:cubicBezTo>
                    <a:cubicBezTo>
                      <a:pt x="66687" y="15799"/>
                      <a:pt x="59160" y="12893"/>
                      <a:pt x="49669" y="12893"/>
                    </a:cubicBezTo>
                    <a:cubicBezTo>
                      <a:pt x="40688" y="12893"/>
                      <a:pt x="32980" y="15799"/>
                      <a:pt x="26544" y="21646"/>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4" name="Google Shape;14474;p72"/>
              <p:cNvSpPr/>
              <p:nvPr/>
            </p:nvSpPr>
            <p:spPr>
              <a:xfrm>
                <a:off x="3893572" y="4830470"/>
                <a:ext cx="108065" cy="132236"/>
              </a:xfrm>
              <a:custGeom>
                <a:avLst/>
                <a:gdLst/>
                <a:ahLst/>
                <a:cxnLst/>
                <a:rect l="l" t="t" r="r" b="b"/>
                <a:pathLst>
                  <a:path w="108065" h="132236" extrusionOk="0">
                    <a:moveTo>
                      <a:pt x="108066" y="0"/>
                    </a:moveTo>
                    <a:lnTo>
                      <a:pt x="108066" y="132237"/>
                    </a:lnTo>
                    <a:lnTo>
                      <a:pt x="93048" y="132237"/>
                    </a:lnTo>
                    <a:lnTo>
                      <a:pt x="93048" y="71984"/>
                    </a:lnTo>
                    <a:lnTo>
                      <a:pt x="15017" y="71984"/>
                    </a:lnTo>
                    <a:lnTo>
                      <a:pt x="15017" y="132237"/>
                    </a:lnTo>
                    <a:lnTo>
                      <a:pt x="0" y="132237"/>
                    </a:lnTo>
                    <a:lnTo>
                      <a:pt x="0" y="0"/>
                    </a:lnTo>
                    <a:lnTo>
                      <a:pt x="15017" y="0"/>
                    </a:lnTo>
                    <a:lnTo>
                      <a:pt x="15017" y="57747"/>
                    </a:lnTo>
                    <a:lnTo>
                      <a:pt x="93048" y="57747"/>
                    </a:lnTo>
                    <a:lnTo>
                      <a:pt x="93048" y="0"/>
                    </a:lnTo>
                    <a:lnTo>
                      <a:pt x="108066" y="0"/>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5" name="Google Shape;14475;p72"/>
              <p:cNvSpPr/>
              <p:nvPr/>
            </p:nvSpPr>
            <p:spPr>
              <a:xfrm>
                <a:off x="4029927" y="4828182"/>
                <a:ext cx="115410" cy="136849"/>
              </a:xfrm>
              <a:custGeom>
                <a:avLst/>
                <a:gdLst/>
                <a:ahLst/>
                <a:cxnLst/>
                <a:rect l="l" t="t" r="r" b="b"/>
                <a:pathLst>
                  <a:path w="115410" h="136849" extrusionOk="0">
                    <a:moveTo>
                      <a:pt x="34180" y="127515"/>
                    </a:moveTo>
                    <a:cubicBezTo>
                      <a:pt x="23708" y="121305"/>
                      <a:pt x="15381" y="112915"/>
                      <a:pt x="9236" y="102383"/>
                    </a:cubicBezTo>
                    <a:cubicBezTo>
                      <a:pt x="3054" y="91850"/>
                      <a:pt x="0" y="80519"/>
                      <a:pt x="0" y="68316"/>
                    </a:cubicBezTo>
                    <a:cubicBezTo>
                      <a:pt x="0" y="56113"/>
                      <a:pt x="3091" y="44817"/>
                      <a:pt x="9236" y="34358"/>
                    </a:cubicBezTo>
                    <a:cubicBezTo>
                      <a:pt x="15417" y="23898"/>
                      <a:pt x="23708" y="15544"/>
                      <a:pt x="34180" y="9334"/>
                    </a:cubicBezTo>
                    <a:cubicBezTo>
                      <a:pt x="44652" y="3123"/>
                      <a:pt x="55851" y="0"/>
                      <a:pt x="67814" y="0"/>
                    </a:cubicBezTo>
                    <a:cubicBezTo>
                      <a:pt x="76795" y="0"/>
                      <a:pt x="85413" y="1780"/>
                      <a:pt x="93630" y="5303"/>
                    </a:cubicBezTo>
                    <a:cubicBezTo>
                      <a:pt x="101848" y="8825"/>
                      <a:pt x="109120" y="13801"/>
                      <a:pt x="115411" y="20230"/>
                    </a:cubicBezTo>
                    <a:lnTo>
                      <a:pt x="105193" y="30617"/>
                    </a:lnTo>
                    <a:cubicBezTo>
                      <a:pt x="100321" y="25350"/>
                      <a:pt x="94612" y="21247"/>
                      <a:pt x="88140" y="18305"/>
                    </a:cubicBezTo>
                    <a:cubicBezTo>
                      <a:pt x="81667" y="15363"/>
                      <a:pt x="74868" y="13874"/>
                      <a:pt x="67814" y="13874"/>
                    </a:cubicBezTo>
                    <a:cubicBezTo>
                      <a:pt x="58433" y="13874"/>
                      <a:pt x="49742" y="16343"/>
                      <a:pt x="41706" y="21283"/>
                    </a:cubicBezTo>
                    <a:cubicBezTo>
                      <a:pt x="33671" y="26222"/>
                      <a:pt x="27235" y="32905"/>
                      <a:pt x="22435" y="41294"/>
                    </a:cubicBezTo>
                    <a:cubicBezTo>
                      <a:pt x="17599" y="49684"/>
                      <a:pt x="15199" y="58727"/>
                      <a:pt x="15199" y="68352"/>
                    </a:cubicBezTo>
                    <a:cubicBezTo>
                      <a:pt x="15199" y="77976"/>
                      <a:pt x="17599" y="87165"/>
                      <a:pt x="22435" y="95482"/>
                    </a:cubicBezTo>
                    <a:cubicBezTo>
                      <a:pt x="27235" y="103835"/>
                      <a:pt x="33671" y="110482"/>
                      <a:pt x="41706" y="115494"/>
                    </a:cubicBezTo>
                    <a:cubicBezTo>
                      <a:pt x="49742" y="120506"/>
                      <a:pt x="58433" y="123012"/>
                      <a:pt x="67814" y="123012"/>
                    </a:cubicBezTo>
                    <a:cubicBezTo>
                      <a:pt x="74868" y="123012"/>
                      <a:pt x="81667" y="121523"/>
                      <a:pt x="88140" y="118581"/>
                    </a:cubicBezTo>
                    <a:cubicBezTo>
                      <a:pt x="94612" y="115639"/>
                      <a:pt x="100321" y="111535"/>
                      <a:pt x="105193" y="106269"/>
                    </a:cubicBezTo>
                    <a:lnTo>
                      <a:pt x="115411" y="116656"/>
                    </a:lnTo>
                    <a:cubicBezTo>
                      <a:pt x="109120" y="122939"/>
                      <a:pt x="101848" y="127878"/>
                      <a:pt x="93630" y="131474"/>
                    </a:cubicBezTo>
                    <a:cubicBezTo>
                      <a:pt x="85413" y="135070"/>
                      <a:pt x="76795" y="136849"/>
                      <a:pt x="67814" y="136849"/>
                    </a:cubicBezTo>
                    <a:cubicBezTo>
                      <a:pt x="55851" y="136849"/>
                      <a:pt x="44652" y="133726"/>
                      <a:pt x="34180" y="127515"/>
                    </a:cubicBez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6" name="Google Shape;14476;p72"/>
              <p:cNvSpPr/>
              <p:nvPr/>
            </p:nvSpPr>
            <p:spPr>
              <a:xfrm>
                <a:off x="4154064" y="4830470"/>
                <a:ext cx="119737" cy="132236"/>
              </a:xfrm>
              <a:custGeom>
                <a:avLst/>
                <a:gdLst/>
                <a:ahLst/>
                <a:cxnLst/>
                <a:rect l="l" t="t" r="r" b="b"/>
                <a:pathLst>
                  <a:path w="119737" h="132236" extrusionOk="0">
                    <a:moveTo>
                      <a:pt x="69050" y="66028"/>
                    </a:moveTo>
                    <a:lnTo>
                      <a:pt x="119738" y="132237"/>
                    </a:lnTo>
                    <a:lnTo>
                      <a:pt x="101230" y="132237"/>
                    </a:lnTo>
                    <a:lnTo>
                      <a:pt x="59778" y="78158"/>
                    </a:lnTo>
                    <a:lnTo>
                      <a:pt x="18326" y="132237"/>
                    </a:lnTo>
                    <a:lnTo>
                      <a:pt x="0" y="132237"/>
                    </a:lnTo>
                    <a:lnTo>
                      <a:pt x="50688" y="66209"/>
                    </a:lnTo>
                    <a:lnTo>
                      <a:pt x="0" y="0"/>
                    </a:lnTo>
                    <a:lnTo>
                      <a:pt x="18508" y="0"/>
                    </a:lnTo>
                    <a:lnTo>
                      <a:pt x="59960" y="54079"/>
                    </a:lnTo>
                    <a:lnTo>
                      <a:pt x="101412" y="0"/>
                    </a:lnTo>
                    <a:lnTo>
                      <a:pt x="119738" y="0"/>
                    </a:lnTo>
                    <a:lnTo>
                      <a:pt x="69050" y="66028"/>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77" name="Google Shape;14477;p72"/>
              <p:cNvSpPr/>
              <p:nvPr/>
            </p:nvSpPr>
            <p:spPr>
              <a:xfrm>
                <a:off x="4278165" y="4822879"/>
                <a:ext cx="55450" cy="55168"/>
              </a:xfrm>
              <a:custGeom>
                <a:avLst/>
                <a:gdLst/>
                <a:ahLst/>
                <a:cxnLst/>
                <a:rect l="l" t="t" r="r" b="b"/>
                <a:pathLst>
                  <a:path w="55450" h="55168" extrusionOk="0">
                    <a:moveTo>
                      <a:pt x="41561" y="3705"/>
                    </a:moveTo>
                    <a:cubicBezTo>
                      <a:pt x="45779" y="6174"/>
                      <a:pt x="49160" y="9516"/>
                      <a:pt x="51669" y="13765"/>
                    </a:cubicBezTo>
                    <a:cubicBezTo>
                      <a:pt x="54178" y="17978"/>
                      <a:pt x="55451" y="22590"/>
                      <a:pt x="55451" y="27530"/>
                    </a:cubicBezTo>
                    <a:cubicBezTo>
                      <a:pt x="55451" y="32469"/>
                      <a:pt x="54178" y="37045"/>
                      <a:pt x="51669" y="41294"/>
                    </a:cubicBezTo>
                    <a:cubicBezTo>
                      <a:pt x="49160" y="45507"/>
                      <a:pt x="45779" y="48885"/>
                      <a:pt x="41561" y="51391"/>
                    </a:cubicBezTo>
                    <a:cubicBezTo>
                      <a:pt x="37343" y="53897"/>
                      <a:pt x="32725" y="55168"/>
                      <a:pt x="27780" y="55168"/>
                    </a:cubicBezTo>
                    <a:cubicBezTo>
                      <a:pt x="22835" y="55168"/>
                      <a:pt x="18144" y="53933"/>
                      <a:pt x="13890" y="51391"/>
                    </a:cubicBezTo>
                    <a:cubicBezTo>
                      <a:pt x="9672" y="48885"/>
                      <a:pt x="6290" y="45507"/>
                      <a:pt x="3782" y="41294"/>
                    </a:cubicBezTo>
                    <a:cubicBezTo>
                      <a:pt x="1273" y="37081"/>
                      <a:pt x="0" y="32469"/>
                      <a:pt x="0" y="27530"/>
                    </a:cubicBezTo>
                    <a:cubicBezTo>
                      <a:pt x="0" y="22590"/>
                      <a:pt x="1236" y="18014"/>
                      <a:pt x="3782" y="13765"/>
                    </a:cubicBezTo>
                    <a:cubicBezTo>
                      <a:pt x="6290" y="9552"/>
                      <a:pt x="9672" y="6174"/>
                      <a:pt x="13890" y="3705"/>
                    </a:cubicBezTo>
                    <a:cubicBezTo>
                      <a:pt x="18108" y="1235"/>
                      <a:pt x="22762" y="0"/>
                      <a:pt x="27780" y="0"/>
                    </a:cubicBezTo>
                    <a:cubicBezTo>
                      <a:pt x="32798" y="0"/>
                      <a:pt x="37307" y="1235"/>
                      <a:pt x="41561" y="3705"/>
                    </a:cubicBezTo>
                    <a:close/>
                    <a:moveTo>
                      <a:pt x="39670" y="47904"/>
                    </a:moveTo>
                    <a:cubicBezTo>
                      <a:pt x="43306" y="45798"/>
                      <a:pt x="46179" y="42965"/>
                      <a:pt x="48251" y="39333"/>
                    </a:cubicBezTo>
                    <a:cubicBezTo>
                      <a:pt x="50360" y="35701"/>
                      <a:pt x="51415" y="31743"/>
                      <a:pt x="51415" y="27493"/>
                    </a:cubicBezTo>
                    <a:cubicBezTo>
                      <a:pt x="51415" y="23244"/>
                      <a:pt x="50360" y="19285"/>
                      <a:pt x="48215" y="15726"/>
                    </a:cubicBezTo>
                    <a:cubicBezTo>
                      <a:pt x="46070" y="12131"/>
                      <a:pt x="43197" y="9298"/>
                      <a:pt x="39634" y="7191"/>
                    </a:cubicBezTo>
                    <a:cubicBezTo>
                      <a:pt x="36034" y="5085"/>
                      <a:pt x="32107" y="4031"/>
                      <a:pt x="27853" y="4031"/>
                    </a:cubicBezTo>
                    <a:cubicBezTo>
                      <a:pt x="23598" y="4031"/>
                      <a:pt x="19635" y="5085"/>
                      <a:pt x="15999" y="7191"/>
                    </a:cubicBezTo>
                    <a:cubicBezTo>
                      <a:pt x="12363" y="9298"/>
                      <a:pt x="9490" y="12131"/>
                      <a:pt x="7345" y="15726"/>
                    </a:cubicBezTo>
                    <a:cubicBezTo>
                      <a:pt x="5200" y="19322"/>
                      <a:pt x="4145" y="23244"/>
                      <a:pt x="4145" y="27493"/>
                    </a:cubicBezTo>
                    <a:cubicBezTo>
                      <a:pt x="4145" y="31743"/>
                      <a:pt x="5200" y="35701"/>
                      <a:pt x="7345" y="39261"/>
                    </a:cubicBezTo>
                    <a:cubicBezTo>
                      <a:pt x="9490" y="42856"/>
                      <a:pt x="12363" y="45725"/>
                      <a:pt x="15999" y="47832"/>
                    </a:cubicBezTo>
                    <a:cubicBezTo>
                      <a:pt x="19635" y="49975"/>
                      <a:pt x="23598" y="51028"/>
                      <a:pt x="27853" y="51028"/>
                    </a:cubicBezTo>
                    <a:cubicBezTo>
                      <a:pt x="32107" y="51028"/>
                      <a:pt x="36070" y="49975"/>
                      <a:pt x="39706" y="47868"/>
                    </a:cubicBezTo>
                    <a:close/>
                    <a:moveTo>
                      <a:pt x="40797" y="29128"/>
                    </a:moveTo>
                    <a:cubicBezTo>
                      <a:pt x="39488" y="31016"/>
                      <a:pt x="37707" y="32396"/>
                      <a:pt x="35452" y="33232"/>
                    </a:cubicBezTo>
                    <a:lnTo>
                      <a:pt x="43306" y="44454"/>
                    </a:lnTo>
                    <a:lnTo>
                      <a:pt x="34870" y="44454"/>
                    </a:lnTo>
                    <a:lnTo>
                      <a:pt x="27671" y="34249"/>
                    </a:lnTo>
                    <a:lnTo>
                      <a:pt x="22508" y="34249"/>
                    </a:lnTo>
                    <a:lnTo>
                      <a:pt x="22508" y="44454"/>
                    </a:lnTo>
                    <a:lnTo>
                      <a:pt x="14072" y="44454"/>
                    </a:lnTo>
                    <a:lnTo>
                      <a:pt x="14072" y="10787"/>
                    </a:lnTo>
                    <a:lnTo>
                      <a:pt x="29925" y="10787"/>
                    </a:lnTo>
                    <a:cubicBezTo>
                      <a:pt x="33743" y="10787"/>
                      <a:pt x="36834" y="11840"/>
                      <a:pt x="39197" y="13983"/>
                    </a:cubicBezTo>
                    <a:cubicBezTo>
                      <a:pt x="41561" y="16126"/>
                      <a:pt x="42724" y="18922"/>
                      <a:pt x="42724" y="22445"/>
                    </a:cubicBezTo>
                    <a:cubicBezTo>
                      <a:pt x="42724" y="24987"/>
                      <a:pt x="42070" y="27203"/>
                      <a:pt x="40761" y="29128"/>
                    </a:cubicBezTo>
                    <a:close/>
                    <a:moveTo>
                      <a:pt x="22544" y="25895"/>
                    </a:moveTo>
                    <a:lnTo>
                      <a:pt x="29053" y="25895"/>
                    </a:lnTo>
                    <a:cubicBezTo>
                      <a:pt x="30471" y="25895"/>
                      <a:pt x="31634" y="25568"/>
                      <a:pt x="32543" y="24951"/>
                    </a:cubicBezTo>
                    <a:cubicBezTo>
                      <a:pt x="33452" y="24334"/>
                      <a:pt x="33889" y="23462"/>
                      <a:pt x="33889" y="22409"/>
                    </a:cubicBezTo>
                    <a:cubicBezTo>
                      <a:pt x="33889" y="21428"/>
                      <a:pt x="33452" y="20629"/>
                      <a:pt x="32543" y="20012"/>
                    </a:cubicBezTo>
                    <a:cubicBezTo>
                      <a:pt x="31634" y="19394"/>
                      <a:pt x="30471" y="19067"/>
                      <a:pt x="29053" y="19067"/>
                    </a:cubicBezTo>
                    <a:lnTo>
                      <a:pt x="22544" y="19067"/>
                    </a:lnTo>
                    <a:lnTo>
                      <a:pt x="22544" y="25895"/>
                    </a:lnTo>
                    <a:close/>
                  </a:path>
                </a:pathLst>
              </a:custGeom>
              <a:solidFill>
                <a:srgbClr val="71707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4478" name="Google Shape;14478;p72"/>
            <p:cNvGrpSpPr/>
            <p:nvPr/>
          </p:nvGrpSpPr>
          <p:grpSpPr>
            <a:xfrm>
              <a:off x="3910116" y="4221840"/>
              <a:ext cx="392665" cy="312413"/>
              <a:chOff x="3910116" y="4221840"/>
              <a:chExt cx="392665" cy="312413"/>
            </a:xfrm>
          </p:grpSpPr>
          <p:grpSp>
            <p:nvGrpSpPr>
              <p:cNvPr id="14479" name="Google Shape;14479;p72"/>
              <p:cNvGrpSpPr/>
              <p:nvPr/>
            </p:nvGrpSpPr>
            <p:grpSpPr>
              <a:xfrm>
                <a:off x="3910116" y="4221840"/>
                <a:ext cx="392665" cy="310779"/>
                <a:chOff x="3910116" y="4221840"/>
                <a:chExt cx="392665" cy="310779"/>
              </a:xfrm>
            </p:grpSpPr>
            <p:sp>
              <p:nvSpPr>
                <p:cNvPr id="14480" name="Google Shape;14480;p72"/>
                <p:cNvSpPr/>
                <p:nvPr/>
              </p:nvSpPr>
              <p:spPr>
                <a:xfrm>
                  <a:off x="3910116" y="4221840"/>
                  <a:ext cx="392665" cy="310779"/>
                </a:xfrm>
                <a:custGeom>
                  <a:avLst/>
                  <a:gdLst/>
                  <a:ahLst/>
                  <a:cxnLst/>
                  <a:rect l="l" t="t" r="r" b="b"/>
                  <a:pathLst>
                    <a:path w="392665" h="310779" extrusionOk="0">
                      <a:moveTo>
                        <a:pt x="356195" y="98279"/>
                      </a:moveTo>
                      <a:cubicBezTo>
                        <a:pt x="341105" y="83206"/>
                        <a:pt x="322524" y="72274"/>
                        <a:pt x="302235" y="66536"/>
                      </a:cubicBezTo>
                      <a:cubicBezTo>
                        <a:pt x="277873" y="25387"/>
                        <a:pt x="233403" y="0"/>
                        <a:pt x="185370" y="0"/>
                      </a:cubicBezTo>
                      <a:cubicBezTo>
                        <a:pt x="149118" y="0"/>
                        <a:pt x="115011" y="14092"/>
                        <a:pt x="89376" y="39696"/>
                      </a:cubicBezTo>
                      <a:cubicBezTo>
                        <a:pt x="72795" y="56258"/>
                        <a:pt x="60796" y="76742"/>
                        <a:pt x="54578" y="99041"/>
                      </a:cubicBezTo>
                      <a:cubicBezTo>
                        <a:pt x="20835" y="119779"/>
                        <a:pt x="0" y="156788"/>
                        <a:pt x="0" y="196448"/>
                      </a:cubicBezTo>
                      <a:cubicBezTo>
                        <a:pt x="0" y="226992"/>
                        <a:pt x="11890" y="255684"/>
                        <a:pt x="33525" y="277258"/>
                      </a:cubicBezTo>
                      <a:cubicBezTo>
                        <a:pt x="55124" y="298831"/>
                        <a:pt x="83885" y="310743"/>
                        <a:pt x="114429" y="310743"/>
                      </a:cubicBezTo>
                      <a:lnTo>
                        <a:pt x="130937" y="310743"/>
                      </a:lnTo>
                      <a:cubicBezTo>
                        <a:pt x="125192" y="306095"/>
                        <a:pt x="119992" y="300828"/>
                        <a:pt x="115374" y="295054"/>
                      </a:cubicBezTo>
                      <a:lnTo>
                        <a:pt x="114429" y="295054"/>
                      </a:lnTo>
                      <a:cubicBezTo>
                        <a:pt x="88067" y="295054"/>
                        <a:pt x="63269" y="284812"/>
                        <a:pt x="44615" y="266180"/>
                      </a:cubicBezTo>
                      <a:cubicBezTo>
                        <a:pt x="25962" y="247549"/>
                        <a:pt x="15708" y="222779"/>
                        <a:pt x="15708" y="196448"/>
                      </a:cubicBezTo>
                      <a:cubicBezTo>
                        <a:pt x="15708" y="161292"/>
                        <a:pt x="34689" y="128532"/>
                        <a:pt x="65268" y="110954"/>
                      </a:cubicBezTo>
                      <a:lnTo>
                        <a:pt x="68141" y="109283"/>
                      </a:lnTo>
                      <a:lnTo>
                        <a:pt x="68941" y="106051"/>
                      </a:lnTo>
                      <a:cubicBezTo>
                        <a:pt x="74177" y="85240"/>
                        <a:pt x="85085" y="66136"/>
                        <a:pt x="100466" y="50774"/>
                      </a:cubicBezTo>
                      <a:cubicBezTo>
                        <a:pt x="123156" y="28111"/>
                        <a:pt x="153299" y="15653"/>
                        <a:pt x="185333" y="15653"/>
                      </a:cubicBezTo>
                      <a:cubicBezTo>
                        <a:pt x="228821" y="15653"/>
                        <a:pt x="269001" y="39188"/>
                        <a:pt x="290163" y="77068"/>
                      </a:cubicBezTo>
                      <a:lnTo>
                        <a:pt x="291799" y="80010"/>
                      </a:lnTo>
                      <a:lnTo>
                        <a:pt x="295072" y="80846"/>
                      </a:lnTo>
                      <a:cubicBezTo>
                        <a:pt x="313870" y="85603"/>
                        <a:pt x="331142" y="95482"/>
                        <a:pt x="345032" y="109356"/>
                      </a:cubicBezTo>
                      <a:cubicBezTo>
                        <a:pt x="365612" y="129912"/>
                        <a:pt x="376921" y="157224"/>
                        <a:pt x="376921" y="186279"/>
                      </a:cubicBezTo>
                      <a:cubicBezTo>
                        <a:pt x="376921" y="215334"/>
                        <a:pt x="365576" y="242646"/>
                        <a:pt x="345032" y="263202"/>
                      </a:cubicBezTo>
                      <a:cubicBezTo>
                        <a:pt x="326742" y="281471"/>
                        <a:pt x="303071" y="292439"/>
                        <a:pt x="277582" y="294654"/>
                      </a:cubicBezTo>
                      <a:cubicBezTo>
                        <a:pt x="272891" y="300574"/>
                        <a:pt x="267546" y="305986"/>
                        <a:pt x="261692" y="310780"/>
                      </a:cubicBezTo>
                      <a:lnTo>
                        <a:pt x="268055" y="310780"/>
                      </a:lnTo>
                      <a:cubicBezTo>
                        <a:pt x="301326" y="310780"/>
                        <a:pt x="332633" y="297850"/>
                        <a:pt x="356159" y="274316"/>
                      </a:cubicBezTo>
                      <a:cubicBezTo>
                        <a:pt x="379684" y="250817"/>
                        <a:pt x="392665" y="219547"/>
                        <a:pt x="392665" y="186315"/>
                      </a:cubicBezTo>
                      <a:cubicBezTo>
                        <a:pt x="392665" y="153084"/>
                        <a:pt x="379721" y="121813"/>
                        <a:pt x="356159" y="98315"/>
                      </a:cubicBezTo>
                      <a:close/>
                    </a:path>
                  </a:pathLst>
                </a:custGeom>
                <a:solidFill>
                  <a:srgbClr val="0098C7"/>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81" name="Google Shape;14481;p72"/>
                <p:cNvSpPr/>
                <p:nvPr/>
              </p:nvSpPr>
              <p:spPr>
                <a:xfrm>
                  <a:off x="3955204" y="4266948"/>
                  <a:ext cx="302416" cy="218566"/>
                </a:xfrm>
                <a:custGeom>
                  <a:avLst/>
                  <a:gdLst/>
                  <a:ahLst/>
                  <a:cxnLst/>
                  <a:rect l="l" t="t" r="r" b="b"/>
                  <a:pathLst>
                    <a:path w="302416" h="218566" extrusionOk="0">
                      <a:moveTo>
                        <a:pt x="302417" y="141207"/>
                      </a:moveTo>
                      <a:cubicBezTo>
                        <a:pt x="302417" y="98533"/>
                        <a:pt x="268528" y="63630"/>
                        <a:pt x="226203" y="61924"/>
                      </a:cubicBezTo>
                      <a:cubicBezTo>
                        <a:pt x="213986" y="25169"/>
                        <a:pt x="179479" y="0"/>
                        <a:pt x="140209" y="0"/>
                      </a:cubicBezTo>
                      <a:cubicBezTo>
                        <a:pt x="92103" y="0"/>
                        <a:pt x="52651" y="37626"/>
                        <a:pt x="49779" y="84950"/>
                      </a:cubicBezTo>
                      <a:cubicBezTo>
                        <a:pt x="20580" y="93485"/>
                        <a:pt x="0" y="120433"/>
                        <a:pt x="0" y="151340"/>
                      </a:cubicBezTo>
                      <a:cubicBezTo>
                        <a:pt x="0" y="183882"/>
                        <a:pt x="22617" y="211230"/>
                        <a:pt x="52978" y="218566"/>
                      </a:cubicBezTo>
                      <a:cubicBezTo>
                        <a:pt x="51015" y="212828"/>
                        <a:pt x="49560" y="206835"/>
                        <a:pt x="48651" y="200698"/>
                      </a:cubicBezTo>
                      <a:cubicBezTo>
                        <a:pt x="29307" y="192598"/>
                        <a:pt x="15708" y="173531"/>
                        <a:pt x="15708" y="151340"/>
                      </a:cubicBezTo>
                      <a:cubicBezTo>
                        <a:pt x="15708" y="125772"/>
                        <a:pt x="33889" y="103726"/>
                        <a:pt x="58978" y="98823"/>
                      </a:cubicBezTo>
                      <a:lnTo>
                        <a:pt x="65378" y="97589"/>
                      </a:lnTo>
                      <a:lnTo>
                        <a:pt x="65378" y="91088"/>
                      </a:lnTo>
                      <a:cubicBezTo>
                        <a:pt x="65378" y="91088"/>
                        <a:pt x="65305" y="90724"/>
                        <a:pt x="65305" y="90543"/>
                      </a:cubicBezTo>
                      <a:lnTo>
                        <a:pt x="65305" y="90470"/>
                      </a:lnTo>
                      <a:cubicBezTo>
                        <a:pt x="65305" y="49212"/>
                        <a:pt x="98903" y="15690"/>
                        <a:pt x="140173" y="15690"/>
                      </a:cubicBezTo>
                      <a:cubicBezTo>
                        <a:pt x="174316" y="15690"/>
                        <a:pt x="204132" y="38716"/>
                        <a:pt x="212677" y="71730"/>
                      </a:cubicBezTo>
                      <a:lnTo>
                        <a:pt x="214241" y="77831"/>
                      </a:lnTo>
                      <a:lnTo>
                        <a:pt x="220786" y="77577"/>
                      </a:lnTo>
                      <a:cubicBezTo>
                        <a:pt x="221476" y="77577"/>
                        <a:pt x="222204" y="77541"/>
                        <a:pt x="222895" y="77541"/>
                      </a:cubicBezTo>
                      <a:cubicBezTo>
                        <a:pt x="258019" y="77541"/>
                        <a:pt x="286636" y="106087"/>
                        <a:pt x="286636" y="141207"/>
                      </a:cubicBezTo>
                      <a:cubicBezTo>
                        <a:pt x="286636" y="164960"/>
                        <a:pt x="273546" y="185662"/>
                        <a:pt x="254202" y="196630"/>
                      </a:cubicBezTo>
                      <a:cubicBezTo>
                        <a:pt x="253474" y="203204"/>
                        <a:pt x="252165" y="209559"/>
                        <a:pt x="250275" y="215697"/>
                      </a:cubicBezTo>
                      <a:cubicBezTo>
                        <a:pt x="280636" y="204511"/>
                        <a:pt x="302344" y="175347"/>
                        <a:pt x="302344" y="141207"/>
                      </a:cubicBezTo>
                      <a:close/>
                    </a:path>
                  </a:pathLst>
                </a:custGeom>
                <a:solidFill>
                  <a:srgbClr val="005C8A"/>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4482" name="Google Shape;14482;p72"/>
              <p:cNvSpPr/>
              <p:nvPr/>
            </p:nvSpPr>
            <p:spPr>
              <a:xfrm>
                <a:off x="4024363" y="4370311"/>
                <a:ext cx="164134" cy="163942"/>
              </a:xfrm>
              <a:custGeom>
                <a:avLst/>
                <a:gdLst/>
                <a:ahLst/>
                <a:cxnLst/>
                <a:rect l="l" t="t" r="r" b="b"/>
                <a:pathLst>
                  <a:path w="164134" h="163942" extrusionOk="0">
                    <a:moveTo>
                      <a:pt x="82067" y="0"/>
                    </a:moveTo>
                    <a:cubicBezTo>
                      <a:pt x="36798" y="0"/>
                      <a:pt x="0" y="36791"/>
                      <a:pt x="0" y="81971"/>
                    </a:cubicBezTo>
                    <a:cubicBezTo>
                      <a:pt x="0" y="127152"/>
                      <a:pt x="36834" y="163943"/>
                      <a:pt x="82067" y="163943"/>
                    </a:cubicBezTo>
                    <a:cubicBezTo>
                      <a:pt x="127301" y="163943"/>
                      <a:pt x="164135" y="127152"/>
                      <a:pt x="164135" y="81971"/>
                    </a:cubicBezTo>
                    <a:cubicBezTo>
                      <a:pt x="164135" y="36791"/>
                      <a:pt x="127301" y="0"/>
                      <a:pt x="82067" y="0"/>
                    </a:cubicBezTo>
                    <a:close/>
                    <a:moveTo>
                      <a:pt x="116720" y="66645"/>
                    </a:moveTo>
                    <a:cubicBezTo>
                      <a:pt x="113956" y="63122"/>
                      <a:pt x="110938" y="59708"/>
                      <a:pt x="107666" y="56439"/>
                    </a:cubicBezTo>
                    <a:cubicBezTo>
                      <a:pt x="104393" y="53171"/>
                      <a:pt x="100975" y="50156"/>
                      <a:pt x="97448" y="47396"/>
                    </a:cubicBezTo>
                    <a:cubicBezTo>
                      <a:pt x="105666" y="44055"/>
                      <a:pt x="113920" y="42348"/>
                      <a:pt x="121519" y="42602"/>
                    </a:cubicBezTo>
                    <a:cubicBezTo>
                      <a:pt x="121774" y="50193"/>
                      <a:pt x="120065" y="58437"/>
                      <a:pt x="116720" y="66645"/>
                    </a:cubicBezTo>
                    <a:close/>
                    <a:moveTo>
                      <a:pt x="121519" y="121377"/>
                    </a:moveTo>
                    <a:cubicBezTo>
                      <a:pt x="113920" y="121632"/>
                      <a:pt x="105666" y="119925"/>
                      <a:pt x="97448" y="116583"/>
                    </a:cubicBezTo>
                    <a:cubicBezTo>
                      <a:pt x="100975" y="113823"/>
                      <a:pt x="104393" y="110809"/>
                      <a:pt x="107666" y="107540"/>
                    </a:cubicBezTo>
                    <a:cubicBezTo>
                      <a:pt x="107666" y="107540"/>
                      <a:pt x="107666" y="107540"/>
                      <a:pt x="107666" y="107540"/>
                    </a:cubicBezTo>
                    <a:cubicBezTo>
                      <a:pt x="110938" y="104271"/>
                      <a:pt x="113956" y="100857"/>
                      <a:pt x="116720" y="97334"/>
                    </a:cubicBezTo>
                    <a:cubicBezTo>
                      <a:pt x="120065" y="105542"/>
                      <a:pt x="121774" y="113787"/>
                      <a:pt x="121519" y="121377"/>
                    </a:cubicBezTo>
                    <a:close/>
                    <a:moveTo>
                      <a:pt x="96539" y="96426"/>
                    </a:moveTo>
                    <a:lnTo>
                      <a:pt x="96539" y="96426"/>
                    </a:lnTo>
                    <a:cubicBezTo>
                      <a:pt x="91994" y="100966"/>
                      <a:pt x="87122" y="104925"/>
                      <a:pt x="82067" y="108339"/>
                    </a:cubicBezTo>
                    <a:cubicBezTo>
                      <a:pt x="77013" y="104961"/>
                      <a:pt x="72141" y="100966"/>
                      <a:pt x="67632" y="96426"/>
                    </a:cubicBezTo>
                    <a:lnTo>
                      <a:pt x="67632" y="96426"/>
                    </a:lnTo>
                    <a:cubicBezTo>
                      <a:pt x="63087" y="91886"/>
                      <a:pt x="59087" y="87020"/>
                      <a:pt x="55705" y="81971"/>
                    </a:cubicBezTo>
                    <a:cubicBezTo>
                      <a:pt x="59087" y="76923"/>
                      <a:pt x="63087" y="72056"/>
                      <a:pt x="67632" y="67517"/>
                    </a:cubicBezTo>
                    <a:cubicBezTo>
                      <a:pt x="72177" y="62977"/>
                      <a:pt x="77050" y="58982"/>
                      <a:pt x="82104" y="55604"/>
                    </a:cubicBezTo>
                    <a:cubicBezTo>
                      <a:pt x="87158" y="58982"/>
                      <a:pt x="92030" y="62977"/>
                      <a:pt x="96575" y="67517"/>
                    </a:cubicBezTo>
                    <a:cubicBezTo>
                      <a:pt x="101121" y="72056"/>
                      <a:pt x="105120" y="76923"/>
                      <a:pt x="108502" y="81971"/>
                    </a:cubicBezTo>
                    <a:cubicBezTo>
                      <a:pt x="105120" y="87020"/>
                      <a:pt x="101121" y="91886"/>
                      <a:pt x="96575" y="96426"/>
                    </a:cubicBezTo>
                    <a:close/>
                    <a:moveTo>
                      <a:pt x="42652" y="121377"/>
                    </a:moveTo>
                    <a:cubicBezTo>
                      <a:pt x="42397" y="113787"/>
                      <a:pt x="44106" y="105542"/>
                      <a:pt x="47451" y="97334"/>
                    </a:cubicBezTo>
                    <a:cubicBezTo>
                      <a:pt x="50215" y="100857"/>
                      <a:pt x="53233" y="104271"/>
                      <a:pt x="56505" y="107540"/>
                    </a:cubicBezTo>
                    <a:cubicBezTo>
                      <a:pt x="56505" y="107540"/>
                      <a:pt x="56505" y="107540"/>
                      <a:pt x="56505" y="107540"/>
                    </a:cubicBezTo>
                    <a:cubicBezTo>
                      <a:pt x="59778" y="110809"/>
                      <a:pt x="63196" y="113823"/>
                      <a:pt x="66687" y="116583"/>
                    </a:cubicBezTo>
                    <a:cubicBezTo>
                      <a:pt x="58978" y="119707"/>
                      <a:pt x="51269" y="121414"/>
                      <a:pt x="44070" y="121414"/>
                    </a:cubicBezTo>
                    <a:cubicBezTo>
                      <a:pt x="43597" y="121414"/>
                      <a:pt x="43088" y="121414"/>
                      <a:pt x="42615" y="121414"/>
                    </a:cubicBezTo>
                    <a:close/>
                    <a:moveTo>
                      <a:pt x="42652" y="42602"/>
                    </a:moveTo>
                    <a:cubicBezTo>
                      <a:pt x="50251" y="42348"/>
                      <a:pt x="58505" y="44055"/>
                      <a:pt x="66723" y="47396"/>
                    </a:cubicBezTo>
                    <a:cubicBezTo>
                      <a:pt x="63196" y="50156"/>
                      <a:pt x="59778" y="53171"/>
                      <a:pt x="56505" y="56439"/>
                    </a:cubicBezTo>
                    <a:cubicBezTo>
                      <a:pt x="53233" y="59708"/>
                      <a:pt x="50215" y="63122"/>
                      <a:pt x="47451" y="66645"/>
                    </a:cubicBezTo>
                    <a:cubicBezTo>
                      <a:pt x="44106" y="58437"/>
                      <a:pt x="42397" y="50193"/>
                      <a:pt x="42652" y="42602"/>
                    </a:cubicBezTo>
                    <a:close/>
                    <a:moveTo>
                      <a:pt x="118938" y="26912"/>
                    </a:moveTo>
                    <a:cubicBezTo>
                      <a:pt x="106938" y="27094"/>
                      <a:pt x="94212" y="30726"/>
                      <a:pt x="82067" y="37299"/>
                    </a:cubicBezTo>
                    <a:cubicBezTo>
                      <a:pt x="69923" y="30762"/>
                      <a:pt x="57196" y="27130"/>
                      <a:pt x="45197" y="26912"/>
                    </a:cubicBezTo>
                    <a:cubicBezTo>
                      <a:pt x="55742" y="19830"/>
                      <a:pt x="68432" y="15726"/>
                      <a:pt x="82067" y="15726"/>
                    </a:cubicBezTo>
                    <a:cubicBezTo>
                      <a:pt x="95703" y="15726"/>
                      <a:pt x="108393" y="19866"/>
                      <a:pt x="118938" y="26912"/>
                    </a:cubicBezTo>
                    <a:close/>
                    <a:moveTo>
                      <a:pt x="15708" y="82008"/>
                    </a:moveTo>
                    <a:cubicBezTo>
                      <a:pt x="15708" y="68388"/>
                      <a:pt x="19853" y="55713"/>
                      <a:pt x="26907" y="45181"/>
                    </a:cubicBezTo>
                    <a:cubicBezTo>
                      <a:pt x="27089" y="57166"/>
                      <a:pt x="30725" y="69877"/>
                      <a:pt x="37307" y="82008"/>
                    </a:cubicBezTo>
                    <a:cubicBezTo>
                      <a:pt x="30762" y="94138"/>
                      <a:pt x="27125" y="106850"/>
                      <a:pt x="26907" y="118835"/>
                    </a:cubicBezTo>
                    <a:cubicBezTo>
                      <a:pt x="19817" y="108303"/>
                      <a:pt x="15708" y="95627"/>
                      <a:pt x="15708" y="82008"/>
                    </a:cubicBezTo>
                    <a:close/>
                    <a:moveTo>
                      <a:pt x="45197" y="137067"/>
                    </a:moveTo>
                    <a:cubicBezTo>
                      <a:pt x="57196" y="136885"/>
                      <a:pt x="69923" y="133254"/>
                      <a:pt x="82067" y="126680"/>
                    </a:cubicBezTo>
                    <a:cubicBezTo>
                      <a:pt x="94212" y="133217"/>
                      <a:pt x="106938" y="136849"/>
                      <a:pt x="118938" y="137067"/>
                    </a:cubicBezTo>
                    <a:cubicBezTo>
                      <a:pt x="108393" y="144149"/>
                      <a:pt x="95703" y="148253"/>
                      <a:pt x="82067" y="148253"/>
                    </a:cubicBezTo>
                    <a:cubicBezTo>
                      <a:pt x="68432" y="148253"/>
                      <a:pt x="55742" y="144113"/>
                      <a:pt x="45197" y="137067"/>
                    </a:cubicBezTo>
                    <a:close/>
                    <a:moveTo>
                      <a:pt x="137227" y="118799"/>
                    </a:moveTo>
                    <a:cubicBezTo>
                      <a:pt x="137046" y="106814"/>
                      <a:pt x="133409" y="94102"/>
                      <a:pt x="126828" y="81971"/>
                    </a:cubicBezTo>
                    <a:cubicBezTo>
                      <a:pt x="133373" y="69841"/>
                      <a:pt x="137009" y="57129"/>
                      <a:pt x="137227" y="45144"/>
                    </a:cubicBezTo>
                    <a:cubicBezTo>
                      <a:pt x="144318" y="55677"/>
                      <a:pt x="148427" y="68352"/>
                      <a:pt x="148427" y="81971"/>
                    </a:cubicBezTo>
                    <a:cubicBezTo>
                      <a:pt x="148427" y="95591"/>
                      <a:pt x="144281" y="108266"/>
                      <a:pt x="137227" y="118799"/>
                    </a:cubicBezTo>
                    <a:close/>
                  </a:path>
                </a:pathLst>
              </a:custGeom>
              <a:solidFill>
                <a:srgbClr val="0098C7"/>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4483" name="Google Shape;14483;p72"/>
          <p:cNvSpPr txBox="1"/>
          <p:nvPr/>
        </p:nvSpPr>
        <p:spPr>
          <a:xfrm>
            <a:off x="9842493" y="3817023"/>
            <a:ext cx="1428614"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1B1D36"/>
              </a:buClr>
              <a:buSzPts val="1200"/>
              <a:buFont typeface="Arial"/>
              <a:buNone/>
            </a:pPr>
            <a:r>
              <a:rPr lang="en-US" sz="1200" b="0" i="0" u="none" strike="noStrike" cap="none">
                <a:solidFill>
                  <a:srgbClr val="1B1D36"/>
                </a:solidFill>
                <a:latin typeface="Arial"/>
                <a:ea typeface="Arial"/>
                <a:cs typeface="Arial"/>
                <a:sym typeface="Arial"/>
              </a:rPr>
              <a:t>Cluster B</a:t>
            </a:r>
            <a:endParaRPr sz="1800" b="0" i="0" u="none" strike="noStrike" cap="none">
              <a:solidFill>
                <a:srgbClr val="000000"/>
              </a:solidFill>
              <a:latin typeface="Arial"/>
              <a:ea typeface="Arial"/>
              <a:cs typeface="Arial"/>
              <a:sym typeface="Arial"/>
            </a:endParaRPr>
          </a:p>
        </p:txBody>
      </p:sp>
      <p:sp>
        <p:nvSpPr>
          <p:cNvPr id="14484" name="Google Shape;14484;p72"/>
          <p:cNvSpPr/>
          <p:nvPr/>
        </p:nvSpPr>
        <p:spPr>
          <a:xfrm flipH="1">
            <a:off x="9929666" y="2666955"/>
            <a:ext cx="1249988" cy="930221"/>
          </a:xfrm>
          <a:prstGeom prst="rect">
            <a:avLst/>
          </a:prstGeom>
          <a:noFill/>
          <a:ln w="15875" cap="flat" cmpd="sng">
            <a:solidFill>
              <a:schemeClr val="accent2"/>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nvGrpSpPr>
          <p:cNvPr id="14485" name="Google Shape;14485;p72"/>
          <p:cNvGrpSpPr/>
          <p:nvPr/>
        </p:nvGrpSpPr>
        <p:grpSpPr>
          <a:xfrm>
            <a:off x="10678039" y="2678343"/>
            <a:ext cx="465299" cy="907444"/>
            <a:chOff x="961283" y="3507348"/>
            <a:chExt cx="465299" cy="907444"/>
          </a:xfrm>
        </p:grpSpPr>
        <p:pic>
          <p:nvPicPr>
            <p:cNvPr id="14486" name="Google Shape;14486;p72"/>
            <p:cNvPicPr preferRelativeResize="0"/>
            <p:nvPr/>
          </p:nvPicPr>
          <p:blipFill rotWithShape="1">
            <a:blip r:embed="rId3">
              <a:alphaModFix/>
            </a:blip>
            <a:srcRect/>
            <a:stretch/>
          </p:blipFill>
          <p:spPr>
            <a:xfrm>
              <a:off x="961283" y="3949493"/>
              <a:ext cx="465299" cy="465299"/>
            </a:xfrm>
            <a:prstGeom prst="rect">
              <a:avLst/>
            </a:prstGeom>
            <a:noFill/>
            <a:ln>
              <a:noFill/>
            </a:ln>
          </p:spPr>
        </p:pic>
        <p:pic>
          <p:nvPicPr>
            <p:cNvPr id="14487" name="Google Shape;14487;p72"/>
            <p:cNvPicPr preferRelativeResize="0"/>
            <p:nvPr/>
          </p:nvPicPr>
          <p:blipFill rotWithShape="1">
            <a:blip r:embed="rId3">
              <a:alphaModFix/>
            </a:blip>
            <a:srcRect/>
            <a:stretch/>
          </p:blipFill>
          <p:spPr>
            <a:xfrm>
              <a:off x="961283" y="3507348"/>
              <a:ext cx="465299" cy="465299"/>
            </a:xfrm>
            <a:prstGeom prst="rect">
              <a:avLst/>
            </a:prstGeom>
            <a:noFill/>
            <a:ln>
              <a:noFill/>
            </a:ln>
          </p:spPr>
        </p:pic>
      </p:grpSp>
      <p:grpSp>
        <p:nvGrpSpPr>
          <p:cNvPr id="14488" name="Google Shape;14488;p72"/>
          <p:cNvGrpSpPr/>
          <p:nvPr/>
        </p:nvGrpSpPr>
        <p:grpSpPr>
          <a:xfrm>
            <a:off x="9994725" y="2832622"/>
            <a:ext cx="594384" cy="598886"/>
            <a:chOff x="1515512" y="3697969"/>
            <a:chExt cx="594384" cy="598886"/>
          </a:xfrm>
        </p:grpSpPr>
        <p:pic>
          <p:nvPicPr>
            <p:cNvPr id="14489" name="Google Shape;14489;p72"/>
            <p:cNvPicPr preferRelativeResize="0"/>
            <p:nvPr/>
          </p:nvPicPr>
          <p:blipFill rotWithShape="1">
            <a:blip r:embed="rId8">
              <a:alphaModFix/>
            </a:blip>
            <a:srcRect/>
            <a:stretch/>
          </p:blipFill>
          <p:spPr>
            <a:xfrm>
              <a:off x="1515512" y="4018963"/>
              <a:ext cx="277892" cy="277892"/>
            </a:xfrm>
            <a:prstGeom prst="rect">
              <a:avLst/>
            </a:prstGeom>
            <a:noFill/>
            <a:ln>
              <a:noFill/>
            </a:ln>
          </p:spPr>
        </p:pic>
        <p:pic>
          <p:nvPicPr>
            <p:cNvPr id="14490" name="Google Shape;14490;p72"/>
            <p:cNvPicPr preferRelativeResize="0"/>
            <p:nvPr/>
          </p:nvPicPr>
          <p:blipFill rotWithShape="1">
            <a:blip r:embed="rId9">
              <a:alphaModFix/>
            </a:blip>
            <a:srcRect/>
            <a:stretch/>
          </p:blipFill>
          <p:spPr>
            <a:xfrm>
              <a:off x="1832004" y="3697969"/>
              <a:ext cx="277892" cy="277892"/>
            </a:xfrm>
            <a:prstGeom prst="rect">
              <a:avLst/>
            </a:prstGeom>
            <a:noFill/>
            <a:ln>
              <a:noFill/>
            </a:ln>
          </p:spPr>
        </p:pic>
        <p:pic>
          <p:nvPicPr>
            <p:cNvPr id="14491" name="Google Shape;14491;p72"/>
            <p:cNvPicPr preferRelativeResize="0"/>
            <p:nvPr/>
          </p:nvPicPr>
          <p:blipFill rotWithShape="1">
            <a:blip r:embed="rId10">
              <a:alphaModFix/>
            </a:blip>
            <a:srcRect/>
            <a:stretch/>
          </p:blipFill>
          <p:spPr>
            <a:xfrm>
              <a:off x="1515512" y="3697969"/>
              <a:ext cx="277892" cy="277892"/>
            </a:xfrm>
            <a:prstGeom prst="rect">
              <a:avLst/>
            </a:prstGeom>
            <a:noFill/>
            <a:ln>
              <a:noFill/>
            </a:ln>
          </p:spPr>
        </p:pic>
      </p:grpSp>
      <p:grpSp>
        <p:nvGrpSpPr>
          <p:cNvPr id="14492" name="Google Shape;14492;p72"/>
          <p:cNvGrpSpPr/>
          <p:nvPr/>
        </p:nvGrpSpPr>
        <p:grpSpPr>
          <a:xfrm>
            <a:off x="8661242" y="2607692"/>
            <a:ext cx="390973" cy="396743"/>
            <a:chOff x="3760539" y="2983369"/>
            <a:chExt cx="445002" cy="451571"/>
          </a:xfrm>
        </p:grpSpPr>
        <p:grpSp>
          <p:nvGrpSpPr>
            <p:cNvPr id="14493" name="Google Shape;14493;p72"/>
            <p:cNvGrpSpPr/>
            <p:nvPr/>
          </p:nvGrpSpPr>
          <p:grpSpPr>
            <a:xfrm>
              <a:off x="3760539" y="3123069"/>
              <a:ext cx="311652" cy="311871"/>
              <a:chOff x="6015634" y="3223071"/>
              <a:chExt cx="311652" cy="311871"/>
            </a:xfrm>
          </p:grpSpPr>
          <p:sp>
            <p:nvSpPr>
              <p:cNvPr id="14494" name="Google Shape;14494;p72"/>
              <p:cNvSpPr/>
              <p:nvPr/>
            </p:nvSpPr>
            <p:spPr>
              <a:xfrm>
                <a:off x="6015634" y="3223071"/>
                <a:ext cx="311652" cy="311871"/>
              </a:xfrm>
              <a:custGeom>
                <a:avLst/>
                <a:gdLst/>
                <a:ahLst/>
                <a:cxnLst/>
                <a:rect l="l" t="t" r="r" b="b"/>
                <a:pathLst>
                  <a:path w="682595" h="683075" extrusionOk="0">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495" name="Google Shape;14495;p72"/>
              <p:cNvSpPr/>
              <p:nvPr/>
            </p:nvSpPr>
            <p:spPr>
              <a:xfrm>
                <a:off x="6165710" y="3353867"/>
                <a:ext cx="68451" cy="46010"/>
              </a:xfrm>
              <a:custGeom>
                <a:avLst/>
                <a:gdLst/>
                <a:ahLst/>
                <a:cxnLst/>
                <a:rect l="l" t="t" r="r" b="b"/>
                <a:pathLst>
                  <a:path w="149924" h="100774" extrusionOk="0">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496" name="Google Shape;14496;p72"/>
              <p:cNvSpPr/>
              <p:nvPr/>
            </p:nvSpPr>
            <p:spPr>
              <a:xfrm>
                <a:off x="6109320" y="3354911"/>
                <a:ext cx="48359" cy="44967"/>
              </a:xfrm>
              <a:custGeom>
                <a:avLst/>
                <a:gdLst/>
                <a:ahLst/>
                <a:cxnLst/>
                <a:rect l="l" t="t" r="r" b="b"/>
                <a:pathLst>
                  <a:path w="105918" h="98488" extrusionOk="0">
                    <a:moveTo>
                      <a:pt x="0" y="0"/>
                    </a:moveTo>
                    <a:lnTo>
                      <a:pt x="24765" y="0"/>
                    </a:lnTo>
                    <a:lnTo>
                      <a:pt x="53340" y="71628"/>
                    </a:lnTo>
                    <a:lnTo>
                      <a:pt x="81343" y="0"/>
                    </a:lnTo>
                    <a:lnTo>
                      <a:pt x="105918" y="0"/>
                    </a:lnTo>
                    <a:lnTo>
                      <a:pt x="64198" y="98488"/>
                    </a:lnTo>
                    <a:lnTo>
                      <a:pt x="42481" y="98488"/>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sp>
          <p:nvSpPr>
            <p:cNvPr id="14497" name="Google Shape;14497;p72"/>
            <p:cNvSpPr/>
            <p:nvPr/>
          </p:nvSpPr>
          <p:spPr>
            <a:xfrm>
              <a:off x="3827214" y="3056394"/>
              <a:ext cx="311652" cy="305931"/>
            </a:xfrm>
            <a:custGeom>
              <a:avLst/>
              <a:gdLst/>
              <a:ahLst/>
              <a:cxnLst/>
              <a:rect l="l" t="t" r="r" b="b"/>
              <a:pathLst>
                <a:path w="311652" h="305931" extrusionOk="0">
                  <a:moveTo>
                    <a:pt x="0" y="0"/>
                  </a:moveTo>
                  <a:lnTo>
                    <a:pt x="311652" y="0"/>
                  </a:lnTo>
                  <a:lnTo>
                    <a:pt x="311652" y="305931"/>
                  </a:lnTo>
                  <a:lnTo>
                    <a:pt x="244977" y="305931"/>
                  </a:lnTo>
                  <a:lnTo>
                    <a:pt x="244977" y="73025"/>
                  </a:lnTo>
                  <a:lnTo>
                    <a:pt x="0" y="73025"/>
                  </a:lnTo>
                  <a:close/>
                </a:path>
              </a:pathLst>
            </a:custGeom>
            <a:solidFill>
              <a:schemeClr val="accent2">
                <a:alpha val="31372"/>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498" name="Google Shape;14498;p72"/>
            <p:cNvSpPr/>
            <p:nvPr/>
          </p:nvSpPr>
          <p:spPr>
            <a:xfrm>
              <a:off x="3893889" y="2983369"/>
              <a:ext cx="311652" cy="305931"/>
            </a:xfrm>
            <a:custGeom>
              <a:avLst/>
              <a:gdLst/>
              <a:ahLst/>
              <a:cxnLst/>
              <a:rect l="l" t="t" r="r" b="b"/>
              <a:pathLst>
                <a:path w="311652" h="305931" extrusionOk="0">
                  <a:moveTo>
                    <a:pt x="0" y="0"/>
                  </a:moveTo>
                  <a:lnTo>
                    <a:pt x="311652" y="0"/>
                  </a:lnTo>
                  <a:lnTo>
                    <a:pt x="311652" y="305931"/>
                  </a:lnTo>
                  <a:lnTo>
                    <a:pt x="244977" y="305931"/>
                  </a:lnTo>
                  <a:lnTo>
                    <a:pt x="244977" y="73025"/>
                  </a:lnTo>
                  <a:lnTo>
                    <a:pt x="0" y="73025"/>
                  </a:lnTo>
                  <a:close/>
                </a:path>
              </a:pathLst>
            </a:custGeom>
            <a:solidFill>
              <a:schemeClr val="accent2">
                <a:alpha val="2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grpSp>
      <p:sp>
        <p:nvSpPr>
          <p:cNvPr id="14499" name="Google Shape;14499;p72"/>
          <p:cNvSpPr txBox="1"/>
          <p:nvPr/>
        </p:nvSpPr>
        <p:spPr>
          <a:xfrm>
            <a:off x="6499370" y="4244754"/>
            <a:ext cx="4735704" cy="1851276"/>
          </a:xfrm>
          <a:prstGeom prst="rect">
            <a:avLst/>
          </a:prstGeom>
          <a:noFill/>
          <a:ln>
            <a:noFill/>
          </a:ln>
        </p:spPr>
        <p:txBody>
          <a:bodyPr spcFirstLastPara="1" wrap="square" lIns="0" tIns="0" rIns="0" bIns="0" anchor="t" anchorCtr="0">
            <a:spAutoFit/>
          </a:bodyPr>
          <a:lstStyle/>
          <a:p>
            <a:pPr marL="0" marR="0" lvl="0" indent="0" algn="l" rtl="0">
              <a:lnSpc>
                <a:spcPct val="110000"/>
              </a:lnSpc>
              <a:spcBef>
                <a:spcPts val="0"/>
              </a:spcBef>
              <a:spcAft>
                <a:spcPts val="0"/>
              </a:spcAft>
              <a:buClr>
                <a:srgbClr val="1B1D36"/>
              </a:buClr>
              <a:buSzPts val="1000"/>
              <a:buFont typeface="Arial"/>
              <a:buNone/>
            </a:pPr>
            <a:r>
              <a:rPr lang="en-US" sz="1400" b="1" i="0" u="none" strike="noStrike" cap="none">
                <a:solidFill>
                  <a:srgbClr val="1B1D36"/>
                </a:solidFill>
                <a:latin typeface="Arial"/>
                <a:ea typeface="Arial"/>
                <a:cs typeface="Arial"/>
                <a:sym typeface="Arial"/>
              </a:rPr>
              <a:t>Sample Customer Scenarios:</a:t>
            </a:r>
            <a:endParaRPr/>
          </a:p>
          <a:p>
            <a:pPr marL="171450" marR="0" lvl="0" indent="-171450" algn="l" rtl="0">
              <a:lnSpc>
                <a:spcPct val="110000"/>
              </a:lnSpc>
              <a:spcBef>
                <a:spcPts val="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Hardware Refresh / Large Scale Rebalancing</a:t>
            </a:r>
            <a:endParaRPr sz="1400" b="0" i="0" u="none" strike="noStrike" cap="none">
              <a:solidFill>
                <a:srgbClr val="000000"/>
              </a:solidFill>
              <a:latin typeface="Arial"/>
              <a:ea typeface="Arial"/>
              <a:cs typeface="Arial"/>
              <a:sym typeface="Arial"/>
            </a:endParaRPr>
          </a:p>
          <a:p>
            <a:pPr marL="171450" marR="0" lvl="0" indent="-171450" algn="l" rtl="0">
              <a:lnSpc>
                <a:spcPct val="110000"/>
              </a:lnSpc>
              <a:spcBef>
                <a:spcPts val="3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Cluster-to-cluster migration to VCF remote clusters  </a:t>
            </a:r>
            <a:endParaRPr sz="1400" b="0" i="0" u="none" strike="noStrike" cap="none">
              <a:solidFill>
                <a:srgbClr val="000000"/>
              </a:solidFill>
              <a:latin typeface="Arial"/>
              <a:ea typeface="Arial"/>
              <a:cs typeface="Arial"/>
              <a:sym typeface="Arial"/>
            </a:endParaRPr>
          </a:p>
          <a:p>
            <a:pPr marL="171450" marR="0" lvl="0" indent="-171450" algn="l" rtl="0">
              <a:lnSpc>
                <a:spcPct val="110000"/>
              </a:lnSpc>
              <a:spcBef>
                <a:spcPts val="3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Cross-vendor migration (AMD &lt;-&gt; Intel)</a:t>
            </a:r>
            <a:endParaRPr sz="1400" b="0" i="0" u="none" strike="noStrike" cap="none">
              <a:solidFill>
                <a:srgbClr val="000000"/>
              </a:solidFill>
              <a:latin typeface="Arial"/>
              <a:ea typeface="Arial"/>
              <a:cs typeface="Arial"/>
              <a:sym typeface="Arial"/>
            </a:endParaRPr>
          </a:p>
          <a:p>
            <a:pPr marL="171450" marR="0" lvl="0" indent="-171450" algn="l" rtl="0">
              <a:lnSpc>
                <a:spcPct val="110000"/>
              </a:lnSpc>
              <a:spcBef>
                <a:spcPts val="3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Network Conversion (vLAN to VPC)</a:t>
            </a:r>
            <a:endParaRPr sz="1400" b="0" i="0" u="none" strike="noStrike" cap="none">
              <a:solidFill>
                <a:srgbClr val="000000"/>
              </a:solidFill>
              <a:latin typeface="Arial"/>
              <a:ea typeface="Arial"/>
              <a:cs typeface="Arial"/>
              <a:sym typeface="Arial"/>
            </a:endParaRPr>
          </a:p>
          <a:p>
            <a:pPr marL="171450" marR="0" lvl="0" indent="-171450" algn="l" rtl="0">
              <a:lnSpc>
                <a:spcPct val="110000"/>
              </a:lnSpc>
              <a:spcBef>
                <a:spcPts val="3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Storage Migrations (VSAN OSA to ESA) </a:t>
            </a:r>
            <a:endParaRPr sz="1400" b="0" i="0" u="none" strike="noStrike" cap="none">
              <a:solidFill>
                <a:srgbClr val="000000"/>
              </a:solidFill>
              <a:latin typeface="Arial"/>
              <a:ea typeface="Arial"/>
              <a:cs typeface="Arial"/>
              <a:sym typeface="Arial"/>
            </a:endParaRPr>
          </a:p>
          <a:p>
            <a:pPr marL="171450" marR="0" lvl="0" indent="-171450" algn="l" rtl="0">
              <a:lnSpc>
                <a:spcPct val="110000"/>
              </a:lnSpc>
              <a:spcBef>
                <a:spcPts val="300"/>
              </a:spcBef>
              <a:spcAft>
                <a:spcPts val="0"/>
              </a:spcAft>
              <a:buClr>
                <a:srgbClr val="1B1D36"/>
              </a:buClr>
              <a:buSzPts val="1000"/>
              <a:buFont typeface="Arial"/>
              <a:buChar char="•"/>
            </a:pPr>
            <a:r>
              <a:rPr lang="en-US" sz="1400" b="0" i="0" u="none" strike="noStrike" cap="none">
                <a:solidFill>
                  <a:srgbClr val="1B1D36"/>
                </a:solidFill>
                <a:latin typeface="Arial"/>
                <a:ea typeface="Arial"/>
                <a:cs typeface="Arial"/>
                <a:sym typeface="Arial"/>
              </a:rPr>
              <a:t>Migration with environmental constraints</a:t>
            </a:r>
            <a:endParaRPr sz="1400" b="0" i="0" u="none" strike="noStrike" cap="none">
              <a:solidFill>
                <a:srgbClr val="000000"/>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4504"/>
        <p:cNvGrpSpPr/>
        <p:nvPr/>
      </p:nvGrpSpPr>
      <p:grpSpPr>
        <a:xfrm>
          <a:off x="0" y="0"/>
          <a:ext cx="0" cy="0"/>
          <a:chOff x="0" y="0"/>
          <a:chExt cx="0" cy="0"/>
        </a:xfrm>
      </p:grpSpPr>
      <p:sp>
        <p:nvSpPr>
          <p:cNvPr id="14505" name="Google Shape;14505;p73"/>
          <p:cNvSpPr txBox="1">
            <a:spLocks noGrp="1"/>
          </p:cNvSpPr>
          <p:nvPr>
            <p:ph type="title"/>
          </p:nvPr>
        </p:nvSpPr>
        <p:spPr>
          <a:xfrm>
            <a:off x="418445" y="439645"/>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latin typeface="Arial"/>
                <a:ea typeface="Arial"/>
                <a:cs typeface="Arial"/>
                <a:sym typeface="Arial"/>
              </a:rPr>
              <a:t>Best-In-Class: HCX Migration Options</a:t>
            </a:r>
            <a:endParaRPr>
              <a:latin typeface="Arial"/>
              <a:ea typeface="Arial"/>
              <a:cs typeface="Arial"/>
              <a:sym typeface="Arial"/>
            </a:endParaRPr>
          </a:p>
        </p:txBody>
      </p:sp>
      <p:sp>
        <p:nvSpPr>
          <p:cNvPr id="14506" name="Google Shape;14506;p73"/>
          <p:cNvSpPr/>
          <p:nvPr/>
        </p:nvSpPr>
        <p:spPr>
          <a:xfrm>
            <a:off x="608884" y="1996476"/>
            <a:ext cx="10535366" cy="3732519"/>
          </a:xfrm>
          <a:prstGeom prst="roundRect">
            <a:avLst>
              <a:gd name="adj" fmla="val 1770"/>
            </a:avLst>
          </a:prstGeom>
          <a:solidFill>
            <a:srgbClr val="F4F8FA"/>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Arial"/>
              <a:buNone/>
            </a:pPr>
            <a:endParaRPr sz="1200" b="0" i="0" u="none" strike="noStrike" cap="none">
              <a:solidFill>
                <a:srgbClr val="1B1D36"/>
              </a:solidFill>
              <a:latin typeface="Arial"/>
              <a:ea typeface="Arial"/>
              <a:cs typeface="Arial"/>
              <a:sym typeface="Arial"/>
            </a:endParaRPr>
          </a:p>
        </p:txBody>
      </p:sp>
      <p:sp>
        <p:nvSpPr>
          <p:cNvPr id="14507" name="Google Shape;14507;p73"/>
          <p:cNvSpPr/>
          <p:nvPr/>
        </p:nvSpPr>
        <p:spPr>
          <a:xfrm>
            <a:off x="886011" y="1443174"/>
            <a:ext cx="3373855" cy="668338"/>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800" b="0" i="0" u="none" strike="noStrike" cap="none">
                <a:solidFill>
                  <a:srgbClr val="005C8A"/>
                </a:solidFill>
                <a:latin typeface="Arial"/>
                <a:ea typeface="Arial"/>
                <a:cs typeface="Arial"/>
                <a:sym typeface="Arial"/>
              </a:rPr>
              <a:t>Migration using HCX</a:t>
            </a:r>
            <a:endParaRPr sz="1800" b="0" i="0" u="none" strike="noStrike" cap="none">
              <a:solidFill>
                <a:srgbClr val="005C8A"/>
              </a:solidFill>
              <a:latin typeface="Arial"/>
              <a:ea typeface="Arial"/>
              <a:cs typeface="Arial"/>
              <a:sym typeface="Arial"/>
            </a:endParaRPr>
          </a:p>
        </p:txBody>
      </p:sp>
      <p:sp>
        <p:nvSpPr>
          <p:cNvPr id="14508" name="Google Shape;14508;p73"/>
          <p:cNvSpPr/>
          <p:nvPr/>
        </p:nvSpPr>
        <p:spPr>
          <a:xfrm>
            <a:off x="4611346" y="1443174"/>
            <a:ext cx="1324445" cy="652390"/>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800" b="0" i="0" u="none" strike="noStrike" cap="none">
                <a:solidFill>
                  <a:srgbClr val="005C8A"/>
                </a:solidFill>
                <a:latin typeface="Arial"/>
                <a:ea typeface="Arial"/>
                <a:cs typeface="Arial"/>
                <a:sym typeface="Arial"/>
              </a:rPr>
              <a:t>VM State</a:t>
            </a:r>
            <a:endParaRPr sz="1800" b="0" i="0" u="none" strike="noStrike" cap="none">
              <a:solidFill>
                <a:srgbClr val="005C8A"/>
              </a:solidFill>
              <a:latin typeface="Arial"/>
              <a:ea typeface="Arial"/>
              <a:cs typeface="Arial"/>
              <a:sym typeface="Arial"/>
            </a:endParaRPr>
          </a:p>
        </p:txBody>
      </p:sp>
      <p:sp>
        <p:nvSpPr>
          <p:cNvPr id="14509" name="Google Shape;14509;p73"/>
          <p:cNvSpPr/>
          <p:nvPr/>
        </p:nvSpPr>
        <p:spPr>
          <a:xfrm>
            <a:off x="6326237" y="1443174"/>
            <a:ext cx="2599336" cy="652390"/>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800" b="0" i="0" u="none" strike="noStrike" cap="none">
                <a:solidFill>
                  <a:srgbClr val="005C8A"/>
                </a:solidFill>
                <a:latin typeface="Arial"/>
                <a:ea typeface="Arial"/>
                <a:cs typeface="Arial"/>
                <a:sym typeface="Arial"/>
              </a:rPr>
              <a:t>DataTransfer</a:t>
            </a:r>
            <a:endParaRPr sz="1800" b="0" i="0" u="none" strike="noStrike" cap="none">
              <a:solidFill>
                <a:srgbClr val="005C8A"/>
              </a:solidFill>
              <a:latin typeface="Arial"/>
              <a:ea typeface="Arial"/>
              <a:cs typeface="Arial"/>
              <a:sym typeface="Arial"/>
            </a:endParaRPr>
          </a:p>
        </p:txBody>
      </p:sp>
      <p:sp>
        <p:nvSpPr>
          <p:cNvPr id="14510" name="Google Shape;14510;p73"/>
          <p:cNvSpPr/>
          <p:nvPr/>
        </p:nvSpPr>
        <p:spPr>
          <a:xfrm>
            <a:off x="9108304" y="1463698"/>
            <a:ext cx="1706980" cy="652390"/>
          </a:xfrm>
          <a:prstGeom prst="rect">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800" b="0" i="0" u="none" strike="noStrike" cap="none">
                <a:solidFill>
                  <a:srgbClr val="005C8A"/>
                </a:solidFill>
                <a:latin typeface="Arial"/>
                <a:ea typeface="Arial"/>
                <a:cs typeface="Arial"/>
                <a:sym typeface="Arial"/>
              </a:rPr>
              <a:t>VM Migration</a:t>
            </a:r>
            <a:endParaRPr sz="1800" b="0" i="0" u="none" strike="noStrike" cap="none">
              <a:solidFill>
                <a:srgbClr val="005C8A"/>
              </a:solidFill>
              <a:latin typeface="Arial"/>
              <a:ea typeface="Arial"/>
              <a:cs typeface="Arial"/>
              <a:sym typeface="Arial"/>
            </a:endParaRPr>
          </a:p>
        </p:txBody>
      </p:sp>
      <p:sp>
        <p:nvSpPr>
          <p:cNvPr id="14511" name="Google Shape;14511;p73"/>
          <p:cNvSpPr/>
          <p:nvPr/>
        </p:nvSpPr>
        <p:spPr>
          <a:xfrm>
            <a:off x="886012" y="2217329"/>
            <a:ext cx="3373857" cy="462819"/>
          </a:xfrm>
          <a:prstGeom prst="roundRect">
            <a:avLst>
              <a:gd name="adj" fmla="val 0"/>
            </a:avLst>
          </a:prstGeom>
          <a:solidFill>
            <a:schemeClr val="lt1"/>
          </a:solidFill>
          <a:ln w="25400" cap="flat" cmpd="sng">
            <a:solidFill>
              <a:schemeClr val="accent1"/>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Bulk Migration</a:t>
            </a:r>
            <a:endParaRPr sz="1800" b="0" i="0" u="none" strike="noStrike" cap="none">
              <a:solidFill>
                <a:srgbClr val="000000"/>
              </a:solidFill>
              <a:latin typeface="Arial"/>
              <a:ea typeface="Arial"/>
              <a:cs typeface="Arial"/>
              <a:sym typeface="Arial"/>
            </a:endParaRPr>
          </a:p>
        </p:txBody>
      </p:sp>
      <p:sp>
        <p:nvSpPr>
          <p:cNvPr id="14512" name="Google Shape;14512;p73"/>
          <p:cNvSpPr/>
          <p:nvPr/>
        </p:nvSpPr>
        <p:spPr>
          <a:xfrm>
            <a:off x="4424305" y="2217329"/>
            <a:ext cx="1706981" cy="462819"/>
          </a:xfrm>
          <a:prstGeom prst="roundRect">
            <a:avLst>
              <a:gd name="adj" fmla="val 0"/>
            </a:avLst>
          </a:prstGeom>
          <a:solidFill>
            <a:schemeClr val="lt1"/>
          </a:solidFill>
          <a:ln w="25400" cap="flat" cmpd="sng">
            <a:solidFill>
              <a:schemeClr val="accent1"/>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On</a:t>
            </a:r>
            <a:endParaRPr sz="1800" b="0" i="0" u="none" strike="noStrike" cap="none">
              <a:solidFill>
                <a:srgbClr val="000000"/>
              </a:solidFill>
              <a:latin typeface="Arial"/>
              <a:ea typeface="Arial"/>
              <a:cs typeface="Arial"/>
              <a:sym typeface="Arial"/>
            </a:endParaRPr>
          </a:p>
        </p:txBody>
      </p:sp>
      <p:sp>
        <p:nvSpPr>
          <p:cNvPr id="14513" name="Google Shape;14513;p73"/>
          <p:cNvSpPr/>
          <p:nvPr/>
        </p:nvSpPr>
        <p:spPr>
          <a:xfrm>
            <a:off x="6326236" y="2217329"/>
            <a:ext cx="2599339" cy="462819"/>
          </a:xfrm>
          <a:prstGeom prst="roundRect">
            <a:avLst>
              <a:gd name="adj" fmla="val 0"/>
            </a:avLst>
          </a:prstGeom>
          <a:solidFill>
            <a:schemeClr val="lt1"/>
          </a:solidFill>
          <a:ln w="25400" cap="flat" cmpd="sng">
            <a:solidFill>
              <a:schemeClr val="accent1"/>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HBR</a:t>
            </a:r>
            <a:endParaRPr sz="1800" b="0" i="0" u="none" strike="noStrike" cap="none">
              <a:solidFill>
                <a:srgbClr val="000000"/>
              </a:solidFill>
              <a:latin typeface="Arial"/>
              <a:ea typeface="Arial"/>
              <a:cs typeface="Arial"/>
              <a:sym typeface="Arial"/>
            </a:endParaRPr>
          </a:p>
        </p:txBody>
      </p:sp>
      <p:sp>
        <p:nvSpPr>
          <p:cNvPr id="14514" name="Google Shape;14514;p73"/>
          <p:cNvSpPr/>
          <p:nvPr/>
        </p:nvSpPr>
        <p:spPr>
          <a:xfrm>
            <a:off x="9108303" y="2217329"/>
            <a:ext cx="1706981" cy="462819"/>
          </a:xfrm>
          <a:prstGeom prst="roundRect">
            <a:avLst>
              <a:gd name="adj" fmla="val 0"/>
            </a:avLst>
          </a:prstGeom>
          <a:solidFill>
            <a:schemeClr val="lt1"/>
          </a:solidFill>
          <a:ln w="25400" cap="flat" cmpd="sng">
            <a:solidFill>
              <a:schemeClr val="accent1"/>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Warm</a:t>
            </a:r>
            <a:endParaRPr sz="1800" b="0" i="0" u="none" strike="noStrike" cap="none">
              <a:solidFill>
                <a:srgbClr val="000000"/>
              </a:solidFill>
              <a:latin typeface="Arial"/>
              <a:ea typeface="Arial"/>
              <a:cs typeface="Arial"/>
              <a:sym typeface="Arial"/>
            </a:endParaRPr>
          </a:p>
        </p:txBody>
      </p:sp>
      <p:sp>
        <p:nvSpPr>
          <p:cNvPr id="14515" name="Google Shape;14515;p73"/>
          <p:cNvSpPr/>
          <p:nvPr/>
        </p:nvSpPr>
        <p:spPr>
          <a:xfrm>
            <a:off x="886011" y="2788205"/>
            <a:ext cx="3373858" cy="462819"/>
          </a:xfrm>
          <a:prstGeom prst="roundRect">
            <a:avLst>
              <a:gd name="adj" fmla="val 0"/>
            </a:avLst>
          </a:prstGeom>
          <a:solidFill>
            <a:schemeClr val="lt1"/>
          </a:solidFill>
          <a:ln w="25400" cap="flat" cmpd="sng">
            <a:solidFill>
              <a:schemeClr val="accent3"/>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Replication Assisted vMotion</a:t>
            </a:r>
            <a:endParaRPr sz="1800" b="0" i="0" u="none" strike="noStrike" cap="none">
              <a:solidFill>
                <a:srgbClr val="000000"/>
              </a:solidFill>
              <a:latin typeface="Arial"/>
              <a:ea typeface="Arial"/>
              <a:cs typeface="Arial"/>
              <a:sym typeface="Arial"/>
            </a:endParaRPr>
          </a:p>
        </p:txBody>
      </p:sp>
      <p:sp>
        <p:nvSpPr>
          <p:cNvPr id="14516" name="Google Shape;14516;p73"/>
          <p:cNvSpPr/>
          <p:nvPr/>
        </p:nvSpPr>
        <p:spPr>
          <a:xfrm>
            <a:off x="4424305" y="2788205"/>
            <a:ext cx="1706982" cy="462819"/>
          </a:xfrm>
          <a:prstGeom prst="roundRect">
            <a:avLst>
              <a:gd name="adj" fmla="val 0"/>
            </a:avLst>
          </a:prstGeom>
          <a:solidFill>
            <a:schemeClr val="lt1"/>
          </a:solidFill>
          <a:ln w="25400" cap="flat" cmpd="sng">
            <a:solidFill>
              <a:schemeClr val="accent3"/>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On</a:t>
            </a:r>
            <a:endParaRPr sz="1800" b="0" i="0" u="none" strike="noStrike" cap="none">
              <a:solidFill>
                <a:srgbClr val="000000"/>
              </a:solidFill>
              <a:latin typeface="Arial"/>
              <a:ea typeface="Arial"/>
              <a:cs typeface="Arial"/>
              <a:sym typeface="Arial"/>
            </a:endParaRPr>
          </a:p>
        </p:txBody>
      </p:sp>
      <p:sp>
        <p:nvSpPr>
          <p:cNvPr id="14517" name="Google Shape;14517;p73"/>
          <p:cNvSpPr/>
          <p:nvPr/>
        </p:nvSpPr>
        <p:spPr>
          <a:xfrm>
            <a:off x="6326235" y="2788205"/>
            <a:ext cx="2599341" cy="462819"/>
          </a:xfrm>
          <a:prstGeom prst="roundRect">
            <a:avLst>
              <a:gd name="adj" fmla="val 0"/>
            </a:avLst>
          </a:prstGeom>
          <a:solidFill>
            <a:schemeClr val="lt1"/>
          </a:solidFill>
          <a:ln w="25400" cap="flat" cmpd="sng">
            <a:solidFill>
              <a:schemeClr val="accent3"/>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HBR + vMotion </a:t>
            </a:r>
            <a:endParaRPr/>
          </a:p>
          <a:p>
            <a:pPr marL="0" marR="0" lvl="0" indent="0" algn="ctr" rtl="0">
              <a:lnSpc>
                <a:spcPct val="100000"/>
              </a:lnSpc>
              <a:spcBef>
                <a:spcPts val="0"/>
              </a:spcBef>
              <a:spcAft>
                <a:spcPts val="0"/>
              </a:spcAft>
              <a:buClr>
                <a:srgbClr val="1B1D36"/>
              </a:buClr>
              <a:buSzPts val="1400"/>
              <a:buFont typeface="Arial"/>
              <a:buNone/>
            </a:pPr>
            <a:r>
              <a:rPr lang="en-US" sz="1400" b="0" i="0" u="none" strike="noStrike" cap="none">
                <a:solidFill>
                  <a:srgbClr val="1B1D36"/>
                </a:solidFill>
                <a:latin typeface="Arial"/>
                <a:ea typeface="Arial"/>
                <a:cs typeface="Arial"/>
                <a:sym typeface="Arial"/>
              </a:rPr>
              <a:t>(IX-based)</a:t>
            </a:r>
            <a:endParaRPr sz="1800" b="0" i="0" u="none" strike="noStrike" cap="none">
              <a:solidFill>
                <a:srgbClr val="000000"/>
              </a:solidFill>
              <a:latin typeface="Arial"/>
              <a:ea typeface="Arial"/>
              <a:cs typeface="Arial"/>
              <a:sym typeface="Arial"/>
            </a:endParaRPr>
          </a:p>
        </p:txBody>
      </p:sp>
      <p:sp>
        <p:nvSpPr>
          <p:cNvPr id="14518" name="Google Shape;14518;p73"/>
          <p:cNvSpPr/>
          <p:nvPr/>
        </p:nvSpPr>
        <p:spPr>
          <a:xfrm>
            <a:off x="9108303" y="2788205"/>
            <a:ext cx="1706982" cy="462819"/>
          </a:xfrm>
          <a:prstGeom prst="roundRect">
            <a:avLst>
              <a:gd name="adj" fmla="val 0"/>
            </a:avLst>
          </a:prstGeom>
          <a:solidFill>
            <a:schemeClr val="lt1"/>
          </a:solidFill>
          <a:ln w="25400" cap="flat" cmpd="sng">
            <a:solidFill>
              <a:schemeClr val="accent3"/>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Live</a:t>
            </a:r>
            <a:endParaRPr sz="1800" b="0" i="0" u="none" strike="noStrike" cap="none">
              <a:solidFill>
                <a:srgbClr val="000000"/>
              </a:solidFill>
              <a:latin typeface="Arial"/>
              <a:ea typeface="Arial"/>
              <a:cs typeface="Arial"/>
              <a:sym typeface="Arial"/>
            </a:endParaRPr>
          </a:p>
        </p:txBody>
      </p:sp>
      <p:sp>
        <p:nvSpPr>
          <p:cNvPr id="14519" name="Google Shape;14519;p73"/>
          <p:cNvSpPr/>
          <p:nvPr/>
        </p:nvSpPr>
        <p:spPr>
          <a:xfrm>
            <a:off x="886012" y="3359080"/>
            <a:ext cx="3373858" cy="462819"/>
          </a:xfrm>
          <a:prstGeom prst="roundRect">
            <a:avLst>
              <a:gd name="adj" fmla="val 0"/>
            </a:avLst>
          </a:prstGeom>
          <a:solidFill>
            <a:schemeClr val="lt1"/>
          </a:solidFill>
          <a:ln w="25400" cap="flat" cmpd="sng">
            <a:solidFill>
              <a:schemeClr val="accent2"/>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HCX Assisted vMotion</a:t>
            </a:r>
            <a:endParaRPr sz="1600" b="0" i="0" u="none" strike="noStrike" cap="none">
              <a:solidFill>
                <a:srgbClr val="000000"/>
              </a:solidFill>
              <a:latin typeface="Arial"/>
              <a:ea typeface="Arial"/>
              <a:cs typeface="Arial"/>
              <a:sym typeface="Arial"/>
            </a:endParaRPr>
          </a:p>
        </p:txBody>
      </p:sp>
      <p:sp>
        <p:nvSpPr>
          <p:cNvPr id="14520" name="Google Shape;14520;p73"/>
          <p:cNvSpPr/>
          <p:nvPr/>
        </p:nvSpPr>
        <p:spPr>
          <a:xfrm>
            <a:off x="4424306" y="3359080"/>
            <a:ext cx="1706982" cy="462819"/>
          </a:xfrm>
          <a:prstGeom prst="roundRect">
            <a:avLst>
              <a:gd name="adj" fmla="val 0"/>
            </a:avLst>
          </a:prstGeom>
          <a:solidFill>
            <a:schemeClr val="lt1"/>
          </a:solidFill>
          <a:ln w="25400" cap="flat" cmpd="sng">
            <a:solidFill>
              <a:schemeClr val="accent2"/>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On/Off</a:t>
            </a:r>
            <a:endParaRPr sz="1800" b="0" i="0" u="none" strike="noStrike" cap="none">
              <a:solidFill>
                <a:srgbClr val="000000"/>
              </a:solidFill>
              <a:latin typeface="Arial"/>
              <a:ea typeface="Arial"/>
              <a:cs typeface="Arial"/>
              <a:sym typeface="Arial"/>
            </a:endParaRPr>
          </a:p>
        </p:txBody>
      </p:sp>
      <p:sp>
        <p:nvSpPr>
          <p:cNvPr id="14521" name="Google Shape;14521;p73"/>
          <p:cNvSpPr/>
          <p:nvPr/>
        </p:nvSpPr>
        <p:spPr>
          <a:xfrm>
            <a:off x="6326236" y="3359080"/>
            <a:ext cx="2599341" cy="462819"/>
          </a:xfrm>
          <a:prstGeom prst="roundRect">
            <a:avLst>
              <a:gd name="adj" fmla="val 0"/>
            </a:avLst>
          </a:prstGeom>
          <a:solidFill>
            <a:schemeClr val="lt1"/>
          </a:solidFill>
          <a:ln w="25400" cap="flat" cmpd="sng">
            <a:solidFill>
              <a:schemeClr val="accent2"/>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400"/>
              <a:buFont typeface="Arial"/>
              <a:buNone/>
            </a:pPr>
            <a:r>
              <a:rPr lang="en-US" sz="1400" b="0" i="0" u="none" strike="noStrike" cap="none">
                <a:solidFill>
                  <a:srgbClr val="1B1D36"/>
                </a:solidFill>
                <a:latin typeface="Arial"/>
                <a:ea typeface="Arial"/>
                <a:cs typeface="Arial"/>
                <a:sym typeface="Arial"/>
              </a:rPr>
              <a:t>vMotion when On</a:t>
            </a:r>
            <a:endParaRPr sz="1800" b="0" i="0" u="none" strike="noStrike" cap="none">
              <a:solidFill>
                <a:srgbClr val="000000"/>
              </a:solidFill>
              <a:latin typeface="Arial"/>
              <a:ea typeface="Arial"/>
              <a:cs typeface="Arial"/>
              <a:sym typeface="Arial"/>
            </a:endParaRPr>
          </a:p>
          <a:p>
            <a:pPr marL="0" marR="0" lvl="0" indent="0" algn="ctr" rtl="0">
              <a:lnSpc>
                <a:spcPct val="100000"/>
              </a:lnSpc>
              <a:spcBef>
                <a:spcPts val="0"/>
              </a:spcBef>
              <a:spcAft>
                <a:spcPts val="0"/>
              </a:spcAft>
              <a:buClr>
                <a:srgbClr val="1B1D36"/>
              </a:buClr>
              <a:buSzPts val="1400"/>
              <a:buFont typeface="Arial"/>
              <a:buNone/>
            </a:pPr>
            <a:r>
              <a:rPr lang="en-US" sz="1400" b="0" i="0" u="none" strike="noStrike" cap="none">
                <a:solidFill>
                  <a:srgbClr val="1B1D36"/>
                </a:solidFill>
                <a:latin typeface="Arial"/>
                <a:ea typeface="Arial"/>
                <a:cs typeface="Arial"/>
                <a:sym typeface="Arial"/>
              </a:rPr>
              <a:t>NFC when Off</a:t>
            </a:r>
            <a:endParaRPr sz="1600" b="0" i="0" u="none" strike="noStrike" cap="none">
              <a:solidFill>
                <a:srgbClr val="000000"/>
              </a:solidFill>
              <a:latin typeface="Arial"/>
              <a:ea typeface="Arial"/>
              <a:cs typeface="Arial"/>
              <a:sym typeface="Arial"/>
            </a:endParaRPr>
          </a:p>
        </p:txBody>
      </p:sp>
      <p:sp>
        <p:nvSpPr>
          <p:cNvPr id="14522" name="Google Shape;14522;p73"/>
          <p:cNvSpPr/>
          <p:nvPr/>
        </p:nvSpPr>
        <p:spPr>
          <a:xfrm>
            <a:off x="9108304" y="3359080"/>
            <a:ext cx="1706982" cy="462819"/>
          </a:xfrm>
          <a:prstGeom prst="roundRect">
            <a:avLst>
              <a:gd name="adj" fmla="val 0"/>
            </a:avLst>
          </a:prstGeom>
          <a:solidFill>
            <a:schemeClr val="lt1"/>
          </a:solidFill>
          <a:ln w="25400" cap="flat" cmpd="sng">
            <a:solidFill>
              <a:schemeClr val="accent2"/>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Live</a:t>
            </a:r>
            <a:endParaRPr sz="1800" b="0" i="0" u="none" strike="noStrike" cap="none">
              <a:solidFill>
                <a:srgbClr val="000000"/>
              </a:solidFill>
              <a:latin typeface="Arial"/>
              <a:ea typeface="Arial"/>
              <a:cs typeface="Arial"/>
              <a:sym typeface="Arial"/>
            </a:endParaRPr>
          </a:p>
        </p:txBody>
      </p:sp>
      <p:sp>
        <p:nvSpPr>
          <p:cNvPr id="14523" name="Google Shape;14523;p73"/>
          <p:cNvSpPr/>
          <p:nvPr/>
        </p:nvSpPr>
        <p:spPr>
          <a:xfrm>
            <a:off x="886013" y="4489505"/>
            <a:ext cx="3373854" cy="462819"/>
          </a:xfrm>
          <a:prstGeom prst="roundRect">
            <a:avLst>
              <a:gd name="adj" fmla="val 0"/>
            </a:avLst>
          </a:prstGeom>
          <a:solidFill>
            <a:schemeClr val="lt1"/>
          </a:solidFill>
          <a:ln w="25400" cap="flat" cmpd="sng">
            <a:solidFill>
              <a:schemeClr val="accent4"/>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Cold Migration</a:t>
            </a:r>
            <a:endParaRPr sz="1600" b="0" i="0" u="none" strike="noStrike" cap="none">
              <a:solidFill>
                <a:srgbClr val="000000"/>
              </a:solidFill>
              <a:latin typeface="Arial"/>
              <a:ea typeface="Arial"/>
              <a:cs typeface="Arial"/>
              <a:sym typeface="Arial"/>
            </a:endParaRPr>
          </a:p>
        </p:txBody>
      </p:sp>
      <p:sp>
        <p:nvSpPr>
          <p:cNvPr id="14524" name="Google Shape;14524;p73"/>
          <p:cNvSpPr/>
          <p:nvPr/>
        </p:nvSpPr>
        <p:spPr>
          <a:xfrm>
            <a:off x="4424306" y="4489505"/>
            <a:ext cx="1706980" cy="462819"/>
          </a:xfrm>
          <a:prstGeom prst="roundRect">
            <a:avLst>
              <a:gd name="adj" fmla="val 0"/>
            </a:avLst>
          </a:prstGeom>
          <a:solidFill>
            <a:schemeClr val="lt1"/>
          </a:solidFill>
          <a:ln w="25400" cap="flat" cmpd="sng">
            <a:solidFill>
              <a:schemeClr val="accent4"/>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Off</a:t>
            </a:r>
            <a:endParaRPr sz="1800" b="0" i="0" u="none" strike="noStrike" cap="none">
              <a:solidFill>
                <a:srgbClr val="000000"/>
              </a:solidFill>
              <a:latin typeface="Arial"/>
              <a:ea typeface="Arial"/>
              <a:cs typeface="Arial"/>
              <a:sym typeface="Arial"/>
            </a:endParaRPr>
          </a:p>
        </p:txBody>
      </p:sp>
      <p:sp>
        <p:nvSpPr>
          <p:cNvPr id="14525" name="Google Shape;14525;p73"/>
          <p:cNvSpPr/>
          <p:nvPr/>
        </p:nvSpPr>
        <p:spPr>
          <a:xfrm>
            <a:off x="6326236" y="4489505"/>
            <a:ext cx="2599337" cy="462819"/>
          </a:xfrm>
          <a:prstGeom prst="roundRect">
            <a:avLst>
              <a:gd name="adj" fmla="val 0"/>
            </a:avLst>
          </a:prstGeom>
          <a:solidFill>
            <a:schemeClr val="lt1"/>
          </a:solidFill>
          <a:ln w="25400" cap="flat" cmpd="sng">
            <a:solidFill>
              <a:schemeClr val="accent4"/>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NFC</a:t>
            </a:r>
            <a:endParaRPr sz="1600" b="0" i="0" u="none" strike="noStrike" cap="none">
              <a:solidFill>
                <a:srgbClr val="1B1D36"/>
              </a:solidFill>
              <a:latin typeface="Arial"/>
              <a:ea typeface="Arial"/>
              <a:cs typeface="Arial"/>
              <a:sym typeface="Arial"/>
            </a:endParaRPr>
          </a:p>
        </p:txBody>
      </p:sp>
      <p:sp>
        <p:nvSpPr>
          <p:cNvPr id="14526" name="Google Shape;14526;p73"/>
          <p:cNvSpPr/>
          <p:nvPr/>
        </p:nvSpPr>
        <p:spPr>
          <a:xfrm>
            <a:off x="9108304" y="4489505"/>
            <a:ext cx="1706980" cy="462819"/>
          </a:xfrm>
          <a:prstGeom prst="roundRect">
            <a:avLst>
              <a:gd name="adj" fmla="val 0"/>
            </a:avLst>
          </a:prstGeom>
          <a:solidFill>
            <a:schemeClr val="lt1"/>
          </a:solidFill>
          <a:ln w="25400" cap="flat" cmpd="sng">
            <a:solidFill>
              <a:schemeClr val="accent4"/>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Cold</a:t>
            </a:r>
            <a:endParaRPr sz="1800" b="0" i="0" u="none" strike="noStrike" cap="none">
              <a:solidFill>
                <a:srgbClr val="000000"/>
              </a:solidFill>
              <a:latin typeface="Arial"/>
              <a:ea typeface="Arial"/>
              <a:cs typeface="Arial"/>
              <a:sym typeface="Arial"/>
            </a:endParaRPr>
          </a:p>
        </p:txBody>
      </p:sp>
      <p:sp>
        <p:nvSpPr>
          <p:cNvPr id="14527" name="Google Shape;14527;p73"/>
          <p:cNvSpPr/>
          <p:nvPr/>
        </p:nvSpPr>
        <p:spPr>
          <a:xfrm>
            <a:off x="886013" y="5051052"/>
            <a:ext cx="3373854" cy="462819"/>
          </a:xfrm>
          <a:prstGeom prst="roundRect">
            <a:avLst>
              <a:gd name="adj" fmla="val 0"/>
            </a:avLst>
          </a:prstGeom>
          <a:solidFill>
            <a:schemeClr val="lt1"/>
          </a:solidFill>
          <a:ln w="25400" cap="flat" cmpd="sng">
            <a:solidFill>
              <a:schemeClr val="accent5"/>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OS Assisted Replication</a:t>
            </a:r>
            <a:endParaRPr sz="1800" b="0" i="0" u="none" strike="noStrike" cap="none">
              <a:solidFill>
                <a:srgbClr val="000000"/>
              </a:solidFill>
              <a:latin typeface="Arial"/>
              <a:ea typeface="Arial"/>
              <a:cs typeface="Arial"/>
              <a:sym typeface="Arial"/>
            </a:endParaRPr>
          </a:p>
        </p:txBody>
      </p:sp>
      <p:sp>
        <p:nvSpPr>
          <p:cNvPr id="14528" name="Google Shape;14528;p73"/>
          <p:cNvSpPr/>
          <p:nvPr/>
        </p:nvSpPr>
        <p:spPr>
          <a:xfrm>
            <a:off x="4424306" y="5051052"/>
            <a:ext cx="1706980" cy="462819"/>
          </a:xfrm>
          <a:prstGeom prst="roundRect">
            <a:avLst>
              <a:gd name="adj" fmla="val 0"/>
            </a:avLst>
          </a:prstGeom>
          <a:solidFill>
            <a:schemeClr val="lt1"/>
          </a:solidFill>
          <a:ln w="25400" cap="flat" cmpd="sng">
            <a:solidFill>
              <a:schemeClr val="accent5"/>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On</a:t>
            </a:r>
            <a:endParaRPr sz="1800" b="0" i="0" u="none" strike="noStrike" cap="none">
              <a:solidFill>
                <a:srgbClr val="000000"/>
              </a:solidFill>
              <a:latin typeface="Arial"/>
              <a:ea typeface="Arial"/>
              <a:cs typeface="Arial"/>
              <a:sym typeface="Arial"/>
            </a:endParaRPr>
          </a:p>
        </p:txBody>
      </p:sp>
      <p:sp>
        <p:nvSpPr>
          <p:cNvPr id="14529" name="Google Shape;14529;p73"/>
          <p:cNvSpPr/>
          <p:nvPr/>
        </p:nvSpPr>
        <p:spPr>
          <a:xfrm>
            <a:off x="6326236" y="5051052"/>
            <a:ext cx="2599337" cy="462819"/>
          </a:xfrm>
          <a:prstGeom prst="roundRect">
            <a:avLst>
              <a:gd name="adj" fmla="val 0"/>
            </a:avLst>
          </a:prstGeom>
          <a:solidFill>
            <a:schemeClr val="lt1"/>
          </a:solidFill>
          <a:ln w="25400" cap="flat" cmpd="sng">
            <a:solidFill>
              <a:schemeClr val="accent5"/>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Sentinel Agent</a:t>
            </a:r>
            <a:endParaRPr sz="1800" b="0" i="0" u="none" strike="noStrike" cap="none">
              <a:solidFill>
                <a:srgbClr val="000000"/>
              </a:solidFill>
              <a:latin typeface="Arial"/>
              <a:ea typeface="Arial"/>
              <a:cs typeface="Arial"/>
              <a:sym typeface="Arial"/>
            </a:endParaRPr>
          </a:p>
        </p:txBody>
      </p:sp>
      <p:sp>
        <p:nvSpPr>
          <p:cNvPr id="14530" name="Google Shape;14530;p73"/>
          <p:cNvSpPr/>
          <p:nvPr/>
        </p:nvSpPr>
        <p:spPr>
          <a:xfrm>
            <a:off x="9108304" y="5051052"/>
            <a:ext cx="1706980" cy="462819"/>
          </a:xfrm>
          <a:prstGeom prst="roundRect">
            <a:avLst>
              <a:gd name="adj" fmla="val 0"/>
            </a:avLst>
          </a:prstGeom>
          <a:solidFill>
            <a:schemeClr val="lt1"/>
          </a:solidFill>
          <a:ln w="25400" cap="flat" cmpd="sng">
            <a:solidFill>
              <a:schemeClr val="accent5"/>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Warm</a:t>
            </a:r>
            <a:endParaRPr sz="1800" b="0" i="0" u="none" strike="noStrike" cap="none">
              <a:solidFill>
                <a:srgbClr val="000000"/>
              </a:solidFill>
              <a:latin typeface="Arial"/>
              <a:ea typeface="Arial"/>
              <a:cs typeface="Arial"/>
              <a:sym typeface="Arial"/>
            </a:endParaRPr>
          </a:p>
        </p:txBody>
      </p:sp>
      <p:sp>
        <p:nvSpPr>
          <p:cNvPr id="14531" name="Google Shape;14531;p73"/>
          <p:cNvSpPr/>
          <p:nvPr/>
        </p:nvSpPr>
        <p:spPr>
          <a:xfrm>
            <a:off x="886011" y="3929955"/>
            <a:ext cx="3373858" cy="462819"/>
          </a:xfrm>
          <a:prstGeom prst="roundRect">
            <a:avLst>
              <a:gd name="adj" fmla="val 0"/>
            </a:avLst>
          </a:prstGeom>
          <a:solidFill>
            <a:schemeClr val="lt1"/>
          </a:solidFill>
          <a:ln w="25400" cap="flat" cmpd="sng">
            <a:solidFill>
              <a:srgbClr val="B4880D"/>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HCX vMotion</a:t>
            </a:r>
            <a:endParaRPr sz="1800" b="0" i="0" u="none" strike="noStrike" cap="none">
              <a:solidFill>
                <a:srgbClr val="000000"/>
              </a:solidFill>
              <a:latin typeface="Arial"/>
              <a:ea typeface="Arial"/>
              <a:cs typeface="Arial"/>
              <a:sym typeface="Arial"/>
            </a:endParaRPr>
          </a:p>
        </p:txBody>
      </p:sp>
      <p:sp>
        <p:nvSpPr>
          <p:cNvPr id="14532" name="Google Shape;14532;p73"/>
          <p:cNvSpPr/>
          <p:nvPr/>
        </p:nvSpPr>
        <p:spPr>
          <a:xfrm>
            <a:off x="4424305" y="3929955"/>
            <a:ext cx="1706982" cy="462819"/>
          </a:xfrm>
          <a:prstGeom prst="roundRect">
            <a:avLst>
              <a:gd name="adj" fmla="val 0"/>
            </a:avLst>
          </a:prstGeom>
          <a:solidFill>
            <a:schemeClr val="lt1"/>
          </a:solidFill>
          <a:ln w="25400" cap="flat" cmpd="sng">
            <a:solidFill>
              <a:srgbClr val="B4880D"/>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On</a:t>
            </a:r>
            <a:endParaRPr sz="1800" b="0" i="0" u="none" strike="noStrike" cap="none">
              <a:solidFill>
                <a:srgbClr val="000000"/>
              </a:solidFill>
              <a:latin typeface="Arial"/>
              <a:ea typeface="Arial"/>
              <a:cs typeface="Arial"/>
              <a:sym typeface="Arial"/>
            </a:endParaRPr>
          </a:p>
        </p:txBody>
      </p:sp>
      <p:sp>
        <p:nvSpPr>
          <p:cNvPr id="14533" name="Google Shape;14533;p73"/>
          <p:cNvSpPr/>
          <p:nvPr/>
        </p:nvSpPr>
        <p:spPr>
          <a:xfrm>
            <a:off x="6326235" y="3929955"/>
            <a:ext cx="2599341" cy="462819"/>
          </a:xfrm>
          <a:prstGeom prst="roundRect">
            <a:avLst>
              <a:gd name="adj" fmla="val 0"/>
            </a:avLst>
          </a:prstGeom>
          <a:solidFill>
            <a:schemeClr val="lt1"/>
          </a:solidFill>
          <a:ln w="25400" cap="flat" cmpd="sng">
            <a:solidFill>
              <a:srgbClr val="B4880D"/>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MA vMotion  </a:t>
            </a:r>
            <a:endParaRPr sz="1800" b="0" i="0" u="none" strike="noStrike" cap="none">
              <a:solidFill>
                <a:srgbClr val="000000"/>
              </a:solidFill>
              <a:latin typeface="Arial"/>
              <a:ea typeface="Arial"/>
              <a:cs typeface="Arial"/>
              <a:sym typeface="Arial"/>
            </a:endParaRPr>
          </a:p>
          <a:p>
            <a:pPr marL="0" marR="0" lvl="0" indent="0" algn="ctr" rtl="0">
              <a:lnSpc>
                <a:spcPct val="100000"/>
              </a:lnSpc>
              <a:spcBef>
                <a:spcPts val="0"/>
              </a:spcBef>
              <a:spcAft>
                <a:spcPts val="0"/>
              </a:spcAft>
              <a:buClr>
                <a:srgbClr val="1B1D36"/>
              </a:buClr>
              <a:buSzPts val="1600"/>
              <a:buFont typeface="Arial"/>
              <a:buNone/>
            </a:pPr>
            <a:r>
              <a:rPr lang="en-US" sz="1400" b="0" i="0" u="none" strike="noStrike" cap="none">
                <a:solidFill>
                  <a:srgbClr val="1B1D36"/>
                </a:solidFill>
                <a:latin typeface="Arial"/>
                <a:ea typeface="Arial"/>
                <a:cs typeface="Arial"/>
                <a:sym typeface="Arial"/>
              </a:rPr>
              <a:t>(IX-based)</a:t>
            </a:r>
            <a:endParaRPr sz="1600" b="0" i="0" u="none" strike="noStrike" cap="none">
              <a:solidFill>
                <a:srgbClr val="000000"/>
              </a:solidFill>
              <a:latin typeface="Arial"/>
              <a:ea typeface="Arial"/>
              <a:cs typeface="Arial"/>
              <a:sym typeface="Arial"/>
            </a:endParaRPr>
          </a:p>
        </p:txBody>
      </p:sp>
      <p:sp>
        <p:nvSpPr>
          <p:cNvPr id="14534" name="Google Shape;14534;p73"/>
          <p:cNvSpPr/>
          <p:nvPr/>
        </p:nvSpPr>
        <p:spPr>
          <a:xfrm>
            <a:off x="9108303" y="3929955"/>
            <a:ext cx="1706982" cy="462819"/>
          </a:xfrm>
          <a:prstGeom prst="roundRect">
            <a:avLst>
              <a:gd name="adj" fmla="val 0"/>
            </a:avLst>
          </a:prstGeom>
          <a:solidFill>
            <a:schemeClr val="lt1"/>
          </a:solidFill>
          <a:ln w="25400" cap="flat" cmpd="sng">
            <a:solidFill>
              <a:srgbClr val="B4880D"/>
            </a:solidFill>
            <a:prstDash val="solid"/>
            <a:miter lim="800000"/>
            <a:headEnd type="none" w="sm" len="sm"/>
            <a:tailEnd type="none" w="sm" len="sm"/>
          </a:ln>
        </p:spPr>
        <p:txBody>
          <a:bodyPr spcFirstLastPara="1" wrap="square" lIns="60925" tIns="30450" rIns="60925" bIns="30450" anchor="ctr" anchorCtr="0">
            <a:noAutofit/>
          </a:bodyPr>
          <a:lstStyle/>
          <a:p>
            <a:pPr marL="0" marR="0" lvl="0" indent="0" algn="ctr" rtl="0">
              <a:lnSpc>
                <a:spcPct val="100000"/>
              </a:lnSpc>
              <a:spcBef>
                <a:spcPts val="0"/>
              </a:spcBef>
              <a:spcAft>
                <a:spcPts val="0"/>
              </a:spcAft>
              <a:buClr>
                <a:srgbClr val="1B1D36"/>
              </a:buClr>
              <a:buSzPts val="1600"/>
              <a:buFont typeface="Arial"/>
              <a:buNone/>
            </a:pPr>
            <a:r>
              <a:rPr lang="en-US" sz="1600" b="0" i="0" u="none" strike="noStrike" cap="none">
                <a:solidFill>
                  <a:srgbClr val="1B1D36"/>
                </a:solidFill>
                <a:latin typeface="Arial"/>
                <a:ea typeface="Arial"/>
                <a:cs typeface="Arial"/>
                <a:sym typeface="Arial"/>
              </a:rPr>
              <a:t>Live</a:t>
            </a:r>
            <a:endParaRPr sz="1800" b="0" i="0" u="none" strike="noStrike" cap="none">
              <a:solidFill>
                <a:srgbClr val="000000"/>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4507"/>
                                        </p:tgtEl>
                                        <p:attrNameLst>
                                          <p:attrName>style.visibility</p:attrName>
                                        </p:attrNameLst>
                                      </p:cBhvr>
                                      <p:to>
                                        <p:strVal val="visible"/>
                                      </p:to>
                                    </p:set>
                                    <p:animEffect transition="in" filter="fade">
                                      <p:cBhvr>
                                        <p:cTn id="7" dur="750"/>
                                        <p:tgtEl>
                                          <p:spTgt spid="14507"/>
                                        </p:tgtEl>
                                      </p:cBhvr>
                                    </p:animEffect>
                                  </p:childTnLst>
                                </p:cTn>
                              </p:par>
                              <p:par>
                                <p:cTn id="8" presetID="10" presetClass="entr" presetSubtype="0" fill="hold" nodeType="withEffect">
                                  <p:stCondLst>
                                    <p:cond delay="750"/>
                                  </p:stCondLst>
                                  <p:childTnLst>
                                    <p:set>
                                      <p:cBhvr>
                                        <p:cTn id="9" dur="1" fill="hold">
                                          <p:stCondLst>
                                            <p:cond delay="0"/>
                                          </p:stCondLst>
                                        </p:cTn>
                                        <p:tgtEl>
                                          <p:spTgt spid="14511"/>
                                        </p:tgtEl>
                                        <p:attrNameLst>
                                          <p:attrName>style.visibility</p:attrName>
                                        </p:attrNameLst>
                                      </p:cBhvr>
                                      <p:to>
                                        <p:strVal val="visible"/>
                                      </p:to>
                                    </p:set>
                                    <p:animEffect transition="in" filter="fade">
                                      <p:cBhvr>
                                        <p:cTn id="10" dur="500"/>
                                        <p:tgtEl>
                                          <p:spTgt spid="14511"/>
                                        </p:tgtEl>
                                      </p:cBhvr>
                                    </p:animEffect>
                                  </p:childTnLst>
                                </p:cTn>
                              </p:par>
                              <p:par>
                                <p:cTn id="11" presetID="10" presetClass="entr" presetSubtype="0" fill="hold" nodeType="withEffect">
                                  <p:stCondLst>
                                    <p:cond delay="750"/>
                                  </p:stCondLst>
                                  <p:childTnLst>
                                    <p:set>
                                      <p:cBhvr>
                                        <p:cTn id="12" dur="1" fill="hold">
                                          <p:stCondLst>
                                            <p:cond delay="0"/>
                                          </p:stCondLst>
                                        </p:cTn>
                                        <p:tgtEl>
                                          <p:spTgt spid="14508"/>
                                        </p:tgtEl>
                                        <p:attrNameLst>
                                          <p:attrName>style.visibility</p:attrName>
                                        </p:attrNameLst>
                                      </p:cBhvr>
                                      <p:to>
                                        <p:strVal val="visible"/>
                                      </p:to>
                                    </p:set>
                                    <p:animEffect transition="in" filter="fade">
                                      <p:cBhvr>
                                        <p:cTn id="13" dur="750"/>
                                        <p:tgtEl>
                                          <p:spTgt spid="14508"/>
                                        </p:tgtEl>
                                      </p:cBhvr>
                                    </p:animEffect>
                                  </p:childTnLst>
                                </p:cTn>
                              </p:par>
                            </p:childTnLst>
                          </p:cTn>
                        </p:par>
                        <p:par>
                          <p:cTn id="14" fill="hold">
                            <p:stCondLst>
                              <p:cond delay="750"/>
                            </p:stCondLst>
                            <p:childTnLst>
                              <p:par>
                                <p:cTn id="15" presetID="10" presetClass="entr" presetSubtype="0" fill="hold" nodeType="afterEffect">
                                  <p:stCondLst>
                                    <p:cond delay="1250"/>
                                  </p:stCondLst>
                                  <p:childTnLst>
                                    <p:set>
                                      <p:cBhvr>
                                        <p:cTn id="16" dur="1" fill="hold">
                                          <p:stCondLst>
                                            <p:cond delay="0"/>
                                          </p:stCondLst>
                                        </p:cTn>
                                        <p:tgtEl>
                                          <p:spTgt spid="14512"/>
                                        </p:tgtEl>
                                        <p:attrNameLst>
                                          <p:attrName>style.visibility</p:attrName>
                                        </p:attrNameLst>
                                      </p:cBhvr>
                                      <p:to>
                                        <p:strVal val="visible"/>
                                      </p:to>
                                    </p:set>
                                    <p:animEffect transition="in" filter="fade">
                                      <p:cBhvr>
                                        <p:cTn id="17" dur="500"/>
                                        <p:tgtEl>
                                          <p:spTgt spid="14512"/>
                                        </p:tgtEl>
                                      </p:cBhvr>
                                    </p:animEffect>
                                  </p:childTnLst>
                                </p:cTn>
                              </p:par>
                              <p:par>
                                <p:cTn id="18" presetID="10" presetClass="entr" presetSubtype="0" fill="hold" nodeType="withEffect">
                                  <p:stCondLst>
                                    <p:cond delay="1250"/>
                                  </p:stCondLst>
                                  <p:childTnLst>
                                    <p:set>
                                      <p:cBhvr>
                                        <p:cTn id="19" dur="1" fill="hold">
                                          <p:stCondLst>
                                            <p:cond delay="0"/>
                                          </p:stCondLst>
                                        </p:cTn>
                                        <p:tgtEl>
                                          <p:spTgt spid="14509"/>
                                        </p:tgtEl>
                                        <p:attrNameLst>
                                          <p:attrName>style.visibility</p:attrName>
                                        </p:attrNameLst>
                                      </p:cBhvr>
                                      <p:to>
                                        <p:strVal val="visible"/>
                                      </p:to>
                                    </p:set>
                                    <p:animEffect transition="in" filter="fade">
                                      <p:cBhvr>
                                        <p:cTn id="20" dur="750"/>
                                        <p:tgtEl>
                                          <p:spTgt spid="14509"/>
                                        </p:tgtEl>
                                      </p:cBhvr>
                                    </p:animEffect>
                                  </p:childTnLst>
                                </p:cTn>
                              </p:par>
                            </p:childTnLst>
                          </p:cTn>
                        </p:par>
                        <p:par>
                          <p:cTn id="21" fill="hold">
                            <p:stCondLst>
                              <p:cond delay="1500"/>
                            </p:stCondLst>
                            <p:childTnLst>
                              <p:par>
                                <p:cTn id="22" presetID="10" presetClass="entr" presetSubtype="0" fill="hold" nodeType="afterEffect">
                                  <p:stCondLst>
                                    <p:cond delay="1750"/>
                                  </p:stCondLst>
                                  <p:childTnLst>
                                    <p:set>
                                      <p:cBhvr>
                                        <p:cTn id="23" dur="1" fill="hold">
                                          <p:stCondLst>
                                            <p:cond delay="0"/>
                                          </p:stCondLst>
                                        </p:cTn>
                                        <p:tgtEl>
                                          <p:spTgt spid="14513"/>
                                        </p:tgtEl>
                                        <p:attrNameLst>
                                          <p:attrName>style.visibility</p:attrName>
                                        </p:attrNameLst>
                                      </p:cBhvr>
                                      <p:to>
                                        <p:strVal val="visible"/>
                                      </p:to>
                                    </p:set>
                                    <p:animEffect transition="in" filter="fade">
                                      <p:cBhvr>
                                        <p:cTn id="24" dur="500"/>
                                        <p:tgtEl>
                                          <p:spTgt spid="14513"/>
                                        </p:tgtEl>
                                      </p:cBhvr>
                                    </p:animEffect>
                                  </p:childTnLst>
                                </p:cTn>
                              </p:par>
                              <p:par>
                                <p:cTn id="25" presetID="10" presetClass="entr" presetSubtype="0" fill="hold" nodeType="withEffect">
                                  <p:stCondLst>
                                    <p:cond delay="1750"/>
                                  </p:stCondLst>
                                  <p:childTnLst>
                                    <p:set>
                                      <p:cBhvr>
                                        <p:cTn id="26" dur="1" fill="hold">
                                          <p:stCondLst>
                                            <p:cond delay="0"/>
                                          </p:stCondLst>
                                        </p:cTn>
                                        <p:tgtEl>
                                          <p:spTgt spid="14510"/>
                                        </p:tgtEl>
                                        <p:attrNameLst>
                                          <p:attrName>style.visibility</p:attrName>
                                        </p:attrNameLst>
                                      </p:cBhvr>
                                      <p:to>
                                        <p:strVal val="visible"/>
                                      </p:to>
                                    </p:set>
                                    <p:animEffect transition="in" filter="fade">
                                      <p:cBhvr>
                                        <p:cTn id="27" dur="750"/>
                                        <p:tgtEl>
                                          <p:spTgt spid="14510"/>
                                        </p:tgtEl>
                                      </p:cBhvr>
                                    </p:animEffect>
                                  </p:childTnLst>
                                </p:cTn>
                              </p:par>
                            </p:childTnLst>
                          </p:cTn>
                        </p:par>
                        <p:par>
                          <p:cTn id="28" fill="hold">
                            <p:stCondLst>
                              <p:cond delay="2250"/>
                            </p:stCondLst>
                            <p:childTnLst>
                              <p:par>
                                <p:cTn id="29" presetID="10" presetClass="entr" presetSubtype="0" fill="hold" nodeType="afterEffect">
                                  <p:stCondLst>
                                    <p:cond delay="2250"/>
                                  </p:stCondLst>
                                  <p:childTnLst>
                                    <p:set>
                                      <p:cBhvr>
                                        <p:cTn id="30" dur="1" fill="hold">
                                          <p:stCondLst>
                                            <p:cond delay="0"/>
                                          </p:stCondLst>
                                        </p:cTn>
                                        <p:tgtEl>
                                          <p:spTgt spid="14514"/>
                                        </p:tgtEl>
                                        <p:attrNameLst>
                                          <p:attrName>style.visibility</p:attrName>
                                        </p:attrNameLst>
                                      </p:cBhvr>
                                      <p:to>
                                        <p:strVal val="visible"/>
                                      </p:to>
                                    </p:set>
                                    <p:animEffect transition="in" filter="fade">
                                      <p:cBhvr>
                                        <p:cTn id="31" dur="500"/>
                                        <p:tgtEl>
                                          <p:spTgt spid="14514"/>
                                        </p:tgtEl>
                                      </p:cBhvr>
                                    </p:animEffect>
                                  </p:childTnLst>
                                </p:cTn>
                              </p:par>
                            </p:childTnLst>
                          </p:cTn>
                        </p:par>
                        <p:par>
                          <p:cTn id="32" fill="hold">
                            <p:stCondLst>
                              <p:cond delay="2750"/>
                            </p:stCondLst>
                            <p:childTnLst>
                              <p:par>
                                <p:cTn id="33" presetID="10" presetClass="entr" presetSubtype="0" fill="hold" nodeType="afterEffect">
                                  <p:stCondLst>
                                    <p:cond delay="0"/>
                                  </p:stCondLst>
                                  <p:childTnLst>
                                    <p:set>
                                      <p:cBhvr>
                                        <p:cTn id="34" dur="1" fill="hold">
                                          <p:stCondLst>
                                            <p:cond delay="0"/>
                                          </p:stCondLst>
                                        </p:cTn>
                                        <p:tgtEl>
                                          <p:spTgt spid="14506"/>
                                        </p:tgtEl>
                                        <p:attrNameLst>
                                          <p:attrName>style.visibility</p:attrName>
                                        </p:attrNameLst>
                                      </p:cBhvr>
                                      <p:to>
                                        <p:strVal val="visible"/>
                                      </p:to>
                                    </p:set>
                                    <p:animEffect transition="in" filter="fade">
                                      <p:cBhvr>
                                        <p:cTn id="35" dur="500"/>
                                        <p:tgtEl>
                                          <p:spTgt spid="1450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4515"/>
                                        </p:tgtEl>
                                        <p:attrNameLst>
                                          <p:attrName>style.visibility</p:attrName>
                                        </p:attrNameLst>
                                      </p:cBhvr>
                                      <p:to>
                                        <p:strVal val="visible"/>
                                      </p:to>
                                    </p:set>
                                    <p:animEffect transition="in" filter="fade">
                                      <p:cBhvr>
                                        <p:cTn id="40" dur="500"/>
                                        <p:tgtEl>
                                          <p:spTgt spid="14515"/>
                                        </p:tgtEl>
                                      </p:cBhvr>
                                    </p:animEffect>
                                  </p:childTnLst>
                                </p:cTn>
                              </p:par>
                              <p:par>
                                <p:cTn id="41" presetID="10" presetClass="entr" presetSubtype="0" fill="hold" nodeType="withEffect">
                                  <p:stCondLst>
                                    <p:cond delay="500"/>
                                  </p:stCondLst>
                                  <p:childTnLst>
                                    <p:set>
                                      <p:cBhvr>
                                        <p:cTn id="42" dur="1" fill="hold">
                                          <p:stCondLst>
                                            <p:cond delay="0"/>
                                          </p:stCondLst>
                                        </p:cTn>
                                        <p:tgtEl>
                                          <p:spTgt spid="14516"/>
                                        </p:tgtEl>
                                        <p:attrNameLst>
                                          <p:attrName>style.visibility</p:attrName>
                                        </p:attrNameLst>
                                      </p:cBhvr>
                                      <p:to>
                                        <p:strVal val="visible"/>
                                      </p:to>
                                    </p:set>
                                    <p:animEffect transition="in" filter="fade">
                                      <p:cBhvr>
                                        <p:cTn id="43" dur="500"/>
                                        <p:tgtEl>
                                          <p:spTgt spid="14516"/>
                                        </p:tgtEl>
                                      </p:cBhvr>
                                    </p:animEffect>
                                  </p:childTnLst>
                                </p:cTn>
                              </p:par>
                              <p:par>
                                <p:cTn id="44" presetID="10" presetClass="entr" presetSubtype="0" fill="hold" nodeType="withEffect">
                                  <p:stCondLst>
                                    <p:cond delay="1000"/>
                                  </p:stCondLst>
                                  <p:childTnLst>
                                    <p:set>
                                      <p:cBhvr>
                                        <p:cTn id="45" dur="1" fill="hold">
                                          <p:stCondLst>
                                            <p:cond delay="0"/>
                                          </p:stCondLst>
                                        </p:cTn>
                                        <p:tgtEl>
                                          <p:spTgt spid="14517"/>
                                        </p:tgtEl>
                                        <p:attrNameLst>
                                          <p:attrName>style.visibility</p:attrName>
                                        </p:attrNameLst>
                                      </p:cBhvr>
                                      <p:to>
                                        <p:strVal val="visible"/>
                                      </p:to>
                                    </p:set>
                                    <p:animEffect transition="in" filter="fade">
                                      <p:cBhvr>
                                        <p:cTn id="46" dur="500"/>
                                        <p:tgtEl>
                                          <p:spTgt spid="14517"/>
                                        </p:tgtEl>
                                      </p:cBhvr>
                                    </p:animEffect>
                                  </p:childTnLst>
                                </p:cTn>
                              </p:par>
                              <p:par>
                                <p:cTn id="47" presetID="10" presetClass="entr" presetSubtype="0" fill="hold" nodeType="withEffect">
                                  <p:stCondLst>
                                    <p:cond delay="1500"/>
                                  </p:stCondLst>
                                  <p:childTnLst>
                                    <p:set>
                                      <p:cBhvr>
                                        <p:cTn id="48" dur="1" fill="hold">
                                          <p:stCondLst>
                                            <p:cond delay="0"/>
                                          </p:stCondLst>
                                        </p:cTn>
                                        <p:tgtEl>
                                          <p:spTgt spid="14518"/>
                                        </p:tgtEl>
                                        <p:attrNameLst>
                                          <p:attrName>style.visibility</p:attrName>
                                        </p:attrNameLst>
                                      </p:cBhvr>
                                      <p:to>
                                        <p:strVal val="visible"/>
                                      </p:to>
                                    </p:set>
                                    <p:animEffect transition="in" filter="fade">
                                      <p:cBhvr>
                                        <p:cTn id="49" dur="500"/>
                                        <p:tgtEl>
                                          <p:spTgt spid="14518"/>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14519"/>
                                        </p:tgtEl>
                                        <p:attrNameLst>
                                          <p:attrName>style.visibility</p:attrName>
                                        </p:attrNameLst>
                                      </p:cBhvr>
                                      <p:to>
                                        <p:strVal val="visible"/>
                                      </p:to>
                                    </p:set>
                                    <p:animEffect transition="in" filter="fade">
                                      <p:cBhvr>
                                        <p:cTn id="54" dur="500"/>
                                        <p:tgtEl>
                                          <p:spTgt spid="14519"/>
                                        </p:tgtEl>
                                      </p:cBhvr>
                                    </p:animEffect>
                                  </p:childTnLst>
                                </p:cTn>
                              </p:par>
                              <p:par>
                                <p:cTn id="55" presetID="10" presetClass="entr" presetSubtype="0" fill="hold" nodeType="withEffect">
                                  <p:stCondLst>
                                    <p:cond delay="500"/>
                                  </p:stCondLst>
                                  <p:childTnLst>
                                    <p:set>
                                      <p:cBhvr>
                                        <p:cTn id="56" dur="1" fill="hold">
                                          <p:stCondLst>
                                            <p:cond delay="0"/>
                                          </p:stCondLst>
                                        </p:cTn>
                                        <p:tgtEl>
                                          <p:spTgt spid="14520"/>
                                        </p:tgtEl>
                                        <p:attrNameLst>
                                          <p:attrName>style.visibility</p:attrName>
                                        </p:attrNameLst>
                                      </p:cBhvr>
                                      <p:to>
                                        <p:strVal val="visible"/>
                                      </p:to>
                                    </p:set>
                                    <p:animEffect transition="in" filter="fade">
                                      <p:cBhvr>
                                        <p:cTn id="57" dur="500"/>
                                        <p:tgtEl>
                                          <p:spTgt spid="14520"/>
                                        </p:tgtEl>
                                      </p:cBhvr>
                                    </p:animEffect>
                                  </p:childTnLst>
                                </p:cTn>
                              </p:par>
                              <p:par>
                                <p:cTn id="58" presetID="10" presetClass="entr" presetSubtype="0" fill="hold" nodeType="withEffect">
                                  <p:stCondLst>
                                    <p:cond delay="1000"/>
                                  </p:stCondLst>
                                  <p:childTnLst>
                                    <p:set>
                                      <p:cBhvr>
                                        <p:cTn id="59" dur="1" fill="hold">
                                          <p:stCondLst>
                                            <p:cond delay="0"/>
                                          </p:stCondLst>
                                        </p:cTn>
                                        <p:tgtEl>
                                          <p:spTgt spid="14521"/>
                                        </p:tgtEl>
                                        <p:attrNameLst>
                                          <p:attrName>style.visibility</p:attrName>
                                        </p:attrNameLst>
                                      </p:cBhvr>
                                      <p:to>
                                        <p:strVal val="visible"/>
                                      </p:to>
                                    </p:set>
                                    <p:animEffect transition="in" filter="fade">
                                      <p:cBhvr>
                                        <p:cTn id="60" dur="500"/>
                                        <p:tgtEl>
                                          <p:spTgt spid="14521"/>
                                        </p:tgtEl>
                                      </p:cBhvr>
                                    </p:animEffect>
                                  </p:childTnLst>
                                </p:cTn>
                              </p:par>
                              <p:par>
                                <p:cTn id="61" presetID="10" presetClass="entr" presetSubtype="0" fill="hold" nodeType="withEffect">
                                  <p:stCondLst>
                                    <p:cond delay="1500"/>
                                  </p:stCondLst>
                                  <p:childTnLst>
                                    <p:set>
                                      <p:cBhvr>
                                        <p:cTn id="62" dur="1" fill="hold">
                                          <p:stCondLst>
                                            <p:cond delay="0"/>
                                          </p:stCondLst>
                                        </p:cTn>
                                        <p:tgtEl>
                                          <p:spTgt spid="14522"/>
                                        </p:tgtEl>
                                        <p:attrNameLst>
                                          <p:attrName>style.visibility</p:attrName>
                                        </p:attrNameLst>
                                      </p:cBhvr>
                                      <p:to>
                                        <p:strVal val="visible"/>
                                      </p:to>
                                    </p:set>
                                    <p:animEffect transition="in" filter="fade">
                                      <p:cBhvr>
                                        <p:cTn id="63" dur="500"/>
                                        <p:tgtEl>
                                          <p:spTgt spid="145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14531"/>
                                        </p:tgtEl>
                                        <p:attrNameLst>
                                          <p:attrName>style.visibility</p:attrName>
                                        </p:attrNameLst>
                                      </p:cBhvr>
                                      <p:to>
                                        <p:strVal val="visible"/>
                                      </p:to>
                                    </p:set>
                                    <p:animEffect transition="in" filter="fade">
                                      <p:cBhvr>
                                        <p:cTn id="68" dur="500"/>
                                        <p:tgtEl>
                                          <p:spTgt spid="14531"/>
                                        </p:tgtEl>
                                      </p:cBhvr>
                                    </p:animEffect>
                                  </p:childTnLst>
                                </p:cTn>
                              </p:par>
                              <p:par>
                                <p:cTn id="69" presetID="10" presetClass="entr" presetSubtype="0" fill="hold" nodeType="withEffect">
                                  <p:stCondLst>
                                    <p:cond delay="500"/>
                                  </p:stCondLst>
                                  <p:childTnLst>
                                    <p:set>
                                      <p:cBhvr>
                                        <p:cTn id="70" dur="1" fill="hold">
                                          <p:stCondLst>
                                            <p:cond delay="0"/>
                                          </p:stCondLst>
                                        </p:cTn>
                                        <p:tgtEl>
                                          <p:spTgt spid="14532"/>
                                        </p:tgtEl>
                                        <p:attrNameLst>
                                          <p:attrName>style.visibility</p:attrName>
                                        </p:attrNameLst>
                                      </p:cBhvr>
                                      <p:to>
                                        <p:strVal val="visible"/>
                                      </p:to>
                                    </p:set>
                                    <p:animEffect transition="in" filter="fade">
                                      <p:cBhvr>
                                        <p:cTn id="71" dur="500"/>
                                        <p:tgtEl>
                                          <p:spTgt spid="14532"/>
                                        </p:tgtEl>
                                      </p:cBhvr>
                                    </p:animEffect>
                                  </p:childTnLst>
                                </p:cTn>
                              </p:par>
                              <p:par>
                                <p:cTn id="72" presetID="10" presetClass="entr" presetSubtype="0" fill="hold" nodeType="withEffect">
                                  <p:stCondLst>
                                    <p:cond delay="1000"/>
                                  </p:stCondLst>
                                  <p:childTnLst>
                                    <p:set>
                                      <p:cBhvr>
                                        <p:cTn id="73" dur="1" fill="hold">
                                          <p:stCondLst>
                                            <p:cond delay="0"/>
                                          </p:stCondLst>
                                        </p:cTn>
                                        <p:tgtEl>
                                          <p:spTgt spid="14533"/>
                                        </p:tgtEl>
                                        <p:attrNameLst>
                                          <p:attrName>style.visibility</p:attrName>
                                        </p:attrNameLst>
                                      </p:cBhvr>
                                      <p:to>
                                        <p:strVal val="visible"/>
                                      </p:to>
                                    </p:set>
                                    <p:animEffect transition="in" filter="fade">
                                      <p:cBhvr>
                                        <p:cTn id="74" dur="500"/>
                                        <p:tgtEl>
                                          <p:spTgt spid="14533"/>
                                        </p:tgtEl>
                                      </p:cBhvr>
                                    </p:animEffect>
                                  </p:childTnLst>
                                </p:cTn>
                              </p:par>
                              <p:par>
                                <p:cTn id="75" presetID="10" presetClass="entr" presetSubtype="0" fill="hold" nodeType="withEffect">
                                  <p:stCondLst>
                                    <p:cond delay="1500"/>
                                  </p:stCondLst>
                                  <p:childTnLst>
                                    <p:set>
                                      <p:cBhvr>
                                        <p:cTn id="76" dur="1" fill="hold">
                                          <p:stCondLst>
                                            <p:cond delay="0"/>
                                          </p:stCondLst>
                                        </p:cTn>
                                        <p:tgtEl>
                                          <p:spTgt spid="14534"/>
                                        </p:tgtEl>
                                        <p:attrNameLst>
                                          <p:attrName>style.visibility</p:attrName>
                                        </p:attrNameLst>
                                      </p:cBhvr>
                                      <p:to>
                                        <p:strVal val="visible"/>
                                      </p:to>
                                    </p:set>
                                    <p:animEffect transition="in" filter="fade">
                                      <p:cBhvr>
                                        <p:cTn id="77" dur="500"/>
                                        <p:tgtEl>
                                          <p:spTgt spid="1453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14523"/>
                                        </p:tgtEl>
                                        <p:attrNameLst>
                                          <p:attrName>style.visibility</p:attrName>
                                        </p:attrNameLst>
                                      </p:cBhvr>
                                      <p:to>
                                        <p:strVal val="visible"/>
                                      </p:to>
                                    </p:set>
                                    <p:animEffect transition="in" filter="fade">
                                      <p:cBhvr>
                                        <p:cTn id="82" dur="500"/>
                                        <p:tgtEl>
                                          <p:spTgt spid="14523"/>
                                        </p:tgtEl>
                                      </p:cBhvr>
                                    </p:animEffect>
                                  </p:childTnLst>
                                </p:cTn>
                              </p:par>
                              <p:par>
                                <p:cTn id="83" presetID="10" presetClass="entr" presetSubtype="0" fill="hold" nodeType="withEffect">
                                  <p:stCondLst>
                                    <p:cond delay="500"/>
                                  </p:stCondLst>
                                  <p:childTnLst>
                                    <p:set>
                                      <p:cBhvr>
                                        <p:cTn id="84" dur="1" fill="hold">
                                          <p:stCondLst>
                                            <p:cond delay="0"/>
                                          </p:stCondLst>
                                        </p:cTn>
                                        <p:tgtEl>
                                          <p:spTgt spid="14524"/>
                                        </p:tgtEl>
                                        <p:attrNameLst>
                                          <p:attrName>style.visibility</p:attrName>
                                        </p:attrNameLst>
                                      </p:cBhvr>
                                      <p:to>
                                        <p:strVal val="visible"/>
                                      </p:to>
                                    </p:set>
                                    <p:animEffect transition="in" filter="fade">
                                      <p:cBhvr>
                                        <p:cTn id="85" dur="500"/>
                                        <p:tgtEl>
                                          <p:spTgt spid="14524"/>
                                        </p:tgtEl>
                                      </p:cBhvr>
                                    </p:animEffect>
                                  </p:childTnLst>
                                </p:cTn>
                              </p:par>
                              <p:par>
                                <p:cTn id="86" presetID="10" presetClass="entr" presetSubtype="0" fill="hold" nodeType="withEffect">
                                  <p:stCondLst>
                                    <p:cond delay="1000"/>
                                  </p:stCondLst>
                                  <p:childTnLst>
                                    <p:set>
                                      <p:cBhvr>
                                        <p:cTn id="87" dur="1" fill="hold">
                                          <p:stCondLst>
                                            <p:cond delay="0"/>
                                          </p:stCondLst>
                                        </p:cTn>
                                        <p:tgtEl>
                                          <p:spTgt spid="14525"/>
                                        </p:tgtEl>
                                        <p:attrNameLst>
                                          <p:attrName>style.visibility</p:attrName>
                                        </p:attrNameLst>
                                      </p:cBhvr>
                                      <p:to>
                                        <p:strVal val="visible"/>
                                      </p:to>
                                    </p:set>
                                    <p:animEffect transition="in" filter="fade">
                                      <p:cBhvr>
                                        <p:cTn id="88" dur="500"/>
                                        <p:tgtEl>
                                          <p:spTgt spid="14525"/>
                                        </p:tgtEl>
                                      </p:cBhvr>
                                    </p:animEffect>
                                  </p:childTnLst>
                                </p:cTn>
                              </p:par>
                              <p:par>
                                <p:cTn id="89" presetID="10" presetClass="entr" presetSubtype="0" fill="hold" nodeType="withEffect">
                                  <p:stCondLst>
                                    <p:cond delay="1500"/>
                                  </p:stCondLst>
                                  <p:childTnLst>
                                    <p:set>
                                      <p:cBhvr>
                                        <p:cTn id="90" dur="1" fill="hold">
                                          <p:stCondLst>
                                            <p:cond delay="0"/>
                                          </p:stCondLst>
                                        </p:cTn>
                                        <p:tgtEl>
                                          <p:spTgt spid="14526"/>
                                        </p:tgtEl>
                                        <p:attrNameLst>
                                          <p:attrName>style.visibility</p:attrName>
                                        </p:attrNameLst>
                                      </p:cBhvr>
                                      <p:to>
                                        <p:strVal val="visible"/>
                                      </p:to>
                                    </p:set>
                                    <p:animEffect transition="in" filter="fade">
                                      <p:cBhvr>
                                        <p:cTn id="91" dur="500"/>
                                        <p:tgtEl>
                                          <p:spTgt spid="14526"/>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14527"/>
                                        </p:tgtEl>
                                        <p:attrNameLst>
                                          <p:attrName>style.visibility</p:attrName>
                                        </p:attrNameLst>
                                      </p:cBhvr>
                                      <p:to>
                                        <p:strVal val="visible"/>
                                      </p:to>
                                    </p:set>
                                    <p:animEffect transition="in" filter="fade">
                                      <p:cBhvr>
                                        <p:cTn id="96" dur="500"/>
                                        <p:tgtEl>
                                          <p:spTgt spid="14527"/>
                                        </p:tgtEl>
                                      </p:cBhvr>
                                    </p:animEffect>
                                  </p:childTnLst>
                                </p:cTn>
                              </p:par>
                              <p:par>
                                <p:cTn id="97" presetID="10" presetClass="entr" presetSubtype="0" fill="hold" nodeType="withEffect">
                                  <p:stCondLst>
                                    <p:cond delay="500"/>
                                  </p:stCondLst>
                                  <p:childTnLst>
                                    <p:set>
                                      <p:cBhvr>
                                        <p:cTn id="98" dur="1" fill="hold">
                                          <p:stCondLst>
                                            <p:cond delay="0"/>
                                          </p:stCondLst>
                                        </p:cTn>
                                        <p:tgtEl>
                                          <p:spTgt spid="14528"/>
                                        </p:tgtEl>
                                        <p:attrNameLst>
                                          <p:attrName>style.visibility</p:attrName>
                                        </p:attrNameLst>
                                      </p:cBhvr>
                                      <p:to>
                                        <p:strVal val="visible"/>
                                      </p:to>
                                    </p:set>
                                    <p:animEffect transition="in" filter="fade">
                                      <p:cBhvr>
                                        <p:cTn id="99" dur="500"/>
                                        <p:tgtEl>
                                          <p:spTgt spid="14528"/>
                                        </p:tgtEl>
                                      </p:cBhvr>
                                    </p:animEffect>
                                  </p:childTnLst>
                                </p:cTn>
                              </p:par>
                              <p:par>
                                <p:cTn id="100" presetID="10" presetClass="entr" presetSubtype="0" fill="hold" nodeType="withEffect">
                                  <p:stCondLst>
                                    <p:cond delay="1000"/>
                                  </p:stCondLst>
                                  <p:childTnLst>
                                    <p:set>
                                      <p:cBhvr>
                                        <p:cTn id="101" dur="1" fill="hold">
                                          <p:stCondLst>
                                            <p:cond delay="0"/>
                                          </p:stCondLst>
                                        </p:cTn>
                                        <p:tgtEl>
                                          <p:spTgt spid="14529"/>
                                        </p:tgtEl>
                                        <p:attrNameLst>
                                          <p:attrName>style.visibility</p:attrName>
                                        </p:attrNameLst>
                                      </p:cBhvr>
                                      <p:to>
                                        <p:strVal val="visible"/>
                                      </p:to>
                                    </p:set>
                                    <p:animEffect transition="in" filter="fade">
                                      <p:cBhvr>
                                        <p:cTn id="102" dur="500"/>
                                        <p:tgtEl>
                                          <p:spTgt spid="14529"/>
                                        </p:tgtEl>
                                      </p:cBhvr>
                                    </p:animEffect>
                                  </p:childTnLst>
                                </p:cTn>
                              </p:par>
                              <p:par>
                                <p:cTn id="103" presetID="10" presetClass="entr" presetSubtype="0" fill="hold" nodeType="withEffect">
                                  <p:stCondLst>
                                    <p:cond delay="1500"/>
                                  </p:stCondLst>
                                  <p:childTnLst>
                                    <p:set>
                                      <p:cBhvr>
                                        <p:cTn id="104" dur="1" fill="hold">
                                          <p:stCondLst>
                                            <p:cond delay="0"/>
                                          </p:stCondLst>
                                        </p:cTn>
                                        <p:tgtEl>
                                          <p:spTgt spid="14530"/>
                                        </p:tgtEl>
                                        <p:attrNameLst>
                                          <p:attrName>style.visibility</p:attrName>
                                        </p:attrNameLst>
                                      </p:cBhvr>
                                      <p:to>
                                        <p:strVal val="visible"/>
                                      </p:to>
                                    </p:set>
                                    <p:animEffect transition="in" filter="fade">
                                      <p:cBhvr>
                                        <p:cTn id="105" dur="500"/>
                                        <p:tgtEl>
                                          <p:spTgt spid="145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6B82A8-8184-D845-0675-60870DBC2FC8}"/>
            </a:ext>
          </a:extLst>
        </p:cNvPr>
        <p:cNvGrpSpPr/>
        <p:nvPr/>
      </p:nvGrpSpPr>
      <p:grpSpPr>
        <a:xfrm>
          <a:off x="0" y="0"/>
          <a:ext cx="0" cy="0"/>
          <a:chOff x="0" y="0"/>
          <a:chExt cx="0" cy="0"/>
        </a:xfrm>
      </p:grpSpPr>
      <p:sp>
        <p:nvSpPr>
          <p:cNvPr id="196" name="Title 195">
            <a:extLst>
              <a:ext uri="{FF2B5EF4-FFF2-40B4-BE49-F238E27FC236}">
                <a16:creationId xmlns:a16="http://schemas.microsoft.com/office/drawing/2014/main" id="{FBE9ABC7-2F83-D446-3785-FDD677EE606C}"/>
              </a:ext>
            </a:extLst>
          </p:cNvPr>
          <p:cNvSpPr>
            <a:spLocks noGrp="1"/>
          </p:cNvSpPr>
          <p:nvPr>
            <p:ph type="title"/>
          </p:nvPr>
        </p:nvSpPr>
        <p:spPr>
          <a:xfrm>
            <a:off x="579809" y="412751"/>
            <a:ext cx="11001004" cy="381000"/>
          </a:xfrm>
        </p:spPr>
        <p:txBody>
          <a:bodyPr/>
          <a:lstStyle/>
          <a:p>
            <a:r>
              <a:rPr lang="en-US" dirty="0"/>
              <a:t>Migrate Workloads Non-disruptively to VCF</a:t>
            </a:r>
          </a:p>
        </p:txBody>
      </p:sp>
      <p:sp>
        <p:nvSpPr>
          <p:cNvPr id="197" name="Subtitle 196">
            <a:extLst>
              <a:ext uri="{FF2B5EF4-FFF2-40B4-BE49-F238E27FC236}">
                <a16:creationId xmlns:a16="http://schemas.microsoft.com/office/drawing/2014/main" id="{42D9244F-CD63-C349-8C01-3B26771B0FB8}"/>
              </a:ext>
            </a:extLst>
          </p:cNvPr>
          <p:cNvSpPr>
            <a:spLocks noGrp="1"/>
          </p:cNvSpPr>
          <p:nvPr>
            <p:ph type="subTitle" idx="1"/>
          </p:nvPr>
        </p:nvSpPr>
        <p:spPr>
          <a:xfrm>
            <a:off x="592866" y="811830"/>
            <a:ext cx="10962687" cy="247743"/>
          </a:xfrm>
        </p:spPr>
        <p:txBody>
          <a:bodyPr/>
          <a:lstStyle/>
          <a:p>
            <a:pPr lvl="0"/>
            <a:r>
              <a:rPr lang="en-US" dirty="0"/>
              <a:t>Multiple HCX Migration Types and Network Extension support</a:t>
            </a:r>
          </a:p>
        </p:txBody>
      </p:sp>
      <p:sp>
        <p:nvSpPr>
          <p:cNvPr id="4" name="Text Placeholder 3">
            <a:extLst>
              <a:ext uri="{FF2B5EF4-FFF2-40B4-BE49-F238E27FC236}">
                <a16:creationId xmlns:a16="http://schemas.microsoft.com/office/drawing/2014/main" id="{CDC88EA7-6BDA-C0B5-84CD-C166A9D2CA97}"/>
              </a:ext>
            </a:extLst>
          </p:cNvPr>
          <p:cNvSpPr>
            <a:spLocks noGrp="1"/>
          </p:cNvSpPr>
          <p:nvPr>
            <p:ph type="body" idx="2"/>
          </p:nvPr>
        </p:nvSpPr>
        <p:spPr>
          <a:xfrm>
            <a:off x="8380413" y="1600200"/>
            <a:ext cx="3808412" cy="4572000"/>
          </a:xfrm>
        </p:spPr>
        <p:txBody>
          <a:bodyPr/>
          <a:lstStyle/>
          <a:p>
            <a:pPr lvl="0"/>
            <a:r>
              <a:rPr lang="en-US" dirty="0"/>
              <a:t>VPC Subnet support</a:t>
            </a:r>
          </a:p>
          <a:p>
            <a:pPr lvl="0"/>
            <a:endParaRPr lang="en-US" dirty="0"/>
          </a:p>
          <a:p>
            <a:pPr lvl="0"/>
            <a:r>
              <a:rPr lang="en-US" dirty="0"/>
              <a:t>NSX Segment &amp; NSX-VLAN supported</a:t>
            </a:r>
          </a:p>
          <a:p>
            <a:pPr lvl="0"/>
            <a:endParaRPr lang="en-US" dirty="0"/>
          </a:p>
          <a:p>
            <a:r>
              <a:rPr lang="en-US" dirty="0"/>
              <a:t>NSX Global Segment supported</a:t>
            </a:r>
          </a:p>
          <a:p>
            <a:pPr lvl="0"/>
            <a:endParaRPr lang="en-US" dirty="0"/>
          </a:p>
          <a:p>
            <a:pPr lvl="0"/>
            <a:r>
              <a:rPr lang="en-US" dirty="0"/>
              <a:t>VLAN supported</a:t>
            </a:r>
          </a:p>
          <a:p>
            <a:pPr lvl="0"/>
            <a:endParaRPr lang="en-US" dirty="0"/>
          </a:p>
          <a:p>
            <a:r>
              <a:rPr lang="en-US" dirty="0"/>
              <a:t>Migrate from KVM &amp; Hyper-V </a:t>
            </a:r>
          </a:p>
          <a:p>
            <a:endParaRPr lang="en-US" dirty="0"/>
          </a:p>
          <a:p>
            <a:r>
              <a:rPr lang="en-US" dirty="0"/>
              <a:t>Support migration from any vCenter version to VCF</a:t>
            </a:r>
          </a:p>
          <a:p>
            <a:endParaRPr lang="en-US" dirty="0"/>
          </a:p>
          <a:p>
            <a:r>
              <a:rPr lang="en-US" dirty="0"/>
              <a:t>Supervisor Cluster Onboarding supported</a:t>
            </a:r>
          </a:p>
        </p:txBody>
      </p:sp>
      <p:sp>
        <p:nvSpPr>
          <p:cNvPr id="6" name="Google Shape;1292;p6">
            <a:extLst>
              <a:ext uri="{FF2B5EF4-FFF2-40B4-BE49-F238E27FC236}">
                <a16:creationId xmlns:a16="http://schemas.microsoft.com/office/drawing/2014/main" id="{C396A1C1-6CEB-1083-2FBF-9FDAC3D2F9CA}"/>
              </a:ext>
            </a:extLst>
          </p:cNvPr>
          <p:cNvSpPr/>
          <p:nvPr/>
        </p:nvSpPr>
        <p:spPr>
          <a:xfrm>
            <a:off x="6479" y="1611780"/>
            <a:ext cx="8133399" cy="4572000"/>
          </a:xfrm>
          <a:prstGeom prst="roundRect">
            <a:avLst>
              <a:gd name="adj" fmla="val 0"/>
            </a:avLst>
          </a:prstGeom>
          <a:solidFill>
            <a:srgbClr val="F4F8FA"/>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000"/>
              <a:buFont typeface="Arial"/>
              <a:buNone/>
              <a:tabLst/>
              <a:defRPr/>
            </a:pP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 name="Google Shape;1293;p6">
            <a:extLst>
              <a:ext uri="{FF2B5EF4-FFF2-40B4-BE49-F238E27FC236}">
                <a16:creationId xmlns:a16="http://schemas.microsoft.com/office/drawing/2014/main" id="{9EED1BF5-233E-73D6-80AE-5B57D4C18375}"/>
              </a:ext>
            </a:extLst>
          </p:cNvPr>
          <p:cNvSpPr/>
          <p:nvPr/>
        </p:nvSpPr>
        <p:spPr>
          <a:xfrm>
            <a:off x="606342" y="1750219"/>
            <a:ext cx="7405481" cy="4295951"/>
          </a:xfrm>
          <a:prstGeom prst="roundRect">
            <a:avLst>
              <a:gd name="adj" fmla="val 2790"/>
            </a:avLst>
          </a:prstGeom>
          <a:solidFill>
            <a:schemeClr val="lt1"/>
          </a:solidFill>
          <a:ln w="12700" cap="flat" cmpd="sng">
            <a:solidFill>
              <a:srgbClr val="797979"/>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dirty="0">
                <a:ln>
                  <a:noFill/>
                </a:ln>
                <a:solidFill>
                  <a:srgbClr val="FFFFFF"/>
                </a:solidFill>
                <a:effectLst/>
                <a:uLnTx/>
                <a:uFillTx/>
                <a:latin typeface="Arial"/>
                <a:ea typeface="Arial"/>
                <a:cs typeface="Arial"/>
                <a:sym typeface="Arial"/>
              </a:rPr>
              <a:t>V\</a:t>
            </a: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 name="Freeform 1">
            <a:extLst>
              <a:ext uri="{FF2B5EF4-FFF2-40B4-BE49-F238E27FC236}">
                <a16:creationId xmlns:a16="http://schemas.microsoft.com/office/drawing/2014/main" id="{C4EC6985-A8CD-7E79-74AA-99F4B952EB83}"/>
              </a:ext>
            </a:extLst>
          </p:cNvPr>
          <p:cNvSpPr/>
          <p:nvPr/>
        </p:nvSpPr>
        <p:spPr bwMode="gray">
          <a:xfrm flipV="1">
            <a:off x="1480164" y="2281584"/>
            <a:ext cx="5589227" cy="1883528"/>
          </a:xfrm>
          <a:custGeom>
            <a:avLst/>
            <a:gdLst>
              <a:gd name="connsiteX0" fmla="*/ 6230982 w 6505302"/>
              <a:gd name="connsiteY0" fmla="*/ 409303 h 1750423"/>
              <a:gd name="connsiteX1" fmla="*/ 6505302 w 6505302"/>
              <a:gd name="connsiteY1" fmla="*/ 409303 h 1750423"/>
              <a:gd name="connsiteX2" fmla="*/ 6505302 w 6505302"/>
              <a:gd name="connsiteY2" fmla="*/ 452845 h 1750423"/>
              <a:gd name="connsiteX3" fmla="*/ 6505302 w 6505302"/>
              <a:gd name="connsiteY3" fmla="*/ 1750423 h 1750423"/>
              <a:gd name="connsiteX4" fmla="*/ 0 w 6505302"/>
              <a:gd name="connsiteY4" fmla="*/ 1750423 h 1750423"/>
              <a:gd name="connsiteX5" fmla="*/ 0 w 6505302"/>
              <a:gd name="connsiteY5" fmla="*/ 1602377 h 1750423"/>
              <a:gd name="connsiteX6" fmla="*/ 0 w 6505302"/>
              <a:gd name="connsiteY6" fmla="*/ 0 h 1750423"/>
              <a:gd name="connsiteX7" fmla="*/ 396240 w 6505302"/>
              <a:gd name="connsiteY7" fmla="*/ 0 h 1750423"/>
              <a:gd name="connsiteX0" fmla="*/ 6505302 w 6505302"/>
              <a:gd name="connsiteY0" fmla="*/ 409303 h 1750423"/>
              <a:gd name="connsiteX1" fmla="*/ 6505302 w 6505302"/>
              <a:gd name="connsiteY1" fmla="*/ 452845 h 1750423"/>
              <a:gd name="connsiteX2" fmla="*/ 6505302 w 6505302"/>
              <a:gd name="connsiteY2" fmla="*/ 1750423 h 1750423"/>
              <a:gd name="connsiteX3" fmla="*/ 0 w 6505302"/>
              <a:gd name="connsiteY3" fmla="*/ 1750423 h 1750423"/>
              <a:gd name="connsiteX4" fmla="*/ 0 w 6505302"/>
              <a:gd name="connsiteY4" fmla="*/ 1602377 h 1750423"/>
              <a:gd name="connsiteX5" fmla="*/ 0 w 6505302"/>
              <a:gd name="connsiteY5" fmla="*/ 0 h 1750423"/>
              <a:gd name="connsiteX6" fmla="*/ 396240 w 6505302"/>
              <a:gd name="connsiteY6" fmla="*/ 0 h 1750423"/>
              <a:gd name="connsiteX0" fmla="*/ 6505302 w 6505302"/>
              <a:gd name="connsiteY0" fmla="*/ 409303 h 1750423"/>
              <a:gd name="connsiteX1" fmla="*/ 6505302 w 6505302"/>
              <a:gd name="connsiteY1" fmla="*/ 452845 h 1750423"/>
              <a:gd name="connsiteX2" fmla="*/ 6505302 w 6505302"/>
              <a:gd name="connsiteY2" fmla="*/ 1750423 h 1750423"/>
              <a:gd name="connsiteX3" fmla="*/ 0 w 6505302"/>
              <a:gd name="connsiteY3" fmla="*/ 1750423 h 1750423"/>
              <a:gd name="connsiteX4" fmla="*/ 0 w 6505302"/>
              <a:gd name="connsiteY4" fmla="*/ 1602377 h 1750423"/>
              <a:gd name="connsiteX5" fmla="*/ 0 w 6505302"/>
              <a:gd name="connsiteY5" fmla="*/ 0 h 1750423"/>
              <a:gd name="connsiteX0" fmla="*/ 6505302 w 6505302"/>
              <a:gd name="connsiteY0" fmla="*/ 409303 h 1750423"/>
              <a:gd name="connsiteX1" fmla="*/ 6505302 w 6505302"/>
              <a:gd name="connsiteY1" fmla="*/ 452845 h 1750423"/>
              <a:gd name="connsiteX2" fmla="*/ 6505302 w 6505302"/>
              <a:gd name="connsiteY2" fmla="*/ 1750423 h 1750423"/>
              <a:gd name="connsiteX3" fmla="*/ 0 w 6505302"/>
              <a:gd name="connsiteY3" fmla="*/ 1750423 h 1750423"/>
              <a:gd name="connsiteX4" fmla="*/ 0 w 6505302"/>
              <a:gd name="connsiteY4" fmla="*/ 0 h 1750423"/>
              <a:gd name="connsiteX0" fmla="*/ 6505302 w 6505302"/>
              <a:gd name="connsiteY0" fmla="*/ 0 h 1341120"/>
              <a:gd name="connsiteX1" fmla="*/ 6505302 w 6505302"/>
              <a:gd name="connsiteY1" fmla="*/ 43542 h 1341120"/>
              <a:gd name="connsiteX2" fmla="*/ 6505302 w 6505302"/>
              <a:gd name="connsiteY2" fmla="*/ 1341120 h 1341120"/>
              <a:gd name="connsiteX3" fmla="*/ 0 w 6505302"/>
              <a:gd name="connsiteY3" fmla="*/ 1341120 h 1341120"/>
              <a:gd name="connsiteX4" fmla="*/ 12293 w 6505302"/>
              <a:gd name="connsiteY4" fmla="*/ 346332 h 1341120"/>
              <a:gd name="connsiteX0" fmla="*/ 6511450 w 6511450"/>
              <a:gd name="connsiteY0" fmla="*/ 0 h 1341120"/>
              <a:gd name="connsiteX1" fmla="*/ 6511450 w 6511450"/>
              <a:gd name="connsiteY1" fmla="*/ 43542 h 1341120"/>
              <a:gd name="connsiteX2" fmla="*/ 6511450 w 6511450"/>
              <a:gd name="connsiteY2" fmla="*/ 1341120 h 1341120"/>
              <a:gd name="connsiteX3" fmla="*/ 6148 w 6511450"/>
              <a:gd name="connsiteY3" fmla="*/ 1341120 h 1341120"/>
              <a:gd name="connsiteX4" fmla="*/ 0 w 6511450"/>
              <a:gd name="connsiteY4" fmla="*/ 338775 h 1341120"/>
              <a:gd name="connsiteX0" fmla="*/ 6505894 w 6505894"/>
              <a:gd name="connsiteY0" fmla="*/ 0 h 1341120"/>
              <a:gd name="connsiteX1" fmla="*/ 6505894 w 6505894"/>
              <a:gd name="connsiteY1" fmla="*/ 43542 h 1341120"/>
              <a:gd name="connsiteX2" fmla="*/ 6505894 w 6505894"/>
              <a:gd name="connsiteY2" fmla="*/ 1341120 h 1341120"/>
              <a:gd name="connsiteX3" fmla="*/ 592 w 6505894"/>
              <a:gd name="connsiteY3" fmla="*/ 1341120 h 1341120"/>
              <a:gd name="connsiteX4" fmla="*/ 591 w 6505894"/>
              <a:gd name="connsiteY4" fmla="*/ 346332 h 1341120"/>
              <a:gd name="connsiteX0" fmla="*/ 6511450 w 6511450"/>
              <a:gd name="connsiteY0" fmla="*/ 0 h 1341120"/>
              <a:gd name="connsiteX1" fmla="*/ 6511450 w 6511450"/>
              <a:gd name="connsiteY1" fmla="*/ 43542 h 1341120"/>
              <a:gd name="connsiteX2" fmla="*/ 6511450 w 6511450"/>
              <a:gd name="connsiteY2" fmla="*/ 1341120 h 1341120"/>
              <a:gd name="connsiteX3" fmla="*/ 6148 w 6511450"/>
              <a:gd name="connsiteY3" fmla="*/ 1341120 h 1341120"/>
              <a:gd name="connsiteX4" fmla="*/ 0 w 6511450"/>
              <a:gd name="connsiteY4" fmla="*/ 338775 h 134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1450" h="1341120">
                <a:moveTo>
                  <a:pt x="6511450" y="0"/>
                </a:moveTo>
                <a:lnTo>
                  <a:pt x="6511450" y="43542"/>
                </a:lnTo>
                <a:lnTo>
                  <a:pt x="6511450" y="1341120"/>
                </a:lnTo>
                <a:lnTo>
                  <a:pt x="6148" y="1341120"/>
                </a:lnTo>
                <a:cubicBezTo>
                  <a:pt x="4099" y="1007005"/>
                  <a:pt x="2049" y="672890"/>
                  <a:pt x="0" y="338775"/>
                </a:cubicBezTo>
              </a:path>
            </a:pathLst>
          </a:custGeom>
          <a:noFill/>
          <a:ln w="19050">
            <a:solidFill>
              <a:schemeClr val="bg2">
                <a:lumMod val="50000"/>
              </a:schemeClr>
            </a:solidFill>
            <a:prstDash val="sysDash"/>
            <a:extLst>
              <a:ext uri="{C807C97D-BFC1-408E-A445-0C87EB9F89A2}">
                <ask:lineSketchStyleProps xmlns:ask="http://schemas.microsoft.com/office/drawing/2018/sketchyshapes">
                  <ask:type>
                    <ask:lineSketchNone/>
                  </ask:type>
                </ask:lineSketchStyleProps>
              </a:ext>
            </a:extLst>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Freeform 2">
            <a:extLst>
              <a:ext uri="{FF2B5EF4-FFF2-40B4-BE49-F238E27FC236}">
                <a16:creationId xmlns:a16="http://schemas.microsoft.com/office/drawing/2014/main" id="{77D34257-6287-9531-BF5A-A8C26B537AB0}"/>
              </a:ext>
            </a:extLst>
          </p:cNvPr>
          <p:cNvSpPr/>
          <p:nvPr/>
        </p:nvSpPr>
        <p:spPr bwMode="gray">
          <a:xfrm>
            <a:off x="1690732" y="2467461"/>
            <a:ext cx="5243928" cy="1624502"/>
          </a:xfrm>
          <a:custGeom>
            <a:avLst/>
            <a:gdLst>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67377 h 1438977"/>
              <a:gd name="connsiteX4" fmla="*/ 0 w 4995512"/>
              <a:gd name="connsiteY4" fmla="*/ 822960 h 1438977"/>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822960 h 1438977"/>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1343731 h 1438977"/>
              <a:gd name="connsiteX0" fmla="*/ 5319915 w 5319915"/>
              <a:gd name="connsiteY0" fmla="*/ 1428031 h 1428031"/>
              <a:gd name="connsiteX1" fmla="*/ 4995512 w 5319915"/>
              <a:gd name="connsiteY1" fmla="*/ 0 h 1428031"/>
              <a:gd name="connsiteX2" fmla="*/ 0 w 5319915"/>
              <a:gd name="connsiteY2" fmla="*/ 0 h 1428031"/>
              <a:gd name="connsiteX3" fmla="*/ 0 w 5319915"/>
              <a:gd name="connsiteY3" fmla="*/ 1343731 h 1428031"/>
              <a:gd name="connsiteX0" fmla="*/ 5319915 w 5319915"/>
              <a:gd name="connsiteY0" fmla="*/ 1428031 h 1428031"/>
              <a:gd name="connsiteX1" fmla="*/ 5270007 w 5319915"/>
              <a:gd name="connsiteY1" fmla="*/ 0 h 1428031"/>
              <a:gd name="connsiteX2" fmla="*/ 0 w 5319915"/>
              <a:gd name="connsiteY2" fmla="*/ 0 h 1428031"/>
              <a:gd name="connsiteX3" fmla="*/ 0 w 5319915"/>
              <a:gd name="connsiteY3" fmla="*/ 1343731 h 1428031"/>
              <a:gd name="connsiteX0" fmla="*/ 5319915 w 5332391"/>
              <a:gd name="connsiteY0" fmla="*/ 1428031 h 1428031"/>
              <a:gd name="connsiteX1" fmla="*/ 5332391 w 5332391"/>
              <a:gd name="connsiteY1" fmla="*/ 21891 h 1428031"/>
              <a:gd name="connsiteX2" fmla="*/ 0 w 5332391"/>
              <a:gd name="connsiteY2" fmla="*/ 0 h 1428031"/>
              <a:gd name="connsiteX3" fmla="*/ 0 w 5332391"/>
              <a:gd name="connsiteY3" fmla="*/ 1343731 h 1428031"/>
              <a:gd name="connsiteX0" fmla="*/ 5319915 w 5319915"/>
              <a:gd name="connsiteY0" fmla="*/ 1428031 h 1428031"/>
              <a:gd name="connsiteX1" fmla="*/ 5294960 w 5319915"/>
              <a:gd name="connsiteY1" fmla="*/ 32836 h 1428031"/>
              <a:gd name="connsiteX2" fmla="*/ 0 w 5319915"/>
              <a:gd name="connsiteY2" fmla="*/ 0 h 1428031"/>
              <a:gd name="connsiteX3" fmla="*/ 0 w 5319915"/>
              <a:gd name="connsiteY3" fmla="*/ 1343731 h 1428031"/>
              <a:gd name="connsiteX0" fmla="*/ 5282484 w 5294960"/>
              <a:gd name="connsiteY0" fmla="*/ 1438977 h 1438977"/>
              <a:gd name="connsiteX1" fmla="*/ 5294960 w 5294960"/>
              <a:gd name="connsiteY1" fmla="*/ 32836 h 1438977"/>
              <a:gd name="connsiteX2" fmla="*/ 0 w 5294960"/>
              <a:gd name="connsiteY2" fmla="*/ 0 h 1438977"/>
              <a:gd name="connsiteX3" fmla="*/ 0 w 5294960"/>
              <a:gd name="connsiteY3" fmla="*/ 1343731 h 1438977"/>
            </a:gdLst>
            <a:ahLst/>
            <a:cxnLst>
              <a:cxn ang="0">
                <a:pos x="connsiteX0" y="connsiteY0"/>
              </a:cxn>
              <a:cxn ang="0">
                <a:pos x="connsiteX1" y="connsiteY1"/>
              </a:cxn>
              <a:cxn ang="0">
                <a:pos x="connsiteX2" y="connsiteY2"/>
              </a:cxn>
              <a:cxn ang="0">
                <a:pos x="connsiteX3" y="connsiteY3"/>
              </a:cxn>
            </a:cxnLst>
            <a:rect l="l" t="t" r="r" b="b"/>
            <a:pathLst>
              <a:path w="5294960" h="1438977">
                <a:moveTo>
                  <a:pt x="5282484" y="1438977"/>
                </a:moveTo>
                <a:lnTo>
                  <a:pt x="5294960" y="32836"/>
                </a:lnTo>
                <a:lnTo>
                  <a:pt x="0" y="0"/>
                </a:lnTo>
                <a:lnTo>
                  <a:pt x="0" y="1343731"/>
                </a:lnTo>
              </a:path>
            </a:pathLst>
          </a:custGeom>
          <a:noFill/>
          <a:ln w="158750" cap="flat" cmpd="sng">
            <a:solidFill>
              <a:schemeClr val="accent3">
                <a:lumMod val="60000"/>
                <a:lumOff val="40000"/>
                <a:alpha val="32000"/>
              </a:schemeClr>
            </a:solidFill>
            <a:prstDash val="solid"/>
            <a:round/>
            <a:headEnd type="none" w="sm" len="sm"/>
            <a:tailEnd type="none"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 name="Freeform 4">
            <a:extLst>
              <a:ext uri="{FF2B5EF4-FFF2-40B4-BE49-F238E27FC236}">
                <a16:creationId xmlns:a16="http://schemas.microsoft.com/office/drawing/2014/main" id="{AF434D08-0A81-0AA6-BDA2-47AF56EF8C59}"/>
              </a:ext>
            </a:extLst>
          </p:cNvPr>
          <p:cNvSpPr/>
          <p:nvPr/>
        </p:nvSpPr>
        <p:spPr bwMode="gray">
          <a:xfrm>
            <a:off x="3052040" y="3064207"/>
            <a:ext cx="2852412" cy="1027755"/>
          </a:xfrm>
          <a:custGeom>
            <a:avLst/>
            <a:gdLst>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67377 h 1438977"/>
              <a:gd name="connsiteX4" fmla="*/ 0 w 4995512"/>
              <a:gd name="connsiteY4" fmla="*/ 822960 h 1438977"/>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822960 h 1438977"/>
            </a:gdLst>
            <a:ahLst/>
            <a:cxnLst>
              <a:cxn ang="0">
                <a:pos x="connsiteX0" y="connsiteY0"/>
              </a:cxn>
              <a:cxn ang="0">
                <a:pos x="connsiteX1" y="connsiteY1"/>
              </a:cxn>
              <a:cxn ang="0">
                <a:pos x="connsiteX2" y="connsiteY2"/>
              </a:cxn>
              <a:cxn ang="0">
                <a:pos x="connsiteX3" y="connsiteY3"/>
              </a:cxn>
            </a:cxnLst>
            <a:rect l="l" t="t" r="r" b="b"/>
            <a:pathLst>
              <a:path w="4995512" h="1438977">
                <a:moveTo>
                  <a:pt x="4995512" y="1438977"/>
                </a:moveTo>
                <a:lnTo>
                  <a:pt x="4995512" y="0"/>
                </a:lnTo>
                <a:lnTo>
                  <a:pt x="0" y="0"/>
                </a:lnTo>
                <a:lnTo>
                  <a:pt x="0" y="822960"/>
                </a:lnTo>
              </a:path>
            </a:pathLst>
          </a:custGeom>
          <a:noFill/>
          <a:ln w="158750" cap="flat" cmpd="sng">
            <a:solidFill>
              <a:srgbClr val="00C3FF">
                <a:alpha val="32000"/>
              </a:srgbClr>
            </a:solidFill>
            <a:prstDash val="solid"/>
            <a:round/>
            <a:headEnd type="none" w="sm" len="sm"/>
            <a:tailEnd type="none"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 name="Freeform 7">
            <a:extLst>
              <a:ext uri="{FF2B5EF4-FFF2-40B4-BE49-F238E27FC236}">
                <a16:creationId xmlns:a16="http://schemas.microsoft.com/office/drawing/2014/main" id="{4A895B4B-C7CD-C564-F7D3-5D485FBD7A2D}"/>
              </a:ext>
            </a:extLst>
          </p:cNvPr>
          <p:cNvSpPr/>
          <p:nvPr/>
        </p:nvSpPr>
        <p:spPr bwMode="gray">
          <a:xfrm>
            <a:off x="3459044" y="3354701"/>
            <a:ext cx="1485220" cy="737261"/>
          </a:xfrm>
          <a:custGeom>
            <a:avLst/>
            <a:gdLst>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67377 h 1438977"/>
              <a:gd name="connsiteX4" fmla="*/ 0 w 4995512"/>
              <a:gd name="connsiteY4" fmla="*/ 822960 h 1438977"/>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822960 h 1438977"/>
            </a:gdLst>
            <a:ahLst/>
            <a:cxnLst>
              <a:cxn ang="0">
                <a:pos x="connsiteX0" y="connsiteY0"/>
              </a:cxn>
              <a:cxn ang="0">
                <a:pos x="connsiteX1" y="connsiteY1"/>
              </a:cxn>
              <a:cxn ang="0">
                <a:pos x="connsiteX2" y="connsiteY2"/>
              </a:cxn>
              <a:cxn ang="0">
                <a:pos x="connsiteX3" y="connsiteY3"/>
              </a:cxn>
            </a:cxnLst>
            <a:rect l="l" t="t" r="r" b="b"/>
            <a:pathLst>
              <a:path w="4995512" h="1438977">
                <a:moveTo>
                  <a:pt x="4995512" y="1438977"/>
                </a:moveTo>
                <a:lnTo>
                  <a:pt x="4995512" y="0"/>
                </a:lnTo>
                <a:lnTo>
                  <a:pt x="0" y="0"/>
                </a:lnTo>
                <a:lnTo>
                  <a:pt x="0" y="822960"/>
                </a:lnTo>
              </a:path>
            </a:pathLst>
          </a:custGeom>
          <a:noFill/>
          <a:ln w="158750" cap="flat" cmpd="sng">
            <a:solidFill>
              <a:srgbClr val="00C3FF">
                <a:alpha val="32000"/>
              </a:srgbClr>
            </a:solidFill>
            <a:prstDash val="solid"/>
            <a:round/>
            <a:headEnd type="none" w="sm" len="sm"/>
            <a:tailEnd type="none"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9" name="Group 8">
            <a:extLst>
              <a:ext uri="{FF2B5EF4-FFF2-40B4-BE49-F238E27FC236}">
                <a16:creationId xmlns:a16="http://schemas.microsoft.com/office/drawing/2014/main" id="{0CE0B86D-E526-3C27-3677-7DAA9CF40D0C}"/>
              </a:ext>
            </a:extLst>
          </p:cNvPr>
          <p:cNvGrpSpPr/>
          <p:nvPr/>
        </p:nvGrpSpPr>
        <p:grpSpPr>
          <a:xfrm>
            <a:off x="4591461" y="3913297"/>
            <a:ext cx="2549801" cy="1037073"/>
            <a:chOff x="2632079" y="2495871"/>
            <a:chExt cx="3089126" cy="1037073"/>
          </a:xfrm>
        </p:grpSpPr>
        <p:sp>
          <p:nvSpPr>
            <p:cNvPr id="10" name="Rectangle 9">
              <a:extLst>
                <a:ext uri="{FF2B5EF4-FFF2-40B4-BE49-F238E27FC236}">
                  <a16:creationId xmlns:a16="http://schemas.microsoft.com/office/drawing/2014/main" id="{E0E4F6E6-E046-63B6-6EC7-D2F1301DA59C}"/>
                </a:ext>
              </a:extLst>
            </p:cNvPr>
            <p:cNvSpPr/>
            <p:nvPr/>
          </p:nvSpPr>
          <p:spPr>
            <a:xfrm rot="10800000" flipV="1">
              <a:off x="2632079" y="2495871"/>
              <a:ext cx="3089126" cy="216308"/>
            </a:xfrm>
            <a:prstGeom prst="rect">
              <a:avLst/>
            </a:prstGeom>
            <a:gradFill>
              <a:gsLst>
                <a:gs pos="0">
                  <a:schemeClr val="bg1">
                    <a:alpha val="0"/>
                  </a:schemeClr>
                </a:gs>
                <a:gs pos="90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11" name="Rectangle 10">
              <a:extLst>
                <a:ext uri="{FF2B5EF4-FFF2-40B4-BE49-F238E27FC236}">
                  <a16:creationId xmlns:a16="http://schemas.microsoft.com/office/drawing/2014/main" id="{20DA7468-84F9-A140-2C53-817E6B0B3281}"/>
                </a:ext>
              </a:extLst>
            </p:cNvPr>
            <p:cNvSpPr/>
            <p:nvPr/>
          </p:nvSpPr>
          <p:spPr>
            <a:xfrm rot="10800000" flipV="1">
              <a:off x="2632079" y="2662692"/>
              <a:ext cx="2732876" cy="870252"/>
            </a:xfrm>
            <a:prstGeom prst="rect">
              <a:avLst/>
            </a:prstGeom>
            <a:solidFill>
              <a:schemeClr val="bg1"/>
            </a:soli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grpSp>
        <p:nvGrpSpPr>
          <p:cNvPr id="12" name="Group 11">
            <a:extLst>
              <a:ext uri="{FF2B5EF4-FFF2-40B4-BE49-F238E27FC236}">
                <a16:creationId xmlns:a16="http://schemas.microsoft.com/office/drawing/2014/main" id="{6ABB0083-F659-0BFE-72BA-B742ED9D31DC}"/>
              </a:ext>
            </a:extLst>
          </p:cNvPr>
          <p:cNvGrpSpPr/>
          <p:nvPr/>
        </p:nvGrpSpPr>
        <p:grpSpPr>
          <a:xfrm>
            <a:off x="1263470" y="3472484"/>
            <a:ext cx="2549801" cy="1037073"/>
            <a:chOff x="2632079" y="2495871"/>
            <a:chExt cx="3089126" cy="1037073"/>
          </a:xfrm>
        </p:grpSpPr>
        <p:sp>
          <p:nvSpPr>
            <p:cNvPr id="13" name="Rectangle 12">
              <a:extLst>
                <a:ext uri="{FF2B5EF4-FFF2-40B4-BE49-F238E27FC236}">
                  <a16:creationId xmlns:a16="http://schemas.microsoft.com/office/drawing/2014/main" id="{80127BCE-925B-1B73-0592-ED1D7146E808}"/>
                </a:ext>
              </a:extLst>
            </p:cNvPr>
            <p:cNvSpPr/>
            <p:nvPr/>
          </p:nvSpPr>
          <p:spPr>
            <a:xfrm rot="10800000" flipV="1">
              <a:off x="2632079" y="2495871"/>
              <a:ext cx="3089126" cy="216308"/>
            </a:xfrm>
            <a:prstGeom prst="rect">
              <a:avLst/>
            </a:prstGeom>
            <a:gradFill>
              <a:gsLst>
                <a:gs pos="0">
                  <a:schemeClr val="bg1">
                    <a:alpha val="0"/>
                  </a:schemeClr>
                </a:gs>
                <a:gs pos="90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14" name="Rectangle 13">
              <a:extLst>
                <a:ext uri="{FF2B5EF4-FFF2-40B4-BE49-F238E27FC236}">
                  <a16:creationId xmlns:a16="http://schemas.microsoft.com/office/drawing/2014/main" id="{30D7C471-BA56-957E-26F7-192F411E9653}"/>
                </a:ext>
              </a:extLst>
            </p:cNvPr>
            <p:cNvSpPr/>
            <p:nvPr/>
          </p:nvSpPr>
          <p:spPr>
            <a:xfrm rot="10800000" flipV="1">
              <a:off x="2632079" y="2662692"/>
              <a:ext cx="2732876" cy="870252"/>
            </a:xfrm>
            <a:prstGeom prst="rect">
              <a:avLst/>
            </a:prstGeom>
            <a:solidFill>
              <a:schemeClr val="bg1"/>
            </a:soli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grpSp>
        <p:nvGrpSpPr>
          <p:cNvPr id="15" name="Group 14">
            <a:extLst>
              <a:ext uri="{FF2B5EF4-FFF2-40B4-BE49-F238E27FC236}">
                <a16:creationId xmlns:a16="http://schemas.microsoft.com/office/drawing/2014/main" id="{60CFB30C-8701-A5CF-F21E-7E71674F78DF}"/>
              </a:ext>
            </a:extLst>
          </p:cNvPr>
          <p:cNvGrpSpPr/>
          <p:nvPr/>
        </p:nvGrpSpPr>
        <p:grpSpPr>
          <a:xfrm flipH="1">
            <a:off x="2254506" y="3667166"/>
            <a:ext cx="1883897" cy="539981"/>
            <a:chOff x="3278891" y="2354134"/>
            <a:chExt cx="1250574" cy="505822"/>
          </a:xfrm>
        </p:grpSpPr>
        <p:sp>
          <p:nvSpPr>
            <p:cNvPr id="16" name="Rectangle 15">
              <a:extLst>
                <a:ext uri="{FF2B5EF4-FFF2-40B4-BE49-F238E27FC236}">
                  <a16:creationId xmlns:a16="http://schemas.microsoft.com/office/drawing/2014/main" id="{5847D33E-5F3B-D3F5-0142-0789738FB8B8}"/>
                </a:ext>
              </a:extLst>
            </p:cNvPr>
            <p:cNvSpPr/>
            <p:nvPr/>
          </p:nvSpPr>
          <p:spPr>
            <a:xfrm rot="10800000" flipV="1">
              <a:off x="3311848" y="2364232"/>
              <a:ext cx="1169849" cy="399478"/>
            </a:xfrm>
            <a:prstGeom prst="rect">
              <a:avLst/>
            </a:prstGeom>
            <a:solidFill>
              <a:schemeClr val="bg1"/>
            </a:solidFill>
            <a:ln w="19050" cap="flat" cmpd="sng" algn="ctr">
              <a:solidFill>
                <a:schemeClr val="accent2"/>
              </a:solid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17" name="Rectangle 16">
              <a:extLst>
                <a:ext uri="{FF2B5EF4-FFF2-40B4-BE49-F238E27FC236}">
                  <a16:creationId xmlns:a16="http://schemas.microsoft.com/office/drawing/2014/main" id="{7F9A5322-760D-7F1E-CDFE-76D7B81AE3D9}"/>
                </a:ext>
              </a:extLst>
            </p:cNvPr>
            <p:cNvSpPr/>
            <p:nvPr/>
          </p:nvSpPr>
          <p:spPr>
            <a:xfrm rot="16200000" flipV="1">
              <a:off x="3535131" y="2097894"/>
              <a:ext cx="505822" cy="1018302"/>
            </a:xfrm>
            <a:prstGeom prst="rect">
              <a:avLst/>
            </a:prstGeom>
            <a:gradFill>
              <a:gsLst>
                <a:gs pos="0">
                  <a:schemeClr val="bg1">
                    <a:alpha val="0"/>
                  </a:schemeClr>
                </a:gs>
                <a:gs pos="82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18" name="Rectangle 17">
              <a:extLst>
                <a:ext uri="{FF2B5EF4-FFF2-40B4-BE49-F238E27FC236}">
                  <a16:creationId xmlns:a16="http://schemas.microsoft.com/office/drawing/2014/main" id="{CC41A07C-D04B-4253-E475-C4F247C590F3}"/>
                </a:ext>
              </a:extLst>
            </p:cNvPr>
            <p:cNvSpPr/>
            <p:nvPr/>
          </p:nvSpPr>
          <p:spPr>
            <a:xfrm rot="10800000" flipV="1">
              <a:off x="3511164" y="2405473"/>
              <a:ext cx="1018301" cy="399477"/>
            </a:xfrm>
            <a:prstGeom prst="rect">
              <a:avLst/>
            </a:prstGeom>
            <a:gradFill>
              <a:gsLst>
                <a:gs pos="0">
                  <a:schemeClr val="bg1">
                    <a:alpha val="0"/>
                  </a:schemeClr>
                </a:gs>
                <a:gs pos="87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grpSp>
        <p:nvGrpSpPr>
          <p:cNvPr id="19" name="Group 18">
            <a:extLst>
              <a:ext uri="{FF2B5EF4-FFF2-40B4-BE49-F238E27FC236}">
                <a16:creationId xmlns:a16="http://schemas.microsoft.com/office/drawing/2014/main" id="{9CF3660D-6E18-1760-68E5-D1C1FE9EE45B}"/>
              </a:ext>
            </a:extLst>
          </p:cNvPr>
          <p:cNvGrpSpPr/>
          <p:nvPr/>
        </p:nvGrpSpPr>
        <p:grpSpPr>
          <a:xfrm>
            <a:off x="1031634" y="3667161"/>
            <a:ext cx="1016309" cy="539979"/>
            <a:chOff x="2941177" y="2354132"/>
            <a:chExt cx="1588289" cy="505821"/>
          </a:xfrm>
        </p:grpSpPr>
        <p:sp>
          <p:nvSpPr>
            <p:cNvPr id="20" name="Rectangle 19">
              <a:extLst>
                <a:ext uri="{FF2B5EF4-FFF2-40B4-BE49-F238E27FC236}">
                  <a16:creationId xmlns:a16="http://schemas.microsoft.com/office/drawing/2014/main" id="{CE389DCE-E03C-4A76-6039-E09D14670914}"/>
                </a:ext>
              </a:extLst>
            </p:cNvPr>
            <p:cNvSpPr/>
            <p:nvPr/>
          </p:nvSpPr>
          <p:spPr>
            <a:xfrm rot="10800000" flipV="1">
              <a:off x="3018446" y="2364232"/>
              <a:ext cx="1463251" cy="399478"/>
            </a:xfrm>
            <a:prstGeom prst="rect">
              <a:avLst/>
            </a:prstGeom>
            <a:solidFill>
              <a:schemeClr val="bg1"/>
            </a:solidFill>
            <a:ln w="19050" cap="flat" cmpd="sng" algn="ctr">
              <a:solidFill>
                <a:schemeClr val="accent2"/>
              </a:solid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21" name="Rectangle 20">
              <a:extLst>
                <a:ext uri="{FF2B5EF4-FFF2-40B4-BE49-F238E27FC236}">
                  <a16:creationId xmlns:a16="http://schemas.microsoft.com/office/drawing/2014/main" id="{CD583182-C50C-2FC2-8C12-6505F6829DD7}"/>
                </a:ext>
              </a:extLst>
            </p:cNvPr>
            <p:cNvSpPr/>
            <p:nvPr/>
          </p:nvSpPr>
          <p:spPr>
            <a:xfrm rot="16200000" flipV="1">
              <a:off x="3389457" y="1905852"/>
              <a:ext cx="505821" cy="1402382"/>
            </a:xfrm>
            <a:prstGeom prst="rect">
              <a:avLst/>
            </a:prstGeom>
            <a:gradFill>
              <a:gsLst>
                <a:gs pos="0">
                  <a:schemeClr val="bg1">
                    <a:alpha val="0"/>
                  </a:schemeClr>
                </a:gs>
                <a:gs pos="82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22" name="Rectangle 21">
              <a:extLst>
                <a:ext uri="{FF2B5EF4-FFF2-40B4-BE49-F238E27FC236}">
                  <a16:creationId xmlns:a16="http://schemas.microsoft.com/office/drawing/2014/main" id="{EF25ABEE-AD72-0D8A-E3CC-174B42CB68FE}"/>
                </a:ext>
              </a:extLst>
            </p:cNvPr>
            <p:cNvSpPr/>
            <p:nvPr/>
          </p:nvSpPr>
          <p:spPr>
            <a:xfrm rot="10800000" flipV="1">
              <a:off x="3133659" y="2405473"/>
              <a:ext cx="1395807" cy="399477"/>
            </a:xfrm>
            <a:prstGeom prst="rect">
              <a:avLst/>
            </a:prstGeom>
            <a:gradFill>
              <a:gsLst>
                <a:gs pos="0">
                  <a:schemeClr val="bg1">
                    <a:alpha val="0"/>
                  </a:schemeClr>
                </a:gs>
                <a:gs pos="87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grpSp>
        <p:nvGrpSpPr>
          <p:cNvPr id="23" name="Group 22">
            <a:extLst>
              <a:ext uri="{FF2B5EF4-FFF2-40B4-BE49-F238E27FC236}">
                <a16:creationId xmlns:a16="http://schemas.microsoft.com/office/drawing/2014/main" id="{9879B5B6-C924-5421-E997-B13BF90B8E62}"/>
              </a:ext>
            </a:extLst>
          </p:cNvPr>
          <p:cNvGrpSpPr/>
          <p:nvPr/>
        </p:nvGrpSpPr>
        <p:grpSpPr>
          <a:xfrm flipH="1">
            <a:off x="5195562" y="4087152"/>
            <a:ext cx="1095854" cy="539981"/>
            <a:chOff x="7255604" y="3978593"/>
            <a:chExt cx="1610485" cy="539981"/>
          </a:xfrm>
        </p:grpSpPr>
        <p:grpSp>
          <p:nvGrpSpPr>
            <p:cNvPr id="24" name="Group 23">
              <a:extLst>
                <a:ext uri="{FF2B5EF4-FFF2-40B4-BE49-F238E27FC236}">
                  <a16:creationId xmlns:a16="http://schemas.microsoft.com/office/drawing/2014/main" id="{EB5235E8-399A-3116-D3E0-F22C6799B744}"/>
                </a:ext>
              </a:extLst>
            </p:cNvPr>
            <p:cNvGrpSpPr/>
            <p:nvPr/>
          </p:nvGrpSpPr>
          <p:grpSpPr>
            <a:xfrm flipH="1">
              <a:off x="7255604" y="3978593"/>
              <a:ext cx="807433" cy="539981"/>
              <a:chOff x="3278891" y="2354134"/>
              <a:chExt cx="1250574" cy="505822"/>
            </a:xfrm>
          </p:grpSpPr>
          <p:sp>
            <p:nvSpPr>
              <p:cNvPr id="26" name="Rectangle 25">
                <a:extLst>
                  <a:ext uri="{FF2B5EF4-FFF2-40B4-BE49-F238E27FC236}">
                    <a16:creationId xmlns:a16="http://schemas.microsoft.com/office/drawing/2014/main" id="{F1DD0058-685F-193A-62A1-BDCC77EFB226}"/>
                  </a:ext>
                </a:extLst>
              </p:cNvPr>
              <p:cNvSpPr/>
              <p:nvPr/>
            </p:nvSpPr>
            <p:spPr>
              <a:xfrm rot="10800000" flipV="1">
                <a:off x="3311848" y="2364232"/>
                <a:ext cx="1169849" cy="399478"/>
              </a:xfrm>
              <a:prstGeom prst="rect">
                <a:avLst/>
              </a:prstGeom>
              <a:solidFill>
                <a:schemeClr val="bg1"/>
              </a:solidFill>
              <a:ln w="19050" cap="flat" cmpd="sng" algn="ctr">
                <a:solidFill>
                  <a:schemeClr val="accent5"/>
                </a:solidFill>
                <a:prstDash val="solid"/>
                <a:miter lim="800000"/>
                <a:tailEnd type="none"/>
              </a:ln>
              <a:effectLst/>
            </p:spPr>
            <p:txBody>
              <a:bodyPr lIns="80446" tIns="40223" rIns="80446" bIns="40223"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27" name="Rectangle 26">
                <a:extLst>
                  <a:ext uri="{FF2B5EF4-FFF2-40B4-BE49-F238E27FC236}">
                    <a16:creationId xmlns:a16="http://schemas.microsoft.com/office/drawing/2014/main" id="{E65244F0-D2C2-6F71-DDB1-7513F7C4C5E7}"/>
                  </a:ext>
                </a:extLst>
              </p:cNvPr>
              <p:cNvSpPr/>
              <p:nvPr/>
            </p:nvSpPr>
            <p:spPr>
              <a:xfrm rot="16200000" flipV="1">
                <a:off x="3535131" y="2097894"/>
                <a:ext cx="505822" cy="1018302"/>
              </a:xfrm>
              <a:prstGeom prst="rect">
                <a:avLst/>
              </a:prstGeom>
              <a:gradFill>
                <a:gsLst>
                  <a:gs pos="0">
                    <a:schemeClr val="bg1">
                      <a:alpha val="0"/>
                    </a:schemeClr>
                  </a:gs>
                  <a:gs pos="82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28" name="Rectangle 27">
                <a:extLst>
                  <a:ext uri="{FF2B5EF4-FFF2-40B4-BE49-F238E27FC236}">
                    <a16:creationId xmlns:a16="http://schemas.microsoft.com/office/drawing/2014/main" id="{58940393-EAC2-D173-62D0-78939EFE7C87}"/>
                  </a:ext>
                </a:extLst>
              </p:cNvPr>
              <p:cNvSpPr/>
              <p:nvPr/>
            </p:nvSpPr>
            <p:spPr>
              <a:xfrm rot="10800000" flipV="1">
                <a:off x="3511164" y="2405473"/>
                <a:ext cx="1018301" cy="399477"/>
              </a:xfrm>
              <a:prstGeom prst="rect">
                <a:avLst/>
              </a:prstGeom>
              <a:gradFill>
                <a:gsLst>
                  <a:gs pos="0">
                    <a:schemeClr val="bg1">
                      <a:alpha val="0"/>
                    </a:schemeClr>
                  </a:gs>
                  <a:gs pos="87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sp>
          <p:nvSpPr>
            <p:cNvPr id="25" name="Rectangle: Rounded Corners 2399">
              <a:extLst>
                <a:ext uri="{FF2B5EF4-FFF2-40B4-BE49-F238E27FC236}">
                  <a16:creationId xmlns:a16="http://schemas.microsoft.com/office/drawing/2014/main" id="{6F38C2F3-3D1D-9C22-0DE9-14675024806D}"/>
                </a:ext>
              </a:extLst>
            </p:cNvPr>
            <p:cNvSpPr/>
            <p:nvPr/>
          </p:nvSpPr>
          <p:spPr>
            <a:xfrm>
              <a:off x="7385543" y="4060025"/>
              <a:ext cx="1480546" cy="177596"/>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r" defTabSz="914400" rtl="0" eaLnBrk="1" fontAlgn="auto" latinLnBrk="0" hangingPunct="1">
                <a:lnSpc>
                  <a:spcPct val="90000"/>
                </a:lnSpc>
                <a:spcBef>
                  <a:spcPts val="0"/>
                </a:spcBef>
                <a:spcAft>
                  <a:spcPts val="592"/>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panose="020B0604020202020204"/>
                  <a:ea typeface="+mn-ea"/>
                  <a:cs typeface="Arial" panose="020B0604020202020204" pitchFamily="34" charset="0"/>
                </a:rPr>
                <a:t>NSX Network</a:t>
              </a:r>
            </a:p>
          </p:txBody>
        </p:sp>
      </p:grpSp>
      <p:grpSp>
        <p:nvGrpSpPr>
          <p:cNvPr id="29" name="Group 28">
            <a:extLst>
              <a:ext uri="{FF2B5EF4-FFF2-40B4-BE49-F238E27FC236}">
                <a16:creationId xmlns:a16="http://schemas.microsoft.com/office/drawing/2014/main" id="{5F05C033-1142-2809-DD15-A90F376B11FD}"/>
              </a:ext>
            </a:extLst>
          </p:cNvPr>
          <p:cNvGrpSpPr/>
          <p:nvPr/>
        </p:nvGrpSpPr>
        <p:grpSpPr>
          <a:xfrm>
            <a:off x="4440644" y="4087147"/>
            <a:ext cx="757144" cy="539979"/>
            <a:chOff x="2941177" y="2354132"/>
            <a:chExt cx="1588289" cy="505821"/>
          </a:xfrm>
        </p:grpSpPr>
        <p:sp>
          <p:nvSpPr>
            <p:cNvPr id="30" name="Rectangle 29">
              <a:extLst>
                <a:ext uri="{FF2B5EF4-FFF2-40B4-BE49-F238E27FC236}">
                  <a16:creationId xmlns:a16="http://schemas.microsoft.com/office/drawing/2014/main" id="{935CC45A-0D4C-F6E9-B108-184A3EADC0B7}"/>
                </a:ext>
              </a:extLst>
            </p:cNvPr>
            <p:cNvSpPr/>
            <p:nvPr/>
          </p:nvSpPr>
          <p:spPr>
            <a:xfrm rot="10800000" flipV="1">
              <a:off x="3018446" y="2364232"/>
              <a:ext cx="1463251" cy="399478"/>
            </a:xfrm>
            <a:prstGeom prst="rect">
              <a:avLst/>
            </a:prstGeom>
            <a:solidFill>
              <a:schemeClr val="bg1"/>
            </a:solidFill>
            <a:ln w="19050" cap="flat" cmpd="sng" algn="ctr">
              <a:solidFill>
                <a:schemeClr val="accent5"/>
              </a:solid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31" name="Rectangle 30">
              <a:extLst>
                <a:ext uri="{FF2B5EF4-FFF2-40B4-BE49-F238E27FC236}">
                  <a16:creationId xmlns:a16="http://schemas.microsoft.com/office/drawing/2014/main" id="{74615786-9152-0601-78FC-9039A50F14BE}"/>
                </a:ext>
              </a:extLst>
            </p:cNvPr>
            <p:cNvSpPr/>
            <p:nvPr/>
          </p:nvSpPr>
          <p:spPr>
            <a:xfrm rot="16200000" flipV="1">
              <a:off x="3389457" y="1905852"/>
              <a:ext cx="505821" cy="1402382"/>
            </a:xfrm>
            <a:prstGeom prst="rect">
              <a:avLst/>
            </a:prstGeom>
            <a:gradFill>
              <a:gsLst>
                <a:gs pos="0">
                  <a:schemeClr val="bg1">
                    <a:alpha val="0"/>
                  </a:schemeClr>
                </a:gs>
                <a:gs pos="82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32" name="Rectangle 31">
              <a:extLst>
                <a:ext uri="{FF2B5EF4-FFF2-40B4-BE49-F238E27FC236}">
                  <a16:creationId xmlns:a16="http://schemas.microsoft.com/office/drawing/2014/main" id="{A3D35E84-5C02-1E09-EF19-C13007AEE246}"/>
                </a:ext>
              </a:extLst>
            </p:cNvPr>
            <p:cNvSpPr/>
            <p:nvPr/>
          </p:nvSpPr>
          <p:spPr>
            <a:xfrm rot="10800000" flipV="1">
              <a:off x="3133659" y="2405473"/>
              <a:ext cx="1395807" cy="399477"/>
            </a:xfrm>
            <a:prstGeom prst="rect">
              <a:avLst/>
            </a:prstGeom>
            <a:gradFill>
              <a:gsLst>
                <a:gs pos="0">
                  <a:schemeClr val="bg1">
                    <a:alpha val="0"/>
                  </a:schemeClr>
                </a:gs>
                <a:gs pos="87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sp>
        <p:nvSpPr>
          <p:cNvPr id="33" name="Rectangle: Rounded Corners 2399">
            <a:extLst>
              <a:ext uri="{FF2B5EF4-FFF2-40B4-BE49-F238E27FC236}">
                <a16:creationId xmlns:a16="http://schemas.microsoft.com/office/drawing/2014/main" id="{8271873E-711E-0F1E-353C-733F4669EA66}"/>
              </a:ext>
            </a:extLst>
          </p:cNvPr>
          <p:cNvSpPr/>
          <p:nvPr/>
        </p:nvSpPr>
        <p:spPr>
          <a:xfrm>
            <a:off x="4350925" y="4168584"/>
            <a:ext cx="765664" cy="177596"/>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592"/>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panose="020B0604020202020204"/>
                <a:ea typeface="+mn-ea"/>
                <a:cs typeface="Arial" panose="020B0604020202020204" pitchFamily="34" charset="0"/>
              </a:rPr>
              <a:t>NSX vLAN</a:t>
            </a:r>
          </a:p>
        </p:txBody>
      </p:sp>
      <p:sp>
        <p:nvSpPr>
          <p:cNvPr id="34" name="Rectangle: Rounded Corners 2399">
            <a:extLst>
              <a:ext uri="{FF2B5EF4-FFF2-40B4-BE49-F238E27FC236}">
                <a16:creationId xmlns:a16="http://schemas.microsoft.com/office/drawing/2014/main" id="{EA4D3DEC-0444-0920-A9B1-3D22E6FB105D}"/>
              </a:ext>
            </a:extLst>
          </p:cNvPr>
          <p:cNvSpPr/>
          <p:nvPr/>
        </p:nvSpPr>
        <p:spPr>
          <a:xfrm>
            <a:off x="4582469" y="5241321"/>
            <a:ext cx="2496727" cy="195355"/>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592"/>
              </a:spcAft>
              <a:buClrTx/>
              <a:buSzTx/>
              <a:buFontTx/>
              <a:buNone/>
              <a:tabLst/>
              <a:defRPr/>
            </a:pPr>
            <a:r>
              <a:rPr kumimoji="0" lang="en-US" sz="1200" b="1" i="0" u="none" strike="noStrike" kern="0" cap="none" spc="0" normalizeH="0" baseline="0" noProof="0" dirty="0">
                <a:ln>
                  <a:noFill/>
                </a:ln>
                <a:solidFill>
                  <a:srgbClr val="6C4B94"/>
                </a:solidFill>
                <a:effectLst/>
                <a:uLnTx/>
                <a:uFillTx/>
                <a:latin typeface="Arial" panose="020B0604020202020204"/>
                <a:ea typeface="+mn-ea"/>
                <a:cs typeface="Arial" panose="020B0604020202020204" pitchFamily="34" charset="0"/>
              </a:rPr>
              <a:t>vCenter Site A</a:t>
            </a:r>
          </a:p>
        </p:txBody>
      </p:sp>
      <p:pic>
        <p:nvPicPr>
          <p:cNvPr id="35" name="Graphic 34">
            <a:extLst>
              <a:ext uri="{FF2B5EF4-FFF2-40B4-BE49-F238E27FC236}">
                <a16:creationId xmlns:a16="http://schemas.microsoft.com/office/drawing/2014/main" id="{25EB3D55-BD81-690A-35D5-79280AAA60A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815007" y="4537794"/>
            <a:ext cx="476808" cy="476810"/>
          </a:xfrm>
          <a:prstGeom prst="rect">
            <a:avLst/>
          </a:prstGeom>
        </p:spPr>
      </p:pic>
      <p:sp>
        <p:nvSpPr>
          <p:cNvPr id="36" name="Rectangle 35">
            <a:extLst>
              <a:ext uri="{FF2B5EF4-FFF2-40B4-BE49-F238E27FC236}">
                <a16:creationId xmlns:a16="http://schemas.microsoft.com/office/drawing/2014/main" id="{8C96E01D-26B2-AE71-404B-001A551A7E65}"/>
              </a:ext>
            </a:extLst>
          </p:cNvPr>
          <p:cNvSpPr/>
          <p:nvPr/>
        </p:nvSpPr>
        <p:spPr>
          <a:xfrm>
            <a:off x="4597975" y="5503178"/>
            <a:ext cx="2536372" cy="14567"/>
          </a:xfrm>
          <a:prstGeom prst="rect">
            <a:avLst/>
          </a:prstGeom>
          <a:gradFill>
            <a:gsLst>
              <a:gs pos="0">
                <a:schemeClr val="accent5">
                  <a:alpha val="0"/>
                </a:schemeClr>
              </a:gs>
              <a:gs pos="38000">
                <a:schemeClr val="accent5"/>
              </a:gs>
              <a:gs pos="59000">
                <a:schemeClr val="accent5"/>
              </a:gs>
              <a:gs pos="99000">
                <a:schemeClr val="accent5">
                  <a:alpha val="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 name="Rectangle: Rounded Corners 2399">
            <a:extLst>
              <a:ext uri="{FF2B5EF4-FFF2-40B4-BE49-F238E27FC236}">
                <a16:creationId xmlns:a16="http://schemas.microsoft.com/office/drawing/2014/main" id="{E6480446-446D-FEAD-2CE4-76FE9E8F6456}"/>
              </a:ext>
            </a:extLst>
          </p:cNvPr>
          <p:cNvSpPr/>
          <p:nvPr/>
        </p:nvSpPr>
        <p:spPr>
          <a:xfrm>
            <a:off x="763654" y="5247163"/>
            <a:ext cx="3069010" cy="195355"/>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592"/>
              </a:spcAft>
              <a:buClrTx/>
              <a:buSzTx/>
              <a:buFontTx/>
              <a:buNone/>
              <a:tabLst/>
              <a:defRPr/>
            </a:pPr>
            <a:r>
              <a:rPr kumimoji="0" lang="en-US" sz="1200" b="1" i="0" u="none" strike="noStrike" kern="0" cap="none" spc="0" normalizeH="0" baseline="0" noProof="0" dirty="0">
                <a:ln>
                  <a:noFill/>
                </a:ln>
                <a:solidFill>
                  <a:srgbClr val="005C8A"/>
                </a:solidFill>
                <a:effectLst/>
                <a:uLnTx/>
                <a:uFillTx/>
                <a:latin typeface="Arial" panose="020B0604020202020204"/>
                <a:ea typeface="+mn-ea"/>
                <a:cs typeface="Arial" panose="020B0604020202020204" pitchFamily="34" charset="0"/>
              </a:rPr>
              <a:t>VCF-Site B</a:t>
            </a:r>
          </a:p>
        </p:txBody>
      </p:sp>
      <p:sp>
        <p:nvSpPr>
          <p:cNvPr id="39" name="Google Shape;2848;p22">
            <a:extLst>
              <a:ext uri="{FF2B5EF4-FFF2-40B4-BE49-F238E27FC236}">
                <a16:creationId xmlns:a16="http://schemas.microsoft.com/office/drawing/2014/main" id="{BBACAA5E-A925-CFC4-84D8-E50200F29E94}"/>
              </a:ext>
            </a:extLst>
          </p:cNvPr>
          <p:cNvSpPr/>
          <p:nvPr/>
        </p:nvSpPr>
        <p:spPr>
          <a:xfrm>
            <a:off x="1157524" y="4048960"/>
            <a:ext cx="2030928" cy="630455"/>
          </a:xfrm>
          <a:prstGeom prst="roundRect">
            <a:avLst>
              <a:gd name="adj" fmla="val 1496"/>
            </a:avLst>
          </a:prstGeom>
          <a:solidFill>
            <a:schemeClr val="bg1"/>
          </a:solidFill>
          <a:ln w="12700" cap="flat" cmpd="sng">
            <a:solidFill>
              <a:schemeClr val="accent1"/>
            </a:solidFill>
            <a:prstDash val="solid"/>
            <a:round/>
            <a:headEnd type="none" w="sm" len="sm"/>
            <a:tailEnd type="none" w="sm" len="sm"/>
          </a:ln>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FFFFFF"/>
              </a:solidFill>
              <a:effectLst/>
              <a:uLnTx/>
              <a:uFillTx/>
              <a:latin typeface="Arial" panose="020B0604020202020204"/>
              <a:ea typeface="Arial"/>
              <a:cs typeface="Arial" panose="020B0604020202020204" pitchFamily="34" charset="0"/>
              <a:sym typeface="Arial"/>
            </a:endParaRPr>
          </a:p>
        </p:txBody>
      </p:sp>
      <p:sp>
        <p:nvSpPr>
          <p:cNvPr id="40" name="Rectangle 39">
            <a:extLst>
              <a:ext uri="{FF2B5EF4-FFF2-40B4-BE49-F238E27FC236}">
                <a16:creationId xmlns:a16="http://schemas.microsoft.com/office/drawing/2014/main" id="{1DA165D8-7BFF-5C38-A488-4BABCA3C631A}"/>
              </a:ext>
            </a:extLst>
          </p:cNvPr>
          <p:cNvSpPr/>
          <p:nvPr/>
        </p:nvSpPr>
        <p:spPr>
          <a:xfrm rot="10800000" flipV="1">
            <a:off x="1431540" y="4523932"/>
            <a:ext cx="506424" cy="529717"/>
          </a:xfrm>
          <a:prstGeom prst="rect">
            <a:avLst/>
          </a:prstGeom>
          <a:solidFill>
            <a:schemeClr val="bg1"/>
          </a:soli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pic>
        <p:nvPicPr>
          <p:cNvPr id="41" name="Graphic 40">
            <a:extLst>
              <a:ext uri="{FF2B5EF4-FFF2-40B4-BE49-F238E27FC236}">
                <a16:creationId xmlns:a16="http://schemas.microsoft.com/office/drawing/2014/main" id="{B4C211F7-7488-3C02-34D4-A05565056F7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446347" y="4550386"/>
            <a:ext cx="476808" cy="476810"/>
          </a:xfrm>
          <a:prstGeom prst="rect">
            <a:avLst/>
          </a:prstGeom>
        </p:spPr>
      </p:pic>
      <p:sp>
        <p:nvSpPr>
          <p:cNvPr id="42" name="Rectangle 41">
            <a:extLst>
              <a:ext uri="{FF2B5EF4-FFF2-40B4-BE49-F238E27FC236}">
                <a16:creationId xmlns:a16="http://schemas.microsoft.com/office/drawing/2014/main" id="{BC0DF9DB-3BB3-9584-FE66-2DA9B176F049}"/>
              </a:ext>
            </a:extLst>
          </p:cNvPr>
          <p:cNvSpPr/>
          <p:nvPr/>
        </p:nvSpPr>
        <p:spPr>
          <a:xfrm rot="10800000" flipV="1">
            <a:off x="2409814" y="4523932"/>
            <a:ext cx="506424" cy="529717"/>
          </a:xfrm>
          <a:prstGeom prst="rect">
            <a:avLst/>
          </a:prstGeom>
          <a:solidFill>
            <a:schemeClr val="bg1"/>
          </a:solidFill>
          <a:ln w="19050" cap="flat" cmpd="sng" algn="ctr">
            <a:noFill/>
            <a:prstDash val="solid"/>
            <a:miter lim="800000"/>
            <a:tailEnd type="none"/>
          </a:ln>
          <a:effectLst/>
        </p:spPr>
        <p:txBody>
          <a:bodyPr lIns="80446" tIns="40223" rIns="80446" bIns="40223"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pic>
        <p:nvPicPr>
          <p:cNvPr id="43" name="Graphic 42">
            <a:extLst>
              <a:ext uri="{FF2B5EF4-FFF2-40B4-BE49-F238E27FC236}">
                <a16:creationId xmlns:a16="http://schemas.microsoft.com/office/drawing/2014/main" id="{3E2D9226-CD99-EE04-2AAE-12FB62CBA7F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424621" y="4550386"/>
            <a:ext cx="476808" cy="476810"/>
          </a:xfrm>
          <a:prstGeom prst="rect">
            <a:avLst/>
          </a:prstGeom>
        </p:spPr>
      </p:pic>
      <p:sp>
        <p:nvSpPr>
          <p:cNvPr id="44" name="Rectangle: Rounded Corners 2399">
            <a:extLst>
              <a:ext uri="{FF2B5EF4-FFF2-40B4-BE49-F238E27FC236}">
                <a16:creationId xmlns:a16="http://schemas.microsoft.com/office/drawing/2014/main" id="{15B43AE8-5D61-7989-8324-E9A098EA0CCE}"/>
              </a:ext>
            </a:extLst>
          </p:cNvPr>
          <p:cNvSpPr/>
          <p:nvPr/>
        </p:nvSpPr>
        <p:spPr>
          <a:xfrm>
            <a:off x="1491047" y="4306617"/>
            <a:ext cx="1409337" cy="177596"/>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ts val="592"/>
              </a:spcAft>
              <a:buClrTx/>
              <a:buSzTx/>
              <a:buFontTx/>
              <a:buNone/>
              <a:tabLst/>
              <a:defRPr/>
            </a:pPr>
            <a:r>
              <a:rPr kumimoji="0" lang="en-US" sz="1200" b="0" i="0" u="none" strike="noStrike" kern="0" cap="all" spc="0" normalizeH="0" baseline="0" noProof="0" dirty="0">
                <a:ln>
                  <a:noFill/>
                </a:ln>
                <a:solidFill>
                  <a:srgbClr val="000000"/>
                </a:solidFill>
                <a:effectLst/>
                <a:uLnTx/>
                <a:uFillTx/>
                <a:latin typeface="Arial" panose="020B0604020202020204"/>
                <a:ea typeface="+mn-ea"/>
                <a:cs typeface="Arial" panose="020B0604020202020204" pitchFamily="34" charset="0"/>
              </a:rPr>
              <a:t>VCF Cluster</a:t>
            </a:r>
          </a:p>
        </p:txBody>
      </p:sp>
      <p:sp>
        <p:nvSpPr>
          <p:cNvPr id="45" name="Rectangle 44">
            <a:extLst>
              <a:ext uri="{FF2B5EF4-FFF2-40B4-BE49-F238E27FC236}">
                <a16:creationId xmlns:a16="http://schemas.microsoft.com/office/drawing/2014/main" id="{D04D05A5-EE71-C1D9-55EA-AFB618351C13}"/>
              </a:ext>
            </a:extLst>
          </p:cNvPr>
          <p:cNvSpPr/>
          <p:nvPr/>
        </p:nvSpPr>
        <p:spPr>
          <a:xfrm>
            <a:off x="763654" y="5511491"/>
            <a:ext cx="3069010" cy="14567"/>
          </a:xfrm>
          <a:prstGeom prst="rect">
            <a:avLst/>
          </a:prstGeom>
          <a:gradFill>
            <a:gsLst>
              <a:gs pos="0">
                <a:schemeClr val="accent3">
                  <a:alpha val="0"/>
                </a:schemeClr>
              </a:gs>
              <a:gs pos="39000">
                <a:schemeClr val="accent3"/>
              </a:gs>
              <a:gs pos="60000">
                <a:schemeClr val="accent3"/>
              </a:gs>
              <a:gs pos="100000">
                <a:schemeClr val="accent3">
                  <a:alpha val="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 name="Rectangle: Rounded Corners 2399">
            <a:extLst>
              <a:ext uri="{FF2B5EF4-FFF2-40B4-BE49-F238E27FC236}">
                <a16:creationId xmlns:a16="http://schemas.microsoft.com/office/drawing/2014/main" id="{F62FD810-4BDE-DF54-DC85-7CCC2F1BD8A9}"/>
              </a:ext>
            </a:extLst>
          </p:cNvPr>
          <p:cNvSpPr/>
          <p:nvPr/>
        </p:nvSpPr>
        <p:spPr>
          <a:xfrm>
            <a:off x="2395285" y="3748598"/>
            <a:ext cx="1252303" cy="177596"/>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592"/>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panose="020B0604020202020204"/>
                <a:ea typeface="+mn-ea"/>
                <a:cs typeface="Arial" panose="020B0604020202020204" pitchFamily="34" charset="0"/>
              </a:rPr>
              <a:t>VPC Subnet</a:t>
            </a:r>
          </a:p>
        </p:txBody>
      </p:sp>
      <p:sp>
        <p:nvSpPr>
          <p:cNvPr id="47" name="Rectangle: Rounded Corners 2399">
            <a:extLst>
              <a:ext uri="{FF2B5EF4-FFF2-40B4-BE49-F238E27FC236}">
                <a16:creationId xmlns:a16="http://schemas.microsoft.com/office/drawing/2014/main" id="{EC110B9F-671B-35A1-1FC5-53850D8305F0}"/>
              </a:ext>
            </a:extLst>
          </p:cNvPr>
          <p:cNvSpPr/>
          <p:nvPr/>
        </p:nvSpPr>
        <p:spPr>
          <a:xfrm>
            <a:off x="1319910" y="3723659"/>
            <a:ext cx="657466" cy="177596"/>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r" defTabSz="914400" rtl="0" eaLnBrk="1" fontAlgn="auto" latinLnBrk="0" hangingPunct="1">
              <a:lnSpc>
                <a:spcPct val="90000"/>
              </a:lnSpc>
              <a:spcBef>
                <a:spcPts val="0"/>
              </a:spcBef>
              <a:spcAft>
                <a:spcPts val="592"/>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panose="020B0604020202020204"/>
                <a:ea typeface="+mn-ea"/>
                <a:cs typeface="Arial" panose="020B0604020202020204" pitchFamily="34" charset="0"/>
              </a:rPr>
              <a:t>vLAN</a:t>
            </a:r>
          </a:p>
        </p:txBody>
      </p:sp>
      <p:grpSp>
        <p:nvGrpSpPr>
          <p:cNvPr id="48" name="Group 47">
            <a:extLst>
              <a:ext uri="{FF2B5EF4-FFF2-40B4-BE49-F238E27FC236}">
                <a16:creationId xmlns:a16="http://schemas.microsoft.com/office/drawing/2014/main" id="{B29D1F6D-1E04-CE00-261F-5D812231A4CB}"/>
              </a:ext>
            </a:extLst>
          </p:cNvPr>
          <p:cNvGrpSpPr/>
          <p:nvPr/>
        </p:nvGrpSpPr>
        <p:grpSpPr>
          <a:xfrm>
            <a:off x="5631882" y="3424319"/>
            <a:ext cx="542117" cy="573914"/>
            <a:chOff x="6036855" y="2199341"/>
            <a:chExt cx="542117" cy="573914"/>
          </a:xfrm>
        </p:grpSpPr>
        <p:grpSp>
          <p:nvGrpSpPr>
            <p:cNvPr id="49" name="Group 48">
              <a:extLst>
                <a:ext uri="{FF2B5EF4-FFF2-40B4-BE49-F238E27FC236}">
                  <a16:creationId xmlns:a16="http://schemas.microsoft.com/office/drawing/2014/main" id="{D170BCD9-2228-8349-F43D-2856556D1AEF}"/>
                </a:ext>
              </a:extLst>
            </p:cNvPr>
            <p:cNvGrpSpPr/>
            <p:nvPr/>
          </p:nvGrpSpPr>
          <p:grpSpPr>
            <a:xfrm>
              <a:off x="6125753" y="2406901"/>
              <a:ext cx="366096" cy="366354"/>
              <a:chOff x="6048000" y="2396768"/>
              <a:chExt cx="402706" cy="402989"/>
            </a:xfrm>
          </p:grpSpPr>
          <p:sp>
            <p:nvSpPr>
              <p:cNvPr id="51" name="Rectangle 50">
                <a:extLst>
                  <a:ext uri="{FF2B5EF4-FFF2-40B4-BE49-F238E27FC236}">
                    <a16:creationId xmlns:a16="http://schemas.microsoft.com/office/drawing/2014/main" id="{31EB2A49-3C78-4191-77CE-225AC97AC45F}"/>
                  </a:ext>
                </a:extLst>
              </p:cNvPr>
              <p:cNvSpPr/>
              <p:nvPr/>
            </p:nvSpPr>
            <p:spPr bwMode="gray">
              <a:xfrm>
                <a:off x="6069966" y="2410620"/>
                <a:ext cx="354788" cy="369357"/>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52" name="Group 51">
                <a:extLst>
                  <a:ext uri="{FF2B5EF4-FFF2-40B4-BE49-F238E27FC236}">
                    <a16:creationId xmlns:a16="http://schemas.microsoft.com/office/drawing/2014/main" id="{7E2DA1B0-3DBB-0704-B701-B3FA865519DA}"/>
                  </a:ext>
                </a:extLst>
              </p:cNvPr>
              <p:cNvGrpSpPr/>
              <p:nvPr/>
            </p:nvGrpSpPr>
            <p:grpSpPr>
              <a:xfrm>
                <a:off x="6048000" y="2396768"/>
                <a:ext cx="402706" cy="402989"/>
                <a:chOff x="611268" y="5235083"/>
                <a:chExt cx="682595" cy="683075"/>
              </a:xfrm>
              <a:solidFill>
                <a:schemeClr val="accent3"/>
              </a:solidFill>
            </p:grpSpPr>
            <p:sp>
              <p:nvSpPr>
                <p:cNvPr id="53" name="Freeform 52">
                  <a:extLst>
                    <a:ext uri="{FF2B5EF4-FFF2-40B4-BE49-F238E27FC236}">
                      <a16:creationId xmlns:a16="http://schemas.microsoft.com/office/drawing/2014/main" id="{A1912040-FF32-017D-3208-7101D87E6267}"/>
                    </a:ext>
                  </a:extLst>
                </p:cNvPr>
                <p:cNvSpPr/>
                <p:nvPr/>
              </p:nvSpPr>
              <p:spPr>
                <a:xfrm>
                  <a:off x="611268" y="5235083"/>
                  <a:ext cx="682595" cy="683075"/>
                </a:xfrm>
                <a:custGeom>
                  <a:avLst/>
                  <a:gdLst>
                    <a:gd name="connsiteX0" fmla="*/ 574590 w 682595"/>
                    <a:gd name="connsiteY0" fmla="*/ 683075 h 683075"/>
                    <a:gd name="connsiteX1" fmla="*/ 0 w 682595"/>
                    <a:gd name="connsiteY1" fmla="*/ 683075 h 683075"/>
                    <a:gd name="connsiteX2" fmla="*/ 0 w 682595"/>
                    <a:gd name="connsiteY2" fmla="*/ 0 h 683075"/>
                    <a:gd name="connsiteX3" fmla="*/ 682595 w 682595"/>
                    <a:gd name="connsiteY3" fmla="*/ 0 h 683075"/>
                    <a:gd name="connsiteX4" fmla="*/ 682595 w 682595"/>
                    <a:gd name="connsiteY4" fmla="*/ 661954 h 683075"/>
                    <a:gd name="connsiteX5" fmla="*/ 634593 w 682595"/>
                    <a:gd name="connsiteY5" fmla="*/ 661954 h 683075"/>
                    <a:gd name="connsiteX6" fmla="*/ 634593 w 682595"/>
                    <a:gd name="connsiteY6" fmla="*/ 48002 h 683075"/>
                    <a:gd name="connsiteX7" fmla="*/ 48002 w 682595"/>
                    <a:gd name="connsiteY7" fmla="*/ 48002 h 683075"/>
                    <a:gd name="connsiteX8" fmla="*/ 48002 w 682595"/>
                    <a:gd name="connsiteY8" fmla="*/ 635073 h 683075"/>
                    <a:gd name="connsiteX9" fmla="*/ 574590 w 682595"/>
                    <a:gd name="connsiteY9" fmla="*/ 635073 h 683075"/>
                    <a:gd name="connsiteX10" fmla="*/ 574590 w 682595"/>
                    <a:gd name="connsiteY10" fmla="*/ 683075 h 68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2595" h="683075">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grp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54" name="Freeform 53">
                  <a:extLst>
                    <a:ext uri="{FF2B5EF4-FFF2-40B4-BE49-F238E27FC236}">
                      <a16:creationId xmlns:a16="http://schemas.microsoft.com/office/drawing/2014/main" id="{C728DBA9-4EAE-D87C-0A29-31633C401F9D}"/>
                    </a:ext>
                  </a:extLst>
                </p:cNvPr>
                <p:cNvSpPr/>
                <p:nvPr/>
              </p:nvSpPr>
              <p:spPr>
                <a:xfrm>
                  <a:off x="939971" y="5521559"/>
                  <a:ext cx="149924" cy="100774"/>
                </a:xfrm>
                <a:custGeom>
                  <a:avLst/>
                  <a:gdLst/>
                  <a:ahLst/>
                  <a:cxnLst/>
                  <a:rect l="l" t="t" r="r" b="b"/>
                  <a:pathLst>
                    <a:path w="149924" h="100774">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grp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55" name="Freeform 54">
                  <a:extLst>
                    <a:ext uri="{FF2B5EF4-FFF2-40B4-BE49-F238E27FC236}">
                      <a16:creationId xmlns:a16="http://schemas.microsoft.com/office/drawing/2014/main" id="{5533213B-E215-EC35-0552-6DE13121D9C2}"/>
                    </a:ext>
                  </a:extLst>
                </p:cNvPr>
                <p:cNvSpPr/>
                <p:nvPr/>
              </p:nvSpPr>
              <p:spPr>
                <a:xfrm>
                  <a:off x="816464" y="5523845"/>
                  <a:ext cx="105918" cy="98488"/>
                </a:xfrm>
                <a:custGeom>
                  <a:avLst/>
                  <a:gdLst/>
                  <a:ahLst/>
                  <a:cxnLst/>
                  <a:rect l="l" t="t" r="r" b="b"/>
                  <a:pathLst>
                    <a:path w="105918" h="98488">
                      <a:moveTo>
                        <a:pt x="0" y="0"/>
                      </a:moveTo>
                      <a:lnTo>
                        <a:pt x="24765" y="0"/>
                      </a:lnTo>
                      <a:lnTo>
                        <a:pt x="53340" y="71628"/>
                      </a:lnTo>
                      <a:lnTo>
                        <a:pt x="81343" y="0"/>
                      </a:lnTo>
                      <a:lnTo>
                        <a:pt x="105918" y="0"/>
                      </a:lnTo>
                      <a:lnTo>
                        <a:pt x="64198" y="98488"/>
                      </a:lnTo>
                      <a:lnTo>
                        <a:pt x="42481" y="98488"/>
                      </a:lnTo>
                      <a:close/>
                    </a:path>
                  </a:pathLst>
                </a:custGeom>
                <a:grp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grpSp>
        </p:grpSp>
        <p:sp>
          <p:nvSpPr>
            <p:cNvPr id="50" name="Rectangle 49">
              <a:extLst>
                <a:ext uri="{FF2B5EF4-FFF2-40B4-BE49-F238E27FC236}">
                  <a16:creationId xmlns:a16="http://schemas.microsoft.com/office/drawing/2014/main" id="{CB901AC8-F496-9F59-78B6-E7799769C95B}"/>
                </a:ext>
              </a:extLst>
            </p:cNvPr>
            <p:cNvSpPr/>
            <p:nvPr/>
          </p:nvSpPr>
          <p:spPr bwMode="gray">
            <a:xfrm>
              <a:off x="6036855" y="2199341"/>
              <a:ext cx="542117" cy="234819"/>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98C7"/>
                  </a:solidFill>
                  <a:effectLst/>
                  <a:uLnTx/>
                  <a:uFillTx/>
                  <a:latin typeface="Arial" panose="020B0604020202020204"/>
                  <a:ea typeface="+mn-ea"/>
                  <a:cs typeface="Arial" panose="020B0604020202020204" pitchFamily="34" charset="0"/>
                </a:rPr>
                <a:t>VM2</a:t>
              </a:r>
            </a:p>
          </p:txBody>
        </p:sp>
      </p:grpSp>
      <p:grpSp>
        <p:nvGrpSpPr>
          <p:cNvPr id="56" name="Group 55">
            <a:extLst>
              <a:ext uri="{FF2B5EF4-FFF2-40B4-BE49-F238E27FC236}">
                <a16:creationId xmlns:a16="http://schemas.microsoft.com/office/drawing/2014/main" id="{9697ED45-5AE2-22C2-066E-7575202B9ED4}"/>
              </a:ext>
            </a:extLst>
          </p:cNvPr>
          <p:cNvGrpSpPr/>
          <p:nvPr/>
        </p:nvGrpSpPr>
        <p:grpSpPr>
          <a:xfrm>
            <a:off x="4675124" y="3424319"/>
            <a:ext cx="542117" cy="573911"/>
            <a:chOff x="6036855" y="2199341"/>
            <a:chExt cx="542117" cy="573911"/>
          </a:xfrm>
        </p:grpSpPr>
        <p:grpSp>
          <p:nvGrpSpPr>
            <p:cNvPr id="57" name="Group 56">
              <a:extLst>
                <a:ext uri="{FF2B5EF4-FFF2-40B4-BE49-F238E27FC236}">
                  <a16:creationId xmlns:a16="http://schemas.microsoft.com/office/drawing/2014/main" id="{B1663E37-84DC-69CC-7A1B-6163048A56C5}"/>
                </a:ext>
              </a:extLst>
            </p:cNvPr>
            <p:cNvGrpSpPr/>
            <p:nvPr/>
          </p:nvGrpSpPr>
          <p:grpSpPr>
            <a:xfrm>
              <a:off x="6125753" y="2406901"/>
              <a:ext cx="366096" cy="366354"/>
              <a:chOff x="6048000" y="2396768"/>
              <a:chExt cx="402706" cy="402989"/>
            </a:xfrm>
          </p:grpSpPr>
          <p:sp>
            <p:nvSpPr>
              <p:cNvPr id="59" name="Rectangle 58">
                <a:extLst>
                  <a:ext uri="{FF2B5EF4-FFF2-40B4-BE49-F238E27FC236}">
                    <a16:creationId xmlns:a16="http://schemas.microsoft.com/office/drawing/2014/main" id="{05ED1F1A-9557-6600-AFEE-ADACC8C9E23F}"/>
                  </a:ext>
                </a:extLst>
              </p:cNvPr>
              <p:cNvSpPr/>
              <p:nvPr/>
            </p:nvSpPr>
            <p:spPr bwMode="gray">
              <a:xfrm>
                <a:off x="6069966" y="2410620"/>
                <a:ext cx="354788" cy="369357"/>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60" name="Group 59">
                <a:extLst>
                  <a:ext uri="{FF2B5EF4-FFF2-40B4-BE49-F238E27FC236}">
                    <a16:creationId xmlns:a16="http://schemas.microsoft.com/office/drawing/2014/main" id="{C5D273FB-2A4F-2D17-9AF4-AEDD1E57580A}"/>
                  </a:ext>
                </a:extLst>
              </p:cNvPr>
              <p:cNvGrpSpPr/>
              <p:nvPr/>
            </p:nvGrpSpPr>
            <p:grpSpPr>
              <a:xfrm>
                <a:off x="6048000" y="2396768"/>
                <a:ext cx="402706" cy="402989"/>
                <a:chOff x="611268" y="5235083"/>
                <a:chExt cx="682595" cy="683075"/>
              </a:xfrm>
              <a:solidFill>
                <a:schemeClr val="accent3"/>
              </a:solidFill>
            </p:grpSpPr>
            <p:sp>
              <p:nvSpPr>
                <p:cNvPr id="61" name="Freeform 60">
                  <a:extLst>
                    <a:ext uri="{FF2B5EF4-FFF2-40B4-BE49-F238E27FC236}">
                      <a16:creationId xmlns:a16="http://schemas.microsoft.com/office/drawing/2014/main" id="{A3EA4D4A-5635-5D58-77B8-0DE81AA18385}"/>
                    </a:ext>
                  </a:extLst>
                </p:cNvPr>
                <p:cNvSpPr/>
                <p:nvPr/>
              </p:nvSpPr>
              <p:spPr>
                <a:xfrm>
                  <a:off x="611268" y="5235083"/>
                  <a:ext cx="682595" cy="683075"/>
                </a:xfrm>
                <a:custGeom>
                  <a:avLst/>
                  <a:gdLst>
                    <a:gd name="connsiteX0" fmla="*/ 574590 w 682595"/>
                    <a:gd name="connsiteY0" fmla="*/ 683075 h 683075"/>
                    <a:gd name="connsiteX1" fmla="*/ 0 w 682595"/>
                    <a:gd name="connsiteY1" fmla="*/ 683075 h 683075"/>
                    <a:gd name="connsiteX2" fmla="*/ 0 w 682595"/>
                    <a:gd name="connsiteY2" fmla="*/ 0 h 683075"/>
                    <a:gd name="connsiteX3" fmla="*/ 682595 w 682595"/>
                    <a:gd name="connsiteY3" fmla="*/ 0 h 683075"/>
                    <a:gd name="connsiteX4" fmla="*/ 682595 w 682595"/>
                    <a:gd name="connsiteY4" fmla="*/ 661954 h 683075"/>
                    <a:gd name="connsiteX5" fmla="*/ 634593 w 682595"/>
                    <a:gd name="connsiteY5" fmla="*/ 661954 h 683075"/>
                    <a:gd name="connsiteX6" fmla="*/ 634593 w 682595"/>
                    <a:gd name="connsiteY6" fmla="*/ 48002 h 683075"/>
                    <a:gd name="connsiteX7" fmla="*/ 48002 w 682595"/>
                    <a:gd name="connsiteY7" fmla="*/ 48002 h 683075"/>
                    <a:gd name="connsiteX8" fmla="*/ 48002 w 682595"/>
                    <a:gd name="connsiteY8" fmla="*/ 635073 h 683075"/>
                    <a:gd name="connsiteX9" fmla="*/ 574590 w 682595"/>
                    <a:gd name="connsiteY9" fmla="*/ 635073 h 683075"/>
                    <a:gd name="connsiteX10" fmla="*/ 574590 w 682595"/>
                    <a:gd name="connsiteY10" fmla="*/ 683075 h 68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2595" h="683075">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grp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62" name="Freeform 61">
                  <a:extLst>
                    <a:ext uri="{FF2B5EF4-FFF2-40B4-BE49-F238E27FC236}">
                      <a16:creationId xmlns:a16="http://schemas.microsoft.com/office/drawing/2014/main" id="{4DDCC3A7-CBBB-589B-6804-4EF547D8C9CB}"/>
                    </a:ext>
                  </a:extLst>
                </p:cNvPr>
                <p:cNvSpPr/>
                <p:nvPr/>
              </p:nvSpPr>
              <p:spPr>
                <a:xfrm>
                  <a:off x="939971" y="5521559"/>
                  <a:ext cx="149924" cy="100774"/>
                </a:xfrm>
                <a:custGeom>
                  <a:avLst/>
                  <a:gdLst/>
                  <a:ahLst/>
                  <a:cxnLst/>
                  <a:rect l="l" t="t" r="r" b="b"/>
                  <a:pathLst>
                    <a:path w="149924" h="100774">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grp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63" name="Freeform 62">
                  <a:extLst>
                    <a:ext uri="{FF2B5EF4-FFF2-40B4-BE49-F238E27FC236}">
                      <a16:creationId xmlns:a16="http://schemas.microsoft.com/office/drawing/2014/main" id="{00FF9E6E-75BF-A051-4DB2-E5A6F543CEC9}"/>
                    </a:ext>
                  </a:extLst>
                </p:cNvPr>
                <p:cNvSpPr/>
                <p:nvPr/>
              </p:nvSpPr>
              <p:spPr>
                <a:xfrm>
                  <a:off x="816464" y="5523845"/>
                  <a:ext cx="105918" cy="98488"/>
                </a:xfrm>
                <a:custGeom>
                  <a:avLst/>
                  <a:gdLst/>
                  <a:ahLst/>
                  <a:cxnLst/>
                  <a:rect l="l" t="t" r="r" b="b"/>
                  <a:pathLst>
                    <a:path w="105918" h="98488">
                      <a:moveTo>
                        <a:pt x="0" y="0"/>
                      </a:moveTo>
                      <a:lnTo>
                        <a:pt x="24765" y="0"/>
                      </a:lnTo>
                      <a:lnTo>
                        <a:pt x="53340" y="71628"/>
                      </a:lnTo>
                      <a:lnTo>
                        <a:pt x="81343" y="0"/>
                      </a:lnTo>
                      <a:lnTo>
                        <a:pt x="105918" y="0"/>
                      </a:lnTo>
                      <a:lnTo>
                        <a:pt x="64198" y="98488"/>
                      </a:lnTo>
                      <a:lnTo>
                        <a:pt x="42481" y="98488"/>
                      </a:lnTo>
                      <a:close/>
                    </a:path>
                  </a:pathLst>
                </a:custGeom>
                <a:grp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grpSp>
        </p:grpSp>
        <p:sp>
          <p:nvSpPr>
            <p:cNvPr id="58" name="Rectangle 57">
              <a:extLst>
                <a:ext uri="{FF2B5EF4-FFF2-40B4-BE49-F238E27FC236}">
                  <a16:creationId xmlns:a16="http://schemas.microsoft.com/office/drawing/2014/main" id="{E5986314-3C29-0BE3-6F26-D55350D9B906}"/>
                </a:ext>
              </a:extLst>
            </p:cNvPr>
            <p:cNvSpPr/>
            <p:nvPr/>
          </p:nvSpPr>
          <p:spPr bwMode="gray">
            <a:xfrm>
              <a:off x="6036855" y="2199341"/>
              <a:ext cx="542117" cy="234819"/>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98C7"/>
                  </a:solidFill>
                  <a:effectLst/>
                  <a:uLnTx/>
                  <a:uFillTx/>
                  <a:latin typeface="Arial" panose="020B0604020202020204"/>
                  <a:ea typeface="+mn-ea"/>
                  <a:cs typeface="Arial" panose="020B0604020202020204" pitchFamily="34" charset="0"/>
                </a:rPr>
                <a:t>VM1</a:t>
              </a:r>
            </a:p>
          </p:txBody>
        </p:sp>
      </p:grpSp>
      <p:cxnSp>
        <p:nvCxnSpPr>
          <p:cNvPr id="64" name="Straight Connector 63">
            <a:extLst>
              <a:ext uri="{FF2B5EF4-FFF2-40B4-BE49-F238E27FC236}">
                <a16:creationId xmlns:a16="http://schemas.microsoft.com/office/drawing/2014/main" id="{9AAFF2B8-12A3-FD93-2A57-867764C610B5}"/>
              </a:ext>
            </a:extLst>
          </p:cNvPr>
          <p:cNvCxnSpPr>
            <a:cxnSpLocks/>
          </p:cNvCxnSpPr>
          <p:nvPr/>
        </p:nvCxnSpPr>
        <p:spPr bwMode="gray">
          <a:xfrm>
            <a:off x="4947706" y="3994654"/>
            <a:ext cx="0" cy="97309"/>
          </a:xfrm>
          <a:prstGeom prst="line">
            <a:avLst/>
          </a:prstGeom>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0EC66A-D31E-91AF-6DC8-FE5D0C1243F4}"/>
              </a:ext>
            </a:extLst>
          </p:cNvPr>
          <p:cNvCxnSpPr/>
          <p:nvPr/>
        </p:nvCxnSpPr>
        <p:spPr bwMode="gray">
          <a:xfrm>
            <a:off x="3459044" y="3597740"/>
            <a:ext cx="0" cy="80421"/>
          </a:xfrm>
          <a:prstGeom prst="line">
            <a:avLst/>
          </a:prstGeom>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5CB51FA4-5C2D-A5B1-37D8-68786B36277A}"/>
              </a:ext>
            </a:extLst>
          </p:cNvPr>
          <p:cNvCxnSpPr>
            <a:cxnSpLocks/>
          </p:cNvCxnSpPr>
          <p:nvPr/>
        </p:nvCxnSpPr>
        <p:spPr bwMode="gray">
          <a:xfrm>
            <a:off x="5904636" y="3994654"/>
            <a:ext cx="0" cy="97309"/>
          </a:xfrm>
          <a:prstGeom prst="line">
            <a:avLst/>
          </a:prstGeom>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30D4E4D-300D-C271-7D71-02B5EE255B9E}"/>
              </a:ext>
            </a:extLst>
          </p:cNvPr>
          <p:cNvCxnSpPr/>
          <p:nvPr/>
        </p:nvCxnSpPr>
        <p:spPr bwMode="gray">
          <a:xfrm>
            <a:off x="3055920" y="3597740"/>
            <a:ext cx="0" cy="80421"/>
          </a:xfrm>
          <a:prstGeom prst="line">
            <a:avLst/>
          </a:prstGeom>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AA99C58-EAF0-73BC-6526-B5AE37BF1EEE}"/>
              </a:ext>
            </a:extLst>
          </p:cNvPr>
          <p:cNvCxnSpPr/>
          <p:nvPr/>
        </p:nvCxnSpPr>
        <p:spPr bwMode="gray">
          <a:xfrm>
            <a:off x="1870604" y="3593849"/>
            <a:ext cx="0" cy="80421"/>
          </a:xfrm>
          <a:prstGeom prst="line">
            <a:avLst/>
          </a:prstGeom>
          <a:ln w="15875">
            <a:solidFill>
              <a:srgbClr val="0098C8"/>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69" name="Group 68">
            <a:extLst>
              <a:ext uri="{FF2B5EF4-FFF2-40B4-BE49-F238E27FC236}">
                <a16:creationId xmlns:a16="http://schemas.microsoft.com/office/drawing/2014/main" id="{BA57C169-1890-32B1-8338-C38D19102592}"/>
              </a:ext>
            </a:extLst>
          </p:cNvPr>
          <p:cNvGrpSpPr/>
          <p:nvPr/>
        </p:nvGrpSpPr>
        <p:grpSpPr>
          <a:xfrm>
            <a:off x="6317098" y="4087151"/>
            <a:ext cx="1511184" cy="539981"/>
            <a:chOff x="7255604" y="3978592"/>
            <a:chExt cx="874383" cy="539981"/>
          </a:xfrm>
        </p:grpSpPr>
        <p:grpSp>
          <p:nvGrpSpPr>
            <p:cNvPr id="70" name="Group 69">
              <a:extLst>
                <a:ext uri="{FF2B5EF4-FFF2-40B4-BE49-F238E27FC236}">
                  <a16:creationId xmlns:a16="http://schemas.microsoft.com/office/drawing/2014/main" id="{685C314C-6042-920D-AC21-8073E7744A33}"/>
                </a:ext>
              </a:extLst>
            </p:cNvPr>
            <p:cNvGrpSpPr/>
            <p:nvPr/>
          </p:nvGrpSpPr>
          <p:grpSpPr>
            <a:xfrm flipH="1">
              <a:off x="7255604" y="3978592"/>
              <a:ext cx="800500" cy="539981"/>
              <a:chOff x="3289623" y="2354133"/>
              <a:chExt cx="1239833" cy="505822"/>
            </a:xfrm>
          </p:grpSpPr>
          <p:sp>
            <p:nvSpPr>
              <p:cNvPr id="72" name="Rectangle 71">
                <a:extLst>
                  <a:ext uri="{FF2B5EF4-FFF2-40B4-BE49-F238E27FC236}">
                    <a16:creationId xmlns:a16="http://schemas.microsoft.com/office/drawing/2014/main" id="{8C2CC744-6E59-A78E-4BE0-E78AB6FED018}"/>
                  </a:ext>
                </a:extLst>
              </p:cNvPr>
              <p:cNvSpPr/>
              <p:nvPr/>
            </p:nvSpPr>
            <p:spPr>
              <a:xfrm rot="10800000" flipV="1">
                <a:off x="3311848" y="2364232"/>
                <a:ext cx="1169849" cy="399478"/>
              </a:xfrm>
              <a:prstGeom prst="rect">
                <a:avLst/>
              </a:prstGeom>
              <a:solidFill>
                <a:schemeClr val="bg1"/>
              </a:solidFill>
              <a:ln w="19050" cap="flat" cmpd="sng" algn="ctr">
                <a:solidFill>
                  <a:schemeClr val="accent5"/>
                </a:solidFill>
                <a:prstDash val="solid"/>
                <a:miter lim="800000"/>
                <a:tailEnd type="none"/>
              </a:ln>
              <a:effectLst/>
            </p:spPr>
            <p:txBody>
              <a:bodyPr lIns="80446" tIns="40223" rIns="80446" bIns="40223"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73" name="Rectangle 72">
                <a:extLst>
                  <a:ext uri="{FF2B5EF4-FFF2-40B4-BE49-F238E27FC236}">
                    <a16:creationId xmlns:a16="http://schemas.microsoft.com/office/drawing/2014/main" id="{89BF6A0E-B445-CD59-CF8D-81D04AB0F6B3}"/>
                  </a:ext>
                </a:extLst>
              </p:cNvPr>
              <p:cNvSpPr/>
              <p:nvPr/>
            </p:nvSpPr>
            <p:spPr>
              <a:xfrm rot="16200000" flipV="1">
                <a:off x="3545862" y="2097894"/>
                <a:ext cx="505822" cy="1018299"/>
              </a:xfrm>
              <a:prstGeom prst="rect">
                <a:avLst/>
              </a:prstGeom>
              <a:gradFill>
                <a:gsLst>
                  <a:gs pos="0">
                    <a:schemeClr val="bg1">
                      <a:alpha val="0"/>
                    </a:schemeClr>
                  </a:gs>
                  <a:gs pos="82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sp>
            <p:nvSpPr>
              <p:cNvPr id="74" name="Rectangle 73">
                <a:extLst>
                  <a:ext uri="{FF2B5EF4-FFF2-40B4-BE49-F238E27FC236}">
                    <a16:creationId xmlns:a16="http://schemas.microsoft.com/office/drawing/2014/main" id="{AB562152-79D6-7338-7ADC-9D96FFCD4949}"/>
                  </a:ext>
                </a:extLst>
              </p:cNvPr>
              <p:cNvSpPr/>
              <p:nvPr/>
            </p:nvSpPr>
            <p:spPr>
              <a:xfrm rot="10800000" flipV="1">
                <a:off x="3511154" y="2405473"/>
                <a:ext cx="1018302" cy="399477"/>
              </a:xfrm>
              <a:prstGeom prst="rect">
                <a:avLst/>
              </a:prstGeom>
              <a:gradFill>
                <a:gsLst>
                  <a:gs pos="0">
                    <a:schemeClr val="bg1">
                      <a:alpha val="0"/>
                    </a:schemeClr>
                  </a:gs>
                  <a:gs pos="87000">
                    <a:schemeClr val="bg1"/>
                  </a:gs>
                </a:gsLst>
                <a:lin ang="5400000" scaled="0"/>
              </a:gradFill>
              <a:ln w="19050" cap="flat" cmpd="sng" algn="ctr">
                <a:noFill/>
                <a:prstDash val="solid"/>
                <a:miter lim="800000"/>
                <a:tailEnd type="none"/>
              </a:ln>
              <a:effectLst/>
            </p:spPr>
            <p:txBody>
              <a:bodyPr lIns="80446" tIns="40223" rIns="80446" bIns="40223"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2F2F2"/>
                  </a:solidFill>
                  <a:effectLst/>
                  <a:uLnTx/>
                  <a:uFillTx/>
                  <a:latin typeface="Arial" panose="020B0604020202020204"/>
                  <a:ea typeface="+mn-ea"/>
                  <a:cs typeface="Arial" panose="020B0604020202020204" pitchFamily="34" charset="0"/>
                </a:endParaRPr>
              </a:p>
            </p:txBody>
          </p:sp>
        </p:grpSp>
        <p:sp>
          <p:nvSpPr>
            <p:cNvPr id="71" name="Rectangle: Rounded Corners 2399">
              <a:extLst>
                <a:ext uri="{FF2B5EF4-FFF2-40B4-BE49-F238E27FC236}">
                  <a16:creationId xmlns:a16="http://schemas.microsoft.com/office/drawing/2014/main" id="{F5D765E1-AD32-9150-3079-06067A10B050}"/>
                </a:ext>
              </a:extLst>
            </p:cNvPr>
            <p:cNvSpPr/>
            <p:nvPr/>
          </p:nvSpPr>
          <p:spPr>
            <a:xfrm>
              <a:off x="7367012" y="4060025"/>
              <a:ext cx="762975" cy="134877"/>
            </a:xfrm>
            <a:prstGeom prst="rect">
              <a:avLst/>
            </a:prstGeom>
            <a:noFill/>
            <a:ln w="25400" cap="flat" cmpd="sng" algn="ctr">
              <a:noFill/>
              <a:prstDash val="solid"/>
              <a:miter lim="800000"/>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592"/>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panose="020B0604020202020204"/>
                  <a:ea typeface="+mn-ea"/>
                  <a:cs typeface="Arial" panose="020B0604020202020204" pitchFamily="34" charset="0"/>
                </a:rPr>
                <a:t>vLAN</a:t>
              </a:r>
            </a:p>
          </p:txBody>
        </p:sp>
      </p:grpSp>
      <p:pic>
        <p:nvPicPr>
          <p:cNvPr id="75" name="Graphic 74">
            <a:extLst>
              <a:ext uri="{FF2B5EF4-FFF2-40B4-BE49-F238E27FC236}">
                <a16:creationId xmlns:a16="http://schemas.microsoft.com/office/drawing/2014/main" id="{A3D14033-9EFF-5584-83E0-34B9C3BE12BE}"/>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236893" y="4537794"/>
            <a:ext cx="476808" cy="476810"/>
          </a:xfrm>
          <a:prstGeom prst="rect">
            <a:avLst/>
          </a:prstGeom>
        </p:spPr>
      </p:pic>
      <p:sp>
        <p:nvSpPr>
          <p:cNvPr id="76" name="Rectangle 75">
            <a:extLst>
              <a:ext uri="{FF2B5EF4-FFF2-40B4-BE49-F238E27FC236}">
                <a16:creationId xmlns:a16="http://schemas.microsoft.com/office/drawing/2014/main" id="{C7C31E50-3ACA-77A6-8658-0D3A86C7D94B}"/>
              </a:ext>
            </a:extLst>
          </p:cNvPr>
          <p:cNvSpPr/>
          <p:nvPr/>
        </p:nvSpPr>
        <p:spPr bwMode="gray">
          <a:xfrm>
            <a:off x="4796185" y="4811200"/>
            <a:ext cx="1932698" cy="161452"/>
          </a:xfrm>
          <a:prstGeom prst="rect">
            <a:avLst/>
          </a:prstGeom>
          <a:solidFill>
            <a:schemeClr val="bg1">
              <a:alpha val="92363"/>
            </a:schemeClr>
          </a:solidFill>
          <a:ln w="15875">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rPr>
              <a:t>vCenter</a:t>
            </a:r>
          </a:p>
        </p:txBody>
      </p:sp>
      <p:sp>
        <p:nvSpPr>
          <p:cNvPr id="77" name="Rectangle 76">
            <a:extLst>
              <a:ext uri="{FF2B5EF4-FFF2-40B4-BE49-F238E27FC236}">
                <a16:creationId xmlns:a16="http://schemas.microsoft.com/office/drawing/2014/main" id="{F878DA3A-A5D7-FEC5-C42E-E76D19E70220}"/>
              </a:ext>
            </a:extLst>
          </p:cNvPr>
          <p:cNvSpPr/>
          <p:nvPr/>
        </p:nvSpPr>
        <p:spPr bwMode="gray">
          <a:xfrm>
            <a:off x="2989098" y="2504086"/>
            <a:ext cx="2903092" cy="268871"/>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rPr>
              <a:t>HCX Service </a:t>
            </a:r>
            <a:r>
              <a:rPr lang="en-US" sz="1200" dirty="0">
                <a:solidFill>
                  <a:srgbClr val="000000">
                    <a:lumMod val="50000"/>
                  </a:srgbClr>
                </a:solidFill>
                <a:latin typeface="Arial" panose="020B0604020202020204"/>
              </a:rPr>
              <a:t>M</a:t>
            </a:r>
            <a:r>
              <a:rPr kumimoji="0" lang="en-US" sz="1200" b="0" i="0" u="none" strike="noStrike" kern="1200" cap="none" spc="0" normalizeH="0" baseline="0" noProof="0" dirty="0" err="1">
                <a:ln>
                  <a:noFill/>
                </a:ln>
                <a:solidFill>
                  <a:srgbClr val="000000">
                    <a:lumMod val="50000"/>
                  </a:srgbClr>
                </a:solidFill>
                <a:effectLst/>
                <a:uLnTx/>
                <a:uFillTx/>
                <a:latin typeface="Arial" panose="020B0604020202020204"/>
                <a:ea typeface="+mn-ea"/>
                <a:cs typeface="+mn-cs"/>
              </a:rPr>
              <a:t>esh</a:t>
            </a:r>
            <a:r>
              <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rPr>
              <a:t>  (IPsec tunnels)</a:t>
            </a:r>
          </a:p>
        </p:txBody>
      </p:sp>
      <p:sp>
        <p:nvSpPr>
          <p:cNvPr id="78" name="Rectangle 77">
            <a:extLst>
              <a:ext uri="{FF2B5EF4-FFF2-40B4-BE49-F238E27FC236}">
                <a16:creationId xmlns:a16="http://schemas.microsoft.com/office/drawing/2014/main" id="{F5E40501-B486-4DB6-BC02-D9DB5D45D3D4}"/>
              </a:ext>
            </a:extLst>
          </p:cNvPr>
          <p:cNvSpPr/>
          <p:nvPr/>
        </p:nvSpPr>
        <p:spPr bwMode="gray">
          <a:xfrm>
            <a:off x="2968879" y="1866865"/>
            <a:ext cx="2903092" cy="511996"/>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rPr>
              <a:t>HCX Network Extension (L2)</a:t>
            </a:r>
          </a:p>
        </p:txBody>
      </p:sp>
      <p:grpSp>
        <p:nvGrpSpPr>
          <p:cNvPr id="79" name="Group 78">
            <a:extLst>
              <a:ext uri="{FF2B5EF4-FFF2-40B4-BE49-F238E27FC236}">
                <a16:creationId xmlns:a16="http://schemas.microsoft.com/office/drawing/2014/main" id="{97D90DD4-B8AF-8A9A-0FE2-E37D1097A9AF}"/>
              </a:ext>
            </a:extLst>
          </p:cNvPr>
          <p:cNvGrpSpPr/>
          <p:nvPr/>
        </p:nvGrpSpPr>
        <p:grpSpPr>
          <a:xfrm>
            <a:off x="6559670" y="3424319"/>
            <a:ext cx="542117" cy="573914"/>
            <a:chOff x="6036855" y="2199341"/>
            <a:chExt cx="542117" cy="573914"/>
          </a:xfrm>
        </p:grpSpPr>
        <p:grpSp>
          <p:nvGrpSpPr>
            <p:cNvPr id="80" name="Group 79">
              <a:extLst>
                <a:ext uri="{FF2B5EF4-FFF2-40B4-BE49-F238E27FC236}">
                  <a16:creationId xmlns:a16="http://schemas.microsoft.com/office/drawing/2014/main" id="{A950879F-A226-A368-8DC1-B9E49EBDF0D2}"/>
                </a:ext>
              </a:extLst>
            </p:cNvPr>
            <p:cNvGrpSpPr/>
            <p:nvPr/>
          </p:nvGrpSpPr>
          <p:grpSpPr>
            <a:xfrm>
              <a:off x="6125753" y="2406901"/>
              <a:ext cx="366096" cy="366354"/>
              <a:chOff x="6048000" y="2396768"/>
              <a:chExt cx="402706" cy="402989"/>
            </a:xfrm>
          </p:grpSpPr>
          <p:sp>
            <p:nvSpPr>
              <p:cNvPr id="82" name="Rectangle 81">
                <a:extLst>
                  <a:ext uri="{FF2B5EF4-FFF2-40B4-BE49-F238E27FC236}">
                    <a16:creationId xmlns:a16="http://schemas.microsoft.com/office/drawing/2014/main" id="{2D180314-6340-6630-92CA-6298006E15A1}"/>
                  </a:ext>
                </a:extLst>
              </p:cNvPr>
              <p:cNvSpPr/>
              <p:nvPr/>
            </p:nvSpPr>
            <p:spPr bwMode="gray">
              <a:xfrm>
                <a:off x="6069966" y="2410620"/>
                <a:ext cx="354788" cy="369357"/>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83" name="Group 82">
                <a:extLst>
                  <a:ext uri="{FF2B5EF4-FFF2-40B4-BE49-F238E27FC236}">
                    <a16:creationId xmlns:a16="http://schemas.microsoft.com/office/drawing/2014/main" id="{C03FB066-1605-05A9-88AA-672FDCC4BD3B}"/>
                  </a:ext>
                </a:extLst>
              </p:cNvPr>
              <p:cNvGrpSpPr/>
              <p:nvPr/>
            </p:nvGrpSpPr>
            <p:grpSpPr>
              <a:xfrm>
                <a:off x="6048000" y="2396768"/>
                <a:ext cx="402706" cy="402989"/>
                <a:chOff x="611268" y="5235083"/>
                <a:chExt cx="682595" cy="683075"/>
              </a:xfrm>
              <a:solidFill>
                <a:schemeClr val="accent3"/>
              </a:solidFill>
            </p:grpSpPr>
            <p:sp>
              <p:nvSpPr>
                <p:cNvPr id="84" name="Freeform 83">
                  <a:extLst>
                    <a:ext uri="{FF2B5EF4-FFF2-40B4-BE49-F238E27FC236}">
                      <a16:creationId xmlns:a16="http://schemas.microsoft.com/office/drawing/2014/main" id="{90BC72B6-C6BF-BE71-8A96-BF5CE2E456E5}"/>
                    </a:ext>
                  </a:extLst>
                </p:cNvPr>
                <p:cNvSpPr/>
                <p:nvPr/>
              </p:nvSpPr>
              <p:spPr>
                <a:xfrm>
                  <a:off x="611268" y="5235083"/>
                  <a:ext cx="682595" cy="683075"/>
                </a:xfrm>
                <a:custGeom>
                  <a:avLst/>
                  <a:gdLst>
                    <a:gd name="connsiteX0" fmla="*/ 574590 w 682595"/>
                    <a:gd name="connsiteY0" fmla="*/ 683075 h 683075"/>
                    <a:gd name="connsiteX1" fmla="*/ 0 w 682595"/>
                    <a:gd name="connsiteY1" fmla="*/ 683075 h 683075"/>
                    <a:gd name="connsiteX2" fmla="*/ 0 w 682595"/>
                    <a:gd name="connsiteY2" fmla="*/ 0 h 683075"/>
                    <a:gd name="connsiteX3" fmla="*/ 682595 w 682595"/>
                    <a:gd name="connsiteY3" fmla="*/ 0 h 683075"/>
                    <a:gd name="connsiteX4" fmla="*/ 682595 w 682595"/>
                    <a:gd name="connsiteY4" fmla="*/ 661954 h 683075"/>
                    <a:gd name="connsiteX5" fmla="*/ 634593 w 682595"/>
                    <a:gd name="connsiteY5" fmla="*/ 661954 h 683075"/>
                    <a:gd name="connsiteX6" fmla="*/ 634593 w 682595"/>
                    <a:gd name="connsiteY6" fmla="*/ 48002 h 683075"/>
                    <a:gd name="connsiteX7" fmla="*/ 48002 w 682595"/>
                    <a:gd name="connsiteY7" fmla="*/ 48002 h 683075"/>
                    <a:gd name="connsiteX8" fmla="*/ 48002 w 682595"/>
                    <a:gd name="connsiteY8" fmla="*/ 635073 h 683075"/>
                    <a:gd name="connsiteX9" fmla="*/ 574590 w 682595"/>
                    <a:gd name="connsiteY9" fmla="*/ 635073 h 683075"/>
                    <a:gd name="connsiteX10" fmla="*/ 574590 w 682595"/>
                    <a:gd name="connsiteY10" fmla="*/ 683075 h 68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2595" h="683075">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85" name="Freeform 84">
                  <a:extLst>
                    <a:ext uri="{FF2B5EF4-FFF2-40B4-BE49-F238E27FC236}">
                      <a16:creationId xmlns:a16="http://schemas.microsoft.com/office/drawing/2014/main" id="{0540BDD4-4404-68F5-496D-70D7C05AFA72}"/>
                    </a:ext>
                  </a:extLst>
                </p:cNvPr>
                <p:cNvSpPr/>
                <p:nvPr/>
              </p:nvSpPr>
              <p:spPr>
                <a:xfrm>
                  <a:off x="939971" y="5521559"/>
                  <a:ext cx="149924" cy="100774"/>
                </a:xfrm>
                <a:custGeom>
                  <a:avLst/>
                  <a:gdLst/>
                  <a:ahLst/>
                  <a:cxnLst/>
                  <a:rect l="l" t="t" r="r" b="b"/>
                  <a:pathLst>
                    <a:path w="149924" h="100774">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86" name="Freeform 85">
                  <a:extLst>
                    <a:ext uri="{FF2B5EF4-FFF2-40B4-BE49-F238E27FC236}">
                      <a16:creationId xmlns:a16="http://schemas.microsoft.com/office/drawing/2014/main" id="{7D2D59F1-2F02-9CA5-F6A5-895F3E009A39}"/>
                    </a:ext>
                  </a:extLst>
                </p:cNvPr>
                <p:cNvSpPr/>
                <p:nvPr/>
              </p:nvSpPr>
              <p:spPr>
                <a:xfrm>
                  <a:off x="816464" y="5523845"/>
                  <a:ext cx="105918" cy="98488"/>
                </a:xfrm>
                <a:custGeom>
                  <a:avLst/>
                  <a:gdLst/>
                  <a:ahLst/>
                  <a:cxnLst/>
                  <a:rect l="l" t="t" r="r" b="b"/>
                  <a:pathLst>
                    <a:path w="105918" h="98488">
                      <a:moveTo>
                        <a:pt x="0" y="0"/>
                      </a:moveTo>
                      <a:lnTo>
                        <a:pt x="24765" y="0"/>
                      </a:lnTo>
                      <a:lnTo>
                        <a:pt x="53340" y="71628"/>
                      </a:lnTo>
                      <a:lnTo>
                        <a:pt x="81343" y="0"/>
                      </a:lnTo>
                      <a:lnTo>
                        <a:pt x="105918" y="0"/>
                      </a:lnTo>
                      <a:lnTo>
                        <a:pt x="64198" y="98488"/>
                      </a:lnTo>
                      <a:lnTo>
                        <a:pt x="42481" y="98488"/>
                      </a:ln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grpSp>
        </p:grpSp>
        <p:sp>
          <p:nvSpPr>
            <p:cNvPr id="81" name="Rectangle 80">
              <a:extLst>
                <a:ext uri="{FF2B5EF4-FFF2-40B4-BE49-F238E27FC236}">
                  <a16:creationId xmlns:a16="http://schemas.microsoft.com/office/drawing/2014/main" id="{9B38C10F-08A9-42B4-696C-3C6244161F26}"/>
                </a:ext>
              </a:extLst>
            </p:cNvPr>
            <p:cNvSpPr/>
            <p:nvPr/>
          </p:nvSpPr>
          <p:spPr bwMode="gray">
            <a:xfrm>
              <a:off x="6036855" y="2199341"/>
              <a:ext cx="542117" cy="234819"/>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98C7"/>
                  </a:solidFill>
                  <a:effectLst/>
                  <a:uLnTx/>
                  <a:uFillTx/>
                  <a:latin typeface="Arial" panose="020B0604020202020204"/>
                  <a:ea typeface="+mn-ea"/>
                  <a:cs typeface="Arial" panose="020B0604020202020204" pitchFamily="34" charset="0"/>
                </a:rPr>
                <a:t>VM4</a:t>
              </a:r>
            </a:p>
          </p:txBody>
        </p:sp>
      </p:grpSp>
      <p:cxnSp>
        <p:nvCxnSpPr>
          <p:cNvPr id="87" name="Straight Connector 86">
            <a:extLst>
              <a:ext uri="{FF2B5EF4-FFF2-40B4-BE49-F238E27FC236}">
                <a16:creationId xmlns:a16="http://schemas.microsoft.com/office/drawing/2014/main" id="{E5AD2848-9573-2659-2A1B-366C67CB5A2E}"/>
              </a:ext>
            </a:extLst>
          </p:cNvPr>
          <p:cNvCxnSpPr>
            <a:cxnSpLocks/>
          </p:cNvCxnSpPr>
          <p:nvPr/>
        </p:nvCxnSpPr>
        <p:spPr bwMode="gray">
          <a:xfrm>
            <a:off x="6821161" y="3994654"/>
            <a:ext cx="0" cy="97309"/>
          </a:xfrm>
          <a:prstGeom prst="line">
            <a:avLst/>
          </a:prstGeom>
          <a:ln w="15875">
            <a:solidFill>
              <a:srgbClr val="0098C8"/>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8" name="Group 87">
            <a:extLst>
              <a:ext uri="{FF2B5EF4-FFF2-40B4-BE49-F238E27FC236}">
                <a16:creationId xmlns:a16="http://schemas.microsoft.com/office/drawing/2014/main" id="{DCA0EBB8-32BF-9B3A-0F92-1A045FC69966}"/>
              </a:ext>
            </a:extLst>
          </p:cNvPr>
          <p:cNvGrpSpPr/>
          <p:nvPr/>
        </p:nvGrpSpPr>
        <p:grpSpPr>
          <a:xfrm>
            <a:off x="7026615" y="3426047"/>
            <a:ext cx="542117" cy="573914"/>
            <a:chOff x="6036855" y="2199341"/>
            <a:chExt cx="542117" cy="573914"/>
          </a:xfrm>
        </p:grpSpPr>
        <p:grpSp>
          <p:nvGrpSpPr>
            <p:cNvPr id="89" name="Group 88">
              <a:extLst>
                <a:ext uri="{FF2B5EF4-FFF2-40B4-BE49-F238E27FC236}">
                  <a16:creationId xmlns:a16="http://schemas.microsoft.com/office/drawing/2014/main" id="{353BA762-8B1B-B077-DC9C-5AC0B2D965F9}"/>
                </a:ext>
              </a:extLst>
            </p:cNvPr>
            <p:cNvGrpSpPr/>
            <p:nvPr/>
          </p:nvGrpSpPr>
          <p:grpSpPr>
            <a:xfrm>
              <a:off x="6125753" y="2406901"/>
              <a:ext cx="366095" cy="366354"/>
              <a:chOff x="6048017" y="2396768"/>
              <a:chExt cx="402706" cy="402989"/>
            </a:xfrm>
          </p:grpSpPr>
          <p:sp>
            <p:nvSpPr>
              <p:cNvPr id="91" name="Rectangle 90">
                <a:extLst>
                  <a:ext uri="{FF2B5EF4-FFF2-40B4-BE49-F238E27FC236}">
                    <a16:creationId xmlns:a16="http://schemas.microsoft.com/office/drawing/2014/main" id="{85EAFE27-C4A7-3736-B678-AFEAA1B220B8}"/>
                  </a:ext>
                </a:extLst>
              </p:cNvPr>
              <p:cNvSpPr/>
              <p:nvPr/>
            </p:nvSpPr>
            <p:spPr bwMode="gray">
              <a:xfrm>
                <a:off x="6069966" y="2410620"/>
                <a:ext cx="354788" cy="369357"/>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92" name="Group 91">
                <a:extLst>
                  <a:ext uri="{FF2B5EF4-FFF2-40B4-BE49-F238E27FC236}">
                    <a16:creationId xmlns:a16="http://schemas.microsoft.com/office/drawing/2014/main" id="{D7DB3326-35A3-0276-53BE-D0667FA93F55}"/>
                  </a:ext>
                </a:extLst>
              </p:cNvPr>
              <p:cNvGrpSpPr/>
              <p:nvPr/>
            </p:nvGrpSpPr>
            <p:grpSpPr>
              <a:xfrm>
                <a:off x="6048017" y="2396768"/>
                <a:ext cx="402706" cy="402989"/>
                <a:chOff x="611299" y="5235083"/>
                <a:chExt cx="682595" cy="683075"/>
              </a:xfrm>
              <a:solidFill>
                <a:schemeClr val="accent3"/>
              </a:solidFill>
            </p:grpSpPr>
            <p:sp>
              <p:nvSpPr>
                <p:cNvPr id="93" name="Freeform 92">
                  <a:extLst>
                    <a:ext uri="{FF2B5EF4-FFF2-40B4-BE49-F238E27FC236}">
                      <a16:creationId xmlns:a16="http://schemas.microsoft.com/office/drawing/2014/main" id="{DD704B0C-681E-5F58-EB86-3ABC5B801308}"/>
                    </a:ext>
                  </a:extLst>
                </p:cNvPr>
                <p:cNvSpPr/>
                <p:nvPr/>
              </p:nvSpPr>
              <p:spPr>
                <a:xfrm>
                  <a:off x="611299" y="5235083"/>
                  <a:ext cx="682595" cy="683075"/>
                </a:xfrm>
                <a:custGeom>
                  <a:avLst/>
                  <a:gdLst>
                    <a:gd name="connsiteX0" fmla="*/ 574590 w 682595"/>
                    <a:gd name="connsiteY0" fmla="*/ 683075 h 683075"/>
                    <a:gd name="connsiteX1" fmla="*/ 0 w 682595"/>
                    <a:gd name="connsiteY1" fmla="*/ 683075 h 683075"/>
                    <a:gd name="connsiteX2" fmla="*/ 0 w 682595"/>
                    <a:gd name="connsiteY2" fmla="*/ 0 h 683075"/>
                    <a:gd name="connsiteX3" fmla="*/ 682595 w 682595"/>
                    <a:gd name="connsiteY3" fmla="*/ 0 h 683075"/>
                    <a:gd name="connsiteX4" fmla="*/ 682595 w 682595"/>
                    <a:gd name="connsiteY4" fmla="*/ 661954 h 683075"/>
                    <a:gd name="connsiteX5" fmla="*/ 634593 w 682595"/>
                    <a:gd name="connsiteY5" fmla="*/ 661954 h 683075"/>
                    <a:gd name="connsiteX6" fmla="*/ 634593 w 682595"/>
                    <a:gd name="connsiteY6" fmla="*/ 48002 h 683075"/>
                    <a:gd name="connsiteX7" fmla="*/ 48002 w 682595"/>
                    <a:gd name="connsiteY7" fmla="*/ 48002 h 683075"/>
                    <a:gd name="connsiteX8" fmla="*/ 48002 w 682595"/>
                    <a:gd name="connsiteY8" fmla="*/ 635073 h 683075"/>
                    <a:gd name="connsiteX9" fmla="*/ 574590 w 682595"/>
                    <a:gd name="connsiteY9" fmla="*/ 635073 h 683075"/>
                    <a:gd name="connsiteX10" fmla="*/ 574590 w 682595"/>
                    <a:gd name="connsiteY10" fmla="*/ 683075 h 68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2595" h="683075">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94" name="Freeform 93">
                  <a:extLst>
                    <a:ext uri="{FF2B5EF4-FFF2-40B4-BE49-F238E27FC236}">
                      <a16:creationId xmlns:a16="http://schemas.microsoft.com/office/drawing/2014/main" id="{0DD9FE88-300A-8233-BE99-2CDF0696060C}"/>
                    </a:ext>
                  </a:extLst>
                </p:cNvPr>
                <p:cNvSpPr/>
                <p:nvPr/>
              </p:nvSpPr>
              <p:spPr>
                <a:xfrm>
                  <a:off x="939971" y="5521559"/>
                  <a:ext cx="149924" cy="100774"/>
                </a:xfrm>
                <a:custGeom>
                  <a:avLst/>
                  <a:gdLst/>
                  <a:ahLst/>
                  <a:cxnLst/>
                  <a:rect l="l" t="t" r="r" b="b"/>
                  <a:pathLst>
                    <a:path w="149924" h="100774">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95" name="Freeform 94">
                  <a:extLst>
                    <a:ext uri="{FF2B5EF4-FFF2-40B4-BE49-F238E27FC236}">
                      <a16:creationId xmlns:a16="http://schemas.microsoft.com/office/drawing/2014/main" id="{5C54AF37-7E2F-9E7E-B2BC-D9027F1F09BD}"/>
                    </a:ext>
                  </a:extLst>
                </p:cNvPr>
                <p:cNvSpPr/>
                <p:nvPr/>
              </p:nvSpPr>
              <p:spPr>
                <a:xfrm>
                  <a:off x="816464" y="5523845"/>
                  <a:ext cx="105918" cy="98488"/>
                </a:xfrm>
                <a:custGeom>
                  <a:avLst/>
                  <a:gdLst/>
                  <a:ahLst/>
                  <a:cxnLst/>
                  <a:rect l="l" t="t" r="r" b="b"/>
                  <a:pathLst>
                    <a:path w="105918" h="98488">
                      <a:moveTo>
                        <a:pt x="0" y="0"/>
                      </a:moveTo>
                      <a:lnTo>
                        <a:pt x="24765" y="0"/>
                      </a:lnTo>
                      <a:lnTo>
                        <a:pt x="53340" y="71628"/>
                      </a:lnTo>
                      <a:lnTo>
                        <a:pt x="81343" y="0"/>
                      </a:lnTo>
                      <a:lnTo>
                        <a:pt x="105918" y="0"/>
                      </a:lnTo>
                      <a:lnTo>
                        <a:pt x="64198" y="98488"/>
                      </a:lnTo>
                      <a:lnTo>
                        <a:pt x="42481" y="98488"/>
                      </a:ln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grpSp>
        </p:grpSp>
        <p:sp>
          <p:nvSpPr>
            <p:cNvPr id="90" name="Rectangle 89">
              <a:extLst>
                <a:ext uri="{FF2B5EF4-FFF2-40B4-BE49-F238E27FC236}">
                  <a16:creationId xmlns:a16="http://schemas.microsoft.com/office/drawing/2014/main" id="{500B6B92-C9B7-BA84-CB54-31EE5C6574BF}"/>
                </a:ext>
              </a:extLst>
            </p:cNvPr>
            <p:cNvSpPr/>
            <p:nvPr/>
          </p:nvSpPr>
          <p:spPr bwMode="gray">
            <a:xfrm>
              <a:off x="6036855" y="2199341"/>
              <a:ext cx="542117" cy="234819"/>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98C7"/>
                  </a:solidFill>
                  <a:effectLst/>
                  <a:uLnTx/>
                  <a:uFillTx/>
                  <a:latin typeface="Arial" panose="020B0604020202020204"/>
                  <a:ea typeface="+mn-ea"/>
                  <a:cs typeface="Arial" panose="020B0604020202020204" pitchFamily="34" charset="0"/>
                </a:rPr>
                <a:t>VM5</a:t>
              </a:r>
            </a:p>
          </p:txBody>
        </p:sp>
      </p:grpSp>
      <p:cxnSp>
        <p:nvCxnSpPr>
          <p:cNvPr id="96" name="Straight Connector 95">
            <a:extLst>
              <a:ext uri="{FF2B5EF4-FFF2-40B4-BE49-F238E27FC236}">
                <a16:creationId xmlns:a16="http://schemas.microsoft.com/office/drawing/2014/main" id="{5ED3D5DE-CEDF-CC1B-B2EC-CF6609B47BF5}"/>
              </a:ext>
            </a:extLst>
          </p:cNvPr>
          <p:cNvCxnSpPr>
            <a:cxnSpLocks/>
          </p:cNvCxnSpPr>
          <p:nvPr/>
        </p:nvCxnSpPr>
        <p:spPr bwMode="gray">
          <a:xfrm>
            <a:off x="7288106" y="3996382"/>
            <a:ext cx="0" cy="97309"/>
          </a:xfrm>
          <a:prstGeom prst="line">
            <a:avLst/>
          </a:prstGeom>
          <a:ln w="15875">
            <a:solidFill>
              <a:srgbClr val="0098C8"/>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3C5FC053-1145-BE6E-ECA3-C6229EEC7FEA}"/>
              </a:ext>
            </a:extLst>
          </p:cNvPr>
          <p:cNvGrpSpPr/>
          <p:nvPr/>
        </p:nvGrpSpPr>
        <p:grpSpPr>
          <a:xfrm>
            <a:off x="6136157" y="3430353"/>
            <a:ext cx="542117" cy="573914"/>
            <a:chOff x="6036855" y="2199341"/>
            <a:chExt cx="542117" cy="573914"/>
          </a:xfrm>
        </p:grpSpPr>
        <p:grpSp>
          <p:nvGrpSpPr>
            <p:cNvPr id="187" name="Group 186">
              <a:extLst>
                <a:ext uri="{FF2B5EF4-FFF2-40B4-BE49-F238E27FC236}">
                  <a16:creationId xmlns:a16="http://schemas.microsoft.com/office/drawing/2014/main" id="{ED6132B2-4737-E1E4-D6A5-462690C642A6}"/>
                </a:ext>
              </a:extLst>
            </p:cNvPr>
            <p:cNvGrpSpPr/>
            <p:nvPr/>
          </p:nvGrpSpPr>
          <p:grpSpPr>
            <a:xfrm>
              <a:off x="6125753" y="2406901"/>
              <a:ext cx="366096" cy="366354"/>
              <a:chOff x="6048000" y="2396768"/>
              <a:chExt cx="402706" cy="402989"/>
            </a:xfrm>
          </p:grpSpPr>
          <p:sp>
            <p:nvSpPr>
              <p:cNvPr id="189" name="Rectangle 188">
                <a:extLst>
                  <a:ext uri="{FF2B5EF4-FFF2-40B4-BE49-F238E27FC236}">
                    <a16:creationId xmlns:a16="http://schemas.microsoft.com/office/drawing/2014/main" id="{C70C607F-481C-B23A-4923-BB4CC7CD10D7}"/>
                  </a:ext>
                </a:extLst>
              </p:cNvPr>
              <p:cNvSpPr/>
              <p:nvPr/>
            </p:nvSpPr>
            <p:spPr bwMode="gray">
              <a:xfrm>
                <a:off x="6069966" y="2410620"/>
                <a:ext cx="354788" cy="369357"/>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grpSp>
            <p:nvGrpSpPr>
              <p:cNvPr id="190" name="Group 189">
                <a:extLst>
                  <a:ext uri="{FF2B5EF4-FFF2-40B4-BE49-F238E27FC236}">
                    <a16:creationId xmlns:a16="http://schemas.microsoft.com/office/drawing/2014/main" id="{2C93750D-B4F4-B977-03C6-E980D5D56168}"/>
                  </a:ext>
                </a:extLst>
              </p:cNvPr>
              <p:cNvGrpSpPr/>
              <p:nvPr/>
            </p:nvGrpSpPr>
            <p:grpSpPr>
              <a:xfrm>
                <a:off x="6048000" y="2396768"/>
                <a:ext cx="402706" cy="402989"/>
                <a:chOff x="611268" y="5235083"/>
                <a:chExt cx="682595" cy="683075"/>
              </a:xfrm>
              <a:solidFill>
                <a:schemeClr val="accent3"/>
              </a:solidFill>
            </p:grpSpPr>
            <p:sp>
              <p:nvSpPr>
                <p:cNvPr id="191" name="Freeform 190">
                  <a:extLst>
                    <a:ext uri="{FF2B5EF4-FFF2-40B4-BE49-F238E27FC236}">
                      <a16:creationId xmlns:a16="http://schemas.microsoft.com/office/drawing/2014/main" id="{8DAF3B5D-5855-8B99-9254-6E092FC88620}"/>
                    </a:ext>
                  </a:extLst>
                </p:cNvPr>
                <p:cNvSpPr/>
                <p:nvPr/>
              </p:nvSpPr>
              <p:spPr>
                <a:xfrm>
                  <a:off x="611268" y="5235083"/>
                  <a:ext cx="682595" cy="683075"/>
                </a:xfrm>
                <a:custGeom>
                  <a:avLst/>
                  <a:gdLst>
                    <a:gd name="connsiteX0" fmla="*/ 574590 w 682595"/>
                    <a:gd name="connsiteY0" fmla="*/ 683075 h 683075"/>
                    <a:gd name="connsiteX1" fmla="*/ 0 w 682595"/>
                    <a:gd name="connsiteY1" fmla="*/ 683075 h 683075"/>
                    <a:gd name="connsiteX2" fmla="*/ 0 w 682595"/>
                    <a:gd name="connsiteY2" fmla="*/ 0 h 683075"/>
                    <a:gd name="connsiteX3" fmla="*/ 682595 w 682595"/>
                    <a:gd name="connsiteY3" fmla="*/ 0 h 683075"/>
                    <a:gd name="connsiteX4" fmla="*/ 682595 w 682595"/>
                    <a:gd name="connsiteY4" fmla="*/ 661954 h 683075"/>
                    <a:gd name="connsiteX5" fmla="*/ 634593 w 682595"/>
                    <a:gd name="connsiteY5" fmla="*/ 661954 h 683075"/>
                    <a:gd name="connsiteX6" fmla="*/ 634593 w 682595"/>
                    <a:gd name="connsiteY6" fmla="*/ 48002 h 683075"/>
                    <a:gd name="connsiteX7" fmla="*/ 48002 w 682595"/>
                    <a:gd name="connsiteY7" fmla="*/ 48002 h 683075"/>
                    <a:gd name="connsiteX8" fmla="*/ 48002 w 682595"/>
                    <a:gd name="connsiteY8" fmla="*/ 635073 h 683075"/>
                    <a:gd name="connsiteX9" fmla="*/ 574590 w 682595"/>
                    <a:gd name="connsiteY9" fmla="*/ 635073 h 683075"/>
                    <a:gd name="connsiteX10" fmla="*/ 574590 w 682595"/>
                    <a:gd name="connsiteY10" fmla="*/ 683075 h 68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2595" h="683075">
                      <a:moveTo>
                        <a:pt x="574590" y="683075"/>
                      </a:moveTo>
                      <a:lnTo>
                        <a:pt x="0" y="683075"/>
                      </a:lnTo>
                      <a:lnTo>
                        <a:pt x="0" y="0"/>
                      </a:lnTo>
                      <a:lnTo>
                        <a:pt x="682595" y="0"/>
                      </a:lnTo>
                      <a:lnTo>
                        <a:pt x="682595" y="661954"/>
                      </a:lnTo>
                      <a:lnTo>
                        <a:pt x="634593" y="661954"/>
                      </a:lnTo>
                      <a:lnTo>
                        <a:pt x="634593" y="48002"/>
                      </a:lnTo>
                      <a:lnTo>
                        <a:pt x="48002" y="48002"/>
                      </a:lnTo>
                      <a:lnTo>
                        <a:pt x="48002" y="635073"/>
                      </a:lnTo>
                      <a:lnTo>
                        <a:pt x="574590" y="635073"/>
                      </a:lnTo>
                      <a:lnTo>
                        <a:pt x="574590" y="683075"/>
                      </a:ln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192" name="Freeform 191">
                  <a:extLst>
                    <a:ext uri="{FF2B5EF4-FFF2-40B4-BE49-F238E27FC236}">
                      <a16:creationId xmlns:a16="http://schemas.microsoft.com/office/drawing/2014/main" id="{E8945D5F-0C40-2100-3E4B-D4912CFA6E8C}"/>
                    </a:ext>
                  </a:extLst>
                </p:cNvPr>
                <p:cNvSpPr/>
                <p:nvPr/>
              </p:nvSpPr>
              <p:spPr>
                <a:xfrm>
                  <a:off x="939971" y="5521559"/>
                  <a:ext cx="149924" cy="100774"/>
                </a:xfrm>
                <a:custGeom>
                  <a:avLst/>
                  <a:gdLst/>
                  <a:ahLst/>
                  <a:cxnLst/>
                  <a:rect l="l" t="t" r="r" b="b"/>
                  <a:pathLst>
                    <a:path w="149924" h="100774">
                      <a:moveTo>
                        <a:pt x="50673" y="0"/>
                      </a:moveTo>
                      <a:cubicBezTo>
                        <a:pt x="66294" y="0"/>
                        <a:pt x="78867" y="9144"/>
                        <a:pt x="84011" y="23431"/>
                      </a:cubicBezTo>
                      <a:cubicBezTo>
                        <a:pt x="86678" y="9334"/>
                        <a:pt x="98489" y="0"/>
                        <a:pt x="113919" y="0"/>
                      </a:cubicBezTo>
                      <a:cubicBezTo>
                        <a:pt x="134493" y="0"/>
                        <a:pt x="149924" y="15811"/>
                        <a:pt x="149924" y="38100"/>
                      </a:cubicBezTo>
                      <a:lnTo>
                        <a:pt x="149924" y="100774"/>
                      </a:lnTo>
                      <a:lnTo>
                        <a:pt x="127254" y="100774"/>
                      </a:lnTo>
                      <a:lnTo>
                        <a:pt x="127254" y="41910"/>
                      </a:lnTo>
                      <a:cubicBezTo>
                        <a:pt x="127254" y="28956"/>
                        <a:pt x="119444" y="19812"/>
                        <a:pt x="108204" y="19812"/>
                      </a:cubicBezTo>
                      <a:cubicBezTo>
                        <a:pt x="95441" y="19812"/>
                        <a:pt x="86487" y="28384"/>
                        <a:pt x="86487" y="40386"/>
                      </a:cubicBezTo>
                      <a:lnTo>
                        <a:pt x="86487" y="100774"/>
                      </a:lnTo>
                      <a:lnTo>
                        <a:pt x="64008" y="100774"/>
                      </a:lnTo>
                      <a:lnTo>
                        <a:pt x="64008" y="41910"/>
                      </a:lnTo>
                      <a:cubicBezTo>
                        <a:pt x="64008" y="28956"/>
                        <a:pt x="56007" y="19812"/>
                        <a:pt x="44768" y="19812"/>
                      </a:cubicBezTo>
                      <a:cubicBezTo>
                        <a:pt x="32195" y="19812"/>
                        <a:pt x="23241" y="28384"/>
                        <a:pt x="23241" y="40386"/>
                      </a:cubicBezTo>
                      <a:lnTo>
                        <a:pt x="23241" y="100774"/>
                      </a:lnTo>
                      <a:lnTo>
                        <a:pt x="0" y="100774"/>
                      </a:lnTo>
                      <a:lnTo>
                        <a:pt x="0" y="2286"/>
                      </a:lnTo>
                      <a:lnTo>
                        <a:pt x="23241" y="2286"/>
                      </a:lnTo>
                      <a:lnTo>
                        <a:pt x="23241" y="15621"/>
                      </a:lnTo>
                      <a:cubicBezTo>
                        <a:pt x="28194" y="6096"/>
                        <a:pt x="38291" y="0"/>
                        <a:pt x="50673" y="0"/>
                      </a:cubicBez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sp>
              <p:nvSpPr>
                <p:cNvPr id="193" name="Freeform 192">
                  <a:extLst>
                    <a:ext uri="{FF2B5EF4-FFF2-40B4-BE49-F238E27FC236}">
                      <a16:creationId xmlns:a16="http://schemas.microsoft.com/office/drawing/2014/main" id="{2B78A59F-CB38-57BD-F2C1-3822531FBEDC}"/>
                    </a:ext>
                  </a:extLst>
                </p:cNvPr>
                <p:cNvSpPr/>
                <p:nvPr/>
              </p:nvSpPr>
              <p:spPr>
                <a:xfrm>
                  <a:off x="816464" y="5523845"/>
                  <a:ext cx="105918" cy="98488"/>
                </a:xfrm>
                <a:custGeom>
                  <a:avLst/>
                  <a:gdLst/>
                  <a:ahLst/>
                  <a:cxnLst/>
                  <a:rect l="l" t="t" r="r" b="b"/>
                  <a:pathLst>
                    <a:path w="105918" h="98488">
                      <a:moveTo>
                        <a:pt x="0" y="0"/>
                      </a:moveTo>
                      <a:lnTo>
                        <a:pt x="24765" y="0"/>
                      </a:lnTo>
                      <a:lnTo>
                        <a:pt x="53340" y="71628"/>
                      </a:lnTo>
                      <a:lnTo>
                        <a:pt x="81343" y="0"/>
                      </a:lnTo>
                      <a:lnTo>
                        <a:pt x="105918" y="0"/>
                      </a:lnTo>
                      <a:lnTo>
                        <a:pt x="64198" y="98488"/>
                      </a:lnTo>
                      <a:lnTo>
                        <a:pt x="42481" y="98488"/>
                      </a:lnTo>
                      <a:close/>
                    </a:path>
                  </a:pathLst>
                </a:custGeom>
                <a:solidFill>
                  <a:srgbClr val="0098C8"/>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717074"/>
                    </a:solidFill>
                    <a:effectLst/>
                    <a:uLnTx/>
                    <a:uFillTx/>
                    <a:latin typeface="Arial" panose="020B0604020202020204"/>
                    <a:ea typeface="+mn-ea"/>
                    <a:cs typeface="Arial"/>
                  </a:endParaRPr>
                </a:p>
              </p:txBody>
            </p:sp>
          </p:grpSp>
        </p:grpSp>
        <p:sp>
          <p:nvSpPr>
            <p:cNvPr id="188" name="Rectangle 187">
              <a:extLst>
                <a:ext uri="{FF2B5EF4-FFF2-40B4-BE49-F238E27FC236}">
                  <a16:creationId xmlns:a16="http://schemas.microsoft.com/office/drawing/2014/main" id="{54F51792-0E1B-9B87-61E3-C100BD79EA9C}"/>
                </a:ext>
              </a:extLst>
            </p:cNvPr>
            <p:cNvSpPr/>
            <p:nvPr/>
          </p:nvSpPr>
          <p:spPr bwMode="gray">
            <a:xfrm>
              <a:off x="6036855" y="2199341"/>
              <a:ext cx="542117" cy="234819"/>
            </a:xfrm>
            <a:prstGeom prst="rect">
              <a:avLst/>
            </a:prstGeom>
            <a:noFill/>
            <a:ln w="254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98C7"/>
                  </a:solidFill>
                  <a:effectLst/>
                  <a:uLnTx/>
                  <a:uFillTx/>
                  <a:latin typeface="Arial" panose="020B0604020202020204"/>
                  <a:ea typeface="+mn-ea"/>
                  <a:cs typeface="Arial" panose="020B0604020202020204" pitchFamily="34" charset="0"/>
                </a:rPr>
                <a:t>VM3</a:t>
              </a:r>
            </a:p>
          </p:txBody>
        </p:sp>
      </p:grpSp>
      <p:cxnSp>
        <p:nvCxnSpPr>
          <p:cNvPr id="194" name="Straight Connector 193">
            <a:extLst>
              <a:ext uri="{FF2B5EF4-FFF2-40B4-BE49-F238E27FC236}">
                <a16:creationId xmlns:a16="http://schemas.microsoft.com/office/drawing/2014/main" id="{F859A1F6-94D2-0B91-3283-50CA3B4955EA}"/>
              </a:ext>
            </a:extLst>
          </p:cNvPr>
          <p:cNvCxnSpPr>
            <a:cxnSpLocks/>
          </p:cNvCxnSpPr>
          <p:nvPr/>
        </p:nvCxnSpPr>
        <p:spPr bwMode="gray">
          <a:xfrm>
            <a:off x="6397648" y="4000688"/>
            <a:ext cx="0" cy="97309"/>
          </a:xfrm>
          <a:prstGeom prst="line">
            <a:avLst/>
          </a:prstGeom>
          <a:ln w="15875">
            <a:solidFill>
              <a:srgbClr val="0098C8"/>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7551A64A-9253-1092-1339-5534E18BEFBD}"/>
              </a:ext>
            </a:extLst>
          </p:cNvPr>
          <p:cNvCxnSpPr/>
          <p:nvPr/>
        </p:nvCxnSpPr>
        <p:spPr bwMode="gray">
          <a:xfrm>
            <a:off x="2615893" y="3589157"/>
            <a:ext cx="0" cy="80421"/>
          </a:xfrm>
          <a:prstGeom prst="line">
            <a:avLst/>
          </a:prstGeom>
          <a:ln w="15875">
            <a:solidFill>
              <a:schemeClr val="accent3"/>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C758AD1D-7550-AB78-426F-6A60D96B5B45}"/>
              </a:ext>
            </a:extLst>
          </p:cNvPr>
          <p:cNvSpPr/>
          <p:nvPr/>
        </p:nvSpPr>
        <p:spPr bwMode="gray">
          <a:xfrm>
            <a:off x="4796185" y="4580192"/>
            <a:ext cx="1932697" cy="161452"/>
          </a:xfrm>
          <a:prstGeom prst="rect">
            <a:avLst/>
          </a:prstGeom>
          <a:solidFill>
            <a:schemeClr val="bg1">
              <a:alpha val="92363"/>
            </a:schemeClr>
          </a:solidFill>
          <a:ln w="15875">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rPr>
              <a:t>HCX Manager</a:t>
            </a:r>
          </a:p>
        </p:txBody>
      </p:sp>
      <p:sp>
        <p:nvSpPr>
          <p:cNvPr id="99" name="Freeform 98">
            <a:extLst>
              <a:ext uri="{FF2B5EF4-FFF2-40B4-BE49-F238E27FC236}">
                <a16:creationId xmlns:a16="http://schemas.microsoft.com/office/drawing/2014/main" id="{DEA4EB8D-F2CA-EC49-8FAA-A5047A9474CB}"/>
              </a:ext>
            </a:extLst>
          </p:cNvPr>
          <p:cNvSpPr/>
          <p:nvPr/>
        </p:nvSpPr>
        <p:spPr bwMode="gray">
          <a:xfrm>
            <a:off x="2611600" y="2783165"/>
            <a:ext cx="3870001" cy="1274889"/>
          </a:xfrm>
          <a:custGeom>
            <a:avLst/>
            <a:gdLst>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67377 h 1438977"/>
              <a:gd name="connsiteX4" fmla="*/ 0 w 4995512"/>
              <a:gd name="connsiteY4" fmla="*/ 822960 h 1438977"/>
              <a:gd name="connsiteX0" fmla="*/ 4995512 w 4995512"/>
              <a:gd name="connsiteY0" fmla="*/ 1438977 h 1438977"/>
              <a:gd name="connsiteX1" fmla="*/ 4995512 w 4995512"/>
              <a:gd name="connsiteY1" fmla="*/ 0 h 1438977"/>
              <a:gd name="connsiteX2" fmla="*/ 0 w 4995512"/>
              <a:gd name="connsiteY2" fmla="*/ 0 h 1438977"/>
              <a:gd name="connsiteX3" fmla="*/ 0 w 4995512"/>
              <a:gd name="connsiteY3" fmla="*/ 822960 h 1438977"/>
              <a:gd name="connsiteX0" fmla="*/ 4995512 w 4995512"/>
              <a:gd name="connsiteY0" fmla="*/ 971853 h 971853"/>
              <a:gd name="connsiteX1" fmla="*/ 4995512 w 4995512"/>
              <a:gd name="connsiteY1" fmla="*/ 0 h 971853"/>
              <a:gd name="connsiteX2" fmla="*/ 0 w 4995512"/>
              <a:gd name="connsiteY2" fmla="*/ 0 h 971853"/>
              <a:gd name="connsiteX3" fmla="*/ 0 w 4995512"/>
              <a:gd name="connsiteY3" fmla="*/ 822960 h 971853"/>
              <a:gd name="connsiteX0" fmla="*/ 5028356 w 5028356"/>
              <a:gd name="connsiteY0" fmla="*/ 1871499 h 1871499"/>
              <a:gd name="connsiteX1" fmla="*/ 4995512 w 5028356"/>
              <a:gd name="connsiteY1" fmla="*/ 0 h 1871499"/>
              <a:gd name="connsiteX2" fmla="*/ 0 w 5028356"/>
              <a:gd name="connsiteY2" fmla="*/ 0 h 1871499"/>
              <a:gd name="connsiteX3" fmla="*/ 0 w 5028356"/>
              <a:gd name="connsiteY3" fmla="*/ 822960 h 1871499"/>
              <a:gd name="connsiteX0" fmla="*/ 5028356 w 5143314"/>
              <a:gd name="connsiteY0" fmla="*/ 1888800 h 1888800"/>
              <a:gd name="connsiteX1" fmla="*/ 5143314 w 5143314"/>
              <a:gd name="connsiteY1" fmla="*/ 0 h 1888800"/>
              <a:gd name="connsiteX2" fmla="*/ 0 w 5143314"/>
              <a:gd name="connsiteY2" fmla="*/ 17301 h 1888800"/>
              <a:gd name="connsiteX3" fmla="*/ 0 w 5143314"/>
              <a:gd name="connsiteY3" fmla="*/ 840261 h 1888800"/>
              <a:gd name="connsiteX0" fmla="*/ 5176158 w 5176158"/>
              <a:gd name="connsiteY0" fmla="*/ 1854198 h 1854198"/>
              <a:gd name="connsiteX1" fmla="*/ 5143314 w 5176158"/>
              <a:gd name="connsiteY1" fmla="*/ 0 h 1854198"/>
              <a:gd name="connsiteX2" fmla="*/ 0 w 5176158"/>
              <a:gd name="connsiteY2" fmla="*/ 17301 h 1854198"/>
              <a:gd name="connsiteX3" fmla="*/ 0 w 5176158"/>
              <a:gd name="connsiteY3" fmla="*/ 840261 h 1854198"/>
              <a:gd name="connsiteX0" fmla="*/ 5126891 w 5143314"/>
              <a:gd name="connsiteY0" fmla="*/ 1784994 h 1784994"/>
              <a:gd name="connsiteX1" fmla="*/ 5143314 w 5143314"/>
              <a:gd name="connsiteY1" fmla="*/ 0 h 1784994"/>
              <a:gd name="connsiteX2" fmla="*/ 0 w 5143314"/>
              <a:gd name="connsiteY2" fmla="*/ 17301 h 1784994"/>
              <a:gd name="connsiteX3" fmla="*/ 0 w 5143314"/>
              <a:gd name="connsiteY3" fmla="*/ 840261 h 1784994"/>
              <a:gd name="connsiteX0" fmla="*/ 5192581 w 5192581"/>
              <a:gd name="connsiteY0" fmla="*/ 1784994 h 1784994"/>
              <a:gd name="connsiteX1" fmla="*/ 5143314 w 5192581"/>
              <a:gd name="connsiteY1" fmla="*/ 0 h 1784994"/>
              <a:gd name="connsiteX2" fmla="*/ 0 w 5192581"/>
              <a:gd name="connsiteY2" fmla="*/ 17301 h 1784994"/>
              <a:gd name="connsiteX3" fmla="*/ 0 w 5192581"/>
              <a:gd name="connsiteY3" fmla="*/ 840261 h 1784994"/>
              <a:gd name="connsiteX0" fmla="*/ 5126891 w 5143314"/>
              <a:gd name="connsiteY0" fmla="*/ 1750392 h 1750392"/>
              <a:gd name="connsiteX1" fmla="*/ 5143314 w 5143314"/>
              <a:gd name="connsiteY1" fmla="*/ 0 h 1750392"/>
              <a:gd name="connsiteX2" fmla="*/ 0 w 5143314"/>
              <a:gd name="connsiteY2" fmla="*/ 17301 h 1750392"/>
              <a:gd name="connsiteX3" fmla="*/ 0 w 5143314"/>
              <a:gd name="connsiteY3" fmla="*/ 840261 h 1750392"/>
              <a:gd name="connsiteX0" fmla="*/ 5176159 w 5176159"/>
              <a:gd name="connsiteY0" fmla="*/ 1767693 h 1767693"/>
              <a:gd name="connsiteX1" fmla="*/ 5143314 w 5176159"/>
              <a:gd name="connsiteY1" fmla="*/ 0 h 1767693"/>
              <a:gd name="connsiteX2" fmla="*/ 0 w 5176159"/>
              <a:gd name="connsiteY2" fmla="*/ 17301 h 1767693"/>
              <a:gd name="connsiteX3" fmla="*/ 0 w 5176159"/>
              <a:gd name="connsiteY3" fmla="*/ 840261 h 1767693"/>
              <a:gd name="connsiteX0" fmla="*/ 5176159 w 5176159"/>
              <a:gd name="connsiteY0" fmla="*/ 1767693 h 1767693"/>
              <a:gd name="connsiteX1" fmla="*/ 5143314 w 5176159"/>
              <a:gd name="connsiteY1" fmla="*/ 0 h 1767693"/>
              <a:gd name="connsiteX2" fmla="*/ 0 w 5176159"/>
              <a:gd name="connsiteY2" fmla="*/ 17301 h 1767693"/>
              <a:gd name="connsiteX3" fmla="*/ 0 w 5176159"/>
              <a:gd name="connsiteY3" fmla="*/ 1099776 h 1767693"/>
              <a:gd name="connsiteX0" fmla="*/ 5126892 w 5143314"/>
              <a:gd name="connsiteY0" fmla="*/ 1784993 h 1784993"/>
              <a:gd name="connsiteX1" fmla="*/ 5143314 w 5143314"/>
              <a:gd name="connsiteY1" fmla="*/ 0 h 1784993"/>
              <a:gd name="connsiteX2" fmla="*/ 0 w 5143314"/>
              <a:gd name="connsiteY2" fmla="*/ 17301 h 1784993"/>
              <a:gd name="connsiteX3" fmla="*/ 0 w 5143314"/>
              <a:gd name="connsiteY3" fmla="*/ 1099776 h 1784993"/>
              <a:gd name="connsiteX0" fmla="*/ 5126892 w 5143314"/>
              <a:gd name="connsiteY0" fmla="*/ 1784993 h 1784993"/>
              <a:gd name="connsiteX1" fmla="*/ 5143314 w 5143314"/>
              <a:gd name="connsiteY1" fmla="*/ 0 h 1784993"/>
              <a:gd name="connsiteX2" fmla="*/ 0 w 5143314"/>
              <a:gd name="connsiteY2" fmla="*/ 17301 h 1784993"/>
              <a:gd name="connsiteX3" fmla="*/ 0 w 5143314"/>
              <a:gd name="connsiteY3" fmla="*/ 1099776 h 1784993"/>
            </a:gdLst>
            <a:ahLst/>
            <a:cxnLst>
              <a:cxn ang="0">
                <a:pos x="connsiteX0" y="connsiteY0"/>
              </a:cxn>
              <a:cxn ang="0">
                <a:pos x="connsiteX1" y="connsiteY1"/>
              </a:cxn>
              <a:cxn ang="0">
                <a:pos x="connsiteX2" y="connsiteY2"/>
              </a:cxn>
              <a:cxn ang="0">
                <a:pos x="connsiteX3" y="connsiteY3"/>
              </a:cxn>
            </a:cxnLst>
            <a:rect l="l" t="t" r="r" b="b"/>
            <a:pathLst>
              <a:path w="5143314" h="1784993">
                <a:moveTo>
                  <a:pt x="5126892" y="1784993"/>
                </a:moveTo>
                <a:lnTo>
                  <a:pt x="5143314" y="0"/>
                </a:lnTo>
                <a:lnTo>
                  <a:pt x="0" y="17301"/>
                </a:lnTo>
                <a:lnTo>
                  <a:pt x="0" y="1099776"/>
                </a:lnTo>
              </a:path>
            </a:pathLst>
          </a:custGeom>
          <a:noFill/>
          <a:ln w="158750" cap="flat" cmpd="sng">
            <a:solidFill>
              <a:srgbClr val="00C3FF">
                <a:alpha val="32000"/>
              </a:srgbClr>
            </a:solidFill>
            <a:prstDash val="solid"/>
            <a:round/>
            <a:headEnd type="none" w="sm" len="sm"/>
            <a:tailEnd type="none"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22140280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nodeType="clickEffect">
                                  <p:stCondLst>
                                    <p:cond delay="0"/>
                                  </p:stCondLst>
                                  <p:childTnLst>
                                    <p:animEffect transition="out" filter="wipe(up)">
                                      <p:cBhvr>
                                        <p:cTn id="6" dur="500"/>
                                        <p:tgtEl>
                                          <p:spTgt spid="64"/>
                                        </p:tgtEl>
                                      </p:cBhvr>
                                    </p:animEffect>
                                    <p:set>
                                      <p:cBhvr>
                                        <p:cTn id="7" dur="1" fill="hold">
                                          <p:stCondLst>
                                            <p:cond delay="499"/>
                                          </p:stCondLst>
                                        </p:cTn>
                                        <p:tgtEl>
                                          <p:spTgt spid="64"/>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4.61058E-6 0.00047 L -4.61058E-6 -0.0743 C -0.00325 -0.0743 -0.00234 -0.0743 -0.00338 -0.0743 L -0.12229 -0.0743 L -0.12229 -0.05694 " pathEditMode="relative" rAng="0" ptsTypes="AAAAA">
                                      <p:cBhvr>
                                        <p:cTn id="9" dur="2000" fill="hold"/>
                                        <p:tgtEl>
                                          <p:spTgt spid="56"/>
                                        </p:tgtEl>
                                        <p:attrNameLst>
                                          <p:attrName>ppt_x</p:attrName>
                                          <p:attrName>ppt_y</p:attrName>
                                        </p:attrNameLst>
                                      </p:cBhvr>
                                      <p:rCtr x="-6121" y="-3750"/>
                                    </p:animMotion>
                                  </p:childTnLst>
                                </p:cTn>
                              </p:par>
                            </p:childTnLst>
                          </p:cTn>
                        </p:par>
                        <p:par>
                          <p:cTn id="10" fill="hold">
                            <p:stCondLst>
                              <p:cond delay="2000"/>
                            </p:stCondLst>
                            <p:childTnLst>
                              <p:par>
                                <p:cTn id="11" presetID="22" presetClass="entr" presetSubtype="1" fill="hold" nodeType="after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wipe(up)">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xit" presetSubtype="1" fill="hold" nodeType="clickEffect">
                                  <p:stCondLst>
                                    <p:cond delay="0"/>
                                  </p:stCondLst>
                                  <p:childTnLst>
                                    <p:animEffect transition="out" filter="wipe(up)">
                                      <p:cBhvr>
                                        <p:cTn id="17" dur="500"/>
                                        <p:tgtEl>
                                          <p:spTgt spid="66"/>
                                        </p:tgtEl>
                                      </p:cBhvr>
                                    </p:animEffect>
                                    <p:set>
                                      <p:cBhvr>
                                        <p:cTn id="18" dur="1" fill="hold">
                                          <p:stCondLst>
                                            <p:cond delay="499"/>
                                          </p:stCondLst>
                                        </p:cTn>
                                        <p:tgtEl>
                                          <p:spTgt spid="66"/>
                                        </p:tgtEl>
                                        <p:attrNameLst>
                                          <p:attrName>style.visibility</p:attrName>
                                        </p:attrNameLst>
                                      </p:cBhvr>
                                      <p:to>
                                        <p:strVal val="hidden"/>
                                      </p:to>
                                    </p:set>
                                  </p:childTnLst>
                                </p:cTn>
                              </p:par>
                              <p:par>
                                <p:cTn id="19" presetID="0" presetClass="path" presetSubtype="0" accel="50000" decel="50000" fill="hold" nodeType="withEffect">
                                  <p:stCondLst>
                                    <p:cond delay="0"/>
                                  </p:stCondLst>
                                  <p:childTnLst>
                                    <p:animMotion origin="layout" path="M -6.87679E-7 -3.7037E-6 L -6.87679E-7 -0.11898 L -0.00638 -0.11898 L -0.23417 -0.11898 C -0.23417 -0.10995 -0.23404 -0.06574 -0.23404 -0.05671 " pathEditMode="relative" rAng="0" ptsTypes="AAAAA">
                                      <p:cBhvr>
                                        <p:cTn id="20" dur="2000" fill="hold"/>
                                        <p:tgtEl>
                                          <p:spTgt spid="48"/>
                                        </p:tgtEl>
                                        <p:attrNameLst>
                                          <p:attrName>ppt_x</p:attrName>
                                          <p:attrName>ppt_y</p:attrName>
                                        </p:attrNameLst>
                                      </p:cBhvr>
                                      <p:rCtr x="-11709" y="-5949"/>
                                    </p:animMotion>
                                  </p:childTnLst>
                                </p:cTn>
                              </p:par>
                            </p:childTnLst>
                          </p:cTn>
                        </p:par>
                        <p:par>
                          <p:cTn id="21" fill="hold">
                            <p:stCondLst>
                              <p:cond delay="2000"/>
                            </p:stCondLst>
                            <p:childTnLst>
                              <p:par>
                                <p:cTn id="22" presetID="22" presetClass="entr" presetSubtype="1" fill="hold" nodeType="afterEffect">
                                  <p:stCondLst>
                                    <p:cond delay="0"/>
                                  </p:stCondLst>
                                  <p:childTnLst>
                                    <p:set>
                                      <p:cBhvr>
                                        <p:cTn id="23" dur="1" fill="hold">
                                          <p:stCondLst>
                                            <p:cond delay="0"/>
                                          </p:stCondLst>
                                        </p:cTn>
                                        <p:tgtEl>
                                          <p:spTgt spid="67"/>
                                        </p:tgtEl>
                                        <p:attrNameLst>
                                          <p:attrName>style.visibility</p:attrName>
                                        </p:attrNameLst>
                                      </p:cBhvr>
                                      <p:to>
                                        <p:strVal val="visible"/>
                                      </p:to>
                                    </p:set>
                                    <p:animEffect transition="in" filter="wipe(up)">
                                      <p:cBhvr>
                                        <p:cTn id="24" dur="500"/>
                                        <p:tgtEl>
                                          <p:spTgt spid="67"/>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xit" presetSubtype="1" fill="hold" nodeType="clickEffect">
                                  <p:stCondLst>
                                    <p:cond delay="0"/>
                                  </p:stCondLst>
                                  <p:childTnLst>
                                    <p:animEffect transition="out" filter="wipe(up)">
                                      <p:cBhvr>
                                        <p:cTn id="28" dur="500"/>
                                        <p:tgtEl>
                                          <p:spTgt spid="194"/>
                                        </p:tgtEl>
                                      </p:cBhvr>
                                    </p:animEffect>
                                    <p:set>
                                      <p:cBhvr>
                                        <p:cTn id="29" dur="1" fill="hold">
                                          <p:stCondLst>
                                            <p:cond delay="499"/>
                                          </p:stCondLst>
                                        </p:cTn>
                                        <p:tgtEl>
                                          <p:spTgt spid="194"/>
                                        </p:tgtEl>
                                        <p:attrNameLst>
                                          <p:attrName>style.visibility</p:attrName>
                                        </p:attrNameLst>
                                      </p:cBhvr>
                                      <p:to>
                                        <p:strVal val="hidden"/>
                                      </p:to>
                                    </p:set>
                                  </p:childTnLst>
                                </p:cTn>
                              </p:par>
                              <p:par>
                                <p:cTn id="30" presetID="0" presetClass="path" presetSubtype="0" accel="50000" decel="50000" fill="hold" nodeType="withEffect">
                                  <p:stCondLst>
                                    <p:cond delay="0"/>
                                  </p:stCondLst>
                                  <p:childTnLst>
                                    <p:animMotion origin="layout" path="M -0.00052 -0.00046 L -0.00052 -0.18218 L -0.00912 -0.18218 L -0.31102 -0.18218 C -0.31102 -0.16921 -0.31115 -0.06435 -0.31115 -0.04954 " pathEditMode="relative" rAng="0" ptsTypes="AAAAA">
                                      <p:cBhvr>
                                        <p:cTn id="31" dur="2000" fill="hold"/>
                                        <p:tgtEl>
                                          <p:spTgt spid="97"/>
                                        </p:tgtEl>
                                        <p:attrNameLst>
                                          <p:attrName>ppt_x</p:attrName>
                                          <p:attrName>ppt_y</p:attrName>
                                        </p:attrNameLst>
                                      </p:cBhvr>
                                      <p:rCtr x="-15538" y="-9097"/>
                                    </p:animMotion>
                                  </p:childTnLst>
                                </p:cTn>
                              </p:par>
                            </p:childTnLst>
                          </p:cTn>
                        </p:par>
                        <p:par>
                          <p:cTn id="32" fill="hold">
                            <p:stCondLst>
                              <p:cond delay="2000"/>
                            </p:stCondLst>
                            <p:childTnLst>
                              <p:par>
                                <p:cTn id="33" presetID="22" presetClass="entr" presetSubtype="1" fill="hold" nodeType="afterEffect">
                                  <p:stCondLst>
                                    <p:cond delay="0"/>
                                  </p:stCondLst>
                                  <p:childTnLst>
                                    <p:set>
                                      <p:cBhvr>
                                        <p:cTn id="34" dur="1" fill="hold">
                                          <p:stCondLst>
                                            <p:cond delay="0"/>
                                          </p:stCondLst>
                                        </p:cTn>
                                        <p:tgtEl>
                                          <p:spTgt spid="195"/>
                                        </p:tgtEl>
                                        <p:attrNameLst>
                                          <p:attrName>style.visibility</p:attrName>
                                        </p:attrNameLst>
                                      </p:cBhvr>
                                      <p:to>
                                        <p:strVal val="visible"/>
                                      </p:to>
                                    </p:set>
                                    <p:animEffect transition="in" filter="wipe(up)">
                                      <p:cBhvr>
                                        <p:cTn id="35" dur="500"/>
                                        <p:tgtEl>
                                          <p:spTgt spid="195"/>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xit" presetSubtype="1" fill="hold" nodeType="clickEffect">
                                  <p:stCondLst>
                                    <p:cond delay="0"/>
                                  </p:stCondLst>
                                  <p:childTnLst>
                                    <p:animEffect transition="out" filter="wipe(up)">
                                      <p:cBhvr>
                                        <p:cTn id="39" dur="500"/>
                                        <p:tgtEl>
                                          <p:spTgt spid="87"/>
                                        </p:tgtEl>
                                      </p:cBhvr>
                                    </p:animEffect>
                                    <p:set>
                                      <p:cBhvr>
                                        <p:cTn id="40" dur="1" fill="hold">
                                          <p:stCondLst>
                                            <p:cond delay="499"/>
                                          </p:stCondLst>
                                        </p:cTn>
                                        <p:tgtEl>
                                          <p:spTgt spid="87"/>
                                        </p:tgtEl>
                                        <p:attrNameLst>
                                          <p:attrName>style.visibility</p:attrName>
                                        </p:attrNameLst>
                                      </p:cBhvr>
                                      <p:to>
                                        <p:strVal val="hidden"/>
                                      </p:to>
                                    </p:set>
                                  </p:childTnLst>
                                </p:cTn>
                              </p:par>
                              <p:par>
                                <p:cTn id="41" presetID="0" presetClass="path" presetSubtype="0" accel="50000" decel="50000" fill="hold" nodeType="withEffect">
                                  <p:stCondLst>
                                    <p:cond delay="0"/>
                                  </p:stCondLst>
                                  <p:childTnLst>
                                    <p:animMotion origin="layout" path="M -2.40427E-6 -0.00046 L -2.40427E-6 -0.21041 L -0.0112 -0.21041 L -0.40661 -0.21041 C -0.40661 -0.1949 -0.40687 -0.07361 -0.40687 -0.05671 " pathEditMode="relative" rAng="0" ptsTypes="AAAAA">
                                      <p:cBhvr>
                                        <p:cTn id="42" dur="2000" fill="hold"/>
                                        <p:tgtEl>
                                          <p:spTgt spid="79"/>
                                        </p:tgtEl>
                                        <p:attrNameLst>
                                          <p:attrName>ppt_x</p:attrName>
                                          <p:attrName>ppt_y</p:attrName>
                                        </p:attrNameLst>
                                      </p:cBhvr>
                                      <p:rCtr x="-20344" y="-10509"/>
                                    </p:animMotion>
                                  </p:childTnLst>
                                </p:cTn>
                              </p:par>
                            </p:childTnLst>
                          </p:cTn>
                        </p:par>
                        <p:par>
                          <p:cTn id="43" fill="hold">
                            <p:stCondLst>
                              <p:cond delay="2000"/>
                            </p:stCondLst>
                            <p:childTnLst>
                              <p:par>
                                <p:cTn id="44" presetID="22" presetClass="entr" presetSubtype="1" fill="hold" nodeType="afterEffect">
                                  <p:stCondLst>
                                    <p:cond delay="0"/>
                                  </p:stCondLst>
                                  <p:childTnLst>
                                    <p:set>
                                      <p:cBhvr>
                                        <p:cTn id="45" dur="1" fill="hold">
                                          <p:stCondLst>
                                            <p:cond delay="0"/>
                                          </p:stCondLst>
                                        </p:cTn>
                                        <p:tgtEl>
                                          <p:spTgt spid="68"/>
                                        </p:tgtEl>
                                        <p:attrNameLst>
                                          <p:attrName>style.visibility</p:attrName>
                                        </p:attrNameLst>
                                      </p:cBhvr>
                                      <p:to>
                                        <p:strVal val="visible"/>
                                      </p:to>
                                    </p:set>
                                    <p:animEffect transition="in" filter="wipe(up)">
                                      <p:cBhvr>
                                        <p:cTn id="46"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4652"/>
        <p:cNvGrpSpPr/>
        <p:nvPr/>
      </p:nvGrpSpPr>
      <p:grpSpPr>
        <a:xfrm>
          <a:off x="0" y="0"/>
          <a:ext cx="0" cy="0"/>
          <a:chOff x="0" y="0"/>
          <a:chExt cx="0" cy="0"/>
        </a:xfrm>
      </p:grpSpPr>
      <p:sp>
        <p:nvSpPr>
          <p:cNvPr id="14653" name="Google Shape;14653;p75"/>
          <p:cNvSpPr/>
          <p:nvPr/>
        </p:nvSpPr>
        <p:spPr>
          <a:xfrm>
            <a:off x="568519" y="1596279"/>
            <a:ext cx="5579327" cy="457200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Arial"/>
              <a:ea typeface="Arial"/>
              <a:cs typeface="Arial"/>
              <a:sym typeface="Arial"/>
            </a:endParaRPr>
          </a:p>
        </p:txBody>
      </p:sp>
      <p:sp>
        <p:nvSpPr>
          <p:cNvPr id="14654" name="Google Shape;14654;p75"/>
          <p:cNvSpPr txBox="1">
            <a:spLocks noGrp="1"/>
          </p:cNvSpPr>
          <p:nvPr>
            <p:ph type="body" idx="1"/>
          </p:nvPr>
        </p:nvSpPr>
        <p:spPr>
          <a:xfrm>
            <a:off x="6323381" y="1600201"/>
            <a:ext cx="5865445" cy="4572000"/>
          </a:xfrm>
          <a:prstGeom prst="rect">
            <a:avLst/>
          </a:prstGeom>
          <a:solidFill>
            <a:srgbClr val="F4F8FA"/>
          </a:solidFill>
          <a:ln>
            <a:noFill/>
          </a:ln>
        </p:spPr>
        <p:txBody>
          <a:bodyPr spcFirstLastPara="1" wrap="square" lIns="457200" tIns="457200" rIns="457200" bIns="457200" anchor="t" anchorCtr="0">
            <a:noAutofit/>
          </a:bodyPr>
          <a:lstStyle/>
          <a:p>
            <a:pPr marL="0" lvl="1" indent="0" algn="l" rtl="0">
              <a:lnSpc>
                <a:spcPct val="120000"/>
              </a:lnSpc>
              <a:spcBef>
                <a:spcPts val="0"/>
              </a:spcBef>
              <a:spcAft>
                <a:spcPts val="0"/>
              </a:spcAft>
              <a:buClr>
                <a:schemeClr val="accent4"/>
              </a:buClr>
              <a:buSzPts val="1200"/>
              <a:buNone/>
            </a:pPr>
            <a:r>
              <a:rPr lang="en-US" sz="1800">
                <a:solidFill>
                  <a:schemeClr val="accent2"/>
                </a:solidFill>
              </a:rPr>
              <a:t>Efficient migrations save time and cost</a:t>
            </a:r>
            <a:endParaRPr/>
          </a:p>
          <a:p>
            <a:pPr marL="0" lvl="1" indent="0" algn="l" rtl="0">
              <a:lnSpc>
                <a:spcPct val="120000"/>
              </a:lnSpc>
              <a:spcBef>
                <a:spcPts val="600"/>
              </a:spcBef>
              <a:spcAft>
                <a:spcPts val="0"/>
              </a:spcAft>
              <a:buClr>
                <a:schemeClr val="accent4"/>
              </a:buClr>
              <a:buSzPts val="1200"/>
              <a:buNone/>
            </a:pPr>
            <a:r>
              <a:rPr lang="en-US" sz="1800">
                <a:solidFill>
                  <a:schemeClr val="accent2"/>
                </a:solidFill>
              </a:rPr>
              <a:t>Automated migration and execution workflows</a:t>
            </a:r>
            <a:endParaRPr/>
          </a:p>
          <a:p>
            <a:pPr marL="0" lvl="1" indent="0" algn="l" rtl="0">
              <a:lnSpc>
                <a:spcPct val="120000"/>
              </a:lnSpc>
              <a:spcBef>
                <a:spcPts val="600"/>
              </a:spcBef>
              <a:spcAft>
                <a:spcPts val="0"/>
              </a:spcAft>
              <a:buClr>
                <a:schemeClr val="accent4"/>
              </a:buClr>
              <a:buSzPts val="1200"/>
              <a:buNone/>
            </a:pPr>
            <a:r>
              <a:rPr lang="en-US" sz="1800">
                <a:solidFill>
                  <a:schemeClr val="accent2"/>
                </a:solidFill>
              </a:rPr>
              <a:t>Granular planning to analyze network flows, create move groups and create mobility groups</a:t>
            </a:r>
            <a:endParaRPr/>
          </a:p>
          <a:p>
            <a:pPr marL="0" lvl="1" indent="0" algn="l" rtl="0">
              <a:lnSpc>
                <a:spcPct val="120000"/>
              </a:lnSpc>
              <a:spcBef>
                <a:spcPts val="600"/>
              </a:spcBef>
              <a:spcAft>
                <a:spcPts val="0"/>
              </a:spcAft>
              <a:buClr>
                <a:schemeClr val="accent4"/>
              </a:buClr>
              <a:buSzPts val="1200"/>
              <a:buNone/>
            </a:pPr>
            <a:r>
              <a:rPr lang="en-US" sz="1800">
                <a:solidFill>
                  <a:schemeClr val="accent2"/>
                </a:solidFill>
              </a:rPr>
              <a:t>Robust Large Scale Migration Execution:</a:t>
            </a:r>
            <a:endParaRPr/>
          </a:p>
          <a:p>
            <a:pPr marL="0" lvl="1" indent="0" algn="l" rtl="0">
              <a:lnSpc>
                <a:spcPct val="120000"/>
              </a:lnSpc>
              <a:spcBef>
                <a:spcPts val="600"/>
              </a:spcBef>
              <a:spcAft>
                <a:spcPts val="0"/>
              </a:spcAft>
              <a:buClr>
                <a:schemeClr val="accent4"/>
              </a:buClr>
              <a:buSzPts val="1200"/>
              <a:buNone/>
            </a:pPr>
            <a:r>
              <a:rPr lang="en-US" sz="1800">
                <a:solidFill>
                  <a:schemeClr val="accent2"/>
                </a:solidFill>
              </a:rPr>
              <a:t>Scenarios (On-prem; vSphere only)</a:t>
            </a:r>
            <a:endParaRPr/>
          </a:p>
          <a:p>
            <a:pPr marL="285750" lvl="1" indent="-285750" algn="l" rtl="0">
              <a:lnSpc>
                <a:spcPct val="120000"/>
              </a:lnSpc>
              <a:spcBef>
                <a:spcPts val="600"/>
              </a:spcBef>
              <a:spcAft>
                <a:spcPts val="0"/>
              </a:spcAft>
              <a:buClr>
                <a:schemeClr val="accent4"/>
              </a:buClr>
              <a:buSzPts val="1200"/>
              <a:buChar char="•"/>
            </a:pPr>
            <a:r>
              <a:rPr lang="en-US" sz="1800">
                <a:solidFill>
                  <a:schemeClr val="accent2"/>
                </a:solidFill>
              </a:rPr>
              <a:t>Into/between/within VCF</a:t>
            </a:r>
            <a:endParaRPr/>
          </a:p>
          <a:p>
            <a:pPr marL="285750" lvl="1" indent="-285750" algn="l" rtl="0">
              <a:lnSpc>
                <a:spcPct val="120000"/>
              </a:lnSpc>
              <a:spcBef>
                <a:spcPts val="600"/>
              </a:spcBef>
              <a:spcAft>
                <a:spcPts val="0"/>
              </a:spcAft>
              <a:buClr>
                <a:schemeClr val="accent4"/>
              </a:buClr>
              <a:buSzPts val="1200"/>
              <a:buChar char="•"/>
            </a:pPr>
            <a:r>
              <a:rPr lang="en-US" sz="1800">
                <a:solidFill>
                  <a:schemeClr val="accent2"/>
                </a:solidFill>
              </a:rPr>
              <a:t>From/to VPC</a:t>
            </a:r>
            <a:endParaRPr/>
          </a:p>
          <a:p>
            <a:pPr marL="285750" lvl="1" indent="-285750" algn="l" rtl="0">
              <a:lnSpc>
                <a:spcPct val="120000"/>
              </a:lnSpc>
              <a:spcBef>
                <a:spcPts val="600"/>
              </a:spcBef>
              <a:spcAft>
                <a:spcPts val="0"/>
              </a:spcAft>
              <a:buClr>
                <a:schemeClr val="accent4"/>
              </a:buClr>
              <a:buSzPts val="1200"/>
              <a:buChar char="•"/>
            </a:pPr>
            <a:r>
              <a:rPr lang="en-US" sz="1800">
                <a:solidFill>
                  <a:schemeClr val="accent2"/>
                </a:solidFill>
              </a:rPr>
              <a:t>M&amp;A, DC consolidation</a:t>
            </a:r>
            <a:endParaRPr/>
          </a:p>
          <a:p>
            <a:pPr marL="285750" lvl="1" indent="-285750" algn="l" rtl="0">
              <a:lnSpc>
                <a:spcPct val="120000"/>
              </a:lnSpc>
              <a:spcBef>
                <a:spcPts val="600"/>
              </a:spcBef>
              <a:spcAft>
                <a:spcPts val="0"/>
              </a:spcAft>
              <a:buClr>
                <a:schemeClr val="accent4"/>
              </a:buClr>
              <a:buSzPts val="1200"/>
              <a:buChar char="•"/>
            </a:pPr>
            <a:r>
              <a:rPr lang="en-US" sz="1800">
                <a:solidFill>
                  <a:schemeClr val="accent2"/>
                </a:solidFill>
              </a:rPr>
              <a:t>On-demand and planned workload mobility</a:t>
            </a:r>
            <a:endParaRPr/>
          </a:p>
          <a:p>
            <a:pPr marL="285750" lvl="1" indent="-209550" algn="l" rtl="0">
              <a:lnSpc>
                <a:spcPct val="120000"/>
              </a:lnSpc>
              <a:spcBef>
                <a:spcPts val="600"/>
              </a:spcBef>
              <a:spcAft>
                <a:spcPts val="0"/>
              </a:spcAft>
              <a:buClr>
                <a:schemeClr val="accent4"/>
              </a:buClr>
              <a:buSzPts val="1200"/>
              <a:buFont typeface="Arial"/>
              <a:buNone/>
            </a:pPr>
            <a:endParaRPr sz="1800" b="0" i="0" u="none" strike="noStrike" cap="none">
              <a:solidFill>
                <a:schemeClr val="dk1"/>
              </a:solidFill>
              <a:latin typeface="Arial"/>
              <a:ea typeface="Arial"/>
              <a:cs typeface="Arial"/>
              <a:sym typeface="Arial"/>
            </a:endParaRPr>
          </a:p>
          <a:p>
            <a:pPr marL="0" lvl="0" indent="0" algn="l" rtl="0">
              <a:lnSpc>
                <a:spcPct val="100000"/>
              </a:lnSpc>
              <a:spcBef>
                <a:spcPts val="600"/>
              </a:spcBef>
              <a:spcAft>
                <a:spcPts val="0"/>
              </a:spcAft>
              <a:buSzPts val="1620"/>
              <a:buNone/>
            </a:pPr>
            <a:endParaRPr/>
          </a:p>
        </p:txBody>
      </p:sp>
      <p:sp>
        <p:nvSpPr>
          <p:cNvPr id="14655" name="Google Shape;14655;p75"/>
          <p:cNvSpPr txBox="1">
            <a:spLocks noGrp="1"/>
          </p:cNvSpPr>
          <p:nvPr>
            <p:ph type="subTitle" idx="2"/>
          </p:nvPr>
        </p:nvSpPr>
        <p:spPr>
          <a:xfrm>
            <a:off x="592866" y="811830"/>
            <a:ext cx="1096268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VCF Operations – Workload Migration Planning</a:t>
            </a:r>
            <a:endParaRPr/>
          </a:p>
        </p:txBody>
      </p:sp>
      <p:sp>
        <p:nvSpPr>
          <p:cNvPr id="14656" name="Google Shape;14656;p75"/>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End-to end Process - Plan, Schedule and Migrate Workloads at Scale</a:t>
            </a:r>
            <a:endParaRPr/>
          </a:p>
        </p:txBody>
      </p:sp>
      <p:pic>
        <p:nvPicPr>
          <p:cNvPr id="14657" name="Google Shape;14657;p75" descr="A screenshot of a computer&#10;&#10;AI-generated content may be incorrect."/>
          <p:cNvPicPr preferRelativeResize="0"/>
          <p:nvPr/>
        </p:nvPicPr>
        <p:blipFill rotWithShape="1">
          <a:blip r:embed="rId3">
            <a:alphaModFix/>
          </a:blip>
          <a:srcRect/>
          <a:stretch/>
        </p:blipFill>
        <p:spPr>
          <a:xfrm>
            <a:off x="631397" y="1727398"/>
            <a:ext cx="5409583" cy="1966606"/>
          </a:xfrm>
          <a:prstGeom prst="rect">
            <a:avLst/>
          </a:prstGeom>
          <a:noFill/>
          <a:ln>
            <a:noFill/>
          </a:ln>
        </p:spPr>
      </p:pic>
      <p:pic>
        <p:nvPicPr>
          <p:cNvPr id="14658" name="Google Shape;14658;p75" descr="A screenshot of a computer&#10;&#10;AI-generated content may be incorrect."/>
          <p:cNvPicPr preferRelativeResize="0"/>
          <p:nvPr/>
        </p:nvPicPr>
        <p:blipFill rotWithShape="1">
          <a:blip r:embed="rId4">
            <a:alphaModFix/>
          </a:blip>
          <a:srcRect/>
          <a:stretch/>
        </p:blipFill>
        <p:spPr>
          <a:xfrm>
            <a:off x="631397" y="3921740"/>
            <a:ext cx="5409583" cy="2113722"/>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4663"/>
        <p:cNvGrpSpPr/>
        <p:nvPr/>
      </p:nvGrpSpPr>
      <p:grpSpPr>
        <a:xfrm>
          <a:off x="0" y="0"/>
          <a:ext cx="0" cy="0"/>
          <a:chOff x="0" y="0"/>
          <a:chExt cx="0" cy="0"/>
        </a:xfrm>
      </p:grpSpPr>
      <p:sp>
        <p:nvSpPr>
          <p:cNvPr id="14664" name="Google Shape;14664;p76"/>
          <p:cNvSpPr txBox="1">
            <a:spLocks noGrp="1"/>
          </p:cNvSpPr>
          <p:nvPr>
            <p:ph type="title"/>
          </p:nvPr>
        </p:nvSpPr>
        <p:spPr>
          <a:xfrm>
            <a:off x="590541" y="939442"/>
            <a:ext cx="8340807" cy="122904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a:t>Optimize Infrastructure and Operations </a:t>
            </a:r>
            <a:endParaRPr/>
          </a:p>
        </p:txBody>
      </p:sp>
      <p:sp>
        <p:nvSpPr>
          <p:cNvPr id="14665" name="Google Shape;14665;p76"/>
          <p:cNvSpPr txBox="1">
            <a:spLocks noGrp="1"/>
          </p:cNvSpPr>
          <p:nvPr>
            <p:ph type="subTitle" idx="1"/>
          </p:nvPr>
        </p:nvSpPr>
        <p:spPr>
          <a:xfrm>
            <a:off x="604396" y="2268015"/>
            <a:ext cx="6540408" cy="700699"/>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r>
              <a:rPr lang="en-US"/>
              <a:t>Operations - Manage</a:t>
            </a: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4671"/>
        <p:cNvGrpSpPr/>
        <p:nvPr/>
      </p:nvGrpSpPr>
      <p:grpSpPr>
        <a:xfrm>
          <a:off x="0" y="0"/>
          <a:ext cx="0" cy="0"/>
          <a:chOff x="0" y="0"/>
          <a:chExt cx="0" cy="0"/>
        </a:xfrm>
      </p:grpSpPr>
      <p:sp>
        <p:nvSpPr>
          <p:cNvPr id="14672" name="Google Shape;14672;p77"/>
          <p:cNvSpPr/>
          <p:nvPr/>
        </p:nvSpPr>
        <p:spPr>
          <a:xfrm>
            <a:off x="6317230" y="1161879"/>
            <a:ext cx="5543756" cy="5320614"/>
          </a:xfrm>
          <a:prstGeom prst="roundRect">
            <a:avLst>
              <a:gd name="adj" fmla="val 1"/>
            </a:avLst>
          </a:prstGeom>
          <a:gradFill>
            <a:gsLst>
              <a:gs pos="0">
                <a:srgbClr val="C0F0FE">
                  <a:alpha val="40392"/>
                </a:srgbClr>
              </a:gs>
              <a:gs pos="100000">
                <a:srgbClr val="EEEEEE">
                  <a:alpha val="0"/>
                </a:srgbClr>
              </a:gs>
            </a:gsLst>
            <a:lin ang="5400012" scaled="0"/>
          </a:gradFill>
          <a:ln>
            <a:noFill/>
          </a:ln>
        </p:spPr>
        <p:txBody>
          <a:bodyPr spcFirstLastPara="1" wrap="square" lIns="91225" tIns="91225" rIns="91225" bIns="91225" anchor="ctr" anchorCtr="0">
            <a:noAutofit/>
          </a:bodyPr>
          <a:lstStyle/>
          <a:p>
            <a:pPr marL="0" marR="0" lvl="0" indent="0" algn="ctr" rtl="0">
              <a:spcBef>
                <a:spcPts val="0"/>
              </a:spcBef>
              <a:spcAft>
                <a:spcPts val="0"/>
              </a:spcAft>
              <a:buNone/>
            </a:pPr>
            <a:endParaRPr sz="1200">
              <a:solidFill>
                <a:srgbClr val="041032"/>
              </a:solidFill>
              <a:latin typeface="Arial"/>
              <a:ea typeface="Arial"/>
              <a:cs typeface="Arial"/>
              <a:sym typeface="Arial"/>
            </a:endParaRPr>
          </a:p>
        </p:txBody>
      </p:sp>
      <p:sp>
        <p:nvSpPr>
          <p:cNvPr id="14673" name="Google Shape;14673;p77"/>
          <p:cNvSpPr/>
          <p:nvPr/>
        </p:nvSpPr>
        <p:spPr>
          <a:xfrm>
            <a:off x="6317230" y="1316540"/>
            <a:ext cx="3192584" cy="409066"/>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00" tIns="0" rIns="0" bIns="0" anchor="ctr" anchorCtr="0">
            <a:noAutofit/>
          </a:bodyPr>
          <a:lstStyle/>
          <a:p>
            <a:pPr marL="0" marR="0" lvl="0" indent="0" algn="l" rtl="0">
              <a:lnSpc>
                <a:spcPct val="90000"/>
              </a:lnSpc>
              <a:spcBef>
                <a:spcPts val="0"/>
              </a:spcBef>
              <a:spcAft>
                <a:spcPts val="0"/>
              </a:spcAft>
              <a:buNone/>
            </a:pPr>
            <a:r>
              <a:rPr lang="en-US" sz="1999" b="1">
                <a:solidFill>
                  <a:srgbClr val="FFFFFF"/>
                </a:solidFill>
                <a:latin typeface="Arial"/>
                <a:ea typeface="Arial"/>
                <a:cs typeface="Arial"/>
                <a:sym typeface="Arial"/>
              </a:rPr>
              <a:t>Manage</a:t>
            </a:r>
            <a:endParaRPr sz="1899" b="1">
              <a:solidFill>
                <a:srgbClr val="FFFFFF"/>
              </a:solidFill>
              <a:latin typeface="Arial"/>
              <a:ea typeface="Arial"/>
              <a:cs typeface="Arial"/>
              <a:sym typeface="Arial"/>
            </a:endParaRPr>
          </a:p>
        </p:txBody>
      </p:sp>
      <p:sp>
        <p:nvSpPr>
          <p:cNvPr id="14674" name="Google Shape;14674;p77"/>
          <p:cNvSpPr/>
          <p:nvPr/>
        </p:nvSpPr>
        <p:spPr>
          <a:xfrm>
            <a:off x="6317230" y="3861342"/>
            <a:ext cx="3192584" cy="409066"/>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00" tIns="0" rIns="0" bIns="0" anchor="ctr" anchorCtr="0">
            <a:noAutofit/>
          </a:bodyPr>
          <a:lstStyle/>
          <a:p>
            <a:pPr marL="0" marR="0" lvl="0" indent="0" algn="l" rtl="0">
              <a:lnSpc>
                <a:spcPct val="90000"/>
              </a:lnSpc>
              <a:spcBef>
                <a:spcPts val="0"/>
              </a:spcBef>
              <a:spcAft>
                <a:spcPts val="0"/>
              </a:spcAft>
              <a:buNone/>
            </a:pPr>
            <a:r>
              <a:rPr lang="en-US" sz="1999" b="1">
                <a:solidFill>
                  <a:srgbClr val="FFFFFF"/>
                </a:solidFill>
                <a:latin typeface="Arial"/>
                <a:ea typeface="Arial"/>
                <a:cs typeface="Arial"/>
                <a:sym typeface="Arial"/>
              </a:rPr>
              <a:t>Protect</a:t>
            </a:r>
            <a:endParaRPr sz="1799">
              <a:solidFill>
                <a:srgbClr val="000000"/>
              </a:solidFill>
              <a:latin typeface="Arial"/>
              <a:ea typeface="Arial"/>
              <a:cs typeface="Arial"/>
              <a:sym typeface="Arial"/>
            </a:endParaRPr>
          </a:p>
        </p:txBody>
      </p:sp>
      <p:sp>
        <p:nvSpPr>
          <p:cNvPr id="14675" name="Google Shape;14675;p77"/>
          <p:cNvSpPr txBox="1"/>
          <p:nvPr/>
        </p:nvSpPr>
        <p:spPr>
          <a:xfrm>
            <a:off x="6608166" y="1974279"/>
            <a:ext cx="5451080" cy="1300761"/>
          </a:xfrm>
          <a:prstGeom prst="rect">
            <a:avLst/>
          </a:prstGeom>
          <a:noFill/>
          <a:ln>
            <a:noFill/>
          </a:ln>
        </p:spPr>
        <p:txBody>
          <a:bodyPr spcFirstLastPara="1" wrap="square" lIns="0" tIns="0" rIns="274150" bIns="0" anchor="t" anchorCtr="0">
            <a:normAutofit fontScale="62500" lnSpcReduction="20000"/>
          </a:bodyPr>
          <a:lstStyle/>
          <a:p>
            <a:pPr marL="0" marR="0" lvl="0" indent="0" algn="l" rtl="0">
              <a:lnSpc>
                <a:spcPct val="120000"/>
              </a:lnSpc>
              <a:spcBef>
                <a:spcPts val="0"/>
              </a:spcBef>
              <a:spcAft>
                <a:spcPts val="0"/>
              </a:spcAft>
              <a:buNone/>
            </a:pPr>
            <a:r>
              <a:rPr lang="en-US" sz="2549" b="1">
                <a:solidFill>
                  <a:srgbClr val="005C8A"/>
                </a:solidFill>
                <a:latin typeface="Arial"/>
                <a:ea typeface="Arial"/>
                <a:cs typeface="Arial"/>
                <a:sym typeface="Arial"/>
              </a:rPr>
              <a:t>Unified Management</a:t>
            </a:r>
            <a:endParaRPr sz="2549">
              <a:solidFill>
                <a:srgbClr val="000000"/>
              </a:solidFill>
              <a:latin typeface="Arial"/>
              <a:ea typeface="Arial"/>
              <a:cs typeface="Arial"/>
              <a:sym typeface="Arial"/>
            </a:endParaRPr>
          </a:p>
          <a:p>
            <a:pPr marL="457063" marR="0" lvl="0" indent="-321904" algn="l" rtl="0">
              <a:spcBef>
                <a:spcPts val="600"/>
              </a:spcBef>
              <a:spcAft>
                <a:spcPts val="0"/>
              </a:spcAft>
              <a:buClr>
                <a:srgbClr val="000000"/>
              </a:buClr>
              <a:buSzPct val="100000"/>
              <a:buFont typeface="Arial"/>
              <a:buChar char="•"/>
            </a:pPr>
            <a:r>
              <a:rPr lang="en-US" sz="2099">
                <a:solidFill>
                  <a:srgbClr val="000000"/>
                </a:solidFill>
                <a:latin typeface="Arial"/>
                <a:ea typeface="Arial"/>
                <a:cs typeface="Arial"/>
                <a:sym typeface="Arial"/>
              </a:rPr>
              <a:t>Manage your infrastructure fleet with single sign-on, licensing, certificates, and passwords</a:t>
            </a:r>
            <a:endParaRPr sz="2099">
              <a:solidFill>
                <a:srgbClr val="000000"/>
              </a:solidFill>
              <a:latin typeface="Arial"/>
              <a:ea typeface="Arial"/>
              <a:cs typeface="Arial"/>
              <a:sym typeface="Arial"/>
            </a:endParaRPr>
          </a:p>
          <a:p>
            <a:pPr marL="457063" marR="0" lvl="0" indent="-321904" algn="l" rtl="0">
              <a:spcBef>
                <a:spcPts val="600"/>
              </a:spcBef>
              <a:spcAft>
                <a:spcPts val="0"/>
              </a:spcAft>
              <a:buClr>
                <a:srgbClr val="000000"/>
              </a:buClr>
              <a:buSzPct val="100000"/>
              <a:buFont typeface="Arial"/>
              <a:buChar char="•"/>
            </a:pPr>
            <a:r>
              <a:rPr lang="en-US" sz="2099">
                <a:solidFill>
                  <a:srgbClr val="000000"/>
                </a:solidFill>
                <a:latin typeface="Arial"/>
                <a:ea typeface="Arial"/>
                <a:cs typeface="Arial"/>
                <a:sym typeface="Arial"/>
              </a:rPr>
              <a:t>Optimize operational costs through automated workflows</a:t>
            </a:r>
            <a:endParaRPr sz="2099">
              <a:solidFill>
                <a:srgbClr val="000000"/>
              </a:solidFill>
              <a:latin typeface="Arial"/>
              <a:ea typeface="Arial"/>
              <a:cs typeface="Arial"/>
              <a:sym typeface="Arial"/>
            </a:endParaRPr>
          </a:p>
          <a:p>
            <a:pPr marL="457063" marR="0" lvl="0" indent="-321904" algn="l" rtl="0">
              <a:spcBef>
                <a:spcPts val="600"/>
              </a:spcBef>
              <a:spcAft>
                <a:spcPts val="0"/>
              </a:spcAft>
              <a:buClr>
                <a:srgbClr val="000000"/>
              </a:buClr>
              <a:buSzPct val="100000"/>
              <a:buFont typeface="Arial"/>
              <a:buChar char="•"/>
            </a:pPr>
            <a:r>
              <a:rPr lang="en-US" sz="2099">
                <a:solidFill>
                  <a:srgbClr val="000000"/>
                </a:solidFill>
                <a:latin typeface="Arial"/>
                <a:ea typeface="Arial"/>
                <a:cs typeface="Arial"/>
                <a:sym typeface="Arial"/>
              </a:rPr>
              <a:t>Maximize resource capacity and utilization efficiency</a:t>
            </a:r>
            <a:endParaRPr sz="2099">
              <a:solidFill>
                <a:srgbClr val="000000"/>
              </a:solidFill>
              <a:latin typeface="Arial"/>
              <a:ea typeface="Arial"/>
              <a:cs typeface="Arial"/>
              <a:sym typeface="Arial"/>
            </a:endParaRPr>
          </a:p>
        </p:txBody>
      </p:sp>
      <p:sp>
        <p:nvSpPr>
          <p:cNvPr id="14676" name="Google Shape;14676;p77"/>
          <p:cNvSpPr txBox="1"/>
          <p:nvPr/>
        </p:nvSpPr>
        <p:spPr>
          <a:xfrm>
            <a:off x="6614264" y="4375482"/>
            <a:ext cx="5203645" cy="2153439"/>
          </a:xfrm>
          <a:prstGeom prst="rect">
            <a:avLst/>
          </a:prstGeom>
          <a:noFill/>
          <a:ln>
            <a:noFill/>
          </a:ln>
        </p:spPr>
        <p:txBody>
          <a:bodyPr spcFirstLastPara="1" wrap="square" lIns="0" tIns="0" rIns="274150" bIns="0" anchor="t" anchorCtr="0">
            <a:normAutofit/>
          </a:bodyPr>
          <a:lstStyle/>
          <a:p>
            <a:pPr marL="0" marR="0" lvl="0" indent="0" algn="l" rtl="0">
              <a:lnSpc>
                <a:spcPct val="120000"/>
              </a:lnSpc>
              <a:spcBef>
                <a:spcPts val="0"/>
              </a:spcBef>
              <a:spcAft>
                <a:spcPts val="0"/>
              </a:spcAft>
              <a:buNone/>
            </a:pPr>
            <a:r>
              <a:rPr lang="en-US" sz="1799" b="1">
                <a:solidFill>
                  <a:srgbClr val="005C8A"/>
                </a:solidFill>
                <a:latin typeface="Arial"/>
                <a:ea typeface="Arial"/>
                <a:cs typeface="Arial"/>
                <a:sym typeface="Arial"/>
              </a:rPr>
              <a:t>Enhanced Security Posture</a:t>
            </a:r>
            <a:endParaRPr sz="1300" b="1">
              <a:solidFill>
                <a:srgbClr val="000000"/>
              </a:solidFill>
              <a:latin typeface="Arial"/>
              <a:ea typeface="Arial"/>
              <a:cs typeface="Arial"/>
              <a:sym typeface="Arial"/>
            </a:endParaRPr>
          </a:p>
          <a:p>
            <a:pPr marL="457063" marR="0" lvl="0" indent="-317405" algn="l" rtl="0">
              <a:spcBef>
                <a:spcPts val="600"/>
              </a:spcBef>
              <a:spcAft>
                <a:spcPts val="0"/>
              </a:spcAft>
              <a:buClr>
                <a:srgbClr val="000000"/>
              </a:buClr>
              <a:buSzPts val="1400"/>
              <a:buFont typeface="Arial"/>
              <a:buChar char="•"/>
            </a:pPr>
            <a:r>
              <a:rPr lang="en-US" sz="1799">
                <a:solidFill>
                  <a:srgbClr val="000000"/>
                </a:solidFill>
                <a:latin typeface="Arial"/>
                <a:ea typeface="Arial"/>
                <a:cs typeface="Arial"/>
                <a:sym typeface="Arial"/>
              </a:rPr>
              <a:t>Secure and respond to threats</a:t>
            </a:r>
            <a:endParaRPr sz="1799">
              <a:solidFill>
                <a:srgbClr val="000000"/>
              </a:solidFill>
              <a:latin typeface="Arial"/>
              <a:ea typeface="Arial"/>
              <a:cs typeface="Arial"/>
              <a:sym typeface="Arial"/>
            </a:endParaRPr>
          </a:p>
          <a:p>
            <a:pPr marL="457063" marR="0" lvl="0" indent="-317405" algn="l" rtl="0">
              <a:spcBef>
                <a:spcPts val="600"/>
              </a:spcBef>
              <a:spcAft>
                <a:spcPts val="0"/>
              </a:spcAft>
              <a:buClr>
                <a:srgbClr val="000000"/>
              </a:buClr>
              <a:buSzPts val="1400"/>
              <a:buFont typeface="Arial"/>
              <a:buChar char="•"/>
            </a:pPr>
            <a:r>
              <a:rPr lang="en-US" sz="1799">
                <a:solidFill>
                  <a:srgbClr val="000000"/>
                </a:solidFill>
                <a:latin typeface="Arial"/>
                <a:ea typeface="Arial"/>
                <a:cs typeface="Arial"/>
                <a:sym typeface="Arial"/>
              </a:rPr>
              <a:t>Investigate with audit forensics</a:t>
            </a:r>
            <a:endParaRPr sz="1799">
              <a:solidFill>
                <a:srgbClr val="000000"/>
              </a:solidFill>
              <a:latin typeface="Arial"/>
              <a:ea typeface="Arial"/>
              <a:cs typeface="Arial"/>
              <a:sym typeface="Arial"/>
            </a:endParaRPr>
          </a:p>
          <a:p>
            <a:pPr marL="457063" marR="0" lvl="0" indent="-317405" algn="l" rtl="0">
              <a:spcBef>
                <a:spcPts val="600"/>
              </a:spcBef>
              <a:spcAft>
                <a:spcPts val="0"/>
              </a:spcAft>
              <a:buClr>
                <a:srgbClr val="000000"/>
              </a:buClr>
              <a:buSzPts val="1400"/>
              <a:buFont typeface="Arial"/>
              <a:buChar char="•"/>
            </a:pPr>
            <a:r>
              <a:rPr lang="en-US" sz="1799">
                <a:solidFill>
                  <a:srgbClr val="000000"/>
                </a:solidFill>
                <a:latin typeface="Arial"/>
                <a:ea typeface="Arial"/>
                <a:cs typeface="Arial"/>
                <a:sym typeface="Arial"/>
              </a:rPr>
              <a:t>Compliance and improve posture (requires ACC)</a:t>
            </a:r>
            <a:endParaRPr sz="1799">
              <a:solidFill>
                <a:srgbClr val="000000"/>
              </a:solidFill>
              <a:latin typeface="Arial"/>
              <a:ea typeface="Arial"/>
              <a:cs typeface="Arial"/>
              <a:sym typeface="Arial"/>
            </a:endParaRPr>
          </a:p>
          <a:p>
            <a:pPr marL="0" marR="0" lvl="0" indent="0" algn="l" rtl="0">
              <a:lnSpc>
                <a:spcPct val="120000"/>
              </a:lnSpc>
              <a:spcBef>
                <a:spcPts val="0"/>
              </a:spcBef>
              <a:spcAft>
                <a:spcPts val="0"/>
              </a:spcAft>
              <a:buNone/>
            </a:pPr>
            <a:endParaRPr sz="1200">
              <a:solidFill>
                <a:srgbClr val="000000"/>
              </a:solidFill>
              <a:latin typeface="Arial"/>
              <a:ea typeface="Arial"/>
              <a:cs typeface="Arial"/>
              <a:sym typeface="Arial"/>
            </a:endParaRPr>
          </a:p>
        </p:txBody>
      </p:sp>
      <p:sp>
        <p:nvSpPr>
          <p:cNvPr id="14677" name="Google Shape;14677;p77"/>
          <p:cNvSpPr txBox="1">
            <a:spLocks noGrp="1"/>
          </p:cNvSpPr>
          <p:nvPr>
            <p:ph type="title"/>
          </p:nvPr>
        </p:nvSpPr>
        <p:spPr>
          <a:xfrm>
            <a:off x="581245" y="413536"/>
            <a:ext cx="10998135"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VCF Operations: Efficient Infrastructure &amp; Operations at Scale</a:t>
            </a:r>
            <a:endParaRPr/>
          </a:p>
        </p:txBody>
      </p:sp>
      <p:pic>
        <p:nvPicPr>
          <p:cNvPr id="14678" name="Google Shape;14678;p77"/>
          <p:cNvPicPr preferRelativeResize="0"/>
          <p:nvPr/>
        </p:nvPicPr>
        <p:blipFill rotWithShape="1">
          <a:blip r:embed="rId3">
            <a:alphaModFix amt="16000"/>
          </a:blip>
          <a:srcRect t="47732" r="1614" b="-46968"/>
          <a:stretch/>
        </p:blipFill>
        <p:spPr>
          <a:xfrm rot="-5400000">
            <a:off x="3901477" y="3552324"/>
            <a:ext cx="5088730" cy="277992"/>
          </a:xfrm>
          <a:prstGeom prst="rect">
            <a:avLst/>
          </a:prstGeom>
          <a:noFill/>
          <a:ln>
            <a:noFill/>
          </a:ln>
        </p:spPr>
      </p:pic>
      <p:sp>
        <p:nvSpPr>
          <p:cNvPr id="14679" name="Google Shape;14679;p77"/>
          <p:cNvSpPr/>
          <p:nvPr/>
        </p:nvSpPr>
        <p:spPr>
          <a:xfrm>
            <a:off x="312603" y="1160335"/>
            <a:ext cx="5543756" cy="5320614"/>
          </a:xfrm>
          <a:prstGeom prst="roundRect">
            <a:avLst>
              <a:gd name="adj" fmla="val 1"/>
            </a:avLst>
          </a:prstGeom>
          <a:gradFill>
            <a:gsLst>
              <a:gs pos="0">
                <a:srgbClr val="C0F0FE">
                  <a:alpha val="40392"/>
                </a:srgbClr>
              </a:gs>
              <a:gs pos="100000">
                <a:srgbClr val="EEEEEE">
                  <a:alpha val="0"/>
                </a:srgbClr>
              </a:gs>
            </a:gsLst>
            <a:lin ang="5400012" scaled="0"/>
          </a:gradFill>
          <a:ln>
            <a:noFill/>
          </a:ln>
        </p:spPr>
        <p:txBody>
          <a:bodyPr spcFirstLastPara="1" wrap="square" lIns="91225" tIns="91225" rIns="91225" bIns="91225" anchor="ctr" anchorCtr="0">
            <a:noAutofit/>
          </a:bodyPr>
          <a:lstStyle/>
          <a:p>
            <a:pPr marL="0" marR="0" lvl="0" indent="0" algn="ctr" rtl="0">
              <a:spcBef>
                <a:spcPts val="0"/>
              </a:spcBef>
              <a:spcAft>
                <a:spcPts val="0"/>
              </a:spcAft>
              <a:buNone/>
            </a:pPr>
            <a:endParaRPr sz="1200">
              <a:solidFill>
                <a:srgbClr val="041032"/>
              </a:solidFill>
              <a:latin typeface="Arial"/>
              <a:ea typeface="Arial"/>
              <a:cs typeface="Arial"/>
              <a:sym typeface="Arial"/>
            </a:endParaRPr>
          </a:p>
        </p:txBody>
      </p:sp>
      <p:sp>
        <p:nvSpPr>
          <p:cNvPr id="14680" name="Google Shape;14680;p77"/>
          <p:cNvSpPr/>
          <p:nvPr/>
        </p:nvSpPr>
        <p:spPr>
          <a:xfrm>
            <a:off x="312603" y="1379336"/>
            <a:ext cx="3192584" cy="409066"/>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00" tIns="0" rIns="0" bIns="0" anchor="ctr" anchorCtr="0">
            <a:noAutofit/>
          </a:bodyPr>
          <a:lstStyle/>
          <a:p>
            <a:pPr marL="0" marR="0" lvl="0" indent="0" algn="l" rtl="0">
              <a:lnSpc>
                <a:spcPct val="90000"/>
              </a:lnSpc>
              <a:spcBef>
                <a:spcPts val="0"/>
              </a:spcBef>
              <a:spcAft>
                <a:spcPts val="0"/>
              </a:spcAft>
              <a:buNone/>
            </a:pPr>
            <a:r>
              <a:rPr lang="en-US" sz="1999" b="1">
                <a:solidFill>
                  <a:srgbClr val="FFFFFF"/>
                </a:solidFill>
                <a:latin typeface="Arial"/>
                <a:ea typeface="Arial"/>
                <a:cs typeface="Arial"/>
                <a:sym typeface="Arial"/>
              </a:rPr>
              <a:t>Build</a:t>
            </a:r>
            <a:endParaRPr sz="1899" b="1">
              <a:solidFill>
                <a:srgbClr val="FFFFFF"/>
              </a:solidFill>
              <a:latin typeface="Arial"/>
              <a:ea typeface="Arial"/>
              <a:cs typeface="Arial"/>
              <a:sym typeface="Arial"/>
            </a:endParaRPr>
          </a:p>
        </p:txBody>
      </p:sp>
      <p:sp>
        <p:nvSpPr>
          <p:cNvPr id="14681" name="Google Shape;14681;p77"/>
          <p:cNvSpPr/>
          <p:nvPr/>
        </p:nvSpPr>
        <p:spPr>
          <a:xfrm>
            <a:off x="312603" y="3861753"/>
            <a:ext cx="3192584" cy="409066"/>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00" tIns="0" rIns="0" bIns="0" anchor="ctr" anchorCtr="0">
            <a:noAutofit/>
          </a:bodyPr>
          <a:lstStyle/>
          <a:p>
            <a:pPr marL="0" marR="0" lvl="0" indent="0" algn="l" rtl="0">
              <a:lnSpc>
                <a:spcPct val="90000"/>
              </a:lnSpc>
              <a:spcBef>
                <a:spcPts val="0"/>
              </a:spcBef>
              <a:spcAft>
                <a:spcPts val="0"/>
              </a:spcAft>
              <a:buNone/>
            </a:pPr>
            <a:r>
              <a:rPr lang="en-US" sz="1999" b="1">
                <a:solidFill>
                  <a:srgbClr val="FFFFFF"/>
                </a:solidFill>
                <a:latin typeface="Arial"/>
                <a:ea typeface="Arial"/>
                <a:cs typeface="Arial"/>
                <a:sym typeface="Arial"/>
              </a:rPr>
              <a:t>Operate</a:t>
            </a:r>
            <a:endParaRPr sz="1999" b="1">
              <a:solidFill>
                <a:srgbClr val="FFFFFF"/>
              </a:solidFill>
              <a:latin typeface="Arial"/>
              <a:ea typeface="Arial"/>
              <a:cs typeface="Arial"/>
              <a:sym typeface="Arial"/>
            </a:endParaRPr>
          </a:p>
        </p:txBody>
      </p:sp>
      <p:sp>
        <p:nvSpPr>
          <p:cNvPr id="14682" name="Google Shape;14682;p77"/>
          <p:cNvSpPr txBox="1"/>
          <p:nvPr/>
        </p:nvSpPr>
        <p:spPr>
          <a:xfrm>
            <a:off x="609625" y="4375903"/>
            <a:ext cx="5203645" cy="1550296"/>
          </a:xfrm>
          <a:prstGeom prst="rect">
            <a:avLst/>
          </a:prstGeom>
          <a:noFill/>
          <a:ln>
            <a:noFill/>
          </a:ln>
        </p:spPr>
        <p:txBody>
          <a:bodyPr spcFirstLastPara="1" wrap="square" lIns="0" tIns="0" rIns="274150" bIns="0" anchor="t" anchorCtr="0">
            <a:normAutofit fontScale="77500" lnSpcReduction="20000"/>
          </a:bodyPr>
          <a:lstStyle/>
          <a:p>
            <a:pPr marL="0" marR="0" lvl="0" indent="0" algn="l" rtl="0">
              <a:lnSpc>
                <a:spcPct val="120000"/>
              </a:lnSpc>
              <a:spcBef>
                <a:spcPts val="0"/>
              </a:spcBef>
              <a:spcAft>
                <a:spcPts val="0"/>
              </a:spcAft>
              <a:buNone/>
            </a:pPr>
            <a:r>
              <a:rPr lang="en-US" sz="1799" b="1">
                <a:solidFill>
                  <a:srgbClr val="005C8A"/>
                </a:solidFill>
                <a:latin typeface="Arial"/>
                <a:ea typeface="Arial"/>
                <a:cs typeface="Arial"/>
                <a:sym typeface="Arial"/>
              </a:rPr>
              <a:t>Simplified Day 2 Operations</a:t>
            </a:r>
            <a:endParaRPr sz="1799">
              <a:solidFill>
                <a:srgbClr val="000000"/>
              </a:solidFill>
              <a:latin typeface="Arial"/>
              <a:ea typeface="Arial"/>
              <a:cs typeface="Arial"/>
              <a:sym typeface="Arial"/>
            </a:endParaRPr>
          </a:p>
          <a:p>
            <a:pPr marL="457063" marR="0" lvl="0" indent="-317405" algn="l" rtl="0">
              <a:spcBef>
                <a:spcPts val="600"/>
              </a:spcBef>
              <a:spcAft>
                <a:spcPts val="0"/>
              </a:spcAft>
              <a:buClr>
                <a:srgbClr val="000000"/>
              </a:buClr>
              <a:buSzPct val="100414"/>
              <a:buFont typeface="Arial"/>
              <a:buChar char="•"/>
            </a:pPr>
            <a:r>
              <a:rPr lang="en-US" sz="1799">
                <a:solidFill>
                  <a:srgbClr val="000000"/>
                </a:solidFill>
                <a:latin typeface="Arial"/>
                <a:ea typeface="Arial"/>
                <a:cs typeface="Arial"/>
                <a:sym typeface="Arial"/>
              </a:rPr>
              <a:t>Observe infrastructure health and metrics in real-time</a:t>
            </a:r>
            <a:endParaRPr sz="1799">
              <a:solidFill>
                <a:srgbClr val="000000"/>
              </a:solidFill>
              <a:latin typeface="Arial"/>
              <a:ea typeface="Arial"/>
              <a:cs typeface="Arial"/>
              <a:sym typeface="Arial"/>
            </a:endParaRPr>
          </a:p>
          <a:p>
            <a:pPr marL="457063" marR="0" lvl="0" indent="-317405" algn="l" rtl="0">
              <a:spcBef>
                <a:spcPts val="600"/>
              </a:spcBef>
              <a:spcAft>
                <a:spcPts val="0"/>
              </a:spcAft>
              <a:buClr>
                <a:srgbClr val="000000"/>
              </a:buClr>
              <a:buSzPct val="100414"/>
              <a:buFont typeface="Arial"/>
              <a:buChar char="•"/>
            </a:pPr>
            <a:r>
              <a:rPr lang="en-US" sz="1799">
                <a:solidFill>
                  <a:srgbClr val="000000"/>
                </a:solidFill>
                <a:latin typeface="Arial"/>
                <a:ea typeface="Arial"/>
                <a:cs typeface="Arial"/>
                <a:sym typeface="Arial"/>
              </a:rPr>
              <a:t>Optimize performance for modern VKS and existing workloads</a:t>
            </a:r>
            <a:endParaRPr sz="1799">
              <a:solidFill>
                <a:srgbClr val="000000"/>
              </a:solidFill>
              <a:latin typeface="Arial"/>
              <a:ea typeface="Arial"/>
              <a:cs typeface="Arial"/>
              <a:sym typeface="Arial"/>
            </a:endParaRPr>
          </a:p>
          <a:p>
            <a:pPr marL="457063" marR="0" lvl="0" indent="-317405" algn="l" rtl="0">
              <a:spcBef>
                <a:spcPts val="600"/>
              </a:spcBef>
              <a:spcAft>
                <a:spcPts val="0"/>
              </a:spcAft>
              <a:buClr>
                <a:srgbClr val="000000"/>
              </a:buClr>
              <a:buSzPct val="100414"/>
              <a:buFont typeface="Arial"/>
              <a:buChar char="•"/>
            </a:pPr>
            <a:r>
              <a:rPr lang="en-US" sz="1799">
                <a:solidFill>
                  <a:srgbClr val="000000"/>
                </a:solidFill>
                <a:latin typeface="Arial"/>
                <a:ea typeface="Arial"/>
                <a:cs typeface="Arial"/>
                <a:sym typeface="Arial"/>
              </a:rPr>
              <a:t>Simplify troubleshooting processes to reduce mean time to resolution (MTTR).</a:t>
            </a:r>
            <a:endParaRPr sz="1799">
              <a:solidFill>
                <a:srgbClr val="1B1D36"/>
              </a:solidFill>
              <a:latin typeface="Arial"/>
              <a:ea typeface="Arial"/>
              <a:cs typeface="Arial"/>
              <a:sym typeface="Arial"/>
            </a:endParaRPr>
          </a:p>
          <a:p>
            <a:pPr marL="285576" marR="0" lvl="0" indent="-209399" algn="l" rtl="0">
              <a:lnSpc>
                <a:spcPct val="120000"/>
              </a:lnSpc>
              <a:spcBef>
                <a:spcPts val="0"/>
              </a:spcBef>
              <a:spcAft>
                <a:spcPts val="0"/>
              </a:spcAft>
              <a:buNone/>
            </a:pPr>
            <a:endParaRPr sz="1200">
              <a:solidFill>
                <a:srgbClr val="000000"/>
              </a:solidFill>
              <a:latin typeface="Arial"/>
              <a:ea typeface="Arial"/>
              <a:cs typeface="Arial"/>
              <a:sym typeface="Arial"/>
            </a:endParaRPr>
          </a:p>
        </p:txBody>
      </p:sp>
      <p:pic>
        <p:nvPicPr>
          <p:cNvPr id="14683" name="Google Shape;14683;p77"/>
          <p:cNvPicPr preferRelativeResize="0"/>
          <p:nvPr/>
        </p:nvPicPr>
        <p:blipFill rotWithShape="1">
          <a:blip r:embed="rId3">
            <a:alphaModFix amt="16000"/>
          </a:blip>
          <a:srcRect t="47732" r="1614" b="-46968"/>
          <a:stretch/>
        </p:blipFill>
        <p:spPr>
          <a:xfrm rot="-5400000">
            <a:off x="-2103149" y="3538939"/>
            <a:ext cx="5088730" cy="277992"/>
          </a:xfrm>
          <a:prstGeom prst="rect">
            <a:avLst/>
          </a:prstGeom>
          <a:noFill/>
          <a:ln>
            <a:noFill/>
          </a:ln>
        </p:spPr>
      </p:pic>
      <p:sp>
        <p:nvSpPr>
          <p:cNvPr id="14684" name="Google Shape;14684;p77"/>
          <p:cNvSpPr txBox="1"/>
          <p:nvPr/>
        </p:nvSpPr>
        <p:spPr>
          <a:xfrm>
            <a:off x="623575" y="2070122"/>
            <a:ext cx="5543756" cy="1107611"/>
          </a:xfrm>
          <a:prstGeom prst="rect">
            <a:avLst/>
          </a:prstGeom>
          <a:noFill/>
          <a:ln>
            <a:noFill/>
          </a:ln>
        </p:spPr>
        <p:txBody>
          <a:bodyPr spcFirstLastPara="1" wrap="square" lIns="0" tIns="0" rIns="274150" bIns="0" anchor="t" anchorCtr="0">
            <a:normAutofit fontScale="92500" lnSpcReduction="10000"/>
          </a:bodyPr>
          <a:lstStyle/>
          <a:p>
            <a:pPr marL="0" marR="0" lvl="0" indent="0" algn="l" rtl="0">
              <a:lnSpc>
                <a:spcPct val="120000"/>
              </a:lnSpc>
              <a:spcBef>
                <a:spcPts val="0"/>
              </a:spcBef>
              <a:spcAft>
                <a:spcPts val="0"/>
              </a:spcAft>
              <a:buNone/>
            </a:pPr>
            <a:r>
              <a:rPr lang="en-US" sz="1899" b="1">
                <a:solidFill>
                  <a:srgbClr val="005C8A"/>
                </a:solidFill>
                <a:latin typeface="Arial"/>
                <a:ea typeface="Arial"/>
                <a:cs typeface="Arial"/>
                <a:sym typeface="Arial"/>
              </a:rPr>
              <a:t>Accelerate Scalability</a:t>
            </a:r>
            <a:endParaRPr sz="1899">
              <a:solidFill>
                <a:srgbClr val="000000"/>
              </a:solidFill>
              <a:latin typeface="Arial"/>
              <a:ea typeface="Arial"/>
              <a:cs typeface="Arial"/>
              <a:sym typeface="Arial"/>
            </a:endParaRPr>
          </a:p>
          <a:p>
            <a:pPr marL="457063" marR="0" lvl="0" indent="-323753" algn="l" rtl="0">
              <a:spcBef>
                <a:spcPts val="600"/>
              </a:spcBef>
              <a:spcAft>
                <a:spcPts val="0"/>
              </a:spcAft>
              <a:buClr>
                <a:srgbClr val="000000"/>
              </a:buClr>
              <a:buSzPct val="108108"/>
              <a:buFont typeface="Arial"/>
              <a:buChar char="•"/>
            </a:pPr>
            <a:r>
              <a:rPr lang="en-US" sz="1500">
                <a:solidFill>
                  <a:srgbClr val="000000"/>
                </a:solidFill>
                <a:latin typeface="Arial"/>
                <a:ea typeface="Arial"/>
                <a:cs typeface="Arial"/>
                <a:sym typeface="Arial"/>
              </a:rPr>
              <a:t>Install core infrastructure components</a:t>
            </a:r>
            <a:endParaRPr sz="1500">
              <a:solidFill>
                <a:srgbClr val="000000"/>
              </a:solidFill>
              <a:latin typeface="Arial"/>
              <a:ea typeface="Arial"/>
              <a:cs typeface="Arial"/>
              <a:sym typeface="Arial"/>
            </a:endParaRPr>
          </a:p>
          <a:p>
            <a:pPr marL="457063" marR="0" lvl="0" indent="-323753" algn="l" rtl="0">
              <a:spcBef>
                <a:spcPts val="600"/>
              </a:spcBef>
              <a:spcAft>
                <a:spcPts val="0"/>
              </a:spcAft>
              <a:buClr>
                <a:srgbClr val="000000"/>
              </a:buClr>
              <a:buSzPct val="108108"/>
              <a:buFont typeface="Arial"/>
              <a:buChar char="•"/>
            </a:pPr>
            <a:r>
              <a:rPr lang="en-US" sz="1500">
                <a:solidFill>
                  <a:srgbClr val="000000"/>
                </a:solidFill>
                <a:latin typeface="Arial"/>
                <a:ea typeface="Arial"/>
                <a:cs typeface="Arial"/>
                <a:sym typeface="Arial"/>
              </a:rPr>
              <a:t>Scale workloads and upgrade systems</a:t>
            </a:r>
            <a:endParaRPr sz="1500">
              <a:solidFill>
                <a:srgbClr val="000000"/>
              </a:solidFill>
              <a:latin typeface="Arial"/>
              <a:ea typeface="Arial"/>
              <a:cs typeface="Arial"/>
              <a:sym typeface="Arial"/>
            </a:endParaRPr>
          </a:p>
          <a:p>
            <a:pPr marL="457063" marR="0" lvl="0" indent="-323753" algn="l" rtl="0">
              <a:spcBef>
                <a:spcPts val="600"/>
              </a:spcBef>
              <a:spcAft>
                <a:spcPts val="0"/>
              </a:spcAft>
              <a:buClr>
                <a:srgbClr val="000000"/>
              </a:buClr>
              <a:buSzPct val="108108"/>
              <a:buFont typeface="Arial"/>
              <a:buChar char="•"/>
            </a:pPr>
            <a:r>
              <a:rPr lang="en-US" sz="1500">
                <a:solidFill>
                  <a:srgbClr val="000000"/>
                </a:solidFill>
                <a:latin typeface="Arial"/>
                <a:ea typeface="Arial"/>
                <a:cs typeface="Arial"/>
                <a:sym typeface="Arial"/>
              </a:rPr>
              <a:t>Manage the entire environment lifecycle</a:t>
            </a:r>
            <a:endParaRPr sz="1500">
              <a:solidFill>
                <a:srgbClr val="000000"/>
              </a:solidFill>
              <a:latin typeface="Arial"/>
              <a:ea typeface="Arial"/>
              <a:cs typeface="Arial"/>
              <a:sym typeface="Arial"/>
            </a:endParaRPr>
          </a:p>
        </p:txBody>
      </p:sp>
      <p:pic>
        <p:nvPicPr>
          <p:cNvPr id="14685" name="Google Shape;14685;p77"/>
          <p:cNvPicPr preferRelativeResize="0"/>
          <p:nvPr/>
        </p:nvPicPr>
        <p:blipFill rotWithShape="1">
          <a:blip r:embed="rId4">
            <a:alphaModFix/>
          </a:blip>
          <a:srcRect/>
          <a:stretch/>
        </p:blipFill>
        <p:spPr>
          <a:xfrm>
            <a:off x="9879427" y="3924379"/>
            <a:ext cx="1904504" cy="742757"/>
          </a:xfrm>
          <a:prstGeom prst="rect">
            <a:avLst/>
          </a:prstGeom>
          <a:noFill/>
          <a:ln>
            <a:noFill/>
          </a:ln>
        </p:spPr>
      </p:pic>
      <p:pic>
        <p:nvPicPr>
          <p:cNvPr id="14686" name="Google Shape;14686;p77"/>
          <p:cNvPicPr preferRelativeResize="0"/>
          <p:nvPr/>
        </p:nvPicPr>
        <p:blipFill rotWithShape="1">
          <a:blip r:embed="rId5">
            <a:alphaModFix/>
          </a:blip>
          <a:srcRect/>
          <a:stretch/>
        </p:blipFill>
        <p:spPr>
          <a:xfrm>
            <a:off x="10153439" y="1205017"/>
            <a:ext cx="1314108" cy="980820"/>
          </a:xfrm>
          <a:prstGeom prst="rect">
            <a:avLst/>
          </a:prstGeom>
          <a:noFill/>
          <a:ln>
            <a:noFill/>
          </a:ln>
        </p:spPr>
      </p:pic>
      <p:pic>
        <p:nvPicPr>
          <p:cNvPr id="14687" name="Google Shape;14687;p77"/>
          <p:cNvPicPr preferRelativeResize="0"/>
          <p:nvPr/>
        </p:nvPicPr>
        <p:blipFill rotWithShape="1">
          <a:blip r:embed="rId6">
            <a:alphaModFix/>
          </a:blip>
          <a:srcRect/>
          <a:stretch/>
        </p:blipFill>
        <p:spPr>
          <a:xfrm>
            <a:off x="4349581" y="3600601"/>
            <a:ext cx="1399810" cy="1114135"/>
          </a:xfrm>
          <a:prstGeom prst="rect">
            <a:avLst/>
          </a:prstGeom>
          <a:noFill/>
          <a:ln>
            <a:noFill/>
          </a:ln>
        </p:spPr>
      </p:pic>
      <p:grpSp>
        <p:nvGrpSpPr>
          <p:cNvPr id="14688" name="Google Shape;14688;p77"/>
          <p:cNvGrpSpPr/>
          <p:nvPr/>
        </p:nvGrpSpPr>
        <p:grpSpPr>
          <a:xfrm>
            <a:off x="4093198" y="1224318"/>
            <a:ext cx="1598659" cy="1061799"/>
            <a:chOff x="-2637650" y="1943049"/>
            <a:chExt cx="1599075" cy="1062076"/>
          </a:xfrm>
        </p:grpSpPr>
        <p:pic>
          <p:nvPicPr>
            <p:cNvPr id="14689" name="Google Shape;14689;p77"/>
            <p:cNvPicPr preferRelativeResize="0"/>
            <p:nvPr/>
          </p:nvPicPr>
          <p:blipFill rotWithShape="1">
            <a:blip r:embed="rId5">
              <a:alphaModFix/>
            </a:blip>
            <a:srcRect/>
            <a:stretch/>
          </p:blipFill>
          <p:spPr>
            <a:xfrm>
              <a:off x="-2353025" y="2024050"/>
              <a:ext cx="1314450" cy="981075"/>
            </a:xfrm>
            <a:prstGeom prst="rect">
              <a:avLst/>
            </a:prstGeom>
            <a:noFill/>
            <a:ln>
              <a:noFill/>
            </a:ln>
          </p:spPr>
        </p:pic>
        <p:pic>
          <p:nvPicPr>
            <p:cNvPr id="14690" name="Google Shape;14690;p77"/>
            <p:cNvPicPr preferRelativeResize="0"/>
            <p:nvPr/>
          </p:nvPicPr>
          <p:blipFill rotWithShape="1">
            <a:blip r:embed="rId7">
              <a:alphaModFix/>
            </a:blip>
            <a:srcRect/>
            <a:stretch/>
          </p:blipFill>
          <p:spPr>
            <a:xfrm>
              <a:off x="-2637650" y="2024050"/>
              <a:ext cx="758975" cy="597494"/>
            </a:xfrm>
            <a:prstGeom prst="rect">
              <a:avLst/>
            </a:prstGeom>
            <a:noFill/>
            <a:ln>
              <a:noFill/>
            </a:ln>
          </p:spPr>
        </p:pic>
        <p:pic>
          <p:nvPicPr>
            <p:cNvPr id="14691" name="Google Shape;14691;p77"/>
            <p:cNvPicPr preferRelativeResize="0"/>
            <p:nvPr/>
          </p:nvPicPr>
          <p:blipFill rotWithShape="1">
            <a:blip r:embed="rId8">
              <a:alphaModFix/>
            </a:blip>
            <a:srcRect/>
            <a:stretch/>
          </p:blipFill>
          <p:spPr>
            <a:xfrm>
              <a:off x="-2468862" y="1943049"/>
              <a:ext cx="610388" cy="597500"/>
            </a:xfrm>
            <a:prstGeom prst="rect">
              <a:avLst/>
            </a:prstGeom>
            <a:noFill/>
            <a:ln>
              <a:noFill/>
            </a:ln>
          </p:spPr>
        </p:pic>
      </p:grpSp>
      <p:sp>
        <p:nvSpPr>
          <p:cNvPr id="14692" name="Google Shape;14692;p77"/>
          <p:cNvSpPr/>
          <p:nvPr/>
        </p:nvSpPr>
        <p:spPr>
          <a:xfrm>
            <a:off x="6317230" y="3627557"/>
            <a:ext cx="5558992" cy="2594744"/>
          </a:xfrm>
          <a:prstGeom prst="rect">
            <a:avLst/>
          </a:prstGeom>
          <a:solidFill>
            <a:srgbClr val="777777">
              <a:alpha val="50196"/>
            </a:srgbClr>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
        <p:nvSpPr>
          <p:cNvPr id="14693" name="Google Shape;14693;p77"/>
          <p:cNvSpPr/>
          <p:nvPr/>
        </p:nvSpPr>
        <p:spPr>
          <a:xfrm>
            <a:off x="305151" y="1178292"/>
            <a:ext cx="5558992" cy="5088730"/>
          </a:xfrm>
          <a:prstGeom prst="rect">
            <a:avLst/>
          </a:prstGeom>
          <a:solidFill>
            <a:srgbClr val="777777">
              <a:alpha val="50196"/>
            </a:srgbClr>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693"/>
                                        </p:tgtEl>
                                        <p:attrNameLst>
                                          <p:attrName>style.visibility</p:attrName>
                                        </p:attrNameLst>
                                      </p:cBhvr>
                                      <p:to>
                                        <p:strVal val="visible"/>
                                      </p:to>
                                    </p:set>
                                    <p:animEffect transition="in" filter="fade">
                                      <p:cBhvr>
                                        <p:cTn id="7" dur="500"/>
                                        <p:tgtEl>
                                          <p:spTgt spid="14693"/>
                                        </p:tgtEl>
                                      </p:cBhvr>
                                    </p:animEffect>
                                  </p:childTnLst>
                                </p:cTn>
                              </p:par>
                              <p:par>
                                <p:cTn id="8" presetID="10" presetClass="entr" presetSubtype="0" fill="hold" nodeType="withEffect">
                                  <p:stCondLst>
                                    <p:cond delay="0"/>
                                  </p:stCondLst>
                                  <p:childTnLst>
                                    <p:set>
                                      <p:cBhvr>
                                        <p:cTn id="9" dur="1" fill="hold">
                                          <p:stCondLst>
                                            <p:cond delay="0"/>
                                          </p:stCondLst>
                                        </p:cTn>
                                        <p:tgtEl>
                                          <p:spTgt spid="14692"/>
                                        </p:tgtEl>
                                        <p:attrNameLst>
                                          <p:attrName>style.visibility</p:attrName>
                                        </p:attrNameLst>
                                      </p:cBhvr>
                                      <p:to>
                                        <p:strVal val="visible"/>
                                      </p:to>
                                    </p:set>
                                    <p:animEffect transition="in" filter="fade">
                                      <p:cBhvr>
                                        <p:cTn id="10" dur="500"/>
                                        <p:tgtEl>
                                          <p:spTgt spid="146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4698"/>
        <p:cNvGrpSpPr/>
        <p:nvPr/>
      </p:nvGrpSpPr>
      <p:grpSpPr>
        <a:xfrm>
          <a:off x="0" y="0"/>
          <a:ext cx="0" cy="0"/>
          <a:chOff x="0" y="0"/>
          <a:chExt cx="0" cy="0"/>
        </a:xfrm>
      </p:grpSpPr>
      <p:sp>
        <p:nvSpPr>
          <p:cNvPr id="14699" name="Google Shape;14699;p78"/>
          <p:cNvSpPr/>
          <p:nvPr/>
        </p:nvSpPr>
        <p:spPr>
          <a:xfrm>
            <a:off x="417553" y="1601632"/>
            <a:ext cx="7471197" cy="4433174"/>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700" name="Google Shape;14700;p78"/>
          <p:cNvSpPr txBox="1">
            <a:spLocks noGrp="1"/>
          </p:cNvSpPr>
          <p:nvPr>
            <p:ph type="title"/>
          </p:nvPr>
        </p:nvSpPr>
        <p:spPr>
          <a:xfrm>
            <a:off x="584119" y="415108"/>
            <a:ext cx="10992412" cy="380703"/>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Fleet Management – Consolidating Related Activities</a:t>
            </a:r>
            <a:endParaRPr/>
          </a:p>
        </p:txBody>
      </p:sp>
      <p:sp>
        <p:nvSpPr>
          <p:cNvPr id="14701" name="Google Shape;14701;p78"/>
          <p:cNvSpPr txBox="1">
            <a:spLocks noGrp="1"/>
          </p:cNvSpPr>
          <p:nvPr>
            <p:ph type="subTitle" idx="1"/>
          </p:nvPr>
        </p:nvSpPr>
        <p:spPr>
          <a:xfrm>
            <a:off x="597164" y="813875"/>
            <a:ext cx="10954125" cy="247550"/>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Quickly access common fleet management tasks in VCF Operations</a:t>
            </a:r>
            <a:endParaRPr/>
          </a:p>
        </p:txBody>
      </p:sp>
      <p:sp>
        <p:nvSpPr>
          <p:cNvPr id="14702" name="Google Shape;14702;p78"/>
          <p:cNvSpPr txBox="1">
            <a:spLocks noGrp="1"/>
          </p:cNvSpPr>
          <p:nvPr>
            <p:ph type="body" idx="2"/>
          </p:nvPr>
        </p:nvSpPr>
        <p:spPr>
          <a:xfrm>
            <a:off x="8378628" y="1601630"/>
            <a:ext cx="3805437" cy="456842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Fleet Management groups common post-deployment operations with automated workflows to streamline and simplify the management of large environments. </a:t>
            </a:r>
            <a:endParaRPr dirty="0"/>
          </a:p>
          <a:p>
            <a:pPr marL="0" lvl="0" indent="0" algn="l" rtl="0">
              <a:lnSpc>
                <a:spcPct val="100000"/>
              </a:lnSpc>
              <a:spcBef>
                <a:spcPts val="1200"/>
              </a:spcBef>
              <a:spcAft>
                <a:spcPts val="0"/>
              </a:spcAft>
              <a:buSzPts val="1440"/>
              <a:buNone/>
            </a:pPr>
            <a:r>
              <a:rPr lang="en-US" dirty="0"/>
              <a:t>It consolidates access to essential administrative tasks for VCF infrastructure and management components</a:t>
            </a:r>
            <a:endParaRPr dirty="0"/>
          </a:p>
          <a:p>
            <a:pPr marL="0" lvl="0" indent="0" algn="l" rtl="0">
              <a:lnSpc>
                <a:spcPct val="100000"/>
              </a:lnSpc>
              <a:spcBef>
                <a:spcPts val="1200"/>
              </a:spcBef>
              <a:spcAft>
                <a:spcPts val="0"/>
              </a:spcAft>
              <a:buSzPts val="1440"/>
              <a:buNone/>
            </a:pPr>
            <a:r>
              <a:rPr lang="en-US" dirty="0"/>
              <a:t>Now, related activities such as managing certificates and passwords and setting up single sign-on are managed centrally from VCF Operations</a:t>
            </a:r>
            <a:endParaRPr dirty="0"/>
          </a:p>
        </p:txBody>
      </p:sp>
      <p:pic>
        <p:nvPicPr>
          <p:cNvPr id="14703" name="Google Shape;14703;p78"/>
          <p:cNvPicPr preferRelativeResize="0"/>
          <p:nvPr/>
        </p:nvPicPr>
        <p:blipFill rotWithShape="1">
          <a:blip r:embed="rId3">
            <a:alphaModFix/>
          </a:blip>
          <a:srcRect/>
          <a:stretch/>
        </p:blipFill>
        <p:spPr>
          <a:xfrm>
            <a:off x="483915" y="1668365"/>
            <a:ext cx="7302251" cy="4279519"/>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4708"/>
        <p:cNvGrpSpPr/>
        <p:nvPr/>
      </p:nvGrpSpPr>
      <p:grpSpPr>
        <a:xfrm>
          <a:off x="0" y="0"/>
          <a:ext cx="0" cy="0"/>
          <a:chOff x="0" y="0"/>
          <a:chExt cx="0" cy="0"/>
        </a:xfrm>
      </p:grpSpPr>
      <p:sp>
        <p:nvSpPr>
          <p:cNvPr id="14709" name="Google Shape;14709;p79"/>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Consistent, Secure and Compliant Management of VCF Components</a:t>
            </a:r>
            <a:endParaRPr/>
          </a:p>
        </p:txBody>
      </p:sp>
      <p:sp>
        <p:nvSpPr>
          <p:cNvPr id="14710" name="Google Shape;14710;p79"/>
          <p:cNvSpPr txBox="1">
            <a:spLocks noGrp="1"/>
          </p:cNvSpPr>
          <p:nvPr>
            <p:ph type="subTitle" idx="1"/>
          </p:nvPr>
        </p:nvSpPr>
        <p:spPr>
          <a:xfrm>
            <a:off x="592867" y="811831"/>
            <a:ext cx="1096268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Streamlined workflows to set up Identity and Access Management </a:t>
            </a:r>
            <a:endParaRPr/>
          </a:p>
          <a:p>
            <a:pPr marL="0" lvl="0" indent="0" algn="l" rtl="0">
              <a:lnSpc>
                <a:spcPct val="100000"/>
              </a:lnSpc>
              <a:spcBef>
                <a:spcPts val="1200"/>
              </a:spcBef>
              <a:spcAft>
                <a:spcPts val="0"/>
              </a:spcAft>
              <a:buSzPts val="1799"/>
              <a:buNone/>
            </a:pPr>
            <a:endParaRPr/>
          </a:p>
        </p:txBody>
      </p:sp>
      <p:sp>
        <p:nvSpPr>
          <p:cNvPr id="14711" name="Google Shape;14711;p79"/>
          <p:cNvSpPr/>
          <p:nvPr/>
        </p:nvSpPr>
        <p:spPr>
          <a:xfrm>
            <a:off x="582681" y="1999101"/>
            <a:ext cx="10970028" cy="4171672"/>
          </a:xfrm>
          <a:prstGeom prst="roundRect">
            <a:avLst>
              <a:gd name="adj" fmla="val 1819"/>
            </a:avLst>
          </a:prstGeom>
          <a:noFill/>
          <a:ln w="9525" cap="flat" cmpd="sng">
            <a:solidFill>
              <a:srgbClr val="B2B2B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grpSp>
        <p:nvGrpSpPr>
          <p:cNvPr id="14712" name="Google Shape;14712;p79"/>
          <p:cNvGrpSpPr/>
          <p:nvPr/>
        </p:nvGrpSpPr>
        <p:grpSpPr>
          <a:xfrm>
            <a:off x="5762754" y="2128367"/>
            <a:ext cx="15015" cy="3057610"/>
            <a:chOff x="3962805" y="1433601"/>
            <a:chExt cx="15032" cy="4060818"/>
          </a:xfrm>
        </p:grpSpPr>
        <p:sp>
          <p:nvSpPr>
            <p:cNvPr id="14713" name="Google Shape;14713;p79"/>
            <p:cNvSpPr/>
            <p:nvPr/>
          </p:nvSpPr>
          <p:spPr>
            <a:xfrm>
              <a:off x="3962837" y="3463119"/>
              <a:ext cx="15000" cy="2031300"/>
            </a:xfrm>
            <a:prstGeom prst="rect">
              <a:avLst/>
            </a:prstGeom>
            <a:gradFill>
              <a:gsLst>
                <a:gs pos="0">
                  <a:schemeClr val="accent3"/>
                </a:gs>
                <a:gs pos="100000">
                  <a:srgbClr val="0193C2">
                    <a:alpha val="0"/>
                  </a:srgbClr>
                </a:gs>
              </a:gsLst>
              <a:lin ang="5400012" scaled="0"/>
            </a:gra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714" name="Google Shape;14714;p79"/>
            <p:cNvSpPr/>
            <p:nvPr/>
          </p:nvSpPr>
          <p:spPr>
            <a:xfrm rot="10800000">
              <a:off x="3962805" y="1433601"/>
              <a:ext cx="15000" cy="2031300"/>
            </a:xfrm>
            <a:prstGeom prst="rect">
              <a:avLst/>
            </a:prstGeom>
            <a:gradFill>
              <a:gsLst>
                <a:gs pos="0">
                  <a:schemeClr val="accent3"/>
                </a:gs>
                <a:gs pos="100000">
                  <a:srgbClr val="0193C2">
                    <a:alpha val="0"/>
                  </a:srgbClr>
                </a:gs>
              </a:gsLst>
              <a:lin ang="5400012" scaled="0"/>
            </a:gra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sp>
        <p:nvSpPr>
          <p:cNvPr id="14715" name="Google Shape;14715;p79"/>
          <p:cNvSpPr/>
          <p:nvPr/>
        </p:nvSpPr>
        <p:spPr>
          <a:xfrm>
            <a:off x="1474788" y="2386501"/>
            <a:ext cx="2477572" cy="579446"/>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endParaRPr sz="1000">
              <a:solidFill>
                <a:srgbClr val="000000"/>
              </a:solidFill>
              <a:latin typeface="Arial"/>
              <a:ea typeface="Arial"/>
              <a:cs typeface="Arial"/>
              <a:sym typeface="Arial"/>
            </a:endParaRPr>
          </a:p>
          <a:p>
            <a:pPr marL="0" marR="0" lvl="0" indent="0" algn="ctr" rtl="0">
              <a:spcBef>
                <a:spcPts val="0"/>
              </a:spcBef>
              <a:spcAft>
                <a:spcPts val="0"/>
              </a:spcAft>
              <a:buNone/>
            </a:pPr>
            <a:r>
              <a:rPr lang="en-US" sz="1000">
                <a:solidFill>
                  <a:srgbClr val="000000"/>
                </a:solidFill>
                <a:latin typeface="Arial"/>
                <a:ea typeface="Arial"/>
                <a:cs typeface="Arial"/>
                <a:sym typeface="Arial"/>
              </a:rPr>
              <a:t>vCenter</a:t>
            </a:r>
            <a:endParaRPr sz="1000">
              <a:solidFill>
                <a:srgbClr val="000000"/>
              </a:solidFill>
              <a:latin typeface="Arial"/>
              <a:ea typeface="Arial"/>
              <a:cs typeface="Arial"/>
              <a:sym typeface="Arial"/>
            </a:endParaRPr>
          </a:p>
          <a:p>
            <a:pPr marL="0" marR="0" lvl="0" indent="0" algn="ctr" rtl="0">
              <a:spcBef>
                <a:spcPts val="0"/>
              </a:spcBef>
              <a:spcAft>
                <a:spcPts val="0"/>
              </a:spcAft>
              <a:buNone/>
            </a:pPr>
            <a:r>
              <a:rPr lang="en-US" sz="1000">
                <a:solidFill>
                  <a:srgbClr val="000000"/>
                </a:solidFill>
                <a:latin typeface="Arial"/>
                <a:ea typeface="Arial"/>
                <a:cs typeface="Arial"/>
                <a:sym typeface="Arial"/>
              </a:rPr>
              <a:t>NSX</a:t>
            </a:r>
            <a:endParaRPr sz="1000">
              <a:solidFill>
                <a:srgbClr val="000000"/>
              </a:solidFill>
              <a:latin typeface="Arial"/>
              <a:ea typeface="Arial"/>
              <a:cs typeface="Arial"/>
              <a:sym typeface="Arial"/>
            </a:endParaRPr>
          </a:p>
        </p:txBody>
      </p:sp>
      <p:sp>
        <p:nvSpPr>
          <p:cNvPr id="14716" name="Google Shape;14716;p79"/>
          <p:cNvSpPr/>
          <p:nvPr/>
        </p:nvSpPr>
        <p:spPr>
          <a:xfrm>
            <a:off x="1474797" y="3261362"/>
            <a:ext cx="2477572" cy="1299402"/>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endParaRPr sz="1000">
              <a:solidFill>
                <a:srgbClr val="000000"/>
              </a:solidFill>
              <a:latin typeface="Arial"/>
              <a:ea typeface="Arial"/>
              <a:cs typeface="Arial"/>
              <a:sym typeface="Arial"/>
            </a:endParaRPr>
          </a:p>
          <a:p>
            <a:pPr marL="0" marR="0" lvl="0" indent="0" algn="ctr" rtl="0">
              <a:spcBef>
                <a:spcPts val="0"/>
              </a:spcBef>
              <a:spcAft>
                <a:spcPts val="0"/>
              </a:spcAft>
              <a:buNone/>
            </a:pPr>
            <a:r>
              <a:rPr lang="en-US" sz="1000">
                <a:solidFill>
                  <a:srgbClr val="000000"/>
                </a:solidFill>
                <a:latin typeface="Arial"/>
                <a:ea typeface="Arial"/>
                <a:cs typeface="Arial"/>
                <a:sym typeface="Arial"/>
              </a:rPr>
              <a:t>Operations</a:t>
            </a:r>
            <a:endParaRPr sz="1000">
              <a:solidFill>
                <a:srgbClr val="000000"/>
              </a:solidFill>
              <a:latin typeface="Arial"/>
              <a:ea typeface="Arial"/>
              <a:cs typeface="Arial"/>
              <a:sym typeface="Arial"/>
            </a:endParaRPr>
          </a:p>
          <a:p>
            <a:pPr marL="0" marR="0" lvl="0" indent="0" algn="ctr" rtl="0">
              <a:spcBef>
                <a:spcPts val="0"/>
              </a:spcBef>
              <a:spcAft>
                <a:spcPts val="0"/>
              </a:spcAft>
              <a:buNone/>
            </a:pPr>
            <a:r>
              <a:rPr lang="en-US" sz="1000">
                <a:solidFill>
                  <a:srgbClr val="000000"/>
                </a:solidFill>
                <a:latin typeface="Arial"/>
                <a:ea typeface="Arial"/>
                <a:cs typeface="Arial"/>
                <a:sym typeface="Arial"/>
              </a:rPr>
              <a:t>Automation</a:t>
            </a:r>
            <a:endParaRPr sz="1000">
              <a:solidFill>
                <a:srgbClr val="000000"/>
              </a:solidFill>
              <a:latin typeface="Arial"/>
              <a:ea typeface="Arial"/>
              <a:cs typeface="Arial"/>
              <a:sym typeface="Arial"/>
            </a:endParaRPr>
          </a:p>
          <a:p>
            <a:pPr marL="0" marR="0" lvl="0" indent="0" algn="ctr" rtl="0">
              <a:spcBef>
                <a:spcPts val="0"/>
              </a:spcBef>
              <a:spcAft>
                <a:spcPts val="0"/>
              </a:spcAft>
              <a:buNone/>
            </a:pPr>
            <a:r>
              <a:rPr lang="en-US" sz="1000">
                <a:solidFill>
                  <a:srgbClr val="000000"/>
                </a:solidFill>
                <a:latin typeface="Arial"/>
                <a:ea typeface="Arial"/>
                <a:cs typeface="Arial"/>
                <a:sym typeface="Arial"/>
              </a:rPr>
              <a:t>Operations for Logs</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Operations for Networks</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Workload Mobility (HCX)</a:t>
            </a:r>
            <a:endParaRPr/>
          </a:p>
          <a:p>
            <a:pPr marL="0" marR="0" lvl="0" indent="0" algn="ctr" rtl="0">
              <a:spcBef>
                <a:spcPts val="0"/>
              </a:spcBef>
              <a:spcAft>
                <a:spcPts val="0"/>
              </a:spcAft>
              <a:buNone/>
            </a:pPr>
            <a:r>
              <a:rPr lang="en-US" sz="1000">
                <a:solidFill>
                  <a:srgbClr val="000000"/>
                </a:solidFill>
                <a:latin typeface="Arial"/>
                <a:ea typeface="Arial"/>
                <a:cs typeface="Arial"/>
                <a:sym typeface="Arial"/>
              </a:rPr>
              <a:t>Orchestration</a:t>
            </a:r>
            <a:endParaRPr/>
          </a:p>
          <a:p>
            <a:pPr marL="0" marR="0" lvl="0" indent="0" algn="ctr" rtl="0">
              <a:spcBef>
                <a:spcPts val="0"/>
              </a:spcBef>
              <a:spcAft>
                <a:spcPts val="0"/>
              </a:spcAft>
              <a:buNone/>
            </a:pPr>
            <a:endParaRPr sz="1000">
              <a:solidFill>
                <a:srgbClr val="000000"/>
              </a:solidFill>
              <a:latin typeface="Arial"/>
              <a:ea typeface="Arial"/>
              <a:cs typeface="Arial"/>
              <a:sym typeface="Arial"/>
            </a:endParaRPr>
          </a:p>
        </p:txBody>
      </p:sp>
      <p:sp>
        <p:nvSpPr>
          <p:cNvPr id="14717" name="Google Shape;14717;p79"/>
          <p:cNvSpPr txBox="1"/>
          <p:nvPr/>
        </p:nvSpPr>
        <p:spPr>
          <a:xfrm>
            <a:off x="1627150" y="2269551"/>
            <a:ext cx="2151916" cy="241415"/>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1"/>
                </a:solidFill>
                <a:latin typeface="Arial"/>
                <a:ea typeface="Arial"/>
                <a:cs typeface="Arial"/>
                <a:sym typeface="Arial"/>
              </a:rPr>
              <a:t>VCF Instance Components</a:t>
            </a:r>
            <a:endParaRPr sz="1000">
              <a:solidFill>
                <a:srgbClr val="000001"/>
              </a:solidFill>
              <a:latin typeface="Arial"/>
              <a:ea typeface="Arial"/>
              <a:cs typeface="Arial"/>
              <a:sym typeface="Arial"/>
            </a:endParaRPr>
          </a:p>
        </p:txBody>
      </p:sp>
      <p:sp>
        <p:nvSpPr>
          <p:cNvPr id="14718" name="Google Shape;14718;p79"/>
          <p:cNvSpPr txBox="1"/>
          <p:nvPr/>
        </p:nvSpPr>
        <p:spPr>
          <a:xfrm>
            <a:off x="1627150" y="3138815"/>
            <a:ext cx="2151916" cy="247606"/>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1"/>
                </a:solidFill>
                <a:latin typeface="Arial"/>
                <a:ea typeface="Arial"/>
                <a:cs typeface="Arial"/>
                <a:sym typeface="Arial"/>
              </a:rPr>
              <a:t>VCF Management Components</a:t>
            </a:r>
            <a:endParaRPr sz="1000">
              <a:solidFill>
                <a:srgbClr val="000001"/>
              </a:solidFill>
              <a:latin typeface="Arial"/>
              <a:ea typeface="Arial"/>
              <a:cs typeface="Arial"/>
              <a:sym typeface="Arial"/>
            </a:endParaRPr>
          </a:p>
        </p:txBody>
      </p:sp>
      <p:sp>
        <p:nvSpPr>
          <p:cNvPr id="14719" name="Google Shape;14719;p79"/>
          <p:cNvSpPr/>
          <p:nvPr/>
        </p:nvSpPr>
        <p:spPr>
          <a:xfrm>
            <a:off x="7734946" y="2657319"/>
            <a:ext cx="671874" cy="207421"/>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OIDC</a:t>
            </a:r>
            <a:endParaRPr sz="1000">
              <a:solidFill>
                <a:srgbClr val="000000"/>
              </a:solidFill>
              <a:latin typeface="Arial"/>
              <a:ea typeface="Arial"/>
              <a:cs typeface="Arial"/>
              <a:sym typeface="Arial"/>
            </a:endParaRPr>
          </a:p>
        </p:txBody>
      </p:sp>
      <p:sp>
        <p:nvSpPr>
          <p:cNvPr id="14720" name="Google Shape;14720;p79"/>
          <p:cNvSpPr/>
          <p:nvPr/>
        </p:nvSpPr>
        <p:spPr>
          <a:xfrm>
            <a:off x="8554312" y="2657319"/>
            <a:ext cx="671874" cy="207421"/>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SAML</a:t>
            </a:r>
            <a:endParaRPr sz="1000">
              <a:solidFill>
                <a:srgbClr val="000000"/>
              </a:solidFill>
              <a:latin typeface="Arial"/>
              <a:ea typeface="Arial"/>
              <a:cs typeface="Arial"/>
              <a:sym typeface="Arial"/>
            </a:endParaRPr>
          </a:p>
        </p:txBody>
      </p:sp>
      <p:sp>
        <p:nvSpPr>
          <p:cNvPr id="14721" name="Google Shape;14721;p79"/>
          <p:cNvSpPr/>
          <p:nvPr/>
        </p:nvSpPr>
        <p:spPr>
          <a:xfrm>
            <a:off x="7734951" y="3046367"/>
            <a:ext cx="879170" cy="207421"/>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AD/LDAP</a:t>
            </a:r>
            <a:endParaRPr sz="1000">
              <a:solidFill>
                <a:srgbClr val="000000"/>
              </a:solidFill>
              <a:latin typeface="Arial"/>
              <a:ea typeface="Arial"/>
              <a:cs typeface="Arial"/>
              <a:sym typeface="Arial"/>
            </a:endParaRPr>
          </a:p>
        </p:txBody>
      </p:sp>
      <p:sp>
        <p:nvSpPr>
          <p:cNvPr id="14722" name="Google Shape;14722;p79"/>
          <p:cNvSpPr/>
          <p:nvPr/>
        </p:nvSpPr>
        <p:spPr>
          <a:xfrm>
            <a:off x="7757098" y="3873686"/>
            <a:ext cx="671874" cy="207421"/>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JIT</a:t>
            </a:r>
            <a:endParaRPr sz="1000">
              <a:solidFill>
                <a:srgbClr val="000000"/>
              </a:solidFill>
              <a:latin typeface="Arial"/>
              <a:ea typeface="Arial"/>
              <a:cs typeface="Arial"/>
              <a:sym typeface="Arial"/>
            </a:endParaRPr>
          </a:p>
        </p:txBody>
      </p:sp>
      <p:sp>
        <p:nvSpPr>
          <p:cNvPr id="14723" name="Google Shape;14723;p79"/>
          <p:cNvSpPr/>
          <p:nvPr/>
        </p:nvSpPr>
        <p:spPr>
          <a:xfrm>
            <a:off x="7757103" y="4261673"/>
            <a:ext cx="879170" cy="207421"/>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AD/LDAP</a:t>
            </a:r>
            <a:endParaRPr sz="1000">
              <a:solidFill>
                <a:srgbClr val="000000"/>
              </a:solidFill>
              <a:latin typeface="Arial"/>
              <a:ea typeface="Arial"/>
              <a:cs typeface="Arial"/>
              <a:sym typeface="Arial"/>
            </a:endParaRPr>
          </a:p>
        </p:txBody>
      </p:sp>
      <p:sp>
        <p:nvSpPr>
          <p:cNvPr id="14724" name="Google Shape;14724;p79"/>
          <p:cNvSpPr/>
          <p:nvPr/>
        </p:nvSpPr>
        <p:spPr>
          <a:xfrm>
            <a:off x="1515662" y="1726536"/>
            <a:ext cx="3348402" cy="395991"/>
          </a:xfrm>
          <a:prstGeom prst="parallelogram">
            <a:avLst>
              <a:gd name="adj" fmla="val 25000"/>
            </a:avLst>
          </a:prstGeom>
          <a:gradFill>
            <a:gsLst>
              <a:gs pos="0">
                <a:srgbClr val="674EA7"/>
              </a:gs>
              <a:gs pos="100000">
                <a:schemeClr val="accent2"/>
              </a:gs>
            </a:gsLst>
            <a:lin ang="0" scaled="0"/>
          </a:gradFill>
          <a:ln>
            <a:noFill/>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100">
                <a:solidFill>
                  <a:srgbClr val="FFFFFF"/>
                </a:solidFill>
                <a:latin typeface="Arial"/>
                <a:ea typeface="Arial"/>
                <a:cs typeface="Arial"/>
                <a:sym typeface="Arial"/>
              </a:rPr>
              <a:t> One set of roles for all VCF components</a:t>
            </a:r>
            <a:endParaRPr sz="1100">
              <a:solidFill>
                <a:srgbClr val="000000"/>
              </a:solidFill>
              <a:latin typeface="Arial"/>
              <a:ea typeface="Arial"/>
              <a:cs typeface="Arial"/>
              <a:sym typeface="Arial"/>
            </a:endParaRPr>
          </a:p>
        </p:txBody>
      </p:sp>
      <p:sp>
        <p:nvSpPr>
          <p:cNvPr id="14725" name="Google Shape;14725;p79"/>
          <p:cNvSpPr/>
          <p:nvPr/>
        </p:nvSpPr>
        <p:spPr>
          <a:xfrm>
            <a:off x="7576128" y="1726537"/>
            <a:ext cx="3637029" cy="379203"/>
          </a:xfrm>
          <a:prstGeom prst="parallelogram">
            <a:avLst>
              <a:gd name="adj" fmla="val 25000"/>
            </a:avLst>
          </a:prstGeom>
          <a:gradFill>
            <a:gsLst>
              <a:gs pos="0">
                <a:schemeClr val="accent2"/>
              </a:gs>
              <a:gs pos="100000">
                <a:schemeClr val="accent4"/>
              </a:gs>
            </a:gsLst>
            <a:lin ang="0" scaled="0"/>
          </a:gradFill>
          <a:ln>
            <a:noFill/>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100">
                <a:solidFill>
                  <a:srgbClr val="FFFFFF"/>
                </a:solidFill>
                <a:latin typeface="Arial"/>
                <a:ea typeface="Arial"/>
                <a:cs typeface="Arial"/>
                <a:sym typeface="Arial"/>
              </a:rPr>
              <a:t>Secure connectivity to Identity Providers</a:t>
            </a:r>
            <a:endParaRPr sz="1100">
              <a:solidFill>
                <a:srgbClr val="000000"/>
              </a:solidFill>
              <a:latin typeface="Arial"/>
              <a:ea typeface="Arial"/>
              <a:cs typeface="Arial"/>
              <a:sym typeface="Arial"/>
            </a:endParaRPr>
          </a:p>
        </p:txBody>
      </p:sp>
      <p:pic>
        <p:nvPicPr>
          <p:cNvPr id="14726" name="Google Shape;14726;p79"/>
          <p:cNvPicPr preferRelativeResize="0"/>
          <p:nvPr/>
        </p:nvPicPr>
        <p:blipFill rotWithShape="1">
          <a:blip r:embed="rId3">
            <a:alphaModFix/>
          </a:blip>
          <a:srcRect b="14059"/>
          <a:stretch/>
        </p:blipFill>
        <p:spPr>
          <a:xfrm>
            <a:off x="794835" y="1517716"/>
            <a:ext cx="1386342" cy="643740"/>
          </a:xfrm>
          <a:prstGeom prst="rect">
            <a:avLst/>
          </a:prstGeom>
          <a:noFill/>
          <a:ln>
            <a:noFill/>
          </a:ln>
        </p:spPr>
      </p:pic>
      <p:pic>
        <p:nvPicPr>
          <p:cNvPr id="14727" name="Google Shape;14727;p79"/>
          <p:cNvPicPr preferRelativeResize="0"/>
          <p:nvPr/>
        </p:nvPicPr>
        <p:blipFill rotWithShape="1">
          <a:blip r:embed="rId4">
            <a:alphaModFix/>
          </a:blip>
          <a:srcRect/>
          <a:stretch/>
        </p:blipFill>
        <p:spPr>
          <a:xfrm>
            <a:off x="6856977" y="1492799"/>
            <a:ext cx="1499208" cy="749068"/>
          </a:xfrm>
          <a:prstGeom prst="rect">
            <a:avLst/>
          </a:prstGeom>
          <a:noFill/>
          <a:ln>
            <a:noFill/>
          </a:ln>
        </p:spPr>
      </p:pic>
      <p:sp>
        <p:nvSpPr>
          <p:cNvPr id="14728" name="Google Shape;14728;p79"/>
          <p:cNvSpPr/>
          <p:nvPr/>
        </p:nvSpPr>
        <p:spPr>
          <a:xfrm>
            <a:off x="8556565" y="3880303"/>
            <a:ext cx="671874" cy="207421"/>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SCIM</a:t>
            </a:r>
            <a:endParaRPr sz="1000">
              <a:solidFill>
                <a:srgbClr val="000000"/>
              </a:solidFill>
              <a:latin typeface="Arial"/>
              <a:ea typeface="Arial"/>
              <a:cs typeface="Arial"/>
              <a:sym typeface="Arial"/>
            </a:endParaRPr>
          </a:p>
        </p:txBody>
      </p:sp>
      <p:sp>
        <p:nvSpPr>
          <p:cNvPr id="14729" name="Google Shape;14729;p79"/>
          <p:cNvSpPr/>
          <p:nvPr/>
        </p:nvSpPr>
        <p:spPr>
          <a:xfrm>
            <a:off x="5058410" y="3099662"/>
            <a:ext cx="1499203" cy="24059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000">
                <a:solidFill>
                  <a:srgbClr val="000001"/>
                </a:solidFill>
                <a:latin typeface="Arial"/>
                <a:ea typeface="Arial"/>
                <a:cs typeface="Arial"/>
                <a:sym typeface="Arial"/>
              </a:rPr>
              <a:t>Identity Broker </a:t>
            </a:r>
            <a:endParaRPr/>
          </a:p>
        </p:txBody>
      </p:sp>
      <p:grpSp>
        <p:nvGrpSpPr>
          <p:cNvPr id="14730" name="Google Shape;14730;p79"/>
          <p:cNvGrpSpPr/>
          <p:nvPr/>
        </p:nvGrpSpPr>
        <p:grpSpPr>
          <a:xfrm>
            <a:off x="5456788" y="2323792"/>
            <a:ext cx="745135" cy="756217"/>
            <a:chOff x="3966983" y="2953780"/>
            <a:chExt cx="745717" cy="756808"/>
          </a:xfrm>
        </p:grpSpPr>
        <p:sp>
          <p:nvSpPr>
            <p:cNvPr id="14731" name="Google Shape;14731;p79"/>
            <p:cNvSpPr/>
            <p:nvPr/>
          </p:nvSpPr>
          <p:spPr>
            <a:xfrm>
              <a:off x="3966983" y="2953780"/>
              <a:ext cx="702389" cy="70446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grpSp>
          <p:nvGrpSpPr>
            <p:cNvPr id="14732" name="Google Shape;14732;p79"/>
            <p:cNvGrpSpPr/>
            <p:nvPr/>
          </p:nvGrpSpPr>
          <p:grpSpPr>
            <a:xfrm>
              <a:off x="4022873" y="3042022"/>
              <a:ext cx="689827" cy="668566"/>
              <a:chOff x="3057120" y="3613869"/>
              <a:chExt cx="689827" cy="668566"/>
            </a:xfrm>
          </p:grpSpPr>
          <p:sp>
            <p:nvSpPr>
              <p:cNvPr id="14733" name="Google Shape;14733;p79"/>
              <p:cNvSpPr/>
              <p:nvPr/>
            </p:nvSpPr>
            <p:spPr>
              <a:xfrm>
                <a:off x="3057120" y="3613869"/>
                <a:ext cx="506568" cy="501987"/>
              </a:xfrm>
              <a:prstGeom prst="roundRect">
                <a:avLst>
                  <a:gd name="adj" fmla="val 16667"/>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sp>
            <p:nvSpPr>
              <p:cNvPr id="14734" name="Google Shape;14734;p79"/>
              <p:cNvSpPr/>
              <p:nvPr/>
            </p:nvSpPr>
            <p:spPr>
              <a:xfrm>
                <a:off x="3455577" y="3991065"/>
                <a:ext cx="291370" cy="29137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sp>
            <p:nvSpPr>
              <p:cNvPr id="14735" name="Google Shape;14735;p79"/>
              <p:cNvSpPr/>
              <p:nvPr/>
            </p:nvSpPr>
            <p:spPr>
              <a:xfrm>
                <a:off x="3489654" y="4030582"/>
                <a:ext cx="192573" cy="202212"/>
              </a:xfrm>
              <a:custGeom>
                <a:avLst/>
                <a:gdLst/>
                <a:ahLst/>
                <a:cxnLst/>
                <a:rect l="l" t="t" r="r" b="b"/>
                <a:pathLst>
                  <a:path w="388" h="396" extrusionOk="0">
                    <a:moveTo>
                      <a:pt x="350" y="184"/>
                    </a:moveTo>
                    <a:cubicBezTo>
                      <a:pt x="388" y="158"/>
                      <a:pt x="388" y="158"/>
                      <a:pt x="388" y="158"/>
                    </a:cubicBezTo>
                    <a:cubicBezTo>
                      <a:pt x="387" y="155"/>
                      <a:pt x="387" y="155"/>
                      <a:pt x="387" y="155"/>
                    </a:cubicBezTo>
                    <a:cubicBezTo>
                      <a:pt x="386" y="149"/>
                      <a:pt x="384" y="143"/>
                      <a:pt x="382" y="137"/>
                    </a:cubicBezTo>
                    <a:cubicBezTo>
                      <a:pt x="380" y="131"/>
                      <a:pt x="378" y="125"/>
                      <a:pt x="376" y="119"/>
                    </a:cubicBezTo>
                    <a:cubicBezTo>
                      <a:pt x="375" y="117"/>
                      <a:pt x="375" y="117"/>
                      <a:pt x="375" y="117"/>
                    </a:cubicBezTo>
                    <a:cubicBezTo>
                      <a:pt x="329" y="118"/>
                      <a:pt x="329" y="118"/>
                      <a:pt x="329" y="118"/>
                    </a:cubicBezTo>
                    <a:cubicBezTo>
                      <a:pt x="324" y="110"/>
                      <a:pt x="318" y="102"/>
                      <a:pt x="312" y="95"/>
                    </a:cubicBezTo>
                    <a:cubicBezTo>
                      <a:pt x="327" y="51"/>
                      <a:pt x="327" y="51"/>
                      <a:pt x="327" y="51"/>
                    </a:cubicBezTo>
                    <a:cubicBezTo>
                      <a:pt x="325" y="50"/>
                      <a:pt x="325" y="50"/>
                      <a:pt x="325" y="50"/>
                    </a:cubicBezTo>
                    <a:cubicBezTo>
                      <a:pt x="316" y="41"/>
                      <a:pt x="305" y="34"/>
                      <a:pt x="294" y="28"/>
                    </a:cubicBezTo>
                    <a:cubicBezTo>
                      <a:pt x="292" y="26"/>
                      <a:pt x="292" y="26"/>
                      <a:pt x="292" y="26"/>
                    </a:cubicBezTo>
                    <a:cubicBezTo>
                      <a:pt x="256" y="54"/>
                      <a:pt x="256" y="54"/>
                      <a:pt x="256" y="54"/>
                    </a:cubicBezTo>
                    <a:cubicBezTo>
                      <a:pt x="247" y="51"/>
                      <a:pt x="238" y="48"/>
                      <a:pt x="228" y="45"/>
                    </a:cubicBezTo>
                    <a:cubicBezTo>
                      <a:pt x="215" y="1"/>
                      <a:pt x="215" y="1"/>
                      <a:pt x="215" y="1"/>
                    </a:cubicBezTo>
                    <a:cubicBezTo>
                      <a:pt x="213" y="1"/>
                      <a:pt x="213" y="1"/>
                      <a:pt x="213" y="1"/>
                    </a:cubicBezTo>
                    <a:cubicBezTo>
                      <a:pt x="200" y="0"/>
                      <a:pt x="188" y="0"/>
                      <a:pt x="175" y="1"/>
                    </a:cubicBezTo>
                    <a:cubicBezTo>
                      <a:pt x="173" y="1"/>
                      <a:pt x="173" y="1"/>
                      <a:pt x="173" y="1"/>
                    </a:cubicBezTo>
                    <a:cubicBezTo>
                      <a:pt x="160" y="45"/>
                      <a:pt x="160" y="45"/>
                      <a:pt x="160" y="45"/>
                    </a:cubicBezTo>
                    <a:cubicBezTo>
                      <a:pt x="155" y="46"/>
                      <a:pt x="150" y="48"/>
                      <a:pt x="146" y="49"/>
                    </a:cubicBezTo>
                    <a:cubicBezTo>
                      <a:pt x="141" y="51"/>
                      <a:pt x="137" y="52"/>
                      <a:pt x="132" y="54"/>
                    </a:cubicBezTo>
                    <a:cubicBezTo>
                      <a:pt x="96" y="26"/>
                      <a:pt x="96" y="26"/>
                      <a:pt x="96" y="26"/>
                    </a:cubicBezTo>
                    <a:cubicBezTo>
                      <a:pt x="94" y="27"/>
                      <a:pt x="94" y="27"/>
                      <a:pt x="94" y="27"/>
                    </a:cubicBezTo>
                    <a:cubicBezTo>
                      <a:pt x="83" y="34"/>
                      <a:pt x="72" y="41"/>
                      <a:pt x="63" y="50"/>
                    </a:cubicBezTo>
                    <a:cubicBezTo>
                      <a:pt x="61" y="51"/>
                      <a:pt x="61" y="51"/>
                      <a:pt x="61" y="51"/>
                    </a:cubicBezTo>
                    <a:cubicBezTo>
                      <a:pt x="76" y="95"/>
                      <a:pt x="76" y="95"/>
                      <a:pt x="76" y="95"/>
                    </a:cubicBezTo>
                    <a:cubicBezTo>
                      <a:pt x="70" y="102"/>
                      <a:pt x="64" y="110"/>
                      <a:pt x="59" y="118"/>
                    </a:cubicBezTo>
                    <a:cubicBezTo>
                      <a:pt x="14" y="117"/>
                      <a:pt x="14" y="117"/>
                      <a:pt x="14" y="117"/>
                    </a:cubicBezTo>
                    <a:cubicBezTo>
                      <a:pt x="13" y="119"/>
                      <a:pt x="13" y="119"/>
                      <a:pt x="13" y="119"/>
                    </a:cubicBezTo>
                    <a:cubicBezTo>
                      <a:pt x="7" y="131"/>
                      <a:pt x="4" y="143"/>
                      <a:pt x="1" y="155"/>
                    </a:cubicBezTo>
                    <a:cubicBezTo>
                      <a:pt x="0" y="157"/>
                      <a:pt x="0" y="157"/>
                      <a:pt x="0" y="157"/>
                    </a:cubicBezTo>
                    <a:cubicBezTo>
                      <a:pt x="38" y="184"/>
                      <a:pt x="38" y="184"/>
                      <a:pt x="38" y="184"/>
                    </a:cubicBezTo>
                    <a:cubicBezTo>
                      <a:pt x="37" y="193"/>
                      <a:pt x="37" y="203"/>
                      <a:pt x="38" y="212"/>
                    </a:cubicBezTo>
                    <a:cubicBezTo>
                      <a:pt x="0" y="238"/>
                      <a:pt x="0" y="238"/>
                      <a:pt x="0" y="238"/>
                    </a:cubicBezTo>
                    <a:cubicBezTo>
                      <a:pt x="1" y="241"/>
                      <a:pt x="1" y="241"/>
                      <a:pt x="1" y="241"/>
                    </a:cubicBezTo>
                    <a:cubicBezTo>
                      <a:pt x="2" y="247"/>
                      <a:pt x="4" y="253"/>
                      <a:pt x="6" y="259"/>
                    </a:cubicBezTo>
                    <a:cubicBezTo>
                      <a:pt x="8" y="265"/>
                      <a:pt x="10" y="271"/>
                      <a:pt x="12" y="277"/>
                    </a:cubicBezTo>
                    <a:cubicBezTo>
                      <a:pt x="13" y="279"/>
                      <a:pt x="13" y="279"/>
                      <a:pt x="13" y="279"/>
                    </a:cubicBezTo>
                    <a:cubicBezTo>
                      <a:pt x="59" y="278"/>
                      <a:pt x="59" y="278"/>
                      <a:pt x="59" y="278"/>
                    </a:cubicBezTo>
                    <a:cubicBezTo>
                      <a:pt x="64" y="286"/>
                      <a:pt x="70" y="294"/>
                      <a:pt x="76" y="301"/>
                    </a:cubicBezTo>
                    <a:cubicBezTo>
                      <a:pt x="61" y="345"/>
                      <a:pt x="61" y="345"/>
                      <a:pt x="61" y="345"/>
                    </a:cubicBezTo>
                    <a:cubicBezTo>
                      <a:pt x="63" y="346"/>
                      <a:pt x="63" y="346"/>
                      <a:pt x="63" y="346"/>
                    </a:cubicBezTo>
                    <a:cubicBezTo>
                      <a:pt x="72" y="355"/>
                      <a:pt x="83" y="362"/>
                      <a:pt x="94" y="368"/>
                    </a:cubicBezTo>
                    <a:cubicBezTo>
                      <a:pt x="96" y="370"/>
                      <a:pt x="96" y="370"/>
                      <a:pt x="96" y="370"/>
                    </a:cubicBezTo>
                    <a:cubicBezTo>
                      <a:pt x="132" y="342"/>
                      <a:pt x="132" y="342"/>
                      <a:pt x="132" y="342"/>
                    </a:cubicBezTo>
                    <a:cubicBezTo>
                      <a:pt x="141" y="345"/>
                      <a:pt x="150" y="348"/>
                      <a:pt x="160" y="351"/>
                    </a:cubicBezTo>
                    <a:cubicBezTo>
                      <a:pt x="173" y="395"/>
                      <a:pt x="173" y="395"/>
                      <a:pt x="173" y="395"/>
                    </a:cubicBezTo>
                    <a:cubicBezTo>
                      <a:pt x="175" y="395"/>
                      <a:pt x="175" y="395"/>
                      <a:pt x="175" y="395"/>
                    </a:cubicBezTo>
                    <a:cubicBezTo>
                      <a:pt x="188" y="396"/>
                      <a:pt x="200" y="396"/>
                      <a:pt x="213" y="395"/>
                    </a:cubicBezTo>
                    <a:cubicBezTo>
                      <a:pt x="215" y="395"/>
                      <a:pt x="215" y="395"/>
                      <a:pt x="215" y="395"/>
                    </a:cubicBezTo>
                    <a:cubicBezTo>
                      <a:pt x="228" y="351"/>
                      <a:pt x="228" y="351"/>
                      <a:pt x="228" y="351"/>
                    </a:cubicBezTo>
                    <a:cubicBezTo>
                      <a:pt x="233" y="350"/>
                      <a:pt x="238" y="348"/>
                      <a:pt x="242" y="347"/>
                    </a:cubicBezTo>
                    <a:cubicBezTo>
                      <a:pt x="247" y="345"/>
                      <a:pt x="251" y="344"/>
                      <a:pt x="256" y="342"/>
                    </a:cubicBezTo>
                    <a:cubicBezTo>
                      <a:pt x="292" y="370"/>
                      <a:pt x="292" y="370"/>
                      <a:pt x="292" y="370"/>
                    </a:cubicBezTo>
                    <a:cubicBezTo>
                      <a:pt x="294" y="369"/>
                      <a:pt x="294" y="369"/>
                      <a:pt x="294" y="369"/>
                    </a:cubicBezTo>
                    <a:cubicBezTo>
                      <a:pt x="305" y="362"/>
                      <a:pt x="316" y="355"/>
                      <a:pt x="325" y="346"/>
                    </a:cubicBezTo>
                    <a:cubicBezTo>
                      <a:pt x="327" y="345"/>
                      <a:pt x="327" y="345"/>
                      <a:pt x="327" y="345"/>
                    </a:cubicBezTo>
                    <a:cubicBezTo>
                      <a:pt x="312" y="301"/>
                      <a:pt x="312" y="301"/>
                      <a:pt x="312" y="301"/>
                    </a:cubicBezTo>
                    <a:cubicBezTo>
                      <a:pt x="318" y="294"/>
                      <a:pt x="324" y="286"/>
                      <a:pt x="329" y="278"/>
                    </a:cubicBezTo>
                    <a:cubicBezTo>
                      <a:pt x="374" y="279"/>
                      <a:pt x="374" y="279"/>
                      <a:pt x="374" y="279"/>
                    </a:cubicBezTo>
                    <a:cubicBezTo>
                      <a:pt x="375" y="277"/>
                      <a:pt x="375" y="277"/>
                      <a:pt x="375" y="277"/>
                    </a:cubicBezTo>
                    <a:cubicBezTo>
                      <a:pt x="381" y="265"/>
                      <a:pt x="384" y="253"/>
                      <a:pt x="387" y="241"/>
                    </a:cubicBezTo>
                    <a:cubicBezTo>
                      <a:pt x="388" y="239"/>
                      <a:pt x="388" y="239"/>
                      <a:pt x="388" y="239"/>
                    </a:cubicBezTo>
                    <a:cubicBezTo>
                      <a:pt x="350" y="212"/>
                      <a:pt x="350" y="212"/>
                      <a:pt x="350" y="212"/>
                    </a:cubicBezTo>
                    <a:cubicBezTo>
                      <a:pt x="351" y="203"/>
                      <a:pt x="351" y="193"/>
                      <a:pt x="350" y="184"/>
                    </a:cubicBezTo>
                    <a:close/>
                    <a:moveTo>
                      <a:pt x="194" y="329"/>
                    </a:moveTo>
                    <a:cubicBezTo>
                      <a:pt x="122" y="329"/>
                      <a:pt x="63" y="270"/>
                      <a:pt x="63" y="198"/>
                    </a:cubicBezTo>
                    <a:cubicBezTo>
                      <a:pt x="63" y="126"/>
                      <a:pt x="122" y="67"/>
                      <a:pt x="194" y="67"/>
                    </a:cubicBezTo>
                    <a:cubicBezTo>
                      <a:pt x="266" y="67"/>
                      <a:pt x="325" y="126"/>
                      <a:pt x="325" y="198"/>
                    </a:cubicBezTo>
                    <a:cubicBezTo>
                      <a:pt x="325" y="270"/>
                      <a:pt x="266" y="329"/>
                      <a:pt x="194" y="329"/>
                    </a:cubicBezTo>
                    <a:close/>
                  </a:path>
                </a:pathLst>
              </a:custGeom>
              <a:solidFill>
                <a:schemeClr val="accent3"/>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grpSp>
      <p:grpSp>
        <p:nvGrpSpPr>
          <p:cNvPr id="14736" name="Google Shape;14736;p79"/>
          <p:cNvGrpSpPr/>
          <p:nvPr/>
        </p:nvGrpSpPr>
        <p:grpSpPr>
          <a:xfrm>
            <a:off x="5447013" y="3483079"/>
            <a:ext cx="701840" cy="703915"/>
            <a:chOff x="4118878" y="4228866"/>
            <a:chExt cx="702389" cy="704464"/>
          </a:xfrm>
        </p:grpSpPr>
        <p:sp>
          <p:nvSpPr>
            <p:cNvPr id="14737" name="Google Shape;14737;p79"/>
            <p:cNvSpPr/>
            <p:nvPr/>
          </p:nvSpPr>
          <p:spPr>
            <a:xfrm>
              <a:off x="4118878" y="4228866"/>
              <a:ext cx="702389" cy="70446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grpSp>
          <p:nvGrpSpPr>
            <p:cNvPr id="14738" name="Google Shape;14738;p79"/>
            <p:cNvGrpSpPr/>
            <p:nvPr/>
          </p:nvGrpSpPr>
          <p:grpSpPr>
            <a:xfrm>
              <a:off x="4197140" y="4307058"/>
              <a:ext cx="537063" cy="537062"/>
              <a:chOff x="1927143" y="3424110"/>
              <a:chExt cx="917535" cy="917534"/>
            </a:xfrm>
          </p:grpSpPr>
          <p:sp>
            <p:nvSpPr>
              <p:cNvPr id="14739" name="Google Shape;14739;p79"/>
              <p:cNvSpPr/>
              <p:nvPr/>
            </p:nvSpPr>
            <p:spPr>
              <a:xfrm>
                <a:off x="1927143" y="3424110"/>
                <a:ext cx="917535" cy="917534"/>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lnSpc>
                    <a:spcPct val="90000"/>
                  </a:lnSpc>
                  <a:spcBef>
                    <a:spcPts val="0"/>
                  </a:spcBef>
                  <a:spcAft>
                    <a:spcPts val="0"/>
                  </a:spcAft>
                  <a:buNone/>
                </a:pPr>
                <a:endParaRPr sz="1997" b="1">
                  <a:solidFill>
                    <a:srgbClr val="FFFFFF"/>
                  </a:solidFill>
                  <a:latin typeface="Arial"/>
                  <a:ea typeface="Arial"/>
                  <a:cs typeface="Arial"/>
                  <a:sym typeface="Arial"/>
                </a:endParaRPr>
              </a:p>
            </p:txBody>
          </p:sp>
          <p:grpSp>
            <p:nvGrpSpPr>
              <p:cNvPr id="14740" name="Google Shape;14740;p79"/>
              <p:cNvGrpSpPr/>
              <p:nvPr/>
            </p:nvGrpSpPr>
            <p:grpSpPr>
              <a:xfrm>
                <a:off x="2098466" y="3638452"/>
                <a:ext cx="592684" cy="490883"/>
                <a:chOff x="-2963013" y="4146531"/>
                <a:chExt cx="258763" cy="214317"/>
              </a:xfrm>
            </p:grpSpPr>
            <p:sp>
              <p:nvSpPr>
                <p:cNvPr id="14741" name="Google Shape;14741;p79"/>
                <p:cNvSpPr/>
                <p:nvPr/>
              </p:nvSpPr>
              <p:spPr>
                <a:xfrm>
                  <a:off x="-2876550" y="4171950"/>
                  <a:ext cx="49213" cy="52388"/>
                </a:xfrm>
                <a:custGeom>
                  <a:avLst/>
                  <a:gdLst/>
                  <a:ahLst/>
                  <a:cxnLst/>
                  <a:rect l="l" t="t" r="r" b="b"/>
                  <a:pathLst>
                    <a:path w="73" h="79" extrusionOk="0">
                      <a:moveTo>
                        <a:pt x="21" y="74"/>
                      </a:moveTo>
                      <a:cubicBezTo>
                        <a:pt x="21" y="43"/>
                        <a:pt x="46" y="20"/>
                        <a:pt x="69" y="20"/>
                      </a:cubicBezTo>
                      <a:cubicBezTo>
                        <a:pt x="73" y="20"/>
                        <a:pt x="73" y="20"/>
                        <a:pt x="73" y="20"/>
                      </a:cubicBezTo>
                      <a:cubicBezTo>
                        <a:pt x="73" y="0"/>
                        <a:pt x="73" y="0"/>
                        <a:pt x="73" y="0"/>
                      </a:cubicBezTo>
                      <a:cubicBezTo>
                        <a:pt x="69" y="0"/>
                        <a:pt x="69" y="0"/>
                        <a:pt x="69" y="0"/>
                      </a:cubicBezTo>
                      <a:cubicBezTo>
                        <a:pt x="32" y="0"/>
                        <a:pt x="0" y="35"/>
                        <a:pt x="0" y="74"/>
                      </a:cubicBezTo>
                      <a:cubicBezTo>
                        <a:pt x="0" y="79"/>
                        <a:pt x="0" y="79"/>
                        <a:pt x="0" y="79"/>
                      </a:cubicBezTo>
                      <a:cubicBezTo>
                        <a:pt x="21" y="79"/>
                        <a:pt x="21" y="79"/>
                        <a:pt x="21" y="79"/>
                      </a:cubicBezTo>
                      <a:lnTo>
                        <a:pt x="21" y="74"/>
                      </a:ln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742" name="Google Shape;14742;p79"/>
                <p:cNvSpPr/>
                <p:nvPr/>
              </p:nvSpPr>
              <p:spPr>
                <a:xfrm>
                  <a:off x="-2963013" y="4146531"/>
                  <a:ext cx="258763" cy="174624"/>
                </a:xfrm>
                <a:custGeom>
                  <a:avLst/>
                  <a:gdLst/>
                  <a:ahLst/>
                  <a:cxnLst/>
                  <a:rect l="l" t="t" r="r" b="b"/>
                  <a:pathLst>
                    <a:path w="390" h="262" extrusionOk="0">
                      <a:moveTo>
                        <a:pt x="330" y="101"/>
                      </a:moveTo>
                      <a:cubicBezTo>
                        <a:pt x="325" y="69"/>
                        <a:pt x="301" y="48"/>
                        <a:pt x="267" y="47"/>
                      </a:cubicBezTo>
                      <a:cubicBezTo>
                        <a:pt x="247" y="18"/>
                        <a:pt x="214" y="0"/>
                        <a:pt x="177" y="0"/>
                      </a:cubicBezTo>
                      <a:cubicBezTo>
                        <a:pt x="122" y="0"/>
                        <a:pt x="77" y="42"/>
                        <a:pt x="71" y="95"/>
                      </a:cubicBezTo>
                      <a:cubicBezTo>
                        <a:pt x="30" y="101"/>
                        <a:pt x="0" y="136"/>
                        <a:pt x="0" y="178"/>
                      </a:cubicBezTo>
                      <a:cubicBezTo>
                        <a:pt x="0" y="221"/>
                        <a:pt x="33" y="258"/>
                        <a:pt x="76" y="261"/>
                      </a:cubicBezTo>
                      <a:cubicBezTo>
                        <a:pt x="84" y="262"/>
                        <a:pt x="84" y="262"/>
                        <a:pt x="84" y="262"/>
                      </a:cubicBezTo>
                      <a:cubicBezTo>
                        <a:pt x="106" y="262"/>
                        <a:pt x="106" y="262"/>
                        <a:pt x="106" y="262"/>
                      </a:cubicBezTo>
                      <a:cubicBezTo>
                        <a:pt x="106" y="235"/>
                        <a:pt x="106" y="235"/>
                        <a:pt x="106" y="235"/>
                      </a:cubicBezTo>
                      <a:cubicBezTo>
                        <a:pt x="86" y="235"/>
                        <a:pt x="86" y="235"/>
                        <a:pt x="86" y="235"/>
                      </a:cubicBezTo>
                      <a:cubicBezTo>
                        <a:pt x="78" y="235"/>
                        <a:pt x="78" y="235"/>
                        <a:pt x="78" y="235"/>
                      </a:cubicBezTo>
                      <a:cubicBezTo>
                        <a:pt x="49" y="232"/>
                        <a:pt x="26" y="207"/>
                        <a:pt x="26" y="178"/>
                      </a:cubicBezTo>
                      <a:cubicBezTo>
                        <a:pt x="26" y="146"/>
                        <a:pt x="52" y="121"/>
                        <a:pt x="83" y="121"/>
                      </a:cubicBezTo>
                      <a:cubicBezTo>
                        <a:pt x="96" y="121"/>
                        <a:pt x="96" y="121"/>
                        <a:pt x="96" y="121"/>
                      </a:cubicBezTo>
                      <a:cubicBezTo>
                        <a:pt x="96" y="108"/>
                        <a:pt x="96" y="108"/>
                        <a:pt x="96" y="108"/>
                      </a:cubicBezTo>
                      <a:cubicBezTo>
                        <a:pt x="96" y="63"/>
                        <a:pt x="133" y="27"/>
                        <a:pt x="177" y="27"/>
                      </a:cubicBezTo>
                      <a:cubicBezTo>
                        <a:pt x="207" y="27"/>
                        <a:pt x="233" y="42"/>
                        <a:pt x="247" y="67"/>
                      </a:cubicBezTo>
                      <a:cubicBezTo>
                        <a:pt x="251" y="74"/>
                        <a:pt x="251" y="74"/>
                        <a:pt x="251" y="74"/>
                      </a:cubicBezTo>
                      <a:cubicBezTo>
                        <a:pt x="265" y="74"/>
                        <a:pt x="265" y="74"/>
                        <a:pt x="265" y="74"/>
                      </a:cubicBezTo>
                      <a:cubicBezTo>
                        <a:pt x="301" y="74"/>
                        <a:pt x="304" y="104"/>
                        <a:pt x="304" y="113"/>
                      </a:cubicBezTo>
                      <a:cubicBezTo>
                        <a:pt x="304" y="127"/>
                        <a:pt x="304" y="127"/>
                        <a:pt x="304" y="127"/>
                      </a:cubicBezTo>
                      <a:cubicBezTo>
                        <a:pt x="318" y="127"/>
                        <a:pt x="318" y="127"/>
                        <a:pt x="318" y="127"/>
                      </a:cubicBezTo>
                      <a:cubicBezTo>
                        <a:pt x="343" y="127"/>
                        <a:pt x="363" y="149"/>
                        <a:pt x="363" y="178"/>
                      </a:cubicBezTo>
                      <a:cubicBezTo>
                        <a:pt x="363" y="207"/>
                        <a:pt x="340" y="232"/>
                        <a:pt x="311" y="235"/>
                      </a:cubicBezTo>
                      <a:cubicBezTo>
                        <a:pt x="303" y="235"/>
                        <a:pt x="303" y="235"/>
                        <a:pt x="303" y="235"/>
                      </a:cubicBezTo>
                      <a:cubicBezTo>
                        <a:pt x="288" y="235"/>
                        <a:pt x="288" y="235"/>
                        <a:pt x="288" y="235"/>
                      </a:cubicBezTo>
                      <a:cubicBezTo>
                        <a:pt x="288" y="262"/>
                        <a:pt x="288" y="262"/>
                        <a:pt x="288" y="262"/>
                      </a:cubicBezTo>
                      <a:cubicBezTo>
                        <a:pt x="305" y="262"/>
                        <a:pt x="305" y="262"/>
                        <a:pt x="305" y="262"/>
                      </a:cubicBezTo>
                      <a:cubicBezTo>
                        <a:pt x="313" y="261"/>
                        <a:pt x="313" y="261"/>
                        <a:pt x="313" y="261"/>
                      </a:cubicBezTo>
                      <a:cubicBezTo>
                        <a:pt x="356" y="258"/>
                        <a:pt x="390" y="221"/>
                        <a:pt x="390" y="178"/>
                      </a:cubicBezTo>
                      <a:cubicBezTo>
                        <a:pt x="390" y="138"/>
                        <a:pt x="365" y="107"/>
                        <a:pt x="330" y="101"/>
                      </a:cubicBez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743" name="Google Shape;14743;p79"/>
                <p:cNvSpPr/>
                <p:nvPr/>
              </p:nvSpPr>
              <p:spPr>
                <a:xfrm>
                  <a:off x="-2882050" y="4225910"/>
                  <a:ext cx="100013" cy="134938"/>
                </a:xfrm>
                <a:custGeom>
                  <a:avLst/>
                  <a:gdLst/>
                  <a:ahLst/>
                  <a:cxnLst/>
                  <a:rect l="l" t="t" r="r" b="b"/>
                  <a:pathLst>
                    <a:path w="152" h="204" extrusionOk="0">
                      <a:moveTo>
                        <a:pt x="131" y="52"/>
                      </a:moveTo>
                      <a:cubicBezTo>
                        <a:pt x="131" y="23"/>
                        <a:pt x="109" y="0"/>
                        <a:pt x="80" y="0"/>
                      </a:cubicBezTo>
                      <a:cubicBezTo>
                        <a:pt x="73" y="0"/>
                        <a:pt x="73" y="0"/>
                        <a:pt x="73" y="0"/>
                      </a:cubicBezTo>
                      <a:cubicBezTo>
                        <a:pt x="44" y="0"/>
                        <a:pt x="21" y="24"/>
                        <a:pt x="21" y="52"/>
                      </a:cubicBezTo>
                      <a:cubicBezTo>
                        <a:pt x="21" y="80"/>
                        <a:pt x="21" y="80"/>
                        <a:pt x="21" y="80"/>
                      </a:cubicBezTo>
                      <a:cubicBezTo>
                        <a:pt x="0" y="80"/>
                        <a:pt x="0" y="80"/>
                        <a:pt x="0" y="80"/>
                      </a:cubicBezTo>
                      <a:cubicBezTo>
                        <a:pt x="0" y="204"/>
                        <a:pt x="0" y="204"/>
                        <a:pt x="0" y="204"/>
                      </a:cubicBezTo>
                      <a:cubicBezTo>
                        <a:pt x="152" y="204"/>
                        <a:pt x="152" y="204"/>
                        <a:pt x="152" y="204"/>
                      </a:cubicBezTo>
                      <a:cubicBezTo>
                        <a:pt x="152" y="80"/>
                        <a:pt x="152" y="80"/>
                        <a:pt x="152" y="80"/>
                      </a:cubicBezTo>
                      <a:cubicBezTo>
                        <a:pt x="131" y="80"/>
                        <a:pt x="131" y="80"/>
                        <a:pt x="131" y="80"/>
                      </a:cubicBezTo>
                      <a:lnTo>
                        <a:pt x="131" y="52"/>
                      </a:lnTo>
                      <a:close/>
                      <a:moveTo>
                        <a:pt x="85" y="151"/>
                      </a:moveTo>
                      <a:cubicBezTo>
                        <a:pt x="85" y="172"/>
                        <a:pt x="85" y="172"/>
                        <a:pt x="85" y="172"/>
                      </a:cubicBezTo>
                      <a:cubicBezTo>
                        <a:pt x="68" y="172"/>
                        <a:pt x="68" y="172"/>
                        <a:pt x="68" y="172"/>
                      </a:cubicBezTo>
                      <a:cubicBezTo>
                        <a:pt x="68" y="151"/>
                        <a:pt x="68" y="151"/>
                        <a:pt x="68" y="151"/>
                      </a:cubicBezTo>
                      <a:cubicBezTo>
                        <a:pt x="61" y="148"/>
                        <a:pt x="56" y="141"/>
                        <a:pt x="56" y="133"/>
                      </a:cubicBezTo>
                      <a:cubicBezTo>
                        <a:pt x="56" y="122"/>
                        <a:pt x="65" y="113"/>
                        <a:pt x="76" y="113"/>
                      </a:cubicBezTo>
                      <a:cubicBezTo>
                        <a:pt x="87" y="113"/>
                        <a:pt x="96" y="122"/>
                        <a:pt x="96" y="133"/>
                      </a:cubicBezTo>
                      <a:cubicBezTo>
                        <a:pt x="96" y="141"/>
                        <a:pt x="91" y="148"/>
                        <a:pt x="85" y="151"/>
                      </a:cubicBezTo>
                      <a:close/>
                      <a:moveTo>
                        <a:pt x="111" y="80"/>
                      </a:moveTo>
                      <a:cubicBezTo>
                        <a:pt x="42" y="80"/>
                        <a:pt x="42" y="80"/>
                        <a:pt x="42" y="80"/>
                      </a:cubicBezTo>
                      <a:cubicBezTo>
                        <a:pt x="42" y="52"/>
                        <a:pt x="42" y="52"/>
                        <a:pt x="42" y="52"/>
                      </a:cubicBezTo>
                      <a:cubicBezTo>
                        <a:pt x="42" y="35"/>
                        <a:pt x="56" y="21"/>
                        <a:pt x="73" y="21"/>
                      </a:cubicBezTo>
                      <a:cubicBezTo>
                        <a:pt x="80" y="21"/>
                        <a:pt x="80" y="21"/>
                        <a:pt x="80" y="21"/>
                      </a:cubicBezTo>
                      <a:cubicBezTo>
                        <a:pt x="97" y="21"/>
                        <a:pt x="111" y="35"/>
                        <a:pt x="111" y="52"/>
                      </a:cubicBezTo>
                      <a:lnTo>
                        <a:pt x="111" y="80"/>
                      </a:ln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grpSp>
      </p:grpSp>
      <p:sp>
        <p:nvSpPr>
          <p:cNvPr id="14744" name="Google Shape;14744;p79"/>
          <p:cNvSpPr/>
          <p:nvPr/>
        </p:nvSpPr>
        <p:spPr>
          <a:xfrm>
            <a:off x="5052571" y="4285031"/>
            <a:ext cx="1499203" cy="24059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000">
                <a:solidFill>
                  <a:srgbClr val="000001"/>
                </a:solidFill>
                <a:latin typeface="Arial"/>
                <a:ea typeface="Arial"/>
                <a:cs typeface="Arial"/>
                <a:sym typeface="Arial"/>
              </a:rPr>
              <a:t>VCF SSO</a:t>
            </a:r>
            <a:endParaRPr/>
          </a:p>
        </p:txBody>
      </p:sp>
      <p:sp>
        <p:nvSpPr>
          <p:cNvPr id="14745" name="Google Shape;14745;p79"/>
          <p:cNvSpPr/>
          <p:nvPr/>
        </p:nvSpPr>
        <p:spPr>
          <a:xfrm>
            <a:off x="6430620" y="5442948"/>
            <a:ext cx="467305" cy="588358"/>
          </a:xfrm>
          <a:prstGeom prst="roundRect">
            <a:avLst>
              <a:gd name="adj" fmla="val 16667"/>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800">
              <a:solidFill>
                <a:srgbClr val="000001"/>
              </a:solidFill>
              <a:latin typeface="Arial"/>
              <a:ea typeface="Arial"/>
              <a:cs typeface="Arial"/>
              <a:sym typeface="Arial"/>
            </a:endParaRPr>
          </a:p>
          <a:p>
            <a:pPr marL="0" marR="0" lvl="0" indent="0" algn="ctr" rtl="0">
              <a:spcBef>
                <a:spcPts val="0"/>
              </a:spcBef>
              <a:spcAft>
                <a:spcPts val="0"/>
              </a:spcAft>
              <a:buNone/>
            </a:pPr>
            <a:r>
              <a:rPr lang="en-US" sz="800">
                <a:solidFill>
                  <a:srgbClr val="000001"/>
                </a:solidFill>
                <a:latin typeface="Arial"/>
                <a:ea typeface="Arial"/>
                <a:cs typeface="Arial"/>
                <a:sym typeface="Arial"/>
              </a:rPr>
              <a:t>User</a:t>
            </a:r>
            <a:endParaRPr/>
          </a:p>
          <a:p>
            <a:pPr marL="0" marR="0" lvl="0" indent="0" algn="ctr" rtl="0">
              <a:spcBef>
                <a:spcPts val="0"/>
              </a:spcBef>
              <a:spcAft>
                <a:spcPts val="0"/>
              </a:spcAft>
              <a:buNone/>
            </a:pPr>
            <a:endParaRPr sz="1000">
              <a:solidFill>
                <a:srgbClr val="000001"/>
              </a:solidFill>
              <a:latin typeface="Arial"/>
              <a:ea typeface="Arial"/>
              <a:cs typeface="Arial"/>
              <a:sym typeface="Arial"/>
            </a:endParaRPr>
          </a:p>
        </p:txBody>
      </p:sp>
      <p:pic>
        <p:nvPicPr>
          <p:cNvPr id="14746" name="Google Shape;14746;p79" title="Scott.png"/>
          <p:cNvPicPr preferRelativeResize="0"/>
          <p:nvPr/>
        </p:nvPicPr>
        <p:blipFill rotWithShape="1">
          <a:blip r:embed="rId5">
            <a:alphaModFix/>
          </a:blip>
          <a:srcRect/>
          <a:stretch/>
        </p:blipFill>
        <p:spPr>
          <a:xfrm>
            <a:off x="6412380" y="5194270"/>
            <a:ext cx="449762" cy="452760"/>
          </a:xfrm>
          <a:prstGeom prst="rect">
            <a:avLst/>
          </a:prstGeom>
          <a:noFill/>
          <a:ln>
            <a:noFill/>
          </a:ln>
        </p:spPr>
      </p:pic>
      <p:sp>
        <p:nvSpPr>
          <p:cNvPr id="14747" name="Google Shape;14747;p79"/>
          <p:cNvSpPr/>
          <p:nvPr/>
        </p:nvSpPr>
        <p:spPr>
          <a:xfrm>
            <a:off x="6430620" y="5820296"/>
            <a:ext cx="638961" cy="164388"/>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800">
                <a:solidFill>
                  <a:srgbClr val="FFFFFF"/>
                </a:solidFill>
                <a:latin typeface="Arial"/>
                <a:ea typeface="Arial"/>
                <a:cs typeface="Arial"/>
                <a:sym typeface="Arial"/>
              </a:rPr>
              <a:t>VCF Role</a:t>
            </a:r>
            <a:endParaRPr/>
          </a:p>
        </p:txBody>
      </p:sp>
      <p:sp>
        <p:nvSpPr>
          <p:cNvPr id="14748" name="Google Shape;14748;p79"/>
          <p:cNvSpPr/>
          <p:nvPr/>
        </p:nvSpPr>
        <p:spPr>
          <a:xfrm>
            <a:off x="5564281" y="5442947"/>
            <a:ext cx="467306" cy="588357"/>
          </a:xfrm>
          <a:prstGeom prst="roundRect">
            <a:avLst>
              <a:gd name="adj" fmla="val 16667"/>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800">
              <a:solidFill>
                <a:srgbClr val="000001"/>
              </a:solidFill>
              <a:latin typeface="Arial"/>
              <a:ea typeface="Arial"/>
              <a:cs typeface="Arial"/>
              <a:sym typeface="Arial"/>
            </a:endParaRPr>
          </a:p>
          <a:p>
            <a:pPr marL="0" marR="0" lvl="0" indent="0" algn="ctr" rtl="0">
              <a:spcBef>
                <a:spcPts val="0"/>
              </a:spcBef>
              <a:spcAft>
                <a:spcPts val="0"/>
              </a:spcAft>
              <a:buNone/>
            </a:pPr>
            <a:r>
              <a:rPr lang="en-US" sz="800">
                <a:solidFill>
                  <a:srgbClr val="000001"/>
                </a:solidFill>
                <a:latin typeface="Arial"/>
                <a:ea typeface="Arial"/>
                <a:cs typeface="Arial"/>
                <a:sym typeface="Arial"/>
              </a:rPr>
              <a:t>User</a:t>
            </a:r>
            <a:endParaRPr/>
          </a:p>
          <a:p>
            <a:pPr marL="0" marR="0" lvl="0" indent="0" algn="ctr" rtl="0">
              <a:spcBef>
                <a:spcPts val="0"/>
              </a:spcBef>
              <a:spcAft>
                <a:spcPts val="0"/>
              </a:spcAft>
              <a:buNone/>
            </a:pPr>
            <a:endParaRPr sz="1000">
              <a:solidFill>
                <a:srgbClr val="000001"/>
              </a:solidFill>
              <a:latin typeface="Arial"/>
              <a:ea typeface="Arial"/>
              <a:cs typeface="Arial"/>
              <a:sym typeface="Arial"/>
            </a:endParaRPr>
          </a:p>
        </p:txBody>
      </p:sp>
      <p:sp>
        <p:nvSpPr>
          <p:cNvPr id="14749" name="Google Shape;14749;p79"/>
          <p:cNvSpPr/>
          <p:nvPr/>
        </p:nvSpPr>
        <p:spPr>
          <a:xfrm>
            <a:off x="5564283" y="5820296"/>
            <a:ext cx="638961" cy="164388"/>
          </a:xfrm>
          <a:prstGeom prst="rect">
            <a:avLst/>
          </a:prstGeom>
          <a:solidFill>
            <a:srgbClr val="F28A3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800">
                <a:solidFill>
                  <a:srgbClr val="FFFFFF"/>
                </a:solidFill>
                <a:latin typeface="Arial"/>
                <a:ea typeface="Arial"/>
                <a:cs typeface="Arial"/>
                <a:sym typeface="Arial"/>
              </a:rPr>
              <a:t>VCF Role</a:t>
            </a:r>
            <a:endParaRPr/>
          </a:p>
        </p:txBody>
      </p:sp>
      <p:pic>
        <p:nvPicPr>
          <p:cNvPr id="14750" name="Google Shape;14750;p79" title="Anita.png"/>
          <p:cNvPicPr preferRelativeResize="0"/>
          <p:nvPr/>
        </p:nvPicPr>
        <p:blipFill rotWithShape="1">
          <a:blip r:embed="rId6">
            <a:alphaModFix/>
          </a:blip>
          <a:srcRect/>
          <a:stretch/>
        </p:blipFill>
        <p:spPr>
          <a:xfrm>
            <a:off x="5546044" y="5197576"/>
            <a:ext cx="449761" cy="449762"/>
          </a:xfrm>
          <a:prstGeom prst="rect">
            <a:avLst/>
          </a:prstGeom>
          <a:noFill/>
          <a:ln>
            <a:noFill/>
          </a:ln>
        </p:spPr>
      </p:pic>
      <p:sp>
        <p:nvSpPr>
          <p:cNvPr id="14751" name="Google Shape;14751;p79"/>
          <p:cNvSpPr/>
          <p:nvPr/>
        </p:nvSpPr>
        <p:spPr>
          <a:xfrm>
            <a:off x="4677252" y="5442947"/>
            <a:ext cx="467306" cy="588354"/>
          </a:xfrm>
          <a:prstGeom prst="roundRect">
            <a:avLst>
              <a:gd name="adj" fmla="val 16667"/>
            </a:avLst>
          </a:prstGeom>
          <a:solidFill>
            <a:srgbClr val="F2F2F2"/>
          </a:solid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800">
              <a:solidFill>
                <a:srgbClr val="000001"/>
              </a:solidFill>
              <a:latin typeface="Arial"/>
              <a:ea typeface="Arial"/>
              <a:cs typeface="Arial"/>
              <a:sym typeface="Arial"/>
            </a:endParaRPr>
          </a:p>
          <a:p>
            <a:pPr marL="0" marR="0" lvl="0" indent="0" algn="ctr" rtl="0">
              <a:spcBef>
                <a:spcPts val="0"/>
              </a:spcBef>
              <a:spcAft>
                <a:spcPts val="0"/>
              </a:spcAft>
              <a:buNone/>
            </a:pPr>
            <a:r>
              <a:rPr lang="en-US" sz="800">
                <a:solidFill>
                  <a:srgbClr val="000001"/>
                </a:solidFill>
                <a:latin typeface="Arial"/>
                <a:ea typeface="Arial"/>
                <a:cs typeface="Arial"/>
                <a:sym typeface="Arial"/>
              </a:rPr>
              <a:t>User</a:t>
            </a:r>
            <a:endParaRPr/>
          </a:p>
          <a:p>
            <a:pPr marL="0" marR="0" lvl="0" indent="0" algn="ctr" rtl="0">
              <a:spcBef>
                <a:spcPts val="0"/>
              </a:spcBef>
              <a:spcAft>
                <a:spcPts val="0"/>
              </a:spcAft>
              <a:buNone/>
            </a:pPr>
            <a:endParaRPr sz="1000">
              <a:solidFill>
                <a:srgbClr val="000001"/>
              </a:solidFill>
              <a:latin typeface="Arial"/>
              <a:ea typeface="Arial"/>
              <a:cs typeface="Arial"/>
              <a:sym typeface="Arial"/>
            </a:endParaRPr>
          </a:p>
        </p:txBody>
      </p:sp>
      <p:pic>
        <p:nvPicPr>
          <p:cNvPr id="14752" name="Google Shape;14752;p79" title="Scott.png"/>
          <p:cNvPicPr preferRelativeResize="0"/>
          <p:nvPr/>
        </p:nvPicPr>
        <p:blipFill rotWithShape="1">
          <a:blip r:embed="rId5">
            <a:alphaModFix/>
          </a:blip>
          <a:srcRect/>
          <a:stretch/>
        </p:blipFill>
        <p:spPr>
          <a:xfrm>
            <a:off x="4664122" y="5194270"/>
            <a:ext cx="449761" cy="452760"/>
          </a:xfrm>
          <a:prstGeom prst="rect">
            <a:avLst/>
          </a:prstGeom>
          <a:noFill/>
          <a:ln>
            <a:noFill/>
          </a:ln>
        </p:spPr>
      </p:pic>
      <p:sp>
        <p:nvSpPr>
          <p:cNvPr id="14753" name="Google Shape;14753;p79"/>
          <p:cNvSpPr/>
          <p:nvPr/>
        </p:nvSpPr>
        <p:spPr>
          <a:xfrm>
            <a:off x="4682361" y="5820296"/>
            <a:ext cx="650750" cy="164388"/>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800">
                <a:solidFill>
                  <a:srgbClr val="FFFFFF"/>
                </a:solidFill>
                <a:latin typeface="Arial"/>
                <a:ea typeface="Arial"/>
                <a:cs typeface="Arial"/>
                <a:sym typeface="Arial"/>
              </a:rPr>
              <a:t>VCF Role</a:t>
            </a:r>
            <a:endParaRPr/>
          </a:p>
        </p:txBody>
      </p:sp>
      <p:sp>
        <p:nvSpPr>
          <p:cNvPr id="14754" name="Google Shape;14754;p79"/>
          <p:cNvSpPr txBox="1"/>
          <p:nvPr/>
        </p:nvSpPr>
        <p:spPr>
          <a:xfrm>
            <a:off x="7694596" y="5089846"/>
            <a:ext cx="1480403" cy="98437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rgbClr val="1B1D36"/>
                </a:solidFill>
                <a:latin typeface="Arial"/>
                <a:ea typeface="Arial"/>
                <a:cs typeface="Arial"/>
                <a:sym typeface="Arial"/>
              </a:rPr>
              <a:t>VCF Roles (in-built)</a:t>
            </a:r>
            <a:endParaRPr/>
          </a:p>
          <a:p>
            <a:pPr marL="171348" marR="0" lvl="0" indent="-171348" algn="l" rtl="0">
              <a:spcBef>
                <a:spcPts val="0"/>
              </a:spcBef>
              <a:spcAft>
                <a:spcPts val="0"/>
              </a:spcAft>
              <a:buClr>
                <a:srgbClr val="1B1D36"/>
              </a:buClr>
              <a:buSzPts val="1000"/>
              <a:buFont typeface="Arial"/>
              <a:buChar char="•"/>
            </a:pPr>
            <a:r>
              <a:rPr lang="en-US" sz="1000">
                <a:solidFill>
                  <a:srgbClr val="1B1D36"/>
                </a:solidFill>
                <a:latin typeface="Arial"/>
                <a:ea typeface="Arial"/>
                <a:cs typeface="Arial"/>
                <a:sym typeface="Arial"/>
              </a:rPr>
              <a:t>SDDC Viewer</a:t>
            </a:r>
            <a:endParaRPr/>
          </a:p>
          <a:p>
            <a:pPr marL="171348" marR="0" lvl="0" indent="-171348" algn="l" rtl="0">
              <a:spcBef>
                <a:spcPts val="0"/>
              </a:spcBef>
              <a:spcAft>
                <a:spcPts val="0"/>
              </a:spcAft>
              <a:buClr>
                <a:srgbClr val="1B1D36"/>
              </a:buClr>
              <a:buSzPts val="1000"/>
              <a:buFont typeface="Arial"/>
              <a:buChar char="•"/>
            </a:pPr>
            <a:r>
              <a:rPr lang="en-US" sz="1000">
                <a:solidFill>
                  <a:srgbClr val="1B1D36"/>
                </a:solidFill>
                <a:latin typeface="Arial"/>
                <a:ea typeface="Arial"/>
                <a:cs typeface="Arial"/>
                <a:sym typeface="Arial"/>
              </a:rPr>
              <a:t>SDDC Administrator</a:t>
            </a:r>
            <a:endParaRPr/>
          </a:p>
          <a:p>
            <a:pPr marL="171348" marR="0" lvl="0" indent="-171348" algn="l" rtl="0">
              <a:spcBef>
                <a:spcPts val="0"/>
              </a:spcBef>
              <a:spcAft>
                <a:spcPts val="0"/>
              </a:spcAft>
              <a:buClr>
                <a:srgbClr val="1B1D36"/>
              </a:buClr>
              <a:buSzPts val="1000"/>
              <a:buFont typeface="Arial"/>
              <a:buChar char="•"/>
            </a:pPr>
            <a:r>
              <a:rPr lang="en-US" sz="1000">
                <a:solidFill>
                  <a:srgbClr val="1B1D36"/>
                </a:solidFill>
                <a:latin typeface="Arial"/>
                <a:ea typeface="Arial"/>
                <a:cs typeface="Arial"/>
                <a:sym typeface="Arial"/>
              </a:rPr>
              <a:t>VCF Viewer</a:t>
            </a:r>
            <a:endParaRPr/>
          </a:p>
          <a:p>
            <a:pPr marL="171348" marR="0" lvl="0" indent="-171348" algn="l" rtl="0">
              <a:spcBef>
                <a:spcPts val="0"/>
              </a:spcBef>
              <a:spcAft>
                <a:spcPts val="0"/>
              </a:spcAft>
              <a:buClr>
                <a:srgbClr val="1B1D36"/>
              </a:buClr>
              <a:buSzPts val="1000"/>
              <a:buFont typeface="Arial"/>
              <a:buChar char="•"/>
            </a:pPr>
            <a:r>
              <a:rPr lang="en-US" sz="1000">
                <a:solidFill>
                  <a:srgbClr val="1B1D36"/>
                </a:solidFill>
                <a:latin typeface="Arial"/>
                <a:ea typeface="Arial"/>
                <a:cs typeface="Arial"/>
                <a:sym typeface="Arial"/>
              </a:rPr>
              <a:t>VCF Administrator</a:t>
            </a:r>
            <a:br>
              <a:rPr lang="en-US" sz="1000">
                <a:solidFill>
                  <a:srgbClr val="1B1D36"/>
                </a:solidFill>
                <a:latin typeface="Arial"/>
                <a:ea typeface="Arial"/>
                <a:cs typeface="Arial"/>
                <a:sym typeface="Arial"/>
              </a:rPr>
            </a:br>
            <a:endParaRPr sz="400">
              <a:solidFill>
                <a:srgbClr val="1B1D36"/>
              </a:solidFill>
              <a:latin typeface="Arial"/>
              <a:ea typeface="Arial"/>
              <a:cs typeface="Arial"/>
              <a:sym typeface="Arial"/>
            </a:endParaRPr>
          </a:p>
          <a:p>
            <a:pPr marL="0" marR="0" lvl="0" indent="0" algn="l" rtl="0">
              <a:spcBef>
                <a:spcPts val="0"/>
              </a:spcBef>
              <a:spcAft>
                <a:spcPts val="0"/>
              </a:spcAft>
              <a:buNone/>
            </a:pPr>
            <a:r>
              <a:rPr lang="en-US" sz="1000" b="1">
                <a:solidFill>
                  <a:srgbClr val="1B1D36"/>
                </a:solidFill>
                <a:latin typeface="Arial"/>
                <a:ea typeface="Arial"/>
                <a:cs typeface="Arial"/>
                <a:sym typeface="Arial"/>
              </a:rPr>
              <a:t>Custom Roles (optional)</a:t>
            </a:r>
            <a:endParaRPr/>
          </a:p>
        </p:txBody>
      </p:sp>
      <p:sp>
        <p:nvSpPr>
          <p:cNvPr id="14755" name="Google Shape;14755;p79"/>
          <p:cNvSpPr/>
          <p:nvPr/>
        </p:nvSpPr>
        <p:spPr>
          <a:xfrm>
            <a:off x="7571047" y="2405543"/>
            <a:ext cx="3176522" cy="930508"/>
          </a:xfrm>
          <a:prstGeom prst="rect">
            <a:avLst/>
          </a:prstGeom>
          <a:no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endParaRPr sz="1000">
              <a:solidFill>
                <a:srgbClr val="000000"/>
              </a:solidFill>
              <a:latin typeface="Arial"/>
              <a:ea typeface="Arial"/>
              <a:cs typeface="Arial"/>
              <a:sym typeface="Arial"/>
            </a:endParaRPr>
          </a:p>
        </p:txBody>
      </p:sp>
      <p:sp>
        <p:nvSpPr>
          <p:cNvPr id="14756" name="Google Shape;14756;p79"/>
          <p:cNvSpPr txBox="1"/>
          <p:nvPr/>
        </p:nvSpPr>
        <p:spPr>
          <a:xfrm>
            <a:off x="7727830" y="2270306"/>
            <a:ext cx="1894519" cy="247606"/>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1"/>
                </a:solidFill>
                <a:latin typeface="Arial"/>
                <a:ea typeface="Arial"/>
                <a:cs typeface="Arial"/>
                <a:sym typeface="Arial"/>
              </a:rPr>
              <a:t>Identity Providers</a:t>
            </a:r>
            <a:endParaRPr sz="1000">
              <a:solidFill>
                <a:srgbClr val="000001"/>
              </a:solidFill>
              <a:latin typeface="Arial"/>
              <a:ea typeface="Arial"/>
              <a:cs typeface="Arial"/>
              <a:sym typeface="Arial"/>
            </a:endParaRPr>
          </a:p>
        </p:txBody>
      </p:sp>
      <p:sp>
        <p:nvSpPr>
          <p:cNvPr id="14757" name="Google Shape;14757;p79"/>
          <p:cNvSpPr/>
          <p:nvPr/>
        </p:nvSpPr>
        <p:spPr>
          <a:xfrm>
            <a:off x="7570424" y="3612066"/>
            <a:ext cx="3176522" cy="948700"/>
          </a:xfrm>
          <a:prstGeom prst="rect">
            <a:avLst/>
          </a:prstGeom>
          <a:noFill/>
          <a:ln w="9525" cap="flat" cmpd="sng">
            <a:solidFill>
              <a:schemeClr val="dk2"/>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endParaRPr sz="1000">
              <a:solidFill>
                <a:srgbClr val="000000"/>
              </a:solidFill>
              <a:latin typeface="Arial"/>
              <a:ea typeface="Arial"/>
              <a:cs typeface="Arial"/>
              <a:sym typeface="Arial"/>
            </a:endParaRPr>
          </a:p>
        </p:txBody>
      </p:sp>
      <p:sp>
        <p:nvSpPr>
          <p:cNvPr id="14758" name="Google Shape;14758;p79"/>
          <p:cNvSpPr txBox="1"/>
          <p:nvPr/>
        </p:nvSpPr>
        <p:spPr>
          <a:xfrm>
            <a:off x="7727830" y="3479829"/>
            <a:ext cx="1894519" cy="247606"/>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350" tIns="91350" rIns="91350" bIns="91350" anchor="ctr" anchorCtr="0">
            <a:noAutofit/>
          </a:bodyPr>
          <a:lstStyle/>
          <a:p>
            <a:pPr marL="0" marR="0" lvl="0" indent="0" algn="ctr" rtl="0">
              <a:spcBef>
                <a:spcPts val="0"/>
              </a:spcBef>
              <a:spcAft>
                <a:spcPts val="0"/>
              </a:spcAft>
              <a:buNone/>
            </a:pPr>
            <a:r>
              <a:rPr lang="en-US" sz="1000">
                <a:solidFill>
                  <a:srgbClr val="000001"/>
                </a:solidFill>
                <a:latin typeface="Arial"/>
                <a:ea typeface="Arial"/>
                <a:cs typeface="Arial"/>
                <a:sym typeface="Arial"/>
              </a:rPr>
              <a:t>User/Group Provisioning</a:t>
            </a:r>
            <a:endParaRPr sz="1000">
              <a:solidFill>
                <a:srgbClr val="000001"/>
              </a:solidFill>
              <a:latin typeface="Arial"/>
              <a:ea typeface="Arial"/>
              <a:cs typeface="Arial"/>
              <a:sym typeface="Arial"/>
            </a:endParaRPr>
          </a:p>
        </p:txBody>
      </p:sp>
      <p:sp>
        <p:nvSpPr>
          <p:cNvPr id="14759" name="Google Shape;14759;p79"/>
          <p:cNvSpPr/>
          <p:nvPr/>
        </p:nvSpPr>
        <p:spPr>
          <a:xfrm>
            <a:off x="1118358" y="4714596"/>
            <a:ext cx="9857069" cy="232289"/>
          </a:xfrm>
          <a:prstGeom prst="roundRect">
            <a:avLst>
              <a:gd name="adj" fmla="val 9009"/>
            </a:avLst>
          </a:prstGeom>
          <a:gradFill>
            <a:gsLst>
              <a:gs pos="0">
                <a:srgbClr val="6C4B93"/>
              </a:gs>
              <a:gs pos="4000">
                <a:srgbClr val="6C4B93"/>
              </a:gs>
              <a:gs pos="54000">
                <a:srgbClr val="0098C7"/>
              </a:gs>
              <a:gs pos="100000">
                <a:srgbClr val="61A60E"/>
              </a:gs>
            </a:gsLst>
            <a:lin ang="19200160" scaled="0"/>
          </a:gradFill>
          <a:ln>
            <a:noFill/>
          </a:ln>
        </p:spPr>
        <p:txBody>
          <a:bodyPr spcFirstLastPara="1" wrap="square" lIns="0" tIns="45650" rIns="0" bIns="45650" anchor="ctr" anchorCtr="0">
            <a:noAutofit/>
          </a:bodyPr>
          <a:lstStyle/>
          <a:p>
            <a:pPr marL="0" marR="0" lvl="0" indent="0" algn="ctr" rtl="0">
              <a:spcBef>
                <a:spcPts val="0"/>
              </a:spcBef>
              <a:spcAft>
                <a:spcPts val="0"/>
              </a:spcAft>
              <a:buNone/>
            </a:pPr>
            <a:endParaRPr sz="1600">
              <a:solidFill>
                <a:srgbClr val="000000"/>
              </a:solidFill>
              <a:latin typeface="Arial"/>
              <a:ea typeface="Arial"/>
              <a:cs typeface="Arial"/>
              <a:sym typeface="Arial"/>
            </a:endParaRPr>
          </a:p>
        </p:txBody>
      </p:sp>
      <p:sp>
        <p:nvSpPr>
          <p:cNvPr id="14760" name="Google Shape;14760;p79"/>
          <p:cNvSpPr txBox="1"/>
          <p:nvPr/>
        </p:nvSpPr>
        <p:spPr>
          <a:xfrm>
            <a:off x="2336632" y="4664869"/>
            <a:ext cx="4038499" cy="435374"/>
          </a:xfrm>
          <a:prstGeom prst="rect">
            <a:avLst/>
          </a:prstGeom>
          <a:noFill/>
          <a:ln>
            <a:noFill/>
          </a:ln>
        </p:spPr>
        <p:txBody>
          <a:bodyPr spcFirstLastPara="1" wrap="square" lIns="91375" tIns="91375" rIns="91375" bIns="91375" anchor="t" anchorCtr="0">
            <a:noAutofit/>
          </a:bodyPr>
          <a:lstStyle/>
          <a:p>
            <a:pPr marL="0" marR="0" lvl="0" indent="0" algn="ctr" rtl="0">
              <a:spcBef>
                <a:spcPts val="0"/>
              </a:spcBef>
              <a:spcAft>
                <a:spcPts val="0"/>
              </a:spcAft>
              <a:buNone/>
            </a:pPr>
            <a:r>
              <a:rPr lang="en-US" sz="1300">
                <a:solidFill>
                  <a:srgbClr val="FFFFFF"/>
                </a:solidFill>
                <a:latin typeface="Calibri"/>
                <a:ea typeface="Calibri"/>
                <a:cs typeface="Calibri"/>
                <a:sym typeface="Calibri"/>
              </a:rPr>
              <a:t>VCF Identity and Access Management</a:t>
            </a:r>
            <a:endParaRPr sz="1600">
              <a:solidFill>
                <a:srgbClr val="000000"/>
              </a:solidFill>
              <a:latin typeface="Calibri"/>
              <a:ea typeface="Calibri"/>
              <a:cs typeface="Calibri"/>
              <a:sym typeface="Calibri"/>
            </a:endParaRPr>
          </a:p>
          <a:p>
            <a:pPr marL="0" marR="0" lvl="0" indent="0" algn="l" rtl="0">
              <a:spcBef>
                <a:spcPts val="0"/>
              </a:spcBef>
              <a:spcAft>
                <a:spcPts val="0"/>
              </a:spcAft>
              <a:buNone/>
            </a:pPr>
            <a:endParaRPr sz="1998">
              <a:solidFill>
                <a:srgbClr val="000000"/>
              </a:solidFill>
              <a:latin typeface="Calibri"/>
              <a:ea typeface="Calibri"/>
              <a:cs typeface="Calibri"/>
              <a:sym typeface="Calibri"/>
            </a:endParaRPr>
          </a:p>
        </p:txBody>
      </p:sp>
      <p:pic>
        <p:nvPicPr>
          <p:cNvPr id="14761" name="Google Shape;14761;p79"/>
          <p:cNvPicPr preferRelativeResize="0"/>
          <p:nvPr/>
        </p:nvPicPr>
        <p:blipFill rotWithShape="1">
          <a:blip r:embed="rId7">
            <a:alphaModFix/>
          </a:blip>
          <a:srcRect l="49060"/>
          <a:stretch/>
        </p:blipFill>
        <p:spPr>
          <a:xfrm>
            <a:off x="3058710" y="5278840"/>
            <a:ext cx="189240" cy="185755"/>
          </a:xfrm>
          <a:prstGeom prst="rect">
            <a:avLst/>
          </a:prstGeom>
          <a:noFill/>
          <a:ln>
            <a:noFill/>
          </a:ln>
        </p:spPr>
      </p:pic>
      <p:pic>
        <p:nvPicPr>
          <p:cNvPr id="14762" name="Google Shape;14762;p79"/>
          <p:cNvPicPr preferRelativeResize="0"/>
          <p:nvPr/>
        </p:nvPicPr>
        <p:blipFill rotWithShape="1">
          <a:blip r:embed="rId7">
            <a:alphaModFix/>
          </a:blip>
          <a:srcRect l="49060"/>
          <a:stretch/>
        </p:blipFill>
        <p:spPr>
          <a:xfrm>
            <a:off x="3414491" y="5340286"/>
            <a:ext cx="189240" cy="185755"/>
          </a:xfrm>
          <a:prstGeom prst="rect">
            <a:avLst/>
          </a:prstGeom>
          <a:noFill/>
          <a:ln>
            <a:noFill/>
          </a:ln>
        </p:spPr>
      </p:pic>
      <p:pic>
        <p:nvPicPr>
          <p:cNvPr id="14763" name="Google Shape;14763;p79"/>
          <p:cNvPicPr preferRelativeResize="0"/>
          <p:nvPr/>
        </p:nvPicPr>
        <p:blipFill rotWithShape="1">
          <a:blip r:embed="rId7">
            <a:alphaModFix/>
          </a:blip>
          <a:srcRect l="49060"/>
          <a:stretch/>
        </p:blipFill>
        <p:spPr>
          <a:xfrm>
            <a:off x="3247465" y="5181730"/>
            <a:ext cx="189240" cy="185755"/>
          </a:xfrm>
          <a:prstGeom prst="rect">
            <a:avLst/>
          </a:prstGeom>
          <a:noFill/>
          <a:ln>
            <a:noFill/>
          </a:ln>
        </p:spPr>
      </p:pic>
      <p:sp>
        <p:nvSpPr>
          <p:cNvPr id="14764" name="Google Shape;14764;p79"/>
          <p:cNvSpPr txBox="1"/>
          <p:nvPr/>
        </p:nvSpPr>
        <p:spPr>
          <a:xfrm>
            <a:off x="2407655" y="5608176"/>
            <a:ext cx="1820526" cy="307617"/>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000" b="1">
                <a:solidFill>
                  <a:srgbClr val="1B1D36"/>
                </a:solidFill>
                <a:latin typeface="Arial"/>
                <a:ea typeface="Arial"/>
                <a:cs typeface="Arial"/>
                <a:sym typeface="Arial"/>
              </a:rPr>
              <a:t>API Client</a:t>
            </a:r>
            <a:endParaRPr/>
          </a:p>
          <a:p>
            <a:pPr marL="0" marR="0" lvl="0" indent="0" algn="ctr" rtl="0">
              <a:spcBef>
                <a:spcPts val="0"/>
              </a:spcBef>
              <a:spcAft>
                <a:spcPts val="0"/>
              </a:spcAft>
              <a:buNone/>
            </a:pPr>
            <a:r>
              <a:rPr lang="en-US" sz="1000">
                <a:solidFill>
                  <a:srgbClr val="1B1D36"/>
                </a:solidFill>
                <a:latin typeface="Arial"/>
                <a:ea typeface="Arial"/>
                <a:cs typeface="Arial"/>
                <a:sym typeface="Arial"/>
              </a:rPr>
              <a:t>Oauth API token access</a:t>
            </a:r>
            <a:endParaRPr/>
          </a:p>
        </p:txBody>
      </p:sp>
      <p:sp>
        <p:nvSpPr>
          <p:cNvPr id="14765" name="Google Shape;14765;p79"/>
          <p:cNvSpPr/>
          <p:nvPr/>
        </p:nvSpPr>
        <p:spPr>
          <a:xfrm>
            <a:off x="5574078" y="2419822"/>
            <a:ext cx="394554" cy="394554"/>
          </a:xfrm>
          <a:prstGeom prst="rect">
            <a:avLst/>
          </a:prstGeom>
          <a:noFill/>
          <a:ln>
            <a:noFill/>
          </a:ln>
        </p:spPr>
        <p:txBody>
          <a:bodyPr/>
          <a:lstStyle/>
          <a:p>
            <a:endParaRPr lang="en-US"/>
          </a:p>
        </p:txBody>
      </p:sp>
      <p:pic>
        <p:nvPicPr>
          <p:cNvPr id="14766" name="Google Shape;14766;p79"/>
          <p:cNvPicPr preferRelativeResize="0"/>
          <p:nvPr/>
        </p:nvPicPr>
        <p:blipFill rotWithShape="1">
          <a:blip r:embed="rId8">
            <a:alphaModFix/>
          </a:blip>
          <a:srcRect/>
          <a:stretch/>
        </p:blipFill>
        <p:spPr>
          <a:xfrm>
            <a:off x="10295991" y="2760293"/>
            <a:ext cx="363780" cy="121880"/>
          </a:xfrm>
          <a:prstGeom prst="rect">
            <a:avLst/>
          </a:prstGeom>
          <a:noFill/>
          <a:ln>
            <a:noFill/>
          </a:ln>
        </p:spPr>
      </p:pic>
      <p:pic>
        <p:nvPicPr>
          <p:cNvPr id="14767" name="Google Shape;14767;p79"/>
          <p:cNvPicPr preferRelativeResize="0"/>
          <p:nvPr/>
        </p:nvPicPr>
        <p:blipFill rotWithShape="1">
          <a:blip r:embed="rId9">
            <a:alphaModFix/>
          </a:blip>
          <a:srcRect/>
          <a:stretch/>
        </p:blipFill>
        <p:spPr>
          <a:xfrm>
            <a:off x="10395133" y="2970088"/>
            <a:ext cx="274178" cy="274194"/>
          </a:xfrm>
          <a:prstGeom prst="rect">
            <a:avLst/>
          </a:prstGeom>
          <a:noFill/>
          <a:ln>
            <a:noFill/>
          </a:ln>
        </p:spPr>
      </p:pic>
      <p:pic>
        <p:nvPicPr>
          <p:cNvPr id="14768" name="Google Shape;14768;p79"/>
          <p:cNvPicPr preferRelativeResize="0"/>
          <p:nvPr/>
        </p:nvPicPr>
        <p:blipFill rotWithShape="1">
          <a:blip r:embed="rId10">
            <a:alphaModFix/>
          </a:blip>
          <a:srcRect l="18570" t="22241" r="22550" b="26239"/>
          <a:stretch/>
        </p:blipFill>
        <p:spPr>
          <a:xfrm>
            <a:off x="9711302" y="2986232"/>
            <a:ext cx="569698" cy="293509"/>
          </a:xfrm>
          <a:prstGeom prst="rect">
            <a:avLst/>
          </a:prstGeom>
          <a:noFill/>
          <a:ln>
            <a:noFill/>
          </a:ln>
        </p:spPr>
      </p:pic>
      <p:pic>
        <p:nvPicPr>
          <p:cNvPr id="14769" name="Google Shape;14769;p79"/>
          <p:cNvPicPr preferRelativeResize="0"/>
          <p:nvPr/>
        </p:nvPicPr>
        <p:blipFill rotWithShape="1">
          <a:blip r:embed="rId11">
            <a:alphaModFix/>
          </a:blip>
          <a:srcRect/>
          <a:stretch/>
        </p:blipFill>
        <p:spPr>
          <a:xfrm>
            <a:off x="9633294" y="2632317"/>
            <a:ext cx="434466" cy="434438"/>
          </a:xfrm>
          <a:prstGeom prst="rect">
            <a:avLst/>
          </a:prstGeom>
          <a:noFill/>
          <a:ln>
            <a:noFill/>
          </a:ln>
        </p:spPr>
      </p:pic>
      <p:pic>
        <p:nvPicPr>
          <p:cNvPr id="14770" name="Google Shape;14770;p79"/>
          <p:cNvPicPr preferRelativeResize="0"/>
          <p:nvPr/>
        </p:nvPicPr>
        <p:blipFill rotWithShape="1">
          <a:blip r:embed="rId12">
            <a:alphaModFix/>
          </a:blip>
          <a:srcRect/>
          <a:stretch/>
        </p:blipFill>
        <p:spPr>
          <a:xfrm>
            <a:off x="10067759" y="2471026"/>
            <a:ext cx="286743" cy="285602"/>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4775"/>
        <p:cNvGrpSpPr/>
        <p:nvPr/>
      </p:nvGrpSpPr>
      <p:grpSpPr>
        <a:xfrm>
          <a:off x="0" y="0"/>
          <a:ext cx="0" cy="0"/>
          <a:chOff x="0" y="0"/>
          <a:chExt cx="0" cy="0"/>
        </a:xfrm>
      </p:grpSpPr>
      <p:sp>
        <p:nvSpPr>
          <p:cNvPr id="14776" name="Google Shape;14776;p80"/>
          <p:cNvSpPr txBox="1">
            <a:spLocks noGrp="1"/>
          </p:cNvSpPr>
          <p:nvPr>
            <p:ph type="title"/>
          </p:nvPr>
        </p:nvSpPr>
        <p:spPr>
          <a:xfrm>
            <a:off x="584119" y="415108"/>
            <a:ext cx="10992412" cy="380703"/>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Centralized Certificate Management</a:t>
            </a:r>
            <a:endParaRPr/>
          </a:p>
        </p:txBody>
      </p:sp>
      <p:sp>
        <p:nvSpPr>
          <p:cNvPr id="14777" name="Google Shape;14777;p80"/>
          <p:cNvSpPr txBox="1">
            <a:spLocks noGrp="1"/>
          </p:cNvSpPr>
          <p:nvPr>
            <p:ph type="subTitle" idx="1"/>
          </p:nvPr>
        </p:nvSpPr>
        <p:spPr>
          <a:xfrm>
            <a:off x="597164" y="813875"/>
            <a:ext cx="10954125" cy="247550"/>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Non-disruptive certificate updates for VCF infrastructure and management components</a:t>
            </a:r>
            <a:endParaRPr/>
          </a:p>
          <a:p>
            <a:pPr marL="0" lvl="0" indent="0" algn="l" rtl="0">
              <a:lnSpc>
                <a:spcPct val="100000"/>
              </a:lnSpc>
              <a:spcBef>
                <a:spcPts val="1200"/>
              </a:spcBef>
              <a:spcAft>
                <a:spcPts val="0"/>
              </a:spcAft>
              <a:buSzPts val="1799"/>
              <a:buNone/>
            </a:pPr>
            <a:endParaRPr/>
          </a:p>
        </p:txBody>
      </p:sp>
      <p:sp>
        <p:nvSpPr>
          <p:cNvPr id="14778" name="Google Shape;14778;p80"/>
          <p:cNvSpPr txBox="1">
            <a:spLocks noGrp="1"/>
          </p:cNvSpPr>
          <p:nvPr>
            <p:ph type="body" idx="2"/>
          </p:nvPr>
        </p:nvSpPr>
        <p:spPr>
          <a:xfrm>
            <a:off x="8378628" y="1601631"/>
            <a:ext cx="3805437" cy="3782278"/>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One interface to bulk manage certificates for VCF Infrastructure &amp; Management components</a:t>
            </a:r>
            <a:endParaRPr dirty="0"/>
          </a:p>
          <a:p>
            <a:pPr marL="0" lvl="0" indent="0" algn="l" rtl="0">
              <a:lnSpc>
                <a:spcPct val="100000"/>
              </a:lnSpc>
              <a:spcBef>
                <a:spcPts val="1200"/>
              </a:spcBef>
              <a:spcAft>
                <a:spcPts val="0"/>
              </a:spcAft>
              <a:buSzPts val="1440"/>
              <a:buNone/>
            </a:pPr>
            <a:r>
              <a:rPr lang="en-US" dirty="0"/>
              <a:t>Configure a Microsoft, Open SSL or external CA across a VCF Fleet</a:t>
            </a:r>
            <a:endParaRPr dirty="0"/>
          </a:p>
          <a:p>
            <a:pPr marL="0" lvl="0" indent="0" algn="l" rtl="0">
              <a:lnSpc>
                <a:spcPct val="100000"/>
              </a:lnSpc>
              <a:spcBef>
                <a:spcPts val="1200"/>
              </a:spcBef>
              <a:spcAft>
                <a:spcPts val="0"/>
              </a:spcAft>
              <a:buSzPts val="1440"/>
              <a:buNone/>
            </a:pPr>
            <a:r>
              <a:rPr lang="en-US" dirty="0"/>
              <a:t>Activate Automatic renewal</a:t>
            </a:r>
            <a:endParaRPr dirty="0"/>
          </a:p>
          <a:p>
            <a:pPr marL="0" lvl="0" indent="0" algn="l" rtl="0">
              <a:lnSpc>
                <a:spcPct val="100000"/>
              </a:lnSpc>
              <a:spcBef>
                <a:spcPts val="1200"/>
              </a:spcBef>
              <a:spcAft>
                <a:spcPts val="0"/>
              </a:spcAft>
              <a:buSzPts val="1440"/>
              <a:buNone/>
            </a:pPr>
            <a:r>
              <a:rPr lang="en-US" dirty="0"/>
              <a:t>Inbuilt alerting out of the box</a:t>
            </a:r>
            <a:endParaRPr dirty="0"/>
          </a:p>
          <a:p>
            <a:pPr marL="0" lvl="0" indent="0" algn="l" rtl="0">
              <a:lnSpc>
                <a:spcPct val="100000"/>
              </a:lnSpc>
              <a:spcBef>
                <a:spcPts val="1200"/>
              </a:spcBef>
              <a:spcAft>
                <a:spcPts val="0"/>
              </a:spcAft>
              <a:buSzPts val="1440"/>
              <a:buNone/>
            </a:pPr>
            <a:r>
              <a:rPr lang="en-US" dirty="0"/>
              <a:t>Expanded support for standalone vCenter 8.0 U3 and VCF 5.2 BOM</a:t>
            </a:r>
            <a:endParaRPr dirty="0"/>
          </a:p>
          <a:p>
            <a:pPr marL="0" lvl="0" indent="0" algn="l" rtl="0">
              <a:lnSpc>
                <a:spcPct val="100000"/>
              </a:lnSpc>
              <a:spcBef>
                <a:spcPts val="1200"/>
              </a:spcBef>
              <a:spcAft>
                <a:spcPts val="0"/>
              </a:spcAft>
              <a:buSzPts val="1440"/>
              <a:buNone/>
            </a:pPr>
            <a:r>
              <a:rPr lang="en-US" dirty="0"/>
              <a:t>APIs for 3rd party integration</a:t>
            </a:r>
            <a:endParaRPr dirty="0"/>
          </a:p>
          <a:p>
            <a:pPr marL="0" lvl="0" indent="0" algn="l" rtl="0">
              <a:lnSpc>
                <a:spcPct val="100000"/>
              </a:lnSpc>
              <a:spcBef>
                <a:spcPts val="1200"/>
              </a:spcBef>
              <a:spcAft>
                <a:spcPts val="0"/>
              </a:spcAft>
              <a:buSzPts val="1440"/>
              <a:buNone/>
            </a:pPr>
            <a:r>
              <a:rPr lang="en-US" dirty="0"/>
              <a:t>Track expiry of intermediate CA certificates for vCenter and ESX</a:t>
            </a:r>
            <a:endParaRPr dirty="0"/>
          </a:p>
          <a:p>
            <a:pPr marL="0" lvl="0" indent="0" algn="l" rtl="0">
              <a:lnSpc>
                <a:spcPct val="100000"/>
              </a:lnSpc>
              <a:spcBef>
                <a:spcPts val="1200"/>
              </a:spcBef>
              <a:spcAft>
                <a:spcPts val="0"/>
              </a:spcAft>
              <a:buSzPts val="1440"/>
              <a:buNone/>
            </a:pPr>
            <a:endParaRPr dirty="0"/>
          </a:p>
        </p:txBody>
      </p:sp>
      <p:sp>
        <p:nvSpPr>
          <p:cNvPr id="14779" name="Google Shape;14779;p80"/>
          <p:cNvSpPr/>
          <p:nvPr/>
        </p:nvSpPr>
        <p:spPr>
          <a:xfrm>
            <a:off x="584117" y="1601630"/>
            <a:ext cx="7420706" cy="4568429"/>
          </a:xfrm>
          <a:prstGeom prst="roundRect">
            <a:avLst>
              <a:gd name="adj" fmla="val 1819"/>
            </a:avLst>
          </a:prstGeom>
          <a:noFill/>
          <a:ln w="9525" cap="flat" cmpd="sng">
            <a:solidFill>
              <a:srgbClr val="B2B2B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6">
              <a:solidFill>
                <a:srgbClr val="FFFFFF"/>
              </a:solidFill>
              <a:latin typeface="Arial"/>
              <a:ea typeface="Arial"/>
              <a:cs typeface="Arial"/>
              <a:sym typeface="Arial"/>
            </a:endParaRPr>
          </a:p>
        </p:txBody>
      </p:sp>
      <p:sp>
        <p:nvSpPr>
          <p:cNvPr id="14780" name="Google Shape;14780;p80"/>
          <p:cNvSpPr/>
          <p:nvPr/>
        </p:nvSpPr>
        <p:spPr>
          <a:xfrm>
            <a:off x="4793699" y="1818641"/>
            <a:ext cx="3007643" cy="4186449"/>
          </a:xfrm>
          <a:prstGeom prst="roundRect">
            <a:avLst>
              <a:gd name="adj" fmla="val 4604"/>
            </a:avLst>
          </a:prstGeom>
          <a:solidFill>
            <a:schemeClr val="lt1"/>
          </a:solidFill>
          <a:ln w="12700" cap="flat" cmpd="sng">
            <a:solidFill>
              <a:schemeClr val="accent5"/>
            </a:solidFill>
            <a:prstDash val="solid"/>
            <a:miter lim="800000"/>
            <a:headEnd type="none" w="sm" len="sm"/>
            <a:tailEnd type="none" w="sm" len="sm"/>
          </a:ln>
        </p:spPr>
        <p:txBody>
          <a:bodyPr spcFirstLastPara="1" wrap="square" lIns="91350" tIns="45675" rIns="91350" bIns="45675"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sp>
        <p:nvSpPr>
          <p:cNvPr id="14781" name="Google Shape;14781;p80"/>
          <p:cNvSpPr txBox="1"/>
          <p:nvPr/>
        </p:nvSpPr>
        <p:spPr>
          <a:xfrm>
            <a:off x="4721305" y="1891324"/>
            <a:ext cx="3143401" cy="123015"/>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800" b="1">
                <a:solidFill>
                  <a:srgbClr val="000000"/>
                </a:solidFill>
                <a:latin typeface="Arial"/>
                <a:ea typeface="Arial"/>
                <a:cs typeface="Arial"/>
                <a:sym typeface="Arial"/>
              </a:rPr>
              <a:t>VCF Fleet Management</a:t>
            </a:r>
            <a:endParaRPr/>
          </a:p>
        </p:txBody>
      </p:sp>
      <p:grpSp>
        <p:nvGrpSpPr>
          <p:cNvPr id="14782" name="Google Shape;14782;p80"/>
          <p:cNvGrpSpPr/>
          <p:nvPr/>
        </p:nvGrpSpPr>
        <p:grpSpPr>
          <a:xfrm>
            <a:off x="1238450" y="1843142"/>
            <a:ext cx="592222" cy="490488"/>
            <a:chOff x="-2947988" y="4146550"/>
            <a:chExt cx="258763" cy="214313"/>
          </a:xfrm>
        </p:grpSpPr>
        <p:sp>
          <p:nvSpPr>
            <p:cNvPr id="14783" name="Google Shape;14783;p80"/>
            <p:cNvSpPr/>
            <p:nvPr/>
          </p:nvSpPr>
          <p:spPr>
            <a:xfrm>
              <a:off x="-2876550" y="4171950"/>
              <a:ext cx="49213" cy="52388"/>
            </a:xfrm>
            <a:custGeom>
              <a:avLst/>
              <a:gdLst/>
              <a:ahLst/>
              <a:cxnLst/>
              <a:rect l="l" t="t" r="r" b="b"/>
              <a:pathLst>
                <a:path w="73" h="79" extrusionOk="0">
                  <a:moveTo>
                    <a:pt x="21" y="74"/>
                  </a:moveTo>
                  <a:cubicBezTo>
                    <a:pt x="21" y="43"/>
                    <a:pt x="46" y="20"/>
                    <a:pt x="69" y="20"/>
                  </a:cubicBezTo>
                  <a:cubicBezTo>
                    <a:pt x="73" y="20"/>
                    <a:pt x="73" y="20"/>
                    <a:pt x="73" y="20"/>
                  </a:cubicBezTo>
                  <a:cubicBezTo>
                    <a:pt x="73" y="0"/>
                    <a:pt x="73" y="0"/>
                    <a:pt x="73" y="0"/>
                  </a:cubicBezTo>
                  <a:cubicBezTo>
                    <a:pt x="69" y="0"/>
                    <a:pt x="69" y="0"/>
                    <a:pt x="69" y="0"/>
                  </a:cubicBezTo>
                  <a:cubicBezTo>
                    <a:pt x="32" y="0"/>
                    <a:pt x="0" y="35"/>
                    <a:pt x="0" y="74"/>
                  </a:cubicBezTo>
                  <a:cubicBezTo>
                    <a:pt x="0" y="79"/>
                    <a:pt x="0" y="79"/>
                    <a:pt x="0" y="79"/>
                  </a:cubicBezTo>
                  <a:cubicBezTo>
                    <a:pt x="21" y="79"/>
                    <a:pt x="21" y="79"/>
                    <a:pt x="21" y="79"/>
                  </a:cubicBezTo>
                  <a:lnTo>
                    <a:pt x="21" y="74"/>
                  </a:ln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784" name="Google Shape;14784;p80"/>
            <p:cNvSpPr/>
            <p:nvPr/>
          </p:nvSpPr>
          <p:spPr>
            <a:xfrm>
              <a:off x="-2947988" y="4146550"/>
              <a:ext cx="258763" cy="174625"/>
            </a:xfrm>
            <a:custGeom>
              <a:avLst/>
              <a:gdLst/>
              <a:ahLst/>
              <a:cxnLst/>
              <a:rect l="l" t="t" r="r" b="b"/>
              <a:pathLst>
                <a:path w="390" h="262" extrusionOk="0">
                  <a:moveTo>
                    <a:pt x="330" y="101"/>
                  </a:moveTo>
                  <a:cubicBezTo>
                    <a:pt x="325" y="69"/>
                    <a:pt x="301" y="48"/>
                    <a:pt x="267" y="47"/>
                  </a:cubicBezTo>
                  <a:cubicBezTo>
                    <a:pt x="247" y="18"/>
                    <a:pt x="214" y="0"/>
                    <a:pt x="177" y="0"/>
                  </a:cubicBezTo>
                  <a:cubicBezTo>
                    <a:pt x="122" y="0"/>
                    <a:pt x="77" y="42"/>
                    <a:pt x="71" y="95"/>
                  </a:cubicBezTo>
                  <a:cubicBezTo>
                    <a:pt x="30" y="101"/>
                    <a:pt x="0" y="136"/>
                    <a:pt x="0" y="178"/>
                  </a:cubicBezTo>
                  <a:cubicBezTo>
                    <a:pt x="0" y="221"/>
                    <a:pt x="33" y="258"/>
                    <a:pt x="76" y="261"/>
                  </a:cubicBezTo>
                  <a:cubicBezTo>
                    <a:pt x="84" y="262"/>
                    <a:pt x="84" y="262"/>
                    <a:pt x="84" y="262"/>
                  </a:cubicBezTo>
                  <a:cubicBezTo>
                    <a:pt x="106" y="262"/>
                    <a:pt x="106" y="262"/>
                    <a:pt x="106" y="262"/>
                  </a:cubicBezTo>
                  <a:cubicBezTo>
                    <a:pt x="106" y="235"/>
                    <a:pt x="106" y="235"/>
                    <a:pt x="106" y="235"/>
                  </a:cubicBezTo>
                  <a:cubicBezTo>
                    <a:pt x="86" y="235"/>
                    <a:pt x="86" y="235"/>
                    <a:pt x="86" y="235"/>
                  </a:cubicBezTo>
                  <a:cubicBezTo>
                    <a:pt x="78" y="235"/>
                    <a:pt x="78" y="235"/>
                    <a:pt x="78" y="235"/>
                  </a:cubicBezTo>
                  <a:cubicBezTo>
                    <a:pt x="49" y="232"/>
                    <a:pt x="26" y="207"/>
                    <a:pt x="26" y="178"/>
                  </a:cubicBezTo>
                  <a:cubicBezTo>
                    <a:pt x="26" y="146"/>
                    <a:pt x="52" y="121"/>
                    <a:pt x="83" y="121"/>
                  </a:cubicBezTo>
                  <a:cubicBezTo>
                    <a:pt x="96" y="121"/>
                    <a:pt x="96" y="121"/>
                    <a:pt x="96" y="121"/>
                  </a:cubicBezTo>
                  <a:cubicBezTo>
                    <a:pt x="96" y="108"/>
                    <a:pt x="96" y="108"/>
                    <a:pt x="96" y="108"/>
                  </a:cubicBezTo>
                  <a:cubicBezTo>
                    <a:pt x="96" y="63"/>
                    <a:pt x="133" y="27"/>
                    <a:pt x="177" y="27"/>
                  </a:cubicBezTo>
                  <a:cubicBezTo>
                    <a:pt x="207" y="27"/>
                    <a:pt x="233" y="42"/>
                    <a:pt x="247" y="67"/>
                  </a:cubicBezTo>
                  <a:cubicBezTo>
                    <a:pt x="251" y="74"/>
                    <a:pt x="251" y="74"/>
                    <a:pt x="251" y="74"/>
                  </a:cubicBezTo>
                  <a:cubicBezTo>
                    <a:pt x="265" y="74"/>
                    <a:pt x="265" y="74"/>
                    <a:pt x="265" y="74"/>
                  </a:cubicBezTo>
                  <a:cubicBezTo>
                    <a:pt x="301" y="74"/>
                    <a:pt x="304" y="104"/>
                    <a:pt x="304" y="113"/>
                  </a:cubicBezTo>
                  <a:cubicBezTo>
                    <a:pt x="304" y="127"/>
                    <a:pt x="304" y="127"/>
                    <a:pt x="304" y="127"/>
                  </a:cubicBezTo>
                  <a:cubicBezTo>
                    <a:pt x="318" y="127"/>
                    <a:pt x="318" y="127"/>
                    <a:pt x="318" y="127"/>
                  </a:cubicBezTo>
                  <a:cubicBezTo>
                    <a:pt x="343" y="127"/>
                    <a:pt x="363" y="149"/>
                    <a:pt x="363" y="178"/>
                  </a:cubicBezTo>
                  <a:cubicBezTo>
                    <a:pt x="363" y="207"/>
                    <a:pt x="340" y="232"/>
                    <a:pt x="311" y="235"/>
                  </a:cubicBezTo>
                  <a:cubicBezTo>
                    <a:pt x="303" y="235"/>
                    <a:pt x="303" y="235"/>
                    <a:pt x="303" y="235"/>
                  </a:cubicBezTo>
                  <a:cubicBezTo>
                    <a:pt x="288" y="235"/>
                    <a:pt x="288" y="235"/>
                    <a:pt x="288" y="235"/>
                  </a:cubicBezTo>
                  <a:cubicBezTo>
                    <a:pt x="288" y="262"/>
                    <a:pt x="288" y="262"/>
                    <a:pt x="288" y="262"/>
                  </a:cubicBezTo>
                  <a:cubicBezTo>
                    <a:pt x="305" y="262"/>
                    <a:pt x="305" y="262"/>
                    <a:pt x="305" y="262"/>
                  </a:cubicBezTo>
                  <a:cubicBezTo>
                    <a:pt x="313" y="261"/>
                    <a:pt x="313" y="261"/>
                    <a:pt x="313" y="261"/>
                  </a:cubicBezTo>
                  <a:cubicBezTo>
                    <a:pt x="356" y="258"/>
                    <a:pt x="390" y="221"/>
                    <a:pt x="390" y="178"/>
                  </a:cubicBezTo>
                  <a:cubicBezTo>
                    <a:pt x="390" y="138"/>
                    <a:pt x="365" y="107"/>
                    <a:pt x="330" y="101"/>
                  </a:cubicBez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785" name="Google Shape;14785;p80"/>
            <p:cNvSpPr/>
            <p:nvPr/>
          </p:nvSpPr>
          <p:spPr>
            <a:xfrm>
              <a:off x="-2867025" y="4225925"/>
              <a:ext cx="100013" cy="134938"/>
            </a:xfrm>
            <a:custGeom>
              <a:avLst/>
              <a:gdLst/>
              <a:ahLst/>
              <a:cxnLst/>
              <a:rect l="l" t="t" r="r" b="b"/>
              <a:pathLst>
                <a:path w="152" h="204" extrusionOk="0">
                  <a:moveTo>
                    <a:pt x="131" y="52"/>
                  </a:moveTo>
                  <a:cubicBezTo>
                    <a:pt x="131" y="23"/>
                    <a:pt x="109" y="0"/>
                    <a:pt x="80" y="0"/>
                  </a:cubicBezTo>
                  <a:cubicBezTo>
                    <a:pt x="73" y="0"/>
                    <a:pt x="73" y="0"/>
                    <a:pt x="73" y="0"/>
                  </a:cubicBezTo>
                  <a:cubicBezTo>
                    <a:pt x="44" y="0"/>
                    <a:pt x="21" y="24"/>
                    <a:pt x="21" y="52"/>
                  </a:cubicBezTo>
                  <a:cubicBezTo>
                    <a:pt x="21" y="80"/>
                    <a:pt x="21" y="80"/>
                    <a:pt x="21" y="80"/>
                  </a:cubicBezTo>
                  <a:cubicBezTo>
                    <a:pt x="0" y="80"/>
                    <a:pt x="0" y="80"/>
                    <a:pt x="0" y="80"/>
                  </a:cubicBezTo>
                  <a:cubicBezTo>
                    <a:pt x="0" y="204"/>
                    <a:pt x="0" y="204"/>
                    <a:pt x="0" y="204"/>
                  </a:cubicBezTo>
                  <a:cubicBezTo>
                    <a:pt x="152" y="204"/>
                    <a:pt x="152" y="204"/>
                    <a:pt x="152" y="204"/>
                  </a:cubicBezTo>
                  <a:cubicBezTo>
                    <a:pt x="152" y="80"/>
                    <a:pt x="152" y="80"/>
                    <a:pt x="152" y="80"/>
                  </a:cubicBezTo>
                  <a:cubicBezTo>
                    <a:pt x="131" y="80"/>
                    <a:pt x="131" y="80"/>
                    <a:pt x="131" y="80"/>
                  </a:cubicBezTo>
                  <a:lnTo>
                    <a:pt x="131" y="52"/>
                  </a:lnTo>
                  <a:close/>
                  <a:moveTo>
                    <a:pt x="85" y="151"/>
                  </a:moveTo>
                  <a:cubicBezTo>
                    <a:pt x="85" y="172"/>
                    <a:pt x="85" y="172"/>
                    <a:pt x="85" y="172"/>
                  </a:cubicBezTo>
                  <a:cubicBezTo>
                    <a:pt x="68" y="172"/>
                    <a:pt x="68" y="172"/>
                    <a:pt x="68" y="172"/>
                  </a:cubicBezTo>
                  <a:cubicBezTo>
                    <a:pt x="68" y="151"/>
                    <a:pt x="68" y="151"/>
                    <a:pt x="68" y="151"/>
                  </a:cubicBezTo>
                  <a:cubicBezTo>
                    <a:pt x="61" y="148"/>
                    <a:pt x="56" y="141"/>
                    <a:pt x="56" y="133"/>
                  </a:cubicBezTo>
                  <a:cubicBezTo>
                    <a:pt x="56" y="122"/>
                    <a:pt x="65" y="113"/>
                    <a:pt x="76" y="113"/>
                  </a:cubicBezTo>
                  <a:cubicBezTo>
                    <a:pt x="87" y="113"/>
                    <a:pt x="96" y="122"/>
                    <a:pt x="96" y="133"/>
                  </a:cubicBezTo>
                  <a:cubicBezTo>
                    <a:pt x="96" y="141"/>
                    <a:pt x="91" y="148"/>
                    <a:pt x="85" y="151"/>
                  </a:cubicBezTo>
                  <a:close/>
                  <a:moveTo>
                    <a:pt x="111" y="80"/>
                  </a:moveTo>
                  <a:cubicBezTo>
                    <a:pt x="42" y="80"/>
                    <a:pt x="42" y="80"/>
                    <a:pt x="42" y="80"/>
                  </a:cubicBezTo>
                  <a:cubicBezTo>
                    <a:pt x="42" y="52"/>
                    <a:pt x="42" y="52"/>
                    <a:pt x="42" y="52"/>
                  </a:cubicBezTo>
                  <a:cubicBezTo>
                    <a:pt x="42" y="35"/>
                    <a:pt x="56" y="21"/>
                    <a:pt x="73" y="21"/>
                  </a:cubicBezTo>
                  <a:cubicBezTo>
                    <a:pt x="80" y="21"/>
                    <a:pt x="80" y="21"/>
                    <a:pt x="80" y="21"/>
                  </a:cubicBezTo>
                  <a:cubicBezTo>
                    <a:pt x="97" y="21"/>
                    <a:pt x="111" y="35"/>
                    <a:pt x="111" y="52"/>
                  </a:cubicBezTo>
                  <a:lnTo>
                    <a:pt x="111" y="80"/>
                  </a:ln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sp>
        <p:nvSpPr>
          <p:cNvPr id="14786" name="Google Shape;14786;p80"/>
          <p:cNvSpPr/>
          <p:nvPr/>
        </p:nvSpPr>
        <p:spPr>
          <a:xfrm rot="2699648">
            <a:off x="1700258" y="1478599"/>
            <a:ext cx="82860" cy="1063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lt1">
              <a:alpha val="84705"/>
            </a:schemeClr>
          </a:solidFill>
          <a:ln>
            <a:noFill/>
          </a:ln>
        </p:spPr>
        <p:txBody>
          <a:bodyPr spcFirstLastPara="1" wrap="square" lIns="91250" tIns="45575" rIns="91250" bIns="45575" anchor="ctr" anchorCtr="0">
            <a:noAutofit/>
          </a:bodyPr>
          <a:lstStyle/>
          <a:p>
            <a:pPr marL="0" marR="0" lvl="0" indent="0" algn="ctr" rtl="0">
              <a:spcBef>
                <a:spcPts val="0"/>
              </a:spcBef>
              <a:spcAft>
                <a:spcPts val="0"/>
              </a:spcAft>
              <a:buNone/>
            </a:pPr>
            <a:endParaRPr sz="1200">
              <a:solidFill>
                <a:srgbClr val="005B84"/>
              </a:solidFill>
              <a:latin typeface="Arial"/>
              <a:ea typeface="Arial"/>
              <a:cs typeface="Arial"/>
              <a:sym typeface="Arial"/>
            </a:endParaRPr>
          </a:p>
        </p:txBody>
      </p:sp>
      <p:sp>
        <p:nvSpPr>
          <p:cNvPr id="14787" name="Google Shape;14787;p80"/>
          <p:cNvSpPr txBox="1"/>
          <p:nvPr/>
        </p:nvSpPr>
        <p:spPr>
          <a:xfrm>
            <a:off x="679379" y="2809875"/>
            <a:ext cx="1290372" cy="184522"/>
          </a:xfrm>
          <a:prstGeom prst="rect">
            <a:avLst/>
          </a:prstGeom>
          <a:solidFill>
            <a:schemeClr val="lt1"/>
          </a:solid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1B1D36"/>
                </a:solidFill>
                <a:latin typeface="Arial"/>
                <a:ea typeface="Arial"/>
                <a:cs typeface="Arial"/>
                <a:sym typeface="Arial"/>
              </a:rPr>
              <a:t>VCF Operator</a:t>
            </a:r>
            <a:endParaRPr sz="1200">
              <a:solidFill>
                <a:srgbClr val="000000"/>
              </a:solidFill>
              <a:latin typeface="Arial"/>
              <a:ea typeface="Arial"/>
              <a:cs typeface="Arial"/>
              <a:sym typeface="Arial"/>
            </a:endParaRPr>
          </a:p>
        </p:txBody>
      </p:sp>
      <p:grpSp>
        <p:nvGrpSpPr>
          <p:cNvPr id="14788" name="Google Shape;14788;p80"/>
          <p:cNvGrpSpPr/>
          <p:nvPr/>
        </p:nvGrpSpPr>
        <p:grpSpPr>
          <a:xfrm>
            <a:off x="1463153" y="1881538"/>
            <a:ext cx="592222" cy="490488"/>
            <a:chOff x="-2947988" y="4146550"/>
            <a:chExt cx="258763" cy="214313"/>
          </a:xfrm>
        </p:grpSpPr>
        <p:sp>
          <p:nvSpPr>
            <p:cNvPr id="14789" name="Google Shape;14789;p80"/>
            <p:cNvSpPr/>
            <p:nvPr/>
          </p:nvSpPr>
          <p:spPr>
            <a:xfrm>
              <a:off x="-2876550" y="4171950"/>
              <a:ext cx="49213" cy="52388"/>
            </a:xfrm>
            <a:custGeom>
              <a:avLst/>
              <a:gdLst/>
              <a:ahLst/>
              <a:cxnLst/>
              <a:rect l="l" t="t" r="r" b="b"/>
              <a:pathLst>
                <a:path w="73" h="79" extrusionOk="0">
                  <a:moveTo>
                    <a:pt x="21" y="74"/>
                  </a:moveTo>
                  <a:cubicBezTo>
                    <a:pt x="21" y="43"/>
                    <a:pt x="46" y="20"/>
                    <a:pt x="69" y="20"/>
                  </a:cubicBezTo>
                  <a:cubicBezTo>
                    <a:pt x="73" y="20"/>
                    <a:pt x="73" y="20"/>
                    <a:pt x="73" y="20"/>
                  </a:cubicBezTo>
                  <a:cubicBezTo>
                    <a:pt x="73" y="0"/>
                    <a:pt x="73" y="0"/>
                    <a:pt x="73" y="0"/>
                  </a:cubicBezTo>
                  <a:cubicBezTo>
                    <a:pt x="69" y="0"/>
                    <a:pt x="69" y="0"/>
                    <a:pt x="69" y="0"/>
                  </a:cubicBezTo>
                  <a:cubicBezTo>
                    <a:pt x="32" y="0"/>
                    <a:pt x="0" y="35"/>
                    <a:pt x="0" y="74"/>
                  </a:cubicBezTo>
                  <a:cubicBezTo>
                    <a:pt x="0" y="79"/>
                    <a:pt x="0" y="79"/>
                    <a:pt x="0" y="79"/>
                  </a:cubicBezTo>
                  <a:cubicBezTo>
                    <a:pt x="21" y="79"/>
                    <a:pt x="21" y="79"/>
                    <a:pt x="21" y="79"/>
                  </a:cubicBezTo>
                  <a:lnTo>
                    <a:pt x="21" y="74"/>
                  </a:ln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790" name="Google Shape;14790;p80"/>
            <p:cNvSpPr/>
            <p:nvPr/>
          </p:nvSpPr>
          <p:spPr>
            <a:xfrm>
              <a:off x="-2947988" y="4146550"/>
              <a:ext cx="258763" cy="174625"/>
            </a:xfrm>
            <a:custGeom>
              <a:avLst/>
              <a:gdLst/>
              <a:ahLst/>
              <a:cxnLst/>
              <a:rect l="l" t="t" r="r" b="b"/>
              <a:pathLst>
                <a:path w="390" h="262" extrusionOk="0">
                  <a:moveTo>
                    <a:pt x="330" y="101"/>
                  </a:moveTo>
                  <a:cubicBezTo>
                    <a:pt x="325" y="69"/>
                    <a:pt x="301" y="48"/>
                    <a:pt x="267" y="47"/>
                  </a:cubicBezTo>
                  <a:cubicBezTo>
                    <a:pt x="247" y="18"/>
                    <a:pt x="214" y="0"/>
                    <a:pt x="177" y="0"/>
                  </a:cubicBezTo>
                  <a:cubicBezTo>
                    <a:pt x="122" y="0"/>
                    <a:pt x="77" y="42"/>
                    <a:pt x="71" y="95"/>
                  </a:cubicBezTo>
                  <a:cubicBezTo>
                    <a:pt x="30" y="101"/>
                    <a:pt x="0" y="136"/>
                    <a:pt x="0" y="178"/>
                  </a:cubicBezTo>
                  <a:cubicBezTo>
                    <a:pt x="0" y="221"/>
                    <a:pt x="33" y="258"/>
                    <a:pt x="76" y="261"/>
                  </a:cubicBezTo>
                  <a:cubicBezTo>
                    <a:pt x="84" y="262"/>
                    <a:pt x="84" y="262"/>
                    <a:pt x="84" y="262"/>
                  </a:cubicBezTo>
                  <a:cubicBezTo>
                    <a:pt x="106" y="262"/>
                    <a:pt x="106" y="262"/>
                    <a:pt x="106" y="262"/>
                  </a:cubicBezTo>
                  <a:cubicBezTo>
                    <a:pt x="106" y="235"/>
                    <a:pt x="106" y="235"/>
                    <a:pt x="106" y="235"/>
                  </a:cubicBezTo>
                  <a:cubicBezTo>
                    <a:pt x="86" y="235"/>
                    <a:pt x="86" y="235"/>
                    <a:pt x="86" y="235"/>
                  </a:cubicBezTo>
                  <a:cubicBezTo>
                    <a:pt x="78" y="235"/>
                    <a:pt x="78" y="235"/>
                    <a:pt x="78" y="235"/>
                  </a:cubicBezTo>
                  <a:cubicBezTo>
                    <a:pt x="49" y="232"/>
                    <a:pt x="26" y="207"/>
                    <a:pt x="26" y="178"/>
                  </a:cubicBezTo>
                  <a:cubicBezTo>
                    <a:pt x="26" y="146"/>
                    <a:pt x="52" y="121"/>
                    <a:pt x="83" y="121"/>
                  </a:cubicBezTo>
                  <a:cubicBezTo>
                    <a:pt x="96" y="121"/>
                    <a:pt x="96" y="121"/>
                    <a:pt x="96" y="121"/>
                  </a:cubicBezTo>
                  <a:cubicBezTo>
                    <a:pt x="96" y="108"/>
                    <a:pt x="96" y="108"/>
                    <a:pt x="96" y="108"/>
                  </a:cubicBezTo>
                  <a:cubicBezTo>
                    <a:pt x="96" y="63"/>
                    <a:pt x="133" y="27"/>
                    <a:pt x="177" y="27"/>
                  </a:cubicBezTo>
                  <a:cubicBezTo>
                    <a:pt x="207" y="27"/>
                    <a:pt x="233" y="42"/>
                    <a:pt x="247" y="67"/>
                  </a:cubicBezTo>
                  <a:cubicBezTo>
                    <a:pt x="251" y="74"/>
                    <a:pt x="251" y="74"/>
                    <a:pt x="251" y="74"/>
                  </a:cubicBezTo>
                  <a:cubicBezTo>
                    <a:pt x="265" y="74"/>
                    <a:pt x="265" y="74"/>
                    <a:pt x="265" y="74"/>
                  </a:cubicBezTo>
                  <a:cubicBezTo>
                    <a:pt x="301" y="74"/>
                    <a:pt x="304" y="104"/>
                    <a:pt x="304" y="113"/>
                  </a:cubicBezTo>
                  <a:cubicBezTo>
                    <a:pt x="304" y="127"/>
                    <a:pt x="304" y="127"/>
                    <a:pt x="304" y="127"/>
                  </a:cubicBezTo>
                  <a:cubicBezTo>
                    <a:pt x="318" y="127"/>
                    <a:pt x="318" y="127"/>
                    <a:pt x="318" y="127"/>
                  </a:cubicBezTo>
                  <a:cubicBezTo>
                    <a:pt x="343" y="127"/>
                    <a:pt x="363" y="149"/>
                    <a:pt x="363" y="178"/>
                  </a:cubicBezTo>
                  <a:cubicBezTo>
                    <a:pt x="363" y="207"/>
                    <a:pt x="340" y="232"/>
                    <a:pt x="311" y="235"/>
                  </a:cubicBezTo>
                  <a:cubicBezTo>
                    <a:pt x="303" y="235"/>
                    <a:pt x="303" y="235"/>
                    <a:pt x="303" y="235"/>
                  </a:cubicBezTo>
                  <a:cubicBezTo>
                    <a:pt x="288" y="235"/>
                    <a:pt x="288" y="235"/>
                    <a:pt x="288" y="235"/>
                  </a:cubicBezTo>
                  <a:cubicBezTo>
                    <a:pt x="288" y="262"/>
                    <a:pt x="288" y="262"/>
                    <a:pt x="288" y="262"/>
                  </a:cubicBezTo>
                  <a:cubicBezTo>
                    <a:pt x="305" y="262"/>
                    <a:pt x="305" y="262"/>
                    <a:pt x="305" y="262"/>
                  </a:cubicBezTo>
                  <a:cubicBezTo>
                    <a:pt x="313" y="261"/>
                    <a:pt x="313" y="261"/>
                    <a:pt x="313" y="261"/>
                  </a:cubicBezTo>
                  <a:cubicBezTo>
                    <a:pt x="356" y="258"/>
                    <a:pt x="390" y="221"/>
                    <a:pt x="390" y="178"/>
                  </a:cubicBezTo>
                  <a:cubicBezTo>
                    <a:pt x="390" y="138"/>
                    <a:pt x="365" y="107"/>
                    <a:pt x="330" y="101"/>
                  </a:cubicBez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791" name="Google Shape;14791;p80"/>
            <p:cNvSpPr/>
            <p:nvPr/>
          </p:nvSpPr>
          <p:spPr>
            <a:xfrm>
              <a:off x="-2867025" y="4225925"/>
              <a:ext cx="100013" cy="134938"/>
            </a:xfrm>
            <a:custGeom>
              <a:avLst/>
              <a:gdLst/>
              <a:ahLst/>
              <a:cxnLst/>
              <a:rect l="l" t="t" r="r" b="b"/>
              <a:pathLst>
                <a:path w="152" h="204" extrusionOk="0">
                  <a:moveTo>
                    <a:pt x="131" y="52"/>
                  </a:moveTo>
                  <a:cubicBezTo>
                    <a:pt x="131" y="23"/>
                    <a:pt x="109" y="0"/>
                    <a:pt x="80" y="0"/>
                  </a:cubicBezTo>
                  <a:cubicBezTo>
                    <a:pt x="73" y="0"/>
                    <a:pt x="73" y="0"/>
                    <a:pt x="73" y="0"/>
                  </a:cubicBezTo>
                  <a:cubicBezTo>
                    <a:pt x="44" y="0"/>
                    <a:pt x="21" y="24"/>
                    <a:pt x="21" y="52"/>
                  </a:cubicBezTo>
                  <a:cubicBezTo>
                    <a:pt x="21" y="80"/>
                    <a:pt x="21" y="80"/>
                    <a:pt x="21" y="80"/>
                  </a:cubicBezTo>
                  <a:cubicBezTo>
                    <a:pt x="0" y="80"/>
                    <a:pt x="0" y="80"/>
                    <a:pt x="0" y="80"/>
                  </a:cubicBezTo>
                  <a:cubicBezTo>
                    <a:pt x="0" y="204"/>
                    <a:pt x="0" y="204"/>
                    <a:pt x="0" y="204"/>
                  </a:cubicBezTo>
                  <a:cubicBezTo>
                    <a:pt x="152" y="204"/>
                    <a:pt x="152" y="204"/>
                    <a:pt x="152" y="204"/>
                  </a:cubicBezTo>
                  <a:cubicBezTo>
                    <a:pt x="152" y="80"/>
                    <a:pt x="152" y="80"/>
                    <a:pt x="152" y="80"/>
                  </a:cubicBezTo>
                  <a:cubicBezTo>
                    <a:pt x="131" y="80"/>
                    <a:pt x="131" y="80"/>
                    <a:pt x="131" y="80"/>
                  </a:cubicBezTo>
                  <a:lnTo>
                    <a:pt x="131" y="52"/>
                  </a:lnTo>
                  <a:close/>
                  <a:moveTo>
                    <a:pt x="85" y="151"/>
                  </a:moveTo>
                  <a:cubicBezTo>
                    <a:pt x="85" y="172"/>
                    <a:pt x="85" y="172"/>
                    <a:pt x="85" y="172"/>
                  </a:cubicBezTo>
                  <a:cubicBezTo>
                    <a:pt x="68" y="172"/>
                    <a:pt x="68" y="172"/>
                    <a:pt x="68" y="172"/>
                  </a:cubicBezTo>
                  <a:cubicBezTo>
                    <a:pt x="68" y="151"/>
                    <a:pt x="68" y="151"/>
                    <a:pt x="68" y="151"/>
                  </a:cubicBezTo>
                  <a:cubicBezTo>
                    <a:pt x="61" y="148"/>
                    <a:pt x="56" y="141"/>
                    <a:pt x="56" y="133"/>
                  </a:cubicBezTo>
                  <a:cubicBezTo>
                    <a:pt x="56" y="122"/>
                    <a:pt x="65" y="113"/>
                    <a:pt x="76" y="113"/>
                  </a:cubicBezTo>
                  <a:cubicBezTo>
                    <a:pt x="87" y="113"/>
                    <a:pt x="96" y="122"/>
                    <a:pt x="96" y="133"/>
                  </a:cubicBezTo>
                  <a:cubicBezTo>
                    <a:pt x="96" y="141"/>
                    <a:pt x="91" y="148"/>
                    <a:pt x="85" y="151"/>
                  </a:cubicBezTo>
                  <a:close/>
                  <a:moveTo>
                    <a:pt x="111" y="80"/>
                  </a:moveTo>
                  <a:cubicBezTo>
                    <a:pt x="42" y="80"/>
                    <a:pt x="42" y="80"/>
                    <a:pt x="42" y="80"/>
                  </a:cubicBezTo>
                  <a:cubicBezTo>
                    <a:pt x="42" y="52"/>
                    <a:pt x="42" y="52"/>
                    <a:pt x="42" y="52"/>
                  </a:cubicBezTo>
                  <a:cubicBezTo>
                    <a:pt x="42" y="35"/>
                    <a:pt x="56" y="21"/>
                    <a:pt x="73" y="21"/>
                  </a:cubicBezTo>
                  <a:cubicBezTo>
                    <a:pt x="80" y="21"/>
                    <a:pt x="80" y="21"/>
                    <a:pt x="80" y="21"/>
                  </a:cubicBezTo>
                  <a:cubicBezTo>
                    <a:pt x="97" y="21"/>
                    <a:pt x="111" y="35"/>
                    <a:pt x="111" y="52"/>
                  </a:cubicBezTo>
                  <a:lnTo>
                    <a:pt x="111" y="80"/>
                  </a:lnTo>
                  <a:close/>
                </a:path>
              </a:pathLst>
            </a:custGeom>
            <a:solidFill>
              <a:schemeClr val="lt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grpSp>
        <p:nvGrpSpPr>
          <p:cNvPr id="14792" name="Google Shape;14792;p80"/>
          <p:cNvGrpSpPr/>
          <p:nvPr/>
        </p:nvGrpSpPr>
        <p:grpSpPr>
          <a:xfrm>
            <a:off x="854402" y="1685342"/>
            <a:ext cx="902700" cy="988271"/>
            <a:chOff x="7943457" y="3626784"/>
            <a:chExt cx="865481" cy="947522"/>
          </a:xfrm>
        </p:grpSpPr>
        <p:grpSp>
          <p:nvGrpSpPr>
            <p:cNvPr id="14793" name="Google Shape;14793;p80"/>
            <p:cNvGrpSpPr/>
            <p:nvPr/>
          </p:nvGrpSpPr>
          <p:grpSpPr>
            <a:xfrm>
              <a:off x="7943457" y="3696376"/>
              <a:ext cx="865481" cy="865478"/>
              <a:chOff x="5217804" y="2760888"/>
              <a:chExt cx="1232879" cy="1232880"/>
            </a:xfrm>
          </p:grpSpPr>
          <p:sp>
            <p:nvSpPr>
              <p:cNvPr id="14794" name="Google Shape;14794;p80"/>
              <p:cNvSpPr/>
              <p:nvPr/>
            </p:nvSpPr>
            <p:spPr>
              <a:xfrm>
                <a:off x="5217804" y="2760889"/>
                <a:ext cx="1232878" cy="1232879"/>
              </a:xfrm>
              <a:prstGeom prst="ellipse">
                <a:avLst/>
              </a:prstGeom>
              <a:solidFill>
                <a:srgbClr val="FFFFFF"/>
              </a:solidFill>
              <a:ln w="12700" cap="flat" cmpd="sng">
                <a:solidFill>
                  <a:srgbClr val="D2D9E8"/>
                </a:solidFill>
                <a:prstDash val="solid"/>
                <a:round/>
                <a:headEnd type="none" w="sm" len="sm"/>
                <a:tailEnd type="none" w="sm" len="sm"/>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002142"/>
                  </a:solidFill>
                  <a:latin typeface="Arial"/>
                  <a:ea typeface="Arial"/>
                  <a:cs typeface="Arial"/>
                  <a:sym typeface="Arial"/>
                </a:endParaRPr>
              </a:p>
            </p:txBody>
          </p:sp>
          <p:sp>
            <p:nvSpPr>
              <p:cNvPr id="14795" name="Google Shape;14795;p80"/>
              <p:cNvSpPr/>
              <p:nvPr/>
            </p:nvSpPr>
            <p:spPr>
              <a:xfrm>
                <a:off x="5554580" y="2863157"/>
                <a:ext cx="852874" cy="640094"/>
              </a:xfrm>
              <a:custGeom>
                <a:avLst/>
                <a:gdLst/>
                <a:ahLst/>
                <a:cxnLst/>
                <a:rect l="l" t="t" r="r" b="b"/>
                <a:pathLst>
                  <a:path w="692813" h="519966" extrusionOk="0">
                    <a:moveTo>
                      <a:pt x="502652" y="0"/>
                    </a:moveTo>
                    <a:lnTo>
                      <a:pt x="507154" y="2444"/>
                    </a:lnTo>
                    <a:cubicBezTo>
                      <a:pt x="587075" y="56438"/>
                      <a:pt x="650570" y="132897"/>
                      <a:pt x="688579" y="222760"/>
                    </a:cubicBezTo>
                    <a:lnTo>
                      <a:pt x="692813" y="236400"/>
                    </a:lnTo>
                    <a:lnTo>
                      <a:pt x="418690" y="519966"/>
                    </a:lnTo>
                    <a:lnTo>
                      <a:pt x="0" y="519966"/>
                    </a:lnTo>
                    <a:lnTo>
                      <a:pt x="502652" y="0"/>
                    </a:lnTo>
                    <a:close/>
                  </a:path>
                </a:pathLst>
              </a:custGeom>
              <a:gradFill>
                <a:gsLst>
                  <a:gs pos="0">
                    <a:srgbClr val="6C4B94">
                      <a:alpha val="34901"/>
                    </a:srgbClr>
                  </a:gs>
                  <a:gs pos="37000">
                    <a:srgbClr val="6C4B94">
                      <a:alpha val="34901"/>
                    </a:srgbClr>
                  </a:gs>
                  <a:gs pos="98000">
                    <a:srgbClr val="0091DA">
                      <a:alpha val="0"/>
                    </a:srgbClr>
                  </a:gs>
                  <a:gs pos="100000">
                    <a:srgbClr val="0091DA">
                      <a:alpha val="0"/>
                    </a:srgbClr>
                  </a:gs>
                </a:gsLst>
                <a:lin ang="16200000" scaled="0"/>
              </a:gradFill>
              <a:ln>
                <a:noFill/>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002142"/>
                  </a:solidFill>
                  <a:latin typeface="Arial"/>
                  <a:ea typeface="Arial"/>
                  <a:cs typeface="Arial"/>
                  <a:sym typeface="Arial"/>
                </a:endParaRPr>
              </a:p>
            </p:txBody>
          </p:sp>
          <p:sp>
            <p:nvSpPr>
              <p:cNvPr id="14796" name="Google Shape;14796;p80"/>
              <p:cNvSpPr/>
              <p:nvPr/>
            </p:nvSpPr>
            <p:spPr>
              <a:xfrm>
                <a:off x="5217805" y="2760888"/>
                <a:ext cx="1232878" cy="1232879"/>
              </a:xfrm>
              <a:custGeom>
                <a:avLst/>
                <a:gdLst/>
                <a:ahLst/>
                <a:cxnLst/>
                <a:rect l="l" t="t" r="r" b="b"/>
                <a:pathLst>
                  <a:path w="1001500" h="1001502" extrusionOk="0">
                    <a:moveTo>
                      <a:pt x="500750" y="0"/>
                    </a:moveTo>
                    <a:cubicBezTo>
                      <a:pt x="569889" y="0"/>
                      <a:pt x="635756" y="14012"/>
                      <a:pt x="695665" y="39352"/>
                    </a:cubicBezTo>
                    <a:lnTo>
                      <a:pt x="776222" y="83076"/>
                    </a:lnTo>
                    <a:lnTo>
                      <a:pt x="273570" y="603042"/>
                    </a:lnTo>
                    <a:lnTo>
                      <a:pt x="692260" y="603042"/>
                    </a:lnTo>
                    <a:lnTo>
                      <a:pt x="966383" y="319476"/>
                    </a:lnTo>
                    <a:lnTo>
                      <a:pt x="991327" y="399832"/>
                    </a:lnTo>
                    <a:cubicBezTo>
                      <a:pt x="997997" y="432430"/>
                      <a:pt x="1001500" y="466182"/>
                      <a:pt x="1001500" y="500751"/>
                    </a:cubicBezTo>
                    <a:cubicBezTo>
                      <a:pt x="1001500" y="777308"/>
                      <a:pt x="777307" y="1001502"/>
                      <a:pt x="500750" y="1001502"/>
                    </a:cubicBezTo>
                    <a:cubicBezTo>
                      <a:pt x="224193" y="1001502"/>
                      <a:pt x="0" y="777308"/>
                      <a:pt x="0" y="500751"/>
                    </a:cubicBezTo>
                    <a:cubicBezTo>
                      <a:pt x="0" y="224194"/>
                      <a:pt x="224193" y="0"/>
                      <a:pt x="500750" y="0"/>
                    </a:cubicBezTo>
                    <a:close/>
                  </a:path>
                </a:pathLst>
              </a:custGeom>
              <a:gradFill>
                <a:gsLst>
                  <a:gs pos="0">
                    <a:srgbClr val="6C4B94">
                      <a:alpha val="34901"/>
                    </a:srgbClr>
                  </a:gs>
                  <a:gs pos="37000">
                    <a:srgbClr val="6C4B94">
                      <a:alpha val="34901"/>
                    </a:srgbClr>
                  </a:gs>
                  <a:gs pos="98000">
                    <a:srgbClr val="0091DA">
                      <a:alpha val="0"/>
                    </a:srgbClr>
                  </a:gs>
                  <a:gs pos="100000">
                    <a:schemeClr val="accent5"/>
                  </a:gs>
                </a:gsLst>
                <a:lin ang="16200000" scaled="0"/>
              </a:gradFill>
              <a:ln>
                <a:noFill/>
              </a:ln>
            </p:spPr>
            <p:txBody>
              <a:bodyPr spcFirstLastPara="1" wrap="square" lIns="109625" tIns="54800" rIns="109625" bIns="54800" anchor="ctr" anchorCtr="0">
                <a:noAutofit/>
              </a:bodyPr>
              <a:lstStyle/>
              <a:p>
                <a:pPr marL="0" marR="0" lvl="0" indent="0" algn="ctr" rtl="0">
                  <a:spcBef>
                    <a:spcPts val="0"/>
                  </a:spcBef>
                  <a:spcAft>
                    <a:spcPts val="0"/>
                  </a:spcAft>
                  <a:buNone/>
                </a:pPr>
                <a:endParaRPr sz="1200">
                  <a:solidFill>
                    <a:srgbClr val="002142"/>
                  </a:solidFill>
                  <a:latin typeface="Arial"/>
                  <a:ea typeface="Arial"/>
                  <a:cs typeface="Arial"/>
                  <a:sym typeface="Arial"/>
                </a:endParaRPr>
              </a:p>
            </p:txBody>
          </p:sp>
          <p:sp>
            <p:nvSpPr>
              <p:cNvPr id="14797" name="Google Shape;14797;p80"/>
              <p:cNvSpPr/>
              <p:nvPr/>
            </p:nvSpPr>
            <p:spPr>
              <a:xfrm>
                <a:off x="5554577" y="2906665"/>
                <a:ext cx="878947" cy="698268"/>
              </a:xfrm>
              <a:custGeom>
                <a:avLst/>
                <a:gdLst/>
                <a:ahLst/>
                <a:cxnLst/>
                <a:rect l="l" t="t" r="r" b="b"/>
                <a:pathLst>
                  <a:path w="991617" h="787778" extrusionOk="0">
                    <a:moveTo>
                      <a:pt x="761546" y="0"/>
                    </a:moveTo>
                    <a:lnTo>
                      <a:pt x="811023" y="40822"/>
                    </a:lnTo>
                    <a:cubicBezTo>
                      <a:pt x="873949" y="103748"/>
                      <a:pt x="924873" y="178678"/>
                      <a:pt x="960065" y="261882"/>
                    </a:cubicBezTo>
                    <a:lnTo>
                      <a:pt x="991617" y="363525"/>
                    </a:lnTo>
                    <a:lnTo>
                      <a:pt x="581491" y="787778"/>
                    </a:lnTo>
                    <a:lnTo>
                      <a:pt x="0" y="787778"/>
                    </a:lnTo>
                    <a:lnTo>
                      <a:pt x="761546" y="0"/>
                    </a:lnTo>
                    <a:close/>
                  </a:path>
                </a:pathLst>
              </a:custGeom>
              <a:gradFill>
                <a:gsLst>
                  <a:gs pos="0">
                    <a:schemeClr val="accent5"/>
                  </a:gs>
                  <a:gs pos="98000">
                    <a:srgbClr val="6C4B94">
                      <a:alpha val="0"/>
                    </a:srgbClr>
                  </a:gs>
                  <a:gs pos="100000">
                    <a:schemeClr val="accent5"/>
                  </a:gs>
                </a:gsLst>
                <a:lin ang="18900000" scaled="0"/>
              </a:gradFill>
              <a:ln>
                <a:noFill/>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002142"/>
                  </a:solidFill>
                  <a:latin typeface="Arial"/>
                  <a:ea typeface="Arial"/>
                  <a:cs typeface="Arial"/>
                  <a:sym typeface="Arial"/>
                </a:endParaRPr>
              </a:p>
            </p:txBody>
          </p:sp>
        </p:grpSp>
        <p:grpSp>
          <p:nvGrpSpPr>
            <p:cNvPr id="14798" name="Google Shape;14798;p80"/>
            <p:cNvGrpSpPr/>
            <p:nvPr/>
          </p:nvGrpSpPr>
          <p:grpSpPr>
            <a:xfrm>
              <a:off x="8154945" y="3626784"/>
              <a:ext cx="531774" cy="947522"/>
              <a:chOff x="1326710" y="4246688"/>
              <a:chExt cx="531774" cy="947522"/>
            </a:xfrm>
          </p:grpSpPr>
          <p:sp>
            <p:nvSpPr>
              <p:cNvPr id="14799" name="Google Shape;14799;p80"/>
              <p:cNvSpPr/>
              <p:nvPr/>
            </p:nvSpPr>
            <p:spPr>
              <a:xfrm flipH="1">
                <a:off x="1498040" y="4594232"/>
                <a:ext cx="360444" cy="473304"/>
              </a:xfrm>
              <a:custGeom>
                <a:avLst/>
                <a:gdLst/>
                <a:ahLst/>
                <a:cxnLst/>
                <a:rect l="l" t="t" r="r" b="b"/>
                <a:pathLst>
                  <a:path w="276142" h="528520" extrusionOk="0">
                    <a:moveTo>
                      <a:pt x="0" y="495414"/>
                    </a:moveTo>
                    <a:lnTo>
                      <a:pt x="92697" y="284704"/>
                    </a:lnTo>
                    <a:lnTo>
                      <a:pt x="131645" y="56858"/>
                    </a:lnTo>
                    <a:cubicBezTo>
                      <a:pt x="139824" y="13625"/>
                      <a:pt x="185394" y="-11302"/>
                      <a:pt x="226289" y="5057"/>
                    </a:cubicBezTo>
                    <a:lnTo>
                      <a:pt x="276143" y="25310"/>
                    </a:lnTo>
                    <a:cubicBezTo>
                      <a:pt x="276143" y="25310"/>
                      <a:pt x="201362" y="289768"/>
                      <a:pt x="182277" y="328327"/>
                    </a:cubicBezTo>
                    <a:cubicBezTo>
                      <a:pt x="132813" y="408949"/>
                      <a:pt x="66602" y="528520"/>
                      <a:pt x="66602" y="528520"/>
                    </a:cubicBezTo>
                    <a:lnTo>
                      <a:pt x="0" y="495025"/>
                    </a:lnTo>
                    <a:close/>
                  </a:path>
                </a:pathLst>
              </a:custGeom>
              <a:solidFill>
                <a:srgbClr val="7F35B2"/>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nvGrpSpPr>
              <p:cNvPr id="14800" name="Google Shape;14800;p80"/>
              <p:cNvGrpSpPr/>
              <p:nvPr/>
            </p:nvGrpSpPr>
            <p:grpSpPr>
              <a:xfrm flipH="1">
                <a:off x="1388659" y="4252449"/>
                <a:ext cx="246071" cy="372362"/>
                <a:chOff x="1935946" y="3808057"/>
                <a:chExt cx="188519" cy="285273"/>
              </a:xfrm>
            </p:grpSpPr>
            <p:sp>
              <p:nvSpPr>
                <p:cNvPr id="14801" name="Google Shape;14801;p80"/>
                <p:cNvSpPr/>
                <p:nvPr/>
              </p:nvSpPr>
              <p:spPr>
                <a:xfrm>
                  <a:off x="1981085" y="3943196"/>
                  <a:ext cx="124370" cy="150134"/>
                </a:xfrm>
                <a:custGeom>
                  <a:avLst/>
                  <a:gdLst/>
                  <a:ahLst/>
                  <a:cxnLst/>
                  <a:rect l="l" t="t" r="r" b="b"/>
                  <a:pathLst>
                    <a:path w="124370" h="150134" extrusionOk="0">
                      <a:moveTo>
                        <a:pt x="102044" y="149745"/>
                      </a:moveTo>
                      <a:cubicBezTo>
                        <a:pt x="102044" y="149745"/>
                        <a:pt x="83739" y="99891"/>
                        <a:pt x="118013" y="34069"/>
                      </a:cubicBezTo>
                      <a:cubicBezTo>
                        <a:pt x="155793" y="-38764"/>
                        <a:pt x="12853" y="27837"/>
                        <a:pt x="12853" y="27837"/>
                      </a:cubicBezTo>
                      <a:lnTo>
                        <a:pt x="0" y="140008"/>
                      </a:lnTo>
                      <a:lnTo>
                        <a:pt x="101655" y="150134"/>
                      </a:lnTo>
                      <a:close/>
                    </a:path>
                  </a:pathLst>
                </a:custGeom>
                <a:solidFill>
                  <a:srgbClr val="DAA874"/>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02" name="Google Shape;14802;p80"/>
                <p:cNvSpPr/>
                <p:nvPr/>
              </p:nvSpPr>
              <p:spPr>
                <a:xfrm>
                  <a:off x="1935946" y="3817192"/>
                  <a:ext cx="177451" cy="206460"/>
                </a:xfrm>
                <a:custGeom>
                  <a:avLst/>
                  <a:gdLst/>
                  <a:ahLst/>
                  <a:cxnLst/>
                  <a:rect l="l" t="t" r="r" b="b"/>
                  <a:pathLst>
                    <a:path w="177451" h="206460" extrusionOk="0">
                      <a:moveTo>
                        <a:pt x="66171" y="205253"/>
                      </a:moveTo>
                      <a:lnTo>
                        <a:pt x="66171" y="205253"/>
                      </a:lnTo>
                      <a:cubicBezTo>
                        <a:pt x="19823" y="195516"/>
                        <a:pt x="-3157" y="177600"/>
                        <a:pt x="349" y="126967"/>
                      </a:cubicBezTo>
                      <a:lnTo>
                        <a:pt x="6580" y="74387"/>
                      </a:lnTo>
                      <a:cubicBezTo>
                        <a:pt x="16318" y="19470"/>
                        <a:pt x="62666" y="-7793"/>
                        <a:pt x="109014" y="1944"/>
                      </a:cubicBezTo>
                      <a:lnTo>
                        <a:pt x="109014" y="1944"/>
                      </a:lnTo>
                      <a:cubicBezTo>
                        <a:pt x="155363" y="11681"/>
                        <a:pt x="185353" y="57250"/>
                        <a:pt x="175616" y="103598"/>
                      </a:cubicBezTo>
                      <a:lnTo>
                        <a:pt x="164321" y="156957"/>
                      </a:lnTo>
                      <a:cubicBezTo>
                        <a:pt x="163152" y="162800"/>
                        <a:pt x="112909" y="214990"/>
                        <a:pt x="66561" y="205253"/>
                      </a:cubicBezTo>
                      <a:close/>
                    </a:path>
                  </a:pathLst>
                </a:custGeom>
                <a:solidFill>
                  <a:srgbClr val="DAA874"/>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03" name="Google Shape;14803;p80"/>
                <p:cNvSpPr/>
                <p:nvPr/>
              </p:nvSpPr>
              <p:spPr>
                <a:xfrm>
                  <a:off x="1950389" y="3808057"/>
                  <a:ext cx="174076" cy="184787"/>
                </a:xfrm>
                <a:custGeom>
                  <a:avLst/>
                  <a:gdLst/>
                  <a:ahLst/>
                  <a:cxnLst/>
                  <a:rect l="l" t="t" r="r" b="b"/>
                  <a:pathLst>
                    <a:path w="174076" h="184787" extrusionOk="0">
                      <a:moveTo>
                        <a:pt x="3822" y="49637"/>
                      </a:moveTo>
                      <a:cubicBezTo>
                        <a:pt x="-6694" y="32111"/>
                        <a:pt x="5769" y="14584"/>
                        <a:pt x="25633" y="10300"/>
                      </a:cubicBezTo>
                      <a:cubicBezTo>
                        <a:pt x="48612" y="4847"/>
                        <a:pt x="75097" y="-4111"/>
                        <a:pt x="105087" y="2121"/>
                      </a:cubicBezTo>
                      <a:cubicBezTo>
                        <a:pt x="164288" y="14584"/>
                        <a:pt x="176752" y="67943"/>
                        <a:pt x="173636" y="95596"/>
                      </a:cubicBezTo>
                      <a:cubicBezTo>
                        <a:pt x="169741" y="131428"/>
                        <a:pt x="140919" y="184787"/>
                        <a:pt x="140919" y="184787"/>
                      </a:cubicBezTo>
                      <a:lnTo>
                        <a:pt x="100413" y="176219"/>
                      </a:lnTo>
                      <a:cubicBezTo>
                        <a:pt x="89897" y="173882"/>
                        <a:pt x="82497" y="164145"/>
                        <a:pt x="82887" y="153629"/>
                      </a:cubicBezTo>
                      <a:lnTo>
                        <a:pt x="84055" y="131428"/>
                      </a:lnTo>
                      <a:lnTo>
                        <a:pt x="47054" y="110396"/>
                      </a:lnTo>
                      <a:lnTo>
                        <a:pt x="51728" y="84691"/>
                      </a:lnTo>
                      <a:cubicBezTo>
                        <a:pt x="54065" y="73006"/>
                        <a:pt x="53286" y="53143"/>
                        <a:pt x="30307" y="52364"/>
                      </a:cubicBezTo>
                      <a:lnTo>
                        <a:pt x="4211" y="50027"/>
                      </a:lnTo>
                      <a:lnTo>
                        <a:pt x="4211" y="50027"/>
                      </a:lnTo>
                      <a:close/>
                    </a:path>
                  </a:pathLst>
                </a:custGeom>
                <a:solidFill>
                  <a:srgbClr val="4A469C"/>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04" name="Google Shape;14804;p80"/>
                <p:cNvSpPr/>
                <p:nvPr/>
              </p:nvSpPr>
              <p:spPr>
                <a:xfrm rot="-4692000">
                  <a:off x="1989857" y="3920792"/>
                  <a:ext cx="56085" cy="41285"/>
                </a:xfrm>
                <a:custGeom>
                  <a:avLst/>
                  <a:gdLst/>
                  <a:ahLst/>
                  <a:cxnLst/>
                  <a:rect l="l" t="t" r="r" b="b"/>
                  <a:pathLst>
                    <a:path w="56085" h="41285" extrusionOk="0">
                      <a:moveTo>
                        <a:pt x="56085" y="20642"/>
                      </a:moveTo>
                      <a:cubicBezTo>
                        <a:pt x="56085" y="32043"/>
                        <a:pt x="43530" y="41285"/>
                        <a:pt x="28042" y="41285"/>
                      </a:cubicBezTo>
                      <a:cubicBezTo>
                        <a:pt x="12555" y="41285"/>
                        <a:pt x="0" y="32043"/>
                        <a:pt x="0" y="20642"/>
                      </a:cubicBezTo>
                      <a:cubicBezTo>
                        <a:pt x="0" y="9242"/>
                        <a:pt x="12555" y="0"/>
                        <a:pt x="28042" y="0"/>
                      </a:cubicBezTo>
                      <a:cubicBezTo>
                        <a:pt x="43530" y="0"/>
                        <a:pt x="56085" y="9242"/>
                        <a:pt x="56085" y="20642"/>
                      </a:cubicBezTo>
                      <a:close/>
                    </a:path>
                  </a:pathLst>
                </a:custGeom>
                <a:solidFill>
                  <a:srgbClr val="DAA874"/>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sp>
            <p:nvSpPr>
              <p:cNvPr id="14805" name="Google Shape;14805;p80"/>
              <p:cNvSpPr/>
              <p:nvPr/>
            </p:nvSpPr>
            <p:spPr>
              <a:xfrm flipH="1">
                <a:off x="1423296" y="4246688"/>
                <a:ext cx="224985" cy="141189"/>
              </a:xfrm>
              <a:custGeom>
                <a:avLst/>
                <a:gdLst/>
                <a:ahLst/>
                <a:cxnLst/>
                <a:rect l="l" t="t" r="r" b="b"/>
                <a:pathLst>
                  <a:path w="172365" h="108167" extrusionOk="0">
                    <a:moveTo>
                      <a:pt x="172366" y="33777"/>
                    </a:moveTo>
                    <a:cubicBezTo>
                      <a:pt x="172366" y="33777"/>
                      <a:pt x="150165" y="3787"/>
                      <a:pt x="129912" y="1450"/>
                    </a:cubicBezTo>
                    <a:cubicBezTo>
                      <a:pt x="78890" y="-4003"/>
                      <a:pt x="994" y="7682"/>
                      <a:pt x="994" y="7682"/>
                    </a:cubicBezTo>
                    <a:cubicBezTo>
                      <a:pt x="994" y="7682"/>
                      <a:pt x="-9133" y="64156"/>
                      <a:pt x="35268" y="86357"/>
                    </a:cubicBezTo>
                    <a:cubicBezTo>
                      <a:pt x="63311" y="86746"/>
                      <a:pt x="78890" y="108168"/>
                      <a:pt x="78890" y="108168"/>
                    </a:cubicBezTo>
                    <a:lnTo>
                      <a:pt x="172366" y="33387"/>
                    </a:lnTo>
                    <a:close/>
                  </a:path>
                </a:pathLst>
              </a:custGeom>
              <a:solidFill>
                <a:srgbClr val="4A469C"/>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06" name="Google Shape;14806;p80"/>
              <p:cNvSpPr/>
              <p:nvPr/>
            </p:nvSpPr>
            <p:spPr>
              <a:xfrm flipH="1">
                <a:off x="1408552" y="4562252"/>
                <a:ext cx="187593" cy="69139"/>
              </a:xfrm>
              <a:custGeom>
                <a:avLst/>
                <a:gdLst/>
                <a:ahLst/>
                <a:cxnLst/>
                <a:rect l="l" t="t" r="r" b="b"/>
                <a:pathLst>
                  <a:path w="143718" h="52969" extrusionOk="0">
                    <a:moveTo>
                      <a:pt x="143719" y="52970"/>
                    </a:moveTo>
                    <a:lnTo>
                      <a:pt x="136319" y="3895"/>
                    </a:lnTo>
                    <a:lnTo>
                      <a:pt x="8179" y="0"/>
                    </a:lnTo>
                    <a:lnTo>
                      <a:pt x="0" y="44790"/>
                    </a:lnTo>
                    <a:lnTo>
                      <a:pt x="143719" y="52970"/>
                    </a:lnTo>
                    <a:close/>
                  </a:path>
                </a:pathLst>
              </a:custGeom>
              <a:solidFill>
                <a:srgbClr val="E5D2F2"/>
              </a:solidFill>
              <a:ln>
                <a:noFill/>
              </a:ln>
            </p:spPr>
            <p:txBody>
              <a:bodyPr spcFirstLastPara="1" wrap="square" lIns="91350" tIns="45650" rIns="91350" bIns="45650" anchor="ctr"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07" name="Google Shape;14807;p80"/>
              <p:cNvSpPr/>
              <p:nvPr/>
            </p:nvSpPr>
            <p:spPr>
              <a:xfrm>
                <a:off x="1326710" y="4582588"/>
                <a:ext cx="382814" cy="611622"/>
              </a:xfrm>
              <a:custGeom>
                <a:avLst/>
                <a:gdLst/>
                <a:ahLst/>
                <a:cxnLst/>
                <a:rect l="l" t="t" r="r" b="b"/>
                <a:pathLst>
                  <a:path w="437518" h="699025" extrusionOk="0">
                    <a:moveTo>
                      <a:pt x="249835" y="0"/>
                    </a:moveTo>
                    <a:lnTo>
                      <a:pt x="386378" y="31376"/>
                    </a:lnTo>
                    <a:cubicBezTo>
                      <a:pt x="386378" y="31376"/>
                      <a:pt x="412623" y="346778"/>
                      <a:pt x="434366" y="616748"/>
                    </a:cubicBezTo>
                    <a:lnTo>
                      <a:pt x="437518" y="656137"/>
                    </a:lnTo>
                    <a:lnTo>
                      <a:pt x="423858" y="663551"/>
                    </a:lnTo>
                    <a:cubicBezTo>
                      <a:pt x="369851" y="686394"/>
                      <a:pt x="310474" y="699025"/>
                      <a:pt x="248147" y="699025"/>
                    </a:cubicBezTo>
                    <a:cubicBezTo>
                      <a:pt x="185820" y="699025"/>
                      <a:pt x="126443" y="686394"/>
                      <a:pt x="72437" y="663551"/>
                    </a:cubicBezTo>
                    <a:lnTo>
                      <a:pt x="31994" y="641600"/>
                    </a:lnTo>
                    <a:lnTo>
                      <a:pt x="570" y="194066"/>
                    </a:lnTo>
                    <a:cubicBezTo>
                      <a:pt x="-5820" y="104587"/>
                      <a:pt x="42404" y="32538"/>
                      <a:pt x="101671" y="17430"/>
                    </a:cubicBezTo>
                    <a:lnTo>
                      <a:pt x="101089" y="18013"/>
                    </a:lnTo>
                    <a:lnTo>
                      <a:pt x="132465" y="47064"/>
                    </a:lnTo>
                    <a:close/>
                  </a:path>
                </a:pathLst>
              </a:custGeom>
              <a:solidFill>
                <a:srgbClr val="7F35B2"/>
              </a:solidFill>
              <a:ln>
                <a:noFill/>
              </a:ln>
            </p:spPr>
            <p:txBody>
              <a:bodyPr spcFirstLastPara="1" wrap="square" lIns="91350" tIns="91350" rIns="91350" bIns="91350" anchor="ctr" anchorCtr="0">
                <a:noAutofit/>
              </a:bodyPr>
              <a:lstStyle/>
              <a:p>
                <a:pPr marL="0" marR="0" lvl="0" indent="0" algn="ctr" rtl="0">
                  <a:spcBef>
                    <a:spcPts val="0"/>
                  </a:spcBef>
                  <a:spcAft>
                    <a:spcPts val="0"/>
                  </a:spcAft>
                  <a:buNone/>
                </a:pPr>
                <a:endParaRPr sz="1200">
                  <a:solidFill>
                    <a:srgbClr val="041032"/>
                  </a:solidFill>
                  <a:latin typeface="Arial"/>
                  <a:ea typeface="Arial"/>
                  <a:cs typeface="Arial"/>
                  <a:sym typeface="Arial"/>
                </a:endParaRPr>
              </a:p>
            </p:txBody>
          </p:sp>
        </p:grpSp>
      </p:grpSp>
      <p:grpSp>
        <p:nvGrpSpPr>
          <p:cNvPr id="14808" name="Google Shape;14808;p80"/>
          <p:cNvGrpSpPr/>
          <p:nvPr/>
        </p:nvGrpSpPr>
        <p:grpSpPr>
          <a:xfrm>
            <a:off x="1651695" y="2084655"/>
            <a:ext cx="3069611" cy="263353"/>
            <a:chOff x="2159610" y="3736293"/>
            <a:chExt cx="4052299" cy="263560"/>
          </a:xfrm>
        </p:grpSpPr>
        <p:cxnSp>
          <p:nvCxnSpPr>
            <p:cNvPr id="14809" name="Google Shape;14809;p80"/>
            <p:cNvCxnSpPr/>
            <p:nvPr/>
          </p:nvCxnSpPr>
          <p:spPr>
            <a:xfrm rot="10800000">
              <a:off x="2442949" y="3880513"/>
              <a:ext cx="3768960" cy="0"/>
            </a:xfrm>
            <a:prstGeom prst="straightConnector1">
              <a:avLst/>
            </a:prstGeom>
            <a:noFill/>
            <a:ln w="28575" cap="flat" cmpd="sng">
              <a:solidFill>
                <a:schemeClr val="accent2"/>
              </a:solidFill>
              <a:prstDash val="dot"/>
              <a:miter lim="800000"/>
              <a:headEnd type="none" w="sm" len="sm"/>
              <a:tailEnd type="none" w="sm" len="sm"/>
            </a:ln>
          </p:spPr>
        </p:cxnSp>
        <p:grpSp>
          <p:nvGrpSpPr>
            <p:cNvPr id="14810" name="Google Shape;14810;p80"/>
            <p:cNvGrpSpPr/>
            <p:nvPr/>
          </p:nvGrpSpPr>
          <p:grpSpPr>
            <a:xfrm>
              <a:off x="2159610" y="3736293"/>
              <a:ext cx="263561" cy="263560"/>
              <a:chOff x="1975649" y="2749231"/>
              <a:chExt cx="263561" cy="263560"/>
            </a:xfrm>
          </p:grpSpPr>
          <p:sp>
            <p:nvSpPr>
              <p:cNvPr id="14811" name="Google Shape;14811;p80"/>
              <p:cNvSpPr/>
              <p:nvPr/>
            </p:nvSpPr>
            <p:spPr>
              <a:xfrm>
                <a:off x="1975649" y="2749231"/>
                <a:ext cx="263561" cy="263560"/>
              </a:xfrm>
              <a:prstGeom prst="ellipse">
                <a:avLst/>
              </a:prstGeom>
              <a:solidFill>
                <a:srgbClr val="C2D6EC"/>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sp>
            <p:nvSpPr>
              <p:cNvPr id="14812" name="Google Shape;14812;p80"/>
              <p:cNvSpPr/>
              <p:nvPr/>
            </p:nvSpPr>
            <p:spPr>
              <a:xfrm>
                <a:off x="2132012" y="2832057"/>
                <a:ext cx="82926" cy="106479"/>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lt1">
                  <a:alpha val="84705"/>
                </a:schemeClr>
              </a:solidFill>
              <a:ln>
                <a:noFill/>
              </a:ln>
            </p:spPr>
            <p:txBody>
              <a:bodyPr spcFirstLastPara="1" wrap="square" lIns="91250" tIns="45575" rIns="91250" bIns="45575" anchor="ctr" anchorCtr="0">
                <a:noAutofit/>
              </a:bodyPr>
              <a:lstStyle/>
              <a:p>
                <a:pPr marL="0" marR="0" lvl="0" indent="0" algn="ctr" rtl="0">
                  <a:spcBef>
                    <a:spcPts val="0"/>
                  </a:spcBef>
                  <a:spcAft>
                    <a:spcPts val="0"/>
                  </a:spcAft>
                  <a:buNone/>
                </a:pPr>
                <a:endParaRPr sz="1200">
                  <a:solidFill>
                    <a:srgbClr val="005B84"/>
                  </a:solidFill>
                  <a:latin typeface="Arial"/>
                  <a:ea typeface="Arial"/>
                  <a:cs typeface="Arial"/>
                  <a:sym typeface="Arial"/>
                </a:endParaRPr>
              </a:p>
            </p:txBody>
          </p:sp>
        </p:grpSp>
      </p:grpSp>
      <p:sp>
        <p:nvSpPr>
          <p:cNvPr id="14813" name="Google Shape;14813;p80"/>
          <p:cNvSpPr/>
          <p:nvPr/>
        </p:nvSpPr>
        <p:spPr>
          <a:xfrm>
            <a:off x="5024585" y="2574674"/>
            <a:ext cx="2533780" cy="233817"/>
          </a:xfrm>
          <a:prstGeom prst="rect">
            <a:avLst/>
          </a:prstGeom>
          <a:solidFill>
            <a:schemeClr val="lt1"/>
          </a:solidFill>
          <a:ln w="9525" cap="flat" cmpd="sng">
            <a:solidFill>
              <a:srgbClr val="777777"/>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Certificate Authority for a VCF Fleet</a:t>
            </a:r>
            <a:endParaRPr sz="1000">
              <a:solidFill>
                <a:srgbClr val="000000"/>
              </a:solidFill>
              <a:latin typeface="Arial"/>
              <a:ea typeface="Arial"/>
              <a:cs typeface="Arial"/>
              <a:sym typeface="Arial"/>
            </a:endParaRPr>
          </a:p>
        </p:txBody>
      </p:sp>
      <p:grpSp>
        <p:nvGrpSpPr>
          <p:cNvPr id="14814" name="Google Shape;14814;p80"/>
          <p:cNvGrpSpPr/>
          <p:nvPr/>
        </p:nvGrpSpPr>
        <p:grpSpPr>
          <a:xfrm>
            <a:off x="5019912" y="2912690"/>
            <a:ext cx="2533783" cy="1079480"/>
            <a:chOff x="3915325" y="3041435"/>
            <a:chExt cx="2535762" cy="1080323"/>
          </a:xfrm>
        </p:grpSpPr>
        <p:sp>
          <p:nvSpPr>
            <p:cNvPr id="14815" name="Google Shape;14815;p80"/>
            <p:cNvSpPr/>
            <p:nvPr/>
          </p:nvSpPr>
          <p:spPr>
            <a:xfrm>
              <a:off x="3953629" y="3382020"/>
              <a:ext cx="739830" cy="739738"/>
            </a:xfrm>
            <a:prstGeom prst="roundRect">
              <a:avLst>
                <a:gd name="adj" fmla="val 10287"/>
              </a:avLst>
            </a:prstGeom>
            <a:solidFill>
              <a:schemeClr val="accent3"/>
            </a:solidFill>
            <a:ln w="25400" cap="flat" cmpd="sng">
              <a:solidFill>
                <a:schemeClr val="accent3"/>
              </a:solidFill>
              <a:prstDash val="solid"/>
              <a:miter lim="800000"/>
              <a:headEnd type="none" w="sm" len="sm"/>
              <a:tailEnd type="none" w="sm" len="sm"/>
            </a:ln>
          </p:spPr>
          <p:txBody>
            <a:bodyPr spcFirstLastPara="1" wrap="square" lIns="91350" tIns="45675" rIns="91350" bIns="45675" anchor="ctr" anchorCtr="0">
              <a:noAutofit/>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VCF 9.x</a:t>
              </a:r>
              <a:endParaRPr/>
            </a:p>
          </p:txBody>
        </p:sp>
        <p:sp>
          <p:nvSpPr>
            <p:cNvPr id="14816" name="Google Shape;14816;p80"/>
            <p:cNvSpPr/>
            <p:nvPr/>
          </p:nvSpPr>
          <p:spPr>
            <a:xfrm>
              <a:off x="4805495" y="3382020"/>
              <a:ext cx="739830" cy="739738"/>
            </a:xfrm>
            <a:prstGeom prst="roundRect">
              <a:avLst>
                <a:gd name="adj" fmla="val 10287"/>
              </a:avLst>
            </a:prstGeom>
            <a:solidFill>
              <a:schemeClr val="accent4"/>
            </a:solidFill>
            <a:ln w="25400" cap="flat" cmpd="sng">
              <a:solidFill>
                <a:schemeClr val="accent4"/>
              </a:solidFill>
              <a:prstDash val="solid"/>
              <a:miter lim="800000"/>
              <a:headEnd type="none" w="sm" len="sm"/>
              <a:tailEnd type="none" w="sm" len="sm"/>
            </a:ln>
          </p:spPr>
          <p:txBody>
            <a:bodyPr spcFirstLastPara="1" wrap="square" lIns="91350" tIns="45675" rIns="91350" bIns="45675" anchor="ctr" anchorCtr="0">
              <a:noAutofit/>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VCF 5.2.x</a:t>
              </a:r>
              <a:endParaRPr/>
            </a:p>
          </p:txBody>
        </p:sp>
        <p:sp>
          <p:nvSpPr>
            <p:cNvPr id="14817" name="Google Shape;14817;p80"/>
            <p:cNvSpPr/>
            <p:nvPr/>
          </p:nvSpPr>
          <p:spPr>
            <a:xfrm>
              <a:off x="5670603" y="3382020"/>
              <a:ext cx="739830" cy="739738"/>
            </a:xfrm>
            <a:prstGeom prst="roundRect">
              <a:avLst>
                <a:gd name="adj" fmla="val 10287"/>
              </a:avLst>
            </a:prstGeom>
            <a:solidFill>
              <a:schemeClr val="accent1"/>
            </a:solidFill>
            <a:ln w="25400" cap="flat" cmpd="sng">
              <a:solidFill>
                <a:schemeClr val="accent1"/>
              </a:solidFill>
              <a:prstDash val="solid"/>
              <a:miter lim="800000"/>
              <a:headEnd type="none" w="sm" len="sm"/>
              <a:tailEnd type="none" w="sm" len="sm"/>
            </a:ln>
          </p:spPr>
          <p:txBody>
            <a:bodyPr spcFirstLastPara="1" wrap="square" lIns="91350" tIns="45675" rIns="91350" bIns="45675" anchor="ctr" anchorCtr="0">
              <a:noAutofit/>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vSphere 8.0 U3</a:t>
              </a:r>
              <a:endParaRPr/>
            </a:p>
          </p:txBody>
        </p:sp>
        <p:sp>
          <p:nvSpPr>
            <p:cNvPr id="14818" name="Google Shape;14818;p80"/>
            <p:cNvSpPr/>
            <p:nvPr/>
          </p:nvSpPr>
          <p:spPr>
            <a:xfrm>
              <a:off x="3915325" y="3041435"/>
              <a:ext cx="2535762" cy="234000"/>
            </a:xfrm>
            <a:prstGeom prst="rect">
              <a:avLst/>
            </a:prstGeom>
            <a:solidFill>
              <a:schemeClr val="lt1"/>
            </a:solidFill>
            <a:ln w="9525" cap="flat" cmpd="sng">
              <a:solidFill>
                <a:srgbClr val="777777"/>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Expanded Component and BOM Support</a:t>
              </a:r>
              <a:endParaRPr sz="1000">
                <a:solidFill>
                  <a:srgbClr val="000000"/>
                </a:solidFill>
                <a:latin typeface="Arial"/>
                <a:ea typeface="Arial"/>
                <a:cs typeface="Arial"/>
                <a:sym typeface="Arial"/>
              </a:endParaRPr>
            </a:p>
          </p:txBody>
        </p:sp>
      </p:grpSp>
      <p:sp>
        <p:nvSpPr>
          <p:cNvPr id="14819" name="Google Shape;14819;p80"/>
          <p:cNvSpPr/>
          <p:nvPr/>
        </p:nvSpPr>
        <p:spPr>
          <a:xfrm>
            <a:off x="5028921" y="4113383"/>
            <a:ext cx="2517701" cy="233817"/>
          </a:xfrm>
          <a:prstGeom prst="rect">
            <a:avLst/>
          </a:prstGeom>
          <a:solidFill>
            <a:schemeClr val="lt1"/>
          </a:solidFill>
          <a:ln w="9525" cap="flat" cmpd="sng">
            <a:solidFill>
              <a:srgbClr val="777777"/>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1000">
                <a:solidFill>
                  <a:srgbClr val="000000"/>
                </a:solidFill>
                <a:latin typeface="Arial"/>
                <a:ea typeface="Arial"/>
                <a:cs typeface="Arial"/>
                <a:sym typeface="Arial"/>
              </a:rPr>
              <a:t>Perform Bulk Certificate Operations</a:t>
            </a:r>
            <a:endParaRPr sz="1000">
              <a:solidFill>
                <a:srgbClr val="000000"/>
              </a:solidFill>
              <a:latin typeface="Arial"/>
              <a:ea typeface="Arial"/>
              <a:cs typeface="Arial"/>
              <a:sym typeface="Arial"/>
            </a:endParaRPr>
          </a:p>
        </p:txBody>
      </p:sp>
      <p:grpSp>
        <p:nvGrpSpPr>
          <p:cNvPr id="14820" name="Google Shape;14820;p80"/>
          <p:cNvGrpSpPr/>
          <p:nvPr/>
        </p:nvGrpSpPr>
        <p:grpSpPr>
          <a:xfrm>
            <a:off x="5024323" y="4480038"/>
            <a:ext cx="1248293" cy="1252722"/>
            <a:chOff x="2865782" y="4573848"/>
            <a:chExt cx="1249269" cy="1253700"/>
          </a:xfrm>
        </p:grpSpPr>
        <p:sp>
          <p:nvSpPr>
            <p:cNvPr id="14821" name="Google Shape;14821;p80"/>
            <p:cNvSpPr/>
            <p:nvPr/>
          </p:nvSpPr>
          <p:spPr>
            <a:xfrm>
              <a:off x="2865782" y="4573848"/>
              <a:ext cx="1249269" cy="1253700"/>
            </a:xfrm>
            <a:prstGeom prst="roundRect">
              <a:avLst>
                <a:gd name="adj" fmla="val 2356"/>
              </a:avLst>
            </a:prstGeom>
            <a:solidFill>
              <a:srgbClr val="E8E8EA"/>
            </a:solidFill>
            <a:ln w="9525" cap="flat" cmpd="sng">
              <a:solidFill>
                <a:schemeClr val="dk1"/>
              </a:solidFill>
              <a:prstDash val="solid"/>
              <a:round/>
              <a:headEnd type="none" w="sm" len="sm"/>
              <a:tailEnd type="none" w="sm" len="sm"/>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22" name="Google Shape;14822;p80"/>
            <p:cNvSpPr/>
            <p:nvPr/>
          </p:nvSpPr>
          <p:spPr>
            <a:xfrm>
              <a:off x="2922825" y="5284631"/>
              <a:ext cx="1121390" cy="450709"/>
            </a:xfrm>
            <a:prstGeom prst="roundRect">
              <a:avLst>
                <a:gd name="adj" fmla="val 6349"/>
              </a:avLst>
            </a:prstGeom>
            <a:solidFill>
              <a:schemeClr val="lt1"/>
            </a:solidFill>
            <a:ln w="25400" cap="flat" cmpd="sng">
              <a:solidFill>
                <a:schemeClr val="accent2"/>
              </a:solidFill>
              <a:prstDash val="solid"/>
              <a:round/>
              <a:headEnd type="none" w="sm" len="sm"/>
              <a:tailEnd type="none" w="sm" len="sm"/>
            </a:ln>
          </p:spPr>
          <p:txBody>
            <a:bodyPr spcFirstLastPara="1" wrap="square" lIns="91300" tIns="45625" rIns="91300" bIns="45625" anchor="ctr" anchorCtr="0">
              <a:noAutofit/>
            </a:bodyPr>
            <a:lstStyle/>
            <a:p>
              <a:pPr marL="0" marR="0" lvl="0" indent="0" algn="ctr" rtl="0">
                <a:spcBef>
                  <a:spcPts val="0"/>
                </a:spcBef>
                <a:spcAft>
                  <a:spcPts val="0"/>
                </a:spcAft>
                <a:buNone/>
              </a:pPr>
              <a:endParaRPr sz="800">
                <a:solidFill>
                  <a:srgbClr val="FFFFFF"/>
                </a:solidFill>
                <a:latin typeface="Arial"/>
                <a:ea typeface="Arial"/>
                <a:cs typeface="Arial"/>
                <a:sym typeface="Arial"/>
              </a:endParaRPr>
            </a:p>
          </p:txBody>
        </p:sp>
        <p:sp>
          <p:nvSpPr>
            <p:cNvPr id="14823" name="Google Shape;14823;p80"/>
            <p:cNvSpPr/>
            <p:nvPr/>
          </p:nvSpPr>
          <p:spPr>
            <a:xfrm>
              <a:off x="3699732" y="5425397"/>
              <a:ext cx="259826" cy="259826"/>
            </a:xfrm>
            <a:prstGeom prst="ellipse">
              <a:avLst/>
            </a:prstGeom>
            <a:solidFill>
              <a:schemeClr val="accent2"/>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24" name="Google Shape;14824;p80"/>
            <p:cNvSpPr/>
            <p:nvPr/>
          </p:nvSpPr>
          <p:spPr>
            <a:xfrm>
              <a:off x="3742922" y="5469459"/>
              <a:ext cx="171432" cy="171431"/>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325" tIns="45625" rIns="91325" bIns="45625"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4825" name="Google Shape;14825;p80"/>
            <p:cNvSpPr/>
            <p:nvPr/>
          </p:nvSpPr>
          <p:spPr>
            <a:xfrm>
              <a:off x="3012625" y="5429491"/>
              <a:ext cx="259826" cy="259826"/>
            </a:xfrm>
            <a:prstGeom prst="ellipse">
              <a:avLst/>
            </a:prstGeom>
            <a:solidFill>
              <a:schemeClr val="accent5"/>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26" name="Google Shape;14826;p80"/>
            <p:cNvSpPr/>
            <p:nvPr/>
          </p:nvSpPr>
          <p:spPr>
            <a:xfrm>
              <a:off x="3058730" y="5478422"/>
              <a:ext cx="162394" cy="148034"/>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325" tIns="45625" rIns="91325" bIns="45625"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4827" name="Google Shape;14827;p80"/>
            <p:cNvSpPr/>
            <p:nvPr/>
          </p:nvSpPr>
          <p:spPr>
            <a:xfrm>
              <a:off x="3355663" y="5429491"/>
              <a:ext cx="259826" cy="259826"/>
            </a:xfrm>
            <a:prstGeom prst="ellipse">
              <a:avLst/>
            </a:prstGeom>
            <a:gradFill>
              <a:gsLst>
                <a:gs pos="0">
                  <a:schemeClr val="accent2"/>
                </a:gs>
                <a:gs pos="100000">
                  <a:schemeClr val="accent2"/>
                </a:gs>
              </a:gsLst>
              <a:lin ang="0" scaled="0"/>
            </a:gra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28" name="Google Shape;14828;p80"/>
            <p:cNvSpPr/>
            <p:nvPr/>
          </p:nvSpPr>
          <p:spPr>
            <a:xfrm>
              <a:off x="3414571" y="5480218"/>
              <a:ext cx="140211" cy="163358"/>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325" tIns="45625" rIns="91325" bIns="45625"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4829" name="Google Shape;14829;p80"/>
            <p:cNvSpPr/>
            <p:nvPr/>
          </p:nvSpPr>
          <p:spPr>
            <a:xfrm>
              <a:off x="2934649" y="4670530"/>
              <a:ext cx="1109567" cy="214904"/>
            </a:xfrm>
            <a:prstGeom prst="roundRect">
              <a:avLst>
                <a:gd name="adj" fmla="val 50000"/>
              </a:avLst>
            </a:prstGeom>
            <a:solidFill>
              <a:schemeClr val="lt1"/>
            </a:solidFill>
            <a:ln w="25400" cap="flat" cmpd="sng">
              <a:solidFill>
                <a:schemeClr val="accent5"/>
              </a:solidFill>
              <a:prstDash val="solid"/>
              <a:round/>
              <a:headEnd type="none" w="sm" len="sm"/>
              <a:tailEnd type="none" w="sm" len="sm"/>
            </a:ln>
          </p:spPr>
          <p:txBody>
            <a:bodyPr spcFirstLastPara="1" wrap="square" lIns="91300" tIns="45625" rIns="91300" bIns="45625"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     </a:t>
              </a:r>
              <a:r>
                <a:rPr lang="en-US" sz="800">
                  <a:solidFill>
                    <a:srgbClr val="000000"/>
                  </a:solidFill>
                  <a:latin typeface="Arial"/>
                  <a:ea typeface="Arial"/>
                  <a:cs typeface="Arial"/>
                  <a:sym typeface="Arial"/>
                </a:rPr>
                <a:t>VCF Instance</a:t>
              </a:r>
              <a:endParaRPr sz="800">
                <a:solidFill>
                  <a:srgbClr val="000000"/>
                </a:solidFill>
                <a:latin typeface="Arial"/>
                <a:ea typeface="Arial"/>
                <a:cs typeface="Arial"/>
                <a:sym typeface="Arial"/>
              </a:endParaRPr>
            </a:p>
          </p:txBody>
        </p:sp>
        <p:pic>
          <p:nvPicPr>
            <p:cNvPr id="14830" name="Google Shape;14830;p80"/>
            <p:cNvPicPr preferRelativeResize="0"/>
            <p:nvPr/>
          </p:nvPicPr>
          <p:blipFill rotWithShape="1">
            <a:blip r:embed="rId3">
              <a:alphaModFix/>
            </a:blip>
            <a:srcRect/>
            <a:stretch/>
          </p:blipFill>
          <p:spPr>
            <a:xfrm>
              <a:off x="3069720" y="4697610"/>
              <a:ext cx="144625" cy="158945"/>
            </a:xfrm>
            <a:prstGeom prst="rect">
              <a:avLst/>
            </a:prstGeom>
            <a:noFill/>
            <a:ln>
              <a:noFill/>
            </a:ln>
          </p:spPr>
        </p:pic>
        <p:sp>
          <p:nvSpPr>
            <p:cNvPr id="14831" name="Google Shape;14831;p80"/>
            <p:cNvSpPr/>
            <p:nvPr/>
          </p:nvSpPr>
          <p:spPr>
            <a:xfrm>
              <a:off x="2922825" y="4977239"/>
              <a:ext cx="551778" cy="228311"/>
            </a:xfrm>
            <a:prstGeom prst="roundRect">
              <a:avLst>
                <a:gd name="adj" fmla="val 6349"/>
              </a:avLst>
            </a:prstGeom>
            <a:solidFill>
              <a:schemeClr val="accent5"/>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r>
                <a:rPr lang="en-US" sz="650" b="1">
                  <a:solidFill>
                    <a:srgbClr val="FFFFFF"/>
                  </a:solidFill>
                  <a:latin typeface="Arial"/>
                  <a:ea typeface="Arial"/>
                  <a:cs typeface="Arial"/>
                  <a:sym typeface="Arial"/>
                </a:rPr>
                <a:t>vCenter</a:t>
              </a:r>
              <a:endParaRPr sz="650" b="1">
                <a:solidFill>
                  <a:srgbClr val="FFFFFF"/>
                </a:solidFill>
                <a:latin typeface="Arial"/>
                <a:ea typeface="Arial"/>
                <a:cs typeface="Arial"/>
                <a:sym typeface="Arial"/>
              </a:endParaRPr>
            </a:p>
          </p:txBody>
        </p:sp>
        <p:sp>
          <p:nvSpPr>
            <p:cNvPr id="14832" name="Google Shape;14832;p80"/>
            <p:cNvSpPr txBox="1"/>
            <p:nvPr/>
          </p:nvSpPr>
          <p:spPr>
            <a:xfrm>
              <a:off x="2934649" y="5312043"/>
              <a:ext cx="1093161" cy="100027"/>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650" b="1">
                  <a:solidFill>
                    <a:srgbClr val="005C8A"/>
                  </a:solidFill>
                  <a:latin typeface="Arial"/>
                  <a:ea typeface="Arial"/>
                  <a:cs typeface="Arial"/>
                  <a:sym typeface="Arial"/>
                </a:rPr>
                <a:t>Core Infrastructure</a:t>
              </a:r>
              <a:endParaRPr sz="650">
                <a:solidFill>
                  <a:srgbClr val="000000"/>
                </a:solidFill>
                <a:latin typeface="Arial"/>
                <a:ea typeface="Arial"/>
                <a:cs typeface="Arial"/>
                <a:sym typeface="Arial"/>
              </a:endParaRPr>
            </a:p>
          </p:txBody>
        </p:sp>
        <p:sp>
          <p:nvSpPr>
            <p:cNvPr id="14833" name="Google Shape;14833;p80"/>
            <p:cNvSpPr/>
            <p:nvPr/>
          </p:nvSpPr>
          <p:spPr>
            <a:xfrm>
              <a:off x="3509084" y="4973850"/>
              <a:ext cx="543827" cy="228311"/>
            </a:xfrm>
            <a:prstGeom prst="roundRect">
              <a:avLst>
                <a:gd name="adj" fmla="val 6349"/>
              </a:avLst>
            </a:prstGeom>
            <a:solidFill>
              <a:schemeClr val="accent2"/>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r>
                <a:rPr lang="en-US" sz="650" b="1">
                  <a:solidFill>
                    <a:srgbClr val="FFFFFF"/>
                  </a:solidFill>
                  <a:latin typeface="Arial"/>
                  <a:ea typeface="Arial"/>
                  <a:cs typeface="Arial"/>
                  <a:sym typeface="Arial"/>
                </a:rPr>
                <a:t>NSX Manager</a:t>
              </a:r>
              <a:endParaRPr sz="650" b="1">
                <a:solidFill>
                  <a:srgbClr val="FFFFFF"/>
                </a:solidFill>
                <a:latin typeface="Arial"/>
                <a:ea typeface="Arial"/>
                <a:cs typeface="Arial"/>
                <a:sym typeface="Arial"/>
              </a:endParaRPr>
            </a:p>
          </p:txBody>
        </p:sp>
      </p:grpSp>
      <p:sp>
        <p:nvSpPr>
          <p:cNvPr id="14834" name="Google Shape;14834;p80"/>
          <p:cNvSpPr/>
          <p:nvPr/>
        </p:nvSpPr>
        <p:spPr>
          <a:xfrm>
            <a:off x="4895501" y="2428849"/>
            <a:ext cx="2788729" cy="3432774"/>
          </a:xfrm>
          <a:prstGeom prst="roundRect">
            <a:avLst>
              <a:gd name="adj" fmla="val 4604"/>
            </a:avLst>
          </a:prstGeom>
          <a:noFill/>
          <a:ln w="12700" cap="flat" cmpd="sng">
            <a:solidFill>
              <a:schemeClr val="dk1"/>
            </a:solidFill>
            <a:prstDash val="solid"/>
            <a:miter lim="800000"/>
            <a:headEnd type="none" w="sm" len="sm"/>
            <a:tailEnd type="none" w="sm" len="sm"/>
          </a:ln>
        </p:spPr>
        <p:txBody>
          <a:bodyPr spcFirstLastPara="1" wrap="square" lIns="91350" tIns="45675" rIns="91350" bIns="45675"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grpSp>
        <p:nvGrpSpPr>
          <p:cNvPr id="14835" name="Google Shape;14835;p80"/>
          <p:cNvGrpSpPr/>
          <p:nvPr/>
        </p:nvGrpSpPr>
        <p:grpSpPr>
          <a:xfrm>
            <a:off x="4892155" y="2039741"/>
            <a:ext cx="2788729" cy="468948"/>
            <a:chOff x="2917149" y="2038655"/>
            <a:chExt cx="2790908" cy="469314"/>
          </a:xfrm>
        </p:grpSpPr>
        <p:sp>
          <p:nvSpPr>
            <p:cNvPr id="14836" name="Google Shape;14836;p80"/>
            <p:cNvSpPr/>
            <p:nvPr/>
          </p:nvSpPr>
          <p:spPr>
            <a:xfrm>
              <a:off x="2917149" y="2038655"/>
              <a:ext cx="2790908" cy="244360"/>
            </a:xfrm>
            <a:prstGeom prst="roundRect">
              <a:avLst>
                <a:gd name="adj" fmla="val 6349"/>
              </a:avLst>
            </a:prstGeom>
            <a:gradFill>
              <a:gsLst>
                <a:gs pos="0">
                  <a:schemeClr val="accent5"/>
                </a:gs>
                <a:gs pos="8000">
                  <a:schemeClr val="accent5"/>
                </a:gs>
                <a:gs pos="99000">
                  <a:schemeClr val="accent2"/>
                </a:gs>
                <a:gs pos="100000">
                  <a:schemeClr val="accent2"/>
                </a:gs>
              </a:gsLst>
              <a:lin ang="18900044" scaled="0"/>
            </a:gradFill>
            <a:ln>
              <a:noFill/>
            </a:ln>
          </p:spPr>
          <p:txBody>
            <a:bodyPr spcFirstLastPara="1" wrap="square" lIns="91325" tIns="45650" rIns="91325" bIns="45650" anchor="ctr" anchorCtr="0">
              <a:noAutofit/>
            </a:bodyPr>
            <a:lstStyle/>
            <a:p>
              <a:pPr marL="0" marR="0" lvl="0" indent="0" algn="ctr" rtl="0">
                <a:spcBef>
                  <a:spcPts val="0"/>
                </a:spcBef>
                <a:spcAft>
                  <a:spcPts val="0"/>
                </a:spcAft>
                <a:buNone/>
              </a:pPr>
              <a:r>
                <a:rPr lang="en-US" sz="1200" b="1">
                  <a:solidFill>
                    <a:srgbClr val="FFFFFF"/>
                  </a:solidFill>
                  <a:latin typeface="Arial"/>
                  <a:ea typeface="Arial"/>
                  <a:cs typeface="Arial"/>
                  <a:sym typeface="Arial"/>
                </a:rPr>
                <a:t>VCF Operations</a:t>
              </a:r>
              <a:endParaRPr/>
            </a:p>
          </p:txBody>
        </p:sp>
        <p:sp>
          <p:nvSpPr>
            <p:cNvPr id="14837" name="Google Shape;14837;p80"/>
            <p:cNvSpPr txBox="1"/>
            <p:nvPr/>
          </p:nvSpPr>
          <p:spPr>
            <a:xfrm>
              <a:off x="3387622" y="2323303"/>
              <a:ext cx="1882838" cy="184666"/>
            </a:xfrm>
            <a:prstGeom prst="rect">
              <a:avLst/>
            </a:prstGeom>
            <a:solidFill>
              <a:schemeClr val="lt1"/>
            </a:solid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Certificate Management</a:t>
              </a:r>
              <a:endParaRPr/>
            </a:p>
          </p:txBody>
        </p:sp>
      </p:grpSp>
      <p:cxnSp>
        <p:nvCxnSpPr>
          <p:cNvPr id="14838" name="Google Shape;14838;p80"/>
          <p:cNvCxnSpPr/>
          <p:nvPr/>
        </p:nvCxnSpPr>
        <p:spPr>
          <a:xfrm rot="10800000" flipH="1">
            <a:off x="1720464" y="2496981"/>
            <a:ext cx="3023562" cy="3326"/>
          </a:xfrm>
          <a:prstGeom prst="straightConnector1">
            <a:avLst/>
          </a:prstGeom>
          <a:noFill/>
          <a:ln w="28575" cap="flat" cmpd="sng">
            <a:solidFill>
              <a:schemeClr val="dk1"/>
            </a:solidFill>
            <a:prstDash val="dot"/>
            <a:miter lim="800000"/>
            <a:headEnd type="none" w="sm" len="sm"/>
            <a:tailEnd type="none" w="sm" len="sm"/>
          </a:ln>
        </p:spPr>
      </p:cxnSp>
      <p:grpSp>
        <p:nvGrpSpPr>
          <p:cNvPr id="14839" name="Google Shape;14839;p80"/>
          <p:cNvGrpSpPr/>
          <p:nvPr/>
        </p:nvGrpSpPr>
        <p:grpSpPr>
          <a:xfrm>
            <a:off x="3141627" y="2303172"/>
            <a:ext cx="411159" cy="411159"/>
            <a:chOff x="6962847" y="2656483"/>
            <a:chExt cx="411480" cy="411480"/>
          </a:xfrm>
        </p:grpSpPr>
        <p:sp>
          <p:nvSpPr>
            <p:cNvPr id="14840" name="Google Shape;14840;p80"/>
            <p:cNvSpPr/>
            <p:nvPr/>
          </p:nvSpPr>
          <p:spPr>
            <a:xfrm>
              <a:off x="6962847" y="2656483"/>
              <a:ext cx="411480" cy="411480"/>
            </a:xfrm>
            <a:prstGeom prst="ellipse">
              <a:avLst/>
            </a:prstGeom>
            <a:solidFill>
              <a:schemeClr val="lt1"/>
            </a:solidFill>
            <a:ln>
              <a:noFill/>
            </a:ln>
          </p:spPr>
          <p:txBody>
            <a:bodyPr spcFirstLastPara="1" wrap="square" lIns="91350" tIns="45675" rIns="91350" bIns="45675" anchor="ctr" anchorCtr="0">
              <a:noAutofit/>
            </a:bodyPr>
            <a:lstStyle/>
            <a:p>
              <a:pPr marL="0" marR="0" lvl="0" indent="0" algn="ctr" rtl="0">
                <a:spcBef>
                  <a:spcPts val="0"/>
                </a:spcBef>
                <a:spcAft>
                  <a:spcPts val="0"/>
                </a:spcAft>
                <a:buNone/>
              </a:pPr>
              <a:endParaRPr sz="1797">
                <a:solidFill>
                  <a:srgbClr val="FFFFFF"/>
                </a:solidFill>
                <a:latin typeface="Arial"/>
                <a:ea typeface="Arial"/>
                <a:cs typeface="Arial"/>
                <a:sym typeface="Arial"/>
              </a:endParaRPr>
            </a:p>
          </p:txBody>
        </p:sp>
        <p:sp>
          <p:nvSpPr>
            <p:cNvPr id="14841" name="Google Shape;14841;p80"/>
            <p:cNvSpPr/>
            <p:nvPr/>
          </p:nvSpPr>
          <p:spPr>
            <a:xfrm>
              <a:off x="7068931" y="2830558"/>
              <a:ext cx="73152" cy="69382"/>
            </a:xfrm>
            <a:custGeom>
              <a:avLst/>
              <a:gdLst/>
              <a:ahLst/>
              <a:cxnLst/>
              <a:rect l="l" t="t" r="r" b="b"/>
              <a:pathLst>
                <a:path w="97" h="92" extrusionOk="0">
                  <a:moveTo>
                    <a:pt x="71" y="74"/>
                  </a:moveTo>
                  <a:lnTo>
                    <a:pt x="27" y="74"/>
                  </a:lnTo>
                  <a:lnTo>
                    <a:pt x="20" y="92"/>
                  </a:lnTo>
                  <a:lnTo>
                    <a:pt x="0" y="92"/>
                  </a:lnTo>
                  <a:lnTo>
                    <a:pt x="39" y="0"/>
                  </a:lnTo>
                  <a:lnTo>
                    <a:pt x="59" y="0"/>
                  </a:lnTo>
                  <a:lnTo>
                    <a:pt x="97" y="92"/>
                  </a:lnTo>
                  <a:lnTo>
                    <a:pt x="78" y="92"/>
                  </a:lnTo>
                  <a:lnTo>
                    <a:pt x="71" y="74"/>
                  </a:lnTo>
                  <a:close/>
                  <a:moveTo>
                    <a:pt x="65" y="60"/>
                  </a:moveTo>
                  <a:lnTo>
                    <a:pt x="49" y="22"/>
                  </a:lnTo>
                  <a:lnTo>
                    <a:pt x="33" y="60"/>
                  </a:lnTo>
                  <a:lnTo>
                    <a:pt x="65" y="60"/>
                  </a:lnTo>
                  <a:close/>
                </a:path>
              </a:pathLst>
            </a:custGeom>
            <a:solidFill>
              <a:schemeClr val="dk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600">
                <a:solidFill>
                  <a:srgbClr val="000000"/>
                </a:solidFill>
                <a:latin typeface="Arial"/>
                <a:ea typeface="Arial"/>
                <a:cs typeface="Arial"/>
                <a:sym typeface="Arial"/>
              </a:endParaRPr>
            </a:p>
          </p:txBody>
        </p:sp>
        <p:sp>
          <p:nvSpPr>
            <p:cNvPr id="14842" name="Google Shape;14842;p80"/>
            <p:cNvSpPr/>
            <p:nvPr/>
          </p:nvSpPr>
          <p:spPr>
            <a:xfrm>
              <a:off x="7153252" y="2830558"/>
              <a:ext cx="56561" cy="69382"/>
            </a:xfrm>
            <a:custGeom>
              <a:avLst/>
              <a:gdLst/>
              <a:ahLst/>
              <a:cxnLst/>
              <a:rect l="l" t="t" r="r" b="b"/>
              <a:pathLst>
                <a:path w="75" h="92" extrusionOk="0">
                  <a:moveTo>
                    <a:pt x="0" y="0"/>
                  </a:moveTo>
                  <a:lnTo>
                    <a:pt x="41" y="0"/>
                  </a:lnTo>
                  <a:lnTo>
                    <a:pt x="41" y="0"/>
                  </a:lnTo>
                  <a:lnTo>
                    <a:pt x="50" y="1"/>
                  </a:lnTo>
                  <a:lnTo>
                    <a:pt x="58" y="3"/>
                  </a:lnTo>
                  <a:lnTo>
                    <a:pt x="58" y="3"/>
                  </a:lnTo>
                  <a:lnTo>
                    <a:pt x="65" y="8"/>
                  </a:lnTo>
                  <a:lnTo>
                    <a:pt x="71" y="14"/>
                  </a:lnTo>
                  <a:lnTo>
                    <a:pt x="71" y="14"/>
                  </a:lnTo>
                  <a:lnTo>
                    <a:pt x="73" y="22"/>
                  </a:lnTo>
                  <a:lnTo>
                    <a:pt x="75" y="30"/>
                  </a:lnTo>
                  <a:lnTo>
                    <a:pt x="75" y="30"/>
                  </a:lnTo>
                  <a:lnTo>
                    <a:pt x="73" y="39"/>
                  </a:lnTo>
                  <a:lnTo>
                    <a:pt x="71" y="46"/>
                  </a:lnTo>
                  <a:lnTo>
                    <a:pt x="71" y="46"/>
                  </a:lnTo>
                  <a:lnTo>
                    <a:pt x="65" y="52"/>
                  </a:lnTo>
                  <a:lnTo>
                    <a:pt x="58" y="57"/>
                  </a:lnTo>
                  <a:lnTo>
                    <a:pt x="58" y="57"/>
                  </a:lnTo>
                  <a:lnTo>
                    <a:pt x="50" y="60"/>
                  </a:lnTo>
                  <a:lnTo>
                    <a:pt x="41" y="60"/>
                  </a:lnTo>
                  <a:lnTo>
                    <a:pt x="17" y="60"/>
                  </a:lnTo>
                  <a:lnTo>
                    <a:pt x="17" y="92"/>
                  </a:lnTo>
                  <a:lnTo>
                    <a:pt x="0" y="92"/>
                  </a:lnTo>
                  <a:lnTo>
                    <a:pt x="0" y="0"/>
                  </a:lnTo>
                  <a:close/>
                  <a:moveTo>
                    <a:pt x="38" y="46"/>
                  </a:moveTo>
                  <a:lnTo>
                    <a:pt x="38" y="46"/>
                  </a:lnTo>
                  <a:lnTo>
                    <a:pt x="47" y="45"/>
                  </a:lnTo>
                  <a:lnTo>
                    <a:pt x="53" y="41"/>
                  </a:lnTo>
                  <a:lnTo>
                    <a:pt x="53" y="41"/>
                  </a:lnTo>
                  <a:lnTo>
                    <a:pt x="55" y="39"/>
                  </a:lnTo>
                  <a:lnTo>
                    <a:pt x="56" y="36"/>
                  </a:lnTo>
                  <a:lnTo>
                    <a:pt x="58" y="30"/>
                  </a:lnTo>
                  <a:lnTo>
                    <a:pt x="58" y="30"/>
                  </a:lnTo>
                  <a:lnTo>
                    <a:pt x="56" y="24"/>
                  </a:lnTo>
                  <a:lnTo>
                    <a:pt x="55" y="22"/>
                  </a:lnTo>
                  <a:lnTo>
                    <a:pt x="53" y="19"/>
                  </a:lnTo>
                  <a:lnTo>
                    <a:pt x="53" y="19"/>
                  </a:lnTo>
                  <a:lnTo>
                    <a:pt x="47" y="15"/>
                  </a:lnTo>
                  <a:lnTo>
                    <a:pt x="38" y="15"/>
                  </a:lnTo>
                  <a:lnTo>
                    <a:pt x="17" y="15"/>
                  </a:lnTo>
                  <a:lnTo>
                    <a:pt x="17" y="46"/>
                  </a:lnTo>
                  <a:lnTo>
                    <a:pt x="38" y="46"/>
                  </a:lnTo>
                  <a:close/>
                </a:path>
              </a:pathLst>
            </a:custGeom>
            <a:solidFill>
              <a:schemeClr val="dk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600">
                <a:solidFill>
                  <a:srgbClr val="000000"/>
                </a:solidFill>
                <a:latin typeface="Arial"/>
                <a:ea typeface="Arial"/>
                <a:cs typeface="Arial"/>
                <a:sym typeface="Arial"/>
              </a:endParaRPr>
            </a:p>
          </p:txBody>
        </p:sp>
        <p:sp>
          <p:nvSpPr>
            <p:cNvPr id="14843" name="Google Shape;14843;p80"/>
            <p:cNvSpPr/>
            <p:nvPr/>
          </p:nvSpPr>
          <p:spPr>
            <a:xfrm>
              <a:off x="7220200" y="2830558"/>
              <a:ext cx="12821" cy="69382"/>
            </a:xfrm>
            <a:prstGeom prst="rect">
              <a:avLst/>
            </a:prstGeom>
            <a:solidFill>
              <a:schemeClr val="dk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44" name="Google Shape;14844;p80"/>
            <p:cNvSpPr/>
            <p:nvPr/>
          </p:nvSpPr>
          <p:spPr>
            <a:xfrm>
              <a:off x="7057788" y="2740652"/>
              <a:ext cx="227378" cy="237240"/>
            </a:xfrm>
            <a:custGeom>
              <a:avLst/>
              <a:gdLst/>
              <a:ahLst/>
              <a:cxnLst/>
              <a:rect l="l" t="t" r="r" b="b"/>
              <a:pathLst>
                <a:path w="392" h="409" extrusionOk="0">
                  <a:moveTo>
                    <a:pt x="188" y="409"/>
                  </a:moveTo>
                  <a:lnTo>
                    <a:pt x="188" y="409"/>
                  </a:lnTo>
                  <a:lnTo>
                    <a:pt x="167" y="408"/>
                  </a:lnTo>
                  <a:lnTo>
                    <a:pt x="147" y="404"/>
                  </a:lnTo>
                  <a:lnTo>
                    <a:pt x="127" y="399"/>
                  </a:lnTo>
                  <a:lnTo>
                    <a:pt x="107" y="392"/>
                  </a:lnTo>
                  <a:lnTo>
                    <a:pt x="121" y="360"/>
                  </a:lnTo>
                  <a:lnTo>
                    <a:pt x="121" y="360"/>
                  </a:lnTo>
                  <a:lnTo>
                    <a:pt x="136" y="366"/>
                  </a:lnTo>
                  <a:lnTo>
                    <a:pt x="153" y="371"/>
                  </a:lnTo>
                  <a:lnTo>
                    <a:pt x="170" y="374"/>
                  </a:lnTo>
                  <a:lnTo>
                    <a:pt x="186" y="375"/>
                  </a:lnTo>
                  <a:lnTo>
                    <a:pt x="203" y="374"/>
                  </a:lnTo>
                  <a:lnTo>
                    <a:pt x="219" y="371"/>
                  </a:lnTo>
                  <a:lnTo>
                    <a:pt x="235" y="368"/>
                  </a:lnTo>
                  <a:lnTo>
                    <a:pt x="251" y="361"/>
                  </a:lnTo>
                  <a:lnTo>
                    <a:pt x="265" y="355"/>
                  </a:lnTo>
                  <a:lnTo>
                    <a:pt x="280" y="347"/>
                  </a:lnTo>
                  <a:lnTo>
                    <a:pt x="293" y="337"/>
                  </a:lnTo>
                  <a:lnTo>
                    <a:pt x="306" y="326"/>
                  </a:lnTo>
                  <a:lnTo>
                    <a:pt x="316" y="315"/>
                  </a:lnTo>
                  <a:lnTo>
                    <a:pt x="327" y="302"/>
                  </a:lnTo>
                  <a:lnTo>
                    <a:pt x="336" y="287"/>
                  </a:lnTo>
                  <a:lnTo>
                    <a:pt x="343" y="271"/>
                  </a:lnTo>
                  <a:lnTo>
                    <a:pt x="343" y="271"/>
                  </a:lnTo>
                  <a:lnTo>
                    <a:pt x="349" y="256"/>
                  </a:lnTo>
                  <a:lnTo>
                    <a:pt x="354" y="240"/>
                  </a:lnTo>
                  <a:lnTo>
                    <a:pt x="357" y="223"/>
                  </a:lnTo>
                  <a:lnTo>
                    <a:pt x="358" y="207"/>
                  </a:lnTo>
                  <a:lnTo>
                    <a:pt x="357" y="190"/>
                  </a:lnTo>
                  <a:lnTo>
                    <a:pt x="354" y="174"/>
                  </a:lnTo>
                  <a:lnTo>
                    <a:pt x="351" y="157"/>
                  </a:lnTo>
                  <a:lnTo>
                    <a:pt x="344" y="141"/>
                  </a:lnTo>
                  <a:lnTo>
                    <a:pt x="344" y="141"/>
                  </a:lnTo>
                  <a:lnTo>
                    <a:pt x="338" y="127"/>
                  </a:lnTo>
                  <a:lnTo>
                    <a:pt x="330" y="112"/>
                  </a:lnTo>
                  <a:lnTo>
                    <a:pt x="320" y="99"/>
                  </a:lnTo>
                  <a:lnTo>
                    <a:pt x="309" y="85"/>
                  </a:lnTo>
                  <a:lnTo>
                    <a:pt x="297" y="74"/>
                  </a:lnTo>
                  <a:lnTo>
                    <a:pt x="284" y="65"/>
                  </a:lnTo>
                  <a:lnTo>
                    <a:pt x="269" y="56"/>
                  </a:lnTo>
                  <a:lnTo>
                    <a:pt x="254" y="49"/>
                  </a:lnTo>
                  <a:lnTo>
                    <a:pt x="254" y="49"/>
                  </a:lnTo>
                  <a:lnTo>
                    <a:pt x="239" y="43"/>
                  </a:lnTo>
                  <a:lnTo>
                    <a:pt x="223" y="38"/>
                  </a:lnTo>
                  <a:lnTo>
                    <a:pt x="206" y="35"/>
                  </a:lnTo>
                  <a:lnTo>
                    <a:pt x="190" y="34"/>
                  </a:lnTo>
                  <a:lnTo>
                    <a:pt x="173" y="35"/>
                  </a:lnTo>
                  <a:lnTo>
                    <a:pt x="157" y="38"/>
                  </a:lnTo>
                  <a:lnTo>
                    <a:pt x="140" y="41"/>
                  </a:lnTo>
                  <a:lnTo>
                    <a:pt x="124" y="48"/>
                  </a:lnTo>
                  <a:lnTo>
                    <a:pt x="124" y="48"/>
                  </a:lnTo>
                  <a:lnTo>
                    <a:pt x="108" y="54"/>
                  </a:lnTo>
                  <a:lnTo>
                    <a:pt x="95" y="62"/>
                  </a:lnTo>
                  <a:lnTo>
                    <a:pt x="82" y="72"/>
                  </a:lnTo>
                  <a:lnTo>
                    <a:pt x="68" y="83"/>
                  </a:lnTo>
                  <a:lnTo>
                    <a:pt x="57" y="95"/>
                  </a:lnTo>
                  <a:lnTo>
                    <a:pt x="48" y="108"/>
                  </a:lnTo>
                  <a:lnTo>
                    <a:pt x="39" y="123"/>
                  </a:lnTo>
                  <a:lnTo>
                    <a:pt x="32" y="138"/>
                  </a:lnTo>
                  <a:lnTo>
                    <a:pt x="0" y="124"/>
                  </a:lnTo>
                  <a:lnTo>
                    <a:pt x="0" y="124"/>
                  </a:lnTo>
                  <a:lnTo>
                    <a:pt x="9" y="106"/>
                  </a:lnTo>
                  <a:lnTo>
                    <a:pt x="20" y="89"/>
                  </a:lnTo>
                  <a:lnTo>
                    <a:pt x="32" y="73"/>
                  </a:lnTo>
                  <a:lnTo>
                    <a:pt x="45" y="59"/>
                  </a:lnTo>
                  <a:lnTo>
                    <a:pt x="60" y="45"/>
                  </a:lnTo>
                  <a:lnTo>
                    <a:pt x="76" y="34"/>
                  </a:lnTo>
                  <a:lnTo>
                    <a:pt x="94" y="23"/>
                  </a:lnTo>
                  <a:lnTo>
                    <a:pt x="112" y="16"/>
                  </a:lnTo>
                  <a:lnTo>
                    <a:pt x="112" y="16"/>
                  </a:lnTo>
                  <a:lnTo>
                    <a:pt x="130" y="9"/>
                  </a:lnTo>
                  <a:lnTo>
                    <a:pt x="150" y="4"/>
                  </a:lnTo>
                  <a:lnTo>
                    <a:pt x="170" y="1"/>
                  </a:lnTo>
                  <a:lnTo>
                    <a:pt x="190" y="0"/>
                  </a:lnTo>
                  <a:lnTo>
                    <a:pt x="209" y="1"/>
                  </a:lnTo>
                  <a:lnTo>
                    <a:pt x="229" y="5"/>
                  </a:lnTo>
                  <a:lnTo>
                    <a:pt x="248" y="10"/>
                  </a:lnTo>
                  <a:lnTo>
                    <a:pt x="268" y="17"/>
                  </a:lnTo>
                  <a:lnTo>
                    <a:pt x="268" y="17"/>
                  </a:lnTo>
                  <a:lnTo>
                    <a:pt x="286" y="26"/>
                  </a:lnTo>
                  <a:lnTo>
                    <a:pt x="303" y="37"/>
                  </a:lnTo>
                  <a:lnTo>
                    <a:pt x="319" y="49"/>
                  </a:lnTo>
                  <a:lnTo>
                    <a:pt x="333" y="62"/>
                  </a:lnTo>
                  <a:lnTo>
                    <a:pt x="347" y="77"/>
                  </a:lnTo>
                  <a:lnTo>
                    <a:pt x="358" y="93"/>
                  </a:lnTo>
                  <a:lnTo>
                    <a:pt x="369" y="111"/>
                  </a:lnTo>
                  <a:lnTo>
                    <a:pt x="376" y="129"/>
                  </a:lnTo>
                  <a:lnTo>
                    <a:pt x="376" y="129"/>
                  </a:lnTo>
                  <a:lnTo>
                    <a:pt x="383" y="147"/>
                  </a:lnTo>
                  <a:lnTo>
                    <a:pt x="388" y="168"/>
                  </a:lnTo>
                  <a:lnTo>
                    <a:pt x="391" y="187"/>
                  </a:lnTo>
                  <a:lnTo>
                    <a:pt x="392" y="207"/>
                  </a:lnTo>
                  <a:lnTo>
                    <a:pt x="391" y="226"/>
                  </a:lnTo>
                  <a:lnTo>
                    <a:pt x="387" y="246"/>
                  </a:lnTo>
                  <a:lnTo>
                    <a:pt x="382" y="265"/>
                  </a:lnTo>
                  <a:lnTo>
                    <a:pt x="375" y="285"/>
                  </a:lnTo>
                  <a:lnTo>
                    <a:pt x="375" y="285"/>
                  </a:lnTo>
                  <a:lnTo>
                    <a:pt x="368" y="299"/>
                  </a:lnTo>
                  <a:lnTo>
                    <a:pt x="360" y="313"/>
                  </a:lnTo>
                  <a:lnTo>
                    <a:pt x="352" y="325"/>
                  </a:lnTo>
                  <a:lnTo>
                    <a:pt x="343" y="337"/>
                  </a:lnTo>
                  <a:lnTo>
                    <a:pt x="332" y="348"/>
                  </a:lnTo>
                  <a:lnTo>
                    <a:pt x="321" y="358"/>
                  </a:lnTo>
                  <a:lnTo>
                    <a:pt x="310" y="368"/>
                  </a:lnTo>
                  <a:lnTo>
                    <a:pt x="298" y="376"/>
                  </a:lnTo>
                  <a:lnTo>
                    <a:pt x="286" y="383"/>
                  </a:lnTo>
                  <a:lnTo>
                    <a:pt x="273" y="389"/>
                  </a:lnTo>
                  <a:lnTo>
                    <a:pt x="259" y="395"/>
                  </a:lnTo>
                  <a:lnTo>
                    <a:pt x="245" y="400"/>
                  </a:lnTo>
                  <a:lnTo>
                    <a:pt x="231" y="404"/>
                  </a:lnTo>
                  <a:lnTo>
                    <a:pt x="217" y="406"/>
                  </a:lnTo>
                  <a:lnTo>
                    <a:pt x="202" y="408"/>
                  </a:lnTo>
                  <a:lnTo>
                    <a:pt x="188" y="409"/>
                  </a:lnTo>
                  <a:lnTo>
                    <a:pt x="188" y="409"/>
                  </a:lnTo>
                  <a:close/>
                </a:path>
              </a:pathLst>
            </a:custGeom>
            <a:solidFill>
              <a:schemeClr val="dk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sp>
          <p:nvSpPr>
            <p:cNvPr id="14845" name="Google Shape;14845;p80"/>
            <p:cNvSpPr/>
            <p:nvPr/>
          </p:nvSpPr>
          <p:spPr>
            <a:xfrm>
              <a:off x="6966141" y="2658865"/>
              <a:ext cx="400812" cy="400813"/>
            </a:xfrm>
            <a:custGeom>
              <a:avLst/>
              <a:gdLst/>
              <a:ahLst/>
              <a:cxnLst/>
              <a:rect l="l" t="t" r="r" b="b"/>
              <a:pathLst>
                <a:path w="691" h="691" extrusionOk="0">
                  <a:moveTo>
                    <a:pt x="405" y="691"/>
                  </a:moveTo>
                  <a:lnTo>
                    <a:pt x="282" y="691"/>
                  </a:lnTo>
                  <a:lnTo>
                    <a:pt x="277" y="682"/>
                  </a:lnTo>
                  <a:lnTo>
                    <a:pt x="277" y="682"/>
                  </a:lnTo>
                  <a:lnTo>
                    <a:pt x="273" y="667"/>
                  </a:lnTo>
                  <a:lnTo>
                    <a:pt x="266" y="645"/>
                  </a:lnTo>
                  <a:lnTo>
                    <a:pt x="266" y="645"/>
                  </a:lnTo>
                  <a:lnTo>
                    <a:pt x="260" y="620"/>
                  </a:lnTo>
                  <a:lnTo>
                    <a:pt x="260" y="620"/>
                  </a:lnTo>
                  <a:lnTo>
                    <a:pt x="209" y="599"/>
                  </a:lnTo>
                  <a:lnTo>
                    <a:pt x="209" y="599"/>
                  </a:lnTo>
                  <a:lnTo>
                    <a:pt x="200" y="602"/>
                  </a:lnTo>
                  <a:lnTo>
                    <a:pt x="189" y="609"/>
                  </a:lnTo>
                  <a:lnTo>
                    <a:pt x="189" y="609"/>
                  </a:lnTo>
                  <a:lnTo>
                    <a:pt x="169" y="620"/>
                  </a:lnTo>
                  <a:lnTo>
                    <a:pt x="157" y="627"/>
                  </a:lnTo>
                  <a:lnTo>
                    <a:pt x="148" y="630"/>
                  </a:lnTo>
                  <a:lnTo>
                    <a:pt x="141" y="625"/>
                  </a:lnTo>
                  <a:lnTo>
                    <a:pt x="141" y="625"/>
                  </a:lnTo>
                  <a:lnTo>
                    <a:pt x="134" y="620"/>
                  </a:lnTo>
                  <a:lnTo>
                    <a:pt x="120" y="608"/>
                  </a:lnTo>
                  <a:lnTo>
                    <a:pt x="99" y="588"/>
                  </a:lnTo>
                  <a:lnTo>
                    <a:pt x="64" y="554"/>
                  </a:lnTo>
                  <a:lnTo>
                    <a:pt x="58" y="546"/>
                  </a:lnTo>
                  <a:lnTo>
                    <a:pt x="61" y="536"/>
                  </a:lnTo>
                  <a:lnTo>
                    <a:pt x="61" y="536"/>
                  </a:lnTo>
                  <a:lnTo>
                    <a:pt x="62" y="532"/>
                  </a:lnTo>
                  <a:lnTo>
                    <a:pt x="67" y="521"/>
                  </a:lnTo>
                  <a:lnTo>
                    <a:pt x="90" y="481"/>
                  </a:lnTo>
                  <a:lnTo>
                    <a:pt x="90" y="481"/>
                  </a:lnTo>
                  <a:lnTo>
                    <a:pt x="79" y="455"/>
                  </a:lnTo>
                  <a:lnTo>
                    <a:pt x="79" y="455"/>
                  </a:lnTo>
                  <a:lnTo>
                    <a:pt x="73" y="440"/>
                  </a:lnTo>
                  <a:lnTo>
                    <a:pt x="69" y="427"/>
                  </a:lnTo>
                  <a:lnTo>
                    <a:pt x="69" y="427"/>
                  </a:lnTo>
                  <a:lnTo>
                    <a:pt x="45" y="421"/>
                  </a:lnTo>
                  <a:lnTo>
                    <a:pt x="45" y="421"/>
                  </a:lnTo>
                  <a:lnTo>
                    <a:pt x="13" y="412"/>
                  </a:lnTo>
                  <a:lnTo>
                    <a:pt x="0" y="410"/>
                  </a:lnTo>
                  <a:lnTo>
                    <a:pt x="0" y="279"/>
                  </a:lnTo>
                  <a:lnTo>
                    <a:pt x="12" y="275"/>
                  </a:lnTo>
                  <a:lnTo>
                    <a:pt x="12" y="275"/>
                  </a:lnTo>
                  <a:lnTo>
                    <a:pt x="43" y="266"/>
                  </a:lnTo>
                  <a:lnTo>
                    <a:pt x="43" y="266"/>
                  </a:lnTo>
                  <a:lnTo>
                    <a:pt x="69" y="260"/>
                  </a:lnTo>
                  <a:lnTo>
                    <a:pt x="69" y="260"/>
                  </a:lnTo>
                  <a:lnTo>
                    <a:pt x="79" y="236"/>
                  </a:lnTo>
                  <a:lnTo>
                    <a:pt x="79" y="236"/>
                  </a:lnTo>
                  <a:lnTo>
                    <a:pt x="86" y="221"/>
                  </a:lnTo>
                  <a:lnTo>
                    <a:pt x="92" y="209"/>
                  </a:lnTo>
                  <a:lnTo>
                    <a:pt x="92" y="209"/>
                  </a:lnTo>
                  <a:lnTo>
                    <a:pt x="74" y="178"/>
                  </a:lnTo>
                  <a:lnTo>
                    <a:pt x="64" y="164"/>
                  </a:lnTo>
                  <a:lnTo>
                    <a:pt x="55" y="153"/>
                  </a:lnTo>
                  <a:lnTo>
                    <a:pt x="63" y="142"/>
                  </a:lnTo>
                  <a:lnTo>
                    <a:pt x="63" y="142"/>
                  </a:lnTo>
                  <a:lnTo>
                    <a:pt x="68" y="136"/>
                  </a:lnTo>
                  <a:lnTo>
                    <a:pt x="80" y="123"/>
                  </a:lnTo>
                  <a:lnTo>
                    <a:pt x="102" y="100"/>
                  </a:lnTo>
                  <a:lnTo>
                    <a:pt x="139" y="64"/>
                  </a:lnTo>
                  <a:lnTo>
                    <a:pt x="147" y="56"/>
                  </a:lnTo>
                  <a:lnTo>
                    <a:pt x="158" y="61"/>
                  </a:lnTo>
                  <a:lnTo>
                    <a:pt x="158" y="61"/>
                  </a:lnTo>
                  <a:lnTo>
                    <a:pt x="189" y="78"/>
                  </a:lnTo>
                  <a:lnTo>
                    <a:pt x="213" y="92"/>
                  </a:lnTo>
                  <a:lnTo>
                    <a:pt x="213" y="92"/>
                  </a:lnTo>
                  <a:lnTo>
                    <a:pt x="245" y="79"/>
                  </a:lnTo>
                  <a:lnTo>
                    <a:pt x="263" y="72"/>
                  </a:lnTo>
                  <a:lnTo>
                    <a:pt x="263" y="72"/>
                  </a:lnTo>
                  <a:lnTo>
                    <a:pt x="270" y="46"/>
                  </a:lnTo>
                  <a:lnTo>
                    <a:pt x="270" y="46"/>
                  </a:lnTo>
                  <a:lnTo>
                    <a:pt x="280" y="11"/>
                  </a:lnTo>
                  <a:lnTo>
                    <a:pt x="283" y="0"/>
                  </a:lnTo>
                  <a:lnTo>
                    <a:pt x="409" y="0"/>
                  </a:lnTo>
                  <a:lnTo>
                    <a:pt x="414" y="10"/>
                  </a:lnTo>
                  <a:lnTo>
                    <a:pt x="414" y="10"/>
                  </a:lnTo>
                  <a:lnTo>
                    <a:pt x="421" y="32"/>
                  </a:lnTo>
                  <a:lnTo>
                    <a:pt x="432" y="71"/>
                  </a:lnTo>
                  <a:lnTo>
                    <a:pt x="432" y="71"/>
                  </a:lnTo>
                  <a:lnTo>
                    <a:pt x="456" y="80"/>
                  </a:lnTo>
                  <a:lnTo>
                    <a:pt x="456" y="80"/>
                  </a:lnTo>
                  <a:lnTo>
                    <a:pt x="471" y="86"/>
                  </a:lnTo>
                  <a:lnTo>
                    <a:pt x="483" y="92"/>
                  </a:lnTo>
                  <a:lnTo>
                    <a:pt x="483" y="92"/>
                  </a:lnTo>
                  <a:lnTo>
                    <a:pt x="493" y="88"/>
                  </a:lnTo>
                  <a:lnTo>
                    <a:pt x="502" y="82"/>
                  </a:lnTo>
                  <a:lnTo>
                    <a:pt x="502" y="82"/>
                  </a:lnTo>
                  <a:lnTo>
                    <a:pt x="522" y="71"/>
                  </a:lnTo>
                  <a:lnTo>
                    <a:pt x="534" y="64"/>
                  </a:lnTo>
                  <a:lnTo>
                    <a:pt x="543" y="61"/>
                  </a:lnTo>
                  <a:lnTo>
                    <a:pt x="550" y="66"/>
                  </a:lnTo>
                  <a:lnTo>
                    <a:pt x="550" y="66"/>
                  </a:lnTo>
                  <a:lnTo>
                    <a:pt x="560" y="72"/>
                  </a:lnTo>
                  <a:lnTo>
                    <a:pt x="569" y="80"/>
                  </a:lnTo>
                  <a:lnTo>
                    <a:pt x="580" y="90"/>
                  </a:lnTo>
                  <a:lnTo>
                    <a:pt x="592" y="102"/>
                  </a:lnTo>
                  <a:lnTo>
                    <a:pt x="592" y="102"/>
                  </a:lnTo>
                  <a:lnTo>
                    <a:pt x="613" y="123"/>
                  </a:lnTo>
                  <a:lnTo>
                    <a:pt x="628" y="136"/>
                  </a:lnTo>
                  <a:lnTo>
                    <a:pt x="639" y="145"/>
                  </a:lnTo>
                  <a:lnTo>
                    <a:pt x="633" y="158"/>
                  </a:lnTo>
                  <a:lnTo>
                    <a:pt x="633" y="158"/>
                  </a:lnTo>
                  <a:lnTo>
                    <a:pt x="614" y="189"/>
                  </a:lnTo>
                  <a:lnTo>
                    <a:pt x="601" y="212"/>
                  </a:lnTo>
                  <a:lnTo>
                    <a:pt x="601" y="212"/>
                  </a:lnTo>
                  <a:lnTo>
                    <a:pt x="619" y="264"/>
                  </a:lnTo>
                  <a:lnTo>
                    <a:pt x="619" y="264"/>
                  </a:lnTo>
                  <a:lnTo>
                    <a:pt x="633" y="266"/>
                  </a:lnTo>
                  <a:lnTo>
                    <a:pt x="647" y="270"/>
                  </a:lnTo>
                  <a:lnTo>
                    <a:pt x="647" y="270"/>
                  </a:lnTo>
                  <a:lnTo>
                    <a:pt x="678" y="279"/>
                  </a:lnTo>
                  <a:lnTo>
                    <a:pt x="691" y="281"/>
                  </a:lnTo>
                  <a:lnTo>
                    <a:pt x="691" y="412"/>
                  </a:lnTo>
                  <a:lnTo>
                    <a:pt x="679" y="416"/>
                  </a:lnTo>
                  <a:lnTo>
                    <a:pt x="679" y="416"/>
                  </a:lnTo>
                  <a:lnTo>
                    <a:pt x="648" y="425"/>
                  </a:lnTo>
                  <a:lnTo>
                    <a:pt x="648" y="425"/>
                  </a:lnTo>
                  <a:lnTo>
                    <a:pt x="622" y="431"/>
                  </a:lnTo>
                  <a:lnTo>
                    <a:pt x="622" y="431"/>
                  </a:lnTo>
                  <a:lnTo>
                    <a:pt x="612" y="455"/>
                  </a:lnTo>
                  <a:lnTo>
                    <a:pt x="612" y="455"/>
                  </a:lnTo>
                  <a:lnTo>
                    <a:pt x="606" y="471"/>
                  </a:lnTo>
                  <a:lnTo>
                    <a:pt x="600" y="483"/>
                  </a:lnTo>
                  <a:lnTo>
                    <a:pt x="600" y="483"/>
                  </a:lnTo>
                  <a:lnTo>
                    <a:pt x="611" y="502"/>
                  </a:lnTo>
                  <a:lnTo>
                    <a:pt x="611" y="502"/>
                  </a:lnTo>
                  <a:lnTo>
                    <a:pt x="619" y="517"/>
                  </a:lnTo>
                  <a:lnTo>
                    <a:pt x="628" y="528"/>
                  </a:lnTo>
                  <a:lnTo>
                    <a:pt x="635" y="538"/>
                  </a:lnTo>
                  <a:lnTo>
                    <a:pt x="628" y="549"/>
                  </a:lnTo>
                  <a:lnTo>
                    <a:pt x="628" y="549"/>
                  </a:lnTo>
                  <a:lnTo>
                    <a:pt x="623" y="555"/>
                  </a:lnTo>
                  <a:lnTo>
                    <a:pt x="611" y="568"/>
                  </a:lnTo>
                  <a:lnTo>
                    <a:pt x="589" y="591"/>
                  </a:lnTo>
                  <a:lnTo>
                    <a:pt x="554" y="627"/>
                  </a:lnTo>
                  <a:lnTo>
                    <a:pt x="545" y="635"/>
                  </a:lnTo>
                  <a:lnTo>
                    <a:pt x="534" y="630"/>
                  </a:lnTo>
                  <a:lnTo>
                    <a:pt x="534" y="630"/>
                  </a:lnTo>
                  <a:lnTo>
                    <a:pt x="507" y="616"/>
                  </a:lnTo>
                  <a:lnTo>
                    <a:pt x="481" y="600"/>
                  </a:lnTo>
                  <a:lnTo>
                    <a:pt x="481" y="600"/>
                  </a:lnTo>
                  <a:lnTo>
                    <a:pt x="467" y="606"/>
                  </a:lnTo>
                  <a:lnTo>
                    <a:pt x="454" y="612"/>
                  </a:lnTo>
                  <a:lnTo>
                    <a:pt x="442" y="617"/>
                  </a:lnTo>
                  <a:lnTo>
                    <a:pt x="428" y="619"/>
                  </a:lnTo>
                  <a:lnTo>
                    <a:pt x="428" y="619"/>
                  </a:lnTo>
                  <a:lnTo>
                    <a:pt x="426" y="629"/>
                  </a:lnTo>
                  <a:lnTo>
                    <a:pt x="422" y="644"/>
                  </a:lnTo>
                  <a:lnTo>
                    <a:pt x="422" y="644"/>
                  </a:lnTo>
                  <a:lnTo>
                    <a:pt x="416" y="667"/>
                  </a:lnTo>
                  <a:lnTo>
                    <a:pt x="410" y="682"/>
                  </a:lnTo>
                  <a:lnTo>
                    <a:pt x="405" y="691"/>
                  </a:lnTo>
                  <a:close/>
                  <a:moveTo>
                    <a:pt x="305" y="657"/>
                  </a:moveTo>
                  <a:lnTo>
                    <a:pt x="383" y="657"/>
                  </a:lnTo>
                  <a:lnTo>
                    <a:pt x="383" y="657"/>
                  </a:lnTo>
                  <a:lnTo>
                    <a:pt x="388" y="635"/>
                  </a:lnTo>
                  <a:lnTo>
                    <a:pt x="388" y="635"/>
                  </a:lnTo>
                  <a:lnTo>
                    <a:pt x="395" y="612"/>
                  </a:lnTo>
                  <a:lnTo>
                    <a:pt x="399" y="603"/>
                  </a:lnTo>
                  <a:lnTo>
                    <a:pt x="403" y="596"/>
                  </a:lnTo>
                  <a:lnTo>
                    <a:pt x="406" y="589"/>
                  </a:lnTo>
                  <a:lnTo>
                    <a:pt x="414" y="588"/>
                  </a:lnTo>
                  <a:lnTo>
                    <a:pt x="414" y="588"/>
                  </a:lnTo>
                  <a:lnTo>
                    <a:pt x="428" y="585"/>
                  </a:lnTo>
                  <a:lnTo>
                    <a:pt x="442" y="580"/>
                  </a:lnTo>
                  <a:lnTo>
                    <a:pt x="457" y="573"/>
                  </a:lnTo>
                  <a:lnTo>
                    <a:pt x="472" y="564"/>
                  </a:lnTo>
                  <a:lnTo>
                    <a:pt x="482" y="560"/>
                  </a:lnTo>
                  <a:lnTo>
                    <a:pt x="490" y="566"/>
                  </a:lnTo>
                  <a:lnTo>
                    <a:pt x="490" y="566"/>
                  </a:lnTo>
                  <a:lnTo>
                    <a:pt x="513" y="580"/>
                  </a:lnTo>
                  <a:lnTo>
                    <a:pt x="538" y="594"/>
                  </a:lnTo>
                  <a:lnTo>
                    <a:pt x="538" y="594"/>
                  </a:lnTo>
                  <a:lnTo>
                    <a:pt x="574" y="558"/>
                  </a:lnTo>
                  <a:lnTo>
                    <a:pt x="592" y="538"/>
                  </a:lnTo>
                  <a:lnTo>
                    <a:pt x="592" y="538"/>
                  </a:lnTo>
                  <a:lnTo>
                    <a:pt x="582" y="519"/>
                  </a:lnTo>
                  <a:lnTo>
                    <a:pt x="582" y="519"/>
                  </a:lnTo>
                  <a:lnTo>
                    <a:pt x="564" y="490"/>
                  </a:lnTo>
                  <a:lnTo>
                    <a:pt x="557" y="479"/>
                  </a:lnTo>
                  <a:lnTo>
                    <a:pt x="567" y="470"/>
                  </a:lnTo>
                  <a:lnTo>
                    <a:pt x="567" y="470"/>
                  </a:lnTo>
                  <a:lnTo>
                    <a:pt x="572" y="462"/>
                  </a:lnTo>
                  <a:lnTo>
                    <a:pt x="575" y="454"/>
                  </a:lnTo>
                  <a:lnTo>
                    <a:pt x="580" y="443"/>
                  </a:lnTo>
                  <a:lnTo>
                    <a:pt x="580" y="443"/>
                  </a:lnTo>
                  <a:lnTo>
                    <a:pt x="591" y="417"/>
                  </a:lnTo>
                  <a:lnTo>
                    <a:pt x="596" y="406"/>
                  </a:lnTo>
                  <a:lnTo>
                    <a:pt x="601" y="399"/>
                  </a:lnTo>
                  <a:lnTo>
                    <a:pt x="608" y="398"/>
                  </a:lnTo>
                  <a:lnTo>
                    <a:pt x="608" y="398"/>
                  </a:lnTo>
                  <a:lnTo>
                    <a:pt x="622" y="395"/>
                  </a:lnTo>
                  <a:lnTo>
                    <a:pt x="639" y="392"/>
                  </a:lnTo>
                  <a:lnTo>
                    <a:pt x="639" y="392"/>
                  </a:lnTo>
                  <a:lnTo>
                    <a:pt x="657" y="386"/>
                  </a:lnTo>
                  <a:lnTo>
                    <a:pt x="657" y="309"/>
                  </a:lnTo>
                  <a:lnTo>
                    <a:pt x="657" y="309"/>
                  </a:lnTo>
                  <a:lnTo>
                    <a:pt x="637" y="303"/>
                  </a:lnTo>
                  <a:lnTo>
                    <a:pt x="637" y="303"/>
                  </a:lnTo>
                  <a:lnTo>
                    <a:pt x="623" y="299"/>
                  </a:lnTo>
                  <a:lnTo>
                    <a:pt x="609" y="297"/>
                  </a:lnTo>
                  <a:lnTo>
                    <a:pt x="609" y="297"/>
                  </a:lnTo>
                  <a:lnTo>
                    <a:pt x="605" y="297"/>
                  </a:lnTo>
                  <a:lnTo>
                    <a:pt x="601" y="297"/>
                  </a:lnTo>
                  <a:lnTo>
                    <a:pt x="597" y="293"/>
                  </a:lnTo>
                  <a:lnTo>
                    <a:pt x="594" y="288"/>
                  </a:lnTo>
                  <a:lnTo>
                    <a:pt x="589" y="277"/>
                  </a:lnTo>
                  <a:lnTo>
                    <a:pt x="583" y="263"/>
                  </a:lnTo>
                  <a:lnTo>
                    <a:pt x="566" y="215"/>
                  </a:lnTo>
                  <a:lnTo>
                    <a:pt x="563" y="207"/>
                  </a:lnTo>
                  <a:lnTo>
                    <a:pt x="568" y="200"/>
                  </a:lnTo>
                  <a:lnTo>
                    <a:pt x="568" y="200"/>
                  </a:lnTo>
                  <a:lnTo>
                    <a:pt x="580" y="181"/>
                  </a:lnTo>
                  <a:lnTo>
                    <a:pt x="596" y="153"/>
                  </a:lnTo>
                  <a:lnTo>
                    <a:pt x="596" y="153"/>
                  </a:lnTo>
                  <a:lnTo>
                    <a:pt x="568" y="125"/>
                  </a:lnTo>
                  <a:lnTo>
                    <a:pt x="568" y="125"/>
                  </a:lnTo>
                  <a:lnTo>
                    <a:pt x="552" y="111"/>
                  </a:lnTo>
                  <a:lnTo>
                    <a:pt x="540" y="100"/>
                  </a:lnTo>
                  <a:lnTo>
                    <a:pt x="540" y="100"/>
                  </a:lnTo>
                  <a:lnTo>
                    <a:pt x="521" y="111"/>
                  </a:lnTo>
                  <a:lnTo>
                    <a:pt x="521" y="111"/>
                  </a:lnTo>
                  <a:lnTo>
                    <a:pt x="502" y="122"/>
                  </a:lnTo>
                  <a:lnTo>
                    <a:pt x="494" y="125"/>
                  </a:lnTo>
                  <a:lnTo>
                    <a:pt x="485" y="128"/>
                  </a:lnTo>
                  <a:lnTo>
                    <a:pt x="477" y="130"/>
                  </a:lnTo>
                  <a:lnTo>
                    <a:pt x="471" y="125"/>
                  </a:lnTo>
                  <a:lnTo>
                    <a:pt x="471" y="125"/>
                  </a:lnTo>
                  <a:lnTo>
                    <a:pt x="461" y="119"/>
                  </a:lnTo>
                  <a:lnTo>
                    <a:pt x="444" y="112"/>
                  </a:lnTo>
                  <a:lnTo>
                    <a:pt x="444" y="112"/>
                  </a:lnTo>
                  <a:lnTo>
                    <a:pt x="410" y="99"/>
                  </a:lnTo>
                  <a:lnTo>
                    <a:pt x="403" y="95"/>
                  </a:lnTo>
                  <a:lnTo>
                    <a:pt x="400" y="88"/>
                  </a:lnTo>
                  <a:lnTo>
                    <a:pt x="400" y="88"/>
                  </a:lnTo>
                  <a:lnTo>
                    <a:pt x="386" y="34"/>
                  </a:lnTo>
                  <a:lnTo>
                    <a:pt x="309" y="34"/>
                  </a:lnTo>
                  <a:lnTo>
                    <a:pt x="309" y="34"/>
                  </a:lnTo>
                  <a:lnTo>
                    <a:pt x="303" y="55"/>
                  </a:lnTo>
                  <a:lnTo>
                    <a:pt x="303" y="55"/>
                  </a:lnTo>
                  <a:lnTo>
                    <a:pt x="293" y="91"/>
                  </a:lnTo>
                  <a:lnTo>
                    <a:pt x="290" y="102"/>
                  </a:lnTo>
                  <a:lnTo>
                    <a:pt x="277" y="103"/>
                  </a:lnTo>
                  <a:lnTo>
                    <a:pt x="277" y="103"/>
                  </a:lnTo>
                  <a:lnTo>
                    <a:pt x="265" y="107"/>
                  </a:lnTo>
                  <a:lnTo>
                    <a:pt x="247" y="114"/>
                  </a:lnTo>
                  <a:lnTo>
                    <a:pt x="218" y="127"/>
                  </a:lnTo>
                  <a:lnTo>
                    <a:pt x="208" y="131"/>
                  </a:lnTo>
                  <a:lnTo>
                    <a:pt x="201" y="125"/>
                  </a:lnTo>
                  <a:lnTo>
                    <a:pt x="201" y="125"/>
                  </a:lnTo>
                  <a:lnTo>
                    <a:pt x="180" y="112"/>
                  </a:lnTo>
                  <a:lnTo>
                    <a:pt x="153" y="97"/>
                  </a:lnTo>
                  <a:lnTo>
                    <a:pt x="153" y="97"/>
                  </a:lnTo>
                  <a:lnTo>
                    <a:pt x="118" y="133"/>
                  </a:lnTo>
                  <a:lnTo>
                    <a:pt x="99" y="153"/>
                  </a:lnTo>
                  <a:lnTo>
                    <a:pt x="99" y="153"/>
                  </a:lnTo>
                  <a:lnTo>
                    <a:pt x="111" y="173"/>
                  </a:lnTo>
                  <a:lnTo>
                    <a:pt x="127" y="202"/>
                  </a:lnTo>
                  <a:lnTo>
                    <a:pt x="131" y="210"/>
                  </a:lnTo>
                  <a:lnTo>
                    <a:pt x="125" y="219"/>
                  </a:lnTo>
                  <a:lnTo>
                    <a:pt x="125" y="219"/>
                  </a:lnTo>
                  <a:lnTo>
                    <a:pt x="120" y="230"/>
                  </a:lnTo>
                  <a:lnTo>
                    <a:pt x="111" y="249"/>
                  </a:lnTo>
                  <a:lnTo>
                    <a:pt x="111" y="249"/>
                  </a:lnTo>
                  <a:lnTo>
                    <a:pt x="101" y="271"/>
                  </a:lnTo>
                  <a:lnTo>
                    <a:pt x="95" y="283"/>
                  </a:lnTo>
                  <a:lnTo>
                    <a:pt x="91" y="292"/>
                  </a:lnTo>
                  <a:lnTo>
                    <a:pt x="83" y="293"/>
                  </a:lnTo>
                  <a:lnTo>
                    <a:pt x="83" y="293"/>
                  </a:lnTo>
                  <a:lnTo>
                    <a:pt x="69" y="296"/>
                  </a:lnTo>
                  <a:lnTo>
                    <a:pt x="52" y="299"/>
                  </a:lnTo>
                  <a:lnTo>
                    <a:pt x="52" y="299"/>
                  </a:lnTo>
                  <a:lnTo>
                    <a:pt x="34" y="305"/>
                  </a:lnTo>
                  <a:lnTo>
                    <a:pt x="34" y="382"/>
                  </a:lnTo>
                  <a:lnTo>
                    <a:pt x="34" y="382"/>
                  </a:lnTo>
                  <a:lnTo>
                    <a:pt x="54" y="388"/>
                  </a:lnTo>
                  <a:lnTo>
                    <a:pt x="54" y="388"/>
                  </a:lnTo>
                  <a:lnTo>
                    <a:pt x="71" y="393"/>
                  </a:lnTo>
                  <a:lnTo>
                    <a:pt x="85" y="395"/>
                  </a:lnTo>
                  <a:lnTo>
                    <a:pt x="99" y="397"/>
                  </a:lnTo>
                  <a:lnTo>
                    <a:pt x="100" y="410"/>
                  </a:lnTo>
                  <a:lnTo>
                    <a:pt x="100" y="410"/>
                  </a:lnTo>
                  <a:lnTo>
                    <a:pt x="103" y="425"/>
                  </a:lnTo>
                  <a:lnTo>
                    <a:pt x="109" y="442"/>
                  </a:lnTo>
                  <a:lnTo>
                    <a:pt x="109" y="442"/>
                  </a:lnTo>
                  <a:lnTo>
                    <a:pt x="125" y="476"/>
                  </a:lnTo>
                  <a:lnTo>
                    <a:pt x="128" y="483"/>
                  </a:lnTo>
                  <a:lnTo>
                    <a:pt x="123" y="490"/>
                  </a:lnTo>
                  <a:lnTo>
                    <a:pt x="123" y="490"/>
                  </a:lnTo>
                  <a:lnTo>
                    <a:pt x="106" y="521"/>
                  </a:lnTo>
                  <a:lnTo>
                    <a:pt x="97" y="538"/>
                  </a:lnTo>
                  <a:lnTo>
                    <a:pt x="97" y="538"/>
                  </a:lnTo>
                  <a:lnTo>
                    <a:pt x="133" y="573"/>
                  </a:lnTo>
                  <a:lnTo>
                    <a:pt x="152" y="591"/>
                  </a:lnTo>
                  <a:lnTo>
                    <a:pt x="152" y="591"/>
                  </a:lnTo>
                  <a:lnTo>
                    <a:pt x="170" y="580"/>
                  </a:lnTo>
                  <a:lnTo>
                    <a:pt x="170" y="580"/>
                  </a:lnTo>
                  <a:lnTo>
                    <a:pt x="189" y="569"/>
                  </a:lnTo>
                  <a:lnTo>
                    <a:pt x="206" y="563"/>
                  </a:lnTo>
                  <a:lnTo>
                    <a:pt x="213" y="561"/>
                  </a:lnTo>
                  <a:lnTo>
                    <a:pt x="220" y="566"/>
                  </a:lnTo>
                  <a:lnTo>
                    <a:pt x="220" y="566"/>
                  </a:lnTo>
                  <a:lnTo>
                    <a:pt x="281" y="592"/>
                  </a:lnTo>
                  <a:lnTo>
                    <a:pt x="287" y="595"/>
                  </a:lnTo>
                  <a:lnTo>
                    <a:pt x="290" y="602"/>
                  </a:lnTo>
                  <a:lnTo>
                    <a:pt x="290" y="602"/>
                  </a:lnTo>
                  <a:lnTo>
                    <a:pt x="294" y="616"/>
                  </a:lnTo>
                  <a:lnTo>
                    <a:pt x="299" y="637"/>
                  </a:lnTo>
                  <a:lnTo>
                    <a:pt x="299" y="637"/>
                  </a:lnTo>
                  <a:lnTo>
                    <a:pt x="305" y="657"/>
                  </a:lnTo>
                  <a:lnTo>
                    <a:pt x="305" y="657"/>
                  </a:lnTo>
                  <a:close/>
                </a:path>
              </a:pathLst>
            </a:custGeom>
            <a:solidFill>
              <a:schemeClr val="dk1"/>
            </a:solidFill>
            <a:ln>
              <a:noFill/>
            </a:ln>
          </p:spPr>
          <p:txBody>
            <a:bodyPr spcFirstLastPara="1" wrap="square" lIns="91350" tIns="45675" rIns="91350" bIns="45675" anchor="t" anchorCtr="0">
              <a:noAutofit/>
            </a:bodyPr>
            <a:lstStyle/>
            <a:p>
              <a:pPr marL="0" marR="0" lvl="0" indent="0" algn="l" rtl="0">
                <a:spcBef>
                  <a:spcPts val="0"/>
                </a:spcBef>
                <a:spcAft>
                  <a:spcPts val="0"/>
                </a:spcAft>
                <a:buNone/>
              </a:pPr>
              <a:endParaRPr sz="1797">
                <a:solidFill>
                  <a:srgbClr val="000000"/>
                </a:solidFill>
                <a:latin typeface="Arial"/>
                <a:ea typeface="Arial"/>
                <a:cs typeface="Arial"/>
                <a:sym typeface="Arial"/>
              </a:endParaRPr>
            </a:p>
          </p:txBody>
        </p:sp>
      </p:grpSp>
      <p:grpSp>
        <p:nvGrpSpPr>
          <p:cNvPr id="14846" name="Google Shape;14846;p80"/>
          <p:cNvGrpSpPr/>
          <p:nvPr/>
        </p:nvGrpSpPr>
        <p:grpSpPr>
          <a:xfrm>
            <a:off x="6353992" y="4480043"/>
            <a:ext cx="847774" cy="850782"/>
            <a:chOff x="2865782" y="4573848"/>
            <a:chExt cx="1249269" cy="1253700"/>
          </a:xfrm>
        </p:grpSpPr>
        <p:sp>
          <p:nvSpPr>
            <p:cNvPr id="14847" name="Google Shape;14847;p80"/>
            <p:cNvSpPr/>
            <p:nvPr/>
          </p:nvSpPr>
          <p:spPr>
            <a:xfrm>
              <a:off x="2865782" y="4573848"/>
              <a:ext cx="1249269" cy="1253700"/>
            </a:xfrm>
            <a:prstGeom prst="roundRect">
              <a:avLst>
                <a:gd name="adj" fmla="val 2356"/>
              </a:avLst>
            </a:prstGeom>
            <a:solidFill>
              <a:srgbClr val="E8E8EA"/>
            </a:solidFill>
            <a:ln w="9525" cap="flat" cmpd="sng">
              <a:solidFill>
                <a:schemeClr val="dk1"/>
              </a:solidFill>
              <a:prstDash val="solid"/>
              <a:round/>
              <a:headEnd type="none" w="sm" len="sm"/>
              <a:tailEnd type="none" w="sm" len="sm"/>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48" name="Google Shape;14848;p80"/>
            <p:cNvSpPr/>
            <p:nvPr/>
          </p:nvSpPr>
          <p:spPr>
            <a:xfrm>
              <a:off x="2922825" y="5284631"/>
              <a:ext cx="1121390" cy="450709"/>
            </a:xfrm>
            <a:prstGeom prst="roundRect">
              <a:avLst>
                <a:gd name="adj" fmla="val 6349"/>
              </a:avLst>
            </a:prstGeom>
            <a:solidFill>
              <a:schemeClr val="lt1"/>
            </a:solidFill>
            <a:ln w="25400" cap="flat" cmpd="sng">
              <a:solidFill>
                <a:schemeClr val="accent2"/>
              </a:solidFill>
              <a:prstDash val="solid"/>
              <a:round/>
              <a:headEnd type="none" w="sm" len="sm"/>
              <a:tailEnd type="none" w="sm" len="sm"/>
            </a:ln>
          </p:spPr>
          <p:txBody>
            <a:bodyPr spcFirstLastPara="1" wrap="square" lIns="91300" tIns="45625" rIns="91300" bIns="45625" anchor="ctr" anchorCtr="0">
              <a:noAutofit/>
            </a:bodyPr>
            <a:lstStyle/>
            <a:p>
              <a:pPr marL="0" marR="0" lvl="0" indent="0" algn="ctr" rtl="0">
                <a:spcBef>
                  <a:spcPts val="0"/>
                </a:spcBef>
                <a:spcAft>
                  <a:spcPts val="0"/>
                </a:spcAft>
                <a:buNone/>
              </a:pPr>
              <a:endParaRPr sz="800">
                <a:solidFill>
                  <a:srgbClr val="FFFFFF"/>
                </a:solidFill>
                <a:latin typeface="Arial"/>
                <a:ea typeface="Arial"/>
                <a:cs typeface="Arial"/>
                <a:sym typeface="Arial"/>
              </a:endParaRPr>
            </a:p>
          </p:txBody>
        </p:sp>
        <p:sp>
          <p:nvSpPr>
            <p:cNvPr id="14849" name="Google Shape;14849;p80"/>
            <p:cNvSpPr/>
            <p:nvPr/>
          </p:nvSpPr>
          <p:spPr>
            <a:xfrm>
              <a:off x="3699732" y="5425397"/>
              <a:ext cx="259826" cy="259826"/>
            </a:xfrm>
            <a:prstGeom prst="ellipse">
              <a:avLst/>
            </a:prstGeom>
            <a:solidFill>
              <a:schemeClr val="accent2"/>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50" name="Google Shape;14850;p80"/>
            <p:cNvSpPr/>
            <p:nvPr/>
          </p:nvSpPr>
          <p:spPr>
            <a:xfrm>
              <a:off x="3742922" y="5469459"/>
              <a:ext cx="171432" cy="171431"/>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chemeClr val="lt1"/>
            </a:solidFill>
            <a:ln>
              <a:noFill/>
            </a:ln>
          </p:spPr>
          <p:txBody>
            <a:bodyPr spcFirstLastPara="1" wrap="square" lIns="91325" tIns="45625" rIns="91325" bIns="45625"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4851" name="Google Shape;14851;p80"/>
            <p:cNvSpPr/>
            <p:nvPr/>
          </p:nvSpPr>
          <p:spPr>
            <a:xfrm>
              <a:off x="3012625" y="5429491"/>
              <a:ext cx="259826" cy="259826"/>
            </a:xfrm>
            <a:prstGeom prst="ellipse">
              <a:avLst/>
            </a:prstGeom>
            <a:solidFill>
              <a:schemeClr val="accent5"/>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52" name="Google Shape;14852;p80"/>
            <p:cNvSpPr/>
            <p:nvPr/>
          </p:nvSpPr>
          <p:spPr>
            <a:xfrm>
              <a:off x="3058730" y="5478422"/>
              <a:ext cx="162394" cy="148034"/>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chemeClr val="lt1"/>
            </a:solidFill>
            <a:ln>
              <a:noFill/>
            </a:ln>
          </p:spPr>
          <p:txBody>
            <a:bodyPr spcFirstLastPara="1" wrap="square" lIns="91325" tIns="45625" rIns="91325" bIns="45625"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4853" name="Google Shape;14853;p80"/>
            <p:cNvSpPr/>
            <p:nvPr/>
          </p:nvSpPr>
          <p:spPr>
            <a:xfrm>
              <a:off x="3355663" y="5429491"/>
              <a:ext cx="259826" cy="259826"/>
            </a:xfrm>
            <a:prstGeom prst="ellipse">
              <a:avLst/>
            </a:prstGeom>
            <a:gradFill>
              <a:gsLst>
                <a:gs pos="0">
                  <a:schemeClr val="accent2"/>
                </a:gs>
                <a:gs pos="100000">
                  <a:schemeClr val="accent2"/>
                </a:gs>
              </a:gsLst>
              <a:lin ang="0" scaled="0"/>
            </a:gra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854" name="Google Shape;14854;p80"/>
            <p:cNvSpPr/>
            <p:nvPr/>
          </p:nvSpPr>
          <p:spPr>
            <a:xfrm>
              <a:off x="3414571" y="5480218"/>
              <a:ext cx="140211" cy="163358"/>
            </a:xfrm>
            <a:custGeom>
              <a:avLst/>
              <a:gdLst/>
              <a:ahLst/>
              <a:cxnLst/>
              <a:rect l="l" t="t" r="r" b="b"/>
              <a:pathLst>
                <a:path w="566589" h="660135" extrusionOk="0">
                  <a:moveTo>
                    <a:pt x="283295" y="520788"/>
                  </a:moveTo>
                  <a:cubicBezTo>
                    <a:pt x="391919" y="520788"/>
                    <a:pt x="506090" y="501064"/>
                    <a:pt x="566589" y="463892"/>
                  </a:cubicBezTo>
                  <a:lnTo>
                    <a:pt x="566589" y="577684"/>
                  </a:lnTo>
                  <a:cubicBezTo>
                    <a:pt x="566589" y="611348"/>
                    <a:pt x="459340" y="660136"/>
                    <a:pt x="283295" y="660136"/>
                  </a:cubicBezTo>
                  <a:cubicBezTo>
                    <a:pt x="107249" y="660136"/>
                    <a:pt x="0" y="612533"/>
                    <a:pt x="0" y="577684"/>
                  </a:cubicBezTo>
                  <a:lnTo>
                    <a:pt x="0" y="463892"/>
                  </a:lnTo>
                  <a:cubicBezTo>
                    <a:pt x="60499" y="501064"/>
                    <a:pt x="174671" y="520788"/>
                    <a:pt x="283295" y="520788"/>
                  </a:cubicBezTo>
                  <a:close/>
                  <a:moveTo>
                    <a:pt x="0" y="126546"/>
                  </a:moveTo>
                  <a:lnTo>
                    <a:pt x="0" y="240718"/>
                  </a:lnTo>
                  <a:cubicBezTo>
                    <a:pt x="0" y="274523"/>
                    <a:pt x="107249" y="323454"/>
                    <a:pt x="283295" y="323454"/>
                  </a:cubicBezTo>
                  <a:cubicBezTo>
                    <a:pt x="459340" y="323454"/>
                    <a:pt x="566589" y="275661"/>
                    <a:pt x="566589" y="240718"/>
                  </a:cubicBezTo>
                  <a:lnTo>
                    <a:pt x="566589" y="126546"/>
                  </a:lnTo>
                  <a:cubicBezTo>
                    <a:pt x="504715" y="163813"/>
                    <a:pt x="391919" y="183632"/>
                    <a:pt x="283295" y="183632"/>
                  </a:cubicBezTo>
                  <a:cubicBezTo>
                    <a:pt x="174671" y="184817"/>
                    <a:pt x="60499" y="164998"/>
                    <a:pt x="0" y="126546"/>
                  </a:cubicBezTo>
                  <a:close/>
                  <a:moveTo>
                    <a:pt x="0" y="294532"/>
                  </a:moveTo>
                  <a:lnTo>
                    <a:pt x="0" y="408893"/>
                  </a:lnTo>
                  <a:cubicBezTo>
                    <a:pt x="0" y="442746"/>
                    <a:pt x="107249" y="491771"/>
                    <a:pt x="283295" y="491771"/>
                  </a:cubicBezTo>
                  <a:cubicBezTo>
                    <a:pt x="459340" y="491771"/>
                    <a:pt x="566589" y="443931"/>
                    <a:pt x="566589" y="408893"/>
                  </a:cubicBezTo>
                  <a:lnTo>
                    <a:pt x="566589" y="294532"/>
                  </a:lnTo>
                  <a:cubicBezTo>
                    <a:pt x="504715" y="331893"/>
                    <a:pt x="391919" y="351712"/>
                    <a:pt x="283295" y="351712"/>
                  </a:cubicBezTo>
                  <a:cubicBezTo>
                    <a:pt x="174671" y="351712"/>
                    <a:pt x="60499" y="333031"/>
                    <a:pt x="0" y="294532"/>
                  </a:cubicBezTo>
                  <a:close/>
                  <a:moveTo>
                    <a:pt x="283295" y="0"/>
                  </a:moveTo>
                  <a:cubicBezTo>
                    <a:pt x="107249" y="0"/>
                    <a:pt x="0" y="45090"/>
                    <a:pt x="0" y="78090"/>
                  </a:cubicBezTo>
                  <a:cubicBezTo>
                    <a:pt x="0" y="111089"/>
                    <a:pt x="107249" y="156227"/>
                    <a:pt x="283295" y="156227"/>
                  </a:cubicBezTo>
                  <a:cubicBezTo>
                    <a:pt x="459340" y="156227"/>
                    <a:pt x="566589" y="111137"/>
                    <a:pt x="566589" y="78090"/>
                  </a:cubicBezTo>
                  <a:cubicBezTo>
                    <a:pt x="566589" y="45043"/>
                    <a:pt x="459340" y="0"/>
                    <a:pt x="283295" y="0"/>
                  </a:cubicBezTo>
                  <a:close/>
                </a:path>
              </a:pathLst>
            </a:custGeom>
            <a:solidFill>
              <a:schemeClr val="lt1"/>
            </a:solidFill>
            <a:ln>
              <a:noFill/>
            </a:ln>
          </p:spPr>
          <p:txBody>
            <a:bodyPr spcFirstLastPara="1" wrap="square" lIns="91325" tIns="45625" rIns="91325" bIns="45625"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4855" name="Google Shape;14855;p80"/>
            <p:cNvSpPr/>
            <p:nvPr/>
          </p:nvSpPr>
          <p:spPr>
            <a:xfrm>
              <a:off x="2934649" y="4670530"/>
              <a:ext cx="1109567" cy="214904"/>
            </a:xfrm>
            <a:prstGeom prst="roundRect">
              <a:avLst>
                <a:gd name="adj" fmla="val 50000"/>
              </a:avLst>
            </a:prstGeom>
            <a:solidFill>
              <a:schemeClr val="lt1"/>
            </a:solidFill>
            <a:ln w="25400" cap="flat" cmpd="sng">
              <a:solidFill>
                <a:schemeClr val="accent5"/>
              </a:solidFill>
              <a:prstDash val="solid"/>
              <a:round/>
              <a:headEnd type="none" w="sm" len="sm"/>
              <a:tailEnd type="none" w="sm" len="sm"/>
            </a:ln>
          </p:spPr>
          <p:txBody>
            <a:bodyPr spcFirstLastPara="1" wrap="square" lIns="91300" tIns="45625" rIns="91300" bIns="45625" anchor="ctr" anchorCtr="0">
              <a:noAutofit/>
            </a:bodyPr>
            <a:lstStyle/>
            <a:p>
              <a:pPr marL="0" marR="0" lvl="0" indent="0" algn="ctr" rtl="0">
                <a:spcBef>
                  <a:spcPts val="0"/>
                </a:spcBef>
                <a:spcAft>
                  <a:spcPts val="0"/>
                </a:spcAft>
                <a:buNone/>
              </a:pPr>
              <a:r>
                <a:rPr lang="en-US" sz="450">
                  <a:solidFill>
                    <a:srgbClr val="000000"/>
                  </a:solidFill>
                  <a:latin typeface="Arial"/>
                  <a:ea typeface="Arial"/>
                  <a:cs typeface="Arial"/>
                  <a:sym typeface="Arial"/>
                </a:rPr>
                <a:t>     VCF Instance</a:t>
              </a:r>
              <a:endParaRPr sz="450">
                <a:solidFill>
                  <a:srgbClr val="000000"/>
                </a:solidFill>
                <a:latin typeface="Arial"/>
                <a:ea typeface="Arial"/>
                <a:cs typeface="Arial"/>
                <a:sym typeface="Arial"/>
              </a:endParaRPr>
            </a:p>
          </p:txBody>
        </p:sp>
        <p:pic>
          <p:nvPicPr>
            <p:cNvPr id="14856" name="Google Shape;14856;p80"/>
            <p:cNvPicPr preferRelativeResize="0"/>
            <p:nvPr/>
          </p:nvPicPr>
          <p:blipFill rotWithShape="1">
            <a:blip r:embed="rId3">
              <a:alphaModFix/>
            </a:blip>
            <a:srcRect/>
            <a:stretch/>
          </p:blipFill>
          <p:spPr>
            <a:xfrm>
              <a:off x="3069720" y="4697610"/>
              <a:ext cx="144625" cy="158945"/>
            </a:xfrm>
            <a:prstGeom prst="rect">
              <a:avLst/>
            </a:prstGeom>
            <a:noFill/>
            <a:ln>
              <a:noFill/>
            </a:ln>
          </p:spPr>
        </p:pic>
        <p:sp>
          <p:nvSpPr>
            <p:cNvPr id="14857" name="Google Shape;14857;p80"/>
            <p:cNvSpPr/>
            <p:nvPr/>
          </p:nvSpPr>
          <p:spPr>
            <a:xfrm>
              <a:off x="2922825" y="4977239"/>
              <a:ext cx="551778" cy="228311"/>
            </a:xfrm>
            <a:prstGeom prst="roundRect">
              <a:avLst>
                <a:gd name="adj" fmla="val 6349"/>
              </a:avLst>
            </a:prstGeom>
            <a:solidFill>
              <a:schemeClr val="accent5"/>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r>
                <a:rPr lang="en-US" sz="350" b="1">
                  <a:solidFill>
                    <a:srgbClr val="FFFFFF"/>
                  </a:solidFill>
                  <a:latin typeface="Arial"/>
                  <a:ea typeface="Arial"/>
                  <a:cs typeface="Arial"/>
                  <a:sym typeface="Arial"/>
                </a:rPr>
                <a:t>vCenter</a:t>
              </a:r>
              <a:endParaRPr sz="350" b="1">
                <a:solidFill>
                  <a:srgbClr val="FFFFFF"/>
                </a:solidFill>
                <a:latin typeface="Arial"/>
                <a:ea typeface="Arial"/>
                <a:cs typeface="Arial"/>
                <a:sym typeface="Arial"/>
              </a:endParaRPr>
            </a:p>
          </p:txBody>
        </p:sp>
        <p:sp>
          <p:nvSpPr>
            <p:cNvPr id="14858" name="Google Shape;14858;p80"/>
            <p:cNvSpPr txBox="1"/>
            <p:nvPr/>
          </p:nvSpPr>
          <p:spPr>
            <a:xfrm>
              <a:off x="2934650" y="5312043"/>
              <a:ext cx="1093160" cy="79327"/>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350" b="1">
                  <a:solidFill>
                    <a:srgbClr val="005C8A"/>
                  </a:solidFill>
                  <a:latin typeface="Arial"/>
                  <a:ea typeface="Arial"/>
                  <a:cs typeface="Arial"/>
                  <a:sym typeface="Arial"/>
                </a:rPr>
                <a:t>Core Infrastructure</a:t>
              </a:r>
              <a:endParaRPr sz="350">
                <a:solidFill>
                  <a:srgbClr val="000000"/>
                </a:solidFill>
                <a:latin typeface="Arial"/>
                <a:ea typeface="Arial"/>
                <a:cs typeface="Arial"/>
                <a:sym typeface="Arial"/>
              </a:endParaRPr>
            </a:p>
          </p:txBody>
        </p:sp>
        <p:sp>
          <p:nvSpPr>
            <p:cNvPr id="14859" name="Google Shape;14859;p80"/>
            <p:cNvSpPr/>
            <p:nvPr/>
          </p:nvSpPr>
          <p:spPr>
            <a:xfrm>
              <a:off x="3509084" y="4973850"/>
              <a:ext cx="543827" cy="228311"/>
            </a:xfrm>
            <a:prstGeom prst="roundRect">
              <a:avLst>
                <a:gd name="adj" fmla="val 6349"/>
              </a:avLst>
            </a:prstGeom>
            <a:solidFill>
              <a:schemeClr val="accent2"/>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r>
                <a:rPr lang="en-US" sz="350" b="1">
                  <a:solidFill>
                    <a:srgbClr val="FFFFFF"/>
                  </a:solidFill>
                  <a:latin typeface="Arial"/>
                  <a:ea typeface="Arial"/>
                  <a:cs typeface="Arial"/>
                  <a:sym typeface="Arial"/>
                </a:rPr>
                <a:t>NSX </a:t>
              </a:r>
              <a:r>
                <a:rPr lang="en-US" sz="330" b="1">
                  <a:solidFill>
                    <a:srgbClr val="FFFFFF"/>
                  </a:solidFill>
                  <a:latin typeface="Arial"/>
                  <a:ea typeface="Arial"/>
                  <a:cs typeface="Arial"/>
                  <a:sym typeface="Arial"/>
                </a:rPr>
                <a:t>Manager</a:t>
              </a:r>
              <a:endParaRPr sz="330" b="1">
                <a:solidFill>
                  <a:srgbClr val="FFFFFF"/>
                </a:solidFill>
                <a:latin typeface="Arial"/>
                <a:ea typeface="Arial"/>
                <a:cs typeface="Arial"/>
                <a:sym typeface="Arial"/>
              </a:endParaRPr>
            </a:p>
          </p:txBody>
        </p:sp>
      </p:grpSp>
      <p:sp>
        <p:nvSpPr>
          <p:cNvPr id="14860" name="Google Shape;14860;p80"/>
          <p:cNvSpPr txBox="1"/>
          <p:nvPr/>
        </p:nvSpPr>
        <p:spPr>
          <a:xfrm>
            <a:off x="7250874" y="4690461"/>
            <a:ext cx="320435" cy="27685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798">
                <a:solidFill>
                  <a:srgbClr val="1B1D36"/>
                </a:solidFill>
                <a:latin typeface="Arial"/>
                <a:ea typeface="Arial"/>
                <a:cs typeface="Arial"/>
                <a:sym typeface="Arial"/>
              </a:rPr>
              <a:t>. . .</a:t>
            </a:r>
            <a:endParaRPr/>
          </a:p>
        </p:txBody>
      </p:sp>
      <p:grpSp>
        <p:nvGrpSpPr>
          <p:cNvPr id="14861" name="Google Shape;14861;p80"/>
          <p:cNvGrpSpPr/>
          <p:nvPr/>
        </p:nvGrpSpPr>
        <p:grpSpPr>
          <a:xfrm>
            <a:off x="2197147" y="3253273"/>
            <a:ext cx="2387481" cy="1894300"/>
            <a:chOff x="-2324059" y="4460524"/>
            <a:chExt cx="2388725" cy="1895287"/>
          </a:xfrm>
        </p:grpSpPr>
        <p:sp>
          <p:nvSpPr>
            <p:cNvPr id="14862" name="Google Shape;14862;p80"/>
            <p:cNvSpPr/>
            <p:nvPr/>
          </p:nvSpPr>
          <p:spPr>
            <a:xfrm>
              <a:off x="-2324059" y="4460524"/>
              <a:ext cx="2388725" cy="1895287"/>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pic>
          <p:nvPicPr>
            <p:cNvPr id="14863" name="Google Shape;14863;p80"/>
            <p:cNvPicPr preferRelativeResize="0"/>
            <p:nvPr/>
          </p:nvPicPr>
          <p:blipFill rotWithShape="1">
            <a:blip r:embed="rId4">
              <a:alphaModFix/>
            </a:blip>
            <a:srcRect/>
            <a:stretch/>
          </p:blipFill>
          <p:spPr>
            <a:xfrm>
              <a:off x="-2305837" y="4504430"/>
              <a:ext cx="2355593" cy="1815131"/>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4868"/>
        <p:cNvGrpSpPr/>
        <p:nvPr/>
      </p:nvGrpSpPr>
      <p:grpSpPr>
        <a:xfrm>
          <a:off x="0" y="0"/>
          <a:ext cx="0" cy="0"/>
          <a:chOff x="0" y="0"/>
          <a:chExt cx="0" cy="0"/>
        </a:xfrm>
      </p:grpSpPr>
      <p:sp>
        <p:nvSpPr>
          <p:cNvPr id="14869" name="Google Shape;14869;p81"/>
          <p:cNvSpPr/>
          <p:nvPr/>
        </p:nvSpPr>
        <p:spPr>
          <a:xfrm>
            <a:off x="597165" y="1610954"/>
            <a:ext cx="7226187" cy="4433790"/>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pic>
        <p:nvPicPr>
          <p:cNvPr id="14870" name="Google Shape;14870;p81"/>
          <p:cNvPicPr preferRelativeResize="0"/>
          <p:nvPr/>
        </p:nvPicPr>
        <p:blipFill rotWithShape="1">
          <a:blip r:embed="rId3">
            <a:alphaModFix/>
          </a:blip>
          <a:srcRect/>
          <a:stretch/>
        </p:blipFill>
        <p:spPr>
          <a:xfrm>
            <a:off x="670358" y="1669980"/>
            <a:ext cx="7079800" cy="4315737"/>
          </a:xfrm>
          <a:prstGeom prst="rect">
            <a:avLst/>
          </a:prstGeom>
          <a:noFill/>
          <a:ln>
            <a:noFill/>
          </a:ln>
        </p:spPr>
      </p:pic>
      <p:sp>
        <p:nvSpPr>
          <p:cNvPr id="14871" name="Google Shape;14871;p81"/>
          <p:cNvSpPr/>
          <p:nvPr/>
        </p:nvSpPr>
        <p:spPr>
          <a:xfrm>
            <a:off x="1988658" y="4275385"/>
            <a:ext cx="1460653" cy="310608"/>
          </a:xfrm>
          <a:prstGeom prst="rect">
            <a:avLst/>
          </a:prstGeom>
          <a:noFill/>
          <a:ln w="31750" cap="flat" cmpd="sng">
            <a:solidFill>
              <a:srgbClr val="E68C28"/>
            </a:solidFill>
            <a:prstDash val="solid"/>
            <a:miter lim="800000"/>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
        <p:nvSpPr>
          <p:cNvPr id="14872" name="Google Shape;14872;p81"/>
          <p:cNvSpPr txBox="1">
            <a:spLocks noGrp="1"/>
          </p:cNvSpPr>
          <p:nvPr>
            <p:ph type="title"/>
          </p:nvPr>
        </p:nvSpPr>
        <p:spPr>
          <a:xfrm>
            <a:off x="584119" y="415108"/>
            <a:ext cx="10992412" cy="380703"/>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Centralized Password Management</a:t>
            </a:r>
            <a:endParaRPr/>
          </a:p>
        </p:txBody>
      </p:sp>
      <p:sp>
        <p:nvSpPr>
          <p:cNvPr id="14873" name="Google Shape;14873;p81"/>
          <p:cNvSpPr txBox="1">
            <a:spLocks noGrp="1"/>
          </p:cNvSpPr>
          <p:nvPr>
            <p:ph type="subTitle" idx="1"/>
          </p:nvPr>
        </p:nvSpPr>
        <p:spPr>
          <a:xfrm>
            <a:off x="597164" y="813875"/>
            <a:ext cx="10954125" cy="247550"/>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Simplified password management across infrastructure and management components</a:t>
            </a:r>
            <a:endParaRPr/>
          </a:p>
        </p:txBody>
      </p:sp>
      <p:sp>
        <p:nvSpPr>
          <p:cNvPr id="14874" name="Google Shape;14874;p81"/>
          <p:cNvSpPr txBox="1">
            <a:spLocks noGrp="1"/>
          </p:cNvSpPr>
          <p:nvPr>
            <p:ph type="body" idx="2"/>
          </p:nvPr>
        </p:nvSpPr>
        <p:spPr>
          <a:xfrm>
            <a:off x="8378628" y="1601630"/>
            <a:ext cx="3805437" cy="456842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VCF Operations alerts to warn of upcoming password expiration</a:t>
            </a:r>
            <a:endParaRPr dirty="0"/>
          </a:p>
          <a:p>
            <a:pPr marL="0" lvl="0" indent="0" algn="l" rtl="0">
              <a:lnSpc>
                <a:spcPct val="100000"/>
              </a:lnSpc>
              <a:spcBef>
                <a:spcPts val="1200"/>
              </a:spcBef>
              <a:spcAft>
                <a:spcPts val="0"/>
              </a:spcAft>
              <a:buSzPts val="1440"/>
              <a:buNone/>
            </a:pPr>
            <a:r>
              <a:rPr lang="en-US" dirty="0"/>
              <a:t>Expanded support for standalone vCenter 8.0 U3 and VCF 5.2 BOM</a:t>
            </a:r>
            <a:endParaRPr dirty="0"/>
          </a:p>
          <a:p>
            <a:pPr marL="0" lvl="0" indent="0" algn="l" rtl="0">
              <a:lnSpc>
                <a:spcPct val="100000"/>
              </a:lnSpc>
              <a:spcBef>
                <a:spcPts val="1200"/>
              </a:spcBef>
              <a:spcAft>
                <a:spcPts val="0"/>
              </a:spcAft>
              <a:buSzPts val="1440"/>
              <a:buNone/>
            </a:pPr>
            <a:r>
              <a:rPr lang="en-US" dirty="0"/>
              <a:t>Set unified password policies at a VCF Fleet or component level</a:t>
            </a:r>
            <a:endParaRPr dirty="0"/>
          </a:p>
          <a:p>
            <a:pPr marL="0" lvl="0" indent="0" algn="l" rtl="0">
              <a:lnSpc>
                <a:spcPct val="100000"/>
              </a:lnSpc>
              <a:spcBef>
                <a:spcPts val="1200"/>
              </a:spcBef>
              <a:spcAft>
                <a:spcPts val="0"/>
              </a:spcAft>
              <a:buSzPts val="1440"/>
              <a:buNone/>
            </a:pPr>
            <a:r>
              <a:rPr lang="en-US" dirty="0"/>
              <a:t>Run a </a:t>
            </a:r>
            <a:r>
              <a:rPr lang="en-US" b="1" dirty="0"/>
              <a:t>Password Compliance Check </a:t>
            </a:r>
            <a:r>
              <a:rPr lang="en-US" dirty="0"/>
              <a:t>and perform a </a:t>
            </a:r>
            <a:r>
              <a:rPr lang="en-US" b="1" dirty="0"/>
              <a:t>Remediation</a:t>
            </a:r>
            <a:endParaRPr dirty="0"/>
          </a:p>
          <a:p>
            <a:pPr marL="0" lvl="0" indent="0" algn="l" rtl="0">
              <a:lnSpc>
                <a:spcPct val="100000"/>
              </a:lnSpc>
              <a:spcBef>
                <a:spcPts val="1200"/>
              </a:spcBef>
              <a:spcAft>
                <a:spcPts val="0"/>
              </a:spcAft>
              <a:buSzPts val="1440"/>
              <a:buNone/>
            </a:pPr>
            <a:r>
              <a:rPr lang="en-US" dirty="0"/>
              <a:t>APIs for Password Vault integration</a:t>
            </a:r>
            <a:endParaRPr dirty="0"/>
          </a:p>
          <a:p>
            <a:pPr marL="0" lvl="0" indent="0" algn="l" rtl="0">
              <a:lnSpc>
                <a:spcPct val="100000"/>
              </a:lnSpc>
              <a:spcBef>
                <a:spcPts val="1200"/>
              </a:spcBef>
              <a:spcAft>
                <a:spcPts val="0"/>
              </a:spcAft>
              <a:buSzPts val="1440"/>
              <a:buNone/>
            </a:pPr>
            <a:r>
              <a:rPr lang="en-US" dirty="0"/>
              <a:t>Break glass accounts no longer stored in VCF Operations</a:t>
            </a:r>
            <a:endParaRPr dirty="0"/>
          </a:p>
          <a:p>
            <a:pPr marL="0" lvl="0" indent="0" algn="l" rtl="0">
              <a:lnSpc>
                <a:spcPct val="100000"/>
              </a:lnSpc>
              <a:spcBef>
                <a:spcPts val="1200"/>
              </a:spcBef>
              <a:spcAft>
                <a:spcPts val="0"/>
              </a:spcAft>
              <a:buSzPts val="1440"/>
              <a:buNone/>
            </a:pPr>
            <a:endParaRPr dirty="0"/>
          </a:p>
          <a:p>
            <a:pPr marL="0" lvl="0" indent="0" algn="l" rtl="0">
              <a:lnSpc>
                <a:spcPct val="100000"/>
              </a:lnSpc>
              <a:spcBef>
                <a:spcPts val="1200"/>
              </a:spcBef>
              <a:spcAft>
                <a:spcPts val="0"/>
              </a:spcAft>
              <a:buSzPts val="1440"/>
              <a:buNone/>
            </a:pPr>
            <a:endParaRPr dirty="0"/>
          </a:p>
        </p:txBody>
      </p:sp>
      <p:sp>
        <p:nvSpPr>
          <p:cNvPr id="14875" name="Google Shape;14875;p81"/>
          <p:cNvSpPr/>
          <p:nvPr/>
        </p:nvSpPr>
        <p:spPr>
          <a:xfrm>
            <a:off x="1988658" y="2885159"/>
            <a:ext cx="568818" cy="175046"/>
          </a:xfrm>
          <a:prstGeom prst="rect">
            <a:avLst/>
          </a:prstGeom>
          <a:noFill/>
          <a:ln w="31750" cap="flat" cmpd="sng">
            <a:solidFill>
              <a:srgbClr val="E68C28"/>
            </a:solidFill>
            <a:prstDash val="solid"/>
            <a:miter lim="800000"/>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
        <p:nvSpPr>
          <p:cNvPr id="14876" name="Google Shape;14876;p81"/>
          <p:cNvSpPr/>
          <p:nvPr/>
        </p:nvSpPr>
        <p:spPr>
          <a:xfrm>
            <a:off x="1988659" y="4645020"/>
            <a:ext cx="467244" cy="175046"/>
          </a:xfrm>
          <a:prstGeom prst="rect">
            <a:avLst/>
          </a:prstGeom>
          <a:noFill/>
          <a:ln w="31750" cap="flat" cmpd="sng">
            <a:solidFill>
              <a:srgbClr val="E68C28"/>
            </a:solidFill>
            <a:prstDash val="solid"/>
            <a:miter lim="800000"/>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grpSp>
        <p:nvGrpSpPr>
          <p:cNvPr id="14877" name="Google Shape;14877;p81"/>
          <p:cNvGrpSpPr/>
          <p:nvPr/>
        </p:nvGrpSpPr>
        <p:grpSpPr>
          <a:xfrm>
            <a:off x="670358" y="1669980"/>
            <a:ext cx="7079801" cy="4320262"/>
            <a:chOff x="4986414" y="2888646"/>
            <a:chExt cx="7081645" cy="4321387"/>
          </a:xfrm>
        </p:grpSpPr>
        <p:pic>
          <p:nvPicPr>
            <p:cNvPr id="14878" name="Google Shape;14878;p81"/>
            <p:cNvPicPr preferRelativeResize="0"/>
            <p:nvPr/>
          </p:nvPicPr>
          <p:blipFill rotWithShape="1">
            <a:blip r:embed="rId4">
              <a:alphaModFix/>
            </a:blip>
            <a:srcRect/>
            <a:stretch/>
          </p:blipFill>
          <p:spPr>
            <a:xfrm>
              <a:off x="4986414" y="2888646"/>
              <a:ext cx="7081645" cy="4321387"/>
            </a:xfrm>
            <a:prstGeom prst="rect">
              <a:avLst/>
            </a:prstGeom>
            <a:noFill/>
            <a:ln>
              <a:noFill/>
            </a:ln>
          </p:spPr>
        </p:pic>
        <p:pic>
          <p:nvPicPr>
            <p:cNvPr id="14879" name="Google Shape;14879;p81"/>
            <p:cNvPicPr preferRelativeResize="0"/>
            <p:nvPr/>
          </p:nvPicPr>
          <p:blipFill rotWithShape="1">
            <a:blip r:embed="rId5">
              <a:alphaModFix/>
            </a:blip>
            <a:srcRect/>
            <a:stretch/>
          </p:blipFill>
          <p:spPr>
            <a:xfrm>
              <a:off x="7941856" y="3990675"/>
              <a:ext cx="1314748" cy="766936"/>
            </a:xfrm>
            <a:prstGeom prst="rect">
              <a:avLst/>
            </a:prstGeom>
            <a:noFill/>
            <a:ln>
              <a:noFill/>
            </a:ln>
          </p:spPr>
        </p:pic>
        <p:pic>
          <p:nvPicPr>
            <p:cNvPr id="14880" name="Google Shape;14880;p81"/>
            <p:cNvPicPr preferRelativeResize="0"/>
            <p:nvPr/>
          </p:nvPicPr>
          <p:blipFill rotWithShape="1">
            <a:blip r:embed="rId6">
              <a:alphaModFix/>
            </a:blip>
            <a:srcRect/>
            <a:stretch/>
          </p:blipFill>
          <p:spPr>
            <a:xfrm>
              <a:off x="10002311" y="4021139"/>
              <a:ext cx="1584547" cy="700857"/>
            </a:xfrm>
            <a:prstGeom prst="rect">
              <a:avLst/>
            </a:prstGeom>
            <a:noFill/>
            <a:ln>
              <a:noFill/>
            </a:ln>
          </p:spPr>
        </p:pic>
      </p:grpSp>
      <p:sp>
        <p:nvSpPr>
          <p:cNvPr id="14881" name="Google Shape;14881;p81"/>
          <p:cNvSpPr/>
          <p:nvPr/>
        </p:nvSpPr>
        <p:spPr>
          <a:xfrm>
            <a:off x="1932015" y="2644218"/>
            <a:ext cx="1457716" cy="153434"/>
          </a:xfrm>
          <a:prstGeom prst="rect">
            <a:avLst/>
          </a:prstGeom>
          <a:noFill/>
          <a:ln w="31750" cap="flat" cmpd="sng">
            <a:solidFill>
              <a:srgbClr val="E68C28"/>
            </a:solidFill>
            <a:prstDash val="solid"/>
            <a:miter lim="800000"/>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
        <p:nvSpPr>
          <p:cNvPr id="14882" name="Google Shape;14882;p81"/>
          <p:cNvSpPr/>
          <p:nvPr/>
        </p:nvSpPr>
        <p:spPr>
          <a:xfrm>
            <a:off x="4779431" y="3607802"/>
            <a:ext cx="715516" cy="175046"/>
          </a:xfrm>
          <a:prstGeom prst="rect">
            <a:avLst/>
          </a:prstGeom>
          <a:noFill/>
          <a:ln w="31750" cap="flat" cmpd="sng">
            <a:solidFill>
              <a:srgbClr val="E68C28"/>
            </a:solidFill>
            <a:prstDash val="solid"/>
            <a:miter lim="800000"/>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882"/>
                                        </p:tgtEl>
                                        <p:attrNameLst>
                                          <p:attrName>style.visibility</p:attrName>
                                        </p:attrNameLst>
                                      </p:cBhvr>
                                      <p:to>
                                        <p:strVal val="visible"/>
                                      </p:to>
                                    </p:set>
                                    <p:animEffect transition="in" filter="fade">
                                      <p:cBhvr>
                                        <p:cTn id="7" dur="500"/>
                                        <p:tgtEl>
                                          <p:spTgt spid="1488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4882"/>
                                        </p:tgtEl>
                                      </p:cBhvr>
                                    </p:animEffect>
                                    <p:set>
                                      <p:cBhvr>
                                        <p:cTn id="12" dur="1" fill="hold">
                                          <p:stCondLst>
                                            <p:cond delay="500"/>
                                          </p:stCondLst>
                                        </p:cTn>
                                        <p:tgtEl>
                                          <p:spTgt spid="14882"/>
                                        </p:tgtEl>
                                        <p:attrNameLst>
                                          <p:attrName>style.visibility</p:attrName>
                                        </p:attrNameLst>
                                      </p:cBhvr>
                                      <p:to>
                                        <p:strVal val="hidden"/>
                                      </p:to>
                                    </p:set>
                                  </p:childTnLst>
                                </p:cTn>
                              </p:par>
                              <p:par>
                                <p:cTn id="13" presetID="10" presetClass="entr" presetSubtype="0" fill="hold" nodeType="withEffect">
                                  <p:stCondLst>
                                    <p:cond delay="0"/>
                                  </p:stCondLst>
                                  <p:childTnLst>
                                    <p:set>
                                      <p:cBhvr>
                                        <p:cTn id="14" dur="1" fill="hold">
                                          <p:stCondLst>
                                            <p:cond delay="0"/>
                                          </p:stCondLst>
                                        </p:cTn>
                                        <p:tgtEl>
                                          <p:spTgt spid="14881"/>
                                        </p:tgtEl>
                                        <p:attrNameLst>
                                          <p:attrName>style.visibility</p:attrName>
                                        </p:attrNameLst>
                                      </p:cBhvr>
                                      <p:to>
                                        <p:strVal val="visible"/>
                                      </p:to>
                                    </p:set>
                                    <p:animEffect transition="in" filter="fade">
                                      <p:cBhvr>
                                        <p:cTn id="15" dur="500"/>
                                        <p:tgtEl>
                                          <p:spTgt spid="1488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nodeType="clickEffect">
                                  <p:stCondLst>
                                    <p:cond delay="0"/>
                                  </p:stCondLst>
                                  <p:childTnLst>
                                    <p:animEffect transition="out" filter="fade">
                                      <p:cBhvr>
                                        <p:cTn id="19" dur="500"/>
                                        <p:tgtEl>
                                          <p:spTgt spid="14881"/>
                                        </p:tgtEl>
                                      </p:cBhvr>
                                    </p:animEffect>
                                    <p:set>
                                      <p:cBhvr>
                                        <p:cTn id="20" dur="1" fill="hold">
                                          <p:stCondLst>
                                            <p:cond delay="500"/>
                                          </p:stCondLst>
                                        </p:cTn>
                                        <p:tgtEl>
                                          <p:spTgt spid="14881"/>
                                        </p:tgtEl>
                                        <p:attrNameLst>
                                          <p:attrName>style.visibility</p:attrName>
                                        </p:attrNameLst>
                                      </p:cBhvr>
                                      <p:to>
                                        <p:strVal val="hidden"/>
                                      </p:to>
                                    </p:set>
                                  </p:childTnLst>
                                </p:cTn>
                              </p:par>
                            </p:childTnLst>
                          </p:cTn>
                        </p:par>
                        <p:par>
                          <p:cTn id="21" fill="hold">
                            <p:stCondLst>
                              <p:cond delay="500"/>
                            </p:stCondLst>
                            <p:childTnLst>
                              <p:par>
                                <p:cTn id="22" presetID="10" presetClass="exit" presetSubtype="0" fill="hold" nodeType="afterEffect">
                                  <p:stCondLst>
                                    <p:cond delay="0"/>
                                  </p:stCondLst>
                                  <p:childTnLst>
                                    <p:animEffect transition="out" filter="fade">
                                      <p:cBhvr>
                                        <p:cTn id="23" dur="500"/>
                                        <p:tgtEl>
                                          <p:spTgt spid="14877"/>
                                        </p:tgtEl>
                                      </p:cBhvr>
                                    </p:animEffect>
                                    <p:set>
                                      <p:cBhvr>
                                        <p:cTn id="24" dur="1" fill="hold">
                                          <p:stCondLst>
                                            <p:cond delay="500"/>
                                          </p:stCondLst>
                                        </p:cTn>
                                        <p:tgtEl>
                                          <p:spTgt spid="14877"/>
                                        </p:tgtEl>
                                        <p:attrNameLst>
                                          <p:attrName>style.visibility</p:attrName>
                                        </p:attrNameLst>
                                      </p:cBhvr>
                                      <p:to>
                                        <p:strVal val="hidden"/>
                                      </p:to>
                                    </p:set>
                                  </p:childTnLst>
                                </p:cTn>
                              </p:par>
                              <p:par>
                                <p:cTn id="25" presetID="10" presetClass="entr" presetSubtype="0" fill="hold" nodeType="withEffect">
                                  <p:stCondLst>
                                    <p:cond delay="0"/>
                                  </p:stCondLst>
                                  <p:childTnLst>
                                    <p:set>
                                      <p:cBhvr>
                                        <p:cTn id="26" dur="1" fill="hold">
                                          <p:stCondLst>
                                            <p:cond delay="0"/>
                                          </p:stCondLst>
                                        </p:cTn>
                                        <p:tgtEl>
                                          <p:spTgt spid="14875"/>
                                        </p:tgtEl>
                                        <p:attrNameLst>
                                          <p:attrName>style.visibility</p:attrName>
                                        </p:attrNameLst>
                                      </p:cBhvr>
                                      <p:to>
                                        <p:strVal val="visible"/>
                                      </p:to>
                                    </p:set>
                                    <p:animEffect transition="in" filter="fade">
                                      <p:cBhvr>
                                        <p:cTn id="27" dur="500"/>
                                        <p:tgtEl>
                                          <p:spTgt spid="1487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14875"/>
                                        </p:tgtEl>
                                      </p:cBhvr>
                                    </p:animEffect>
                                    <p:set>
                                      <p:cBhvr>
                                        <p:cTn id="32" dur="1" fill="hold">
                                          <p:stCondLst>
                                            <p:cond delay="500"/>
                                          </p:stCondLst>
                                        </p:cTn>
                                        <p:tgtEl>
                                          <p:spTgt spid="14875"/>
                                        </p:tgtEl>
                                        <p:attrNameLst>
                                          <p:attrName>style.visibility</p:attrName>
                                        </p:attrNameLst>
                                      </p:cBhvr>
                                      <p:to>
                                        <p:strVal val="hidden"/>
                                      </p:to>
                                    </p:set>
                                  </p:childTnLst>
                                </p:cTn>
                              </p:par>
                              <p:par>
                                <p:cTn id="33" presetID="10" presetClass="entr" presetSubtype="0" fill="hold" nodeType="withEffect">
                                  <p:stCondLst>
                                    <p:cond delay="0"/>
                                  </p:stCondLst>
                                  <p:childTnLst>
                                    <p:set>
                                      <p:cBhvr>
                                        <p:cTn id="34" dur="1" fill="hold">
                                          <p:stCondLst>
                                            <p:cond delay="0"/>
                                          </p:stCondLst>
                                        </p:cTn>
                                        <p:tgtEl>
                                          <p:spTgt spid="14871"/>
                                        </p:tgtEl>
                                        <p:attrNameLst>
                                          <p:attrName>style.visibility</p:attrName>
                                        </p:attrNameLst>
                                      </p:cBhvr>
                                      <p:to>
                                        <p:strVal val="visible"/>
                                      </p:to>
                                    </p:set>
                                    <p:animEffect transition="in" filter="fade">
                                      <p:cBhvr>
                                        <p:cTn id="35" dur="500"/>
                                        <p:tgtEl>
                                          <p:spTgt spid="1487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nodeType="clickEffect">
                                  <p:stCondLst>
                                    <p:cond delay="0"/>
                                  </p:stCondLst>
                                  <p:childTnLst>
                                    <p:animEffect transition="out" filter="fade">
                                      <p:cBhvr>
                                        <p:cTn id="39" dur="500"/>
                                        <p:tgtEl>
                                          <p:spTgt spid="14871"/>
                                        </p:tgtEl>
                                      </p:cBhvr>
                                    </p:animEffect>
                                    <p:set>
                                      <p:cBhvr>
                                        <p:cTn id="40" dur="1" fill="hold">
                                          <p:stCondLst>
                                            <p:cond delay="500"/>
                                          </p:stCondLst>
                                        </p:cTn>
                                        <p:tgtEl>
                                          <p:spTgt spid="14871"/>
                                        </p:tgtEl>
                                        <p:attrNameLst>
                                          <p:attrName>style.visibility</p:attrName>
                                        </p:attrNameLst>
                                      </p:cBhvr>
                                      <p:to>
                                        <p:strVal val="hidden"/>
                                      </p:to>
                                    </p:set>
                                  </p:childTnLst>
                                </p:cTn>
                              </p:par>
                              <p:par>
                                <p:cTn id="41" presetID="10" presetClass="entr" presetSubtype="0" fill="hold" nodeType="withEffect">
                                  <p:stCondLst>
                                    <p:cond delay="0"/>
                                  </p:stCondLst>
                                  <p:childTnLst>
                                    <p:set>
                                      <p:cBhvr>
                                        <p:cTn id="42" dur="1" fill="hold">
                                          <p:stCondLst>
                                            <p:cond delay="0"/>
                                          </p:stCondLst>
                                        </p:cTn>
                                        <p:tgtEl>
                                          <p:spTgt spid="14876"/>
                                        </p:tgtEl>
                                        <p:attrNameLst>
                                          <p:attrName>style.visibility</p:attrName>
                                        </p:attrNameLst>
                                      </p:cBhvr>
                                      <p:to>
                                        <p:strVal val="visible"/>
                                      </p:to>
                                    </p:set>
                                    <p:animEffect transition="in" filter="fade">
                                      <p:cBhvr>
                                        <p:cTn id="43" dur="500"/>
                                        <p:tgtEl>
                                          <p:spTgt spid="14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4887"/>
        <p:cNvGrpSpPr/>
        <p:nvPr/>
      </p:nvGrpSpPr>
      <p:grpSpPr>
        <a:xfrm>
          <a:off x="0" y="0"/>
          <a:ext cx="0" cy="0"/>
          <a:chOff x="0" y="0"/>
          <a:chExt cx="0" cy="0"/>
        </a:xfrm>
      </p:grpSpPr>
      <p:sp>
        <p:nvSpPr>
          <p:cNvPr id="14888" name="Google Shape;14888;p82"/>
          <p:cNvSpPr txBox="1">
            <a:spLocks noGrp="1"/>
          </p:cNvSpPr>
          <p:nvPr>
            <p:ph type="title"/>
          </p:nvPr>
        </p:nvSpPr>
        <p:spPr>
          <a:xfrm>
            <a:off x="584119" y="415108"/>
            <a:ext cx="10992412" cy="380703"/>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Enhanced Fleet-level Configuration Management</a:t>
            </a:r>
            <a:endParaRPr/>
          </a:p>
        </p:txBody>
      </p:sp>
      <p:sp>
        <p:nvSpPr>
          <p:cNvPr id="14889" name="Google Shape;14889;p82"/>
          <p:cNvSpPr txBox="1">
            <a:spLocks noGrp="1"/>
          </p:cNvSpPr>
          <p:nvPr>
            <p:ph type="subTitle" idx="1"/>
          </p:nvPr>
        </p:nvSpPr>
        <p:spPr>
          <a:xfrm>
            <a:off x="597164" y="813875"/>
            <a:ext cx="10954125" cy="247550"/>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Analyze configuration changes using desired state templates</a:t>
            </a:r>
            <a:endParaRPr/>
          </a:p>
        </p:txBody>
      </p:sp>
      <p:sp>
        <p:nvSpPr>
          <p:cNvPr id="14890" name="Google Shape;14890;p82"/>
          <p:cNvSpPr txBox="1">
            <a:spLocks noGrp="1"/>
          </p:cNvSpPr>
          <p:nvPr>
            <p:ph type="body" idx="2"/>
          </p:nvPr>
        </p:nvSpPr>
        <p:spPr>
          <a:xfrm>
            <a:off x="8378628" y="1601630"/>
            <a:ext cx="3805437" cy="456842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Quickly view detailed configuration changes at a VCF instance, vCenter, cluster* and host level</a:t>
            </a:r>
            <a:endParaRPr dirty="0"/>
          </a:p>
          <a:p>
            <a:pPr marL="0" lvl="0" indent="0" algn="l" rtl="0">
              <a:lnSpc>
                <a:spcPct val="100000"/>
              </a:lnSpc>
              <a:spcBef>
                <a:spcPts val="1200"/>
              </a:spcBef>
              <a:spcAft>
                <a:spcPts val="0"/>
              </a:spcAft>
              <a:buSzPts val="1440"/>
              <a:buNone/>
            </a:pPr>
            <a:r>
              <a:rPr lang="en-US" dirty="0"/>
              <a:t>Create desired state vCenter and desired state cluster templates</a:t>
            </a:r>
            <a:endParaRPr dirty="0"/>
          </a:p>
          <a:p>
            <a:pPr marL="0" lvl="0" indent="0" algn="l" rtl="0">
              <a:lnSpc>
                <a:spcPct val="100000"/>
              </a:lnSpc>
              <a:spcBef>
                <a:spcPts val="1200"/>
              </a:spcBef>
              <a:spcAft>
                <a:spcPts val="0"/>
              </a:spcAft>
              <a:buSzPts val="1440"/>
              <a:buNone/>
            </a:pPr>
            <a:r>
              <a:rPr lang="en-US" dirty="0"/>
              <a:t>Git integration for vCenter templates and cluster templates</a:t>
            </a:r>
            <a:endParaRPr dirty="0"/>
          </a:p>
          <a:p>
            <a:pPr marL="0" lvl="0" indent="0" algn="l" rtl="0">
              <a:lnSpc>
                <a:spcPct val="100000"/>
              </a:lnSpc>
              <a:spcBef>
                <a:spcPts val="1200"/>
              </a:spcBef>
              <a:spcAft>
                <a:spcPts val="0"/>
              </a:spcAft>
              <a:buSzPts val="1440"/>
              <a:buNone/>
            </a:pPr>
            <a:r>
              <a:rPr lang="en-US" dirty="0"/>
              <a:t>Schedule or run drift detection on-demand for </a:t>
            </a:r>
            <a:r>
              <a:rPr lang="en-US" dirty="0" err="1"/>
              <a:t>vCenters</a:t>
            </a:r>
            <a:r>
              <a:rPr lang="en-US" dirty="0"/>
              <a:t> or clusters</a:t>
            </a:r>
            <a:endParaRPr dirty="0"/>
          </a:p>
          <a:p>
            <a:pPr marL="0" lvl="0" indent="0" algn="l" rtl="0">
              <a:lnSpc>
                <a:spcPct val="100000"/>
              </a:lnSpc>
              <a:spcBef>
                <a:spcPts val="1200"/>
              </a:spcBef>
              <a:spcAft>
                <a:spcPts val="0"/>
              </a:spcAft>
              <a:buSzPts val="1440"/>
              <a:buNone/>
            </a:pPr>
            <a:r>
              <a:rPr lang="en-US" dirty="0"/>
              <a:t>Download a Remediation JSON file</a:t>
            </a:r>
            <a:endParaRPr dirty="0"/>
          </a:p>
          <a:p>
            <a:pPr marL="0" lvl="0" indent="0" algn="l" rtl="0">
              <a:lnSpc>
                <a:spcPct val="100000"/>
              </a:lnSpc>
              <a:spcBef>
                <a:spcPts val="1200"/>
              </a:spcBef>
              <a:spcAft>
                <a:spcPts val="0"/>
              </a:spcAft>
              <a:buSzPts val="1440"/>
              <a:buNone/>
            </a:pPr>
            <a:r>
              <a:rPr lang="en-US" dirty="0"/>
              <a:t>Download a drift status report in PDF or XLS format</a:t>
            </a:r>
            <a:endParaRPr dirty="0"/>
          </a:p>
          <a:p>
            <a:pPr marL="0" lvl="0" indent="0" algn="l" rtl="0">
              <a:lnSpc>
                <a:spcPct val="100000"/>
              </a:lnSpc>
              <a:spcBef>
                <a:spcPts val="1200"/>
              </a:spcBef>
              <a:spcAft>
                <a:spcPts val="0"/>
              </a:spcAft>
              <a:buSzPts val="1080"/>
              <a:buNone/>
            </a:pPr>
            <a:endParaRPr sz="1200" dirty="0"/>
          </a:p>
          <a:p>
            <a:pPr marL="0" lvl="0" indent="0" algn="l" rtl="0">
              <a:lnSpc>
                <a:spcPct val="100000"/>
              </a:lnSpc>
              <a:spcBef>
                <a:spcPts val="1200"/>
              </a:spcBef>
              <a:spcAft>
                <a:spcPts val="0"/>
              </a:spcAft>
              <a:buSzPts val="1440"/>
              <a:buNone/>
            </a:pPr>
            <a:endParaRPr dirty="0"/>
          </a:p>
          <a:p>
            <a:pPr marL="0" lvl="0" indent="0" algn="l" rtl="0">
              <a:lnSpc>
                <a:spcPct val="100000"/>
              </a:lnSpc>
              <a:spcBef>
                <a:spcPts val="1200"/>
              </a:spcBef>
              <a:spcAft>
                <a:spcPts val="0"/>
              </a:spcAft>
              <a:buSzPts val="1440"/>
              <a:buNone/>
            </a:pPr>
            <a:endParaRPr dirty="0"/>
          </a:p>
        </p:txBody>
      </p:sp>
      <p:sp>
        <p:nvSpPr>
          <p:cNvPr id="14891" name="Google Shape;14891;p82"/>
          <p:cNvSpPr/>
          <p:nvPr/>
        </p:nvSpPr>
        <p:spPr>
          <a:xfrm>
            <a:off x="607369" y="1601630"/>
            <a:ext cx="7342297" cy="4523366"/>
          </a:xfrm>
          <a:prstGeom prst="roundRect">
            <a:avLst>
              <a:gd name="adj" fmla="val 1819"/>
            </a:avLst>
          </a:prstGeom>
          <a:noFill/>
          <a:ln w="9525" cap="flat" cmpd="sng">
            <a:solidFill>
              <a:srgbClr val="B2B2B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796">
              <a:solidFill>
                <a:srgbClr val="FFFFFF"/>
              </a:solidFill>
              <a:latin typeface="Arial"/>
              <a:ea typeface="Arial"/>
              <a:cs typeface="Arial"/>
              <a:sym typeface="Arial"/>
            </a:endParaRPr>
          </a:p>
        </p:txBody>
      </p:sp>
      <p:sp>
        <p:nvSpPr>
          <p:cNvPr id="14892" name="Google Shape;14892;p82"/>
          <p:cNvSpPr txBox="1"/>
          <p:nvPr/>
        </p:nvSpPr>
        <p:spPr>
          <a:xfrm>
            <a:off x="195948" y="6130522"/>
            <a:ext cx="8182793" cy="153728"/>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000">
                <a:solidFill>
                  <a:srgbClr val="777777"/>
                </a:solidFill>
                <a:latin typeface="Arial"/>
                <a:ea typeface="Arial"/>
                <a:cs typeface="Arial"/>
                <a:sym typeface="Arial"/>
              </a:rPr>
              <a:t>* Desired State Cluster Templates are new to VCF 9.1</a:t>
            </a:r>
            <a:endParaRPr sz="1000">
              <a:solidFill>
                <a:srgbClr val="777777"/>
              </a:solidFill>
              <a:latin typeface="Arial"/>
              <a:ea typeface="Arial"/>
              <a:cs typeface="Arial"/>
              <a:sym typeface="Arial"/>
            </a:endParaRPr>
          </a:p>
        </p:txBody>
      </p:sp>
      <p:grpSp>
        <p:nvGrpSpPr>
          <p:cNvPr id="14893" name="Google Shape;14893;p82"/>
          <p:cNvGrpSpPr/>
          <p:nvPr/>
        </p:nvGrpSpPr>
        <p:grpSpPr>
          <a:xfrm>
            <a:off x="713847" y="1694369"/>
            <a:ext cx="7146884" cy="4343413"/>
            <a:chOff x="711043" y="1693465"/>
            <a:chExt cx="7150608" cy="4345676"/>
          </a:xfrm>
        </p:grpSpPr>
        <p:pic>
          <p:nvPicPr>
            <p:cNvPr id="14894" name="Google Shape;14894;p82"/>
            <p:cNvPicPr preferRelativeResize="0"/>
            <p:nvPr/>
          </p:nvPicPr>
          <p:blipFill rotWithShape="1">
            <a:blip r:embed="rId3">
              <a:alphaModFix/>
            </a:blip>
            <a:srcRect/>
            <a:stretch/>
          </p:blipFill>
          <p:spPr>
            <a:xfrm>
              <a:off x="711043" y="1693465"/>
              <a:ext cx="7150608" cy="4345676"/>
            </a:xfrm>
            <a:prstGeom prst="rect">
              <a:avLst/>
            </a:prstGeom>
            <a:noFill/>
            <a:ln>
              <a:noFill/>
            </a:ln>
          </p:spPr>
        </p:pic>
        <p:grpSp>
          <p:nvGrpSpPr>
            <p:cNvPr id="14895" name="Google Shape;14895;p82"/>
            <p:cNvGrpSpPr/>
            <p:nvPr/>
          </p:nvGrpSpPr>
          <p:grpSpPr>
            <a:xfrm>
              <a:off x="2409453" y="1982536"/>
              <a:ext cx="5393817" cy="3794562"/>
              <a:chOff x="10754569" y="1819744"/>
              <a:chExt cx="5393817" cy="3794562"/>
            </a:xfrm>
          </p:grpSpPr>
          <p:pic>
            <p:nvPicPr>
              <p:cNvPr id="14896" name="Google Shape;14896;p82"/>
              <p:cNvPicPr preferRelativeResize="0"/>
              <p:nvPr/>
            </p:nvPicPr>
            <p:blipFill rotWithShape="1">
              <a:blip r:embed="rId4">
                <a:alphaModFix/>
              </a:blip>
              <a:srcRect/>
              <a:stretch/>
            </p:blipFill>
            <p:spPr>
              <a:xfrm>
                <a:off x="10754569" y="1819744"/>
                <a:ext cx="5393817" cy="2854071"/>
              </a:xfrm>
              <a:prstGeom prst="rect">
                <a:avLst/>
              </a:prstGeom>
              <a:noFill/>
              <a:ln>
                <a:noFill/>
              </a:ln>
            </p:spPr>
          </p:pic>
          <p:sp>
            <p:nvSpPr>
              <p:cNvPr id="14897" name="Google Shape;14897;p82"/>
              <p:cNvSpPr/>
              <p:nvPr/>
            </p:nvSpPr>
            <p:spPr>
              <a:xfrm>
                <a:off x="10771094" y="4593955"/>
                <a:ext cx="5355341" cy="1020351"/>
              </a:xfrm>
              <a:prstGeom prst="rect">
                <a:avLst/>
              </a:prstGeom>
              <a:solidFill>
                <a:schemeClr val="lt1"/>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endParaRPr sz="1798">
                  <a:solidFill>
                    <a:srgbClr val="FFFFFF"/>
                  </a:solidFill>
                  <a:latin typeface="Arial"/>
                  <a:ea typeface="Arial"/>
                  <a:cs typeface="Arial"/>
                  <a:sym typeface="Arial"/>
                </a:endParaRPr>
              </a:p>
            </p:txBody>
          </p:sp>
        </p:grpSp>
      </p:grpSp>
      <p:grpSp>
        <p:nvGrpSpPr>
          <p:cNvPr id="14898" name="Google Shape;14898;p82"/>
          <p:cNvGrpSpPr/>
          <p:nvPr/>
        </p:nvGrpSpPr>
        <p:grpSpPr>
          <a:xfrm>
            <a:off x="2427888" y="1988035"/>
            <a:ext cx="5432844" cy="3618850"/>
            <a:chOff x="2425975" y="1987283"/>
            <a:chExt cx="5435675" cy="3620736"/>
          </a:xfrm>
        </p:grpSpPr>
        <p:pic>
          <p:nvPicPr>
            <p:cNvPr id="14899" name="Google Shape;14899;p82"/>
            <p:cNvPicPr preferRelativeResize="0"/>
            <p:nvPr/>
          </p:nvPicPr>
          <p:blipFill rotWithShape="1">
            <a:blip r:embed="rId5">
              <a:alphaModFix/>
            </a:blip>
            <a:srcRect/>
            <a:stretch/>
          </p:blipFill>
          <p:spPr>
            <a:xfrm>
              <a:off x="2425976" y="2074571"/>
              <a:ext cx="5408894" cy="3533448"/>
            </a:xfrm>
            <a:prstGeom prst="rect">
              <a:avLst/>
            </a:prstGeom>
            <a:noFill/>
            <a:ln>
              <a:noFill/>
            </a:ln>
          </p:spPr>
        </p:pic>
        <p:sp>
          <p:nvSpPr>
            <p:cNvPr id="14900" name="Google Shape;14900;p82"/>
            <p:cNvSpPr/>
            <p:nvPr/>
          </p:nvSpPr>
          <p:spPr>
            <a:xfrm>
              <a:off x="2425975" y="1987283"/>
              <a:ext cx="5435675" cy="108000"/>
            </a:xfrm>
            <a:prstGeom prst="rect">
              <a:avLst/>
            </a:prstGeom>
            <a:solidFill>
              <a:schemeClr val="lt1"/>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endParaRPr sz="1798">
                <a:solidFill>
                  <a:srgbClr val="FFFFFF"/>
                </a:solidFill>
                <a:latin typeface="Arial"/>
                <a:ea typeface="Arial"/>
                <a:cs typeface="Arial"/>
                <a:sym typeface="Arial"/>
              </a:endParaRPr>
            </a:p>
          </p:txBody>
        </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4898"/>
                                        </p:tgtEl>
                                      </p:cBhvr>
                                    </p:animEffect>
                                    <p:set>
                                      <p:cBhvr>
                                        <p:cTn id="7" dur="1" fill="hold">
                                          <p:stCondLst>
                                            <p:cond delay="500"/>
                                          </p:stCondLst>
                                        </p:cTn>
                                        <p:tgtEl>
                                          <p:spTgt spid="1489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4905"/>
        <p:cNvGrpSpPr/>
        <p:nvPr/>
      </p:nvGrpSpPr>
      <p:grpSpPr>
        <a:xfrm>
          <a:off x="0" y="0"/>
          <a:ext cx="0" cy="0"/>
          <a:chOff x="0" y="0"/>
          <a:chExt cx="0" cy="0"/>
        </a:xfrm>
      </p:grpSpPr>
      <p:sp>
        <p:nvSpPr>
          <p:cNvPr id="14906" name="Google Shape;14906;p83"/>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Maximize Your Infrastructure Utilization</a:t>
            </a:r>
            <a:endParaRPr/>
          </a:p>
        </p:txBody>
      </p:sp>
      <p:sp>
        <p:nvSpPr>
          <p:cNvPr id="14907" name="Google Shape;14907;p83"/>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VCF Operations – Capacity Management</a:t>
            </a:r>
            <a:endParaRPr/>
          </a:p>
        </p:txBody>
      </p:sp>
      <p:sp>
        <p:nvSpPr>
          <p:cNvPr id="14908" name="Google Shape;14908;p83"/>
          <p:cNvSpPr txBox="1">
            <a:spLocks noGrp="1"/>
          </p:cNvSpPr>
          <p:nvPr>
            <p:ph type="body" idx="3"/>
          </p:nvPr>
        </p:nvSpPr>
        <p:spPr>
          <a:xfrm>
            <a:off x="1588" y="1600677"/>
            <a:ext cx="5564464" cy="4570809"/>
          </a:xfrm>
          <a:prstGeom prst="rect">
            <a:avLst/>
          </a:prstGeom>
          <a:solidFill>
            <a:srgbClr val="F4F8FA"/>
          </a:solidFill>
          <a:ln>
            <a:noFill/>
          </a:ln>
        </p:spPr>
        <p:txBody>
          <a:bodyPr spcFirstLastPara="1" wrap="square" lIns="594175" tIns="457075" rIns="457075" bIns="457075" anchor="t" anchorCtr="0">
            <a:noAutofit/>
          </a:bodyPr>
          <a:lstStyle/>
          <a:p>
            <a:pPr marL="0" lvl="0" indent="0" algn="l" rtl="0">
              <a:lnSpc>
                <a:spcPct val="100000"/>
              </a:lnSpc>
              <a:spcBef>
                <a:spcPts val="0"/>
              </a:spcBef>
              <a:spcAft>
                <a:spcPts val="0"/>
              </a:spcAft>
              <a:buSzPts val="1620"/>
              <a:buNone/>
            </a:pPr>
            <a:r>
              <a:rPr lang="en-US">
                <a:solidFill>
                  <a:schemeClr val="accent2"/>
                </a:solidFill>
              </a:rPr>
              <a:t>Optimize resource utilization</a:t>
            </a:r>
            <a:endParaRPr/>
          </a:p>
          <a:p>
            <a:pPr marL="0" lvl="0" indent="0" algn="l" rtl="0">
              <a:lnSpc>
                <a:spcPct val="100000"/>
              </a:lnSpc>
              <a:spcBef>
                <a:spcPts val="1200"/>
              </a:spcBef>
              <a:spcAft>
                <a:spcPts val="0"/>
              </a:spcAft>
              <a:buSzPts val="1620"/>
              <a:buNone/>
            </a:pPr>
            <a:r>
              <a:rPr lang="en-US">
                <a:solidFill>
                  <a:schemeClr val="accent2"/>
                </a:solidFill>
              </a:rPr>
              <a:t>Prevent unnecessary spending</a:t>
            </a:r>
            <a:endParaRPr/>
          </a:p>
          <a:p>
            <a:pPr marL="0" lvl="0" indent="0" algn="l" rtl="0">
              <a:lnSpc>
                <a:spcPct val="100000"/>
              </a:lnSpc>
              <a:spcBef>
                <a:spcPts val="1200"/>
              </a:spcBef>
              <a:spcAft>
                <a:spcPts val="0"/>
              </a:spcAft>
              <a:buSzPts val="1620"/>
              <a:buNone/>
            </a:pPr>
            <a:r>
              <a:rPr lang="en-US">
                <a:solidFill>
                  <a:schemeClr val="accent2"/>
                </a:solidFill>
              </a:rPr>
              <a:t>Improve Performance </a:t>
            </a:r>
            <a:endParaRPr/>
          </a:p>
          <a:p>
            <a:pPr marL="0" lvl="0" indent="0" algn="l" rtl="0">
              <a:lnSpc>
                <a:spcPct val="100000"/>
              </a:lnSpc>
              <a:spcBef>
                <a:spcPts val="1200"/>
              </a:spcBef>
              <a:spcAft>
                <a:spcPts val="0"/>
              </a:spcAft>
              <a:buSzPts val="1620"/>
              <a:buNone/>
            </a:pPr>
            <a:r>
              <a:rPr lang="en-US">
                <a:solidFill>
                  <a:schemeClr val="accent2"/>
                </a:solidFill>
              </a:rPr>
              <a:t>Scalability and Flexibility</a:t>
            </a:r>
            <a:endParaRPr/>
          </a:p>
          <a:p>
            <a:pPr marL="0" lvl="0" indent="0" algn="l" rtl="0">
              <a:lnSpc>
                <a:spcPct val="100000"/>
              </a:lnSpc>
              <a:spcBef>
                <a:spcPts val="1200"/>
              </a:spcBef>
              <a:spcAft>
                <a:spcPts val="0"/>
              </a:spcAft>
              <a:buSzPts val="1620"/>
              <a:buNone/>
            </a:pPr>
            <a:r>
              <a:rPr lang="en-US">
                <a:solidFill>
                  <a:schemeClr val="accent2"/>
                </a:solidFill>
              </a:rPr>
              <a:t>Assess current state and current capacity</a:t>
            </a:r>
            <a:endParaRPr/>
          </a:p>
          <a:p>
            <a:pPr marL="0" lvl="0" indent="0" algn="l" rtl="0">
              <a:lnSpc>
                <a:spcPct val="100000"/>
              </a:lnSpc>
              <a:spcBef>
                <a:spcPts val="1200"/>
              </a:spcBef>
              <a:spcAft>
                <a:spcPts val="0"/>
              </a:spcAft>
              <a:buSzPts val="1620"/>
              <a:buNone/>
            </a:pPr>
            <a:r>
              <a:rPr lang="en-US">
                <a:solidFill>
                  <a:schemeClr val="accent2"/>
                </a:solidFill>
              </a:rPr>
              <a:t>Set capacity thresholds and risk levels</a:t>
            </a:r>
            <a:endParaRPr/>
          </a:p>
          <a:p>
            <a:pPr marL="0" lvl="0" indent="0" algn="l" rtl="0">
              <a:lnSpc>
                <a:spcPct val="100000"/>
              </a:lnSpc>
              <a:spcBef>
                <a:spcPts val="1200"/>
              </a:spcBef>
              <a:spcAft>
                <a:spcPts val="0"/>
              </a:spcAft>
              <a:buSzPts val="1620"/>
              <a:buNone/>
            </a:pPr>
            <a:r>
              <a:rPr lang="en-US">
                <a:solidFill>
                  <a:schemeClr val="accent2"/>
                </a:solidFill>
              </a:rPr>
              <a:t>View most constrained resources, predict shortfalls and plan future capacity</a:t>
            </a:r>
            <a:endParaRPr/>
          </a:p>
          <a:p>
            <a:pPr marL="0" lvl="0" indent="0" algn="l" rtl="0">
              <a:lnSpc>
                <a:spcPct val="100000"/>
              </a:lnSpc>
              <a:spcBef>
                <a:spcPts val="1200"/>
              </a:spcBef>
              <a:spcAft>
                <a:spcPts val="0"/>
              </a:spcAft>
              <a:buSzPts val="1620"/>
              <a:buNone/>
            </a:pPr>
            <a:r>
              <a:rPr lang="en-US">
                <a:solidFill>
                  <a:schemeClr val="accent2"/>
                </a:solidFill>
              </a:rPr>
              <a:t>Reclaim and right-size resources and see the impact on savings</a:t>
            </a:r>
            <a:endParaRPr/>
          </a:p>
          <a:p>
            <a:pPr marL="0" lvl="0" indent="0" algn="l" rtl="0">
              <a:lnSpc>
                <a:spcPct val="100000"/>
              </a:lnSpc>
              <a:spcBef>
                <a:spcPts val="1200"/>
              </a:spcBef>
              <a:spcAft>
                <a:spcPts val="0"/>
              </a:spcAft>
              <a:buSzPts val="1620"/>
              <a:buNone/>
            </a:pPr>
            <a:endParaRPr/>
          </a:p>
          <a:p>
            <a:pPr marL="0" lvl="0" indent="0" algn="l" rtl="0">
              <a:lnSpc>
                <a:spcPct val="100000"/>
              </a:lnSpc>
              <a:spcBef>
                <a:spcPts val="1200"/>
              </a:spcBef>
              <a:spcAft>
                <a:spcPts val="0"/>
              </a:spcAft>
              <a:buSzPts val="1620"/>
              <a:buNone/>
            </a:pPr>
            <a:endParaRPr/>
          </a:p>
        </p:txBody>
      </p:sp>
      <p:grpSp>
        <p:nvGrpSpPr>
          <p:cNvPr id="14909" name="Google Shape;14909;p83"/>
          <p:cNvGrpSpPr/>
          <p:nvPr/>
        </p:nvGrpSpPr>
        <p:grpSpPr>
          <a:xfrm>
            <a:off x="5672117" y="1604188"/>
            <a:ext cx="6065225" cy="4567298"/>
            <a:chOff x="6122020" y="1603713"/>
            <a:chExt cx="6066805" cy="4568488"/>
          </a:xfrm>
        </p:grpSpPr>
        <p:sp>
          <p:nvSpPr>
            <p:cNvPr id="14910" name="Google Shape;14910;p83"/>
            <p:cNvSpPr/>
            <p:nvPr/>
          </p:nvSpPr>
          <p:spPr>
            <a:xfrm>
              <a:off x="6122020" y="1603713"/>
              <a:ext cx="6066805" cy="4568488"/>
            </a:xfrm>
            <a:prstGeom prst="roundRect">
              <a:avLst>
                <a:gd name="adj" fmla="val 2356"/>
              </a:avLst>
            </a:prstGeom>
            <a:noFill/>
            <a:ln w="12700" cap="flat" cmpd="sng">
              <a:solidFill>
                <a:srgbClr val="777777"/>
              </a:solidFill>
              <a:prstDash val="solid"/>
              <a:round/>
              <a:headEnd type="none" w="sm" len="sm"/>
              <a:tailEnd type="none" w="sm" len="sm"/>
            </a:ln>
          </p:spPr>
          <p:txBody>
            <a:bodyPr spcFirstLastPara="1" wrap="square" lIns="91375" tIns="45675" rIns="91375" bIns="4567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pic>
          <p:nvPicPr>
            <p:cNvPr id="14911" name="Google Shape;14911;p83" descr="A screenshot of a computer&#10;&#10;AI-generated content may be incorrect."/>
            <p:cNvPicPr preferRelativeResize="0"/>
            <p:nvPr/>
          </p:nvPicPr>
          <p:blipFill rotWithShape="1">
            <a:blip r:embed="rId3">
              <a:alphaModFix/>
            </a:blip>
            <a:srcRect/>
            <a:stretch/>
          </p:blipFill>
          <p:spPr>
            <a:xfrm>
              <a:off x="6183598" y="1653359"/>
              <a:ext cx="5952422" cy="4473619"/>
            </a:xfrm>
            <a:prstGeom prst="rect">
              <a:avLst/>
            </a:prstGeom>
            <a:noFill/>
            <a:ln>
              <a:noFill/>
            </a:ln>
          </p:spPr>
        </p:pic>
        <p:pic>
          <p:nvPicPr>
            <p:cNvPr id="14912" name="Google Shape;14912;p83" descr="A screenshot of a computer&#10;&#10;AI-generated content may be incorrect."/>
            <p:cNvPicPr preferRelativeResize="0"/>
            <p:nvPr/>
          </p:nvPicPr>
          <p:blipFill rotWithShape="1">
            <a:blip r:embed="rId4">
              <a:alphaModFix/>
            </a:blip>
            <a:srcRect t="11918" b="82614"/>
            <a:stretch/>
          </p:blipFill>
          <p:spPr>
            <a:xfrm>
              <a:off x="6176166" y="1655260"/>
              <a:ext cx="5953051" cy="260448"/>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14917"/>
        <p:cNvGrpSpPr/>
        <p:nvPr/>
      </p:nvGrpSpPr>
      <p:grpSpPr>
        <a:xfrm>
          <a:off x="0" y="0"/>
          <a:ext cx="0" cy="0"/>
          <a:chOff x="0" y="0"/>
          <a:chExt cx="0" cy="0"/>
        </a:xfrm>
      </p:grpSpPr>
      <p:sp>
        <p:nvSpPr>
          <p:cNvPr id="14918" name="Google Shape;14918;p84"/>
          <p:cNvSpPr txBox="1">
            <a:spLocks noGrp="1"/>
          </p:cNvSpPr>
          <p:nvPr>
            <p:ph type="body" idx="1"/>
          </p:nvPr>
        </p:nvSpPr>
        <p:spPr>
          <a:xfrm>
            <a:off x="6323323" y="1600677"/>
            <a:ext cx="5863918" cy="4570809"/>
          </a:xfrm>
          <a:prstGeom prst="rect">
            <a:avLst/>
          </a:prstGeom>
          <a:solidFill>
            <a:srgbClr val="F4F8FA"/>
          </a:solidFill>
          <a:ln>
            <a:noFill/>
          </a:ln>
        </p:spPr>
        <p:txBody>
          <a:bodyPr spcFirstLastPara="1" wrap="square" lIns="457200" tIns="457200" rIns="457200" bIns="457200" anchor="t" anchorCtr="0">
            <a:noAutofit/>
          </a:bodyPr>
          <a:lstStyle/>
          <a:p>
            <a:pPr marL="0" lvl="0" indent="0" algn="l" rtl="0">
              <a:lnSpc>
                <a:spcPct val="100000"/>
              </a:lnSpc>
              <a:spcBef>
                <a:spcPts val="0"/>
              </a:spcBef>
              <a:spcAft>
                <a:spcPts val="0"/>
              </a:spcAft>
              <a:buSzPts val="1530"/>
              <a:buNone/>
            </a:pPr>
            <a:r>
              <a:rPr lang="en-US" dirty="0">
                <a:solidFill>
                  <a:schemeClr val="accent2"/>
                </a:solidFill>
              </a:rPr>
              <a:t>Track, forecast, and optimize resources</a:t>
            </a:r>
            <a:endParaRPr dirty="0"/>
          </a:p>
          <a:p>
            <a:pPr marL="0" lvl="0" indent="0" algn="l" rtl="0">
              <a:lnSpc>
                <a:spcPct val="100000"/>
              </a:lnSpc>
              <a:spcBef>
                <a:spcPts val="1200"/>
              </a:spcBef>
              <a:spcAft>
                <a:spcPts val="0"/>
              </a:spcAft>
              <a:buSzPts val="1530"/>
              <a:buNone/>
            </a:pPr>
            <a:r>
              <a:rPr lang="en-US" dirty="0">
                <a:solidFill>
                  <a:schemeClr val="accent2"/>
                </a:solidFill>
              </a:rPr>
              <a:t>Drive cost transparency and accountability</a:t>
            </a:r>
            <a:endParaRPr dirty="0"/>
          </a:p>
          <a:p>
            <a:pPr marL="0" lvl="0" indent="0" algn="l" rtl="0">
              <a:lnSpc>
                <a:spcPct val="100000"/>
              </a:lnSpc>
              <a:spcBef>
                <a:spcPts val="1200"/>
              </a:spcBef>
              <a:spcAft>
                <a:spcPts val="0"/>
              </a:spcAft>
              <a:buSzPts val="1530"/>
              <a:buNone/>
            </a:pPr>
            <a:r>
              <a:rPr lang="en-US" dirty="0">
                <a:solidFill>
                  <a:schemeClr val="accent2"/>
                </a:solidFill>
              </a:rPr>
              <a:t>Run IT like a business.  Make informed financial decisions before committing</a:t>
            </a:r>
            <a:endParaRPr dirty="0"/>
          </a:p>
          <a:p>
            <a:pPr marL="0" lvl="0" indent="0" algn="l" rtl="0">
              <a:lnSpc>
                <a:spcPct val="100000"/>
              </a:lnSpc>
              <a:spcBef>
                <a:spcPts val="1200"/>
              </a:spcBef>
              <a:spcAft>
                <a:spcPts val="0"/>
              </a:spcAft>
              <a:buSzPts val="1530"/>
              <a:buNone/>
            </a:pPr>
            <a:r>
              <a:rPr lang="en-US" dirty="0">
                <a:solidFill>
                  <a:schemeClr val="accent2"/>
                </a:solidFill>
              </a:rPr>
              <a:t>View TCO, potential savings opportunities, and realized savings</a:t>
            </a:r>
            <a:endParaRPr dirty="0"/>
          </a:p>
          <a:p>
            <a:pPr marL="0" lvl="0" indent="0" algn="l" rtl="0">
              <a:lnSpc>
                <a:spcPct val="100000"/>
              </a:lnSpc>
              <a:spcBef>
                <a:spcPts val="1200"/>
              </a:spcBef>
              <a:spcAft>
                <a:spcPts val="0"/>
              </a:spcAft>
              <a:buSzPts val="1530"/>
              <a:buNone/>
            </a:pPr>
            <a:r>
              <a:rPr lang="en-US" dirty="0">
                <a:solidFill>
                  <a:schemeClr val="accent2"/>
                </a:solidFill>
              </a:rPr>
              <a:t>Customize OOTB Cost/Pricing Dashboards</a:t>
            </a:r>
            <a:endParaRPr dirty="0"/>
          </a:p>
          <a:p>
            <a:pPr marL="0" lvl="0" indent="0" algn="l" rtl="0">
              <a:lnSpc>
                <a:spcPct val="100000"/>
              </a:lnSpc>
              <a:spcBef>
                <a:spcPts val="1200"/>
              </a:spcBef>
              <a:spcAft>
                <a:spcPts val="0"/>
              </a:spcAft>
              <a:buSzPts val="1530"/>
              <a:buNone/>
            </a:pPr>
            <a:r>
              <a:rPr lang="en-US" dirty="0">
                <a:solidFill>
                  <a:schemeClr val="accent2"/>
                </a:solidFill>
              </a:rPr>
              <a:t>View operational costs with Showback</a:t>
            </a:r>
            <a:endParaRPr dirty="0"/>
          </a:p>
          <a:p>
            <a:pPr marL="0" lvl="0" indent="0" algn="l" rtl="0">
              <a:lnSpc>
                <a:spcPct val="100000"/>
              </a:lnSpc>
              <a:spcBef>
                <a:spcPts val="1200"/>
              </a:spcBef>
              <a:spcAft>
                <a:spcPts val="0"/>
              </a:spcAft>
              <a:buSzPts val="1530"/>
              <a:buNone/>
            </a:pPr>
            <a:r>
              <a:rPr lang="en-US" dirty="0">
                <a:solidFill>
                  <a:schemeClr val="accent2"/>
                </a:solidFill>
              </a:rPr>
              <a:t>Chargeback - Generate tenant bills</a:t>
            </a:r>
            <a:endParaRPr dirty="0"/>
          </a:p>
          <a:p>
            <a:pPr marL="0" lvl="0" indent="0" algn="l" rtl="0">
              <a:lnSpc>
                <a:spcPct val="100000"/>
              </a:lnSpc>
              <a:spcBef>
                <a:spcPts val="1200"/>
              </a:spcBef>
              <a:spcAft>
                <a:spcPts val="0"/>
              </a:spcAft>
              <a:buSzPts val="1530"/>
              <a:buNone/>
            </a:pPr>
            <a:r>
              <a:rPr lang="en-US" dirty="0">
                <a:solidFill>
                  <a:schemeClr val="accent2"/>
                </a:solidFill>
              </a:rPr>
              <a:t>Perform What-If Cost Analysis</a:t>
            </a:r>
            <a:endParaRPr dirty="0"/>
          </a:p>
          <a:p>
            <a:pPr marL="0" lvl="0" indent="0" algn="l" rtl="0">
              <a:lnSpc>
                <a:spcPct val="100000"/>
              </a:lnSpc>
              <a:spcBef>
                <a:spcPts val="1200"/>
              </a:spcBef>
              <a:spcAft>
                <a:spcPts val="0"/>
              </a:spcAft>
              <a:buSzPts val="1619"/>
              <a:buNone/>
            </a:pPr>
            <a:endParaRPr dirty="0"/>
          </a:p>
          <a:p>
            <a:pPr marL="0" lvl="0" indent="0" algn="l" rtl="0">
              <a:lnSpc>
                <a:spcPct val="100000"/>
              </a:lnSpc>
              <a:spcBef>
                <a:spcPts val="1200"/>
              </a:spcBef>
              <a:spcAft>
                <a:spcPts val="0"/>
              </a:spcAft>
              <a:buSzPts val="1619"/>
              <a:buNone/>
            </a:pPr>
            <a:endParaRPr dirty="0"/>
          </a:p>
          <a:p>
            <a:pPr marL="0" lvl="0" indent="0" algn="l" rtl="0">
              <a:lnSpc>
                <a:spcPct val="100000"/>
              </a:lnSpc>
              <a:spcBef>
                <a:spcPts val="1200"/>
              </a:spcBef>
              <a:spcAft>
                <a:spcPts val="0"/>
              </a:spcAft>
              <a:buSzPts val="1619"/>
              <a:buNone/>
            </a:pPr>
            <a:endParaRPr dirty="0"/>
          </a:p>
          <a:p>
            <a:pPr marL="0" lvl="0" indent="0" algn="l" rtl="0">
              <a:lnSpc>
                <a:spcPct val="100000"/>
              </a:lnSpc>
              <a:spcBef>
                <a:spcPts val="1200"/>
              </a:spcBef>
              <a:spcAft>
                <a:spcPts val="0"/>
              </a:spcAft>
              <a:buSzPts val="1619"/>
              <a:buNone/>
            </a:pPr>
            <a:endParaRPr dirty="0"/>
          </a:p>
        </p:txBody>
      </p:sp>
      <p:sp>
        <p:nvSpPr>
          <p:cNvPr id="14919" name="Google Shape;14919;p84"/>
          <p:cNvSpPr txBox="1">
            <a:spLocks noGrp="1"/>
          </p:cNvSpPr>
          <p:nvPr>
            <p:ph type="subTitle" idx="2"/>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VCF Operations – FinOps</a:t>
            </a:r>
            <a:endParaRPr/>
          </a:p>
        </p:txBody>
      </p:sp>
      <p:sp>
        <p:nvSpPr>
          <p:cNvPr id="14920" name="Google Shape;14920;p84"/>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Reduce Costs and Run a More Efficient Cloud</a:t>
            </a:r>
            <a:endParaRPr/>
          </a:p>
        </p:txBody>
      </p:sp>
      <p:pic>
        <p:nvPicPr>
          <p:cNvPr id="14921" name="Google Shape;14921;p84" descr="A screenshot of a computer&#10;&#10;AI-generated content may be incorrect."/>
          <p:cNvPicPr preferRelativeResize="0"/>
          <p:nvPr/>
        </p:nvPicPr>
        <p:blipFill rotWithShape="1">
          <a:blip r:embed="rId3">
            <a:alphaModFix/>
          </a:blip>
          <a:srcRect l="5253" t="40609" r="1837" b="5129"/>
          <a:stretch/>
        </p:blipFill>
        <p:spPr>
          <a:xfrm>
            <a:off x="661045" y="1724389"/>
            <a:ext cx="5398952" cy="1773630"/>
          </a:xfrm>
          <a:prstGeom prst="rect">
            <a:avLst/>
          </a:prstGeom>
          <a:noFill/>
          <a:ln>
            <a:noFill/>
          </a:ln>
        </p:spPr>
      </p:pic>
      <p:pic>
        <p:nvPicPr>
          <p:cNvPr id="14922" name="Google Shape;14922;p84" descr="A screenshot of a computer&#10;&#10;AI-generated content may be incorrect."/>
          <p:cNvPicPr preferRelativeResize="0"/>
          <p:nvPr/>
        </p:nvPicPr>
        <p:blipFill rotWithShape="1">
          <a:blip r:embed="rId4">
            <a:alphaModFix/>
          </a:blip>
          <a:srcRect l="5255" t="39376" r="1801" b="17398"/>
          <a:stretch/>
        </p:blipFill>
        <p:spPr>
          <a:xfrm>
            <a:off x="661045" y="3411347"/>
            <a:ext cx="5398952" cy="1412398"/>
          </a:xfrm>
          <a:prstGeom prst="rect">
            <a:avLst/>
          </a:prstGeom>
          <a:noFill/>
          <a:ln>
            <a:noFill/>
          </a:ln>
        </p:spPr>
      </p:pic>
      <p:pic>
        <p:nvPicPr>
          <p:cNvPr id="14923" name="Google Shape;14923;p84" descr="A screenshot of a computer&#10;&#10;AI-generated content may be incorrect."/>
          <p:cNvPicPr preferRelativeResize="0"/>
          <p:nvPr/>
        </p:nvPicPr>
        <p:blipFill rotWithShape="1">
          <a:blip r:embed="rId5">
            <a:alphaModFix/>
          </a:blip>
          <a:srcRect l="5699" t="57312" r="1793"/>
          <a:stretch/>
        </p:blipFill>
        <p:spPr>
          <a:xfrm>
            <a:off x="661045" y="4734134"/>
            <a:ext cx="5398952" cy="1401391"/>
          </a:xfrm>
          <a:prstGeom prst="rect">
            <a:avLst/>
          </a:prstGeom>
          <a:noFill/>
          <a:ln>
            <a:noFill/>
          </a:ln>
        </p:spPr>
      </p:pic>
      <p:sp>
        <p:nvSpPr>
          <p:cNvPr id="14924" name="Google Shape;14924;p84"/>
          <p:cNvSpPr/>
          <p:nvPr/>
        </p:nvSpPr>
        <p:spPr>
          <a:xfrm>
            <a:off x="586837" y="1596758"/>
            <a:ext cx="5546868" cy="4569627"/>
          </a:xfrm>
          <a:prstGeom prst="roundRect">
            <a:avLst>
              <a:gd name="adj" fmla="val 2356"/>
            </a:avLst>
          </a:prstGeom>
          <a:noFill/>
          <a:ln w="12700" cap="flat" cmpd="sng">
            <a:solidFill>
              <a:srgbClr val="777777"/>
            </a:solidFill>
            <a:prstDash val="solid"/>
            <a:round/>
            <a:headEnd type="none" w="sm" len="sm"/>
            <a:tailEnd type="none" w="sm" len="sm"/>
          </a:ln>
        </p:spPr>
        <p:txBody>
          <a:bodyPr spcFirstLastPara="1" wrap="square" lIns="91375" tIns="45675" rIns="91375" bIns="4567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14929"/>
        <p:cNvGrpSpPr/>
        <p:nvPr/>
      </p:nvGrpSpPr>
      <p:grpSpPr>
        <a:xfrm>
          <a:off x="0" y="0"/>
          <a:ext cx="0" cy="0"/>
          <a:chOff x="0" y="0"/>
          <a:chExt cx="0" cy="0"/>
        </a:xfrm>
      </p:grpSpPr>
      <p:sp>
        <p:nvSpPr>
          <p:cNvPr id="14930" name="Google Shape;14930;p85"/>
          <p:cNvSpPr txBox="1">
            <a:spLocks noGrp="1"/>
          </p:cNvSpPr>
          <p:nvPr>
            <p:ph type="title"/>
          </p:nvPr>
        </p:nvSpPr>
        <p:spPr>
          <a:xfrm>
            <a:off x="590541" y="939442"/>
            <a:ext cx="8340807" cy="122904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a:t>Optimize Infrastructure and Operations </a:t>
            </a:r>
            <a:endParaRPr/>
          </a:p>
        </p:txBody>
      </p:sp>
      <p:sp>
        <p:nvSpPr>
          <p:cNvPr id="14931" name="Google Shape;14931;p85"/>
          <p:cNvSpPr txBox="1">
            <a:spLocks noGrp="1"/>
          </p:cNvSpPr>
          <p:nvPr>
            <p:ph type="subTitle" idx="1"/>
          </p:nvPr>
        </p:nvSpPr>
        <p:spPr>
          <a:xfrm>
            <a:off x="604396" y="2268015"/>
            <a:ext cx="6540408" cy="700699"/>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r>
              <a:rPr lang="en-US"/>
              <a:t>Operations - Operate</a:t>
            </a: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14937"/>
        <p:cNvGrpSpPr/>
        <p:nvPr/>
      </p:nvGrpSpPr>
      <p:grpSpPr>
        <a:xfrm>
          <a:off x="0" y="0"/>
          <a:ext cx="0" cy="0"/>
          <a:chOff x="0" y="0"/>
          <a:chExt cx="0" cy="0"/>
        </a:xfrm>
      </p:grpSpPr>
      <p:sp>
        <p:nvSpPr>
          <p:cNvPr id="14938" name="Google Shape;14938;p86"/>
          <p:cNvSpPr/>
          <p:nvPr/>
        </p:nvSpPr>
        <p:spPr>
          <a:xfrm>
            <a:off x="6317288" y="1161288"/>
            <a:ext cx="5545200" cy="5322000"/>
          </a:xfrm>
          <a:prstGeom prst="roundRect">
            <a:avLst>
              <a:gd name="adj" fmla="val 1"/>
            </a:avLst>
          </a:prstGeom>
          <a:gradFill>
            <a:gsLst>
              <a:gs pos="0">
                <a:srgbClr val="C0F0FE">
                  <a:alpha val="40392"/>
                </a:srgbClr>
              </a:gs>
              <a:gs pos="100000">
                <a:srgbClr val="EEEEEE">
                  <a:alpha val="0"/>
                </a:srgbClr>
              </a:gs>
            </a:gsLst>
            <a:lin ang="5400012" scaled="0"/>
          </a:gradFill>
          <a:ln>
            <a:noFill/>
          </a:ln>
        </p:spPr>
        <p:txBody>
          <a:bodyPr spcFirstLastPara="1" wrap="square" lIns="91250" tIns="91250" rIns="91250" bIns="9125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041032"/>
              </a:solidFill>
              <a:latin typeface="Arial"/>
              <a:ea typeface="Arial"/>
              <a:cs typeface="Arial"/>
              <a:sym typeface="Arial"/>
            </a:endParaRPr>
          </a:p>
        </p:txBody>
      </p:sp>
      <p:sp>
        <p:nvSpPr>
          <p:cNvPr id="14939" name="Google Shape;14939;p86"/>
          <p:cNvSpPr/>
          <p:nvPr/>
        </p:nvSpPr>
        <p:spPr>
          <a:xfrm>
            <a:off x="6317288" y="1315988"/>
            <a:ext cx="3193416" cy="409173"/>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75" tIns="0" rIns="0" bIns="0" anchor="ctr" anchorCtr="0">
            <a:noAutofit/>
          </a:bodyPr>
          <a:lstStyle/>
          <a:p>
            <a:pPr marL="0" marR="0" lvl="0" indent="0" algn="l" rtl="0">
              <a:lnSpc>
                <a:spcPct val="90000"/>
              </a:lnSpc>
              <a:spcBef>
                <a:spcPts val="0"/>
              </a:spcBef>
              <a:spcAft>
                <a:spcPts val="0"/>
              </a:spcAft>
              <a:buClr>
                <a:srgbClr val="000000"/>
              </a:buClr>
              <a:buSzPts val="1600"/>
              <a:buFont typeface="Arial"/>
              <a:buNone/>
            </a:pPr>
            <a:r>
              <a:rPr lang="en-US" sz="2000" b="1">
                <a:solidFill>
                  <a:schemeClr val="lt1"/>
                </a:solidFill>
                <a:latin typeface="Arial"/>
                <a:ea typeface="Arial"/>
                <a:cs typeface="Arial"/>
                <a:sym typeface="Arial"/>
              </a:rPr>
              <a:t>Manage</a:t>
            </a:r>
            <a:endParaRPr sz="1900" b="1" i="0" u="none" strike="noStrike" cap="none">
              <a:solidFill>
                <a:schemeClr val="lt1"/>
              </a:solidFill>
              <a:latin typeface="Arial"/>
              <a:ea typeface="Arial"/>
              <a:cs typeface="Arial"/>
              <a:sym typeface="Arial"/>
            </a:endParaRPr>
          </a:p>
        </p:txBody>
      </p:sp>
      <p:sp>
        <p:nvSpPr>
          <p:cNvPr id="14940" name="Google Shape;14940;p86"/>
          <p:cNvSpPr/>
          <p:nvPr/>
        </p:nvSpPr>
        <p:spPr>
          <a:xfrm>
            <a:off x="6317288" y="3861453"/>
            <a:ext cx="3193416" cy="409173"/>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75" tIns="0" rIns="0" bIns="0" anchor="ctr" anchorCtr="0">
            <a:noAutofit/>
          </a:bodyPr>
          <a:lstStyle/>
          <a:p>
            <a:pPr marL="0" marR="0" lvl="0" indent="0" algn="l" rtl="0">
              <a:lnSpc>
                <a:spcPct val="90000"/>
              </a:lnSpc>
              <a:spcBef>
                <a:spcPts val="0"/>
              </a:spcBef>
              <a:spcAft>
                <a:spcPts val="0"/>
              </a:spcAft>
              <a:buClr>
                <a:srgbClr val="000000"/>
              </a:buClr>
              <a:buSzPts val="1600"/>
              <a:buFont typeface="Arial"/>
              <a:buNone/>
            </a:pPr>
            <a:r>
              <a:rPr lang="en-US" sz="2000" b="1">
                <a:solidFill>
                  <a:schemeClr val="lt1"/>
                </a:solidFill>
                <a:latin typeface="Arial"/>
                <a:ea typeface="Arial"/>
                <a:cs typeface="Arial"/>
                <a:sym typeface="Arial"/>
              </a:rPr>
              <a:t>Protect</a:t>
            </a:r>
            <a:endParaRPr sz="1800" b="0" i="0" u="none" strike="noStrike" cap="none">
              <a:solidFill>
                <a:srgbClr val="000000"/>
              </a:solidFill>
              <a:latin typeface="Arial"/>
              <a:ea typeface="Arial"/>
              <a:cs typeface="Arial"/>
              <a:sym typeface="Arial"/>
            </a:endParaRPr>
          </a:p>
        </p:txBody>
      </p:sp>
      <p:sp>
        <p:nvSpPr>
          <p:cNvPr id="14941" name="Google Shape;14941;p86"/>
          <p:cNvSpPr txBox="1"/>
          <p:nvPr/>
        </p:nvSpPr>
        <p:spPr>
          <a:xfrm>
            <a:off x="6608300" y="1973900"/>
            <a:ext cx="5452500" cy="1301100"/>
          </a:xfrm>
          <a:prstGeom prst="rect">
            <a:avLst/>
          </a:prstGeom>
          <a:noFill/>
          <a:ln>
            <a:noFill/>
          </a:ln>
        </p:spPr>
        <p:txBody>
          <a:bodyPr spcFirstLastPara="1" wrap="square" lIns="0" tIns="0" rIns="274225" bIns="0" anchor="t" anchorCtr="0">
            <a:normAutofit fontScale="62500" lnSpcReduction="20000"/>
          </a:bodyPr>
          <a:lstStyle/>
          <a:p>
            <a:pPr marL="0" marR="0" lvl="0" indent="0" algn="l" rtl="0">
              <a:lnSpc>
                <a:spcPct val="120000"/>
              </a:lnSpc>
              <a:spcBef>
                <a:spcPts val="0"/>
              </a:spcBef>
              <a:spcAft>
                <a:spcPts val="0"/>
              </a:spcAft>
              <a:buClr>
                <a:schemeClr val="accent2"/>
              </a:buClr>
              <a:buSzPct val="100000"/>
              <a:buFont typeface="Arial"/>
              <a:buNone/>
            </a:pPr>
            <a:r>
              <a:rPr lang="en-US" sz="2550" b="1">
                <a:solidFill>
                  <a:schemeClr val="accent2"/>
                </a:solidFill>
                <a:latin typeface="Arial"/>
                <a:ea typeface="Arial"/>
                <a:cs typeface="Arial"/>
                <a:sym typeface="Arial"/>
              </a:rPr>
              <a:t>Unified Management</a:t>
            </a:r>
            <a:endParaRPr sz="2550" b="0" i="0" u="none" strike="noStrike" cap="none">
              <a:solidFill>
                <a:srgbClr val="000000"/>
              </a:solidFill>
              <a:latin typeface="Arial"/>
              <a:ea typeface="Arial"/>
              <a:cs typeface="Arial"/>
              <a:sym typeface="Arial"/>
            </a:endParaRPr>
          </a:p>
          <a:p>
            <a:pPr marL="457200" marR="0" lvl="0" indent="-321977" algn="l" rtl="0">
              <a:lnSpc>
                <a:spcPct val="100000"/>
              </a:lnSpc>
              <a:spcBef>
                <a:spcPts val="600"/>
              </a:spcBef>
              <a:spcAft>
                <a:spcPts val="0"/>
              </a:spcAft>
              <a:buClr>
                <a:schemeClr val="dk1"/>
              </a:buClr>
              <a:buSzPct val="100000"/>
              <a:buFont typeface="Arial"/>
              <a:buChar char="•"/>
            </a:pPr>
            <a:r>
              <a:rPr lang="en-US" sz="2100">
                <a:solidFill>
                  <a:schemeClr val="dk1"/>
                </a:solidFill>
                <a:latin typeface="Arial"/>
                <a:ea typeface="Arial"/>
                <a:cs typeface="Arial"/>
                <a:sym typeface="Arial"/>
              </a:rPr>
              <a:t>Manage your infrastructure fleet with single sign-on, licensing, certificates, and passwords</a:t>
            </a:r>
            <a:endParaRPr sz="2100">
              <a:solidFill>
                <a:schemeClr val="dk1"/>
              </a:solidFill>
              <a:latin typeface="Arial"/>
              <a:ea typeface="Arial"/>
              <a:cs typeface="Arial"/>
              <a:sym typeface="Arial"/>
            </a:endParaRPr>
          </a:p>
          <a:p>
            <a:pPr marL="457200" marR="0" lvl="0" indent="-321977" algn="l" rtl="0">
              <a:lnSpc>
                <a:spcPct val="100000"/>
              </a:lnSpc>
              <a:spcBef>
                <a:spcPts val="600"/>
              </a:spcBef>
              <a:spcAft>
                <a:spcPts val="0"/>
              </a:spcAft>
              <a:buClr>
                <a:schemeClr val="dk1"/>
              </a:buClr>
              <a:buSzPct val="100000"/>
              <a:buFont typeface="Arial"/>
              <a:buChar char="•"/>
            </a:pPr>
            <a:r>
              <a:rPr lang="en-US" sz="2100">
                <a:solidFill>
                  <a:schemeClr val="dk1"/>
                </a:solidFill>
                <a:latin typeface="Arial"/>
                <a:ea typeface="Arial"/>
                <a:cs typeface="Arial"/>
                <a:sym typeface="Arial"/>
              </a:rPr>
              <a:t>Optimize operational costs through automated workflows</a:t>
            </a:r>
            <a:endParaRPr sz="2100">
              <a:solidFill>
                <a:schemeClr val="dk1"/>
              </a:solidFill>
              <a:latin typeface="Arial"/>
              <a:ea typeface="Arial"/>
              <a:cs typeface="Arial"/>
              <a:sym typeface="Arial"/>
            </a:endParaRPr>
          </a:p>
          <a:p>
            <a:pPr marL="457200" marR="0" lvl="0" indent="-321977" algn="l" rtl="0">
              <a:lnSpc>
                <a:spcPct val="100000"/>
              </a:lnSpc>
              <a:spcBef>
                <a:spcPts val="600"/>
              </a:spcBef>
              <a:spcAft>
                <a:spcPts val="0"/>
              </a:spcAft>
              <a:buClr>
                <a:schemeClr val="dk1"/>
              </a:buClr>
              <a:buSzPct val="100000"/>
              <a:buFont typeface="Arial"/>
              <a:buChar char="•"/>
            </a:pPr>
            <a:r>
              <a:rPr lang="en-US" sz="2100">
                <a:solidFill>
                  <a:schemeClr val="dk1"/>
                </a:solidFill>
                <a:latin typeface="Arial"/>
                <a:ea typeface="Arial"/>
                <a:cs typeface="Arial"/>
                <a:sym typeface="Arial"/>
              </a:rPr>
              <a:t>Maximize resource capacity and utilization efficiency</a:t>
            </a:r>
            <a:endParaRPr sz="2100">
              <a:solidFill>
                <a:schemeClr val="dk1"/>
              </a:solidFill>
              <a:latin typeface="Arial"/>
              <a:ea typeface="Arial"/>
              <a:cs typeface="Arial"/>
              <a:sym typeface="Arial"/>
            </a:endParaRPr>
          </a:p>
        </p:txBody>
      </p:sp>
      <p:sp>
        <p:nvSpPr>
          <p:cNvPr id="14942" name="Google Shape;14942;p86"/>
          <p:cNvSpPr txBox="1"/>
          <p:nvPr/>
        </p:nvSpPr>
        <p:spPr>
          <a:xfrm>
            <a:off x="6614400" y="4375729"/>
            <a:ext cx="5205000" cy="2154000"/>
          </a:xfrm>
          <a:prstGeom prst="rect">
            <a:avLst/>
          </a:prstGeom>
          <a:noFill/>
          <a:ln>
            <a:noFill/>
          </a:ln>
        </p:spPr>
        <p:txBody>
          <a:bodyPr spcFirstLastPara="1" wrap="square" lIns="0" tIns="0" rIns="274225" bIns="0" anchor="t" anchorCtr="0">
            <a:normAutofit/>
          </a:bodyPr>
          <a:lstStyle/>
          <a:p>
            <a:pPr marL="0" marR="0" lvl="0" indent="0" algn="l" rtl="0">
              <a:lnSpc>
                <a:spcPct val="120000"/>
              </a:lnSpc>
              <a:spcBef>
                <a:spcPts val="0"/>
              </a:spcBef>
              <a:spcAft>
                <a:spcPts val="0"/>
              </a:spcAft>
              <a:buClr>
                <a:schemeClr val="accent2"/>
              </a:buClr>
              <a:buSzPts val="1800"/>
              <a:buFont typeface="Arial"/>
              <a:buNone/>
            </a:pPr>
            <a:r>
              <a:rPr lang="en-US" sz="1800" b="1">
                <a:solidFill>
                  <a:schemeClr val="accent2"/>
                </a:solidFill>
                <a:latin typeface="Arial"/>
                <a:ea typeface="Arial"/>
                <a:cs typeface="Arial"/>
                <a:sym typeface="Arial"/>
              </a:rPr>
              <a:t>Enhanced Security Posture</a:t>
            </a:r>
            <a:endParaRPr sz="1300" b="1">
              <a:solidFill>
                <a:schemeClr val="dk1"/>
              </a:solidFill>
              <a:latin typeface="Arial"/>
              <a:ea typeface="Arial"/>
              <a:cs typeface="Arial"/>
              <a:sym typeface="Arial"/>
            </a:endParaRPr>
          </a:p>
          <a:p>
            <a:pPr marL="457200" marR="0" lvl="0" indent="-317500" algn="l" rtl="0">
              <a:lnSpc>
                <a:spcPct val="100000"/>
              </a:lnSpc>
              <a:spcBef>
                <a:spcPts val="600"/>
              </a:spcBef>
              <a:spcAft>
                <a:spcPts val="0"/>
              </a:spcAft>
              <a:buClr>
                <a:schemeClr val="dk1"/>
              </a:buClr>
              <a:buSzPts val="1400"/>
              <a:buFont typeface="Arial"/>
              <a:buChar char="•"/>
            </a:pPr>
            <a:r>
              <a:rPr lang="en-US" sz="1800">
                <a:solidFill>
                  <a:schemeClr val="dk1"/>
                </a:solidFill>
                <a:latin typeface="Arial"/>
                <a:ea typeface="Arial"/>
                <a:cs typeface="Arial"/>
                <a:sym typeface="Arial"/>
              </a:rPr>
              <a:t>Secure and respond to threats</a:t>
            </a:r>
            <a:endParaRPr sz="1800">
              <a:solidFill>
                <a:schemeClr val="dk1"/>
              </a:solidFill>
              <a:latin typeface="Arial"/>
              <a:ea typeface="Arial"/>
              <a:cs typeface="Arial"/>
              <a:sym typeface="Arial"/>
            </a:endParaRPr>
          </a:p>
          <a:p>
            <a:pPr marL="457200" marR="0" lvl="0" indent="-317500" algn="l" rtl="0">
              <a:lnSpc>
                <a:spcPct val="100000"/>
              </a:lnSpc>
              <a:spcBef>
                <a:spcPts val="600"/>
              </a:spcBef>
              <a:spcAft>
                <a:spcPts val="0"/>
              </a:spcAft>
              <a:buClr>
                <a:schemeClr val="dk1"/>
              </a:buClr>
              <a:buSzPts val="1400"/>
              <a:buFont typeface="Arial"/>
              <a:buChar char="•"/>
            </a:pPr>
            <a:r>
              <a:rPr lang="en-US" sz="1800">
                <a:solidFill>
                  <a:schemeClr val="dk1"/>
                </a:solidFill>
                <a:latin typeface="Arial"/>
                <a:ea typeface="Arial"/>
                <a:cs typeface="Arial"/>
                <a:sym typeface="Arial"/>
              </a:rPr>
              <a:t>Investigate with audit forensics</a:t>
            </a:r>
            <a:endParaRPr sz="1800">
              <a:solidFill>
                <a:schemeClr val="dk1"/>
              </a:solidFill>
              <a:latin typeface="Arial"/>
              <a:ea typeface="Arial"/>
              <a:cs typeface="Arial"/>
              <a:sym typeface="Arial"/>
            </a:endParaRPr>
          </a:p>
          <a:p>
            <a:pPr marL="457200" marR="0" lvl="0" indent="-317500" algn="l" rtl="0">
              <a:lnSpc>
                <a:spcPct val="100000"/>
              </a:lnSpc>
              <a:spcBef>
                <a:spcPts val="600"/>
              </a:spcBef>
              <a:spcAft>
                <a:spcPts val="0"/>
              </a:spcAft>
              <a:buClr>
                <a:schemeClr val="dk1"/>
              </a:buClr>
              <a:buSzPts val="1400"/>
              <a:buFont typeface="Arial"/>
              <a:buChar char="•"/>
            </a:pPr>
            <a:r>
              <a:rPr lang="en-US" sz="1800">
                <a:solidFill>
                  <a:schemeClr val="dk1"/>
                </a:solidFill>
                <a:latin typeface="Arial"/>
                <a:ea typeface="Arial"/>
                <a:cs typeface="Arial"/>
                <a:sym typeface="Arial"/>
              </a:rPr>
              <a:t>Compliance and improve posture (requires ACC)</a:t>
            </a:r>
            <a:endParaRPr sz="1800">
              <a:solidFill>
                <a:schemeClr val="dk1"/>
              </a:solidFill>
              <a:latin typeface="Arial"/>
              <a:ea typeface="Arial"/>
              <a:cs typeface="Arial"/>
              <a:sym typeface="Arial"/>
            </a:endParaRPr>
          </a:p>
          <a:p>
            <a:pPr marL="0" marR="0" lvl="0" indent="0" algn="l" rtl="0">
              <a:lnSpc>
                <a:spcPct val="120000"/>
              </a:lnSpc>
              <a:spcBef>
                <a:spcPts val="0"/>
              </a:spcBef>
              <a:spcAft>
                <a:spcPts val="0"/>
              </a:spcAft>
              <a:buClr>
                <a:schemeClr val="dk1"/>
              </a:buClr>
              <a:buSzPts val="1297"/>
              <a:buFont typeface="Arial"/>
              <a:buNone/>
            </a:pPr>
            <a:endParaRPr sz="1200" b="0" i="0" u="none" strike="noStrike" cap="none">
              <a:solidFill>
                <a:schemeClr val="dk1"/>
              </a:solidFill>
              <a:latin typeface="Arial"/>
              <a:ea typeface="Arial"/>
              <a:cs typeface="Arial"/>
              <a:sym typeface="Arial"/>
            </a:endParaRPr>
          </a:p>
        </p:txBody>
      </p:sp>
      <p:sp>
        <p:nvSpPr>
          <p:cNvPr id="14943" name="Google Shape;14943;p86"/>
          <p:cNvSpPr txBox="1">
            <a:spLocks noGrp="1"/>
          </p:cNvSpPr>
          <p:nvPr>
            <p:ph type="title"/>
          </p:nvPr>
        </p:nvSpPr>
        <p:spPr>
          <a:xfrm>
            <a:off x="579809" y="412751"/>
            <a:ext cx="11001000"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VCF Operations: Efficient Infrastructure &amp; Operations at Scale</a:t>
            </a:r>
            <a:endParaRPr/>
          </a:p>
        </p:txBody>
      </p:sp>
      <p:pic>
        <p:nvPicPr>
          <p:cNvPr id="14944" name="Google Shape;14944;p86"/>
          <p:cNvPicPr preferRelativeResize="0"/>
          <p:nvPr/>
        </p:nvPicPr>
        <p:blipFill rotWithShape="1">
          <a:blip r:embed="rId3">
            <a:alphaModFix amt="16000"/>
          </a:blip>
          <a:srcRect t="47732" r="1614" b="-46968"/>
          <a:stretch/>
        </p:blipFill>
        <p:spPr>
          <a:xfrm rot="-5400000">
            <a:off x="3900906" y="3552356"/>
            <a:ext cx="5090056" cy="278064"/>
          </a:xfrm>
          <a:prstGeom prst="rect">
            <a:avLst/>
          </a:prstGeom>
          <a:noFill/>
          <a:ln>
            <a:noFill/>
          </a:ln>
        </p:spPr>
      </p:pic>
      <p:sp>
        <p:nvSpPr>
          <p:cNvPr id="14945" name="Google Shape;14945;p86"/>
          <p:cNvSpPr/>
          <p:nvPr/>
        </p:nvSpPr>
        <p:spPr>
          <a:xfrm>
            <a:off x="311097" y="1159744"/>
            <a:ext cx="5545200" cy="5322000"/>
          </a:xfrm>
          <a:prstGeom prst="roundRect">
            <a:avLst>
              <a:gd name="adj" fmla="val 1"/>
            </a:avLst>
          </a:prstGeom>
          <a:gradFill>
            <a:gsLst>
              <a:gs pos="0">
                <a:srgbClr val="C0F0FE">
                  <a:alpha val="40392"/>
                </a:srgbClr>
              </a:gs>
              <a:gs pos="100000">
                <a:srgbClr val="EEEEEE">
                  <a:alpha val="0"/>
                </a:srgbClr>
              </a:gs>
            </a:gsLst>
            <a:lin ang="5400012" scaled="0"/>
          </a:gradFill>
          <a:ln>
            <a:noFill/>
          </a:ln>
        </p:spPr>
        <p:txBody>
          <a:bodyPr spcFirstLastPara="1" wrap="square" lIns="91250" tIns="91250" rIns="91250" bIns="91250"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041032"/>
              </a:solidFill>
              <a:latin typeface="Arial"/>
              <a:ea typeface="Arial"/>
              <a:cs typeface="Arial"/>
              <a:sym typeface="Arial"/>
            </a:endParaRPr>
          </a:p>
        </p:txBody>
      </p:sp>
      <p:sp>
        <p:nvSpPr>
          <p:cNvPr id="14946" name="Google Shape;14946;p86"/>
          <p:cNvSpPr/>
          <p:nvPr/>
        </p:nvSpPr>
        <p:spPr>
          <a:xfrm>
            <a:off x="311097" y="1378800"/>
            <a:ext cx="3193416" cy="409173"/>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75" tIns="0" rIns="0" bIns="0" anchor="ctr" anchorCtr="0">
            <a:noAutofit/>
          </a:bodyPr>
          <a:lstStyle/>
          <a:p>
            <a:pPr marL="0" marR="0" lvl="0" indent="0" algn="l" rtl="0">
              <a:lnSpc>
                <a:spcPct val="90000"/>
              </a:lnSpc>
              <a:spcBef>
                <a:spcPts val="0"/>
              </a:spcBef>
              <a:spcAft>
                <a:spcPts val="0"/>
              </a:spcAft>
              <a:buClr>
                <a:srgbClr val="000000"/>
              </a:buClr>
              <a:buSzPts val="1600"/>
              <a:buFont typeface="Arial"/>
              <a:buNone/>
            </a:pPr>
            <a:r>
              <a:rPr lang="en-US" sz="2000" b="1">
                <a:solidFill>
                  <a:schemeClr val="lt1"/>
                </a:solidFill>
                <a:latin typeface="Arial"/>
                <a:ea typeface="Arial"/>
                <a:cs typeface="Arial"/>
                <a:sym typeface="Arial"/>
              </a:rPr>
              <a:t>Build</a:t>
            </a:r>
            <a:endParaRPr sz="1900" b="1" i="0" u="none" strike="noStrike" cap="none">
              <a:solidFill>
                <a:schemeClr val="lt1"/>
              </a:solidFill>
              <a:latin typeface="Arial"/>
              <a:ea typeface="Arial"/>
              <a:cs typeface="Arial"/>
              <a:sym typeface="Arial"/>
            </a:endParaRPr>
          </a:p>
        </p:txBody>
      </p:sp>
      <p:sp>
        <p:nvSpPr>
          <p:cNvPr id="14947" name="Google Shape;14947;p86"/>
          <p:cNvSpPr/>
          <p:nvPr/>
        </p:nvSpPr>
        <p:spPr>
          <a:xfrm>
            <a:off x="311097" y="3861864"/>
            <a:ext cx="3193416" cy="409173"/>
          </a:xfrm>
          <a:custGeom>
            <a:avLst/>
            <a:gdLst/>
            <a:ahLst/>
            <a:cxnLst/>
            <a:rect l="l" t="t" r="r" b="b"/>
            <a:pathLst>
              <a:path w="3193416" h="409173" extrusionOk="0">
                <a:moveTo>
                  <a:pt x="0" y="0"/>
                </a:moveTo>
                <a:lnTo>
                  <a:pt x="414030" y="0"/>
                </a:lnTo>
                <a:lnTo>
                  <a:pt x="507926" y="0"/>
                </a:lnTo>
                <a:lnTo>
                  <a:pt x="569084" y="0"/>
                </a:lnTo>
                <a:lnTo>
                  <a:pt x="1854669" y="0"/>
                </a:lnTo>
                <a:lnTo>
                  <a:pt x="1920008" y="0"/>
                </a:lnTo>
                <a:lnTo>
                  <a:pt x="2009723" y="0"/>
                </a:lnTo>
                <a:lnTo>
                  <a:pt x="3029329" y="0"/>
                </a:lnTo>
                <a:lnTo>
                  <a:pt x="3094667" y="0"/>
                </a:lnTo>
                <a:lnTo>
                  <a:pt x="3184382" y="0"/>
                </a:lnTo>
                <a:cubicBezTo>
                  <a:pt x="3192412" y="0"/>
                  <a:pt x="3196439" y="10685"/>
                  <a:pt x="3190759" y="16933"/>
                </a:cubicBezTo>
                <a:lnTo>
                  <a:pt x="2860583" y="380128"/>
                </a:lnTo>
                <a:cubicBezTo>
                  <a:pt x="2843675" y="398727"/>
                  <a:pt x="2820745" y="409173"/>
                  <a:pt x="2796829" y="409173"/>
                </a:cubicBezTo>
                <a:lnTo>
                  <a:pt x="2641775" y="409173"/>
                </a:lnTo>
                <a:lnTo>
                  <a:pt x="1622170" y="409173"/>
                </a:lnTo>
                <a:lnTo>
                  <a:pt x="1467116" y="409173"/>
                </a:lnTo>
                <a:lnTo>
                  <a:pt x="181532" y="409173"/>
                </a:lnTo>
                <a:lnTo>
                  <a:pt x="181531" y="409173"/>
                </a:lnTo>
                <a:lnTo>
                  <a:pt x="26477" y="409173"/>
                </a:lnTo>
                <a:lnTo>
                  <a:pt x="0" y="409173"/>
                </a:lnTo>
                <a:close/>
              </a:path>
            </a:pathLst>
          </a:custGeom>
          <a:gradFill>
            <a:gsLst>
              <a:gs pos="0">
                <a:schemeClr val="accent2"/>
              </a:gs>
              <a:gs pos="100000">
                <a:schemeClr val="accent3"/>
              </a:gs>
            </a:gsLst>
            <a:lin ang="18900044" scaled="0"/>
          </a:gradFill>
          <a:ln>
            <a:noFill/>
          </a:ln>
        </p:spPr>
        <p:txBody>
          <a:bodyPr spcFirstLastPara="1" wrap="square" lIns="251975" tIns="0" rIns="0" bIns="0" anchor="ctr" anchorCtr="0">
            <a:noAutofit/>
          </a:bodyPr>
          <a:lstStyle/>
          <a:p>
            <a:pPr marL="0" marR="0" lvl="0" indent="0" algn="l" rtl="0">
              <a:lnSpc>
                <a:spcPct val="90000"/>
              </a:lnSpc>
              <a:spcBef>
                <a:spcPts val="0"/>
              </a:spcBef>
              <a:spcAft>
                <a:spcPts val="0"/>
              </a:spcAft>
              <a:buClr>
                <a:srgbClr val="000000"/>
              </a:buClr>
              <a:buSzPts val="1600"/>
              <a:buFont typeface="Arial"/>
              <a:buNone/>
            </a:pPr>
            <a:r>
              <a:rPr lang="en-US" sz="2000" b="1">
                <a:solidFill>
                  <a:schemeClr val="lt1"/>
                </a:solidFill>
                <a:latin typeface="Arial"/>
                <a:ea typeface="Arial"/>
                <a:cs typeface="Arial"/>
                <a:sym typeface="Arial"/>
              </a:rPr>
              <a:t>Operate</a:t>
            </a:r>
            <a:endParaRPr sz="2000" b="1">
              <a:solidFill>
                <a:schemeClr val="lt1"/>
              </a:solidFill>
              <a:latin typeface="Arial"/>
              <a:ea typeface="Arial"/>
              <a:cs typeface="Arial"/>
              <a:sym typeface="Arial"/>
            </a:endParaRPr>
          </a:p>
        </p:txBody>
      </p:sp>
      <p:sp>
        <p:nvSpPr>
          <p:cNvPr id="14948" name="Google Shape;14948;p86"/>
          <p:cNvSpPr txBox="1"/>
          <p:nvPr/>
        </p:nvSpPr>
        <p:spPr>
          <a:xfrm>
            <a:off x="608197" y="4376150"/>
            <a:ext cx="5205000" cy="1550700"/>
          </a:xfrm>
          <a:prstGeom prst="rect">
            <a:avLst/>
          </a:prstGeom>
          <a:noFill/>
          <a:ln>
            <a:noFill/>
          </a:ln>
        </p:spPr>
        <p:txBody>
          <a:bodyPr spcFirstLastPara="1" wrap="square" lIns="0" tIns="0" rIns="274225" bIns="0" anchor="t" anchorCtr="0">
            <a:normAutofit fontScale="77500" lnSpcReduction="20000"/>
          </a:bodyPr>
          <a:lstStyle/>
          <a:p>
            <a:pPr marL="0" marR="0" lvl="0" indent="0" algn="l" rtl="0">
              <a:lnSpc>
                <a:spcPct val="120000"/>
              </a:lnSpc>
              <a:spcBef>
                <a:spcPts val="0"/>
              </a:spcBef>
              <a:spcAft>
                <a:spcPts val="0"/>
              </a:spcAft>
              <a:buClr>
                <a:schemeClr val="accent2"/>
              </a:buClr>
              <a:buSzPct val="100000"/>
              <a:buFont typeface="Arial"/>
              <a:buNone/>
            </a:pPr>
            <a:r>
              <a:rPr lang="en-US" sz="1800" b="1">
                <a:solidFill>
                  <a:schemeClr val="accent2"/>
                </a:solidFill>
                <a:latin typeface="Arial"/>
                <a:ea typeface="Arial"/>
                <a:cs typeface="Arial"/>
                <a:sym typeface="Arial"/>
              </a:rPr>
              <a:t>Simplified Day 2 Operations</a:t>
            </a:r>
            <a:endParaRPr sz="1800" b="0" i="0" u="none" strike="noStrike" cap="none">
              <a:solidFill>
                <a:srgbClr val="000000"/>
              </a:solidFill>
              <a:latin typeface="Arial"/>
              <a:ea typeface="Arial"/>
              <a:cs typeface="Arial"/>
              <a:sym typeface="Arial"/>
            </a:endParaRPr>
          </a:p>
          <a:p>
            <a:pPr marL="457200" marR="0" lvl="0" indent="-317500" algn="l" rtl="0">
              <a:lnSpc>
                <a:spcPct val="100000"/>
              </a:lnSpc>
              <a:spcBef>
                <a:spcPts val="600"/>
              </a:spcBef>
              <a:spcAft>
                <a:spcPts val="0"/>
              </a:spcAft>
              <a:buClr>
                <a:schemeClr val="dk1"/>
              </a:buClr>
              <a:buSzPct val="100358"/>
              <a:buFont typeface="Arial"/>
              <a:buChar char="•"/>
            </a:pPr>
            <a:r>
              <a:rPr lang="en-US" sz="1800">
                <a:solidFill>
                  <a:schemeClr val="dk1"/>
                </a:solidFill>
                <a:latin typeface="Arial"/>
                <a:ea typeface="Arial"/>
                <a:cs typeface="Arial"/>
                <a:sym typeface="Arial"/>
              </a:rPr>
              <a:t>Observe infrastructure health and metrics in real-time</a:t>
            </a:r>
            <a:endParaRPr sz="1800">
              <a:solidFill>
                <a:schemeClr val="dk1"/>
              </a:solidFill>
              <a:latin typeface="Arial"/>
              <a:ea typeface="Arial"/>
              <a:cs typeface="Arial"/>
              <a:sym typeface="Arial"/>
            </a:endParaRPr>
          </a:p>
          <a:p>
            <a:pPr marL="457200" marR="0" lvl="0" indent="-317500" algn="l" rtl="0">
              <a:lnSpc>
                <a:spcPct val="100000"/>
              </a:lnSpc>
              <a:spcBef>
                <a:spcPts val="600"/>
              </a:spcBef>
              <a:spcAft>
                <a:spcPts val="0"/>
              </a:spcAft>
              <a:buClr>
                <a:schemeClr val="dk1"/>
              </a:buClr>
              <a:buSzPct val="100358"/>
              <a:buFont typeface="Arial"/>
              <a:buChar char="•"/>
            </a:pPr>
            <a:r>
              <a:rPr lang="en-US" sz="1800">
                <a:solidFill>
                  <a:schemeClr val="dk1"/>
                </a:solidFill>
                <a:latin typeface="Arial"/>
                <a:ea typeface="Arial"/>
                <a:cs typeface="Arial"/>
                <a:sym typeface="Arial"/>
              </a:rPr>
              <a:t>Optimize performance for modern VKS and existing workloads</a:t>
            </a:r>
            <a:endParaRPr sz="1800">
              <a:solidFill>
                <a:schemeClr val="dk1"/>
              </a:solidFill>
              <a:latin typeface="Arial"/>
              <a:ea typeface="Arial"/>
              <a:cs typeface="Arial"/>
              <a:sym typeface="Arial"/>
            </a:endParaRPr>
          </a:p>
          <a:p>
            <a:pPr marL="457200" marR="0" lvl="0" indent="-317500" algn="l" rtl="0">
              <a:lnSpc>
                <a:spcPct val="100000"/>
              </a:lnSpc>
              <a:spcBef>
                <a:spcPts val="600"/>
              </a:spcBef>
              <a:spcAft>
                <a:spcPts val="0"/>
              </a:spcAft>
              <a:buClr>
                <a:schemeClr val="dk1"/>
              </a:buClr>
              <a:buSzPct val="100358"/>
              <a:buFont typeface="Arial"/>
              <a:buChar char="•"/>
            </a:pPr>
            <a:r>
              <a:rPr lang="en-US" sz="1800">
                <a:solidFill>
                  <a:schemeClr val="dk1"/>
                </a:solidFill>
                <a:latin typeface="Arial"/>
                <a:ea typeface="Arial"/>
                <a:cs typeface="Arial"/>
                <a:sym typeface="Arial"/>
              </a:rPr>
              <a:t>Simplify troubleshooting processes to reduce mean time to resolution (MTTR).</a:t>
            </a:r>
            <a:endParaRPr sz="1800">
              <a:solidFill>
                <a:schemeClr val="dk2"/>
              </a:solidFill>
              <a:latin typeface="Arial"/>
              <a:ea typeface="Arial"/>
              <a:cs typeface="Arial"/>
              <a:sym typeface="Arial"/>
            </a:endParaRPr>
          </a:p>
          <a:p>
            <a:pPr marL="285662" marR="0" lvl="0" indent="-209462" algn="l" rtl="0">
              <a:lnSpc>
                <a:spcPct val="120000"/>
              </a:lnSpc>
              <a:spcBef>
                <a:spcPts val="0"/>
              </a:spcBef>
              <a:spcAft>
                <a:spcPts val="0"/>
              </a:spcAft>
              <a:buClr>
                <a:schemeClr val="dk1"/>
              </a:buClr>
              <a:buSzPct val="139462"/>
              <a:buFont typeface="Arial"/>
              <a:buNone/>
            </a:pPr>
            <a:endParaRPr sz="1200" b="0" i="0" u="none" strike="noStrike" cap="none">
              <a:solidFill>
                <a:schemeClr val="dk1"/>
              </a:solidFill>
              <a:latin typeface="Arial"/>
              <a:ea typeface="Arial"/>
              <a:cs typeface="Arial"/>
              <a:sym typeface="Arial"/>
            </a:endParaRPr>
          </a:p>
        </p:txBody>
      </p:sp>
      <p:pic>
        <p:nvPicPr>
          <p:cNvPr id="14949" name="Google Shape;14949;p86"/>
          <p:cNvPicPr preferRelativeResize="0"/>
          <p:nvPr/>
        </p:nvPicPr>
        <p:blipFill rotWithShape="1">
          <a:blip r:embed="rId3">
            <a:alphaModFix amt="16000"/>
          </a:blip>
          <a:srcRect t="47732" r="1614" b="-46968"/>
          <a:stretch/>
        </p:blipFill>
        <p:spPr>
          <a:xfrm rot="-5400000">
            <a:off x="-2105285" y="3538968"/>
            <a:ext cx="5090056" cy="278064"/>
          </a:xfrm>
          <a:prstGeom prst="rect">
            <a:avLst/>
          </a:prstGeom>
          <a:noFill/>
          <a:ln>
            <a:noFill/>
          </a:ln>
        </p:spPr>
      </p:pic>
      <p:sp>
        <p:nvSpPr>
          <p:cNvPr id="14950" name="Google Shape;14950;p86"/>
          <p:cNvSpPr txBox="1"/>
          <p:nvPr/>
        </p:nvSpPr>
        <p:spPr>
          <a:xfrm>
            <a:off x="622150" y="2069768"/>
            <a:ext cx="5545200" cy="1107900"/>
          </a:xfrm>
          <a:prstGeom prst="rect">
            <a:avLst/>
          </a:prstGeom>
          <a:noFill/>
          <a:ln>
            <a:noFill/>
          </a:ln>
        </p:spPr>
        <p:txBody>
          <a:bodyPr spcFirstLastPara="1" wrap="square" lIns="0" tIns="0" rIns="274225" bIns="0" anchor="t" anchorCtr="0">
            <a:normAutofit fontScale="92500" lnSpcReduction="10000"/>
          </a:bodyPr>
          <a:lstStyle/>
          <a:p>
            <a:pPr marL="0" marR="0" lvl="0" indent="0" algn="l" rtl="0">
              <a:lnSpc>
                <a:spcPct val="120000"/>
              </a:lnSpc>
              <a:spcBef>
                <a:spcPts val="0"/>
              </a:spcBef>
              <a:spcAft>
                <a:spcPts val="0"/>
              </a:spcAft>
              <a:buClr>
                <a:schemeClr val="accent2"/>
              </a:buClr>
              <a:buSzPct val="100000"/>
              <a:buFont typeface="Arial"/>
              <a:buNone/>
            </a:pPr>
            <a:r>
              <a:rPr lang="en-US" sz="1900" b="1">
                <a:solidFill>
                  <a:schemeClr val="accent2"/>
                </a:solidFill>
                <a:latin typeface="Arial"/>
                <a:ea typeface="Arial"/>
                <a:cs typeface="Arial"/>
                <a:sym typeface="Arial"/>
              </a:rPr>
              <a:t>Accelerate Scalability</a:t>
            </a:r>
            <a:endParaRPr sz="1900" b="0" i="0" u="none" strike="noStrike" cap="none">
              <a:solidFill>
                <a:srgbClr val="000000"/>
              </a:solidFill>
              <a:latin typeface="Arial"/>
              <a:ea typeface="Arial"/>
              <a:cs typeface="Arial"/>
              <a:sym typeface="Arial"/>
            </a:endParaRPr>
          </a:p>
          <a:p>
            <a:pPr marL="457200" marR="0" lvl="0" indent="-323850" algn="l" rtl="0">
              <a:lnSpc>
                <a:spcPct val="100000"/>
              </a:lnSpc>
              <a:spcBef>
                <a:spcPts val="600"/>
              </a:spcBef>
              <a:spcAft>
                <a:spcPts val="0"/>
              </a:spcAft>
              <a:buClr>
                <a:schemeClr val="dk1"/>
              </a:buClr>
              <a:buSzPct val="108108"/>
              <a:buFont typeface="Arial"/>
              <a:buChar char="•"/>
            </a:pPr>
            <a:r>
              <a:rPr lang="en-US" sz="1500">
                <a:solidFill>
                  <a:schemeClr val="dk1"/>
                </a:solidFill>
                <a:latin typeface="Arial"/>
                <a:ea typeface="Arial"/>
                <a:cs typeface="Arial"/>
                <a:sym typeface="Arial"/>
              </a:rPr>
              <a:t>Install core infrastructure components</a:t>
            </a:r>
            <a:endParaRPr sz="1500">
              <a:solidFill>
                <a:schemeClr val="dk1"/>
              </a:solidFill>
              <a:latin typeface="Arial"/>
              <a:ea typeface="Arial"/>
              <a:cs typeface="Arial"/>
              <a:sym typeface="Arial"/>
            </a:endParaRPr>
          </a:p>
          <a:p>
            <a:pPr marL="457200" marR="0" lvl="0" indent="-323850" algn="l" rtl="0">
              <a:lnSpc>
                <a:spcPct val="100000"/>
              </a:lnSpc>
              <a:spcBef>
                <a:spcPts val="600"/>
              </a:spcBef>
              <a:spcAft>
                <a:spcPts val="0"/>
              </a:spcAft>
              <a:buClr>
                <a:schemeClr val="dk1"/>
              </a:buClr>
              <a:buSzPct val="108108"/>
              <a:buFont typeface="Arial"/>
              <a:buChar char="•"/>
            </a:pPr>
            <a:r>
              <a:rPr lang="en-US" sz="1500">
                <a:solidFill>
                  <a:schemeClr val="dk1"/>
                </a:solidFill>
                <a:latin typeface="Arial"/>
                <a:ea typeface="Arial"/>
                <a:cs typeface="Arial"/>
                <a:sym typeface="Arial"/>
              </a:rPr>
              <a:t>Scale workloads and upgrade systems</a:t>
            </a:r>
            <a:endParaRPr sz="1500">
              <a:solidFill>
                <a:schemeClr val="dk1"/>
              </a:solidFill>
              <a:latin typeface="Arial"/>
              <a:ea typeface="Arial"/>
              <a:cs typeface="Arial"/>
              <a:sym typeface="Arial"/>
            </a:endParaRPr>
          </a:p>
          <a:p>
            <a:pPr marL="457200" marR="0" lvl="0" indent="-323850" algn="l" rtl="0">
              <a:lnSpc>
                <a:spcPct val="100000"/>
              </a:lnSpc>
              <a:spcBef>
                <a:spcPts val="600"/>
              </a:spcBef>
              <a:spcAft>
                <a:spcPts val="0"/>
              </a:spcAft>
              <a:buClr>
                <a:schemeClr val="dk1"/>
              </a:buClr>
              <a:buSzPct val="108108"/>
              <a:buFont typeface="Arial"/>
              <a:buChar char="•"/>
            </a:pPr>
            <a:r>
              <a:rPr lang="en-US" sz="1500">
                <a:solidFill>
                  <a:schemeClr val="dk1"/>
                </a:solidFill>
                <a:latin typeface="Arial"/>
                <a:ea typeface="Arial"/>
                <a:cs typeface="Arial"/>
                <a:sym typeface="Arial"/>
              </a:rPr>
              <a:t>Manage the entire environment lifecycle</a:t>
            </a:r>
            <a:endParaRPr sz="1500">
              <a:solidFill>
                <a:schemeClr val="dk1"/>
              </a:solidFill>
              <a:latin typeface="Arial"/>
              <a:ea typeface="Arial"/>
              <a:cs typeface="Arial"/>
              <a:sym typeface="Arial"/>
            </a:endParaRPr>
          </a:p>
        </p:txBody>
      </p:sp>
      <p:pic>
        <p:nvPicPr>
          <p:cNvPr id="14951" name="Google Shape;14951;p86"/>
          <p:cNvPicPr preferRelativeResize="0"/>
          <p:nvPr/>
        </p:nvPicPr>
        <p:blipFill rotWithShape="1">
          <a:blip r:embed="rId4">
            <a:alphaModFix/>
          </a:blip>
          <a:srcRect/>
          <a:stretch/>
        </p:blipFill>
        <p:spPr>
          <a:xfrm>
            <a:off x="9880413" y="3924508"/>
            <a:ext cx="1905000" cy="742950"/>
          </a:xfrm>
          <a:prstGeom prst="rect">
            <a:avLst/>
          </a:prstGeom>
          <a:noFill/>
          <a:ln>
            <a:noFill/>
          </a:ln>
        </p:spPr>
      </p:pic>
      <p:pic>
        <p:nvPicPr>
          <p:cNvPr id="14952" name="Google Shape;14952;p86"/>
          <p:cNvPicPr preferRelativeResize="0"/>
          <p:nvPr/>
        </p:nvPicPr>
        <p:blipFill rotWithShape="1">
          <a:blip r:embed="rId5">
            <a:alphaModFix/>
          </a:blip>
          <a:srcRect/>
          <a:stretch/>
        </p:blipFill>
        <p:spPr>
          <a:xfrm>
            <a:off x="10154496" y="1204436"/>
            <a:ext cx="1314450" cy="981075"/>
          </a:xfrm>
          <a:prstGeom prst="rect">
            <a:avLst/>
          </a:prstGeom>
          <a:noFill/>
          <a:ln>
            <a:noFill/>
          </a:ln>
        </p:spPr>
      </p:pic>
      <p:pic>
        <p:nvPicPr>
          <p:cNvPr id="14953" name="Google Shape;14953;p86"/>
          <p:cNvPicPr preferRelativeResize="0"/>
          <p:nvPr/>
        </p:nvPicPr>
        <p:blipFill rotWithShape="1">
          <a:blip r:embed="rId6">
            <a:alphaModFix/>
          </a:blip>
          <a:srcRect/>
          <a:stretch/>
        </p:blipFill>
        <p:spPr>
          <a:xfrm>
            <a:off x="4349125" y="3600644"/>
            <a:ext cx="1400175" cy="1114425"/>
          </a:xfrm>
          <a:prstGeom prst="rect">
            <a:avLst/>
          </a:prstGeom>
          <a:noFill/>
          <a:ln>
            <a:noFill/>
          </a:ln>
        </p:spPr>
      </p:pic>
      <p:grpSp>
        <p:nvGrpSpPr>
          <p:cNvPr id="14954" name="Google Shape;14954;p86"/>
          <p:cNvGrpSpPr/>
          <p:nvPr/>
        </p:nvGrpSpPr>
        <p:grpSpPr>
          <a:xfrm>
            <a:off x="4092675" y="1223744"/>
            <a:ext cx="1599075" cy="1062076"/>
            <a:chOff x="-2637650" y="1943049"/>
            <a:chExt cx="1599075" cy="1062076"/>
          </a:xfrm>
        </p:grpSpPr>
        <p:pic>
          <p:nvPicPr>
            <p:cNvPr id="14955" name="Google Shape;14955;p86"/>
            <p:cNvPicPr preferRelativeResize="0"/>
            <p:nvPr/>
          </p:nvPicPr>
          <p:blipFill rotWithShape="1">
            <a:blip r:embed="rId5">
              <a:alphaModFix/>
            </a:blip>
            <a:srcRect/>
            <a:stretch/>
          </p:blipFill>
          <p:spPr>
            <a:xfrm>
              <a:off x="-2353025" y="2024050"/>
              <a:ext cx="1314450" cy="981075"/>
            </a:xfrm>
            <a:prstGeom prst="rect">
              <a:avLst/>
            </a:prstGeom>
            <a:noFill/>
            <a:ln>
              <a:noFill/>
            </a:ln>
          </p:spPr>
        </p:pic>
        <p:pic>
          <p:nvPicPr>
            <p:cNvPr id="14956" name="Google Shape;14956;p86"/>
            <p:cNvPicPr preferRelativeResize="0"/>
            <p:nvPr/>
          </p:nvPicPr>
          <p:blipFill rotWithShape="1">
            <a:blip r:embed="rId7">
              <a:alphaModFix/>
            </a:blip>
            <a:srcRect/>
            <a:stretch/>
          </p:blipFill>
          <p:spPr>
            <a:xfrm>
              <a:off x="-2637650" y="2024050"/>
              <a:ext cx="758975" cy="597494"/>
            </a:xfrm>
            <a:prstGeom prst="rect">
              <a:avLst/>
            </a:prstGeom>
            <a:noFill/>
            <a:ln>
              <a:noFill/>
            </a:ln>
          </p:spPr>
        </p:pic>
        <p:pic>
          <p:nvPicPr>
            <p:cNvPr id="14957" name="Google Shape;14957;p86"/>
            <p:cNvPicPr preferRelativeResize="0"/>
            <p:nvPr/>
          </p:nvPicPr>
          <p:blipFill rotWithShape="1">
            <a:blip r:embed="rId8">
              <a:alphaModFix/>
            </a:blip>
            <a:srcRect/>
            <a:stretch/>
          </p:blipFill>
          <p:spPr>
            <a:xfrm>
              <a:off x="-2468862" y="1943049"/>
              <a:ext cx="610388" cy="597500"/>
            </a:xfrm>
            <a:prstGeom prst="rect">
              <a:avLst/>
            </a:prstGeom>
            <a:noFill/>
            <a:ln>
              <a:noFill/>
            </a:ln>
          </p:spPr>
        </p:pic>
      </p:grpSp>
      <p:sp>
        <p:nvSpPr>
          <p:cNvPr id="14958" name="Google Shape;14958;p86"/>
          <p:cNvSpPr/>
          <p:nvPr/>
        </p:nvSpPr>
        <p:spPr>
          <a:xfrm>
            <a:off x="6317288" y="1132972"/>
            <a:ext cx="5560440" cy="5312277"/>
          </a:xfrm>
          <a:prstGeom prst="rect">
            <a:avLst/>
          </a:prstGeom>
          <a:solidFill>
            <a:srgbClr val="777777">
              <a:alpha val="50196"/>
            </a:srgb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Arial"/>
              <a:ea typeface="Arial"/>
              <a:cs typeface="Arial"/>
              <a:sym typeface="Arial"/>
            </a:endParaRPr>
          </a:p>
        </p:txBody>
      </p:sp>
      <p:sp>
        <p:nvSpPr>
          <p:cNvPr id="14959" name="Google Shape;14959;p86"/>
          <p:cNvSpPr/>
          <p:nvPr/>
        </p:nvSpPr>
        <p:spPr>
          <a:xfrm>
            <a:off x="303643" y="1177705"/>
            <a:ext cx="5560440" cy="2422940"/>
          </a:xfrm>
          <a:prstGeom prst="rect">
            <a:avLst/>
          </a:prstGeom>
          <a:solidFill>
            <a:srgbClr val="777777">
              <a:alpha val="50196"/>
            </a:srgb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14964"/>
        <p:cNvGrpSpPr/>
        <p:nvPr/>
      </p:nvGrpSpPr>
      <p:grpSpPr>
        <a:xfrm>
          <a:off x="0" y="0"/>
          <a:ext cx="0" cy="0"/>
          <a:chOff x="0" y="0"/>
          <a:chExt cx="0" cy="0"/>
        </a:xfrm>
      </p:grpSpPr>
      <p:sp>
        <p:nvSpPr>
          <p:cNvPr id="14965" name="Google Shape;14965;p87"/>
          <p:cNvSpPr/>
          <p:nvPr/>
        </p:nvSpPr>
        <p:spPr>
          <a:xfrm>
            <a:off x="569958" y="1596756"/>
            <a:ext cx="7435307" cy="4225197"/>
          </a:xfrm>
          <a:prstGeom prst="roundRect">
            <a:avLst>
              <a:gd name="adj" fmla="val 2356"/>
            </a:avLst>
          </a:prstGeom>
          <a:solidFill>
            <a:schemeClr val="lt1"/>
          </a:solidFill>
          <a:ln w="12700" cap="flat" cmpd="sng">
            <a:solidFill>
              <a:srgbClr val="777777"/>
            </a:solidFill>
            <a:prstDash val="solid"/>
            <a:round/>
            <a:headEnd type="none" w="sm" len="sm"/>
            <a:tailEnd type="none" w="sm" len="sm"/>
          </a:ln>
        </p:spPr>
        <p:txBody>
          <a:bodyPr spcFirstLastPara="1" wrap="square" lIns="91375" tIns="45675" rIns="91375" bIns="4567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4966" name="Google Shape;14966;p87"/>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Ensure VCF is Running at Optimal Health </a:t>
            </a:r>
            <a:endParaRPr/>
          </a:p>
        </p:txBody>
      </p:sp>
      <p:sp>
        <p:nvSpPr>
          <p:cNvPr id="14967" name="Google Shape;14967;p87"/>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VCF Operations – Health and Diagnostics</a:t>
            </a:r>
            <a:endParaRPr/>
          </a:p>
        </p:txBody>
      </p:sp>
      <p:sp>
        <p:nvSpPr>
          <p:cNvPr id="14968" name="Google Shape;14968;p87"/>
          <p:cNvSpPr txBox="1">
            <a:spLocks noGrp="1"/>
          </p:cNvSpPr>
          <p:nvPr>
            <p:ph type="body" idx="2"/>
          </p:nvPr>
        </p:nvSpPr>
        <p:spPr>
          <a:xfrm>
            <a:off x="8379818" y="1600676"/>
            <a:ext cx="3807420" cy="4570809"/>
          </a:xfrm>
          <a:prstGeom prst="rect">
            <a:avLst/>
          </a:prstGeom>
          <a:noFill/>
          <a:ln>
            <a:noFill/>
          </a:ln>
        </p:spPr>
        <p:txBody>
          <a:bodyPr spcFirstLastPara="1" wrap="square" lIns="0" tIns="457075" rIns="594175" bIns="457075" anchor="t" anchorCtr="0">
            <a:noAutofit/>
          </a:bodyPr>
          <a:lstStyle/>
          <a:p>
            <a:pPr marL="0" lvl="0" indent="0" algn="l" rtl="0">
              <a:lnSpc>
                <a:spcPct val="100000"/>
              </a:lnSpc>
              <a:spcBef>
                <a:spcPts val="0"/>
              </a:spcBef>
              <a:spcAft>
                <a:spcPts val="0"/>
              </a:spcAft>
              <a:buClr>
                <a:schemeClr val="accent4"/>
              </a:buClr>
              <a:buSzPts val="1200"/>
              <a:buNone/>
            </a:pPr>
            <a:r>
              <a:rPr lang="en-US">
                <a:solidFill>
                  <a:schemeClr val="accent2"/>
                </a:solidFill>
              </a:rPr>
              <a:t>Faster issue detection &amp; resolution</a:t>
            </a:r>
            <a:endParaRPr/>
          </a:p>
          <a:p>
            <a:pPr marL="0" lvl="0" indent="0" algn="l" rtl="0">
              <a:lnSpc>
                <a:spcPct val="100000"/>
              </a:lnSpc>
              <a:spcBef>
                <a:spcPts val="600"/>
              </a:spcBef>
              <a:spcAft>
                <a:spcPts val="0"/>
              </a:spcAft>
              <a:buClr>
                <a:schemeClr val="accent4"/>
              </a:buClr>
              <a:buSzPts val="1200"/>
              <a:buNone/>
            </a:pPr>
            <a:r>
              <a:rPr lang="en-US">
                <a:solidFill>
                  <a:schemeClr val="accent2"/>
                </a:solidFill>
              </a:rPr>
              <a:t>Diagnostics capabilities to improve VCF health</a:t>
            </a:r>
            <a:endParaRPr/>
          </a:p>
          <a:p>
            <a:pPr marL="0" lvl="0" indent="0" algn="l" rtl="0">
              <a:lnSpc>
                <a:spcPct val="100000"/>
              </a:lnSpc>
              <a:spcBef>
                <a:spcPts val="600"/>
              </a:spcBef>
              <a:spcAft>
                <a:spcPts val="0"/>
              </a:spcAft>
              <a:buClr>
                <a:schemeClr val="accent4"/>
              </a:buClr>
              <a:buSzPts val="1200"/>
              <a:buNone/>
            </a:pPr>
            <a:r>
              <a:rPr lang="en-US">
                <a:solidFill>
                  <a:schemeClr val="accent2"/>
                </a:solidFill>
              </a:rPr>
              <a:t>Faster engagement with support via log assist</a:t>
            </a:r>
            <a:endParaRPr/>
          </a:p>
          <a:p>
            <a:pPr marL="0" lvl="0" indent="0" algn="l" rtl="0">
              <a:lnSpc>
                <a:spcPct val="120000"/>
              </a:lnSpc>
              <a:spcBef>
                <a:spcPts val="600"/>
              </a:spcBef>
              <a:spcAft>
                <a:spcPts val="0"/>
              </a:spcAft>
              <a:buClr>
                <a:schemeClr val="accent4"/>
              </a:buClr>
              <a:buSzPts val="1200"/>
              <a:buNone/>
            </a:pPr>
            <a:r>
              <a:rPr lang="en-US">
                <a:solidFill>
                  <a:schemeClr val="accent2"/>
                </a:solidFill>
              </a:rPr>
              <a:t>Single console to diagnose known issues impacting VCF software</a:t>
            </a:r>
            <a:endParaRPr/>
          </a:p>
          <a:p>
            <a:pPr marL="0" lvl="0" indent="0" algn="l" rtl="0">
              <a:lnSpc>
                <a:spcPct val="120000"/>
              </a:lnSpc>
              <a:spcBef>
                <a:spcPts val="600"/>
              </a:spcBef>
              <a:spcAft>
                <a:spcPts val="0"/>
              </a:spcAft>
              <a:buClr>
                <a:schemeClr val="accent4"/>
              </a:buClr>
              <a:buSzPts val="1200"/>
              <a:buNone/>
            </a:pPr>
            <a:r>
              <a:rPr lang="en-US">
                <a:solidFill>
                  <a:schemeClr val="accent2"/>
                </a:solidFill>
              </a:rPr>
              <a:t>View security risks (CVE &amp; VMSA)</a:t>
            </a:r>
            <a:endParaRPr/>
          </a:p>
          <a:p>
            <a:pPr marL="0" lvl="0" indent="0" algn="l" rtl="0">
              <a:lnSpc>
                <a:spcPct val="120000"/>
              </a:lnSpc>
              <a:spcBef>
                <a:spcPts val="600"/>
              </a:spcBef>
              <a:spcAft>
                <a:spcPts val="0"/>
              </a:spcAft>
              <a:buClr>
                <a:schemeClr val="accent4"/>
              </a:buClr>
              <a:buSzPts val="1200"/>
              <a:buNone/>
            </a:pPr>
            <a:r>
              <a:rPr lang="en-US">
                <a:solidFill>
                  <a:schemeClr val="accent2"/>
                </a:solidFill>
              </a:rPr>
              <a:t>Understand impacted components with curated remediation steps</a:t>
            </a:r>
            <a:endParaRPr/>
          </a:p>
          <a:p>
            <a:pPr marL="0" lvl="0" indent="0" algn="l" rtl="0">
              <a:lnSpc>
                <a:spcPct val="120000"/>
              </a:lnSpc>
              <a:spcBef>
                <a:spcPts val="600"/>
              </a:spcBef>
              <a:spcAft>
                <a:spcPts val="0"/>
              </a:spcAft>
              <a:buClr>
                <a:schemeClr val="accent4"/>
              </a:buClr>
              <a:buSzPts val="1200"/>
              <a:buNone/>
            </a:pPr>
            <a:r>
              <a:rPr lang="en-US">
                <a:solidFill>
                  <a:schemeClr val="accent2"/>
                </a:solidFill>
              </a:rPr>
              <a:t>Diagnose vMotion, snapshots, vSphere HA, and vSAN Health</a:t>
            </a:r>
            <a:endParaRPr/>
          </a:p>
          <a:p>
            <a:pPr marL="0" lvl="0" indent="0" algn="l" rtl="0">
              <a:lnSpc>
                <a:spcPct val="100000"/>
              </a:lnSpc>
              <a:spcBef>
                <a:spcPts val="600"/>
              </a:spcBef>
              <a:spcAft>
                <a:spcPts val="0"/>
              </a:spcAft>
              <a:buSzPts val="1440"/>
              <a:buNone/>
            </a:pPr>
            <a:endParaRPr/>
          </a:p>
        </p:txBody>
      </p:sp>
      <p:pic>
        <p:nvPicPr>
          <p:cNvPr id="14969" name="Google Shape;14969;p87" descr="A screenshot of a computer&#10;&#10;AI-generated content may be incorrect."/>
          <p:cNvPicPr preferRelativeResize="0">
            <a:picLocks noGrp="1"/>
          </p:cNvPicPr>
          <p:nvPr>
            <p:ph type="body" idx="3"/>
          </p:nvPr>
        </p:nvPicPr>
        <p:blipFill rotWithShape="1">
          <a:blip r:embed="rId3">
            <a:alphaModFix/>
          </a:blip>
          <a:srcRect l="4915" t="8095" r="-1" b="1872"/>
          <a:stretch/>
        </p:blipFill>
        <p:spPr>
          <a:xfrm>
            <a:off x="609442" y="1831004"/>
            <a:ext cx="7395824" cy="3938990"/>
          </a:xfrm>
          <a:prstGeom prst="rect">
            <a:avLst/>
          </a:prstGeom>
          <a:noFill/>
          <a:ln>
            <a:noFill/>
          </a:ln>
        </p:spPr>
      </p:pic>
      <p:sp>
        <p:nvSpPr>
          <p:cNvPr id="14970" name="Google Shape;14970;p87"/>
          <p:cNvSpPr/>
          <p:nvPr/>
        </p:nvSpPr>
        <p:spPr>
          <a:xfrm>
            <a:off x="4464359" y="1625749"/>
            <a:ext cx="3486731" cy="213322"/>
          </a:xfrm>
          <a:prstGeom prst="rect">
            <a:avLst/>
          </a:prstGeom>
          <a:solidFill>
            <a:srgbClr val="314048"/>
          </a:soli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pic>
        <p:nvPicPr>
          <p:cNvPr id="14971" name="Google Shape;14971;p87" descr="A screenshot of a computer&#10;&#10;AI-generated content may be incorrect."/>
          <p:cNvPicPr preferRelativeResize="0"/>
          <p:nvPr/>
        </p:nvPicPr>
        <p:blipFill rotWithShape="1">
          <a:blip r:embed="rId4">
            <a:alphaModFix/>
          </a:blip>
          <a:srcRect t="11918" b="82614"/>
          <a:stretch/>
        </p:blipFill>
        <p:spPr>
          <a:xfrm>
            <a:off x="609443" y="1625749"/>
            <a:ext cx="4875953" cy="213322"/>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14976"/>
        <p:cNvGrpSpPr/>
        <p:nvPr/>
      </p:nvGrpSpPr>
      <p:grpSpPr>
        <a:xfrm>
          <a:off x="0" y="0"/>
          <a:ext cx="0" cy="0"/>
          <a:chOff x="0" y="0"/>
          <a:chExt cx="0" cy="0"/>
        </a:xfrm>
      </p:grpSpPr>
      <p:sp>
        <p:nvSpPr>
          <p:cNvPr id="14977" name="Google Shape;14977;p88"/>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Know When There is a Problem and Solve it Quickly</a:t>
            </a:r>
            <a:endParaRPr/>
          </a:p>
        </p:txBody>
      </p:sp>
      <p:sp>
        <p:nvSpPr>
          <p:cNvPr id="14978" name="Google Shape;14978;p88"/>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VCF Operations – Performance Management &amp; Troubleshooting</a:t>
            </a:r>
            <a:endParaRPr/>
          </a:p>
        </p:txBody>
      </p:sp>
      <p:sp>
        <p:nvSpPr>
          <p:cNvPr id="14979" name="Google Shape;14979;p88"/>
          <p:cNvSpPr txBox="1">
            <a:spLocks noGrp="1"/>
          </p:cNvSpPr>
          <p:nvPr>
            <p:ph type="body" idx="2"/>
          </p:nvPr>
        </p:nvSpPr>
        <p:spPr>
          <a:xfrm>
            <a:off x="8379817" y="1375104"/>
            <a:ext cx="4026664" cy="457080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Lower Mean Time to Resolution</a:t>
            </a:r>
            <a:endParaRPr dirty="0"/>
          </a:p>
          <a:p>
            <a:pPr marL="0" lvl="0" indent="0" algn="l" rtl="0">
              <a:lnSpc>
                <a:spcPct val="100000"/>
              </a:lnSpc>
              <a:spcBef>
                <a:spcPts val="1200"/>
              </a:spcBef>
              <a:spcAft>
                <a:spcPts val="0"/>
              </a:spcAft>
              <a:buSzPts val="1440"/>
              <a:buNone/>
            </a:pPr>
            <a:r>
              <a:rPr lang="en-US" dirty="0"/>
              <a:t>Meet your SLA/SLOs</a:t>
            </a:r>
            <a:endParaRPr dirty="0"/>
          </a:p>
          <a:p>
            <a:pPr marL="0" lvl="0" indent="0" algn="l" rtl="0">
              <a:lnSpc>
                <a:spcPct val="100000"/>
              </a:lnSpc>
              <a:spcBef>
                <a:spcPts val="1200"/>
              </a:spcBef>
              <a:spcAft>
                <a:spcPts val="0"/>
              </a:spcAft>
              <a:buSzPts val="1440"/>
              <a:buNone/>
            </a:pPr>
            <a:r>
              <a:rPr lang="en-US" dirty="0"/>
              <a:t>Provide visibility to both IT &amp; LOB stakeholders</a:t>
            </a:r>
            <a:endParaRPr dirty="0"/>
          </a:p>
          <a:p>
            <a:pPr marL="0" lvl="0" indent="-91440" algn="l" rtl="0">
              <a:lnSpc>
                <a:spcPct val="100000"/>
              </a:lnSpc>
              <a:spcBef>
                <a:spcPts val="1200"/>
              </a:spcBef>
              <a:spcAft>
                <a:spcPts val="0"/>
              </a:spcAft>
              <a:buSzPts val="1440"/>
              <a:buChar char="​"/>
            </a:pPr>
            <a:r>
              <a:rPr lang="en-US" dirty="0"/>
              <a:t>Reduce costly downtime</a:t>
            </a:r>
            <a:endParaRPr dirty="0"/>
          </a:p>
          <a:p>
            <a:pPr marL="0" lvl="0" indent="0" algn="l" rtl="0">
              <a:lnSpc>
                <a:spcPct val="100000"/>
              </a:lnSpc>
              <a:spcBef>
                <a:spcPts val="1200"/>
              </a:spcBef>
              <a:spcAft>
                <a:spcPts val="0"/>
              </a:spcAft>
              <a:buSzPts val="1440"/>
              <a:buNone/>
            </a:pPr>
            <a:r>
              <a:rPr lang="en-US" dirty="0"/>
              <a:t>Observe and fix problems using metrics, logs and network flows</a:t>
            </a:r>
            <a:endParaRPr dirty="0"/>
          </a:p>
          <a:p>
            <a:pPr marL="0" lvl="0" indent="0" algn="l" rtl="0">
              <a:lnSpc>
                <a:spcPct val="100000"/>
              </a:lnSpc>
              <a:spcBef>
                <a:spcPts val="1200"/>
              </a:spcBef>
              <a:spcAft>
                <a:spcPts val="0"/>
              </a:spcAft>
              <a:buSzPts val="1440"/>
              <a:buNone/>
            </a:pPr>
            <a:r>
              <a:rPr lang="en-US" dirty="0"/>
              <a:t>Built in </a:t>
            </a:r>
            <a:r>
              <a:rPr lang="en-US" dirty="0" err="1"/>
              <a:t>TopN</a:t>
            </a:r>
            <a:r>
              <a:rPr lang="en-US" dirty="0"/>
              <a:t> views and 20-seconds real-time metrics collection</a:t>
            </a:r>
            <a:endParaRPr dirty="0"/>
          </a:p>
          <a:p>
            <a:pPr marL="0" lvl="0" indent="0" algn="l" rtl="0">
              <a:lnSpc>
                <a:spcPct val="100000"/>
              </a:lnSpc>
              <a:spcBef>
                <a:spcPts val="1200"/>
              </a:spcBef>
              <a:spcAft>
                <a:spcPts val="0"/>
              </a:spcAft>
              <a:buSzPts val="1440"/>
              <a:buNone/>
            </a:pPr>
            <a:r>
              <a:rPr lang="en-US" dirty="0"/>
              <a:t>Highlights events, property changes and anomalous metrics</a:t>
            </a:r>
            <a:endParaRPr dirty="0"/>
          </a:p>
          <a:p>
            <a:pPr marL="0" lvl="0" indent="0" algn="l" rtl="0">
              <a:lnSpc>
                <a:spcPct val="100000"/>
              </a:lnSpc>
              <a:spcBef>
                <a:spcPts val="1200"/>
              </a:spcBef>
              <a:spcAft>
                <a:spcPts val="0"/>
              </a:spcAft>
              <a:buSzPts val="1440"/>
              <a:buNone/>
            </a:pPr>
            <a:r>
              <a:rPr lang="en-US" dirty="0"/>
              <a:t>Capture notes on issue investigation</a:t>
            </a:r>
            <a:endParaRPr dirty="0"/>
          </a:p>
          <a:p>
            <a:pPr marL="0" lvl="0" indent="0" algn="l" rtl="0">
              <a:lnSpc>
                <a:spcPct val="100000"/>
              </a:lnSpc>
              <a:spcBef>
                <a:spcPts val="1200"/>
              </a:spcBef>
              <a:spcAft>
                <a:spcPts val="0"/>
              </a:spcAft>
              <a:buSzPts val="1440"/>
              <a:buNone/>
            </a:pPr>
            <a:r>
              <a:rPr lang="en-US" dirty="0"/>
              <a:t>Intuitive AI driven troubleshooting</a:t>
            </a:r>
            <a:endParaRPr dirty="0"/>
          </a:p>
          <a:p>
            <a:pPr marL="0" lvl="0" indent="0" algn="l" rtl="0">
              <a:lnSpc>
                <a:spcPct val="100000"/>
              </a:lnSpc>
              <a:spcBef>
                <a:spcPts val="1200"/>
              </a:spcBef>
              <a:spcAft>
                <a:spcPts val="0"/>
              </a:spcAft>
              <a:buSzPts val="1440"/>
              <a:buNone/>
            </a:pPr>
            <a:endParaRPr dirty="0"/>
          </a:p>
          <a:p>
            <a:pPr marL="0" lvl="0" indent="0" algn="l" rtl="0">
              <a:lnSpc>
                <a:spcPct val="100000"/>
              </a:lnSpc>
              <a:spcBef>
                <a:spcPts val="1200"/>
              </a:spcBef>
              <a:spcAft>
                <a:spcPts val="0"/>
              </a:spcAft>
              <a:buSzPts val="1440"/>
              <a:buNone/>
            </a:pPr>
            <a:endParaRPr dirty="0"/>
          </a:p>
        </p:txBody>
      </p:sp>
      <p:pic>
        <p:nvPicPr>
          <p:cNvPr id="14980" name="Google Shape;14980;p88" descr="A screenshot of a computer&#10;&#10;AI-generated content may be incorrect."/>
          <p:cNvPicPr preferRelativeResize="0"/>
          <p:nvPr/>
        </p:nvPicPr>
        <p:blipFill rotWithShape="1">
          <a:blip r:embed="rId3">
            <a:alphaModFix/>
          </a:blip>
          <a:srcRect/>
          <a:stretch/>
        </p:blipFill>
        <p:spPr>
          <a:xfrm>
            <a:off x="277272" y="1567423"/>
            <a:ext cx="7487167" cy="4699286"/>
          </a:xfrm>
          <a:prstGeom prst="rect">
            <a:avLst/>
          </a:prstGeom>
          <a:noFill/>
          <a:ln w="9525" cap="flat" cmpd="sng">
            <a:solidFill>
              <a:schemeClr val="accent2"/>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14985"/>
        <p:cNvGrpSpPr/>
        <p:nvPr/>
      </p:nvGrpSpPr>
      <p:grpSpPr>
        <a:xfrm>
          <a:off x="0" y="0"/>
          <a:ext cx="0" cy="0"/>
          <a:chOff x="0" y="0"/>
          <a:chExt cx="0" cy="0"/>
        </a:xfrm>
      </p:grpSpPr>
      <p:sp>
        <p:nvSpPr>
          <p:cNvPr id="14986" name="Google Shape;14986;p89"/>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Network Monitoring and Troubleshooting</a:t>
            </a:r>
            <a:endParaRPr/>
          </a:p>
        </p:txBody>
      </p:sp>
      <p:sp>
        <p:nvSpPr>
          <p:cNvPr id="14987" name="Google Shape;14987;p89"/>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VCF Operations – Network Operations</a:t>
            </a:r>
            <a:endParaRPr/>
          </a:p>
        </p:txBody>
      </p:sp>
      <p:sp>
        <p:nvSpPr>
          <p:cNvPr id="14988" name="Google Shape;14988;p89"/>
          <p:cNvSpPr txBox="1">
            <a:spLocks noGrp="1"/>
          </p:cNvSpPr>
          <p:nvPr>
            <p:ph type="body" idx="2"/>
          </p:nvPr>
        </p:nvSpPr>
        <p:spPr>
          <a:xfrm>
            <a:off x="8379817" y="1375104"/>
            <a:ext cx="4026664" cy="457080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Dedicated VCF Networking health monitoring and diagnostics</a:t>
            </a:r>
            <a:endParaRPr dirty="0"/>
          </a:p>
          <a:p>
            <a:pPr marL="0" lvl="0" indent="0" algn="l" rtl="0">
              <a:lnSpc>
                <a:spcPct val="90000"/>
              </a:lnSpc>
              <a:spcBef>
                <a:spcPts val="2400"/>
              </a:spcBef>
              <a:spcAft>
                <a:spcPts val="0"/>
              </a:spcAft>
              <a:buClr>
                <a:schemeClr val="dk1"/>
              </a:buClr>
              <a:buSzPts val="1400"/>
              <a:buNone/>
            </a:pPr>
            <a:r>
              <a:rPr lang="en-US" dirty="0"/>
              <a:t>Accelerated Private Cloud adoption by simplifying the path to VPCs</a:t>
            </a:r>
            <a:endParaRPr dirty="0"/>
          </a:p>
          <a:p>
            <a:pPr marL="0" lvl="0" indent="0" algn="l" rtl="0">
              <a:lnSpc>
                <a:spcPct val="90000"/>
              </a:lnSpc>
              <a:spcBef>
                <a:spcPts val="1200"/>
              </a:spcBef>
              <a:spcAft>
                <a:spcPts val="0"/>
              </a:spcAft>
              <a:buClr>
                <a:schemeClr val="dk1"/>
              </a:buClr>
              <a:buSzPts val="1400"/>
              <a:buNone/>
            </a:pPr>
            <a:r>
              <a:rPr lang="en-US" dirty="0"/>
              <a:t>Guided step-by-step analysis to transition legacy networks to VPC</a:t>
            </a:r>
            <a:endParaRPr dirty="0"/>
          </a:p>
          <a:p>
            <a:pPr marL="0" lvl="0" indent="0" algn="l" rtl="0">
              <a:lnSpc>
                <a:spcPct val="90000"/>
              </a:lnSpc>
              <a:spcBef>
                <a:spcPts val="1200"/>
              </a:spcBef>
              <a:spcAft>
                <a:spcPts val="0"/>
              </a:spcAft>
              <a:buClr>
                <a:schemeClr val="dk1"/>
              </a:buClr>
              <a:buSzPts val="1400"/>
              <a:buNone/>
            </a:pPr>
            <a:r>
              <a:rPr lang="en-US" dirty="0"/>
              <a:t>Real-time networking metrics for NSX Edge/VNA’s </a:t>
            </a:r>
            <a:endParaRPr dirty="0"/>
          </a:p>
          <a:p>
            <a:pPr marL="0" lvl="0" indent="0" algn="l" rtl="0">
              <a:lnSpc>
                <a:spcPct val="90000"/>
              </a:lnSpc>
              <a:spcBef>
                <a:spcPts val="1200"/>
              </a:spcBef>
              <a:spcAft>
                <a:spcPts val="0"/>
              </a:spcAft>
              <a:buClr>
                <a:schemeClr val="dk1"/>
              </a:buClr>
              <a:buSzPts val="1400"/>
              <a:buNone/>
            </a:pPr>
            <a:r>
              <a:rPr lang="en-US" dirty="0"/>
              <a:t>Deep visibility into VKS workload and microservices communication</a:t>
            </a:r>
            <a:endParaRPr dirty="0"/>
          </a:p>
          <a:p>
            <a:pPr marL="0" lvl="0" indent="0" algn="l" rtl="0">
              <a:lnSpc>
                <a:spcPct val="90000"/>
              </a:lnSpc>
              <a:spcBef>
                <a:spcPts val="1200"/>
              </a:spcBef>
              <a:spcAft>
                <a:spcPts val="0"/>
              </a:spcAft>
              <a:buClr>
                <a:schemeClr val="dk1"/>
              </a:buClr>
              <a:buSzPts val="1400"/>
              <a:buNone/>
            </a:pPr>
            <a:endParaRPr dirty="0"/>
          </a:p>
          <a:p>
            <a:pPr marL="0" lvl="0" indent="0" algn="l" rtl="0">
              <a:lnSpc>
                <a:spcPct val="100000"/>
              </a:lnSpc>
              <a:spcBef>
                <a:spcPts val="0"/>
              </a:spcBef>
              <a:spcAft>
                <a:spcPts val="0"/>
              </a:spcAft>
              <a:buSzPts val="1440"/>
              <a:buNone/>
            </a:pPr>
            <a:r>
              <a:rPr lang="en-US" dirty="0"/>
              <a:t>Network Path visualization through flow insights</a:t>
            </a:r>
            <a:endParaRPr dirty="0"/>
          </a:p>
          <a:p>
            <a:pPr marL="0" lvl="0" indent="0" algn="l" rtl="0">
              <a:lnSpc>
                <a:spcPct val="100000"/>
              </a:lnSpc>
              <a:spcBef>
                <a:spcPts val="1200"/>
              </a:spcBef>
              <a:spcAft>
                <a:spcPts val="0"/>
              </a:spcAft>
              <a:buSzPts val="1440"/>
              <a:buNone/>
            </a:pPr>
            <a:r>
              <a:rPr lang="en-US" dirty="0"/>
              <a:t>Traffic summary and analyze flows</a:t>
            </a:r>
            <a:endParaRPr dirty="0"/>
          </a:p>
          <a:p>
            <a:pPr marL="0" lvl="0" indent="0" algn="l" rtl="0">
              <a:lnSpc>
                <a:spcPct val="100000"/>
              </a:lnSpc>
              <a:spcBef>
                <a:spcPts val="1200"/>
              </a:spcBef>
              <a:spcAft>
                <a:spcPts val="0"/>
              </a:spcAft>
              <a:buSzPts val="1440"/>
              <a:buNone/>
            </a:pPr>
            <a:r>
              <a:rPr lang="en-US" dirty="0"/>
              <a:t>Application insights </a:t>
            </a:r>
            <a:endParaRPr dirty="0"/>
          </a:p>
          <a:p>
            <a:pPr marL="0" lvl="0" indent="0" algn="l" rtl="0">
              <a:lnSpc>
                <a:spcPct val="100000"/>
              </a:lnSpc>
              <a:spcBef>
                <a:spcPts val="1200"/>
              </a:spcBef>
              <a:spcAft>
                <a:spcPts val="0"/>
              </a:spcAft>
              <a:buSzPts val="1440"/>
              <a:buNone/>
            </a:pPr>
            <a:endParaRPr dirty="0"/>
          </a:p>
          <a:p>
            <a:pPr marL="0" lvl="0" indent="0" algn="l" rtl="0">
              <a:lnSpc>
                <a:spcPct val="100000"/>
              </a:lnSpc>
              <a:spcBef>
                <a:spcPts val="1200"/>
              </a:spcBef>
              <a:spcAft>
                <a:spcPts val="0"/>
              </a:spcAft>
              <a:buSzPts val="1440"/>
              <a:buNone/>
            </a:pPr>
            <a:endParaRPr dirty="0"/>
          </a:p>
        </p:txBody>
      </p:sp>
      <p:pic>
        <p:nvPicPr>
          <p:cNvPr id="14989" name="Google Shape;14989;p89" descr="A screenshot of a computer&#10;&#10;AI-generated content may be incorrect."/>
          <p:cNvPicPr preferRelativeResize="0"/>
          <p:nvPr/>
        </p:nvPicPr>
        <p:blipFill rotWithShape="1">
          <a:blip r:embed="rId3">
            <a:alphaModFix/>
          </a:blip>
          <a:srcRect/>
          <a:stretch/>
        </p:blipFill>
        <p:spPr>
          <a:xfrm>
            <a:off x="275470" y="1553335"/>
            <a:ext cx="7559478" cy="4727800"/>
          </a:xfrm>
          <a:prstGeom prst="rect">
            <a:avLst/>
          </a:prstGeom>
          <a:noFill/>
          <a:ln w="9525" cap="flat" cmpd="sng">
            <a:solidFill>
              <a:schemeClr val="accent2"/>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14994"/>
        <p:cNvGrpSpPr/>
        <p:nvPr/>
      </p:nvGrpSpPr>
      <p:grpSpPr>
        <a:xfrm>
          <a:off x="0" y="0"/>
          <a:ext cx="0" cy="0"/>
          <a:chOff x="0" y="0"/>
          <a:chExt cx="0" cy="0"/>
        </a:xfrm>
      </p:grpSpPr>
      <p:sp>
        <p:nvSpPr>
          <p:cNvPr id="14995" name="Google Shape;14995;p90"/>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Achieve Higher MTTR to identify vSAN Health issues</a:t>
            </a:r>
            <a:endParaRPr/>
          </a:p>
        </p:txBody>
      </p:sp>
      <p:sp>
        <p:nvSpPr>
          <p:cNvPr id="14996" name="Google Shape;14996;p90"/>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VCF Operations – Storage Operations</a:t>
            </a:r>
            <a:endParaRPr/>
          </a:p>
        </p:txBody>
      </p:sp>
      <p:sp>
        <p:nvSpPr>
          <p:cNvPr id="14997" name="Google Shape;14997;p90"/>
          <p:cNvSpPr txBox="1">
            <a:spLocks noGrp="1"/>
          </p:cNvSpPr>
          <p:nvPr>
            <p:ph type="body" idx="2"/>
          </p:nvPr>
        </p:nvSpPr>
        <p:spPr>
          <a:xfrm>
            <a:off x="8379818" y="1377388"/>
            <a:ext cx="3807420" cy="4794098"/>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r>
              <a:rPr lang="en-US" dirty="0"/>
              <a:t>Storage visibility and insights in a across VCF Infrastructure</a:t>
            </a:r>
            <a:endParaRPr dirty="0"/>
          </a:p>
          <a:p>
            <a:pPr marL="0" lvl="0" indent="0" algn="l" rtl="0">
              <a:lnSpc>
                <a:spcPct val="100000"/>
              </a:lnSpc>
              <a:spcBef>
                <a:spcPts val="1200"/>
              </a:spcBef>
              <a:spcAft>
                <a:spcPts val="0"/>
              </a:spcAft>
              <a:buSzPts val="1440"/>
              <a:buNone/>
            </a:pPr>
            <a:r>
              <a:rPr lang="en-US" dirty="0"/>
              <a:t>Storage Ops Dashboard includes:</a:t>
            </a:r>
            <a:endParaRPr dirty="0"/>
          </a:p>
          <a:p>
            <a:pPr marL="457063" lvl="1" indent="-184095" algn="l" rtl="0">
              <a:lnSpc>
                <a:spcPct val="100000"/>
              </a:lnSpc>
              <a:spcBef>
                <a:spcPts val="1200"/>
              </a:spcBef>
              <a:spcAft>
                <a:spcPts val="0"/>
              </a:spcAft>
              <a:buSzPts val="1260"/>
              <a:buChar char="•"/>
            </a:pPr>
            <a:r>
              <a:rPr lang="en-US" dirty="0"/>
              <a:t>Alerts</a:t>
            </a:r>
            <a:endParaRPr dirty="0"/>
          </a:p>
          <a:p>
            <a:pPr marL="457063" lvl="1" indent="-184095" algn="l" rtl="0">
              <a:lnSpc>
                <a:spcPct val="100000"/>
              </a:lnSpc>
              <a:spcBef>
                <a:spcPts val="1200"/>
              </a:spcBef>
              <a:spcAft>
                <a:spcPts val="0"/>
              </a:spcAft>
              <a:buSzPts val="1260"/>
              <a:buChar char="•"/>
            </a:pPr>
            <a:r>
              <a:rPr lang="en-US" dirty="0"/>
              <a:t>Inventory</a:t>
            </a:r>
            <a:endParaRPr dirty="0"/>
          </a:p>
          <a:p>
            <a:pPr marL="457063" lvl="1" indent="-184095" algn="l" rtl="0">
              <a:lnSpc>
                <a:spcPct val="100000"/>
              </a:lnSpc>
              <a:spcBef>
                <a:spcPts val="1200"/>
              </a:spcBef>
              <a:spcAft>
                <a:spcPts val="0"/>
              </a:spcAft>
              <a:buSzPts val="1260"/>
              <a:buChar char="•"/>
            </a:pPr>
            <a:r>
              <a:rPr lang="en-US" dirty="0"/>
              <a:t>Configuration</a:t>
            </a:r>
            <a:endParaRPr dirty="0"/>
          </a:p>
          <a:p>
            <a:pPr marL="457063" lvl="1" indent="-184095" algn="l" rtl="0">
              <a:lnSpc>
                <a:spcPct val="100000"/>
              </a:lnSpc>
              <a:spcBef>
                <a:spcPts val="1200"/>
              </a:spcBef>
              <a:spcAft>
                <a:spcPts val="0"/>
              </a:spcAft>
              <a:buSzPts val="1260"/>
              <a:buChar char="•"/>
            </a:pPr>
            <a:r>
              <a:rPr lang="en-US" dirty="0"/>
              <a:t>Performance &amp; Cost</a:t>
            </a:r>
            <a:endParaRPr dirty="0"/>
          </a:p>
          <a:p>
            <a:pPr marL="0" lvl="0" indent="0" algn="l" rtl="0">
              <a:lnSpc>
                <a:spcPct val="90000"/>
              </a:lnSpc>
              <a:spcBef>
                <a:spcPts val="2400"/>
              </a:spcBef>
              <a:spcAft>
                <a:spcPts val="0"/>
              </a:spcAft>
              <a:buClr>
                <a:schemeClr val="dk1"/>
              </a:buClr>
              <a:buSzPts val="1400"/>
              <a:buNone/>
            </a:pPr>
            <a:r>
              <a:rPr lang="en-US" dirty="0"/>
              <a:t>Proactive Performance insights through automated diagnostic checks</a:t>
            </a:r>
            <a:endParaRPr dirty="0"/>
          </a:p>
          <a:p>
            <a:pPr marL="0" lvl="0" indent="0" algn="l" rtl="0">
              <a:lnSpc>
                <a:spcPct val="90000"/>
              </a:lnSpc>
              <a:spcBef>
                <a:spcPts val="1200"/>
              </a:spcBef>
              <a:spcAft>
                <a:spcPts val="0"/>
              </a:spcAft>
              <a:buClr>
                <a:schemeClr val="dk1"/>
              </a:buClr>
              <a:buSzPts val="1400"/>
              <a:buNone/>
            </a:pPr>
            <a:r>
              <a:rPr lang="en-US" dirty="0"/>
              <a:t>Predict potential performance issues in vSAN clusters</a:t>
            </a:r>
            <a:endParaRPr dirty="0"/>
          </a:p>
          <a:p>
            <a:pPr marL="0" lvl="0" indent="0" algn="l" rtl="0">
              <a:lnSpc>
                <a:spcPct val="90000"/>
              </a:lnSpc>
              <a:spcBef>
                <a:spcPts val="1200"/>
              </a:spcBef>
              <a:spcAft>
                <a:spcPts val="0"/>
              </a:spcAft>
              <a:buClr>
                <a:schemeClr val="dk1"/>
              </a:buClr>
              <a:buSzPts val="1400"/>
              <a:buNone/>
            </a:pPr>
            <a:r>
              <a:rPr lang="en-US" dirty="0"/>
              <a:t>Identify root cause for performance deviations</a:t>
            </a:r>
            <a:endParaRPr dirty="0"/>
          </a:p>
          <a:p>
            <a:pPr marL="0" lvl="0" indent="0" algn="l" rtl="0">
              <a:lnSpc>
                <a:spcPct val="100000"/>
              </a:lnSpc>
              <a:spcBef>
                <a:spcPts val="0"/>
              </a:spcBef>
              <a:spcAft>
                <a:spcPts val="0"/>
              </a:spcAft>
              <a:buSzPts val="1440"/>
              <a:buNone/>
            </a:pPr>
            <a:endParaRPr dirty="0"/>
          </a:p>
          <a:p>
            <a:pPr marL="0" lvl="0" indent="0" algn="l" rtl="0">
              <a:lnSpc>
                <a:spcPct val="100000"/>
              </a:lnSpc>
              <a:spcBef>
                <a:spcPts val="1200"/>
              </a:spcBef>
              <a:spcAft>
                <a:spcPts val="0"/>
              </a:spcAft>
              <a:buSzPts val="1440"/>
              <a:buNone/>
            </a:pPr>
            <a:endParaRPr dirty="0"/>
          </a:p>
          <a:p>
            <a:pPr marL="0" lvl="0" indent="0" algn="l" rtl="0">
              <a:lnSpc>
                <a:spcPct val="100000"/>
              </a:lnSpc>
              <a:spcBef>
                <a:spcPts val="1200"/>
              </a:spcBef>
              <a:spcAft>
                <a:spcPts val="0"/>
              </a:spcAft>
              <a:buSzPts val="1440"/>
              <a:buNone/>
            </a:pPr>
            <a:endParaRPr dirty="0"/>
          </a:p>
        </p:txBody>
      </p:sp>
      <p:pic>
        <p:nvPicPr>
          <p:cNvPr id="14998" name="Google Shape;14998;p90" descr="A screenshot of a computer&#10;&#10;AI-generated content may be incorrect."/>
          <p:cNvPicPr preferRelativeResize="0"/>
          <p:nvPr/>
        </p:nvPicPr>
        <p:blipFill rotWithShape="1">
          <a:blip r:embed="rId3">
            <a:alphaModFix/>
          </a:blip>
          <a:srcRect/>
          <a:stretch/>
        </p:blipFill>
        <p:spPr>
          <a:xfrm>
            <a:off x="295806" y="1576933"/>
            <a:ext cx="7393658" cy="4635706"/>
          </a:xfrm>
          <a:prstGeom prst="rect">
            <a:avLst/>
          </a:prstGeom>
          <a:noFill/>
          <a:ln w="9525" cap="flat" cmpd="sng">
            <a:solidFill>
              <a:schemeClr val="accent2"/>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15003"/>
        <p:cNvGrpSpPr/>
        <p:nvPr/>
      </p:nvGrpSpPr>
      <p:grpSpPr>
        <a:xfrm>
          <a:off x="0" y="0"/>
          <a:ext cx="0" cy="0"/>
          <a:chOff x="0" y="0"/>
          <a:chExt cx="0" cy="0"/>
        </a:xfrm>
      </p:grpSpPr>
      <p:sp>
        <p:nvSpPr>
          <p:cNvPr id="15004" name="Google Shape;15004;p91"/>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Faster and Simplified Troubleshooting with Logs</a:t>
            </a:r>
            <a:endParaRPr/>
          </a:p>
        </p:txBody>
      </p:sp>
      <p:sp>
        <p:nvSpPr>
          <p:cNvPr id="15005" name="Google Shape;15005;p91"/>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VCF Operations  - Unified Logging Operations</a:t>
            </a:r>
            <a:endParaRPr/>
          </a:p>
        </p:txBody>
      </p:sp>
      <p:sp>
        <p:nvSpPr>
          <p:cNvPr id="15006" name="Google Shape;15006;p91"/>
          <p:cNvSpPr txBox="1">
            <a:spLocks noGrp="1"/>
          </p:cNvSpPr>
          <p:nvPr>
            <p:ph type="body" idx="2"/>
          </p:nvPr>
        </p:nvSpPr>
        <p:spPr>
          <a:xfrm>
            <a:off x="8379818" y="1600676"/>
            <a:ext cx="3807420" cy="457080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endParaRPr/>
          </a:p>
          <a:p>
            <a:pPr marL="0" lvl="0" indent="0" algn="l" rtl="0">
              <a:lnSpc>
                <a:spcPct val="100000"/>
              </a:lnSpc>
              <a:spcBef>
                <a:spcPts val="1200"/>
              </a:spcBef>
              <a:spcAft>
                <a:spcPts val="0"/>
              </a:spcAft>
              <a:buSzPts val="1440"/>
              <a:buNone/>
            </a:pPr>
            <a:endParaRPr/>
          </a:p>
          <a:p>
            <a:pPr marL="0" lvl="0" indent="0" algn="l" rtl="0">
              <a:lnSpc>
                <a:spcPct val="100000"/>
              </a:lnSpc>
              <a:spcBef>
                <a:spcPts val="1200"/>
              </a:spcBef>
              <a:spcAft>
                <a:spcPts val="0"/>
              </a:spcAft>
              <a:buSzPts val="1440"/>
              <a:buNone/>
            </a:pPr>
            <a:endParaRPr/>
          </a:p>
        </p:txBody>
      </p:sp>
      <p:sp>
        <p:nvSpPr>
          <p:cNvPr id="15007" name="Google Shape;15007;p91"/>
          <p:cNvSpPr txBox="1"/>
          <p:nvPr/>
        </p:nvSpPr>
        <p:spPr>
          <a:xfrm>
            <a:off x="8379817" y="1727554"/>
            <a:ext cx="3807420" cy="476929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rgbClr val="005C8A"/>
                </a:solidFill>
                <a:latin typeface="Arial"/>
                <a:ea typeface="Arial"/>
                <a:cs typeface="Arial"/>
                <a:sym typeface="Arial"/>
              </a:rPr>
              <a:t>Faster issue detection and resolution</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Improve efficiency and save time by simplified logging workflow </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Consistent log collection reduces human error</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Simplified log collection from VCF components</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Flexible log forwarding protocols </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Granular control to start/stop log collection </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Compare logs and perform analysis </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Log widgets and alerts in VCF Operations</a:t>
            </a:r>
            <a:endParaRPr sz="1600">
              <a:solidFill>
                <a:srgbClr val="000000"/>
              </a:solidFill>
              <a:latin typeface="Arial"/>
              <a:ea typeface="Arial"/>
              <a:cs typeface="Arial"/>
              <a:sym typeface="Arial"/>
            </a:endParaRPr>
          </a:p>
          <a:p>
            <a:pPr marL="0" marR="0" lvl="0" indent="0" algn="l" rtl="0">
              <a:spcBef>
                <a:spcPts val="1200"/>
              </a:spcBef>
              <a:spcAft>
                <a:spcPts val="0"/>
              </a:spcAft>
              <a:buNone/>
            </a:pPr>
            <a:r>
              <a:rPr lang="en-US" sz="1600">
                <a:solidFill>
                  <a:srgbClr val="005C8A"/>
                </a:solidFill>
                <a:latin typeface="Arial"/>
                <a:ea typeface="Arial"/>
                <a:cs typeface="Arial"/>
                <a:sym typeface="Arial"/>
              </a:rPr>
              <a:t>Unified Cloud Proxy for metrics and logs</a:t>
            </a:r>
            <a:endParaRPr sz="1600">
              <a:solidFill>
                <a:srgbClr val="000000"/>
              </a:solidFill>
              <a:latin typeface="Arial"/>
              <a:ea typeface="Arial"/>
              <a:cs typeface="Arial"/>
              <a:sym typeface="Arial"/>
            </a:endParaRPr>
          </a:p>
        </p:txBody>
      </p:sp>
      <p:pic>
        <p:nvPicPr>
          <p:cNvPr id="15008" name="Google Shape;15008;p91"/>
          <p:cNvPicPr preferRelativeResize="0"/>
          <p:nvPr/>
        </p:nvPicPr>
        <p:blipFill rotWithShape="1">
          <a:blip r:embed="rId3">
            <a:alphaModFix/>
          </a:blip>
          <a:srcRect/>
          <a:stretch/>
        </p:blipFill>
        <p:spPr>
          <a:xfrm>
            <a:off x="282505" y="1600676"/>
            <a:ext cx="7410702" cy="4646392"/>
          </a:xfrm>
          <a:prstGeom prst="rect">
            <a:avLst/>
          </a:prstGeom>
          <a:noFill/>
          <a:ln w="9525" cap="flat" cmpd="sng">
            <a:solidFill>
              <a:schemeClr val="accent2"/>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15013"/>
        <p:cNvGrpSpPr/>
        <p:nvPr/>
      </p:nvGrpSpPr>
      <p:grpSpPr>
        <a:xfrm>
          <a:off x="0" y="0"/>
          <a:ext cx="0" cy="0"/>
          <a:chOff x="0" y="0"/>
          <a:chExt cx="0" cy="0"/>
        </a:xfrm>
      </p:grpSpPr>
      <p:sp>
        <p:nvSpPr>
          <p:cNvPr id="15014" name="Google Shape;15014;p92"/>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Monitoring Traditional Applications</a:t>
            </a:r>
            <a:endParaRPr/>
          </a:p>
        </p:txBody>
      </p:sp>
      <p:sp>
        <p:nvSpPr>
          <p:cNvPr id="15015" name="Google Shape;15015;p92"/>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VCF Operations – Workload Operations</a:t>
            </a:r>
            <a:endParaRPr/>
          </a:p>
        </p:txBody>
      </p:sp>
      <p:sp>
        <p:nvSpPr>
          <p:cNvPr id="15016" name="Google Shape;15016;p92"/>
          <p:cNvSpPr txBox="1">
            <a:spLocks noGrp="1"/>
          </p:cNvSpPr>
          <p:nvPr>
            <p:ph type="body" idx="2"/>
          </p:nvPr>
        </p:nvSpPr>
        <p:spPr>
          <a:xfrm>
            <a:off x="8379818" y="1600676"/>
            <a:ext cx="3807420" cy="4570809"/>
          </a:xfrm>
          <a:prstGeom prst="rect">
            <a:avLst/>
          </a:prstGeom>
          <a:noFill/>
          <a:ln>
            <a:noFill/>
          </a:ln>
        </p:spPr>
        <p:txBody>
          <a:bodyPr spcFirstLastPara="1" wrap="square" lIns="0" tIns="457200" rIns="594350" bIns="457200" anchor="t" anchorCtr="0">
            <a:noAutofit/>
          </a:bodyPr>
          <a:lstStyle/>
          <a:p>
            <a:pPr marL="0" lvl="0" indent="0" algn="l" rtl="0">
              <a:lnSpc>
                <a:spcPct val="100000"/>
              </a:lnSpc>
              <a:spcBef>
                <a:spcPts val="0"/>
              </a:spcBef>
              <a:spcAft>
                <a:spcPts val="0"/>
              </a:spcAft>
              <a:buSzPts val="1440"/>
              <a:buNone/>
            </a:pPr>
            <a:endParaRPr/>
          </a:p>
          <a:p>
            <a:pPr marL="0" lvl="0" indent="0" algn="l" rtl="0">
              <a:lnSpc>
                <a:spcPct val="100000"/>
              </a:lnSpc>
              <a:spcBef>
                <a:spcPts val="1200"/>
              </a:spcBef>
              <a:spcAft>
                <a:spcPts val="0"/>
              </a:spcAft>
              <a:buSzPts val="1440"/>
              <a:buNone/>
            </a:pPr>
            <a:endParaRPr/>
          </a:p>
          <a:p>
            <a:pPr marL="0" lvl="0" indent="0" algn="l" rtl="0">
              <a:lnSpc>
                <a:spcPct val="100000"/>
              </a:lnSpc>
              <a:spcBef>
                <a:spcPts val="1200"/>
              </a:spcBef>
              <a:spcAft>
                <a:spcPts val="0"/>
              </a:spcAft>
              <a:buSzPts val="1440"/>
              <a:buNone/>
            </a:pPr>
            <a:endParaRPr/>
          </a:p>
        </p:txBody>
      </p:sp>
      <p:sp>
        <p:nvSpPr>
          <p:cNvPr id="15017" name="Google Shape;15017;p92"/>
          <p:cNvSpPr txBox="1"/>
          <p:nvPr/>
        </p:nvSpPr>
        <p:spPr>
          <a:xfrm>
            <a:off x="8379818" y="1689844"/>
            <a:ext cx="3980165" cy="5118837"/>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rgbClr val="005C8A"/>
                </a:solidFill>
                <a:latin typeface="Arial"/>
                <a:ea typeface="Arial"/>
                <a:cs typeface="Arial"/>
                <a:sym typeface="Arial"/>
              </a:rPr>
              <a:t>Agent-based application monitoring via Telegraf agents</a:t>
            </a:r>
            <a:endParaRPr sz="1600">
              <a:solidFill>
                <a:srgbClr val="000000"/>
              </a:solidFill>
              <a:latin typeface="Arial"/>
              <a:ea typeface="Arial"/>
              <a:cs typeface="Arial"/>
              <a:sym typeface="Arial"/>
            </a:endParaRPr>
          </a:p>
          <a:p>
            <a:pPr marL="0" marR="0" lvl="0" indent="0" algn="l" rtl="0">
              <a:spcBef>
                <a:spcPts val="600"/>
              </a:spcBef>
              <a:spcAft>
                <a:spcPts val="0"/>
              </a:spcAft>
              <a:buNone/>
            </a:pPr>
            <a:r>
              <a:rPr lang="en-US" sz="1600">
                <a:solidFill>
                  <a:srgbClr val="005C8A"/>
                </a:solidFill>
                <a:latin typeface="Arial"/>
                <a:ea typeface="Arial"/>
                <a:cs typeface="Arial"/>
                <a:sym typeface="Arial"/>
              </a:rPr>
              <a:t>OS and process-level visibility</a:t>
            </a:r>
            <a:endParaRPr sz="1600">
              <a:solidFill>
                <a:srgbClr val="000000"/>
              </a:solidFill>
              <a:latin typeface="Arial"/>
              <a:ea typeface="Arial"/>
              <a:cs typeface="Arial"/>
              <a:sym typeface="Arial"/>
            </a:endParaRPr>
          </a:p>
          <a:p>
            <a:pPr marL="0" marR="0" lvl="0" indent="0" algn="l" rtl="0">
              <a:lnSpc>
                <a:spcPct val="120000"/>
              </a:lnSpc>
              <a:spcBef>
                <a:spcPts val="600"/>
              </a:spcBef>
              <a:spcAft>
                <a:spcPts val="0"/>
              </a:spcAft>
              <a:buNone/>
            </a:pPr>
            <a:r>
              <a:rPr lang="en-US" sz="1600">
                <a:solidFill>
                  <a:srgbClr val="005C8A"/>
                </a:solidFill>
                <a:latin typeface="Arial"/>
                <a:ea typeface="Arial"/>
                <a:cs typeface="Arial"/>
                <a:sym typeface="Arial"/>
              </a:rPr>
              <a:t>Management Pack Builder </a:t>
            </a:r>
            <a:endParaRPr/>
          </a:p>
          <a:p>
            <a:pPr marL="457063" marR="0" lvl="1" indent="0" algn="l" rtl="0">
              <a:lnSpc>
                <a:spcPct val="120000"/>
              </a:lnSpc>
              <a:spcBef>
                <a:spcPts val="600"/>
              </a:spcBef>
              <a:spcAft>
                <a:spcPts val="0"/>
              </a:spcAft>
              <a:buNone/>
            </a:pPr>
            <a:r>
              <a:rPr lang="en-US" sz="1200" b="0" i="0" u="none" strike="noStrike" cap="none">
                <a:solidFill>
                  <a:srgbClr val="005C8A"/>
                </a:solidFill>
                <a:latin typeface="Arial"/>
                <a:ea typeface="Arial"/>
                <a:cs typeface="Arial"/>
                <a:sym typeface="Arial"/>
              </a:rPr>
              <a:t>No Code Tool</a:t>
            </a:r>
            <a:endParaRPr/>
          </a:p>
          <a:p>
            <a:pPr marL="457063" marR="0" lvl="1" indent="0" algn="l" rtl="0">
              <a:lnSpc>
                <a:spcPct val="120000"/>
              </a:lnSpc>
              <a:spcBef>
                <a:spcPts val="600"/>
              </a:spcBef>
              <a:spcAft>
                <a:spcPts val="0"/>
              </a:spcAft>
              <a:buNone/>
            </a:pPr>
            <a:r>
              <a:rPr lang="en-US" sz="1200" b="0" i="0" u="none" strike="noStrike" cap="none">
                <a:solidFill>
                  <a:srgbClr val="005C8A"/>
                </a:solidFill>
                <a:latin typeface="Arial"/>
                <a:ea typeface="Arial"/>
                <a:cs typeface="Arial"/>
                <a:sym typeface="Arial"/>
              </a:rPr>
              <a:t>Create new custom Management packs</a:t>
            </a:r>
            <a:endParaRPr/>
          </a:p>
          <a:p>
            <a:pPr marL="457063" marR="0" lvl="1" indent="0" algn="l" rtl="0">
              <a:lnSpc>
                <a:spcPct val="120000"/>
              </a:lnSpc>
              <a:spcBef>
                <a:spcPts val="600"/>
              </a:spcBef>
              <a:spcAft>
                <a:spcPts val="0"/>
              </a:spcAft>
              <a:buNone/>
            </a:pPr>
            <a:r>
              <a:rPr lang="en-US" sz="1200" b="0" i="0" u="none" strike="noStrike" cap="none">
                <a:solidFill>
                  <a:srgbClr val="005C8A"/>
                </a:solidFill>
                <a:latin typeface="Arial"/>
                <a:ea typeface="Arial"/>
                <a:cs typeface="Arial"/>
                <a:sym typeface="Arial"/>
              </a:rPr>
              <a:t>Bring new data in Ops using Prometheus or HTTP API</a:t>
            </a:r>
            <a:endParaRPr/>
          </a:p>
          <a:p>
            <a:pPr marL="0" marR="0" lvl="0" indent="0" algn="l" rtl="0">
              <a:lnSpc>
                <a:spcPct val="120000"/>
              </a:lnSpc>
              <a:spcBef>
                <a:spcPts val="600"/>
              </a:spcBef>
              <a:spcAft>
                <a:spcPts val="0"/>
              </a:spcAft>
              <a:buNone/>
            </a:pPr>
            <a:r>
              <a:rPr lang="en-US" sz="1600">
                <a:solidFill>
                  <a:srgbClr val="005C8A"/>
                </a:solidFill>
                <a:latin typeface="Arial"/>
                <a:ea typeface="Arial"/>
                <a:cs typeface="Arial"/>
                <a:sym typeface="Arial"/>
              </a:rPr>
              <a:t>Application Auto-discovery</a:t>
            </a:r>
            <a:endParaRPr sz="1600">
              <a:solidFill>
                <a:srgbClr val="000000"/>
              </a:solidFill>
              <a:latin typeface="Arial"/>
              <a:ea typeface="Arial"/>
              <a:cs typeface="Arial"/>
              <a:sym typeface="Arial"/>
            </a:endParaRPr>
          </a:p>
          <a:p>
            <a:pPr marL="0" marR="0" lvl="0" indent="0" algn="l" rtl="0">
              <a:lnSpc>
                <a:spcPct val="120000"/>
              </a:lnSpc>
              <a:spcBef>
                <a:spcPts val="600"/>
              </a:spcBef>
              <a:spcAft>
                <a:spcPts val="0"/>
              </a:spcAft>
              <a:buNone/>
            </a:pPr>
            <a:r>
              <a:rPr lang="en-US" sz="1600">
                <a:solidFill>
                  <a:srgbClr val="005C8A"/>
                </a:solidFill>
                <a:latin typeface="Arial"/>
                <a:ea typeface="Arial"/>
                <a:cs typeface="Arial"/>
                <a:sym typeface="Arial"/>
              </a:rPr>
              <a:t>Understand application boundaries and communications</a:t>
            </a:r>
            <a:endParaRPr sz="1600">
              <a:solidFill>
                <a:srgbClr val="000000"/>
              </a:solidFill>
              <a:latin typeface="Arial"/>
              <a:ea typeface="Arial"/>
              <a:cs typeface="Arial"/>
              <a:sym typeface="Arial"/>
            </a:endParaRPr>
          </a:p>
          <a:p>
            <a:pPr marL="0" marR="0" lvl="0" indent="0" algn="l" rtl="0">
              <a:lnSpc>
                <a:spcPct val="120000"/>
              </a:lnSpc>
              <a:spcBef>
                <a:spcPts val="600"/>
              </a:spcBef>
              <a:spcAft>
                <a:spcPts val="0"/>
              </a:spcAft>
              <a:buNone/>
            </a:pPr>
            <a:r>
              <a:rPr lang="en-US" sz="1600">
                <a:solidFill>
                  <a:srgbClr val="005C8A"/>
                </a:solidFill>
                <a:latin typeface="Arial"/>
                <a:ea typeface="Arial"/>
                <a:cs typeface="Arial"/>
                <a:sym typeface="Arial"/>
              </a:rPr>
              <a:t>Monitor Business critical application availability and performance</a:t>
            </a:r>
            <a:endParaRPr sz="1600">
              <a:solidFill>
                <a:srgbClr val="000000"/>
              </a:solidFill>
              <a:latin typeface="Arial"/>
              <a:ea typeface="Arial"/>
              <a:cs typeface="Arial"/>
              <a:sym typeface="Arial"/>
            </a:endParaRPr>
          </a:p>
          <a:p>
            <a:pPr marL="0" marR="0" lvl="0" indent="0" algn="l" rtl="0">
              <a:lnSpc>
                <a:spcPct val="120000"/>
              </a:lnSpc>
              <a:spcBef>
                <a:spcPts val="600"/>
              </a:spcBef>
              <a:spcAft>
                <a:spcPts val="0"/>
              </a:spcAft>
              <a:buNone/>
            </a:pPr>
            <a:r>
              <a:rPr lang="en-US" sz="1600">
                <a:solidFill>
                  <a:srgbClr val="005C8A"/>
                </a:solidFill>
                <a:latin typeface="Arial"/>
                <a:ea typeface="Arial"/>
                <a:cs typeface="Arial"/>
                <a:sym typeface="Arial"/>
              </a:rPr>
              <a:t>Know where a problem lies:     infrastructure or application</a:t>
            </a:r>
            <a:endParaRPr/>
          </a:p>
          <a:p>
            <a:pPr marL="0" marR="0" lvl="0" indent="0" algn="l" rtl="0">
              <a:lnSpc>
                <a:spcPct val="120000"/>
              </a:lnSpc>
              <a:spcBef>
                <a:spcPts val="600"/>
              </a:spcBef>
              <a:spcAft>
                <a:spcPts val="0"/>
              </a:spcAft>
              <a:buNone/>
            </a:pPr>
            <a:endParaRPr sz="1600">
              <a:solidFill>
                <a:srgbClr val="000000"/>
              </a:solidFill>
              <a:latin typeface="Arial"/>
              <a:ea typeface="Arial"/>
              <a:cs typeface="Arial"/>
              <a:sym typeface="Arial"/>
            </a:endParaRPr>
          </a:p>
        </p:txBody>
      </p:sp>
      <p:pic>
        <p:nvPicPr>
          <p:cNvPr id="15018" name="Google Shape;15018;p92" descr="A screenshot of a computer&#10;&#10;AI-generated content may be incorrect."/>
          <p:cNvPicPr preferRelativeResize="0"/>
          <p:nvPr/>
        </p:nvPicPr>
        <p:blipFill rotWithShape="1">
          <a:blip r:embed="rId3">
            <a:alphaModFix/>
          </a:blip>
          <a:srcRect/>
          <a:stretch/>
        </p:blipFill>
        <p:spPr>
          <a:xfrm>
            <a:off x="263564" y="1600676"/>
            <a:ext cx="7988101" cy="4622743"/>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15023"/>
        <p:cNvGrpSpPr/>
        <p:nvPr/>
      </p:nvGrpSpPr>
      <p:grpSpPr>
        <a:xfrm>
          <a:off x="0" y="0"/>
          <a:ext cx="0" cy="0"/>
          <a:chOff x="0" y="0"/>
          <a:chExt cx="0" cy="0"/>
        </a:xfrm>
      </p:grpSpPr>
      <p:sp>
        <p:nvSpPr>
          <p:cNvPr id="15024" name="Google Shape;15024;p93"/>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700"/>
              <a:buFont typeface="Arial"/>
              <a:buNone/>
            </a:pPr>
            <a:r>
              <a:rPr lang="en-US"/>
              <a:t>Monitoring Modern Applications</a:t>
            </a:r>
            <a:endParaRPr/>
          </a:p>
        </p:txBody>
      </p:sp>
      <p:sp>
        <p:nvSpPr>
          <p:cNvPr id="15025" name="Google Shape;15025;p93"/>
          <p:cNvSpPr txBox="1">
            <a:spLocks noGrp="1"/>
          </p:cNvSpPr>
          <p:nvPr>
            <p:ph type="subTitle" idx="1"/>
          </p:nvPr>
        </p:nvSpPr>
        <p:spPr>
          <a:xfrm>
            <a:off x="592867" y="811831"/>
            <a:ext cx="1096268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710"/>
              <a:buNone/>
            </a:pPr>
            <a:r>
              <a:rPr lang="en-US"/>
              <a:t>Out of the Box for Modern Applications and Containers </a:t>
            </a:r>
            <a:endParaRPr/>
          </a:p>
          <a:p>
            <a:pPr marL="0" lvl="0" indent="0" algn="l" rtl="0">
              <a:lnSpc>
                <a:spcPct val="100000"/>
              </a:lnSpc>
              <a:spcBef>
                <a:spcPts val="1200"/>
              </a:spcBef>
              <a:spcAft>
                <a:spcPts val="0"/>
              </a:spcAft>
              <a:buSzPts val="1799"/>
              <a:buNone/>
            </a:pPr>
            <a:endParaRPr/>
          </a:p>
        </p:txBody>
      </p:sp>
      <p:sp>
        <p:nvSpPr>
          <p:cNvPr id="15026" name="Google Shape;15026;p93"/>
          <p:cNvSpPr txBox="1">
            <a:spLocks noGrp="1"/>
          </p:cNvSpPr>
          <p:nvPr>
            <p:ph type="body" idx="2"/>
          </p:nvPr>
        </p:nvSpPr>
        <p:spPr>
          <a:xfrm>
            <a:off x="8380413" y="1498288"/>
            <a:ext cx="3808412" cy="4673912"/>
          </a:xfrm>
          <a:prstGeom prst="rect">
            <a:avLst/>
          </a:prstGeom>
          <a:noFill/>
          <a:ln>
            <a:noFill/>
          </a:ln>
        </p:spPr>
        <p:txBody>
          <a:bodyPr spcFirstLastPara="1" wrap="square" lIns="0" tIns="457200" rIns="594350" bIns="457200" anchor="t" anchorCtr="0">
            <a:noAutofit/>
          </a:bodyPr>
          <a:lstStyle/>
          <a:p>
            <a:pPr marL="0" lvl="0" indent="0" algn="l" rtl="0">
              <a:lnSpc>
                <a:spcPct val="90000"/>
              </a:lnSpc>
              <a:spcBef>
                <a:spcPts val="0"/>
              </a:spcBef>
              <a:spcAft>
                <a:spcPts val="0"/>
              </a:spcAft>
              <a:buClr>
                <a:schemeClr val="dk1"/>
              </a:buClr>
              <a:buSzPts val="1400"/>
              <a:buNone/>
            </a:pPr>
            <a:r>
              <a:rPr lang="en-US"/>
              <a:t>Automated monitoring for VKS Supervisor and guest clusters</a:t>
            </a:r>
            <a:endParaRPr/>
          </a:p>
          <a:p>
            <a:pPr marL="0" lvl="0" indent="0" algn="l" rtl="0">
              <a:lnSpc>
                <a:spcPct val="90000"/>
              </a:lnSpc>
              <a:spcBef>
                <a:spcPts val="1200"/>
              </a:spcBef>
              <a:spcAft>
                <a:spcPts val="0"/>
              </a:spcAft>
              <a:buClr>
                <a:schemeClr val="dk1"/>
              </a:buClr>
              <a:buSzPts val="1400"/>
              <a:buNone/>
            </a:pPr>
            <a:r>
              <a:rPr lang="en-US"/>
              <a:t>VKS Logs management</a:t>
            </a:r>
            <a:endParaRPr/>
          </a:p>
          <a:p>
            <a:pPr marL="0" lvl="0" indent="0" algn="l" rtl="0">
              <a:lnSpc>
                <a:spcPct val="90000"/>
              </a:lnSpc>
              <a:spcBef>
                <a:spcPts val="1200"/>
              </a:spcBef>
              <a:spcAft>
                <a:spcPts val="0"/>
              </a:spcAft>
              <a:buClr>
                <a:schemeClr val="dk1"/>
              </a:buClr>
              <a:buSzPts val="1400"/>
              <a:buNone/>
            </a:pPr>
            <a:r>
              <a:rPr lang="en-US"/>
              <a:t>Antrea CNI Network Flows </a:t>
            </a:r>
            <a:endParaRPr sz="1400"/>
          </a:p>
          <a:p>
            <a:pPr marL="0" lvl="0" indent="0" algn="l" rtl="0">
              <a:lnSpc>
                <a:spcPct val="100000"/>
              </a:lnSpc>
              <a:spcBef>
                <a:spcPts val="1200"/>
              </a:spcBef>
              <a:spcAft>
                <a:spcPts val="0"/>
              </a:spcAft>
              <a:buClr>
                <a:schemeClr val="accent4"/>
              </a:buClr>
              <a:buSzPts val="1200"/>
              <a:buNone/>
            </a:pPr>
            <a:r>
              <a:rPr lang="en-US"/>
              <a:t>Drill down into Kubernetes objects</a:t>
            </a:r>
            <a:endParaRPr/>
          </a:p>
          <a:p>
            <a:pPr marL="0" lvl="0" indent="0" algn="l" rtl="0">
              <a:lnSpc>
                <a:spcPct val="100000"/>
              </a:lnSpc>
              <a:spcBef>
                <a:spcPts val="600"/>
              </a:spcBef>
              <a:spcAft>
                <a:spcPts val="0"/>
              </a:spcAft>
              <a:buClr>
                <a:schemeClr val="accent4"/>
              </a:buClr>
              <a:buSzPts val="1200"/>
              <a:buNone/>
            </a:pPr>
            <a:r>
              <a:rPr lang="en-US"/>
              <a:t>Detailed metrics for further troubleshooting</a:t>
            </a:r>
            <a:endParaRPr/>
          </a:p>
          <a:p>
            <a:pPr marL="0" lvl="0" indent="0" algn="l" rtl="0">
              <a:lnSpc>
                <a:spcPct val="120000"/>
              </a:lnSpc>
              <a:spcBef>
                <a:spcPts val="600"/>
              </a:spcBef>
              <a:spcAft>
                <a:spcPts val="0"/>
              </a:spcAft>
              <a:buClr>
                <a:schemeClr val="accent4"/>
              </a:buClr>
              <a:buSzPts val="1200"/>
              <a:buNone/>
            </a:pPr>
            <a:r>
              <a:rPr lang="en-US"/>
              <a:t>Discovers Kubernetes entities nodes, namespaces and workloads</a:t>
            </a:r>
            <a:endParaRPr/>
          </a:p>
          <a:p>
            <a:pPr marL="0" lvl="0" indent="0" algn="l" rtl="0">
              <a:lnSpc>
                <a:spcPct val="120000"/>
              </a:lnSpc>
              <a:spcBef>
                <a:spcPts val="600"/>
              </a:spcBef>
              <a:spcAft>
                <a:spcPts val="0"/>
              </a:spcAft>
              <a:buClr>
                <a:schemeClr val="accent4"/>
              </a:buClr>
              <a:buSzPts val="1200"/>
              <a:buNone/>
            </a:pPr>
            <a:r>
              <a:rPr lang="en-US"/>
              <a:t>OOTB Health Dashboards, metrics and alerts for Kubernetes objects</a:t>
            </a:r>
            <a:endParaRPr/>
          </a:p>
          <a:p>
            <a:pPr marL="285664" lvl="0" indent="-209464" algn="l" rtl="0">
              <a:lnSpc>
                <a:spcPct val="100000"/>
              </a:lnSpc>
              <a:spcBef>
                <a:spcPts val="600"/>
              </a:spcBef>
              <a:spcAft>
                <a:spcPts val="0"/>
              </a:spcAft>
              <a:buClr>
                <a:schemeClr val="accent4"/>
              </a:buClr>
              <a:buSzPts val="1200"/>
              <a:buFont typeface="Arial"/>
              <a:buNone/>
            </a:pPr>
            <a:endParaRPr sz="1400">
              <a:solidFill>
                <a:srgbClr val="3F3F3F"/>
              </a:solidFill>
            </a:endParaRPr>
          </a:p>
          <a:p>
            <a:pPr marL="0" lvl="0" indent="0" algn="l" rtl="0">
              <a:lnSpc>
                <a:spcPct val="100000"/>
              </a:lnSpc>
              <a:spcBef>
                <a:spcPts val="600"/>
              </a:spcBef>
              <a:spcAft>
                <a:spcPts val="0"/>
              </a:spcAft>
              <a:buSzPts val="1260"/>
              <a:buNone/>
            </a:pPr>
            <a:endParaRPr sz="1400"/>
          </a:p>
        </p:txBody>
      </p:sp>
      <p:pic>
        <p:nvPicPr>
          <p:cNvPr id="15027" name="Google Shape;15027;p93" descr="A screenshot of a computer&#10;&#10;AI-generated content may be incorrect."/>
          <p:cNvPicPr preferRelativeResize="0"/>
          <p:nvPr/>
        </p:nvPicPr>
        <p:blipFill rotWithShape="1">
          <a:blip r:embed="rId3">
            <a:alphaModFix/>
          </a:blip>
          <a:srcRect/>
          <a:stretch/>
        </p:blipFill>
        <p:spPr>
          <a:xfrm>
            <a:off x="289633" y="1588805"/>
            <a:ext cx="7416170" cy="4673912"/>
          </a:xfrm>
          <a:prstGeom prst="rect">
            <a:avLst/>
          </a:prstGeom>
          <a:noFill/>
          <a:ln w="9525" cap="flat" cmpd="sng">
            <a:solidFill>
              <a:schemeClr val="accent2"/>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2875">
          <a:extLst>
            <a:ext uri="{FF2B5EF4-FFF2-40B4-BE49-F238E27FC236}">
              <a16:creationId xmlns:a16="http://schemas.microsoft.com/office/drawing/2014/main" id="{4C701CDA-ADD8-2440-E737-29114FAAD769}"/>
            </a:ext>
          </a:extLst>
        </p:cNvPr>
        <p:cNvGrpSpPr/>
        <p:nvPr/>
      </p:nvGrpSpPr>
      <p:grpSpPr>
        <a:xfrm>
          <a:off x="0" y="0"/>
          <a:ext cx="0" cy="0"/>
          <a:chOff x="0" y="0"/>
          <a:chExt cx="0" cy="0"/>
        </a:xfrm>
      </p:grpSpPr>
      <p:sp>
        <p:nvSpPr>
          <p:cNvPr id="2876" name="Google Shape;2876;p39">
            <a:extLst>
              <a:ext uri="{FF2B5EF4-FFF2-40B4-BE49-F238E27FC236}">
                <a16:creationId xmlns:a16="http://schemas.microsoft.com/office/drawing/2014/main" id="{44691808-7E61-CE13-A39B-9E80136F824B}"/>
              </a:ext>
            </a:extLst>
          </p:cNvPr>
          <p:cNvSpPr txBox="1">
            <a:spLocks noGrp="1"/>
          </p:cNvSpPr>
          <p:nvPr>
            <p:ph type="title"/>
          </p:nvPr>
        </p:nvSpPr>
        <p:spPr>
          <a:xfrm>
            <a:off x="589108" y="938794"/>
            <a:ext cx="8014118" cy="1229360"/>
          </a:xfrm>
        </p:spPr>
        <p:txBody>
          <a:bodyPr spcFirstLastPara="1" wrap="square" lIns="0" tIns="0" rIns="0" bIns="0" anchor="b" anchorCtr="0">
            <a:normAutofit/>
          </a:bodyPr>
          <a:lstStyle/>
          <a:p>
            <a:pPr lvl="0">
              <a:spcAft>
                <a:spcPts val="0"/>
              </a:spcAft>
              <a:buClr>
                <a:srgbClr val="000000"/>
              </a:buClr>
              <a:buSzPts val="1300"/>
            </a:pPr>
            <a:r>
              <a:rPr lang="en-US" sz="3600" dirty="0"/>
              <a:t>Optimize Infrastructure and Operations</a:t>
            </a:r>
          </a:p>
        </p:txBody>
      </p:sp>
      <p:sp>
        <p:nvSpPr>
          <p:cNvPr id="2877" name="Google Shape;2877;p39">
            <a:extLst>
              <a:ext uri="{FF2B5EF4-FFF2-40B4-BE49-F238E27FC236}">
                <a16:creationId xmlns:a16="http://schemas.microsoft.com/office/drawing/2014/main" id="{16D7DE73-8C99-91A7-F81B-43B329F3E721}"/>
              </a:ext>
            </a:extLst>
          </p:cNvPr>
          <p:cNvSpPr txBox="1">
            <a:spLocks noGrp="1"/>
          </p:cNvSpPr>
          <p:nvPr>
            <p:ph type="subTitle" idx="1"/>
          </p:nvPr>
        </p:nvSpPr>
        <p:spPr/>
        <p:txBody>
          <a:bodyPr spcFirstLastPara="1" lIns="0" tIns="0" rIns="0" bIns="0" anchorCtr="0">
            <a:normAutofit/>
          </a:bodyPr>
          <a:lstStyle/>
          <a:p>
            <a:pPr lvl="0">
              <a:spcAft>
                <a:spcPts val="0"/>
              </a:spcAft>
              <a:buClr>
                <a:srgbClr val="000000"/>
              </a:buClr>
              <a:buSzPts val="1300"/>
            </a:pPr>
            <a:endParaRPr lang="en-US" sz="3600" dirty="0">
              <a:solidFill>
                <a:schemeClr val="dk1"/>
              </a:solidFill>
              <a:ea typeface="Arial"/>
              <a:cs typeface="Arial"/>
              <a:sym typeface="Arial"/>
            </a:endParaRPr>
          </a:p>
          <a:p>
            <a:pPr marL="0" lvl="0" indent="0" rtl="0">
              <a:spcBef>
                <a:spcPts val="0"/>
              </a:spcBef>
              <a:spcAft>
                <a:spcPts val="600"/>
              </a:spcAft>
              <a:buSzPts val="2160"/>
              <a:buNone/>
            </a:pPr>
            <a:endParaRPr lang="en-US" dirty="0"/>
          </a:p>
        </p:txBody>
      </p:sp>
      <p:sp>
        <p:nvSpPr>
          <p:cNvPr id="2" name="Google Shape;2877;p39">
            <a:extLst>
              <a:ext uri="{FF2B5EF4-FFF2-40B4-BE49-F238E27FC236}">
                <a16:creationId xmlns:a16="http://schemas.microsoft.com/office/drawing/2014/main" id="{A0E94ADA-BADA-72C8-B4DF-FCAB352BC570}"/>
              </a:ext>
            </a:extLst>
          </p:cNvPr>
          <p:cNvSpPr txBox="1">
            <a:spLocks/>
          </p:cNvSpPr>
          <p:nvPr/>
        </p:nvSpPr>
        <p:spPr>
          <a:xfrm>
            <a:off x="755366" y="2420112"/>
            <a:ext cx="6542112" cy="2165392"/>
          </a:xfrm>
          <a:prstGeom prst="rect">
            <a:avLst/>
          </a:prstGeom>
        </p:spPr>
        <p:txBody>
          <a:bodyPr spcFirstLastPara="1" vert="horz" lIns="0" tIns="0" rIns="0" bIns="0" rtlCol="0" anchorCtr="0">
            <a:normAutofit/>
          </a:bodyPr>
          <a:lstStyle>
            <a:lvl1pPr marL="0" indent="0" algn="l" defTabSz="914126" rtl="0" eaLnBrk="1" latinLnBrk="0" hangingPunct="1">
              <a:lnSpc>
                <a:spcPct val="100000"/>
              </a:lnSpc>
              <a:spcBef>
                <a:spcPts val="0"/>
              </a:spcBef>
              <a:spcAft>
                <a:spcPts val="1200"/>
              </a:spcAft>
              <a:buClr>
                <a:schemeClr val="tx1">
                  <a:lumMod val="60000"/>
                  <a:lumOff val="40000"/>
                </a:schemeClr>
              </a:buClr>
              <a:buSzPct val="90000"/>
              <a:buFont typeface="Arial" panose="020B0604020202020204" pitchFamily="34" charset="0"/>
              <a:buNone/>
              <a:defRPr sz="2399" kern="1200">
                <a:solidFill>
                  <a:schemeClr val="tx1"/>
                </a:solidFill>
                <a:latin typeface="+mj-lt"/>
                <a:ea typeface="+mn-ea"/>
                <a:cs typeface="+mn-cs"/>
              </a:defRPr>
            </a:lvl1pPr>
            <a:lvl2pPr marL="457063"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999" kern="1200">
                <a:solidFill>
                  <a:schemeClr val="tx1"/>
                </a:solidFill>
                <a:latin typeface="+mn-lt"/>
                <a:ea typeface="+mn-ea"/>
                <a:cs typeface="+mn-cs"/>
              </a:defRPr>
            </a:lvl2pPr>
            <a:lvl3pPr marL="914126"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defRPr sz="1799" kern="1200">
                <a:solidFill>
                  <a:schemeClr val="tx1"/>
                </a:solidFill>
                <a:latin typeface="+mn-lt"/>
                <a:ea typeface="+mn-ea"/>
                <a:cs typeface="+mn-cs"/>
              </a:defRPr>
            </a:lvl3pPr>
            <a:lvl4pPr marL="1371189"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defRPr sz="1600" kern="1200">
                <a:solidFill>
                  <a:schemeClr val="tx1"/>
                </a:solidFill>
                <a:latin typeface="+mn-lt"/>
                <a:ea typeface="+mn-ea"/>
                <a:cs typeface="+mn-cs"/>
              </a:defRPr>
            </a:lvl4pPr>
            <a:lvl5pPr marL="1828251" indent="0" algn="ctr" defTabSz="914126" rtl="0" eaLnBrk="1" latinLnBrk="0" hangingPunct="1">
              <a:lnSpc>
                <a:spcPct val="100000"/>
              </a:lnSpc>
              <a:spcBef>
                <a:spcPts val="0"/>
              </a:spcBef>
              <a:spcAft>
                <a:spcPts val="1200"/>
              </a:spcAft>
              <a:buClr>
                <a:schemeClr val="bg2">
                  <a:lumMod val="25000"/>
                </a:schemeClr>
              </a:buClr>
              <a:buSzPct val="90000"/>
              <a:buFont typeface="Camphor Std" panose="020B0504030404020204" pitchFamily="34" charset="0"/>
              <a:buNone/>
              <a:tabLst/>
              <a:defRPr sz="1600" kern="1200">
                <a:solidFill>
                  <a:schemeClr val="tx1"/>
                </a:solidFill>
                <a:latin typeface="+mn-lt"/>
                <a:ea typeface="+mn-ea"/>
                <a:cs typeface="+mn-cs"/>
              </a:defRPr>
            </a:lvl5pPr>
            <a:lvl6pPr marL="2285314"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6pPr>
            <a:lvl7pPr marL="2742377"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7pPr>
            <a:lvl8pPr marL="3199440" indent="0" algn="ctr" defTabSz="914126" rtl="0" eaLnBrk="1" latinLnBrk="0" hangingPunct="1">
              <a:lnSpc>
                <a:spcPct val="100000"/>
              </a:lnSpc>
              <a:spcBef>
                <a:spcPts val="0"/>
              </a:spcBef>
              <a:spcAft>
                <a:spcPts val="1200"/>
              </a:spcAft>
              <a:buClr>
                <a:schemeClr val="bg2">
                  <a:lumMod val="25000"/>
                </a:schemeClr>
              </a:buClr>
              <a:buSzPct val="90000"/>
              <a:buFont typeface="Arial" panose="020B0604020202020204" pitchFamily="34" charset="0"/>
              <a:buNone/>
              <a:tabLst/>
              <a:defRPr sz="1600" kern="1200">
                <a:solidFill>
                  <a:schemeClr val="tx1"/>
                </a:solidFill>
                <a:latin typeface="+mn-lt"/>
                <a:ea typeface="+mn-ea"/>
                <a:cs typeface="+mn-cs"/>
              </a:defRPr>
            </a:lvl8pPr>
            <a:lvl9pPr marL="3656503" indent="0" algn="ctr" defTabSz="914126" rtl="0" eaLnBrk="1" latinLnBrk="0" hangingPunct="1">
              <a:lnSpc>
                <a:spcPct val="100000"/>
              </a:lnSpc>
              <a:spcBef>
                <a:spcPts val="0"/>
              </a:spcBef>
              <a:spcAft>
                <a:spcPts val="1200"/>
              </a:spcAft>
              <a:buClr>
                <a:schemeClr val="bg2">
                  <a:lumMod val="25000"/>
                </a:schemeClr>
              </a:buClr>
              <a:buSzPct val="90000"/>
              <a:buFont typeface="System Font Regular"/>
              <a:buNone/>
              <a:tabLst/>
              <a:defRPr sz="1600" kern="1200">
                <a:solidFill>
                  <a:schemeClr val="tx1"/>
                </a:solidFill>
                <a:latin typeface="+mn-lt"/>
                <a:ea typeface="+mn-ea"/>
                <a:cs typeface="+mn-cs"/>
              </a:defRPr>
            </a:lvl9pPr>
          </a:lstStyle>
          <a:p>
            <a:pPr marL="0" marR="0" lvl="0" indent="0" algn="l" defTabSz="914126" rtl="0" eaLnBrk="1" fontAlgn="auto" latinLnBrk="0" hangingPunct="1">
              <a:lnSpc>
                <a:spcPct val="100000"/>
              </a:lnSpc>
              <a:spcBef>
                <a:spcPts val="0"/>
              </a:spcBef>
              <a:spcAft>
                <a:spcPts val="600"/>
              </a:spcAft>
              <a:buClr>
                <a:srgbClr val="000000">
                  <a:lumMod val="60000"/>
                  <a:lumOff val="40000"/>
                </a:srgbClr>
              </a:buClr>
              <a:buSzPts val="2160"/>
              <a:buFont typeface="Arial" panose="020B0604020202020204" pitchFamily="34" charset="0"/>
              <a:buNone/>
              <a:tabLst/>
              <a:defRPr/>
            </a:pPr>
            <a:r>
              <a:rPr kumimoji="0" lang="en-US" sz="2399" b="0" i="0" u="none" strike="noStrike" kern="1200" cap="none" spc="0" normalizeH="0" baseline="0" noProof="0" dirty="0">
                <a:ln>
                  <a:noFill/>
                </a:ln>
                <a:solidFill>
                  <a:srgbClr val="000000"/>
                </a:solidFill>
                <a:effectLst/>
                <a:uLnTx/>
                <a:uFillTx/>
                <a:latin typeface="Arial"/>
                <a:ea typeface="+mn-ea"/>
                <a:cs typeface="+mn-cs"/>
                <a:sym typeface="Arial"/>
              </a:rPr>
              <a:t>API SDK and </a:t>
            </a:r>
            <a:r>
              <a:rPr kumimoji="0" lang="en-US" sz="2399" b="0" i="0" u="none" strike="noStrike" kern="1200" cap="none" spc="0" normalizeH="0" baseline="0" noProof="0" dirty="0" err="1">
                <a:ln>
                  <a:noFill/>
                </a:ln>
                <a:solidFill>
                  <a:srgbClr val="000000"/>
                </a:solidFill>
                <a:effectLst/>
                <a:uLnTx/>
                <a:uFillTx/>
                <a:latin typeface="Arial"/>
                <a:ea typeface="+mn-ea"/>
                <a:cs typeface="+mn-cs"/>
                <a:sym typeface="Arial"/>
              </a:rPr>
              <a:t>PowerCLI</a:t>
            </a:r>
            <a:r>
              <a:rPr kumimoji="0" lang="en-US" sz="2399" b="0" i="0" u="none" strike="noStrike" kern="1200" cap="none" spc="0" normalizeH="0" baseline="0" noProof="0" dirty="0">
                <a:ln>
                  <a:noFill/>
                </a:ln>
                <a:solidFill>
                  <a:srgbClr val="000000"/>
                </a:solidFill>
                <a:effectLst/>
                <a:uLnTx/>
                <a:uFillTx/>
                <a:latin typeface="Arial"/>
                <a:ea typeface="+mn-ea"/>
                <a:cs typeface="+mn-cs"/>
                <a:sym typeface="Arial"/>
              </a:rPr>
              <a:t> </a:t>
            </a:r>
          </a:p>
        </p:txBody>
      </p:sp>
    </p:spTree>
    <p:extLst>
      <p:ext uri="{BB962C8B-B14F-4D97-AF65-F5344CB8AC3E}">
        <p14:creationId xmlns:p14="http://schemas.microsoft.com/office/powerpoint/2010/main" val="29353387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2345"/>
        <p:cNvGrpSpPr/>
        <p:nvPr/>
      </p:nvGrpSpPr>
      <p:grpSpPr>
        <a:xfrm>
          <a:off x="0" y="0"/>
          <a:ext cx="0" cy="0"/>
          <a:chOff x="0" y="0"/>
          <a:chExt cx="0" cy="0"/>
        </a:xfrm>
      </p:grpSpPr>
      <p:sp>
        <p:nvSpPr>
          <p:cNvPr id="2346" name="Google Shape;2346;p16"/>
          <p:cNvSpPr txBox="1">
            <a:spLocks noGrp="1"/>
          </p:cNvSpPr>
          <p:nvPr>
            <p:ph type="title"/>
          </p:nvPr>
        </p:nvSpPr>
        <p:spPr>
          <a:xfrm>
            <a:off x="583742" y="1388793"/>
            <a:ext cx="5510670" cy="1229360"/>
          </a:xfrm>
          <a:prstGeom prst="rect">
            <a:avLst/>
          </a:prstGeom>
          <a:noFill/>
          <a:ln>
            <a:noFill/>
          </a:ln>
        </p:spPr>
        <p:txBody>
          <a:bodyPr spcFirstLastPara="1" wrap="square" lIns="0" tIns="0" rIns="0" bIns="0" anchor="b" anchorCtr="0">
            <a:noAutofit/>
          </a:bodyPr>
          <a:lstStyle/>
          <a:p>
            <a:r>
              <a:rPr lang="en-US" b="1" dirty="0"/>
              <a:t>Driving Automation Excellence through an API-First Strategy</a:t>
            </a:r>
            <a:endParaRPr lang="en-US" dirty="0"/>
          </a:p>
        </p:txBody>
      </p:sp>
      <p:sp>
        <p:nvSpPr>
          <p:cNvPr id="2347" name="Google Shape;2347;p16"/>
          <p:cNvSpPr txBox="1">
            <a:spLocks noGrp="1"/>
          </p:cNvSpPr>
          <p:nvPr>
            <p:ph type="subTitle" idx="1"/>
          </p:nvPr>
        </p:nvSpPr>
        <p:spPr>
          <a:xfrm>
            <a:off x="583742" y="3078558"/>
            <a:ext cx="4667527" cy="1493442"/>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2160"/>
              <a:buNone/>
            </a:pPr>
            <a:r>
              <a:rPr lang="en-US" dirty="0"/>
              <a:t>The automation tool is only as capable as the API beneath it. </a:t>
            </a:r>
          </a:p>
          <a:p>
            <a:pPr marL="0" lvl="0" indent="0" algn="l" rtl="0">
              <a:lnSpc>
                <a:spcPct val="100000"/>
              </a:lnSpc>
              <a:spcBef>
                <a:spcPts val="0"/>
              </a:spcBef>
              <a:spcAft>
                <a:spcPts val="0"/>
              </a:spcAft>
              <a:buSzPts val="2160"/>
              <a:buNone/>
            </a:pPr>
            <a:endParaRPr lang="en-US" dirty="0"/>
          </a:p>
          <a:p>
            <a:pPr marL="0" lvl="0" indent="0" algn="l" rtl="0">
              <a:lnSpc>
                <a:spcPct val="100000"/>
              </a:lnSpc>
              <a:spcBef>
                <a:spcPts val="0"/>
              </a:spcBef>
              <a:spcAft>
                <a:spcPts val="0"/>
              </a:spcAft>
              <a:buSzPts val="2160"/>
              <a:buNone/>
            </a:pPr>
            <a:r>
              <a:rPr lang="en-US" dirty="0"/>
              <a:t>We ensure that our foundation offers best-in-class developer experience</a:t>
            </a:r>
            <a:endParaRPr dirty="0"/>
          </a:p>
        </p:txBody>
      </p:sp>
    </p:spTree>
    <p:extLst>
      <p:ext uri="{BB962C8B-B14F-4D97-AF65-F5344CB8AC3E}">
        <p14:creationId xmlns:p14="http://schemas.microsoft.com/office/powerpoint/2010/main" val="1239949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2066"/>
        <p:cNvGrpSpPr/>
        <p:nvPr/>
      </p:nvGrpSpPr>
      <p:grpSpPr>
        <a:xfrm>
          <a:off x="0" y="0"/>
          <a:ext cx="0" cy="0"/>
          <a:chOff x="0" y="0"/>
          <a:chExt cx="0" cy="0"/>
        </a:xfrm>
      </p:grpSpPr>
      <p:sp>
        <p:nvSpPr>
          <p:cNvPr id="2067" name="Google Shape;2067;p5"/>
          <p:cNvSpPr txBox="1">
            <a:spLocks noGrp="1"/>
          </p:cNvSpPr>
          <p:nvPr>
            <p:ph type="body" idx="1"/>
          </p:nvPr>
        </p:nvSpPr>
        <p:spPr>
          <a:xfrm>
            <a:off x="722611" y="1282655"/>
            <a:ext cx="2817812" cy="1782203"/>
          </a:xfrm>
          <a:prstGeom prst="rect">
            <a:avLst/>
          </a:prstGeom>
          <a:noFill/>
          <a:ln>
            <a:noFill/>
          </a:ln>
        </p:spPr>
        <p:txBody>
          <a:bodyPr spcFirstLastPara="1" wrap="square" lIns="0" tIns="0" rIns="0" bIns="0" anchor="ctr" anchorCtr="0">
            <a:noAutofit/>
          </a:bodyPr>
          <a:lstStyle/>
          <a:p>
            <a:pPr marL="0" lvl="0" indent="-114300" algn="r" rtl="0">
              <a:lnSpc>
                <a:spcPct val="100000"/>
              </a:lnSpc>
              <a:spcBef>
                <a:spcPts val="0"/>
              </a:spcBef>
              <a:spcAft>
                <a:spcPts val="0"/>
              </a:spcAft>
              <a:buSzPts val="1800"/>
              <a:buChar char="​"/>
            </a:pPr>
            <a:r>
              <a:rPr lang="en-US" b="1" dirty="0">
                <a:solidFill>
                  <a:schemeClr val="accent2"/>
                </a:solidFill>
                <a:latin typeface="Arial"/>
                <a:ea typeface="Arial"/>
                <a:cs typeface="Arial"/>
                <a:sym typeface="Arial"/>
              </a:rPr>
              <a:t>OpenAPI Specifications</a:t>
            </a:r>
            <a:endParaRPr dirty="0"/>
          </a:p>
          <a:p>
            <a:pPr marL="0" lvl="0" indent="-114300" algn="r" rtl="0">
              <a:lnSpc>
                <a:spcPct val="100000"/>
              </a:lnSpc>
              <a:spcBef>
                <a:spcPts val="1200"/>
              </a:spcBef>
              <a:spcAft>
                <a:spcPts val="0"/>
              </a:spcAft>
              <a:buSzPts val="1800"/>
              <a:buChar char="​"/>
            </a:pPr>
            <a:r>
              <a:rPr lang="en-US" dirty="0"/>
              <a:t>Expanding the coverage of OpenAPI Specifications</a:t>
            </a:r>
            <a:endParaRPr dirty="0"/>
          </a:p>
        </p:txBody>
      </p:sp>
      <p:sp>
        <p:nvSpPr>
          <p:cNvPr id="2068" name="Google Shape;2068;p5"/>
          <p:cNvSpPr txBox="1">
            <a:spLocks noGrp="1"/>
          </p:cNvSpPr>
          <p:nvPr>
            <p:ph type="body" idx="2"/>
          </p:nvPr>
        </p:nvSpPr>
        <p:spPr>
          <a:xfrm>
            <a:off x="8648402" y="1282655"/>
            <a:ext cx="2817812" cy="1782203"/>
          </a:xfrm>
          <a:prstGeom prst="rect">
            <a:avLst/>
          </a:prstGeom>
          <a:noFill/>
          <a:ln>
            <a:noFill/>
          </a:ln>
        </p:spPr>
        <p:txBody>
          <a:bodyPr spcFirstLastPara="1" wrap="square" lIns="0" tIns="0" rIns="0" bIns="0" anchor="ctr" anchorCtr="0">
            <a:noAutofit/>
          </a:bodyPr>
          <a:lstStyle/>
          <a:p>
            <a:pPr marL="0" lvl="0" indent="0" algn="l" rtl="0">
              <a:lnSpc>
                <a:spcPct val="100000"/>
              </a:lnSpc>
              <a:spcBef>
                <a:spcPts val="0"/>
              </a:spcBef>
              <a:spcAft>
                <a:spcPts val="0"/>
              </a:spcAft>
              <a:buSzPts val="1800"/>
              <a:buNone/>
            </a:pPr>
            <a:r>
              <a:rPr lang="en-US" b="1" dirty="0">
                <a:solidFill>
                  <a:schemeClr val="accent2"/>
                </a:solidFill>
                <a:latin typeface="Arial"/>
                <a:ea typeface="Arial"/>
                <a:cs typeface="Arial"/>
                <a:sym typeface="Arial"/>
              </a:rPr>
              <a:t>Expanded VCF SDK Coverage</a:t>
            </a:r>
          </a:p>
          <a:p>
            <a:pPr marL="0" lvl="0" indent="0" algn="l" rtl="0">
              <a:lnSpc>
                <a:spcPct val="100000"/>
              </a:lnSpc>
              <a:spcBef>
                <a:spcPts val="1200"/>
              </a:spcBef>
              <a:spcAft>
                <a:spcPts val="0"/>
              </a:spcAft>
              <a:buSzPts val="1800"/>
              <a:buNone/>
            </a:pPr>
            <a:r>
              <a:rPr lang="en-US" dirty="0"/>
              <a:t>New API bindings for NSX, VCF Operations and Fleet Management</a:t>
            </a:r>
          </a:p>
        </p:txBody>
      </p:sp>
      <p:sp>
        <p:nvSpPr>
          <p:cNvPr id="2069" name="Google Shape;2069;p5"/>
          <p:cNvSpPr txBox="1">
            <a:spLocks noGrp="1"/>
          </p:cNvSpPr>
          <p:nvPr>
            <p:ph type="body" idx="3"/>
          </p:nvPr>
        </p:nvSpPr>
        <p:spPr>
          <a:xfrm>
            <a:off x="722611" y="3702104"/>
            <a:ext cx="2817812" cy="1782203"/>
          </a:xfrm>
          <a:prstGeom prst="rect">
            <a:avLst/>
          </a:prstGeom>
          <a:noFill/>
          <a:ln>
            <a:noFill/>
          </a:ln>
        </p:spPr>
        <p:txBody>
          <a:bodyPr spcFirstLastPara="1" wrap="square" lIns="0" tIns="0" rIns="0" bIns="0" anchor="ctr" anchorCtr="0">
            <a:noAutofit/>
          </a:bodyPr>
          <a:lstStyle/>
          <a:p>
            <a:pPr marL="0" lvl="0" indent="-114300" algn="r" rtl="0">
              <a:lnSpc>
                <a:spcPct val="100000"/>
              </a:lnSpc>
              <a:spcBef>
                <a:spcPts val="0"/>
              </a:spcBef>
              <a:spcAft>
                <a:spcPts val="0"/>
              </a:spcAft>
              <a:buSzPts val="1800"/>
              <a:buChar char="​"/>
            </a:pPr>
            <a:r>
              <a:rPr lang="en-US" b="1" dirty="0">
                <a:solidFill>
                  <a:schemeClr val="accent2"/>
                </a:solidFill>
                <a:latin typeface="Arial"/>
                <a:ea typeface="Arial"/>
                <a:cs typeface="Arial"/>
                <a:sym typeface="Arial"/>
              </a:rPr>
              <a:t>OAuth 2.0 </a:t>
            </a:r>
            <a:r>
              <a:rPr lang="en-US" b="1" dirty="0" err="1">
                <a:solidFill>
                  <a:schemeClr val="accent2"/>
                </a:solidFill>
                <a:latin typeface="Arial"/>
                <a:ea typeface="Arial"/>
                <a:cs typeface="Arial"/>
                <a:sym typeface="Arial"/>
              </a:rPr>
              <a:t>Authntication</a:t>
            </a:r>
            <a:endParaRPr b="1" dirty="0">
              <a:solidFill>
                <a:schemeClr val="accent2"/>
              </a:solidFill>
              <a:latin typeface="Arial"/>
              <a:ea typeface="Arial"/>
              <a:cs typeface="Arial"/>
              <a:sym typeface="Arial"/>
            </a:endParaRPr>
          </a:p>
          <a:p>
            <a:pPr marL="0" lvl="0" indent="-114300" algn="r" rtl="0">
              <a:lnSpc>
                <a:spcPct val="100000"/>
              </a:lnSpc>
              <a:spcBef>
                <a:spcPts val="1200"/>
              </a:spcBef>
              <a:spcAft>
                <a:spcPts val="0"/>
              </a:spcAft>
              <a:buSzPts val="1800"/>
              <a:buChar char="​"/>
            </a:pPr>
            <a:r>
              <a:rPr lang="en-US" dirty="0"/>
              <a:t>Introducing OAuth 2.0 Authentication</a:t>
            </a:r>
            <a:endParaRPr dirty="0"/>
          </a:p>
        </p:txBody>
      </p:sp>
      <p:sp>
        <p:nvSpPr>
          <p:cNvPr id="2070" name="Google Shape;2070;p5"/>
          <p:cNvSpPr txBox="1">
            <a:spLocks noGrp="1"/>
          </p:cNvSpPr>
          <p:nvPr>
            <p:ph type="body" idx="4"/>
          </p:nvPr>
        </p:nvSpPr>
        <p:spPr>
          <a:xfrm>
            <a:off x="8648402" y="3702104"/>
            <a:ext cx="2817812" cy="1782203"/>
          </a:xfrm>
          <a:prstGeom prst="rect">
            <a:avLst/>
          </a:prstGeom>
          <a:noFill/>
          <a:ln>
            <a:noFill/>
          </a:ln>
        </p:spPr>
        <p:txBody>
          <a:bodyPr spcFirstLastPara="1" wrap="square" lIns="0" tIns="0" rIns="0" bIns="0" anchor="ctr" anchorCtr="0">
            <a:noAutofit/>
          </a:bodyPr>
          <a:lstStyle/>
          <a:p>
            <a:pPr marL="0" lvl="0" indent="0" algn="l" rtl="0">
              <a:lnSpc>
                <a:spcPct val="100000"/>
              </a:lnSpc>
              <a:spcBef>
                <a:spcPts val="0"/>
              </a:spcBef>
              <a:spcAft>
                <a:spcPts val="0"/>
              </a:spcAft>
              <a:buSzPts val="1800"/>
              <a:buNone/>
            </a:pPr>
            <a:r>
              <a:rPr lang="en-US" b="1" dirty="0">
                <a:solidFill>
                  <a:schemeClr val="accent2"/>
                </a:solidFill>
                <a:latin typeface="Arial"/>
                <a:ea typeface="Arial"/>
                <a:cs typeface="Arial"/>
                <a:sym typeface="Arial"/>
              </a:rPr>
              <a:t>VCF </a:t>
            </a:r>
            <a:r>
              <a:rPr lang="en-US" b="1" dirty="0" err="1">
                <a:solidFill>
                  <a:schemeClr val="accent2"/>
                </a:solidFill>
                <a:latin typeface="Arial"/>
                <a:ea typeface="Arial"/>
                <a:cs typeface="Arial"/>
                <a:sym typeface="Arial"/>
              </a:rPr>
              <a:t>PowerCLI</a:t>
            </a:r>
            <a:endParaRPr b="1" dirty="0">
              <a:solidFill>
                <a:schemeClr val="accent2"/>
              </a:solidFill>
              <a:latin typeface="Arial"/>
              <a:ea typeface="Arial"/>
              <a:cs typeface="Arial"/>
              <a:sym typeface="Arial"/>
            </a:endParaRPr>
          </a:p>
          <a:p>
            <a:pPr marL="0" lvl="0" indent="0" algn="l" rtl="0">
              <a:lnSpc>
                <a:spcPct val="100000"/>
              </a:lnSpc>
              <a:spcBef>
                <a:spcPts val="1200"/>
              </a:spcBef>
              <a:spcAft>
                <a:spcPts val="0"/>
              </a:spcAft>
              <a:buSzPts val="1800"/>
              <a:buNone/>
            </a:pPr>
            <a:r>
              <a:rPr lang="en-US" dirty="0"/>
              <a:t>New cmdlets and SDK bindings</a:t>
            </a:r>
            <a:endParaRPr dirty="0"/>
          </a:p>
        </p:txBody>
      </p:sp>
      <p:grpSp>
        <p:nvGrpSpPr>
          <p:cNvPr id="2" name="Google Shape;9621;p79" descr="Document&#10;">
            <a:extLst>
              <a:ext uri="{FF2B5EF4-FFF2-40B4-BE49-F238E27FC236}">
                <a16:creationId xmlns:a16="http://schemas.microsoft.com/office/drawing/2014/main" id="{745EA7B6-6B67-AF80-7303-66BFD0066F71}"/>
              </a:ext>
            </a:extLst>
          </p:cNvPr>
          <p:cNvGrpSpPr/>
          <p:nvPr/>
        </p:nvGrpSpPr>
        <p:grpSpPr>
          <a:xfrm>
            <a:off x="4482196" y="1701457"/>
            <a:ext cx="751593" cy="944598"/>
            <a:chOff x="4556678" y="3188269"/>
            <a:chExt cx="465490" cy="585025"/>
          </a:xfrm>
          <a:solidFill>
            <a:schemeClr val="accent2"/>
          </a:solidFill>
        </p:grpSpPr>
        <p:sp>
          <p:nvSpPr>
            <p:cNvPr id="3" name="Google Shape;9622;p79">
              <a:extLst>
                <a:ext uri="{FF2B5EF4-FFF2-40B4-BE49-F238E27FC236}">
                  <a16:creationId xmlns:a16="http://schemas.microsoft.com/office/drawing/2014/main" id="{FFC31843-B2C0-4BC2-2C55-3B965D22E23A}"/>
                </a:ext>
              </a:extLst>
            </p:cNvPr>
            <p:cNvSpPr/>
            <p:nvPr/>
          </p:nvSpPr>
          <p:spPr>
            <a:xfrm>
              <a:off x="4556678" y="3188901"/>
              <a:ext cx="464225" cy="584393"/>
            </a:xfrm>
            <a:custGeom>
              <a:avLst/>
              <a:gdLst/>
              <a:ahLst/>
              <a:cxnLst/>
              <a:rect l="l" t="t" r="r" b="b"/>
              <a:pathLst>
                <a:path w="464225" h="584393" extrusionOk="0">
                  <a:moveTo>
                    <a:pt x="456636" y="584393"/>
                  </a:moveTo>
                  <a:lnTo>
                    <a:pt x="7590" y="584393"/>
                  </a:lnTo>
                  <a:cubicBezTo>
                    <a:pt x="3162" y="584393"/>
                    <a:pt x="0" y="580598"/>
                    <a:pt x="0" y="576804"/>
                  </a:cubicBezTo>
                  <a:lnTo>
                    <a:pt x="0" y="7590"/>
                  </a:lnTo>
                  <a:cubicBezTo>
                    <a:pt x="0" y="3162"/>
                    <a:pt x="3795" y="0"/>
                    <a:pt x="7590" y="0"/>
                  </a:cubicBezTo>
                  <a:lnTo>
                    <a:pt x="266898" y="0"/>
                  </a:lnTo>
                  <a:cubicBezTo>
                    <a:pt x="268795" y="0"/>
                    <a:pt x="271325" y="632"/>
                    <a:pt x="272590" y="2530"/>
                  </a:cubicBezTo>
                  <a:lnTo>
                    <a:pt x="461696" y="192268"/>
                  </a:lnTo>
                  <a:cubicBezTo>
                    <a:pt x="462961" y="193533"/>
                    <a:pt x="464226" y="196063"/>
                    <a:pt x="464226" y="197960"/>
                  </a:cubicBezTo>
                  <a:lnTo>
                    <a:pt x="464226" y="577436"/>
                  </a:lnTo>
                  <a:cubicBezTo>
                    <a:pt x="464226" y="581231"/>
                    <a:pt x="461063" y="584393"/>
                    <a:pt x="456636" y="584393"/>
                  </a:cubicBezTo>
                  <a:close/>
                  <a:moveTo>
                    <a:pt x="15812" y="568582"/>
                  </a:moveTo>
                  <a:lnTo>
                    <a:pt x="448414" y="568582"/>
                  </a:lnTo>
                  <a:lnTo>
                    <a:pt x="448414" y="200490"/>
                  </a:lnTo>
                  <a:lnTo>
                    <a:pt x="263736" y="15179"/>
                  </a:lnTo>
                  <a:lnTo>
                    <a:pt x="15812" y="15179"/>
                  </a:lnTo>
                  <a:lnTo>
                    <a:pt x="15812" y="568582"/>
                  </a:lnTo>
                  <a:close/>
                </a:path>
              </a:pathLst>
            </a:custGeom>
            <a:grp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4" name="Google Shape;9623;p79">
              <a:extLst>
                <a:ext uri="{FF2B5EF4-FFF2-40B4-BE49-F238E27FC236}">
                  <a16:creationId xmlns:a16="http://schemas.microsoft.com/office/drawing/2014/main" id="{F2F0F0DA-EC0D-14AC-E13C-F918C969B8D6}"/>
                </a:ext>
              </a:extLst>
            </p:cNvPr>
            <p:cNvSpPr/>
            <p:nvPr/>
          </p:nvSpPr>
          <p:spPr>
            <a:xfrm>
              <a:off x="4815987" y="3188269"/>
              <a:ext cx="206181" cy="205549"/>
            </a:xfrm>
            <a:custGeom>
              <a:avLst/>
              <a:gdLst/>
              <a:ahLst/>
              <a:cxnLst/>
              <a:rect l="l" t="t" r="r" b="b"/>
              <a:pathLst>
                <a:path w="206181" h="205549" extrusionOk="0">
                  <a:moveTo>
                    <a:pt x="197328" y="205550"/>
                  </a:moveTo>
                  <a:lnTo>
                    <a:pt x="7590" y="205550"/>
                  </a:lnTo>
                  <a:cubicBezTo>
                    <a:pt x="3162" y="205550"/>
                    <a:pt x="0" y="201755"/>
                    <a:pt x="0" y="197960"/>
                  </a:cubicBezTo>
                  <a:lnTo>
                    <a:pt x="0" y="8222"/>
                  </a:lnTo>
                  <a:cubicBezTo>
                    <a:pt x="0" y="5060"/>
                    <a:pt x="1897" y="1897"/>
                    <a:pt x="5060" y="632"/>
                  </a:cubicBezTo>
                  <a:cubicBezTo>
                    <a:pt x="8222" y="-632"/>
                    <a:pt x="11384" y="0"/>
                    <a:pt x="13914" y="2530"/>
                  </a:cubicBezTo>
                  <a:lnTo>
                    <a:pt x="203652" y="192268"/>
                  </a:lnTo>
                  <a:cubicBezTo>
                    <a:pt x="206182" y="194798"/>
                    <a:pt x="206814" y="197960"/>
                    <a:pt x="205550" y="201122"/>
                  </a:cubicBezTo>
                  <a:cubicBezTo>
                    <a:pt x="204285" y="204285"/>
                    <a:pt x="200490" y="205550"/>
                    <a:pt x="197328" y="205550"/>
                  </a:cubicBezTo>
                  <a:close/>
                  <a:moveTo>
                    <a:pt x="15812" y="189738"/>
                  </a:moveTo>
                  <a:lnTo>
                    <a:pt x="178354" y="189738"/>
                  </a:lnTo>
                  <a:lnTo>
                    <a:pt x="15812" y="27196"/>
                  </a:lnTo>
                  <a:lnTo>
                    <a:pt x="15812" y="189738"/>
                  </a:lnTo>
                  <a:close/>
                </a:path>
              </a:pathLst>
            </a:custGeom>
            <a:grp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pic>
        <p:nvPicPr>
          <p:cNvPr id="21" name="Google Shape;9090;p77" descr="API&#10;">
            <a:extLst>
              <a:ext uri="{FF2B5EF4-FFF2-40B4-BE49-F238E27FC236}">
                <a16:creationId xmlns:a16="http://schemas.microsoft.com/office/drawing/2014/main" id="{B971BA92-AD7C-5628-896E-495657C725E4}"/>
              </a:ext>
            </a:extLst>
          </p:cNvPr>
          <p:cNvPicPr preferRelativeResize="0">
            <a:picLocks/>
          </p:cNvPicPr>
          <p:nvPr/>
        </p:nvPicPr>
        <p:blipFill rotWithShape="1">
          <a:blip r:embed="rId3">
            <a:alphaModFix/>
          </a:blip>
          <a:srcRect/>
          <a:stretch/>
        </p:blipFill>
        <p:spPr>
          <a:xfrm>
            <a:off x="6798238" y="1681488"/>
            <a:ext cx="1061711" cy="1061711"/>
          </a:xfrm>
          <a:prstGeom prst="rect">
            <a:avLst/>
          </a:prstGeom>
          <a:solidFill>
            <a:schemeClr val="lt1"/>
          </a:solidFill>
          <a:ln>
            <a:noFill/>
          </a:ln>
        </p:spPr>
      </p:pic>
      <p:grpSp>
        <p:nvGrpSpPr>
          <p:cNvPr id="22" name="Google Shape;10138;p81" descr="Defense Secure&#10;">
            <a:extLst>
              <a:ext uri="{FF2B5EF4-FFF2-40B4-BE49-F238E27FC236}">
                <a16:creationId xmlns:a16="http://schemas.microsoft.com/office/drawing/2014/main" id="{810A568F-492B-EFF8-E006-E69112CC26A0}"/>
              </a:ext>
            </a:extLst>
          </p:cNvPr>
          <p:cNvGrpSpPr/>
          <p:nvPr/>
        </p:nvGrpSpPr>
        <p:grpSpPr>
          <a:xfrm>
            <a:off x="4457295" y="4122583"/>
            <a:ext cx="801394" cy="943578"/>
            <a:chOff x="9808294" y="719639"/>
            <a:chExt cx="509762" cy="600204"/>
          </a:xfrm>
        </p:grpSpPr>
        <p:sp>
          <p:nvSpPr>
            <p:cNvPr id="23" name="Google Shape;10139;p81">
              <a:extLst>
                <a:ext uri="{FF2B5EF4-FFF2-40B4-BE49-F238E27FC236}">
                  <a16:creationId xmlns:a16="http://schemas.microsoft.com/office/drawing/2014/main" id="{15FCC05C-6DE9-6262-C657-9BBD2D5D0F8A}"/>
                </a:ext>
              </a:extLst>
            </p:cNvPr>
            <p:cNvSpPr/>
            <p:nvPr/>
          </p:nvSpPr>
          <p:spPr>
            <a:xfrm>
              <a:off x="9970836" y="882814"/>
              <a:ext cx="184678" cy="274487"/>
            </a:xfrm>
            <a:custGeom>
              <a:avLst/>
              <a:gdLst/>
              <a:ahLst/>
              <a:cxnLst/>
              <a:rect l="l" t="t" r="r" b="b"/>
              <a:pathLst>
                <a:path w="184678" h="274487" extrusionOk="0">
                  <a:moveTo>
                    <a:pt x="146731" y="107518"/>
                  </a:moveTo>
                  <a:lnTo>
                    <a:pt x="146731" y="55024"/>
                  </a:lnTo>
                  <a:cubicBezTo>
                    <a:pt x="146731" y="24666"/>
                    <a:pt x="124595" y="0"/>
                    <a:pt x="96766" y="0"/>
                  </a:cubicBezTo>
                  <a:lnTo>
                    <a:pt x="88544" y="0"/>
                  </a:lnTo>
                  <a:cubicBezTo>
                    <a:pt x="61349" y="0"/>
                    <a:pt x="38580" y="24666"/>
                    <a:pt x="38580" y="55024"/>
                  </a:cubicBezTo>
                  <a:lnTo>
                    <a:pt x="38580" y="107518"/>
                  </a:lnTo>
                  <a:cubicBezTo>
                    <a:pt x="15179" y="124595"/>
                    <a:pt x="0" y="151790"/>
                    <a:pt x="0" y="182148"/>
                  </a:cubicBezTo>
                  <a:cubicBezTo>
                    <a:pt x="0" y="233378"/>
                    <a:pt x="41110" y="274488"/>
                    <a:pt x="92339" y="274488"/>
                  </a:cubicBezTo>
                  <a:cubicBezTo>
                    <a:pt x="143568" y="274488"/>
                    <a:pt x="184678" y="233378"/>
                    <a:pt x="184678" y="182148"/>
                  </a:cubicBezTo>
                  <a:cubicBezTo>
                    <a:pt x="184678" y="151158"/>
                    <a:pt x="169499" y="123962"/>
                    <a:pt x="146731" y="107518"/>
                  </a:cubicBezTo>
                  <a:close/>
                  <a:moveTo>
                    <a:pt x="53759" y="55024"/>
                  </a:moveTo>
                  <a:cubicBezTo>
                    <a:pt x="53759" y="33520"/>
                    <a:pt x="68938" y="15812"/>
                    <a:pt x="87912" y="15812"/>
                  </a:cubicBezTo>
                  <a:lnTo>
                    <a:pt x="96134" y="15812"/>
                  </a:lnTo>
                  <a:cubicBezTo>
                    <a:pt x="115108" y="15812"/>
                    <a:pt x="130287" y="33520"/>
                    <a:pt x="130287" y="55024"/>
                  </a:cubicBezTo>
                  <a:lnTo>
                    <a:pt x="130287" y="98031"/>
                  </a:lnTo>
                  <a:cubicBezTo>
                    <a:pt x="118902" y="92972"/>
                    <a:pt x="105621" y="89809"/>
                    <a:pt x="91707" y="89809"/>
                  </a:cubicBezTo>
                  <a:cubicBezTo>
                    <a:pt x="77793" y="89809"/>
                    <a:pt x="65143" y="92972"/>
                    <a:pt x="53127" y="98031"/>
                  </a:cubicBezTo>
                  <a:lnTo>
                    <a:pt x="53127" y="55024"/>
                  </a:lnTo>
                  <a:close/>
                  <a:moveTo>
                    <a:pt x="92339" y="258676"/>
                  </a:moveTo>
                  <a:cubicBezTo>
                    <a:pt x="49964" y="258676"/>
                    <a:pt x="15812" y="224523"/>
                    <a:pt x="15812" y="182148"/>
                  </a:cubicBezTo>
                  <a:cubicBezTo>
                    <a:pt x="15812" y="139774"/>
                    <a:pt x="49964" y="105621"/>
                    <a:pt x="92339" y="105621"/>
                  </a:cubicBezTo>
                  <a:cubicBezTo>
                    <a:pt x="134714" y="105621"/>
                    <a:pt x="168867" y="139774"/>
                    <a:pt x="168867" y="182148"/>
                  </a:cubicBezTo>
                  <a:cubicBezTo>
                    <a:pt x="168867" y="224523"/>
                    <a:pt x="134714" y="258676"/>
                    <a:pt x="92339" y="25867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4" name="Google Shape;10140;p81">
              <a:extLst>
                <a:ext uri="{FF2B5EF4-FFF2-40B4-BE49-F238E27FC236}">
                  <a16:creationId xmlns:a16="http://schemas.microsoft.com/office/drawing/2014/main" id="{D9DD51F3-2DEC-EBD2-3AC8-1B40CBCF17AD}"/>
                </a:ext>
              </a:extLst>
            </p:cNvPr>
            <p:cNvSpPr/>
            <p:nvPr/>
          </p:nvSpPr>
          <p:spPr>
            <a:xfrm>
              <a:off x="10047996" y="1040929"/>
              <a:ext cx="29765" cy="48066"/>
            </a:xfrm>
            <a:custGeom>
              <a:avLst/>
              <a:gdLst/>
              <a:ahLst/>
              <a:cxnLst/>
              <a:rect l="l" t="t" r="r" b="b"/>
              <a:pathLst>
                <a:path w="29765" h="48066" extrusionOk="0">
                  <a:moveTo>
                    <a:pt x="15179" y="0"/>
                  </a:moveTo>
                  <a:cubicBezTo>
                    <a:pt x="6957" y="0"/>
                    <a:pt x="0" y="6957"/>
                    <a:pt x="0" y="15179"/>
                  </a:cubicBezTo>
                  <a:cubicBezTo>
                    <a:pt x="0" y="20871"/>
                    <a:pt x="3162" y="25931"/>
                    <a:pt x="7590" y="28461"/>
                  </a:cubicBezTo>
                  <a:lnTo>
                    <a:pt x="7590" y="44272"/>
                  </a:lnTo>
                  <a:cubicBezTo>
                    <a:pt x="7590" y="46802"/>
                    <a:pt x="9487" y="48067"/>
                    <a:pt x="11384" y="48067"/>
                  </a:cubicBezTo>
                  <a:lnTo>
                    <a:pt x="18341" y="48067"/>
                  </a:lnTo>
                  <a:cubicBezTo>
                    <a:pt x="20871" y="48067"/>
                    <a:pt x="22136" y="46170"/>
                    <a:pt x="22136" y="44272"/>
                  </a:cubicBezTo>
                  <a:lnTo>
                    <a:pt x="22136" y="28461"/>
                  </a:lnTo>
                  <a:cubicBezTo>
                    <a:pt x="26563" y="25931"/>
                    <a:pt x="29726" y="20871"/>
                    <a:pt x="29726" y="15179"/>
                  </a:cubicBezTo>
                  <a:cubicBezTo>
                    <a:pt x="30358" y="6957"/>
                    <a:pt x="23401" y="0"/>
                    <a:pt x="15179" y="0"/>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 name="Google Shape;10141;p81">
              <a:extLst>
                <a:ext uri="{FF2B5EF4-FFF2-40B4-BE49-F238E27FC236}">
                  <a16:creationId xmlns:a16="http://schemas.microsoft.com/office/drawing/2014/main" id="{C2D127AF-EEA2-B369-2D07-4395DEFF3DE6}"/>
                </a:ext>
              </a:extLst>
            </p:cNvPr>
            <p:cNvSpPr/>
            <p:nvPr/>
          </p:nvSpPr>
          <p:spPr>
            <a:xfrm>
              <a:off x="9808294" y="719639"/>
              <a:ext cx="509762" cy="600204"/>
            </a:xfrm>
            <a:custGeom>
              <a:avLst/>
              <a:gdLst/>
              <a:ahLst/>
              <a:cxnLst/>
              <a:rect l="l" t="t" r="r" b="b"/>
              <a:pathLst>
                <a:path w="509762" h="600204" extrusionOk="0">
                  <a:moveTo>
                    <a:pt x="254881" y="600205"/>
                  </a:moveTo>
                  <a:lnTo>
                    <a:pt x="246027" y="597042"/>
                  </a:lnTo>
                  <a:cubicBezTo>
                    <a:pt x="235908" y="593248"/>
                    <a:pt x="0" y="500908"/>
                    <a:pt x="0" y="264368"/>
                  </a:cubicBezTo>
                  <a:lnTo>
                    <a:pt x="0" y="111313"/>
                  </a:lnTo>
                  <a:lnTo>
                    <a:pt x="18974" y="106253"/>
                  </a:lnTo>
                  <a:cubicBezTo>
                    <a:pt x="58186" y="95501"/>
                    <a:pt x="97399" y="82220"/>
                    <a:pt x="134714" y="65143"/>
                  </a:cubicBezTo>
                  <a:cubicBezTo>
                    <a:pt x="171397" y="49332"/>
                    <a:pt x="207447" y="30358"/>
                    <a:pt x="240967" y="8854"/>
                  </a:cubicBezTo>
                  <a:lnTo>
                    <a:pt x="254881" y="0"/>
                  </a:lnTo>
                  <a:lnTo>
                    <a:pt x="268796" y="8854"/>
                  </a:lnTo>
                  <a:cubicBezTo>
                    <a:pt x="302948" y="30358"/>
                    <a:pt x="338366" y="49332"/>
                    <a:pt x="375049" y="65143"/>
                  </a:cubicBezTo>
                  <a:cubicBezTo>
                    <a:pt x="412364" y="81587"/>
                    <a:pt x="450944" y="95501"/>
                    <a:pt x="490789" y="106253"/>
                  </a:cubicBezTo>
                  <a:lnTo>
                    <a:pt x="509763" y="111313"/>
                  </a:lnTo>
                  <a:lnTo>
                    <a:pt x="509763" y="264368"/>
                  </a:lnTo>
                  <a:cubicBezTo>
                    <a:pt x="509763" y="496481"/>
                    <a:pt x="289667" y="587555"/>
                    <a:pt x="263103" y="597042"/>
                  </a:cubicBezTo>
                  <a:lnTo>
                    <a:pt x="263103" y="597675"/>
                  </a:lnTo>
                  <a:lnTo>
                    <a:pt x="254881" y="600205"/>
                  </a:lnTo>
                  <a:close/>
                  <a:moveTo>
                    <a:pt x="15812" y="123330"/>
                  </a:moveTo>
                  <a:lnTo>
                    <a:pt x="15812" y="264368"/>
                  </a:lnTo>
                  <a:cubicBezTo>
                    <a:pt x="15812" y="490789"/>
                    <a:pt x="242232" y="578701"/>
                    <a:pt x="251719" y="582496"/>
                  </a:cubicBezTo>
                  <a:lnTo>
                    <a:pt x="254881" y="583761"/>
                  </a:lnTo>
                  <a:lnTo>
                    <a:pt x="259941" y="581863"/>
                  </a:lnTo>
                  <a:cubicBezTo>
                    <a:pt x="273855" y="576804"/>
                    <a:pt x="493951" y="488259"/>
                    <a:pt x="493951" y="264368"/>
                  </a:cubicBezTo>
                  <a:lnTo>
                    <a:pt x="493951" y="123330"/>
                  </a:lnTo>
                  <a:lnTo>
                    <a:pt x="486362" y="121432"/>
                  </a:lnTo>
                  <a:cubicBezTo>
                    <a:pt x="446517" y="110681"/>
                    <a:pt x="406672" y="96766"/>
                    <a:pt x="368724" y="79690"/>
                  </a:cubicBezTo>
                  <a:cubicBezTo>
                    <a:pt x="331409" y="63246"/>
                    <a:pt x="294726" y="44272"/>
                    <a:pt x="260574" y="22769"/>
                  </a:cubicBezTo>
                  <a:lnTo>
                    <a:pt x="254881" y="18974"/>
                  </a:lnTo>
                  <a:lnTo>
                    <a:pt x="249822" y="22136"/>
                  </a:lnTo>
                  <a:cubicBezTo>
                    <a:pt x="215036" y="43640"/>
                    <a:pt x="178986" y="63246"/>
                    <a:pt x="141671" y="79690"/>
                  </a:cubicBezTo>
                  <a:cubicBezTo>
                    <a:pt x="103723" y="96766"/>
                    <a:pt x="63878" y="110681"/>
                    <a:pt x="23401" y="121432"/>
                  </a:cubicBezTo>
                  <a:lnTo>
                    <a:pt x="15812" y="123330"/>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5" name="Group 4">
            <a:extLst>
              <a:ext uri="{FF2B5EF4-FFF2-40B4-BE49-F238E27FC236}">
                <a16:creationId xmlns:a16="http://schemas.microsoft.com/office/drawing/2014/main" id="{25D04DB0-0F05-4166-F457-CEDFBD10D106}"/>
              </a:ext>
            </a:extLst>
          </p:cNvPr>
          <p:cNvGrpSpPr/>
          <p:nvPr/>
        </p:nvGrpSpPr>
        <p:grpSpPr>
          <a:xfrm>
            <a:off x="6793501" y="4214691"/>
            <a:ext cx="1066448" cy="603338"/>
            <a:chOff x="6793501" y="4214691"/>
            <a:chExt cx="1066448" cy="603338"/>
          </a:xfrm>
        </p:grpSpPr>
        <p:grpSp>
          <p:nvGrpSpPr>
            <p:cNvPr id="27" name="Google Shape;6309;p69" descr="Laptop">
              <a:extLst>
                <a:ext uri="{FF2B5EF4-FFF2-40B4-BE49-F238E27FC236}">
                  <a16:creationId xmlns:a16="http://schemas.microsoft.com/office/drawing/2014/main" id="{7E2FC3D1-11A2-894C-855B-C0ECFF6936A4}"/>
                </a:ext>
              </a:extLst>
            </p:cNvPr>
            <p:cNvGrpSpPr/>
            <p:nvPr/>
          </p:nvGrpSpPr>
          <p:grpSpPr>
            <a:xfrm>
              <a:off x="6793501" y="4214691"/>
              <a:ext cx="1066448" cy="603338"/>
              <a:chOff x="4486845" y="852645"/>
              <a:chExt cx="599655" cy="339252"/>
            </a:xfrm>
          </p:grpSpPr>
          <p:sp>
            <p:nvSpPr>
              <p:cNvPr id="28" name="Google Shape;6310;p69">
                <a:extLst>
                  <a:ext uri="{FF2B5EF4-FFF2-40B4-BE49-F238E27FC236}">
                    <a16:creationId xmlns:a16="http://schemas.microsoft.com/office/drawing/2014/main" id="{8A9F92BA-EF26-70ED-DF07-C0D047D43CD0}"/>
                  </a:ext>
                </a:extLst>
              </p:cNvPr>
              <p:cNvSpPr/>
              <p:nvPr/>
            </p:nvSpPr>
            <p:spPr>
              <a:xfrm>
                <a:off x="4534416" y="852645"/>
                <a:ext cx="504829" cy="260573"/>
              </a:xfrm>
              <a:custGeom>
                <a:avLst/>
                <a:gdLst/>
                <a:ahLst/>
                <a:cxnLst/>
                <a:rect l="l" t="t" r="r" b="b"/>
                <a:pathLst>
                  <a:path w="504829" h="260573" extrusionOk="0">
                    <a:moveTo>
                      <a:pt x="15812" y="24034"/>
                    </a:moveTo>
                    <a:cubicBezTo>
                      <a:pt x="15846" y="19507"/>
                      <a:pt x="19507" y="15846"/>
                      <a:pt x="24033" y="15812"/>
                    </a:cubicBezTo>
                    <a:lnTo>
                      <a:pt x="480543" y="15812"/>
                    </a:lnTo>
                    <a:cubicBezTo>
                      <a:pt x="485118" y="15707"/>
                      <a:pt x="488911" y="19330"/>
                      <a:pt x="489016" y="23904"/>
                    </a:cubicBezTo>
                    <a:cubicBezTo>
                      <a:pt x="489017" y="23947"/>
                      <a:pt x="489018" y="23990"/>
                      <a:pt x="489018" y="24034"/>
                    </a:cubicBezTo>
                    <a:lnTo>
                      <a:pt x="489018" y="260574"/>
                    </a:lnTo>
                    <a:lnTo>
                      <a:pt x="504830" y="260574"/>
                    </a:lnTo>
                    <a:lnTo>
                      <a:pt x="504830" y="24034"/>
                    </a:lnTo>
                    <a:cubicBezTo>
                      <a:pt x="504795" y="10750"/>
                      <a:pt x="494016" y="0"/>
                      <a:pt x="480733" y="0"/>
                    </a:cubicBezTo>
                    <a:lnTo>
                      <a:pt x="24033" y="0"/>
                    </a:lnTo>
                    <a:cubicBezTo>
                      <a:pt x="10760" y="0"/>
                      <a:pt x="0" y="10760"/>
                      <a:pt x="0" y="24034"/>
                    </a:cubicBezTo>
                    <a:lnTo>
                      <a:pt x="0" y="260574"/>
                    </a:lnTo>
                    <a:lnTo>
                      <a:pt x="15812" y="260574"/>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9" name="Google Shape;6311;p69">
                <a:extLst>
                  <a:ext uri="{FF2B5EF4-FFF2-40B4-BE49-F238E27FC236}">
                    <a16:creationId xmlns:a16="http://schemas.microsoft.com/office/drawing/2014/main" id="{CA9F5257-29F8-E71C-CAC1-BA08EDA80587}"/>
                  </a:ext>
                </a:extLst>
              </p:cNvPr>
              <p:cNvSpPr/>
              <p:nvPr/>
            </p:nvSpPr>
            <p:spPr>
              <a:xfrm>
                <a:off x="4486845" y="1128841"/>
                <a:ext cx="599655" cy="63056"/>
              </a:xfrm>
              <a:custGeom>
                <a:avLst/>
                <a:gdLst/>
                <a:ahLst/>
                <a:cxnLst/>
                <a:rect l="l" t="t" r="r" b="b"/>
                <a:pathLst>
                  <a:path w="599655" h="63056" extrusionOk="0">
                    <a:moveTo>
                      <a:pt x="586364" y="190"/>
                    </a:moveTo>
                    <a:lnTo>
                      <a:pt x="378474" y="190"/>
                    </a:lnTo>
                    <a:lnTo>
                      <a:pt x="365825" y="10689"/>
                    </a:lnTo>
                    <a:cubicBezTo>
                      <a:pt x="361884" y="14660"/>
                      <a:pt x="356323" y="16576"/>
                      <a:pt x="350772" y="15875"/>
                    </a:cubicBezTo>
                    <a:lnTo>
                      <a:pt x="259571" y="15875"/>
                    </a:lnTo>
                    <a:lnTo>
                      <a:pt x="252172" y="15875"/>
                    </a:lnTo>
                    <a:cubicBezTo>
                      <a:pt x="247448" y="16276"/>
                      <a:pt x="242777" y="14643"/>
                      <a:pt x="239333" y="11384"/>
                    </a:cubicBezTo>
                    <a:lnTo>
                      <a:pt x="224407" y="0"/>
                    </a:lnTo>
                    <a:lnTo>
                      <a:pt x="13292" y="0"/>
                    </a:lnTo>
                    <a:cubicBezTo>
                      <a:pt x="5665" y="309"/>
                      <a:pt x="-275" y="6729"/>
                      <a:pt x="10" y="14357"/>
                    </a:cubicBezTo>
                    <a:lnTo>
                      <a:pt x="10" y="48763"/>
                    </a:lnTo>
                    <a:cubicBezTo>
                      <a:pt x="-275" y="56372"/>
                      <a:pt x="5663" y="62771"/>
                      <a:pt x="13273" y="63056"/>
                    </a:cubicBezTo>
                    <a:cubicBezTo>
                      <a:pt x="13279" y="63056"/>
                      <a:pt x="13285" y="63056"/>
                      <a:pt x="13292" y="63056"/>
                    </a:cubicBezTo>
                    <a:lnTo>
                      <a:pt x="586364" y="63056"/>
                    </a:lnTo>
                    <a:cubicBezTo>
                      <a:pt x="593972" y="62782"/>
                      <a:pt x="599917" y="56391"/>
                      <a:pt x="599645" y="48781"/>
                    </a:cubicBezTo>
                    <a:cubicBezTo>
                      <a:pt x="599645" y="48775"/>
                      <a:pt x="599645" y="48769"/>
                      <a:pt x="599645" y="48763"/>
                    </a:cubicBezTo>
                    <a:lnTo>
                      <a:pt x="599645" y="14547"/>
                    </a:lnTo>
                    <a:cubicBezTo>
                      <a:pt x="599930" y="6919"/>
                      <a:pt x="593991" y="498"/>
                      <a:pt x="586364" y="190"/>
                    </a:cubicBezTo>
                    <a:close/>
                    <a:moveTo>
                      <a:pt x="583834" y="47435"/>
                    </a:moveTo>
                    <a:lnTo>
                      <a:pt x="15821" y="47435"/>
                    </a:lnTo>
                    <a:lnTo>
                      <a:pt x="15821" y="15812"/>
                    </a:lnTo>
                    <a:lnTo>
                      <a:pt x="218841" y="15812"/>
                    </a:lnTo>
                    <a:lnTo>
                      <a:pt x="228644" y="23275"/>
                    </a:lnTo>
                    <a:cubicBezTo>
                      <a:pt x="235003" y="29064"/>
                      <a:pt x="243390" y="32109"/>
                      <a:pt x="251982" y="31750"/>
                    </a:cubicBezTo>
                    <a:lnTo>
                      <a:pt x="350456" y="31750"/>
                    </a:lnTo>
                    <a:cubicBezTo>
                      <a:pt x="360040" y="32395"/>
                      <a:pt x="369453" y="28974"/>
                      <a:pt x="376387" y="22326"/>
                    </a:cubicBezTo>
                    <a:lnTo>
                      <a:pt x="384103" y="16001"/>
                    </a:lnTo>
                    <a:lnTo>
                      <a:pt x="583834" y="16001"/>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30" name="Rectangle 29">
              <a:extLst>
                <a:ext uri="{FF2B5EF4-FFF2-40B4-BE49-F238E27FC236}">
                  <a16:creationId xmlns:a16="http://schemas.microsoft.com/office/drawing/2014/main" id="{D29AAA4E-CDDE-A512-16E6-1CBFF74E5C1B}"/>
                </a:ext>
              </a:extLst>
            </p:cNvPr>
            <p:cNvSpPr/>
            <p:nvPr/>
          </p:nvSpPr>
          <p:spPr>
            <a:xfrm>
              <a:off x="6990945" y="4325566"/>
              <a:ext cx="693906" cy="352537"/>
            </a:xfrm>
            <a:prstGeom prst="rect">
              <a:avLst/>
            </a:prstGeom>
            <a:solidFill>
              <a:schemeClr val="accent2">
                <a:alpha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0" i="0" u="none" strike="noStrike" kern="0" cap="none" spc="0" normalizeH="0" baseline="0" noProof="0" dirty="0">
                  <a:ln>
                    <a:noFill/>
                  </a:ln>
                  <a:solidFill>
                    <a:srgbClr val="005C8A"/>
                  </a:solidFill>
                  <a:effectLst/>
                  <a:uLnTx/>
                  <a:uFillTx/>
                  <a:latin typeface="Cascadia Code" panose="020B0609020000020004" pitchFamily="34" charset="0"/>
                  <a:ea typeface="Cascadia Code" panose="020B0609020000020004" pitchFamily="34" charset="0"/>
                  <a:cs typeface="Cascadia Code" panose="020B0609020000020004" pitchFamily="34" charset="0"/>
                  <a:sym typeface="Arial"/>
                </a:rPr>
                <a:t>$ _</a:t>
              </a:r>
            </a:p>
          </p:txBody>
        </p:sp>
      </p:grpSp>
      <p:sp>
        <p:nvSpPr>
          <p:cNvPr id="6" name="Google Shape;2088;p7" descr="Plum flag with white text">
            <a:extLst>
              <a:ext uri="{FF2B5EF4-FFF2-40B4-BE49-F238E27FC236}">
                <a16:creationId xmlns:a16="http://schemas.microsoft.com/office/drawing/2014/main" id="{91815019-04B9-5A85-B5BB-8E3C6FB974E2}"/>
              </a:ext>
            </a:extLst>
          </p:cNvPr>
          <p:cNvSpPr/>
          <p:nvPr/>
        </p:nvSpPr>
        <p:spPr>
          <a:xfrm flipH="1">
            <a:off x="10022185" y="346101"/>
            <a:ext cx="2808779" cy="463719"/>
          </a:xfrm>
          <a:prstGeom prst="trapezoid">
            <a:avLst>
              <a:gd name="adj" fmla="val 100000"/>
            </a:avLst>
          </a:prstGeom>
          <a:solidFill>
            <a:schemeClr val="accent2"/>
          </a:solidFill>
          <a:ln>
            <a:noFill/>
          </a:ln>
        </p:spPr>
        <p:txBody>
          <a:bodyPr spcFirstLastPara="1" wrap="square" lIns="274300" tIns="45700" rIns="548625" bIns="91425" anchor="ctr" anchorCtr="0">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0" i="0" u="none" strike="noStrike" kern="0" cap="none" spc="0" normalizeH="0" baseline="0" noProof="0" dirty="0">
                <a:ln>
                  <a:noFill/>
                </a:ln>
                <a:solidFill>
                  <a:srgbClr val="FFFFFF"/>
                </a:solidFill>
                <a:effectLst/>
                <a:uLnTx/>
                <a:uFillTx/>
                <a:latin typeface="Arial"/>
                <a:ea typeface="Arial"/>
                <a:cs typeface="Arial"/>
                <a:sym typeface="Arial"/>
              </a:rPr>
              <a:t>VCF 9.1</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2094;p8">
            <a:extLst>
              <a:ext uri="{FF2B5EF4-FFF2-40B4-BE49-F238E27FC236}">
                <a16:creationId xmlns:a16="http://schemas.microsoft.com/office/drawing/2014/main" id="{F4480293-DA28-CA67-B797-D0689FB791C3}"/>
              </a:ext>
            </a:extLst>
          </p:cNvPr>
          <p:cNvSpPr txBox="1">
            <a:spLocks/>
          </p:cNvSpPr>
          <p:nvPr/>
        </p:nvSpPr>
        <p:spPr>
          <a:xfrm>
            <a:off x="636884" y="1780451"/>
            <a:ext cx="5569513" cy="1085405"/>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666666"/>
              </a:buClr>
              <a:buSzPts val="3060"/>
              <a:buFont typeface="Arial"/>
              <a:buNone/>
              <a:tabLst/>
              <a:defRPr/>
            </a:pPr>
            <a:r>
              <a:rPr kumimoji="0" lang="en-US" sz="3400" b="0" i="0" u="none" strike="noStrike" kern="0" cap="none" spc="0" normalizeH="0" baseline="0" noProof="0" dirty="0">
                <a:ln>
                  <a:noFill/>
                </a:ln>
                <a:solidFill>
                  <a:srgbClr val="005C8A"/>
                </a:solidFill>
                <a:effectLst/>
                <a:uLnTx/>
                <a:uFillTx/>
                <a:latin typeface="Arial"/>
                <a:cs typeface="Arial"/>
                <a:sym typeface="Arial"/>
              </a:rPr>
              <a:t>Download the VCF OpenAPI Specifications</a:t>
            </a:r>
          </a:p>
        </p:txBody>
      </p:sp>
      <p:cxnSp>
        <p:nvCxnSpPr>
          <p:cNvPr id="4" name="Straight Connector 3">
            <a:extLst>
              <a:ext uri="{FF2B5EF4-FFF2-40B4-BE49-F238E27FC236}">
                <a16:creationId xmlns:a16="http://schemas.microsoft.com/office/drawing/2014/main" id="{E2BC7C3D-6D4F-6210-8348-C02AAA402586}"/>
              </a:ext>
            </a:extLst>
          </p:cNvPr>
          <p:cNvCxnSpPr>
            <a:cxnSpLocks/>
          </p:cNvCxnSpPr>
          <p:nvPr/>
        </p:nvCxnSpPr>
        <p:spPr>
          <a:xfrm flipV="1">
            <a:off x="3480286" y="3349368"/>
            <a:ext cx="0" cy="644879"/>
          </a:xfrm>
          <a:prstGeom prst="line">
            <a:avLst/>
          </a:prstGeom>
          <a:ln w="12700" cap="rnd">
            <a:gradFill>
              <a:gsLst>
                <a:gs pos="0">
                  <a:schemeClr val="bg1"/>
                </a:gs>
                <a:gs pos="72016">
                  <a:schemeClr val="bg1">
                    <a:lumMod val="75000"/>
                  </a:schemeClr>
                </a:gs>
                <a:gs pos="34000">
                  <a:schemeClr val="bg1">
                    <a:lumMod val="75000"/>
                  </a:schemeClr>
                </a:gs>
                <a:gs pos="100000">
                  <a:schemeClr val="bg1"/>
                </a:gs>
              </a:gsLst>
              <a:lin ang="5400000" scaled="1"/>
            </a:gradFill>
            <a:bevel/>
          </a:ln>
        </p:spPr>
        <p:style>
          <a:lnRef idx="1">
            <a:schemeClr val="dk1"/>
          </a:lnRef>
          <a:fillRef idx="0">
            <a:schemeClr val="dk1"/>
          </a:fillRef>
          <a:effectRef idx="0">
            <a:schemeClr val="dk1"/>
          </a:effectRef>
          <a:fontRef idx="minor">
            <a:schemeClr val="tx1"/>
          </a:fontRef>
        </p:style>
      </p:cxnSp>
      <p:grpSp>
        <p:nvGrpSpPr>
          <p:cNvPr id="5" name="Group 4">
            <a:extLst>
              <a:ext uri="{FF2B5EF4-FFF2-40B4-BE49-F238E27FC236}">
                <a16:creationId xmlns:a16="http://schemas.microsoft.com/office/drawing/2014/main" id="{4EE25C9D-DFD2-6C0E-2FDA-AE3EB2F42620}"/>
              </a:ext>
            </a:extLst>
          </p:cNvPr>
          <p:cNvGrpSpPr/>
          <p:nvPr/>
        </p:nvGrpSpPr>
        <p:grpSpPr>
          <a:xfrm>
            <a:off x="636884" y="3425185"/>
            <a:ext cx="2841227" cy="569061"/>
            <a:chOff x="636884" y="4037480"/>
            <a:chExt cx="2841227" cy="569061"/>
          </a:xfrm>
        </p:grpSpPr>
        <p:grpSp>
          <p:nvGrpSpPr>
            <p:cNvPr id="6" name="Graphic 5">
              <a:extLst>
                <a:ext uri="{FF2B5EF4-FFF2-40B4-BE49-F238E27FC236}">
                  <a16:creationId xmlns:a16="http://schemas.microsoft.com/office/drawing/2014/main" id="{A2C6C068-94C6-6DA9-41DB-64A7B51A2691}"/>
                </a:ext>
              </a:extLst>
            </p:cNvPr>
            <p:cNvGrpSpPr/>
            <p:nvPr/>
          </p:nvGrpSpPr>
          <p:grpSpPr>
            <a:xfrm>
              <a:off x="636884" y="4037480"/>
              <a:ext cx="493245" cy="493245"/>
              <a:chOff x="367621" y="4037480"/>
              <a:chExt cx="493245" cy="493245"/>
            </a:xfrm>
          </p:grpSpPr>
          <p:sp>
            <p:nvSpPr>
              <p:cNvPr id="10" name="Freeform 9">
                <a:extLst>
                  <a:ext uri="{FF2B5EF4-FFF2-40B4-BE49-F238E27FC236}">
                    <a16:creationId xmlns:a16="http://schemas.microsoft.com/office/drawing/2014/main" id="{5C6A7C4F-42A4-80C2-EE7B-19D66EEB0797}"/>
                  </a:ext>
                </a:extLst>
              </p:cNvPr>
              <p:cNvSpPr/>
              <p:nvPr/>
            </p:nvSpPr>
            <p:spPr>
              <a:xfrm>
                <a:off x="367621" y="4037480"/>
                <a:ext cx="493245" cy="493245"/>
              </a:xfrm>
              <a:custGeom>
                <a:avLst/>
                <a:gdLst>
                  <a:gd name="connsiteX0" fmla="*/ 452141 w 493245"/>
                  <a:gd name="connsiteY0" fmla="*/ 493245 h 493245"/>
                  <a:gd name="connsiteX1" fmla="*/ 41104 w 493245"/>
                  <a:gd name="connsiteY1" fmla="*/ 493245 h 493245"/>
                  <a:gd name="connsiteX2" fmla="*/ 0 w 493245"/>
                  <a:gd name="connsiteY2" fmla="*/ 452141 h 493245"/>
                  <a:gd name="connsiteX3" fmla="*/ 0 w 493245"/>
                  <a:gd name="connsiteY3" fmla="*/ 41104 h 493245"/>
                  <a:gd name="connsiteX4" fmla="*/ 41104 w 493245"/>
                  <a:gd name="connsiteY4" fmla="*/ 0 h 493245"/>
                  <a:gd name="connsiteX5" fmla="*/ 452141 w 493245"/>
                  <a:gd name="connsiteY5" fmla="*/ 0 h 493245"/>
                  <a:gd name="connsiteX6" fmla="*/ 493245 w 493245"/>
                  <a:gd name="connsiteY6" fmla="*/ 41104 h 493245"/>
                  <a:gd name="connsiteX7" fmla="*/ 493245 w 493245"/>
                  <a:gd name="connsiteY7" fmla="*/ 452141 h 493245"/>
                  <a:gd name="connsiteX8" fmla="*/ 452141 w 493245"/>
                  <a:gd name="connsiteY8" fmla="*/ 493245 h 493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245" h="493245">
                    <a:moveTo>
                      <a:pt x="452141" y="493245"/>
                    </a:moveTo>
                    <a:lnTo>
                      <a:pt x="41104" y="493245"/>
                    </a:lnTo>
                    <a:cubicBezTo>
                      <a:pt x="18360" y="493245"/>
                      <a:pt x="0" y="474885"/>
                      <a:pt x="0" y="452141"/>
                    </a:cubicBezTo>
                    <a:lnTo>
                      <a:pt x="0" y="41104"/>
                    </a:lnTo>
                    <a:cubicBezTo>
                      <a:pt x="0" y="18360"/>
                      <a:pt x="18360" y="0"/>
                      <a:pt x="41104" y="0"/>
                    </a:cubicBezTo>
                    <a:lnTo>
                      <a:pt x="452141" y="0"/>
                    </a:lnTo>
                    <a:cubicBezTo>
                      <a:pt x="474885" y="0"/>
                      <a:pt x="493245" y="18360"/>
                      <a:pt x="493245" y="41104"/>
                    </a:cubicBezTo>
                    <a:lnTo>
                      <a:pt x="493245" y="452141"/>
                    </a:lnTo>
                    <a:cubicBezTo>
                      <a:pt x="493245" y="474885"/>
                      <a:pt x="474885" y="493245"/>
                      <a:pt x="452141" y="493245"/>
                    </a:cubicBezTo>
                    <a:close/>
                  </a:path>
                </a:pathLst>
              </a:custGeom>
              <a:gradFill>
                <a:gsLst>
                  <a:gs pos="0">
                    <a:srgbClr val="005C8A"/>
                  </a:gs>
                  <a:gs pos="50000">
                    <a:srgbClr val="007AA8"/>
                  </a:gs>
                  <a:gs pos="100000">
                    <a:srgbClr val="0098C7"/>
                  </a:gs>
                </a:gsLst>
                <a:lin ang="18900000" scaled="1"/>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11" name="Freeform 10">
                <a:extLst>
                  <a:ext uri="{FF2B5EF4-FFF2-40B4-BE49-F238E27FC236}">
                    <a16:creationId xmlns:a16="http://schemas.microsoft.com/office/drawing/2014/main" id="{60DC6AC7-E1EC-6B27-E3D0-7DBA71FDEA66}"/>
                  </a:ext>
                </a:extLst>
              </p:cNvPr>
              <p:cNvSpPr/>
              <p:nvPr/>
            </p:nvSpPr>
            <p:spPr>
              <a:xfrm>
                <a:off x="675899" y="4236011"/>
                <a:ext cx="158523" cy="110706"/>
              </a:xfrm>
              <a:custGeom>
                <a:avLst/>
                <a:gdLst>
                  <a:gd name="connsiteX0" fmla="*/ 27539 w 158523"/>
                  <a:gd name="connsiteY0" fmla="*/ 97142 h 110706"/>
                  <a:gd name="connsiteX1" fmla="*/ 1370 w 158523"/>
                  <a:gd name="connsiteY1" fmla="*/ 21511 h 110706"/>
                  <a:gd name="connsiteX2" fmla="*/ 0 w 158523"/>
                  <a:gd name="connsiteY2" fmla="*/ 14112 h 110706"/>
                  <a:gd name="connsiteX3" fmla="*/ 14660 w 158523"/>
                  <a:gd name="connsiteY3" fmla="*/ 274 h 110706"/>
                  <a:gd name="connsiteX4" fmla="*/ 29457 w 158523"/>
                  <a:gd name="connsiteY4" fmla="*/ 12057 h 110706"/>
                  <a:gd name="connsiteX5" fmla="*/ 45899 w 158523"/>
                  <a:gd name="connsiteY5" fmla="*/ 66451 h 110706"/>
                  <a:gd name="connsiteX6" fmla="*/ 62752 w 158523"/>
                  <a:gd name="connsiteY6" fmla="*/ 12194 h 110706"/>
                  <a:gd name="connsiteX7" fmla="*/ 78371 w 158523"/>
                  <a:gd name="connsiteY7" fmla="*/ 0 h 110706"/>
                  <a:gd name="connsiteX8" fmla="*/ 80152 w 158523"/>
                  <a:gd name="connsiteY8" fmla="*/ 0 h 110706"/>
                  <a:gd name="connsiteX9" fmla="*/ 95771 w 158523"/>
                  <a:gd name="connsiteY9" fmla="*/ 12194 h 110706"/>
                  <a:gd name="connsiteX10" fmla="*/ 112761 w 158523"/>
                  <a:gd name="connsiteY10" fmla="*/ 66588 h 110706"/>
                  <a:gd name="connsiteX11" fmla="*/ 129614 w 158523"/>
                  <a:gd name="connsiteY11" fmla="*/ 11783 h 110706"/>
                  <a:gd name="connsiteX12" fmla="*/ 144274 w 158523"/>
                  <a:gd name="connsiteY12" fmla="*/ 137 h 110706"/>
                  <a:gd name="connsiteX13" fmla="*/ 158523 w 158523"/>
                  <a:gd name="connsiteY13" fmla="*/ 14112 h 110706"/>
                  <a:gd name="connsiteX14" fmla="*/ 157564 w 158523"/>
                  <a:gd name="connsiteY14" fmla="*/ 20278 h 110706"/>
                  <a:gd name="connsiteX15" fmla="*/ 130162 w 158523"/>
                  <a:gd name="connsiteY15" fmla="*/ 97142 h 110706"/>
                  <a:gd name="connsiteX16" fmla="*/ 113309 w 158523"/>
                  <a:gd name="connsiteY16" fmla="*/ 110706 h 110706"/>
                  <a:gd name="connsiteX17" fmla="*/ 112350 w 158523"/>
                  <a:gd name="connsiteY17" fmla="*/ 110706 h 110706"/>
                  <a:gd name="connsiteX18" fmla="*/ 95909 w 158523"/>
                  <a:gd name="connsiteY18" fmla="*/ 97690 h 110706"/>
                  <a:gd name="connsiteX19" fmla="*/ 78919 w 158523"/>
                  <a:gd name="connsiteY19" fmla="*/ 43707 h 110706"/>
                  <a:gd name="connsiteX20" fmla="*/ 61656 w 158523"/>
                  <a:gd name="connsiteY20" fmla="*/ 97690 h 110706"/>
                  <a:gd name="connsiteX21" fmla="*/ 45214 w 158523"/>
                  <a:gd name="connsiteY21" fmla="*/ 110706 h 110706"/>
                  <a:gd name="connsiteX22" fmla="*/ 44255 w 158523"/>
                  <a:gd name="connsiteY22" fmla="*/ 110706 h 110706"/>
                  <a:gd name="connsiteX23" fmla="*/ 27539 w 158523"/>
                  <a:gd name="connsiteY23" fmla="*/ 97142 h 110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8523" h="110706">
                    <a:moveTo>
                      <a:pt x="27539" y="97142"/>
                    </a:moveTo>
                    <a:lnTo>
                      <a:pt x="1370" y="21511"/>
                    </a:lnTo>
                    <a:cubicBezTo>
                      <a:pt x="822" y="19730"/>
                      <a:pt x="0" y="16715"/>
                      <a:pt x="0" y="14112"/>
                    </a:cubicBezTo>
                    <a:cubicBezTo>
                      <a:pt x="0" y="7125"/>
                      <a:pt x="5617" y="274"/>
                      <a:pt x="14660" y="274"/>
                    </a:cubicBezTo>
                    <a:cubicBezTo>
                      <a:pt x="22196" y="274"/>
                      <a:pt x="27265" y="5070"/>
                      <a:pt x="29457" y="12057"/>
                    </a:cubicBezTo>
                    <a:lnTo>
                      <a:pt x="45899" y="66451"/>
                    </a:lnTo>
                    <a:lnTo>
                      <a:pt x="62752" y="12194"/>
                    </a:lnTo>
                    <a:cubicBezTo>
                      <a:pt x="64944" y="4932"/>
                      <a:pt x="70562" y="0"/>
                      <a:pt x="78371" y="0"/>
                    </a:cubicBezTo>
                    <a:lnTo>
                      <a:pt x="80152" y="0"/>
                    </a:lnTo>
                    <a:cubicBezTo>
                      <a:pt x="87962" y="0"/>
                      <a:pt x="93579" y="5069"/>
                      <a:pt x="95771" y="12194"/>
                    </a:cubicBezTo>
                    <a:lnTo>
                      <a:pt x="112761" y="66588"/>
                    </a:lnTo>
                    <a:lnTo>
                      <a:pt x="129614" y="11783"/>
                    </a:lnTo>
                    <a:cubicBezTo>
                      <a:pt x="131669" y="5343"/>
                      <a:pt x="136191" y="137"/>
                      <a:pt x="144274" y="137"/>
                    </a:cubicBezTo>
                    <a:cubicBezTo>
                      <a:pt x="152632" y="137"/>
                      <a:pt x="158523" y="6576"/>
                      <a:pt x="158523" y="14112"/>
                    </a:cubicBezTo>
                    <a:cubicBezTo>
                      <a:pt x="158523" y="16167"/>
                      <a:pt x="157975" y="18908"/>
                      <a:pt x="157564" y="20278"/>
                    </a:cubicBezTo>
                    <a:lnTo>
                      <a:pt x="130162" y="97142"/>
                    </a:lnTo>
                    <a:cubicBezTo>
                      <a:pt x="127011" y="106596"/>
                      <a:pt x="120708" y="110706"/>
                      <a:pt x="113309" y="110706"/>
                    </a:cubicBezTo>
                    <a:lnTo>
                      <a:pt x="112350" y="110706"/>
                    </a:lnTo>
                    <a:cubicBezTo>
                      <a:pt x="104951" y="110706"/>
                      <a:pt x="98786" y="106459"/>
                      <a:pt x="95909" y="97690"/>
                    </a:cubicBezTo>
                    <a:lnTo>
                      <a:pt x="78919" y="43707"/>
                    </a:lnTo>
                    <a:lnTo>
                      <a:pt x="61656" y="97690"/>
                    </a:lnTo>
                    <a:cubicBezTo>
                      <a:pt x="58915" y="106459"/>
                      <a:pt x="52613" y="110706"/>
                      <a:pt x="45214" y="110706"/>
                    </a:cubicBezTo>
                    <a:lnTo>
                      <a:pt x="44255" y="110706"/>
                    </a:lnTo>
                    <a:cubicBezTo>
                      <a:pt x="36993" y="110706"/>
                      <a:pt x="30691" y="106459"/>
                      <a:pt x="27539" y="97142"/>
                    </a:cubicBezTo>
                    <a:close/>
                  </a:path>
                </a:pathLst>
              </a:custGeom>
              <a:solidFill>
                <a:srgbClr val="FFFFFF"/>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12" name="Freeform 11">
                <a:extLst>
                  <a:ext uri="{FF2B5EF4-FFF2-40B4-BE49-F238E27FC236}">
                    <a16:creationId xmlns:a16="http://schemas.microsoft.com/office/drawing/2014/main" id="{F5F6E4B7-E99C-708D-B5F9-1715B0BAC0FC}"/>
                  </a:ext>
                </a:extLst>
              </p:cNvPr>
              <p:cNvSpPr/>
              <p:nvPr/>
            </p:nvSpPr>
            <p:spPr>
              <a:xfrm>
                <a:off x="392970" y="4232270"/>
                <a:ext cx="276626" cy="112391"/>
              </a:xfrm>
              <a:custGeom>
                <a:avLst/>
                <a:gdLst>
                  <a:gd name="connsiteX0" fmla="*/ 29044 w 276626"/>
                  <a:gd name="connsiteY0" fmla="*/ 8947 h 112391"/>
                  <a:gd name="connsiteX1" fmla="*/ 8904 w 276626"/>
                  <a:gd name="connsiteY1" fmla="*/ 1411 h 112391"/>
                  <a:gd name="connsiteX2" fmla="*/ 1505 w 276626"/>
                  <a:gd name="connsiteY2" fmla="*/ 21552 h 112391"/>
                  <a:gd name="connsiteX3" fmla="*/ 35210 w 276626"/>
                  <a:gd name="connsiteY3" fmla="*/ 94854 h 112391"/>
                  <a:gd name="connsiteX4" fmla="*/ 56584 w 276626"/>
                  <a:gd name="connsiteY4" fmla="*/ 112391 h 112391"/>
                  <a:gd name="connsiteX5" fmla="*/ 77958 w 276626"/>
                  <a:gd name="connsiteY5" fmla="*/ 94854 h 112391"/>
                  <a:gd name="connsiteX6" fmla="*/ 107690 w 276626"/>
                  <a:gd name="connsiteY6" fmla="*/ 30047 h 112391"/>
                  <a:gd name="connsiteX7" fmla="*/ 111937 w 276626"/>
                  <a:gd name="connsiteY7" fmla="*/ 27307 h 112391"/>
                  <a:gd name="connsiteX8" fmla="*/ 116595 w 276626"/>
                  <a:gd name="connsiteY8" fmla="*/ 32102 h 112391"/>
                  <a:gd name="connsiteX9" fmla="*/ 116595 w 276626"/>
                  <a:gd name="connsiteY9" fmla="*/ 94854 h 112391"/>
                  <a:gd name="connsiteX10" fmla="*/ 132215 w 276626"/>
                  <a:gd name="connsiteY10" fmla="*/ 112392 h 112391"/>
                  <a:gd name="connsiteX11" fmla="*/ 148109 w 276626"/>
                  <a:gd name="connsiteY11" fmla="*/ 94854 h 112391"/>
                  <a:gd name="connsiteX12" fmla="*/ 148109 w 276626"/>
                  <a:gd name="connsiteY12" fmla="*/ 43611 h 112391"/>
                  <a:gd name="connsiteX13" fmla="*/ 164824 w 276626"/>
                  <a:gd name="connsiteY13" fmla="*/ 27307 h 112391"/>
                  <a:gd name="connsiteX14" fmla="*/ 180855 w 276626"/>
                  <a:gd name="connsiteY14" fmla="*/ 43611 h 112391"/>
                  <a:gd name="connsiteX15" fmla="*/ 180855 w 276626"/>
                  <a:gd name="connsiteY15" fmla="*/ 94854 h 112391"/>
                  <a:gd name="connsiteX16" fmla="*/ 196474 w 276626"/>
                  <a:gd name="connsiteY16" fmla="*/ 112392 h 112391"/>
                  <a:gd name="connsiteX17" fmla="*/ 212367 w 276626"/>
                  <a:gd name="connsiteY17" fmla="*/ 94854 h 112391"/>
                  <a:gd name="connsiteX18" fmla="*/ 212367 w 276626"/>
                  <a:gd name="connsiteY18" fmla="*/ 43611 h 112391"/>
                  <a:gd name="connsiteX19" fmla="*/ 229083 w 276626"/>
                  <a:gd name="connsiteY19" fmla="*/ 27307 h 112391"/>
                  <a:gd name="connsiteX20" fmla="*/ 245113 w 276626"/>
                  <a:gd name="connsiteY20" fmla="*/ 43611 h 112391"/>
                  <a:gd name="connsiteX21" fmla="*/ 245113 w 276626"/>
                  <a:gd name="connsiteY21" fmla="*/ 94854 h 112391"/>
                  <a:gd name="connsiteX22" fmla="*/ 260733 w 276626"/>
                  <a:gd name="connsiteY22" fmla="*/ 112392 h 112391"/>
                  <a:gd name="connsiteX23" fmla="*/ 276626 w 276626"/>
                  <a:gd name="connsiteY23" fmla="*/ 94854 h 112391"/>
                  <a:gd name="connsiteX24" fmla="*/ 276626 w 276626"/>
                  <a:gd name="connsiteY24" fmla="*/ 36486 h 112391"/>
                  <a:gd name="connsiteX25" fmla="*/ 238674 w 276626"/>
                  <a:gd name="connsiteY25" fmla="*/ 41 h 112391"/>
                  <a:gd name="connsiteX26" fmla="*/ 204969 w 276626"/>
                  <a:gd name="connsiteY26" fmla="*/ 14428 h 112391"/>
                  <a:gd name="connsiteX27" fmla="*/ 172497 w 276626"/>
                  <a:gd name="connsiteY27" fmla="*/ 41 h 112391"/>
                  <a:gd name="connsiteX28" fmla="*/ 140573 w 276626"/>
                  <a:gd name="connsiteY28" fmla="*/ 14428 h 112391"/>
                  <a:gd name="connsiteX29" fmla="*/ 112211 w 276626"/>
                  <a:gd name="connsiteY29" fmla="*/ 41 h 112391"/>
                  <a:gd name="connsiteX30" fmla="*/ 77958 w 276626"/>
                  <a:gd name="connsiteY30" fmla="*/ 23334 h 112391"/>
                  <a:gd name="connsiteX31" fmla="*/ 56447 w 276626"/>
                  <a:gd name="connsiteY31" fmla="*/ 74165 h 112391"/>
                  <a:gd name="connsiteX32" fmla="*/ 29044 w 276626"/>
                  <a:gd name="connsiteY32" fmla="*/ 8947 h 11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6626" h="112391">
                    <a:moveTo>
                      <a:pt x="29044" y="8947"/>
                    </a:moveTo>
                    <a:cubicBezTo>
                      <a:pt x="25619" y="1274"/>
                      <a:pt x="16988" y="-2151"/>
                      <a:pt x="8904" y="1411"/>
                    </a:cubicBezTo>
                    <a:cubicBezTo>
                      <a:pt x="820" y="4974"/>
                      <a:pt x="-2057" y="13879"/>
                      <a:pt x="1505" y="21552"/>
                    </a:cubicBezTo>
                    <a:lnTo>
                      <a:pt x="35210" y="94854"/>
                    </a:lnTo>
                    <a:cubicBezTo>
                      <a:pt x="40554" y="106363"/>
                      <a:pt x="46171" y="112391"/>
                      <a:pt x="56584" y="112391"/>
                    </a:cubicBezTo>
                    <a:cubicBezTo>
                      <a:pt x="67819" y="112391"/>
                      <a:pt x="72752" y="105815"/>
                      <a:pt x="77958" y="94854"/>
                    </a:cubicBezTo>
                    <a:cubicBezTo>
                      <a:pt x="77958" y="94854"/>
                      <a:pt x="107416" y="30732"/>
                      <a:pt x="107690" y="30047"/>
                    </a:cubicBezTo>
                    <a:cubicBezTo>
                      <a:pt x="107964" y="29362"/>
                      <a:pt x="108923" y="27307"/>
                      <a:pt x="111937" y="27307"/>
                    </a:cubicBezTo>
                    <a:cubicBezTo>
                      <a:pt x="114541" y="27307"/>
                      <a:pt x="116595" y="29362"/>
                      <a:pt x="116595" y="32102"/>
                    </a:cubicBezTo>
                    <a:lnTo>
                      <a:pt x="116595" y="94854"/>
                    </a:lnTo>
                    <a:cubicBezTo>
                      <a:pt x="116595" y="104445"/>
                      <a:pt x="121939" y="112392"/>
                      <a:pt x="132215" y="112392"/>
                    </a:cubicBezTo>
                    <a:cubicBezTo>
                      <a:pt x="142491" y="112392"/>
                      <a:pt x="148109" y="104445"/>
                      <a:pt x="148109" y="94854"/>
                    </a:cubicBezTo>
                    <a:lnTo>
                      <a:pt x="148109" y="43611"/>
                    </a:lnTo>
                    <a:cubicBezTo>
                      <a:pt x="148109" y="33746"/>
                      <a:pt x="155233" y="27307"/>
                      <a:pt x="164824" y="27307"/>
                    </a:cubicBezTo>
                    <a:cubicBezTo>
                      <a:pt x="174415" y="27307"/>
                      <a:pt x="180855" y="33883"/>
                      <a:pt x="180855" y="43611"/>
                    </a:cubicBezTo>
                    <a:lnTo>
                      <a:pt x="180855" y="94854"/>
                    </a:lnTo>
                    <a:cubicBezTo>
                      <a:pt x="180855" y="104445"/>
                      <a:pt x="186198" y="112392"/>
                      <a:pt x="196474" y="112392"/>
                    </a:cubicBezTo>
                    <a:cubicBezTo>
                      <a:pt x="206750" y="112392"/>
                      <a:pt x="212367" y="104445"/>
                      <a:pt x="212367" y="94854"/>
                    </a:cubicBezTo>
                    <a:lnTo>
                      <a:pt x="212367" y="43611"/>
                    </a:lnTo>
                    <a:cubicBezTo>
                      <a:pt x="212367" y="33746"/>
                      <a:pt x="219492" y="27307"/>
                      <a:pt x="229083" y="27307"/>
                    </a:cubicBezTo>
                    <a:cubicBezTo>
                      <a:pt x="238674" y="27307"/>
                      <a:pt x="245113" y="33883"/>
                      <a:pt x="245113" y="43611"/>
                    </a:cubicBezTo>
                    <a:lnTo>
                      <a:pt x="245113" y="94854"/>
                    </a:lnTo>
                    <a:cubicBezTo>
                      <a:pt x="245113" y="104445"/>
                      <a:pt x="250457" y="112392"/>
                      <a:pt x="260733" y="112392"/>
                    </a:cubicBezTo>
                    <a:cubicBezTo>
                      <a:pt x="271009" y="112392"/>
                      <a:pt x="276626" y="104445"/>
                      <a:pt x="276626" y="94854"/>
                    </a:cubicBezTo>
                    <a:lnTo>
                      <a:pt x="276626" y="36486"/>
                    </a:lnTo>
                    <a:cubicBezTo>
                      <a:pt x="276626" y="14976"/>
                      <a:pt x="259362" y="41"/>
                      <a:pt x="238674" y="41"/>
                    </a:cubicBezTo>
                    <a:cubicBezTo>
                      <a:pt x="217985" y="41"/>
                      <a:pt x="204969" y="14428"/>
                      <a:pt x="204969" y="14428"/>
                    </a:cubicBezTo>
                    <a:cubicBezTo>
                      <a:pt x="198118" y="5522"/>
                      <a:pt x="188527" y="41"/>
                      <a:pt x="172497" y="41"/>
                    </a:cubicBezTo>
                    <a:cubicBezTo>
                      <a:pt x="155507" y="41"/>
                      <a:pt x="140573" y="14428"/>
                      <a:pt x="140573" y="14428"/>
                    </a:cubicBezTo>
                    <a:cubicBezTo>
                      <a:pt x="133585" y="5522"/>
                      <a:pt x="121939" y="41"/>
                      <a:pt x="112211" y="41"/>
                    </a:cubicBezTo>
                    <a:cubicBezTo>
                      <a:pt x="97140" y="41"/>
                      <a:pt x="85220" y="6618"/>
                      <a:pt x="77958" y="23334"/>
                    </a:cubicBezTo>
                    <a:lnTo>
                      <a:pt x="56447" y="74165"/>
                    </a:lnTo>
                    <a:lnTo>
                      <a:pt x="29044" y="8947"/>
                    </a:lnTo>
                  </a:path>
                </a:pathLst>
              </a:custGeom>
              <a:solidFill>
                <a:srgbClr val="FFFFFF"/>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7" name="Group 6">
              <a:extLst>
                <a:ext uri="{FF2B5EF4-FFF2-40B4-BE49-F238E27FC236}">
                  <a16:creationId xmlns:a16="http://schemas.microsoft.com/office/drawing/2014/main" id="{2D6D753B-FEBC-5CB0-ABD6-5DF99C58F7EF}"/>
                </a:ext>
              </a:extLst>
            </p:cNvPr>
            <p:cNvGrpSpPr/>
            <p:nvPr/>
          </p:nvGrpSpPr>
          <p:grpSpPr>
            <a:xfrm>
              <a:off x="1238179" y="4041295"/>
              <a:ext cx="2239932" cy="565246"/>
              <a:chOff x="1238179" y="4043713"/>
              <a:chExt cx="2239932" cy="565246"/>
            </a:xfrm>
          </p:grpSpPr>
          <p:sp>
            <p:nvSpPr>
              <p:cNvPr id="8" name="Google Shape;2095;p8">
                <a:extLst>
                  <a:ext uri="{FF2B5EF4-FFF2-40B4-BE49-F238E27FC236}">
                    <a16:creationId xmlns:a16="http://schemas.microsoft.com/office/drawing/2014/main" id="{E58D0A0F-11A7-E8E5-B4A1-1087D69D6927}"/>
                  </a:ext>
                </a:extLst>
              </p:cNvPr>
              <p:cNvSpPr txBox="1">
                <a:spLocks/>
              </p:cNvSpPr>
              <p:nvPr/>
            </p:nvSpPr>
            <p:spPr>
              <a:xfrm>
                <a:off x="1238179" y="4043713"/>
                <a:ext cx="1847865" cy="300947"/>
              </a:xfrm>
              <a:prstGeom prst="rect">
                <a:avLst/>
              </a:prstGeom>
              <a:noFill/>
              <a:ln>
                <a:noFill/>
              </a:ln>
            </p:spPr>
            <p:txBody>
              <a:bodyPr spcFirstLastPara="1" wrap="square" lIns="0" tIns="0" rIns="0" bIns="0" anchor="ctr"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rgbClr val="666666"/>
                  </a:buClr>
                  <a:buSzPts val="1800"/>
                  <a:buFont typeface="Arial"/>
                  <a:buChar char="​"/>
                  <a:defRPr sz="2000" b="0" i="0" u="none" strike="noStrike" cap="none">
                    <a:solidFill>
                      <a:schemeClr val="dk1"/>
                    </a:solidFill>
                    <a:latin typeface="Arial"/>
                    <a:ea typeface="Arial"/>
                    <a:cs typeface="Arial"/>
                    <a:sym typeface="Arial"/>
                  </a:defRPr>
                </a:lvl1pPr>
                <a:lvl2pPr marL="914400" marR="0" lvl="1" indent="-228600" algn="l" rtl="0">
                  <a:lnSpc>
                    <a:spcPct val="100000"/>
                  </a:lnSpc>
                  <a:spcBef>
                    <a:spcPts val="1200"/>
                  </a:spcBef>
                  <a:spcAft>
                    <a:spcPts val="0"/>
                  </a:spcAft>
                  <a:buClr>
                    <a:srgbClr val="3B3B3B"/>
                  </a:buClr>
                  <a:buSzPts val="1620"/>
                  <a:buFont typeface="Arial"/>
                  <a:buNone/>
                  <a:defRPr sz="1800" b="0" i="0" u="none" strike="noStrike" cap="none">
                    <a:solidFill>
                      <a:schemeClr val="dk1"/>
                    </a:solidFill>
                    <a:latin typeface="Arial"/>
                    <a:ea typeface="Arial"/>
                    <a:cs typeface="Arial"/>
                    <a:sym typeface="Arial"/>
                  </a:defRPr>
                </a:lvl2pPr>
                <a:lvl3pPr marL="1371600" marR="0" lvl="2" indent="-331469" algn="l" rtl="0">
                  <a:lnSpc>
                    <a:spcPct val="100000"/>
                  </a:lnSpc>
                  <a:spcBef>
                    <a:spcPts val="1200"/>
                  </a:spcBef>
                  <a:spcAft>
                    <a:spcPts val="0"/>
                  </a:spcAft>
                  <a:buClr>
                    <a:srgbClr val="3B3B3B"/>
                  </a:buClr>
                  <a:buSzPts val="1620"/>
                  <a:buFont typeface="Arial"/>
                  <a:buChar char="–"/>
                  <a:defRPr sz="1600" b="0" i="0" u="none" strike="noStrike" cap="none">
                    <a:solidFill>
                      <a:schemeClr val="dk1"/>
                    </a:solidFill>
                    <a:latin typeface="Arial"/>
                    <a:ea typeface="Arial"/>
                    <a:cs typeface="Arial"/>
                    <a:sym typeface="Arial"/>
                  </a:defRPr>
                </a:lvl3pPr>
                <a:lvl4pPr marL="1828800" marR="0" lvl="3" indent="-331469"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4pPr>
                <a:lvl5pPr marL="2286000" marR="0" lvl="4"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5pPr>
                <a:lvl6pPr marL="2743200" marR="0" lvl="5"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6pPr>
                <a:lvl7pPr marL="3200400" marR="0" lvl="6"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7pPr>
                <a:lvl8pPr marL="3657600" marR="0" lvl="7"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8pPr>
                <a:lvl9pPr marL="4114800" marR="0" lvl="8" indent="-331470" algn="l" rtl="0">
                  <a:lnSpc>
                    <a:spcPct val="100000"/>
                  </a:lnSpc>
                  <a:spcBef>
                    <a:spcPts val="1200"/>
                  </a:spcBef>
                  <a:spcAft>
                    <a:spcPts val="1200"/>
                  </a:spcAft>
                  <a:buClr>
                    <a:srgbClr val="3B3B3B"/>
                  </a:buClr>
                  <a:buSzPts val="1620"/>
                  <a:buFont typeface="Arial"/>
                  <a:buChar char="-"/>
                  <a:defRPr sz="14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666666"/>
                  </a:buClr>
                  <a:buSzPts val="1800"/>
                  <a:buFont typeface="Arial"/>
                  <a:buNone/>
                  <a:tabLst/>
                  <a:defRPr/>
                </a:pPr>
                <a:r>
                  <a:rPr kumimoji="0" lang="en-US" sz="1800" b="0" i="0" u="none" strike="noStrike" kern="0" cap="none" spc="0" normalizeH="0" baseline="0" noProof="0" dirty="0">
                    <a:ln>
                      <a:noFill/>
                    </a:ln>
                    <a:solidFill>
                      <a:srgbClr val="000000"/>
                    </a:solidFill>
                    <a:effectLst/>
                    <a:uLnTx/>
                    <a:uFillTx/>
                    <a:latin typeface="Arial"/>
                    <a:cs typeface="Arial"/>
                    <a:sym typeface="Arial"/>
                  </a:rPr>
                  <a:t>Developer Portal</a:t>
                </a:r>
              </a:p>
            </p:txBody>
          </p:sp>
          <p:sp>
            <p:nvSpPr>
              <p:cNvPr id="9" name="TextBox 8">
                <a:extLst>
                  <a:ext uri="{FF2B5EF4-FFF2-40B4-BE49-F238E27FC236}">
                    <a16:creationId xmlns:a16="http://schemas.microsoft.com/office/drawing/2014/main" id="{26EA1FAE-45DD-BF86-5853-CB56D003A17F}"/>
                  </a:ext>
                </a:extLst>
              </p:cNvPr>
              <p:cNvSpPr txBox="1"/>
              <p:nvPr/>
            </p:nvSpPr>
            <p:spPr>
              <a:xfrm>
                <a:off x="1247136" y="4344660"/>
                <a:ext cx="2230975" cy="264299"/>
              </a:xfrm>
              <a:prstGeom prst="rect">
                <a:avLst/>
              </a:prstGeom>
              <a:noFill/>
              <a:ln>
                <a:noFill/>
              </a:ln>
            </p:spPr>
            <p:txBody>
              <a:bodyPr spcFirstLastPara="1" wrap="square" lIns="0" tIns="0" rIns="0" bIns="0" anchor="ctr" anchorCtr="0">
                <a:noAutofit/>
              </a:bodyPr>
              <a:lstStyle>
                <a:defPPr marR="0" lvl="0" algn="l" rtl="0">
                  <a:lnSpc>
                    <a:spcPct val="100000"/>
                  </a:lnSpc>
                  <a:spcBef>
                    <a:spcPts val="0"/>
                  </a:spcBef>
                  <a:spcAft>
                    <a:spcPts val="0"/>
                  </a:spcAft>
                  <a:defRPr/>
                </a:defPPr>
                <a:lvl1pPr marL="0" indent="0">
                  <a:buClr>
                    <a:srgbClr val="666666"/>
                  </a:buClr>
                  <a:buSzPts val="1800"/>
                  <a:buNone/>
                  <a:defRPr sz="1600">
                    <a:solidFill>
                      <a:schemeClr val="tx1"/>
                    </a:solidFill>
                  </a:defRPr>
                </a:lvl1pPr>
                <a:lvl2pPr marL="914400" indent="-228600">
                  <a:spcBef>
                    <a:spcPts val="1200"/>
                  </a:spcBef>
                  <a:buClr>
                    <a:srgbClr val="3B3B3B"/>
                  </a:buClr>
                  <a:buSzPts val="1620"/>
                  <a:buNone/>
                  <a:defRPr sz="1800">
                    <a:solidFill>
                      <a:schemeClr val="dk1"/>
                    </a:solidFill>
                  </a:defRPr>
                </a:lvl2pPr>
                <a:lvl3pPr marL="1371600" indent="-331469">
                  <a:spcBef>
                    <a:spcPts val="1200"/>
                  </a:spcBef>
                  <a:buClr>
                    <a:srgbClr val="3B3B3B"/>
                  </a:buClr>
                  <a:buSzPts val="1620"/>
                  <a:buChar char="–"/>
                  <a:defRPr sz="1600">
                    <a:solidFill>
                      <a:schemeClr val="dk1"/>
                    </a:solidFill>
                  </a:defRPr>
                </a:lvl3pPr>
                <a:lvl4pPr marL="1828800" indent="-331469">
                  <a:spcBef>
                    <a:spcPts val="1200"/>
                  </a:spcBef>
                  <a:buClr>
                    <a:srgbClr val="3B3B3B"/>
                  </a:buClr>
                  <a:buSzPts val="1620"/>
                  <a:buChar char="•"/>
                  <a:defRPr>
                    <a:solidFill>
                      <a:schemeClr val="dk1"/>
                    </a:solidFill>
                  </a:defRPr>
                </a:lvl4pPr>
                <a:lvl5pPr marL="2286000" indent="-331470">
                  <a:spcBef>
                    <a:spcPts val="1200"/>
                  </a:spcBef>
                  <a:buClr>
                    <a:srgbClr val="3B3B3B"/>
                  </a:buClr>
                  <a:buSzPts val="1620"/>
                  <a:buChar char="–"/>
                  <a:defRPr>
                    <a:solidFill>
                      <a:schemeClr val="dk1"/>
                    </a:solidFill>
                  </a:defRPr>
                </a:lvl5pPr>
                <a:lvl6pPr marL="2743200" indent="-331470">
                  <a:spcBef>
                    <a:spcPts val="1200"/>
                  </a:spcBef>
                  <a:buClr>
                    <a:srgbClr val="3B3B3B"/>
                  </a:buClr>
                  <a:buSzPts val="1620"/>
                  <a:buChar char="•"/>
                  <a:defRPr>
                    <a:solidFill>
                      <a:schemeClr val="dk1"/>
                    </a:solidFill>
                  </a:defRPr>
                </a:lvl6pPr>
                <a:lvl7pPr marL="3200400" indent="-331470">
                  <a:spcBef>
                    <a:spcPts val="1200"/>
                  </a:spcBef>
                  <a:buClr>
                    <a:srgbClr val="3B3B3B"/>
                  </a:buClr>
                  <a:buSzPts val="1620"/>
                  <a:buChar char="-"/>
                  <a:defRPr>
                    <a:solidFill>
                      <a:schemeClr val="dk1"/>
                    </a:solidFill>
                  </a:defRPr>
                </a:lvl7pPr>
                <a:lvl8pPr marL="3657600" indent="-331470">
                  <a:spcBef>
                    <a:spcPts val="1200"/>
                  </a:spcBef>
                  <a:buClr>
                    <a:srgbClr val="3B3B3B"/>
                  </a:buClr>
                  <a:buSzPts val="1620"/>
                  <a:buChar char="•"/>
                  <a:defRPr>
                    <a:solidFill>
                      <a:schemeClr val="dk1"/>
                    </a:solidFill>
                  </a:defRPr>
                </a:lvl8pPr>
                <a:lvl9pPr marL="4114800" indent="-331470">
                  <a:spcBef>
                    <a:spcPts val="1200"/>
                  </a:spcBef>
                  <a:spcAft>
                    <a:spcPts val="1200"/>
                  </a:spcAft>
                  <a:buClr>
                    <a:srgbClr val="3B3B3B"/>
                  </a:buClr>
                  <a:buSzPts val="1620"/>
                  <a:buChar char="-"/>
                  <a:defRPr>
                    <a:solidFill>
                      <a:schemeClr val="dk1"/>
                    </a:solidFill>
                  </a:defRPr>
                </a:lvl9pPr>
              </a:lstStyle>
              <a:p>
                <a:pPr marL="0" marR="0" lvl="0" indent="0" algn="l" defTabSz="914400" rtl="0" eaLnBrk="1" fontAlgn="auto" latinLnBrk="0" hangingPunct="1">
                  <a:lnSpc>
                    <a:spcPct val="100000"/>
                  </a:lnSpc>
                  <a:spcBef>
                    <a:spcPts val="0"/>
                  </a:spcBef>
                  <a:spcAft>
                    <a:spcPts val="0"/>
                  </a:spcAft>
                  <a:buClr>
                    <a:srgbClr val="666666"/>
                  </a:buClr>
                  <a:buSzPts val="1800"/>
                  <a:buFont typeface="Arial"/>
                  <a:buNone/>
                  <a:tabLst/>
                  <a:defRPr/>
                </a:pPr>
                <a:r>
                  <a:rPr kumimoji="0" lang="en-US" sz="1200" b="0" i="0" u="none" strike="noStrike" kern="0" cap="none" spc="0" normalizeH="0" baseline="0" noProof="0" dirty="0" err="1">
                    <a:ln>
                      <a:noFill/>
                    </a:ln>
                    <a:solidFill>
                      <a:srgbClr val="0070C0"/>
                    </a:solidFill>
                    <a:effectLst/>
                    <a:uLnTx/>
                    <a:uFillTx/>
                    <a:latin typeface="Arial"/>
                    <a:cs typeface="Arial"/>
                    <a:sym typeface="Arial"/>
                  </a:rPr>
                  <a:t>brcm.tech</a:t>
                </a:r>
                <a:r>
                  <a:rPr kumimoji="0" lang="en-US" sz="1200" b="0" i="0" u="none" strike="noStrike" kern="0" cap="none" spc="0" normalizeH="0" baseline="0" noProof="0" dirty="0">
                    <a:ln>
                      <a:noFill/>
                    </a:ln>
                    <a:solidFill>
                      <a:srgbClr val="0070C0"/>
                    </a:solidFill>
                    <a:effectLst/>
                    <a:uLnTx/>
                    <a:uFillTx/>
                    <a:latin typeface="Arial"/>
                    <a:cs typeface="Arial"/>
                    <a:sym typeface="Arial"/>
                  </a:rPr>
                  <a:t>/vcf-91-api-spec-dev</a:t>
                </a:r>
              </a:p>
            </p:txBody>
          </p:sp>
        </p:grpSp>
      </p:grpSp>
      <p:grpSp>
        <p:nvGrpSpPr>
          <p:cNvPr id="13" name="Group 12">
            <a:extLst>
              <a:ext uri="{FF2B5EF4-FFF2-40B4-BE49-F238E27FC236}">
                <a16:creationId xmlns:a16="http://schemas.microsoft.com/office/drawing/2014/main" id="{5A7A6546-59FA-76C4-8096-CD87CE500A75}"/>
              </a:ext>
            </a:extLst>
          </p:cNvPr>
          <p:cNvGrpSpPr/>
          <p:nvPr/>
        </p:nvGrpSpPr>
        <p:grpSpPr>
          <a:xfrm>
            <a:off x="3876092" y="3429000"/>
            <a:ext cx="3129142" cy="565246"/>
            <a:chOff x="3876092" y="4051473"/>
            <a:chExt cx="3129142" cy="565246"/>
          </a:xfrm>
        </p:grpSpPr>
        <p:sp>
          <p:nvSpPr>
            <p:cNvPr id="14" name="Graphic 3">
              <a:extLst>
                <a:ext uri="{FF2B5EF4-FFF2-40B4-BE49-F238E27FC236}">
                  <a16:creationId xmlns:a16="http://schemas.microsoft.com/office/drawing/2014/main" id="{BF06A047-1A0C-496D-1320-8E0B42272454}"/>
                </a:ext>
              </a:extLst>
            </p:cNvPr>
            <p:cNvSpPr/>
            <p:nvPr/>
          </p:nvSpPr>
          <p:spPr>
            <a:xfrm>
              <a:off x="3876092" y="4054086"/>
              <a:ext cx="495950" cy="480389"/>
            </a:xfrm>
            <a:custGeom>
              <a:avLst/>
              <a:gdLst>
                <a:gd name="connsiteX0" fmla="*/ 128840 w 304681"/>
                <a:gd name="connsiteY0" fmla="*/ 215714 h 295121"/>
                <a:gd name="connsiteX1" fmla="*/ 61890 w 304681"/>
                <a:gd name="connsiteY1" fmla="*/ 146088 h 295121"/>
                <a:gd name="connsiteX2" fmla="*/ 76170 w 304681"/>
                <a:gd name="connsiteY2" fmla="*/ 104439 h 295121"/>
                <a:gd name="connsiteX3" fmla="*/ 77362 w 304681"/>
                <a:gd name="connsiteY3" fmla="*/ 65162 h 295121"/>
                <a:gd name="connsiteX4" fmla="*/ 114851 w 304681"/>
                <a:gd name="connsiteY4" fmla="*/ 78541 h 295121"/>
                <a:gd name="connsiteX5" fmla="*/ 152645 w 304681"/>
                <a:gd name="connsiteY5" fmla="*/ 73190 h 295121"/>
                <a:gd name="connsiteX6" fmla="*/ 189830 w 304681"/>
                <a:gd name="connsiteY6" fmla="*/ 78250 h 295121"/>
                <a:gd name="connsiteX7" fmla="*/ 227319 w 304681"/>
                <a:gd name="connsiteY7" fmla="*/ 65162 h 295121"/>
                <a:gd name="connsiteX8" fmla="*/ 228206 w 304681"/>
                <a:gd name="connsiteY8" fmla="*/ 104135 h 295121"/>
                <a:gd name="connsiteX9" fmla="*/ 242791 w 304681"/>
                <a:gd name="connsiteY9" fmla="*/ 146088 h 295121"/>
                <a:gd name="connsiteX10" fmla="*/ 175258 w 304681"/>
                <a:gd name="connsiteY10" fmla="*/ 215423 h 295121"/>
                <a:gd name="connsiteX11" fmla="*/ 192214 w 304681"/>
                <a:gd name="connsiteY11" fmla="*/ 252607 h 295121"/>
                <a:gd name="connsiteX12" fmla="*/ 192214 w 304681"/>
                <a:gd name="connsiteY12" fmla="*/ 283552 h 295121"/>
                <a:gd name="connsiteX13" fmla="*/ 208574 w 304681"/>
                <a:gd name="connsiteY13" fmla="*/ 293964 h 295121"/>
                <a:gd name="connsiteX14" fmla="*/ 304681 w 304681"/>
                <a:gd name="connsiteY14" fmla="*/ 152937 h 295121"/>
                <a:gd name="connsiteX15" fmla="*/ 152049 w 304681"/>
                <a:gd name="connsiteY15" fmla="*/ 0 h 295121"/>
                <a:gd name="connsiteX16" fmla="*/ 0 w 304681"/>
                <a:gd name="connsiteY16" fmla="*/ 152937 h 295121"/>
                <a:gd name="connsiteX17" fmla="*/ 98491 w 304681"/>
                <a:gd name="connsiteY17" fmla="*/ 294269 h 295121"/>
                <a:gd name="connsiteX18" fmla="*/ 114255 w 304681"/>
                <a:gd name="connsiteY18" fmla="*/ 283857 h 295121"/>
                <a:gd name="connsiteX19" fmla="*/ 114255 w 304681"/>
                <a:gd name="connsiteY19" fmla="*/ 260039 h 295121"/>
                <a:gd name="connsiteX20" fmla="*/ 99975 w 304681"/>
                <a:gd name="connsiteY20" fmla="*/ 263006 h 295121"/>
                <a:gd name="connsiteX21" fmla="*/ 60406 w 304681"/>
                <a:gd name="connsiteY21" fmla="*/ 232366 h 295121"/>
                <a:gd name="connsiteX22" fmla="*/ 46709 w 304681"/>
                <a:gd name="connsiteY22" fmla="*/ 218681 h 295121"/>
                <a:gd name="connsiteX23" fmla="*/ 41953 w 304681"/>
                <a:gd name="connsiteY23" fmla="*/ 215105 h 295121"/>
                <a:gd name="connsiteX24" fmla="*/ 53849 w 304681"/>
                <a:gd name="connsiteY24" fmla="*/ 208865 h 295121"/>
                <a:gd name="connsiteX25" fmla="*/ 77654 w 304681"/>
                <a:gd name="connsiteY25" fmla="*/ 225226 h 295121"/>
                <a:gd name="connsiteX26" fmla="*/ 97299 w 304681"/>
                <a:gd name="connsiteY26" fmla="*/ 237717 h 295121"/>
                <a:gd name="connsiteX27" fmla="*/ 116335 w 304681"/>
                <a:gd name="connsiteY27" fmla="*/ 228193 h 295121"/>
                <a:gd name="connsiteX28" fmla="*/ 128840 w 304681"/>
                <a:gd name="connsiteY28" fmla="*/ 215701 h 2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4681" h="295121">
                  <a:moveTo>
                    <a:pt x="128840" y="215714"/>
                  </a:moveTo>
                  <a:cubicBezTo>
                    <a:pt x="89563" y="210945"/>
                    <a:pt x="61890" y="182689"/>
                    <a:pt x="61890" y="146088"/>
                  </a:cubicBezTo>
                  <a:cubicBezTo>
                    <a:pt x="61890" y="131212"/>
                    <a:pt x="67242" y="115143"/>
                    <a:pt x="76170" y="104439"/>
                  </a:cubicBezTo>
                  <a:cubicBezTo>
                    <a:pt x="72302" y="94623"/>
                    <a:pt x="72898" y="73786"/>
                    <a:pt x="77362" y="65162"/>
                  </a:cubicBezTo>
                  <a:cubicBezTo>
                    <a:pt x="89258" y="63678"/>
                    <a:pt x="105327" y="69931"/>
                    <a:pt x="114851" y="78541"/>
                  </a:cubicBezTo>
                  <a:cubicBezTo>
                    <a:pt x="126151" y="74978"/>
                    <a:pt x="138060" y="73190"/>
                    <a:pt x="152645" y="73190"/>
                  </a:cubicBezTo>
                  <a:cubicBezTo>
                    <a:pt x="167217" y="73190"/>
                    <a:pt x="179126" y="74978"/>
                    <a:pt x="189830" y="78250"/>
                  </a:cubicBezTo>
                  <a:cubicBezTo>
                    <a:pt x="199049" y="69918"/>
                    <a:pt x="215423" y="63678"/>
                    <a:pt x="227319" y="65162"/>
                  </a:cubicBezTo>
                  <a:cubicBezTo>
                    <a:pt x="231491" y="73190"/>
                    <a:pt x="232087" y="94027"/>
                    <a:pt x="228206" y="104135"/>
                  </a:cubicBezTo>
                  <a:cubicBezTo>
                    <a:pt x="237744" y="115448"/>
                    <a:pt x="242791" y="130629"/>
                    <a:pt x="242791" y="146088"/>
                  </a:cubicBezTo>
                  <a:cubicBezTo>
                    <a:pt x="242791" y="182689"/>
                    <a:pt x="215118" y="210362"/>
                    <a:pt x="175258" y="215423"/>
                  </a:cubicBezTo>
                  <a:cubicBezTo>
                    <a:pt x="185365" y="221967"/>
                    <a:pt x="192214" y="236247"/>
                    <a:pt x="192214" y="252607"/>
                  </a:cubicBezTo>
                  <a:lnTo>
                    <a:pt x="192214" y="283552"/>
                  </a:lnTo>
                  <a:cubicBezTo>
                    <a:pt x="192214" y="292481"/>
                    <a:pt x="199646" y="297541"/>
                    <a:pt x="208574" y="293964"/>
                  </a:cubicBezTo>
                  <a:cubicBezTo>
                    <a:pt x="262436" y="273431"/>
                    <a:pt x="304681" y="219582"/>
                    <a:pt x="304681" y="152937"/>
                  </a:cubicBezTo>
                  <a:cubicBezTo>
                    <a:pt x="304681" y="68725"/>
                    <a:pt x="236247" y="0"/>
                    <a:pt x="152049" y="0"/>
                  </a:cubicBezTo>
                  <a:cubicBezTo>
                    <a:pt x="67825" y="0"/>
                    <a:pt x="0" y="68725"/>
                    <a:pt x="0" y="152937"/>
                  </a:cubicBezTo>
                  <a:cubicBezTo>
                    <a:pt x="0" y="218986"/>
                    <a:pt x="41953" y="273749"/>
                    <a:pt x="98491" y="294269"/>
                  </a:cubicBezTo>
                  <a:cubicBezTo>
                    <a:pt x="106519" y="297249"/>
                    <a:pt x="114255" y="291884"/>
                    <a:pt x="114255" y="283857"/>
                  </a:cubicBezTo>
                  <a:lnTo>
                    <a:pt x="114255" y="260039"/>
                  </a:lnTo>
                  <a:cubicBezTo>
                    <a:pt x="109728" y="261930"/>
                    <a:pt x="104881" y="262938"/>
                    <a:pt x="99975" y="263006"/>
                  </a:cubicBezTo>
                  <a:cubicBezTo>
                    <a:pt x="80330" y="263006"/>
                    <a:pt x="68725" y="252302"/>
                    <a:pt x="60406" y="232366"/>
                  </a:cubicBezTo>
                  <a:cubicBezTo>
                    <a:pt x="57134" y="224325"/>
                    <a:pt x="53558" y="219569"/>
                    <a:pt x="46709" y="218681"/>
                  </a:cubicBezTo>
                  <a:cubicBezTo>
                    <a:pt x="43132" y="218377"/>
                    <a:pt x="41953" y="216893"/>
                    <a:pt x="41953" y="215105"/>
                  </a:cubicBezTo>
                  <a:cubicBezTo>
                    <a:pt x="41953" y="211528"/>
                    <a:pt x="47914" y="208865"/>
                    <a:pt x="53849" y="208865"/>
                  </a:cubicBezTo>
                  <a:cubicBezTo>
                    <a:pt x="62486" y="208865"/>
                    <a:pt x="69918" y="214217"/>
                    <a:pt x="77654" y="225226"/>
                  </a:cubicBezTo>
                  <a:cubicBezTo>
                    <a:pt x="83615" y="233849"/>
                    <a:pt x="89854" y="237717"/>
                    <a:pt x="97299" y="237717"/>
                  </a:cubicBezTo>
                  <a:cubicBezTo>
                    <a:pt x="104731" y="237717"/>
                    <a:pt x="109486" y="235042"/>
                    <a:pt x="116335" y="228193"/>
                  </a:cubicBezTo>
                  <a:cubicBezTo>
                    <a:pt x="121396" y="223146"/>
                    <a:pt x="125264" y="218681"/>
                    <a:pt x="128840" y="215701"/>
                  </a:cubicBezTo>
                </a:path>
              </a:pathLst>
            </a:custGeom>
            <a:solidFill>
              <a:srgbClr val="000000"/>
            </a:solidFill>
            <a:ln w="1309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grpSp>
          <p:nvGrpSpPr>
            <p:cNvPr id="15" name="Group 14">
              <a:extLst>
                <a:ext uri="{FF2B5EF4-FFF2-40B4-BE49-F238E27FC236}">
                  <a16:creationId xmlns:a16="http://schemas.microsoft.com/office/drawing/2014/main" id="{AD4E35AC-DF88-5279-185D-03FBDAE84F89}"/>
                </a:ext>
              </a:extLst>
            </p:cNvPr>
            <p:cNvGrpSpPr/>
            <p:nvPr/>
          </p:nvGrpSpPr>
          <p:grpSpPr>
            <a:xfrm>
              <a:off x="4500350" y="4051473"/>
              <a:ext cx="2504884" cy="565246"/>
              <a:chOff x="1390579" y="4196113"/>
              <a:chExt cx="2155058" cy="565246"/>
            </a:xfrm>
          </p:grpSpPr>
          <p:sp>
            <p:nvSpPr>
              <p:cNvPr id="16" name="Google Shape;2095;p8">
                <a:extLst>
                  <a:ext uri="{FF2B5EF4-FFF2-40B4-BE49-F238E27FC236}">
                    <a16:creationId xmlns:a16="http://schemas.microsoft.com/office/drawing/2014/main" id="{203EF6BE-6E4E-8873-B8DC-8E493FB1720C}"/>
                  </a:ext>
                </a:extLst>
              </p:cNvPr>
              <p:cNvSpPr txBox="1">
                <a:spLocks/>
              </p:cNvSpPr>
              <p:nvPr/>
            </p:nvSpPr>
            <p:spPr>
              <a:xfrm>
                <a:off x="1390579" y="4196113"/>
                <a:ext cx="1847865" cy="300947"/>
              </a:xfrm>
              <a:prstGeom prst="rect">
                <a:avLst/>
              </a:prstGeom>
              <a:noFill/>
              <a:ln>
                <a:noFill/>
              </a:ln>
            </p:spPr>
            <p:txBody>
              <a:bodyPr spcFirstLastPara="1" wrap="square" lIns="0" tIns="0" rIns="0" bIns="0" anchor="ctr"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rgbClr val="666666"/>
                  </a:buClr>
                  <a:buSzPts val="1800"/>
                  <a:buFont typeface="Arial"/>
                  <a:buChar char="​"/>
                  <a:defRPr sz="2000" b="0" i="0" u="none" strike="noStrike" cap="none">
                    <a:solidFill>
                      <a:schemeClr val="dk1"/>
                    </a:solidFill>
                    <a:latin typeface="Arial"/>
                    <a:ea typeface="Arial"/>
                    <a:cs typeface="Arial"/>
                    <a:sym typeface="Arial"/>
                  </a:defRPr>
                </a:lvl1pPr>
                <a:lvl2pPr marL="914400" marR="0" lvl="1" indent="-228600" algn="l" rtl="0">
                  <a:lnSpc>
                    <a:spcPct val="100000"/>
                  </a:lnSpc>
                  <a:spcBef>
                    <a:spcPts val="1200"/>
                  </a:spcBef>
                  <a:spcAft>
                    <a:spcPts val="0"/>
                  </a:spcAft>
                  <a:buClr>
                    <a:srgbClr val="3B3B3B"/>
                  </a:buClr>
                  <a:buSzPts val="1620"/>
                  <a:buFont typeface="Arial"/>
                  <a:buNone/>
                  <a:defRPr sz="1800" b="0" i="0" u="none" strike="noStrike" cap="none">
                    <a:solidFill>
                      <a:schemeClr val="dk1"/>
                    </a:solidFill>
                    <a:latin typeface="Arial"/>
                    <a:ea typeface="Arial"/>
                    <a:cs typeface="Arial"/>
                    <a:sym typeface="Arial"/>
                  </a:defRPr>
                </a:lvl2pPr>
                <a:lvl3pPr marL="1371600" marR="0" lvl="2" indent="-331469" algn="l" rtl="0">
                  <a:lnSpc>
                    <a:spcPct val="100000"/>
                  </a:lnSpc>
                  <a:spcBef>
                    <a:spcPts val="1200"/>
                  </a:spcBef>
                  <a:spcAft>
                    <a:spcPts val="0"/>
                  </a:spcAft>
                  <a:buClr>
                    <a:srgbClr val="3B3B3B"/>
                  </a:buClr>
                  <a:buSzPts val="1620"/>
                  <a:buFont typeface="Arial"/>
                  <a:buChar char="–"/>
                  <a:defRPr sz="1600" b="0" i="0" u="none" strike="noStrike" cap="none">
                    <a:solidFill>
                      <a:schemeClr val="dk1"/>
                    </a:solidFill>
                    <a:latin typeface="Arial"/>
                    <a:ea typeface="Arial"/>
                    <a:cs typeface="Arial"/>
                    <a:sym typeface="Arial"/>
                  </a:defRPr>
                </a:lvl3pPr>
                <a:lvl4pPr marL="1828800" marR="0" lvl="3" indent="-331469"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4pPr>
                <a:lvl5pPr marL="2286000" marR="0" lvl="4"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5pPr>
                <a:lvl6pPr marL="2743200" marR="0" lvl="5"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6pPr>
                <a:lvl7pPr marL="3200400" marR="0" lvl="6"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7pPr>
                <a:lvl8pPr marL="3657600" marR="0" lvl="7" indent="-331470" algn="l" rtl="0">
                  <a:lnSpc>
                    <a:spcPct val="100000"/>
                  </a:lnSpc>
                  <a:spcBef>
                    <a:spcPts val="1200"/>
                  </a:spcBef>
                  <a:spcAft>
                    <a:spcPts val="0"/>
                  </a:spcAft>
                  <a:buClr>
                    <a:srgbClr val="3B3B3B"/>
                  </a:buClr>
                  <a:buSzPts val="1620"/>
                  <a:buFont typeface="Arial"/>
                  <a:buChar char="•"/>
                  <a:defRPr sz="1400" b="0" i="0" u="none" strike="noStrike" cap="none">
                    <a:solidFill>
                      <a:schemeClr val="dk1"/>
                    </a:solidFill>
                    <a:latin typeface="Arial"/>
                    <a:ea typeface="Arial"/>
                    <a:cs typeface="Arial"/>
                    <a:sym typeface="Arial"/>
                  </a:defRPr>
                </a:lvl8pPr>
                <a:lvl9pPr marL="4114800" marR="0" lvl="8" indent="-331470" algn="l" rtl="0">
                  <a:lnSpc>
                    <a:spcPct val="100000"/>
                  </a:lnSpc>
                  <a:spcBef>
                    <a:spcPts val="1200"/>
                  </a:spcBef>
                  <a:spcAft>
                    <a:spcPts val="1200"/>
                  </a:spcAft>
                  <a:buClr>
                    <a:srgbClr val="3B3B3B"/>
                  </a:buClr>
                  <a:buSzPts val="1620"/>
                  <a:buFont typeface="Arial"/>
                  <a:buChar char="-"/>
                  <a:defRPr sz="14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666666"/>
                  </a:buClr>
                  <a:buSzPts val="1800"/>
                  <a:buFont typeface="Arial"/>
                  <a:buNone/>
                  <a:tabLst/>
                  <a:defRPr/>
                </a:pPr>
                <a:r>
                  <a:rPr kumimoji="0" lang="en-US" sz="1800" b="0" i="0" u="none" strike="noStrike" kern="0" cap="none" spc="0" normalizeH="0" baseline="0" noProof="0" dirty="0">
                    <a:ln>
                      <a:noFill/>
                    </a:ln>
                    <a:solidFill>
                      <a:srgbClr val="000000"/>
                    </a:solidFill>
                    <a:effectLst/>
                    <a:uLnTx/>
                    <a:uFillTx/>
                    <a:latin typeface="Arial"/>
                    <a:cs typeface="Arial"/>
                    <a:sym typeface="Arial"/>
                  </a:rPr>
                  <a:t>GitHub Repository</a:t>
                </a:r>
              </a:p>
            </p:txBody>
          </p:sp>
          <p:sp>
            <p:nvSpPr>
              <p:cNvPr id="17" name="TextBox 16">
                <a:extLst>
                  <a:ext uri="{FF2B5EF4-FFF2-40B4-BE49-F238E27FC236}">
                    <a16:creationId xmlns:a16="http://schemas.microsoft.com/office/drawing/2014/main" id="{6F583D56-0574-16F8-2132-3F47F447FB5A}"/>
                  </a:ext>
                </a:extLst>
              </p:cNvPr>
              <p:cNvSpPr txBox="1"/>
              <p:nvPr/>
            </p:nvSpPr>
            <p:spPr>
              <a:xfrm>
                <a:off x="1399537" y="4497061"/>
                <a:ext cx="2146100" cy="264298"/>
              </a:xfrm>
              <a:prstGeom prst="rect">
                <a:avLst/>
              </a:prstGeom>
              <a:noFill/>
              <a:ln>
                <a:noFill/>
              </a:ln>
            </p:spPr>
            <p:txBody>
              <a:bodyPr spcFirstLastPara="1" wrap="square" lIns="0" tIns="0" rIns="0" bIns="0" anchor="ctr" anchorCtr="0">
                <a:noAutofit/>
              </a:bodyPr>
              <a:lstStyle>
                <a:defPPr marR="0" lvl="0" algn="l" rtl="0">
                  <a:lnSpc>
                    <a:spcPct val="100000"/>
                  </a:lnSpc>
                  <a:spcBef>
                    <a:spcPts val="0"/>
                  </a:spcBef>
                  <a:spcAft>
                    <a:spcPts val="0"/>
                  </a:spcAft>
                  <a:defRPr/>
                </a:defPPr>
                <a:lvl1pPr marL="0" indent="0">
                  <a:buClr>
                    <a:srgbClr val="666666"/>
                  </a:buClr>
                  <a:buSzPts val="1800"/>
                  <a:buNone/>
                  <a:defRPr sz="1600">
                    <a:solidFill>
                      <a:schemeClr val="tx1"/>
                    </a:solidFill>
                  </a:defRPr>
                </a:lvl1pPr>
                <a:lvl2pPr marL="914400" indent="-228600">
                  <a:spcBef>
                    <a:spcPts val="1200"/>
                  </a:spcBef>
                  <a:buClr>
                    <a:srgbClr val="3B3B3B"/>
                  </a:buClr>
                  <a:buSzPts val="1620"/>
                  <a:buNone/>
                  <a:defRPr sz="1800">
                    <a:solidFill>
                      <a:schemeClr val="dk1"/>
                    </a:solidFill>
                  </a:defRPr>
                </a:lvl2pPr>
                <a:lvl3pPr marL="1371600" indent="-331469">
                  <a:spcBef>
                    <a:spcPts val="1200"/>
                  </a:spcBef>
                  <a:buClr>
                    <a:srgbClr val="3B3B3B"/>
                  </a:buClr>
                  <a:buSzPts val="1620"/>
                  <a:buChar char="–"/>
                  <a:defRPr sz="1600">
                    <a:solidFill>
                      <a:schemeClr val="dk1"/>
                    </a:solidFill>
                  </a:defRPr>
                </a:lvl3pPr>
                <a:lvl4pPr marL="1828800" indent="-331469">
                  <a:spcBef>
                    <a:spcPts val="1200"/>
                  </a:spcBef>
                  <a:buClr>
                    <a:srgbClr val="3B3B3B"/>
                  </a:buClr>
                  <a:buSzPts val="1620"/>
                  <a:buChar char="•"/>
                  <a:defRPr>
                    <a:solidFill>
                      <a:schemeClr val="dk1"/>
                    </a:solidFill>
                  </a:defRPr>
                </a:lvl4pPr>
                <a:lvl5pPr marL="2286000" indent="-331470">
                  <a:spcBef>
                    <a:spcPts val="1200"/>
                  </a:spcBef>
                  <a:buClr>
                    <a:srgbClr val="3B3B3B"/>
                  </a:buClr>
                  <a:buSzPts val="1620"/>
                  <a:buChar char="–"/>
                  <a:defRPr>
                    <a:solidFill>
                      <a:schemeClr val="dk1"/>
                    </a:solidFill>
                  </a:defRPr>
                </a:lvl5pPr>
                <a:lvl6pPr marL="2743200" indent="-331470">
                  <a:spcBef>
                    <a:spcPts val="1200"/>
                  </a:spcBef>
                  <a:buClr>
                    <a:srgbClr val="3B3B3B"/>
                  </a:buClr>
                  <a:buSzPts val="1620"/>
                  <a:buChar char="•"/>
                  <a:defRPr>
                    <a:solidFill>
                      <a:schemeClr val="dk1"/>
                    </a:solidFill>
                  </a:defRPr>
                </a:lvl6pPr>
                <a:lvl7pPr marL="3200400" indent="-331470">
                  <a:spcBef>
                    <a:spcPts val="1200"/>
                  </a:spcBef>
                  <a:buClr>
                    <a:srgbClr val="3B3B3B"/>
                  </a:buClr>
                  <a:buSzPts val="1620"/>
                  <a:buChar char="-"/>
                  <a:defRPr>
                    <a:solidFill>
                      <a:schemeClr val="dk1"/>
                    </a:solidFill>
                  </a:defRPr>
                </a:lvl7pPr>
                <a:lvl8pPr marL="3657600" indent="-331470">
                  <a:spcBef>
                    <a:spcPts val="1200"/>
                  </a:spcBef>
                  <a:buClr>
                    <a:srgbClr val="3B3B3B"/>
                  </a:buClr>
                  <a:buSzPts val="1620"/>
                  <a:buChar char="•"/>
                  <a:defRPr>
                    <a:solidFill>
                      <a:schemeClr val="dk1"/>
                    </a:solidFill>
                  </a:defRPr>
                </a:lvl8pPr>
                <a:lvl9pPr marL="4114800" indent="-331470">
                  <a:spcBef>
                    <a:spcPts val="1200"/>
                  </a:spcBef>
                  <a:spcAft>
                    <a:spcPts val="1200"/>
                  </a:spcAft>
                  <a:buClr>
                    <a:srgbClr val="3B3B3B"/>
                  </a:buClr>
                  <a:buSzPts val="1620"/>
                  <a:buChar char="-"/>
                  <a:defRPr>
                    <a:solidFill>
                      <a:schemeClr val="dk1"/>
                    </a:solidFill>
                  </a:defRPr>
                </a:lvl9pPr>
              </a:lstStyle>
              <a:p>
                <a:pPr marL="0" marR="0" lvl="0" indent="0" algn="l" defTabSz="914400" rtl="0" eaLnBrk="1" fontAlgn="auto" latinLnBrk="0" hangingPunct="1">
                  <a:lnSpc>
                    <a:spcPct val="100000"/>
                  </a:lnSpc>
                  <a:spcBef>
                    <a:spcPts val="0"/>
                  </a:spcBef>
                  <a:spcAft>
                    <a:spcPts val="0"/>
                  </a:spcAft>
                  <a:buClr>
                    <a:srgbClr val="666666"/>
                  </a:buClr>
                  <a:buSzPts val="1800"/>
                  <a:buFont typeface="Arial"/>
                  <a:buNone/>
                  <a:tabLst/>
                  <a:defRPr/>
                </a:pPr>
                <a:r>
                  <a:rPr kumimoji="0" lang="en-US" sz="1200" b="0" i="0" u="none" strike="noStrike" kern="0" cap="none" spc="0" normalizeH="0" baseline="0" noProof="0" dirty="0" err="1">
                    <a:ln>
                      <a:noFill/>
                    </a:ln>
                    <a:solidFill>
                      <a:srgbClr val="0070C0"/>
                    </a:solidFill>
                    <a:effectLst/>
                    <a:uLnTx/>
                    <a:uFillTx/>
                    <a:latin typeface="Arial"/>
                    <a:cs typeface="Arial"/>
                    <a:sym typeface="Arial"/>
                  </a:rPr>
                  <a:t>brcm.tech</a:t>
                </a:r>
                <a:r>
                  <a:rPr kumimoji="0" lang="en-US" sz="1200" b="0" i="0" u="none" strike="noStrike" kern="0" cap="none" spc="0" normalizeH="0" baseline="0" noProof="0" dirty="0">
                    <a:ln>
                      <a:noFill/>
                    </a:ln>
                    <a:solidFill>
                      <a:srgbClr val="0070C0"/>
                    </a:solidFill>
                    <a:effectLst/>
                    <a:uLnTx/>
                    <a:uFillTx/>
                    <a:latin typeface="Arial"/>
                    <a:cs typeface="Arial"/>
                    <a:sym typeface="Arial"/>
                  </a:rPr>
                  <a:t>/vcf-91-api-spec-gh</a:t>
                </a:r>
              </a:p>
            </p:txBody>
          </p:sp>
        </p:grpSp>
      </p:grpSp>
    </p:spTree>
    <p:extLst>
      <p:ext uri="{BB962C8B-B14F-4D97-AF65-F5344CB8AC3E}">
        <p14:creationId xmlns:p14="http://schemas.microsoft.com/office/powerpoint/2010/main" val="42931251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a:extLst>
              <a:ext uri="{FF2B5EF4-FFF2-40B4-BE49-F238E27FC236}">
                <a16:creationId xmlns:a16="http://schemas.microsoft.com/office/drawing/2014/main" id="{78282E9C-4F9E-8347-B302-789132E62B15}"/>
              </a:ext>
            </a:extLst>
          </p:cNvPr>
          <p:cNvGrpSpPr/>
          <p:nvPr/>
        </p:nvGrpSpPr>
        <p:grpSpPr>
          <a:xfrm>
            <a:off x="3738262" y="1267608"/>
            <a:ext cx="7146295" cy="4578941"/>
            <a:chOff x="4621665" y="760557"/>
            <a:chExt cx="7146295" cy="4578941"/>
          </a:xfrm>
        </p:grpSpPr>
        <p:sp>
          <p:nvSpPr>
            <p:cNvPr id="9" name="TextBox 8">
              <a:extLst>
                <a:ext uri="{FF2B5EF4-FFF2-40B4-BE49-F238E27FC236}">
                  <a16:creationId xmlns:a16="http://schemas.microsoft.com/office/drawing/2014/main" id="{99418AFF-3FDA-452C-BD69-43074C029B71}"/>
                </a:ext>
              </a:extLst>
            </p:cNvPr>
            <p:cNvSpPr txBox="1"/>
            <p:nvPr/>
          </p:nvSpPr>
          <p:spPr>
            <a:xfrm>
              <a:off x="8457903" y="3463317"/>
              <a:ext cx="3310057"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Python SDK Samples</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3"/>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3"/>
                </a:rPr>
                <a:t>/vcf-91-python-sdk-samples</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11" name="TextBox 10">
              <a:extLst>
                <a:ext uri="{FF2B5EF4-FFF2-40B4-BE49-F238E27FC236}">
                  <a16:creationId xmlns:a16="http://schemas.microsoft.com/office/drawing/2014/main" id="{B46C0120-96ED-BE82-A4A8-BD64548E5E51}"/>
                </a:ext>
              </a:extLst>
            </p:cNvPr>
            <p:cNvSpPr txBox="1"/>
            <p:nvPr/>
          </p:nvSpPr>
          <p:spPr>
            <a:xfrm>
              <a:off x="4621665" y="1436511"/>
              <a:ext cx="342528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OpenAPI Spec (Dev Portal)</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4"/>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4"/>
                </a:rPr>
                <a:t>/vcf-91-api-spec-dev</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13" name="TextBox 12">
              <a:extLst>
                <a:ext uri="{FF2B5EF4-FFF2-40B4-BE49-F238E27FC236}">
                  <a16:creationId xmlns:a16="http://schemas.microsoft.com/office/drawing/2014/main" id="{5EA6619E-AFBF-7C3C-F3A6-10C8DFC41651}"/>
                </a:ext>
              </a:extLst>
            </p:cNvPr>
            <p:cNvSpPr txBox="1"/>
            <p:nvPr/>
          </p:nvSpPr>
          <p:spPr>
            <a:xfrm>
              <a:off x="4621665" y="2112465"/>
              <a:ext cx="342528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OpenAPI Spec (GitHub)</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5"/>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5"/>
                </a:rPr>
                <a:t>/vcf-91-api-spec-gh</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15" name="TextBox 14">
              <a:extLst>
                <a:ext uri="{FF2B5EF4-FFF2-40B4-BE49-F238E27FC236}">
                  <a16:creationId xmlns:a16="http://schemas.microsoft.com/office/drawing/2014/main" id="{689B3E6D-B6DD-2BA9-2824-A05F637DE782}"/>
                </a:ext>
              </a:extLst>
            </p:cNvPr>
            <p:cNvSpPr txBox="1"/>
            <p:nvPr/>
          </p:nvSpPr>
          <p:spPr>
            <a:xfrm>
              <a:off x="4621665" y="760557"/>
              <a:ext cx="342528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Broadcom Developer Portal for VCF</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6"/>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6"/>
                </a:rPr>
                <a:t>/</a:t>
              </a: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6"/>
                </a:rPr>
                <a:t>vcf</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6"/>
                </a:rPr>
                <a:t>-dev-portal</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17" name="TextBox 16">
              <a:extLst>
                <a:ext uri="{FF2B5EF4-FFF2-40B4-BE49-F238E27FC236}">
                  <a16:creationId xmlns:a16="http://schemas.microsoft.com/office/drawing/2014/main" id="{CA0FFE75-44D4-EE4E-F757-76C3070F9690}"/>
                </a:ext>
              </a:extLst>
            </p:cNvPr>
            <p:cNvSpPr txBox="1"/>
            <p:nvPr/>
          </p:nvSpPr>
          <p:spPr>
            <a:xfrm>
              <a:off x="4621666" y="3464373"/>
              <a:ext cx="3228226"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API SDK &amp; </a:t>
              </a:r>
              <a:r>
                <a:rPr kumimoji="0" lang="en-US" sz="1400" b="1" i="0" u="none" strike="noStrike" kern="0" cap="none" spc="0" normalizeH="0" baseline="0" noProof="0" dirty="0" err="1">
                  <a:ln>
                    <a:noFill/>
                  </a:ln>
                  <a:solidFill>
                    <a:srgbClr val="000000"/>
                  </a:solidFill>
                  <a:effectLst/>
                  <a:uLnTx/>
                  <a:uFillTx/>
                  <a:latin typeface="Arial"/>
                  <a:cs typeface="Arial"/>
                  <a:sym typeface="Arial"/>
                </a:rPr>
                <a:t>PowerCLI</a:t>
              </a:r>
              <a:r>
                <a:rPr kumimoji="0" lang="en-US" sz="1400" b="1" i="0" u="none" strike="noStrike" kern="0" cap="none" spc="0" normalizeH="0" baseline="0" noProof="0" dirty="0">
                  <a:ln>
                    <a:noFill/>
                  </a:ln>
                  <a:solidFill>
                    <a:srgbClr val="000000"/>
                  </a:solidFill>
                  <a:effectLst/>
                  <a:uLnTx/>
                  <a:uFillTx/>
                  <a:latin typeface="Arial"/>
                  <a:cs typeface="Arial"/>
                  <a:sym typeface="Arial"/>
                </a:rPr>
                <a:t> Release Notes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7"/>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7"/>
                </a:rPr>
                <a:t>/vcf-91-api-release-notes</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19" name="TextBox 18">
              <a:extLst>
                <a:ext uri="{FF2B5EF4-FFF2-40B4-BE49-F238E27FC236}">
                  <a16:creationId xmlns:a16="http://schemas.microsoft.com/office/drawing/2014/main" id="{83635085-6B8E-DA9A-CB8F-BD1EE944EAAC}"/>
                </a:ext>
              </a:extLst>
            </p:cNvPr>
            <p:cNvSpPr txBox="1"/>
            <p:nvPr/>
          </p:nvSpPr>
          <p:spPr>
            <a:xfrm>
              <a:off x="8457904" y="760557"/>
              <a:ext cx="3049588"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Python SDK (</a:t>
              </a:r>
              <a:r>
                <a:rPr kumimoji="0" lang="en-US" sz="1400" b="1" i="0" u="none" strike="noStrike" kern="0" cap="none" spc="0" normalizeH="0" baseline="0" noProof="0" dirty="0" err="1">
                  <a:ln>
                    <a:noFill/>
                  </a:ln>
                  <a:solidFill>
                    <a:srgbClr val="000000"/>
                  </a:solidFill>
                  <a:effectLst/>
                  <a:uLnTx/>
                  <a:uFillTx/>
                  <a:latin typeface="Arial"/>
                  <a:cs typeface="Arial"/>
                  <a:sym typeface="Arial"/>
                </a:rPr>
                <a:t>PyPi</a:t>
              </a:r>
              <a:r>
                <a:rPr kumimoji="0" lang="en-US" sz="1400" b="1" i="0" u="none" strike="noStrike" kern="0" cap="none" spc="0" normalizeH="0" baseline="0" noProof="0" dirty="0">
                  <a:ln>
                    <a:noFill/>
                  </a:ln>
                  <a:solidFill>
                    <a:srgbClr val="000000"/>
                  </a:solidFill>
                  <a:effectLst/>
                  <a:uLnTx/>
                  <a:uFillTx/>
                  <a:latin typeface="Arial"/>
                  <a:cs typeface="Arial"/>
                  <a:sym typeface="Arial"/>
                </a:rPr>
                <a:t> - Online)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8"/>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8"/>
                </a:rPr>
                <a:t>/vcf-91-python-sdk-pypi</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21" name="TextBox 20">
              <a:extLst>
                <a:ext uri="{FF2B5EF4-FFF2-40B4-BE49-F238E27FC236}">
                  <a16:creationId xmlns:a16="http://schemas.microsoft.com/office/drawing/2014/main" id="{CCB19699-4B3B-8346-EDB8-C1707CFB0C1F}"/>
                </a:ext>
              </a:extLst>
            </p:cNvPr>
            <p:cNvSpPr txBox="1"/>
            <p:nvPr/>
          </p:nvSpPr>
          <p:spPr>
            <a:xfrm>
              <a:off x="8457903" y="1436247"/>
              <a:ext cx="3243317"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Python SDK (Dev Portal - Offline)</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9"/>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9"/>
                </a:rPr>
                <a:t>/vcf-91-python-sdk-dev</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23" name="TextBox 22">
              <a:extLst>
                <a:ext uri="{FF2B5EF4-FFF2-40B4-BE49-F238E27FC236}">
                  <a16:creationId xmlns:a16="http://schemas.microsoft.com/office/drawing/2014/main" id="{4DEC6AD7-E775-A1D2-908D-286C60E4943A}"/>
                </a:ext>
              </a:extLst>
            </p:cNvPr>
            <p:cNvSpPr txBox="1"/>
            <p:nvPr/>
          </p:nvSpPr>
          <p:spPr>
            <a:xfrm>
              <a:off x="8457903" y="2111937"/>
              <a:ext cx="3243317"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Java SDK (Maven - Online)</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10"/>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10"/>
                </a:rPr>
                <a:t>/vcf-91-java-sdk-maven</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25" name="TextBox 24">
              <a:extLst>
                <a:ext uri="{FF2B5EF4-FFF2-40B4-BE49-F238E27FC236}">
                  <a16:creationId xmlns:a16="http://schemas.microsoft.com/office/drawing/2014/main" id="{5E283294-720C-23B0-160A-86EEDB0999F3}"/>
                </a:ext>
              </a:extLst>
            </p:cNvPr>
            <p:cNvSpPr txBox="1"/>
            <p:nvPr/>
          </p:nvSpPr>
          <p:spPr>
            <a:xfrm>
              <a:off x="8457903" y="2787627"/>
              <a:ext cx="3243317"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Java SDK (Dev Portal - Offline)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11"/>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11"/>
                </a:rPr>
                <a:t>/vcf-91-java-sdk-dev</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27" name="TextBox 26">
              <a:extLst>
                <a:ext uri="{FF2B5EF4-FFF2-40B4-BE49-F238E27FC236}">
                  <a16:creationId xmlns:a16="http://schemas.microsoft.com/office/drawing/2014/main" id="{C9EBF217-ED59-7175-D9DD-7274CC41F073}"/>
                </a:ext>
              </a:extLst>
            </p:cNvPr>
            <p:cNvSpPr txBox="1"/>
            <p:nvPr/>
          </p:nvSpPr>
          <p:spPr>
            <a:xfrm>
              <a:off x="4621665" y="4139007"/>
              <a:ext cx="4185246"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err="1">
                  <a:ln>
                    <a:noFill/>
                  </a:ln>
                  <a:solidFill>
                    <a:srgbClr val="000000"/>
                  </a:solidFill>
                  <a:effectLst/>
                  <a:uLnTx/>
                  <a:uFillTx/>
                  <a:latin typeface="Arial"/>
                  <a:cs typeface="Arial"/>
                  <a:sym typeface="Arial"/>
                </a:rPr>
                <a:t>PowerCLI</a:t>
              </a:r>
              <a:r>
                <a:rPr kumimoji="0" lang="en-US" sz="1400" b="1" i="0" u="none" strike="noStrike" kern="0" cap="none" spc="0" normalizeH="0" baseline="0" noProof="0" dirty="0">
                  <a:ln>
                    <a:noFill/>
                  </a:ln>
                  <a:solidFill>
                    <a:srgbClr val="000000"/>
                  </a:solidFill>
                  <a:effectLst/>
                  <a:uLnTx/>
                  <a:uFillTx/>
                  <a:latin typeface="Arial"/>
                  <a:cs typeface="Arial"/>
                  <a:sym typeface="Arial"/>
                </a:rPr>
                <a:t> Change Log</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12"/>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12"/>
                </a:rPr>
                <a:t>/vcf-91-powercli-change-log</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29" name="TextBox 28">
              <a:extLst>
                <a:ext uri="{FF2B5EF4-FFF2-40B4-BE49-F238E27FC236}">
                  <a16:creationId xmlns:a16="http://schemas.microsoft.com/office/drawing/2014/main" id="{B04B7023-D5B3-36F1-4687-18F3EF0AE490}"/>
                </a:ext>
              </a:extLst>
            </p:cNvPr>
            <p:cNvSpPr txBox="1"/>
            <p:nvPr/>
          </p:nvSpPr>
          <p:spPr>
            <a:xfrm>
              <a:off x="8457904" y="4139007"/>
              <a:ext cx="298077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Java SDK Samples</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13"/>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13"/>
                </a:rPr>
                <a:t>/vcf-91-java-sdk-samples</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31" name="TextBox 30">
              <a:extLst>
                <a:ext uri="{FF2B5EF4-FFF2-40B4-BE49-F238E27FC236}">
                  <a16:creationId xmlns:a16="http://schemas.microsoft.com/office/drawing/2014/main" id="{837B9001-3591-1AE6-D131-5934B0069297}"/>
                </a:ext>
              </a:extLst>
            </p:cNvPr>
            <p:cNvSpPr txBox="1"/>
            <p:nvPr/>
          </p:nvSpPr>
          <p:spPr>
            <a:xfrm>
              <a:off x="4621665" y="4816278"/>
              <a:ext cx="4185246"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err="1">
                  <a:ln>
                    <a:noFill/>
                  </a:ln>
                  <a:solidFill>
                    <a:srgbClr val="000000"/>
                  </a:solidFill>
                  <a:effectLst/>
                  <a:uLnTx/>
                  <a:uFillTx/>
                  <a:latin typeface="Arial"/>
                  <a:cs typeface="Arial"/>
                  <a:sym typeface="Arial"/>
                </a:rPr>
                <a:t>PowerCLI</a:t>
              </a:r>
              <a:r>
                <a:rPr kumimoji="0" lang="en-US" sz="1400" b="1" i="0" u="none" strike="noStrike" kern="0" cap="none" spc="0" normalizeH="0" baseline="0" noProof="0" dirty="0">
                  <a:ln>
                    <a:noFill/>
                  </a:ln>
                  <a:solidFill>
                    <a:srgbClr val="000000"/>
                  </a:solidFill>
                  <a:effectLst/>
                  <a:uLnTx/>
                  <a:uFillTx/>
                  <a:latin typeface="Arial"/>
                  <a:cs typeface="Arial"/>
                  <a:sym typeface="Arial"/>
                </a:rPr>
                <a:t> (PowerShell Gallery)</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14"/>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14"/>
                </a:rPr>
                <a:t>/vcf-91-powercli-psgallery</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sp>
          <p:nvSpPr>
            <p:cNvPr id="35" name="TextBox 34">
              <a:extLst>
                <a:ext uri="{FF2B5EF4-FFF2-40B4-BE49-F238E27FC236}">
                  <a16:creationId xmlns:a16="http://schemas.microsoft.com/office/drawing/2014/main" id="{5346FFC4-A676-3882-E86E-CDC538A590DA}"/>
                </a:ext>
              </a:extLst>
            </p:cNvPr>
            <p:cNvSpPr txBox="1"/>
            <p:nvPr/>
          </p:nvSpPr>
          <p:spPr>
            <a:xfrm>
              <a:off x="4621665" y="2788419"/>
              <a:ext cx="2906356"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dirty="0">
                  <a:ln>
                    <a:noFill/>
                  </a:ln>
                  <a:solidFill>
                    <a:srgbClr val="000000"/>
                  </a:solidFill>
                  <a:effectLst/>
                  <a:uLnTx/>
                  <a:uFillTx/>
                  <a:latin typeface="Arial"/>
                  <a:cs typeface="Arial"/>
                  <a:sym typeface="Arial"/>
                </a:rPr>
                <a:t>VCF 9.1 API Change Log</a:t>
              </a:r>
              <a:r>
                <a:rPr kumimoji="0" lang="en-US" sz="1400" b="0" i="0" u="none" strike="noStrike" kern="0" cap="none" spc="0" normalizeH="0" baseline="0" noProof="0" dirty="0">
                  <a:ln>
                    <a:noFill/>
                  </a:ln>
                  <a:solidFill>
                    <a:srgbClr val="000000"/>
                  </a:solidFill>
                  <a:effectLst/>
                  <a:uLnTx/>
                  <a:uFillTx/>
                  <a:latin typeface="Arial"/>
                  <a:cs typeface="Arial"/>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err="1">
                  <a:ln>
                    <a:noFill/>
                  </a:ln>
                  <a:solidFill>
                    <a:srgbClr val="0070C0"/>
                  </a:solidFill>
                  <a:effectLst/>
                  <a:uLnTx/>
                  <a:uFillTx/>
                  <a:latin typeface="Arial"/>
                  <a:cs typeface="Arial"/>
                  <a:sym typeface="Arial"/>
                  <a:hlinkClick r:id="rId15"/>
                </a:rPr>
                <a:t>brcm.tech</a:t>
              </a:r>
              <a:r>
                <a:rPr kumimoji="0" lang="en-US" sz="1400" b="0" i="0" u="none" strike="noStrike" kern="0" cap="none" spc="0" normalizeH="0" baseline="0" noProof="0" dirty="0">
                  <a:ln>
                    <a:noFill/>
                  </a:ln>
                  <a:solidFill>
                    <a:srgbClr val="0070C0"/>
                  </a:solidFill>
                  <a:effectLst/>
                  <a:uLnTx/>
                  <a:uFillTx/>
                  <a:latin typeface="Arial"/>
                  <a:cs typeface="Arial"/>
                  <a:sym typeface="Arial"/>
                  <a:hlinkClick r:id="rId15"/>
                </a:rPr>
                <a:t>/vcf-91-api-change-log</a:t>
              </a:r>
              <a:endParaRPr kumimoji="0" lang="en-US" sz="1400" b="0" i="0" u="none" strike="noStrike" kern="0" cap="none" spc="0" normalizeH="0" baseline="0" noProof="0" dirty="0">
                <a:ln>
                  <a:noFill/>
                </a:ln>
                <a:solidFill>
                  <a:srgbClr val="0070C0"/>
                </a:solidFill>
                <a:effectLst/>
                <a:uLnTx/>
                <a:uFillTx/>
                <a:latin typeface="Arial"/>
                <a:cs typeface="Arial"/>
                <a:sym typeface="Arial"/>
              </a:endParaRPr>
            </a:p>
          </p:txBody>
        </p:sp>
      </p:grpSp>
      <p:sp>
        <p:nvSpPr>
          <p:cNvPr id="40" name="Text Placeholder 39">
            <a:extLst>
              <a:ext uri="{FF2B5EF4-FFF2-40B4-BE49-F238E27FC236}">
                <a16:creationId xmlns:a16="http://schemas.microsoft.com/office/drawing/2014/main" id="{46174F66-2524-73DC-727D-40BA209B2625}"/>
              </a:ext>
            </a:extLst>
          </p:cNvPr>
          <p:cNvSpPr>
            <a:spLocks noGrp="1"/>
          </p:cNvSpPr>
          <p:nvPr>
            <p:ph type="body" idx="1"/>
          </p:nvPr>
        </p:nvSpPr>
        <p:spPr>
          <a:xfrm>
            <a:off x="609600" y="1267608"/>
            <a:ext cx="3049588" cy="492443"/>
          </a:xfrm>
        </p:spPr>
        <p:txBody>
          <a:bodyPr/>
          <a:lstStyle/>
          <a:p>
            <a:pPr marL="45720" indent="0">
              <a:buNone/>
            </a:pPr>
            <a:r>
              <a:rPr lang="en-US" dirty="0"/>
              <a:t>Resources</a:t>
            </a:r>
          </a:p>
        </p:txBody>
      </p:sp>
    </p:spTree>
    <p:extLst>
      <p:ext uri="{BB962C8B-B14F-4D97-AF65-F5344CB8AC3E}">
        <p14:creationId xmlns:p14="http://schemas.microsoft.com/office/powerpoint/2010/main" val="3814961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15032"/>
        <p:cNvGrpSpPr/>
        <p:nvPr/>
      </p:nvGrpSpPr>
      <p:grpSpPr>
        <a:xfrm>
          <a:off x="0" y="0"/>
          <a:ext cx="0" cy="0"/>
          <a:chOff x="0" y="0"/>
          <a:chExt cx="0" cy="0"/>
        </a:xfrm>
      </p:grpSpPr>
      <p:sp>
        <p:nvSpPr>
          <p:cNvPr id="15033" name="Google Shape;15033;p94"/>
          <p:cNvSpPr txBox="1">
            <a:spLocks noGrp="1"/>
          </p:cNvSpPr>
          <p:nvPr>
            <p:ph type="title"/>
          </p:nvPr>
        </p:nvSpPr>
        <p:spPr>
          <a:xfrm>
            <a:off x="589107" y="938794"/>
            <a:ext cx="7576698" cy="122936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a:t>Extend Data Center to the Edge</a:t>
            </a:r>
            <a:endParaRPr/>
          </a:p>
        </p:txBody>
      </p:sp>
      <p:sp>
        <p:nvSpPr>
          <p:cNvPr id="15034" name="Google Shape;15034;p94"/>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2507"/>
        <p:cNvGrpSpPr/>
        <p:nvPr/>
      </p:nvGrpSpPr>
      <p:grpSpPr>
        <a:xfrm>
          <a:off x="0" y="0"/>
          <a:ext cx="0" cy="0"/>
          <a:chOff x="0" y="0"/>
          <a:chExt cx="0" cy="0"/>
        </a:xfrm>
      </p:grpSpPr>
      <p:sp>
        <p:nvSpPr>
          <p:cNvPr id="2508" name="Google Shape;2508;p6"/>
          <p:cNvSpPr/>
          <p:nvPr/>
        </p:nvSpPr>
        <p:spPr>
          <a:xfrm>
            <a:off x="0" y="82303"/>
            <a:ext cx="12192000" cy="4652400"/>
          </a:xfrm>
          <a:prstGeom prst="rect">
            <a:avLst/>
          </a:prstGeom>
          <a:gradFill>
            <a:gsLst>
              <a:gs pos="0">
                <a:srgbClr val="F4F8FA">
                  <a:alpha val="0"/>
                </a:srgbClr>
              </a:gs>
              <a:gs pos="44000">
                <a:srgbClr val="F4F8FA"/>
              </a:gs>
              <a:gs pos="100000">
                <a:srgbClr val="E9F1F5"/>
              </a:gs>
            </a:gsLst>
            <a:lin ang="16200038" scaled="0"/>
          </a:gradFill>
          <a:ln>
            <a:noFill/>
          </a:ln>
        </p:spPr>
        <p:txBody>
          <a:bodyPr spcFirstLastPara="1" wrap="square" lIns="162325" tIns="81150" rIns="162325" bIns="81150" anchor="ctr" anchorCtr="0">
            <a:noAutofit/>
          </a:bodyPr>
          <a:lstStyle/>
          <a:p>
            <a:pPr marL="304699" marR="0" lvl="0" indent="-304699" algn="ctr" defTabSz="914400" rtl="0" eaLnBrk="1" fontAlgn="auto" latinLnBrk="0" hangingPunct="1">
              <a:lnSpc>
                <a:spcPct val="100000"/>
              </a:lnSpc>
              <a:spcBef>
                <a:spcPts val="0"/>
              </a:spcBef>
              <a:spcAft>
                <a:spcPts val="0"/>
              </a:spcAft>
              <a:buClr>
                <a:srgbClr val="000000"/>
              </a:buClr>
              <a:buSzPts val="2133"/>
              <a:buFont typeface="Arial"/>
              <a:buNone/>
              <a:tabLst/>
              <a:defRPr/>
            </a:pPr>
            <a:endParaRPr kumimoji="0" sz="2133" b="0" i="0" u="none" strike="noStrike" kern="0" cap="none" spc="0" normalizeH="0" baseline="0" noProof="0">
              <a:ln>
                <a:noFill/>
              </a:ln>
              <a:solidFill>
                <a:srgbClr val="FFFFFF"/>
              </a:solidFill>
              <a:effectLst/>
              <a:uLnTx/>
              <a:uFillTx/>
              <a:latin typeface="Arial"/>
              <a:ea typeface="Arial"/>
              <a:cs typeface="Arial"/>
              <a:sym typeface="Arial"/>
            </a:endParaRPr>
          </a:p>
        </p:txBody>
      </p:sp>
      <p:sp>
        <p:nvSpPr>
          <p:cNvPr id="2509" name="Google Shape;2509;p6"/>
          <p:cNvSpPr/>
          <p:nvPr/>
        </p:nvSpPr>
        <p:spPr>
          <a:xfrm>
            <a:off x="601828" y="1192583"/>
            <a:ext cx="3526091" cy="4909511"/>
          </a:xfrm>
          <a:prstGeom prst="roundRect">
            <a:avLst>
              <a:gd name="adj" fmla="val 2307"/>
            </a:avLst>
          </a:prstGeom>
          <a:gradFill>
            <a:gsLst>
              <a:gs pos="0">
                <a:srgbClr val="FFFFFF">
                  <a:alpha val="0"/>
                </a:srgbClr>
              </a:gs>
              <a:gs pos="10000">
                <a:srgbClr val="FFFFFF">
                  <a:alpha val="0"/>
                </a:srgbClr>
              </a:gs>
              <a:gs pos="100000">
                <a:srgbClr val="0193C2">
                  <a:alpha val="13333"/>
                </a:srgbClr>
              </a:gs>
            </a:gsLst>
            <a:lin ang="16200038"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a:ln>
                <a:noFill/>
              </a:ln>
              <a:solidFill>
                <a:srgbClr val="3C3C3C"/>
              </a:solidFill>
              <a:effectLst/>
              <a:uLnTx/>
              <a:uFillTx/>
              <a:latin typeface="Arial"/>
              <a:ea typeface="Arial"/>
              <a:cs typeface="Arial"/>
              <a:sym typeface="Arial"/>
            </a:endParaRPr>
          </a:p>
        </p:txBody>
      </p:sp>
      <p:sp>
        <p:nvSpPr>
          <p:cNvPr id="2510" name="Google Shape;2510;p6"/>
          <p:cNvSpPr txBox="1"/>
          <p:nvPr/>
        </p:nvSpPr>
        <p:spPr>
          <a:xfrm>
            <a:off x="927951" y="2723900"/>
            <a:ext cx="3200100" cy="12777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333"/>
              <a:buFont typeface="Arial"/>
              <a:buNone/>
              <a:tabLst/>
              <a:defRPr/>
            </a:pPr>
            <a:r>
              <a:rPr kumimoji="0" lang="en-US" sz="1300" b="1" i="0" u="none" strike="noStrike" kern="0" cap="none" spc="0" normalizeH="0" baseline="0" noProof="0" dirty="0">
                <a:ln>
                  <a:noFill/>
                </a:ln>
                <a:solidFill>
                  <a:srgbClr val="262626"/>
                </a:solidFill>
                <a:effectLst/>
                <a:uLnTx/>
                <a:uFillTx/>
                <a:latin typeface="Arial"/>
                <a:ea typeface="Arial"/>
                <a:cs typeface="Arial"/>
                <a:sym typeface="Arial"/>
              </a:rPr>
              <a:t>Right Sized Edge Deployments </a:t>
            </a:r>
            <a:endParaRPr kumimoji="0" sz="1300" b="0" i="0" u="none" strike="noStrike" kern="0" cap="none" spc="0" normalizeH="0" baseline="0" noProof="0" dirty="0">
              <a:ln>
                <a:noFill/>
              </a:ln>
              <a:solidFill>
                <a:srgbClr val="262626"/>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Single Node: Compact footprint with vSphere + vSphere Kubernetes Servic</a:t>
            </a:r>
            <a:r>
              <a:rPr kumimoji="0" lang="en-US" sz="1100" b="0" i="0" u="none" strike="noStrike" kern="0" cap="none" spc="0" normalizeH="0" baseline="0" noProof="0" dirty="0">
                <a:ln>
                  <a:noFill/>
                </a:ln>
                <a:solidFill>
                  <a:srgbClr val="000000"/>
                </a:solidFill>
                <a:effectLst/>
                <a:uLnTx/>
                <a:uFillTx/>
                <a:latin typeface="Arial"/>
                <a:ea typeface="+mn-ea"/>
                <a:cs typeface="Arial"/>
                <a:sym typeface="Arial"/>
              </a:rPr>
              <a:t>e(VKS)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Two Node: High Availability with vSAN + Witness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Multi Cluster (3+ Node): Scalable Configurations  </a:t>
            </a:r>
            <a:endParaRPr kumimoji="0" sz="14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11" name="Google Shape;2511;p6"/>
          <p:cNvSpPr/>
          <p:nvPr/>
        </p:nvSpPr>
        <p:spPr>
          <a:xfrm rot="10800000">
            <a:off x="601826" y="1194827"/>
            <a:ext cx="3526092" cy="1273161"/>
          </a:xfrm>
          <a:prstGeom prst="roundRect">
            <a:avLst>
              <a:gd name="adj" fmla="val 3599"/>
            </a:avLst>
          </a:prstGeom>
          <a:gradFill>
            <a:gsLst>
              <a:gs pos="0">
                <a:srgbClr val="0098C7">
                  <a:alpha val="0"/>
                </a:srgbClr>
              </a:gs>
              <a:gs pos="99000">
                <a:srgbClr val="0098C7">
                  <a:alpha val="23137"/>
                </a:srgbClr>
              </a:gs>
              <a:gs pos="100000">
                <a:srgbClr val="0098C7">
                  <a:alpha val="23137"/>
                </a:srgbClr>
              </a:gs>
            </a:gsLst>
            <a:lin ang="16200000" scaled="0"/>
          </a:gra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12" name="Google Shape;2512;p6"/>
          <p:cNvSpPr/>
          <p:nvPr/>
        </p:nvSpPr>
        <p:spPr>
          <a:xfrm>
            <a:off x="4408043" y="1192583"/>
            <a:ext cx="3526091" cy="4909511"/>
          </a:xfrm>
          <a:prstGeom prst="roundRect">
            <a:avLst>
              <a:gd name="adj" fmla="val 2522"/>
            </a:avLst>
          </a:prstGeom>
          <a:gradFill>
            <a:gsLst>
              <a:gs pos="0">
                <a:srgbClr val="FFFFFF">
                  <a:alpha val="0"/>
                </a:srgbClr>
              </a:gs>
              <a:gs pos="10000">
                <a:srgbClr val="FFFFFF">
                  <a:alpha val="0"/>
                </a:srgbClr>
              </a:gs>
              <a:gs pos="100000">
                <a:srgbClr val="61A00A">
                  <a:alpha val="8627"/>
                </a:srgbClr>
              </a:gs>
            </a:gsLst>
            <a:lin ang="16200038"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300"/>
              <a:buFont typeface="Arial"/>
              <a:buNone/>
              <a:tabLst/>
              <a:defRPr/>
            </a:pPr>
            <a:endParaRPr kumimoji="0" sz="13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13" name="Google Shape;2513;p6"/>
          <p:cNvSpPr/>
          <p:nvPr/>
        </p:nvSpPr>
        <p:spPr>
          <a:xfrm>
            <a:off x="8209425" y="1192583"/>
            <a:ext cx="3526091" cy="4909511"/>
          </a:xfrm>
          <a:prstGeom prst="roundRect">
            <a:avLst>
              <a:gd name="adj" fmla="val 3181"/>
            </a:avLst>
          </a:prstGeom>
          <a:gradFill>
            <a:gsLst>
              <a:gs pos="0">
                <a:srgbClr val="FFFFFF">
                  <a:alpha val="0"/>
                </a:srgbClr>
              </a:gs>
              <a:gs pos="10000">
                <a:srgbClr val="FFFFFF">
                  <a:alpha val="0"/>
                </a:srgbClr>
              </a:gs>
              <a:gs pos="100000">
                <a:srgbClr val="6C4B8F">
                  <a:alpha val="10588"/>
                </a:srgbClr>
              </a:gs>
            </a:gsLst>
            <a:lin ang="16200038"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a:ln>
                <a:noFill/>
              </a:ln>
              <a:solidFill>
                <a:srgbClr val="3C3C3C"/>
              </a:solidFill>
              <a:effectLst/>
              <a:uLnTx/>
              <a:uFillTx/>
              <a:latin typeface="Arial"/>
              <a:ea typeface="Arial"/>
              <a:cs typeface="Arial"/>
              <a:sym typeface="Arial"/>
            </a:endParaRPr>
          </a:p>
        </p:txBody>
      </p:sp>
      <p:sp>
        <p:nvSpPr>
          <p:cNvPr id="2514" name="Google Shape;2514;p6"/>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dirty="0"/>
              <a:t>VMware Cloud Foundation Edge: Overview </a:t>
            </a:r>
            <a:endParaRPr dirty="0"/>
          </a:p>
        </p:txBody>
      </p:sp>
      <p:sp>
        <p:nvSpPr>
          <p:cNvPr id="2515" name="Google Shape;2515;p6"/>
          <p:cNvSpPr/>
          <p:nvPr/>
        </p:nvSpPr>
        <p:spPr>
          <a:xfrm>
            <a:off x="8235170" y="4425917"/>
            <a:ext cx="3474600" cy="7761"/>
          </a:xfrm>
          <a:prstGeom prst="rect">
            <a:avLst/>
          </a:prstGeom>
          <a:gradFill>
            <a:gsLst>
              <a:gs pos="0">
                <a:srgbClr val="005C8A">
                  <a:alpha val="0"/>
                </a:srgbClr>
              </a:gs>
              <a:gs pos="29000">
                <a:schemeClr val="accent5"/>
              </a:gs>
              <a:gs pos="70000">
                <a:schemeClr val="accent5"/>
              </a:gs>
              <a:gs pos="100000">
                <a:srgbClr val="005C8A">
                  <a:alpha val="0"/>
                </a:srgbClr>
              </a:gs>
            </a:gsLst>
            <a:lin ang="0" scaled="0"/>
          </a:gradFill>
          <a:ln>
            <a:noFill/>
          </a:ln>
        </p:spPr>
        <p:txBody>
          <a:bodyPr spcFirstLastPara="1" wrap="square" lIns="121725" tIns="60875" rIns="121725" bIns="608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sp>
        <p:nvSpPr>
          <p:cNvPr id="2516" name="Google Shape;2516;p6"/>
          <p:cNvSpPr txBox="1"/>
          <p:nvPr/>
        </p:nvSpPr>
        <p:spPr>
          <a:xfrm>
            <a:off x="927944" y="4703738"/>
            <a:ext cx="3544500" cy="9390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333"/>
              <a:buFont typeface="Arial"/>
              <a:buNone/>
              <a:tabLst/>
              <a:defRPr/>
            </a:pPr>
            <a:r>
              <a:rPr kumimoji="0" lang="en-US" sz="1300" b="1" i="0" u="none" strike="noStrike" kern="0" cap="none" spc="0" normalizeH="0" baseline="0" noProof="0" dirty="0">
                <a:ln>
                  <a:noFill/>
                </a:ln>
                <a:solidFill>
                  <a:srgbClr val="262626"/>
                </a:solidFill>
                <a:effectLst/>
                <a:uLnTx/>
                <a:uFillTx/>
                <a:latin typeface="Arial"/>
                <a:ea typeface="Arial"/>
                <a:cs typeface="Arial"/>
                <a:sym typeface="Arial"/>
              </a:rPr>
              <a:t>Fleet Scale &amp; Automation   </a:t>
            </a:r>
            <a:endParaRPr kumimoji="0" sz="1300" b="1" i="0" u="none" strike="noStrike" kern="0" cap="none" spc="0" normalizeH="0" baseline="0" noProof="0" dirty="0">
              <a:ln>
                <a:noFill/>
              </a:ln>
              <a:solidFill>
                <a:srgbClr val="262626"/>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Zero Touch Provisioning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Day Zero Activation Script</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Expanded Fleet Size and Upgrade Scale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17" name="Google Shape;2517;p6"/>
          <p:cNvSpPr txBox="1"/>
          <p:nvPr/>
        </p:nvSpPr>
        <p:spPr>
          <a:xfrm>
            <a:off x="4754685" y="2723909"/>
            <a:ext cx="3020400" cy="93871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300"/>
              <a:buFont typeface="Arial"/>
              <a:buNone/>
              <a:tabLst/>
              <a:defRPr/>
            </a:pPr>
            <a:r>
              <a:rPr kumimoji="0" lang="en-US" sz="1300" b="1" i="0" u="none" strike="noStrike" kern="0" cap="none" spc="0" normalizeH="0" baseline="0" noProof="0">
                <a:ln>
                  <a:noFill/>
                </a:ln>
                <a:solidFill>
                  <a:srgbClr val="262626"/>
                </a:solidFill>
                <a:effectLst/>
                <a:uLnTx/>
                <a:uFillTx/>
                <a:latin typeface="Arial"/>
                <a:ea typeface="Arial"/>
                <a:cs typeface="Arial"/>
                <a:sym typeface="Arial"/>
              </a:rPr>
              <a:t>Unified Application </a:t>
            </a:r>
            <a:r>
              <a:rPr kumimoji="0" lang="en-US" sz="1300" b="1" i="0" u="none" strike="noStrike" kern="0" cap="none" spc="0" normalizeH="0" baseline="0" noProof="0" dirty="0">
                <a:ln>
                  <a:noFill/>
                </a:ln>
                <a:solidFill>
                  <a:srgbClr val="262626"/>
                </a:solidFill>
                <a:effectLst/>
                <a:uLnTx/>
                <a:uFillTx/>
                <a:latin typeface="Arial"/>
                <a:ea typeface="+mn-ea"/>
                <a:cs typeface="Arial"/>
                <a:sym typeface="Arial"/>
              </a:rPr>
              <a:t>Runtime</a:t>
            </a:r>
            <a:endParaRPr kumimoji="0" sz="1300" b="1" i="0" u="none" strike="noStrike" kern="0" cap="none" spc="0" normalizeH="0" baseline="0" noProof="0" dirty="0">
              <a:ln>
                <a:noFill/>
              </a:ln>
              <a:solidFill>
                <a:srgbClr val="262626"/>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Accelerate workloads deployments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Built-in Container-as-a-Service (CaaS)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Run AI anywhere (CPU and GPU)</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18" name="Google Shape;2518;p6"/>
          <p:cNvSpPr txBox="1"/>
          <p:nvPr/>
        </p:nvSpPr>
        <p:spPr>
          <a:xfrm>
            <a:off x="4754685" y="4703738"/>
            <a:ext cx="3871200" cy="9390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300"/>
              <a:buFont typeface="Arial"/>
              <a:buNone/>
              <a:tabLst/>
              <a:defRPr/>
            </a:pPr>
            <a:r>
              <a:rPr kumimoji="0" lang="en-US" sz="1300" b="1" i="0" u="none" strike="noStrike" kern="0" cap="none" spc="0" normalizeH="0" baseline="0" noProof="0" dirty="0">
                <a:ln>
                  <a:noFill/>
                </a:ln>
                <a:solidFill>
                  <a:srgbClr val="262626"/>
                </a:solidFill>
                <a:effectLst/>
                <a:uLnTx/>
                <a:uFillTx/>
                <a:latin typeface="Arial"/>
                <a:ea typeface="+mn-ea"/>
                <a:cs typeface="Arial"/>
                <a:sym typeface="Arial"/>
              </a:rPr>
              <a:t>Continuous</a:t>
            </a:r>
            <a:r>
              <a:rPr kumimoji="0" lang="en-US" sz="1300" b="1" i="0" u="none" strike="noStrike" kern="0" cap="none" spc="0" normalizeH="0" baseline="0" noProof="0" dirty="0">
                <a:ln>
                  <a:noFill/>
                </a:ln>
                <a:solidFill>
                  <a:srgbClr val="262626"/>
                </a:solidFill>
                <a:effectLst/>
                <a:uLnTx/>
                <a:uFillTx/>
                <a:latin typeface="Arial"/>
                <a:ea typeface="Arial"/>
                <a:cs typeface="Arial"/>
                <a:sym typeface="Arial"/>
              </a:rPr>
              <a:t> Delivery </a:t>
            </a:r>
            <a:endParaRPr kumimoji="0" sz="1300" b="1" i="0" u="none" strike="noStrike" kern="0" cap="none" spc="0" normalizeH="0" baseline="0" noProof="0" dirty="0">
              <a:ln>
                <a:noFill/>
              </a:ln>
              <a:solidFill>
                <a:srgbClr val="262626"/>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Centralize Image Distribution (Content Library)</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GitOps Desired State (Argo CD)</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Real Time Fleet Observability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19" name="Google Shape;2519;p6"/>
          <p:cNvSpPr txBox="1"/>
          <p:nvPr/>
        </p:nvSpPr>
        <p:spPr>
          <a:xfrm>
            <a:off x="8572256" y="2723909"/>
            <a:ext cx="2849100" cy="1277273"/>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300"/>
              <a:buFont typeface="Arial"/>
              <a:buNone/>
              <a:tabLst/>
              <a:defRPr/>
            </a:pPr>
            <a:r>
              <a:rPr kumimoji="0" lang="en-US" sz="1300" b="1" i="0" u="none" strike="noStrike" kern="0" cap="none" spc="0" normalizeH="0" baseline="0" noProof="0" dirty="0">
                <a:ln>
                  <a:noFill/>
                </a:ln>
                <a:solidFill>
                  <a:srgbClr val="262626"/>
                </a:solidFill>
                <a:effectLst/>
                <a:uLnTx/>
                <a:uFillTx/>
                <a:latin typeface="Arial"/>
                <a:ea typeface="Arial"/>
                <a:cs typeface="Arial"/>
                <a:sym typeface="Arial"/>
              </a:rPr>
              <a:t>Fleet Compliance </a:t>
            </a:r>
            <a:endParaRPr kumimoji="0" sz="1300" b="1" i="0" u="none" strike="noStrike" kern="0" cap="none" spc="0" normalizeH="0" baseline="0" noProof="0" dirty="0">
              <a:ln>
                <a:noFill/>
              </a:ln>
              <a:solidFill>
                <a:srgbClr val="262626"/>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Configuration Management - Desired State </a:t>
            </a:r>
            <a:endParaRPr kumimoji="0" sz="14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Compliance certifications (FIPS 140-3, STIG)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Fine-grained access control for sensitive credentials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20" name="Google Shape;2520;p6"/>
          <p:cNvSpPr txBox="1"/>
          <p:nvPr/>
        </p:nvSpPr>
        <p:spPr>
          <a:xfrm>
            <a:off x="8572256" y="4703738"/>
            <a:ext cx="3544500" cy="9390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300"/>
              <a:buFont typeface="Arial"/>
              <a:buNone/>
              <a:tabLst/>
              <a:defRPr/>
            </a:pPr>
            <a:r>
              <a:rPr kumimoji="0" lang="en-US" sz="1300" b="1" i="0" u="none" strike="noStrike" kern="0" cap="none" spc="0" normalizeH="0" baseline="0" noProof="0" dirty="0">
                <a:ln>
                  <a:noFill/>
                </a:ln>
                <a:solidFill>
                  <a:srgbClr val="262626"/>
                </a:solidFill>
                <a:effectLst/>
                <a:uLnTx/>
                <a:uFillTx/>
                <a:latin typeface="Arial"/>
                <a:ea typeface="+mn-ea"/>
                <a:cs typeface="Arial"/>
                <a:sym typeface="Arial"/>
              </a:rPr>
              <a:t>Intrinsic </a:t>
            </a:r>
            <a:r>
              <a:rPr kumimoji="0" lang="en-US" sz="1300" b="1" i="0" u="none" strike="noStrike" kern="0" cap="none" spc="0" normalizeH="0" baseline="0" noProof="0" dirty="0">
                <a:ln>
                  <a:noFill/>
                </a:ln>
                <a:solidFill>
                  <a:srgbClr val="262626"/>
                </a:solidFill>
                <a:effectLst/>
                <a:uLnTx/>
                <a:uFillTx/>
                <a:latin typeface="Arial"/>
                <a:ea typeface="Arial"/>
                <a:cs typeface="Arial"/>
                <a:sym typeface="Arial"/>
              </a:rPr>
              <a:t>Edge Security </a:t>
            </a:r>
            <a:endParaRPr kumimoji="0" sz="1300" b="1" i="0" u="none" strike="noStrike" kern="0" cap="none" spc="0" normalizeH="0" baseline="0" noProof="0" dirty="0">
              <a:ln>
                <a:noFill/>
              </a:ln>
              <a:solidFill>
                <a:srgbClr val="262626"/>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Non-Disruptive Live Patching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Enhanced Confidential Computing</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77800" marR="0" lvl="0" indent="-171450" algn="l" defTabSz="914400" rtl="0" eaLnBrk="1" fontAlgn="auto" latinLnBrk="0" hangingPunct="1">
              <a:lnSpc>
                <a:spcPct val="100000"/>
              </a:lnSpc>
              <a:spcBef>
                <a:spcPts val="600"/>
              </a:spcBef>
              <a:spcAft>
                <a:spcPts val="0"/>
              </a:spcAft>
              <a:buClr>
                <a:srgbClr val="000000"/>
              </a:buClr>
              <a:buSzPts val="1100"/>
              <a:buFont typeface="Arial"/>
              <a:buChar char="•"/>
              <a:tabLst/>
              <a:defRPr/>
            </a:pPr>
            <a:r>
              <a:rPr kumimoji="0" lang="en-US" sz="1100" b="0" i="0" u="none" strike="noStrike" kern="0" cap="none" spc="0" normalizeH="0" baseline="0" noProof="0" dirty="0">
                <a:ln>
                  <a:noFill/>
                </a:ln>
                <a:solidFill>
                  <a:srgbClr val="000000"/>
                </a:solidFill>
                <a:effectLst/>
                <a:uLnTx/>
                <a:uFillTx/>
                <a:latin typeface="Arial"/>
                <a:ea typeface="Arial"/>
                <a:cs typeface="Arial"/>
                <a:sym typeface="Arial"/>
              </a:rPr>
              <a:t>Hardware Root of Trust (Secure Boot, TPM) </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22" name="Google Shape;2522;p6"/>
          <p:cNvSpPr/>
          <p:nvPr/>
        </p:nvSpPr>
        <p:spPr>
          <a:xfrm>
            <a:off x="4438672" y="4425917"/>
            <a:ext cx="3474600" cy="7761"/>
          </a:xfrm>
          <a:prstGeom prst="rect">
            <a:avLst/>
          </a:prstGeom>
          <a:gradFill>
            <a:gsLst>
              <a:gs pos="0">
                <a:srgbClr val="005C8A">
                  <a:alpha val="0"/>
                </a:srgbClr>
              </a:gs>
              <a:gs pos="29000">
                <a:schemeClr val="accent4"/>
              </a:gs>
              <a:gs pos="70000">
                <a:schemeClr val="accent4"/>
              </a:gs>
              <a:gs pos="100000">
                <a:srgbClr val="005C8A">
                  <a:alpha val="0"/>
                </a:srgbClr>
              </a:gs>
            </a:gsLst>
            <a:lin ang="0" scaled="0"/>
          </a:gradFill>
          <a:ln>
            <a:noFill/>
          </a:ln>
        </p:spPr>
        <p:txBody>
          <a:bodyPr spcFirstLastPara="1" wrap="square" lIns="121725" tIns="60875" rIns="121725" bIns="608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sp>
        <p:nvSpPr>
          <p:cNvPr id="2523" name="Google Shape;2523;p6"/>
          <p:cNvSpPr/>
          <p:nvPr/>
        </p:nvSpPr>
        <p:spPr>
          <a:xfrm>
            <a:off x="630601" y="4425917"/>
            <a:ext cx="3474600" cy="7761"/>
          </a:xfrm>
          <a:prstGeom prst="rect">
            <a:avLst/>
          </a:prstGeom>
          <a:gradFill>
            <a:gsLst>
              <a:gs pos="0">
                <a:srgbClr val="005C8A">
                  <a:alpha val="0"/>
                </a:srgbClr>
              </a:gs>
              <a:gs pos="28000">
                <a:schemeClr val="accent3"/>
              </a:gs>
              <a:gs pos="70000">
                <a:schemeClr val="accent3"/>
              </a:gs>
              <a:gs pos="100000">
                <a:srgbClr val="005C8A">
                  <a:alpha val="0"/>
                </a:srgbClr>
              </a:gs>
            </a:gsLst>
            <a:lin ang="0" scaled="0"/>
          </a:gradFill>
          <a:ln>
            <a:noFill/>
          </a:ln>
        </p:spPr>
        <p:txBody>
          <a:bodyPr spcFirstLastPara="1" wrap="square" lIns="121725" tIns="60875" rIns="121725" bIns="608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sp>
        <p:nvSpPr>
          <p:cNvPr id="2524" name="Google Shape;2524;p6"/>
          <p:cNvSpPr/>
          <p:nvPr/>
        </p:nvSpPr>
        <p:spPr>
          <a:xfrm>
            <a:off x="2940113" y="1631462"/>
            <a:ext cx="1034346" cy="566616"/>
          </a:xfrm>
          <a:custGeom>
            <a:avLst/>
            <a:gdLst/>
            <a:ahLst/>
            <a:cxnLst/>
            <a:rect l="l" t="t" r="r" b="b"/>
            <a:pathLst>
              <a:path w="2682827" h="1469656" extrusionOk="0">
                <a:moveTo>
                  <a:pt x="1105514" y="1469657"/>
                </a:moveTo>
                <a:lnTo>
                  <a:pt x="39752" y="1469657"/>
                </a:lnTo>
                <a:cubicBezTo>
                  <a:pt x="4372" y="1469657"/>
                  <a:pt x="-13292" y="1426849"/>
                  <a:pt x="11722" y="1401879"/>
                </a:cubicBezTo>
                <a:lnTo>
                  <a:pt x="1296626" y="116293"/>
                </a:lnTo>
                <a:cubicBezTo>
                  <a:pt x="1371063" y="41819"/>
                  <a:pt x="1472049" y="0"/>
                  <a:pt x="1577314" y="0"/>
                </a:cubicBezTo>
                <a:lnTo>
                  <a:pt x="2643075" y="0"/>
                </a:lnTo>
                <a:cubicBezTo>
                  <a:pt x="2678456" y="0"/>
                  <a:pt x="2696119" y="42807"/>
                  <a:pt x="2671106" y="67778"/>
                </a:cubicBezTo>
                <a:lnTo>
                  <a:pt x="1386147" y="1353364"/>
                </a:lnTo>
                <a:cubicBezTo>
                  <a:pt x="1311710" y="1427837"/>
                  <a:pt x="1210724" y="1469657"/>
                  <a:pt x="1105459" y="1469657"/>
                </a:cubicBezTo>
                <a:lnTo>
                  <a:pt x="1105459" y="1469657"/>
                </a:lnTo>
                <a:close/>
              </a:path>
            </a:pathLst>
          </a:custGeom>
          <a:solidFill>
            <a:schemeClr val="accent3">
              <a:alpha val="21176"/>
            </a:schemeClr>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525" name="Google Shape;2525;p6"/>
          <p:cNvGrpSpPr/>
          <p:nvPr/>
        </p:nvGrpSpPr>
        <p:grpSpPr>
          <a:xfrm>
            <a:off x="3239358" y="1728297"/>
            <a:ext cx="766641" cy="741362"/>
            <a:chOff x="1931900" y="4220927"/>
            <a:chExt cx="1989066" cy="1922902"/>
          </a:xfrm>
        </p:grpSpPr>
        <p:grpSp>
          <p:nvGrpSpPr>
            <p:cNvPr id="2526" name="Google Shape;2526;p6"/>
            <p:cNvGrpSpPr/>
            <p:nvPr/>
          </p:nvGrpSpPr>
          <p:grpSpPr>
            <a:xfrm>
              <a:off x="2414561" y="4220927"/>
              <a:ext cx="1375303" cy="1920597"/>
              <a:chOff x="2414561" y="4220927"/>
              <a:chExt cx="1375303" cy="1920597"/>
            </a:xfrm>
          </p:grpSpPr>
          <p:sp>
            <p:nvSpPr>
              <p:cNvPr id="2527" name="Google Shape;2527;p6"/>
              <p:cNvSpPr/>
              <p:nvPr/>
            </p:nvSpPr>
            <p:spPr>
              <a:xfrm>
                <a:off x="3482023" y="5481691"/>
                <a:ext cx="119637" cy="658625"/>
              </a:xfrm>
              <a:custGeom>
                <a:avLst/>
                <a:gdLst/>
                <a:ahLst/>
                <a:cxnLst/>
                <a:rect l="l" t="t" r="r" b="b"/>
                <a:pathLst>
                  <a:path w="119637" h="658625" extrusionOk="0">
                    <a:moveTo>
                      <a:pt x="112232" y="0"/>
                    </a:moveTo>
                    <a:lnTo>
                      <a:pt x="119637" y="658626"/>
                    </a:lnTo>
                    <a:lnTo>
                      <a:pt x="73011" y="658626"/>
                    </a:lnTo>
                    <a:lnTo>
                      <a:pt x="0" y="112506"/>
                    </a:lnTo>
                    <a:lnTo>
                      <a:pt x="112232" y="0"/>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28" name="Google Shape;2528;p6"/>
              <p:cNvSpPr/>
              <p:nvPr/>
            </p:nvSpPr>
            <p:spPr>
              <a:xfrm>
                <a:off x="2707263" y="4666132"/>
                <a:ext cx="691820" cy="938054"/>
              </a:xfrm>
              <a:custGeom>
                <a:avLst/>
                <a:gdLst/>
                <a:ahLst/>
                <a:cxnLst/>
                <a:rect l="l" t="t" r="r" b="b"/>
                <a:pathLst>
                  <a:path w="691820" h="938054" extrusionOk="0">
                    <a:moveTo>
                      <a:pt x="617274" y="47776"/>
                    </a:moveTo>
                    <a:lnTo>
                      <a:pt x="488805" y="469645"/>
                    </a:lnTo>
                    <a:cubicBezTo>
                      <a:pt x="480797" y="496866"/>
                      <a:pt x="476792" y="525075"/>
                      <a:pt x="477012" y="553503"/>
                    </a:cubicBezTo>
                    <a:lnTo>
                      <a:pt x="477560" y="645539"/>
                    </a:lnTo>
                    <a:cubicBezTo>
                      <a:pt x="478109" y="727202"/>
                      <a:pt x="412064" y="793827"/>
                      <a:pt x="330387" y="793827"/>
                    </a:cubicBezTo>
                    <a:lnTo>
                      <a:pt x="144157" y="793827"/>
                    </a:lnTo>
                    <a:cubicBezTo>
                      <a:pt x="64509" y="793827"/>
                      <a:pt x="0" y="858422"/>
                      <a:pt x="0" y="938054"/>
                    </a:cubicBezTo>
                    <a:lnTo>
                      <a:pt x="358527" y="938054"/>
                    </a:lnTo>
                    <a:cubicBezTo>
                      <a:pt x="463737" y="938054"/>
                      <a:pt x="549090" y="852714"/>
                      <a:pt x="549090" y="747398"/>
                    </a:cubicBezTo>
                    <a:lnTo>
                      <a:pt x="549090" y="565906"/>
                    </a:lnTo>
                    <a:cubicBezTo>
                      <a:pt x="549090" y="539179"/>
                      <a:pt x="552436" y="512562"/>
                      <a:pt x="559073" y="486713"/>
                    </a:cubicBezTo>
                    <a:lnTo>
                      <a:pt x="691820" y="852"/>
                    </a:lnTo>
                    <a:lnTo>
                      <a:pt x="691820" y="852"/>
                    </a:lnTo>
                    <a:cubicBezTo>
                      <a:pt x="658743" y="-4471"/>
                      <a:pt x="626873" y="15615"/>
                      <a:pt x="617383" y="47831"/>
                    </a:cubicBezTo>
                    <a:lnTo>
                      <a:pt x="617329" y="47831"/>
                    </a:lnTo>
                    <a:close/>
                  </a:path>
                </a:pathLst>
              </a:custGeom>
              <a:solidFill>
                <a:srgbClr val="6D6F7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529" name="Google Shape;2529;p6"/>
              <p:cNvGrpSpPr/>
              <p:nvPr/>
            </p:nvGrpSpPr>
            <p:grpSpPr>
              <a:xfrm>
                <a:off x="3206828" y="4220927"/>
                <a:ext cx="333724" cy="437660"/>
                <a:chOff x="3206828" y="4220927"/>
                <a:chExt cx="333724" cy="437660"/>
              </a:xfrm>
            </p:grpSpPr>
            <p:sp>
              <p:nvSpPr>
                <p:cNvPr id="2530" name="Google Shape;2530;p6"/>
                <p:cNvSpPr/>
                <p:nvPr/>
              </p:nvSpPr>
              <p:spPr>
                <a:xfrm>
                  <a:off x="3348508" y="4411623"/>
                  <a:ext cx="192044" cy="246964"/>
                </a:xfrm>
                <a:custGeom>
                  <a:avLst/>
                  <a:gdLst/>
                  <a:ahLst/>
                  <a:cxnLst/>
                  <a:rect l="l" t="t" r="r" b="b"/>
                  <a:pathLst>
                    <a:path w="192044" h="246964" extrusionOk="0">
                      <a:moveTo>
                        <a:pt x="192044" y="209700"/>
                      </a:moveTo>
                      <a:lnTo>
                        <a:pt x="21338" y="246964"/>
                      </a:lnTo>
                      <a:lnTo>
                        <a:pt x="0" y="127379"/>
                      </a:lnTo>
                      <a:lnTo>
                        <a:pt x="141579" y="0"/>
                      </a:lnTo>
                      <a:lnTo>
                        <a:pt x="192044" y="209700"/>
                      </a:lnTo>
                      <a:close/>
                    </a:path>
                  </a:pathLst>
                </a:custGeom>
                <a:solidFill>
                  <a:srgbClr val="B4785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1" name="Google Shape;2531;p6"/>
                <p:cNvSpPr/>
                <p:nvPr/>
              </p:nvSpPr>
              <p:spPr>
                <a:xfrm>
                  <a:off x="3233739" y="4284356"/>
                  <a:ext cx="237931" cy="292123"/>
                </a:xfrm>
                <a:custGeom>
                  <a:avLst/>
                  <a:gdLst/>
                  <a:ahLst/>
                  <a:cxnLst/>
                  <a:rect l="l" t="t" r="r" b="b"/>
                  <a:pathLst>
                    <a:path w="237931" h="292123" extrusionOk="0">
                      <a:moveTo>
                        <a:pt x="161998" y="280934"/>
                      </a:moveTo>
                      <a:lnTo>
                        <a:pt x="117895" y="290593"/>
                      </a:lnTo>
                      <a:cubicBezTo>
                        <a:pt x="73683" y="300252"/>
                        <a:pt x="39783" y="263152"/>
                        <a:pt x="27989" y="209149"/>
                      </a:cubicBezTo>
                      <a:lnTo>
                        <a:pt x="452" y="82704"/>
                      </a:lnTo>
                      <a:cubicBezTo>
                        <a:pt x="-4704" y="59105"/>
                        <a:pt x="34736" y="15090"/>
                        <a:pt x="91894" y="2578"/>
                      </a:cubicBezTo>
                      <a:lnTo>
                        <a:pt x="91894" y="2578"/>
                      </a:lnTo>
                      <a:cubicBezTo>
                        <a:pt x="149052" y="-9880"/>
                        <a:pt x="205442" y="24036"/>
                        <a:pt x="217291" y="78039"/>
                      </a:cubicBezTo>
                      <a:lnTo>
                        <a:pt x="235996" y="163873"/>
                      </a:lnTo>
                      <a:cubicBezTo>
                        <a:pt x="247735" y="217876"/>
                        <a:pt x="203961" y="271933"/>
                        <a:pt x="162053" y="281044"/>
                      </a:cubicBezTo>
                      <a:lnTo>
                        <a:pt x="161998" y="281044"/>
                      </a:lnTo>
                      <a:close/>
                    </a:path>
                  </a:pathLst>
                </a:custGeom>
                <a:solidFill>
                  <a:srgbClr val="B4785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2" name="Google Shape;2532;p6"/>
                <p:cNvSpPr/>
                <p:nvPr/>
              </p:nvSpPr>
              <p:spPr>
                <a:xfrm>
                  <a:off x="3206828" y="4220927"/>
                  <a:ext cx="300994" cy="194592"/>
                </a:xfrm>
                <a:custGeom>
                  <a:avLst/>
                  <a:gdLst/>
                  <a:ahLst/>
                  <a:cxnLst/>
                  <a:rect l="l" t="t" r="r" b="b"/>
                  <a:pathLst>
                    <a:path w="300994" h="194592" extrusionOk="0">
                      <a:moveTo>
                        <a:pt x="36195" y="177250"/>
                      </a:moveTo>
                      <a:lnTo>
                        <a:pt x="4325" y="129119"/>
                      </a:lnTo>
                      <a:cubicBezTo>
                        <a:pt x="-6481" y="112820"/>
                        <a:pt x="3941" y="90977"/>
                        <a:pt x="24731" y="86477"/>
                      </a:cubicBezTo>
                      <a:lnTo>
                        <a:pt x="24731" y="86477"/>
                      </a:lnTo>
                      <a:cubicBezTo>
                        <a:pt x="24731" y="86477"/>
                        <a:pt x="9591" y="49377"/>
                        <a:pt x="29558" y="22595"/>
                      </a:cubicBezTo>
                      <a:cubicBezTo>
                        <a:pt x="120067" y="-12748"/>
                        <a:pt x="220011" y="-16"/>
                        <a:pt x="260439" y="16284"/>
                      </a:cubicBezTo>
                      <a:cubicBezTo>
                        <a:pt x="311179" y="92239"/>
                        <a:pt x="299934" y="194592"/>
                        <a:pt x="299934" y="194592"/>
                      </a:cubicBezTo>
                      <a:lnTo>
                        <a:pt x="220725" y="190531"/>
                      </a:lnTo>
                      <a:lnTo>
                        <a:pt x="199716" y="96794"/>
                      </a:lnTo>
                      <a:cubicBezTo>
                        <a:pt x="199716" y="96794"/>
                        <a:pt x="147714" y="50585"/>
                        <a:pt x="81614" y="109746"/>
                      </a:cubicBezTo>
                      <a:lnTo>
                        <a:pt x="51170" y="112820"/>
                      </a:lnTo>
                      <a:cubicBezTo>
                        <a:pt x="38060" y="114137"/>
                        <a:pt x="28516" y="125278"/>
                        <a:pt x="30271" y="137132"/>
                      </a:cubicBezTo>
                      <a:lnTo>
                        <a:pt x="36195" y="177250"/>
                      </a:lnTo>
                      <a:lnTo>
                        <a:pt x="36195" y="177250"/>
                      </a:lnTo>
                      <a:close/>
                    </a:path>
                  </a:pathLst>
                </a:custGeom>
                <a:solidFill>
                  <a:srgbClr val="1F2049"/>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3" name="Google Shape;2533;p6"/>
                <p:cNvSpPr/>
                <p:nvPr/>
              </p:nvSpPr>
              <p:spPr>
                <a:xfrm rot="-735886">
                  <a:off x="3446447" y="4384933"/>
                  <a:ext cx="61127" cy="74772"/>
                </a:xfrm>
                <a:custGeom>
                  <a:avLst/>
                  <a:gdLst/>
                  <a:ahLst/>
                  <a:cxnLst/>
                  <a:rect l="l" t="t" r="r" b="b"/>
                  <a:pathLst>
                    <a:path w="61107" h="74747" extrusionOk="0">
                      <a:moveTo>
                        <a:pt x="61108" y="37374"/>
                      </a:moveTo>
                      <a:cubicBezTo>
                        <a:pt x="61108" y="58015"/>
                        <a:pt x="47428" y="74748"/>
                        <a:pt x="30554" y="74748"/>
                      </a:cubicBezTo>
                      <a:cubicBezTo>
                        <a:pt x="13679" y="74748"/>
                        <a:pt x="0" y="58015"/>
                        <a:pt x="0" y="37374"/>
                      </a:cubicBezTo>
                      <a:cubicBezTo>
                        <a:pt x="0" y="16733"/>
                        <a:pt x="13679" y="0"/>
                        <a:pt x="30554" y="0"/>
                      </a:cubicBezTo>
                      <a:cubicBezTo>
                        <a:pt x="47428" y="0"/>
                        <a:pt x="61108" y="16733"/>
                        <a:pt x="61108" y="37374"/>
                      </a:cubicBezTo>
                      <a:close/>
                    </a:path>
                  </a:pathLst>
                </a:custGeom>
                <a:solidFill>
                  <a:srgbClr val="B4785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534" name="Google Shape;2534;p6"/>
              <p:cNvSpPr/>
              <p:nvPr/>
            </p:nvSpPr>
            <p:spPr>
              <a:xfrm>
                <a:off x="2709731" y="5616424"/>
                <a:ext cx="112231" cy="523893"/>
              </a:xfrm>
              <a:custGeom>
                <a:avLst/>
                <a:gdLst/>
                <a:ahLst/>
                <a:cxnLst/>
                <a:rect l="l" t="t" r="r" b="b"/>
                <a:pathLst>
                  <a:path w="112231" h="523893" extrusionOk="0">
                    <a:moveTo>
                      <a:pt x="0" y="0"/>
                    </a:moveTo>
                    <a:lnTo>
                      <a:pt x="0" y="523893"/>
                    </a:lnTo>
                    <a:lnTo>
                      <a:pt x="46626" y="523893"/>
                    </a:lnTo>
                    <a:lnTo>
                      <a:pt x="112232" y="0"/>
                    </a:lnTo>
                    <a:lnTo>
                      <a:pt x="0" y="0"/>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5" name="Google Shape;2535;p6"/>
              <p:cNvSpPr/>
              <p:nvPr/>
            </p:nvSpPr>
            <p:spPr>
              <a:xfrm>
                <a:off x="3097276" y="5586843"/>
                <a:ext cx="112286" cy="553474"/>
              </a:xfrm>
              <a:custGeom>
                <a:avLst/>
                <a:gdLst/>
                <a:ahLst/>
                <a:cxnLst/>
                <a:rect l="l" t="t" r="r" b="b"/>
                <a:pathLst>
                  <a:path w="112286" h="553474" extrusionOk="0">
                    <a:moveTo>
                      <a:pt x="0" y="0"/>
                    </a:moveTo>
                    <a:lnTo>
                      <a:pt x="0" y="553474"/>
                    </a:lnTo>
                    <a:lnTo>
                      <a:pt x="46626" y="553474"/>
                    </a:lnTo>
                    <a:lnTo>
                      <a:pt x="112286" y="0"/>
                    </a:lnTo>
                    <a:lnTo>
                      <a:pt x="0" y="0"/>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6" name="Google Shape;2536;p6"/>
              <p:cNvSpPr/>
              <p:nvPr/>
            </p:nvSpPr>
            <p:spPr>
              <a:xfrm>
                <a:off x="2414561" y="5211787"/>
                <a:ext cx="1003392" cy="929737"/>
              </a:xfrm>
              <a:custGeom>
                <a:avLst/>
                <a:gdLst/>
                <a:ahLst/>
                <a:cxnLst/>
                <a:rect l="l" t="t" r="r" b="b"/>
                <a:pathLst>
                  <a:path w="1003392" h="929737" extrusionOk="0">
                    <a:moveTo>
                      <a:pt x="1003337" y="0"/>
                    </a:moveTo>
                    <a:lnTo>
                      <a:pt x="319142" y="52027"/>
                    </a:lnTo>
                    <a:cubicBezTo>
                      <a:pt x="264123" y="56198"/>
                      <a:pt x="219142" y="97523"/>
                      <a:pt x="210256" y="152020"/>
                    </a:cubicBezTo>
                    <a:lnTo>
                      <a:pt x="90400" y="810701"/>
                    </a:lnTo>
                    <a:cubicBezTo>
                      <a:pt x="87273" y="829470"/>
                      <a:pt x="76083" y="845990"/>
                      <a:pt x="59846" y="855978"/>
                    </a:cubicBezTo>
                    <a:lnTo>
                      <a:pt x="31431" y="873485"/>
                    </a:lnTo>
                    <a:cubicBezTo>
                      <a:pt x="11903" y="885504"/>
                      <a:pt x="0" y="906798"/>
                      <a:pt x="0" y="929738"/>
                    </a:cubicBezTo>
                    <a:lnTo>
                      <a:pt x="238122" y="929738"/>
                    </a:lnTo>
                    <a:lnTo>
                      <a:pt x="378055" y="266227"/>
                    </a:lnTo>
                    <a:lnTo>
                      <a:pt x="997194" y="260849"/>
                    </a:lnTo>
                    <a:lnTo>
                      <a:pt x="1003337" y="55"/>
                    </a:lnTo>
                    <a:lnTo>
                      <a:pt x="1003392" y="55"/>
                    </a:lnTo>
                    <a:close/>
                  </a:path>
                </a:pathLst>
              </a:custGeom>
              <a:solidFill>
                <a:srgbClr val="221F1F"/>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7" name="Google Shape;2537;p6"/>
              <p:cNvSpPr/>
              <p:nvPr/>
            </p:nvSpPr>
            <p:spPr>
              <a:xfrm>
                <a:off x="3459368" y="4666929"/>
                <a:ext cx="330496" cy="598525"/>
              </a:xfrm>
              <a:custGeom>
                <a:avLst/>
                <a:gdLst/>
                <a:ahLst/>
                <a:cxnLst/>
                <a:rect l="l" t="t" r="r" b="b"/>
                <a:pathLst>
                  <a:path w="330496" h="598525" extrusionOk="0">
                    <a:moveTo>
                      <a:pt x="330387" y="0"/>
                    </a:moveTo>
                    <a:lnTo>
                      <a:pt x="46023" y="0"/>
                    </a:lnTo>
                    <a:lnTo>
                      <a:pt x="0" y="531577"/>
                    </a:lnTo>
                    <a:cubicBezTo>
                      <a:pt x="0" y="531577"/>
                      <a:pt x="121118" y="609014"/>
                      <a:pt x="129566" y="597324"/>
                    </a:cubicBezTo>
                    <a:cubicBezTo>
                      <a:pt x="137958" y="585634"/>
                      <a:pt x="235379" y="230665"/>
                      <a:pt x="235379" y="230665"/>
                    </a:cubicBezTo>
                    <a:lnTo>
                      <a:pt x="330496" y="0"/>
                    </a:lnTo>
                    <a:lnTo>
                      <a:pt x="330441" y="0"/>
                    </a:lnTo>
                    <a:close/>
                  </a:path>
                </a:pathLst>
              </a:custGeom>
              <a:solidFill>
                <a:srgbClr val="6D6F7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8" name="Google Shape;2538;p6"/>
              <p:cNvSpPr/>
              <p:nvPr/>
            </p:nvSpPr>
            <p:spPr>
              <a:xfrm>
                <a:off x="2977913" y="4656813"/>
                <a:ext cx="454682" cy="376665"/>
              </a:xfrm>
              <a:custGeom>
                <a:avLst/>
                <a:gdLst/>
                <a:ahLst/>
                <a:cxnLst/>
                <a:rect l="l" t="t" r="r" b="b"/>
                <a:pathLst>
                  <a:path w="454682" h="376665" extrusionOk="0">
                    <a:moveTo>
                      <a:pt x="0" y="376665"/>
                    </a:moveTo>
                    <a:lnTo>
                      <a:pt x="35216" y="281776"/>
                    </a:lnTo>
                    <a:lnTo>
                      <a:pt x="303672" y="33824"/>
                    </a:lnTo>
                    <a:cubicBezTo>
                      <a:pt x="338669" y="-4538"/>
                      <a:pt x="391220" y="-13318"/>
                      <a:pt x="427917" y="23397"/>
                    </a:cubicBezTo>
                    <a:lnTo>
                      <a:pt x="427917" y="23397"/>
                    </a:lnTo>
                    <a:cubicBezTo>
                      <a:pt x="462256" y="57752"/>
                      <a:pt x="463847" y="113182"/>
                      <a:pt x="430989" y="149019"/>
                    </a:cubicBezTo>
                    <a:cubicBezTo>
                      <a:pt x="356387" y="230353"/>
                      <a:pt x="227370" y="376665"/>
                      <a:pt x="55" y="376665"/>
                    </a:cubicBezTo>
                    <a:lnTo>
                      <a:pt x="55" y="376665"/>
                    </a:lnTo>
                    <a:close/>
                  </a:path>
                </a:pathLst>
              </a:custGeom>
              <a:solidFill>
                <a:srgbClr val="78BD4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39" name="Google Shape;2539;p6"/>
              <p:cNvSpPr/>
              <p:nvPr/>
            </p:nvSpPr>
            <p:spPr>
              <a:xfrm>
                <a:off x="2775885" y="4895783"/>
                <a:ext cx="372185" cy="146202"/>
              </a:xfrm>
              <a:custGeom>
                <a:avLst/>
                <a:gdLst/>
                <a:ahLst/>
                <a:cxnLst/>
                <a:rect l="l" t="t" r="r" b="b"/>
                <a:pathLst>
                  <a:path w="372185" h="146202" extrusionOk="0">
                    <a:moveTo>
                      <a:pt x="372185" y="128531"/>
                    </a:moveTo>
                    <a:lnTo>
                      <a:pt x="16730" y="146203"/>
                    </a:lnTo>
                    <a:lnTo>
                      <a:pt x="0" y="62948"/>
                    </a:lnTo>
                    <a:lnTo>
                      <a:pt x="336859" y="0"/>
                    </a:lnTo>
                    <a:lnTo>
                      <a:pt x="372185" y="128531"/>
                    </a:lnTo>
                    <a:close/>
                  </a:path>
                </a:pathLst>
              </a:custGeom>
              <a:solidFill>
                <a:srgbClr val="78BD4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0" name="Google Shape;2540;p6"/>
              <p:cNvSpPr/>
              <p:nvPr/>
            </p:nvSpPr>
            <p:spPr>
              <a:xfrm>
                <a:off x="3216693" y="4645251"/>
                <a:ext cx="431883" cy="619056"/>
              </a:xfrm>
              <a:custGeom>
                <a:avLst/>
                <a:gdLst/>
                <a:ahLst/>
                <a:cxnLst/>
                <a:rect l="l" t="t" r="r" b="b"/>
                <a:pathLst>
                  <a:path w="431883" h="619056" extrusionOk="0">
                    <a:moveTo>
                      <a:pt x="364616" y="619002"/>
                    </a:moveTo>
                    <a:cubicBezTo>
                      <a:pt x="370046" y="400960"/>
                      <a:pt x="513216" y="42697"/>
                      <a:pt x="364616" y="0"/>
                    </a:cubicBezTo>
                    <a:lnTo>
                      <a:pt x="171364" y="0"/>
                    </a:lnTo>
                    <a:cubicBezTo>
                      <a:pt x="74492" y="0"/>
                      <a:pt x="658" y="85395"/>
                      <a:pt x="0" y="191150"/>
                    </a:cubicBezTo>
                    <a:lnTo>
                      <a:pt x="5101" y="580915"/>
                    </a:lnTo>
                    <a:lnTo>
                      <a:pt x="364616" y="619057"/>
                    </a:lnTo>
                    <a:lnTo>
                      <a:pt x="364616" y="619057"/>
                    </a:lnTo>
                    <a:close/>
                  </a:path>
                </a:pathLst>
              </a:custGeom>
              <a:gradFill>
                <a:gsLst>
                  <a:gs pos="0">
                    <a:srgbClr val="ABD037"/>
                  </a:gs>
                  <a:gs pos="83000">
                    <a:srgbClr val="78BD43"/>
                  </a:gs>
                  <a:gs pos="100000">
                    <a:srgbClr val="78BD43"/>
                  </a:gs>
                </a:gsLst>
                <a:lin ang="5400012"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1" name="Google Shape;2541;p6"/>
              <p:cNvSpPr/>
              <p:nvPr/>
            </p:nvSpPr>
            <p:spPr>
              <a:xfrm>
                <a:off x="3182519" y="4645158"/>
                <a:ext cx="464515" cy="388321"/>
              </a:xfrm>
              <a:custGeom>
                <a:avLst/>
                <a:gdLst/>
                <a:ahLst/>
                <a:cxnLst/>
                <a:rect l="l" t="t" r="r" b="b"/>
                <a:pathLst>
                  <a:path w="464515" h="388321" extrusionOk="0">
                    <a:moveTo>
                      <a:pt x="0" y="388321"/>
                    </a:moveTo>
                    <a:lnTo>
                      <a:pt x="69116" y="282566"/>
                    </a:lnTo>
                    <a:lnTo>
                      <a:pt x="302685" y="30333"/>
                    </a:lnTo>
                    <a:cubicBezTo>
                      <a:pt x="338395" y="-8852"/>
                      <a:pt x="399667" y="-10279"/>
                      <a:pt x="437188" y="27259"/>
                    </a:cubicBezTo>
                    <a:lnTo>
                      <a:pt x="437188" y="27259"/>
                    </a:lnTo>
                    <a:cubicBezTo>
                      <a:pt x="472239" y="62328"/>
                      <a:pt x="473885" y="119020"/>
                      <a:pt x="440314" y="155626"/>
                    </a:cubicBezTo>
                    <a:cubicBezTo>
                      <a:pt x="364067" y="238770"/>
                      <a:pt x="232253" y="388266"/>
                      <a:pt x="0" y="388266"/>
                    </a:cubicBezTo>
                    <a:lnTo>
                      <a:pt x="0" y="388266"/>
                    </a:lnTo>
                    <a:close/>
                  </a:path>
                </a:pathLst>
              </a:custGeom>
              <a:solidFill>
                <a:srgbClr val="ABD037"/>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2" name="Google Shape;2542;p6"/>
              <p:cNvSpPr/>
              <p:nvPr/>
            </p:nvSpPr>
            <p:spPr>
              <a:xfrm>
                <a:off x="2586693" y="5211787"/>
                <a:ext cx="1003392" cy="929737"/>
              </a:xfrm>
              <a:custGeom>
                <a:avLst/>
                <a:gdLst/>
                <a:ahLst/>
                <a:cxnLst/>
                <a:rect l="l" t="t" r="r" b="b"/>
                <a:pathLst>
                  <a:path w="1003392" h="929737" extrusionOk="0">
                    <a:moveTo>
                      <a:pt x="1003337" y="0"/>
                    </a:moveTo>
                    <a:lnTo>
                      <a:pt x="319141" y="52027"/>
                    </a:lnTo>
                    <a:cubicBezTo>
                      <a:pt x="264123" y="56198"/>
                      <a:pt x="219142" y="97523"/>
                      <a:pt x="210256" y="152020"/>
                    </a:cubicBezTo>
                    <a:lnTo>
                      <a:pt x="90400" y="810701"/>
                    </a:lnTo>
                    <a:cubicBezTo>
                      <a:pt x="87273" y="829470"/>
                      <a:pt x="76083" y="845990"/>
                      <a:pt x="59846" y="855978"/>
                    </a:cubicBezTo>
                    <a:lnTo>
                      <a:pt x="31431" y="873485"/>
                    </a:lnTo>
                    <a:cubicBezTo>
                      <a:pt x="11903" y="885504"/>
                      <a:pt x="0" y="906798"/>
                      <a:pt x="0" y="929738"/>
                    </a:cubicBezTo>
                    <a:lnTo>
                      <a:pt x="238122" y="929738"/>
                    </a:lnTo>
                    <a:lnTo>
                      <a:pt x="378055" y="266227"/>
                    </a:lnTo>
                    <a:lnTo>
                      <a:pt x="997194" y="260849"/>
                    </a:lnTo>
                    <a:lnTo>
                      <a:pt x="1003337" y="55"/>
                    </a:lnTo>
                    <a:lnTo>
                      <a:pt x="1003392" y="55"/>
                    </a:lnTo>
                    <a:close/>
                  </a:path>
                </a:pathLst>
              </a:custGeom>
              <a:gradFill>
                <a:gsLst>
                  <a:gs pos="0">
                    <a:srgbClr val="221F1F"/>
                  </a:gs>
                  <a:gs pos="19000">
                    <a:srgbClr val="221F1F"/>
                  </a:gs>
                  <a:gs pos="29000">
                    <a:srgbClr val="292727"/>
                  </a:gs>
                  <a:gs pos="61000">
                    <a:srgbClr val="3A3A3A"/>
                  </a:gs>
                  <a:gs pos="82000">
                    <a:srgbClr val="414141"/>
                  </a:gs>
                  <a:gs pos="100000">
                    <a:srgbClr val="414141"/>
                  </a:gs>
                </a:gsLst>
                <a:lin ang="10800025"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3" name="Google Shape;2543;p6"/>
              <p:cNvSpPr/>
              <p:nvPr/>
            </p:nvSpPr>
            <p:spPr>
              <a:xfrm>
                <a:off x="3337756" y="4580382"/>
                <a:ext cx="228741" cy="74802"/>
              </a:xfrm>
              <a:custGeom>
                <a:avLst/>
                <a:gdLst/>
                <a:ahLst/>
                <a:cxnLst/>
                <a:rect l="l" t="t" r="r" b="b"/>
                <a:pathLst>
                  <a:path w="228741" h="74802" extrusionOk="0">
                    <a:moveTo>
                      <a:pt x="0" y="74803"/>
                    </a:moveTo>
                    <a:lnTo>
                      <a:pt x="19693" y="22282"/>
                    </a:lnTo>
                    <a:lnTo>
                      <a:pt x="199559" y="0"/>
                    </a:lnTo>
                    <a:lnTo>
                      <a:pt x="228742" y="64869"/>
                    </a:lnTo>
                    <a:lnTo>
                      <a:pt x="0" y="74803"/>
                    </a:lnTo>
                    <a:close/>
                  </a:path>
                </a:pathLst>
              </a:custGeom>
              <a:solidFill>
                <a:srgbClr val="ABD037"/>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4" name="Google Shape;2544;p6"/>
              <p:cNvSpPr/>
              <p:nvPr/>
            </p:nvSpPr>
            <p:spPr>
              <a:xfrm>
                <a:off x="2772046" y="4977555"/>
                <a:ext cx="185516" cy="98730"/>
              </a:xfrm>
              <a:custGeom>
                <a:avLst/>
                <a:gdLst/>
                <a:ahLst/>
                <a:cxnLst/>
                <a:rect l="l" t="t" r="r" b="b"/>
                <a:pathLst>
                  <a:path w="185516" h="98730" extrusionOk="0">
                    <a:moveTo>
                      <a:pt x="185517" y="0"/>
                    </a:moveTo>
                    <a:cubicBezTo>
                      <a:pt x="185517" y="0"/>
                      <a:pt x="143224" y="0"/>
                      <a:pt x="100987" y="2360"/>
                    </a:cubicBezTo>
                    <a:cubicBezTo>
                      <a:pt x="58694" y="4720"/>
                      <a:pt x="0" y="35289"/>
                      <a:pt x="0" y="35289"/>
                    </a:cubicBezTo>
                    <a:lnTo>
                      <a:pt x="7021" y="98731"/>
                    </a:lnTo>
                    <a:lnTo>
                      <a:pt x="72024" y="86163"/>
                    </a:lnTo>
                    <a:cubicBezTo>
                      <a:pt x="72024" y="86163"/>
                      <a:pt x="91606" y="84572"/>
                      <a:pt x="115084" y="72827"/>
                    </a:cubicBezTo>
                    <a:cubicBezTo>
                      <a:pt x="138562" y="61083"/>
                      <a:pt x="169115" y="54058"/>
                      <a:pt x="169115" y="54058"/>
                    </a:cubicBezTo>
                    <a:lnTo>
                      <a:pt x="185517" y="0"/>
                    </a:lnTo>
                    <a:lnTo>
                      <a:pt x="185517" y="0"/>
                    </a:lnTo>
                    <a:close/>
                  </a:path>
                </a:pathLst>
              </a:custGeom>
              <a:solidFill>
                <a:srgbClr val="B4785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5" name="Google Shape;2545;p6"/>
              <p:cNvSpPr/>
              <p:nvPr/>
            </p:nvSpPr>
            <p:spPr>
              <a:xfrm>
                <a:off x="2923882" y="4921961"/>
                <a:ext cx="344429" cy="139342"/>
              </a:xfrm>
              <a:custGeom>
                <a:avLst/>
                <a:gdLst/>
                <a:ahLst/>
                <a:cxnLst/>
                <a:rect l="l" t="t" r="r" b="b"/>
                <a:pathLst>
                  <a:path w="344429" h="139342" extrusionOk="0">
                    <a:moveTo>
                      <a:pt x="327424" y="111134"/>
                    </a:moveTo>
                    <a:lnTo>
                      <a:pt x="0" y="139343"/>
                    </a:lnTo>
                    <a:lnTo>
                      <a:pt x="6473" y="50710"/>
                    </a:lnTo>
                    <a:lnTo>
                      <a:pt x="344429" y="0"/>
                    </a:lnTo>
                    <a:lnTo>
                      <a:pt x="327424" y="111134"/>
                    </a:lnTo>
                    <a:close/>
                  </a:path>
                </a:pathLst>
              </a:custGeom>
              <a:solidFill>
                <a:srgbClr val="ABD037"/>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6" name="Google Shape;2546;p6"/>
              <p:cNvSpPr/>
              <p:nvPr/>
            </p:nvSpPr>
            <p:spPr>
              <a:xfrm>
                <a:off x="3098044" y="4666132"/>
                <a:ext cx="691820" cy="938054"/>
              </a:xfrm>
              <a:custGeom>
                <a:avLst/>
                <a:gdLst/>
                <a:ahLst/>
                <a:cxnLst/>
                <a:rect l="l" t="t" r="r" b="b"/>
                <a:pathLst>
                  <a:path w="691820" h="938054" extrusionOk="0">
                    <a:moveTo>
                      <a:pt x="617274" y="47776"/>
                    </a:moveTo>
                    <a:lnTo>
                      <a:pt x="488805" y="469645"/>
                    </a:lnTo>
                    <a:cubicBezTo>
                      <a:pt x="480797" y="496866"/>
                      <a:pt x="476792" y="525075"/>
                      <a:pt x="477012" y="553503"/>
                    </a:cubicBezTo>
                    <a:lnTo>
                      <a:pt x="477560" y="645539"/>
                    </a:lnTo>
                    <a:cubicBezTo>
                      <a:pt x="478109" y="727202"/>
                      <a:pt x="412064" y="793827"/>
                      <a:pt x="330387" y="793827"/>
                    </a:cubicBezTo>
                    <a:lnTo>
                      <a:pt x="144157" y="793827"/>
                    </a:lnTo>
                    <a:cubicBezTo>
                      <a:pt x="64509" y="793827"/>
                      <a:pt x="0" y="858422"/>
                      <a:pt x="0" y="938054"/>
                    </a:cubicBezTo>
                    <a:lnTo>
                      <a:pt x="358527" y="938054"/>
                    </a:lnTo>
                    <a:cubicBezTo>
                      <a:pt x="463737" y="938054"/>
                      <a:pt x="549090" y="852714"/>
                      <a:pt x="549090" y="747398"/>
                    </a:cubicBezTo>
                    <a:lnTo>
                      <a:pt x="549090" y="565906"/>
                    </a:lnTo>
                    <a:cubicBezTo>
                      <a:pt x="549090" y="539179"/>
                      <a:pt x="552436" y="512562"/>
                      <a:pt x="559074" y="486713"/>
                    </a:cubicBezTo>
                    <a:lnTo>
                      <a:pt x="691821" y="852"/>
                    </a:lnTo>
                    <a:lnTo>
                      <a:pt x="691821" y="852"/>
                    </a:lnTo>
                    <a:cubicBezTo>
                      <a:pt x="658743" y="-4471"/>
                      <a:pt x="626873" y="15615"/>
                      <a:pt x="617384" y="47831"/>
                    </a:cubicBezTo>
                    <a:lnTo>
                      <a:pt x="617329" y="47831"/>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47" name="Google Shape;2547;p6"/>
            <p:cNvGrpSpPr/>
            <p:nvPr/>
          </p:nvGrpSpPr>
          <p:grpSpPr>
            <a:xfrm>
              <a:off x="1931900" y="5083640"/>
              <a:ext cx="1989066" cy="1060189"/>
              <a:chOff x="1931900" y="5083640"/>
              <a:chExt cx="1989066" cy="1060189"/>
            </a:xfrm>
          </p:grpSpPr>
          <p:sp>
            <p:nvSpPr>
              <p:cNvPr id="2548" name="Google Shape;2548;p6"/>
              <p:cNvSpPr/>
              <p:nvPr/>
            </p:nvSpPr>
            <p:spPr>
              <a:xfrm>
                <a:off x="1994872" y="5143570"/>
                <a:ext cx="119088" cy="1000259"/>
              </a:xfrm>
              <a:custGeom>
                <a:avLst/>
                <a:gdLst/>
                <a:ahLst/>
                <a:cxnLst/>
                <a:rect l="l" t="t" r="r" b="b"/>
                <a:pathLst>
                  <a:path w="119088" h="1000259" extrusionOk="0">
                    <a:moveTo>
                      <a:pt x="0" y="0"/>
                    </a:moveTo>
                    <a:lnTo>
                      <a:pt x="26056" y="1000260"/>
                    </a:lnTo>
                    <a:lnTo>
                      <a:pt x="84530" y="1000260"/>
                    </a:lnTo>
                    <a:lnTo>
                      <a:pt x="119088" y="0"/>
                    </a:lnTo>
                    <a:lnTo>
                      <a:pt x="0" y="0"/>
                    </a:lnTo>
                    <a:close/>
                  </a:path>
                </a:pathLst>
              </a:custGeom>
              <a:solidFill>
                <a:srgbClr val="181A3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49" name="Google Shape;2549;p6"/>
              <p:cNvSpPr/>
              <p:nvPr/>
            </p:nvSpPr>
            <p:spPr>
              <a:xfrm>
                <a:off x="1994872" y="5176114"/>
                <a:ext cx="117223" cy="97797"/>
              </a:xfrm>
              <a:custGeom>
                <a:avLst/>
                <a:gdLst/>
                <a:ahLst/>
                <a:cxnLst/>
                <a:rect l="l" t="t" r="r" b="b"/>
                <a:pathLst>
                  <a:path w="117223" h="97797" extrusionOk="0">
                    <a:moveTo>
                      <a:pt x="3127" y="97798"/>
                    </a:moveTo>
                    <a:lnTo>
                      <a:pt x="114755" y="0"/>
                    </a:lnTo>
                    <a:lnTo>
                      <a:pt x="117223" y="0"/>
                    </a:lnTo>
                    <a:lnTo>
                      <a:pt x="0" y="0"/>
                    </a:lnTo>
                    <a:lnTo>
                      <a:pt x="3127" y="97798"/>
                    </a:lnTo>
                    <a:close/>
                  </a:path>
                </a:pathLst>
              </a:custGeom>
              <a:solidFill>
                <a:srgbClr val="C2C6CC"/>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50" name="Google Shape;2550;p6"/>
              <p:cNvSpPr/>
              <p:nvPr/>
            </p:nvSpPr>
            <p:spPr>
              <a:xfrm>
                <a:off x="3751357" y="5143570"/>
                <a:ext cx="119033" cy="1000259"/>
              </a:xfrm>
              <a:custGeom>
                <a:avLst/>
                <a:gdLst/>
                <a:ahLst/>
                <a:cxnLst/>
                <a:rect l="l" t="t" r="r" b="b"/>
                <a:pathLst>
                  <a:path w="119033" h="1000259" extrusionOk="0">
                    <a:moveTo>
                      <a:pt x="0" y="0"/>
                    </a:moveTo>
                    <a:lnTo>
                      <a:pt x="26056" y="1000260"/>
                    </a:lnTo>
                    <a:lnTo>
                      <a:pt x="84530" y="1000260"/>
                    </a:lnTo>
                    <a:lnTo>
                      <a:pt x="119034" y="0"/>
                    </a:lnTo>
                    <a:lnTo>
                      <a:pt x="0" y="0"/>
                    </a:lnTo>
                    <a:close/>
                  </a:path>
                </a:pathLst>
              </a:custGeom>
              <a:solidFill>
                <a:srgbClr val="181A3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51" name="Google Shape;2551;p6"/>
              <p:cNvSpPr/>
              <p:nvPr/>
            </p:nvSpPr>
            <p:spPr>
              <a:xfrm>
                <a:off x="3751302" y="5176114"/>
                <a:ext cx="117278" cy="97797"/>
              </a:xfrm>
              <a:custGeom>
                <a:avLst/>
                <a:gdLst/>
                <a:ahLst/>
                <a:cxnLst/>
                <a:rect l="l" t="t" r="r" b="b"/>
                <a:pathLst>
                  <a:path w="117278" h="97797" extrusionOk="0">
                    <a:moveTo>
                      <a:pt x="3237" y="97798"/>
                    </a:moveTo>
                    <a:lnTo>
                      <a:pt x="114865" y="0"/>
                    </a:lnTo>
                    <a:lnTo>
                      <a:pt x="117278" y="0"/>
                    </a:lnTo>
                    <a:lnTo>
                      <a:pt x="0" y="0"/>
                    </a:lnTo>
                    <a:lnTo>
                      <a:pt x="3237" y="97798"/>
                    </a:lnTo>
                    <a:close/>
                  </a:path>
                </a:pathLst>
              </a:custGeom>
              <a:solidFill>
                <a:srgbClr val="C2C6CC"/>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52" name="Google Shape;2552;p6"/>
              <p:cNvSpPr/>
              <p:nvPr/>
            </p:nvSpPr>
            <p:spPr>
              <a:xfrm>
                <a:off x="1931900" y="5083640"/>
                <a:ext cx="1989066" cy="103779"/>
              </a:xfrm>
              <a:custGeom>
                <a:avLst/>
                <a:gdLst/>
                <a:ahLst/>
                <a:cxnLst/>
                <a:rect l="l" t="t" r="r" b="b"/>
                <a:pathLst>
                  <a:path w="1989066" h="103779" extrusionOk="0">
                    <a:moveTo>
                      <a:pt x="0" y="0"/>
                    </a:moveTo>
                    <a:lnTo>
                      <a:pt x="1989066" y="0"/>
                    </a:lnTo>
                    <a:lnTo>
                      <a:pt x="1989066" y="103780"/>
                    </a:lnTo>
                    <a:lnTo>
                      <a:pt x="0" y="103780"/>
                    </a:lnTo>
                    <a:close/>
                  </a:path>
                </a:pathLst>
              </a:custGeom>
              <a:solidFill>
                <a:srgbClr val="FFFFFF"/>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53" name="Google Shape;2553;p6"/>
            <p:cNvGrpSpPr/>
            <p:nvPr/>
          </p:nvGrpSpPr>
          <p:grpSpPr>
            <a:xfrm>
              <a:off x="3330900" y="4708474"/>
              <a:ext cx="279755" cy="374397"/>
              <a:chOff x="3330900" y="4708474"/>
              <a:chExt cx="279755" cy="374397"/>
            </a:xfrm>
          </p:grpSpPr>
          <p:sp>
            <p:nvSpPr>
              <p:cNvPr id="2554" name="Google Shape;2554;p6"/>
              <p:cNvSpPr/>
              <p:nvPr/>
            </p:nvSpPr>
            <p:spPr>
              <a:xfrm>
                <a:off x="3340384" y="4708474"/>
                <a:ext cx="270271" cy="217602"/>
              </a:xfrm>
              <a:custGeom>
                <a:avLst/>
                <a:gdLst/>
                <a:ahLst/>
                <a:cxnLst/>
                <a:rect l="l" t="t" r="r" b="b"/>
                <a:pathLst>
                  <a:path w="270271" h="217602" extrusionOk="0">
                    <a:moveTo>
                      <a:pt x="52775" y="217603"/>
                    </a:moveTo>
                    <a:cubicBezTo>
                      <a:pt x="66324" y="204047"/>
                      <a:pt x="79160" y="216835"/>
                      <a:pt x="92763" y="203224"/>
                    </a:cubicBezTo>
                    <a:cubicBezTo>
                      <a:pt x="106312" y="189668"/>
                      <a:pt x="93532" y="176826"/>
                      <a:pt x="107135" y="163216"/>
                    </a:cubicBezTo>
                    <a:cubicBezTo>
                      <a:pt x="120684" y="149660"/>
                      <a:pt x="133465" y="162448"/>
                      <a:pt x="147069" y="148892"/>
                    </a:cubicBezTo>
                    <a:cubicBezTo>
                      <a:pt x="160618" y="135336"/>
                      <a:pt x="147837" y="122494"/>
                      <a:pt x="161441" y="108884"/>
                    </a:cubicBezTo>
                    <a:cubicBezTo>
                      <a:pt x="174990" y="95328"/>
                      <a:pt x="187826" y="108115"/>
                      <a:pt x="201430" y="94505"/>
                    </a:cubicBezTo>
                    <a:cubicBezTo>
                      <a:pt x="214979" y="80949"/>
                      <a:pt x="202198" y="68107"/>
                      <a:pt x="215801" y="54497"/>
                    </a:cubicBezTo>
                    <a:cubicBezTo>
                      <a:pt x="229405" y="40886"/>
                      <a:pt x="242186" y="53728"/>
                      <a:pt x="255845" y="40063"/>
                    </a:cubicBezTo>
                    <a:cubicBezTo>
                      <a:pt x="269504" y="26398"/>
                      <a:pt x="256613" y="13665"/>
                      <a:pt x="270271" y="0"/>
                    </a:cubicBezTo>
                    <a:lnTo>
                      <a:pt x="179378" y="0"/>
                    </a:lnTo>
                    <a:cubicBezTo>
                      <a:pt x="165774" y="13610"/>
                      <a:pt x="178610" y="26398"/>
                      <a:pt x="164952" y="40063"/>
                    </a:cubicBezTo>
                    <a:cubicBezTo>
                      <a:pt x="151293" y="53728"/>
                      <a:pt x="138567" y="40831"/>
                      <a:pt x="124908" y="54497"/>
                    </a:cubicBezTo>
                    <a:cubicBezTo>
                      <a:pt x="111359" y="68052"/>
                      <a:pt x="124140" y="80894"/>
                      <a:pt x="110536" y="94505"/>
                    </a:cubicBezTo>
                    <a:cubicBezTo>
                      <a:pt x="96987" y="108060"/>
                      <a:pt x="84152" y="95273"/>
                      <a:pt x="70548" y="108884"/>
                    </a:cubicBezTo>
                    <a:cubicBezTo>
                      <a:pt x="56999" y="122439"/>
                      <a:pt x="69780" y="135281"/>
                      <a:pt x="56176" y="148892"/>
                    </a:cubicBezTo>
                    <a:cubicBezTo>
                      <a:pt x="42627" y="162448"/>
                      <a:pt x="29846" y="149660"/>
                      <a:pt x="16242" y="163216"/>
                    </a:cubicBezTo>
                    <a:cubicBezTo>
                      <a:pt x="2638" y="176772"/>
                      <a:pt x="15474" y="189614"/>
                      <a:pt x="1870" y="203224"/>
                    </a:cubicBezTo>
                    <a:cubicBezTo>
                      <a:pt x="-11679" y="216780"/>
                      <a:pt x="52830" y="217603"/>
                      <a:pt x="52830" y="217603"/>
                    </a:cubicBezTo>
                    <a:close/>
                  </a:path>
                </a:pathLst>
              </a:custGeom>
              <a:gradFill>
                <a:gsLst>
                  <a:gs pos="0">
                    <a:srgbClr val="FFFFFF">
                      <a:alpha val="60000"/>
                    </a:srgbClr>
                  </a:gs>
                  <a:gs pos="16000">
                    <a:srgbClr val="FFFFFF">
                      <a:alpha val="60000"/>
                    </a:srgbClr>
                  </a:gs>
                  <a:gs pos="69000">
                    <a:srgbClr val="FFFFFF">
                      <a:alpha val="0"/>
                    </a:srgbClr>
                  </a:gs>
                  <a:gs pos="100000">
                    <a:srgbClr val="FFFFFF">
                      <a:alpha val="0"/>
                    </a:srgbClr>
                  </a:gs>
                </a:gsLst>
                <a:lin ang="16200038"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555" name="Google Shape;2555;p6"/>
              <p:cNvGrpSpPr/>
              <p:nvPr/>
            </p:nvGrpSpPr>
            <p:grpSpPr>
              <a:xfrm>
                <a:off x="3330900" y="4913070"/>
                <a:ext cx="178056" cy="169801"/>
                <a:chOff x="3330900" y="4913070"/>
                <a:chExt cx="178056" cy="169801"/>
              </a:xfrm>
            </p:grpSpPr>
            <p:sp>
              <p:nvSpPr>
                <p:cNvPr id="2556" name="Google Shape;2556;p6"/>
                <p:cNvSpPr/>
                <p:nvPr/>
              </p:nvSpPr>
              <p:spPr>
                <a:xfrm>
                  <a:off x="3330900" y="4913070"/>
                  <a:ext cx="122928" cy="169801"/>
                </a:xfrm>
                <a:custGeom>
                  <a:avLst/>
                  <a:gdLst/>
                  <a:ahLst/>
                  <a:cxnLst/>
                  <a:rect l="l" t="t" r="r" b="b"/>
                  <a:pathLst>
                    <a:path w="122928" h="169801" extrusionOk="0">
                      <a:moveTo>
                        <a:pt x="0" y="0"/>
                      </a:moveTo>
                      <a:lnTo>
                        <a:pt x="122928" y="0"/>
                      </a:lnTo>
                      <a:lnTo>
                        <a:pt x="122928" y="169802"/>
                      </a:lnTo>
                      <a:lnTo>
                        <a:pt x="0" y="169802"/>
                      </a:lnTo>
                      <a:close/>
                    </a:path>
                  </a:pathLst>
                </a:custGeom>
                <a:solidFill>
                  <a:srgbClr val="83459B"/>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57" name="Google Shape;2557;p6"/>
                <p:cNvSpPr/>
                <p:nvPr/>
              </p:nvSpPr>
              <p:spPr>
                <a:xfrm>
                  <a:off x="3398809" y="4938645"/>
                  <a:ext cx="110147" cy="110201"/>
                </a:xfrm>
                <a:custGeom>
                  <a:avLst/>
                  <a:gdLst/>
                  <a:ahLst/>
                  <a:cxnLst/>
                  <a:rect l="l" t="t" r="r" b="b"/>
                  <a:pathLst>
                    <a:path w="110147" h="110201" extrusionOk="0">
                      <a:moveTo>
                        <a:pt x="55073" y="0"/>
                      </a:moveTo>
                      <a:cubicBezTo>
                        <a:pt x="24684" y="0"/>
                        <a:pt x="0" y="24642"/>
                        <a:pt x="0" y="55101"/>
                      </a:cubicBezTo>
                      <a:cubicBezTo>
                        <a:pt x="0" y="85559"/>
                        <a:pt x="24629" y="110201"/>
                        <a:pt x="55073" y="110201"/>
                      </a:cubicBezTo>
                      <a:cubicBezTo>
                        <a:pt x="85518" y="110201"/>
                        <a:pt x="110147" y="85559"/>
                        <a:pt x="110147" y="55101"/>
                      </a:cubicBezTo>
                      <a:cubicBezTo>
                        <a:pt x="110147" y="24642"/>
                        <a:pt x="85518" y="0"/>
                        <a:pt x="55073" y="0"/>
                      </a:cubicBezTo>
                      <a:close/>
                      <a:moveTo>
                        <a:pt x="55073" y="87974"/>
                      </a:moveTo>
                      <a:cubicBezTo>
                        <a:pt x="36972" y="87974"/>
                        <a:pt x="22271" y="73266"/>
                        <a:pt x="22271" y="55155"/>
                      </a:cubicBezTo>
                      <a:cubicBezTo>
                        <a:pt x="22271" y="37045"/>
                        <a:pt x="36972" y="22337"/>
                        <a:pt x="55073" y="22337"/>
                      </a:cubicBezTo>
                      <a:cubicBezTo>
                        <a:pt x="73175" y="22337"/>
                        <a:pt x="87876" y="37045"/>
                        <a:pt x="87876" y="55155"/>
                      </a:cubicBezTo>
                      <a:cubicBezTo>
                        <a:pt x="87876" y="73266"/>
                        <a:pt x="73175" y="87974"/>
                        <a:pt x="55073" y="87974"/>
                      </a:cubicBezTo>
                      <a:close/>
                    </a:path>
                  </a:pathLst>
                </a:custGeom>
                <a:solidFill>
                  <a:srgbClr val="83459B"/>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58" name="Google Shape;2558;p6"/>
                <p:cNvSpPr/>
                <p:nvPr/>
              </p:nvSpPr>
              <p:spPr>
                <a:xfrm>
                  <a:off x="3330900" y="4914168"/>
                  <a:ext cx="110750" cy="110859"/>
                </a:xfrm>
                <a:custGeom>
                  <a:avLst/>
                  <a:gdLst/>
                  <a:ahLst/>
                  <a:cxnLst/>
                  <a:rect l="l" t="t" r="r" b="b"/>
                  <a:pathLst>
                    <a:path w="110750" h="110859" extrusionOk="0">
                      <a:moveTo>
                        <a:pt x="110751" y="0"/>
                      </a:moveTo>
                      <a:lnTo>
                        <a:pt x="0" y="110860"/>
                      </a:lnTo>
                      <a:lnTo>
                        <a:pt x="0" y="0"/>
                      </a:lnTo>
                      <a:lnTo>
                        <a:pt x="110751" y="0"/>
                      </a:lnTo>
                      <a:close/>
                    </a:path>
                  </a:pathLst>
                </a:custGeom>
                <a:gradFill>
                  <a:gsLst>
                    <a:gs pos="0">
                      <a:srgbClr val="FFFFFF">
                        <a:alpha val="0"/>
                      </a:srgbClr>
                    </a:gs>
                    <a:gs pos="18000">
                      <a:srgbClr val="FFFFFF">
                        <a:alpha val="0"/>
                      </a:srgbClr>
                    </a:gs>
                    <a:gs pos="100000">
                      <a:srgbClr val="83459B"/>
                    </a:gs>
                  </a:gsLst>
                  <a:lin ang="0"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grpSp>
          <p:nvGrpSpPr>
            <p:cNvPr id="2559" name="Google Shape;2559;p6"/>
            <p:cNvGrpSpPr/>
            <p:nvPr/>
          </p:nvGrpSpPr>
          <p:grpSpPr>
            <a:xfrm>
              <a:off x="2289891" y="4724115"/>
              <a:ext cx="701132" cy="362104"/>
              <a:chOff x="2289891" y="4724115"/>
              <a:chExt cx="701132" cy="362104"/>
            </a:xfrm>
          </p:grpSpPr>
          <p:sp>
            <p:nvSpPr>
              <p:cNvPr id="2560" name="Google Shape;2560;p6"/>
              <p:cNvSpPr/>
              <p:nvPr/>
            </p:nvSpPr>
            <p:spPr>
              <a:xfrm>
                <a:off x="2354770" y="5067560"/>
                <a:ext cx="636253" cy="18604"/>
              </a:xfrm>
              <a:custGeom>
                <a:avLst/>
                <a:gdLst/>
                <a:ahLst/>
                <a:cxnLst/>
                <a:rect l="l" t="t" r="r" b="b"/>
                <a:pathLst>
                  <a:path w="636253" h="18604" extrusionOk="0">
                    <a:moveTo>
                      <a:pt x="627806" y="18605"/>
                    </a:moveTo>
                    <a:lnTo>
                      <a:pt x="2414" y="15476"/>
                    </a:lnTo>
                    <a:lnTo>
                      <a:pt x="0" y="0"/>
                    </a:lnTo>
                    <a:lnTo>
                      <a:pt x="636253" y="3128"/>
                    </a:lnTo>
                    <a:lnTo>
                      <a:pt x="633675" y="12513"/>
                    </a:lnTo>
                    <a:cubicBezTo>
                      <a:pt x="633785" y="15861"/>
                      <a:pt x="631207" y="18550"/>
                      <a:pt x="627861" y="18550"/>
                    </a:cubicBezTo>
                    <a:lnTo>
                      <a:pt x="627806" y="18550"/>
                    </a:lnTo>
                    <a:close/>
                  </a:path>
                </a:pathLst>
              </a:custGeom>
              <a:solidFill>
                <a:srgbClr val="00000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61" name="Google Shape;2561;p6"/>
              <p:cNvSpPr/>
              <p:nvPr/>
            </p:nvSpPr>
            <p:spPr>
              <a:xfrm>
                <a:off x="2289891" y="4724115"/>
                <a:ext cx="525818" cy="362104"/>
              </a:xfrm>
              <a:custGeom>
                <a:avLst/>
                <a:gdLst/>
                <a:ahLst/>
                <a:cxnLst/>
                <a:rect l="l" t="t" r="r" b="b"/>
                <a:pathLst>
                  <a:path w="525818" h="362104" extrusionOk="0">
                    <a:moveTo>
                      <a:pt x="65318" y="362050"/>
                    </a:moveTo>
                    <a:lnTo>
                      <a:pt x="525819" y="362050"/>
                    </a:lnTo>
                    <a:lnTo>
                      <a:pt x="460213" y="4775"/>
                    </a:lnTo>
                    <a:cubicBezTo>
                      <a:pt x="459719" y="1976"/>
                      <a:pt x="457306" y="0"/>
                      <a:pt x="454453" y="0"/>
                    </a:cubicBezTo>
                    <a:lnTo>
                      <a:pt x="5856" y="0"/>
                    </a:lnTo>
                    <a:cubicBezTo>
                      <a:pt x="2236" y="0"/>
                      <a:pt x="-562" y="3348"/>
                      <a:pt x="96" y="6915"/>
                    </a:cubicBezTo>
                    <a:lnTo>
                      <a:pt x="65318" y="362104"/>
                    </a:lnTo>
                    <a:lnTo>
                      <a:pt x="65263" y="362104"/>
                    </a:lnTo>
                    <a:close/>
                  </a:path>
                </a:pathLst>
              </a:custGeom>
              <a:solidFill>
                <a:srgbClr val="231F2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62" name="Google Shape;2562;p6"/>
              <p:cNvSpPr/>
              <p:nvPr/>
            </p:nvSpPr>
            <p:spPr>
              <a:xfrm>
                <a:off x="2739750" y="4724115"/>
                <a:ext cx="75959" cy="362104"/>
              </a:xfrm>
              <a:custGeom>
                <a:avLst/>
                <a:gdLst/>
                <a:ahLst/>
                <a:cxnLst/>
                <a:rect l="l" t="t" r="r" b="b"/>
                <a:pathLst>
                  <a:path w="75959" h="362104" extrusionOk="0">
                    <a:moveTo>
                      <a:pt x="65373" y="362050"/>
                    </a:moveTo>
                    <a:lnTo>
                      <a:pt x="75960" y="362050"/>
                    </a:lnTo>
                    <a:lnTo>
                      <a:pt x="10354" y="4775"/>
                    </a:lnTo>
                    <a:cubicBezTo>
                      <a:pt x="9860" y="1976"/>
                      <a:pt x="7447" y="0"/>
                      <a:pt x="4595" y="0"/>
                    </a:cubicBezTo>
                    <a:lnTo>
                      <a:pt x="5856" y="0"/>
                    </a:lnTo>
                    <a:cubicBezTo>
                      <a:pt x="2236" y="0"/>
                      <a:pt x="-562" y="3348"/>
                      <a:pt x="96" y="6915"/>
                    </a:cubicBezTo>
                    <a:lnTo>
                      <a:pt x="65318" y="362104"/>
                    </a:lnTo>
                    <a:lnTo>
                      <a:pt x="65318" y="362104"/>
                    </a:lnTo>
                    <a:close/>
                  </a:path>
                </a:pathLst>
              </a:custGeom>
              <a:solidFill>
                <a:srgbClr val="72717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grpSp>
        <p:nvGrpSpPr>
          <p:cNvPr id="2563" name="Google Shape;2563;p6"/>
          <p:cNvGrpSpPr/>
          <p:nvPr/>
        </p:nvGrpSpPr>
        <p:grpSpPr>
          <a:xfrm>
            <a:off x="2859763" y="1504084"/>
            <a:ext cx="749885" cy="423251"/>
            <a:chOff x="2859763" y="1504084"/>
            <a:chExt cx="749885" cy="423251"/>
          </a:xfrm>
        </p:grpSpPr>
        <p:grpSp>
          <p:nvGrpSpPr>
            <p:cNvPr id="2564" name="Google Shape;2564;p6"/>
            <p:cNvGrpSpPr/>
            <p:nvPr/>
          </p:nvGrpSpPr>
          <p:grpSpPr>
            <a:xfrm>
              <a:off x="3031852" y="1507231"/>
              <a:ext cx="528878" cy="270272"/>
              <a:chOff x="3031852" y="1507231"/>
              <a:chExt cx="528878" cy="270272"/>
            </a:xfrm>
          </p:grpSpPr>
          <p:sp>
            <p:nvSpPr>
              <p:cNvPr id="2565" name="Google Shape;2565;p6"/>
              <p:cNvSpPr/>
              <p:nvPr/>
            </p:nvSpPr>
            <p:spPr>
              <a:xfrm>
                <a:off x="3031852" y="1507231"/>
                <a:ext cx="233367" cy="270272"/>
              </a:xfrm>
              <a:custGeom>
                <a:avLst/>
                <a:gdLst/>
                <a:ahLst/>
                <a:cxnLst/>
                <a:rect l="l" t="t" r="r" b="b"/>
                <a:pathLst>
                  <a:path w="233367" h="270272" extrusionOk="0">
                    <a:moveTo>
                      <a:pt x="45731" y="270273"/>
                    </a:moveTo>
                    <a:lnTo>
                      <a:pt x="233368" y="270273"/>
                    </a:lnTo>
                    <a:lnTo>
                      <a:pt x="233368" y="0"/>
                    </a:lnTo>
                    <a:lnTo>
                      <a:pt x="0" y="0"/>
                    </a:lnTo>
                    <a:lnTo>
                      <a:pt x="0" y="226174"/>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566" name="Google Shape;2566;p6"/>
              <p:cNvGrpSpPr/>
              <p:nvPr/>
            </p:nvGrpSpPr>
            <p:grpSpPr>
              <a:xfrm>
                <a:off x="3031852" y="1532268"/>
                <a:ext cx="233367" cy="34841"/>
                <a:chOff x="3031852" y="1532268"/>
                <a:chExt cx="233367" cy="34841"/>
              </a:xfrm>
            </p:grpSpPr>
            <p:sp>
              <p:nvSpPr>
                <p:cNvPr id="2567" name="Google Shape;2567;p6"/>
                <p:cNvSpPr/>
                <p:nvPr/>
              </p:nvSpPr>
              <p:spPr>
                <a:xfrm rot="10800000">
                  <a:off x="3189191" y="1532268"/>
                  <a:ext cx="58478" cy="17306"/>
                </a:xfrm>
                <a:custGeom>
                  <a:avLst/>
                  <a:gdLst/>
                  <a:ahLst/>
                  <a:cxnLst/>
                  <a:rect l="l" t="t" r="r" b="b"/>
                  <a:pathLst>
                    <a:path w="58478" h="17306" extrusionOk="0">
                      <a:moveTo>
                        <a:pt x="49828" y="0"/>
                      </a:moveTo>
                      <a:cubicBezTo>
                        <a:pt x="54606" y="0"/>
                        <a:pt x="58478" y="3879"/>
                        <a:pt x="58478" y="8665"/>
                      </a:cubicBezTo>
                      <a:lnTo>
                        <a:pt x="58478" y="8642"/>
                      </a:lnTo>
                      <a:cubicBezTo>
                        <a:pt x="58478" y="13427"/>
                        <a:pt x="54606" y="17307"/>
                        <a:pt x="49828" y="17307"/>
                      </a:cubicBezTo>
                      <a:lnTo>
                        <a:pt x="8650" y="17307"/>
                      </a:lnTo>
                      <a:cubicBezTo>
                        <a:pt x="3873" y="17307"/>
                        <a:pt x="0" y="13427"/>
                        <a:pt x="0" y="8642"/>
                      </a:cubicBezTo>
                      <a:lnTo>
                        <a:pt x="0" y="8665"/>
                      </a:lnTo>
                      <a:cubicBezTo>
                        <a:pt x="0" y="3879"/>
                        <a:pt x="3873" y="0"/>
                        <a:pt x="8650" y="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68" name="Google Shape;2568;p6"/>
                <p:cNvSpPr/>
                <p:nvPr/>
              </p:nvSpPr>
              <p:spPr>
                <a:xfrm>
                  <a:off x="3115598" y="1540910"/>
                  <a:ext cx="56407" cy="2280"/>
                </a:xfrm>
                <a:custGeom>
                  <a:avLst/>
                  <a:gdLst/>
                  <a:ahLst/>
                  <a:cxnLst/>
                  <a:rect l="l" t="t" r="r" b="b"/>
                  <a:pathLst>
                    <a:path w="56407" h="2280" extrusionOk="0">
                      <a:moveTo>
                        <a:pt x="56407"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69" name="Google Shape;2569;p6"/>
                <p:cNvSpPr/>
                <p:nvPr/>
              </p:nvSpPr>
              <p:spPr>
                <a:xfrm>
                  <a:off x="3058849" y="1540910"/>
                  <a:ext cx="35100" cy="2280"/>
                </a:xfrm>
                <a:custGeom>
                  <a:avLst/>
                  <a:gdLst/>
                  <a:ahLst/>
                  <a:cxnLst/>
                  <a:rect l="l" t="t" r="r" b="b"/>
                  <a:pathLst>
                    <a:path w="35100" h="2280" extrusionOk="0">
                      <a:moveTo>
                        <a:pt x="35101"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70" name="Google Shape;2570;p6"/>
                <p:cNvSpPr/>
                <p:nvPr/>
              </p:nvSpPr>
              <p:spPr>
                <a:xfrm>
                  <a:off x="3031852" y="1564829"/>
                  <a:ext cx="233367" cy="2280"/>
                </a:xfrm>
                <a:custGeom>
                  <a:avLst/>
                  <a:gdLst/>
                  <a:ahLst/>
                  <a:cxnLst/>
                  <a:rect l="l" t="t" r="r" b="b"/>
                  <a:pathLst>
                    <a:path w="233367" h="2280" extrusionOk="0">
                      <a:moveTo>
                        <a:pt x="233368"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71" name="Google Shape;2571;p6"/>
              <p:cNvGrpSpPr/>
              <p:nvPr/>
            </p:nvGrpSpPr>
            <p:grpSpPr>
              <a:xfrm>
                <a:off x="3031852" y="1583185"/>
                <a:ext cx="233367" cy="34864"/>
                <a:chOff x="3031852" y="1583185"/>
                <a:chExt cx="233367" cy="34864"/>
              </a:xfrm>
            </p:grpSpPr>
            <p:sp>
              <p:nvSpPr>
                <p:cNvPr id="2572" name="Google Shape;2572;p6"/>
                <p:cNvSpPr/>
                <p:nvPr/>
              </p:nvSpPr>
              <p:spPr>
                <a:xfrm rot="10800000">
                  <a:off x="3042391" y="1583185"/>
                  <a:ext cx="58478" cy="17306"/>
                </a:xfrm>
                <a:custGeom>
                  <a:avLst/>
                  <a:gdLst/>
                  <a:ahLst/>
                  <a:cxnLst/>
                  <a:rect l="l" t="t" r="r" b="b"/>
                  <a:pathLst>
                    <a:path w="58478" h="17306" extrusionOk="0">
                      <a:moveTo>
                        <a:pt x="49828" y="0"/>
                      </a:moveTo>
                      <a:cubicBezTo>
                        <a:pt x="54606" y="0"/>
                        <a:pt x="58478" y="3879"/>
                        <a:pt x="58478" y="8665"/>
                      </a:cubicBezTo>
                      <a:lnTo>
                        <a:pt x="58478" y="8642"/>
                      </a:lnTo>
                      <a:cubicBezTo>
                        <a:pt x="58478" y="13427"/>
                        <a:pt x="54606" y="17307"/>
                        <a:pt x="49828" y="17307"/>
                      </a:cubicBezTo>
                      <a:lnTo>
                        <a:pt x="8650" y="17307"/>
                      </a:lnTo>
                      <a:cubicBezTo>
                        <a:pt x="3873" y="17307"/>
                        <a:pt x="0" y="13427"/>
                        <a:pt x="0" y="8642"/>
                      </a:cubicBezTo>
                      <a:lnTo>
                        <a:pt x="0" y="8665"/>
                      </a:lnTo>
                      <a:cubicBezTo>
                        <a:pt x="0" y="3879"/>
                        <a:pt x="3873" y="0"/>
                        <a:pt x="8650" y="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73" name="Google Shape;2573;p6"/>
                <p:cNvSpPr/>
                <p:nvPr/>
              </p:nvSpPr>
              <p:spPr>
                <a:xfrm>
                  <a:off x="3131782" y="1591827"/>
                  <a:ext cx="40222" cy="2280"/>
                </a:xfrm>
                <a:custGeom>
                  <a:avLst/>
                  <a:gdLst/>
                  <a:ahLst/>
                  <a:cxnLst/>
                  <a:rect l="l" t="t" r="r" b="b"/>
                  <a:pathLst>
                    <a:path w="40222" h="2280" extrusionOk="0">
                      <a:moveTo>
                        <a:pt x="40222"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74" name="Google Shape;2574;p6"/>
                <p:cNvSpPr/>
                <p:nvPr/>
              </p:nvSpPr>
              <p:spPr>
                <a:xfrm>
                  <a:off x="3200026" y="1591827"/>
                  <a:ext cx="43614" cy="2280"/>
                </a:xfrm>
                <a:custGeom>
                  <a:avLst/>
                  <a:gdLst/>
                  <a:ahLst/>
                  <a:cxnLst/>
                  <a:rect l="l" t="t" r="r" b="b"/>
                  <a:pathLst>
                    <a:path w="43614" h="2280" extrusionOk="0">
                      <a:moveTo>
                        <a:pt x="43614"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75" name="Google Shape;2575;p6"/>
                <p:cNvSpPr/>
                <p:nvPr/>
              </p:nvSpPr>
              <p:spPr>
                <a:xfrm>
                  <a:off x="3031852" y="1615769"/>
                  <a:ext cx="233367" cy="2280"/>
                </a:xfrm>
                <a:custGeom>
                  <a:avLst/>
                  <a:gdLst/>
                  <a:ahLst/>
                  <a:cxnLst/>
                  <a:rect l="l" t="t" r="r" b="b"/>
                  <a:pathLst>
                    <a:path w="233367" h="2280" extrusionOk="0">
                      <a:moveTo>
                        <a:pt x="233368"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76" name="Google Shape;2576;p6"/>
              <p:cNvGrpSpPr/>
              <p:nvPr/>
            </p:nvGrpSpPr>
            <p:grpSpPr>
              <a:xfrm>
                <a:off x="3031852" y="1634102"/>
                <a:ext cx="233367" cy="34864"/>
                <a:chOff x="3031852" y="1634102"/>
                <a:chExt cx="233367" cy="34864"/>
              </a:xfrm>
            </p:grpSpPr>
            <p:sp>
              <p:nvSpPr>
                <p:cNvPr id="2577" name="Google Shape;2577;p6"/>
                <p:cNvSpPr/>
                <p:nvPr/>
              </p:nvSpPr>
              <p:spPr>
                <a:xfrm rot="10800000">
                  <a:off x="3189191" y="1634102"/>
                  <a:ext cx="58478" cy="17306"/>
                </a:xfrm>
                <a:custGeom>
                  <a:avLst/>
                  <a:gdLst/>
                  <a:ahLst/>
                  <a:cxnLst/>
                  <a:rect l="l" t="t" r="r" b="b"/>
                  <a:pathLst>
                    <a:path w="58478" h="17306" extrusionOk="0">
                      <a:moveTo>
                        <a:pt x="49828" y="0"/>
                      </a:moveTo>
                      <a:cubicBezTo>
                        <a:pt x="54606" y="0"/>
                        <a:pt x="58478" y="3879"/>
                        <a:pt x="58478" y="8665"/>
                      </a:cubicBezTo>
                      <a:lnTo>
                        <a:pt x="58478" y="8642"/>
                      </a:lnTo>
                      <a:cubicBezTo>
                        <a:pt x="58478" y="13427"/>
                        <a:pt x="54606" y="17307"/>
                        <a:pt x="49828" y="17307"/>
                      </a:cubicBezTo>
                      <a:lnTo>
                        <a:pt x="8650" y="17307"/>
                      </a:lnTo>
                      <a:cubicBezTo>
                        <a:pt x="3873" y="17307"/>
                        <a:pt x="0" y="13427"/>
                        <a:pt x="0" y="8642"/>
                      </a:cubicBezTo>
                      <a:lnTo>
                        <a:pt x="0" y="8665"/>
                      </a:lnTo>
                      <a:cubicBezTo>
                        <a:pt x="0" y="3879"/>
                        <a:pt x="3873" y="0"/>
                        <a:pt x="8650" y="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78" name="Google Shape;2578;p6"/>
                <p:cNvSpPr/>
                <p:nvPr/>
              </p:nvSpPr>
              <p:spPr>
                <a:xfrm>
                  <a:off x="3115598" y="1642744"/>
                  <a:ext cx="56407" cy="2280"/>
                </a:xfrm>
                <a:custGeom>
                  <a:avLst/>
                  <a:gdLst/>
                  <a:ahLst/>
                  <a:cxnLst/>
                  <a:rect l="l" t="t" r="r" b="b"/>
                  <a:pathLst>
                    <a:path w="56407" h="2280" extrusionOk="0">
                      <a:moveTo>
                        <a:pt x="56407"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79" name="Google Shape;2579;p6"/>
                <p:cNvSpPr/>
                <p:nvPr/>
              </p:nvSpPr>
              <p:spPr>
                <a:xfrm>
                  <a:off x="3072143" y="1642744"/>
                  <a:ext cx="21807" cy="2280"/>
                </a:xfrm>
                <a:custGeom>
                  <a:avLst/>
                  <a:gdLst/>
                  <a:ahLst/>
                  <a:cxnLst/>
                  <a:rect l="l" t="t" r="r" b="b"/>
                  <a:pathLst>
                    <a:path w="21807" h="2280" extrusionOk="0">
                      <a:moveTo>
                        <a:pt x="21807"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80" name="Google Shape;2580;p6"/>
                <p:cNvSpPr/>
                <p:nvPr/>
              </p:nvSpPr>
              <p:spPr>
                <a:xfrm>
                  <a:off x="3031852" y="1666686"/>
                  <a:ext cx="233367" cy="2280"/>
                </a:xfrm>
                <a:custGeom>
                  <a:avLst/>
                  <a:gdLst/>
                  <a:ahLst/>
                  <a:cxnLst/>
                  <a:rect l="l" t="t" r="r" b="b"/>
                  <a:pathLst>
                    <a:path w="233367" h="2280" extrusionOk="0">
                      <a:moveTo>
                        <a:pt x="233368"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81" name="Google Shape;2581;p6"/>
              <p:cNvGrpSpPr/>
              <p:nvPr/>
            </p:nvGrpSpPr>
            <p:grpSpPr>
              <a:xfrm>
                <a:off x="3031852" y="1685019"/>
                <a:ext cx="233367" cy="34864"/>
                <a:chOff x="3031852" y="1685019"/>
                <a:chExt cx="233367" cy="34864"/>
              </a:xfrm>
            </p:grpSpPr>
            <p:sp>
              <p:nvSpPr>
                <p:cNvPr id="2582" name="Google Shape;2582;p6"/>
                <p:cNvSpPr/>
                <p:nvPr/>
              </p:nvSpPr>
              <p:spPr>
                <a:xfrm rot="10800000">
                  <a:off x="3189191" y="1685019"/>
                  <a:ext cx="58478" cy="17306"/>
                </a:xfrm>
                <a:custGeom>
                  <a:avLst/>
                  <a:gdLst/>
                  <a:ahLst/>
                  <a:cxnLst/>
                  <a:rect l="l" t="t" r="r" b="b"/>
                  <a:pathLst>
                    <a:path w="58478" h="17306" extrusionOk="0">
                      <a:moveTo>
                        <a:pt x="49828" y="0"/>
                      </a:moveTo>
                      <a:cubicBezTo>
                        <a:pt x="54606" y="0"/>
                        <a:pt x="58478" y="3879"/>
                        <a:pt x="58478" y="8665"/>
                      </a:cubicBezTo>
                      <a:lnTo>
                        <a:pt x="58478" y="8642"/>
                      </a:lnTo>
                      <a:cubicBezTo>
                        <a:pt x="58478" y="13427"/>
                        <a:pt x="54606" y="17307"/>
                        <a:pt x="49828" y="17307"/>
                      </a:cubicBezTo>
                      <a:lnTo>
                        <a:pt x="8650" y="17307"/>
                      </a:lnTo>
                      <a:cubicBezTo>
                        <a:pt x="3873" y="17307"/>
                        <a:pt x="0" y="13427"/>
                        <a:pt x="0" y="8642"/>
                      </a:cubicBezTo>
                      <a:lnTo>
                        <a:pt x="0" y="8665"/>
                      </a:lnTo>
                      <a:cubicBezTo>
                        <a:pt x="0" y="3879"/>
                        <a:pt x="3873" y="0"/>
                        <a:pt x="8650" y="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83" name="Google Shape;2583;p6"/>
                <p:cNvSpPr/>
                <p:nvPr/>
              </p:nvSpPr>
              <p:spPr>
                <a:xfrm>
                  <a:off x="3126046" y="1693661"/>
                  <a:ext cx="45958" cy="2280"/>
                </a:xfrm>
                <a:custGeom>
                  <a:avLst/>
                  <a:gdLst/>
                  <a:ahLst/>
                  <a:cxnLst/>
                  <a:rect l="l" t="t" r="r" b="b"/>
                  <a:pathLst>
                    <a:path w="45958" h="2280" extrusionOk="0">
                      <a:moveTo>
                        <a:pt x="45959"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84" name="Google Shape;2584;p6"/>
                <p:cNvSpPr/>
                <p:nvPr/>
              </p:nvSpPr>
              <p:spPr>
                <a:xfrm>
                  <a:off x="3050336" y="1693661"/>
                  <a:ext cx="43614" cy="2280"/>
                </a:xfrm>
                <a:custGeom>
                  <a:avLst/>
                  <a:gdLst/>
                  <a:ahLst/>
                  <a:cxnLst/>
                  <a:rect l="l" t="t" r="r" b="b"/>
                  <a:pathLst>
                    <a:path w="43614" h="2280" extrusionOk="0">
                      <a:moveTo>
                        <a:pt x="43614"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85" name="Google Shape;2585;p6"/>
                <p:cNvSpPr/>
                <p:nvPr/>
              </p:nvSpPr>
              <p:spPr>
                <a:xfrm>
                  <a:off x="3031852" y="1717603"/>
                  <a:ext cx="233367" cy="2280"/>
                </a:xfrm>
                <a:custGeom>
                  <a:avLst/>
                  <a:gdLst/>
                  <a:ahLst/>
                  <a:cxnLst/>
                  <a:rect l="l" t="t" r="r" b="b"/>
                  <a:pathLst>
                    <a:path w="233367" h="2280" extrusionOk="0">
                      <a:moveTo>
                        <a:pt x="233368"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86" name="Google Shape;2586;p6"/>
              <p:cNvGrpSpPr/>
              <p:nvPr/>
            </p:nvGrpSpPr>
            <p:grpSpPr>
              <a:xfrm>
                <a:off x="3063948" y="1735936"/>
                <a:ext cx="183721" cy="17306"/>
                <a:chOff x="3063948" y="1735936"/>
                <a:chExt cx="183721" cy="17306"/>
              </a:xfrm>
            </p:grpSpPr>
            <p:sp>
              <p:nvSpPr>
                <p:cNvPr id="2587" name="Google Shape;2587;p6"/>
                <p:cNvSpPr/>
                <p:nvPr/>
              </p:nvSpPr>
              <p:spPr>
                <a:xfrm rot="10800000">
                  <a:off x="3189191" y="1735936"/>
                  <a:ext cx="58478" cy="17306"/>
                </a:xfrm>
                <a:custGeom>
                  <a:avLst/>
                  <a:gdLst/>
                  <a:ahLst/>
                  <a:cxnLst/>
                  <a:rect l="l" t="t" r="r" b="b"/>
                  <a:pathLst>
                    <a:path w="58478" h="17306" extrusionOk="0">
                      <a:moveTo>
                        <a:pt x="49828" y="0"/>
                      </a:moveTo>
                      <a:cubicBezTo>
                        <a:pt x="54606" y="0"/>
                        <a:pt x="58478" y="3879"/>
                        <a:pt x="58478" y="8665"/>
                      </a:cubicBezTo>
                      <a:lnTo>
                        <a:pt x="58478" y="8642"/>
                      </a:lnTo>
                      <a:cubicBezTo>
                        <a:pt x="58478" y="13427"/>
                        <a:pt x="54606" y="17307"/>
                        <a:pt x="49828" y="17307"/>
                      </a:cubicBezTo>
                      <a:lnTo>
                        <a:pt x="8650" y="17307"/>
                      </a:lnTo>
                      <a:cubicBezTo>
                        <a:pt x="3873" y="17307"/>
                        <a:pt x="0" y="13427"/>
                        <a:pt x="0" y="8642"/>
                      </a:cubicBezTo>
                      <a:lnTo>
                        <a:pt x="0" y="8665"/>
                      </a:lnTo>
                      <a:cubicBezTo>
                        <a:pt x="0" y="3879"/>
                        <a:pt x="3873" y="0"/>
                        <a:pt x="8650" y="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88" name="Google Shape;2588;p6"/>
                <p:cNvSpPr/>
                <p:nvPr/>
              </p:nvSpPr>
              <p:spPr>
                <a:xfrm>
                  <a:off x="3063948" y="1744578"/>
                  <a:ext cx="30001" cy="2280"/>
                </a:xfrm>
                <a:custGeom>
                  <a:avLst/>
                  <a:gdLst/>
                  <a:ahLst/>
                  <a:cxnLst/>
                  <a:rect l="l" t="t" r="r" b="b"/>
                  <a:pathLst>
                    <a:path w="30001" h="2280" extrusionOk="0">
                      <a:moveTo>
                        <a:pt x="30002"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589" name="Google Shape;2589;p6"/>
              <p:cNvGrpSpPr/>
              <p:nvPr/>
            </p:nvGrpSpPr>
            <p:grpSpPr>
              <a:xfrm>
                <a:off x="3515910" y="1718287"/>
                <a:ext cx="44820" cy="44897"/>
                <a:chOff x="3515910" y="1718287"/>
                <a:chExt cx="44820" cy="44897"/>
              </a:xfrm>
            </p:grpSpPr>
            <p:sp>
              <p:nvSpPr>
                <p:cNvPr id="2590" name="Google Shape;2590;p6"/>
                <p:cNvSpPr/>
                <p:nvPr/>
              </p:nvSpPr>
              <p:spPr>
                <a:xfrm>
                  <a:off x="3526677" y="1732903"/>
                  <a:ext cx="23878" cy="15665"/>
                </a:xfrm>
                <a:custGeom>
                  <a:avLst/>
                  <a:gdLst/>
                  <a:ahLst/>
                  <a:cxnLst/>
                  <a:rect l="l" t="t" r="r" b="b"/>
                  <a:pathLst>
                    <a:path w="23878" h="15665" extrusionOk="0">
                      <a:moveTo>
                        <a:pt x="0" y="7411"/>
                      </a:moveTo>
                      <a:lnTo>
                        <a:pt x="8218" y="15665"/>
                      </a:lnTo>
                      <a:lnTo>
                        <a:pt x="23879"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91" name="Google Shape;2591;p6"/>
                <p:cNvSpPr/>
                <p:nvPr/>
              </p:nvSpPr>
              <p:spPr>
                <a:xfrm>
                  <a:off x="3515910" y="1718287"/>
                  <a:ext cx="44820" cy="44897"/>
                </a:xfrm>
                <a:custGeom>
                  <a:avLst/>
                  <a:gdLst/>
                  <a:ahLst/>
                  <a:cxnLst/>
                  <a:rect l="l" t="t" r="r" b="b"/>
                  <a:pathLst>
                    <a:path w="44820" h="44897" extrusionOk="0">
                      <a:moveTo>
                        <a:pt x="22399" y="0"/>
                      </a:moveTo>
                      <a:cubicBezTo>
                        <a:pt x="34782" y="0"/>
                        <a:pt x="44821" y="10056"/>
                        <a:pt x="44821" y="22460"/>
                      </a:cubicBezTo>
                      <a:lnTo>
                        <a:pt x="44821" y="22437"/>
                      </a:lnTo>
                      <a:cubicBezTo>
                        <a:pt x="44821" y="34842"/>
                        <a:pt x="34782" y="44897"/>
                        <a:pt x="22399" y="44897"/>
                      </a:cubicBezTo>
                      <a:lnTo>
                        <a:pt x="22422" y="44897"/>
                      </a:lnTo>
                      <a:cubicBezTo>
                        <a:pt x="10039" y="44897"/>
                        <a:pt x="0" y="34842"/>
                        <a:pt x="0" y="22437"/>
                      </a:cubicBezTo>
                      <a:lnTo>
                        <a:pt x="0" y="22460"/>
                      </a:lnTo>
                      <a:cubicBezTo>
                        <a:pt x="0" y="10056"/>
                        <a:pt x="10039" y="0"/>
                        <a:pt x="22422" y="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grpSp>
          <p:nvGrpSpPr>
            <p:cNvPr id="2592" name="Google Shape;2592;p6"/>
            <p:cNvGrpSpPr/>
            <p:nvPr/>
          </p:nvGrpSpPr>
          <p:grpSpPr>
            <a:xfrm>
              <a:off x="3338836" y="1692475"/>
              <a:ext cx="91098" cy="49320"/>
              <a:chOff x="3338836" y="1692475"/>
              <a:chExt cx="91098" cy="49320"/>
            </a:xfrm>
          </p:grpSpPr>
          <p:sp>
            <p:nvSpPr>
              <p:cNvPr id="2593" name="Google Shape;2593;p6"/>
              <p:cNvSpPr/>
              <p:nvPr/>
            </p:nvSpPr>
            <p:spPr>
              <a:xfrm>
                <a:off x="3388573" y="1720636"/>
                <a:ext cx="25858" cy="2280"/>
              </a:xfrm>
              <a:custGeom>
                <a:avLst/>
                <a:gdLst/>
                <a:ahLst/>
                <a:cxnLst/>
                <a:rect l="l" t="t" r="r" b="b"/>
                <a:pathLst>
                  <a:path w="25858" h="2280" extrusionOk="0">
                    <a:moveTo>
                      <a:pt x="0" y="0"/>
                    </a:moveTo>
                    <a:lnTo>
                      <a:pt x="25859"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94" name="Google Shape;2594;p6"/>
              <p:cNvSpPr/>
              <p:nvPr/>
            </p:nvSpPr>
            <p:spPr>
              <a:xfrm>
                <a:off x="3388573" y="1703967"/>
                <a:ext cx="25858" cy="2280"/>
              </a:xfrm>
              <a:custGeom>
                <a:avLst/>
                <a:gdLst/>
                <a:ahLst/>
                <a:cxnLst/>
                <a:rect l="l" t="t" r="r" b="b"/>
                <a:pathLst>
                  <a:path w="25858" h="2280" extrusionOk="0">
                    <a:moveTo>
                      <a:pt x="0" y="0"/>
                    </a:moveTo>
                    <a:lnTo>
                      <a:pt x="25859"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95" name="Google Shape;2595;p6"/>
              <p:cNvSpPr/>
              <p:nvPr/>
            </p:nvSpPr>
            <p:spPr>
              <a:xfrm>
                <a:off x="3388573" y="1709554"/>
                <a:ext cx="17846" cy="2280"/>
              </a:xfrm>
              <a:custGeom>
                <a:avLst/>
                <a:gdLst/>
                <a:ahLst/>
                <a:cxnLst/>
                <a:rect l="l" t="t" r="r" b="b"/>
                <a:pathLst>
                  <a:path w="17846" h="2280" extrusionOk="0">
                    <a:moveTo>
                      <a:pt x="0" y="0"/>
                    </a:moveTo>
                    <a:lnTo>
                      <a:pt x="17846"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96" name="Google Shape;2596;p6"/>
              <p:cNvSpPr/>
              <p:nvPr/>
            </p:nvSpPr>
            <p:spPr>
              <a:xfrm>
                <a:off x="3388573" y="1715140"/>
                <a:ext cx="31390" cy="2280"/>
              </a:xfrm>
              <a:custGeom>
                <a:avLst/>
                <a:gdLst/>
                <a:ahLst/>
                <a:cxnLst/>
                <a:rect l="l" t="t" r="r" b="b"/>
                <a:pathLst>
                  <a:path w="31390" h="2280" extrusionOk="0">
                    <a:moveTo>
                      <a:pt x="0" y="0"/>
                    </a:moveTo>
                    <a:lnTo>
                      <a:pt x="3139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597" name="Google Shape;2597;p6"/>
              <p:cNvGrpSpPr/>
              <p:nvPr/>
            </p:nvGrpSpPr>
            <p:grpSpPr>
              <a:xfrm>
                <a:off x="3347508" y="1701391"/>
                <a:ext cx="33302" cy="33769"/>
                <a:chOff x="3347508" y="1701391"/>
                <a:chExt cx="33302" cy="33769"/>
              </a:xfrm>
            </p:grpSpPr>
            <p:sp>
              <p:nvSpPr>
                <p:cNvPr id="2598" name="Google Shape;2598;p6"/>
                <p:cNvSpPr/>
                <p:nvPr/>
              </p:nvSpPr>
              <p:spPr>
                <a:xfrm>
                  <a:off x="3357319" y="1701391"/>
                  <a:ext cx="23491" cy="23531"/>
                </a:xfrm>
                <a:custGeom>
                  <a:avLst/>
                  <a:gdLst/>
                  <a:ahLst/>
                  <a:cxnLst/>
                  <a:rect l="l" t="t" r="r" b="b"/>
                  <a:pathLst>
                    <a:path w="23491" h="23531" extrusionOk="0">
                      <a:moveTo>
                        <a:pt x="23492" y="11766"/>
                      </a:moveTo>
                      <a:cubicBezTo>
                        <a:pt x="23492" y="18264"/>
                        <a:pt x="18233" y="23532"/>
                        <a:pt x="11746" y="23532"/>
                      </a:cubicBezTo>
                      <a:cubicBezTo>
                        <a:pt x="5259" y="23532"/>
                        <a:pt x="0" y="18264"/>
                        <a:pt x="0" y="11766"/>
                      </a:cubicBezTo>
                      <a:cubicBezTo>
                        <a:pt x="0" y="5268"/>
                        <a:pt x="5259" y="0"/>
                        <a:pt x="11746" y="0"/>
                      </a:cubicBezTo>
                      <a:cubicBezTo>
                        <a:pt x="18233" y="0"/>
                        <a:pt x="23492" y="5268"/>
                        <a:pt x="23492" y="11766"/>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599" name="Google Shape;2599;p6"/>
                <p:cNvSpPr/>
                <p:nvPr/>
              </p:nvSpPr>
              <p:spPr>
                <a:xfrm>
                  <a:off x="3347508" y="1721753"/>
                  <a:ext cx="13384" cy="13407"/>
                </a:xfrm>
                <a:custGeom>
                  <a:avLst/>
                  <a:gdLst/>
                  <a:ahLst/>
                  <a:cxnLst/>
                  <a:rect l="l" t="t" r="r" b="b"/>
                  <a:pathLst>
                    <a:path w="13384" h="13407" extrusionOk="0">
                      <a:moveTo>
                        <a:pt x="0" y="13408"/>
                      </a:moveTo>
                      <a:lnTo>
                        <a:pt x="13385"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600" name="Google Shape;2600;p6"/>
              <p:cNvSpPr/>
              <p:nvPr/>
            </p:nvSpPr>
            <p:spPr>
              <a:xfrm>
                <a:off x="3338836" y="1692475"/>
                <a:ext cx="91098" cy="49320"/>
              </a:xfrm>
              <a:custGeom>
                <a:avLst/>
                <a:gdLst/>
                <a:ahLst/>
                <a:cxnLst/>
                <a:rect l="l" t="t" r="r" b="b"/>
                <a:pathLst>
                  <a:path w="91098" h="49320" extrusionOk="0">
                    <a:moveTo>
                      <a:pt x="0" y="0"/>
                    </a:moveTo>
                    <a:lnTo>
                      <a:pt x="91098" y="0"/>
                    </a:lnTo>
                    <a:lnTo>
                      <a:pt x="91098" y="49321"/>
                    </a:lnTo>
                    <a:lnTo>
                      <a:pt x="0" y="49321"/>
                    </a:ln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601" name="Google Shape;2601;p6"/>
            <p:cNvSpPr/>
            <p:nvPr/>
          </p:nvSpPr>
          <p:spPr>
            <a:xfrm>
              <a:off x="2903718" y="1531743"/>
              <a:ext cx="43158" cy="43232"/>
            </a:xfrm>
            <a:custGeom>
              <a:avLst/>
              <a:gdLst/>
              <a:ahLst/>
              <a:cxnLst/>
              <a:rect l="l" t="t" r="r" b="b"/>
              <a:pathLst>
                <a:path w="43158" h="43232" extrusionOk="0">
                  <a:moveTo>
                    <a:pt x="43159" y="21616"/>
                  </a:moveTo>
                  <a:cubicBezTo>
                    <a:pt x="43159" y="33555"/>
                    <a:pt x="33497" y="43233"/>
                    <a:pt x="21579" y="43233"/>
                  </a:cubicBezTo>
                  <a:cubicBezTo>
                    <a:pt x="9661" y="43233"/>
                    <a:pt x="0" y="33555"/>
                    <a:pt x="0" y="21616"/>
                  </a:cubicBezTo>
                  <a:cubicBezTo>
                    <a:pt x="0" y="9678"/>
                    <a:pt x="9661" y="0"/>
                    <a:pt x="21579" y="0"/>
                  </a:cubicBezTo>
                  <a:cubicBezTo>
                    <a:pt x="33497" y="0"/>
                    <a:pt x="43159" y="9678"/>
                    <a:pt x="43159" y="21616"/>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2" name="Google Shape;2602;p6"/>
            <p:cNvSpPr/>
            <p:nvPr/>
          </p:nvSpPr>
          <p:spPr>
            <a:xfrm>
              <a:off x="2925525" y="1589752"/>
              <a:ext cx="105598" cy="2280"/>
            </a:xfrm>
            <a:custGeom>
              <a:avLst/>
              <a:gdLst/>
              <a:ahLst/>
              <a:cxnLst/>
              <a:rect l="l" t="t" r="r" b="b"/>
              <a:pathLst>
                <a:path w="105598" h="2280" extrusionOk="0">
                  <a:moveTo>
                    <a:pt x="105598" y="0"/>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3" name="Google Shape;2603;p6"/>
            <p:cNvSpPr/>
            <p:nvPr/>
          </p:nvSpPr>
          <p:spPr>
            <a:xfrm>
              <a:off x="2912937" y="1541229"/>
              <a:ext cx="24720" cy="24763"/>
            </a:xfrm>
            <a:custGeom>
              <a:avLst/>
              <a:gdLst/>
              <a:ahLst/>
              <a:cxnLst/>
              <a:rect l="l" t="t" r="r" b="b"/>
              <a:pathLst>
                <a:path w="24720" h="24763" extrusionOk="0">
                  <a:moveTo>
                    <a:pt x="24721" y="12382"/>
                  </a:moveTo>
                  <a:cubicBezTo>
                    <a:pt x="24721" y="19220"/>
                    <a:pt x="19187" y="24763"/>
                    <a:pt x="12360" y="24763"/>
                  </a:cubicBezTo>
                  <a:cubicBezTo>
                    <a:pt x="5534" y="24763"/>
                    <a:pt x="0" y="19220"/>
                    <a:pt x="0" y="12382"/>
                  </a:cubicBezTo>
                  <a:cubicBezTo>
                    <a:pt x="0" y="5543"/>
                    <a:pt x="5534" y="0"/>
                    <a:pt x="12360" y="0"/>
                  </a:cubicBezTo>
                  <a:cubicBezTo>
                    <a:pt x="19187" y="0"/>
                    <a:pt x="24721" y="5543"/>
                    <a:pt x="24721" y="12382"/>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4" name="Google Shape;2604;p6"/>
            <p:cNvSpPr/>
            <p:nvPr/>
          </p:nvSpPr>
          <p:spPr>
            <a:xfrm>
              <a:off x="2911572" y="1649812"/>
              <a:ext cx="27452" cy="27499"/>
            </a:xfrm>
            <a:custGeom>
              <a:avLst/>
              <a:gdLst/>
              <a:ahLst/>
              <a:cxnLst/>
              <a:rect l="l" t="t" r="r" b="b"/>
              <a:pathLst>
                <a:path w="27452" h="27499" extrusionOk="0">
                  <a:moveTo>
                    <a:pt x="27452" y="13750"/>
                  </a:moveTo>
                  <a:cubicBezTo>
                    <a:pt x="27452" y="21343"/>
                    <a:pt x="21307" y="27499"/>
                    <a:pt x="13726" y="27499"/>
                  </a:cubicBezTo>
                  <a:cubicBezTo>
                    <a:pt x="6145" y="27499"/>
                    <a:pt x="0" y="21343"/>
                    <a:pt x="0" y="13750"/>
                  </a:cubicBezTo>
                  <a:cubicBezTo>
                    <a:pt x="0" y="6156"/>
                    <a:pt x="6145" y="0"/>
                    <a:pt x="13726" y="0"/>
                  </a:cubicBezTo>
                  <a:cubicBezTo>
                    <a:pt x="21307" y="0"/>
                    <a:pt x="27452" y="6156"/>
                    <a:pt x="27452" y="13750"/>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5" name="Google Shape;2605;p6"/>
            <p:cNvSpPr/>
            <p:nvPr/>
          </p:nvSpPr>
          <p:spPr>
            <a:xfrm>
              <a:off x="2925298" y="1574953"/>
              <a:ext cx="2276" cy="73810"/>
            </a:xfrm>
            <a:custGeom>
              <a:avLst/>
              <a:gdLst/>
              <a:ahLst/>
              <a:cxnLst/>
              <a:rect l="l" t="t" r="r" b="b"/>
              <a:pathLst>
                <a:path w="2276" h="73810" extrusionOk="0">
                  <a:moveTo>
                    <a:pt x="0" y="0"/>
                  </a:moveTo>
                  <a:lnTo>
                    <a:pt x="0" y="7381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6" name="Google Shape;2606;p6"/>
            <p:cNvSpPr/>
            <p:nvPr/>
          </p:nvSpPr>
          <p:spPr>
            <a:xfrm>
              <a:off x="3537376" y="1774790"/>
              <a:ext cx="2276" cy="152545"/>
            </a:xfrm>
            <a:custGeom>
              <a:avLst/>
              <a:gdLst/>
              <a:ahLst/>
              <a:cxnLst/>
              <a:rect l="l" t="t" r="r" b="b"/>
              <a:pathLst>
                <a:path w="2276" h="152545" extrusionOk="0">
                  <a:moveTo>
                    <a:pt x="0" y="0"/>
                  </a:moveTo>
                  <a:lnTo>
                    <a:pt x="0" y="152546"/>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7" name="Google Shape;2607;p6"/>
            <p:cNvSpPr/>
            <p:nvPr/>
          </p:nvSpPr>
          <p:spPr>
            <a:xfrm>
              <a:off x="3537376" y="1615700"/>
              <a:ext cx="2276" cy="94925"/>
            </a:xfrm>
            <a:custGeom>
              <a:avLst/>
              <a:gdLst/>
              <a:ahLst/>
              <a:cxnLst/>
              <a:rect l="l" t="t" r="r" b="b"/>
              <a:pathLst>
                <a:path w="2276" h="94925" extrusionOk="0">
                  <a:moveTo>
                    <a:pt x="0" y="0"/>
                  </a:moveTo>
                  <a:lnTo>
                    <a:pt x="0" y="94925"/>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8" name="Google Shape;2608;p6"/>
            <p:cNvSpPr/>
            <p:nvPr/>
          </p:nvSpPr>
          <p:spPr>
            <a:xfrm>
              <a:off x="3274530" y="1586331"/>
              <a:ext cx="63509" cy="2280"/>
            </a:xfrm>
            <a:custGeom>
              <a:avLst/>
              <a:gdLst/>
              <a:ahLst/>
              <a:cxnLst/>
              <a:rect l="l" t="t" r="r" b="b"/>
              <a:pathLst>
                <a:path w="63509" h="2280" extrusionOk="0">
                  <a:moveTo>
                    <a:pt x="0" y="0"/>
                  </a:moveTo>
                  <a:lnTo>
                    <a:pt x="63509"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09" name="Google Shape;2609;p6"/>
            <p:cNvSpPr/>
            <p:nvPr/>
          </p:nvSpPr>
          <p:spPr>
            <a:xfrm>
              <a:off x="3390827" y="1743255"/>
              <a:ext cx="2276" cy="182051"/>
            </a:xfrm>
            <a:custGeom>
              <a:avLst/>
              <a:gdLst/>
              <a:ahLst/>
              <a:cxnLst/>
              <a:rect l="l" t="t" r="r" b="b"/>
              <a:pathLst>
                <a:path w="2276" h="182051" extrusionOk="0">
                  <a:moveTo>
                    <a:pt x="0" y="0"/>
                  </a:moveTo>
                  <a:lnTo>
                    <a:pt x="0" y="182052"/>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10" name="Google Shape;2610;p6"/>
            <p:cNvSpPr/>
            <p:nvPr/>
          </p:nvSpPr>
          <p:spPr>
            <a:xfrm>
              <a:off x="3506554" y="1553291"/>
              <a:ext cx="61642" cy="61748"/>
            </a:xfrm>
            <a:custGeom>
              <a:avLst/>
              <a:gdLst/>
              <a:ahLst/>
              <a:cxnLst/>
              <a:rect l="l" t="t" r="r" b="b"/>
              <a:pathLst>
                <a:path w="61642" h="61748" extrusionOk="0">
                  <a:moveTo>
                    <a:pt x="61643" y="30874"/>
                  </a:moveTo>
                  <a:cubicBezTo>
                    <a:pt x="61643" y="47925"/>
                    <a:pt x="47843" y="61748"/>
                    <a:pt x="30821" y="61748"/>
                  </a:cubicBezTo>
                  <a:cubicBezTo>
                    <a:pt x="13799" y="61748"/>
                    <a:pt x="0" y="47925"/>
                    <a:pt x="0" y="30874"/>
                  </a:cubicBezTo>
                  <a:cubicBezTo>
                    <a:pt x="0" y="13823"/>
                    <a:pt x="13799" y="0"/>
                    <a:pt x="30821" y="0"/>
                  </a:cubicBezTo>
                  <a:cubicBezTo>
                    <a:pt x="47843" y="0"/>
                    <a:pt x="61643" y="13823"/>
                    <a:pt x="61643" y="30874"/>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11" name="Google Shape;2611;p6"/>
            <p:cNvSpPr/>
            <p:nvPr/>
          </p:nvSpPr>
          <p:spPr>
            <a:xfrm>
              <a:off x="3468699" y="1584553"/>
              <a:ext cx="48508" cy="2280"/>
            </a:xfrm>
            <a:custGeom>
              <a:avLst/>
              <a:gdLst/>
              <a:ahLst/>
              <a:cxnLst/>
              <a:rect l="l" t="t" r="r" b="b"/>
              <a:pathLst>
                <a:path w="48508" h="2280" extrusionOk="0">
                  <a:moveTo>
                    <a:pt x="0" y="0"/>
                  </a:moveTo>
                  <a:lnTo>
                    <a:pt x="48508"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12" name="Google Shape;2612;p6"/>
            <p:cNvSpPr/>
            <p:nvPr/>
          </p:nvSpPr>
          <p:spPr>
            <a:xfrm>
              <a:off x="3519711" y="1566858"/>
              <a:ext cx="35328" cy="35388"/>
            </a:xfrm>
            <a:custGeom>
              <a:avLst/>
              <a:gdLst/>
              <a:ahLst/>
              <a:cxnLst/>
              <a:rect l="l" t="t" r="r" b="b"/>
              <a:pathLst>
                <a:path w="35328" h="35388" extrusionOk="0">
                  <a:moveTo>
                    <a:pt x="35328" y="17694"/>
                  </a:moveTo>
                  <a:cubicBezTo>
                    <a:pt x="35328" y="27467"/>
                    <a:pt x="27420" y="35389"/>
                    <a:pt x="17664" y="35389"/>
                  </a:cubicBezTo>
                  <a:cubicBezTo>
                    <a:pt x="7909" y="35389"/>
                    <a:pt x="0" y="27467"/>
                    <a:pt x="0" y="17694"/>
                  </a:cubicBezTo>
                  <a:cubicBezTo>
                    <a:pt x="0" y="7922"/>
                    <a:pt x="7909" y="0"/>
                    <a:pt x="17664" y="0"/>
                  </a:cubicBezTo>
                  <a:cubicBezTo>
                    <a:pt x="27420" y="0"/>
                    <a:pt x="35328" y="7922"/>
                    <a:pt x="35328" y="17694"/>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13" name="Google Shape;2613;p6"/>
            <p:cNvGrpSpPr/>
            <p:nvPr/>
          </p:nvGrpSpPr>
          <p:grpSpPr>
            <a:xfrm>
              <a:off x="3347303" y="1529645"/>
              <a:ext cx="113792" cy="116450"/>
              <a:chOff x="3347303" y="1529645"/>
              <a:chExt cx="113792" cy="116450"/>
            </a:xfrm>
          </p:grpSpPr>
          <p:sp>
            <p:nvSpPr>
              <p:cNvPr id="2614" name="Google Shape;2614;p6"/>
              <p:cNvSpPr/>
              <p:nvPr/>
            </p:nvSpPr>
            <p:spPr>
              <a:xfrm>
                <a:off x="3347303" y="1529645"/>
                <a:ext cx="113792" cy="116450"/>
              </a:xfrm>
              <a:custGeom>
                <a:avLst/>
                <a:gdLst/>
                <a:ahLst/>
                <a:cxnLst/>
                <a:rect l="l" t="t" r="r" b="b"/>
                <a:pathLst>
                  <a:path w="113792" h="116450" extrusionOk="0">
                    <a:moveTo>
                      <a:pt x="113793" y="116450"/>
                    </a:moveTo>
                    <a:lnTo>
                      <a:pt x="0" y="116450"/>
                    </a:lnTo>
                    <a:cubicBezTo>
                      <a:pt x="0" y="116450"/>
                      <a:pt x="0" y="84915"/>
                      <a:pt x="0" y="84915"/>
                    </a:cubicBezTo>
                    <a:lnTo>
                      <a:pt x="113793" y="84915"/>
                    </a:lnTo>
                    <a:cubicBezTo>
                      <a:pt x="113793" y="84915"/>
                      <a:pt x="113793" y="116450"/>
                      <a:pt x="113793" y="116450"/>
                    </a:cubicBezTo>
                    <a:close/>
                    <a:moveTo>
                      <a:pt x="113793" y="42457"/>
                    </a:moveTo>
                    <a:lnTo>
                      <a:pt x="0" y="42457"/>
                    </a:lnTo>
                    <a:lnTo>
                      <a:pt x="0" y="73993"/>
                    </a:lnTo>
                    <a:lnTo>
                      <a:pt x="113793" y="73993"/>
                    </a:lnTo>
                    <a:lnTo>
                      <a:pt x="113793" y="42457"/>
                    </a:lnTo>
                    <a:close/>
                    <a:moveTo>
                      <a:pt x="113793" y="0"/>
                    </a:moveTo>
                    <a:lnTo>
                      <a:pt x="0" y="0"/>
                    </a:lnTo>
                    <a:lnTo>
                      <a:pt x="0" y="31535"/>
                    </a:lnTo>
                    <a:lnTo>
                      <a:pt x="113793" y="31535"/>
                    </a:lnTo>
                    <a:lnTo>
                      <a:pt x="113793" y="0"/>
                    </a:ln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15" name="Google Shape;2615;p6"/>
              <p:cNvGrpSpPr/>
              <p:nvPr/>
            </p:nvGrpSpPr>
            <p:grpSpPr>
              <a:xfrm>
                <a:off x="3352357" y="1603638"/>
                <a:ext cx="105962" cy="10922"/>
                <a:chOff x="3352357" y="1603638"/>
                <a:chExt cx="105962" cy="10922"/>
              </a:xfrm>
            </p:grpSpPr>
            <p:sp>
              <p:nvSpPr>
                <p:cNvPr id="2616" name="Google Shape;2616;p6"/>
                <p:cNvSpPr/>
                <p:nvPr/>
              </p:nvSpPr>
              <p:spPr>
                <a:xfrm>
                  <a:off x="3456043" y="1603638"/>
                  <a:ext cx="2276" cy="10922"/>
                </a:xfrm>
                <a:custGeom>
                  <a:avLst/>
                  <a:gdLst/>
                  <a:ahLst/>
                  <a:cxnLst/>
                  <a:rect l="l" t="t" r="r" b="b"/>
                  <a:pathLst>
                    <a:path w="2276" h="10922" extrusionOk="0">
                      <a:moveTo>
                        <a:pt x="0" y="10922"/>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17" name="Google Shape;2617;p6"/>
                <p:cNvSpPr/>
                <p:nvPr/>
              </p:nvSpPr>
              <p:spPr>
                <a:xfrm>
                  <a:off x="3352357" y="1603638"/>
                  <a:ext cx="2276" cy="10922"/>
                </a:xfrm>
                <a:custGeom>
                  <a:avLst/>
                  <a:gdLst/>
                  <a:ahLst/>
                  <a:cxnLst/>
                  <a:rect l="l" t="t" r="r" b="b"/>
                  <a:pathLst>
                    <a:path w="2276" h="10922" extrusionOk="0">
                      <a:moveTo>
                        <a:pt x="0" y="10922"/>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18" name="Google Shape;2618;p6"/>
              <p:cNvGrpSpPr/>
              <p:nvPr/>
            </p:nvGrpSpPr>
            <p:grpSpPr>
              <a:xfrm>
                <a:off x="3352357" y="1561181"/>
                <a:ext cx="105962" cy="10922"/>
                <a:chOff x="3352357" y="1561181"/>
                <a:chExt cx="105962" cy="10922"/>
              </a:xfrm>
            </p:grpSpPr>
            <p:sp>
              <p:nvSpPr>
                <p:cNvPr id="2619" name="Google Shape;2619;p6"/>
                <p:cNvSpPr/>
                <p:nvPr/>
              </p:nvSpPr>
              <p:spPr>
                <a:xfrm>
                  <a:off x="3456043" y="1561181"/>
                  <a:ext cx="2276" cy="10922"/>
                </a:xfrm>
                <a:custGeom>
                  <a:avLst/>
                  <a:gdLst/>
                  <a:ahLst/>
                  <a:cxnLst/>
                  <a:rect l="l" t="t" r="r" b="b"/>
                  <a:pathLst>
                    <a:path w="2276" h="10922" extrusionOk="0">
                      <a:moveTo>
                        <a:pt x="0" y="10922"/>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0" name="Google Shape;2620;p6"/>
                <p:cNvSpPr/>
                <p:nvPr/>
              </p:nvSpPr>
              <p:spPr>
                <a:xfrm>
                  <a:off x="3352357" y="1561181"/>
                  <a:ext cx="2276" cy="10922"/>
                </a:xfrm>
                <a:custGeom>
                  <a:avLst/>
                  <a:gdLst/>
                  <a:ahLst/>
                  <a:cxnLst/>
                  <a:rect l="l" t="t" r="r" b="b"/>
                  <a:pathLst>
                    <a:path w="2276" h="10922" extrusionOk="0">
                      <a:moveTo>
                        <a:pt x="0" y="10922"/>
                      </a:moveTo>
                      <a:lnTo>
                        <a:pt x="0" y="0"/>
                      </a:lnTo>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sp>
          <p:nvSpPr>
            <p:cNvPr id="2621" name="Google Shape;2621;p6"/>
            <p:cNvSpPr/>
            <p:nvPr/>
          </p:nvSpPr>
          <p:spPr>
            <a:xfrm>
              <a:off x="3278923" y="1889645"/>
              <a:ext cx="8786" cy="8801"/>
            </a:xfrm>
            <a:custGeom>
              <a:avLst/>
              <a:gdLst/>
              <a:ahLst/>
              <a:cxnLst/>
              <a:rect l="l" t="t" r="r" b="b"/>
              <a:pathLst>
                <a:path w="8786" h="8801" extrusionOk="0">
                  <a:moveTo>
                    <a:pt x="8787" y="4401"/>
                  </a:moveTo>
                  <a:cubicBezTo>
                    <a:pt x="8787" y="6831"/>
                    <a:pt x="6820" y="8802"/>
                    <a:pt x="4393" y="8802"/>
                  </a:cubicBezTo>
                  <a:cubicBezTo>
                    <a:pt x="1967" y="8802"/>
                    <a:pt x="0" y="6831"/>
                    <a:pt x="0" y="4401"/>
                  </a:cubicBezTo>
                  <a:cubicBezTo>
                    <a:pt x="0" y="1970"/>
                    <a:pt x="1967" y="0"/>
                    <a:pt x="4393" y="0"/>
                  </a:cubicBezTo>
                  <a:cubicBezTo>
                    <a:pt x="6820" y="0"/>
                    <a:pt x="8787" y="1970"/>
                    <a:pt x="8787" y="4401"/>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2" name="Google Shape;2622;p6"/>
            <p:cNvSpPr/>
            <p:nvPr/>
          </p:nvSpPr>
          <p:spPr>
            <a:xfrm>
              <a:off x="2859763" y="1618437"/>
              <a:ext cx="8786" cy="8801"/>
            </a:xfrm>
            <a:custGeom>
              <a:avLst/>
              <a:gdLst/>
              <a:ahLst/>
              <a:cxnLst/>
              <a:rect l="l" t="t" r="r" b="b"/>
              <a:pathLst>
                <a:path w="8786" h="8801" extrusionOk="0">
                  <a:moveTo>
                    <a:pt x="8787" y="4401"/>
                  </a:moveTo>
                  <a:cubicBezTo>
                    <a:pt x="8787" y="6831"/>
                    <a:pt x="6820" y="8802"/>
                    <a:pt x="4393" y="8802"/>
                  </a:cubicBezTo>
                  <a:cubicBezTo>
                    <a:pt x="1967" y="8802"/>
                    <a:pt x="0" y="6831"/>
                    <a:pt x="0" y="4401"/>
                  </a:cubicBezTo>
                  <a:cubicBezTo>
                    <a:pt x="0" y="1970"/>
                    <a:pt x="1967" y="0"/>
                    <a:pt x="4393" y="0"/>
                  </a:cubicBezTo>
                  <a:cubicBezTo>
                    <a:pt x="6820" y="0"/>
                    <a:pt x="8787" y="1970"/>
                    <a:pt x="8787" y="4401"/>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3" name="Google Shape;2623;p6"/>
            <p:cNvSpPr/>
            <p:nvPr/>
          </p:nvSpPr>
          <p:spPr>
            <a:xfrm>
              <a:off x="3304076" y="1504084"/>
              <a:ext cx="8786" cy="8801"/>
            </a:xfrm>
            <a:custGeom>
              <a:avLst/>
              <a:gdLst/>
              <a:ahLst/>
              <a:cxnLst/>
              <a:rect l="l" t="t" r="r" b="b"/>
              <a:pathLst>
                <a:path w="8786" h="8801" extrusionOk="0">
                  <a:moveTo>
                    <a:pt x="8787" y="4401"/>
                  </a:moveTo>
                  <a:cubicBezTo>
                    <a:pt x="8787" y="6831"/>
                    <a:pt x="6820" y="8802"/>
                    <a:pt x="4393" y="8802"/>
                  </a:cubicBezTo>
                  <a:cubicBezTo>
                    <a:pt x="1967" y="8802"/>
                    <a:pt x="0" y="6831"/>
                    <a:pt x="0" y="4401"/>
                  </a:cubicBezTo>
                  <a:cubicBezTo>
                    <a:pt x="0" y="1970"/>
                    <a:pt x="1967" y="0"/>
                    <a:pt x="4393" y="0"/>
                  </a:cubicBezTo>
                  <a:cubicBezTo>
                    <a:pt x="6820" y="0"/>
                    <a:pt x="8787" y="1970"/>
                    <a:pt x="8787" y="4401"/>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4" name="Google Shape;2624;p6"/>
            <p:cNvSpPr/>
            <p:nvPr/>
          </p:nvSpPr>
          <p:spPr>
            <a:xfrm>
              <a:off x="3600862" y="1803726"/>
              <a:ext cx="8786" cy="8801"/>
            </a:xfrm>
            <a:custGeom>
              <a:avLst/>
              <a:gdLst/>
              <a:ahLst/>
              <a:cxnLst/>
              <a:rect l="l" t="t" r="r" b="b"/>
              <a:pathLst>
                <a:path w="8786" h="8801" extrusionOk="0">
                  <a:moveTo>
                    <a:pt x="8787" y="4401"/>
                  </a:moveTo>
                  <a:cubicBezTo>
                    <a:pt x="8787" y="6831"/>
                    <a:pt x="6820" y="8802"/>
                    <a:pt x="4393" y="8802"/>
                  </a:cubicBezTo>
                  <a:cubicBezTo>
                    <a:pt x="1967" y="8802"/>
                    <a:pt x="0" y="6831"/>
                    <a:pt x="0" y="4401"/>
                  </a:cubicBezTo>
                  <a:cubicBezTo>
                    <a:pt x="0" y="1970"/>
                    <a:pt x="1967" y="0"/>
                    <a:pt x="4393" y="0"/>
                  </a:cubicBezTo>
                  <a:cubicBezTo>
                    <a:pt x="6820" y="0"/>
                    <a:pt x="8787" y="1970"/>
                    <a:pt x="8787" y="4401"/>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5" name="Google Shape;2625;p6"/>
            <p:cNvSpPr/>
            <p:nvPr/>
          </p:nvSpPr>
          <p:spPr>
            <a:xfrm>
              <a:off x="3575754" y="1650246"/>
              <a:ext cx="8786" cy="8801"/>
            </a:xfrm>
            <a:custGeom>
              <a:avLst/>
              <a:gdLst/>
              <a:ahLst/>
              <a:cxnLst/>
              <a:rect l="l" t="t" r="r" b="b"/>
              <a:pathLst>
                <a:path w="8786" h="8801" extrusionOk="0">
                  <a:moveTo>
                    <a:pt x="8787" y="4401"/>
                  </a:moveTo>
                  <a:cubicBezTo>
                    <a:pt x="8787" y="6831"/>
                    <a:pt x="6820" y="8802"/>
                    <a:pt x="4393" y="8802"/>
                  </a:cubicBezTo>
                  <a:cubicBezTo>
                    <a:pt x="1967" y="8802"/>
                    <a:pt x="0" y="6831"/>
                    <a:pt x="0" y="4401"/>
                  </a:cubicBezTo>
                  <a:cubicBezTo>
                    <a:pt x="0" y="1970"/>
                    <a:pt x="1967" y="0"/>
                    <a:pt x="4393" y="0"/>
                  </a:cubicBezTo>
                  <a:cubicBezTo>
                    <a:pt x="6820" y="0"/>
                    <a:pt x="8787" y="1970"/>
                    <a:pt x="8787" y="4401"/>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6" name="Google Shape;2626;p6"/>
            <p:cNvSpPr/>
            <p:nvPr/>
          </p:nvSpPr>
          <p:spPr>
            <a:xfrm>
              <a:off x="3045647" y="1811730"/>
              <a:ext cx="8786" cy="8801"/>
            </a:xfrm>
            <a:custGeom>
              <a:avLst/>
              <a:gdLst/>
              <a:ahLst/>
              <a:cxnLst/>
              <a:rect l="l" t="t" r="r" b="b"/>
              <a:pathLst>
                <a:path w="8786" h="8801" extrusionOk="0">
                  <a:moveTo>
                    <a:pt x="8787" y="4401"/>
                  </a:moveTo>
                  <a:cubicBezTo>
                    <a:pt x="8787" y="6831"/>
                    <a:pt x="6820" y="8802"/>
                    <a:pt x="4393" y="8802"/>
                  </a:cubicBezTo>
                  <a:cubicBezTo>
                    <a:pt x="1967" y="8802"/>
                    <a:pt x="0" y="6831"/>
                    <a:pt x="0" y="4401"/>
                  </a:cubicBezTo>
                  <a:cubicBezTo>
                    <a:pt x="0" y="1970"/>
                    <a:pt x="1967" y="0"/>
                    <a:pt x="4393" y="0"/>
                  </a:cubicBezTo>
                  <a:cubicBezTo>
                    <a:pt x="6820" y="0"/>
                    <a:pt x="8787" y="1970"/>
                    <a:pt x="8787" y="4401"/>
                  </a:cubicBezTo>
                  <a:close/>
                </a:path>
              </a:pathLst>
            </a:custGeom>
            <a:noFill/>
            <a:ln w="9525" cap="flat" cmpd="sng">
              <a:solidFill>
                <a:schemeClr val="accent3"/>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627" name="Google Shape;2627;p6"/>
          <p:cNvSpPr txBox="1"/>
          <p:nvPr/>
        </p:nvSpPr>
        <p:spPr>
          <a:xfrm>
            <a:off x="927944" y="1613227"/>
            <a:ext cx="2100000" cy="4923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1" i="0" u="none" strike="noStrike" kern="0" cap="none" spc="0" normalizeH="0" baseline="0" noProof="0">
                <a:ln>
                  <a:noFill/>
                </a:ln>
                <a:solidFill>
                  <a:srgbClr val="005C8A"/>
                </a:solidFill>
                <a:effectLst/>
                <a:uLnTx/>
                <a:uFillTx/>
                <a:latin typeface="Arial"/>
                <a:ea typeface="Arial"/>
                <a:cs typeface="Arial"/>
                <a:sym typeface="Arial"/>
              </a:rPr>
              <a:t>Operate Thousands</a:t>
            </a:r>
            <a:br>
              <a:rPr kumimoji="0" lang="en-US" sz="1600" b="1" i="0" u="none" strike="noStrike" kern="0" cap="none" spc="0" normalizeH="0" baseline="0" noProof="0">
                <a:ln>
                  <a:noFill/>
                </a:ln>
                <a:solidFill>
                  <a:srgbClr val="005C8A"/>
                </a:solidFill>
                <a:effectLst/>
                <a:uLnTx/>
                <a:uFillTx/>
                <a:latin typeface="Arial"/>
                <a:ea typeface="Arial"/>
                <a:cs typeface="Arial"/>
                <a:sym typeface="Arial"/>
              </a:rPr>
            </a:br>
            <a:r>
              <a:rPr kumimoji="0" lang="en-US" sz="1600" b="1" i="0" u="none" strike="noStrike" kern="0" cap="none" spc="0" normalizeH="0" baseline="0" noProof="0">
                <a:ln>
                  <a:noFill/>
                </a:ln>
                <a:solidFill>
                  <a:srgbClr val="005C8A"/>
                </a:solidFill>
                <a:effectLst/>
                <a:uLnTx/>
                <a:uFillTx/>
                <a:latin typeface="Arial"/>
                <a:ea typeface="Arial"/>
                <a:cs typeface="Arial"/>
                <a:sym typeface="Arial"/>
              </a:rPr>
              <a:t>of Edge Sites as One </a:t>
            </a:r>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8" name="Google Shape;2628;p6"/>
          <p:cNvSpPr/>
          <p:nvPr/>
        </p:nvSpPr>
        <p:spPr>
          <a:xfrm rot="10800000">
            <a:off x="4411826" y="1194827"/>
            <a:ext cx="3526092" cy="1273161"/>
          </a:xfrm>
          <a:prstGeom prst="roundRect">
            <a:avLst>
              <a:gd name="adj" fmla="val 3599"/>
            </a:avLst>
          </a:prstGeom>
          <a:gradFill>
            <a:gsLst>
              <a:gs pos="0">
                <a:srgbClr val="61A60E">
                  <a:alpha val="0"/>
                </a:srgbClr>
              </a:gs>
              <a:gs pos="99000">
                <a:srgbClr val="61A60E">
                  <a:alpha val="23137"/>
                </a:srgbClr>
              </a:gs>
              <a:gs pos="100000">
                <a:srgbClr val="61A60E">
                  <a:alpha val="23137"/>
                </a:srgbClr>
              </a:gs>
            </a:gsLst>
            <a:lin ang="16200000" scaled="0"/>
          </a:gra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29" name="Google Shape;2629;p6"/>
          <p:cNvSpPr txBox="1"/>
          <p:nvPr/>
        </p:nvSpPr>
        <p:spPr>
          <a:xfrm>
            <a:off x="4754685" y="1613227"/>
            <a:ext cx="1880400" cy="4923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1" i="0" u="none" strike="noStrike" kern="0" cap="none" spc="0" normalizeH="0" baseline="0" noProof="0" dirty="0">
                <a:ln>
                  <a:noFill/>
                </a:ln>
                <a:solidFill>
                  <a:srgbClr val="61A60E"/>
                </a:solidFill>
                <a:effectLst/>
                <a:uLnTx/>
                <a:uFillTx/>
                <a:latin typeface="Arial"/>
                <a:ea typeface="Arial"/>
                <a:cs typeface="Arial"/>
                <a:sym typeface="Arial"/>
              </a:rPr>
              <a:t>AI-Ready and </a:t>
            </a:r>
            <a:br>
              <a:rPr kumimoji="0" lang="en-US" sz="1600" b="1" i="0" u="none" strike="noStrike" kern="0" cap="none" spc="0" normalizeH="0" baseline="0" noProof="0" dirty="0">
                <a:ln>
                  <a:noFill/>
                </a:ln>
                <a:solidFill>
                  <a:srgbClr val="61A60E"/>
                </a:solidFill>
                <a:effectLst/>
                <a:uLnTx/>
                <a:uFillTx/>
                <a:latin typeface="Arial"/>
                <a:ea typeface="Arial"/>
                <a:cs typeface="Arial"/>
                <a:sym typeface="Arial"/>
              </a:rPr>
            </a:br>
            <a:r>
              <a:rPr kumimoji="0" lang="en-US" sz="1600" b="1" i="0" u="none" strike="noStrike" kern="0" cap="none" spc="0" normalizeH="0" baseline="0" noProof="0" dirty="0">
                <a:ln>
                  <a:noFill/>
                </a:ln>
                <a:solidFill>
                  <a:srgbClr val="61A60E"/>
                </a:solidFill>
                <a:effectLst/>
                <a:uLnTx/>
                <a:uFillTx/>
                <a:latin typeface="Arial"/>
                <a:ea typeface="Arial"/>
                <a:cs typeface="Arial"/>
                <a:sym typeface="Arial"/>
              </a:rPr>
              <a:t>Cloud-Native Edge </a:t>
            </a:r>
            <a:endParaRPr kumimoji="0" sz="14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630" name="Google Shape;2630;p6"/>
          <p:cNvSpPr/>
          <p:nvPr/>
        </p:nvSpPr>
        <p:spPr>
          <a:xfrm rot="10800000">
            <a:off x="8221826" y="1194827"/>
            <a:ext cx="3526092" cy="1273161"/>
          </a:xfrm>
          <a:prstGeom prst="roundRect">
            <a:avLst>
              <a:gd name="adj" fmla="val 3599"/>
            </a:avLst>
          </a:prstGeom>
          <a:gradFill>
            <a:gsLst>
              <a:gs pos="0">
                <a:srgbClr val="6C4B94">
                  <a:alpha val="0"/>
                </a:srgbClr>
              </a:gs>
              <a:gs pos="98000">
                <a:srgbClr val="6C4B94">
                  <a:alpha val="18823"/>
                </a:srgbClr>
              </a:gs>
              <a:gs pos="100000">
                <a:srgbClr val="6C4B94">
                  <a:alpha val="18823"/>
                </a:srgbClr>
              </a:gs>
            </a:gsLst>
            <a:lin ang="16200000" scaled="0"/>
          </a:gra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31" name="Google Shape;2631;p6"/>
          <p:cNvSpPr txBox="1"/>
          <p:nvPr/>
        </p:nvSpPr>
        <p:spPr>
          <a:xfrm>
            <a:off x="8572256" y="1613227"/>
            <a:ext cx="1471500" cy="4926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1" i="0" u="none" strike="noStrike" kern="0" cap="none" spc="0" normalizeH="0" baseline="0" noProof="0">
                <a:ln>
                  <a:noFill/>
                </a:ln>
                <a:solidFill>
                  <a:srgbClr val="6C4B94"/>
                </a:solidFill>
                <a:effectLst/>
                <a:uLnTx/>
                <a:uFillTx/>
                <a:latin typeface="Arial"/>
                <a:ea typeface="Arial"/>
                <a:cs typeface="Arial"/>
                <a:sym typeface="Arial"/>
              </a:rPr>
              <a:t>Secur</a:t>
            </a:r>
            <a:r>
              <a:rPr kumimoji="0" lang="en-US" sz="1600" b="1" i="0" u="none" strike="noStrike" kern="0" cap="none" spc="0" normalizeH="0" baseline="0" noProof="0">
                <a:ln>
                  <a:noFill/>
                </a:ln>
                <a:solidFill>
                  <a:srgbClr val="6C4B94"/>
                </a:solidFill>
                <a:effectLst/>
                <a:uLnTx/>
                <a:uFillTx/>
                <a:latin typeface="Arial"/>
                <a:ea typeface="+mn-ea"/>
                <a:cs typeface="Arial"/>
                <a:sym typeface="Arial"/>
              </a:rPr>
              <a:t>e</a:t>
            </a:r>
            <a:r>
              <a:rPr kumimoji="0" lang="en-US" sz="1600" b="1" i="0" u="none" strike="noStrike" kern="0" cap="none" spc="0" normalizeH="0" baseline="0" noProof="0">
                <a:ln>
                  <a:noFill/>
                </a:ln>
                <a:solidFill>
                  <a:srgbClr val="6C4B94"/>
                </a:solidFill>
                <a:effectLst/>
                <a:uLnTx/>
                <a:uFillTx/>
                <a:latin typeface="Arial"/>
                <a:ea typeface="Arial"/>
                <a:cs typeface="Arial"/>
                <a:sym typeface="Arial"/>
              </a:rPr>
              <a:t> and </a:t>
            </a:r>
            <a:br>
              <a:rPr kumimoji="0" lang="en-US" sz="1600" b="1" i="0" u="none" strike="noStrike" kern="0" cap="none" spc="0" normalizeH="0" baseline="0" noProof="0">
                <a:ln>
                  <a:noFill/>
                </a:ln>
                <a:solidFill>
                  <a:srgbClr val="6C4B94"/>
                </a:solidFill>
                <a:effectLst/>
                <a:uLnTx/>
                <a:uFillTx/>
                <a:latin typeface="Arial"/>
                <a:ea typeface="Arial"/>
                <a:cs typeface="Arial"/>
                <a:sym typeface="Arial"/>
              </a:rPr>
            </a:br>
            <a:r>
              <a:rPr kumimoji="0" lang="en-US" sz="1600" b="1" i="0" u="none" strike="noStrike" kern="0" cap="none" spc="0" normalizeH="0" baseline="0" noProof="0">
                <a:ln>
                  <a:noFill/>
                </a:ln>
                <a:solidFill>
                  <a:srgbClr val="6C4B94"/>
                </a:solidFill>
                <a:effectLst/>
                <a:uLnTx/>
                <a:uFillTx/>
                <a:latin typeface="Arial"/>
                <a:ea typeface="Arial"/>
                <a:cs typeface="Arial"/>
                <a:sym typeface="Arial"/>
              </a:rPr>
              <a:t>Resilient Edge </a:t>
            </a:r>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32" name="Google Shape;2632;p6"/>
          <p:cNvGrpSpPr/>
          <p:nvPr/>
        </p:nvGrpSpPr>
        <p:grpSpPr>
          <a:xfrm>
            <a:off x="10526357" y="1586824"/>
            <a:ext cx="1114333" cy="874401"/>
            <a:chOff x="10526357" y="1586824"/>
            <a:chExt cx="1114333" cy="874401"/>
          </a:xfrm>
        </p:grpSpPr>
        <p:sp>
          <p:nvSpPr>
            <p:cNvPr id="2633" name="Google Shape;2633;p6"/>
            <p:cNvSpPr/>
            <p:nvPr/>
          </p:nvSpPr>
          <p:spPr>
            <a:xfrm>
              <a:off x="10542060" y="1627101"/>
              <a:ext cx="1034346" cy="566617"/>
            </a:xfrm>
            <a:custGeom>
              <a:avLst/>
              <a:gdLst/>
              <a:ahLst/>
              <a:cxnLst/>
              <a:rect l="l" t="t" r="r" b="b"/>
              <a:pathLst>
                <a:path w="2682827" h="1469656" extrusionOk="0">
                  <a:moveTo>
                    <a:pt x="1105514" y="1469657"/>
                  </a:moveTo>
                  <a:lnTo>
                    <a:pt x="39752" y="1469657"/>
                  </a:lnTo>
                  <a:cubicBezTo>
                    <a:pt x="4372" y="1469657"/>
                    <a:pt x="-13292" y="1426849"/>
                    <a:pt x="11722" y="1401879"/>
                  </a:cubicBezTo>
                  <a:lnTo>
                    <a:pt x="1296626" y="116293"/>
                  </a:lnTo>
                  <a:cubicBezTo>
                    <a:pt x="1371063" y="41819"/>
                    <a:pt x="1472049" y="0"/>
                    <a:pt x="1577314" y="0"/>
                  </a:cubicBezTo>
                  <a:lnTo>
                    <a:pt x="2643075" y="0"/>
                  </a:lnTo>
                  <a:cubicBezTo>
                    <a:pt x="2678456" y="0"/>
                    <a:pt x="2696119" y="42807"/>
                    <a:pt x="2671106" y="67778"/>
                  </a:cubicBezTo>
                  <a:lnTo>
                    <a:pt x="1386147" y="1353364"/>
                  </a:lnTo>
                  <a:cubicBezTo>
                    <a:pt x="1311710" y="1427837"/>
                    <a:pt x="1210724" y="1469657"/>
                    <a:pt x="1105459" y="1469657"/>
                  </a:cubicBezTo>
                  <a:lnTo>
                    <a:pt x="1105459" y="1469657"/>
                  </a:lnTo>
                  <a:close/>
                </a:path>
              </a:pathLst>
            </a:custGeom>
            <a:solidFill>
              <a:schemeClr val="accent5">
                <a:alpha val="21176"/>
              </a:schemeClr>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34" name="Google Shape;2634;p6"/>
            <p:cNvGrpSpPr/>
            <p:nvPr/>
          </p:nvGrpSpPr>
          <p:grpSpPr>
            <a:xfrm>
              <a:off x="10526357" y="1900092"/>
              <a:ext cx="399381" cy="214397"/>
              <a:chOff x="1114426" y="4663794"/>
              <a:chExt cx="1035891" cy="556090"/>
            </a:xfrm>
          </p:grpSpPr>
          <p:sp>
            <p:nvSpPr>
              <p:cNvPr id="2635" name="Google Shape;2635;p6"/>
              <p:cNvSpPr/>
              <p:nvPr/>
            </p:nvSpPr>
            <p:spPr>
              <a:xfrm>
                <a:off x="1652593" y="4981363"/>
                <a:ext cx="191184" cy="4595"/>
              </a:xfrm>
              <a:custGeom>
                <a:avLst/>
                <a:gdLst/>
                <a:ahLst/>
                <a:cxnLst/>
                <a:rect l="l" t="t" r="r" b="b"/>
                <a:pathLst>
                  <a:path w="191184" h="4595" extrusionOk="0">
                    <a:moveTo>
                      <a:pt x="0" y="0"/>
                    </a:moveTo>
                    <a:lnTo>
                      <a:pt x="191185"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36" name="Google Shape;2636;p6"/>
              <p:cNvSpPr/>
              <p:nvPr/>
            </p:nvSpPr>
            <p:spPr>
              <a:xfrm>
                <a:off x="1652593" y="4793395"/>
                <a:ext cx="191184" cy="4595"/>
              </a:xfrm>
              <a:custGeom>
                <a:avLst/>
                <a:gdLst/>
                <a:ahLst/>
                <a:cxnLst/>
                <a:rect l="l" t="t" r="r" b="b"/>
                <a:pathLst>
                  <a:path w="191184" h="4595" extrusionOk="0">
                    <a:moveTo>
                      <a:pt x="0" y="0"/>
                    </a:moveTo>
                    <a:lnTo>
                      <a:pt x="191185"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37" name="Google Shape;2637;p6"/>
              <p:cNvSpPr/>
              <p:nvPr/>
            </p:nvSpPr>
            <p:spPr>
              <a:xfrm>
                <a:off x="1652593" y="4856357"/>
                <a:ext cx="101107" cy="4595"/>
              </a:xfrm>
              <a:custGeom>
                <a:avLst/>
                <a:gdLst/>
                <a:ahLst/>
                <a:cxnLst/>
                <a:rect l="l" t="t" r="r" b="b"/>
                <a:pathLst>
                  <a:path w="101107" h="4595" extrusionOk="0">
                    <a:moveTo>
                      <a:pt x="0" y="0"/>
                    </a:moveTo>
                    <a:lnTo>
                      <a:pt x="101107"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38" name="Google Shape;2638;p6"/>
              <p:cNvSpPr/>
              <p:nvPr/>
            </p:nvSpPr>
            <p:spPr>
              <a:xfrm>
                <a:off x="1652593" y="4919320"/>
                <a:ext cx="253687" cy="4595"/>
              </a:xfrm>
              <a:custGeom>
                <a:avLst/>
                <a:gdLst/>
                <a:ahLst/>
                <a:cxnLst/>
                <a:rect l="l" t="t" r="r" b="b"/>
                <a:pathLst>
                  <a:path w="253687" h="4595" extrusionOk="0">
                    <a:moveTo>
                      <a:pt x="0" y="0"/>
                    </a:moveTo>
                    <a:lnTo>
                      <a:pt x="253688"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39" name="Google Shape;2639;p6"/>
              <p:cNvGrpSpPr/>
              <p:nvPr/>
            </p:nvGrpSpPr>
            <p:grpSpPr>
              <a:xfrm>
                <a:off x="1189337" y="4764441"/>
                <a:ext cx="375476" cy="380531"/>
                <a:chOff x="1189337" y="4764441"/>
                <a:chExt cx="375476" cy="380531"/>
              </a:xfrm>
            </p:grpSpPr>
            <p:sp>
              <p:nvSpPr>
                <p:cNvPr id="2640" name="Google Shape;2640;p6"/>
                <p:cNvSpPr/>
                <p:nvPr/>
              </p:nvSpPr>
              <p:spPr>
                <a:xfrm>
                  <a:off x="1300096" y="4764441"/>
                  <a:ext cx="264717" cy="264717"/>
                </a:xfrm>
                <a:custGeom>
                  <a:avLst/>
                  <a:gdLst/>
                  <a:ahLst/>
                  <a:cxnLst/>
                  <a:rect l="l" t="t" r="r" b="b"/>
                  <a:pathLst>
                    <a:path w="264717" h="264717" extrusionOk="0">
                      <a:moveTo>
                        <a:pt x="264718" y="132359"/>
                      </a:moveTo>
                      <a:cubicBezTo>
                        <a:pt x="264718" y="205459"/>
                        <a:pt x="205459" y="264718"/>
                        <a:pt x="132359" y="264718"/>
                      </a:cubicBezTo>
                      <a:cubicBezTo>
                        <a:pt x="59259" y="264718"/>
                        <a:pt x="0" y="205458"/>
                        <a:pt x="0" y="132359"/>
                      </a:cubicBezTo>
                      <a:cubicBezTo>
                        <a:pt x="0" y="59259"/>
                        <a:pt x="59259" y="0"/>
                        <a:pt x="132359" y="0"/>
                      </a:cubicBezTo>
                      <a:cubicBezTo>
                        <a:pt x="205459" y="0"/>
                        <a:pt x="264718" y="59259"/>
                        <a:pt x="264718" y="132359"/>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41" name="Google Shape;2641;p6"/>
                <p:cNvSpPr/>
                <p:nvPr/>
              </p:nvSpPr>
              <p:spPr>
                <a:xfrm>
                  <a:off x="1189337" y="4993771"/>
                  <a:ext cx="150741" cy="151201"/>
                </a:xfrm>
                <a:custGeom>
                  <a:avLst/>
                  <a:gdLst/>
                  <a:ahLst/>
                  <a:cxnLst/>
                  <a:rect l="l" t="t" r="r" b="b"/>
                  <a:pathLst>
                    <a:path w="150741" h="151201" extrusionOk="0">
                      <a:moveTo>
                        <a:pt x="0" y="151202"/>
                      </a:moveTo>
                      <a:lnTo>
                        <a:pt x="150742"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642" name="Google Shape;2642;p6"/>
              <p:cNvSpPr/>
              <p:nvPr/>
            </p:nvSpPr>
            <p:spPr>
              <a:xfrm>
                <a:off x="1114426" y="4663794"/>
                <a:ext cx="1035891" cy="556090"/>
              </a:xfrm>
              <a:custGeom>
                <a:avLst/>
                <a:gdLst/>
                <a:ahLst/>
                <a:cxnLst/>
                <a:rect l="l" t="t" r="r" b="b"/>
                <a:pathLst>
                  <a:path w="1035891" h="556090" extrusionOk="0">
                    <a:moveTo>
                      <a:pt x="0" y="0"/>
                    </a:moveTo>
                    <a:lnTo>
                      <a:pt x="1035891" y="0"/>
                    </a:lnTo>
                    <a:lnTo>
                      <a:pt x="1035891" y="556091"/>
                    </a:lnTo>
                    <a:lnTo>
                      <a:pt x="0" y="556091"/>
                    </a:ln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43" name="Google Shape;2643;p6"/>
            <p:cNvGrpSpPr/>
            <p:nvPr/>
          </p:nvGrpSpPr>
          <p:grpSpPr>
            <a:xfrm>
              <a:off x="10803301" y="1599582"/>
              <a:ext cx="203589" cy="222371"/>
              <a:chOff x="1832748" y="3884348"/>
              <a:chExt cx="528056" cy="576771"/>
            </a:xfrm>
          </p:grpSpPr>
          <p:sp>
            <p:nvSpPr>
              <p:cNvPr id="2644" name="Google Shape;2644;p6"/>
              <p:cNvSpPr/>
              <p:nvPr/>
            </p:nvSpPr>
            <p:spPr>
              <a:xfrm>
                <a:off x="1832748" y="3884348"/>
                <a:ext cx="528056" cy="576771"/>
              </a:xfrm>
              <a:custGeom>
                <a:avLst/>
                <a:gdLst/>
                <a:ahLst/>
                <a:cxnLst/>
                <a:rect l="l" t="t" r="r" b="b"/>
                <a:pathLst>
                  <a:path w="528056" h="576771" extrusionOk="0">
                    <a:moveTo>
                      <a:pt x="460" y="0"/>
                    </a:moveTo>
                    <a:lnTo>
                      <a:pt x="460" y="215543"/>
                    </a:lnTo>
                    <a:cubicBezTo>
                      <a:pt x="460" y="384668"/>
                      <a:pt x="111218" y="528056"/>
                      <a:pt x="264258" y="576772"/>
                    </a:cubicBezTo>
                    <a:cubicBezTo>
                      <a:pt x="417298" y="528056"/>
                      <a:pt x="528056" y="384668"/>
                      <a:pt x="528056" y="215543"/>
                    </a:cubicBezTo>
                    <a:lnTo>
                      <a:pt x="528056" y="0"/>
                    </a:lnTo>
                    <a:lnTo>
                      <a:pt x="0" y="0"/>
                    </a:lnTo>
                    <a:lnTo>
                      <a:pt x="460" y="0"/>
                    </a:ln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45" name="Google Shape;2645;p6"/>
              <p:cNvSpPr/>
              <p:nvPr/>
            </p:nvSpPr>
            <p:spPr>
              <a:xfrm>
                <a:off x="2097006" y="3884348"/>
                <a:ext cx="4595" cy="576771"/>
              </a:xfrm>
              <a:custGeom>
                <a:avLst/>
                <a:gdLst/>
                <a:ahLst/>
                <a:cxnLst/>
                <a:rect l="l" t="t" r="r" b="b"/>
                <a:pathLst>
                  <a:path w="4595" h="576771" extrusionOk="0">
                    <a:moveTo>
                      <a:pt x="0" y="576772"/>
                    </a:moveTo>
                    <a:lnTo>
                      <a:pt x="0"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46" name="Google Shape;2646;p6"/>
            <p:cNvGrpSpPr/>
            <p:nvPr/>
          </p:nvGrpSpPr>
          <p:grpSpPr>
            <a:xfrm>
              <a:off x="11385008" y="1778010"/>
              <a:ext cx="255682" cy="298739"/>
              <a:chOff x="3341546" y="4347144"/>
              <a:chExt cx="663172" cy="774850"/>
            </a:xfrm>
          </p:grpSpPr>
          <p:sp>
            <p:nvSpPr>
              <p:cNvPr id="2647" name="Google Shape;2647;p6"/>
              <p:cNvSpPr/>
              <p:nvPr/>
            </p:nvSpPr>
            <p:spPr>
              <a:xfrm>
                <a:off x="3774929" y="4347144"/>
                <a:ext cx="229789" cy="229789"/>
              </a:xfrm>
              <a:custGeom>
                <a:avLst/>
                <a:gdLst/>
                <a:ahLst/>
                <a:cxnLst/>
                <a:rect l="l" t="t" r="r" b="b"/>
                <a:pathLst>
                  <a:path w="229789" h="229789" extrusionOk="0">
                    <a:moveTo>
                      <a:pt x="229790" y="114895"/>
                    </a:moveTo>
                    <a:cubicBezTo>
                      <a:pt x="229790" y="178349"/>
                      <a:pt x="178350" y="229789"/>
                      <a:pt x="114895" y="229789"/>
                    </a:cubicBezTo>
                    <a:cubicBezTo>
                      <a:pt x="51440" y="229789"/>
                      <a:pt x="0" y="178349"/>
                      <a:pt x="0" y="114895"/>
                    </a:cubicBezTo>
                    <a:cubicBezTo>
                      <a:pt x="0" y="51440"/>
                      <a:pt x="51440" y="0"/>
                      <a:pt x="114895" y="0"/>
                    </a:cubicBezTo>
                    <a:cubicBezTo>
                      <a:pt x="178350" y="0"/>
                      <a:pt x="229790" y="51440"/>
                      <a:pt x="229790" y="11489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48" name="Google Shape;2648;p6"/>
              <p:cNvSpPr/>
              <p:nvPr/>
            </p:nvSpPr>
            <p:spPr>
              <a:xfrm>
                <a:off x="3472986" y="4463417"/>
                <a:ext cx="349739" cy="4595"/>
              </a:xfrm>
              <a:custGeom>
                <a:avLst/>
                <a:gdLst/>
                <a:ahLst/>
                <a:cxnLst/>
                <a:rect l="l" t="t" r="r" b="b"/>
                <a:pathLst>
                  <a:path w="349739" h="4595" extrusionOk="0">
                    <a:moveTo>
                      <a:pt x="0" y="0"/>
                    </a:moveTo>
                    <a:lnTo>
                      <a:pt x="349740"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49" name="Google Shape;2649;p6"/>
              <p:cNvSpPr/>
              <p:nvPr/>
            </p:nvSpPr>
            <p:spPr>
              <a:xfrm>
                <a:off x="3824104" y="4397697"/>
                <a:ext cx="131439" cy="131439"/>
              </a:xfrm>
              <a:custGeom>
                <a:avLst/>
                <a:gdLst/>
                <a:ahLst/>
                <a:cxnLst/>
                <a:rect l="l" t="t" r="r" b="b"/>
                <a:pathLst>
                  <a:path w="131439" h="131439" extrusionOk="0">
                    <a:moveTo>
                      <a:pt x="131440" y="65720"/>
                    </a:moveTo>
                    <a:cubicBezTo>
                      <a:pt x="131440" y="102016"/>
                      <a:pt x="102016" y="131440"/>
                      <a:pt x="65720" y="131440"/>
                    </a:cubicBezTo>
                    <a:cubicBezTo>
                      <a:pt x="29424" y="131440"/>
                      <a:pt x="0" y="102016"/>
                      <a:pt x="0" y="65720"/>
                    </a:cubicBezTo>
                    <a:cubicBezTo>
                      <a:pt x="0" y="29424"/>
                      <a:pt x="29424" y="0"/>
                      <a:pt x="65720" y="0"/>
                    </a:cubicBezTo>
                    <a:cubicBezTo>
                      <a:pt x="102016" y="0"/>
                      <a:pt x="131440" y="29424"/>
                      <a:pt x="131440" y="65720"/>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0" name="Google Shape;2650;p6"/>
              <p:cNvSpPr/>
              <p:nvPr/>
            </p:nvSpPr>
            <p:spPr>
              <a:xfrm>
                <a:off x="3341546" y="4397697"/>
                <a:ext cx="131439" cy="131439"/>
              </a:xfrm>
              <a:custGeom>
                <a:avLst/>
                <a:gdLst/>
                <a:ahLst/>
                <a:cxnLst/>
                <a:rect l="l" t="t" r="r" b="b"/>
                <a:pathLst>
                  <a:path w="131439" h="131439" extrusionOk="0">
                    <a:moveTo>
                      <a:pt x="131440" y="65720"/>
                    </a:moveTo>
                    <a:cubicBezTo>
                      <a:pt x="131440" y="102016"/>
                      <a:pt x="102016" y="131440"/>
                      <a:pt x="65720" y="131440"/>
                    </a:cubicBezTo>
                    <a:cubicBezTo>
                      <a:pt x="29424" y="131440"/>
                      <a:pt x="0" y="102016"/>
                      <a:pt x="0" y="65720"/>
                    </a:cubicBezTo>
                    <a:cubicBezTo>
                      <a:pt x="0" y="29424"/>
                      <a:pt x="29424" y="0"/>
                      <a:pt x="65720" y="0"/>
                    </a:cubicBezTo>
                    <a:cubicBezTo>
                      <a:pt x="102016" y="0"/>
                      <a:pt x="131440" y="29424"/>
                      <a:pt x="131440" y="65720"/>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1" name="Google Shape;2651;p6"/>
              <p:cNvSpPr/>
              <p:nvPr/>
            </p:nvSpPr>
            <p:spPr>
              <a:xfrm>
                <a:off x="3816751" y="4975848"/>
                <a:ext cx="146146" cy="146146"/>
              </a:xfrm>
              <a:custGeom>
                <a:avLst/>
                <a:gdLst/>
                <a:ahLst/>
                <a:cxnLst/>
                <a:rect l="l" t="t" r="r" b="b"/>
                <a:pathLst>
                  <a:path w="146146" h="146146" extrusionOk="0">
                    <a:moveTo>
                      <a:pt x="146146" y="73073"/>
                    </a:moveTo>
                    <a:cubicBezTo>
                      <a:pt x="146146" y="113430"/>
                      <a:pt x="113430" y="146146"/>
                      <a:pt x="73073" y="146146"/>
                    </a:cubicBezTo>
                    <a:cubicBezTo>
                      <a:pt x="32716" y="146146"/>
                      <a:pt x="0" y="113430"/>
                      <a:pt x="0" y="73073"/>
                    </a:cubicBezTo>
                    <a:cubicBezTo>
                      <a:pt x="0" y="32716"/>
                      <a:pt x="32716" y="0"/>
                      <a:pt x="73073" y="0"/>
                    </a:cubicBezTo>
                    <a:cubicBezTo>
                      <a:pt x="113430" y="0"/>
                      <a:pt x="146146" y="32716"/>
                      <a:pt x="146146" y="73073"/>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2" name="Google Shape;2652;p6"/>
              <p:cNvSpPr/>
              <p:nvPr/>
            </p:nvSpPr>
            <p:spPr>
              <a:xfrm>
                <a:off x="3889824" y="4577393"/>
                <a:ext cx="4595" cy="392480"/>
              </a:xfrm>
              <a:custGeom>
                <a:avLst/>
                <a:gdLst/>
                <a:ahLst/>
                <a:cxnLst/>
                <a:rect l="l" t="t" r="r" b="b"/>
                <a:pathLst>
                  <a:path w="4595" h="392480" extrusionOk="0">
                    <a:moveTo>
                      <a:pt x="0" y="0"/>
                    </a:moveTo>
                    <a:lnTo>
                      <a:pt x="0" y="39248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653" name="Google Shape;2653;p6"/>
            <p:cNvSpPr/>
            <p:nvPr/>
          </p:nvSpPr>
          <p:spPr>
            <a:xfrm>
              <a:off x="11345141" y="1698098"/>
              <a:ext cx="12757" cy="12757"/>
            </a:xfrm>
            <a:custGeom>
              <a:avLst/>
              <a:gdLst/>
              <a:ahLst/>
              <a:cxnLst/>
              <a:rect l="l" t="t" r="r" b="b"/>
              <a:pathLst>
                <a:path w="33089" h="33089" extrusionOk="0">
                  <a:moveTo>
                    <a:pt x="33090" y="16545"/>
                  </a:moveTo>
                  <a:cubicBezTo>
                    <a:pt x="33090" y="25682"/>
                    <a:pt x="25682" y="33090"/>
                    <a:pt x="16545" y="33090"/>
                  </a:cubicBezTo>
                  <a:cubicBezTo>
                    <a:pt x="7407" y="33090"/>
                    <a:pt x="0" y="25682"/>
                    <a:pt x="0" y="16545"/>
                  </a:cubicBezTo>
                  <a:cubicBezTo>
                    <a:pt x="0" y="7407"/>
                    <a:pt x="7407" y="0"/>
                    <a:pt x="16545" y="0"/>
                  </a:cubicBezTo>
                  <a:cubicBezTo>
                    <a:pt x="25682" y="0"/>
                    <a:pt x="33090" y="7407"/>
                    <a:pt x="33090" y="1654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4" name="Google Shape;2654;p6"/>
            <p:cNvSpPr/>
            <p:nvPr/>
          </p:nvSpPr>
          <p:spPr>
            <a:xfrm>
              <a:off x="11204986" y="1689061"/>
              <a:ext cx="12757" cy="12757"/>
            </a:xfrm>
            <a:custGeom>
              <a:avLst/>
              <a:gdLst/>
              <a:ahLst/>
              <a:cxnLst/>
              <a:rect l="l" t="t" r="r" b="b"/>
              <a:pathLst>
                <a:path w="33089" h="33089" extrusionOk="0">
                  <a:moveTo>
                    <a:pt x="33090" y="16545"/>
                  </a:moveTo>
                  <a:cubicBezTo>
                    <a:pt x="33090" y="25682"/>
                    <a:pt x="25682" y="33090"/>
                    <a:pt x="16545" y="33090"/>
                  </a:cubicBezTo>
                  <a:cubicBezTo>
                    <a:pt x="7408" y="33090"/>
                    <a:pt x="0" y="25682"/>
                    <a:pt x="0" y="16545"/>
                  </a:cubicBezTo>
                  <a:cubicBezTo>
                    <a:pt x="0" y="7407"/>
                    <a:pt x="7408" y="0"/>
                    <a:pt x="16545" y="0"/>
                  </a:cubicBezTo>
                  <a:cubicBezTo>
                    <a:pt x="25682" y="0"/>
                    <a:pt x="33090" y="7407"/>
                    <a:pt x="33090" y="1654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5" name="Google Shape;2655;p6"/>
            <p:cNvSpPr/>
            <p:nvPr/>
          </p:nvSpPr>
          <p:spPr>
            <a:xfrm>
              <a:off x="11308463" y="1586824"/>
              <a:ext cx="12757" cy="12757"/>
            </a:xfrm>
            <a:custGeom>
              <a:avLst/>
              <a:gdLst/>
              <a:ahLst/>
              <a:cxnLst/>
              <a:rect l="l" t="t" r="r" b="b"/>
              <a:pathLst>
                <a:path w="33089" h="33089" extrusionOk="0">
                  <a:moveTo>
                    <a:pt x="33090" y="16545"/>
                  </a:moveTo>
                  <a:cubicBezTo>
                    <a:pt x="33090" y="25682"/>
                    <a:pt x="25682" y="33090"/>
                    <a:pt x="16545" y="33090"/>
                  </a:cubicBezTo>
                  <a:cubicBezTo>
                    <a:pt x="7407" y="33090"/>
                    <a:pt x="0" y="25682"/>
                    <a:pt x="0" y="16545"/>
                  </a:cubicBezTo>
                  <a:cubicBezTo>
                    <a:pt x="0" y="7407"/>
                    <a:pt x="7407" y="0"/>
                    <a:pt x="16545" y="0"/>
                  </a:cubicBezTo>
                  <a:cubicBezTo>
                    <a:pt x="25682" y="0"/>
                    <a:pt x="33090" y="7407"/>
                    <a:pt x="33090" y="1654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6" name="Google Shape;2656;p6"/>
            <p:cNvSpPr/>
            <p:nvPr/>
          </p:nvSpPr>
          <p:spPr>
            <a:xfrm>
              <a:off x="11512761" y="2123172"/>
              <a:ext cx="12757" cy="12757"/>
            </a:xfrm>
            <a:custGeom>
              <a:avLst/>
              <a:gdLst/>
              <a:ahLst/>
              <a:cxnLst/>
              <a:rect l="l" t="t" r="r" b="b"/>
              <a:pathLst>
                <a:path w="33089" h="33089" extrusionOk="0">
                  <a:moveTo>
                    <a:pt x="33090" y="16545"/>
                  </a:moveTo>
                  <a:cubicBezTo>
                    <a:pt x="33090" y="25682"/>
                    <a:pt x="25683" y="33090"/>
                    <a:pt x="16545" y="33090"/>
                  </a:cubicBezTo>
                  <a:cubicBezTo>
                    <a:pt x="7408" y="33090"/>
                    <a:pt x="0" y="25682"/>
                    <a:pt x="0" y="16545"/>
                  </a:cubicBezTo>
                  <a:cubicBezTo>
                    <a:pt x="0" y="7407"/>
                    <a:pt x="7408" y="0"/>
                    <a:pt x="16545" y="0"/>
                  </a:cubicBezTo>
                  <a:cubicBezTo>
                    <a:pt x="25683" y="0"/>
                    <a:pt x="33090" y="7407"/>
                    <a:pt x="33090" y="1654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7" name="Google Shape;2657;p6"/>
            <p:cNvSpPr/>
            <p:nvPr/>
          </p:nvSpPr>
          <p:spPr>
            <a:xfrm>
              <a:off x="10978540" y="1827779"/>
              <a:ext cx="353312" cy="309901"/>
            </a:xfrm>
            <a:custGeom>
              <a:avLst/>
              <a:gdLst/>
              <a:ahLst/>
              <a:cxnLst/>
              <a:rect l="l" t="t" r="r" b="b"/>
              <a:pathLst>
                <a:path w="916400" h="803803" extrusionOk="0">
                  <a:moveTo>
                    <a:pt x="916401" y="803804"/>
                  </a:moveTo>
                  <a:lnTo>
                    <a:pt x="786340" y="803804"/>
                  </a:lnTo>
                  <a:lnTo>
                    <a:pt x="786340" y="458200"/>
                  </a:lnTo>
                  <a:cubicBezTo>
                    <a:pt x="786340" y="277126"/>
                    <a:pt x="639274" y="130061"/>
                    <a:pt x="458200" y="130061"/>
                  </a:cubicBezTo>
                  <a:cubicBezTo>
                    <a:pt x="277126" y="130061"/>
                    <a:pt x="130061" y="277126"/>
                    <a:pt x="130061" y="458200"/>
                  </a:cubicBezTo>
                  <a:lnTo>
                    <a:pt x="130061" y="803804"/>
                  </a:lnTo>
                  <a:lnTo>
                    <a:pt x="0" y="803804"/>
                  </a:lnTo>
                  <a:lnTo>
                    <a:pt x="0" y="458200"/>
                  </a:lnTo>
                  <a:cubicBezTo>
                    <a:pt x="0" y="205432"/>
                    <a:pt x="205432" y="0"/>
                    <a:pt x="458200" y="0"/>
                  </a:cubicBezTo>
                  <a:cubicBezTo>
                    <a:pt x="710969" y="0"/>
                    <a:pt x="916401" y="205432"/>
                    <a:pt x="916401" y="458200"/>
                  </a:cubicBezTo>
                  <a:lnTo>
                    <a:pt x="916401" y="803804"/>
                  </a:lnTo>
                  <a:close/>
                </a:path>
              </a:pathLst>
            </a:custGeom>
            <a:gradFill>
              <a:gsLst>
                <a:gs pos="0">
                  <a:srgbClr val="6C4B94"/>
                </a:gs>
                <a:gs pos="20000">
                  <a:srgbClr val="5B569B"/>
                </a:gs>
                <a:gs pos="60000">
                  <a:srgbClr val="3075AF"/>
                </a:gs>
                <a:gs pos="100000">
                  <a:srgbClr val="0098C7"/>
                </a:gs>
              </a:gsLst>
              <a:lin ang="0" scaled="0"/>
            </a:gra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8" name="Google Shape;2658;p6"/>
            <p:cNvSpPr/>
            <p:nvPr/>
          </p:nvSpPr>
          <p:spPr>
            <a:xfrm>
              <a:off x="10911563" y="2130947"/>
              <a:ext cx="487443" cy="330278"/>
            </a:xfrm>
            <a:custGeom>
              <a:avLst/>
              <a:gdLst/>
              <a:ahLst/>
              <a:cxnLst/>
              <a:rect l="l" t="t" r="r" b="b"/>
              <a:pathLst>
                <a:path w="1264302" h="856655" extrusionOk="0">
                  <a:moveTo>
                    <a:pt x="0" y="0"/>
                  </a:moveTo>
                  <a:lnTo>
                    <a:pt x="1264302" y="0"/>
                  </a:lnTo>
                  <a:lnTo>
                    <a:pt x="1264302" y="533571"/>
                  </a:lnTo>
                  <a:cubicBezTo>
                    <a:pt x="1264302" y="711888"/>
                    <a:pt x="1119535" y="856656"/>
                    <a:pt x="941218" y="856656"/>
                  </a:cubicBezTo>
                  <a:lnTo>
                    <a:pt x="323544" y="856656"/>
                  </a:lnTo>
                  <a:cubicBezTo>
                    <a:pt x="145227" y="856656"/>
                    <a:pt x="460" y="711888"/>
                    <a:pt x="460" y="533571"/>
                  </a:cubicBezTo>
                  <a:lnTo>
                    <a:pt x="460" y="0"/>
                  </a:lnTo>
                  <a:lnTo>
                    <a:pt x="0" y="0"/>
                  </a:lnTo>
                  <a:close/>
                </a:path>
              </a:pathLst>
            </a:custGeom>
            <a:gradFill>
              <a:gsLst>
                <a:gs pos="0">
                  <a:srgbClr val="6C4B94"/>
                </a:gs>
                <a:gs pos="20000">
                  <a:srgbClr val="5B569B"/>
                </a:gs>
                <a:gs pos="60000">
                  <a:srgbClr val="3075AF"/>
                </a:gs>
                <a:gs pos="100000">
                  <a:srgbClr val="0098C7"/>
                </a:gs>
              </a:gsLst>
              <a:lin ang="0" scaled="0"/>
            </a:gra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59" name="Google Shape;2659;p6"/>
            <p:cNvSpPr/>
            <p:nvPr/>
          </p:nvSpPr>
          <p:spPr>
            <a:xfrm>
              <a:off x="11105406" y="2197393"/>
              <a:ext cx="99579" cy="182326"/>
            </a:xfrm>
            <a:custGeom>
              <a:avLst/>
              <a:gdLst/>
              <a:ahLst/>
              <a:cxnLst/>
              <a:rect l="l" t="t" r="r" b="b"/>
              <a:pathLst>
                <a:path w="258283" h="472906" extrusionOk="0">
                  <a:moveTo>
                    <a:pt x="258284" y="129142"/>
                  </a:moveTo>
                  <a:cubicBezTo>
                    <a:pt x="258284" y="57907"/>
                    <a:pt x="200377" y="0"/>
                    <a:pt x="129142" y="0"/>
                  </a:cubicBezTo>
                  <a:cubicBezTo>
                    <a:pt x="57907" y="0"/>
                    <a:pt x="0" y="57907"/>
                    <a:pt x="0" y="129142"/>
                  </a:cubicBezTo>
                  <a:cubicBezTo>
                    <a:pt x="0" y="200376"/>
                    <a:pt x="36307" y="233466"/>
                    <a:pt x="86861" y="250930"/>
                  </a:cubicBezTo>
                  <a:lnTo>
                    <a:pt x="79967" y="472907"/>
                  </a:lnTo>
                  <a:lnTo>
                    <a:pt x="177857" y="472907"/>
                  </a:lnTo>
                  <a:lnTo>
                    <a:pt x="170963" y="250930"/>
                  </a:lnTo>
                  <a:cubicBezTo>
                    <a:pt x="221517" y="233466"/>
                    <a:pt x="257824" y="185670"/>
                    <a:pt x="257824" y="129142"/>
                  </a:cubicBezTo>
                  <a:lnTo>
                    <a:pt x="258284" y="129142"/>
                  </a:lnTo>
                  <a:close/>
                </a:path>
              </a:pathLst>
            </a:custGeom>
            <a:solidFill>
              <a:srgbClr val="1B1D36"/>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660" name="Google Shape;2660;p6"/>
          <p:cNvSpPr/>
          <p:nvPr/>
        </p:nvSpPr>
        <p:spPr>
          <a:xfrm>
            <a:off x="6726508" y="1629883"/>
            <a:ext cx="1034346" cy="566616"/>
          </a:xfrm>
          <a:custGeom>
            <a:avLst/>
            <a:gdLst/>
            <a:ahLst/>
            <a:cxnLst/>
            <a:rect l="l" t="t" r="r" b="b"/>
            <a:pathLst>
              <a:path w="2682827" h="1469656" extrusionOk="0">
                <a:moveTo>
                  <a:pt x="1105514" y="1469657"/>
                </a:moveTo>
                <a:lnTo>
                  <a:pt x="39752" y="1469657"/>
                </a:lnTo>
                <a:cubicBezTo>
                  <a:pt x="4372" y="1469657"/>
                  <a:pt x="-13292" y="1426849"/>
                  <a:pt x="11722" y="1401879"/>
                </a:cubicBezTo>
                <a:lnTo>
                  <a:pt x="1296626" y="116293"/>
                </a:lnTo>
                <a:cubicBezTo>
                  <a:pt x="1371063" y="41819"/>
                  <a:pt x="1472049" y="0"/>
                  <a:pt x="1577314" y="0"/>
                </a:cubicBezTo>
                <a:lnTo>
                  <a:pt x="2643075" y="0"/>
                </a:lnTo>
                <a:cubicBezTo>
                  <a:pt x="2678456" y="0"/>
                  <a:pt x="2696119" y="42807"/>
                  <a:pt x="2671106" y="67778"/>
                </a:cubicBezTo>
                <a:lnTo>
                  <a:pt x="1386147" y="1353364"/>
                </a:lnTo>
                <a:cubicBezTo>
                  <a:pt x="1311710" y="1427837"/>
                  <a:pt x="1210724" y="1469657"/>
                  <a:pt x="1105459" y="1469657"/>
                </a:cubicBezTo>
                <a:lnTo>
                  <a:pt x="1105459" y="1469657"/>
                </a:lnTo>
                <a:close/>
              </a:path>
            </a:pathLst>
          </a:custGeom>
          <a:solidFill>
            <a:schemeClr val="accent4">
              <a:alpha val="21176"/>
            </a:schemeClr>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61" name="Google Shape;2661;p6"/>
          <p:cNvSpPr/>
          <p:nvPr/>
        </p:nvSpPr>
        <p:spPr>
          <a:xfrm>
            <a:off x="6890994" y="2241659"/>
            <a:ext cx="559736" cy="228572"/>
          </a:xfrm>
          <a:custGeom>
            <a:avLst/>
            <a:gdLst/>
            <a:ahLst/>
            <a:cxnLst/>
            <a:rect l="l" t="t" r="r" b="b"/>
            <a:pathLst>
              <a:path w="1451810" h="592857" extrusionOk="0">
                <a:moveTo>
                  <a:pt x="1198582" y="340089"/>
                </a:moveTo>
                <a:cubicBezTo>
                  <a:pt x="1171008" y="340089"/>
                  <a:pt x="1144352" y="344684"/>
                  <a:pt x="1119994" y="352497"/>
                </a:cubicBezTo>
                <a:cubicBezTo>
                  <a:pt x="1098854" y="154418"/>
                  <a:pt x="931107" y="0"/>
                  <a:pt x="727054" y="0"/>
                </a:cubicBezTo>
                <a:cubicBezTo>
                  <a:pt x="539546" y="0"/>
                  <a:pt x="382370" y="130980"/>
                  <a:pt x="341927" y="306539"/>
                </a:cubicBezTo>
                <a:lnTo>
                  <a:pt x="286318" y="306539"/>
                </a:lnTo>
                <a:cubicBezTo>
                  <a:pt x="128223" y="306539"/>
                  <a:pt x="0" y="434762"/>
                  <a:pt x="0" y="592857"/>
                </a:cubicBezTo>
                <a:lnTo>
                  <a:pt x="1451810" y="592857"/>
                </a:lnTo>
                <a:cubicBezTo>
                  <a:pt x="1451810" y="453145"/>
                  <a:pt x="1338754" y="340089"/>
                  <a:pt x="1199042" y="340089"/>
                </a:cubicBezTo>
                <a:lnTo>
                  <a:pt x="1198582" y="340089"/>
                </a:lnTo>
                <a:close/>
              </a:path>
            </a:pathLst>
          </a:custGeom>
          <a:gradFill>
            <a:gsLst>
              <a:gs pos="0">
                <a:srgbClr val="FFFFFF"/>
              </a:gs>
              <a:gs pos="30000">
                <a:srgbClr val="FFFFFF"/>
              </a:gs>
              <a:gs pos="40000">
                <a:srgbClr val="E8F3F9"/>
              </a:gs>
              <a:gs pos="60000">
                <a:srgbClr val="AFD6EC"/>
              </a:gs>
              <a:gs pos="80000">
                <a:srgbClr val="80BEE1"/>
              </a:gs>
              <a:gs pos="100000">
                <a:srgbClr val="80BEE1"/>
              </a:gs>
            </a:gsLst>
            <a:lin ang="2700000" scaled="0"/>
          </a:gra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62" name="Google Shape;2662;p6"/>
          <p:cNvSpPr/>
          <p:nvPr/>
        </p:nvSpPr>
        <p:spPr>
          <a:xfrm>
            <a:off x="6965839" y="1702808"/>
            <a:ext cx="391521" cy="763068"/>
          </a:xfrm>
          <a:custGeom>
            <a:avLst/>
            <a:gdLst/>
            <a:ahLst/>
            <a:cxnLst/>
            <a:rect l="l" t="t" r="r" b="b"/>
            <a:pathLst>
              <a:path w="391521" h="763068" extrusionOk="0">
                <a:moveTo>
                  <a:pt x="288155" y="4"/>
                </a:moveTo>
                <a:lnTo>
                  <a:pt x="284712" y="4"/>
                </a:lnTo>
                <a:cubicBezTo>
                  <a:pt x="283481" y="4"/>
                  <a:pt x="284211" y="4"/>
                  <a:pt x="283983" y="4"/>
                </a:cubicBezTo>
                <a:cubicBezTo>
                  <a:pt x="230329" y="-497"/>
                  <a:pt x="186048" y="41787"/>
                  <a:pt x="181852" y="95364"/>
                </a:cubicBezTo>
                <a:cubicBezTo>
                  <a:pt x="175445" y="94135"/>
                  <a:pt x="169060" y="93406"/>
                  <a:pt x="162903" y="93406"/>
                </a:cubicBezTo>
                <a:cubicBezTo>
                  <a:pt x="105328" y="92905"/>
                  <a:pt x="58059" y="140107"/>
                  <a:pt x="57581" y="198830"/>
                </a:cubicBezTo>
                <a:cubicBezTo>
                  <a:pt x="57581" y="225607"/>
                  <a:pt x="66679" y="250677"/>
                  <a:pt x="83666" y="270099"/>
                </a:cubicBezTo>
                <a:cubicBezTo>
                  <a:pt x="77259" y="271579"/>
                  <a:pt x="70874" y="273538"/>
                  <a:pt x="64718" y="275997"/>
                </a:cubicBezTo>
                <a:cubicBezTo>
                  <a:pt x="27071" y="290979"/>
                  <a:pt x="484" y="327844"/>
                  <a:pt x="5" y="371357"/>
                </a:cubicBezTo>
                <a:lnTo>
                  <a:pt x="5" y="373315"/>
                </a:lnTo>
                <a:cubicBezTo>
                  <a:pt x="-496" y="424182"/>
                  <a:pt x="34459" y="467194"/>
                  <a:pt x="81226" y="478010"/>
                </a:cubicBezTo>
                <a:cubicBezTo>
                  <a:pt x="69415" y="491535"/>
                  <a:pt x="61047" y="507747"/>
                  <a:pt x="57102" y="525189"/>
                </a:cubicBezTo>
                <a:cubicBezTo>
                  <a:pt x="55369" y="532566"/>
                  <a:pt x="54639" y="540172"/>
                  <a:pt x="54388" y="548050"/>
                </a:cubicBezTo>
                <a:cubicBezTo>
                  <a:pt x="53887" y="606545"/>
                  <a:pt x="100152" y="654704"/>
                  <a:pt x="157750" y="655204"/>
                </a:cubicBezTo>
                <a:cubicBezTo>
                  <a:pt x="164636" y="655204"/>
                  <a:pt x="171295" y="654704"/>
                  <a:pt x="177930" y="653474"/>
                </a:cubicBezTo>
                <a:lnTo>
                  <a:pt x="177930" y="655683"/>
                </a:lnTo>
                <a:cubicBezTo>
                  <a:pt x="177428" y="714406"/>
                  <a:pt x="223694" y="762336"/>
                  <a:pt x="281292" y="763065"/>
                </a:cubicBezTo>
                <a:cubicBezTo>
                  <a:pt x="338867" y="763566"/>
                  <a:pt x="386136" y="716364"/>
                  <a:pt x="386615" y="657641"/>
                </a:cubicBezTo>
                <a:lnTo>
                  <a:pt x="390788" y="188766"/>
                </a:lnTo>
                <a:lnTo>
                  <a:pt x="391517" y="114309"/>
                </a:lnTo>
                <a:cubicBezTo>
                  <a:pt x="392019" y="53855"/>
                  <a:pt x="343770" y="528"/>
                  <a:pt x="288155" y="27"/>
                </a:cubicBezTo>
                <a:lnTo>
                  <a:pt x="288155" y="27"/>
                </a:lnTo>
                <a:close/>
              </a:path>
            </a:pathLst>
          </a:custGeom>
          <a:gradFill>
            <a:gsLst>
              <a:gs pos="0">
                <a:srgbClr val="0098C7"/>
              </a:gs>
              <a:gs pos="11000">
                <a:srgbClr val="0D99AD"/>
              </a:gs>
              <a:gs pos="41000">
                <a:srgbClr val="309F69"/>
              </a:gs>
              <a:gs pos="67000">
                <a:srgbClr val="4AA238"/>
              </a:gs>
              <a:gs pos="87000">
                <a:srgbClr val="5AA519"/>
              </a:gs>
              <a:gs pos="97000">
                <a:srgbClr val="61A60E"/>
              </a:gs>
              <a:gs pos="100000">
                <a:srgbClr val="61A60E"/>
              </a:gs>
            </a:gsLst>
            <a:lin ang="6091759" scaled="0"/>
          </a:gra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63" name="Google Shape;2663;p6"/>
          <p:cNvSpPr/>
          <p:nvPr/>
        </p:nvSpPr>
        <p:spPr>
          <a:xfrm>
            <a:off x="7376551" y="1705040"/>
            <a:ext cx="391796" cy="762771"/>
          </a:xfrm>
          <a:custGeom>
            <a:avLst/>
            <a:gdLst/>
            <a:ahLst/>
            <a:cxnLst/>
            <a:rect l="l" t="t" r="r" b="b"/>
            <a:pathLst>
              <a:path w="391796" h="762771" extrusionOk="0">
                <a:moveTo>
                  <a:pt x="391790" y="376228"/>
                </a:moveTo>
                <a:cubicBezTo>
                  <a:pt x="392291" y="332738"/>
                  <a:pt x="365955" y="295373"/>
                  <a:pt x="328787" y="279639"/>
                </a:cubicBezTo>
                <a:cubicBezTo>
                  <a:pt x="322882" y="276929"/>
                  <a:pt x="316474" y="274721"/>
                  <a:pt x="310090" y="273491"/>
                </a:cubicBezTo>
                <a:cubicBezTo>
                  <a:pt x="327305" y="254570"/>
                  <a:pt x="337156" y="229500"/>
                  <a:pt x="337407" y="202723"/>
                </a:cubicBezTo>
                <a:cubicBezTo>
                  <a:pt x="337908" y="144000"/>
                  <a:pt x="291643" y="96069"/>
                  <a:pt x="234045" y="95341"/>
                </a:cubicBezTo>
                <a:cubicBezTo>
                  <a:pt x="227158" y="95341"/>
                  <a:pt x="220272" y="95842"/>
                  <a:pt x="213363" y="97299"/>
                </a:cubicBezTo>
                <a:cubicBezTo>
                  <a:pt x="209920" y="54287"/>
                  <a:pt x="181121" y="18424"/>
                  <a:pt x="142243" y="5400"/>
                </a:cubicBezTo>
                <a:cubicBezTo>
                  <a:pt x="132165" y="1962"/>
                  <a:pt x="121334" y="4"/>
                  <a:pt x="110252" y="4"/>
                </a:cubicBezTo>
                <a:cubicBezTo>
                  <a:pt x="54638" y="-497"/>
                  <a:pt x="5408" y="52101"/>
                  <a:pt x="4929" y="112304"/>
                </a:cubicBezTo>
                <a:lnTo>
                  <a:pt x="4428" y="159233"/>
                </a:lnTo>
                <a:lnTo>
                  <a:pt x="4" y="655386"/>
                </a:lnTo>
                <a:cubicBezTo>
                  <a:pt x="-498" y="714109"/>
                  <a:pt x="45768" y="762039"/>
                  <a:pt x="103366" y="762768"/>
                </a:cubicBezTo>
                <a:cubicBezTo>
                  <a:pt x="160941" y="763269"/>
                  <a:pt x="208210" y="716067"/>
                  <a:pt x="208689" y="657344"/>
                </a:cubicBezTo>
                <a:lnTo>
                  <a:pt x="208689" y="655135"/>
                </a:lnTo>
                <a:cubicBezTo>
                  <a:pt x="215324" y="656615"/>
                  <a:pt x="221982" y="657094"/>
                  <a:pt x="228869" y="657344"/>
                </a:cubicBezTo>
                <a:cubicBezTo>
                  <a:pt x="286444" y="657845"/>
                  <a:pt x="333713" y="610643"/>
                  <a:pt x="334191" y="551920"/>
                </a:cubicBezTo>
                <a:cubicBezTo>
                  <a:pt x="334191" y="525621"/>
                  <a:pt x="325093" y="500551"/>
                  <a:pt x="308608" y="481402"/>
                </a:cubicBezTo>
                <a:cubicBezTo>
                  <a:pt x="355603" y="471338"/>
                  <a:pt x="391288" y="429054"/>
                  <a:pt x="391539" y="378187"/>
                </a:cubicBezTo>
                <a:lnTo>
                  <a:pt x="391539" y="376456"/>
                </a:lnTo>
                <a:cubicBezTo>
                  <a:pt x="391539" y="375727"/>
                  <a:pt x="391539" y="376456"/>
                  <a:pt x="391539" y="376206"/>
                </a:cubicBezTo>
                <a:lnTo>
                  <a:pt x="391790" y="376206"/>
                </a:lnTo>
                <a:close/>
                <a:moveTo>
                  <a:pt x="80473" y="631796"/>
                </a:moveTo>
                <a:cubicBezTo>
                  <a:pt x="80473" y="618522"/>
                  <a:pt x="91304" y="607956"/>
                  <a:pt x="104597" y="607956"/>
                </a:cubicBezTo>
                <a:cubicBezTo>
                  <a:pt x="117891" y="607956"/>
                  <a:pt x="128471" y="619022"/>
                  <a:pt x="128471" y="632047"/>
                </a:cubicBezTo>
                <a:cubicBezTo>
                  <a:pt x="128471" y="645071"/>
                  <a:pt x="117389" y="655887"/>
                  <a:pt x="104346" y="655887"/>
                </a:cubicBezTo>
                <a:cubicBezTo>
                  <a:pt x="91304" y="655887"/>
                  <a:pt x="80473" y="644821"/>
                  <a:pt x="80473" y="631796"/>
                </a:cubicBezTo>
                <a:close/>
                <a:moveTo>
                  <a:pt x="206226" y="544064"/>
                </a:moveTo>
                <a:cubicBezTo>
                  <a:pt x="206226" y="530790"/>
                  <a:pt x="217057" y="520224"/>
                  <a:pt x="230351" y="520224"/>
                </a:cubicBezTo>
                <a:cubicBezTo>
                  <a:pt x="243644" y="520224"/>
                  <a:pt x="254225" y="531291"/>
                  <a:pt x="254225" y="544315"/>
                </a:cubicBezTo>
                <a:cubicBezTo>
                  <a:pt x="254225" y="557339"/>
                  <a:pt x="243143" y="568155"/>
                  <a:pt x="230100" y="568155"/>
                </a:cubicBezTo>
                <a:cubicBezTo>
                  <a:pt x="217057" y="568155"/>
                  <a:pt x="206226" y="557339"/>
                  <a:pt x="206226" y="544064"/>
                </a:cubicBezTo>
                <a:close/>
                <a:moveTo>
                  <a:pt x="286695" y="459771"/>
                </a:moveTo>
                <a:cubicBezTo>
                  <a:pt x="284483" y="459771"/>
                  <a:pt x="282522" y="459771"/>
                  <a:pt x="280287" y="459270"/>
                </a:cubicBezTo>
                <a:cubicBezTo>
                  <a:pt x="274883" y="458769"/>
                  <a:pt x="269707" y="461979"/>
                  <a:pt x="267746" y="467125"/>
                </a:cubicBezTo>
                <a:cubicBezTo>
                  <a:pt x="266013" y="472294"/>
                  <a:pt x="267746" y="477941"/>
                  <a:pt x="272671" y="481129"/>
                </a:cubicBezTo>
                <a:cubicBezTo>
                  <a:pt x="296545" y="496612"/>
                  <a:pt x="310568" y="522911"/>
                  <a:pt x="310318" y="551647"/>
                </a:cubicBezTo>
                <a:cubicBezTo>
                  <a:pt x="309816" y="592678"/>
                  <a:pt x="280059" y="626605"/>
                  <a:pt x="241410" y="632502"/>
                </a:cubicBezTo>
                <a:lnTo>
                  <a:pt x="241911" y="590720"/>
                </a:lnTo>
                <a:cubicBezTo>
                  <a:pt x="262593" y="585551"/>
                  <a:pt x="278098" y="567130"/>
                  <a:pt x="278326" y="545021"/>
                </a:cubicBezTo>
                <a:cubicBezTo>
                  <a:pt x="278326" y="518722"/>
                  <a:pt x="257166" y="497090"/>
                  <a:pt x="230830" y="496863"/>
                </a:cubicBezTo>
                <a:cubicBezTo>
                  <a:pt x="204493" y="496863"/>
                  <a:pt x="182831" y="517993"/>
                  <a:pt x="182603" y="544292"/>
                </a:cubicBezTo>
                <a:cubicBezTo>
                  <a:pt x="182603" y="566402"/>
                  <a:pt x="197607" y="585323"/>
                  <a:pt x="218038" y="590742"/>
                </a:cubicBezTo>
                <a:lnTo>
                  <a:pt x="217536" y="632775"/>
                </a:lnTo>
                <a:cubicBezTo>
                  <a:pt x="210650" y="631796"/>
                  <a:pt x="203992" y="629815"/>
                  <a:pt x="197607" y="626878"/>
                </a:cubicBezTo>
                <a:cubicBezTo>
                  <a:pt x="193434" y="624920"/>
                  <a:pt x="188509" y="625648"/>
                  <a:pt x="184815" y="628836"/>
                </a:cubicBezTo>
                <a:cubicBezTo>
                  <a:pt x="181372" y="631796"/>
                  <a:pt x="179890" y="636692"/>
                  <a:pt x="181121" y="641132"/>
                </a:cubicBezTo>
                <a:cubicBezTo>
                  <a:pt x="181851" y="643341"/>
                  <a:pt x="182352" y="645071"/>
                  <a:pt x="182854" y="646528"/>
                </a:cubicBezTo>
                <a:cubicBezTo>
                  <a:pt x="184336" y="650695"/>
                  <a:pt x="184587" y="651925"/>
                  <a:pt x="184587" y="657344"/>
                </a:cubicBezTo>
                <a:cubicBezTo>
                  <a:pt x="184085" y="698626"/>
                  <a:pt x="154078" y="732552"/>
                  <a:pt x="115177" y="738199"/>
                </a:cubicBezTo>
                <a:lnTo>
                  <a:pt x="115679" y="678474"/>
                </a:lnTo>
                <a:cubicBezTo>
                  <a:pt x="136361" y="673306"/>
                  <a:pt x="151866" y="654885"/>
                  <a:pt x="152094" y="632775"/>
                </a:cubicBezTo>
                <a:cubicBezTo>
                  <a:pt x="152094" y="606476"/>
                  <a:pt x="131184" y="584845"/>
                  <a:pt x="104597" y="584617"/>
                </a:cubicBezTo>
                <a:cubicBezTo>
                  <a:pt x="78261" y="584617"/>
                  <a:pt x="56599" y="605748"/>
                  <a:pt x="56371" y="632047"/>
                </a:cubicBezTo>
                <a:cubicBezTo>
                  <a:pt x="56371" y="654156"/>
                  <a:pt x="71375" y="672850"/>
                  <a:pt x="91805" y="678497"/>
                </a:cubicBezTo>
                <a:lnTo>
                  <a:pt x="91304" y="738222"/>
                </a:lnTo>
                <a:cubicBezTo>
                  <a:pt x="52677" y="732074"/>
                  <a:pt x="23125" y="697419"/>
                  <a:pt x="23376" y="656137"/>
                </a:cubicBezTo>
                <a:lnTo>
                  <a:pt x="25588" y="410884"/>
                </a:lnTo>
                <a:lnTo>
                  <a:pt x="59791" y="410884"/>
                </a:lnTo>
                <a:cubicBezTo>
                  <a:pt x="64967" y="431764"/>
                  <a:pt x="83414" y="447247"/>
                  <a:pt x="105555" y="447498"/>
                </a:cubicBezTo>
                <a:cubicBezTo>
                  <a:pt x="131891" y="447498"/>
                  <a:pt x="153553" y="426618"/>
                  <a:pt x="153781" y="400068"/>
                </a:cubicBezTo>
                <a:cubicBezTo>
                  <a:pt x="153781" y="373769"/>
                  <a:pt x="132621" y="352138"/>
                  <a:pt x="106285" y="351910"/>
                </a:cubicBezTo>
                <a:cubicBezTo>
                  <a:pt x="84144" y="351910"/>
                  <a:pt x="65195" y="366893"/>
                  <a:pt x="59768" y="387295"/>
                </a:cubicBezTo>
                <a:lnTo>
                  <a:pt x="25565" y="387295"/>
                </a:lnTo>
                <a:cubicBezTo>
                  <a:pt x="25565" y="387044"/>
                  <a:pt x="27047" y="224855"/>
                  <a:pt x="27047" y="224855"/>
                </a:cubicBezTo>
                <a:lnTo>
                  <a:pt x="174212" y="226085"/>
                </a:lnTo>
                <a:cubicBezTo>
                  <a:pt x="179388" y="246737"/>
                  <a:pt x="197835" y="262220"/>
                  <a:pt x="219976" y="262448"/>
                </a:cubicBezTo>
                <a:cubicBezTo>
                  <a:pt x="246312" y="262448"/>
                  <a:pt x="267974" y="241318"/>
                  <a:pt x="268202" y="215018"/>
                </a:cubicBezTo>
                <a:cubicBezTo>
                  <a:pt x="268202" y="188719"/>
                  <a:pt x="247042" y="167088"/>
                  <a:pt x="220705" y="166860"/>
                </a:cubicBezTo>
                <a:cubicBezTo>
                  <a:pt x="198565" y="166860"/>
                  <a:pt x="179616" y="181843"/>
                  <a:pt x="174189" y="202245"/>
                </a:cubicBezTo>
                <a:lnTo>
                  <a:pt x="135061" y="202245"/>
                </a:lnTo>
                <a:cubicBezTo>
                  <a:pt x="135061" y="201994"/>
                  <a:pt x="135562" y="154314"/>
                  <a:pt x="135562" y="154314"/>
                </a:cubicBezTo>
                <a:cubicBezTo>
                  <a:pt x="156244" y="149146"/>
                  <a:pt x="171749" y="130725"/>
                  <a:pt x="171977" y="108615"/>
                </a:cubicBezTo>
                <a:cubicBezTo>
                  <a:pt x="171977" y="82316"/>
                  <a:pt x="151068" y="60685"/>
                  <a:pt x="124481" y="60457"/>
                </a:cubicBezTo>
                <a:cubicBezTo>
                  <a:pt x="98144" y="60457"/>
                  <a:pt x="76482" y="81588"/>
                  <a:pt x="76254" y="107887"/>
                </a:cubicBezTo>
                <a:cubicBezTo>
                  <a:pt x="76254" y="129996"/>
                  <a:pt x="91258" y="148918"/>
                  <a:pt x="111689" y="154337"/>
                </a:cubicBezTo>
                <a:lnTo>
                  <a:pt x="111187" y="201766"/>
                </a:lnTo>
                <a:lnTo>
                  <a:pt x="27025" y="201038"/>
                </a:lnTo>
                <a:lnTo>
                  <a:pt x="27526" y="132729"/>
                </a:lnTo>
                <a:lnTo>
                  <a:pt x="27526" y="112828"/>
                </a:lnTo>
                <a:cubicBezTo>
                  <a:pt x="28256" y="65148"/>
                  <a:pt x="66153" y="23616"/>
                  <a:pt x="108975" y="24117"/>
                </a:cubicBezTo>
                <a:cubicBezTo>
                  <a:pt x="113900" y="24117"/>
                  <a:pt x="118575" y="24618"/>
                  <a:pt x="123249" y="25597"/>
                </a:cubicBezTo>
                <a:cubicBezTo>
                  <a:pt x="160645" y="32974"/>
                  <a:pt x="188965" y="66878"/>
                  <a:pt x="188714" y="107431"/>
                </a:cubicBezTo>
                <a:cubicBezTo>
                  <a:pt x="188714" y="108911"/>
                  <a:pt x="188714" y="110141"/>
                  <a:pt x="188463" y="112600"/>
                </a:cubicBezTo>
                <a:cubicBezTo>
                  <a:pt x="188213" y="116539"/>
                  <a:pt x="189945" y="120456"/>
                  <a:pt x="193138" y="122915"/>
                </a:cubicBezTo>
                <a:cubicBezTo>
                  <a:pt x="196330" y="125374"/>
                  <a:pt x="200526" y="126103"/>
                  <a:pt x="204448" y="124645"/>
                </a:cubicBezTo>
                <a:cubicBezTo>
                  <a:pt x="213796" y="121207"/>
                  <a:pt x="223145" y="119477"/>
                  <a:pt x="232494" y="119727"/>
                </a:cubicBezTo>
                <a:cubicBezTo>
                  <a:pt x="276799" y="120228"/>
                  <a:pt x="312712" y="157570"/>
                  <a:pt x="312233" y="203042"/>
                </a:cubicBezTo>
                <a:cubicBezTo>
                  <a:pt x="311982" y="232528"/>
                  <a:pt x="296978" y="258827"/>
                  <a:pt x="272124" y="273560"/>
                </a:cubicBezTo>
                <a:cubicBezTo>
                  <a:pt x="272124" y="273560"/>
                  <a:pt x="271623" y="274060"/>
                  <a:pt x="271395" y="274060"/>
                </a:cubicBezTo>
                <a:cubicBezTo>
                  <a:pt x="224149" y="282667"/>
                  <a:pt x="187962" y="324427"/>
                  <a:pt x="187483" y="374817"/>
                </a:cubicBezTo>
                <a:cubicBezTo>
                  <a:pt x="187483" y="381443"/>
                  <a:pt x="192659" y="386862"/>
                  <a:pt x="199294" y="386862"/>
                </a:cubicBezTo>
                <a:cubicBezTo>
                  <a:pt x="205930" y="386862"/>
                  <a:pt x="211357" y="381693"/>
                  <a:pt x="211357" y="375067"/>
                </a:cubicBezTo>
                <a:cubicBezTo>
                  <a:pt x="211858" y="331326"/>
                  <a:pt x="246791" y="295942"/>
                  <a:pt x="289613" y="296193"/>
                </a:cubicBezTo>
                <a:cubicBezTo>
                  <a:pt x="299943" y="296193"/>
                  <a:pt x="309542" y="298401"/>
                  <a:pt x="318412" y="302341"/>
                </a:cubicBezTo>
                <a:cubicBezTo>
                  <a:pt x="346961" y="315365"/>
                  <a:pt x="366639" y="344601"/>
                  <a:pt x="366411" y="378528"/>
                </a:cubicBezTo>
                <a:cubicBezTo>
                  <a:pt x="365909" y="423999"/>
                  <a:pt x="329494" y="460613"/>
                  <a:pt x="285190" y="460363"/>
                </a:cubicBezTo>
                <a:lnTo>
                  <a:pt x="286672" y="459862"/>
                </a:lnTo>
                <a:close/>
                <a:moveTo>
                  <a:pt x="82684" y="399067"/>
                </a:moveTo>
                <a:cubicBezTo>
                  <a:pt x="82684" y="385792"/>
                  <a:pt x="93766" y="375227"/>
                  <a:pt x="107037" y="375227"/>
                </a:cubicBezTo>
                <a:cubicBezTo>
                  <a:pt x="120308" y="375227"/>
                  <a:pt x="130911" y="386293"/>
                  <a:pt x="130660" y="399317"/>
                </a:cubicBezTo>
                <a:cubicBezTo>
                  <a:pt x="130660" y="412592"/>
                  <a:pt x="119829" y="423157"/>
                  <a:pt x="106535" y="423157"/>
                </a:cubicBezTo>
                <a:cubicBezTo>
                  <a:pt x="93242" y="423157"/>
                  <a:pt x="82662" y="412091"/>
                  <a:pt x="82662" y="399067"/>
                </a:cubicBezTo>
                <a:close/>
                <a:moveTo>
                  <a:pt x="197128" y="214039"/>
                </a:moveTo>
                <a:cubicBezTo>
                  <a:pt x="197128" y="200765"/>
                  <a:pt x="208210" y="190199"/>
                  <a:pt x="221253" y="190199"/>
                </a:cubicBezTo>
                <a:cubicBezTo>
                  <a:pt x="234296" y="190199"/>
                  <a:pt x="245127" y="201266"/>
                  <a:pt x="245127" y="214290"/>
                </a:cubicBezTo>
                <a:cubicBezTo>
                  <a:pt x="245127" y="227314"/>
                  <a:pt x="234045" y="238130"/>
                  <a:pt x="221002" y="238130"/>
                </a:cubicBezTo>
                <a:cubicBezTo>
                  <a:pt x="207959" y="238130"/>
                  <a:pt x="197128" y="227064"/>
                  <a:pt x="197128" y="214039"/>
                </a:cubicBezTo>
                <a:close/>
                <a:moveTo>
                  <a:pt x="124777" y="131704"/>
                </a:moveTo>
                <a:cubicBezTo>
                  <a:pt x="111483" y="131704"/>
                  <a:pt x="100903" y="120888"/>
                  <a:pt x="100903" y="107613"/>
                </a:cubicBezTo>
                <a:cubicBezTo>
                  <a:pt x="100903" y="94339"/>
                  <a:pt x="111985" y="83774"/>
                  <a:pt x="125028" y="83774"/>
                </a:cubicBezTo>
                <a:cubicBezTo>
                  <a:pt x="138071" y="83774"/>
                  <a:pt x="148902" y="94840"/>
                  <a:pt x="148902" y="107864"/>
                </a:cubicBezTo>
                <a:cubicBezTo>
                  <a:pt x="148902" y="120888"/>
                  <a:pt x="137820" y="131704"/>
                  <a:pt x="124777" y="131704"/>
                </a:cubicBezTo>
                <a:close/>
              </a:path>
            </a:pathLst>
          </a:custGeom>
          <a:gradFill>
            <a:gsLst>
              <a:gs pos="0">
                <a:srgbClr val="0098C7"/>
              </a:gs>
              <a:gs pos="50000">
                <a:srgbClr val="0698BA"/>
              </a:gs>
              <a:gs pos="100000">
                <a:srgbClr val="0D99AD"/>
              </a:gs>
            </a:gsLst>
            <a:lin ang="0" scaled="0"/>
          </a:gra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64" name="Google Shape;2664;p6"/>
          <p:cNvSpPr/>
          <p:nvPr/>
        </p:nvSpPr>
        <p:spPr>
          <a:xfrm>
            <a:off x="7343354" y="2329543"/>
            <a:ext cx="349237" cy="138959"/>
          </a:xfrm>
          <a:custGeom>
            <a:avLst/>
            <a:gdLst/>
            <a:ahLst/>
            <a:cxnLst/>
            <a:rect l="l" t="t" r="r" b="b"/>
            <a:pathLst>
              <a:path w="905830" h="360424" extrusionOk="0">
                <a:moveTo>
                  <a:pt x="247713" y="112712"/>
                </a:moveTo>
                <a:lnTo>
                  <a:pt x="0" y="360425"/>
                </a:lnTo>
                <a:lnTo>
                  <a:pt x="905830" y="360425"/>
                </a:lnTo>
                <a:cubicBezTo>
                  <a:pt x="899856" y="269888"/>
                  <a:pt x="862630" y="181189"/>
                  <a:pt x="794153" y="112712"/>
                </a:cubicBezTo>
                <a:lnTo>
                  <a:pt x="794153" y="112712"/>
                </a:lnTo>
                <a:cubicBezTo>
                  <a:pt x="643870" y="-37571"/>
                  <a:pt x="398455" y="-37571"/>
                  <a:pt x="248173" y="112712"/>
                </a:cubicBezTo>
                <a:lnTo>
                  <a:pt x="247713" y="112712"/>
                </a:lnTo>
                <a:close/>
              </a:path>
            </a:pathLst>
          </a:custGeom>
          <a:gradFill>
            <a:gsLst>
              <a:gs pos="0">
                <a:srgbClr val="FFFFFF"/>
              </a:gs>
              <a:gs pos="30000">
                <a:srgbClr val="FFFFFF"/>
              </a:gs>
              <a:gs pos="50000">
                <a:srgbClr val="F8FBFE"/>
              </a:gs>
              <a:gs pos="70000">
                <a:srgbClr val="E7F3FB"/>
              </a:gs>
              <a:gs pos="100000">
                <a:srgbClr val="CEE6F7"/>
              </a:gs>
            </a:gsLst>
            <a:lin ang="2698257" scaled="0"/>
          </a:gra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65" name="Google Shape;2665;p6"/>
          <p:cNvGrpSpPr/>
          <p:nvPr/>
        </p:nvGrpSpPr>
        <p:grpSpPr>
          <a:xfrm>
            <a:off x="6629343" y="1317145"/>
            <a:ext cx="1173654" cy="658505"/>
            <a:chOff x="6629343" y="1317145"/>
            <a:chExt cx="1173654" cy="658505"/>
          </a:xfrm>
        </p:grpSpPr>
        <p:grpSp>
          <p:nvGrpSpPr>
            <p:cNvPr id="2666" name="Google Shape;2666;p6"/>
            <p:cNvGrpSpPr/>
            <p:nvPr/>
          </p:nvGrpSpPr>
          <p:grpSpPr>
            <a:xfrm>
              <a:off x="6629343" y="1730628"/>
              <a:ext cx="246410" cy="244678"/>
              <a:chOff x="979020" y="4654896"/>
              <a:chExt cx="639123" cy="634631"/>
            </a:xfrm>
          </p:grpSpPr>
          <p:grpSp>
            <p:nvGrpSpPr>
              <p:cNvPr id="2667" name="Google Shape;2667;p6"/>
              <p:cNvGrpSpPr/>
              <p:nvPr/>
            </p:nvGrpSpPr>
            <p:grpSpPr>
              <a:xfrm>
                <a:off x="979020" y="4892708"/>
                <a:ext cx="396508" cy="396819"/>
                <a:chOff x="979020" y="4892708"/>
                <a:chExt cx="396508" cy="396819"/>
              </a:xfrm>
            </p:grpSpPr>
            <p:sp>
              <p:nvSpPr>
                <p:cNvPr id="2668" name="Google Shape;2668;p6"/>
                <p:cNvSpPr/>
                <p:nvPr/>
              </p:nvSpPr>
              <p:spPr>
                <a:xfrm>
                  <a:off x="979020" y="4892708"/>
                  <a:ext cx="396508" cy="396819"/>
                </a:xfrm>
                <a:custGeom>
                  <a:avLst/>
                  <a:gdLst/>
                  <a:ahLst/>
                  <a:cxnLst/>
                  <a:rect l="l" t="t" r="r" b="b"/>
                  <a:pathLst>
                    <a:path w="396508" h="396819" extrusionOk="0">
                      <a:moveTo>
                        <a:pt x="166513" y="396820"/>
                      </a:moveTo>
                      <a:lnTo>
                        <a:pt x="228370" y="396469"/>
                      </a:lnTo>
                      <a:cubicBezTo>
                        <a:pt x="230250" y="392738"/>
                        <a:pt x="232386" y="385562"/>
                        <a:pt x="234776" y="375102"/>
                      </a:cubicBezTo>
                      <a:cubicBezTo>
                        <a:pt x="236592" y="367257"/>
                        <a:pt x="238568" y="361166"/>
                        <a:pt x="240608" y="356924"/>
                      </a:cubicBezTo>
                      <a:cubicBezTo>
                        <a:pt x="241245" y="355616"/>
                        <a:pt x="242456" y="354692"/>
                        <a:pt x="243858" y="354373"/>
                      </a:cubicBezTo>
                      <a:cubicBezTo>
                        <a:pt x="254311" y="352140"/>
                        <a:pt x="265465" y="347708"/>
                        <a:pt x="277033" y="341234"/>
                      </a:cubicBezTo>
                      <a:cubicBezTo>
                        <a:pt x="278595" y="340373"/>
                        <a:pt x="280507" y="340437"/>
                        <a:pt x="281973" y="341425"/>
                      </a:cubicBezTo>
                      <a:cubicBezTo>
                        <a:pt x="292936" y="348728"/>
                        <a:pt x="304249" y="355170"/>
                        <a:pt x="315594" y="360591"/>
                      </a:cubicBezTo>
                      <a:lnTo>
                        <a:pt x="315977" y="360751"/>
                      </a:lnTo>
                      <a:lnTo>
                        <a:pt x="316264" y="360464"/>
                      </a:lnTo>
                      <a:cubicBezTo>
                        <a:pt x="341663" y="335525"/>
                        <a:pt x="356418" y="320218"/>
                        <a:pt x="360115" y="314892"/>
                      </a:cubicBezTo>
                      <a:lnTo>
                        <a:pt x="360370" y="314509"/>
                      </a:lnTo>
                      <a:lnTo>
                        <a:pt x="360083" y="314158"/>
                      </a:lnTo>
                      <a:cubicBezTo>
                        <a:pt x="356960" y="310140"/>
                        <a:pt x="353327" y="304495"/>
                        <a:pt x="349311" y="297415"/>
                      </a:cubicBezTo>
                      <a:cubicBezTo>
                        <a:pt x="345614" y="290910"/>
                        <a:pt x="342810" y="286062"/>
                        <a:pt x="340993" y="282937"/>
                      </a:cubicBezTo>
                      <a:cubicBezTo>
                        <a:pt x="340037" y="281310"/>
                        <a:pt x="340133" y="279301"/>
                        <a:pt x="341217" y="277771"/>
                      </a:cubicBezTo>
                      <a:cubicBezTo>
                        <a:pt x="343989" y="273880"/>
                        <a:pt x="346730" y="268267"/>
                        <a:pt x="349343" y="261028"/>
                      </a:cubicBezTo>
                      <a:cubicBezTo>
                        <a:pt x="352434" y="252800"/>
                        <a:pt x="354952" y="246804"/>
                        <a:pt x="356832" y="243073"/>
                      </a:cubicBezTo>
                      <a:cubicBezTo>
                        <a:pt x="357501" y="241734"/>
                        <a:pt x="358776" y="240809"/>
                        <a:pt x="360274" y="240554"/>
                      </a:cubicBezTo>
                      <a:cubicBezTo>
                        <a:pt x="365118" y="239725"/>
                        <a:pt x="370822" y="238353"/>
                        <a:pt x="377228" y="236504"/>
                      </a:cubicBezTo>
                      <a:cubicBezTo>
                        <a:pt x="388764" y="233155"/>
                        <a:pt x="393832" y="231816"/>
                        <a:pt x="396030" y="231273"/>
                      </a:cubicBezTo>
                      <a:lnTo>
                        <a:pt x="396509" y="231178"/>
                      </a:lnTo>
                      <a:lnTo>
                        <a:pt x="395999" y="167491"/>
                      </a:lnTo>
                      <a:cubicBezTo>
                        <a:pt x="392493" y="166790"/>
                        <a:pt x="386088" y="165100"/>
                        <a:pt x="376431" y="162293"/>
                      </a:cubicBezTo>
                      <a:cubicBezTo>
                        <a:pt x="369643" y="160252"/>
                        <a:pt x="363620" y="158881"/>
                        <a:pt x="358553" y="158179"/>
                      </a:cubicBezTo>
                      <a:cubicBezTo>
                        <a:pt x="356864" y="157956"/>
                        <a:pt x="355398" y="156808"/>
                        <a:pt x="354793" y="155182"/>
                      </a:cubicBezTo>
                      <a:cubicBezTo>
                        <a:pt x="353231" y="151195"/>
                        <a:pt x="349757" y="141596"/>
                        <a:pt x="341950" y="119081"/>
                      </a:cubicBezTo>
                      <a:cubicBezTo>
                        <a:pt x="341472" y="117710"/>
                        <a:pt x="341663" y="116179"/>
                        <a:pt x="342459" y="114935"/>
                      </a:cubicBezTo>
                      <a:cubicBezTo>
                        <a:pt x="347335" y="107473"/>
                        <a:pt x="353741" y="96343"/>
                        <a:pt x="362091" y="80907"/>
                      </a:cubicBezTo>
                      <a:lnTo>
                        <a:pt x="362345" y="80461"/>
                      </a:lnTo>
                      <a:lnTo>
                        <a:pt x="361963" y="80142"/>
                      </a:lnTo>
                      <a:cubicBezTo>
                        <a:pt x="357406" y="76507"/>
                        <a:pt x="349885" y="69331"/>
                        <a:pt x="339655" y="58775"/>
                      </a:cubicBezTo>
                      <a:cubicBezTo>
                        <a:pt x="330573" y="48985"/>
                        <a:pt x="322924" y="42256"/>
                        <a:pt x="316200" y="38173"/>
                      </a:cubicBezTo>
                      <a:lnTo>
                        <a:pt x="315945" y="38014"/>
                      </a:lnTo>
                      <a:lnTo>
                        <a:pt x="315658" y="38142"/>
                      </a:lnTo>
                      <a:cubicBezTo>
                        <a:pt x="312152" y="39609"/>
                        <a:pt x="306289" y="42893"/>
                        <a:pt x="297716" y="48187"/>
                      </a:cubicBezTo>
                      <a:cubicBezTo>
                        <a:pt x="292075" y="51918"/>
                        <a:pt x="286785" y="54661"/>
                        <a:pt x="282100" y="56319"/>
                      </a:cubicBezTo>
                      <a:cubicBezTo>
                        <a:pt x="280698" y="56830"/>
                        <a:pt x="279137" y="56607"/>
                        <a:pt x="277894" y="55809"/>
                      </a:cubicBezTo>
                      <a:cubicBezTo>
                        <a:pt x="273815" y="53098"/>
                        <a:pt x="268365" y="50483"/>
                        <a:pt x="261258" y="47805"/>
                      </a:cubicBezTo>
                      <a:cubicBezTo>
                        <a:pt x="251857" y="44265"/>
                        <a:pt x="246790" y="42256"/>
                        <a:pt x="244049" y="41139"/>
                      </a:cubicBezTo>
                      <a:cubicBezTo>
                        <a:pt x="242679" y="40565"/>
                        <a:pt x="241659" y="39385"/>
                        <a:pt x="241277" y="37950"/>
                      </a:cubicBezTo>
                      <a:cubicBezTo>
                        <a:pt x="236114" y="18337"/>
                        <a:pt x="232386" y="5708"/>
                        <a:pt x="230282" y="383"/>
                      </a:cubicBezTo>
                      <a:lnTo>
                        <a:pt x="230123" y="0"/>
                      </a:lnTo>
                      <a:lnTo>
                        <a:pt x="168202" y="446"/>
                      </a:lnTo>
                      <a:cubicBezTo>
                        <a:pt x="166545" y="5772"/>
                        <a:pt x="164601" y="12756"/>
                        <a:pt x="162370" y="21144"/>
                      </a:cubicBezTo>
                      <a:cubicBezTo>
                        <a:pt x="159789" y="30870"/>
                        <a:pt x="158323" y="36260"/>
                        <a:pt x="157463" y="39226"/>
                      </a:cubicBezTo>
                      <a:cubicBezTo>
                        <a:pt x="157016" y="40852"/>
                        <a:pt x="155742" y="42064"/>
                        <a:pt x="154116" y="42511"/>
                      </a:cubicBezTo>
                      <a:cubicBezTo>
                        <a:pt x="148476" y="43978"/>
                        <a:pt x="137258" y="48379"/>
                        <a:pt x="119794" y="55969"/>
                      </a:cubicBezTo>
                      <a:cubicBezTo>
                        <a:pt x="118264" y="56638"/>
                        <a:pt x="116511" y="56447"/>
                        <a:pt x="115173" y="55490"/>
                      </a:cubicBezTo>
                      <a:cubicBezTo>
                        <a:pt x="107015" y="49686"/>
                        <a:pt x="95574" y="43244"/>
                        <a:pt x="81201" y="36228"/>
                      </a:cubicBezTo>
                      <a:lnTo>
                        <a:pt x="80819" y="36037"/>
                      </a:lnTo>
                      <a:lnTo>
                        <a:pt x="80532" y="36324"/>
                      </a:lnTo>
                      <a:cubicBezTo>
                        <a:pt x="54973" y="61231"/>
                        <a:pt x="40122" y="76570"/>
                        <a:pt x="36426" y="81896"/>
                      </a:cubicBezTo>
                      <a:lnTo>
                        <a:pt x="36139" y="82279"/>
                      </a:lnTo>
                      <a:lnTo>
                        <a:pt x="36458" y="82661"/>
                      </a:lnTo>
                      <a:cubicBezTo>
                        <a:pt x="40601" y="87286"/>
                        <a:pt x="47134" y="97905"/>
                        <a:pt x="55929" y="114233"/>
                      </a:cubicBezTo>
                      <a:cubicBezTo>
                        <a:pt x="56726" y="115732"/>
                        <a:pt x="56694" y="117518"/>
                        <a:pt x="55802" y="118953"/>
                      </a:cubicBezTo>
                      <a:cubicBezTo>
                        <a:pt x="53220" y="123195"/>
                        <a:pt x="50480" y="128776"/>
                        <a:pt x="47420" y="136111"/>
                      </a:cubicBezTo>
                      <a:cubicBezTo>
                        <a:pt x="44042" y="144179"/>
                        <a:pt x="41397" y="150079"/>
                        <a:pt x="39613" y="153746"/>
                      </a:cubicBezTo>
                      <a:cubicBezTo>
                        <a:pt x="38943" y="155118"/>
                        <a:pt x="37669" y="156043"/>
                        <a:pt x="36139" y="156330"/>
                      </a:cubicBezTo>
                      <a:cubicBezTo>
                        <a:pt x="31295" y="157127"/>
                        <a:pt x="25782" y="158466"/>
                        <a:pt x="19280" y="160348"/>
                      </a:cubicBezTo>
                      <a:cubicBezTo>
                        <a:pt x="9688" y="163154"/>
                        <a:pt x="3537" y="164844"/>
                        <a:pt x="478" y="165578"/>
                      </a:cubicBezTo>
                      <a:lnTo>
                        <a:pt x="0" y="165674"/>
                      </a:lnTo>
                      <a:lnTo>
                        <a:pt x="478" y="229360"/>
                      </a:lnTo>
                      <a:cubicBezTo>
                        <a:pt x="4143" y="230094"/>
                        <a:pt x="10772" y="231847"/>
                        <a:pt x="20205" y="234590"/>
                      </a:cubicBezTo>
                      <a:cubicBezTo>
                        <a:pt x="26547" y="236312"/>
                        <a:pt x="32219" y="237620"/>
                        <a:pt x="36999" y="238449"/>
                      </a:cubicBezTo>
                      <a:cubicBezTo>
                        <a:pt x="38912" y="238768"/>
                        <a:pt x="40441" y="240235"/>
                        <a:pt x="40855" y="242148"/>
                      </a:cubicBezTo>
                      <a:cubicBezTo>
                        <a:pt x="42003" y="247697"/>
                        <a:pt x="44074" y="253884"/>
                        <a:pt x="46942" y="260517"/>
                      </a:cubicBezTo>
                      <a:cubicBezTo>
                        <a:pt x="51276" y="270085"/>
                        <a:pt x="53475" y="275156"/>
                        <a:pt x="54527" y="277803"/>
                      </a:cubicBezTo>
                      <a:cubicBezTo>
                        <a:pt x="55069" y="279174"/>
                        <a:pt x="54973" y="280705"/>
                        <a:pt x="54240" y="281980"/>
                      </a:cubicBezTo>
                      <a:cubicBezTo>
                        <a:pt x="43437" y="300700"/>
                        <a:pt x="37414" y="312149"/>
                        <a:pt x="36330" y="316040"/>
                      </a:cubicBezTo>
                      <a:lnTo>
                        <a:pt x="36235" y="316391"/>
                      </a:lnTo>
                      <a:lnTo>
                        <a:pt x="36489" y="316614"/>
                      </a:lnTo>
                      <a:cubicBezTo>
                        <a:pt x="60423" y="341011"/>
                        <a:pt x="75274" y="355170"/>
                        <a:pt x="80627" y="358646"/>
                      </a:cubicBezTo>
                      <a:lnTo>
                        <a:pt x="80914" y="358806"/>
                      </a:lnTo>
                      <a:lnTo>
                        <a:pt x="81201" y="358678"/>
                      </a:lnTo>
                      <a:cubicBezTo>
                        <a:pt x="84611" y="357147"/>
                        <a:pt x="90507" y="353799"/>
                        <a:pt x="98697" y="348696"/>
                      </a:cubicBezTo>
                      <a:cubicBezTo>
                        <a:pt x="104816" y="344933"/>
                        <a:pt x="110361" y="342127"/>
                        <a:pt x="115205" y="340373"/>
                      </a:cubicBezTo>
                      <a:cubicBezTo>
                        <a:pt x="116416" y="339926"/>
                        <a:pt x="117722" y="339990"/>
                        <a:pt x="118870" y="340564"/>
                      </a:cubicBezTo>
                      <a:cubicBezTo>
                        <a:pt x="122280" y="342222"/>
                        <a:pt x="130725" y="346049"/>
                        <a:pt x="152842" y="355776"/>
                      </a:cubicBezTo>
                      <a:cubicBezTo>
                        <a:pt x="154053" y="356318"/>
                        <a:pt x="155009" y="357371"/>
                        <a:pt x="155423" y="358614"/>
                      </a:cubicBezTo>
                      <a:cubicBezTo>
                        <a:pt x="156730" y="362537"/>
                        <a:pt x="158291" y="368533"/>
                        <a:pt x="160139" y="376378"/>
                      </a:cubicBezTo>
                      <a:cubicBezTo>
                        <a:pt x="162211" y="385530"/>
                        <a:pt x="164219" y="392068"/>
                        <a:pt x="166290" y="396373"/>
                      </a:cubicBezTo>
                      <a:lnTo>
                        <a:pt x="166449" y="396724"/>
                      </a:lnTo>
                      <a:lnTo>
                        <a:pt x="166513" y="396820"/>
                      </a:lnTo>
                      <a:close/>
                    </a:path>
                  </a:pathLst>
                </a:custGeom>
                <a:noFill/>
                <a:ln w="9525" cap="flat" cmpd="sng">
                  <a:solidFill>
                    <a:srgbClr val="0098C7"/>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69" name="Google Shape;2669;p6"/>
                <p:cNvSpPr/>
                <p:nvPr/>
              </p:nvSpPr>
              <p:spPr>
                <a:xfrm>
                  <a:off x="1056652" y="4974093"/>
                  <a:ext cx="235508" cy="235674"/>
                </a:xfrm>
                <a:custGeom>
                  <a:avLst/>
                  <a:gdLst/>
                  <a:ahLst/>
                  <a:cxnLst/>
                  <a:rect l="l" t="t" r="r" b="b"/>
                  <a:pathLst>
                    <a:path w="235508" h="235674" extrusionOk="0">
                      <a:moveTo>
                        <a:pt x="235509" y="117837"/>
                      </a:moveTo>
                      <a:cubicBezTo>
                        <a:pt x="235509" y="182917"/>
                        <a:pt x="182788" y="235675"/>
                        <a:pt x="117754" y="235675"/>
                      </a:cubicBezTo>
                      <a:cubicBezTo>
                        <a:pt x="52720" y="235675"/>
                        <a:pt x="0" y="182917"/>
                        <a:pt x="0" y="117837"/>
                      </a:cubicBezTo>
                      <a:cubicBezTo>
                        <a:pt x="0" y="52758"/>
                        <a:pt x="52720" y="0"/>
                        <a:pt x="117754" y="0"/>
                      </a:cubicBezTo>
                      <a:cubicBezTo>
                        <a:pt x="182788" y="0"/>
                        <a:pt x="235509" y="52758"/>
                        <a:pt x="235509" y="117837"/>
                      </a:cubicBezTo>
                      <a:close/>
                    </a:path>
                  </a:pathLst>
                </a:custGeom>
                <a:noFill/>
                <a:ln w="9525" cap="flat" cmpd="sng">
                  <a:solidFill>
                    <a:srgbClr val="0098C7"/>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70" name="Google Shape;2670;p6"/>
              <p:cNvGrpSpPr/>
              <p:nvPr/>
            </p:nvGrpSpPr>
            <p:grpSpPr>
              <a:xfrm>
                <a:off x="1284575" y="4654896"/>
                <a:ext cx="333568" cy="333292"/>
                <a:chOff x="1284575" y="4654896"/>
                <a:chExt cx="333568" cy="333292"/>
              </a:xfrm>
            </p:grpSpPr>
            <p:sp>
              <p:nvSpPr>
                <p:cNvPr id="2671" name="Google Shape;2671;p6"/>
                <p:cNvSpPr/>
                <p:nvPr/>
              </p:nvSpPr>
              <p:spPr>
                <a:xfrm>
                  <a:off x="1284575" y="4654896"/>
                  <a:ext cx="333568" cy="333292"/>
                </a:xfrm>
                <a:custGeom>
                  <a:avLst/>
                  <a:gdLst/>
                  <a:ahLst/>
                  <a:cxnLst/>
                  <a:rect l="l" t="t" r="r" b="b"/>
                  <a:pathLst>
                    <a:path w="333568" h="333292" extrusionOk="0">
                      <a:moveTo>
                        <a:pt x="205775" y="333293"/>
                      </a:moveTo>
                      <a:lnTo>
                        <a:pt x="254407" y="313042"/>
                      </a:lnTo>
                      <a:cubicBezTo>
                        <a:pt x="254662" y="309502"/>
                        <a:pt x="254056" y="303156"/>
                        <a:pt x="252558" y="294131"/>
                      </a:cubicBezTo>
                      <a:cubicBezTo>
                        <a:pt x="251443" y="287370"/>
                        <a:pt x="251029" y="281917"/>
                        <a:pt x="251315" y="277930"/>
                      </a:cubicBezTo>
                      <a:cubicBezTo>
                        <a:pt x="251411" y="276686"/>
                        <a:pt x="252048" y="275570"/>
                        <a:pt x="253068" y="274869"/>
                      </a:cubicBezTo>
                      <a:cubicBezTo>
                        <a:pt x="260589" y="269734"/>
                        <a:pt x="267951" y="262654"/>
                        <a:pt x="274994" y="253789"/>
                      </a:cubicBezTo>
                      <a:cubicBezTo>
                        <a:pt x="275950" y="252609"/>
                        <a:pt x="277479" y="252035"/>
                        <a:pt x="278945" y="252354"/>
                      </a:cubicBezTo>
                      <a:cubicBezTo>
                        <a:pt x="289940" y="254554"/>
                        <a:pt x="300935" y="255989"/>
                        <a:pt x="311643" y="256595"/>
                      </a:cubicBezTo>
                      <a:lnTo>
                        <a:pt x="311993" y="256595"/>
                      </a:lnTo>
                      <a:lnTo>
                        <a:pt x="312121" y="256276"/>
                      </a:lnTo>
                      <a:cubicBezTo>
                        <a:pt x="324103" y="228403"/>
                        <a:pt x="330796" y="211565"/>
                        <a:pt x="331975" y="206175"/>
                      </a:cubicBezTo>
                      <a:lnTo>
                        <a:pt x="332070" y="205793"/>
                      </a:lnTo>
                      <a:lnTo>
                        <a:pt x="331720" y="205601"/>
                      </a:lnTo>
                      <a:cubicBezTo>
                        <a:pt x="327959" y="203433"/>
                        <a:pt x="323275" y="200148"/>
                        <a:pt x="317825" y="195875"/>
                      </a:cubicBezTo>
                      <a:cubicBezTo>
                        <a:pt x="312790" y="191952"/>
                        <a:pt x="309029" y="189018"/>
                        <a:pt x="306575" y="187168"/>
                      </a:cubicBezTo>
                      <a:cubicBezTo>
                        <a:pt x="305301" y="186212"/>
                        <a:pt x="304727" y="184585"/>
                        <a:pt x="305078" y="183022"/>
                      </a:cubicBezTo>
                      <a:cubicBezTo>
                        <a:pt x="306034" y="179068"/>
                        <a:pt x="306352" y="173742"/>
                        <a:pt x="306066" y="167173"/>
                      </a:cubicBezTo>
                      <a:cubicBezTo>
                        <a:pt x="305843" y="159710"/>
                        <a:pt x="305874" y="154161"/>
                        <a:pt x="306193" y="150589"/>
                      </a:cubicBezTo>
                      <a:cubicBezTo>
                        <a:pt x="306289" y="149314"/>
                        <a:pt x="306990" y="148166"/>
                        <a:pt x="308073" y="147496"/>
                      </a:cubicBezTo>
                      <a:cubicBezTo>
                        <a:pt x="311643" y="145296"/>
                        <a:pt x="315690" y="142361"/>
                        <a:pt x="320120" y="138822"/>
                      </a:cubicBezTo>
                      <a:cubicBezTo>
                        <a:pt x="328119" y="132443"/>
                        <a:pt x="331688" y="129765"/>
                        <a:pt x="333249" y="128616"/>
                      </a:cubicBezTo>
                      <a:lnTo>
                        <a:pt x="333568" y="128393"/>
                      </a:lnTo>
                      <a:lnTo>
                        <a:pt x="312630" y="78356"/>
                      </a:lnTo>
                      <a:cubicBezTo>
                        <a:pt x="309635" y="78930"/>
                        <a:pt x="304026" y="79664"/>
                        <a:pt x="295517" y="80589"/>
                      </a:cubicBezTo>
                      <a:cubicBezTo>
                        <a:pt x="289494" y="81163"/>
                        <a:pt x="284331" y="82024"/>
                        <a:pt x="280093" y="83108"/>
                      </a:cubicBezTo>
                      <a:cubicBezTo>
                        <a:pt x="278659" y="83491"/>
                        <a:pt x="277161" y="83044"/>
                        <a:pt x="276173" y="81960"/>
                      </a:cubicBezTo>
                      <a:cubicBezTo>
                        <a:pt x="273655" y="79313"/>
                        <a:pt x="267823" y="72871"/>
                        <a:pt x="254407" y="57659"/>
                      </a:cubicBezTo>
                      <a:cubicBezTo>
                        <a:pt x="253578" y="56734"/>
                        <a:pt x="253228" y="55459"/>
                        <a:pt x="253482" y="54247"/>
                      </a:cubicBezTo>
                      <a:cubicBezTo>
                        <a:pt x="254917" y="46784"/>
                        <a:pt x="256382" y="35941"/>
                        <a:pt x="257976" y="21080"/>
                      </a:cubicBezTo>
                      <a:lnTo>
                        <a:pt x="258040" y="20665"/>
                      </a:lnTo>
                      <a:lnTo>
                        <a:pt x="257625" y="20538"/>
                      </a:lnTo>
                      <a:cubicBezTo>
                        <a:pt x="252845" y="19167"/>
                        <a:pt x="244623" y="15914"/>
                        <a:pt x="233150" y="10907"/>
                      </a:cubicBezTo>
                      <a:cubicBezTo>
                        <a:pt x="222825" y="6123"/>
                        <a:pt x="214635" y="3317"/>
                        <a:pt x="208006" y="2232"/>
                      </a:cubicBezTo>
                      <a:lnTo>
                        <a:pt x="207751" y="2232"/>
                      </a:lnTo>
                      <a:lnTo>
                        <a:pt x="207560" y="2392"/>
                      </a:lnTo>
                      <a:cubicBezTo>
                        <a:pt x="205265" y="4688"/>
                        <a:pt x="201728" y="9185"/>
                        <a:pt x="196661" y="16105"/>
                      </a:cubicBezTo>
                      <a:cubicBezTo>
                        <a:pt x="193410" y="20857"/>
                        <a:pt x="190128" y="24747"/>
                        <a:pt x="186973" y="27554"/>
                      </a:cubicBezTo>
                      <a:cubicBezTo>
                        <a:pt x="186017" y="28383"/>
                        <a:pt x="184742" y="28734"/>
                        <a:pt x="183499" y="28511"/>
                      </a:cubicBezTo>
                      <a:cubicBezTo>
                        <a:pt x="179420" y="27681"/>
                        <a:pt x="174289" y="27394"/>
                        <a:pt x="167788" y="27586"/>
                      </a:cubicBezTo>
                      <a:cubicBezTo>
                        <a:pt x="159215" y="27841"/>
                        <a:pt x="154594" y="27905"/>
                        <a:pt x="152077" y="27905"/>
                      </a:cubicBezTo>
                      <a:cubicBezTo>
                        <a:pt x="150802" y="27905"/>
                        <a:pt x="149623" y="27299"/>
                        <a:pt x="148858" y="26310"/>
                      </a:cubicBezTo>
                      <a:cubicBezTo>
                        <a:pt x="138437" y="12501"/>
                        <a:pt x="131458" y="3763"/>
                        <a:pt x="128048" y="255"/>
                      </a:cubicBezTo>
                      <a:lnTo>
                        <a:pt x="127825" y="0"/>
                      </a:lnTo>
                      <a:lnTo>
                        <a:pt x="79161" y="20346"/>
                      </a:lnTo>
                      <a:cubicBezTo>
                        <a:pt x="79576" y="25098"/>
                        <a:pt x="80277" y="31221"/>
                        <a:pt x="81265" y="38524"/>
                      </a:cubicBezTo>
                      <a:cubicBezTo>
                        <a:pt x="82348" y="47007"/>
                        <a:pt x="82954" y="51759"/>
                        <a:pt x="83241" y="54342"/>
                      </a:cubicBezTo>
                      <a:cubicBezTo>
                        <a:pt x="83400" y="55746"/>
                        <a:pt x="82794" y="57149"/>
                        <a:pt x="81647" y="58010"/>
                      </a:cubicBezTo>
                      <a:cubicBezTo>
                        <a:pt x="77664" y="61008"/>
                        <a:pt x="70238" y="68087"/>
                        <a:pt x="58957" y="79696"/>
                      </a:cubicBezTo>
                      <a:cubicBezTo>
                        <a:pt x="57969" y="80716"/>
                        <a:pt x="56535" y="81131"/>
                        <a:pt x="55164" y="80812"/>
                      </a:cubicBezTo>
                      <a:cubicBezTo>
                        <a:pt x="46847" y="78898"/>
                        <a:pt x="35757" y="77495"/>
                        <a:pt x="22181" y="76602"/>
                      </a:cubicBezTo>
                      <a:lnTo>
                        <a:pt x="21830" y="76602"/>
                      </a:lnTo>
                      <a:lnTo>
                        <a:pt x="21702" y="76921"/>
                      </a:lnTo>
                      <a:cubicBezTo>
                        <a:pt x="9592" y="104826"/>
                        <a:pt x="2836" y="121728"/>
                        <a:pt x="1657" y="127118"/>
                      </a:cubicBezTo>
                      <a:lnTo>
                        <a:pt x="1562" y="127500"/>
                      </a:lnTo>
                      <a:lnTo>
                        <a:pt x="1944" y="127692"/>
                      </a:lnTo>
                      <a:cubicBezTo>
                        <a:pt x="6692" y="130020"/>
                        <a:pt x="15297" y="136270"/>
                        <a:pt x="27471" y="146284"/>
                      </a:cubicBezTo>
                      <a:cubicBezTo>
                        <a:pt x="28586" y="147209"/>
                        <a:pt x="29128" y="148644"/>
                        <a:pt x="28905" y="150047"/>
                      </a:cubicBezTo>
                      <a:cubicBezTo>
                        <a:pt x="28236" y="154225"/>
                        <a:pt x="27885" y="159519"/>
                        <a:pt x="27853" y="166280"/>
                      </a:cubicBezTo>
                      <a:cubicBezTo>
                        <a:pt x="27789" y="173742"/>
                        <a:pt x="27630" y="179227"/>
                        <a:pt x="27375" y="182704"/>
                      </a:cubicBezTo>
                      <a:cubicBezTo>
                        <a:pt x="27279" y="184011"/>
                        <a:pt x="26578" y="185159"/>
                        <a:pt x="25463" y="185861"/>
                      </a:cubicBezTo>
                      <a:cubicBezTo>
                        <a:pt x="21894" y="188061"/>
                        <a:pt x="17974" y="190900"/>
                        <a:pt x="13480" y="194503"/>
                      </a:cubicBezTo>
                      <a:cubicBezTo>
                        <a:pt x="6820" y="199829"/>
                        <a:pt x="2518" y="203146"/>
                        <a:pt x="351" y="204708"/>
                      </a:cubicBezTo>
                      <a:lnTo>
                        <a:pt x="0" y="204932"/>
                      </a:lnTo>
                      <a:lnTo>
                        <a:pt x="20938" y="254969"/>
                      </a:lnTo>
                      <a:cubicBezTo>
                        <a:pt x="24061" y="254363"/>
                        <a:pt x="29861" y="253597"/>
                        <a:pt x="38179" y="252736"/>
                      </a:cubicBezTo>
                      <a:cubicBezTo>
                        <a:pt x="43724" y="252067"/>
                        <a:pt x="48631" y="251237"/>
                        <a:pt x="52647" y="250345"/>
                      </a:cubicBezTo>
                      <a:cubicBezTo>
                        <a:pt x="54272" y="249994"/>
                        <a:pt x="55929" y="250663"/>
                        <a:pt x="56853" y="252003"/>
                      </a:cubicBezTo>
                      <a:cubicBezTo>
                        <a:pt x="59562" y="256021"/>
                        <a:pt x="63163" y="260231"/>
                        <a:pt x="67561" y="264504"/>
                      </a:cubicBezTo>
                      <a:cubicBezTo>
                        <a:pt x="74063" y="270659"/>
                        <a:pt x="77441" y="273944"/>
                        <a:pt x="79130" y="275666"/>
                      </a:cubicBezTo>
                      <a:cubicBezTo>
                        <a:pt x="80022" y="276559"/>
                        <a:pt x="80404" y="277803"/>
                        <a:pt x="80245" y="279046"/>
                      </a:cubicBezTo>
                      <a:cubicBezTo>
                        <a:pt x="77759" y="297288"/>
                        <a:pt x="76708" y="308259"/>
                        <a:pt x="77122" y="311703"/>
                      </a:cubicBezTo>
                      <a:lnTo>
                        <a:pt x="77122" y="311990"/>
                      </a:lnTo>
                      <a:lnTo>
                        <a:pt x="77409" y="312085"/>
                      </a:lnTo>
                      <a:cubicBezTo>
                        <a:pt x="104146" y="323566"/>
                        <a:pt x="120431" y="329944"/>
                        <a:pt x="125785" y="330965"/>
                      </a:cubicBezTo>
                      <a:lnTo>
                        <a:pt x="126040" y="330965"/>
                      </a:lnTo>
                      <a:lnTo>
                        <a:pt x="126231" y="330805"/>
                      </a:lnTo>
                      <a:cubicBezTo>
                        <a:pt x="128430" y="328509"/>
                        <a:pt x="132000" y="323949"/>
                        <a:pt x="136812" y="317284"/>
                      </a:cubicBezTo>
                      <a:cubicBezTo>
                        <a:pt x="140445" y="312341"/>
                        <a:pt x="143887" y="308354"/>
                        <a:pt x="147137" y="305388"/>
                      </a:cubicBezTo>
                      <a:cubicBezTo>
                        <a:pt x="147934" y="304655"/>
                        <a:pt x="148985" y="304272"/>
                        <a:pt x="150069" y="304368"/>
                      </a:cubicBezTo>
                      <a:cubicBezTo>
                        <a:pt x="153288" y="304559"/>
                        <a:pt x="161191" y="304846"/>
                        <a:pt x="181746" y="305388"/>
                      </a:cubicBezTo>
                      <a:cubicBezTo>
                        <a:pt x="182894" y="305420"/>
                        <a:pt x="183945" y="305931"/>
                        <a:pt x="184710" y="306791"/>
                      </a:cubicBezTo>
                      <a:cubicBezTo>
                        <a:pt x="187005" y="309470"/>
                        <a:pt x="190192" y="313680"/>
                        <a:pt x="194143" y="319261"/>
                      </a:cubicBezTo>
                      <a:cubicBezTo>
                        <a:pt x="198732" y="325830"/>
                        <a:pt x="202429" y="330327"/>
                        <a:pt x="205457" y="333038"/>
                      </a:cubicBezTo>
                      <a:lnTo>
                        <a:pt x="205712" y="333261"/>
                      </a:lnTo>
                      <a:lnTo>
                        <a:pt x="205775" y="333261"/>
                      </a:lnTo>
                      <a:close/>
                    </a:path>
                  </a:pathLst>
                </a:custGeom>
                <a:noFill/>
                <a:ln w="9525" cap="flat" cmpd="sng">
                  <a:solidFill>
                    <a:srgbClr val="0098C7"/>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72" name="Google Shape;2672;p6"/>
                <p:cNvSpPr/>
                <p:nvPr/>
              </p:nvSpPr>
              <p:spPr>
                <a:xfrm>
                  <a:off x="1348982" y="4722729"/>
                  <a:ext cx="200644" cy="200785"/>
                </a:xfrm>
                <a:custGeom>
                  <a:avLst/>
                  <a:gdLst/>
                  <a:ahLst/>
                  <a:cxnLst/>
                  <a:rect l="l" t="t" r="r" b="b"/>
                  <a:pathLst>
                    <a:path w="200644" h="200785" extrusionOk="0">
                      <a:moveTo>
                        <a:pt x="200644" y="100393"/>
                      </a:moveTo>
                      <a:cubicBezTo>
                        <a:pt x="200644" y="155838"/>
                        <a:pt x="155729" y="200786"/>
                        <a:pt x="100322" y="200786"/>
                      </a:cubicBezTo>
                      <a:cubicBezTo>
                        <a:pt x="44916" y="200786"/>
                        <a:pt x="0" y="155838"/>
                        <a:pt x="0" y="100393"/>
                      </a:cubicBezTo>
                      <a:cubicBezTo>
                        <a:pt x="0" y="44947"/>
                        <a:pt x="44916" y="0"/>
                        <a:pt x="100322" y="0"/>
                      </a:cubicBezTo>
                      <a:cubicBezTo>
                        <a:pt x="155729" y="0"/>
                        <a:pt x="200644" y="44947"/>
                        <a:pt x="200644" y="100393"/>
                      </a:cubicBezTo>
                      <a:close/>
                    </a:path>
                  </a:pathLst>
                </a:custGeom>
                <a:noFill/>
                <a:ln w="9525" cap="flat" cmpd="sng">
                  <a:solidFill>
                    <a:srgbClr val="0098C7"/>
                  </a:solidFill>
                  <a:prstDash val="solid"/>
                  <a:miter lim="8000"/>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sp>
          <p:nvSpPr>
            <p:cNvPr id="2673" name="Google Shape;2673;p6"/>
            <p:cNvSpPr/>
            <p:nvPr/>
          </p:nvSpPr>
          <p:spPr>
            <a:xfrm>
              <a:off x="7275501" y="1563804"/>
              <a:ext cx="33051" cy="33074"/>
            </a:xfrm>
            <a:custGeom>
              <a:avLst/>
              <a:gdLst/>
              <a:ahLst/>
              <a:cxnLst/>
              <a:rect l="l" t="t" r="r" b="b"/>
              <a:pathLst>
                <a:path w="85726" h="85786" extrusionOk="0">
                  <a:moveTo>
                    <a:pt x="85726" y="42893"/>
                  </a:moveTo>
                  <a:cubicBezTo>
                    <a:pt x="85726" y="66583"/>
                    <a:pt x="66536" y="85787"/>
                    <a:pt x="42863" y="85787"/>
                  </a:cubicBezTo>
                  <a:cubicBezTo>
                    <a:pt x="19191" y="85787"/>
                    <a:pt x="0" y="66583"/>
                    <a:pt x="0" y="42893"/>
                  </a:cubicBezTo>
                  <a:cubicBezTo>
                    <a:pt x="0" y="19204"/>
                    <a:pt x="19191" y="0"/>
                    <a:pt x="42863" y="0"/>
                  </a:cubicBezTo>
                  <a:cubicBezTo>
                    <a:pt x="66536" y="0"/>
                    <a:pt x="85726" y="19204"/>
                    <a:pt x="85726" y="42893"/>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74" name="Google Shape;2674;p6"/>
            <p:cNvSpPr/>
            <p:nvPr/>
          </p:nvSpPr>
          <p:spPr>
            <a:xfrm>
              <a:off x="6891775" y="1848983"/>
              <a:ext cx="17594" cy="17607"/>
            </a:xfrm>
            <a:custGeom>
              <a:avLst/>
              <a:gdLst/>
              <a:ahLst/>
              <a:cxnLst/>
              <a:rect l="l" t="t" r="r" b="b"/>
              <a:pathLst>
                <a:path w="45635" h="45667" extrusionOk="0">
                  <a:moveTo>
                    <a:pt x="45636" y="22834"/>
                  </a:moveTo>
                  <a:cubicBezTo>
                    <a:pt x="45636" y="35445"/>
                    <a:pt x="35420" y="45668"/>
                    <a:pt x="22818" y="45668"/>
                  </a:cubicBezTo>
                  <a:cubicBezTo>
                    <a:pt x="10216" y="45668"/>
                    <a:pt x="0" y="35445"/>
                    <a:pt x="0" y="22834"/>
                  </a:cubicBezTo>
                  <a:cubicBezTo>
                    <a:pt x="0" y="10223"/>
                    <a:pt x="10216" y="0"/>
                    <a:pt x="22818" y="0"/>
                  </a:cubicBezTo>
                  <a:cubicBezTo>
                    <a:pt x="35420" y="0"/>
                    <a:pt x="45636" y="10223"/>
                    <a:pt x="45636" y="22834"/>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75" name="Google Shape;2675;p6"/>
            <p:cNvSpPr/>
            <p:nvPr/>
          </p:nvSpPr>
          <p:spPr>
            <a:xfrm>
              <a:off x="7475688" y="1388657"/>
              <a:ext cx="17594" cy="17607"/>
            </a:xfrm>
            <a:custGeom>
              <a:avLst/>
              <a:gdLst/>
              <a:ahLst/>
              <a:cxnLst/>
              <a:rect l="l" t="t" r="r" b="b"/>
              <a:pathLst>
                <a:path w="45635" h="45667" extrusionOk="0">
                  <a:moveTo>
                    <a:pt x="45636" y="22834"/>
                  </a:moveTo>
                  <a:cubicBezTo>
                    <a:pt x="45636" y="35445"/>
                    <a:pt x="35420" y="45668"/>
                    <a:pt x="22818" y="45668"/>
                  </a:cubicBezTo>
                  <a:cubicBezTo>
                    <a:pt x="10216" y="45668"/>
                    <a:pt x="0" y="35445"/>
                    <a:pt x="0" y="22834"/>
                  </a:cubicBezTo>
                  <a:cubicBezTo>
                    <a:pt x="0" y="10223"/>
                    <a:pt x="10216" y="0"/>
                    <a:pt x="22818" y="0"/>
                  </a:cubicBezTo>
                  <a:cubicBezTo>
                    <a:pt x="35420" y="0"/>
                    <a:pt x="45636" y="10223"/>
                    <a:pt x="45636" y="22834"/>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76" name="Google Shape;2676;p6"/>
            <p:cNvSpPr/>
            <p:nvPr/>
          </p:nvSpPr>
          <p:spPr>
            <a:xfrm>
              <a:off x="6923229" y="1958043"/>
              <a:ext cx="17594" cy="17607"/>
            </a:xfrm>
            <a:custGeom>
              <a:avLst/>
              <a:gdLst/>
              <a:ahLst/>
              <a:cxnLst/>
              <a:rect l="l" t="t" r="r" b="b"/>
              <a:pathLst>
                <a:path w="45635" h="45667" extrusionOk="0">
                  <a:moveTo>
                    <a:pt x="45636" y="22834"/>
                  </a:moveTo>
                  <a:cubicBezTo>
                    <a:pt x="45636" y="35445"/>
                    <a:pt x="35420" y="45668"/>
                    <a:pt x="22818" y="45668"/>
                  </a:cubicBezTo>
                  <a:cubicBezTo>
                    <a:pt x="10216" y="45668"/>
                    <a:pt x="0" y="35445"/>
                    <a:pt x="0" y="22834"/>
                  </a:cubicBezTo>
                  <a:cubicBezTo>
                    <a:pt x="0" y="10223"/>
                    <a:pt x="10216" y="0"/>
                    <a:pt x="22818" y="0"/>
                  </a:cubicBezTo>
                  <a:cubicBezTo>
                    <a:pt x="35420" y="0"/>
                    <a:pt x="45636" y="10223"/>
                    <a:pt x="45636" y="22834"/>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77" name="Google Shape;2677;p6"/>
            <p:cNvSpPr/>
            <p:nvPr/>
          </p:nvSpPr>
          <p:spPr>
            <a:xfrm>
              <a:off x="7334232" y="1427399"/>
              <a:ext cx="17594" cy="17607"/>
            </a:xfrm>
            <a:custGeom>
              <a:avLst/>
              <a:gdLst/>
              <a:ahLst/>
              <a:cxnLst/>
              <a:rect l="l" t="t" r="r" b="b"/>
              <a:pathLst>
                <a:path w="45635" h="45667" extrusionOk="0">
                  <a:moveTo>
                    <a:pt x="45636" y="22834"/>
                  </a:moveTo>
                  <a:cubicBezTo>
                    <a:pt x="45636" y="35445"/>
                    <a:pt x="35420" y="45668"/>
                    <a:pt x="22818" y="45668"/>
                  </a:cubicBezTo>
                  <a:cubicBezTo>
                    <a:pt x="10216" y="45668"/>
                    <a:pt x="0" y="35445"/>
                    <a:pt x="0" y="22834"/>
                  </a:cubicBezTo>
                  <a:cubicBezTo>
                    <a:pt x="0" y="10223"/>
                    <a:pt x="10216" y="0"/>
                    <a:pt x="22818" y="0"/>
                  </a:cubicBezTo>
                  <a:cubicBezTo>
                    <a:pt x="35420" y="0"/>
                    <a:pt x="45636" y="10223"/>
                    <a:pt x="45636" y="22834"/>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78" name="Google Shape;2678;p6"/>
            <p:cNvSpPr/>
            <p:nvPr/>
          </p:nvSpPr>
          <p:spPr>
            <a:xfrm>
              <a:off x="7425792" y="1592157"/>
              <a:ext cx="17594" cy="17607"/>
            </a:xfrm>
            <a:custGeom>
              <a:avLst/>
              <a:gdLst/>
              <a:ahLst/>
              <a:cxnLst/>
              <a:rect l="l" t="t" r="r" b="b"/>
              <a:pathLst>
                <a:path w="45635" h="45667" extrusionOk="0">
                  <a:moveTo>
                    <a:pt x="45636" y="22834"/>
                  </a:moveTo>
                  <a:cubicBezTo>
                    <a:pt x="45636" y="35445"/>
                    <a:pt x="35420" y="45668"/>
                    <a:pt x="22818" y="45668"/>
                  </a:cubicBezTo>
                  <a:cubicBezTo>
                    <a:pt x="10216" y="45668"/>
                    <a:pt x="0" y="35445"/>
                    <a:pt x="0" y="22834"/>
                  </a:cubicBezTo>
                  <a:cubicBezTo>
                    <a:pt x="0" y="10223"/>
                    <a:pt x="10216" y="0"/>
                    <a:pt x="22818" y="0"/>
                  </a:cubicBezTo>
                  <a:cubicBezTo>
                    <a:pt x="35420" y="0"/>
                    <a:pt x="45636" y="10223"/>
                    <a:pt x="45636" y="22834"/>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79" name="Google Shape;2679;p6"/>
            <p:cNvGrpSpPr/>
            <p:nvPr/>
          </p:nvGrpSpPr>
          <p:grpSpPr>
            <a:xfrm>
              <a:off x="6783983" y="1476716"/>
              <a:ext cx="142624" cy="335774"/>
              <a:chOff x="1380117" y="3996315"/>
              <a:chExt cx="369930" cy="870911"/>
            </a:xfrm>
          </p:grpSpPr>
          <p:sp>
            <p:nvSpPr>
              <p:cNvPr id="2680" name="Google Shape;2680;p6"/>
              <p:cNvSpPr/>
              <p:nvPr/>
            </p:nvSpPr>
            <p:spPr>
              <a:xfrm>
                <a:off x="1635831" y="3996315"/>
                <a:ext cx="114216" cy="114297"/>
              </a:xfrm>
              <a:custGeom>
                <a:avLst/>
                <a:gdLst/>
                <a:ahLst/>
                <a:cxnLst/>
                <a:rect l="l" t="t" r="r" b="b"/>
                <a:pathLst>
                  <a:path w="114216" h="114297" extrusionOk="0">
                    <a:moveTo>
                      <a:pt x="114217" y="57149"/>
                    </a:moveTo>
                    <a:cubicBezTo>
                      <a:pt x="114217" y="88711"/>
                      <a:pt x="88649" y="114297"/>
                      <a:pt x="57108" y="114297"/>
                    </a:cubicBezTo>
                    <a:cubicBezTo>
                      <a:pt x="25568" y="114297"/>
                      <a:pt x="0" y="88711"/>
                      <a:pt x="0" y="57149"/>
                    </a:cubicBezTo>
                    <a:cubicBezTo>
                      <a:pt x="0" y="25586"/>
                      <a:pt x="25568" y="0"/>
                      <a:pt x="57108" y="0"/>
                    </a:cubicBezTo>
                    <a:cubicBezTo>
                      <a:pt x="88649" y="0"/>
                      <a:pt x="114217" y="25586"/>
                      <a:pt x="114217" y="57149"/>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81" name="Google Shape;2681;p6"/>
              <p:cNvSpPr/>
              <p:nvPr/>
            </p:nvSpPr>
            <p:spPr>
              <a:xfrm>
                <a:off x="1380117" y="4238942"/>
                <a:ext cx="138564" cy="138662"/>
              </a:xfrm>
              <a:custGeom>
                <a:avLst/>
                <a:gdLst/>
                <a:ahLst/>
                <a:cxnLst/>
                <a:rect l="l" t="t" r="r" b="b"/>
                <a:pathLst>
                  <a:path w="138564" h="138662" extrusionOk="0">
                    <a:moveTo>
                      <a:pt x="138564" y="69331"/>
                    </a:moveTo>
                    <a:cubicBezTo>
                      <a:pt x="138564" y="107622"/>
                      <a:pt x="107546" y="138662"/>
                      <a:pt x="69282" y="138662"/>
                    </a:cubicBezTo>
                    <a:cubicBezTo>
                      <a:pt x="31019" y="138662"/>
                      <a:pt x="0" y="107621"/>
                      <a:pt x="0" y="69331"/>
                    </a:cubicBezTo>
                    <a:cubicBezTo>
                      <a:pt x="0" y="31040"/>
                      <a:pt x="31019" y="0"/>
                      <a:pt x="69282" y="0"/>
                    </a:cubicBezTo>
                    <a:cubicBezTo>
                      <a:pt x="107546" y="0"/>
                      <a:pt x="138564" y="31041"/>
                      <a:pt x="138564" y="69331"/>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82" name="Google Shape;2682;p6"/>
              <p:cNvSpPr/>
              <p:nvPr/>
            </p:nvSpPr>
            <p:spPr>
              <a:xfrm>
                <a:off x="1449400" y="4377604"/>
                <a:ext cx="3186" cy="401444"/>
              </a:xfrm>
              <a:custGeom>
                <a:avLst/>
                <a:gdLst/>
                <a:ahLst/>
                <a:cxnLst/>
                <a:rect l="l" t="t" r="r" b="b"/>
                <a:pathLst>
                  <a:path w="3186" h="401444" extrusionOk="0">
                    <a:moveTo>
                      <a:pt x="0" y="401444"/>
                    </a:moveTo>
                    <a:lnTo>
                      <a:pt x="0"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83" name="Google Shape;2683;p6"/>
              <p:cNvSpPr/>
              <p:nvPr/>
            </p:nvSpPr>
            <p:spPr>
              <a:xfrm>
                <a:off x="1405325" y="4779016"/>
                <a:ext cx="88148" cy="88210"/>
              </a:xfrm>
              <a:custGeom>
                <a:avLst/>
                <a:gdLst/>
                <a:ahLst/>
                <a:cxnLst/>
                <a:rect l="l" t="t" r="r" b="b"/>
                <a:pathLst>
                  <a:path w="88148" h="88210" extrusionOk="0">
                    <a:moveTo>
                      <a:pt x="88148" y="44105"/>
                    </a:moveTo>
                    <a:cubicBezTo>
                      <a:pt x="88148" y="68464"/>
                      <a:pt x="68416" y="88211"/>
                      <a:pt x="44074" y="88211"/>
                    </a:cubicBezTo>
                    <a:cubicBezTo>
                      <a:pt x="19733" y="88211"/>
                      <a:pt x="0" y="68464"/>
                      <a:pt x="0" y="44105"/>
                    </a:cubicBezTo>
                    <a:cubicBezTo>
                      <a:pt x="0" y="19747"/>
                      <a:pt x="19733" y="0"/>
                      <a:pt x="44074" y="0"/>
                    </a:cubicBezTo>
                    <a:cubicBezTo>
                      <a:pt x="68416" y="0"/>
                      <a:pt x="88148" y="19747"/>
                      <a:pt x="88148" y="4410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84" name="Google Shape;2684;p6"/>
              <p:cNvSpPr/>
              <p:nvPr/>
            </p:nvSpPr>
            <p:spPr>
              <a:xfrm>
                <a:off x="1493474" y="4094699"/>
                <a:ext cx="159948" cy="160060"/>
              </a:xfrm>
              <a:custGeom>
                <a:avLst/>
                <a:gdLst/>
                <a:ahLst/>
                <a:cxnLst/>
                <a:rect l="l" t="t" r="r" b="b"/>
                <a:pathLst>
                  <a:path w="159948" h="160060" extrusionOk="0">
                    <a:moveTo>
                      <a:pt x="0" y="160061"/>
                    </a:moveTo>
                    <a:lnTo>
                      <a:pt x="159948"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85" name="Google Shape;2685;p6"/>
            <p:cNvGrpSpPr/>
            <p:nvPr/>
          </p:nvGrpSpPr>
          <p:grpSpPr>
            <a:xfrm>
              <a:off x="6937690" y="1475577"/>
              <a:ext cx="212353" cy="140316"/>
              <a:chOff x="1809477" y="3668101"/>
              <a:chExt cx="550789" cy="363942"/>
            </a:xfrm>
          </p:grpSpPr>
          <p:grpSp>
            <p:nvGrpSpPr>
              <p:cNvPr id="2686" name="Google Shape;2686;p6"/>
              <p:cNvGrpSpPr/>
              <p:nvPr/>
            </p:nvGrpSpPr>
            <p:grpSpPr>
              <a:xfrm>
                <a:off x="1809477" y="3668101"/>
                <a:ext cx="364101" cy="363942"/>
                <a:chOff x="1809477" y="3668101"/>
                <a:chExt cx="364101" cy="363942"/>
              </a:xfrm>
            </p:grpSpPr>
            <p:sp>
              <p:nvSpPr>
                <p:cNvPr id="2687" name="Google Shape;2687;p6"/>
                <p:cNvSpPr/>
                <p:nvPr/>
              </p:nvSpPr>
              <p:spPr>
                <a:xfrm rot="-4603200">
                  <a:off x="1840279" y="3698718"/>
                  <a:ext cx="302496" cy="302709"/>
                </a:xfrm>
                <a:custGeom>
                  <a:avLst/>
                  <a:gdLst/>
                  <a:ahLst/>
                  <a:cxnLst/>
                  <a:rect l="l" t="t" r="r" b="b"/>
                  <a:pathLst>
                    <a:path w="302496" h="302709" extrusionOk="0">
                      <a:moveTo>
                        <a:pt x="302496" y="151355"/>
                      </a:moveTo>
                      <a:cubicBezTo>
                        <a:pt x="302496" y="234946"/>
                        <a:pt x="234780" y="302709"/>
                        <a:pt x="151248" y="302709"/>
                      </a:cubicBezTo>
                      <a:cubicBezTo>
                        <a:pt x="67716" y="302709"/>
                        <a:pt x="0" y="234946"/>
                        <a:pt x="0" y="151355"/>
                      </a:cubicBezTo>
                      <a:cubicBezTo>
                        <a:pt x="0" y="67764"/>
                        <a:pt x="67716" y="0"/>
                        <a:pt x="151248" y="0"/>
                      </a:cubicBezTo>
                      <a:cubicBezTo>
                        <a:pt x="234780" y="0"/>
                        <a:pt x="302496" y="67764"/>
                        <a:pt x="302496" y="15135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88" name="Google Shape;2688;p6"/>
                <p:cNvSpPr/>
                <p:nvPr/>
              </p:nvSpPr>
              <p:spPr>
                <a:xfrm>
                  <a:off x="1991611" y="3698772"/>
                  <a:ext cx="3186" cy="29849"/>
                </a:xfrm>
                <a:custGeom>
                  <a:avLst/>
                  <a:gdLst/>
                  <a:ahLst/>
                  <a:cxnLst/>
                  <a:rect l="l" t="t" r="r" b="b"/>
                  <a:pathLst>
                    <a:path w="3186" h="29849" extrusionOk="0">
                      <a:moveTo>
                        <a:pt x="0" y="0"/>
                      </a:moveTo>
                      <a:lnTo>
                        <a:pt x="0" y="2985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89" name="Google Shape;2689;p6"/>
                <p:cNvSpPr/>
                <p:nvPr/>
              </p:nvSpPr>
              <p:spPr>
                <a:xfrm>
                  <a:off x="1939952" y="3707893"/>
                  <a:ext cx="10197" cy="28064"/>
                </a:xfrm>
                <a:custGeom>
                  <a:avLst/>
                  <a:gdLst/>
                  <a:ahLst/>
                  <a:cxnLst/>
                  <a:rect l="l" t="t" r="r" b="b"/>
                  <a:pathLst>
                    <a:path w="10197" h="28064" extrusionOk="0">
                      <a:moveTo>
                        <a:pt x="0" y="0"/>
                      </a:moveTo>
                      <a:lnTo>
                        <a:pt x="10198" y="28064"/>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90" name="Google Shape;2690;p6"/>
                <p:cNvSpPr/>
                <p:nvPr/>
              </p:nvSpPr>
              <p:spPr>
                <a:xfrm>
                  <a:off x="1894508" y="3734139"/>
                  <a:ext cx="19184" cy="22865"/>
                </a:xfrm>
                <a:custGeom>
                  <a:avLst/>
                  <a:gdLst/>
                  <a:ahLst/>
                  <a:cxnLst/>
                  <a:rect l="l" t="t" r="r" b="b"/>
                  <a:pathLst>
                    <a:path w="19184" h="22865" extrusionOk="0">
                      <a:moveTo>
                        <a:pt x="0" y="0"/>
                      </a:moveTo>
                      <a:lnTo>
                        <a:pt x="19185" y="22866"/>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691" name="Google Shape;2691;p6"/>
                <p:cNvGrpSpPr/>
                <p:nvPr/>
              </p:nvGrpSpPr>
              <p:grpSpPr>
                <a:xfrm>
                  <a:off x="1860791" y="3774354"/>
                  <a:ext cx="261672" cy="151194"/>
                  <a:chOff x="1860791" y="3774354"/>
                  <a:chExt cx="261672" cy="151194"/>
                </a:xfrm>
              </p:grpSpPr>
              <p:sp>
                <p:nvSpPr>
                  <p:cNvPr id="2692" name="Google Shape;2692;p6"/>
                  <p:cNvSpPr/>
                  <p:nvPr/>
                </p:nvSpPr>
                <p:spPr>
                  <a:xfrm>
                    <a:off x="1860791" y="3774354"/>
                    <a:ext cx="25845" cy="14924"/>
                  </a:xfrm>
                  <a:custGeom>
                    <a:avLst/>
                    <a:gdLst/>
                    <a:ahLst/>
                    <a:cxnLst/>
                    <a:rect l="l" t="t" r="r" b="b"/>
                    <a:pathLst>
                      <a:path w="25845" h="14924" extrusionOk="0">
                        <a:moveTo>
                          <a:pt x="0" y="0"/>
                        </a:moveTo>
                        <a:lnTo>
                          <a:pt x="25845" y="14925"/>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93" name="Google Shape;2693;p6"/>
                  <p:cNvSpPr/>
                  <p:nvPr/>
                </p:nvSpPr>
                <p:spPr>
                  <a:xfrm>
                    <a:off x="2096618" y="3910624"/>
                    <a:ext cx="25845" cy="14924"/>
                  </a:xfrm>
                  <a:custGeom>
                    <a:avLst/>
                    <a:gdLst/>
                    <a:ahLst/>
                    <a:cxnLst/>
                    <a:rect l="l" t="t" r="r" b="b"/>
                    <a:pathLst>
                      <a:path w="25845" h="14924" extrusionOk="0">
                        <a:moveTo>
                          <a:pt x="0" y="0"/>
                        </a:moveTo>
                        <a:lnTo>
                          <a:pt x="25845" y="14925"/>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94" name="Google Shape;2694;p6"/>
                <p:cNvGrpSpPr/>
                <p:nvPr/>
              </p:nvGrpSpPr>
              <p:grpSpPr>
                <a:xfrm>
                  <a:off x="1842849" y="3823689"/>
                  <a:ext cx="297556" cy="52524"/>
                  <a:chOff x="1842849" y="3823689"/>
                  <a:chExt cx="297556" cy="52524"/>
                </a:xfrm>
              </p:grpSpPr>
              <p:sp>
                <p:nvSpPr>
                  <p:cNvPr id="2695" name="Google Shape;2695;p6"/>
                  <p:cNvSpPr/>
                  <p:nvPr/>
                </p:nvSpPr>
                <p:spPr>
                  <a:xfrm>
                    <a:off x="1842849" y="3823689"/>
                    <a:ext cx="29382" cy="5198"/>
                  </a:xfrm>
                  <a:custGeom>
                    <a:avLst/>
                    <a:gdLst/>
                    <a:ahLst/>
                    <a:cxnLst/>
                    <a:rect l="l" t="t" r="r" b="b"/>
                    <a:pathLst>
                      <a:path w="29382" h="5198" extrusionOk="0">
                        <a:moveTo>
                          <a:pt x="0" y="0"/>
                        </a:moveTo>
                        <a:lnTo>
                          <a:pt x="29383" y="5198"/>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96" name="Google Shape;2696;p6"/>
                  <p:cNvSpPr/>
                  <p:nvPr/>
                </p:nvSpPr>
                <p:spPr>
                  <a:xfrm>
                    <a:off x="2111023" y="3871015"/>
                    <a:ext cx="29382" cy="5198"/>
                  </a:xfrm>
                  <a:custGeom>
                    <a:avLst/>
                    <a:gdLst/>
                    <a:ahLst/>
                    <a:cxnLst/>
                    <a:rect l="l" t="t" r="r" b="b"/>
                    <a:pathLst>
                      <a:path w="29382" h="5198" extrusionOk="0">
                        <a:moveTo>
                          <a:pt x="0" y="0"/>
                        </a:moveTo>
                        <a:lnTo>
                          <a:pt x="29383" y="5198"/>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697" name="Google Shape;2697;p6"/>
                <p:cNvGrpSpPr/>
                <p:nvPr/>
              </p:nvGrpSpPr>
              <p:grpSpPr>
                <a:xfrm>
                  <a:off x="1842849" y="3823689"/>
                  <a:ext cx="297556" cy="52524"/>
                  <a:chOff x="1842849" y="3823689"/>
                  <a:chExt cx="297556" cy="52524"/>
                </a:xfrm>
              </p:grpSpPr>
              <p:sp>
                <p:nvSpPr>
                  <p:cNvPr id="2698" name="Google Shape;2698;p6"/>
                  <p:cNvSpPr/>
                  <p:nvPr/>
                </p:nvSpPr>
                <p:spPr>
                  <a:xfrm>
                    <a:off x="1842849" y="3871015"/>
                    <a:ext cx="29382" cy="5198"/>
                  </a:xfrm>
                  <a:custGeom>
                    <a:avLst/>
                    <a:gdLst/>
                    <a:ahLst/>
                    <a:cxnLst/>
                    <a:rect l="l" t="t" r="r" b="b"/>
                    <a:pathLst>
                      <a:path w="29382" h="5198" extrusionOk="0">
                        <a:moveTo>
                          <a:pt x="0" y="5198"/>
                        </a:moveTo>
                        <a:lnTo>
                          <a:pt x="29383"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699" name="Google Shape;2699;p6"/>
                  <p:cNvSpPr/>
                  <p:nvPr/>
                </p:nvSpPr>
                <p:spPr>
                  <a:xfrm>
                    <a:off x="2111023" y="3823689"/>
                    <a:ext cx="29382" cy="5198"/>
                  </a:xfrm>
                  <a:custGeom>
                    <a:avLst/>
                    <a:gdLst/>
                    <a:ahLst/>
                    <a:cxnLst/>
                    <a:rect l="l" t="t" r="r" b="b"/>
                    <a:pathLst>
                      <a:path w="29382" h="5198" extrusionOk="0">
                        <a:moveTo>
                          <a:pt x="0" y="5198"/>
                        </a:moveTo>
                        <a:lnTo>
                          <a:pt x="29383"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nvGrpSpPr>
                <p:cNvPr id="2700" name="Google Shape;2700;p6"/>
                <p:cNvGrpSpPr/>
                <p:nvPr/>
              </p:nvGrpSpPr>
              <p:grpSpPr>
                <a:xfrm>
                  <a:off x="1860791" y="3774354"/>
                  <a:ext cx="261672" cy="151194"/>
                  <a:chOff x="1860791" y="3774354"/>
                  <a:chExt cx="261672" cy="151194"/>
                </a:xfrm>
              </p:grpSpPr>
              <p:sp>
                <p:nvSpPr>
                  <p:cNvPr id="2701" name="Google Shape;2701;p6"/>
                  <p:cNvSpPr/>
                  <p:nvPr/>
                </p:nvSpPr>
                <p:spPr>
                  <a:xfrm>
                    <a:off x="1860791" y="3910624"/>
                    <a:ext cx="25845" cy="14924"/>
                  </a:xfrm>
                  <a:custGeom>
                    <a:avLst/>
                    <a:gdLst/>
                    <a:ahLst/>
                    <a:cxnLst/>
                    <a:rect l="l" t="t" r="r" b="b"/>
                    <a:pathLst>
                      <a:path w="25845" h="14924" extrusionOk="0">
                        <a:moveTo>
                          <a:pt x="0" y="14925"/>
                        </a:moveTo>
                        <a:lnTo>
                          <a:pt x="25845"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02" name="Google Shape;2702;p6"/>
                  <p:cNvSpPr/>
                  <p:nvPr/>
                </p:nvSpPr>
                <p:spPr>
                  <a:xfrm>
                    <a:off x="2096618" y="3774354"/>
                    <a:ext cx="25845" cy="14924"/>
                  </a:xfrm>
                  <a:custGeom>
                    <a:avLst/>
                    <a:gdLst/>
                    <a:ahLst/>
                    <a:cxnLst/>
                    <a:rect l="l" t="t" r="r" b="b"/>
                    <a:pathLst>
                      <a:path w="25845" h="14924" extrusionOk="0">
                        <a:moveTo>
                          <a:pt x="0" y="14925"/>
                        </a:moveTo>
                        <a:lnTo>
                          <a:pt x="25845"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703" name="Google Shape;2703;p6"/>
                <p:cNvSpPr/>
                <p:nvPr/>
              </p:nvSpPr>
              <p:spPr>
                <a:xfrm>
                  <a:off x="2069562" y="3734139"/>
                  <a:ext cx="19184" cy="22865"/>
                </a:xfrm>
                <a:custGeom>
                  <a:avLst/>
                  <a:gdLst/>
                  <a:ahLst/>
                  <a:cxnLst/>
                  <a:rect l="l" t="t" r="r" b="b"/>
                  <a:pathLst>
                    <a:path w="19184" h="22865" extrusionOk="0">
                      <a:moveTo>
                        <a:pt x="0" y="22866"/>
                      </a:moveTo>
                      <a:lnTo>
                        <a:pt x="19185"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04" name="Google Shape;2704;p6"/>
                <p:cNvSpPr/>
                <p:nvPr/>
              </p:nvSpPr>
              <p:spPr>
                <a:xfrm>
                  <a:off x="2033104" y="3707893"/>
                  <a:ext cx="10197" cy="28064"/>
                </a:xfrm>
                <a:custGeom>
                  <a:avLst/>
                  <a:gdLst/>
                  <a:ahLst/>
                  <a:cxnLst/>
                  <a:rect l="l" t="t" r="r" b="b"/>
                  <a:pathLst>
                    <a:path w="10197" h="28064" extrusionOk="0">
                      <a:moveTo>
                        <a:pt x="0" y="28064"/>
                      </a:moveTo>
                      <a:lnTo>
                        <a:pt x="10198"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05" name="Google Shape;2705;p6"/>
                <p:cNvSpPr/>
                <p:nvPr/>
              </p:nvSpPr>
              <p:spPr>
                <a:xfrm>
                  <a:off x="1972936" y="3831439"/>
                  <a:ext cx="37349" cy="37376"/>
                </a:xfrm>
                <a:custGeom>
                  <a:avLst/>
                  <a:gdLst/>
                  <a:ahLst/>
                  <a:cxnLst/>
                  <a:rect l="l" t="t" r="r" b="b"/>
                  <a:pathLst>
                    <a:path w="37349" h="37376" extrusionOk="0">
                      <a:moveTo>
                        <a:pt x="37350" y="18688"/>
                      </a:moveTo>
                      <a:cubicBezTo>
                        <a:pt x="37350" y="29009"/>
                        <a:pt x="28989" y="37376"/>
                        <a:pt x="18675" y="37376"/>
                      </a:cubicBezTo>
                      <a:cubicBezTo>
                        <a:pt x="8361" y="37376"/>
                        <a:pt x="0" y="29009"/>
                        <a:pt x="0" y="18688"/>
                      </a:cubicBezTo>
                      <a:cubicBezTo>
                        <a:pt x="0" y="8367"/>
                        <a:pt x="8361" y="0"/>
                        <a:pt x="18675" y="0"/>
                      </a:cubicBezTo>
                      <a:cubicBezTo>
                        <a:pt x="28989" y="0"/>
                        <a:pt x="37350" y="8367"/>
                        <a:pt x="37350" y="18688"/>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sp>
            <p:nvSpPr>
              <p:cNvPr id="2706" name="Google Shape;2706;p6"/>
              <p:cNvSpPr/>
              <p:nvPr/>
            </p:nvSpPr>
            <p:spPr>
              <a:xfrm>
                <a:off x="2004613" y="3783762"/>
                <a:ext cx="52965" cy="52970"/>
              </a:xfrm>
              <a:custGeom>
                <a:avLst/>
                <a:gdLst/>
                <a:ahLst/>
                <a:cxnLst/>
                <a:rect l="l" t="t" r="r" b="b"/>
                <a:pathLst>
                  <a:path w="52965" h="52970" extrusionOk="0">
                    <a:moveTo>
                      <a:pt x="0" y="52971"/>
                    </a:moveTo>
                    <a:lnTo>
                      <a:pt x="52966"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nvGrpSpPr>
              <p:cNvPr id="2707" name="Google Shape;2707;p6"/>
              <p:cNvGrpSpPr/>
              <p:nvPr/>
            </p:nvGrpSpPr>
            <p:grpSpPr>
              <a:xfrm>
                <a:off x="2215583" y="3725688"/>
                <a:ext cx="144683" cy="238640"/>
                <a:chOff x="2215583" y="3725688"/>
                <a:chExt cx="144683" cy="238640"/>
              </a:xfrm>
            </p:grpSpPr>
            <p:sp>
              <p:nvSpPr>
                <p:cNvPr id="2708" name="Google Shape;2708;p6"/>
                <p:cNvSpPr/>
                <p:nvPr/>
              </p:nvSpPr>
              <p:spPr>
                <a:xfrm>
                  <a:off x="2300672" y="3725688"/>
                  <a:ext cx="59594" cy="59636"/>
                </a:xfrm>
                <a:custGeom>
                  <a:avLst/>
                  <a:gdLst/>
                  <a:ahLst/>
                  <a:cxnLst/>
                  <a:rect l="l" t="t" r="r" b="b"/>
                  <a:pathLst>
                    <a:path w="59594" h="59636" extrusionOk="0">
                      <a:moveTo>
                        <a:pt x="59594" y="29818"/>
                      </a:moveTo>
                      <a:cubicBezTo>
                        <a:pt x="59594" y="46286"/>
                        <a:pt x="46254" y="59636"/>
                        <a:pt x="29797" y="59636"/>
                      </a:cubicBezTo>
                      <a:cubicBezTo>
                        <a:pt x="13341" y="59636"/>
                        <a:pt x="0" y="46286"/>
                        <a:pt x="0" y="29818"/>
                      </a:cubicBezTo>
                      <a:cubicBezTo>
                        <a:pt x="0" y="13350"/>
                        <a:pt x="13341" y="0"/>
                        <a:pt x="29797" y="0"/>
                      </a:cubicBezTo>
                      <a:cubicBezTo>
                        <a:pt x="46254" y="0"/>
                        <a:pt x="59594" y="13350"/>
                        <a:pt x="59594" y="29818"/>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09" name="Google Shape;2709;p6"/>
                <p:cNvSpPr/>
                <p:nvPr/>
              </p:nvSpPr>
              <p:spPr>
                <a:xfrm>
                  <a:off x="2300672" y="3815174"/>
                  <a:ext cx="59594" cy="59636"/>
                </a:xfrm>
                <a:custGeom>
                  <a:avLst/>
                  <a:gdLst/>
                  <a:ahLst/>
                  <a:cxnLst/>
                  <a:rect l="l" t="t" r="r" b="b"/>
                  <a:pathLst>
                    <a:path w="59594" h="59636" extrusionOk="0">
                      <a:moveTo>
                        <a:pt x="59594" y="29818"/>
                      </a:moveTo>
                      <a:cubicBezTo>
                        <a:pt x="59594" y="46286"/>
                        <a:pt x="46254" y="59636"/>
                        <a:pt x="29797" y="59636"/>
                      </a:cubicBezTo>
                      <a:cubicBezTo>
                        <a:pt x="13341" y="59636"/>
                        <a:pt x="0" y="46286"/>
                        <a:pt x="0" y="29818"/>
                      </a:cubicBezTo>
                      <a:cubicBezTo>
                        <a:pt x="0" y="13350"/>
                        <a:pt x="13341" y="0"/>
                        <a:pt x="29797" y="0"/>
                      </a:cubicBezTo>
                      <a:cubicBezTo>
                        <a:pt x="46254" y="0"/>
                        <a:pt x="59594" y="13350"/>
                        <a:pt x="59594" y="29818"/>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0" name="Google Shape;2710;p6"/>
                <p:cNvSpPr/>
                <p:nvPr/>
              </p:nvSpPr>
              <p:spPr>
                <a:xfrm>
                  <a:off x="2215583" y="3904692"/>
                  <a:ext cx="59594" cy="59636"/>
                </a:xfrm>
                <a:custGeom>
                  <a:avLst/>
                  <a:gdLst/>
                  <a:ahLst/>
                  <a:cxnLst/>
                  <a:rect l="l" t="t" r="r" b="b"/>
                  <a:pathLst>
                    <a:path w="59594" h="59636" extrusionOk="0">
                      <a:moveTo>
                        <a:pt x="59594" y="29818"/>
                      </a:moveTo>
                      <a:cubicBezTo>
                        <a:pt x="59594" y="46286"/>
                        <a:pt x="46254" y="59636"/>
                        <a:pt x="29797" y="59636"/>
                      </a:cubicBezTo>
                      <a:cubicBezTo>
                        <a:pt x="13341" y="59636"/>
                        <a:pt x="0" y="46286"/>
                        <a:pt x="0" y="29818"/>
                      </a:cubicBezTo>
                      <a:cubicBezTo>
                        <a:pt x="0" y="13350"/>
                        <a:pt x="13341" y="0"/>
                        <a:pt x="29797" y="0"/>
                      </a:cubicBezTo>
                      <a:cubicBezTo>
                        <a:pt x="46254" y="0"/>
                        <a:pt x="59594" y="13350"/>
                        <a:pt x="59594" y="29818"/>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1" name="Google Shape;2711;p6"/>
                <p:cNvSpPr/>
                <p:nvPr/>
              </p:nvSpPr>
              <p:spPr>
                <a:xfrm>
                  <a:off x="2215583" y="3815174"/>
                  <a:ext cx="59594" cy="59636"/>
                </a:xfrm>
                <a:custGeom>
                  <a:avLst/>
                  <a:gdLst/>
                  <a:ahLst/>
                  <a:cxnLst/>
                  <a:rect l="l" t="t" r="r" b="b"/>
                  <a:pathLst>
                    <a:path w="59594" h="59636" extrusionOk="0">
                      <a:moveTo>
                        <a:pt x="59594" y="29818"/>
                      </a:moveTo>
                      <a:cubicBezTo>
                        <a:pt x="59594" y="46286"/>
                        <a:pt x="46254" y="59636"/>
                        <a:pt x="29797" y="59636"/>
                      </a:cubicBezTo>
                      <a:cubicBezTo>
                        <a:pt x="13341" y="59636"/>
                        <a:pt x="0" y="46286"/>
                        <a:pt x="0" y="29818"/>
                      </a:cubicBezTo>
                      <a:cubicBezTo>
                        <a:pt x="0" y="13350"/>
                        <a:pt x="13341" y="0"/>
                        <a:pt x="29797" y="0"/>
                      </a:cubicBezTo>
                      <a:cubicBezTo>
                        <a:pt x="46254" y="0"/>
                        <a:pt x="59594" y="13350"/>
                        <a:pt x="59594" y="29818"/>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2" name="Google Shape;2712;p6"/>
                <p:cNvSpPr/>
                <p:nvPr/>
              </p:nvSpPr>
              <p:spPr>
                <a:xfrm>
                  <a:off x="2215583" y="3725688"/>
                  <a:ext cx="59594" cy="59636"/>
                </a:xfrm>
                <a:custGeom>
                  <a:avLst/>
                  <a:gdLst/>
                  <a:ahLst/>
                  <a:cxnLst/>
                  <a:rect l="l" t="t" r="r" b="b"/>
                  <a:pathLst>
                    <a:path w="59594" h="59636" extrusionOk="0">
                      <a:moveTo>
                        <a:pt x="59594" y="29818"/>
                      </a:moveTo>
                      <a:cubicBezTo>
                        <a:pt x="59594" y="46286"/>
                        <a:pt x="46254" y="59636"/>
                        <a:pt x="29797" y="59636"/>
                      </a:cubicBezTo>
                      <a:cubicBezTo>
                        <a:pt x="13341" y="59636"/>
                        <a:pt x="0" y="46286"/>
                        <a:pt x="0" y="29818"/>
                      </a:cubicBezTo>
                      <a:cubicBezTo>
                        <a:pt x="0" y="13350"/>
                        <a:pt x="13341" y="0"/>
                        <a:pt x="29797" y="0"/>
                      </a:cubicBezTo>
                      <a:cubicBezTo>
                        <a:pt x="46254" y="0"/>
                        <a:pt x="59594" y="13350"/>
                        <a:pt x="59594" y="29818"/>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grpSp>
          <p:nvGrpSpPr>
            <p:cNvPr id="2713" name="Google Shape;2713;p6"/>
            <p:cNvGrpSpPr/>
            <p:nvPr/>
          </p:nvGrpSpPr>
          <p:grpSpPr>
            <a:xfrm>
              <a:off x="7439409" y="1317145"/>
              <a:ext cx="363588" cy="232628"/>
              <a:chOff x="2085942" y="3993604"/>
              <a:chExt cx="943053" cy="603378"/>
            </a:xfrm>
          </p:grpSpPr>
          <p:sp>
            <p:nvSpPr>
              <p:cNvPr id="2714" name="Google Shape;2714;p6"/>
              <p:cNvSpPr/>
              <p:nvPr/>
            </p:nvSpPr>
            <p:spPr>
              <a:xfrm>
                <a:off x="2914779" y="3997910"/>
                <a:ext cx="114216" cy="114297"/>
              </a:xfrm>
              <a:custGeom>
                <a:avLst/>
                <a:gdLst/>
                <a:ahLst/>
                <a:cxnLst/>
                <a:rect l="l" t="t" r="r" b="b"/>
                <a:pathLst>
                  <a:path w="114216" h="114297" extrusionOk="0">
                    <a:moveTo>
                      <a:pt x="114217" y="57149"/>
                    </a:moveTo>
                    <a:cubicBezTo>
                      <a:pt x="114217" y="88711"/>
                      <a:pt x="88648" y="114297"/>
                      <a:pt x="57108" y="114297"/>
                    </a:cubicBezTo>
                    <a:cubicBezTo>
                      <a:pt x="25568" y="114297"/>
                      <a:pt x="0" y="88711"/>
                      <a:pt x="0" y="57149"/>
                    </a:cubicBezTo>
                    <a:cubicBezTo>
                      <a:pt x="0" y="25586"/>
                      <a:pt x="25568" y="0"/>
                      <a:pt x="57108" y="0"/>
                    </a:cubicBezTo>
                    <a:cubicBezTo>
                      <a:pt x="88649" y="0"/>
                      <a:pt x="114217" y="25586"/>
                      <a:pt x="114217" y="57149"/>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5" name="Google Shape;2715;p6"/>
              <p:cNvSpPr/>
              <p:nvPr/>
            </p:nvSpPr>
            <p:spPr>
              <a:xfrm>
                <a:off x="2550331" y="3993604"/>
                <a:ext cx="138564" cy="138662"/>
              </a:xfrm>
              <a:custGeom>
                <a:avLst/>
                <a:gdLst/>
                <a:ahLst/>
                <a:cxnLst/>
                <a:rect l="l" t="t" r="r" b="b"/>
                <a:pathLst>
                  <a:path w="138564" h="138662" extrusionOk="0">
                    <a:moveTo>
                      <a:pt x="138565" y="69331"/>
                    </a:moveTo>
                    <a:cubicBezTo>
                      <a:pt x="138565" y="107622"/>
                      <a:pt x="107546" y="138662"/>
                      <a:pt x="69282" y="138662"/>
                    </a:cubicBezTo>
                    <a:cubicBezTo>
                      <a:pt x="31019" y="138662"/>
                      <a:pt x="0" y="107621"/>
                      <a:pt x="0" y="69331"/>
                    </a:cubicBezTo>
                    <a:cubicBezTo>
                      <a:pt x="0" y="31041"/>
                      <a:pt x="31019" y="0"/>
                      <a:pt x="69282" y="0"/>
                    </a:cubicBezTo>
                    <a:cubicBezTo>
                      <a:pt x="107546" y="0"/>
                      <a:pt x="138565" y="31041"/>
                      <a:pt x="138565" y="69331"/>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6" name="Google Shape;2716;p6"/>
              <p:cNvSpPr/>
              <p:nvPr/>
            </p:nvSpPr>
            <p:spPr>
              <a:xfrm>
                <a:off x="2161184" y="4111952"/>
                <a:ext cx="409447" cy="409735"/>
              </a:xfrm>
              <a:custGeom>
                <a:avLst/>
                <a:gdLst/>
                <a:ahLst/>
                <a:cxnLst/>
                <a:rect l="l" t="t" r="r" b="b"/>
                <a:pathLst>
                  <a:path w="409447" h="409735" extrusionOk="0">
                    <a:moveTo>
                      <a:pt x="0" y="409736"/>
                    </a:moveTo>
                    <a:lnTo>
                      <a:pt x="409447"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7" name="Google Shape;2717;p6"/>
              <p:cNvSpPr/>
              <p:nvPr/>
            </p:nvSpPr>
            <p:spPr>
              <a:xfrm>
                <a:off x="2085942" y="4508772"/>
                <a:ext cx="88148" cy="88210"/>
              </a:xfrm>
              <a:custGeom>
                <a:avLst/>
                <a:gdLst/>
                <a:ahLst/>
                <a:cxnLst/>
                <a:rect l="l" t="t" r="r" b="b"/>
                <a:pathLst>
                  <a:path w="88148" h="88210" extrusionOk="0">
                    <a:moveTo>
                      <a:pt x="88148" y="44105"/>
                    </a:moveTo>
                    <a:cubicBezTo>
                      <a:pt x="88148" y="68464"/>
                      <a:pt x="68416" y="88210"/>
                      <a:pt x="44074" y="88210"/>
                    </a:cubicBezTo>
                    <a:cubicBezTo>
                      <a:pt x="19733" y="88210"/>
                      <a:pt x="0" y="68464"/>
                      <a:pt x="0" y="44105"/>
                    </a:cubicBezTo>
                    <a:cubicBezTo>
                      <a:pt x="0" y="19747"/>
                      <a:pt x="19733" y="0"/>
                      <a:pt x="44074" y="0"/>
                    </a:cubicBezTo>
                    <a:cubicBezTo>
                      <a:pt x="68416" y="0"/>
                      <a:pt x="88148" y="19747"/>
                      <a:pt x="88148" y="44105"/>
                    </a:cubicBezTo>
                    <a:close/>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718" name="Google Shape;2718;p6"/>
              <p:cNvSpPr/>
              <p:nvPr/>
            </p:nvSpPr>
            <p:spPr>
              <a:xfrm>
                <a:off x="2688608" y="4056270"/>
                <a:ext cx="226202" cy="3189"/>
              </a:xfrm>
              <a:custGeom>
                <a:avLst/>
                <a:gdLst/>
                <a:ahLst/>
                <a:cxnLst/>
                <a:rect l="l" t="t" r="r" b="b"/>
                <a:pathLst>
                  <a:path w="226202" h="3189" extrusionOk="0">
                    <a:moveTo>
                      <a:pt x="0" y="0"/>
                    </a:moveTo>
                    <a:lnTo>
                      <a:pt x="226203" y="0"/>
                    </a:lnTo>
                  </a:path>
                </a:pathLst>
              </a:custGeom>
              <a:noFill/>
              <a:ln w="9525" cap="rnd" cmpd="sng">
                <a:solidFill>
                  <a:srgbClr val="0098C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gr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2861"/>
        <p:cNvGrpSpPr/>
        <p:nvPr/>
      </p:nvGrpSpPr>
      <p:grpSpPr>
        <a:xfrm>
          <a:off x="0" y="0"/>
          <a:ext cx="0" cy="0"/>
          <a:chOff x="0" y="0"/>
          <a:chExt cx="0" cy="0"/>
        </a:xfrm>
      </p:grpSpPr>
      <p:sp>
        <p:nvSpPr>
          <p:cNvPr id="2862" name="Google Shape;2862;g3d5857bf97d_1_8"/>
          <p:cNvSpPr txBox="1">
            <a:spLocks noGrp="1"/>
          </p:cNvSpPr>
          <p:nvPr>
            <p:ph type="title"/>
          </p:nvPr>
        </p:nvSpPr>
        <p:spPr>
          <a:xfrm>
            <a:off x="579809" y="412751"/>
            <a:ext cx="11001000"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dk1"/>
              </a:buClr>
              <a:buSzPts val="1100"/>
              <a:buFont typeface="Arial"/>
              <a:buNone/>
            </a:pPr>
            <a:r>
              <a:rPr lang="en-US">
                <a:solidFill>
                  <a:srgbClr val="005B84"/>
                </a:solidFill>
              </a:rPr>
              <a:t>Right-Size Every Edge Location (1, 2, or 3+ Nodes)</a:t>
            </a:r>
            <a:endParaRPr sz="2400">
              <a:solidFill>
                <a:srgbClr val="005B84"/>
              </a:solidFill>
            </a:endParaRPr>
          </a:p>
        </p:txBody>
      </p:sp>
      <p:sp>
        <p:nvSpPr>
          <p:cNvPr id="2863" name="Google Shape;2863;g3d5857bf97d_1_8"/>
          <p:cNvSpPr txBox="1"/>
          <p:nvPr/>
        </p:nvSpPr>
        <p:spPr>
          <a:xfrm>
            <a:off x="290134" y="5558029"/>
            <a:ext cx="4218000" cy="507831"/>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1800"/>
              </a:spcBef>
              <a:spcAft>
                <a:spcPts val="0"/>
              </a:spcAft>
              <a:buClr>
                <a:srgbClr val="000000"/>
              </a:buClr>
              <a:buSzPts val="900"/>
              <a:buFont typeface="Arial"/>
              <a:buNone/>
              <a:tabLst/>
              <a:defRPr/>
            </a:pPr>
            <a:r>
              <a:rPr kumimoji="0" lang="en-US" sz="900" b="0" i="1" u="none" strike="noStrike" kern="1200" cap="none" spc="0" normalizeH="0" baseline="0" noProof="0" dirty="0">
                <a:ln>
                  <a:noFill/>
                </a:ln>
                <a:solidFill>
                  <a:srgbClr val="000000"/>
                </a:solidFill>
                <a:effectLst/>
                <a:uLnTx/>
                <a:uFillTx/>
                <a:latin typeface="Arial"/>
                <a:ea typeface="Arial"/>
                <a:cs typeface="Arial"/>
                <a:sym typeface="Arial"/>
              </a:rPr>
              <a:t>All VCF Edge patterns require a minimum 10 Mbps bandwidth and can tolerate max. 100 ms latency.</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864" name="Google Shape;2864;g3d5857bf97d_1_8"/>
          <p:cNvSpPr/>
          <p:nvPr/>
        </p:nvSpPr>
        <p:spPr>
          <a:xfrm>
            <a:off x="7383037" y="2235763"/>
            <a:ext cx="4805700" cy="4176000"/>
          </a:xfrm>
          <a:prstGeom prst="round2SameRect">
            <a:avLst>
              <a:gd name="adj1" fmla="val 3259"/>
              <a:gd name="adj2" fmla="val 0"/>
            </a:avLst>
          </a:prstGeom>
          <a:gradFill>
            <a:gsLst>
              <a:gs pos="0">
                <a:srgbClr val="61A60E">
                  <a:alpha val="0"/>
                </a:srgbClr>
              </a:gs>
              <a:gs pos="52000">
                <a:srgbClr val="0098C7">
                  <a:alpha val="14901"/>
                </a:srgbClr>
              </a:gs>
              <a:gs pos="100000">
                <a:srgbClr val="0098C7">
                  <a:alpha val="0"/>
                </a:srgbClr>
              </a:gs>
            </a:gsLst>
            <a:lin ang="5400012" scaled="0"/>
          </a:gra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865" name="Google Shape;2865;g3d5857bf97d_1_8"/>
          <p:cNvSpPr txBox="1"/>
          <p:nvPr/>
        </p:nvSpPr>
        <p:spPr>
          <a:xfrm>
            <a:off x="7751686" y="1699537"/>
            <a:ext cx="3895800" cy="8466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t>Flexible Edge Topologies (1/ 2/ 3+ Node): </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endParaRPr kumimoji="0" sz="1100" b="1"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1 </a:t>
            </a:r>
            <a:r>
              <a:rPr kumimoji="0" lang="en-US" sz="1100" b="0" i="0" u="none" strike="noStrike" kern="1200" cap="none" spc="0" normalizeH="0" baseline="0" noProof="0" dirty="0">
                <a:ln>
                  <a:noFill/>
                </a:ln>
                <a:solidFill>
                  <a:srgbClr val="000000"/>
                </a:solidFill>
                <a:effectLst/>
                <a:uLnTx/>
                <a:uFillTx/>
                <a:latin typeface="Arial" panose="020B0604020202020204"/>
                <a:ea typeface="+mn-ea"/>
                <a:cs typeface="+mn-cs"/>
              </a:rPr>
              <a:t>Node</a:t>
            </a: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 Minimal footprint</a:t>
            </a:r>
            <a:r>
              <a:rPr kumimoji="0" lang="en-US" sz="1100" b="0" i="0" u="none" strike="noStrike" kern="1200" cap="none" spc="0" normalizeH="0" baseline="0" noProof="0" dirty="0">
                <a:ln>
                  <a:noFill/>
                </a:ln>
                <a:solidFill>
                  <a:srgbClr val="000000"/>
                </a:solidFill>
                <a:effectLst/>
                <a:uLnTx/>
                <a:uFillTx/>
                <a:latin typeface="Arial" panose="020B0604020202020204"/>
                <a:ea typeface="+mn-ea"/>
                <a:cs typeface="+mn-cs"/>
              </a:rPr>
              <a:t> vSphere + VKS </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2 </a:t>
            </a:r>
            <a:r>
              <a:rPr kumimoji="0" lang="en-US" sz="1100" b="0" i="0" u="none" strike="noStrike" kern="1200" cap="none" spc="0" normalizeH="0" baseline="0" noProof="0" dirty="0">
                <a:ln>
                  <a:noFill/>
                </a:ln>
                <a:solidFill>
                  <a:srgbClr val="000000"/>
                </a:solidFill>
                <a:effectLst/>
                <a:uLnTx/>
                <a:uFillTx/>
                <a:latin typeface="Arial" panose="020B0604020202020204"/>
                <a:ea typeface="+mn-ea"/>
                <a:cs typeface="+mn-cs"/>
              </a:rPr>
              <a:t>Node</a:t>
            </a: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 HA with vSAN + witness appliance or external storage </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3+ Nodes (Multi Cluster): Scalable, autonomous operations </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866" name="Google Shape;2866;g3d5857bf97d_1_8"/>
          <p:cNvSpPr txBox="1"/>
          <p:nvPr/>
        </p:nvSpPr>
        <p:spPr>
          <a:xfrm>
            <a:off x="7685013" y="3316936"/>
            <a:ext cx="4220100" cy="1877700"/>
          </a:xfrm>
          <a:prstGeom prst="rect">
            <a:avLst/>
          </a:prstGeom>
          <a:noFill/>
          <a:ln>
            <a:noFill/>
          </a:ln>
        </p:spPr>
        <p:txBody>
          <a:bodyPr spcFirstLastPara="1" wrap="square" lIns="91425" tIns="91425" rIns="91425" bIns="91425" anchor="t" anchorCtr="0">
            <a:spAutoFit/>
          </a:bodyPr>
          <a:lstStyle/>
          <a:p>
            <a:pPr marL="182563" marR="0" lvl="0" indent="-171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t>Built for Real Edge Conditions: </a:t>
            </a:r>
            <a:b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b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Operate in air gapped and disconnected environments. Resilient to WAN outages and limited connectivity.</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a:p>
            <a:pPr marL="182563" marR="0" lvl="0" indent="-10160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100" b="1" i="0" u="none" strike="noStrike" kern="1200" cap="none" spc="0" normalizeH="0" baseline="0" noProof="0" dirty="0">
              <a:ln>
                <a:noFill/>
              </a:ln>
              <a:solidFill>
                <a:srgbClr val="000000"/>
              </a:solidFill>
              <a:effectLst/>
              <a:uLnTx/>
              <a:uFillTx/>
              <a:latin typeface="Arial"/>
              <a:ea typeface="Arial"/>
              <a:cs typeface="Arial"/>
              <a:sym typeface="Arial"/>
            </a:endParaRPr>
          </a:p>
          <a:p>
            <a:pPr marL="182563" marR="0" lvl="0" indent="-171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1" i="0" u="none" strike="noStrike" kern="1200" cap="none" spc="0" normalizeH="0" baseline="0" noProof="0" dirty="0">
                <a:ln>
                  <a:noFill/>
                </a:ln>
                <a:solidFill>
                  <a:srgbClr val="000000"/>
                </a:solidFill>
                <a:effectLst/>
                <a:uLnTx/>
                <a:uFillTx/>
                <a:latin typeface="Arial" panose="020B0604020202020204"/>
                <a:ea typeface="+mn-ea"/>
                <a:cs typeface="+mn-cs"/>
              </a:rPr>
              <a:t>Operational Consistency: </a:t>
            </a:r>
            <a: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t>: </a:t>
            </a:r>
            <a:b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b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Align infrastructure to site and workload needs, from single-node to full cluster, without changing platforms.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a:p>
            <a:pPr marL="182563" marR="0" lvl="0" indent="-10160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100" b="1" i="0" u="none" strike="noStrike" kern="1200" cap="none" spc="0" normalizeH="0" baseline="0" noProof="0" dirty="0">
              <a:ln>
                <a:noFill/>
              </a:ln>
              <a:solidFill>
                <a:srgbClr val="000000"/>
              </a:solidFill>
              <a:effectLst/>
              <a:uLnTx/>
              <a:uFillTx/>
              <a:latin typeface="Arial"/>
              <a:ea typeface="Arial"/>
              <a:cs typeface="Arial"/>
              <a:sym typeface="Arial"/>
            </a:endParaRPr>
          </a:p>
          <a:p>
            <a:pPr marL="182563" marR="0" lvl="0" indent="-171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t>Hardware Agnostic: </a:t>
            </a:r>
            <a:br>
              <a:rPr kumimoji="0" lang="en-US" sz="1100" b="1" i="0" u="none" strike="noStrike" kern="1200" cap="none" spc="0" normalizeH="0" baseline="0" noProof="0" dirty="0">
                <a:ln>
                  <a:noFill/>
                </a:ln>
                <a:solidFill>
                  <a:srgbClr val="000000"/>
                </a:solidFill>
                <a:effectLst/>
                <a:uLnTx/>
                <a:uFillTx/>
                <a:latin typeface="Arial"/>
                <a:ea typeface="Arial"/>
                <a:cs typeface="Arial"/>
                <a:sym typeface="Arial"/>
              </a:rPr>
            </a:b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Certified high performance ruggedized servers for the edge </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pic>
        <p:nvPicPr>
          <p:cNvPr id="2867" name="Google Shape;2867;g3d5857bf97d_1_8"/>
          <p:cNvPicPr preferRelativeResize="0"/>
          <p:nvPr/>
        </p:nvPicPr>
        <p:blipFill rotWithShape="1">
          <a:blip r:embed="rId3">
            <a:alphaModFix amt="50000"/>
          </a:blip>
          <a:srcRect t="47732" r="1614" b="-46968"/>
          <a:stretch/>
        </p:blipFill>
        <p:spPr>
          <a:xfrm rot="-5400000">
            <a:off x="4959042" y="3351608"/>
            <a:ext cx="5152516" cy="304525"/>
          </a:xfrm>
          <a:prstGeom prst="rect">
            <a:avLst/>
          </a:prstGeom>
          <a:noFill/>
          <a:ln>
            <a:noFill/>
          </a:ln>
        </p:spPr>
      </p:pic>
      <p:sp>
        <p:nvSpPr>
          <p:cNvPr id="2868" name="Google Shape;2868;g3d5857bf97d_1_8"/>
          <p:cNvSpPr/>
          <p:nvPr/>
        </p:nvSpPr>
        <p:spPr>
          <a:xfrm>
            <a:off x="7383037" y="2762895"/>
            <a:ext cx="2005273" cy="469023"/>
          </a:xfrm>
          <a:custGeom>
            <a:avLst/>
            <a:gdLst/>
            <a:ahLst/>
            <a:cxnLst/>
            <a:rect l="l" t="t" r="r" b="b"/>
            <a:pathLst>
              <a:path w="2664814" h="623286" extrusionOk="0">
                <a:moveTo>
                  <a:pt x="0" y="0"/>
                </a:moveTo>
                <a:lnTo>
                  <a:pt x="426605" y="0"/>
                </a:lnTo>
                <a:lnTo>
                  <a:pt x="535843" y="0"/>
                </a:lnTo>
                <a:lnTo>
                  <a:pt x="685835" y="0"/>
                </a:lnTo>
                <a:lnTo>
                  <a:pt x="1617781" y="0"/>
                </a:lnTo>
                <a:lnTo>
                  <a:pt x="1774762" y="0"/>
                </a:lnTo>
                <a:lnTo>
                  <a:pt x="1877011" y="0"/>
                </a:lnTo>
                <a:lnTo>
                  <a:pt x="2390480" y="0"/>
                </a:lnTo>
                <a:lnTo>
                  <a:pt x="2499718" y="0"/>
                </a:lnTo>
                <a:lnTo>
                  <a:pt x="2649709" y="0"/>
                </a:lnTo>
                <a:cubicBezTo>
                  <a:pt x="2663135" y="0"/>
                  <a:pt x="2669867" y="16276"/>
                  <a:pt x="2660371" y="25794"/>
                </a:cubicBezTo>
                <a:lnTo>
                  <a:pt x="2108360" y="579042"/>
                </a:lnTo>
                <a:cubicBezTo>
                  <a:pt x="2080092" y="607375"/>
                  <a:pt x="2041756" y="623286"/>
                  <a:pt x="2001772" y="623286"/>
                </a:cubicBezTo>
                <a:lnTo>
                  <a:pt x="1742542" y="623286"/>
                </a:lnTo>
                <a:lnTo>
                  <a:pt x="1229074" y="623286"/>
                </a:lnTo>
                <a:lnTo>
                  <a:pt x="1229073" y="623286"/>
                </a:lnTo>
                <a:lnTo>
                  <a:pt x="969843" y="623286"/>
                </a:lnTo>
                <a:lnTo>
                  <a:pt x="37896" y="623286"/>
                </a:lnTo>
                <a:lnTo>
                  <a:pt x="0" y="623286"/>
                </a:lnTo>
                <a:close/>
              </a:path>
            </a:pathLst>
          </a:custGeom>
          <a:gradFill>
            <a:gsLst>
              <a:gs pos="0">
                <a:schemeClr val="accent3"/>
              </a:gs>
              <a:gs pos="100000">
                <a:schemeClr val="accent2"/>
              </a:gs>
            </a:gsLst>
            <a:lin ang="10800025" scaled="0"/>
          </a:gradFill>
          <a:ln>
            <a:noFill/>
          </a:ln>
        </p:spPr>
        <p:txBody>
          <a:bodyPr spcFirstLastPara="1" wrap="square" lIns="360000" tIns="0" rIns="0" bIns="0" anchor="ctr" anchorCtr="0">
            <a:noAutofit/>
          </a:bodyPr>
          <a:lstStyle/>
          <a:p>
            <a:pPr marL="0" marR="0" lvl="0" indent="0" algn="l" defTabSz="914400" rtl="0" eaLnBrk="1" fontAlgn="auto" latinLnBrk="0" hangingPunct="1">
              <a:lnSpc>
                <a:spcPct val="9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FFFFFF"/>
                </a:solidFill>
                <a:effectLst/>
                <a:uLnTx/>
                <a:uFillTx/>
                <a:latin typeface="Arial"/>
                <a:ea typeface="Arial"/>
                <a:cs typeface="Arial"/>
                <a:sym typeface="Arial"/>
              </a:rPr>
              <a:t>Benefits</a:t>
            </a: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69" name="Google Shape;2869;g3d5857bf97d_1_8"/>
          <p:cNvSpPr/>
          <p:nvPr/>
        </p:nvSpPr>
        <p:spPr>
          <a:xfrm>
            <a:off x="5010448" y="6112734"/>
            <a:ext cx="221700" cy="2217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a:ln>
                  <a:noFill/>
                </a:ln>
                <a:solidFill>
                  <a:srgbClr val="000000"/>
                </a:solidFill>
                <a:effectLst/>
                <a:uLnTx/>
                <a:uFillTx/>
                <a:latin typeface="Arial"/>
                <a:ea typeface="Arial"/>
                <a:cs typeface="Arial"/>
                <a:sym typeface="Arial"/>
              </a:rPr>
              <a:t>P</a:t>
            </a:r>
            <a:endParaRPr kumimoji="0" sz="800" b="1"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870" name="Google Shape;2870;g3d5857bf97d_1_8"/>
          <p:cNvSpPr txBox="1"/>
          <p:nvPr/>
        </p:nvSpPr>
        <p:spPr>
          <a:xfrm>
            <a:off x="5351381" y="6162084"/>
            <a:ext cx="967800" cy="1230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vSphere Pods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871" name="Google Shape;2871;g3d5857bf97d_1_8"/>
          <p:cNvSpPr txBox="1"/>
          <p:nvPr/>
        </p:nvSpPr>
        <p:spPr>
          <a:xfrm>
            <a:off x="5348077" y="5805535"/>
            <a:ext cx="1707900" cy="1230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VKS (vSphere Kubernetes Service)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872" name="Google Shape;2872;g3d5857bf97d_1_8"/>
          <p:cNvGrpSpPr/>
          <p:nvPr/>
        </p:nvGrpSpPr>
        <p:grpSpPr>
          <a:xfrm>
            <a:off x="300031" y="1841689"/>
            <a:ext cx="6830720" cy="3061470"/>
            <a:chOff x="300031" y="1446835"/>
            <a:chExt cx="6830720" cy="3061470"/>
          </a:xfrm>
        </p:grpSpPr>
        <p:sp>
          <p:nvSpPr>
            <p:cNvPr id="2873" name="Google Shape;2873;g3d5857bf97d_1_8"/>
            <p:cNvSpPr/>
            <p:nvPr/>
          </p:nvSpPr>
          <p:spPr>
            <a:xfrm>
              <a:off x="475634" y="1446835"/>
              <a:ext cx="2070900" cy="2210700"/>
            </a:xfrm>
            <a:prstGeom prst="roundRect">
              <a:avLst>
                <a:gd name="adj" fmla="val 4929"/>
              </a:avLst>
            </a:prstGeom>
            <a:solidFill>
              <a:srgbClr val="F2F2F2"/>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74" name="Google Shape;2874;g3d5857bf97d_1_8"/>
            <p:cNvSpPr/>
            <p:nvPr/>
          </p:nvSpPr>
          <p:spPr>
            <a:xfrm>
              <a:off x="2718482" y="1446835"/>
              <a:ext cx="2070900" cy="2210700"/>
            </a:xfrm>
            <a:prstGeom prst="roundRect">
              <a:avLst>
                <a:gd name="adj" fmla="val 4929"/>
              </a:avLst>
            </a:prstGeom>
            <a:solidFill>
              <a:srgbClr val="F2F2F2"/>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75" name="Google Shape;2875;g3d5857bf97d_1_8"/>
            <p:cNvSpPr/>
            <p:nvPr/>
          </p:nvSpPr>
          <p:spPr>
            <a:xfrm>
              <a:off x="4955616" y="1446835"/>
              <a:ext cx="2070900" cy="2210700"/>
            </a:xfrm>
            <a:prstGeom prst="roundRect">
              <a:avLst>
                <a:gd name="adj" fmla="val 4929"/>
              </a:avLst>
            </a:prstGeom>
            <a:solidFill>
              <a:srgbClr val="F2F2F2"/>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76" name="Google Shape;2876;g3d5857bf97d_1_8"/>
            <p:cNvSpPr/>
            <p:nvPr/>
          </p:nvSpPr>
          <p:spPr>
            <a:xfrm>
              <a:off x="971031" y="3372906"/>
              <a:ext cx="1080000" cy="284700"/>
            </a:xfrm>
            <a:prstGeom prst="round2SameRect">
              <a:avLst>
                <a:gd name="adj1" fmla="val 16667"/>
                <a:gd name="adj2" fmla="val 0"/>
              </a:avLst>
            </a:prstGeom>
            <a:solidFill>
              <a:schemeClr val="accent5"/>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77" name="Google Shape;2877;g3d5857bf97d_1_8"/>
            <p:cNvSpPr/>
            <p:nvPr/>
          </p:nvSpPr>
          <p:spPr>
            <a:xfrm>
              <a:off x="3213879" y="3372906"/>
              <a:ext cx="1080000" cy="284700"/>
            </a:xfrm>
            <a:prstGeom prst="round2SameRect">
              <a:avLst>
                <a:gd name="adj1" fmla="val 16667"/>
                <a:gd name="adj2" fmla="val 0"/>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78" name="Google Shape;2878;g3d5857bf97d_1_8"/>
            <p:cNvSpPr/>
            <p:nvPr/>
          </p:nvSpPr>
          <p:spPr>
            <a:xfrm>
              <a:off x="5451013" y="3372906"/>
              <a:ext cx="1080000" cy="284700"/>
            </a:xfrm>
            <a:prstGeom prst="round2SameRect">
              <a:avLst>
                <a:gd name="adj1" fmla="val 16667"/>
                <a:gd name="adj2" fmla="val 0"/>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879" name="Google Shape;2879;g3d5857bf97d_1_8"/>
            <p:cNvSpPr/>
            <p:nvPr/>
          </p:nvSpPr>
          <p:spPr>
            <a:xfrm>
              <a:off x="635961" y="2993443"/>
              <a:ext cx="1750200" cy="288000"/>
            </a:xfrm>
            <a:prstGeom prst="roundRect">
              <a:avLst>
                <a:gd name="adj" fmla="val 16667"/>
              </a:avLst>
            </a:prstGeom>
            <a:solidFill>
              <a:schemeClr val="lt1"/>
            </a:solidFill>
            <a:ln w="9525" cap="flat" cmpd="sng">
              <a:solidFill>
                <a:schemeClr val="accent5"/>
              </a:solidFill>
              <a:prstDash val="solid"/>
              <a:round/>
              <a:headEnd type="none" w="sm" len="sm"/>
              <a:tailEnd type="none" w="sm" len="sm"/>
            </a:ln>
            <a:effectLst>
              <a:outerShdw blurRad="76200" dist="38100" dir="2700000" algn="tl" rotWithShape="0">
                <a:schemeClr val="dk1">
                  <a:alpha val="10200"/>
                </a:schemeClr>
              </a:outerShdw>
            </a:effectLst>
          </p:spPr>
          <p:txBody>
            <a:bodyPr spcFirstLastPara="1" wrap="square" lIns="121875" tIns="60925" rIns="121875" bIns="60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0" i="0" u="none" strike="noStrike" kern="1200" cap="none" spc="0" normalizeH="0" baseline="0" noProof="0">
                  <a:ln>
                    <a:noFill/>
                  </a:ln>
                  <a:solidFill>
                    <a:srgbClr val="6C4B94"/>
                  </a:solidFill>
                  <a:effectLst/>
                  <a:uLnTx/>
                  <a:uFillTx/>
                  <a:latin typeface="Arial"/>
                  <a:ea typeface="Arial"/>
                  <a:cs typeface="Arial"/>
                  <a:sym typeface="Arial"/>
                </a:rPr>
                <a:t>ESX</a:t>
              </a:r>
              <a:endParaRPr kumimoji="0" sz="900" b="0" i="0" u="none" strike="noStrike" kern="1200" cap="none" spc="0" normalizeH="0" baseline="0" noProof="0">
                <a:ln>
                  <a:noFill/>
                </a:ln>
                <a:solidFill>
                  <a:srgbClr val="6C4B94"/>
                </a:solidFill>
                <a:effectLst/>
                <a:uLnTx/>
                <a:uFillTx/>
                <a:latin typeface="Arial"/>
                <a:ea typeface="Arial"/>
                <a:cs typeface="Arial"/>
                <a:sym typeface="Arial"/>
              </a:endParaRPr>
            </a:p>
          </p:txBody>
        </p:sp>
        <p:sp>
          <p:nvSpPr>
            <p:cNvPr id="2880" name="Google Shape;2880;g3d5857bf97d_1_8"/>
            <p:cNvSpPr/>
            <p:nvPr/>
          </p:nvSpPr>
          <p:spPr>
            <a:xfrm>
              <a:off x="635961" y="2635573"/>
              <a:ext cx="1750200" cy="288000"/>
            </a:xfrm>
            <a:prstGeom prst="roundRect">
              <a:avLst>
                <a:gd name="adj" fmla="val 16667"/>
              </a:avLst>
            </a:prstGeom>
            <a:solidFill>
              <a:schemeClr val="lt1"/>
            </a:solidFill>
            <a:ln w="9525" cap="flat" cmpd="sng">
              <a:solidFill>
                <a:schemeClr val="accent5"/>
              </a:solidFill>
              <a:prstDash val="solid"/>
              <a:round/>
              <a:headEnd type="none" w="sm" len="sm"/>
              <a:tailEnd type="none" w="sm" len="sm"/>
            </a:ln>
            <a:effectLst>
              <a:outerShdw blurRad="76200" dist="38100" dir="2700000" algn="tl" rotWithShape="0">
                <a:schemeClr val="dk1">
                  <a:alpha val="10200"/>
                </a:schemeClr>
              </a:outerShdw>
            </a:effectLst>
          </p:spPr>
          <p:txBody>
            <a:bodyPr spcFirstLastPara="1" wrap="square" lIns="121875" tIns="60925" rIns="121875" bIns="60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0" i="0" u="none" strike="noStrike" kern="1200" cap="none" spc="0" normalizeH="0" baseline="0" noProof="0">
                  <a:ln>
                    <a:noFill/>
                  </a:ln>
                  <a:solidFill>
                    <a:srgbClr val="6C4B94"/>
                  </a:solidFill>
                  <a:effectLst/>
                  <a:uLnTx/>
                  <a:uFillTx/>
                  <a:latin typeface="Arial"/>
                  <a:ea typeface="Arial"/>
                  <a:cs typeface="Arial"/>
                  <a:sym typeface="Arial"/>
                </a:rPr>
                <a:t>Supervisor </a:t>
              </a:r>
              <a:endParaRPr kumimoji="0" sz="900" b="0" i="0" u="none" strike="noStrike" kern="1200" cap="none" spc="0" normalizeH="0" baseline="0" noProof="0">
                <a:ln>
                  <a:noFill/>
                </a:ln>
                <a:solidFill>
                  <a:srgbClr val="6C4B94"/>
                </a:solidFill>
                <a:effectLst/>
                <a:uLnTx/>
                <a:uFillTx/>
                <a:latin typeface="Arial"/>
                <a:ea typeface="Arial"/>
                <a:cs typeface="Arial"/>
                <a:sym typeface="Arial"/>
              </a:endParaRPr>
            </a:p>
          </p:txBody>
        </p:sp>
        <p:grpSp>
          <p:nvGrpSpPr>
            <p:cNvPr id="2881" name="Google Shape;2881;g3d5857bf97d_1_8"/>
            <p:cNvGrpSpPr/>
            <p:nvPr/>
          </p:nvGrpSpPr>
          <p:grpSpPr>
            <a:xfrm>
              <a:off x="5560959" y="3422422"/>
              <a:ext cx="814821" cy="186093"/>
              <a:chOff x="5604668" y="3422422"/>
              <a:chExt cx="814821" cy="186093"/>
            </a:xfrm>
          </p:grpSpPr>
          <p:sp>
            <p:nvSpPr>
              <p:cNvPr id="2882" name="Google Shape;2882;g3d5857bf97d_1_8"/>
              <p:cNvSpPr txBox="1"/>
              <p:nvPr/>
            </p:nvSpPr>
            <p:spPr>
              <a:xfrm>
                <a:off x="5604668" y="3453555"/>
                <a:ext cx="807900" cy="1539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Arial"/>
                    <a:cs typeface="Arial"/>
                    <a:sym typeface="Arial"/>
                  </a:rPr>
                  <a:t>3</a:t>
                </a:r>
                <a:r>
                  <a:rPr kumimoji="0" lang="en-US" sz="1000" b="1" i="0" u="none" strike="noStrike" kern="1200" cap="none" spc="0" normalizeH="0" baseline="0" noProof="0">
                    <a:ln>
                      <a:noFill/>
                    </a:ln>
                    <a:solidFill>
                      <a:srgbClr val="FFFFFF"/>
                    </a:solidFill>
                    <a:effectLst/>
                    <a:uLnTx/>
                    <a:uFillTx/>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0"/>
                      </a:ext>
                    </a:extLst>
                  </a:rPr>
                  <a:t>+ Node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883" name="Google Shape;2883;g3d5857bf97d_1_8"/>
              <p:cNvGrpSpPr/>
              <p:nvPr/>
            </p:nvGrpSpPr>
            <p:grpSpPr>
              <a:xfrm>
                <a:off x="6232357" y="3422422"/>
                <a:ext cx="187132" cy="186093"/>
                <a:chOff x="3941844" y="3364950"/>
                <a:chExt cx="226443" cy="225185"/>
              </a:xfrm>
            </p:grpSpPr>
            <p:pic>
              <p:nvPicPr>
                <p:cNvPr id="2884" name="Google Shape;2884;g3d5857bf97d_1_8"/>
                <p:cNvPicPr preferRelativeResize="0"/>
                <p:nvPr/>
              </p:nvPicPr>
              <p:blipFill rotWithShape="1">
                <a:blip r:embed="rId4">
                  <a:alphaModFix/>
                </a:blip>
                <a:srcRect t="21353" b="43756"/>
                <a:stretch/>
              </p:blipFill>
              <p:spPr>
                <a:xfrm>
                  <a:off x="3941844" y="3511127"/>
                  <a:ext cx="226443" cy="79008"/>
                </a:xfrm>
                <a:prstGeom prst="rect">
                  <a:avLst/>
                </a:prstGeom>
                <a:noFill/>
                <a:ln>
                  <a:noFill/>
                </a:ln>
              </p:spPr>
            </p:pic>
            <p:pic>
              <p:nvPicPr>
                <p:cNvPr id="2885" name="Google Shape;2885;g3d5857bf97d_1_8"/>
                <p:cNvPicPr preferRelativeResize="0"/>
                <p:nvPr/>
              </p:nvPicPr>
              <p:blipFill rotWithShape="1">
                <a:blip r:embed="rId4">
                  <a:alphaModFix/>
                </a:blip>
                <a:srcRect t="21353" b="43756"/>
                <a:stretch/>
              </p:blipFill>
              <p:spPr>
                <a:xfrm>
                  <a:off x="3941844" y="3437975"/>
                  <a:ext cx="226443" cy="79008"/>
                </a:xfrm>
                <a:prstGeom prst="rect">
                  <a:avLst/>
                </a:prstGeom>
                <a:noFill/>
                <a:ln>
                  <a:noFill/>
                </a:ln>
              </p:spPr>
            </p:pic>
            <p:pic>
              <p:nvPicPr>
                <p:cNvPr id="2886" name="Google Shape;2886;g3d5857bf97d_1_8"/>
                <p:cNvPicPr preferRelativeResize="0"/>
                <p:nvPr/>
              </p:nvPicPr>
              <p:blipFill rotWithShape="1">
                <a:blip r:embed="rId4">
                  <a:alphaModFix/>
                </a:blip>
                <a:srcRect t="21353" b="43756"/>
                <a:stretch/>
              </p:blipFill>
              <p:spPr>
                <a:xfrm>
                  <a:off x="3941844" y="3364950"/>
                  <a:ext cx="226443" cy="79008"/>
                </a:xfrm>
                <a:prstGeom prst="rect">
                  <a:avLst/>
                </a:prstGeom>
                <a:noFill/>
                <a:ln>
                  <a:noFill/>
                </a:ln>
              </p:spPr>
            </p:pic>
          </p:grpSp>
        </p:grpSp>
        <p:grpSp>
          <p:nvGrpSpPr>
            <p:cNvPr id="2887" name="Google Shape;2887;g3d5857bf97d_1_8"/>
            <p:cNvGrpSpPr/>
            <p:nvPr/>
          </p:nvGrpSpPr>
          <p:grpSpPr>
            <a:xfrm>
              <a:off x="3372680" y="3438309"/>
              <a:ext cx="762213" cy="153900"/>
              <a:chOff x="3377626" y="3438309"/>
              <a:chExt cx="762213" cy="153900"/>
            </a:xfrm>
          </p:grpSpPr>
          <p:sp>
            <p:nvSpPr>
              <p:cNvPr id="2888" name="Google Shape;2888;g3d5857bf97d_1_8"/>
              <p:cNvSpPr txBox="1"/>
              <p:nvPr/>
            </p:nvSpPr>
            <p:spPr>
              <a:xfrm>
                <a:off x="3377626" y="3438309"/>
                <a:ext cx="426300" cy="1539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Arial"/>
                    <a:cs typeface="Arial"/>
                    <a:sym typeface="Arial"/>
                  </a:rPr>
                  <a:t>2 Node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889" name="Google Shape;2889;g3d5857bf97d_1_8"/>
              <p:cNvGrpSpPr/>
              <p:nvPr/>
            </p:nvGrpSpPr>
            <p:grpSpPr>
              <a:xfrm>
                <a:off x="3952707" y="3452546"/>
                <a:ext cx="187132" cy="125760"/>
                <a:chOff x="3941844" y="3437975"/>
                <a:chExt cx="226443" cy="152160"/>
              </a:xfrm>
            </p:grpSpPr>
            <p:pic>
              <p:nvPicPr>
                <p:cNvPr id="2890" name="Google Shape;2890;g3d5857bf97d_1_8"/>
                <p:cNvPicPr preferRelativeResize="0"/>
                <p:nvPr/>
              </p:nvPicPr>
              <p:blipFill rotWithShape="1">
                <a:blip r:embed="rId4">
                  <a:alphaModFix/>
                </a:blip>
                <a:srcRect t="21353" b="43756"/>
                <a:stretch/>
              </p:blipFill>
              <p:spPr>
                <a:xfrm>
                  <a:off x="3941844" y="3511127"/>
                  <a:ext cx="226443" cy="79008"/>
                </a:xfrm>
                <a:prstGeom prst="rect">
                  <a:avLst/>
                </a:prstGeom>
                <a:noFill/>
                <a:ln>
                  <a:noFill/>
                </a:ln>
              </p:spPr>
            </p:pic>
            <p:pic>
              <p:nvPicPr>
                <p:cNvPr id="2891" name="Google Shape;2891;g3d5857bf97d_1_8"/>
                <p:cNvPicPr preferRelativeResize="0"/>
                <p:nvPr/>
              </p:nvPicPr>
              <p:blipFill rotWithShape="1">
                <a:blip r:embed="rId4">
                  <a:alphaModFix/>
                </a:blip>
                <a:srcRect t="21353" b="43756"/>
                <a:stretch/>
              </p:blipFill>
              <p:spPr>
                <a:xfrm>
                  <a:off x="3941844" y="3437975"/>
                  <a:ext cx="226443" cy="79008"/>
                </a:xfrm>
                <a:prstGeom prst="rect">
                  <a:avLst/>
                </a:prstGeom>
                <a:noFill/>
                <a:ln>
                  <a:noFill/>
                </a:ln>
              </p:spPr>
            </p:pic>
          </p:grpSp>
        </p:grpSp>
        <p:grpSp>
          <p:nvGrpSpPr>
            <p:cNvPr id="2892" name="Google Shape;2892;g3d5857bf97d_1_8"/>
            <p:cNvGrpSpPr/>
            <p:nvPr/>
          </p:nvGrpSpPr>
          <p:grpSpPr>
            <a:xfrm>
              <a:off x="1106944" y="3438309"/>
              <a:ext cx="808174" cy="153900"/>
              <a:chOff x="1137925" y="3438309"/>
              <a:chExt cx="808174" cy="153900"/>
            </a:xfrm>
          </p:grpSpPr>
          <p:sp>
            <p:nvSpPr>
              <p:cNvPr id="2893" name="Google Shape;2893;g3d5857bf97d_1_8"/>
              <p:cNvSpPr txBox="1"/>
              <p:nvPr/>
            </p:nvSpPr>
            <p:spPr>
              <a:xfrm>
                <a:off x="1137925" y="3438309"/>
                <a:ext cx="426300" cy="1539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1" i="0" u="none" strike="noStrike" kern="1200" cap="none" spc="0" normalizeH="0" baseline="0" noProof="0">
                    <a:ln>
                      <a:noFill/>
                    </a:ln>
                    <a:solidFill>
                      <a:srgbClr val="FFFFFF"/>
                    </a:solidFill>
                    <a:effectLst/>
                    <a:uLnTx/>
                    <a:uFillTx/>
                    <a:latin typeface="Arial"/>
                    <a:ea typeface="Arial"/>
                    <a:cs typeface="Arial"/>
                    <a:sym typeface="Arial"/>
                  </a:rPr>
                  <a:t>1 Node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2894" name="Google Shape;2894;g3d5857bf97d_1_8"/>
              <p:cNvPicPr preferRelativeResize="0"/>
              <p:nvPr/>
            </p:nvPicPr>
            <p:blipFill rotWithShape="1">
              <a:blip r:embed="rId4">
                <a:alphaModFix/>
              </a:blip>
              <a:srcRect t="21353" b="43756"/>
              <a:stretch/>
            </p:blipFill>
            <p:spPr>
              <a:xfrm>
                <a:off x="1758956" y="3482605"/>
                <a:ext cx="187143" cy="65296"/>
              </a:xfrm>
              <a:prstGeom prst="rect">
                <a:avLst/>
              </a:prstGeom>
              <a:noFill/>
              <a:ln>
                <a:noFill/>
              </a:ln>
            </p:spPr>
          </p:pic>
        </p:grpSp>
        <p:sp>
          <p:nvSpPr>
            <p:cNvPr id="2895" name="Google Shape;2895;g3d5857bf97d_1_8"/>
            <p:cNvSpPr/>
            <p:nvPr/>
          </p:nvSpPr>
          <p:spPr>
            <a:xfrm>
              <a:off x="475634" y="2066536"/>
              <a:ext cx="2070900" cy="483000"/>
            </a:xfrm>
            <a:prstGeom prst="rect">
              <a:avLst/>
            </a:prstGeom>
            <a:gradFill>
              <a:gsLst>
                <a:gs pos="0">
                  <a:schemeClr val="accent2"/>
                </a:gs>
                <a:gs pos="100000">
                  <a:schemeClr val="accent5"/>
                </a:gs>
              </a:gsLst>
              <a:lin ang="20399934" scaled="0"/>
            </a:gra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t>Unified Platform for </a:t>
              </a:r>
              <a:b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br>
              <a: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t>Edge Workloads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896" name="Google Shape;2896;g3d5857bf97d_1_8"/>
            <p:cNvSpPr/>
            <p:nvPr/>
          </p:nvSpPr>
          <p:spPr>
            <a:xfrm>
              <a:off x="2718482" y="2066536"/>
              <a:ext cx="2070900" cy="483000"/>
            </a:xfrm>
            <a:prstGeom prst="rect">
              <a:avLst/>
            </a:prstGeom>
            <a:gradFill>
              <a:gsLst>
                <a:gs pos="0">
                  <a:schemeClr val="accent2"/>
                </a:gs>
                <a:gs pos="100000">
                  <a:schemeClr val="accent3"/>
                </a:gs>
              </a:gsLst>
              <a:lin ang="20399934" scaled="0"/>
            </a:gra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t>Unified Platform for </a:t>
              </a:r>
              <a:b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br>
              <a: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t>Edge Workloads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897" name="Google Shape;2897;g3d5857bf97d_1_8"/>
            <p:cNvSpPr/>
            <p:nvPr/>
          </p:nvSpPr>
          <p:spPr>
            <a:xfrm>
              <a:off x="4955616" y="2066536"/>
              <a:ext cx="2070900" cy="483000"/>
            </a:xfrm>
            <a:prstGeom prst="rect">
              <a:avLst/>
            </a:prstGeom>
            <a:gradFill>
              <a:gsLst>
                <a:gs pos="0">
                  <a:schemeClr val="accent2"/>
                </a:gs>
                <a:gs pos="99000">
                  <a:schemeClr val="accent4"/>
                </a:gs>
                <a:gs pos="100000">
                  <a:schemeClr val="accent4"/>
                </a:gs>
              </a:gsLst>
              <a:lin ang="20399934" scaled="0"/>
            </a:gra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t>Unified Platform for </a:t>
              </a:r>
              <a:b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br>
              <a:r>
                <a:rPr kumimoji="0" lang="en-US" sz="1000" b="1" i="0" u="none" strike="noStrike" kern="1200" cap="none" spc="0" normalizeH="0" baseline="0" noProof="0" dirty="0">
                  <a:ln>
                    <a:noFill/>
                  </a:ln>
                  <a:solidFill>
                    <a:srgbClr val="FFFFFF"/>
                  </a:solidFill>
                  <a:effectLst/>
                  <a:uLnTx/>
                  <a:uFillTx/>
                  <a:latin typeface="Arial"/>
                  <a:ea typeface="Arial"/>
                  <a:cs typeface="Arial"/>
                  <a:sym typeface="Arial"/>
                </a:rPr>
                <a:t>Edge Workloads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898" name="Google Shape;2898;g3d5857bf97d_1_8"/>
            <p:cNvSpPr/>
            <p:nvPr/>
          </p:nvSpPr>
          <p:spPr>
            <a:xfrm>
              <a:off x="2878809" y="2993443"/>
              <a:ext cx="1750200" cy="288000"/>
            </a:xfrm>
            <a:prstGeom prst="roundRect">
              <a:avLst>
                <a:gd name="adj" fmla="val 16667"/>
              </a:avLst>
            </a:prstGeom>
            <a:solidFill>
              <a:schemeClr val="lt1"/>
            </a:solidFill>
            <a:ln w="9525" cap="flat" cmpd="sng">
              <a:solidFill>
                <a:schemeClr val="accent3"/>
              </a:solidFill>
              <a:prstDash val="solid"/>
              <a:round/>
              <a:headEnd type="none" w="sm" len="sm"/>
              <a:tailEnd type="none" w="sm" len="sm"/>
            </a:ln>
            <a:effectLst>
              <a:outerShdw blurRad="76200" dist="38100" dir="2700000" algn="tl" rotWithShape="0">
                <a:schemeClr val="dk1">
                  <a:alpha val="10200"/>
                </a:schemeClr>
              </a:outerShdw>
            </a:effectLst>
          </p:spPr>
          <p:txBody>
            <a:bodyPr spcFirstLastPara="1" wrap="square" lIns="121875" tIns="60925" rIns="121875" bIns="60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0" i="0" u="none" strike="noStrike" kern="1200" cap="none" spc="0" normalizeH="0" baseline="0" noProof="0">
                  <a:ln>
                    <a:noFill/>
                  </a:ln>
                  <a:solidFill>
                    <a:srgbClr val="0098C7"/>
                  </a:solidFill>
                  <a:effectLst/>
                  <a:uLnTx/>
                  <a:uFillTx/>
                  <a:latin typeface="Arial"/>
                  <a:ea typeface="Arial"/>
                  <a:cs typeface="Arial"/>
                  <a:sym typeface="Arial"/>
                </a:rPr>
                <a:t>ESX</a:t>
              </a:r>
              <a:endParaRPr kumimoji="0" sz="900" b="0" i="0" u="none" strike="noStrike" kern="1200" cap="none" spc="0" normalizeH="0" baseline="0" noProof="0">
                <a:ln>
                  <a:noFill/>
                </a:ln>
                <a:solidFill>
                  <a:srgbClr val="0098C7"/>
                </a:solidFill>
                <a:effectLst/>
                <a:uLnTx/>
                <a:uFillTx/>
                <a:latin typeface="Arial"/>
                <a:ea typeface="Arial"/>
                <a:cs typeface="Arial"/>
                <a:sym typeface="Arial"/>
              </a:endParaRPr>
            </a:p>
          </p:txBody>
        </p:sp>
        <p:sp>
          <p:nvSpPr>
            <p:cNvPr id="2899" name="Google Shape;2899;g3d5857bf97d_1_8"/>
            <p:cNvSpPr/>
            <p:nvPr/>
          </p:nvSpPr>
          <p:spPr>
            <a:xfrm>
              <a:off x="2878809" y="2635573"/>
              <a:ext cx="1750200" cy="288000"/>
            </a:xfrm>
            <a:prstGeom prst="roundRect">
              <a:avLst>
                <a:gd name="adj" fmla="val 16667"/>
              </a:avLst>
            </a:prstGeom>
            <a:solidFill>
              <a:schemeClr val="lt1"/>
            </a:solidFill>
            <a:ln w="9525" cap="flat" cmpd="sng">
              <a:solidFill>
                <a:schemeClr val="accent3"/>
              </a:solidFill>
              <a:prstDash val="solid"/>
              <a:round/>
              <a:headEnd type="none" w="sm" len="sm"/>
              <a:tailEnd type="none" w="sm" len="sm"/>
            </a:ln>
            <a:effectLst>
              <a:outerShdw blurRad="76200" dist="38100" dir="2700000" algn="tl" rotWithShape="0">
                <a:schemeClr val="dk1">
                  <a:alpha val="10200"/>
                </a:schemeClr>
              </a:outerShdw>
            </a:effectLst>
          </p:spPr>
          <p:txBody>
            <a:bodyPr spcFirstLastPara="1" wrap="square" lIns="121875" tIns="60925" rIns="121875" bIns="60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0" i="0" u="none" strike="noStrike" kern="1200" cap="none" spc="0" normalizeH="0" baseline="0" noProof="0">
                  <a:ln>
                    <a:noFill/>
                  </a:ln>
                  <a:solidFill>
                    <a:srgbClr val="0098C7"/>
                  </a:solidFill>
                  <a:effectLst/>
                  <a:uLnTx/>
                  <a:uFillTx/>
                  <a:latin typeface="Arial"/>
                  <a:ea typeface="Arial"/>
                  <a:cs typeface="Arial"/>
                  <a:sym typeface="Arial"/>
                </a:rPr>
                <a:t>Supervisor </a:t>
              </a:r>
              <a:endParaRPr kumimoji="0" sz="900" b="0" i="0" u="none" strike="noStrike" kern="1200" cap="none" spc="0" normalizeH="0" baseline="0" noProof="0">
                <a:ln>
                  <a:noFill/>
                </a:ln>
                <a:solidFill>
                  <a:srgbClr val="0098C7"/>
                </a:solidFill>
                <a:effectLst/>
                <a:uLnTx/>
                <a:uFillTx/>
                <a:latin typeface="Arial"/>
                <a:ea typeface="Arial"/>
                <a:cs typeface="Arial"/>
                <a:sym typeface="Arial"/>
              </a:endParaRPr>
            </a:p>
          </p:txBody>
        </p:sp>
        <p:sp>
          <p:nvSpPr>
            <p:cNvPr id="2900" name="Google Shape;2900;g3d5857bf97d_1_8"/>
            <p:cNvSpPr/>
            <p:nvPr/>
          </p:nvSpPr>
          <p:spPr>
            <a:xfrm>
              <a:off x="5115943" y="2993443"/>
              <a:ext cx="1750200" cy="288000"/>
            </a:xfrm>
            <a:prstGeom prst="roundRect">
              <a:avLst>
                <a:gd name="adj" fmla="val 16667"/>
              </a:avLst>
            </a:prstGeom>
            <a:solidFill>
              <a:schemeClr val="lt1"/>
            </a:solidFill>
            <a:ln w="9525" cap="flat" cmpd="sng">
              <a:solidFill>
                <a:schemeClr val="accent4"/>
              </a:solidFill>
              <a:prstDash val="solid"/>
              <a:round/>
              <a:headEnd type="none" w="sm" len="sm"/>
              <a:tailEnd type="none" w="sm" len="sm"/>
            </a:ln>
            <a:effectLst>
              <a:outerShdw blurRad="76200" dist="38100" dir="2700000" algn="tl" rotWithShape="0">
                <a:schemeClr val="dk1">
                  <a:alpha val="10200"/>
                </a:schemeClr>
              </a:outerShdw>
            </a:effectLst>
          </p:spPr>
          <p:txBody>
            <a:bodyPr spcFirstLastPara="1" wrap="square" lIns="121875" tIns="60925" rIns="121875" bIns="60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0" i="0" u="none" strike="noStrike" kern="1200" cap="none" spc="0" normalizeH="0" baseline="0" noProof="0">
                  <a:ln>
                    <a:noFill/>
                  </a:ln>
                  <a:solidFill>
                    <a:srgbClr val="61A60E"/>
                  </a:solidFill>
                  <a:effectLst/>
                  <a:uLnTx/>
                  <a:uFillTx/>
                  <a:latin typeface="Arial"/>
                  <a:ea typeface="Arial"/>
                  <a:cs typeface="Arial"/>
                  <a:sym typeface="Arial"/>
                </a:rPr>
                <a:t>ESX</a:t>
              </a:r>
              <a:endParaRPr kumimoji="0" sz="900" b="0" i="0" u="none" strike="noStrike" kern="1200" cap="none" spc="0" normalizeH="0" baseline="0" noProof="0">
                <a:ln>
                  <a:noFill/>
                </a:ln>
                <a:solidFill>
                  <a:srgbClr val="61A60E"/>
                </a:solidFill>
                <a:effectLst/>
                <a:uLnTx/>
                <a:uFillTx/>
                <a:latin typeface="Arial"/>
                <a:ea typeface="Arial"/>
                <a:cs typeface="Arial"/>
                <a:sym typeface="Arial"/>
              </a:endParaRPr>
            </a:p>
          </p:txBody>
        </p:sp>
        <p:sp>
          <p:nvSpPr>
            <p:cNvPr id="2901" name="Google Shape;2901;g3d5857bf97d_1_8"/>
            <p:cNvSpPr/>
            <p:nvPr/>
          </p:nvSpPr>
          <p:spPr>
            <a:xfrm>
              <a:off x="5115943" y="2635573"/>
              <a:ext cx="1750200" cy="288000"/>
            </a:xfrm>
            <a:prstGeom prst="roundRect">
              <a:avLst>
                <a:gd name="adj" fmla="val 16667"/>
              </a:avLst>
            </a:prstGeom>
            <a:solidFill>
              <a:schemeClr val="lt1"/>
            </a:solidFill>
            <a:ln w="9525" cap="flat" cmpd="sng">
              <a:solidFill>
                <a:schemeClr val="accent4"/>
              </a:solidFill>
              <a:prstDash val="solid"/>
              <a:round/>
              <a:headEnd type="none" w="sm" len="sm"/>
              <a:tailEnd type="none" w="sm" len="sm"/>
            </a:ln>
            <a:effectLst>
              <a:outerShdw blurRad="76200" dist="38100" dir="2700000" algn="tl" rotWithShape="0">
                <a:schemeClr val="dk1">
                  <a:alpha val="10200"/>
                </a:schemeClr>
              </a:outerShdw>
            </a:effectLst>
          </p:spPr>
          <p:txBody>
            <a:bodyPr spcFirstLastPara="1" wrap="square" lIns="121875" tIns="60925" rIns="121875" bIns="60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0" i="0" u="none" strike="noStrike" kern="1200" cap="none" spc="0" normalizeH="0" baseline="0" noProof="0">
                  <a:ln>
                    <a:noFill/>
                  </a:ln>
                  <a:solidFill>
                    <a:srgbClr val="61A60E"/>
                  </a:solidFill>
                  <a:effectLst/>
                  <a:uLnTx/>
                  <a:uFillTx/>
                  <a:latin typeface="Arial"/>
                  <a:ea typeface="Arial"/>
                  <a:cs typeface="Arial"/>
                  <a:sym typeface="Arial"/>
                </a:rPr>
                <a:t>Supervisor </a:t>
              </a:r>
              <a:endParaRPr kumimoji="0" sz="900" b="0" i="0" u="none" strike="noStrike" kern="1200" cap="none" spc="0" normalizeH="0" baseline="0" noProof="0">
                <a:ln>
                  <a:noFill/>
                </a:ln>
                <a:solidFill>
                  <a:srgbClr val="61A60E"/>
                </a:solidFill>
                <a:effectLst/>
                <a:uLnTx/>
                <a:uFillTx/>
                <a:latin typeface="Arial"/>
                <a:ea typeface="Arial"/>
                <a:cs typeface="Arial"/>
                <a:sym typeface="Arial"/>
              </a:endParaRPr>
            </a:p>
          </p:txBody>
        </p:sp>
        <p:sp>
          <p:nvSpPr>
            <p:cNvPr id="2902" name="Google Shape;2902;g3d5857bf97d_1_8"/>
            <p:cNvSpPr/>
            <p:nvPr/>
          </p:nvSpPr>
          <p:spPr>
            <a:xfrm>
              <a:off x="1954088"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100" b="0" i="0" u="none" strike="noStrike" kern="1200" cap="none" spc="0" normalizeH="0" baseline="0" noProof="0">
                <a:ln>
                  <a:noFill/>
                </a:ln>
                <a:solidFill>
                  <a:srgbClr val="000000"/>
                </a:solidFill>
                <a:effectLst/>
                <a:uLnTx/>
                <a:uFillTx/>
                <a:latin typeface="Roboto"/>
                <a:ea typeface="Roboto"/>
                <a:cs typeface="Roboto"/>
                <a:sym typeface="Roboto"/>
              </a:endParaRPr>
            </a:p>
          </p:txBody>
        </p:sp>
        <p:sp>
          <p:nvSpPr>
            <p:cNvPr id="2903" name="Google Shape;2903;g3d5857bf97d_1_8"/>
            <p:cNvSpPr/>
            <p:nvPr/>
          </p:nvSpPr>
          <p:spPr>
            <a:xfrm>
              <a:off x="1293226"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Arial"/>
                  <a:ea typeface="Arial"/>
                  <a:cs typeface="Arial"/>
                  <a:sym typeface="Arial"/>
                </a:rPr>
                <a:t>P</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904" name="Google Shape;2904;g3d5857bf97d_1_8"/>
            <p:cNvSpPr/>
            <p:nvPr/>
          </p:nvSpPr>
          <p:spPr>
            <a:xfrm>
              <a:off x="632364"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Arial"/>
                  <a:ea typeface="Arial"/>
                  <a:cs typeface="Arial"/>
                  <a:sym typeface="Arial"/>
                </a:rPr>
                <a:t>VM</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905" name="Google Shape;2905;g3d5857bf97d_1_8"/>
            <p:cNvSpPr/>
            <p:nvPr/>
          </p:nvSpPr>
          <p:spPr>
            <a:xfrm>
              <a:off x="4198525"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100" b="0" i="0" u="none" strike="noStrike" kern="1200" cap="none" spc="0" normalizeH="0" baseline="0" noProof="0">
                <a:ln>
                  <a:noFill/>
                </a:ln>
                <a:solidFill>
                  <a:srgbClr val="000000"/>
                </a:solidFill>
                <a:effectLst/>
                <a:uLnTx/>
                <a:uFillTx/>
                <a:latin typeface="Roboto"/>
                <a:ea typeface="Roboto"/>
                <a:cs typeface="Roboto"/>
                <a:sym typeface="Roboto"/>
              </a:endParaRPr>
            </a:p>
          </p:txBody>
        </p:sp>
        <p:sp>
          <p:nvSpPr>
            <p:cNvPr id="2906" name="Google Shape;2906;g3d5857bf97d_1_8"/>
            <p:cNvSpPr/>
            <p:nvPr/>
          </p:nvSpPr>
          <p:spPr>
            <a:xfrm>
              <a:off x="3537663"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Arial"/>
                  <a:ea typeface="Arial"/>
                  <a:cs typeface="Arial"/>
                  <a:sym typeface="Arial"/>
                </a:rPr>
                <a:t>P</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907" name="Google Shape;2907;g3d5857bf97d_1_8"/>
            <p:cNvSpPr/>
            <p:nvPr/>
          </p:nvSpPr>
          <p:spPr>
            <a:xfrm>
              <a:off x="2876801"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Arial"/>
                  <a:ea typeface="Arial"/>
                  <a:cs typeface="Arial"/>
                  <a:sym typeface="Arial"/>
                </a:rPr>
                <a:t>VM</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908" name="Google Shape;2908;g3d5857bf97d_1_8"/>
            <p:cNvSpPr/>
            <p:nvPr/>
          </p:nvSpPr>
          <p:spPr>
            <a:xfrm>
              <a:off x="5777943"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Arial"/>
                  <a:ea typeface="Arial"/>
                  <a:cs typeface="Arial"/>
                  <a:sym typeface="Arial"/>
                </a:rPr>
                <a:t>P</a:t>
              </a:r>
              <a:endParaRPr kumimoji="0" sz="1100" b="1"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909" name="Google Shape;2909;g3d5857bf97d_1_8"/>
            <p:cNvSpPr/>
            <p:nvPr/>
          </p:nvSpPr>
          <p:spPr>
            <a:xfrm>
              <a:off x="5117081"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Arial"/>
                  <a:ea typeface="Arial"/>
                  <a:cs typeface="Arial"/>
                  <a:sym typeface="Arial"/>
                </a:rPr>
                <a:t>VM</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910" name="Google Shape;2910;g3d5857bf97d_1_8"/>
            <p:cNvGrpSpPr/>
            <p:nvPr/>
          </p:nvGrpSpPr>
          <p:grpSpPr>
            <a:xfrm>
              <a:off x="300031" y="3855637"/>
              <a:ext cx="6830720" cy="652668"/>
              <a:chOff x="600896" y="4417299"/>
              <a:chExt cx="11003093" cy="1051164"/>
            </a:xfrm>
          </p:grpSpPr>
          <p:sp>
            <p:nvSpPr>
              <p:cNvPr id="2911" name="Google Shape;2911;g3d5857bf97d_1_8"/>
              <p:cNvSpPr/>
              <p:nvPr/>
            </p:nvSpPr>
            <p:spPr>
              <a:xfrm>
                <a:off x="600896" y="4417299"/>
                <a:ext cx="11003093" cy="1051164"/>
              </a:xfrm>
              <a:custGeom>
                <a:avLst/>
                <a:gdLst/>
                <a:ahLst/>
                <a:cxnLst/>
                <a:rect l="l" t="t" r="r" b="b"/>
                <a:pathLst>
                  <a:path w="11003093" h="1051164" extrusionOk="0">
                    <a:moveTo>
                      <a:pt x="10603151" y="1051164"/>
                    </a:moveTo>
                    <a:lnTo>
                      <a:pt x="8986109" y="1051164"/>
                    </a:lnTo>
                    <a:lnTo>
                      <a:pt x="8665860" y="1051164"/>
                    </a:lnTo>
                    <a:lnTo>
                      <a:pt x="2337232" y="1051164"/>
                    </a:lnTo>
                    <a:lnTo>
                      <a:pt x="2016983" y="1051164"/>
                    </a:lnTo>
                    <a:lnTo>
                      <a:pt x="399942" y="1051164"/>
                    </a:lnTo>
                    <a:cubicBezTo>
                      <a:pt x="372393" y="1051164"/>
                      <a:pt x="346555" y="1037879"/>
                      <a:pt x="330581" y="1015465"/>
                    </a:cubicBezTo>
                    <a:lnTo>
                      <a:pt x="15892" y="575178"/>
                    </a:lnTo>
                    <a:cubicBezTo>
                      <a:pt x="-5298" y="545510"/>
                      <a:pt x="-5298" y="505654"/>
                      <a:pt x="15892" y="475987"/>
                    </a:cubicBezTo>
                    <a:lnTo>
                      <a:pt x="330581" y="35699"/>
                    </a:lnTo>
                    <a:cubicBezTo>
                      <a:pt x="346555" y="13286"/>
                      <a:pt x="372474" y="0"/>
                      <a:pt x="399942" y="0"/>
                    </a:cubicBezTo>
                    <a:lnTo>
                      <a:pt x="2016983" y="0"/>
                    </a:lnTo>
                    <a:lnTo>
                      <a:pt x="2337232" y="0"/>
                    </a:lnTo>
                    <a:lnTo>
                      <a:pt x="8665860" y="0"/>
                    </a:lnTo>
                    <a:lnTo>
                      <a:pt x="8986109" y="0"/>
                    </a:lnTo>
                    <a:lnTo>
                      <a:pt x="10603151" y="0"/>
                    </a:lnTo>
                    <a:cubicBezTo>
                      <a:pt x="10630700" y="0"/>
                      <a:pt x="10656538" y="13285"/>
                      <a:pt x="10672512" y="35699"/>
                    </a:cubicBezTo>
                    <a:lnTo>
                      <a:pt x="10987201" y="475986"/>
                    </a:lnTo>
                    <a:cubicBezTo>
                      <a:pt x="11008391" y="505654"/>
                      <a:pt x="11008391" y="545510"/>
                      <a:pt x="10987201" y="575177"/>
                    </a:cubicBezTo>
                    <a:lnTo>
                      <a:pt x="10672512" y="1015465"/>
                    </a:lnTo>
                    <a:cubicBezTo>
                      <a:pt x="10656538" y="1037878"/>
                      <a:pt x="10630619" y="1051164"/>
                      <a:pt x="10603151" y="1051164"/>
                    </a:cubicBezTo>
                    <a:close/>
                  </a:path>
                </a:pathLst>
              </a:custGeom>
              <a:gradFill>
                <a:gsLst>
                  <a:gs pos="0">
                    <a:schemeClr val="accent5"/>
                  </a:gs>
                  <a:gs pos="51000">
                    <a:schemeClr val="accent3"/>
                  </a:gs>
                  <a:gs pos="100000">
                    <a:schemeClr val="accent4"/>
                  </a:gs>
                </a:gsLst>
                <a:lin ang="0" scaled="0"/>
              </a:gradFill>
              <a:ln>
                <a:noFill/>
              </a:ln>
              <a:effectLst>
                <a:reflection stA="11000" endPos="39000" dist="12700" dir="5400000" fadeDir="5400012" sy="-100000" algn="bl" rotWithShape="0"/>
              </a:effectLst>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77"/>
                  <a:buFont typeface="Arial"/>
                  <a:buNone/>
                  <a:tabLst/>
                  <a:defRPr/>
                </a:pPr>
                <a:endParaRPr kumimoji="0" sz="1777" b="0" i="0" u="none" strike="noStrike" kern="1200" cap="none" spc="0" normalizeH="0" baseline="0" noProof="0">
                  <a:ln>
                    <a:noFill/>
                  </a:ln>
                  <a:solidFill>
                    <a:srgbClr val="F2F2F2"/>
                  </a:solidFill>
                  <a:effectLst/>
                  <a:uLnTx/>
                  <a:uFillTx/>
                  <a:latin typeface="Arial"/>
                  <a:ea typeface="Arial"/>
                  <a:cs typeface="Arial"/>
                  <a:sym typeface="Arial"/>
                </a:endParaRPr>
              </a:p>
            </p:txBody>
          </p:sp>
          <p:sp>
            <p:nvSpPr>
              <p:cNvPr id="2912" name="Google Shape;2912;g3d5857bf97d_1_8"/>
              <p:cNvSpPr/>
              <p:nvPr/>
            </p:nvSpPr>
            <p:spPr>
              <a:xfrm>
                <a:off x="694543" y="4489744"/>
                <a:ext cx="10797068" cy="906009"/>
              </a:xfrm>
              <a:custGeom>
                <a:avLst/>
                <a:gdLst/>
                <a:ahLst/>
                <a:cxnLst/>
                <a:rect l="l" t="t" r="r" b="b"/>
                <a:pathLst>
                  <a:path w="10663771" h="894824" extrusionOk="0">
                    <a:moveTo>
                      <a:pt x="340459" y="0"/>
                    </a:moveTo>
                    <a:lnTo>
                      <a:pt x="1637631" y="0"/>
                    </a:lnTo>
                    <a:lnTo>
                      <a:pt x="1716997" y="0"/>
                    </a:lnTo>
                    <a:lnTo>
                      <a:pt x="1989615" y="0"/>
                    </a:lnTo>
                    <a:lnTo>
                      <a:pt x="3014169" y="0"/>
                    </a:lnTo>
                    <a:lnTo>
                      <a:pt x="3286787" y="0"/>
                    </a:lnTo>
                    <a:lnTo>
                      <a:pt x="7376984" y="0"/>
                    </a:lnTo>
                    <a:lnTo>
                      <a:pt x="7649602" y="0"/>
                    </a:lnTo>
                    <a:lnTo>
                      <a:pt x="8674156" y="0"/>
                    </a:lnTo>
                    <a:lnTo>
                      <a:pt x="8946774" y="0"/>
                    </a:lnTo>
                    <a:lnTo>
                      <a:pt x="9026141" y="0"/>
                    </a:lnTo>
                    <a:lnTo>
                      <a:pt x="10323313" y="0"/>
                    </a:lnTo>
                    <a:cubicBezTo>
                      <a:pt x="10346764" y="0"/>
                      <a:pt x="10368759" y="11309"/>
                      <a:pt x="10382357" y="30390"/>
                    </a:cubicBezTo>
                    <a:lnTo>
                      <a:pt x="10650243" y="405193"/>
                    </a:lnTo>
                    <a:cubicBezTo>
                      <a:pt x="10668281" y="430448"/>
                      <a:pt x="10668281" y="464376"/>
                      <a:pt x="10650243" y="489631"/>
                    </a:cubicBezTo>
                    <a:lnTo>
                      <a:pt x="10382357" y="864435"/>
                    </a:lnTo>
                    <a:cubicBezTo>
                      <a:pt x="10368759" y="883514"/>
                      <a:pt x="10346695" y="894824"/>
                      <a:pt x="10323313" y="894824"/>
                    </a:cubicBezTo>
                    <a:lnTo>
                      <a:pt x="9026141" y="894824"/>
                    </a:lnTo>
                    <a:lnTo>
                      <a:pt x="8946774" y="894824"/>
                    </a:lnTo>
                    <a:lnTo>
                      <a:pt x="8674156" y="894824"/>
                    </a:lnTo>
                    <a:lnTo>
                      <a:pt x="7649602" y="894824"/>
                    </a:lnTo>
                    <a:lnTo>
                      <a:pt x="7376984" y="894824"/>
                    </a:lnTo>
                    <a:lnTo>
                      <a:pt x="3286787" y="894824"/>
                    </a:lnTo>
                    <a:lnTo>
                      <a:pt x="3014169" y="894824"/>
                    </a:lnTo>
                    <a:lnTo>
                      <a:pt x="1989615" y="894824"/>
                    </a:lnTo>
                    <a:lnTo>
                      <a:pt x="1716997" y="894824"/>
                    </a:lnTo>
                    <a:lnTo>
                      <a:pt x="1637631" y="894824"/>
                    </a:lnTo>
                    <a:lnTo>
                      <a:pt x="340459" y="894824"/>
                    </a:lnTo>
                    <a:cubicBezTo>
                      <a:pt x="317007" y="894824"/>
                      <a:pt x="295012" y="883515"/>
                      <a:pt x="281414" y="864435"/>
                    </a:cubicBezTo>
                    <a:lnTo>
                      <a:pt x="13529" y="489632"/>
                    </a:lnTo>
                    <a:cubicBezTo>
                      <a:pt x="-4510" y="464376"/>
                      <a:pt x="-4510" y="430448"/>
                      <a:pt x="13529" y="405193"/>
                    </a:cubicBezTo>
                    <a:lnTo>
                      <a:pt x="281414" y="30390"/>
                    </a:lnTo>
                    <a:cubicBezTo>
                      <a:pt x="295012" y="11310"/>
                      <a:pt x="317076" y="0"/>
                      <a:pt x="340459" y="0"/>
                    </a:cubicBezTo>
                    <a:close/>
                  </a:path>
                </a:pathLst>
              </a:custGeom>
              <a:solidFill>
                <a:srgbClr val="041032">
                  <a:alpha val="72550"/>
                </a:srgbClr>
              </a:solidFill>
              <a:ln>
                <a:noFill/>
              </a:ln>
              <a:effectLst>
                <a:reflection stA="11000" endPos="39000" dist="12700" dir="5400000" fadeDir="5400012" sy="-100000" algn="bl" rotWithShape="0"/>
              </a:effectLst>
            </p:spPr>
            <p:txBody>
              <a:bodyPr spcFirstLastPara="1" wrap="square" lIns="90275" tIns="90275" rIns="90275" bIns="902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2400"/>
                  <a:buFont typeface="Arial"/>
                  <a:buNone/>
                  <a:tabLst/>
                  <a:defRPr/>
                </a:pPr>
                <a:endParaRPr kumimoji="0" sz="2400" b="0" i="0" u="none" strike="noStrike" kern="1200" cap="none" spc="0" normalizeH="0" baseline="0" noProof="0">
                  <a:ln>
                    <a:noFill/>
                  </a:ln>
                  <a:solidFill>
                    <a:srgbClr val="F2F2F2"/>
                  </a:solidFill>
                  <a:effectLst/>
                  <a:uLnTx/>
                  <a:uFillTx/>
                  <a:latin typeface="Arial"/>
                  <a:ea typeface="Arial"/>
                  <a:cs typeface="Arial"/>
                  <a:sym typeface="Arial"/>
                </a:endParaRPr>
              </a:p>
            </p:txBody>
          </p:sp>
          <p:sp>
            <p:nvSpPr>
              <p:cNvPr id="2913" name="Google Shape;2913;g3d5857bf97d_1_8"/>
              <p:cNvSpPr txBox="1"/>
              <p:nvPr/>
            </p:nvSpPr>
            <p:spPr>
              <a:xfrm>
                <a:off x="854664" y="4715656"/>
                <a:ext cx="10479600" cy="495600"/>
              </a:xfrm>
              <a:prstGeom prst="rect">
                <a:avLst/>
              </a:prstGeom>
              <a:noFill/>
              <a:ln>
                <a:noFill/>
              </a:ln>
              <a:effectLst>
                <a:reflection stA="11000" endPos="39000" dist="12700" dir="5400000" fadeDir="5400012" sy="-100000" algn="bl" rotWithShape="0"/>
              </a:effectLst>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1200" cap="none" spc="0" normalizeH="0" baseline="0" noProof="0" dirty="0">
                    <a:ln>
                      <a:noFill/>
                    </a:ln>
                    <a:solidFill>
                      <a:srgbClr val="FFFFFF"/>
                    </a:solidFill>
                    <a:effectLst/>
                    <a:uLnTx/>
                    <a:uFillTx/>
                    <a:latin typeface="Arial"/>
                    <a:ea typeface="Arial"/>
                    <a:cs typeface="Arial"/>
                    <a:sym typeface="Arial"/>
                  </a:rPr>
                  <a:t>Support Air-Gapped or Disconnected Designs Across all Topologies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nvGrpSpPr>
              <p:cNvPr id="2914" name="Google Shape;2914;g3d5857bf97d_1_8"/>
              <p:cNvGrpSpPr/>
              <p:nvPr/>
            </p:nvGrpSpPr>
            <p:grpSpPr>
              <a:xfrm rot="-5400000">
                <a:off x="1182563" y="4489300"/>
                <a:ext cx="552459" cy="906948"/>
                <a:chOff x="2677630" y="4608000"/>
                <a:chExt cx="219604" cy="362954"/>
              </a:xfrm>
            </p:grpSpPr>
            <p:sp>
              <p:nvSpPr>
                <p:cNvPr id="2915" name="Google Shape;2915;g3d5857bf97d_1_8"/>
                <p:cNvSpPr/>
                <p:nvPr/>
              </p:nvSpPr>
              <p:spPr>
                <a:xfrm rot="-5400000">
                  <a:off x="2711086" y="4574544"/>
                  <a:ext cx="152692" cy="219603"/>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5">
                    <a:alpha val="60000"/>
                  </a:schemeClr>
                </a:solidFill>
                <a:ln>
                  <a:noFill/>
                </a:ln>
              </p:spPr>
              <p:txBody>
                <a:bodyPr spcFirstLastPara="1" wrap="square" lIns="180350" tIns="90150" rIns="180350" bIns="901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85"/>
                    <a:buFont typeface="Arial"/>
                    <a:buNone/>
                    <a:tabLst/>
                    <a:defRPr/>
                  </a:pPr>
                  <a:endParaRPr kumimoji="0" sz="1185" b="0" i="0" u="none" strike="noStrike" kern="1200" cap="none" spc="0" normalizeH="0" baseline="0" noProof="0">
                    <a:ln>
                      <a:noFill/>
                    </a:ln>
                    <a:solidFill>
                      <a:srgbClr val="3C3C3C"/>
                    </a:solidFill>
                    <a:effectLst/>
                    <a:uLnTx/>
                    <a:uFillTx/>
                    <a:latin typeface="Arial"/>
                    <a:ea typeface="Arial"/>
                    <a:cs typeface="Arial"/>
                    <a:sym typeface="Arial"/>
                  </a:endParaRPr>
                </a:p>
              </p:txBody>
            </p:sp>
            <p:sp>
              <p:nvSpPr>
                <p:cNvPr id="2916" name="Google Shape;2916;g3d5857bf97d_1_8"/>
                <p:cNvSpPr/>
                <p:nvPr/>
              </p:nvSpPr>
              <p:spPr>
                <a:xfrm rot="-5400000">
                  <a:off x="2711085" y="4679676"/>
                  <a:ext cx="152692" cy="219603"/>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5">
                    <a:alpha val="27450"/>
                  </a:schemeClr>
                </a:solidFill>
                <a:ln>
                  <a:noFill/>
                </a:ln>
              </p:spPr>
              <p:txBody>
                <a:bodyPr spcFirstLastPara="1" wrap="square" lIns="180350" tIns="90150" rIns="180350" bIns="901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85"/>
                    <a:buFont typeface="Arial"/>
                    <a:buNone/>
                    <a:tabLst/>
                    <a:defRPr/>
                  </a:pPr>
                  <a:endParaRPr kumimoji="0" sz="1185" b="0" i="0" u="none" strike="noStrike" kern="1200" cap="none" spc="0" normalizeH="0" baseline="0" noProof="0">
                    <a:ln>
                      <a:noFill/>
                    </a:ln>
                    <a:solidFill>
                      <a:srgbClr val="3C3C3C"/>
                    </a:solidFill>
                    <a:effectLst/>
                    <a:uLnTx/>
                    <a:uFillTx/>
                    <a:latin typeface="Arial"/>
                    <a:ea typeface="Arial"/>
                    <a:cs typeface="Arial"/>
                    <a:sym typeface="Arial"/>
                  </a:endParaRPr>
                </a:p>
              </p:txBody>
            </p:sp>
            <p:sp>
              <p:nvSpPr>
                <p:cNvPr id="2917" name="Google Shape;2917;g3d5857bf97d_1_8"/>
                <p:cNvSpPr/>
                <p:nvPr/>
              </p:nvSpPr>
              <p:spPr>
                <a:xfrm rot="-5400000">
                  <a:off x="2711085" y="4784806"/>
                  <a:ext cx="152692" cy="219603"/>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5">
                    <a:alpha val="7450"/>
                  </a:schemeClr>
                </a:solidFill>
                <a:ln>
                  <a:noFill/>
                </a:ln>
              </p:spPr>
              <p:txBody>
                <a:bodyPr spcFirstLastPara="1" wrap="square" lIns="180350" tIns="90150" rIns="180350" bIns="901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85"/>
                    <a:buFont typeface="Arial"/>
                    <a:buNone/>
                    <a:tabLst/>
                    <a:defRPr/>
                  </a:pPr>
                  <a:endParaRPr kumimoji="0" sz="1185" b="0" i="0" u="none" strike="noStrike" kern="1200" cap="none" spc="0" normalizeH="0" baseline="0" noProof="0">
                    <a:ln>
                      <a:noFill/>
                    </a:ln>
                    <a:solidFill>
                      <a:srgbClr val="3C3C3C"/>
                    </a:solidFill>
                    <a:effectLst/>
                    <a:uLnTx/>
                    <a:uFillTx/>
                    <a:latin typeface="Arial"/>
                    <a:ea typeface="Arial"/>
                    <a:cs typeface="Arial"/>
                    <a:sym typeface="Arial"/>
                  </a:endParaRPr>
                </a:p>
              </p:txBody>
            </p:sp>
          </p:grpSp>
          <p:grpSp>
            <p:nvGrpSpPr>
              <p:cNvPr id="2918" name="Google Shape;2918;g3d5857bf97d_1_8"/>
              <p:cNvGrpSpPr/>
              <p:nvPr/>
            </p:nvGrpSpPr>
            <p:grpSpPr>
              <a:xfrm rot="5400000">
                <a:off x="10600728" y="4489316"/>
                <a:ext cx="552459" cy="906948"/>
                <a:chOff x="2677630" y="4608000"/>
                <a:chExt cx="219604" cy="362954"/>
              </a:xfrm>
            </p:grpSpPr>
            <p:sp>
              <p:nvSpPr>
                <p:cNvPr id="2919" name="Google Shape;2919;g3d5857bf97d_1_8"/>
                <p:cNvSpPr/>
                <p:nvPr/>
              </p:nvSpPr>
              <p:spPr>
                <a:xfrm rot="-5400000">
                  <a:off x="2711086" y="4574544"/>
                  <a:ext cx="152692" cy="219603"/>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4">
                    <a:alpha val="60000"/>
                  </a:schemeClr>
                </a:solidFill>
                <a:ln>
                  <a:noFill/>
                </a:ln>
              </p:spPr>
              <p:txBody>
                <a:bodyPr spcFirstLastPara="1" wrap="square" lIns="180350" tIns="90150" rIns="180350" bIns="901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85"/>
                    <a:buFont typeface="Arial"/>
                    <a:buNone/>
                    <a:tabLst/>
                    <a:defRPr/>
                  </a:pPr>
                  <a:endParaRPr kumimoji="0" sz="1185" b="0" i="0" u="none" strike="noStrike" kern="1200" cap="none" spc="0" normalizeH="0" baseline="0" noProof="0">
                    <a:ln>
                      <a:noFill/>
                    </a:ln>
                    <a:solidFill>
                      <a:srgbClr val="3C3C3C"/>
                    </a:solidFill>
                    <a:effectLst/>
                    <a:uLnTx/>
                    <a:uFillTx/>
                    <a:latin typeface="Arial"/>
                    <a:ea typeface="Arial"/>
                    <a:cs typeface="Arial"/>
                    <a:sym typeface="Arial"/>
                  </a:endParaRPr>
                </a:p>
              </p:txBody>
            </p:sp>
            <p:sp>
              <p:nvSpPr>
                <p:cNvPr id="2920" name="Google Shape;2920;g3d5857bf97d_1_8"/>
                <p:cNvSpPr/>
                <p:nvPr/>
              </p:nvSpPr>
              <p:spPr>
                <a:xfrm rot="-5400000">
                  <a:off x="2711085" y="4679676"/>
                  <a:ext cx="152692" cy="219603"/>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4">
                    <a:alpha val="27450"/>
                  </a:schemeClr>
                </a:solidFill>
                <a:ln>
                  <a:noFill/>
                </a:ln>
              </p:spPr>
              <p:txBody>
                <a:bodyPr spcFirstLastPara="1" wrap="square" lIns="180350" tIns="90150" rIns="180350" bIns="901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85"/>
                    <a:buFont typeface="Arial"/>
                    <a:buNone/>
                    <a:tabLst/>
                    <a:defRPr/>
                  </a:pPr>
                  <a:endParaRPr kumimoji="0" sz="1185" b="0" i="0" u="none" strike="noStrike" kern="1200" cap="none" spc="0" normalizeH="0" baseline="0" noProof="0">
                    <a:ln>
                      <a:noFill/>
                    </a:ln>
                    <a:solidFill>
                      <a:srgbClr val="3C3C3C"/>
                    </a:solidFill>
                    <a:effectLst/>
                    <a:uLnTx/>
                    <a:uFillTx/>
                    <a:latin typeface="Arial"/>
                    <a:ea typeface="Arial"/>
                    <a:cs typeface="Arial"/>
                    <a:sym typeface="Arial"/>
                  </a:endParaRPr>
                </a:p>
              </p:txBody>
            </p:sp>
            <p:sp>
              <p:nvSpPr>
                <p:cNvPr id="2921" name="Google Shape;2921;g3d5857bf97d_1_8"/>
                <p:cNvSpPr/>
                <p:nvPr/>
              </p:nvSpPr>
              <p:spPr>
                <a:xfrm rot="-5400000">
                  <a:off x="2711085" y="4784806"/>
                  <a:ext cx="152692" cy="219603"/>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4">
                    <a:alpha val="7450"/>
                  </a:schemeClr>
                </a:solidFill>
                <a:ln>
                  <a:noFill/>
                </a:ln>
              </p:spPr>
              <p:txBody>
                <a:bodyPr spcFirstLastPara="1" wrap="square" lIns="180350" tIns="90150" rIns="180350" bIns="901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85"/>
                    <a:buFont typeface="Arial"/>
                    <a:buNone/>
                    <a:tabLst/>
                    <a:defRPr/>
                  </a:pPr>
                  <a:endParaRPr kumimoji="0" sz="1185" b="0" i="0" u="none" strike="noStrike" kern="1200" cap="none" spc="0" normalizeH="0" baseline="0" noProof="0">
                    <a:ln>
                      <a:noFill/>
                    </a:ln>
                    <a:solidFill>
                      <a:srgbClr val="3C3C3C"/>
                    </a:solidFill>
                    <a:effectLst/>
                    <a:uLnTx/>
                    <a:uFillTx/>
                    <a:latin typeface="Arial"/>
                    <a:ea typeface="Arial"/>
                    <a:cs typeface="Arial"/>
                    <a:sym typeface="Arial"/>
                  </a:endParaRPr>
                </a:p>
              </p:txBody>
            </p:sp>
          </p:grpSp>
        </p:grpSp>
        <p:sp>
          <p:nvSpPr>
            <p:cNvPr id="2922" name="Google Shape;2922;g3d5857bf97d_1_8"/>
            <p:cNvSpPr txBox="1"/>
            <p:nvPr/>
          </p:nvSpPr>
          <p:spPr>
            <a:xfrm>
              <a:off x="4366145" y="3415267"/>
              <a:ext cx="274200" cy="1848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600"/>
                <a:buFont typeface="Arial"/>
                <a:buNone/>
                <a:tabLst/>
                <a:defRPr/>
              </a:pPr>
              <a:r>
                <a:rPr kumimoji="0" lang="en-US" sz="600" b="0" i="0" u="none" strike="noStrike" kern="1200" cap="none" spc="0" normalizeH="0" baseline="0" noProof="0">
                  <a:ln>
                    <a:noFill/>
                  </a:ln>
                  <a:solidFill>
                    <a:srgbClr val="000000"/>
                  </a:solidFill>
                  <a:effectLst/>
                  <a:uLnTx/>
                  <a:uFillTx/>
                  <a:latin typeface="Arial"/>
                  <a:ea typeface="Arial"/>
                  <a:cs typeface="Arial"/>
                  <a:sym typeface="Arial"/>
                </a:rPr>
                <a:t>vSAN+</a:t>
              </a:r>
              <a:br>
                <a:rPr kumimoji="0" lang="en-US" sz="600" b="0" i="0" u="none" strike="noStrike" kern="1200" cap="none" spc="0" normalizeH="0" baseline="0" noProof="0">
                  <a:ln>
                    <a:noFill/>
                  </a:ln>
                  <a:solidFill>
                    <a:srgbClr val="000000"/>
                  </a:solidFill>
                  <a:effectLst/>
                  <a:uLnTx/>
                  <a:uFillTx/>
                  <a:latin typeface="Arial"/>
                  <a:ea typeface="Arial"/>
                  <a:cs typeface="Arial"/>
                  <a:sym typeface="Arial"/>
                </a:rPr>
              </a:br>
              <a:r>
                <a:rPr kumimoji="0" lang="en-US" sz="600" b="0" i="0" u="none" strike="noStrike" kern="1200" cap="none" spc="0" normalizeH="0" baseline="0" noProof="0">
                  <a:ln>
                    <a:noFill/>
                  </a:ln>
                  <a:solidFill>
                    <a:srgbClr val="000000"/>
                  </a:solidFill>
                  <a:effectLst/>
                  <a:uLnTx/>
                  <a:uFillTx/>
                  <a:latin typeface="Arial"/>
                  <a:ea typeface="Arial"/>
                  <a:cs typeface="Arial"/>
                  <a:sym typeface="Arial"/>
                </a:rPr>
                <a:t>Witness</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923" name="Google Shape;2923;g3d5857bf97d_1_8"/>
            <p:cNvSpPr/>
            <p:nvPr/>
          </p:nvSpPr>
          <p:spPr>
            <a:xfrm>
              <a:off x="6438805" y="1544934"/>
              <a:ext cx="432000" cy="432000"/>
            </a:xfrm>
            <a:prstGeom prst="roundRect">
              <a:avLst>
                <a:gd name="adj" fmla="val 7046"/>
              </a:avLst>
            </a:prstGeom>
            <a:solidFill>
              <a:srgbClr val="FFFFFF"/>
            </a:solidFill>
            <a:ln w="9525" cap="flat" cmpd="sng">
              <a:solidFill>
                <a:srgbClr val="7F7F7F"/>
              </a:solidFill>
              <a:prstDash val="solid"/>
              <a:round/>
              <a:headEnd type="none" w="sm" len="sm"/>
              <a:tailEnd type="none" w="sm" len="sm"/>
            </a:ln>
          </p:spPr>
          <p:txBody>
            <a:bodyPr spcFirstLastPara="1" wrap="square" lIns="0" tIns="91425" rIns="0"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100" b="1" i="0" u="none" strike="noStrike" kern="1200" cap="none" spc="0" normalizeH="0" baseline="0" noProof="0">
                <a:ln>
                  <a:noFill/>
                </a:ln>
                <a:solidFill>
                  <a:srgbClr val="000000"/>
                </a:solidFill>
                <a:effectLst/>
                <a:uLnTx/>
                <a:uFillTx/>
                <a:latin typeface="Arial"/>
                <a:ea typeface="Arial"/>
                <a:cs typeface="Arial"/>
                <a:sym typeface="Arial"/>
              </a:endParaRPr>
            </a:p>
          </p:txBody>
        </p:sp>
      </p:grpSp>
      <p:pic>
        <p:nvPicPr>
          <p:cNvPr id="2924" name="Google Shape;2924;g3d5857bf97d_1_8"/>
          <p:cNvPicPr preferRelativeResize="0"/>
          <p:nvPr/>
        </p:nvPicPr>
        <p:blipFill rotWithShape="1">
          <a:blip r:embed="rId5">
            <a:alphaModFix/>
          </a:blip>
          <a:srcRect/>
          <a:stretch/>
        </p:blipFill>
        <p:spPr>
          <a:xfrm>
            <a:off x="4950825" y="5721275"/>
            <a:ext cx="304500" cy="302400"/>
          </a:xfrm>
          <a:prstGeom prst="rect">
            <a:avLst/>
          </a:prstGeom>
          <a:noFill/>
          <a:ln>
            <a:noFill/>
          </a:ln>
        </p:spPr>
      </p:pic>
      <p:pic>
        <p:nvPicPr>
          <p:cNvPr id="2925" name="Google Shape;2925;g3d5857bf97d_1_8"/>
          <p:cNvPicPr preferRelativeResize="0"/>
          <p:nvPr/>
        </p:nvPicPr>
        <p:blipFill rotWithShape="1">
          <a:blip r:embed="rId6">
            <a:alphaModFix/>
          </a:blip>
          <a:srcRect/>
          <a:stretch/>
        </p:blipFill>
        <p:spPr>
          <a:xfrm>
            <a:off x="6475765" y="1961797"/>
            <a:ext cx="400050" cy="400050"/>
          </a:xfrm>
          <a:prstGeom prst="rect">
            <a:avLst/>
          </a:prstGeom>
          <a:noFill/>
          <a:ln>
            <a:noFill/>
          </a:ln>
        </p:spPr>
      </p:pic>
      <p:pic>
        <p:nvPicPr>
          <p:cNvPr id="2926" name="Google Shape;2926;g3d5857bf97d_1_8"/>
          <p:cNvPicPr preferRelativeResize="0"/>
          <p:nvPr/>
        </p:nvPicPr>
        <p:blipFill rotWithShape="1">
          <a:blip r:embed="rId6">
            <a:alphaModFix/>
          </a:blip>
          <a:srcRect/>
          <a:stretch/>
        </p:blipFill>
        <p:spPr>
          <a:xfrm>
            <a:off x="4201054" y="1973086"/>
            <a:ext cx="400050" cy="400050"/>
          </a:xfrm>
          <a:prstGeom prst="rect">
            <a:avLst/>
          </a:prstGeom>
          <a:noFill/>
          <a:ln>
            <a:noFill/>
          </a:ln>
        </p:spPr>
      </p:pic>
      <p:pic>
        <p:nvPicPr>
          <p:cNvPr id="2927" name="Google Shape;2927;g3d5857bf97d_1_8"/>
          <p:cNvPicPr preferRelativeResize="0"/>
          <p:nvPr/>
        </p:nvPicPr>
        <p:blipFill rotWithShape="1">
          <a:blip r:embed="rId6">
            <a:alphaModFix/>
          </a:blip>
          <a:srcRect/>
          <a:stretch/>
        </p:blipFill>
        <p:spPr>
          <a:xfrm>
            <a:off x="1968675" y="1970275"/>
            <a:ext cx="400050" cy="400050"/>
          </a:xfrm>
          <a:prstGeom prst="rect">
            <a:avLst/>
          </a:prstGeom>
          <a:noFill/>
          <a:ln>
            <a:noFill/>
          </a:ln>
        </p:spPr>
      </p:pic>
      <p:pic>
        <p:nvPicPr>
          <p:cNvPr id="2928" name="Google Shape;2928;g3d5857bf97d_1_8"/>
          <p:cNvPicPr preferRelativeResize="0"/>
          <p:nvPr/>
        </p:nvPicPr>
        <p:blipFill rotWithShape="1">
          <a:blip r:embed="rId7">
            <a:alphaModFix/>
          </a:blip>
          <a:srcRect/>
          <a:stretch/>
        </p:blipFill>
        <p:spPr>
          <a:xfrm>
            <a:off x="11208292" y="135908"/>
            <a:ext cx="718425" cy="969875"/>
          </a:xfrm>
          <a:prstGeom prst="rect">
            <a:avLst/>
          </a:prstGeom>
          <a:noFill/>
          <a:ln>
            <a:noFill/>
          </a:ln>
        </p:spPr>
      </p:pic>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6944"/>
        <p:cNvGrpSpPr/>
        <p:nvPr/>
      </p:nvGrpSpPr>
      <p:grpSpPr>
        <a:xfrm>
          <a:off x="0" y="0"/>
          <a:ext cx="0" cy="0"/>
          <a:chOff x="0" y="0"/>
          <a:chExt cx="0" cy="0"/>
        </a:xfrm>
      </p:grpSpPr>
      <p:grpSp>
        <p:nvGrpSpPr>
          <p:cNvPr id="31" name="Group 30">
            <a:extLst>
              <a:ext uri="{FF2B5EF4-FFF2-40B4-BE49-F238E27FC236}">
                <a16:creationId xmlns:a16="http://schemas.microsoft.com/office/drawing/2014/main" id="{BCF5C524-BCB7-51B6-5C7F-E1EB441BC2E7}"/>
              </a:ext>
            </a:extLst>
          </p:cNvPr>
          <p:cNvGrpSpPr/>
          <p:nvPr/>
        </p:nvGrpSpPr>
        <p:grpSpPr>
          <a:xfrm>
            <a:off x="1593414" y="2986903"/>
            <a:ext cx="5947511" cy="3160910"/>
            <a:chOff x="1593414" y="2986903"/>
            <a:chExt cx="5947511" cy="3160910"/>
          </a:xfrm>
        </p:grpSpPr>
        <p:sp>
          <p:nvSpPr>
            <p:cNvPr id="27" name="Rounded Rectangle 26">
              <a:extLst>
                <a:ext uri="{FF2B5EF4-FFF2-40B4-BE49-F238E27FC236}">
                  <a16:creationId xmlns:a16="http://schemas.microsoft.com/office/drawing/2014/main" id="{DDAE6FBC-4BAA-1287-003F-BF2A587488EA}"/>
                </a:ext>
              </a:extLst>
            </p:cNvPr>
            <p:cNvSpPr/>
            <p:nvPr/>
          </p:nvSpPr>
          <p:spPr bwMode="gray">
            <a:xfrm>
              <a:off x="1593415" y="2986903"/>
              <a:ext cx="5934932" cy="3160910"/>
            </a:xfrm>
            <a:prstGeom prst="roundRect">
              <a:avLst>
                <a:gd name="adj" fmla="val 7069"/>
              </a:avLst>
            </a:prstGeom>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lumMod val="50000"/>
                  </a:srgbClr>
                </a:solidFill>
                <a:effectLst/>
                <a:uLnTx/>
                <a:uFillTx/>
                <a:latin typeface="Arial" panose="020B0604020202020204"/>
                <a:ea typeface="+mn-ea"/>
                <a:cs typeface="+mn-cs"/>
              </a:endParaRPr>
            </a:p>
          </p:txBody>
        </p:sp>
        <p:sp>
          <p:nvSpPr>
            <p:cNvPr id="28" name="Rounded Rectangle 27">
              <a:extLst>
                <a:ext uri="{FF2B5EF4-FFF2-40B4-BE49-F238E27FC236}">
                  <a16:creationId xmlns:a16="http://schemas.microsoft.com/office/drawing/2014/main" id="{313E8064-2F74-4BD7-6FB3-C7B3F0BB911B}"/>
                </a:ext>
              </a:extLst>
            </p:cNvPr>
            <p:cNvSpPr/>
            <p:nvPr/>
          </p:nvSpPr>
          <p:spPr bwMode="gray">
            <a:xfrm>
              <a:off x="1593415" y="5745583"/>
              <a:ext cx="5947510" cy="402227"/>
            </a:xfrm>
            <a:prstGeom prst="roundRect">
              <a:avLst>
                <a:gd name="adj" fmla="val 50000"/>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anose="020B0604020202020204"/>
                  <a:ea typeface="+mn-ea"/>
                  <a:cs typeface="+mn-cs"/>
                </a:rPr>
                <a:t>VCF Edge Site</a:t>
              </a:r>
            </a:p>
          </p:txBody>
        </p:sp>
        <p:sp>
          <p:nvSpPr>
            <p:cNvPr id="29" name="Rectangle 28">
              <a:extLst>
                <a:ext uri="{FF2B5EF4-FFF2-40B4-BE49-F238E27FC236}">
                  <a16:creationId xmlns:a16="http://schemas.microsoft.com/office/drawing/2014/main" id="{99F9F54D-E73C-37D4-15EA-1BD813BF4057}"/>
                </a:ext>
              </a:extLst>
            </p:cNvPr>
            <p:cNvSpPr/>
            <p:nvPr/>
          </p:nvSpPr>
          <p:spPr bwMode="gray">
            <a:xfrm>
              <a:off x="1593414" y="5745580"/>
              <a:ext cx="307386" cy="236120"/>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30" name="Rectangle 29">
              <a:extLst>
                <a:ext uri="{FF2B5EF4-FFF2-40B4-BE49-F238E27FC236}">
                  <a16:creationId xmlns:a16="http://schemas.microsoft.com/office/drawing/2014/main" id="{1A8AB6C1-490E-6A6A-CEF1-BF6C8A5A5C6B}"/>
                </a:ext>
              </a:extLst>
            </p:cNvPr>
            <p:cNvSpPr/>
            <p:nvPr/>
          </p:nvSpPr>
          <p:spPr bwMode="gray">
            <a:xfrm>
              <a:off x="7220961" y="5745580"/>
              <a:ext cx="307386" cy="261520"/>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sp>
        <p:nvSpPr>
          <p:cNvPr id="6945" name="Google Shape;6945;p74"/>
          <p:cNvSpPr/>
          <p:nvPr/>
        </p:nvSpPr>
        <p:spPr>
          <a:xfrm>
            <a:off x="1483480" y="1000283"/>
            <a:ext cx="3544186" cy="1508757"/>
          </a:xfrm>
          <a:prstGeom prst="roundRect">
            <a:avLst>
              <a:gd name="adj" fmla="val 1385"/>
            </a:avLst>
          </a:prstGeom>
          <a:solidFill>
            <a:schemeClr val="accent3">
              <a:alpha val="10196"/>
            </a:schemeClr>
          </a:solidFill>
          <a:ln w="9525" cap="flat" cmpd="sng">
            <a:solidFill>
              <a:schemeClr val="accent2">
                <a:alpha val="20000"/>
              </a:schemeClr>
            </a:solidFill>
            <a:prstDash val="solid"/>
            <a:miter lim="800000"/>
            <a:headEnd type="none" w="sm" len="sm"/>
            <a:tailEnd type="none" w="sm" len="sm"/>
          </a:ln>
        </p:spPr>
        <p:txBody>
          <a:bodyPr spcFirstLastPara="1" wrap="square" lIns="91375" tIns="182825" rIns="91375" bIns="45675"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46" name="Google Shape;6946;p74"/>
          <p:cNvSpPr/>
          <p:nvPr/>
        </p:nvSpPr>
        <p:spPr>
          <a:xfrm>
            <a:off x="3355774" y="1314858"/>
            <a:ext cx="635700" cy="344400"/>
          </a:xfrm>
          <a:prstGeom prst="roundRect">
            <a:avLst>
              <a:gd name="adj" fmla="val 8702"/>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700"/>
              <a:buFont typeface="Arial"/>
              <a:buNone/>
              <a:tabLst/>
              <a:defRPr/>
            </a:pPr>
            <a:r>
              <a:rPr kumimoji="0" lang="en-US" sz="700" b="0" i="0" u="none" strike="noStrike" kern="1200" cap="none" spc="0" normalizeH="0" baseline="0" noProof="0">
                <a:ln>
                  <a:noFill/>
                </a:ln>
                <a:solidFill>
                  <a:srgbClr val="FFFFFF"/>
                </a:solidFill>
                <a:effectLst/>
                <a:uLnTx/>
                <a:uFillTx/>
                <a:latin typeface="Arial"/>
                <a:ea typeface="Arial"/>
                <a:cs typeface="Arial"/>
                <a:sym typeface="Arial"/>
              </a:rPr>
              <a:t>vCenter</a:t>
            </a: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47" name="Google Shape;6947;p74"/>
          <p:cNvSpPr/>
          <p:nvPr/>
        </p:nvSpPr>
        <p:spPr>
          <a:xfrm>
            <a:off x="2536760" y="1314858"/>
            <a:ext cx="641651" cy="344400"/>
          </a:xfrm>
          <a:prstGeom prst="roundRect">
            <a:avLst>
              <a:gd name="adj" fmla="val 8702"/>
            </a:avLst>
          </a:prstGeom>
          <a:solidFill>
            <a:schemeClr val="accent2"/>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700"/>
              <a:buFont typeface="Arial"/>
              <a:buNone/>
              <a:tabLst/>
              <a:defRPr/>
            </a:pPr>
            <a:r>
              <a:rPr kumimoji="0" lang="en-US" sz="700" b="0" i="0" u="none" strike="noStrike" kern="1200" cap="none" spc="0" normalizeH="0" baseline="0" noProof="0">
                <a:ln>
                  <a:noFill/>
                </a:ln>
                <a:solidFill>
                  <a:srgbClr val="FFFFFF"/>
                </a:solidFill>
                <a:effectLst/>
                <a:uLnTx/>
                <a:uFillTx/>
                <a:latin typeface="Arial"/>
                <a:ea typeface="Arial"/>
                <a:cs typeface="Arial"/>
                <a:sym typeface="Arial"/>
              </a:rPr>
              <a:t>VCF Operations</a:t>
            </a: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48" name="Google Shape;6948;p74"/>
          <p:cNvSpPr txBox="1"/>
          <p:nvPr/>
        </p:nvSpPr>
        <p:spPr>
          <a:xfrm>
            <a:off x="1558320" y="1073835"/>
            <a:ext cx="575479" cy="153888"/>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EEEEEE"/>
                </a:solidFill>
                <a:effectLst/>
                <a:uLnTx/>
                <a:uFillTx/>
                <a:latin typeface="Arial"/>
                <a:ea typeface="Arial"/>
                <a:cs typeface="Arial"/>
                <a:sym typeface="Arial"/>
              </a:rPr>
              <a:t>VCF Fleet</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49" name="Google Shape;6949;p74"/>
          <p:cNvSpPr/>
          <p:nvPr/>
        </p:nvSpPr>
        <p:spPr>
          <a:xfrm>
            <a:off x="5110634" y="1000284"/>
            <a:ext cx="2421637" cy="1508756"/>
          </a:xfrm>
          <a:prstGeom prst="roundRect">
            <a:avLst>
              <a:gd name="adj" fmla="val 1385"/>
            </a:avLst>
          </a:prstGeom>
          <a:solidFill>
            <a:schemeClr val="accent3">
              <a:alpha val="10196"/>
            </a:schemeClr>
          </a:solidFill>
          <a:ln w="9525" cap="flat" cmpd="sng">
            <a:solidFill>
              <a:schemeClr val="accent2">
                <a:alpha val="20000"/>
              </a:schemeClr>
            </a:solidFill>
            <a:prstDash val="solid"/>
            <a:miter lim="800000"/>
            <a:headEnd type="none" w="sm" len="sm"/>
            <a:tailEnd type="none" w="sm" len="sm"/>
          </a:ln>
        </p:spPr>
        <p:txBody>
          <a:bodyPr spcFirstLastPara="1" wrap="square" lIns="91375" tIns="182825" rIns="91375" bIns="45675"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50" name="Google Shape;6950;p74"/>
          <p:cNvSpPr txBox="1"/>
          <p:nvPr/>
        </p:nvSpPr>
        <p:spPr>
          <a:xfrm>
            <a:off x="5136329" y="1025397"/>
            <a:ext cx="1093248" cy="153888"/>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Arial"/>
                <a:cs typeface="Arial"/>
                <a:sym typeface="Arial"/>
              </a:rPr>
              <a:t>Customer Provided</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952" name="Google Shape;6952;p74"/>
          <p:cNvSpPr/>
          <p:nvPr/>
        </p:nvSpPr>
        <p:spPr>
          <a:xfrm>
            <a:off x="5224686" y="1292228"/>
            <a:ext cx="2174316" cy="849872"/>
          </a:xfrm>
          <a:prstGeom prst="roundRect">
            <a:avLst>
              <a:gd name="adj" fmla="val 16667"/>
            </a:avLst>
          </a:prstGeom>
          <a:noFill/>
          <a:ln w="9525"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53" name="Google Shape;6953;p74"/>
          <p:cNvSpPr/>
          <p:nvPr/>
        </p:nvSpPr>
        <p:spPr>
          <a:xfrm>
            <a:off x="6037842" y="1183793"/>
            <a:ext cx="548004" cy="219455"/>
          </a:xfrm>
          <a:prstGeom prst="roundRect">
            <a:avLst>
              <a:gd name="adj" fmla="val 16667"/>
            </a:avLst>
          </a:prstGeom>
          <a:solidFill>
            <a:schemeClr val="bg1"/>
          </a:solidFill>
          <a:ln>
            <a:solidFill>
              <a:schemeClr val="accent3"/>
            </a:solid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6954" name="Google Shape;6954;p74"/>
          <p:cNvGrpSpPr/>
          <p:nvPr/>
        </p:nvGrpSpPr>
        <p:grpSpPr>
          <a:xfrm>
            <a:off x="5606729" y="1504586"/>
            <a:ext cx="384923" cy="385211"/>
            <a:chOff x="1124469" y="2215087"/>
            <a:chExt cx="802800" cy="803400"/>
          </a:xfrm>
        </p:grpSpPr>
        <p:pic>
          <p:nvPicPr>
            <p:cNvPr id="6955" name="Google Shape;6955;p74" descr="Icon&#10;&#10;Description automatically generated"/>
            <p:cNvPicPr preferRelativeResize="0"/>
            <p:nvPr/>
          </p:nvPicPr>
          <p:blipFill rotWithShape="1">
            <a:blip r:embed="rId3">
              <a:alphaModFix/>
            </a:blip>
            <a:srcRect/>
            <a:stretch/>
          </p:blipFill>
          <p:spPr>
            <a:xfrm>
              <a:off x="1124469" y="2215087"/>
              <a:ext cx="802800" cy="803400"/>
            </a:xfrm>
            <a:prstGeom prst="ellipse">
              <a:avLst/>
            </a:prstGeom>
            <a:solidFill>
              <a:schemeClr val="accent3"/>
            </a:solidFill>
            <a:ln>
              <a:noFill/>
            </a:ln>
          </p:spPr>
        </p:pic>
        <p:pic>
          <p:nvPicPr>
            <p:cNvPr id="6956" name="Google Shape;6956;p74" descr="vSAN Database&#10;"/>
            <p:cNvPicPr preferRelativeResize="0"/>
            <p:nvPr/>
          </p:nvPicPr>
          <p:blipFill rotWithShape="1">
            <a:blip r:embed="rId4">
              <a:alphaModFix/>
            </a:blip>
            <a:srcRect/>
            <a:stretch/>
          </p:blipFill>
          <p:spPr>
            <a:xfrm>
              <a:off x="1279368" y="2370396"/>
              <a:ext cx="492928" cy="492928"/>
            </a:xfrm>
            <a:prstGeom prst="rect">
              <a:avLst/>
            </a:prstGeom>
            <a:noFill/>
            <a:ln>
              <a:noFill/>
            </a:ln>
          </p:spPr>
        </p:pic>
      </p:grpSp>
      <p:sp>
        <p:nvSpPr>
          <p:cNvPr id="6957" name="Google Shape;6957;p74"/>
          <p:cNvSpPr txBox="1"/>
          <p:nvPr/>
        </p:nvSpPr>
        <p:spPr>
          <a:xfrm>
            <a:off x="6627315" y="1942045"/>
            <a:ext cx="602729" cy="40011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App Manifest</a:t>
            </a:r>
            <a:endParaRPr kumimoji="0" sz="8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EEEEEE"/>
              </a:solidFill>
              <a:effectLst/>
              <a:uLnTx/>
              <a:uFillTx/>
              <a:latin typeface="Arial"/>
              <a:ea typeface="Arial"/>
              <a:cs typeface="Arial"/>
              <a:sym typeface="Arial"/>
            </a:endParaRPr>
          </a:p>
        </p:txBody>
      </p:sp>
      <p:sp>
        <p:nvSpPr>
          <p:cNvPr id="6958" name="Google Shape;6958;p74"/>
          <p:cNvSpPr txBox="1"/>
          <p:nvPr/>
        </p:nvSpPr>
        <p:spPr>
          <a:xfrm>
            <a:off x="5343136" y="1939714"/>
            <a:ext cx="912109" cy="123111"/>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Kubernetes Config</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6959" name="Google Shape;6959;p74"/>
          <p:cNvGrpSpPr/>
          <p:nvPr/>
        </p:nvGrpSpPr>
        <p:grpSpPr>
          <a:xfrm>
            <a:off x="6739382" y="1499537"/>
            <a:ext cx="385007" cy="385457"/>
            <a:chOff x="1047670" y="3698292"/>
            <a:chExt cx="513600" cy="514200"/>
          </a:xfrm>
        </p:grpSpPr>
        <p:pic>
          <p:nvPicPr>
            <p:cNvPr id="6960" name="Google Shape;6960;p74" descr="Icon&#10;&#10;Description automatically generated"/>
            <p:cNvPicPr preferRelativeResize="0"/>
            <p:nvPr/>
          </p:nvPicPr>
          <p:blipFill rotWithShape="1">
            <a:blip r:embed="rId3">
              <a:alphaModFix/>
            </a:blip>
            <a:srcRect/>
            <a:stretch/>
          </p:blipFill>
          <p:spPr>
            <a:xfrm>
              <a:off x="1047670" y="3698292"/>
              <a:ext cx="513600" cy="514200"/>
            </a:xfrm>
            <a:prstGeom prst="ellipse">
              <a:avLst/>
            </a:prstGeom>
            <a:solidFill>
              <a:schemeClr val="accent4"/>
            </a:solidFill>
            <a:ln>
              <a:noFill/>
            </a:ln>
          </p:spPr>
        </p:pic>
        <p:grpSp>
          <p:nvGrpSpPr>
            <p:cNvPr id="6961" name="Google Shape;6961;p74" descr="Multiple apps&#10;"/>
            <p:cNvGrpSpPr/>
            <p:nvPr/>
          </p:nvGrpSpPr>
          <p:grpSpPr>
            <a:xfrm>
              <a:off x="1153079" y="3805367"/>
              <a:ext cx="302815" cy="300117"/>
              <a:chOff x="5805988" y="720881"/>
              <a:chExt cx="597276" cy="591949"/>
            </a:xfrm>
          </p:grpSpPr>
          <p:sp>
            <p:nvSpPr>
              <p:cNvPr id="6962" name="Google Shape;6962;p74"/>
              <p:cNvSpPr/>
              <p:nvPr/>
            </p:nvSpPr>
            <p:spPr>
              <a:xfrm>
                <a:off x="5906360" y="1003800"/>
                <a:ext cx="96133" cy="95827"/>
              </a:xfrm>
              <a:custGeom>
                <a:avLst/>
                <a:gdLst/>
                <a:ahLst/>
                <a:cxnLst/>
                <a:rect l="l" t="t" r="r" b="b"/>
                <a:pathLst>
                  <a:path w="96133" h="95827" extrusionOk="0">
                    <a:moveTo>
                      <a:pt x="75010" y="74089"/>
                    </a:moveTo>
                    <a:lnTo>
                      <a:pt x="21440" y="74089"/>
                    </a:lnTo>
                    <a:lnTo>
                      <a:pt x="11764" y="95827"/>
                    </a:lnTo>
                    <a:lnTo>
                      <a:pt x="0" y="95827"/>
                    </a:lnTo>
                    <a:lnTo>
                      <a:pt x="42122" y="0"/>
                    </a:lnTo>
                    <a:lnTo>
                      <a:pt x="54012" y="0"/>
                    </a:lnTo>
                    <a:lnTo>
                      <a:pt x="96134" y="95827"/>
                    </a:lnTo>
                    <a:lnTo>
                      <a:pt x="84307" y="95827"/>
                    </a:lnTo>
                    <a:close/>
                    <a:moveTo>
                      <a:pt x="70583" y="63758"/>
                    </a:moveTo>
                    <a:lnTo>
                      <a:pt x="48446" y="13056"/>
                    </a:lnTo>
                    <a:lnTo>
                      <a:pt x="26184" y="63758"/>
                    </a:lnTo>
                    <a:close/>
                  </a:path>
                </a:pathLst>
              </a:custGeom>
              <a:solidFill>
                <a:schemeClr val="lt1"/>
              </a:solidFill>
              <a:ln>
                <a:noFill/>
              </a:ln>
            </p:spPr>
            <p:txBody>
              <a:bodyPr spcFirstLastPara="1" wrap="square" lIns="54825" tIns="27400" rIns="54825" bIns="27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46"/>
                  <a:buFont typeface="Arial"/>
                  <a:buNone/>
                  <a:tabLst/>
                  <a:defRPr/>
                </a:pPr>
                <a:endParaRPr kumimoji="0" sz="134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63" name="Google Shape;6963;p74"/>
              <p:cNvSpPr/>
              <p:nvPr/>
            </p:nvSpPr>
            <p:spPr>
              <a:xfrm>
                <a:off x="6022100" y="1003800"/>
                <a:ext cx="74061" cy="95890"/>
              </a:xfrm>
              <a:custGeom>
                <a:avLst/>
                <a:gdLst/>
                <a:ahLst/>
                <a:cxnLst/>
                <a:rect l="l" t="t" r="r" b="b"/>
                <a:pathLst>
                  <a:path w="74061" h="95890" extrusionOk="0">
                    <a:moveTo>
                      <a:pt x="0" y="0"/>
                    </a:moveTo>
                    <a:lnTo>
                      <a:pt x="38833" y="0"/>
                    </a:lnTo>
                    <a:cubicBezTo>
                      <a:pt x="58629" y="0"/>
                      <a:pt x="74061" y="12676"/>
                      <a:pt x="74061" y="30675"/>
                    </a:cubicBezTo>
                    <a:cubicBezTo>
                      <a:pt x="74061" y="48674"/>
                      <a:pt x="58629" y="61413"/>
                      <a:pt x="38833" y="61413"/>
                    </a:cubicBezTo>
                    <a:lnTo>
                      <a:pt x="10878" y="61413"/>
                    </a:lnTo>
                    <a:lnTo>
                      <a:pt x="10878" y="95891"/>
                    </a:lnTo>
                    <a:lnTo>
                      <a:pt x="0" y="95891"/>
                    </a:lnTo>
                    <a:close/>
                    <a:moveTo>
                      <a:pt x="36872" y="50702"/>
                    </a:moveTo>
                    <a:cubicBezTo>
                      <a:pt x="52494" y="50702"/>
                      <a:pt x="63056" y="43224"/>
                      <a:pt x="63056" y="30358"/>
                    </a:cubicBezTo>
                    <a:cubicBezTo>
                      <a:pt x="63056" y="17492"/>
                      <a:pt x="52494" y="10014"/>
                      <a:pt x="36872" y="10014"/>
                    </a:cubicBezTo>
                    <a:lnTo>
                      <a:pt x="10878" y="10014"/>
                    </a:lnTo>
                    <a:lnTo>
                      <a:pt x="10878" y="50702"/>
                    </a:lnTo>
                    <a:close/>
                  </a:path>
                </a:pathLst>
              </a:custGeom>
              <a:solidFill>
                <a:schemeClr val="lt1"/>
              </a:solidFill>
              <a:ln>
                <a:noFill/>
              </a:ln>
            </p:spPr>
            <p:txBody>
              <a:bodyPr spcFirstLastPara="1" wrap="square" lIns="54825" tIns="27400" rIns="54825" bIns="27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46"/>
                  <a:buFont typeface="Arial"/>
                  <a:buNone/>
                  <a:tabLst/>
                  <a:defRPr/>
                </a:pPr>
                <a:endParaRPr kumimoji="0" sz="134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64" name="Google Shape;6964;p74"/>
              <p:cNvSpPr/>
              <p:nvPr/>
            </p:nvSpPr>
            <p:spPr>
              <a:xfrm>
                <a:off x="6115894" y="1003800"/>
                <a:ext cx="74061" cy="95890"/>
              </a:xfrm>
              <a:custGeom>
                <a:avLst/>
                <a:gdLst/>
                <a:ahLst/>
                <a:cxnLst/>
                <a:rect l="l" t="t" r="r" b="b"/>
                <a:pathLst>
                  <a:path w="74061" h="95890" extrusionOk="0">
                    <a:moveTo>
                      <a:pt x="0" y="0"/>
                    </a:moveTo>
                    <a:lnTo>
                      <a:pt x="38833" y="0"/>
                    </a:lnTo>
                    <a:cubicBezTo>
                      <a:pt x="58566" y="0"/>
                      <a:pt x="74061" y="12676"/>
                      <a:pt x="74061" y="30675"/>
                    </a:cubicBezTo>
                    <a:cubicBezTo>
                      <a:pt x="74061" y="48674"/>
                      <a:pt x="58566" y="61413"/>
                      <a:pt x="38833" y="61413"/>
                    </a:cubicBezTo>
                    <a:lnTo>
                      <a:pt x="10942" y="61413"/>
                    </a:lnTo>
                    <a:lnTo>
                      <a:pt x="10942" y="95891"/>
                    </a:lnTo>
                    <a:lnTo>
                      <a:pt x="0" y="95891"/>
                    </a:lnTo>
                    <a:close/>
                    <a:moveTo>
                      <a:pt x="36872" y="50702"/>
                    </a:moveTo>
                    <a:cubicBezTo>
                      <a:pt x="52431" y="50702"/>
                      <a:pt x="63056" y="43224"/>
                      <a:pt x="63056" y="30358"/>
                    </a:cubicBezTo>
                    <a:cubicBezTo>
                      <a:pt x="63056" y="17492"/>
                      <a:pt x="52431" y="10014"/>
                      <a:pt x="36872" y="10014"/>
                    </a:cubicBezTo>
                    <a:lnTo>
                      <a:pt x="10942" y="10014"/>
                    </a:lnTo>
                    <a:lnTo>
                      <a:pt x="10942" y="50702"/>
                    </a:lnTo>
                    <a:close/>
                  </a:path>
                </a:pathLst>
              </a:custGeom>
              <a:solidFill>
                <a:schemeClr val="lt1"/>
              </a:solidFill>
              <a:ln>
                <a:noFill/>
              </a:ln>
            </p:spPr>
            <p:txBody>
              <a:bodyPr spcFirstLastPara="1" wrap="square" lIns="54825" tIns="27400" rIns="54825" bIns="27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46"/>
                  <a:buFont typeface="Arial"/>
                  <a:buNone/>
                  <a:tabLst/>
                  <a:defRPr/>
                </a:pPr>
                <a:endParaRPr kumimoji="0" sz="134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65" name="Google Shape;6965;p74"/>
              <p:cNvSpPr/>
              <p:nvPr/>
            </p:nvSpPr>
            <p:spPr>
              <a:xfrm>
                <a:off x="5805988" y="821652"/>
                <a:ext cx="490156" cy="491178"/>
              </a:xfrm>
              <a:custGeom>
                <a:avLst/>
                <a:gdLst/>
                <a:ahLst/>
                <a:cxnLst/>
                <a:rect l="l" t="t" r="r" b="b"/>
                <a:pathLst>
                  <a:path w="490156" h="491178" extrusionOk="0">
                    <a:moveTo>
                      <a:pt x="452715" y="15844"/>
                    </a:moveTo>
                    <a:cubicBezTo>
                      <a:pt x="464661" y="15844"/>
                      <a:pt x="474345" y="25549"/>
                      <a:pt x="474345" y="37520"/>
                    </a:cubicBezTo>
                    <a:lnTo>
                      <a:pt x="474345" y="453659"/>
                    </a:lnTo>
                    <a:cubicBezTo>
                      <a:pt x="474345" y="465631"/>
                      <a:pt x="464661" y="475334"/>
                      <a:pt x="452715" y="475334"/>
                    </a:cubicBezTo>
                    <a:lnTo>
                      <a:pt x="37442" y="475334"/>
                    </a:lnTo>
                    <a:cubicBezTo>
                      <a:pt x="25496" y="475334"/>
                      <a:pt x="15812" y="465631"/>
                      <a:pt x="15812" y="453659"/>
                    </a:cubicBezTo>
                    <a:lnTo>
                      <a:pt x="15812" y="37520"/>
                    </a:lnTo>
                    <a:cubicBezTo>
                      <a:pt x="15812" y="25549"/>
                      <a:pt x="25496" y="15844"/>
                      <a:pt x="37442" y="15844"/>
                    </a:cubicBezTo>
                    <a:lnTo>
                      <a:pt x="452715" y="15844"/>
                    </a:lnTo>
                    <a:moveTo>
                      <a:pt x="452715" y="0"/>
                    </a:moveTo>
                    <a:lnTo>
                      <a:pt x="37442" y="0"/>
                    </a:lnTo>
                    <a:cubicBezTo>
                      <a:pt x="16763" y="0"/>
                      <a:pt x="0" y="16798"/>
                      <a:pt x="0" y="37520"/>
                    </a:cubicBezTo>
                    <a:lnTo>
                      <a:pt x="0" y="453659"/>
                    </a:lnTo>
                    <a:cubicBezTo>
                      <a:pt x="0" y="474383"/>
                      <a:pt x="16763" y="491178"/>
                      <a:pt x="37442" y="491178"/>
                    </a:cubicBezTo>
                    <a:lnTo>
                      <a:pt x="452715" y="491178"/>
                    </a:lnTo>
                    <a:cubicBezTo>
                      <a:pt x="473393" y="491178"/>
                      <a:pt x="490156" y="474383"/>
                      <a:pt x="490156" y="453659"/>
                    </a:cubicBezTo>
                    <a:lnTo>
                      <a:pt x="490156" y="37520"/>
                    </a:lnTo>
                    <a:cubicBezTo>
                      <a:pt x="490156" y="16798"/>
                      <a:pt x="473393" y="0"/>
                      <a:pt x="452715" y="0"/>
                    </a:cubicBezTo>
                    <a:close/>
                  </a:path>
                </a:pathLst>
              </a:custGeom>
              <a:solidFill>
                <a:schemeClr val="lt1"/>
              </a:solidFill>
              <a:ln>
                <a:noFill/>
              </a:ln>
            </p:spPr>
            <p:txBody>
              <a:bodyPr spcFirstLastPara="1" wrap="square" lIns="54825" tIns="27400" rIns="54825" bIns="27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46"/>
                  <a:buFont typeface="Arial"/>
                  <a:buNone/>
                  <a:tabLst/>
                  <a:defRPr/>
                </a:pPr>
                <a:endParaRPr kumimoji="0" sz="134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66" name="Google Shape;6966;p74"/>
              <p:cNvSpPr/>
              <p:nvPr/>
            </p:nvSpPr>
            <p:spPr>
              <a:xfrm>
                <a:off x="5862214" y="771267"/>
                <a:ext cx="486595" cy="491241"/>
              </a:xfrm>
              <a:custGeom>
                <a:avLst/>
                <a:gdLst/>
                <a:ahLst/>
                <a:cxnLst/>
                <a:rect l="l" t="t" r="r" b="b"/>
                <a:pathLst>
                  <a:path w="486595" h="491241" extrusionOk="0">
                    <a:moveTo>
                      <a:pt x="461696" y="491242"/>
                    </a:moveTo>
                    <a:lnTo>
                      <a:pt x="454739" y="477045"/>
                    </a:lnTo>
                    <a:cubicBezTo>
                      <a:pt x="464577" y="472211"/>
                      <a:pt x="470792" y="462167"/>
                      <a:pt x="470740" y="451187"/>
                    </a:cubicBezTo>
                    <a:lnTo>
                      <a:pt x="470740" y="44555"/>
                    </a:lnTo>
                    <a:cubicBezTo>
                      <a:pt x="471309" y="24020"/>
                      <a:pt x="467261" y="17049"/>
                      <a:pt x="441900" y="15844"/>
                    </a:cubicBezTo>
                    <a:lnTo>
                      <a:pt x="39023" y="15844"/>
                    </a:lnTo>
                    <a:cubicBezTo>
                      <a:pt x="22516" y="15844"/>
                      <a:pt x="17772" y="21232"/>
                      <a:pt x="15242" y="30548"/>
                    </a:cubicBezTo>
                    <a:lnTo>
                      <a:pt x="0" y="26429"/>
                    </a:lnTo>
                    <a:cubicBezTo>
                      <a:pt x="6325" y="2725"/>
                      <a:pt x="25298" y="0"/>
                      <a:pt x="39023" y="0"/>
                    </a:cubicBezTo>
                    <a:lnTo>
                      <a:pt x="442279" y="0"/>
                    </a:lnTo>
                    <a:cubicBezTo>
                      <a:pt x="475167" y="1521"/>
                      <a:pt x="487437" y="14133"/>
                      <a:pt x="486551" y="44808"/>
                    </a:cubicBezTo>
                    <a:lnTo>
                      <a:pt x="486551" y="451187"/>
                    </a:lnTo>
                    <a:cubicBezTo>
                      <a:pt x="486622" y="468211"/>
                      <a:pt x="476964" y="483775"/>
                      <a:pt x="461696" y="491242"/>
                    </a:cubicBezTo>
                    <a:close/>
                  </a:path>
                </a:pathLst>
              </a:custGeom>
              <a:solidFill>
                <a:schemeClr val="lt1"/>
              </a:solidFill>
              <a:ln>
                <a:noFill/>
              </a:ln>
            </p:spPr>
            <p:txBody>
              <a:bodyPr spcFirstLastPara="1" wrap="square" lIns="54825" tIns="27400" rIns="54825" bIns="27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46"/>
                  <a:buFont typeface="Arial"/>
                  <a:buNone/>
                  <a:tabLst/>
                  <a:defRPr/>
                </a:pPr>
                <a:endParaRPr kumimoji="0" sz="134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67" name="Google Shape;6967;p74"/>
              <p:cNvSpPr/>
              <p:nvPr/>
            </p:nvSpPr>
            <p:spPr>
              <a:xfrm>
                <a:off x="5916669" y="720881"/>
                <a:ext cx="486595" cy="491304"/>
              </a:xfrm>
              <a:custGeom>
                <a:avLst/>
                <a:gdLst/>
                <a:ahLst/>
                <a:cxnLst/>
                <a:rect l="l" t="t" r="r" b="b"/>
                <a:pathLst>
                  <a:path w="486595" h="491304" extrusionOk="0">
                    <a:moveTo>
                      <a:pt x="461696" y="491305"/>
                    </a:moveTo>
                    <a:lnTo>
                      <a:pt x="454739" y="477425"/>
                    </a:lnTo>
                    <a:cubicBezTo>
                      <a:pt x="464561" y="472585"/>
                      <a:pt x="470759" y="462537"/>
                      <a:pt x="470677" y="451567"/>
                    </a:cubicBezTo>
                    <a:lnTo>
                      <a:pt x="470677" y="44618"/>
                    </a:lnTo>
                    <a:cubicBezTo>
                      <a:pt x="471309" y="24020"/>
                      <a:pt x="467261" y="17112"/>
                      <a:pt x="441900" y="15844"/>
                    </a:cubicBezTo>
                    <a:lnTo>
                      <a:pt x="39023" y="15844"/>
                    </a:lnTo>
                    <a:cubicBezTo>
                      <a:pt x="22516" y="15844"/>
                      <a:pt x="17772" y="21232"/>
                      <a:pt x="15242" y="30548"/>
                    </a:cubicBezTo>
                    <a:lnTo>
                      <a:pt x="0" y="26365"/>
                    </a:lnTo>
                    <a:cubicBezTo>
                      <a:pt x="6325" y="2725"/>
                      <a:pt x="25298" y="0"/>
                      <a:pt x="39023" y="0"/>
                    </a:cubicBezTo>
                    <a:lnTo>
                      <a:pt x="442279" y="0"/>
                    </a:lnTo>
                    <a:cubicBezTo>
                      <a:pt x="475167" y="1521"/>
                      <a:pt x="487437" y="14070"/>
                      <a:pt x="486551" y="44808"/>
                    </a:cubicBezTo>
                    <a:lnTo>
                      <a:pt x="486551" y="451250"/>
                    </a:lnTo>
                    <a:cubicBezTo>
                      <a:pt x="486621" y="468275"/>
                      <a:pt x="476963" y="483838"/>
                      <a:pt x="461696" y="491305"/>
                    </a:cubicBezTo>
                    <a:close/>
                  </a:path>
                </a:pathLst>
              </a:custGeom>
              <a:solidFill>
                <a:schemeClr val="lt1"/>
              </a:solidFill>
              <a:ln>
                <a:noFill/>
              </a:ln>
            </p:spPr>
            <p:txBody>
              <a:bodyPr spcFirstLastPara="1" wrap="square" lIns="54825" tIns="27400" rIns="54825" bIns="27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46"/>
                  <a:buFont typeface="Arial"/>
                  <a:buNone/>
                  <a:tabLst/>
                  <a:defRPr/>
                </a:pPr>
                <a:endParaRPr kumimoji="0" sz="1346"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sp>
        <p:nvSpPr>
          <p:cNvPr id="6969" name="Google Shape;6969;p74"/>
          <p:cNvSpPr/>
          <p:nvPr/>
        </p:nvSpPr>
        <p:spPr>
          <a:xfrm>
            <a:off x="1585692" y="1795188"/>
            <a:ext cx="3355983" cy="628392"/>
          </a:xfrm>
          <a:prstGeom prst="roundRect">
            <a:avLst>
              <a:gd name="adj" fmla="val 16667"/>
            </a:avLst>
          </a:prstGeom>
          <a:solidFill>
            <a:schemeClr val="lt1"/>
          </a:solidFill>
          <a:ln w="25400" cap="flat" cmpd="sng">
            <a:solidFill>
              <a:schemeClr val="accen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70" name="Google Shape;6970;p74"/>
          <p:cNvSpPr/>
          <p:nvPr/>
        </p:nvSpPr>
        <p:spPr>
          <a:xfrm>
            <a:off x="2771286" y="1871038"/>
            <a:ext cx="984795" cy="344400"/>
          </a:xfrm>
          <a:prstGeom prst="roundRect">
            <a:avLst>
              <a:gd name="adj" fmla="val 8702"/>
            </a:avLst>
          </a:prstGeom>
          <a:solidFill>
            <a:schemeClr val="accent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700"/>
              <a:buFont typeface="Arial"/>
              <a:buNone/>
              <a:tabLst/>
              <a:defRPr/>
            </a:pPr>
            <a:r>
              <a:rPr kumimoji="0" lang="en-US" sz="700" b="0" i="0" u="none" strike="noStrike" kern="1200" cap="none" spc="0" normalizeH="0" baseline="0" noProof="0">
                <a:ln>
                  <a:noFill/>
                </a:ln>
                <a:solidFill>
                  <a:srgbClr val="FFFFFF"/>
                </a:solidFill>
                <a:effectLst/>
                <a:uLnTx/>
                <a:uFillTx/>
                <a:latin typeface="Arial"/>
                <a:ea typeface="Arial"/>
                <a:cs typeface="Arial"/>
                <a:sym typeface="Arial"/>
              </a:rPr>
              <a:t>vCenter</a:t>
            </a: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71" name="Google Shape;6971;p74"/>
          <p:cNvSpPr txBox="1"/>
          <p:nvPr/>
        </p:nvSpPr>
        <p:spPr>
          <a:xfrm>
            <a:off x="1508174" y="1019296"/>
            <a:ext cx="985847" cy="369332"/>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Management Domain</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br>
            <a:endParaRPr kumimoji="0" sz="800" b="0" i="0" u="none" strike="noStrike" kern="1200" cap="none" spc="0" normalizeH="0" baseline="0" noProof="0" dirty="0">
              <a:ln>
                <a:noFill/>
              </a:ln>
              <a:solidFill>
                <a:srgbClr val="EEEEEE"/>
              </a:solidFill>
              <a:effectLst/>
              <a:uLnTx/>
              <a:uFillTx/>
              <a:latin typeface="Arial"/>
              <a:ea typeface="Arial"/>
              <a:cs typeface="Arial"/>
              <a:sym typeface="Arial"/>
            </a:endParaRPr>
          </a:p>
        </p:txBody>
      </p:sp>
      <p:sp>
        <p:nvSpPr>
          <p:cNvPr id="6972" name="Google Shape;6972;p74"/>
          <p:cNvSpPr txBox="1"/>
          <p:nvPr/>
        </p:nvSpPr>
        <p:spPr>
          <a:xfrm>
            <a:off x="1636280" y="1844307"/>
            <a:ext cx="817531" cy="369332"/>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Workload Domain</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br>
            <a:endParaRPr kumimoji="0" sz="800" b="0" i="0" u="none" strike="noStrike" kern="1200" cap="none" spc="0" normalizeH="0" baseline="0" noProof="0" dirty="0">
              <a:ln>
                <a:noFill/>
              </a:ln>
              <a:solidFill>
                <a:srgbClr val="EEEEEE"/>
              </a:solidFill>
              <a:effectLst/>
              <a:uLnTx/>
              <a:uFillTx/>
              <a:latin typeface="Arial"/>
              <a:ea typeface="Arial"/>
              <a:cs typeface="Arial"/>
              <a:sym typeface="Arial"/>
            </a:endParaRPr>
          </a:p>
        </p:txBody>
      </p:sp>
      <p:sp>
        <p:nvSpPr>
          <p:cNvPr id="6975" name="Google Shape;6975;p74"/>
          <p:cNvSpPr/>
          <p:nvPr/>
        </p:nvSpPr>
        <p:spPr>
          <a:xfrm>
            <a:off x="1963985" y="2641572"/>
            <a:ext cx="302400" cy="302400"/>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a:ea typeface="Arial"/>
                <a:cs typeface="Arial"/>
                <a:sym typeface="Arial"/>
              </a:rPr>
              <a:t>1</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976" name="Google Shape;6976;p74"/>
          <p:cNvSpPr/>
          <p:nvPr/>
        </p:nvSpPr>
        <p:spPr>
          <a:xfrm>
            <a:off x="737159" y="5040671"/>
            <a:ext cx="302400" cy="303138"/>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2</a:t>
            </a: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78" name="Google Shape;6978;p74"/>
          <p:cNvSpPr/>
          <p:nvPr/>
        </p:nvSpPr>
        <p:spPr>
          <a:xfrm>
            <a:off x="8455792" y="2253534"/>
            <a:ext cx="304127" cy="302400"/>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1</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79" name="Google Shape;6979;p74"/>
          <p:cNvSpPr/>
          <p:nvPr/>
        </p:nvSpPr>
        <p:spPr>
          <a:xfrm>
            <a:off x="8455792" y="2739855"/>
            <a:ext cx="304127" cy="302400"/>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2</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80" name="Google Shape;6980;p74"/>
          <p:cNvSpPr/>
          <p:nvPr/>
        </p:nvSpPr>
        <p:spPr>
          <a:xfrm>
            <a:off x="8455791" y="3253241"/>
            <a:ext cx="304127" cy="302400"/>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3</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81" name="Google Shape;6981;p74"/>
          <p:cNvSpPr/>
          <p:nvPr/>
        </p:nvSpPr>
        <p:spPr>
          <a:xfrm>
            <a:off x="1078655" y="4802372"/>
            <a:ext cx="350599" cy="810572"/>
          </a:xfrm>
          <a:prstGeom prst="leftBrace">
            <a:avLst>
              <a:gd name="adj1" fmla="val 8333"/>
              <a:gd name="adj2" fmla="val 50000"/>
            </a:avLst>
          </a:prstGeom>
          <a:noFill/>
          <a:ln w="12700" cap="flat" cmpd="sng">
            <a:solidFill>
              <a:schemeClr val="dk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82" name="Google Shape;6982;p74"/>
          <p:cNvSpPr/>
          <p:nvPr/>
        </p:nvSpPr>
        <p:spPr>
          <a:xfrm>
            <a:off x="1089622" y="3130302"/>
            <a:ext cx="341123" cy="1508756"/>
          </a:xfrm>
          <a:prstGeom prst="leftBrace">
            <a:avLst>
              <a:gd name="adj1" fmla="val 8333"/>
              <a:gd name="adj2" fmla="val 50000"/>
            </a:avLst>
          </a:prstGeom>
          <a:noFill/>
          <a:ln w="12700" cap="flat" cmpd="sng">
            <a:solidFill>
              <a:schemeClr val="dk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83" name="Google Shape;6983;p74"/>
          <p:cNvSpPr/>
          <p:nvPr/>
        </p:nvSpPr>
        <p:spPr>
          <a:xfrm>
            <a:off x="767868" y="3712140"/>
            <a:ext cx="302400" cy="303138"/>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3</a:t>
            </a: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84" name="Google Shape;6984;p74"/>
          <p:cNvSpPr/>
          <p:nvPr/>
        </p:nvSpPr>
        <p:spPr>
          <a:xfrm>
            <a:off x="6379665" y="2637306"/>
            <a:ext cx="302400" cy="303138"/>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4</a:t>
            </a: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6985" name="Google Shape;6985;p74"/>
          <p:cNvSpPr/>
          <p:nvPr/>
        </p:nvSpPr>
        <p:spPr>
          <a:xfrm>
            <a:off x="8455791" y="4050300"/>
            <a:ext cx="304127" cy="302400"/>
          </a:xfrm>
          <a:prstGeom prst="ellipse">
            <a:avLst/>
          </a:prstGeom>
          <a:solidFill>
            <a:srgbClr val="A6192E"/>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4</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6986" name="Google Shape;6986;p74"/>
          <p:cNvCxnSpPr>
            <a:cxnSpLocks/>
            <a:stCxn id="6945" idx="2"/>
          </p:cNvCxnSpPr>
          <p:nvPr/>
        </p:nvCxnSpPr>
        <p:spPr>
          <a:xfrm>
            <a:off x="3255573" y="2509040"/>
            <a:ext cx="0" cy="477863"/>
          </a:xfrm>
          <a:prstGeom prst="straightConnector1">
            <a:avLst/>
          </a:prstGeom>
          <a:noFill/>
          <a:ln w="12700" cap="flat" cmpd="sng">
            <a:solidFill>
              <a:schemeClr val="dk1"/>
            </a:solidFill>
            <a:prstDash val="dash"/>
            <a:miter lim="800000"/>
            <a:headEnd type="none" w="sm" len="sm"/>
            <a:tailEnd type="triangle" w="med" len="med"/>
          </a:ln>
        </p:spPr>
      </p:cxnSp>
      <p:sp>
        <p:nvSpPr>
          <p:cNvPr id="6987" name="Google Shape;6987;p74"/>
          <p:cNvSpPr/>
          <p:nvPr/>
        </p:nvSpPr>
        <p:spPr>
          <a:xfrm>
            <a:off x="2893929" y="2188962"/>
            <a:ext cx="739509" cy="168973"/>
          </a:xfrm>
          <a:prstGeom prst="rect">
            <a:avLst/>
          </a:prstGeom>
          <a:solidFill>
            <a:schemeClr val="accent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Arial"/>
                <a:ea typeface="Arial"/>
                <a:cs typeface="Arial"/>
                <a:sym typeface="Arial"/>
              </a:rPr>
              <a:t>Content Library</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994" name="Google Shape;6994;p74"/>
          <p:cNvSpPr txBox="1"/>
          <p:nvPr/>
        </p:nvSpPr>
        <p:spPr>
          <a:xfrm>
            <a:off x="4255444" y="669174"/>
            <a:ext cx="1776448" cy="52322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Central Data Center</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 name="Google Shape;6401;p30">
            <a:extLst>
              <a:ext uri="{FF2B5EF4-FFF2-40B4-BE49-F238E27FC236}">
                <a16:creationId xmlns:a16="http://schemas.microsoft.com/office/drawing/2014/main" id="{123D25A9-92FF-1F58-2C72-EB462AB4CFF6}"/>
              </a:ext>
            </a:extLst>
          </p:cNvPr>
          <p:cNvSpPr/>
          <p:nvPr/>
        </p:nvSpPr>
        <p:spPr>
          <a:xfrm>
            <a:off x="1720912" y="4750539"/>
            <a:ext cx="5692515" cy="423705"/>
          </a:xfrm>
          <a:prstGeom prst="roundRect">
            <a:avLst/>
          </a:prstGeom>
          <a:solidFill>
            <a:srgbClr val="0098C7"/>
          </a:solidFill>
          <a:ln>
            <a:solidFill>
              <a:srgbClr val="0098C7"/>
            </a:solid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r>
              <a:rPr kumimoji="0" lang="en-US" sz="1400" b="0" i="0" u="none" strike="noStrike" kern="0" cap="none" spc="0" normalizeH="0" baseline="0" noProof="0" dirty="0">
                <a:ln>
                  <a:noFill/>
                </a:ln>
                <a:solidFill>
                  <a:srgbClr val="FFFFFF"/>
                </a:solidFill>
                <a:effectLst/>
                <a:uLnTx/>
                <a:uFillTx/>
                <a:latin typeface="Arial" panose="020B0604020202020204"/>
                <a:ea typeface="Arial"/>
                <a:cs typeface="Arial"/>
                <a:sym typeface="Arial"/>
              </a:rPr>
              <a:t>VMware ESX</a:t>
            </a:r>
            <a:endParaRPr kumimoji="0" sz="1400" b="0" i="0" u="none" strike="noStrike" kern="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8" name="Google Shape;6411;p30">
            <a:extLst>
              <a:ext uri="{FF2B5EF4-FFF2-40B4-BE49-F238E27FC236}">
                <a16:creationId xmlns:a16="http://schemas.microsoft.com/office/drawing/2014/main" id="{5567770A-197D-13AA-1F57-D2EA46A083B2}"/>
              </a:ext>
            </a:extLst>
          </p:cNvPr>
          <p:cNvSpPr/>
          <p:nvPr/>
        </p:nvSpPr>
        <p:spPr>
          <a:xfrm>
            <a:off x="1724743" y="4248383"/>
            <a:ext cx="5684853" cy="425302"/>
          </a:xfrm>
          <a:prstGeom prst="roundRect">
            <a:avLst/>
          </a:prstGeom>
          <a:solidFill>
            <a:schemeClr val="accent5"/>
          </a:solidFill>
          <a:ln>
            <a:noFill/>
          </a:ln>
          <a:effectLst>
            <a:outerShdw blurRad="40000" dist="20000" dir="5400000" rotWithShape="0">
              <a:srgbClr val="000000">
                <a:alpha val="37647"/>
              </a:srgbClr>
            </a:outerShdw>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kumimoji="0" lang="en-US" sz="14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Supervisor</a:t>
            </a:r>
            <a:endParaRPr kumimoji="0" sz="1400" b="0" i="0" u="none" strike="noStrike" kern="0" cap="none" spc="0" normalizeH="0" baseline="0" noProof="0" dirty="0">
              <a:ln>
                <a:noFill/>
              </a:ln>
              <a:solidFill>
                <a:srgbClr val="FFFFFF"/>
              </a:solidFill>
              <a:effectLst/>
              <a:uLnTx/>
              <a:uFillTx/>
              <a:latin typeface="Arial" panose="020B0604020202020204"/>
              <a:ea typeface="+mn-ea"/>
              <a:cs typeface="Arial"/>
              <a:sym typeface="Arial"/>
            </a:endParaRPr>
          </a:p>
        </p:txBody>
      </p:sp>
      <p:sp>
        <p:nvSpPr>
          <p:cNvPr id="33" name="Google Shape;6405;p30">
            <a:extLst>
              <a:ext uri="{FF2B5EF4-FFF2-40B4-BE49-F238E27FC236}">
                <a16:creationId xmlns:a16="http://schemas.microsoft.com/office/drawing/2014/main" id="{BD24B28B-06E0-7C9C-6A7C-6F2317EB038C}"/>
              </a:ext>
            </a:extLst>
          </p:cNvPr>
          <p:cNvSpPr/>
          <p:nvPr/>
        </p:nvSpPr>
        <p:spPr>
          <a:xfrm>
            <a:off x="1854230" y="3266738"/>
            <a:ext cx="1328136" cy="874572"/>
          </a:xfrm>
          <a:prstGeom prst="roundRect">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00" b="1" i="0" u="none" strike="noStrike" kern="1200" cap="none" spc="0" normalizeH="0" baseline="0" noProof="0" dirty="0">
              <a:ln>
                <a:noFill/>
              </a:ln>
              <a:solidFill>
                <a:srgbClr val="0098C7"/>
              </a:solidFill>
              <a:effectLst/>
              <a:uLnTx/>
              <a:uFillTx/>
              <a:latin typeface="Arial"/>
              <a:ea typeface="Arial"/>
              <a:cs typeface="Arial"/>
              <a:sym typeface="Arial"/>
            </a:endParaRPr>
          </a:p>
        </p:txBody>
      </p:sp>
      <p:sp>
        <p:nvSpPr>
          <p:cNvPr id="34" name="Google Shape;6405;p30">
            <a:extLst>
              <a:ext uri="{FF2B5EF4-FFF2-40B4-BE49-F238E27FC236}">
                <a16:creationId xmlns:a16="http://schemas.microsoft.com/office/drawing/2014/main" id="{E0310B84-C418-A2EC-9B0A-D7DE3ABF01E7}"/>
              </a:ext>
            </a:extLst>
          </p:cNvPr>
          <p:cNvSpPr/>
          <p:nvPr/>
        </p:nvSpPr>
        <p:spPr>
          <a:xfrm>
            <a:off x="3868629" y="3266738"/>
            <a:ext cx="1328136" cy="874572"/>
          </a:xfrm>
          <a:prstGeom prst="roundRect">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00" b="1" i="0" u="none" strike="noStrike" kern="1200" cap="none" spc="0" normalizeH="0" baseline="0" noProof="0" dirty="0">
              <a:ln>
                <a:noFill/>
              </a:ln>
              <a:solidFill>
                <a:srgbClr val="0098C7"/>
              </a:solidFill>
              <a:effectLst/>
              <a:uLnTx/>
              <a:uFillTx/>
              <a:latin typeface="Arial"/>
              <a:ea typeface="Arial"/>
              <a:cs typeface="Arial"/>
              <a:sym typeface="Arial"/>
            </a:endParaRPr>
          </a:p>
        </p:txBody>
      </p:sp>
      <p:sp>
        <p:nvSpPr>
          <p:cNvPr id="35" name="Google Shape;6405;p30">
            <a:extLst>
              <a:ext uri="{FF2B5EF4-FFF2-40B4-BE49-F238E27FC236}">
                <a16:creationId xmlns:a16="http://schemas.microsoft.com/office/drawing/2014/main" id="{89BB94D5-3AF5-7F68-4575-0694CD42D96D}"/>
              </a:ext>
            </a:extLst>
          </p:cNvPr>
          <p:cNvSpPr/>
          <p:nvPr/>
        </p:nvSpPr>
        <p:spPr>
          <a:xfrm>
            <a:off x="5883027" y="3266738"/>
            <a:ext cx="1328136" cy="874572"/>
          </a:xfrm>
          <a:prstGeom prst="roundRect">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00" b="1" i="0" u="none" strike="noStrike" kern="1200" cap="none" spc="0" normalizeH="0" baseline="0" noProof="0" dirty="0">
              <a:ln>
                <a:noFill/>
              </a:ln>
              <a:solidFill>
                <a:srgbClr val="0098C7"/>
              </a:solidFill>
              <a:effectLst/>
              <a:uLnTx/>
              <a:uFillTx/>
              <a:latin typeface="Arial"/>
              <a:ea typeface="Arial"/>
              <a:cs typeface="Arial"/>
              <a:sym typeface="Arial"/>
            </a:endParaRPr>
          </a:p>
        </p:txBody>
      </p:sp>
      <p:pic>
        <p:nvPicPr>
          <p:cNvPr id="3" name="Picture 2">
            <a:extLst>
              <a:ext uri="{FF2B5EF4-FFF2-40B4-BE49-F238E27FC236}">
                <a16:creationId xmlns:a16="http://schemas.microsoft.com/office/drawing/2014/main" id="{3202B919-7BAC-1C69-BDA7-C5D8A844FFF4}"/>
              </a:ext>
            </a:extLst>
          </p:cNvPr>
          <p:cNvPicPr>
            <a:picLocks noChangeAspect="1"/>
          </p:cNvPicPr>
          <p:nvPr/>
        </p:nvPicPr>
        <p:blipFill>
          <a:blip r:embed="rId5"/>
          <a:stretch>
            <a:fillRect/>
          </a:stretch>
        </p:blipFill>
        <p:spPr>
          <a:xfrm>
            <a:off x="4151213" y="3261015"/>
            <a:ext cx="762968" cy="762968"/>
          </a:xfrm>
          <a:prstGeom prst="rect">
            <a:avLst/>
          </a:prstGeom>
        </p:spPr>
      </p:pic>
      <p:grpSp>
        <p:nvGrpSpPr>
          <p:cNvPr id="43" name="Group 42">
            <a:extLst>
              <a:ext uri="{FF2B5EF4-FFF2-40B4-BE49-F238E27FC236}">
                <a16:creationId xmlns:a16="http://schemas.microsoft.com/office/drawing/2014/main" id="{F6BF8A40-FB8C-E303-E019-9942EBB7B990}"/>
              </a:ext>
            </a:extLst>
          </p:cNvPr>
          <p:cNvGrpSpPr/>
          <p:nvPr/>
        </p:nvGrpSpPr>
        <p:grpSpPr>
          <a:xfrm>
            <a:off x="1724742" y="5267021"/>
            <a:ext cx="5684854" cy="400911"/>
            <a:chOff x="1747155" y="5267021"/>
            <a:chExt cx="5684854" cy="400911"/>
          </a:xfrm>
        </p:grpSpPr>
        <p:sp>
          <p:nvSpPr>
            <p:cNvPr id="12" name="Rounded Rectangle 11">
              <a:extLst>
                <a:ext uri="{FF2B5EF4-FFF2-40B4-BE49-F238E27FC236}">
                  <a16:creationId xmlns:a16="http://schemas.microsoft.com/office/drawing/2014/main" id="{B2DABFA0-0E13-AE0B-52E3-CC2065341882}"/>
                </a:ext>
              </a:extLst>
            </p:cNvPr>
            <p:cNvSpPr/>
            <p:nvPr/>
          </p:nvSpPr>
          <p:spPr bwMode="gray">
            <a:xfrm>
              <a:off x="1747155" y="5267021"/>
              <a:ext cx="5684854" cy="400911"/>
            </a:xfrm>
            <a:prstGeom prst="roundRect">
              <a:avLst/>
            </a:prstGeom>
            <a:solidFill>
              <a:schemeClr val="bg1"/>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3" name="Oval 12">
              <a:extLst>
                <a:ext uri="{FF2B5EF4-FFF2-40B4-BE49-F238E27FC236}">
                  <a16:creationId xmlns:a16="http://schemas.microsoft.com/office/drawing/2014/main" id="{640B7752-B3A2-1CDB-3779-948734BE0870}"/>
                </a:ext>
              </a:extLst>
            </p:cNvPr>
            <p:cNvSpPr>
              <a:spLocks noChangeAspect="1"/>
            </p:cNvSpPr>
            <p:nvPr/>
          </p:nvSpPr>
          <p:spPr bwMode="gray">
            <a:xfrm>
              <a:off x="1940724" y="5358722"/>
              <a:ext cx="217509" cy="217509"/>
            </a:xfrm>
            <a:prstGeom prst="ellipse">
              <a:avLst/>
            </a:prstGeom>
            <a:solidFill>
              <a:schemeClr val="bg1"/>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4" name="Rectangle 13">
              <a:extLst>
                <a:ext uri="{FF2B5EF4-FFF2-40B4-BE49-F238E27FC236}">
                  <a16:creationId xmlns:a16="http://schemas.microsoft.com/office/drawing/2014/main" id="{609AF957-E6A7-8FF3-5A3F-E73F561665D0}"/>
                </a:ext>
              </a:extLst>
            </p:cNvPr>
            <p:cNvSpPr/>
            <p:nvPr/>
          </p:nvSpPr>
          <p:spPr bwMode="gray">
            <a:xfrm>
              <a:off x="5803376"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5" name="Rectangle 14">
              <a:extLst>
                <a:ext uri="{FF2B5EF4-FFF2-40B4-BE49-F238E27FC236}">
                  <a16:creationId xmlns:a16="http://schemas.microsoft.com/office/drawing/2014/main" id="{EC0ACB5E-BA0A-55ED-1B61-0A6B42AF12E8}"/>
                </a:ext>
              </a:extLst>
            </p:cNvPr>
            <p:cNvSpPr/>
            <p:nvPr/>
          </p:nvSpPr>
          <p:spPr bwMode="gray">
            <a:xfrm>
              <a:off x="6983318"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6" name="Rectangle 15">
              <a:extLst>
                <a:ext uri="{FF2B5EF4-FFF2-40B4-BE49-F238E27FC236}">
                  <a16:creationId xmlns:a16="http://schemas.microsoft.com/office/drawing/2014/main" id="{34A0A7E4-1BBC-11A8-5E80-9F04F0833F5E}"/>
                </a:ext>
              </a:extLst>
            </p:cNvPr>
            <p:cNvSpPr/>
            <p:nvPr/>
          </p:nvSpPr>
          <p:spPr bwMode="gray">
            <a:xfrm>
              <a:off x="6000033"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7" name="Rectangle 16">
              <a:extLst>
                <a:ext uri="{FF2B5EF4-FFF2-40B4-BE49-F238E27FC236}">
                  <a16:creationId xmlns:a16="http://schemas.microsoft.com/office/drawing/2014/main" id="{7E980415-B8E7-9E9B-A655-BD3C4983B030}"/>
                </a:ext>
              </a:extLst>
            </p:cNvPr>
            <p:cNvSpPr/>
            <p:nvPr/>
          </p:nvSpPr>
          <p:spPr bwMode="gray">
            <a:xfrm>
              <a:off x="6196690"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8" name="Rectangle 17">
              <a:extLst>
                <a:ext uri="{FF2B5EF4-FFF2-40B4-BE49-F238E27FC236}">
                  <a16:creationId xmlns:a16="http://schemas.microsoft.com/office/drawing/2014/main" id="{9A0EAEEE-E4D2-FCE6-FFA9-3387B5CEB0B7}"/>
                </a:ext>
              </a:extLst>
            </p:cNvPr>
            <p:cNvSpPr/>
            <p:nvPr/>
          </p:nvSpPr>
          <p:spPr bwMode="gray">
            <a:xfrm>
              <a:off x="6393347"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9" name="Rectangle 18">
              <a:extLst>
                <a:ext uri="{FF2B5EF4-FFF2-40B4-BE49-F238E27FC236}">
                  <a16:creationId xmlns:a16="http://schemas.microsoft.com/office/drawing/2014/main" id="{EF89C97D-039B-D2D3-7233-DFED21BEF534}"/>
                </a:ext>
              </a:extLst>
            </p:cNvPr>
            <p:cNvSpPr/>
            <p:nvPr/>
          </p:nvSpPr>
          <p:spPr bwMode="gray">
            <a:xfrm>
              <a:off x="6590004"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0" name="Rectangle 19">
              <a:extLst>
                <a:ext uri="{FF2B5EF4-FFF2-40B4-BE49-F238E27FC236}">
                  <a16:creationId xmlns:a16="http://schemas.microsoft.com/office/drawing/2014/main" id="{FC83C835-6169-C3D6-B651-FD4DB91B6192}"/>
                </a:ext>
              </a:extLst>
            </p:cNvPr>
            <p:cNvSpPr/>
            <p:nvPr/>
          </p:nvSpPr>
          <p:spPr bwMode="gray">
            <a:xfrm>
              <a:off x="6786661"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1" name="Rectangle 20">
              <a:extLst>
                <a:ext uri="{FF2B5EF4-FFF2-40B4-BE49-F238E27FC236}">
                  <a16:creationId xmlns:a16="http://schemas.microsoft.com/office/drawing/2014/main" id="{C9FE5AB0-459A-A868-21F9-9794F7946068}"/>
                </a:ext>
              </a:extLst>
            </p:cNvPr>
            <p:cNvSpPr/>
            <p:nvPr/>
          </p:nvSpPr>
          <p:spPr bwMode="gray">
            <a:xfrm>
              <a:off x="7179978"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AD4A9DB3-BA4D-4A9B-92BD-CCB461C1A205}"/>
                </a:ext>
              </a:extLst>
            </p:cNvPr>
            <p:cNvSpPr/>
            <p:nvPr/>
          </p:nvSpPr>
          <p:spPr bwMode="gray">
            <a:xfrm>
              <a:off x="5410062"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4" name="Rectangle 23">
              <a:extLst>
                <a:ext uri="{FF2B5EF4-FFF2-40B4-BE49-F238E27FC236}">
                  <a16:creationId xmlns:a16="http://schemas.microsoft.com/office/drawing/2014/main" id="{BF93A8E0-E3ED-7FE3-1DA8-C78427D01D3C}"/>
                </a:ext>
              </a:extLst>
            </p:cNvPr>
            <p:cNvSpPr/>
            <p:nvPr/>
          </p:nvSpPr>
          <p:spPr bwMode="gray">
            <a:xfrm>
              <a:off x="5606719" y="5346028"/>
              <a:ext cx="81097" cy="258518"/>
            </a:xfrm>
            <a:prstGeom prst="rect">
              <a:avLst/>
            </a:prstGeom>
            <a:solidFill>
              <a:srgbClr val="002060"/>
            </a:solidFill>
            <a:ln w="12700">
              <a:solidFill>
                <a:srgbClr val="00206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5" name="TextBox 24">
              <a:extLst>
                <a:ext uri="{FF2B5EF4-FFF2-40B4-BE49-F238E27FC236}">
                  <a16:creationId xmlns:a16="http://schemas.microsoft.com/office/drawing/2014/main" id="{9B160230-A77B-05DF-2279-43AB9310D3F1}"/>
                </a:ext>
              </a:extLst>
            </p:cNvPr>
            <p:cNvSpPr txBox="1"/>
            <p:nvPr/>
          </p:nvSpPr>
          <p:spPr>
            <a:xfrm>
              <a:off x="3638073" y="5360787"/>
              <a:ext cx="1630466"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2060"/>
                  </a:solidFill>
                  <a:effectLst/>
                  <a:uLnTx/>
                  <a:uFillTx/>
                  <a:latin typeface="Arial" panose="020B0604020202020204"/>
                  <a:ea typeface="+mn-ea"/>
                  <a:cs typeface="+mn-cs"/>
                </a:rPr>
                <a:t>Physical Host</a:t>
              </a:r>
            </a:p>
          </p:txBody>
        </p:sp>
      </p:grpSp>
      <p:pic>
        <p:nvPicPr>
          <p:cNvPr id="36" name="Picture 2">
            <a:extLst>
              <a:ext uri="{FF2B5EF4-FFF2-40B4-BE49-F238E27FC236}">
                <a16:creationId xmlns:a16="http://schemas.microsoft.com/office/drawing/2014/main" id="{B1DFD48C-2F81-FD53-B6EB-B50F7A6F8C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72979" y="3343346"/>
            <a:ext cx="548231" cy="531976"/>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a16="http://schemas.microsoft.com/office/drawing/2014/main" id="{58DC202F-6C71-F8CA-20DE-6179E26AE7C9}"/>
              </a:ext>
            </a:extLst>
          </p:cNvPr>
          <p:cNvSpPr txBox="1"/>
          <p:nvPr/>
        </p:nvSpPr>
        <p:spPr>
          <a:xfrm>
            <a:off x="6109376" y="3939344"/>
            <a:ext cx="875439" cy="1692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1B1D36"/>
                </a:solidFill>
                <a:effectLst/>
                <a:uLnTx/>
                <a:uFillTx/>
                <a:latin typeface="Arial" panose="020B0604020202020204"/>
                <a:ea typeface="+mn-ea"/>
                <a:cs typeface="+mn-cs"/>
              </a:rPr>
              <a:t>VKS Cluster</a:t>
            </a:r>
          </a:p>
        </p:txBody>
      </p:sp>
      <p:sp>
        <p:nvSpPr>
          <p:cNvPr id="38" name="TextBox 37">
            <a:extLst>
              <a:ext uri="{FF2B5EF4-FFF2-40B4-BE49-F238E27FC236}">
                <a16:creationId xmlns:a16="http://schemas.microsoft.com/office/drawing/2014/main" id="{0A553622-C0D2-DE63-F931-F8A3C2778C92}"/>
              </a:ext>
            </a:extLst>
          </p:cNvPr>
          <p:cNvSpPr txBox="1"/>
          <p:nvPr/>
        </p:nvSpPr>
        <p:spPr>
          <a:xfrm>
            <a:off x="2129436" y="3919835"/>
            <a:ext cx="777724" cy="1692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1B1D36"/>
                </a:solidFill>
                <a:effectLst/>
                <a:uLnTx/>
                <a:uFillTx/>
                <a:latin typeface="Arial" panose="020B0604020202020204"/>
                <a:ea typeface="+mn-ea"/>
                <a:cs typeface="+mn-cs"/>
              </a:rPr>
              <a:t>VM Service</a:t>
            </a:r>
          </a:p>
        </p:txBody>
      </p:sp>
      <p:sp>
        <p:nvSpPr>
          <p:cNvPr id="39" name="Google Shape;6544;p34">
            <a:extLst>
              <a:ext uri="{FF2B5EF4-FFF2-40B4-BE49-F238E27FC236}">
                <a16:creationId xmlns:a16="http://schemas.microsoft.com/office/drawing/2014/main" id="{0E9E9771-619D-8D4A-81D7-D74AED615D08}"/>
              </a:ext>
            </a:extLst>
          </p:cNvPr>
          <p:cNvSpPr>
            <a:spLocks noChangeAspect="1"/>
          </p:cNvSpPr>
          <p:nvPr/>
        </p:nvSpPr>
        <p:spPr>
          <a:xfrm>
            <a:off x="2235773" y="3369778"/>
            <a:ext cx="506671" cy="505544"/>
          </a:xfrm>
          <a:custGeom>
            <a:avLst/>
            <a:gdLst/>
            <a:ahLst/>
            <a:cxnLst/>
            <a:rect l="l" t="t" r="r" b="b"/>
            <a:pathLst>
              <a:path w="1371600" h="1371326" extrusionOk="0">
                <a:moveTo>
                  <a:pt x="1267496" y="1204265"/>
                </a:moveTo>
                <a:cubicBezTo>
                  <a:pt x="1232794" y="1204265"/>
                  <a:pt x="1204539" y="1232520"/>
                  <a:pt x="1204539" y="1267221"/>
                </a:cubicBezTo>
                <a:cubicBezTo>
                  <a:pt x="1204539" y="1301923"/>
                  <a:pt x="1232794" y="1330178"/>
                  <a:pt x="1267496" y="1330178"/>
                </a:cubicBezTo>
                <a:cubicBezTo>
                  <a:pt x="1302197" y="1330178"/>
                  <a:pt x="1330452" y="1301923"/>
                  <a:pt x="1330452" y="1267221"/>
                </a:cubicBezTo>
                <a:cubicBezTo>
                  <a:pt x="1330452" y="1232520"/>
                  <a:pt x="1302197" y="1204265"/>
                  <a:pt x="1267496" y="1204265"/>
                </a:cubicBezTo>
                <a:close/>
                <a:moveTo>
                  <a:pt x="685800" y="1204265"/>
                </a:moveTo>
                <a:cubicBezTo>
                  <a:pt x="651099" y="1204265"/>
                  <a:pt x="622844" y="1232520"/>
                  <a:pt x="622844" y="1267221"/>
                </a:cubicBezTo>
                <a:cubicBezTo>
                  <a:pt x="622844" y="1301923"/>
                  <a:pt x="651099" y="1330178"/>
                  <a:pt x="685800" y="1330178"/>
                </a:cubicBezTo>
                <a:cubicBezTo>
                  <a:pt x="720501" y="1330178"/>
                  <a:pt x="748756" y="1301923"/>
                  <a:pt x="748756" y="1267221"/>
                </a:cubicBezTo>
                <a:cubicBezTo>
                  <a:pt x="748756" y="1232520"/>
                  <a:pt x="720501" y="1204265"/>
                  <a:pt x="685800" y="1204265"/>
                </a:cubicBezTo>
                <a:close/>
                <a:moveTo>
                  <a:pt x="104104" y="1204265"/>
                </a:moveTo>
                <a:cubicBezTo>
                  <a:pt x="69403" y="1204265"/>
                  <a:pt x="41148" y="1232520"/>
                  <a:pt x="41148" y="1267221"/>
                </a:cubicBezTo>
                <a:cubicBezTo>
                  <a:pt x="41148" y="1301923"/>
                  <a:pt x="69403" y="1330178"/>
                  <a:pt x="104104" y="1330178"/>
                </a:cubicBezTo>
                <a:cubicBezTo>
                  <a:pt x="138806" y="1330178"/>
                  <a:pt x="167061" y="1301923"/>
                  <a:pt x="167061" y="1267221"/>
                </a:cubicBezTo>
                <a:cubicBezTo>
                  <a:pt x="167061" y="1232520"/>
                  <a:pt x="138806" y="1204265"/>
                  <a:pt x="104104" y="1204265"/>
                </a:cubicBezTo>
                <a:close/>
                <a:moveTo>
                  <a:pt x="691560" y="581421"/>
                </a:moveTo>
                <a:lnTo>
                  <a:pt x="691560" y="780578"/>
                </a:lnTo>
                <a:lnTo>
                  <a:pt x="727496" y="780578"/>
                </a:lnTo>
                <a:lnTo>
                  <a:pt x="727496" y="647532"/>
                </a:lnTo>
                <a:lnTo>
                  <a:pt x="793196" y="768919"/>
                </a:lnTo>
                <a:lnTo>
                  <a:pt x="858621" y="647532"/>
                </a:lnTo>
                <a:lnTo>
                  <a:pt x="858621" y="780578"/>
                </a:lnTo>
                <a:lnTo>
                  <a:pt x="894832" y="780578"/>
                </a:lnTo>
                <a:lnTo>
                  <a:pt x="894832" y="581421"/>
                </a:lnTo>
                <a:lnTo>
                  <a:pt x="858621" y="581421"/>
                </a:lnTo>
                <a:lnTo>
                  <a:pt x="793196" y="702808"/>
                </a:lnTo>
                <a:lnTo>
                  <a:pt x="727496" y="581421"/>
                </a:lnTo>
                <a:close/>
                <a:moveTo>
                  <a:pt x="449199" y="581421"/>
                </a:moveTo>
                <a:lnTo>
                  <a:pt x="532455" y="780578"/>
                </a:lnTo>
                <a:lnTo>
                  <a:pt x="572917" y="780578"/>
                </a:lnTo>
                <a:lnTo>
                  <a:pt x="655899" y="581421"/>
                </a:lnTo>
                <a:lnTo>
                  <a:pt x="616122" y="581421"/>
                </a:lnTo>
                <a:lnTo>
                  <a:pt x="552755" y="732434"/>
                </a:lnTo>
                <a:lnTo>
                  <a:pt x="489387" y="581421"/>
                </a:lnTo>
                <a:close/>
                <a:moveTo>
                  <a:pt x="415732" y="345506"/>
                </a:moveTo>
                <a:lnTo>
                  <a:pt x="955868" y="345506"/>
                </a:lnTo>
                <a:lnTo>
                  <a:pt x="955868" y="345643"/>
                </a:lnTo>
                <a:cubicBezTo>
                  <a:pt x="993175" y="345643"/>
                  <a:pt x="1023351" y="375818"/>
                  <a:pt x="1023351" y="413126"/>
                </a:cubicBezTo>
                <a:lnTo>
                  <a:pt x="1023351" y="953125"/>
                </a:lnTo>
                <a:cubicBezTo>
                  <a:pt x="1023351" y="990432"/>
                  <a:pt x="993175" y="1020608"/>
                  <a:pt x="955868" y="1020608"/>
                </a:cubicBezTo>
                <a:lnTo>
                  <a:pt x="415732" y="1020608"/>
                </a:lnTo>
                <a:cubicBezTo>
                  <a:pt x="378424" y="1020608"/>
                  <a:pt x="348249" y="990432"/>
                  <a:pt x="348249" y="953125"/>
                </a:cubicBezTo>
                <a:lnTo>
                  <a:pt x="348249" y="412989"/>
                </a:lnTo>
                <a:cubicBezTo>
                  <a:pt x="348249" y="375681"/>
                  <a:pt x="378424" y="345506"/>
                  <a:pt x="415732" y="345506"/>
                </a:cubicBezTo>
                <a:close/>
                <a:moveTo>
                  <a:pt x="205603" y="117820"/>
                </a:moveTo>
                <a:cubicBezTo>
                  <a:pt x="203545" y="133320"/>
                  <a:pt x="198196" y="147173"/>
                  <a:pt x="190104" y="159654"/>
                </a:cubicBezTo>
                <a:lnTo>
                  <a:pt x="352090" y="321777"/>
                </a:lnTo>
                <a:lnTo>
                  <a:pt x="323012" y="350855"/>
                </a:lnTo>
                <a:lnTo>
                  <a:pt x="161300" y="189006"/>
                </a:lnTo>
                <a:cubicBezTo>
                  <a:pt x="149367" y="196962"/>
                  <a:pt x="136200" y="202174"/>
                  <a:pt x="121524" y="204780"/>
                </a:cubicBezTo>
                <a:lnTo>
                  <a:pt x="121524" y="1166409"/>
                </a:lnTo>
                <a:cubicBezTo>
                  <a:pt x="135926" y="1168878"/>
                  <a:pt x="148956" y="1174090"/>
                  <a:pt x="160752" y="1181908"/>
                </a:cubicBezTo>
                <a:lnTo>
                  <a:pt x="326304" y="1016218"/>
                </a:lnTo>
                <a:lnTo>
                  <a:pt x="355382" y="1045296"/>
                </a:lnTo>
                <a:lnTo>
                  <a:pt x="189692" y="1211123"/>
                </a:lnTo>
                <a:cubicBezTo>
                  <a:pt x="197922" y="1223742"/>
                  <a:pt x="203271" y="1237869"/>
                  <a:pt x="205466" y="1253505"/>
                </a:cubicBezTo>
                <a:lnTo>
                  <a:pt x="205466" y="1251997"/>
                </a:lnTo>
                <a:lnTo>
                  <a:pt x="584713" y="1251997"/>
                </a:lnTo>
                <a:cubicBezTo>
                  <a:pt x="591297" y="1208380"/>
                  <a:pt x="623804" y="1174913"/>
                  <a:pt x="667009" y="1166820"/>
                </a:cubicBezTo>
                <a:lnTo>
                  <a:pt x="667009" y="1061756"/>
                </a:lnTo>
                <a:lnTo>
                  <a:pt x="708020" y="1061756"/>
                </a:lnTo>
                <a:lnTo>
                  <a:pt x="708020" y="1167506"/>
                </a:lnTo>
                <a:cubicBezTo>
                  <a:pt x="749442" y="1176833"/>
                  <a:pt x="780303" y="1209614"/>
                  <a:pt x="786750" y="1251997"/>
                </a:cubicBezTo>
                <a:lnTo>
                  <a:pt x="1166409" y="1251997"/>
                </a:lnTo>
                <a:cubicBezTo>
                  <a:pt x="1168740" y="1236909"/>
                  <a:pt x="1173952" y="1223467"/>
                  <a:pt x="1181908" y="1211260"/>
                </a:cubicBezTo>
                <a:lnTo>
                  <a:pt x="1182182" y="1211397"/>
                </a:lnTo>
                <a:lnTo>
                  <a:pt x="1016081" y="1044885"/>
                </a:lnTo>
                <a:lnTo>
                  <a:pt x="1045159" y="1015807"/>
                </a:lnTo>
                <a:lnTo>
                  <a:pt x="1211123" y="1182182"/>
                </a:lnTo>
                <a:cubicBezTo>
                  <a:pt x="1222781" y="1174501"/>
                  <a:pt x="1235537" y="1169426"/>
                  <a:pt x="1249665" y="1166820"/>
                </a:cubicBezTo>
                <a:lnTo>
                  <a:pt x="1249665" y="204643"/>
                </a:lnTo>
                <a:cubicBezTo>
                  <a:pt x="1235263" y="202037"/>
                  <a:pt x="1222370" y="196825"/>
                  <a:pt x="1210711" y="189006"/>
                </a:cubicBezTo>
                <a:lnTo>
                  <a:pt x="1048314" y="351678"/>
                </a:lnTo>
                <a:lnTo>
                  <a:pt x="1019236" y="322600"/>
                </a:lnTo>
                <a:lnTo>
                  <a:pt x="1181771" y="159654"/>
                </a:lnTo>
                <a:cubicBezTo>
                  <a:pt x="1174090" y="147584"/>
                  <a:pt x="1169015" y="134280"/>
                  <a:pt x="1166683" y="119466"/>
                </a:cubicBezTo>
                <a:lnTo>
                  <a:pt x="787436" y="119466"/>
                </a:lnTo>
                <a:cubicBezTo>
                  <a:pt x="781538" y="162672"/>
                  <a:pt x="750265" y="196139"/>
                  <a:pt x="708294" y="205603"/>
                </a:cubicBezTo>
                <a:lnTo>
                  <a:pt x="708294" y="304358"/>
                </a:lnTo>
                <a:lnTo>
                  <a:pt x="667283" y="304358"/>
                </a:lnTo>
                <a:lnTo>
                  <a:pt x="667283" y="206289"/>
                </a:lnTo>
                <a:cubicBezTo>
                  <a:pt x="623529" y="198059"/>
                  <a:pt x="590611" y="163906"/>
                  <a:pt x="584576" y="119466"/>
                </a:cubicBezTo>
                <a:lnTo>
                  <a:pt x="205603" y="119466"/>
                </a:lnTo>
                <a:close/>
                <a:moveTo>
                  <a:pt x="685800" y="42931"/>
                </a:moveTo>
                <a:cubicBezTo>
                  <a:pt x="651099" y="42931"/>
                  <a:pt x="622844" y="71186"/>
                  <a:pt x="622844" y="105888"/>
                </a:cubicBezTo>
                <a:cubicBezTo>
                  <a:pt x="622844" y="140589"/>
                  <a:pt x="651099" y="168844"/>
                  <a:pt x="685800" y="168844"/>
                </a:cubicBezTo>
                <a:cubicBezTo>
                  <a:pt x="720501" y="168844"/>
                  <a:pt x="748756" y="140589"/>
                  <a:pt x="748756" y="105888"/>
                </a:cubicBezTo>
                <a:cubicBezTo>
                  <a:pt x="748756" y="71186"/>
                  <a:pt x="720501" y="42931"/>
                  <a:pt x="685800" y="42931"/>
                </a:cubicBezTo>
                <a:close/>
                <a:moveTo>
                  <a:pt x="1267496" y="41148"/>
                </a:moveTo>
                <a:cubicBezTo>
                  <a:pt x="1232794" y="41148"/>
                  <a:pt x="1204539" y="69403"/>
                  <a:pt x="1204539" y="104104"/>
                </a:cubicBezTo>
                <a:cubicBezTo>
                  <a:pt x="1204539" y="138806"/>
                  <a:pt x="1232794" y="167061"/>
                  <a:pt x="1267496" y="167061"/>
                </a:cubicBezTo>
                <a:cubicBezTo>
                  <a:pt x="1302197" y="167061"/>
                  <a:pt x="1330452" y="138806"/>
                  <a:pt x="1330452" y="104104"/>
                </a:cubicBezTo>
                <a:cubicBezTo>
                  <a:pt x="1330452" y="69403"/>
                  <a:pt x="1302197" y="41148"/>
                  <a:pt x="1267496" y="41148"/>
                </a:cubicBezTo>
                <a:close/>
                <a:moveTo>
                  <a:pt x="104104" y="41148"/>
                </a:moveTo>
                <a:cubicBezTo>
                  <a:pt x="69403" y="41148"/>
                  <a:pt x="41148" y="69403"/>
                  <a:pt x="41148" y="104104"/>
                </a:cubicBezTo>
                <a:cubicBezTo>
                  <a:pt x="41148" y="138806"/>
                  <a:pt x="69403" y="167061"/>
                  <a:pt x="104104" y="167061"/>
                </a:cubicBezTo>
                <a:cubicBezTo>
                  <a:pt x="138806" y="167061"/>
                  <a:pt x="167061" y="138806"/>
                  <a:pt x="167061" y="104104"/>
                </a:cubicBezTo>
                <a:cubicBezTo>
                  <a:pt x="167061" y="69403"/>
                  <a:pt x="138806" y="41148"/>
                  <a:pt x="104104" y="41148"/>
                </a:cubicBezTo>
                <a:close/>
                <a:moveTo>
                  <a:pt x="104104" y="0"/>
                </a:moveTo>
                <a:cubicBezTo>
                  <a:pt x="156774" y="0"/>
                  <a:pt x="198608" y="39776"/>
                  <a:pt x="205466" y="90526"/>
                </a:cubicBezTo>
                <a:lnTo>
                  <a:pt x="205466" y="89017"/>
                </a:lnTo>
                <a:lnTo>
                  <a:pt x="585262" y="89017"/>
                </a:lnTo>
                <a:cubicBezTo>
                  <a:pt x="593628" y="39914"/>
                  <a:pt x="634502" y="1783"/>
                  <a:pt x="685937" y="1783"/>
                </a:cubicBezTo>
                <a:cubicBezTo>
                  <a:pt x="737372" y="1783"/>
                  <a:pt x="778246" y="39914"/>
                  <a:pt x="786613" y="89017"/>
                </a:cubicBezTo>
                <a:lnTo>
                  <a:pt x="1166546" y="89017"/>
                </a:lnTo>
                <a:cubicBezTo>
                  <a:pt x="1174090" y="38953"/>
                  <a:pt x="1215375" y="0"/>
                  <a:pt x="1267496" y="0"/>
                </a:cubicBezTo>
                <a:cubicBezTo>
                  <a:pt x="1324966" y="0"/>
                  <a:pt x="1371600" y="46634"/>
                  <a:pt x="1371600" y="104104"/>
                </a:cubicBezTo>
                <a:cubicBezTo>
                  <a:pt x="1371600" y="157185"/>
                  <a:pt x="1331275" y="199431"/>
                  <a:pt x="1279840" y="205740"/>
                </a:cubicBezTo>
                <a:lnTo>
                  <a:pt x="1279840" y="1165586"/>
                </a:lnTo>
                <a:cubicBezTo>
                  <a:pt x="1331275" y="1171895"/>
                  <a:pt x="1371600" y="1214140"/>
                  <a:pt x="1371600" y="1267221"/>
                </a:cubicBezTo>
                <a:cubicBezTo>
                  <a:pt x="1371600" y="1324691"/>
                  <a:pt x="1324966" y="1371326"/>
                  <a:pt x="1267496" y="1371326"/>
                </a:cubicBezTo>
                <a:cubicBezTo>
                  <a:pt x="1215512" y="1371326"/>
                  <a:pt x="1174227" y="1332372"/>
                  <a:pt x="1166546" y="1282446"/>
                </a:cubicBezTo>
                <a:lnTo>
                  <a:pt x="786887" y="1282446"/>
                </a:lnTo>
                <a:cubicBezTo>
                  <a:pt x="779206" y="1332372"/>
                  <a:pt x="737784" y="1371326"/>
                  <a:pt x="685800" y="1371326"/>
                </a:cubicBezTo>
                <a:cubicBezTo>
                  <a:pt x="633816" y="1371326"/>
                  <a:pt x="592531" y="1332372"/>
                  <a:pt x="584850" y="1282446"/>
                </a:cubicBezTo>
                <a:lnTo>
                  <a:pt x="205466" y="1282446"/>
                </a:lnTo>
                <a:lnTo>
                  <a:pt x="205466" y="1280800"/>
                </a:lnTo>
                <a:cubicBezTo>
                  <a:pt x="198471" y="1331549"/>
                  <a:pt x="156774" y="1371326"/>
                  <a:pt x="104104" y="1371326"/>
                </a:cubicBezTo>
                <a:cubicBezTo>
                  <a:pt x="46634" y="1371326"/>
                  <a:pt x="0" y="1324691"/>
                  <a:pt x="0" y="1267221"/>
                </a:cubicBezTo>
                <a:cubicBezTo>
                  <a:pt x="0" y="1214278"/>
                  <a:pt x="39914" y="1172444"/>
                  <a:pt x="90937" y="1165723"/>
                </a:cubicBezTo>
                <a:lnTo>
                  <a:pt x="90937" y="205603"/>
                </a:lnTo>
                <a:cubicBezTo>
                  <a:pt x="40051" y="198882"/>
                  <a:pt x="0" y="156911"/>
                  <a:pt x="0" y="104104"/>
                </a:cubicBezTo>
                <a:cubicBezTo>
                  <a:pt x="0" y="46634"/>
                  <a:pt x="46634" y="0"/>
                  <a:pt x="104104" y="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dirty="0">
              <a:ln>
                <a:noFill/>
              </a:ln>
              <a:solidFill>
                <a:srgbClr val="000000"/>
              </a:solidFill>
              <a:effectLst/>
              <a:uLnTx/>
              <a:uFillTx/>
              <a:latin typeface="Arial"/>
              <a:ea typeface="Arial"/>
              <a:cs typeface="Arial"/>
              <a:sym typeface="Arial"/>
            </a:endParaRPr>
          </a:p>
        </p:txBody>
      </p:sp>
      <p:pic>
        <p:nvPicPr>
          <p:cNvPr id="1026" name="Picture 2">
            <a:extLst>
              <a:ext uri="{FF2B5EF4-FFF2-40B4-BE49-F238E27FC236}">
                <a16:creationId xmlns:a16="http://schemas.microsoft.com/office/drawing/2014/main" id="{1EFCEE28-64C8-72E1-2BB3-7717ED6B63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119696" y="1213283"/>
            <a:ext cx="384296" cy="160475"/>
          </a:xfrm>
          <a:prstGeom prst="rect">
            <a:avLst/>
          </a:prstGeom>
          <a:noFill/>
          <a:extLst>
            <a:ext uri="{909E8E84-426E-40DD-AFC4-6F175D3DCCD1}">
              <a14:hiddenFill xmlns:a14="http://schemas.microsoft.com/office/drawing/2010/main">
                <a:solidFill>
                  <a:srgbClr val="FFFFFF"/>
                </a:solidFill>
              </a14:hiddenFill>
            </a:ext>
          </a:extLst>
        </p:spPr>
      </p:pic>
      <p:sp>
        <p:nvSpPr>
          <p:cNvPr id="51" name="Title 30">
            <a:extLst>
              <a:ext uri="{FF2B5EF4-FFF2-40B4-BE49-F238E27FC236}">
                <a16:creationId xmlns:a16="http://schemas.microsoft.com/office/drawing/2014/main" id="{0445972C-8FD7-E34C-C65B-7A58355E09CE}"/>
              </a:ext>
            </a:extLst>
          </p:cNvPr>
          <p:cNvSpPr>
            <a:spLocks noGrp="1"/>
          </p:cNvSpPr>
          <p:nvPr>
            <p:ph type="title"/>
          </p:nvPr>
        </p:nvSpPr>
        <p:spPr>
          <a:xfrm>
            <a:off x="280461" y="261431"/>
            <a:ext cx="6287130" cy="381000"/>
          </a:xfrm>
        </p:spPr>
        <p:txBody>
          <a:bodyPr/>
          <a:lstStyle/>
          <a:p>
            <a:r>
              <a:rPr lang="en-US" dirty="0"/>
              <a:t>Zero Touch Provisioning of Edge Site</a:t>
            </a:r>
          </a:p>
        </p:txBody>
      </p:sp>
      <p:sp>
        <p:nvSpPr>
          <p:cNvPr id="52" name="TextBox 51">
            <a:extLst>
              <a:ext uri="{FF2B5EF4-FFF2-40B4-BE49-F238E27FC236}">
                <a16:creationId xmlns:a16="http://schemas.microsoft.com/office/drawing/2014/main" id="{42719956-E9A3-D739-5E38-25D931B621DC}"/>
              </a:ext>
            </a:extLst>
          </p:cNvPr>
          <p:cNvSpPr txBox="1"/>
          <p:nvPr/>
        </p:nvSpPr>
        <p:spPr>
          <a:xfrm>
            <a:off x="8871923" y="2320581"/>
            <a:ext cx="2232852"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Configure ZTP in vCenter</a:t>
            </a:r>
          </a:p>
        </p:txBody>
      </p:sp>
      <p:sp>
        <p:nvSpPr>
          <p:cNvPr id="53" name="TextBox 52">
            <a:extLst>
              <a:ext uri="{FF2B5EF4-FFF2-40B4-BE49-F238E27FC236}">
                <a16:creationId xmlns:a16="http://schemas.microsoft.com/office/drawing/2014/main" id="{888643AE-268D-3421-065A-4522C3A4224D}"/>
              </a:ext>
            </a:extLst>
          </p:cNvPr>
          <p:cNvSpPr txBox="1"/>
          <p:nvPr/>
        </p:nvSpPr>
        <p:spPr>
          <a:xfrm>
            <a:off x="8867669" y="2820717"/>
            <a:ext cx="3130629"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Onboard Host, deploy ESX with ZTP</a:t>
            </a:r>
          </a:p>
        </p:txBody>
      </p:sp>
      <p:sp>
        <p:nvSpPr>
          <p:cNvPr id="54" name="TextBox 53">
            <a:extLst>
              <a:ext uri="{FF2B5EF4-FFF2-40B4-BE49-F238E27FC236}">
                <a16:creationId xmlns:a16="http://schemas.microsoft.com/office/drawing/2014/main" id="{FF0B2B75-320A-0D23-3905-70E412473B0B}"/>
              </a:ext>
            </a:extLst>
          </p:cNvPr>
          <p:cNvSpPr txBox="1"/>
          <p:nvPr/>
        </p:nvSpPr>
        <p:spPr>
          <a:xfrm>
            <a:off x="8871921" y="3247825"/>
            <a:ext cx="3130629" cy="73866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Use Automation Script: Configure Cluster (vDS, vSAN, DRS, HA, etc.), </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Supervisor + FLB, </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Enable Argo CD</a:t>
            </a:r>
            <a:r>
              <a:rPr kumimoji="0" lang="en-US" sz="1200" b="0" i="0" u="sng" strike="noStrike" kern="1200" cap="none" spc="0" normalizeH="0" baseline="0" noProof="0" dirty="0">
                <a:ln>
                  <a:noFill/>
                </a:ln>
                <a:solidFill>
                  <a:srgbClr val="0098C7"/>
                </a:solidFill>
                <a:effectLst/>
                <a:uLnTx/>
                <a:uFillTx/>
                <a:latin typeface="Arial" panose="020B0604020202020204"/>
                <a:ea typeface="+mn-ea"/>
                <a:cs typeface="+mn-cs"/>
                <a:hlinkClick r:id="rId8"/>
              </a:rPr>
              <a:t> </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55" name="TextBox 54">
            <a:extLst>
              <a:ext uri="{FF2B5EF4-FFF2-40B4-BE49-F238E27FC236}">
                <a16:creationId xmlns:a16="http://schemas.microsoft.com/office/drawing/2014/main" id="{42959DD5-0CBC-0140-7E24-81C329DF4347}"/>
              </a:ext>
            </a:extLst>
          </p:cNvPr>
          <p:cNvSpPr txBox="1"/>
          <p:nvPr/>
        </p:nvSpPr>
        <p:spPr>
          <a:xfrm>
            <a:off x="8867669" y="4141310"/>
            <a:ext cx="3130629"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t>Configure Argo CD/ Deploy Application</a:t>
            </a:r>
          </a:p>
        </p:txBody>
      </p:sp>
      <p:cxnSp>
        <p:nvCxnSpPr>
          <p:cNvPr id="57" name="Straight Arrow Connector 56">
            <a:extLst>
              <a:ext uri="{FF2B5EF4-FFF2-40B4-BE49-F238E27FC236}">
                <a16:creationId xmlns:a16="http://schemas.microsoft.com/office/drawing/2014/main" id="{A8E4BDC6-BFF2-3DBA-B947-F6A48871D4BA}"/>
              </a:ext>
            </a:extLst>
          </p:cNvPr>
          <p:cNvCxnSpPr/>
          <p:nvPr/>
        </p:nvCxnSpPr>
        <p:spPr bwMode="gray">
          <a:xfrm flipH="1">
            <a:off x="1429254" y="2273448"/>
            <a:ext cx="1464675" cy="0"/>
          </a:xfrm>
          <a:prstGeom prst="straightConnector1">
            <a:avLst/>
          </a:prstGeom>
          <a:ln w="19050"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9" name="Straight Connector 58">
            <a:extLst>
              <a:ext uri="{FF2B5EF4-FFF2-40B4-BE49-F238E27FC236}">
                <a16:creationId xmlns:a16="http://schemas.microsoft.com/office/drawing/2014/main" id="{093D83D8-4DE4-413D-C154-BCD2708137E5}"/>
              </a:ext>
            </a:extLst>
          </p:cNvPr>
          <p:cNvCxnSpPr>
            <a:cxnSpLocks/>
          </p:cNvCxnSpPr>
          <p:nvPr/>
        </p:nvCxnSpPr>
        <p:spPr bwMode="gray">
          <a:xfrm>
            <a:off x="1485339" y="2311330"/>
            <a:ext cx="0" cy="2115945"/>
          </a:xfrm>
          <a:prstGeom prst="line">
            <a:avLst/>
          </a:prstGeom>
          <a:ln w="19050"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024" name="Straight Connector 1023">
            <a:extLst>
              <a:ext uri="{FF2B5EF4-FFF2-40B4-BE49-F238E27FC236}">
                <a16:creationId xmlns:a16="http://schemas.microsoft.com/office/drawing/2014/main" id="{79D69C4C-8435-DBFB-E70F-B7DAE9CF2563}"/>
              </a:ext>
            </a:extLst>
          </p:cNvPr>
          <p:cNvCxnSpPr>
            <a:cxnSpLocks/>
            <a:endCxn id="8" idx="1"/>
          </p:cNvCxnSpPr>
          <p:nvPr/>
        </p:nvCxnSpPr>
        <p:spPr bwMode="gray">
          <a:xfrm>
            <a:off x="1483480" y="4461034"/>
            <a:ext cx="241263" cy="0"/>
          </a:xfrm>
          <a:prstGeom prst="line">
            <a:avLst/>
          </a:prstGeom>
          <a:ln w="19050" cap="flat" cmpd="sng" algn="ctr">
            <a:solidFill>
              <a:schemeClr val="dk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cxnSp>
      <p:cxnSp>
        <p:nvCxnSpPr>
          <p:cNvPr id="1030" name="Straight Connector 1029">
            <a:extLst>
              <a:ext uri="{FF2B5EF4-FFF2-40B4-BE49-F238E27FC236}">
                <a16:creationId xmlns:a16="http://schemas.microsoft.com/office/drawing/2014/main" id="{755DE10B-B374-6725-AA5B-1656FBC195AB}"/>
              </a:ext>
            </a:extLst>
          </p:cNvPr>
          <p:cNvCxnSpPr>
            <a:cxnSpLocks/>
          </p:cNvCxnSpPr>
          <p:nvPr/>
        </p:nvCxnSpPr>
        <p:spPr bwMode="gray">
          <a:xfrm>
            <a:off x="6307379" y="2142100"/>
            <a:ext cx="0" cy="620150"/>
          </a:xfrm>
          <a:prstGeom prst="line">
            <a:avLst/>
          </a:prstGeom>
          <a:ln w="19050" cap="flat" cmpd="sng" algn="ctr">
            <a:solidFill>
              <a:schemeClr val="dk1"/>
            </a:solidFill>
            <a:prstDash val="dash"/>
            <a:round/>
            <a:headEnd type="triangle" w="med" len="med"/>
            <a:tailEnd type="none" w="med" len="med"/>
          </a:ln>
        </p:spPr>
        <p:style>
          <a:lnRef idx="0">
            <a:scrgbClr r="0" g="0" b="0"/>
          </a:lnRef>
          <a:fillRef idx="0">
            <a:scrgbClr r="0" g="0" b="0"/>
          </a:fillRef>
          <a:effectRef idx="0">
            <a:scrgbClr r="0" g="0" b="0"/>
          </a:effectRef>
          <a:fontRef idx="minor">
            <a:schemeClr val="tx1"/>
          </a:fontRef>
        </p:style>
      </p:cxnSp>
      <p:cxnSp>
        <p:nvCxnSpPr>
          <p:cNvPr id="1033" name="Straight Connector 1032">
            <a:extLst>
              <a:ext uri="{FF2B5EF4-FFF2-40B4-BE49-F238E27FC236}">
                <a16:creationId xmlns:a16="http://schemas.microsoft.com/office/drawing/2014/main" id="{C23CB805-C705-0558-ECE6-762EAB0366DA}"/>
              </a:ext>
            </a:extLst>
          </p:cNvPr>
          <p:cNvCxnSpPr/>
          <p:nvPr/>
        </p:nvCxnSpPr>
        <p:spPr bwMode="gray">
          <a:xfrm flipH="1">
            <a:off x="4560882" y="2771775"/>
            <a:ext cx="1750963" cy="0"/>
          </a:xfrm>
          <a:prstGeom prst="line">
            <a:avLst/>
          </a:prstGeom>
          <a:ln w="19050"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035" name="Straight Connector 1034">
            <a:extLst>
              <a:ext uri="{FF2B5EF4-FFF2-40B4-BE49-F238E27FC236}">
                <a16:creationId xmlns:a16="http://schemas.microsoft.com/office/drawing/2014/main" id="{CDA1D1AC-345A-3229-961F-B386842044AB}"/>
              </a:ext>
            </a:extLst>
          </p:cNvPr>
          <p:cNvCxnSpPr>
            <a:endCxn id="27" idx="0"/>
          </p:cNvCxnSpPr>
          <p:nvPr/>
        </p:nvCxnSpPr>
        <p:spPr bwMode="gray">
          <a:xfrm flipH="1">
            <a:off x="4560881" y="2762250"/>
            <a:ext cx="1" cy="224653"/>
          </a:xfrm>
          <a:prstGeom prst="line">
            <a:avLst/>
          </a:prstGeom>
          <a:ln w="19050" cap="flat" cmpd="sng" algn="ctr">
            <a:solidFill>
              <a:schemeClr val="dk1"/>
            </a:solidFill>
            <a:prstDash val="dash"/>
            <a:round/>
            <a:headEnd type="none" w="med" len="med"/>
            <a:tailEnd type="triangle" w="med" len="med"/>
          </a:ln>
        </p:spPr>
        <p:style>
          <a:lnRef idx="0">
            <a:scrgbClr r="0" g="0" b="0"/>
          </a:lnRef>
          <a:fillRef idx="0">
            <a:scrgbClr r="0" g="0" b="0"/>
          </a:fillRef>
          <a:effectRef idx="0">
            <a:scrgbClr r="0" g="0" b="0"/>
          </a:effectRef>
          <a:fontRef idx="minor">
            <a:schemeClr val="tx1"/>
          </a:fontRef>
        </p:style>
      </p:cxn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1000"/>
                                        <p:tgtEl>
                                          <p:spTgt spid="31"/>
                                        </p:tgtEl>
                                      </p:cBhvr>
                                    </p:animEffect>
                                  </p:childTnLst>
                                </p:cTn>
                              </p:par>
                              <p:par>
                                <p:cTn id="8" presetID="22" presetClass="entr" presetSubtype="1" fill="hold" nodeType="withEffect">
                                  <p:stCondLst>
                                    <p:cond delay="0"/>
                                  </p:stCondLst>
                                  <p:childTnLst>
                                    <p:set>
                                      <p:cBhvr>
                                        <p:cTn id="9" dur="1" fill="hold">
                                          <p:stCondLst>
                                            <p:cond delay="0"/>
                                          </p:stCondLst>
                                        </p:cTn>
                                        <p:tgtEl>
                                          <p:spTgt spid="6986"/>
                                        </p:tgtEl>
                                        <p:attrNameLst>
                                          <p:attrName>style.visibility</p:attrName>
                                        </p:attrNameLst>
                                      </p:cBhvr>
                                      <p:to>
                                        <p:strVal val="visible"/>
                                      </p:to>
                                    </p:set>
                                    <p:animEffect transition="in" filter="wipe(up)">
                                      <p:cBhvr>
                                        <p:cTn id="10" dur="1000"/>
                                        <p:tgtEl>
                                          <p:spTgt spid="698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978"/>
                                        </p:tgtEl>
                                        <p:attrNameLst>
                                          <p:attrName>style.visibility</p:attrName>
                                        </p:attrNameLst>
                                      </p:cBhvr>
                                      <p:to>
                                        <p:strVal val="visible"/>
                                      </p:to>
                                    </p:set>
                                    <p:animEffect transition="in" filter="fade">
                                      <p:cBhvr>
                                        <p:cTn id="13" dur="1000"/>
                                        <p:tgtEl>
                                          <p:spTgt spid="697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2"/>
                                        </p:tgtEl>
                                        <p:attrNameLst>
                                          <p:attrName>style.visibility</p:attrName>
                                        </p:attrNameLst>
                                      </p:cBhvr>
                                      <p:to>
                                        <p:strVal val="visible"/>
                                      </p:to>
                                    </p:set>
                                    <p:animEffect transition="in" filter="fade">
                                      <p:cBhvr>
                                        <p:cTn id="16" dur="1000"/>
                                        <p:tgtEl>
                                          <p:spTgt spid="5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6975"/>
                                        </p:tgtEl>
                                        <p:attrNameLst>
                                          <p:attrName>style.visibility</p:attrName>
                                        </p:attrNameLst>
                                      </p:cBhvr>
                                      <p:to>
                                        <p:strVal val="visible"/>
                                      </p:to>
                                    </p:set>
                                    <p:animEffect transition="in" filter="fade">
                                      <p:cBhvr>
                                        <p:cTn id="19" dur="1000"/>
                                        <p:tgtEl>
                                          <p:spTgt spid="6975"/>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1000"/>
                                        <p:tgtEl>
                                          <p:spTgt spid="6"/>
                                        </p:tgtEl>
                                      </p:cBhvr>
                                    </p:animEffect>
                                  </p:childTnLst>
                                </p:cTn>
                              </p:par>
                              <p:par>
                                <p:cTn id="25" presetID="10" presetClass="entr" presetSubtype="0" fill="hold" nodeType="with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1000"/>
                                        <p:tgtEl>
                                          <p:spTgt spid="4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6976"/>
                                        </p:tgtEl>
                                        <p:attrNameLst>
                                          <p:attrName>style.visibility</p:attrName>
                                        </p:attrNameLst>
                                      </p:cBhvr>
                                      <p:to>
                                        <p:strVal val="visible"/>
                                      </p:to>
                                    </p:set>
                                    <p:animEffect transition="in" filter="fade">
                                      <p:cBhvr>
                                        <p:cTn id="30" dur="1000"/>
                                        <p:tgtEl>
                                          <p:spTgt spid="697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981"/>
                                        </p:tgtEl>
                                        <p:attrNameLst>
                                          <p:attrName>style.visibility</p:attrName>
                                        </p:attrNameLst>
                                      </p:cBhvr>
                                      <p:to>
                                        <p:strVal val="visible"/>
                                      </p:to>
                                    </p:set>
                                    <p:animEffect transition="in" filter="fade">
                                      <p:cBhvr>
                                        <p:cTn id="33" dur="1000"/>
                                        <p:tgtEl>
                                          <p:spTgt spid="698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6979"/>
                                        </p:tgtEl>
                                        <p:attrNameLst>
                                          <p:attrName>style.visibility</p:attrName>
                                        </p:attrNameLst>
                                      </p:cBhvr>
                                      <p:to>
                                        <p:strVal val="visible"/>
                                      </p:to>
                                    </p:set>
                                    <p:animEffect transition="in" filter="fade">
                                      <p:cBhvr>
                                        <p:cTn id="36" dur="1000"/>
                                        <p:tgtEl>
                                          <p:spTgt spid="697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fade">
                                      <p:cBhvr>
                                        <p:cTn id="39" dur="1000"/>
                                        <p:tgtEl>
                                          <p:spTgt spid="5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6980"/>
                                        </p:tgtEl>
                                        <p:attrNameLst>
                                          <p:attrName>style.visibility</p:attrName>
                                        </p:attrNameLst>
                                      </p:cBhvr>
                                      <p:to>
                                        <p:strVal val="visible"/>
                                      </p:to>
                                    </p:set>
                                    <p:animEffect transition="in" filter="fade">
                                      <p:cBhvr>
                                        <p:cTn id="44" dur="1000"/>
                                        <p:tgtEl>
                                          <p:spTgt spid="6980"/>
                                        </p:tgtEl>
                                      </p:cBhvr>
                                    </p:animEffect>
                                  </p:childTnLst>
                                </p:cTn>
                              </p:par>
                              <p:par>
                                <p:cTn id="45" presetID="22" presetClass="entr" presetSubtype="2" fill="hold" nodeType="withEffect">
                                  <p:stCondLst>
                                    <p:cond delay="0"/>
                                  </p:stCondLst>
                                  <p:childTnLst>
                                    <p:set>
                                      <p:cBhvr>
                                        <p:cTn id="46" dur="1" fill="hold">
                                          <p:stCondLst>
                                            <p:cond delay="0"/>
                                          </p:stCondLst>
                                        </p:cTn>
                                        <p:tgtEl>
                                          <p:spTgt spid="57"/>
                                        </p:tgtEl>
                                        <p:attrNameLst>
                                          <p:attrName>style.visibility</p:attrName>
                                        </p:attrNameLst>
                                      </p:cBhvr>
                                      <p:to>
                                        <p:strVal val="visible"/>
                                      </p:to>
                                    </p:set>
                                    <p:animEffect transition="in" filter="wipe(right)">
                                      <p:cBhvr>
                                        <p:cTn id="47" dur="500"/>
                                        <p:tgtEl>
                                          <p:spTgt spid="57"/>
                                        </p:tgtEl>
                                      </p:cBhvr>
                                    </p:animEffect>
                                  </p:childTnLst>
                                </p:cTn>
                              </p:par>
                            </p:childTnLst>
                          </p:cTn>
                        </p:par>
                        <p:par>
                          <p:cTn id="48" fill="hold">
                            <p:stCondLst>
                              <p:cond delay="1000"/>
                            </p:stCondLst>
                            <p:childTnLst>
                              <p:par>
                                <p:cTn id="49" presetID="22" presetClass="entr" presetSubtype="1" fill="hold" nodeType="afterEffect">
                                  <p:stCondLst>
                                    <p:cond delay="0"/>
                                  </p:stCondLst>
                                  <p:childTnLst>
                                    <p:set>
                                      <p:cBhvr>
                                        <p:cTn id="50" dur="1" fill="hold">
                                          <p:stCondLst>
                                            <p:cond delay="0"/>
                                          </p:stCondLst>
                                        </p:cTn>
                                        <p:tgtEl>
                                          <p:spTgt spid="59"/>
                                        </p:tgtEl>
                                        <p:attrNameLst>
                                          <p:attrName>style.visibility</p:attrName>
                                        </p:attrNameLst>
                                      </p:cBhvr>
                                      <p:to>
                                        <p:strVal val="visible"/>
                                      </p:to>
                                    </p:set>
                                    <p:animEffect transition="in" filter="wipe(up)">
                                      <p:cBhvr>
                                        <p:cTn id="51" dur="500"/>
                                        <p:tgtEl>
                                          <p:spTgt spid="59"/>
                                        </p:tgtEl>
                                      </p:cBhvr>
                                    </p:animEffect>
                                  </p:childTnLst>
                                </p:cTn>
                              </p:par>
                            </p:childTnLst>
                          </p:cTn>
                        </p:par>
                        <p:par>
                          <p:cTn id="52" fill="hold">
                            <p:stCondLst>
                              <p:cond delay="1500"/>
                            </p:stCondLst>
                            <p:childTnLst>
                              <p:par>
                                <p:cTn id="53" presetID="22" presetClass="entr" presetSubtype="8" fill="hold" nodeType="afterEffect">
                                  <p:stCondLst>
                                    <p:cond delay="0"/>
                                  </p:stCondLst>
                                  <p:childTnLst>
                                    <p:set>
                                      <p:cBhvr>
                                        <p:cTn id="54" dur="1" fill="hold">
                                          <p:stCondLst>
                                            <p:cond delay="0"/>
                                          </p:stCondLst>
                                        </p:cTn>
                                        <p:tgtEl>
                                          <p:spTgt spid="1024"/>
                                        </p:tgtEl>
                                        <p:attrNameLst>
                                          <p:attrName>style.visibility</p:attrName>
                                        </p:attrNameLst>
                                      </p:cBhvr>
                                      <p:to>
                                        <p:strVal val="visible"/>
                                      </p:to>
                                    </p:set>
                                    <p:animEffect transition="in" filter="wipe(left)">
                                      <p:cBhvr>
                                        <p:cTn id="55" dur="500"/>
                                        <p:tgtEl>
                                          <p:spTgt spid="10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54"/>
                                        </p:tgtEl>
                                        <p:attrNameLst>
                                          <p:attrName>style.visibility</p:attrName>
                                        </p:attrNameLst>
                                      </p:cBhvr>
                                      <p:to>
                                        <p:strVal val="visible"/>
                                      </p:to>
                                    </p:set>
                                    <p:animEffect transition="in" filter="fade">
                                      <p:cBhvr>
                                        <p:cTn id="58" dur="1000"/>
                                        <p:tgtEl>
                                          <p:spTgt spid="54"/>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fade">
                                      <p:cBhvr>
                                        <p:cTn id="61" dur="1000"/>
                                        <p:tgtEl>
                                          <p:spTgt spid="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6982"/>
                                        </p:tgtEl>
                                        <p:attrNameLst>
                                          <p:attrName>style.visibility</p:attrName>
                                        </p:attrNameLst>
                                      </p:cBhvr>
                                      <p:to>
                                        <p:strVal val="visible"/>
                                      </p:to>
                                    </p:set>
                                    <p:animEffect transition="in" filter="fade">
                                      <p:cBhvr>
                                        <p:cTn id="64" dur="1000"/>
                                        <p:tgtEl>
                                          <p:spTgt spid="698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6983"/>
                                        </p:tgtEl>
                                        <p:attrNameLst>
                                          <p:attrName>style.visibility</p:attrName>
                                        </p:attrNameLst>
                                      </p:cBhvr>
                                      <p:to>
                                        <p:strVal val="visible"/>
                                      </p:to>
                                    </p:set>
                                    <p:animEffect transition="in" filter="fade">
                                      <p:cBhvr>
                                        <p:cTn id="67" dur="1000"/>
                                        <p:tgtEl>
                                          <p:spTgt spid="6983"/>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10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fade">
                                      <p:cBhvr>
                                        <p:cTn id="73" dur="1000"/>
                                        <p:tgtEl>
                                          <p:spTgt spid="38"/>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9"/>
                                        </p:tgtEl>
                                        <p:attrNameLst>
                                          <p:attrName>style.visibility</p:attrName>
                                        </p:attrNameLst>
                                      </p:cBhvr>
                                      <p:to>
                                        <p:strVal val="visible"/>
                                      </p:to>
                                    </p:set>
                                    <p:animEffect transition="in" filter="fade">
                                      <p:cBhvr>
                                        <p:cTn id="76" dur="1000"/>
                                        <p:tgtEl>
                                          <p:spTgt spid="39"/>
                                        </p:tgtEl>
                                      </p:cBhvr>
                                    </p:animEffect>
                                  </p:childTnLst>
                                </p:cTn>
                              </p:par>
                              <p:par>
                                <p:cTn id="77" presetID="10" presetClass="entr" presetSubtype="0" fill="hold" nodeType="withEffect">
                                  <p:stCondLst>
                                    <p:cond delay="0"/>
                                  </p:stCondLst>
                                  <p:childTnLst>
                                    <p:set>
                                      <p:cBhvr>
                                        <p:cTn id="78" dur="1" fill="hold">
                                          <p:stCondLst>
                                            <p:cond delay="0"/>
                                          </p:stCondLst>
                                        </p:cTn>
                                        <p:tgtEl>
                                          <p:spTgt spid="36"/>
                                        </p:tgtEl>
                                        <p:attrNameLst>
                                          <p:attrName>style.visibility</p:attrName>
                                        </p:attrNameLst>
                                      </p:cBhvr>
                                      <p:to>
                                        <p:strVal val="visible"/>
                                      </p:to>
                                    </p:set>
                                    <p:animEffect transition="in" filter="fade">
                                      <p:cBhvr>
                                        <p:cTn id="79" dur="1000"/>
                                        <p:tgtEl>
                                          <p:spTgt spid="36"/>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fade">
                                      <p:cBhvr>
                                        <p:cTn id="82" dur="1000"/>
                                        <p:tgtEl>
                                          <p:spTgt spid="37"/>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5"/>
                                        </p:tgtEl>
                                        <p:attrNameLst>
                                          <p:attrName>style.visibility</p:attrName>
                                        </p:attrNameLst>
                                      </p:cBhvr>
                                      <p:to>
                                        <p:strVal val="visible"/>
                                      </p:to>
                                    </p:set>
                                    <p:animEffect transition="in" filter="fade">
                                      <p:cBhvr>
                                        <p:cTn id="85" dur="1000"/>
                                        <p:tgtEl>
                                          <p:spTgt spid="35"/>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6984"/>
                                        </p:tgtEl>
                                        <p:attrNameLst>
                                          <p:attrName>style.visibility</p:attrName>
                                        </p:attrNameLst>
                                      </p:cBhvr>
                                      <p:to>
                                        <p:strVal val="visible"/>
                                      </p:to>
                                    </p:set>
                                    <p:animEffect transition="in" filter="fade">
                                      <p:cBhvr>
                                        <p:cTn id="90" dur="1000"/>
                                        <p:tgtEl>
                                          <p:spTgt spid="6984"/>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6985"/>
                                        </p:tgtEl>
                                        <p:attrNameLst>
                                          <p:attrName>style.visibility</p:attrName>
                                        </p:attrNameLst>
                                      </p:cBhvr>
                                      <p:to>
                                        <p:strVal val="visible"/>
                                      </p:to>
                                    </p:set>
                                    <p:animEffect transition="in" filter="fade">
                                      <p:cBhvr>
                                        <p:cTn id="93" dur="1000"/>
                                        <p:tgtEl>
                                          <p:spTgt spid="6985"/>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5"/>
                                        </p:tgtEl>
                                        <p:attrNameLst>
                                          <p:attrName>style.visibility</p:attrName>
                                        </p:attrNameLst>
                                      </p:cBhvr>
                                      <p:to>
                                        <p:strVal val="visible"/>
                                      </p:to>
                                    </p:set>
                                    <p:animEffect transition="in" filter="fade">
                                      <p:cBhvr>
                                        <p:cTn id="96" dur="1000"/>
                                        <p:tgtEl>
                                          <p:spTgt spid="55"/>
                                        </p:tgtEl>
                                      </p:cBhvr>
                                    </p:animEffect>
                                  </p:childTnLst>
                                </p:cTn>
                              </p:par>
                              <p:par>
                                <p:cTn id="97" presetID="10" presetClass="entr" presetSubtype="0" fill="hold" nodeType="withEffect">
                                  <p:stCondLst>
                                    <p:cond delay="0"/>
                                  </p:stCondLst>
                                  <p:childTnLst>
                                    <p:set>
                                      <p:cBhvr>
                                        <p:cTn id="98" dur="1" fill="hold">
                                          <p:stCondLst>
                                            <p:cond delay="0"/>
                                          </p:stCondLst>
                                        </p:cTn>
                                        <p:tgtEl>
                                          <p:spTgt spid="3"/>
                                        </p:tgtEl>
                                        <p:attrNameLst>
                                          <p:attrName>style.visibility</p:attrName>
                                        </p:attrNameLst>
                                      </p:cBhvr>
                                      <p:to>
                                        <p:strVal val="visible"/>
                                      </p:to>
                                    </p:set>
                                    <p:animEffect transition="in" filter="fade">
                                      <p:cBhvr>
                                        <p:cTn id="99" dur="1000"/>
                                        <p:tgtEl>
                                          <p:spTgt spid="3"/>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34"/>
                                        </p:tgtEl>
                                        <p:attrNameLst>
                                          <p:attrName>style.visibility</p:attrName>
                                        </p:attrNameLst>
                                      </p:cBhvr>
                                      <p:to>
                                        <p:strVal val="visible"/>
                                      </p:to>
                                    </p:set>
                                    <p:animEffect transition="in" filter="fade">
                                      <p:cBhvr>
                                        <p:cTn id="102" dur="1000"/>
                                        <p:tgtEl>
                                          <p:spTgt spid="34"/>
                                        </p:tgtEl>
                                      </p:cBhvr>
                                    </p:animEffect>
                                  </p:childTnLst>
                                </p:cTn>
                              </p:par>
                              <p:par>
                                <p:cTn id="103" presetID="22" presetClass="entr" presetSubtype="1" fill="hold" nodeType="withEffect">
                                  <p:stCondLst>
                                    <p:cond delay="0"/>
                                  </p:stCondLst>
                                  <p:childTnLst>
                                    <p:set>
                                      <p:cBhvr>
                                        <p:cTn id="104" dur="1" fill="hold">
                                          <p:stCondLst>
                                            <p:cond delay="0"/>
                                          </p:stCondLst>
                                        </p:cTn>
                                        <p:tgtEl>
                                          <p:spTgt spid="1030"/>
                                        </p:tgtEl>
                                        <p:attrNameLst>
                                          <p:attrName>style.visibility</p:attrName>
                                        </p:attrNameLst>
                                      </p:cBhvr>
                                      <p:to>
                                        <p:strVal val="visible"/>
                                      </p:to>
                                    </p:set>
                                    <p:animEffect transition="in" filter="wipe(up)">
                                      <p:cBhvr>
                                        <p:cTn id="105" dur="500"/>
                                        <p:tgtEl>
                                          <p:spTgt spid="1030"/>
                                        </p:tgtEl>
                                      </p:cBhvr>
                                    </p:animEffect>
                                  </p:childTnLst>
                                </p:cTn>
                              </p:par>
                            </p:childTnLst>
                          </p:cTn>
                        </p:par>
                        <p:par>
                          <p:cTn id="106" fill="hold">
                            <p:stCondLst>
                              <p:cond delay="1000"/>
                            </p:stCondLst>
                            <p:childTnLst>
                              <p:par>
                                <p:cTn id="107" presetID="22" presetClass="entr" presetSubtype="2" fill="hold" nodeType="afterEffect">
                                  <p:stCondLst>
                                    <p:cond delay="0"/>
                                  </p:stCondLst>
                                  <p:childTnLst>
                                    <p:set>
                                      <p:cBhvr>
                                        <p:cTn id="108" dur="1" fill="hold">
                                          <p:stCondLst>
                                            <p:cond delay="0"/>
                                          </p:stCondLst>
                                        </p:cTn>
                                        <p:tgtEl>
                                          <p:spTgt spid="1033"/>
                                        </p:tgtEl>
                                        <p:attrNameLst>
                                          <p:attrName>style.visibility</p:attrName>
                                        </p:attrNameLst>
                                      </p:cBhvr>
                                      <p:to>
                                        <p:strVal val="visible"/>
                                      </p:to>
                                    </p:set>
                                    <p:animEffect transition="in" filter="wipe(right)">
                                      <p:cBhvr>
                                        <p:cTn id="109" dur="500"/>
                                        <p:tgtEl>
                                          <p:spTgt spid="1033"/>
                                        </p:tgtEl>
                                      </p:cBhvr>
                                    </p:animEffect>
                                  </p:childTnLst>
                                </p:cTn>
                              </p:par>
                            </p:childTnLst>
                          </p:cTn>
                        </p:par>
                        <p:par>
                          <p:cTn id="110" fill="hold">
                            <p:stCondLst>
                              <p:cond delay="1500"/>
                            </p:stCondLst>
                            <p:childTnLst>
                              <p:par>
                                <p:cTn id="111" presetID="22" presetClass="entr" presetSubtype="1" fill="hold" nodeType="afterEffect">
                                  <p:stCondLst>
                                    <p:cond delay="0"/>
                                  </p:stCondLst>
                                  <p:childTnLst>
                                    <p:set>
                                      <p:cBhvr>
                                        <p:cTn id="112" dur="1" fill="hold">
                                          <p:stCondLst>
                                            <p:cond delay="0"/>
                                          </p:stCondLst>
                                        </p:cTn>
                                        <p:tgtEl>
                                          <p:spTgt spid="1035"/>
                                        </p:tgtEl>
                                        <p:attrNameLst>
                                          <p:attrName>style.visibility</p:attrName>
                                        </p:attrNameLst>
                                      </p:cBhvr>
                                      <p:to>
                                        <p:strVal val="visible"/>
                                      </p:to>
                                    </p:set>
                                    <p:animEffect transition="in" filter="wipe(up)">
                                      <p:cBhvr>
                                        <p:cTn id="113" dur="500"/>
                                        <p:tgtEl>
                                          <p:spTgt spid="10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75" grpId="0" animBg="1"/>
      <p:bldP spid="6976" grpId="0" animBg="1"/>
      <p:bldP spid="6978" grpId="0" animBg="1"/>
      <p:bldP spid="6979" grpId="0" animBg="1"/>
      <p:bldP spid="6980" grpId="0" animBg="1"/>
      <p:bldP spid="6981" grpId="0" animBg="1"/>
      <p:bldP spid="6982" grpId="0" animBg="1"/>
      <p:bldP spid="6983" grpId="0" animBg="1"/>
      <p:bldP spid="6984" grpId="0" animBg="1"/>
      <p:bldP spid="6985" grpId="0" animBg="1"/>
      <p:bldP spid="6" grpId="0" animBg="1"/>
      <p:bldP spid="8" grpId="0" animBg="1"/>
      <p:bldP spid="33" grpId="0" animBg="1"/>
      <p:bldP spid="34" grpId="0" animBg="1"/>
      <p:bldP spid="35" grpId="0" animBg="1"/>
      <p:bldP spid="37" grpId="0"/>
      <p:bldP spid="38" grpId="0"/>
      <p:bldP spid="39" grpId="0" animBg="1"/>
      <p:bldP spid="52" grpId="0"/>
      <p:bldP spid="53" grpId="0"/>
      <p:bldP spid="54" grpId="0"/>
      <p:bldP spid="55"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6849"/>
        <p:cNvGrpSpPr/>
        <p:nvPr/>
      </p:nvGrpSpPr>
      <p:grpSpPr>
        <a:xfrm>
          <a:off x="0" y="0"/>
          <a:ext cx="0" cy="0"/>
          <a:chOff x="0" y="0"/>
          <a:chExt cx="0" cy="0"/>
        </a:xfrm>
      </p:grpSpPr>
      <p:sp>
        <p:nvSpPr>
          <p:cNvPr id="6850" name="Google Shape;6850;p73"/>
          <p:cNvSpPr txBox="1">
            <a:spLocks noGrp="1"/>
          </p:cNvSpPr>
          <p:nvPr>
            <p:ph type="subTitle" idx="1"/>
          </p:nvPr>
        </p:nvSpPr>
        <p:spPr>
          <a:xfrm>
            <a:off x="611916" y="1284161"/>
            <a:ext cx="10962687" cy="247743"/>
          </a:xfrm>
          <a:prstGeom prst="rect">
            <a:avLst/>
          </a:prstGeom>
          <a:noFill/>
          <a:ln>
            <a:noFill/>
          </a:ln>
        </p:spPr>
        <p:txBody>
          <a:bodyPr spcFirstLastPara="1" wrap="square" lIns="0" tIns="0" rIns="0" bIns="0" anchor="t" anchorCtr="0">
            <a:noAutofit/>
          </a:bodyPr>
          <a:lstStyle/>
          <a:p>
            <a:pPr marL="457200" lvl="0" indent="-342900" algn="l" rtl="0">
              <a:lnSpc>
                <a:spcPct val="100000"/>
              </a:lnSpc>
              <a:spcBef>
                <a:spcPts val="0"/>
              </a:spcBef>
              <a:spcAft>
                <a:spcPts val="0"/>
              </a:spcAft>
              <a:buSzPts val="1800"/>
              <a:buNone/>
            </a:pPr>
            <a:endParaRPr/>
          </a:p>
        </p:txBody>
      </p:sp>
      <p:sp>
        <p:nvSpPr>
          <p:cNvPr id="6851" name="Google Shape;6851;p73"/>
          <p:cNvSpPr txBox="1">
            <a:spLocks noGrp="1"/>
          </p:cNvSpPr>
          <p:nvPr>
            <p:ph type="title"/>
          </p:nvPr>
        </p:nvSpPr>
        <p:spPr>
          <a:xfrm>
            <a:off x="598859" y="1019552"/>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endParaRPr/>
          </a:p>
        </p:txBody>
      </p:sp>
      <p:sp>
        <p:nvSpPr>
          <p:cNvPr id="6853" name="Google Shape;6853;p73"/>
          <p:cNvSpPr/>
          <p:nvPr/>
        </p:nvSpPr>
        <p:spPr>
          <a:xfrm>
            <a:off x="59464" y="704644"/>
            <a:ext cx="383948" cy="3537806"/>
          </a:xfrm>
          <a:prstGeom prst="rect">
            <a:avLst/>
          </a:prstGeom>
          <a:solidFill>
            <a:srgbClr val="1A5FA8"/>
          </a:solidFill>
          <a:ln w="12700" cap="flat" cmpd="sng">
            <a:solidFill>
              <a:srgbClr val="1A5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54" name="Google Shape;6854;p73"/>
          <p:cNvSpPr/>
          <p:nvPr/>
        </p:nvSpPr>
        <p:spPr>
          <a:xfrm rot="-5400000">
            <a:off x="59464" y="704644"/>
            <a:ext cx="383948" cy="365664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a:ea typeface="Arial"/>
                <a:cs typeface="Arial"/>
                <a:sym typeface="Arial"/>
              </a:rPr>
              <a:t>DAY 0</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55" name="Google Shape;6855;p73"/>
          <p:cNvSpPr/>
          <p:nvPr/>
        </p:nvSpPr>
        <p:spPr>
          <a:xfrm>
            <a:off x="59464" y="4297299"/>
            <a:ext cx="383948" cy="2449954"/>
          </a:xfrm>
          <a:prstGeom prst="rect">
            <a:avLst/>
          </a:prstGeom>
          <a:solidFill>
            <a:srgbClr val="2A7A4B"/>
          </a:solidFill>
          <a:ln w="12700" cap="flat" cmpd="sng">
            <a:solidFill>
              <a:srgbClr val="2A7A4B"/>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56" name="Google Shape;6856;p73"/>
          <p:cNvSpPr/>
          <p:nvPr/>
        </p:nvSpPr>
        <p:spPr>
          <a:xfrm rot="-5400000">
            <a:off x="59464" y="4470991"/>
            <a:ext cx="383948" cy="2449954"/>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a:ea typeface="Arial"/>
                <a:cs typeface="Arial"/>
                <a:sym typeface="Arial"/>
              </a:rPr>
              <a:t>DAY 1</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57" name="Google Shape;6857;p73"/>
          <p:cNvSpPr/>
          <p:nvPr/>
        </p:nvSpPr>
        <p:spPr>
          <a:xfrm>
            <a:off x="516545" y="704644"/>
            <a:ext cx="11628139" cy="3537806"/>
          </a:xfrm>
          <a:prstGeom prst="rect">
            <a:avLst/>
          </a:prstGeom>
          <a:solidFill>
            <a:srgbClr val="DDEAF8"/>
          </a:solidFill>
          <a:ln w="19050" cap="flat" cmpd="sng">
            <a:solidFill>
              <a:srgbClr val="9BBEDD"/>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58" name="Google Shape;6858;p73"/>
          <p:cNvSpPr/>
          <p:nvPr/>
        </p:nvSpPr>
        <p:spPr>
          <a:xfrm>
            <a:off x="516545" y="704644"/>
            <a:ext cx="11628139" cy="347382"/>
          </a:xfrm>
          <a:prstGeom prst="rect">
            <a:avLst/>
          </a:prstGeom>
          <a:solidFill>
            <a:srgbClr val="1A5FA8"/>
          </a:solidFill>
          <a:ln w="12700" cap="flat" cmpd="sng">
            <a:solidFill>
              <a:srgbClr val="1A5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59" name="Google Shape;6859;p73"/>
          <p:cNvSpPr/>
          <p:nvPr/>
        </p:nvSpPr>
        <p:spPr>
          <a:xfrm>
            <a:off x="626245" y="704644"/>
            <a:ext cx="11445307" cy="3473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FFFFFF"/>
                </a:solidFill>
                <a:effectLst/>
                <a:uLnTx/>
                <a:uFillTx/>
                <a:latin typeface="Arial"/>
                <a:ea typeface="Arial"/>
                <a:cs typeface="Arial"/>
                <a:sym typeface="Arial"/>
              </a:rPr>
              <a:t>DAY 0 — Infrastructure Provisioning &amp; Registration</a:t>
            </a:r>
            <a:endParaRPr kumimoji="0" sz="11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61" name="Google Shape;6861;p73"/>
          <p:cNvSpPr/>
          <p:nvPr/>
        </p:nvSpPr>
        <p:spPr>
          <a:xfrm>
            <a:off x="626245" y="1164380"/>
            <a:ext cx="2651069" cy="2651069"/>
          </a:xfrm>
          <a:prstGeom prst="rect">
            <a:avLst/>
          </a:prstGeom>
          <a:solidFill>
            <a:srgbClr val="FFFFFF"/>
          </a:solidFill>
          <a:ln w="19050" cap="flat" cmpd="sng">
            <a:solidFill>
              <a:srgbClr val="7B5EA7"/>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62" name="Google Shape;6862;p73"/>
          <p:cNvSpPr/>
          <p:nvPr/>
        </p:nvSpPr>
        <p:spPr>
          <a:xfrm>
            <a:off x="626245" y="1164380"/>
            <a:ext cx="2651069" cy="63991"/>
          </a:xfrm>
          <a:prstGeom prst="rect">
            <a:avLst/>
          </a:prstGeom>
          <a:solidFill>
            <a:srgbClr val="7B5EA7"/>
          </a:solidFill>
          <a:ln w="12700" cap="flat" cmpd="sng">
            <a:solidFill>
              <a:srgbClr val="7B5EA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63" name="Google Shape;6863;p73"/>
          <p:cNvSpPr/>
          <p:nvPr/>
        </p:nvSpPr>
        <p:spPr>
          <a:xfrm>
            <a:off x="735944" y="1274079"/>
            <a:ext cx="365665" cy="365665"/>
          </a:xfrm>
          <a:prstGeom prst="ellipse">
            <a:avLst/>
          </a:prstGeom>
          <a:solidFill>
            <a:srgbClr val="7B5EA7"/>
          </a:solidFill>
          <a:ln w="12700" cap="flat" cmpd="sng">
            <a:solidFill>
              <a:srgbClr val="7B5EA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64" name="Google Shape;6864;p73"/>
          <p:cNvSpPr/>
          <p:nvPr/>
        </p:nvSpPr>
        <p:spPr>
          <a:xfrm>
            <a:off x="735944" y="1274079"/>
            <a:ext cx="365665"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FFFFFF"/>
                </a:solidFill>
                <a:effectLst/>
                <a:uLnTx/>
                <a:uFillTx/>
                <a:latin typeface="Arial"/>
                <a:ea typeface="Arial"/>
                <a:cs typeface="Arial"/>
                <a:sym typeface="Arial"/>
              </a:rPr>
              <a:t>1</a:t>
            </a:r>
            <a:endParaRPr kumimoji="0" sz="13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65" name="Google Shape;6865;p73"/>
          <p:cNvSpPr/>
          <p:nvPr/>
        </p:nvSpPr>
        <p:spPr>
          <a:xfrm>
            <a:off x="717661" y="1694594"/>
            <a:ext cx="2468237" cy="255965"/>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Pre-Configuration</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66" name="Google Shape;6866;p73"/>
          <p:cNvSpPr/>
          <p:nvPr/>
        </p:nvSpPr>
        <p:spPr>
          <a:xfrm>
            <a:off x="717661" y="1932276"/>
            <a:ext cx="2468237"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vCenter &amp; ZTP Setup</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867" name="Google Shape;6867;p73"/>
          <p:cNvCxnSpPr/>
          <p:nvPr/>
        </p:nvCxnSpPr>
        <p:spPr>
          <a:xfrm>
            <a:off x="717661" y="2206524"/>
            <a:ext cx="2468237" cy="0"/>
          </a:xfrm>
          <a:prstGeom prst="straightConnector1">
            <a:avLst/>
          </a:prstGeom>
          <a:noFill/>
          <a:ln w="9525" cap="flat" cmpd="sng">
            <a:solidFill>
              <a:srgbClr val="D0DBE8"/>
            </a:solidFill>
            <a:prstDash val="solid"/>
            <a:round/>
            <a:headEnd type="none" w="sm" len="sm"/>
            <a:tailEnd type="none" w="sm" len="sm"/>
          </a:ln>
        </p:spPr>
      </p:cxnSp>
      <p:sp>
        <p:nvSpPr>
          <p:cNvPr id="6868" name="Google Shape;6868;p73"/>
          <p:cNvSpPr/>
          <p:nvPr/>
        </p:nvSpPr>
        <p:spPr>
          <a:xfrm>
            <a:off x="717661" y="2261374"/>
            <a:ext cx="2486520" cy="1188410"/>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Configure vCenter </a:t>
            </a:r>
            <a:endParaRPr kumimoji="0" sz="1100" b="0" i="0" u="none" strike="noStrike" kern="1200" cap="none" spc="0" normalizeH="0" baseline="0" noProof="0" dirty="0">
              <a:ln>
                <a:noFill/>
              </a:ln>
              <a:solidFill>
                <a:srgbClr val="000000"/>
              </a:solidFill>
              <a:effectLst/>
              <a:uLnTx/>
              <a:uFillTx/>
              <a:latin typeface="Arial"/>
              <a:ea typeface="Arial"/>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Configure Auto-Deploy (ZTP) &amp; Deploy Rule*</a:t>
            </a:r>
            <a:endParaRPr kumimoji="0" sz="1100" b="0" i="0" u="none" strike="noStrike" kern="1200" cap="none" spc="0" normalizeH="0" baseline="0" noProof="0" dirty="0">
              <a:ln>
                <a:noFill/>
              </a:ln>
              <a:solidFill>
                <a:srgbClr val="000000"/>
              </a:solidFill>
              <a:effectLst/>
              <a:uLnTx/>
              <a:uFillTx/>
              <a:latin typeface="Arial"/>
              <a:ea typeface="Arial"/>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Arial"/>
                <a:cs typeface="Arial"/>
                <a:sym typeface="Arial"/>
              </a:rPr>
              <a:t>Configure vSphere Desired State Configuration*</a:t>
            </a:r>
            <a:endParaRPr kumimoji="0" sz="11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69" name="Google Shape;6869;p73"/>
          <p:cNvSpPr/>
          <p:nvPr/>
        </p:nvSpPr>
        <p:spPr>
          <a:xfrm>
            <a:off x="3295598" y="2325365"/>
            <a:ext cx="228540" cy="32909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4E8ECB"/>
                </a:solidFill>
                <a:effectLst/>
                <a:uLnTx/>
                <a:uFillTx/>
                <a:latin typeface="Arial"/>
                <a:ea typeface="Arial"/>
                <a:cs typeface="Arial"/>
                <a:sym typeface="Arial"/>
              </a:rPr>
              <a:t>→</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70" name="Google Shape;6870;p73"/>
          <p:cNvSpPr/>
          <p:nvPr/>
        </p:nvSpPr>
        <p:spPr>
          <a:xfrm>
            <a:off x="3414439" y="1164380"/>
            <a:ext cx="2651069" cy="2651069"/>
          </a:xfrm>
          <a:prstGeom prst="rect">
            <a:avLst/>
          </a:prstGeom>
          <a:solidFill>
            <a:srgbClr val="FFFFFF"/>
          </a:solidFill>
          <a:ln w="19050" cap="flat" cmpd="sng">
            <a:solidFill>
              <a:srgbClr val="2A8FA8"/>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71" name="Google Shape;6871;p73"/>
          <p:cNvSpPr/>
          <p:nvPr/>
        </p:nvSpPr>
        <p:spPr>
          <a:xfrm>
            <a:off x="3414439" y="1164380"/>
            <a:ext cx="2651069" cy="63991"/>
          </a:xfrm>
          <a:prstGeom prst="rect">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72" name="Google Shape;6872;p73"/>
          <p:cNvSpPr/>
          <p:nvPr/>
        </p:nvSpPr>
        <p:spPr>
          <a:xfrm>
            <a:off x="3524138" y="1274079"/>
            <a:ext cx="365665" cy="365665"/>
          </a:xfrm>
          <a:prstGeom prst="ellipse">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73" name="Google Shape;6873;p73"/>
          <p:cNvSpPr/>
          <p:nvPr/>
        </p:nvSpPr>
        <p:spPr>
          <a:xfrm>
            <a:off x="3524138" y="1274079"/>
            <a:ext cx="365665"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FFFFFF"/>
                </a:solidFill>
                <a:effectLst/>
                <a:uLnTx/>
                <a:uFillTx/>
                <a:latin typeface="Arial"/>
                <a:ea typeface="Arial"/>
                <a:cs typeface="Arial"/>
                <a:sym typeface="Arial"/>
              </a:rPr>
              <a:t>2</a:t>
            </a:r>
            <a:endParaRPr kumimoji="0" sz="13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74" name="Google Shape;6874;p73"/>
          <p:cNvSpPr/>
          <p:nvPr/>
        </p:nvSpPr>
        <p:spPr>
          <a:xfrm>
            <a:off x="3944652" y="1333645"/>
            <a:ext cx="383948"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a:ea typeface="Arial"/>
                <a:cs typeface="Arial"/>
                <a:sym typeface="Arial"/>
              </a:rPr>
              <a:t>📦</a:t>
            </a: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75" name="Google Shape;6875;p73"/>
          <p:cNvSpPr/>
          <p:nvPr/>
        </p:nvSpPr>
        <p:spPr>
          <a:xfrm>
            <a:off x="3505855" y="1694594"/>
            <a:ext cx="2468237" cy="255965"/>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Physical Deployment</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76" name="Google Shape;6876;p73"/>
          <p:cNvSpPr/>
          <p:nvPr/>
        </p:nvSpPr>
        <p:spPr>
          <a:xfrm>
            <a:off x="3505855" y="1932276"/>
            <a:ext cx="2468237"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New Edge Hosts</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877" name="Google Shape;6877;p73"/>
          <p:cNvCxnSpPr/>
          <p:nvPr/>
        </p:nvCxnSpPr>
        <p:spPr>
          <a:xfrm>
            <a:off x="3505855" y="2206524"/>
            <a:ext cx="2468237" cy="0"/>
          </a:xfrm>
          <a:prstGeom prst="straightConnector1">
            <a:avLst/>
          </a:prstGeom>
          <a:noFill/>
          <a:ln w="9525" cap="flat" cmpd="sng">
            <a:solidFill>
              <a:srgbClr val="D0DBE8"/>
            </a:solidFill>
            <a:prstDash val="solid"/>
            <a:round/>
            <a:headEnd type="none" w="sm" len="sm"/>
            <a:tailEnd type="none" w="sm" len="sm"/>
          </a:ln>
        </p:spPr>
      </p:cxnSp>
      <p:sp>
        <p:nvSpPr>
          <p:cNvPr id="6878" name="Google Shape;6878;p73"/>
          <p:cNvSpPr/>
          <p:nvPr/>
        </p:nvSpPr>
        <p:spPr>
          <a:xfrm>
            <a:off x="3505855" y="2261374"/>
            <a:ext cx="2486520" cy="1188410"/>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Ship to Edge Site</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Connect Network</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Power ON</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Edge host(s) boots:</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598488" marR="0" lvl="1"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Receives IP from DHCP </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598488" marR="0" lvl="1"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Or Statically configured </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p:txBody>
      </p:sp>
      <p:sp>
        <p:nvSpPr>
          <p:cNvPr id="6879" name="Google Shape;6879;p73"/>
          <p:cNvSpPr/>
          <p:nvPr/>
        </p:nvSpPr>
        <p:spPr>
          <a:xfrm>
            <a:off x="6083791" y="2325365"/>
            <a:ext cx="228540" cy="32909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4E8ECB"/>
                </a:solidFill>
                <a:effectLst/>
                <a:uLnTx/>
                <a:uFillTx/>
                <a:latin typeface="Arial"/>
                <a:ea typeface="Arial"/>
                <a:cs typeface="Arial"/>
                <a:sym typeface="Arial"/>
              </a:rPr>
              <a:t>→</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80" name="Google Shape;6880;p73"/>
          <p:cNvSpPr/>
          <p:nvPr/>
        </p:nvSpPr>
        <p:spPr>
          <a:xfrm>
            <a:off x="6202633" y="1164380"/>
            <a:ext cx="2651069" cy="2651069"/>
          </a:xfrm>
          <a:prstGeom prst="rect">
            <a:avLst/>
          </a:prstGeom>
          <a:solidFill>
            <a:srgbClr val="FFFFFF"/>
          </a:solidFill>
          <a:ln w="19050" cap="flat" cmpd="sng">
            <a:solidFill>
              <a:srgbClr val="2A8FA8"/>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81" name="Google Shape;6881;p73"/>
          <p:cNvSpPr/>
          <p:nvPr/>
        </p:nvSpPr>
        <p:spPr>
          <a:xfrm>
            <a:off x="6202633" y="1164380"/>
            <a:ext cx="2651069" cy="63991"/>
          </a:xfrm>
          <a:prstGeom prst="rect">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82" name="Google Shape;6882;p73"/>
          <p:cNvSpPr/>
          <p:nvPr/>
        </p:nvSpPr>
        <p:spPr>
          <a:xfrm>
            <a:off x="6312332" y="1274079"/>
            <a:ext cx="365665" cy="365665"/>
          </a:xfrm>
          <a:prstGeom prst="ellipse">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83" name="Google Shape;6883;p73"/>
          <p:cNvSpPr/>
          <p:nvPr/>
        </p:nvSpPr>
        <p:spPr>
          <a:xfrm>
            <a:off x="6312332" y="1274079"/>
            <a:ext cx="365665"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FFFFFF"/>
                </a:solidFill>
                <a:effectLst/>
                <a:uLnTx/>
                <a:uFillTx/>
                <a:latin typeface="Arial"/>
                <a:ea typeface="Arial"/>
                <a:cs typeface="Arial"/>
                <a:sym typeface="Arial"/>
              </a:rPr>
              <a:t>3</a:t>
            </a:r>
            <a:endParaRPr kumimoji="0" sz="13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84" name="Google Shape;6884;p73"/>
          <p:cNvSpPr/>
          <p:nvPr/>
        </p:nvSpPr>
        <p:spPr>
          <a:xfrm>
            <a:off x="6677996" y="1332395"/>
            <a:ext cx="383948"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a:ea typeface="Arial"/>
                <a:cs typeface="Arial"/>
                <a:sym typeface="Arial"/>
              </a:rPr>
              <a:t>🔗</a:t>
            </a: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85" name="Google Shape;6885;p73"/>
          <p:cNvSpPr/>
          <p:nvPr/>
        </p:nvSpPr>
        <p:spPr>
          <a:xfrm>
            <a:off x="6294049" y="1694594"/>
            <a:ext cx="2468237" cy="255965"/>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Registration</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86" name="Google Shape;6886;p73"/>
          <p:cNvSpPr/>
          <p:nvPr/>
        </p:nvSpPr>
        <p:spPr>
          <a:xfrm>
            <a:off x="6294049" y="1932276"/>
            <a:ext cx="2468237"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New Edge Hosts</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887" name="Google Shape;6887;p73"/>
          <p:cNvCxnSpPr/>
          <p:nvPr/>
        </p:nvCxnSpPr>
        <p:spPr>
          <a:xfrm>
            <a:off x="6294049" y="2206524"/>
            <a:ext cx="2468237" cy="0"/>
          </a:xfrm>
          <a:prstGeom prst="straightConnector1">
            <a:avLst/>
          </a:prstGeom>
          <a:noFill/>
          <a:ln w="9525" cap="flat" cmpd="sng">
            <a:solidFill>
              <a:srgbClr val="D0DBE8"/>
            </a:solidFill>
            <a:prstDash val="solid"/>
            <a:round/>
            <a:headEnd type="none" w="sm" len="sm"/>
            <a:tailEnd type="none" w="sm" len="sm"/>
          </a:ln>
        </p:spPr>
      </p:cxnSp>
      <p:sp>
        <p:nvSpPr>
          <p:cNvPr id="6888" name="Google Shape;6888;p73"/>
          <p:cNvSpPr/>
          <p:nvPr/>
        </p:nvSpPr>
        <p:spPr>
          <a:xfrm>
            <a:off x="6294049" y="2261374"/>
            <a:ext cx="2486520" cy="1188410"/>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Establishes connection with vCenter</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Downloads &amp; installs ESX image</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ZTP Deploy-Rule assigns host to Destination cluster</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p:txBody>
      </p:sp>
      <p:grpSp>
        <p:nvGrpSpPr>
          <p:cNvPr id="3" name="Group 2">
            <a:extLst>
              <a:ext uri="{FF2B5EF4-FFF2-40B4-BE49-F238E27FC236}">
                <a16:creationId xmlns:a16="http://schemas.microsoft.com/office/drawing/2014/main" id="{73AAEB3F-90AC-007D-A67C-7D35D82C3A14}"/>
              </a:ext>
            </a:extLst>
          </p:cNvPr>
          <p:cNvGrpSpPr/>
          <p:nvPr/>
        </p:nvGrpSpPr>
        <p:grpSpPr>
          <a:xfrm>
            <a:off x="6385464" y="3675669"/>
            <a:ext cx="2285405" cy="246824"/>
            <a:chOff x="6385465" y="3495492"/>
            <a:chExt cx="2285405" cy="246824"/>
          </a:xfrm>
        </p:grpSpPr>
        <p:sp>
          <p:nvSpPr>
            <p:cNvPr id="6889" name="Google Shape;6889;p73"/>
            <p:cNvSpPr/>
            <p:nvPr/>
          </p:nvSpPr>
          <p:spPr>
            <a:xfrm>
              <a:off x="6385465" y="3495492"/>
              <a:ext cx="2285405" cy="246824"/>
            </a:xfrm>
            <a:prstGeom prst="rect">
              <a:avLst/>
            </a:prstGeom>
            <a:solidFill>
              <a:srgbClr val="7B5EA7"/>
            </a:solidFill>
            <a:ln w="12700" cap="flat" cmpd="sng">
              <a:solidFill>
                <a:srgbClr val="7B5EA7"/>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90" name="Google Shape;6890;p73"/>
            <p:cNvSpPr/>
            <p:nvPr/>
          </p:nvSpPr>
          <p:spPr>
            <a:xfrm>
              <a:off x="6385465" y="3495492"/>
              <a:ext cx="2285405" cy="246824"/>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50" b="1" i="0" u="none" strike="noStrike" kern="1200" cap="none" spc="0" normalizeH="0" baseline="0" noProof="0">
                  <a:ln>
                    <a:noFill/>
                  </a:ln>
                  <a:solidFill>
                    <a:srgbClr val="FFFFFF"/>
                  </a:solidFill>
                  <a:effectLst/>
                  <a:uLnTx/>
                  <a:uFillTx/>
                  <a:latin typeface="Arial"/>
                  <a:ea typeface="Arial"/>
                  <a:cs typeface="Arial"/>
                  <a:sym typeface="Arial"/>
                </a:rPr>
                <a:t>● Registered</a:t>
              </a:r>
              <a:endParaRPr kumimoji="0" sz="85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6891" name="Google Shape;6891;p73"/>
          <p:cNvSpPr/>
          <p:nvPr/>
        </p:nvSpPr>
        <p:spPr>
          <a:xfrm>
            <a:off x="8871985" y="2325365"/>
            <a:ext cx="228540" cy="32909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4E8ECB"/>
                </a:solidFill>
                <a:effectLst/>
                <a:uLnTx/>
                <a:uFillTx/>
                <a:latin typeface="Arial"/>
                <a:ea typeface="Arial"/>
                <a:cs typeface="Arial"/>
                <a:sym typeface="Arial"/>
              </a:rPr>
              <a:t>→</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92" name="Google Shape;6892;p73"/>
          <p:cNvSpPr/>
          <p:nvPr/>
        </p:nvSpPr>
        <p:spPr>
          <a:xfrm>
            <a:off x="8990826" y="1164380"/>
            <a:ext cx="2651069" cy="2651069"/>
          </a:xfrm>
          <a:prstGeom prst="rect">
            <a:avLst/>
          </a:prstGeom>
          <a:solidFill>
            <a:srgbClr val="FFFFFF"/>
          </a:solidFill>
          <a:ln w="19050" cap="flat" cmpd="sng">
            <a:solidFill>
              <a:srgbClr val="2A8FA8"/>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93" name="Google Shape;6893;p73"/>
          <p:cNvSpPr/>
          <p:nvPr/>
        </p:nvSpPr>
        <p:spPr>
          <a:xfrm>
            <a:off x="8990826" y="1164380"/>
            <a:ext cx="2651069" cy="63991"/>
          </a:xfrm>
          <a:prstGeom prst="rect">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94" name="Google Shape;6894;p73"/>
          <p:cNvSpPr/>
          <p:nvPr/>
        </p:nvSpPr>
        <p:spPr>
          <a:xfrm>
            <a:off x="9100525" y="1274079"/>
            <a:ext cx="365665" cy="365665"/>
          </a:xfrm>
          <a:prstGeom prst="ellipse">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95" name="Google Shape;6895;p73"/>
          <p:cNvSpPr/>
          <p:nvPr/>
        </p:nvSpPr>
        <p:spPr>
          <a:xfrm>
            <a:off x="9100525" y="1274079"/>
            <a:ext cx="365665"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FFFFFF"/>
                </a:solidFill>
                <a:effectLst/>
                <a:uLnTx/>
                <a:uFillTx/>
                <a:latin typeface="Arial"/>
                <a:ea typeface="Arial"/>
                <a:cs typeface="Arial"/>
                <a:sym typeface="Arial"/>
              </a:rPr>
              <a:t>4</a:t>
            </a:r>
            <a:endParaRPr kumimoji="0" sz="13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896" name="Google Shape;6896;p73"/>
          <p:cNvSpPr/>
          <p:nvPr/>
        </p:nvSpPr>
        <p:spPr>
          <a:xfrm>
            <a:off x="9445174" y="1327602"/>
            <a:ext cx="383948" cy="36566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a:ea typeface="Arial"/>
                <a:cs typeface="Arial"/>
                <a:sym typeface="Arial"/>
              </a:rPr>
              <a:t>✅</a:t>
            </a: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97" name="Google Shape;6897;p73"/>
          <p:cNvSpPr/>
          <p:nvPr/>
        </p:nvSpPr>
        <p:spPr>
          <a:xfrm>
            <a:off x="9082242" y="1694594"/>
            <a:ext cx="2468237" cy="255965"/>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Activation</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898" name="Google Shape;6898;p73"/>
          <p:cNvSpPr/>
          <p:nvPr/>
        </p:nvSpPr>
        <p:spPr>
          <a:xfrm>
            <a:off x="9082242" y="1932276"/>
            <a:ext cx="2468237"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Edge Cluster</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899" name="Google Shape;6899;p73"/>
          <p:cNvCxnSpPr/>
          <p:nvPr/>
        </p:nvCxnSpPr>
        <p:spPr>
          <a:xfrm>
            <a:off x="9082242" y="2206524"/>
            <a:ext cx="2468237" cy="0"/>
          </a:xfrm>
          <a:prstGeom prst="straightConnector1">
            <a:avLst/>
          </a:prstGeom>
          <a:noFill/>
          <a:ln w="9525" cap="flat" cmpd="sng">
            <a:solidFill>
              <a:srgbClr val="D0DBE8"/>
            </a:solidFill>
            <a:prstDash val="solid"/>
            <a:round/>
            <a:headEnd type="none" w="sm" len="sm"/>
            <a:tailEnd type="none" w="sm" len="sm"/>
          </a:ln>
        </p:spPr>
      </p:cxnSp>
      <p:sp>
        <p:nvSpPr>
          <p:cNvPr id="6900" name="Google Shape;6900;p73"/>
          <p:cNvSpPr/>
          <p:nvPr/>
        </p:nvSpPr>
        <p:spPr>
          <a:xfrm>
            <a:off x="9082242" y="2261374"/>
            <a:ext cx="2486520" cy="1188410"/>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Launch PowerShell script: Configures vSphere Cluster using the new hosts</a:t>
            </a:r>
            <a:endParaRPr kumimoji="0" sz="1100" b="0" i="0" u="none" strike="noStrike" kern="1200" cap="none" spc="0" normalizeH="0" baseline="0" noProof="0" dirty="0">
              <a:ln>
                <a:noFill/>
              </a:ln>
              <a:solidFill>
                <a:srgbClr val="000000"/>
              </a:solidFill>
              <a:effectLst/>
              <a:uLnTx/>
              <a:uFillTx/>
              <a:latin typeface="Arial"/>
              <a:ea typeface="+mn-ea"/>
              <a:cs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Configure storage tagging and policy*</a:t>
            </a:r>
            <a:endParaRPr kumimoji="0" sz="1100" b="0" i="0" u="none" strike="noStrike" kern="1200" cap="none" spc="0" normalizeH="0" baseline="0" noProof="0" dirty="0">
              <a:ln>
                <a:noFill/>
              </a:ln>
              <a:solidFill>
                <a:srgbClr val="000000"/>
              </a:solidFill>
              <a:effectLst/>
              <a:uLnTx/>
              <a:uFillTx/>
              <a:latin typeface="Arial"/>
              <a:ea typeface="+mn-ea"/>
              <a:cs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Deploy Supervisor Services (Argo CD)*</a:t>
            </a:r>
            <a:endParaRPr kumimoji="0" lang="en-IN" sz="1100" b="0" i="0" u="none" strike="noStrike" kern="1200" cap="none" spc="0" normalizeH="0" baseline="0" noProof="0" dirty="0">
              <a:ln>
                <a:noFill/>
              </a:ln>
              <a:solidFill>
                <a:srgbClr val="000000"/>
              </a:solidFill>
              <a:effectLst/>
              <a:uLnTx/>
              <a:uFillTx/>
              <a:latin typeface="Arial"/>
              <a:ea typeface="+mn-ea"/>
              <a:cs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IN" sz="1100" b="0" i="0" u="none" strike="noStrike" kern="1200" cap="none" spc="0" normalizeH="0" baseline="0" noProof="0" dirty="0">
                <a:ln>
                  <a:noFill/>
                </a:ln>
                <a:solidFill>
                  <a:srgbClr val="000000"/>
                </a:solidFill>
                <a:effectLst/>
                <a:uLnTx/>
                <a:uFillTx/>
                <a:latin typeface="Arial"/>
                <a:ea typeface="+mn-ea"/>
                <a:cs typeface="Arial"/>
                <a:sym typeface="Arial"/>
              </a:rPr>
              <a:t>Enable vSphere Configuration Profile (VCP)</a:t>
            </a:r>
            <a:endParaRPr kumimoji="0" lang="en-IN" sz="1100" b="0" i="0" u="none" strike="noStrike" kern="1200" cap="none" spc="0" normalizeH="0" baseline="0" noProof="0" dirty="0">
              <a:ln>
                <a:noFill/>
              </a:ln>
              <a:solidFill>
                <a:srgbClr val="000000"/>
              </a:solidFill>
              <a:effectLst/>
              <a:uLnTx/>
              <a:uFillTx/>
              <a:latin typeface="Arial"/>
              <a:ea typeface="+mn-ea"/>
              <a:cs typeface="Arial"/>
            </a:endParaRPr>
          </a:p>
        </p:txBody>
      </p:sp>
      <p:grpSp>
        <p:nvGrpSpPr>
          <p:cNvPr id="4" name="Group 3">
            <a:extLst>
              <a:ext uri="{FF2B5EF4-FFF2-40B4-BE49-F238E27FC236}">
                <a16:creationId xmlns:a16="http://schemas.microsoft.com/office/drawing/2014/main" id="{15321D4A-B028-8331-8811-32FCAA1005C4}"/>
              </a:ext>
            </a:extLst>
          </p:cNvPr>
          <p:cNvGrpSpPr/>
          <p:nvPr/>
        </p:nvGrpSpPr>
        <p:grpSpPr>
          <a:xfrm>
            <a:off x="9182799" y="3688406"/>
            <a:ext cx="2285405" cy="246824"/>
            <a:chOff x="9173658" y="3495492"/>
            <a:chExt cx="2285405" cy="246824"/>
          </a:xfrm>
        </p:grpSpPr>
        <p:sp>
          <p:nvSpPr>
            <p:cNvPr id="6901" name="Google Shape;6901;p73"/>
            <p:cNvSpPr/>
            <p:nvPr/>
          </p:nvSpPr>
          <p:spPr>
            <a:xfrm>
              <a:off x="9173658" y="3495492"/>
              <a:ext cx="2285405" cy="246824"/>
            </a:xfrm>
            <a:prstGeom prst="rect">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02" name="Google Shape;6902;p73"/>
            <p:cNvSpPr/>
            <p:nvPr/>
          </p:nvSpPr>
          <p:spPr>
            <a:xfrm>
              <a:off x="9173658" y="3495492"/>
              <a:ext cx="2285405" cy="246824"/>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50" b="1" i="0" u="none" strike="noStrike" kern="1200" cap="none" spc="0" normalizeH="0" baseline="0" noProof="0" dirty="0">
                  <a:ln>
                    <a:noFill/>
                  </a:ln>
                  <a:solidFill>
                    <a:srgbClr val="FFFFFF"/>
                  </a:solidFill>
                  <a:effectLst/>
                  <a:uLnTx/>
                  <a:uFillTx/>
                  <a:latin typeface="Arial"/>
                  <a:ea typeface="Arial"/>
                  <a:cs typeface="Arial"/>
                  <a:sym typeface="Arial"/>
                </a:rPr>
                <a:t>● Active</a:t>
              </a:r>
              <a:endParaRPr kumimoji="0" sz="85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sp>
        <p:nvSpPr>
          <p:cNvPr id="6903" name="Google Shape;6903;p73"/>
          <p:cNvSpPr/>
          <p:nvPr/>
        </p:nvSpPr>
        <p:spPr>
          <a:xfrm>
            <a:off x="641529" y="3878511"/>
            <a:ext cx="5484971" cy="18283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6B728E"/>
                </a:solidFill>
                <a:effectLst/>
                <a:uLnTx/>
                <a:uFillTx/>
                <a:latin typeface="Arial"/>
                <a:ea typeface="Arial"/>
                <a:cs typeface="Arial"/>
                <a:sym typeface="Arial"/>
              </a:rPr>
              <a:t>* Manual or future automation script</a:t>
            </a:r>
            <a:endParaRPr kumimoji="0" sz="75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04" name="Google Shape;6904;p73"/>
          <p:cNvSpPr/>
          <p:nvPr/>
        </p:nvSpPr>
        <p:spPr>
          <a:xfrm>
            <a:off x="516545" y="4297299"/>
            <a:ext cx="11628139" cy="2449954"/>
          </a:xfrm>
          <a:prstGeom prst="rect">
            <a:avLst/>
          </a:prstGeom>
          <a:solidFill>
            <a:srgbClr val="D8F0E4"/>
          </a:solidFill>
          <a:ln w="19050" cap="flat" cmpd="sng">
            <a:solidFill>
              <a:srgbClr val="8ECFAA"/>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05" name="Google Shape;6905;p73"/>
          <p:cNvSpPr/>
          <p:nvPr/>
        </p:nvSpPr>
        <p:spPr>
          <a:xfrm>
            <a:off x="516545" y="4297299"/>
            <a:ext cx="11628139" cy="347382"/>
          </a:xfrm>
          <a:prstGeom prst="rect">
            <a:avLst/>
          </a:prstGeom>
          <a:solidFill>
            <a:srgbClr val="2A7A4B"/>
          </a:solidFill>
          <a:ln w="12700" cap="flat" cmpd="sng">
            <a:solidFill>
              <a:srgbClr val="2A7A4B"/>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06" name="Google Shape;6906;p73"/>
          <p:cNvSpPr/>
          <p:nvPr/>
        </p:nvSpPr>
        <p:spPr>
          <a:xfrm>
            <a:off x="626245" y="4297299"/>
            <a:ext cx="11445307" cy="3473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FFFFFF"/>
                </a:solidFill>
                <a:effectLst/>
                <a:uLnTx/>
                <a:uFillTx/>
                <a:latin typeface="Arial"/>
                <a:ea typeface="Arial"/>
                <a:cs typeface="Arial"/>
                <a:sym typeface="Arial"/>
              </a:rPr>
              <a:t>DAY 1 — Pull-Based Workload Management via Git</a:t>
            </a:r>
            <a:endParaRPr kumimoji="0" sz="11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08" name="Google Shape;6908;p73"/>
          <p:cNvSpPr/>
          <p:nvPr/>
        </p:nvSpPr>
        <p:spPr>
          <a:xfrm>
            <a:off x="653670" y="4784811"/>
            <a:ext cx="329098" cy="329098"/>
          </a:xfrm>
          <a:prstGeom prst="ellipse">
            <a:avLst/>
          </a:prstGeom>
          <a:solidFill>
            <a:srgbClr val="4CAF50"/>
          </a:solidFill>
          <a:ln w="12700" cap="flat" cmpd="sng">
            <a:solidFill>
              <a:srgbClr val="4CAF50"/>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09" name="Google Shape;6909;p73"/>
          <p:cNvSpPr/>
          <p:nvPr/>
        </p:nvSpPr>
        <p:spPr>
          <a:xfrm>
            <a:off x="653670" y="4784811"/>
            <a:ext cx="329098" cy="32909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Arial"/>
                <a:cs typeface="Arial"/>
                <a:sym typeface="Arial"/>
              </a:rPr>
              <a:t>5</a:t>
            </a:r>
            <a:endParaRPr kumimoji="0" sz="12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10" name="Google Shape;6910;p73"/>
          <p:cNvSpPr/>
          <p:nvPr/>
        </p:nvSpPr>
        <p:spPr>
          <a:xfrm>
            <a:off x="1046759" y="4812236"/>
            <a:ext cx="10988226" cy="255965"/>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1A1E2E"/>
                </a:solidFill>
                <a:effectLst/>
                <a:uLnTx/>
                <a:uFillTx/>
                <a:latin typeface="Arial"/>
                <a:ea typeface="Arial"/>
                <a:cs typeface="Arial"/>
                <a:sym typeface="Arial"/>
              </a:rPr>
              <a:t>Git Association Established — Edge Cluster linked to Git Repository</a:t>
            </a:r>
            <a:endParaRPr kumimoji="0" sz="95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11" name="Google Shape;6911;p73"/>
          <p:cNvSpPr/>
          <p:nvPr/>
        </p:nvSpPr>
        <p:spPr>
          <a:xfrm>
            <a:off x="653670" y="5203910"/>
            <a:ext cx="3510382" cy="1334676"/>
          </a:xfrm>
          <a:prstGeom prst="rect">
            <a:avLst/>
          </a:prstGeom>
          <a:solidFill>
            <a:srgbClr val="FFFFFF"/>
          </a:solidFill>
          <a:ln w="15225" cap="flat" cmpd="sng">
            <a:solidFill>
              <a:srgbClr val="4CAF70"/>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12" name="Google Shape;6912;p73"/>
          <p:cNvSpPr/>
          <p:nvPr/>
        </p:nvSpPr>
        <p:spPr>
          <a:xfrm>
            <a:off x="653670" y="5203910"/>
            <a:ext cx="3510382" cy="54850"/>
          </a:xfrm>
          <a:prstGeom prst="rect">
            <a:avLst/>
          </a:prstGeom>
          <a:solidFill>
            <a:srgbClr val="4CAF50"/>
          </a:solidFill>
          <a:ln w="12700" cap="flat" cmpd="sng">
            <a:solidFill>
              <a:srgbClr val="4CAF50"/>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13" name="Google Shape;6913;p73"/>
          <p:cNvSpPr/>
          <p:nvPr/>
        </p:nvSpPr>
        <p:spPr>
          <a:xfrm>
            <a:off x="763369" y="5313610"/>
            <a:ext cx="383948" cy="383948"/>
          </a:xfrm>
          <a:prstGeom prst="ellipse">
            <a:avLst/>
          </a:prstGeom>
          <a:solidFill>
            <a:srgbClr val="E84E1B"/>
          </a:solidFill>
          <a:ln w="12700" cap="flat" cmpd="sng">
            <a:solidFill>
              <a:srgbClr val="E84E1B"/>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14" name="Google Shape;6914;p73"/>
          <p:cNvSpPr/>
          <p:nvPr/>
        </p:nvSpPr>
        <p:spPr>
          <a:xfrm>
            <a:off x="763369" y="5313610"/>
            <a:ext cx="383948" cy="38394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Consolas"/>
                <a:ea typeface="Consolas"/>
                <a:cs typeface="Consolas"/>
                <a:sym typeface="Consolas"/>
              </a:rPr>
              <a:t>git</a:t>
            </a:r>
            <a:endParaRPr kumimoji="0" sz="9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15" name="Google Shape;6915;p73"/>
          <p:cNvSpPr/>
          <p:nvPr/>
        </p:nvSpPr>
        <p:spPr>
          <a:xfrm>
            <a:off x="1220450" y="5313610"/>
            <a:ext cx="2852185"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Git Repository (Customer Provided)</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16" name="Google Shape;6916;p73"/>
          <p:cNvSpPr/>
          <p:nvPr/>
        </p:nvSpPr>
        <p:spPr>
          <a:xfrm>
            <a:off x="1220450" y="5551292"/>
            <a:ext cx="2852185" cy="18283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Source of Truth</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917" name="Google Shape;6917;p73"/>
          <p:cNvCxnSpPr/>
          <p:nvPr/>
        </p:nvCxnSpPr>
        <p:spPr>
          <a:xfrm>
            <a:off x="745086" y="5798115"/>
            <a:ext cx="3327549" cy="0"/>
          </a:xfrm>
          <a:prstGeom prst="straightConnector1">
            <a:avLst/>
          </a:prstGeom>
          <a:noFill/>
          <a:ln w="9525" cap="flat" cmpd="sng">
            <a:solidFill>
              <a:srgbClr val="D0E8D8"/>
            </a:solidFill>
            <a:prstDash val="solid"/>
            <a:round/>
            <a:headEnd type="none" w="sm" len="sm"/>
            <a:tailEnd type="none" w="sm" len="sm"/>
          </a:ln>
        </p:spPr>
      </p:cxnSp>
      <p:sp>
        <p:nvSpPr>
          <p:cNvPr id="6918" name="Google Shape;6918;p73"/>
          <p:cNvSpPr/>
          <p:nvPr/>
        </p:nvSpPr>
        <p:spPr>
          <a:xfrm>
            <a:off x="745086" y="5862107"/>
            <a:ext cx="3345832" cy="603347"/>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App manifests &amp; workload definitions stored in Git</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Admins push changes via PRs / commits</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Version-controlled infra as code</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p:txBody>
      </p:sp>
      <p:sp>
        <p:nvSpPr>
          <p:cNvPr id="6919" name="Google Shape;6919;p73"/>
          <p:cNvSpPr/>
          <p:nvPr/>
        </p:nvSpPr>
        <p:spPr>
          <a:xfrm>
            <a:off x="4237185" y="5710572"/>
            <a:ext cx="274249" cy="32909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CAF70"/>
                </a:solidFill>
                <a:effectLst/>
                <a:uLnTx/>
                <a:uFillTx/>
                <a:latin typeface="Arial"/>
                <a:ea typeface="Arial"/>
                <a:cs typeface="Arial"/>
                <a:sym typeface="Arial"/>
              </a:rPr>
              <a:t>→</a:t>
            </a: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20" name="Google Shape;6920;p73"/>
          <p:cNvSpPr/>
          <p:nvPr/>
        </p:nvSpPr>
        <p:spPr>
          <a:xfrm>
            <a:off x="4575424" y="5203910"/>
            <a:ext cx="3510382" cy="1334676"/>
          </a:xfrm>
          <a:prstGeom prst="rect">
            <a:avLst/>
          </a:prstGeom>
          <a:solidFill>
            <a:srgbClr val="FFFFFF"/>
          </a:solidFill>
          <a:ln w="15225" cap="flat" cmpd="sng">
            <a:solidFill>
              <a:srgbClr val="4CAF70"/>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21" name="Google Shape;6921;p73"/>
          <p:cNvSpPr/>
          <p:nvPr/>
        </p:nvSpPr>
        <p:spPr>
          <a:xfrm>
            <a:off x="4575424" y="5203910"/>
            <a:ext cx="3510382" cy="54850"/>
          </a:xfrm>
          <a:prstGeom prst="rect">
            <a:avLst/>
          </a:prstGeom>
          <a:solidFill>
            <a:srgbClr val="4CAF50"/>
          </a:solidFill>
          <a:ln w="12700" cap="flat" cmpd="sng">
            <a:solidFill>
              <a:srgbClr val="4CAF50"/>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22" name="Google Shape;6922;p73"/>
          <p:cNvSpPr/>
          <p:nvPr/>
        </p:nvSpPr>
        <p:spPr>
          <a:xfrm>
            <a:off x="4685124" y="5313610"/>
            <a:ext cx="383948" cy="383948"/>
          </a:xfrm>
          <a:prstGeom prst="ellipse">
            <a:avLst/>
          </a:prstGeom>
          <a:solidFill>
            <a:srgbClr val="2A8FA8"/>
          </a:solidFill>
          <a:ln w="12700" cap="flat" cmpd="sng">
            <a:solidFill>
              <a:srgbClr val="2A8FA8"/>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23" name="Google Shape;6923;p73"/>
          <p:cNvSpPr/>
          <p:nvPr/>
        </p:nvSpPr>
        <p:spPr>
          <a:xfrm>
            <a:off x="4685124" y="5313610"/>
            <a:ext cx="383948" cy="38394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24" name="Google Shape;6924;p73"/>
          <p:cNvSpPr/>
          <p:nvPr/>
        </p:nvSpPr>
        <p:spPr>
          <a:xfrm>
            <a:off x="5142205" y="5313610"/>
            <a:ext cx="2852185"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GitOps Controller</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25" name="Google Shape;6925;p73"/>
          <p:cNvSpPr/>
          <p:nvPr/>
        </p:nvSpPr>
        <p:spPr>
          <a:xfrm>
            <a:off x="5142205" y="5551292"/>
            <a:ext cx="2852185" cy="18283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Pull-Based Sync</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926" name="Google Shape;6926;p73"/>
          <p:cNvCxnSpPr/>
          <p:nvPr/>
        </p:nvCxnSpPr>
        <p:spPr>
          <a:xfrm>
            <a:off x="4666840" y="5798115"/>
            <a:ext cx="3327549" cy="0"/>
          </a:xfrm>
          <a:prstGeom prst="straightConnector1">
            <a:avLst/>
          </a:prstGeom>
          <a:noFill/>
          <a:ln w="9525" cap="flat" cmpd="sng">
            <a:solidFill>
              <a:srgbClr val="D0E8D8"/>
            </a:solidFill>
            <a:prstDash val="solid"/>
            <a:round/>
            <a:headEnd type="none" w="sm" len="sm"/>
            <a:tailEnd type="none" w="sm" len="sm"/>
          </a:ln>
        </p:spPr>
      </p:cxnSp>
      <p:sp>
        <p:nvSpPr>
          <p:cNvPr id="6927" name="Google Shape;6927;p73"/>
          <p:cNvSpPr/>
          <p:nvPr/>
        </p:nvSpPr>
        <p:spPr>
          <a:xfrm>
            <a:off x="4666841" y="5862107"/>
            <a:ext cx="3345832" cy="603347"/>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Git Association links cluster to repository</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Pull-based sync watches for manifest changes</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Detects drift and auto-corrects</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p:txBody>
      </p:sp>
      <p:sp>
        <p:nvSpPr>
          <p:cNvPr id="6928" name="Google Shape;6928;p73"/>
          <p:cNvSpPr/>
          <p:nvPr/>
        </p:nvSpPr>
        <p:spPr>
          <a:xfrm>
            <a:off x="8149796" y="5710572"/>
            <a:ext cx="274249" cy="32909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CAF70"/>
                </a:solidFill>
                <a:effectLst/>
                <a:uLnTx/>
                <a:uFillTx/>
                <a:latin typeface="Arial"/>
                <a:ea typeface="Arial"/>
                <a:cs typeface="Arial"/>
                <a:sym typeface="Arial"/>
              </a:rPr>
              <a:t>→</a:t>
            </a: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29" name="Google Shape;6929;p73"/>
          <p:cNvSpPr/>
          <p:nvPr/>
        </p:nvSpPr>
        <p:spPr>
          <a:xfrm>
            <a:off x="8497178" y="5203910"/>
            <a:ext cx="3510382" cy="1334676"/>
          </a:xfrm>
          <a:prstGeom prst="rect">
            <a:avLst/>
          </a:prstGeom>
          <a:solidFill>
            <a:srgbClr val="FFFFFF"/>
          </a:solidFill>
          <a:ln w="15225" cap="flat" cmpd="sng">
            <a:solidFill>
              <a:srgbClr val="4CAF70"/>
            </a:solidFill>
            <a:prstDash val="solid"/>
            <a:round/>
            <a:headEnd type="none" w="sm" len="sm"/>
            <a:tailEnd type="none" w="sm" len="sm"/>
          </a:ln>
          <a:effectLst>
            <a:outerShdw blurRad="50800" dist="25400" dir="8100000" algn="bl" rotWithShape="0">
              <a:srgbClr val="000000">
                <a:alpha val="12941"/>
              </a:srgbClr>
            </a:outerShdw>
          </a:effectLst>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30" name="Google Shape;6930;p73"/>
          <p:cNvSpPr/>
          <p:nvPr/>
        </p:nvSpPr>
        <p:spPr>
          <a:xfrm>
            <a:off x="8497178" y="5203910"/>
            <a:ext cx="3510382" cy="54850"/>
          </a:xfrm>
          <a:prstGeom prst="rect">
            <a:avLst/>
          </a:prstGeom>
          <a:solidFill>
            <a:srgbClr val="4CAF50"/>
          </a:solidFill>
          <a:ln w="12700" cap="flat" cmpd="sng">
            <a:solidFill>
              <a:srgbClr val="4CAF50"/>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31" name="Google Shape;6931;p73"/>
          <p:cNvSpPr/>
          <p:nvPr/>
        </p:nvSpPr>
        <p:spPr>
          <a:xfrm>
            <a:off x="8606878" y="5313610"/>
            <a:ext cx="383948" cy="383948"/>
          </a:xfrm>
          <a:prstGeom prst="ellipse">
            <a:avLst/>
          </a:prstGeom>
          <a:solidFill>
            <a:srgbClr val="2A7A4B"/>
          </a:solidFill>
          <a:ln w="12700" cap="flat" cmpd="sng">
            <a:solidFill>
              <a:srgbClr val="2A7A4B"/>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32" name="Google Shape;6932;p73"/>
          <p:cNvSpPr/>
          <p:nvPr/>
        </p:nvSpPr>
        <p:spPr>
          <a:xfrm>
            <a:off x="8606878" y="5350176"/>
            <a:ext cx="383948" cy="383948"/>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a:ea typeface="Calibri"/>
                <a:cs typeface="Calibri"/>
                <a:sym typeface="Calibri"/>
              </a:rPr>
              <a:t>🚀</a:t>
            </a:r>
            <a:endParaRPr kumimoji="0" sz="16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33" name="Google Shape;6933;p73"/>
          <p:cNvSpPr/>
          <p:nvPr/>
        </p:nvSpPr>
        <p:spPr>
          <a:xfrm>
            <a:off x="9063959" y="5313610"/>
            <a:ext cx="2852185" cy="23768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1E2E"/>
                </a:solidFill>
                <a:effectLst/>
                <a:uLnTx/>
                <a:uFillTx/>
                <a:latin typeface="Arial"/>
                <a:ea typeface="Arial"/>
                <a:cs typeface="Arial"/>
                <a:sym typeface="Arial"/>
              </a:rPr>
              <a:t>Auto-Deployment</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6934" name="Google Shape;6934;p73"/>
          <p:cNvSpPr/>
          <p:nvPr/>
        </p:nvSpPr>
        <p:spPr>
          <a:xfrm>
            <a:off x="9063959" y="5551292"/>
            <a:ext cx="2852185" cy="182832"/>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000000"/>
                </a:solidFill>
                <a:effectLst/>
                <a:uLnTx/>
                <a:uFillTx/>
                <a:latin typeface="Arial"/>
                <a:ea typeface="Arial"/>
                <a:cs typeface="Arial"/>
                <a:sym typeface="Arial"/>
              </a:rPr>
              <a:t>Manifest Driven App</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cxnSp>
        <p:nvCxnSpPr>
          <p:cNvPr id="6935" name="Google Shape;6935;p73"/>
          <p:cNvCxnSpPr/>
          <p:nvPr/>
        </p:nvCxnSpPr>
        <p:spPr>
          <a:xfrm>
            <a:off x="8588595" y="5798115"/>
            <a:ext cx="3327549" cy="0"/>
          </a:xfrm>
          <a:prstGeom prst="straightConnector1">
            <a:avLst/>
          </a:prstGeom>
          <a:noFill/>
          <a:ln w="9525" cap="flat" cmpd="sng">
            <a:solidFill>
              <a:srgbClr val="D0E8D8"/>
            </a:solidFill>
            <a:prstDash val="solid"/>
            <a:round/>
            <a:headEnd type="none" w="sm" len="sm"/>
            <a:tailEnd type="none" w="sm" len="sm"/>
          </a:ln>
        </p:spPr>
      </p:cxnSp>
      <p:sp>
        <p:nvSpPr>
          <p:cNvPr id="6936" name="Google Shape;6936;p73"/>
          <p:cNvSpPr/>
          <p:nvPr/>
        </p:nvSpPr>
        <p:spPr>
          <a:xfrm>
            <a:off x="8588595" y="5862107"/>
            <a:ext cx="3345832" cy="603347"/>
          </a:xfrm>
          <a:prstGeom prst="rect">
            <a:avLst/>
          </a:prstGeom>
          <a:noFill/>
          <a:ln>
            <a:noFill/>
          </a:ln>
        </p:spPr>
        <p:txBody>
          <a:bodyPr spcFirstLastPara="1" wrap="square" lIns="0" tIns="0" rIns="0" bIns="0" anchor="t" anchorCtr="0">
            <a:noAutofit/>
          </a:bodyPr>
          <a:lstStyle/>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Workloads auto-deployed per App manifest</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No manual intervention at edge site</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a:p>
            <a:pPr marL="141288" marR="0" lvl="0" indent="-141288" algn="l" defTabSz="914400" rtl="0" eaLnBrk="1" fontAlgn="auto" latinLnBrk="0" hangingPunct="1">
              <a:lnSpc>
                <a:spcPct val="100000"/>
              </a:lnSpc>
              <a:spcBef>
                <a:spcPts val="0"/>
              </a:spcBef>
              <a:spcAft>
                <a:spcPts val="0"/>
              </a:spcAft>
              <a:buClr>
                <a:srgbClr val="000000"/>
              </a:buClr>
              <a:buSzPts val="850"/>
              <a:buFont typeface="Arial"/>
              <a:buChar char="•"/>
              <a:tabLst/>
              <a:defRPr/>
            </a:pPr>
            <a:r>
              <a:rPr kumimoji="0" lang="en-US" sz="1100" b="0" i="0" u="none" strike="noStrike" kern="1200" cap="none" spc="0" normalizeH="0" baseline="0" noProof="0" dirty="0">
                <a:ln>
                  <a:noFill/>
                </a:ln>
                <a:solidFill>
                  <a:srgbClr val="000000"/>
                </a:solidFill>
                <a:effectLst/>
                <a:uLnTx/>
                <a:uFillTx/>
                <a:latin typeface="Arial"/>
                <a:ea typeface="+mn-ea"/>
                <a:cs typeface="Arial"/>
                <a:sym typeface="Arial"/>
              </a:rPr>
              <a:t>Full audit trail via Git commit history</a:t>
            </a:r>
            <a:endParaRPr kumimoji="0" sz="1100" b="0" i="0" u="none" strike="noStrike" kern="1200" cap="none" spc="0" normalizeH="0" baseline="0" noProof="0" dirty="0">
              <a:ln>
                <a:noFill/>
              </a:ln>
              <a:solidFill>
                <a:srgbClr val="000000"/>
              </a:solidFill>
              <a:effectLst/>
              <a:uLnTx/>
              <a:uFillTx/>
              <a:latin typeface="Arial"/>
              <a:ea typeface="+mn-ea"/>
              <a:cs typeface="Arial"/>
              <a:sym typeface="Arial"/>
            </a:endParaRPr>
          </a:p>
        </p:txBody>
      </p:sp>
      <p:sp>
        <p:nvSpPr>
          <p:cNvPr id="6937" name="Google Shape;6937;p73"/>
          <p:cNvSpPr/>
          <p:nvPr/>
        </p:nvSpPr>
        <p:spPr>
          <a:xfrm>
            <a:off x="5233620" y="6400402"/>
            <a:ext cx="2193989" cy="246824"/>
          </a:xfrm>
          <a:prstGeom prst="rect">
            <a:avLst/>
          </a:prstGeom>
          <a:solidFill>
            <a:srgbClr val="5A3EA0"/>
          </a:solidFill>
          <a:ln w="12700" cap="flat" cmpd="sng">
            <a:solidFill>
              <a:srgbClr val="5A3EA0"/>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938" name="Google Shape;6938;p73"/>
          <p:cNvSpPr/>
          <p:nvPr/>
        </p:nvSpPr>
        <p:spPr>
          <a:xfrm>
            <a:off x="5233620" y="6400402"/>
            <a:ext cx="2193989" cy="246824"/>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Arial"/>
                <a:ea typeface="Arial"/>
                <a:cs typeface="Arial"/>
                <a:sym typeface="Arial"/>
              </a:rPr>
              <a:t>● Synchronized</a:t>
            </a:r>
            <a:endParaRPr kumimoji="0" sz="85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6939" name="Google Shape;6939;p73"/>
          <p:cNvPicPr preferRelativeResize="0"/>
          <p:nvPr/>
        </p:nvPicPr>
        <p:blipFill rotWithShape="1">
          <a:blip r:embed="rId3">
            <a:alphaModFix/>
          </a:blip>
          <a:srcRect t="41486" b="27266"/>
          <a:stretch/>
        </p:blipFill>
        <p:spPr>
          <a:xfrm>
            <a:off x="4283864" y="1386445"/>
            <a:ext cx="456109" cy="164549"/>
          </a:xfrm>
          <a:prstGeom prst="rect">
            <a:avLst/>
          </a:prstGeom>
          <a:solidFill>
            <a:schemeClr val="accent5"/>
          </a:solidFill>
          <a:ln>
            <a:noFill/>
          </a:ln>
        </p:spPr>
      </p:pic>
      <p:pic>
        <p:nvPicPr>
          <p:cNvPr id="6940" name="Google Shape;6940;p73" descr="Gears with solid fill"/>
          <p:cNvPicPr preferRelativeResize="0"/>
          <p:nvPr/>
        </p:nvPicPr>
        <p:blipFill rotWithShape="1">
          <a:blip r:embed="rId4">
            <a:alphaModFix/>
          </a:blip>
          <a:srcRect/>
          <a:stretch/>
        </p:blipFill>
        <p:spPr>
          <a:xfrm rot="3435861">
            <a:off x="1215316" y="1211842"/>
            <a:ext cx="511654" cy="511654"/>
          </a:xfrm>
          <a:prstGeom prst="rect">
            <a:avLst/>
          </a:prstGeom>
          <a:noFill/>
          <a:ln>
            <a:noFill/>
          </a:ln>
        </p:spPr>
      </p:pic>
      <p:sp>
        <p:nvSpPr>
          <p:cNvPr id="2" name="Google Shape;2090;g354563c36f7_0_11470">
            <a:extLst>
              <a:ext uri="{FF2B5EF4-FFF2-40B4-BE49-F238E27FC236}">
                <a16:creationId xmlns:a16="http://schemas.microsoft.com/office/drawing/2014/main" id="{CC242270-EECF-C367-076D-C17970329EEA}"/>
              </a:ext>
            </a:extLst>
          </p:cNvPr>
          <p:cNvSpPr txBox="1">
            <a:spLocks/>
          </p:cNvSpPr>
          <p:nvPr/>
        </p:nvSpPr>
        <p:spPr>
          <a:xfrm>
            <a:off x="443412" y="234563"/>
            <a:ext cx="11004000" cy="381000"/>
          </a:xfrm>
          <a:prstGeom prst="rect">
            <a:avLst/>
          </a:prstGeom>
          <a:noFill/>
          <a:ln>
            <a:noFill/>
          </a:ln>
        </p:spPr>
        <p:txBody>
          <a:bodyPr spcFirstLastPara="1" vert="horz" wrap="square" lIns="0" tIns="0" rIns="0" bIns="0" rtlCol="0" anchor="b" anchorCtr="0">
            <a:noAutofit/>
          </a:bodyPr>
          <a:lstStyle>
            <a:lvl1pPr lvl="0" algn="l" defTabSz="914400" rtl="0" eaLnBrk="1" latinLnBrk="0" hangingPunct="1">
              <a:lnSpc>
                <a:spcPct val="90000"/>
              </a:lnSpc>
              <a:spcBef>
                <a:spcPts val="0"/>
              </a:spcBef>
              <a:spcAft>
                <a:spcPts val="0"/>
              </a:spcAft>
              <a:buClr>
                <a:schemeClr val="accent2"/>
              </a:buClr>
              <a:buSzPts val="2800"/>
              <a:buFont typeface="Arial"/>
              <a:buNone/>
              <a:defRPr sz="2800" b="0" kern="1200">
                <a:solidFill>
                  <a:schemeClr val="accent2"/>
                </a:solidFill>
                <a:latin typeface="+mj-lt"/>
                <a:ea typeface="+mj-ea"/>
                <a:cs typeface="+mj-cs"/>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pPr marL="0" marR="0" lvl="0" indent="0" algn="l" defTabSz="914400" rtl="0" eaLnBrk="1" fontAlgn="auto" latinLnBrk="0" hangingPunct="1">
              <a:lnSpc>
                <a:spcPct val="90000"/>
              </a:lnSpc>
              <a:spcBef>
                <a:spcPts val="0"/>
              </a:spcBef>
              <a:spcAft>
                <a:spcPts val="0"/>
              </a:spcAft>
              <a:buClr>
                <a:srgbClr val="005C8A"/>
              </a:buClr>
              <a:buSzPts val="2800"/>
              <a:buFont typeface="Arial"/>
              <a:buNone/>
              <a:tabLst/>
              <a:defRPr/>
            </a:pPr>
            <a:r>
              <a:rPr kumimoji="0" lang="en-US" sz="2800" b="0" i="0" u="none" strike="noStrike" kern="1200" cap="none" spc="0" normalizeH="0" baseline="0" noProof="0" dirty="0">
                <a:ln>
                  <a:noFill/>
                </a:ln>
                <a:solidFill>
                  <a:srgbClr val="005C8A"/>
                </a:solidFill>
                <a:effectLst/>
                <a:uLnTx/>
                <a:uFillTx/>
                <a:latin typeface="Arial" panose="020B0604020202020204" pitchFamily="34" charset="0"/>
                <a:ea typeface="+mj-ea"/>
                <a:cs typeface="Arial" panose="020B0604020202020204" pitchFamily="34" charset="0"/>
              </a:rPr>
              <a:t>Edge Site Activation with ZTP</a:t>
            </a:r>
          </a:p>
        </p:txBody>
      </p:sp>
      <p:pic>
        <p:nvPicPr>
          <p:cNvPr id="6" name="Graphic 5">
            <a:extLst>
              <a:ext uri="{FF2B5EF4-FFF2-40B4-BE49-F238E27FC236}">
                <a16:creationId xmlns:a16="http://schemas.microsoft.com/office/drawing/2014/main" id="{8C415362-5F30-29A2-3F16-82CF17E3CDB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756739" y="5387563"/>
            <a:ext cx="248342" cy="248342"/>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5516"/>
        <p:cNvGrpSpPr/>
        <p:nvPr/>
      </p:nvGrpSpPr>
      <p:grpSpPr>
        <a:xfrm>
          <a:off x="0" y="0"/>
          <a:ext cx="0" cy="0"/>
          <a:chOff x="0" y="0"/>
          <a:chExt cx="0" cy="0"/>
        </a:xfrm>
      </p:grpSpPr>
      <p:sp>
        <p:nvSpPr>
          <p:cNvPr id="5517" name="Google Shape;5517;p21"/>
          <p:cNvSpPr/>
          <p:nvPr/>
        </p:nvSpPr>
        <p:spPr>
          <a:xfrm rot="10800000" flipH="1">
            <a:off x="608013" y="1600200"/>
            <a:ext cx="5514637" cy="4571998"/>
          </a:xfrm>
          <a:prstGeom prst="round2SameRect">
            <a:avLst>
              <a:gd name="adj1" fmla="val 5333"/>
              <a:gd name="adj2" fmla="val 0"/>
            </a:avLst>
          </a:prstGeom>
          <a:solidFill>
            <a:schemeClr val="accent2">
              <a:alpha val="9803"/>
            </a:schemeClr>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
                <a:srgbClr val="FFFFFF"/>
              </a:buClr>
              <a:buSzPts val="1200"/>
              <a:buFont typeface="Arial"/>
              <a:buNone/>
              <a:tabLst/>
              <a:defRPr/>
            </a:pPr>
            <a:endParaRPr kumimoji="0" sz="1200" b="1"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 name="Text Placeholder 1">
            <a:extLst>
              <a:ext uri="{FF2B5EF4-FFF2-40B4-BE49-F238E27FC236}">
                <a16:creationId xmlns:a16="http://schemas.microsoft.com/office/drawing/2014/main" id="{D716B736-CBA3-5330-6C18-3DD0156F8774}"/>
              </a:ext>
            </a:extLst>
          </p:cNvPr>
          <p:cNvSpPr>
            <a:spLocks noGrp="1"/>
          </p:cNvSpPr>
          <p:nvPr>
            <p:ph type="body" sz="quarter" idx="17"/>
          </p:nvPr>
        </p:nvSpPr>
        <p:spPr/>
        <p:txBody>
          <a:bodyPr/>
          <a:lstStyle/>
          <a:p>
            <a:r>
              <a:rPr lang="en-US" dirty="0"/>
              <a:t>Advanced capability added within NSX and exposed via vSphere vDS to enable low latency application networking</a:t>
            </a:r>
          </a:p>
          <a:p>
            <a:r>
              <a:rPr lang="en-US" dirty="0"/>
              <a:t>Ensures EDP switch latency of less than 500 microseconds in a very prescriptive environment</a:t>
            </a:r>
          </a:p>
          <a:p>
            <a:r>
              <a:rPr lang="en-US" dirty="0"/>
              <a:t>Support for Parallel Redundancy Protocol (PRP) and Process Field Network (PROFINET) protocols</a:t>
            </a:r>
          </a:p>
          <a:p>
            <a:r>
              <a:rPr lang="en-US" dirty="0"/>
              <a:t>PROFINET – widely used in industrial automation and manufacturing use-cases for supporting real-time applications such as controlling robotic arms</a:t>
            </a:r>
          </a:p>
          <a:p>
            <a:r>
              <a:rPr lang="en-US" dirty="0"/>
              <a:t>Provides virtual networking foundation for the most demanding industrial ethernet  deployments</a:t>
            </a:r>
          </a:p>
          <a:p>
            <a:endParaRPr lang="en-US" dirty="0"/>
          </a:p>
          <a:p>
            <a:endParaRPr lang="en-US" dirty="0"/>
          </a:p>
        </p:txBody>
      </p:sp>
      <p:sp>
        <p:nvSpPr>
          <p:cNvPr id="5518" name="Google Shape;5518;p21"/>
          <p:cNvSpPr txBox="1">
            <a:spLocks noGrp="1"/>
          </p:cNvSpPr>
          <p:nvPr>
            <p:ph type="title"/>
          </p:nvPr>
        </p:nvSpPr>
        <p:spPr>
          <a:xfrm>
            <a:off x="579809" y="412751"/>
            <a:ext cx="11001004" cy="381000"/>
          </a:xfrm>
          <a:noFill/>
          <a:ln>
            <a:noFill/>
          </a:ln>
        </p:spPr>
        <p:txBody>
          <a:bodyPr spcFirstLastPara="1" wrap="square" lIns="0" tIns="0" rIns="0" bIns="0" anchor="b" anchorCtr="0">
            <a:noAutofit/>
          </a:bodyPr>
          <a:lstStyle/>
          <a:p>
            <a:pPr lvl="0"/>
            <a:r>
              <a:rPr lang="en-US" dirty="0"/>
              <a:t>Industrial vSwitch - EDP Dedicated Low Latency Support</a:t>
            </a:r>
          </a:p>
        </p:txBody>
      </p:sp>
      <p:sp>
        <p:nvSpPr>
          <p:cNvPr id="5519" name="Google Shape;5519;p21"/>
          <p:cNvSpPr txBox="1">
            <a:spLocks noGrp="1"/>
          </p:cNvSpPr>
          <p:nvPr>
            <p:ph type="subTitle" idx="4294967295"/>
          </p:nvPr>
        </p:nvSpPr>
        <p:spPr>
          <a:xfrm>
            <a:off x="579809" y="810644"/>
            <a:ext cx="10962687" cy="247743"/>
          </a:xfrm>
          <a:noFill/>
          <a:ln>
            <a:noFill/>
          </a:ln>
        </p:spPr>
        <p:txBody>
          <a:bodyPr spcFirstLastPara="1" wrap="square" lIns="0" tIns="0" rIns="0" bIns="0" anchor="t" anchorCtr="0">
            <a:noAutofit/>
          </a:bodyPr>
          <a:lstStyle/>
          <a:p>
            <a:pPr marL="114300" lvl="0" indent="0">
              <a:buNone/>
            </a:pPr>
            <a:r>
              <a:rPr lang="en-US" dirty="0"/>
              <a:t>Support for OT use-cases</a:t>
            </a:r>
          </a:p>
        </p:txBody>
      </p:sp>
      <p:grpSp>
        <p:nvGrpSpPr>
          <p:cNvPr id="5522" name="Google Shape;5522;p21"/>
          <p:cNvGrpSpPr/>
          <p:nvPr/>
        </p:nvGrpSpPr>
        <p:grpSpPr>
          <a:xfrm>
            <a:off x="824014" y="1748852"/>
            <a:ext cx="5067315" cy="1985319"/>
            <a:chOff x="1027097" y="1738184"/>
            <a:chExt cx="5067315" cy="1985319"/>
          </a:xfrm>
        </p:grpSpPr>
        <p:sp>
          <p:nvSpPr>
            <p:cNvPr id="5523" name="Google Shape;5523;p21"/>
            <p:cNvSpPr/>
            <p:nvPr/>
          </p:nvSpPr>
          <p:spPr>
            <a:xfrm>
              <a:off x="1078932" y="1738184"/>
              <a:ext cx="5015480" cy="1985319"/>
            </a:xfrm>
            <a:prstGeom prst="roundRect">
              <a:avLst>
                <a:gd name="adj" fmla="val 2439"/>
              </a:avLst>
            </a:prstGeom>
            <a:solidFill>
              <a:schemeClr val="lt1"/>
            </a:solidFill>
            <a:ln w="12700" cap="flat" cmpd="sng">
              <a:solidFill>
                <a:schemeClr val="accent3"/>
              </a:solidFill>
              <a:prstDash val="solid"/>
              <a:round/>
              <a:headEnd type="none" w="sm" len="sm"/>
              <a:tailEnd type="none" w="sm" len="sm"/>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5524" name="Google Shape;5524;p21"/>
            <p:cNvSpPr txBox="1"/>
            <p:nvPr/>
          </p:nvSpPr>
          <p:spPr>
            <a:xfrm>
              <a:off x="1027097" y="3345269"/>
              <a:ext cx="995767" cy="30777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1200" cap="none" spc="0" normalizeH="0" baseline="0" noProof="0" dirty="0">
                  <a:ln>
                    <a:noFill/>
                  </a:ln>
                  <a:solidFill>
                    <a:srgbClr val="005C8A"/>
                  </a:solidFill>
                  <a:effectLst/>
                  <a:uLnTx/>
                  <a:uFillTx/>
                  <a:latin typeface="Arial"/>
                  <a:ea typeface="Arial"/>
                  <a:cs typeface="Arial"/>
                  <a:sym typeface="Arial"/>
                </a:rPr>
                <a:t>ESX Host</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5525" name="Google Shape;5525;p21"/>
            <p:cNvGrpSpPr/>
            <p:nvPr/>
          </p:nvGrpSpPr>
          <p:grpSpPr>
            <a:xfrm>
              <a:off x="1522407" y="1843216"/>
              <a:ext cx="4136117" cy="1423766"/>
              <a:chOff x="1512878" y="1843216"/>
              <a:chExt cx="4136117" cy="1423766"/>
            </a:xfrm>
          </p:grpSpPr>
          <p:sp>
            <p:nvSpPr>
              <p:cNvPr id="5526" name="Google Shape;5526;p21"/>
              <p:cNvSpPr/>
              <p:nvPr/>
            </p:nvSpPr>
            <p:spPr>
              <a:xfrm>
                <a:off x="1512878" y="2972357"/>
                <a:ext cx="4136117" cy="290351"/>
              </a:xfrm>
              <a:prstGeom prst="round2SameRect">
                <a:avLst>
                  <a:gd name="adj1" fmla="val 0"/>
                  <a:gd name="adj2" fmla="val 20908"/>
                </a:avLst>
              </a:prstGeom>
              <a:solidFill>
                <a:schemeClr val="accent2"/>
              </a:solid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dirty="0">
                    <a:ln>
                      <a:noFill/>
                    </a:ln>
                    <a:solidFill>
                      <a:srgbClr val="FFFFFF"/>
                    </a:solidFill>
                    <a:effectLst/>
                    <a:uLnTx/>
                    <a:uFillTx/>
                    <a:latin typeface="Arial"/>
                    <a:ea typeface="Arial"/>
                    <a:cs typeface="Arial"/>
                    <a:sym typeface="Arial"/>
                  </a:rPr>
                  <a:t>EDP Dedicated Low Latency Switch (PRP)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5527" name="Google Shape;5527;p21"/>
              <p:cNvSpPr/>
              <p:nvPr/>
            </p:nvSpPr>
            <p:spPr>
              <a:xfrm>
                <a:off x="1515452" y="1843216"/>
                <a:ext cx="4129750" cy="1423766"/>
              </a:xfrm>
              <a:prstGeom prst="roundRect">
                <a:avLst>
                  <a:gd name="adj" fmla="val 4572"/>
                </a:avLst>
              </a:prstGeom>
              <a:no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5528" name="Google Shape;5528;p21"/>
              <p:cNvGrpSpPr/>
              <p:nvPr/>
            </p:nvGrpSpPr>
            <p:grpSpPr>
              <a:xfrm>
                <a:off x="2426648" y="2075497"/>
                <a:ext cx="2307358" cy="867566"/>
                <a:chOff x="2462697" y="2075497"/>
                <a:chExt cx="2307358" cy="867566"/>
              </a:xfrm>
            </p:grpSpPr>
            <p:cxnSp>
              <p:nvCxnSpPr>
                <p:cNvPr id="5529" name="Google Shape;5529;p21"/>
                <p:cNvCxnSpPr/>
                <p:nvPr/>
              </p:nvCxnSpPr>
              <p:spPr>
                <a:xfrm>
                  <a:off x="2818440" y="2457769"/>
                  <a:ext cx="0" cy="480963"/>
                </a:xfrm>
                <a:prstGeom prst="straightConnector1">
                  <a:avLst/>
                </a:prstGeom>
                <a:noFill/>
                <a:ln w="12700" cap="flat" cmpd="sng">
                  <a:solidFill>
                    <a:schemeClr val="accent2"/>
                  </a:solidFill>
                  <a:prstDash val="solid"/>
                  <a:miter lim="800000"/>
                  <a:headEnd type="triangle" w="med" len="med"/>
                  <a:tailEnd type="triangle" w="med" len="med"/>
                </a:ln>
              </p:spPr>
            </p:cxnSp>
            <p:cxnSp>
              <p:nvCxnSpPr>
                <p:cNvPr id="5530" name="Google Shape;5530;p21"/>
                <p:cNvCxnSpPr>
                  <a:stCxn id="5531" idx="2"/>
                </p:cNvCxnSpPr>
                <p:nvPr/>
              </p:nvCxnSpPr>
              <p:spPr>
                <a:xfrm flipH="1">
                  <a:off x="3614276" y="2462463"/>
                  <a:ext cx="2100" cy="480600"/>
                </a:xfrm>
                <a:prstGeom prst="straightConnector1">
                  <a:avLst/>
                </a:prstGeom>
                <a:noFill/>
                <a:ln w="12700" cap="flat" cmpd="sng">
                  <a:solidFill>
                    <a:schemeClr val="accent2"/>
                  </a:solidFill>
                  <a:prstDash val="solid"/>
                  <a:miter lim="800000"/>
                  <a:headEnd type="triangle" w="med" len="med"/>
                  <a:tailEnd type="triangle" w="med" len="med"/>
                </a:ln>
              </p:spPr>
            </p:cxnSp>
            <p:grpSp>
              <p:nvGrpSpPr>
                <p:cNvPr id="5532" name="Google Shape;5532;p21"/>
                <p:cNvGrpSpPr/>
                <p:nvPr/>
              </p:nvGrpSpPr>
              <p:grpSpPr>
                <a:xfrm>
                  <a:off x="2462697" y="2075497"/>
                  <a:ext cx="2307358" cy="386966"/>
                  <a:chOff x="2462697" y="2075497"/>
                  <a:chExt cx="2307358" cy="386966"/>
                </a:xfrm>
              </p:grpSpPr>
              <p:sp>
                <p:nvSpPr>
                  <p:cNvPr id="5533" name="Google Shape;5533;p21"/>
                  <p:cNvSpPr/>
                  <p:nvPr/>
                </p:nvSpPr>
                <p:spPr>
                  <a:xfrm>
                    <a:off x="4050055" y="2075497"/>
                    <a:ext cx="720000" cy="386966"/>
                  </a:xfrm>
                  <a:prstGeom prst="rect">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dirty="0">
                        <a:ln>
                          <a:noFill/>
                        </a:ln>
                        <a:solidFill>
                          <a:srgbClr val="005C8A"/>
                        </a:solidFill>
                        <a:effectLst/>
                        <a:uLnTx/>
                        <a:uFillTx/>
                        <a:latin typeface="Arial"/>
                        <a:ea typeface="Arial"/>
                        <a:cs typeface="Arial"/>
                        <a:sym typeface="Arial"/>
                      </a:rPr>
                      <a:t>vPLC C</a:t>
                    </a:r>
                    <a:endParaRPr kumimoji="0" sz="8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5531" name="Google Shape;5531;p21"/>
                  <p:cNvSpPr/>
                  <p:nvPr/>
                </p:nvSpPr>
                <p:spPr>
                  <a:xfrm>
                    <a:off x="3256376" y="2075497"/>
                    <a:ext cx="720000" cy="386966"/>
                  </a:xfrm>
                  <a:prstGeom prst="rect">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dirty="0">
                        <a:ln>
                          <a:noFill/>
                        </a:ln>
                        <a:solidFill>
                          <a:srgbClr val="005C8A"/>
                        </a:solidFill>
                        <a:effectLst/>
                        <a:uLnTx/>
                        <a:uFillTx/>
                        <a:latin typeface="Arial"/>
                        <a:ea typeface="Arial"/>
                        <a:cs typeface="Arial"/>
                        <a:sym typeface="Arial"/>
                      </a:rPr>
                      <a:t>vPLC B</a:t>
                    </a:r>
                    <a:endParaRPr kumimoji="0" sz="8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5534" name="Google Shape;5534;p21"/>
                  <p:cNvSpPr/>
                  <p:nvPr/>
                </p:nvSpPr>
                <p:spPr>
                  <a:xfrm>
                    <a:off x="2462697" y="2075497"/>
                    <a:ext cx="720000" cy="386966"/>
                  </a:xfrm>
                  <a:prstGeom prst="rect">
                    <a:avLst/>
                  </a:prstGeom>
                  <a:solidFill>
                    <a:schemeClr val="lt1"/>
                  </a:solidFill>
                  <a:ln w="12700" cap="flat" cmpd="sng">
                    <a:solidFill>
                      <a:schemeClr val="accent3"/>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dirty="0">
                        <a:ln>
                          <a:noFill/>
                        </a:ln>
                        <a:solidFill>
                          <a:srgbClr val="005C8A"/>
                        </a:solidFill>
                        <a:effectLst/>
                        <a:uLnTx/>
                        <a:uFillTx/>
                        <a:latin typeface="Arial"/>
                        <a:ea typeface="Arial"/>
                        <a:cs typeface="Arial"/>
                        <a:sym typeface="Arial"/>
                      </a:rPr>
                      <a:t>vPLC A</a:t>
                    </a:r>
                    <a:endParaRPr kumimoji="0" sz="800" b="0" i="0" u="none" strike="noStrike" kern="1200" cap="none" spc="0" normalizeH="0" baseline="0" noProof="0" dirty="0">
                      <a:ln>
                        <a:noFill/>
                      </a:ln>
                      <a:solidFill>
                        <a:srgbClr val="005C8A"/>
                      </a:solidFill>
                      <a:effectLst/>
                      <a:uLnTx/>
                      <a:uFillTx/>
                      <a:latin typeface="Arial"/>
                      <a:ea typeface="Arial"/>
                      <a:cs typeface="Arial"/>
                      <a:sym typeface="Arial"/>
                    </a:endParaRPr>
                  </a:p>
                </p:txBody>
              </p:sp>
            </p:grpSp>
            <p:cxnSp>
              <p:nvCxnSpPr>
                <p:cNvPr id="5535" name="Google Shape;5535;p21"/>
                <p:cNvCxnSpPr/>
                <p:nvPr/>
              </p:nvCxnSpPr>
              <p:spPr>
                <a:xfrm>
                  <a:off x="4415273" y="2453356"/>
                  <a:ext cx="0" cy="485376"/>
                </a:xfrm>
                <a:prstGeom prst="straightConnector1">
                  <a:avLst/>
                </a:prstGeom>
                <a:noFill/>
                <a:ln w="12700" cap="flat" cmpd="sng">
                  <a:solidFill>
                    <a:schemeClr val="accent2"/>
                  </a:solidFill>
                  <a:prstDash val="solid"/>
                  <a:miter lim="800000"/>
                  <a:headEnd type="triangle" w="med" len="med"/>
                  <a:tailEnd type="triangle" w="med" len="med"/>
                </a:ln>
              </p:spPr>
            </p:cxnSp>
          </p:grpSp>
        </p:grpSp>
      </p:grpSp>
      <p:grpSp>
        <p:nvGrpSpPr>
          <p:cNvPr id="5536" name="Google Shape;5536;p21"/>
          <p:cNvGrpSpPr/>
          <p:nvPr/>
        </p:nvGrpSpPr>
        <p:grpSpPr>
          <a:xfrm>
            <a:off x="1672665" y="3740619"/>
            <a:ext cx="581805" cy="170532"/>
            <a:chOff x="1855545" y="3710785"/>
            <a:chExt cx="581805" cy="170532"/>
          </a:xfrm>
        </p:grpSpPr>
        <p:pic>
          <p:nvPicPr>
            <p:cNvPr id="5537" name="Google Shape;5537;p21" descr="Ethernet Port, Lan Network Port Vector Art Illustration Stock Vector ..."/>
            <p:cNvPicPr preferRelativeResize="0"/>
            <p:nvPr/>
          </p:nvPicPr>
          <p:blipFill rotWithShape="1">
            <a:blip r:embed="rId3">
              <a:alphaModFix/>
            </a:blip>
            <a:srcRect l="19641" t="23202" r="19737" b="29969"/>
            <a:stretch/>
          </p:blipFill>
          <p:spPr>
            <a:xfrm>
              <a:off x="1855545" y="3710785"/>
              <a:ext cx="206476" cy="170532"/>
            </a:xfrm>
            <a:prstGeom prst="rect">
              <a:avLst/>
            </a:prstGeom>
            <a:noFill/>
            <a:ln>
              <a:noFill/>
            </a:ln>
          </p:spPr>
        </p:pic>
        <p:pic>
          <p:nvPicPr>
            <p:cNvPr id="5538" name="Google Shape;5538;p21" descr="Ethernet Port, Lan Network Port Vector Art Illustration Stock Vector ..."/>
            <p:cNvPicPr preferRelativeResize="0"/>
            <p:nvPr/>
          </p:nvPicPr>
          <p:blipFill rotWithShape="1">
            <a:blip r:embed="rId3">
              <a:alphaModFix/>
            </a:blip>
            <a:srcRect l="19641" t="23202" r="19737" b="29969"/>
            <a:stretch/>
          </p:blipFill>
          <p:spPr>
            <a:xfrm>
              <a:off x="2230874" y="3710785"/>
              <a:ext cx="206476" cy="170532"/>
            </a:xfrm>
            <a:prstGeom prst="rect">
              <a:avLst/>
            </a:prstGeom>
            <a:noFill/>
            <a:ln>
              <a:noFill/>
            </a:ln>
          </p:spPr>
        </p:pic>
      </p:grpSp>
      <p:grpSp>
        <p:nvGrpSpPr>
          <p:cNvPr id="5539" name="Google Shape;5539;p21"/>
          <p:cNvGrpSpPr/>
          <p:nvPr/>
        </p:nvGrpSpPr>
        <p:grpSpPr>
          <a:xfrm>
            <a:off x="4107890" y="3740619"/>
            <a:ext cx="581805" cy="170532"/>
            <a:chOff x="1855545" y="3710785"/>
            <a:chExt cx="581805" cy="170532"/>
          </a:xfrm>
        </p:grpSpPr>
        <p:pic>
          <p:nvPicPr>
            <p:cNvPr id="5540" name="Google Shape;5540;p21" descr="Ethernet Port, Lan Network Port Vector Art Illustration Stock Vector ..."/>
            <p:cNvPicPr preferRelativeResize="0"/>
            <p:nvPr/>
          </p:nvPicPr>
          <p:blipFill rotWithShape="1">
            <a:blip r:embed="rId3">
              <a:alphaModFix/>
            </a:blip>
            <a:srcRect l="19641" t="23202" r="19737" b="29969"/>
            <a:stretch/>
          </p:blipFill>
          <p:spPr>
            <a:xfrm>
              <a:off x="1855545" y="3710785"/>
              <a:ext cx="206476" cy="170532"/>
            </a:xfrm>
            <a:prstGeom prst="rect">
              <a:avLst/>
            </a:prstGeom>
            <a:noFill/>
            <a:ln>
              <a:noFill/>
            </a:ln>
          </p:spPr>
        </p:pic>
        <p:pic>
          <p:nvPicPr>
            <p:cNvPr id="5541" name="Google Shape;5541;p21" descr="Ethernet Port, Lan Network Port Vector Art Illustration Stock Vector ..."/>
            <p:cNvPicPr preferRelativeResize="0"/>
            <p:nvPr/>
          </p:nvPicPr>
          <p:blipFill rotWithShape="1">
            <a:blip r:embed="rId3">
              <a:alphaModFix/>
            </a:blip>
            <a:srcRect l="19641" t="23202" r="19737" b="29969"/>
            <a:stretch/>
          </p:blipFill>
          <p:spPr>
            <a:xfrm>
              <a:off x="2230874" y="3710785"/>
              <a:ext cx="206476" cy="170532"/>
            </a:xfrm>
            <a:prstGeom prst="rect">
              <a:avLst/>
            </a:prstGeom>
            <a:noFill/>
            <a:ln>
              <a:noFill/>
            </a:ln>
          </p:spPr>
        </p:pic>
      </p:grpSp>
      <p:cxnSp>
        <p:nvCxnSpPr>
          <p:cNvPr id="5542" name="Google Shape;5542;p21"/>
          <p:cNvCxnSpPr>
            <a:stCxn id="5537" idx="2"/>
            <a:endCxn id="5543" idx="0"/>
          </p:cNvCxnSpPr>
          <p:nvPr/>
        </p:nvCxnSpPr>
        <p:spPr>
          <a:xfrm>
            <a:off x="1775903" y="3911151"/>
            <a:ext cx="3600" cy="438000"/>
          </a:xfrm>
          <a:prstGeom prst="straightConnector1">
            <a:avLst/>
          </a:prstGeom>
          <a:noFill/>
          <a:ln w="9525" cap="flat" cmpd="sng">
            <a:solidFill>
              <a:srgbClr val="5EA509"/>
            </a:solidFill>
            <a:prstDash val="solid"/>
            <a:round/>
            <a:headEnd type="none" w="sm" len="sm"/>
            <a:tailEnd type="none" w="sm" len="sm"/>
          </a:ln>
        </p:spPr>
      </p:cxnSp>
      <p:cxnSp>
        <p:nvCxnSpPr>
          <p:cNvPr id="5544" name="Google Shape;5544;p21"/>
          <p:cNvCxnSpPr/>
          <p:nvPr/>
        </p:nvCxnSpPr>
        <p:spPr>
          <a:xfrm>
            <a:off x="4582892" y="3911151"/>
            <a:ext cx="0" cy="409140"/>
          </a:xfrm>
          <a:prstGeom prst="straightConnector1">
            <a:avLst/>
          </a:prstGeom>
          <a:noFill/>
          <a:ln w="9525" cap="flat" cmpd="sng">
            <a:solidFill>
              <a:srgbClr val="684791"/>
            </a:solidFill>
            <a:prstDash val="solid"/>
            <a:round/>
            <a:headEnd type="none" w="sm" len="sm"/>
            <a:tailEnd type="none" w="sm" len="sm"/>
          </a:ln>
        </p:spPr>
      </p:cxnSp>
      <p:cxnSp>
        <p:nvCxnSpPr>
          <p:cNvPr id="5545" name="Google Shape;5545;p21"/>
          <p:cNvCxnSpPr>
            <a:stCxn id="5540" idx="2"/>
          </p:cNvCxnSpPr>
          <p:nvPr/>
        </p:nvCxnSpPr>
        <p:spPr>
          <a:xfrm flipH="1">
            <a:off x="2151328" y="3911151"/>
            <a:ext cx="2059800" cy="409200"/>
          </a:xfrm>
          <a:prstGeom prst="straightConnector1">
            <a:avLst/>
          </a:prstGeom>
          <a:noFill/>
          <a:ln w="9525" cap="flat" cmpd="sng">
            <a:solidFill>
              <a:srgbClr val="5EA509"/>
            </a:solidFill>
            <a:prstDash val="solid"/>
            <a:round/>
            <a:headEnd type="none" w="sm" len="sm"/>
            <a:tailEnd type="none" w="sm" len="sm"/>
          </a:ln>
        </p:spPr>
      </p:cxnSp>
      <p:cxnSp>
        <p:nvCxnSpPr>
          <p:cNvPr id="5546" name="Google Shape;5546;p21"/>
          <p:cNvCxnSpPr>
            <a:stCxn id="5538" idx="2"/>
          </p:cNvCxnSpPr>
          <p:nvPr/>
        </p:nvCxnSpPr>
        <p:spPr>
          <a:xfrm>
            <a:off x="2151232" y="3911151"/>
            <a:ext cx="2059800" cy="393900"/>
          </a:xfrm>
          <a:prstGeom prst="straightConnector1">
            <a:avLst/>
          </a:prstGeom>
          <a:noFill/>
          <a:ln w="9525" cap="flat" cmpd="sng">
            <a:solidFill>
              <a:srgbClr val="684791"/>
            </a:solidFill>
            <a:prstDash val="solid"/>
            <a:round/>
            <a:headEnd type="none" w="sm" len="sm"/>
            <a:tailEnd type="none" w="sm" len="sm"/>
          </a:ln>
        </p:spPr>
      </p:cxnSp>
      <p:cxnSp>
        <p:nvCxnSpPr>
          <p:cNvPr id="5547" name="Google Shape;5547;p21"/>
          <p:cNvCxnSpPr>
            <a:cxnSpLocks/>
            <a:stCxn id="5548" idx="2"/>
          </p:cNvCxnSpPr>
          <p:nvPr/>
        </p:nvCxnSpPr>
        <p:spPr>
          <a:xfrm>
            <a:off x="1966449" y="4866616"/>
            <a:ext cx="814200" cy="189600"/>
          </a:xfrm>
          <a:prstGeom prst="straightConnector1">
            <a:avLst/>
          </a:prstGeom>
          <a:noFill/>
          <a:ln w="9525" cap="flat" cmpd="sng">
            <a:solidFill>
              <a:srgbClr val="5EA509"/>
            </a:solidFill>
            <a:prstDash val="solid"/>
            <a:round/>
            <a:headEnd type="none" w="sm" len="sm"/>
            <a:tailEnd type="none" w="sm" len="sm"/>
          </a:ln>
        </p:spPr>
      </p:cxnSp>
      <p:cxnSp>
        <p:nvCxnSpPr>
          <p:cNvPr id="5549" name="Google Shape;5549;p21"/>
          <p:cNvCxnSpPr>
            <a:stCxn id="5550" idx="2"/>
          </p:cNvCxnSpPr>
          <p:nvPr/>
        </p:nvCxnSpPr>
        <p:spPr>
          <a:xfrm flipH="1">
            <a:off x="3588532" y="4851421"/>
            <a:ext cx="828000" cy="204600"/>
          </a:xfrm>
          <a:prstGeom prst="straightConnector1">
            <a:avLst/>
          </a:prstGeom>
          <a:noFill/>
          <a:ln w="9525" cap="flat" cmpd="sng">
            <a:solidFill>
              <a:srgbClr val="684791"/>
            </a:solidFill>
            <a:prstDash val="solid"/>
            <a:round/>
            <a:headEnd type="none" w="sm" len="sm"/>
            <a:tailEnd type="none" w="sm" len="sm"/>
          </a:ln>
        </p:spPr>
      </p:cxnSp>
      <p:pic>
        <p:nvPicPr>
          <p:cNvPr id="5551" name="Google Shape;5551;p21"/>
          <p:cNvPicPr preferRelativeResize="0"/>
          <p:nvPr/>
        </p:nvPicPr>
        <p:blipFill rotWithShape="1">
          <a:blip r:embed="rId4">
            <a:alphaModFix/>
          </a:blip>
          <a:srcRect/>
          <a:stretch/>
        </p:blipFill>
        <p:spPr>
          <a:xfrm>
            <a:off x="5038248" y="5277889"/>
            <a:ext cx="737142" cy="737142"/>
          </a:xfrm>
          <a:prstGeom prst="rect">
            <a:avLst/>
          </a:prstGeom>
          <a:noFill/>
          <a:ln>
            <a:noFill/>
          </a:ln>
        </p:spPr>
      </p:pic>
      <p:pic>
        <p:nvPicPr>
          <p:cNvPr id="5552" name="Google Shape;5552;p21"/>
          <p:cNvPicPr preferRelativeResize="0"/>
          <p:nvPr/>
        </p:nvPicPr>
        <p:blipFill rotWithShape="1">
          <a:blip r:embed="rId4">
            <a:alphaModFix/>
          </a:blip>
          <a:srcRect/>
          <a:stretch/>
        </p:blipFill>
        <p:spPr>
          <a:xfrm>
            <a:off x="836202" y="5259119"/>
            <a:ext cx="737142" cy="737142"/>
          </a:xfrm>
          <a:prstGeom prst="rect">
            <a:avLst/>
          </a:prstGeom>
          <a:noFill/>
          <a:ln>
            <a:noFill/>
          </a:ln>
        </p:spPr>
      </p:pic>
      <p:cxnSp>
        <p:nvCxnSpPr>
          <p:cNvPr id="5553" name="Google Shape;5553;p21"/>
          <p:cNvCxnSpPr/>
          <p:nvPr/>
        </p:nvCxnSpPr>
        <p:spPr>
          <a:xfrm>
            <a:off x="2876676" y="5328748"/>
            <a:ext cx="694068" cy="189516"/>
          </a:xfrm>
          <a:prstGeom prst="straightConnector1">
            <a:avLst/>
          </a:prstGeom>
          <a:noFill/>
          <a:ln w="9525" cap="flat" cmpd="sng">
            <a:solidFill>
              <a:srgbClr val="5EA509"/>
            </a:solidFill>
            <a:prstDash val="solid"/>
            <a:round/>
            <a:headEnd type="none" w="sm" len="sm"/>
            <a:tailEnd type="none" w="sm" len="sm"/>
          </a:ln>
        </p:spPr>
      </p:cxnSp>
      <p:cxnSp>
        <p:nvCxnSpPr>
          <p:cNvPr id="5554" name="Google Shape;5554;p21"/>
          <p:cNvCxnSpPr/>
          <p:nvPr/>
        </p:nvCxnSpPr>
        <p:spPr>
          <a:xfrm flipH="1">
            <a:off x="2202310" y="5328748"/>
            <a:ext cx="674366" cy="196512"/>
          </a:xfrm>
          <a:prstGeom prst="straightConnector1">
            <a:avLst/>
          </a:prstGeom>
          <a:noFill/>
          <a:ln w="9525" cap="flat" cmpd="sng">
            <a:solidFill>
              <a:srgbClr val="5EA509"/>
            </a:solidFill>
            <a:prstDash val="solid"/>
            <a:round/>
            <a:headEnd type="none" w="sm" len="sm"/>
            <a:tailEnd type="none" w="sm" len="sm"/>
          </a:ln>
        </p:spPr>
      </p:cxnSp>
      <p:cxnSp>
        <p:nvCxnSpPr>
          <p:cNvPr id="5555" name="Google Shape;5555;p21"/>
          <p:cNvCxnSpPr/>
          <p:nvPr/>
        </p:nvCxnSpPr>
        <p:spPr>
          <a:xfrm>
            <a:off x="3535391" y="5328748"/>
            <a:ext cx="572499" cy="189516"/>
          </a:xfrm>
          <a:prstGeom prst="straightConnector1">
            <a:avLst/>
          </a:prstGeom>
          <a:noFill/>
          <a:ln w="9525" cap="flat" cmpd="sng">
            <a:solidFill>
              <a:srgbClr val="684791"/>
            </a:solidFill>
            <a:prstDash val="solid"/>
            <a:round/>
            <a:headEnd type="none" w="sm" len="sm"/>
            <a:tailEnd type="none" w="sm" len="sm"/>
          </a:ln>
        </p:spPr>
      </p:cxnSp>
      <p:cxnSp>
        <p:nvCxnSpPr>
          <p:cNvPr id="5556" name="Google Shape;5556;p21"/>
          <p:cNvCxnSpPr/>
          <p:nvPr/>
        </p:nvCxnSpPr>
        <p:spPr>
          <a:xfrm flipH="1">
            <a:off x="2780657" y="5328748"/>
            <a:ext cx="754734" cy="189516"/>
          </a:xfrm>
          <a:prstGeom prst="straightConnector1">
            <a:avLst/>
          </a:prstGeom>
          <a:noFill/>
          <a:ln w="9525" cap="flat" cmpd="sng">
            <a:solidFill>
              <a:srgbClr val="684791"/>
            </a:solidFill>
            <a:prstDash val="solid"/>
            <a:round/>
            <a:headEnd type="none" w="sm" len="sm"/>
            <a:tailEnd type="none" w="sm" len="sm"/>
          </a:ln>
        </p:spPr>
      </p:cxnSp>
      <p:sp>
        <p:nvSpPr>
          <p:cNvPr id="5557" name="Google Shape;5557;p21"/>
          <p:cNvSpPr/>
          <p:nvPr/>
        </p:nvSpPr>
        <p:spPr>
          <a:xfrm>
            <a:off x="1959408" y="5525260"/>
            <a:ext cx="1154400" cy="242400"/>
          </a:xfrm>
          <a:prstGeom prst="rect">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200" b="0" i="0" u="none" strike="noStrike" kern="1200" cap="none" spc="0" normalizeH="0" baseline="0" noProof="0" dirty="0">
                <a:ln>
                  <a:noFill/>
                </a:ln>
                <a:solidFill>
                  <a:srgbClr val="005C8A"/>
                </a:solidFill>
                <a:effectLst/>
                <a:uLnTx/>
                <a:uFillTx/>
                <a:latin typeface="Arial"/>
                <a:ea typeface="Arial"/>
                <a:cs typeface="Arial"/>
                <a:sym typeface="Arial"/>
              </a:rPr>
              <a:t>IE switch</a:t>
            </a:r>
            <a:endParaRPr kumimoji="0" sz="12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5558" name="Google Shape;5558;p21"/>
          <p:cNvSpPr/>
          <p:nvPr/>
        </p:nvSpPr>
        <p:spPr>
          <a:xfrm>
            <a:off x="3297380" y="5525260"/>
            <a:ext cx="1160100" cy="242400"/>
          </a:xfrm>
          <a:prstGeom prst="rect">
            <a:avLst/>
          </a:prstGeom>
          <a:solidFill>
            <a:schemeClr val="lt1"/>
          </a:solidFill>
          <a:ln w="12700" cap="flat" cmpd="sng">
            <a:solidFill>
              <a:schemeClr val="accent2"/>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200" b="0" i="0" u="none" strike="noStrike" kern="1200" cap="none" spc="0" normalizeH="0" baseline="0" noProof="0" dirty="0">
                <a:ln>
                  <a:noFill/>
                </a:ln>
                <a:solidFill>
                  <a:srgbClr val="005C8A"/>
                </a:solidFill>
                <a:effectLst/>
                <a:uLnTx/>
                <a:uFillTx/>
                <a:latin typeface="Arial"/>
                <a:ea typeface="Arial"/>
                <a:cs typeface="Arial"/>
                <a:sym typeface="Arial"/>
              </a:rPr>
              <a:t>IE switch</a:t>
            </a:r>
            <a:endParaRPr kumimoji="0" sz="1200" b="0" i="0" u="none" strike="noStrike" kern="1200" cap="none" spc="0" normalizeH="0" baseline="0" noProof="0" dirty="0">
              <a:ln>
                <a:noFill/>
              </a:ln>
              <a:solidFill>
                <a:srgbClr val="005C8A"/>
              </a:solidFill>
              <a:effectLst/>
              <a:uLnTx/>
              <a:uFillTx/>
              <a:latin typeface="Arial"/>
              <a:ea typeface="Arial"/>
              <a:cs typeface="Arial"/>
              <a:sym typeface="Arial"/>
            </a:endParaRPr>
          </a:p>
        </p:txBody>
      </p:sp>
      <p:grpSp>
        <p:nvGrpSpPr>
          <p:cNvPr id="5559" name="Google Shape;5559;p21"/>
          <p:cNvGrpSpPr/>
          <p:nvPr/>
        </p:nvGrpSpPr>
        <p:grpSpPr>
          <a:xfrm>
            <a:off x="3918649" y="4305096"/>
            <a:ext cx="995767" cy="546325"/>
            <a:chOff x="1676973" y="4280346"/>
            <a:chExt cx="995767" cy="546325"/>
          </a:xfrm>
        </p:grpSpPr>
        <p:sp>
          <p:nvSpPr>
            <p:cNvPr id="5560" name="Google Shape;5560;p21"/>
            <p:cNvSpPr/>
            <p:nvPr/>
          </p:nvSpPr>
          <p:spPr>
            <a:xfrm>
              <a:off x="1702502" y="4280346"/>
              <a:ext cx="944711" cy="530368"/>
            </a:xfrm>
            <a:prstGeom prst="rect">
              <a:avLst/>
            </a:prstGeom>
            <a:solidFill>
              <a:schemeClr val="lt1"/>
            </a:solidFill>
            <a:ln w="12700" cap="flat" cmpd="sng">
              <a:solidFill>
                <a:schemeClr val="accent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5550" name="Google Shape;5550;p21"/>
            <p:cNvSpPr txBox="1"/>
            <p:nvPr/>
          </p:nvSpPr>
          <p:spPr>
            <a:xfrm>
              <a:off x="1676973" y="4611227"/>
              <a:ext cx="995767" cy="21544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PRP LAN B</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5561" name="Google Shape;5561;p21"/>
            <p:cNvPicPr preferRelativeResize="0"/>
            <p:nvPr/>
          </p:nvPicPr>
          <p:blipFill rotWithShape="1">
            <a:blip r:embed="rId5">
              <a:alphaModFix/>
            </a:blip>
            <a:srcRect/>
            <a:stretch/>
          </p:blipFill>
          <p:spPr>
            <a:xfrm>
              <a:off x="1813524" y="4309352"/>
              <a:ext cx="348701" cy="348701"/>
            </a:xfrm>
            <a:prstGeom prst="rect">
              <a:avLst/>
            </a:prstGeom>
            <a:noFill/>
            <a:ln>
              <a:noFill/>
            </a:ln>
          </p:spPr>
        </p:pic>
        <p:pic>
          <p:nvPicPr>
            <p:cNvPr id="5562" name="Google Shape;5562;p21"/>
            <p:cNvPicPr preferRelativeResize="0"/>
            <p:nvPr/>
          </p:nvPicPr>
          <p:blipFill rotWithShape="1">
            <a:blip r:embed="rId5">
              <a:alphaModFix/>
            </a:blip>
            <a:srcRect/>
            <a:stretch/>
          </p:blipFill>
          <p:spPr>
            <a:xfrm>
              <a:off x="2187754" y="4314228"/>
              <a:ext cx="348701" cy="348701"/>
            </a:xfrm>
            <a:prstGeom prst="rect">
              <a:avLst/>
            </a:prstGeom>
            <a:noFill/>
            <a:ln>
              <a:noFill/>
            </a:ln>
          </p:spPr>
        </p:pic>
      </p:grpSp>
      <p:grpSp>
        <p:nvGrpSpPr>
          <p:cNvPr id="5563" name="Google Shape;5563;p21"/>
          <p:cNvGrpSpPr/>
          <p:nvPr/>
        </p:nvGrpSpPr>
        <p:grpSpPr>
          <a:xfrm>
            <a:off x="1468565" y="4320291"/>
            <a:ext cx="995767" cy="546325"/>
            <a:chOff x="1676973" y="4280346"/>
            <a:chExt cx="995767" cy="546325"/>
          </a:xfrm>
        </p:grpSpPr>
        <p:sp>
          <p:nvSpPr>
            <p:cNvPr id="5564" name="Google Shape;5564;p21"/>
            <p:cNvSpPr/>
            <p:nvPr/>
          </p:nvSpPr>
          <p:spPr>
            <a:xfrm>
              <a:off x="1702502" y="4280346"/>
              <a:ext cx="944711" cy="530368"/>
            </a:xfrm>
            <a:prstGeom prst="rect">
              <a:avLst/>
            </a:prstGeom>
            <a:solidFill>
              <a:schemeClr val="lt1"/>
            </a:solidFill>
            <a:ln w="12700" cap="flat" cmpd="sng">
              <a:solidFill>
                <a:schemeClr val="accent4"/>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5548" name="Google Shape;5548;p21"/>
            <p:cNvSpPr txBox="1"/>
            <p:nvPr/>
          </p:nvSpPr>
          <p:spPr>
            <a:xfrm>
              <a:off x="1676973" y="4611227"/>
              <a:ext cx="995767" cy="21544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PRP LAN A</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5543" name="Google Shape;5543;p21"/>
            <p:cNvPicPr preferRelativeResize="0"/>
            <p:nvPr/>
          </p:nvPicPr>
          <p:blipFill rotWithShape="1">
            <a:blip r:embed="rId6">
              <a:alphaModFix/>
            </a:blip>
            <a:srcRect/>
            <a:stretch/>
          </p:blipFill>
          <p:spPr>
            <a:xfrm>
              <a:off x="1813524" y="4309352"/>
              <a:ext cx="348701" cy="348701"/>
            </a:xfrm>
            <a:prstGeom prst="rect">
              <a:avLst/>
            </a:prstGeom>
            <a:noFill/>
            <a:ln>
              <a:noFill/>
            </a:ln>
          </p:spPr>
        </p:pic>
        <p:pic>
          <p:nvPicPr>
            <p:cNvPr id="5565" name="Google Shape;5565;p21"/>
            <p:cNvPicPr preferRelativeResize="0"/>
            <p:nvPr/>
          </p:nvPicPr>
          <p:blipFill rotWithShape="1">
            <a:blip r:embed="rId6">
              <a:alphaModFix/>
            </a:blip>
            <a:srcRect/>
            <a:stretch/>
          </p:blipFill>
          <p:spPr>
            <a:xfrm>
              <a:off x="2187754" y="4314228"/>
              <a:ext cx="348701" cy="348701"/>
            </a:xfrm>
            <a:prstGeom prst="rect">
              <a:avLst/>
            </a:prstGeom>
            <a:noFill/>
            <a:ln>
              <a:noFill/>
            </a:ln>
          </p:spPr>
        </p:pic>
      </p:grpSp>
      <p:sp>
        <p:nvSpPr>
          <p:cNvPr id="5566" name="Google Shape;5566;p21"/>
          <p:cNvSpPr/>
          <p:nvPr/>
        </p:nvSpPr>
        <p:spPr>
          <a:xfrm>
            <a:off x="2386832" y="5056132"/>
            <a:ext cx="1676624" cy="272616"/>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a:ea typeface="Arial"/>
                <a:cs typeface="Arial"/>
                <a:sym typeface="Arial"/>
              </a:rPr>
              <a:t>Production Network Fabric</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cxnSp>
        <p:nvCxnSpPr>
          <p:cNvPr id="5567" name="Google Shape;5567;p21"/>
          <p:cNvCxnSpPr>
            <a:stCxn id="5557" idx="1"/>
          </p:cNvCxnSpPr>
          <p:nvPr/>
        </p:nvCxnSpPr>
        <p:spPr>
          <a:xfrm rot="10800000">
            <a:off x="1494108" y="5646460"/>
            <a:ext cx="465300" cy="0"/>
          </a:xfrm>
          <a:prstGeom prst="straightConnector1">
            <a:avLst/>
          </a:prstGeom>
          <a:noFill/>
          <a:ln w="12700" cap="flat" cmpd="sng">
            <a:solidFill>
              <a:schemeClr val="dk1"/>
            </a:solidFill>
            <a:prstDash val="solid"/>
            <a:miter lim="800000"/>
            <a:headEnd type="none" w="sm" len="sm"/>
            <a:tailEnd type="none" w="sm" len="sm"/>
          </a:ln>
        </p:spPr>
      </p:cxnSp>
      <p:cxnSp>
        <p:nvCxnSpPr>
          <p:cNvPr id="5568" name="Google Shape;5568;p21"/>
          <p:cNvCxnSpPr>
            <a:stCxn id="5558" idx="3"/>
            <a:endCxn id="5551" idx="1"/>
          </p:cNvCxnSpPr>
          <p:nvPr/>
        </p:nvCxnSpPr>
        <p:spPr>
          <a:xfrm>
            <a:off x="4457480" y="5646460"/>
            <a:ext cx="580800" cy="0"/>
          </a:xfrm>
          <a:prstGeom prst="straightConnector1">
            <a:avLst/>
          </a:prstGeom>
          <a:noFill/>
          <a:ln w="12700" cap="flat" cmpd="sng">
            <a:solidFill>
              <a:schemeClr val="dk1"/>
            </a:solidFill>
            <a:prstDash val="solid"/>
            <a:miter lim="800000"/>
            <a:headEnd type="none" w="sm" len="sm"/>
            <a:tailEnd type="none" w="sm" len="sm"/>
          </a:ln>
        </p:spPr>
      </p:cxnSp>
      <p:sp>
        <p:nvSpPr>
          <p:cNvPr id="5569" name="Google Shape;5569;p21"/>
          <p:cNvSpPr txBox="1"/>
          <p:nvPr/>
        </p:nvSpPr>
        <p:spPr>
          <a:xfrm>
            <a:off x="1444465" y="5462433"/>
            <a:ext cx="551839" cy="21544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VLAN A</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5570" name="Google Shape;5570;p21"/>
          <p:cNvSpPr txBox="1"/>
          <p:nvPr/>
        </p:nvSpPr>
        <p:spPr>
          <a:xfrm>
            <a:off x="4503652" y="5475466"/>
            <a:ext cx="551839" cy="21544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VLAN B</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5571" name="Google Shape;5571;p21"/>
          <p:cNvSpPr/>
          <p:nvPr/>
        </p:nvSpPr>
        <p:spPr>
          <a:xfrm>
            <a:off x="6307868" y="2272178"/>
            <a:ext cx="180000" cy="1156822"/>
          </a:xfrm>
          <a:prstGeom prst="rightBrace">
            <a:avLst>
              <a:gd name="adj1" fmla="val 8333"/>
              <a:gd name="adj2" fmla="val 50000"/>
            </a:avLst>
          </a:prstGeom>
          <a:noFill/>
          <a:ln w="1905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5572" name="Google Shape;5572;p21"/>
          <p:cNvSpPr txBox="1"/>
          <p:nvPr/>
        </p:nvSpPr>
        <p:spPr>
          <a:xfrm>
            <a:off x="6462616" y="2713472"/>
            <a:ext cx="734700" cy="27690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200" b="0" i="0" u="none" strike="noStrike" kern="1200" cap="none" spc="0" normalizeH="0" baseline="0" noProof="0" dirty="0">
                <a:ln>
                  <a:noFill/>
                </a:ln>
                <a:solidFill>
                  <a:srgbClr val="000000"/>
                </a:solidFill>
                <a:effectLst/>
                <a:uLnTx/>
                <a:uFillTx/>
                <a:latin typeface="Arial"/>
                <a:ea typeface="Arial"/>
                <a:cs typeface="Arial"/>
                <a:sym typeface="Arial"/>
              </a:rPr>
              <a:t>Profinet</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5573" name="Google Shape;5573;p21"/>
          <p:cNvSpPr/>
          <p:nvPr/>
        </p:nvSpPr>
        <p:spPr>
          <a:xfrm>
            <a:off x="6324150" y="3473450"/>
            <a:ext cx="180000" cy="2173010"/>
          </a:xfrm>
          <a:prstGeom prst="rightBrace">
            <a:avLst>
              <a:gd name="adj1" fmla="val 8333"/>
              <a:gd name="adj2" fmla="val 50000"/>
            </a:avLst>
          </a:prstGeom>
          <a:noFill/>
          <a:ln w="1905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5574" name="Google Shape;5574;p21"/>
          <p:cNvSpPr txBox="1"/>
          <p:nvPr/>
        </p:nvSpPr>
        <p:spPr>
          <a:xfrm>
            <a:off x="6332033" y="4320291"/>
            <a:ext cx="1244934" cy="461624"/>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200" b="0" i="0" u="none" strike="noStrike" kern="1200" cap="none" spc="0" normalizeH="0" baseline="0" noProof="0" dirty="0">
                <a:ln>
                  <a:noFill/>
                </a:ln>
                <a:solidFill>
                  <a:srgbClr val="000000"/>
                </a:solidFill>
                <a:effectLst/>
                <a:uLnTx/>
                <a:uFillTx/>
                <a:latin typeface="Arial"/>
                <a:ea typeface="Arial"/>
                <a:cs typeface="Arial"/>
                <a:sym typeface="Arial"/>
              </a:rPr>
              <a:t>Profinet over PRP</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5575" name="Google Shape;5575;p21"/>
          <p:cNvSpPr/>
          <p:nvPr/>
        </p:nvSpPr>
        <p:spPr>
          <a:xfrm>
            <a:off x="6324150" y="5690910"/>
            <a:ext cx="180000" cy="438628"/>
          </a:xfrm>
          <a:prstGeom prst="rightBrace">
            <a:avLst>
              <a:gd name="adj1" fmla="val 8333"/>
              <a:gd name="adj2" fmla="val 50000"/>
            </a:avLst>
          </a:prstGeom>
          <a:noFill/>
          <a:ln w="19050" cap="flat" cmpd="sng">
            <a:solidFill>
              <a:schemeClr val="dk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5576" name="Google Shape;5576;p21"/>
          <p:cNvSpPr txBox="1"/>
          <p:nvPr/>
        </p:nvSpPr>
        <p:spPr>
          <a:xfrm>
            <a:off x="6458084" y="5767660"/>
            <a:ext cx="734700" cy="27690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200" b="0" i="0" u="none" strike="noStrike" kern="1200" cap="none" spc="0" normalizeH="0" baseline="0" noProof="0" dirty="0">
                <a:ln>
                  <a:noFill/>
                </a:ln>
                <a:solidFill>
                  <a:srgbClr val="000000"/>
                </a:solidFill>
                <a:effectLst/>
                <a:uLnTx/>
                <a:uFillTx/>
                <a:latin typeface="Arial"/>
                <a:ea typeface="Arial"/>
                <a:cs typeface="Arial"/>
                <a:sym typeface="Arial"/>
              </a:rPr>
              <a:t>Profinet</a:t>
            </a:r>
            <a:endParaRPr kumimoji="0" sz="12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3089">
          <a:extLst>
            <a:ext uri="{FF2B5EF4-FFF2-40B4-BE49-F238E27FC236}">
              <a16:creationId xmlns:a16="http://schemas.microsoft.com/office/drawing/2014/main" id="{A23B9668-0B9C-E03E-6F80-0E504117EB68}"/>
            </a:ext>
          </a:extLst>
        </p:cNvPr>
        <p:cNvGrpSpPr/>
        <p:nvPr/>
      </p:nvGrpSpPr>
      <p:grpSpPr>
        <a:xfrm>
          <a:off x="0" y="0"/>
          <a:ext cx="0" cy="0"/>
          <a:chOff x="0" y="0"/>
          <a:chExt cx="0" cy="0"/>
        </a:xfrm>
      </p:grpSpPr>
      <p:sp>
        <p:nvSpPr>
          <p:cNvPr id="3135" name="Google Shape;3135;p9">
            <a:extLst>
              <a:ext uri="{FF2B5EF4-FFF2-40B4-BE49-F238E27FC236}">
                <a16:creationId xmlns:a16="http://schemas.microsoft.com/office/drawing/2014/main" id="{FE460467-2F91-94E3-2222-E55AEE625B42}"/>
              </a:ext>
            </a:extLst>
          </p:cNvPr>
          <p:cNvSpPr/>
          <p:nvPr/>
        </p:nvSpPr>
        <p:spPr>
          <a:xfrm>
            <a:off x="4766" y="83544"/>
            <a:ext cx="5495542" cy="6774456"/>
          </a:xfrm>
          <a:prstGeom prst="rect">
            <a:avLst/>
          </a:prstGeom>
          <a:gradFill>
            <a:gsLst>
              <a:gs pos="0">
                <a:srgbClr val="FFFFFF"/>
              </a:gs>
              <a:gs pos="3000">
                <a:srgbClr val="FFFFFF"/>
              </a:gs>
              <a:gs pos="100000">
                <a:srgbClr val="E3EDF2"/>
              </a:gs>
            </a:gsLst>
            <a:lin ang="2700000" scaled="0"/>
          </a:gradFill>
          <a:ln>
            <a:noFill/>
          </a:ln>
        </p:spPr>
        <p:txBody>
          <a:bodyPr spcFirstLastPara="1" wrap="square" lIns="91353" tIns="45664" rIns="91353" bIns="45664" anchor="ctr" anchorCtr="0">
            <a:noAutofit/>
          </a:bodyPr>
          <a:lstStyle/>
          <a:p>
            <a:pPr marL="0" marR="0" lvl="0" indent="0" algn="ctr" defTabSz="913852"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srgbClr val="1D428A"/>
              </a:solidFill>
              <a:effectLst/>
              <a:uLnTx/>
              <a:uFillTx/>
              <a:latin typeface="Metropolis" panose="00000500000000000000" pitchFamily="2" charset="0"/>
              <a:ea typeface="+mn-ea"/>
              <a:cs typeface="Arial"/>
              <a:sym typeface="Arial"/>
            </a:endParaRPr>
          </a:p>
        </p:txBody>
      </p:sp>
      <p:grpSp>
        <p:nvGrpSpPr>
          <p:cNvPr id="3138" name="Google Shape;3138;p9">
            <a:extLst>
              <a:ext uri="{FF2B5EF4-FFF2-40B4-BE49-F238E27FC236}">
                <a16:creationId xmlns:a16="http://schemas.microsoft.com/office/drawing/2014/main" id="{E9F82F7A-D27A-657B-09F0-812CB8E15692}"/>
              </a:ext>
            </a:extLst>
          </p:cNvPr>
          <p:cNvGrpSpPr/>
          <p:nvPr/>
        </p:nvGrpSpPr>
        <p:grpSpPr>
          <a:xfrm>
            <a:off x="270180" y="6321014"/>
            <a:ext cx="1248247" cy="369361"/>
            <a:chOff x="265625" y="6323271"/>
            <a:chExt cx="1249222" cy="369649"/>
          </a:xfrm>
        </p:grpSpPr>
        <p:grpSp>
          <p:nvGrpSpPr>
            <p:cNvPr id="3139" name="Google Shape;3139;p9">
              <a:extLst>
                <a:ext uri="{FF2B5EF4-FFF2-40B4-BE49-F238E27FC236}">
                  <a16:creationId xmlns:a16="http://schemas.microsoft.com/office/drawing/2014/main" id="{8B1E0A82-35CA-7445-D92C-0EE36012899D}"/>
                </a:ext>
              </a:extLst>
            </p:cNvPr>
            <p:cNvGrpSpPr/>
            <p:nvPr/>
          </p:nvGrpSpPr>
          <p:grpSpPr>
            <a:xfrm>
              <a:off x="745455" y="6594444"/>
              <a:ext cx="722663" cy="98476"/>
              <a:chOff x="745455" y="6594444"/>
              <a:chExt cx="722663" cy="98476"/>
            </a:xfrm>
          </p:grpSpPr>
          <p:sp>
            <p:nvSpPr>
              <p:cNvPr id="3140" name="Google Shape;3140;p9">
                <a:extLst>
                  <a:ext uri="{FF2B5EF4-FFF2-40B4-BE49-F238E27FC236}">
                    <a16:creationId xmlns:a16="http://schemas.microsoft.com/office/drawing/2014/main" id="{F6AF33A0-4C12-56E1-B1B4-F04D73855D4B}"/>
                  </a:ext>
                </a:extLst>
              </p:cNvPr>
              <p:cNvSpPr/>
              <p:nvPr/>
            </p:nvSpPr>
            <p:spPr>
              <a:xfrm>
                <a:off x="745455" y="6594444"/>
                <a:ext cx="55936" cy="81777"/>
              </a:xfrm>
              <a:custGeom>
                <a:avLst/>
                <a:gdLst/>
                <a:ahLst/>
                <a:cxnLst/>
                <a:rect l="l" t="t" r="r" b="b"/>
                <a:pathLst>
                  <a:path w="55936" h="81777" extrusionOk="0">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1" name="Google Shape;3141;p9">
                <a:extLst>
                  <a:ext uri="{FF2B5EF4-FFF2-40B4-BE49-F238E27FC236}">
                    <a16:creationId xmlns:a16="http://schemas.microsoft.com/office/drawing/2014/main" id="{2A8F433D-166F-1C79-1B84-8D1FC9D7D1DA}"/>
                  </a:ext>
                </a:extLst>
              </p:cNvPr>
              <p:cNvSpPr/>
              <p:nvPr/>
            </p:nvSpPr>
            <p:spPr>
              <a:xfrm>
                <a:off x="809582" y="6618699"/>
                <a:ext cx="55872" cy="74221"/>
              </a:xfrm>
              <a:custGeom>
                <a:avLst/>
                <a:gdLst/>
                <a:ahLst/>
                <a:cxnLst/>
                <a:rect l="l" t="t" r="r" b="b"/>
                <a:pathLst>
                  <a:path w="55872" h="74221" extrusionOk="0">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2" name="Google Shape;3142;p9">
                <a:extLst>
                  <a:ext uri="{FF2B5EF4-FFF2-40B4-BE49-F238E27FC236}">
                    <a16:creationId xmlns:a16="http://schemas.microsoft.com/office/drawing/2014/main" id="{F813B33C-398A-0378-C6F0-EDA0B03C6142}"/>
                  </a:ext>
                </a:extLst>
              </p:cNvPr>
              <p:cNvSpPr/>
              <p:nvPr/>
            </p:nvSpPr>
            <p:spPr>
              <a:xfrm>
                <a:off x="913010" y="6597746"/>
                <a:ext cx="64317" cy="77079"/>
              </a:xfrm>
              <a:custGeom>
                <a:avLst/>
                <a:gdLst/>
                <a:ahLst/>
                <a:cxnLst/>
                <a:rect l="l" t="t" r="r" b="b"/>
                <a:pathLst>
                  <a:path w="64317" h="77079" extrusionOk="0">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3" name="Google Shape;3143;p9">
                <a:extLst>
                  <a:ext uri="{FF2B5EF4-FFF2-40B4-BE49-F238E27FC236}">
                    <a16:creationId xmlns:a16="http://schemas.microsoft.com/office/drawing/2014/main" id="{BA354B6D-E8CC-F5AE-F68C-9F248652C4FC}"/>
                  </a:ext>
                </a:extLst>
              </p:cNvPr>
              <p:cNvSpPr/>
              <p:nvPr/>
            </p:nvSpPr>
            <p:spPr>
              <a:xfrm>
                <a:off x="991041" y="6615627"/>
                <a:ext cx="34095" cy="59325"/>
              </a:xfrm>
              <a:custGeom>
                <a:avLst/>
                <a:gdLst/>
                <a:ahLst/>
                <a:cxnLst/>
                <a:rect l="l" t="t" r="r" b="b"/>
                <a:pathLst>
                  <a:path w="34095" h="59325" extrusionOk="0">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4" name="Google Shape;3144;p9">
                <a:extLst>
                  <a:ext uri="{FF2B5EF4-FFF2-40B4-BE49-F238E27FC236}">
                    <a16:creationId xmlns:a16="http://schemas.microsoft.com/office/drawing/2014/main" id="{14E82AF9-0926-BCD0-1E32-A05D10299B83}"/>
                  </a:ext>
                </a:extLst>
              </p:cNvPr>
              <p:cNvSpPr/>
              <p:nvPr/>
            </p:nvSpPr>
            <p:spPr>
              <a:xfrm>
                <a:off x="1031485"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5" name="Google Shape;3145;p9">
                <a:extLst>
                  <a:ext uri="{FF2B5EF4-FFF2-40B4-BE49-F238E27FC236}">
                    <a16:creationId xmlns:a16="http://schemas.microsoft.com/office/drawing/2014/main" id="{51CC6C92-22DB-A218-B639-A4D4768F0091}"/>
                  </a:ext>
                </a:extLst>
              </p:cNvPr>
              <p:cNvSpPr/>
              <p:nvPr/>
            </p:nvSpPr>
            <p:spPr>
              <a:xfrm>
                <a:off x="1103168" y="6615904"/>
                <a:ext cx="52698" cy="60190"/>
              </a:xfrm>
              <a:custGeom>
                <a:avLst/>
                <a:gdLst/>
                <a:ahLst/>
                <a:cxnLst/>
                <a:rect l="l" t="t" r="r" b="b"/>
                <a:pathLst>
                  <a:path w="52698" h="60190" extrusionOk="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6" name="Google Shape;3146;p9">
                <a:extLst>
                  <a:ext uri="{FF2B5EF4-FFF2-40B4-BE49-F238E27FC236}">
                    <a16:creationId xmlns:a16="http://schemas.microsoft.com/office/drawing/2014/main" id="{8F45C264-18FB-4D42-2AF3-CDDA5D80DBFD}"/>
                  </a:ext>
                </a:extLst>
              </p:cNvPr>
              <p:cNvSpPr/>
              <p:nvPr/>
            </p:nvSpPr>
            <p:spPr>
              <a:xfrm>
                <a:off x="1168882" y="6594444"/>
                <a:ext cx="60253" cy="81713"/>
              </a:xfrm>
              <a:custGeom>
                <a:avLst/>
                <a:gdLst/>
                <a:ahLst/>
                <a:cxnLst/>
                <a:rect l="l" t="t" r="r" b="b"/>
                <a:pathLst>
                  <a:path w="60253" h="81713" extrusionOk="0">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7" name="Google Shape;3147;p9">
                <a:extLst>
                  <a:ext uri="{FF2B5EF4-FFF2-40B4-BE49-F238E27FC236}">
                    <a16:creationId xmlns:a16="http://schemas.microsoft.com/office/drawing/2014/main" id="{07405781-FC1F-ACFD-9589-964ECD090EFB}"/>
                  </a:ext>
                </a:extLst>
              </p:cNvPr>
              <p:cNvSpPr/>
              <p:nvPr/>
            </p:nvSpPr>
            <p:spPr>
              <a:xfrm>
                <a:off x="1242659" y="6615587"/>
                <a:ext cx="53904" cy="60762"/>
              </a:xfrm>
              <a:custGeom>
                <a:avLst/>
                <a:gdLst/>
                <a:ahLst/>
                <a:cxnLst/>
                <a:rect l="l" t="t" r="r" b="b"/>
                <a:pathLst>
                  <a:path w="53904" h="60762" extrusionOk="0">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8" name="Google Shape;3148;p9">
                <a:extLst>
                  <a:ext uri="{FF2B5EF4-FFF2-40B4-BE49-F238E27FC236}">
                    <a16:creationId xmlns:a16="http://schemas.microsoft.com/office/drawing/2014/main" id="{E0995E9A-6970-7C95-D845-49CCF19E45A0}"/>
                  </a:ext>
                </a:extLst>
              </p:cNvPr>
              <p:cNvSpPr/>
              <p:nvPr/>
            </p:nvSpPr>
            <p:spPr>
              <a:xfrm>
                <a:off x="1303928"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49" name="Google Shape;3149;p9">
                <a:extLst>
                  <a:ext uri="{FF2B5EF4-FFF2-40B4-BE49-F238E27FC236}">
                    <a16:creationId xmlns:a16="http://schemas.microsoft.com/office/drawing/2014/main" id="{F1626BDC-67E7-A3F4-7A2D-2CBF0E2F04D4}"/>
                  </a:ext>
                </a:extLst>
              </p:cNvPr>
              <p:cNvSpPr/>
              <p:nvPr/>
            </p:nvSpPr>
            <p:spPr>
              <a:xfrm>
                <a:off x="1379484" y="6615524"/>
                <a:ext cx="88634" cy="59554"/>
              </a:xfrm>
              <a:custGeom>
                <a:avLst/>
                <a:gdLst/>
                <a:ahLst/>
                <a:cxnLst/>
                <a:rect l="l" t="t" r="r" b="b"/>
                <a:pathLst>
                  <a:path w="88634" h="59554" extrusionOk="0">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grpSp>
        <p:grpSp>
          <p:nvGrpSpPr>
            <p:cNvPr id="3150" name="Google Shape;3150;p9">
              <a:extLst>
                <a:ext uri="{FF2B5EF4-FFF2-40B4-BE49-F238E27FC236}">
                  <a16:creationId xmlns:a16="http://schemas.microsoft.com/office/drawing/2014/main" id="{942955B8-C1B0-1279-AAAD-A2EFFF60AE7C}"/>
                </a:ext>
              </a:extLst>
            </p:cNvPr>
            <p:cNvGrpSpPr/>
            <p:nvPr/>
          </p:nvGrpSpPr>
          <p:grpSpPr>
            <a:xfrm>
              <a:off x="265625" y="6323271"/>
              <a:ext cx="1249222" cy="190348"/>
              <a:chOff x="265625" y="6323271"/>
              <a:chExt cx="1249222" cy="190348"/>
            </a:xfrm>
          </p:grpSpPr>
          <p:sp>
            <p:nvSpPr>
              <p:cNvPr id="3151" name="Google Shape;3151;p9">
                <a:extLst>
                  <a:ext uri="{FF2B5EF4-FFF2-40B4-BE49-F238E27FC236}">
                    <a16:creationId xmlns:a16="http://schemas.microsoft.com/office/drawing/2014/main" id="{DFF0591E-8FDE-6C9E-0413-0E4A4E65D785}"/>
                  </a:ext>
                </a:extLst>
              </p:cNvPr>
              <p:cNvSpPr/>
              <p:nvPr/>
            </p:nvSpPr>
            <p:spPr>
              <a:xfrm>
                <a:off x="745773" y="6327144"/>
                <a:ext cx="264126" cy="184633"/>
              </a:xfrm>
              <a:custGeom>
                <a:avLst/>
                <a:gdLst/>
                <a:ahLst/>
                <a:cxnLst/>
                <a:rect l="l" t="t" r="r" b="b"/>
                <a:pathLst>
                  <a:path w="264126" h="184633" extrusionOk="0">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52" name="Google Shape;3152;p9">
                <a:extLst>
                  <a:ext uri="{FF2B5EF4-FFF2-40B4-BE49-F238E27FC236}">
                    <a16:creationId xmlns:a16="http://schemas.microsoft.com/office/drawing/2014/main" id="{273EC8FA-89B3-7E36-BD66-49D3D1077C66}"/>
                  </a:ext>
                </a:extLst>
              </p:cNvPr>
              <p:cNvSpPr/>
              <p:nvPr/>
            </p:nvSpPr>
            <p:spPr>
              <a:xfrm>
                <a:off x="1200945" y="6326827"/>
                <a:ext cx="102285" cy="184697"/>
              </a:xfrm>
              <a:custGeom>
                <a:avLst/>
                <a:gdLst/>
                <a:ahLst/>
                <a:cxnLst/>
                <a:rect l="l" t="t" r="r" b="b"/>
                <a:pathLst>
                  <a:path w="102285" h="184697" extrusionOk="0">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53" name="Google Shape;3153;p9">
                <a:extLst>
                  <a:ext uri="{FF2B5EF4-FFF2-40B4-BE49-F238E27FC236}">
                    <a16:creationId xmlns:a16="http://schemas.microsoft.com/office/drawing/2014/main" id="{AC9B36FC-7AFF-B3AF-A4A6-F573FFBF239F}"/>
                  </a:ext>
                </a:extLst>
              </p:cNvPr>
              <p:cNvSpPr/>
              <p:nvPr/>
            </p:nvSpPr>
            <p:spPr>
              <a:xfrm>
                <a:off x="1301262" y="6326700"/>
                <a:ext cx="166856" cy="186538"/>
              </a:xfrm>
              <a:custGeom>
                <a:avLst/>
                <a:gdLst/>
                <a:ahLst/>
                <a:cxnLst/>
                <a:rect l="l" t="t" r="r" b="b"/>
                <a:pathLst>
                  <a:path w="166856" h="186538" extrusionOk="0">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54" name="Google Shape;3154;p9">
                <a:extLst>
                  <a:ext uri="{FF2B5EF4-FFF2-40B4-BE49-F238E27FC236}">
                    <a16:creationId xmlns:a16="http://schemas.microsoft.com/office/drawing/2014/main" id="{6757050D-F95D-30E3-3A53-0A8CDC050D45}"/>
                  </a:ext>
                </a:extLst>
              </p:cNvPr>
              <p:cNvSpPr/>
              <p:nvPr/>
            </p:nvSpPr>
            <p:spPr>
              <a:xfrm>
                <a:off x="1010406" y="6327144"/>
                <a:ext cx="157967" cy="186157"/>
              </a:xfrm>
              <a:custGeom>
                <a:avLst/>
                <a:gdLst/>
                <a:ahLst/>
                <a:cxnLst/>
                <a:rect l="l" t="t" r="r" b="b"/>
                <a:pathLst>
                  <a:path w="157967" h="186157" extrusionOk="0">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55" name="Google Shape;3155;p9">
                <a:extLst>
                  <a:ext uri="{FF2B5EF4-FFF2-40B4-BE49-F238E27FC236}">
                    <a16:creationId xmlns:a16="http://schemas.microsoft.com/office/drawing/2014/main" id="{9AF23591-346B-5EEC-C189-850A617D1E18}"/>
                  </a:ext>
                </a:extLst>
              </p:cNvPr>
              <p:cNvSpPr/>
              <p:nvPr/>
            </p:nvSpPr>
            <p:spPr>
              <a:xfrm>
                <a:off x="265625" y="6323271"/>
                <a:ext cx="468782" cy="190348"/>
              </a:xfrm>
              <a:custGeom>
                <a:avLst/>
                <a:gdLst/>
                <a:ahLst/>
                <a:cxnLst/>
                <a:rect l="l" t="t" r="r" b="b"/>
                <a:pathLst>
                  <a:path w="468782" h="190348" extrusionOk="0">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56" name="Google Shape;3156;p9">
                <a:extLst>
                  <a:ext uri="{FF2B5EF4-FFF2-40B4-BE49-F238E27FC236}">
                    <a16:creationId xmlns:a16="http://schemas.microsoft.com/office/drawing/2014/main" id="{E51DEFE8-3CEB-FB17-3BC8-01158CEDC2A7}"/>
                  </a:ext>
                </a:extLst>
              </p:cNvPr>
              <p:cNvSpPr/>
              <p:nvPr/>
            </p:nvSpPr>
            <p:spPr>
              <a:xfrm>
                <a:off x="1470340" y="6326700"/>
                <a:ext cx="44507" cy="44761"/>
              </a:xfrm>
              <a:custGeom>
                <a:avLst/>
                <a:gdLst/>
                <a:ahLst/>
                <a:cxnLst/>
                <a:rect l="l" t="t" r="r" b="b"/>
                <a:pathLst>
                  <a:path w="44507" h="44761" extrusionOk="0">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sp>
            <p:nvSpPr>
              <p:cNvPr id="3157" name="Google Shape;3157;p9">
                <a:extLst>
                  <a:ext uri="{FF2B5EF4-FFF2-40B4-BE49-F238E27FC236}">
                    <a16:creationId xmlns:a16="http://schemas.microsoft.com/office/drawing/2014/main" id="{2A784F17-666A-F73D-D87B-1D7D3B923A55}"/>
                  </a:ext>
                </a:extLst>
              </p:cNvPr>
              <p:cNvSpPr/>
              <p:nvPr/>
            </p:nvSpPr>
            <p:spPr>
              <a:xfrm>
                <a:off x="1484118" y="6337811"/>
                <a:ext cx="17968" cy="21714"/>
              </a:xfrm>
              <a:custGeom>
                <a:avLst/>
                <a:gdLst/>
                <a:ahLst/>
                <a:cxnLst/>
                <a:rect l="l" t="t" r="r" b="b"/>
                <a:pathLst>
                  <a:path w="17968" h="21714" extrusionOk="0">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a:noFill/>
              </a:ln>
            </p:spPr>
            <p:txBody>
              <a:bodyPr spcFirstLastPara="1" wrap="square" lIns="91353" tIns="45664" rIns="91353" bIns="45664" anchor="ctr" anchorCtr="0">
                <a:noAutofit/>
              </a:bodyPr>
              <a:lstStyle/>
              <a:p>
                <a:pPr marL="0" marR="0" lvl="0" indent="0" algn="l" defTabSz="913852" rtl="0" eaLnBrk="1" fontAlgn="auto" latinLnBrk="0" hangingPunct="1">
                  <a:lnSpc>
                    <a:spcPct val="100000"/>
                  </a:lnSpc>
                  <a:spcBef>
                    <a:spcPts val="0"/>
                  </a:spcBef>
                  <a:spcAft>
                    <a:spcPts val="0"/>
                  </a:spcAft>
                  <a:buClrTx/>
                  <a:buSzTx/>
                  <a:buFontTx/>
                  <a:buNone/>
                  <a:tabLst/>
                  <a:defRPr/>
                </a:pPr>
                <a:endParaRPr kumimoji="0" sz="1797" b="0" i="0" u="none" strike="noStrike" kern="1200" cap="none" spc="0" normalizeH="0" baseline="0" noProof="0" dirty="0">
                  <a:ln>
                    <a:noFill/>
                  </a:ln>
                  <a:solidFill>
                    <a:srgbClr val="000001"/>
                  </a:solidFill>
                  <a:effectLst/>
                  <a:uLnTx/>
                  <a:uFillTx/>
                  <a:latin typeface="Metropolis" panose="00000500000000000000" pitchFamily="2" charset="0"/>
                  <a:ea typeface="+mn-ea"/>
                  <a:cs typeface="Arial"/>
                  <a:sym typeface="Arial"/>
                </a:endParaRPr>
              </a:p>
            </p:txBody>
          </p:sp>
        </p:grpSp>
      </p:grpSp>
      <p:sp>
        <p:nvSpPr>
          <p:cNvPr id="5" name="TextBox 4">
            <a:extLst>
              <a:ext uri="{FF2B5EF4-FFF2-40B4-BE49-F238E27FC236}">
                <a16:creationId xmlns:a16="http://schemas.microsoft.com/office/drawing/2014/main" id="{6E2F2576-AD96-1BEE-4C1D-A6ADA1A845CD}"/>
              </a:ext>
            </a:extLst>
          </p:cNvPr>
          <p:cNvSpPr txBox="1"/>
          <p:nvPr/>
        </p:nvSpPr>
        <p:spPr>
          <a:xfrm>
            <a:off x="1645084" y="6461498"/>
            <a:ext cx="2592056" cy="128753"/>
          </a:xfrm>
          <a:prstGeom prst="rect">
            <a:avLst/>
          </a:prstGeom>
          <a:noFill/>
        </p:spPr>
        <p:txBody>
          <a:bodyPr wrap="non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700" b="0" i="0" u="none" strike="noStrike" kern="1200" cap="none" spc="0" normalizeH="0" baseline="0" noProof="0" dirty="0">
                <a:ln/>
                <a:solidFill>
                  <a:srgbClr val="000000"/>
                </a:solidFill>
                <a:effectLst/>
                <a:uLnTx/>
                <a:uFillTx/>
                <a:latin typeface="Metropolis-Regular"/>
                <a:ea typeface="+mn-ea"/>
                <a:cs typeface="+mn-cs"/>
                <a:sym typeface="Metropolis-Regular"/>
                <a:rtl val="0"/>
              </a:rPr>
              <a:t>Broadcom Proprietary and Confidential. Copyright © 2026 Broadcom.  </a:t>
            </a:r>
          </a:p>
        </p:txBody>
      </p:sp>
      <p:sp>
        <p:nvSpPr>
          <p:cNvPr id="6" name="TextBox 5">
            <a:extLst>
              <a:ext uri="{FF2B5EF4-FFF2-40B4-BE49-F238E27FC236}">
                <a16:creationId xmlns:a16="http://schemas.microsoft.com/office/drawing/2014/main" id="{7FBFE6B2-2E63-520B-74DB-A3D7CA22F88E}"/>
              </a:ext>
            </a:extLst>
          </p:cNvPr>
          <p:cNvSpPr txBox="1"/>
          <p:nvPr/>
        </p:nvSpPr>
        <p:spPr>
          <a:xfrm>
            <a:off x="1645084" y="6569434"/>
            <a:ext cx="3855223" cy="127086"/>
          </a:xfrm>
          <a:prstGeom prst="rect">
            <a:avLst/>
          </a:prstGeom>
          <a:noFill/>
        </p:spPr>
        <p:txBody>
          <a:bodyPr wrap="none" lIns="0" tIns="0" rIns="0" bIns="0"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700" b="0" i="0" u="none" strike="noStrike" kern="1200" cap="none" spc="0" normalizeH="0" baseline="0" noProof="0" dirty="0">
                <a:ln/>
                <a:solidFill>
                  <a:srgbClr val="000000"/>
                </a:solidFill>
                <a:effectLst/>
                <a:uLnTx/>
                <a:uFillTx/>
                <a:latin typeface="Metropolis-Regular"/>
                <a:ea typeface="+mn-ea"/>
                <a:cs typeface="+mn-cs"/>
                <a:sym typeface="Metropolis-Regular"/>
                <a:rtl val="0"/>
              </a:rPr>
              <a:t>All Rights Reserved. The term “Broadcom” refers to Broadcom Inc. and/or its subsidiaries.</a:t>
            </a:r>
          </a:p>
        </p:txBody>
      </p:sp>
      <p:sp>
        <p:nvSpPr>
          <p:cNvPr id="7" name="Graphic 7">
            <a:extLst>
              <a:ext uri="{FF2B5EF4-FFF2-40B4-BE49-F238E27FC236}">
                <a16:creationId xmlns:a16="http://schemas.microsoft.com/office/drawing/2014/main" id="{1324FBFB-543F-697A-E6B9-7C65DE6AF6D7}"/>
              </a:ext>
            </a:extLst>
          </p:cNvPr>
          <p:cNvSpPr/>
          <p:nvPr/>
        </p:nvSpPr>
        <p:spPr>
          <a:xfrm>
            <a:off x="0" y="0"/>
            <a:ext cx="12188825" cy="74871"/>
          </a:xfrm>
          <a:custGeom>
            <a:avLst/>
            <a:gdLst>
              <a:gd name="connsiteX0" fmla="*/ 0 w 12185715"/>
              <a:gd name="connsiteY0" fmla="*/ 0 h 74871"/>
              <a:gd name="connsiteX1" fmla="*/ 12185716 w 12185715"/>
              <a:gd name="connsiteY1" fmla="*/ 0 h 74871"/>
              <a:gd name="connsiteX2" fmla="*/ 12185716 w 12185715"/>
              <a:gd name="connsiteY2" fmla="*/ 74871 h 74871"/>
              <a:gd name="connsiteX3" fmla="*/ 0 w 12185715"/>
              <a:gd name="connsiteY3" fmla="*/ 74871 h 74871"/>
            </a:gdLst>
            <a:ahLst/>
            <a:cxnLst>
              <a:cxn ang="0">
                <a:pos x="connsiteX0" y="connsiteY0"/>
              </a:cxn>
              <a:cxn ang="0">
                <a:pos x="connsiteX1" y="connsiteY1"/>
              </a:cxn>
              <a:cxn ang="0">
                <a:pos x="connsiteX2" y="connsiteY2"/>
              </a:cxn>
              <a:cxn ang="0">
                <a:pos x="connsiteX3" y="connsiteY3"/>
              </a:cxn>
            </a:cxnLst>
            <a:rect l="l" t="t" r="r" b="b"/>
            <a:pathLst>
              <a:path w="12185715" h="74871">
                <a:moveTo>
                  <a:pt x="0" y="0"/>
                </a:moveTo>
                <a:lnTo>
                  <a:pt x="12185716" y="0"/>
                </a:lnTo>
                <a:lnTo>
                  <a:pt x="12185716" y="74871"/>
                </a:lnTo>
                <a:lnTo>
                  <a:pt x="0" y="74871"/>
                </a:lnTo>
                <a:close/>
              </a:path>
            </a:pathLst>
          </a:custGeom>
          <a:gradFill>
            <a:gsLst>
              <a:gs pos="0">
                <a:schemeClr val="accent4"/>
              </a:gs>
              <a:gs pos="25000">
                <a:schemeClr val="accent1"/>
              </a:gs>
              <a:gs pos="50000">
                <a:schemeClr val="accent3"/>
              </a:gs>
              <a:gs pos="75000">
                <a:schemeClr val="accent2"/>
              </a:gs>
              <a:gs pos="100000">
                <a:schemeClr val="accent5"/>
              </a:gs>
            </a:gsLst>
            <a:lin ang="0" scaled="1"/>
          </a:gra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Metropolis"/>
              <a:ea typeface="+mn-ea"/>
              <a:cs typeface="+mn-cs"/>
            </a:endParaRPr>
          </a:p>
        </p:txBody>
      </p:sp>
      <p:grpSp>
        <p:nvGrpSpPr>
          <p:cNvPr id="30" name="Group 29">
            <a:extLst>
              <a:ext uri="{FF2B5EF4-FFF2-40B4-BE49-F238E27FC236}">
                <a16:creationId xmlns:a16="http://schemas.microsoft.com/office/drawing/2014/main" id="{AC0D21D7-51AE-8811-9CED-A46C05CCFF78}"/>
              </a:ext>
            </a:extLst>
          </p:cNvPr>
          <p:cNvGrpSpPr/>
          <p:nvPr/>
        </p:nvGrpSpPr>
        <p:grpSpPr>
          <a:xfrm>
            <a:off x="638009" y="1214005"/>
            <a:ext cx="4365792" cy="751879"/>
            <a:chOff x="638009" y="1214005"/>
            <a:chExt cx="4365792" cy="751879"/>
          </a:xfrm>
        </p:grpSpPr>
        <p:sp>
          <p:nvSpPr>
            <p:cNvPr id="11" name="Google Shape;5310;g34f6149356d_1_1328">
              <a:extLst>
                <a:ext uri="{FF2B5EF4-FFF2-40B4-BE49-F238E27FC236}">
                  <a16:creationId xmlns:a16="http://schemas.microsoft.com/office/drawing/2014/main" id="{5B43E0E7-231F-8ACB-7E28-64CF4F3437B3}"/>
                </a:ext>
              </a:extLst>
            </p:cNvPr>
            <p:cNvSpPr/>
            <p:nvPr/>
          </p:nvSpPr>
          <p:spPr>
            <a:xfrm>
              <a:off x="638009" y="1214005"/>
              <a:ext cx="751541" cy="751879"/>
            </a:xfrm>
            <a:prstGeom prst="ellipse">
              <a:avLst/>
            </a:prstGeom>
            <a:gradFill>
              <a:gsLst>
                <a:gs pos="0">
                  <a:srgbClr val="3D5290"/>
                </a:gs>
                <a:gs pos="18000">
                  <a:srgbClr val="3D5290"/>
                </a:gs>
                <a:gs pos="100000">
                  <a:schemeClr val="accent5"/>
                </a:gs>
              </a:gsLst>
              <a:lin ang="18900044" scaled="0"/>
            </a:gradFill>
            <a:ln>
              <a:noFill/>
            </a:ln>
            <a:effectLst>
              <a:outerShdw sx="120000" sy="120000" algn="ctr" rotWithShape="0">
                <a:srgbClr val="6C4B94">
                  <a:alpha val="23529"/>
                </a:srgbClr>
              </a:outerShdw>
            </a:effectLst>
          </p:spPr>
          <p:txBody>
            <a:bodyPr spcFirstLastPara="1" wrap="square" lIns="91350" tIns="45675" rIns="9135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 name="TextBox 2">
              <a:extLst>
                <a:ext uri="{FF2B5EF4-FFF2-40B4-BE49-F238E27FC236}">
                  <a16:creationId xmlns:a16="http://schemas.microsoft.com/office/drawing/2014/main" id="{26120441-0DA9-4FA2-1AFB-91046BFF0ED3}"/>
                </a:ext>
              </a:extLst>
            </p:cNvPr>
            <p:cNvSpPr txBox="1"/>
            <p:nvPr/>
          </p:nvSpPr>
          <p:spPr>
            <a:xfrm>
              <a:off x="1722207" y="1335930"/>
              <a:ext cx="3281594" cy="508029"/>
            </a:xfrm>
            <a:prstGeom prst="rect">
              <a:avLst/>
            </a:prstGeom>
            <a:noFill/>
          </p:spPr>
          <p:txBody>
            <a:bodyPr wrap="square" lIns="0" tIns="0" rIns="0" bIns="0" anchor="ctr">
              <a:noAutofit/>
            </a:bodyPr>
            <a:lstStyle/>
            <a:p>
              <a:pPr marL="0" marR="0" lvl="0" indent="0" algn="l" defTabSz="914400" rtl="0" eaLnBrk="1" fontAlgn="auto" latinLnBrk="0" hangingPunct="1">
                <a:lnSpc>
                  <a:spcPct val="100000"/>
                </a:lnSpc>
                <a:spcBef>
                  <a:spcPts val="0"/>
                </a:spcBef>
                <a:spcAft>
                  <a:spcPts val="12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Maintain privacy, control, and reduce risk</a:t>
              </a:r>
            </a:p>
          </p:txBody>
        </p:sp>
        <p:grpSp>
          <p:nvGrpSpPr>
            <p:cNvPr id="4" name="Graphic 18">
              <a:extLst>
                <a:ext uri="{FF2B5EF4-FFF2-40B4-BE49-F238E27FC236}">
                  <a16:creationId xmlns:a16="http://schemas.microsoft.com/office/drawing/2014/main" id="{8924FFF4-0E11-8908-2F92-6473B8C71627}"/>
                </a:ext>
              </a:extLst>
            </p:cNvPr>
            <p:cNvGrpSpPr/>
            <p:nvPr/>
          </p:nvGrpSpPr>
          <p:grpSpPr>
            <a:xfrm>
              <a:off x="809781" y="1373068"/>
              <a:ext cx="430669" cy="433753"/>
              <a:chOff x="5499332" y="2829461"/>
              <a:chExt cx="1190111" cy="1198634"/>
            </a:xfrm>
            <a:solidFill>
              <a:schemeClr val="bg1"/>
            </a:solidFill>
          </p:grpSpPr>
          <p:sp>
            <p:nvSpPr>
              <p:cNvPr id="18" name="Freeform: Shape 20">
                <a:extLst>
                  <a:ext uri="{FF2B5EF4-FFF2-40B4-BE49-F238E27FC236}">
                    <a16:creationId xmlns:a16="http://schemas.microsoft.com/office/drawing/2014/main" id="{53BC6D26-636E-0450-9C92-D66277DC2FAE}"/>
                  </a:ext>
                </a:extLst>
              </p:cNvPr>
              <p:cNvSpPr/>
              <p:nvPr/>
            </p:nvSpPr>
            <p:spPr>
              <a:xfrm flipV="1">
                <a:off x="5499332" y="2829461"/>
                <a:ext cx="1034282" cy="1198634"/>
              </a:xfrm>
              <a:custGeom>
                <a:avLst/>
                <a:gdLst>
                  <a:gd name="connsiteX0" fmla="*/ 969112 w 1034282"/>
                  <a:gd name="connsiteY0" fmla="*/ 1029157 h 1198634"/>
                  <a:gd name="connsiteX1" fmla="*/ 1002640 w 1034282"/>
                  <a:gd name="connsiteY1" fmla="*/ 995629 h 1198634"/>
                  <a:gd name="connsiteX2" fmla="*/ 969112 w 1034282"/>
                  <a:gd name="connsiteY2" fmla="*/ 962215 h 1198634"/>
                  <a:gd name="connsiteX3" fmla="*/ 935584 w 1034282"/>
                  <a:gd name="connsiteY3" fmla="*/ 995629 h 1198634"/>
                  <a:gd name="connsiteX4" fmla="*/ 969112 w 1034282"/>
                  <a:gd name="connsiteY4" fmla="*/ 1029157 h 1198634"/>
                  <a:gd name="connsiteX5" fmla="*/ 430251 w 1034282"/>
                  <a:gd name="connsiteY5" fmla="*/ 195275 h 1198634"/>
                  <a:gd name="connsiteX6" fmla="*/ 396850 w 1034282"/>
                  <a:gd name="connsiteY6" fmla="*/ 228790 h 1198634"/>
                  <a:gd name="connsiteX7" fmla="*/ 430251 w 1034282"/>
                  <a:gd name="connsiteY7" fmla="*/ 262204 h 1198634"/>
                  <a:gd name="connsiteX8" fmla="*/ 463779 w 1034282"/>
                  <a:gd name="connsiteY8" fmla="*/ 228790 h 1198634"/>
                  <a:gd name="connsiteX9" fmla="*/ 430251 w 1034282"/>
                  <a:gd name="connsiteY9" fmla="*/ 195275 h 1198634"/>
                  <a:gd name="connsiteX10" fmla="*/ 596760 w 1034282"/>
                  <a:gd name="connsiteY10" fmla="*/ 244665 h 1198634"/>
                  <a:gd name="connsiteX11" fmla="*/ 493497 w 1034282"/>
                  <a:gd name="connsiteY11" fmla="*/ 244665 h 1198634"/>
                  <a:gd name="connsiteX12" fmla="*/ 430251 w 1034282"/>
                  <a:gd name="connsiteY12" fmla="*/ 293954 h 1198634"/>
                  <a:gd name="connsiteX13" fmla="*/ 365100 w 1034282"/>
                  <a:gd name="connsiteY13" fmla="*/ 228790 h 1198634"/>
                  <a:gd name="connsiteX14" fmla="*/ 430251 w 1034282"/>
                  <a:gd name="connsiteY14" fmla="*/ 163525 h 1198634"/>
                  <a:gd name="connsiteX15" fmla="*/ 493497 w 1034282"/>
                  <a:gd name="connsiteY15" fmla="*/ 212915 h 1198634"/>
                  <a:gd name="connsiteX16" fmla="*/ 596760 w 1034282"/>
                  <a:gd name="connsiteY16" fmla="*/ 212915 h 1198634"/>
                  <a:gd name="connsiteX17" fmla="*/ 596760 w 1034282"/>
                  <a:gd name="connsiteY17" fmla="*/ 83108 h 1198634"/>
                  <a:gd name="connsiteX18" fmla="*/ 316281 w 1034282"/>
                  <a:gd name="connsiteY18" fmla="*/ 86969 h 1198634"/>
                  <a:gd name="connsiteX19" fmla="*/ 249123 w 1034282"/>
                  <a:gd name="connsiteY19" fmla="*/ 223316 h 1198634"/>
                  <a:gd name="connsiteX20" fmla="*/ 266637 w 1034282"/>
                  <a:gd name="connsiteY20" fmla="*/ 282740 h 1198634"/>
                  <a:gd name="connsiteX21" fmla="*/ 236182 w 1034282"/>
                  <a:gd name="connsiteY21" fmla="*/ 291719 h 1198634"/>
                  <a:gd name="connsiteX22" fmla="*/ 221425 w 1034282"/>
                  <a:gd name="connsiteY22" fmla="*/ 241655 h 1198634"/>
                  <a:gd name="connsiteX23" fmla="*/ 99974 w 1034282"/>
                  <a:gd name="connsiteY23" fmla="*/ 296075 h 1198634"/>
                  <a:gd name="connsiteX24" fmla="*/ 32042 w 1034282"/>
                  <a:gd name="connsiteY24" fmla="*/ 442277 h 1198634"/>
                  <a:gd name="connsiteX25" fmla="*/ 87376 w 1034282"/>
                  <a:gd name="connsiteY25" fmla="*/ 593598 h 1198634"/>
                  <a:gd name="connsiteX26" fmla="*/ 94983 w 1034282"/>
                  <a:gd name="connsiteY26" fmla="*/ 601433 h 1198634"/>
                  <a:gd name="connsiteX27" fmla="*/ 158547 w 1034282"/>
                  <a:gd name="connsiteY27" fmla="*/ 565327 h 1198634"/>
                  <a:gd name="connsiteX28" fmla="*/ 174231 w 1034282"/>
                  <a:gd name="connsiteY28" fmla="*/ 592924 h 1198634"/>
                  <a:gd name="connsiteX29" fmla="*/ 101854 w 1034282"/>
                  <a:gd name="connsiteY29" fmla="*/ 634047 h 1198634"/>
                  <a:gd name="connsiteX30" fmla="*/ 101054 w 1034282"/>
                  <a:gd name="connsiteY30" fmla="*/ 634746 h 1198634"/>
                  <a:gd name="connsiteX31" fmla="*/ 99974 w 1034282"/>
                  <a:gd name="connsiteY31" fmla="*/ 635723 h 1198634"/>
                  <a:gd name="connsiteX32" fmla="*/ 32042 w 1034282"/>
                  <a:gd name="connsiteY32" fmla="*/ 781926 h 1198634"/>
                  <a:gd name="connsiteX33" fmla="*/ 87465 w 1034282"/>
                  <a:gd name="connsiteY33" fmla="*/ 933335 h 1198634"/>
                  <a:gd name="connsiteX34" fmla="*/ 240030 w 1034282"/>
                  <a:gd name="connsiteY34" fmla="*/ 1001280 h 1198634"/>
                  <a:gd name="connsiteX35" fmla="*/ 303467 w 1034282"/>
                  <a:gd name="connsiteY35" fmla="*/ 994105 h 1198634"/>
                  <a:gd name="connsiteX36" fmla="*/ 307048 w 1034282"/>
                  <a:gd name="connsiteY36" fmla="*/ 1025664 h 1198634"/>
                  <a:gd name="connsiteX37" fmla="*/ 261950 w 1034282"/>
                  <a:gd name="connsiteY37" fmla="*/ 1030757 h 1198634"/>
                  <a:gd name="connsiteX38" fmla="*/ 303784 w 1034282"/>
                  <a:gd name="connsiteY38" fmla="*/ 1098918 h 1198634"/>
                  <a:gd name="connsiteX39" fmla="*/ 449859 w 1034282"/>
                  <a:gd name="connsiteY39" fmla="*/ 1166787 h 1198634"/>
                  <a:gd name="connsiteX40" fmla="*/ 596760 w 1034282"/>
                  <a:gd name="connsiteY40" fmla="*/ 1115402 h 1198634"/>
                  <a:gd name="connsiteX41" fmla="*/ 596760 w 1034282"/>
                  <a:gd name="connsiteY41" fmla="*/ 814197 h 1198634"/>
                  <a:gd name="connsiteX42" fmla="*/ 628510 w 1034282"/>
                  <a:gd name="connsiteY42" fmla="*/ 814197 h 1198634"/>
                  <a:gd name="connsiteX43" fmla="*/ 628510 w 1034282"/>
                  <a:gd name="connsiteY43" fmla="*/ 977392 h 1198634"/>
                  <a:gd name="connsiteX44" fmla="*/ 906488 w 1034282"/>
                  <a:gd name="connsiteY44" fmla="*/ 977392 h 1198634"/>
                  <a:gd name="connsiteX45" fmla="*/ 906501 w 1034282"/>
                  <a:gd name="connsiteY45" fmla="*/ 977341 h 1198634"/>
                  <a:gd name="connsiteX46" fmla="*/ 969112 w 1034282"/>
                  <a:gd name="connsiteY46" fmla="*/ 930465 h 1198634"/>
                  <a:gd name="connsiteX47" fmla="*/ 1034390 w 1034282"/>
                  <a:gd name="connsiteY47" fmla="*/ 995629 h 1198634"/>
                  <a:gd name="connsiteX48" fmla="*/ 969112 w 1034282"/>
                  <a:gd name="connsiteY48" fmla="*/ 1060907 h 1198634"/>
                  <a:gd name="connsiteX49" fmla="*/ 905243 w 1034282"/>
                  <a:gd name="connsiteY49" fmla="*/ 1009142 h 1198634"/>
                  <a:gd name="connsiteX50" fmla="*/ 628510 w 1034282"/>
                  <a:gd name="connsiteY50" fmla="*/ 1009142 h 1198634"/>
                  <a:gd name="connsiteX51" fmla="*/ 628510 w 1034282"/>
                  <a:gd name="connsiteY51" fmla="*/ 1128941 h 1198634"/>
                  <a:gd name="connsiteX52" fmla="*/ 622732 w 1034282"/>
                  <a:gd name="connsiteY52" fmla="*/ 1134795 h 1198634"/>
                  <a:gd name="connsiteX53" fmla="*/ 448526 w 1034282"/>
                  <a:gd name="connsiteY53" fmla="*/ 1198499 h 1198634"/>
                  <a:gd name="connsiteX54" fmla="*/ 280391 w 1034282"/>
                  <a:gd name="connsiteY54" fmla="*/ 1120394 h 1198634"/>
                  <a:gd name="connsiteX55" fmla="*/ 228689 w 1034282"/>
                  <a:gd name="connsiteY55" fmla="*/ 1032687 h 1198634"/>
                  <a:gd name="connsiteX56" fmla="*/ 64084 w 1034282"/>
                  <a:gd name="connsiteY56" fmla="*/ 954824 h 1198634"/>
                  <a:gd name="connsiteX57" fmla="*/ 330 w 1034282"/>
                  <a:gd name="connsiteY57" fmla="*/ 780592 h 1198634"/>
                  <a:gd name="connsiteX58" fmla="*/ 69596 w 1034282"/>
                  <a:gd name="connsiteY58" fmla="*/ 620941 h 1198634"/>
                  <a:gd name="connsiteX59" fmla="*/ 64084 w 1034282"/>
                  <a:gd name="connsiteY59" fmla="*/ 615175 h 1198634"/>
                  <a:gd name="connsiteX60" fmla="*/ 330 w 1034282"/>
                  <a:gd name="connsiteY60" fmla="*/ 440944 h 1198634"/>
                  <a:gd name="connsiteX61" fmla="*/ 78473 w 1034282"/>
                  <a:gd name="connsiteY61" fmla="*/ 272732 h 1198634"/>
                  <a:gd name="connsiteX62" fmla="*/ 218580 w 1034282"/>
                  <a:gd name="connsiteY62" fmla="*/ 209842 h 1198634"/>
                  <a:gd name="connsiteX63" fmla="*/ 294818 w 1034282"/>
                  <a:gd name="connsiteY63" fmla="*/ 63576 h 1198634"/>
                  <a:gd name="connsiteX64" fmla="*/ 458800 w 1034282"/>
                  <a:gd name="connsiteY64" fmla="*/ 114 h 1198634"/>
                  <a:gd name="connsiteX65" fmla="*/ 623456 w 1034282"/>
                  <a:gd name="connsiteY65" fmla="*/ 64427 h 1198634"/>
                  <a:gd name="connsiteX66" fmla="*/ 628510 w 1034282"/>
                  <a:gd name="connsiteY66" fmla="*/ 69138 h 1198634"/>
                  <a:gd name="connsiteX67" fmla="*/ 628510 w 1034282"/>
                  <a:gd name="connsiteY67" fmla="*/ 323761 h 1198634"/>
                  <a:gd name="connsiteX68" fmla="*/ 596760 w 1034282"/>
                  <a:gd name="connsiteY68" fmla="*/ 323761 h 119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034282" h="1198634">
                    <a:moveTo>
                      <a:pt x="969112" y="1029157"/>
                    </a:moveTo>
                    <a:cubicBezTo>
                      <a:pt x="987654" y="1029157"/>
                      <a:pt x="1002640" y="1014171"/>
                      <a:pt x="1002640" y="995629"/>
                    </a:cubicBezTo>
                    <a:cubicBezTo>
                      <a:pt x="1002640" y="977214"/>
                      <a:pt x="987654" y="962215"/>
                      <a:pt x="969112" y="962215"/>
                    </a:cubicBezTo>
                    <a:cubicBezTo>
                      <a:pt x="950697" y="962215"/>
                      <a:pt x="935584" y="977214"/>
                      <a:pt x="935584" y="995629"/>
                    </a:cubicBezTo>
                    <a:cubicBezTo>
                      <a:pt x="935584" y="1014171"/>
                      <a:pt x="950697" y="1029157"/>
                      <a:pt x="969112" y="1029157"/>
                    </a:cubicBezTo>
                    <a:moveTo>
                      <a:pt x="430251" y="195275"/>
                    </a:moveTo>
                    <a:cubicBezTo>
                      <a:pt x="411836" y="195275"/>
                      <a:pt x="396850" y="210261"/>
                      <a:pt x="396850" y="228790"/>
                    </a:cubicBezTo>
                    <a:cubicBezTo>
                      <a:pt x="396850" y="247218"/>
                      <a:pt x="411836" y="262204"/>
                      <a:pt x="430251" y="262204"/>
                    </a:cubicBezTo>
                    <a:cubicBezTo>
                      <a:pt x="448793" y="262204"/>
                      <a:pt x="463779" y="247218"/>
                      <a:pt x="463779" y="228790"/>
                    </a:cubicBezTo>
                    <a:cubicBezTo>
                      <a:pt x="463779" y="210261"/>
                      <a:pt x="448793" y="195275"/>
                      <a:pt x="430251" y="195275"/>
                    </a:cubicBezTo>
                    <a:moveTo>
                      <a:pt x="596760" y="244665"/>
                    </a:moveTo>
                    <a:lnTo>
                      <a:pt x="493497" y="244665"/>
                    </a:lnTo>
                    <a:cubicBezTo>
                      <a:pt x="486512" y="272999"/>
                      <a:pt x="460858" y="293954"/>
                      <a:pt x="430251" y="293954"/>
                    </a:cubicBezTo>
                    <a:cubicBezTo>
                      <a:pt x="394310" y="293954"/>
                      <a:pt x="365100" y="264744"/>
                      <a:pt x="365100" y="228790"/>
                    </a:cubicBezTo>
                    <a:cubicBezTo>
                      <a:pt x="365100" y="192735"/>
                      <a:pt x="394310" y="163525"/>
                      <a:pt x="430251" y="163525"/>
                    </a:cubicBezTo>
                    <a:cubicBezTo>
                      <a:pt x="460858" y="163525"/>
                      <a:pt x="486512" y="184480"/>
                      <a:pt x="493497" y="212915"/>
                    </a:cubicBezTo>
                    <a:lnTo>
                      <a:pt x="596760" y="212915"/>
                    </a:lnTo>
                    <a:lnTo>
                      <a:pt x="596760" y="83108"/>
                    </a:lnTo>
                    <a:cubicBezTo>
                      <a:pt x="516890" y="13462"/>
                      <a:pt x="395008" y="14668"/>
                      <a:pt x="316281" y="86969"/>
                    </a:cubicBezTo>
                    <a:cubicBezTo>
                      <a:pt x="277482" y="122555"/>
                      <a:pt x="253771" y="170891"/>
                      <a:pt x="249123" y="223316"/>
                    </a:cubicBezTo>
                    <a:lnTo>
                      <a:pt x="266637" y="282740"/>
                    </a:lnTo>
                    <a:lnTo>
                      <a:pt x="236182" y="291719"/>
                    </a:lnTo>
                    <a:lnTo>
                      <a:pt x="221425" y="241655"/>
                    </a:lnTo>
                    <a:cubicBezTo>
                      <a:pt x="176263" y="246164"/>
                      <a:pt x="133528" y="265099"/>
                      <a:pt x="99974" y="296075"/>
                    </a:cubicBezTo>
                    <a:cubicBezTo>
                      <a:pt x="58547" y="334149"/>
                      <a:pt x="34430" y="386067"/>
                      <a:pt x="32042" y="442277"/>
                    </a:cubicBezTo>
                    <a:cubicBezTo>
                      <a:pt x="29680" y="498513"/>
                      <a:pt x="49352" y="552272"/>
                      <a:pt x="87376" y="593598"/>
                    </a:cubicBezTo>
                    <a:cubicBezTo>
                      <a:pt x="89992" y="596404"/>
                      <a:pt x="92507" y="598982"/>
                      <a:pt x="94983" y="601433"/>
                    </a:cubicBezTo>
                    <a:lnTo>
                      <a:pt x="158547" y="565327"/>
                    </a:lnTo>
                    <a:lnTo>
                      <a:pt x="174231" y="592924"/>
                    </a:lnTo>
                    <a:lnTo>
                      <a:pt x="101854" y="634047"/>
                    </a:lnTo>
                    <a:cubicBezTo>
                      <a:pt x="101587" y="634276"/>
                      <a:pt x="101321" y="634504"/>
                      <a:pt x="101054" y="634746"/>
                    </a:cubicBezTo>
                    <a:lnTo>
                      <a:pt x="99974" y="635723"/>
                    </a:lnTo>
                    <a:cubicBezTo>
                      <a:pt x="58547" y="673811"/>
                      <a:pt x="34430" y="725716"/>
                      <a:pt x="32042" y="781926"/>
                    </a:cubicBezTo>
                    <a:cubicBezTo>
                      <a:pt x="29680" y="838161"/>
                      <a:pt x="49352" y="891921"/>
                      <a:pt x="87465" y="933335"/>
                    </a:cubicBezTo>
                    <a:cubicBezTo>
                      <a:pt x="126632" y="976007"/>
                      <a:pt x="182232" y="1000721"/>
                      <a:pt x="240030" y="1001280"/>
                    </a:cubicBezTo>
                    <a:lnTo>
                      <a:pt x="303467" y="994105"/>
                    </a:lnTo>
                    <a:lnTo>
                      <a:pt x="307048" y="1025664"/>
                    </a:lnTo>
                    <a:lnTo>
                      <a:pt x="261950" y="1030757"/>
                    </a:lnTo>
                    <a:cubicBezTo>
                      <a:pt x="271399" y="1055827"/>
                      <a:pt x="285267" y="1078763"/>
                      <a:pt x="303784" y="1098918"/>
                    </a:cubicBezTo>
                    <a:cubicBezTo>
                      <a:pt x="341770" y="1140320"/>
                      <a:pt x="393649" y="1164412"/>
                      <a:pt x="449859" y="1166787"/>
                    </a:cubicBezTo>
                    <a:cubicBezTo>
                      <a:pt x="504241" y="1168946"/>
                      <a:pt x="555943" y="1150861"/>
                      <a:pt x="596760" y="1115402"/>
                    </a:cubicBezTo>
                    <a:lnTo>
                      <a:pt x="596760" y="814197"/>
                    </a:lnTo>
                    <a:lnTo>
                      <a:pt x="628510" y="814197"/>
                    </a:lnTo>
                    <a:lnTo>
                      <a:pt x="628510" y="977392"/>
                    </a:lnTo>
                    <a:lnTo>
                      <a:pt x="906488" y="977392"/>
                    </a:lnTo>
                    <a:cubicBezTo>
                      <a:pt x="906501" y="977366"/>
                      <a:pt x="906501" y="977353"/>
                      <a:pt x="906501" y="977341"/>
                    </a:cubicBezTo>
                    <a:cubicBezTo>
                      <a:pt x="914375" y="950290"/>
                      <a:pt x="939521" y="930465"/>
                      <a:pt x="969112" y="930465"/>
                    </a:cubicBezTo>
                    <a:cubicBezTo>
                      <a:pt x="1005180" y="930465"/>
                      <a:pt x="1034390" y="959688"/>
                      <a:pt x="1034390" y="995629"/>
                    </a:cubicBezTo>
                    <a:cubicBezTo>
                      <a:pt x="1034390" y="1031697"/>
                      <a:pt x="1005180" y="1060907"/>
                      <a:pt x="969112" y="1060907"/>
                    </a:cubicBezTo>
                    <a:cubicBezTo>
                      <a:pt x="937755" y="1060907"/>
                      <a:pt x="911492" y="1038707"/>
                      <a:pt x="905243" y="1009142"/>
                    </a:cubicBezTo>
                    <a:lnTo>
                      <a:pt x="628510" y="1009142"/>
                    </a:lnTo>
                    <a:lnTo>
                      <a:pt x="628510" y="1128941"/>
                    </a:lnTo>
                    <a:lnTo>
                      <a:pt x="622732" y="1134795"/>
                    </a:lnTo>
                    <a:cubicBezTo>
                      <a:pt x="575081" y="1178610"/>
                      <a:pt x="513207" y="1201420"/>
                      <a:pt x="448526" y="1198499"/>
                    </a:cubicBezTo>
                    <a:cubicBezTo>
                      <a:pt x="383832" y="1195781"/>
                      <a:pt x="324117" y="1168044"/>
                      <a:pt x="280391" y="1120394"/>
                    </a:cubicBezTo>
                    <a:cubicBezTo>
                      <a:pt x="256832" y="1094727"/>
                      <a:pt x="239459" y="1065276"/>
                      <a:pt x="228689" y="1032687"/>
                    </a:cubicBezTo>
                    <a:cubicBezTo>
                      <a:pt x="166129" y="1029195"/>
                      <a:pt x="106667" y="1001204"/>
                      <a:pt x="64084" y="954824"/>
                    </a:cubicBezTo>
                    <a:cubicBezTo>
                      <a:pt x="20244" y="907186"/>
                      <a:pt x="-2413" y="845299"/>
                      <a:pt x="330" y="780592"/>
                    </a:cubicBezTo>
                    <a:cubicBezTo>
                      <a:pt x="2883" y="720039"/>
                      <a:pt x="27381" y="663816"/>
                      <a:pt x="69596" y="620941"/>
                    </a:cubicBezTo>
                    <a:cubicBezTo>
                      <a:pt x="67793" y="619112"/>
                      <a:pt x="65951" y="617194"/>
                      <a:pt x="64084" y="615175"/>
                    </a:cubicBezTo>
                    <a:cubicBezTo>
                      <a:pt x="20244" y="567524"/>
                      <a:pt x="-2413" y="505650"/>
                      <a:pt x="330" y="440944"/>
                    </a:cubicBezTo>
                    <a:cubicBezTo>
                      <a:pt x="3061" y="376262"/>
                      <a:pt x="30836" y="316509"/>
                      <a:pt x="78473" y="272732"/>
                    </a:cubicBezTo>
                    <a:cubicBezTo>
                      <a:pt x="117145" y="237020"/>
                      <a:pt x="166446" y="214985"/>
                      <a:pt x="218580" y="209842"/>
                    </a:cubicBezTo>
                    <a:cubicBezTo>
                      <a:pt x="226035" y="153631"/>
                      <a:pt x="252781" y="102107"/>
                      <a:pt x="294818" y="63576"/>
                    </a:cubicBezTo>
                    <a:cubicBezTo>
                      <a:pt x="340932" y="21247"/>
                      <a:pt x="399885" y="101"/>
                      <a:pt x="458800" y="114"/>
                    </a:cubicBezTo>
                    <a:cubicBezTo>
                      <a:pt x="518135" y="114"/>
                      <a:pt x="577431" y="21564"/>
                      <a:pt x="623456" y="64427"/>
                    </a:cubicBezTo>
                    <a:lnTo>
                      <a:pt x="628510" y="69138"/>
                    </a:lnTo>
                    <a:lnTo>
                      <a:pt x="628510" y="323761"/>
                    </a:lnTo>
                    <a:lnTo>
                      <a:pt x="596760" y="323761"/>
                    </a:lnTo>
                    <a:close/>
                  </a:path>
                </a:pathLst>
              </a:custGeom>
              <a:grp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19" name="Freeform: Shape 21">
                <a:extLst>
                  <a:ext uri="{FF2B5EF4-FFF2-40B4-BE49-F238E27FC236}">
                    <a16:creationId xmlns:a16="http://schemas.microsoft.com/office/drawing/2014/main" id="{612083A7-360A-CE6B-6307-B2F389B36D96}"/>
                  </a:ext>
                </a:extLst>
              </p:cNvPr>
              <p:cNvSpPr/>
              <p:nvPr/>
            </p:nvSpPr>
            <p:spPr>
              <a:xfrm flipV="1">
                <a:off x="5704177" y="3094562"/>
                <a:ext cx="985265" cy="636905"/>
              </a:xfrm>
              <a:custGeom>
                <a:avLst/>
                <a:gdLst>
                  <a:gd name="connsiteX0" fmla="*/ 687557 w 985265"/>
                  <a:gd name="connsiteY0" fmla="*/ 31806 h 636905"/>
                  <a:gd name="connsiteX1" fmla="*/ 421492 w 985265"/>
                  <a:gd name="connsiteY1" fmla="*/ 297871 h 636905"/>
                  <a:gd name="connsiteX2" fmla="*/ 687557 w 985265"/>
                  <a:gd name="connsiteY2" fmla="*/ 564063 h 636905"/>
                  <a:gd name="connsiteX3" fmla="*/ 953622 w 985265"/>
                  <a:gd name="connsiteY3" fmla="*/ 297871 h 636905"/>
                  <a:gd name="connsiteX4" fmla="*/ 687557 w 985265"/>
                  <a:gd name="connsiteY4" fmla="*/ 31806 h 636905"/>
                  <a:gd name="connsiteX5" fmla="*/ 157586 w 985265"/>
                  <a:gd name="connsiteY5" fmla="*/ 147503 h 636905"/>
                  <a:gd name="connsiteX6" fmla="*/ 124058 w 985265"/>
                  <a:gd name="connsiteY6" fmla="*/ 181031 h 636905"/>
                  <a:gd name="connsiteX7" fmla="*/ 157586 w 985265"/>
                  <a:gd name="connsiteY7" fmla="*/ 214559 h 636905"/>
                  <a:gd name="connsiteX8" fmla="*/ 190987 w 985265"/>
                  <a:gd name="connsiteY8" fmla="*/ 181031 h 636905"/>
                  <a:gd name="connsiteX9" fmla="*/ 157586 w 985265"/>
                  <a:gd name="connsiteY9" fmla="*/ 147503 h 636905"/>
                  <a:gd name="connsiteX10" fmla="*/ 31856 w 985265"/>
                  <a:gd name="connsiteY10" fmla="*/ 571683 h 636905"/>
                  <a:gd name="connsiteX11" fmla="*/ 65257 w 985265"/>
                  <a:gd name="connsiteY11" fmla="*/ 605211 h 636905"/>
                  <a:gd name="connsiteX12" fmla="*/ 98785 w 985265"/>
                  <a:gd name="connsiteY12" fmla="*/ 571683 h 636905"/>
                  <a:gd name="connsiteX13" fmla="*/ 65257 w 985265"/>
                  <a:gd name="connsiteY13" fmla="*/ 538155 h 636905"/>
                  <a:gd name="connsiteX14" fmla="*/ 31856 w 985265"/>
                  <a:gd name="connsiteY14" fmla="*/ 571683 h 636905"/>
                  <a:gd name="connsiteX15" fmla="*/ 687557 w 985265"/>
                  <a:gd name="connsiteY15" fmla="*/ 595813 h 636905"/>
                  <a:gd name="connsiteX16" fmla="*/ 417555 w 985265"/>
                  <a:gd name="connsiteY16" fmla="*/ 423474 h 636905"/>
                  <a:gd name="connsiteX17" fmla="*/ 77487 w 985265"/>
                  <a:gd name="connsiteY17" fmla="*/ 423474 h 636905"/>
                  <a:gd name="connsiteX18" fmla="*/ 77487 w 985265"/>
                  <a:gd name="connsiteY18" fmla="*/ 507687 h 636905"/>
                  <a:gd name="connsiteX19" fmla="*/ 130535 w 985265"/>
                  <a:gd name="connsiteY19" fmla="*/ 571683 h 636905"/>
                  <a:gd name="connsiteX20" fmla="*/ 65257 w 985265"/>
                  <a:gd name="connsiteY20" fmla="*/ 636961 h 636905"/>
                  <a:gd name="connsiteX21" fmla="*/ 106 w 985265"/>
                  <a:gd name="connsiteY21" fmla="*/ 571683 h 636905"/>
                  <a:gd name="connsiteX22" fmla="*/ 45699 w 985265"/>
                  <a:gd name="connsiteY22" fmla="*/ 509326 h 636905"/>
                  <a:gd name="connsiteX23" fmla="*/ 45737 w 985265"/>
                  <a:gd name="connsiteY23" fmla="*/ 509313 h 636905"/>
                  <a:gd name="connsiteX24" fmla="*/ 45737 w 985265"/>
                  <a:gd name="connsiteY24" fmla="*/ 391724 h 636905"/>
                  <a:gd name="connsiteX25" fmla="*/ 404982 w 985265"/>
                  <a:gd name="connsiteY25" fmla="*/ 391724 h 636905"/>
                  <a:gd name="connsiteX26" fmla="*/ 389742 w 985265"/>
                  <a:gd name="connsiteY26" fmla="*/ 297871 h 636905"/>
                  <a:gd name="connsiteX27" fmla="*/ 410189 w 985265"/>
                  <a:gd name="connsiteY27" fmla="*/ 189794 h 636905"/>
                  <a:gd name="connsiteX28" fmla="*/ 222102 w 985265"/>
                  <a:gd name="connsiteY28" fmla="*/ 189794 h 636905"/>
                  <a:gd name="connsiteX29" fmla="*/ 157586 w 985265"/>
                  <a:gd name="connsiteY29" fmla="*/ 246309 h 636905"/>
                  <a:gd name="connsiteX30" fmla="*/ 92308 w 985265"/>
                  <a:gd name="connsiteY30" fmla="*/ 181031 h 636905"/>
                  <a:gd name="connsiteX31" fmla="*/ 157586 w 985265"/>
                  <a:gd name="connsiteY31" fmla="*/ 115753 h 636905"/>
                  <a:gd name="connsiteX32" fmla="*/ 218546 w 985265"/>
                  <a:gd name="connsiteY32" fmla="*/ 158044 h 636905"/>
                  <a:gd name="connsiteX33" fmla="*/ 419714 w 985265"/>
                  <a:gd name="connsiteY33" fmla="*/ 158044 h 636905"/>
                  <a:gd name="connsiteX34" fmla="*/ 419714 w 985265"/>
                  <a:gd name="connsiteY34" fmla="*/ 167835 h 636905"/>
                  <a:gd name="connsiteX35" fmla="*/ 419714 w 985265"/>
                  <a:gd name="connsiteY35" fmla="*/ 167823 h 636905"/>
                  <a:gd name="connsiteX36" fmla="*/ 687557 w 985265"/>
                  <a:gd name="connsiteY36" fmla="*/ 56 h 636905"/>
                  <a:gd name="connsiteX37" fmla="*/ 985372 w 985265"/>
                  <a:gd name="connsiteY37" fmla="*/ 297871 h 636905"/>
                  <a:gd name="connsiteX38" fmla="*/ 687557 w 985265"/>
                  <a:gd name="connsiteY38" fmla="*/ 595813 h 6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85265" h="636905">
                    <a:moveTo>
                      <a:pt x="687557" y="31806"/>
                    </a:moveTo>
                    <a:cubicBezTo>
                      <a:pt x="540872" y="31806"/>
                      <a:pt x="421492" y="151186"/>
                      <a:pt x="421492" y="297871"/>
                    </a:cubicBezTo>
                    <a:cubicBezTo>
                      <a:pt x="421492" y="444683"/>
                      <a:pt x="540872" y="564063"/>
                      <a:pt x="687557" y="564063"/>
                    </a:cubicBezTo>
                    <a:cubicBezTo>
                      <a:pt x="834242" y="564063"/>
                      <a:pt x="953622" y="444683"/>
                      <a:pt x="953622" y="297871"/>
                    </a:cubicBezTo>
                    <a:cubicBezTo>
                      <a:pt x="953622" y="151186"/>
                      <a:pt x="834242" y="31806"/>
                      <a:pt x="687557" y="31806"/>
                    </a:cubicBezTo>
                    <a:moveTo>
                      <a:pt x="157586" y="147503"/>
                    </a:moveTo>
                    <a:cubicBezTo>
                      <a:pt x="139044" y="147503"/>
                      <a:pt x="124058" y="162489"/>
                      <a:pt x="124058" y="181031"/>
                    </a:cubicBezTo>
                    <a:cubicBezTo>
                      <a:pt x="124058" y="199446"/>
                      <a:pt x="139044" y="214559"/>
                      <a:pt x="157586" y="214559"/>
                    </a:cubicBezTo>
                    <a:cubicBezTo>
                      <a:pt x="176001" y="214559"/>
                      <a:pt x="190987" y="199446"/>
                      <a:pt x="190987" y="181031"/>
                    </a:cubicBezTo>
                    <a:cubicBezTo>
                      <a:pt x="190987" y="162489"/>
                      <a:pt x="176001" y="147503"/>
                      <a:pt x="157586" y="147503"/>
                    </a:cubicBezTo>
                    <a:moveTo>
                      <a:pt x="31856" y="571683"/>
                    </a:moveTo>
                    <a:cubicBezTo>
                      <a:pt x="31856" y="590225"/>
                      <a:pt x="46842" y="605211"/>
                      <a:pt x="65257" y="605211"/>
                    </a:cubicBezTo>
                    <a:cubicBezTo>
                      <a:pt x="83799" y="605211"/>
                      <a:pt x="98785" y="590225"/>
                      <a:pt x="98785" y="571683"/>
                    </a:cubicBezTo>
                    <a:cubicBezTo>
                      <a:pt x="98785" y="553268"/>
                      <a:pt x="83799" y="538155"/>
                      <a:pt x="65257" y="538155"/>
                    </a:cubicBezTo>
                    <a:cubicBezTo>
                      <a:pt x="46842" y="538155"/>
                      <a:pt x="31856" y="553268"/>
                      <a:pt x="31856" y="571683"/>
                    </a:cubicBezTo>
                    <a:moveTo>
                      <a:pt x="687557" y="595813"/>
                    </a:moveTo>
                    <a:cubicBezTo>
                      <a:pt x="568177" y="595813"/>
                      <a:pt x="464926" y="525201"/>
                      <a:pt x="417555" y="423474"/>
                    </a:cubicBezTo>
                    <a:lnTo>
                      <a:pt x="77487" y="423474"/>
                    </a:lnTo>
                    <a:lnTo>
                      <a:pt x="77487" y="507687"/>
                    </a:lnTo>
                    <a:cubicBezTo>
                      <a:pt x="107700" y="513301"/>
                      <a:pt x="130535" y="539945"/>
                      <a:pt x="130535" y="571683"/>
                    </a:cubicBezTo>
                    <a:cubicBezTo>
                      <a:pt x="130535" y="607751"/>
                      <a:pt x="101325" y="636961"/>
                      <a:pt x="65257" y="636961"/>
                    </a:cubicBezTo>
                    <a:cubicBezTo>
                      <a:pt x="29316" y="636961"/>
                      <a:pt x="106" y="607751"/>
                      <a:pt x="106" y="571683"/>
                    </a:cubicBezTo>
                    <a:cubicBezTo>
                      <a:pt x="106" y="542473"/>
                      <a:pt x="19283" y="517708"/>
                      <a:pt x="45699" y="509326"/>
                    </a:cubicBezTo>
                    <a:cubicBezTo>
                      <a:pt x="45712" y="509326"/>
                      <a:pt x="45725" y="509326"/>
                      <a:pt x="45737" y="509313"/>
                    </a:cubicBezTo>
                    <a:lnTo>
                      <a:pt x="45737" y="391724"/>
                    </a:lnTo>
                    <a:lnTo>
                      <a:pt x="404982" y="391724"/>
                    </a:lnTo>
                    <a:cubicBezTo>
                      <a:pt x="395076" y="362260"/>
                      <a:pt x="389742" y="330637"/>
                      <a:pt x="389742" y="297871"/>
                    </a:cubicBezTo>
                    <a:cubicBezTo>
                      <a:pt x="389742" y="259771"/>
                      <a:pt x="396981" y="223322"/>
                      <a:pt x="410189" y="189794"/>
                    </a:cubicBezTo>
                    <a:lnTo>
                      <a:pt x="222102" y="189794"/>
                    </a:lnTo>
                    <a:cubicBezTo>
                      <a:pt x="217911" y="221544"/>
                      <a:pt x="190606" y="246309"/>
                      <a:pt x="157586" y="246309"/>
                    </a:cubicBezTo>
                    <a:cubicBezTo>
                      <a:pt x="121518" y="246309"/>
                      <a:pt x="92308" y="216972"/>
                      <a:pt x="92308" y="181031"/>
                    </a:cubicBezTo>
                    <a:cubicBezTo>
                      <a:pt x="92308" y="144963"/>
                      <a:pt x="121518" y="115753"/>
                      <a:pt x="157586" y="115753"/>
                    </a:cubicBezTo>
                    <a:cubicBezTo>
                      <a:pt x="185399" y="115753"/>
                      <a:pt x="209275" y="133279"/>
                      <a:pt x="218546" y="158044"/>
                    </a:cubicBezTo>
                    <a:lnTo>
                      <a:pt x="419714" y="158044"/>
                    </a:lnTo>
                    <a:lnTo>
                      <a:pt x="419714" y="167835"/>
                    </a:lnTo>
                    <a:lnTo>
                      <a:pt x="419714" y="167823"/>
                    </a:lnTo>
                    <a:cubicBezTo>
                      <a:pt x="467974" y="68636"/>
                      <a:pt x="569955" y="56"/>
                      <a:pt x="687557" y="56"/>
                    </a:cubicBezTo>
                    <a:cubicBezTo>
                      <a:pt x="851768" y="56"/>
                      <a:pt x="985372" y="133660"/>
                      <a:pt x="985372" y="297871"/>
                    </a:cubicBezTo>
                    <a:cubicBezTo>
                      <a:pt x="985372" y="462209"/>
                      <a:pt x="851768" y="595813"/>
                      <a:pt x="687557" y="595813"/>
                    </a:cubicBezTo>
                  </a:path>
                </a:pathLst>
              </a:custGeom>
              <a:grp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20" name="Freeform: Shape 22">
                <a:extLst>
                  <a:ext uri="{FF2B5EF4-FFF2-40B4-BE49-F238E27FC236}">
                    <a16:creationId xmlns:a16="http://schemas.microsoft.com/office/drawing/2014/main" id="{76FAADD0-B179-A982-43BD-E0046A43BD03}"/>
                  </a:ext>
                </a:extLst>
              </p:cNvPr>
              <p:cNvSpPr/>
              <p:nvPr/>
            </p:nvSpPr>
            <p:spPr>
              <a:xfrm flipV="1">
                <a:off x="6277076" y="3267788"/>
                <a:ext cx="228472" cy="322072"/>
              </a:xfrm>
              <a:custGeom>
                <a:avLst/>
                <a:gdLst>
                  <a:gd name="connsiteX0" fmla="*/ 109458 w 228472"/>
                  <a:gd name="connsiteY0" fmla="*/ 291555 h 322072"/>
                  <a:gd name="connsiteX1" fmla="*/ 119237 w 228472"/>
                  <a:gd name="connsiteY1" fmla="*/ 291555 h 322072"/>
                  <a:gd name="connsiteX2" fmla="*/ 152892 w 228472"/>
                  <a:gd name="connsiteY2" fmla="*/ 253836 h 322072"/>
                  <a:gd name="connsiteX3" fmla="*/ 152892 w 228472"/>
                  <a:gd name="connsiteY3" fmla="*/ 214466 h 322072"/>
                  <a:gd name="connsiteX4" fmla="*/ 114284 w 228472"/>
                  <a:gd name="connsiteY4" fmla="*/ 221070 h 322072"/>
                  <a:gd name="connsiteX5" fmla="*/ 75803 w 228472"/>
                  <a:gd name="connsiteY5" fmla="*/ 214466 h 322072"/>
                  <a:gd name="connsiteX6" fmla="*/ 75803 w 228472"/>
                  <a:gd name="connsiteY6" fmla="*/ 253836 h 322072"/>
                  <a:gd name="connsiteX7" fmla="*/ 109458 w 228472"/>
                  <a:gd name="connsiteY7" fmla="*/ 291555 h 322072"/>
                  <a:gd name="connsiteX8" fmla="*/ 197850 w 228472"/>
                  <a:gd name="connsiteY8" fmla="*/ 110580 h 322072"/>
                  <a:gd name="connsiteX9" fmla="*/ 114284 w 228472"/>
                  <a:gd name="connsiteY9" fmla="*/ 30824 h 322072"/>
                  <a:gd name="connsiteX10" fmla="*/ 30845 w 228472"/>
                  <a:gd name="connsiteY10" fmla="*/ 110580 h 322072"/>
                  <a:gd name="connsiteX11" fmla="*/ 114284 w 228472"/>
                  <a:gd name="connsiteY11" fmla="*/ 190463 h 322072"/>
                  <a:gd name="connsiteX12" fmla="*/ 197850 w 228472"/>
                  <a:gd name="connsiteY12" fmla="*/ 110580 h 322072"/>
                  <a:gd name="connsiteX13" fmla="*/ 183626 w 228472"/>
                  <a:gd name="connsiteY13" fmla="*/ 198337 h 322072"/>
                  <a:gd name="connsiteX14" fmla="*/ 183626 w 228472"/>
                  <a:gd name="connsiteY14" fmla="*/ 253836 h 322072"/>
                  <a:gd name="connsiteX15" fmla="*/ 119237 w 228472"/>
                  <a:gd name="connsiteY15" fmla="*/ 322162 h 322072"/>
                  <a:gd name="connsiteX16" fmla="*/ 109458 w 228472"/>
                  <a:gd name="connsiteY16" fmla="*/ 322162 h 322072"/>
                  <a:gd name="connsiteX17" fmla="*/ 45069 w 228472"/>
                  <a:gd name="connsiteY17" fmla="*/ 253836 h 322072"/>
                  <a:gd name="connsiteX18" fmla="*/ 45069 w 228472"/>
                  <a:gd name="connsiteY18" fmla="*/ 198337 h 322072"/>
                  <a:gd name="connsiteX19" fmla="*/ 111 w 228472"/>
                  <a:gd name="connsiteY19" fmla="*/ 110580 h 322072"/>
                  <a:gd name="connsiteX20" fmla="*/ 114284 w 228472"/>
                  <a:gd name="connsiteY20" fmla="*/ 90 h 322072"/>
                  <a:gd name="connsiteX21" fmla="*/ 228584 w 228472"/>
                  <a:gd name="connsiteY21" fmla="*/ 110580 h 322072"/>
                  <a:gd name="connsiteX22" fmla="*/ 183626 w 228472"/>
                  <a:gd name="connsiteY22" fmla="*/ 198337 h 32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8472" h="322072">
                    <a:moveTo>
                      <a:pt x="109458" y="291555"/>
                    </a:moveTo>
                    <a:lnTo>
                      <a:pt x="119237" y="291555"/>
                    </a:lnTo>
                    <a:cubicBezTo>
                      <a:pt x="137906" y="291555"/>
                      <a:pt x="152892" y="274664"/>
                      <a:pt x="152892" y="253836"/>
                    </a:cubicBezTo>
                    <a:lnTo>
                      <a:pt x="152892" y="214466"/>
                    </a:lnTo>
                    <a:cubicBezTo>
                      <a:pt x="140573" y="218911"/>
                      <a:pt x="127619" y="221070"/>
                      <a:pt x="114284" y="221070"/>
                    </a:cubicBezTo>
                    <a:cubicBezTo>
                      <a:pt x="101076" y="221070"/>
                      <a:pt x="88122" y="218911"/>
                      <a:pt x="75803" y="214466"/>
                    </a:cubicBezTo>
                    <a:lnTo>
                      <a:pt x="75803" y="253836"/>
                    </a:lnTo>
                    <a:cubicBezTo>
                      <a:pt x="75803" y="274664"/>
                      <a:pt x="90789" y="291555"/>
                      <a:pt x="109458" y="291555"/>
                    </a:cubicBezTo>
                    <a:moveTo>
                      <a:pt x="197850" y="110580"/>
                    </a:moveTo>
                    <a:cubicBezTo>
                      <a:pt x="197850" y="66638"/>
                      <a:pt x="160385" y="30824"/>
                      <a:pt x="114284" y="30824"/>
                    </a:cubicBezTo>
                    <a:cubicBezTo>
                      <a:pt x="68310" y="30824"/>
                      <a:pt x="30845" y="66638"/>
                      <a:pt x="30845" y="110580"/>
                    </a:cubicBezTo>
                    <a:cubicBezTo>
                      <a:pt x="30845" y="154649"/>
                      <a:pt x="68310" y="190463"/>
                      <a:pt x="114284" y="190463"/>
                    </a:cubicBezTo>
                    <a:cubicBezTo>
                      <a:pt x="160385" y="190463"/>
                      <a:pt x="197850" y="154649"/>
                      <a:pt x="197850" y="110580"/>
                    </a:cubicBezTo>
                    <a:moveTo>
                      <a:pt x="183626" y="198337"/>
                    </a:moveTo>
                    <a:lnTo>
                      <a:pt x="183626" y="253836"/>
                    </a:lnTo>
                    <a:cubicBezTo>
                      <a:pt x="183626" y="291555"/>
                      <a:pt x="154797" y="322162"/>
                      <a:pt x="119237" y="322162"/>
                    </a:cubicBezTo>
                    <a:lnTo>
                      <a:pt x="109458" y="322162"/>
                    </a:lnTo>
                    <a:cubicBezTo>
                      <a:pt x="73898" y="322162"/>
                      <a:pt x="45069" y="291555"/>
                      <a:pt x="45069" y="253836"/>
                    </a:cubicBezTo>
                    <a:lnTo>
                      <a:pt x="45069" y="198337"/>
                    </a:lnTo>
                    <a:cubicBezTo>
                      <a:pt x="16875" y="177382"/>
                      <a:pt x="111" y="144870"/>
                      <a:pt x="111" y="110580"/>
                    </a:cubicBezTo>
                    <a:cubicBezTo>
                      <a:pt x="111" y="49747"/>
                      <a:pt x="51419" y="90"/>
                      <a:pt x="114284" y="90"/>
                    </a:cubicBezTo>
                    <a:cubicBezTo>
                      <a:pt x="177276" y="90"/>
                      <a:pt x="228584" y="49747"/>
                      <a:pt x="228584" y="110580"/>
                    </a:cubicBezTo>
                    <a:cubicBezTo>
                      <a:pt x="228584" y="144870"/>
                      <a:pt x="211820" y="177382"/>
                      <a:pt x="183626" y="198337"/>
                    </a:cubicBezTo>
                  </a:path>
                </a:pathLst>
              </a:custGeom>
              <a:grp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21" name="Freeform: Shape 23">
                <a:extLst>
                  <a:ext uri="{FF2B5EF4-FFF2-40B4-BE49-F238E27FC236}">
                    <a16:creationId xmlns:a16="http://schemas.microsoft.com/office/drawing/2014/main" id="{A0519B41-3804-079C-AF01-55E86FDAAFA2}"/>
                  </a:ext>
                </a:extLst>
              </p:cNvPr>
              <p:cNvSpPr/>
              <p:nvPr/>
            </p:nvSpPr>
            <p:spPr>
              <a:xfrm flipV="1">
                <a:off x="6367246" y="3445842"/>
                <a:ext cx="48132" cy="66928"/>
              </a:xfrm>
              <a:custGeom>
                <a:avLst/>
                <a:gdLst>
                  <a:gd name="connsiteX0" fmla="*/ 109 w 48132"/>
                  <a:gd name="connsiteY0" fmla="*/ 43520 h 66928"/>
                  <a:gd name="connsiteX1" fmla="*/ 8999 w 48132"/>
                  <a:gd name="connsiteY1" fmla="*/ 25359 h 66928"/>
                  <a:gd name="connsiteX2" fmla="*/ 8999 w 48132"/>
                  <a:gd name="connsiteY2" fmla="*/ 11008 h 66928"/>
                  <a:gd name="connsiteX3" fmla="*/ 20048 w 48132"/>
                  <a:gd name="connsiteY3" fmla="*/ 86 h 66928"/>
                  <a:gd name="connsiteX4" fmla="*/ 28303 w 48132"/>
                  <a:gd name="connsiteY4" fmla="*/ 86 h 66928"/>
                  <a:gd name="connsiteX5" fmla="*/ 39352 w 48132"/>
                  <a:gd name="connsiteY5" fmla="*/ 11008 h 66928"/>
                  <a:gd name="connsiteX6" fmla="*/ 39352 w 48132"/>
                  <a:gd name="connsiteY6" fmla="*/ 25359 h 66928"/>
                  <a:gd name="connsiteX7" fmla="*/ 48242 w 48132"/>
                  <a:gd name="connsiteY7" fmla="*/ 43520 h 66928"/>
                  <a:gd name="connsiteX8" fmla="*/ 24112 w 48132"/>
                  <a:gd name="connsiteY8" fmla="*/ 67015 h 66928"/>
                  <a:gd name="connsiteX9" fmla="*/ 109 w 48132"/>
                  <a:gd name="connsiteY9" fmla="*/ 43520 h 6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132" h="66928">
                    <a:moveTo>
                      <a:pt x="109" y="43520"/>
                    </a:moveTo>
                    <a:cubicBezTo>
                      <a:pt x="109" y="36408"/>
                      <a:pt x="3411" y="29804"/>
                      <a:pt x="8999" y="25359"/>
                    </a:cubicBezTo>
                    <a:lnTo>
                      <a:pt x="8999" y="11008"/>
                    </a:lnTo>
                    <a:cubicBezTo>
                      <a:pt x="8999" y="4912"/>
                      <a:pt x="13952" y="86"/>
                      <a:pt x="20048" y="86"/>
                    </a:cubicBezTo>
                    <a:lnTo>
                      <a:pt x="28303" y="86"/>
                    </a:lnTo>
                    <a:cubicBezTo>
                      <a:pt x="34399" y="86"/>
                      <a:pt x="39352" y="4912"/>
                      <a:pt x="39352" y="11008"/>
                    </a:cubicBezTo>
                    <a:lnTo>
                      <a:pt x="39352" y="25359"/>
                    </a:lnTo>
                    <a:cubicBezTo>
                      <a:pt x="44940" y="29804"/>
                      <a:pt x="48242" y="36408"/>
                      <a:pt x="48242" y="43520"/>
                    </a:cubicBezTo>
                    <a:cubicBezTo>
                      <a:pt x="48242" y="56474"/>
                      <a:pt x="37447" y="67015"/>
                      <a:pt x="24112" y="67015"/>
                    </a:cubicBezTo>
                    <a:cubicBezTo>
                      <a:pt x="10904" y="67015"/>
                      <a:pt x="109" y="56474"/>
                      <a:pt x="109" y="43520"/>
                    </a:cubicBezTo>
                  </a:path>
                </a:pathLst>
              </a:custGeom>
              <a:grp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grpSp>
      </p:grpSp>
      <p:grpSp>
        <p:nvGrpSpPr>
          <p:cNvPr id="31" name="Group 30">
            <a:extLst>
              <a:ext uri="{FF2B5EF4-FFF2-40B4-BE49-F238E27FC236}">
                <a16:creationId xmlns:a16="http://schemas.microsoft.com/office/drawing/2014/main" id="{E669C0E9-BCC1-8B66-03B6-2D871DA8B79E}"/>
              </a:ext>
            </a:extLst>
          </p:cNvPr>
          <p:cNvGrpSpPr/>
          <p:nvPr/>
        </p:nvGrpSpPr>
        <p:grpSpPr>
          <a:xfrm>
            <a:off x="638009" y="2371116"/>
            <a:ext cx="4698966" cy="751879"/>
            <a:chOff x="646476" y="2379412"/>
            <a:chExt cx="4698966" cy="751879"/>
          </a:xfrm>
        </p:grpSpPr>
        <p:sp>
          <p:nvSpPr>
            <p:cNvPr id="13" name="Google Shape;5310;g34f6149356d_1_1328">
              <a:extLst>
                <a:ext uri="{FF2B5EF4-FFF2-40B4-BE49-F238E27FC236}">
                  <a16:creationId xmlns:a16="http://schemas.microsoft.com/office/drawing/2014/main" id="{A0EC49D4-30B4-E506-1891-18DEF0DCD3DE}"/>
                </a:ext>
              </a:extLst>
            </p:cNvPr>
            <p:cNvSpPr/>
            <p:nvPr/>
          </p:nvSpPr>
          <p:spPr>
            <a:xfrm>
              <a:off x="646476" y="2379412"/>
              <a:ext cx="751541" cy="751879"/>
            </a:xfrm>
            <a:prstGeom prst="ellipse">
              <a:avLst/>
            </a:prstGeom>
            <a:gradFill>
              <a:gsLst>
                <a:gs pos="0">
                  <a:schemeClr val="accent2"/>
                </a:gs>
                <a:gs pos="100000">
                  <a:schemeClr val="accent1"/>
                </a:gs>
              </a:gsLst>
              <a:lin ang="18900044" scaled="0"/>
            </a:gradFill>
            <a:ln>
              <a:noFill/>
            </a:ln>
            <a:effectLst>
              <a:outerShdw sx="120000" sy="120000" algn="ctr" rotWithShape="0">
                <a:schemeClr val="accent1">
                  <a:alpha val="24000"/>
                </a:schemeClr>
              </a:outerShdw>
            </a:effectLst>
          </p:spPr>
          <p:txBody>
            <a:bodyPr spcFirstLastPara="1" wrap="square" lIns="91350" tIns="45675" rIns="9135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3" name="TextBox 22">
              <a:extLst>
                <a:ext uri="{FF2B5EF4-FFF2-40B4-BE49-F238E27FC236}">
                  <a16:creationId xmlns:a16="http://schemas.microsoft.com/office/drawing/2014/main" id="{D5D129D6-4F82-C632-A466-4F3330174C1D}"/>
                </a:ext>
              </a:extLst>
            </p:cNvPr>
            <p:cNvSpPr txBox="1"/>
            <p:nvPr/>
          </p:nvSpPr>
          <p:spPr>
            <a:xfrm>
              <a:off x="1748783" y="2405080"/>
              <a:ext cx="3596659" cy="700542"/>
            </a:xfrm>
            <a:prstGeom prst="rect">
              <a:avLst/>
            </a:prstGeom>
            <a:noFill/>
          </p:spPr>
          <p:txBody>
            <a:bodyPr wrap="square" lIns="0" tIns="0" rIns="0" bIns="0" anchor="ctr">
              <a:noAutofit/>
            </a:bodyPr>
            <a:lstStyle/>
            <a:p>
              <a:pPr marL="0" marR="0" lvl="0" indent="7938" algn="l"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Build on top of VMware Cloud Foundation infrastructure for cost effectiveness</a:t>
              </a:r>
            </a:p>
          </p:txBody>
        </p:sp>
        <p:pic>
          <p:nvPicPr>
            <p:cNvPr id="24" name="Graphic 23">
              <a:extLst>
                <a:ext uri="{FF2B5EF4-FFF2-40B4-BE49-F238E27FC236}">
                  <a16:creationId xmlns:a16="http://schemas.microsoft.com/office/drawing/2014/main" id="{3195ACA3-BAF5-9E79-E9FE-91A67633296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59871" y="2546044"/>
              <a:ext cx="330486" cy="418615"/>
            </a:xfrm>
            <a:prstGeom prst="rect">
              <a:avLst/>
            </a:prstGeom>
          </p:spPr>
        </p:pic>
      </p:grpSp>
      <p:grpSp>
        <p:nvGrpSpPr>
          <p:cNvPr id="32" name="Group 31">
            <a:extLst>
              <a:ext uri="{FF2B5EF4-FFF2-40B4-BE49-F238E27FC236}">
                <a16:creationId xmlns:a16="http://schemas.microsoft.com/office/drawing/2014/main" id="{16DC0627-88CE-74D9-7FA1-BBE96B429CD2}"/>
              </a:ext>
            </a:extLst>
          </p:cNvPr>
          <p:cNvGrpSpPr/>
          <p:nvPr/>
        </p:nvGrpSpPr>
        <p:grpSpPr>
          <a:xfrm>
            <a:off x="638009" y="3528227"/>
            <a:ext cx="4675865" cy="751879"/>
            <a:chOff x="654943" y="3533873"/>
            <a:chExt cx="4675865" cy="751879"/>
          </a:xfrm>
        </p:grpSpPr>
        <p:sp>
          <p:nvSpPr>
            <p:cNvPr id="29" name="Google Shape;5310;g34f6149356d_1_1328">
              <a:extLst>
                <a:ext uri="{FF2B5EF4-FFF2-40B4-BE49-F238E27FC236}">
                  <a16:creationId xmlns:a16="http://schemas.microsoft.com/office/drawing/2014/main" id="{A8C9B885-28A3-B3BC-4D3E-D8CEE8378479}"/>
                </a:ext>
              </a:extLst>
            </p:cNvPr>
            <p:cNvSpPr/>
            <p:nvPr/>
          </p:nvSpPr>
          <p:spPr>
            <a:xfrm>
              <a:off x="654943" y="3533873"/>
              <a:ext cx="751541" cy="751879"/>
            </a:xfrm>
            <a:prstGeom prst="ellipse">
              <a:avLst/>
            </a:prstGeom>
            <a:gradFill>
              <a:gsLst>
                <a:gs pos="0">
                  <a:schemeClr val="accent2"/>
                </a:gs>
                <a:gs pos="100000">
                  <a:schemeClr val="accent3"/>
                </a:gs>
              </a:gsLst>
              <a:lin ang="18900044" scaled="0"/>
            </a:gradFill>
            <a:ln>
              <a:noFill/>
            </a:ln>
            <a:effectLst>
              <a:outerShdw sx="120000" sy="120000" algn="ctr" rotWithShape="0">
                <a:schemeClr val="accent3">
                  <a:alpha val="24000"/>
                </a:schemeClr>
              </a:outerShdw>
            </a:effectLst>
          </p:spPr>
          <p:txBody>
            <a:bodyPr spcFirstLastPara="1" wrap="square" lIns="91350" tIns="45675" rIns="9135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27" name="TextBox 26">
              <a:extLst>
                <a:ext uri="{FF2B5EF4-FFF2-40B4-BE49-F238E27FC236}">
                  <a16:creationId xmlns:a16="http://schemas.microsoft.com/office/drawing/2014/main" id="{1C36A13D-DC06-90D0-CCA2-22682B8F4194}"/>
                </a:ext>
              </a:extLst>
            </p:cNvPr>
            <p:cNvSpPr txBox="1"/>
            <p:nvPr/>
          </p:nvSpPr>
          <p:spPr>
            <a:xfrm>
              <a:off x="1748233" y="3559542"/>
              <a:ext cx="3582575" cy="700541"/>
            </a:xfrm>
            <a:prstGeom prst="rect">
              <a:avLst/>
            </a:prstGeom>
            <a:noFill/>
          </p:spPr>
          <p:txBody>
            <a:bodyPr wrap="square" lIns="0" tIns="0" rIns="0" bIns="0" anchor="ctr">
              <a:noAutofit/>
            </a:bodyPr>
            <a:lstStyle/>
            <a:p>
              <a:pPr marL="0" marR="0" lvl="0" indent="7938" algn="l"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Fine-tune / augment your choice of  LLM at Data Center and deploy for inferencing at the edge</a:t>
              </a:r>
            </a:p>
          </p:txBody>
        </p:sp>
        <p:grpSp>
          <p:nvGrpSpPr>
            <p:cNvPr id="28" name="Group 27">
              <a:extLst>
                <a:ext uri="{FF2B5EF4-FFF2-40B4-BE49-F238E27FC236}">
                  <a16:creationId xmlns:a16="http://schemas.microsoft.com/office/drawing/2014/main" id="{378541AF-9B14-65C3-71AC-9085A547146B}"/>
                </a:ext>
              </a:extLst>
            </p:cNvPr>
            <p:cNvGrpSpPr/>
            <p:nvPr/>
          </p:nvGrpSpPr>
          <p:grpSpPr>
            <a:xfrm>
              <a:off x="844659" y="3713437"/>
              <a:ext cx="360908" cy="392750"/>
              <a:chOff x="783546" y="4088124"/>
              <a:chExt cx="480494" cy="522886"/>
            </a:xfrm>
          </p:grpSpPr>
          <p:sp>
            <p:nvSpPr>
              <p:cNvPr id="3168" name="Freeform: Shape 26">
                <a:extLst>
                  <a:ext uri="{FF2B5EF4-FFF2-40B4-BE49-F238E27FC236}">
                    <a16:creationId xmlns:a16="http://schemas.microsoft.com/office/drawing/2014/main" id="{09329F2C-9AA2-4F03-1073-895C12284EC2}"/>
                  </a:ext>
                </a:extLst>
              </p:cNvPr>
              <p:cNvSpPr/>
              <p:nvPr/>
            </p:nvSpPr>
            <p:spPr>
              <a:xfrm>
                <a:off x="862969" y="4151577"/>
                <a:ext cx="124080" cy="70801"/>
              </a:xfrm>
              <a:custGeom>
                <a:avLst/>
                <a:gdLst>
                  <a:gd name="connsiteX0" fmla="*/ 0 w 182914"/>
                  <a:gd name="connsiteY0" fmla="*/ 104373 h 104372"/>
                  <a:gd name="connsiteX1" fmla="*/ 182914 w 182914"/>
                  <a:gd name="connsiteY1" fmla="*/ 0 h 104372"/>
                </a:gdLst>
                <a:ahLst/>
                <a:cxnLst>
                  <a:cxn ang="0">
                    <a:pos x="connsiteX0" y="connsiteY0"/>
                  </a:cxn>
                  <a:cxn ang="0">
                    <a:pos x="connsiteX1" y="connsiteY1"/>
                  </a:cxn>
                </a:cxnLst>
                <a:rect l="l" t="t" r="r" b="b"/>
                <a:pathLst>
                  <a:path w="182914" h="104372">
                    <a:moveTo>
                      <a:pt x="0" y="104373"/>
                    </a:moveTo>
                    <a:lnTo>
                      <a:pt x="182914"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69" name="Freeform: Shape 27">
                <a:extLst>
                  <a:ext uri="{FF2B5EF4-FFF2-40B4-BE49-F238E27FC236}">
                    <a16:creationId xmlns:a16="http://schemas.microsoft.com/office/drawing/2014/main" id="{B6C51DDA-14A1-D49F-8443-DD53BA621721}"/>
                  </a:ext>
                </a:extLst>
              </p:cNvPr>
              <p:cNvSpPr/>
              <p:nvPr/>
            </p:nvSpPr>
            <p:spPr>
              <a:xfrm>
                <a:off x="1023794" y="4172916"/>
                <a:ext cx="14132" cy="127188"/>
              </a:xfrm>
              <a:custGeom>
                <a:avLst/>
                <a:gdLst>
                  <a:gd name="connsiteX0" fmla="*/ 0 w 20833"/>
                  <a:gd name="connsiteY0" fmla="*/ 187496 h 187495"/>
                  <a:gd name="connsiteX1" fmla="*/ 0 w 20833"/>
                  <a:gd name="connsiteY1" fmla="*/ 0 h 187495"/>
                </a:gdLst>
                <a:ahLst/>
                <a:cxnLst>
                  <a:cxn ang="0">
                    <a:pos x="connsiteX0" y="connsiteY0"/>
                  </a:cxn>
                  <a:cxn ang="0">
                    <a:pos x="connsiteX1" y="connsiteY1"/>
                  </a:cxn>
                </a:cxnLst>
                <a:rect l="l" t="t" r="r" b="b"/>
                <a:pathLst>
                  <a:path w="20833" h="187495">
                    <a:moveTo>
                      <a:pt x="0" y="187496"/>
                    </a:moveTo>
                    <a:lnTo>
                      <a:pt x="0"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0" name="Freeform: Shape 28">
                <a:extLst>
                  <a:ext uri="{FF2B5EF4-FFF2-40B4-BE49-F238E27FC236}">
                    <a16:creationId xmlns:a16="http://schemas.microsoft.com/office/drawing/2014/main" id="{22C64A2D-7AE2-D948-2FAD-A9F6076C36C3}"/>
                  </a:ext>
                </a:extLst>
              </p:cNvPr>
              <p:cNvSpPr/>
              <p:nvPr/>
            </p:nvSpPr>
            <p:spPr>
              <a:xfrm>
                <a:off x="1023794" y="4384897"/>
                <a:ext cx="14132" cy="141320"/>
              </a:xfrm>
              <a:custGeom>
                <a:avLst/>
                <a:gdLst>
                  <a:gd name="connsiteX0" fmla="*/ 0 w 20833"/>
                  <a:gd name="connsiteY0" fmla="*/ 208329 h 208328"/>
                  <a:gd name="connsiteX1" fmla="*/ 0 w 20833"/>
                  <a:gd name="connsiteY1" fmla="*/ 0 h 208328"/>
                </a:gdLst>
                <a:ahLst/>
                <a:cxnLst>
                  <a:cxn ang="0">
                    <a:pos x="connsiteX0" y="connsiteY0"/>
                  </a:cxn>
                  <a:cxn ang="0">
                    <a:pos x="connsiteX1" y="connsiteY1"/>
                  </a:cxn>
                </a:cxnLst>
                <a:rect l="l" t="t" r="r" b="b"/>
                <a:pathLst>
                  <a:path w="20833" h="208328">
                    <a:moveTo>
                      <a:pt x="0" y="208329"/>
                    </a:moveTo>
                    <a:lnTo>
                      <a:pt x="0"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1" name="Freeform: Shape 29">
                <a:extLst>
                  <a:ext uri="{FF2B5EF4-FFF2-40B4-BE49-F238E27FC236}">
                    <a16:creationId xmlns:a16="http://schemas.microsoft.com/office/drawing/2014/main" id="{CF21DF9B-E7C3-49FF-1D7B-77C0BA1F9D96}"/>
                  </a:ext>
                </a:extLst>
              </p:cNvPr>
              <p:cNvSpPr/>
              <p:nvPr/>
            </p:nvSpPr>
            <p:spPr>
              <a:xfrm>
                <a:off x="863817" y="4361438"/>
                <a:ext cx="122102" cy="61050"/>
              </a:xfrm>
              <a:custGeom>
                <a:avLst/>
                <a:gdLst>
                  <a:gd name="connsiteX0" fmla="*/ 0 w 179997"/>
                  <a:gd name="connsiteY0" fmla="*/ 89998 h 89997"/>
                  <a:gd name="connsiteX1" fmla="*/ 179998 w 179997"/>
                  <a:gd name="connsiteY1" fmla="*/ 0 h 89997"/>
                </a:gdLst>
                <a:ahLst/>
                <a:cxnLst>
                  <a:cxn ang="0">
                    <a:pos x="connsiteX0" y="connsiteY0"/>
                  </a:cxn>
                  <a:cxn ang="0">
                    <a:pos x="connsiteX1" y="connsiteY1"/>
                  </a:cxn>
                </a:cxnLst>
                <a:rect l="l" t="t" r="r" b="b"/>
                <a:pathLst>
                  <a:path w="179997" h="89997">
                    <a:moveTo>
                      <a:pt x="0" y="89998"/>
                    </a:moveTo>
                    <a:lnTo>
                      <a:pt x="179998"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2" name="Freeform: Shape 30">
                <a:extLst>
                  <a:ext uri="{FF2B5EF4-FFF2-40B4-BE49-F238E27FC236}">
                    <a16:creationId xmlns:a16="http://schemas.microsoft.com/office/drawing/2014/main" id="{C907B2EF-1FB7-B860-4B39-0A2BCC7CD333}"/>
                  </a:ext>
                </a:extLst>
              </p:cNvPr>
              <p:cNvSpPr/>
              <p:nvPr/>
            </p:nvSpPr>
            <p:spPr>
              <a:xfrm>
                <a:off x="863817" y="4262514"/>
                <a:ext cx="122102" cy="61050"/>
              </a:xfrm>
              <a:custGeom>
                <a:avLst/>
                <a:gdLst>
                  <a:gd name="connsiteX0" fmla="*/ 0 w 179997"/>
                  <a:gd name="connsiteY0" fmla="*/ 0 h 89997"/>
                  <a:gd name="connsiteX1" fmla="*/ 179998 w 179997"/>
                  <a:gd name="connsiteY1" fmla="*/ 89998 h 89997"/>
                </a:gdLst>
                <a:ahLst/>
                <a:cxnLst>
                  <a:cxn ang="0">
                    <a:pos x="connsiteX0" y="connsiteY0"/>
                  </a:cxn>
                  <a:cxn ang="0">
                    <a:pos x="connsiteX1" y="connsiteY1"/>
                  </a:cxn>
                </a:cxnLst>
                <a:rect l="l" t="t" r="r" b="b"/>
                <a:pathLst>
                  <a:path w="179997" h="89997">
                    <a:moveTo>
                      <a:pt x="0" y="0"/>
                    </a:moveTo>
                    <a:lnTo>
                      <a:pt x="179998" y="89998"/>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3" name="Freeform: Shape 31">
                <a:extLst>
                  <a:ext uri="{FF2B5EF4-FFF2-40B4-BE49-F238E27FC236}">
                    <a16:creationId xmlns:a16="http://schemas.microsoft.com/office/drawing/2014/main" id="{3507E6B9-DE18-B657-6096-849369ECB716}"/>
                  </a:ext>
                </a:extLst>
              </p:cNvPr>
              <p:cNvSpPr/>
              <p:nvPr/>
            </p:nvSpPr>
            <p:spPr>
              <a:xfrm>
                <a:off x="861556" y="4464319"/>
                <a:ext cx="126624" cy="81400"/>
              </a:xfrm>
              <a:custGeom>
                <a:avLst/>
                <a:gdLst>
                  <a:gd name="connsiteX0" fmla="*/ 0 w 186664"/>
                  <a:gd name="connsiteY0" fmla="*/ 0 h 119997"/>
                  <a:gd name="connsiteX1" fmla="*/ 186664 w 186664"/>
                  <a:gd name="connsiteY1" fmla="*/ 119997 h 119997"/>
                </a:gdLst>
                <a:ahLst/>
                <a:cxnLst>
                  <a:cxn ang="0">
                    <a:pos x="connsiteX0" y="connsiteY0"/>
                  </a:cxn>
                  <a:cxn ang="0">
                    <a:pos x="connsiteX1" y="connsiteY1"/>
                  </a:cxn>
                </a:cxnLst>
                <a:rect l="l" t="t" r="r" b="b"/>
                <a:pathLst>
                  <a:path w="186664" h="119997">
                    <a:moveTo>
                      <a:pt x="0" y="0"/>
                    </a:moveTo>
                    <a:lnTo>
                      <a:pt x="186664" y="119997"/>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4" name="Freeform: Shape 32">
                <a:extLst>
                  <a:ext uri="{FF2B5EF4-FFF2-40B4-BE49-F238E27FC236}">
                    <a16:creationId xmlns:a16="http://schemas.microsoft.com/office/drawing/2014/main" id="{1A1E21CF-F4BF-301E-B009-865454288931}"/>
                  </a:ext>
                </a:extLst>
              </p:cNvPr>
              <p:cNvSpPr/>
              <p:nvPr/>
            </p:nvSpPr>
            <p:spPr>
              <a:xfrm>
                <a:off x="847989" y="4279755"/>
                <a:ext cx="153758" cy="252681"/>
              </a:xfrm>
              <a:custGeom>
                <a:avLst/>
                <a:gdLst>
                  <a:gd name="connsiteX0" fmla="*/ 0 w 226663"/>
                  <a:gd name="connsiteY0" fmla="*/ 0 h 372491"/>
                  <a:gd name="connsiteX1" fmla="*/ 226664 w 226663"/>
                  <a:gd name="connsiteY1" fmla="*/ 372492 h 372491"/>
                </a:gdLst>
                <a:ahLst/>
                <a:cxnLst>
                  <a:cxn ang="0">
                    <a:pos x="connsiteX0" y="connsiteY0"/>
                  </a:cxn>
                  <a:cxn ang="0">
                    <a:pos x="connsiteX1" y="connsiteY1"/>
                  </a:cxn>
                </a:cxnLst>
                <a:rect l="l" t="t" r="r" b="b"/>
                <a:pathLst>
                  <a:path w="226663" h="372491">
                    <a:moveTo>
                      <a:pt x="0" y="0"/>
                    </a:moveTo>
                    <a:lnTo>
                      <a:pt x="226664" y="372492"/>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5" name="Freeform: Shape 375">
                <a:extLst>
                  <a:ext uri="{FF2B5EF4-FFF2-40B4-BE49-F238E27FC236}">
                    <a16:creationId xmlns:a16="http://schemas.microsoft.com/office/drawing/2014/main" id="{F4B67279-CD5B-DD14-E06E-9C7299BDCC87}"/>
                  </a:ext>
                </a:extLst>
              </p:cNvPr>
              <p:cNvSpPr/>
              <p:nvPr/>
            </p:nvSpPr>
            <p:spPr>
              <a:xfrm>
                <a:off x="848413" y="4166274"/>
                <a:ext cx="152627" cy="239820"/>
              </a:xfrm>
              <a:custGeom>
                <a:avLst/>
                <a:gdLst>
                  <a:gd name="connsiteX0" fmla="*/ 0 w 224997"/>
                  <a:gd name="connsiteY0" fmla="*/ 353534 h 353533"/>
                  <a:gd name="connsiteX1" fmla="*/ 224997 w 224997"/>
                  <a:gd name="connsiteY1" fmla="*/ 0 h 353533"/>
                </a:gdLst>
                <a:ahLst/>
                <a:cxnLst>
                  <a:cxn ang="0">
                    <a:pos x="connsiteX0" y="connsiteY0"/>
                  </a:cxn>
                  <a:cxn ang="0">
                    <a:pos x="connsiteX1" y="connsiteY1"/>
                  </a:cxn>
                </a:cxnLst>
                <a:rect l="l" t="t" r="r" b="b"/>
                <a:pathLst>
                  <a:path w="224997" h="353533">
                    <a:moveTo>
                      <a:pt x="0" y="353534"/>
                    </a:moveTo>
                    <a:lnTo>
                      <a:pt x="224997"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6" name="Freeform: Shape 376">
                <a:extLst>
                  <a:ext uri="{FF2B5EF4-FFF2-40B4-BE49-F238E27FC236}">
                    <a16:creationId xmlns:a16="http://schemas.microsoft.com/office/drawing/2014/main" id="{8981C9EE-C64E-9A4A-5C9A-BCEFF4BAE9B5}"/>
                  </a:ext>
                </a:extLst>
              </p:cNvPr>
              <p:cNvSpPr/>
              <p:nvPr/>
            </p:nvSpPr>
            <p:spPr>
              <a:xfrm>
                <a:off x="1060820" y="4151718"/>
                <a:ext cx="124080" cy="70801"/>
              </a:xfrm>
              <a:custGeom>
                <a:avLst/>
                <a:gdLst>
                  <a:gd name="connsiteX0" fmla="*/ 182914 w 182914"/>
                  <a:gd name="connsiteY0" fmla="*/ 104373 h 104372"/>
                  <a:gd name="connsiteX1" fmla="*/ 0 w 182914"/>
                  <a:gd name="connsiteY1" fmla="*/ 0 h 104372"/>
                </a:gdLst>
                <a:ahLst/>
                <a:cxnLst>
                  <a:cxn ang="0">
                    <a:pos x="connsiteX0" y="connsiteY0"/>
                  </a:cxn>
                  <a:cxn ang="0">
                    <a:pos x="connsiteX1" y="connsiteY1"/>
                  </a:cxn>
                </a:cxnLst>
                <a:rect l="l" t="t" r="r" b="b"/>
                <a:pathLst>
                  <a:path w="182914" h="104372">
                    <a:moveTo>
                      <a:pt x="182914" y="104373"/>
                    </a:moveTo>
                    <a:lnTo>
                      <a:pt x="0"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7" name="Freeform: Shape 377">
                <a:extLst>
                  <a:ext uri="{FF2B5EF4-FFF2-40B4-BE49-F238E27FC236}">
                    <a16:creationId xmlns:a16="http://schemas.microsoft.com/office/drawing/2014/main" id="{C6D0FE92-A17A-4FEF-9212-BEE394744F46}"/>
                  </a:ext>
                </a:extLst>
              </p:cNvPr>
              <p:cNvSpPr/>
              <p:nvPr/>
            </p:nvSpPr>
            <p:spPr>
              <a:xfrm>
                <a:off x="1061668" y="4361438"/>
                <a:ext cx="117580" cy="58789"/>
              </a:xfrm>
              <a:custGeom>
                <a:avLst/>
                <a:gdLst>
                  <a:gd name="connsiteX0" fmla="*/ 173331 w 173331"/>
                  <a:gd name="connsiteY0" fmla="*/ 86665 h 86664"/>
                  <a:gd name="connsiteX1" fmla="*/ 0 w 173331"/>
                  <a:gd name="connsiteY1" fmla="*/ 0 h 86664"/>
                </a:gdLst>
                <a:ahLst/>
                <a:cxnLst>
                  <a:cxn ang="0">
                    <a:pos x="connsiteX0" y="connsiteY0"/>
                  </a:cxn>
                  <a:cxn ang="0">
                    <a:pos x="connsiteX1" y="connsiteY1"/>
                  </a:cxn>
                </a:cxnLst>
                <a:rect l="l" t="t" r="r" b="b"/>
                <a:pathLst>
                  <a:path w="173331" h="86664">
                    <a:moveTo>
                      <a:pt x="173331" y="86665"/>
                    </a:moveTo>
                    <a:lnTo>
                      <a:pt x="0"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8" name="Freeform: Shape 378">
                <a:extLst>
                  <a:ext uri="{FF2B5EF4-FFF2-40B4-BE49-F238E27FC236}">
                    <a16:creationId xmlns:a16="http://schemas.microsoft.com/office/drawing/2014/main" id="{F89EA4F0-8392-16F2-EF4E-4C3F6AAA52BB}"/>
                  </a:ext>
                </a:extLst>
              </p:cNvPr>
              <p:cNvSpPr/>
              <p:nvPr/>
            </p:nvSpPr>
            <p:spPr>
              <a:xfrm>
                <a:off x="1061668" y="4263644"/>
                <a:ext cx="119982" cy="59920"/>
              </a:xfrm>
              <a:custGeom>
                <a:avLst/>
                <a:gdLst>
                  <a:gd name="connsiteX0" fmla="*/ 176873 w 176872"/>
                  <a:gd name="connsiteY0" fmla="*/ 0 h 88331"/>
                  <a:gd name="connsiteX1" fmla="*/ 0 w 176872"/>
                  <a:gd name="connsiteY1" fmla="*/ 88331 h 88331"/>
                </a:gdLst>
                <a:ahLst/>
                <a:cxnLst>
                  <a:cxn ang="0">
                    <a:pos x="connsiteX0" y="connsiteY0"/>
                  </a:cxn>
                  <a:cxn ang="0">
                    <a:pos x="connsiteX1" y="connsiteY1"/>
                  </a:cxn>
                </a:cxnLst>
                <a:rect l="l" t="t" r="r" b="b"/>
                <a:pathLst>
                  <a:path w="176872" h="88331">
                    <a:moveTo>
                      <a:pt x="176873" y="0"/>
                    </a:moveTo>
                    <a:lnTo>
                      <a:pt x="0" y="88331"/>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79" name="Freeform: Shape 379">
                <a:extLst>
                  <a:ext uri="{FF2B5EF4-FFF2-40B4-BE49-F238E27FC236}">
                    <a16:creationId xmlns:a16="http://schemas.microsoft.com/office/drawing/2014/main" id="{A37B3978-7F64-5BA0-4FD0-70EB14632877}"/>
                  </a:ext>
                </a:extLst>
              </p:cNvPr>
              <p:cNvSpPr/>
              <p:nvPr/>
            </p:nvSpPr>
            <p:spPr>
              <a:xfrm>
                <a:off x="1059124" y="4463895"/>
                <a:ext cx="123091" cy="81400"/>
              </a:xfrm>
              <a:custGeom>
                <a:avLst/>
                <a:gdLst>
                  <a:gd name="connsiteX0" fmla="*/ 181456 w 181456"/>
                  <a:gd name="connsiteY0" fmla="*/ 0 h 119997"/>
                  <a:gd name="connsiteX1" fmla="*/ 0 w 181456"/>
                  <a:gd name="connsiteY1" fmla="*/ 119997 h 119997"/>
                </a:gdLst>
                <a:ahLst/>
                <a:cxnLst>
                  <a:cxn ang="0">
                    <a:pos x="connsiteX0" y="connsiteY0"/>
                  </a:cxn>
                  <a:cxn ang="0">
                    <a:pos x="connsiteX1" y="connsiteY1"/>
                  </a:cxn>
                </a:cxnLst>
                <a:rect l="l" t="t" r="r" b="b"/>
                <a:pathLst>
                  <a:path w="181456" h="119997">
                    <a:moveTo>
                      <a:pt x="181456" y="0"/>
                    </a:moveTo>
                    <a:lnTo>
                      <a:pt x="0" y="119997"/>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0" name="Freeform: Shape 380">
                <a:extLst>
                  <a:ext uri="{FF2B5EF4-FFF2-40B4-BE49-F238E27FC236}">
                    <a16:creationId xmlns:a16="http://schemas.microsoft.com/office/drawing/2014/main" id="{DBFE2BED-A527-A6B1-9F84-D80D86BEB2BA}"/>
                  </a:ext>
                </a:extLst>
              </p:cNvPr>
              <p:cNvSpPr/>
              <p:nvPr/>
            </p:nvSpPr>
            <p:spPr>
              <a:xfrm>
                <a:off x="1045698" y="4279331"/>
                <a:ext cx="153193" cy="252964"/>
              </a:xfrm>
              <a:custGeom>
                <a:avLst/>
                <a:gdLst>
                  <a:gd name="connsiteX0" fmla="*/ 225831 w 225830"/>
                  <a:gd name="connsiteY0" fmla="*/ 0 h 372908"/>
                  <a:gd name="connsiteX1" fmla="*/ 0 w 225830"/>
                  <a:gd name="connsiteY1" fmla="*/ 372908 h 372908"/>
                </a:gdLst>
                <a:ahLst/>
                <a:cxnLst>
                  <a:cxn ang="0">
                    <a:pos x="connsiteX0" y="connsiteY0"/>
                  </a:cxn>
                  <a:cxn ang="0">
                    <a:pos x="connsiteX1" y="connsiteY1"/>
                  </a:cxn>
                </a:cxnLst>
                <a:rect l="l" t="t" r="r" b="b"/>
                <a:pathLst>
                  <a:path w="225830" h="372908">
                    <a:moveTo>
                      <a:pt x="225831" y="0"/>
                    </a:moveTo>
                    <a:lnTo>
                      <a:pt x="0" y="372908"/>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1" name="Freeform: Shape 381">
                <a:extLst>
                  <a:ext uri="{FF2B5EF4-FFF2-40B4-BE49-F238E27FC236}">
                    <a16:creationId xmlns:a16="http://schemas.microsoft.com/office/drawing/2014/main" id="{5D1781EF-480E-D096-80A9-5010C54E0405}"/>
                  </a:ext>
                </a:extLst>
              </p:cNvPr>
              <p:cNvSpPr/>
              <p:nvPr/>
            </p:nvSpPr>
            <p:spPr>
              <a:xfrm>
                <a:off x="1046546" y="4166274"/>
                <a:ext cx="152345" cy="239396"/>
              </a:xfrm>
              <a:custGeom>
                <a:avLst/>
                <a:gdLst>
                  <a:gd name="connsiteX0" fmla="*/ 224581 w 224580"/>
                  <a:gd name="connsiteY0" fmla="*/ 352909 h 352908"/>
                  <a:gd name="connsiteX1" fmla="*/ 0 w 224580"/>
                  <a:gd name="connsiteY1" fmla="*/ 0 h 352908"/>
                </a:gdLst>
                <a:ahLst/>
                <a:cxnLst>
                  <a:cxn ang="0">
                    <a:pos x="connsiteX0" y="connsiteY0"/>
                  </a:cxn>
                  <a:cxn ang="0">
                    <a:pos x="connsiteX1" y="connsiteY1"/>
                  </a:cxn>
                </a:cxnLst>
                <a:rect l="l" t="t" r="r" b="b"/>
                <a:pathLst>
                  <a:path w="224580" h="352908">
                    <a:moveTo>
                      <a:pt x="224581" y="352909"/>
                    </a:moveTo>
                    <a:lnTo>
                      <a:pt x="0" y="0"/>
                    </a:lnTo>
                  </a:path>
                </a:pathLst>
              </a:custGeom>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2" name="Freeform: Shape 382">
                <a:extLst>
                  <a:ext uri="{FF2B5EF4-FFF2-40B4-BE49-F238E27FC236}">
                    <a16:creationId xmlns:a16="http://schemas.microsoft.com/office/drawing/2014/main" id="{740974D2-885C-6510-7B61-ED49A0FBB12D}"/>
                  </a:ext>
                </a:extLst>
              </p:cNvPr>
              <p:cNvSpPr/>
              <p:nvPr/>
            </p:nvSpPr>
            <p:spPr>
              <a:xfrm>
                <a:off x="981397" y="4526218"/>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3" name="Freeform: Shape 383">
                <a:extLst>
                  <a:ext uri="{FF2B5EF4-FFF2-40B4-BE49-F238E27FC236}">
                    <a16:creationId xmlns:a16="http://schemas.microsoft.com/office/drawing/2014/main" id="{945BDA6D-DC6B-A551-DBFE-F0662ABB9C6F}"/>
                  </a:ext>
                </a:extLst>
              </p:cNvPr>
              <p:cNvSpPr/>
              <p:nvPr/>
            </p:nvSpPr>
            <p:spPr>
              <a:xfrm>
                <a:off x="981397" y="4300105"/>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4" name="Freeform: Shape 384">
                <a:extLst>
                  <a:ext uri="{FF2B5EF4-FFF2-40B4-BE49-F238E27FC236}">
                    <a16:creationId xmlns:a16="http://schemas.microsoft.com/office/drawing/2014/main" id="{4114B57C-D840-2891-88E4-E8E4BBCB1A54}"/>
                  </a:ext>
                </a:extLst>
              </p:cNvPr>
              <p:cNvSpPr/>
              <p:nvPr/>
            </p:nvSpPr>
            <p:spPr>
              <a:xfrm>
                <a:off x="981397" y="4088124"/>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5" name="Freeform: Shape 385">
                <a:extLst>
                  <a:ext uri="{FF2B5EF4-FFF2-40B4-BE49-F238E27FC236}">
                    <a16:creationId xmlns:a16="http://schemas.microsoft.com/office/drawing/2014/main" id="{6AF237C5-9855-218E-D868-6517E4254BC8}"/>
                  </a:ext>
                </a:extLst>
              </p:cNvPr>
              <p:cNvSpPr/>
              <p:nvPr/>
            </p:nvSpPr>
            <p:spPr>
              <a:xfrm>
                <a:off x="1179247" y="4201180"/>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6" name="Freeform: Shape 386">
                <a:extLst>
                  <a:ext uri="{FF2B5EF4-FFF2-40B4-BE49-F238E27FC236}">
                    <a16:creationId xmlns:a16="http://schemas.microsoft.com/office/drawing/2014/main" id="{F25B68AA-95D9-DAFE-695B-275BA6F4396E}"/>
                  </a:ext>
                </a:extLst>
              </p:cNvPr>
              <p:cNvSpPr/>
              <p:nvPr/>
            </p:nvSpPr>
            <p:spPr>
              <a:xfrm>
                <a:off x="1179247" y="4399029"/>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7" name="Freeform: Shape 387">
                <a:extLst>
                  <a:ext uri="{FF2B5EF4-FFF2-40B4-BE49-F238E27FC236}">
                    <a16:creationId xmlns:a16="http://schemas.microsoft.com/office/drawing/2014/main" id="{DBEF5CA9-C9F6-9194-CB22-0B7A283BAD6E}"/>
                  </a:ext>
                </a:extLst>
              </p:cNvPr>
              <p:cNvSpPr/>
              <p:nvPr/>
            </p:nvSpPr>
            <p:spPr>
              <a:xfrm>
                <a:off x="783546" y="4201180"/>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88" name="Freeform: Shape 388">
                <a:extLst>
                  <a:ext uri="{FF2B5EF4-FFF2-40B4-BE49-F238E27FC236}">
                    <a16:creationId xmlns:a16="http://schemas.microsoft.com/office/drawing/2014/main" id="{FF54702C-8754-0C94-3447-5F1A49534579}"/>
                  </a:ext>
                </a:extLst>
              </p:cNvPr>
              <p:cNvSpPr/>
              <p:nvPr/>
            </p:nvSpPr>
            <p:spPr>
              <a:xfrm>
                <a:off x="783546" y="4399029"/>
                <a:ext cx="84793" cy="84792"/>
              </a:xfrm>
              <a:custGeom>
                <a:avLst/>
                <a:gdLst>
                  <a:gd name="connsiteX0" fmla="*/ 124999 w 124998"/>
                  <a:gd name="connsiteY0" fmla="*/ 62499 h 124997"/>
                  <a:gd name="connsiteX1" fmla="*/ 62499 w 124998"/>
                  <a:gd name="connsiteY1" fmla="*/ 124997 h 124997"/>
                  <a:gd name="connsiteX2" fmla="*/ 0 w 124998"/>
                  <a:gd name="connsiteY2" fmla="*/ 62499 h 124997"/>
                  <a:gd name="connsiteX3" fmla="*/ 62499 w 124998"/>
                  <a:gd name="connsiteY3" fmla="*/ 0 h 124997"/>
                  <a:gd name="connsiteX4" fmla="*/ 124999 w 124998"/>
                  <a:gd name="connsiteY4" fmla="*/ 62499 h 124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98" h="124997">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905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grpSp>
      </p:grpSp>
      <p:grpSp>
        <p:nvGrpSpPr>
          <p:cNvPr id="33" name="Group 32">
            <a:extLst>
              <a:ext uri="{FF2B5EF4-FFF2-40B4-BE49-F238E27FC236}">
                <a16:creationId xmlns:a16="http://schemas.microsoft.com/office/drawing/2014/main" id="{40795A04-DD2A-07FF-4F75-65D8B7CA2425}"/>
              </a:ext>
            </a:extLst>
          </p:cNvPr>
          <p:cNvGrpSpPr/>
          <p:nvPr/>
        </p:nvGrpSpPr>
        <p:grpSpPr>
          <a:xfrm>
            <a:off x="638009" y="4685339"/>
            <a:ext cx="4698966" cy="751879"/>
            <a:chOff x="646476" y="4685339"/>
            <a:chExt cx="4698966" cy="751879"/>
          </a:xfrm>
        </p:grpSpPr>
        <p:sp>
          <p:nvSpPr>
            <p:cNvPr id="16" name="Google Shape;5310;g34f6149356d_1_1328">
              <a:extLst>
                <a:ext uri="{FF2B5EF4-FFF2-40B4-BE49-F238E27FC236}">
                  <a16:creationId xmlns:a16="http://schemas.microsoft.com/office/drawing/2014/main" id="{C96A203E-4655-844D-2A9C-32419CAA82F5}"/>
                </a:ext>
              </a:extLst>
            </p:cNvPr>
            <p:cNvSpPr/>
            <p:nvPr/>
          </p:nvSpPr>
          <p:spPr>
            <a:xfrm>
              <a:off x="646476" y="4685339"/>
              <a:ext cx="751541" cy="751879"/>
            </a:xfrm>
            <a:prstGeom prst="ellipse">
              <a:avLst/>
            </a:prstGeom>
            <a:gradFill>
              <a:gsLst>
                <a:gs pos="15000">
                  <a:schemeClr val="accent2"/>
                </a:gs>
                <a:gs pos="100000">
                  <a:schemeClr val="accent4"/>
                </a:gs>
              </a:gsLst>
              <a:lin ang="18900044" scaled="0"/>
            </a:gradFill>
            <a:ln>
              <a:noFill/>
            </a:ln>
            <a:effectLst>
              <a:outerShdw sx="120000" sy="120000" algn="ctr" rotWithShape="0">
                <a:schemeClr val="accent4">
                  <a:alpha val="24000"/>
                </a:schemeClr>
              </a:outerShdw>
            </a:effectLst>
          </p:spPr>
          <p:txBody>
            <a:bodyPr spcFirstLastPara="1" wrap="square" lIns="91350" tIns="45675" rIns="9135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190" name="TextBox 3189">
              <a:extLst>
                <a:ext uri="{FF2B5EF4-FFF2-40B4-BE49-F238E27FC236}">
                  <a16:creationId xmlns:a16="http://schemas.microsoft.com/office/drawing/2014/main" id="{85129A16-5ED7-FF4E-CB57-C70A54F9E773}"/>
                </a:ext>
              </a:extLst>
            </p:cNvPr>
            <p:cNvSpPr txBox="1"/>
            <p:nvPr/>
          </p:nvSpPr>
          <p:spPr>
            <a:xfrm>
              <a:off x="1736840" y="4798115"/>
              <a:ext cx="3608602" cy="526326"/>
            </a:xfrm>
            <a:prstGeom prst="rect">
              <a:avLst/>
            </a:prstGeom>
            <a:noFill/>
          </p:spPr>
          <p:txBody>
            <a:bodyPr wrap="square" lIns="0" tIns="0" rIns="0" bIns="0" anchor="ctr">
              <a:noAutofit/>
            </a:bodyPr>
            <a:lstStyle/>
            <a:p>
              <a:pPr marL="0" marR="0" lvl="0" indent="7938" algn="l" defTabSz="914400" rtl="0" eaLnBrk="1" fontAlgn="auto" latinLnBrk="0" hangingPunct="1">
                <a:lnSpc>
                  <a:spcPct val="100000"/>
                </a:lnSpc>
                <a:spcBef>
                  <a:spcPts val="600"/>
                </a:spcBef>
                <a:spcAft>
                  <a:spcPts val="1200"/>
                </a:spcAft>
                <a:buClr>
                  <a:srgbClr val="000000">
                    <a:lumMod val="60000"/>
                    <a:lumOff val="40000"/>
                  </a:srgbClr>
                </a:buClr>
                <a:buSzPct val="90000"/>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rPr>
                <a:t>Run AI inference applications at the edge for specialized use-cases</a:t>
              </a:r>
            </a:p>
          </p:txBody>
        </p:sp>
        <p:grpSp>
          <p:nvGrpSpPr>
            <p:cNvPr id="3191" name="Graphic 390">
              <a:extLst>
                <a:ext uri="{FF2B5EF4-FFF2-40B4-BE49-F238E27FC236}">
                  <a16:creationId xmlns:a16="http://schemas.microsoft.com/office/drawing/2014/main" id="{85F8654F-57C4-7632-55D3-B50835507B10}"/>
                </a:ext>
              </a:extLst>
            </p:cNvPr>
            <p:cNvGrpSpPr/>
            <p:nvPr/>
          </p:nvGrpSpPr>
          <p:grpSpPr>
            <a:xfrm>
              <a:off x="823812" y="4859978"/>
              <a:ext cx="402606" cy="402601"/>
              <a:chOff x="3168670" y="1952729"/>
              <a:chExt cx="561765" cy="561763"/>
            </a:xfrm>
            <a:solidFill>
              <a:schemeClr val="bg1"/>
            </a:solidFill>
          </p:grpSpPr>
          <p:sp>
            <p:nvSpPr>
              <p:cNvPr id="3193" name="Freeform: Shape 392">
                <a:extLst>
                  <a:ext uri="{FF2B5EF4-FFF2-40B4-BE49-F238E27FC236}">
                    <a16:creationId xmlns:a16="http://schemas.microsoft.com/office/drawing/2014/main" id="{C8CD9031-5FD2-8BAF-EF1B-F153A8210031}"/>
                  </a:ext>
                </a:extLst>
              </p:cNvPr>
              <p:cNvSpPr/>
              <p:nvPr/>
            </p:nvSpPr>
            <p:spPr>
              <a:xfrm>
                <a:off x="3259003" y="2036793"/>
                <a:ext cx="381157" cy="393574"/>
              </a:xfrm>
              <a:custGeom>
                <a:avLst/>
                <a:gdLst>
                  <a:gd name="connsiteX0" fmla="*/ 381157 w 381157"/>
                  <a:gd name="connsiteY0" fmla="*/ 195354 h 393574"/>
                  <a:gd name="connsiteX1" fmla="*/ 346767 w 381157"/>
                  <a:gd name="connsiteY1" fmla="*/ 138456 h 393574"/>
                  <a:gd name="connsiteX2" fmla="*/ 352977 w 381157"/>
                  <a:gd name="connsiteY2" fmla="*/ 111409 h 393574"/>
                  <a:gd name="connsiteX3" fmla="*/ 290883 w 381157"/>
                  <a:gd name="connsiteY3" fmla="*/ 49316 h 393574"/>
                  <a:gd name="connsiteX4" fmla="*/ 290346 w 381157"/>
                  <a:gd name="connsiteY4" fmla="*/ 49316 h 393574"/>
                  <a:gd name="connsiteX5" fmla="*/ 229566 w 381157"/>
                  <a:gd name="connsiteY5" fmla="*/ 0 h 393574"/>
                  <a:gd name="connsiteX6" fmla="*/ 190579 w 381157"/>
                  <a:gd name="connsiteY6" fmla="*/ 13792 h 393574"/>
                  <a:gd name="connsiteX7" fmla="*/ 151591 w 381157"/>
                  <a:gd name="connsiteY7" fmla="*/ 0 h 393574"/>
                  <a:gd name="connsiteX8" fmla="*/ 90811 w 381157"/>
                  <a:gd name="connsiteY8" fmla="*/ 49316 h 393574"/>
                  <a:gd name="connsiteX9" fmla="*/ 28241 w 381157"/>
                  <a:gd name="connsiteY9" fmla="*/ 111409 h 393574"/>
                  <a:gd name="connsiteX10" fmla="*/ 34450 w 381157"/>
                  <a:gd name="connsiteY10" fmla="*/ 138456 h 393574"/>
                  <a:gd name="connsiteX11" fmla="*/ 0 w 381157"/>
                  <a:gd name="connsiteY11" fmla="*/ 195354 h 393574"/>
                  <a:gd name="connsiteX12" fmla="*/ 31644 w 381157"/>
                  <a:gd name="connsiteY12" fmla="*/ 250761 h 393574"/>
                  <a:gd name="connsiteX13" fmla="*/ 25136 w 381157"/>
                  <a:gd name="connsiteY13" fmla="*/ 278464 h 393574"/>
                  <a:gd name="connsiteX14" fmla="*/ 84901 w 381157"/>
                  <a:gd name="connsiteY14" fmla="*/ 340437 h 393574"/>
                  <a:gd name="connsiteX15" fmla="*/ 144845 w 381157"/>
                  <a:gd name="connsiteY15" fmla="*/ 393575 h 393574"/>
                  <a:gd name="connsiteX16" fmla="*/ 190519 w 381157"/>
                  <a:gd name="connsiteY16" fmla="*/ 372559 h 393574"/>
                  <a:gd name="connsiteX17" fmla="*/ 236193 w 381157"/>
                  <a:gd name="connsiteY17" fmla="*/ 393575 h 393574"/>
                  <a:gd name="connsiteX18" fmla="*/ 296197 w 381157"/>
                  <a:gd name="connsiteY18" fmla="*/ 340616 h 393574"/>
                  <a:gd name="connsiteX19" fmla="*/ 355902 w 381157"/>
                  <a:gd name="connsiteY19" fmla="*/ 278583 h 393574"/>
                  <a:gd name="connsiteX20" fmla="*/ 349394 w 381157"/>
                  <a:gd name="connsiteY20" fmla="*/ 250880 h 393574"/>
                  <a:gd name="connsiteX21" fmla="*/ 381038 w 381157"/>
                  <a:gd name="connsiteY21" fmla="*/ 195474 h 393574"/>
                  <a:gd name="connsiteX22" fmla="*/ 381038 w 381157"/>
                  <a:gd name="connsiteY22" fmla="*/ 195474 h 393574"/>
                  <a:gd name="connsiteX23" fmla="*/ 144964 w 381157"/>
                  <a:gd name="connsiteY23" fmla="*/ 378529 h 393574"/>
                  <a:gd name="connsiteX24" fmla="*/ 99409 w 381157"/>
                  <a:gd name="connsiteY24" fmla="*/ 332974 h 393574"/>
                  <a:gd name="connsiteX25" fmla="*/ 144964 w 381157"/>
                  <a:gd name="connsiteY25" fmla="*/ 287419 h 393574"/>
                  <a:gd name="connsiteX26" fmla="*/ 152427 w 381157"/>
                  <a:gd name="connsiteY26" fmla="*/ 279956 h 393574"/>
                  <a:gd name="connsiteX27" fmla="*/ 144964 w 381157"/>
                  <a:gd name="connsiteY27" fmla="*/ 272493 h 393574"/>
                  <a:gd name="connsiteX28" fmla="*/ 124843 w 381157"/>
                  <a:gd name="connsiteY28" fmla="*/ 276016 h 393574"/>
                  <a:gd name="connsiteX29" fmla="*/ 121500 w 381157"/>
                  <a:gd name="connsiteY29" fmla="*/ 249626 h 393574"/>
                  <a:gd name="connsiteX30" fmla="*/ 111768 w 381157"/>
                  <a:gd name="connsiteY30" fmla="*/ 245507 h 393574"/>
                  <a:gd name="connsiteX31" fmla="*/ 107648 w 381157"/>
                  <a:gd name="connsiteY31" fmla="*/ 255238 h 393574"/>
                  <a:gd name="connsiteX32" fmla="*/ 106096 w 381157"/>
                  <a:gd name="connsiteY32" fmla="*/ 286822 h 393574"/>
                  <a:gd name="connsiteX33" fmla="*/ 85020 w 381157"/>
                  <a:gd name="connsiteY33" fmla="*/ 325511 h 393574"/>
                  <a:gd name="connsiteX34" fmla="*/ 40122 w 381157"/>
                  <a:gd name="connsiteY34" fmla="*/ 278464 h 393574"/>
                  <a:gd name="connsiteX35" fmla="*/ 48361 w 381157"/>
                  <a:gd name="connsiteY35" fmla="*/ 251895 h 393574"/>
                  <a:gd name="connsiteX36" fmla="*/ 49376 w 381157"/>
                  <a:gd name="connsiteY36" fmla="*/ 245566 h 393574"/>
                  <a:gd name="connsiteX37" fmla="*/ 45137 w 381157"/>
                  <a:gd name="connsiteY37" fmla="*/ 240790 h 393574"/>
                  <a:gd name="connsiteX38" fmla="*/ 15046 w 381157"/>
                  <a:gd name="connsiteY38" fmla="*/ 195354 h 393574"/>
                  <a:gd name="connsiteX39" fmla="*/ 64362 w 381157"/>
                  <a:gd name="connsiteY39" fmla="*/ 146038 h 393574"/>
                  <a:gd name="connsiteX40" fmla="*/ 106335 w 381157"/>
                  <a:gd name="connsiteY40" fmla="*/ 169383 h 393574"/>
                  <a:gd name="connsiteX41" fmla="*/ 82692 w 381157"/>
                  <a:gd name="connsiteY41" fmla="*/ 189026 h 393574"/>
                  <a:gd name="connsiteX42" fmla="*/ 83886 w 381157"/>
                  <a:gd name="connsiteY42" fmla="*/ 199534 h 393574"/>
                  <a:gd name="connsiteX43" fmla="*/ 88543 w 381157"/>
                  <a:gd name="connsiteY43" fmla="*/ 201146 h 393574"/>
                  <a:gd name="connsiteX44" fmla="*/ 94394 w 381157"/>
                  <a:gd name="connsiteY44" fmla="*/ 198340 h 393574"/>
                  <a:gd name="connsiteX45" fmla="*/ 117261 w 381157"/>
                  <a:gd name="connsiteY45" fmla="*/ 180667 h 393574"/>
                  <a:gd name="connsiteX46" fmla="*/ 119649 w 381157"/>
                  <a:gd name="connsiteY46" fmla="*/ 180189 h 393574"/>
                  <a:gd name="connsiteX47" fmla="*/ 121142 w 381157"/>
                  <a:gd name="connsiteY47" fmla="*/ 179174 h 393574"/>
                  <a:gd name="connsiteX48" fmla="*/ 144725 w 381157"/>
                  <a:gd name="connsiteY48" fmla="*/ 175473 h 393574"/>
                  <a:gd name="connsiteX49" fmla="*/ 152487 w 381157"/>
                  <a:gd name="connsiteY49" fmla="*/ 168308 h 393574"/>
                  <a:gd name="connsiteX50" fmla="*/ 145322 w 381157"/>
                  <a:gd name="connsiteY50" fmla="*/ 160546 h 393574"/>
                  <a:gd name="connsiteX51" fmla="*/ 141919 w 381157"/>
                  <a:gd name="connsiteY51" fmla="*/ 160487 h 393574"/>
                  <a:gd name="connsiteX52" fmla="*/ 120246 w 381157"/>
                  <a:gd name="connsiteY52" fmla="*/ 163771 h 393574"/>
                  <a:gd name="connsiteX53" fmla="*/ 64362 w 381157"/>
                  <a:gd name="connsiteY53" fmla="*/ 131231 h 393574"/>
                  <a:gd name="connsiteX54" fmla="*/ 48600 w 381157"/>
                  <a:gd name="connsiteY54" fmla="*/ 133261 h 393574"/>
                  <a:gd name="connsiteX55" fmla="*/ 43227 w 381157"/>
                  <a:gd name="connsiteY55" fmla="*/ 111588 h 393574"/>
                  <a:gd name="connsiteX56" fmla="*/ 90394 w 381157"/>
                  <a:gd name="connsiteY56" fmla="*/ 64422 h 393574"/>
                  <a:gd name="connsiteX57" fmla="*/ 96364 w 381157"/>
                  <a:gd name="connsiteY57" fmla="*/ 64780 h 393574"/>
                  <a:gd name="connsiteX58" fmla="*/ 101976 w 381157"/>
                  <a:gd name="connsiteY58" fmla="*/ 63168 h 393574"/>
                  <a:gd name="connsiteX59" fmla="*/ 104723 w 381157"/>
                  <a:gd name="connsiteY59" fmla="*/ 58033 h 393574"/>
                  <a:gd name="connsiteX60" fmla="*/ 151711 w 381157"/>
                  <a:gd name="connsiteY60" fmla="*/ 15105 h 393574"/>
                  <a:gd name="connsiteX61" fmla="*/ 183235 w 381157"/>
                  <a:gd name="connsiteY61" fmla="*/ 27166 h 393574"/>
                  <a:gd name="connsiteX62" fmla="*/ 183235 w 381157"/>
                  <a:gd name="connsiteY62" fmla="*/ 96423 h 393574"/>
                  <a:gd name="connsiteX63" fmla="*/ 166816 w 381157"/>
                  <a:gd name="connsiteY63" fmla="*/ 99767 h 393574"/>
                  <a:gd name="connsiteX64" fmla="*/ 130874 w 381157"/>
                  <a:gd name="connsiteY64" fmla="*/ 79885 h 393574"/>
                  <a:gd name="connsiteX65" fmla="*/ 120604 w 381157"/>
                  <a:gd name="connsiteY65" fmla="*/ 77557 h 393574"/>
                  <a:gd name="connsiteX66" fmla="*/ 118276 w 381157"/>
                  <a:gd name="connsiteY66" fmla="*/ 87826 h 393574"/>
                  <a:gd name="connsiteX67" fmla="*/ 166816 w 381157"/>
                  <a:gd name="connsiteY67" fmla="*/ 114693 h 393574"/>
                  <a:gd name="connsiteX68" fmla="*/ 183235 w 381157"/>
                  <a:gd name="connsiteY68" fmla="*/ 112186 h 393574"/>
                  <a:gd name="connsiteX69" fmla="*/ 183235 w 381157"/>
                  <a:gd name="connsiteY69" fmla="*/ 115469 h 393574"/>
                  <a:gd name="connsiteX70" fmla="*/ 183116 w 381157"/>
                  <a:gd name="connsiteY70" fmla="*/ 115947 h 393574"/>
                  <a:gd name="connsiteX71" fmla="*/ 183235 w 381157"/>
                  <a:gd name="connsiteY71" fmla="*/ 116425 h 393574"/>
                  <a:gd name="connsiteX72" fmla="*/ 183235 w 381157"/>
                  <a:gd name="connsiteY72" fmla="*/ 196369 h 393574"/>
                  <a:gd name="connsiteX73" fmla="*/ 183116 w 381157"/>
                  <a:gd name="connsiteY73" fmla="*/ 196847 h 393574"/>
                  <a:gd name="connsiteX74" fmla="*/ 183235 w 381157"/>
                  <a:gd name="connsiteY74" fmla="*/ 197325 h 393574"/>
                  <a:gd name="connsiteX75" fmla="*/ 183235 w 381157"/>
                  <a:gd name="connsiteY75" fmla="*/ 277270 h 393574"/>
                  <a:gd name="connsiteX76" fmla="*/ 183116 w 381157"/>
                  <a:gd name="connsiteY76" fmla="*/ 277747 h 393574"/>
                  <a:gd name="connsiteX77" fmla="*/ 183235 w 381157"/>
                  <a:gd name="connsiteY77" fmla="*/ 278225 h 393574"/>
                  <a:gd name="connsiteX78" fmla="*/ 183235 w 381157"/>
                  <a:gd name="connsiteY78" fmla="*/ 357931 h 393574"/>
                  <a:gd name="connsiteX79" fmla="*/ 145024 w 381157"/>
                  <a:gd name="connsiteY79" fmla="*/ 378648 h 393574"/>
                  <a:gd name="connsiteX80" fmla="*/ 145024 w 381157"/>
                  <a:gd name="connsiteY80" fmla="*/ 378648 h 393574"/>
                  <a:gd name="connsiteX81" fmla="*/ 336080 w 381157"/>
                  <a:gd name="connsiteY81" fmla="*/ 240790 h 393574"/>
                  <a:gd name="connsiteX82" fmla="*/ 331841 w 381157"/>
                  <a:gd name="connsiteY82" fmla="*/ 245566 h 393574"/>
                  <a:gd name="connsiteX83" fmla="*/ 332856 w 381157"/>
                  <a:gd name="connsiteY83" fmla="*/ 251895 h 393574"/>
                  <a:gd name="connsiteX84" fmla="*/ 341095 w 381157"/>
                  <a:gd name="connsiteY84" fmla="*/ 278464 h 393574"/>
                  <a:gd name="connsiteX85" fmla="*/ 293928 w 381157"/>
                  <a:gd name="connsiteY85" fmla="*/ 325631 h 393574"/>
                  <a:gd name="connsiteX86" fmla="*/ 289868 w 381157"/>
                  <a:gd name="connsiteY86" fmla="*/ 325451 h 393574"/>
                  <a:gd name="connsiteX87" fmla="*/ 283838 w 381157"/>
                  <a:gd name="connsiteY87" fmla="*/ 327840 h 393574"/>
                  <a:gd name="connsiteX88" fmla="*/ 281808 w 381157"/>
                  <a:gd name="connsiteY88" fmla="*/ 333094 h 393574"/>
                  <a:gd name="connsiteX89" fmla="*/ 236253 w 381157"/>
                  <a:gd name="connsiteY89" fmla="*/ 378529 h 393574"/>
                  <a:gd name="connsiteX90" fmla="*/ 198042 w 381157"/>
                  <a:gd name="connsiteY90" fmla="*/ 357811 h 393574"/>
                  <a:gd name="connsiteX91" fmla="*/ 198042 w 381157"/>
                  <a:gd name="connsiteY91" fmla="*/ 285091 h 393574"/>
                  <a:gd name="connsiteX92" fmla="*/ 229984 w 381157"/>
                  <a:gd name="connsiteY92" fmla="*/ 285091 h 393574"/>
                  <a:gd name="connsiteX93" fmla="*/ 256732 w 381157"/>
                  <a:gd name="connsiteY93" fmla="*/ 305510 h 393574"/>
                  <a:gd name="connsiteX94" fmla="*/ 284614 w 381157"/>
                  <a:gd name="connsiteY94" fmla="*/ 277628 h 393574"/>
                  <a:gd name="connsiteX95" fmla="*/ 256732 w 381157"/>
                  <a:gd name="connsiteY95" fmla="*/ 249746 h 393574"/>
                  <a:gd name="connsiteX96" fmla="*/ 229984 w 381157"/>
                  <a:gd name="connsiteY96" fmla="*/ 270165 h 393574"/>
                  <a:gd name="connsiteX97" fmla="*/ 198042 w 381157"/>
                  <a:gd name="connsiteY97" fmla="*/ 270165 h 393574"/>
                  <a:gd name="connsiteX98" fmla="*/ 198042 w 381157"/>
                  <a:gd name="connsiteY98" fmla="*/ 204191 h 393574"/>
                  <a:gd name="connsiteX99" fmla="*/ 275778 w 381157"/>
                  <a:gd name="connsiteY99" fmla="*/ 204191 h 393574"/>
                  <a:gd name="connsiteX100" fmla="*/ 302526 w 381157"/>
                  <a:gd name="connsiteY100" fmla="*/ 224610 h 393574"/>
                  <a:gd name="connsiteX101" fmla="*/ 330408 w 381157"/>
                  <a:gd name="connsiteY101" fmla="*/ 196728 h 393574"/>
                  <a:gd name="connsiteX102" fmla="*/ 302526 w 381157"/>
                  <a:gd name="connsiteY102" fmla="*/ 168845 h 393574"/>
                  <a:gd name="connsiteX103" fmla="*/ 275778 w 381157"/>
                  <a:gd name="connsiteY103" fmla="*/ 189265 h 393574"/>
                  <a:gd name="connsiteX104" fmla="*/ 198042 w 381157"/>
                  <a:gd name="connsiteY104" fmla="*/ 189265 h 393574"/>
                  <a:gd name="connsiteX105" fmla="*/ 198042 w 381157"/>
                  <a:gd name="connsiteY105" fmla="*/ 123291 h 393574"/>
                  <a:gd name="connsiteX106" fmla="*/ 229984 w 381157"/>
                  <a:gd name="connsiteY106" fmla="*/ 123291 h 393574"/>
                  <a:gd name="connsiteX107" fmla="*/ 256732 w 381157"/>
                  <a:gd name="connsiteY107" fmla="*/ 143710 h 393574"/>
                  <a:gd name="connsiteX108" fmla="*/ 284614 w 381157"/>
                  <a:gd name="connsiteY108" fmla="*/ 115828 h 393574"/>
                  <a:gd name="connsiteX109" fmla="*/ 256732 w 381157"/>
                  <a:gd name="connsiteY109" fmla="*/ 87945 h 393574"/>
                  <a:gd name="connsiteX110" fmla="*/ 229984 w 381157"/>
                  <a:gd name="connsiteY110" fmla="*/ 108364 h 393574"/>
                  <a:gd name="connsiteX111" fmla="*/ 198042 w 381157"/>
                  <a:gd name="connsiteY111" fmla="*/ 108364 h 393574"/>
                  <a:gd name="connsiteX112" fmla="*/ 198042 w 381157"/>
                  <a:gd name="connsiteY112" fmla="*/ 26987 h 393574"/>
                  <a:gd name="connsiteX113" fmla="*/ 229566 w 381157"/>
                  <a:gd name="connsiteY113" fmla="*/ 14926 h 393574"/>
                  <a:gd name="connsiteX114" fmla="*/ 276554 w 381157"/>
                  <a:gd name="connsiteY114" fmla="*/ 57854 h 393574"/>
                  <a:gd name="connsiteX115" fmla="*/ 279301 w 381157"/>
                  <a:gd name="connsiteY115" fmla="*/ 62989 h 393574"/>
                  <a:gd name="connsiteX116" fmla="*/ 284913 w 381157"/>
                  <a:gd name="connsiteY116" fmla="*/ 64601 h 393574"/>
                  <a:gd name="connsiteX117" fmla="*/ 290883 w 381157"/>
                  <a:gd name="connsiteY117" fmla="*/ 64242 h 393574"/>
                  <a:gd name="connsiteX118" fmla="*/ 338050 w 381157"/>
                  <a:gd name="connsiteY118" fmla="*/ 111409 h 393574"/>
                  <a:gd name="connsiteX119" fmla="*/ 329990 w 381157"/>
                  <a:gd name="connsiteY119" fmla="*/ 137739 h 393574"/>
                  <a:gd name="connsiteX120" fmla="*/ 329095 w 381157"/>
                  <a:gd name="connsiteY120" fmla="*/ 144247 h 393574"/>
                  <a:gd name="connsiteX121" fmla="*/ 333632 w 381157"/>
                  <a:gd name="connsiteY121" fmla="*/ 148964 h 393574"/>
                  <a:gd name="connsiteX122" fmla="*/ 366231 w 381157"/>
                  <a:gd name="connsiteY122" fmla="*/ 195414 h 393574"/>
                  <a:gd name="connsiteX123" fmla="*/ 336140 w 381157"/>
                  <a:gd name="connsiteY123" fmla="*/ 240850 h 393574"/>
                  <a:gd name="connsiteX124" fmla="*/ 336140 w 381157"/>
                  <a:gd name="connsiteY124" fmla="*/ 240850 h 393574"/>
                  <a:gd name="connsiteX125" fmla="*/ 243776 w 381157"/>
                  <a:gd name="connsiteY125" fmla="*/ 277628 h 393574"/>
                  <a:gd name="connsiteX126" fmla="*/ 256732 w 381157"/>
                  <a:gd name="connsiteY126" fmla="*/ 264672 h 393574"/>
                  <a:gd name="connsiteX127" fmla="*/ 269688 w 381157"/>
                  <a:gd name="connsiteY127" fmla="*/ 277628 h 393574"/>
                  <a:gd name="connsiteX128" fmla="*/ 256732 w 381157"/>
                  <a:gd name="connsiteY128" fmla="*/ 290584 h 393574"/>
                  <a:gd name="connsiteX129" fmla="*/ 243776 w 381157"/>
                  <a:gd name="connsiteY129" fmla="*/ 277628 h 393574"/>
                  <a:gd name="connsiteX130" fmla="*/ 289570 w 381157"/>
                  <a:gd name="connsiteY130" fmla="*/ 196728 h 393574"/>
                  <a:gd name="connsiteX131" fmla="*/ 302526 w 381157"/>
                  <a:gd name="connsiteY131" fmla="*/ 183772 h 393574"/>
                  <a:gd name="connsiteX132" fmla="*/ 315482 w 381157"/>
                  <a:gd name="connsiteY132" fmla="*/ 196728 h 393574"/>
                  <a:gd name="connsiteX133" fmla="*/ 302526 w 381157"/>
                  <a:gd name="connsiteY133" fmla="*/ 209684 h 393574"/>
                  <a:gd name="connsiteX134" fmla="*/ 289570 w 381157"/>
                  <a:gd name="connsiteY134" fmla="*/ 196728 h 393574"/>
                  <a:gd name="connsiteX135" fmla="*/ 243776 w 381157"/>
                  <a:gd name="connsiteY135" fmla="*/ 115828 h 393574"/>
                  <a:gd name="connsiteX136" fmla="*/ 256732 w 381157"/>
                  <a:gd name="connsiteY136" fmla="*/ 102872 h 393574"/>
                  <a:gd name="connsiteX137" fmla="*/ 269688 w 381157"/>
                  <a:gd name="connsiteY137" fmla="*/ 115828 h 393574"/>
                  <a:gd name="connsiteX138" fmla="*/ 256732 w 381157"/>
                  <a:gd name="connsiteY138" fmla="*/ 128783 h 393574"/>
                  <a:gd name="connsiteX139" fmla="*/ 243776 w 381157"/>
                  <a:gd name="connsiteY139" fmla="*/ 115828 h 3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81157" h="393574">
                    <a:moveTo>
                      <a:pt x="381157" y="195354"/>
                    </a:moveTo>
                    <a:cubicBezTo>
                      <a:pt x="381157" y="171293"/>
                      <a:pt x="367664" y="149441"/>
                      <a:pt x="346767" y="138456"/>
                    </a:cubicBezTo>
                    <a:cubicBezTo>
                      <a:pt x="350827" y="130097"/>
                      <a:pt x="352977" y="120843"/>
                      <a:pt x="352977" y="111409"/>
                    </a:cubicBezTo>
                    <a:cubicBezTo>
                      <a:pt x="352977" y="77198"/>
                      <a:pt x="325154" y="49316"/>
                      <a:pt x="290883" y="49316"/>
                    </a:cubicBezTo>
                    <a:lnTo>
                      <a:pt x="290346" y="49316"/>
                    </a:lnTo>
                    <a:cubicBezTo>
                      <a:pt x="284435" y="20718"/>
                      <a:pt x="259478" y="0"/>
                      <a:pt x="229566" y="0"/>
                    </a:cubicBezTo>
                    <a:cubicBezTo>
                      <a:pt x="215177" y="0"/>
                      <a:pt x="201624" y="4896"/>
                      <a:pt x="190579" y="13792"/>
                    </a:cubicBezTo>
                    <a:cubicBezTo>
                      <a:pt x="179593" y="4896"/>
                      <a:pt x="165980" y="0"/>
                      <a:pt x="151591" y="0"/>
                    </a:cubicBezTo>
                    <a:cubicBezTo>
                      <a:pt x="121679" y="0"/>
                      <a:pt x="96722" y="20718"/>
                      <a:pt x="90811" y="49316"/>
                    </a:cubicBezTo>
                    <a:cubicBezTo>
                      <a:pt x="56183" y="48839"/>
                      <a:pt x="28241" y="76960"/>
                      <a:pt x="28241" y="111409"/>
                    </a:cubicBezTo>
                    <a:cubicBezTo>
                      <a:pt x="28241" y="120843"/>
                      <a:pt x="30390" y="130037"/>
                      <a:pt x="34450" y="138456"/>
                    </a:cubicBezTo>
                    <a:cubicBezTo>
                      <a:pt x="14031" y="149203"/>
                      <a:pt x="0" y="170637"/>
                      <a:pt x="0" y="195354"/>
                    </a:cubicBezTo>
                    <a:cubicBezTo>
                      <a:pt x="0" y="218401"/>
                      <a:pt x="12180" y="239297"/>
                      <a:pt x="31644" y="250761"/>
                    </a:cubicBezTo>
                    <a:cubicBezTo>
                      <a:pt x="27345" y="259298"/>
                      <a:pt x="25136" y="268791"/>
                      <a:pt x="25136" y="278464"/>
                    </a:cubicBezTo>
                    <a:cubicBezTo>
                      <a:pt x="25136" y="311898"/>
                      <a:pt x="51764" y="339184"/>
                      <a:pt x="84901" y="340437"/>
                    </a:cubicBezTo>
                    <a:cubicBezTo>
                      <a:pt x="88543" y="370290"/>
                      <a:pt x="114037" y="393575"/>
                      <a:pt x="144845" y="393575"/>
                    </a:cubicBezTo>
                    <a:cubicBezTo>
                      <a:pt x="162458" y="393575"/>
                      <a:pt x="179115" y="385694"/>
                      <a:pt x="190519" y="372559"/>
                    </a:cubicBezTo>
                    <a:cubicBezTo>
                      <a:pt x="201923" y="385634"/>
                      <a:pt x="218521" y="393575"/>
                      <a:pt x="236193" y="393575"/>
                    </a:cubicBezTo>
                    <a:cubicBezTo>
                      <a:pt x="267001" y="393575"/>
                      <a:pt x="292495" y="370409"/>
                      <a:pt x="296197" y="340616"/>
                    </a:cubicBezTo>
                    <a:cubicBezTo>
                      <a:pt x="329333" y="339363"/>
                      <a:pt x="355902" y="312018"/>
                      <a:pt x="355902" y="278583"/>
                    </a:cubicBezTo>
                    <a:cubicBezTo>
                      <a:pt x="355902" y="268851"/>
                      <a:pt x="353633" y="259418"/>
                      <a:pt x="349394" y="250880"/>
                    </a:cubicBezTo>
                    <a:cubicBezTo>
                      <a:pt x="368858" y="239417"/>
                      <a:pt x="381038" y="218520"/>
                      <a:pt x="381038" y="195474"/>
                    </a:cubicBezTo>
                    <a:lnTo>
                      <a:pt x="381038" y="195474"/>
                    </a:lnTo>
                    <a:close/>
                    <a:moveTo>
                      <a:pt x="144964" y="378529"/>
                    </a:moveTo>
                    <a:cubicBezTo>
                      <a:pt x="119828" y="378529"/>
                      <a:pt x="99409" y="358110"/>
                      <a:pt x="99409" y="332974"/>
                    </a:cubicBezTo>
                    <a:cubicBezTo>
                      <a:pt x="99409" y="307838"/>
                      <a:pt x="119828" y="287419"/>
                      <a:pt x="144964" y="287419"/>
                    </a:cubicBezTo>
                    <a:cubicBezTo>
                      <a:pt x="149084" y="287419"/>
                      <a:pt x="152427" y="284076"/>
                      <a:pt x="152427" y="279956"/>
                    </a:cubicBezTo>
                    <a:cubicBezTo>
                      <a:pt x="152427" y="275837"/>
                      <a:pt x="149084" y="272493"/>
                      <a:pt x="144964" y="272493"/>
                    </a:cubicBezTo>
                    <a:cubicBezTo>
                      <a:pt x="137919" y="272493"/>
                      <a:pt x="131172" y="273747"/>
                      <a:pt x="124843" y="276016"/>
                    </a:cubicBezTo>
                    <a:cubicBezTo>
                      <a:pt x="125978" y="267179"/>
                      <a:pt x="124963" y="258104"/>
                      <a:pt x="121500" y="249626"/>
                    </a:cubicBezTo>
                    <a:cubicBezTo>
                      <a:pt x="119948" y="245805"/>
                      <a:pt x="115589" y="243954"/>
                      <a:pt x="111768" y="245507"/>
                    </a:cubicBezTo>
                    <a:cubicBezTo>
                      <a:pt x="107947" y="247059"/>
                      <a:pt x="106096" y="251417"/>
                      <a:pt x="107648" y="255238"/>
                    </a:cubicBezTo>
                    <a:cubicBezTo>
                      <a:pt x="111828" y="265567"/>
                      <a:pt x="111231" y="277031"/>
                      <a:pt x="106096" y="286822"/>
                    </a:cubicBezTo>
                    <a:cubicBezTo>
                      <a:pt x="94752" y="296375"/>
                      <a:pt x="86990" y="310048"/>
                      <a:pt x="85020" y="325511"/>
                    </a:cubicBezTo>
                    <a:cubicBezTo>
                      <a:pt x="60063" y="324317"/>
                      <a:pt x="40122" y="303719"/>
                      <a:pt x="40122" y="278464"/>
                    </a:cubicBezTo>
                    <a:cubicBezTo>
                      <a:pt x="40122" y="268911"/>
                      <a:pt x="42928" y="259716"/>
                      <a:pt x="48361" y="251895"/>
                    </a:cubicBezTo>
                    <a:cubicBezTo>
                      <a:pt x="49615" y="250044"/>
                      <a:pt x="49973" y="247716"/>
                      <a:pt x="49376" y="245566"/>
                    </a:cubicBezTo>
                    <a:cubicBezTo>
                      <a:pt x="48779" y="243417"/>
                      <a:pt x="47167" y="241685"/>
                      <a:pt x="45137" y="240790"/>
                    </a:cubicBezTo>
                    <a:cubicBezTo>
                      <a:pt x="26867" y="233028"/>
                      <a:pt x="15046" y="215176"/>
                      <a:pt x="15046" y="195354"/>
                    </a:cubicBezTo>
                    <a:cubicBezTo>
                      <a:pt x="15046" y="168129"/>
                      <a:pt x="37196" y="146038"/>
                      <a:pt x="64362" y="146038"/>
                    </a:cubicBezTo>
                    <a:cubicBezTo>
                      <a:pt x="81677" y="146038"/>
                      <a:pt x="97379" y="154994"/>
                      <a:pt x="106335" y="169383"/>
                    </a:cubicBezTo>
                    <a:cubicBezTo>
                      <a:pt x="97319" y="174219"/>
                      <a:pt x="89259" y="180727"/>
                      <a:pt x="82692" y="189026"/>
                    </a:cubicBezTo>
                    <a:cubicBezTo>
                      <a:pt x="80124" y="192250"/>
                      <a:pt x="80662" y="196966"/>
                      <a:pt x="83886" y="199534"/>
                    </a:cubicBezTo>
                    <a:cubicBezTo>
                      <a:pt x="85259" y="200608"/>
                      <a:pt x="86871" y="201146"/>
                      <a:pt x="88543" y="201146"/>
                    </a:cubicBezTo>
                    <a:cubicBezTo>
                      <a:pt x="90752" y="201146"/>
                      <a:pt x="92901" y="200191"/>
                      <a:pt x="94394" y="198340"/>
                    </a:cubicBezTo>
                    <a:cubicBezTo>
                      <a:pt x="100543" y="190578"/>
                      <a:pt x="108484" y="184548"/>
                      <a:pt x="117261" y="180667"/>
                    </a:cubicBezTo>
                    <a:cubicBezTo>
                      <a:pt x="118037" y="180667"/>
                      <a:pt x="118873" y="180488"/>
                      <a:pt x="119649" y="180189"/>
                    </a:cubicBezTo>
                    <a:cubicBezTo>
                      <a:pt x="120246" y="179951"/>
                      <a:pt x="120664" y="179533"/>
                      <a:pt x="121142" y="179174"/>
                    </a:cubicBezTo>
                    <a:cubicBezTo>
                      <a:pt x="128605" y="176428"/>
                      <a:pt x="136605" y="175055"/>
                      <a:pt x="144725" y="175473"/>
                    </a:cubicBezTo>
                    <a:cubicBezTo>
                      <a:pt x="148785" y="175592"/>
                      <a:pt x="152308" y="172428"/>
                      <a:pt x="152487" y="168308"/>
                    </a:cubicBezTo>
                    <a:cubicBezTo>
                      <a:pt x="152666" y="164188"/>
                      <a:pt x="149442" y="160726"/>
                      <a:pt x="145322" y="160546"/>
                    </a:cubicBezTo>
                    <a:cubicBezTo>
                      <a:pt x="144188" y="160546"/>
                      <a:pt x="143053" y="160487"/>
                      <a:pt x="141919" y="160487"/>
                    </a:cubicBezTo>
                    <a:cubicBezTo>
                      <a:pt x="134456" y="160487"/>
                      <a:pt x="127172" y="161681"/>
                      <a:pt x="120246" y="163771"/>
                    </a:cubicBezTo>
                    <a:cubicBezTo>
                      <a:pt x="108902" y="143769"/>
                      <a:pt x="87767" y="131231"/>
                      <a:pt x="64362" y="131231"/>
                    </a:cubicBezTo>
                    <a:cubicBezTo>
                      <a:pt x="58929" y="131231"/>
                      <a:pt x="53675" y="132008"/>
                      <a:pt x="48600" y="133261"/>
                    </a:cubicBezTo>
                    <a:cubicBezTo>
                      <a:pt x="45137" y="126574"/>
                      <a:pt x="43227" y="119231"/>
                      <a:pt x="43227" y="111588"/>
                    </a:cubicBezTo>
                    <a:cubicBezTo>
                      <a:pt x="43227" y="85617"/>
                      <a:pt x="64362" y="64422"/>
                      <a:pt x="90394" y="64422"/>
                    </a:cubicBezTo>
                    <a:cubicBezTo>
                      <a:pt x="92364" y="64422"/>
                      <a:pt x="94394" y="64541"/>
                      <a:pt x="96364" y="64780"/>
                    </a:cubicBezTo>
                    <a:cubicBezTo>
                      <a:pt x="98334" y="65019"/>
                      <a:pt x="100424" y="64481"/>
                      <a:pt x="101976" y="63168"/>
                    </a:cubicBezTo>
                    <a:cubicBezTo>
                      <a:pt x="103529" y="61914"/>
                      <a:pt x="104544" y="60063"/>
                      <a:pt x="104723" y="58033"/>
                    </a:cubicBezTo>
                    <a:cubicBezTo>
                      <a:pt x="106872" y="33972"/>
                      <a:pt x="127470" y="15105"/>
                      <a:pt x="151711" y="15105"/>
                    </a:cubicBezTo>
                    <a:cubicBezTo>
                      <a:pt x="163473" y="15105"/>
                      <a:pt x="174578" y="19344"/>
                      <a:pt x="183235" y="27166"/>
                    </a:cubicBezTo>
                    <a:lnTo>
                      <a:pt x="183235" y="96423"/>
                    </a:lnTo>
                    <a:cubicBezTo>
                      <a:pt x="178041" y="98573"/>
                      <a:pt x="172488" y="99767"/>
                      <a:pt x="166816" y="99767"/>
                    </a:cubicBezTo>
                    <a:cubicBezTo>
                      <a:pt x="152129" y="99767"/>
                      <a:pt x="138695" y="92363"/>
                      <a:pt x="130874" y="79885"/>
                    </a:cubicBezTo>
                    <a:cubicBezTo>
                      <a:pt x="128665" y="76422"/>
                      <a:pt x="124067" y="75348"/>
                      <a:pt x="120604" y="77557"/>
                    </a:cubicBezTo>
                    <a:cubicBezTo>
                      <a:pt x="117141" y="79766"/>
                      <a:pt x="116067" y="84363"/>
                      <a:pt x="118276" y="87826"/>
                    </a:cubicBezTo>
                    <a:cubicBezTo>
                      <a:pt x="128844" y="104663"/>
                      <a:pt x="146994" y="114693"/>
                      <a:pt x="166816" y="114693"/>
                    </a:cubicBezTo>
                    <a:cubicBezTo>
                      <a:pt x="172369" y="114693"/>
                      <a:pt x="177921" y="113798"/>
                      <a:pt x="183235" y="112186"/>
                    </a:cubicBezTo>
                    <a:lnTo>
                      <a:pt x="183235" y="115469"/>
                    </a:lnTo>
                    <a:cubicBezTo>
                      <a:pt x="183235" y="115469"/>
                      <a:pt x="183116" y="115768"/>
                      <a:pt x="183116" y="115947"/>
                    </a:cubicBezTo>
                    <a:cubicBezTo>
                      <a:pt x="183116" y="116126"/>
                      <a:pt x="183175" y="116245"/>
                      <a:pt x="183235" y="116425"/>
                    </a:cubicBezTo>
                    <a:lnTo>
                      <a:pt x="183235" y="196369"/>
                    </a:lnTo>
                    <a:cubicBezTo>
                      <a:pt x="183235" y="196369"/>
                      <a:pt x="183116" y="196668"/>
                      <a:pt x="183116" y="196847"/>
                    </a:cubicBezTo>
                    <a:cubicBezTo>
                      <a:pt x="183116" y="197026"/>
                      <a:pt x="183175" y="197146"/>
                      <a:pt x="183235" y="197325"/>
                    </a:cubicBezTo>
                    <a:lnTo>
                      <a:pt x="183235" y="277270"/>
                    </a:lnTo>
                    <a:cubicBezTo>
                      <a:pt x="183235" y="277270"/>
                      <a:pt x="183116" y="277568"/>
                      <a:pt x="183116" y="277747"/>
                    </a:cubicBezTo>
                    <a:cubicBezTo>
                      <a:pt x="183116" y="277926"/>
                      <a:pt x="183175" y="278046"/>
                      <a:pt x="183235" y="278225"/>
                    </a:cubicBezTo>
                    <a:lnTo>
                      <a:pt x="183235" y="357931"/>
                    </a:lnTo>
                    <a:cubicBezTo>
                      <a:pt x="174876" y="370767"/>
                      <a:pt x="160428" y="378648"/>
                      <a:pt x="145024" y="378648"/>
                    </a:cubicBezTo>
                    <a:lnTo>
                      <a:pt x="145024" y="378648"/>
                    </a:lnTo>
                    <a:close/>
                    <a:moveTo>
                      <a:pt x="336080" y="240790"/>
                    </a:moveTo>
                    <a:cubicBezTo>
                      <a:pt x="333990" y="241685"/>
                      <a:pt x="332438" y="243417"/>
                      <a:pt x="331841" y="245566"/>
                    </a:cubicBezTo>
                    <a:cubicBezTo>
                      <a:pt x="331184" y="247716"/>
                      <a:pt x="331602" y="250044"/>
                      <a:pt x="332856" y="251895"/>
                    </a:cubicBezTo>
                    <a:cubicBezTo>
                      <a:pt x="338229" y="259716"/>
                      <a:pt x="341095" y="268911"/>
                      <a:pt x="341095" y="278464"/>
                    </a:cubicBezTo>
                    <a:cubicBezTo>
                      <a:pt x="341095" y="304435"/>
                      <a:pt x="319960" y="325631"/>
                      <a:pt x="293928" y="325631"/>
                    </a:cubicBezTo>
                    <a:cubicBezTo>
                      <a:pt x="292555" y="325631"/>
                      <a:pt x="291182" y="325571"/>
                      <a:pt x="289868" y="325451"/>
                    </a:cubicBezTo>
                    <a:cubicBezTo>
                      <a:pt x="287600" y="325213"/>
                      <a:pt x="285390" y="326168"/>
                      <a:pt x="283838" y="327840"/>
                    </a:cubicBezTo>
                    <a:cubicBezTo>
                      <a:pt x="282525" y="329273"/>
                      <a:pt x="281808" y="331183"/>
                      <a:pt x="281808" y="333094"/>
                    </a:cubicBezTo>
                    <a:cubicBezTo>
                      <a:pt x="281808" y="358170"/>
                      <a:pt x="261329" y="378529"/>
                      <a:pt x="236253" y="378529"/>
                    </a:cubicBezTo>
                    <a:cubicBezTo>
                      <a:pt x="220909" y="378529"/>
                      <a:pt x="206460" y="370648"/>
                      <a:pt x="198042" y="357811"/>
                    </a:cubicBezTo>
                    <a:lnTo>
                      <a:pt x="198042" y="285091"/>
                    </a:lnTo>
                    <a:lnTo>
                      <a:pt x="229984" y="285091"/>
                    </a:lnTo>
                    <a:cubicBezTo>
                      <a:pt x="233268" y="296853"/>
                      <a:pt x="243955" y="305510"/>
                      <a:pt x="256732" y="305510"/>
                    </a:cubicBezTo>
                    <a:cubicBezTo>
                      <a:pt x="272136" y="305510"/>
                      <a:pt x="284614" y="292972"/>
                      <a:pt x="284614" y="277628"/>
                    </a:cubicBezTo>
                    <a:cubicBezTo>
                      <a:pt x="284614" y="262284"/>
                      <a:pt x="272076" y="249746"/>
                      <a:pt x="256732" y="249746"/>
                    </a:cubicBezTo>
                    <a:cubicBezTo>
                      <a:pt x="243955" y="249746"/>
                      <a:pt x="233268" y="258462"/>
                      <a:pt x="229984" y="270165"/>
                    </a:cubicBezTo>
                    <a:lnTo>
                      <a:pt x="198042" y="270165"/>
                    </a:lnTo>
                    <a:lnTo>
                      <a:pt x="198042" y="204191"/>
                    </a:lnTo>
                    <a:lnTo>
                      <a:pt x="275778" y="204191"/>
                    </a:lnTo>
                    <a:cubicBezTo>
                      <a:pt x="279062" y="215953"/>
                      <a:pt x="289749" y="224610"/>
                      <a:pt x="302526" y="224610"/>
                    </a:cubicBezTo>
                    <a:cubicBezTo>
                      <a:pt x="317930" y="224610"/>
                      <a:pt x="330408" y="212072"/>
                      <a:pt x="330408" y="196728"/>
                    </a:cubicBezTo>
                    <a:cubicBezTo>
                      <a:pt x="330408" y="181383"/>
                      <a:pt x="317870" y="168845"/>
                      <a:pt x="302526" y="168845"/>
                    </a:cubicBezTo>
                    <a:cubicBezTo>
                      <a:pt x="289749" y="168845"/>
                      <a:pt x="279062" y="177562"/>
                      <a:pt x="275778" y="189265"/>
                    </a:cubicBezTo>
                    <a:lnTo>
                      <a:pt x="198042" y="189265"/>
                    </a:lnTo>
                    <a:lnTo>
                      <a:pt x="198042" y="123291"/>
                    </a:lnTo>
                    <a:lnTo>
                      <a:pt x="229984" y="123291"/>
                    </a:lnTo>
                    <a:cubicBezTo>
                      <a:pt x="233268" y="135052"/>
                      <a:pt x="243955" y="143710"/>
                      <a:pt x="256732" y="143710"/>
                    </a:cubicBezTo>
                    <a:cubicBezTo>
                      <a:pt x="272136" y="143710"/>
                      <a:pt x="284614" y="131172"/>
                      <a:pt x="284614" y="115828"/>
                    </a:cubicBezTo>
                    <a:cubicBezTo>
                      <a:pt x="284614" y="100483"/>
                      <a:pt x="272076" y="87945"/>
                      <a:pt x="256732" y="87945"/>
                    </a:cubicBezTo>
                    <a:cubicBezTo>
                      <a:pt x="243955" y="87945"/>
                      <a:pt x="233268" y="96662"/>
                      <a:pt x="229984" y="108364"/>
                    </a:cubicBezTo>
                    <a:lnTo>
                      <a:pt x="198042" y="108364"/>
                    </a:lnTo>
                    <a:lnTo>
                      <a:pt x="198042" y="26987"/>
                    </a:lnTo>
                    <a:cubicBezTo>
                      <a:pt x="206699" y="19165"/>
                      <a:pt x="217804" y="14926"/>
                      <a:pt x="229566" y="14926"/>
                    </a:cubicBezTo>
                    <a:cubicBezTo>
                      <a:pt x="253747" y="14926"/>
                      <a:pt x="274405" y="33793"/>
                      <a:pt x="276554" y="57854"/>
                    </a:cubicBezTo>
                    <a:cubicBezTo>
                      <a:pt x="276733" y="59884"/>
                      <a:pt x="277748" y="61735"/>
                      <a:pt x="279301" y="62989"/>
                    </a:cubicBezTo>
                    <a:cubicBezTo>
                      <a:pt x="280853" y="64242"/>
                      <a:pt x="282943" y="64840"/>
                      <a:pt x="284913" y="64601"/>
                    </a:cubicBezTo>
                    <a:cubicBezTo>
                      <a:pt x="286883" y="64362"/>
                      <a:pt x="288913" y="64242"/>
                      <a:pt x="290883" y="64242"/>
                    </a:cubicBezTo>
                    <a:cubicBezTo>
                      <a:pt x="316855" y="64242"/>
                      <a:pt x="338050" y="85378"/>
                      <a:pt x="338050" y="111409"/>
                    </a:cubicBezTo>
                    <a:cubicBezTo>
                      <a:pt x="338050" y="120843"/>
                      <a:pt x="335244" y="129978"/>
                      <a:pt x="329990" y="137739"/>
                    </a:cubicBezTo>
                    <a:cubicBezTo>
                      <a:pt x="328677" y="139650"/>
                      <a:pt x="328378" y="142038"/>
                      <a:pt x="329095" y="144247"/>
                    </a:cubicBezTo>
                    <a:cubicBezTo>
                      <a:pt x="329811" y="146456"/>
                      <a:pt x="331483" y="148188"/>
                      <a:pt x="333632" y="148964"/>
                    </a:cubicBezTo>
                    <a:cubicBezTo>
                      <a:pt x="353156" y="156009"/>
                      <a:pt x="366231" y="174637"/>
                      <a:pt x="366231" y="195414"/>
                    </a:cubicBezTo>
                    <a:cubicBezTo>
                      <a:pt x="366231" y="216191"/>
                      <a:pt x="354410" y="233148"/>
                      <a:pt x="336140" y="240850"/>
                    </a:cubicBezTo>
                    <a:lnTo>
                      <a:pt x="336140" y="240850"/>
                    </a:lnTo>
                    <a:close/>
                    <a:moveTo>
                      <a:pt x="243776" y="277628"/>
                    </a:moveTo>
                    <a:cubicBezTo>
                      <a:pt x="243776" y="270463"/>
                      <a:pt x="249567" y="264672"/>
                      <a:pt x="256732" y="264672"/>
                    </a:cubicBezTo>
                    <a:cubicBezTo>
                      <a:pt x="263897" y="264672"/>
                      <a:pt x="269688" y="270463"/>
                      <a:pt x="269688" y="277628"/>
                    </a:cubicBezTo>
                    <a:cubicBezTo>
                      <a:pt x="269688" y="284792"/>
                      <a:pt x="263897" y="290584"/>
                      <a:pt x="256732" y="290584"/>
                    </a:cubicBezTo>
                    <a:cubicBezTo>
                      <a:pt x="249567" y="290584"/>
                      <a:pt x="243776" y="284792"/>
                      <a:pt x="243776" y="277628"/>
                    </a:cubicBezTo>
                    <a:close/>
                    <a:moveTo>
                      <a:pt x="289570" y="196728"/>
                    </a:moveTo>
                    <a:cubicBezTo>
                      <a:pt x="289570" y="189563"/>
                      <a:pt x="295361" y="183772"/>
                      <a:pt x="302526" y="183772"/>
                    </a:cubicBezTo>
                    <a:cubicBezTo>
                      <a:pt x="309690" y="183772"/>
                      <a:pt x="315482" y="189563"/>
                      <a:pt x="315482" y="196728"/>
                    </a:cubicBezTo>
                    <a:cubicBezTo>
                      <a:pt x="315482" y="203892"/>
                      <a:pt x="309690" y="209684"/>
                      <a:pt x="302526" y="209684"/>
                    </a:cubicBezTo>
                    <a:cubicBezTo>
                      <a:pt x="295361" y="209684"/>
                      <a:pt x="289570" y="203892"/>
                      <a:pt x="289570" y="196728"/>
                    </a:cubicBezTo>
                    <a:close/>
                    <a:moveTo>
                      <a:pt x="243776" y="115828"/>
                    </a:moveTo>
                    <a:cubicBezTo>
                      <a:pt x="243776" y="108663"/>
                      <a:pt x="249567" y="102872"/>
                      <a:pt x="256732" y="102872"/>
                    </a:cubicBezTo>
                    <a:cubicBezTo>
                      <a:pt x="263897" y="102872"/>
                      <a:pt x="269688" y="108663"/>
                      <a:pt x="269688" y="115828"/>
                    </a:cubicBezTo>
                    <a:cubicBezTo>
                      <a:pt x="269688" y="122992"/>
                      <a:pt x="263897" y="128783"/>
                      <a:pt x="256732" y="128783"/>
                    </a:cubicBezTo>
                    <a:cubicBezTo>
                      <a:pt x="249567" y="128783"/>
                      <a:pt x="243776" y="122992"/>
                      <a:pt x="243776" y="115828"/>
                    </a:cubicBezTo>
                    <a:close/>
                  </a:path>
                </a:pathLst>
              </a:custGeom>
              <a:grp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sp>
            <p:nvSpPr>
              <p:cNvPr id="3194" name="Freeform: Shape 393">
                <a:extLst>
                  <a:ext uri="{FF2B5EF4-FFF2-40B4-BE49-F238E27FC236}">
                    <a16:creationId xmlns:a16="http://schemas.microsoft.com/office/drawing/2014/main" id="{4F1326DF-AC64-BC80-48EF-F1C43691B2B4}"/>
                  </a:ext>
                </a:extLst>
              </p:cNvPr>
              <p:cNvSpPr/>
              <p:nvPr/>
            </p:nvSpPr>
            <p:spPr>
              <a:xfrm>
                <a:off x="3168670" y="1952729"/>
                <a:ext cx="561765" cy="561763"/>
              </a:xfrm>
              <a:custGeom>
                <a:avLst/>
                <a:gdLst>
                  <a:gd name="connsiteX0" fmla="*/ 554243 w 561765"/>
                  <a:gd name="connsiteY0" fmla="*/ 561763 h 561763"/>
                  <a:gd name="connsiteX1" fmla="*/ 466416 w 561765"/>
                  <a:gd name="connsiteY1" fmla="*/ 561763 h 561763"/>
                  <a:gd name="connsiteX2" fmla="*/ 458953 w 561765"/>
                  <a:gd name="connsiteY2" fmla="*/ 554300 h 561763"/>
                  <a:gd name="connsiteX3" fmla="*/ 466416 w 561765"/>
                  <a:gd name="connsiteY3" fmla="*/ 546837 h 561763"/>
                  <a:gd name="connsiteX4" fmla="*/ 536212 w 561765"/>
                  <a:gd name="connsiteY4" fmla="*/ 546837 h 561763"/>
                  <a:gd name="connsiteX5" fmla="*/ 445281 w 561765"/>
                  <a:gd name="connsiteY5" fmla="*/ 455907 h 561763"/>
                  <a:gd name="connsiteX6" fmla="*/ 445281 w 561765"/>
                  <a:gd name="connsiteY6" fmla="*/ 445339 h 561763"/>
                  <a:gd name="connsiteX7" fmla="*/ 455848 w 561765"/>
                  <a:gd name="connsiteY7" fmla="*/ 445339 h 561763"/>
                  <a:gd name="connsiteX8" fmla="*/ 546779 w 561765"/>
                  <a:gd name="connsiteY8" fmla="*/ 536269 h 561763"/>
                  <a:gd name="connsiteX9" fmla="*/ 546779 w 561765"/>
                  <a:gd name="connsiteY9" fmla="*/ 466474 h 561763"/>
                  <a:gd name="connsiteX10" fmla="*/ 554243 w 561765"/>
                  <a:gd name="connsiteY10" fmla="*/ 459011 h 561763"/>
                  <a:gd name="connsiteX11" fmla="*/ 561706 w 561765"/>
                  <a:gd name="connsiteY11" fmla="*/ 466474 h 561763"/>
                  <a:gd name="connsiteX12" fmla="*/ 561706 w 561765"/>
                  <a:gd name="connsiteY12" fmla="*/ 554300 h 561763"/>
                  <a:gd name="connsiteX13" fmla="*/ 561109 w 561765"/>
                  <a:gd name="connsiteY13" fmla="*/ 557166 h 561763"/>
                  <a:gd name="connsiteX14" fmla="*/ 559497 w 561765"/>
                  <a:gd name="connsiteY14" fmla="*/ 559554 h 561763"/>
                  <a:gd name="connsiteX15" fmla="*/ 557108 w 561765"/>
                  <a:gd name="connsiteY15" fmla="*/ 561166 h 561763"/>
                  <a:gd name="connsiteX16" fmla="*/ 554243 w 561765"/>
                  <a:gd name="connsiteY16" fmla="*/ 561763 h 561763"/>
                  <a:gd name="connsiteX17" fmla="*/ 554243 w 561765"/>
                  <a:gd name="connsiteY17" fmla="*/ 561763 h 561763"/>
                  <a:gd name="connsiteX18" fmla="*/ 95289 w 561765"/>
                  <a:gd name="connsiteY18" fmla="*/ 561763 h 561763"/>
                  <a:gd name="connsiteX19" fmla="*/ 7463 w 561765"/>
                  <a:gd name="connsiteY19" fmla="*/ 561763 h 561763"/>
                  <a:gd name="connsiteX20" fmla="*/ 4597 w 561765"/>
                  <a:gd name="connsiteY20" fmla="*/ 561166 h 561763"/>
                  <a:gd name="connsiteX21" fmla="*/ 2209 w 561765"/>
                  <a:gd name="connsiteY21" fmla="*/ 559554 h 561763"/>
                  <a:gd name="connsiteX22" fmla="*/ 597 w 561765"/>
                  <a:gd name="connsiteY22" fmla="*/ 557166 h 561763"/>
                  <a:gd name="connsiteX23" fmla="*/ 0 w 561765"/>
                  <a:gd name="connsiteY23" fmla="*/ 554300 h 561763"/>
                  <a:gd name="connsiteX24" fmla="*/ 0 w 561765"/>
                  <a:gd name="connsiteY24" fmla="*/ 466474 h 561763"/>
                  <a:gd name="connsiteX25" fmla="*/ 7463 w 561765"/>
                  <a:gd name="connsiteY25" fmla="*/ 459011 h 561763"/>
                  <a:gd name="connsiteX26" fmla="*/ 14926 w 561765"/>
                  <a:gd name="connsiteY26" fmla="*/ 466474 h 561763"/>
                  <a:gd name="connsiteX27" fmla="*/ 14926 w 561765"/>
                  <a:gd name="connsiteY27" fmla="*/ 536269 h 561763"/>
                  <a:gd name="connsiteX28" fmla="*/ 105857 w 561765"/>
                  <a:gd name="connsiteY28" fmla="*/ 445339 h 561763"/>
                  <a:gd name="connsiteX29" fmla="*/ 116425 w 561765"/>
                  <a:gd name="connsiteY29" fmla="*/ 445339 h 561763"/>
                  <a:gd name="connsiteX30" fmla="*/ 116425 w 561765"/>
                  <a:gd name="connsiteY30" fmla="*/ 455907 h 561763"/>
                  <a:gd name="connsiteX31" fmla="*/ 25494 w 561765"/>
                  <a:gd name="connsiteY31" fmla="*/ 546837 h 561763"/>
                  <a:gd name="connsiteX32" fmla="*/ 95289 w 561765"/>
                  <a:gd name="connsiteY32" fmla="*/ 546837 h 561763"/>
                  <a:gd name="connsiteX33" fmla="*/ 102752 w 561765"/>
                  <a:gd name="connsiteY33" fmla="*/ 554300 h 561763"/>
                  <a:gd name="connsiteX34" fmla="*/ 95289 w 561765"/>
                  <a:gd name="connsiteY34" fmla="*/ 561763 h 561763"/>
                  <a:gd name="connsiteX35" fmla="*/ 95289 w 561765"/>
                  <a:gd name="connsiteY35" fmla="*/ 561763 h 561763"/>
                  <a:gd name="connsiteX36" fmla="*/ 450594 w 561765"/>
                  <a:gd name="connsiteY36" fmla="*/ 118634 h 561763"/>
                  <a:gd name="connsiteX37" fmla="*/ 445340 w 561765"/>
                  <a:gd name="connsiteY37" fmla="*/ 116425 h 561763"/>
                  <a:gd name="connsiteX38" fmla="*/ 445340 w 561765"/>
                  <a:gd name="connsiteY38" fmla="*/ 105857 h 561763"/>
                  <a:gd name="connsiteX39" fmla="*/ 536271 w 561765"/>
                  <a:gd name="connsiteY39" fmla="*/ 14926 h 561763"/>
                  <a:gd name="connsiteX40" fmla="*/ 466476 w 561765"/>
                  <a:gd name="connsiteY40" fmla="*/ 14926 h 561763"/>
                  <a:gd name="connsiteX41" fmla="*/ 459013 w 561765"/>
                  <a:gd name="connsiteY41" fmla="*/ 7463 h 561763"/>
                  <a:gd name="connsiteX42" fmla="*/ 466476 w 561765"/>
                  <a:gd name="connsiteY42" fmla="*/ 0 h 561763"/>
                  <a:gd name="connsiteX43" fmla="*/ 554302 w 561765"/>
                  <a:gd name="connsiteY43" fmla="*/ 0 h 561763"/>
                  <a:gd name="connsiteX44" fmla="*/ 557168 w 561765"/>
                  <a:gd name="connsiteY44" fmla="*/ 597 h 561763"/>
                  <a:gd name="connsiteX45" fmla="*/ 559556 w 561765"/>
                  <a:gd name="connsiteY45" fmla="*/ 2209 h 561763"/>
                  <a:gd name="connsiteX46" fmla="*/ 561168 w 561765"/>
                  <a:gd name="connsiteY46" fmla="*/ 4597 h 561763"/>
                  <a:gd name="connsiteX47" fmla="*/ 561765 w 561765"/>
                  <a:gd name="connsiteY47" fmla="*/ 7463 h 561763"/>
                  <a:gd name="connsiteX48" fmla="*/ 561765 w 561765"/>
                  <a:gd name="connsiteY48" fmla="*/ 95289 h 561763"/>
                  <a:gd name="connsiteX49" fmla="*/ 554302 w 561765"/>
                  <a:gd name="connsiteY49" fmla="*/ 102752 h 561763"/>
                  <a:gd name="connsiteX50" fmla="*/ 546839 w 561765"/>
                  <a:gd name="connsiteY50" fmla="*/ 95289 h 561763"/>
                  <a:gd name="connsiteX51" fmla="*/ 546839 w 561765"/>
                  <a:gd name="connsiteY51" fmla="*/ 25554 h 561763"/>
                  <a:gd name="connsiteX52" fmla="*/ 455908 w 561765"/>
                  <a:gd name="connsiteY52" fmla="*/ 116484 h 561763"/>
                  <a:gd name="connsiteX53" fmla="*/ 450654 w 561765"/>
                  <a:gd name="connsiteY53" fmla="*/ 118693 h 561763"/>
                  <a:gd name="connsiteX54" fmla="*/ 450654 w 561765"/>
                  <a:gd name="connsiteY54" fmla="*/ 118693 h 561763"/>
                  <a:gd name="connsiteX55" fmla="*/ 111111 w 561765"/>
                  <a:gd name="connsiteY55" fmla="*/ 118634 h 561763"/>
                  <a:gd name="connsiteX56" fmla="*/ 105857 w 561765"/>
                  <a:gd name="connsiteY56" fmla="*/ 116425 h 561763"/>
                  <a:gd name="connsiteX57" fmla="*/ 14926 w 561765"/>
                  <a:gd name="connsiteY57" fmla="*/ 25554 h 561763"/>
                  <a:gd name="connsiteX58" fmla="*/ 14926 w 561765"/>
                  <a:gd name="connsiteY58" fmla="*/ 95349 h 561763"/>
                  <a:gd name="connsiteX59" fmla="*/ 7463 w 561765"/>
                  <a:gd name="connsiteY59" fmla="*/ 102812 h 561763"/>
                  <a:gd name="connsiteX60" fmla="*/ 0 w 561765"/>
                  <a:gd name="connsiteY60" fmla="*/ 95349 h 561763"/>
                  <a:gd name="connsiteX61" fmla="*/ 0 w 561765"/>
                  <a:gd name="connsiteY61" fmla="*/ 7523 h 561763"/>
                  <a:gd name="connsiteX62" fmla="*/ 597 w 561765"/>
                  <a:gd name="connsiteY62" fmla="*/ 4657 h 561763"/>
                  <a:gd name="connsiteX63" fmla="*/ 2209 w 561765"/>
                  <a:gd name="connsiteY63" fmla="*/ 2269 h 561763"/>
                  <a:gd name="connsiteX64" fmla="*/ 4597 w 561765"/>
                  <a:gd name="connsiteY64" fmla="*/ 657 h 561763"/>
                  <a:gd name="connsiteX65" fmla="*/ 7463 w 561765"/>
                  <a:gd name="connsiteY65" fmla="*/ 60 h 561763"/>
                  <a:gd name="connsiteX66" fmla="*/ 95289 w 561765"/>
                  <a:gd name="connsiteY66" fmla="*/ 60 h 561763"/>
                  <a:gd name="connsiteX67" fmla="*/ 102752 w 561765"/>
                  <a:gd name="connsiteY67" fmla="*/ 7523 h 561763"/>
                  <a:gd name="connsiteX68" fmla="*/ 95289 w 561765"/>
                  <a:gd name="connsiteY68" fmla="*/ 14986 h 561763"/>
                  <a:gd name="connsiteX69" fmla="*/ 25494 w 561765"/>
                  <a:gd name="connsiteY69" fmla="*/ 14986 h 561763"/>
                  <a:gd name="connsiteX70" fmla="*/ 116425 w 561765"/>
                  <a:gd name="connsiteY70" fmla="*/ 105916 h 561763"/>
                  <a:gd name="connsiteX71" fmla="*/ 116425 w 561765"/>
                  <a:gd name="connsiteY71" fmla="*/ 116484 h 561763"/>
                  <a:gd name="connsiteX72" fmla="*/ 111171 w 561765"/>
                  <a:gd name="connsiteY72" fmla="*/ 118693 h 561763"/>
                  <a:gd name="connsiteX73" fmla="*/ 111171 w 561765"/>
                  <a:gd name="connsiteY73" fmla="*/ 118693 h 56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561765" h="561763">
                    <a:moveTo>
                      <a:pt x="554243" y="561763"/>
                    </a:moveTo>
                    <a:lnTo>
                      <a:pt x="466416" y="561763"/>
                    </a:lnTo>
                    <a:cubicBezTo>
                      <a:pt x="462297" y="561763"/>
                      <a:pt x="458953" y="558420"/>
                      <a:pt x="458953" y="554300"/>
                    </a:cubicBezTo>
                    <a:cubicBezTo>
                      <a:pt x="458953" y="550181"/>
                      <a:pt x="462297" y="546837"/>
                      <a:pt x="466416" y="546837"/>
                    </a:cubicBezTo>
                    <a:lnTo>
                      <a:pt x="536212" y="546837"/>
                    </a:lnTo>
                    <a:lnTo>
                      <a:pt x="445281" y="455907"/>
                    </a:lnTo>
                    <a:cubicBezTo>
                      <a:pt x="442355" y="452981"/>
                      <a:pt x="442355" y="448264"/>
                      <a:pt x="445281" y="445339"/>
                    </a:cubicBezTo>
                    <a:cubicBezTo>
                      <a:pt x="448206" y="442413"/>
                      <a:pt x="452923" y="442413"/>
                      <a:pt x="455848" y="445339"/>
                    </a:cubicBezTo>
                    <a:lnTo>
                      <a:pt x="546779" y="536269"/>
                    </a:lnTo>
                    <a:lnTo>
                      <a:pt x="546779" y="466474"/>
                    </a:lnTo>
                    <a:cubicBezTo>
                      <a:pt x="546779" y="462355"/>
                      <a:pt x="550123" y="459011"/>
                      <a:pt x="554243" y="459011"/>
                    </a:cubicBezTo>
                    <a:cubicBezTo>
                      <a:pt x="558362" y="459011"/>
                      <a:pt x="561706" y="462355"/>
                      <a:pt x="561706" y="466474"/>
                    </a:cubicBezTo>
                    <a:lnTo>
                      <a:pt x="561706" y="554300"/>
                    </a:lnTo>
                    <a:cubicBezTo>
                      <a:pt x="561706" y="555315"/>
                      <a:pt x="561467" y="556271"/>
                      <a:pt x="561109" y="557166"/>
                    </a:cubicBezTo>
                    <a:cubicBezTo>
                      <a:pt x="560750" y="558062"/>
                      <a:pt x="560213" y="558838"/>
                      <a:pt x="559497" y="559554"/>
                    </a:cubicBezTo>
                    <a:cubicBezTo>
                      <a:pt x="558780" y="560271"/>
                      <a:pt x="558004" y="560808"/>
                      <a:pt x="557108" y="561166"/>
                    </a:cubicBezTo>
                    <a:cubicBezTo>
                      <a:pt x="556213" y="561525"/>
                      <a:pt x="555258" y="561763"/>
                      <a:pt x="554243" y="561763"/>
                    </a:cubicBezTo>
                    <a:lnTo>
                      <a:pt x="554243" y="561763"/>
                    </a:lnTo>
                    <a:close/>
                    <a:moveTo>
                      <a:pt x="95289" y="561763"/>
                    </a:moveTo>
                    <a:lnTo>
                      <a:pt x="7463" y="561763"/>
                    </a:lnTo>
                    <a:cubicBezTo>
                      <a:pt x="6448" y="561763"/>
                      <a:pt x="5433" y="561525"/>
                      <a:pt x="4597" y="561166"/>
                    </a:cubicBezTo>
                    <a:cubicBezTo>
                      <a:pt x="3702" y="560808"/>
                      <a:pt x="2926" y="560271"/>
                      <a:pt x="2209" y="559554"/>
                    </a:cubicBezTo>
                    <a:cubicBezTo>
                      <a:pt x="1493" y="558838"/>
                      <a:pt x="955" y="558062"/>
                      <a:pt x="597" y="557166"/>
                    </a:cubicBezTo>
                    <a:cubicBezTo>
                      <a:pt x="239" y="556271"/>
                      <a:pt x="0" y="555315"/>
                      <a:pt x="0" y="554300"/>
                    </a:cubicBezTo>
                    <a:lnTo>
                      <a:pt x="0" y="466474"/>
                    </a:lnTo>
                    <a:cubicBezTo>
                      <a:pt x="0" y="462355"/>
                      <a:pt x="3343" y="459011"/>
                      <a:pt x="7463" y="459011"/>
                    </a:cubicBezTo>
                    <a:cubicBezTo>
                      <a:pt x="11583" y="459011"/>
                      <a:pt x="14926" y="462355"/>
                      <a:pt x="14926" y="466474"/>
                    </a:cubicBezTo>
                    <a:lnTo>
                      <a:pt x="14926" y="536269"/>
                    </a:lnTo>
                    <a:lnTo>
                      <a:pt x="105857" y="445339"/>
                    </a:lnTo>
                    <a:cubicBezTo>
                      <a:pt x="108783" y="442413"/>
                      <a:pt x="113499" y="442413"/>
                      <a:pt x="116425" y="445339"/>
                    </a:cubicBezTo>
                    <a:cubicBezTo>
                      <a:pt x="119351" y="448264"/>
                      <a:pt x="119351" y="452981"/>
                      <a:pt x="116425" y="455907"/>
                    </a:cubicBezTo>
                    <a:lnTo>
                      <a:pt x="25494" y="546837"/>
                    </a:lnTo>
                    <a:lnTo>
                      <a:pt x="95289" y="546837"/>
                    </a:lnTo>
                    <a:cubicBezTo>
                      <a:pt x="99409" y="546837"/>
                      <a:pt x="102752" y="550181"/>
                      <a:pt x="102752" y="554300"/>
                    </a:cubicBezTo>
                    <a:cubicBezTo>
                      <a:pt x="102752" y="558420"/>
                      <a:pt x="99409" y="561763"/>
                      <a:pt x="95289" y="561763"/>
                    </a:cubicBezTo>
                    <a:lnTo>
                      <a:pt x="95289" y="561763"/>
                    </a:lnTo>
                    <a:close/>
                    <a:moveTo>
                      <a:pt x="450594" y="118634"/>
                    </a:moveTo>
                    <a:cubicBezTo>
                      <a:pt x="448684" y="118634"/>
                      <a:pt x="446773" y="117917"/>
                      <a:pt x="445340" y="116425"/>
                    </a:cubicBezTo>
                    <a:cubicBezTo>
                      <a:pt x="442415" y="113499"/>
                      <a:pt x="442415" y="108782"/>
                      <a:pt x="445340" y="105857"/>
                    </a:cubicBezTo>
                    <a:lnTo>
                      <a:pt x="536271" y="14926"/>
                    </a:lnTo>
                    <a:lnTo>
                      <a:pt x="466476" y="14926"/>
                    </a:lnTo>
                    <a:cubicBezTo>
                      <a:pt x="462356" y="14926"/>
                      <a:pt x="459013" y="11583"/>
                      <a:pt x="459013" y="7463"/>
                    </a:cubicBezTo>
                    <a:cubicBezTo>
                      <a:pt x="459013" y="3343"/>
                      <a:pt x="462356" y="0"/>
                      <a:pt x="466476" y="0"/>
                    </a:cubicBezTo>
                    <a:lnTo>
                      <a:pt x="554302" y="0"/>
                    </a:lnTo>
                    <a:cubicBezTo>
                      <a:pt x="555317" y="0"/>
                      <a:pt x="556272" y="179"/>
                      <a:pt x="557168" y="597"/>
                    </a:cubicBezTo>
                    <a:cubicBezTo>
                      <a:pt x="558064" y="955"/>
                      <a:pt x="558840" y="1493"/>
                      <a:pt x="559556" y="2209"/>
                    </a:cubicBezTo>
                    <a:cubicBezTo>
                      <a:pt x="560273" y="2926"/>
                      <a:pt x="560810" y="3702"/>
                      <a:pt x="561168" y="4597"/>
                    </a:cubicBezTo>
                    <a:cubicBezTo>
                      <a:pt x="561527" y="5493"/>
                      <a:pt x="561765" y="6448"/>
                      <a:pt x="561765" y="7463"/>
                    </a:cubicBezTo>
                    <a:lnTo>
                      <a:pt x="561765" y="95289"/>
                    </a:lnTo>
                    <a:cubicBezTo>
                      <a:pt x="561765" y="99409"/>
                      <a:pt x="558422" y="102752"/>
                      <a:pt x="554302" y="102752"/>
                    </a:cubicBezTo>
                    <a:cubicBezTo>
                      <a:pt x="550183" y="102752"/>
                      <a:pt x="546839" y="99409"/>
                      <a:pt x="546839" y="95289"/>
                    </a:cubicBezTo>
                    <a:lnTo>
                      <a:pt x="546839" y="25554"/>
                    </a:lnTo>
                    <a:lnTo>
                      <a:pt x="455908" y="116484"/>
                    </a:lnTo>
                    <a:cubicBezTo>
                      <a:pt x="454475" y="117917"/>
                      <a:pt x="452565" y="118693"/>
                      <a:pt x="450654" y="118693"/>
                    </a:cubicBezTo>
                    <a:lnTo>
                      <a:pt x="450654" y="118693"/>
                    </a:lnTo>
                    <a:close/>
                    <a:moveTo>
                      <a:pt x="111111" y="118634"/>
                    </a:moveTo>
                    <a:cubicBezTo>
                      <a:pt x="109201" y="118634"/>
                      <a:pt x="107290" y="117917"/>
                      <a:pt x="105857" y="116425"/>
                    </a:cubicBezTo>
                    <a:lnTo>
                      <a:pt x="14926" y="25554"/>
                    </a:lnTo>
                    <a:lnTo>
                      <a:pt x="14926" y="95349"/>
                    </a:lnTo>
                    <a:cubicBezTo>
                      <a:pt x="14926" y="99468"/>
                      <a:pt x="11583" y="102812"/>
                      <a:pt x="7463" y="102812"/>
                    </a:cubicBezTo>
                    <a:cubicBezTo>
                      <a:pt x="3343" y="102812"/>
                      <a:pt x="0" y="99468"/>
                      <a:pt x="0" y="95349"/>
                    </a:cubicBezTo>
                    <a:lnTo>
                      <a:pt x="0" y="7523"/>
                    </a:lnTo>
                    <a:cubicBezTo>
                      <a:pt x="0" y="6508"/>
                      <a:pt x="179" y="5493"/>
                      <a:pt x="597" y="4657"/>
                    </a:cubicBezTo>
                    <a:cubicBezTo>
                      <a:pt x="955" y="3761"/>
                      <a:pt x="1493" y="2985"/>
                      <a:pt x="2209" y="2269"/>
                    </a:cubicBezTo>
                    <a:cubicBezTo>
                      <a:pt x="2926" y="1552"/>
                      <a:pt x="3702" y="1015"/>
                      <a:pt x="4597" y="657"/>
                    </a:cubicBezTo>
                    <a:cubicBezTo>
                      <a:pt x="5433" y="299"/>
                      <a:pt x="6448" y="60"/>
                      <a:pt x="7463" y="60"/>
                    </a:cubicBezTo>
                    <a:lnTo>
                      <a:pt x="95289" y="60"/>
                    </a:lnTo>
                    <a:cubicBezTo>
                      <a:pt x="99409" y="60"/>
                      <a:pt x="102752" y="3403"/>
                      <a:pt x="102752" y="7523"/>
                    </a:cubicBezTo>
                    <a:cubicBezTo>
                      <a:pt x="102752" y="11642"/>
                      <a:pt x="99409" y="14986"/>
                      <a:pt x="95289" y="14986"/>
                    </a:cubicBezTo>
                    <a:lnTo>
                      <a:pt x="25494" y="14986"/>
                    </a:lnTo>
                    <a:lnTo>
                      <a:pt x="116425" y="105916"/>
                    </a:lnTo>
                    <a:cubicBezTo>
                      <a:pt x="119351" y="108842"/>
                      <a:pt x="119351" y="113559"/>
                      <a:pt x="116425" y="116484"/>
                    </a:cubicBezTo>
                    <a:cubicBezTo>
                      <a:pt x="114992" y="117917"/>
                      <a:pt x="113081" y="118693"/>
                      <a:pt x="111171" y="118693"/>
                    </a:cubicBezTo>
                    <a:lnTo>
                      <a:pt x="111171" y="118693"/>
                    </a:lnTo>
                    <a:close/>
                  </a:path>
                </a:pathLst>
              </a:custGeom>
              <a:grp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Metropolis" pitchFamily="2" charset="77"/>
                  <a:ea typeface="+mn-ea"/>
                  <a:cs typeface="+mn-cs"/>
                </a:endParaRPr>
              </a:p>
            </p:txBody>
          </p:sp>
        </p:grpSp>
      </p:grpSp>
      <p:grpSp>
        <p:nvGrpSpPr>
          <p:cNvPr id="3195" name="Group 3194">
            <a:extLst>
              <a:ext uri="{FF2B5EF4-FFF2-40B4-BE49-F238E27FC236}">
                <a16:creationId xmlns:a16="http://schemas.microsoft.com/office/drawing/2014/main" id="{30526979-E4E4-E362-3482-ADBBEB857F5F}"/>
              </a:ext>
            </a:extLst>
          </p:cNvPr>
          <p:cNvGrpSpPr/>
          <p:nvPr/>
        </p:nvGrpSpPr>
        <p:grpSpPr>
          <a:xfrm>
            <a:off x="4629695" y="3021447"/>
            <a:ext cx="8339555" cy="2451007"/>
            <a:chOff x="4496972" y="2935607"/>
            <a:chExt cx="8341727" cy="2451641"/>
          </a:xfrm>
        </p:grpSpPr>
        <p:sp>
          <p:nvSpPr>
            <p:cNvPr id="3196" name="TextBox 3195">
              <a:extLst>
                <a:ext uri="{FF2B5EF4-FFF2-40B4-BE49-F238E27FC236}">
                  <a16:creationId xmlns:a16="http://schemas.microsoft.com/office/drawing/2014/main" id="{5A248CF2-711E-E880-E58D-615F0D601ADB}"/>
                </a:ext>
              </a:extLst>
            </p:cNvPr>
            <p:cNvSpPr txBox="1"/>
            <p:nvPr/>
          </p:nvSpPr>
          <p:spPr>
            <a:xfrm>
              <a:off x="4496972" y="2935607"/>
              <a:ext cx="8341727" cy="1323526"/>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999" b="0" i="0" u="none" strike="noStrike" kern="1200" cap="none" spc="0" normalizeH="0" baseline="0" noProof="0" dirty="0">
                  <a:ln>
                    <a:noFill/>
                  </a:ln>
                  <a:solidFill>
                    <a:srgbClr val="005C8A"/>
                  </a:solidFill>
                  <a:effectLst/>
                  <a:uLnTx/>
                  <a:uFillTx/>
                  <a:latin typeface="Arial" panose="020B0604020202020204" pitchFamily="34" charset="0"/>
                  <a:ea typeface="+mn-ea"/>
                  <a:cs typeface="Arial" panose="020B0604020202020204" pitchFamily="34" charset="0"/>
                </a:rPr>
                <a:t>Edge AI with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999" b="0" i="0" u="none" strike="noStrike" kern="1200" cap="none" spc="0" normalizeH="0" baseline="0" noProof="0" dirty="0">
                  <a:ln>
                    <a:noFill/>
                  </a:ln>
                  <a:solidFill>
                    <a:srgbClr val="005C8A"/>
                  </a:solidFill>
                  <a:effectLst/>
                  <a:uLnTx/>
                  <a:uFillTx/>
                  <a:latin typeface="Arial" panose="020B0604020202020204" pitchFamily="34" charset="0"/>
                  <a:ea typeface="+mn-ea"/>
                  <a:cs typeface="Arial" panose="020B0604020202020204" pitchFamily="34" charset="0"/>
                </a:rPr>
                <a:t>VMware</a:t>
              </a:r>
            </a:p>
          </p:txBody>
        </p:sp>
        <p:sp>
          <p:nvSpPr>
            <p:cNvPr id="3197" name="TextBox 3196">
              <a:extLst>
                <a:ext uri="{FF2B5EF4-FFF2-40B4-BE49-F238E27FC236}">
                  <a16:creationId xmlns:a16="http://schemas.microsoft.com/office/drawing/2014/main" id="{D0FAB30B-2068-6CF0-0B29-DA10FC218B69}"/>
                </a:ext>
              </a:extLst>
            </p:cNvPr>
            <p:cNvSpPr txBox="1"/>
            <p:nvPr/>
          </p:nvSpPr>
          <p:spPr>
            <a:xfrm>
              <a:off x="5975463" y="4371322"/>
              <a:ext cx="5361194" cy="1015926"/>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3F3F3F"/>
                  </a:solidFill>
                  <a:effectLst/>
                  <a:uLnTx/>
                  <a:uFillTx/>
                  <a:latin typeface="Arial" panose="020B0604020202020204" pitchFamily="34" charset="0"/>
                  <a:ea typeface="+mn-ea"/>
                  <a:cs typeface="Arial" panose="020B0604020202020204" pitchFamily="34" charset="0"/>
                </a:rPr>
                <a:t>An architectural approach that balances the business gains from AI with the privacy and compliance needs of the organization.</a:t>
              </a:r>
            </a:p>
          </p:txBody>
        </p:sp>
      </p:grpSp>
      <p:sp>
        <p:nvSpPr>
          <p:cNvPr id="9" name="Oval 6">
            <a:extLst>
              <a:ext uri="{FF2B5EF4-FFF2-40B4-BE49-F238E27FC236}">
                <a16:creationId xmlns:a16="http://schemas.microsoft.com/office/drawing/2014/main" id="{3D7A1EF9-B7A0-408D-468C-CFC23E672FCB}"/>
              </a:ext>
            </a:extLst>
          </p:cNvPr>
          <p:cNvSpPr>
            <a:spLocks noChangeAspect="1"/>
          </p:cNvSpPr>
          <p:nvPr/>
        </p:nvSpPr>
        <p:spPr bwMode="gray">
          <a:xfrm>
            <a:off x="8053360" y="1294998"/>
            <a:ext cx="1493362" cy="1493362"/>
          </a:xfrm>
          <a:prstGeom prst="ellipse">
            <a:avLst/>
          </a:prstGeom>
          <a:gradFill>
            <a:gsLst>
              <a:gs pos="0">
                <a:schemeClr val="accent3"/>
              </a:gs>
              <a:gs pos="100000">
                <a:schemeClr val="accent2"/>
              </a:gs>
            </a:gsLst>
            <a:lin ang="2700000" scaled="0"/>
          </a:gradFill>
          <a:ln w="76200">
            <a:noFill/>
          </a:ln>
          <a:effectLst>
            <a:outerShdw sx="121000" sy="121000" algn="ctr" rotWithShape="0">
              <a:schemeClr val="accent3">
                <a:alpha val="20000"/>
              </a:schemeClr>
            </a:outerShdw>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126" rtl="0" eaLnBrk="1" fontAlgn="auto" latinLnBrk="0" hangingPunct="1">
              <a:lnSpc>
                <a:spcPct val="90000"/>
              </a:lnSpc>
              <a:spcBef>
                <a:spcPts val="600"/>
              </a:spcBef>
              <a:spcAft>
                <a:spcPts val="0"/>
              </a:spcAft>
              <a:buClrTx/>
              <a:buSzTx/>
              <a:buFontTx/>
              <a:buNone/>
              <a:tabLst/>
              <a:defRPr/>
            </a:pPr>
            <a:endParaRPr kumimoji="0" lang="en-US" sz="1999" b="1" i="0" u="none" strike="noStrike" kern="1200" cap="none" spc="0" normalizeH="0" baseline="0" noProof="0" dirty="0">
              <a:ln>
                <a:noFill/>
              </a:ln>
              <a:solidFill>
                <a:prstClr val="white"/>
              </a:solidFill>
              <a:effectLst/>
              <a:uLnTx/>
              <a:uFillTx/>
              <a:latin typeface="Arial"/>
              <a:ea typeface="+mn-ea"/>
              <a:cs typeface="+mn-cs"/>
            </a:endParaRPr>
          </a:p>
        </p:txBody>
      </p:sp>
      <p:sp>
        <p:nvSpPr>
          <p:cNvPr id="10" name="Graphic 32">
            <a:extLst>
              <a:ext uri="{FF2B5EF4-FFF2-40B4-BE49-F238E27FC236}">
                <a16:creationId xmlns:a16="http://schemas.microsoft.com/office/drawing/2014/main" id="{783755AB-9BB1-BE58-84AB-01942ECAA1A2}"/>
              </a:ext>
            </a:extLst>
          </p:cNvPr>
          <p:cNvSpPr>
            <a:spLocks noChangeAspect="1"/>
          </p:cNvSpPr>
          <p:nvPr/>
        </p:nvSpPr>
        <p:spPr>
          <a:xfrm>
            <a:off x="8496349" y="1634138"/>
            <a:ext cx="758823" cy="839216"/>
          </a:xfrm>
          <a:custGeom>
            <a:avLst/>
            <a:gdLst>
              <a:gd name="connsiteX0" fmla="*/ 489186 w 629382"/>
              <a:gd name="connsiteY0" fmla="*/ 355622 h 696062"/>
              <a:gd name="connsiteX1" fmla="*/ 529999 w 629382"/>
              <a:gd name="connsiteY1" fmla="*/ 355622 h 696062"/>
              <a:gd name="connsiteX2" fmla="*/ 578851 w 629382"/>
              <a:gd name="connsiteY2" fmla="*/ 393635 h 696062"/>
              <a:gd name="connsiteX3" fmla="*/ 629332 w 629382"/>
              <a:gd name="connsiteY3" fmla="*/ 343154 h 696062"/>
              <a:gd name="connsiteX4" fmla="*/ 578851 w 629382"/>
              <a:gd name="connsiteY4" fmla="*/ 292673 h 696062"/>
              <a:gd name="connsiteX5" fmla="*/ 531831 w 629382"/>
              <a:gd name="connsiteY5" fmla="*/ 325038 h 696062"/>
              <a:gd name="connsiteX6" fmla="*/ 487456 w 629382"/>
              <a:gd name="connsiteY6" fmla="*/ 325038 h 696062"/>
              <a:gd name="connsiteX7" fmla="*/ 469849 w 629382"/>
              <a:gd name="connsiteY7" fmla="*/ 302240 h 696062"/>
              <a:gd name="connsiteX8" fmla="*/ 519770 w 629382"/>
              <a:gd name="connsiteY8" fmla="*/ 212169 h 696062"/>
              <a:gd name="connsiteX9" fmla="*/ 529744 w 629382"/>
              <a:gd name="connsiteY9" fmla="*/ 212169 h 696062"/>
              <a:gd name="connsiteX10" fmla="*/ 578902 w 629382"/>
              <a:gd name="connsiteY10" fmla="*/ 251454 h 696062"/>
              <a:gd name="connsiteX11" fmla="*/ 629383 w 629382"/>
              <a:gd name="connsiteY11" fmla="*/ 200973 h 696062"/>
              <a:gd name="connsiteX12" fmla="*/ 578902 w 629382"/>
              <a:gd name="connsiteY12" fmla="*/ 150492 h 696062"/>
              <a:gd name="connsiteX13" fmla="*/ 532339 w 629382"/>
              <a:gd name="connsiteY13" fmla="*/ 181585 h 696062"/>
              <a:gd name="connsiteX14" fmla="*/ 501756 w 629382"/>
              <a:gd name="connsiteY14" fmla="*/ 181585 h 696062"/>
              <a:gd name="connsiteX15" fmla="*/ 440232 w 629382"/>
              <a:gd name="connsiteY15" fmla="*/ 292673 h 696062"/>
              <a:gd name="connsiteX16" fmla="*/ 393364 w 629382"/>
              <a:gd name="connsiteY16" fmla="*/ 325038 h 696062"/>
              <a:gd name="connsiteX17" fmla="*/ 358608 w 629382"/>
              <a:gd name="connsiteY17" fmla="*/ 325038 h 696062"/>
              <a:gd name="connsiteX18" fmla="*/ 359422 w 629382"/>
              <a:gd name="connsiteY18" fmla="*/ 219547 h 696062"/>
              <a:gd name="connsiteX19" fmla="*/ 260190 w 629382"/>
              <a:gd name="connsiteY19" fmla="*/ 116804 h 696062"/>
              <a:gd name="connsiteX20" fmla="*/ 158160 w 629382"/>
              <a:gd name="connsiteY20" fmla="*/ 9634 h 696062"/>
              <a:gd name="connsiteX21" fmla="*/ 5445 w 629382"/>
              <a:gd name="connsiteY21" fmla="*/ 35078 h 696062"/>
              <a:gd name="connsiteX22" fmla="*/ 0 w 629382"/>
              <a:gd name="connsiteY22" fmla="*/ 39658 h 696062"/>
              <a:gd name="connsiteX23" fmla="*/ 0 w 629382"/>
              <a:gd name="connsiteY23" fmla="*/ 656268 h 696062"/>
              <a:gd name="connsiteX24" fmla="*/ 5445 w 629382"/>
              <a:gd name="connsiteY24" fmla="*/ 660848 h 696062"/>
              <a:gd name="connsiteX25" fmla="*/ 102234 w 629382"/>
              <a:gd name="connsiteY25" fmla="*/ 696063 h 696062"/>
              <a:gd name="connsiteX26" fmla="*/ 162892 w 629382"/>
              <a:gd name="connsiteY26" fmla="*/ 684307 h 696062"/>
              <a:gd name="connsiteX27" fmla="*/ 262124 w 629382"/>
              <a:gd name="connsiteY27" fmla="*/ 573117 h 696062"/>
              <a:gd name="connsiteX28" fmla="*/ 357641 w 629382"/>
              <a:gd name="connsiteY28" fmla="*/ 477397 h 696062"/>
              <a:gd name="connsiteX29" fmla="*/ 354384 w 629382"/>
              <a:gd name="connsiteY29" fmla="*/ 355622 h 696062"/>
              <a:gd name="connsiteX30" fmla="*/ 391532 w 629382"/>
              <a:gd name="connsiteY30" fmla="*/ 355622 h 696062"/>
              <a:gd name="connsiteX31" fmla="*/ 440385 w 629382"/>
              <a:gd name="connsiteY31" fmla="*/ 393635 h 696062"/>
              <a:gd name="connsiteX32" fmla="*/ 444354 w 629382"/>
              <a:gd name="connsiteY32" fmla="*/ 393482 h 696062"/>
              <a:gd name="connsiteX33" fmla="*/ 504147 w 629382"/>
              <a:gd name="connsiteY33" fmla="*/ 499075 h 696062"/>
              <a:gd name="connsiteX34" fmla="*/ 530406 w 629382"/>
              <a:gd name="connsiteY34" fmla="*/ 499075 h 696062"/>
              <a:gd name="connsiteX35" fmla="*/ 578902 w 629382"/>
              <a:gd name="connsiteY35" fmla="*/ 535664 h 696062"/>
              <a:gd name="connsiteX36" fmla="*/ 629383 w 629382"/>
              <a:gd name="connsiteY36" fmla="*/ 485183 h 696062"/>
              <a:gd name="connsiteX37" fmla="*/ 578902 w 629382"/>
              <a:gd name="connsiteY37" fmla="*/ 434702 h 696062"/>
              <a:gd name="connsiteX38" fmla="*/ 531322 w 629382"/>
              <a:gd name="connsiteY38" fmla="*/ 468491 h 696062"/>
              <a:gd name="connsiteX39" fmla="*/ 521958 w 629382"/>
              <a:gd name="connsiteY39" fmla="*/ 468491 h 696062"/>
              <a:gd name="connsiteX40" fmla="*/ 472800 w 629382"/>
              <a:gd name="connsiteY40" fmla="*/ 381676 h 696062"/>
              <a:gd name="connsiteX41" fmla="*/ 489237 w 629382"/>
              <a:gd name="connsiteY41" fmla="*/ 355571 h 696062"/>
              <a:gd name="connsiteX42" fmla="*/ 578800 w 629382"/>
              <a:gd name="connsiteY42" fmla="*/ 323257 h 696062"/>
              <a:gd name="connsiteX43" fmla="*/ 598748 w 629382"/>
              <a:gd name="connsiteY43" fmla="*/ 343205 h 696062"/>
              <a:gd name="connsiteX44" fmla="*/ 578800 w 629382"/>
              <a:gd name="connsiteY44" fmla="*/ 363153 h 696062"/>
              <a:gd name="connsiteX45" fmla="*/ 558852 w 629382"/>
              <a:gd name="connsiteY45" fmla="*/ 343205 h 696062"/>
              <a:gd name="connsiteX46" fmla="*/ 578800 w 629382"/>
              <a:gd name="connsiteY46" fmla="*/ 323257 h 696062"/>
              <a:gd name="connsiteX47" fmla="*/ 578800 w 629382"/>
              <a:gd name="connsiteY47" fmla="*/ 181076 h 696062"/>
              <a:gd name="connsiteX48" fmla="*/ 598748 w 629382"/>
              <a:gd name="connsiteY48" fmla="*/ 201024 h 696062"/>
              <a:gd name="connsiteX49" fmla="*/ 578800 w 629382"/>
              <a:gd name="connsiteY49" fmla="*/ 220972 h 696062"/>
              <a:gd name="connsiteX50" fmla="*/ 558852 w 629382"/>
              <a:gd name="connsiteY50" fmla="*/ 201024 h 696062"/>
              <a:gd name="connsiteX51" fmla="*/ 578800 w 629382"/>
              <a:gd name="connsiteY51" fmla="*/ 181076 h 696062"/>
              <a:gd name="connsiteX52" fmla="*/ 248995 w 629382"/>
              <a:gd name="connsiteY52" fmla="*/ 311146 h 696062"/>
              <a:gd name="connsiteX53" fmla="*/ 324462 w 629382"/>
              <a:gd name="connsiteY53" fmla="*/ 423150 h 696062"/>
              <a:gd name="connsiteX54" fmla="*/ 265737 w 629382"/>
              <a:gd name="connsiteY54" fmla="*/ 525740 h 696062"/>
              <a:gd name="connsiteX55" fmla="*/ 265584 w 629382"/>
              <a:gd name="connsiteY55" fmla="*/ 520397 h 696062"/>
              <a:gd name="connsiteX56" fmla="*/ 223297 w 629382"/>
              <a:gd name="connsiteY56" fmla="*/ 520397 h 696062"/>
              <a:gd name="connsiteX57" fmla="*/ 223704 w 629382"/>
              <a:gd name="connsiteY57" fmla="*/ 536071 h 696062"/>
              <a:gd name="connsiteX58" fmla="*/ 158669 w 629382"/>
              <a:gd name="connsiteY58" fmla="*/ 640137 h 696062"/>
              <a:gd name="connsiteX59" fmla="*/ 42288 w 629382"/>
              <a:gd name="connsiteY59" fmla="*/ 635557 h 696062"/>
              <a:gd name="connsiteX60" fmla="*/ 42288 w 629382"/>
              <a:gd name="connsiteY60" fmla="*/ 549403 h 696062"/>
              <a:gd name="connsiteX61" fmla="*/ 45189 w 629382"/>
              <a:gd name="connsiteY61" fmla="*/ 549302 h 696062"/>
              <a:gd name="connsiteX62" fmla="*/ 111292 w 629382"/>
              <a:gd name="connsiteY62" fmla="*/ 559377 h 696062"/>
              <a:gd name="connsiteX63" fmla="*/ 118365 w 629382"/>
              <a:gd name="connsiteY63" fmla="*/ 581310 h 696062"/>
              <a:gd name="connsiteX64" fmla="*/ 118213 w 629382"/>
              <a:gd name="connsiteY64" fmla="*/ 596729 h 696062"/>
              <a:gd name="connsiteX65" fmla="*/ 160857 w 629382"/>
              <a:gd name="connsiteY65" fmla="*/ 596729 h 696062"/>
              <a:gd name="connsiteX66" fmla="*/ 160653 w 629382"/>
              <a:gd name="connsiteY66" fmla="*/ 581259 h 696062"/>
              <a:gd name="connsiteX67" fmla="*/ 140604 w 629382"/>
              <a:gd name="connsiteY67" fmla="*/ 528692 h 696062"/>
              <a:gd name="connsiteX68" fmla="*/ 42288 w 629382"/>
              <a:gd name="connsiteY68" fmla="*/ 506810 h 696062"/>
              <a:gd name="connsiteX69" fmla="*/ 42288 w 629382"/>
              <a:gd name="connsiteY69" fmla="*/ 416942 h 696062"/>
              <a:gd name="connsiteX70" fmla="*/ 198107 w 629382"/>
              <a:gd name="connsiteY70" fmla="*/ 416942 h 696062"/>
              <a:gd name="connsiteX71" fmla="*/ 225383 w 629382"/>
              <a:gd name="connsiteY71" fmla="*/ 448849 h 696062"/>
              <a:gd name="connsiteX72" fmla="*/ 225383 w 629382"/>
              <a:gd name="connsiteY72" fmla="*/ 464115 h 696062"/>
              <a:gd name="connsiteX73" fmla="*/ 267671 w 629382"/>
              <a:gd name="connsiteY73" fmla="*/ 464115 h 696062"/>
              <a:gd name="connsiteX74" fmla="*/ 267671 w 629382"/>
              <a:gd name="connsiteY74" fmla="*/ 448849 h 696062"/>
              <a:gd name="connsiteX75" fmla="*/ 198107 w 629382"/>
              <a:gd name="connsiteY75" fmla="*/ 374654 h 696062"/>
              <a:gd name="connsiteX76" fmla="*/ 42288 w 629382"/>
              <a:gd name="connsiteY76" fmla="*/ 374654 h 696062"/>
              <a:gd name="connsiteX77" fmla="*/ 42288 w 629382"/>
              <a:gd name="connsiteY77" fmla="*/ 285345 h 696062"/>
              <a:gd name="connsiteX78" fmla="*/ 161926 w 629382"/>
              <a:gd name="connsiteY78" fmla="*/ 285345 h 696062"/>
              <a:gd name="connsiteX79" fmla="*/ 231490 w 629382"/>
              <a:gd name="connsiteY79" fmla="*/ 215782 h 696062"/>
              <a:gd name="connsiteX80" fmla="*/ 231490 w 629382"/>
              <a:gd name="connsiteY80" fmla="*/ 200515 h 696062"/>
              <a:gd name="connsiteX81" fmla="*/ 189202 w 629382"/>
              <a:gd name="connsiteY81" fmla="*/ 200515 h 696062"/>
              <a:gd name="connsiteX82" fmla="*/ 189202 w 629382"/>
              <a:gd name="connsiteY82" fmla="*/ 215782 h 696062"/>
              <a:gd name="connsiteX83" fmla="*/ 161926 w 629382"/>
              <a:gd name="connsiteY83" fmla="*/ 243058 h 696062"/>
              <a:gd name="connsiteX84" fmla="*/ 42288 w 629382"/>
              <a:gd name="connsiteY84" fmla="*/ 243058 h 696062"/>
              <a:gd name="connsiteX85" fmla="*/ 42288 w 629382"/>
              <a:gd name="connsiteY85" fmla="*/ 153851 h 696062"/>
              <a:gd name="connsiteX86" fmla="*/ 97400 w 629382"/>
              <a:gd name="connsiteY86" fmla="*/ 153851 h 696062"/>
              <a:gd name="connsiteX87" fmla="*/ 97400 w 629382"/>
              <a:gd name="connsiteY87" fmla="*/ 111563 h 696062"/>
              <a:gd name="connsiteX88" fmla="*/ 42288 w 629382"/>
              <a:gd name="connsiteY88" fmla="*/ 111563 h 696062"/>
              <a:gd name="connsiteX89" fmla="*/ 42288 w 629382"/>
              <a:gd name="connsiteY89" fmla="*/ 60370 h 696062"/>
              <a:gd name="connsiteX90" fmla="*/ 143504 w 629382"/>
              <a:gd name="connsiteY90" fmla="*/ 49123 h 696062"/>
              <a:gd name="connsiteX91" fmla="*/ 211592 w 629382"/>
              <a:gd name="connsiteY91" fmla="*/ 107187 h 696062"/>
              <a:gd name="connsiteX92" fmla="*/ 161620 w 629382"/>
              <a:gd name="connsiteY92" fmla="*/ 114820 h 696062"/>
              <a:gd name="connsiteX93" fmla="*/ 147626 w 629382"/>
              <a:gd name="connsiteY93" fmla="*/ 119501 h 696062"/>
              <a:gd name="connsiteX94" fmla="*/ 159585 w 629382"/>
              <a:gd name="connsiteY94" fmla="*/ 160212 h 696062"/>
              <a:gd name="connsiteX95" fmla="*/ 174699 w 629382"/>
              <a:gd name="connsiteY95" fmla="*/ 155072 h 696062"/>
              <a:gd name="connsiteX96" fmla="*/ 223856 w 629382"/>
              <a:gd name="connsiteY96" fmla="*/ 150645 h 696062"/>
              <a:gd name="connsiteX97" fmla="*/ 224009 w 629382"/>
              <a:gd name="connsiteY97" fmla="*/ 151459 h 696062"/>
              <a:gd name="connsiteX98" fmla="*/ 226146 w 629382"/>
              <a:gd name="connsiteY98" fmla="*/ 151052 h 696062"/>
              <a:gd name="connsiteX99" fmla="*/ 300443 w 629382"/>
              <a:gd name="connsiteY99" fmla="*/ 197818 h 696062"/>
              <a:gd name="connsiteX100" fmla="*/ 319424 w 629382"/>
              <a:gd name="connsiteY100" fmla="*/ 306566 h 696062"/>
              <a:gd name="connsiteX101" fmla="*/ 263091 w 629382"/>
              <a:gd name="connsiteY101" fmla="*/ 271250 h 696062"/>
              <a:gd name="connsiteX102" fmla="*/ 248791 w 629382"/>
              <a:gd name="connsiteY102" fmla="*/ 266110 h 696062"/>
              <a:gd name="connsiteX103" fmla="*/ 234085 w 629382"/>
              <a:gd name="connsiteY103" fmla="*/ 306159 h 696062"/>
              <a:gd name="connsiteX104" fmla="*/ 248995 w 629382"/>
              <a:gd name="connsiteY104" fmla="*/ 311146 h 696062"/>
              <a:gd name="connsiteX105" fmla="*/ 439214 w 629382"/>
              <a:gd name="connsiteY105" fmla="*/ 362899 h 696062"/>
              <a:gd name="connsiteX106" fmla="*/ 419317 w 629382"/>
              <a:gd name="connsiteY106" fmla="*/ 343002 h 696062"/>
              <a:gd name="connsiteX107" fmla="*/ 439214 w 629382"/>
              <a:gd name="connsiteY107" fmla="*/ 323104 h 696062"/>
              <a:gd name="connsiteX108" fmla="*/ 459112 w 629382"/>
              <a:gd name="connsiteY108" fmla="*/ 343002 h 696062"/>
              <a:gd name="connsiteX109" fmla="*/ 439214 w 629382"/>
              <a:gd name="connsiteY109" fmla="*/ 362899 h 696062"/>
              <a:gd name="connsiteX110" fmla="*/ 578800 w 629382"/>
              <a:gd name="connsiteY110" fmla="*/ 465285 h 696062"/>
              <a:gd name="connsiteX111" fmla="*/ 598748 w 629382"/>
              <a:gd name="connsiteY111" fmla="*/ 485234 h 696062"/>
              <a:gd name="connsiteX112" fmla="*/ 578800 w 629382"/>
              <a:gd name="connsiteY112" fmla="*/ 505182 h 696062"/>
              <a:gd name="connsiteX113" fmla="*/ 558852 w 629382"/>
              <a:gd name="connsiteY113" fmla="*/ 485234 h 696062"/>
              <a:gd name="connsiteX114" fmla="*/ 578800 w 629382"/>
              <a:gd name="connsiteY114" fmla="*/ 465285 h 69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629382" h="696062">
                <a:moveTo>
                  <a:pt x="489186" y="355622"/>
                </a:moveTo>
                <a:lnTo>
                  <a:pt x="529999" y="355622"/>
                </a:lnTo>
                <a:cubicBezTo>
                  <a:pt x="535545" y="377453"/>
                  <a:pt x="555341" y="393635"/>
                  <a:pt x="578851" y="393635"/>
                </a:cubicBezTo>
                <a:cubicBezTo>
                  <a:pt x="606687" y="393635"/>
                  <a:pt x="629332" y="370990"/>
                  <a:pt x="629332" y="343154"/>
                </a:cubicBezTo>
                <a:cubicBezTo>
                  <a:pt x="629332" y="315318"/>
                  <a:pt x="606687" y="292673"/>
                  <a:pt x="578851" y="292673"/>
                </a:cubicBezTo>
                <a:cubicBezTo>
                  <a:pt x="557427" y="292673"/>
                  <a:pt x="539107" y="306159"/>
                  <a:pt x="531831" y="325038"/>
                </a:cubicBezTo>
                <a:lnTo>
                  <a:pt x="487456" y="325038"/>
                </a:lnTo>
                <a:cubicBezTo>
                  <a:pt x="483894" y="315827"/>
                  <a:pt x="477686" y="307940"/>
                  <a:pt x="469849" y="302240"/>
                </a:cubicBezTo>
                <a:lnTo>
                  <a:pt x="519770" y="212169"/>
                </a:lnTo>
                <a:lnTo>
                  <a:pt x="529744" y="212169"/>
                </a:lnTo>
                <a:cubicBezTo>
                  <a:pt x="534833" y="234610"/>
                  <a:pt x="554934" y="251454"/>
                  <a:pt x="578902" y="251454"/>
                </a:cubicBezTo>
                <a:cubicBezTo>
                  <a:pt x="606738" y="251454"/>
                  <a:pt x="629383" y="228809"/>
                  <a:pt x="629383" y="200973"/>
                </a:cubicBezTo>
                <a:cubicBezTo>
                  <a:pt x="629383" y="173137"/>
                  <a:pt x="606738" y="150492"/>
                  <a:pt x="578902" y="150492"/>
                </a:cubicBezTo>
                <a:cubicBezTo>
                  <a:pt x="557936" y="150492"/>
                  <a:pt x="539922" y="163367"/>
                  <a:pt x="532339" y="181585"/>
                </a:cubicBezTo>
                <a:lnTo>
                  <a:pt x="501756" y="181585"/>
                </a:lnTo>
                <a:lnTo>
                  <a:pt x="440232" y="292673"/>
                </a:lnTo>
                <a:cubicBezTo>
                  <a:pt x="418859" y="292775"/>
                  <a:pt x="400641" y="306210"/>
                  <a:pt x="393364" y="325038"/>
                </a:cubicBezTo>
                <a:lnTo>
                  <a:pt x="358608" y="325038"/>
                </a:lnTo>
                <a:cubicBezTo>
                  <a:pt x="371686" y="291961"/>
                  <a:pt x="372144" y="255423"/>
                  <a:pt x="359422" y="219547"/>
                </a:cubicBezTo>
                <a:cubicBezTo>
                  <a:pt x="342782" y="172425"/>
                  <a:pt x="305226" y="133801"/>
                  <a:pt x="260190" y="116804"/>
                </a:cubicBezTo>
                <a:cubicBezTo>
                  <a:pt x="247316" y="67392"/>
                  <a:pt x="209760" y="27700"/>
                  <a:pt x="158160" y="9634"/>
                </a:cubicBezTo>
                <a:cubicBezTo>
                  <a:pt x="103913" y="-9398"/>
                  <a:pt x="46868" y="118"/>
                  <a:pt x="5445" y="35078"/>
                </a:cubicBezTo>
                <a:lnTo>
                  <a:pt x="0" y="39658"/>
                </a:lnTo>
                <a:lnTo>
                  <a:pt x="0" y="656268"/>
                </a:lnTo>
                <a:lnTo>
                  <a:pt x="5445" y="660848"/>
                </a:lnTo>
                <a:cubicBezTo>
                  <a:pt x="33026" y="684053"/>
                  <a:pt x="66918" y="696063"/>
                  <a:pt x="102234" y="696063"/>
                </a:cubicBezTo>
                <a:cubicBezTo>
                  <a:pt x="122284" y="696063"/>
                  <a:pt x="142843" y="692195"/>
                  <a:pt x="162892" y="684307"/>
                </a:cubicBezTo>
                <a:cubicBezTo>
                  <a:pt x="213780" y="664308"/>
                  <a:pt x="250623" y="622529"/>
                  <a:pt x="262124" y="573117"/>
                </a:cubicBezTo>
                <a:cubicBezTo>
                  <a:pt x="305277" y="558716"/>
                  <a:pt x="340644" y="523450"/>
                  <a:pt x="357641" y="477397"/>
                </a:cubicBezTo>
                <a:cubicBezTo>
                  <a:pt x="372856" y="436177"/>
                  <a:pt x="371381" y="392159"/>
                  <a:pt x="354384" y="355622"/>
                </a:cubicBezTo>
                <a:lnTo>
                  <a:pt x="391532" y="355622"/>
                </a:lnTo>
                <a:cubicBezTo>
                  <a:pt x="397079" y="377453"/>
                  <a:pt x="416875" y="393635"/>
                  <a:pt x="440385" y="393635"/>
                </a:cubicBezTo>
                <a:cubicBezTo>
                  <a:pt x="441708" y="393635"/>
                  <a:pt x="443031" y="393584"/>
                  <a:pt x="444354" y="393482"/>
                </a:cubicBezTo>
                <a:lnTo>
                  <a:pt x="504147" y="499075"/>
                </a:lnTo>
                <a:lnTo>
                  <a:pt x="530406" y="499075"/>
                </a:lnTo>
                <a:cubicBezTo>
                  <a:pt x="536461" y="520194"/>
                  <a:pt x="555850" y="535664"/>
                  <a:pt x="578902" y="535664"/>
                </a:cubicBezTo>
                <a:cubicBezTo>
                  <a:pt x="606738" y="535664"/>
                  <a:pt x="629383" y="513018"/>
                  <a:pt x="629383" y="485183"/>
                </a:cubicBezTo>
                <a:cubicBezTo>
                  <a:pt x="629383" y="457347"/>
                  <a:pt x="606738" y="434702"/>
                  <a:pt x="578902" y="434702"/>
                </a:cubicBezTo>
                <a:cubicBezTo>
                  <a:pt x="556918" y="434702"/>
                  <a:pt x="538242" y="448849"/>
                  <a:pt x="531322" y="468491"/>
                </a:cubicBezTo>
                <a:lnTo>
                  <a:pt x="521958" y="468491"/>
                </a:lnTo>
                <a:lnTo>
                  <a:pt x="472800" y="381676"/>
                </a:lnTo>
                <a:cubicBezTo>
                  <a:pt x="480739" y="374959"/>
                  <a:pt x="486591" y="365901"/>
                  <a:pt x="489237" y="355571"/>
                </a:cubicBezTo>
                <a:close/>
                <a:moveTo>
                  <a:pt x="578800" y="323257"/>
                </a:moveTo>
                <a:cubicBezTo>
                  <a:pt x="589792" y="323257"/>
                  <a:pt x="598748" y="332213"/>
                  <a:pt x="598748" y="343205"/>
                </a:cubicBezTo>
                <a:cubicBezTo>
                  <a:pt x="598748" y="354197"/>
                  <a:pt x="589792" y="363153"/>
                  <a:pt x="578800" y="363153"/>
                </a:cubicBezTo>
                <a:cubicBezTo>
                  <a:pt x="567808" y="363153"/>
                  <a:pt x="558852" y="354197"/>
                  <a:pt x="558852" y="343205"/>
                </a:cubicBezTo>
                <a:cubicBezTo>
                  <a:pt x="558852" y="332213"/>
                  <a:pt x="567808" y="323257"/>
                  <a:pt x="578800" y="323257"/>
                </a:cubicBezTo>
                <a:close/>
                <a:moveTo>
                  <a:pt x="578800" y="181076"/>
                </a:moveTo>
                <a:cubicBezTo>
                  <a:pt x="589792" y="181076"/>
                  <a:pt x="598748" y="190032"/>
                  <a:pt x="598748" y="201024"/>
                </a:cubicBezTo>
                <a:cubicBezTo>
                  <a:pt x="598748" y="212016"/>
                  <a:pt x="589792" y="220972"/>
                  <a:pt x="578800" y="220972"/>
                </a:cubicBezTo>
                <a:cubicBezTo>
                  <a:pt x="567808" y="220972"/>
                  <a:pt x="558852" y="212016"/>
                  <a:pt x="558852" y="201024"/>
                </a:cubicBezTo>
                <a:cubicBezTo>
                  <a:pt x="558852" y="190032"/>
                  <a:pt x="567808" y="181076"/>
                  <a:pt x="578800" y="181076"/>
                </a:cubicBezTo>
                <a:close/>
                <a:moveTo>
                  <a:pt x="248995" y="311146"/>
                </a:moveTo>
                <a:cubicBezTo>
                  <a:pt x="305532" y="330025"/>
                  <a:pt x="324971" y="383254"/>
                  <a:pt x="324462" y="423150"/>
                </a:cubicBezTo>
                <a:cubicBezTo>
                  <a:pt x="324004" y="458314"/>
                  <a:pt x="307974" y="503401"/>
                  <a:pt x="265737" y="525740"/>
                </a:cubicBezTo>
                <a:lnTo>
                  <a:pt x="265584" y="520397"/>
                </a:lnTo>
                <a:lnTo>
                  <a:pt x="223297" y="520397"/>
                </a:lnTo>
                <a:lnTo>
                  <a:pt x="223704" y="536071"/>
                </a:lnTo>
                <a:cubicBezTo>
                  <a:pt x="224874" y="579275"/>
                  <a:pt x="199939" y="619171"/>
                  <a:pt x="158669" y="640137"/>
                </a:cubicBezTo>
                <a:cubicBezTo>
                  <a:pt x="119689" y="659881"/>
                  <a:pt x="75823" y="657998"/>
                  <a:pt x="42288" y="635557"/>
                </a:cubicBezTo>
                <a:lnTo>
                  <a:pt x="42288" y="549403"/>
                </a:lnTo>
                <a:cubicBezTo>
                  <a:pt x="43255" y="549403"/>
                  <a:pt x="44222" y="549352"/>
                  <a:pt x="45189" y="549302"/>
                </a:cubicBezTo>
                <a:cubicBezTo>
                  <a:pt x="69157" y="548436"/>
                  <a:pt x="98926" y="547368"/>
                  <a:pt x="111292" y="559377"/>
                </a:cubicBezTo>
                <a:cubicBezTo>
                  <a:pt x="116126" y="564110"/>
                  <a:pt x="118467" y="571285"/>
                  <a:pt x="118365" y="581310"/>
                </a:cubicBezTo>
                <a:lnTo>
                  <a:pt x="118213" y="596729"/>
                </a:lnTo>
                <a:lnTo>
                  <a:pt x="160857" y="596729"/>
                </a:lnTo>
                <a:lnTo>
                  <a:pt x="160653" y="581259"/>
                </a:lnTo>
                <a:cubicBezTo>
                  <a:pt x="160399" y="558868"/>
                  <a:pt x="153631" y="541210"/>
                  <a:pt x="140604" y="528692"/>
                </a:cubicBezTo>
                <a:cubicBezTo>
                  <a:pt x="116177" y="505233"/>
                  <a:pt x="75518" y="505843"/>
                  <a:pt x="42288" y="506810"/>
                </a:cubicBezTo>
                <a:lnTo>
                  <a:pt x="42288" y="416942"/>
                </a:lnTo>
                <a:lnTo>
                  <a:pt x="198107" y="416942"/>
                </a:lnTo>
                <a:cubicBezTo>
                  <a:pt x="213170" y="416942"/>
                  <a:pt x="225383" y="431241"/>
                  <a:pt x="225383" y="448849"/>
                </a:cubicBezTo>
                <a:lnTo>
                  <a:pt x="225383" y="464115"/>
                </a:lnTo>
                <a:lnTo>
                  <a:pt x="267671" y="464115"/>
                </a:lnTo>
                <a:lnTo>
                  <a:pt x="267671" y="448849"/>
                </a:lnTo>
                <a:cubicBezTo>
                  <a:pt x="267671" y="407935"/>
                  <a:pt x="236477" y="374654"/>
                  <a:pt x="198107" y="374654"/>
                </a:cubicBezTo>
                <a:lnTo>
                  <a:pt x="42288" y="374654"/>
                </a:lnTo>
                <a:lnTo>
                  <a:pt x="42288" y="285345"/>
                </a:lnTo>
                <a:lnTo>
                  <a:pt x="161926" y="285345"/>
                </a:lnTo>
                <a:cubicBezTo>
                  <a:pt x="200295" y="285345"/>
                  <a:pt x="231490" y="254151"/>
                  <a:pt x="231490" y="215782"/>
                </a:cubicBezTo>
                <a:lnTo>
                  <a:pt x="231490" y="200515"/>
                </a:lnTo>
                <a:lnTo>
                  <a:pt x="189202" y="200515"/>
                </a:lnTo>
                <a:lnTo>
                  <a:pt x="189202" y="215782"/>
                </a:lnTo>
                <a:cubicBezTo>
                  <a:pt x="189202" y="230794"/>
                  <a:pt x="176988" y="243058"/>
                  <a:pt x="161926" y="243058"/>
                </a:cubicBezTo>
                <a:lnTo>
                  <a:pt x="42288" y="243058"/>
                </a:lnTo>
                <a:lnTo>
                  <a:pt x="42288" y="153851"/>
                </a:lnTo>
                <a:lnTo>
                  <a:pt x="97400" y="153851"/>
                </a:lnTo>
                <a:lnTo>
                  <a:pt x="97400" y="111563"/>
                </a:lnTo>
                <a:lnTo>
                  <a:pt x="42288" y="111563"/>
                </a:lnTo>
                <a:lnTo>
                  <a:pt x="42288" y="60370"/>
                </a:lnTo>
                <a:cubicBezTo>
                  <a:pt x="70989" y="41185"/>
                  <a:pt x="108239" y="36961"/>
                  <a:pt x="143504" y="49123"/>
                </a:cubicBezTo>
                <a:cubicBezTo>
                  <a:pt x="174088" y="59708"/>
                  <a:pt x="198311" y="80674"/>
                  <a:pt x="211592" y="107187"/>
                </a:cubicBezTo>
                <a:cubicBezTo>
                  <a:pt x="194850" y="106779"/>
                  <a:pt x="178108" y="109324"/>
                  <a:pt x="161620" y="114820"/>
                </a:cubicBezTo>
                <a:lnTo>
                  <a:pt x="147626" y="119501"/>
                </a:lnTo>
                <a:lnTo>
                  <a:pt x="159585" y="160212"/>
                </a:lnTo>
                <a:lnTo>
                  <a:pt x="174699" y="155072"/>
                </a:lnTo>
                <a:cubicBezTo>
                  <a:pt x="191899" y="149169"/>
                  <a:pt x="208488" y="148202"/>
                  <a:pt x="223856" y="150645"/>
                </a:cubicBezTo>
                <a:lnTo>
                  <a:pt x="224009" y="151459"/>
                </a:lnTo>
                <a:lnTo>
                  <a:pt x="226146" y="151052"/>
                </a:lnTo>
                <a:cubicBezTo>
                  <a:pt x="257951" y="156802"/>
                  <a:pt x="284311" y="177005"/>
                  <a:pt x="300443" y="197818"/>
                </a:cubicBezTo>
                <a:cubicBezTo>
                  <a:pt x="321561" y="225043"/>
                  <a:pt x="335810" y="266212"/>
                  <a:pt x="319424" y="306566"/>
                </a:cubicBezTo>
                <a:cubicBezTo>
                  <a:pt x="303343" y="291147"/>
                  <a:pt x="283650" y="278679"/>
                  <a:pt x="263091" y="271250"/>
                </a:cubicBezTo>
                <a:lnTo>
                  <a:pt x="248791" y="266110"/>
                </a:lnTo>
                <a:lnTo>
                  <a:pt x="234085" y="306159"/>
                </a:lnTo>
                <a:lnTo>
                  <a:pt x="248995" y="311146"/>
                </a:lnTo>
                <a:close/>
                <a:moveTo>
                  <a:pt x="439214" y="362899"/>
                </a:moveTo>
                <a:cubicBezTo>
                  <a:pt x="428223" y="362899"/>
                  <a:pt x="419317" y="353993"/>
                  <a:pt x="419317" y="343002"/>
                </a:cubicBezTo>
                <a:cubicBezTo>
                  <a:pt x="419317" y="332010"/>
                  <a:pt x="428223" y="323104"/>
                  <a:pt x="439214" y="323104"/>
                </a:cubicBezTo>
                <a:cubicBezTo>
                  <a:pt x="450206" y="323104"/>
                  <a:pt x="459112" y="332010"/>
                  <a:pt x="459112" y="343002"/>
                </a:cubicBezTo>
                <a:cubicBezTo>
                  <a:pt x="459112" y="353993"/>
                  <a:pt x="450206" y="362899"/>
                  <a:pt x="439214" y="362899"/>
                </a:cubicBezTo>
                <a:close/>
                <a:moveTo>
                  <a:pt x="578800" y="465285"/>
                </a:moveTo>
                <a:cubicBezTo>
                  <a:pt x="589792" y="465285"/>
                  <a:pt x="598748" y="474242"/>
                  <a:pt x="598748" y="485234"/>
                </a:cubicBezTo>
                <a:cubicBezTo>
                  <a:pt x="598748" y="496225"/>
                  <a:pt x="589792" y="505182"/>
                  <a:pt x="578800" y="505182"/>
                </a:cubicBezTo>
                <a:cubicBezTo>
                  <a:pt x="567808" y="505182"/>
                  <a:pt x="558852" y="496225"/>
                  <a:pt x="558852" y="485234"/>
                </a:cubicBezTo>
                <a:cubicBezTo>
                  <a:pt x="558852" y="474242"/>
                  <a:pt x="567808" y="465285"/>
                  <a:pt x="578800" y="465285"/>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5861352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3195"/>
                                        </p:tgtEl>
                                        <p:attrNameLst>
                                          <p:attrName>style.visibility</p:attrName>
                                        </p:attrNameLst>
                                      </p:cBhvr>
                                      <p:to>
                                        <p:strVal val="visible"/>
                                      </p:to>
                                    </p:set>
                                    <p:animEffect transition="in" filter="wipe(right)">
                                      <p:cBhvr>
                                        <p:cTn id="7" dur="1000"/>
                                        <p:tgtEl>
                                          <p:spTgt spid="3195"/>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ipe(left)">
                                      <p:cBhvr>
                                        <p:cTn id="11" dur="1000"/>
                                        <p:tgtEl>
                                          <p:spTgt spid="30"/>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wipe(left)">
                                      <p:cBhvr>
                                        <p:cTn id="15" dur="1000"/>
                                        <p:tgtEl>
                                          <p:spTgt spid="31"/>
                                        </p:tgtEl>
                                      </p:cBhvr>
                                    </p:animEffect>
                                  </p:childTnLst>
                                </p:cTn>
                              </p:par>
                            </p:childTnLst>
                          </p:cTn>
                        </p:par>
                        <p:par>
                          <p:cTn id="16" fill="hold">
                            <p:stCondLst>
                              <p:cond delay="3000"/>
                            </p:stCondLst>
                            <p:childTnLst>
                              <p:par>
                                <p:cTn id="17" presetID="22" presetClass="entr" presetSubtype="8" fill="hold"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wipe(left)">
                                      <p:cBhvr>
                                        <p:cTn id="19" dur="1000"/>
                                        <p:tgtEl>
                                          <p:spTgt spid="32"/>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1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413"/>
        <p:cNvGrpSpPr/>
        <p:nvPr/>
      </p:nvGrpSpPr>
      <p:grpSpPr>
        <a:xfrm>
          <a:off x="0" y="0"/>
          <a:ext cx="0" cy="0"/>
          <a:chOff x="0" y="0"/>
          <a:chExt cx="0" cy="0"/>
        </a:xfrm>
      </p:grpSpPr>
      <p:sp>
        <p:nvSpPr>
          <p:cNvPr id="1450" name="Rectangle 1449"/>
          <p:cNvSpPr/>
          <p:nvPr/>
        </p:nvSpPr>
        <p:spPr>
          <a:xfrm>
            <a:off x="548640" y="1737359"/>
            <a:ext cx="10607040" cy="3984061"/>
          </a:xfrm>
          <a:prstGeom prst="rect">
            <a:avLst/>
          </a:prstGeom>
          <a:solidFill>
            <a:srgbClr val="F3F7FE"/>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Tx/>
              <a:buNone/>
              <a:tabLst/>
              <a:defRPr/>
            </a:pPr>
            <a:endParaRPr kumimoji="0" sz="1400" b="0" i="0" u="none" strike="noStrike" kern="1200" cap="none" spc="0" normalizeH="0" baseline="0" noProof="0">
              <a:ln>
                <a:noFill/>
              </a:ln>
              <a:solidFill>
                <a:srgbClr val="000000"/>
              </a:solidFill>
              <a:effectLst/>
              <a:uLnTx/>
              <a:uFillTx/>
              <a:latin typeface="Roboto"/>
              <a:ea typeface="Roboto"/>
              <a:cs typeface="Roboto"/>
            </a:endParaRPr>
          </a:p>
        </p:txBody>
      </p:sp>
      <p:sp>
        <p:nvSpPr>
          <p:cNvPr id="1414" name="Google Shape;1414;g395e940b0ae_0_453"/>
          <p:cNvSpPr txBox="1">
            <a:spLocks noGrp="1"/>
          </p:cNvSpPr>
          <p:nvPr>
            <p:ph type="title"/>
          </p:nvPr>
        </p:nvSpPr>
        <p:spPr>
          <a:xfrm>
            <a:off x="579809" y="412751"/>
            <a:ext cx="11001000" cy="381000"/>
          </a:xfrm>
          <a:prstGeom prst="rect">
            <a:avLst/>
          </a:prstGeom>
          <a:noFill/>
          <a:ln>
            <a:noFill/>
          </a:ln>
        </p:spPr>
        <p:txBody>
          <a:bodyPr spcFirstLastPara="1" wrap="square" lIns="0" tIns="0" rIns="0" bIns="0" anchor="b" anchorCtr="0">
            <a:noAutofit/>
          </a:bodyPr>
          <a:lstStyle/>
          <a:p>
            <a:pPr lvl="0"/>
            <a:r>
              <a:rPr lang="en-US" dirty="0"/>
              <a:t>Current Edge Hardware Support</a:t>
            </a:r>
            <a:endParaRPr dirty="0"/>
          </a:p>
        </p:txBody>
      </p:sp>
      <p:sp>
        <p:nvSpPr>
          <p:cNvPr id="1448" name="TextBox 1447"/>
          <p:cNvSpPr txBox="1"/>
          <p:nvPr/>
        </p:nvSpPr>
        <p:spPr>
          <a:xfrm>
            <a:off x="640080" y="1234440"/>
            <a:ext cx="45720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a:solidFill>
                  <a:srgbClr val="007B8C"/>
                </a:solidFill>
                <a:latin typeface="Arial"/>
              </a:defRPr>
            </a:pPr>
            <a:r>
              <a:rPr kumimoji="0" sz="1800" b="0" i="0" u="none" strike="noStrike" kern="1200" cap="none" spc="0" normalizeH="0" baseline="0" noProof="0" dirty="0">
                <a:ln>
                  <a:noFill/>
                </a:ln>
                <a:solidFill>
                  <a:srgbClr val="0098C7"/>
                </a:solidFill>
                <a:effectLst/>
                <a:uLnTx/>
                <a:uFillTx/>
                <a:latin typeface="Arial"/>
                <a:ea typeface="+mn-ea"/>
                <a:cs typeface="+mn-cs"/>
              </a:rPr>
              <a:t>Certified Edge Hardware</a:t>
            </a:r>
          </a:p>
        </p:txBody>
      </p:sp>
      <p:sp>
        <p:nvSpPr>
          <p:cNvPr id="1449" name="Rectangle 1448"/>
          <p:cNvSpPr/>
          <p:nvPr/>
        </p:nvSpPr>
        <p:spPr>
          <a:xfrm>
            <a:off x="548640" y="1691640"/>
            <a:ext cx="10607040" cy="36576"/>
          </a:xfrm>
          <a:prstGeom prst="rect">
            <a:avLst/>
          </a:prstGeom>
          <a:solidFill>
            <a:srgbClr val="0098C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51" name="Rounded Rectangle 1450"/>
          <p:cNvSpPr/>
          <p:nvPr/>
        </p:nvSpPr>
        <p:spPr>
          <a:xfrm>
            <a:off x="685800" y="1828800"/>
            <a:ext cx="2446020" cy="502920"/>
          </a:xfrm>
          <a:prstGeom prst="roundRect">
            <a:avLst>
              <a:gd name="adj" fmla="val 8000"/>
            </a:avLst>
          </a:prstGeom>
          <a:solidFill>
            <a:schemeClr val="accent5"/>
          </a:solidFill>
          <a:ln>
            <a:noFill/>
          </a:ln>
        </p:spPr>
        <p:style>
          <a:lnRef idx="1">
            <a:schemeClr val="accent1"/>
          </a:lnRef>
          <a:fillRef idx="3">
            <a:schemeClr val="accent1"/>
          </a:fillRef>
          <a:effectRef idx="2">
            <a:schemeClr val="accent1"/>
          </a:effectRef>
          <a:fontRef idx="minor">
            <a:schemeClr val="lt1"/>
          </a:fontRef>
        </p:style>
        <p:txBody>
          <a:bodyPr wrap="squar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100" b="1" i="0" u="none" strike="noStrike" kern="1200" cap="none" spc="0" normalizeH="0" baseline="0" noProof="0" dirty="0">
                <a:ln>
                  <a:noFill/>
                </a:ln>
                <a:solidFill>
                  <a:srgbClr val="FFFFFF"/>
                </a:solidFill>
                <a:effectLst/>
                <a:uLnTx/>
                <a:uFillTx/>
                <a:latin typeface="Arial"/>
                <a:ea typeface="+mn-ea"/>
                <a:cs typeface="+mn-cs"/>
              </a:rPr>
              <a:t>Manufacturing</a:t>
            </a:r>
            <a:r>
              <a:rPr kumimoji="0" lang="en-US" sz="1100" b="1" i="0" u="none" strike="noStrike" kern="1200" cap="none" spc="0" normalizeH="0" baseline="0" noProof="0" dirty="0">
                <a:ln>
                  <a:noFill/>
                </a:ln>
                <a:solidFill>
                  <a:srgbClr val="FFFFFF"/>
                </a:solidFill>
                <a:effectLst/>
                <a:uLnTx/>
                <a:uFillTx/>
                <a:latin typeface="Arial"/>
                <a:ea typeface="+mn-ea"/>
                <a:cs typeface="+mn-cs"/>
              </a:rPr>
              <a:t> </a:t>
            </a:r>
            <a:r>
              <a:rPr kumimoji="0" sz="1100" b="1" i="0" u="none" strike="noStrike" kern="1200" cap="none" spc="0" normalizeH="0" baseline="0" noProof="0" dirty="0">
                <a:ln>
                  <a:noFill/>
                </a:ln>
                <a:solidFill>
                  <a:srgbClr val="FFFFFF"/>
                </a:solidFill>
                <a:effectLst/>
                <a:uLnTx/>
                <a:uFillTx/>
                <a:latin typeface="Arial"/>
                <a:ea typeface="+mn-ea"/>
                <a:cs typeface="+mn-cs"/>
              </a:rPr>
              <a:t>/ Utilities</a:t>
            </a:r>
          </a:p>
        </p:txBody>
      </p:sp>
      <p:pic>
        <p:nvPicPr>
          <p:cNvPr id="1452" name="Picture 1451" descr="image.png"/>
          <p:cNvPicPr>
            <a:picLocks noChangeAspect="1"/>
          </p:cNvPicPr>
          <p:nvPr/>
        </p:nvPicPr>
        <p:blipFill>
          <a:blip r:embed="rId3"/>
          <a:stretch>
            <a:fillRect/>
          </a:stretch>
        </p:blipFill>
        <p:spPr>
          <a:xfrm>
            <a:off x="1039538" y="2578467"/>
            <a:ext cx="1784264" cy="563066"/>
          </a:xfrm>
          <a:prstGeom prst="rect">
            <a:avLst/>
          </a:prstGeom>
        </p:spPr>
      </p:pic>
      <p:sp>
        <p:nvSpPr>
          <p:cNvPr id="1453" name="TextBox 1452"/>
          <p:cNvSpPr txBox="1"/>
          <p:nvPr/>
        </p:nvSpPr>
        <p:spPr>
          <a:xfrm>
            <a:off x="708660" y="3246120"/>
            <a:ext cx="2446020" cy="36576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Arial"/>
                <a:ea typeface="+mn-ea"/>
                <a:cs typeface="+mn-cs"/>
              </a:rPr>
              <a:t>Dell XR4000</a:t>
            </a:r>
            <a:r>
              <a:rPr kumimoji="0" lang="en-US" sz="1000" b="1" i="0" u="none" strike="noStrike" kern="1200" cap="none" spc="0" normalizeH="0" baseline="0" noProof="0" dirty="0">
                <a:ln>
                  <a:noFill/>
                </a:ln>
                <a:solidFill>
                  <a:srgbClr val="000000"/>
                </a:solidFill>
                <a:effectLst/>
                <a:uLnTx/>
                <a:uFillTx/>
                <a:latin typeface="Arial"/>
                <a:ea typeface="+mn-ea"/>
                <a:cs typeface="+mn-cs"/>
              </a:rPr>
              <a:t> </a:t>
            </a:r>
            <a:r>
              <a:rPr kumimoji="0" sz="1000" b="1" i="0" u="none" strike="noStrike" kern="1200" cap="none" spc="0" normalizeH="0" baseline="0" noProof="0" dirty="0">
                <a:ln>
                  <a:noFill/>
                </a:ln>
                <a:solidFill>
                  <a:srgbClr val="000000"/>
                </a:solidFill>
                <a:effectLst/>
                <a:uLnTx/>
                <a:uFillTx/>
                <a:latin typeface="Arial"/>
                <a:ea typeface="+mn-ea"/>
                <a:cs typeface="+mn-cs"/>
              </a:rPr>
              <a:t>/</a:t>
            </a:r>
            <a:r>
              <a:rPr kumimoji="0" lang="en-US" sz="1000" b="1" i="0" u="none" strike="noStrike" kern="1200" cap="none" spc="0" normalizeH="0" baseline="0" noProof="0" dirty="0">
                <a:ln>
                  <a:noFill/>
                </a:ln>
                <a:solidFill>
                  <a:srgbClr val="000000"/>
                </a:solidFill>
                <a:effectLst/>
                <a:uLnTx/>
                <a:uFillTx/>
                <a:latin typeface="Arial"/>
                <a:ea typeface="+mn-ea"/>
                <a:cs typeface="+mn-cs"/>
              </a:rPr>
              <a:t> XR12</a:t>
            </a:r>
            <a:endParaRPr kumimoji="0" sz="10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(Industrial / Utilities)</a:t>
            </a:r>
          </a:p>
        </p:txBody>
      </p:sp>
      <p:sp>
        <p:nvSpPr>
          <p:cNvPr id="1454" name="Rounded Rectangle 1453"/>
          <p:cNvSpPr/>
          <p:nvPr/>
        </p:nvSpPr>
        <p:spPr>
          <a:xfrm>
            <a:off x="3314700" y="1828800"/>
            <a:ext cx="2446020" cy="502920"/>
          </a:xfrm>
          <a:prstGeom prst="roundRect">
            <a:avLst>
              <a:gd name="adj" fmla="val 8000"/>
            </a:avLst>
          </a:prstGeom>
          <a:solidFill>
            <a:srgbClr val="005C8A"/>
          </a:solidFill>
          <a:ln>
            <a:noFill/>
          </a:ln>
        </p:spPr>
        <p:style>
          <a:lnRef idx="1">
            <a:schemeClr val="accent1"/>
          </a:lnRef>
          <a:fillRef idx="3">
            <a:schemeClr val="accent1"/>
          </a:fillRef>
          <a:effectRef idx="2">
            <a:schemeClr val="accent1"/>
          </a:effectRef>
          <a:fontRef idx="minor">
            <a:schemeClr val="lt1"/>
          </a:fontRef>
        </p:style>
        <p:txBody>
          <a:bodyPr wrap="squar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200" b="1" i="0" u="none" strike="noStrike" kern="1200" cap="none" spc="0" normalizeH="0" baseline="0" noProof="0">
                <a:ln>
                  <a:noFill/>
                </a:ln>
                <a:solidFill>
                  <a:srgbClr val="FFFFFF"/>
                </a:solidFill>
                <a:effectLst/>
                <a:uLnTx/>
                <a:uFillTx/>
                <a:latin typeface="Arial"/>
                <a:ea typeface="+mn-ea"/>
                <a:cs typeface="+mn-cs"/>
              </a:rPr>
              <a:t>Defense</a:t>
            </a:r>
          </a:p>
        </p:txBody>
      </p:sp>
      <p:pic>
        <p:nvPicPr>
          <p:cNvPr id="1455" name="Picture 1454" descr="image.png"/>
          <p:cNvPicPr>
            <a:picLocks noChangeAspect="1"/>
          </p:cNvPicPr>
          <p:nvPr/>
        </p:nvPicPr>
        <p:blipFill>
          <a:blip r:embed="rId4"/>
          <a:srcRect/>
          <a:stretch/>
        </p:blipFill>
        <p:spPr>
          <a:xfrm>
            <a:off x="3707130" y="2423160"/>
            <a:ext cx="1699016" cy="822960"/>
          </a:xfrm>
          <a:prstGeom prst="rect">
            <a:avLst/>
          </a:prstGeom>
        </p:spPr>
      </p:pic>
      <p:sp>
        <p:nvSpPr>
          <p:cNvPr id="1456" name="TextBox 1455"/>
          <p:cNvSpPr txBox="1"/>
          <p:nvPr/>
        </p:nvSpPr>
        <p:spPr>
          <a:xfrm>
            <a:off x="3314700" y="3035808"/>
            <a:ext cx="2446020" cy="32004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a:ln>
                  <a:noFill/>
                </a:ln>
                <a:solidFill>
                  <a:srgbClr val="000000"/>
                </a:solidFill>
                <a:effectLst/>
                <a:uLnTx/>
                <a:uFillTx/>
                <a:latin typeface="Arial"/>
                <a:ea typeface="+mn-ea"/>
                <a:cs typeface="+mn-cs"/>
              </a:rPr>
              <a:t>Cubic M3-SE-VSVR5-P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a:ln>
                  <a:noFill/>
                </a:ln>
                <a:solidFill>
                  <a:srgbClr val="007B8C"/>
                </a:solidFill>
                <a:effectLst/>
                <a:uLnTx/>
                <a:uFillTx/>
                <a:latin typeface="Arial"/>
                <a:ea typeface="+mn-ea"/>
                <a:cs typeface="+mn-cs"/>
              </a:rPr>
              <a:t>(Naval / Ships)</a:t>
            </a:r>
          </a:p>
        </p:txBody>
      </p:sp>
      <p:pic>
        <p:nvPicPr>
          <p:cNvPr id="1457" name="Picture 1456" descr="image.png"/>
          <p:cNvPicPr>
            <a:picLocks noChangeAspect="1"/>
          </p:cNvPicPr>
          <p:nvPr/>
        </p:nvPicPr>
        <p:blipFill>
          <a:blip r:embed="rId5"/>
          <a:stretch>
            <a:fillRect/>
          </a:stretch>
        </p:blipFill>
        <p:spPr>
          <a:xfrm>
            <a:off x="3959129" y="3534156"/>
            <a:ext cx="1157161" cy="594360"/>
          </a:xfrm>
          <a:prstGeom prst="rect">
            <a:avLst/>
          </a:prstGeom>
        </p:spPr>
      </p:pic>
      <p:sp>
        <p:nvSpPr>
          <p:cNvPr id="1458" name="TextBox 1457"/>
          <p:cNvSpPr txBox="1"/>
          <p:nvPr/>
        </p:nvSpPr>
        <p:spPr>
          <a:xfrm>
            <a:off x="3314700" y="4146804"/>
            <a:ext cx="2446020" cy="32004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Arial"/>
                <a:ea typeface="+mn-ea"/>
                <a:cs typeface="+mn-cs"/>
              </a:rPr>
              <a:t>Pacstar 451/452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(Tactical / Army)</a:t>
            </a:r>
          </a:p>
        </p:txBody>
      </p:sp>
      <p:pic>
        <p:nvPicPr>
          <p:cNvPr id="1459" name="Picture 1458" descr="image.png"/>
          <p:cNvPicPr>
            <a:picLocks noChangeAspect="1"/>
          </p:cNvPicPr>
          <p:nvPr/>
        </p:nvPicPr>
        <p:blipFill>
          <a:blip r:embed="rId6"/>
          <a:stretch>
            <a:fillRect/>
          </a:stretch>
        </p:blipFill>
        <p:spPr>
          <a:xfrm>
            <a:off x="3856841" y="4647793"/>
            <a:ext cx="1355239" cy="518567"/>
          </a:xfrm>
          <a:prstGeom prst="rect">
            <a:avLst/>
          </a:prstGeom>
        </p:spPr>
      </p:pic>
      <p:sp>
        <p:nvSpPr>
          <p:cNvPr id="1460" name="TextBox 1459"/>
          <p:cNvSpPr txBox="1"/>
          <p:nvPr/>
        </p:nvSpPr>
        <p:spPr>
          <a:xfrm>
            <a:off x="3314700" y="5216652"/>
            <a:ext cx="2446020" cy="32004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Arial"/>
                <a:ea typeface="+mn-ea"/>
                <a:cs typeface="+mn-cs"/>
              </a:rPr>
              <a:t>Klas VoyagerVM 4.0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(Field Operations)</a:t>
            </a:r>
          </a:p>
        </p:txBody>
      </p:sp>
      <p:sp>
        <p:nvSpPr>
          <p:cNvPr id="1461" name="Rounded Rectangle 1460"/>
          <p:cNvSpPr/>
          <p:nvPr/>
        </p:nvSpPr>
        <p:spPr>
          <a:xfrm>
            <a:off x="5943600" y="1828800"/>
            <a:ext cx="2446020" cy="502920"/>
          </a:xfrm>
          <a:prstGeom prst="roundRect">
            <a:avLst>
              <a:gd name="adj" fmla="val 8000"/>
            </a:avLst>
          </a:prstGeom>
          <a:solidFill>
            <a:srgbClr val="0098C7"/>
          </a:solidFill>
          <a:ln>
            <a:noFill/>
          </a:ln>
        </p:spPr>
        <p:style>
          <a:lnRef idx="1">
            <a:schemeClr val="accent1"/>
          </a:lnRef>
          <a:fillRef idx="3">
            <a:schemeClr val="accent1"/>
          </a:fillRef>
          <a:effectRef idx="2">
            <a:schemeClr val="accent1"/>
          </a:effectRef>
          <a:fontRef idx="minor">
            <a:schemeClr val="lt1"/>
          </a:fontRef>
        </p:style>
        <p:txBody>
          <a:bodyPr wrap="squar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100" b="1" i="0" u="none" strike="noStrike" kern="1200" cap="none" spc="0" normalizeH="0" baseline="0" noProof="0" dirty="0">
                <a:ln>
                  <a:noFill/>
                </a:ln>
                <a:solidFill>
                  <a:srgbClr val="FFFFFF"/>
                </a:solidFill>
                <a:effectLst/>
                <a:uLnTx/>
                <a:uFillTx/>
                <a:latin typeface="Arial"/>
                <a:ea typeface="+mn-ea"/>
                <a:cs typeface="+mn-cs"/>
              </a:rPr>
              <a:t>Retail</a:t>
            </a:r>
            <a:r>
              <a:rPr kumimoji="0" lang="en-US" sz="1100" b="1" i="0" u="none" strike="noStrike" kern="1200" cap="none" spc="0" normalizeH="0" baseline="0" noProof="0" dirty="0">
                <a:ln>
                  <a:noFill/>
                </a:ln>
                <a:solidFill>
                  <a:srgbClr val="FFFFFF"/>
                </a:solidFill>
                <a:effectLst/>
                <a:uLnTx/>
                <a:uFillTx/>
                <a:latin typeface="Arial"/>
                <a:ea typeface="+mn-ea"/>
                <a:cs typeface="+mn-cs"/>
              </a:rPr>
              <a:t> </a:t>
            </a:r>
            <a:r>
              <a:rPr kumimoji="0" sz="1100" b="1" i="0" u="none" strike="noStrike" kern="1200" cap="none" spc="0" normalizeH="0" baseline="0" noProof="0" dirty="0">
                <a:ln>
                  <a:noFill/>
                </a:ln>
                <a:solidFill>
                  <a:srgbClr val="FFFFFF"/>
                </a:solidFill>
                <a:effectLst/>
                <a:uLnTx/>
                <a:uFillTx/>
                <a:latin typeface="Arial"/>
                <a:ea typeface="+mn-ea"/>
                <a:cs typeface="+mn-cs"/>
              </a:rPr>
              <a:t>&amp; Branch</a:t>
            </a:r>
          </a:p>
        </p:txBody>
      </p:sp>
      <p:pic>
        <p:nvPicPr>
          <p:cNvPr id="1462" name="Picture 1461" descr="image.png"/>
          <p:cNvPicPr>
            <a:picLocks noChangeAspect="1"/>
          </p:cNvPicPr>
          <p:nvPr/>
        </p:nvPicPr>
        <p:blipFill>
          <a:blip r:embed="rId7"/>
          <a:stretch>
            <a:fillRect/>
          </a:stretch>
        </p:blipFill>
        <p:spPr>
          <a:xfrm>
            <a:off x="6313170" y="2423160"/>
            <a:ext cx="1706880" cy="960120"/>
          </a:xfrm>
          <a:prstGeom prst="rect">
            <a:avLst/>
          </a:prstGeom>
        </p:spPr>
      </p:pic>
      <p:sp>
        <p:nvSpPr>
          <p:cNvPr id="1463" name="TextBox 1462"/>
          <p:cNvSpPr txBox="1"/>
          <p:nvPr/>
        </p:nvSpPr>
        <p:spPr>
          <a:xfrm>
            <a:off x="5943600" y="3401568"/>
            <a:ext cx="2446020" cy="36576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Arial"/>
                <a:ea typeface="+mn-ea"/>
                <a:cs typeface="+mn-cs"/>
              </a:rPr>
              <a:t>Cisco UCS
XE9305/220/240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(Retail Stores)</a:t>
            </a:r>
          </a:p>
        </p:txBody>
      </p:sp>
      <p:pic>
        <p:nvPicPr>
          <p:cNvPr id="1464" name="Picture 1463" descr="image.png"/>
          <p:cNvPicPr>
            <a:picLocks noChangeAspect="1"/>
          </p:cNvPicPr>
          <p:nvPr/>
        </p:nvPicPr>
        <p:blipFill>
          <a:blip r:embed="rId8"/>
          <a:stretch>
            <a:fillRect/>
          </a:stretch>
        </p:blipFill>
        <p:spPr>
          <a:xfrm>
            <a:off x="6305550" y="4046221"/>
            <a:ext cx="1714500" cy="960120"/>
          </a:xfrm>
          <a:prstGeom prst="rect">
            <a:avLst/>
          </a:prstGeom>
        </p:spPr>
      </p:pic>
      <p:sp>
        <p:nvSpPr>
          <p:cNvPr id="1465" name="TextBox 1464"/>
          <p:cNvSpPr txBox="1"/>
          <p:nvPr/>
        </p:nvSpPr>
        <p:spPr>
          <a:xfrm>
            <a:off x="5939790" y="5024629"/>
            <a:ext cx="2446020" cy="36576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a:ln>
                  <a:noFill/>
                </a:ln>
                <a:solidFill>
                  <a:srgbClr val="000000"/>
                </a:solidFill>
                <a:effectLst/>
                <a:uLnTx/>
                <a:uFillTx/>
                <a:latin typeface="Arial"/>
                <a:ea typeface="+mn-ea"/>
                <a:cs typeface="+mn-cs"/>
              </a:rPr>
              <a:t>Lenovo SE 350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a:ln>
                  <a:noFill/>
                </a:ln>
                <a:solidFill>
                  <a:srgbClr val="007B8C"/>
                </a:solidFill>
                <a:effectLst/>
                <a:uLnTx/>
                <a:uFillTx/>
                <a:latin typeface="Arial"/>
                <a:ea typeface="+mn-ea"/>
                <a:cs typeface="+mn-cs"/>
              </a:rPr>
              <a:t>(Retail / Branch)</a:t>
            </a:r>
          </a:p>
        </p:txBody>
      </p:sp>
      <p:sp>
        <p:nvSpPr>
          <p:cNvPr id="1466" name="Rounded Rectangle 1465"/>
          <p:cNvSpPr/>
          <p:nvPr/>
        </p:nvSpPr>
        <p:spPr>
          <a:xfrm>
            <a:off x="8572500" y="1828800"/>
            <a:ext cx="2446020" cy="502920"/>
          </a:xfrm>
          <a:prstGeom prst="roundRect">
            <a:avLst>
              <a:gd name="adj" fmla="val 8000"/>
            </a:avLst>
          </a:prstGeom>
          <a:solidFill>
            <a:srgbClr val="61A60E"/>
          </a:solidFill>
          <a:ln>
            <a:noFill/>
          </a:ln>
        </p:spPr>
        <p:style>
          <a:lnRef idx="1">
            <a:schemeClr val="accent1"/>
          </a:lnRef>
          <a:fillRef idx="3">
            <a:schemeClr val="accent1"/>
          </a:fillRef>
          <a:effectRef idx="2">
            <a:schemeClr val="accent1"/>
          </a:effectRef>
          <a:fontRef idx="minor">
            <a:schemeClr val="lt1"/>
          </a:fontRef>
        </p:style>
        <p:txBody>
          <a:bodyPr wrap="squar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200" b="1" i="0" u="none" strike="noStrike" kern="1200" cap="none" spc="0" normalizeH="0" baseline="0" noProof="0">
                <a:ln>
                  <a:noFill/>
                </a:ln>
                <a:solidFill>
                  <a:srgbClr val="FFFFFF"/>
                </a:solidFill>
                <a:effectLst/>
                <a:uLnTx/>
                <a:uFillTx/>
                <a:latin typeface="Arial"/>
                <a:ea typeface="+mn-ea"/>
                <a:cs typeface="+mn-cs"/>
              </a:rPr>
              <a:t>Edge AI</a:t>
            </a:r>
          </a:p>
        </p:txBody>
      </p:sp>
      <p:pic>
        <p:nvPicPr>
          <p:cNvPr id="1467" name="Picture 1466" descr="image.png"/>
          <p:cNvPicPr>
            <a:picLocks noChangeAspect="1"/>
          </p:cNvPicPr>
          <p:nvPr/>
        </p:nvPicPr>
        <p:blipFill>
          <a:blip r:embed="rId9"/>
          <a:stretch>
            <a:fillRect/>
          </a:stretch>
        </p:blipFill>
        <p:spPr>
          <a:xfrm>
            <a:off x="9119956" y="2423160"/>
            <a:ext cx="1351108" cy="960119"/>
          </a:xfrm>
          <a:prstGeom prst="rect">
            <a:avLst/>
          </a:prstGeom>
        </p:spPr>
      </p:pic>
      <p:sp>
        <p:nvSpPr>
          <p:cNvPr id="1468" name="TextBox 1467"/>
          <p:cNvSpPr txBox="1"/>
          <p:nvPr/>
        </p:nvSpPr>
        <p:spPr>
          <a:xfrm>
            <a:off x="8572500" y="3401568"/>
            <a:ext cx="2446020" cy="36576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Arial"/>
                <a:ea typeface="+mn-ea"/>
                <a:cs typeface="+mn-cs"/>
              </a:rPr>
              <a:t>Lenovo SE 450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(AI Inference)</a:t>
            </a:r>
          </a:p>
        </p:txBody>
      </p:sp>
      <p:pic>
        <p:nvPicPr>
          <p:cNvPr id="1469" name="Picture 1468" descr="image.png"/>
          <p:cNvPicPr>
            <a:picLocks noChangeAspect="1"/>
          </p:cNvPicPr>
          <p:nvPr/>
        </p:nvPicPr>
        <p:blipFill>
          <a:blip r:embed="rId10"/>
          <a:stretch>
            <a:fillRect/>
          </a:stretch>
        </p:blipFill>
        <p:spPr>
          <a:xfrm>
            <a:off x="8911590" y="3611880"/>
            <a:ext cx="1849977" cy="1849977"/>
          </a:xfrm>
          <a:prstGeom prst="rect">
            <a:avLst/>
          </a:prstGeom>
        </p:spPr>
      </p:pic>
      <p:sp>
        <p:nvSpPr>
          <p:cNvPr id="1470" name="TextBox 1469"/>
          <p:cNvSpPr txBox="1"/>
          <p:nvPr/>
        </p:nvSpPr>
        <p:spPr>
          <a:xfrm>
            <a:off x="8572500" y="4800600"/>
            <a:ext cx="2446020" cy="36576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sz="1000" b="1" i="0" u="none" strike="noStrike" kern="1200" cap="none" spc="0" normalizeH="0" baseline="0" noProof="0" dirty="0">
                <a:ln>
                  <a:noFill/>
                </a:ln>
                <a:solidFill>
                  <a:srgbClr val="000000"/>
                </a:solidFill>
                <a:effectLst/>
                <a:uLnTx/>
                <a:uFillTx/>
                <a:latin typeface="Arial"/>
                <a:ea typeface="+mn-ea"/>
                <a:cs typeface="+mn-cs"/>
              </a:rPr>
              <a:t>Supermicro WIO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(AI Workloads)</a:t>
            </a:r>
          </a:p>
        </p:txBody>
      </p:sp>
      <p:sp>
        <p:nvSpPr>
          <p:cNvPr id="2" name="Google Shape;1447;g395e940b0ae_0_453">
            <a:extLst>
              <a:ext uri="{FF2B5EF4-FFF2-40B4-BE49-F238E27FC236}">
                <a16:creationId xmlns:a16="http://schemas.microsoft.com/office/drawing/2014/main" id="{6D80BD59-7531-29C2-293F-CF4331112856}"/>
              </a:ext>
            </a:extLst>
          </p:cNvPr>
          <p:cNvSpPr/>
          <p:nvPr/>
        </p:nvSpPr>
        <p:spPr>
          <a:xfrm>
            <a:off x="1488818" y="5721421"/>
            <a:ext cx="8786752" cy="480933"/>
          </a:xfrm>
          <a:prstGeom prst="roundRect">
            <a:avLst>
              <a:gd name="adj" fmla="val 16667"/>
            </a:avLst>
          </a:prstGeom>
          <a:gradFill>
            <a:gsLst>
              <a:gs pos="0">
                <a:srgbClr val="61A30E"/>
              </a:gs>
              <a:gs pos="21000">
                <a:srgbClr val="61A30E"/>
              </a:gs>
              <a:gs pos="83000">
                <a:srgbClr val="0095C4"/>
              </a:gs>
              <a:gs pos="100000">
                <a:srgbClr val="0095C4"/>
              </a:gs>
            </a:gsLst>
            <a:lin ang="18900732" scaled="0"/>
          </a:gra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rial" panose="020B0604020202020204"/>
                <a:ea typeface="+mn-ea"/>
                <a:cs typeface="+mn-cs"/>
              </a:rPr>
              <a:t>ODM self-certification expected to expand this further</a:t>
            </a:r>
            <a:endParaRPr kumimoji="0" sz="18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5B8C4715-CC4E-3B73-1C0F-34D88D56D758}"/>
              </a:ext>
            </a:extLst>
          </p:cNvPr>
          <p:cNvSpPr txBox="1"/>
          <p:nvPr/>
        </p:nvSpPr>
        <p:spPr>
          <a:xfrm>
            <a:off x="711464" y="4898501"/>
            <a:ext cx="2446020" cy="365760"/>
          </a:xfrm>
          <a:prstGeom prst="rect">
            <a:avLst/>
          </a:prstGeom>
          <a:noFill/>
        </p:spPr>
        <p:txBody>
          <a:bodyPr wrap="square"/>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rial"/>
                <a:ea typeface="+mn-ea"/>
                <a:cs typeface="+mn-cs"/>
              </a:rPr>
              <a:t>HPE DL380</a:t>
            </a:r>
            <a:endParaRPr kumimoji="0" sz="10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900" b="0" i="0" u="none" strike="noStrike" kern="1200" cap="none" spc="0" normalizeH="0" baseline="0" noProof="0" dirty="0">
                <a:ln>
                  <a:noFill/>
                </a:ln>
                <a:solidFill>
                  <a:srgbClr val="007B8C"/>
                </a:solidFill>
                <a:effectLst/>
                <a:uLnTx/>
                <a:uFillTx/>
                <a:latin typeface="Arial"/>
                <a:ea typeface="+mn-ea"/>
                <a:cs typeface="+mn-cs"/>
              </a:rPr>
              <a:t>(</a:t>
            </a:r>
            <a:r>
              <a:rPr kumimoji="0" lang="en-US" sz="900" b="0" i="0" u="none" strike="noStrike" kern="1200" cap="none" spc="0" normalizeH="0" baseline="0" noProof="0" dirty="0">
                <a:ln>
                  <a:noFill/>
                </a:ln>
                <a:solidFill>
                  <a:srgbClr val="007B8C"/>
                </a:solidFill>
                <a:effectLst/>
                <a:uLnTx/>
                <a:uFillTx/>
                <a:latin typeface="Arial"/>
                <a:ea typeface="+mn-ea"/>
                <a:cs typeface="+mn-cs"/>
              </a:rPr>
              <a:t>Manufacturing</a:t>
            </a:r>
            <a:r>
              <a:rPr kumimoji="0" sz="900" b="0" i="0" u="none" strike="noStrike" kern="1200" cap="none" spc="0" normalizeH="0" baseline="0" noProof="0" dirty="0">
                <a:ln>
                  <a:noFill/>
                </a:ln>
                <a:solidFill>
                  <a:srgbClr val="007B8C"/>
                </a:solidFill>
                <a:effectLst/>
                <a:uLnTx/>
                <a:uFillTx/>
                <a:latin typeface="Arial"/>
                <a:ea typeface="+mn-ea"/>
                <a:cs typeface="+mn-cs"/>
              </a:rPr>
              <a:t>)</a:t>
            </a:r>
          </a:p>
        </p:txBody>
      </p:sp>
      <p:pic>
        <p:nvPicPr>
          <p:cNvPr id="1028" name="Picture 4" descr="HP ProLiant DL380 G10 2U Rack Server barebone Refurbished – Saudewala">
            <a:extLst>
              <a:ext uri="{FF2B5EF4-FFF2-40B4-BE49-F238E27FC236}">
                <a16:creationId xmlns:a16="http://schemas.microsoft.com/office/drawing/2014/main" id="{172D4EBF-9790-B29F-71E2-A62898D8E2F8}"/>
              </a:ext>
            </a:extLst>
          </p:cNvPr>
          <p:cNvPicPr>
            <a:picLocks noChangeAspect="1" noChangeArrowheads="1"/>
          </p:cNvPicPr>
          <p:nvPr/>
        </p:nvPicPr>
        <p:blipFill rotWithShape="1">
          <a:blip r:embed="rId11"/>
          <a:srcRect t="26934" b="32898"/>
          <a:stretch>
            <a:fillRect/>
          </a:stretch>
        </p:blipFill>
        <p:spPr bwMode="auto">
          <a:xfrm>
            <a:off x="895350" y="3975716"/>
            <a:ext cx="2053590" cy="824884"/>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E7A84335-15DD-6579-0459-D69B63619599}"/>
              </a:ext>
            </a:extLst>
          </p:cNvPr>
          <p:cNvSpPr txBox="1"/>
          <p:nvPr/>
        </p:nvSpPr>
        <p:spPr>
          <a:xfrm>
            <a:off x="5319132" y="6367126"/>
            <a:ext cx="617563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srgbClr val="000000"/>
                </a:solidFill>
                <a:effectLst/>
                <a:uLnTx/>
                <a:uFillTx/>
                <a:latin typeface="Arial" panose="020B0604020202020204"/>
                <a:ea typeface="+mn-ea"/>
                <a:cs typeface="+mn-cs"/>
              </a:rPr>
              <a:t>Note: </a:t>
            </a:r>
            <a:r>
              <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rPr>
              <a:t>Industry categories are illustrative; these certified platforms are highly versatile and can be deployed across various edge environments.</a:t>
            </a:r>
            <a:endParaRPr kumimoji="0" lang="en-US" sz="1200" b="0" i="0" u="none" strike="noStrike" kern="1200" cap="none" spc="0" normalizeH="0" baseline="0" noProof="0" dirty="0">
              <a:ln>
                <a:noFill/>
              </a:ln>
              <a:solidFill>
                <a:srgbClr val="1B1D36"/>
              </a:solidFill>
              <a:effectLst/>
              <a:uLnTx/>
              <a:uFillTx/>
              <a:latin typeface="Arial" panose="020B0604020202020204"/>
              <a:ea typeface="+mn-ea"/>
              <a:cs typeface="+mn-cs"/>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10217"/>
        <p:cNvGrpSpPr/>
        <p:nvPr/>
      </p:nvGrpSpPr>
      <p:grpSpPr>
        <a:xfrm>
          <a:off x="0" y="0"/>
          <a:ext cx="0" cy="0"/>
          <a:chOff x="0" y="0"/>
          <a:chExt cx="0" cy="0"/>
        </a:xfrm>
      </p:grpSpPr>
      <p:pic>
        <p:nvPicPr>
          <p:cNvPr id="10218" name="Google Shape;10218;g3d26d4b2bfc_1_14"/>
          <p:cNvPicPr preferRelativeResize="0"/>
          <p:nvPr/>
        </p:nvPicPr>
        <p:blipFill>
          <a:blip r:embed="rId3">
            <a:alphaModFix/>
          </a:blip>
          <a:stretch>
            <a:fillRect/>
          </a:stretch>
        </p:blipFill>
        <p:spPr>
          <a:xfrm>
            <a:off x="152400" y="152400"/>
            <a:ext cx="11667064" cy="6553199"/>
          </a:xfrm>
          <a:prstGeom prst="rect">
            <a:avLst/>
          </a:prstGeom>
          <a:noFill/>
          <a:ln>
            <a:noFill/>
          </a:ln>
        </p:spPr>
      </p:pic>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0211"/>
        <p:cNvGrpSpPr/>
        <p:nvPr/>
      </p:nvGrpSpPr>
      <p:grpSpPr>
        <a:xfrm>
          <a:off x="0" y="0"/>
          <a:ext cx="0" cy="0"/>
          <a:chOff x="0" y="0"/>
          <a:chExt cx="0" cy="0"/>
        </a:xfrm>
      </p:grpSpPr>
      <p:pic>
        <p:nvPicPr>
          <p:cNvPr id="10212" name="Google Shape;10212;g3d26d4b2bfc_1_7"/>
          <p:cNvPicPr preferRelativeResize="0"/>
          <p:nvPr/>
        </p:nvPicPr>
        <p:blipFill>
          <a:blip r:embed="rId3">
            <a:alphaModFix/>
          </a:blip>
          <a:stretch>
            <a:fillRect/>
          </a:stretch>
        </p:blipFill>
        <p:spPr>
          <a:xfrm>
            <a:off x="0" y="0"/>
            <a:ext cx="12188825" cy="6858000"/>
          </a:xfrm>
          <a:prstGeom prst="rect">
            <a:avLst/>
          </a:prstGeom>
          <a:noFill/>
          <a:ln>
            <a:noFill/>
          </a:ln>
        </p:spPr>
      </p:pic>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10205"/>
        <p:cNvGrpSpPr/>
        <p:nvPr/>
      </p:nvGrpSpPr>
      <p:grpSpPr>
        <a:xfrm>
          <a:off x="0" y="0"/>
          <a:ext cx="0" cy="0"/>
          <a:chOff x="0" y="0"/>
          <a:chExt cx="0" cy="0"/>
        </a:xfrm>
      </p:grpSpPr>
      <p:grpSp>
        <p:nvGrpSpPr>
          <p:cNvPr id="4" name="Group 3">
            <a:extLst>
              <a:ext uri="{FF2B5EF4-FFF2-40B4-BE49-F238E27FC236}">
                <a16:creationId xmlns:a16="http://schemas.microsoft.com/office/drawing/2014/main" id="{884C4616-E6CA-E0C8-112E-3B11F55FCD8A}"/>
              </a:ext>
            </a:extLst>
          </p:cNvPr>
          <p:cNvGrpSpPr/>
          <p:nvPr/>
        </p:nvGrpSpPr>
        <p:grpSpPr>
          <a:xfrm>
            <a:off x="152400" y="152400"/>
            <a:ext cx="11697291" cy="6553199"/>
            <a:chOff x="152400" y="152400"/>
            <a:chExt cx="11697291" cy="6553199"/>
          </a:xfrm>
        </p:grpSpPr>
        <p:pic>
          <p:nvPicPr>
            <p:cNvPr id="10206" name="Google Shape;10206;g3d26d4b2bfc_1_0"/>
            <p:cNvPicPr preferRelativeResize="0"/>
            <p:nvPr/>
          </p:nvPicPr>
          <p:blipFill>
            <a:blip r:embed="rId3">
              <a:alphaModFix/>
            </a:blip>
            <a:stretch>
              <a:fillRect/>
            </a:stretch>
          </p:blipFill>
          <p:spPr>
            <a:xfrm>
              <a:off x="152400" y="152400"/>
              <a:ext cx="11697291" cy="6553199"/>
            </a:xfrm>
            <a:prstGeom prst="rect">
              <a:avLst/>
            </a:prstGeom>
            <a:noFill/>
            <a:ln>
              <a:noFill/>
            </a:ln>
          </p:spPr>
        </p:pic>
        <p:sp>
          <p:nvSpPr>
            <p:cNvPr id="3" name="Rectangle 2">
              <a:extLst>
                <a:ext uri="{FF2B5EF4-FFF2-40B4-BE49-F238E27FC236}">
                  <a16:creationId xmlns:a16="http://schemas.microsoft.com/office/drawing/2014/main" id="{E08D9608-71EC-9FC0-D3D1-DD14B6C18B04}"/>
                </a:ext>
              </a:extLst>
            </p:cNvPr>
            <p:cNvSpPr/>
            <p:nvPr/>
          </p:nvSpPr>
          <p:spPr>
            <a:xfrm>
              <a:off x="6934965" y="5561369"/>
              <a:ext cx="418641"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15040"/>
        <p:cNvGrpSpPr/>
        <p:nvPr/>
      </p:nvGrpSpPr>
      <p:grpSpPr>
        <a:xfrm>
          <a:off x="0" y="0"/>
          <a:ext cx="0" cy="0"/>
          <a:chOff x="0" y="0"/>
          <a:chExt cx="0" cy="0"/>
        </a:xfrm>
      </p:grpSpPr>
      <p:sp>
        <p:nvSpPr>
          <p:cNvPr id="15041" name="Google Shape;15041;p95"/>
          <p:cNvSpPr txBox="1">
            <a:spLocks noGrp="1"/>
          </p:cNvSpPr>
          <p:nvPr>
            <p:ph type="title"/>
          </p:nvPr>
        </p:nvSpPr>
        <p:spPr>
          <a:xfrm>
            <a:off x="589107" y="938794"/>
            <a:ext cx="7576698" cy="1229360"/>
          </a:xfrm>
          <a:prstGeom prst="rect">
            <a:avLst/>
          </a:prstGeom>
          <a:noFill/>
          <a:ln>
            <a:noFill/>
          </a:ln>
        </p:spPr>
        <p:txBody>
          <a:bodyPr spcFirstLastPara="1" wrap="square" lIns="0" tIns="0" rIns="0" bIns="0" anchor="b" anchorCtr="0">
            <a:normAutofit/>
          </a:bodyPr>
          <a:lstStyle/>
          <a:p>
            <a:pPr marL="0" lvl="0" indent="0" algn="l" rtl="0">
              <a:lnSpc>
                <a:spcPct val="90000"/>
              </a:lnSpc>
              <a:spcBef>
                <a:spcPts val="0"/>
              </a:spcBef>
              <a:spcAft>
                <a:spcPts val="0"/>
              </a:spcAft>
              <a:buClr>
                <a:schemeClr val="accent2"/>
              </a:buClr>
              <a:buSzPts val="3600"/>
              <a:buFont typeface="Arial"/>
              <a:buNone/>
            </a:pPr>
            <a:r>
              <a:rPr lang="en-US"/>
              <a:t>Enable Self-Service Infrastructure </a:t>
            </a:r>
            <a:endParaRPr/>
          </a:p>
        </p:txBody>
      </p:sp>
      <p:sp>
        <p:nvSpPr>
          <p:cNvPr id="15042" name="Google Shape;15042;p95"/>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rmAutofit/>
          </a:bodyPr>
          <a:lstStyle/>
          <a:p>
            <a:pPr marL="0" lvl="0" indent="0" algn="l" rtl="0">
              <a:lnSpc>
                <a:spcPct val="100000"/>
              </a:lnSpc>
              <a:spcBef>
                <a:spcPts val="0"/>
              </a:spcBef>
              <a:spcAft>
                <a:spcPts val="600"/>
              </a:spcAft>
              <a:buSzPts val="2160"/>
              <a:buNone/>
            </a:pP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15048"/>
        <p:cNvGrpSpPr/>
        <p:nvPr/>
      </p:nvGrpSpPr>
      <p:grpSpPr>
        <a:xfrm>
          <a:off x="0" y="0"/>
          <a:ext cx="0" cy="0"/>
          <a:chOff x="0" y="0"/>
          <a:chExt cx="0" cy="0"/>
        </a:xfrm>
      </p:grpSpPr>
      <p:sp>
        <p:nvSpPr>
          <p:cNvPr id="15049" name="Google Shape;15049;p96"/>
          <p:cNvSpPr txBox="1">
            <a:spLocks noGrp="1"/>
          </p:cNvSpPr>
          <p:nvPr>
            <p:ph type="title"/>
          </p:nvPr>
        </p:nvSpPr>
        <p:spPr>
          <a:xfrm>
            <a:off x="581245" y="413536"/>
            <a:ext cx="10998135"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The VCF Automation Solution Overview</a:t>
            </a:r>
            <a:endParaRPr/>
          </a:p>
        </p:txBody>
      </p:sp>
      <p:sp>
        <p:nvSpPr>
          <p:cNvPr id="15050" name="Google Shape;15050;p96"/>
          <p:cNvSpPr txBox="1">
            <a:spLocks noGrp="1"/>
          </p:cNvSpPr>
          <p:nvPr>
            <p:ph type="subTitle" idx="1"/>
          </p:nvPr>
        </p:nvSpPr>
        <p:spPr>
          <a:xfrm>
            <a:off x="594299" y="812512"/>
            <a:ext cx="11392832" cy="279527"/>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Enable self-service consumption to build, run, and manage AI, K8s, and VM-based workloads</a:t>
            </a:r>
            <a:endParaRPr/>
          </a:p>
        </p:txBody>
      </p:sp>
      <p:grpSp>
        <p:nvGrpSpPr>
          <p:cNvPr id="15051" name="Google Shape;15051;p96"/>
          <p:cNvGrpSpPr/>
          <p:nvPr/>
        </p:nvGrpSpPr>
        <p:grpSpPr>
          <a:xfrm>
            <a:off x="581245" y="1404251"/>
            <a:ext cx="7371200" cy="4785786"/>
            <a:chOff x="3026185" y="1403722"/>
            <a:chExt cx="7373120" cy="4787033"/>
          </a:xfrm>
        </p:grpSpPr>
        <p:sp>
          <p:nvSpPr>
            <p:cNvPr id="15052" name="Google Shape;15052;p96"/>
            <p:cNvSpPr/>
            <p:nvPr/>
          </p:nvSpPr>
          <p:spPr>
            <a:xfrm>
              <a:off x="3351137" y="4217912"/>
              <a:ext cx="6751777" cy="1262199"/>
            </a:xfrm>
            <a:custGeom>
              <a:avLst/>
              <a:gdLst/>
              <a:ahLst/>
              <a:cxnLst/>
              <a:rect l="l" t="t" r="r" b="b"/>
              <a:pathLst>
                <a:path w="7338888" h="1602792" extrusionOk="0">
                  <a:moveTo>
                    <a:pt x="7115092" y="29"/>
                  </a:moveTo>
                  <a:lnTo>
                    <a:pt x="7338888" y="0"/>
                  </a:lnTo>
                  <a:lnTo>
                    <a:pt x="7338888" y="1602792"/>
                  </a:lnTo>
                  <a:lnTo>
                    <a:pt x="0" y="1602792"/>
                  </a:lnTo>
                  <a:lnTo>
                    <a:pt x="0" y="0"/>
                  </a:lnTo>
                  <a:cubicBezTo>
                    <a:pt x="7771" y="4385"/>
                    <a:pt x="290172" y="1853"/>
                    <a:pt x="290172" y="1853"/>
                  </a:cubicBezTo>
                </a:path>
              </a:pathLst>
            </a:custGeom>
            <a:noFill/>
            <a:ln w="9525" cap="flat" cmpd="sng">
              <a:solidFill>
                <a:schemeClr val="accent3"/>
              </a:solidFill>
              <a:prstDash val="dash"/>
              <a:round/>
              <a:headEnd type="none" w="sm" len="sm"/>
              <a:tailEnd type="none" w="sm" len="sm"/>
            </a:ln>
          </p:spPr>
          <p:txBody>
            <a:bodyPr spcFirstLastPara="1" wrap="square" lIns="91325" tIns="45650" rIns="91325"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053" name="Google Shape;15053;p96"/>
            <p:cNvSpPr/>
            <p:nvPr/>
          </p:nvSpPr>
          <p:spPr>
            <a:xfrm rot="10800000">
              <a:off x="3026205" y="1403722"/>
              <a:ext cx="7373100" cy="4289100"/>
            </a:xfrm>
            <a:prstGeom prst="rect">
              <a:avLst/>
            </a:prstGeom>
            <a:noFill/>
            <a:ln w="28575" cap="flat" cmpd="sng">
              <a:solidFill>
                <a:schemeClr val="accent3"/>
              </a:solidFill>
              <a:prstDash val="dot"/>
              <a:round/>
              <a:headEnd type="none" w="sm" len="sm"/>
              <a:tailEnd type="none" w="sm" len="sm"/>
            </a:ln>
          </p:spPr>
          <p:txBody>
            <a:bodyPr spcFirstLastPara="1" wrap="square" lIns="91300" tIns="91300" rIns="91300" bIns="91300" anchor="t" anchorCtr="0">
              <a:noAutofit/>
            </a:bodyPr>
            <a:lstStyle/>
            <a:p>
              <a:pPr marL="0" marR="0" lvl="0" indent="0" algn="ctr" rtl="0">
                <a:spcBef>
                  <a:spcPts val="0"/>
                </a:spcBef>
                <a:spcAft>
                  <a:spcPts val="0"/>
                </a:spcAft>
                <a:buNone/>
              </a:pPr>
              <a:endParaRPr sz="1400">
                <a:solidFill>
                  <a:srgbClr val="000000"/>
                </a:solidFill>
                <a:latin typeface="Arial"/>
                <a:ea typeface="Arial"/>
                <a:cs typeface="Arial"/>
                <a:sym typeface="Arial"/>
              </a:endParaRPr>
            </a:p>
          </p:txBody>
        </p:sp>
        <p:sp>
          <p:nvSpPr>
            <p:cNvPr id="15054" name="Google Shape;15054;p96"/>
            <p:cNvSpPr txBox="1"/>
            <p:nvPr/>
          </p:nvSpPr>
          <p:spPr>
            <a:xfrm>
              <a:off x="3648876" y="1428574"/>
              <a:ext cx="6384900" cy="569100"/>
            </a:xfrm>
            <a:prstGeom prst="rect">
              <a:avLst/>
            </a:prstGeom>
            <a:noFill/>
            <a:ln>
              <a:noFill/>
            </a:ln>
          </p:spPr>
          <p:txBody>
            <a:bodyPr spcFirstLastPara="1" wrap="square" lIns="91300" tIns="91300" rIns="91300" bIns="91300" anchor="ctr" anchorCtr="0">
              <a:noAutofit/>
            </a:bodyPr>
            <a:lstStyle/>
            <a:p>
              <a:pPr marL="0" marR="0" lvl="0" indent="0" algn="ctr" rtl="0">
                <a:lnSpc>
                  <a:spcPct val="115000"/>
                </a:lnSpc>
                <a:spcBef>
                  <a:spcPts val="0"/>
                </a:spcBef>
                <a:spcAft>
                  <a:spcPts val="0"/>
                </a:spcAft>
                <a:buNone/>
              </a:pPr>
              <a:r>
                <a:rPr lang="en-US" sz="1995" b="1">
                  <a:solidFill>
                    <a:srgbClr val="0098C7"/>
                  </a:solidFill>
                  <a:latin typeface="Arial"/>
                  <a:ea typeface="Arial"/>
                  <a:cs typeface="Arial"/>
                  <a:sym typeface="Arial"/>
                </a:rPr>
                <a:t>VMware Cloud Foundation</a:t>
              </a:r>
              <a:endParaRPr sz="1995" b="1">
                <a:solidFill>
                  <a:srgbClr val="0098C7"/>
                </a:solidFill>
                <a:latin typeface="Arial"/>
                <a:ea typeface="Arial"/>
                <a:cs typeface="Arial"/>
                <a:sym typeface="Arial"/>
              </a:endParaRPr>
            </a:p>
          </p:txBody>
        </p:sp>
        <p:sp>
          <p:nvSpPr>
            <p:cNvPr id="15055" name="Google Shape;15055;p96"/>
            <p:cNvSpPr/>
            <p:nvPr/>
          </p:nvSpPr>
          <p:spPr>
            <a:xfrm>
              <a:off x="3621876" y="2190997"/>
              <a:ext cx="6270000" cy="2642400"/>
            </a:xfrm>
            <a:prstGeom prst="rect">
              <a:avLst/>
            </a:prstGeom>
            <a:gradFill>
              <a:gsLst>
                <a:gs pos="0">
                  <a:srgbClr val="0098C7">
                    <a:alpha val="0"/>
                  </a:srgbClr>
                </a:gs>
                <a:gs pos="13000">
                  <a:srgbClr val="0098C7">
                    <a:alpha val="0"/>
                  </a:srgbClr>
                </a:gs>
                <a:gs pos="86000">
                  <a:srgbClr val="0098C7">
                    <a:alpha val="15294"/>
                  </a:srgbClr>
                </a:gs>
                <a:gs pos="100000">
                  <a:srgbClr val="0098C7">
                    <a:alpha val="15294"/>
                  </a:srgbClr>
                </a:gs>
              </a:gsLst>
              <a:lin ang="5400012" scaled="0"/>
            </a:gradFill>
            <a:ln w="19050" cap="sq" cmpd="sng">
              <a:solidFill>
                <a:schemeClr val="accent3"/>
              </a:solidFill>
              <a:prstDash val="solid"/>
              <a:miter lim="800000"/>
              <a:headEnd type="none" w="sm" len="sm"/>
              <a:tailEnd type="none" w="sm" len="sm"/>
            </a:ln>
          </p:spPr>
          <p:txBody>
            <a:bodyPr spcFirstLastPara="1" wrap="square" lIns="91400" tIns="91400" rIns="91400" bIns="9140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056" name="Google Shape;15056;p96"/>
            <p:cNvSpPr/>
            <p:nvPr/>
          </p:nvSpPr>
          <p:spPr>
            <a:xfrm>
              <a:off x="6420448" y="1853118"/>
              <a:ext cx="685200" cy="685200"/>
            </a:xfrm>
            <a:prstGeom prst="ellipse">
              <a:avLst/>
            </a:prstGeom>
            <a:solidFill>
              <a:srgbClr val="F2F2F2"/>
            </a:solidFill>
            <a:ln>
              <a:noFill/>
            </a:ln>
          </p:spPr>
          <p:txBody>
            <a:bodyPr spcFirstLastPara="1" wrap="square" lIns="91300" tIns="45600" rIns="91300" bIns="45600" anchor="ctr" anchorCtr="0">
              <a:noAutofit/>
            </a:bodyPr>
            <a:lstStyle/>
            <a:p>
              <a:pPr marL="0" marR="0" lvl="0" indent="0" algn="ctr" rtl="0">
                <a:spcBef>
                  <a:spcPts val="0"/>
                </a:spcBef>
                <a:spcAft>
                  <a:spcPts val="0"/>
                </a:spcAft>
                <a:buNone/>
              </a:pPr>
              <a:endParaRPr sz="1400">
                <a:solidFill>
                  <a:srgbClr val="FFFFFF"/>
                </a:solidFill>
                <a:latin typeface="Arial"/>
                <a:ea typeface="Arial"/>
                <a:cs typeface="Arial"/>
                <a:sym typeface="Arial"/>
              </a:endParaRPr>
            </a:p>
          </p:txBody>
        </p:sp>
        <p:sp>
          <p:nvSpPr>
            <p:cNvPr id="15057" name="Google Shape;15057;p96"/>
            <p:cNvSpPr/>
            <p:nvPr/>
          </p:nvSpPr>
          <p:spPr>
            <a:xfrm>
              <a:off x="4316157" y="4515857"/>
              <a:ext cx="685200" cy="685200"/>
            </a:xfrm>
            <a:prstGeom prst="ellipse">
              <a:avLst/>
            </a:prstGeom>
            <a:solidFill>
              <a:srgbClr val="F2F2F2"/>
            </a:solidFill>
            <a:ln>
              <a:noFill/>
            </a:ln>
          </p:spPr>
          <p:txBody>
            <a:bodyPr spcFirstLastPara="1" wrap="square" lIns="91300" tIns="45600" rIns="91300" bIns="45600" anchor="ctr" anchorCtr="0">
              <a:noAutofit/>
            </a:bodyPr>
            <a:lstStyle/>
            <a:p>
              <a:pPr marL="0" marR="0" lvl="0" indent="0" algn="ctr" rtl="0">
                <a:spcBef>
                  <a:spcPts val="0"/>
                </a:spcBef>
                <a:spcAft>
                  <a:spcPts val="0"/>
                </a:spcAft>
                <a:buNone/>
              </a:pPr>
              <a:endParaRPr sz="1400">
                <a:solidFill>
                  <a:srgbClr val="FFFFFF"/>
                </a:solidFill>
                <a:latin typeface="Arial"/>
                <a:ea typeface="Arial"/>
                <a:cs typeface="Arial"/>
                <a:sym typeface="Arial"/>
              </a:endParaRPr>
            </a:p>
          </p:txBody>
        </p:sp>
        <p:sp>
          <p:nvSpPr>
            <p:cNvPr id="15058" name="Google Shape;15058;p96"/>
            <p:cNvSpPr/>
            <p:nvPr/>
          </p:nvSpPr>
          <p:spPr>
            <a:xfrm>
              <a:off x="6420442" y="4515854"/>
              <a:ext cx="685200" cy="685200"/>
            </a:xfrm>
            <a:prstGeom prst="ellipse">
              <a:avLst/>
            </a:prstGeom>
            <a:solidFill>
              <a:srgbClr val="F2F2F2"/>
            </a:solidFill>
            <a:ln>
              <a:noFill/>
            </a:ln>
          </p:spPr>
          <p:txBody>
            <a:bodyPr spcFirstLastPara="1" wrap="square" lIns="91300" tIns="45600" rIns="91300" bIns="45600" anchor="ctr" anchorCtr="0">
              <a:noAutofit/>
            </a:bodyPr>
            <a:lstStyle/>
            <a:p>
              <a:pPr marL="0" marR="0" lvl="0" indent="0" algn="ctr" rtl="0">
                <a:spcBef>
                  <a:spcPts val="0"/>
                </a:spcBef>
                <a:spcAft>
                  <a:spcPts val="0"/>
                </a:spcAft>
                <a:buNone/>
              </a:pPr>
              <a:endParaRPr sz="1400">
                <a:solidFill>
                  <a:srgbClr val="717074"/>
                </a:solidFill>
                <a:latin typeface="Arial"/>
                <a:ea typeface="Arial"/>
                <a:cs typeface="Arial"/>
                <a:sym typeface="Arial"/>
              </a:endParaRPr>
            </a:p>
          </p:txBody>
        </p:sp>
        <p:sp>
          <p:nvSpPr>
            <p:cNvPr id="15059" name="Google Shape;15059;p96"/>
            <p:cNvSpPr/>
            <p:nvPr/>
          </p:nvSpPr>
          <p:spPr>
            <a:xfrm>
              <a:off x="8471885" y="4515857"/>
              <a:ext cx="685200" cy="685200"/>
            </a:xfrm>
            <a:prstGeom prst="ellipse">
              <a:avLst/>
            </a:prstGeom>
            <a:solidFill>
              <a:srgbClr val="F2F2F2"/>
            </a:solidFill>
            <a:ln w="9525" cap="flat" cmpd="sng">
              <a:solidFill>
                <a:srgbClr val="F2F2F2"/>
              </a:solidFill>
              <a:prstDash val="solid"/>
              <a:round/>
              <a:headEnd type="none" w="sm" len="sm"/>
              <a:tailEnd type="none" w="sm" len="sm"/>
            </a:ln>
          </p:spPr>
          <p:txBody>
            <a:bodyPr spcFirstLastPara="1" wrap="square" lIns="91300" tIns="45600" rIns="91300" bIns="45600" anchor="ctr" anchorCtr="0">
              <a:noAutofit/>
            </a:bodyPr>
            <a:lstStyle/>
            <a:p>
              <a:pPr marL="0" marR="0" lvl="0" indent="0" algn="ctr" rtl="0">
                <a:spcBef>
                  <a:spcPts val="0"/>
                </a:spcBef>
                <a:spcAft>
                  <a:spcPts val="0"/>
                </a:spcAft>
                <a:buNone/>
              </a:pPr>
              <a:endParaRPr sz="1400">
                <a:solidFill>
                  <a:srgbClr val="717074"/>
                </a:solidFill>
                <a:latin typeface="Arial"/>
                <a:ea typeface="Arial"/>
                <a:cs typeface="Arial"/>
                <a:sym typeface="Arial"/>
              </a:endParaRPr>
            </a:p>
          </p:txBody>
        </p:sp>
        <p:sp>
          <p:nvSpPr>
            <p:cNvPr id="15060" name="Google Shape;15060;p96"/>
            <p:cNvSpPr/>
            <p:nvPr/>
          </p:nvSpPr>
          <p:spPr>
            <a:xfrm>
              <a:off x="3910636" y="2434507"/>
              <a:ext cx="5788200" cy="474000"/>
            </a:xfrm>
            <a:prstGeom prst="rect">
              <a:avLst/>
            </a:prstGeom>
            <a:noFill/>
            <a:ln>
              <a:noFill/>
            </a:ln>
          </p:spPr>
          <p:txBody>
            <a:bodyPr spcFirstLastPara="1" wrap="square" lIns="91300" tIns="91300" rIns="91300" bIns="91300" anchor="ctr" anchorCtr="0">
              <a:noAutofit/>
            </a:bodyPr>
            <a:lstStyle/>
            <a:p>
              <a:pPr marL="0" marR="0" lvl="0" indent="0" algn="ctr" rtl="0">
                <a:spcBef>
                  <a:spcPts val="0"/>
                </a:spcBef>
                <a:spcAft>
                  <a:spcPts val="0"/>
                </a:spcAft>
                <a:buNone/>
              </a:pPr>
              <a:r>
                <a:rPr lang="en-US" sz="1600">
                  <a:solidFill>
                    <a:srgbClr val="0098C7"/>
                  </a:solidFill>
                  <a:latin typeface="Arial"/>
                  <a:ea typeface="Arial"/>
                  <a:cs typeface="Arial"/>
                  <a:sym typeface="Arial"/>
                </a:rPr>
                <a:t>VCF Automation</a:t>
              </a:r>
              <a:endParaRPr sz="1400" b="1">
                <a:solidFill>
                  <a:srgbClr val="0098C7"/>
                </a:solidFill>
                <a:latin typeface="Arial"/>
                <a:ea typeface="Arial"/>
                <a:cs typeface="Arial"/>
                <a:sym typeface="Arial"/>
              </a:endParaRPr>
            </a:p>
          </p:txBody>
        </p:sp>
        <p:sp>
          <p:nvSpPr>
            <p:cNvPr id="15061" name="Google Shape;15061;p96"/>
            <p:cNvSpPr txBox="1"/>
            <p:nvPr/>
          </p:nvSpPr>
          <p:spPr>
            <a:xfrm>
              <a:off x="3026185" y="5750955"/>
              <a:ext cx="7373100" cy="439800"/>
            </a:xfrm>
            <a:prstGeom prst="rect">
              <a:avLst/>
            </a:prstGeom>
            <a:noFill/>
            <a:ln>
              <a:noFill/>
            </a:ln>
          </p:spPr>
          <p:txBody>
            <a:bodyPr spcFirstLastPara="1" wrap="square" lIns="0" tIns="0" rIns="0" bIns="0" anchor="ctr" anchorCtr="0">
              <a:noAutofit/>
            </a:bodyPr>
            <a:lstStyle/>
            <a:p>
              <a:pPr marL="0" marR="0" lvl="0" indent="0" algn="ctr" rtl="0">
                <a:spcBef>
                  <a:spcPts val="0"/>
                </a:spcBef>
                <a:spcAft>
                  <a:spcPts val="0"/>
                </a:spcAft>
                <a:buNone/>
              </a:pPr>
              <a:r>
                <a:rPr lang="en-US" sz="1600">
                  <a:solidFill>
                    <a:srgbClr val="000000"/>
                  </a:solidFill>
                  <a:latin typeface="Arial"/>
                  <a:ea typeface="Arial"/>
                  <a:cs typeface="Arial"/>
                  <a:sym typeface="Arial"/>
                </a:rPr>
                <a:t>Data Center     |      Edge     |      Service Provider      |     Public Cloud</a:t>
              </a:r>
              <a:endParaRPr sz="1600">
                <a:solidFill>
                  <a:srgbClr val="000000"/>
                </a:solidFill>
                <a:latin typeface="Arial"/>
                <a:ea typeface="Arial"/>
                <a:cs typeface="Arial"/>
                <a:sym typeface="Arial"/>
              </a:endParaRPr>
            </a:p>
          </p:txBody>
        </p:sp>
        <p:sp>
          <p:nvSpPr>
            <p:cNvPr id="15062" name="Google Shape;15062;p96"/>
            <p:cNvSpPr/>
            <p:nvPr/>
          </p:nvSpPr>
          <p:spPr>
            <a:xfrm>
              <a:off x="3511338" y="5119664"/>
              <a:ext cx="2262900" cy="317400"/>
            </a:xfrm>
            <a:prstGeom prst="rect">
              <a:avLst/>
            </a:prstGeom>
            <a:noFill/>
            <a:ln>
              <a:noFill/>
            </a:ln>
          </p:spPr>
          <p:txBody>
            <a:bodyPr spcFirstLastPara="1" wrap="square" lIns="91350" tIns="91350" rIns="91350" bIns="91350" anchor="t" anchorCtr="0">
              <a:noAutofit/>
            </a:bodyPr>
            <a:lstStyle/>
            <a:p>
              <a:pPr marL="0" marR="0" lvl="0" indent="0" algn="ctr" rtl="0">
                <a:spcBef>
                  <a:spcPts val="0"/>
                </a:spcBef>
                <a:spcAft>
                  <a:spcPts val="0"/>
                </a:spcAft>
                <a:buNone/>
              </a:pPr>
              <a:r>
                <a:rPr lang="en-US" sz="1100">
                  <a:solidFill>
                    <a:srgbClr val="000000"/>
                  </a:solidFill>
                  <a:latin typeface="Arial"/>
                  <a:ea typeface="Arial"/>
                  <a:cs typeface="Arial"/>
                  <a:sym typeface="Arial"/>
                </a:rPr>
                <a:t>vSphere</a:t>
              </a:r>
              <a:endParaRPr sz="1799">
                <a:solidFill>
                  <a:srgbClr val="000000"/>
                </a:solidFill>
                <a:latin typeface="Arial"/>
                <a:ea typeface="Arial"/>
                <a:cs typeface="Arial"/>
                <a:sym typeface="Arial"/>
              </a:endParaRPr>
            </a:p>
          </p:txBody>
        </p:sp>
        <p:sp>
          <p:nvSpPr>
            <p:cNvPr id="15063" name="Google Shape;15063;p96"/>
            <p:cNvSpPr/>
            <p:nvPr/>
          </p:nvSpPr>
          <p:spPr>
            <a:xfrm>
              <a:off x="5654112" y="5137039"/>
              <a:ext cx="2262900" cy="282600"/>
            </a:xfrm>
            <a:prstGeom prst="rect">
              <a:avLst/>
            </a:prstGeom>
            <a:noFill/>
            <a:ln>
              <a:noFill/>
            </a:ln>
          </p:spPr>
          <p:txBody>
            <a:bodyPr spcFirstLastPara="1" wrap="square" lIns="91350" tIns="91350" rIns="91350" bIns="91350" anchor="t" anchorCtr="0">
              <a:noAutofit/>
            </a:bodyPr>
            <a:lstStyle/>
            <a:p>
              <a:pPr marL="0" marR="0" lvl="0" indent="0" algn="ctr" rtl="0">
                <a:spcBef>
                  <a:spcPts val="0"/>
                </a:spcBef>
                <a:spcAft>
                  <a:spcPts val="0"/>
                </a:spcAft>
                <a:buNone/>
              </a:pPr>
              <a:r>
                <a:rPr lang="en-US" sz="1100">
                  <a:solidFill>
                    <a:srgbClr val="000000"/>
                  </a:solidFill>
                  <a:latin typeface="Arial"/>
                  <a:ea typeface="Arial"/>
                  <a:cs typeface="Arial"/>
                  <a:sym typeface="Arial"/>
                </a:rPr>
                <a:t>vSAN</a:t>
              </a:r>
              <a:endParaRPr sz="1799">
                <a:solidFill>
                  <a:srgbClr val="000000"/>
                </a:solidFill>
                <a:latin typeface="Arial"/>
                <a:ea typeface="Arial"/>
                <a:cs typeface="Arial"/>
                <a:sym typeface="Arial"/>
              </a:endParaRPr>
            </a:p>
          </p:txBody>
        </p:sp>
        <p:sp>
          <p:nvSpPr>
            <p:cNvPr id="15064" name="Google Shape;15064;p96"/>
            <p:cNvSpPr/>
            <p:nvPr/>
          </p:nvSpPr>
          <p:spPr>
            <a:xfrm>
              <a:off x="7711377" y="5119664"/>
              <a:ext cx="2262900" cy="317400"/>
            </a:xfrm>
            <a:prstGeom prst="rect">
              <a:avLst/>
            </a:prstGeom>
            <a:noFill/>
            <a:ln>
              <a:noFill/>
            </a:ln>
          </p:spPr>
          <p:txBody>
            <a:bodyPr spcFirstLastPara="1" wrap="square" lIns="91350" tIns="91350" rIns="91350" bIns="91350" anchor="t" anchorCtr="0">
              <a:noAutofit/>
            </a:bodyPr>
            <a:lstStyle/>
            <a:p>
              <a:pPr marL="0" marR="0" lvl="0" indent="0" algn="ctr" rtl="0">
                <a:spcBef>
                  <a:spcPts val="0"/>
                </a:spcBef>
                <a:spcAft>
                  <a:spcPts val="0"/>
                </a:spcAft>
                <a:buNone/>
              </a:pPr>
              <a:r>
                <a:rPr lang="en-US" sz="1100">
                  <a:solidFill>
                    <a:srgbClr val="000000"/>
                  </a:solidFill>
                  <a:latin typeface="Arial"/>
                  <a:ea typeface="Arial"/>
                  <a:cs typeface="Arial"/>
                  <a:sym typeface="Arial"/>
                </a:rPr>
                <a:t>NSX</a:t>
              </a:r>
              <a:endParaRPr sz="1799">
                <a:solidFill>
                  <a:srgbClr val="000000"/>
                </a:solidFill>
                <a:latin typeface="Arial"/>
                <a:ea typeface="Arial"/>
                <a:cs typeface="Arial"/>
                <a:sym typeface="Arial"/>
              </a:endParaRPr>
            </a:p>
          </p:txBody>
        </p:sp>
        <p:sp>
          <p:nvSpPr>
            <p:cNvPr id="15065" name="Google Shape;15065;p96"/>
            <p:cNvSpPr/>
            <p:nvPr/>
          </p:nvSpPr>
          <p:spPr>
            <a:xfrm>
              <a:off x="3747565" y="3977942"/>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GOVERNANCE &amp; POLICIES</a:t>
              </a:r>
              <a:endParaRPr sz="1799">
                <a:solidFill>
                  <a:srgbClr val="000000"/>
                </a:solidFill>
                <a:latin typeface="Arial"/>
                <a:ea typeface="Arial"/>
                <a:cs typeface="Arial"/>
                <a:sym typeface="Arial"/>
              </a:endParaRPr>
            </a:p>
          </p:txBody>
        </p:sp>
        <p:sp>
          <p:nvSpPr>
            <p:cNvPr id="15066" name="Google Shape;15066;p96"/>
            <p:cNvSpPr/>
            <p:nvPr/>
          </p:nvSpPr>
          <p:spPr>
            <a:xfrm>
              <a:off x="3747565" y="3442456"/>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PRIVATE CLOUD </a:t>
              </a:r>
              <a:br>
                <a:rPr lang="en-US" sz="900">
                  <a:solidFill>
                    <a:srgbClr val="F2F2F2"/>
                  </a:solidFill>
                  <a:latin typeface="Arial"/>
                  <a:ea typeface="Arial"/>
                  <a:cs typeface="Arial"/>
                  <a:sym typeface="Arial"/>
                </a:rPr>
              </a:br>
              <a:r>
                <a:rPr lang="en-US" sz="900">
                  <a:solidFill>
                    <a:srgbClr val="F2F2F2"/>
                  </a:solidFill>
                  <a:latin typeface="Arial"/>
                  <a:ea typeface="Arial"/>
                  <a:cs typeface="Arial"/>
                  <a:sym typeface="Arial"/>
                </a:rPr>
                <a:t>SERVICES</a:t>
              </a:r>
              <a:endParaRPr sz="1799">
                <a:solidFill>
                  <a:srgbClr val="000000"/>
                </a:solidFill>
                <a:latin typeface="Arial"/>
                <a:ea typeface="Arial"/>
                <a:cs typeface="Arial"/>
                <a:sym typeface="Arial"/>
              </a:endParaRPr>
            </a:p>
          </p:txBody>
        </p:sp>
        <p:sp>
          <p:nvSpPr>
            <p:cNvPr id="15067" name="Google Shape;15067;p96"/>
            <p:cNvSpPr/>
            <p:nvPr/>
          </p:nvSpPr>
          <p:spPr>
            <a:xfrm>
              <a:off x="5296173" y="3442456"/>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PRIVATE AI</a:t>
              </a:r>
              <a:br>
                <a:rPr lang="en-US" sz="900">
                  <a:solidFill>
                    <a:srgbClr val="F2F2F2"/>
                  </a:solidFill>
                  <a:latin typeface="Arial"/>
                  <a:ea typeface="Arial"/>
                  <a:cs typeface="Arial"/>
                  <a:sym typeface="Arial"/>
                </a:rPr>
              </a:br>
              <a:r>
                <a:rPr lang="en-US" sz="900">
                  <a:solidFill>
                    <a:srgbClr val="F2F2F2"/>
                  </a:solidFill>
                  <a:latin typeface="Arial"/>
                  <a:ea typeface="Arial"/>
                  <a:cs typeface="Arial"/>
                  <a:sym typeface="Arial"/>
                </a:rPr>
                <a:t>SERVICES</a:t>
              </a:r>
              <a:endParaRPr sz="1799">
                <a:solidFill>
                  <a:srgbClr val="000000"/>
                </a:solidFill>
                <a:latin typeface="Arial"/>
                <a:ea typeface="Arial"/>
                <a:cs typeface="Arial"/>
                <a:sym typeface="Arial"/>
              </a:endParaRPr>
            </a:p>
          </p:txBody>
        </p:sp>
        <p:sp>
          <p:nvSpPr>
            <p:cNvPr id="15068" name="Google Shape;15068;p96"/>
            <p:cNvSpPr/>
            <p:nvPr/>
          </p:nvSpPr>
          <p:spPr>
            <a:xfrm>
              <a:off x="5296173" y="3977942"/>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TENANT &amp; CONTENT </a:t>
              </a:r>
              <a:br>
                <a:rPr lang="en-US" sz="900">
                  <a:solidFill>
                    <a:srgbClr val="F2F2F2"/>
                  </a:solidFill>
                  <a:latin typeface="Arial"/>
                  <a:ea typeface="Arial"/>
                  <a:cs typeface="Arial"/>
                  <a:sym typeface="Arial"/>
                </a:rPr>
              </a:br>
              <a:r>
                <a:rPr lang="en-US" sz="900">
                  <a:solidFill>
                    <a:srgbClr val="F2F2F2"/>
                  </a:solidFill>
                  <a:latin typeface="Arial"/>
                  <a:ea typeface="Arial"/>
                  <a:cs typeface="Arial"/>
                  <a:sym typeface="Arial"/>
                </a:rPr>
                <a:t>MANAGEMENT</a:t>
              </a:r>
              <a:endParaRPr sz="1799">
                <a:solidFill>
                  <a:srgbClr val="000000"/>
                </a:solidFill>
                <a:latin typeface="Arial"/>
                <a:ea typeface="Arial"/>
                <a:cs typeface="Arial"/>
                <a:sym typeface="Arial"/>
              </a:endParaRPr>
            </a:p>
          </p:txBody>
        </p:sp>
        <p:sp>
          <p:nvSpPr>
            <p:cNvPr id="15069" name="Google Shape;15069;p96"/>
            <p:cNvSpPr/>
            <p:nvPr/>
          </p:nvSpPr>
          <p:spPr>
            <a:xfrm>
              <a:off x="8393387" y="3977942"/>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ORCHESTRATION &amp; EXTENSIBILITY</a:t>
              </a:r>
              <a:endParaRPr sz="1799">
                <a:solidFill>
                  <a:srgbClr val="000000"/>
                </a:solidFill>
                <a:latin typeface="Arial"/>
                <a:ea typeface="Arial"/>
                <a:cs typeface="Arial"/>
                <a:sym typeface="Arial"/>
              </a:endParaRPr>
            </a:p>
          </p:txBody>
        </p:sp>
        <p:sp>
          <p:nvSpPr>
            <p:cNvPr id="15070" name="Google Shape;15070;p96"/>
            <p:cNvSpPr/>
            <p:nvPr/>
          </p:nvSpPr>
          <p:spPr>
            <a:xfrm>
              <a:off x="8393387" y="3442456"/>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KUBERNETES</a:t>
              </a:r>
              <a:br>
                <a:rPr lang="en-US" sz="900">
                  <a:solidFill>
                    <a:srgbClr val="F2F2F2"/>
                  </a:solidFill>
                  <a:latin typeface="Arial"/>
                  <a:ea typeface="Arial"/>
                  <a:cs typeface="Arial"/>
                  <a:sym typeface="Arial"/>
                </a:rPr>
              </a:br>
              <a:r>
                <a:rPr lang="en-US" sz="900">
                  <a:solidFill>
                    <a:srgbClr val="F2F2F2"/>
                  </a:solidFill>
                  <a:latin typeface="Arial"/>
                  <a:ea typeface="Arial"/>
                  <a:cs typeface="Arial"/>
                  <a:sym typeface="Arial"/>
                </a:rPr>
                <a:t>MULTI-CLUSTER MANAGEMENT</a:t>
              </a:r>
              <a:endParaRPr sz="1799">
                <a:solidFill>
                  <a:srgbClr val="000000"/>
                </a:solidFill>
                <a:latin typeface="Arial"/>
                <a:ea typeface="Arial"/>
                <a:cs typeface="Arial"/>
                <a:sym typeface="Arial"/>
              </a:endParaRPr>
            </a:p>
          </p:txBody>
        </p:sp>
        <p:sp>
          <p:nvSpPr>
            <p:cNvPr id="15071" name="Google Shape;15071;p96"/>
            <p:cNvSpPr/>
            <p:nvPr/>
          </p:nvSpPr>
          <p:spPr>
            <a:xfrm>
              <a:off x="6844779" y="3977942"/>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NETWORK &amp; SECURITY AUTOMATION</a:t>
              </a:r>
              <a:endParaRPr sz="1799">
                <a:solidFill>
                  <a:srgbClr val="000000"/>
                </a:solidFill>
                <a:latin typeface="Arial"/>
                <a:ea typeface="Arial"/>
                <a:cs typeface="Arial"/>
                <a:sym typeface="Arial"/>
              </a:endParaRPr>
            </a:p>
          </p:txBody>
        </p:sp>
        <p:sp>
          <p:nvSpPr>
            <p:cNvPr id="15072" name="Google Shape;15072;p96"/>
            <p:cNvSpPr/>
            <p:nvPr/>
          </p:nvSpPr>
          <p:spPr>
            <a:xfrm>
              <a:off x="6844779" y="3442456"/>
              <a:ext cx="1379700" cy="4626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r>
                <a:rPr lang="en-US" sz="900">
                  <a:solidFill>
                    <a:srgbClr val="F2F2F2"/>
                  </a:solidFill>
                  <a:latin typeface="Arial"/>
                  <a:ea typeface="Arial"/>
                  <a:cs typeface="Arial"/>
                  <a:sym typeface="Arial"/>
                </a:rPr>
                <a:t>BLUEPRINTS &amp; INFRASTRUCTURE </a:t>
              </a:r>
              <a:br>
                <a:rPr lang="en-US" sz="900">
                  <a:solidFill>
                    <a:srgbClr val="F2F2F2"/>
                  </a:solidFill>
                  <a:latin typeface="Arial"/>
                  <a:ea typeface="Arial"/>
                  <a:cs typeface="Arial"/>
                  <a:sym typeface="Arial"/>
                </a:rPr>
              </a:br>
              <a:r>
                <a:rPr lang="en-US" sz="900">
                  <a:solidFill>
                    <a:srgbClr val="F2F2F2"/>
                  </a:solidFill>
                  <a:latin typeface="Arial"/>
                  <a:ea typeface="Arial"/>
                  <a:cs typeface="Arial"/>
                  <a:sym typeface="Arial"/>
                </a:rPr>
                <a:t>AS CODE</a:t>
              </a:r>
              <a:endParaRPr sz="900">
                <a:solidFill>
                  <a:srgbClr val="F2F2F2"/>
                </a:solidFill>
                <a:latin typeface="Arial"/>
                <a:ea typeface="Arial"/>
                <a:cs typeface="Arial"/>
                <a:sym typeface="Arial"/>
              </a:endParaRPr>
            </a:p>
          </p:txBody>
        </p:sp>
        <p:sp>
          <p:nvSpPr>
            <p:cNvPr id="15073" name="Google Shape;15073;p96"/>
            <p:cNvSpPr/>
            <p:nvPr/>
          </p:nvSpPr>
          <p:spPr>
            <a:xfrm>
              <a:off x="3764161" y="2836211"/>
              <a:ext cx="6001200" cy="505800"/>
            </a:xfrm>
            <a:prstGeom prst="roundRect">
              <a:avLst>
                <a:gd name="adj" fmla="val 0"/>
              </a:avLst>
            </a:prstGeom>
            <a:solidFill>
              <a:schemeClr val="accent3"/>
            </a:solidFill>
            <a:ln>
              <a:noFill/>
            </a:ln>
          </p:spPr>
          <p:txBody>
            <a:bodyPr spcFirstLastPara="1" wrap="square" lIns="0" tIns="0" rIns="0" bIns="0" anchor="ctr" anchorCtr="0">
              <a:noAutofit/>
            </a:bodyPr>
            <a:lstStyle/>
            <a:p>
              <a:pPr marL="0" marR="0" lvl="0" indent="0" algn="ctr" rtl="0">
                <a:spcBef>
                  <a:spcPts val="0"/>
                </a:spcBef>
                <a:spcAft>
                  <a:spcPts val="0"/>
                </a:spcAft>
                <a:buNone/>
              </a:pPr>
              <a:r>
                <a:rPr lang="en-US" sz="1000">
                  <a:solidFill>
                    <a:srgbClr val="F2F2F2"/>
                  </a:solidFill>
                  <a:latin typeface="Arial"/>
                  <a:ea typeface="Arial"/>
                  <a:cs typeface="Arial"/>
                  <a:sym typeface="Arial"/>
                </a:rPr>
                <a:t>MODERN CLOUD INTERFACE</a:t>
              </a:r>
              <a:endParaRPr sz="900">
                <a:solidFill>
                  <a:srgbClr val="F2F2F2"/>
                </a:solidFill>
                <a:latin typeface="Arial"/>
                <a:ea typeface="Arial"/>
                <a:cs typeface="Arial"/>
                <a:sym typeface="Arial"/>
              </a:endParaRPr>
            </a:p>
            <a:p>
              <a:pPr marL="0" marR="0" lvl="0" indent="0" algn="ctr" rtl="0">
                <a:spcBef>
                  <a:spcPts val="592"/>
                </a:spcBef>
                <a:spcAft>
                  <a:spcPts val="0"/>
                </a:spcAft>
                <a:buNone/>
              </a:pPr>
              <a:r>
                <a:rPr lang="en-US" sz="700">
                  <a:solidFill>
                    <a:srgbClr val="F2F2F2"/>
                  </a:solidFill>
                  <a:latin typeface="Arial"/>
                  <a:ea typeface="Arial"/>
                  <a:cs typeface="Arial"/>
                  <a:sym typeface="Arial"/>
                </a:rPr>
                <a:t>[SELF-SERVICE CATALOG | SELF-SERVICE IAAS]    [WORKLOAD PERFORMANCE &amp; COST VISIBILITY]</a:t>
              </a:r>
              <a:endParaRPr sz="1799">
                <a:solidFill>
                  <a:srgbClr val="000000"/>
                </a:solidFill>
                <a:latin typeface="Arial"/>
                <a:ea typeface="Arial"/>
                <a:cs typeface="Arial"/>
                <a:sym typeface="Arial"/>
              </a:endParaRPr>
            </a:p>
          </p:txBody>
        </p:sp>
        <p:pic>
          <p:nvPicPr>
            <p:cNvPr id="15074" name="Google Shape;15074;p96"/>
            <p:cNvPicPr preferRelativeResize="0"/>
            <p:nvPr/>
          </p:nvPicPr>
          <p:blipFill rotWithShape="1">
            <a:blip r:embed="rId3">
              <a:alphaModFix/>
            </a:blip>
            <a:srcRect/>
            <a:stretch/>
          </p:blipFill>
          <p:spPr>
            <a:xfrm>
              <a:off x="6511517" y="1929454"/>
              <a:ext cx="518140" cy="518140"/>
            </a:xfrm>
            <a:prstGeom prst="rect">
              <a:avLst/>
            </a:prstGeom>
            <a:noFill/>
            <a:ln>
              <a:noFill/>
            </a:ln>
          </p:spPr>
        </p:pic>
        <p:pic>
          <p:nvPicPr>
            <p:cNvPr id="15075" name="Google Shape;15075;p96"/>
            <p:cNvPicPr preferRelativeResize="0"/>
            <p:nvPr/>
          </p:nvPicPr>
          <p:blipFill rotWithShape="1">
            <a:blip r:embed="rId4">
              <a:alphaModFix/>
            </a:blip>
            <a:srcRect/>
            <a:stretch/>
          </p:blipFill>
          <p:spPr>
            <a:xfrm>
              <a:off x="4686780" y="1438011"/>
              <a:ext cx="538512" cy="538512"/>
            </a:xfrm>
            <a:prstGeom prst="rect">
              <a:avLst/>
            </a:prstGeom>
            <a:noFill/>
            <a:ln>
              <a:noFill/>
            </a:ln>
          </p:spPr>
        </p:pic>
        <p:pic>
          <p:nvPicPr>
            <p:cNvPr id="15076" name="Google Shape;15076;p96"/>
            <p:cNvPicPr preferRelativeResize="0"/>
            <p:nvPr/>
          </p:nvPicPr>
          <p:blipFill rotWithShape="1">
            <a:blip r:embed="rId5">
              <a:alphaModFix/>
            </a:blip>
            <a:srcRect/>
            <a:stretch/>
          </p:blipFill>
          <p:spPr>
            <a:xfrm>
              <a:off x="4394588" y="4581477"/>
              <a:ext cx="528292" cy="528292"/>
            </a:xfrm>
            <a:prstGeom prst="rect">
              <a:avLst/>
            </a:prstGeom>
            <a:noFill/>
            <a:ln>
              <a:noFill/>
            </a:ln>
          </p:spPr>
        </p:pic>
        <p:pic>
          <p:nvPicPr>
            <p:cNvPr id="15077" name="Google Shape;15077;p96"/>
            <p:cNvPicPr preferRelativeResize="0"/>
            <p:nvPr/>
          </p:nvPicPr>
          <p:blipFill rotWithShape="1">
            <a:blip r:embed="rId6">
              <a:alphaModFix/>
            </a:blip>
            <a:srcRect/>
            <a:stretch/>
          </p:blipFill>
          <p:spPr>
            <a:xfrm>
              <a:off x="6483255" y="4565236"/>
              <a:ext cx="546402" cy="546402"/>
            </a:xfrm>
            <a:prstGeom prst="rect">
              <a:avLst/>
            </a:prstGeom>
            <a:noFill/>
            <a:ln>
              <a:noFill/>
            </a:ln>
          </p:spPr>
        </p:pic>
        <p:pic>
          <p:nvPicPr>
            <p:cNvPr id="15078" name="Google Shape;15078;p96"/>
            <p:cNvPicPr preferRelativeResize="0"/>
            <p:nvPr/>
          </p:nvPicPr>
          <p:blipFill rotWithShape="1">
            <a:blip r:embed="rId7">
              <a:alphaModFix/>
            </a:blip>
            <a:srcRect/>
            <a:stretch/>
          </p:blipFill>
          <p:spPr>
            <a:xfrm>
              <a:off x="8534365" y="4557845"/>
              <a:ext cx="561820" cy="561820"/>
            </a:xfrm>
            <a:prstGeom prst="rect">
              <a:avLst/>
            </a:prstGeom>
            <a:noFill/>
            <a:ln>
              <a:noFill/>
            </a:ln>
          </p:spPr>
        </p:pic>
      </p:grpSp>
      <p:sp>
        <p:nvSpPr>
          <p:cNvPr id="15079" name="Google Shape;15079;p96"/>
          <p:cNvSpPr txBox="1"/>
          <p:nvPr/>
        </p:nvSpPr>
        <p:spPr>
          <a:xfrm>
            <a:off x="1649152" y="6692573"/>
            <a:ext cx="4819445" cy="12296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800" i="1">
                <a:solidFill>
                  <a:srgbClr val="1B1D36"/>
                </a:solidFill>
                <a:latin typeface="Arial"/>
                <a:ea typeface="Arial"/>
                <a:cs typeface="Arial"/>
                <a:sym typeface="Arial"/>
              </a:rPr>
              <a:t>Note: Availability of certain features differ between Org for VM Apps and Org for All Apps experience</a:t>
            </a:r>
            <a:endParaRPr sz="1799">
              <a:solidFill>
                <a:srgbClr val="000000"/>
              </a:solidFill>
              <a:latin typeface="Arial"/>
              <a:ea typeface="Arial"/>
              <a:cs typeface="Arial"/>
              <a:sym typeface="Arial"/>
            </a:endParaRPr>
          </a:p>
        </p:txBody>
      </p:sp>
      <p:sp>
        <p:nvSpPr>
          <p:cNvPr id="15080" name="Google Shape;15080;p96"/>
          <p:cNvSpPr/>
          <p:nvPr/>
        </p:nvSpPr>
        <p:spPr>
          <a:xfrm rot="-5400000">
            <a:off x="7075071" y="3579883"/>
            <a:ext cx="3500988" cy="723711"/>
          </a:xfrm>
          <a:prstGeom prst="leftRightArrow">
            <a:avLst>
              <a:gd name="adj1" fmla="val 100000"/>
              <a:gd name="adj2" fmla="val 22513"/>
            </a:avLst>
          </a:prstGeom>
          <a:gradFill>
            <a:gsLst>
              <a:gs pos="0">
                <a:schemeClr val="accent3"/>
              </a:gs>
              <a:gs pos="42970">
                <a:srgbClr val="396DA7"/>
              </a:gs>
              <a:gs pos="82000">
                <a:schemeClr val="accent5"/>
              </a:gs>
              <a:gs pos="100000">
                <a:schemeClr val="accent5"/>
              </a:gs>
            </a:gsLst>
            <a:lin ang="0" scaled="0"/>
          </a:gra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900">
              <a:solidFill>
                <a:srgbClr val="FFFFFF"/>
              </a:solidFill>
              <a:latin typeface="Arial"/>
              <a:ea typeface="Arial"/>
              <a:cs typeface="Arial"/>
              <a:sym typeface="Arial"/>
            </a:endParaRPr>
          </a:p>
        </p:txBody>
      </p:sp>
      <p:sp>
        <p:nvSpPr>
          <p:cNvPr id="15081" name="Google Shape;15081;p96"/>
          <p:cNvSpPr txBox="1"/>
          <p:nvPr/>
        </p:nvSpPr>
        <p:spPr>
          <a:xfrm>
            <a:off x="8371725" y="2340070"/>
            <a:ext cx="907864" cy="180002"/>
          </a:xfrm>
          <a:prstGeom prst="rect">
            <a:avLst/>
          </a:prstGeom>
          <a:noFill/>
          <a:ln>
            <a:noFill/>
          </a:ln>
        </p:spPr>
        <p:txBody>
          <a:bodyPr spcFirstLastPara="1" wrap="square" lIns="0" tIns="0" rIns="0" bIns="0" anchor="ctr" anchorCtr="0">
            <a:spAutoFit/>
          </a:bodyPr>
          <a:lstStyle/>
          <a:p>
            <a:pPr marL="0" marR="0" lvl="0" indent="0" algn="ctr" rtl="0">
              <a:lnSpc>
                <a:spcPct val="130000"/>
              </a:lnSpc>
              <a:spcBef>
                <a:spcPts val="0"/>
              </a:spcBef>
              <a:spcAft>
                <a:spcPts val="0"/>
              </a:spcAft>
              <a:buNone/>
            </a:pPr>
            <a:r>
              <a:rPr lang="en-US" sz="900" b="1">
                <a:solidFill>
                  <a:srgbClr val="FFFFFF"/>
                </a:solidFill>
                <a:latin typeface="Arial"/>
                <a:ea typeface="Arial"/>
                <a:cs typeface="Arial"/>
                <a:sym typeface="Arial"/>
              </a:rPr>
              <a:t>Consumer</a:t>
            </a:r>
            <a:endParaRPr sz="1799">
              <a:solidFill>
                <a:srgbClr val="000000"/>
              </a:solidFill>
              <a:latin typeface="Arial"/>
              <a:ea typeface="Arial"/>
              <a:cs typeface="Arial"/>
              <a:sym typeface="Arial"/>
            </a:endParaRPr>
          </a:p>
        </p:txBody>
      </p:sp>
      <p:sp>
        <p:nvSpPr>
          <p:cNvPr id="15082" name="Google Shape;15082;p96"/>
          <p:cNvSpPr txBox="1"/>
          <p:nvPr/>
        </p:nvSpPr>
        <p:spPr>
          <a:xfrm>
            <a:off x="8619922" y="5197692"/>
            <a:ext cx="467878" cy="180002"/>
          </a:xfrm>
          <a:prstGeom prst="rect">
            <a:avLst/>
          </a:prstGeom>
          <a:noFill/>
          <a:ln>
            <a:noFill/>
          </a:ln>
        </p:spPr>
        <p:txBody>
          <a:bodyPr spcFirstLastPara="1" wrap="square" lIns="0" tIns="0" rIns="0" bIns="0" anchor="ctr" anchorCtr="0">
            <a:spAutoFit/>
          </a:bodyPr>
          <a:lstStyle/>
          <a:p>
            <a:pPr marL="0" marR="0" lvl="0" indent="0" algn="ctr" rtl="0">
              <a:lnSpc>
                <a:spcPct val="130000"/>
              </a:lnSpc>
              <a:spcBef>
                <a:spcPts val="0"/>
              </a:spcBef>
              <a:spcAft>
                <a:spcPts val="0"/>
              </a:spcAft>
              <a:buNone/>
            </a:pPr>
            <a:r>
              <a:rPr lang="en-US" sz="900" b="1">
                <a:solidFill>
                  <a:srgbClr val="FFFFFF"/>
                </a:solidFill>
                <a:latin typeface="Arial"/>
                <a:ea typeface="Arial"/>
                <a:cs typeface="Arial"/>
                <a:sym typeface="Arial"/>
              </a:rPr>
              <a:t>Provider</a:t>
            </a:r>
            <a:endParaRPr sz="1799">
              <a:solidFill>
                <a:srgbClr val="000000"/>
              </a:solidFill>
              <a:latin typeface="Arial"/>
              <a:ea typeface="Arial"/>
              <a:cs typeface="Arial"/>
              <a:sym typeface="Arial"/>
            </a:endParaRPr>
          </a:p>
        </p:txBody>
      </p:sp>
      <p:cxnSp>
        <p:nvCxnSpPr>
          <p:cNvPr id="15083" name="Google Shape;15083;p96"/>
          <p:cNvCxnSpPr/>
          <p:nvPr/>
        </p:nvCxnSpPr>
        <p:spPr>
          <a:xfrm>
            <a:off x="9086180" y="3087759"/>
            <a:ext cx="331414" cy="0"/>
          </a:xfrm>
          <a:prstGeom prst="straightConnector1">
            <a:avLst/>
          </a:prstGeom>
          <a:noFill/>
          <a:ln w="12700" cap="flat" cmpd="sng">
            <a:solidFill>
              <a:schemeClr val="dk1"/>
            </a:solidFill>
            <a:prstDash val="solid"/>
            <a:miter lim="800000"/>
            <a:headEnd type="none" w="sm" len="sm"/>
            <a:tailEnd type="oval" w="sm" len="sm"/>
          </a:ln>
        </p:spPr>
      </p:cxnSp>
      <p:cxnSp>
        <p:nvCxnSpPr>
          <p:cNvPr id="15084" name="Google Shape;15084;p96"/>
          <p:cNvCxnSpPr/>
          <p:nvPr/>
        </p:nvCxnSpPr>
        <p:spPr>
          <a:xfrm>
            <a:off x="9086180" y="3595116"/>
            <a:ext cx="331414" cy="0"/>
          </a:xfrm>
          <a:prstGeom prst="straightConnector1">
            <a:avLst/>
          </a:prstGeom>
          <a:noFill/>
          <a:ln w="12700" cap="flat" cmpd="sng">
            <a:solidFill>
              <a:schemeClr val="dk1"/>
            </a:solidFill>
            <a:prstDash val="solid"/>
            <a:miter lim="800000"/>
            <a:headEnd type="none" w="sm" len="sm"/>
            <a:tailEnd type="oval" w="sm" len="sm"/>
          </a:ln>
        </p:spPr>
      </p:cxnSp>
      <p:cxnSp>
        <p:nvCxnSpPr>
          <p:cNvPr id="15085" name="Google Shape;15085;p96"/>
          <p:cNvCxnSpPr/>
          <p:nvPr/>
        </p:nvCxnSpPr>
        <p:spPr>
          <a:xfrm>
            <a:off x="9086180" y="4069107"/>
            <a:ext cx="331414" cy="0"/>
          </a:xfrm>
          <a:prstGeom prst="straightConnector1">
            <a:avLst/>
          </a:prstGeom>
          <a:noFill/>
          <a:ln w="12700" cap="flat" cmpd="sng">
            <a:solidFill>
              <a:schemeClr val="dk1"/>
            </a:solidFill>
            <a:prstDash val="solid"/>
            <a:miter lim="800000"/>
            <a:headEnd type="none" w="sm" len="sm"/>
            <a:tailEnd type="oval" w="sm" len="sm"/>
          </a:ln>
        </p:spPr>
      </p:cxnSp>
      <p:cxnSp>
        <p:nvCxnSpPr>
          <p:cNvPr id="15086" name="Google Shape;15086;p96"/>
          <p:cNvCxnSpPr/>
          <p:nvPr/>
        </p:nvCxnSpPr>
        <p:spPr>
          <a:xfrm>
            <a:off x="9086180" y="4589754"/>
            <a:ext cx="331414" cy="0"/>
          </a:xfrm>
          <a:prstGeom prst="straightConnector1">
            <a:avLst/>
          </a:prstGeom>
          <a:noFill/>
          <a:ln w="12700" cap="flat" cmpd="sng">
            <a:solidFill>
              <a:schemeClr val="dk1"/>
            </a:solidFill>
            <a:prstDash val="solid"/>
            <a:miter lim="800000"/>
            <a:headEnd type="none" w="sm" len="sm"/>
            <a:tailEnd type="oval" w="sm" len="sm"/>
          </a:ln>
        </p:spPr>
      </p:cxnSp>
      <p:sp>
        <p:nvSpPr>
          <p:cNvPr id="15087" name="Google Shape;15087;p96"/>
          <p:cNvSpPr txBox="1"/>
          <p:nvPr/>
        </p:nvSpPr>
        <p:spPr>
          <a:xfrm>
            <a:off x="9520473" y="2957854"/>
            <a:ext cx="1912302" cy="277128"/>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900">
                <a:solidFill>
                  <a:srgbClr val="000000"/>
                </a:solidFill>
                <a:latin typeface="Arial"/>
                <a:ea typeface="Arial"/>
                <a:cs typeface="Arial"/>
                <a:sym typeface="Arial"/>
              </a:rPr>
              <a:t>Developers, DevOps Engineers, </a:t>
            </a:r>
            <a:br>
              <a:rPr lang="en-US" sz="900">
                <a:solidFill>
                  <a:srgbClr val="000000"/>
                </a:solidFill>
                <a:latin typeface="Arial"/>
                <a:ea typeface="Arial"/>
                <a:cs typeface="Arial"/>
                <a:sym typeface="Arial"/>
              </a:rPr>
            </a:br>
            <a:r>
              <a:rPr lang="en-US" sz="900">
                <a:solidFill>
                  <a:srgbClr val="000000"/>
                </a:solidFill>
                <a:latin typeface="Arial"/>
                <a:ea typeface="Arial"/>
                <a:cs typeface="Arial"/>
                <a:sym typeface="Arial"/>
              </a:rPr>
              <a:t>Data Scientists, Low Tech Users</a:t>
            </a:r>
            <a:endParaRPr sz="1799">
              <a:solidFill>
                <a:srgbClr val="000000"/>
              </a:solidFill>
              <a:latin typeface="Arial"/>
              <a:ea typeface="Arial"/>
              <a:cs typeface="Arial"/>
              <a:sym typeface="Arial"/>
            </a:endParaRPr>
          </a:p>
        </p:txBody>
      </p:sp>
      <p:pic>
        <p:nvPicPr>
          <p:cNvPr id="15088" name="Google Shape;15088;p96"/>
          <p:cNvPicPr preferRelativeResize="0"/>
          <p:nvPr/>
        </p:nvPicPr>
        <p:blipFill rotWithShape="1">
          <a:blip r:embed="rId8">
            <a:alphaModFix/>
          </a:blip>
          <a:srcRect/>
          <a:stretch/>
        </p:blipFill>
        <p:spPr>
          <a:xfrm>
            <a:off x="8634315" y="2918140"/>
            <a:ext cx="344169" cy="344169"/>
          </a:xfrm>
          <a:prstGeom prst="rect">
            <a:avLst/>
          </a:prstGeom>
          <a:noFill/>
          <a:ln>
            <a:noFill/>
          </a:ln>
        </p:spPr>
      </p:pic>
      <p:grpSp>
        <p:nvGrpSpPr>
          <p:cNvPr id="15089" name="Google Shape;15089;p96"/>
          <p:cNvGrpSpPr/>
          <p:nvPr/>
        </p:nvGrpSpPr>
        <p:grpSpPr>
          <a:xfrm>
            <a:off x="8643001" y="3900163"/>
            <a:ext cx="351333" cy="311830"/>
            <a:chOff x="9419199" y="1152634"/>
            <a:chExt cx="638258" cy="566493"/>
          </a:xfrm>
        </p:grpSpPr>
        <p:sp>
          <p:nvSpPr>
            <p:cNvPr id="15090" name="Google Shape;15090;p96"/>
            <p:cNvSpPr/>
            <p:nvPr/>
          </p:nvSpPr>
          <p:spPr>
            <a:xfrm>
              <a:off x="9670845" y="1152634"/>
              <a:ext cx="386612" cy="471824"/>
            </a:xfrm>
            <a:custGeom>
              <a:avLst/>
              <a:gdLst/>
              <a:ahLst/>
              <a:cxnLst/>
              <a:rect l="l" t="t" r="r" b="b"/>
              <a:pathLst>
                <a:path w="386612" h="471824" extrusionOk="0">
                  <a:moveTo>
                    <a:pt x="0" y="0"/>
                  </a:moveTo>
                  <a:lnTo>
                    <a:pt x="0" y="57734"/>
                  </a:lnTo>
                  <a:lnTo>
                    <a:pt x="31377" y="57734"/>
                  </a:lnTo>
                  <a:lnTo>
                    <a:pt x="31377" y="31377"/>
                  </a:lnTo>
                  <a:lnTo>
                    <a:pt x="355236" y="31377"/>
                  </a:lnTo>
                  <a:lnTo>
                    <a:pt x="355236" y="440447"/>
                  </a:lnTo>
                  <a:lnTo>
                    <a:pt x="212469" y="440447"/>
                  </a:lnTo>
                  <a:lnTo>
                    <a:pt x="212469" y="471824"/>
                  </a:lnTo>
                  <a:lnTo>
                    <a:pt x="386613" y="471824"/>
                  </a:lnTo>
                  <a:lnTo>
                    <a:pt x="386613" y="0"/>
                  </a:lnTo>
                  <a:lnTo>
                    <a:pt x="0" y="0"/>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091" name="Google Shape;15091;p96"/>
            <p:cNvSpPr/>
            <p:nvPr/>
          </p:nvSpPr>
          <p:spPr>
            <a:xfrm>
              <a:off x="9419199" y="1493116"/>
              <a:ext cx="438924" cy="226011"/>
            </a:xfrm>
            <a:custGeom>
              <a:avLst/>
              <a:gdLst/>
              <a:ahLst/>
              <a:cxnLst/>
              <a:rect l="l" t="t" r="r" b="b"/>
              <a:pathLst>
                <a:path w="438924" h="226011" extrusionOk="0">
                  <a:moveTo>
                    <a:pt x="429510" y="100413"/>
                  </a:moveTo>
                  <a:cubicBezTo>
                    <a:pt x="313549" y="-28413"/>
                    <a:pt x="144157" y="-34016"/>
                    <a:pt x="21561" y="87862"/>
                  </a:cubicBezTo>
                  <a:cubicBezTo>
                    <a:pt x="17482" y="91941"/>
                    <a:pt x="13493" y="96110"/>
                    <a:pt x="9593" y="100413"/>
                  </a:cubicBezTo>
                  <a:cubicBezTo>
                    <a:pt x="3407" y="107361"/>
                    <a:pt x="-44" y="116550"/>
                    <a:pt x="0" y="126053"/>
                  </a:cubicBezTo>
                  <a:lnTo>
                    <a:pt x="0" y="188583"/>
                  </a:lnTo>
                  <a:cubicBezTo>
                    <a:pt x="0" y="209247"/>
                    <a:pt x="15958" y="226011"/>
                    <a:pt x="35591" y="226011"/>
                  </a:cubicBezTo>
                  <a:lnTo>
                    <a:pt x="403333" y="226011"/>
                  </a:lnTo>
                  <a:cubicBezTo>
                    <a:pt x="423011" y="226011"/>
                    <a:pt x="438924" y="209247"/>
                    <a:pt x="438924" y="188583"/>
                  </a:cubicBezTo>
                  <a:lnTo>
                    <a:pt x="438924" y="126053"/>
                  </a:lnTo>
                  <a:cubicBezTo>
                    <a:pt x="438968" y="116550"/>
                    <a:pt x="435607" y="107405"/>
                    <a:pt x="429510" y="100413"/>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092" name="Google Shape;15092;p96"/>
            <p:cNvSpPr/>
            <p:nvPr/>
          </p:nvSpPr>
          <p:spPr>
            <a:xfrm>
              <a:off x="9513824" y="1230449"/>
              <a:ext cx="249673" cy="249673"/>
            </a:xfrm>
            <a:custGeom>
              <a:avLst/>
              <a:gdLst/>
              <a:ahLst/>
              <a:cxnLst/>
              <a:rect l="l" t="t" r="r" b="b"/>
              <a:pathLst>
                <a:path w="249673" h="249673" extrusionOk="0">
                  <a:moveTo>
                    <a:pt x="249673" y="124837"/>
                  </a:moveTo>
                  <a:cubicBezTo>
                    <a:pt x="249673" y="193782"/>
                    <a:pt x="193782" y="249673"/>
                    <a:pt x="124837" y="249673"/>
                  </a:cubicBezTo>
                  <a:cubicBezTo>
                    <a:pt x="55891" y="249673"/>
                    <a:pt x="0" y="193782"/>
                    <a:pt x="0" y="124837"/>
                  </a:cubicBezTo>
                  <a:cubicBezTo>
                    <a:pt x="0" y="55891"/>
                    <a:pt x="55891" y="0"/>
                    <a:pt x="124837" y="0"/>
                  </a:cubicBezTo>
                  <a:cubicBezTo>
                    <a:pt x="193782" y="0"/>
                    <a:pt x="249673" y="55891"/>
                    <a:pt x="249673" y="124837"/>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nvGrpSpPr>
            <p:cNvPr id="15093" name="Google Shape;15093;p96"/>
            <p:cNvGrpSpPr/>
            <p:nvPr/>
          </p:nvGrpSpPr>
          <p:grpSpPr>
            <a:xfrm>
              <a:off x="9794516" y="1245690"/>
              <a:ext cx="202921" cy="202921"/>
              <a:chOff x="9794516" y="1245690"/>
              <a:chExt cx="202921" cy="202921"/>
            </a:xfrm>
          </p:grpSpPr>
          <p:sp>
            <p:nvSpPr>
              <p:cNvPr id="15094" name="Google Shape;15094;p96"/>
              <p:cNvSpPr/>
              <p:nvPr/>
            </p:nvSpPr>
            <p:spPr>
              <a:xfrm>
                <a:off x="9861887" y="1313061"/>
                <a:ext cx="68133" cy="68133"/>
              </a:xfrm>
              <a:custGeom>
                <a:avLst/>
                <a:gdLst/>
                <a:ahLst/>
                <a:cxnLst/>
                <a:rect l="l" t="t" r="r" b="b"/>
                <a:pathLst>
                  <a:path w="68133" h="68133" extrusionOk="0">
                    <a:moveTo>
                      <a:pt x="34067" y="68134"/>
                    </a:moveTo>
                    <a:cubicBezTo>
                      <a:pt x="52848" y="68134"/>
                      <a:pt x="68133" y="52848"/>
                      <a:pt x="68133" y="34067"/>
                    </a:cubicBezTo>
                    <a:cubicBezTo>
                      <a:pt x="68133" y="15285"/>
                      <a:pt x="52848" y="0"/>
                      <a:pt x="34067" y="0"/>
                    </a:cubicBezTo>
                    <a:cubicBezTo>
                      <a:pt x="15285" y="0"/>
                      <a:pt x="0" y="15285"/>
                      <a:pt x="0" y="34067"/>
                    </a:cubicBezTo>
                    <a:cubicBezTo>
                      <a:pt x="0" y="52848"/>
                      <a:pt x="15285" y="68134"/>
                      <a:pt x="34067" y="68134"/>
                    </a:cubicBezTo>
                    <a:close/>
                    <a:moveTo>
                      <a:pt x="34067" y="16989"/>
                    </a:moveTo>
                    <a:cubicBezTo>
                      <a:pt x="43480" y="16989"/>
                      <a:pt x="51145" y="24654"/>
                      <a:pt x="51145" y="34067"/>
                    </a:cubicBezTo>
                    <a:cubicBezTo>
                      <a:pt x="51145" y="43480"/>
                      <a:pt x="43480" y="51145"/>
                      <a:pt x="34067" y="51145"/>
                    </a:cubicBezTo>
                    <a:cubicBezTo>
                      <a:pt x="24654" y="51145"/>
                      <a:pt x="16989" y="43480"/>
                      <a:pt x="16989" y="34067"/>
                    </a:cubicBezTo>
                    <a:cubicBezTo>
                      <a:pt x="16989" y="24654"/>
                      <a:pt x="24654" y="16989"/>
                      <a:pt x="34067" y="16989"/>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095" name="Google Shape;15095;p96"/>
              <p:cNvSpPr/>
              <p:nvPr/>
            </p:nvSpPr>
            <p:spPr>
              <a:xfrm>
                <a:off x="9794516" y="1245690"/>
                <a:ext cx="202921" cy="202921"/>
              </a:xfrm>
              <a:custGeom>
                <a:avLst/>
                <a:gdLst/>
                <a:ahLst/>
                <a:cxnLst/>
                <a:rect l="l" t="t" r="r" b="b"/>
                <a:pathLst>
                  <a:path w="202921" h="202921" extrusionOk="0">
                    <a:moveTo>
                      <a:pt x="13492" y="127302"/>
                    </a:moveTo>
                    <a:lnTo>
                      <a:pt x="25326" y="129633"/>
                    </a:lnTo>
                    <a:cubicBezTo>
                      <a:pt x="26043" y="131560"/>
                      <a:pt x="26805" y="133443"/>
                      <a:pt x="27702" y="135326"/>
                    </a:cubicBezTo>
                    <a:lnTo>
                      <a:pt x="20978" y="145366"/>
                    </a:lnTo>
                    <a:cubicBezTo>
                      <a:pt x="16540" y="152000"/>
                      <a:pt x="17392" y="160876"/>
                      <a:pt x="23040" y="166524"/>
                    </a:cubicBezTo>
                    <a:lnTo>
                      <a:pt x="36398" y="179881"/>
                    </a:lnTo>
                    <a:cubicBezTo>
                      <a:pt x="42046" y="185529"/>
                      <a:pt x="50921" y="186381"/>
                      <a:pt x="57555" y="181943"/>
                    </a:cubicBezTo>
                    <a:lnTo>
                      <a:pt x="67596" y="175220"/>
                    </a:lnTo>
                    <a:cubicBezTo>
                      <a:pt x="69478" y="176071"/>
                      <a:pt x="71361" y="176878"/>
                      <a:pt x="73288" y="177595"/>
                    </a:cubicBezTo>
                    <a:lnTo>
                      <a:pt x="75619" y="189429"/>
                    </a:lnTo>
                    <a:cubicBezTo>
                      <a:pt x="77143" y="197229"/>
                      <a:pt x="84046" y="202921"/>
                      <a:pt x="92025" y="202921"/>
                    </a:cubicBezTo>
                    <a:lnTo>
                      <a:pt x="110896" y="202921"/>
                    </a:lnTo>
                    <a:cubicBezTo>
                      <a:pt x="118875" y="202921"/>
                      <a:pt x="125778" y="197229"/>
                      <a:pt x="127302" y="189429"/>
                    </a:cubicBezTo>
                    <a:lnTo>
                      <a:pt x="129633" y="177595"/>
                    </a:lnTo>
                    <a:cubicBezTo>
                      <a:pt x="131560" y="176878"/>
                      <a:pt x="133443" y="176116"/>
                      <a:pt x="135326" y="175220"/>
                    </a:cubicBezTo>
                    <a:lnTo>
                      <a:pt x="145366" y="181943"/>
                    </a:lnTo>
                    <a:cubicBezTo>
                      <a:pt x="152000" y="186381"/>
                      <a:pt x="160876" y="185529"/>
                      <a:pt x="166524" y="179881"/>
                    </a:cubicBezTo>
                    <a:lnTo>
                      <a:pt x="179881" y="166524"/>
                    </a:lnTo>
                    <a:cubicBezTo>
                      <a:pt x="185529" y="160876"/>
                      <a:pt x="186381" y="152000"/>
                      <a:pt x="181943" y="145366"/>
                    </a:cubicBezTo>
                    <a:lnTo>
                      <a:pt x="175220" y="135326"/>
                    </a:lnTo>
                    <a:cubicBezTo>
                      <a:pt x="176071" y="133443"/>
                      <a:pt x="176878" y="131560"/>
                      <a:pt x="177595" y="129633"/>
                    </a:cubicBezTo>
                    <a:lnTo>
                      <a:pt x="189429" y="127302"/>
                    </a:lnTo>
                    <a:cubicBezTo>
                      <a:pt x="197229" y="125778"/>
                      <a:pt x="202921" y="118875"/>
                      <a:pt x="202921" y="110896"/>
                    </a:cubicBezTo>
                    <a:lnTo>
                      <a:pt x="202921" y="92025"/>
                    </a:lnTo>
                    <a:cubicBezTo>
                      <a:pt x="202921" y="84046"/>
                      <a:pt x="197229" y="77143"/>
                      <a:pt x="189429" y="75619"/>
                    </a:cubicBezTo>
                    <a:lnTo>
                      <a:pt x="177595" y="73288"/>
                    </a:lnTo>
                    <a:cubicBezTo>
                      <a:pt x="176878" y="71361"/>
                      <a:pt x="176116" y="69478"/>
                      <a:pt x="175220" y="67596"/>
                    </a:cubicBezTo>
                    <a:lnTo>
                      <a:pt x="181943" y="57555"/>
                    </a:lnTo>
                    <a:cubicBezTo>
                      <a:pt x="186381" y="50921"/>
                      <a:pt x="185529" y="42046"/>
                      <a:pt x="179881" y="36398"/>
                    </a:cubicBezTo>
                    <a:lnTo>
                      <a:pt x="166524" y="23040"/>
                    </a:lnTo>
                    <a:cubicBezTo>
                      <a:pt x="160876" y="17392"/>
                      <a:pt x="152000" y="16540"/>
                      <a:pt x="145366" y="20978"/>
                    </a:cubicBezTo>
                    <a:lnTo>
                      <a:pt x="135326" y="27702"/>
                    </a:lnTo>
                    <a:cubicBezTo>
                      <a:pt x="133443" y="26850"/>
                      <a:pt x="131560" y="26043"/>
                      <a:pt x="129633" y="25326"/>
                    </a:cubicBezTo>
                    <a:lnTo>
                      <a:pt x="127302" y="13492"/>
                    </a:lnTo>
                    <a:cubicBezTo>
                      <a:pt x="125778" y="5693"/>
                      <a:pt x="118875" y="0"/>
                      <a:pt x="110896" y="0"/>
                    </a:cubicBezTo>
                    <a:lnTo>
                      <a:pt x="92025" y="0"/>
                    </a:lnTo>
                    <a:cubicBezTo>
                      <a:pt x="84046" y="0"/>
                      <a:pt x="77143" y="5693"/>
                      <a:pt x="75619" y="13492"/>
                    </a:cubicBezTo>
                    <a:lnTo>
                      <a:pt x="73288" y="25326"/>
                    </a:lnTo>
                    <a:cubicBezTo>
                      <a:pt x="71361" y="26043"/>
                      <a:pt x="69478" y="26805"/>
                      <a:pt x="67596" y="27702"/>
                    </a:cubicBezTo>
                    <a:lnTo>
                      <a:pt x="57555" y="20978"/>
                    </a:lnTo>
                    <a:cubicBezTo>
                      <a:pt x="50921" y="16540"/>
                      <a:pt x="42046" y="17392"/>
                      <a:pt x="36398" y="23040"/>
                    </a:cubicBezTo>
                    <a:lnTo>
                      <a:pt x="23040" y="36398"/>
                    </a:lnTo>
                    <a:cubicBezTo>
                      <a:pt x="17392" y="42046"/>
                      <a:pt x="16540" y="50921"/>
                      <a:pt x="20978" y="57555"/>
                    </a:cubicBezTo>
                    <a:lnTo>
                      <a:pt x="27702" y="67596"/>
                    </a:lnTo>
                    <a:cubicBezTo>
                      <a:pt x="26850" y="69478"/>
                      <a:pt x="26043" y="71361"/>
                      <a:pt x="25326" y="73288"/>
                    </a:cubicBezTo>
                    <a:lnTo>
                      <a:pt x="13492" y="75619"/>
                    </a:lnTo>
                    <a:cubicBezTo>
                      <a:pt x="5693" y="77143"/>
                      <a:pt x="0" y="84046"/>
                      <a:pt x="0" y="92025"/>
                    </a:cubicBezTo>
                    <a:lnTo>
                      <a:pt x="0" y="110896"/>
                    </a:lnTo>
                    <a:cubicBezTo>
                      <a:pt x="0" y="118875"/>
                      <a:pt x="5693" y="125778"/>
                      <a:pt x="13492" y="127302"/>
                    </a:cubicBezTo>
                    <a:close/>
                    <a:moveTo>
                      <a:pt x="16989" y="92204"/>
                    </a:moveTo>
                    <a:lnTo>
                      <a:pt x="38504" y="87946"/>
                    </a:lnTo>
                    <a:lnTo>
                      <a:pt x="39984" y="83015"/>
                    </a:lnTo>
                    <a:cubicBezTo>
                      <a:pt x="41239" y="78847"/>
                      <a:pt x="42897" y="74768"/>
                      <a:pt x="45004" y="70913"/>
                    </a:cubicBezTo>
                    <a:lnTo>
                      <a:pt x="47425" y="66385"/>
                    </a:lnTo>
                    <a:lnTo>
                      <a:pt x="35232" y="48187"/>
                    </a:lnTo>
                    <a:lnTo>
                      <a:pt x="48276" y="35143"/>
                    </a:lnTo>
                    <a:lnTo>
                      <a:pt x="66475" y="47335"/>
                    </a:lnTo>
                    <a:lnTo>
                      <a:pt x="71002" y="44914"/>
                    </a:lnTo>
                    <a:cubicBezTo>
                      <a:pt x="74857" y="42852"/>
                      <a:pt x="78891" y="41149"/>
                      <a:pt x="83105" y="39894"/>
                    </a:cubicBezTo>
                    <a:lnTo>
                      <a:pt x="88036" y="38415"/>
                    </a:lnTo>
                    <a:lnTo>
                      <a:pt x="92294" y="16899"/>
                    </a:lnTo>
                    <a:lnTo>
                      <a:pt x="110762" y="16899"/>
                    </a:lnTo>
                    <a:lnTo>
                      <a:pt x="115020" y="38415"/>
                    </a:lnTo>
                    <a:lnTo>
                      <a:pt x="119951" y="39894"/>
                    </a:lnTo>
                    <a:cubicBezTo>
                      <a:pt x="124120" y="41149"/>
                      <a:pt x="128199" y="42808"/>
                      <a:pt x="132053" y="44914"/>
                    </a:cubicBezTo>
                    <a:lnTo>
                      <a:pt x="136581" y="47335"/>
                    </a:lnTo>
                    <a:lnTo>
                      <a:pt x="154780" y="35143"/>
                    </a:lnTo>
                    <a:lnTo>
                      <a:pt x="167824" y="48187"/>
                    </a:lnTo>
                    <a:lnTo>
                      <a:pt x="155631" y="66385"/>
                    </a:lnTo>
                    <a:lnTo>
                      <a:pt x="158052" y="70913"/>
                    </a:lnTo>
                    <a:cubicBezTo>
                      <a:pt x="160114" y="74723"/>
                      <a:pt x="161817" y="78802"/>
                      <a:pt x="163072" y="83015"/>
                    </a:cubicBezTo>
                    <a:lnTo>
                      <a:pt x="164551" y="87946"/>
                    </a:lnTo>
                    <a:lnTo>
                      <a:pt x="186067" y="92204"/>
                    </a:lnTo>
                    <a:lnTo>
                      <a:pt x="186067" y="110672"/>
                    </a:lnTo>
                    <a:lnTo>
                      <a:pt x="164551" y="114930"/>
                    </a:lnTo>
                    <a:lnTo>
                      <a:pt x="163072" y="119861"/>
                    </a:lnTo>
                    <a:cubicBezTo>
                      <a:pt x="161817" y="124030"/>
                      <a:pt x="160114" y="128109"/>
                      <a:pt x="158052" y="131964"/>
                    </a:cubicBezTo>
                    <a:lnTo>
                      <a:pt x="155631" y="136491"/>
                    </a:lnTo>
                    <a:lnTo>
                      <a:pt x="167824" y="154690"/>
                    </a:lnTo>
                    <a:lnTo>
                      <a:pt x="154780" y="167734"/>
                    </a:lnTo>
                    <a:lnTo>
                      <a:pt x="136581" y="155542"/>
                    </a:lnTo>
                    <a:lnTo>
                      <a:pt x="132053" y="157962"/>
                    </a:lnTo>
                    <a:cubicBezTo>
                      <a:pt x="128243" y="160024"/>
                      <a:pt x="124164" y="161727"/>
                      <a:pt x="119951" y="162982"/>
                    </a:cubicBezTo>
                    <a:lnTo>
                      <a:pt x="115020" y="164462"/>
                    </a:lnTo>
                    <a:lnTo>
                      <a:pt x="110762" y="185978"/>
                    </a:lnTo>
                    <a:lnTo>
                      <a:pt x="92294" y="185978"/>
                    </a:lnTo>
                    <a:lnTo>
                      <a:pt x="88036" y="164462"/>
                    </a:lnTo>
                    <a:lnTo>
                      <a:pt x="83105" y="162982"/>
                    </a:lnTo>
                    <a:cubicBezTo>
                      <a:pt x="78936" y="161727"/>
                      <a:pt x="74857" y="160024"/>
                      <a:pt x="71002" y="157962"/>
                    </a:cubicBezTo>
                    <a:lnTo>
                      <a:pt x="66475" y="155542"/>
                    </a:lnTo>
                    <a:lnTo>
                      <a:pt x="48276" y="167734"/>
                    </a:lnTo>
                    <a:lnTo>
                      <a:pt x="35232" y="154690"/>
                    </a:lnTo>
                    <a:lnTo>
                      <a:pt x="47425" y="136491"/>
                    </a:lnTo>
                    <a:lnTo>
                      <a:pt x="45004" y="131964"/>
                    </a:lnTo>
                    <a:cubicBezTo>
                      <a:pt x="42942" y="128154"/>
                      <a:pt x="41239" y="124075"/>
                      <a:pt x="39984" y="119861"/>
                    </a:cubicBezTo>
                    <a:lnTo>
                      <a:pt x="38504" y="114930"/>
                    </a:lnTo>
                    <a:lnTo>
                      <a:pt x="16989" y="110672"/>
                    </a:lnTo>
                    <a:lnTo>
                      <a:pt x="16989" y="92204"/>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pic>
        <p:nvPicPr>
          <p:cNvPr id="15096" name="Google Shape;15096;p96"/>
          <p:cNvPicPr preferRelativeResize="0"/>
          <p:nvPr/>
        </p:nvPicPr>
        <p:blipFill rotWithShape="1">
          <a:blip r:embed="rId9">
            <a:alphaModFix/>
          </a:blip>
          <a:srcRect/>
          <a:stretch/>
        </p:blipFill>
        <p:spPr>
          <a:xfrm>
            <a:off x="8588511" y="4371868"/>
            <a:ext cx="435774" cy="435774"/>
          </a:xfrm>
          <a:prstGeom prst="rect">
            <a:avLst/>
          </a:prstGeom>
          <a:noFill/>
          <a:ln>
            <a:noFill/>
          </a:ln>
        </p:spPr>
      </p:pic>
      <p:sp>
        <p:nvSpPr>
          <p:cNvPr id="15097" name="Google Shape;15097;p96"/>
          <p:cNvSpPr txBox="1"/>
          <p:nvPr/>
        </p:nvSpPr>
        <p:spPr>
          <a:xfrm>
            <a:off x="9520473" y="3530298"/>
            <a:ext cx="1912302" cy="138564"/>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900">
                <a:solidFill>
                  <a:srgbClr val="000000"/>
                </a:solidFill>
                <a:latin typeface="Arial"/>
                <a:ea typeface="Arial"/>
                <a:cs typeface="Arial"/>
                <a:sym typeface="Arial"/>
              </a:rPr>
              <a:t>LOB Admin, Platform Engineers</a:t>
            </a:r>
            <a:endParaRPr sz="1799">
              <a:solidFill>
                <a:srgbClr val="000000"/>
              </a:solidFill>
              <a:latin typeface="Arial"/>
              <a:ea typeface="Arial"/>
              <a:cs typeface="Arial"/>
              <a:sym typeface="Arial"/>
            </a:endParaRPr>
          </a:p>
        </p:txBody>
      </p:sp>
      <p:sp>
        <p:nvSpPr>
          <p:cNvPr id="15098" name="Google Shape;15098;p96"/>
          <p:cNvSpPr txBox="1"/>
          <p:nvPr/>
        </p:nvSpPr>
        <p:spPr>
          <a:xfrm>
            <a:off x="9520473" y="3993632"/>
            <a:ext cx="1912302" cy="138564"/>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900">
                <a:solidFill>
                  <a:srgbClr val="000000"/>
                </a:solidFill>
                <a:latin typeface="Arial"/>
                <a:ea typeface="Arial"/>
                <a:cs typeface="Arial"/>
                <a:sym typeface="Arial"/>
              </a:rPr>
              <a:t>Organization (Tenant) Admin</a:t>
            </a:r>
            <a:endParaRPr sz="1799">
              <a:solidFill>
                <a:srgbClr val="000000"/>
              </a:solidFill>
              <a:latin typeface="Arial"/>
              <a:ea typeface="Arial"/>
              <a:cs typeface="Arial"/>
              <a:sym typeface="Arial"/>
            </a:endParaRPr>
          </a:p>
        </p:txBody>
      </p:sp>
      <p:sp>
        <p:nvSpPr>
          <p:cNvPr id="15099" name="Google Shape;15099;p96"/>
          <p:cNvSpPr txBox="1"/>
          <p:nvPr/>
        </p:nvSpPr>
        <p:spPr>
          <a:xfrm>
            <a:off x="9520473" y="4520524"/>
            <a:ext cx="1912302" cy="138564"/>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900">
                <a:solidFill>
                  <a:srgbClr val="000000"/>
                </a:solidFill>
                <a:latin typeface="Arial"/>
                <a:ea typeface="Arial"/>
                <a:cs typeface="Arial"/>
                <a:sym typeface="Arial"/>
              </a:rPr>
              <a:t>Enterprise IT / Provider Admin</a:t>
            </a:r>
            <a:endParaRPr sz="1799">
              <a:solidFill>
                <a:srgbClr val="000000"/>
              </a:solidFill>
              <a:latin typeface="Arial"/>
              <a:ea typeface="Arial"/>
              <a:cs typeface="Arial"/>
              <a:sym typeface="Arial"/>
            </a:endParaRPr>
          </a:p>
        </p:txBody>
      </p:sp>
      <p:grpSp>
        <p:nvGrpSpPr>
          <p:cNvPr id="15100" name="Google Shape;15100;p96"/>
          <p:cNvGrpSpPr/>
          <p:nvPr/>
        </p:nvGrpSpPr>
        <p:grpSpPr>
          <a:xfrm>
            <a:off x="8636130" y="3422027"/>
            <a:ext cx="351293" cy="318286"/>
            <a:chOff x="-814606" y="2993995"/>
            <a:chExt cx="743043" cy="673226"/>
          </a:xfrm>
        </p:grpSpPr>
        <p:sp>
          <p:nvSpPr>
            <p:cNvPr id="15101" name="Google Shape;15101;p96"/>
            <p:cNvSpPr/>
            <p:nvPr/>
          </p:nvSpPr>
          <p:spPr>
            <a:xfrm>
              <a:off x="-524318" y="2993995"/>
              <a:ext cx="452755" cy="552544"/>
            </a:xfrm>
            <a:custGeom>
              <a:avLst/>
              <a:gdLst/>
              <a:ahLst/>
              <a:cxnLst/>
              <a:rect l="l" t="t" r="r" b="b"/>
              <a:pathLst>
                <a:path w="452755" h="552544" extrusionOk="0">
                  <a:moveTo>
                    <a:pt x="0" y="0"/>
                  </a:moveTo>
                  <a:lnTo>
                    <a:pt x="0" y="67611"/>
                  </a:lnTo>
                  <a:lnTo>
                    <a:pt x="36745" y="67611"/>
                  </a:lnTo>
                  <a:lnTo>
                    <a:pt x="36745" y="36745"/>
                  </a:lnTo>
                  <a:lnTo>
                    <a:pt x="416010" y="36745"/>
                  </a:lnTo>
                  <a:lnTo>
                    <a:pt x="416010" y="515799"/>
                  </a:lnTo>
                  <a:lnTo>
                    <a:pt x="248818" y="515799"/>
                  </a:lnTo>
                  <a:lnTo>
                    <a:pt x="248818" y="552545"/>
                  </a:lnTo>
                  <a:lnTo>
                    <a:pt x="452755" y="552545"/>
                  </a:lnTo>
                  <a:lnTo>
                    <a:pt x="452755" y="0"/>
                  </a:lnTo>
                  <a:lnTo>
                    <a:pt x="0" y="0"/>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nvGrpSpPr>
            <p:cNvPr id="15102" name="Google Shape;15102;p96"/>
            <p:cNvGrpSpPr/>
            <p:nvPr/>
          </p:nvGrpSpPr>
          <p:grpSpPr>
            <a:xfrm>
              <a:off x="-814606" y="3099244"/>
              <a:ext cx="510709" cy="567977"/>
              <a:chOff x="10883915" y="3105865"/>
              <a:chExt cx="510709" cy="567977"/>
            </a:xfrm>
          </p:grpSpPr>
          <p:grpSp>
            <p:nvGrpSpPr>
              <p:cNvPr id="15103" name="Google Shape;15103;p96"/>
              <p:cNvGrpSpPr/>
              <p:nvPr/>
            </p:nvGrpSpPr>
            <p:grpSpPr>
              <a:xfrm>
                <a:off x="10883915" y="3105865"/>
                <a:ext cx="510709" cy="567977"/>
                <a:chOff x="10883915" y="3105865"/>
                <a:chExt cx="510709" cy="567977"/>
              </a:xfrm>
            </p:grpSpPr>
            <p:grpSp>
              <p:nvGrpSpPr>
                <p:cNvPr id="15104" name="Google Shape;15104;p96"/>
                <p:cNvGrpSpPr/>
                <p:nvPr/>
              </p:nvGrpSpPr>
              <p:grpSpPr>
                <a:xfrm>
                  <a:off x="10883915" y="3408275"/>
                  <a:ext cx="510709" cy="265567"/>
                  <a:chOff x="10883915" y="3408275"/>
                  <a:chExt cx="510709" cy="265567"/>
                </a:xfrm>
              </p:grpSpPr>
              <p:sp>
                <p:nvSpPr>
                  <p:cNvPr id="15105" name="Google Shape;15105;p96"/>
                  <p:cNvSpPr/>
                  <p:nvPr/>
                </p:nvSpPr>
                <p:spPr>
                  <a:xfrm>
                    <a:off x="10886540" y="3410965"/>
                    <a:ext cx="505458" cy="260253"/>
                  </a:xfrm>
                  <a:custGeom>
                    <a:avLst/>
                    <a:gdLst/>
                    <a:ahLst/>
                    <a:cxnLst/>
                    <a:rect l="l" t="t" r="r" b="b"/>
                    <a:pathLst>
                      <a:path w="505458" h="260253" extrusionOk="0">
                        <a:moveTo>
                          <a:pt x="494592" y="115634"/>
                        </a:moveTo>
                        <a:cubicBezTo>
                          <a:pt x="361049" y="-32712"/>
                          <a:pt x="165984" y="-39168"/>
                          <a:pt x="24829" y="101146"/>
                        </a:cubicBezTo>
                        <a:cubicBezTo>
                          <a:pt x="20105" y="105818"/>
                          <a:pt x="15538" y="110647"/>
                          <a:pt x="11076" y="115634"/>
                        </a:cubicBezTo>
                        <a:cubicBezTo>
                          <a:pt x="3937" y="123613"/>
                          <a:pt x="0" y="134217"/>
                          <a:pt x="0" y="145136"/>
                        </a:cubicBezTo>
                        <a:lnTo>
                          <a:pt x="0" y="217156"/>
                        </a:lnTo>
                        <a:cubicBezTo>
                          <a:pt x="0" y="240936"/>
                          <a:pt x="18373" y="260253"/>
                          <a:pt x="40997" y="260253"/>
                        </a:cubicBezTo>
                        <a:lnTo>
                          <a:pt x="464461" y="260253"/>
                        </a:lnTo>
                        <a:cubicBezTo>
                          <a:pt x="487086" y="260253"/>
                          <a:pt x="505458" y="240936"/>
                          <a:pt x="505458" y="217156"/>
                        </a:cubicBezTo>
                        <a:lnTo>
                          <a:pt x="505458" y="145136"/>
                        </a:lnTo>
                        <a:cubicBezTo>
                          <a:pt x="505511" y="134217"/>
                          <a:pt x="501626" y="123666"/>
                          <a:pt x="494592" y="115634"/>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06" name="Google Shape;15106;p96"/>
                  <p:cNvSpPr/>
                  <p:nvPr/>
                </p:nvSpPr>
                <p:spPr>
                  <a:xfrm>
                    <a:off x="10883915" y="3408275"/>
                    <a:ext cx="510709" cy="265567"/>
                  </a:xfrm>
                  <a:custGeom>
                    <a:avLst/>
                    <a:gdLst/>
                    <a:ahLst/>
                    <a:cxnLst/>
                    <a:rect l="l" t="t" r="r" b="b"/>
                    <a:pathLst>
                      <a:path w="510709" h="265567" extrusionOk="0">
                        <a:moveTo>
                          <a:pt x="467086" y="265568"/>
                        </a:moveTo>
                        <a:lnTo>
                          <a:pt x="43622" y="265568"/>
                        </a:lnTo>
                        <a:cubicBezTo>
                          <a:pt x="19580" y="265568"/>
                          <a:pt x="0" y="245043"/>
                          <a:pt x="0" y="219846"/>
                        </a:cubicBezTo>
                        <a:lnTo>
                          <a:pt x="0" y="147825"/>
                        </a:lnTo>
                        <a:cubicBezTo>
                          <a:pt x="0" y="136172"/>
                          <a:pt x="4147" y="125095"/>
                          <a:pt x="11759" y="116539"/>
                        </a:cubicBezTo>
                        <a:cubicBezTo>
                          <a:pt x="16220" y="111605"/>
                          <a:pt x="20892" y="106670"/>
                          <a:pt x="25617" y="101946"/>
                        </a:cubicBezTo>
                        <a:cubicBezTo>
                          <a:pt x="94016" y="33914"/>
                          <a:pt x="178792" y="-2253"/>
                          <a:pt x="264199" y="109"/>
                        </a:cubicBezTo>
                        <a:cubicBezTo>
                          <a:pt x="350341" y="2471"/>
                          <a:pt x="433805" y="43836"/>
                          <a:pt x="499212" y="116487"/>
                        </a:cubicBezTo>
                        <a:lnTo>
                          <a:pt x="499212" y="116487"/>
                        </a:lnTo>
                        <a:cubicBezTo>
                          <a:pt x="506718" y="125043"/>
                          <a:pt x="510813" y="136172"/>
                          <a:pt x="510708" y="147773"/>
                        </a:cubicBezTo>
                        <a:lnTo>
                          <a:pt x="510708" y="219741"/>
                        </a:lnTo>
                        <a:cubicBezTo>
                          <a:pt x="510708" y="244938"/>
                          <a:pt x="491128" y="265463"/>
                          <a:pt x="467086" y="265463"/>
                        </a:cubicBezTo>
                        <a:close/>
                        <a:moveTo>
                          <a:pt x="256272" y="5306"/>
                        </a:moveTo>
                        <a:cubicBezTo>
                          <a:pt x="174908" y="5306"/>
                          <a:pt x="94593" y="40739"/>
                          <a:pt x="29291" y="105725"/>
                        </a:cubicBezTo>
                        <a:cubicBezTo>
                          <a:pt x="24619" y="110397"/>
                          <a:pt x="20000" y="115227"/>
                          <a:pt x="15643" y="120109"/>
                        </a:cubicBezTo>
                        <a:cubicBezTo>
                          <a:pt x="8924" y="127668"/>
                          <a:pt x="5249" y="137536"/>
                          <a:pt x="5249" y="147878"/>
                        </a:cubicBezTo>
                        <a:lnTo>
                          <a:pt x="5249" y="219898"/>
                        </a:lnTo>
                        <a:cubicBezTo>
                          <a:pt x="5249" y="242208"/>
                          <a:pt x="22467" y="260371"/>
                          <a:pt x="43622" y="260371"/>
                        </a:cubicBezTo>
                        <a:lnTo>
                          <a:pt x="467086" y="260371"/>
                        </a:lnTo>
                        <a:cubicBezTo>
                          <a:pt x="488240" y="260371"/>
                          <a:pt x="505458" y="242208"/>
                          <a:pt x="505458" y="219898"/>
                        </a:cubicBezTo>
                        <a:lnTo>
                          <a:pt x="505458" y="147878"/>
                        </a:lnTo>
                        <a:cubicBezTo>
                          <a:pt x="505511" y="137536"/>
                          <a:pt x="501889" y="127668"/>
                          <a:pt x="495275" y="120109"/>
                        </a:cubicBezTo>
                        <a:cubicBezTo>
                          <a:pt x="430813" y="48508"/>
                          <a:pt x="348713" y="7825"/>
                          <a:pt x="264041" y="5463"/>
                        </a:cubicBezTo>
                        <a:cubicBezTo>
                          <a:pt x="261469" y="5411"/>
                          <a:pt x="258897" y="5358"/>
                          <a:pt x="256325" y="5358"/>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nvGrpSpPr>
                <p:cNvPr id="15107" name="Google Shape;15107;p96"/>
                <p:cNvGrpSpPr/>
                <p:nvPr/>
              </p:nvGrpSpPr>
              <p:grpSpPr>
                <a:xfrm>
                  <a:off x="10992891" y="3105865"/>
                  <a:ext cx="292807" cy="292807"/>
                  <a:chOff x="10992891" y="3105865"/>
                  <a:chExt cx="292807" cy="292807"/>
                </a:xfrm>
              </p:grpSpPr>
              <p:sp>
                <p:nvSpPr>
                  <p:cNvPr id="15108" name="Google Shape;15108;p96"/>
                  <p:cNvSpPr/>
                  <p:nvPr/>
                </p:nvSpPr>
                <p:spPr>
                  <a:xfrm>
                    <a:off x="10995516" y="3108490"/>
                    <a:ext cx="287558" cy="287558"/>
                  </a:xfrm>
                  <a:custGeom>
                    <a:avLst/>
                    <a:gdLst/>
                    <a:ahLst/>
                    <a:cxnLst/>
                    <a:rect l="l" t="t" r="r" b="b"/>
                    <a:pathLst>
                      <a:path w="287558" h="287558" extrusionOk="0">
                        <a:moveTo>
                          <a:pt x="287559" y="143779"/>
                        </a:moveTo>
                        <a:cubicBezTo>
                          <a:pt x="287559" y="223186"/>
                          <a:pt x="223186" y="287559"/>
                          <a:pt x="143779" y="287559"/>
                        </a:cubicBezTo>
                        <a:cubicBezTo>
                          <a:pt x="64372" y="287559"/>
                          <a:pt x="0" y="223186"/>
                          <a:pt x="0" y="143779"/>
                        </a:cubicBezTo>
                        <a:cubicBezTo>
                          <a:pt x="0" y="64372"/>
                          <a:pt x="64372" y="0"/>
                          <a:pt x="143779" y="0"/>
                        </a:cubicBezTo>
                        <a:cubicBezTo>
                          <a:pt x="223186" y="0"/>
                          <a:pt x="287559" y="64372"/>
                          <a:pt x="287559" y="143779"/>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09" name="Google Shape;15109;p96"/>
                  <p:cNvSpPr/>
                  <p:nvPr/>
                </p:nvSpPr>
                <p:spPr>
                  <a:xfrm>
                    <a:off x="10992891" y="3105865"/>
                    <a:ext cx="292807" cy="292807"/>
                  </a:xfrm>
                  <a:custGeom>
                    <a:avLst/>
                    <a:gdLst/>
                    <a:ahLst/>
                    <a:cxnLst/>
                    <a:rect l="l" t="t" r="r" b="b"/>
                    <a:pathLst>
                      <a:path w="292807" h="292807" extrusionOk="0">
                        <a:moveTo>
                          <a:pt x="146404" y="292808"/>
                        </a:moveTo>
                        <a:cubicBezTo>
                          <a:pt x="65669" y="292808"/>
                          <a:pt x="0" y="227139"/>
                          <a:pt x="0" y="146404"/>
                        </a:cubicBezTo>
                        <a:cubicBezTo>
                          <a:pt x="0" y="65669"/>
                          <a:pt x="65669" y="0"/>
                          <a:pt x="146404" y="0"/>
                        </a:cubicBezTo>
                        <a:cubicBezTo>
                          <a:pt x="227139" y="0"/>
                          <a:pt x="292808" y="65669"/>
                          <a:pt x="292808" y="146404"/>
                        </a:cubicBezTo>
                        <a:cubicBezTo>
                          <a:pt x="292808" y="227139"/>
                          <a:pt x="227139" y="292808"/>
                          <a:pt x="146404" y="292808"/>
                        </a:cubicBezTo>
                        <a:close/>
                        <a:moveTo>
                          <a:pt x="146404" y="5249"/>
                        </a:moveTo>
                        <a:cubicBezTo>
                          <a:pt x="68556" y="5249"/>
                          <a:pt x="5249" y="68556"/>
                          <a:pt x="5249" y="146404"/>
                        </a:cubicBezTo>
                        <a:cubicBezTo>
                          <a:pt x="5249" y="224252"/>
                          <a:pt x="68556" y="287558"/>
                          <a:pt x="146404" y="287558"/>
                        </a:cubicBezTo>
                        <a:cubicBezTo>
                          <a:pt x="224252" y="287558"/>
                          <a:pt x="287559" y="224252"/>
                          <a:pt x="287559" y="146404"/>
                        </a:cubicBezTo>
                        <a:cubicBezTo>
                          <a:pt x="287559" y="68556"/>
                          <a:pt x="224252" y="5249"/>
                          <a:pt x="146404" y="5249"/>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grpSp>
            <p:nvGrpSpPr>
              <p:cNvPr id="15110" name="Google Shape;15110;p96"/>
              <p:cNvGrpSpPr/>
              <p:nvPr/>
            </p:nvGrpSpPr>
            <p:grpSpPr>
              <a:xfrm>
                <a:off x="10883915" y="3105865"/>
                <a:ext cx="510709" cy="567977"/>
                <a:chOff x="10883915" y="3105865"/>
                <a:chExt cx="510709" cy="567977"/>
              </a:xfrm>
            </p:grpSpPr>
            <p:grpSp>
              <p:nvGrpSpPr>
                <p:cNvPr id="15111" name="Google Shape;15111;p96"/>
                <p:cNvGrpSpPr/>
                <p:nvPr/>
              </p:nvGrpSpPr>
              <p:grpSpPr>
                <a:xfrm>
                  <a:off x="10883915" y="3408275"/>
                  <a:ext cx="510709" cy="265567"/>
                  <a:chOff x="10883915" y="3408275"/>
                  <a:chExt cx="510709" cy="265567"/>
                </a:xfrm>
              </p:grpSpPr>
              <p:sp>
                <p:nvSpPr>
                  <p:cNvPr id="15112" name="Google Shape;15112;p96"/>
                  <p:cNvSpPr/>
                  <p:nvPr/>
                </p:nvSpPr>
                <p:spPr>
                  <a:xfrm>
                    <a:off x="10886540" y="3410965"/>
                    <a:ext cx="505458" cy="260253"/>
                  </a:xfrm>
                  <a:custGeom>
                    <a:avLst/>
                    <a:gdLst/>
                    <a:ahLst/>
                    <a:cxnLst/>
                    <a:rect l="l" t="t" r="r" b="b"/>
                    <a:pathLst>
                      <a:path w="505458" h="260253" extrusionOk="0">
                        <a:moveTo>
                          <a:pt x="494592" y="115634"/>
                        </a:moveTo>
                        <a:cubicBezTo>
                          <a:pt x="361049" y="-32712"/>
                          <a:pt x="165984" y="-39168"/>
                          <a:pt x="24829" y="101146"/>
                        </a:cubicBezTo>
                        <a:cubicBezTo>
                          <a:pt x="20105" y="105818"/>
                          <a:pt x="15538" y="110647"/>
                          <a:pt x="11076" y="115634"/>
                        </a:cubicBezTo>
                        <a:cubicBezTo>
                          <a:pt x="3937" y="123613"/>
                          <a:pt x="0" y="134217"/>
                          <a:pt x="0" y="145136"/>
                        </a:cubicBezTo>
                        <a:lnTo>
                          <a:pt x="0" y="217156"/>
                        </a:lnTo>
                        <a:cubicBezTo>
                          <a:pt x="0" y="240936"/>
                          <a:pt x="18373" y="260253"/>
                          <a:pt x="40997" y="260253"/>
                        </a:cubicBezTo>
                        <a:lnTo>
                          <a:pt x="464461" y="260253"/>
                        </a:lnTo>
                        <a:cubicBezTo>
                          <a:pt x="487086" y="260253"/>
                          <a:pt x="505458" y="240936"/>
                          <a:pt x="505458" y="217156"/>
                        </a:cubicBezTo>
                        <a:lnTo>
                          <a:pt x="505458" y="145136"/>
                        </a:lnTo>
                        <a:cubicBezTo>
                          <a:pt x="505511" y="134217"/>
                          <a:pt x="501626" y="123666"/>
                          <a:pt x="494592" y="115634"/>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13" name="Google Shape;15113;p96"/>
                  <p:cNvSpPr/>
                  <p:nvPr/>
                </p:nvSpPr>
                <p:spPr>
                  <a:xfrm>
                    <a:off x="10883915" y="3408275"/>
                    <a:ext cx="510709" cy="265567"/>
                  </a:xfrm>
                  <a:custGeom>
                    <a:avLst/>
                    <a:gdLst/>
                    <a:ahLst/>
                    <a:cxnLst/>
                    <a:rect l="l" t="t" r="r" b="b"/>
                    <a:pathLst>
                      <a:path w="510709" h="265567" extrusionOk="0">
                        <a:moveTo>
                          <a:pt x="467086" y="265568"/>
                        </a:moveTo>
                        <a:lnTo>
                          <a:pt x="43622" y="265568"/>
                        </a:lnTo>
                        <a:cubicBezTo>
                          <a:pt x="19580" y="265568"/>
                          <a:pt x="0" y="245043"/>
                          <a:pt x="0" y="219846"/>
                        </a:cubicBezTo>
                        <a:lnTo>
                          <a:pt x="0" y="147825"/>
                        </a:lnTo>
                        <a:cubicBezTo>
                          <a:pt x="0" y="136172"/>
                          <a:pt x="4147" y="125095"/>
                          <a:pt x="11759" y="116539"/>
                        </a:cubicBezTo>
                        <a:cubicBezTo>
                          <a:pt x="16220" y="111605"/>
                          <a:pt x="20892" y="106670"/>
                          <a:pt x="25617" y="101946"/>
                        </a:cubicBezTo>
                        <a:cubicBezTo>
                          <a:pt x="94016" y="33914"/>
                          <a:pt x="178792" y="-2253"/>
                          <a:pt x="264199" y="109"/>
                        </a:cubicBezTo>
                        <a:cubicBezTo>
                          <a:pt x="350341" y="2471"/>
                          <a:pt x="433805" y="43836"/>
                          <a:pt x="499212" y="116487"/>
                        </a:cubicBezTo>
                        <a:lnTo>
                          <a:pt x="499212" y="116487"/>
                        </a:lnTo>
                        <a:cubicBezTo>
                          <a:pt x="506718" y="125043"/>
                          <a:pt x="510813" y="136172"/>
                          <a:pt x="510708" y="147773"/>
                        </a:cubicBezTo>
                        <a:lnTo>
                          <a:pt x="510708" y="219741"/>
                        </a:lnTo>
                        <a:cubicBezTo>
                          <a:pt x="510708" y="244938"/>
                          <a:pt x="491128" y="265463"/>
                          <a:pt x="467086" y="265463"/>
                        </a:cubicBezTo>
                        <a:close/>
                        <a:moveTo>
                          <a:pt x="256272" y="5306"/>
                        </a:moveTo>
                        <a:cubicBezTo>
                          <a:pt x="174908" y="5306"/>
                          <a:pt x="94593" y="40739"/>
                          <a:pt x="29291" y="105725"/>
                        </a:cubicBezTo>
                        <a:cubicBezTo>
                          <a:pt x="24619" y="110397"/>
                          <a:pt x="20000" y="115227"/>
                          <a:pt x="15643" y="120109"/>
                        </a:cubicBezTo>
                        <a:cubicBezTo>
                          <a:pt x="8924" y="127668"/>
                          <a:pt x="5249" y="137536"/>
                          <a:pt x="5249" y="147878"/>
                        </a:cubicBezTo>
                        <a:lnTo>
                          <a:pt x="5249" y="219898"/>
                        </a:lnTo>
                        <a:cubicBezTo>
                          <a:pt x="5249" y="242208"/>
                          <a:pt x="22467" y="260371"/>
                          <a:pt x="43622" y="260371"/>
                        </a:cubicBezTo>
                        <a:lnTo>
                          <a:pt x="467086" y="260371"/>
                        </a:lnTo>
                        <a:cubicBezTo>
                          <a:pt x="488240" y="260371"/>
                          <a:pt x="505458" y="242208"/>
                          <a:pt x="505458" y="219898"/>
                        </a:cubicBezTo>
                        <a:lnTo>
                          <a:pt x="505458" y="147878"/>
                        </a:lnTo>
                        <a:cubicBezTo>
                          <a:pt x="505511" y="137536"/>
                          <a:pt x="501889" y="127668"/>
                          <a:pt x="495275" y="120109"/>
                        </a:cubicBezTo>
                        <a:cubicBezTo>
                          <a:pt x="430813" y="48508"/>
                          <a:pt x="348713" y="7825"/>
                          <a:pt x="264041" y="5463"/>
                        </a:cubicBezTo>
                        <a:cubicBezTo>
                          <a:pt x="261469" y="5411"/>
                          <a:pt x="258897" y="5358"/>
                          <a:pt x="256325" y="5358"/>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nvGrpSpPr>
                <p:cNvPr id="15114" name="Google Shape;15114;p96"/>
                <p:cNvGrpSpPr/>
                <p:nvPr/>
              </p:nvGrpSpPr>
              <p:grpSpPr>
                <a:xfrm>
                  <a:off x="10992891" y="3105865"/>
                  <a:ext cx="292807" cy="292807"/>
                  <a:chOff x="10992891" y="3105865"/>
                  <a:chExt cx="292807" cy="292807"/>
                </a:xfrm>
              </p:grpSpPr>
              <p:sp>
                <p:nvSpPr>
                  <p:cNvPr id="15115" name="Google Shape;15115;p96"/>
                  <p:cNvSpPr/>
                  <p:nvPr/>
                </p:nvSpPr>
                <p:spPr>
                  <a:xfrm>
                    <a:off x="10995516" y="3108490"/>
                    <a:ext cx="287558" cy="287558"/>
                  </a:xfrm>
                  <a:custGeom>
                    <a:avLst/>
                    <a:gdLst/>
                    <a:ahLst/>
                    <a:cxnLst/>
                    <a:rect l="l" t="t" r="r" b="b"/>
                    <a:pathLst>
                      <a:path w="287558" h="287558" extrusionOk="0">
                        <a:moveTo>
                          <a:pt x="287559" y="143779"/>
                        </a:moveTo>
                        <a:cubicBezTo>
                          <a:pt x="287559" y="223186"/>
                          <a:pt x="223186" y="287559"/>
                          <a:pt x="143779" y="287559"/>
                        </a:cubicBezTo>
                        <a:cubicBezTo>
                          <a:pt x="64372" y="287559"/>
                          <a:pt x="0" y="223186"/>
                          <a:pt x="0" y="143779"/>
                        </a:cubicBezTo>
                        <a:cubicBezTo>
                          <a:pt x="0" y="64372"/>
                          <a:pt x="64372" y="0"/>
                          <a:pt x="143779" y="0"/>
                        </a:cubicBezTo>
                        <a:cubicBezTo>
                          <a:pt x="223186" y="0"/>
                          <a:pt x="287559" y="64372"/>
                          <a:pt x="287559" y="143779"/>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16" name="Google Shape;15116;p96"/>
                  <p:cNvSpPr/>
                  <p:nvPr/>
                </p:nvSpPr>
                <p:spPr>
                  <a:xfrm>
                    <a:off x="10992891" y="3105865"/>
                    <a:ext cx="292807" cy="292807"/>
                  </a:xfrm>
                  <a:custGeom>
                    <a:avLst/>
                    <a:gdLst/>
                    <a:ahLst/>
                    <a:cxnLst/>
                    <a:rect l="l" t="t" r="r" b="b"/>
                    <a:pathLst>
                      <a:path w="292807" h="292807" extrusionOk="0">
                        <a:moveTo>
                          <a:pt x="146404" y="292808"/>
                        </a:moveTo>
                        <a:cubicBezTo>
                          <a:pt x="65669" y="292808"/>
                          <a:pt x="0" y="227139"/>
                          <a:pt x="0" y="146404"/>
                        </a:cubicBezTo>
                        <a:cubicBezTo>
                          <a:pt x="0" y="65669"/>
                          <a:pt x="65669" y="0"/>
                          <a:pt x="146404" y="0"/>
                        </a:cubicBezTo>
                        <a:cubicBezTo>
                          <a:pt x="227139" y="0"/>
                          <a:pt x="292808" y="65669"/>
                          <a:pt x="292808" y="146404"/>
                        </a:cubicBezTo>
                        <a:cubicBezTo>
                          <a:pt x="292808" y="227139"/>
                          <a:pt x="227139" y="292808"/>
                          <a:pt x="146404" y="292808"/>
                        </a:cubicBezTo>
                        <a:close/>
                        <a:moveTo>
                          <a:pt x="146404" y="5249"/>
                        </a:moveTo>
                        <a:cubicBezTo>
                          <a:pt x="68556" y="5249"/>
                          <a:pt x="5249" y="68556"/>
                          <a:pt x="5249" y="146404"/>
                        </a:cubicBezTo>
                        <a:cubicBezTo>
                          <a:pt x="5249" y="224252"/>
                          <a:pt x="68556" y="287558"/>
                          <a:pt x="146404" y="287558"/>
                        </a:cubicBezTo>
                        <a:cubicBezTo>
                          <a:pt x="224252" y="287558"/>
                          <a:pt x="287559" y="224252"/>
                          <a:pt x="287559" y="146404"/>
                        </a:cubicBezTo>
                        <a:cubicBezTo>
                          <a:pt x="287559" y="68556"/>
                          <a:pt x="224252" y="5249"/>
                          <a:pt x="146404" y="5249"/>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grpSp>
        <p:grpSp>
          <p:nvGrpSpPr>
            <p:cNvPr id="15117" name="Google Shape;15117;p96"/>
            <p:cNvGrpSpPr/>
            <p:nvPr/>
          </p:nvGrpSpPr>
          <p:grpSpPr>
            <a:xfrm>
              <a:off x="-394415" y="3143041"/>
              <a:ext cx="242528" cy="236141"/>
              <a:chOff x="624431" y="1107698"/>
              <a:chExt cx="682601" cy="664625"/>
            </a:xfrm>
          </p:grpSpPr>
          <p:sp>
            <p:nvSpPr>
              <p:cNvPr id="15118" name="Google Shape;15118;p96"/>
              <p:cNvSpPr/>
              <p:nvPr/>
            </p:nvSpPr>
            <p:spPr>
              <a:xfrm>
                <a:off x="1004841" y="1579446"/>
                <a:ext cx="1943" cy="7287"/>
              </a:xfrm>
              <a:custGeom>
                <a:avLst/>
                <a:gdLst/>
                <a:ahLst/>
                <a:cxnLst/>
                <a:rect l="l" t="t" r="r" b="b"/>
                <a:pathLst>
                  <a:path w="1943" h="7287" extrusionOk="0">
                    <a:moveTo>
                      <a:pt x="0" y="486"/>
                    </a:moveTo>
                    <a:lnTo>
                      <a:pt x="1943" y="7288"/>
                    </a:lnTo>
                    <a:lnTo>
                      <a:pt x="486" y="0"/>
                    </a:lnTo>
                    <a:cubicBezTo>
                      <a:pt x="486" y="0"/>
                      <a:pt x="486" y="0"/>
                      <a:pt x="0" y="0"/>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19" name="Google Shape;15119;p96"/>
              <p:cNvSpPr/>
              <p:nvPr/>
            </p:nvSpPr>
            <p:spPr>
              <a:xfrm>
                <a:off x="878038" y="1319523"/>
                <a:ext cx="62673" cy="67379"/>
              </a:xfrm>
              <a:custGeom>
                <a:avLst/>
                <a:gdLst/>
                <a:ahLst/>
                <a:cxnLst/>
                <a:rect l="l" t="t" r="r" b="b"/>
                <a:pathLst>
                  <a:path w="62673" h="67379" extrusionOk="0">
                    <a:moveTo>
                      <a:pt x="51499" y="66560"/>
                    </a:moveTo>
                    <a:cubicBezTo>
                      <a:pt x="51499" y="66560"/>
                      <a:pt x="54900" y="68017"/>
                      <a:pt x="56357" y="67046"/>
                    </a:cubicBezTo>
                    <a:cubicBezTo>
                      <a:pt x="57815" y="66560"/>
                      <a:pt x="58786" y="65102"/>
                      <a:pt x="58786" y="63159"/>
                    </a:cubicBezTo>
                    <a:cubicBezTo>
                      <a:pt x="59758" y="47126"/>
                      <a:pt x="60730" y="30608"/>
                      <a:pt x="61701" y="14575"/>
                    </a:cubicBezTo>
                    <a:lnTo>
                      <a:pt x="62673" y="0"/>
                    </a:lnTo>
                    <a:cubicBezTo>
                      <a:pt x="38381" y="4858"/>
                      <a:pt x="17976" y="15061"/>
                      <a:pt x="0" y="30122"/>
                    </a:cubicBezTo>
                    <a:cubicBezTo>
                      <a:pt x="7773" y="35466"/>
                      <a:pt x="15547" y="41296"/>
                      <a:pt x="23320" y="46640"/>
                    </a:cubicBezTo>
                    <a:cubicBezTo>
                      <a:pt x="32551" y="53442"/>
                      <a:pt x="42268" y="59758"/>
                      <a:pt x="51499" y="66560"/>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0" name="Google Shape;15120;p96"/>
              <p:cNvSpPr/>
              <p:nvPr/>
            </p:nvSpPr>
            <p:spPr>
              <a:xfrm>
                <a:off x="1014072" y="1494424"/>
                <a:ext cx="74333" cy="65102"/>
              </a:xfrm>
              <a:custGeom>
                <a:avLst/>
                <a:gdLst/>
                <a:ahLst/>
                <a:cxnLst/>
                <a:rect l="l" t="t" r="r" b="b"/>
                <a:pathLst>
                  <a:path w="74333" h="65102" extrusionOk="0">
                    <a:moveTo>
                      <a:pt x="8259" y="972"/>
                    </a:moveTo>
                    <a:cubicBezTo>
                      <a:pt x="8259" y="972"/>
                      <a:pt x="6316" y="2915"/>
                      <a:pt x="6316" y="4858"/>
                    </a:cubicBezTo>
                    <a:lnTo>
                      <a:pt x="0" y="9717"/>
                    </a:lnTo>
                    <a:lnTo>
                      <a:pt x="6802" y="6802"/>
                    </a:lnTo>
                    <a:lnTo>
                      <a:pt x="12632" y="20891"/>
                    </a:lnTo>
                    <a:cubicBezTo>
                      <a:pt x="18948" y="35466"/>
                      <a:pt x="24778" y="50527"/>
                      <a:pt x="31094" y="65102"/>
                    </a:cubicBezTo>
                    <a:cubicBezTo>
                      <a:pt x="50527" y="50527"/>
                      <a:pt x="64616" y="32551"/>
                      <a:pt x="74333" y="10688"/>
                    </a:cubicBezTo>
                    <a:lnTo>
                      <a:pt x="12146" y="0"/>
                    </a:lnTo>
                    <a:cubicBezTo>
                      <a:pt x="12146" y="0"/>
                      <a:pt x="9231" y="486"/>
                      <a:pt x="8259" y="972"/>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1" name="Google Shape;15121;p96"/>
              <p:cNvSpPr/>
              <p:nvPr/>
            </p:nvSpPr>
            <p:spPr>
              <a:xfrm>
                <a:off x="842572" y="1494424"/>
                <a:ext cx="67045" cy="64616"/>
              </a:xfrm>
              <a:custGeom>
                <a:avLst/>
                <a:gdLst/>
                <a:ahLst/>
                <a:cxnLst/>
                <a:rect l="l" t="t" r="r" b="b"/>
                <a:pathLst>
                  <a:path w="67045" h="64616" extrusionOk="0">
                    <a:moveTo>
                      <a:pt x="62673" y="0"/>
                    </a:moveTo>
                    <a:lnTo>
                      <a:pt x="46155" y="2915"/>
                    </a:lnTo>
                    <a:cubicBezTo>
                      <a:pt x="30608" y="5344"/>
                      <a:pt x="15547" y="8259"/>
                      <a:pt x="0" y="10688"/>
                    </a:cubicBezTo>
                    <a:cubicBezTo>
                      <a:pt x="9717" y="32551"/>
                      <a:pt x="24292" y="50527"/>
                      <a:pt x="43240" y="64616"/>
                    </a:cubicBezTo>
                    <a:cubicBezTo>
                      <a:pt x="48584" y="51985"/>
                      <a:pt x="53442" y="39839"/>
                      <a:pt x="58300" y="27693"/>
                    </a:cubicBezTo>
                    <a:lnTo>
                      <a:pt x="65588" y="9717"/>
                    </a:lnTo>
                    <a:cubicBezTo>
                      <a:pt x="65588" y="9717"/>
                      <a:pt x="66560" y="6802"/>
                      <a:pt x="67046" y="5830"/>
                    </a:cubicBezTo>
                    <a:cubicBezTo>
                      <a:pt x="67046" y="4858"/>
                      <a:pt x="67046" y="3401"/>
                      <a:pt x="66074" y="2429"/>
                    </a:cubicBezTo>
                    <a:cubicBezTo>
                      <a:pt x="65102" y="1457"/>
                      <a:pt x="64131" y="972"/>
                      <a:pt x="62673" y="486"/>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2" name="Google Shape;15122;p96"/>
              <p:cNvSpPr/>
              <p:nvPr/>
            </p:nvSpPr>
            <p:spPr>
              <a:xfrm>
                <a:off x="930994" y="1523575"/>
                <a:ext cx="68503" cy="62187"/>
              </a:xfrm>
              <a:custGeom>
                <a:avLst/>
                <a:gdLst/>
                <a:ahLst/>
                <a:cxnLst/>
                <a:rect l="l" t="t" r="r" b="b"/>
                <a:pathLst>
                  <a:path w="68503" h="62187" extrusionOk="0">
                    <a:moveTo>
                      <a:pt x="55385" y="32551"/>
                    </a:moveTo>
                    <a:cubicBezTo>
                      <a:pt x="50041" y="22834"/>
                      <a:pt x="44697" y="12632"/>
                      <a:pt x="38867" y="2915"/>
                    </a:cubicBezTo>
                    <a:cubicBezTo>
                      <a:pt x="37895" y="972"/>
                      <a:pt x="35952" y="486"/>
                      <a:pt x="34494" y="0"/>
                    </a:cubicBezTo>
                    <a:cubicBezTo>
                      <a:pt x="33037" y="0"/>
                      <a:pt x="31094" y="972"/>
                      <a:pt x="30122" y="2915"/>
                    </a:cubicBezTo>
                    <a:lnTo>
                      <a:pt x="17490" y="25749"/>
                    </a:lnTo>
                    <a:cubicBezTo>
                      <a:pt x="11660" y="36438"/>
                      <a:pt x="5830" y="46640"/>
                      <a:pt x="0" y="57329"/>
                    </a:cubicBezTo>
                    <a:cubicBezTo>
                      <a:pt x="11660" y="60244"/>
                      <a:pt x="22834" y="61701"/>
                      <a:pt x="34494" y="62187"/>
                    </a:cubicBezTo>
                    <a:cubicBezTo>
                      <a:pt x="45669" y="62187"/>
                      <a:pt x="57329" y="60730"/>
                      <a:pt x="68503" y="57815"/>
                    </a:cubicBezTo>
                    <a:cubicBezTo>
                      <a:pt x="67046" y="54900"/>
                      <a:pt x="65588" y="52470"/>
                      <a:pt x="64131" y="50041"/>
                    </a:cubicBezTo>
                    <a:lnTo>
                      <a:pt x="54900" y="33037"/>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3" name="Google Shape;15123;p96"/>
              <p:cNvSpPr/>
              <p:nvPr/>
            </p:nvSpPr>
            <p:spPr>
              <a:xfrm>
                <a:off x="1090835" y="1499768"/>
                <a:ext cx="6801" cy="2915"/>
              </a:xfrm>
              <a:custGeom>
                <a:avLst/>
                <a:gdLst/>
                <a:ahLst/>
                <a:cxnLst/>
                <a:rect l="l" t="t" r="r" b="b"/>
                <a:pathLst>
                  <a:path w="6801" h="2915" extrusionOk="0">
                    <a:moveTo>
                      <a:pt x="0" y="0"/>
                    </a:moveTo>
                    <a:lnTo>
                      <a:pt x="6802" y="2915"/>
                    </a:lnTo>
                    <a:lnTo>
                      <a:pt x="0" y="0"/>
                    </a:lnTo>
                    <a:lnTo>
                      <a:pt x="0" y="0"/>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4" name="Google Shape;15124;p96"/>
              <p:cNvSpPr/>
              <p:nvPr/>
            </p:nvSpPr>
            <p:spPr>
              <a:xfrm>
                <a:off x="831667" y="1388512"/>
                <a:ext cx="64346" cy="67531"/>
              </a:xfrm>
              <a:custGeom>
                <a:avLst/>
                <a:gdLst/>
                <a:ahLst/>
                <a:cxnLst/>
                <a:rect l="l" t="t" r="r" b="b"/>
                <a:pathLst>
                  <a:path w="64346" h="67531" extrusionOk="0">
                    <a:moveTo>
                      <a:pt x="63375" y="47126"/>
                    </a:moveTo>
                    <a:cubicBezTo>
                      <a:pt x="63375" y="47126"/>
                      <a:pt x="63375" y="43725"/>
                      <a:pt x="60460" y="40810"/>
                    </a:cubicBezTo>
                    <a:cubicBezTo>
                      <a:pt x="45399" y="27207"/>
                      <a:pt x="30338" y="13603"/>
                      <a:pt x="15277" y="0"/>
                    </a:cubicBezTo>
                    <a:cubicBezTo>
                      <a:pt x="6532" y="17004"/>
                      <a:pt x="1673" y="34494"/>
                      <a:pt x="216" y="52956"/>
                    </a:cubicBezTo>
                    <a:cubicBezTo>
                      <a:pt x="216" y="57329"/>
                      <a:pt x="-270" y="62673"/>
                      <a:pt x="216" y="67531"/>
                    </a:cubicBezTo>
                    <a:lnTo>
                      <a:pt x="10419" y="64616"/>
                    </a:lnTo>
                    <a:cubicBezTo>
                      <a:pt x="26451" y="59758"/>
                      <a:pt x="42970" y="55385"/>
                      <a:pt x="59002" y="50527"/>
                    </a:cubicBezTo>
                    <a:cubicBezTo>
                      <a:pt x="63375" y="49070"/>
                      <a:pt x="63861" y="47612"/>
                      <a:pt x="64346" y="46640"/>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5" name="Google Shape;15125;p96"/>
              <p:cNvSpPr/>
              <p:nvPr/>
            </p:nvSpPr>
            <p:spPr>
              <a:xfrm>
                <a:off x="990752" y="1319523"/>
                <a:ext cx="61701" cy="66751"/>
              </a:xfrm>
              <a:custGeom>
                <a:avLst/>
                <a:gdLst/>
                <a:ahLst/>
                <a:cxnLst/>
                <a:rect l="l" t="t" r="r" b="b"/>
                <a:pathLst>
                  <a:path w="61701" h="66751" extrusionOk="0">
                    <a:moveTo>
                      <a:pt x="5830" y="66560"/>
                    </a:moveTo>
                    <a:cubicBezTo>
                      <a:pt x="5830" y="66560"/>
                      <a:pt x="8745" y="67531"/>
                      <a:pt x="12146" y="65102"/>
                    </a:cubicBezTo>
                    <a:cubicBezTo>
                      <a:pt x="28664" y="53442"/>
                      <a:pt x="45183" y="41782"/>
                      <a:pt x="61701" y="30122"/>
                    </a:cubicBezTo>
                    <a:cubicBezTo>
                      <a:pt x="42754" y="14575"/>
                      <a:pt x="22348" y="4373"/>
                      <a:pt x="0" y="0"/>
                    </a:cubicBezTo>
                    <a:lnTo>
                      <a:pt x="3401" y="60730"/>
                    </a:lnTo>
                    <a:cubicBezTo>
                      <a:pt x="3401" y="65102"/>
                      <a:pt x="4858" y="65588"/>
                      <a:pt x="5830" y="66074"/>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6" name="Google Shape;15126;p96"/>
              <p:cNvSpPr/>
              <p:nvPr/>
            </p:nvSpPr>
            <p:spPr>
              <a:xfrm>
                <a:off x="732679" y="1210697"/>
                <a:ext cx="466686" cy="454812"/>
              </a:xfrm>
              <a:custGeom>
                <a:avLst/>
                <a:gdLst/>
                <a:ahLst/>
                <a:cxnLst/>
                <a:rect l="l" t="t" r="r" b="b"/>
                <a:pathLst>
                  <a:path w="466686" h="454812" extrusionOk="0">
                    <a:moveTo>
                      <a:pt x="444146" y="283729"/>
                    </a:moveTo>
                    <a:cubicBezTo>
                      <a:pt x="438802" y="283243"/>
                      <a:pt x="433458" y="282757"/>
                      <a:pt x="428600" y="281786"/>
                    </a:cubicBezTo>
                    <a:cubicBezTo>
                      <a:pt x="421798" y="280814"/>
                      <a:pt x="414024" y="279842"/>
                      <a:pt x="409166" y="272555"/>
                    </a:cubicBezTo>
                    <a:cubicBezTo>
                      <a:pt x="406251" y="272069"/>
                      <a:pt x="404308" y="270611"/>
                      <a:pt x="403336" y="269154"/>
                    </a:cubicBezTo>
                    <a:cubicBezTo>
                      <a:pt x="400421" y="265753"/>
                      <a:pt x="400907" y="261866"/>
                      <a:pt x="401393" y="259923"/>
                    </a:cubicBezTo>
                    <a:cubicBezTo>
                      <a:pt x="402364" y="250206"/>
                      <a:pt x="402850" y="240975"/>
                      <a:pt x="402364" y="231744"/>
                    </a:cubicBezTo>
                    <a:cubicBezTo>
                      <a:pt x="400907" y="202108"/>
                      <a:pt x="391676" y="174416"/>
                      <a:pt x="376129" y="149152"/>
                    </a:cubicBezTo>
                    <a:cubicBezTo>
                      <a:pt x="375158" y="147695"/>
                      <a:pt x="373214" y="144294"/>
                      <a:pt x="374186" y="139921"/>
                    </a:cubicBezTo>
                    <a:cubicBezTo>
                      <a:pt x="374672" y="137492"/>
                      <a:pt x="376129" y="135549"/>
                      <a:pt x="378073" y="134091"/>
                    </a:cubicBezTo>
                    <a:cubicBezTo>
                      <a:pt x="378558" y="129719"/>
                      <a:pt x="380988" y="125832"/>
                      <a:pt x="384874" y="122431"/>
                    </a:cubicBezTo>
                    <a:cubicBezTo>
                      <a:pt x="391190" y="117087"/>
                      <a:pt x="398478" y="112228"/>
                      <a:pt x="408194" y="106884"/>
                    </a:cubicBezTo>
                    <a:cubicBezTo>
                      <a:pt x="412081" y="104941"/>
                      <a:pt x="415482" y="102998"/>
                      <a:pt x="417911" y="100083"/>
                    </a:cubicBezTo>
                    <a:cubicBezTo>
                      <a:pt x="421312" y="97167"/>
                      <a:pt x="421312" y="94738"/>
                      <a:pt x="420826" y="93281"/>
                    </a:cubicBezTo>
                    <a:cubicBezTo>
                      <a:pt x="420826" y="90852"/>
                      <a:pt x="418883" y="89394"/>
                      <a:pt x="417911" y="88908"/>
                    </a:cubicBezTo>
                    <a:cubicBezTo>
                      <a:pt x="415968" y="87937"/>
                      <a:pt x="413053" y="88422"/>
                      <a:pt x="410624" y="89880"/>
                    </a:cubicBezTo>
                    <a:cubicBezTo>
                      <a:pt x="407223" y="91823"/>
                      <a:pt x="404308" y="95224"/>
                      <a:pt x="401393" y="98139"/>
                    </a:cubicBezTo>
                    <a:cubicBezTo>
                      <a:pt x="395563" y="104941"/>
                      <a:pt x="389247" y="111257"/>
                      <a:pt x="382445" y="116601"/>
                    </a:cubicBezTo>
                    <a:cubicBezTo>
                      <a:pt x="380502" y="118058"/>
                      <a:pt x="375643" y="122431"/>
                      <a:pt x="368356" y="121459"/>
                    </a:cubicBezTo>
                    <a:cubicBezTo>
                      <a:pt x="366412" y="123403"/>
                      <a:pt x="363983" y="124374"/>
                      <a:pt x="361554" y="123889"/>
                    </a:cubicBezTo>
                    <a:cubicBezTo>
                      <a:pt x="357182" y="123889"/>
                      <a:pt x="354267" y="120974"/>
                      <a:pt x="352809" y="119516"/>
                    </a:cubicBezTo>
                    <a:cubicBezTo>
                      <a:pt x="333861" y="100568"/>
                      <a:pt x="311513" y="86965"/>
                      <a:pt x="286249" y="78220"/>
                    </a:cubicBezTo>
                    <a:cubicBezTo>
                      <a:pt x="275075" y="74333"/>
                      <a:pt x="263415" y="71904"/>
                      <a:pt x="249811" y="69961"/>
                    </a:cubicBezTo>
                    <a:cubicBezTo>
                      <a:pt x="248354" y="69961"/>
                      <a:pt x="244953" y="69961"/>
                      <a:pt x="242524" y="67046"/>
                    </a:cubicBezTo>
                    <a:lnTo>
                      <a:pt x="240581" y="64616"/>
                    </a:lnTo>
                    <a:lnTo>
                      <a:pt x="240581" y="60244"/>
                    </a:lnTo>
                    <a:cubicBezTo>
                      <a:pt x="237180" y="56357"/>
                      <a:pt x="235722" y="52956"/>
                      <a:pt x="235722" y="49070"/>
                    </a:cubicBezTo>
                    <a:lnTo>
                      <a:pt x="235722" y="47126"/>
                    </a:lnTo>
                    <a:cubicBezTo>
                      <a:pt x="235722" y="42754"/>
                      <a:pt x="235722" y="38867"/>
                      <a:pt x="236208" y="34494"/>
                    </a:cubicBezTo>
                    <a:cubicBezTo>
                      <a:pt x="237180" y="28664"/>
                      <a:pt x="237666" y="23320"/>
                      <a:pt x="238637" y="17490"/>
                    </a:cubicBezTo>
                    <a:lnTo>
                      <a:pt x="238637" y="11660"/>
                    </a:lnTo>
                    <a:cubicBezTo>
                      <a:pt x="238637" y="11660"/>
                      <a:pt x="239123" y="7288"/>
                      <a:pt x="239123" y="7288"/>
                    </a:cubicBezTo>
                    <a:cubicBezTo>
                      <a:pt x="239123" y="3401"/>
                      <a:pt x="236208" y="486"/>
                      <a:pt x="233293" y="0"/>
                    </a:cubicBezTo>
                    <a:cubicBezTo>
                      <a:pt x="229892" y="0"/>
                      <a:pt x="226977" y="2429"/>
                      <a:pt x="226491" y="6316"/>
                    </a:cubicBezTo>
                    <a:cubicBezTo>
                      <a:pt x="226491" y="9231"/>
                      <a:pt x="226491" y="12632"/>
                      <a:pt x="226977" y="17490"/>
                    </a:cubicBezTo>
                    <a:cubicBezTo>
                      <a:pt x="228435" y="26721"/>
                      <a:pt x="229892" y="36438"/>
                      <a:pt x="229892" y="46640"/>
                    </a:cubicBezTo>
                    <a:cubicBezTo>
                      <a:pt x="229892" y="49070"/>
                      <a:pt x="229892" y="54414"/>
                      <a:pt x="225520" y="58786"/>
                    </a:cubicBezTo>
                    <a:cubicBezTo>
                      <a:pt x="225520" y="62187"/>
                      <a:pt x="224548" y="64616"/>
                      <a:pt x="223090" y="66560"/>
                    </a:cubicBezTo>
                    <a:cubicBezTo>
                      <a:pt x="221633" y="68503"/>
                      <a:pt x="219204" y="69475"/>
                      <a:pt x="215803" y="69961"/>
                    </a:cubicBezTo>
                    <a:lnTo>
                      <a:pt x="212402" y="69961"/>
                    </a:lnTo>
                    <a:cubicBezTo>
                      <a:pt x="174021" y="75305"/>
                      <a:pt x="140012" y="91337"/>
                      <a:pt x="112805" y="119030"/>
                    </a:cubicBezTo>
                    <a:cubicBezTo>
                      <a:pt x="111348" y="120488"/>
                      <a:pt x="108433" y="124374"/>
                      <a:pt x="103574" y="123403"/>
                    </a:cubicBezTo>
                    <a:cubicBezTo>
                      <a:pt x="101631" y="123403"/>
                      <a:pt x="99202" y="122431"/>
                      <a:pt x="97259" y="121459"/>
                    </a:cubicBezTo>
                    <a:cubicBezTo>
                      <a:pt x="90943" y="121945"/>
                      <a:pt x="86570" y="118544"/>
                      <a:pt x="84627" y="117573"/>
                    </a:cubicBezTo>
                    <a:cubicBezTo>
                      <a:pt x="77825" y="112228"/>
                      <a:pt x="71509" y="106398"/>
                      <a:pt x="64707" y="98625"/>
                    </a:cubicBezTo>
                    <a:cubicBezTo>
                      <a:pt x="61307" y="94738"/>
                      <a:pt x="58392" y="91823"/>
                      <a:pt x="54991" y="89394"/>
                    </a:cubicBezTo>
                    <a:cubicBezTo>
                      <a:pt x="51590" y="87451"/>
                      <a:pt x="47703" y="87937"/>
                      <a:pt x="45760" y="90366"/>
                    </a:cubicBezTo>
                    <a:cubicBezTo>
                      <a:pt x="43816" y="92795"/>
                      <a:pt x="44302" y="96682"/>
                      <a:pt x="47217" y="99597"/>
                    </a:cubicBezTo>
                    <a:cubicBezTo>
                      <a:pt x="50132" y="102512"/>
                      <a:pt x="53533" y="104455"/>
                      <a:pt x="57420" y="106398"/>
                    </a:cubicBezTo>
                    <a:cubicBezTo>
                      <a:pt x="65193" y="110771"/>
                      <a:pt x="72481" y="115143"/>
                      <a:pt x="78797" y="120488"/>
                    </a:cubicBezTo>
                    <a:cubicBezTo>
                      <a:pt x="81712" y="122917"/>
                      <a:pt x="86570" y="126804"/>
                      <a:pt x="87542" y="133605"/>
                    </a:cubicBezTo>
                    <a:cubicBezTo>
                      <a:pt x="89485" y="135063"/>
                      <a:pt x="90457" y="137006"/>
                      <a:pt x="90943" y="138949"/>
                    </a:cubicBezTo>
                    <a:cubicBezTo>
                      <a:pt x="91914" y="143322"/>
                      <a:pt x="89971" y="147209"/>
                      <a:pt x="88514" y="149152"/>
                    </a:cubicBezTo>
                    <a:cubicBezTo>
                      <a:pt x="67622" y="183161"/>
                      <a:pt x="59363" y="220084"/>
                      <a:pt x="64222" y="258951"/>
                    </a:cubicBezTo>
                    <a:cubicBezTo>
                      <a:pt x="65193" y="268182"/>
                      <a:pt x="59363" y="271097"/>
                      <a:pt x="56448" y="271583"/>
                    </a:cubicBezTo>
                    <a:cubicBezTo>
                      <a:pt x="53047" y="276927"/>
                      <a:pt x="47703" y="278385"/>
                      <a:pt x="43816" y="279356"/>
                    </a:cubicBezTo>
                    <a:cubicBezTo>
                      <a:pt x="34586" y="281300"/>
                      <a:pt x="24869" y="282272"/>
                      <a:pt x="15638" y="282757"/>
                    </a:cubicBezTo>
                    <a:cubicBezTo>
                      <a:pt x="11265" y="282757"/>
                      <a:pt x="7864" y="283729"/>
                      <a:pt x="4464" y="284701"/>
                    </a:cubicBezTo>
                    <a:cubicBezTo>
                      <a:pt x="1063" y="286158"/>
                      <a:pt x="-395" y="289559"/>
                      <a:pt x="91" y="291988"/>
                    </a:cubicBezTo>
                    <a:cubicBezTo>
                      <a:pt x="577" y="294903"/>
                      <a:pt x="3978" y="297818"/>
                      <a:pt x="7379" y="296847"/>
                    </a:cubicBezTo>
                    <a:cubicBezTo>
                      <a:pt x="11265" y="296847"/>
                      <a:pt x="15152" y="295389"/>
                      <a:pt x="19525" y="293446"/>
                    </a:cubicBezTo>
                    <a:cubicBezTo>
                      <a:pt x="28755" y="289559"/>
                      <a:pt x="37015" y="286644"/>
                      <a:pt x="44788" y="284701"/>
                    </a:cubicBezTo>
                    <a:cubicBezTo>
                      <a:pt x="48675" y="283729"/>
                      <a:pt x="53533" y="282272"/>
                      <a:pt x="58392" y="285187"/>
                    </a:cubicBezTo>
                    <a:cubicBezTo>
                      <a:pt x="59849" y="286158"/>
                      <a:pt x="60335" y="286158"/>
                      <a:pt x="60335" y="286158"/>
                    </a:cubicBezTo>
                    <a:lnTo>
                      <a:pt x="63250" y="285187"/>
                    </a:lnTo>
                    <a:lnTo>
                      <a:pt x="67622" y="286644"/>
                    </a:lnTo>
                    <a:cubicBezTo>
                      <a:pt x="71023" y="288587"/>
                      <a:pt x="71995" y="291502"/>
                      <a:pt x="72481" y="292960"/>
                    </a:cubicBezTo>
                    <a:cubicBezTo>
                      <a:pt x="86084" y="331341"/>
                      <a:pt x="109890" y="361463"/>
                      <a:pt x="144385" y="382840"/>
                    </a:cubicBezTo>
                    <a:cubicBezTo>
                      <a:pt x="150701" y="386727"/>
                      <a:pt x="150701" y="392557"/>
                      <a:pt x="148271" y="396929"/>
                    </a:cubicBezTo>
                    <a:cubicBezTo>
                      <a:pt x="150701" y="403245"/>
                      <a:pt x="148271" y="408589"/>
                      <a:pt x="146814" y="410533"/>
                    </a:cubicBezTo>
                    <a:cubicBezTo>
                      <a:pt x="142927" y="418306"/>
                      <a:pt x="138555" y="426079"/>
                      <a:pt x="131753" y="435310"/>
                    </a:cubicBezTo>
                    <a:cubicBezTo>
                      <a:pt x="128838" y="439197"/>
                      <a:pt x="127380" y="442112"/>
                      <a:pt x="126409" y="445027"/>
                    </a:cubicBezTo>
                    <a:cubicBezTo>
                      <a:pt x="124951" y="448914"/>
                      <a:pt x="126409" y="452800"/>
                      <a:pt x="129324" y="454258"/>
                    </a:cubicBezTo>
                    <a:cubicBezTo>
                      <a:pt x="132239" y="455715"/>
                      <a:pt x="136126" y="454258"/>
                      <a:pt x="138069" y="450371"/>
                    </a:cubicBezTo>
                    <a:cubicBezTo>
                      <a:pt x="139526" y="447942"/>
                      <a:pt x="140984" y="444541"/>
                      <a:pt x="141956" y="440654"/>
                    </a:cubicBezTo>
                    <a:cubicBezTo>
                      <a:pt x="144871" y="430938"/>
                      <a:pt x="147786" y="422193"/>
                      <a:pt x="151672" y="414419"/>
                    </a:cubicBezTo>
                    <a:cubicBezTo>
                      <a:pt x="152644" y="411990"/>
                      <a:pt x="155559" y="406160"/>
                      <a:pt x="162361" y="403731"/>
                    </a:cubicBezTo>
                    <a:cubicBezTo>
                      <a:pt x="163818" y="400330"/>
                      <a:pt x="168191" y="395472"/>
                      <a:pt x="176936" y="398387"/>
                    </a:cubicBezTo>
                    <a:cubicBezTo>
                      <a:pt x="213860" y="411504"/>
                      <a:pt x="251269" y="411504"/>
                      <a:pt x="289164" y="398872"/>
                    </a:cubicBezTo>
                    <a:cubicBezTo>
                      <a:pt x="292079" y="397901"/>
                      <a:pt x="295966" y="396443"/>
                      <a:pt x="300339" y="398872"/>
                    </a:cubicBezTo>
                    <a:cubicBezTo>
                      <a:pt x="302282" y="399844"/>
                      <a:pt x="303739" y="401302"/>
                      <a:pt x="304711" y="403731"/>
                    </a:cubicBezTo>
                    <a:cubicBezTo>
                      <a:pt x="309084" y="405188"/>
                      <a:pt x="311999" y="408103"/>
                      <a:pt x="314428" y="412962"/>
                    </a:cubicBezTo>
                    <a:cubicBezTo>
                      <a:pt x="319286" y="422678"/>
                      <a:pt x="322201" y="432881"/>
                      <a:pt x="324630" y="441140"/>
                    </a:cubicBezTo>
                    <a:cubicBezTo>
                      <a:pt x="326088" y="445999"/>
                      <a:pt x="327545" y="449400"/>
                      <a:pt x="329975" y="451829"/>
                    </a:cubicBezTo>
                    <a:cubicBezTo>
                      <a:pt x="332404" y="454258"/>
                      <a:pt x="335319" y="454744"/>
                      <a:pt x="337748" y="453286"/>
                    </a:cubicBezTo>
                    <a:cubicBezTo>
                      <a:pt x="340177" y="451829"/>
                      <a:pt x="341149" y="448428"/>
                      <a:pt x="340177" y="445513"/>
                    </a:cubicBezTo>
                    <a:cubicBezTo>
                      <a:pt x="339206" y="441626"/>
                      <a:pt x="336776" y="438225"/>
                      <a:pt x="334347" y="434824"/>
                    </a:cubicBezTo>
                    <a:cubicBezTo>
                      <a:pt x="329003" y="427051"/>
                      <a:pt x="324145" y="419763"/>
                      <a:pt x="320258" y="412476"/>
                    </a:cubicBezTo>
                    <a:cubicBezTo>
                      <a:pt x="318800" y="409561"/>
                      <a:pt x="315400" y="403731"/>
                      <a:pt x="317829" y="396443"/>
                    </a:cubicBezTo>
                    <a:cubicBezTo>
                      <a:pt x="315885" y="392071"/>
                      <a:pt x="316371" y="386727"/>
                      <a:pt x="322687" y="382840"/>
                    </a:cubicBezTo>
                    <a:cubicBezTo>
                      <a:pt x="339691" y="372637"/>
                      <a:pt x="354752" y="359034"/>
                      <a:pt x="367384" y="343001"/>
                    </a:cubicBezTo>
                    <a:cubicBezTo>
                      <a:pt x="379044" y="327940"/>
                      <a:pt x="388275" y="311422"/>
                      <a:pt x="394105" y="293446"/>
                    </a:cubicBezTo>
                    <a:cubicBezTo>
                      <a:pt x="396534" y="285672"/>
                      <a:pt x="402850" y="284215"/>
                      <a:pt x="407709" y="285672"/>
                    </a:cubicBezTo>
                    <a:cubicBezTo>
                      <a:pt x="409652" y="283243"/>
                      <a:pt x="414510" y="282272"/>
                      <a:pt x="419369" y="283243"/>
                    </a:cubicBezTo>
                    <a:cubicBezTo>
                      <a:pt x="425199" y="284701"/>
                      <a:pt x="431029" y="286158"/>
                      <a:pt x="436373" y="288102"/>
                    </a:cubicBezTo>
                    <a:cubicBezTo>
                      <a:pt x="440260" y="289559"/>
                      <a:pt x="442689" y="290531"/>
                      <a:pt x="445118" y="291502"/>
                    </a:cubicBezTo>
                    <a:cubicBezTo>
                      <a:pt x="449491" y="293446"/>
                      <a:pt x="453377" y="294903"/>
                      <a:pt x="457750" y="295389"/>
                    </a:cubicBezTo>
                    <a:cubicBezTo>
                      <a:pt x="462122" y="296361"/>
                      <a:pt x="464066" y="294417"/>
                      <a:pt x="465523" y="292474"/>
                    </a:cubicBezTo>
                    <a:cubicBezTo>
                      <a:pt x="466981" y="290531"/>
                      <a:pt x="466981" y="289073"/>
                      <a:pt x="466009" y="287130"/>
                    </a:cubicBezTo>
                    <a:cubicBezTo>
                      <a:pt x="464552" y="284215"/>
                      <a:pt x="462608" y="282757"/>
                      <a:pt x="459207" y="282272"/>
                    </a:cubicBezTo>
                    <a:cubicBezTo>
                      <a:pt x="454349" y="281786"/>
                      <a:pt x="449491" y="281300"/>
                      <a:pt x="444632" y="280814"/>
                    </a:cubicBezTo>
                    <a:close/>
                    <a:moveTo>
                      <a:pt x="246411" y="95710"/>
                    </a:moveTo>
                    <a:cubicBezTo>
                      <a:pt x="249811" y="92795"/>
                      <a:pt x="254184" y="93281"/>
                      <a:pt x="259042" y="94252"/>
                    </a:cubicBezTo>
                    <a:lnTo>
                      <a:pt x="259042" y="94252"/>
                    </a:lnTo>
                    <a:cubicBezTo>
                      <a:pt x="286249" y="99111"/>
                      <a:pt x="311513" y="111743"/>
                      <a:pt x="332890" y="131176"/>
                    </a:cubicBezTo>
                    <a:cubicBezTo>
                      <a:pt x="334347" y="132634"/>
                      <a:pt x="337748" y="135549"/>
                      <a:pt x="337262" y="139921"/>
                    </a:cubicBezTo>
                    <a:cubicBezTo>
                      <a:pt x="337262" y="144294"/>
                      <a:pt x="333376" y="147209"/>
                      <a:pt x="331918" y="148180"/>
                    </a:cubicBezTo>
                    <a:cubicBezTo>
                      <a:pt x="313942" y="160812"/>
                      <a:pt x="296452" y="173444"/>
                      <a:pt x="278476" y="186076"/>
                    </a:cubicBezTo>
                    <a:cubicBezTo>
                      <a:pt x="274103" y="188991"/>
                      <a:pt x="269731" y="190448"/>
                      <a:pt x="265358" y="190448"/>
                    </a:cubicBezTo>
                    <a:cubicBezTo>
                      <a:pt x="262443" y="190448"/>
                      <a:pt x="260014" y="189962"/>
                      <a:pt x="257099" y="188505"/>
                    </a:cubicBezTo>
                    <a:cubicBezTo>
                      <a:pt x="250297" y="185590"/>
                      <a:pt x="246411" y="179274"/>
                      <a:pt x="245925" y="170529"/>
                    </a:cubicBezTo>
                    <a:lnTo>
                      <a:pt x="242524" y="108828"/>
                    </a:lnTo>
                    <a:cubicBezTo>
                      <a:pt x="242524" y="102998"/>
                      <a:pt x="242524" y="98625"/>
                      <a:pt x="245925" y="95710"/>
                    </a:cubicBezTo>
                    <a:close/>
                    <a:moveTo>
                      <a:pt x="249326" y="207938"/>
                    </a:moveTo>
                    <a:lnTo>
                      <a:pt x="269245" y="233202"/>
                    </a:lnTo>
                    <a:lnTo>
                      <a:pt x="262443" y="264781"/>
                    </a:lnTo>
                    <a:lnTo>
                      <a:pt x="233293" y="278871"/>
                    </a:lnTo>
                    <a:lnTo>
                      <a:pt x="204143" y="264781"/>
                    </a:lnTo>
                    <a:lnTo>
                      <a:pt x="196855" y="233202"/>
                    </a:lnTo>
                    <a:lnTo>
                      <a:pt x="216775" y="207938"/>
                    </a:lnTo>
                    <a:lnTo>
                      <a:pt x="249326" y="207938"/>
                    </a:lnTo>
                    <a:close/>
                    <a:moveTo>
                      <a:pt x="130781" y="132148"/>
                    </a:moveTo>
                    <a:lnTo>
                      <a:pt x="136126" y="137492"/>
                    </a:lnTo>
                    <a:lnTo>
                      <a:pt x="131267" y="132148"/>
                    </a:lnTo>
                    <a:cubicBezTo>
                      <a:pt x="152158" y="112714"/>
                      <a:pt x="176936" y="100568"/>
                      <a:pt x="204629" y="95224"/>
                    </a:cubicBezTo>
                    <a:cubicBezTo>
                      <a:pt x="206572" y="95224"/>
                      <a:pt x="208029" y="94738"/>
                      <a:pt x="209001" y="94252"/>
                    </a:cubicBezTo>
                    <a:cubicBezTo>
                      <a:pt x="212888" y="93767"/>
                      <a:pt x="216289" y="93281"/>
                      <a:pt x="219690" y="96196"/>
                    </a:cubicBezTo>
                    <a:cubicBezTo>
                      <a:pt x="223090" y="99111"/>
                      <a:pt x="222605" y="102998"/>
                      <a:pt x="222605" y="106398"/>
                    </a:cubicBezTo>
                    <a:lnTo>
                      <a:pt x="221633" y="124374"/>
                    </a:lnTo>
                    <a:cubicBezTo>
                      <a:pt x="220661" y="140407"/>
                      <a:pt x="219690" y="156925"/>
                      <a:pt x="218718" y="172958"/>
                    </a:cubicBezTo>
                    <a:cubicBezTo>
                      <a:pt x="218718" y="180246"/>
                      <a:pt x="214345" y="186076"/>
                      <a:pt x="208029" y="188991"/>
                    </a:cubicBezTo>
                    <a:cubicBezTo>
                      <a:pt x="205600" y="190448"/>
                      <a:pt x="202685" y="190934"/>
                      <a:pt x="199770" y="190934"/>
                    </a:cubicBezTo>
                    <a:cubicBezTo>
                      <a:pt x="195884" y="190934"/>
                      <a:pt x="191997" y="189477"/>
                      <a:pt x="188596" y="187533"/>
                    </a:cubicBezTo>
                    <a:cubicBezTo>
                      <a:pt x="179365" y="180731"/>
                      <a:pt x="169648" y="174416"/>
                      <a:pt x="160417" y="167614"/>
                    </a:cubicBezTo>
                    <a:cubicBezTo>
                      <a:pt x="151187" y="160812"/>
                      <a:pt x="141470" y="154496"/>
                      <a:pt x="132239" y="147695"/>
                    </a:cubicBezTo>
                    <a:cubicBezTo>
                      <a:pt x="129324" y="145751"/>
                      <a:pt x="127866" y="143322"/>
                      <a:pt x="127380" y="140407"/>
                    </a:cubicBezTo>
                    <a:cubicBezTo>
                      <a:pt x="127380" y="136034"/>
                      <a:pt x="129810" y="133605"/>
                      <a:pt x="131267" y="132634"/>
                    </a:cubicBezTo>
                    <a:close/>
                    <a:moveTo>
                      <a:pt x="85113" y="256522"/>
                    </a:moveTo>
                    <a:cubicBezTo>
                      <a:pt x="83169" y="246805"/>
                      <a:pt x="83655" y="237574"/>
                      <a:pt x="84141" y="229801"/>
                    </a:cubicBezTo>
                    <a:cubicBezTo>
                      <a:pt x="85598" y="206967"/>
                      <a:pt x="92400" y="185590"/>
                      <a:pt x="103574" y="166156"/>
                    </a:cubicBezTo>
                    <a:cubicBezTo>
                      <a:pt x="104546" y="164699"/>
                      <a:pt x="106489" y="160812"/>
                      <a:pt x="110862" y="160326"/>
                    </a:cubicBezTo>
                    <a:cubicBezTo>
                      <a:pt x="115235" y="159841"/>
                      <a:pt x="118150" y="162270"/>
                      <a:pt x="119607" y="163241"/>
                    </a:cubicBezTo>
                    <a:cubicBezTo>
                      <a:pt x="136126" y="178302"/>
                      <a:pt x="152644" y="192877"/>
                      <a:pt x="169162" y="207453"/>
                    </a:cubicBezTo>
                    <a:cubicBezTo>
                      <a:pt x="175964" y="213283"/>
                      <a:pt x="178393" y="220084"/>
                      <a:pt x="176450" y="227858"/>
                    </a:cubicBezTo>
                    <a:cubicBezTo>
                      <a:pt x="174021" y="239032"/>
                      <a:pt x="164304" y="241461"/>
                      <a:pt x="160903" y="242433"/>
                    </a:cubicBezTo>
                    <a:cubicBezTo>
                      <a:pt x="144871" y="246805"/>
                      <a:pt x="128838" y="251664"/>
                      <a:pt x="112320" y="256522"/>
                    </a:cubicBezTo>
                    <a:lnTo>
                      <a:pt x="86570" y="263810"/>
                    </a:lnTo>
                    <a:lnTo>
                      <a:pt x="85113" y="256036"/>
                    </a:lnTo>
                    <a:close/>
                    <a:moveTo>
                      <a:pt x="164790" y="358062"/>
                    </a:moveTo>
                    <a:cubicBezTo>
                      <a:pt x="164790" y="358062"/>
                      <a:pt x="162361" y="363892"/>
                      <a:pt x="157988" y="365350"/>
                    </a:cubicBezTo>
                    <a:cubicBezTo>
                      <a:pt x="157017" y="365350"/>
                      <a:pt x="156045" y="365350"/>
                      <a:pt x="155559" y="365350"/>
                    </a:cubicBezTo>
                    <a:cubicBezTo>
                      <a:pt x="152158" y="365350"/>
                      <a:pt x="149729" y="363406"/>
                      <a:pt x="148271" y="362435"/>
                    </a:cubicBezTo>
                    <a:cubicBezTo>
                      <a:pt x="123980" y="345430"/>
                      <a:pt x="105518" y="322596"/>
                      <a:pt x="94344" y="294903"/>
                    </a:cubicBezTo>
                    <a:cubicBezTo>
                      <a:pt x="93372" y="292960"/>
                      <a:pt x="91914" y="289073"/>
                      <a:pt x="94344" y="285672"/>
                    </a:cubicBezTo>
                    <a:cubicBezTo>
                      <a:pt x="95801" y="283243"/>
                      <a:pt x="98230" y="281300"/>
                      <a:pt x="102117" y="280814"/>
                    </a:cubicBezTo>
                    <a:cubicBezTo>
                      <a:pt x="119121" y="277899"/>
                      <a:pt x="136611" y="274984"/>
                      <a:pt x="153616" y="272069"/>
                    </a:cubicBezTo>
                    <a:lnTo>
                      <a:pt x="172563" y="269154"/>
                    </a:lnTo>
                    <a:cubicBezTo>
                      <a:pt x="178393" y="268668"/>
                      <a:pt x="183738" y="271583"/>
                      <a:pt x="187624" y="275956"/>
                    </a:cubicBezTo>
                    <a:cubicBezTo>
                      <a:pt x="191511" y="280328"/>
                      <a:pt x="192969" y="286158"/>
                      <a:pt x="191997" y="291988"/>
                    </a:cubicBezTo>
                    <a:lnTo>
                      <a:pt x="191997" y="291988"/>
                    </a:lnTo>
                    <a:cubicBezTo>
                      <a:pt x="191997" y="291988"/>
                      <a:pt x="190539" y="296361"/>
                      <a:pt x="190053" y="298790"/>
                    </a:cubicBezTo>
                    <a:lnTo>
                      <a:pt x="182766" y="316766"/>
                    </a:lnTo>
                    <a:cubicBezTo>
                      <a:pt x="176936" y="330369"/>
                      <a:pt x="171592" y="343973"/>
                      <a:pt x="165762" y="358062"/>
                    </a:cubicBezTo>
                    <a:close/>
                    <a:moveTo>
                      <a:pt x="283820" y="377010"/>
                    </a:moveTo>
                    <a:cubicBezTo>
                      <a:pt x="281877" y="381382"/>
                      <a:pt x="277504" y="382840"/>
                      <a:pt x="276047" y="383326"/>
                    </a:cubicBezTo>
                    <a:cubicBezTo>
                      <a:pt x="261472" y="387212"/>
                      <a:pt x="247382" y="389642"/>
                      <a:pt x="232807" y="389642"/>
                    </a:cubicBezTo>
                    <a:cubicBezTo>
                      <a:pt x="217746" y="389642"/>
                      <a:pt x="203171" y="387212"/>
                      <a:pt x="188596" y="382840"/>
                    </a:cubicBezTo>
                    <a:cubicBezTo>
                      <a:pt x="187138" y="382840"/>
                      <a:pt x="183252" y="381382"/>
                      <a:pt x="181308" y="377010"/>
                    </a:cubicBezTo>
                    <a:cubicBezTo>
                      <a:pt x="179851" y="373123"/>
                      <a:pt x="181308" y="369236"/>
                      <a:pt x="182280" y="367779"/>
                    </a:cubicBezTo>
                    <a:cubicBezTo>
                      <a:pt x="189082" y="355633"/>
                      <a:pt x="195398" y="343973"/>
                      <a:pt x="202199" y="331827"/>
                    </a:cubicBezTo>
                    <a:lnTo>
                      <a:pt x="214831" y="308993"/>
                    </a:lnTo>
                    <a:cubicBezTo>
                      <a:pt x="218718" y="302191"/>
                      <a:pt x="225034" y="298304"/>
                      <a:pt x="231836" y="298304"/>
                    </a:cubicBezTo>
                    <a:lnTo>
                      <a:pt x="231836" y="298304"/>
                    </a:lnTo>
                    <a:cubicBezTo>
                      <a:pt x="238637" y="298304"/>
                      <a:pt x="244953" y="302191"/>
                      <a:pt x="248840" y="308993"/>
                    </a:cubicBezTo>
                    <a:cubicBezTo>
                      <a:pt x="254670" y="318709"/>
                      <a:pt x="260014" y="328912"/>
                      <a:pt x="265358" y="338629"/>
                    </a:cubicBezTo>
                    <a:lnTo>
                      <a:pt x="274589" y="355633"/>
                    </a:lnTo>
                    <a:cubicBezTo>
                      <a:pt x="276533" y="359520"/>
                      <a:pt x="278962" y="363406"/>
                      <a:pt x="280905" y="367293"/>
                    </a:cubicBezTo>
                    <a:cubicBezTo>
                      <a:pt x="281877" y="368751"/>
                      <a:pt x="284306" y="372637"/>
                      <a:pt x="282363" y="377010"/>
                    </a:cubicBezTo>
                    <a:close/>
                    <a:moveTo>
                      <a:pt x="371757" y="294417"/>
                    </a:moveTo>
                    <a:cubicBezTo>
                      <a:pt x="360582" y="323082"/>
                      <a:pt x="341635" y="346402"/>
                      <a:pt x="316857" y="363892"/>
                    </a:cubicBezTo>
                    <a:cubicBezTo>
                      <a:pt x="315885" y="364378"/>
                      <a:pt x="313456" y="366321"/>
                      <a:pt x="310541" y="366321"/>
                    </a:cubicBezTo>
                    <a:cubicBezTo>
                      <a:pt x="309569" y="366321"/>
                      <a:pt x="309084" y="366321"/>
                      <a:pt x="308112" y="366321"/>
                    </a:cubicBezTo>
                    <a:cubicBezTo>
                      <a:pt x="303739" y="364864"/>
                      <a:pt x="302282" y="360977"/>
                      <a:pt x="301796" y="360005"/>
                    </a:cubicBezTo>
                    <a:cubicBezTo>
                      <a:pt x="294994" y="343487"/>
                      <a:pt x="288193" y="326969"/>
                      <a:pt x="281391" y="310450"/>
                    </a:cubicBezTo>
                    <a:lnTo>
                      <a:pt x="275561" y="296361"/>
                    </a:lnTo>
                    <a:cubicBezTo>
                      <a:pt x="275561" y="296361"/>
                      <a:pt x="273618" y="291017"/>
                      <a:pt x="274103" y="287616"/>
                    </a:cubicBezTo>
                    <a:cubicBezTo>
                      <a:pt x="274103" y="282757"/>
                      <a:pt x="276533" y="277413"/>
                      <a:pt x="280905" y="273526"/>
                    </a:cubicBezTo>
                    <a:cubicBezTo>
                      <a:pt x="285278" y="270126"/>
                      <a:pt x="290622" y="268668"/>
                      <a:pt x="296452" y="269640"/>
                    </a:cubicBezTo>
                    <a:lnTo>
                      <a:pt x="363983" y="281300"/>
                    </a:lnTo>
                    <a:cubicBezTo>
                      <a:pt x="363983" y="281300"/>
                      <a:pt x="369328" y="282272"/>
                      <a:pt x="371757" y="286158"/>
                    </a:cubicBezTo>
                    <a:cubicBezTo>
                      <a:pt x="373214" y="288587"/>
                      <a:pt x="373214" y="291502"/>
                      <a:pt x="371757" y="294903"/>
                    </a:cubicBezTo>
                    <a:lnTo>
                      <a:pt x="371757" y="294903"/>
                    </a:lnTo>
                    <a:close/>
                    <a:moveTo>
                      <a:pt x="380988" y="253121"/>
                    </a:moveTo>
                    <a:cubicBezTo>
                      <a:pt x="380988" y="256522"/>
                      <a:pt x="379530" y="258951"/>
                      <a:pt x="377101" y="260409"/>
                    </a:cubicBezTo>
                    <a:cubicBezTo>
                      <a:pt x="375643" y="261380"/>
                      <a:pt x="373700" y="261866"/>
                      <a:pt x="372242" y="261866"/>
                    </a:cubicBezTo>
                    <a:cubicBezTo>
                      <a:pt x="370785" y="261866"/>
                      <a:pt x="369328" y="261866"/>
                      <a:pt x="368842" y="261380"/>
                    </a:cubicBezTo>
                    <a:lnTo>
                      <a:pt x="347465" y="255065"/>
                    </a:lnTo>
                    <a:cubicBezTo>
                      <a:pt x="332404" y="250692"/>
                      <a:pt x="317829" y="246320"/>
                      <a:pt x="302768" y="241947"/>
                    </a:cubicBezTo>
                    <a:cubicBezTo>
                      <a:pt x="295480" y="240004"/>
                      <a:pt x="290136" y="234659"/>
                      <a:pt x="288678" y="227858"/>
                    </a:cubicBezTo>
                    <a:cubicBezTo>
                      <a:pt x="287221" y="221056"/>
                      <a:pt x="289650" y="213768"/>
                      <a:pt x="295480" y="208910"/>
                    </a:cubicBezTo>
                    <a:lnTo>
                      <a:pt x="346007" y="163727"/>
                    </a:lnTo>
                    <a:cubicBezTo>
                      <a:pt x="346007" y="163727"/>
                      <a:pt x="350380" y="159841"/>
                      <a:pt x="354752" y="160812"/>
                    </a:cubicBezTo>
                    <a:cubicBezTo>
                      <a:pt x="359125" y="161298"/>
                      <a:pt x="361068" y="165185"/>
                      <a:pt x="362040" y="166642"/>
                    </a:cubicBezTo>
                    <a:cubicBezTo>
                      <a:pt x="373214" y="186076"/>
                      <a:pt x="380016" y="206967"/>
                      <a:pt x="381473" y="228829"/>
                    </a:cubicBezTo>
                    <a:cubicBezTo>
                      <a:pt x="381473" y="234174"/>
                      <a:pt x="382445" y="238060"/>
                      <a:pt x="381959" y="241947"/>
                    </a:cubicBezTo>
                    <a:cubicBezTo>
                      <a:pt x="381959" y="246320"/>
                      <a:pt x="381959" y="249720"/>
                      <a:pt x="381473" y="253607"/>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7" name="Google Shape;15127;p96"/>
              <p:cNvSpPr/>
              <p:nvPr/>
            </p:nvSpPr>
            <p:spPr>
              <a:xfrm>
                <a:off x="624431" y="1107698"/>
                <a:ext cx="682601" cy="664625"/>
              </a:xfrm>
              <a:custGeom>
                <a:avLst/>
                <a:gdLst/>
                <a:ahLst/>
                <a:cxnLst/>
                <a:rect l="l" t="t" r="r" b="b"/>
                <a:pathLst>
                  <a:path w="682601" h="664625" extrusionOk="0">
                    <a:moveTo>
                      <a:pt x="614584" y="131662"/>
                    </a:moveTo>
                    <a:lnTo>
                      <a:pt x="341058" y="0"/>
                    </a:lnTo>
                    <a:lnTo>
                      <a:pt x="67531" y="131662"/>
                    </a:lnTo>
                    <a:lnTo>
                      <a:pt x="0" y="427537"/>
                    </a:lnTo>
                    <a:lnTo>
                      <a:pt x="189477" y="664626"/>
                    </a:lnTo>
                    <a:lnTo>
                      <a:pt x="493125" y="664626"/>
                    </a:lnTo>
                    <a:lnTo>
                      <a:pt x="682601" y="427537"/>
                    </a:lnTo>
                    <a:lnTo>
                      <a:pt x="615070" y="131662"/>
                    </a:lnTo>
                    <a:close/>
                    <a:moveTo>
                      <a:pt x="584462" y="407618"/>
                    </a:moveTo>
                    <a:cubicBezTo>
                      <a:pt x="579118" y="413933"/>
                      <a:pt x="571831" y="416848"/>
                      <a:pt x="563085" y="415877"/>
                    </a:cubicBezTo>
                    <a:cubicBezTo>
                      <a:pt x="557255" y="414905"/>
                      <a:pt x="551911" y="412962"/>
                      <a:pt x="547053" y="411018"/>
                    </a:cubicBezTo>
                    <a:cubicBezTo>
                      <a:pt x="544624" y="410047"/>
                      <a:pt x="542680" y="409075"/>
                      <a:pt x="540251" y="408103"/>
                    </a:cubicBezTo>
                    <a:cubicBezTo>
                      <a:pt x="533935" y="406160"/>
                      <a:pt x="529077" y="404217"/>
                      <a:pt x="523733" y="403245"/>
                    </a:cubicBezTo>
                    <a:cubicBezTo>
                      <a:pt x="519846" y="405188"/>
                      <a:pt x="516931" y="405674"/>
                      <a:pt x="514988" y="405674"/>
                    </a:cubicBezTo>
                    <a:cubicBezTo>
                      <a:pt x="508186" y="424136"/>
                      <a:pt x="498955" y="441626"/>
                      <a:pt x="486809" y="457173"/>
                    </a:cubicBezTo>
                    <a:cubicBezTo>
                      <a:pt x="473691" y="474177"/>
                      <a:pt x="458145" y="488267"/>
                      <a:pt x="440654" y="498955"/>
                    </a:cubicBezTo>
                    <a:cubicBezTo>
                      <a:pt x="441140" y="501870"/>
                      <a:pt x="440654" y="504299"/>
                      <a:pt x="440169" y="505757"/>
                    </a:cubicBezTo>
                    <a:cubicBezTo>
                      <a:pt x="440169" y="506728"/>
                      <a:pt x="439683" y="507700"/>
                      <a:pt x="441626" y="511101"/>
                    </a:cubicBezTo>
                    <a:cubicBezTo>
                      <a:pt x="445027" y="517903"/>
                      <a:pt x="449400" y="524704"/>
                      <a:pt x="454258" y="531992"/>
                    </a:cubicBezTo>
                    <a:cubicBezTo>
                      <a:pt x="457173" y="536364"/>
                      <a:pt x="460574" y="541223"/>
                      <a:pt x="462031" y="547539"/>
                    </a:cubicBezTo>
                    <a:cubicBezTo>
                      <a:pt x="464461" y="557255"/>
                      <a:pt x="460574" y="566972"/>
                      <a:pt x="452315" y="571831"/>
                    </a:cubicBezTo>
                    <a:cubicBezTo>
                      <a:pt x="444055" y="576689"/>
                      <a:pt x="433853" y="574746"/>
                      <a:pt x="426565" y="567458"/>
                    </a:cubicBezTo>
                    <a:cubicBezTo>
                      <a:pt x="421707" y="562114"/>
                      <a:pt x="419763" y="556284"/>
                      <a:pt x="417820" y="550454"/>
                    </a:cubicBezTo>
                    <a:cubicBezTo>
                      <a:pt x="415391" y="542680"/>
                      <a:pt x="412476" y="532964"/>
                      <a:pt x="408103" y="524218"/>
                    </a:cubicBezTo>
                    <a:cubicBezTo>
                      <a:pt x="407132" y="522275"/>
                      <a:pt x="406646" y="522275"/>
                      <a:pt x="406160" y="522275"/>
                    </a:cubicBezTo>
                    <a:cubicBezTo>
                      <a:pt x="402759" y="521303"/>
                      <a:pt x="400816" y="519846"/>
                      <a:pt x="399844" y="518388"/>
                    </a:cubicBezTo>
                    <a:cubicBezTo>
                      <a:pt x="360005" y="531506"/>
                      <a:pt x="320167" y="531506"/>
                      <a:pt x="280814" y="518388"/>
                    </a:cubicBezTo>
                    <a:cubicBezTo>
                      <a:pt x="278871" y="521303"/>
                      <a:pt x="275956" y="522275"/>
                      <a:pt x="274498" y="522761"/>
                    </a:cubicBezTo>
                    <a:cubicBezTo>
                      <a:pt x="274012" y="522761"/>
                      <a:pt x="273526" y="522761"/>
                      <a:pt x="272069" y="526162"/>
                    </a:cubicBezTo>
                    <a:cubicBezTo>
                      <a:pt x="268668" y="533449"/>
                      <a:pt x="265753" y="541709"/>
                      <a:pt x="263324" y="550454"/>
                    </a:cubicBezTo>
                    <a:cubicBezTo>
                      <a:pt x="261866" y="555312"/>
                      <a:pt x="259923" y="559685"/>
                      <a:pt x="257980" y="563571"/>
                    </a:cubicBezTo>
                    <a:cubicBezTo>
                      <a:pt x="253607" y="570859"/>
                      <a:pt x="246320" y="574746"/>
                      <a:pt x="239032" y="574746"/>
                    </a:cubicBezTo>
                    <a:cubicBezTo>
                      <a:pt x="236117" y="574746"/>
                      <a:pt x="233202" y="574260"/>
                      <a:pt x="230287" y="572802"/>
                    </a:cubicBezTo>
                    <a:cubicBezTo>
                      <a:pt x="220570" y="567944"/>
                      <a:pt x="216198" y="556284"/>
                      <a:pt x="220084" y="545595"/>
                    </a:cubicBezTo>
                    <a:cubicBezTo>
                      <a:pt x="222028" y="540251"/>
                      <a:pt x="224943" y="535879"/>
                      <a:pt x="227372" y="532478"/>
                    </a:cubicBezTo>
                    <a:cubicBezTo>
                      <a:pt x="233202" y="524218"/>
                      <a:pt x="237574" y="516931"/>
                      <a:pt x="240975" y="510129"/>
                    </a:cubicBezTo>
                    <a:cubicBezTo>
                      <a:pt x="241947" y="508186"/>
                      <a:pt x="241947" y="507700"/>
                      <a:pt x="241461" y="507214"/>
                    </a:cubicBezTo>
                    <a:cubicBezTo>
                      <a:pt x="240004" y="504299"/>
                      <a:pt x="240004" y="501384"/>
                      <a:pt x="240975" y="498955"/>
                    </a:cubicBezTo>
                    <a:cubicBezTo>
                      <a:pt x="205995" y="476121"/>
                      <a:pt x="181217" y="445027"/>
                      <a:pt x="166642" y="406160"/>
                    </a:cubicBezTo>
                    <a:cubicBezTo>
                      <a:pt x="163241" y="406160"/>
                      <a:pt x="160326" y="404703"/>
                      <a:pt x="157897" y="403245"/>
                    </a:cubicBezTo>
                    <a:cubicBezTo>
                      <a:pt x="157897" y="403245"/>
                      <a:pt x="156440" y="403245"/>
                      <a:pt x="155468" y="403731"/>
                    </a:cubicBezTo>
                    <a:cubicBezTo>
                      <a:pt x="147209" y="405674"/>
                      <a:pt x="139921" y="408103"/>
                      <a:pt x="131176" y="411990"/>
                    </a:cubicBezTo>
                    <a:cubicBezTo>
                      <a:pt x="125832" y="414419"/>
                      <a:pt x="120002" y="416363"/>
                      <a:pt x="113200" y="416363"/>
                    </a:cubicBezTo>
                    <a:cubicBezTo>
                      <a:pt x="102512" y="416363"/>
                      <a:pt x="93767" y="409561"/>
                      <a:pt x="91823" y="399844"/>
                    </a:cubicBezTo>
                    <a:cubicBezTo>
                      <a:pt x="89880" y="390127"/>
                      <a:pt x="95710" y="379925"/>
                      <a:pt x="104941" y="376038"/>
                    </a:cubicBezTo>
                    <a:cubicBezTo>
                      <a:pt x="109799" y="374095"/>
                      <a:pt x="114658" y="373123"/>
                      <a:pt x="120974" y="372637"/>
                    </a:cubicBezTo>
                    <a:cubicBezTo>
                      <a:pt x="129719" y="372637"/>
                      <a:pt x="138464" y="371180"/>
                      <a:pt x="146723" y="369236"/>
                    </a:cubicBezTo>
                    <a:cubicBezTo>
                      <a:pt x="149638" y="368751"/>
                      <a:pt x="150124" y="368265"/>
                      <a:pt x="150124" y="367779"/>
                    </a:cubicBezTo>
                    <a:cubicBezTo>
                      <a:pt x="151095" y="365836"/>
                      <a:pt x="152553" y="363892"/>
                      <a:pt x="155468" y="362435"/>
                    </a:cubicBezTo>
                    <a:cubicBezTo>
                      <a:pt x="151095" y="321138"/>
                      <a:pt x="159840" y="282271"/>
                      <a:pt x="181703" y="246320"/>
                    </a:cubicBezTo>
                    <a:cubicBezTo>
                      <a:pt x="180246" y="244376"/>
                      <a:pt x="179274" y="241947"/>
                      <a:pt x="179274" y="239518"/>
                    </a:cubicBezTo>
                    <a:cubicBezTo>
                      <a:pt x="179274" y="238546"/>
                      <a:pt x="179274" y="238060"/>
                      <a:pt x="175873" y="235631"/>
                    </a:cubicBezTo>
                    <a:cubicBezTo>
                      <a:pt x="170043" y="231259"/>
                      <a:pt x="163241" y="226886"/>
                      <a:pt x="155954" y="222999"/>
                    </a:cubicBezTo>
                    <a:cubicBezTo>
                      <a:pt x="151581" y="220570"/>
                      <a:pt x="146723" y="217655"/>
                      <a:pt x="142350" y="213283"/>
                    </a:cubicBezTo>
                    <a:cubicBezTo>
                      <a:pt x="134577" y="205509"/>
                      <a:pt x="133119" y="193363"/>
                      <a:pt x="139921" y="185104"/>
                    </a:cubicBezTo>
                    <a:cubicBezTo>
                      <a:pt x="146237" y="176359"/>
                      <a:pt x="158383" y="174416"/>
                      <a:pt x="168100" y="180246"/>
                    </a:cubicBezTo>
                    <a:cubicBezTo>
                      <a:pt x="173444" y="183161"/>
                      <a:pt x="177331" y="187533"/>
                      <a:pt x="181217" y="191906"/>
                    </a:cubicBezTo>
                    <a:cubicBezTo>
                      <a:pt x="187533" y="199193"/>
                      <a:pt x="193363" y="204538"/>
                      <a:pt x="199193" y="208910"/>
                    </a:cubicBezTo>
                    <a:cubicBezTo>
                      <a:pt x="199193" y="208910"/>
                      <a:pt x="200651" y="210368"/>
                      <a:pt x="201137" y="209882"/>
                    </a:cubicBezTo>
                    <a:cubicBezTo>
                      <a:pt x="204052" y="208910"/>
                      <a:pt x="206481" y="209882"/>
                      <a:pt x="208910" y="210853"/>
                    </a:cubicBezTo>
                    <a:cubicBezTo>
                      <a:pt x="239518" y="181217"/>
                      <a:pt x="274984" y="164213"/>
                      <a:pt x="316280" y="159355"/>
                    </a:cubicBezTo>
                    <a:cubicBezTo>
                      <a:pt x="316280" y="159355"/>
                      <a:pt x="316280" y="159355"/>
                      <a:pt x="316280" y="159355"/>
                    </a:cubicBezTo>
                    <a:cubicBezTo>
                      <a:pt x="316766" y="156925"/>
                      <a:pt x="318709" y="154010"/>
                      <a:pt x="320653" y="152067"/>
                    </a:cubicBezTo>
                    <a:cubicBezTo>
                      <a:pt x="320653" y="152067"/>
                      <a:pt x="320653" y="152067"/>
                      <a:pt x="320653" y="150610"/>
                    </a:cubicBezTo>
                    <a:cubicBezTo>
                      <a:pt x="320653" y="141379"/>
                      <a:pt x="319195" y="132148"/>
                      <a:pt x="317738" y="123889"/>
                    </a:cubicBezTo>
                    <a:cubicBezTo>
                      <a:pt x="316766" y="118058"/>
                      <a:pt x="316766" y="113200"/>
                      <a:pt x="317252" y="108828"/>
                    </a:cubicBezTo>
                    <a:cubicBezTo>
                      <a:pt x="318709" y="97167"/>
                      <a:pt x="327454" y="88908"/>
                      <a:pt x="339114" y="89394"/>
                    </a:cubicBezTo>
                    <a:cubicBezTo>
                      <a:pt x="348831" y="89394"/>
                      <a:pt x="357090" y="97653"/>
                      <a:pt x="358548" y="107370"/>
                    </a:cubicBezTo>
                    <a:lnTo>
                      <a:pt x="360977" y="107370"/>
                    </a:lnTo>
                    <a:lnTo>
                      <a:pt x="358062" y="122431"/>
                    </a:lnTo>
                    <a:cubicBezTo>
                      <a:pt x="357576" y="128261"/>
                      <a:pt x="356605" y="134091"/>
                      <a:pt x="355633" y="139921"/>
                    </a:cubicBezTo>
                    <a:cubicBezTo>
                      <a:pt x="355633" y="143322"/>
                      <a:pt x="355633" y="146723"/>
                      <a:pt x="355633" y="150124"/>
                    </a:cubicBezTo>
                    <a:lnTo>
                      <a:pt x="355633" y="152553"/>
                    </a:lnTo>
                    <a:cubicBezTo>
                      <a:pt x="355633" y="152553"/>
                      <a:pt x="359034" y="155954"/>
                      <a:pt x="360005" y="159840"/>
                    </a:cubicBezTo>
                    <a:cubicBezTo>
                      <a:pt x="374095" y="161784"/>
                      <a:pt x="385755" y="164213"/>
                      <a:pt x="396443" y="168100"/>
                    </a:cubicBezTo>
                    <a:cubicBezTo>
                      <a:pt x="423164" y="177331"/>
                      <a:pt x="446970" y="191906"/>
                      <a:pt x="467376" y="211339"/>
                    </a:cubicBezTo>
                    <a:cubicBezTo>
                      <a:pt x="469805" y="209882"/>
                      <a:pt x="472234" y="209396"/>
                      <a:pt x="475149" y="209882"/>
                    </a:cubicBezTo>
                    <a:cubicBezTo>
                      <a:pt x="475149" y="209882"/>
                      <a:pt x="476121" y="209882"/>
                      <a:pt x="478550" y="207938"/>
                    </a:cubicBezTo>
                    <a:cubicBezTo>
                      <a:pt x="484380" y="203080"/>
                      <a:pt x="490210" y="197250"/>
                      <a:pt x="496040" y="190934"/>
                    </a:cubicBezTo>
                    <a:cubicBezTo>
                      <a:pt x="499441" y="187047"/>
                      <a:pt x="503328" y="182675"/>
                      <a:pt x="508672" y="179760"/>
                    </a:cubicBezTo>
                    <a:cubicBezTo>
                      <a:pt x="514988" y="175873"/>
                      <a:pt x="522761" y="175387"/>
                      <a:pt x="529563" y="178302"/>
                    </a:cubicBezTo>
                    <a:cubicBezTo>
                      <a:pt x="535393" y="181217"/>
                      <a:pt x="539765" y="186562"/>
                      <a:pt x="541223" y="193363"/>
                    </a:cubicBezTo>
                    <a:cubicBezTo>
                      <a:pt x="542195" y="198707"/>
                      <a:pt x="541223" y="205995"/>
                      <a:pt x="533935" y="213768"/>
                    </a:cubicBezTo>
                    <a:cubicBezTo>
                      <a:pt x="530049" y="217655"/>
                      <a:pt x="525190" y="220570"/>
                      <a:pt x="520818" y="222513"/>
                    </a:cubicBezTo>
                    <a:cubicBezTo>
                      <a:pt x="512073" y="227372"/>
                      <a:pt x="505271" y="231744"/>
                      <a:pt x="499927" y="236603"/>
                    </a:cubicBezTo>
                    <a:cubicBezTo>
                      <a:pt x="498469" y="238060"/>
                      <a:pt x="498469" y="238546"/>
                      <a:pt x="498469" y="239032"/>
                    </a:cubicBezTo>
                    <a:cubicBezTo>
                      <a:pt x="498469" y="241947"/>
                      <a:pt x="497497" y="244376"/>
                      <a:pt x="495554" y="246320"/>
                    </a:cubicBezTo>
                    <a:cubicBezTo>
                      <a:pt x="512073" y="273526"/>
                      <a:pt x="521303" y="302677"/>
                      <a:pt x="523247" y="333770"/>
                    </a:cubicBezTo>
                    <a:cubicBezTo>
                      <a:pt x="523733" y="343001"/>
                      <a:pt x="523247" y="352232"/>
                      <a:pt x="522275" y="361949"/>
                    </a:cubicBezTo>
                    <a:cubicBezTo>
                      <a:pt x="525190" y="362921"/>
                      <a:pt x="526162" y="365350"/>
                      <a:pt x="527134" y="366321"/>
                    </a:cubicBezTo>
                    <a:cubicBezTo>
                      <a:pt x="528105" y="368265"/>
                      <a:pt x="529563" y="368751"/>
                      <a:pt x="534907" y="369236"/>
                    </a:cubicBezTo>
                    <a:cubicBezTo>
                      <a:pt x="541709" y="370208"/>
                      <a:pt x="546567" y="370694"/>
                      <a:pt x="551911" y="371180"/>
                    </a:cubicBezTo>
                    <a:cubicBezTo>
                      <a:pt x="556770" y="371666"/>
                      <a:pt x="561628" y="372151"/>
                      <a:pt x="566972" y="373123"/>
                    </a:cubicBezTo>
                    <a:cubicBezTo>
                      <a:pt x="575231" y="374095"/>
                      <a:pt x="581547" y="378953"/>
                      <a:pt x="584948" y="386241"/>
                    </a:cubicBezTo>
                    <a:lnTo>
                      <a:pt x="584948" y="386241"/>
                    </a:lnTo>
                    <a:cubicBezTo>
                      <a:pt x="588349" y="393528"/>
                      <a:pt x="587377" y="400816"/>
                      <a:pt x="582519" y="407132"/>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8" name="Google Shape;15128;p96"/>
              <p:cNvSpPr/>
              <p:nvPr/>
            </p:nvSpPr>
            <p:spPr>
              <a:xfrm>
                <a:off x="1099094" y="1462359"/>
                <a:ext cx="7287" cy="485"/>
              </a:xfrm>
              <a:custGeom>
                <a:avLst/>
                <a:gdLst/>
                <a:ahLst/>
                <a:cxnLst/>
                <a:rect l="l" t="t" r="r" b="b"/>
                <a:pathLst>
                  <a:path w="7287" h="485" extrusionOk="0">
                    <a:moveTo>
                      <a:pt x="0" y="0"/>
                    </a:moveTo>
                    <a:lnTo>
                      <a:pt x="7288" y="486"/>
                    </a:lnTo>
                    <a:lnTo>
                      <a:pt x="0" y="0"/>
                    </a:lnTo>
                    <a:lnTo>
                      <a:pt x="0" y="0"/>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29" name="Google Shape;15129;p96"/>
              <p:cNvSpPr/>
              <p:nvPr/>
            </p:nvSpPr>
            <p:spPr>
              <a:xfrm>
                <a:off x="952371" y="1440011"/>
                <a:ext cx="26235" cy="25749"/>
              </a:xfrm>
              <a:custGeom>
                <a:avLst/>
                <a:gdLst/>
                <a:ahLst/>
                <a:cxnLst/>
                <a:rect l="l" t="t" r="r" b="b"/>
                <a:pathLst>
                  <a:path w="26235" h="25749" extrusionOk="0">
                    <a:moveTo>
                      <a:pt x="13118" y="25749"/>
                    </a:moveTo>
                    <a:lnTo>
                      <a:pt x="23806" y="20405"/>
                    </a:lnTo>
                    <a:lnTo>
                      <a:pt x="26235" y="9231"/>
                    </a:lnTo>
                    <a:lnTo>
                      <a:pt x="18948" y="0"/>
                    </a:lnTo>
                    <a:lnTo>
                      <a:pt x="7288" y="0"/>
                    </a:lnTo>
                    <a:lnTo>
                      <a:pt x="0" y="9231"/>
                    </a:lnTo>
                    <a:lnTo>
                      <a:pt x="2429" y="20405"/>
                    </a:lnTo>
                    <a:lnTo>
                      <a:pt x="13118" y="25749"/>
                    </a:ln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30" name="Google Shape;15130;p96"/>
              <p:cNvSpPr/>
              <p:nvPr/>
            </p:nvSpPr>
            <p:spPr>
              <a:xfrm>
                <a:off x="1035871" y="1388512"/>
                <a:ext cx="63708" cy="67045"/>
              </a:xfrm>
              <a:custGeom>
                <a:avLst/>
                <a:gdLst/>
                <a:ahLst/>
                <a:cxnLst/>
                <a:rect l="l" t="t" r="r" b="b"/>
                <a:pathLst>
                  <a:path w="63708" h="67045" extrusionOk="0">
                    <a:moveTo>
                      <a:pt x="63709" y="63645"/>
                    </a:moveTo>
                    <a:cubicBezTo>
                      <a:pt x="63709" y="59758"/>
                      <a:pt x="63709" y="56357"/>
                      <a:pt x="63223" y="52956"/>
                    </a:cubicBezTo>
                    <a:cubicBezTo>
                      <a:pt x="61766" y="34009"/>
                      <a:pt x="56421" y="16518"/>
                      <a:pt x="48162" y="0"/>
                    </a:cubicBezTo>
                    <a:lnTo>
                      <a:pt x="2008" y="41296"/>
                    </a:lnTo>
                    <a:cubicBezTo>
                      <a:pt x="2008" y="41296"/>
                      <a:pt x="-422" y="44697"/>
                      <a:pt x="64" y="46155"/>
                    </a:cubicBezTo>
                    <a:cubicBezTo>
                      <a:pt x="64" y="47612"/>
                      <a:pt x="2008" y="49070"/>
                      <a:pt x="3951" y="49555"/>
                    </a:cubicBezTo>
                    <a:cubicBezTo>
                      <a:pt x="18526" y="53928"/>
                      <a:pt x="33587" y="58300"/>
                      <a:pt x="48162" y="62673"/>
                    </a:cubicBezTo>
                    <a:lnTo>
                      <a:pt x="63709" y="67046"/>
                    </a:lnTo>
                    <a:cubicBezTo>
                      <a:pt x="63709" y="67046"/>
                      <a:pt x="63709" y="64616"/>
                      <a:pt x="63709" y="63159"/>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15134"/>
        <p:cNvGrpSpPr/>
        <p:nvPr/>
      </p:nvGrpSpPr>
      <p:grpSpPr>
        <a:xfrm>
          <a:off x="0" y="0"/>
          <a:ext cx="0" cy="0"/>
          <a:chOff x="0" y="0"/>
          <a:chExt cx="0" cy="0"/>
        </a:xfrm>
      </p:grpSpPr>
      <p:sp>
        <p:nvSpPr>
          <p:cNvPr id="15135" name="Google Shape;15135;p97"/>
          <p:cNvSpPr txBox="1">
            <a:spLocks noGrp="1"/>
          </p:cNvSpPr>
          <p:nvPr>
            <p:ph type="title"/>
          </p:nvPr>
        </p:nvSpPr>
        <p:spPr>
          <a:xfrm>
            <a:off x="362455" y="183545"/>
            <a:ext cx="11755738"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rgbClr val="005C8A"/>
              </a:buClr>
              <a:buSzPts val="2800"/>
              <a:buNone/>
            </a:pPr>
            <a:r>
              <a:rPr lang="en-US">
                <a:solidFill>
                  <a:srgbClr val="005C8A"/>
                </a:solidFill>
              </a:rPr>
              <a:t>Comprehensive set of Cloud Services for your Cloud Native Applications</a:t>
            </a:r>
            <a:endParaRPr/>
          </a:p>
        </p:txBody>
      </p:sp>
      <p:sp>
        <p:nvSpPr>
          <p:cNvPr id="15136" name="Google Shape;15136;p97"/>
          <p:cNvSpPr txBox="1">
            <a:spLocks noGrp="1"/>
          </p:cNvSpPr>
          <p:nvPr>
            <p:ph type="subTitle" idx="1"/>
          </p:nvPr>
        </p:nvSpPr>
        <p:spPr>
          <a:xfrm>
            <a:off x="534265" y="682772"/>
            <a:ext cx="10959745" cy="247735"/>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Kubernetes, Networking, Data Services and more!</a:t>
            </a:r>
            <a:endParaRPr/>
          </a:p>
        </p:txBody>
      </p:sp>
      <p:sp>
        <p:nvSpPr>
          <p:cNvPr id="15137" name="Google Shape;15137;p97"/>
          <p:cNvSpPr/>
          <p:nvPr/>
        </p:nvSpPr>
        <p:spPr>
          <a:xfrm>
            <a:off x="303890" y="1369200"/>
            <a:ext cx="11611291" cy="4505288"/>
          </a:xfrm>
          <a:prstGeom prst="roundRect">
            <a:avLst>
              <a:gd name="adj" fmla="val 1264"/>
            </a:avLst>
          </a:prstGeom>
          <a:gradFill>
            <a:gsLst>
              <a:gs pos="0">
                <a:srgbClr val="0098C7">
                  <a:alpha val="8235"/>
                </a:srgbClr>
              </a:gs>
              <a:gs pos="43000">
                <a:srgbClr val="0098C7">
                  <a:alpha val="8235"/>
                </a:srgbClr>
              </a:gs>
              <a:gs pos="100000">
                <a:srgbClr val="0098C7">
                  <a:alpha val="0"/>
                </a:srgbClr>
              </a:gs>
            </a:gsLst>
            <a:lin ang="5400000" scaled="0"/>
          </a:gradFill>
          <a:ln>
            <a:noFill/>
          </a:ln>
        </p:spPr>
        <p:txBody>
          <a:bodyPr spcFirstLastPara="1" wrap="square" lIns="121650" tIns="60825" rIns="121650" bIns="60825" anchor="ctr" anchorCtr="0">
            <a:noAutofit/>
          </a:bodyPr>
          <a:lstStyle/>
          <a:p>
            <a:pPr marL="0" marR="0" lvl="0" indent="0" algn="ctr" rtl="0">
              <a:spcBef>
                <a:spcPts val="0"/>
              </a:spcBef>
              <a:spcAft>
                <a:spcPts val="0"/>
              </a:spcAft>
              <a:buNone/>
            </a:pPr>
            <a:endParaRPr sz="667">
              <a:solidFill>
                <a:srgbClr val="FFFFFF"/>
              </a:solidFill>
              <a:latin typeface="Arial"/>
              <a:ea typeface="Arial"/>
              <a:cs typeface="Arial"/>
              <a:sym typeface="Arial"/>
            </a:endParaRPr>
          </a:p>
        </p:txBody>
      </p:sp>
      <p:sp>
        <p:nvSpPr>
          <p:cNvPr id="15138" name="Google Shape;15138;p97"/>
          <p:cNvSpPr/>
          <p:nvPr/>
        </p:nvSpPr>
        <p:spPr>
          <a:xfrm>
            <a:off x="423702" y="4044264"/>
            <a:ext cx="4507826" cy="1831754"/>
          </a:xfrm>
          <a:prstGeom prst="roundRect">
            <a:avLst>
              <a:gd name="adj" fmla="val 1684"/>
            </a:avLst>
          </a:prstGeom>
          <a:solidFill>
            <a:schemeClr val="lt1"/>
          </a:solidFill>
          <a:ln w="9525" cap="flat" cmpd="sng">
            <a:solidFill>
              <a:schemeClr val="accent1"/>
            </a:solidFill>
            <a:prstDash val="solid"/>
            <a:round/>
            <a:headEnd type="none" w="sm" len="sm"/>
            <a:tailEnd type="none" w="sm" len="sm"/>
          </a:ln>
          <a:effectLst>
            <a:outerShdw blurRad="127468" sx="101000" sy="101000" algn="t" rotWithShape="0">
              <a:schemeClr val="accent1">
                <a:alpha val="24313"/>
              </a:schemeClr>
            </a:outerShdw>
          </a:effectLst>
        </p:spPr>
        <p:txBody>
          <a:bodyPr spcFirstLastPara="1" wrap="square" lIns="91200" tIns="45575" rIns="91200" bIns="45575" anchor="ctr" anchorCtr="0">
            <a:noAutofit/>
          </a:bodyPr>
          <a:lstStyle/>
          <a:p>
            <a:pPr marL="0" marR="0" lvl="0" indent="0" algn="ctr" rtl="0">
              <a:spcBef>
                <a:spcPts val="0"/>
              </a:spcBef>
              <a:spcAft>
                <a:spcPts val="0"/>
              </a:spcAft>
              <a:buNone/>
            </a:pPr>
            <a:endParaRPr sz="1200">
              <a:solidFill>
                <a:srgbClr val="6C4B94"/>
              </a:solidFill>
              <a:latin typeface="Arial"/>
              <a:ea typeface="Arial"/>
              <a:cs typeface="Arial"/>
              <a:sym typeface="Arial"/>
            </a:endParaRPr>
          </a:p>
        </p:txBody>
      </p:sp>
      <p:sp>
        <p:nvSpPr>
          <p:cNvPr id="15139" name="Google Shape;15139;p97"/>
          <p:cNvSpPr/>
          <p:nvPr/>
        </p:nvSpPr>
        <p:spPr>
          <a:xfrm>
            <a:off x="2003147" y="4470190"/>
            <a:ext cx="1265125" cy="1149730"/>
          </a:xfrm>
          <a:prstGeom prst="roundRect">
            <a:avLst>
              <a:gd name="adj" fmla="val 3339"/>
            </a:avLst>
          </a:prstGeom>
          <a:solidFill>
            <a:schemeClr val="accent1"/>
          </a:solidFill>
          <a:ln>
            <a:noFill/>
          </a:ln>
        </p:spPr>
        <p:txBody>
          <a:bodyPr spcFirstLastPara="1" wrap="square" lIns="91400" tIns="45675" rIns="91400" bIns="45675" anchor="b" anchorCtr="0">
            <a:noAutofit/>
          </a:bodyPr>
          <a:lstStyle/>
          <a:p>
            <a:pPr marL="0" marR="0" lvl="0" indent="0" algn="ctr" rtl="0">
              <a:spcBef>
                <a:spcPts val="0"/>
              </a:spcBef>
              <a:spcAft>
                <a:spcPts val="0"/>
              </a:spcAft>
              <a:buNone/>
            </a:pPr>
            <a:endParaRPr sz="1200">
              <a:solidFill>
                <a:srgbClr val="000000"/>
              </a:solidFill>
              <a:latin typeface="Arial"/>
              <a:ea typeface="Arial"/>
              <a:cs typeface="Arial"/>
              <a:sym typeface="Arial"/>
            </a:endParaRPr>
          </a:p>
        </p:txBody>
      </p:sp>
      <p:sp>
        <p:nvSpPr>
          <p:cNvPr id="15140" name="Google Shape;15140;p97"/>
          <p:cNvSpPr/>
          <p:nvPr/>
        </p:nvSpPr>
        <p:spPr>
          <a:xfrm>
            <a:off x="3478184" y="4470190"/>
            <a:ext cx="1265125" cy="1149730"/>
          </a:xfrm>
          <a:prstGeom prst="roundRect">
            <a:avLst>
              <a:gd name="adj" fmla="val 3339"/>
            </a:avLst>
          </a:prstGeom>
          <a:solidFill>
            <a:schemeClr val="accent1"/>
          </a:solidFill>
          <a:ln>
            <a:noFill/>
          </a:ln>
        </p:spPr>
        <p:txBody>
          <a:bodyPr spcFirstLastPara="1" wrap="square" lIns="91400" tIns="45675" rIns="91400" bIns="45675" anchor="b" anchorCtr="0">
            <a:noAutofit/>
          </a:bodyPr>
          <a:lstStyle/>
          <a:p>
            <a:pPr marL="0" marR="0" lvl="0" indent="0" algn="ctr" rtl="0">
              <a:spcBef>
                <a:spcPts val="0"/>
              </a:spcBef>
              <a:spcAft>
                <a:spcPts val="0"/>
              </a:spcAft>
              <a:buNone/>
            </a:pPr>
            <a:endParaRPr sz="1200">
              <a:solidFill>
                <a:srgbClr val="000000"/>
              </a:solidFill>
              <a:latin typeface="Arial"/>
              <a:ea typeface="Arial"/>
              <a:cs typeface="Arial"/>
              <a:sym typeface="Arial"/>
            </a:endParaRPr>
          </a:p>
        </p:txBody>
      </p:sp>
      <p:sp>
        <p:nvSpPr>
          <p:cNvPr id="15141" name="Google Shape;15141;p97"/>
          <p:cNvSpPr/>
          <p:nvPr/>
        </p:nvSpPr>
        <p:spPr>
          <a:xfrm>
            <a:off x="534257" y="4470190"/>
            <a:ext cx="1265125" cy="1149730"/>
          </a:xfrm>
          <a:prstGeom prst="roundRect">
            <a:avLst>
              <a:gd name="adj" fmla="val 3339"/>
            </a:avLst>
          </a:prstGeom>
          <a:solidFill>
            <a:schemeClr val="accent1"/>
          </a:solidFill>
          <a:ln>
            <a:noFill/>
          </a:ln>
        </p:spPr>
        <p:txBody>
          <a:bodyPr spcFirstLastPara="1" wrap="square" lIns="91400" tIns="45675" rIns="91400" bIns="45675" anchor="b" anchorCtr="0">
            <a:noAutofit/>
          </a:bodyPr>
          <a:lstStyle/>
          <a:p>
            <a:pPr marL="0" marR="0" lvl="0" indent="0" algn="ctr" rtl="0">
              <a:spcBef>
                <a:spcPts val="0"/>
              </a:spcBef>
              <a:spcAft>
                <a:spcPts val="0"/>
              </a:spcAft>
              <a:buNone/>
            </a:pPr>
            <a:endParaRPr sz="1200">
              <a:solidFill>
                <a:srgbClr val="000000"/>
              </a:solidFill>
              <a:latin typeface="Arial"/>
              <a:ea typeface="Arial"/>
              <a:cs typeface="Arial"/>
              <a:sym typeface="Arial"/>
            </a:endParaRPr>
          </a:p>
        </p:txBody>
      </p:sp>
      <p:sp>
        <p:nvSpPr>
          <p:cNvPr id="15142" name="Google Shape;15142;p97"/>
          <p:cNvSpPr txBox="1"/>
          <p:nvPr/>
        </p:nvSpPr>
        <p:spPr>
          <a:xfrm>
            <a:off x="2016402" y="5113744"/>
            <a:ext cx="1265066" cy="369195"/>
          </a:xfrm>
          <a:prstGeom prst="rect">
            <a:avLst/>
          </a:prstGeom>
          <a:noFill/>
          <a:ln>
            <a:noFill/>
          </a:ln>
        </p:spPr>
        <p:txBody>
          <a:bodyPr spcFirstLastPara="1" wrap="square" lIns="91400" tIns="45675" rIns="91400" bIns="45675" anchor="t" anchorCtr="0">
            <a:spAutoFit/>
          </a:bodyPr>
          <a:lstStyle/>
          <a:p>
            <a:pPr marL="0" marR="0" lvl="0" indent="0" algn="ctr" rtl="0">
              <a:spcBef>
                <a:spcPts val="0"/>
              </a:spcBef>
              <a:spcAft>
                <a:spcPts val="0"/>
              </a:spcAft>
              <a:buNone/>
            </a:pPr>
            <a:r>
              <a:rPr lang="en-US" sz="1000">
                <a:solidFill>
                  <a:srgbClr val="FFFFFF"/>
                </a:solidFill>
                <a:latin typeface="Arial"/>
                <a:ea typeface="Arial"/>
                <a:cs typeface="Arial"/>
                <a:sym typeface="Arial"/>
              </a:rPr>
              <a:t>Storage Service </a:t>
            </a:r>
            <a:r>
              <a:rPr lang="en-US" sz="800">
                <a:solidFill>
                  <a:srgbClr val="FFFFFF"/>
                </a:solidFill>
                <a:latin typeface="Arial"/>
                <a:ea typeface="Arial"/>
                <a:cs typeface="Arial"/>
                <a:sym typeface="Arial"/>
              </a:rPr>
              <a:t>Volume, Object</a:t>
            </a:r>
            <a:endParaRPr sz="1000">
              <a:solidFill>
                <a:srgbClr val="FFFFFF"/>
              </a:solidFill>
              <a:latin typeface="Arial"/>
              <a:ea typeface="Arial"/>
              <a:cs typeface="Arial"/>
              <a:sym typeface="Arial"/>
            </a:endParaRPr>
          </a:p>
        </p:txBody>
      </p:sp>
      <p:sp>
        <p:nvSpPr>
          <p:cNvPr id="15143" name="Google Shape;15143;p97"/>
          <p:cNvSpPr/>
          <p:nvPr/>
        </p:nvSpPr>
        <p:spPr>
          <a:xfrm>
            <a:off x="423703" y="1783135"/>
            <a:ext cx="4507826" cy="1834364"/>
          </a:xfrm>
          <a:prstGeom prst="roundRect">
            <a:avLst>
              <a:gd name="adj" fmla="val 2235"/>
            </a:avLst>
          </a:prstGeom>
          <a:solidFill>
            <a:schemeClr val="lt1"/>
          </a:solidFill>
          <a:ln w="9525" cap="flat" cmpd="sng">
            <a:solidFill>
              <a:schemeClr val="accent5"/>
            </a:solidFill>
            <a:prstDash val="solid"/>
            <a:round/>
            <a:headEnd type="none" w="sm" len="sm"/>
            <a:tailEnd type="none" w="sm" len="sm"/>
          </a:ln>
          <a:effectLst>
            <a:outerShdw blurRad="127468" sx="101000" sy="101000" algn="t" rotWithShape="0">
              <a:schemeClr val="accent5">
                <a:alpha val="24313"/>
              </a:schemeClr>
            </a:outerShdw>
          </a:effectLst>
        </p:spPr>
        <p:txBody>
          <a:bodyPr spcFirstLastPara="1" wrap="square" lIns="91200" tIns="45575" rIns="91200" bIns="45575" anchor="ctr" anchorCtr="0">
            <a:noAutofit/>
          </a:bodyPr>
          <a:lstStyle/>
          <a:p>
            <a:pPr marL="0" marR="0" lvl="0" indent="0" algn="ctr" rtl="0">
              <a:spcBef>
                <a:spcPts val="0"/>
              </a:spcBef>
              <a:spcAft>
                <a:spcPts val="0"/>
              </a:spcAft>
              <a:buNone/>
            </a:pPr>
            <a:endParaRPr sz="1200">
              <a:solidFill>
                <a:srgbClr val="6C4B94"/>
              </a:solidFill>
              <a:latin typeface="Arial"/>
              <a:ea typeface="Arial"/>
              <a:cs typeface="Arial"/>
              <a:sym typeface="Arial"/>
            </a:endParaRPr>
          </a:p>
        </p:txBody>
      </p:sp>
      <p:sp>
        <p:nvSpPr>
          <p:cNvPr id="15144" name="Google Shape;15144;p97"/>
          <p:cNvSpPr/>
          <p:nvPr/>
        </p:nvSpPr>
        <p:spPr>
          <a:xfrm>
            <a:off x="2028833" y="2178278"/>
            <a:ext cx="1265125" cy="1150593"/>
          </a:xfrm>
          <a:prstGeom prst="roundRect">
            <a:avLst>
              <a:gd name="adj" fmla="val 3342"/>
            </a:avLst>
          </a:prstGeom>
          <a:solidFill>
            <a:schemeClr val="accent5"/>
          </a:solidFill>
          <a:ln>
            <a:noFill/>
          </a:ln>
        </p:spPr>
        <p:txBody>
          <a:bodyPr spcFirstLastPara="1" wrap="square" lIns="91400" tIns="45675" rIns="91400" bIns="45675" anchor="b" anchorCtr="0">
            <a:noAutofit/>
          </a:bodyPr>
          <a:lstStyle/>
          <a:p>
            <a:pPr marL="0" marR="0" lvl="0" indent="0" algn="ctr" rtl="0">
              <a:spcBef>
                <a:spcPts val="0"/>
              </a:spcBef>
              <a:spcAft>
                <a:spcPts val="0"/>
              </a:spcAft>
              <a:buNone/>
            </a:pPr>
            <a:endParaRPr sz="1200">
              <a:solidFill>
                <a:srgbClr val="000000"/>
              </a:solidFill>
              <a:latin typeface="Arial"/>
              <a:ea typeface="Arial"/>
              <a:cs typeface="Arial"/>
              <a:sym typeface="Arial"/>
            </a:endParaRPr>
          </a:p>
        </p:txBody>
      </p:sp>
      <p:sp>
        <p:nvSpPr>
          <p:cNvPr id="15145" name="Google Shape;15145;p97"/>
          <p:cNvSpPr/>
          <p:nvPr/>
        </p:nvSpPr>
        <p:spPr>
          <a:xfrm>
            <a:off x="3478264" y="2174941"/>
            <a:ext cx="1265125" cy="1153930"/>
          </a:xfrm>
          <a:prstGeom prst="roundRect">
            <a:avLst>
              <a:gd name="adj" fmla="val 2777"/>
            </a:avLst>
          </a:prstGeom>
          <a:solidFill>
            <a:schemeClr val="accent5"/>
          </a:soli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200">
              <a:solidFill>
                <a:srgbClr val="000000"/>
              </a:solidFill>
              <a:latin typeface="Arial"/>
              <a:ea typeface="Arial"/>
              <a:cs typeface="Arial"/>
              <a:sym typeface="Arial"/>
            </a:endParaRPr>
          </a:p>
        </p:txBody>
      </p:sp>
      <p:sp>
        <p:nvSpPr>
          <p:cNvPr id="15146" name="Google Shape;15146;p97"/>
          <p:cNvSpPr/>
          <p:nvPr/>
        </p:nvSpPr>
        <p:spPr>
          <a:xfrm>
            <a:off x="579401" y="2179142"/>
            <a:ext cx="1265125" cy="1149730"/>
          </a:xfrm>
          <a:prstGeom prst="roundRect">
            <a:avLst>
              <a:gd name="adj" fmla="val 3339"/>
            </a:avLst>
          </a:prstGeom>
          <a:solidFill>
            <a:schemeClr val="accent5"/>
          </a:solidFill>
          <a:ln>
            <a:noFill/>
          </a:ln>
        </p:spPr>
        <p:txBody>
          <a:bodyPr spcFirstLastPara="1" wrap="square" lIns="91400" tIns="45675" rIns="91400" bIns="45675" anchor="b" anchorCtr="0">
            <a:noAutofit/>
          </a:bodyPr>
          <a:lstStyle/>
          <a:p>
            <a:pPr marL="0" marR="0" lvl="0" indent="0" algn="ctr" rtl="0">
              <a:spcBef>
                <a:spcPts val="0"/>
              </a:spcBef>
              <a:spcAft>
                <a:spcPts val="0"/>
              </a:spcAft>
              <a:buNone/>
            </a:pPr>
            <a:endParaRPr sz="1200">
              <a:solidFill>
                <a:srgbClr val="000000"/>
              </a:solidFill>
              <a:latin typeface="Arial"/>
              <a:ea typeface="Arial"/>
              <a:cs typeface="Arial"/>
              <a:sym typeface="Arial"/>
            </a:endParaRPr>
          </a:p>
        </p:txBody>
      </p:sp>
      <p:sp>
        <p:nvSpPr>
          <p:cNvPr id="15147" name="Google Shape;15147;p97"/>
          <p:cNvSpPr/>
          <p:nvPr/>
        </p:nvSpPr>
        <p:spPr>
          <a:xfrm>
            <a:off x="8129493" y="1783136"/>
            <a:ext cx="2799005" cy="4661329"/>
          </a:xfrm>
          <a:prstGeom prst="roundRect">
            <a:avLst>
              <a:gd name="adj" fmla="val 1337"/>
            </a:avLst>
          </a:prstGeom>
          <a:solidFill>
            <a:schemeClr val="lt1"/>
          </a:solidFill>
          <a:ln w="9525" cap="flat" cmpd="sng">
            <a:solidFill>
              <a:schemeClr val="accent3"/>
            </a:solidFill>
            <a:prstDash val="solid"/>
            <a:round/>
            <a:headEnd type="none" w="sm" len="sm"/>
            <a:tailEnd type="none" w="sm" len="sm"/>
          </a:ln>
          <a:effectLst>
            <a:outerShdw blurRad="127468" sx="101000" sy="101000" algn="t" rotWithShape="0">
              <a:schemeClr val="accent3">
                <a:alpha val="24313"/>
              </a:schemeClr>
            </a:outerShdw>
          </a:effectLst>
        </p:spPr>
        <p:txBody>
          <a:bodyPr spcFirstLastPara="1" wrap="square" lIns="91200" tIns="45575" rIns="91200" bIns="45575" anchor="ctr" anchorCtr="0">
            <a:noAutofit/>
          </a:bodyPr>
          <a:lstStyle/>
          <a:p>
            <a:pPr marL="0" marR="0" lvl="0" indent="0" algn="ctr" rtl="0">
              <a:spcBef>
                <a:spcPts val="0"/>
              </a:spcBef>
              <a:spcAft>
                <a:spcPts val="0"/>
              </a:spcAft>
              <a:buNone/>
            </a:pPr>
            <a:endParaRPr sz="1200">
              <a:solidFill>
                <a:srgbClr val="6C4B94"/>
              </a:solidFill>
              <a:latin typeface="Arial"/>
              <a:ea typeface="Arial"/>
              <a:cs typeface="Arial"/>
              <a:sym typeface="Arial"/>
            </a:endParaRPr>
          </a:p>
        </p:txBody>
      </p:sp>
      <p:sp>
        <p:nvSpPr>
          <p:cNvPr id="15148" name="Google Shape;15148;p97"/>
          <p:cNvSpPr/>
          <p:nvPr/>
        </p:nvSpPr>
        <p:spPr>
          <a:xfrm>
            <a:off x="2497340" y="2339995"/>
            <a:ext cx="355864" cy="354233"/>
          </a:xfrm>
          <a:custGeom>
            <a:avLst/>
            <a:gdLst/>
            <a:ahLst/>
            <a:cxnLst/>
            <a:rect l="l" t="t" r="r" b="b"/>
            <a:pathLst>
              <a:path w="1371600" h="1371326" extrusionOk="0">
                <a:moveTo>
                  <a:pt x="1267496" y="1204265"/>
                </a:moveTo>
                <a:cubicBezTo>
                  <a:pt x="1232794" y="1204265"/>
                  <a:pt x="1204539" y="1232520"/>
                  <a:pt x="1204539" y="1267221"/>
                </a:cubicBezTo>
                <a:cubicBezTo>
                  <a:pt x="1204539" y="1301923"/>
                  <a:pt x="1232794" y="1330178"/>
                  <a:pt x="1267496" y="1330178"/>
                </a:cubicBezTo>
                <a:cubicBezTo>
                  <a:pt x="1302197" y="1330178"/>
                  <a:pt x="1330452" y="1301923"/>
                  <a:pt x="1330452" y="1267221"/>
                </a:cubicBezTo>
                <a:cubicBezTo>
                  <a:pt x="1330452" y="1232520"/>
                  <a:pt x="1302197" y="1204265"/>
                  <a:pt x="1267496" y="1204265"/>
                </a:cubicBezTo>
                <a:close/>
                <a:moveTo>
                  <a:pt x="685800" y="1204265"/>
                </a:moveTo>
                <a:cubicBezTo>
                  <a:pt x="651099" y="1204265"/>
                  <a:pt x="622844" y="1232520"/>
                  <a:pt x="622844" y="1267221"/>
                </a:cubicBezTo>
                <a:cubicBezTo>
                  <a:pt x="622844" y="1301923"/>
                  <a:pt x="651099" y="1330178"/>
                  <a:pt x="685800" y="1330178"/>
                </a:cubicBezTo>
                <a:cubicBezTo>
                  <a:pt x="720501" y="1330178"/>
                  <a:pt x="748756" y="1301923"/>
                  <a:pt x="748756" y="1267221"/>
                </a:cubicBezTo>
                <a:cubicBezTo>
                  <a:pt x="748756" y="1232520"/>
                  <a:pt x="720501" y="1204265"/>
                  <a:pt x="685800" y="1204265"/>
                </a:cubicBezTo>
                <a:close/>
                <a:moveTo>
                  <a:pt x="104104" y="1204265"/>
                </a:moveTo>
                <a:cubicBezTo>
                  <a:pt x="69403" y="1204265"/>
                  <a:pt x="41148" y="1232520"/>
                  <a:pt x="41148" y="1267221"/>
                </a:cubicBezTo>
                <a:cubicBezTo>
                  <a:pt x="41148" y="1301923"/>
                  <a:pt x="69403" y="1330178"/>
                  <a:pt x="104104" y="1330178"/>
                </a:cubicBezTo>
                <a:cubicBezTo>
                  <a:pt x="138806" y="1330178"/>
                  <a:pt x="167061" y="1301923"/>
                  <a:pt x="167061" y="1267221"/>
                </a:cubicBezTo>
                <a:cubicBezTo>
                  <a:pt x="167061" y="1232520"/>
                  <a:pt x="138806" y="1204265"/>
                  <a:pt x="104104" y="1204265"/>
                </a:cubicBezTo>
                <a:close/>
                <a:moveTo>
                  <a:pt x="691560" y="581421"/>
                </a:moveTo>
                <a:lnTo>
                  <a:pt x="691560" y="780578"/>
                </a:lnTo>
                <a:lnTo>
                  <a:pt x="727496" y="780578"/>
                </a:lnTo>
                <a:lnTo>
                  <a:pt x="727496" y="647532"/>
                </a:lnTo>
                <a:lnTo>
                  <a:pt x="793196" y="768919"/>
                </a:lnTo>
                <a:lnTo>
                  <a:pt x="858621" y="647532"/>
                </a:lnTo>
                <a:lnTo>
                  <a:pt x="858621" y="780578"/>
                </a:lnTo>
                <a:lnTo>
                  <a:pt x="894832" y="780578"/>
                </a:lnTo>
                <a:lnTo>
                  <a:pt x="894832" y="581421"/>
                </a:lnTo>
                <a:lnTo>
                  <a:pt x="858621" y="581421"/>
                </a:lnTo>
                <a:lnTo>
                  <a:pt x="793196" y="702808"/>
                </a:lnTo>
                <a:lnTo>
                  <a:pt x="727496" y="581421"/>
                </a:lnTo>
                <a:close/>
                <a:moveTo>
                  <a:pt x="449199" y="581421"/>
                </a:moveTo>
                <a:lnTo>
                  <a:pt x="532455" y="780578"/>
                </a:lnTo>
                <a:lnTo>
                  <a:pt x="572917" y="780578"/>
                </a:lnTo>
                <a:lnTo>
                  <a:pt x="655899" y="581421"/>
                </a:lnTo>
                <a:lnTo>
                  <a:pt x="616122" y="581421"/>
                </a:lnTo>
                <a:lnTo>
                  <a:pt x="552755" y="732434"/>
                </a:lnTo>
                <a:lnTo>
                  <a:pt x="489387" y="581421"/>
                </a:lnTo>
                <a:close/>
                <a:moveTo>
                  <a:pt x="415732" y="345506"/>
                </a:moveTo>
                <a:lnTo>
                  <a:pt x="955868" y="345506"/>
                </a:lnTo>
                <a:lnTo>
                  <a:pt x="955868" y="345643"/>
                </a:lnTo>
                <a:cubicBezTo>
                  <a:pt x="993175" y="345643"/>
                  <a:pt x="1023351" y="375818"/>
                  <a:pt x="1023351" y="413126"/>
                </a:cubicBezTo>
                <a:lnTo>
                  <a:pt x="1023351" y="953125"/>
                </a:lnTo>
                <a:cubicBezTo>
                  <a:pt x="1023351" y="990432"/>
                  <a:pt x="993175" y="1020608"/>
                  <a:pt x="955868" y="1020608"/>
                </a:cubicBezTo>
                <a:lnTo>
                  <a:pt x="415732" y="1020608"/>
                </a:lnTo>
                <a:cubicBezTo>
                  <a:pt x="378424" y="1020608"/>
                  <a:pt x="348249" y="990432"/>
                  <a:pt x="348249" y="953125"/>
                </a:cubicBezTo>
                <a:lnTo>
                  <a:pt x="348249" y="412989"/>
                </a:lnTo>
                <a:cubicBezTo>
                  <a:pt x="348249" y="375681"/>
                  <a:pt x="378424" y="345506"/>
                  <a:pt x="415732" y="345506"/>
                </a:cubicBezTo>
                <a:close/>
                <a:moveTo>
                  <a:pt x="205603" y="117820"/>
                </a:moveTo>
                <a:cubicBezTo>
                  <a:pt x="203545" y="133320"/>
                  <a:pt x="198196" y="147173"/>
                  <a:pt x="190104" y="159654"/>
                </a:cubicBezTo>
                <a:lnTo>
                  <a:pt x="352090" y="321777"/>
                </a:lnTo>
                <a:lnTo>
                  <a:pt x="323012" y="350855"/>
                </a:lnTo>
                <a:lnTo>
                  <a:pt x="161300" y="189006"/>
                </a:lnTo>
                <a:cubicBezTo>
                  <a:pt x="149367" y="196962"/>
                  <a:pt x="136200" y="202174"/>
                  <a:pt x="121524" y="204780"/>
                </a:cubicBezTo>
                <a:lnTo>
                  <a:pt x="121524" y="1166409"/>
                </a:lnTo>
                <a:cubicBezTo>
                  <a:pt x="135926" y="1168878"/>
                  <a:pt x="148956" y="1174090"/>
                  <a:pt x="160752" y="1181908"/>
                </a:cubicBezTo>
                <a:lnTo>
                  <a:pt x="326304" y="1016218"/>
                </a:lnTo>
                <a:lnTo>
                  <a:pt x="355382" y="1045296"/>
                </a:lnTo>
                <a:lnTo>
                  <a:pt x="189692" y="1211123"/>
                </a:lnTo>
                <a:cubicBezTo>
                  <a:pt x="197922" y="1223742"/>
                  <a:pt x="203271" y="1237869"/>
                  <a:pt x="205466" y="1253505"/>
                </a:cubicBezTo>
                <a:lnTo>
                  <a:pt x="205466" y="1251997"/>
                </a:lnTo>
                <a:lnTo>
                  <a:pt x="584713" y="1251997"/>
                </a:lnTo>
                <a:cubicBezTo>
                  <a:pt x="591297" y="1208380"/>
                  <a:pt x="623804" y="1174913"/>
                  <a:pt x="667009" y="1166820"/>
                </a:cubicBezTo>
                <a:lnTo>
                  <a:pt x="667009" y="1061756"/>
                </a:lnTo>
                <a:lnTo>
                  <a:pt x="708020" y="1061756"/>
                </a:lnTo>
                <a:lnTo>
                  <a:pt x="708020" y="1167506"/>
                </a:lnTo>
                <a:cubicBezTo>
                  <a:pt x="749442" y="1176833"/>
                  <a:pt x="780303" y="1209614"/>
                  <a:pt x="786750" y="1251997"/>
                </a:cubicBezTo>
                <a:lnTo>
                  <a:pt x="1166409" y="1251997"/>
                </a:lnTo>
                <a:cubicBezTo>
                  <a:pt x="1168740" y="1236909"/>
                  <a:pt x="1173952" y="1223467"/>
                  <a:pt x="1181908" y="1211260"/>
                </a:cubicBezTo>
                <a:lnTo>
                  <a:pt x="1182182" y="1211397"/>
                </a:lnTo>
                <a:lnTo>
                  <a:pt x="1016081" y="1044885"/>
                </a:lnTo>
                <a:lnTo>
                  <a:pt x="1045159" y="1015807"/>
                </a:lnTo>
                <a:lnTo>
                  <a:pt x="1211123" y="1182182"/>
                </a:lnTo>
                <a:cubicBezTo>
                  <a:pt x="1222781" y="1174501"/>
                  <a:pt x="1235537" y="1169426"/>
                  <a:pt x="1249665" y="1166820"/>
                </a:cubicBezTo>
                <a:lnTo>
                  <a:pt x="1249665" y="204643"/>
                </a:lnTo>
                <a:cubicBezTo>
                  <a:pt x="1235263" y="202037"/>
                  <a:pt x="1222370" y="196825"/>
                  <a:pt x="1210711" y="189006"/>
                </a:cubicBezTo>
                <a:lnTo>
                  <a:pt x="1048314" y="351678"/>
                </a:lnTo>
                <a:lnTo>
                  <a:pt x="1019236" y="322600"/>
                </a:lnTo>
                <a:lnTo>
                  <a:pt x="1181771" y="159654"/>
                </a:lnTo>
                <a:cubicBezTo>
                  <a:pt x="1174090" y="147584"/>
                  <a:pt x="1169015" y="134280"/>
                  <a:pt x="1166683" y="119466"/>
                </a:cubicBezTo>
                <a:lnTo>
                  <a:pt x="787436" y="119466"/>
                </a:lnTo>
                <a:cubicBezTo>
                  <a:pt x="781538" y="162672"/>
                  <a:pt x="750265" y="196139"/>
                  <a:pt x="708294" y="205603"/>
                </a:cubicBezTo>
                <a:lnTo>
                  <a:pt x="708294" y="304358"/>
                </a:lnTo>
                <a:lnTo>
                  <a:pt x="667283" y="304358"/>
                </a:lnTo>
                <a:lnTo>
                  <a:pt x="667283" y="206289"/>
                </a:lnTo>
                <a:cubicBezTo>
                  <a:pt x="623529" y="198059"/>
                  <a:pt x="590611" y="163906"/>
                  <a:pt x="584576" y="119466"/>
                </a:cubicBezTo>
                <a:lnTo>
                  <a:pt x="205603" y="119466"/>
                </a:lnTo>
                <a:close/>
                <a:moveTo>
                  <a:pt x="685800" y="42931"/>
                </a:moveTo>
                <a:cubicBezTo>
                  <a:pt x="651099" y="42931"/>
                  <a:pt x="622844" y="71186"/>
                  <a:pt x="622844" y="105888"/>
                </a:cubicBezTo>
                <a:cubicBezTo>
                  <a:pt x="622844" y="140589"/>
                  <a:pt x="651099" y="168844"/>
                  <a:pt x="685800" y="168844"/>
                </a:cubicBezTo>
                <a:cubicBezTo>
                  <a:pt x="720501" y="168844"/>
                  <a:pt x="748756" y="140589"/>
                  <a:pt x="748756" y="105888"/>
                </a:cubicBezTo>
                <a:cubicBezTo>
                  <a:pt x="748756" y="71186"/>
                  <a:pt x="720501" y="42931"/>
                  <a:pt x="685800" y="42931"/>
                </a:cubicBezTo>
                <a:close/>
                <a:moveTo>
                  <a:pt x="1267496" y="41148"/>
                </a:moveTo>
                <a:cubicBezTo>
                  <a:pt x="1232794" y="41148"/>
                  <a:pt x="1204539" y="69403"/>
                  <a:pt x="1204539" y="104104"/>
                </a:cubicBezTo>
                <a:cubicBezTo>
                  <a:pt x="1204539" y="138806"/>
                  <a:pt x="1232794" y="167061"/>
                  <a:pt x="1267496" y="167061"/>
                </a:cubicBezTo>
                <a:cubicBezTo>
                  <a:pt x="1302197" y="167061"/>
                  <a:pt x="1330452" y="138806"/>
                  <a:pt x="1330452" y="104104"/>
                </a:cubicBezTo>
                <a:cubicBezTo>
                  <a:pt x="1330452" y="69403"/>
                  <a:pt x="1302197" y="41148"/>
                  <a:pt x="1267496" y="41148"/>
                </a:cubicBezTo>
                <a:close/>
                <a:moveTo>
                  <a:pt x="104104" y="41148"/>
                </a:moveTo>
                <a:cubicBezTo>
                  <a:pt x="69403" y="41148"/>
                  <a:pt x="41148" y="69403"/>
                  <a:pt x="41148" y="104104"/>
                </a:cubicBezTo>
                <a:cubicBezTo>
                  <a:pt x="41148" y="138806"/>
                  <a:pt x="69403" y="167061"/>
                  <a:pt x="104104" y="167061"/>
                </a:cubicBezTo>
                <a:cubicBezTo>
                  <a:pt x="138806" y="167061"/>
                  <a:pt x="167061" y="138806"/>
                  <a:pt x="167061" y="104104"/>
                </a:cubicBezTo>
                <a:cubicBezTo>
                  <a:pt x="167061" y="69403"/>
                  <a:pt x="138806" y="41148"/>
                  <a:pt x="104104" y="41148"/>
                </a:cubicBezTo>
                <a:close/>
                <a:moveTo>
                  <a:pt x="104104" y="0"/>
                </a:moveTo>
                <a:cubicBezTo>
                  <a:pt x="156774" y="0"/>
                  <a:pt x="198608" y="39776"/>
                  <a:pt x="205466" y="90526"/>
                </a:cubicBezTo>
                <a:lnTo>
                  <a:pt x="205466" y="89017"/>
                </a:lnTo>
                <a:lnTo>
                  <a:pt x="585262" y="89017"/>
                </a:lnTo>
                <a:cubicBezTo>
                  <a:pt x="593628" y="39914"/>
                  <a:pt x="634502" y="1783"/>
                  <a:pt x="685937" y="1783"/>
                </a:cubicBezTo>
                <a:cubicBezTo>
                  <a:pt x="737372" y="1783"/>
                  <a:pt x="778246" y="39914"/>
                  <a:pt x="786613" y="89017"/>
                </a:cubicBezTo>
                <a:lnTo>
                  <a:pt x="1166546" y="89017"/>
                </a:lnTo>
                <a:cubicBezTo>
                  <a:pt x="1174090" y="38953"/>
                  <a:pt x="1215375" y="0"/>
                  <a:pt x="1267496" y="0"/>
                </a:cubicBezTo>
                <a:cubicBezTo>
                  <a:pt x="1324966" y="0"/>
                  <a:pt x="1371600" y="46634"/>
                  <a:pt x="1371600" y="104104"/>
                </a:cubicBezTo>
                <a:cubicBezTo>
                  <a:pt x="1371600" y="157185"/>
                  <a:pt x="1331275" y="199431"/>
                  <a:pt x="1279840" y="205740"/>
                </a:cubicBezTo>
                <a:lnTo>
                  <a:pt x="1279840" y="1165586"/>
                </a:lnTo>
                <a:cubicBezTo>
                  <a:pt x="1331275" y="1171895"/>
                  <a:pt x="1371600" y="1214140"/>
                  <a:pt x="1371600" y="1267221"/>
                </a:cubicBezTo>
                <a:cubicBezTo>
                  <a:pt x="1371600" y="1324691"/>
                  <a:pt x="1324966" y="1371326"/>
                  <a:pt x="1267496" y="1371326"/>
                </a:cubicBezTo>
                <a:cubicBezTo>
                  <a:pt x="1215512" y="1371326"/>
                  <a:pt x="1174227" y="1332372"/>
                  <a:pt x="1166546" y="1282446"/>
                </a:cubicBezTo>
                <a:lnTo>
                  <a:pt x="786887" y="1282446"/>
                </a:lnTo>
                <a:cubicBezTo>
                  <a:pt x="779206" y="1332372"/>
                  <a:pt x="737784" y="1371326"/>
                  <a:pt x="685800" y="1371326"/>
                </a:cubicBezTo>
                <a:cubicBezTo>
                  <a:pt x="633816" y="1371326"/>
                  <a:pt x="592531" y="1332372"/>
                  <a:pt x="584850" y="1282446"/>
                </a:cubicBezTo>
                <a:lnTo>
                  <a:pt x="205466" y="1282446"/>
                </a:lnTo>
                <a:lnTo>
                  <a:pt x="205466" y="1280800"/>
                </a:lnTo>
                <a:cubicBezTo>
                  <a:pt x="198471" y="1331549"/>
                  <a:pt x="156774" y="1371326"/>
                  <a:pt x="104104" y="1371326"/>
                </a:cubicBezTo>
                <a:cubicBezTo>
                  <a:pt x="46634" y="1371326"/>
                  <a:pt x="0" y="1324691"/>
                  <a:pt x="0" y="1267221"/>
                </a:cubicBezTo>
                <a:cubicBezTo>
                  <a:pt x="0" y="1214278"/>
                  <a:pt x="39914" y="1172444"/>
                  <a:pt x="90937" y="1165723"/>
                </a:cubicBezTo>
                <a:lnTo>
                  <a:pt x="90937" y="205603"/>
                </a:lnTo>
                <a:cubicBezTo>
                  <a:pt x="40051" y="198882"/>
                  <a:pt x="0" y="156911"/>
                  <a:pt x="0" y="104104"/>
                </a:cubicBezTo>
                <a:cubicBezTo>
                  <a:pt x="0" y="46634"/>
                  <a:pt x="46634" y="0"/>
                  <a:pt x="104104" y="0"/>
                </a:cubicBezTo>
                <a:close/>
              </a:path>
            </a:pathLst>
          </a:custGeom>
          <a:solidFill>
            <a:schemeClr val="lt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49" name="Google Shape;15149;p97"/>
          <p:cNvSpPr/>
          <p:nvPr/>
        </p:nvSpPr>
        <p:spPr>
          <a:xfrm>
            <a:off x="2474366" y="4639224"/>
            <a:ext cx="388205" cy="387858"/>
          </a:xfrm>
          <a:custGeom>
            <a:avLst/>
            <a:gdLst/>
            <a:ahLst/>
            <a:cxnLst/>
            <a:rect l="l" t="t" r="r" b="b"/>
            <a:pathLst>
              <a:path w="779314" h="778622" extrusionOk="0">
                <a:moveTo>
                  <a:pt x="720165" y="683887"/>
                </a:moveTo>
                <a:cubicBezTo>
                  <a:pt x="700448" y="683887"/>
                  <a:pt x="684364" y="699964"/>
                  <a:pt x="684364" y="719672"/>
                </a:cubicBezTo>
                <a:cubicBezTo>
                  <a:pt x="684364" y="739379"/>
                  <a:pt x="700448" y="755457"/>
                  <a:pt x="720165" y="755457"/>
                </a:cubicBezTo>
                <a:cubicBezTo>
                  <a:pt x="739881" y="755457"/>
                  <a:pt x="755965" y="739379"/>
                  <a:pt x="755965" y="719672"/>
                </a:cubicBezTo>
                <a:cubicBezTo>
                  <a:pt x="755965" y="699964"/>
                  <a:pt x="739881" y="683887"/>
                  <a:pt x="720165" y="683887"/>
                </a:cubicBezTo>
                <a:close/>
                <a:moveTo>
                  <a:pt x="389657" y="683887"/>
                </a:moveTo>
                <a:cubicBezTo>
                  <a:pt x="369941" y="683887"/>
                  <a:pt x="353856" y="699964"/>
                  <a:pt x="353856" y="719672"/>
                </a:cubicBezTo>
                <a:cubicBezTo>
                  <a:pt x="353856" y="739379"/>
                  <a:pt x="369941" y="755457"/>
                  <a:pt x="389657" y="755457"/>
                </a:cubicBezTo>
                <a:cubicBezTo>
                  <a:pt x="409373" y="755457"/>
                  <a:pt x="425458" y="739379"/>
                  <a:pt x="425458" y="719672"/>
                </a:cubicBezTo>
                <a:cubicBezTo>
                  <a:pt x="425458" y="699964"/>
                  <a:pt x="409373" y="683887"/>
                  <a:pt x="389657" y="683887"/>
                </a:cubicBezTo>
                <a:close/>
                <a:moveTo>
                  <a:pt x="59149" y="683887"/>
                </a:moveTo>
                <a:cubicBezTo>
                  <a:pt x="39433" y="683887"/>
                  <a:pt x="23348" y="699964"/>
                  <a:pt x="23348" y="719672"/>
                </a:cubicBezTo>
                <a:cubicBezTo>
                  <a:pt x="23348" y="739379"/>
                  <a:pt x="39433" y="755457"/>
                  <a:pt x="59149" y="755457"/>
                </a:cubicBezTo>
                <a:cubicBezTo>
                  <a:pt x="78865" y="755457"/>
                  <a:pt x="94950" y="739379"/>
                  <a:pt x="94950" y="719672"/>
                </a:cubicBezTo>
                <a:cubicBezTo>
                  <a:pt x="94950" y="699964"/>
                  <a:pt x="78865" y="683887"/>
                  <a:pt x="59149" y="683887"/>
                </a:cubicBezTo>
                <a:close/>
                <a:moveTo>
                  <a:pt x="217571" y="473672"/>
                </a:moveTo>
                <a:cubicBezTo>
                  <a:pt x="217571" y="498739"/>
                  <a:pt x="294880" y="519138"/>
                  <a:pt x="390002" y="519138"/>
                </a:cubicBezTo>
                <a:cubicBezTo>
                  <a:pt x="485298" y="519138"/>
                  <a:pt x="562434" y="498739"/>
                  <a:pt x="562434" y="473672"/>
                </a:cubicBezTo>
                <a:lnTo>
                  <a:pt x="562434" y="534351"/>
                </a:lnTo>
                <a:cubicBezTo>
                  <a:pt x="562434" y="559417"/>
                  <a:pt x="485298" y="579816"/>
                  <a:pt x="390002" y="579816"/>
                </a:cubicBezTo>
                <a:cubicBezTo>
                  <a:pt x="294707" y="579816"/>
                  <a:pt x="217571" y="559417"/>
                  <a:pt x="217571" y="534351"/>
                </a:cubicBezTo>
                <a:close/>
                <a:moveTo>
                  <a:pt x="217571" y="382741"/>
                </a:moveTo>
                <a:cubicBezTo>
                  <a:pt x="217571" y="407808"/>
                  <a:pt x="294880" y="428207"/>
                  <a:pt x="390002" y="428207"/>
                </a:cubicBezTo>
                <a:cubicBezTo>
                  <a:pt x="485298" y="428207"/>
                  <a:pt x="562434" y="407808"/>
                  <a:pt x="562434" y="382741"/>
                </a:cubicBezTo>
                <a:lnTo>
                  <a:pt x="562434" y="443420"/>
                </a:lnTo>
                <a:cubicBezTo>
                  <a:pt x="562434" y="468486"/>
                  <a:pt x="485298" y="488885"/>
                  <a:pt x="390002" y="488885"/>
                </a:cubicBezTo>
                <a:cubicBezTo>
                  <a:pt x="294707" y="488885"/>
                  <a:pt x="217571" y="468486"/>
                  <a:pt x="217571" y="443420"/>
                </a:cubicBezTo>
                <a:close/>
                <a:moveTo>
                  <a:pt x="217571" y="291637"/>
                </a:moveTo>
                <a:cubicBezTo>
                  <a:pt x="217571" y="316704"/>
                  <a:pt x="294880" y="337103"/>
                  <a:pt x="390002" y="337103"/>
                </a:cubicBezTo>
                <a:cubicBezTo>
                  <a:pt x="485298" y="337103"/>
                  <a:pt x="562434" y="316704"/>
                  <a:pt x="562434" y="291637"/>
                </a:cubicBezTo>
                <a:lnTo>
                  <a:pt x="562434" y="352316"/>
                </a:lnTo>
                <a:cubicBezTo>
                  <a:pt x="562434" y="377382"/>
                  <a:pt x="485298" y="397781"/>
                  <a:pt x="390002" y="397781"/>
                </a:cubicBezTo>
                <a:cubicBezTo>
                  <a:pt x="294707" y="397781"/>
                  <a:pt x="217571" y="377382"/>
                  <a:pt x="217571" y="352316"/>
                </a:cubicBezTo>
                <a:close/>
                <a:moveTo>
                  <a:pt x="390002" y="195346"/>
                </a:moveTo>
                <a:cubicBezTo>
                  <a:pt x="485298" y="195346"/>
                  <a:pt x="562434" y="215745"/>
                  <a:pt x="562434" y="240985"/>
                </a:cubicBezTo>
                <a:lnTo>
                  <a:pt x="562434" y="261211"/>
                </a:lnTo>
                <a:cubicBezTo>
                  <a:pt x="562434" y="286277"/>
                  <a:pt x="485298" y="306676"/>
                  <a:pt x="390002" y="306676"/>
                </a:cubicBezTo>
                <a:cubicBezTo>
                  <a:pt x="294707" y="306676"/>
                  <a:pt x="217571" y="286277"/>
                  <a:pt x="217571" y="261211"/>
                </a:cubicBezTo>
                <a:lnTo>
                  <a:pt x="217571" y="240985"/>
                </a:lnTo>
                <a:cubicBezTo>
                  <a:pt x="217571" y="215918"/>
                  <a:pt x="294880" y="195519"/>
                  <a:pt x="390002" y="195519"/>
                </a:cubicBezTo>
                <a:close/>
                <a:moveTo>
                  <a:pt x="116741" y="66902"/>
                </a:moveTo>
                <a:cubicBezTo>
                  <a:pt x="115531" y="75546"/>
                  <a:pt x="112591" y="83498"/>
                  <a:pt x="107921" y="90586"/>
                </a:cubicBezTo>
                <a:lnTo>
                  <a:pt x="218609" y="201052"/>
                </a:lnTo>
                <a:lnTo>
                  <a:pt x="202006" y="217648"/>
                </a:lnTo>
                <a:lnTo>
                  <a:pt x="91491" y="107354"/>
                </a:lnTo>
                <a:cubicBezTo>
                  <a:pt x="84919" y="111849"/>
                  <a:pt x="76790" y="113232"/>
                  <a:pt x="68834" y="114961"/>
                </a:cubicBezTo>
                <a:lnTo>
                  <a:pt x="68834" y="663834"/>
                </a:lnTo>
                <a:cubicBezTo>
                  <a:pt x="76617" y="665562"/>
                  <a:pt x="84573" y="666945"/>
                  <a:pt x="91145" y="671267"/>
                </a:cubicBezTo>
                <a:lnTo>
                  <a:pt x="203908" y="558381"/>
                </a:lnTo>
                <a:lnTo>
                  <a:pt x="220512" y="574977"/>
                </a:lnTo>
                <a:lnTo>
                  <a:pt x="107748" y="687863"/>
                </a:lnTo>
                <a:cubicBezTo>
                  <a:pt x="112418" y="695124"/>
                  <a:pt x="115531" y="703076"/>
                  <a:pt x="116741" y="711892"/>
                </a:cubicBezTo>
                <a:lnTo>
                  <a:pt x="116741" y="711028"/>
                </a:lnTo>
                <a:lnTo>
                  <a:pt x="332064" y="711028"/>
                </a:lnTo>
                <a:cubicBezTo>
                  <a:pt x="335869" y="686307"/>
                  <a:pt x="354375" y="667291"/>
                  <a:pt x="378934" y="662624"/>
                </a:cubicBezTo>
                <a:lnTo>
                  <a:pt x="378934" y="602982"/>
                </a:lnTo>
                <a:lnTo>
                  <a:pt x="402282" y="602982"/>
                </a:lnTo>
                <a:lnTo>
                  <a:pt x="402282" y="662969"/>
                </a:lnTo>
                <a:cubicBezTo>
                  <a:pt x="425803" y="668328"/>
                  <a:pt x="443444" y="686999"/>
                  <a:pt x="447076" y="711028"/>
                </a:cubicBezTo>
                <a:lnTo>
                  <a:pt x="662745" y="711028"/>
                </a:lnTo>
                <a:cubicBezTo>
                  <a:pt x="664129" y="702384"/>
                  <a:pt x="667069" y="694778"/>
                  <a:pt x="671566" y="687863"/>
                </a:cubicBezTo>
                <a:lnTo>
                  <a:pt x="671739" y="687863"/>
                </a:lnTo>
                <a:lnTo>
                  <a:pt x="560186" y="576187"/>
                </a:lnTo>
                <a:lnTo>
                  <a:pt x="576789" y="559591"/>
                </a:lnTo>
                <a:lnTo>
                  <a:pt x="688342" y="671267"/>
                </a:lnTo>
                <a:cubicBezTo>
                  <a:pt x="694741" y="666945"/>
                  <a:pt x="702005" y="664007"/>
                  <a:pt x="710134" y="662624"/>
                </a:cubicBezTo>
                <a:lnTo>
                  <a:pt x="710134" y="116171"/>
                </a:lnTo>
                <a:cubicBezTo>
                  <a:pt x="702005" y="114788"/>
                  <a:pt x="694568" y="111849"/>
                  <a:pt x="687996" y="107354"/>
                </a:cubicBezTo>
                <a:lnTo>
                  <a:pt x="577654" y="217648"/>
                </a:lnTo>
                <a:lnTo>
                  <a:pt x="561051" y="201052"/>
                </a:lnTo>
                <a:lnTo>
                  <a:pt x="671566" y="90586"/>
                </a:lnTo>
                <a:cubicBezTo>
                  <a:pt x="667069" y="83671"/>
                  <a:pt x="664129" y="76237"/>
                  <a:pt x="662918" y="67766"/>
                </a:cubicBezTo>
                <a:lnTo>
                  <a:pt x="447422" y="67766"/>
                </a:lnTo>
                <a:cubicBezTo>
                  <a:pt x="444136" y="92314"/>
                  <a:pt x="426322" y="111330"/>
                  <a:pt x="402455" y="116690"/>
                </a:cubicBezTo>
                <a:lnTo>
                  <a:pt x="402455" y="172700"/>
                </a:lnTo>
                <a:lnTo>
                  <a:pt x="379107" y="172700"/>
                </a:lnTo>
                <a:lnTo>
                  <a:pt x="379107" y="117035"/>
                </a:lnTo>
                <a:cubicBezTo>
                  <a:pt x="354202" y="112368"/>
                  <a:pt x="335523" y="93006"/>
                  <a:pt x="332064" y="67766"/>
                </a:cubicBezTo>
                <a:lnTo>
                  <a:pt x="116741" y="67766"/>
                </a:lnTo>
                <a:close/>
                <a:moveTo>
                  <a:pt x="389657" y="24375"/>
                </a:moveTo>
                <a:cubicBezTo>
                  <a:pt x="369941" y="24375"/>
                  <a:pt x="353856" y="40452"/>
                  <a:pt x="353856" y="60160"/>
                </a:cubicBezTo>
                <a:cubicBezTo>
                  <a:pt x="353856" y="79867"/>
                  <a:pt x="369941" y="95945"/>
                  <a:pt x="389657" y="95945"/>
                </a:cubicBezTo>
                <a:cubicBezTo>
                  <a:pt x="409373" y="95945"/>
                  <a:pt x="425458" y="79867"/>
                  <a:pt x="425458" y="60160"/>
                </a:cubicBezTo>
                <a:cubicBezTo>
                  <a:pt x="425458" y="40452"/>
                  <a:pt x="409373" y="24375"/>
                  <a:pt x="389657" y="24375"/>
                </a:cubicBezTo>
                <a:close/>
                <a:moveTo>
                  <a:pt x="720165" y="23338"/>
                </a:moveTo>
                <a:cubicBezTo>
                  <a:pt x="700448" y="23338"/>
                  <a:pt x="684364" y="39415"/>
                  <a:pt x="684364" y="59123"/>
                </a:cubicBezTo>
                <a:cubicBezTo>
                  <a:pt x="684364" y="78830"/>
                  <a:pt x="700448" y="94907"/>
                  <a:pt x="720165" y="94907"/>
                </a:cubicBezTo>
                <a:cubicBezTo>
                  <a:pt x="739881" y="94907"/>
                  <a:pt x="755965" y="78830"/>
                  <a:pt x="755965" y="59123"/>
                </a:cubicBezTo>
                <a:cubicBezTo>
                  <a:pt x="755965" y="39415"/>
                  <a:pt x="739881" y="23338"/>
                  <a:pt x="720165" y="23338"/>
                </a:cubicBezTo>
                <a:close/>
                <a:moveTo>
                  <a:pt x="59149" y="23338"/>
                </a:moveTo>
                <a:cubicBezTo>
                  <a:pt x="39433" y="23338"/>
                  <a:pt x="23348" y="39415"/>
                  <a:pt x="23348" y="59123"/>
                </a:cubicBezTo>
                <a:cubicBezTo>
                  <a:pt x="23348" y="78830"/>
                  <a:pt x="39433" y="94907"/>
                  <a:pt x="59149" y="94907"/>
                </a:cubicBezTo>
                <a:cubicBezTo>
                  <a:pt x="78865" y="94907"/>
                  <a:pt x="94950" y="78830"/>
                  <a:pt x="94950" y="59123"/>
                </a:cubicBezTo>
                <a:cubicBezTo>
                  <a:pt x="94950" y="39415"/>
                  <a:pt x="78865" y="23338"/>
                  <a:pt x="59149" y="23338"/>
                </a:cubicBezTo>
                <a:close/>
                <a:moveTo>
                  <a:pt x="59149" y="0"/>
                </a:moveTo>
                <a:cubicBezTo>
                  <a:pt x="89069" y="0"/>
                  <a:pt x="112764" y="22474"/>
                  <a:pt x="116741" y="51343"/>
                </a:cubicBezTo>
                <a:lnTo>
                  <a:pt x="116741" y="50479"/>
                </a:lnTo>
                <a:lnTo>
                  <a:pt x="332410" y="50479"/>
                </a:lnTo>
                <a:cubicBezTo>
                  <a:pt x="337253" y="22474"/>
                  <a:pt x="360428" y="864"/>
                  <a:pt x="389657" y="864"/>
                </a:cubicBezTo>
                <a:cubicBezTo>
                  <a:pt x="418885" y="864"/>
                  <a:pt x="442234" y="22646"/>
                  <a:pt x="446903" y="50479"/>
                </a:cubicBezTo>
                <a:lnTo>
                  <a:pt x="662745" y="50479"/>
                </a:lnTo>
                <a:cubicBezTo>
                  <a:pt x="667069" y="22128"/>
                  <a:pt x="690590" y="0"/>
                  <a:pt x="720165" y="0"/>
                </a:cubicBezTo>
                <a:cubicBezTo>
                  <a:pt x="752852" y="0"/>
                  <a:pt x="779314" y="26450"/>
                  <a:pt x="779314" y="59123"/>
                </a:cubicBezTo>
                <a:cubicBezTo>
                  <a:pt x="779314" y="89376"/>
                  <a:pt x="756311" y="113232"/>
                  <a:pt x="727083" y="116862"/>
                </a:cubicBezTo>
                <a:lnTo>
                  <a:pt x="727083" y="661759"/>
                </a:lnTo>
                <a:cubicBezTo>
                  <a:pt x="756311" y="665390"/>
                  <a:pt x="779314" y="689246"/>
                  <a:pt x="779314" y="719499"/>
                </a:cubicBezTo>
                <a:cubicBezTo>
                  <a:pt x="779314" y="752172"/>
                  <a:pt x="752852" y="778622"/>
                  <a:pt x="720165" y="778622"/>
                </a:cubicBezTo>
                <a:cubicBezTo>
                  <a:pt x="690590" y="778622"/>
                  <a:pt x="667069" y="756494"/>
                  <a:pt x="662745" y="728142"/>
                </a:cubicBezTo>
                <a:lnTo>
                  <a:pt x="447076" y="728142"/>
                </a:lnTo>
                <a:cubicBezTo>
                  <a:pt x="442753" y="756494"/>
                  <a:pt x="419231" y="778622"/>
                  <a:pt x="389657" y="778622"/>
                </a:cubicBezTo>
                <a:cubicBezTo>
                  <a:pt x="360082" y="778622"/>
                  <a:pt x="336561" y="756494"/>
                  <a:pt x="332237" y="728142"/>
                </a:cubicBezTo>
                <a:lnTo>
                  <a:pt x="116741" y="728142"/>
                </a:lnTo>
                <a:lnTo>
                  <a:pt x="116741" y="727278"/>
                </a:lnTo>
                <a:cubicBezTo>
                  <a:pt x="112764" y="756148"/>
                  <a:pt x="89069" y="778622"/>
                  <a:pt x="59149" y="778622"/>
                </a:cubicBezTo>
                <a:cubicBezTo>
                  <a:pt x="26461" y="778622"/>
                  <a:pt x="0" y="752172"/>
                  <a:pt x="0" y="719499"/>
                </a:cubicBezTo>
                <a:cubicBezTo>
                  <a:pt x="0" y="689592"/>
                  <a:pt x="22656" y="665735"/>
                  <a:pt x="51712" y="661932"/>
                </a:cubicBezTo>
                <a:lnTo>
                  <a:pt x="51712" y="116690"/>
                </a:lnTo>
                <a:cubicBezTo>
                  <a:pt x="22656" y="112886"/>
                  <a:pt x="0" y="89203"/>
                  <a:pt x="0" y="59123"/>
                </a:cubicBezTo>
                <a:cubicBezTo>
                  <a:pt x="0" y="26450"/>
                  <a:pt x="26461" y="0"/>
                  <a:pt x="59149" y="0"/>
                </a:cubicBezTo>
                <a:close/>
              </a:path>
            </a:pathLst>
          </a:custGeom>
          <a:solidFill>
            <a:srgbClr val="FFFFFF"/>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50" name="Google Shape;15150;p97"/>
          <p:cNvSpPr/>
          <p:nvPr/>
        </p:nvSpPr>
        <p:spPr>
          <a:xfrm>
            <a:off x="955019" y="4620479"/>
            <a:ext cx="429219" cy="428838"/>
          </a:xfrm>
          <a:custGeom>
            <a:avLst/>
            <a:gdLst/>
            <a:ahLst/>
            <a:cxnLst/>
            <a:rect l="l" t="t" r="r" b="b"/>
            <a:pathLst>
              <a:path w="779314" h="778622" extrusionOk="0">
                <a:moveTo>
                  <a:pt x="720165" y="683887"/>
                </a:moveTo>
                <a:cubicBezTo>
                  <a:pt x="700448" y="683887"/>
                  <a:pt x="684364" y="699964"/>
                  <a:pt x="684364" y="719672"/>
                </a:cubicBezTo>
                <a:cubicBezTo>
                  <a:pt x="684364" y="739379"/>
                  <a:pt x="700448" y="755457"/>
                  <a:pt x="720165" y="755457"/>
                </a:cubicBezTo>
                <a:cubicBezTo>
                  <a:pt x="739881" y="755457"/>
                  <a:pt x="755965" y="739379"/>
                  <a:pt x="755965" y="719672"/>
                </a:cubicBezTo>
                <a:cubicBezTo>
                  <a:pt x="755965" y="699964"/>
                  <a:pt x="739881" y="683887"/>
                  <a:pt x="720165" y="683887"/>
                </a:cubicBezTo>
                <a:close/>
                <a:moveTo>
                  <a:pt x="389657" y="683887"/>
                </a:moveTo>
                <a:cubicBezTo>
                  <a:pt x="369941" y="683887"/>
                  <a:pt x="353856" y="699964"/>
                  <a:pt x="353856" y="719672"/>
                </a:cubicBezTo>
                <a:cubicBezTo>
                  <a:pt x="353856" y="739379"/>
                  <a:pt x="369941" y="755457"/>
                  <a:pt x="389657" y="755457"/>
                </a:cubicBezTo>
                <a:cubicBezTo>
                  <a:pt x="409373" y="755457"/>
                  <a:pt x="425458" y="739379"/>
                  <a:pt x="425458" y="719672"/>
                </a:cubicBezTo>
                <a:cubicBezTo>
                  <a:pt x="425458" y="699964"/>
                  <a:pt x="409373" y="683887"/>
                  <a:pt x="389657" y="683887"/>
                </a:cubicBezTo>
                <a:close/>
                <a:moveTo>
                  <a:pt x="59149" y="683887"/>
                </a:moveTo>
                <a:cubicBezTo>
                  <a:pt x="39433" y="683887"/>
                  <a:pt x="23348" y="699964"/>
                  <a:pt x="23348" y="719672"/>
                </a:cubicBezTo>
                <a:cubicBezTo>
                  <a:pt x="23348" y="739379"/>
                  <a:pt x="39433" y="755457"/>
                  <a:pt x="59149" y="755457"/>
                </a:cubicBezTo>
                <a:cubicBezTo>
                  <a:pt x="78865" y="755457"/>
                  <a:pt x="94950" y="739379"/>
                  <a:pt x="94950" y="719672"/>
                </a:cubicBezTo>
                <a:cubicBezTo>
                  <a:pt x="94950" y="699964"/>
                  <a:pt x="78865" y="683887"/>
                  <a:pt x="59149" y="683887"/>
                </a:cubicBezTo>
                <a:close/>
                <a:moveTo>
                  <a:pt x="518159" y="496146"/>
                </a:moveTo>
                <a:lnTo>
                  <a:pt x="518159" y="505827"/>
                </a:lnTo>
                <a:lnTo>
                  <a:pt x="427533" y="505827"/>
                </a:lnTo>
                <a:lnTo>
                  <a:pt x="427533" y="525362"/>
                </a:lnTo>
                <a:lnTo>
                  <a:pt x="518159" y="525362"/>
                </a:lnTo>
                <a:lnTo>
                  <a:pt x="518159" y="535043"/>
                </a:lnTo>
                <a:lnTo>
                  <a:pt x="551884" y="515681"/>
                </a:lnTo>
                <a:close/>
                <a:moveTo>
                  <a:pt x="380663" y="484650"/>
                </a:moveTo>
                <a:cubicBezTo>
                  <a:pt x="372708" y="484650"/>
                  <a:pt x="364752" y="487676"/>
                  <a:pt x="358699" y="493726"/>
                </a:cubicBezTo>
                <a:cubicBezTo>
                  <a:pt x="346592" y="505827"/>
                  <a:pt x="346592" y="525535"/>
                  <a:pt x="358699" y="537636"/>
                </a:cubicBezTo>
                <a:cubicBezTo>
                  <a:pt x="370805" y="549737"/>
                  <a:pt x="390521" y="549737"/>
                  <a:pt x="402628" y="537636"/>
                </a:cubicBezTo>
                <a:cubicBezTo>
                  <a:pt x="414735" y="525535"/>
                  <a:pt x="414735" y="505827"/>
                  <a:pt x="402628" y="493726"/>
                </a:cubicBezTo>
                <a:cubicBezTo>
                  <a:pt x="396575" y="487676"/>
                  <a:pt x="388619" y="484650"/>
                  <a:pt x="380663" y="484650"/>
                </a:cubicBezTo>
                <a:close/>
                <a:moveTo>
                  <a:pt x="307332" y="427170"/>
                </a:moveTo>
                <a:lnTo>
                  <a:pt x="293496" y="441000"/>
                </a:lnTo>
                <a:lnTo>
                  <a:pt x="341058" y="488540"/>
                </a:lnTo>
                <a:lnTo>
                  <a:pt x="354894" y="474710"/>
                </a:lnTo>
                <a:close/>
                <a:moveTo>
                  <a:pt x="307159" y="384297"/>
                </a:moveTo>
                <a:lnTo>
                  <a:pt x="307159" y="403832"/>
                </a:lnTo>
                <a:lnTo>
                  <a:pt x="343998" y="403832"/>
                </a:lnTo>
                <a:lnTo>
                  <a:pt x="343998" y="384297"/>
                </a:lnTo>
                <a:close/>
                <a:moveTo>
                  <a:pt x="518159" y="374789"/>
                </a:moveTo>
                <a:lnTo>
                  <a:pt x="518159" y="384470"/>
                </a:lnTo>
                <a:lnTo>
                  <a:pt x="427533" y="384470"/>
                </a:lnTo>
                <a:lnTo>
                  <a:pt x="427533" y="403832"/>
                </a:lnTo>
                <a:lnTo>
                  <a:pt x="518159" y="403832"/>
                </a:lnTo>
                <a:lnTo>
                  <a:pt x="518159" y="413513"/>
                </a:lnTo>
                <a:lnTo>
                  <a:pt x="551884" y="394151"/>
                </a:lnTo>
                <a:close/>
                <a:moveTo>
                  <a:pt x="380663" y="363120"/>
                </a:moveTo>
                <a:cubicBezTo>
                  <a:pt x="372708" y="363120"/>
                  <a:pt x="364752" y="366146"/>
                  <a:pt x="358699" y="372196"/>
                </a:cubicBezTo>
                <a:cubicBezTo>
                  <a:pt x="346592" y="384297"/>
                  <a:pt x="346592" y="404005"/>
                  <a:pt x="358699" y="416106"/>
                </a:cubicBezTo>
                <a:cubicBezTo>
                  <a:pt x="370805" y="428207"/>
                  <a:pt x="390521" y="428207"/>
                  <a:pt x="402628" y="416106"/>
                </a:cubicBezTo>
                <a:cubicBezTo>
                  <a:pt x="414735" y="404005"/>
                  <a:pt x="414735" y="384297"/>
                  <a:pt x="402628" y="372196"/>
                </a:cubicBezTo>
                <a:cubicBezTo>
                  <a:pt x="396575" y="366146"/>
                  <a:pt x="388619" y="363120"/>
                  <a:pt x="380663" y="363120"/>
                </a:cubicBezTo>
                <a:close/>
                <a:moveTo>
                  <a:pt x="259252" y="363120"/>
                </a:moveTo>
                <a:cubicBezTo>
                  <a:pt x="251297" y="363120"/>
                  <a:pt x="243341" y="366146"/>
                  <a:pt x="237288" y="372196"/>
                </a:cubicBezTo>
                <a:cubicBezTo>
                  <a:pt x="225181" y="384297"/>
                  <a:pt x="225181" y="404005"/>
                  <a:pt x="237288" y="416106"/>
                </a:cubicBezTo>
                <a:cubicBezTo>
                  <a:pt x="249394" y="428207"/>
                  <a:pt x="269110" y="428207"/>
                  <a:pt x="281217" y="416106"/>
                </a:cubicBezTo>
                <a:cubicBezTo>
                  <a:pt x="293323" y="404005"/>
                  <a:pt x="293323" y="384297"/>
                  <a:pt x="281217" y="372196"/>
                </a:cubicBezTo>
                <a:cubicBezTo>
                  <a:pt x="275164" y="366146"/>
                  <a:pt x="267208" y="363120"/>
                  <a:pt x="259252" y="363120"/>
                </a:cubicBezTo>
                <a:close/>
                <a:moveTo>
                  <a:pt x="341058" y="304084"/>
                </a:moveTo>
                <a:lnTo>
                  <a:pt x="293496" y="351624"/>
                </a:lnTo>
                <a:lnTo>
                  <a:pt x="307332" y="365454"/>
                </a:lnTo>
                <a:lnTo>
                  <a:pt x="354894" y="317914"/>
                </a:lnTo>
                <a:close/>
                <a:moveTo>
                  <a:pt x="518159" y="252395"/>
                </a:moveTo>
                <a:lnTo>
                  <a:pt x="518159" y="262076"/>
                </a:lnTo>
                <a:lnTo>
                  <a:pt x="427533" y="262076"/>
                </a:lnTo>
                <a:lnTo>
                  <a:pt x="427533" y="281437"/>
                </a:lnTo>
                <a:lnTo>
                  <a:pt x="518159" y="281437"/>
                </a:lnTo>
                <a:lnTo>
                  <a:pt x="518159" y="291118"/>
                </a:lnTo>
                <a:lnTo>
                  <a:pt x="551884" y="271757"/>
                </a:lnTo>
                <a:close/>
                <a:moveTo>
                  <a:pt x="380663" y="240898"/>
                </a:moveTo>
                <a:cubicBezTo>
                  <a:pt x="372708" y="240898"/>
                  <a:pt x="364752" y="243924"/>
                  <a:pt x="358699" y="249974"/>
                </a:cubicBezTo>
                <a:cubicBezTo>
                  <a:pt x="346592" y="262076"/>
                  <a:pt x="346592" y="281783"/>
                  <a:pt x="358699" y="293884"/>
                </a:cubicBezTo>
                <a:cubicBezTo>
                  <a:pt x="370805" y="305985"/>
                  <a:pt x="390521" y="305985"/>
                  <a:pt x="402628" y="293884"/>
                </a:cubicBezTo>
                <a:cubicBezTo>
                  <a:pt x="414735" y="281783"/>
                  <a:pt x="414735" y="262076"/>
                  <a:pt x="402628" y="249974"/>
                </a:cubicBezTo>
                <a:cubicBezTo>
                  <a:pt x="396575" y="243924"/>
                  <a:pt x="388619" y="240898"/>
                  <a:pt x="380663" y="240898"/>
                </a:cubicBezTo>
                <a:close/>
                <a:moveTo>
                  <a:pt x="315980" y="196038"/>
                </a:moveTo>
                <a:lnTo>
                  <a:pt x="581113" y="196038"/>
                </a:lnTo>
                <a:lnTo>
                  <a:pt x="581113" y="579125"/>
                </a:lnTo>
                <a:lnTo>
                  <a:pt x="320650" y="579125"/>
                </a:lnTo>
                <a:lnTo>
                  <a:pt x="197682" y="448260"/>
                </a:lnTo>
                <a:lnTo>
                  <a:pt x="197682" y="328632"/>
                </a:lnTo>
                <a:close/>
                <a:moveTo>
                  <a:pt x="116568" y="67248"/>
                </a:moveTo>
                <a:cubicBezTo>
                  <a:pt x="115358" y="75891"/>
                  <a:pt x="112418" y="83671"/>
                  <a:pt x="107921" y="90586"/>
                </a:cubicBezTo>
                <a:lnTo>
                  <a:pt x="251297" y="234243"/>
                </a:lnTo>
                <a:lnTo>
                  <a:pt x="234693" y="250839"/>
                </a:lnTo>
                <a:lnTo>
                  <a:pt x="91491" y="107354"/>
                </a:lnTo>
                <a:cubicBezTo>
                  <a:pt x="84573" y="111849"/>
                  <a:pt x="77136" y="114961"/>
                  <a:pt x="68661" y="116344"/>
                </a:cubicBezTo>
                <a:lnTo>
                  <a:pt x="68661" y="662451"/>
                </a:lnTo>
                <a:cubicBezTo>
                  <a:pt x="76963" y="663834"/>
                  <a:pt x="84400" y="666772"/>
                  <a:pt x="91145" y="671267"/>
                </a:cubicBezTo>
                <a:lnTo>
                  <a:pt x="236769" y="525189"/>
                </a:lnTo>
                <a:lnTo>
                  <a:pt x="253372" y="541785"/>
                </a:lnTo>
                <a:lnTo>
                  <a:pt x="107748" y="687863"/>
                </a:lnTo>
                <a:cubicBezTo>
                  <a:pt x="112245" y="694951"/>
                  <a:pt x="115358" y="702903"/>
                  <a:pt x="116568" y="711547"/>
                </a:cubicBezTo>
                <a:lnTo>
                  <a:pt x="116568" y="711028"/>
                </a:lnTo>
                <a:lnTo>
                  <a:pt x="332237" y="711028"/>
                </a:lnTo>
                <a:cubicBezTo>
                  <a:pt x="336042" y="686307"/>
                  <a:pt x="354548" y="667291"/>
                  <a:pt x="379107" y="662624"/>
                </a:cubicBezTo>
                <a:lnTo>
                  <a:pt x="379107" y="602982"/>
                </a:lnTo>
                <a:lnTo>
                  <a:pt x="402455" y="602982"/>
                </a:lnTo>
                <a:lnTo>
                  <a:pt x="402455" y="662969"/>
                </a:lnTo>
                <a:cubicBezTo>
                  <a:pt x="425976" y="668328"/>
                  <a:pt x="443444" y="686999"/>
                  <a:pt x="447076" y="711028"/>
                </a:cubicBezTo>
                <a:lnTo>
                  <a:pt x="662745" y="711028"/>
                </a:lnTo>
                <a:cubicBezTo>
                  <a:pt x="664129" y="702557"/>
                  <a:pt x="667069" y="694778"/>
                  <a:pt x="671566" y="687863"/>
                </a:cubicBezTo>
                <a:lnTo>
                  <a:pt x="671393" y="688209"/>
                </a:lnTo>
                <a:lnTo>
                  <a:pt x="588204" y="604884"/>
                </a:lnTo>
                <a:lnTo>
                  <a:pt x="604807" y="588288"/>
                </a:lnTo>
                <a:lnTo>
                  <a:pt x="687996" y="671440"/>
                </a:lnTo>
                <a:cubicBezTo>
                  <a:pt x="694568" y="667118"/>
                  <a:pt x="701832" y="664179"/>
                  <a:pt x="709961" y="662796"/>
                </a:cubicBezTo>
                <a:lnTo>
                  <a:pt x="709961" y="116344"/>
                </a:lnTo>
                <a:cubicBezTo>
                  <a:pt x="701659" y="114788"/>
                  <a:pt x="694395" y="111849"/>
                  <a:pt x="687650" y="107354"/>
                </a:cubicBezTo>
                <a:lnTo>
                  <a:pt x="606709" y="188605"/>
                </a:lnTo>
                <a:lnTo>
                  <a:pt x="590106" y="172009"/>
                </a:lnTo>
                <a:lnTo>
                  <a:pt x="671220" y="90586"/>
                </a:lnTo>
                <a:cubicBezTo>
                  <a:pt x="666723" y="83671"/>
                  <a:pt x="663783" y="76237"/>
                  <a:pt x="662572" y="67766"/>
                </a:cubicBezTo>
                <a:lnTo>
                  <a:pt x="447076" y="67766"/>
                </a:lnTo>
                <a:cubicBezTo>
                  <a:pt x="443790" y="92314"/>
                  <a:pt x="426149" y="111330"/>
                  <a:pt x="402282" y="116690"/>
                </a:cubicBezTo>
                <a:lnTo>
                  <a:pt x="402282" y="172873"/>
                </a:lnTo>
                <a:lnTo>
                  <a:pt x="378934" y="172873"/>
                </a:lnTo>
                <a:lnTo>
                  <a:pt x="378934" y="117208"/>
                </a:lnTo>
                <a:cubicBezTo>
                  <a:pt x="354029" y="112541"/>
                  <a:pt x="335350" y="93006"/>
                  <a:pt x="331892" y="67766"/>
                </a:cubicBezTo>
                <a:lnTo>
                  <a:pt x="116568" y="67766"/>
                </a:lnTo>
                <a:close/>
                <a:moveTo>
                  <a:pt x="389657" y="24375"/>
                </a:moveTo>
                <a:cubicBezTo>
                  <a:pt x="369941" y="24375"/>
                  <a:pt x="353856" y="40452"/>
                  <a:pt x="353856" y="60160"/>
                </a:cubicBezTo>
                <a:cubicBezTo>
                  <a:pt x="353856" y="79867"/>
                  <a:pt x="369941" y="95945"/>
                  <a:pt x="389657" y="95945"/>
                </a:cubicBezTo>
                <a:cubicBezTo>
                  <a:pt x="409373" y="95945"/>
                  <a:pt x="425458" y="79867"/>
                  <a:pt x="425458" y="60160"/>
                </a:cubicBezTo>
                <a:cubicBezTo>
                  <a:pt x="425458" y="40452"/>
                  <a:pt x="409373" y="24375"/>
                  <a:pt x="389657" y="24375"/>
                </a:cubicBezTo>
                <a:close/>
                <a:moveTo>
                  <a:pt x="720165" y="23338"/>
                </a:moveTo>
                <a:cubicBezTo>
                  <a:pt x="700448" y="23338"/>
                  <a:pt x="684364" y="39415"/>
                  <a:pt x="684364" y="59123"/>
                </a:cubicBezTo>
                <a:cubicBezTo>
                  <a:pt x="684364" y="78830"/>
                  <a:pt x="700448" y="94907"/>
                  <a:pt x="720165" y="94907"/>
                </a:cubicBezTo>
                <a:cubicBezTo>
                  <a:pt x="739881" y="94907"/>
                  <a:pt x="755965" y="78830"/>
                  <a:pt x="755965" y="59123"/>
                </a:cubicBezTo>
                <a:cubicBezTo>
                  <a:pt x="755965" y="39415"/>
                  <a:pt x="739881" y="23338"/>
                  <a:pt x="720165" y="23338"/>
                </a:cubicBezTo>
                <a:close/>
                <a:moveTo>
                  <a:pt x="59149" y="23338"/>
                </a:moveTo>
                <a:cubicBezTo>
                  <a:pt x="39433" y="23338"/>
                  <a:pt x="23348" y="39415"/>
                  <a:pt x="23348" y="59123"/>
                </a:cubicBezTo>
                <a:cubicBezTo>
                  <a:pt x="23348" y="78830"/>
                  <a:pt x="39433" y="94907"/>
                  <a:pt x="59149" y="94907"/>
                </a:cubicBezTo>
                <a:cubicBezTo>
                  <a:pt x="78865" y="94907"/>
                  <a:pt x="94950" y="78830"/>
                  <a:pt x="94950" y="59123"/>
                </a:cubicBezTo>
                <a:cubicBezTo>
                  <a:pt x="94950" y="39415"/>
                  <a:pt x="78865" y="23338"/>
                  <a:pt x="59149" y="23338"/>
                </a:cubicBezTo>
                <a:close/>
                <a:moveTo>
                  <a:pt x="59149" y="0"/>
                </a:moveTo>
                <a:cubicBezTo>
                  <a:pt x="88896" y="0"/>
                  <a:pt x="112418" y="22301"/>
                  <a:pt x="116568" y="50998"/>
                </a:cubicBezTo>
                <a:lnTo>
                  <a:pt x="116568" y="50479"/>
                </a:lnTo>
                <a:lnTo>
                  <a:pt x="332410" y="50479"/>
                </a:lnTo>
                <a:cubicBezTo>
                  <a:pt x="337253" y="22474"/>
                  <a:pt x="360428" y="864"/>
                  <a:pt x="389657" y="864"/>
                </a:cubicBezTo>
                <a:cubicBezTo>
                  <a:pt x="418885" y="864"/>
                  <a:pt x="442234" y="22646"/>
                  <a:pt x="446903" y="50479"/>
                </a:cubicBezTo>
                <a:lnTo>
                  <a:pt x="662745" y="50479"/>
                </a:lnTo>
                <a:cubicBezTo>
                  <a:pt x="667069" y="22128"/>
                  <a:pt x="690590" y="0"/>
                  <a:pt x="720165" y="0"/>
                </a:cubicBezTo>
                <a:cubicBezTo>
                  <a:pt x="752852" y="0"/>
                  <a:pt x="779314" y="26450"/>
                  <a:pt x="779314" y="59123"/>
                </a:cubicBezTo>
                <a:cubicBezTo>
                  <a:pt x="779314" y="89376"/>
                  <a:pt x="756484" y="113232"/>
                  <a:pt x="727256" y="116862"/>
                </a:cubicBezTo>
                <a:lnTo>
                  <a:pt x="727256" y="661759"/>
                </a:lnTo>
                <a:cubicBezTo>
                  <a:pt x="756484" y="665390"/>
                  <a:pt x="779314" y="689419"/>
                  <a:pt x="779314" y="719499"/>
                </a:cubicBezTo>
                <a:cubicBezTo>
                  <a:pt x="779314" y="752172"/>
                  <a:pt x="752852" y="778622"/>
                  <a:pt x="720165" y="778622"/>
                </a:cubicBezTo>
                <a:cubicBezTo>
                  <a:pt x="690590" y="778622"/>
                  <a:pt x="667069" y="756494"/>
                  <a:pt x="662745" y="728142"/>
                </a:cubicBezTo>
                <a:lnTo>
                  <a:pt x="447076" y="728142"/>
                </a:lnTo>
                <a:cubicBezTo>
                  <a:pt x="442753" y="756494"/>
                  <a:pt x="419231" y="778622"/>
                  <a:pt x="389657" y="778622"/>
                </a:cubicBezTo>
                <a:cubicBezTo>
                  <a:pt x="360082" y="778622"/>
                  <a:pt x="336561" y="756494"/>
                  <a:pt x="332237" y="728142"/>
                </a:cubicBezTo>
                <a:lnTo>
                  <a:pt x="116568" y="728142"/>
                </a:lnTo>
                <a:lnTo>
                  <a:pt x="116568" y="727624"/>
                </a:lnTo>
                <a:cubicBezTo>
                  <a:pt x="112591" y="756321"/>
                  <a:pt x="88896" y="778622"/>
                  <a:pt x="59149" y="778622"/>
                </a:cubicBezTo>
                <a:cubicBezTo>
                  <a:pt x="26461" y="778622"/>
                  <a:pt x="0" y="752172"/>
                  <a:pt x="0" y="719499"/>
                </a:cubicBezTo>
                <a:cubicBezTo>
                  <a:pt x="0" y="689592"/>
                  <a:pt x="22656" y="665735"/>
                  <a:pt x="51539" y="661932"/>
                </a:cubicBezTo>
                <a:lnTo>
                  <a:pt x="51539" y="116690"/>
                </a:lnTo>
                <a:cubicBezTo>
                  <a:pt x="22656" y="112886"/>
                  <a:pt x="0" y="89030"/>
                  <a:pt x="0" y="59123"/>
                </a:cubicBezTo>
                <a:cubicBezTo>
                  <a:pt x="0" y="26450"/>
                  <a:pt x="26461" y="0"/>
                  <a:pt x="59149" y="0"/>
                </a:cubicBezTo>
                <a:close/>
              </a:path>
            </a:pathLst>
          </a:custGeom>
          <a:solidFill>
            <a:srgbClr val="FFFFFF"/>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51" name="Google Shape;15151;p97"/>
          <p:cNvSpPr/>
          <p:nvPr/>
        </p:nvSpPr>
        <p:spPr>
          <a:xfrm>
            <a:off x="1045072" y="2373663"/>
            <a:ext cx="390199" cy="390026"/>
          </a:xfrm>
          <a:custGeom>
            <a:avLst/>
            <a:gdLst/>
            <a:ahLst/>
            <a:cxnLst/>
            <a:rect l="l" t="t" r="r" b="b"/>
            <a:pathLst>
              <a:path w="779314" h="778968" extrusionOk="0">
                <a:moveTo>
                  <a:pt x="720165" y="684212"/>
                </a:moveTo>
                <a:cubicBezTo>
                  <a:pt x="700448" y="684212"/>
                  <a:pt x="684364" y="700293"/>
                  <a:pt x="684364" y="720005"/>
                </a:cubicBezTo>
                <a:cubicBezTo>
                  <a:pt x="684364" y="739717"/>
                  <a:pt x="700448" y="755797"/>
                  <a:pt x="720165" y="755797"/>
                </a:cubicBezTo>
                <a:cubicBezTo>
                  <a:pt x="739881" y="755797"/>
                  <a:pt x="755965" y="739717"/>
                  <a:pt x="755965" y="720005"/>
                </a:cubicBezTo>
                <a:cubicBezTo>
                  <a:pt x="755965" y="700293"/>
                  <a:pt x="739881" y="684212"/>
                  <a:pt x="720165" y="684212"/>
                </a:cubicBezTo>
                <a:close/>
                <a:moveTo>
                  <a:pt x="389657" y="684212"/>
                </a:moveTo>
                <a:cubicBezTo>
                  <a:pt x="369941" y="684212"/>
                  <a:pt x="353856" y="700293"/>
                  <a:pt x="353856" y="720005"/>
                </a:cubicBezTo>
                <a:cubicBezTo>
                  <a:pt x="353856" y="739717"/>
                  <a:pt x="369941" y="755797"/>
                  <a:pt x="389657" y="755797"/>
                </a:cubicBezTo>
                <a:cubicBezTo>
                  <a:pt x="409373" y="755797"/>
                  <a:pt x="425458" y="739717"/>
                  <a:pt x="425458" y="720005"/>
                </a:cubicBezTo>
                <a:cubicBezTo>
                  <a:pt x="425458" y="700293"/>
                  <a:pt x="409373" y="684212"/>
                  <a:pt x="389657" y="684212"/>
                </a:cubicBezTo>
                <a:close/>
                <a:moveTo>
                  <a:pt x="59149" y="684212"/>
                </a:moveTo>
                <a:cubicBezTo>
                  <a:pt x="39433" y="684212"/>
                  <a:pt x="23348" y="700293"/>
                  <a:pt x="23348" y="720005"/>
                </a:cubicBezTo>
                <a:cubicBezTo>
                  <a:pt x="23348" y="739717"/>
                  <a:pt x="39433" y="755797"/>
                  <a:pt x="59149" y="755797"/>
                </a:cubicBezTo>
                <a:cubicBezTo>
                  <a:pt x="78865" y="755797"/>
                  <a:pt x="94950" y="739717"/>
                  <a:pt x="94950" y="720005"/>
                </a:cubicBezTo>
                <a:cubicBezTo>
                  <a:pt x="94950" y="700293"/>
                  <a:pt x="78865" y="684212"/>
                  <a:pt x="59149" y="684212"/>
                </a:cubicBezTo>
                <a:close/>
                <a:moveTo>
                  <a:pt x="386197" y="433662"/>
                </a:moveTo>
                <a:cubicBezTo>
                  <a:pt x="389656" y="431760"/>
                  <a:pt x="393980" y="433143"/>
                  <a:pt x="395882" y="436601"/>
                </a:cubicBezTo>
                <a:lnTo>
                  <a:pt x="396228" y="436601"/>
                </a:lnTo>
                <a:lnTo>
                  <a:pt x="416982" y="473950"/>
                </a:lnTo>
                <a:cubicBezTo>
                  <a:pt x="414215" y="474815"/>
                  <a:pt x="411448" y="475507"/>
                  <a:pt x="408681" y="476198"/>
                </a:cubicBezTo>
                <a:cubicBezTo>
                  <a:pt x="393288" y="479656"/>
                  <a:pt x="377550" y="478792"/>
                  <a:pt x="362676" y="473777"/>
                </a:cubicBezTo>
                <a:lnTo>
                  <a:pt x="383257" y="436601"/>
                </a:lnTo>
                <a:cubicBezTo>
                  <a:pt x="383949" y="435391"/>
                  <a:pt x="384987" y="434354"/>
                  <a:pt x="386197" y="433662"/>
                </a:cubicBezTo>
                <a:close/>
                <a:moveTo>
                  <a:pt x="424938" y="415680"/>
                </a:moveTo>
                <a:cubicBezTo>
                  <a:pt x="425630" y="415680"/>
                  <a:pt x="426668" y="415680"/>
                  <a:pt x="426668" y="415680"/>
                </a:cubicBezTo>
                <a:lnTo>
                  <a:pt x="426668" y="415853"/>
                </a:lnTo>
                <a:lnTo>
                  <a:pt x="469041" y="422942"/>
                </a:lnTo>
                <a:cubicBezTo>
                  <a:pt x="462814" y="440579"/>
                  <a:pt x="450881" y="455450"/>
                  <a:pt x="435142" y="465479"/>
                </a:cubicBezTo>
                <a:cubicBezTo>
                  <a:pt x="435142" y="465479"/>
                  <a:pt x="418712" y="425709"/>
                  <a:pt x="418712" y="425709"/>
                </a:cubicBezTo>
                <a:cubicBezTo>
                  <a:pt x="417156" y="422078"/>
                  <a:pt x="418712" y="418101"/>
                  <a:pt x="422171" y="416372"/>
                </a:cubicBezTo>
                <a:cubicBezTo>
                  <a:pt x="423036" y="416026"/>
                  <a:pt x="423901" y="415680"/>
                  <a:pt x="424938" y="415680"/>
                </a:cubicBezTo>
                <a:close/>
                <a:moveTo>
                  <a:pt x="352472" y="415680"/>
                </a:moveTo>
                <a:cubicBezTo>
                  <a:pt x="352991" y="415680"/>
                  <a:pt x="353855" y="415680"/>
                  <a:pt x="353855" y="415680"/>
                </a:cubicBezTo>
                <a:lnTo>
                  <a:pt x="354028" y="415680"/>
                </a:lnTo>
                <a:cubicBezTo>
                  <a:pt x="357314" y="415680"/>
                  <a:pt x="360255" y="417928"/>
                  <a:pt x="360946" y="421213"/>
                </a:cubicBezTo>
                <a:cubicBezTo>
                  <a:pt x="361292" y="422596"/>
                  <a:pt x="361119" y="424153"/>
                  <a:pt x="360601" y="425709"/>
                </a:cubicBezTo>
                <a:lnTo>
                  <a:pt x="344343" y="464960"/>
                </a:lnTo>
                <a:cubicBezTo>
                  <a:pt x="328605" y="454931"/>
                  <a:pt x="316671" y="440233"/>
                  <a:pt x="310445" y="422769"/>
                </a:cubicBezTo>
                <a:cubicBezTo>
                  <a:pt x="310445" y="422769"/>
                  <a:pt x="352472" y="415680"/>
                  <a:pt x="352472" y="415680"/>
                </a:cubicBezTo>
                <a:close/>
                <a:moveTo>
                  <a:pt x="383085" y="380751"/>
                </a:moveTo>
                <a:lnTo>
                  <a:pt x="396229" y="380751"/>
                </a:lnTo>
                <a:lnTo>
                  <a:pt x="404358" y="390953"/>
                </a:lnTo>
                <a:lnTo>
                  <a:pt x="401417" y="403575"/>
                </a:lnTo>
                <a:lnTo>
                  <a:pt x="389657" y="409281"/>
                </a:lnTo>
                <a:lnTo>
                  <a:pt x="377896" y="403575"/>
                </a:lnTo>
                <a:lnTo>
                  <a:pt x="374956" y="390953"/>
                </a:lnTo>
                <a:close/>
                <a:moveTo>
                  <a:pt x="461131" y="350259"/>
                </a:moveTo>
                <a:lnTo>
                  <a:pt x="471505" y="375478"/>
                </a:lnTo>
                <a:cubicBezTo>
                  <a:pt x="473580" y="384383"/>
                  <a:pt x="474229" y="393634"/>
                  <a:pt x="473364" y="402884"/>
                </a:cubicBezTo>
                <a:cubicBezTo>
                  <a:pt x="473364" y="402884"/>
                  <a:pt x="432202" y="390953"/>
                  <a:pt x="432202" y="390953"/>
                </a:cubicBezTo>
                <a:cubicBezTo>
                  <a:pt x="430818" y="390607"/>
                  <a:pt x="429607" y="389743"/>
                  <a:pt x="428743" y="388705"/>
                </a:cubicBezTo>
                <a:cubicBezTo>
                  <a:pt x="426148" y="385766"/>
                  <a:pt x="426494" y="381270"/>
                  <a:pt x="429435" y="378504"/>
                </a:cubicBezTo>
                <a:close/>
                <a:moveTo>
                  <a:pt x="461084" y="350146"/>
                </a:moveTo>
                <a:lnTo>
                  <a:pt x="461257" y="350146"/>
                </a:lnTo>
                <a:lnTo>
                  <a:pt x="461131" y="350259"/>
                </a:lnTo>
                <a:close/>
                <a:moveTo>
                  <a:pt x="317536" y="350146"/>
                </a:moveTo>
                <a:cubicBezTo>
                  <a:pt x="317536" y="350146"/>
                  <a:pt x="349532" y="378849"/>
                  <a:pt x="349532" y="378849"/>
                </a:cubicBezTo>
                <a:cubicBezTo>
                  <a:pt x="350569" y="379714"/>
                  <a:pt x="351434" y="380924"/>
                  <a:pt x="351780" y="382308"/>
                </a:cubicBezTo>
                <a:cubicBezTo>
                  <a:pt x="352818" y="386112"/>
                  <a:pt x="350569" y="390089"/>
                  <a:pt x="346764" y="391126"/>
                </a:cubicBezTo>
                <a:lnTo>
                  <a:pt x="346592" y="391299"/>
                </a:lnTo>
                <a:lnTo>
                  <a:pt x="305602" y="403057"/>
                </a:lnTo>
                <a:cubicBezTo>
                  <a:pt x="303527" y="384555"/>
                  <a:pt x="307851" y="366054"/>
                  <a:pt x="317536" y="350146"/>
                </a:cubicBezTo>
                <a:close/>
                <a:moveTo>
                  <a:pt x="379452" y="310722"/>
                </a:moveTo>
                <a:cubicBezTo>
                  <a:pt x="379452" y="310722"/>
                  <a:pt x="377031" y="353431"/>
                  <a:pt x="377031" y="353431"/>
                </a:cubicBezTo>
                <a:lnTo>
                  <a:pt x="376858" y="353431"/>
                </a:lnTo>
                <a:cubicBezTo>
                  <a:pt x="376858" y="354987"/>
                  <a:pt x="376339" y="356198"/>
                  <a:pt x="375474" y="357408"/>
                </a:cubicBezTo>
                <a:cubicBezTo>
                  <a:pt x="373053" y="360521"/>
                  <a:pt x="368729" y="361212"/>
                  <a:pt x="365443" y="358964"/>
                </a:cubicBezTo>
                <a:lnTo>
                  <a:pt x="330507" y="334238"/>
                </a:lnTo>
                <a:cubicBezTo>
                  <a:pt x="341576" y="323345"/>
                  <a:pt x="355585" y="315736"/>
                  <a:pt x="370804" y="312278"/>
                </a:cubicBezTo>
                <a:cubicBezTo>
                  <a:pt x="373572" y="311587"/>
                  <a:pt x="376512" y="311068"/>
                  <a:pt x="379452" y="310722"/>
                </a:cubicBezTo>
                <a:close/>
                <a:moveTo>
                  <a:pt x="399687" y="310549"/>
                </a:moveTo>
                <a:cubicBezTo>
                  <a:pt x="418020" y="312970"/>
                  <a:pt x="435142" y="321097"/>
                  <a:pt x="448459" y="334065"/>
                </a:cubicBezTo>
                <a:cubicBezTo>
                  <a:pt x="448459" y="334065"/>
                  <a:pt x="413696" y="358618"/>
                  <a:pt x="413696" y="358618"/>
                </a:cubicBezTo>
                <a:cubicBezTo>
                  <a:pt x="412485" y="359483"/>
                  <a:pt x="411102" y="360002"/>
                  <a:pt x="409718" y="360002"/>
                </a:cubicBezTo>
                <a:cubicBezTo>
                  <a:pt x="405740" y="360348"/>
                  <a:pt x="402454" y="357235"/>
                  <a:pt x="402281" y="353258"/>
                </a:cubicBezTo>
                <a:lnTo>
                  <a:pt x="402108" y="353085"/>
                </a:lnTo>
                <a:close/>
                <a:moveTo>
                  <a:pt x="389311" y="246918"/>
                </a:moveTo>
                <a:cubicBezTo>
                  <a:pt x="384814" y="247436"/>
                  <a:pt x="381528" y="251413"/>
                  <a:pt x="382047" y="255909"/>
                </a:cubicBezTo>
                <a:cubicBezTo>
                  <a:pt x="382047" y="256082"/>
                  <a:pt x="382047" y="256082"/>
                  <a:pt x="382047" y="256082"/>
                </a:cubicBezTo>
                <a:cubicBezTo>
                  <a:pt x="382047" y="256774"/>
                  <a:pt x="382047" y="257638"/>
                  <a:pt x="382047" y="258157"/>
                </a:cubicBezTo>
                <a:cubicBezTo>
                  <a:pt x="382220" y="260751"/>
                  <a:pt x="382566" y="263344"/>
                  <a:pt x="383085" y="265938"/>
                </a:cubicBezTo>
                <a:cubicBezTo>
                  <a:pt x="383949" y="270779"/>
                  <a:pt x="384122" y="275621"/>
                  <a:pt x="383949" y="280635"/>
                </a:cubicBezTo>
                <a:cubicBezTo>
                  <a:pt x="383603" y="282192"/>
                  <a:pt x="382566" y="283748"/>
                  <a:pt x="381182" y="284785"/>
                </a:cubicBezTo>
                <a:lnTo>
                  <a:pt x="381182" y="288244"/>
                </a:lnTo>
                <a:cubicBezTo>
                  <a:pt x="376167" y="288589"/>
                  <a:pt x="371324" y="289454"/>
                  <a:pt x="366481" y="290491"/>
                </a:cubicBezTo>
                <a:cubicBezTo>
                  <a:pt x="346246" y="295160"/>
                  <a:pt x="327741" y="305708"/>
                  <a:pt x="313559" y="320924"/>
                </a:cubicBezTo>
                <a:cubicBezTo>
                  <a:pt x="312521" y="320232"/>
                  <a:pt x="311656" y="319541"/>
                  <a:pt x="310618" y="318849"/>
                </a:cubicBezTo>
                <a:cubicBezTo>
                  <a:pt x="309062" y="319368"/>
                  <a:pt x="307332" y="319195"/>
                  <a:pt x="305776" y="318330"/>
                </a:cubicBezTo>
                <a:cubicBezTo>
                  <a:pt x="301798" y="315391"/>
                  <a:pt x="298166" y="312105"/>
                  <a:pt x="294880" y="308474"/>
                </a:cubicBezTo>
                <a:cubicBezTo>
                  <a:pt x="293151" y="306399"/>
                  <a:pt x="291421" y="304497"/>
                  <a:pt x="289519" y="302768"/>
                </a:cubicBezTo>
                <a:cubicBezTo>
                  <a:pt x="289173" y="302422"/>
                  <a:pt x="288308" y="301904"/>
                  <a:pt x="287789" y="301385"/>
                </a:cubicBezTo>
                <a:cubicBezTo>
                  <a:pt x="286060" y="300175"/>
                  <a:pt x="284157" y="299310"/>
                  <a:pt x="282082" y="299310"/>
                </a:cubicBezTo>
                <a:cubicBezTo>
                  <a:pt x="279660" y="299310"/>
                  <a:pt x="277239" y="300347"/>
                  <a:pt x="275683" y="302249"/>
                </a:cubicBezTo>
                <a:cubicBezTo>
                  <a:pt x="273088" y="306054"/>
                  <a:pt x="273953" y="311414"/>
                  <a:pt x="277758" y="314353"/>
                </a:cubicBezTo>
                <a:cubicBezTo>
                  <a:pt x="278277" y="314872"/>
                  <a:pt x="278969" y="315391"/>
                  <a:pt x="279487" y="315737"/>
                </a:cubicBezTo>
                <a:cubicBezTo>
                  <a:pt x="281736" y="317120"/>
                  <a:pt x="283984" y="318503"/>
                  <a:pt x="286232" y="319714"/>
                </a:cubicBezTo>
                <a:cubicBezTo>
                  <a:pt x="290556" y="322134"/>
                  <a:pt x="294534" y="324901"/>
                  <a:pt x="298339" y="328186"/>
                </a:cubicBezTo>
                <a:cubicBezTo>
                  <a:pt x="299204" y="329569"/>
                  <a:pt x="299896" y="331126"/>
                  <a:pt x="299896" y="332855"/>
                </a:cubicBezTo>
                <a:lnTo>
                  <a:pt x="302490" y="335103"/>
                </a:lnTo>
                <a:cubicBezTo>
                  <a:pt x="288135" y="356717"/>
                  <a:pt x="282255" y="382826"/>
                  <a:pt x="285887" y="408590"/>
                </a:cubicBezTo>
                <a:lnTo>
                  <a:pt x="282428" y="409628"/>
                </a:lnTo>
                <a:cubicBezTo>
                  <a:pt x="281563" y="411011"/>
                  <a:pt x="280352" y="412221"/>
                  <a:pt x="278969" y="413086"/>
                </a:cubicBezTo>
                <a:cubicBezTo>
                  <a:pt x="274299" y="414296"/>
                  <a:pt x="269283" y="415161"/>
                  <a:pt x="264441" y="415507"/>
                </a:cubicBezTo>
                <a:cubicBezTo>
                  <a:pt x="261847" y="415680"/>
                  <a:pt x="259252" y="415853"/>
                  <a:pt x="256658" y="416198"/>
                </a:cubicBezTo>
                <a:cubicBezTo>
                  <a:pt x="255966" y="416371"/>
                  <a:pt x="255101" y="416717"/>
                  <a:pt x="254410" y="416717"/>
                </a:cubicBezTo>
                <a:cubicBezTo>
                  <a:pt x="253891" y="416717"/>
                  <a:pt x="253372" y="417063"/>
                  <a:pt x="252853" y="417063"/>
                </a:cubicBezTo>
                <a:cubicBezTo>
                  <a:pt x="248529" y="418446"/>
                  <a:pt x="246281" y="423115"/>
                  <a:pt x="247665" y="427438"/>
                </a:cubicBezTo>
                <a:cubicBezTo>
                  <a:pt x="249048" y="431760"/>
                  <a:pt x="253545" y="434008"/>
                  <a:pt x="257869" y="432625"/>
                </a:cubicBezTo>
                <a:cubicBezTo>
                  <a:pt x="258560" y="432452"/>
                  <a:pt x="259425" y="432106"/>
                  <a:pt x="259944" y="432106"/>
                </a:cubicBezTo>
                <a:cubicBezTo>
                  <a:pt x="262365" y="431415"/>
                  <a:pt x="264787" y="430377"/>
                  <a:pt x="267208" y="429340"/>
                </a:cubicBezTo>
                <a:cubicBezTo>
                  <a:pt x="271878" y="427438"/>
                  <a:pt x="276547" y="426054"/>
                  <a:pt x="281390" y="425190"/>
                </a:cubicBezTo>
                <a:cubicBezTo>
                  <a:pt x="283119" y="425363"/>
                  <a:pt x="284676" y="425881"/>
                  <a:pt x="286060" y="426919"/>
                </a:cubicBezTo>
                <a:lnTo>
                  <a:pt x="289519" y="426227"/>
                </a:lnTo>
                <a:cubicBezTo>
                  <a:pt x="297474" y="450781"/>
                  <a:pt x="314077" y="471703"/>
                  <a:pt x="336215" y="484844"/>
                </a:cubicBezTo>
                <a:lnTo>
                  <a:pt x="334659" y="488475"/>
                </a:lnTo>
                <a:cubicBezTo>
                  <a:pt x="335350" y="490032"/>
                  <a:pt x="335523" y="491588"/>
                  <a:pt x="335350" y="493144"/>
                </a:cubicBezTo>
                <a:cubicBezTo>
                  <a:pt x="333448" y="497813"/>
                  <a:pt x="331027" y="502308"/>
                  <a:pt x="328086" y="506458"/>
                </a:cubicBezTo>
                <a:cubicBezTo>
                  <a:pt x="326530" y="508533"/>
                  <a:pt x="325146" y="510781"/>
                  <a:pt x="323763" y="513029"/>
                </a:cubicBezTo>
                <a:cubicBezTo>
                  <a:pt x="323417" y="513721"/>
                  <a:pt x="323071" y="514585"/>
                  <a:pt x="322725" y="515277"/>
                </a:cubicBezTo>
                <a:cubicBezTo>
                  <a:pt x="322379" y="515795"/>
                  <a:pt x="322206" y="516314"/>
                  <a:pt x="322033" y="516833"/>
                </a:cubicBezTo>
                <a:cubicBezTo>
                  <a:pt x="320650" y="520983"/>
                  <a:pt x="322725" y="525651"/>
                  <a:pt x="327049" y="527208"/>
                </a:cubicBezTo>
                <a:cubicBezTo>
                  <a:pt x="331200" y="528591"/>
                  <a:pt x="335869" y="526516"/>
                  <a:pt x="337426" y="522193"/>
                </a:cubicBezTo>
                <a:cubicBezTo>
                  <a:pt x="337772" y="521502"/>
                  <a:pt x="338290" y="520637"/>
                  <a:pt x="338463" y="520118"/>
                </a:cubicBezTo>
                <a:cubicBezTo>
                  <a:pt x="339501" y="517698"/>
                  <a:pt x="340193" y="515277"/>
                  <a:pt x="340885" y="512683"/>
                </a:cubicBezTo>
                <a:cubicBezTo>
                  <a:pt x="342268" y="507496"/>
                  <a:pt x="344344" y="502481"/>
                  <a:pt x="347111" y="497986"/>
                </a:cubicBezTo>
                <a:cubicBezTo>
                  <a:pt x="347976" y="497121"/>
                  <a:pt x="349186" y="496429"/>
                  <a:pt x="350570" y="496256"/>
                </a:cubicBezTo>
                <a:lnTo>
                  <a:pt x="352472" y="492971"/>
                </a:lnTo>
                <a:cubicBezTo>
                  <a:pt x="376513" y="502308"/>
                  <a:pt x="403320" y="502308"/>
                  <a:pt x="427360" y="493144"/>
                </a:cubicBezTo>
                <a:cubicBezTo>
                  <a:pt x="427879" y="494009"/>
                  <a:pt x="428743" y="495738"/>
                  <a:pt x="429089" y="496256"/>
                </a:cubicBezTo>
                <a:cubicBezTo>
                  <a:pt x="430819" y="496602"/>
                  <a:pt x="432202" y="497467"/>
                  <a:pt x="433240" y="498850"/>
                </a:cubicBezTo>
                <a:cubicBezTo>
                  <a:pt x="435489" y="503173"/>
                  <a:pt x="437391" y="507842"/>
                  <a:pt x="438775" y="512510"/>
                </a:cubicBezTo>
                <a:cubicBezTo>
                  <a:pt x="439466" y="514931"/>
                  <a:pt x="440331" y="517525"/>
                  <a:pt x="441196" y="519945"/>
                </a:cubicBezTo>
                <a:cubicBezTo>
                  <a:pt x="441542" y="520464"/>
                  <a:pt x="441888" y="521329"/>
                  <a:pt x="442234" y="522020"/>
                </a:cubicBezTo>
                <a:cubicBezTo>
                  <a:pt x="442407" y="522539"/>
                  <a:pt x="442579" y="522885"/>
                  <a:pt x="442925" y="523404"/>
                </a:cubicBezTo>
                <a:cubicBezTo>
                  <a:pt x="445347" y="527208"/>
                  <a:pt x="450362" y="528418"/>
                  <a:pt x="454167" y="526170"/>
                </a:cubicBezTo>
                <a:cubicBezTo>
                  <a:pt x="457972" y="523749"/>
                  <a:pt x="459183" y="518735"/>
                  <a:pt x="456934" y="514931"/>
                </a:cubicBezTo>
                <a:cubicBezTo>
                  <a:pt x="456588" y="514239"/>
                  <a:pt x="456243" y="513375"/>
                  <a:pt x="455897" y="512683"/>
                </a:cubicBezTo>
                <a:cubicBezTo>
                  <a:pt x="454513" y="510435"/>
                  <a:pt x="453129" y="508187"/>
                  <a:pt x="451573" y="506112"/>
                </a:cubicBezTo>
                <a:cubicBezTo>
                  <a:pt x="448633" y="501963"/>
                  <a:pt x="446211" y="497640"/>
                  <a:pt x="444309" y="493144"/>
                </a:cubicBezTo>
                <a:cubicBezTo>
                  <a:pt x="443963" y="491415"/>
                  <a:pt x="444136" y="489686"/>
                  <a:pt x="445001" y="488303"/>
                </a:cubicBezTo>
                <a:cubicBezTo>
                  <a:pt x="444482" y="487265"/>
                  <a:pt x="443963" y="486055"/>
                  <a:pt x="443617" y="485017"/>
                </a:cubicBezTo>
                <a:cubicBezTo>
                  <a:pt x="465755" y="471876"/>
                  <a:pt x="482531" y="450781"/>
                  <a:pt x="490314" y="426054"/>
                </a:cubicBezTo>
                <a:cubicBezTo>
                  <a:pt x="491524" y="426400"/>
                  <a:pt x="492562" y="426573"/>
                  <a:pt x="493773" y="426746"/>
                </a:cubicBezTo>
                <a:cubicBezTo>
                  <a:pt x="494983" y="425536"/>
                  <a:pt x="496540" y="425017"/>
                  <a:pt x="498269" y="425017"/>
                </a:cubicBezTo>
                <a:cubicBezTo>
                  <a:pt x="503112" y="425881"/>
                  <a:pt x="507955" y="427265"/>
                  <a:pt x="512451" y="429167"/>
                </a:cubicBezTo>
                <a:cubicBezTo>
                  <a:pt x="514873" y="430204"/>
                  <a:pt x="517294" y="431069"/>
                  <a:pt x="519715" y="431933"/>
                </a:cubicBezTo>
                <a:cubicBezTo>
                  <a:pt x="520234" y="432106"/>
                  <a:pt x="521099" y="432452"/>
                  <a:pt x="521791" y="432452"/>
                </a:cubicBezTo>
                <a:cubicBezTo>
                  <a:pt x="522310" y="432625"/>
                  <a:pt x="523347" y="432798"/>
                  <a:pt x="523347" y="432798"/>
                </a:cubicBezTo>
                <a:lnTo>
                  <a:pt x="523866" y="432798"/>
                </a:lnTo>
                <a:cubicBezTo>
                  <a:pt x="528363" y="433317"/>
                  <a:pt x="532514" y="430204"/>
                  <a:pt x="533032" y="425708"/>
                </a:cubicBezTo>
                <a:cubicBezTo>
                  <a:pt x="533551" y="421213"/>
                  <a:pt x="530438" y="417063"/>
                  <a:pt x="525941" y="416544"/>
                </a:cubicBezTo>
                <a:cubicBezTo>
                  <a:pt x="525250" y="416371"/>
                  <a:pt x="524212" y="416025"/>
                  <a:pt x="523520" y="416025"/>
                </a:cubicBezTo>
                <a:cubicBezTo>
                  <a:pt x="520926" y="415680"/>
                  <a:pt x="518332" y="415334"/>
                  <a:pt x="515737" y="415334"/>
                </a:cubicBezTo>
                <a:cubicBezTo>
                  <a:pt x="510895" y="414988"/>
                  <a:pt x="506052" y="414123"/>
                  <a:pt x="501210" y="412913"/>
                </a:cubicBezTo>
                <a:cubicBezTo>
                  <a:pt x="499826" y="412221"/>
                  <a:pt x="498615" y="411011"/>
                  <a:pt x="497751" y="409455"/>
                </a:cubicBezTo>
                <a:lnTo>
                  <a:pt x="494465" y="408417"/>
                </a:lnTo>
                <a:cubicBezTo>
                  <a:pt x="497924" y="382653"/>
                  <a:pt x="491870" y="356717"/>
                  <a:pt x="477515" y="335103"/>
                </a:cubicBezTo>
                <a:cubicBezTo>
                  <a:pt x="478380" y="334411"/>
                  <a:pt x="479937" y="332855"/>
                  <a:pt x="480456" y="332509"/>
                </a:cubicBezTo>
                <a:cubicBezTo>
                  <a:pt x="480456" y="330780"/>
                  <a:pt x="480974" y="329051"/>
                  <a:pt x="482012" y="327840"/>
                </a:cubicBezTo>
                <a:cubicBezTo>
                  <a:pt x="485817" y="324728"/>
                  <a:pt x="489795" y="321788"/>
                  <a:pt x="494119" y="319368"/>
                </a:cubicBezTo>
                <a:cubicBezTo>
                  <a:pt x="496367" y="318157"/>
                  <a:pt x="498615" y="316774"/>
                  <a:pt x="500864" y="315391"/>
                </a:cubicBezTo>
                <a:cubicBezTo>
                  <a:pt x="501383" y="315045"/>
                  <a:pt x="502074" y="314526"/>
                  <a:pt x="502593" y="314007"/>
                </a:cubicBezTo>
                <a:cubicBezTo>
                  <a:pt x="503112" y="313662"/>
                  <a:pt x="503631" y="313316"/>
                  <a:pt x="503977" y="312970"/>
                </a:cubicBezTo>
                <a:cubicBezTo>
                  <a:pt x="507090" y="309858"/>
                  <a:pt x="507090" y="304670"/>
                  <a:pt x="503977" y="301385"/>
                </a:cubicBezTo>
                <a:cubicBezTo>
                  <a:pt x="500691" y="298272"/>
                  <a:pt x="495675" y="298272"/>
                  <a:pt x="492389" y="301385"/>
                </a:cubicBezTo>
                <a:cubicBezTo>
                  <a:pt x="491870" y="301731"/>
                  <a:pt x="491178" y="302422"/>
                  <a:pt x="490660" y="302768"/>
                </a:cubicBezTo>
                <a:cubicBezTo>
                  <a:pt x="488757" y="304497"/>
                  <a:pt x="487028" y="306399"/>
                  <a:pt x="485298" y="308474"/>
                </a:cubicBezTo>
                <a:cubicBezTo>
                  <a:pt x="482012" y="312105"/>
                  <a:pt x="478380" y="315391"/>
                  <a:pt x="474402" y="318330"/>
                </a:cubicBezTo>
                <a:cubicBezTo>
                  <a:pt x="472846" y="318849"/>
                  <a:pt x="471289" y="319195"/>
                  <a:pt x="469560" y="318849"/>
                </a:cubicBezTo>
                <a:lnTo>
                  <a:pt x="466447" y="321097"/>
                </a:lnTo>
                <a:cubicBezTo>
                  <a:pt x="448806" y="302422"/>
                  <a:pt x="424766" y="290837"/>
                  <a:pt x="399169" y="288417"/>
                </a:cubicBezTo>
                <a:cubicBezTo>
                  <a:pt x="398996" y="287379"/>
                  <a:pt x="398996" y="285304"/>
                  <a:pt x="398996" y="284785"/>
                </a:cubicBezTo>
                <a:cubicBezTo>
                  <a:pt x="397612" y="283748"/>
                  <a:pt x="396748" y="282365"/>
                  <a:pt x="396402" y="280635"/>
                </a:cubicBezTo>
                <a:cubicBezTo>
                  <a:pt x="396229" y="275794"/>
                  <a:pt x="396402" y="270779"/>
                  <a:pt x="397267" y="265938"/>
                </a:cubicBezTo>
                <a:cubicBezTo>
                  <a:pt x="397785" y="263344"/>
                  <a:pt x="398131" y="260751"/>
                  <a:pt x="398304" y="258157"/>
                </a:cubicBezTo>
                <a:cubicBezTo>
                  <a:pt x="398304" y="257638"/>
                  <a:pt x="398304" y="256601"/>
                  <a:pt x="398304" y="255909"/>
                </a:cubicBezTo>
                <a:cubicBezTo>
                  <a:pt x="398304" y="255217"/>
                  <a:pt x="398304" y="254699"/>
                  <a:pt x="398304" y="254180"/>
                </a:cubicBezTo>
                <a:cubicBezTo>
                  <a:pt x="397785" y="249684"/>
                  <a:pt x="393808" y="246399"/>
                  <a:pt x="389311" y="246918"/>
                </a:cubicBezTo>
                <a:close/>
                <a:moveTo>
                  <a:pt x="378415" y="199886"/>
                </a:moveTo>
                <a:cubicBezTo>
                  <a:pt x="385506" y="196427"/>
                  <a:pt x="393808" y="196427"/>
                  <a:pt x="400898" y="199886"/>
                </a:cubicBezTo>
                <a:lnTo>
                  <a:pt x="536319" y="264901"/>
                </a:lnTo>
                <a:cubicBezTo>
                  <a:pt x="543409" y="268359"/>
                  <a:pt x="548425" y="274756"/>
                  <a:pt x="550327" y="282365"/>
                </a:cubicBezTo>
                <a:cubicBezTo>
                  <a:pt x="550327" y="282365"/>
                  <a:pt x="583880" y="428302"/>
                  <a:pt x="583880" y="428302"/>
                </a:cubicBezTo>
                <a:lnTo>
                  <a:pt x="583880" y="439368"/>
                </a:lnTo>
                <a:cubicBezTo>
                  <a:pt x="583534" y="440406"/>
                  <a:pt x="583188" y="441616"/>
                  <a:pt x="582842" y="442654"/>
                </a:cubicBezTo>
                <a:cubicBezTo>
                  <a:pt x="581977" y="445247"/>
                  <a:pt x="580594" y="447668"/>
                  <a:pt x="578864" y="449916"/>
                </a:cubicBezTo>
                <a:lnTo>
                  <a:pt x="488065" y="563519"/>
                </a:lnTo>
                <a:lnTo>
                  <a:pt x="485125" y="567150"/>
                </a:lnTo>
                <a:cubicBezTo>
                  <a:pt x="483396" y="569398"/>
                  <a:pt x="481320" y="571127"/>
                  <a:pt x="478899" y="572683"/>
                </a:cubicBezTo>
                <a:cubicBezTo>
                  <a:pt x="478034" y="573202"/>
                  <a:pt x="477170" y="573721"/>
                  <a:pt x="476132" y="574240"/>
                </a:cubicBezTo>
                <a:cubicBezTo>
                  <a:pt x="475440" y="574586"/>
                  <a:pt x="474748" y="574758"/>
                  <a:pt x="474056" y="575104"/>
                </a:cubicBezTo>
                <a:cubicBezTo>
                  <a:pt x="473192" y="575450"/>
                  <a:pt x="472327" y="575796"/>
                  <a:pt x="471462" y="575969"/>
                </a:cubicBezTo>
                <a:cubicBezTo>
                  <a:pt x="470252" y="576315"/>
                  <a:pt x="468868" y="576660"/>
                  <a:pt x="467657" y="576660"/>
                </a:cubicBezTo>
                <a:cubicBezTo>
                  <a:pt x="466620" y="576833"/>
                  <a:pt x="465755" y="576833"/>
                  <a:pt x="464890" y="576833"/>
                </a:cubicBezTo>
                <a:lnTo>
                  <a:pt x="314596" y="576833"/>
                </a:lnTo>
                <a:cubicBezTo>
                  <a:pt x="312348" y="576833"/>
                  <a:pt x="310100" y="576488"/>
                  <a:pt x="308024" y="575969"/>
                </a:cubicBezTo>
                <a:cubicBezTo>
                  <a:pt x="305430" y="575277"/>
                  <a:pt x="302836" y="574067"/>
                  <a:pt x="300587" y="572683"/>
                </a:cubicBezTo>
                <a:cubicBezTo>
                  <a:pt x="298685" y="571473"/>
                  <a:pt x="296955" y="570090"/>
                  <a:pt x="295572" y="568534"/>
                </a:cubicBezTo>
                <a:cubicBezTo>
                  <a:pt x="295053" y="568188"/>
                  <a:pt x="294188" y="567150"/>
                  <a:pt x="294188" y="567150"/>
                </a:cubicBezTo>
                <a:lnTo>
                  <a:pt x="200449" y="450089"/>
                </a:lnTo>
                <a:cubicBezTo>
                  <a:pt x="199930" y="449397"/>
                  <a:pt x="199584" y="448706"/>
                  <a:pt x="199066" y="448014"/>
                </a:cubicBezTo>
                <a:cubicBezTo>
                  <a:pt x="198028" y="446458"/>
                  <a:pt x="197163" y="444729"/>
                  <a:pt x="196471" y="442827"/>
                </a:cubicBezTo>
                <a:cubicBezTo>
                  <a:pt x="196125" y="441789"/>
                  <a:pt x="195780" y="440579"/>
                  <a:pt x="195607" y="439541"/>
                </a:cubicBezTo>
                <a:cubicBezTo>
                  <a:pt x="194742" y="435737"/>
                  <a:pt x="194742" y="431933"/>
                  <a:pt x="195607" y="428302"/>
                </a:cubicBezTo>
                <a:lnTo>
                  <a:pt x="228986" y="282365"/>
                </a:lnTo>
                <a:cubicBezTo>
                  <a:pt x="230715" y="274756"/>
                  <a:pt x="235904" y="268359"/>
                  <a:pt x="242995" y="264901"/>
                </a:cubicBezTo>
                <a:close/>
                <a:moveTo>
                  <a:pt x="116741" y="67436"/>
                </a:moveTo>
                <a:cubicBezTo>
                  <a:pt x="115531" y="75735"/>
                  <a:pt x="110515" y="82133"/>
                  <a:pt x="106191" y="88877"/>
                </a:cubicBezTo>
                <a:lnTo>
                  <a:pt x="247665" y="230664"/>
                </a:lnTo>
                <a:lnTo>
                  <a:pt x="231061" y="247264"/>
                </a:lnTo>
                <a:lnTo>
                  <a:pt x="89588" y="105649"/>
                </a:lnTo>
                <a:cubicBezTo>
                  <a:pt x="83016" y="109972"/>
                  <a:pt x="76790" y="115159"/>
                  <a:pt x="68661" y="116543"/>
                </a:cubicBezTo>
                <a:lnTo>
                  <a:pt x="68661" y="662598"/>
                </a:lnTo>
                <a:cubicBezTo>
                  <a:pt x="76790" y="663981"/>
                  <a:pt x="82670" y="669169"/>
                  <a:pt x="89242" y="673318"/>
                </a:cubicBezTo>
                <a:lnTo>
                  <a:pt x="230370" y="531877"/>
                </a:lnTo>
                <a:lnTo>
                  <a:pt x="246973" y="548476"/>
                </a:lnTo>
                <a:lnTo>
                  <a:pt x="105846" y="689918"/>
                </a:lnTo>
                <a:cubicBezTo>
                  <a:pt x="110342" y="696835"/>
                  <a:pt x="115358" y="703232"/>
                  <a:pt x="116568" y="711705"/>
                </a:cubicBezTo>
                <a:lnTo>
                  <a:pt x="116568" y="711359"/>
                </a:lnTo>
                <a:lnTo>
                  <a:pt x="332237" y="711359"/>
                </a:lnTo>
                <a:cubicBezTo>
                  <a:pt x="336042" y="686633"/>
                  <a:pt x="354548" y="667612"/>
                  <a:pt x="379107" y="662944"/>
                </a:cubicBezTo>
                <a:lnTo>
                  <a:pt x="379107" y="603289"/>
                </a:lnTo>
                <a:lnTo>
                  <a:pt x="402455" y="603289"/>
                </a:lnTo>
                <a:lnTo>
                  <a:pt x="402455" y="663290"/>
                </a:lnTo>
                <a:cubicBezTo>
                  <a:pt x="425976" y="668650"/>
                  <a:pt x="443444" y="687324"/>
                  <a:pt x="447076" y="711359"/>
                </a:cubicBezTo>
                <a:lnTo>
                  <a:pt x="662745" y="711359"/>
                </a:lnTo>
                <a:cubicBezTo>
                  <a:pt x="663956" y="703059"/>
                  <a:pt x="668971" y="696662"/>
                  <a:pt x="673295" y="689918"/>
                </a:cubicBezTo>
                <a:lnTo>
                  <a:pt x="531995" y="548649"/>
                </a:lnTo>
                <a:lnTo>
                  <a:pt x="548598" y="532050"/>
                </a:lnTo>
                <a:lnTo>
                  <a:pt x="689898" y="673491"/>
                </a:lnTo>
                <a:cubicBezTo>
                  <a:pt x="696298" y="669342"/>
                  <a:pt x="702178" y="664327"/>
                  <a:pt x="709961" y="662944"/>
                </a:cubicBezTo>
                <a:lnTo>
                  <a:pt x="709961" y="116370"/>
                </a:lnTo>
                <a:cubicBezTo>
                  <a:pt x="702005" y="114986"/>
                  <a:pt x="695952" y="109972"/>
                  <a:pt x="689553" y="105649"/>
                </a:cubicBezTo>
                <a:lnTo>
                  <a:pt x="547906" y="247610"/>
                </a:lnTo>
                <a:lnTo>
                  <a:pt x="531303" y="231010"/>
                </a:lnTo>
                <a:lnTo>
                  <a:pt x="673122" y="88877"/>
                </a:lnTo>
                <a:cubicBezTo>
                  <a:pt x="668971" y="82306"/>
                  <a:pt x="663956" y="76081"/>
                  <a:pt x="662745" y="67954"/>
                </a:cubicBezTo>
                <a:lnTo>
                  <a:pt x="447249" y="67954"/>
                </a:lnTo>
                <a:cubicBezTo>
                  <a:pt x="443963" y="92854"/>
                  <a:pt x="425803" y="111874"/>
                  <a:pt x="401590" y="117061"/>
                </a:cubicBezTo>
                <a:lnTo>
                  <a:pt x="401590" y="173085"/>
                </a:lnTo>
                <a:lnTo>
                  <a:pt x="378242" y="173085"/>
                </a:lnTo>
                <a:lnTo>
                  <a:pt x="378242" y="117234"/>
                </a:lnTo>
                <a:cubicBezTo>
                  <a:pt x="353856" y="112220"/>
                  <a:pt x="335523" y="93027"/>
                  <a:pt x="332064" y="67954"/>
                </a:cubicBezTo>
                <a:lnTo>
                  <a:pt x="116741" y="67954"/>
                </a:lnTo>
                <a:close/>
                <a:moveTo>
                  <a:pt x="389657" y="24553"/>
                </a:moveTo>
                <a:cubicBezTo>
                  <a:pt x="369941" y="24553"/>
                  <a:pt x="353856" y="40634"/>
                  <a:pt x="353856" y="60346"/>
                </a:cubicBezTo>
                <a:cubicBezTo>
                  <a:pt x="353856" y="80058"/>
                  <a:pt x="369941" y="96139"/>
                  <a:pt x="389657" y="96139"/>
                </a:cubicBezTo>
                <a:cubicBezTo>
                  <a:pt x="409373" y="96139"/>
                  <a:pt x="425458" y="80058"/>
                  <a:pt x="425458" y="60346"/>
                </a:cubicBezTo>
                <a:cubicBezTo>
                  <a:pt x="425458" y="40634"/>
                  <a:pt x="409373" y="24553"/>
                  <a:pt x="389657" y="24553"/>
                </a:cubicBezTo>
                <a:close/>
                <a:moveTo>
                  <a:pt x="720165" y="23516"/>
                </a:moveTo>
                <a:cubicBezTo>
                  <a:pt x="700448" y="23516"/>
                  <a:pt x="684364" y="39597"/>
                  <a:pt x="684364" y="59309"/>
                </a:cubicBezTo>
                <a:cubicBezTo>
                  <a:pt x="684364" y="79021"/>
                  <a:pt x="700448" y="95101"/>
                  <a:pt x="720165" y="95101"/>
                </a:cubicBezTo>
                <a:cubicBezTo>
                  <a:pt x="739881" y="95101"/>
                  <a:pt x="755965" y="79021"/>
                  <a:pt x="755965" y="59309"/>
                </a:cubicBezTo>
                <a:cubicBezTo>
                  <a:pt x="755965" y="39597"/>
                  <a:pt x="739881" y="23516"/>
                  <a:pt x="720165" y="23516"/>
                </a:cubicBezTo>
                <a:close/>
                <a:moveTo>
                  <a:pt x="59149" y="23516"/>
                </a:moveTo>
                <a:cubicBezTo>
                  <a:pt x="39433" y="23516"/>
                  <a:pt x="23348" y="39597"/>
                  <a:pt x="23348" y="59309"/>
                </a:cubicBezTo>
                <a:cubicBezTo>
                  <a:pt x="23348" y="79021"/>
                  <a:pt x="39433" y="95101"/>
                  <a:pt x="59149" y="95101"/>
                </a:cubicBezTo>
                <a:cubicBezTo>
                  <a:pt x="78865" y="95101"/>
                  <a:pt x="94950" y="79021"/>
                  <a:pt x="94950" y="59309"/>
                </a:cubicBezTo>
                <a:cubicBezTo>
                  <a:pt x="94950" y="39597"/>
                  <a:pt x="78865" y="23516"/>
                  <a:pt x="59149" y="23516"/>
                </a:cubicBezTo>
                <a:close/>
                <a:moveTo>
                  <a:pt x="59149" y="0"/>
                </a:moveTo>
                <a:cubicBezTo>
                  <a:pt x="88896" y="0"/>
                  <a:pt x="112418" y="22479"/>
                  <a:pt x="116568" y="51009"/>
                </a:cubicBezTo>
                <a:lnTo>
                  <a:pt x="116568" y="50663"/>
                </a:lnTo>
                <a:lnTo>
                  <a:pt x="332410" y="50663"/>
                </a:lnTo>
                <a:cubicBezTo>
                  <a:pt x="337253" y="22651"/>
                  <a:pt x="360428" y="1037"/>
                  <a:pt x="389657" y="1037"/>
                </a:cubicBezTo>
                <a:cubicBezTo>
                  <a:pt x="418885" y="1037"/>
                  <a:pt x="442234" y="22824"/>
                  <a:pt x="446903" y="50663"/>
                </a:cubicBezTo>
                <a:lnTo>
                  <a:pt x="662745" y="50663"/>
                </a:lnTo>
                <a:cubicBezTo>
                  <a:pt x="667069" y="22306"/>
                  <a:pt x="690590" y="173"/>
                  <a:pt x="720165" y="173"/>
                </a:cubicBezTo>
                <a:cubicBezTo>
                  <a:pt x="752852" y="173"/>
                  <a:pt x="779314" y="26628"/>
                  <a:pt x="779314" y="59309"/>
                </a:cubicBezTo>
                <a:cubicBezTo>
                  <a:pt x="779314" y="89568"/>
                  <a:pt x="756484" y="113430"/>
                  <a:pt x="727256" y="117061"/>
                </a:cubicBezTo>
                <a:lnTo>
                  <a:pt x="727256" y="662079"/>
                </a:lnTo>
                <a:cubicBezTo>
                  <a:pt x="756484" y="665710"/>
                  <a:pt x="779314" y="689745"/>
                  <a:pt x="779314" y="719832"/>
                </a:cubicBezTo>
                <a:cubicBezTo>
                  <a:pt x="779314" y="752512"/>
                  <a:pt x="752852" y="778968"/>
                  <a:pt x="720165" y="778968"/>
                </a:cubicBezTo>
                <a:cubicBezTo>
                  <a:pt x="690590" y="778968"/>
                  <a:pt x="667069" y="756835"/>
                  <a:pt x="662745" y="728477"/>
                </a:cubicBezTo>
                <a:lnTo>
                  <a:pt x="447076" y="728477"/>
                </a:lnTo>
                <a:cubicBezTo>
                  <a:pt x="442753" y="756835"/>
                  <a:pt x="419231" y="778968"/>
                  <a:pt x="389657" y="778968"/>
                </a:cubicBezTo>
                <a:cubicBezTo>
                  <a:pt x="360082" y="778968"/>
                  <a:pt x="336561" y="756835"/>
                  <a:pt x="332237" y="728477"/>
                </a:cubicBezTo>
                <a:lnTo>
                  <a:pt x="116568" y="728477"/>
                </a:lnTo>
                <a:lnTo>
                  <a:pt x="116568" y="727959"/>
                </a:lnTo>
                <a:cubicBezTo>
                  <a:pt x="112418" y="756662"/>
                  <a:pt x="88896" y="778968"/>
                  <a:pt x="59149" y="778968"/>
                </a:cubicBezTo>
                <a:cubicBezTo>
                  <a:pt x="26461" y="778968"/>
                  <a:pt x="0" y="752512"/>
                  <a:pt x="0" y="719832"/>
                </a:cubicBezTo>
                <a:cubicBezTo>
                  <a:pt x="0" y="689918"/>
                  <a:pt x="22656" y="666056"/>
                  <a:pt x="51539" y="662252"/>
                </a:cubicBezTo>
                <a:lnTo>
                  <a:pt x="51539" y="116888"/>
                </a:lnTo>
                <a:cubicBezTo>
                  <a:pt x="22656" y="113084"/>
                  <a:pt x="0" y="89222"/>
                  <a:pt x="0" y="59309"/>
                </a:cubicBezTo>
                <a:cubicBezTo>
                  <a:pt x="0" y="26628"/>
                  <a:pt x="26461" y="173"/>
                  <a:pt x="59149" y="0"/>
                </a:cubicBezTo>
                <a:close/>
              </a:path>
            </a:pathLst>
          </a:custGeom>
          <a:solidFill>
            <a:srgbClr val="FFFFFF"/>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pic>
        <p:nvPicPr>
          <p:cNvPr id="15152" name="Google Shape;15152;p97" title="podvm.png"/>
          <p:cNvPicPr preferRelativeResize="0"/>
          <p:nvPr/>
        </p:nvPicPr>
        <p:blipFill rotWithShape="1">
          <a:blip r:embed="rId3">
            <a:alphaModFix/>
          </a:blip>
          <a:srcRect/>
          <a:stretch/>
        </p:blipFill>
        <p:spPr>
          <a:xfrm>
            <a:off x="3829148" y="2235722"/>
            <a:ext cx="563195" cy="563195"/>
          </a:xfrm>
          <a:prstGeom prst="rect">
            <a:avLst/>
          </a:prstGeom>
          <a:noFill/>
          <a:ln>
            <a:noFill/>
          </a:ln>
        </p:spPr>
      </p:pic>
      <p:sp>
        <p:nvSpPr>
          <p:cNvPr id="15153" name="Google Shape;15153;p97"/>
          <p:cNvSpPr/>
          <p:nvPr/>
        </p:nvSpPr>
        <p:spPr>
          <a:xfrm>
            <a:off x="1980854" y="1639773"/>
            <a:ext cx="1307659" cy="277623"/>
          </a:xfrm>
          <a:prstGeom prst="roundRect">
            <a:avLst>
              <a:gd name="adj" fmla="val 16667"/>
            </a:avLst>
          </a:prstGeom>
          <a:solidFill>
            <a:schemeClr val="lt1"/>
          </a:solidFill>
          <a:ln w="9525" cap="flat" cmpd="sng">
            <a:solidFill>
              <a:schemeClr val="accent5"/>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rtl="0">
              <a:spcBef>
                <a:spcPts val="0"/>
              </a:spcBef>
              <a:spcAft>
                <a:spcPts val="0"/>
              </a:spcAft>
              <a:buNone/>
            </a:pPr>
            <a:r>
              <a:rPr lang="en-US" sz="1200">
                <a:solidFill>
                  <a:srgbClr val="6C4B94"/>
                </a:solidFill>
                <a:latin typeface="Arial"/>
                <a:ea typeface="Arial"/>
                <a:cs typeface="Arial"/>
                <a:sym typeface="Arial"/>
              </a:rPr>
              <a:t>Runtimes</a:t>
            </a:r>
            <a:endParaRPr sz="1799">
              <a:solidFill>
                <a:srgbClr val="6C4B94"/>
              </a:solidFill>
              <a:latin typeface="Arial"/>
              <a:ea typeface="Arial"/>
              <a:cs typeface="Arial"/>
              <a:sym typeface="Arial"/>
            </a:endParaRPr>
          </a:p>
        </p:txBody>
      </p:sp>
      <p:sp>
        <p:nvSpPr>
          <p:cNvPr id="15154" name="Google Shape;15154;p97"/>
          <p:cNvSpPr/>
          <p:nvPr/>
        </p:nvSpPr>
        <p:spPr>
          <a:xfrm>
            <a:off x="1489585" y="3900714"/>
            <a:ext cx="2119548" cy="301408"/>
          </a:xfrm>
          <a:prstGeom prst="roundRect">
            <a:avLst>
              <a:gd name="adj" fmla="val 16667"/>
            </a:avLst>
          </a:prstGeom>
          <a:solidFill>
            <a:schemeClr val="lt1"/>
          </a:solidFill>
          <a:ln w="9525" cap="flat" cmpd="sng">
            <a:solidFill>
              <a:srgbClr val="017B8C"/>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rtl="0">
              <a:spcBef>
                <a:spcPts val="0"/>
              </a:spcBef>
              <a:spcAft>
                <a:spcPts val="0"/>
              </a:spcAft>
              <a:buNone/>
            </a:pPr>
            <a:r>
              <a:rPr lang="en-US" sz="1200">
                <a:solidFill>
                  <a:srgbClr val="007B8C"/>
                </a:solidFill>
                <a:latin typeface="Arial"/>
                <a:ea typeface="Arial"/>
                <a:cs typeface="Arial"/>
                <a:sym typeface="Arial"/>
              </a:rPr>
              <a:t>Infrastructure Services</a:t>
            </a:r>
            <a:endParaRPr sz="1200">
              <a:solidFill>
                <a:srgbClr val="007B8C"/>
              </a:solidFill>
              <a:latin typeface="Arial"/>
              <a:ea typeface="Arial"/>
              <a:cs typeface="Arial"/>
              <a:sym typeface="Arial"/>
            </a:endParaRPr>
          </a:p>
        </p:txBody>
      </p:sp>
      <p:grpSp>
        <p:nvGrpSpPr>
          <p:cNvPr id="15155" name="Google Shape;15155;p97"/>
          <p:cNvGrpSpPr/>
          <p:nvPr/>
        </p:nvGrpSpPr>
        <p:grpSpPr>
          <a:xfrm>
            <a:off x="5298342" y="2154277"/>
            <a:ext cx="2281490" cy="3164741"/>
            <a:chOff x="4926179" y="2299183"/>
            <a:chExt cx="2074622" cy="2877786"/>
          </a:xfrm>
        </p:grpSpPr>
        <p:sp>
          <p:nvSpPr>
            <p:cNvPr id="15156" name="Google Shape;15156;p97"/>
            <p:cNvSpPr/>
            <p:nvPr/>
          </p:nvSpPr>
          <p:spPr>
            <a:xfrm rot="5400000">
              <a:off x="6428656" y="3574203"/>
              <a:ext cx="527874" cy="616417"/>
            </a:xfrm>
            <a:prstGeom prst="upArrow">
              <a:avLst>
                <a:gd name="adj1" fmla="val 50000"/>
                <a:gd name="adj2" fmla="val 50000"/>
              </a:avLst>
            </a:prstGeom>
            <a:gradFill>
              <a:gsLst>
                <a:gs pos="0">
                  <a:srgbClr val="125989"/>
                </a:gs>
                <a:gs pos="31000">
                  <a:srgbClr val="125989"/>
                </a:gs>
                <a:gs pos="100000">
                  <a:srgbClr val="FFFFFF">
                    <a:alpha val="0"/>
                  </a:srgbClr>
                </a:gs>
              </a:gsLst>
              <a:lin ang="5400012" scaled="0"/>
            </a:gra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nvGrpSpPr>
            <p:cNvPr id="15157" name="Google Shape;15157;p97"/>
            <p:cNvGrpSpPr/>
            <p:nvPr/>
          </p:nvGrpSpPr>
          <p:grpSpPr>
            <a:xfrm>
              <a:off x="5579706" y="2996831"/>
              <a:ext cx="951950" cy="1620235"/>
              <a:chOff x="468653" y="3331310"/>
              <a:chExt cx="1267426" cy="2156533"/>
            </a:xfrm>
          </p:grpSpPr>
          <p:grpSp>
            <p:nvGrpSpPr>
              <p:cNvPr id="15158" name="Google Shape;15158;p97"/>
              <p:cNvGrpSpPr/>
              <p:nvPr/>
            </p:nvGrpSpPr>
            <p:grpSpPr>
              <a:xfrm>
                <a:off x="757507" y="3331310"/>
                <a:ext cx="978572" cy="1469016"/>
                <a:chOff x="745669" y="3121320"/>
                <a:chExt cx="1260073" cy="1891599"/>
              </a:xfrm>
            </p:grpSpPr>
            <p:sp>
              <p:nvSpPr>
                <p:cNvPr id="15159" name="Google Shape;15159;p97"/>
                <p:cNvSpPr/>
                <p:nvPr/>
              </p:nvSpPr>
              <p:spPr>
                <a:xfrm flipH="1">
                  <a:off x="1310021" y="3121320"/>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2453AA">
                    <a:alpha val="6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0" name="Google Shape;15160;p97"/>
                <p:cNvSpPr/>
                <p:nvPr/>
              </p:nvSpPr>
              <p:spPr>
                <a:xfrm flipH="1">
                  <a:off x="1717612" y="3121320"/>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BC9EDC">
                    <a:alpha val="2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1" name="Google Shape;15161;p97"/>
                <p:cNvSpPr/>
                <p:nvPr/>
              </p:nvSpPr>
              <p:spPr>
                <a:xfrm flipH="1">
                  <a:off x="903722" y="3518601"/>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chemeClr val="accent5">
                    <a:alpha val="40000"/>
                  </a:scheme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2" name="Google Shape;15162;p97"/>
                <p:cNvSpPr/>
                <p:nvPr/>
              </p:nvSpPr>
              <p:spPr>
                <a:xfrm flipH="1">
                  <a:off x="1717612" y="3518601"/>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9165C0">
                    <a:alpha val="2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3" name="Google Shape;15163;p97"/>
                <p:cNvSpPr/>
                <p:nvPr/>
              </p:nvSpPr>
              <p:spPr>
                <a:xfrm flipH="1">
                  <a:off x="903722" y="3915881"/>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A58BC2">
                    <a:alpha val="6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4" name="Google Shape;15164;p97"/>
                <p:cNvSpPr/>
                <p:nvPr/>
              </p:nvSpPr>
              <p:spPr>
                <a:xfrm flipH="1">
                  <a:off x="745669" y="3211513"/>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A58BC2">
                    <a:alpha val="6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5" name="Google Shape;15165;p97"/>
                <p:cNvSpPr/>
                <p:nvPr/>
              </p:nvSpPr>
              <p:spPr>
                <a:xfrm flipH="1">
                  <a:off x="1310021" y="3915881"/>
                  <a:ext cx="288130" cy="288130"/>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50386B">
                    <a:alpha val="6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6" name="Google Shape;15166;p97"/>
                <p:cNvSpPr/>
                <p:nvPr/>
              </p:nvSpPr>
              <p:spPr>
                <a:xfrm rot="1538180" flipH="1">
                  <a:off x="1030629" y="4676291"/>
                  <a:ext cx="288429" cy="288429"/>
                </a:xfrm>
                <a:custGeom>
                  <a:avLst/>
                  <a:gdLst/>
                  <a:ahLst/>
                  <a:cxnLst/>
                  <a:rect l="l" t="t" r="r" b="b"/>
                  <a:pathLst>
                    <a:path w="261342" h="261342" extrusionOk="0">
                      <a:moveTo>
                        <a:pt x="201362" y="-1"/>
                      </a:moveTo>
                      <a:cubicBezTo>
                        <a:pt x="234488" y="-1"/>
                        <a:pt x="261343" y="26854"/>
                        <a:pt x="261343" y="59980"/>
                      </a:cubicBezTo>
                      <a:lnTo>
                        <a:pt x="261343" y="201362"/>
                      </a:lnTo>
                      <a:cubicBezTo>
                        <a:pt x="261343" y="234488"/>
                        <a:pt x="234488" y="261342"/>
                        <a:pt x="201362" y="261342"/>
                      </a:cubicBezTo>
                      <a:lnTo>
                        <a:pt x="59980" y="261342"/>
                      </a:lnTo>
                      <a:cubicBezTo>
                        <a:pt x="26854" y="261342"/>
                        <a:pt x="0" y="234488"/>
                        <a:pt x="0" y="201362"/>
                      </a:cubicBezTo>
                      <a:lnTo>
                        <a:pt x="0" y="59980"/>
                      </a:lnTo>
                      <a:cubicBezTo>
                        <a:pt x="0" y="26854"/>
                        <a:pt x="26854" y="-1"/>
                        <a:pt x="59980" y="-1"/>
                      </a:cubicBezTo>
                      <a:close/>
                    </a:path>
                  </a:pathLst>
                </a:custGeom>
                <a:solidFill>
                  <a:srgbClr val="1D4287">
                    <a:alpha val="60000"/>
                  </a:srgbClr>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nvGrpSpPr>
              <p:cNvPr id="15167" name="Google Shape;15167;p97"/>
              <p:cNvGrpSpPr/>
              <p:nvPr/>
            </p:nvGrpSpPr>
            <p:grpSpPr>
              <a:xfrm flipH="1">
                <a:off x="468653" y="3440505"/>
                <a:ext cx="593973" cy="2047338"/>
                <a:chOff x="1657426" y="3571036"/>
                <a:chExt cx="538653" cy="1856659"/>
              </a:xfrm>
            </p:grpSpPr>
            <p:sp>
              <p:nvSpPr>
                <p:cNvPr id="15168" name="Google Shape;15168;p97"/>
                <p:cNvSpPr/>
                <p:nvPr/>
              </p:nvSpPr>
              <p:spPr>
                <a:xfrm>
                  <a:off x="1889946" y="3700733"/>
                  <a:ext cx="245763" cy="443619"/>
                </a:xfrm>
                <a:custGeom>
                  <a:avLst/>
                  <a:gdLst/>
                  <a:ahLst/>
                  <a:cxnLst/>
                  <a:rect l="l" t="t" r="r" b="b"/>
                  <a:pathLst>
                    <a:path w="245763" h="443619" extrusionOk="0">
                      <a:moveTo>
                        <a:pt x="245763" y="425314"/>
                      </a:moveTo>
                      <a:lnTo>
                        <a:pt x="89970" y="236805"/>
                      </a:lnTo>
                      <a:lnTo>
                        <a:pt x="66991" y="2726"/>
                      </a:lnTo>
                      <a:lnTo>
                        <a:pt x="0" y="0"/>
                      </a:lnTo>
                      <a:lnTo>
                        <a:pt x="3116" y="264458"/>
                      </a:lnTo>
                      <a:lnTo>
                        <a:pt x="110613" y="443620"/>
                      </a:lnTo>
                      <a:lnTo>
                        <a:pt x="245763" y="425314"/>
                      </a:lnTo>
                      <a:close/>
                    </a:path>
                  </a:pathLst>
                </a:custGeom>
                <a:solidFill>
                  <a:srgbClr val="50386B"/>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69" name="Google Shape;15169;p97"/>
                <p:cNvSpPr/>
                <p:nvPr/>
              </p:nvSpPr>
              <p:spPr>
                <a:xfrm>
                  <a:off x="1958885" y="4542793"/>
                  <a:ext cx="237194" cy="884902"/>
                </a:xfrm>
                <a:custGeom>
                  <a:avLst/>
                  <a:gdLst/>
                  <a:ahLst/>
                  <a:cxnLst/>
                  <a:rect l="l" t="t" r="r" b="b"/>
                  <a:pathLst>
                    <a:path w="237194" h="884902" extrusionOk="0">
                      <a:moveTo>
                        <a:pt x="389" y="0"/>
                      </a:moveTo>
                      <a:lnTo>
                        <a:pt x="66601" y="447125"/>
                      </a:lnTo>
                      <a:lnTo>
                        <a:pt x="134761" y="789090"/>
                      </a:lnTo>
                      <a:cubicBezTo>
                        <a:pt x="137098" y="805838"/>
                        <a:pt x="128918" y="815186"/>
                        <a:pt x="116455" y="825701"/>
                      </a:cubicBezTo>
                      <a:lnTo>
                        <a:pt x="93476" y="847513"/>
                      </a:lnTo>
                      <a:cubicBezTo>
                        <a:pt x="83349" y="857250"/>
                        <a:pt x="77117" y="870882"/>
                        <a:pt x="77117" y="884903"/>
                      </a:cubicBezTo>
                      <a:lnTo>
                        <a:pt x="77117" y="884903"/>
                      </a:lnTo>
                      <a:cubicBezTo>
                        <a:pt x="77117" y="884903"/>
                        <a:pt x="237195" y="884903"/>
                        <a:pt x="237195" y="884903"/>
                      </a:cubicBezTo>
                      <a:cubicBezTo>
                        <a:pt x="184225" y="376629"/>
                        <a:pt x="185004" y="390"/>
                        <a:pt x="185004" y="390"/>
                      </a:cubicBezTo>
                      <a:lnTo>
                        <a:pt x="0" y="390"/>
                      </a:lnTo>
                      <a:close/>
                    </a:path>
                  </a:pathLst>
                </a:custGeom>
                <a:solidFill>
                  <a:srgbClr val="45315B"/>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0" name="Google Shape;15170;p97"/>
                <p:cNvSpPr/>
                <p:nvPr/>
              </p:nvSpPr>
              <p:spPr>
                <a:xfrm>
                  <a:off x="1728311" y="4080485"/>
                  <a:ext cx="276142" cy="528520"/>
                </a:xfrm>
                <a:custGeom>
                  <a:avLst/>
                  <a:gdLst/>
                  <a:ahLst/>
                  <a:cxnLst/>
                  <a:rect l="l" t="t" r="r" b="b"/>
                  <a:pathLst>
                    <a:path w="276142" h="528520" extrusionOk="0">
                      <a:moveTo>
                        <a:pt x="0" y="495414"/>
                      </a:moveTo>
                      <a:lnTo>
                        <a:pt x="92697" y="284704"/>
                      </a:lnTo>
                      <a:lnTo>
                        <a:pt x="131645" y="56858"/>
                      </a:lnTo>
                      <a:cubicBezTo>
                        <a:pt x="139824" y="13625"/>
                        <a:pt x="185394" y="-11302"/>
                        <a:pt x="226289" y="5057"/>
                      </a:cubicBezTo>
                      <a:lnTo>
                        <a:pt x="276143" y="25310"/>
                      </a:lnTo>
                      <a:cubicBezTo>
                        <a:pt x="276143" y="25310"/>
                        <a:pt x="201362" y="289768"/>
                        <a:pt x="182277" y="328327"/>
                      </a:cubicBezTo>
                      <a:cubicBezTo>
                        <a:pt x="132813" y="408949"/>
                        <a:pt x="66602" y="528520"/>
                        <a:pt x="66602" y="528520"/>
                      </a:cubicBezTo>
                      <a:lnTo>
                        <a:pt x="0" y="495025"/>
                      </a:lnTo>
                      <a:close/>
                    </a:path>
                  </a:pathLst>
                </a:custGeom>
                <a:solidFill>
                  <a:srgbClr val="6C4B8F"/>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1" name="Google Shape;15171;p97"/>
                <p:cNvSpPr/>
                <p:nvPr/>
              </p:nvSpPr>
              <p:spPr>
                <a:xfrm>
                  <a:off x="1782060" y="4542793"/>
                  <a:ext cx="269521" cy="884513"/>
                </a:xfrm>
                <a:custGeom>
                  <a:avLst/>
                  <a:gdLst/>
                  <a:ahLst/>
                  <a:cxnLst/>
                  <a:rect l="l" t="t" r="r" b="b"/>
                  <a:pathLst>
                    <a:path w="269521" h="884513" extrusionOk="0">
                      <a:moveTo>
                        <a:pt x="92697" y="0"/>
                      </a:moveTo>
                      <a:lnTo>
                        <a:pt x="74391" y="431546"/>
                      </a:lnTo>
                      <a:lnTo>
                        <a:pt x="71665" y="789090"/>
                      </a:lnTo>
                      <a:cubicBezTo>
                        <a:pt x="72054" y="803501"/>
                        <a:pt x="65433" y="817133"/>
                        <a:pt x="53359" y="825701"/>
                      </a:cubicBezTo>
                      <a:lnTo>
                        <a:pt x="18306" y="849849"/>
                      </a:lnTo>
                      <a:cubicBezTo>
                        <a:pt x="7011" y="857639"/>
                        <a:pt x="0" y="870882"/>
                        <a:pt x="0" y="884513"/>
                      </a:cubicBezTo>
                      <a:lnTo>
                        <a:pt x="0" y="884513"/>
                      </a:lnTo>
                      <a:cubicBezTo>
                        <a:pt x="0" y="884513"/>
                        <a:pt x="174098" y="884513"/>
                        <a:pt x="174098" y="884513"/>
                      </a:cubicBezTo>
                      <a:lnTo>
                        <a:pt x="216941" y="451020"/>
                      </a:lnTo>
                      <a:lnTo>
                        <a:pt x="269522" y="0"/>
                      </a:lnTo>
                      <a:lnTo>
                        <a:pt x="92697" y="0"/>
                      </a:lnTo>
                      <a:close/>
                    </a:path>
                  </a:pathLst>
                </a:custGeom>
                <a:solidFill>
                  <a:srgbClr val="45315B"/>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2" name="Google Shape;15172;p97"/>
                <p:cNvSpPr/>
                <p:nvPr/>
              </p:nvSpPr>
              <p:spPr>
                <a:xfrm>
                  <a:off x="1893655" y="3571036"/>
                  <a:ext cx="72240" cy="131644"/>
                </a:xfrm>
                <a:custGeom>
                  <a:avLst/>
                  <a:gdLst/>
                  <a:ahLst/>
                  <a:cxnLst/>
                  <a:rect l="l" t="t" r="r" b="b"/>
                  <a:pathLst>
                    <a:path w="72240" h="131644" extrusionOk="0">
                      <a:moveTo>
                        <a:pt x="2523" y="130087"/>
                      </a:moveTo>
                      <a:lnTo>
                        <a:pt x="2523" y="130087"/>
                      </a:lnTo>
                      <a:cubicBezTo>
                        <a:pt x="-3709" y="108276"/>
                        <a:pt x="1744" y="84518"/>
                        <a:pt x="17323" y="67770"/>
                      </a:cubicBezTo>
                      <a:lnTo>
                        <a:pt x="28618" y="55696"/>
                      </a:lnTo>
                      <a:lnTo>
                        <a:pt x="18492" y="12853"/>
                      </a:lnTo>
                      <a:lnTo>
                        <a:pt x="35239" y="0"/>
                      </a:lnTo>
                      <a:lnTo>
                        <a:pt x="72240" y="63096"/>
                      </a:lnTo>
                      <a:lnTo>
                        <a:pt x="63672" y="131645"/>
                      </a:lnTo>
                      <a:lnTo>
                        <a:pt x="2523" y="129308"/>
                      </a:lnTo>
                      <a:close/>
                    </a:path>
                  </a:pathLst>
                </a:custGeom>
                <a:solidFill>
                  <a:srgbClr val="DAA874"/>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3" name="Google Shape;15173;p97"/>
                <p:cNvSpPr/>
                <p:nvPr/>
              </p:nvSpPr>
              <p:spPr>
                <a:xfrm>
                  <a:off x="1874757" y="4061004"/>
                  <a:ext cx="297167" cy="496199"/>
                </a:xfrm>
                <a:custGeom>
                  <a:avLst/>
                  <a:gdLst/>
                  <a:ahLst/>
                  <a:cxnLst/>
                  <a:rect l="l" t="t" r="r" b="b"/>
                  <a:pathLst>
                    <a:path w="297167" h="496199" extrusionOk="0">
                      <a:moveTo>
                        <a:pt x="229405" y="12074"/>
                      </a:moveTo>
                      <a:lnTo>
                        <a:pt x="208373" y="31548"/>
                      </a:lnTo>
                      <a:lnTo>
                        <a:pt x="129697" y="0"/>
                      </a:lnTo>
                      <a:lnTo>
                        <a:pt x="38169" y="21032"/>
                      </a:lnTo>
                      <a:cubicBezTo>
                        <a:pt x="38169" y="21032"/>
                        <a:pt x="15190" y="297175"/>
                        <a:pt x="0" y="488410"/>
                      </a:cubicBezTo>
                      <a:lnTo>
                        <a:pt x="271079" y="496200"/>
                      </a:lnTo>
                      <a:lnTo>
                        <a:pt x="296785" y="130087"/>
                      </a:lnTo>
                      <a:cubicBezTo>
                        <a:pt x="301069" y="70107"/>
                        <a:pt x="268743" y="21811"/>
                        <a:pt x="229015" y="11684"/>
                      </a:cubicBezTo>
                      <a:close/>
                    </a:path>
                  </a:pathLst>
                </a:custGeom>
                <a:solidFill>
                  <a:srgbClr val="6C4B8F"/>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nvGrpSpPr>
                <p:cNvPr id="15174" name="Google Shape;15174;p97"/>
                <p:cNvGrpSpPr/>
                <p:nvPr/>
              </p:nvGrpSpPr>
              <p:grpSpPr>
                <a:xfrm>
                  <a:off x="1935946" y="3808057"/>
                  <a:ext cx="188519" cy="285273"/>
                  <a:chOff x="1935946" y="3808057"/>
                  <a:chExt cx="188519" cy="285273"/>
                </a:xfrm>
              </p:grpSpPr>
              <p:sp>
                <p:nvSpPr>
                  <p:cNvPr id="15175" name="Google Shape;15175;p97"/>
                  <p:cNvSpPr/>
                  <p:nvPr/>
                </p:nvSpPr>
                <p:spPr>
                  <a:xfrm>
                    <a:off x="1981085" y="3943196"/>
                    <a:ext cx="124370" cy="150134"/>
                  </a:xfrm>
                  <a:custGeom>
                    <a:avLst/>
                    <a:gdLst/>
                    <a:ahLst/>
                    <a:cxnLst/>
                    <a:rect l="l" t="t" r="r" b="b"/>
                    <a:pathLst>
                      <a:path w="124370" h="150134" extrusionOk="0">
                        <a:moveTo>
                          <a:pt x="102044" y="149745"/>
                        </a:moveTo>
                        <a:cubicBezTo>
                          <a:pt x="102044" y="149745"/>
                          <a:pt x="83739" y="99891"/>
                          <a:pt x="118013" y="34069"/>
                        </a:cubicBezTo>
                        <a:cubicBezTo>
                          <a:pt x="155793" y="-38764"/>
                          <a:pt x="12853" y="27837"/>
                          <a:pt x="12853" y="27837"/>
                        </a:cubicBezTo>
                        <a:lnTo>
                          <a:pt x="0" y="140008"/>
                        </a:lnTo>
                        <a:lnTo>
                          <a:pt x="101655" y="150134"/>
                        </a:lnTo>
                        <a:close/>
                      </a:path>
                    </a:pathLst>
                  </a:custGeom>
                  <a:solidFill>
                    <a:srgbClr val="DAA874"/>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6" name="Google Shape;15176;p97"/>
                  <p:cNvSpPr/>
                  <p:nvPr/>
                </p:nvSpPr>
                <p:spPr>
                  <a:xfrm>
                    <a:off x="1935946" y="3817192"/>
                    <a:ext cx="177451" cy="206460"/>
                  </a:xfrm>
                  <a:custGeom>
                    <a:avLst/>
                    <a:gdLst/>
                    <a:ahLst/>
                    <a:cxnLst/>
                    <a:rect l="l" t="t" r="r" b="b"/>
                    <a:pathLst>
                      <a:path w="177451" h="206460" extrusionOk="0">
                        <a:moveTo>
                          <a:pt x="66171" y="205253"/>
                        </a:moveTo>
                        <a:lnTo>
                          <a:pt x="66171" y="205253"/>
                        </a:lnTo>
                        <a:cubicBezTo>
                          <a:pt x="19823" y="195516"/>
                          <a:pt x="-3157" y="177600"/>
                          <a:pt x="349" y="126967"/>
                        </a:cubicBezTo>
                        <a:lnTo>
                          <a:pt x="6580" y="74387"/>
                        </a:lnTo>
                        <a:cubicBezTo>
                          <a:pt x="16318" y="19470"/>
                          <a:pt x="62666" y="-7793"/>
                          <a:pt x="109014" y="1944"/>
                        </a:cubicBezTo>
                        <a:lnTo>
                          <a:pt x="109014" y="1944"/>
                        </a:lnTo>
                        <a:cubicBezTo>
                          <a:pt x="155363" y="11681"/>
                          <a:pt x="185353" y="57250"/>
                          <a:pt x="175616" y="103598"/>
                        </a:cubicBezTo>
                        <a:lnTo>
                          <a:pt x="164321" y="156957"/>
                        </a:lnTo>
                        <a:cubicBezTo>
                          <a:pt x="163152" y="162800"/>
                          <a:pt x="112909" y="214990"/>
                          <a:pt x="66561" y="205253"/>
                        </a:cubicBezTo>
                        <a:close/>
                      </a:path>
                    </a:pathLst>
                  </a:custGeom>
                  <a:solidFill>
                    <a:srgbClr val="DAA874"/>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7" name="Google Shape;15177;p97"/>
                  <p:cNvSpPr/>
                  <p:nvPr/>
                </p:nvSpPr>
                <p:spPr>
                  <a:xfrm>
                    <a:off x="1950389" y="3808057"/>
                    <a:ext cx="174076" cy="184787"/>
                  </a:xfrm>
                  <a:custGeom>
                    <a:avLst/>
                    <a:gdLst/>
                    <a:ahLst/>
                    <a:cxnLst/>
                    <a:rect l="l" t="t" r="r" b="b"/>
                    <a:pathLst>
                      <a:path w="174076" h="184787" extrusionOk="0">
                        <a:moveTo>
                          <a:pt x="3822" y="49637"/>
                        </a:moveTo>
                        <a:cubicBezTo>
                          <a:pt x="-6694" y="32111"/>
                          <a:pt x="5769" y="14584"/>
                          <a:pt x="25633" y="10300"/>
                        </a:cubicBezTo>
                        <a:cubicBezTo>
                          <a:pt x="48612" y="4847"/>
                          <a:pt x="75097" y="-4111"/>
                          <a:pt x="105087" y="2121"/>
                        </a:cubicBezTo>
                        <a:cubicBezTo>
                          <a:pt x="164288" y="14584"/>
                          <a:pt x="176752" y="67943"/>
                          <a:pt x="173636" y="95596"/>
                        </a:cubicBezTo>
                        <a:cubicBezTo>
                          <a:pt x="169741" y="131428"/>
                          <a:pt x="140919" y="184787"/>
                          <a:pt x="140919" y="184787"/>
                        </a:cubicBezTo>
                        <a:lnTo>
                          <a:pt x="100413" y="176219"/>
                        </a:lnTo>
                        <a:cubicBezTo>
                          <a:pt x="89897" y="173882"/>
                          <a:pt x="82497" y="164145"/>
                          <a:pt x="82887" y="153629"/>
                        </a:cubicBezTo>
                        <a:lnTo>
                          <a:pt x="84055" y="131428"/>
                        </a:lnTo>
                        <a:lnTo>
                          <a:pt x="47054" y="110396"/>
                        </a:lnTo>
                        <a:lnTo>
                          <a:pt x="51728" y="84691"/>
                        </a:lnTo>
                        <a:cubicBezTo>
                          <a:pt x="54065" y="73006"/>
                          <a:pt x="53286" y="53143"/>
                          <a:pt x="30307" y="52364"/>
                        </a:cubicBezTo>
                        <a:lnTo>
                          <a:pt x="4211" y="50027"/>
                        </a:lnTo>
                        <a:lnTo>
                          <a:pt x="4211" y="50027"/>
                        </a:lnTo>
                        <a:close/>
                      </a:path>
                    </a:pathLst>
                  </a:custGeom>
                  <a:solidFill>
                    <a:srgbClr val="3D3980"/>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78" name="Google Shape;15178;p97"/>
                  <p:cNvSpPr/>
                  <p:nvPr/>
                </p:nvSpPr>
                <p:spPr>
                  <a:xfrm rot="-4691101">
                    <a:off x="1989861" y="3920746"/>
                    <a:ext cx="56153" cy="41335"/>
                  </a:xfrm>
                  <a:custGeom>
                    <a:avLst/>
                    <a:gdLst/>
                    <a:ahLst/>
                    <a:cxnLst/>
                    <a:rect l="l" t="t" r="r" b="b"/>
                    <a:pathLst>
                      <a:path w="56085" h="41285" extrusionOk="0">
                        <a:moveTo>
                          <a:pt x="56085" y="20642"/>
                        </a:moveTo>
                        <a:cubicBezTo>
                          <a:pt x="56085" y="32043"/>
                          <a:pt x="43530" y="41285"/>
                          <a:pt x="28042" y="41285"/>
                        </a:cubicBezTo>
                        <a:cubicBezTo>
                          <a:pt x="12555" y="41285"/>
                          <a:pt x="0" y="32043"/>
                          <a:pt x="0" y="20642"/>
                        </a:cubicBezTo>
                        <a:cubicBezTo>
                          <a:pt x="0" y="9242"/>
                          <a:pt x="12555" y="0"/>
                          <a:pt x="28042" y="0"/>
                        </a:cubicBezTo>
                        <a:cubicBezTo>
                          <a:pt x="43530" y="0"/>
                          <a:pt x="56085" y="9242"/>
                          <a:pt x="56085" y="20642"/>
                        </a:cubicBezTo>
                        <a:close/>
                      </a:path>
                    </a:pathLst>
                  </a:custGeom>
                  <a:solidFill>
                    <a:srgbClr val="DAA874"/>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sp>
              <p:nvSpPr>
                <p:cNvPr id="15179" name="Google Shape;15179;p97"/>
                <p:cNvSpPr/>
                <p:nvPr/>
              </p:nvSpPr>
              <p:spPr>
                <a:xfrm>
                  <a:off x="1925564" y="3803664"/>
                  <a:ext cx="172365" cy="108167"/>
                </a:xfrm>
                <a:custGeom>
                  <a:avLst/>
                  <a:gdLst/>
                  <a:ahLst/>
                  <a:cxnLst/>
                  <a:rect l="l" t="t" r="r" b="b"/>
                  <a:pathLst>
                    <a:path w="172365" h="108167" extrusionOk="0">
                      <a:moveTo>
                        <a:pt x="172366" y="33777"/>
                      </a:moveTo>
                      <a:cubicBezTo>
                        <a:pt x="172366" y="33777"/>
                        <a:pt x="150165" y="3787"/>
                        <a:pt x="129912" y="1450"/>
                      </a:cubicBezTo>
                      <a:cubicBezTo>
                        <a:pt x="78890" y="-4003"/>
                        <a:pt x="994" y="7682"/>
                        <a:pt x="994" y="7682"/>
                      </a:cubicBezTo>
                      <a:cubicBezTo>
                        <a:pt x="994" y="7682"/>
                        <a:pt x="-9133" y="64156"/>
                        <a:pt x="35268" y="86357"/>
                      </a:cubicBezTo>
                      <a:cubicBezTo>
                        <a:pt x="63311" y="86746"/>
                        <a:pt x="78890" y="108168"/>
                        <a:pt x="78890" y="108168"/>
                      </a:cubicBezTo>
                      <a:lnTo>
                        <a:pt x="172366" y="33387"/>
                      </a:lnTo>
                      <a:close/>
                    </a:path>
                  </a:pathLst>
                </a:custGeom>
                <a:solidFill>
                  <a:srgbClr val="3D3980"/>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80" name="Google Shape;15180;p97"/>
                <p:cNvSpPr/>
                <p:nvPr/>
              </p:nvSpPr>
              <p:spPr>
                <a:xfrm>
                  <a:off x="1657426" y="4577457"/>
                  <a:ext cx="124634" cy="136318"/>
                </a:xfrm>
                <a:custGeom>
                  <a:avLst/>
                  <a:gdLst/>
                  <a:ahLst/>
                  <a:cxnLst/>
                  <a:rect l="l" t="t" r="r" b="b"/>
                  <a:pathLst>
                    <a:path w="124634" h="136318" extrusionOk="0">
                      <a:moveTo>
                        <a:pt x="124634" y="25316"/>
                      </a:moveTo>
                      <a:lnTo>
                        <a:pt x="98149" y="103992"/>
                      </a:lnTo>
                      <a:lnTo>
                        <a:pt x="42843" y="136319"/>
                      </a:lnTo>
                      <a:lnTo>
                        <a:pt x="29211" y="126971"/>
                      </a:lnTo>
                      <a:lnTo>
                        <a:pt x="19085" y="128919"/>
                      </a:lnTo>
                      <a:lnTo>
                        <a:pt x="10906" y="123466"/>
                      </a:lnTo>
                      <a:lnTo>
                        <a:pt x="42843" y="79844"/>
                      </a:lnTo>
                      <a:lnTo>
                        <a:pt x="8958" y="112171"/>
                      </a:lnTo>
                      <a:lnTo>
                        <a:pt x="0" y="102823"/>
                      </a:lnTo>
                      <a:lnTo>
                        <a:pt x="47517" y="46348"/>
                      </a:lnTo>
                      <a:lnTo>
                        <a:pt x="32327" y="14800"/>
                      </a:lnTo>
                      <a:lnTo>
                        <a:pt x="50633" y="3116"/>
                      </a:lnTo>
                      <a:lnTo>
                        <a:pt x="74002" y="0"/>
                      </a:lnTo>
                      <a:lnTo>
                        <a:pt x="124634" y="25316"/>
                      </a:lnTo>
                      <a:close/>
                    </a:path>
                  </a:pathLst>
                </a:custGeom>
                <a:solidFill>
                  <a:srgbClr val="DAA874"/>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sp>
              <p:nvSpPr>
                <p:cNvPr id="15181" name="Google Shape;15181;p97"/>
                <p:cNvSpPr/>
                <p:nvPr/>
              </p:nvSpPr>
              <p:spPr>
                <a:xfrm>
                  <a:off x="1965506" y="4045424"/>
                  <a:ext cx="143718" cy="52969"/>
                </a:xfrm>
                <a:custGeom>
                  <a:avLst/>
                  <a:gdLst/>
                  <a:ahLst/>
                  <a:cxnLst/>
                  <a:rect l="l" t="t" r="r" b="b"/>
                  <a:pathLst>
                    <a:path w="143718" h="52969" extrusionOk="0">
                      <a:moveTo>
                        <a:pt x="143719" y="52970"/>
                      </a:moveTo>
                      <a:lnTo>
                        <a:pt x="136319" y="3895"/>
                      </a:lnTo>
                      <a:lnTo>
                        <a:pt x="8179" y="0"/>
                      </a:lnTo>
                      <a:lnTo>
                        <a:pt x="0" y="44790"/>
                      </a:lnTo>
                      <a:lnTo>
                        <a:pt x="143719" y="52970"/>
                      </a:lnTo>
                      <a:close/>
                    </a:path>
                  </a:pathLst>
                </a:custGeom>
                <a:solidFill>
                  <a:srgbClr val="6D6E71"/>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grpSp>
        <p:sp>
          <p:nvSpPr>
            <p:cNvPr id="15182" name="Google Shape;15182;p97"/>
            <p:cNvSpPr/>
            <p:nvPr/>
          </p:nvSpPr>
          <p:spPr>
            <a:xfrm rot="-3015989">
              <a:off x="5098324" y="2386575"/>
              <a:ext cx="527856" cy="640695"/>
            </a:xfrm>
            <a:prstGeom prst="upArrow">
              <a:avLst>
                <a:gd name="adj1" fmla="val 50000"/>
                <a:gd name="adj2" fmla="val 50000"/>
              </a:avLst>
            </a:prstGeom>
            <a:gradFill>
              <a:gsLst>
                <a:gs pos="0">
                  <a:srgbClr val="6C4A93"/>
                </a:gs>
                <a:gs pos="28000">
                  <a:srgbClr val="6C4A93"/>
                </a:gs>
                <a:gs pos="100000">
                  <a:srgbClr val="FFFFFF">
                    <a:alpha val="0"/>
                  </a:srgbClr>
                </a:gs>
              </a:gsLst>
              <a:lin ang="5400012" scaled="0"/>
            </a:gra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183" name="Google Shape;15183;p97"/>
            <p:cNvSpPr/>
            <p:nvPr/>
          </p:nvSpPr>
          <p:spPr>
            <a:xfrm rot="-7709961">
              <a:off x="5045537" y="4516371"/>
              <a:ext cx="527907" cy="559658"/>
            </a:xfrm>
            <a:prstGeom prst="upArrow">
              <a:avLst>
                <a:gd name="adj1" fmla="val 50000"/>
                <a:gd name="adj2" fmla="val 50000"/>
              </a:avLst>
            </a:prstGeom>
            <a:gradFill>
              <a:gsLst>
                <a:gs pos="0">
                  <a:schemeClr val="accent1"/>
                </a:gs>
                <a:gs pos="39000">
                  <a:schemeClr val="accent1"/>
                </a:gs>
                <a:gs pos="100000">
                  <a:srgbClr val="FFFFFF">
                    <a:alpha val="0"/>
                  </a:srgbClr>
                </a:gs>
              </a:gsLst>
              <a:lin ang="5400012" scaled="0"/>
            </a:gra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sp>
        <p:nvSpPr>
          <p:cNvPr id="15184" name="Google Shape;15184;p97"/>
          <p:cNvSpPr/>
          <p:nvPr/>
        </p:nvSpPr>
        <p:spPr>
          <a:xfrm>
            <a:off x="8929656" y="3229891"/>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ArgoCD</a:t>
            </a:r>
            <a:endParaRPr sz="1200">
              <a:solidFill>
                <a:srgbClr val="000000"/>
              </a:solidFill>
              <a:latin typeface="Arial"/>
              <a:ea typeface="Arial"/>
              <a:cs typeface="Arial"/>
              <a:sym typeface="Arial"/>
            </a:endParaRPr>
          </a:p>
        </p:txBody>
      </p:sp>
      <p:pic>
        <p:nvPicPr>
          <p:cNvPr id="15185" name="Google Shape;15185;p97"/>
          <p:cNvPicPr preferRelativeResize="0"/>
          <p:nvPr/>
        </p:nvPicPr>
        <p:blipFill rotWithShape="1">
          <a:blip r:embed="rId4">
            <a:alphaModFix/>
          </a:blip>
          <a:srcRect/>
          <a:stretch/>
        </p:blipFill>
        <p:spPr>
          <a:xfrm>
            <a:off x="8537182" y="3241481"/>
            <a:ext cx="357611" cy="357611"/>
          </a:xfrm>
          <a:prstGeom prst="rect">
            <a:avLst/>
          </a:prstGeom>
          <a:noFill/>
          <a:ln>
            <a:noFill/>
          </a:ln>
        </p:spPr>
      </p:pic>
      <p:sp>
        <p:nvSpPr>
          <p:cNvPr id="15186" name="Google Shape;15186;p97"/>
          <p:cNvSpPr/>
          <p:nvPr/>
        </p:nvSpPr>
        <p:spPr>
          <a:xfrm>
            <a:off x="8929656" y="2222743"/>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Harbor Image Registry</a:t>
            </a:r>
            <a:endParaRPr sz="1200">
              <a:solidFill>
                <a:srgbClr val="000000"/>
              </a:solidFill>
              <a:latin typeface="Arial"/>
              <a:ea typeface="Arial"/>
              <a:cs typeface="Arial"/>
              <a:sym typeface="Arial"/>
            </a:endParaRPr>
          </a:p>
        </p:txBody>
      </p:sp>
      <p:sp>
        <p:nvSpPr>
          <p:cNvPr id="15187" name="Google Shape;15187;p97"/>
          <p:cNvSpPr/>
          <p:nvPr/>
        </p:nvSpPr>
        <p:spPr>
          <a:xfrm>
            <a:off x="8553104" y="2240714"/>
            <a:ext cx="293923" cy="294523"/>
          </a:xfrm>
          <a:prstGeom prst="ellipse">
            <a:avLst/>
          </a:prstGeom>
          <a:blipFill rotWithShape="1">
            <a:blip r:embed="rId5">
              <a:alphaModFix/>
            </a:blip>
            <a:stretch>
              <a:fillRect l="-1475" b="-455"/>
            </a:stretch>
          </a:blipFill>
          <a:ln>
            <a:noFill/>
          </a:ln>
        </p:spPr>
        <p:txBody>
          <a:bodyPr spcFirstLastPara="1" wrap="square" lIns="87675" tIns="43825" rIns="87675" bIns="43825" anchor="ctr" anchorCtr="0">
            <a:noAutofit/>
          </a:bodyPr>
          <a:lstStyle/>
          <a:p>
            <a:pPr marL="0" marR="0" lvl="0" indent="0" algn="ctr" rtl="0">
              <a:spcBef>
                <a:spcPts val="0"/>
              </a:spcBef>
              <a:spcAft>
                <a:spcPts val="0"/>
              </a:spcAft>
              <a:buNone/>
            </a:pPr>
            <a:endParaRPr sz="800">
              <a:solidFill>
                <a:srgbClr val="FFFFFF"/>
              </a:solidFill>
              <a:latin typeface="Arial"/>
              <a:ea typeface="Arial"/>
              <a:cs typeface="Arial"/>
              <a:sym typeface="Arial"/>
            </a:endParaRPr>
          </a:p>
        </p:txBody>
      </p:sp>
      <p:sp>
        <p:nvSpPr>
          <p:cNvPr id="15188" name="Google Shape;15188;p97"/>
          <p:cNvSpPr/>
          <p:nvPr/>
        </p:nvSpPr>
        <p:spPr>
          <a:xfrm>
            <a:off x="8929656" y="3769467"/>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Secret Service</a:t>
            </a:r>
            <a:endParaRPr sz="1200">
              <a:solidFill>
                <a:srgbClr val="000000"/>
              </a:solidFill>
              <a:latin typeface="Arial"/>
              <a:ea typeface="Arial"/>
              <a:cs typeface="Arial"/>
              <a:sym typeface="Arial"/>
            </a:endParaRPr>
          </a:p>
        </p:txBody>
      </p:sp>
      <p:pic>
        <p:nvPicPr>
          <p:cNvPr id="15189" name="Google Shape;15189;p97" descr="OpenBao · GitHub"/>
          <p:cNvPicPr preferRelativeResize="0"/>
          <p:nvPr/>
        </p:nvPicPr>
        <p:blipFill rotWithShape="1">
          <a:blip r:embed="rId6">
            <a:alphaModFix/>
          </a:blip>
          <a:srcRect/>
          <a:stretch/>
        </p:blipFill>
        <p:spPr>
          <a:xfrm>
            <a:off x="8550625" y="3786160"/>
            <a:ext cx="303848" cy="334233"/>
          </a:xfrm>
          <a:prstGeom prst="rect">
            <a:avLst/>
          </a:prstGeom>
          <a:noFill/>
          <a:ln>
            <a:noFill/>
          </a:ln>
        </p:spPr>
      </p:pic>
      <p:sp>
        <p:nvSpPr>
          <p:cNvPr id="15190" name="Google Shape;15190;p97"/>
          <p:cNvSpPr/>
          <p:nvPr/>
        </p:nvSpPr>
        <p:spPr>
          <a:xfrm>
            <a:off x="8929656" y="4290769"/>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Cert-Manager</a:t>
            </a:r>
            <a:endParaRPr sz="1200">
              <a:solidFill>
                <a:srgbClr val="000000"/>
              </a:solidFill>
              <a:latin typeface="Arial"/>
              <a:ea typeface="Arial"/>
              <a:cs typeface="Arial"/>
              <a:sym typeface="Arial"/>
            </a:endParaRPr>
          </a:p>
        </p:txBody>
      </p:sp>
      <p:pic>
        <p:nvPicPr>
          <p:cNvPr id="15191" name="Google Shape;15191;p97"/>
          <p:cNvPicPr preferRelativeResize="0"/>
          <p:nvPr/>
        </p:nvPicPr>
        <p:blipFill rotWithShape="1">
          <a:blip r:embed="rId7">
            <a:alphaModFix/>
          </a:blip>
          <a:srcRect/>
          <a:stretch/>
        </p:blipFill>
        <p:spPr>
          <a:xfrm>
            <a:off x="8567983" y="4342446"/>
            <a:ext cx="265938" cy="265938"/>
          </a:xfrm>
          <a:prstGeom prst="rect">
            <a:avLst/>
          </a:prstGeom>
          <a:solidFill>
            <a:srgbClr val="B5F4FF"/>
          </a:solidFill>
          <a:ln>
            <a:noFill/>
          </a:ln>
        </p:spPr>
      </p:pic>
      <p:sp>
        <p:nvSpPr>
          <p:cNvPr id="15192" name="Google Shape;15192;p97"/>
          <p:cNvSpPr/>
          <p:nvPr/>
        </p:nvSpPr>
        <p:spPr>
          <a:xfrm>
            <a:off x="8929656" y="2726032"/>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External DNS</a:t>
            </a:r>
            <a:endParaRPr sz="1200">
              <a:solidFill>
                <a:srgbClr val="000000"/>
              </a:solidFill>
              <a:latin typeface="Arial"/>
              <a:ea typeface="Arial"/>
              <a:cs typeface="Arial"/>
              <a:sym typeface="Arial"/>
            </a:endParaRPr>
          </a:p>
        </p:txBody>
      </p:sp>
      <p:pic>
        <p:nvPicPr>
          <p:cNvPr id="15193" name="Google Shape;15193;p97"/>
          <p:cNvPicPr preferRelativeResize="0"/>
          <p:nvPr/>
        </p:nvPicPr>
        <p:blipFill rotWithShape="1">
          <a:blip r:embed="rId8">
            <a:alphaModFix/>
          </a:blip>
          <a:srcRect/>
          <a:stretch/>
        </p:blipFill>
        <p:spPr>
          <a:xfrm>
            <a:off x="8546140" y="2737732"/>
            <a:ext cx="321785" cy="321785"/>
          </a:xfrm>
          <a:prstGeom prst="rect">
            <a:avLst/>
          </a:prstGeom>
          <a:noFill/>
          <a:ln>
            <a:noFill/>
          </a:ln>
        </p:spPr>
      </p:pic>
      <p:sp>
        <p:nvSpPr>
          <p:cNvPr id="15194" name="Google Shape;15194;p97"/>
          <p:cNvSpPr/>
          <p:nvPr/>
        </p:nvSpPr>
        <p:spPr>
          <a:xfrm>
            <a:off x="8457298" y="1634057"/>
            <a:ext cx="2143394" cy="283339"/>
          </a:xfrm>
          <a:prstGeom prst="roundRect">
            <a:avLst>
              <a:gd name="adj" fmla="val 16667"/>
            </a:avLst>
          </a:prstGeom>
          <a:solidFill>
            <a:schemeClr val="lt1"/>
          </a:solidFill>
          <a:ln w="9525" cap="flat" cmpd="sng">
            <a:solidFill>
              <a:schemeClr val="accent3"/>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rtl="0">
              <a:spcBef>
                <a:spcPts val="0"/>
              </a:spcBef>
              <a:spcAft>
                <a:spcPts val="0"/>
              </a:spcAft>
              <a:buNone/>
            </a:pPr>
            <a:r>
              <a:rPr lang="en-US" sz="1200">
                <a:solidFill>
                  <a:srgbClr val="0098C7"/>
                </a:solidFill>
                <a:latin typeface="Arial"/>
                <a:ea typeface="Arial"/>
                <a:cs typeface="Arial"/>
                <a:sym typeface="Arial"/>
              </a:rPr>
              <a:t>Additional Cloud Services</a:t>
            </a:r>
            <a:endParaRPr sz="1200">
              <a:solidFill>
                <a:srgbClr val="0098C7"/>
              </a:solidFill>
              <a:latin typeface="Arial"/>
              <a:ea typeface="Arial"/>
              <a:cs typeface="Arial"/>
              <a:sym typeface="Arial"/>
            </a:endParaRPr>
          </a:p>
        </p:txBody>
      </p:sp>
      <p:sp>
        <p:nvSpPr>
          <p:cNvPr id="15195" name="Google Shape;15195;p97"/>
          <p:cNvSpPr/>
          <p:nvPr/>
        </p:nvSpPr>
        <p:spPr>
          <a:xfrm>
            <a:off x="8922008" y="5723540"/>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AI Services </a:t>
            </a:r>
            <a:endParaRPr sz="1000">
              <a:solidFill>
                <a:srgbClr val="FFFFFF"/>
              </a:solidFill>
              <a:latin typeface="Arial"/>
              <a:ea typeface="Arial"/>
              <a:cs typeface="Arial"/>
              <a:sym typeface="Arial"/>
            </a:endParaRPr>
          </a:p>
        </p:txBody>
      </p:sp>
      <p:pic>
        <p:nvPicPr>
          <p:cNvPr id="15196" name="Google Shape;15196;p97"/>
          <p:cNvPicPr preferRelativeResize="0"/>
          <p:nvPr/>
        </p:nvPicPr>
        <p:blipFill rotWithShape="1">
          <a:blip r:embed="rId9">
            <a:alphaModFix/>
          </a:blip>
          <a:srcRect/>
          <a:stretch/>
        </p:blipFill>
        <p:spPr>
          <a:xfrm>
            <a:off x="8602420" y="5769203"/>
            <a:ext cx="260546" cy="252403"/>
          </a:xfrm>
          <a:prstGeom prst="rect">
            <a:avLst/>
          </a:prstGeom>
          <a:noFill/>
          <a:ln>
            <a:noFill/>
          </a:ln>
        </p:spPr>
      </p:pic>
      <p:sp>
        <p:nvSpPr>
          <p:cNvPr id="15197" name="Google Shape;15197;p97"/>
          <p:cNvSpPr/>
          <p:nvPr/>
        </p:nvSpPr>
        <p:spPr>
          <a:xfrm>
            <a:off x="8929656" y="4794058"/>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Data Services </a:t>
            </a:r>
            <a:endParaRPr sz="1000">
              <a:solidFill>
                <a:srgbClr val="FFFFFF"/>
              </a:solidFill>
              <a:latin typeface="Arial"/>
              <a:ea typeface="Arial"/>
              <a:cs typeface="Arial"/>
              <a:sym typeface="Arial"/>
            </a:endParaRPr>
          </a:p>
        </p:txBody>
      </p:sp>
      <p:pic>
        <p:nvPicPr>
          <p:cNvPr id="15198" name="Google Shape;15198;p97"/>
          <p:cNvPicPr preferRelativeResize="0"/>
          <p:nvPr/>
        </p:nvPicPr>
        <p:blipFill rotWithShape="1">
          <a:blip r:embed="rId10">
            <a:alphaModFix/>
          </a:blip>
          <a:srcRect/>
          <a:stretch/>
        </p:blipFill>
        <p:spPr>
          <a:xfrm>
            <a:off x="8602421" y="4831295"/>
            <a:ext cx="259615" cy="252403"/>
          </a:xfrm>
          <a:prstGeom prst="rect">
            <a:avLst/>
          </a:prstGeom>
          <a:noFill/>
          <a:ln>
            <a:noFill/>
          </a:ln>
        </p:spPr>
      </p:pic>
      <p:sp>
        <p:nvSpPr>
          <p:cNvPr id="15199" name="Google Shape;15199;p97"/>
          <p:cNvSpPr txBox="1"/>
          <p:nvPr/>
        </p:nvSpPr>
        <p:spPr>
          <a:xfrm>
            <a:off x="633037" y="2850617"/>
            <a:ext cx="1157852" cy="400006"/>
          </a:xfrm>
          <a:prstGeom prst="rect">
            <a:avLst/>
          </a:prstGeom>
          <a:noFill/>
          <a:ln>
            <a:noFill/>
          </a:ln>
        </p:spPr>
        <p:txBody>
          <a:bodyPr spcFirstLastPara="1" wrap="square" lIns="91400" tIns="45675" rIns="91400" bIns="45675" anchor="t" anchorCtr="0">
            <a:spAutoFit/>
          </a:bodyPr>
          <a:lstStyle/>
          <a:p>
            <a:pPr marL="0" marR="0" lvl="0" indent="0" algn="ctr" rtl="0">
              <a:spcBef>
                <a:spcPts val="0"/>
              </a:spcBef>
              <a:spcAft>
                <a:spcPts val="0"/>
              </a:spcAft>
              <a:buNone/>
            </a:pPr>
            <a:r>
              <a:rPr lang="en-US" sz="1000">
                <a:solidFill>
                  <a:srgbClr val="FFFFFF"/>
                </a:solidFill>
                <a:latin typeface="Arial"/>
                <a:ea typeface="Arial"/>
                <a:cs typeface="Arial"/>
                <a:sym typeface="Arial"/>
              </a:rPr>
              <a:t>Kubernetes Service (VKS)</a:t>
            </a:r>
            <a:endParaRPr sz="1200">
              <a:solidFill>
                <a:srgbClr val="000000"/>
              </a:solidFill>
              <a:latin typeface="Arial"/>
              <a:ea typeface="Arial"/>
              <a:cs typeface="Arial"/>
              <a:sym typeface="Arial"/>
            </a:endParaRPr>
          </a:p>
        </p:txBody>
      </p:sp>
      <p:sp>
        <p:nvSpPr>
          <p:cNvPr id="15200" name="Google Shape;15200;p97"/>
          <p:cNvSpPr txBox="1"/>
          <p:nvPr/>
        </p:nvSpPr>
        <p:spPr>
          <a:xfrm>
            <a:off x="2076180" y="2850618"/>
            <a:ext cx="1157852" cy="246157"/>
          </a:xfrm>
          <a:prstGeom prst="rect">
            <a:avLst/>
          </a:prstGeom>
          <a:noFill/>
          <a:ln>
            <a:noFill/>
          </a:ln>
        </p:spPr>
        <p:txBody>
          <a:bodyPr spcFirstLastPara="1" wrap="square" lIns="91400" tIns="45675" rIns="91400" bIns="45675" anchor="t" anchorCtr="0">
            <a:spAutoFit/>
          </a:bodyPr>
          <a:lstStyle/>
          <a:p>
            <a:pPr marL="0" marR="0" lvl="0" indent="0" algn="ctr" rtl="0">
              <a:spcBef>
                <a:spcPts val="0"/>
              </a:spcBef>
              <a:spcAft>
                <a:spcPts val="0"/>
              </a:spcAft>
              <a:buNone/>
            </a:pPr>
            <a:r>
              <a:rPr lang="en-US" sz="1000">
                <a:solidFill>
                  <a:srgbClr val="FFFFFF"/>
                </a:solidFill>
                <a:latin typeface="Arial"/>
                <a:ea typeface="Arial"/>
                <a:cs typeface="Arial"/>
                <a:sym typeface="Arial"/>
              </a:rPr>
              <a:t>VM Service</a:t>
            </a:r>
            <a:endParaRPr sz="1400">
              <a:solidFill>
                <a:srgbClr val="000000"/>
              </a:solidFill>
              <a:latin typeface="Arial"/>
              <a:ea typeface="Arial"/>
              <a:cs typeface="Arial"/>
              <a:sym typeface="Arial"/>
            </a:endParaRPr>
          </a:p>
        </p:txBody>
      </p:sp>
      <p:sp>
        <p:nvSpPr>
          <p:cNvPr id="15201" name="Google Shape;15201;p97"/>
          <p:cNvSpPr txBox="1"/>
          <p:nvPr/>
        </p:nvSpPr>
        <p:spPr>
          <a:xfrm>
            <a:off x="3539866" y="2850617"/>
            <a:ext cx="1157852" cy="400006"/>
          </a:xfrm>
          <a:prstGeom prst="rect">
            <a:avLst/>
          </a:prstGeom>
          <a:noFill/>
          <a:ln>
            <a:noFill/>
          </a:ln>
        </p:spPr>
        <p:txBody>
          <a:bodyPr spcFirstLastPara="1" wrap="square" lIns="91400" tIns="45675" rIns="91400" bIns="45675" anchor="t" anchorCtr="0">
            <a:spAutoFit/>
          </a:bodyPr>
          <a:lstStyle/>
          <a:p>
            <a:pPr marL="0" marR="0" lvl="0" indent="0" algn="ctr" rtl="0">
              <a:spcBef>
                <a:spcPts val="0"/>
              </a:spcBef>
              <a:spcAft>
                <a:spcPts val="0"/>
              </a:spcAft>
              <a:buNone/>
            </a:pPr>
            <a:r>
              <a:rPr lang="en-US" sz="1000">
                <a:solidFill>
                  <a:srgbClr val="FFFFFF"/>
                </a:solidFill>
                <a:latin typeface="Arial"/>
                <a:ea typeface="Arial"/>
                <a:cs typeface="Arial"/>
                <a:sym typeface="Arial"/>
              </a:rPr>
              <a:t>Container Service</a:t>
            </a:r>
            <a:endParaRPr sz="1400">
              <a:solidFill>
                <a:srgbClr val="000000"/>
              </a:solidFill>
              <a:latin typeface="Arial"/>
              <a:ea typeface="Arial"/>
              <a:cs typeface="Arial"/>
              <a:sym typeface="Arial"/>
            </a:endParaRPr>
          </a:p>
        </p:txBody>
      </p:sp>
      <p:sp>
        <p:nvSpPr>
          <p:cNvPr id="15202" name="Google Shape;15202;p97"/>
          <p:cNvSpPr txBox="1"/>
          <p:nvPr/>
        </p:nvSpPr>
        <p:spPr>
          <a:xfrm>
            <a:off x="595114" y="5113742"/>
            <a:ext cx="1150060" cy="400006"/>
          </a:xfrm>
          <a:prstGeom prst="rect">
            <a:avLst/>
          </a:prstGeom>
          <a:noFill/>
          <a:ln>
            <a:noFill/>
          </a:ln>
        </p:spPr>
        <p:txBody>
          <a:bodyPr spcFirstLastPara="1" wrap="square" lIns="91400" tIns="45675" rIns="91400" bIns="45675" anchor="t" anchorCtr="0">
            <a:spAutoFit/>
          </a:bodyPr>
          <a:lstStyle/>
          <a:p>
            <a:pPr marL="0" marR="0" lvl="0" indent="0" algn="ctr" rtl="0">
              <a:spcBef>
                <a:spcPts val="0"/>
              </a:spcBef>
              <a:spcAft>
                <a:spcPts val="0"/>
              </a:spcAft>
              <a:buNone/>
            </a:pPr>
            <a:r>
              <a:rPr lang="en-US" sz="1000">
                <a:solidFill>
                  <a:srgbClr val="FFFFFF"/>
                </a:solidFill>
                <a:latin typeface="Arial"/>
                <a:ea typeface="Arial"/>
                <a:cs typeface="Arial"/>
                <a:sym typeface="Arial"/>
              </a:rPr>
              <a:t>Load Balancer Service</a:t>
            </a:r>
            <a:endParaRPr sz="1400">
              <a:solidFill>
                <a:srgbClr val="000000"/>
              </a:solidFill>
              <a:latin typeface="Arial"/>
              <a:ea typeface="Arial"/>
              <a:cs typeface="Arial"/>
              <a:sym typeface="Arial"/>
            </a:endParaRPr>
          </a:p>
        </p:txBody>
      </p:sp>
      <p:grpSp>
        <p:nvGrpSpPr>
          <p:cNvPr id="15203" name="Google Shape;15203;p97"/>
          <p:cNvGrpSpPr/>
          <p:nvPr/>
        </p:nvGrpSpPr>
        <p:grpSpPr>
          <a:xfrm>
            <a:off x="3952183" y="4630825"/>
            <a:ext cx="389853" cy="390200"/>
            <a:chOff x="4043573" y="4583120"/>
            <a:chExt cx="428950" cy="429332"/>
          </a:xfrm>
        </p:grpSpPr>
        <p:sp>
          <p:nvSpPr>
            <p:cNvPr id="15204" name="Google Shape;15204;p97"/>
            <p:cNvSpPr/>
            <p:nvPr/>
          </p:nvSpPr>
          <p:spPr>
            <a:xfrm rot="-5400000">
              <a:off x="4043382" y="4583311"/>
              <a:ext cx="429332" cy="428950"/>
            </a:xfrm>
            <a:custGeom>
              <a:avLst/>
              <a:gdLst/>
              <a:ahLst/>
              <a:cxnLst/>
              <a:rect l="l" t="t" r="r" b="b"/>
              <a:pathLst>
                <a:path w="779314" h="778622" extrusionOk="0">
                  <a:moveTo>
                    <a:pt x="720165" y="683887"/>
                  </a:moveTo>
                  <a:cubicBezTo>
                    <a:pt x="700448" y="683887"/>
                    <a:pt x="684364" y="699964"/>
                    <a:pt x="684364" y="719672"/>
                  </a:cubicBezTo>
                  <a:cubicBezTo>
                    <a:pt x="684364" y="739379"/>
                    <a:pt x="700448" y="755457"/>
                    <a:pt x="720165" y="755457"/>
                  </a:cubicBezTo>
                  <a:cubicBezTo>
                    <a:pt x="739881" y="755457"/>
                    <a:pt x="755965" y="739379"/>
                    <a:pt x="755965" y="719672"/>
                  </a:cubicBezTo>
                  <a:cubicBezTo>
                    <a:pt x="755965" y="699964"/>
                    <a:pt x="739881" y="683887"/>
                    <a:pt x="720165" y="683887"/>
                  </a:cubicBezTo>
                  <a:close/>
                  <a:moveTo>
                    <a:pt x="389657" y="683887"/>
                  </a:moveTo>
                  <a:cubicBezTo>
                    <a:pt x="369941" y="683887"/>
                    <a:pt x="353856" y="699964"/>
                    <a:pt x="353856" y="719672"/>
                  </a:cubicBezTo>
                  <a:cubicBezTo>
                    <a:pt x="353856" y="739379"/>
                    <a:pt x="369941" y="755457"/>
                    <a:pt x="389657" y="755457"/>
                  </a:cubicBezTo>
                  <a:cubicBezTo>
                    <a:pt x="409373" y="755457"/>
                    <a:pt x="425458" y="739379"/>
                    <a:pt x="425458" y="719672"/>
                  </a:cubicBezTo>
                  <a:cubicBezTo>
                    <a:pt x="425458" y="699964"/>
                    <a:pt x="409373" y="683887"/>
                    <a:pt x="389657" y="683887"/>
                  </a:cubicBezTo>
                  <a:close/>
                  <a:moveTo>
                    <a:pt x="59149" y="683887"/>
                  </a:moveTo>
                  <a:cubicBezTo>
                    <a:pt x="39433" y="683887"/>
                    <a:pt x="23348" y="699964"/>
                    <a:pt x="23348" y="719672"/>
                  </a:cubicBezTo>
                  <a:cubicBezTo>
                    <a:pt x="23348" y="739379"/>
                    <a:pt x="39433" y="755457"/>
                    <a:pt x="59149" y="755457"/>
                  </a:cubicBezTo>
                  <a:cubicBezTo>
                    <a:pt x="78865" y="755457"/>
                    <a:pt x="94950" y="739379"/>
                    <a:pt x="94950" y="719672"/>
                  </a:cubicBezTo>
                  <a:cubicBezTo>
                    <a:pt x="94950" y="699964"/>
                    <a:pt x="78865" y="683887"/>
                    <a:pt x="59149" y="683887"/>
                  </a:cubicBezTo>
                  <a:close/>
                  <a:moveTo>
                    <a:pt x="518159" y="496146"/>
                  </a:moveTo>
                  <a:lnTo>
                    <a:pt x="518159" y="505827"/>
                  </a:lnTo>
                  <a:lnTo>
                    <a:pt x="427533" y="505827"/>
                  </a:lnTo>
                  <a:lnTo>
                    <a:pt x="427533" y="525362"/>
                  </a:lnTo>
                  <a:lnTo>
                    <a:pt x="518159" y="525362"/>
                  </a:lnTo>
                  <a:lnTo>
                    <a:pt x="518159" y="535043"/>
                  </a:lnTo>
                  <a:lnTo>
                    <a:pt x="551884" y="515681"/>
                  </a:lnTo>
                  <a:close/>
                  <a:moveTo>
                    <a:pt x="380663" y="484650"/>
                  </a:moveTo>
                  <a:cubicBezTo>
                    <a:pt x="372708" y="484650"/>
                    <a:pt x="364752" y="487676"/>
                    <a:pt x="358699" y="493726"/>
                  </a:cubicBezTo>
                  <a:cubicBezTo>
                    <a:pt x="346592" y="505827"/>
                    <a:pt x="346592" y="525535"/>
                    <a:pt x="358699" y="537636"/>
                  </a:cubicBezTo>
                  <a:cubicBezTo>
                    <a:pt x="370805" y="549737"/>
                    <a:pt x="390521" y="549737"/>
                    <a:pt x="402628" y="537636"/>
                  </a:cubicBezTo>
                  <a:cubicBezTo>
                    <a:pt x="414735" y="525535"/>
                    <a:pt x="414735" y="505827"/>
                    <a:pt x="402628" y="493726"/>
                  </a:cubicBezTo>
                  <a:cubicBezTo>
                    <a:pt x="396575" y="487676"/>
                    <a:pt x="388619" y="484650"/>
                    <a:pt x="380663" y="484650"/>
                  </a:cubicBezTo>
                  <a:close/>
                  <a:moveTo>
                    <a:pt x="307332" y="427170"/>
                  </a:moveTo>
                  <a:lnTo>
                    <a:pt x="293496" y="441000"/>
                  </a:lnTo>
                  <a:lnTo>
                    <a:pt x="341058" y="488540"/>
                  </a:lnTo>
                  <a:lnTo>
                    <a:pt x="354894" y="474710"/>
                  </a:lnTo>
                  <a:close/>
                  <a:moveTo>
                    <a:pt x="307159" y="384297"/>
                  </a:moveTo>
                  <a:lnTo>
                    <a:pt x="307159" y="403832"/>
                  </a:lnTo>
                  <a:lnTo>
                    <a:pt x="343998" y="403832"/>
                  </a:lnTo>
                  <a:lnTo>
                    <a:pt x="343998" y="384297"/>
                  </a:lnTo>
                  <a:close/>
                  <a:moveTo>
                    <a:pt x="518159" y="374789"/>
                  </a:moveTo>
                  <a:lnTo>
                    <a:pt x="518159" y="384470"/>
                  </a:lnTo>
                  <a:lnTo>
                    <a:pt x="427533" y="384470"/>
                  </a:lnTo>
                  <a:lnTo>
                    <a:pt x="427533" y="403832"/>
                  </a:lnTo>
                  <a:lnTo>
                    <a:pt x="518159" y="403832"/>
                  </a:lnTo>
                  <a:lnTo>
                    <a:pt x="518159" y="413513"/>
                  </a:lnTo>
                  <a:lnTo>
                    <a:pt x="551884" y="394151"/>
                  </a:lnTo>
                  <a:close/>
                  <a:moveTo>
                    <a:pt x="380663" y="363120"/>
                  </a:moveTo>
                  <a:cubicBezTo>
                    <a:pt x="372708" y="363120"/>
                    <a:pt x="364752" y="366146"/>
                    <a:pt x="358699" y="372196"/>
                  </a:cubicBezTo>
                  <a:cubicBezTo>
                    <a:pt x="346592" y="384297"/>
                    <a:pt x="346592" y="404005"/>
                    <a:pt x="358699" y="416106"/>
                  </a:cubicBezTo>
                  <a:cubicBezTo>
                    <a:pt x="370805" y="428207"/>
                    <a:pt x="390521" y="428207"/>
                    <a:pt x="402628" y="416106"/>
                  </a:cubicBezTo>
                  <a:cubicBezTo>
                    <a:pt x="414735" y="404005"/>
                    <a:pt x="414735" y="384297"/>
                    <a:pt x="402628" y="372196"/>
                  </a:cubicBezTo>
                  <a:cubicBezTo>
                    <a:pt x="396575" y="366146"/>
                    <a:pt x="388619" y="363120"/>
                    <a:pt x="380663" y="363120"/>
                  </a:cubicBezTo>
                  <a:close/>
                  <a:moveTo>
                    <a:pt x="259252" y="363120"/>
                  </a:moveTo>
                  <a:cubicBezTo>
                    <a:pt x="251297" y="363120"/>
                    <a:pt x="243341" y="366146"/>
                    <a:pt x="237288" y="372196"/>
                  </a:cubicBezTo>
                  <a:cubicBezTo>
                    <a:pt x="225181" y="384297"/>
                    <a:pt x="225181" y="404005"/>
                    <a:pt x="237288" y="416106"/>
                  </a:cubicBezTo>
                  <a:cubicBezTo>
                    <a:pt x="249394" y="428207"/>
                    <a:pt x="269110" y="428207"/>
                    <a:pt x="281217" y="416106"/>
                  </a:cubicBezTo>
                  <a:cubicBezTo>
                    <a:pt x="293323" y="404005"/>
                    <a:pt x="293323" y="384297"/>
                    <a:pt x="281217" y="372196"/>
                  </a:cubicBezTo>
                  <a:cubicBezTo>
                    <a:pt x="275164" y="366146"/>
                    <a:pt x="267208" y="363120"/>
                    <a:pt x="259252" y="363120"/>
                  </a:cubicBezTo>
                  <a:close/>
                  <a:moveTo>
                    <a:pt x="341058" y="304084"/>
                  </a:moveTo>
                  <a:lnTo>
                    <a:pt x="293496" y="351624"/>
                  </a:lnTo>
                  <a:lnTo>
                    <a:pt x="307332" y="365454"/>
                  </a:lnTo>
                  <a:lnTo>
                    <a:pt x="354894" y="317914"/>
                  </a:lnTo>
                  <a:close/>
                  <a:moveTo>
                    <a:pt x="518159" y="252395"/>
                  </a:moveTo>
                  <a:lnTo>
                    <a:pt x="518159" y="262076"/>
                  </a:lnTo>
                  <a:lnTo>
                    <a:pt x="427533" y="262076"/>
                  </a:lnTo>
                  <a:lnTo>
                    <a:pt x="427533" y="281437"/>
                  </a:lnTo>
                  <a:lnTo>
                    <a:pt x="518159" y="281437"/>
                  </a:lnTo>
                  <a:lnTo>
                    <a:pt x="518159" y="291118"/>
                  </a:lnTo>
                  <a:lnTo>
                    <a:pt x="551884" y="271757"/>
                  </a:lnTo>
                  <a:close/>
                  <a:moveTo>
                    <a:pt x="380663" y="240898"/>
                  </a:moveTo>
                  <a:cubicBezTo>
                    <a:pt x="372708" y="240898"/>
                    <a:pt x="364752" y="243924"/>
                    <a:pt x="358699" y="249974"/>
                  </a:cubicBezTo>
                  <a:cubicBezTo>
                    <a:pt x="346592" y="262076"/>
                    <a:pt x="346592" y="281783"/>
                    <a:pt x="358699" y="293884"/>
                  </a:cubicBezTo>
                  <a:cubicBezTo>
                    <a:pt x="370805" y="305985"/>
                    <a:pt x="390521" y="305985"/>
                    <a:pt x="402628" y="293884"/>
                  </a:cubicBezTo>
                  <a:cubicBezTo>
                    <a:pt x="414735" y="281783"/>
                    <a:pt x="414735" y="262076"/>
                    <a:pt x="402628" y="249974"/>
                  </a:cubicBezTo>
                  <a:cubicBezTo>
                    <a:pt x="396575" y="243924"/>
                    <a:pt x="388619" y="240898"/>
                    <a:pt x="380663" y="240898"/>
                  </a:cubicBezTo>
                  <a:close/>
                  <a:moveTo>
                    <a:pt x="315980" y="196038"/>
                  </a:moveTo>
                  <a:lnTo>
                    <a:pt x="581113" y="196038"/>
                  </a:lnTo>
                  <a:lnTo>
                    <a:pt x="581113" y="579125"/>
                  </a:lnTo>
                  <a:lnTo>
                    <a:pt x="320650" y="579125"/>
                  </a:lnTo>
                  <a:lnTo>
                    <a:pt x="197682" y="448260"/>
                  </a:lnTo>
                  <a:lnTo>
                    <a:pt x="197682" y="328632"/>
                  </a:lnTo>
                  <a:close/>
                  <a:moveTo>
                    <a:pt x="116568" y="67248"/>
                  </a:moveTo>
                  <a:cubicBezTo>
                    <a:pt x="115358" y="75891"/>
                    <a:pt x="112418" y="83671"/>
                    <a:pt x="107921" y="90586"/>
                  </a:cubicBezTo>
                  <a:lnTo>
                    <a:pt x="251297" y="234243"/>
                  </a:lnTo>
                  <a:lnTo>
                    <a:pt x="234693" y="250839"/>
                  </a:lnTo>
                  <a:lnTo>
                    <a:pt x="91491" y="107354"/>
                  </a:lnTo>
                  <a:cubicBezTo>
                    <a:pt x="84573" y="111849"/>
                    <a:pt x="77136" y="114961"/>
                    <a:pt x="68661" y="116344"/>
                  </a:cubicBezTo>
                  <a:lnTo>
                    <a:pt x="68661" y="662451"/>
                  </a:lnTo>
                  <a:cubicBezTo>
                    <a:pt x="76963" y="663834"/>
                    <a:pt x="84400" y="666772"/>
                    <a:pt x="91145" y="671267"/>
                  </a:cubicBezTo>
                  <a:lnTo>
                    <a:pt x="236769" y="525189"/>
                  </a:lnTo>
                  <a:lnTo>
                    <a:pt x="253372" y="541785"/>
                  </a:lnTo>
                  <a:lnTo>
                    <a:pt x="107748" y="687863"/>
                  </a:lnTo>
                  <a:cubicBezTo>
                    <a:pt x="112245" y="694951"/>
                    <a:pt x="115358" y="702903"/>
                    <a:pt x="116568" y="711547"/>
                  </a:cubicBezTo>
                  <a:lnTo>
                    <a:pt x="116568" y="711028"/>
                  </a:lnTo>
                  <a:lnTo>
                    <a:pt x="332237" y="711028"/>
                  </a:lnTo>
                  <a:cubicBezTo>
                    <a:pt x="336042" y="686307"/>
                    <a:pt x="354548" y="667291"/>
                    <a:pt x="379107" y="662624"/>
                  </a:cubicBezTo>
                  <a:lnTo>
                    <a:pt x="379107" y="602982"/>
                  </a:lnTo>
                  <a:lnTo>
                    <a:pt x="402455" y="602982"/>
                  </a:lnTo>
                  <a:lnTo>
                    <a:pt x="402455" y="662969"/>
                  </a:lnTo>
                  <a:cubicBezTo>
                    <a:pt x="425976" y="668328"/>
                    <a:pt x="443444" y="686999"/>
                    <a:pt x="447076" y="711028"/>
                  </a:cubicBezTo>
                  <a:lnTo>
                    <a:pt x="662745" y="711028"/>
                  </a:lnTo>
                  <a:cubicBezTo>
                    <a:pt x="664129" y="702557"/>
                    <a:pt x="667069" y="694778"/>
                    <a:pt x="671566" y="687863"/>
                  </a:cubicBezTo>
                  <a:lnTo>
                    <a:pt x="671393" y="688209"/>
                  </a:lnTo>
                  <a:lnTo>
                    <a:pt x="588204" y="604884"/>
                  </a:lnTo>
                  <a:lnTo>
                    <a:pt x="604807" y="588288"/>
                  </a:lnTo>
                  <a:lnTo>
                    <a:pt x="687996" y="671440"/>
                  </a:lnTo>
                  <a:cubicBezTo>
                    <a:pt x="694568" y="667118"/>
                    <a:pt x="701832" y="664179"/>
                    <a:pt x="709961" y="662796"/>
                  </a:cubicBezTo>
                  <a:lnTo>
                    <a:pt x="709961" y="116344"/>
                  </a:lnTo>
                  <a:cubicBezTo>
                    <a:pt x="701659" y="114788"/>
                    <a:pt x="694395" y="111849"/>
                    <a:pt x="687650" y="107354"/>
                  </a:cubicBezTo>
                  <a:lnTo>
                    <a:pt x="606709" y="188605"/>
                  </a:lnTo>
                  <a:lnTo>
                    <a:pt x="590106" y="172009"/>
                  </a:lnTo>
                  <a:lnTo>
                    <a:pt x="671220" y="90586"/>
                  </a:lnTo>
                  <a:cubicBezTo>
                    <a:pt x="666723" y="83671"/>
                    <a:pt x="663783" y="76237"/>
                    <a:pt x="662572" y="67766"/>
                  </a:cubicBezTo>
                  <a:lnTo>
                    <a:pt x="447076" y="67766"/>
                  </a:lnTo>
                  <a:cubicBezTo>
                    <a:pt x="443790" y="92314"/>
                    <a:pt x="426149" y="111330"/>
                    <a:pt x="402282" y="116690"/>
                  </a:cubicBezTo>
                  <a:lnTo>
                    <a:pt x="402282" y="172873"/>
                  </a:lnTo>
                  <a:lnTo>
                    <a:pt x="378934" y="172873"/>
                  </a:lnTo>
                  <a:lnTo>
                    <a:pt x="378934" y="117208"/>
                  </a:lnTo>
                  <a:cubicBezTo>
                    <a:pt x="354029" y="112541"/>
                    <a:pt x="335350" y="93006"/>
                    <a:pt x="331892" y="67766"/>
                  </a:cubicBezTo>
                  <a:lnTo>
                    <a:pt x="116568" y="67766"/>
                  </a:lnTo>
                  <a:close/>
                  <a:moveTo>
                    <a:pt x="389657" y="24375"/>
                  </a:moveTo>
                  <a:cubicBezTo>
                    <a:pt x="369941" y="24375"/>
                    <a:pt x="353856" y="40452"/>
                    <a:pt x="353856" y="60160"/>
                  </a:cubicBezTo>
                  <a:cubicBezTo>
                    <a:pt x="353856" y="79867"/>
                    <a:pt x="369941" y="95945"/>
                    <a:pt x="389657" y="95945"/>
                  </a:cubicBezTo>
                  <a:cubicBezTo>
                    <a:pt x="409373" y="95945"/>
                    <a:pt x="425458" y="79867"/>
                    <a:pt x="425458" y="60160"/>
                  </a:cubicBezTo>
                  <a:cubicBezTo>
                    <a:pt x="425458" y="40452"/>
                    <a:pt x="409373" y="24375"/>
                    <a:pt x="389657" y="24375"/>
                  </a:cubicBezTo>
                  <a:close/>
                  <a:moveTo>
                    <a:pt x="720165" y="23338"/>
                  </a:moveTo>
                  <a:cubicBezTo>
                    <a:pt x="700448" y="23338"/>
                    <a:pt x="684364" y="39415"/>
                    <a:pt x="684364" y="59123"/>
                  </a:cubicBezTo>
                  <a:cubicBezTo>
                    <a:pt x="684364" y="78830"/>
                    <a:pt x="700448" y="94907"/>
                    <a:pt x="720165" y="94907"/>
                  </a:cubicBezTo>
                  <a:cubicBezTo>
                    <a:pt x="739881" y="94907"/>
                    <a:pt x="755965" y="78830"/>
                    <a:pt x="755965" y="59123"/>
                  </a:cubicBezTo>
                  <a:cubicBezTo>
                    <a:pt x="755965" y="39415"/>
                    <a:pt x="739881" y="23338"/>
                    <a:pt x="720165" y="23338"/>
                  </a:cubicBezTo>
                  <a:close/>
                  <a:moveTo>
                    <a:pt x="59149" y="23338"/>
                  </a:moveTo>
                  <a:cubicBezTo>
                    <a:pt x="39433" y="23338"/>
                    <a:pt x="23348" y="39415"/>
                    <a:pt x="23348" y="59123"/>
                  </a:cubicBezTo>
                  <a:cubicBezTo>
                    <a:pt x="23348" y="78830"/>
                    <a:pt x="39433" y="94907"/>
                    <a:pt x="59149" y="94907"/>
                  </a:cubicBezTo>
                  <a:cubicBezTo>
                    <a:pt x="78865" y="94907"/>
                    <a:pt x="94950" y="78830"/>
                    <a:pt x="94950" y="59123"/>
                  </a:cubicBezTo>
                  <a:cubicBezTo>
                    <a:pt x="94950" y="39415"/>
                    <a:pt x="78865" y="23338"/>
                    <a:pt x="59149" y="23338"/>
                  </a:cubicBezTo>
                  <a:close/>
                  <a:moveTo>
                    <a:pt x="59149" y="0"/>
                  </a:moveTo>
                  <a:cubicBezTo>
                    <a:pt x="88896" y="0"/>
                    <a:pt x="112418" y="22301"/>
                    <a:pt x="116568" y="50998"/>
                  </a:cubicBezTo>
                  <a:lnTo>
                    <a:pt x="116568" y="50479"/>
                  </a:lnTo>
                  <a:lnTo>
                    <a:pt x="332410" y="50479"/>
                  </a:lnTo>
                  <a:cubicBezTo>
                    <a:pt x="337253" y="22474"/>
                    <a:pt x="360428" y="864"/>
                    <a:pt x="389657" y="864"/>
                  </a:cubicBezTo>
                  <a:cubicBezTo>
                    <a:pt x="418885" y="864"/>
                    <a:pt x="442234" y="22646"/>
                    <a:pt x="446903" y="50479"/>
                  </a:cubicBezTo>
                  <a:lnTo>
                    <a:pt x="662745" y="50479"/>
                  </a:lnTo>
                  <a:cubicBezTo>
                    <a:pt x="667069" y="22128"/>
                    <a:pt x="690590" y="0"/>
                    <a:pt x="720165" y="0"/>
                  </a:cubicBezTo>
                  <a:cubicBezTo>
                    <a:pt x="752852" y="0"/>
                    <a:pt x="779314" y="26450"/>
                    <a:pt x="779314" y="59123"/>
                  </a:cubicBezTo>
                  <a:cubicBezTo>
                    <a:pt x="779314" y="89376"/>
                    <a:pt x="756484" y="113232"/>
                    <a:pt x="727256" y="116862"/>
                  </a:cubicBezTo>
                  <a:lnTo>
                    <a:pt x="727256" y="661759"/>
                  </a:lnTo>
                  <a:cubicBezTo>
                    <a:pt x="756484" y="665390"/>
                    <a:pt x="779314" y="689419"/>
                    <a:pt x="779314" y="719499"/>
                  </a:cubicBezTo>
                  <a:cubicBezTo>
                    <a:pt x="779314" y="752172"/>
                    <a:pt x="752852" y="778622"/>
                    <a:pt x="720165" y="778622"/>
                  </a:cubicBezTo>
                  <a:cubicBezTo>
                    <a:pt x="690590" y="778622"/>
                    <a:pt x="667069" y="756494"/>
                    <a:pt x="662745" y="728142"/>
                  </a:cubicBezTo>
                  <a:lnTo>
                    <a:pt x="447076" y="728142"/>
                  </a:lnTo>
                  <a:cubicBezTo>
                    <a:pt x="442753" y="756494"/>
                    <a:pt x="419231" y="778622"/>
                    <a:pt x="389657" y="778622"/>
                  </a:cubicBezTo>
                  <a:cubicBezTo>
                    <a:pt x="360082" y="778622"/>
                    <a:pt x="336561" y="756494"/>
                    <a:pt x="332237" y="728142"/>
                  </a:cubicBezTo>
                  <a:lnTo>
                    <a:pt x="116568" y="728142"/>
                  </a:lnTo>
                  <a:lnTo>
                    <a:pt x="116568" y="727624"/>
                  </a:lnTo>
                  <a:cubicBezTo>
                    <a:pt x="112591" y="756321"/>
                    <a:pt x="88896" y="778622"/>
                    <a:pt x="59149" y="778622"/>
                  </a:cubicBezTo>
                  <a:cubicBezTo>
                    <a:pt x="26461" y="778622"/>
                    <a:pt x="0" y="752172"/>
                    <a:pt x="0" y="719499"/>
                  </a:cubicBezTo>
                  <a:cubicBezTo>
                    <a:pt x="0" y="689592"/>
                    <a:pt x="22656" y="665735"/>
                    <a:pt x="51539" y="661932"/>
                  </a:cubicBezTo>
                  <a:lnTo>
                    <a:pt x="51539" y="116690"/>
                  </a:lnTo>
                  <a:cubicBezTo>
                    <a:pt x="22656" y="112886"/>
                    <a:pt x="0" y="89030"/>
                    <a:pt x="0" y="59123"/>
                  </a:cubicBezTo>
                  <a:cubicBezTo>
                    <a:pt x="0" y="26450"/>
                    <a:pt x="26461" y="0"/>
                    <a:pt x="59149" y="0"/>
                  </a:cubicBezTo>
                  <a:close/>
                </a:path>
              </a:pathLst>
            </a:custGeom>
            <a:solidFill>
              <a:srgbClr val="FFFFFF"/>
            </a:solidFill>
            <a:ln>
              <a:noFill/>
            </a:ln>
          </p:spPr>
          <p:txBody>
            <a:bodyPr spcFirstLastPara="1" wrap="square" lIns="91400" tIns="45675" rIns="91400" bIns="45675" anchor="ctr" anchorCtr="0">
              <a:noAutofit/>
            </a:bodyPr>
            <a:lstStyle/>
            <a:p>
              <a:pPr marL="0" marR="0" lvl="0" indent="0" algn="l" rtl="0">
                <a:spcBef>
                  <a:spcPts val="0"/>
                </a:spcBef>
                <a:spcAft>
                  <a:spcPts val="0"/>
                </a:spcAft>
                <a:buNone/>
              </a:pPr>
              <a:endParaRPr sz="1799">
                <a:solidFill>
                  <a:srgbClr val="000000"/>
                </a:solidFill>
                <a:latin typeface="Arial"/>
                <a:ea typeface="Arial"/>
                <a:cs typeface="Arial"/>
                <a:sym typeface="Arial"/>
              </a:endParaRPr>
            </a:p>
          </p:txBody>
        </p:sp>
        <p:grpSp>
          <p:nvGrpSpPr>
            <p:cNvPr id="15205" name="Google Shape;15205;p97"/>
            <p:cNvGrpSpPr/>
            <p:nvPr/>
          </p:nvGrpSpPr>
          <p:grpSpPr>
            <a:xfrm>
              <a:off x="4107950" y="4650354"/>
              <a:ext cx="289339" cy="289339"/>
              <a:chOff x="3895317" y="4303320"/>
              <a:chExt cx="350099" cy="350099"/>
            </a:xfrm>
          </p:grpSpPr>
          <p:sp>
            <p:nvSpPr>
              <p:cNvPr id="15206" name="Google Shape;15206;p97"/>
              <p:cNvSpPr/>
              <p:nvPr/>
            </p:nvSpPr>
            <p:spPr>
              <a:xfrm rot="-5400000">
                <a:off x="3937570" y="4343479"/>
                <a:ext cx="265610" cy="270700"/>
              </a:xfrm>
              <a:prstGeom prst="rect">
                <a:avLst/>
              </a:prstGeom>
              <a:solidFill>
                <a:srgbClr val="017B8C"/>
              </a:soli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pic>
            <p:nvPicPr>
              <p:cNvPr id="15207" name="Google Shape;15207;p97"/>
              <p:cNvPicPr preferRelativeResize="0"/>
              <p:nvPr/>
            </p:nvPicPr>
            <p:blipFill rotWithShape="1">
              <a:blip r:embed="rId11">
                <a:alphaModFix/>
              </a:blip>
              <a:srcRect/>
              <a:stretch/>
            </p:blipFill>
            <p:spPr>
              <a:xfrm>
                <a:off x="3895317" y="4303320"/>
                <a:ext cx="350099" cy="350099"/>
              </a:xfrm>
              <a:prstGeom prst="rect">
                <a:avLst/>
              </a:prstGeom>
              <a:noFill/>
              <a:ln>
                <a:noFill/>
              </a:ln>
            </p:spPr>
          </p:pic>
        </p:grpSp>
      </p:grpSp>
      <p:sp>
        <p:nvSpPr>
          <p:cNvPr id="15208" name="Google Shape;15208;p97"/>
          <p:cNvSpPr txBox="1"/>
          <p:nvPr/>
        </p:nvSpPr>
        <p:spPr>
          <a:xfrm>
            <a:off x="3540277" y="5113742"/>
            <a:ext cx="1150060" cy="400006"/>
          </a:xfrm>
          <a:prstGeom prst="rect">
            <a:avLst/>
          </a:prstGeom>
          <a:noFill/>
          <a:ln>
            <a:noFill/>
          </a:ln>
        </p:spPr>
        <p:txBody>
          <a:bodyPr spcFirstLastPara="1" wrap="square" lIns="91400" tIns="45675" rIns="91400" bIns="45675" anchor="t" anchorCtr="0">
            <a:spAutoFit/>
          </a:bodyPr>
          <a:lstStyle/>
          <a:p>
            <a:pPr marL="0" marR="0" lvl="0" indent="0" algn="ctr" rtl="0">
              <a:spcBef>
                <a:spcPts val="0"/>
              </a:spcBef>
              <a:spcAft>
                <a:spcPts val="0"/>
              </a:spcAft>
              <a:buNone/>
            </a:pPr>
            <a:r>
              <a:rPr lang="en-US" sz="1000">
                <a:solidFill>
                  <a:srgbClr val="FFFFFF"/>
                </a:solidFill>
                <a:latin typeface="Arial"/>
                <a:ea typeface="Arial"/>
                <a:cs typeface="Arial"/>
                <a:sym typeface="Arial"/>
              </a:rPr>
              <a:t>Network Service</a:t>
            </a:r>
            <a:endParaRPr sz="1400">
              <a:solidFill>
                <a:srgbClr val="000000"/>
              </a:solidFill>
              <a:latin typeface="Arial"/>
              <a:ea typeface="Arial"/>
              <a:cs typeface="Arial"/>
              <a:sym typeface="Arial"/>
            </a:endParaRPr>
          </a:p>
          <a:p>
            <a:pPr marL="0" marR="0" lvl="0" indent="0" algn="ctr" rtl="0">
              <a:spcBef>
                <a:spcPts val="0"/>
              </a:spcBef>
              <a:spcAft>
                <a:spcPts val="0"/>
              </a:spcAft>
              <a:buNone/>
            </a:pPr>
            <a:endParaRPr sz="1000">
              <a:solidFill>
                <a:srgbClr val="FFFFFF"/>
              </a:solidFill>
              <a:latin typeface="Arial"/>
              <a:ea typeface="Arial"/>
              <a:cs typeface="Arial"/>
              <a:sym typeface="Arial"/>
            </a:endParaRPr>
          </a:p>
        </p:txBody>
      </p:sp>
      <p:sp>
        <p:nvSpPr>
          <p:cNvPr id="15209" name="Google Shape;15209;p97"/>
          <p:cNvSpPr/>
          <p:nvPr/>
        </p:nvSpPr>
        <p:spPr>
          <a:xfrm>
            <a:off x="8922008" y="5254323"/>
            <a:ext cx="1582176" cy="332913"/>
          </a:xfrm>
          <a:prstGeom prst="roundRect">
            <a:avLst>
              <a:gd name="adj" fmla="val 16667"/>
            </a:avLst>
          </a:prstGeom>
          <a:solidFill>
            <a:schemeClr val="accent3"/>
          </a:solidFill>
          <a:ln>
            <a:noFill/>
          </a:ln>
        </p:spPr>
        <p:txBody>
          <a:bodyPr spcFirstLastPara="1" wrap="square" lIns="143950" tIns="45675" rIns="91400" bIns="45675" anchor="ctr" anchorCtr="0">
            <a:noAutofit/>
          </a:bodyPr>
          <a:lstStyle/>
          <a:p>
            <a:pPr marL="0" marR="0" lvl="0" indent="0" algn="l" rtl="0">
              <a:spcBef>
                <a:spcPts val="0"/>
              </a:spcBef>
              <a:spcAft>
                <a:spcPts val="0"/>
              </a:spcAft>
              <a:buNone/>
            </a:pPr>
            <a:r>
              <a:rPr lang="en-US" sz="1000">
                <a:solidFill>
                  <a:srgbClr val="FFFFFF"/>
                </a:solidFill>
                <a:latin typeface="Arial"/>
                <a:ea typeface="Arial"/>
                <a:cs typeface="Arial"/>
                <a:sym typeface="Arial"/>
              </a:rPr>
              <a:t>DR Service </a:t>
            </a:r>
            <a:endParaRPr sz="1000">
              <a:solidFill>
                <a:srgbClr val="FFFFFF"/>
              </a:solidFill>
              <a:latin typeface="Arial"/>
              <a:ea typeface="Arial"/>
              <a:cs typeface="Arial"/>
              <a:sym typeface="Arial"/>
            </a:endParaRPr>
          </a:p>
        </p:txBody>
      </p:sp>
      <p:pic>
        <p:nvPicPr>
          <p:cNvPr id="15210" name="Google Shape;15210;p97"/>
          <p:cNvPicPr preferRelativeResize="0"/>
          <p:nvPr/>
        </p:nvPicPr>
        <p:blipFill rotWithShape="1">
          <a:blip r:embed="rId10">
            <a:alphaModFix/>
          </a:blip>
          <a:srcRect/>
          <a:stretch/>
        </p:blipFill>
        <p:spPr>
          <a:xfrm>
            <a:off x="8594773" y="5291560"/>
            <a:ext cx="259615" cy="252403"/>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15214"/>
        <p:cNvGrpSpPr/>
        <p:nvPr/>
      </p:nvGrpSpPr>
      <p:grpSpPr>
        <a:xfrm>
          <a:off x="0" y="0"/>
          <a:ext cx="0" cy="0"/>
          <a:chOff x="0" y="0"/>
          <a:chExt cx="0" cy="0"/>
        </a:xfrm>
      </p:grpSpPr>
      <p:sp>
        <p:nvSpPr>
          <p:cNvPr id="15215" name="Google Shape;15215;p98"/>
          <p:cNvSpPr/>
          <p:nvPr/>
        </p:nvSpPr>
        <p:spPr>
          <a:xfrm>
            <a:off x="581094" y="1285471"/>
            <a:ext cx="10786202" cy="4815393"/>
          </a:xfrm>
          <a:prstGeom prst="roundRect">
            <a:avLst>
              <a:gd name="adj" fmla="val 2525"/>
            </a:avLst>
          </a:prstGeom>
          <a:solidFill>
            <a:schemeClr val="lt1"/>
          </a:solidFill>
          <a:ln w="9525" cap="flat" cmpd="sng">
            <a:solidFill>
              <a:srgbClr val="797979"/>
            </a:solidFill>
            <a:prstDash val="solid"/>
            <a:round/>
            <a:headEnd type="none" w="sm" len="sm"/>
            <a:tailEnd type="none" w="sm" len="sm"/>
          </a:ln>
          <a:effectLst>
            <a:outerShdw blurRad="50800" dist="38100" dir="2700000" algn="tl" rotWithShape="0">
              <a:srgbClr val="000000">
                <a:alpha val="40000"/>
              </a:srgbClr>
            </a:outerShdw>
          </a:effectLst>
        </p:spPr>
        <p:txBody>
          <a:bodyPr spcFirstLastPara="1" wrap="square" lIns="91375" tIns="45650" rIns="91375" bIns="45650" anchor="ctr" anchorCtr="0">
            <a:noAutofit/>
          </a:bodyPr>
          <a:lstStyle/>
          <a:p>
            <a:pPr marL="0" marR="0" lvl="0" indent="0" algn="ctr" rtl="0">
              <a:spcBef>
                <a:spcPts val="0"/>
              </a:spcBef>
              <a:spcAft>
                <a:spcPts val="0"/>
              </a:spcAft>
              <a:buNone/>
            </a:pPr>
            <a:endParaRPr sz="1100">
              <a:solidFill>
                <a:srgbClr val="FFFFFF"/>
              </a:solidFill>
              <a:latin typeface="Arial"/>
              <a:ea typeface="Arial"/>
              <a:cs typeface="Arial"/>
              <a:sym typeface="Arial"/>
            </a:endParaRPr>
          </a:p>
        </p:txBody>
      </p:sp>
      <p:sp>
        <p:nvSpPr>
          <p:cNvPr id="15216" name="Google Shape;15216;p98"/>
          <p:cNvSpPr/>
          <p:nvPr/>
        </p:nvSpPr>
        <p:spPr>
          <a:xfrm>
            <a:off x="3658044" y="4577806"/>
            <a:ext cx="7644866" cy="1423476"/>
          </a:xfrm>
          <a:prstGeom prst="rect">
            <a:avLst/>
          </a:prstGeom>
          <a:gradFill>
            <a:gsLst>
              <a:gs pos="0">
                <a:srgbClr val="F5F9FB"/>
              </a:gs>
              <a:gs pos="46000">
                <a:srgbClr val="F5F9FB"/>
              </a:gs>
              <a:gs pos="100000">
                <a:schemeClr val="lt1"/>
              </a:gs>
            </a:gsLst>
            <a:lin ang="5400012" scaled="0"/>
          </a:gra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17" name="Google Shape;15217;p98"/>
          <p:cNvSpPr/>
          <p:nvPr/>
        </p:nvSpPr>
        <p:spPr>
          <a:xfrm>
            <a:off x="3658044" y="2946908"/>
            <a:ext cx="7644866" cy="1404327"/>
          </a:xfrm>
          <a:prstGeom prst="rect">
            <a:avLst/>
          </a:prstGeom>
          <a:gradFill>
            <a:gsLst>
              <a:gs pos="0">
                <a:srgbClr val="F5F9FB"/>
              </a:gs>
              <a:gs pos="46000">
                <a:srgbClr val="F5F9FB"/>
              </a:gs>
              <a:gs pos="100000">
                <a:schemeClr val="lt1"/>
              </a:gs>
            </a:gsLst>
            <a:lin ang="5400012" scaled="0"/>
          </a:gra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18" name="Google Shape;15218;p98"/>
          <p:cNvSpPr/>
          <p:nvPr/>
        </p:nvSpPr>
        <p:spPr>
          <a:xfrm>
            <a:off x="3658044" y="1353478"/>
            <a:ext cx="7644866" cy="1422022"/>
          </a:xfrm>
          <a:prstGeom prst="rect">
            <a:avLst/>
          </a:prstGeom>
          <a:gradFill>
            <a:gsLst>
              <a:gs pos="0">
                <a:srgbClr val="F5F9FB"/>
              </a:gs>
              <a:gs pos="46000">
                <a:srgbClr val="F5F9FB"/>
              </a:gs>
              <a:gs pos="100000">
                <a:schemeClr val="lt1"/>
              </a:gs>
            </a:gsLst>
            <a:lin ang="5400012" scaled="0"/>
          </a:gra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19" name="Google Shape;15219;p98"/>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A view into the VCF Private Cloud Experience for each Persona</a:t>
            </a:r>
            <a:endParaRPr/>
          </a:p>
        </p:txBody>
      </p:sp>
      <p:sp>
        <p:nvSpPr>
          <p:cNvPr id="15220" name="Google Shape;15220;p98"/>
          <p:cNvSpPr/>
          <p:nvPr/>
        </p:nvSpPr>
        <p:spPr>
          <a:xfrm>
            <a:off x="1849626" y="4695838"/>
            <a:ext cx="473104" cy="497599"/>
          </a:xfrm>
          <a:custGeom>
            <a:avLst/>
            <a:gdLst/>
            <a:ahLst/>
            <a:cxnLst/>
            <a:rect l="l" t="t" r="r" b="b"/>
            <a:pathLst>
              <a:path w="380" h="386" extrusionOk="0">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chemeClr val="accent4"/>
          </a:solidFill>
          <a:ln w="12700" cap="flat" cmpd="sng">
            <a:solidFill>
              <a:schemeClr val="accent4"/>
            </a:solidFill>
            <a:prstDash val="solid"/>
            <a:round/>
            <a:headEnd type="none" w="sm" len="sm"/>
            <a:tailEnd type="none" w="sm" len="sm"/>
          </a:ln>
        </p:spPr>
        <p:txBody>
          <a:bodyPr spcFirstLastPara="1" wrap="square" lIns="91350" tIns="45625" rIns="91350" bIns="45625" anchor="t" anchorCtr="0">
            <a:noAutofit/>
          </a:bodyPr>
          <a:lstStyle/>
          <a:p>
            <a:pPr marL="0" marR="0" lvl="0" indent="0" algn="l" rtl="0">
              <a:spcBef>
                <a:spcPts val="0"/>
              </a:spcBef>
              <a:spcAft>
                <a:spcPts val="0"/>
              </a:spcAft>
              <a:buNone/>
            </a:pPr>
            <a:endParaRPr sz="1797">
              <a:solidFill>
                <a:srgbClr val="FFFFFF"/>
              </a:solidFill>
              <a:latin typeface="Open Sans Light"/>
              <a:ea typeface="Open Sans Light"/>
              <a:cs typeface="Open Sans Light"/>
              <a:sym typeface="Open Sans Light"/>
            </a:endParaRPr>
          </a:p>
        </p:txBody>
      </p:sp>
      <p:sp>
        <p:nvSpPr>
          <p:cNvPr id="15221" name="Google Shape;15221;p98"/>
          <p:cNvSpPr/>
          <p:nvPr/>
        </p:nvSpPr>
        <p:spPr>
          <a:xfrm>
            <a:off x="1865403" y="3057191"/>
            <a:ext cx="473104" cy="497599"/>
          </a:xfrm>
          <a:custGeom>
            <a:avLst/>
            <a:gdLst/>
            <a:ahLst/>
            <a:cxnLst/>
            <a:rect l="l" t="t" r="r" b="b"/>
            <a:pathLst>
              <a:path w="380" h="386" extrusionOk="0">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chemeClr val="accent6"/>
          </a:solidFill>
          <a:ln w="12700" cap="flat" cmpd="sng">
            <a:solidFill>
              <a:schemeClr val="accent5"/>
            </a:solidFill>
            <a:prstDash val="solid"/>
            <a:round/>
            <a:headEnd type="none" w="sm" len="sm"/>
            <a:tailEnd type="none" w="sm" len="sm"/>
          </a:ln>
        </p:spPr>
        <p:txBody>
          <a:bodyPr spcFirstLastPara="1" wrap="square" lIns="91350" tIns="45625" rIns="91350" bIns="45625" anchor="t" anchorCtr="0">
            <a:noAutofit/>
          </a:bodyPr>
          <a:lstStyle/>
          <a:p>
            <a:pPr marL="0" marR="0" lvl="0" indent="0" algn="l" rtl="0">
              <a:spcBef>
                <a:spcPts val="0"/>
              </a:spcBef>
              <a:spcAft>
                <a:spcPts val="0"/>
              </a:spcAft>
              <a:buNone/>
            </a:pPr>
            <a:endParaRPr sz="1797">
              <a:solidFill>
                <a:srgbClr val="F3BA16"/>
              </a:solidFill>
              <a:latin typeface="Open Sans Light"/>
              <a:ea typeface="Open Sans Light"/>
              <a:cs typeface="Open Sans Light"/>
              <a:sym typeface="Open Sans Light"/>
            </a:endParaRPr>
          </a:p>
        </p:txBody>
      </p:sp>
      <p:sp>
        <p:nvSpPr>
          <p:cNvPr id="15222" name="Google Shape;15222;p98"/>
          <p:cNvSpPr txBox="1"/>
          <p:nvPr/>
        </p:nvSpPr>
        <p:spPr>
          <a:xfrm>
            <a:off x="1235764" y="2052256"/>
            <a:ext cx="1842772" cy="553854"/>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End User,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Developer,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Platform Engineer </a:t>
            </a:r>
            <a:endParaRPr sz="1200">
              <a:solidFill>
                <a:srgbClr val="000000"/>
              </a:solidFill>
              <a:latin typeface="Arial"/>
              <a:ea typeface="Arial"/>
              <a:cs typeface="Arial"/>
              <a:sym typeface="Arial"/>
            </a:endParaRPr>
          </a:p>
        </p:txBody>
      </p:sp>
      <p:sp>
        <p:nvSpPr>
          <p:cNvPr id="15223" name="Google Shape;15223;p98"/>
          <p:cNvSpPr/>
          <p:nvPr/>
        </p:nvSpPr>
        <p:spPr>
          <a:xfrm>
            <a:off x="1901977" y="1469091"/>
            <a:ext cx="473104" cy="497599"/>
          </a:xfrm>
          <a:custGeom>
            <a:avLst/>
            <a:gdLst/>
            <a:ahLst/>
            <a:cxnLst/>
            <a:rect l="l" t="t" r="r" b="b"/>
            <a:pathLst>
              <a:path w="380" h="386" extrusionOk="0">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chemeClr val="accent5"/>
          </a:solidFill>
          <a:ln w="12700" cap="flat" cmpd="sng">
            <a:solidFill>
              <a:schemeClr val="accent3"/>
            </a:solidFill>
            <a:prstDash val="solid"/>
            <a:round/>
            <a:headEnd type="none" w="sm" len="sm"/>
            <a:tailEnd type="none" w="sm" len="sm"/>
          </a:ln>
        </p:spPr>
        <p:txBody>
          <a:bodyPr spcFirstLastPara="1" wrap="square" lIns="91350" tIns="45625" rIns="91350" bIns="45625" anchor="t" anchorCtr="0">
            <a:noAutofit/>
          </a:bodyPr>
          <a:lstStyle/>
          <a:p>
            <a:pPr marL="0" marR="0" lvl="0" indent="0" algn="l" rtl="0">
              <a:spcBef>
                <a:spcPts val="0"/>
              </a:spcBef>
              <a:spcAft>
                <a:spcPts val="0"/>
              </a:spcAft>
              <a:buNone/>
            </a:pPr>
            <a:endParaRPr sz="1797">
              <a:solidFill>
                <a:srgbClr val="FFFFFF"/>
              </a:solidFill>
              <a:latin typeface="Open Sans Light"/>
              <a:ea typeface="Open Sans Light"/>
              <a:cs typeface="Open Sans Light"/>
              <a:sym typeface="Open Sans Light"/>
            </a:endParaRPr>
          </a:p>
        </p:txBody>
      </p:sp>
      <p:sp>
        <p:nvSpPr>
          <p:cNvPr id="15224" name="Google Shape;15224;p98"/>
          <p:cNvSpPr txBox="1"/>
          <p:nvPr/>
        </p:nvSpPr>
        <p:spPr>
          <a:xfrm>
            <a:off x="1078642" y="5279472"/>
            <a:ext cx="2072439" cy="630778"/>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Enterprise IT Admin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or</a:t>
            </a:r>
            <a:endParaRPr sz="1200">
              <a:solidFill>
                <a:srgbClr val="000000"/>
              </a:solidFill>
              <a:latin typeface="Arial"/>
              <a:ea typeface="Arial"/>
              <a:cs typeface="Arial"/>
              <a:sym typeface="Arial"/>
            </a:endParaRPr>
          </a:p>
          <a:p>
            <a:pPr marL="0" marR="0" lvl="0" indent="0" algn="ctr" rtl="0">
              <a:spcBef>
                <a:spcPts val="600"/>
              </a:spcBef>
              <a:spcAft>
                <a:spcPts val="0"/>
              </a:spcAft>
              <a:buNone/>
            </a:pPr>
            <a:r>
              <a:rPr lang="en-US" sz="1200">
                <a:solidFill>
                  <a:srgbClr val="000000"/>
                </a:solidFill>
                <a:latin typeface="Arial"/>
                <a:ea typeface="Arial"/>
                <a:cs typeface="Arial"/>
                <a:sym typeface="Arial"/>
              </a:rPr>
              <a:t>Service Provider Admin</a:t>
            </a:r>
            <a:endParaRPr sz="1200">
              <a:solidFill>
                <a:srgbClr val="000000"/>
              </a:solidFill>
              <a:latin typeface="Arial"/>
              <a:ea typeface="Arial"/>
              <a:cs typeface="Arial"/>
              <a:sym typeface="Arial"/>
            </a:endParaRPr>
          </a:p>
        </p:txBody>
      </p:sp>
      <p:sp>
        <p:nvSpPr>
          <p:cNvPr id="15225" name="Google Shape;15225;p98"/>
          <p:cNvSpPr txBox="1"/>
          <p:nvPr/>
        </p:nvSpPr>
        <p:spPr>
          <a:xfrm>
            <a:off x="1418341" y="3664579"/>
            <a:ext cx="1440375" cy="553854"/>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LOB Admin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or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Org Admin</a:t>
            </a:r>
            <a:endParaRPr sz="1200">
              <a:solidFill>
                <a:srgbClr val="000000"/>
              </a:solidFill>
              <a:latin typeface="Arial"/>
              <a:ea typeface="Arial"/>
              <a:cs typeface="Arial"/>
              <a:sym typeface="Arial"/>
            </a:endParaRPr>
          </a:p>
        </p:txBody>
      </p:sp>
      <p:cxnSp>
        <p:nvCxnSpPr>
          <p:cNvPr id="15226" name="Google Shape;15226;p98"/>
          <p:cNvCxnSpPr/>
          <p:nvPr/>
        </p:nvCxnSpPr>
        <p:spPr>
          <a:xfrm>
            <a:off x="3722431" y="4501710"/>
            <a:ext cx="7525474" cy="9637"/>
          </a:xfrm>
          <a:prstGeom prst="straightConnector1">
            <a:avLst/>
          </a:prstGeom>
          <a:noFill/>
          <a:ln w="9525" cap="flat" cmpd="sng">
            <a:solidFill>
              <a:srgbClr val="7F7F7F"/>
            </a:solidFill>
            <a:prstDash val="solid"/>
            <a:round/>
            <a:headEnd type="none" w="sm" len="sm"/>
            <a:tailEnd type="none" w="sm" len="sm"/>
          </a:ln>
        </p:spPr>
      </p:cxnSp>
      <p:cxnSp>
        <p:nvCxnSpPr>
          <p:cNvPr id="15227" name="Google Shape;15227;p98"/>
          <p:cNvCxnSpPr/>
          <p:nvPr/>
        </p:nvCxnSpPr>
        <p:spPr>
          <a:xfrm>
            <a:off x="3722431" y="2861203"/>
            <a:ext cx="7525474" cy="0"/>
          </a:xfrm>
          <a:prstGeom prst="straightConnector1">
            <a:avLst/>
          </a:prstGeom>
          <a:noFill/>
          <a:ln w="9525" cap="flat" cmpd="sng">
            <a:solidFill>
              <a:srgbClr val="7F7F7F"/>
            </a:solidFill>
            <a:prstDash val="solid"/>
            <a:round/>
            <a:headEnd type="none" w="sm" len="sm"/>
            <a:tailEnd type="none" w="sm" len="sm"/>
          </a:ln>
        </p:spPr>
      </p:cxnSp>
      <p:sp>
        <p:nvSpPr>
          <p:cNvPr id="15228" name="Google Shape;15228;p98"/>
          <p:cNvSpPr txBox="1"/>
          <p:nvPr/>
        </p:nvSpPr>
        <p:spPr>
          <a:xfrm>
            <a:off x="3722432" y="4686258"/>
            <a:ext cx="6141736" cy="1328903"/>
          </a:xfrm>
          <a:prstGeom prst="rect">
            <a:avLst/>
          </a:prstGeom>
          <a:noFill/>
          <a:ln>
            <a:noFill/>
          </a:ln>
        </p:spPr>
        <p:txBody>
          <a:bodyPr spcFirstLastPara="1" wrap="square" lIns="91375" tIns="45650" rIns="91375" bIns="45650" anchor="t" anchorCtr="0">
            <a:spAutoFit/>
          </a:bodyPr>
          <a:lstStyle/>
          <a:p>
            <a:pPr marL="285578" marR="0" lvl="0" indent="-285578" algn="l" rtl="0">
              <a:lnSpc>
                <a:spcPct val="90000"/>
              </a:lnSpc>
              <a:spcBef>
                <a:spcPts val="0"/>
              </a:spcBef>
              <a:spcAft>
                <a:spcPts val="0"/>
              </a:spcAft>
              <a:buClr>
                <a:srgbClr val="000000"/>
              </a:buClr>
              <a:buSzPts val="1600"/>
              <a:buFont typeface="Arial"/>
              <a:buChar char="•"/>
            </a:pPr>
            <a:r>
              <a:rPr lang="en-US" sz="1400">
                <a:solidFill>
                  <a:srgbClr val="61A60E"/>
                </a:solidFill>
                <a:latin typeface="Arial"/>
                <a:ea typeface="Arial"/>
                <a:cs typeface="Arial"/>
                <a:sym typeface="Arial"/>
              </a:rPr>
              <a:t>Organize infrastructure resources among tenants and LOBs</a:t>
            </a:r>
            <a:endParaRPr sz="1400">
              <a:solidFill>
                <a:srgbClr val="61A60E"/>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61A60E"/>
                </a:solidFill>
                <a:latin typeface="Arial"/>
                <a:ea typeface="Arial"/>
                <a:cs typeface="Arial"/>
                <a:sym typeface="Arial"/>
              </a:rPr>
              <a:t>Setup networking</a:t>
            </a:r>
            <a:endParaRPr sz="1400">
              <a:solidFill>
                <a:srgbClr val="61A60E"/>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61A60E"/>
                </a:solidFill>
                <a:latin typeface="Arial"/>
                <a:ea typeface="Arial"/>
                <a:cs typeface="Arial"/>
                <a:sym typeface="Arial"/>
              </a:rPr>
              <a:t>Multi-tenant Administration and Creation</a:t>
            </a:r>
            <a:endParaRPr sz="1400">
              <a:solidFill>
                <a:srgbClr val="61A60E"/>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61A60E"/>
                </a:solidFill>
                <a:latin typeface="Arial"/>
                <a:ea typeface="Arial"/>
                <a:cs typeface="Arial"/>
                <a:sym typeface="Arial"/>
              </a:rPr>
              <a:t>Manage services ecosystem for tenants</a:t>
            </a:r>
            <a:endParaRPr sz="1100">
              <a:solidFill>
                <a:srgbClr val="61A60E"/>
              </a:solidFill>
              <a:latin typeface="Arial"/>
              <a:ea typeface="Arial"/>
              <a:cs typeface="Arial"/>
              <a:sym typeface="Arial"/>
            </a:endParaRPr>
          </a:p>
        </p:txBody>
      </p:sp>
      <p:sp>
        <p:nvSpPr>
          <p:cNvPr id="15229" name="Google Shape;15229;p98"/>
          <p:cNvSpPr txBox="1"/>
          <p:nvPr/>
        </p:nvSpPr>
        <p:spPr>
          <a:xfrm>
            <a:off x="3722432" y="3236440"/>
            <a:ext cx="7645009" cy="981460"/>
          </a:xfrm>
          <a:prstGeom prst="rect">
            <a:avLst/>
          </a:prstGeom>
          <a:noFill/>
          <a:ln>
            <a:noFill/>
          </a:ln>
        </p:spPr>
        <p:txBody>
          <a:bodyPr spcFirstLastPara="1" wrap="square" lIns="91375" tIns="45650" rIns="91375" bIns="45650" anchor="t" anchorCtr="0">
            <a:spAutoFit/>
          </a:bodyPr>
          <a:lstStyle/>
          <a:p>
            <a:pPr marL="285578" marR="0" lvl="0" indent="-285578" algn="l" rtl="0">
              <a:lnSpc>
                <a:spcPct val="90000"/>
              </a:lnSpc>
              <a:spcBef>
                <a:spcPts val="0"/>
              </a:spcBef>
              <a:spcAft>
                <a:spcPts val="0"/>
              </a:spcAft>
              <a:buClr>
                <a:srgbClr val="000000"/>
              </a:buClr>
              <a:buSzPts val="1600"/>
              <a:buFont typeface="Arial"/>
              <a:buChar char="•"/>
            </a:pPr>
            <a:r>
              <a:rPr lang="en-US" sz="1400">
                <a:solidFill>
                  <a:srgbClr val="6C4B94"/>
                </a:solidFill>
                <a:latin typeface="Arial"/>
                <a:ea typeface="Arial"/>
                <a:cs typeface="Arial"/>
                <a:sym typeface="Arial"/>
              </a:rPr>
              <a:t>Enable new consumption experience with Projects, vSphere Namespaces and VPCs</a:t>
            </a:r>
            <a:endParaRPr sz="1400">
              <a:solidFill>
                <a:srgbClr val="6C4B94"/>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6C4B94"/>
                </a:solidFill>
                <a:latin typeface="Arial"/>
                <a:ea typeface="Arial"/>
                <a:cs typeface="Arial"/>
                <a:sym typeface="Arial"/>
              </a:rPr>
              <a:t>Enforce policies – Quota, Leases, Approvals, IaaS policies</a:t>
            </a:r>
            <a:endParaRPr sz="1400">
              <a:solidFill>
                <a:srgbClr val="6C4B94"/>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6C4B94"/>
                </a:solidFill>
                <a:latin typeface="Arial"/>
                <a:ea typeface="Arial"/>
                <a:cs typeface="Arial"/>
                <a:sym typeface="Arial"/>
              </a:rPr>
              <a:t>Manage Content</a:t>
            </a:r>
            <a:endParaRPr sz="1400">
              <a:solidFill>
                <a:srgbClr val="6C4B94"/>
              </a:solidFill>
              <a:latin typeface="Arial"/>
              <a:ea typeface="Arial"/>
              <a:cs typeface="Arial"/>
              <a:sym typeface="Arial"/>
            </a:endParaRPr>
          </a:p>
        </p:txBody>
      </p:sp>
      <p:sp>
        <p:nvSpPr>
          <p:cNvPr id="15230" name="Google Shape;15230;p98"/>
          <p:cNvSpPr txBox="1"/>
          <p:nvPr/>
        </p:nvSpPr>
        <p:spPr>
          <a:xfrm>
            <a:off x="3722432" y="1597352"/>
            <a:ext cx="6141800" cy="981460"/>
          </a:xfrm>
          <a:prstGeom prst="rect">
            <a:avLst/>
          </a:prstGeom>
          <a:noFill/>
          <a:ln>
            <a:noFill/>
          </a:ln>
        </p:spPr>
        <p:txBody>
          <a:bodyPr spcFirstLastPara="1" wrap="square" lIns="91375" tIns="45650" rIns="91375" bIns="45650" anchor="t" anchorCtr="0">
            <a:spAutoFit/>
          </a:bodyPr>
          <a:lstStyle/>
          <a:p>
            <a:pPr marL="285578" marR="0" lvl="0" indent="-285578" algn="l" rtl="0">
              <a:lnSpc>
                <a:spcPct val="90000"/>
              </a:lnSpc>
              <a:spcBef>
                <a:spcPts val="0"/>
              </a:spcBef>
              <a:spcAft>
                <a:spcPts val="0"/>
              </a:spcAft>
              <a:buClr>
                <a:srgbClr val="000000"/>
              </a:buClr>
              <a:buSzPts val="1600"/>
              <a:buFont typeface="Arial"/>
              <a:buChar char="•"/>
            </a:pPr>
            <a:r>
              <a:rPr lang="en-US" sz="1400">
                <a:solidFill>
                  <a:srgbClr val="0098C7"/>
                </a:solidFill>
                <a:latin typeface="Arial"/>
                <a:ea typeface="Arial"/>
                <a:cs typeface="Arial"/>
                <a:sym typeface="Arial"/>
              </a:rPr>
              <a:t>Self-Service for services and catalog items</a:t>
            </a:r>
            <a:endParaRPr sz="1400">
              <a:solidFill>
                <a:srgbClr val="0098C7"/>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0098C7"/>
                </a:solidFill>
                <a:latin typeface="Arial"/>
                <a:ea typeface="Arial"/>
                <a:cs typeface="Arial"/>
                <a:sym typeface="Arial"/>
              </a:rPr>
              <a:t>Day 2 operations on workloads and services</a:t>
            </a:r>
            <a:endParaRPr sz="1400">
              <a:solidFill>
                <a:srgbClr val="0098C7"/>
              </a:solidFill>
              <a:latin typeface="Arial"/>
              <a:ea typeface="Arial"/>
              <a:cs typeface="Arial"/>
              <a:sym typeface="Arial"/>
            </a:endParaRPr>
          </a:p>
          <a:p>
            <a:pPr marL="285578" marR="0" lvl="0" indent="-285578" algn="l" rtl="0">
              <a:lnSpc>
                <a:spcPct val="90000"/>
              </a:lnSpc>
              <a:spcBef>
                <a:spcPts val="1200"/>
              </a:spcBef>
              <a:spcAft>
                <a:spcPts val="0"/>
              </a:spcAft>
              <a:buClr>
                <a:srgbClr val="000000"/>
              </a:buClr>
              <a:buSzPts val="1600"/>
              <a:buFont typeface="Arial"/>
              <a:buChar char="•"/>
            </a:pPr>
            <a:r>
              <a:rPr lang="en-US" sz="1400">
                <a:solidFill>
                  <a:srgbClr val="0098C7"/>
                </a:solidFill>
                <a:latin typeface="Arial"/>
                <a:ea typeface="Arial"/>
                <a:cs typeface="Arial"/>
                <a:sym typeface="Arial"/>
              </a:rPr>
              <a:t>Workload operations visibility</a:t>
            </a:r>
            <a:endParaRPr sz="1400">
              <a:solidFill>
                <a:srgbClr val="0098C7"/>
              </a:solidFill>
              <a:latin typeface="Arial"/>
              <a:ea typeface="Arial"/>
              <a:cs typeface="Arial"/>
              <a:sym typeface="Aria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15235"/>
        <p:cNvGrpSpPr/>
        <p:nvPr/>
      </p:nvGrpSpPr>
      <p:grpSpPr>
        <a:xfrm>
          <a:off x="0" y="0"/>
          <a:ext cx="0" cy="0"/>
          <a:chOff x="0" y="0"/>
          <a:chExt cx="0" cy="0"/>
        </a:xfrm>
      </p:grpSpPr>
      <p:sp>
        <p:nvSpPr>
          <p:cNvPr id="15236" name="Google Shape;15236;p99"/>
          <p:cNvSpPr/>
          <p:nvPr/>
        </p:nvSpPr>
        <p:spPr>
          <a:xfrm>
            <a:off x="4770" y="1607336"/>
            <a:ext cx="12181281" cy="4609325"/>
          </a:xfrm>
          <a:prstGeom prst="roundRect">
            <a:avLst>
              <a:gd name="adj" fmla="val 0"/>
            </a:avLst>
          </a:prstGeom>
          <a:solidFill>
            <a:srgbClr val="F4F8FA"/>
          </a:solidFill>
          <a:ln>
            <a:noFill/>
          </a:ln>
        </p:spPr>
        <p:txBody>
          <a:bodyPr spcFirstLastPara="1" wrap="square" lIns="91300" tIns="45625" rIns="91300" bIns="45625"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37" name="Google Shape;15237;p99"/>
          <p:cNvSpPr/>
          <p:nvPr/>
        </p:nvSpPr>
        <p:spPr>
          <a:xfrm>
            <a:off x="498520" y="1727451"/>
            <a:ext cx="3519029" cy="4342985"/>
          </a:xfrm>
          <a:prstGeom prst="roundRect">
            <a:avLst>
              <a:gd name="adj" fmla="val 2239"/>
            </a:avLst>
          </a:prstGeom>
          <a:solidFill>
            <a:schemeClr val="lt1"/>
          </a:solidFill>
          <a:ln w="12700" cap="flat" cmpd="sng">
            <a:solidFill>
              <a:srgbClr val="BFBFBF"/>
            </a:solidFill>
            <a:prstDash val="solid"/>
            <a:round/>
            <a:headEnd type="none" w="sm" len="sm"/>
            <a:tailEnd type="none" w="sm" len="sm"/>
          </a:ln>
        </p:spPr>
        <p:txBody>
          <a:bodyPr spcFirstLastPara="1" wrap="square" lIns="91275" tIns="45625" rIns="91275" bIns="45625" anchor="ctr" anchorCtr="0">
            <a:noAutofit/>
          </a:bodyPr>
          <a:lstStyle/>
          <a:p>
            <a:pPr marL="0" marR="0" lvl="0" indent="0" algn="ctr" rtl="0">
              <a:spcBef>
                <a:spcPts val="0"/>
              </a:spcBef>
              <a:spcAft>
                <a:spcPts val="0"/>
              </a:spcAft>
              <a:buNone/>
            </a:pPr>
            <a:endParaRPr sz="1000">
              <a:solidFill>
                <a:srgbClr val="000001"/>
              </a:solidFill>
              <a:latin typeface="Arial"/>
              <a:ea typeface="Arial"/>
              <a:cs typeface="Arial"/>
              <a:sym typeface="Arial"/>
            </a:endParaRPr>
          </a:p>
        </p:txBody>
      </p:sp>
      <p:sp>
        <p:nvSpPr>
          <p:cNvPr id="15238" name="Google Shape;15238;p99"/>
          <p:cNvSpPr/>
          <p:nvPr/>
        </p:nvSpPr>
        <p:spPr>
          <a:xfrm>
            <a:off x="2395063" y="2374407"/>
            <a:ext cx="1375573" cy="1751361"/>
          </a:xfrm>
          <a:prstGeom prst="roundRect">
            <a:avLst>
              <a:gd name="adj" fmla="val 5370"/>
            </a:avLst>
          </a:prstGeom>
          <a:solidFill>
            <a:schemeClr val="accent4">
              <a:alpha val="10196"/>
            </a:schemeClr>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endParaRPr sz="900">
              <a:solidFill>
                <a:srgbClr val="FFFFFF"/>
              </a:solidFill>
              <a:latin typeface="Arial"/>
              <a:ea typeface="Arial"/>
              <a:cs typeface="Arial"/>
              <a:sym typeface="Arial"/>
            </a:endParaRPr>
          </a:p>
        </p:txBody>
      </p:sp>
      <p:sp>
        <p:nvSpPr>
          <p:cNvPr id="15239" name="Google Shape;15239;p99"/>
          <p:cNvSpPr/>
          <p:nvPr/>
        </p:nvSpPr>
        <p:spPr>
          <a:xfrm>
            <a:off x="778454" y="2378768"/>
            <a:ext cx="1375573" cy="1751361"/>
          </a:xfrm>
          <a:prstGeom prst="roundRect">
            <a:avLst>
              <a:gd name="adj" fmla="val 5370"/>
            </a:avLst>
          </a:prstGeom>
          <a:solidFill>
            <a:schemeClr val="accent3">
              <a:alpha val="9803"/>
            </a:schemeClr>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endParaRPr sz="900">
              <a:solidFill>
                <a:srgbClr val="FFFFFF"/>
              </a:solidFill>
              <a:latin typeface="Arial"/>
              <a:ea typeface="Arial"/>
              <a:cs typeface="Arial"/>
              <a:sym typeface="Arial"/>
            </a:endParaRPr>
          </a:p>
        </p:txBody>
      </p:sp>
      <p:sp>
        <p:nvSpPr>
          <p:cNvPr id="15240" name="Google Shape;15240;p99"/>
          <p:cNvSpPr/>
          <p:nvPr/>
        </p:nvSpPr>
        <p:spPr>
          <a:xfrm>
            <a:off x="8092711" y="1722259"/>
            <a:ext cx="3591720" cy="4342985"/>
          </a:xfrm>
          <a:prstGeom prst="roundRect">
            <a:avLst>
              <a:gd name="adj" fmla="val 2239"/>
            </a:avLst>
          </a:prstGeom>
          <a:solidFill>
            <a:schemeClr val="lt1"/>
          </a:solidFill>
          <a:ln w="12700" cap="flat" cmpd="sng">
            <a:solidFill>
              <a:srgbClr val="BFBFBF"/>
            </a:solidFill>
            <a:prstDash val="solid"/>
            <a:round/>
            <a:headEnd type="none" w="sm" len="sm"/>
            <a:tailEnd type="none" w="sm" len="sm"/>
          </a:ln>
        </p:spPr>
        <p:txBody>
          <a:bodyPr spcFirstLastPara="1" wrap="square" lIns="91275" tIns="45625" rIns="91275" bIns="45625" anchor="ctr" anchorCtr="0">
            <a:noAutofit/>
          </a:bodyPr>
          <a:lstStyle/>
          <a:p>
            <a:pPr marL="0" marR="0" lvl="0" indent="0" algn="ctr" rtl="0">
              <a:spcBef>
                <a:spcPts val="0"/>
              </a:spcBef>
              <a:spcAft>
                <a:spcPts val="0"/>
              </a:spcAft>
              <a:buNone/>
            </a:pPr>
            <a:endParaRPr sz="1000">
              <a:solidFill>
                <a:srgbClr val="000001"/>
              </a:solidFill>
              <a:latin typeface="Arial"/>
              <a:ea typeface="Arial"/>
              <a:cs typeface="Arial"/>
              <a:sym typeface="Arial"/>
            </a:endParaRPr>
          </a:p>
        </p:txBody>
      </p:sp>
      <p:sp>
        <p:nvSpPr>
          <p:cNvPr id="15241" name="Google Shape;15241;p99"/>
          <p:cNvSpPr/>
          <p:nvPr/>
        </p:nvSpPr>
        <p:spPr>
          <a:xfrm>
            <a:off x="4199219" y="1722259"/>
            <a:ext cx="3677042" cy="4342985"/>
          </a:xfrm>
          <a:prstGeom prst="roundRect">
            <a:avLst>
              <a:gd name="adj" fmla="val 2239"/>
            </a:avLst>
          </a:prstGeom>
          <a:solidFill>
            <a:schemeClr val="lt1"/>
          </a:solidFill>
          <a:ln w="12700" cap="flat" cmpd="sng">
            <a:solidFill>
              <a:srgbClr val="BFBFBF"/>
            </a:solidFill>
            <a:prstDash val="solid"/>
            <a:round/>
            <a:headEnd type="none" w="sm" len="sm"/>
            <a:tailEnd type="none" w="sm" len="sm"/>
          </a:ln>
        </p:spPr>
        <p:txBody>
          <a:bodyPr spcFirstLastPara="1" wrap="square" lIns="91275" tIns="45625" rIns="91275" bIns="45625" anchor="ctr" anchorCtr="0">
            <a:noAutofit/>
          </a:bodyPr>
          <a:lstStyle/>
          <a:p>
            <a:pPr marL="0" marR="0" lvl="0" indent="0" algn="ctr" rtl="0">
              <a:spcBef>
                <a:spcPts val="0"/>
              </a:spcBef>
              <a:spcAft>
                <a:spcPts val="0"/>
              </a:spcAft>
              <a:buNone/>
            </a:pPr>
            <a:endParaRPr sz="1000">
              <a:solidFill>
                <a:srgbClr val="000001"/>
              </a:solidFill>
              <a:latin typeface="Arial"/>
              <a:ea typeface="Arial"/>
              <a:cs typeface="Arial"/>
              <a:sym typeface="Arial"/>
            </a:endParaRPr>
          </a:p>
        </p:txBody>
      </p:sp>
      <p:sp>
        <p:nvSpPr>
          <p:cNvPr id="15242" name="Google Shape;15242;p99"/>
          <p:cNvSpPr txBox="1">
            <a:spLocks noGrp="1"/>
          </p:cNvSpPr>
          <p:nvPr>
            <p:ph type="title"/>
          </p:nvPr>
        </p:nvSpPr>
        <p:spPr>
          <a:xfrm>
            <a:off x="579809" y="413536"/>
            <a:ext cx="11001004"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VCF Automation Governance &amp; Consumption Models</a:t>
            </a:r>
            <a:endParaRPr/>
          </a:p>
        </p:txBody>
      </p:sp>
      <p:sp>
        <p:nvSpPr>
          <p:cNvPr id="15243" name="Google Shape;15243;p99"/>
          <p:cNvSpPr txBox="1">
            <a:spLocks noGrp="1"/>
          </p:cNvSpPr>
          <p:nvPr>
            <p:ph type="subTitle" idx="1"/>
          </p:nvPr>
        </p:nvSpPr>
        <p:spPr>
          <a:xfrm>
            <a:off x="592867" y="812513"/>
            <a:ext cx="10962687"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VCF Automation isn’t just a simple VM provisioning tool</a:t>
            </a:r>
            <a:endParaRPr/>
          </a:p>
        </p:txBody>
      </p:sp>
      <p:sp>
        <p:nvSpPr>
          <p:cNvPr id="15244" name="Google Shape;15244;p99"/>
          <p:cNvSpPr txBox="1"/>
          <p:nvPr/>
        </p:nvSpPr>
        <p:spPr>
          <a:xfrm>
            <a:off x="495576" y="1584197"/>
            <a:ext cx="3519029" cy="913686"/>
          </a:xfrm>
          <a:prstGeom prst="rect">
            <a:avLst/>
          </a:prstGeom>
          <a:noFill/>
          <a:ln>
            <a:noFill/>
          </a:ln>
        </p:spPr>
        <p:txBody>
          <a:bodyPr spcFirstLastPara="1" wrap="square" lIns="0" tIns="91350" rIns="182725" bIns="91350" anchor="b" anchorCtr="0">
            <a:noAutofit/>
          </a:bodyPr>
          <a:lstStyle/>
          <a:p>
            <a:pPr marL="0" marR="0" lvl="0" indent="-80010" algn="ctr" rtl="0">
              <a:spcBef>
                <a:spcPts val="0"/>
              </a:spcBef>
              <a:spcAft>
                <a:spcPts val="1200"/>
              </a:spcAft>
              <a:buClr>
                <a:srgbClr val="666666"/>
              </a:buClr>
              <a:buSzPts val="1260"/>
              <a:buFont typeface="Arial"/>
              <a:buChar char="​"/>
            </a:pPr>
            <a:r>
              <a:rPr lang="en-US" sz="1400">
                <a:solidFill>
                  <a:srgbClr val="000000"/>
                </a:solidFill>
                <a:latin typeface="Arial"/>
                <a:ea typeface="Arial"/>
                <a:cs typeface="Arial"/>
                <a:sym typeface="Arial"/>
              </a:rPr>
              <a:t>Enterprise/Service Provider </a:t>
            </a:r>
            <a:br>
              <a:rPr lang="en-US" sz="1400">
                <a:solidFill>
                  <a:srgbClr val="000000"/>
                </a:solidFill>
                <a:latin typeface="Arial"/>
                <a:ea typeface="Arial"/>
                <a:cs typeface="Arial"/>
                <a:sym typeface="Arial"/>
              </a:rPr>
            </a:br>
            <a:r>
              <a:rPr lang="en-US" sz="1400">
                <a:solidFill>
                  <a:srgbClr val="000000"/>
                </a:solidFill>
                <a:latin typeface="Arial"/>
                <a:ea typeface="Arial"/>
                <a:cs typeface="Arial"/>
                <a:sym typeface="Arial"/>
              </a:rPr>
              <a:t>Gov &amp; Consumption Model</a:t>
            </a:r>
            <a:endParaRPr sz="1400">
              <a:solidFill>
                <a:srgbClr val="000000"/>
              </a:solidFill>
              <a:latin typeface="Arial"/>
              <a:ea typeface="Arial"/>
              <a:cs typeface="Arial"/>
              <a:sym typeface="Arial"/>
            </a:endParaRPr>
          </a:p>
        </p:txBody>
      </p:sp>
      <p:sp>
        <p:nvSpPr>
          <p:cNvPr id="15245" name="Google Shape;15245;p99"/>
          <p:cNvSpPr txBox="1"/>
          <p:nvPr/>
        </p:nvSpPr>
        <p:spPr>
          <a:xfrm>
            <a:off x="4240755" y="1607335"/>
            <a:ext cx="3591720" cy="913686"/>
          </a:xfrm>
          <a:prstGeom prst="rect">
            <a:avLst/>
          </a:prstGeom>
          <a:noFill/>
          <a:ln>
            <a:noFill/>
          </a:ln>
        </p:spPr>
        <p:txBody>
          <a:bodyPr spcFirstLastPara="1" wrap="square" lIns="0" tIns="91350" rIns="182725" bIns="91350" anchor="b" anchorCtr="0">
            <a:noAutofit/>
          </a:bodyPr>
          <a:lstStyle/>
          <a:p>
            <a:pPr marL="0" marR="0" lvl="0" indent="0" algn="ctr" rtl="0">
              <a:spcBef>
                <a:spcPts val="0"/>
              </a:spcBef>
              <a:spcAft>
                <a:spcPts val="0"/>
              </a:spcAft>
              <a:buNone/>
            </a:pPr>
            <a:endParaRPr sz="1400">
              <a:solidFill>
                <a:srgbClr val="000000"/>
              </a:solidFill>
              <a:latin typeface="Arial"/>
              <a:ea typeface="Arial"/>
              <a:cs typeface="Arial"/>
              <a:sym typeface="Arial"/>
            </a:endParaRPr>
          </a:p>
          <a:p>
            <a:pPr marL="0" marR="0" lvl="0" indent="-80010" algn="ctr" rtl="0">
              <a:spcBef>
                <a:spcPts val="1200"/>
              </a:spcBef>
              <a:spcAft>
                <a:spcPts val="1200"/>
              </a:spcAft>
              <a:buClr>
                <a:srgbClr val="666666"/>
              </a:buClr>
              <a:buSzPts val="1260"/>
              <a:buFont typeface="Arial"/>
              <a:buChar char="​"/>
            </a:pPr>
            <a:r>
              <a:rPr lang="en-US" sz="1400">
                <a:solidFill>
                  <a:srgbClr val="000000"/>
                </a:solidFill>
                <a:latin typeface="Arial"/>
                <a:ea typeface="Arial"/>
                <a:cs typeface="Arial"/>
                <a:sym typeface="Arial"/>
              </a:rPr>
              <a:t>Traditional/Modern Workload</a:t>
            </a:r>
            <a:br>
              <a:rPr lang="en-US" sz="1400">
                <a:solidFill>
                  <a:srgbClr val="000000"/>
                </a:solidFill>
                <a:latin typeface="Arial"/>
                <a:ea typeface="Arial"/>
                <a:cs typeface="Arial"/>
                <a:sym typeface="Arial"/>
              </a:rPr>
            </a:br>
            <a:r>
              <a:rPr lang="en-US" sz="1400">
                <a:solidFill>
                  <a:srgbClr val="000000"/>
                </a:solidFill>
                <a:latin typeface="Arial"/>
                <a:ea typeface="Arial"/>
                <a:cs typeface="Arial"/>
                <a:sym typeface="Arial"/>
              </a:rPr>
              <a:t>Gov &amp; Consumption Model</a:t>
            </a:r>
            <a:endParaRPr sz="1400">
              <a:solidFill>
                <a:srgbClr val="000000"/>
              </a:solidFill>
              <a:latin typeface="Arial"/>
              <a:ea typeface="Arial"/>
              <a:cs typeface="Arial"/>
              <a:sym typeface="Arial"/>
            </a:endParaRPr>
          </a:p>
        </p:txBody>
      </p:sp>
      <p:sp>
        <p:nvSpPr>
          <p:cNvPr id="15246" name="Google Shape;15246;p99"/>
          <p:cNvSpPr txBox="1"/>
          <p:nvPr/>
        </p:nvSpPr>
        <p:spPr>
          <a:xfrm>
            <a:off x="8092711" y="1601628"/>
            <a:ext cx="3591720" cy="913686"/>
          </a:xfrm>
          <a:prstGeom prst="rect">
            <a:avLst/>
          </a:prstGeom>
          <a:noFill/>
          <a:ln>
            <a:noFill/>
          </a:ln>
        </p:spPr>
        <p:txBody>
          <a:bodyPr spcFirstLastPara="1" wrap="square" lIns="0" tIns="91350" rIns="182725" bIns="91350" anchor="b" anchorCtr="0">
            <a:noAutofit/>
          </a:bodyPr>
          <a:lstStyle/>
          <a:p>
            <a:pPr marL="0" marR="0" lvl="0" indent="-80010" algn="ctr" rtl="0">
              <a:spcBef>
                <a:spcPts val="0"/>
              </a:spcBef>
              <a:spcAft>
                <a:spcPts val="1200"/>
              </a:spcAft>
              <a:buClr>
                <a:srgbClr val="666666"/>
              </a:buClr>
              <a:buSzPts val="1260"/>
              <a:buFont typeface="Arial"/>
              <a:buChar char="​"/>
            </a:pPr>
            <a:r>
              <a:rPr lang="en-US" sz="1400">
                <a:solidFill>
                  <a:srgbClr val="000000"/>
                </a:solidFill>
                <a:latin typeface="Arial"/>
                <a:ea typeface="Arial"/>
                <a:cs typeface="Arial"/>
                <a:sym typeface="Arial"/>
              </a:rPr>
              <a:t>Self-Service IaaS/Catalog</a:t>
            </a:r>
            <a:br>
              <a:rPr lang="en-US" sz="1400">
                <a:solidFill>
                  <a:srgbClr val="000000"/>
                </a:solidFill>
                <a:latin typeface="Arial"/>
                <a:ea typeface="Arial"/>
                <a:cs typeface="Arial"/>
                <a:sym typeface="Arial"/>
              </a:rPr>
            </a:br>
            <a:r>
              <a:rPr lang="en-US" sz="1400">
                <a:solidFill>
                  <a:srgbClr val="000000"/>
                </a:solidFill>
                <a:latin typeface="Arial"/>
                <a:ea typeface="Arial"/>
                <a:cs typeface="Arial"/>
                <a:sym typeface="Arial"/>
              </a:rPr>
              <a:t>Gov &amp; Consumption Model</a:t>
            </a:r>
            <a:endParaRPr sz="1400">
              <a:solidFill>
                <a:srgbClr val="000000"/>
              </a:solidFill>
              <a:latin typeface="Arial"/>
              <a:ea typeface="Arial"/>
              <a:cs typeface="Arial"/>
              <a:sym typeface="Arial"/>
            </a:endParaRPr>
          </a:p>
        </p:txBody>
      </p:sp>
      <p:grpSp>
        <p:nvGrpSpPr>
          <p:cNvPr id="15247" name="Google Shape;15247;p99"/>
          <p:cNvGrpSpPr/>
          <p:nvPr/>
        </p:nvGrpSpPr>
        <p:grpSpPr>
          <a:xfrm>
            <a:off x="821348" y="2392570"/>
            <a:ext cx="2909826" cy="1695747"/>
            <a:chOff x="924796" y="3209613"/>
            <a:chExt cx="2912099" cy="1697072"/>
          </a:xfrm>
        </p:grpSpPr>
        <p:grpSp>
          <p:nvGrpSpPr>
            <p:cNvPr id="15248" name="Google Shape;15248;p99"/>
            <p:cNvGrpSpPr/>
            <p:nvPr/>
          </p:nvGrpSpPr>
          <p:grpSpPr>
            <a:xfrm>
              <a:off x="924796" y="3209613"/>
              <a:ext cx="1292055" cy="1697072"/>
              <a:chOff x="924796" y="3209613"/>
              <a:chExt cx="1292055" cy="1697072"/>
            </a:xfrm>
          </p:grpSpPr>
          <p:sp>
            <p:nvSpPr>
              <p:cNvPr id="15249" name="Google Shape;15249;p99"/>
              <p:cNvSpPr txBox="1"/>
              <p:nvPr/>
            </p:nvSpPr>
            <p:spPr>
              <a:xfrm>
                <a:off x="1274146" y="3209613"/>
                <a:ext cx="634789" cy="200055"/>
              </a:xfrm>
              <a:prstGeom prst="rect">
                <a:avLst/>
              </a:prstGeom>
              <a:noFill/>
              <a:ln>
                <a:noFill/>
              </a:ln>
            </p:spPr>
            <p:txBody>
              <a:bodyPr spcFirstLastPara="1" wrap="square" lIns="0" tIns="0" rIns="0" bIns="0" anchor="t" anchorCtr="0">
                <a:spAutoFit/>
              </a:bodyPr>
              <a:lstStyle/>
              <a:p>
                <a:pPr marL="0" marR="0" lvl="0" indent="0" algn="l" rtl="0">
                  <a:lnSpc>
                    <a:spcPct val="130000"/>
                  </a:lnSpc>
                  <a:spcBef>
                    <a:spcPts val="0"/>
                  </a:spcBef>
                  <a:spcAft>
                    <a:spcPts val="0"/>
                  </a:spcAft>
                  <a:buNone/>
                </a:pPr>
                <a:r>
                  <a:rPr lang="en-US" sz="1000">
                    <a:solidFill>
                      <a:srgbClr val="000000"/>
                    </a:solidFill>
                    <a:latin typeface="Arial"/>
                    <a:ea typeface="Arial"/>
                    <a:cs typeface="Arial"/>
                    <a:sym typeface="Arial"/>
                  </a:rPr>
                  <a:t>Enterprise</a:t>
                </a:r>
                <a:endParaRPr sz="1400">
                  <a:solidFill>
                    <a:srgbClr val="000000"/>
                  </a:solidFill>
                  <a:latin typeface="Arial"/>
                  <a:ea typeface="Arial"/>
                  <a:cs typeface="Arial"/>
                  <a:sym typeface="Arial"/>
                </a:endParaRPr>
              </a:p>
            </p:txBody>
          </p:sp>
          <p:sp>
            <p:nvSpPr>
              <p:cNvPr id="15250" name="Google Shape;15250;p99"/>
              <p:cNvSpPr/>
              <p:nvPr/>
            </p:nvSpPr>
            <p:spPr>
              <a:xfrm>
                <a:off x="987425" y="3550024"/>
                <a:ext cx="328429" cy="875882"/>
              </a:xfrm>
              <a:prstGeom prst="rect">
                <a:avLst/>
              </a:prstGeom>
              <a:solidFill>
                <a:schemeClr val="accent1"/>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800">
                  <a:solidFill>
                    <a:srgbClr val="FFFFFF"/>
                  </a:solidFill>
                  <a:latin typeface="Arial"/>
                  <a:ea typeface="Arial"/>
                  <a:cs typeface="Arial"/>
                  <a:sym typeface="Arial"/>
                </a:endParaRPr>
              </a:p>
            </p:txBody>
          </p:sp>
          <p:sp>
            <p:nvSpPr>
              <p:cNvPr id="15251" name="Google Shape;15251;p99"/>
              <p:cNvSpPr/>
              <p:nvPr/>
            </p:nvSpPr>
            <p:spPr>
              <a:xfrm>
                <a:off x="1419532" y="3550024"/>
                <a:ext cx="328429" cy="875882"/>
              </a:xfrm>
              <a:prstGeom prst="rect">
                <a:avLst/>
              </a:prstGeom>
              <a:solidFill>
                <a:schemeClr val="accent1"/>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52" name="Google Shape;15252;p99"/>
              <p:cNvSpPr/>
              <p:nvPr/>
            </p:nvSpPr>
            <p:spPr>
              <a:xfrm>
                <a:off x="1851639" y="3550024"/>
                <a:ext cx="328429" cy="875882"/>
              </a:xfrm>
              <a:prstGeom prst="rect">
                <a:avLst/>
              </a:prstGeom>
              <a:solidFill>
                <a:schemeClr val="accent1"/>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53" name="Google Shape;15253;p99"/>
              <p:cNvSpPr txBox="1"/>
              <p:nvPr/>
            </p:nvSpPr>
            <p:spPr>
              <a:xfrm>
                <a:off x="1031413" y="3868764"/>
                <a:ext cx="240450" cy="240066"/>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Project</a:t>
                </a:r>
                <a:endParaRPr sz="1400">
                  <a:solidFill>
                    <a:srgbClr val="000000"/>
                  </a:solidFill>
                  <a:latin typeface="Arial"/>
                  <a:ea typeface="Arial"/>
                  <a:cs typeface="Arial"/>
                  <a:sym typeface="Arial"/>
                </a:endParaRPr>
              </a:p>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A</a:t>
                </a:r>
                <a:endParaRPr sz="1400">
                  <a:solidFill>
                    <a:srgbClr val="000000"/>
                  </a:solidFill>
                  <a:latin typeface="Arial"/>
                  <a:ea typeface="Arial"/>
                  <a:cs typeface="Arial"/>
                  <a:sym typeface="Arial"/>
                </a:endParaRPr>
              </a:p>
            </p:txBody>
          </p:sp>
          <p:sp>
            <p:nvSpPr>
              <p:cNvPr id="15254" name="Google Shape;15254;p99"/>
              <p:cNvSpPr txBox="1"/>
              <p:nvPr/>
            </p:nvSpPr>
            <p:spPr>
              <a:xfrm>
                <a:off x="1466467" y="3868763"/>
                <a:ext cx="240450" cy="240066"/>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Project</a:t>
                </a:r>
                <a:endParaRPr sz="1400">
                  <a:solidFill>
                    <a:srgbClr val="000000"/>
                  </a:solidFill>
                  <a:latin typeface="Arial"/>
                  <a:ea typeface="Arial"/>
                  <a:cs typeface="Arial"/>
                  <a:sym typeface="Arial"/>
                </a:endParaRPr>
              </a:p>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B</a:t>
                </a:r>
                <a:endParaRPr sz="1400">
                  <a:solidFill>
                    <a:srgbClr val="000000"/>
                  </a:solidFill>
                  <a:latin typeface="Arial"/>
                  <a:ea typeface="Arial"/>
                  <a:cs typeface="Arial"/>
                  <a:sym typeface="Arial"/>
                </a:endParaRPr>
              </a:p>
            </p:txBody>
          </p:sp>
          <p:sp>
            <p:nvSpPr>
              <p:cNvPr id="15255" name="Google Shape;15255;p99"/>
              <p:cNvSpPr txBox="1"/>
              <p:nvPr/>
            </p:nvSpPr>
            <p:spPr>
              <a:xfrm>
                <a:off x="1898627" y="3868763"/>
                <a:ext cx="240450" cy="240066"/>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Project</a:t>
                </a:r>
                <a:endParaRPr sz="1400">
                  <a:solidFill>
                    <a:srgbClr val="000000"/>
                  </a:solidFill>
                  <a:latin typeface="Arial"/>
                  <a:ea typeface="Arial"/>
                  <a:cs typeface="Arial"/>
                  <a:sym typeface="Arial"/>
                </a:endParaRPr>
              </a:p>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C</a:t>
                </a:r>
                <a:endParaRPr sz="1400">
                  <a:solidFill>
                    <a:srgbClr val="000000"/>
                  </a:solidFill>
                  <a:latin typeface="Arial"/>
                  <a:ea typeface="Arial"/>
                  <a:cs typeface="Arial"/>
                  <a:sym typeface="Arial"/>
                </a:endParaRPr>
              </a:p>
            </p:txBody>
          </p:sp>
          <p:sp>
            <p:nvSpPr>
              <p:cNvPr id="15256" name="Google Shape;15256;p99"/>
              <p:cNvSpPr/>
              <p:nvPr/>
            </p:nvSpPr>
            <p:spPr>
              <a:xfrm>
                <a:off x="924796" y="3460378"/>
                <a:ext cx="1292055" cy="1446307"/>
              </a:xfrm>
              <a:prstGeom prst="rect">
                <a:avLst/>
              </a:prstGeom>
              <a:noFill/>
              <a:ln w="9525" cap="flat" cmpd="sng">
                <a:solidFill>
                  <a:srgbClr val="E68C28"/>
                </a:solidFill>
                <a:prstDash val="dash"/>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sp>
          <p:nvSpPr>
            <p:cNvPr id="15257" name="Google Shape;15257;p99"/>
            <p:cNvSpPr txBox="1"/>
            <p:nvPr/>
          </p:nvSpPr>
          <p:spPr>
            <a:xfrm>
              <a:off x="2715893" y="3215590"/>
              <a:ext cx="1008289" cy="200055"/>
            </a:xfrm>
            <a:prstGeom prst="rect">
              <a:avLst/>
            </a:prstGeom>
            <a:noFill/>
            <a:ln>
              <a:noFill/>
            </a:ln>
          </p:spPr>
          <p:txBody>
            <a:bodyPr spcFirstLastPara="1" wrap="square" lIns="0" tIns="0" rIns="0" bIns="0" anchor="t" anchorCtr="0">
              <a:spAutoFit/>
            </a:bodyPr>
            <a:lstStyle/>
            <a:p>
              <a:pPr marL="0" marR="0" lvl="0" indent="0" algn="l" rtl="0">
                <a:lnSpc>
                  <a:spcPct val="130000"/>
                </a:lnSpc>
                <a:spcBef>
                  <a:spcPts val="0"/>
                </a:spcBef>
                <a:spcAft>
                  <a:spcPts val="0"/>
                </a:spcAft>
                <a:buNone/>
              </a:pPr>
              <a:r>
                <a:rPr lang="en-US" sz="1000">
                  <a:solidFill>
                    <a:srgbClr val="000000"/>
                  </a:solidFill>
                  <a:latin typeface="Arial"/>
                  <a:ea typeface="Arial"/>
                  <a:cs typeface="Arial"/>
                  <a:sym typeface="Arial"/>
                </a:rPr>
                <a:t>Service Provider</a:t>
              </a:r>
              <a:endParaRPr sz="1400">
                <a:solidFill>
                  <a:srgbClr val="000000"/>
                </a:solidFill>
                <a:latin typeface="Arial"/>
                <a:ea typeface="Arial"/>
                <a:cs typeface="Arial"/>
                <a:sym typeface="Arial"/>
              </a:endParaRPr>
            </a:p>
          </p:txBody>
        </p:sp>
        <p:sp>
          <p:nvSpPr>
            <p:cNvPr id="15258" name="Google Shape;15258;p99"/>
            <p:cNvSpPr/>
            <p:nvPr/>
          </p:nvSpPr>
          <p:spPr>
            <a:xfrm>
              <a:off x="2602951" y="3556001"/>
              <a:ext cx="328429" cy="875882"/>
            </a:xfrm>
            <a:prstGeom prst="rect">
              <a:avLst/>
            </a:prstGeom>
            <a:solidFill>
              <a:schemeClr val="accent4"/>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800">
                <a:solidFill>
                  <a:srgbClr val="FFFFFF"/>
                </a:solidFill>
                <a:latin typeface="Arial"/>
                <a:ea typeface="Arial"/>
                <a:cs typeface="Arial"/>
                <a:sym typeface="Arial"/>
              </a:endParaRPr>
            </a:p>
          </p:txBody>
        </p:sp>
        <p:sp>
          <p:nvSpPr>
            <p:cNvPr id="15259" name="Google Shape;15259;p99"/>
            <p:cNvSpPr/>
            <p:nvPr/>
          </p:nvSpPr>
          <p:spPr>
            <a:xfrm>
              <a:off x="3035058" y="3556001"/>
              <a:ext cx="328429" cy="875882"/>
            </a:xfrm>
            <a:prstGeom prst="rect">
              <a:avLst/>
            </a:prstGeom>
            <a:solidFill>
              <a:schemeClr val="accent4"/>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60" name="Google Shape;15260;p99"/>
            <p:cNvSpPr/>
            <p:nvPr/>
          </p:nvSpPr>
          <p:spPr>
            <a:xfrm>
              <a:off x="3467165" y="3556001"/>
              <a:ext cx="328429" cy="875882"/>
            </a:xfrm>
            <a:prstGeom prst="rect">
              <a:avLst/>
            </a:prstGeom>
            <a:solidFill>
              <a:schemeClr val="accent4"/>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61" name="Google Shape;15261;p99"/>
            <p:cNvSpPr txBox="1"/>
            <p:nvPr/>
          </p:nvSpPr>
          <p:spPr>
            <a:xfrm>
              <a:off x="2646938" y="3874741"/>
              <a:ext cx="240450" cy="240066"/>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Tenant</a:t>
              </a:r>
              <a:endParaRPr sz="1400">
                <a:solidFill>
                  <a:srgbClr val="000000"/>
                </a:solidFill>
                <a:latin typeface="Arial"/>
                <a:ea typeface="Arial"/>
                <a:cs typeface="Arial"/>
                <a:sym typeface="Arial"/>
              </a:endParaRPr>
            </a:p>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A</a:t>
              </a:r>
              <a:endParaRPr sz="1400">
                <a:solidFill>
                  <a:srgbClr val="000000"/>
                </a:solidFill>
                <a:latin typeface="Arial"/>
                <a:ea typeface="Arial"/>
                <a:cs typeface="Arial"/>
                <a:sym typeface="Arial"/>
              </a:endParaRPr>
            </a:p>
          </p:txBody>
        </p:sp>
        <p:sp>
          <p:nvSpPr>
            <p:cNvPr id="15262" name="Google Shape;15262;p99"/>
            <p:cNvSpPr txBox="1"/>
            <p:nvPr/>
          </p:nvSpPr>
          <p:spPr>
            <a:xfrm>
              <a:off x="3081993" y="3874740"/>
              <a:ext cx="240450" cy="240066"/>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Tenant</a:t>
              </a:r>
              <a:endParaRPr sz="1400">
                <a:solidFill>
                  <a:srgbClr val="000000"/>
                </a:solidFill>
                <a:latin typeface="Arial"/>
                <a:ea typeface="Arial"/>
                <a:cs typeface="Arial"/>
                <a:sym typeface="Arial"/>
              </a:endParaRPr>
            </a:p>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B</a:t>
              </a:r>
              <a:endParaRPr sz="1400">
                <a:solidFill>
                  <a:srgbClr val="000000"/>
                </a:solidFill>
                <a:latin typeface="Arial"/>
                <a:ea typeface="Arial"/>
                <a:cs typeface="Arial"/>
                <a:sym typeface="Arial"/>
              </a:endParaRPr>
            </a:p>
          </p:txBody>
        </p:sp>
        <p:sp>
          <p:nvSpPr>
            <p:cNvPr id="15263" name="Google Shape;15263;p99"/>
            <p:cNvSpPr txBox="1"/>
            <p:nvPr/>
          </p:nvSpPr>
          <p:spPr>
            <a:xfrm>
              <a:off x="3514153" y="3874740"/>
              <a:ext cx="240450" cy="240066"/>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Tenant</a:t>
              </a:r>
              <a:endParaRPr sz="1400">
                <a:solidFill>
                  <a:srgbClr val="000000"/>
                </a:solidFill>
                <a:latin typeface="Arial"/>
                <a:ea typeface="Arial"/>
                <a:cs typeface="Arial"/>
                <a:sym typeface="Arial"/>
              </a:endParaRPr>
            </a:p>
            <a:p>
              <a:pPr marL="0" marR="0" lvl="0" indent="0" algn="ctr" rtl="0">
                <a:lnSpc>
                  <a:spcPct val="130000"/>
                </a:lnSpc>
                <a:spcBef>
                  <a:spcPts val="0"/>
                </a:spcBef>
                <a:spcAft>
                  <a:spcPts val="0"/>
                </a:spcAft>
                <a:buNone/>
              </a:pPr>
              <a:r>
                <a:rPr lang="en-US" sz="600">
                  <a:solidFill>
                    <a:srgbClr val="FFFFFF"/>
                  </a:solidFill>
                  <a:latin typeface="Arial"/>
                  <a:ea typeface="Arial"/>
                  <a:cs typeface="Arial"/>
                  <a:sym typeface="Arial"/>
                </a:rPr>
                <a:t>C</a:t>
              </a:r>
              <a:endParaRPr sz="1400">
                <a:solidFill>
                  <a:srgbClr val="000000"/>
                </a:solidFill>
                <a:latin typeface="Arial"/>
                <a:ea typeface="Arial"/>
                <a:cs typeface="Arial"/>
                <a:sym typeface="Arial"/>
              </a:endParaRPr>
            </a:p>
          </p:txBody>
        </p:sp>
        <p:sp>
          <p:nvSpPr>
            <p:cNvPr id="15264" name="Google Shape;15264;p99"/>
            <p:cNvSpPr/>
            <p:nvPr/>
          </p:nvSpPr>
          <p:spPr>
            <a:xfrm>
              <a:off x="2563906" y="3466356"/>
              <a:ext cx="386559" cy="1009024"/>
            </a:xfrm>
            <a:prstGeom prst="rect">
              <a:avLst/>
            </a:prstGeom>
            <a:noFill/>
            <a:ln w="9525" cap="flat" cmpd="sng">
              <a:solidFill>
                <a:srgbClr val="E68C28"/>
              </a:solidFill>
              <a:prstDash val="dash"/>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65" name="Google Shape;15265;p99"/>
            <p:cNvSpPr/>
            <p:nvPr/>
          </p:nvSpPr>
          <p:spPr>
            <a:xfrm>
              <a:off x="2991544" y="3469350"/>
              <a:ext cx="410143" cy="1009024"/>
            </a:xfrm>
            <a:prstGeom prst="rect">
              <a:avLst/>
            </a:prstGeom>
            <a:noFill/>
            <a:ln w="9525" cap="flat" cmpd="sng">
              <a:solidFill>
                <a:srgbClr val="E68C28"/>
              </a:solidFill>
              <a:prstDash val="dash"/>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66" name="Google Shape;15266;p99"/>
            <p:cNvSpPr/>
            <p:nvPr/>
          </p:nvSpPr>
          <p:spPr>
            <a:xfrm>
              <a:off x="3442767" y="3472342"/>
              <a:ext cx="394128" cy="1009024"/>
            </a:xfrm>
            <a:prstGeom prst="rect">
              <a:avLst/>
            </a:prstGeom>
            <a:noFill/>
            <a:ln w="9525" cap="flat" cmpd="sng">
              <a:solidFill>
                <a:srgbClr val="E68C28"/>
              </a:solidFill>
              <a:prstDash val="dash"/>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sp>
        <p:nvSpPr>
          <p:cNvPr id="15267" name="Google Shape;15267;p99"/>
          <p:cNvSpPr/>
          <p:nvPr/>
        </p:nvSpPr>
        <p:spPr>
          <a:xfrm>
            <a:off x="595347" y="4260969"/>
            <a:ext cx="1657231" cy="1384783"/>
          </a:xfrm>
          <a:prstGeom prst="rect">
            <a:avLst/>
          </a:prstGeom>
          <a:noFill/>
          <a:ln>
            <a:noFill/>
          </a:ln>
        </p:spPr>
        <p:txBody>
          <a:bodyPr spcFirstLastPara="1" wrap="square" lIns="91350" tIns="45650" rIns="91350" bIns="45650" anchor="t" anchorCtr="0">
            <a:noAutofit/>
          </a:bodyPr>
          <a:lstStyle/>
          <a:p>
            <a:pPr marL="171297" marR="0" lvl="0" indent="-171297" algn="l" rtl="0">
              <a:spcBef>
                <a:spcPts val="0"/>
              </a:spcBef>
              <a:spcAft>
                <a:spcPts val="0"/>
              </a:spcAft>
              <a:buClr>
                <a:srgbClr val="000000"/>
              </a:buClr>
              <a:buSzPts val="900"/>
              <a:buFont typeface="Arial"/>
              <a:buChar char="•"/>
            </a:pPr>
            <a:r>
              <a:rPr lang="en-US" sz="900">
                <a:solidFill>
                  <a:srgbClr val="000000"/>
                </a:solidFill>
                <a:latin typeface="Arial"/>
                <a:ea typeface="Arial"/>
                <a:cs typeface="Arial"/>
                <a:sym typeface="Arial"/>
              </a:rPr>
              <a:t>No infrastructure isolation</a:t>
            </a:r>
            <a:endParaRPr sz="1400">
              <a:solidFill>
                <a:srgbClr val="000000"/>
              </a:solidFill>
              <a:latin typeface="Arial"/>
              <a:ea typeface="Arial"/>
              <a:cs typeface="Arial"/>
              <a:sym typeface="Arial"/>
            </a:endParaRPr>
          </a:p>
          <a:p>
            <a:pPr marL="171297" marR="0" lvl="0" indent="-171297" algn="l" rtl="0">
              <a:spcBef>
                <a:spcPts val="600"/>
              </a:spcBef>
              <a:spcAft>
                <a:spcPts val="0"/>
              </a:spcAft>
              <a:buClr>
                <a:srgbClr val="000000"/>
              </a:buClr>
              <a:buSzPts val="900"/>
              <a:buFont typeface="Arial"/>
              <a:buChar char="•"/>
            </a:pPr>
            <a:r>
              <a:rPr lang="en-US" sz="900">
                <a:solidFill>
                  <a:srgbClr val="000000"/>
                </a:solidFill>
                <a:latin typeface="Arial"/>
                <a:ea typeface="Arial"/>
                <a:cs typeface="Arial"/>
                <a:sym typeface="Arial"/>
              </a:rPr>
              <a:t>Infrastructure is divided </a:t>
            </a:r>
            <a:br>
              <a:rPr lang="en-US" sz="900">
                <a:solidFill>
                  <a:srgbClr val="000000"/>
                </a:solidFill>
                <a:latin typeface="Arial"/>
                <a:ea typeface="Arial"/>
                <a:cs typeface="Arial"/>
                <a:sym typeface="Arial"/>
              </a:rPr>
            </a:br>
            <a:r>
              <a:rPr lang="en-US" sz="900">
                <a:solidFill>
                  <a:srgbClr val="000000"/>
                </a:solidFill>
                <a:latin typeface="Arial"/>
                <a:ea typeface="Arial"/>
                <a:cs typeface="Arial"/>
                <a:sym typeface="Arial"/>
              </a:rPr>
              <a:t>by identity access management</a:t>
            </a:r>
            <a:endParaRPr sz="1400">
              <a:solidFill>
                <a:srgbClr val="000000"/>
              </a:solidFill>
              <a:latin typeface="Arial"/>
              <a:ea typeface="Arial"/>
              <a:cs typeface="Arial"/>
              <a:sym typeface="Arial"/>
            </a:endParaRPr>
          </a:p>
        </p:txBody>
      </p:sp>
      <p:sp>
        <p:nvSpPr>
          <p:cNvPr id="15268" name="Google Shape;15268;p99"/>
          <p:cNvSpPr/>
          <p:nvPr/>
        </p:nvSpPr>
        <p:spPr>
          <a:xfrm>
            <a:off x="2186238" y="4246610"/>
            <a:ext cx="1783050" cy="1798758"/>
          </a:xfrm>
          <a:prstGeom prst="rect">
            <a:avLst/>
          </a:prstGeom>
          <a:solidFill>
            <a:schemeClr val="lt1"/>
          </a:solidFill>
          <a:ln>
            <a:noFill/>
          </a:ln>
        </p:spPr>
        <p:txBody>
          <a:bodyPr spcFirstLastPara="1" wrap="square" lIns="91350" tIns="45650" rIns="91350" bIns="45650" anchor="t" anchorCtr="0">
            <a:noAutofit/>
          </a:bodyPr>
          <a:lstStyle/>
          <a:p>
            <a:pPr marL="171297" marR="0" lvl="0" indent="-171297" algn="l" rtl="0">
              <a:spcBef>
                <a:spcPts val="0"/>
              </a:spcBef>
              <a:spcAft>
                <a:spcPts val="0"/>
              </a:spcAft>
              <a:buClr>
                <a:srgbClr val="000000"/>
              </a:buClr>
              <a:buSzPts val="900"/>
              <a:buFont typeface="Arial"/>
              <a:buChar char="•"/>
            </a:pPr>
            <a:r>
              <a:rPr lang="en-US" sz="900">
                <a:solidFill>
                  <a:srgbClr val="000000"/>
                </a:solidFill>
                <a:latin typeface="Arial"/>
                <a:ea typeface="Arial"/>
                <a:cs typeface="Arial"/>
                <a:sym typeface="Arial"/>
              </a:rPr>
              <a:t>Infrastructure isolation</a:t>
            </a:r>
            <a:endParaRPr sz="900">
              <a:solidFill>
                <a:srgbClr val="000000"/>
              </a:solidFill>
              <a:latin typeface="Arial"/>
              <a:ea typeface="Arial"/>
              <a:cs typeface="Arial"/>
              <a:sym typeface="Arial"/>
            </a:endParaRPr>
          </a:p>
          <a:p>
            <a:pPr marL="171297" marR="0" lvl="0" indent="-171297" algn="l" rtl="0">
              <a:spcBef>
                <a:spcPts val="600"/>
              </a:spcBef>
              <a:spcAft>
                <a:spcPts val="0"/>
              </a:spcAft>
              <a:buClr>
                <a:srgbClr val="000000"/>
              </a:buClr>
              <a:buSzPts val="900"/>
              <a:buFont typeface="Arial"/>
              <a:buChar char="•"/>
            </a:pPr>
            <a:r>
              <a:rPr lang="en-US" sz="900">
                <a:solidFill>
                  <a:srgbClr val="000000"/>
                </a:solidFill>
                <a:latin typeface="Arial"/>
                <a:ea typeface="Arial"/>
                <a:cs typeface="Arial"/>
                <a:sym typeface="Arial"/>
              </a:rPr>
              <a:t>Isolated resource pool created in cluster (eg: GPU)</a:t>
            </a:r>
            <a:endParaRPr sz="1400">
              <a:solidFill>
                <a:srgbClr val="000000"/>
              </a:solidFill>
              <a:latin typeface="Arial"/>
              <a:ea typeface="Arial"/>
              <a:cs typeface="Arial"/>
              <a:sym typeface="Arial"/>
            </a:endParaRPr>
          </a:p>
          <a:p>
            <a:pPr marL="171297" marR="0" lvl="0" indent="-171297" algn="l" rtl="0">
              <a:spcBef>
                <a:spcPts val="600"/>
              </a:spcBef>
              <a:spcAft>
                <a:spcPts val="0"/>
              </a:spcAft>
              <a:buClr>
                <a:srgbClr val="000000"/>
              </a:buClr>
              <a:buSzPts val="900"/>
              <a:buFont typeface="Arial"/>
              <a:buChar char="•"/>
            </a:pPr>
            <a:r>
              <a:rPr lang="en-US" sz="900">
                <a:solidFill>
                  <a:srgbClr val="000000"/>
                </a:solidFill>
                <a:latin typeface="Arial"/>
                <a:ea typeface="Arial"/>
                <a:cs typeface="Arial"/>
                <a:sym typeface="Arial"/>
              </a:rPr>
              <a:t>Can set allocations</a:t>
            </a:r>
            <a:endParaRPr sz="1400">
              <a:solidFill>
                <a:srgbClr val="000000"/>
              </a:solidFill>
              <a:latin typeface="Arial"/>
              <a:ea typeface="Arial"/>
              <a:cs typeface="Arial"/>
              <a:sym typeface="Arial"/>
            </a:endParaRPr>
          </a:p>
          <a:p>
            <a:pPr marL="171297" marR="0" lvl="0" indent="-171297" algn="l" rtl="0">
              <a:spcBef>
                <a:spcPts val="600"/>
              </a:spcBef>
              <a:spcAft>
                <a:spcPts val="0"/>
              </a:spcAft>
              <a:buClr>
                <a:srgbClr val="000000"/>
              </a:buClr>
              <a:buSzPts val="900"/>
              <a:buFont typeface="Arial"/>
              <a:buChar char="•"/>
            </a:pPr>
            <a:r>
              <a:rPr lang="en-US" sz="900">
                <a:solidFill>
                  <a:srgbClr val="000000"/>
                </a:solidFill>
                <a:latin typeface="Arial"/>
                <a:ea typeface="Arial"/>
                <a:cs typeface="Arial"/>
                <a:sym typeface="Arial"/>
              </a:rPr>
              <a:t>No sharing of vCenter across Orgs</a:t>
            </a:r>
            <a:endParaRPr sz="900">
              <a:solidFill>
                <a:srgbClr val="000000"/>
              </a:solidFill>
              <a:latin typeface="Arial"/>
              <a:ea typeface="Arial"/>
              <a:cs typeface="Arial"/>
              <a:sym typeface="Arial"/>
            </a:endParaRPr>
          </a:p>
          <a:p>
            <a:pPr marL="171297" marR="0" lvl="0" indent="-171297" algn="l" rtl="0">
              <a:spcBef>
                <a:spcPts val="600"/>
              </a:spcBef>
              <a:spcAft>
                <a:spcPts val="0"/>
              </a:spcAft>
              <a:buClr>
                <a:srgbClr val="000000"/>
              </a:buClr>
              <a:buSzPts val="900"/>
              <a:buFont typeface="Arial"/>
              <a:buChar char="•"/>
            </a:pPr>
            <a:r>
              <a:rPr lang="en-US" sz="900">
                <a:solidFill>
                  <a:srgbClr val="000000"/>
                </a:solidFill>
                <a:latin typeface="Arial"/>
                <a:ea typeface="Arial"/>
                <a:cs typeface="Arial"/>
                <a:sym typeface="Arial"/>
              </a:rPr>
              <a:t>Costing (chargeback)</a:t>
            </a:r>
            <a:endParaRPr sz="900">
              <a:solidFill>
                <a:srgbClr val="000000"/>
              </a:solidFill>
              <a:latin typeface="Arial"/>
              <a:ea typeface="Arial"/>
              <a:cs typeface="Arial"/>
              <a:sym typeface="Arial"/>
            </a:endParaRPr>
          </a:p>
          <a:p>
            <a:pPr marL="171297" marR="0" lvl="0" indent="-171297" algn="l" rtl="0">
              <a:spcBef>
                <a:spcPts val="600"/>
              </a:spcBef>
              <a:spcAft>
                <a:spcPts val="0"/>
              </a:spcAft>
              <a:buClr>
                <a:srgbClr val="000000"/>
              </a:buClr>
              <a:buSzPts val="900"/>
              <a:buFont typeface="Arial"/>
              <a:buChar char="•"/>
            </a:pPr>
            <a:r>
              <a:rPr lang="en-US" sz="900">
                <a:solidFill>
                  <a:srgbClr val="000000"/>
                </a:solidFill>
                <a:latin typeface="Arial"/>
                <a:ea typeface="Arial"/>
                <a:cs typeface="Arial"/>
                <a:sym typeface="Arial"/>
              </a:rPr>
              <a:t>Dev/test/prod environments</a:t>
            </a:r>
            <a:endParaRPr sz="900">
              <a:solidFill>
                <a:srgbClr val="000000"/>
              </a:solidFill>
              <a:latin typeface="Arial"/>
              <a:ea typeface="Arial"/>
              <a:cs typeface="Arial"/>
              <a:sym typeface="Arial"/>
            </a:endParaRPr>
          </a:p>
        </p:txBody>
      </p:sp>
      <p:grpSp>
        <p:nvGrpSpPr>
          <p:cNvPr id="15269" name="Google Shape;15269;p99"/>
          <p:cNvGrpSpPr/>
          <p:nvPr/>
        </p:nvGrpSpPr>
        <p:grpSpPr>
          <a:xfrm>
            <a:off x="8254310" y="4515833"/>
            <a:ext cx="3246741" cy="1337631"/>
            <a:chOff x="8581754" y="3352943"/>
            <a:chExt cx="3249279" cy="1338677"/>
          </a:xfrm>
        </p:grpSpPr>
        <p:pic>
          <p:nvPicPr>
            <p:cNvPr id="15270" name="Google Shape;15270;p99"/>
            <p:cNvPicPr preferRelativeResize="0"/>
            <p:nvPr/>
          </p:nvPicPr>
          <p:blipFill rotWithShape="1">
            <a:blip r:embed="rId3">
              <a:alphaModFix/>
            </a:blip>
            <a:srcRect/>
            <a:stretch/>
          </p:blipFill>
          <p:spPr>
            <a:xfrm>
              <a:off x="10460493" y="3442906"/>
              <a:ext cx="1271016" cy="1024128"/>
            </a:xfrm>
            <a:prstGeom prst="rect">
              <a:avLst/>
            </a:prstGeom>
            <a:noFill/>
            <a:ln>
              <a:noFill/>
            </a:ln>
          </p:spPr>
        </p:pic>
        <p:pic>
          <p:nvPicPr>
            <p:cNvPr id="15271" name="Google Shape;15271;p99"/>
            <p:cNvPicPr preferRelativeResize="0"/>
            <p:nvPr/>
          </p:nvPicPr>
          <p:blipFill rotWithShape="1">
            <a:blip r:embed="rId4">
              <a:alphaModFix/>
            </a:blip>
            <a:srcRect/>
            <a:stretch/>
          </p:blipFill>
          <p:spPr>
            <a:xfrm>
              <a:off x="8660303" y="3442906"/>
              <a:ext cx="1271016" cy="1024128"/>
            </a:xfrm>
            <a:prstGeom prst="rect">
              <a:avLst/>
            </a:prstGeom>
            <a:noFill/>
            <a:ln>
              <a:noFill/>
            </a:ln>
          </p:spPr>
        </p:pic>
        <p:sp>
          <p:nvSpPr>
            <p:cNvPr id="15272" name="Google Shape;15272;p99"/>
            <p:cNvSpPr txBox="1"/>
            <p:nvPr/>
          </p:nvSpPr>
          <p:spPr>
            <a:xfrm>
              <a:off x="9087687" y="4479978"/>
              <a:ext cx="2224968" cy="180049"/>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900">
                  <a:solidFill>
                    <a:srgbClr val="0193C2"/>
                  </a:solidFill>
                  <a:latin typeface="Arial"/>
                  <a:ea typeface="Arial"/>
                  <a:cs typeface="Arial"/>
                  <a:sym typeface="Arial"/>
                </a:rPr>
                <a:t>Curated Catalog(s) based on IaC blueprints</a:t>
              </a:r>
              <a:endParaRPr sz="1400">
                <a:solidFill>
                  <a:srgbClr val="000000"/>
                </a:solidFill>
                <a:latin typeface="Arial"/>
                <a:ea typeface="Arial"/>
                <a:cs typeface="Arial"/>
                <a:sym typeface="Arial"/>
              </a:endParaRPr>
            </a:p>
          </p:txBody>
        </p:sp>
        <p:sp>
          <p:nvSpPr>
            <p:cNvPr id="15273" name="Google Shape;15273;p99"/>
            <p:cNvSpPr/>
            <p:nvPr/>
          </p:nvSpPr>
          <p:spPr>
            <a:xfrm>
              <a:off x="8581754" y="3352943"/>
              <a:ext cx="3249279" cy="1338677"/>
            </a:xfrm>
            <a:prstGeom prst="roundRect">
              <a:avLst>
                <a:gd name="adj" fmla="val 12787"/>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cxnSp>
          <p:nvCxnSpPr>
            <p:cNvPr id="15274" name="Google Shape;15274;p99"/>
            <p:cNvCxnSpPr/>
            <p:nvPr/>
          </p:nvCxnSpPr>
          <p:spPr>
            <a:xfrm>
              <a:off x="10013026" y="3954970"/>
              <a:ext cx="365760" cy="0"/>
            </a:xfrm>
            <a:prstGeom prst="straightConnector1">
              <a:avLst/>
            </a:prstGeom>
            <a:solidFill>
              <a:schemeClr val="accent3"/>
            </a:solidFill>
            <a:ln w="25400" cap="flat" cmpd="sng">
              <a:solidFill>
                <a:schemeClr val="accent3"/>
              </a:solidFill>
              <a:prstDash val="solid"/>
              <a:miter lim="800000"/>
              <a:headEnd type="none" w="sm" len="sm"/>
              <a:tailEnd type="triangle" w="med" len="med"/>
            </a:ln>
          </p:spPr>
        </p:cxnSp>
      </p:grpSp>
      <p:sp>
        <p:nvSpPr>
          <p:cNvPr id="15275" name="Google Shape;15275;p99"/>
          <p:cNvSpPr txBox="1"/>
          <p:nvPr/>
        </p:nvSpPr>
        <p:spPr>
          <a:xfrm>
            <a:off x="8921916" y="4286358"/>
            <a:ext cx="1933313" cy="199899"/>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1000" b="1">
                <a:solidFill>
                  <a:srgbClr val="000000"/>
                </a:solidFill>
                <a:latin typeface="Arial"/>
                <a:ea typeface="Arial"/>
                <a:cs typeface="Arial"/>
                <a:sym typeface="Arial"/>
              </a:rPr>
              <a:t>Self-Service Catalog experience</a:t>
            </a:r>
            <a:endParaRPr sz="1400">
              <a:solidFill>
                <a:srgbClr val="000000"/>
              </a:solidFill>
              <a:latin typeface="Arial"/>
              <a:ea typeface="Arial"/>
              <a:cs typeface="Arial"/>
              <a:sym typeface="Arial"/>
            </a:endParaRPr>
          </a:p>
        </p:txBody>
      </p:sp>
      <p:sp>
        <p:nvSpPr>
          <p:cNvPr id="15276" name="Google Shape;15276;p99"/>
          <p:cNvSpPr/>
          <p:nvPr/>
        </p:nvSpPr>
        <p:spPr>
          <a:xfrm>
            <a:off x="8253341" y="2744099"/>
            <a:ext cx="3246741" cy="1337631"/>
          </a:xfrm>
          <a:prstGeom prst="roundRect">
            <a:avLst>
              <a:gd name="adj" fmla="val 12787"/>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sp>
        <p:nvSpPr>
          <p:cNvPr id="15277" name="Google Shape;15277;p99"/>
          <p:cNvSpPr txBox="1"/>
          <p:nvPr/>
        </p:nvSpPr>
        <p:spPr>
          <a:xfrm>
            <a:off x="8838973" y="3870259"/>
            <a:ext cx="2063055" cy="179908"/>
          </a:xfrm>
          <a:prstGeom prst="rect">
            <a:avLst/>
          </a:prstGeom>
          <a:noFill/>
          <a:ln>
            <a:noFill/>
          </a:ln>
        </p:spPr>
        <p:txBody>
          <a:bodyPr spcFirstLastPara="1" wrap="square" lIns="0" tIns="0" rIns="0" bIns="0" anchor="t" anchorCtr="0">
            <a:spAutoFit/>
          </a:bodyPr>
          <a:lstStyle/>
          <a:p>
            <a:pPr marL="0" marR="0" lvl="0" indent="0" algn="ctr" rtl="0">
              <a:lnSpc>
                <a:spcPct val="130000"/>
              </a:lnSpc>
              <a:spcBef>
                <a:spcPts val="0"/>
              </a:spcBef>
              <a:spcAft>
                <a:spcPts val="0"/>
              </a:spcAft>
              <a:buNone/>
            </a:pPr>
            <a:r>
              <a:rPr lang="en-US" sz="900">
                <a:solidFill>
                  <a:srgbClr val="6C4B94"/>
                </a:solidFill>
                <a:latin typeface="Arial"/>
                <a:ea typeface="Arial"/>
                <a:cs typeface="Arial"/>
                <a:sym typeface="Arial"/>
              </a:rPr>
              <a:t>Self-Service IaaS with K8s CLI / UI / API</a:t>
            </a:r>
            <a:endParaRPr sz="1400">
              <a:solidFill>
                <a:srgbClr val="000000"/>
              </a:solidFill>
              <a:latin typeface="Arial"/>
              <a:ea typeface="Arial"/>
              <a:cs typeface="Arial"/>
              <a:sym typeface="Arial"/>
            </a:endParaRPr>
          </a:p>
        </p:txBody>
      </p:sp>
      <p:cxnSp>
        <p:nvCxnSpPr>
          <p:cNvPr id="15278" name="Google Shape;15278;p99"/>
          <p:cNvCxnSpPr/>
          <p:nvPr/>
        </p:nvCxnSpPr>
        <p:spPr>
          <a:xfrm>
            <a:off x="9684389" y="3343273"/>
            <a:ext cx="365475" cy="0"/>
          </a:xfrm>
          <a:prstGeom prst="straightConnector1">
            <a:avLst/>
          </a:prstGeom>
          <a:solidFill>
            <a:schemeClr val="accent5"/>
          </a:solidFill>
          <a:ln w="25400" cap="flat" cmpd="sng">
            <a:solidFill>
              <a:schemeClr val="accent5"/>
            </a:solidFill>
            <a:prstDash val="solid"/>
            <a:miter lim="800000"/>
            <a:headEnd type="none" w="sm" len="sm"/>
            <a:tailEnd type="triangle" w="med" len="med"/>
          </a:ln>
        </p:spPr>
      </p:cxnSp>
      <p:grpSp>
        <p:nvGrpSpPr>
          <p:cNvPr id="15279" name="Google Shape;15279;p99"/>
          <p:cNvGrpSpPr/>
          <p:nvPr/>
        </p:nvGrpSpPr>
        <p:grpSpPr>
          <a:xfrm>
            <a:off x="8332794" y="2833890"/>
            <a:ext cx="1269881" cy="1018770"/>
            <a:chOff x="9011351" y="838818"/>
            <a:chExt cx="1270874" cy="1019566"/>
          </a:xfrm>
        </p:grpSpPr>
        <p:grpSp>
          <p:nvGrpSpPr>
            <p:cNvPr id="15280" name="Google Shape;15280;p99"/>
            <p:cNvGrpSpPr/>
            <p:nvPr/>
          </p:nvGrpSpPr>
          <p:grpSpPr>
            <a:xfrm>
              <a:off x="9011351" y="838818"/>
              <a:ext cx="1270874" cy="1019566"/>
              <a:chOff x="9011351" y="838818"/>
              <a:chExt cx="1270874" cy="1019566"/>
            </a:xfrm>
          </p:grpSpPr>
          <p:pic>
            <p:nvPicPr>
              <p:cNvPr id="15281" name="Google Shape;15281;p99"/>
              <p:cNvPicPr preferRelativeResize="0"/>
              <p:nvPr/>
            </p:nvPicPr>
            <p:blipFill rotWithShape="1">
              <a:blip r:embed="rId5">
                <a:alphaModFix/>
              </a:blip>
              <a:srcRect/>
              <a:stretch/>
            </p:blipFill>
            <p:spPr>
              <a:xfrm>
                <a:off x="9011351" y="838818"/>
                <a:ext cx="1270874" cy="1019566"/>
              </a:xfrm>
              <a:prstGeom prst="rect">
                <a:avLst/>
              </a:prstGeom>
              <a:noFill/>
              <a:ln>
                <a:noFill/>
              </a:ln>
            </p:spPr>
          </p:pic>
          <p:sp>
            <p:nvSpPr>
              <p:cNvPr id="15282" name="Google Shape;15282;p99"/>
              <p:cNvSpPr/>
              <p:nvPr/>
            </p:nvSpPr>
            <p:spPr>
              <a:xfrm>
                <a:off x="9102271" y="874486"/>
                <a:ext cx="1084943" cy="600824"/>
              </a:xfrm>
              <a:prstGeom prst="rect">
                <a:avLst/>
              </a:prstGeom>
              <a:solidFill>
                <a:schemeClr val="lt1"/>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grpSp>
          <p:nvGrpSpPr>
            <p:cNvPr id="15283" name="Google Shape;15283;p99"/>
            <p:cNvGrpSpPr/>
            <p:nvPr/>
          </p:nvGrpSpPr>
          <p:grpSpPr>
            <a:xfrm>
              <a:off x="9080833" y="881929"/>
              <a:ext cx="1131446" cy="595092"/>
              <a:chOff x="11131057" y="5974799"/>
              <a:chExt cx="1131446" cy="595092"/>
            </a:xfrm>
          </p:grpSpPr>
          <p:sp>
            <p:nvSpPr>
              <p:cNvPr id="15284" name="Google Shape;15284;p99"/>
              <p:cNvSpPr/>
              <p:nvPr/>
            </p:nvSpPr>
            <p:spPr>
              <a:xfrm>
                <a:off x="11131928" y="5974799"/>
                <a:ext cx="1129922" cy="102170"/>
              </a:xfrm>
              <a:prstGeom prst="roundRect">
                <a:avLst>
                  <a:gd name="adj" fmla="val 16667"/>
                </a:avLst>
              </a:prstGeom>
              <a:no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600">
                    <a:solidFill>
                      <a:srgbClr val="6C4B94"/>
                    </a:solidFill>
                    <a:latin typeface="Arial"/>
                    <a:ea typeface="Arial"/>
                    <a:cs typeface="Arial"/>
                    <a:sym typeface="Arial"/>
                  </a:rPr>
                  <a:t>VM Service</a:t>
                </a:r>
                <a:endParaRPr sz="1400">
                  <a:solidFill>
                    <a:srgbClr val="000000"/>
                  </a:solidFill>
                  <a:latin typeface="Arial"/>
                  <a:ea typeface="Arial"/>
                  <a:cs typeface="Arial"/>
                  <a:sym typeface="Arial"/>
                </a:endParaRPr>
              </a:p>
            </p:txBody>
          </p:sp>
          <p:sp>
            <p:nvSpPr>
              <p:cNvPr id="15285" name="Google Shape;15285;p99"/>
              <p:cNvSpPr/>
              <p:nvPr/>
            </p:nvSpPr>
            <p:spPr>
              <a:xfrm>
                <a:off x="11131057" y="6095460"/>
                <a:ext cx="1131446" cy="102170"/>
              </a:xfrm>
              <a:prstGeom prst="roundRect">
                <a:avLst>
                  <a:gd name="adj" fmla="val 16667"/>
                </a:avLst>
              </a:prstGeom>
              <a:no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600">
                    <a:solidFill>
                      <a:srgbClr val="6C4B94"/>
                    </a:solidFill>
                    <a:latin typeface="Arial"/>
                    <a:ea typeface="Arial"/>
                    <a:cs typeface="Arial"/>
                    <a:sym typeface="Arial"/>
                  </a:rPr>
                  <a:t>VKS Service</a:t>
                </a:r>
                <a:endParaRPr sz="1400">
                  <a:solidFill>
                    <a:srgbClr val="000000"/>
                  </a:solidFill>
                  <a:latin typeface="Arial"/>
                  <a:ea typeface="Arial"/>
                  <a:cs typeface="Arial"/>
                  <a:sym typeface="Arial"/>
                </a:endParaRPr>
              </a:p>
            </p:txBody>
          </p:sp>
          <p:sp>
            <p:nvSpPr>
              <p:cNvPr id="15286" name="Google Shape;15286;p99"/>
              <p:cNvSpPr/>
              <p:nvPr/>
            </p:nvSpPr>
            <p:spPr>
              <a:xfrm>
                <a:off x="11131057" y="6218437"/>
                <a:ext cx="1131446" cy="102170"/>
              </a:xfrm>
              <a:prstGeom prst="roundRect">
                <a:avLst>
                  <a:gd name="adj" fmla="val 16667"/>
                </a:avLst>
              </a:prstGeom>
              <a:no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600">
                    <a:solidFill>
                      <a:srgbClr val="6C4B94"/>
                    </a:solidFill>
                    <a:latin typeface="Arial"/>
                    <a:ea typeface="Arial"/>
                    <a:cs typeface="Arial"/>
                    <a:sym typeface="Arial"/>
                  </a:rPr>
                  <a:t>Network Service</a:t>
                </a:r>
                <a:endParaRPr sz="1400">
                  <a:solidFill>
                    <a:srgbClr val="000000"/>
                  </a:solidFill>
                  <a:latin typeface="Arial"/>
                  <a:ea typeface="Arial"/>
                  <a:cs typeface="Arial"/>
                  <a:sym typeface="Arial"/>
                </a:endParaRPr>
              </a:p>
            </p:txBody>
          </p:sp>
          <p:sp>
            <p:nvSpPr>
              <p:cNvPr id="15287" name="Google Shape;15287;p99"/>
              <p:cNvSpPr/>
              <p:nvPr/>
            </p:nvSpPr>
            <p:spPr>
              <a:xfrm>
                <a:off x="11131057" y="6343079"/>
                <a:ext cx="1131446" cy="102170"/>
              </a:xfrm>
              <a:prstGeom prst="roundRect">
                <a:avLst>
                  <a:gd name="adj" fmla="val 16667"/>
                </a:avLst>
              </a:prstGeom>
              <a:no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600">
                    <a:solidFill>
                      <a:srgbClr val="6C4B94"/>
                    </a:solidFill>
                    <a:latin typeface="Arial"/>
                    <a:ea typeface="Arial"/>
                    <a:cs typeface="Arial"/>
                    <a:sym typeface="Arial"/>
                  </a:rPr>
                  <a:t>Volume Service</a:t>
                </a:r>
                <a:endParaRPr sz="1400">
                  <a:solidFill>
                    <a:srgbClr val="000000"/>
                  </a:solidFill>
                  <a:latin typeface="Arial"/>
                  <a:ea typeface="Arial"/>
                  <a:cs typeface="Arial"/>
                  <a:sym typeface="Arial"/>
                </a:endParaRPr>
              </a:p>
            </p:txBody>
          </p:sp>
          <p:sp>
            <p:nvSpPr>
              <p:cNvPr id="15288" name="Google Shape;15288;p99"/>
              <p:cNvSpPr/>
              <p:nvPr/>
            </p:nvSpPr>
            <p:spPr>
              <a:xfrm>
                <a:off x="11131057" y="6467721"/>
                <a:ext cx="1130793" cy="102170"/>
              </a:xfrm>
              <a:prstGeom prst="roundRect">
                <a:avLst>
                  <a:gd name="adj" fmla="val 16667"/>
                </a:avLst>
              </a:prstGeom>
              <a:no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600">
                    <a:solidFill>
                      <a:srgbClr val="6C4B94"/>
                    </a:solidFill>
                    <a:latin typeface="Arial"/>
                    <a:ea typeface="Arial"/>
                    <a:cs typeface="Arial"/>
                    <a:sym typeface="Arial"/>
                  </a:rPr>
                  <a:t>Cloud Services</a:t>
                </a:r>
                <a:endParaRPr sz="1400">
                  <a:solidFill>
                    <a:srgbClr val="000000"/>
                  </a:solidFill>
                  <a:latin typeface="Arial"/>
                  <a:ea typeface="Arial"/>
                  <a:cs typeface="Arial"/>
                  <a:sym typeface="Arial"/>
                </a:endParaRPr>
              </a:p>
            </p:txBody>
          </p:sp>
        </p:grpSp>
      </p:grpSp>
      <p:sp>
        <p:nvSpPr>
          <p:cNvPr id="15289" name="Google Shape;15289;p99"/>
          <p:cNvSpPr txBox="1"/>
          <p:nvPr/>
        </p:nvSpPr>
        <p:spPr>
          <a:xfrm>
            <a:off x="8974773" y="2395882"/>
            <a:ext cx="1827599" cy="322913"/>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050" b="1">
                <a:solidFill>
                  <a:srgbClr val="000000"/>
                </a:solidFill>
                <a:latin typeface="Arial"/>
                <a:ea typeface="Arial"/>
                <a:cs typeface="Arial"/>
                <a:sym typeface="Arial"/>
              </a:rPr>
              <a:t>Self-Service IaaS experience</a:t>
            </a:r>
            <a:br>
              <a:rPr lang="en-US" sz="1050" b="1">
                <a:solidFill>
                  <a:srgbClr val="000000"/>
                </a:solidFill>
                <a:latin typeface="Arial"/>
                <a:ea typeface="Arial"/>
                <a:cs typeface="Arial"/>
                <a:sym typeface="Arial"/>
              </a:rPr>
            </a:br>
            <a:r>
              <a:rPr lang="en-US" sz="1050" b="1">
                <a:solidFill>
                  <a:srgbClr val="000000"/>
                </a:solidFill>
                <a:latin typeface="Arial"/>
                <a:ea typeface="Arial"/>
                <a:cs typeface="Arial"/>
                <a:sym typeface="Arial"/>
              </a:rPr>
              <a:t>(public cloud-like)</a:t>
            </a:r>
            <a:endParaRPr sz="1400">
              <a:solidFill>
                <a:srgbClr val="000000"/>
              </a:solidFill>
              <a:latin typeface="Arial"/>
              <a:ea typeface="Arial"/>
              <a:cs typeface="Arial"/>
              <a:sym typeface="Arial"/>
            </a:endParaRPr>
          </a:p>
        </p:txBody>
      </p:sp>
      <p:grpSp>
        <p:nvGrpSpPr>
          <p:cNvPr id="15290" name="Google Shape;15290;p99"/>
          <p:cNvGrpSpPr/>
          <p:nvPr/>
        </p:nvGrpSpPr>
        <p:grpSpPr>
          <a:xfrm>
            <a:off x="4412141" y="2384369"/>
            <a:ext cx="3234189" cy="2582080"/>
            <a:chOff x="4492265" y="2765692"/>
            <a:chExt cx="3538468" cy="2584099"/>
          </a:xfrm>
        </p:grpSpPr>
        <p:sp>
          <p:nvSpPr>
            <p:cNvPr id="15291" name="Google Shape;15291;p99"/>
            <p:cNvSpPr/>
            <p:nvPr/>
          </p:nvSpPr>
          <p:spPr>
            <a:xfrm>
              <a:off x="6443075" y="4710320"/>
              <a:ext cx="1587657" cy="259074"/>
            </a:xfrm>
            <a:prstGeom prst="rect">
              <a:avLst/>
            </a:prstGeom>
            <a:solidFill>
              <a:srgbClr val="487807"/>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FFFFFF"/>
                  </a:solidFill>
                  <a:latin typeface="Arial"/>
                  <a:ea typeface="Arial"/>
                  <a:cs typeface="Arial"/>
                  <a:sym typeface="Arial"/>
                </a:rPr>
                <a:t>Supervisor Cluster(s)</a:t>
              </a:r>
              <a:endParaRPr sz="1400">
                <a:solidFill>
                  <a:srgbClr val="FFFFFF"/>
                </a:solidFill>
                <a:latin typeface="Arial"/>
                <a:ea typeface="Arial"/>
                <a:cs typeface="Arial"/>
                <a:sym typeface="Arial"/>
              </a:endParaRPr>
            </a:p>
          </p:txBody>
        </p:sp>
        <p:sp>
          <p:nvSpPr>
            <p:cNvPr id="15292" name="Google Shape;15292;p99"/>
            <p:cNvSpPr/>
            <p:nvPr/>
          </p:nvSpPr>
          <p:spPr>
            <a:xfrm>
              <a:off x="6443075" y="4418031"/>
              <a:ext cx="1587657" cy="259074"/>
            </a:xfrm>
            <a:prstGeom prst="rect">
              <a:avLst/>
            </a:prstGeom>
            <a:solidFill>
              <a:srgbClr val="A7F43C"/>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Region(s)</a:t>
              </a:r>
              <a:endParaRPr sz="1400">
                <a:solidFill>
                  <a:srgbClr val="000000"/>
                </a:solidFill>
                <a:latin typeface="Arial"/>
                <a:ea typeface="Arial"/>
                <a:cs typeface="Arial"/>
                <a:sym typeface="Arial"/>
              </a:endParaRPr>
            </a:p>
          </p:txBody>
        </p:sp>
        <p:sp>
          <p:nvSpPr>
            <p:cNvPr id="15293" name="Google Shape;15293;p99"/>
            <p:cNvSpPr/>
            <p:nvPr/>
          </p:nvSpPr>
          <p:spPr>
            <a:xfrm>
              <a:off x="6443075" y="4125743"/>
              <a:ext cx="1587657" cy="259074"/>
            </a:xfrm>
            <a:prstGeom prst="rect">
              <a:avLst/>
            </a:prstGeom>
            <a:solidFill>
              <a:srgbClr val="C3F87C"/>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Org(s)</a:t>
              </a:r>
              <a:endParaRPr sz="1400">
                <a:solidFill>
                  <a:srgbClr val="000000"/>
                </a:solidFill>
                <a:latin typeface="Arial"/>
                <a:ea typeface="Arial"/>
                <a:cs typeface="Arial"/>
                <a:sym typeface="Arial"/>
              </a:endParaRPr>
            </a:p>
          </p:txBody>
        </p:sp>
        <p:sp>
          <p:nvSpPr>
            <p:cNvPr id="15294" name="Google Shape;15294;p99"/>
            <p:cNvSpPr/>
            <p:nvPr/>
          </p:nvSpPr>
          <p:spPr>
            <a:xfrm>
              <a:off x="6443075" y="3833456"/>
              <a:ext cx="1587657" cy="259074"/>
            </a:xfrm>
            <a:prstGeom prst="rect">
              <a:avLst/>
            </a:prstGeom>
            <a:solidFill>
              <a:srgbClr val="E1FCBC"/>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Project(s)</a:t>
              </a:r>
              <a:endParaRPr sz="1400">
                <a:solidFill>
                  <a:srgbClr val="000000"/>
                </a:solidFill>
                <a:latin typeface="Arial"/>
                <a:ea typeface="Arial"/>
                <a:cs typeface="Arial"/>
                <a:sym typeface="Arial"/>
              </a:endParaRPr>
            </a:p>
          </p:txBody>
        </p:sp>
        <p:sp>
          <p:nvSpPr>
            <p:cNvPr id="15295" name="Google Shape;15295;p99"/>
            <p:cNvSpPr/>
            <p:nvPr/>
          </p:nvSpPr>
          <p:spPr>
            <a:xfrm>
              <a:off x="6443075" y="3534525"/>
              <a:ext cx="1587657" cy="259074"/>
            </a:xfrm>
            <a:prstGeom prst="rect">
              <a:avLst/>
            </a:prstGeom>
            <a:solidFill>
              <a:srgbClr val="FBF0CF"/>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Namespace(s)</a:t>
              </a:r>
              <a:endParaRPr sz="1400">
                <a:solidFill>
                  <a:srgbClr val="000000"/>
                </a:solidFill>
                <a:latin typeface="Arial"/>
                <a:ea typeface="Arial"/>
                <a:cs typeface="Arial"/>
                <a:sym typeface="Arial"/>
              </a:endParaRPr>
            </a:p>
          </p:txBody>
        </p:sp>
        <p:sp>
          <p:nvSpPr>
            <p:cNvPr id="15296" name="Google Shape;15296;p99"/>
            <p:cNvSpPr/>
            <p:nvPr/>
          </p:nvSpPr>
          <p:spPr>
            <a:xfrm>
              <a:off x="4492272" y="4712536"/>
              <a:ext cx="1587657" cy="259074"/>
            </a:xfrm>
            <a:prstGeom prst="rect">
              <a:avLst/>
            </a:prstGeom>
            <a:solidFill>
              <a:srgbClr val="006E91"/>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FFFFFF"/>
                  </a:solidFill>
                  <a:latin typeface="Arial"/>
                  <a:ea typeface="Arial"/>
                  <a:cs typeface="Arial"/>
                  <a:sym typeface="Arial"/>
                </a:rPr>
                <a:t>vSphere Cluster(s)</a:t>
              </a:r>
              <a:endParaRPr sz="1400">
                <a:solidFill>
                  <a:srgbClr val="FFFFFF"/>
                </a:solidFill>
                <a:latin typeface="Arial"/>
                <a:ea typeface="Arial"/>
                <a:cs typeface="Arial"/>
                <a:sym typeface="Arial"/>
              </a:endParaRPr>
            </a:p>
          </p:txBody>
        </p:sp>
        <p:sp>
          <p:nvSpPr>
            <p:cNvPr id="15297" name="Google Shape;15297;p99"/>
            <p:cNvSpPr/>
            <p:nvPr/>
          </p:nvSpPr>
          <p:spPr>
            <a:xfrm>
              <a:off x="4492272" y="4420248"/>
              <a:ext cx="1587657" cy="259074"/>
            </a:xfrm>
            <a:prstGeom prst="rect">
              <a:avLst/>
            </a:prstGeom>
            <a:solidFill>
              <a:srgbClr val="41D1FE"/>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Cloud Zone(s)</a:t>
              </a:r>
              <a:endParaRPr sz="1400">
                <a:solidFill>
                  <a:srgbClr val="000000"/>
                </a:solidFill>
                <a:latin typeface="Arial"/>
                <a:ea typeface="Arial"/>
                <a:cs typeface="Arial"/>
                <a:sym typeface="Arial"/>
              </a:endParaRPr>
            </a:p>
          </p:txBody>
        </p:sp>
        <p:sp>
          <p:nvSpPr>
            <p:cNvPr id="15298" name="Google Shape;15298;p99"/>
            <p:cNvSpPr/>
            <p:nvPr/>
          </p:nvSpPr>
          <p:spPr>
            <a:xfrm>
              <a:off x="4492272" y="4127959"/>
              <a:ext cx="1587657" cy="259074"/>
            </a:xfrm>
            <a:prstGeom prst="rect">
              <a:avLst/>
            </a:prstGeom>
            <a:solidFill>
              <a:srgbClr val="80DFFE"/>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Org(s)*</a:t>
              </a:r>
              <a:endParaRPr sz="1400">
                <a:solidFill>
                  <a:srgbClr val="000000"/>
                </a:solidFill>
                <a:latin typeface="Arial"/>
                <a:ea typeface="Arial"/>
                <a:cs typeface="Arial"/>
                <a:sym typeface="Arial"/>
              </a:endParaRPr>
            </a:p>
          </p:txBody>
        </p:sp>
        <p:sp>
          <p:nvSpPr>
            <p:cNvPr id="15299" name="Google Shape;15299;p99"/>
            <p:cNvSpPr/>
            <p:nvPr/>
          </p:nvSpPr>
          <p:spPr>
            <a:xfrm>
              <a:off x="4492272" y="3835673"/>
              <a:ext cx="1587657" cy="259074"/>
            </a:xfrm>
            <a:prstGeom prst="rect">
              <a:avLst/>
            </a:prstGeom>
            <a:solidFill>
              <a:srgbClr val="BFEFFF"/>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Project(s)</a:t>
              </a:r>
              <a:endParaRPr sz="1400">
                <a:solidFill>
                  <a:srgbClr val="000000"/>
                </a:solidFill>
                <a:latin typeface="Arial"/>
                <a:ea typeface="Arial"/>
                <a:cs typeface="Arial"/>
                <a:sym typeface="Arial"/>
              </a:endParaRPr>
            </a:p>
          </p:txBody>
        </p:sp>
        <p:cxnSp>
          <p:nvCxnSpPr>
            <p:cNvPr id="15300" name="Google Shape;15300;p99"/>
            <p:cNvCxnSpPr/>
            <p:nvPr/>
          </p:nvCxnSpPr>
          <p:spPr>
            <a:xfrm>
              <a:off x="6237145" y="2765692"/>
              <a:ext cx="0" cy="2256845"/>
            </a:xfrm>
            <a:prstGeom prst="straightConnector1">
              <a:avLst/>
            </a:prstGeom>
            <a:noFill/>
            <a:ln w="25400" cap="flat" cmpd="sng">
              <a:solidFill>
                <a:srgbClr val="7F7F7F"/>
              </a:solidFill>
              <a:prstDash val="solid"/>
              <a:miter lim="800000"/>
              <a:headEnd type="none" w="sm" len="sm"/>
              <a:tailEnd type="none" w="sm" len="sm"/>
            </a:ln>
          </p:spPr>
        </p:cxnSp>
        <p:sp>
          <p:nvSpPr>
            <p:cNvPr id="15301" name="Google Shape;15301;p99"/>
            <p:cNvSpPr txBox="1"/>
            <p:nvPr/>
          </p:nvSpPr>
          <p:spPr>
            <a:xfrm>
              <a:off x="6443075" y="5072792"/>
              <a:ext cx="1587657" cy="276999"/>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Org for All Apps</a:t>
              </a:r>
              <a:br>
                <a:rPr lang="en-US" sz="900">
                  <a:solidFill>
                    <a:srgbClr val="000000"/>
                  </a:solidFill>
                  <a:latin typeface="Arial"/>
                  <a:ea typeface="Arial"/>
                  <a:cs typeface="Arial"/>
                  <a:sym typeface="Arial"/>
                </a:rPr>
              </a:br>
              <a:r>
                <a:rPr lang="en-US" sz="900">
                  <a:solidFill>
                    <a:srgbClr val="000000"/>
                  </a:solidFill>
                  <a:latin typeface="Arial"/>
                  <a:ea typeface="Arial"/>
                  <a:cs typeface="Arial"/>
                  <a:sym typeface="Arial"/>
                </a:rPr>
                <a:t>(default experience)</a:t>
              </a:r>
              <a:endParaRPr sz="1400">
                <a:solidFill>
                  <a:srgbClr val="000000"/>
                </a:solidFill>
                <a:latin typeface="Arial"/>
                <a:ea typeface="Arial"/>
                <a:cs typeface="Arial"/>
                <a:sym typeface="Arial"/>
              </a:endParaRPr>
            </a:p>
          </p:txBody>
        </p:sp>
        <p:sp>
          <p:nvSpPr>
            <p:cNvPr id="15302" name="Google Shape;15302;p99"/>
            <p:cNvSpPr txBox="1"/>
            <p:nvPr/>
          </p:nvSpPr>
          <p:spPr>
            <a:xfrm>
              <a:off x="6435909" y="2765692"/>
              <a:ext cx="1594821" cy="307857"/>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000" b="1">
                  <a:solidFill>
                    <a:srgbClr val="000000"/>
                  </a:solidFill>
                  <a:latin typeface="Arial"/>
                  <a:ea typeface="Arial"/>
                  <a:cs typeface="Arial"/>
                  <a:sym typeface="Arial"/>
                </a:rPr>
                <a:t>Traditional + Modern </a:t>
              </a:r>
              <a:br>
                <a:rPr lang="en-US" sz="1000" b="1">
                  <a:solidFill>
                    <a:srgbClr val="000000"/>
                  </a:solidFill>
                  <a:latin typeface="Arial"/>
                  <a:ea typeface="Arial"/>
                  <a:cs typeface="Arial"/>
                  <a:sym typeface="Arial"/>
                </a:rPr>
              </a:br>
              <a:r>
                <a:rPr lang="en-US" sz="1000" b="1">
                  <a:solidFill>
                    <a:srgbClr val="000000"/>
                  </a:solidFill>
                  <a:latin typeface="Arial"/>
                  <a:ea typeface="Arial"/>
                  <a:cs typeface="Arial"/>
                  <a:sym typeface="Arial"/>
                </a:rPr>
                <a:t>Cloud Native Workloads</a:t>
              </a:r>
              <a:endParaRPr sz="1400">
                <a:solidFill>
                  <a:srgbClr val="000000"/>
                </a:solidFill>
                <a:latin typeface="Arial"/>
                <a:ea typeface="Arial"/>
                <a:cs typeface="Arial"/>
                <a:sym typeface="Arial"/>
              </a:endParaRPr>
            </a:p>
          </p:txBody>
        </p:sp>
        <p:sp>
          <p:nvSpPr>
            <p:cNvPr id="15303" name="Google Shape;15303;p99"/>
            <p:cNvSpPr txBox="1"/>
            <p:nvPr/>
          </p:nvSpPr>
          <p:spPr>
            <a:xfrm>
              <a:off x="4492265" y="2904319"/>
              <a:ext cx="1587657" cy="153888"/>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000" b="1">
                  <a:solidFill>
                    <a:srgbClr val="000000"/>
                  </a:solidFill>
                  <a:latin typeface="Arial"/>
                  <a:ea typeface="Arial"/>
                  <a:cs typeface="Arial"/>
                  <a:sym typeface="Arial"/>
                </a:rPr>
                <a:t>Traditional Workloads</a:t>
              </a:r>
              <a:endParaRPr sz="1400">
                <a:solidFill>
                  <a:srgbClr val="000000"/>
                </a:solidFill>
                <a:latin typeface="Arial"/>
                <a:ea typeface="Arial"/>
                <a:cs typeface="Arial"/>
                <a:sym typeface="Arial"/>
              </a:endParaRPr>
            </a:p>
          </p:txBody>
        </p:sp>
        <p:grpSp>
          <p:nvGrpSpPr>
            <p:cNvPr id="15304" name="Google Shape;15304;p99"/>
            <p:cNvGrpSpPr/>
            <p:nvPr/>
          </p:nvGrpSpPr>
          <p:grpSpPr>
            <a:xfrm>
              <a:off x="4498847" y="3243780"/>
              <a:ext cx="1587658" cy="263515"/>
              <a:chOff x="4498846" y="3243780"/>
              <a:chExt cx="1726033" cy="263515"/>
            </a:xfrm>
          </p:grpSpPr>
          <p:sp>
            <p:nvSpPr>
              <p:cNvPr id="15305" name="Google Shape;15305;p99"/>
              <p:cNvSpPr/>
              <p:nvPr/>
            </p:nvSpPr>
            <p:spPr>
              <a:xfrm>
                <a:off x="4498846" y="3243780"/>
                <a:ext cx="403403" cy="263515"/>
              </a:xfrm>
              <a:prstGeom prst="rect">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VM</a:t>
                </a:r>
                <a:endParaRPr sz="1400">
                  <a:solidFill>
                    <a:srgbClr val="000000"/>
                  </a:solidFill>
                  <a:latin typeface="Arial"/>
                  <a:ea typeface="Arial"/>
                  <a:cs typeface="Arial"/>
                  <a:sym typeface="Arial"/>
                </a:endParaRPr>
              </a:p>
            </p:txBody>
          </p:sp>
          <p:sp>
            <p:nvSpPr>
              <p:cNvPr id="15306" name="Google Shape;15306;p99"/>
              <p:cNvSpPr/>
              <p:nvPr/>
            </p:nvSpPr>
            <p:spPr>
              <a:xfrm>
                <a:off x="4939723" y="3243780"/>
                <a:ext cx="403403" cy="263515"/>
              </a:xfrm>
              <a:prstGeom prst="rect">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VM</a:t>
                </a:r>
                <a:endParaRPr sz="1400">
                  <a:solidFill>
                    <a:srgbClr val="000000"/>
                  </a:solidFill>
                  <a:latin typeface="Arial"/>
                  <a:ea typeface="Arial"/>
                  <a:cs typeface="Arial"/>
                  <a:sym typeface="Arial"/>
                </a:endParaRPr>
              </a:p>
            </p:txBody>
          </p:sp>
          <p:sp>
            <p:nvSpPr>
              <p:cNvPr id="15307" name="Google Shape;15307;p99"/>
              <p:cNvSpPr/>
              <p:nvPr/>
            </p:nvSpPr>
            <p:spPr>
              <a:xfrm>
                <a:off x="5380600" y="3243780"/>
                <a:ext cx="403403" cy="263515"/>
              </a:xfrm>
              <a:prstGeom prst="rect">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VM</a:t>
                </a:r>
                <a:endParaRPr sz="1400">
                  <a:solidFill>
                    <a:srgbClr val="000000"/>
                  </a:solidFill>
                  <a:latin typeface="Arial"/>
                  <a:ea typeface="Arial"/>
                  <a:cs typeface="Arial"/>
                  <a:sym typeface="Arial"/>
                </a:endParaRPr>
              </a:p>
            </p:txBody>
          </p:sp>
          <p:sp>
            <p:nvSpPr>
              <p:cNvPr id="15308" name="Google Shape;15308;p99"/>
              <p:cNvSpPr/>
              <p:nvPr/>
            </p:nvSpPr>
            <p:spPr>
              <a:xfrm>
                <a:off x="5821476" y="3243780"/>
                <a:ext cx="403403" cy="263515"/>
              </a:xfrm>
              <a:prstGeom prst="rect">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VM</a:t>
                </a:r>
                <a:endParaRPr sz="1400">
                  <a:solidFill>
                    <a:srgbClr val="000000"/>
                  </a:solidFill>
                  <a:latin typeface="Arial"/>
                  <a:ea typeface="Arial"/>
                  <a:cs typeface="Arial"/>
                  <a:sym typeface="Arial"/>
                </a:endParaRPr>
              </a:p>
            </p:txBody>
          </p:sp>
        </p:grpSp>
        <p:grpSp>
          <p:nvGrpSpPr>
            <p:cNvPr id="15309" name="Google Shape;15309;p99"/>
            <p:cNvGrpSpPr/>
            <p:nvPr/>
          </p:nvGrpSpPr>
          <p:grpSpPr>
            <a:xfrm>
              <a:off x="6443075" y="3231153"/>
              <a:ext cx="1587658" cy="263515"/>
              <a:chOff x="4498846" y="3243780"/>
              <a:chExt cx="1726033" cy="263515"/>
            </a:xfrm>
          </p:grpSpPr>
          <p:sp>
            <p:nvSpPr>
              <p:cNvPr id="15310" name="Google Shape;15310;p99"/>
              <p:cNvSpPr/>
              <p:nvPr/>
            </p:nvSpPr>
            <p:spPr>
              <a:xfrm>
                <a:off x="4498846" y="3243780"/>
                <a:ext cx="403403" cy="263515"/>
              </a:xfrm>
              <a:prstGeom prst="rect">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VM</a:t>
                </a:r>
                <a:endParaRPr sz="1400">
                  <a:solidFill>
                    <a:srgbClr val="000000"/>
                  </a:solidFill>
                  <a:latin typeface="Arial"/>
                  <a:ea typeface="Arial"/>
                  <a:cs typeface="Arial"/>
                  <a:sym typeface="Arial"/>
                </a:endParaRPr>
              </a:p>
            </p:txBody>
          </p:sp>
          <p:sp>
            <p:nvSpPr>
              <p:cNvPr id="15311" name="Google Shape;15311;p99"/>
              <p:cNvSpPr/>
              <p:nvPr/>
            </p:nvSpPr>
            <p:spPr>
              <a:xfrm>
                <a:off x="4939723" y="3243780"/>
                <a:ext cx="403403" cy="263515"/>
              </a:xfrm>
              <a:prstGeom prst="rect">
                <a:avLst/>
              </a:prstGeom>
              <a:no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VM</a:t>
                </a:r>
                <a:endParaRPr sz="1400">
                  <a:solidFill>
                    <a:srgbClr val="000000"/>
                  </a:solidFill>
                  <a:latin typeface="Arial"/>
                  <a:ea typeface="Arial"/>
                  <a:cs typeface="Arial"/>
                  <a:sym typeface="Arial"/>
                </a:endParaRPr>
              </a:p>
            </p:txBody>
          </p:sp>
          <p:sp>
            <p:nvSpPr>
              <p:cNvPr id="15312" name="Google Shape;15312;p99"/>
              <p:cNvSpPr/>
              <p:nvPr/>
            </p:nvSpPr>
            <p:spPr>
              <a:xfrm>
                <a:off x="5380600" y="3243780"/>
                <a:ext cx="403403" cy="263515"/>
              </a:xfrm>
              <a:prstGeom prst="rect">
                <a:avLst/>
              </a:prstGeom>
              <a:solidFill>
                <a:srgbClr val="E0D8EA"/>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700">
                    <a:solidFill>
                      <a:srgbClr val="000000"/>
                    </a:solidFill>
                    <a:latin typeface="Arial"/>
                    <a:ea typeface="Arial"/>
                    <a:cs typeface="Arial"/>
                    <a:sym typeface="Arial"/>
                  </a:rPr>
                  <a:t>K8s</a:t>
                </a:r>
                <a:endParaRPr sz="700">
                  <a:solidFill>
                    <a:srgbClr val="000000"/>
                  </a:solidFill>
                  <a:latin typeface="Arial"/>
                  <a:ea typeface="Arial"/>
                  <a:cs typeface="Arial"/>
                  <a:sym typeface="Arial"/>
                </a:endParaRPr>
              </a:p>
            </p:txBody>
          </p:sp>
          <p:sp>
            <p:nvSpPr>
              <p:cNvPr id="15313" name="Google Shape;15313;p99"/>
              <p:cNvSpPr/>
              <p:nvPr/>
            </p:nvSpPr>
            <p:spPr>
              <a:xfrm>
                <a:off x="5821476" y="3243780"/>
                <a:ext cx="403403" cy="263515"/>
              </a:xfrm>
              <a:prstGeom prst="rect">
                <a:avLst/>
              </a:prstGeom>
              <a:solidFill>
                <a:srgbClr val="E0D8EA"/>
              </a:solidFill>
              <a:ln w="9525" cap="flat" cmpd="sng">
                <a:solidFill>
                  <a:srgbClr val="7F7F7F"/>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r>
                  <a:rPr lang="en-US" sz="800">
                    <a:solidFill>
                      <a:srgbClr val="000000"/>
                    </a:solidFill>
                    <a:latin typeface="Arial"/>
                    <a:ea typeface="Arial"/>
                    <a:cs typeface="Arial"/>
                    <a:sym typeface="Arial"/>
                  </a:rPr>
                  <a:t>AI</a:t>
                </a:r>
                <a:endParaRPr sz="1400">
                  <a:solidFill>
                    <a:srgbClr val="000000"/>
                  </a:solidFill>
                  <a:latin typeface="Arial"/>
                  <a:ea typeface="Arial"/>
                  <a:cs typeface="Arial"/>
                  <a:sym typeface="Arial"/>
                </a:endParaRPr>
              </a:p>
            </p:txBody>
          </p:sp>
        </p:grpSp>
        <p:sp>
          <p:nvSpPr>
            <p:cNvPr id="15314" name="Google Shape;15314;p99"/>
            <p:cNvSpPr txBox="1"/>
            <p:nvPr/>
          </p:nvSpPr>
          <p:spPr>
            <a:xfrm>
              <a:off x="4492272" y="5067721"/>
              <a:ext cx="1587657" cy="138535"/>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Org for VM Apps</a:t>
              </a:r>
              <a:endParaRPr sz="1400">
                <a:solidFill>
                  <a:srgbClr val="000000"/>
                </a:solidFill>
                <a:latin typeface="Arial"/>
                <a:ea typeface="Arial"/>
                <a:cs typeface="Arial"/>
                <a:sym typeface="Arial"/>
              </a:endParaRPr>
            </a:p>
          </p:txBody>
        </p:sp>
      </p:grpSp>
      <p:grpSp>
        <p:nvGrpSpPr>
          <p:cNvPr id="15315" name="Google Shape;15315;p99"/>
          <p:cNvGrpSpPr/>
          <p:nvPr/>
        </p:nvGrpSpPr>
        <p:grpSpPr>
          <a:xfrm>
            <a:off x="10131578" y="2831611"/>
            <a:ext cx="1270023" cy="1023327"/>
            <a:chOff x="10460493" y="3213285"/>
            <a:chExt cx="1271016" cy="1024128"/>
          </a:xfrm>
        </p:grpSpPr>
        <p:grpSp>
          <p:nvGrpSpPr>
            <p:cNvPr id="15316" name="Google Shape;15316;p99"/>
            <p:cNvGrpSpPr/>
            <p:nvPr/>
          </p:nvGrpSpPr>
          <p:grpSpPr>
            <a:xfrm>
              <a:off x="10460493" y="3213285"/>
              <a:ext cx="1271016" cy="1024128"/>
              <a:chOff x="10460493" y="3213285"/>
              <a:chExt cx="1271016" cy="1024128"/>
            </a:xfrm>
          </p:grpSpPr>
          <p:grpSp>
            <p:nvGrpSpPr>
              <p:cNvPr id="15317" name="Google Shape;15317;p99"/>
              <p:cNvGrpSpPr/>
              <p:nvPr/>
            </p:nvGrpSpPr>
            <p:grpSpPr>
              <a:xfrm>
                <a:off x="10460493" y="3213285"/>
                <a:ext cx="1271016" cy="1024128"/>
                <a:chOff x="10460493" y="3213285"/>
                <a:chExt cx="1271016" cy="1024128"/>
              </a:xfrm>
            </p:grpSpPr>
            <p:pic>
              <p:nvPicPr>
                <p:cNvPr id="15318" name="Google Shape;15318;p99"/>
                <p:cNvPicPr preferRelativeResize="0"/>
                <p:nvPr/>
              </p:nvPicPr>
              <p:blipFill rotWithShape="1">
                <a:blip r:embed="rId6">
                  <a:alphaModFix/>
                </a:blip>
                <a:srcRect/>
                <a:stretch/>
              </p:blipFill>
              <p:spPr>
                <a:xfrm>
                  <a:off x="10460493" y="3213285"/>
                  <a:ext cx="1271016" cy="1024128"/>
                </a:xfrm>
                <a:prstGeom prst="rect">
                  <a:avLst/>
                </a:prstGeom>
                <a:noFill/>
                <a:ln>
                  <a:noFill/>
                </a:ln>
              </p:spPr>
            </p:pic>
            <p:sp>
              <p:nvSpPr>
                <p:cNvPr id="15319" name="Google Shape;15319;p99"/>
                <p:cNvSpPr/>
                <p:nvPr/>
              </p:nvSpPr>
              <p:spPr>
                <a:xfrm>
                  <a:off x="10501314" y="3233738"/>
                  <a:ext cx="1201275" cy="635000"/>
                </a:xfrm>
                <a:prstGeom prst="roundRect">
                  <a:avLst>
                    <a:gd name="adj" fmla="val 16667"/>
                  </a:avLst>
                </a:prstGeom>
                <a:solidFill>
                  <a:schemeClr val="lt1"/>
                </a:solidFill>
                <a:ln>
                  <a:noFill/>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grpSp>
          <p:sp>
            <p:nvSpPr>
              <p:cNvPr id="15320" name="Google Shape;15320;p99"/>
              <p:cNvSpPr txBox="1"/>
              <p:nvPr/>
            </p:nvSpPr>
            <p:spPr>
              <a:xfrm>
                <a:off x="10556603" y="3251234"/>
                <a:ext cx="861039" cy="80022"/>
              </a:xfrm>
              <a:prstGeom prst="rect">
                <a:avLst/>
              </a:prstGeom>
              <a:noFill/>
              <a:ln>
                <a:noFill/>
              </a:ln>
            </p:spPr>
            <p:txBody>
              <a:bodyPr spcFirstLastPara="1" wrap="square" lIns="0" tIns="0" rIns="0" bIns="0" anchor="t" anchorCtr="0">
                <a:spAutoFit/>
              </a:bodyPr>
              <a:lstStyle/>
              <a:p>
                <a:pPr marL="0" marR="0" lvl="0" indent="0" algn="l" rtl="0">
                  <a:lnSpc>
                    <a:spcPct val="130000"/>
                  </a:lnSpc>
                  <a:spcBef>
                    <a:spcPts val="0"/>
                  </a:spcBef>
                  <a:spcAft>
                    <a:spcPts val="0"/>
                  </a:spcAft>
                  <a:buNone/>
                </a:pPr>
                <a:r>
                  <a:rPr lang="en-US" sz="400">
                    <a:solidFill>
                      <a:srgbClr val="6C4B94"/>
                    </a:solidFill>
                    <a:latin typeface="Arial"/>
                    <a:ea typeface="Arial"/>
                    <a:cs typeface="Arial"/>
                    <a:sym typeface="Arial"/>
                  </a:rPr>
                  <a:t>Create K8s Cluster(s) on-demand</a:t>
                </a:r>
                <a:endParaRPr sz="1400">
                  <a:solidFill>
                    <a:srgbClr val="000000"/>
                  </a:solidFill>
                  <a:latin typeface="Arial"/>
                  <a:ea typeface="Arial"/>
                  <a:cs typeface="Arial"/>
                  <a:sym typeface="Arial"/>
                </a:endParaRPr>
              </a:p>
            </p:txBody>
          </p:sp>
        </p:grpSp>
        <p:grpSp>
          <p:nvGrpSpPr>
            <p:cNvPr id="15321" name="Google Shape;15321;p99"/>
            <p:cNvGrpSpPr/>
            <p:nvPr/>
          </p:nvGrpSpPr>
          <p:grpSpPr>
            <a:xfrm>
              <a:off x="10563237" y="3360847"/>
              <a:ext cx="554224" cy="319964"/>
              <a:chOff x="12418826" y="3083750"/>
              <a:chExt cx="554224" cy="319964"/>
            </a:xfrm>
          </p:grpSpPr>
          <p:grpSp>
            <p:nvGrpSpPr>
              <p:cNvPr id="15322" name="Google Shape;15322;p99"/>
              <p:cNvGrpSpPr/>
              <p:nvPr/>
            </p:nvGrpSpPr>
            <p:grpSpPr>
              <a:xfrm>
                <a:off x="12418826" y="3083750"/>
                <a:ext cx="554224" cy="319964"/>
                <a:chOff x="12418826" y="3083750"/>
                <a:chExt cx="554224" cy="319964"/>
              </a:xfrm>
            </p:grpSpPr>
            <p:sp>
              <p:nvSpPr>
                <p:cNvPr id="15323" name="Google Shape;15323;p99"/>
                <p:cNvSpPr/>
                <p:nvPr/>
              </p:nvSpPr>
              <p:spPr>
                <a:xfrm>
                  <a:off x="12418826" y="3083750"/>
                  <a:ext cx="552450" cy="319964"/>
                </a:xfrm>
                <a:prstGeom prst="rect">
                  <a:avLst/>
                </a:prstGeom>
                <a:solidFill>
                  <a:schemeClr val="lt1"/>
                </a:solid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cxnSp>
              <p:nvCxnSpPr>
                <p:cNvPr id="15324" name="Google Shape;15324;p99"/>
                <p:cNvCxnSpPr/>
                <p:nvPr/>
              </p:nvCxnSpPr>
              <p:spPr>
                <a:xfrm>
                  <a:off x="12418826" y="3130940"/>
                  <a:ext cx="554224" cy="0"/>
                </a:xfrm>
                <a:prstGeom prst="straightConnector1">
                  <a:avLst/>
                </a:prstGeom>
                <a:noFill/>
                <a:ln w="9525" cap="flat" cmpd="sng">
                  <a:solidFill>
                    <a:schemeClr val="accent5"/>
                  </a:solidFill>
                  <a:prstDash val="solid"/>
                  <a:miter lim="800000"/>
                  <a:headEnd type="none" w="sm" len="sm"/>
                  <a:tailEnd type="none" w="sm" len="sm"/>
                </a:ln>
              </p:spPr>
            </p:cxnSp>
          </p:grpSp>
          <p:pic>
            <p:nvPicPr>
              <p:cNvPr id="15325" name="Google Shape;15325;p99"/>
              <p:cNvPicPr preferRelativeResize="0"/>
              <p:nvPr/>
            </p:nvPicPr>
            <p:blipFill rotWithShape="1">
              <a:blip r:embed="rId7">
                <a:alphaModFix/>
              </a:blip>
              <a:srcRect/>
              <a:stretch/>
            </p:blipFill>
            <p:spPr>
              <a:xfrm>
                <a:off x="12429930" y="3138948"/>
                <a:ext cx="512957" cy="250026"/>
              </a:xfrm>
              <a:prstGeom prst="rect">
                <a:avLst/>
              </a:prstGeom>
              <a:noFill/>
              <a:ln>
                <a:noFill/>
              </a:ln>
            </p:spPr>
          </p:pic>
        </p:grpSp>
        <p:grpSp>
          <p:nvGrpSpPr>
            <p:cNvPr id="15326" name="Google Shape;15326;p99"/>
            <p:cNvGrpSpPr/>
            <p:nvPr/>
          </p:nvGrpSpPr>
          <p:grpSpPr>
            <a:xfrm>
              <a:off x="10830819" y="3447817"/>
              <a:ext cx="775478" cy="371115"/>
              <a:chOff x="12418826" y="3083750"/>
              <a:chExt cx="554224" cy="319964"/>
            </a:xfrm>
          </p:grpSpPr>
          <p:grpSp>
            <p:nvGrpSpPr>
              <p:cNvPr id="15327" name="Google Shape;15327;p99"/>
              <p:cNvGrpSpPr/>
              <p:nvPr/>
            </p:nvGrpSpPr>
            <p:grpSpPr>
              <a:xfrm>
                <a:off x="12418826" y="3083750"/>
                <a:ext cx="554224" cy="319964"/>
                <a:chOff x="12418826" y="3083750"/>
                <a:chExt cx="554224" cy="319964"/>
              </a:xfrm>
            </p:grpSpPr>
            <p:sp>
              <p:nvSpPr>
                <p:cNvPr id="15328" name="Google Shape;15328;p99"/>
                <p:cNvSpPr/>
                <p:nvPr/>
              </p:nvSpPr>
              <p:spPr>
                <a:xfrm>
                  <a:off x="12418826" y="3083750"/>
                  <a:ext cx="552450" cy="319964"/>
                </a:xfrm>
                <a:prstGeom prst="rect">
                  <a:avLst/>
                </a:prstGeom>
                <a:solidFill>
                  <a:schemeClr val="lt1"/>
                </a:solidFill>
                <a:ln w="9525" cap="flat" cmpd="sng">
                  <a:solidFill>
                    <a:schemeClr val="accent5"/>
                  </a:solidFill>
                  <a:prstDash val="solid"/>
                  <a:round/>
                  <a:headEnd type="none" w="sm" len="sm"/>
                  <a:tailEnd type="none" w="sm" len="sm"/>
                </a:ln>
              </p:spPr>
              <p:txBody>
                <a:bodyPr spcFirstLastPara="1" wrap="square" lIns="91350" tIns="45650" rIns="91350" bIns="45650" anchor="ctr" anchorCtr="0">
                  <a:noAutofit/>
                </a:bodyPr>
                <a:lstStyle/>
                <a:p>
                  <a:pPr marL="0" marR="0" lvl="0" indent="0" algn="ctr" rtl="0">
                    <a:spcBef>
                      <a:spcPts val="0"/>
                    </a:spcBef>
                    <a:spcAft>
                      <a:spcPts val="0"/>
                    </a:spcAft>
                    <a:buNone/>
                  </a:pPr>
                  <a:endParaRPr sz="1200">
                    <a:solidFill>
                      <a:srgbClr val="FFFFFF"/>
                    </a:solidFill>
                    <a:latin typeface="Arial"/>
                    <a:ea typeface="Arial"/>
                    <a:cs typeface="Arial"/>
                    <a:sym typeface="Arial"/>
                  </a:endParaRPr>
                </a:p>
              </p:txBody>
            </p:sp>
            <p:cxnSp>
              <p:nvCxnSpPr>
                <p:cNvPr id="15329" name="Google Shape;15329;p99"/>
                <p:cNvCxnSpPr/>
                <p:nvPr/>
              </p:nvCxnSpPr>
              <p:spPr>
                <a:xfrm>
                  <a:off x="12418826" y="3130940"/>
                  <a:ext cx="554224" cy="0"/>
                </a:xfrm>
                <a:prstGeom prst="straightConnector1">
                  <a:avLst/>
                </a:prstGeom>
                <a:noFill/>
                <a:ln w="9525" cap="flat" cmpd="sng">
                  <a:solidFill>
                    <a:schemeClr val="accent5"/>
                  </a:solidFill>
                  <a:prstDash val="solid"/>
                  <a:miter lim="800000"/>
                  <a:headEnd type="none" w="sm" len="sm"/>
                  <a:tailEnd type="none" w="sm" len="sm"/>
                </a:ln>
              </p:spPr>
            </p:cxnSp>
          </p:grpSp>
          <p:pic>
            <p:nvPicPr>
              <p:cNvPr id="15330" name="Google Shape;15330;p99"/>
              <p:cNvPicPr preferRelativeResize="0"/>
              <p:nvPr/>
            </p:nvPicPr>
            <p:blipFill rotWithShape="1">
              <a:blip r:embed="rId7">
                <a:alphaModFix/>
              </a:blip>
              <a:srcRect/>
              <a:stretch/>
            </p:blipFill>
            <p:spPr>
              <a:xfrm>
                <a:off x="12429930" y="3138948"/>
                <a:ext cx="512957" cy="250026"/>
              </a:xfrm>
              <a:prstGeom prst="rect">
                <a:avLst/>
              </a:prstGeom>
              <a:noFill/>
              <a:ln>
                <a:noFill/>
              </a:ln>
            </p:spPr>
          </p:pic>
        </p:grpSp>
      </p:grpSp>
      <p:sp>
        <p:nvSpPr>
          <p:cNvPr id="15331" name="Google Shape;15331;p99"/>
          <p:cNvSpPr/>
          <p:nvPr/>
        </p:nvSpPr>
        <p:spPr>
          <a:xfrm>
            <a:off x="867943" y="3683539"/>
            <a:ext cx="1210326" cy="159635"/>
          </a:xfrm>
          <a:prstGeom prst="roundRect">
            <a:avLst>
              <a:gd name="adj" fmla="val 27730"/>
            </a:avLst>
          </a:prstGeom>
          <a:solidFill>
            <a:srgbClr val="B2B2B2"/>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VCF</a:t>
            </a:r>
            <a:endParaRPr sz="1400">
              <a:solidFill>
                <a:srgbClr val="000000"/>
              </a:solidFill>
              <a:latin typeface="Arial"/>
              <a:ea typeface="Arial"/>
              <a:cs typeface="Arial"/>
              <a:sym typeface="Arial"/>
            </a:endParaRPr>
          </a:p>
        </p:txBody>
      </p:sp>
      <p:sp>
        <p:nvSpPr>
          <p:cNvPr id="15332" name="Google Shape;15332;p99"/>
          <p:cNvSpPr/>
          <p:nvPr/>
        </p:nvSpPr>
        <p:spPr>
          <a:xfrm>
            <a:off x="2484406" y="3684994"/>
            <a:ext cx="1210326" cy="159635"/>
          </a:xfrm>
          <a:prstGeom prst="roundRect">
            <a:avLst>
              <a:gd name="adj" fmla="val 27730"/>
            </a:avLst>
          </a:prstGeom>
          <a:solidFill>
            <a:srgbClr val="B2B2B2"/>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VCF</a:t>
            </a:r>
            <a:endParaRPr sz="1400">
              <a:solidFill>
                <a:srgbClr val="000000"/>
              </a:solidFill>
              <a:latin typeface="Arial"/>
              <a:ea typeface="Arial"/>
              <a:cs typeface="Arial"/>
              <a:sym typeface="Arial"/>
            </a:endParaRPr>
          </a:p>
        </p:txBody>
      </p:sp>
      <p:sp>
        <p:nvSpPr>
          <p:cNvPr id="15333" name="Google Shape;15333;p99"/>
          <p:cNvSpPr/>
          <p:nvPr/>
        </p:nvSpPr>
        <p:spPr>
          <a:xfrm>
            <a:off x="2489746" y="3884980"/>
            <a:ext cx="1210326" cy="159635"/>
          </a:xfrm>
          <a:prstGeom prst="roundRect">
            <a:avLst>
              <a:gd name="adj" fmla="val 27730"/>
            </a:avLst>
          </a:prstGeom>
          <a:solidFill>
            <a:srgbClr val="B2B2B2"/>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Hardware</a:t>
            </a:r>
            <a:endParaRPr sz="1400">
              <a:solidFill>
                <a:srgbClr val="000000"/>
              </a:solidFill>
              <a:latin typeface="Arial"/>
              <a:ea typeface="Arial"/>
              <a:cs typeface="Arial"/>
              <a:sym typeface="Arial"/>
            </a:endParaRPr>
          </a:p>
        </p:txBody>
      </p:sp>
      <p:sp>
        <p:nvSpPr>
          <p:cNvPr id="15334" name="Google Shape;15334;p99"/>
          <p:cNvSpPr/>
          <p:nvPr/>
        </p:nvSpPr>
        <p:spPr>
          <a:xfrm>
            <a:off x="867943" y="3877378"/>
            <a:ext cx="1210326" cy="159635"/>
          </a:xfrm>
          <a:prstGeom prst="roundRect">
            <a:avLst>
              <a:gd name="adj" fmla="val 27730"/>
            </a:avLst>
          </a:prstGeom>
          <a:solidFill>
            <a:srgbClr val="B2B2B2"/>
          </a:solidFill>
          <a:ln>
            <a:noFill/>
          </a:ln>
        </p:spPr>
        <p:txBody>
          <a:bodyPr spcFirstLastPara="1" wrap="square" lIns="91375" tIns="45675" rIns="91375" bIns="45675" anchor="ctr" anchorCtr="0">
            <a:noAutofit/>
          </a:bodyPr>
          <a:lstStyle/>
          <a:p>
            <a:pPr marL="0" marR="0" lvl="0" indent="0" algn="ctr" rtl="0">
              <a:spcBef>
                <a:spcPts val="0"/>
              </a:spcBef>
              <a:spcAft>
                <a:spcPts val="0"/>
              </a:spcAft>
              <a:buNone/>
            </a:pPr>
            <a:r>
              <a:rPr lang="en-US" sz="900">
                <a:solidFill>
                  <a:srgbClr val="000000"/>
                </a:solidFill>
                <a:latin typeface="Arial"/>
                <a:ea typeface="Arial"/>
                <a:cs typeface="Arial"/>
                <a:sym typeface="Arial"/>
              </a:rPr>
              <a:t>Hardware</a:t>
            </a:r>
            <a:endParaRPr sz="1400">
              <a:solidFill>
                <a:srgbClr val="000000"/>
              </a:solidFill>
              <a:latin typeface="Arial"/>
              <a:ea typeface="Arial"/>
              <a:cs typeface="Arial"/>
              <a:sym typeface="Arial"/>
            </a:endParaRPr>
          </a:p>
        </p:txBody>
      </p:sp>
      <p:sp>
        <p:nvSpPr>
          <p:cNvPr id="15335" name="Google Shape;15335;p99"/>
          <p:cNvSpPr/>
          <p:nvPr/>
        </p:nvSpPr>
        <p:spPr>
          <a:xfrm>
            <a:off x="6066343" y="2281407"/>
            <a:ext cx="1736908" cy="2833902"/>
          </a:xfrm>
          <a:prstGeom prst="frame">
            <a:avLst>
              <a:gd name="adj1" fmla="val 2462"/>
            </a:avLst>
          </a:prstGeom>
          <a:noFill/>
          <a:ln w="25400" cap="flat" cmpd="sng">
            <a:solidFill>
              <a:srgbClr val="61A60E"/>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rtl="0">
              <a:spcBef>
                <a:spcPts val="0"/>
              </a:spcBef>
              <a:spcAft>
                <a:spcPts val="0"/>
              </a:spcAft>
              <a:buNone/>
            </a:pPr>
            <a:endParaRPr sz="1000">
              <a:solidFill>
                <a:srgbClr val="000000"/>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335"/>
                                        </p:tgtEl>
                                        <p:attrNameLst>
                                          <p:attrName>style.visibility</p:attrName>
                                        </p:attrNameLst>
                                      </p:cBhvr>
                                      <p:to>
                                        <p:strVal val="visible"/>
                                      </p:to>
                                    </p:set>
                                    <p:animEffect transition="in" filter="fade">
                                      <p:cBhvr>
                                        <p:cTn id="7" dur="500"/>
                                        <p:tgtEl>
                                          <p:spTgt spid="153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15340"/>
        <p:cNvGrpSpPr/>
        <p:nvPr/>
      </p:nvGrpSpPr>
      <p:grpSpPr>
        <a:xfrm>
          <a:off x="0" y="0"/>
          <a:ext cx="0" cy="0"/>
          <a:chOff x="0" y="0"/>
          <a:chExt cx="0" cy="0"/>
        </a:xfrm>
      </p:grpSpPr>
      <p:sp>
        <p:nvSpPr>
          <p:cNvPr id="15341" name="Google Shape;15341;p100"/>
          <p:cNvSpPr/>
          <p:nvPr/>
        </p:nvSpPr>
        <p:spPr>
          <a:xfrm>
            <a:off x="581094" y="1622310"/>
            <a:ext cx="7384686" cy="4493825"/>
          </a:xfrm>
          <a:prstGeom prst="roundRect">
            <a:avLst>
              <a:gd name="adj" fmla="val 2525"/>
            </a:avLst>
          </a:prstGeom>
          <a:solidFill>
            <a:schemeClr val="lt1"/>
          </a:solidFill>
          <a:ln w="9525" cap="flat" cmpd="sng">
            <a:solidFill>
              <a:srgbClr val="797979"/>
            </a:solidFill>
            <a:prstDash val="solid"/>
            <a:round/>
            <a:headEnd type="none" w="sm" len="sm"/>
            <a:tailEnd type="none" w="sm" len="sm"/>
          </a:ln>
          <a:effectLst>
            <a:outerShdw blurRad="50800" dist="38100" dir="2700000" algn="tl" rotWithShape="0">
              <a:srgbClr val="000000">
                <a:alpha val="40000"/>
              </a:srgbClr>
            </a:outerShdw>
          </a:effectLst>
        </p:spPr>
        <p:txBody>
          <a:bodyPr spcFirstLastPara="1" wrap="square" lIns="91375" tIns="45650" rIns="91375" bIns="45650" anchor="ctr" anchorCtr="0">
            <a:noAutofit/>
          </a:bodyPr>
          <a:lstStyle/>
          <a:p>
            <a:pPr marL="0" marR="0" lvl="0" indent="0" algn="ctr" rtl="0">
              <a:spcBef>
                <a:spcPts val="0"/>
              </a:spcBef>
              <a:spcAft>
                <a:spcPts val="0"/>
              </a:spcAft>
              <a:buNone/>
            </a:pPr>
            <a:endParaRPr sz="1100">
              <a:solidFill>
                <a:srgbClr val="FFFFFF"/>
              </a:solidFill>
              <a:latin typeface="Arial"/>
              <a:ea typeface="Arial"/>
              <a:cs typeface="Arial"/>
              <a:sym typeface="Arial"/>
            </a:endParaRPr>
          </a:p>
        </p:txBody>
      </p:sp>
      <p:sp>
        <p:nvSpPr>
          <p:cNvPr id="15342" name="Google Shape;15342;p100"/>
          <p:cNvSpPr txBox="1">
            <a:spLocks noGrp="1"/>
          </p:cNvSpPr>
          <p:nvPr>
            <p:ph type="title"/>
          </p:nvPr>
        </p:nvSpPr>
        <p:spPr>
          <a:xfrm>
            <a:off x="579809" y="413536"/>
            <a:ext cx="11001004"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Modern Service Provider Experience</a:t>
            </a:r>
            <a:endParaRPr/>
          </a:p>
        </p:txBody>
      </p:sp>
      <p:sp>
        <p:nvSpPr>
          <p:cNvPr id="15343" name="Google Shape;15343;p100"/>
          <p:cNvSpPr txBox="1">
            <a:spLocks noGrp="1"/>
          </p:cNvSpPr>
          <p:nvPr>
            <p:ph type="subTitle" idx="1"/>
          </p:nvPr>
        </p:nvSpPr>
        <p:spPr>
          <a:xfrm>
            <a:off x="592867" y="812513"/>
            <a:ext cx="10962687"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VCF Automation Tenant Management</a:t>
            </a:r>
            <a:endParaRPr/>
          </a:p>
        </p:txBody>
      </p:sp>
      <p:sp>
        <p:nvSpPr>
          <p:cNvPr id="15344" name="Google Shape;15344;p100"/>
          <p:cNvSpPr txBox="1">
            <a:spLocks noGrp="1"/>
          </p:cNvSpPr>
          <p:nvPr>
            <p:ph type="body" idx="2"/>
          </p:nvPr>
        </p:nvSpPr>
        <p:spPr>
          <a:xfrm>
            <a:off x="8380413" y="1600676"/>
            <a:ext cx="3808412" cy="4570809"/>
          </a:xfrm>
          <a:prstGeom prst="rect">
            <a:avLst/>
          </a:prstGeom>
          <a:noFill/>
          <a:ln>
            <a:noFill/>
          </a:ln>
        </p:spPr>
        <p:txBody>
          <a:bodyPr spcFirstLastPara="1" wrap="square" lIns="0" tIns="457075" rIns="594175" bIns="457075" anchor="t" anchorCtr="0">
            <a:noAutofit/>
          </a:bodyPr>
          <a:lstStyle/>
          <a:p>
            <a:pPr marL="0" lvl="0" indent="0" algn="l" rtl="0">
              <a:lnSpc>
                <a:spcPct val="100000"/>
              </a:lnSpc>
              <a:spcBef>
                <a:spcPts val="0"/>
              </a:spcBef>
              <a:spcAft>
                <a:spcPts val="0"/>
              </a:spcAft>
              <a:buSzPts val="1440"/>
              <a:buNone/>
            </a:pPr>
            <a:r>
              <a:rPr lang="en-US" dirty="0"/>
              <a:t>Self-service consumption for developers and app owners</a:t>
            </a:r>
            <a:endParaRPr dirty="0"/>
          </a:p>
          <a:p>
            <a:pPr marL="0" lvl="0" indent="0" algn="l" rtl="0">
              <a:lnSpc>
                <a:spcPct val="100000"/>
              </a:lnSpc>
              <a:spcBef>
                <a:spcPts val="1200"/>
              </a:spcBef>
              <a:spcAft>
                <a:spcPts val="0"/>
              </a:spcAft>
              <a:buSzPts val="1440"/>
              <a:buNone/>
            </a:pPr>
            <a:r>
              <a:rPr lang="en-US" dirty="0"/>
              <a:t>Secure multi-tenancy</a:t>
            </a:r>
            <a:endParaRPr dirty="0"/>
          </a:p>
          <a:p>
            <a:pPr marL="0" lvl="0" indent="0" algn="l" rtl="0">
              <a:lnSpc>
                <a:spcPct val="100000"/>
              </a:lnSpc>
              <a:spcBef>
                <a:spcPts val="1200"/>
              </a:spcBef>
              <a:spcAft>
                <a:spcPts val="0"/>
              </a:spcAft>
              <a:buSzPts val="1440"/>
              <a:buNone/>
            </a:pPr>
            <a:r>
              <a:rPr lang="en-US" dirty="0"/>
              <a:t>Centralized governance for the IT infrastructure team</a:t>
            </a:r>
            <a:endParaRPr dirty="0"/>
          </a:p>
          <a:p>
            <a:pPr marL="0" lvl="0" indent="0" algn="l" rtl="0">
              <a:lnSpc>
                <a:spcPct val="100000"/>
              </a:lnSpc>
              <a:spcBef>
                <a:spcPts val="1200"/>
              </a:spcBef>
              <a:spcAft>
                <a:spcPts val="0"/>
              </a:spcAft>
              <a:buSzPts val="1440"/>
              <a:buNone/>
            </a:pPr>
            <a:r>
              <a:rPr lang="en-US" dirty="0"/>
              <a:t>Unified platform for VMs and containers</a:t>
            </a:r>
            <a:endParaRPr dirty="0"/>
          </a:p>
          <a:p>
            <a:pPr marL="0" lvl="0" indent="0" algn="l" rtl="0">
              <a:lnSpc>
                <a:spcPct val="100000"/>
              </a:lnSpc>
              <a:spcBef>
                <a:spcPts val="1200"/>
              </a:spcBef>
              <a:spcAft>
                <a:spcPts val="0"/>
              </a:spcAft>
              <a:buSzPts val="1440"/>
              <a:buNone/>
            </a:pPr>
            <a:r>
              <a:rPr lang="en-US" dirty="0"/>
              <a:t>Flexible resource allocation</a:t>
            </a:r>
            <a:endParaRPr dirty="0"/>
          </a:p>
          <a:p>
            <a:pPr marL="0" lvl="0" indent="0" algn="l" rtl="0">
              <a:lnSpc>
                <a:spcPct val="100000"/>
              </a:lnSpc>
              <a:spcBef>
                <a:spcPts val="1200"/>
              </a:spcBef>
              <a:spcAft>
                <a:spcPts val="0"/>
              </a:spcAft>
              <a:buSzPts val="1440"/>
              <a:buNone/>
            </a:pPr>
            <a:r>
              <a:rPr lang="en-US" dirty="0"/>
              <a:t>Cloud-like networking</a:t>
            </a:r>
            <a:endParaRPr dirty="0"/>
          </a:p>
        </p:txBody>
      </p:sp>
      <p:grpSp>
        <p:nvGrpSpPr>
          <p:cNvPr id="15345" name="Google Shape;15345;p100"/>
          <p:cNvGrpSpPr/>
          <p:nvPr/>
        </p:nvGrpSpPr>
        <p:grpSpPr>
          <a:xfrm>
            <a:off x="1938779" y="4132070"/>
            <a:ext cx="5693099" cy="358847"/>
            <a:chOff x="1936613" y="3668487"/>
            <a:chExt cx="5696065" cy="359033"/>
          </a:xfrm>
        </p:grpSpPr>
        <p:sp>
          <p:nvSpPr>
            <p:cNvPr id="15346" name="Google Shape;15346;p100"/>
            <p:cNvSpPr/>
            <p:nvPr/>
          </p:nvSpPr>
          <p:spPr>
            <a:xfrm>
              <a:off x="1936613" y="3670072"/>
              <a:ext cx="2724912" cy="35744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Region</a:t>
              </a:r>
              <a:endParaRPr sz="1600" b="1">
                <a:solidFill>
                  <a:srgbClr val="000000"/>
                </a:solidFill>
                <a:latin typeface="Arial"/>
                <a:ea typeface="Arial"/>
                <a:cs typeface="Arial"/>
                <a:sym typeface="Arial"/>
              </a:endParaRPr>
            </a:p>
          </p:txBody>
        </p:sp>
        <p:sp>
          <p:nvSpPr>
            <p:cNvPr id="15347" name="Google Shape;15347;p100"/>
            <p:cNvSpPr/>
            <p:nvPr/>
          </p:nvSpPr>
          <p:spPr>
            <a:xfrm>
              <a:off x="4741618" y="3668487"/>
              <a:ext cx="2891060" cy="35744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Region</a:t>
              </a:r>
              <a:endParaRPr sz="1600" b="1">
                <a:solidFill>
                  <a:srgbClr val="000000"/>
                </a:solidFill>
                <a:latin typeface="Arial"/>
                <a:ea typeface="Arial"/>
                <a:cs typeface="Arial"/>
                <a:sym typeface="Arial"/>
              </a:endParaRPr>
            </a:p>
          </p:txBody>
        </p:sp>
      </p:grpSp>
      <p:grpSp>
        <p:nvGrpSpPr>
          <p:cNvPr id="15348" name="Google Shape;15348;p100"/>
          <p:cNvGrpSpPr/>
          <p:nvPr/>
        </p:nvGrpSpPr>
        <p:grpSpPr>
          <a:xfrm>
            <a:off x="1936883" y="3671404"/>
            <a:ext cx="5698697" cy="376364"/>
            <a:chOff x="1934716" y="3207582"/>
            <a:chExt cx="5701666" cy="376560"/>
          </a:xfrm>
        </p:grpSpPr>
        <p:sp>
          <p:nvSpPr>
            <p:cNvPr id="15349" name="Google Shape;15349;p100"/>
            <p:cNvSpPr/>
            <p:nvPr/>
          </p:nvSpPr>
          <p:spPr>
            <a:xfrm>
              <a:off x="1934716" y="3207582"/>
              <a:ext cx="2277869" cy="376559"/>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Organization</a:t>
              </a:r>
              <a:endParaRPr sz="1600" b="1">
                <a:solidFill>
                  <a:srgbClr val="000000"/>
                </a:solidFill>
                <a:latin typeface="Arial"/>
                <a:ea typeface="Arial"/>
                <a:cs typeface="Arial"/>
                <a:sym typeface="Arial"/>
              </a:endParaRPr>
            </a:p>
          </p:txBody>
        </p:sp>
        <p:sp>
          <p:nvSpPr>
            <p:cNvPr id="15350" name="Google Shape;15350;p100"/>
            <p:cNvSpPr/>
            <p:nvPr/>
          </p:nvSpPr>
          <p:spPr>
            <a:xfrm>
              <a:off x="4285753" y="3207584"/>
              <a:ext cx="3350629" cy="37655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Organization</a:t>
              </a:r>
              <a:endParaRPr sz="1600" b="1">
                <a:solidFill>
                  <a:srgbClr val="000000"/>
                </a:solidFill>
                <a:latin typeface="Arial"/>
                <a:ea typeface="Arial"/>
                <a:cs typeface="Arial"/>
                <a:sym typeface="Arial"/>
              </a:endParaRPr>
            </a:p>
          </p:txBody>
        </p:sp>
      </p:grpSp>
      <p:grpSp>
        <p:nvGrpSpPr>
          <p:cNvPr id="15351" name="Google Shape;15351;p100"/>
          <p:cNvGrpSpPr/>
          <p:nvPr/>
        </p:nvGrpSpPr>
        <p:grpSpPr>
          <a:xfrm>
            <a:off x="641891" y="4047832"/>
            <a:ext cx="6997948" cy="1979616"/>
            <a:chOff x="639048" y="3584206"/>
            <a:chExt cx="7001594" cy="1980648"/>
          </a:xfrm>
        </p:grpSpPr>
        <p:grpSp>
          <p:nvGrpSpPr>
            <p:cNvPr id="15352" name="Google Shape;15352;p100"/>
            <p:cNvGrpSpPr/>
            <p:nvPr/>
          </p:nvGrpSpPr>
          <p:grpSpPr>
            <a:xfrm>
              <a:off x="1934715" y="4552921"/>
              <a:ext cx="5705927" cy="1011933"/>
              <a:chOff x="1934715" y="4552921"/>
              <a:chExt cx="5705927" cy="1011933"/>
            </a:xfrm>
          </p:grpSpPr>
          <p:sp>
            <p:nvSpPr>
              <p:cNvPr id="15353" name="Google Shape;15353;p100"/>
              <p:cNvSpPr/>
              <p:nvPr/>
            </p:nvSpPr>
            <p:spPr>
              <a:xfrm>
                <a:off x="1934715" y="5336254"/>
                <a:ext cx="2704794" cy="228600"/>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vCenter</a:t>
                </a:r>
                <a:endParaRPr sz="1400">
                  <a:solidFill>
                    <a:srgbClr val="000000"/>
                  </a:solidFill>
                  <a:latin typeface="Arial"/>
                  <a:ea typeface="Arial"/>
                  <a:cs typeface="Arial"/>
                  <a:sym typeface="Arial"/>
                </a:endParaRPr>
              </a:p>
            </p:txBody>
          </p:sp>
          <p:sp>
            <p:nvSpPr>
              <p:cNvPr id="15354" name="Google Shape;15354;p100"/>
              <p:cNvSpPr/>
              <p:nvPr/>
            </p:nvSpPr>
            <p:spPr>
              <a:xfrm>
                <a:off x="4741618" y="5336254"/>
                <a:ext cx="2899024" cy="228600"/>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vCenter</a:t>
                </a:r>
                <a:endParaRPr sz="1400">
                  <a:solidFill>
                    <a:srgbClr val="000000"/>
                  </a:solidFill>
                  <a:latin typeface="Arial"/>
                  <a:ea typeface="Arial"/>
                  <a:cs typeface="Arial"/>
                  <a:sym typeface="Arial"/>
                </a:endParaRPr>
              </a:p>
            </p:txBody>
          </p:sp>
          <p:sp>
            <p:nvSpPr>
              <p:cNvPr id="15355" name="Google Shape;15355;p100"/>
              <p:cNvSpPr/>
              <p:nvPr/>
            </p:nvSpPr>
            <p:spPr>
              <a:xfrm>
                <a:off x="2053981" y="4552921"/>
                <a:ext cx="760621" cy="45546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Zone</a:t>
                </a:r>
                <a:endParaRPr sz="1400">
                  <a:solidFill>
                    <a:srgbClr val="000000"/>
                  </a:solidFill>
                  <a:latin typeface="Arial"/>
                  <a:ea typeface="Arial"/>
                  <a:cs typeface="Arial"/>
                  <a:sym typeface="Arial"/>
                </a:endParaRPr>
              </a:p>
            </p:txBody>
          </p:sp>
          <p:sp>
            <p:nvSpPr>
              <p:cNvPr id="15356" name="Google Shape;15356;p100"/>
              <p:cNvSpPr/>
              <p:nvPr/>
            </p:nvSpPr>
            <p:spPr>
              <a:xfrm>
                <a:off x="2910126" y="4552921"/>
                <a:ext cx="760621" cy="45546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Zone</a:t>
                </a:r>
                <a:endParaRPr sz="1400">
                  <a:solidFill>
                    <a:srgbClr val="000000"/>
                  </a:solidFill>
                  <a:latin typeface="Arial"/>
                  <a:ea typeface="Arial"/>
                  <a:cs typeface="Arial"/>
                  <a:sym typeface="Arial"/>
                </a:endParaRPr>
              </a:p>
            </p:txBody>
          </p:sp>
          <p:sp>
            <p:nvSpPr>
              <p:cNvPr id="15357" name="Google Shape;15357;p100"/>
              <p:cNvSpPr/>
              <p:nvPr/>
            </p:nvSpPr>
            <p:spPr>
              <a:xfrm>
                <a:off x="3766272" y="4552921"/>
                <a:ext cx="760621" cy="45546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Zone</a:t>
                </a:r>
                <a:endParaRPr sz="1400">
                  <a:solidFill>
                    <a:srgbClr val="000000"/>
                  </a:solidFill>
                  <a:latin typeface="Arial"/>
                  <a:ea typeface="Arial"/>
                  <a:cs typeface="Arial"/>
                  <a:sym typeface="Arial"/>
                </a:endParaRPr>
              </a:p>
            </p:txBody>
          </p:sp>
          <p:sp>
            <p:nvSpPr>
              <p:cNvPr id="15358" name="Google Shape;15358;p100"/>
              <p:cNvSpPr/>
              <p:nvPr/>
            </p:nvSpPr>
            <p:spPr>
              <a:xfrm>
                <a:off x="2053981" y="5088335"/>
                <a:ext cx="760621" cy="162716"/>
              </a:xfrm>
              <a:prstGeom prst="rect">
                <a:avLst/>
              </a:prstGeom>
              <a:noFill/>
              <a:ln w="19050"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000">
                    <a:solidFill>
                      <a:srgbClr val="61A60E"/>
                    </a:solidFill>
                    <a:latin typeface="Arial"/>
                    <a:ea typeface="Arial"/>
                    <a:cs typeface="Arial"/>
                    <a:sym typeface="Arial"/>
                  </a:rPr>
                  <a:t>Cluster</a:t>
                </a:r>
                <a:endParaRPr sz="1400">
                  <a:solidFill>
                    <a:srgbClr val="61A60E"/>
                  </a:solidFill>
                  <a:latin typeface="Arial"/>
                  <a:ea typeface="Arial"/>
                  <a:cs typeface="Arial"/>
                  <a:sym typeface="Arial"/>
                </a:endParaRPr>
              </a:p>
            </p:txBody>
          </p:sp>
          <p:sp>
            <p:nvSpPr>
              <p:cNvPr id="15359" name="Google Shape;15359;p100"/>
              <p:cNvSpPr/>
              <p:nvPr/>
            </p:nvSpPr>
            <p:spPr>
              <a:xfrm>
                <a:off x="5068431" y="4552921"/>
                <a:ext cx="760621" cy="45546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Zone</a:t>
                </a:r>
                <a:endParaRPr sz="1400">
                  <a:solidFill>
                    <a:srgbClr val="000000"/>
                  </a:solidFill>
                  <a:latin typeface="Arial"/>
                  <a:ea typeface="Arial"/>
                  <a:cs typeface="Arial"/>
                  <a:sym typeface="Arial"/>
                </a:endParaRPr>
              </a:p>
            </p:txBody>
          </p:sp>
          <p:sp>
            <p:nvSpPr>
              <p:cNvPr id="15360" name="Google Shape;15360;p100"/>
              <p:cNvSpPr/>
              <p:nvPr/>
            </p:nvSpPr>
            <p:spPr>
              <a:xfrm>
                <a:off x="6548749" y="4552921"/>
                <a:ext cx="760621" cy="455468"/>
              </a:xfrm>
              <a:prstGeom prst="rect">
                <a:avLst/>
              </a:prstGeom>
              <a:solidFill>
                <a:schemeClr val="accent4"/>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Zone</a:t>
                </a:r>
                <a:endParaRPr sz="1400">
                  <a:solidFill>
                    <a:srgbClr val="000000"/>
                  </a:solidFill>
                  <a:latin typeface="Arial"/>
                  <a:ea typeface="Arial"/>
                  <a:cs typeface="Arial"/>
                  <a:sym typeface="Arial"/>
                </a:endParaRPr>
              </a:p>
            </p:txBody>
          </p:sp>
          <p:sp>
            <p:nvSpPr>
              <p:cNvPr id="15361" name="Google Shape;15361;p100"/>
              <p:cNvSpPr/>
              <p:nvPr/>
            </p:nvSpPr>
            <p:spPr>
              <a:xfrm>
                <a:off x="2910126" y="5088335"/>
                <a:ext cx="760621" cy="162716"/>
              </a:xfrm>
              <a:prstGeom prst="rect">
                <a:avLst/>
              </a:prstGeom>
              <a:noFill/>
              <a:ln w="19050"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000">
                    <a:solidFill>
                      <a:srgbClr val="61A60E"/>
                    </a:solidFill>
                    <a:latin typeface="Arial"/>
                    <a:ea typeface="Arial"/>
                    <a:cs typeface="Arial"/>
                    <a:sym typeface="Arial"/>
                  </a:rPr>
                  <a:t>Cluster</a:t>
                </a:r>
                <a:endParaRPr sz="1400">
                  <a:solidFill>
                    <a:srgbClr val="61A60E"/>
                  </a:solidFill>
                  <a:latin typeface="Arial"/>
                  <a:ea typeface="Arial"/>
                  <a:cs typeface="Arial"/>
                  <a:sym typeface="Arial"/>
                </a:endParaRPr>
              </a:p>
            </p:txBody>
          </p:sp>
          <p:sp>
            <p:nvSpPr>
              <p:cNvPr id="15362" name="Google Shape;15362;p100"/>
              <p:cNvSpPr/>
              <p:nvPr/>
            </p:nvSpPr>
            <p:spPr>
              <a:xfrm>
                <a:off x="3766272" y="5088335"/>
                <a:ext cx="760621" cy="162716"/>
              </a:xfrm>
              <a:prstGeom prst="rect">
                <a:avLst/>
              </a:prstGeom>
              <a:noFill/>
              <a:ln w="19050"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000">
                    <a:solidFill>
                      <a:srgbClr val="61A60E"/>
                    </a:solidFill>
                    <a:latin typeface="Arial"/>
                    <a:ea typeface="Arial"/>
                    <a:cs typeface="Arial"/>
                    <a:sym typeface="Arial"/>
                  </a:rPr>
                  <a:t>Cluster</a:t>
                </a:r>
                <a:endParaRPr sz="1400">
                  <a:solidFill>
                    <a:srgbClr val="61A60E"/>
                  </a:solidFill>
                  <a:latin typeface="Arial"/>
                  <a:ea typeface="Arial"/>
                  <a:cs typeface="Arial"/>
                  <a:sym typeface="Arial"/>
                </a:endParaRPr>
              </a:p>
            </p:txBody>
          </p:sp>
          <p:sp>
            <p:nvSpPr>
              <p:cNvPr id="15363" name="Google Shape;15363;p100"/>
              <p:cNvSpPr/>
              <p:nvPr/>
            </p:nvSpPr>
            <p:spPr>
              <a:xfrm>
                <a:off x="5068431" y="5088335"/>
                <a:ext cx="760621" cy="162716"/>
              </a:xfrm>
              <a:prstGeom prst="rect">
                <a:avLst/>
              </a:prstGeom>
              <a:noFill/>
              <a:ln w="19050"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000">
                    <a:solidFill>
                      <a:srgbClr val="61A60E"/>
                    </a:solidFill>
                    <a:latin typeface="Arial"/>
                    <a:ea typeface="Arial"/>
                    <a:cs typeface="Arial"/>
                    <a:sym typeface="Arial"/>
                  </a:rPr>
                  <a:t>Cluster</a:t>
                </a:r>
                <a:endParaRPr sz="1400">
                  <a:solidFill>
                    <a:srgbClr val="61A60E"/>
                  </a:solidFill>
                  <a:latin typeface="Arial"/>
                  <a:ea typeface="Arial"/>
                  <a:cs typeface="Arial"/>
                  <a:sym typeface="Arial"/>
                </a:endParaRPr>
              </a:p>
            </p:txBody>
          </p:sp>
          <p:sp>
            <p:nvSpPr>
              <p:cNvPr id="15364" name="Google Shape;15364;p100"/>
              <p:cNvSpPr/>
              <p:nvPr/>
            </p:nvSpPr>
            <p:spPr>
              <a:xfrm>
                <a:off x="6548749" y="5088335"/>
                <a:ext cx="760621" cy="162716"/>
              </a:xfrm>
              <a:prstGeom prst="rect">
                <a:avLst/>
              </a:prstGeom>
              <a:noFill/>
              <a:ln w="19050"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000">
                    <a:solidFill>
                      <a:srgbClr val="61A60E"/>
                    </a:solidFill>
                    <a:latin typeface="Arial"/>
                    <a:ea typeface="Arial"/>
                    <a:cs typeface="Arial"/>
                    <a:sym typeface="Arial"/>
                  </a:rPr>
                  <a:t>Cluster</a:t>
                </a:r>
                <a:endParaRPr sz="1400">
                  <a:solidFill>
                    <a:srgbClr val="61A60E"/>
                  </a:solidFill>
                  <a:latin typeface="Arial"/>
                  <a:ea typeface="Arial"/>
                  <a:cs typeface="Arial"/>
                  <a:sym typeface="Arial"/>
                </a:endParaRPr>
              </a:p>
            </p:txBody>
          </p:sp>
        </p:grpSp>
        <p:grpSp>
          <p:nvGrpSpPr>
            <p:cNvPr id="15365" name="Google Shape;15365;p100"/>
            <p:cNvGrpSpPr/>
            <p:nvPr/>
          </p:nvGrpSpPr>
          <p:grpSpPr>
            <a:xfrm>
              <a:off x="639048" y="3584206"/>
              <a:ext cx="1001413" cy="1737052"/>
              <a:chOff x="639048" y="3584206"/>
              <a:chExt cx="1001413" cy="1737052"/>
            </a:xfrm>
          </p:grpSpPr>
          <p:sp>
            <p:nvSpPr>
              <p:cNvPr id="15366" name="Google Shape;15366;p100"/>
              <p:cNvSpPr/>
              <p:nvPr/>
            </p:nvSpPr>
            <p:spPr>
              <a:xfrm>
                <a:off x="903079" y="3584206"/>
                <a:ext cx="473350" cy="497859"/>
              </a:xfrm>
              <a:custGeom>
                <a:avLst/>
                <a:gdLst/>
                <a:ahLst/>
                <a:cxnLst/>
                <a:rect l="l" t="t" r="r" b="b"/>
                <a:pathLst>
                  <a:path w="380" h="386" extrusionOk="0">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noFill/>
              <a:ln w="12700" cap="flat" cmpd="sng">
                <a:solidFill>
                  <a:schemeClr val="accent4"/>
                </a:solidFill>
                <a:prstDash val="solid"/>
                <a:round/>
                <a:headEnd type="none" w="sm" len="sm"/>
                <a:tailEnd type="none" w="sm" len="sm"/>
              </a:ln>
            </p:spPr>
            <p:txBody>
              <a:bodyPr spcFirstLastPara="1" wrap="square" lIns="91350" tIns="45625" rIns="91350" bIns="45625" anchor="t" anchorCtr="0">
                <a:noAutofit/>
              </a:bodyPr>
              <a:lstStyle/>
              <a:p>
                <a:pPr marL="0" marR="0" lvl="0" indent="0" algn="l" rtl="0">
                  <a:spcBef>
                    <a:spcPts val="0"/>
                  </a:spcBef>
                  <a:spcAft>
                    <a:spcPts val="0"/>
                  </a:spcAft>
                  <a:buNone/>
                </a:pPr>
                <a:endParaRPr sz="1797">
                  <a:solidFill>
                    <a:srgbClr val="F3BA16"/>
                  </a:solidFill>
                  <a:latin typeface="Open Sans Light"/>
                  <a:ea typeface="Open Sans Light"/>
                  <a:cs typeface="Open Sans Light"/>
                  <a:sym typeface="Open Sans Light"/>
                </a:endParaRPr>
              </a:p>
            </p:txBody>
          </p:sp>
          <p:sp>
            <p:nvSpPr>
              <p:cNvPr id="15367" name="Google Shape;15367;p100"/>
              <p:cNvSpPr txBox="1"/>
              <p:nvPr/>
            </p:nvSpPr>
            <p:spPr>
              <a:xfrm>
                <a:off x="639048" y="4212973"/>
                <a:ext cx="1001413" cy="1108285"/>
              </a:xfrm>
              <a:prstGeom prst="rect">
                <a:avLst/>
              </a:prstGeom>
              <a:noFill/>
              <a:ln>
                <a:noFill/>
              </a:ln>
            </p:spPr>
            <p:txBody>
              <a:bodyPr spcFirstLastPara="1" wrap="square" lIns="0" tIns="0" rIns="0" bIns="0" anchor="ctr"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Enterprise IT Admin </a:t>
                </a:r>
                <a:endParaRPr sz="1400">
                  <a:solidFill>
                    <a:srgbClr val="000000"/>
                  </a:solidFill>
                  <a:latin typeface="Arial"/>
                  <a:ea typeface="Arial"/>
                  <a:cs typeface="Arial"/>
                  <a:sym typeface="Arial"/>
                </a:endParaRPr>
              </a:p>
              <a:p>
                <a:pPr marL="0" marR="0" lvl="0" indent="0" algn="ctr" rtl="0">
                  <a:spcBef>
                    <a:spcPts val="0"/>
                  </a:spcBef>
                  <a:spcAft>
                    <a:spcPts val="0"/>
                  </a:spcAft>
                  <a:buNone/>
                </a:pPr>
                <a:r>
                  <a:rPr lang="en-US" sz="1200">
                    <a:solidFill>
                      <a:srgbClr val="000000"/>
                    </a:solidFill>
                    <a:latin typeface="Arial"/>
                    <a:ea typeface="Arial"/>
                    <a:cs typeface="Arial"/>
                    <a:sym typeface="Arial"/>
                  </a:rPr>
                  <a:t>or</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Service Provider Admin</a:t>
                </a:r>
                <a:endParaRPr sz="1400">
                  <a:solidFill>
                    <a:srgbClr val="000000"/>
                  </a:solidFill>
                  <a:latin typeface="Arial"/>
                  <a:ea typeface="Arial"/>
                  <a:cs typeface="Arial"/>
                  <a:sym typeface="Arial"/>
                </a:endParaRPr>
              </a:p>
            </p:txBody>
          </p:sp>
        </p:grpSp>
      </p:grpSp>
      <p:grpSp>
        <p:nvGrpSpPr>
          <p:cNvPr id="15368" name="Google Shape;15368;p100"/>
          <p:cNvGrpSpPr/>
          <p:nvPr/>
        </p:nvGrpSpPr>
        <p:grpSpPr>
          <a:xfrm>
            <a:off x="1936884" y="4574094"/>
            <a:ext cx="5685168" cy="357262"/>
            <a:chOff x="1934716" y="4110742"/>
            <a:chExt cx="5688130" cy="357448"/>
          </a:xfrm>
        </p:grpSpPr>
        <p:sp>
          <p:nvSpPr>
            <p:cNvPr id="15369" name="Google Shape;15369;p100"/>
            <p:cNvSpPr/>
            <p:nvPr/>
          </p:nvSpPr>
          <p:spPr>
            <a:xfrm>
              <a:off x="1934716" y="4110742"/>
              <a:ext cx="2704794" cy="357448"/>
            </a:xfrm>
            <a:prstGeom prst="rect">
              <a:avLst/>
            </a:prstGeom>
            <a:noFill/>
            <a:ln w="15875"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61A60E"/>
                  </a:solidFill>
                  <a:latin typeface="Arial"/>
                  <a:ea typeface="Arial"/>
                  <a:cs typeface="Arial"/>
                  <a:sym typeface="Arial"/>
                </a:rPr>
                <a:t>Supervisor</a:t>
              </a:r>
              <a:endParaRPr sz="1400" b="1">
                <a:solidFill>
                  <a:srgbClr val="61A60E"/>
                </a:solidFill>
                <a:latin typeface="Arial"/>
                <a:ea typeface="Arial"/>
                <a:cs typeface="Arial"/>
                <a:sym typeface="Arial"/>
              </a:endParaRPr>
            </a:p>
          </p:txBody>
        </p:sp>
        <p:sp>
          <p:nvSpPr>
            <p:cNvPr id="15370" name="Google Shape;15370;p100"/>
            <p:cNvSpPr/>
            <p:nvPr/>
          </p:nvSpPr>
          <p:spPr>
            <a:xfrm>
              <a:off x="4741618" y="4110742"/>
              <a:ext cx="1414246" cy="357448"/>
            </a:xfrm>
            <a:prstGeom prst="rect">
              <a:avLst/>
            </a:prstGeom>
            <a:noFill/>
            <a:ln w="15875"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61A60E"/>
                  </a:solidFill>
                  <a:latin typeface="Arial"/>
                  <a:ea typeface="Arial"/>
                  <a:cs typeface="Arial"/>
                  <a:sym typeface="Arial"/>
                </a:rPr>
                <a:t>Supervisor</a:t>
              </a:r>
              <a:endParaRPr sz="1400" b="1">
                <a:solidFill>
                  <a:srgbClr val="61A60E"/>
                </a:solidFill>
                <a:latin typeface="Arial"/>
                <a:ea typeface="Arial"/>
                <a:cs typeface="Arial"/>
                <a:sym typeface="Arial"/>
              </a:endParaRPr>
            </a:p>
          </p:txBody>
        </p:sp>
        <p:sp>
          <p:nvSpPr>
            <p:cNvPr id="15371" name="Google Shape;15371;p100"/>
            <p:cNvSpPr/>
            <p:nvPr/>
          </p:nvSpPr>
          <p:spPr>
            <a:xfrm>
              <a:off x="6235273" y="4110742"/>
              <a:ext cx="1387573" cy="357448"/>
            </a:xfrm>
            <a:prstGeom prst="rect">
              <a:avLst/>
            </a:prstGeom>
            <a:noFill/>
            <a:ln w="15875" cap="flat" cmpd="sng">
              <a:solidFill>
                <a:schemeClr val="accent4"/>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61A60E"/>
                  </a:solidFill>
                  <a:latin typeface="Arial"/>
                  <a:ea typeface="Arial"/>
                  <a:cs typeface="Arial"/>
                  <a:sym typeface="Arial"/>
                </a:rPr>
                <a:t>Supervisor</a:t>
              </a:r>
              <a:endParaRPr sz="1400" b="1">
                <a:solidFill>
                  <a:srgbClr val="61A60E"/>
                </a:solidFill>
                <a:latin typeface="Arial"/>
                <a:ea typeface="Arial"/>
                <a:cs typeface="Arial"/>
                <a:sym typeface="Arial"/>
              </a:endParaRPr>
            </a:p>
          </p:txBody>
        </p:sp>
      </p:grpSp>
      <p:grpSp>
        <p:nvGrpSpPr>
          <p:cNvPr id="15372" name="Google Shape;15372;p100"/>
          <p:cNvGrpSpPr/>
          <p:nvPr/>
        </p:nvGrpSpPr>
        <p:grpSpPr>
          <a:xfrm>
            <a:off x="641892" y="2536628"/>
            <a:ext cx="6993421" cy="1109628"/>
            <a:chOff x="639048" y="2072211"/>
            <a:chExt cx="6997065" cy="1110206"/>
          </a:xfrm>
        </p:grpSpPr>
        <p:grpSp>
          <p:nvGrpSpPr>
            <p:cNvPr id="15373" name="Google Shape;15373;p100"/>
            <p:cNvGrpSpPr/>
            <p:nvPr/>
          </p:nvGrpSpPr>
          <p:grpSpPr>
            <a:xfrm>
              <a:off x="639048" y="2072211"/>
              <a:ext cx="1001413" cy="1110206"/>
              <a:chOff x="639048" y="2072211"/>
              <a:chExt cx="1001413" cy="1110206"/>
            </a:xfrm>
          </p:grpSpPr>
          <p:sp>
            <p:nvSpPr>
              <p:cNvPr id="15374" name="Google Shape;15374;p100"/>
              <p:cNvSpPr/>
              <p:nvPr/>
            </p:nvSpPr>
            <p:spPr>
              <a:xfrm>
                <a:off x="903079" y="2072211"/>
                <a:ext cx="473350" cy="497859"/>
              </a:xfrm>
              <a:custGeom>
                <a:avLst/>
                <a:gdLst/>
                <a:ahLst/>
                <a:cxnLst/>
                <a:rect l="l" t="t" r="r" b="b"/>
                <a:pathLst>
                  <a:path w="380" h="386" extrusionOk="0">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chemeClr val="accent6"/>
              </a:solidFill>
              <a:ln w="12700" cap="flat" cmpd="sng">
                <a:solidFill>
                  <a:schemeClr val="accent5"/>
                </a:solidFill>
                <a:prstDash val="solid"/>
                <a:round/>
                <a:headEnd type="none" w="sm" len="sm"/>
                <a:tailEnd type="none" w="sm" len="sm"/>
              </a:ln>
            </p:spPr>
            <p:txBody>
              <a:bodyPr spcFirstLastPara="1" wrap="square" lIns="91350" tIns="45625" rIns="91350" bIns="45625" anchor="t" anchorCtr="0">
                <a:noAutofit/>
              </a:bodyPr>
              <a:lstStyle/>
              <a:p>
                <a:pPr marL="0" marR="0" lvl="0" indent="0" algn="l" rtl="0">
                  <a:spcBef>
                    <a:spcPts val="0"/>
                  </a:spcBef>
                  <a:spcAft>
                    <a:spcPts val="0"/>
                  </a:spcAft>
                  <a:buNone/>
                </a:pPr>
                <a:endParaRPr sz="1797">
                  <a:solidFill>
                    <a:srgbClr val="FFFFFF"/>
                  </a:solidFill>
                  <a:latin typeface="Open Sans Light"/>
                  <a:ea typeface="Open Sans Light"/>
                  <a:cs typeface="Open Sans Light"/>
                  <a:sym typeface="Open Sans Light"/>
                </a:endParaRPr>
              </a:p>
            </p:txBody>
          </p:sp>
          <p:sp>
            <p:nvSpPr>
              <p:cNvPr id="15375" name="Google Shape;15375;p100"/>
              <p:cNvSpPr txBox="1"/>
              <p:nvPr/>
            </p:nvSpPr>
            <p:spPr>
              <a:xfrm>
                <a:off x="639048" y="2628275"/>
                <a:ext cx="1001413" cy="554142"/>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LOB Admin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or </a:t>
                </a:r>
                <a:br>
                  <a:rPr lang="en-US" sz="1200">
                    <a:solidFill>
                      <a:srgbClr val="000000"/>
                    </a:solidFill>
                    <a:latin typeface="Arial"/>
                    <a:ea typeface="Arial"/>
                    <a:cs typeface="Arial"/>
                    <a:sym typeface="Arial"/>
                  </a:rPr>
                </a:br>
                <a:r>
                  <a:rPr lang="en-US" sz="1200">
                    <a:solidFill>
                      <a:srgbClr val="000000"/>
                    </a:solidFill>
                    <a:latin typeface="Arial"/>
                    <a:ea typeface="Arial"/>
                    <a:cs typeface="Arial"/>
                    <a:sym typeface="Arial"/>
                  </a:rPr>
                  <a:t>Org Admin</a:t>
                </a:r>
                <a:endParaRPr sz="1400">
                  <a:solidFill>
                    <a:srgbClr val="000000"/>
                  </a:solidFill>
                  <a:latin typeface="Arial"/>
                  <a:ea typeface="Arial"/>
                  <a:cs typeface="Arial"/>
                  <a:sym typeface="Arial"/>
                </a:endParaRPr>
              </a:p>
            </p:txBody>
          </p:sp>
        </p:grpSp>
        <p:grpSp>
          <p:nvGrpSpPr>
            <p:cNvPr id="15376" name="Google Shape;15376;p100"/>
            <p:cNvGrpSpPr/>
            <p:nvPr/>
          </p:nvGrpSpPr>
          <p:grpSpPr>
            <a:xfrm>
              <a:off x="1930499" y="2804394"/>
              <a:ext cx="5705614" cy="307314"/>
              <a:chOff x="1930499" y="2804394"/>
              <a:chExt cx="5705614" cy="307314"/>
            </a:xfrm>
          </p:grpSpPr>
          <p:sp>
            <p:nvSpPr>
              <p:cNvPr id="15377" name="Google Shape;15377;p100"/>
              <p:cNvSpPr/>
              <p:nvPr/>
            </p:nvSpPr>
            <p:spPr>
              <a:xfrm>
                <a:off x="5359543" y="2804394"/>
                <a:ext cx="2276570" cy="306401"/>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Project</a:t>
                </a:r>
                <a:endParaRPr sz="1600" b="1">
                  <a:solidFill>
                    <a:srgbClr val="000000"/>
                  </a:solidFill>
                  <a:latin typeface="Arial"/>
                  <a:ea typeface="Arial"/>
                  <a:cs typeface="Arial"/>
                  <a:sym typeface="Arial"/>
                </a:endParaRPr>
              </a:p>
            </p:txBody>
          </p:sp>
          <p:sp>
            <p:nvSpPr>
              <p:cNvPr id="15378" name="Google Shape;15378;p100"/>
              <p:cNvSpPr/>
              <p:nvPr/>
            </p:nvSpPr>
            <p:spPr>
              <a:xfrm>
                <a:off x="1930499" y="2805307"/>
                <a:ext cx="1115568" cy="306401"/>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Project</a:t>
                </a:r>
                <a:endParaRPr sz="1600" b="1">
                  <a:solidFill>
                    <a:srgbClr val="000000"/>
                  </a:solidFill>
                  <a:latin typeface="Arial"/>
                  <a:ea typeface="Arial"/>
                  <a:cs typeface="Arial"/>
                  <a:sym typeface="Arial"/>
                </a:endParaRPr>
              </a:p>
            </p:txBody>
          </p:sp>
          <p:sp>
            <p:nvSpPr>
              <p:cNvPr id="15379" name="Google Shape;15379;p100"/>
              <p:cNvSpPr/>
              <p:nvPr/>
            </p:nvSpPr>
            <p:spPr>
              <a:xfrm>
                <a:off x="3100922" y="2805307"/>
                <a:ext cx="1115568" cy="306401"/>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400" b="1">
                    <a:solidFill>
                      <a:srgbClr val="FFFFFF"/>
                    </a:solidFill>
                    <a:latin typeface="Arial"/>
                    <a:ea typeface="Arial"/>
                    <a:cs typeface="Arial"/>
                    <a:sym typeface="Arial"/>
                  </a:rPr>
                  <a:t>Project</a:t>
                </a:r>
                <a:endParaRPr sz="1600" b="1">
                  <a:solidFill>
                    <a:srgbClr val="000000"/>
                  </a:solidFill>
                  <a:latin typeface="Arial"/>
                  <a:ea typeface="Arial"/>
                  <a:cs typeface="Arial"/>
                  <a:sym typeface="Arial"/>
                </a:endParaRPr>
              </a:p>
            </p:txBody>
          </p:sp>
        </p:grpSp>
      </p:grpSp>
      <p:grpSp>
        <p:nvGrpSpPr>
          <p:cNvPr id="15380" name="Google Shape;15380;p100"/>
          <p:cNvGrpSpPr/>
          <p:nvPr/>
        </p:nvGrpSpPr>
        <p:grpSpPr>
          <a:xfrm>
            <a:off x="1942825" y="1958794"/>
            <a:ext cx="5682218" cy="1278224"/>
            <a:chOff x="1940661" y="1494077"/>
            <a:chExt cx="5685179" cy="1278890"/>
          </a:xfrm>
        </p:grpSpPr>
        <p:sp>
          <p:nvSpPr>
            <p:cNvPr id="15381" name="Google Shape;15381;p100"/>
            <p:cNvSpPr/>
            <p:nvPr/>
          </p:nvSpPr>
          <p:spPr>
            <a:xfrm>
              <a:off x="6566534" y="2277317"/>
              <a:ext cx="1005840" cy="445462"/>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Namespace</a:t>
              </a:r>
              <a:endParaRPr sz="1400">
                <a:solidFill>
                  <a:srgbClr val="000000"/>
                </a:solidFill>
                <a:latin typeface="Arial"/>
                <a:ea typeface="Arial"/>
                <a:cs typeface="Arial"/>
                <a:sym typeface="Arial"/>
              </a:endParaRPr>
            </a:p>
          </p:txBody>
        </p:sp>
        <p:sp>
          <p:nvSpPr>
            <p:cNvPr id="15382" name="Google Shape;15382;p100"/>
            <p:cNvSpPr/>
            <p:nvPr/>
          </p:nvSpPr>
          <p:spPr>
            <a:xfrm>
              <a:off x="5367272" y="1494077"/>
              <a:ext cx="2258568" cy="1277978"/>
            </a:xfrm>
            <a:prstGeom prst="rect">
              <a:avLst/>
            </a:prstGeom>
            <a:noFill/>
            <a:ln w="15875" cap="flat" cmpd="sng">
              <a:solidFill>
                <a:schemeClr val="accent2"/>
              </a:solidFill>
              <a:prstDash val="solid"/>
              <a:round/>
              <a:headEnd type="none" w="sm" len="sm"/>
              <a:tailEnd type="none" w="sm" len="sm"/>
            </a:ln>
          </p:spPr>
          <p:txBody>
            <a:bodyPr spcFirstLastPara="1" wrap="square" lIns="91375" tIns="45650" rIns="91375" bIns="45650" anchor="t" anchorCtr="0">
              <a:noAutofit/>
            </a:bodyPr>
            <a:lstStyle/>
            <a:p>
              <a:pPr marL="0" marR="0" lvl="0" indent="0" algn="ctr" rtl="0">
                <a:spcBef>
                  <a:spcPts val="0"/>
                </a:spcBef>
                <a:spcAft>
                  <a:spcPts val="0"/>
                </a:spcAft>
                <a:buNone/>
              </a:pPr>
              <a:r>
                <a:rPr lang="en-US" sz="1400" b="1">
                  <a:solidFill>
                    <a:srgbClr val="005C8A"/>
                  </a:solidFill>
                  <a:latin typeface="Arial"/>
                  <a:ea typeface="Arial"/>
                  <a:cs typeface="Arial"/>
                  <a:sym typeface="Arial"/>
                </a:rPr>
                <a:t>VPC</a:t>
              </a:r>
              <a:endParaRPr sz="1600" b="1">
                <a:solidFill>
                  <a:srgbClr val="005C8A"/>
                </a:solidFill>
                <a:latin typeface="Arial"/>
                <a:ea typeface="Arial"/>
                <a:cs typeface="Arial"/>
                <a:sym typeface="Arial"/>
              </a:endParaRPr>
            </a:p>
          </p:txBody>
        </p:sp>
        <p:sp>
          <p:nvSpPr>
            <p:cNvPr id="15383" name="Google Shape;15383;p100"/>
            <p:cNvSpPr/>
            <p:nvPr/>
          </p:nvSpPr>
          <p:spPr>
            <a:xfrm>
              <a:off x="5422369" y="2277317"/>
              <a:ext cx="1005840" cy="445462"/>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Namespace</a:t>
              </a:r>
              <a:endParaRPr sz="1400">
                <a:solidFill>
                  <a:srgbClr val="000000"/>
                </a:solidFill>
                <a:latin typeface="Arial"/>
                <a:ea typeface="Arial"/>
                <a:cs typeface="Arial"/>
                <a:sym typeface="Arial"/>
              </a:endParaRPr>
            </a:p>
          </p:txBody>
        </p:sp>
        <p:sp>
          <p:nvSpPr>
            <p:cNvPr id="15384" name="Google Shape;15384;p100"/>
            <p:cNvSpPr/>
            <p:nvPr/>
          </p:nvSpPr>
          <p:spPr>
            <a:xfrm>
              <a:off x="1985363" y="2278230"/>
              <a:ext cx="1005840" cy="445462"/>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Namespace</a:t>
              </a:r>
              <a:endParaRPr sz="1400">
                <a:solidFill>
                  <a:srgbClr val="000000"/>
                </a:solidFill>
                <a:latin typeface="Arial"/>
                <a:ea typeface="Arial"/>
                <a:cs typeface="Arial"/>
                <a:sym typeface="Arial"/>
              </a:endParaRPr>
            </a:p>
          </p:txBody>
        </p:sp>
        <p:sp>
          <p:nvSpPr>
            <p:cNvPr id="15385" name="Google Shape;15385;p100"/>
            <p:cNvSpPr/>
            <p:nvPr/>
          </p:nvSpPr>
          <p:spPr>
            <a:xfrm>
              <a:off x="1940661" y="1494989"/>
              <a:ext cx="1095244" cy="1277978"/>
            </a:xfrm>
            <a:prstGeom prst="rect">
              <a:avLst/>
            </a:prstGeom>
            <a:noFill/>
            <a:ln w="15875" cap="flat" cmpd="sng">
              <a:solidFill>
                <a:schemeClr val="accent2"/>
              </a:solidFill>
              <a:prstDash val="solid"/>
              <a:round/>
              <a:headEnd type="none" w="sm" len="sm"/>
              <a:tailEnd type="none" w="sm" len="sm"/>
            </a:ln>
          </p:spPr>
          <p:txBody>
            <a:bodyPr spcFirstLastPara="1" wrap="square" lIns="91375" tIns="45650" rIns="91375" bIns="45650" anchor="t" anchorCtr="0">
              <a:noAutofit/>
            </a:bodyPr>
            <a:lstStyle/>
            <a:p>
              <a:pPr marL="0" marR="0" lvl="0" indent="0" algn="ctr" rtl="0">
                <a:spcBef>
                  <a:spcPts val="0"/>
                </a:spcBef>
                <a:spcAft>
                  <a:spcPts val="0"/>
                </a:spcAft>
                <a:buNone/>
              </a:pPr>
              <a:r>
                <a:rPr lang="en-US" sz="1400" b="1">
                  <a:solidFill>
                    <a:srgbClr val="005C8A"/>
                  </a:solidFill>
                  <a:latin typeface="Arial"/>
                  <a:ea typeface="Arial"/>
                  <a:cs typeface="Arial"/>
                  <a:sym typeface="Arial"/>
                </a:rPr>
                <a:t>VPC</a:t>
              </a:r>
              <a:endParaRPr sz="1600" b="1">
                <a:solidFill>
                  <a:srgbClr val="005C8A"/>
                </a:solidFill>
                <a:latin typeface="Arial"/>
                <a:ea typeface="Arial"/>
                <a:cs typeface="Arial"/>
                <a:sym typeface="Arial"/>
              </a:endParaRPr>
            </a:p>
          </p:txBody>
        </p:sp>
        <p:sp>
          <p:nvSpPr>
            <p:cNvPr id="15386" name="Google Shape;15386;p100"/>
            <p:cNvSpPr/>
            <p:nvPr/>
          </p:nvSpPr>
          <p:spPr>
            <a:xfrm>
              <a:off x="3155786" y="2278230"/>
              <a:ext cx="1005840" cy="445462"/>
            </a:xfrm>
            <a:prstGeom prst="rect">
              <a:avLst/>
            </a:prstGeom>
            <a:solidFill>
              <a:schemeClr val="accent2"/>
            </a:solidFill>
            <a:ln>
              <a:noFill/>
            </a:ln>
          </p:spPr>
          <p:txBody>
            <a:bodyPr spcFirstLastPara="1" wrap="square" lIns="91375" tIns="45650" rIns="91375" bIns="45650" anchor="ctr" anchorCtr="0">
              <a:noAutofit/>
            </a:bodyPr>
            <a:lstStyle/>
            <a:p>
              <a:pPr marL="0" marR="0" lvl="0" indent="0" algn="ctr" rtl="0">
                <a:spcBef>
                  <a:spcPts val="0"/>
                </a:spcBef>
                <a:spcAft>
                  <a:spcPts val="0"/>
                </a:spcAft>
                <a:buNone/>
              </a:pPr>
              <a:r>
                <a:rPr lang="en-US" sz="1200">
                  <a:solidFill>
                    <a:srgbClr val="FFFFFF"/>
                  </a:solidFill>
                  <a:latin typeface="Arial"/>
                  <a:ea typeface="Arial"/>
                  <a:cs typeface="Arial"/>
                  <a:sym typeface="Arial"/>
                </a:rPr>
                <a:t>vSphere Namespace</a:t>
              </a:r>
              <a:endParaRPr sz="1400">
                <a:solidFill>
                  <a:srgbClr val="000000"/>
                </a:solidFill>
                <a:latin typeface="Arial"/>
                <a:ea typeface="Arial"/>
                <a:cs typeface="Arial"/>
                <a:sym typeface="Arial"/>
              </a:endParaRPr>
            </a:p>
          </p:txBody>
        </p:sp>
        <p:sp>
          <p:nvSpPr>
            <p:cNvPr id="15387" name="Google Shape;15387;p100"/>
            <p:cNvSpPr/>
            <p:nvPr/>
          </p:nvSpPr>
          <p:spPr>
            <a:xfrm>
              <a:off x="3111084" y="1494989"/>
              <a:ext cx="1095244" cy="1277978"/>
            </a:xfrm>
            <a:prstGeom prst="rect">
              <a:avLst/>
            </a:prstGeom>
            <a:noFill/>
            <a:ln w="15875" cap="flat" cmpd="sng">
              <a:solidFill>
                <a:schemeClr val="accent2"/>
              </a:solidFill>
              <a:prstDash val="solid"/>
              <a:round/>
              <a:headEnd type="none" w="sm" len="sm"/>
              <a:tailEnd type="none" w="sm" len="sm"/>
            </a:ln>
          </p:spPr>
          <p:txBody>
            <a:bodyPr spcFirstLastPara="1" wrap="square" lIns="91375" tIns="45650" rIns="91375" bIns="45650" anchor="t" anchorCtr="0">
              <a:noAutofit/>
            </a:bodyPr>
            <a:lstStyle/>
            <a:p>
              <a:pPr marL="0" marR="0" lvl="0" indent="0" algn="ctr" rtl="0">
                <a:spcBef>
                  <a:spcPts val="0"/>
                </a:spcBef>
                <a:spcAft>
                  <a:spcPts val="0"/>
                </a:spcAft>
                <a:buNone/>
              </a:pPr>
              <a:r>
                <a:rPr lang="en-US" sz="1400" b="1">
                  <a:solidFill>
                    <a:srgbClr val="005C8A"/>
                  </a:solidFill>
                  <a:latin typeface="Arial"/>
                  <a:ea typeface="Arial"/>
                  <a:cs typeface="Arial"/>
                  <a:sym typeface="Arial"/>
                </a:rPr>
                <a:t>VPC</a:t>
              </a:r>
              <a:endParaRPr sz="1600" b="1">
                <a:solidFill>
                  <a:srgbClr val="005C8A"/>
                </a:solidFill>
                <a:latin typeface="Arial"/>
                <a:ea typeface="Arial"/>
                <a:cs typeface="Arial"/>
                <a:sym typeface="Arial"/>
              </a:endParaRPr>
            </a:p>
          </p:txBody>
        </p:sp>
      </p:grpSp>
      <p:grpSp>
        <p:nvGrpSpPr>
          <p:cNvPr id="15388" name="Google Shape;15388;p100"/>
          <p:cNvGrpSpPr/>
          <p:nvPr/>
        </p:nvGrpSpPr>
        <p:grpSpPr>
          <a:xfrm>
            <a:off x="2003912" y="1861621"/>
            <a:ext cx="5545758" cy="1283034"/>
            <a:chOff x="2001779" y="1396863"/>
            <a:chExt cx="5548648" cy="1283702"/>
          </a:xfrm>
        </p:grpSpPr>
        <p:grpSp>
          <p:nvGrpSpPr>
            <p:cNvPr id="15389" name="Google Shape;15389;p100"/>
            <p:cNvGrpSpPr/>
            <p:nvPr/>
          </p:nvGrpSpPr>
          <p:grpSpPr>
            <a:xfrm>
              <a:off x="4288848" y="1396863"/>
              <a:ext cx="1001413" cy="1283702"/>
              <a:chOff x="4288848" y="1396863"/>
              <a:chExt cx="1001413" cy="1283702"/>
            </a:xfrm>
          </p:grpSpPr>
          <p:sp>
            <p:nvSpPr>
              <p:cNvPr id="15390" name="Google Shape;15390;p100"/>
              <p:cNvSpPr/>
              <p:nvPr/>
            </p:nvSpPr>
            <p:spPr>
              <a:xfrm>
                <a:off x="4552879" y="1396863"/>
                <a:ext cx="473350" cy="497859"/>
              </a:xfrm>
              <a:custGeom>
                <a:avLst/>
                <a:gdLst/>
                <a:ahLst/>
                <a:cxnLst/>
                <a:rect l="l" t="t" r="r" b="b"/>
                <a:pathLst>
                  <a:path w="380" h="386" extrusionOk="0">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chemeClr val="accent6"/>
              </a:solidFill>
              <a:ln w="12700" cap="flat" cmpd="sng">
                <a:solidFill>
                  <a:schemeClr val="accent3"/>
                </a:solidFill>
                <a:prstDash val="solid"/>
                <a:round/>
                <a:headEnd type="none" w="sm" len="sm"/>
                <a:tailEnd type="none" w="sm" len="sm"/>
              </a:ln>
            </p:spPr>
            <p:txBody>
              <a:bodyPr spcFirstLastPara="1" wrap="square" lIns="91350" tIns="45625" rIns="91350" bIns="45625" anchor="t" anchorCtr="0">
                <a:noAutofit/>
              </a:bodyPr>
              <a:lstStyle/>
              <a:p>
                <a:pPr marL="0" marR="0" lvl="0" indent="0" algn="l" rtl="0">
                  <a:spcBef>
                    <a:spcPts val="0"/>
                  </a:spcBef>
                  <a:spcAft>
                    <a:spcPts val="0"/>
                  </a:spcAft>
                  <a:buNone/>
                </a:pPr>
                <a:endParaRPr sz="1797">
                  <a:solidFill>
                    <a:srgbClr val="FFFFFF"/>
                  </a:solidFill>
                  <a:latin typeface="Open Sans Light"/>
                  <a:ea typeface="Open Sans Light"/>
                  <a:cs typeface="Open Sans Light"/>
                  <a:sym typeface="Open Sans Light"/>
                </a:endParaRPr>
              </a:p>
            </p:txBody>
          </p:sp>
          <p:sp>
            <p:nvSpPr>
              <p:cNvPr id="15391" name="Google Shape;15391;p100"/>
              <p:cNvSpPr txBox="1"/>
              <p:nvPr/>
            </p:nvSpPr>
            <p:spPr>
              <a:xfrm>
                <a:off x="4288848" y="1941709"/>
                <a:ext cx="1001413" cy="73885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200">
                    <a:solidFill>
                      <a:srgbClr val="000000"/>
                    </a:solidFill>
                    <a:latin typeface="Arial"/>
                    <a:ea typeface="Arial"/>
                    <a:cs typeface="Arial"/>
                    <a:sym typeface="Arial"/>
                  </a:rPr>
                  <a:t>End User, Developer, Platform Engineer </a:t>
                </a:r>
                <a:endParaRPr sz="1400">
                  <a:solidFill>
                    <a:srgbClr val="000000"/>
                  </a:solidFill>
                  <a:latin typeface="Arial"/>
                  <a:ea typeface="Arial"/>
                  <a:cs typeface="Arial"/>
                  <a:sym typeface="Arial"/>
                </a:endParaRPr>
              </a:p>
            </p:txBody>
          </p:sp>
        </p:grpSp>
        <p:grpSp>
          <p:nvGrpSpPr>
            <p:cNvPr id="15392" name="Google Shape;15392;p100"/>
            <p:cNvGrpSpPr/>
            <p:nvPr/>
          </p:nvGrpSpPr>
          <p:grpSpPr>
            <a:xfrm>
              <a:off x="2001779" y="1991344"/>
              <a:ext cx="5548648" cy="247721"/>
              <a:chOff x="2001779" y="1991344"/>
              <a:chExt cx="5548648" cy="247721"/>
            </a:xfrm>
          </p:grpSpPr>
          <p:grpSp>
            <p:nvGrpSpPr>
              <p:cNvPr id="15393" name="Google Shape;15393;p100"/>
              <p:cNvGrpSpPr/>
              <p:nvPr/>
            </p:nvGrpSpPr>
            <p:grpSpPr>
              <a:xfrm>
                <a:off x="6588481" y="1991344"/>
                <a:ext cx="961946" cy="247721"/>
                <a:chOff x="6588481" y="1995144"/>
                <a:chExt cx="961946" cy="247721"/>
              </a:xfrm>
            </p:grpSpPr>
            <p:grpSp>
              <p:nvGrpSpPr>
                <p:cNvPr id="15394" name="Google Shape;15394;p100" descr="Virtual Machine&#10;"/>
                <p:cNvGrpSpPr/>
                <p:nvPr/>
              </p:nvGrpSpPr>
              <p:grpSpPr>
                <a:xfrm>
                  <a:off x="6588481" y="2000447"/>
                  <a:ext cx="264817" cy="237114"/>
                  <a:chOff x="5798589" y="1951740"/>
                  <a:chExt cx="600836" cy="600837"/>
                </a:xfrm>
              </p:grpSpPr>
              <p:sp>
                <p:nvSpPr>
                  <p:cNvPr id="15395" name="Google Shape;15395;p100"/>
                  <p:cNvSpPr/>
                  <p:nvPr/>
                </p:nvSpPr>
                <p:spPr>
                  <a:xfrm>
                    <a:off x="5798589" y="1951740"/>
                    <a:ext cx="600836" cy="600837"/>
                  </a:xfrm>
                  <a:custGeom>
                    <a:avLst/>
                    <a:gdLst/>
                    <a:ahLst/>
                    <a:cxnLst/>
                    <a:rect l="l" t="t" r="r" b="b"/>
                    <a:pathLst>
                      <a:path w="600836" h="600837" extrusionOk="0">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396" name="Google Shape;15396;p100"/>
                  <p:cNvGrpSpPr/>
                  <p:nvPr/>
                </p:nvGrpSpPr>
                <p:grpSpPr>
                  <a:xfrm>
                    <a:off x="5978207" y="2214844"/>
                    <a:ext cx="220729" cy="84117"/>
                    <a:chOff x="5978207" y="2214844"/>
                    <a:chExt cx="220729" cy="84117"/>
                  </a:xfrm>
                </p:grpSpPr>
                <p:sp>
                  <p:nvSpPr>
                    <p:cNvPr id="15397" name="Google Shape;15397;p100"/>
                    <p:cNvSpPr/>
                    <p:nvPr/>
                  </p:nvSpPr>
                  <p:spPr>
                    <a:xfrm>
                      <a:off x="5978207" y="2216741"/>
                      <a:ext cx="80322" cy="81587"/>
                    </a:xfrm>
                    <a:custGeom>
                      <a:avLst/>
                      <a:gdLst/>
                      <a:ahLst/>
                      <a:cxnLst/>
                      <a:rect l="l" t="t" r="r" b="b"/>
                      <a:pathLst>
                        <a:path w="80322" h="81587" extrusionOk="0">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398" name="Google Shape;15398;p100"/>
                    <p:cNvSpPr/>
                    <p:nvPr/>
                  </p:nvSpPr>
                  <p:spPr>
                    <a:xfrm>
                      <a:off x="6081931" y="2214844"/>
                      <a:ext cx="117005" cy="84117"/>
                    </a:xfrm>
                    <a:custGeom>
                      <a:avLst/>
                      <a:gdLst/>
                      <a:ahLst/>
                      <a:cxnLst/>
                      <a:rect l="l" t="t" r="r" b="b"/>
                      <a:pathLst>
                        <a:path w="117005" h="84117" extrusionOk="0">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nvGrpSpPr>
                <p:cNvPr id="15399" name="Google Shape;15399;p100" descr="Application"/>
                <p:cNvGrpSpPr/>
                <p:nvPr/>
              </p:nvGrpSpPr>
              <p:grpSpPr>
                <a:xfrm>
                  <a:off x="6937045" y="1995416"/>
                  <a:ext cx="264817" cy="247177"/>
                  <a:chOff x="530908" y="707686"/>
                  <a:chExt cx="600836" cy="600837"/>
                </a:xfrm>
              </p:grpSpPr>
              <p:sp>
                <p:nvSpPr>
                  <p:cNvPr id="15400" name="Google Shape;15400;p100"/>
                  <p:cNvSpPr/>
                  <p:nvPr/>
                </p:nvSpPr>
                <p:spPr>
                  <a:xfrm>
                    <a:off x="634568" y="934169"/>
                    <a:ext cx="126808" cy="126049"/>
                  </a:xfrm>
                  <a:custGeom>
                    <a:avLst/>
                    <a:gdLst/>
                    <a:ahLst/>
                    <a:cxnLst/>
                    <a:rect l="l" t="t" r="r" b="b"/>
                    <a:pathLst>
                      <a:path w="126808" h="126049" extrusionOk="0">
                        <a:moveTo>
                          <a:pt x="98348" y="97462"/>
                        </a:moveTo>
                        <a:lnTo>
                          <a:pt x="28271" y="97462"/>
                        </a:lnTo>
                        <a:lnTo>
                          <a:pt x="15622" y="126049"/>
                        </a:lnTo>
                        <a:lnTo>
                          <a:pt x="0" y="126049"/>
                        </a:lnTo>
                        <a:lnTo>
                          <a:pt x="55593" y="0"/>
                        </a:lnTo>
                        <a:lnTo>
                          <a:pt x="71215" y="0"/>
                        </a:lnTo>
                        <a:lnTo>
                          <a:pt x="126808" y="126049"/>
                        </a:lnTo>
                        <a:lnTo>
                          <a:pt x="110997" y="126049"/>
                        </a:lnTo>
                        <a:close/>
                        <a:moveTo>
                          <a:pt x="92466" y="83864"/>
                        </a:moveTo>
                        <a:lnTo>
                          <a:pt x="63499" y="17646"/>
                        </a:lnTo>
                        <a:lnTo>
                          <a:pt x="34153" y="8386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01" name="Google Shape;15401;p100"/>
                  <p:cNvSpPr/>
                  <p:nvPr/>
                </p:nvSpPr>
                <p:spPr>
                  <a:xfrm>
                    <a:off x="790976" y="934169"/>
                    <a:ext cx="97588" cy="126049"/>
                  </a:xfrm>
                  <a:custGeom>
                    <a:avLst/>
                    <a:gdLst/>
                    <a:ahLst/>
                    <a:cxnLst/>
                    <a:rect l="l" t="t" r="r" b="b"/>
                    <a:pathLst>
                      <a:path w="97588" h="126049" extrusionOk="0">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636" y="66914"/>
                        </a:moveTo>
                        <a:cubicBezTo>
                          <a:pt x="69128" y="66914"/>
                          <a:pt x="83105" y="56985"/>
                          <a:pt x="83105" y="40161"/>
                        </a:cubicBezTo>
                        <a:cubicBezTo>
                          <a:pt x="83105" y="23338"/>
                          <a:pt x="69128" y="13345"/>
                          <a:pt x="48636" y="13345"/>
                        </a:cubicBezTo>
                        <a:lnTo>
                          <a:pt x="14294" y="13345"/>
                        </a:lnTo>
                        <a:lnTo>
                          <a:pt x="14294" y="6691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02" name="Google Shape;15402;p100"/>
                  <p:cNvSpPr/>
                  <p:nvPr/>
                </p:nvSpPr>
                <p:spPr>
                  <a:xfrm>
                    <a:off x="919302" y="934169"/>
                    <a:ext cx="97588" cy="126049"/>
                  </a:xfrm>
                  <a:custGeom>
                    <a:avLst/>
                    <a:gdLst/>
                    <a:ahLst/>
                    <a:cxnLst/>
                    <a:rect l="l" t="t" r="r" b="b"/>
                    <a:pathLst>
                      <a:path w="97588" h="126049" extrusionOk="0">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573" y="66914"/>
                        </a:moveTo>
                        <a:cubicBezTo>
                          <a:pt x="69128" y="66914"/>
                          <a:pt x="83105" y="56985"/>
                          <a:pt x="83105" y="40161"/>
                        </a:cubicBezTo>
                        <a:cubicBezTo>
                          <a:pt x="83105" y="23338"/>
                          <a:pt x="69128" y="13345"/>
                          <a:pt x="48573" y="13345"/>
                        </a:cubicBezTo>
                        <a:lnTo>
                          <a:pt x="14294" y="13345"/>
                        </a:lnTo>
                        <a:lnTo>
                          <a:pt x="14294" y="6691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03" name="Google Shape;15403;p100"/>
                  <p:cNvSpPr/>
                  <p:nvPr/>
                </p:nvSpPr>
                <p:spPr>
                  <a:xfrm>
                    <a:off x="530908" y="707686"/>
                    <a:ext cx="600836" cy="600837"/>
                  </a:xfrm>
                  <a:custGeom>
                    <a:avLst/>
                    <a:gdLst/>
                    <a:ahLst/>
                    <a:cxnLst/>
                    <a:rect l="l" t="t" r="r" b="b"/>
                    <a:pathLst>
                      <a:path w="600836" h="600837" extrusionOk="0">
                        <a:moveTo>
                          <a:pt x="554920" y="15812"/>
                        </a:moveTo>
                        <a:cubicBezTo>
                          <a:pt x="571523" y="15812"/>
                          <a:pt x="584988" y="29251"/>
                          <a:pt x="585026" y="45853"/>
                        </a:cubicBezTo>
                        <a:lnTo>
                          <a:pt x="585026" y="554920"/>
                        </a:lnTo>
                        <a:cubicBezTo>
                          <a:pt x="585026" y="571548"/>
                          <a:pt x="571548" y="585026"/>
                          <a:pt x="554920" y="585026"/>
                        </a:cubicBezTo>
                        <a:lnTo>
                          <a:pt x="45853" y="585026"/>
                        </a:lnTo>
                        <a:cubicBezTo>
                          <a:pt x="29251" y="584988"/>
                          <a:pt x="15812" y="571523"/>
                          <a:pt x="15812" y="554920"/>
                        </a:cubicBezTo>
                        <a:lnTo>
                          <a:pt x="15812" y="45853"/>
                        </a:lnTo>
                        <a:cubicBezTo>
                          <a:pt x="15812" y="29261"/>
                          <a:pt x="29261" y="15812"/>
                          <a:pt x="45853" y="15812"/>
                        </a:cubicBezTo>
                        <a:lnTo>
                          <a:pt x="554920" y="15812"/>
                        </a:lnTo>
                        <a:moveTo>
                          <a:pt x="554920" y="0"/>
                        </a:moveTo>
                        <a:lnTo>
                          <a:pt x="45853" y="0"/>
                        </a:lnTo>
                        <a:cubicBezTo>
                          <a:pt x="20544" y="35"/>
                          <a:pt x="35" y="20544"/>
                          <a:pt x="0" y="45853"/>
                        </a:cubicBezTo>
                        <a:lnTo>
                          <a:pt x="0" y="554920"/>
                        </a:lnTo>
                        <a:cubicBezTo>
                          <a:pt x="0" y="580257"/>
                          <a:pt x="20519" y="600799"/>
                          <a:pt x="45853" y="600837"/>
                        </a:cubicBezTo>
                        <a:lnTo>
                          <a:pt x="554920" y="600837"/>
                        </a:lnTo>
                        <a:cubicBezTo>
                          <a:pt x="580282" y="600837"/>
                          <a:pt x="600837" y="580282"/>
                          <a:pt x="600837" y="554920"/>
                        </a:cubicBezTo>
                        <a:lnTo>
                          <a:pt x="600837" y="45853"/>
                        </a:lnTo>
                        <a:cubicBezTo>
                          <a:pt x="600799" y="20519"/>
                          <a:pt x="580257" y="0"/>
                          <a:pt x="554920" y="0"/>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04" name="Google Shape;15404;p100" descr="Container 3&#10;"/>
                <p:cNvGrpSpPr/>
                <p:nvPr/>
              </p:nvGrpSpPr>
              <p:grpSpPr>
                <a:xfrm>
                  <a:off x="7285609" y="1995144"/>
                  <a:ext cx="264818" cy="247721"/>
                  <a:chOff x="1852129" y="4420190"/>
                  <a:chExt cx="601469" cy="601469"/>
                </a:xfrm>
              </p:grpSpPr>
              <p:sp>
                <p:nvSpPr>
                  <p:cNvPr id="15405" name="Google Shape;15405;p100"/>
                  <p:cNvSpPr/>
                  <p:nvPr/>
                </p:nvSpPr>
                <p:spPr>
                  <a:xfrm>
                    <a:off x="1852129" y="4420190"/>
                    <a:ext cx="601469" cy="601469"/>
                  </a:xfrm>
                  <a:custGeom>
                    <a:avLst/>
                    <a:gdLst/>
                    <a:ahLst/>
                    <a:cxnLst/>
                    <a:rect l="l" t="t" r="r" b="b"/>
                    <a:pathLst>
                      <a:path w="601469" h="601469" extrusionOk="0">
                        <a:moveTo>
                          <a:pt x="554667" y="15812"/>
                        </a:moveTo>
                        <a:cubicBezTo>
                          <a:pt x="571111" y="15812"/>
                          <a:pt x="585026" y="29093"/>
                          <a:pt x="585026" y="46170"/>
                        </a:cubicBezTo>
                        <a:lnTo>
                          <a:pt x="585026" y="555300"/>
                        </a:lnTo>
                        <a:cubicBezTo>
                          <a:pt x="585026" y="571744"/>
                          <a:pt x="571744" y="585658"/>
                          <a:pt x="554667" y="585658"/>
                        </a:cubicBezTo>
                        <a:lnTo>
                          <a:pt x="46170" y="585658"/>
                        </a:lnTo>
                        <a:cubicBezTo>
                          <a:pt x="29726" y="585658"/>
                          <a:pt x="15812" y="572376"/>
                          <a:pt x="15812" y="555300"/>
                        </a:cubicBezTo>
                        <a:lnTo>
                          <a:pt x="15812" y="46170"/>
                        </a:lnTo>
                        <a:cubicBezTo>
                          <a:pt x="15812" y="29726"/>
                          <a:pt x="29093" y="15812"/>
                          <a:pt x="46170" y="15812"/>
                        </a:cubicBezTo>
                        <a:lnTo>
                          <a:pt x="554667" y="15812"/>
                        </a:lnTo>
                        <a:moveTo>
                          <a:pt x="554667" y="0"/>
                        </a:moveTo>
                        <a:lnTo>
                          <a:pt x="46170" y="0"/>
                        </a:lnTo>
                        <a:cubicBezTo>
                          <a:pt x="20871" y="0"/>
                          <a:pt x="0" y="20239"/>
                          <a:pt x="0" y="46170"/>
                        </a:cubicBezTo>
                        <a:lnTo>
                          <a:pt x="0" y="555300"/>
                        </a:lnTo>
                        <a:cubicBezTo>
                          <a:pt x="0" y="580598"/>
                          <a:pt x="20239" y="601469"/>
                          <a:pt x="46170" y="601469"/>
                        </a:cubicBezTo>
                        <a:lnTo>
                          <a:pt x="555300" y="601469"/>
                        </a:lnTo>
                        <a:cubicBezTo>
                          <a:pt x="580598" y="601469"/>
                          <a:pt x="601469" y="581231"/>
                          <a:pt x="601469" y="555300"/>
                        </a:cubicBezTo>
                        <a:lnTo>
                          <a:pt x="601469" y="46170"/>
                        </a:lnTo>
                        <a:cubicBezTo>
                          <a:pt x="600837" y="20239"/>
                          <a:pt x="580598" y="0"/>
                          <a:pt x="554667" y="0"/>
                        </a:cubicBezTo>
                        <a:lnTo>
                          <a:pt x="554667"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06" name="Google Shape;15406;p100"/>
                  <p:cNvGrpSpPr/>
                  <p:nvPr/>
                </p:nvGrpSpPr>
                <p:grpSpPr>
                  <a:xfrm>
                    <a:off x="1946998" y="4528341"/>
                    <a:ext cx="157482" cy="156850"/>
                    <a:chOff x="1946998" y="4528341"/>
                    <a:chExt cx="157482" cy="156850"/>
                  </a:xfrm>
                </p:grpSpPr>
                <p:grpSp>
                  <p:nvGrpSpPr>
                    <p:cNvPr id="15407" name="Google Shape;15407;p100"/>
                    <p:cNvGrpSpPr/>
                    <p:nvPr/>
                  </p:nvGrpSpPr>
                  <p:grpSpPr>
                    <a:xfrm>
                      <a:off x="1986843" y="4567553"/>
                      <a:ext cx="78425" cy="78425"/>
                      <a:chOff x="1986843" y="4567553"/>
                      <a:chExt cx="78425" cy="78425"/>
                    </a:xfrm>
                  </p:grpSpPr>
                  <p:sp>
                    <p:nvSpPr>
                      <p:cNvPr id="15408" name="Google Shape;15408;p100"/>
                      <p:cNvSpPr/>
                      <p:nvPr/>
                    </p:nvSpPr>
                    <p:spPr>
                      <a:xfrm>
                        <a:off x="1986843"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09" name="Google Shape;15409;p100"/>
                      <p:cNvSpPr/>
                      <p:nvPr/>
                    </p:nvSpPr>
                    <p:spPr>
                      <a:xfrm>
                        <a:off x="2017834"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10" name="Google Shape;15410;p100"/>
                      <p:cNvSpPr/>
                      <p:nvPr/>
                    </p:nvSpPr>
                    <p:spPr>
                      <a:xfrm>
                        <a:off x="2049457"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11" name="Google Shape;15411;p100"/>
                    <p:cNvSpPr/>
                    <p:nvPr/>
                  </p:nvSpPr>
                  <p:spPr>
                    <a:xfrm>
                      <a:off x="1946998" y="4528341"/>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12" name="Google Shape;15412;p100"/>
                  <p:cNvGrpSpPr/>
                  <p:nvPr/>
                </p:nvGrpSpPr>
                <p:grpSpPr>
                  <a:xfrm>
                    <a:off x="2199982" y="4528341"/>
                    <a:ext cx="157482" cy="156850"/>
                    <a:chOff x="2199982" y="4528341"/>
                    <a:chExt cx="157482" cy="156850"/>
                  </a:xfrm>
                </p:grpSpPr>
                <p:grpSp>
                  <p:nvGrpSpPr>
                    <p:cNvPr id="15413" name="Google Shape;15413;p100"/>
                    <p:cNvGrpSpPr/>
                    <p:nvPr/>
                  </p:nvGrpSpPr>
                  <p:grpSpPr>
                    <a:xfrm>
                      <a:off x="2239827" y="4567553"/>
                      <a:ext cx="78425" cy="78425"/>
                      <a:chOff x="2239827" y="4567553"/>
                      <a:chExt cx="78425" cy="78425"/>
                    </a:xfrm>
                  </p:grpSpPr>
                  <p:sp>
                    <p:nvSpPr>
                      <p:cNvPr id="15414" name="Google Shape;15414;p100"/>
                      <p:cNvSpPr/>
                      <p:nvPr/>
                    </p:nvSpPr>
                    <p:spPr>
                      <a:xfrm>
                        <a:off x="2239827"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15" name="Google Shape;15415;p100"/>
                      <p:cNvSpPr/>
                      <p:nvPr/>
                    </p:nvSpPr>
                    <p:spPr>
                      <a:xfrm>
                        <a:off x="2270818"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16" name="Google Shape;15416;p100"/>
                      <p:cNvSpPr/>
                      <p:nvPr/>
                    </p:nvSpPr>
                    <p:spPr>
                      <a:xfrm>
                        <a:off x="2302441"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17" name="Google Shape;15417;p100"/>
                    <p:cNvSpPr/>
                    <p:nvPr/>
                  </p:nvSpPr>
                  <p:spPr>
                    <a:xfrm>
                      <a:off x="2199982" y="4528341"/>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18" name="Google Shape;15418;p100"/>
                  <p:cNvGrpSpPr/>
                  <p:nvPr/>
                </p:nvGrpSpPr>
                <p:grpSpPr>
                  <a:xfrm>
                    <a:off x="1946998" y="4768675"/>
                    <a:ext cx="157482" cy="156850"/>
                    <a:chOff x="1946998" y="4768675"/>
                    <a:chExt cx="157482" cy="156850"/>
                  </a:xfrm>
                </p:grpSpPr>
                <p:grpSp>
                  <p:nvGrpSpPr>
                    <p:cNvPr id="15419" name="Google Shape;15419;p100"/>
                    <p:cNvGrpSpPr/>
                    <p:nvPr/>
                  </p:nvGrpSpPr>
                  <p:grpSpPr>
                    <a:xfrm>
                      <a:off x="1986843" y="4807888"/>
                      <a:ext cx="78425" cy="78425"/>
                      <a:chOff x="1986843" y="4807888"/>
                      <a:chExt cx="78425" cy="78425"/>
                    </a:xfrm>
                  </p:grpSpPr>
                  <p:sp>
                    <p:nvSpPr>
                      <p:cNvPr id="15420" name="Google Shape;15420;p100"/>
                      <p:cNvSpPr/>
                      <p:nvPr/>
                    </p:nvSpPr>
                    <p:spPr>
                      <a:xfrm>
                        <a:off x="1986843"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21" name="Google Shape;15421;p100"/>
                      <p:cNvSpPr/>
                      <p:nvPr/>
                    </p:nvSpPr>
                    <p:spPr>
                      <a:xfrm>
                        <a:off x="2017834"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22" name="Google Shape;15422;p100"/>
                      <p:cNvSpPr/>
                      <p:nvPr/>
                    </p:nvSpPr>
                    <p:spPr>
                      <a:xfrm>
                        <a:off x="2049457"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23" name="Google Shape;15423;p100"/>
                    <p:cNvSpPr/>
                    <p:nvPr/>
                  </p:nvSpPr>
                  <p:spPr>
                    <a:xfrm>
                      <a:off x="1946998" y="4768675"/>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24" name="Google Shape;15424;p100"/>
                  <p:cNvGrpSpPr/>
                  <p:nvPr/>
                </p:nvGrpSpPr>
                <p:grpSpPr>
                  <a:xfrm>
                    <a:off x="2199982" y="4768675"/>
                    <a:ext cx="157482" cy="156850"/>
                    <a:chOff x="2199982" y="4768675"/>
                    <a:chExt cx="157482" cy="156850"/>
                  </a:xfrm>
                </p:grpSpPr>
                <p:grpSp>
                  <p:nvGrpSpPr>
                    <p:cNvPr id="15425" name="Google Shape;15425;p100"/>
                    <p:cNvGrpSpPr/>
                    <p:nvPr/>
                  </p:nvGrpSpPr>
                  <p:grpSpPr>
                    <a:xfrm>
                      <a:off x="2239827" y="4807888"/>
                      <a:ext cx="78425" cy="78425"/>
                      <a:chOff x="2239827" y="4807888"/>
                      <a:chExt cx="78425" cy="78425"/>
                    </a:xfrm>
                  </p:grpSpPr>
                  <p:sp>
                    <p:nvSpPr>
                      <p:cNvPr id="15426" name="Google Shape;15426;p100"/>
                      <p:cNvSpPr/>
                      <p:nvPr/>
                    </p:nvSpPr>
                    <p:spPr>
                      <a:xfrm>
                        <a:off x="2239827"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27" name="Google Shape;15427;p100"/>
                      <p:cNvSpPr/>
                      <p:nvPr/>
                    </p:nvSpPr>
                    <p:spPr>
                      <a:xfrm>
                        <a:off x="2270818"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28" name="Google Shape;15428;p100"/>
                      <p:cNvSpPr/>
                      <p:nvPr/>
                    </p:nvSpPr>
                    <p:spPr>
                      <a:xfrm>
                        <a:off x="2302441"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29" name="Google Shape;15429;p100"/>
                    <p:cNvSpPr/>
                    <p:nvPr/>
                  </p:nvSpPr>
                  <p:spPr>
                    <a:xfrm>
                      <a:off x="2199982" y="4768675"/>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grpSp>
            <p:nvGrpSpPr>
              <p:cNvPr id="15430" name="Google Shape;15430;p100"/>
              <p:cNvGrpSpPr/>
              <p:nvPr/>
            </p:nvGrpSpPr>
            <p:grpSpPr>
              <a:xfrm>
                <a:off x="5444316" y="1991344"/>
                <a:ext cx="961946" cy="247721"/>
                <a:chOff x="5444316" y="1995144"/>
                <a:chExt cx="961946" cy="247721"/>
              </a:xfrm>
            </p:grpSpPr>
            <p:grpSp>
              <p:nvGrpSpPr>
                <p:cNvPr id="15431" name="Google Shape;15431;p100" descr="Virtual Machine&#10;"/>
                <p:cNvGrpSpPr/>
                <p:nvPr/>
              </p:nvGrpSpPr>
              <p:grpSpPr>
                <a:xfrm>
                  <a:off x="5444316" y="2000447"/>
                  <a:ext cx="264817" cy="237114"/>
                  <a:chOff x="5798589" y="1951740"/>
                  <a:chExt cx="600836" cy="600837"/>
                </a:xfrm>
              </p:grpSpPr>
              <p:sp>
                <p:nvSpPr>
                  <p:cNvPr id="15432" name="Google Shape;15432;p100"/>
                  <p:cNvSpPr/>
                  <p:nvPr/>
                </p:nvSpPr>
                <p:spPr>
                  <a:xfrm>
                    <a:off x="5798589" y="1951740"/>
                    <a:ext cx="600836" cy="600837"/>
                  </a:xfrm>
                  <a:custGeom>
                    <a:avLst/>
                    <a:gdLst/>
                    <a:ahLst/>
                    <a:cxnLst/>
                    <a:rect l="l" t="t" r="r" b="b"/>
                    <a:pathLst>
                      <a:path w="600836" h="600837" extrusionOk="0">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33" name="Google Shape;15433;p100"/>
                  <p:cNvGrpSpPr/>
                  <p:nvPr/>
                </p:nvGrpSpPr>
                <p:grpSpPr>
                  <a:xfrm>
                    <a:off x="5978207" y="2214844"/>
                    <a:ext cx="220729" cy="84117"/>
                    <a:chOff x="5978207" y="2214844"/>
                    <a:chExt cx="220729" cy="84117"/>
                  </a:xfrm>
                </p:grpSpPr>
                <p:sp>
                  <p:nvSpPr>
                    <p:cNvPr id="15434" name="Google Shape;15434;p100"/>
                    <p:cNvSpPr/>
                    <p:nvPr/>
                  </p:nvSpPr>
                  <p:spPr>
                    <a:xfrm>
                      <a:off x="5978207" y="2216741"/>
                      <a:ext cx="80322" cy="81587"/>
                    </a:xfrm>
                    <a:custGeom>
                      <a:avLst/>
                      <a:gdLst/>
                      <a:ahLst/>
                      <a:cxnLst/>
                      <a:rect l="l" t="t" r="r" b="b"/>
                      <a:pathLst>
                        <a:path w="80322" h="81587" extrusionOk="0">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35" name="Google Shape;15435;p100"/>
                    <p:cNvSpPr/>
                    <p:nvPr/>
                  </p:nvSpPr>
                  <p:spPr>
                    <a:xfrm>
                      <a:off x="6081931" y="2214844"/>
                      <a:ext cx="117005" cy="84117"/>
                    </a:xfrm>
                    <a:custGeom>
                      <a:avLst/>
                      <a:gdLst/>
                      <a:ahLst/>
                      <a:cxnLst/>
                      <a:rect l="l" t="t" r="r" b="b"/>
                      <a:pathLst>
                        <a:path w="117005" h="84117" extrusionOk="0">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nvGrpSpPr>
                <p:cNvPr id="15436" name="Google Shape;15436;p100" descr="Application"/>
                <p:cNvGrpSpPr/>
                <p:nvPr/>
              </p:nvGrpSpPr>
              <p:grpSpPr>
                <a:xfrm>
                  <a:off x="5792880" y="1995416"/>
                  <a:ext cx="264817" cy="247177"/>
                  <a:chOff x="530908" y="707686"/>
                  <a:chExt cx="600836" cy="600837"/>
                </a:xfrm>
              </p:grpSpPr>
              <p:sp>
                <p:nvSpPr>
                  <p:cNvPr id="15437" name="Google Shape;15437;p100"/>
                  <p:cNvSpPr/>
                  <p:nvPr/>
                </p:nvSpPr>
                <p:spPr>
                  <a:xfrm>
                    <a:off x="634568" y="934169"/>
                    <a:ext cx="126808" cy="126049"/>
                  </a:xfrm>
                  <a:custGeom>
                    <a:avLst/>
                    <a:gdLst/>
                    <a:ahLst/>
                    <a:cxnLst/>
                    <a:rect l="l" t="t" r="r" b="b"/>
                    <a:pathLst>
                      <a:path w="126808" h="126049" extrusionOk="0">
                        <a:moveTo>
                          <a:pt x="98348" y="97462"/>
                        </a:moveTo>
                        <a:lnTo>
                          <a:pt x="28271" y="97462"/>
                        </a:lnTo>
                        <a:lnTo>
                          <a:pt x="15622" y="126049"/>
                        </a:lnTo>
                        <a:lnTo>
                          <a:pt x="0" y="126049"/>
                        </a:lnTo>
                        <a:lnTo>
                          <a:pt x="55593" y="0"/>
                        </a:lnTo>
                        <a:lnTo>
                          <a:pt x="71215" y="0"/>
                        </a:lnTo>
                        <a:lnTo>
                          <a:pt x="126808" y="126049"/>
                        </a:lnTo>
                        <a:lnTo>
                          <a:pt x="110997" y="126049"/>
                        </a:lnTo>
                        <a:close/>
                        <a:moveTo>
                          <a:pt x="92466" y="83864"/>
                        </a:moveTo>
                        <a:lnTo>
                          <a:pt x="63499" y="17646"/>
                        </a:lnTo>
                        <a:lnTo>
                          <a:pt x="34153" y="8386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38" name="Google Shape;15438;p100"/>
                  <p:cNvSpPr/>
                  <p:nvPr/>
                </p:nvSpPr>
                <p:spPr>
                  <a:xfrm>
                    <a:off x="790976" y="934169"/>
                    <a:ext cx="97588" cy="126049"/>
                  </a:xfrm>
                  <a:custGeom>
                    <a:avLst/>
                    <a:gdLst/>
                    <a:ahLst/>
                    <a:cxnLst/>
                    <a:rect l="l" t="t" r="r" b="b"/>
                    <a:pathLst>
                      <a:path w="97588" h="126049" extrusionOk="0">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636" y="66914"/>
                        </a:moveTo>
                        <a:cubicBezTo>
                          <a:pt x="69128" y="66914"/>
                          <a:pt x="83105" y="56985"/>
                          <a:pt x="83105" y="40161"/>
                        </a:cubicBezTo>
                        <a:cubicBezTo>
                          <a:pt x="83105" y="23338"/>
                          <a:pt x="69128" y="13345"/>
                          <a:pt x="48636" y="13345"/>
                        </a:cubicBezTo>
                        <a:lnTo>
                          <a:pt x="14294" y="13345"/>
                        </a:lnTo>
                        <a:lnTo>
                          <a:pt x="14294" y="6691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39" name="Google Shape;15439;p100"/>
                  <p:cNvSpPr/>
                  <p:nvPr/>
                </p:nvSpPr>
                <p:spPr>
                  <a:xfrm>
                    <a:off x="919302" y="934169"/>
                    <a:ext cx="97588" cy="126049"/>
                  </a:xfrm>
                  <a:custGeom>
                    <a:avLst/>
                    <a:gdLst/>
                    <a:ahLst/>
                    <a:cxnLst/>
                    <a:rect l="l" t="t" r="r" b="b"/>
                    <a:pathLst>
                      <a:path w="97588" h="126049" extrusionOk="0">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573" y="66914"/>
                        </a:moveTo>
                        <a:cubicBezTo>
                          <a:pt x="69128" y="66914"/>
                          <a:pt x="83105" y="56985"/>
                          <a:pt x="83105" y="40161"/>
                        </a:cubicBezTo>
                        <a:cubicBezTo>
                          <a:pt x="83105" y="23338"/>
                          <a:pt x="69128" y="13345"/>
                          <a:pt x="48573" y="13345"/>
                        </a:cubicBezTo>
                        <a:lnTo>
                          <a:pt x="14294" y="13345"/>
                        </a:lnTo>
                        <a:lnTo>
                          <a:pt x="14294" y="6691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40" name="Google Shape;15440;p100"/>
                  <p:cNvSpPr/>
                  <p:nvPr/>
                </p:nvSpPr>
                <p:spPr>
                  <a:xfrm>
                    <a:off x="530908" y="707686"/>
                    <a:ext cx="600836" cy="600837"/>
                  </a:xfrm>
                  <a:custGeom>
                    <a:avLst/>
                    <a:gdLst/>
                    <a:ahLst/>
                    <a:cxnLst/>
                    <a:rect l="l" t="t" r="r" b="b"/>
                    <a:pathLst>
                      <a:path w="600836" h="600837" extrusionOk="0">
                        <a:moveTo>
                          <a:pt x="554920" y="15812"/>
                        </a:moveTo>
                        <a:cubicBezTo>
                          <a:pt x="571523" y="15812"/>
                          <a:pt x="584988" y="29251"/>
                          <a:pt x="585026" y="45853"/>
                        </a:cubicBezTo>
                        <a:lnTo>
                          <a:pt x="585026" y="554920"/>
                        </a:lnTo>
                        <a:cubicBezTo>
                          <a:pt x="585026" y="571548"/>
                          <a:pt x="571548" y="585026"/>
                          <a:pt x="554920" y="585026"/>
                        </a:cubicBezTo>
                        <a:lnTo>
                          <a:pt x="45853" y="585026"/>
                        </a:lnTo>
                        <a:cubicBezTo>
                          <a:pt x="29251" y="584988"/>
                          <a:pt x="15812" y="571523"/>
                          <a:pt x="15812" y="554920"/>
                        </a:cubicBezTo>
                        <a:lnTo>
                          <a:pt x="15812" y="45853"/>
                        </a:lnTo>
                        <a:cubicBezTo>
                          <a:pt x="15812" y="29261"/>
                          <a:pt x="29261" y="15812"/>
                          <a:pt x="45853" y="15812"/>
                        </a:cubicBezTo>
                        <a:lnTo>
                          <a:pt x="554920" y="15812"/>
                        </a:lnTo>
                        <a:moveTo>
                          <a:pt x="554920" y="0"/>
                        </a:moveTo>
                        <a:lnTo>
                          <a:pt x="45853" y="0"/>
                        </a:lnTo>
                        <a:cubicBezTo>
                          <a:pt x="20544" y="35"/>
                          <a:pt x="35" y="20544"/>
                          <a:pt x="0" y="45853"/>
                        </a:cubicBezTo>
                        <a:lnTo>
                          <a:pt x="0" y="554920"/>
                        </a:lnTo>
                        <a:cubicBezTo>
                          <a:pt x="0" y="580257"/>
                          <a:pt x="20519" y="600799"/>
                          <a:pt x="45853" y="600837"/>
                        </a:cubicBezTo>
                        <a:lnTo>
                          <a:pt x="554920" y="600837"/>
                        </a:lnTo>
                        <a:cubicBezTo>
                          <a:pt x="580282" y="600837"/>
                          <a:pt x="600837" y="580282"/>
                          <a:pt x="600837" y="554920"/>
                        </a:cubicBezTo>
                        <a:lnTo>
                          <a:pt x="600837" y="45853"/>
                        </a:lnTo>
                        <a:cubicBezTo>
                          <a:pt x="600799" y="20519"/>
                          <a:pt x="580257" y="0"/>
                          <a:pt x="554920" y="0"/>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41" name="Google Shape;15441;p100" descr="Container 3&#10;"/>
                <p:cNvGrpSpPr/>
                <p:nvPr/>
              </p:nvGrpSpPr>
              <p:grpSpPr>
                <a:xfrm>
                  <a:off x="6141444" y="1995144"/>
                  <a:ext cx="264818" cy="247721"/>
                  <a:chOff x="1852129" y="4420190"/>
                  <a:chExt cx="601469" cy="601469"/>
                </a:xfrm>
              </p:grpSpPr>
              <p:sp>
                <p:nvSpPr>
                  <p:cNvPr id="15442" name="Google Shape;15442;p100"/>
                  <p:cNvSpPr/>
                  <p:nvPr/>
                </p:nvSpPr>
                <p:spPr>
                  <a:xfrm>
                    <a:off x="1852129" y="4420190"/>
                    <a:ext cx="601469" cy="601469"/>
                  </a:xfrm>
                  <a:custGeom>
                    <a:avLst/>
                    <a:gdLst/>
                    <a:ahLst/>
                    <a:cxnLst/>
                    <a:rect l="l" t="t" r="r" b="b"/>
                    <a:pathLst>
                      <a:path w="601469" h="601469" extrusionOk="0">
                        <a:moveTo>
                          <a:pt x="554667" y="15812"/>
                        </a:moveTo>
                        <a:cubicBezTo>
                          <a:pt x="571111" y="15812"/>
                          <a:pt x="585026" y="29093"/>
                          <a:pt x="585026" y="46170"/>
                        </a:cubicBezTo>
                        <a:lnTo>
                          <a:pt x="585026" y="555300"/>
                        </a:lnTo>
                        <a:cubicBezTo>
                          <a:pt x="585026" y="571744"/>
                          <a:pt x="571744" y="585658"/>
                          <a:pt x="554667" y="585658"/>
                        </a:cubicBezTo>
                        <a:lnTo>
                          <a:pt x="46170" y="585658"/>
                        </a:lnTo>
                        <a:cubicBezTo>
                          <a:pt x="29726" y="585658"/>
                          <a:pt x="15812" y="572376"/>
                          <a:pt x="15812" y="555300"/>
                        </a:cubicBezTo>
                        <a:lnTo>
                          <a:pt x="15812" y="46170"/>
                        </a:lnTo>
                        <a:cubicBezTo>
                          <a:pt x="15812" y="29726"/>
                          <a:pt x="29093" y="15812"/>
                          <a:pt x="46170" y="15812"/>
                        </a:cubicBezTo>
                        <a:lnTo>
                          <a:pt x="554667" y="15812"/>
                        </a:lnTo>
                        <a:moveTo>
                          <a:pt x="554667" y="0"/>
                        </a:moveTo>
                        <a:lnTo>
                          <a:pt x="46170" y="0"/>
                        </a:lnTo>
                        <a:cubicBezTo>
                          <a:pt x="20871" y="0"/>
                          <a:pt x="0" y="20239"/>
                          <a:pt x="0" y="46170"/>
                        </a:cubicBezTo>
                        <a:lnTo>
                          <a:pt x="0" y="555300"/>
                        </a:lnTo>
                        <a:cubicBezTo>
                          <a:pt x="0" y="580598"/>
                          <a:pt x="20239" y="601469"/>
                          <a:pt x="46170" y="601469"/>
                        </a:cubicBezTo>
                        <a:lnTo>
                          <a:pt x="555300" y="601469"/>
                        </a:lnTo>
                        <a:cubicBezTo>
                          <a:pt x="580598" y="601469"/>
                          <a:pt x="601469" y="581231"/>
                          <a:pt x="601469" y="555300"/>
                        </a:cubicBezTo>
                        <a:lnTo>
                          <a:pt x="601469" y="46170"/>
                        </a:lnTo>
                        <a:cubicBezTo>
                          <a:pt x="600837" y="20239"/>
                          <a:pt x="580598" y="0"/>
                          <a:pt x="554667" y="0"/>
                        </a:cubicBezTo>
                        <a:lnTo>
                          <a:pt x="554667"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43" name="Google Shape;15443;p100"/>
                  <p:cNvGrpSpPr/>
                  <p:nvPr/>
                </p:nvGrpSpPr>
                <p:grpSpPr>
                  <a:xfrm>
                    <a:off x="1946998" y="4528341"/>
                    <a:ext cx="157482" cy="156850"/>
                    <a:chOff x="1946998" y="4528341"/>
                    <a:chExt cx="157482" cy="156850"/>
                  </a:xfrm>
                </p:grpSpPr>
                <p:grpSp>
                  <p:nvGrpSpPr>
                    <p:cNvPr id="15444" name="Google Shape;15444;p100"/>
                    <p:cNvGrpSpPr/>
                    <p:nvPr/>
                  </p:nvGrpSpPr>
                  <p:grpSpPr>
                    <a:xfrm>
                      <a:off x="1986843" y="4567553"/>
                      <a:ext cx="78425" cy="78425"/>
                      <a:chOff x="1986843" y="4567553"/>
                      <a:chExt cx="78425" cy="78425"/>
                    </a:xfrm>
                  </p:grpSpPr>
                  <p:sp>
                    <p:nvSpPr>
                      <p:cNvPr id="15445" name="Google Shape;15445;p100"/>
                      <p:cNvSpPr/>
                      <p:nvPr/>
                    </p:nvSpPr>
                    <p:spPr>
                      <a:xfrm>
                        <a:off x="1986843"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46" name="Google Shape;15446;p100"/>
                      <p:cNvSpPr/>
                      <p:nvPr/>
                    </p:nvSpPr>
                    <p:spPr>
                      <a:xfrm>
                        <a:off x="2017834"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47" name="Google Shape;15447;p100"/>
                      <p:cNvSpPr/>
                      <p:nvPr/>
                    </p:nvSpPr>
                    <p:spPr>
                      <a:xfrm>
                        <a:off x="2049457"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48" name="Google Shape;15448;p100"/>
                    <p:cNvSpPr/>
                    <p:nvPr/>
                  </p:nvSpPr>
                  <p:spPr>
                    <a:xfrm>
                      <a:off x="1946998" y="4528341"/>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49" name="Google Shape;15449;p100"/>
                  <p:cNvGrpSpPr/>
                  <p:nvPr/>
                </p:nvGrpSpPr>
                <p:grpSpPr>
                  <a:xfrm>
                    <a:off x="2199982" y="4528341"/>
                    <a:ext cx="157482" cy="156850"/>
                    <a:chOff x="2199982" y="4528341"/>
                    <a:chExt cx="157482" cy="156850"/>
                  </a:xfrm>
                </p:grpSpPr>
                <p:grpSp>
                  <p:nvGrpSpPr>
                    <p:cNvPr id="15450" name="Google Shape;15450;p100"/>
                    <p:cNvGrpSpPr/>
                    <p:nvPr/>
                  </p:nvGrpSpPr>
                  <p:grpSpPr>
                    <a:xfrm>
                      <a:off x="2239827" y="4567553"/>
                      <a:ext cx="78425" cy="78425"/>
                      <a:chOff x="2239827" y="4567553"/>
                      <a:chExt cx="78425" cy="78425"/>
                    </a:xfrm>
                  </p:grpSpPr>
                  <p:sp>
                    <p:nvSpPr>
                      <p:cNvPr id="15451" name="Google Shape;15451;p100"/>
                      <p:cNvSpPr/>
                      <p:nvPr/>
                    </p:nvSpPr>
                    <p:spPr>
                      <a:xfrm>
                        <a:off x="2239827"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52" name="Google Shape;15452;p100"/>
                      <p:cNvSpPr/>
                      <p:nvPr/>
                    </p:nvSpPr>
                    <p:spPr>
                      <a:xfrm>
                        <a:off x="2270818"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53" name="Google Shape;15453;p100"/>
                      <p:cNvSpPr/>
                      <p:nvPr/>
                    </p:nvSpPr>
                    <p:spPr>
                      <a:xfrm>
                        <a:off x="2302441"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54" name="Google Shape;15454;p100"/>
                    <p:cNvSpPr/>
                    <p:nvPr/>
                  </p:nvSpPr>
                  <p:spPr>
                    <a:xfrm>
                      <a:off x="2199982" y="4528341"/>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55" name="Google Shape;15455;p100"/>
                  <p:cNvGrpSpPr/>
                  <p:nvPr/>
                </p:nvGrpSpPr>
                <p:grpSpPr>
                  <a:xfrm>
                    <a:off x="1946998" y="4768675"/>
                    <a:ext cx="157482" cy="156850"/>
                    <a:chOff x="1946998" y="4768675"/>
                    <a:chExt cx="157482" cy="156850"/>
                  </a:xfrm>
                </p:grpSpPr>
                <p:grpSp>
                  <p:nvGrpSpPr>
                    <p:cNvPr id="15456" name="Google Shape;15456;p100"/>
                    <p:cNvGrpSpPr/>
                    <p:nvPr/>
                  </p:nvGrpSpPr>
                  <p:grpSpPr>
                    <a:xfrm>
                      <a:off x="1986843" y="4807888"/>
                      <a:ext cx="78425" cy="78425"/>
                      <a:chOff x="1986843" y="4807888"/>
                      <a:chExt cx="78425" cy="78425"/>
                    </a:xfrm>
                  </p:grpSpPr>
                  <p:sp>
                    <p:nvSpPr>
                      <p:cNvPr id="15457" name="Google Shape;15457;p100"/>
                      <p:cNvSpPr/>
                      <p:nvPr/>
                    </p:nvSpPr>
                    <p:spPr>
                      <a:xfrm>
                        <a:off x="1986843"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58" name="Google Shape;15458;p100"/>
                      <p:cNvSpPr/>
                      <p:nvPr/>
                    </p:nvSpPr>
                    <p:spPr>
                      <a:xfrm>
                        <a:off x="2017834"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59" name="Google Shape;15459;p100"/>
                      <p:cNvSpPr/>
                      <p:nvPr/>
                    </p:nvSpPr>
                    <p:spPr>
                      <a:xfrm>
                        <a:off x="2049457"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60" name="Google Shape;15460;p100"/>
                    <p:cNvSpPr/>
                    <p:nvPr/>
                  </p:nvSpPr>
                  <p:spPr>
                    <a:xfrm>
                      <a:off x="1946998" y="4768675"/>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61" name="Google Shape;15461;p100"/>
                  <p:cNvGrpSpPr/>
                  <p:nvPr/>
                </p:nvGrpSpPr>
                <p:grpSpPr>
                  <a:xfrm>
                    <a:off x="2199982" y="4768675"/>
                    <a:ext cx="157482" cy="156850"/>
                    <a:chOff x="2199982" y="4768675"/>
                    <a:chExt cx="157482" cy="156850"/>
                  </a:xfrm>
                </p:grpSpPr>
                <p:grpSp>
                  <p:nvGrpSpPr>
                    <p:cNvPr id="15462" name="Google Shape;15462;p100"/>
                    <p:cNvGrpSpPr/>
                    <p:nvPr/>
                  </p:nvGrpSpPr>
                  <p:grpSpPr>
                    <a:xfrm>
                      <a:off x="2239827" y="4807888"/>
                      <a:ext cx="78425" cy="78425"/>
                      <a:chOff x="2239827" y="4807888"/>
                      <a:chExt cx="78425" cy="78425"/>
                    </a:xfrm>
                  </p:grpSpPr>
                  <p:sp>
                    <p:nvSpPr>
                      <p:cNvPr id="15463" name="Google Shape;15463;p100"/>
                      <p:cNvSpPr/>
                      <p:nvPr/>
                    </p:nvSpPr>
                    <p:spPr>
                      <a:xfrm>
                        <a:off x="2239827"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64" name="Google Shape;15464;p100"/>
                      <p:cNvSpPr/>
                      <p:nvPr/>
                    </p:nvSpPr>
                    <p:spPr>
                      <a:xfrm>
                        <a:off x="2270818"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65" name="Google Shape;15465;p100"/>
                      <p:cNvSpPr/>
                      <p:nvPr/>
                    </p:nvSpPr>
                    <p:spPr>
                      <a:xfrm>
                        <a:off x="2302441"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466" name="Google Shape;15466;p100"/>
                    <p:cNvSpPr/>
                    <p:nvPr/>
                  </p:nvSpPr>
                  <p:spPr>
                    <a:xfrm>
                      <a:off x="2199982" y="4768675"/>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grpSp>
            <p:nvGrpSpPr>
              <p:cNvPr id="15467" name="Google Shape;15467;p100"/>
              <p:cNvGrpSpPr/>
              <p:nvPr/>
            </p:nvGrpSpPr>
            <p:grpSpPr>
              <a:xfrm>
                <a:off x="3175570" y="1996647"/>
                <a:ext cx="955835" cy="237114"/>
                <a:chOff x="3175570" y="1998991"/>
                <a:chExt cx="955835" cy="237114"/>
              </a:xfrm>
            </p:grpSpPr>
            <p:grpSp>
              <p:nvGrpSpPr>
                <p:cNvPr id="15468" name="Google Shape;15468;p100" descr="Virtual Machine&#10;"/>
                <p:cNvGrpSpPr/>
                <p:nvPr/>
              </p:nvGrpSpPr>
              <p:grpSpPr>
                <a:xfrm>
                  <a:off x="3175570" y="1998991"/>
                  <a:ext cx="264817" cy="237114"/>
                  <a:chOff x="5798589" y="1951740"/>
                  <a:chExt cx="600836" cy="600837"/>
                </a:xfrm>
              </p:grpSpPr>
              <p:sp>
                <p:nvSpPr>
                  <p:cNvPr id="15469" name="Google Shape;15469;p100"/>
                  <p:cNvSpPr/>
                  <p:nvPr/>
                </p:nvSpPr>
                <p:spPr>
                  <a:xfrm>
                    <a:off x="5798589" y="1951740"/>
                    <a:ext cx="600836" cy="600837"/>
                  </a:xfrm>
                  <a:custGeom>
                    <a:avLst/>
                    <a:gdLst/>
                    <a:ahLst/>
                    <a:cxnLst/>
                    <a:rect l="l" t="t" r="r" b="b"/>
                    <a:pathLst>
                      <a:path w="600836" h="600837" extrusionOk="0">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70" name="Google Shape;15470;p100"/>
                  <p:cNvGrpSpPr/>
                  <p:nvPr/>
                </p:nvGrpSpPr>
                <p:grpSpPr>
                  <a:xfrm>
                    <a:off x="5978207" y="2214844"/>
                    <a:ext cx="220729" cy="84117"/>
                    <a:chOff x="5978207" y="2214844"/>
                    <a:chExt cx="220729" cy="84117"/>
                  </a:xfrm>
                </p:grpSpPr>
                <p:sp>
                  <p:nvSpPr>
                    <p:cNvPr id="15471" name="Google Shape;15471;p100"/>
                    <p:cNvSpPr/>
                    <p:nvPr/>
                  </p:nvSpPr>
                  <p:spPr>
                    <a:xfrm>
                      <a:off x="5978207" y="2216741"/>
                      <a:ext cx="80322" cy="81587"/>
                    </a:xfrm>
                    <a:custGeom>
                      <a:avLst/>
                      <a:gdLst/>
                      <a:ahLst/>
                      <a:cxnLst/>
                      <a:rect l="l" t="t" r="r" b="b"/>
                      <a:pathLst>
                        <a:path w="80322" h="81587" extrusionOk="0">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72" name="Google Shape;15472;p100"/>
                    <p:cNvSpPr/>
                    <p:nvPr/>
                  </p:nvSpPr>
                  <p:spPr>
                    <a:xfrm>
                      <a:off x="6081931" y="2214844"/>
                      <a:ext cx="117005" cy="84117"/>
                    </a:xfrm>
                    <a:custGeom>
                      <a:avLst/>
                      <a:gdLst/>
                      <a:ahLst/>
                      <a:cxnLst/>
                      <a:rect l="l" t="t" r="r" b="b"/>
                      <a:pathLst>
                        <a:path w="117005" h="84117" extrusionOk="0">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nvGrpSpPr>
                <p:cNvPr id="15473" name="Google Shape;15473;p100" descr="Virtual Machine&#10;"/>
                <p:cNvGrpSpPr/>
                <p:nvPr/>
              </p:nvGrpSpPr>
              <p:grpSpPr>
                <a:xfrm>
                  <a:off x="3866588" y="1998991"/>
                  <a:ext cx="264817" cy="237114"/>
                  <a:chOff x="5798589" y="1951740"/>
                  <a:chExt cx="600836" cy="600837"/>
                </a:xfrm>
              </p:grpSpPr>
              <p:sp>
                <p:nvSpPr>
                  <p:cNvPr id="15474" name="Google Shape;15474;p100"/>
                  <p:cNvSpPr/>
                  <p:nvPr/>
                </p:nvSpPr>
                <p:spPr>
                  <a:xfrm>
                    <a:off x="5798589" y="1951740"/>
                    <a:ext cx="600836" cy="600837"/>
                  </a:xfrm>
                  <a:custGeom>
                    <a:avLst/>
                    <a:gdLst/>
                    <a:ahLst/>
                    <a:cxnLst/>
                    <a:rect l="l" t="t" r="r" b="b"/>
                    <a:pathLst>
                      <a:path w="600836" h="600837" extrusionOk="0">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75" name="Google Shape;15475;p100"/>
                  <p:cNvGrpSpPr/>
                  <p:nvPr/>
                </p:nvGrpSpPr>
                <p:grpSpPr>
                  <a:xfrm>
                    <a:off x="5978207" y="2214844"/>
                    <a:ext cx="220729" cy="84117"/>
                    <a:chOff x="5978207" y="2214844"/>
                    <a:chExt cx="220729" cy="84117"/>
                  </a:xfrm>
                </p:grpSpPr>
                <p:sp>
                  <p:nvSpPr>
                    <p:cNvPr id="15476" name="Google Shape;15476;p100"/>
                    <p:cNvSpPr/>
                    <p:nvPr/>
                  </p:nvSpPr>
                  <p:spPr>
                    <a:xfrm>
                      <a:off x="5978207" y="2216741"/>
                      <a:ext cx="80322" cy="81587"/>
                    </a:xfrm>
                    <a:custGeom>
                      <a:avLst/>
                      <a:gdLst/>
                      <a:ahLst/>
                      <a:cxnLst/>
                      <a:rect l="l" t="t" r="r" b="b"/>
                      <a:pathLst>
                        <a:path w="80322" h="81587" extrusionOk="0">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77" name="Google Shape;15477;p100"/>
                    <p:cNvSpPr/>
                    <p:nvPr/>
                  </p:nvSpPr>
                  <p:spPr>
                    <a:xfrm>
                      <a:off x="6081931" y="2214844"/>
                      <a:ext cx="117005" cy="84117"/>
                    </a:xfrm>
                    <a:custGeom>
                      <a:avLst/>
                      <a:gdLst/>
                      <a:ahLst/>
                      <a:cxnLst/>
                      <a:rect l="l" t="t" r="r" b="b"/>
                      <a:pathLst>
                        <a:path w="117005" h="84117" extrusionOk="0">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nvGrpSpPr>
                <p:cNvPr id="15478" name="Google Shape;15478;p100" descr="Virtual Machine&#10;"/>
                <p:cNvGrpSpPr/>
                <p:nvPr/>
              </p:nvGrpSpPr>
              <p:grpSpPr>
                <a:xfrm>
                  <a:off x="3521079" y="1998991"/>
                  <a:ext cx="264817" cy="237114"/>
                  <a:chOff x="5798589" y="1951740"/>
                  <a:chExt cx="600836" cy="600837"/>
                </a:xfrm>
              </p:grpSpPr>
              <p:sp>
                <p:nvSpPr>
                  <p:cNvPr id="15479" name="Google Shape;15479;p100"/>
                  <p:cNvSpPr/>
                  <p:nvPr/>
                </p:nvSpPr>
                <p:spPr>
                  <a:xfrm>
                    <a:off x="5798589" y="1951740"/>
                    <a:ext cx="600836" cy="600837"/>
                  </a:xfrm>
                  <a:custGeom>
                    <a:avLst/>
                    <a:gdLst/>
                    <a:ahLst/>
                    <a:cxnLst/>
                    <a:rect l="l" t="t" r="r" b="b"/>
                    <a:pathLst>
                      <a:path w="600836" h="600837" extrusionOk="0">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80" name="Google Shape;15480;p100"/>
                  <p:cNvGrpSpPr/>
                  <p:nvPr/>
                </p:nvGrpSpPr>
                <p:grpSpPr>
                  <a:xfrm>
                    <a:off x="5978207" y="2214844"/>
                    <a:ext cx="220729" cy="84117"/>
                    <a:chOff x="5978207" y="2214844"/>
                    <a:chExt cx="220729" cy="84117"/>
                  </a:xfrm>
                </p:grpSpPr>
                <p:sp>
                  <p:nvSpPr>
                    <p:cNvPr id="15481" name="Google Shape;15481;p100"/>
                    <p:cNvSpPr/>
                    <p:nvPr/>
                  </p:nvSpPr>
                  <p:spPr>
                    <a:xfrm>
                      <a:off x="5978207" y="2216741"/>
                      <a:ext cx="80322" cy="81587"/>
                    </a:xfrm>
                    <a:custGeom>
                      <a:avLst/>
                      <a:gdLst/>
                      <a:ahLst/>
                      <a:cxnLst/>
                      <a:rect l="l" t="t" r="r" b="b"/>
                      <a:pathLst>
                        <a:path w="80322" h="81587" extrusionOk="0">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82" name="Google Shape;15482;p100"/>
                    <p:cNvSpPr/>
                    <p:nvPr/>
                  </p:nvSpPr>
                  <p:spPr>
                    <a:xfrm>
                      <a:off x="6081931" y="2214844"/>
                      <a:ext cx="117005" cy="84117"/>
                    </a:xfrm>
                    <a:custGeom>
                      <a:avLst/>
                      <a:gdLst/>
                      <a:ahLst/>
                      <a:cxnLst/>
                      <a:rect l="l" t="t" r="r" b="b"/>
                      <a:pathLst>
                        <a:path w="117005" h="84117" extrusionOk="0">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grpSp>
            <p:nvGrpSpPr>
              <p:cNvPr id="15483" name="Google Shape;15483;p100"/>
              <p:cNvGrpSpPr/>
              <p:nvPr/>
            </p:nvGrpSpPr>
            <p:grpSpPr>
              <a:xfrm>
                <a:off x="2001779" y="1991344"/>
                <a:ext cx="961946" cy="247721"/>
                <a:chOff x="5444316" y="1995144"/>
                <a:chExt cx="961946" cy="247721"/>
              </a:xfrm>
            </p:grpSpPr>
            <p:grpSp>
              <p:nvGrpSpPr>
                <p:cNvPr id="15484" name="Google Shape;15484;p100" descr="Virtual Machine&#10;"/>
                <p:cNvGrpSpPr/>
                <p:nvPr/>
              </p:nvGrpSpPr>
              <p:grpSpPr>
                <a:xfrm>
                  <a:off x="5444316" y="2000447"/>
                  <a:ext cx="264817" cy="237114"/>
                  <a:chOff x="5798589" y="1951740"/>
                  <a:chExt cx="600836" cy="600837"/>
                </a:xfrm>
              </p:grpSpPr>
              <p:sp>
                <p:nvSpPr>
                  <p:cNvPr id="15485" name="Google Shape;15485;p100"/>
                  <p:cNvSpPr/>
                  <p:nvPr/>
                </p:nvSpPr>
                <p:spPr>
                  <a:xfrm>
                    <a:off x="5798589" y="1951740"/>
                    <a:ext cx="600836" cy="600837"/>
                  </a:xfrm>
                  <a:custGeom>
                    <a:avLst/>
                    <a:gdLst/>
                    <a:ahLst/>
                    <a:cxnLst/>
                    <a:rect l="l" t="t" r="r" b="b"/>
                    <a:pathLst>
                      <a:path w="600836" h="600837" extrusionOk="0">
                        <a:moveTo>
                          <a:pt x="514822" y="600837"/>
                        </a:moveTo>
                        <a:lnTo>
                          <a:pt x="0" y="600837"/>
                        </a:lnTo>
                        <a:lnTo>
                          <a:pt x="0" y="0"/>
                        </a:lnTo>
                        <a:lnTo>
                          <a:pt x="600837" y="0"/>
                        </a:lnTo>
                        <a:lnTo>
                          <a:pt x="600837" y="595777"/>
                        </a:lnTo>
                        <a:lnTo>
                          <a:pt x="585026" y="595777"/>
                        </a:lnTo>
                        <a:lnTo>
                          <a:pt x="585026" y="15812"/>
                        </a:lnTo>
                        <a:lnTo>
                          <a:pt x="15812" y="15812"/>
                        </a:lnTo>
                        <a:lnTo>
                          <a:pt x="15812" y="585026"/>
                        </a:lnTo>
                        <a:lnTo>
                          <a:pt x="514822" y="585026"/>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86" name="Google Shape;15486;p100"/>
                  <p:cNvGrpSpPr/>
                  <p:nvPr/>
                </p:nvGrpSpPr>
                <p:grpSpPr>
                  <a:xfrm>
                    <a:off x="5978207" y="2214844"/>
                    <a:ext cx="220729" cy="84117"/>
                    <a:chOff x="5978207" y="2214844"/>
                    <a:chExt cx="220729" cy="84117"/>
                  </a:xfrm>
                </p:grpSpPr>
                <p:sp>
                  <p:nvSpPr>
                    <p:cNvPr id="15487" name="Google Shape;15487;p100"/>
                    <p:cNvSpPr/>
                    <p:nvPr/>
                  </p:nvSpPr>
                  <p:spPr>
                    <a:xfrm>
                      <a:off x="5978207" y="2216741"/>
                      <a:ext cx="80322" cy="81587"/>
                    </a:xfrm>
                    <a:custGeom>
                      <a:avLst/>
                      <a:gdLst/>
                      <a:ahLst/>
                      <a:cxnLst/>
                      <a:rect l="l" t="t" r="r" b="b"/>
                      <a:pathLst>
                        <a:path w="80322" h="81587" extrusionOk="0">
                          <a:moveTo>
                            <a:pt x="0" y="0"/>
                          </a:moveTo>
                          <a:lnTo>
                            <a:pt x="13282" y="0"/>
                          </a:lnTo>
                          <a:lnTo>
                            <a:pt x="40477" y="67673"/>
                          </a:lnTo>
                          <a:lnTo>
                            <a:pt x="67041" y="0"/>
                          </a:lnTo>
                          <a:lnTo>
                            <a:pt x="80322" y="0"/>
                          </a:lnTo>
                          <a:lnTo>
                            <a:pt x="46170" y="81587"/>
                          </a:lnTo>
                          <a:lnTo>
                            <a:pt x="34785" y="81587"/>
                          </a:lnTo>
                          <a:lnTo>
                            <a:pt x="0"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88" name="Google Shape;15488;p100"/>
                    <p:cNvSpPr/>
                    <p:nvPr/>
                  </p:nvSpPr>
                  <p:spPr>
                    <a:xfrm>
                      <a:off x="6081931" y="2214844"/>
                      <a:ext cx="117005" cy="84117"/>
                    </a:xfrm>
                    <a:custGeom>
                      <a:avLst/>
                      <a:gdLst/>
                      <a:ahLst/>
                      <a:cxnLst/>
                      <a:rect l="l" t="t" r="r" b="b"/>
                      <a:pathLst>
                        <a:path w="117005" h="84117" extrusionOk="0">
                          <a:moveTo>
                            <a:pt x="103091" y="4427"/>
                          </a:moveTo>
                          <a:cubicBezTo>
                            <a:pt x="107518" y="6957"/>
                            <a:pt x="110681" y="10752"/>
                            <a:pt x="113210" y="15812"/>
                          </a:cubicBezTo>
                          <a:cubicBezTo>
                            <a:pt x="115740" y="20871"/>
                            <a:pt x="117005" y="25931"/>
                            <a:pt x="117005" y="32255"/>
                          </a:cubicBezTo>
                          <a:lnTo>
                            <a:pt x="117005" y="84117"/>
                          </a:lnTo>
                          <a:lnTo>
                            <a:pt x="104988" y="84117"/>
                          </a:lnTo>
                          <a:lnTo>
                            <a:pt x="104988" y="33520"/>
                          </a:lnTo>
                          <a:cubicBezTo>
                            <a:pt x="104988" y="26563"/>
                            <a:pt x="103091" y="21504"/>
                            <a:pt x="99929" y="17076"/>
                          </a:cubicBezTo>
                          <a:cubicBezTo>
                            <a:pt x="96134" y="12649"/>
                            <a:pt x="91707" y="10752"/>
                            <a:pt x="86647" y="10752"/>
                          </a:cubicBezTo>
                          <a:cubicBezTo>
                            <a:pt x="80322" y="10752"/>
                            <a:pt x="74630" y="12649"/>
                            <a:pt x="70836" y="16444"/>
                          </a:cubicBezTo>
                          <a:cubicBezTo>
                            <a:pt x="67041" y="20239"/>
                            <a:pt x="64511" y="25298"/>
                            <a:pt x="64511" y="31623"/>
                          </a:cubicBezTo>
                          <a:lnTo>
                            <a:pt x="64511" y="83485"/>
                          </a:lnTo>
                          <a:lnTo>
                            <a:pt x="52494" y="83485"/>
                          </a:lnTo>
                          <a:lnTo>
                            <a:pt x="52494" y="32888"/>
                          </a:lnTo>
                          <a:cubicBezTo>
                            <a:pt x="52494" y="25931"/>
                            <a:pt x="50597" y="20871"/>
                            <a:pt x="47435" y="16444"/>
                          </a:cubicBezTo>
                          <a:cubicBezTo>
                            <a:pt x="43640" y="12017"/>
                            <a:pt x="39213" y="10119"/>
                            <a:pt x="34153" y="10119"/>
                          </a:cubicBezTo>
                          <a:cubicBezTo>
                            <a:pt x="27828" y="10119"/>
                            <a:pt x="22136" y="12017"/>
                            <a:pt x="18341" y="15812"/>
                          </a:cubicBezTo>
                          <a:cubicBezTo>
                            <a:pt x="14547" y="19606"/>
                            <a:pt x="12017" y="24666"/>
                            <a:pt x="12017" y="30991"/>
                          </a:cubicBezTo>
                          <a:lnTo>
                            <a:pt x="12017" y="82852"/>
                          </a:lnTo>
                          <a:lnTo>
                            <a:pt x="0" y="82852"/>
                          </a:lnTo>
                          <a:lnTo>
                            <a:pt x="0" y="1897"/>
                          </a:lnTo>
                          <a:lnTo>
                            <a:pt x="12017" y="1897"/>
                          </a:lnTo>
                          <a:lnTo>
                            <a:pt x="12017" y="13914"/>
                          </a:lnTo>
                          <a:cubicBezTo>
                            <a:pt x="13914" y="9487"/>
                            <a:pt x="17076" y="6325"/>
                            <a:pt x="21504" y="3795"/>
                          </a:cubicBezTo>
                          <a:cubicBezTo>
                            <a:pt x="25931" y="1265"/>
                            <a:pt x="30358" y="0"/>
                            <a:pt x="36050" y="0"/>
                          </a:cubicBezTo>
                          <a:cubicBezTo>
                            <a:pt x="42375" y="0"/>
                            <a:pt x="48067" y="1897"/>
                            <a:pt x="53127" y="5060"/>
                          </a:cubicBezTo>
                          <a:cubicBezTo>
                            <a:pt x="58186" y="8854"/>
                            <a:pt x="61349" y="13282"/>
                            <a:pt x="63246" y="18974"/>
                          </a:cubicBezTo>
                          <a:cubicBezTo>
                            <a:pt x="64511" y="13282"/>
                            <a:pt x="67673" y="8222"/>
                            <a:pt x="72100" y="5060"/>
                          </a:cubicBezTo>
                          <a:cubicBezTo>
                            <a:pt x="76528" y="1265"/>
                            <a:pt x="82220" y="0"/>
                            <a:pt x="88544" y="0"/>
                          </a:cubicBezTo>
                          <a:cubicBezTo>
                            <a:pt x="93604" y="0"/>
                            <a:pt x="98664" y="1265"/>
                            <a:pt x="103091" y="4427"/>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nvGrpSpPr>
                <p:cNvPr id="15489" name="Google Shape;15489;p100" descr="Application"/>
                <p:cNvGrpSpPr/>
                <p:nvPr/>
              </p:nvGrpSpPr>
              <p:grpSpPr>
                <a:xfrm>
                  <a:off x="5792880" y="1995416"/>
                  <a:ext cx="264817" cy="247177"/>
                  <a:chOff x="530908" y="707686"/>
                  <a:chExt cx="600836" cy="600837"/>
                </a:xfrm>
              </p:grpSpPr>
              <p:sp>
                <p:nvSpPr>
                  <p:cNvPr id="15490" name="Google Shape;15490;p100"/>
                  <p:cNvSpPr/>
                  <p:nvPr/>
                </p:nvSpPr>
                <p:spPr>
                  <a:xfrm>
                    <a:off x="634568" y="934169"/>
                    <a:ext cx="126808" cy="126049"/>
                  </a:xfrm>
                  <a:custGeom>
                    <a:avLst/>
                    <a:gdLst/>
                    <a:ahLst/>
                    <a:cxnLst/>
                    <a:rect l="l" t="t" r="r" b="b"/>
                    <a:pathLst>
                      <a:path w="126808" h="126049" extrusionOk="0">
                        <a:moveTo>
                          <a:pt x="98348" y="97462"/>
                        </a:moveTo>
                        <a:lnTo>
                          <a:pt x="28271" y="97462"/>
                        </a:lnTo>
                        <a:lnTo>
                          <a:pt x="15622" y="126049"/>
                        </a:lnTo>
                        <a:lnTo>
                          <a:pt x="0" y="126049"/>
                        </a:lnTo>
                        <a:lnTo>
                          <a:pt x="55593" y="0"/>
                        </a:lnTo>
                        <a:lnTo>
                          <a:pt x="71215" y="0"/>
                        </a:lnTo>
                        <a:lnTo>
                          <a:pt x="126808" y="126049"/>
                        </a:lnTo>
                        <a:lnTo>
                          <a:pt x="110997" y="126049"/>
                        </a:lnTo>
                        <a:close/>
                        <a:moveTo>
                          <a:pt x="92466" y="83864"/>
                        </a:moveTo>
                        <a:lnTo>
                          <a:pt x="63499" y="17646"/>
                        </a:lnTo>
                        <a:lnTo>
                          <a:pt x="34153" y="8386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91" name="Google Shape;15491;p100"/>
                  <p:cNvSpPr/>
                  <p:nvPr/>
                </p:nvSpPr>
                <p:spPr>
                  <a:xfrm>
                    <a:off x="790976" y="934169"/>
                    <a:ext cx="97588" cy="126049"/>
                  </a:xfrm>
                  <a:custGeom>
                    <a:avLst/>
                    <a:gdLst/>
                    <a:ahLst/>
                    <a:cxnLst/>
                    <a:rect l="l" t="t" r="r" b="b"/>
                    <a:pathLst>
                      <a:path w="97588" h="126049" extrusionOk="0">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636" y="66914"/>
                        </a:moveTo>
                        <a:cubicBezTo>
                          <a:pt x="69128" y="66914"/>
                          <a:pt x="83105" y="56985"/>
                          <a:pt x="83105" y="40161"/>
                        </a:cubicBezTo>
                        <a:cubicBezTo>
                          <a:pt x="83105" y="23338"/>
                          <a:pt x="69128" y="13345"/>
                          <a:pt x="48636" y="13345"/>
                        </a:cubicBezTo>
                        <a:lnTo>
                          <a:pt x="14294" y="13345"/>
                        </a:lnTo>
                        <a:lnTo>
                          <a:pt x="14294" y="6691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92" name="Google Shape;15492;p100"/>
                  <p:cNvSpPr/>
                  <p:nvPr/>
                </p:nvSpPr>
                <p:spPr>
                  <a:xfrm>
                    <a:off x="919302" y="934169"/>
                    <a:ext cx="97588" cy="126049"/>
                  </a:xfrm>
                  <a:custGeom>
                    <a:avLst/>
                    <a:gdLst/>
                    <a:ahLst/>
                    <a:cxnLst/>
                    <a:rect l="l" t="t" r="r" b="b"/>
                    <a:pathLst>
                      <a:path w="97588" h="126049" extrusionOk="0">
                        <a:moveTo>
                          <a:pt x="0" y="0"/>
                        </a:moveTo>
                        <a:lnTo>
                          <a:pt x="51166" y="0"/>
                        </a:lnTo>
                        <a:cubicBezTo>
                          <a:pt x="77223" y="0"/>
                          <a:pt x="97589" y="16697"/>
                          <a:pt x="97589" y="40414"/>
                        </a:cubicBezTo>
                        <a:cubicBezTo>
                          <a:pt x="97589" y="64131"/>
                          <a:pt x="77223" y="80765"/>
                          <a:pt x="51166" y="80765"/>
                        </a:cubicBezTo>
                        <a:lnTo>
                          <a:pt x="14294" y="80765"/>
                        </a:lnTo>
                        <a:lnTo>
                          <a:pt x="14294" y="126049"/>
                        </a:lnTo>
                        <a:lnTo>
                          <a:pt x="0" y="126049"/>
                        </a:lnTo>
                        <a:close/>
                        <a:moveTo>
                          <a:pt x="48573" y="66914"/>
                        </a:moveTo>
                        <a:cubicBezTo>
                          <a:pt x="69128" y="66914"/>
                          <a:pt x="83105" y="56985"/>
                          <a:pt x="83105" y="40161"/>
                        </a:cubicBezTo>
                        <a:cubicBezTo>
                          <a:pt x="83105" y="23338"/>
                          <a:pt x="69128" y="13345"/>
                          <a:pt x="48573" y="13345"/>
                        </a:cubicBezTo>
                        <a:lnTo>
                          <a:pt x="14294" y="13345"/>
                        </a:lnTo>
                        <a:lnTo>
                          <a:pt x="14294" y="66914"/>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93" name="Google Shape;15493;p100"/>
                  <p:cNvSpPr/>
                  <p:nvPr/>
                </p:nvSpPr>
                <p:spPr>
                  <a:xfrm>
                    <a:off x="530908" y="707686"/>
                    <a:ext cx="600836" cy="600837"/>
                  </a:xfrm>
                  <a:custGeom>
                    <a:avLst/>
                    <a:gdLst/>
                    <a:ahLst/>
                    <a:cxnLst/>
                    <a:rect l="l" t="t" r="r" b="b"/>
                    <a:pathLst>
                      <a:path w="600836" h="600837" extrusionOk="0">
                        <a:moveTo>
                          <a:pt x="554920" y="15812"/>
                        </a:moveTo>
                        <a:cubicBezTo>
                          <a:pt x="571523" y="15812"/>
                          <a:pt x="584988" y="29251"/>
                          <a:pt x="585026" y="45853"/>
                        </a:cubicBezTo>
                        <a:lnTo>
                          <a:pt x="585026" y="554920"/>
                        </a:lnTo>
                        <a:cubicBezTo>
                          <a:pt x="585026" y="571548"/>
                          <a:pt x="571548" y="585026"/>
                          <a:pt x="554920" y="585026"/>
                        </a:cubicBezTo>
                        <a:lnTo>
                          <a:pt x="45853" y="585026"/>
                        </a:lnTo>
                        <a:cubicBezTo>
                          <a:pt x="29251" y="584988"/>
                          <a:pt x="15812" y="571523"/>
                          <a:pt x="15812" y="554920"/>
                        </a:cubicBezTo>
                        <a:lnTo>
                          <a:pt x="15812" y="45853"/>
                        </a:lnTo>
                        <a:cubicBezTo>
                          <a:pt x="15812" y="29261"/>
                          <a:pt x="29261" y="15812"/>
                          <a:pt x="45853" y="15812"/>
                        </a:cubicBezTo>
                        <a:lnTo>
                          <a:pt x="554920" y="15812"/>
                        </a:lnTo>
                        <a:moveTo>
                          <a:pt x="554920" y="0"/>
                        </a:moveTo>
                        <a:lnTo>
                          <a:pt x="45853" y="0"/>
                        </a:lnTo>
                        <a:cubicBezTo>
                          <a:pt x="20544" y="35"/>
                          <a:pt x="35" y="20544"/>
                          <a:pt x="0" y="45853"/>
                        </a:cubicBezTo>
                        <a:lnTo>
                          <a:pt x="0" y="554920"/>
                        </a:lnTo>
                        <a:cubicBezTo>
                          <a:pt x="0" y="580257"/>
                          <a:pt x="20519" y="600799"/>
                          <a:pt x="45853" y="600837"/>
                        </a:cubicBezTo>
                        <a:lnTo>
                          <a:pt x="554920" y="600837"/>
                        </a:lnTo>
                        <a:cubicBezTo>
                          <a:pt x="580282" y="600837"/>
                          <a:pt x="600837" y="580282"/>
                          <a:pt x="600837" y="554920"/>
                        </a:cubicBezTo>
                        <a:lnTo>
                          <a:pt x="600837" y="45853"/>
                        </a:lnTo>
                        <a:cubicBezTo>
                          <a:pt x="600799" y="20519"/>
                          <a:pt x="580257" y="0"/>
                          <a:pt x="554920" y="0"/>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494" name="Google Shape;15494;p100" descr="Container 3&#10;"/>
                <p:cNvGrpSpPr/>
                <p:nvPr/>
              </p:nvGrpSpPr>
              <p:grpSpPr>
                <a:xfrm>
                  <a:off x="6141444" y="1995144"/>
                  <a:ext cx="264818" cy="247721"/>
                  <a:chOff x="1852129" y="4420190"/>
                  <a:chExt cx="601469" cy="601469"/>
                </a:xfrm>
              </p:grpSpPr>
              <p:sp>
                <p:nvSpPr>
                  <p:cNvPr id="15495" name="Google Shape;15495;p100"/>
                  <p:cNvSpPr/>
                  <p:nvPr/>
                </p:nvSpPr>
                <p:spPr>
                  <a:xfrm>
                    <a:off x="1852129" y="4420190"/>
                    <a:ext cx="601469" cy="601469"/>
                  </a:xfrm>
                  <a:custGeom>
                    <a:avLst/>
                    <a:gdLst/>
                    <a:ahLst/>
                    <a:cxnLst/>
                    <a:rect l="l" t="t" r="r" b="b"/>
                    <a:pathLst>
                      <a:path w="601469" h="601469" extrusionOk="0">
                        <a:moveTo>
                          <a:pt x="554667" y="15812"/>
                        </a:moveTo>
                        <a:cubicBezTo>
                          <a:pt x="571111" y="15812"/>
                          <a:pt x="585026" y="29093"/>
                          <a:pt x="585026" y="46170"/>
                        </a:cubicBezTo>
                        <a:lnTo>
                          <a:pt x="585026" y="555300"/>
                        </a:lnTo>
                        <a:cubicBezTo>
                          <a:pt x="585026" y="571744"/>
                          <a:pt x="571744" y="585658"/>
                          <a:pt x="554667" y="585658"/>
                        </a:cubicBezTo>
                        <a:lnTo>
                          <a:pt x="46170" y="585658"/>
                        </a:lnTo>
                        <a:cubicBezTo>
                          <a:pt x="29726" y="585658"/>
                          <a:pt x="15812" y="572376"/>
                          <a:pt x="15812" y="555300"/>
                        </a:cubicBezTo>
                        <a:lnTo>
                          <a:pt x="15812" y="46170"/>
                        </a:lnTo>
                        <a:cubicBezTo>
                          <a:pt x="15812" y="29726"/>
                          <a:pt x="29093" y="15812"/>
                          <a:pt x="46170" y="15812"/>
                        </a:cubicBezTo>
                        <a:lnTo>
                          <a:pt x="554667" y="15812"/>
                        </a:lnTo>
                        <a:moveTo>
                          <a:pt x="554667" y="0"/>
                        </a:moveTo>
                        <a:lnTo>
                          <a:pt x="46170" y="0"/>
                        </a:lnTo>
                        <a:cubicBezTo>
                          <a:pt x="20871" y="0"/>
                          <a:pt x="0" y="20239"/>
                          <a:pt x="0" y="46170"/>
                        </a:cubicBezTo>
                        <a:lnTo>
                          <a:pt x="0" y="555300"/>
                        </a:lnTo>
                        <a:cubicBezTo>
                          <a:pt x="0" y="580598"/>
                          <a:pt x="20239" y="601469"/>
                          <a:pt x="46170" y="601469"/>
                        </a:cubicBezTo>
                        <a:lnTo>
                          <a:pt x="555300" y="601469"/>
                        </a:lnTo>
                        <a:cubicBezTo>
                          <a:pt x="580598" y="601469"/>
                          <a:pt x="601469" y="581231"/>
                          <a:pt x="601469" y="555300"/>
                        </a:cubicBezTo>
                        <a:lnTo>
                          <a:pt x="601469" y="46170"/>
                        </a:lnTo>
                        <a:cubicBezTo>
                          <a:pt x="600837" y="20239"/>
                          <a:pt x="580598" y="0"/>
                          <a:pt x="554667" y="0"/>
                        </a:cubicBezTo>
                        <a:lnTo>
                          <a:pt x="554667" y="0"/>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nvGrpSpPr>
                  <p:cNvPr id="15496" name="Google Shape;15496;p100"/>
                  <p:cNvGrpSpPr/>
                  <p:nvPr/>
                </p:nvGrpSpPr>
                <p:grpSpPr>
                  <a:xfrm>
                    <a:off x="1946998" y="4528341"/>
                    <a:ext cx="157482" cy="156850"/>
                    <a:chOff x="1946998" y="4528341"/>
                    <a:chExt cx="157482" cy="156850"/>
                  </a:xfrm>
                </p:grpSpPr>
                <p:grpSp>
                  <p:nvGrpSpPr>
                    <p:cNvPr id="15497" name="Google Shape;15497;p100"/>
                    <p:cNvGrpSpPr/>
                    <p:nvPr/>
                  </p:nvGrpSpPr>
                  <p:grpSpPr>
                    <a:xfrm>
                      <a:off x="1986843" y="4567553"/>
                      <a:ext cx="78425" cy="78425"/>
                      <a:chOff x="1986843" y="4567553"/>
                      <a:chExt cx="78425" cy="78425"/>
                    </a:xfrm>
                  </p:grpSpPr>
                  <p:sp>
                    <p:nvSpPr>
                      <p:cNvPr id="15498" name="Google Shape;15498;p100"/>
                      <p:cNvSpPr/>
                      <p:nvPr/>
                    </p:nvSpPr>
                    <p:spPr>
                      <a:xfrm>
                        <a:off x="1986843"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499" name="Google Shape;15499;p100"/>
                      <p:cNvSpPr/>
                      <p:nvPr/>
                    </p:nvSpPr>
                    <p:spPr>
                      <a:xfrm>
                        <a:off x="2017834"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00" name="Google Shape;15500;p100"/>
                      <p:cNvSpPr/>
                      <p:nvPr/>
                    </p:nvSpPr>
                    <p:spPr>
                      <a:xfrm>
                        <a:off x="2049457"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501" name="Google Shape;15501;p100"/>
                    <p:cNvSpPr/>
                    <p:nvPr/>
                  </p:nvSpPr>
                  <p:spPr>
                    <a:xfrm>
                      <a:off x="1946998" y="4528341"/>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502" name="Google Shape;15502;p100"/>
                  <p:cNvGrpSpPr/>
                  <p:nvPr/>
                </p:nvGrpSpPr>
                <p:grpSpPr>
                  <a:xfrm>
                    <a:off x="2199982" y="4528341"/>
                    <a:ext cx="157482" cy="156850"/>
                    <a:chOff x="2199982" y="4528341"/>
                    <a:chExt cx="157482" cy="156850"/>
                  </a:xfrm>
                </p:grpSpPr>
                <p:grpSp>
                  <p:nvGrpSpPr>
                    <p:cNvPr id="15503" name="Google Shape;15503;p100"/>
                    <p:cNvGrpSpPr/>
                    <p:nvPr/>
                  </p:nvGrpSpPr>
                  <p:grpSpPr>
                    <a:xfrm>
                      <a:off x="2239827" y="4567553"/>
                      <a:ext cx="78425" cy="78425"/>
                      <a:chOff x="2239827" y="4567553"/>
                      <a:chExt cx="78425" cy="78425"/>
                    </a:xfrm>
                  </p:grpSpPr>
                  <p:sp>
                    <p:nvSpPr>
                      <p:cNvPr id="15504" name="Google Shape;15504;p100"/>
                      <p:cNvSpPr/>
                      <p:nvPr/>
                    </p:nvSpPr>
                    <p:spPr>
                      <a:xfrm>
                        <a:off x="2239827" y="4567553"/>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05" name="Google Shape;15505;p100"/>
                      <p:cNvSpPr/>
                      <p:nvPr/>
                    </p:nvSpPr>
                    <p:spPr>
                      <a:xfrm>
                        <a:off x="2270818"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06" name="Google Shape;15506;p100"/>
                      <p:cNvSpPr/>
                      <p:nvPr/>
                    </p:nvSpPr>
                    <p:spPr>
                      <a:xfrm>
                        <a:off x="2302441" y="4567553"/>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507" name="Google Shape;15507;p100"/>
                    <p:cNvSpPr/>
                    <p:nvPr/>
                  </p:nvSpPr>
                  <p:spPr>
                    <a:xfrm>
                      <a:off x="2199982" y="4528341"/>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1"/>
                          </a:lnTo>
                          <a:lnTo>
                            <a:pt x="15812" y="15811"/>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508" name="Google Shape;15508;p100"/>
                  <p:cNvGrpSpPr/>
                  <p:nvPr/>
                </p:nvGrpSpPr>
                <p:grpSpPr>
                  <a:xfrm>
                    <a:off x="1946998" y="4768675"/>
                    <a:ext cx="157482" cy="156850"/>
                    <a:chOff x="1946998" y="4768675"/>
                    <a:chExt cx="157482" cy="156850"/>
                  </a:xfrm>
                </p:grpSpPr>
                <p:grpSp>
                  <p:nvGrpSpPr>
                    <p:cNvPr id="15509" name="Google Shape;15509;p100"/>
                    <p:cNvGrpSpPr/>
                    <p:nvPr/>
                  </p:nvGrpSpPr>
                  <p:grpSpPr>
                    <a:xfrm>
                      <a:off x="1986843" y="4807888"/>
                      <a:ext cx="78425" cy="78425"/>
                      <a:chOff x="1986843" y="4807888"/>
                      <a:chExt cx="78425" cy="78425"/>
                    </a:xfrm>
                  </p:grpSpPr>
                  <p:sp>
                    <p:nvSpPr>
                      <p:cNvPr id="15510" name="Google Shape;15510;p100"/>
                      <p:cNvSpPr/>
                      <p:nvPr/>
                    </p:nvSpPr>
                    <p:spPr>
                      <a:xfrm>
                        <a:off x="1986843"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11" name="Google Shape;15511;p100"/>
                      <p:cNvSpPr/>
                      <p:nvPr/>
                    </p:nvSpPr>
                    <p:spPr>
                      <a:xfrm>
                        <a:off x="2017834"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12" name="Google Shape;15512;p100"/>
                      <p:cNvSpPr/>
                      <p:nvPr/>
                    </p:nvSpPr>
                    <p:spPr>
                      <a:xfrm>
                        <a:off x="2049457"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513" name="Google Shape;15513;p100"/>
                    <p:cNvSpPr/>
                    <p:nvPr/>
                  </p:nvSpPr>
                  <p:spPr>
                    <a:xfrm>
                      <a:off x="1946998" y="4768675"/>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nvGrpSpPr>
                  <p:cNvPr id="15514" name="Google Shape;15514;p100"/>
                  <p:cNvGrpSpPr/>
                  <p:nvPr/>
                </p:nvGrpSpPr>
                <p:grpSpPr>
                  <a:xfrm>
                    <a:off x="2199982" y="4768675"/>
                    <a:ext cx="157482" cy="156850"/>
                    <a:chOff x="2199982" y="4768675"/>
                    <a:chExt cx="157482" cy="156850"/>
                  </a:xfrm>
                </p:grpSpPr>
                <p:grpSp>
                  <p:nvGrpSpPr>
                    <p:cNvPr id="15515" name="Google Shape;15515;p100"/>
                    <p:cNvGrpSpPr/>
                    <p:nvPr/>
                  </p:nvGrpSpPr>
                  <p:grpSpPr>
                    <a:xfrm>
                      <a:off x="2239827" y="4807888"/>
                      <a:ext cx="78425" cy="78425"/>
                      <a:chOff x="2239827" y="4807888"/>
                      <a:chExt cx="78425" cy="78425"/>
                    </a:xfrm>
                  </p:grpSpPr>
                  <p:sp>
                    <p:nvSpPr>
                      <p:cNvPr id="15516" name="Google Shape;15516;p100"/>
                      <p:cNvSpPr/>
                      <p:nvPr/>
                    </p:nvSpPr>
                    <p:spPr>
                      <a:xfrm>
                        <a:off x="2239827" y="4807888"/>
                        <a:ext cx="15811" cy="78425"/>
                      </a:xfrm>
                      <a:custGeom>
                        <a:avLst/>
                        <a:gdLst/>
                        <a:ahLst/>
                        <a:cxnLst/>
                        <a:rect l="l" t="t" r="r" b="b"/>
                        <a:pathLst>
                          <a:path w="15811" h="78425" extrusionOk="0">
                            <a:moveTo>
                              <a:pt x="0" y="0"/>
                            </a:moveTo>
                            <a:lnTo>
                              <a:pt x="15812" y="0"/>
                            </a:lnTo>
                            <a:lnTo>
                              <a:pt x="15812"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17" name="Google Shape;15517;p100"/>
                      <p:cNvSpPr/>
                      <p:nvPr/>
                    </p:nvSpPr>
                    <p:spPr>
                      <a:xfrm>
                        <a:off x="2270818"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sp>
                    <p:nvSpPr>
                      <p:cNvPr id="15518" name="Google Shape;15518;p100"/>
                      <p:cNvSpPr/>
                      <p:nvPr/>
                    </p:nvSpPr>
                    <p:spPr>
                      <a:xfrm>
                        <a:off x="2302441" y="4807888"/>
                        <a:ext cx="15811" cy="78425"/>
                      </a:xfrm>
                      <a:custGeom>
                        <a:avLst/>
                        <a:gdLst/>
                        <a:ahLst/>
                        <a:cxnLst/>
                        <a:rect l="l" t="t" r="r" b="b"/>
                        <a:pathLst>
                          <a:path w="15811" h="78425" extrusionOk="0">
                            <a:moveTo>
                              <a:pt x="0" y="0"/>
                            </a:moveTo>
                            <a:lnTo>
                              <a:pt x="15811" y="0"/>
                            </a:lnTo>
                            <a:lnTo>
                              <a:pt x="15811" y="78425"/>
                            </a:lnTo>
                            <a:lnTo>
                              <a:pt x="0" y="78425"/>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sp>
                  <p:nvSpPr>
                    <p:cNvPr id="15519" name="Google Shape;15519;p100"/>
                    <p:cNvSpPr/>
                    <p:nvPr/>
                  </p:nvSpPr>
                  <p:spPr>
                    <a:xfrm>
                      <a:off x="2199982" y="4768675"/>
                      <a:ext cx="157482" cy="156850"/>
                    </a:xfrm>
                    <a:custGeom>
                      <a:avLst/>
                      <a:gdLst/>
                      <a:ahLst/>
                      <a:cxnLst/>
                      <a:rect l="l" t="t" r="r" b="b"/>
                      <a:pathLst>
                        <a:path w="157482" h="156850" extrusionOk="0">
                          <a:moveTo>
                            <a:pt x="157483" y="156850"/>
                          </a:moveTo>
                          <a:lnTo>
                            <a:pt x="0" y="156850"/>
                          </a:lnTo>
                          <a:lnTo>
                            <a:pt x="0" y="0"/>
                          </a:lnTo>
                          <a:lnTo>
                            <a:pt x="157483" y="0"/>
                          </a:lnTo>
                          <a:lnTo>
                            <a:pt x="157483" y="156850"/>
                          </a:lnTo>
                          <a:close/>
                          <a:moveTo>
                            <a:pt x="15812" y="141039"/>
                          </a:moveTo>
                          <a:lnTo>
                            <a:pt x="141671" y="141039"/>
                          </a:lnTo>
                          <a:lnTo>
                            <a:pt x="141671" y="15812"/>
                          </a:lnTo>
                          <a:lnTo>
                            <a:pt x="15812" y="15812"/>
                          </a:lnTo>
                          <a:lnTo>
                            <a:pt x="15812" y="141039"/>
                          </a:lnTo>
                          <a:close/>
                        </a:path>
                      </a:pathLst>
                    </a:custGeom>
                    <a:solidFill>
                      <a:schemeClr val="accent2"/>
                    </a:solidFill>
                    <a:ln>
                      <a:noFill/>
                    </a:ln>
                  </p:spPr>
                  <p:txBody>
                    <a:bodyPr spcFirstLastPara="1" wrap="square" lIns="91375" tIns="45650" rIns="91375" bIns="45650" anchor="ctr" anchorCtr="0">
                      <a:noAutofit/>
                    </a:bodyPr>
                    <a:lstStyle/>
                    <a:p>
                      <a:pPr marL="0" marR="0" lvl="0" indent="0" algn="l" rtl="0">
                        <a:spcBef>
                          <a:spcPts val="0"/>
                        </a:spcBef>
                        <a:spcAft>
                          <a:spcPts val="0"/>
                        </a:spcAft>
                        <a:buNone/>
                      </a:pPr>
                      <a:endParaRPr sz="1400">
                        <a:solidFill>
                          <a:srgbClr val="000000"/>
                        </a:solidFill>
                        <a:latin typeface="Arial"/>
                        <a:ea typeface="Arial"/>
                        <a:cs typeface="Arial"/>
                        <a:sym typeface="Arial"/>
                      </a:endParaRPr>
                    </a:p>
                  </p:txBody>
                </p:sp>
              </p:grpSp>
            </p:grpSp>
          </p:grpSp>
        </p:gr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36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34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534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537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538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53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15524"/>
        <p:cNvGrpSpPr/>
        <p:nvPr/>
      </p:nvGrpSpPr>
      <p:grpSpPr>
        <a:xfrm>
          <a:off x="0" y="0"/>
          <a:ext cx="0" cy="0"/>
          <a:chOff x="0" y="0"/>
          <a:chExt cx="0" cy="0"/>
        </a:xfrm>
      </p:grpSpPr>
      <p:sp>
        <p:nvSpPr>
          <p:cNvPr id="15525" name="Google Shape;15525;p101"/>
          <p:cNvSpPr/>
          <p:nvPr/>
        </p:nvSpPr>
        <p:spPr>
          <a:xfrm>
            <a:off x="3412123" y="1533621"/>
            <a:ext cx="8126876" cy="4719659"/>
          </a:xfrm>
          <a:prstGeom prst="roundRect">
            <a:avLst>
              <a:gd name="adj" fmla="val 2525"/>
            </a:avLst>
          </a:prstGeom>
          <a:solidFill>
            <a:schemeClr val="lt1"/>
          </a:solidFill>
          <a:ln w="9525" cap="flat" cmpd="sng">
            <a:solidFill>
              <a:srgbClr val="797979"/>
            </a:solidFill>
            <a:prstDash val="solid"/>
            <a:round/>
            <a:headEnd type="none" w="sm" len="sm"/>
            <a:tailEnd type="none" w="sm" len="sm"/>
          </a:ln>
        </p:spPr>
        <p:txBody>
          <a:bodyPr spcFirstLastPara="1" wrap="square" lIns="91375" tIns="45650" rIns="91375" bIns="45650" anchor="ctr" anchorCtr="0">
            <a:noAutofit/>
          </a:bodyPr>
          <a:lstStyle/>
          <a:p>
            <a:pPr marL="0" marR="0" lvl="0" indent="0" algn="ctr" rtl="0">
              <a:spcBef>
                <a:spcPts val="0"/>
              </a:spcBef>
              <a:spcAft>
                <a:spcPts val="0"/>
              </a:spcAft>
              <a:buNone/>
            </a:pPr>
            <a:endParaRPr sz="1100">
              <a:solidFill>
                <a:srgbClr val="FFFFFF"/>
              </a:solidFill>
              <a:latin typeface="Arial"/>
              <a:ea typeface="Arial"/>
              <a:cs typeface="Arial"/>
              <a:sym typeface="Arial"/>
            </a:endParaRPr>
          </a:p>
        </p:txBody>
      </p:sp>
      <p:sp>
        <p:nvSpPr>
          <p:cNvPr id="15526" name="Google Shape;15526;p101"/>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Built-in Guidance for Creating Your Modern Private Cloud</a:t>
            </a:r>
            <a:endParaRPr/>
          </a:p>
        </p:txBody>
      </p:sp>
      <p:sp>
        <p:nvSpPr>
          <p:cNvPr id="15527" name="Google Shape;15527;p101"/>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VCF Automation Tenant Management</a:t>
            </a:r>
            <a:endParaRPr/>
          </a:p>
          <a:p>
            <a:pPr marL="0" lvl="0" indent="0" algn="l" rtl="0">
              <a:lnSpc>
                <a:spcPct val="100000"/>
              </a:lnSpc>
              <a:spcBef>
                <a:spcPts val="1200"/>
              </a:spcBef>
              <a:spcAft>
                <a:spcPts val="0"/>
              </a:spcAft>
              <a:buSzPts val="1800"/>
              <a:buNone/>
            </a:pPr>
            <a:endParaRPr/>
          </a:p>
        </p:txBody>
      </p:sp>
      <p:sp>
        <p:nvSpPr>
          <p:cNvPr id="15528" name="Google Shape;15528;p101"/>
          <p:cNvSpPr txBox="1">
            <a:spLocks noGrp="1"/>
          </p:cNvSpPr>
          <p:nvPr>
            <p:ph type="body" idx="2"/>
          </p:nvPr>
        </p:nvSpPr>
        <p:spPr>
          <a:xfrm>
            <a:off x="1589" y="1610005"/>
            <a:ext cx="2893259" cy="4570809"/>
          </a:xfrm>
          <a:prstGeom prst="rect">
            <a:avLst/>
          </a:prstGeom>
          <a:solidFill>
            <a:srgbClr val="F4F8FA"/>
          </a:solidFill>
          <a:ln>
            <a:noFill/>
          </a:ln>
        </p:spPr>
        <p:txBody>
          <a:bodyPr spcFirstLastPara="1" wrap="square" lIns="274225" tIns="457075" rIns="457075" bIns="457075" anchor="t" anchorCtr="0">
            <a:noAutofit/>
          </a:bodyPr>
          <a:lstStyle/>
          <a:p>
            <a:pPr marL="0" lvl="0" indent="-102870" algn="l" rtl="0">
              <a:lnSpc>
                <a:spcPct val="100000"/>
              </a:lnSpc>
              <a:spcBef>
                <a:spcPts val="0"/>
              </a:spcBef>
              <a:spcAft>
                <a:spcPts val="0"/>
              </a:spcAft>
              <a:buSzPts val="1620"/>
              <a:buChar char="​"/>
            </a:pPr>
            <a:r>
              <a:rPr lang="en-US"/>
              <a:t>…</a:t>
            </a:r>
            <a:endParaRPr/>
          </a:p>
        </p:txBody>
      </p:sp>
      <p:sp>
        <p:nvSpPr>
          <p:cNvPr id="15529" name="Google Shape;15529;p101"/>
          <p:cNvSpPr/>
          <p:nvPr/>
        </p:nvSpPr>
        <p:spPr>
          <a:xfrm>
            <a:off x="185802" y="2032366"/>
            <a:ext cx="2524828" cy="667483"/>
          </a:xfrm>
          <a:prstGeom prst="rect">
            <a:avLst/>
          </a:prstGeom>
          <a:solidFill>
            <a:srgbClr val="F5F9FB"/>
          </a:solidFill>
          <a:ln>
            <a:noFill/>
          </a:ln>
        </p:spPr>
        <p:txBody>
          <a:bodyPr spcFirstLastPara="1" wrap="square" lIns="91400" tIns="45675" rIns="91400" bIns="45675" anchor="ctr" anchorCtr="0">
            <a:noAutofit/>
          </a:bodyPr>
          <a:lstStyle/>
          <a:p>
            <a:pPr marL="0" marR="0" lvl="0" indent="0" algn="ctr" rtl="0">
              <a:spcBef>
                <a:spcPts val="0"/>
              </a:spcBef>
              <a:spcAft>
                <a:spcPts val="0"/>
              </a:spcAft>
              <a:buNone/>
            </a:pPr>
            <a:endParaRPr sz="1799">
              <a:solidFill>
                <a:srgbClr val="FFFFFF"/>
              </a:solidFill>
              <a:latin typeface="Arial"/>
              <a:ea typeface="Arial"/>
              <a:cs typeface="Arial"/>
              <a:sym typeface="Arial"/>
            </a:endParaRPr>
          </a:p>
        </p:txBody>
      </p:sp>
      <p:sp>
        <p:nvSpPr>
          <p:cNvPr id="15530" name="Google Shape;15530;p101"/>
          <p:cNvSpPr txBox="1"/>
          <p:nvPr/>
        </p:nvSpPr>
        <p:spPr>
          <a:xfrm>
            <a:off x="281101" y="2071677"/>
            <a:ext cx="2556818" cy="3676972"/>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699">
                <a:solidFill>
                  <a:srgbClr val="005C8A"/>
                </a:solidFill>
                <a:latin typeface="Arial"/>
                <a:ea typeface="Arial"/>
                <a:cs typeface="Arial"/>
                <a:sym typeface="Arial"/>
              </a:rPr>
              <a:t>Create regions and tenant organizations</a:t>
            </a:r>
            <a:endParaRPr sz="1400">
              <a:solidFill>
                <a:srgbClr val="000000"/>
              </a:solidFill>
              <a:latin typeface="Arial"/>
              <a:ea typeface="Arial"/>
              <a:cs typeface="Arial"/>
              <a:sym typeface="Arial"/>
            </a:endParaRPr>
          </a:p>
          <a:p>
            <a:pPr marL="0" marR="0" lvl="0" indent="0" algn="l" rtl="0">
              <a:spcBef>
                <a:spcPts val="0"/>
              </a:spcBef>
              <a:spcAft>
                <a:spcPts val="0"/>
              </a:spcAft>
              <a:buNone/>
            </a:pPr>
            <a:endParaRPr sz="1699">
              <a:solidFill>
                <a:srgbClr val="005C8A"/>
              </a:solidFill>
              <a:latin typeface="Arial"/>
              <a:ea typeface="Arial"/>
              <a:cs typeface="Arial"/>
              <a:sym typeface="Arial"/>
            </a:endParaRPr>
          </a:p>
          <a:p>
            <a:pPr marL="0" marR="0" lvl="0" indent="0" algn="l" rtl="0">
              <a:spcBef>
                <a:spcPts val="0"/>
              </a:spcBef>
              <a:spcAft>
                <a:spcPts val="0"/>
              </a:spcAft>
              <a:buNone/>
            </a:pPr>
            <a:r>
              <a:rPr lang="en-US" sz="1699">
                <a:solidFill>
                  <a:srgbClr val="005C8A"/>
                </a:solidFill>
                <a:latin typeface="Arial"/>
                <a:ea typeface="Arial"/>
                <a:cs typeface="Arial"/>
                <a:sym typeface="Arial"/>
              </a:rPr>
              <a:t>Define IP Blocks to centralize IP management</a:t>
            </a:r>
            <a:endParaRPr sz="1400">
              <a:solidFill>
                <a:srgbClr val="000000"/>
              </a:solidFill>
              <a:latin typeface="Arial"/>
              <a:ea typeface="Arial"/>
              <a:cs typeface="Arial"/>
              <a:sym typeface="Arial"/>
            </a:endParaRPr>
          </a:p>
          <a:p>
            <a:pPr marL="0" marR="0" lvl="0" indent="0" algn="l" rtl="0">
              <a:spcBef>
                <a:spcPts val="0"/>
              </a:spcBef>
              <a:spcAft>
                <a:spcPts val="0"/>
              </a:spcAft>
              <a:buNone/>
            </a:pPr>
            <a:endParaRPr sz="1699">
              <a:solidFill>
                <a:srgbClr val="005C8A"/>
              </a:solidFill>
              <a:latin typeface="Arial"/>
              <a:ea typeface="Arial"/>
              <a:cs typeface="Arial"/>
              <a:sym typeface="Arial"/>
            </a:endParaRPr>
          </a:p>
          <a:p>
            <a:pPr marL="0" marR="0" lvl="0" indent="0" algn="l" rtl="0">
              <a:spcBef>
                <a:spcPts val="0"/>
              </a:spcBef>
              <a:spcAft>
                <a:spcPts val="0"/>
              </a:spcAft>
              <a:buNone/>
            </a:pPr>
            <a:r>
              <a:rPr lang="en-US" sz="1699">
                <a:solidFill>
                  <a:srgbClr val="005C8A"/>
                </a:solidFill>
                <a:latin typeface="Arial"/>
                <a:ea typeface="Arial"/>
                <a:cs typeface="Arial"/>
                <a:sym typeface="Arial"/>
              </a:rPr>
              <a:t>Create external connections for DTGW or CTGW configurations</a:t>
            </a:r>
            <a:endParaRPr sz="1400">
              <a:solidFill>
                <a:srgbClr val="000000"/>
              </a:solidFill>
              <a:latin typeface="Arial"/>
              <a:ea typeface="Arial"/>
              <a:cs typeface="Arial"/>
              <a:sym typeface="Arial"/>
            </a:endParaRPr>
          </a:p>
          <a:p>
            <a:pPr marL="0" marR="0" lvl="0" indent="0" algn="l" rtl="0">
              <a:spcBef>
                <a:spcPts val="0"/>
              </a:spcBef>
              <a:spcAft>
                <a:spcPts val="0"/>
              </a:spcAft>
              <a:buNone/>
            </a:pPr>
            <a:endParaRPr sz="1699">
              <a:solidFill>
                <a:srgbClr val="005C8A"/>
              </a:solidFill>
              <a:latin typeface="Arial"/>
              <a:ea typeface="Arial"/>
              <a:cs typeface="Arial"/>
              <a:sym typeface="Arial"/>
            </a:endParaRPr>
          </a:p>
          <a:p>
            <a:pPr marL="0" marR="0" lvl="0" indent="0" algn="l" rtl="0">
              <a:spcBef>
                <a:spcPts val="0"/>
              </a:spcBef>
              <a:spcAft>
                <a:spcPts val="0"/>
              </a:spcAft>
              <a:buNone/>
            </a:pPr>
            <a:r>
              <a:rPr lang="en-US" sz="1699">
                <a:solidFill>
                  <a:srgbClr val="005C8A"/>
                </a:solidFill>
                <a:latin typeface="Arial"/>
                <a:ea typeface="Arial"/>
                <a:cs typeface="Arial"/>
                <a:sym typeface="Arial"/>
              </a:rPr>
              <a:t>Share or assign entire Region capacity to the Organization(s)</a:t>
            </a:r>
            <a:endParaRPr sz="1400">
              <a:solidFill>
                <a:srgbClr val="000000"/>
              </a:solidFill>
              <a:latin typeface="Arial"/>
              <a:ea typeface="Arial"/>
              <a:cs typeface="Arial"/>
              <a:sym typeface="Arial"/>
            </a:endParaRPr>
          </a:p>
          <a:p>
            <a:pPr marL="0" marR="0" lvl="0" indent="0" algn="l" rtl="0">
              <a:spcBef>
                <a:spcPts val="0"/>
              </a:spcBef>
              <a:spcAft>
                <a:spcPts val="0"/>
              </a:spcAft>
              <a:buNone/>
            </a:pPr>
            <a:endParaRPr sz="1799">
              <a:solidFill>
                <a:srgbClr val="1B1D36"/>
              </a:solidFill>
              <a:latin typeface="Arial"/>
              <a:ea typeface="Arial"/>
              <a:cs typeface="Arial"/>
              <a:sym typeface="Arial"/>
            </a:endParaRPr>
          </a:p>
        </p:txBody>
      </p:sp>
      <p:pic>
        <p:nvPicPr>
          <p:cNvPr id="15531" name="Google Shape;15531;p101"/>
          <p:cNvPicPr preferRelativeResize="0"/>
          <p:nvPr/>
        </p:nvPicPr>
        <p:blipFill rotWithShape="1">
          <a:blip r:embed="rId3">
            <a:alphaModFix/>
          </a:blip>
          <a:srcRect b="28305"/>
          <a:stretch/>
        </p:blipFill>
        <p:spPr>
          <a:xfrm>
            <a:off x="3412111" y="1533619"/>
            <a:ext cx="8126881" cy="4647189"/>
          </a:xfrm>
          <a:prstGeom prst="rect">
            <a:avLst/>
          </a:prstGeom>
          <a:solidFill>
            <a:schemeClr val="lt1"/>
          </a:solid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15536"/>
        <p:cNvGrpSpPr/>
        <p:nvPr/>
      </p:nvGrpSpPr>
      <p:grpSpPr>
        <a:xfrm>
          <a:off x="0" y="0"/>
          <a:ext cx="0" cy="0"/>
          <a:chOff x="0" y="0"/>
          <a:chExt cx="0" cy="0"/>
        </a:xfrm>
      </p:grpSpPr>
      <p:sp>
        <p:nvSpPr>
          <p:cNvPr id="15537" name="Google Shape;15537;p102"/>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Streamline Organizational Resource Management and Operations</a:t>
            </a:r>
            <a:endParaRPr/>
          </a:p>
        </p:txBody>
      </p:sp>
      <p:sp>
        <p:nvSpPr>
          <p:cNvPr id="15538" name="Google Shape;15538;p102"/>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1200"/>
              </a:spcAft>
              <a:buSzPts val="1800"/>
              <a:buNone/>
            </a:pPr>
            <a:r>
              <a:rPr lang="en-US"/>
              <a:t>Build a secure and efficient Private Cloud</a:t>
            </a:r>
            <a:endParaRPr/>
          </a:p>
        </p:txBody>
      </p:sp>
      <p:sp>
        <p:nvSpPr>
          <p:cNvPr id="15539" name="Google Shape;15539;p102"/>
          <p:cNvSpPr txBox="1">
            <a:spLocks noGrp="1"/>
          </p:cNvSpPr>
          <p:nvPr>
            <p:ph type="body" idx="2"/>
          </p:nvPr>
        </p:nvSpPr>
        <p:spPr>
          <a:xfrm>
            <a:off x="8379818" y="1600677"/>
            <a:ext cx="3807420" cy="5048668"/>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Manage Organization region quotas, networking, settings and more from the Provider Portal</a:t>
            </a:r>
            <a:endParaRPr dirty="0"/>
          </a:p>
          <a:p>
            <a:pPr marL="0" lvl="0" indent="-91440" algn="l" rtl="0">
              <a:lnSpc>
                <a:spcPct val="100000"/>
              </a:lnSpc>
              <a:spcBef>
                <a:spcPts val="1200"/>
              </a:spcBef>
              <a:spcAft>
                <a:spcPts val="0"/>
              </a:spcAft>
              <a:buSzPts val="1440"/>
              <a:buChar char="​"/>
            </a:pPr>
            <a:r>
              <a:rPr lang="en-US" dirty="0"/>
              <a:t>Increased visibility and control:</a:t>
            </a:r>
            <a:endParaRPr dirty="0"/>
          </a:p>
          <a:p>
            <a:pPr marL="285664" lvl="0" indent="-285664" algn="l" rtl="0">
              <a:lnSpc>
                <a:spcPct val="100000"/>
              </a:lnSpc>
              <a:spcBef>
                <a:spcPts val="1200"/>
              </a:spcBef>
              <a:spcAft>
                <a:spcPts val="0"/>
              </a:spcAft>
              <a:buSzPts val="1260"/>
              <a:buFont typeface="Arial"/>
              <a:buChar char="•"/>
            </a:pPr>
            <a:r>
              <a:rPr lang="en-US" sz="1400" dirty="0"/>
              <a:t>Enables application teams to choose multiple vSphere zones for deploying applications.</a:t>
            </a:r>
            <a:endParaRPr dirty="0"/>
          </a:p>
          <a:p>
            <a:pPr marL="285664" lvl="0" indent="-285664" algn="l" rtl="0">
              <a:lnSpc>
                <a:spcPct val="100000"/>
              </a:lnSpc>
              <a:spcBef>
                <a:spcPts val="1200"/>
              </a:spcBef>
              <a:spcAft>
                <a:spcPts val="0"/>
              </a:spcAft>
              <a:buSzPts val="1260"/>
              <a:buFont typeface="Arial"/>
              <a:buChar char="•"/>
            </a:pPr>
            <a:r>
              <a:rPr lang="en-US" sz="1400" dirty="0"/>
              <a:t>Organizations have separate resources and can use VPCs to isolate teams in those organizations.</a:t>
            </a:r>
            <a:endParaRPr dirty="0"/>
          </a:p>
          <a:p>
            <a:pPr marL="285664" lvl="0" indent="-285664" algn="l" rtl="0">
              <a:lnSpc>
                <a:spcPct val="100000"/>
              </a:lnSpc>
              <a:spcBef>
                <a:spcPts val="1200"/>
              </a:spcBef>
              <a:spcAft>
                <a:spcPts val="1200"/>
              </a:spcAft>
              <a:buSzPts val="1260"/>
              <a:buFont typeface="Arial"/>
              <a:buChar char="•"/>
            </a:pPr>
            <a:r>
              <a:rPr lang="en-US" sz="1400" dirty="0"/>
              <a:t>Manage resources, set quotas, control permissions, offer managed services like encryption and secrets. </a:t>
            </a:r>
            <a:endParaRPr dirty="0"/>
          </a:p>
        </p:txBody>
      </p:sp>
      <p:pic>
        <p:nvPicPr>
          <p:cNvPr id="15540" name="Google Shape;15540;p102"/>
          <p:cNvPicPr preferRelativeResize="0"/>
          <p:nvPr/>
        </p:nvPicPr>
        <p:blipFill rotWithShape="1">
          <a:blip r:embed="rId3">
            <a:alphaModFix/>
          </a:blip>
          <a:srcRect/>
          <a:stretch/>
        </p:blipFill>
        <p:spPr>
          <a:xfrm>
            <a:off x="396272" y="1600677"/>
            <a:ext cx="7850530" cy="4438395"/>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15545"/>
        <p:cNvGrpSpPr/>
        <p:nvPr/>
      </p:nvGrpSpPr>
      <p:grpSpPr>
        <a:xfrm>
          <a:off x="0" y="0"/>
          <a:ext cx="0" cy="0"/>
          <a:chOff x="0" y="0"/>
          <a:chExt cx="0" cy="0"/>
        </a:xfrm>
      </p:grpSpPr>
      <p:sp>
        <p:nvSpPr>
          <p:cNvPr id="15546" name="Google Shape;15546;p103"/>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Manage and Configure Organizations</a:t>
            </a:r>
            <a:endParaRPr/>
          </a:p>
        </p:txBody>
      </p:sp>
      <p:sp>
        <p:nvSpPr>
          <p:cNvPr id="15547" name="Google Shape;15547;p103"/>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1200"/>
              </a:spcAft>
              <a:buSzPts val="1800"/>
              <a:buNone/>
            </a:pPr>
            <a:r>
              <a:rPr lang="en-US"/>
              <a:t>Organization Portal Provides Organization Admins with Visibility into the Organization</a:t>
            </a:r>
            <a:endParaRPr/>
          </a:p>
        </p:txBody>
      </p:sp>
      <p:sp>
        <p:nvSpPr>
          <p:cNvPr id="15548" name="Google Shape;15548;p103"/>
          <p:cNvSpPr txBox="1">
            <a:spLocks noGrp="1"/>
          </p:cNvSpPr>
          <p:nvPr>
            <p:ph type="body" idx="2"/>
          </p:nvPr>
        </p:nvSpPr>
        <p:spPr>
          <a:xfrm>
            <a:off x="8379818" y="1600676"/>
            <a:ext cx="3807420" cy="4570809"/>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Organization Admins get visibility into resources deployed, utilization and cost of Projects and Namespaces </a:t>
            </a:r>
            <a:endParaRPr dirty="0"/>
          </a:p>
          <a:p>
            <a:pPr marL="0" lvl="0" indent="0" algn="l" rtl="0">
              <a:lnSpc>
                <a:spcPct val="100000"/>
              </a:lnSpc>
              <a:spcBef>
                <a:spcPts val="1200"/>
              </a:spcBef>
              <a:spcAft>
                <a:spcPts val="0"/>
              </a:spcAft>
              <a:buSzPts val="1440"/>
              <a:buNone/>
            </a:pPr>
            <a:r>
              <a:rPr lang="en-US" dirty="0"/>
              <a:t>MTD Cost broken down by CPU, Memory and Storage, VCF Operations Chargeback and Pricing Policy configurations allow for this data to show up in VCF Automation</a:t>
            </a:r>
            <a:endParaRPr dirty="0"/>
          </a:p>
          <a:p>
            <a:pPr marL="0" lvl="0" indent="0" algn="l" rtl="0">
              <a:lnSpc>
                <a:spcPct val="100000"/>
              </a:lnSpc>
              <a:spcBef>
                <a:spcPts val="1200"/>
              </a:spcBef>
              <a:spcAft>
                <a:spcPts val="1200"/>
              </a:spcAft>
              <a:buSzPts val="1440"/>
              <a:buNone/>
            </a:pPr>
            <a:r>
              <a:rPr lang="en-US" dirty="0"/>
              <a:t>Quickly view Namespaces and the services that are available to the users</a:t>
            </a:r>
            <a:endParaRPr dirty="0"/>
          </a:p>
        </p:txBody>
      </p:sp>
      <p:pic>
        <p:nvPicPr>
          <p:cNvPr id="15549" name="Google Shape;15549;p103"/>
          <p:cNvPicPr preferRelativeResize="0"/>
          <p:nvPr/>
        </p:nvPicPr>
        <p:blipFill rotWithShape="1">
          <a:blip r:embed="rId3">
            <a:alphaModFix/>
          </a:blip>
          <a:srcRect/>
          <a:stretch/>
        </p:blipFill>
        <p:spPr>
          <a:xfrm>
            <a:off x="380900" y="1600677"/>
            <a:ext cx="7770376" cy="4057172"/>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15554"/>
        <p:cNvGrpSpPr/>
        <p:nvPr/>
      </p:nvGrpSpPr>
      <p:grpSpPr>
        <a:xfrm>
          <a:off x="0" y="0"/>
          <a:ext cx="0" cy="0"/>
          <a:chOff x="0" y="0"/>
          <a:chExt cx="0" cy="0"/>
        </a:xfrm>
      </p:grpSpPr>
      <p:sp>
        <p:nvSpPr>
          <p:cNvPr id="15555" name="Google Shape;15555;p104"/>
          <p:cNvSpPr txBox="1">
            <a:spLocks noGrp="1"/>
          </p:cNvSpPr>
          <p:nvPr>
            <p:ph type="title"/>
          </p:nvPr>
        </p:nvSpPr>
        <p:spPr>
          <a:xfrm>
            <a:off x="582682" y="414323"/>
            <a:ext cx="10995275" cy="380802"/>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Modern Infrastructure and Multi-tenancy Enables More Use Cases</a:t>
            </a:r>
            <a:endParaRPr/>
          </a:p>
        </p:txBody>
      </p:sp>
      <p:sp>
        <p:nvSpPr>
          <p:cNvPr id="15556" name="Google Shape;15556;p104"/>
          <p:cNvSpPr txBox="1">
            <a:spLocks noGrp="1"/>
          </p:cNvSpPr>
          <p:nvPr>
            <p:ph type="subTitle" idx="1"/>
          </p:nvPr>
        </p:nvSpPr>
        <p:spPr>
          <a:xfrm>
            <a:off x="595732" y="813194"/>
            <a:ext cx="10956978" cy="247614"/>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Example: Infrastructure-as-a-Service (IaaS)</a:t>
            </a:r>
            <a:endParaRPr/>
          </a:p>
        </p:txBody>
      </p:sp>
      <p:sp>
        <p:nvSpPr>
          <p:cNvPr id="15557" name="Google Shape;15557;p104"/>
          <p:cNvSpPr txBox="1">
            <a:spLocks noGrp="1"/>
          </p:cNvSpPr>
          <p:nvPr>
            <p:ph type="body" idx="2"/>
          </p:nvPr>
        </p:nvSpPr>
        <p:spPr>
          <a:xfrm>
            <a:off x="3177" y="1610480"/>
            <a:ext cx="2892506" cy="4569619"/>
          </a:xfrm>
          <a:prstGeom prst="rect">
            <a:avLst/>
          </a:prstGeom>
          <a:solidFill>
            <a:srgbClr val="F4F8FA"/>
          </a:solidFill>
          <a:ln>
            <a:noFill/>
          </a:ln>
        </p:spPr>
        <p:txBody>
          <a:bodyPr spcFirstLastPara="1" wrap="square" lIns="274225" tIns="457075" rIns="457075" bIns="457075" anchor="t" anchorCtr="0">
            <a:noAutofit/>
          </a:bodyPr>
          <a:lstStyle/>
          <a:p>
            <a:pPr marL="0" lvl="0" indent="0" algn="l" rtl="0">
              <a:lnSpc>
                <a:spcPct val="100000"/>
              </a:lnSpc>
              <a:spcBef>
                <a:spcPts val="0"/>
              </a:spcBef>
              <a:spcAft>
                <a:spcPts val="0"/>
              </a:spcAft>
              <a:buSzPts val="1620"/>
              <a:buNone/>
            </a:pPr>
            <a:r>
              <a:rPr lang="en-US" dirty="0"/>
              <a:t>Self-service access for users to deploy applications and services</a:t>
            </a:r>
            <a:endParaRPr dirty="0"/>
          </a:p>
          <a:p>
            <a:pPr marL="0" lvl="0" indent="0" algn="l" rtl="0">
              <a:lnSpc>
                <a:spcPct val="100000"/>
              </a:lnSpc>
              <a:spcBef>
                <a:spcPts val="1200"/>
              </a:spcBef>
              <a:spcAft>
                <a:spcPts val="0"/>
              </a:spcAft>
              <a:buSzPts val="1620"/>
              <a:buNone/>
            </a:pPr>
            <a:r>
              <a:rPr lang="en-US" dirty="0"/>
              <a:t>Catalog with up-front price estimate for VMs and VKS clusters</a:t>
            </a:r>
            <a:endParaRPr dirty="0"/>
          </a:p>
          <a:p>
            <a:pPr marL="0" lvl="0" indent="0" algn="l" rtl="0">
              <a:lnSpc>
                <a:spcPct val="100000"/>
              </a:lnSpc>
              <a:spcBef>
                <a:spcPts val="1200"/>
              </a:spcBef>
              <a:spcAft>
                <a:spcPts val="0"/>
              </a:spcAft>
              <a:buSzPts val="1620"/>
              <a:buNone/>
            </a:pPr>
            <a:r>
              <a:rPr lang="en-US" dirty="0"/>
              <a:t>Policy Driven via approvals, lease times, etc.</a:t>
            </a:r>
            <a:endParaRPr dirty="0"/>
          </a:p>
        </p:txBody>
      </p:sp>
      <p:pic>
        <p:nvPicPr>
          <p:cNvPr id="15558" name="Google Shape;15558;p104"/>
          <p:cNvPicPr preferRelativeResize="0"/>
          <p:nvPr/>
        </p:nvPicPr>
        <p:blipFill rotWithShape="1">
          <a:blip r:embed="rId3">
            <a:alphaModFix/>
          </a:blip>
          <a:srcRect b="7420"/>
          <a:stretch/>
        </p:blipFill>
        <p:spPr>
          <a:xfrm>
            <a:off x="3319980" y="1511524"/>
            <a:ext cx="7770376" cy="4668575"/>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15563"/>
        <p:cNvGrpSpPr/>
        <p:nvPr/>
      </p:nvGrpSpPr>
      <p:grpSpPr>
        <a:xfrm>
          <a:off x="0" y="0"/>
          <a:ext cx="0" cy="0"/>
          <a:chOff x="0" y="0"/>
          <a:chExt cx="0" cy="0"/>
        </a:xfrm>
      </p:grpSpPr>
      <p:sp>
        <p:nvSpPr>
          <p:cNvPr id="15564" name="Google Shape;15564;p105"/>
          <p:cNvSpPr txBox="1">
            <a:spLocks noGrp="1"/>
          </p:cNvSpPr>
          <p:nvPr>
            <p:ph type="title"/>
          </p:nvPr>
        </p:nvSpPr>
        <p:spPr>
          <a:xfrm>
            <a:off x="581245" y="414323"/>
            <a:ext cx="10998139" cy="380802"/>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Provide Out-of-the-Box VCF Services </a:t>
            </a:r>
            <a:endParaRPr/>
          </a:p>
        </p:txBody>
      </p:sp>
      <p:sp>
        <p:nvSpPr>
          <p:cNvPr id="15565" name="Google Shape;15565;p105"/>
          <p:cNvSpPr txBox="1">
            <a:spLocks noGrp="1"/>
          </p:cNvSpPr>
          <p:nvPr>
            <p:ph type="subTitle" idx="1"/>
          </p:nvPr>
        </p:nvSpPr>
        <p:spPr>
          <a:xfrm>
            <a:off x="594301" y="813194"/>
            <a:ext cx="10959832" cy="247614"/>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Self-service cloud experience enabled by Cloud Services</a:t>
            </a:r>
            <a:endParaRPr/>
          </a:p>
        </p:txBody>
      </p:sp>
      <p:sp>
        <p:nvSpPr>
          <p:cNvPr id="15566" name="Google Shape;15566;p105"/>
          <p:cNvSpPr txBox="1">
            <a:spLocks noGrp="1"/>
          </p:cNvSpPr>
          <p:nvPr>
            <p:ph type="body" idx="2"/>
          </p:nvPr>
        </p:nvSpPr>
        <p:spPr>
          <a:xfrm>
            <a:off x="8569234" y="1601154"/>
            <a:ext cx="3729709" cy="5255062"/>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Simplify the deployment and management of IT resources.</a:t>
            </a:r>
            <a:endParaRPr dirty="0"/>
          </a:p>
          <a:p>
            <a:pPr marL="0" lvl="0" indent="0" algn="l" rtl="0">
              <a:lnSpc>
                <a:spcPct val="100000"/>
              </a:lnSpc>
              <a:spcBef>
                <a:spcPts val="600"/>
              </a:spcBef>
              <a:spcAft>
                <a:spcPts val="0"/>
              </a:spcAft>
              <a:buSzPts val="1440"/>
              <a:buNone/>
            </a:pPr>
            <a:r>
              <a:rPr lang="en-US" dirty="0"/>
              <a:t>Increase user productivity by reducing dependence on IT Admins.</a:t>
            </a:r>
            <a:endParaRPr dirty="0"/>
          </a:p>
          <a:p>
            <a:pPr marL="0" lvl="0" indent="0" algn="l" rtl="0">
              <a:lnSpc>
                <a:spcPct val="100000"/>
              </a:lnSpc>
              <a:spcBef>
                <a:spcPts val="600"/>
              </a:spcBef>
              <a:spcAft>
                <a:spcPts val="0"/>
              </a:spcAft>
              <a:buSzPts val="1440"/>
              <a:buNone/>
            </a:pPr>
            <a:r>
              <a:rPr lang="en-US" dirty="0"/>
              <a:t>User-friendly interface to save time and simplify operations.</a:t>
            </a:r>
            <a:endParaRPr dirty="0"/>
          </a:p>
          <a:p>
            <a:pPr marL="285578" lvl="0" indent="-285578" algn="l" rtl="0">
              <a:lnSpc>
                <a:spcPct val="100000"/>
              </a:lnSpc>
              <a:spcBef>
                <a:spcPts val="600"/>
              </a:spcBef>
              <a:spcAft>
                <a:spcPts val="0"/>
              </a:spcAft>
              <a:buSzPts val="1260"/>
              <a:buFont typeface="Arial"/>
              <a:buChar char="•"/>
            </a:pPr>
            <a:r>
              <a:rPr lang="en-US" sz="1400" dirty="0"/>
              <a:t>Comprehensive OOTB IaaS services.</a:t>
            </a:r>
            <a:endParaRPr dirty="0"/>
          </a:p>
          <a:p>
            <a:pPr marL="285578" lvl="0" indent="-285578" algn="l" rtl="0">
              <a:lnSpc>
                <a:spcPct val="100000"/>
              </a:lnSpc>
              <a:spcBef>
                <a:spcPts val="600"/>
              </a:spcBef>
              <a:spcAft>
                <a:spcPts val="0"/>
              </a:spcAft>
              <a:buSzPts val="1260"/>
              <a:buFont typeface="Arial"/>
              <a:buChar char="•"/>
            </a:pPr>
            <a:r>
              <a:rPr lang="en-US" sz="1400" dirty="0"/>
              <a:t>Public cloud-like experience.</a:t>
            </a:r>
            <a:endParaRPr dirty="0"/>
          </a:p>
          <a:p>
            <a:pPr marL="285578" lvl="0" indent="-285578" algn="l" rtl="0">
              <a:lnSpc>
                <a:spcPct val="100000"/>
              </a:lnSpc>
              <a:spcBef>
                <a:spcPts val="600"/>
              </a:spcBef>
              <a:spcAft>
                <a:spcPts val="0"/>
              </a:spcAft>
              <a:buSzPts val="1260"/>
              <a:buFont typeface="Arial"/>
              <a:buChar char="•"/>
            </a:pPr>
            <a:r>
              <a:rPr lang="en-US" sz="1400" dirty="0"/>
              <a:t>Streamline provisioning of VCF services with VCFA’s interface.</a:t>
            </a:r>
            <a:endParaRPr dirty="0"/>
          </a:p>
        </p:txBody>
      </p:sp>
      <p:pic>
        <p:nvPicPr>
          <p:cNvPr id="15567" name="Google Shape;15567;p105"/>
          <p:cNvPicPr preferRelativeResize="0"/>
          <p:nvPr/>
        </p:nvPicPr>
        <p:blipFill rotWithShape="1">
          <a:blip r:embed="rId3">
            <a:alphaModFix/>
          </a:blip>
          <a:srcRect/>
          <a:stretch/>
        </p:blipFill>
        <p:spPr>
          <a:xfrm>
            <a:off x="226966" y="1557029"/>
            <a:ext cx="8075096" cy="4202442"/>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15572"/>
        <p:cNvGrpSpPr/>
        <p:nvPr/>
      </p:nvGrpSpPr>
      <p:grpSpPr>
        <a:xfrm>
          <a:off x="0" y="0"/>
          <a:ext cx="0" cy="0"/>
          <a:chOff x="0" y="0"/>
          <a:chExt cx="0" cy="0"/>
        </a:xfrm>
      </p:grpSpPr>
      <p:sp>
        <p:nvSpPr>
          <p:cNvPr id="15573" name="Google Shape;15573;p106"/>
          <p:cNvSpPr txBox="1">
            <a:spLocks noGrp="1"/>
          </p:cNvSpPr>
          <p:nvPr>
            <p:ph type="title"/>
          </p:nvPr>
        </p:nvSpPr>
        <p:spPr>
          <a:xfrm>
            <a:off x="581245" y="414323"/>
            <a:ext cx="10998139" cy="380802"/>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Declare Infrastructure in a Blueprint</a:t>
            </a:r>
            <a:endParaRPr/>
          </a:p>
        </p:txBody>
      </p:sp>
      <p:sp>
        <p:nvSpPr>
          <p:cNvPr id="15574" name="Google Shape;15574;p106"/>
          <p:cNvSpPr txBox="1">
            <a:spLocks noGrp="1"/>
          </p:cNvSpPr>
          <p:nvPr>
            <p:ph type="subTitle" idx="1"/>
          </p:nvPr>
        </p:nvSpPr>
        <p:spPr>
          <a:xfrm>
            <a:off x="594301" y="813194"/>
            <a:ext cx="10959832" cy="247614"/>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Provide custom blueprint development for tailored services</a:t>
            </a:r>
            <a:endParaRPr/>
          </a:p>
        </p:txBody>
      </p:sp>
      <p:sp>
        <p:nvSpPr>
          <p:cNvPr id="15575" name="Google Shape;15575;p106"/>
          <p:cNvSpPr txBox="1">
            <a:spLocks noGrp="1"/>
          </p:cNvSpPr>
          <p:nvPr>
            <p:ph type="body" idx="2"/>
          </p:nvPr>
        </p:nvSpPr>
        <p:spPr>
          <a:xfrm>
            <a:off x="8560526" y="1601153"/>
            <a:ext cx="3626712" cy="4569619"/>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Implement controls to enhance security and efficiency for reduced downtime. </a:t>
            </a:r>
            <a:endParaRPr dirty="0"/>
          </a:p>
          <a:p>
            <a:pPr marL="0" lvl="0" indent="0" algn="l" rtl="0">
              <a:lnSpc>
                <a:spcPct val="100000"/>
              </a:lnSpc>
              <a:spcBef>
                <a:spcPts val="600"/>
              </a:spcBef>
              <a:spcAft>
                <a:spcPts val="0"/>
              </a:spcAft>
              <a:buSzPts val="1440"/>
              <a:buNone/>
            </a:pPr>
            <a:r>
              <a:rPr lang="en-US" dirty="0"/>
              <a:t>Accelerate app development and reduce time-to-market.</a:t>
            </a:r>
            <a:endParaRPr sz="1400" dirty="0"/>
          </a:p>
          <a:p>
            <a:pPr marL="0" lvl="0" indent="0" algn="l" rtl="0">
              <a:lnSpc>
                <a:spcPct val="100000"/>
              </a:lnSpc>
              <a:spcBef>
                <a:spcPts val="600"/>
              </a:spcBef>
              <a:spcAft>
                <a:spcPts val="0"/>
              </a:spcAft>
              <a:buSzPts val="1260"/>
              <a:buNone/>
            </a:pPr>
            <a:r>
              <a:rPr lang="en-US" dirty="0"/>
              <a:t>Declarative Blueprint Features: </a:t>
            </a:r>
            <a:endParaRPr dirty="0"/>
          </a:p>
          <a:p>
            <a:pPr marL="285578" lvl="0" indent="-285578" algn="l" rtl="0">
              <a:lnSpc>
                <a:spcPct val="100000"/>
              </a:lnSpc>
              <a:spcBef>
                <a:spcPts val="600"/>
              </a:spcBef>
              <a:spcAft>
                <a:spcPts val="0"/>
              </a:spcAft>
              <a:buSzPts val="1260"/>
              <a:buFont typeface="Arial"/>
              <a:buChar char="•"/>
            </a:pPr>
            <a:r>
              <a:rPr lang="en-US" sz="1400" dirty="0"/>
              <a:t>Provide curated catalog items based on </a:t>
            </a:r>
            <a:r>
              <a:rPr lang="en-US" sz="1400" dirty="0" err="1"/>
              <a:t>IaC</a:t>
            </a:r>
            <a:r>
              <a:rPr lang="en-US" sz="1400" dirty="0"/>
              <a:t> templates</a:t>
            </a:r>
            <a:endParaRPr dirty="0"/>
          </a:p>
          <a:p>
            <a:pPr marL="285578" lvl="0" indent="-285578" algn="l" rtl="0">
              <a:lnSpc>
                <a:spcPct val="100000"/>
              </a:lnSpc>
              <a:spcBef>
                <a:spcPts val="600"/>
              </a:spcBef>
              <a:spcAft>
                <a:spcPts val="0"/>
              </a:spcAft>
              <a:buSzPts val="1260"/>
              <a:buFont typeface="Arial"/>
              <a:buChar char="•"/>
            </a:pPr>
            <a:r>
              <a:rPr lang="en-US" sz="1400" dirty="0"/>
              <a:t>Facilitate the creation of customized services and publish them to the catalog, as needed.</a:t>
            </a:r>
            <a:endParaRPr dirty="0"/>
          </a:p>
          <a:p>
            <a:pPr marL="285578" lvl="0" indent="-285578" algn="l" rtl="0">
              <a:lnSpc>
                <a:spcPct val="100000"/>
              </a:lnSpc>
              <a:spcBef>
                <a:spcPts val="600"/>
              </a:spcBef>
              <a:spcAft>
                <a:spcPts val="0"/>
              </a:spcAft>
              <a:buSzPts val="1260"/>
              <a:buFont typeface="Arial"/>
              <a:buChar char="•"/>
            </a:pPr>
            <a:r>
              <a:rPr lang="en-US" sz="1400" dirty="0"/>
              <a:t>Version control and source control</a:t>
            </a:r>
            <a:endParaRPr dirty="0"/>
          </a:p>
          <a:p>
            <a:pPr marL="285578" lvl="0" indent="-285578" algn="l" rtl="0">
              <a:lnSpc>
                <a:spcPct val="100000"/>
              </a:lnSpc>
              <a:spcBef>
                <a:spcPts val="600"/>
              </a:spcBef>
              <a:spcAft>
                <a:spcPts val="0"/>
              </a:spcAft>
              <a:buSzPts val="1260"/>
              <a:buFont typeface="Arial"/>
              <a:buChar char="•"/>
            </a:pPr>
            <a:r>
              <a:rPr lang="en-US" sz="1400" dirty="0"/>
              <a:t>Drag &amp; Drop Canvas</a:t>
            </a:r>
            <a:endParaRPr dirty="0"/>
          </a:p>
        </p:txBody>
      </p:sp>
      <p:pic>
        <p:nvPicPr>
          <p:cNvPr id="15576" name="Google Shape;15576;p106"/>
          <p:cNvPicPr preferRelativeResize="0"/>
          <p:nvPr/>
        </p:nvPicPr>
        <p:blipFill rotWithShape="1">
          <a:blip r:embed="rId3">
            <a:alphaModFix/>
          </a:blip>
          <a:srcRect/>
          <a:stretch/>
        </p:blipFill>
        <p:spPr>
          <a:xfrm>
            <a:off x="449708" y="1549548"/>
            <a:ext cx="7770376" cy="4446703"/>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15581"/>
        <p:cNvGrpSpPr/>
        <p:nvPr/>
      </p:nvGrpSpPr>
      <p:grpSpPr>
        <a:xfrm>
          <a:off x="0" y="0"/>
          <a:ext cx="0" cy="0"/>
          <a:chOff x="0" y="0"/>
          <a:chExt cx="0" cy="0"/>
        </a:xfrm>
      </p:grpSpPr>
      <p:sp>
        <p:nvSpPr>
          <p:cNvPr id="15582" name="Google Shape;15582;p107"/>
          <p:cNvSpPr txBox="1">
            <a:spLocks noGrp="1"/>
          </p:cNvSpPr>
          <p:nvPr>
            <p:ph type="title"/>
          </p:nvPr>
        </p:nvSpPr>
        <p:spPr>
          <a:xfrm>
            <a:off x="579809" y="413536"/>
            <a:ext cx="11001004"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Enforce Best Practices for Resource and Security Configurations</a:t>
            </a:r>
            <a:endParaRPr/>
          </a:p>
        </p:txBody>
      </p:sp>
      <p:sp>
        <p:nvSpPr>
          <p:cNvPr id="15583" name="Google Shape;15583;p107"/>
          <p:cNvSpPr txBox="1">
            <a:spLocks noGrp="1"/>
          </p:cNvSpPr>
          <p:nvPr>
            <p:ph type="subTitle" idx="1"/>
          </p:nvPr>
        </p:nvSpPr>
        <p:spPr>
          <a:xfrm>
            <a:off x="592867" y="812513"/>
            <a:ext cx="10962687"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1200"/>
              </a:spcAft>
              <a:buSzPts val="1800"/>
              <a:buNone/>
            </a:pPr>
            <a:r>
              <a:rPr lang="en-US"/>
              <a:t>Implement resource policies with Policy as Code. </a:t>
            </a:r>
            <a:endParaRPr/>
          </a:p>
        </p:txBody>
      </p:sp>
      <p:sp>
        <p:nvSpPr>
          <p:cNvPr id="15584" name="Google Shape;15584;p107"/>
          <p:cNvSpPr txBox="1">
            <a:spLocks noGrp="1"/>
          </p:cNvSpPr>
          <p:nvPr>
            <p:ph type="body" idx="2"/>
          </p:nvPr>
        </p:nvSpPr>
        <p:spPr>
          <a:xfrm>
            <a:off x="8525691" y="1600676"/>
            <a:ext cx="3663134" cy="4570809"/>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Create a secure, compliant, and efficient cloud infrastructure while empowering teams with the tools they need to manage policies.</a:t>
            </a:r>
            <a:endParaRPr dirty="0"/>
          </a:p>
          <a:p>
            <a:pPr marL="0" lvl="0" indent="0" algn="l" rtl="0">
              <a:lnSpc>
                <a:spcPct val="100000"/>
              </a:lnSpc>
              <a:spcBef>
                <a:spcPts val="1200"/>
              </a:spcBef>
              <a:spcAft>
                <a:spcPts val="0"/>
              </a:spcAft>
              <a:buSzPts val="1440"/>
              <a:buNone/>
            </a:pPr>
            <a:r>
              <a:rPr lang="en-US" dirty="0"/>
              <a:t>An effective policy management process enables customers to focus on innovation and core business activities.</a:t>
            </a:r>
            <a:endParaRPr dirty="0"/>
          </a:p>
          <a:p>
            <a:pPr marL="285664" lvl="0" indent="-285664" algn="l" rtl="0">
              <a:lnSpc>
                <a:spcPct val="100000"/>
              </a:lnSpc>
              <a:spcBef>
                <a:spcPts val="1200"/>
              </a:spcBef>
              <a:spcAft>
                <a:spcPts val="0"/>
              </a:spcAft>
              <a:buSzPts val="1260"/>
              <a:buFont typeface="Arial"/>
              <a:buChar char="•"/>
            </a:pPr>
            <a:r>
              <a:rPr lang="en-US" sz="1400" dirty="0"/>
              <a:t>Flexible framework for implementing IaaS and Kubernetes policies.</a:t>
            </a:r>
            <a:endParaRPr dirty="0"/>
          </a:p>
          <a:p>
            <a:pPr marL="285664" lvl="0" indent="-285664" algn="l" rtl="0">
              <a:lnSpc>
                <a:spcPct val="100000"/>
              </a:lnSpc>
              <a:spcBef>
                <a:spcPts val="1200"/>
              </a:spcBef>
              <a:spcAft>
                <a:spcPts val="1200"/>
              </a:spcAft>
              <a:buSzPts val="1260"/>
              <a:buFont typeface="Arial"/>
              <a:buChar char="•"/>
            </a:pPr>
            <a:r>
              <a:rPr lang="en-US" sz="1400" dirty="0"/>
              <a:t>OOTB templates for day 0 Kubernetes and VM policies</a:t>
            </a:r>
            <a:endParaRPr dirty="0"/>
          </a:p>
        </p:txBody>
      </p:sp>
      <p:pic>
        <p:nvPicPr>
          <p:cNvPr id="15585" name="Google Shape;15585;p107"/>
          <p:cNvPicPr preferRelativeResize="0"/>
          <p:nvPr/>
        </p:nvPicPr>
        <p:blipFill rotWithShape="1">
          <a:blip r:embed="rId3">
            <a:alphaModFix/>
          </a:blip>
          <a:srcRect/>
          <a:stretch/>
        </p:blipFill>
        <p:spPr>
          <a:xfrm>
            <a:off x="1258046" y="1227148"/>
            <a:ext cx="6442175" cy="5075926"/>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15590"/>
        <p:cNvGrpSpPr/>
        <p:nvPr/>
      </p:nvGrpSpPr>
      <p:grpSpPr>
        <a:xfrm>
          <a:off x="0" y="0"/>
          <a:ext cx="0" cy="0"/>
          <a:chOff x="0" y="0"/>
          <a:chExt cx="0" cy="0"/>
        </a:xfrm>
      </p:grpSpPr>
      <p:sp>
        <p:nvSpPr>
          <p:cNvPr id="15591" name="Google Shape;15591;p108"/>
          <p:cNvSpPr txBox="1">
            <a:spLocks noGrp="1"/>
          </p:cNvSpPr>
          <p:nvPr>
            <p:ph type="title"/>
          </p:nvPr>
        </p:nvSpPr>
        <p:spPr>
          <a:xfrm>
            <a:off x="581245" y="413536"/>
            <a:ext cx="10998139"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Balancing Access and Efficiency for Optimal Resource Management</a:t>
            </a:r>
            <a:endParaRPr/>
          </a:p>
        </p:txBody>
      </p:sp>
      <p:sp>
        <p:nvSpPr>
          <p:cNvPr id="15592" name="Google Shape;15592;p108"/>
          <p:cNvSpPr txBox="1">
            <a:spLocks noGrp="1"/>
          </p:cNvSpPr>
          <p:nvPr>
            <p:ph type="subTitle" idx="1"/>
          </p:nvPr>
        </p:nvSpPr>
        <p:spPr>
          <a:xfrm>
            <a:off x="594300" y="812513"/>
            <a:ext cx="10959832"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1200"/>
              </a:spcAft>
              <a:buSzPts val="1800"/>
              <a:buNone/>
            </a:pPr>
            <a:r>
              <a:rPr lang="en-US"/>
              <a:t>Governance for users and resources with Limits and Reservations. </a:t>
            </a:r>
            <a:endParaRPr/>
          </a:p>
        </p:txBody>
      </p:sp>
      <p:sp>
        <p:nvSpPr>
          <p:cNvPr id="15593" name="Google Shape;15593;p108"/>
          <p:cNvSpPr txBox="1">
            <a:spLocks noGrp="1"/>
          </p:cNvSpPr>
          <p:nvPr>
            <p:ph type="body" idx="2"/>
          </p:nvPr>
        </p:nvSpPr>
        <p:spPr>
          <a:xfrm>
            <a:off x="8379818" y="1600676"/>
            <a:ext cx="3905820" cy="5256431"/>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a:t>Enhance efficiency and streamline processes of infrastructure resources.</a:t>
            </a:r>
            <a:endParaRPr/>
          </a:p>
          <a:p>
            <a:pPr marL="0" lvl="0" indent="0" algn="l" rtl="0">
              <a:lnSpc>
                <a:spcPct val="100000"/>
              </a:lnSpc>
              <a:spcBef>
                <a:spcPts val="1200"/>
              </a:spcBef>
              <a:spcAft>
                <a:spcPts val="0"/>
              </a:spcAft>
              <a:buSzPts val="1440"/>
              <a:buNone/>
            </a:pPr>
            <a:r>
              <a:rPr lang="en-US"/>
              <a:t>Achieve control over resources, cost, scaling, and overall operational performance.</a:t>
            </a:r>
            <a:endParaRPr/>
          </a:p>
          <a:p>
            <a:pPr marL="285664" lvl="0" indent="-285664" algn="l" rtl="0">
              <a:lnSpc>
                <a:spcPct val="100000"/>
              </a:lnSpc>
              <a:spcBef>
                <a:spcPts val="1200"/>
              </a:spcBef>
              <a:spcAft>
                <a:spcPts val="0"/>
              </a:spcAft>
              <a:buSzPts val="1260"/>
              <a:buFont typeface="Arial"/>
              <a:buChar char="•"/>
            </a:pPr>
            <a:r>
              <a:rPr lang="en-US" sz="1400"/>
              <a:t>Organization Admins can create projects and vSphere Namespaces, assign users, and view usage/costs.</a:t>
            </a:r>
            <a:endParaRPr/>
          </a:p>
          <a:p>
            <a:pPr marL="285664" lvl="0" indent="-285664" algn="l" rtl="0">
              <a:lnSpc>
                <a:spcPct val="100000"/>
              </a:lnSpc>
              <a:spcBef>
                <a:spcPts val="1200"/>
              </a:spcBef>
              <a:spcAft>
                <a:spcPts val="1200"/>
              </a:spcAft>
              <a:buSzPts val="1260"/>
              <a:buFont typeface="Arial"/>
              <a:buChar char="•"/>
            </a:pPr>
            <a:r>
              <a:rPr lang="en-US" sz="1400"/>
              <a:t>A vSphere Namespace is a resource pool that facilitates IaaS provisioning by providing a framework through the vSphere Namespace class.</a:t>
            </a:r>
            <a:endParaRPr/>
          </a:p>
        </p:txBody>
      </p:sp>
      <p:pic>
        <p:nvPicPr>
          <p:cNvPr id="15594" name="Google Shape;15594;p108"/>
          <p:cNvPicPr preferRelativeResize="0"/>
          <p:nvPr/>
        </p:nvPicPr>
        <p:blipFill rotWithShape="1">
          <a:blip r:embed="rId3">
            <a:alphaModFix/>
          </a:blip>
          <a:srcRect/>
          <a:stretch/>
        </p:blipFill>
        <p:spPr>
          <a:xfrm>
            <a:off x="380900" y="1600677"/>
            <a:ext cx="7770376" cy="4178281"/>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15599"/>
        <p:cNvGrpSpPr/>
        <p:nvPr/>
      </p:nvGrpSpPr>
      <p:grpSpPr>
        <a:xfrm>
          <a:off x="0" y="0"/>
          <a:ext cx="0" cy="0"/>
          <a:chOff x="0" y="0"/>
          <a:chExt cx="0" cy="0"/>
        </a:xfrm>
      </p:grpSpPr>
      <p:sp>
        <p:nvSpPr>
          <p:cNvPr id="15600" name="Google Shape;15600;p109"/>
          <p:cNvSpPr txBox="1">
            <a:spLocks noGrp="1"/>
          </p:cNvSpPr>
          <p:nvPr>
            <p:ph type="title"/>
          </p:nvPr>
        </p:nvSpPr>
        <p:spPr>
          <a:xfrm>
            <a:off x="581245" y="414323"/>
            <a:ext cx="10998139" cy="380802"/>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Simplify the Content Management Experience</a:t>
            </a:r>
            <a:endParaRPr/>
          </a:p>
        </p:txBody>
      </p:sp>
      <p:sp>
        <p:nvSpPr>
          <p:cNvPr id="15601" name="Google Shape;15601;p109"/>
          <p:cNvSpPr txBox="1">
            <a:spLocks noGrp="1"/>
          </p:cNvSpPr>
          <p:nvPr>
            <p:ph type="subTitle" idx="1"/>
          </p:nvPr>
        </p:nvSpPr>
        <p:spPr>
          <a:xfrm>
            <a:off x="594301" y="813194"/>
            <a:ext cx="10959832" cy="247614"/>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a:t>Centralize content management via Content Hub</a:t>
            </a:r>
            <a:endParaRPr/>
          </a:p>
        </p:txBody>
      </p:sp>
      <p:sp>
        <p:nvSpPr>
          <p:cNvPr id="15602" name="Google Shape;15602;p109"/>
          <p:cNvSpPr txBox="1">
            <a:spLocks noGrp="1"/>
          </p:cNvSpPr>
          <p:nvPr>
            <p:ph type="body" idx="2"/>
          </p:nvPr>
        </p:nvSpPr>
        <p:spPr>
          <a:xfrm>
            <a:off x="8379818" y="1419497"/>
            <a:ext cx="3807420" cy="4751275"/>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Streamline the overall content management process.</a:t>
            </a:r>
            <a:endParaRPr dirty="0"/>
          </a:p>
          <a:p>
            <a:pPr marL="0" lvl="0" indent="0" algn="l" rtl="0">
              <a:lnSpc>
                <a:spcPct val="100000"/>
              </a:lnSpc>
              <a:spcBef>
                <a:spcPts val="600"/>
              </a:spcBef>
              <a:spcAft>
                <a:spcPts val="0"/>
              </a:spcAft>
              <a:buSzPts val="1440"/>
              <a:buNone/>
            </a:pPr>
            <a:r>
              <a:rPr lang="en-US" dirty="0"/>
              <a:t>Boost productivity and collaboration with a unified content portal.</a:t>
            </a:r>
            <a:endParaRPr dirty="0"/>
          </a:p>
          <a:p>
            <a:pPr marL="285578" lvl="0" indent="-285578" algn="l" rtl="0">
              <a:lnSpc>
                <a:spcPct val="100000"/>
              </a:lnSpc>
              <a:spcBef>
                <a:spcPts val="600"/>
              </a:spcBef>
              <a:spcAft>
                <a:spcPts val="0"/>
              </a:spcAft>
              <a:buSzPts val="1260"/>
              <a:buFont typeface="Arial"/>
              <a:buChar char="•"/>
            </a:pPr>
            <a:r>
              <a:rPr lang="en-US" sz="1400" dirty="0"/>
              <a:t>Discover vCenter content libraries automatically and allocate new or existing libraries to one or more organizations.</a:t>
            </a:r>
            <a:endParaRPr dirty="0"/>
          </a:p>
          <a:p>
            <a:pPr marL="285578" lvl="0" indent="-285578" algn="l" rtl="0">
              <a:lnSpc>
                <a:spcPct val="100000"/>
              </a:lnSpc>
              <a:spcBef>
                <a:spcPts val="600"/>
              </a:spcBef>
              <a:spcAft>
                <a:spcPts val="0"/>
              </a:spcAft>
              <a:buSzPts val="1260"/>
              <a:buFont typeface="Arial"/>
              <a:buChar char="•"/>
            </a:pPr>
            <a:r>
              <a:rPr lang="en-US" sz="1400" dirty="0"/>
              <a:t>Publish content to the self-service catalog with one click.</a:t>
            </a:r>
            <a:endParaRPr dirty="0"/>
          </a:p>
          <a:p>
            <a:pPr marL="285578" lvl="0" indent="-285578" algn="l" rtl="0">
              <a:lnSpc>
                <a:spcPct val="100000"/>
              </a:lnSpc>
              <a:spcBef>
                <a:spcPts val="600"/>
              </a:spcBef>
              <a:spcAft>
                <a:spcPts val="0"/>
              </a:spcAft>
              <a:buSzPts val="1260"/>
              <a:buFont typeface="Arial"/>
              <a:buChar char="•"/>
            </a:pPr>
            <a:r>
              <a:rPr lang="en-US" sz="1400" dirty="0"/>
              <a:t>Create orchestrator workflows in VCF Automation that can be easily published to the catalog.</a:t>
            </a:r>
            <a:endParaRPr dirty="0"/>
          </a:p>
          <a:p>
            <a:pPr marL="285578" lvl="0" indent="-285578" algn="l" rtl="0">
              <a:lnSpc>
                <a:spcPct val="100000"/>
              </a:lnSpc>
              <a:spcBef>
                <a:spcPts val="600"/>
              </a:spcBef>
              <a:spcAft>
                <a:spcPts val="0"/>
              </a:spcAft>
              <a:buSzPts val="1260"/>
              <a:buFont typeface="Arial"/>
              <a:buChar char="•"/>
            </a:pPr>
            <a:r>
              <a:rPr lang="en-US" sz="1400" dirty="0"/>
              <a:t>Create Project Level or Organization Level Content Libraries</a:t>
            </a:r>
            <a:endParaRPr dirty="0"/>
          </a:p>
          <a:p>
            <a:pPr marL="285578" lvl="0" indent="-285578" algn="l" rtl="0">
              <a:lnSpc>
                <a:spcPct val="100000"/>
              </a:lnSpc>
              <a:spcBef>
                <a:spcPts val="600"/>
              </a:spcBef>
              <a:spcAft>
                <a:spcPts val="0"/>
              </a:spcAft>
              <a:buSzPts val="1260"/>
              <a:buFont typeface="Arial"/>
              <a:buChar char="•"/>
            </a:pPr>
            <a:r>
              <a:rPr lang="en-US" sz="1400" dirty="0"/>
              <a:t>Canonical Libraries provide access to native &amp; secure Ubuntu images</a:t>
            </a:r>
            <a:endParaRPr dirty="0"/>
          </a:p>
        </p:txBody>
      </p:sp>
      <p:pic>
        <p:nvPicPr>
          <p:cNvPr id="15603" name="Google Shape;15603;p109"/>
          <p:cNvPicPr preferRelativeResize="0"/>
          <p:nvPr/>
        </p:nvPicPr>
        <p:blipFill rotWithShape="1">
          <a:blip r:embed="rId3">
            <a:alphaModFix/>
          </a:blip>
          <a:srcRect b="21586"/>
          <a:stretch/>
        </p:blipFill>
        <p:spPr>
          <a:xfrm>
            <a:off x="402388" y="1601154"/>
            <a:ext cx="7770376" cy="4295344"/>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15608"/>
        <p:cNvGrpSpPr/>
        <p:nvPr/>
      </p:nvGrpSpPr>
      <p:grpSpPr>
        <a:xfrm>
          <a:off x="0" y="0"/>
          <a:ext cx="0" cy="0"/>
          <a:chOff x="0" y="0"/>
          <a:chExt cx="0" cy="0"/>
        </a:xfrm>
      </p:grpSpPr>
      <p:sp>
        <p:nvSpPr>
          <p:cNvPr id="15609" name="Google Shape;15609;p110"/>
          <p:cNvSpPr txBox="1">
            <a:spLocks noGrp="1"/>
          </p:cNvSpPr>
          <p:nvPr>
            <p:ph type="title"/>
          </p:nvPr>
        </p:nvSpPr>
        <p:spPr>
          <a:xfrm>
            <a:off x="579809" y="413536"/>
            <a:ext cx="11001004" cy="380901"/>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a:t>Support Network Governance and Enable Self-service Networking</a:t>
            </a:r>
            <a:endParaRPr/>
          </a:p>
        </p:txBody>
      </p:sp>
      <p:sp>
        <p:nvSpPr>
          <p:cNvPr id="15610" name="Google Shape;15610;p110"/>
          <p:cNvSpPr txBox="1">
            <a:spLocks noGrp="1"/>
          </p:cNvSpPr>
          <p:nvPr>
            <p:ph type="subTitle" idx="1"/>
          </p:nvPr>
        </p:nvSpPr>
        <p:spPr>
          <a:xfrm>
            <a:off x="592867" y="812513"/>
            <a:ext cx="10962687" cy="247678"/>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1200"/>
              </a:spcAft>
              <a:buSzPts val="1800"/>
              <a:buNone/>
            </a:pPr>
            <a:r>
              <a:rPr lang="en-US"/>
              <a:t>Manage IP Addresses and Isolation via VPCs. </a:t>
            </a:r>
            <a:endParaRPr/>
          </a:p>
        </p:txBody>
      </p:sp>
      <p:sp>
        <p:nvSpPr>
          <p:cNvPr id="15611" name="Google Shape;15611;p110"/>
          <p:cNvSpPr txBox="1">
            <a:spLocks noGrp="1"/>
          </p:cNvSpPr>
          <p:nvPr>
            <p:ph type="body" idx="2"/>
          </p:nvPr>
        </p:nvSpPr>
        <p:spPr>
          <a:xfrm>
            <a:off x="8473440" y="1705424"/>
            <a:ext cx="3715384" cy="5151683"/>
          </a:xfrm>
          <a:prstGeom prst="rect">
            <a:avLst/>
          </a:prstGeom>
          <a:noFill/>
          <a:ln>
            <a:noFill/>
          </a:ln>
        </p:spPr>
        <p:txBody>
          <a:bodyPr spcFirstLastPara="1" wrap="square" lIns="0" tIns="456950" rIns="594000" bIns="456950" anchor="t" anchorCtr="0">
            <a:noAutofit/>
          </a:bodyPr>
          <a:lstStyle/>
          <a:p>
            <a:pPr marL="0" lvl="0" indent="0" algn="l" rtl="0">
              <a:lnSpc>
                <a:spcPct val="100000"/>
              </a:lnSpc>
              <a:spcBef>
                <a:spcPts val="0"/>
              </a:spcBef>
              <a:spcAft>
                <a:spcPts val="0"/>
              </a:spcAft>
              <a:buSzPts val="1440"/>
              <a:buNone/>
            </a:pPr>
            <a:r>
              <a:rPr lang="en-US" dirty="0"/>
              <a:t>Enhance Security through network isolation.</a:t>
            </a:r>
            <a:endParaRPr dirty="0"/>
          </a:p>
          <a:p>
            <a:pPr marL="285664" lvl="0" indent="-285664" algn="l" rtl="0">
              <a:lnSpc>
                <a:spcPct val="100000"/>
              </a:lnSpc>
              <a:spcBef>
                <a:spcPts val="1200"/>
              </a:spcBef>
              <a:spcAft>
                <a:spcPts val="0"/>
              </a:spcAft>
              <a:buSzPts val="1260"/>
              <a:buFont typeface="Arial"/>
              <a:buChar char="•"/>
            </a:pPr>
            <a:r>
              <a:rPr lang="en-US" sz="1400" dirty="0"/>
              <a:t>Leverage VPCs networks for each application team to ensure isolation.</a:t>
            </a:r>
            <a:endParaRPr dirty="0"/>
          </a:p>
          <a:p>
            <a:pPr marL="285664" lvl="0" indent="-285664" algn="l" rtl="0">
              <a:lnSpc>
                <a:spcPct val="100000"/>
              </a:lnSpc>
              <a:spcBef>
                <a:spcPts val="1200"/>
              </a:spcBef>
              <a:spcAft>
                <a:spcPts val="0"/>
              </a:spcAft>
              <a:buSzPts val="1260"/>
              <a:buFont typeface="Arial"/>
              <a:buChar char="•"/>
            </a:pPr>
            <a:r>
              <a:rPr lang="en-US" sz="1400" dirty="0"/>
              <a:t>Link each VPC to one or more vSphere Namespaces for resource control.</a:t>
            </a:r>
            <a:endParaRPr dirty="0"/>
          </a:p>
          <a:p>
            <a:pPr marL="285664" lvl="0" indent="-285664" algn="l" rtl="0">
              <a:lnSpc>
                <a:spcPct val="100000"/>
              </a:lnSpc>
              <a:spcBef>
                <a:spcPts val="1200"/>
              </a:spcBef>
              <a:spcAft>
                <a:spcPts val="0"/>
              </a:spcAft>
              <a:buSzPts val="1260"/>
              <a:buFont typeface="Arial"/>
              <a:buChar char="•"/>
            </a:pPr>
            <a:r>
              <a:rPr lang="en-US" sz="1400" dirty="0"/>
              <a:t>Oversee IP addresses provided by IT Admins or external Providers to prevent conflicts.</a:t>
            </a:r>
            <a:endParaRPr dirty="0"/>
          </a:p>
          <a:p>
            <a:pPr marL="285664" lvl="0" indent="-285664" algn="l" rtl="0">
              <a:lnSpc>
                <a:spcPct val="100000"/>
              </a:lnSpc>
              <a:spcBef>
                <a:spcPts val="1200"/>
              </a:spcBef>
              <a:spcAft>
                <a:spcPts val="1200"/>
              </a:spcAft>
              <a:buSzPts val="1260"/>
              <a:buFont typeface="Arial"/>
              <a:buChar char="•"/>
            </a:pPr>
            <a:r>
              <a:rPr lang="en-US" sz="1400" dirty="0"/>
              <a:t>Develop and manage IP addresses for internal use.</a:t>
            </a:r>
            <a:endParaRPr dirty="0"/>
          </a:p>
        </p:txBody>
      </p:sp>
      <p:pic>
        <p:nvPicPr>
          <p:cNvPr id="15612" name="Google Shape;15612;p110"/>
          <p:cNvPicPr preferRelativeResize="0"/>
          <p:nvPr/>
        </p:nvPicPr>
        <p:blipFill rotWithShape="1">
          <a:blip r:embed="rId3">
            <a:alphaModFix/>
          </a:blip>
          <a:srcRect/>
          <a:stretch/>
        </p:blipFill>
        <p:spPr>
          <a:xfrm>
            <a:off x="162296" y="1444800"/>
            <a:ext cx="7439158" cy="2987791"/>
          </a:xfrm>
          <a:prstGeom prst="rect">
            <a:avLst/>
          </a:prstGeom>
          <a:noFill/>
          <a:ln w="9525" cap="flat" cmpd="sng">
            <a:solidFill>
              <a:schemeClr val="dk1"/>
            </a:solidFill>
            <a:prstDash val="solid"/>
            <a:round/>
            <a:headEnd type="none" w="sm" len="sm"/>
            <a:tailEnd type="none" w="sm" len="sm"/>
          </a:ln>
        </p:spPr>
      </p:pic>
      <p:pic>
        <p:nvPicPr>
          <p:cNvPr id="15613" name="Google Shape;15613;p110"/>
          <p:cNvPicPr preferRelativeResize="0"/>
          <p:nvPr/>
        </p:nvPicPr>
        <p:blipFill rotWithShape="1">
          <a:blip r:embed="rId4">
            <a:alphaModFix/>
          </a:blip>
          <a:srcRect/>
          <a:stretch/>
        </p:blipFill>
        <p:spPr>
          <a:xfrm>
            <a:off x="470479" y="3438468"/>
            <a:ext cx="7770376" cy="2713060"/>
          </a:xfrm>
          <a:prstGeom prst="rect">
            <a:avLst/>
          </a:prstGeom>
          <a:noFill/>
          <a:ln w="19050"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1945">
          <a:extLst>
            <a:ext uri="{FF2B5EF4-FFF2-40B4-BE49-F238E27FC236}">
              <a16:creationId xmlns:a16="http://schemas.microsoft.com/office/drawing/2014/main" id="{93C23C59-260A-9234-A4A1-DCF9C60F35CA}"/>
            </a:ext>
          </a:extLst>
        </p:cNvPr>
        <p:cNvGrpSpPr/>
        <p:nvPr/>
      </p:nvGrpSpPr>
      <p:grpSpPr>
        <a:xfrm>
          <a:off x="0" y="0"/>
          <a:ext cx="0" cy="0"/>
          <a:chOff x="0" y="0"/>
          <a:chExt cx="0" cy="0"/>
        </a:xfrm>
      </p:grpSpPr>
      <p:sp>
        <p:nvSpPr>
          <p:cNvPr id="1946" name="Google Shape;1946;p121">
            <a:extLst>
              <a:ext uri="{FF2B5EF4-FFF2-40B4-BE49-F238E27FC236}">
                <a16:creationId xmlns:a16="http://schemas.microsoft.com/office/drawing/2014/main" id="{787EB2D5-A699-9695-8B63-E1241299E38E}"/>
              </a:ext>
            </a:extLst>
          </p:cNvPr>
          <p:cNvSpPr/>
          <p:nvPr/>
        </p:nvSpPr>
        <p:spPr>
          <a:xfrm>
            <a:off x="3531249" y="887151"/>
            <a:ext cx="8655890" cy="5262858"/>
          </a:xfrm>
          <a:prstGeom prst="rect">
            <a:avLst/>
          </a:prstGeom>
          <a:gradFill>
            <a:gsLst>
              <a:gs pos="0">
                <a:srgbClr val="0098C7">
                  <a:alpha val="0"/>
                </a:srgbClr>
              </a:gs>
              <a:gs pos="5000">
                <a:srgbClr val="0098C7">
                  <a:alpha val="0"/>
                </a:srgbClr>
              </a:gs>
              <a:gs pos="52000">
                <a:srgbClr val="0098C7">
                  <a:alpha val="13725"/>
                </a:srgbClr>
              </a:gs>
              <a:gs pos="100000">
                <a:srgbClr val="E8F0F4">
                  <a:alpha val="0"/>
                </a:srgbClr>
              </a:gs>
            </a:gsLst>
            <a:lin ang="5400012" scaled="0"/>
          </a:gradFill>
          <a:ln>
            <a:noFill/>
          </a:ln>
        </p:spPr>
        <p:txBody>
          <a:bodyPr spcFirstLastPara="1" wrap="square" lIns="91286" tIns="45643" rIns="91286" bIns="45643"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sp>
        <p:nvSpPr>
          <p:cNvPr id="1947" name="Google Shape;1947;p121">
            <a:extLst>
              <a:ext uri="{FF2B5EF4-FFF2-40B4-BE49-F238E27FC236}">
                <a16:creationId xmlns:a16="http://schemas.microsoft.com/office/drawing/2014/main" id="{41BE8159-6FA0-575F-4815-19D47B506318}"/>
              </a:ext>
            </a:extLst>
          </p:cNvPr>
          <p:cNvSpPr/>
          <p:nvPr/>
        </p:nvSpPr>
        <p:spPr>
          <a:xfrm>
            <a:off x="18549" y="1002"/>
            <a:ext cx="12179254" cy="1738694"/>
          </a:xfrm>
          <a:prstGeom prst="rect">
            <a:avLst/>
          </a:prstGeom>
          <a:gradFill>
            <a:gsLst>
              <a:gs pos="0">
                <a:srgbClr val="0098C7">
                  <a:alpha val="22352"/>
                </a:srgbClr>
              </a:gs>
              <a:gs pos="100000">
                <a:srgbClr val="E8F0F4">
                  <a:alpha val="0"/>
                </a:srgbClr>
              </a:gs>
            </a:gsLst>
            <a:lin ang="5400012" scaled="0"/>
          </a:gradFill>
          <a:ln>
            <a:noFill/>
          </a:ln>
        </p:spPr>
        <p:txBody>
          <a:bodyPr spcFirstLastPara="1" wrap="square" lIns="91286" tIns="45643" rIns="91286" bIns="45643"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1948" name="Google Shape;1948;p121">
            <a:extLst>
              <a:ext uri="{FF2B5EF4-FFF2-40B4-BE49-F238E27FC236}">
                <a16:creationId xmlns:a16="http://schemas.microsoft.com/office/drawing/2014/main" id="{BAF5860F-655E-1D86-7756-4CF71027B05B}"/>
              </a:ext>
            </a:extLst>
          </p:cNvPr>
          <p:cNvPicPr preferRelativeResize="0"/>
          <p:nvPr/>
        </p:nvPicPr>
        <p:blipFill rotWithShape="1">
          <a:blip r:embed="rId3">
            <a:alphaModFix amt="58000"/>
          </a:blip>
          <a:srcRect t="47732" r="1623" b="-46968"/>
          <a:stretch/>
        </p:blipFill>
        <p:spPr>
          <a:xfrm rot="-5400000">
            <a:off x="117109" y="3357519"/>
            <a:ext cx="6839861" cy="142966"/>
          </a:xfrm>
          <a:prstGeom prst="rect">
            <a:avLst/>
          </a:prstGeom>
          <a:noFill/>
          <a:ln>
            <a:noFill/>
          </a:ln>
        </p:spPr>
      </p:pic>
      <p:sp>
        <p:nvSpPr>
          <p:cNvPr id="1949" name="Google Shape;1949;p121">
            <a:extLst>
              <a:ext uri="{FF2B5EF4-FFF2-40B4-BE49-F238E27FC236}">
                <a16:creationId xmlns:a16="http://schemas.microsoft.com/office/drawing/2014/main" id="{1C3EC466-033B-578B-5F4B-FD190B3E6125}"/>
              </a:ext>
            </a:extLst>
          </p:cNvPr>
          <p:cNvSpPr/>
          <p:nvPr/>
        </p:nvSpPr>
        <p:spPr>
          <a:xfrm flipH="1">
            <a:off x="-4406" y="77950"/>
            <a:ext cx="3524090" cy="6055339"/>
          </a:xfrm>
          <a:custGeom>
            <a:avLst/>
            <a:gdLst/>
            <a:ahLst/>
            <a:cxnLst/>
            <a:rect l="l" t="t" r="r" b="b"/>
            <a:pathLst>
              <a:path w="3672840" h="3488576" extrusionOk="0">
                <a:moveTo>
                  <a:pt x="0" y="0"/>
                </a:moveTo>
                <a:lnTo>
                  <a:pt x="3672840" y="0"/>
                </a:lnTo>
                <a:lnTo>
                  <a:pt x="3672840" y="1284810"/>
                </a:lnTo>
                <a:lnTo>
                  <a:pt x="3672840" y="1371601"/>
                </a:lnTo>
                <a:lnTo>
                  <a:pt x="3672840" y="3488576"/>
                </a:lnTo>
                <a:lnTo>
                  <a:pt x="0" y="3488576"/>
                </a:lnTo>
                <a:lnTo>
                  <a:pt x="0" y="1371601"/>
                </a:lnTo>
                <a:lnTo>
                  <a:pt x="0" y="1284810"/>
                </a:lnTo>
                <a:close/>
              </a:path>
            </a:pathLst>
          </a:custGeom>
          <a:gradFill>
            <a:gsLst>
              <a:gs pos="0">
                <a:srgbClr val="005C8A">
                  <a:alpha val="0"/>
                </a:srgbClr>
              </a:gs>
              <a:gs pos="100000">
                <a:srgbClr val="0098C7">
                  <a:alpha val="16862"/>
                </a:srgbClr>
              </a:gs>
            </a:gsLst>
            <a:lin ang="16200038" scaled="0"/>
          </a:gradFill>
          <a:ln>
            <a:noFill/>
          </a:ln>
        </p:spPr>
        <p:txBody>
          <a:bodyPr spcFirstLastPara="1" wrap="square" lIns="91352" tIns="45643" rIns="91352" bIns="45643"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1950" name="Google Shape;1950;p121">
            <a:extLst>
              <a:ext uri="{FF2B5EF4-FFF2-40B4-BE49-F238E27FC236}">
                <a16:creationId xmlns:a16="http://schemas.microsoft.com/office/drawing/2014/main" id="{6EF3D8E0-932D-0E14-3012-4AFDC0D85BDE}"/>
              </a:ext>
            </a:extLst>
          </p:cNvPr>
          <p:cNvGrpSpPr/>
          <p:nvPr/>
        </p:nvGrpSpPr>
        <p:grpSpPr>
          <a:xfrm>
            <a:off x="311279" y="291413"/>
            <a:ext cx="2479864" cy="655919"/>
            <a:chOff x="5336352" y="327364"/>
            <a:chExt cx="6105206" cy="1613757"/>
          </a:xfrm>
        </p:grpSpPr>
        <p:sp>
          <p:nvSpPr>
            <p:cNvPr id="1951" name="Google Shape;1951;p121">
              <a:extLst>
                <a:ext uri="{FF2B5EF4-FFF2-40B4-BE49-F238E27FC236}">
                  <a16:creationId xmlns:a16="http://schemas.microsoft.com/office/drawing/2014/main" id="{DE4202C2-3C07-04DE-01BE-C68528B0FE28}"/>
                </a:ext>
              </a:extLst>
            </p:cNvPr>
            <p:cNvSpPr/>
            <p:nvPr/>
          </p:nvSpPr>
          <p:spPr>
            <a:xfrm>
              <a:off x="5336352" y="1146804"/>
              <a:ext cx="2239417" cy="794317"/>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2549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952" name="Google Shape;1952;p121">
              <a:extLst>
                <a:ext uri="{FF2B5EF4-FFF2-40B4-BE49-F238E27FC236}">
                  <a16:creationId xmlns:a16="http://schemas.microsoft.com/office/drawing/2014/main" id="{8B7DD619-247A-DD92-09D6-A9BC8534E9BE}"/>
                </a:ext>
              </a:extLst>
            </p:cNvPr>
            <p:cNvSpPr/>
            <p:nvPr/>
          </p:nvSpPr>
          <p:spPr>
            <a:xfrm flipH="1">
              <a:off x="9781658" y="812002"/>
              <a:ext cx="1659900" cy="587678"/>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2549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953" name="Google Shape;1953;p121">
              <a:extLst>
                <a:ext uri="{FF2B5EF4-FFF2-40B4-BE49-F238E27FC236}">
                  <a16:creationId xmlns:a16="http://schemas.microsoft.com/office/drawing/2014/main" id="{1A1CA6AB-87CA-16E9-C84C-F75ED271FA5E}"/>
                </a:ext>
              </a:extLst>
            </p:cNvPr>
            <p:cNvSpPr/>
            <p:nvPr/>
          </p:nvSpPr>
          <p:spPr>
            <a:xfrm>
              <a:off x="8302345" y="327364"/>
              <a:ext cx="1833755" cy="649230"/>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2549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sp>
        <p:nvSpPr>
          <p:cNvPr id="1954" name="Google Shape;1954;p121">
            <a:extLst>
              <a:ext uri="{FF2B5EF4-FFF2-40B4-BE49-F238E27FC236}">
                <a16:creationId xmlns:a16="http://schemas.microsoft.com/office/drawing/2014/main" id="{C02C593F-9F8C-6FC3-6E2F-CDA6A43A42F4}"/>
              </a:ext>
            </a:extLst>
          </p:cNvPr>
          <p:cNvSpPr/>
          <p:nvPr/>
        </p:nvSpPr>
        <p:spPr>
          <a:xfrm>
            <a:off x="350466" y="1061348"/>
            <a:ext cx="2450723" cy="451764"/>
          </a:xfrm>
          <a:prstGeom prst="roundRect">
            <a:avLst>
              <a:gd name="adj" fmla="val 50000"/>
            </a:avLst>
          </a:prstGeom>
          <a:solidFill>
            <a:schemeClr val="lt1"/>
          </a:solidFill>
          <a:ln>
            <a:noFill/>
          </a:ln>
          <a:effectLst>
            <a:outerShdw blurRad="74657" sx="102000" sy="102000" algn="tl" rotWithShape="0">
              <a:schemeClr val="accent3">
                <a:alpha val="21960"/>
              </a:schemeClr>
            </a:outerShdw>
          </a:effectLst>
        </p:spPr>
        <p:txBody>
          <a:bodyPr spcFirstLastPara="1" wrap="square" lIns="91352" tIns="0" rIns="91352"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600" b="1" i="0" u="none" strike="noStrike" kern="1200" cap="none" spc="0" normalizeH="0" baseline="0" noProof="0" dirty="0">
                <a:ln>
                  <a:noFill/>
                </a:ln>
                <a:solidFill>
                  <a:srgbClr val="000001"/>
                </a:solidFill>
                <a:effectLst/>
                <a:uLnTx/>
                <a:uFillTx/>
                <a:latin typeface="Arial"/>
                <a:ea typeface="Arial"/>
                <a:cs typeface="Arial"/>
                <a:sym typeface="Arial"/>
              </a:rPr>
              <a:t>ADVANCED SERVICE</a:t>
            </a:r>
            <a:endParaRPr kumimoji="0" sz="1466" b="0" i="0" u="none" strike="noStrike" kern="1200" cap="none" spc="0" normalizeH="0" baseline="0" noProof="0" dirty="0">
              <a:ln>
                <a:noFill/>
              </a:ln>
              <a:solidFill>
                <a:srgbClr val="000001"/>
              </a:solidFill>
              <a:effectLst/>
              <a:uLnTx/>
              <a:uFillTx/>
              <a:latin typeface="Arial"/>
              <a:ea typeface="Arial"/>
              <a:cs typeface="Arial"/>
              <a:sym typeface="Arial"/>
            </a:endParaRPr>
          </a:p>
        </p:txBody>
      </p:sp>
      <p:sp>
        <p:nvSpPr>
          <p:cNvPr id="1955" name="Google Shape;1955;p121">
            <a:extLst>
              <a:ext uri="{FF2B5EF4-FFF2-40B4-BE49-F238E27FC236}">
                <a16:creationId xmlns:a16="http://schemas.microsoft.com/office/drawing/2014/main" id="{E8664B42-A26A-6D3A-96E4-6380025C6143}"/>
              </a:ext>
            </a:extLst>
          </p:cNvPr>
          <p:cNvSpPr txBox="1"/>
          <p:nvPr/>
        </p:nvSpPr>
        <p:spPr>
          <a:xfrm>
            <a:off x="350466" y="1777935"/>
            <a:ext cx="3051210" cy="1273414"/>
          </a:xfrm>
          <a:prstGeom prst="rect">
            <a:avLst/>
          </a:prstGeom>
          <a:noFill/>
          <a:ln>
            <a:noFill/>
          </a:ln>
        </p:spPr>
        <p:txBody>
          <a:bodyPr spcFirstLastPara="1" wrap="square" lIns="91386" tIns="45676" rIns="91386" bIns="45676" anchor="t" anchorCtr="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 sz="3198" b="0" i="0" u="none" strike="noStrike" kern="1200" cap="none" spc="0" normalizeH="0" baseline="0" noProof="0" dirty="0">
                <a:ln>
                  <a:noFill/>
                </a:ln>
                <a:solidFill>
                  <a:srgbClr val="005C8A"/>
                </a:solidFill>
                <a:effectLst/>
                <a:uLnTx/>
                <a:uFillTx/>
                <a:latin typeface="Arial" panose="020B0604020202020204"/>
                <a:ea typeface="+mn-ea"/>
                <a:cs typeface="+mn-cs"/>
              </a:rPr>
              <a:t>VMware</a:t>
            </a:r>
            <a:endParaRPr kumimoji="0" sz="1466"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 sz="3198" b="0" i="0" u="none" strike="noStrike" kern="1200" cap="none" spc="0" normalizeH="0" baseline="0" noProof="0" dirty="0">
                <a:ln>
                  <a:noFill/>
                </a:ln>
                <a:solidFill>
                  <a:srgbClr val="005C8A"/>
                </a:solidFill>
                <a:effectLst/>
                <a:uLnTx/>
                <a:uFillTx/>
                <a:latin typeface="Arial" panose="020B0604020202020204"/>
                <a:ea typeface="+mn-ea"/>
                <a:cs typeface="+mn-cs"/>
              </a:rPr>
              <a:t>Data Services Manager</a:t>
            </a:r>
            <a:endParaRPr kumimoji="0" sz="1466"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56" name="Google Shape;1956;p121">
            <a:extLst>
              <a:ext uri="{FF2B5EF4-FFF2-40B4-BE49-F238E27FC236}">
                <a16:creationId xmlns:a16="http://schemas.microsoft.com/office/drawing/2014/main" id="{27C937B7-4E47-717F-ED67-9C1884C56073}"/>
              </a:ext>
            </a:extLst>
          </p:cNvPr>
          <p:cNvSpPr txBox="1"/>
          <p:nvPr/>
        </p:nvSpPr>
        <p:spPr>
          <a:xfrm>
            <a:off x="386609" y="3552508"/>
            <a:ext cx="2608241" cy="608917"/>
          </a:xfrm>
          <a:prstGeom prst="rect">
            <a:avLst/>
          </a:prstGeom>
          <a:noFill/>
          <a:ln>
            <a:noFill/>
          </a:ln>
        </p:spPr>
        <p:txBody>
          <a:bodyPr spcFirstLastPara="1" wrap="square" lIns="91386" tIns="45676" rIns="91386" bIns="45676" anchor="t" anchorCtr="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 sz="1865" b="0" i="0" u="none" strike="noStrike" kern="1200" cap="none" spc="0" normalizeH="0" baseline="0" noProof="0">
                <a:ln>
                  <a:noFill/>
                </a:ln>
                <a:solidFill>
                  <a:srgbClr val="000001"/>
                </a:solidFill>
                <a:effectLst/>
                <a:uLnTx/>
                <a:uFillTx/>
                <a:latin typeface="Arial"/>
                <a:ea typeface="Arial"/>
                <a:cs typeface="Arial"/>
                <a:sym typeface="Arial"/>
              </a:rPr>
              <a:t>Simplified database management at scale</a:t>
            </a: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957" name="Google Shape;1957;p121">
            <a:extLst>
              <a:ext uri="{FF2B5EF4-FFF2-40B4-BE49-F238E27FC236}">
                <a16:creationId xmlns:a16="http://schemas.microsoft.com/office/drawing/2014/main" id="{576C63E9-2B55-F81E-1C3C-014CEDB80C17}"/>
              </a:ext>
            </a:extLst>
          </p:cNvPr>
          <p:cNvGrpSpPr/>
          <p:nvPr/>
        </p:nvGrpSpPr>
        <p:grpSpPr>
          <a:xfrm>
            <a:off x="4627283" y="139143"/>
            <a:ext cx="6279828" cy="2744349"/>
            <a:chOff x="4580190" y="1105110"/>
            <a:chExt cx="6283101" cy="2745779"/>
          </a:xfrm>
        </p:grpSpPr>
        <p:sp>
          <p:nvSpPr>
            <p:cNvPr id="1958" name="Google Shape;1958;p121">
              <a:extLst>
                <a:ext uri="{FF2B5EF4-FFF2-40B4-BE49-F238E27FC236}">
                  <a16:creationId xmlns:a16="http://schemas.microsoft.com/office/drawing/2014/main" id="{37A1201F-67D2-B44D-DC3A-B1B0812E8E1F}"/>
                </a:ext>
              </a:extLst>
            </p:cNvPr>
            <p:cNvSpPr/>
            <p:nvPr/>
          </p:nvSpPr>
          <p:spPr>
            <a:xfrm flipH="1">
              <a:off x="4666191" y="2250089"/>
              <a:ext cx="6197100" cy="1600800"/>
            </a:xfrm>
            <a:prstGeom prst="roundRect">
              <a:avLst>
                <a:gd name="adj" fmla="val 4315"/>
              </a:avLst>
            </a:prstGeom>
            <a:solidFill>
              <a:schemeClr val="lt1"/>
            </a:solidFill>
            <a:ln w="7150" cap="flat" cmpd="sng">
              <a:solidFill>
                <a:schemeClr val="accent3"/>
              </a:solidFill>
              <a:prstDash val="solid"/>
              <a:round/>
              <a:headEnd type="none" w="sm" len="sm"/>
              <a:tailEnd type="none" w="sm" len="sm"/>
            </a:ln>
            <a:effectLst>
              <a:outerShdw blurRad="71438" algn="ctr" rotWithShape="0">
                <a:schemeClr val="accent3">
                  <a:alpha val="13730"/>
                </a:schemeClr>
              </a:outerShdw>
            </a:effectLst>
          </p:spPr>
          <p:txBody>
            <a:bodyPr spcFirstLastPara="1" wrap="square" lIns="91386" tIns="91386" rIns="91386" bIns="91386"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1" i="0" u="none" strike="noStrike" kern="1200" cap="none" spc="0" normalizeH="0" baseline="0" noProof="0">
                <a:ln>
                  <a:noFill/>
                </a:ln>
                <a:solidFill>
                  <a:srgbClr val="6C4B8F"/>
                </a:solidFill>
                <a:effectLst/>
                <a:uLnTx/>
                <a:uFillTx/>
                <a:latin typeface="Arial"/>
                <a:ea typeface="Arial"/>
                <a:cs typeface="Arial"/>
                <a:sym typeface="Arial"/>
              </a:endParaRPr>
            </a:p>
          </p:txBody>
        </p:sp>
        <p:grpSp>
          <p:nvGrpSpPr>
            <p:cNvPr id="1959" name="Google Shape;1959;p121">
              <a:extLst>
                <a:ext uri="{FF2B5EF4-FFF2-40B4-BE49-F238E27FC236}">
                  <a16:creationId xmlns:a16="http://schemas.microsoft.com/office/drawing/2014/main" id="{DB6CB2EC-4349-2219-189C-B18CA9177D04}"/>
                </a:ext>
              </a:extLst>
            </p:cNvPr>
            <p:cNvGrpSpPr/>
            <p:nvPr/>
          </p:nvGrpSpPr>
          <p:grpSpPr>
            <a:xfrm>
              <a:off x="5904068" y="1105110"/>
              <a:ext cx="3810237" cy="1406820"/>
              <a:chOff x="6833577" y="320923"/>
              <a:chExt cx="3810237" cy="1406820"/>
            </a:xfrm>
          </p:grpSpPr>
          <p:sp>
            <p:nvSpPr>
              <p:cNvPr id="1960" name="Google Shape;1960;p121">
                <a:extLst>
                  <a:ext uri="{FF2B5EF4-FFF2-40B4-BE49-F238E27FC236}">
                    <a16:creationId xmlns:a16="http://schemas.microsoft.com/office/drawing/2014/main" id="{01412494-8A09-8C24-B656-C52A51843835}"/>
                  </a:ext>
                </a:extLst>
              </p:cNvPr>
              <p:cNvSpPr/>
              <p:nvPr/>
            </p:nvSpPr>
            <p:spPr>
              <a:xfrm flipH="1">
                <a:off x="6833577" y="1220143"/>
                <a:ext cx="3721200" cy="507600"/>
              </a:xfrm>
              <a:prstGeom prst="roundRect">
                <a:avLst>
                  <a:gd name="adj" fmla="val 50000"/>
                </a:avLst>
              </a:prstGeom>
              <a:gradFill>
                <a:gsLst>
                  <a:gs pos="0">
                    <a:schemeClr val="accent2"/>
                  </a:gs>
                  <a:gs pos="73000">
                    <a:srgbClr val="00A7DD"/>
                  </a:gs>
                  <a:gs pos="100000">
                    <a:srgbClr val="00A7DD"/>
                  </a:gs>
                </a:gsLst>
                <a:lin ang="18900044" scaled="0"/>
              </a:gra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SUPPORTED DATABASES</a:t>
                </a:r>
                <a:endPar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61" name="Google Shape;1961;p121">
                <a:extLst>
                  <a:ext uri="{FF2B5EF4-FFF2-40B4-BE49-F238E27FC236}">
                    <a16:creationId xmlns:a16="http://schemas.microsoft.com/office/drawing/2014/main" id="{CDFA7CC7-BBAA-4CFB-CCAD-3148224F0421}"/>
                  </a:ext>
                </a:extLst>
              </p:cNvPr>
              <p:cNvSpPr txBox="1"/>
              <p:nvPr/>
            </p:nvSpPr>
            <p:spPr>
              <a:xfrm>
                <a:off x="7423314" y="320923"/>
                <a:ext cx="3220500" cy="317926"/>
              </a:xfrm>
              <a:prstGeom prst="rect">
                <a:avLst/>
              </a:prstGeom>
              <a:noFill/>
              <a:ln>
                <a:noFill/>
              </a:ln>
            </p:spPr>
            <p:txBody>
              <a:bodyPr spcFirstLastPara="1" wrap="square" lIns="91386" tIns="45676" rIns="91386" bIns="45676"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pic>
          <p:nvPicPr>
            <p:cNvPr id="1962" name="Google Shape;1962;p121" title="267c8389cc9ac686224c3c16502bd482.png">
              <a:extLst>
                <a:ext uri="{FF2B5EF4-FFF2-40B4-BE49-F238E27FC236}">
                  <a16:creationId xmlns:a16="http://schemas.microsoft.com/office/drawing/2014/main" id="{29B31183-9BC6-E2FF-A485-0B8D8D3831E3}"/>
                </a:ext>
              </a:extLst>
            </p:cNvPr>
            <p:cNvPicPr preferRelativeResize="0"/>
            <p:nvPr/>
          </p:nvPicPr>
          <p:blipFill rotWithShape="1">
            <a:blip r:embed="rId4">
              <a:alphaModFix/>
            </a:blip>
            <a:srcRect/>
            <a:stretch/>
          </p:blipFill>
          <p:spPr>
            <a:xfrm>
              <a:off x="9266976" y="2457679"/>
              <a:ext cx="1180474" cy="1180474"/>
            </a:xfrm>
            <a:prstGeom prst="rect">
              <a:avLst/>
            </a:prstGeom>
            <a:gradFill>
              <a:gsLst>
                <a:gs pos="0">
                  <a:srgbClr val="FFFFFF">
                    <a:alpha val="0"/>
                  </a:srgbClr>
                </a:gs>
                <a:gs pos="100000">
                  <a:srgbClr val="FFFFFF">
                    <a:alpha val="9803"/>
                  </a:srgbClr>
                </a:gs>
              </a:gsLst>
              <a:lin ang="0" scaled="0"/>
            </a:gradFill>
            <a:ln>
              <a:noFill/>
            </a:ln>
          </p:spPr>
        </p:pic>
        <p:grpSp>
          <p:nvGrpSpPr>
            <p:cNvPr id="1963" name="Google Shape;1963;p121">
              <a:extLst>
                <a:ext uri="{FF2B5EF4-FFF2-40B4-BE49-F238E27FC236}">
                  <a16:creationId xmlns:a16="http://schemas.microsoft.com/office/drawing/2014/main" id="{42ED72EE-B6A7-FC3A-55F3-200384797333}"/>
                </a:ext>
              </a:extLst>
            </p:cNvPr>
            <p:cNvGrpSpPr/>
            <p:nvPr/>
          </p:nvGrpSpPr>
          <p:grpSpPr>
            <a:xfrm>
              <a:off x="4580190" y="2655872"/>
              <a:ext cx="2267929" cy="918943"/>
              <a:chOff x="6742751" y="2282864"/>
              <a:chExt cx="2221500" cy="900131"/>
            </a:xfrm>
          </p:grpSpPr>
          <p:pic>
            <p:nvPicPr>
              <p:cNvPr id="1964" name="Google Shape;1964;p121" descr="Download PostgreSQL Logo in SVG Vector or PNG File Format ...">
                <a:extLst>
                  <a:ext uri="{FF2B5EF4-FFF2-40B4-BE49-F238E27FC236}">
                    <a16:creationId xmlns:a16="http://schemas.microsoft.com/office/drawing/2014/main" id="{6D9D77CB-A8B4-D383-178C-12DF09608102}"/>
                  </a:ext>
                </a:extLst>
              </p:cNvPr>
              <p:cNvPicPr preferRelativeResize="0"/>
              <p:nvPr/>
            </p:nvPicPr>
            <p:blipFill rotWithShape="1">
              <a:blip r:embed="rId5">
                <a:alphaModFix/>
              </a:blip>
              <a:srcRect/>
              <a:stretch/>
            </p:blipFill>
            <p:spPr>
              <a:xfrm>
                <a:off x="7328851" y="2282864"/>
                <a:ext cx="1060931" cy="707317"/>
              </a:xfrm>
              <a:prstGeom prst="rect">
                <a:avLst/>
              </a:prstGeom>
              <a:gradFill>
                <a:gsLst>
                  <a:gs pos="0">
                    <a:srgbClr val="FFFFFF">
                      <a:alpha val="0"/>
                    </a:srgbClr>
                  </a:gs>
                  <a:gs pos="100000">
                    <a:srgbClr val="FFFFFF">
                      <a:alpha val="9803"/>
                    </a:srgbClr>
                  </a:gs>
                </a:gsLst>
                <a:lin ang="0" scaled="0"/>
              </a:gradFill>
              <a:ln>
                <a:noFill/>
              </a:ln>
            </p:spPr>
          </p:pic>
          <p:sp>
            <p:nvSpPr>
              <p:cNvPr id="1965" name="Google Shape;1965;p121">
                <a:extLst>
                  <a:ext uri="{FF2B5EF4-FFF2-40B4-BE49-F238E27FC236}">
                    <a16:creationId xmlns:a16="http://schemas.microsoft.com/office/drawing/2014/main" id="{AFA2DE73-066C-B422-16CC-37AECC7F676A}"/>
                  </a:ext>
                </a:extLst>
              </p:cNvPr>
              <p:cNvSpPr txBox="1"/>
              <p:nvPr/>
            </p:nvSpPr>
            <p:spPr>
              <a:xfrm>
                <a:off x="6742751" y="2911660"/>
                <a:ext cx="2221500" cy="271335"/>
              </a:xfrm>
              <a:prstGeom prst="rect">
                <a:avLst/>
              </a:prstGeom>
              <a:noFill/>
              <a:ln>
                <a:noFill/>
              </a:ln>
            </p:spPr>
            <p:txBody>
              <a:bodyPr spcFirstLastPara="1" wrap="square" lIns="91386" tIns="45676" rIns="91386" bIns="45676"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dirty="0">
                    <a:ln>
                      <a:noFill/>
                    </a:ln>
                    <a:solidFill>
                      <a:srgbClr val="181818"/>
                    </a:solidFill>
                    <a:effectLst/>
                    <a:uLnTx/>
                    <a:uFillTx/>
                    <a:latin typeface="Montserrat"/>
                    <a:ea typeface="Montserrat"/>
                    <a:cs typeface="Montserrat"/>
                    <a:sym typeface="Montserrat"/>
                  </a:rPr>
                  <a:t>PostgreSQL/</a:t>
                </a:r>
                <a:r>
                  <a:rPr kumimoji="0" lang="en" sz="1200" b="0" i="0" u="none" strike="noStrike" kern="1200" cap="none" spc="0" normalizeH="0" baseline="0" noProof="0" dirty="0" err="1">
                    <a:ln>
                      <a:noFill/>
                    </a:ln>
                    <a:solidFill>
                      <a:srgbClr val="181818"/>
                    </a:solidFill>
                    <a:effectLst/>
                    <a:uLnTx/>
                    <a:uFillTx/>
                    <a:latin typeface="Montserrat"/>
                    <a:ea typeface="Montserrat"/>
                    <a:cs typeface="Montserrat"/>
                    <a:sym typeface="Montserrat"/>
                  </a:rPr>
                  <a:t>pgvector</a:t>
                </a:r>
                <a:endParaRPr kumimoji="0" sz="1200" b="0" i="0" u="none" strike="noStrike" kern="1200" cap="none" spc="0" normalizeH="0" baseline="0" noProof="0" dirty="0">
                  <a:ln>
                    <a:noFill/>
                  </a:ln>
                  <a:solidFill>
                    <a:srgbClr val="181818"/>
                  </a:solidFill>
                  <a:effectLst/>
                  <a:uLnTx/>
                  <a:uFillTx/>
                  <a:latin typeface="Arial"/>
                  <a:ea typeface="Arial"/>
                  <a:cs typeface="Arial"/>
                  <a:sym typeface="Arial"/>
                </a:endParaRPr>
              </a:p>
            </p:txBody>
          </p:sp>
        </p:grpSp>
        <p:pic>
          <p:nvPicPr>
            <p:cNvPr id="1966" name="Google Shape;1966;p121" descr="MySQL | Most Popular Open Source Relational Database | AWS">
              <a:extLst>
                <a:ext uri="{FF2B5EF4-FFF2-40B4-BE49-F238E27FC236}">
                  <a16:creationId xmlns:a16="http://schemas.microsoft.com/office/drawing/2014/main" id="{C9453668-81D4-BE9C-3FE3-014A23F0FF80}"/>
                </a:ext>
              </a:extLst>
            </p:cNvPr>
            <p:cNvPicPr preferRelativeResize="0"/>
            <p:nvPr/>
          </p:nvPicPr>
          <p:blipFill rotWithShape="1">
            <a:blip r:embed="rId6">
              <a:alphaModFix/>
            </a:blip>
            <a:srcRect/>
            <a:stretch/>
          </p:blipFill>
          <p:spPr>
            <a:xfrm>
              <a:off x="7166577" y="2825859"/>
              <a:ext cx="1267356" cy="654000"/>
            </a:xfrm>
            <a:prstGeom prst="rect">
              <a:avLst/>
            </a:prstGeom>
            <a:gradFill>
              <a:gsLst>
                <a:gs pos="0">
                  <a:srgbClr val="FFFFFF">
                    <a:alpha val="0"/>
                  </a:srgbClr>
                </a:gs>
                <a:gs pos="100000">
                  <a:srgbClr val="FFFFFF">
                    <a:alpha val="9803"/>
                  </a:srgbClr>
                </a:gs>
              </a:gsLst>
              <a:lin ang="0" scaled="0"/>
            </a:gradFill>
            <a:ln>
              <a:noFill/>
            </a:ln>
          </p:spPr>
        </p:pic>
      </p:grpSp>
      <p:sp>
        <p:nvSpPr>
          <p:cNvPr id="1970" name="Google Shape;1970;p121">
            <a:extLst>
              <a:ext uri="{FF2B5EF4-FFF2-40B4-BE49-F238E27FC236}">
                <a16:creationId xmlns:a16="http://schemas.microsoft.com/office/drawing/2014/main" id="{B036D596-A57F-4A1D-1813-E8599D154E94}"/>
              </a:ext>
            </a:extLst>
          </p:cNvPr>
          <p:cNvSpPr/>
          <p:nvPr/>
        </p:nvSpPr>
        <p:spPr>
          <a:xfrm>
            <a:off x="4493875" y="2929571"/>
            <a:ext cx="6538993" cy="476952"/>
          </a:xfrm>
          <a:prstGeom prst="roundRect">
            <a:avLst>
              <a:gd name="adj" fmla="val 50000"/>
            </a:avLst>
          </a:prstGeom>
          <a:solidFill>
            <a:schemeClr val="lt1">
              <a:alpha val="48630"/>
            </a:schemeClr>
          </a:solidFill>
          <a:ln>
            <a:noFill/>
          </a:ln>
        </p:spPr>
        <p:txBody>
          <a:bodyPr spcFirstLastPara="1" wrap="square" lIns="91319" tIns="45643" rIns="91319" bIns="4564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971" name="Google Shape;1971;p121">
            <a:extLst>
              <a:ext uri="{FF2B5EF4-FFF2-40B4-BE49-F238E27FC236}">
                <a16:creationId xmlns:a16="http://schemas.microsoft.com/office/drawing/2014/main" id="{BC5E6FD2-083F-F568-CEC8-FDCCECDCEA4D}"/>
              </a:ext>
            </a:extLst>
          </p:cNvPr>
          <p:cNvSpPr/>
          <p:nvPr/>
        </p:nvSpPr>
        <p:spPr>
          <a:xfrm>
            <a:off x="4562707" y="2988307"/>
            <a:ext cx="6410260" cy="428219"/>
          </a:xfrm>
          <a:prstGeom prst="roundRect">
            <a:avLst>
              <a:gd name="adj" fmla="val 50000"/>
            </a:avLst>
          </a:prstGeom>
          <a:gradFill>
            <a:gsLst>
              <a:gs pos="0">
                <a:srgbClr val="005C8A">
                  <a:alpha val="74901"/>
                </a:srgbClr>
              </a:gs>
              <a:gs pos="100000">
                <a:srgbClr val="00A7DD">
                  <a:alpha val="74901"/>
                </a:srgbClr>
              </a:gs>
            </a:gsLst>
            <a:lin ang="18900044" scaled="0"/>
          </a:gra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FFFFFF"/>
                </a:solidFill>
                <a:effectLst/>
                <a:uLnTx/>
                <a:uFillTx/>
                <a:latin typeface="Arial"/>
                <a:ea typeface="Arial"/>
                <a:cs typeface="Arial"/>
                <a:sym typeface="Arial"/>
              </a:rPr>
              <a:t>Provision  |  Backup  |  Clone  |  Patch  |  Scale  |  Cluster</a:t>
            </a:r>
          </a:p>
        </p:txBody>
      </p:sp>
      <p:grpSp>
        <p:nvGrpSpPr>
          <p:cNvPr id="1975" name="Google Shape;1975;p121">
            <a:extLst>
              <a:ext uri="{FF2B5EF4-FFF2-40B4-BE49-F238E27FC236}">
                <a16:creationId xmlns:a16="http://schemas.microsoft.com/office/drawing/2014/main" id="{367E3C34-9773-6AD9-17F5-58C220B96BAA}"/>
              </a:ext>
            </a:extLst>
          </p:cNvPr>
          <p:cNvGrpSpPr/>
          <p:nvPr/>
        </p:nvGrpSpPr>
        <p:grpSpPr>
          <a:xfrm>
            <a:off x="3701290" y="4799885"/>
            <a:ext cx="1433569" cy="379142"/>
            <a:chOff x="5336352" y="327364"/>
            <a:chExt cx="6105206" cy="1613757"/>
          </a:xfrm>
        </p:grpSpPr>
        <p:sp>
          <p:nvSpPr>
            <p:cNvPr id="1976" name="Google Shape;1976;p121">
              <a:extLst>
                <a:ext uri="{FF2B5EF4-FFF2-40B4-BE49-F238E27FC236}">
                  <a16:creationId xmlns:a16="http://schemas.microsoft.com/office/drawing/2014/main" id="{73FA4944-EC2F-47D5-6C70-A5451D1E2E45}"/>
                </a:ext>
              </a:extLst>
            </p:cNvPr>
            <p:cNvSpPr/>
            <p:nvPr/>
          </p:nvSpPr>
          <p:spPr>
            <a:xfrm>
              <a:off x="5336352" y="1146804"/>
              <a:ext cx="2239417" cy="794317"/>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4392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sp>
          <p:nvSpPr>
            <p:cNvPr id="1977" name="Google Shape;1977;p121">
              <a:extLst>
                <a:ext uri="{FF2B5EF4-FFF2-40B4-BE49-F238E27FC236}">
                  <a16:creationId xmlns:a16="http://schemas.microsoft.com/office/drawing/2014/main" id="{612A2EAA-49CA-9D3D-8513-7BE055033178}"/>
                </a:ext>
              </a:extLst>
            </p:cNvPr>
            <p:cNvSpPr/>
            <p:nvPr/>
          </p:nvSpPr>
          <p:spPr>
            <a:xfrm flipH="1">
              <a:off x="9781658" y="812002"/>
              <a:ext cx="1659900" cy="587678"/>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4392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sp>
          <p:nvSpPr>
            <p:cNvPr id="1978" name="Google Shape;1978;p121">
              <a:extLst>
                <a:ext uri="{FF2B5EF4-FFF2-40B4-BE49-F238E27FC236}">
                  <a16:creationId xmlns:a16="http://schemas.microsoft.com/office/drawing/2014/main" id="{6263538A-37C7-FC50-0584-4DE9D576405D}"/>
                </a:ext>
              </a:extLst>
            </p:cNvPr>
            <p:cNvSpPr/>
            <p:nvPr/>
          </p:nvSpPr>
          <p:spPr>
            <a:xfrm>
              <a:off x="8302345" y="327364"/>
              <a:ext cx="1833755" cy="649230"/>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4392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grpSp>
      <p:grpSp>
        <p:nvGrpSpPr>
          <p:cNvPr id="1979" name="Google Shape;1979;p121">
            <a:extLst>
              <a:ext uri="{FF2B5EF4-FFF2-40B4-BE49-F238E27FC236}">
                <a16:creationId xmlns:a16="http://schemas.microsoft.com/office/drawing/2014/main" id="{6279F67D-5E44-64EA-D2D5-F43463BD307C}"/>
              </a:ext>
            </a:extLst>
          </p:cNvPr>
          <p:cNvGrpSpPr/>
          <p:nvPr/>
        </p:nvGrpSpPr>
        <p:grpSpPr>
          <a:xfrm>
            <a:off x="9634418" y="4131913"/>
            <a:ext cx="1433569" cy="379142"/>
            <a:chOff x="5336352" y="327364"/>
            <a:chExt cx="6105206" cy="1613757"/>
          </a:xfrm>
        </p:grpSpPr>
        <p:sp>
          <p:nvSpPr>
            <p:cNvPr id="1980" name="Google Shape;1980;p121">
              <a:extLst>
                <a:ext uri="{FF2B5EF4-FFF2-40B4-BE49-F238E27FC236}">
                  <a16:creationId xmlns:a16="http://schemas.microsoft.com/office/drawing/2014/main" id="{C7A00ED4-F613-A104-81FB-6CF1EB122C98}"/>
                </a:ext>
              </a:extLst>
            </p:cNvPr>
            <p:cNvSpPr/>
            <p:nvPr/>
          </p:nvSpPr>
          <p:spPr>
            <a:xfrm>
              <a:off x="5336352" y="1146804"/>
              <a:ext cx="2239417" cy="794317"/>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4392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sp>
          <p:nvSpPr>
            <p:cNvPr id="1981" name="Google Shape;1981;p121">
              <a:extLst>
                <a:ext uri="{FF2B5EF4-FFF2-40B4-BE49-F238E27FC236}">
                  <a16:creationId xmlns:a16="http://schemas.microsoft.com/office/drawing/2014/main" id="{532B73F9-AD52-68B8-BB8A-53F7F007B4FE}"/>
                </a:ext>
              </a:extLst>
            </p:cNvPr>
            <p:cNvSpPr/>
            <p:nvPr/>
          </p:nvSpPr>
          <p:spPr>
            <a:xfrm flipH="1">
              <a:off x="9781658" y="812002"/>
              <a:ext cx="1659900" cy="587678"/>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4392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sp>
          <p:nvSpPr>
            <p:cNvPr id="1982" name="Google Shape;1982;p121">
              <a:extLst>
                <a:ext uri="{FF2B5EF4-FFF2-40B4-BE49-F238E27FC236}">
                  <a16:creationId xmlns:a16="http://schemas.microsoft.com/office/drawing/2014/main" id="{6782A6CB-8A97-822D-835B-3C0F52C42579}"/>
                </a:ext>
              </a:extLst>
            </p:cNvPr>
            <p:cNvSpPr/>
            <p:nvPr/>
          </p:nvSpPr>
          <p:spPr>
            <a:xfrm>
              <a:off x="8302345" y="327364"/>
              <a:ext cx="1833755" cy="649230"/>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solidFill>
              <a:schemeClr val="lt1">
                <a:alpha val="43920"/>
              </a:schemeClr>
            </a:soli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Montserrat"/>
                <a:ea typeface="Montserrat"/>
                <a:cs typeface="Montserrat"/>
                <a:sym typeface="Montserrat"/>
              </a:endParaRPr>
            </a:p>
          </p:txBody>
        </p:sp>
      </p:grpSp>
      <p:grpSp>
        <p:nvGrpSpPr>
          <p:cNvPr id="1984" name="Google Shape;1984;p121">
            <a:extLst>
              <a:ext uri="{FF2B5EF4-FFF2-40B4-BE49-F238E27FC236}">
                <a16:creationId xmlns:a16="http://schemas.microsoft.com/office/drawing/2014/main" id="{E8D79C4E-50B0-617C-5428-7E26F8FF2B78}"/>
              </a:ext>
            </a:extLst>
          </p:cNvPr>
          <p:cNvGrpSpPr/>
          <p:nvPr/>
        </p:nvGrpSpPr>
        <p:grpSpPr>
          <a:xfrm flipH="1">
            <a:off x="305303" y="4813082"/>
            <a:ext cx="2422210" cy="1447767"/>
            <a:chOff x="1818969" y="3670020"/>
            <a:chExt cx="2509116" cy="1499090"/>
          </a:xfrm>
        </p:grpSpPr>
        <p:sp>
          <p:nvSpPr>
            <p:cNvPr id="1985" name="Google Shape;1985;p121">
              <a:extLst>
                <a:ext uri="{FF2B5EF4-FFF2-40B4-BE49-F238E27FC236}">
                  <a16:creationId xmlns:a16="http://schemas.microsoft.com/office/drawing/2014/main" id="{5032E146-C1FA-C891-B891-51F0244ED9F2}"/>
                </a:ext>
              </a:extLst>
            </p:cNvPr>
            <p:cNvSpPr/>
            <p:nvPr/>
          </p:nvSpPr>
          <p:spPr>
            <a:xfrm>
              <a:off x="2776315" y="3670020"/>
              <a:ext cx="603863" cy="921603"/>
            </a:xfrm>
            <a:custGeom>
              <a:avLst/>
              <a:gdLst/>
              <a:ahLst/>
              <a:cxnLst/>
              <a:rect l="l" t="t" r="r" b="b"/>
              <a:pathLst>
                <a:path w="603863" h="921603" extrusionOk="0">
                  <a:moveTo>
                    <a:pt x="414942" y="921603"/>
                  </a:moveTo>
                  <a:lnTo>
                    <a:pt x="138521" y="921603"/>
                  </a:lnTo>
                  <a:cubicBezTo>
                    <a:pt x="58263" y="921603"/>
                    <a:pt x="29638" y="831453"/>
                    <a:pt x="29638" y="796564"/>
                  </a:cubicBezTo>
                  <a:cubicBezTo>
                    <a:pt x="29638" y="761675"/>
                    <a:pt x="75825" y="688033"/>
                    <a:pt x="54927" y="601161"/>
                  </a:cubicBezTo>
                  <a:cubicBezTo>
                    <a:pt x="34028" y="514289"/>
                    <a:pt x="-29428" y="392820"/>
                    <a:pt x="16057" y="294650"/>
                  </a:cubicBezTo>
                  <a:cubicBezTo>
                    <a:pt x="61542" y="196480"/>
                    <a:pt x="131028" y="183660"/>
                    <a:pt x="148706" y="180031"/>
                  </a:cubicBezTo>
                  <a:cubicBezTo>
                    <a:pt x="166327" y="176460"/>
                    <a:pt x="237569" y="155503"/>
                    <a:pt x="251267" y="95149"/>
                  </a:cubicBezTo>
                  <a:cubicBezTo>
                    <a:pt x="264965" y="34795"/>
                    <a:pt x="347563" y="-28193"/>
                    <a:pt x="432913" y="13428"/>
                  </a:cubicBezTo>
                  <a:cubicBezTo>
                    <a:pt x="506029" y="49079"/>
                    <a:pt x="505385" y="108554"/>
                    <a:pt x="505385" y="142624"/>
                  </a:cubicBezTo>
                  <a:cubicBezTo>
                    <a:pt x="505385" y="176694"/>
                    <a:pt x="451529" y="290728"/>
                    <a:pt x="551396" y="390537"/>
                  </a:cubicBezTo>
                  <a:cubicBezTo>
                    <a:pt x="641078" y="480160"/>
                    <a:pt x="591613" y="598936"/>
                    <a:pt x="577798" y="619835"/>
                  </a:cubicBezTo>
                  <a:cubicBezTo>
                    <a:pt x="564041" y="640733"/>
                    <a:pt x="512585" y="686569"/>
                    <a:pt x="533718" y="757870"/>
                  </a:cubicBezTo>
                  <a:cubicBezTo>
                    <a:pt x="553094" y="823258"/>
                    <a:pt x="518732" y="921486"/>
                    <a:pt x="414883" y="921486"/>
                  </a:cubicBezTo>
                  <a:close/>
                </a:path>
              </a:pathLst>
            </a:custGeom>
            <a:solidFill>
              <a:srgbClr val="84C341"/>
            </a:solidFill>
            <a:ln w="7150" cap="flat" cmpd="sng">
              <a:solidFill>
                <a:srgbClr val="78BE20"/>
              </a:solidFill>
              <a:prstDash val="solid"/>
              <a:miter lim="8000"/>
              <a:headEnd type="none" w="sm" len="sm"/>
              <a:tailEnd type="none" w="sm" len="sm"/>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86" name="Google Shape;1986;p121">
              <a:extLst>
                <a:ext uri="{FF2B5EF4-FFF2-40B4-BE49-F238E27FC236}">
                  <a16:creationId xmlns:a16="http://schemas.microsoft.com/office/drawing/2014/main" id="{11226A91-B55D-6239-34AF-787C0CEBC122}"/>
                </a:ext>
              </a:extLst>
            </p:cNvPr>
            <p:cNvSpPr/>
            <p:nvPr/>
          </p:nvSpPr>
          <p:spPr>
            <a:xfrm>
              <a:off x="3056676" y="3957177"/>
              <a:ext cx="34069" cy="998032"/>
            </a:xfrm>
            <a:custGeom>
              <a:avLst/>
              <a:gdLst/>
              <a:ahLst/>
              <a:cxnLst/>
              <a:rect l="l" t="t" r="r" b="b"/>
              <a:pathLst>
                <a:path w="34069" h="998032" extrusionOk="0">
                  <a:moveTo>
                    <a:pt x="34070" y="998032"/>
                  </a:moveTo>
                  <a:lnTo>
                    <a:pt x="0" y="998032"/>
                  </a:lnTo>
                  <a:lnTo>
                    <a:pt x="9308" y="0"/>
                  </a:lnTo>
                  <a:lnTo>
                    <a:pt x="24821" y="0"/>
                  </a:lnTo>
                  <a:lnTo>
                    <a:pt x="34070" y="998032"/>
                  </a:lnTo>
                  <a:close/>
                </a:path>
              </a:pathLst>
            </a:custGeom>
            <a:solidFill>
              <a:srgbClr val="4D4D4F"/>
            </a:solidFill>
            <a:ln>
              <a:noFill/>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87" name="Google Shape;1987;p121">
              <a:extLst>
                <a:ext uri="{FF2B5EF4-FFF2-40B4-BE49-F238E27FC236}">
                  <a16:creationId xmlns:a16="http://schemas.microsoft.com/office/drawing/2014/main" id="{E20B770C-A427-EEF5-453F-F830FB212618}"/>
                </a:ext>
              </a:extLst>
            </p:cNvPr>
            <p:cNvSpPr/>
            <p:nvPr/>
          </p:nvSpPr>
          <p:spPr>
            <a:xfrm>
              <a:off x="3073710" y="4403537"/>
              <a:ext cx="106658" cy="106599"/>
            </a:xfrm>
            <a:custGeom>
              <a:avLst/>
              <a:gdLst/>
              <a:ahLst/>
              <a:cxnLst/>
              <a:rect l="l" t="t" r="r" b="b"/>
              <a:pathLst>
                <a:path w="106658" h="106599" extrusionOk="0">
                  <a:moveTo>
                    <a:pt x="106658" y="0"/>
                  </a:moveTo>
                  <a:lnTo>
                    <a:pt x="0" y="106600"/>
                  </a:lnTo>
                </a:path>
              </a:pathLst>
            </a:custGeom>
            <a:noFill/>
            <a:ln w="7150" cap="flat" cmpd="sng">
              <a:solidFill>
                <a:srgbClr val="4D4D4F"/>
              </a:solidFill>
              <a:prstDash val="solid"/>
              <a:miter lim="8000"/>
              <a:headEnd type="none" w="sm" len="sm"/>
              <a:tailEnd type="none" w="sm" len="sm"/>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88" name="Google Shape;1988;p121">
              <a:extLst>
                <a:ext uri="{FF2B5EF4-FFF2-40B4-BE49-F238E27FC236}">
                  <a16:creationId xmlns:a16="http://schemas.microsoft.com/office/drawing/2014/main" id="{B4CB47BA-375F-96CB-64B5-168CDD891445}"/>
                </a:ext>
              </a:extLst>
            </p:cNvPr>
            <p:cNvSpPr/>
            <p:nvPr/>
          </p:nvSpPr>
          <p:spPr>
            <a:xfrm>
              <a:off x="2929236" y="4425782"/>
              <a:ext cx="144767" cy="144767"/>
            </a:xfrm>
            <a:custGeom>
              <a:avLst/>
              <a:gdLst/>
              <a:ahLst/>
              <a:cxnLst/>
              <a:rect l="l" t="t" r="r" b="b"/>
              <a:pathLst>
                <a:path w="144767" h="144767" extrusionOk="0">
                  <a:moveTo>
                    <a:pt x="0" y="0"/>
                  </a:moveTo>
                  <a:lnTo>
                    <a:pt x="144767" y="144767"/>
                  </a:lnTo>
                </a:path>
              </a:pathLst>
            </a:custGeom>
            <a:noFill/>
            <a:ln w="7150" cap="flat" cmpd="sng">
              <a:solidFill>
                <a:srgbClr val="4D4D4F"/>
              </a:solidFill>
              <a:prstDash val="solid"/>
              <a:miter lim="8000"/>
              <a:headEnd type="none" w="sm" len="sm"/>
              <a:tailEnd type="none" w="sm" len="sm"/>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89" name="Google Shape;1989;p121">
              <a:extLst>
                <a:ext uri="{FF2B5EF4-FFF2-40B4-BE49-F238E27FC236}">
                  <a16:creationId xmlns:a16="http://schemas.microsoft.com/office/drawing/2014/main" id="{861EE3B3-79F6-E827-1A48-00A2729C37D3}"/>
                </a:ext>
              </a:extLst>
            </p:cNvPr>
            <p:cNvSpPr/>
            <p:nvPr/>
          </p:nvSpPr>
          <p:spPr>
            <a:xfrm>
              <a:off x="3193623" y="4012972"/>
              <a:ext cx="470157" cy="740511"/>
            </a:xfrm>
            <a:custGeom>
              <a:avLst/>
              <a:gdLst/>
              <a:ahLst/>
              <a:cxnLst/>
              <a:rect l="l" t="t" r="r" b="b"/>
              <a:pathLst>
                <a:path w="470157" h="740511" extrusionOk="0">
                  <a:moveTo>
                    <a:pt x="323052" y="740395"/>
                  </a:moveTo>
                  <a:lnTo>
                    <a:pt x="155514" y="740395"/>
                  </a:lnTo>
                  <a:cubicBezTo>
                    <a:pt x="92994" y="740395"/>
                    <a:pt x="41304" y="678577"/>
                    <a:pt x="37382" y="614477"/>
                  </a:cubicBezTo>
                  <a:cubicBezTo>
                    <a:pt x="35684" y="587432"/>
                    <a:pt x="59041" y="558572"/>
                    <a:pt x="42767" y="490960"/>
                  </a:cubicBezTo>
                  <a:cubicBezTo>
                    <a:pt x="26494" y="423288"/>
                    <a:pt x="-22913" y="328748"/>
                    <a:pt x="12503" y="252296"/>
                  </a:cubicBezTo>
                  <a:cubicBezTo>
                    <a:pt x="47919" y="175844"/>
                    <a:pt x="78184" y="165834"/>
                    <a:pt x="91940" y="163082"/>
                  </a:cubicBezTo>
                  <a:cubicBezTo>
                    <a:pt x="105697" y="160272"/>
                    <a:pt x="124254" y="-19852"/>
                    <a:pt x="289744" y="1807"/>
                  </a:cubicBezTo>
                  <a:cubicBezTo>
                    <a:pt x="372518" y="12637"/>
                    <a:pt x="393475" y="107470"/>
                    <a:pt x="393475" y="133988"/>
                  </a:cubicBezTo>
                  <a:cubicBezTo>
                    <a:pt x="393475" y="160507"/>
                    <a:pt x="351502" y="201601"/>
                    <a:pt x="429301" y="279341"/>
                  </a:cubicBezTo>
                  <a:cubicBezTo>
                    <a:pt x="499138" y="349120"/>
                    <a:pt x="460619" y="441611"/>
                    <a:pt x="449848" y="457885"/>
                  </a:cubicBezTo>
                  <a:cubicBezTo>
                    <a:pt x="439135" y="474159"/>
                    <a:pt x="399036" y="533693"/>
                    <a:pt x="415486" y="589247"/>
                  </a:cubicBezTo>
                  <a:cubicBezTo>
                    <a:pt x="430589" y="640176"/>
                    <a:pt x="403836" y="740512"/>
                    <a:pt x="322935" y="740512"/>
                  </a:cubicBezTo>
                  <a:close/>
                </a:path>
              </a:pathLst>
            </a:custGeom>
            <a:solidFill>
              <a:srgbClr val="84C341"/>
            </a:solidFill>
            <a:ln w="7150" cap="flat" cmpd="sng">
              <a:solidFill>
                <a:srgbClr val="78BE20"/>
              </a:solidFill>
              <a:prstDash val="solid"/>
              <a:miter lim="8000"/>
              <a:headEnd type="none" w="sm" len="sm"/>
              <a:tailEnd type="none" w="sm" len="sm"/>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0" name="Google Shape;1990;p121">
              <a:extLst>
                <a:ext uri="{FF2B5EF4-FFF2-40B4-BE49-F238E27FC236}">
                  <a16:creationId xmlns:a16="http://schemas.microsoft.com/office/drawing/2014/main" id="{5DC7F92C-1CDE-2AD0-717D-AE88AF839FD9}"/>
                </a:ext>
              </a:extLst>
            </p:cNvPr>
            <p:cNvSpPr/>
            <p:nvPr/>
          </p:nvSpPr>
          <p:spPr>
            <a:xfrm>
              <a:off x="3411891" y="4259414"/>
              <a:ext cx="26576" cy="777106"/>
            </a:xfrm>
            <a:custGeom>
              <a:avLst/>
              <a:gdLst/>
              <a:ahLst/>
              <a:cxnLst/>
              <a:rect l="l" t="t" r="r" b="b"/>
              <a:pathLst>
                <a:path w="26576" h="777106" extrusionOk="0">
                  <a:moveTo>
                    <a:pt x="26577" y="777106"/>
                  </a:moveTo>
                  <a:lnTo>
                    <a:pt x="0" y="777106"/>
                  </a:lnTo>
                  <a:lnTo>
                    <a:pt x="7259" y="0"/>
                  </a:lnTo>
                  <a:lnTo>
                    <a:pt x="19318" y="0"/>
                  </a:lnTo>
                  <a:lnTo>
                    <a:pt x="26577" y="777106"/>
                  </a:lnTo>
                  <a:close/>
                </a:path>
              </a:pathLst>
            </a:custGeom>
            <a:solidFill>
              <a:srgbClr val="4D4D4F"/>
            </a:solidFill>
            <a:ln>
              <a:noFill/>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1" name="Google Shape;1991;p121">
              <a:extLst>
                <a:ext uri="{FF2B5EF4-FFF2-40B4-BE49-F238E27FC236}">
                  <a16:creationId xmlns:a16="http://schemas.microsoft.com/office/drawing/2014/main" id="{A3E2A260-AD0E-92CB-EA11-9EF16D45EDD7}"/>
                </a:ext>
              </a:extLst>
            </p:cNvPr>
            <p:cNvSpPr/>
            <p:nvPr/>
          </p:nvSpPr>
          <p:spPr>
            <a:xfrm>
              <a:off x="3425179" y="4606960"/>
              <a:ext cx="83008" cy="83008"/>
            </a:xfrm>
            <a:custGeom>
              <a:avLst/>
              <a:gdLst/>
              <a:ahLst/>
              <a:cxnLst/>
              <a:rect l="l" t="t" r="r" b="b"/>
              <a:pathLst>
                <a:path w="83008" h="83008" extrusionOk="0">
                  <a:moveTo>
                    <a:pt x="83008" y="0"/>
                  </a:moveTo>
                  <a:lnTo>
                    <a:pt x="0" y="83008"/>
                  </a:lnTo>
                </a:path>
              </a:pathLst>
            </a:custGeom>
            <a:noFill/>
            <a:ln w="7150" cap="flat" cmpd="sng">
              <a:solidFill>
                <a:srgbClr val="4D4D4F"/>
              </a:solidFill>
              <a:prstDash val="solid"/>
              <a:miter lim="8000"/>
              <a:headEnd type="none" w="sm" len="sm"/>
              <a:tailEnd type="none" w="sm" len="sm"/>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2" name="Google Shape;1992;p121">
              <a:extLst>
                <a:ext uri="{FF2B5EF4-FFF2-40B4-BE49-F238E27FC236}">
                  <a16:creationId xmlns:a16="http://schemas.microsoft.com/office/drawing/2014/main" id="{3F5DBB48-B02A-1BE4-AD81-36520C83B465}"/>
                </a:ext>
              </a:extLst>
            </p:cNvPr>
            <p:cNvSpPr/>
            <p:nvPr/>
          </p:nvSpPr>
          <p:spPr>
            <a:xfrm>
              <a:off x="3312667" y="4624288"/>
              <a:ext cx="112746" cy="112746"/>
            </a:xfrm>
            <a:custGeom>
              <a:avLst/>
              <a:gdLst/>
              <a:ahLst/>
              <a:cxnLst/>
              <a:rect l="l" t="t" r="r" b="b"/>
              <a:pathLst>
                <a:path w="112746" h="112746" extrusionOk="0">
                  <a:moveTo>
                    <a:pt x="0" y="0"/>
                  </a:moveTo>
                  <a:lnTo>
                    <a:pt x="112746" y="112746"/>
                  </a:lnTo>
                </a:path>
              </a:pathLst>
            </a:custGeom>
            <a:noFill/>
            <a:ln w="7150" cap="flat" cmpd="sng">
              <a:solidFill>
                <a:srgbClr val="4D4D4F"/>
              </a:solidFill>
              <a:prstDash val="solid"/>
              <a:miter lim="8000"/>
              <a:headEnd type="none" w="sm" len="sm"/>
              <a:tailEnd type="none" w="sm" len="sm"/>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3" name="Google Shape;1993;p121">
              <a:extLst>
                <a:ext uri="{FF2B5EF4-FFF2-40B4-BE49-F238E27FC236}">
                  <a16:creationId xmlns:a16="http://schemas.microsoft.com/office/drawing/2014/main" id="{5F93CA02-EC91-91FA-A50A-60C9F01B34D3}"/>
                </a:ext>
              </a:extLst>
            </p:cNvPr>
            <p:cNvSpPr/>
            <p:nvPr/>
          </p:nvSpPr>
          <p:spPr>
            <a:xfrm>
              <a:off x="1818969" y="4980205"/>
              <a:ext cx="1414186" cy="188905"/>
            </a:xfrm>
            <a:custGeom>
              <a:avLst/>
              <a:gdLst/>
              <a:ahLst/>
              <a:cxnLst/>
              <a:rect l="l" t="t" r="r" b="b"/>
              <a:pathLst>
                <a:path w="1414186" h="188905" extrusionOk="0">
                  <a:moveTo>
                    <a:pt x="0" y="188906"/>
                  </a:moveTo>
                  <a:lnTo>
                    <a:pt x="1414187" y="188906"/>
                  </a:lnTo>
                  <a:cubicBezTo>
                    <a:pt x="1256834" y="74579"/>
                    <a:pt x="998793" y="0"/>
                    <a:pt x="707093" y="0"/>
                  </a:cubicBezTo>
                  <a:cubicBezTo>
                    <a:pt x="415393" y="0"/>
                    <a:pt x="157353" y="74579"/>
                    <a:pt x="0" y="188906"/>
                  </a:cubicBezTo>
                  <a:close/>
                </a:path>
              </a:pathLst>
            </a:custGeom>
            <a:solidFill>
              <a:srgbClr val="AACF37"/>
            </a:solidFill>
            <a:ln>
              <a:noFill/>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4" name="Google Shape;1994;p121">
              <a:extLst>
                <a:ext uri="{FF2B5EF4-FFF2-40B4-BE49-F238E27FC236}">
                  <a16:creationId xmlns:a16="http://schemas.microsoft.com/office/drawing/2014/main" id="{BB11045B-1A43-4D93-D0BC-A0DD5537412F}"/>
                </a:ext>
              </a:extLst>
            </p:cNvPr>
            <p:cNvSpPr/>
            <p:nvPr/>
          </p:nvSpPr>
          <p:spPr>
            <a:xfrm flipH="1">
              <a:off x="1975167" y="4869098"/>
              <a:ext cx="2352918" cy="300012"/>
            </a:xfrm>
            <a:custGeom>
              <a:avLst/>
              <a:gdLst/>
              <a:ahLst/>
              <a:cxnLst/>
              <a:rect l="l" t="t" r="r" b="b"/>
              <a:pathLst>
                <a:path w="2352918" h="300012" extrusionOk="0">
                  <a:moveTo>
                    <a:pt x="0" y="300013"/>
                  </a:moveTo>
                  <a:lnTo>
                    <a:pt x="2352919" y="300013"/>
                  </a:lnTo>
                  <a:cubicBezTo>
                    <a:pt x="1555383" y="282334"/>
                    <a:pt x="1423377" y="0"/>
                    <a:pt x="938030" y="0"/>
                  </a:cubicBezTo>
                  <a:cubicBezTo>
                    <a:pt x="452683" y="0"/>
                    <a:pt x="261787" y="109761"/>
                    <a:pt x="0" y="300013"/>
                  </a:cubicBezTo>
                  <a:close/>
                </a:path>
              </a:pathLst>
            </a:custGeom>
            <a:solidFill>
              <a:srgbClr val="84C341"/>
            </a:solidFill>
            <a:ln>
              <a:noFill/>
            </a:ln>
          </p:spPr>
          <p:txBody>
            <a:bodyPr spcFirstLastPara="1" wrap="square" lIns="91386" tIns="45676" rIns="91386" bIns="45676"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grpSp>
      <p:grpSp>
        <p:nvGrpSpPr>
          <p:cNvPr id="1995" name="Google Shape;1995;p121">
            <a:extLst>
              <a:ext uri="{FF2B5EF4-FFF2-40B4-BE49-F238E27FC236}">
                <a16:creationId xmlns:a16="http://schemas.microsoft.com/office/drawing/2014/main" id="{F96E4864-3B05-3D06-CD5F-FBC85047EC39}"/>
              </a:ext>
            </a:extLst>
          </p:cNvPr>
          <p:cNvGrpSpPr/>
          <p:nvPr/>
        </p:nvGrpSpPr>
        <p:grpSpPr>
          <a:xfrm>
            <a:off x="1122675" y="5197361"/>
            <a:ext cx="1675858" cy="974407"/>
            <a:chOff x="4795269" y="4689589"/>
            <a:chExt cx="2734991" cy="1556377"/>
          </a:xfrm>
        </p:grpSpPr>
        <p:sp>
          <p:nvSpPr>
            <p:cNvPr id="1996" name="Google Shape;1996;p121">
              <a:extLst>
                <a:ext uri="{FF2B5EF4-FFF2-40B4-BE49-F238E27FC236}">
                  <a16:creationId xmlns:a16="http://schemas.microsoft.com/office/drawing/2014/main" id="{7FD625B3-DBAD-56C5-C43D-7CC6A885985C}"/>
                </a:ext>
              </a:extLst>
            </p:cNvPr>
            <p:cNvSpPr/>
            <p:nvPr/>
          </p:nvSpPr>
          <p:spPr>
            <a:xfrm>
              <a:off x="5707414" y="5929954"/>
              <a:ext cx="431615" cy="82562"/>
            </a:xfrm>
            <a:custGeom>
              <a:avLst/>
              <a:gdLst/>
              <a:ahLst/>
              <a:cxnLst/>
              <a:rect l="l" t="t" r="r" b="b"/>
              <a:pathLst>
                <a:path w="323914" h="61960" extrusionOk="0">
                  <a:moveTo>
                    <a:pt x="0" y="0"/>
                  </a:moveTo>
                  <a:lnTo>
                    <a:pt x="323914" y="0"/>
                  </a:lnTo>
                  <a:lnTo>
                    <a:pt x="323914" y="61961"/>
                  </a:lnTo>
                  <a:lnTo>
                    <a:pt x="0" y="61961"/>
                  </a:lnTo>
                  <a:close/>
                </a:path>
              </a:pathLst>
            </a:custGeom>
            <a:solidFill>
              <a:srgbClr val="91D1C7"/>
            </a:solidFill>
            <a:ln>
              <a:noFill/>
            </a:ln>
          </p:spPr>
          <p:txBody>
            <a:bodyPr spcFirstLastPara="1" wrap="square" lIns="82191" tIns="41078" rIns="82191"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7" name="Google Shape;1997;p121">
              <a:extLst>
                <a:ext uri="{FF2B5EF4-FFF2-40B4-BE49-F238E27FC236}">
                  <a16:creationId xmlns:a16="http://schemas.microsoft.com/office/drawing/2014/main" id="{050EFAA1-4C5F-47F0-97FE-BD3FEE2F12AD}"/>
                </a:ext>
              </a:extLst>
            </p:cNvPr>
            <p:cNvSpPr/>
            <p:nvPr/>
          </p:nvSpPr>
          <p:spPr>
            <a:xfrm>
              <a:off x="4889682" y="4826419"/>
              <a:ext cx="2556532" cy="1299633"/>
            </a:xfrm>
            <a:custGeom>
              <a:avLst/>
              <a:gdLst/>
              <a:ahLst/>
              <a:cxnLst/>
              <a:rect l="l" t="t" r="r" b="b"/>
              <a:pathLst>
                <a:path w="1918598" h="975334" extrusionOk="0">
                  <a:moveTo>
                    <a:pt x="0" y="0"/>
                  </a:moveTo>
                  <a:lnTo>
                    <a:pt x="1918599" y="0"/>
                  </a:lnTo>
                  <a:lnTo>
                    <a:pt x="1918599" y="975335"/>
                  </a:lnTo>
                  <a:lnTo>
                    <a:pt x="0" y="975335"/>
                  </a:lnTo>
                  <a:close/>
                </a:path>
              </a:pathLst>
            </a:custGeom>
            <a:gradFill>
              <a:gsLst>
                <a:gs pos="0">
                  <a:schemeClr val="accent3"/>
                </a:gs>
                <a:gs pos="10000">
                  <a:schemeClr val="accent3"/>
                </a:gs>
                <a:gs pos="82000">
                  <a:srgbClr val="43D3FF"/>
                </a:gs>
                <a:gs pos="100000">
                  <a:srgbClr val="43D3FF"/>
                </a:gs>
              </a:gsLst>
              <a:lin ang="18900044" scaled="0"/>
            </a:gradFill>
            <a:ln>
              <a:noFill/>
            </a:ln>
          </p:spPr>
          <p:txBody>
            <a:bodyPr spcFirstLastPara="1" wrap="square" lIns="82158" tIns="41078" rIns="82158"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8" name="Google Shape;1998;p121">
              <a:extLst>
                <a:ext uri="{FF2B5EF4-FFF2-40B4-BE49-F238E27FC236}">
                  <a16:creationId xmlns:a16="http://schemas.microsoft.com/office/drawing/2014/main" id="{A5247247-4F50-092A-2B13-8EF89FDE4A69}"/>
                </a:ext>
              </a:extLst>
            </p:cNvPr>
            <p:cNvSpPr/>
            <p:nvPr/>
          </p:nvSpPr>
          <p:spPr>
            <a:xfrm>
              <a:off x="4889682" y="5048768"/>
              <a:ext cx="2556533" cy="946648"/>
            </a:xfrm>
            <a:custGeom>
              <a:avLst/>
              <a:gdLst/>
              <a:ahLst/>
              <a:cxnLst/>
              <a:rect l="l" t="t" r="r" b="b"/>
              <a:pathLst>
                <a:path w="1918599" h="710430" extrusionOk="0">
                  <a:moveTo>
                    <a:pt x="1644586" y="0"/>
                  </a:moveTo>
                  <a:lnTo>
                    <a:pt x="1690255" y="0"/>
                  </a:lnTo>
                  <a:lnTo>
                    <a:pt x="1735924" y="0"/>
                  </a:lnTo>
                  <a:lnTo>
                    <a:pt x="1781592" y="0"/>
                  </a:lnTo>
                  <a:lnTo>
                    <a:pt x="1781593" y="0"/>
                  </a:lnTo>
                  <a:lnTo>
                    <a:pt x="1827261" y="0"/>
                  </a:lnTo>
                  <a:lnTo>
                    <a:pt x="1872930" y="0"/>
                  </a:lnTo>
                  <a:lnTo>
                    <a:pt x="1918599" y="0"/>
                  </a:lnTo>
                  <a:lnTo>
                    <a:pt x="1918599" y="710430"/>
                  </a:lnTo>
                  <a:lnTo>
                    <a:pt x="1872930" y="710430"/>
                  </a:lnTo>
                  <a:lnTo>
                    <a:pt x="1827261" y="710430"/>
                  </a:lnTo>
                  <a:lnTo>
                    <a:pt x="1781593" y="710430"/>
                  </a:lnTo>
                  <a:lnTo>
                    <a:pt x="1781592" y="710430"/>
                  </a:lnTo>
                  <a:lnTo>
                    <a:pt x="1735924" y="710430"/>
                  </a:lnTo>
                  <a:lnTo>
                    <a:pt x="1690255" y="710430"/>
                  </a:lnTo>
                  <a:lnTo>
                    <a:pt x="1644586" y="710430"/>
                  </a:lnTo>
                  <a:close/>
                  <a:moveTo>
                    <a:pt x="1142102" y="0"/>
                  </a:moveTo>
                  <a:lnTo>
                    <a:pt x="1187771" y="0"/>
                  </a:lnTo>
                  <a:lnTo>
                    <a:pt x="1233439" y="0"/>
                  </a:lnTo>
                  <a:lnTo>
                    <a:pt x="1233440" y="0"/>
                  </a:lnTo>
                  <a:lnTo>
                    <a:pt x="1279108" y="0"/>
                  </a:lnTo>
                  <a:lnTo>
                    <a:pt x="1324777" y="0"/>
                  </a:lnTo>
                  <a:lnTo>
                    <a:pt x="1370446" y="0"/>
                  </a:lnTo>
                  <a:lnTo>
                    <a:pt x="1416114" y="0"/>
                  </a:lnTo>
                  <a:lnTo>
                    <a:pt x="1416115" y="0"/>
                  </a:lnTo>
                  <a:lnTo>
                    <a:pt x="1461783" y="0"/>
                  </a:lnTo>
                  <a:lnTo>
                    <a:pt x="1507452" y="0"/>
                  </a:lnTo>
                  <a:lnTo>
                    <a:pt x="1553120" y="0"/>
                  </a:lnTo>
                  <a:lnTo>
                    <a:pt x="1553121" y="0"/>
                  </a:lnTo>
                  <a:lnTo>
                    <a:pt x="1598789" y="0"/>
                  </a:lnTo>
                  <a:lnTo>
                    <a:pt x="1644458" y="0"/>
                  </a:lnTo>
                  <a:lnTo>
                    <a:pt x="1644458" y="710430"/>
                  </a:lnTo>
                  <a:lnTo>
                    <a:pt x="1598789" y="710430"/>
                  </a:lnTo>
                  <a:lnTo>
                    <a:pt x="1553121" y="710430"/>
                  </a:lnTo>
                  <a:lnTo>
                    <a:pt x="1553120" y="710430"/>
                  </a:lnTo>
                  <a:lnTo>
                    <a:pt x="1507452" y="710430"/>
                  </a:lnTo>
                  <a:lnTo>
                    <a:pt x="1461783" y="710430"/>
                  </a:lnTo>
                  <a:lnTo>
                    <a:pt x="1416115" y="710430"/>
                  </a:lnTo>
                  <a:lnTo>
                    <a:pt x="1416114" y="710430"/>
                  </a:lnTo>
                  <a:lnTo>
                    <a:pt x="1370446" y="710430"/>
                  </a:lnTo>
                  <a:lnTo>
                    <a:pt x="1324777" y="710430"/>
                  </a:lnTo>
                  <a:lnTo>
                    <a:pt x="1279108" y="710430"/>
                  </a:lnTo>
                  <a:lnTo>
                    <a:pt x="1233440" y="710430"/>
                  </a:lnTo>
                  <a:lnTo>
                    <a:pt x="1233439" y="710430"/>
                  </a:lnTo>
                  <a:lnTo>
                    <a:pt x="1187771" y="710430"/>
                  </a:lnTo>
                  <a:lnTo>
                    <a:pt x="1142102" y="710430"/>
                  </a:lnTo>
                  <a:close/>
                  <a:moveTo>
                    <a:pt x="593949" y="0"/>
                  </a:moveTo>
                  <a:lnTo>
                    <a:pt x="639618" y="0"/>
                  </a:lnTo>
                  <a:lnTo>
                    <a:pt x="685287" y="0"/>
                  </a:lnTo>
                  <a:lnTo>
                    <a:pt x="730955" y="0"/>
                  </a:lnTo>
                  <a:lnTo>
                    <a:pt x="730956" y="0"/>
                  </a:lnTo>
                  <a:lnTo>
                    <a:pt x="776624" y="0"/>
                  </a:lnTo>
                  <a:lnTo>
                    <a:pt x="822293" y="0"/>
                  </a:lnTo>
                  <a:lnTo>
                    <a:pt x="867962" y="0"/>
                  </a:lnTo>
                  <a:lnTo>
                    <a:pt x="913630" y="0"/>
                  </a:lnTo>
                  <a:lnTo>
                    <a:pt x="913631" y="0"/>
                  </a:lnTo>
                  <a:lnTo>
                    <a:pt x="959299" y="0"/>
                  </a:lnTo>
                  <a:lnTo>
                    <a:pt x="1004968" y="0"/>
                  </a:lnTo>
                  <a:lnTo>
                    <a:pt x="1050636" y="0"/>
                  </a:lnTo>
                  <a:lnTo>
                    <a:pt x="1050637" y="0"/>
                  </a:lnTo>
                  <a:lnTo>
                    <a:pt x="1096305" y="0"/>
                  </a:lnTo>
                  <a:lnTo>
                    <a:pt x="1141974" y="0"/>
                  </a:lnTo>
                  <a:lnTo>
                    <a:pt x="1141974" y="710430"/>
                  </a:lnTo>
                  <a:lnTo>
                    <a:pt x="1096305" y="710430"/>
                  </a:lnTo>
                  <a:lnTo>
                    <a:pt x="1050637" y="710430"/>
                  </a:lnTo>
                  <a:lnTo>
                    <a:pt x="1050636" y="710430"/>
                  </a:lnTo>
                  <a:lnTo>
                    <a:pt x="1004968" y="710430"/>
                  </a:lnTo>
                  <a:lnTo>
                    <a:pt x="959299" y="710430"/>
                  </a:lnTo>
                  <a:lnTo>
                    <a:pt x="913631" y="710430"/>
                  </a:lnTo>
                  <a:lnTo>
                    <a:pt x="913630" y="710430"/>
                  </a:lnTo>
                  <a:lnTo>
                    <a:pt x="867962" y="710430"/>
                  </a:lnTo>
                  <a:lnTo>
                    <a:pt x="822293" y="710430"/>
                  </a:lnTo>
                  <a:lnTo>
                    <a:pt x="776624" y="710430"/>
                  </a:lnTo>
                  <a:lnTo>
                    <a:pt x="730956" y="710430"/>
                  </a:lnTo>
                  <a:lnTo>
                    <a:pt x="730955" y="710430"/>
                  </a:lnTo>
                  <a:lnTo>
                    <a:pt x="685287" y="710430"/>
                  </a:lnTo>
                  <a:lnTo>
                    <a:pt x="639618" y="710430"/>
                  </a:lnTo>
                  <a:lnTo>
                    <a:pt x="593949" y="710430"/>
                  </a:lnTo>
                  <a:close/>
                  <a:moveTo>
                    <a:pt x="91465" y="0"/>
                  </a:moveTo>
                  <a:lnTo>
                    <a:pt x="137134" y="0"/>
                  </a:lnTo>
                  <a:lnTo>
                    <a:pt x="182803" y="0"/>
                  </a:lnTo>
                  <a:lnTo>
                    <a:pt x="228471" y="0"/>
                  </a:lnTo>
                  <a:lnTo>
                    <a:pt x="228472" y="0"/>
                  </a:lnTo>
                  <a:lnTo>
                    <a:pt x="274140" y="0"/>
                  </a:lnTo>
                  <a:lnTo>
                    <a:pt x="319809" y="0"/>
                  </a:lnTo>
                  <a:lnTo>
                    <a:pt x="365478" y="0"/>
                  </a:lnTo>
                  <a:lnTo>
                    <a:pt x="411146" y="0"/>
                  </a:lnTo>
                  <a:lnTo>
                    <a:pt x="411147" y="0"/>
                  </a:lnTo>
                  <a:lnTo>
                    <a:pt x="456815" y="0"/>
                  </a:lnTo>
                  <a:lnTo>
                    <a:pt x="502484" y="0"/>
                  </a:lnTo>
                  <a:lnTo>
                    <a:pt x="548152" y="0"/>
                  </a:lnTo>
                  <a:lnTo>
                    <a:pt x="548153" y="0"/>
                  </a:lnTo>
                  <a:lnTo>
                    <a:pt x="593821" y="0"/>
                  </a:lnTo>
                  <a:lnTo>
                    <a:pt x="593821" y="710430"/>
                  </a:lnTo>
                  <a:lnTo>
                    <a:pt x="548153" y="710430"/>
                  </a:lnTo>
                  <a:lnTo>
                    <a:pt x="548152" y="710430"/>
                  </a:lnTo>
                  <a:lnTo>
                    <a:pt x="502484" y="710430"/>
                  </a:lnTo>
                  <a:lnTo>
                    <a:pt x="456815" y="710430"/>
                  </a:lnTo>
                  <a:lnTo>
                    <a:pt x="411147" y="710430"/>
                  </a:lnTo>
                  <a:lnTo>
                    <a:pt x="411146" y="710430"/>
                  </a:lnTo>
                  <a:lnTo>
                    <a:pt x="365478" y="710430"/>
                  </a:lnTo>
                  <a:lnTo>
                    <a:pt x="319809" y="710430"/>
                  </a:lnTo>
                  <a:lnTo>
                    <a:pt x="274140" y="710430"/>
                  </a:lnTo>
                  <a:lnTo>
                    <a:pt x="228472" y="710430"/>
                  </a:lnTo>
                  <a:lnTo>
                    <a:pt x="228471" y="710430"/>
                  </a:lnTo>
                  <a:lnTo>
                    <a:pt x="182803" y="710430"/>
                  </a:lnTo>
                  <a:lnTo>
                    <a:pt x="137134" y="710430"/>
                  </a:lnTo>
                  <a:lnTo>
                    <a:pt x="91465" y="710430"/>
                  </a:lnTo>
                  <a:close/>
                  <a:moveTo>
                    <a:pt x="0" y="0"/>
                  </a:moveTo>
                  <a:lnTo>
                    <a:pt x="45668" y="0"/>
                  </a:lnTo>
                  <a:lnTo>
                    <a:pt x="45669" y="0"/>
                  </a:lnTo>
                  <a:lnTo>
                    <a:pt x="91337" y="0"/>
                  </a:lnTo>
                  <a:lnTo>
                    <a:pt x="91337" y="710430"/>
                  </a:lnTo>
                  <a:lnTo>
                    <a:pt x="45669" y="710430"/>
                  </a:lnTo>
                  <a:lnTo>
                    <a:pt x="45668" y="710430"/>
                  </a:lnTo>
                  <a:lnTo>
                    <a:pt x="0" y="710430"/>
                  </a:lnTo>
                  <a:close/>
                </a:path>
              </a:pathLst>
            </a:custGeom>
            <a:solidFill>
              <a:schemeClr val="accent2"/>
            </a:solidFill>
            <a:ln>
              <a:noFill/>
            </a:ln>
          </p:spPr>
          <p:txBody>
            <a:bodyPr spcFirstLastPara="1" wrap="square" lIns="82191" tIns="41078" rIns="82191"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1999" name="Google Shape;1999;p121">
              <a:extLst>
                <a:ext uri="{FF2B5EF4-FFF2-40B4-BE49-F238E27FC236}">
                  <a16:creationId xmlns:a16="http://schemas.microsoft.com/office/drawing/2014/main" id="{4A07990F-D9D9-8ED0-B745-9AC2704CDEE9}"/>
                </a:ext>
              </a:extLst>
            </p:cNvPr>
            <p:cNvSpPr/>
            <p:nvPr/>
          </p:nvSpPr>
          <p:spPr>
            <a:xfrm>
              <a:off x="4872920" y="5017638"/>
              <a:ext cx="2589010" cy="1017416"/>
            </a:xfrm>
            <a:custGeom>
              <a:avLst/>
              <a:gdLst/>
              <a:ahLst/>
              <a:cxnLst/>
              <a:rect l="l" t="t" r="r" b="b"/>
              <a:pathLst>
                <a:path w="1942972" h="763539" extrusionOk="0">
                  <a:moveTo>
                    <a:pt x="0" y="705812"/>
                  </a:moveTo>
                  <a:lnTo>
                    <a:pt x="1942972" y="705812"/>
                  </a:lnTo>
                  <a:lnTo>
                    <a:pt x="1942972" y="763539"/>
                  </a:lnTo>
                  <a:lnTo>
                    <a:pt x="0" y="763539"/>
                  </a:lnTo>
                  <a:close/>
                  <a:moveTo>
                    <a:pt x="0" y="564573"/>
                  </a:moveTo>
                  <a:lnTo>
                    <a:pt x="1942972" y="564573"/>
                  </a:lnTo>
                  <a:lnTo>
                    <a:pt x="1942972" y="622300"/>
                  </a:lnTo>
                  <a:lnTo>
                    <a:pt x="0" y="622300"/>
                  </a:lnTo>
                  <a:close/>
                  <a:moveTo>
                    <a:pt x="0" y="423333"/>
                  </a:moveTo>
                  <a:lnTo>
                    <a:pt x="1942972" y="423333"/>
                  </a:lnTo>
                  <a:lnTo>
                    <a:pt x="1942972" y="481060"/>
                  </a:lnTo>
                  <a:lnTo>
                    <a:pt x="0" y="481060"/>
                  </a:lnTo>
                  <a:close/>
                  <a:moveTo>
                    <a:pt x="0" y="282094"/>
                  </a:moveTo>
                  <a:lnTo>
                    <a:pt x="1942972" y="282094"/>
                  </a:lnTo>
                  <a:lnTo>
                    <a:pt x="1942972" y="339821"/>
                  </a:lnTo>
                  <a:lnTo>
                    <a:pt x="0" y="339821"/>
                  </a:lnTo>
                  <a:close/>
                  <a:moveTo>
                    <a:pt x="0" y="141239"/>
                  </a:moveTo>
                  <a:lnTo>
                    <a:pt x="1942972" y="141239"/>
                  </a:lnTo>
                  <a:lnTo>
                    <a:pt x="1942972" y="198966"/>
                  </a:lnTo>
                  <a:lnTo>
                    <a:pt x="0" y="198966"/>
                  </a:lnTo>
                  <a:close/>
                  <a:moveTo>
                    <a:pt x="0" y="0"/>
                  </a:moveTo>
                  <a:lnTo>
                    <a:pt x="1942972" y="0"/>
                  </a:lnTo>
                  <a:lnTo>
                    <a:pt x="1942972" y="57727"/>
                  </a:lnTo>
                  <a:lnTo>
                    <a:pt x="0" y="57727"/>
                  </a:lnTo>
                  <a:close/>
                </a:path>
              </a:pathLst>
            </a:custGeom>
            <a:solidFill>
              <a:schemeClr val="accent3"/>
            </a:solidFill>
            <a:ln>
              <a:noFill/>
            </a:ln>
          </p:spPr>
          <p:txBody>
            <a:bodyPr spcFirstLastPara="1" wrap="square" lIns="82191" tIns="41078" rIns="82191"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000" name="Google Shape;2000;p121">
              <a:extLst>
                <a:ext uri="{FF2B5EF4-FFF2-40B4-BE49-F238E27FC236}">
                  <a16:creationId xmlns:a16="http://schemas.microsoft.com/office/drawing/2014/main" id="{7ECD6401-790E-23C2-27CE-A445CE3F3DE8}"/>
                </a:ext>
              </a:extLst>
            </p:cNvPr>
            <p:cNvSpPr/>
            <p:nvPr/>
          </p:nvSpPr>
          <p:spPr>
            <a:xfrm>
              <a:off x="4795269" y="6126310"/>
              <a:ext cx="2734991" cy="119656"/>
            </a:xfrm>
            <a:custGeom>
              <a:avLst/>
              <a:gdLst/>
              <a:ahLst/>
              <a:cxnLst/>
              <a:rect l="l" t="t" r="r" b="b"/>
              <a:pathLst>
                <a:path w="2052526" h="89798" extrusionOk="0">
                  <a:moveTo>
                    <a:pt x="0" y="0"/>
                  </a:moveTo>
                  <a:lnTo>
                    <a:pt x="2052526" y="0"/>
                  </a:lnTo>
                  <a:lnTo>
                    <a:pt x="2052526" y="89798"/>
                  </a:lnTo>
                  <a:lnTo>
                    <a:pt x="0" y="89798"/>
                  </a:lnTo>
                  <a:close/>
                </a:path>
              </a:pathLst>
            </a:custGeom>
            <a:solidFill>
              <a:srgbClr val="002D45"/>
            </a:solidFill>
            <a:ln>
              <a:noFill/>
            </a:ln>
          </p:spPr>
          <p:txBody>
            <a:bodyPr spcFirstLastPara="1" wrap="square" lIns="82158" tIns="41078" rIns="82158"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001" name="Google Shape;2001;p121">
              <a:extLst>
                <a:ext uri="{FF2B5EF4-FFF2-40B4-BE49-F238E27FC236}">
                  <a16:creationId xmlns:a16="http://schemas.microsoft.com/office/drawing/2014/main" id="{AC037BAC-F3A2-FFF8-E811-603FEF172DD4}"/>
                </a:ext>
              </a:extLst>
            </p:cNvPr>
            <p:cNvSpPr/>
            <p:nvPr/>
          </p:nvSpPr>
          <p:spPr>
            <a:xfrm>
              <a:off x="5766675" y="4689589"/>
              <a:ext cx="803573" cy="1436382"/>
            </a:xfrm>
            <a:custGeom>
              <a:avLst/>
              <a:gdLst/>
              <a:ahLst/>
              <a:cxnLst/>
              <a:rect l="l" t="t" r="r" b="b"/>
              <a:pathLst>
                <a:path w="603057" h="1077960" extrusionOk="0">
                  <a:moveTo>
                    <a:pt x="0" y="0"/>
                  </a:moveTo>
                  <a:lnTo>
                    <a:pt x="603058" y="0"/>
                  </a:lnTo>
                  <a:lnTo>
                    <a:pt x="603058" y="1077961"/>
                  </a:lnTo>
                  <a:lnTo>
                    <a:pt x="0" y="1077961"/>
                  </a:lnTo>
                  <a:close/>
                </a:path>
              </a:pathLst>
            </a:custGeom>
            <a:solidFill>
              <a:schemeClr val="accent2"/>
            </a:solidFill>
            <a:ln>
              <a:noFill/>
            </a:ln>
          </p:spPr>
          <p:txBody>
            <a:bodyPr spcFirstLastPara="1" wrap="square" lIns="82158" tIns="41078" rIns="82158"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002" name="Google Shape;2002;p121">
              <a:extLst>
                <a:ext uri="{FF2B5EF4-FFF2-40B4-BE49-F238E27FC236}">
                  <a16:creationId xmlns:a16="http://schemas.microsoft.com/office/drawing/2014/main" id="{20E68F25-616D-7CAB-BF07-29D82EAB9183}"/>
                </a:ext>
              </a:extLst>
            </p:cNvPr>
            <p:cNvSpPr/>
            <p:nvPr/>
          </p:nvSpPr>
          <p:spPr>
            <a:xfrm>
              <a:off x="5766672" y="5016440"/>
              <a:ext cx="803575" cy="829215"/>
            </a:xfrm>
            <a:custGeom>
              <a:avLst/>
              <a:gdLst/>
              <a:ahLst/>
              <a:cxnLst/>
              <a:rect l="l" t="t" r="r" b="b"/>
              <a:pathLst>
                <a:path w="603058" h="622300" extrusionOk="0">
                  <a:moveTo>
                    <a:pt x="0" y="564573"/>
                  </a:moveTo>
                  <a:lnTo>
                    <a:pt x="603058" y="564573"/>
                  </a:lnTo>
                  <a:lnTo>
                    <a:pt x="603058" y="622300"/>
                  </a:lnTo>
                  <a:lnTo>
                    <a:pt x="0" y="622300"/>
                  </a:lnTo>
                  <a:close/>
                  <a:moveTo>
                    <a:pt x="0" y="423333"/>
                  </a:moveTo>
                  <a:lnTo>
                    <a:pt x="603058" y="423333"/>
                  </a:lnTo>
                  <a:lnTo>
                    <a:pt x="603058" y="481060"/>
                  </a:lnTo>
                  <a:lnTo>
                    <a:pt x="0" y="481060"/>
                  </a:lnTo>
                  <a:close/>
                  <a:moveTo>
                    <a:pt x="0" y="282094"/>
                  </a:moveTo>
                  <a:lnTo>
                    <a:pt x="603058" y="282094"/>
                  </a:lnTo>
                  <a:lnTo>
                    <a:pt x="603058" y="339821"/>
                  </a:lnTo>
                  <a:lnTo>
                    <a:pt x="0" y="339821"/>
                  </a:lnTo>
                  <a:close/>
                  <a:moveTo>
                    <a:pt x="0" y="141239"/>
                  </a:moveTo>
                  <a:lnTo>
                    <a:pt x="603058" y="141239"/>
                  </a:lnTo>
                  <a:lnTo>
                    <a:pt x="603058" y="198966"/>
                  </a:lnTo>
                  <a:lnTo>
                    <a:pt x="0" y="198966"/>
                  </a:lnTo>
                  <a:close/>
                  <a:moveTo>
                    <a:pt x="0" y="0"/>
                  </a:moveTo>
                  <a:lnTo>
                    <a:pt x="603058" y="0"/>
                  </a:lnTo>
                  <a:lnTo>
                    <a:pt x="603058" y="57727"/>
                  </a:lnTo>
                  <a:lnTo>
                    <a:pt x="0" y="57727"/>
                  </a:lnTo>
                  <a:close/>
                </a:path>
              </a:pathLst>
            </a:custGeom>
            <a:gradFill>
              <a:gsLst>
                <a:gs pos="0">
                  <a:schemeClr val="accent3"/>
                </a:gs>
                <a:gs pos="100000">
                  <a:srgbClr val="43D3FF"/>
                </a:gs>
              </a:gsLst>
              <a:lin ang="18900044" scaled="0"/>
            </a:gradFill>
            <a:ln>
              <a:noFill/>
            </a:ln>
          </p:spPr>
          <p:txBody>
            <a:bodyPr spcFirstLastPara="1" wrap="square" lIns="82191" tIns="41078" rIns="82191"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2003" name="Google Shape;2003;p121">
              <a:extLst>
                <a:ext uri="{FF2B5EF4-FFF2-40B4-BE49-F238E27FC236}">
                  <a16:creationId xmlns:a16="http://schemas.microsoft.com/office/drawing/2014/main" id="{8DEF32C0-8E37-9B0D-DC9D-3440BD7B3B3F}"/>
                </a:ext>
              </a:extLst>
            </p:cNvPr>
            <p:cNvSpPr/>
            <p:nvPr/>
          </p:nvSpPr>
          <p:spPr>
            <a:xfrm>
              <a:off x="5938400" y="5660644"/>
              <a:ext cx="460500" cy="465600"/>
            </a:xfrm>
            <a:prstGeom prst="rect">
              <a:avLst/>
            </a:prstGeom>
            <a:solidFill>
              <a:srgbClr val="002D45"/>
            </a:solidFill>
            <a:ln>
              <a:noFill/>
            </a:ln>
          </p:spPr>
          <p:txBody>
            <a:bodyPr spcFirstLastPara="1" wrap="square" lIns="82158" tIns="41078" rIns="82158" bIns="4107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732" b="0" i="0" u="none" strike="noStrike" kern="1200" cap="none" spc="0" normalizeH="0" baseline="0" noProof="0">
                <a:ln>
                  <a:noFill/>
                </a:ln>
                <a:solidFill>
                  <a:srgbClr val="717074"/>
                </a:solidFill>
                <a:effectLst/>
                <a:uLnTx/>
                <a:uFillTx/>
                <a:latin typeface="Arial"/>
                <a:ea typeface="Arial"/>
                <a:cs typeface="Arial"/>
                <a:sym typeface="Arial"/>
              </a:endParaRPr>
            </a:p>
          </p:txBody>
        </p:sp>
      </p:grpSp>
      <p:sp>
        <p:nvSpPr>
          <p:cNvPr id="2007" name="Google Shape;2007;p121">
            <a:extLst>
              <a:ext uri="{FF2B5EF4-FFF2-40B4-BE49-F238E27FC236}">
                <a16:creationId xmlns:a16="http://schemas.microsoft.com/office/drawing/2014/main" id="{C2D75E34-2538-7DB4-F6FD-65867AD72724}"/>
              </a:ext>
            </a:extLst>
          </p:cNvPr>
          <p:cNvSpPr/>
          <p:nvPr/>
        </p:nvSpPr>
        <p:spPr>
          <a:xfrm flipH="1">
            <a:off x="6491034" y="6068894"/>
            <a:ext cx="2544674" cy="430576"/>
          </a:xfrm>
          <a:prstGeom prst="roundRect">
            <a:avLst>
              <a:gd name="adj" fmla="val 50000"/>
            </a:avLst>
          </a:prstGeom>
          <a:gradFill>
            <a:gsLst>
              <a:gs pos="0">
                <a:schemeClr val="accent2"/>
              </a:gs>
              <a:gs pos="73000">
                <a:srgbClr val="00A7DD"/>
              </a:gs>
              <a:gs pos="100000">
                <a:srgbClr val="00A7DD"/>
              </a:gs>
            </a:gsLst>
            <a:lin ang="18900044" scaled="0"/>
          </a:gradFill>
          <a:ln>
            <a:noFill/>
          </a:ln>
        </p:spPr>
        <p:txBody>
          <a:bodyPr spcFirstLastPara="1" wrap="square" lIns="91219" tIns="45609" rIns="91219" bIns="45609"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FFFFFF"/>
                </a:solidFill>
                <a:effectLst/>
                <a:uLnTx/>
                <a:uFillTx/>
                <a:latin typeface="Arial"/>
                <a:ea typeface="Arial"/>
                <a:cs typeface="Arial"/>
                <a:sym typeface="Arial"/>
              </a:rPr>
              <a:t>Key Benefits</a:t>
            </a:r>
            <a:endParaRPr kumimoji="0" sz="1799" b="0"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2" name="Group 1">
            <a:extLst>
              <a:ext uri="{FF2B5EF4-FFF2-40B4-BE49-F238E27FC236}">
                <a16:creationId xmlns:a16="http://schemas.microsoft.com/office/drawing/2014/main" id="{D705CB19-4C65-B3E4-0710-7D87A6454B72}"/>
              </a:ext>
            </a:extLst>
          </p:cNvPr>
          <p:cNvGrpSpPr/>
          <p:nvPr/>
        </p:nvGrpSpPr>
        <p:grpSpPr>
          <a:xfrm>
            <a:off x="8850553" y="4141296"/>
            <a:ext cx="3112378" cy="1905321"/>
            <a:chOff x="8713158" y="4402281"/>
            <a:chExt cx="3113189" cy="1905817"/>
          </a:xfrm>
        </p:grpSpPr>
        <p:sp>
          <p:nvSpPr>
            <p:cNvPr id="2006" name="Google Shape;2006;p121">
              <a:extLst>
                <a:ext uri="{FF2B5EF4-FFF2-40B4-BE49-F238E27FC236}">
                  <a16:creationId xmlns:a16="http://schemas.microsoft.com/office/drawing/2014/main" id="{72955775-296E-B6D4-DFA0-359E4455D31B}"/>
                </a:ext>
              </a:extLst>
            </p:cNvPr>
            <p:cNvSpPr txBox="1"/>
            <p:nvPr/>
          </p:nvSpPr>
          <p:spPr>
            <a:xfrm>
              <a:off x="8713158" y="4402281"/>
              <a:ext cx="3113189" cy="1492011"/>
            </a:xfrm>
            <a:prstGeom prst="rect">
              <a:avLst/>
            </a:prstGeom>
            <a:noFill/>
            <a:ln>
              <a:noFill/>
            </a:ln>
          </p:spPr>
          <p:txBody>
            <a:bodyPr spcFirstLastPara="1" wrap="square" lIns="91352" tIns="45643" rIns="91352" bIns="4564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6C4B94"/>
                  </a:solidFill>
                  <a:effectLst/>
                  <a:uLnTx/>
                  <a:uFillTx/>
                  <a:latin typeface="Arial" panose="020B0604020202020204"/>
                  <a:ea typeface="+mn-ea"/>
                  <a:cs typeface="+mn-cs"/>
                </a:rPr>
                <a:t>Policy-based</a:t>
              </a:r>
              <a:br>
                <a:rPr kumimoji="0" lang="en-US" sz="1600" b="0" i="0" u="none" strike="noStrike" kern="1200" cap="none" spc="0" normalizeH="0" baseline="0" noProof="0" dirty="0">
                  <a:ln>
                    <a:noFill/>
                  </a:ln>
                  <a:solidFill>
                    <a:srgbClr val="6C4B94"/>
                  </a:solidFill>
                  <a:effectLst/>
                  <a:uLnTx/>
                  <a:uFillTx/>
                  <a:latin typeface="Arial" panose="020B0604020202020204"/>
                  <a:ea typeface="+mn-ea"/>
                  <a:cs typeface="+mn-cs"/>
                </a:rPr>
              </a:br>
              <a:r>
                <a:rPr kumimoji="0" lang="en-US" sz="1600" b="0" i="0" u="none" strike="noStrike" kern="1200" cap="none" spc="0" normalizeH="0" baseline="0" noProof="0" dirty="0">
                  <a:ln>
                    <a:noFill/>
                  </a:ln>
                  <a:solidFill>
                    <a:srgbClr val="6C4B94"/>
                  </a:solidFill>
                  <a:effectLst/>
                  <a:uLnTx/>
                  <a:uFillTx/>
                  <a:latin typeface="Arial" panose="020B0604020202020204"/>
                  <a:ea typeface="+mn-ea"/>
                  <a:cs typeface="+mn-cs"/>
                </a:rPr>
                <a:t>Governance</a:t>
              </a:r>
              <a:endParaRPr kumimoji="0" sz="1600" b="0" i="0" u="none" strike="noStrike" kern="1200" cap="none" spc="0" normalizeH="0" baseline="0" noProof="0" dirty="0">
                <a:ln>
                  <a:noFill/>
                </a:ln>
                <a:solidFill>
                  <a:srgbClr val="6C4B94"/>
                </a:solidFill>
                <a:effectLst/>
                <a:uLnTx/>
                <a:uFillTx/>
                <a:latin typeface="Arial" panose="020B0604020202020204"/>
                <a:ea typeface="+mn-ea"/>
                <a:cs typeface="+mn-cs"/>
              </a:endParaRPr>
            </a:p>
            <a:p>
              <a:pPr marL="0" marR="0" lvl="1" indent="84621" algn="ctr" defTabSz="914400" rtl="0" eaLnBrk="1" fontAlgn="auto" latinLnBrk="0" hangingPunct="1">
                <a:lnSpc>
                  <a:spcPct val="100000"/>
                </a:lnSpc>
                <a:spcBef>
                  <a:spcPts val="0"/>
                </a:spcBef>
                <a:spcAft>
                  <a:spcPts val="0"/>
                </a:spcAft>
                <a:buClr>
                  <a:srgbClr val="6C4B94"/>
                </a:buClr>
                <a:buSzPts val="1000"/>
                <a:buFontTx/>
                <a:buNone/>
                <a:tabLst/>
                <a:defRPr/>
              </a:pPr>
              <a:endParaRPr kumimoji="0" sz="1732" b="0" i="0" u="none" strike="noStrike" kern="1200" cap="none" spc="0" normalizeH="0" baseline="0" noProof="0" dirty="0">
                <a:ln>
                  <a:noFill/>
                </a:ln>
                <a:solidFill>
                  <a:srgbClr val="6C4B94"/>
                </a:solidFill>
                <a:effectLst/>
                <a:uLnTx/>
                <a:uFillTx/>
                <a:latin typeface="Arial" panose="020B0604020202020204"/>
                <a:ea typeface="+mn-ea"/>
                <a:cs typeface="+mn-cs"/>
              </a:endParaRPr>
            </a:p>
          </p:txBody>
        </p:sp>
        <p:pic>
          <p:nvPicPr>
            <p:cNvPr id="4" name="Google Shape;2016;p122">
              <a:extLst>
                <a:ext uri="{FF2B5EF4-FFF2-40B4-BE49-F238E27FC236}">
                  <a16:creationId xmlns:a16="http://schemas.microsoft.com/office/drawing/2014/main" id="{4A030D11-EE4C-28B4-B7AA-00D43587265C}"/>
                </a:ext>
              </a:extLst>
            </p:cNvPr>
            <p:cNvPicPr preferRelativeResize="0"/>
            <p:nvPr/>
          </p:nvPicPr>
          <p:blipFill rotWithShape="1">
            <a:blip r:embed="rId7">
              <a:alphaModFix/>
            </a:blip>
            <a:srcRect/>
            <a:stretch/>
          </p:blipFill>
          <p:spPr>
            <a:xfrm>
              <a:off x="9379251" y="5013417"/>
              <a:ext cx="1781003" cy="1294681"/>
            </a:xfrm>
            <a:prstGeom prst="rect">
              <a:avLst/>
            </a:prstGeom>
            <a:noFill/>
            <a:ln>
              <a:noFill/>
            </a:ln>
          </p:spPr>
        </p:pic>
      </p:grpSp>
      <p:grpSp>
        <p:nvGrpSpPr>
          <p:cNvPr id="3" name="Group 2">
            <a:extLst>
              <a:ext uri="{FF2B5EF4-FFF2-40B4-BE49-F238E27FC236}">
                <a16:creationId xmlns:a16="http://schemas.microsoft.com/office/drawing/2014/main" id="{1E858A61-B3A6-9511-4146-586F1194B66E}"/>
              </a:ext>
            </a:extLst>
          </p:cNvPr>
          <p:cNvGrpSpPr/>
          <p:nvPr/>
        </p:nvGrpSpPr>
        <p:grpSpPr>
          <a:xfrm>
            <a:off x="6087627" y="4124911"/>
            <a:ext cx="3253904" cy="1938089"/>
            <a:chOff x="5972390" y="4401839"/>
            <a:chExt cx="3254752" cy="1938594"/>
          </a:xfrm>
        </p:grpSpPr>
        <p:sp>
          <p:nvSpPr>
            <p:cNvPr id="2005" name="Google Shape;2005;p121">
              <a:extLst>
                <a:ext uri="{FF2B5EF4-FFF2-40B4-BE49-F238E27FC236}">
                  <a16:creationId xmlns:a16="http://schemas.microsoft.com/office/drawing/2014/main" id="{BBAD8E9C-1519-2E8C-6267-F1513898D346}"/>
                </a:ext>
              </a:extLst>
            </p:cNvPr>
            <p:cNvSpPr txBox="1"/>
            <p:nvPr/>
          </p:nvSpPr>
          <p:spPr>
            <a:xfrm>
              <a:off x="5972390" y="4401839"/>
              <a:ext cx="3254752" cy="1256873"/>
            </a:xfrm>
            <a:prstGeom prst="rect">
              <a:avLst/>
            </a:prstGeom>
            <a:noFill/>
            <a:ln>
              <a:noFill/>
            </a:ln>
          </p:spPr>
          <p:txBody>
            <a:bodyPr spcFirstLastPara="1" wrap="square" lIns="91352" tIns="45643" rIns="91352" bIns="4564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600" b="0" i="0" u="none" strike="noStrike" kern="1200" cap="none" spc="0" normalizeH="0" baseline="0" noProof="0" dirty="0">
                  <a:ln>
                    <a:noFill/>
                  </a:ln>
                  <a:solidFill>
                    <a:srgbClr val="61A60E"/>
                  </a:solidFill>
                  <a:effectLst/>
                  <a:uLnTx/>
                  <a:uFillTx/>
                  <a:latin typeface="Arial" panose="020B0604020202020204"/>
                  <a:ea typeface="+mn-ea"/>
                  <a:cs typeface="+mn-cs"/>
                </a:rPr>
                <a:t>Database Lifecycle </a:t>
              </a:r>
              <a:br>
                <a:rPr kumimoji="0" lang="en" sz="1600" b="0" i="0" u="none" strike="noStrike" kern="1200" cap="none" spc="0" normalizeH="0" baseline="0" noProof="0" dirty="0">
                  <a:ln>
                    <a:noFill/>
                  </a:ln>
                  <a:solidFill>
                    <a:srgbClr val="61A60E"/>
                  </a:solidFill>
                  <a:effectLst/>
                  <a:uLnTx/>
                  <a:uFillTx/>
                  <a:latin typeface="Arial" panose="020B0604020202020204"/>
                  <a:ea typeface="+mn-ea"/>
                  <a:cs typeface="+mn-cs"/>
                </a:rPr>
              </a:br>
              <a:r>
                <a:rPr kumimoji="0" lang="en" sz="1600" b="0" i="0" u="none" strike="noStrike" kern="1200" cap="none" spc="0" normalizeH="0" baseline="0" noProof="0" dirty="0">
                  <a:ln>
                    <a:noFill/>
                  </a:ln>
                  <a:solidFill>
                    <a:srgbClr val="61A60E"/>
                  </a:solidFill>
                  <a:effectLst/>
                  <a:uLnTx/>
                  <a:uFillTx/>
                  <a:latin typeface="Arial" panose="020B0604020202020204"/>
                  <a:ea typeface="+mn-ea"/>
                  <a:cs typeface="+mn-cs"/>
                </a:rPr>
                <a:t>Management at Scale</a:t>
              </a:r>
              <a:endParaRPr kumimoji="0" sz="1333" b="0" i="0" u="none" strike="noStrike" kern="1200" cap="none" spc="0" normalizeH="0" baseline="0" noProof="0" dirty="0">
                <a:ln>
                  <a:noFill/>
                </a:ln>
                <a:solidFill>
                  <a:srgbClr val="61A60E"/>
                </a:solidFill>
                <a:effectLst/>
                <a:uLnTx/>
                <a:uFillTx/>
                <a:latin typeface="Arial" panose="020B0604020202020204"/>
                <a:ea typeface="+mn-ea"/>
                <a:cs typeface="+mn-cs"/>
              </a:endParaRPr>
            </a:p>
          </p:txBody>
        </p:sp>
        <p:pic>
          <p:nvPicPr>
            <p:cNvPr id="5" name="Google Shape;2017;p122">
              <a:extLst>
                <a:ext uri="{FF2B5EF4-FFF2-40B4-BE49-F238E27FC236}">
                  <a16:creationId xmlns:a16="http://schemas.microsoft.com/office/drawing/2014/main" id="{DDD7F274-C4A9-F238-8DAF-48AD4EA44771}"/>
                </a:ext>
              </a:extLst>
            </p:cNvPr>
            <p:cNvPicPr preferRelativeResize="0"/>
            <p:nvPr/>
          </p:nvPicPr>
          <p:blipFill rotWithShape="1">
            <a:blip r:embed="rId8">
              <a:alphaModFix/>
            </a:blip>
            <a:srcRect/>
            <a:stretch/>
          </p:blipFill>
          <p:spPr>
            <a:xfrm>
              <a:off x="6709715" y="5046407"/>
              <a:ext cx="1780103" cy="1294026"/>
            </a:xfrm>
            <a:prstGeom prst="rect">
              <a:avLst/>
            </a:prstGeom>
            <a:noFill/>
            <a:ln>
              <a:noFill/>
            </a:ln>
          </p:spPr>
        </p:pic>
      </p:grpSp>
      <p:grpSp>
        <p:nvGrpSpPr>
          <p:cNvPr id="7" name="Group 6">
            <a:extLst>
              <a:ext uri="{FF2B5EF4-FFF2-40B4-BE49-F238E27FC236}">
                <a16:creationId xmlns:a16="http://schemas.microsoft.com/office/drawing/2014/main" id="{154C452A-52CC-1618-D31A-FD1D2E82BD46}"/>
              </a:ext>
            </a:extLst>
          </p:cNvPr>
          <p:cNvGrpSpPr/>
          <p:nvPr/>
        </p:nvGrpSpPr>
        <p:grpSpPr>
          <a:xfrm>
            <a:off x="3670922" y="4086862"/>
            <a:ext cx="2907685" cy="2014188"/>
            <a:chOff x="3532179" y="4391833"/>
            <a:chExt cx="2908442" cy="2014713"/>
          </a:xfrm>
        </p:grpSpPr>
        <p:sp>
          <p:nvSpPr>
            <p:cNvPr id="2004" name="Google Shape;2004;p121">
              <a:extLst>
                <a:ext uri="{FF2B5EF4-FFF2-40B4-BE49-F238E27FC236}">
                  <a16:creationId xmlns:a16="http://schemas.microsoft.com/office/drawing/2014/main" id="{53BD1F3A-A0DC-71C5-055C-281E655A53DD}"/>
                </a:ext>
              </a:extLst>
            </p:cNvPr>
            <p:cNvSpPr txBox="1"/>
            <p:nvPr/>
          </p:nvSpPr>
          <p:spPr>
            <a:xfrm>
              <a:off x="3532179" y="4391833"/>
              <a:ext cx="2908442" cy="874172"/>
            </a:xfrm>
            <a:prstGeom prst="rect">
              <a:avLst/>
            </a:prstGeom>
            <a:noFill/>
            <a:ln>
              <a:noFill/>
            </a:ln>
          </p:spPr>
          <p:txBody>
            <a:bodyPr spcFirstLastPara="1" wrap="square" lIns="91352" tIns="45643" rIns="91352" bIns="45643" anchor="t" anchorCtr="0">
              <a:noAutofit/>
            </a:bodyPr>
            <a:lstStyle/>
            <a:p>
              <a:pPr marL="135392" marR="0" lvl="0" indent="0" algn="ctr" defTabSz="914400" rtl="0" eaLnBrk="1" fontAlgn="auto" latinLnBrk="0" hangingPunct="1">
                <a:lnSpc>
                  <a:spcPct val="100000"/>
                </a:lnSpc>
                <a:spcBef>
                  <a:spcPts val="0"/>
                </a:spcBef>
                <a:spcAft>
                  <a:spcPts val="0"/>
                </a:spcAft>
                <a:buClrTx/>
                <a:buSzTx/>
                <a:buFontTx/>
                <a:buNone/>
                <a:tabLst/>
                <a:defRPr/>
              </a:pPr>
              <a:r>
                <a:rPr kumimoji="0" lang="en" sz="1600" b="0" i="0" u="none" strike="noStrike" kern="1200" cap="none" spc="0" normalizeH="0" baseline="0" noProof="0" dirty="0">
                  <a:ln>
                    <a:noFill/>
                  </a:ln>
                  <a:solidFill>
                    <a:srgbClr val="005C8A"/>
                  </a:solidFill>
                  <a:effectLst/>
                  <a:uLnTx/>
                  <a:uFillTx/>
                  <a:latin typeface="Arial" panose="020B0604020202020204"/>
                  <a:ea typeface="+mn-ea"/>
                  <a:cs typeface="+mn-cs"/>
                </a:rPr>
                <a:t>Operational</a:t>
              </a:r>
              <a:br>
                <a:rPr kumimoji="0" lang="en" sz="1600" b="0" i="0" u="none" strike="noStrike" kern="1200" cap="none" spc="0" normalizeH="0" baseline="0" noProof="0" dirty="0">
                  <a:ln>
                    <a:noFill/>
                  </a:ln>
                  <a:solidFill>
                    <a:srgbClr val="005C8A"/>
                  </a:solidFill>
                  <a:effectLst/>
                  <a:uLnTx/>
                  <a:uFillTx/>
                  <a:latin typeface="Arial" panose="020B0604020202020204"/>
                  <a:ea typeface="+mn-ea"/>
                  <a:cs typeface="+mn-cs"/>
                </a:rPr>
              </a:br>
              <a:r>
                <a:rPr kumimoji="0" lang="en" sz="1600" b="0" i="0" u="none" strike="noStrike" kern="1200" cap="none" spc="0" normalizeH="0" baseline="0" noProof="0" dirty="0">
                  <a:ln>
                    <a:noFill/>
                  </a:ln>
                  <a:solidFill>
                    <a:srgbClr val="005C8A"/>
                  </a:solidFill>
                  <a:effectLst/>
                  <a:uLnTx/>
                  <a:uFillTx/>
                  <a:latin typeface="Arial" panose="020B0604020202020204"/>
                  <a:ea typeface="+mn-ea"/>
                  <a:cs typeface="+mn-cs"/>
                </a:rPr>
                <a:t>Excellence </a:t>
              </a:r>
              <a:endParaRPr kumimoji="0" sz="1600" b="0" i="0" u="none" strike="noStrike" kern="1200" cap="none" spc="0" normalizeH="0" baseline="0" noProof="0" dirty="0">
                <a:ln>
                  <a:noFill/>
                </a:ln>
                <a:solidFill>
                  <a:srgbClr val="005C8A"/>
                </a:solidFill>
                <a:effectLst/>
                <a:uLnTx/>
                <a:uFillTx/>
                <a:latin typeface="Arial" panose="020B0604020202020204"/>
                <a:ea typeface="+mn-ea"/>
                <a:cs typeface="+mn-cs"/>
              </a:endParaRPr>
            </a:p>
          </p:txBody>
        </p:sp>
        <p:pic>
          <p:nvPicPr>
            <p:cNvPr id="6" name="Google Shape;2019;p122">
              <a:extLst>
                <a:ext uri="{FF2B5EF4-FFF2-40B4-BE49-F238E27FC236}">
                  <a16:creationId xmlns:a16="http://schemas.microsoft.com/office/drawing/2014/main" id="{43AFD709-89E6-E40C-090C-8C658B7C1C10}"/>
                </a:ext>
              </a:extLst>
            </p:cNvPr>
            <p:cNvPicPr preferRelativeResize="0"/>
            <p:nvPr/>
          </p:nvPicPr>
          <p:blipFill rotWithShape="1">
            <a:blip r:embed="rId9">
              <a:alphaModFix/>
            </a:blip>
            <a:srcRect/>
            <a:stretch/>
          </p:blipFill>
          <p:spPr>
            <a:xfrm>
              <a:off x="4049874" y="4930886"/>
              <a:ext cx="1873053" cy="1475660"/>
            </a:xfrm>
            <a:prstGeom prst="rect">
              <a:avLst/>
            </a:prstGeom>
            <a:noFill/>
            <a:ln>
              <a:noFill/>
            </a:ln>
          </p:spPr>
        </p:pic>
      </p:grpSp>
    </p:spTree>
    <p:extLst>
      <p:ext uri="{BB962C8B-B14F-4D97-AF65-F5344CB8AC3E}">
        <p14:creationId xmlns:p14="http://schemas.microsoft.com/office/powerpoint/2010/main" val="1573379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FB5547-6271-DE57-1EF1-18D52565267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A847829-F0D6-FCE8-5DF4-D3C945F82682}"/>
              </a:ext>
            </a:extLst>
          </p:cNvPr>
          <p:cNvSpPr>
            <a:spLocks noGrp="1"/>
          </p:cNvSpPr>
          <p:nvPr>
            <p:ph type="title"/>
          </p:nvPr>
        </p:nvSpPr>
        <p:spPr>
          <a:xfrm>
            <a:off x="579809" y="412751"/>
            <a:ext cx="11001004" cy="381000"/>
          </a:xfrm>
        </p:spPr>
        <p:txBody>
          <a:bodyPr/>
          <a:lstStyle/>
          <a:p>
            <a:r>
              <a:rPr lang="en-US" dirty="0"/>
              <a:t>VMware Cloud Foundation with Data Services Manager</a:t>
            </a:r>
          </a:p>
        </p:txBody>
      </p:sp>
      <p:sp>
        <p:nvSpPr>
          <p:cNvPr id="3" name="Rectangle 2">
            <a:extLst>
              <a:ext uri="{FF2B5EF4-FFF2-40B4-BE49-F238E27FC236}">
                <a16:creationId xmlns:a16="http://schemas.microsoft.com/office/drawing/2014/main" id="{44EED911-BD66-AAAD-3CE5-89857656D6CB}"/>
              </a:ext>
            </a:extLst>
          </p:cNvPr>
          <p:cNvSpPr/>
          <p:nvPr/>
        </p:nvSpPr>
        <p:spPr bwMode="gray">
          <a:xfrm>
            <a:off x="1051107" y="4375966"/>
            <a:ext cx="2490643" cy="483650"/>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4" name="Rectangle 3">
            <a:extLst>
              <a:ext uri="{FF2B5EF4-FFF2-40B4-BE49-F238E27FC236}">
                <a16:creationId xmlns:a16="http://schemas.microsoft.com/office/drawing/2014/main" id="{58857AC8-B6E1-3B66-C3D1-86FB025E9019}"/>
              </a:ext>
            </a:extLst>
          </p:cNvPr>
          <p:cNvSpPr/>
          <p:nvPr/>
        </p:nvSpPr>
        <p:spPr bwMode="gray">
          <a:xfrm>
            <a:off x="4688804" y="4375965"/>
            <a:ext cx="5031719" cy="483651"/>
          </a:xfrm>
          <a:prstGeom prst="rect">
            <a:avLst/>
          </a:prstGeom>
          <a:solidFill>
            <a:schemeClr val="tx2">
              <a:lumMod val="50000"/>
              <a:lumOff val="5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6" name="Rectangle 5">
            <a:extLst>
              <a:ext uri="{FF2B5EF4-FFF2-40B4-BE49-F238E27FC236}">
                <a16:creationId xmlns:a16="http://schemas.microsoft.com/office/drawing/2014/main" id="{062F09DE-561A-FC38-F078-59C0DA782B92}"/>
              </a:ext>
            </a:extLst>
          </p:cNvPr>
          <p:cNvSpPr/>
          <p:nvPr/>
        </p:nvSpPr>
        <p:spPr bwMode="gray">
          <a:xfrm>
            <a:off x="2868006" y="3808626"/>
            <a:ext cx="649904" cy="483650"/>
          </a:xfrm>
          <a:prstGeom prst="rect">
            <a:avLst/>
          </a:prstGeom>
          <a:solidFill>
            <a:schemeClr val="tx2">
              <a:lumMod val="50000"/>
              <a:lumOff val="5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VC</a:t>
            </a:r>
            <a:endParaRPr kumimoji="0" lang="en-US" sz="20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7" name="Rectangle 6">
            <a:extLst>
              <a:ext uri="{FF2B5EF4-FFF2-40B4-BE49-F238E27FC236}">
                <a16:creationId xmlns:a16="http://schemas.microsoft.com/office/drawing/2014/main" id="{A31A877D-E89F-D556-7550-EF0BC44FCCCD}"/>
              </a:ext>
            </a:extLst>
          </p:cNvPr>
          <p:cNvSpPr/>
          <p:nvPr/>
        </p:nvSpPr>
        <p:spPr bwMode="gray">
          <a:xfrm>
            <a:off x="2868006" y="3255833"/>
            <a:ext cx="649904" cy="483650"/>
          </a:xfrm>
          <a:prstGeom prst="rect">
            <a:avLst/>
          </a:prstGeom>
          <a:solidFill>
            <a:schemeClr val="tx2">
              <a:lumMod val="50000"/>
              <a:lumOff val="50000"/>
            </a:schemeClr>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DSM</a:t>
            </a:r>
          </a:p>
        </p:txBody>
      </p:sp>
      <p:sp>
        <p:nvSpPr>
          <p:cNvPr id="9" name="Rectangle 8">
            <a:extLst>
              <a:ext uri="{FF2B5EF4-FFF2-40B4-BE49-F238E27FC236}">
                <a16:creationId xmlns:a16="http://schemas.microsoft.com/office/drawing/2014/main" id="{17B899DA-F894-D6E0-DC11-F5395A4B3D11}"/>
              </a:ext>
            </a:extLst>
          </p:cNvPr>
          <p:cNvSpPr/>
          <p:nvPr/>
        </p:nvSpPr>
        <p:spPr bwMode="gray">
          <a:xfrm>
            <a:off x="1838874" y="3255833"/>
            <a:ext cx="649904" cy="483650"/>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Auto</a:t>
            </a:r>
          </a:p>
        </p:txBody>
      </p:sp>
      <p:sp>
        <p:nvSpPr>
          <p:cNvPr id="10" name="Rectangle 9">
            <a:extLst>
              <a:ext uri="{FF2B5EF4-FFF2-40B4-BE49-F238E27FC236}">
                <a16:creationId xmlns:a16="http://schemas.microsoft.com/office/drawing/2014/main" id="{A40A71F3-E383-D4E4-131F-4C04140544AD}"/>
              </a:ext>
            </a:extLst>
          </p:cNvPr>
          <p:cNvSpPr/>
          <p:nvPr/>
        </p:nvSpPr>
        <p:spPr bwMode="gray">
          <a:xfrm>
            <a:off x="1089469" y="3255833"/>
            <a:ext cx="649904" cy="483650"/>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Ops</a:t>
            </a:r>
          </a:p>
        </p:txBody>
      </p:sp>
      <p:sp>
        <p:nvSpPr>
          <p:cNvPr id="11" name="Rectangle 10">
            <a:extLst>
              <a:ext uri="{FF2B5EF4-FFF2-40B4-BE49-F238E27FC236}">
                <a16:creationId xmlns:a16="http://schemas.microsoft.com/office/drawing/2014/main" id="{3AAC894B-F1A0-7D88-D21D-5997E1C07C91}"/>
              </a:ext>
            </a:extLst>
          </p:cNvPr>
          <p:cNvSpPr/>
          <p:nvPr/>
        </p:nvSpPr>
        <p:spPr bwMode="gray">
          <a:xfrm>
            <a:off x="1089469" y="3808626"/>
            <a:ext cx="649904" cy="483650"/>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VC</a:t>
            </a:r>
          </a:p>
        </p:txBody>
      </p:sp>
      <p:sp>
        <p:nvSpPr>
          <p:cNvPr id="12" name="Rectangle 11">
            <a:extLst>
              <a:ext uri="{FF2B5EF4-FFF2-40B4-BE49-F238E27FC236}">
                <a16:creationId xmlns:a16="http://schemas.microsoft.com/office/drawing/2014/main" id="{9CE083F3-9738-7D3D-C444-EBD1E22CE8CF}"/>
              </a:ext>
            </a:extLst>
          </p:cNvPr>
          <p:cNvSpPr/>
          <p:nvPr/>
        </p:nvSpPr>
        <p:spPr bwMode="gray">
          <a:xfrm>
            <a:off x="1838874" y="3808626"/>
            <a:ext cx="649904" cy="483650"/>
          </a:xfrm>
          <a:prstGeom prst="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NSX</a:t>
            </a:r>
          </a:p>
        </p:txBody>
      </p:sp>
      <p:grpSp>
        <p:nvGrpSpPr>
          <p:cNvPr id="68" name="Group 67">
            <a:extLst>
              <a:ext uri="{FF2B5EF4-FFF2-40B4-BE49-F238E27FC236}">
                <a16:creationId xmlns:a16="http://schemas.microsoft.com/office/drawing/2014/main" id="{4E3357C3-2380-51C8-6795-80E3A32C8FF5}"/>
              </a:ext>
            </a:extLst>
          </p:cNvPr>
          <p:cNvGrpSpPr/>
          <p:nvPr/>
        </p:nvGrpSpPr>
        <p:grpSpPr>
          <a:xfrm>
            <a:off x="1188696" y="4477986"/>
            <a:ext cx="2215465" cy="279610"/>
            <a:chOff x="885433" y="5425943"/>
            <a:chExt cx="2215465" cy="279610"/>
          </a:xfrm>
        </p:grpSpPr>
        <p:sp>
          <p:nvSpPr>
            <p:cNvPr id="5" name="Google Shape;1776;p8">
              <a:extLst>
                <a:ext uri="{FF2B5EF4-FFF2-40B4-BE49-F238E27FC236}">
                  <a16:creationId xmlns:a16="http://schemas.microsoft.com/office/drawing/2014/main" id="{7FD2B555-EA3D-FA6D-8DB0-A1A3C1D587CC}"/>
                </a:ext>
              </a:extLst>
            </p:cNvPr>
            <p:cNvSpPr/>
            <p:nvPr/>
          </p:nvSpPr>
          <p:spPr>
            <a:xfrm>
              <a:off x="885433" y="5425943"/>
              <a:ext cx="1059569" cy="279610"/>
            </a:xfrm>
            <a:custGeom>
              <a:avLst/>
              <a:gdLst/>
              <a:ahLst/>
              <a:cxnLst/>
              <a:rect l="l" t="t" r="r" b="b"/>
              <a:pathLst>
                <a:path w="720" h="189" extrusionOk="0">
                  <a:moveTo>
                    <a:pt x="719" y="0"/>
                  </a:moveTo>
                  <a:lnTo>
                    <a:pt x="0" y="0"/>
                  </a:lnTo>
                  <a:lnTo>
                    <a:pt x="1" y="189"/>
                  </a:lnTo>
                  <a:lnTo>
                    <a:pt x="720" y="189"/>
                  </a:lnTo>
                  <a:lnTo>
                    <a:pt x="719" y="0"/>
                  </a:lnTo>
                  <a:close/>
                  <a:moveTo>
                    <a:pt x="79" y="132"/>
                  </a:moveTo>
                  <a:lnTo>
                    <a:pt x="63" y="132"/>
                  </a:lnTo>
                  <a:lnTo>
                    <a:pt x="63" y="56"/>
                  </a:lnTo>
                  <a:lnTo>
                    <a:pt x="79" y="56"/>
                  </a:lnTo>
                  <a:lnTo>
                    <a:pt x="79" y="132"/>
                  </a:lnTo>
                  <a:close/>
                  <a:moveTo>
                    <a:pt x="117" y="132"/>
                  </a:moveTo>
                  <a:lnTo>
                    <a:pt x="102" y="132"/>
                  </a:lnTo>
                  <a:lnTo>
                    <a:pt x="102" y="56"/>
                  </a:lnTo>
                  <a:lnTo>
                    <a:pt x="117" y="56"/>
                  </a:lnTo>
                  <a:lnTo>
                    <a:pt x="117" y="132"/>
                  </a:lnTo>
                  <a:close/>
                  <a:moveTo>
                    <a:pt x="155" y="132"/>
                  </a:moveTo>
                  <a:lnTo>
                    <a:pt x="139" y="132"/>
                  </a:lnTo>
                  <a:lnTo>
                    <a:pt x="139" y="56"/>
                  </a:lnTo>
                  <a:lnTo>
                    <a:pt x="155" y="56"/>
                  </a:lnTo>
                  <a:lnTo>
                    <a:pt x="155" y="132"/>
                  </a:lnTo>
                  <a:close/>
                  <a:moveTo>
                    <a:pt x="193" y="132"/>
                  </a:moveTo>
                  <a:lnTo>
                    <a:pt x="178" y="132"/>
                  </a:lnTo>
                  <a:lnTo>
                    <a:pt x="178" y="56"/>
                  </a:lnTo>
                  <a:lnTo>
                    <a:pt x="193" y="56"/>
                  </a:lnTo>
                  <a:lnTo>
                    <a:pt x="193" y="132"/>
                  </a:lnTo>
                  <a:close/>
                  <a:moveTo>
                    <a:pt x="625" y="114"/>
                  </a:moveTo>
                  <a:lnTo>
                    <a:pt x="625" y="114"/>
                  </a:lnTo>
                  <a:lnTo>
                    <a:pt x="621" y="113"/>
                  </a:lnTo>
                  <a:lnTo>
                    <a:pt x="617" y="112"/>
                  </a:lnTo>
                  <a:lnTo>
                    <a:pt x="612" y="108"/>
                  </a:lnTo>
                  <a:lnTo>
                    <a:pt x="607" y="103"/>
                  </a:lnTo>
                  <a:lnTo>
                    <a:pt x="607" y="99"/>
                  </a:lnTo>
                  <a:lnTo>
                    <a:pt x="606" y="95"/>
                  </a:lnTo>
                  <a:lnTo>
                    <a:pt x="606" y="95"/>
                  </a:lnTo>
                  <a:lnTo>
                    <a:pt x="607" y="91"/>
                  </a:lnTo>
                  <a:lnTo>
                    <a:pt x="607" y="87"/>
                  </a:lnTo>
                  <a:lnTo>
                    <a:pt x="612" y="81"/>
                  </a:lnTo>
                  <a:lnTo>
                    <a:pt x="617" y="77"/>
                  </a:lnTo>
                  <a:lnTo>
                    <a:pt x="621" y="76"/>
                  </a:lnTo>
                  <a:lnTo>
                    <a:pt x="625" y="76"/>
                  </a:lnTo>
                  <a:lnTo>
                    <a:pt x="625" y="76"/>
                  </a:lnTo>
                  <a:lnTo>
                    <a:pt x="629" y="76"/>
                  </a:lnTo>
                  <a:lnTo>
                    <a:pt x="633" y="77"/>
                  </a:lnTo>
                  <a:lnTo>
                    <a:pt x="638" y="81"/>
                  </a:lnTo>
                  <a:lnTo>
                    <a:pt x="643" y="87"/>
                  </a:lnTo>
                  <a:lnTo>
                    <a:pt x="643" y="91"/>
                  </a:lnTo>
                  <a:lnTo>
                    <a:pt x="644" y="95"/>
                  </a:lnTo>
                  <a:lnTo>
                    <a:pt x="644" y="95"/>
                  </a:lnTo>
                  <a:lnTo>
                    <a:pt x="643" y="99"/>
                  </a:lnTo>
                  <a:lnTo>
                    <a:pt x="643" y="103"/>
                  </a:lnTo>
                  <a:lnTo>
                    <a:pt x="638" y="108"/>
                  </a:lnTo>
                  <a:lnTo>
                    <a:pt x="633" y="112"/>
                  </a:lnTo>
                  <a:lnTo>
                    <a:pt x="629" y="113"/>
                  </a:lnTo>
                  <a:lnTo>
                    <a:pt x="625" y="114"/>
                  </a:lnTo>
                  <a:lnTo>
                    <a:pt x="625" y="114"/>
                  </a:lnTo>
                  <a:close/>
                </a:path>
              </a:pathLst>
            </a:custGeom>
            <a:solidFill>
              <a:schemeClr val="accent1">
                <a:lumMod val="60000"/>
                <a:lumOff val="40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3" name="Google Shape;1776;p8">
              <a:extLst>
                <a:ext uri="{FF2B5EF4-FFF2-40B4-BE49-F238E27FC236}">
                  <a16:creationId xmlns:a16="http://schemas.microsoft.com/office/drawing/2014/main" id="{4247EBA7-E2BC-79F1-DE09-CF28B1501A34}"/>
                </a:ext>
              </a:extLst>
            </p:cNvPr>
            <p:cNvSpPr/>
            <p:nvPr/>
          </p:nvSpPr>
          <p:spPr>
            <a:xfrm>
              <a:off x="2041329" y="5425943"/>
              <a:ext cx="1059569" cy="279610"/>
            </a:xfrm>
            <a:custGeom>
              <a:avLst/>
              <a:gdLst/>
              <a:ahLst/>
              <a:cxnLst/>
              <a:rect l="l" t="t" r="r" b="b"/>
              <a:pathLst>
                <a:path w="720" h="189" extrusionOk="0">
                  <a:moveTo>
                    <a:pt x="719" y="0"/>
                  </a:moveTo>
                  <a:lnTo>
                    <a:pt x="0" y="0"/>
                  </a:lnTo>
                  <a:lnTo>
                    <a:pt x="1" y="189"/>
                  </a:lnTo>
                  <a:lnTo>
                    <a:pt x="720" y="189"/>
                  </a:lnTo>
                  <a:lnTo>
                    <a:pt x="719" y="0"/>
                  </a:lnTo>
                  <a:close/>
                  <a:moveTo>
                    <a:pt x="79" y="132"/>
                  </a:moveTo>
                  <a:lnTo>
                    <a:pt x="63" y="132"/>
                  </a:lnTo>
                  <a:lnTo>
                    <a:pt x="63" y="56"/>
                  </a:lnTo>
                  <a:lnTo>
                    <a:pt x="79" y="56"/>
                  </a:lnTo>
                  <a:lnTo>
                    <a:pt x="79" y="132"/>
                  </a:lnTo>
                  <a:close/>
                  <a:moveTo>
                    <a:pt x="117" y="132"/>
                  </a:moveTo>
                  <a:lnTo>
                    <a:pt x="102" y="132"/>
                  </a:lnTo>
                  <a:lnTo>
                    <a:pt x="102" y="56"/>
                  </a:lnTo>
                  <a:lnTo>
                    <a:pt x="117" y="56"/>
                  </a:lnTo>
                  <a:lnTo>
                    <a:pt x="117" y="132"/>
                  </a:lnTo>
                  <a:close/>
                  <a:moveTo>
                    <a:pt x="155" y="132"/>
                  </a:moveTo>
                  <a:lnTo>
                    <a:pt x="139" y="132"/>
                  </a:lnTo>
                  <a:lnTo>
                    <a:pt x="139" y="56"/>
                  </a:lnTo>
                  <a:lnTo>
                    <a:pt x="155" y="56"/>
                  </a:lnTo>
                  <a:lnTo>
                    <a:pt x="155" y="132"/>
                  </a:lnTo>
                  <a:close/>
                  <a:moveTo>
                    <a:pt x="193" y="132"/>
                  </a:moveTo>
                  <a:lnTo>
                    <a:pt x="178" y="132"/>
                  </a:lnTo>
                  <a:lnTo>
                    <a:pt x="178" y="56"/>
                  </a:lnTo>
                  <a:lnTo>
                    <a:pt x="193" y="56"/>
                  </a:lnTo>
                  <a:lnTo>
                    <a:pt x="193" y="132"/>
                  </a:lnTo>
                  <a:close/>
                  <a:moveTo>
                    <a:pt x="625" y="114"/>
                  </a:moveTo>
                  <a:lnTo>
                    <a:pt x="625" y="114"/>
                  </a:lnTo>
                  <a:lnTo>
                    <a:pt x="621" y="113"/>
                  </a:lnTo>
                  <a:lnTo>
                    <a:pt x="617" y="112"/>
                  </a:lnTo>
                  <a:lnTo>
                    <a:pt x="612" y="108"/>
                  </a:lnTo>
                  <a:lnTo>
                    <a:pt x="607" y="103"/>
                  </a:lnTo>
                  <a:lnTo>
                    <a:pt x="607" y="99"/>
                  </a:lnTo>
                  <a:lnTo>
                    <a:pt x="606" y="95"/>
                  </a:lnTo>
                  <a:lnTo>
                    <a:pt x="606" y="95"/>
                  </a:lnTo>
                  <a:lnTo>
                    <a:pt x="607" y="91"/>
                  </a:lnTo>
                  <a:lnTo>
                    <a:pt x="607" y="87"/>
                  </a:lnTo>
                  <a:lnTo>
                    <a:pt x="612" y="81"/>
                  </a:lnTo>
                  <a:lnTo>
                    <a:pt x="617" y="77"/>
                  </a:lnTo>
                  <a:lnTo>
                    <a:pt x="621" y="76"/>
                  </a:lnTo>
                  <a:lnTo>
                    <a:pt x="625" y="76"/>
                  </a:lnTo>
                  <a:lnTo>
                    <a:pt x="625" y="76"/>
                  </a:lnTo>
                  <a:lnTo>
                    <a:pt x="629" y="76"/>
                  </a:lnTo>
                  <a:lnTo>
                    <a:pt x="633" y="77"/>
                  </a:lnTo>
                  <a:lnTo>
                    <a:pt x="638" y="81"/>
                  </a:lnTo>
                  <a:lnTo>
                    <a:pt x="643" y="87"/>
                  </a:lnTo>
                  <a:lnTo>
                    <a:pt x="643" y="91"/>
                  </a:lnTo>
                  <a:lnTo>
                    <a:pt x="644" y="95"/>
                  </a:lnTo>
                  <a:lnTo>
                    <a:pt x="644" y="95"/>
                  </a:lnTo>
                  <a:lnTo>
                    <a:pt x="643" y="99"/>
                  </a:lnTo>
                  <a:lnTo>
                    <a:pt x="643" y="103"/>
                  </a:lnTo>
                  <a:lnTo>
                    <a:pt x="638" y="108"/>
                  </a:lnTo>
                  <a:lnTo>
                    <a:pt x="633" y="112"/>
                  </a:lnTo>
                  <a:lnTo>
                    <a:pt x="629" y="113"/>
                  </a:lnTo>
                  <a:lnTo>
                    <a:pt x="625" y="114"/>
                  </a:lnTo>
                  <a:lnTo>
                    <a:pt x="625" y="114"/>
                  </a:lnTo>
                  <a:close/>
                </a:path>
              </a:pathLst>
            </a:custGeom>
            <a:solidFill>
              <a:schemeClr val="accent1">
                <a:lumMod val="60000"/>
                <a:lumOff val="40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67" name="Group 66">
            <a:extLst>
              <a:ext uri="{FF2B5EF4-FFF2-40B4-BE49-F238E27FC236}">
                <a16:creationId xmlns:a16="http://schemas.microsoft.com/office/drawing/2014/main" id="{7A6C6EA7-CBC6-B3E1-2EC3-A851AE54EDE2}"/>
              </a:ext>
            </a:extLst>
          </p:cNvPr>
          <p:cNvGrpSpPr/>
          <p:nvPr/>
        </p:nvGrpSpPr>
        <p:grpSpPr>
          <a:xfrm>
            <a:off x="4861685" y="4477987"/>
            <a:ext cx="4685957" cy="279610"/>
            <a:chOff x="4577972" y="5425943"/>
            <a:chExt cx="4685957" cy="279610"/>
          </a:xfrm>
        </p:grpSpPr>
        <p:sp>
          <p:nvSpPr>
            <p:cNvPr id="14" name="Google Shape;1776;p8">
              <a:extLst>
                <a:ext uri="{FF2B5EF4-FFF2-40B4-BE49-F238E27FC236}">
                  <a16:creationId xmlns:a16="http://schemas.microsoft.com/office/drawing/2014/main" id="{9286A314-CC5D-E389-368D-B7273C5044DE}"/>
                </a:ext>
              </a:extLst>
            </p:cNvPr>
            <p:cNvSpPr/>
            <p:nvPr/>
          </p:nvSpPr>
          <p:spPr>
            <a:xfrm>
              <a:off x="4577972" y="5425943"/>
              <a:ext cx="1059569" cy="279610"/>
            </a:xfrm>
            <a:custGeom>
              <a:avLst/>
              <a:gdLst/>
              <a:ahLst/>
              <a:cxnLst/>
              <a:rect l="l" t="t" r="r" b="b"/>
              <a:pathLst>
                <a:path w="720" h="189" extrusionOk="0">
                  <a:moveTo>
                    <a:pt x="719" y="0"/>
                  </a:moveTo>
                  <a:lnTo>
                    <a:pt x="0" y="0"/>
                  </a:lnTo>
                  <a:lnTo>
                    <a:pt x="1" y="189"/>
                  </a:lnTo>
                  <a:lnTo>
                    <a:pt x="720" y="189"/>
                  </a:lnTo>
                  <a:lnTo>
                    <a:pt x="719" y="0"/>
                  </a:lnTo>
                  <a:close/>
                  <a:moveTo>
                    <a:pt x="79" y="132"/>
                  </a:moveTo>
                  <a:lnTo>
                    <a:pt x="63" y="132"/>
                  </a:lnTo>
                  <a:lnTo>
                    <a:pt x="63" y="56"/>
                  </a:lnTo>
                  <a:lnTo>
                    <a:pt x="79" y="56"/>
                  </a:lnTo>
                  <a:lnTo>
                    <a:pt x="79" y="132"/>
                  </a:lnTo>
                  <a:close/>
                  <a:moveTo>
                    <a:pt x="117" y="132"/>
                  </a:moveTo>
                  <a:lnTo>
                    <a:pt x="102" y="132"/>
                  </a:lnTo>
                  <a:lnTo>
                    <a:pt x="102" y="56"/>
                  </a:lnTo>
                  <a:lnTo>
                    <a:pt x="117" y="56"/>
                  </a:lnTo>
                  <a:lnTo>
                    <a:pt x="117" y="132"/>
                  </a:lnTo>
                  <a:close/>
                  <a:moveTo>
                    <a:pt x="155" y="132"/>
                  </a:moveTo>
                  <a:lnTo>
                    <a:pt x="139" y="132"/>
                  </a:lnTo>
                  <a:lnTo>
                    <a:pt x="139" y="56"/>
                  </a:lnTo>
                  <a:lnTo>
                    <a:pt x="155" y="56"/>
                  </a:lnTo>
                  <a:lnTo>
                    <a:pt x="155" y="132"/>
                  </a:lnTo>
                  <a:close/>
                  <a:moveTo>
                    <a:pt x="193" y="132"/>
                  </a:moveTo>
                  <a:lnTo>
                    <a:pt x="178" y="132"/>
                  </a:lnTo>
                  <a:lnTo>
                    <a:pt x="178" y="56"/>
                  </a:lnTo>
                  <a:lnTo>
                    <a:pt x="193" y="56"/>
                  </a:lnTo>
                  <a:lnTo>
                    <a:pt x="193" y="132"/>
                  </a:lnTo>
                  <a:close/>
                  <a:moveTo>
                    <a:pt x="625" y="114"/>
                  </a:moveTo>
                  <a:lnTo>
                    <a:pt x="625" y="114"/>
                  </a:lnTo>
                  <a:lnTo>
                    <a:pt x="621" y="113"/>
                  </a:lnTo>
                  <a:lnTo>
                    <a:pt x="617" y="112"/>
                  </a:lnTo>
                  <a:lnTo>
                    <a:pt x="612" y="108"/>
                  </a:lnTo>
                  <a:lnTo>
                    <a:pt x="607" y="103"/>
                  </a:lnTo>
                  <a:lnTo>
                    <a:pt x="607" y="99"/>
                  </a:lnTo>
                  <a:lnTo>
                    <a:pt x="606" y="95"/>
                  </a:lnTo>
                  <a:lnTo>
                    <a:pt x="606" y="95"/>
                  </a:lnTo>
                  <a:lnTo>
                    <a:pt x="607" y="91"/>
                  </a:lnTo>
                  <a:lnTo>
                    <a:pt x="607" y="87"/>
                  </a:lnTo>
                  <a:lnTo>
                    <a:pt x="612" y="81"/>
                  </a:lnTo>
                  <a:lnTo>
                    <a:pt x="617" y="77"/>
                  </a:lnTo>
                  <a:lnTo>
                    <a:pt x="621" y="76"/>
                  </a:lnTo>
                  <a:lnTo>
                    <a:pt x="625" y="76"/>
                  </a:lnTo>
                  <a:lnTo>
                    <a:pt x="625" y="76"/>
                  </a:lnTo>
                  <a:lnTo>
                    <a:pt x="629" y="76"/>
                  </a:lnTo>
                  <a:lnTo>
                    <a:pt x="633" y="77"/>
                  </a:lnTo>
                  <a:lnTo>
                    <a:pt x="638" y="81"/>
                  </a:lnTo>
                  <a:lnTo>
                    <a:pt x="643" y="87"/>
                  </a:lnTo>
                  <a:lnTo>
                    <a:pt x="643" y="91"/>
                  </a:lnTo>
                  <a:lnTo>
                    <a:pt x="644" y="95"/>
                  </a:lnTo>
                  <a:lnTo>
                    <a:pt x="644" y="95"/>
                  </a:lnTo>
                  <a:lnTo>
                    <a:pt x="643" y="99"/>
                  </a:lnTo>
                  <a:lnTo>
                    <a:pt x="643" y="103"/>
                  </a:lnTo>
                  <a:lnTo>
                    <a:pt x="638" y="108"/>
                  </a:lnTo>
                  <a:lnTo>
                    <a:pt x="633" y="112"/>
                  </a:lnTo>
                  <a:lnTo>
                    <a:pt x="629" y="113"/>
                  </a:lnTo>
                  <a:lnTo>
                    <a:pt x="625" y="114"/>
                  </a:lnTo>
                  <a:lnTo>
                    <a:pt x="625" y="114"/>
                  </a:lnTo>
                  <a:close/>
                </a:path>
              </a:pathLst>
            </a:custGeom>
            <a:solidFill>
              <a:schemeClr val="accent1">
                <a:lumMod val="60000"/>
                <a:lumOff val="40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5" name="Google Shape;1776;p8">
              <a:extLst>
                <a:ext uri="{FF2B5EF4-FFF2-40B4-BE49-F238E27FC236}">
                  <a16:creationId xmlns:a16="http://schemas.microsoft.com/office/drawing/2014/main" id="{BE9E4243-EEB3-9946-191B-0CA09290208A}"/>
                </a:ext>
              </a:extLst>
            </p:cNvPr>
            <p:cNvSpPr/>
            <p:nvPr/>
          </p:nvSpPr>
          <p:spPr>
            <a:xfrm>
              <a:off x="5786768" y="5425943"/>
              <a:ext cx="1059569" cy="279610"/>
            </a:xfrm>
            <a:custGeom>
              <a:avLst/>
              <a:gdLst/>
              <a:ahLst/>
              <a:cxnLst/>
              <a:rect l="l" t="t" r="r" b="b"/>
              <a:pathLst>
                <a:path w="720" h="189" extrusionOk="0">
                  <a:moveTo>
                    <a:pt x="719" y="0"/>
                  </a:moveTo>
                  <a:lnTo>
                    <a:pt x="0" y="0"/>
                  </a:lnTo>
                  <a:lnTo>
                    <a:pt x="1" y="189"/>
                  </a:lnTo>
                  <a:lnTo>
                    <a:pt x="720" y="189"/>
                  </a:lnTo>
                  <a:lnTo>
                    <a:pt x="719" y="0"/>
                  </a:lnTo>
                  <a:close/>
                  <a:moveTo>
                    <a:pt x="79" y="132"/>
                  </a:moveTo>
                  <a:lnTo>
                    <a:pt x="63" y="132"/>
                  </a:lnTo>
                  <a:lnTo>
                    <a:pt x="63" y="56"/>
                  </a:lnTo>
                  <a:lnTo>
                    <a:pt x="79" y="56"/>
                  </a:lnTo>
                  <a:lnTo>
                    <a:pt x="79" y="132"/>
                  </a:lnTo>
                  <a:close/>
                  <a:moveTo>
                    <a:pt x="117" y="132"/>
                  </a:moveTo>
                  <a:lnTo>
                    <a:pt x="102" y="132"/>
                  </a:lnTo>
                  <a:lnTo>
                    <a:pt x="102" y="56"/>
                  </a:lnTo>
                  <a:lnTo>
                    <a:pt x="117" y="56"/>
                  </a:lnTo>
                  <a:lnTo>
                    <a:pt x="117" y="132"/>
                  </a:lnTo>
                  <a:close/>
                  <a:moveTo>
                    <a:pt x="155" y="132"/>
                  </a:moveTo>
                  <a:lnTo>
                    <a:pt x="139" y="132"/>
                  </a:lnTo>
                  <a:lnTo>
                    <a:pt x="139" y="56"/>
                  </a:lnTo>
                  <a:lnTo>
                    <a:pt x="155" y="56"/>
                  </a:lnTo>
                  <a:lnTo>
                    <a:pt x="155" y="132"/>
                  </a:lnTo>
                  <a:close/>
                  <a:moveTo>
                    <a:pt x="193" y="132"/>
                  </a:moveTo>
                  <a:lnTo>
                    <a:pt x="178" y="132"/>
                  </a:lnTo>
                  <a:lnTo>
                    <a:pt x="178" y="56"/>
                  </a:lnTo>
                  <a:lnTo>
                    <a:pt x="193" y="56"/>
                  </a:lnTo>
                  <a:lnTo>
                    <a:pt x="193" y="132"/>
                  </a:lnTo>
                  <a:close/>
                  <a:moveTo>
                    <a:pt x="625" y="114"/>
                  </a:moveTo>
                  <a:lnTo>
                    <a:pt x="625" y="114"/>
                  </a:lnTo>
                  <a:lnTo>
                    <a:pt x="621" y="113"/>
                  </a:lnTo>
                  <a:lnTo>
                    <a:pt x="617" y="112"/>
                  </a:lnTo>
                  <a:lnTo>
                    <a:pt x="612" y="108"/>
                  </a:lnTo>
                  <a:lnTo>
                    <a:pt x="607" y="103"/>
                  </a:lnTo>
                  <a:lnTo>
                    <a:pt x="607" y="99"/>
                  </a:lnTo>
                  <a:lnTo>
                    <a:pt x="606" y="95"/>
                  </a:lnTo>
                  <a:lnTo>
                    <a:pt x="606" y="95"/>
                  </a:lnTo>
                  <a:lnTo>
                    <a:pt x="607" y="91"/>
                  </a:lnTo>
                  <a:lnTo>
                    <a:pt x="607" y="87"/>
                  </a:lnTo>
                  <a:lnTo>
                    <a:pt x="612" y="81"/>
                  </a:lnTo>
                  <a:lnTo>
                    <a:pt x="617" y="77"/>
                  </a:lnTo>
                  <a:lnTo>
                    <a:pt x="621" y="76"/>
                  </a:lnTo>
                  <a:lnTo>
                    <a:pt x="625" y="76"/>
                  </a:lnTo>
                  <a:lnTo>
                    <a:pt x="625" y="76"/>
                  </a:lnTo>
                  <a:lnTo>
                    <a:pt x="629" y="76"/>
                  </a:lnTo>
                  <a:lnTo>
                    <a:pt x="633" y="77"/>
                  </a:lnTo>
                  <a:lnTo>
                    <a:pt x="638" y="81"/>
                  </a:lnTo>
                  <a:lnTo>
                    <a:pt x="643" y="87"/>
                  </a:lnTo>
                  <a:lnTo>
                    <a:pt x="643" y="91"/>
                  </a:lnTo>
                  <a:lnTo>
                    <a:pt x="644" y="95"/>
                  </a:lnTo>
                  <a:lnTo>
                    <a:pt x="644" y="95"/>
                  </a:lnTo>
                  <a:lnTo>
                    <a:pt x="643" y="99"/>
                  </a:lnTo>
                  <a:lnTo>
                    <a:pt x="643" y="103"/>
                  </a:lnTo>
                  <a:lnTo>
                    <a:pt x="638" y="108"/>
                  </a:lnTo>
                  <a:lnTo>
                    <a:pt x="633" y="112"/>
                  </a:lnTo>
                  <a:lnTo>
                    <a:pt x="629" y="113"/>
                  </a:lnTo>
                  <a:lnTo>
                    <a:pt x="625" y="114"/>
                  </a:lnTo>
                  <a:lnTo>
                    <a:pt x="625" y="114"/>
                  </a:lnTo>
                  <a:close/>
                </a:path>
              </a:pathLst>
            </a:custGeom>
            <a:solidFill>
              <a:schemeClr val="accent1">
                <a:lumMod val="60000"/>
                <a:lumOff val="40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6" name="Google Shape;1776;p8">
              <a:extLst>
                <a:ext uri="{FF2B5EF4-FFF2-40B4-BE49-F238E27FC236}">
                  <a16:creationId xmlns:a16="http://schemas.microsoft.com/office/drawing/2014/main" id="{2E65D11F-3006-30D8-F8C0-9D4C409A2729}"/>
                </a:ext>
              </a:extLst>
            </p:cNvPr>
            <p:cNvSpPr/>
            <p:nvPr/>
          </p:nvSpPr>
          <p:spPr>
            <a:xfrm>
              <a:off x="6995564" y="5425943"/>
              <a:ext cx="1059569" cy="279610"/>
            </a:xfrm>
            <a:custGeom>
              <a:avLst/>
              <a:gdLst/>
              <a:ahLst/>
              <a:cxnLst/>
              <a:rect l="l" t="t" r="r" b="b"/>
              <a:pathLst>
                <a:path w="720" h="189" extrusionOk="0">
                  <a:moveTo>
                    <a:pt x="719" y="0"/>
                  </a:moveTo>
                  <a:lnTo>
                    <a:pt x="0" y="0"/>
                  </a:lnTo>
                  <a:lnTo>
                    <a:pt x="1" y="189"/>
                  </a:lnTo>
                  <a:lnTo>
                    <a:pt x="720" y="189"/>
                  </a:lnTo>
                  <a:lnTo>
                    <a:pt x="719" y="0"/>
                  </a:lnTo>
                  <a:close/>
                  <a:moveTo>
                    <a:pt x="79" y="132"/>
                  </a:moveTo>
                  <a:lnTo>
                    <a:pt x="63" y="132"/>
                  </a:lnTo>
                  <a:lnTo>
                    <a:pt x="63" y="56"/>
                  </a:lnTo>
                  <a:lnTo>
                    <a:pt x="79" y="56"/>
                  </a:lnTo>
                  <a:lnTo>
                    <a:pt x="79" y="132"/>
                  </a:lnTo>
                  <a:close/>
                  <a:moveTo>
                    <a:pt x="117" y="132"/>
                  </a:moveTo>
                  <a:lnTo>
                    <a:pt x="102" y="132"/>
                  </a:lnTo>
                  <a:lnTo>
                    <a:pt x="102" y="56"/>
                  </a:lnTo>
                  <a:lnTo>
                    <a:pt x="117" y="56"/>
                  </a:lnTo>
                  <a:lnTo>
                    <a:pt x="117" y="132"/>
                  </a:lnTo>
                  <a:close/>
                  <a:moveTo>
                    <a:pt x="155" y="132"/>
                  </a:moveTo>
                  <a:lnTo>
                    <a:pt x="139" y="132"/>
                  </a:lnTo>
                  <a:lnTo>
                    <a:pt x="139" y="56"/>
                  </a:lnTo>
                  <a:lnTo>
                    <a:pt x="155" y="56"/>
                  </a:lnTo>
                  <a:lnTo>
                    <a:pt x="155" y="132"/>
                  </a:lnTo>
                  <a:close/>
                  <a:moveTo>
                    <a:pt x="193" y="132"/>
                  </a:moveTo>
                  <a:lnTo>
                    <a:pt x="178" y="132"/>
                  </a:lnTo>
                  <a:lnTo>
                    <a:pt x="178" y="56"/>
                  </a:lnTo>
                  <a:lnTo>
                    <a:pt x="193" y="56"/>
                  </a:lnTo>
                  <a:lnTo>
                    <a:pt x="193" y="132"/>
                  </a:lnTo>
                  <a:close/>
                  <a:moveTo>
                    <a:pt x="625" y="114"/>
                  </a:moveTo>
                  <a:lnTo>
                    <a:pt x="625" y="114"/>
                  </a:lnTo>
                  <a:lnTo>
                    <a:pt x="621" y="113"/>
                  </a:lnTo>
                  <a:lnTo>
                    <a:pt x="617" y="112"/>
                  </a:lnTo>
                  <a:lnTo>
                    <a:pt x="612" y="108"/>
                  </a:lnTo>
                  <a:lnTo>
                    <a:pt x="607" y="103"/>
                  </a:lnTo>
                  <a:lnTo>
                    <a:pt x="607" y="99"/>
                  </a:lnTo>
                  <a:lnTo>
                    <a:pt x="606" y="95"/>
                  </a:lnTo>
                  <a:lnTo>
                    <a:pt x="606" y="95"/>
                  </a:lnTo>
                  <a:lnTo>
                    <a:pt x="607" y="91"/>
                  </a:lnTo>
                  <a:lnTo>
                    <a:pt x="607" y="87"/>
                  </a:lnTo>
                  <a:lnTo>
                    <a:pt x="612" y="81"/>
                  </a:lnTo>
                  <a:lnTo>
                    <a:pt x="617" y="77"/>
                  </a:lnTo>
                  <a:lnTo>
                    <a:pt x="621" y="76"/>
                  </a:lnTo>
                  <a:lnTo>
                    <a:pt x="625" y="76"/>
                  </a:lnTo>
                  <a:lnTo>
                    <a:pt x="625" y="76"/>
                  </a:lnTo>
                  <a:lnTo>
                    <a:pt x="629" y="76"/>
                  </a:lnTo>
                  <a:lnTo>
                    <a:pt x="633" y="77"/>
                  </a:lnTo>
                  <a:lnTo>
                    <a:pt x="638" y="81"/>
                  </a:lnTo>
                  <a:lnTo>
                    <a:pt x="643" y="87"/>
                  </a:lnTo>
                  <a:lnTo>
                    <a:pt x="643" y="91"/>
                  </a:lnTo>
                  <a:lnTo>
                    <a:pt x="644" y="95"/>
                  </a:lnTo>
                  <a:lnTo>
                    <a:pt x="644" y="95"/>
                  </a:lnTo>
                  <a:lnTo>
                    <a:pt x="643" y="99"/>
                  </a:lnTo>
                  <a:lnTo>
                    <a:pt x="643" y="103"/>
                  </a:lnTo>
                  <a:lnTo>
                    <a:pt x="638" y="108"/>
                  </a:lnTo>
                  <a:lnTo>
                    <a:pt x="633" y="112"/>
                  </a:lnTo>
                  <a:lnTo>
                    <a:pt x="629" y="113"/>
                  </a:lnTo>
                  <a:lnTo>
                    <a:pt x="625" y="114"/>
                  </a:lnTo>
                  <a:lnTo>
                    <a:pt x="625" y="114"/>
                  </a:lnTo>
                  <a:close/>
                </a:path>
              </a:pathLst>
            </a:custGeom>
            <a:solidFill>
              <a:schemeClr val="accent1">
                <a:lumMod val="60000"/>
                <a:lumOff val="40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7" name="Google Shape;1776;p8">
              <a:extLst>
                <a:ext uri="{FF2B5EF4-FFF2-40B4-BE49-F238E27FC236}">
                  <a16:creationId xmlns:a16="http://schemas.microsoft.com/office/drawing/2014/main" id="{5A911470-6BE8-2E4D-84B7-8C604AE01795}"/>
                </a:ext>
              </a:extLst>
            </p:cNvPr>
            <p:cNvSpPr/>
            <p:nvPr/>
          </p:nvSpPr>
          <p:spPr>
            <a:xfrm>
              <a:off x="8204360" y="5425943"/>
              <a:ext cx="1059569" cy="279610"/>
            </a:xfrm>
            <a:custGeom>
              <a:avLst/>
              <a:gdLst/>
              <a:ahLst/>
              <a:cxnLst/>
              <a:rect l="l" t="t" r="r" b="b"/>
              <a:pathLst>
                <a:path w="720" h="189" extrusionOk="0">
                  <a:moveTo>
                    <a:pt x="719" y="0"/>
                  </a:moveTo>
                  <a:lnTo>
                    <a:pt x="0" y="0"/>
                  </a:lnTo>
                  <a:lnTo>
                    <a:pt x="1" y="189"/>
                  </a:lnTo>
                  <a:lnTo>
                    <a:pt x="720" y="189"/>
                  </a:lnTo>
                  <a:lnTo>
                    <a:pt x="719" y="0"/>
                  </a:lnTo>
                  <a:close/>
                  <a:moveTo>
                    <a:pt x="79" y="132"/>
                  </a:moveTo>
                  <a:lnTo>
                    <a:pt x="63" y="132"/>
                  </a:lnTo>
                  <a:lnTo>
                    <a:pt x="63" y="56"/>
                  </a:lnTo>
                  <a:lnTo>
                    <a:pt x="79" y="56"/>
                  </a:lnTo>
                  <a:lnTo>
                    <a:pt x="79" y="132"/>
                  </a:lnTo>
                  <a:close/>
                  <a:moveTo>
                    <a:pt x="117" y="132"/>
                  </a:moveTo>
                  <a:lnTo>
                    <a:pt x="102" y="132"/>
                  </a:lnTo>
                  <a:lnTo>
                    <a:pt x="102" y="56"/>
                  </a:lnTo>
                  <a:lnTo>
                    <a:pt x="117" y="56"/>
                  </a:lnTo>
                  <a:lnTo>
                    <a:pt x="117" y="132"/>
                  </a:lnTo>
                  <a:close/>
                  <a:moveTo>
                    <a:pt x="155" y="132"/>
                  </a:moveTo>
                  <a:lnTo>
                    <a:pt x="139" y="132"/>
                  </a:lnTo>
                  <a:lnTo>
                    <a:pt x="139" y="56"/>
                  </a:lnTo>
                  <a:lnTo>
                    <a:pt x="155" y="56"/>
                  </a:lnTo>
                  <a:lnTo>
                    <a:pt x="155" y="132"/>
                  </a:lnTo>
                  <a:close/>
                  <a:moveTo>
                    <a:pt x="193" y="132"/>
                  </a:moveTo>
                  <a:lnTo>
                    <a:pt x="178" y="132"/>
                  </a:lnTo>
                  <a:lnTo>
                    <a:pt x="178" y="56"/>
                  </a:lnTo>
                  <a:lnTo>
                    <a:pt x="193" y="56"/>
                  </a:lnTo>
                  <a:lnTo>
                    <a:pt x="193" y="132"/>
                  </a:lnTo>
                  <a:close/>
                  <a:moveTo>
                    <a:pt x="625" y="114"/>
                  </a:moveTo>
                  <a:lnTo>
                    <a:pt x="625" y="114"/>
                  </a:lnTo>
                  <a:lnTo>
                    <a:pt x="621" y="113"/>
                  </a:lnTo>
                  <a:lnTo>
                    <a:pt x="617" y="112"/>
                  </a:lnTo>
                  <a:lnTo>
                    <a:pt x="612" y="108"/>
                  </a:lnTo>
                  <a:lnTo>
                    <a:pt x="607" y="103"/>
                  </a:lnTo>
                  <a:lnTo>
                    <a:pt x="607" y="99"/>
                  </a:lnTo>
                  <a:lnTo>
                    <a:pt x="606" y="95"/>
                  </a:lnTo>
                  <a:lnTo>
                    <a:pt x="606" y="95"/>
                  </a:lnTo>
                  <a:lnTo>
                    <a:pt x="607" y="91"/>
                  </a:lnTo>
                  <a:lnTo>
                    <a:pt x="607" y="87"/>
                  </a:lnTo>
                  <a:lnTo>
                    <a:pt x="612" y="81"/>
                  </a:lnTo>
                  <a:lnTo>
                    <a:pt x="617" y="77"/>
                  </a:lnTo>
                  <a:lnTo>
                    <a:pt x="621" y="76"/>
                  </a:lnTo>
                  <a:lnTo>
                    <a:pt x="625" y="76"/>
                  </a:lnTo>
                  <a:lnTo>
                    <a:pt x="625" y="76"/>
                  </a:lnTo>
                  <a:lnTo>
                    <a:pt x="629" y="76"/>
                  </a:lnTo>
                  <a:lnTo>
                    <a:pt x="633" y="77"/>
                  </a:lnTo>
                  <a:lnTo>
                    <a:pt x="638" y="81"/>
                  </a:lnTo>
                  <a:lnTo>
                    <a:pt x="643" y="87"/>
                  </a:lnTo>
                  <a:lnTo>
                    <a:pt x="643" y="91"/>
                  </a:lnTo>
                  <a:lnTo>
                    <a:pt x="644" y="95"/>
                  </a:lnTo>
                  <a:lnTo>
                    <a:pt x="644" y="95"/>
                  </a:lnTo>
                  <a:lnTo>
                    <a:pt x="643" y="99"/>
                  </a:lnTo>
                  <a:lnTo>
                    <a:pt x="643" y="103"/>
                  </a:lnTo>
                  <a:lnTo>
                    <a:pt x="638" y="108"/>
                  </a:lnTo>
                  <a:lnTo>
                    <a:pt x="633" y="112"/>
                  </a:lnTo>
                  <a:lnTo>
                    <a:pt x="629" y="113"/>
                  </a:lnTo>
                  <a:lnTo>
                    <a:pt x="625" y="114"/>
                  </a:lnTo>
                  <a:lnTo>
                    <a:pt x="625" y="114"/>
                  </a:lnTo>
                  <a:close/>
                </a:path>
              </a:pathLst>
            </a:custGeom>
            <a:solidFill>
              <a:schemeClr val="accent1">
                <a:lumMod val="60000"/>
                <a:lumOff val="40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8" name="Rounded Rectangle 17">
            <a:extLst>
              <a:ext uri="{FF2B5EF4-FFF2-40B4-BE49-F238E27FC236}">
                <a16:creationId xmlns:a16="http://schemas.microsoft.com/office/drawing/2014/main" id="{B78D1CA8-1085-1E8D-904F-EA0085C948E9}"/>
              </a:ext>
            </a:extLst>
          </p:cNvPr>
          <p:cNvSpPr/>
          <p:nvPr/>
        </p:nvSpPr>
        <p:spPr bwMode="gray">
          <a:xfrm>
            <a:off x="4684983" y="3444759"/>
            <a:ext cx="2421413" cy="413552"/>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DSM Managed</a:t>
            </a:r>
          </a:p>
        </p:txBody>
      </p:sp>
      <p:sp>
        <p:nvSpPr>
          <p:cNvPr id="19" name="Rounded Rectangle 18">
            <a:extLst>
              <a:ext uri="{FF2B5EF4-FFF2-40B4-BE49-F238E27FC236}">
                <a16:creationId xmlns:a16="http://schemas.microsoft.com/office/drawing/2014/main" id="{59FC4BA2-B5FC-277F-6A87-E80C6F4BF90B}"/>
              </a:ext>
            </a:extLst>
          </p:cNvPr>
          <p:cNvSpPr/>
          <p:nvPr/>
        </p:nvSpPr>
        <p:spPr bwMode="gray">
          <a:xfrm>
            <a:off x="7279277" y="3427562"/>
            <a:ext cx="2437424" cy="430750"/>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vSphere Namespace</a:t>
            </a:r>
          </a:p>
        </p:txBody>
      </p:sp>
      <p:sp>
        <p:nvSpPr>
          <p:cNvPr id="20" name="TextBox 19">
            <a:extLst>
              <a:ext uri="{FF2B5EF4-FFF2-40B4-BE49-F238E27FC236}">
                <a16:creationId xmlns:a16="http://schemas.microsoft.com/office/drawing/2014/main" id="{D44A7278-D4FB-11BF-18FB-2994DEDCB628}"/>
              </a:ext>
            </a:extLst>
          </p:cNvPr>
          <p:cNvSpPr txBox="1"/>
          <p:nvPr/>
        </p:nvSpPr>
        <p:spPr>
          <a:xfrm>
            <a:off x="10084272" y="3584313"/>
            <a:ext cx="1612214"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B1D36"/>
                </a:solidFill>
                <a:effectLst/>
                <a:uLnTx/>
                <a:uFillTx/>
                <a:latin typeface="Arial" panose="020B0604020202020204"/>
                <a:ea typeface="+mn-ea"/>
                <a:cs typeface="+mn-cs"/>
              </a:rPr>
              <a:t>Infrastructure</a:t>
            </a:r>
            <a:br>
              <a:rPr kumimoji="0" lang="en-US" sz="1800" b="0" i="0" u="none" strike="noStrike" kern="1200" cap="none" spc="0" normalizeH="0" baseline="0" noProof="0" dirty="0">
                <a:ln>
                  <a:noFill/>
                </a:ln>
                <a:solidFill>
                  <a:srgbClr val="1B1D36"/>
                </a:solidFill>
                <a:effectLst/>
                <a:uLnTx/>
                <a:uFillTx/>
                <a:latin typeface="Arial" panose="020B0604020202020204"/>
                <a:ea typeface="+mn-ea"/>
                <a:cs typeface="+mn-cs"/>
              </a:rPr>
            </a:br>
            <a:r>
              <a:rPr kumimoji="0" lang="en-US" sz="1800" b="0" i="0" u="none" strike="noStrike" kern="1200" cap="none" spc="0" normalizeH="0" baseline="0" noProof="0" dirty="0">
                <a:ln>
                  <a:noFill/>
                </a:ln>
                <a:solidFill>
                  <a:srgbClr val="1B1D36"/>
                </a:solidFill>
                <a:effectLst/>
                <a:uLnTx/>
                <a:uFillTx/>
                <a:latin typeface="Arial" panose="020B0604020202020204"/>
                <a:ea typeface="+mn-ea"/>
                <a:cs typeface="+mn-cs"/>
              </a:rPr>
              <a:t>Policy</a:t>
            </a:r>
          </a:p>
        </p:txBody>
      </p:sp>
      <p:sp>
        <p:nvSpPr>
          <p:cNvPr id="21" name="Rounded Rectangle 20">
            <a:extLst>
              <a:ext uri="{FF2B5EF4-FFF2-40B4-BE49-F238E27FC236}">
                <a16:creationId xmlns:a16="http://schemas.microsoft.com/office/drawing/2014/main" id="{D579D885-B337-A0D5-7DF4-E557E66E4305}"/>
              </a:ext>
            </a:extLst>
          </p:cNvPr>
          <p:cNvSpPr/>
          <p:nvPr/>
        </p:nvSpPr>
        <p:spPr bwMode="gray">
          <a:xfrm>
            <a:off x="7279277" y="3966778"/>
            <a:ext cx="2441246" cy="343066"/>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Supervisor</a:t>
            </a:r>
          </a:p>
        </p:txBody>
      </p:sp>
      <p:grpSp>
        <p:nvGrpSpPr>
          <p:cNvPr id="70" name="Group 69">
            <a:extLst>
              <a:ext uri="{FF2B5EF4-FFF2-40B4-BE49-F238E27FC236}">
                <a16:creationId xmlns:a16="http://schemas.microsoft.com/office/drawing/2014/main" id="{64A2BDA3-E22A-1CA1-F757-1C6F5C9F36CD}"/>
              </a:ext>
            </a:extLst>
          </p:cNvPr>
          <p:cNvGrpSpPr/>
          <p:nvPr/>
        </p:nvGrpSpPr>
        <p:grpSpPr>
          <a:xfrm>
            <a:off x="4684982" y="2215770"/>
            <a:ext cx="5031719" cy="1103326"/>
            <a:chOff x="4424923" y="3163726"/>
            <a:chExt cx="5031719" cy="1103326"/>
          </a:xfrm>
        </p:grpSpPr>
        <p:grpSp>
          <p:nvGrpSpPr>
            <p:cNvPr id="69" name="Group 68">
              <a:extLst>
                <a:ext uri="{FF2B5EF4-FFF2-40B4-BE49-F238E27FC236}">
                  <a16:creationId xmlns:a16="http://schemas.microsoft.com/office/drawing/2014/main" id="{E60A5A7C-F648-1768-8FF0-D2E380AA2798}"/>
                </a:ext>
              </a:extLst>
            </p:cNvPr>
            <p:cNvGrpSpPr/>
            <p:nvPr/>
          </p:nvGrpSpPr>
          <p:grpSpPr>
            <a:xfrm>
              <a:off x="5329951" y="3339933"/>
              <a:ext cx="3229186" cy="736810"/>
              <a:chOff x="5329951" y="3365100"/>
              <a:chExt cx="3229186" cy="736810"/>
            </a:xfrm>
          </p:grpSpPr>
          <p:pic>
            <p:nvPicPr>
              <p:cNvPr id="23" name="Graphic 22">
                <a:extLst>
                  <a:ext uri="{FF2B5EF4-FFF2-40B4-BE49-F238E27FC236}">
                    <a16:creationId xmlns:a16="http://schemas.microsoft.com/office/drawing/2014/main" id="{BBBAAA7F-8885-602F-8857-CD941ED77A6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780646" y="3499156"/>
                <a:ext cx="455007" cy="468699"/>
              </a:xfrm>
              <a:prstGeom prst="rect">
                <a:avLst/>
              </a:prstGeom>
            </p:spPr>
          </p:pic>
          <p:pic>
            <p:nvPicPr>
              <p:cNvPr id="29" name="Graphic 28">
                <a:extLst>
                  <a:ext uri="{FF2B5EF4-FFF2-40B4-BE49-F238E27FC236}">
                    <a16:creationId xmlns:a16="http://schemas.microsoft.com/office/drawing/2014/main" id="{9E28FC83-A068-2907-DCB1-03203A886BE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29951" y="3365100"/>
                <a:ext cx="736810" cy="736810"/>
              </a:xfrm>
              <a:prstGeom prst="rect">
                <a:avLst/>
              </a:prstGeom>
            </p:spPr>
          </p:pic>
          <p:pic>
            <p:nvPicPr>
              <p:cNvPr id="31" name="Graphic 30">
                <a:extLst>
                  <a:ext uri="{FF2B5EF4-FFF2-40B4-BE49-F238E27FC236}">
                    <a16:creationId xmlns:a16="http://schemas.microsoft.com/office/drawing/2014/main" id="{BAE8D152-44FE-EBA7-47B4-87896A04B0A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949537" y="3428705"/>
                <a:ext cx="609600" cy="609600"/>
              </a:xfrm>
              <a:prstGeom prst="rect">
                <a:avLst/>
              </a:prstGeom>
            </p:spPr>
          </p:pic>
        </p:grpSp>
        <p:sp>
          <p:nvSpPr>
            <p:cNvPr id="32" name="Rounded Rectangle 31">
              <a:extLst>
                <a:ext uri="{FF2B5EF4-FFF2-40B4-BE49-F238E27FC236}">
                  <a16:creationId xmlns:a16="http://schemas.microsoft.com/office/drawing/2014/main" id="{41FFB864-30CC-9A32-A877-EFC07DAF10ED}"/>
                </a:ext>
              </a:extLst>
            </p:cNvPr>
            <p:cNvSpPr/>
            <p:nvPr/>
          </p:nvSpPr>
          <p:spPr bwMode="gray">
            <a:xfrm>
              <a:off x="4424923" y="3163726"/>
              <a:ext cx="5031719" cy="1103326"/>
            </a:xfrm>
            <a:prstGeom prst="roundRect">
              <a:avLst/>
            </a:prstGeom>
            <a:noFill/>
            <a:ln w="12700">
              <a:solidFill>
                <a:schemeClr val="tx2">
                  <a:lumMod val="50000"/>
                  <a:lumOff val="50000"/>
                </a:schemeClr>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grpSp>
      <p:sp>
        <p:nvSpPr>
          <p:cNvPr id="33" name="Rounded Rectangle 32">
            <a:extLst>
              <a:ext uri="{FF2B5EF4-FFF2-40B4-BE49-F238E27FC236}">
                <a16:creationId xmlns:a16="http://schemas.microsoft.com/office/drawing/2014/main" id="{1762AE50-E3F0-C9DD-E0A6-8D1160BE8626}"/>
              </a:ext>
            </a:extLst>
          </p:cNvPr>
          <p:cNvSpPr/>
          <p:nvPr/>
        </p:nvSpPr>
        <p:spPr bwMode="gray">
          <a:xfrm>
            <a:off x="4684983" y="3969134"/>
            <a:ext cx="2421413" cy="343066"/>
          </a:xfrm>
          <a:prstGeom prst="roundRect">
            <a:avLst/>
          </a:prstGeom>
          <a:solidFill>
            <a:schemeClr val="accent2"/>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Cluster | Resource Pool</a:t>
            </a:r>
          </a:p>
        </p:txBody>
      </p:sp>
      <p:cxnSp>
        <p:nvCxnSpPr>
          <p:cNvPr id="35" name="Curved Connector 34">
            <a:extLst>
              <a:ext uri="{FF2B5EF4-FFF2-40B4-BE49-F238E27FC236}">
                <a16:creationId xmlns:a16="http://schemas.microsoft.com/office/drawing/2014/main" id="{56AA348B-1106-3C3F-E2D0-444A24A96C54}"/>
              </a:ext>
            </a:extLst>
          </p:cNvPr>
          <p:cNvCxnSpPr>
            <a:cxnSpLocks/>
          </p:cNvCxnSpPr>
          <p:nvPr/>
        </p:nvCxnSpPr>
        <p:spPr bwMode="gray">
          <a:xfrm>
            <a:off x="3569937" y="4182949"/>
            <a:ext cx="1063019" cy="434841"/>
          </a:xfrm>
          <a:prstGeom prst="curvedConnector3">
            <a:avLst>
              <a:gd name="adj1" fmla="val 49211"/>
            </a:avLst>
          </a:prstGeom>
          <a:ln w="12700">
            <a:solidFill>
              <a:schemeClr val="tx2"/>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64" name="Arc 63">
            <a:extLst>
              <a:ext uri="{FF2B5EF4-FFF2-40B4-BE49-F238E27FC236}">
                <a16:creationId xmlns:a16="http://schemas.microsoft.com/office/drawing/2014/main" id="{399A3FC1-C461-DF74-C3C0-D42B99BDB337}"/>
              </a:ext>
            </a:extLst>
          </p:cNvPr>
          <p:cNvSpPr/>
          <p:nvPr/>
        </p:nvSpPr>
        <p:spPr bwMode="gray">
          <a:xfrm>
            <a:off x="3239963" y="3537168"/>
            <a:ext cx="649904" cy="527421"/>
          </a:xfrm>
          <a:prstGeom prst="arc">
            <a:avLst>
              <a:gd name="adj1" fmla="val 16992255"/>
              <a:gd name="adj2" fmla="val 4813052"/>
            </a:avLst>
          </a:prstGeom>
          <a:ln w="19050">
            <a:solidFill>
              <a:schemeClr val="tx2"/>
            </a:solidFill>
            <a:miter lim="800000"/>
            <a:tailEnd type="triangl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1" name="Right Brace 70">
            <a:extLst>
              <a:ext uri="{FF2B5EF4-FFF2-40B4-BE49-F238E27FC236}">
                <a16:creationId xmlns:a16="http://schemas.microsoft.com/office/drawing/2014/main" id="{72B2C262-0F0A-AF9C-73CB-E46D26ED4F74}"/>
              </a:ext>
            </a:extLst>
          </p:cNvPr>
          <p:cNvSpPr/>
          <p:nvPr/>
        </p:nvSpPr>
        <p:spPr bwMode="gray">
          <a:xfrm>
            <a:off x="9797535" y="3444759"/>
            <a:ext cx="209725" cy="865085"/>
          </a:xfrm>
          <a:prstGeom prst="rightBrace">
            <a:avLst>
              <a:gd name="adj1" fmla="val 52332"/>
              <a:gd name="adj2" fmla="val 50000"/>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2" name="TextBox 71">
            <a:extLst>
              <a:ext uri="{FF2B5EF4-FFF2-40B4-BE49-F238E27FC236}">
                <a16:creationId xmlns:a16="http://schemas.microsoft.com/office/drawing/2014/main" id="{DC1BD505-FE01-EDD7-3677-CFAD111F65BD}"/>
              </a:ext>
            </a:extLst>
          </p:cNvPr>
          <p:cNvSpPr txBox="1"/>
          <p:nvPr/>
        </p:nvSpPr>
        <p:spPr>
          <a:xfrm>
            <a:off x="1046278" y="4955139"/>
            <a:ext cx="2490643"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Management Domain</a:t>
            </a:r>
          </a:p>
        </p:txBody>
      </p:sp>
      <p:sp>
        <p:nvSpPr>
          <p:cNvPr id="73" name="TextBox 72">
            <a:extLst>
              <a:ext uri="{FF2B5EF4-FFF2-40B4-BE49-F238E27FC236}">
                <a16:creationId xmlns:a16="http://schemas.microsoft.com/office/drawing/2014/main" id="{465FBC6F-5325-D53F-3119-D107EC1EEC2B}"/>
              </a:ext>
            </a:extLst>
          </p:cNvPr>
          <p:cNvSpPr txBox="1"/>
          <p:nvPr/>
        </p:nvSpPr>
        <p:spPr>
          <a:xfrm>
            <a:off x="4684982" y="4955139"/>
            <a:ext cx="2490643"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B1D36"/>
                </a:solidFill>
                <a:effectLst/>
                <a:uLnTx/>
                <a:uFillTx/>
                <a:latin typeface="Arial" panose="020B0604020202020204"/>
                <a:ea typeface="+mn-ea"/>
                <a:cs typeface="+mn-cs"/>
              </a:rPr>
              <a:t>Workload Domain</a:t>
            </a:r>
          </a:p>
        </p:txBody>
      </p:sp>
    </p:spTree>
    <p:extLst>
      <p:ext uri="{BB962C8B-B14F-4D97-AF65-F5344CB8AC3E}">
        <p14:creationId xmlns:p14="http://schemas.microsoft.com/office/powerpoint/2010/main" val="2288585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dissolve">
                                      <p:cBhvr>
                                        <p:cTn id="10" dur="500"/>
                                        <p:tgtEl>
                                          <p:spTgt spid="6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dissolve">
                                      <p:cBhvr>
                                        <p:cTn id="15" dur="500"/>
                                        <p:tgtEl>
                                          <p:spTgt spid="33"/>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dissolve">
                                      <p:cBhvr>
                                        <p:cTn id="23" dur="500"/>
                                        <p:tgtEl>
                                          <p:spTgt spid="18"/>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dissolve">
                                      <p:cBhvr>
                                        <p:cTn id="26" dur="500"/>
                                        <p:tgtEl>
                                          <p:spTgt spid="1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dissolve">
                                      <p:cBhvr>
                                        <p:cTn id="29" dur="500"/>
                                        <p:tgtEl>
                                          <p:spTgt spid="2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1"/>
                                        </p:tgtEl>
                                        <p:attrNameLst>
                                          <p:attrName>style.visibility</p:attrName>
                                        </p:attrNameLst>
                                      </p:cBhvr>
                                      <p:to>
                                        <p:strVal val="visible"/>
                                      </p:to>
                                    </p:set>
                                    <p:animEffect transition="in" filter="dissolve">
                                      <p:cBhvr>
                                        <p:cTn id="32" dur="500"/>
                                        <p:tgtEl>
                                          <p:spTgt spid="7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70"/>
                                        </p:tgtEl>
                                        <p:attrNameLst>
                                          <p:attrName>style.visibility</p:attrName>
                                        </p:attrNameLst>
                                      </p:cBhvr>
                                      <p:to>
                                        <p:strVal val="visible"/>
                                      </p:to>
                                    </p:set>
                                    <p:animEffect transition="in" filter="dissolve">
                                      <p:cBhvr>
                                        <p:cTn id="3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8" grpId="0" animBg="1"/>
      <p:bldP spid="19" grpId="0" animBg="1"/>
      <p:bldP spid="20" grpId="0"/>
      <p:bldP spid="21" grpId="0" animBg="1"/>
      <p:bldP spid="33" grpId="0" animBg="1"/>
      <p:bldP spid="64" grpId="0" animBg="1"/>
      <p:bldP spid="71"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8DA3EB-D1A1-5D33-5759-49E183C8CF72}"/>
              </a:ext>
            </a:extLst>
          </p:cNvPr>
          <p:cNvSpPr>
            <a:spLocks noGrp="1"/>
          </p:cNvSpPr>
          <p:nvPr>
            <p:ph type="title"/>
          </p:nvPr>
        </p:nvSpPr>
        <p:spPr>
          <a:xfrm>
            <a:off x="589107" y="938794"/>
            <a:ext cx="8412018" cy="1229360"/>
          </a:xfrm>
        </p:spPr>
        <p:txBody>
          <a:bodyPr/>
          <a:lstStyle/>
          <a:p>
            <a:r>
              <a:rPr lang="en-US" dirty="0"/>
              <a:t>Build, Run and Manage Kubernetes</a:t>
            </a:r>
          </a:p>
        </p:txBody>
      </p:sp>
    </p:spTree>
    <p:extLst>
      <p:ext uri="{BB962C8B-B14F-4D97-AF65-F5344CB8AC3E}">
        <p14:creationId xmlns:p14="http://schemas.microsoft.com/office/powerpoint/2010/main" val="39150897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4120"/>
        <p:cNvGrpSpPr/>
        <p:nvPr/>
      </p:nvGrpSpPr>
      <p:grpSpPr>
        <a:xfrm>
          <a:off x="0" y="0"/>
          <a:ext cx="0" cy="0"/>
          <a:chOff x="0" y="0"/>
          <a:chExt cx="0" cy="0"/>
        </a:xfrm>
      </p:grpSpPr>
      <p:sp>
        <p:nvSpPr>
          <p:cNvPr id="4121" name="Google Shape;4121;p217"/>
          <p:cNvSpPr/>
          <p:nvPr/>
        </p:nvSpPr>
        <p:spPr>
          <a:xfrm>
            <a:off x="33" y="1268063"/>
            <a:ext cx="12188825" cy="4939913"/>
          </a:xfrm>
          <a:prstGeom prst="rect">
            <a:avLst/>
          </a:prstGeom>
          <a:gradFill>
            <a:gsLst>
              <a:gs pos="0">
                <a:schemeClr val="bg1"/>
              </a:gs>
              <a:gs pos="75000">
                <a:srgbClr val="C0E6F1">
                  <a:alpha val="25152"/>
                </a:srgbClr>
              </a:gs>
              <a:gs pos="25000">
                <a:srgbClr val="80CCE3">
                  <a:alpha val="24605"/>
                </a:srgbClr>
              </a:gs>
              <a:gs pos="50000">
                <a:schemeClr val="accent3">
                  <a:alpha val="25362"/>
                </a:schemeClr>
              </a:gs>
              <a:gs pos="100000">
                <a:schemeClr val="bg1"/>
              </a:gs>
            </a:gsLst>
            <a:lin ang="5400700" scaled="0"/>
          </a:gradFill>
          <a:ln w="9525" cap="flat" cmpd="sng">
            <a:solidFill>
              <a:schemeClr val="lt1"/>
            </a:solidFill>
            <a:prstDash val="dot"/>
            <a:round/>
            <a:headEnd type="none" w="sm" len="sm"/>
            <a:tailEnd type="none" w="sm" len="sm"/>
          </a:ln>
        </p:spPr>
        <p:txBody>
          <a:bodyPr spcFirstLastPara="1" wrap="square" lIns="121868" tIns="121868" rIns="121868" bIns="121868"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highlight>
                <a:srgbClr val="CFE2F3"/>
              </a:highlight>
              <a:uLnTx/>
              <a:uFillTx/>
              <a:latin typeface="Arial" panose="020B0604020202020204"/>
              <a:ea typeface="+mn-ea"/>
              <a:cs typeface="+mn-cs"/>
            </a:endParaRPr>
          </a:p>
        </p:txBody>
      </p:sp>
      <p:sp>
        <p:nvSpPr>
          <p:cNvPr id="4122" name="Google Shape;4122;p217"/>
          <p:cNvSpPr txBox="1"/>
          <p:nvPr/>
        </p:nvSpPr>
        <p:spPr>
          <a:xfrm>
            <a:off x="1281666" y="1635885"/>
            <a:ext cx="2749684" cy="656462"/>
          </a:xfrm>
          <a:prstGeom prst="rect">
            <a:avLst/>
          </a:prstGeom>
          <a:noFill/>
          <a:ln>
            <a:noFill/>
          </a:ln>
        </p:spPr>
        <p:txBody>
          <a:bodyPr spcFirstLastPara="1" wrap="square" lIns="0" tIns="0" rIns="0" bIns="0" anchor="ctr" anchorCtr="0">
            <a:spAutoFit/>
          </a:bodyPr>
          <a:lstStyle/>
          <a:p>
            <a:pPr marL="0" marR="0" lvl="0" indent="0" algn="r" defTabSz="914400" rtl="0" eaLnBrk="1" fontAlgn="auto" latinLnBrk="0" hangingPunct="1">
              <a:lnSpc>
                <a:spcPct val="100000"/>
              </a:lnSpc>
              <a:spcBef>
                <a:spcPts val="0"/>
              </a:spcBef>
              <a:spcAft>
                <a:spcPts val="0"/>
              </a:spcAft>
              <a:buClr>
                <a:srgbClr val="000000"/>
              </a:buClr>
              <a:buSzPts val="1000"/>
              <a:buFontTx/>
              <a:buNone/>
              <a:tabLst/>
              <a:defRPr/>
            </a:pPr>
            <a:r>
              <a:rPr kumimoji="0" lang="en" sz="1600" b="0" i="0" u="none" strike="noStrike" kern="1200" cap="none" spc="0" normalizeH="0" baseline="0" noProof="0">
                <a:ln>
                  <a:noFill/>
                </a:ln>
                <a:solidFill>
                  <a:srgbClr val="6C4B94"/>
                </a:solidFill>
                <a:effectLst/>
                <a:uLnTx/>
                <a:uFillTx/>
                <a:latin typeface="Arial" panose="020B0604020202020204"/>
                <a:ea typeface="+mn-ea"/>
                <a:cs typeface="+mn-cs"/>
              </a:rPr>
              <a:t>Hardware Integration</a:t>
            </a:r>
            <a:br>
              <a:rPr kumimoji="0" lang="en" sz="1600" b="0" i="0" u="none" strike="noStrike" kern="1200" cap="none" spc="0" normalizeH="0" baseline="0" noProof="0">
                <a:ln>
                  <a:noFill/>
                </a:ln>
                <a:solidFill>
                  <a:srgbClr val="6C4B94"/>
                </a:solidFill>
                <a:effectLst/>
                <a:uLnTx/>
                <a:uFillTx/>
                <a:latin typeface="Arial" panose="020B0604020202020204"/>
                <a:ea typeface="+mn-ea"/>
                <a:cs typeface="+mn-cs"/>
              </a:rPr>
            </a:br>
            <a:r>
              <a:rPr kumimoji="0" lang="en" sz="1333" b="0" i="0" u="none" strike="noStrike" kern="1200" cap="none" spc="0" normalizeH="0" baseline="0" noProof="0">
                <a:ln>
                  <a:noFill/>
                </a:ln>
                <a:solidFill>
                  <a:srgbClr val="1B1D36"/>
                </a:solidFill>
                <a:effectLst/>
                <a:uLnTx/>
                <a:uFillTx/>
                <a:latin typeface="Arial" panose="020B0604020202020204"/>
                <a:ea typeface="+mn-ea"/>
                <a:cs typeface="+mn-cs"/>
              </a:rPr>
              <a:t>Seamless access to virtual resources (GPUs, storage, etc.)</a:t>
            </a:r>
            <a:endParaRPr kumimoji="0" sz="1600" b="0" i="0" u="none" strike="noStrike" kern="1200" cap="none" spc="0" normalizeH="0" baseline="0" noProof="0">
              <a:ln>
                <a:noFill/>
              </a:ln>
              <a:solidFill>
                <a:srgbClr val="1B1D36"/>
              </a:solidFill>
              <a:effectLst/>
              <a:uLnTx/>
              <a:uFillTx/>
              <a:latin typeface="Arial"/>
              <a:ea typeface="Arial"/>
              <a:cs typeface="Arial"/>
              <a:sym typeface="Arial"/>
            </a:endParaRPr>
          </a:p>
        </p:txBody>
      </p:sp>
      <p:sp>
        <p:nvSpPr>
          <p:cNvPr id="4123" name="Google Shape;4123;p217"/>
          <p:cNvSpPr/>
          <p:nvPr/>
        </p:nvSpPr>
        <p:spPr>
          <a:xfrm flipH="1">
            <a:off x="-1833" y="1786"/>
            <a:ext cx="12190654" cy="93005"/>
          </a:xfrm>
          <a:custGeom>
            <a:avLst/>
            <a:gdLst/>
            <a:ahLst/>
            <a:cxnLst/>
            <a:rect l="l" t="t" r="r" b="b"/>
            <a:pathLst>
              <a:path w="3672840" h="3488576" extrusionOk="0">
                <a:moveTo>
                  <a:pt x="0" y="0"/>
                </a:moveTo>
                <a:lnTo>
                  <a:pt x="3672840" y="0"/>
                </a:lnTo>
                <a:lnTo>
                  <a:pt x="3672840" y="1284810"/>
                </a:lnTo>
                <a:lnTo>
                  <a:pt x="3672840" y="1371601"/>
                </a:lnTo>
                <a:lnTo>
                  <a:pt x="3672840" y="3488576"/>
                </a:lnTo>
                <a:lnTo>
                  <a:pt x="0" y="3488576"/>
                </a:lnTo>
                <a:lnTo>
                  <a:pt x="0" y="1371601"/>
                </a:lnTo>
                <a:lnTo>
                  <a:pt x="0" y="1284810"/>
                </a:lnTo>
                <a:close/>
              </a:path>
            </a:pathLst>
          </a:custGeom>
          <a:gradFill>
            <a:gsLst>
              <a:gs pos="0">
                <a:schemeClr val="accent5"/>
              </a:gs>
              <a:gs pos="53000">
                <a:schemeClr val="accent5"/>
              </a:gs>
              <a:gs pos="100000">
                <a:schemeClr val="accent2"/>
              </a:gs>
            </a:gsLst>
            <a:lin ang="18900044" scaled="0"/>
          </a:gradFill>
          <a:ln>
            <a:noFill/>
          </a:ln>
        </p:spPr>
        <p:txBody>
          <a:bodyPr spcFirstLastPara="1" wrap="square" lIns="91343" tIns="45655" rIns="91343"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124" name="Google Shape;4124;p217"/>
          <p:cNvSpPr txBox="1"/>
          <p:nvPr/>
        </p:nvSpPr>
        <p:spPr>
          <a:xfrm>
            <a:off x="8085860" y="1638516"/>
            <a:ext cx="2573730" cy="656462"/>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Tx/>
              <a:buNone/>
              <a:tabLst/>
              <a:defRPr/>
            </a:pPr>
            <a:r>
              <a:rPr kumimoji="0" lang="en" sz="1600" b="0" i="0" u="none" strike="noStrike" kern="1200" cap="none" spc="0" normalizeH="0" baseline="0" noProof="0">
                <a:ln>
                  <a:noFill/>
                </a:ln>
                <a:solidFill>
                  <a:srgbClr val="0098C7"/>
                </a:solidFill>
                <a:effectLst/>
                <a:uLnTx/>
                <a:uFillTx/>
                <a:latin typeface="Arial" panose="020B0604020202020204"/>
                <a:ea typeface="+mn-ea"/>
                <a:cs typeface="+mn-cs"/>
              </a:rPr>
              <a:t>Long Term Support</a:t>
            </a:r>
            <a:endParaRPr kumimoji="0" sz="1600" b="0" i="0" u="none" strike="noStrike" kern="1200" cap="none" spc="0" normalizeH="0" baseline="0" noProof="0">
              <a:ln>
                <a:noFill/>
              </a:ln>
              <a:solidFill>
                <a:srgbClr val="0098C7"/>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
                <a:srgbClr val="000000"/>
              </a:buClr>
              <a:buSzPts val="1200"/>
              <a:buFontTx/>
              <a:buNone/>
              <a:tabLst/>
              <a:defRPr/>
            </a:pPr>
            <a:r>
              <a:rPr kumimoji="0" lang="en" sz="1333" b="0" i="0" u="none" strike="noStrike" kern="1200" cap="none" spc="0" normalizeH="0" baseline="0" noProof="0">
                <a:ln>
                  <a:noFill/>
                </a:ln>
                <a:solidFill>
                  <a:srgbClr val="1B1D36"/>
                </a:solidFill>
                <a:effectLst/>
                <a:uLnTx/>
                <a:uFillTx/>
                <a:latin typeface="Arial" panose="020B0604020202020204"/>
                <a:ea typeface="+mn-ea"/>
                <a:cs typeface="+mn-cs"/>
              </a:rPr>
              <a:t>24 months of support for each VKr minor version</a:t>
            </a:r>
            <a:endParaRPr kumimoji="0" sz="1333" b="0" i="0" u="none" strike="noStrike" kern="1200" cap="none" spc="0" normalizeH="0" baseline="0" noProof="0">
              <a:ln>
                <a:noFill/>
              </a:ln>
              <a:solidFill>
                <a:srgbClr val="1B1D36"/>
              </a:solidFill>
              <a:effectLst/>
              <a:uLnTx/>
              <a:uFillTx/>
              <a:latin typeface="Arial" panose="020B0604020202020204"/>
              <a:ea typeface="+mn-ea"/>
              <a:cs typeface="+mn-cs"/>
            </a:endParaRPr>
          </a:p>
        </p:txBody>
      </p:sp>
      <p:sp>
        <p:nvSpPr>
          <p:cNvPr id="4125" name="Google Shape;4125;p217"/>
          <p:cNvSpPr txBox="1"/>
          <p:nvPr/>
        </p:nvSpPr>
        <p:spPr>
          <a:xfrm>
            <a:off x="8931517" y="3350885"/>
            <a:ext cx="2811268" cy="861583"/>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r>
              <a:rPr kumimoji="0" lang="en" sz="1600" b="0" i="0" u="none" strike="noStrike" kern="1200" cap="none" spc="0" normalizeH="0" baseline="0" noProof="0" dirty="0">
                <a:ln>
                  <a:noFill/>
                </a:ln>
                <a:solidFill>
                  <a:srgbClr val="0098C7"/>
                </a:solidFill>
                <a:effectLst/>
                <a:uLnTx/>
                <a:uFillTx/>
                <a:latin typeface="Arial" panose="020B0604020202020204"/>
                <a:ea typeface="+mn-ea"/>
                <a:cs typeface="+mn-cs"/>
              </a:rPr>
              <a:t>Multi-version Support</a:t>
            </a:r>
            <a:br>
              <a:rPr kumimoji="0" lang="en" sz="1600" b="0" i="0" u="none" strike="noStrike" kern="1200" cap="none" spc="0" normalizeH="0" baseline="0" noProof="0" dirty="0">
                <a:ln>
                  <a:noFill/>
                </a:ln>
                <a:solidFill>
                  <a:srgbClr val="0098C7"/>
                </a:solidFill>
                <a:effectLst/>
                <a:uLnTx/>
                <a:uFillTx/>
                <a:latin typeface="Arial" panose="020B0604020202020204"/>
                <a:ea typeface="+mn-ea"/>
                <a:cs typeface="+mn-cs"/>
              </a:rPr>
            </a:br>
            <a:r>
              <a:rPr kumimoji="0" lang="en" sz="1333" b="0" i="0" u="none" strike="noStrike" kern="1200" cap="none" spc="0" normalizeH="0" baseline="0" noProof="0" dirty="0">
                <a:ln>
                  <a:noFill/>
                </a:ln>
                <a:solidFill>
                  <a:srgbClr val="1B1D36"/>
                </a:solidFill>
                <a:effectLst/>
                <a:uLnTx/>
                <a:uFillTx/>
                <a:latin typeface="Arial" panose="020B0604020202020204"/>
                <a:ea typeface="+mn-ea"/>
                <a:cs typeface="+mn-cs"/>
              </a:rPr>
              <a:t>Support multiple Kubernetes versions for testing and planned upgrades</a:t>
            </a:r>
            <a:endParaRPr kumimoji="0" sz="1600" b="0" i="0" u="none" strike="noStrike" kern="1200" cap="none" spc="0" normalizeH="0" baseline="30000" noProof="0" dirty="0">
              <a:ln>
                <a:noFill/>
              </a:ln>
              <a:solidFill>
                <a:srgbClr val="1B1D36"/>
              </a:solidFill>
              <a:effectLst/>
              <a:uLnTx/>
              <a:uFillTx/>
              <a:latin typeface="Arial"/>
              <a:ea typeface="Arial"/>
              <a:cs typeface="Arial"/>
              <a:sym typeface="Arial"/>
            </a:endParaRPr>
          </a:p>
        </p:txBody>
      </p:sp>
      <p:sp>
        <p:nvSpPr>
          <p:cNvPr id="4126" name="Google Shape;4126;p217"/>
          <p:cNvSpPr txBox="1"/>
          <p:nvPr/>
        </p:nvSpPr>
        <p:spPr>
          <a:xfrm>
            <a:off x="8067590" y="5258726"/>
            <a:ext cx="3131184" cy="861583"/>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Tx/>
              <a:buNone/>
              <a:tabLst/>
              <a:defRPr/>
            </a:pPr>
            <a:r>
              <a:rPr kumimoji="0" lang="en" sz="1600" b="0" i="0" u="none" strike="noStrike" kern="1200" cap="none" spc="0" normalizeH="0" baseline="0" noProof="0" dirty="0">
                <a:ln>
                  <a:noFill/>
                </a:ln>
                <a:solidFill>
                  <a:srgbClr val="0098C7"/>
                </a:solidFill>
                <a:effectLst/>
                <a:uLnTx/>
                <a:uFillTx/>
                <a:latin typeface="Arial"/>
                <a:ea typeface="Arial"/>
                <a:cs typeface="Arial"/>
                <a:sym typeface="Arial"/>
              </a:rPr>
              <a:t>Faster Access to innovation</a:t>
            </a:r>
            <a:endParaRPr kumimoji="0" sz="1866" b="0"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r>
              <a:rPr kumimoji="0" lang="en-GB" sz="1333" b="0" i="0" u="none" strike="noStrike" kern="1200" cap="none" spc="0" normalizeH="0" baseline="0" noProof="0" dirty="0">
                <a:ln>
                  <a:noFill/>
                </a:ln>
                <a:solidFill>
                  <a:srgbClr val="1B1D36"/>
                </a:solidFill>
                <a:effectLst/>
                <a:uLnTx/>
                <a:uFillTx/>
                <a:latin typeface="Arial" panose="020B0604020202020204"/>
                <a:ea typeface="Arial"/>
                <a:cs typeface="Arial"/>
                <a:sym typeface="Arial"/>
              </a:rPr>
              <a:t>VKS has delivered the last five Kubernetes versions within an average of 57 days of the upstream release</a:t>
            </a:r>
            <a:endParaRPr kumimoji="0" sz="1866" b="0" i="0" u="none" strike="noStrike" kern="1200" cap="none" spc="0" normalizeH="0" baseline="30000" noProof="0" dirty="0">
              <a:ln>
                <a:noFill/>
              </a:ln>
              <a:solidFill>
                <a:srgbClr val="1B1D36"/>
              </a:solidFill>
              <a:effectLst/>
              <a:uLnTx/>
              <a:uFillTx/>
              <a:latin typeface="Arial"/>
              <a:ea typeface="Arial"/>
              <a:cs typeface="Arial"/>
              <a:sym typeface="Arial"/>
            </a:endParaRPr>
          </a:p>
        </p:txBody>
      </p:sp>
      <p:sp>
        <p:nvSpPr>
          <p:cNvPr id="4127" name="Google Shape;4127;p217"/>
          <p:cNvSpPr txBox="1"/>
          <p:nvPr/>
        </p:nvSpPr>
        <p:spPr>
          <a:xfrm>
            <a:off x="505766" y="3368145"/>
            <a:ext cx="2749684" cy="861583"/>
          </a:xfrm>
          <a:prstGeom prst="rect">
            <a:avLst/>
          </a:prstGeom>
          <a:noFill/>
          <a:ln>
            <a:noFill/>
          </a:ln>
        </p:spPr>
        <p:txBody>
          <a:bodyPr spcFirstLastPara="1" wrap="square" lIns="0" tIns="0" rIns="0" bIns="0" anchor="ctr" anchorCtr="0">
            <a:spAutoFit/>
          </a:bodyPr>
          <a:lstStyle/>
          <a:p>
            <a:pPr marL="0" marR="0" lvl="0" indent="0" algn="r" defTabSz="914400" rtl="0" eaLnBrk="1" fontAlgn="auto" latinLnBrk="0" hangingPunct="1">
              <a:lnSpc>
                <a:spcPct val="100000"/>
              </a:lnSpc>
              <a:spcBef>
                <a:spcPts val="0"/>
              </a:spcBef>
              <a:spcAft>
                <a:spcPts val="0"/>
              </a:spcAft>
              <a:buClr>
                <a:srgbClr val="000000"/>
              </a:buClr>
              <a:buSzPts val="1000"/>
              <a:buFontTx/>
              <a:buNone/>
              <a:tabLst/>
              <a:defRPr/>
            </a:pPr>
            <a:r>
              <a:rPr kumimoji="0" lang="en" sz="1600" b="0" i="0" u="none" strike="noStrike" kern="1200" cap="none" spc="0" normalizeH="0" baseline="0" noProof="0">
                <a:ln>
                  <a:noFill/>
                </a:ln>
                <a:solidFill>
                  <a:srgbClr val="6C4B94"/>
                </a:solidFill>
                <a:effectLst/>
                <a:uLnTx/>
                <a:uFillTx/>
                <a:latin typeface="Arial" panose="020B0604020202020204"/>
                <a:ea typeface="+mn-ea"/>
                <a:cs typeface="+mn-cs"/>
              </a:rPr>
              <a:t>Enhanced Security</a:t>
            </a:r>
            <a:br>
              <a:rPr kumimoji="0" lang="en" sz="1600" b="0" i="0" u="none" strike="noStrike" kern="1200" cap="none" spc="0" normalizeH="0" baseline="0" noProof="0">
                <a:ln>
                  <a:noFill/>
                </a:ln>
                <a:solidFill>
                  <a:srgbClr val="6C4B94"/>
                </a:solidFill>
                <a:effectLst/>
                <a:uLnTx/>
                <a:uFillTx/>
                <a:latin typeface="Arial" panose="020B0604020202020204"/>
                <a:ea typeface="+mn-ea"/>
                <a:cs typeface="+mn-cs"/>
              </a:rPr>
            </a:br>
            <a:r>
              <a:rPr kumimoji="0" lang="en" sz="1333" b="0" i="0" u="none" strike="noStrike" kern="1200" cap="none" spc="0" normalizeH="0" baseline="0" noProof="0">
                <a:ln>
                  <a:noFill/>
                </a:ln>
                <a:solidFill>
                  <a:srgbClr val="1B1D36"/>
                </a:solidFill>
                <a:effectLst/>
                <a:uLnTx/>
                <a:uFillTx/>
                <a:latin typeface="Arial" panose="020B0604020202020204"/>
                <a:ea typeface="+mn-ea"/>
                <a:cs typeface="+mn-cs"/>
              </a:rPr>
              <a:t>Run modern workloads in VMs to ensure hardware-level isolation superior to bare-metal deployments</a:t>
            </a:r>
            <a:endParaRPr kumimoji="0" sz="1600" b="0" i="0" u="none" strike="noStrike" kern="1200" cap="none" spc="0" normalizeH="0" baseline="0" noProof="0">
              <a:ln>
                <a:noFill/>
              </a:ln>
              <a:solidFill>
                <a:srgbClr val="1B1D36"/>
              </a:solidFill>
              <a:effectLst/>
              <a:uLnTx/>
              <a:uFillTx/>
              <a:latin typeface="Arial"/>
              <a:ea typeface="Arial"/>
              <a:cs typeface="Arial"/>
              <a:sym typeface="Arial"/>
            </a:endParaRPr>
          </a:p>
        </p:txBody>
      </p:sp>
      <p:sp>
        <p:nvSpPr>
          <p:cNvPr id="4128" name="Google Shape;4128;p217"/>
          <p:cNvSpPr txBox="1"/>
          <p:nvPr/>
        </p:nvSpPr>
        <p:spPr>
          <a:xfrm>
            <a:off x="1335910" y="5362286"/>
            <a:ext cx="2811268" cy="656462"/>
          </a:xfrm>
          <a:prstGeom prst="rect">
            <a:avLst/>
          </a:prstGeom>
          <a:noFill/>
          <a:ln>
            <a:noFill/>
          </a:ln>
        </p:spPr>
        <p:txBody>
          <a:bodyPr spcFirstLastPara="1" wrap="square" lIns="0" tIns="0" rIns="0" bIns="0" anchor="ctr" anchorCtr="0">
            <a:spAutoFit/>
          </a:bodyPr>
          <a:lstStyle/>
          <a:p>
            <a:pPr marL="0" marR="0" lvl="0" indent="0" algn="r" defTabSz="914400" rtl="0" eaLnBrk="1" fontAlgn="auto" latinLnBrk="0" hangingPunct="1">
              <a:lnSpc>
                <a:spcPct val="100000"/>
              </a:lnSpc>
              <a:spcBef>
                <a:spcPts val="0"/>
              </a:spcBef>
              <a:spcAft>
                <a:spcPts val="0"/>
              </a:spcAft>
              <a:buClr>
                <a:srgbClr val="000000"/>
              </a:buClr>
              <a:buSzPts val="1000"/>
              <a:buFontTx/>
              <a:buNone/>
              <a:tabLst/>
              <a:defRPr/>
            </a:pPr>
            <a:r>
              <a:rPr kumimoji="0" lang="en" sz="1600" b="0" i="0" u="none" strike="noStrike" kern="1200" cap="none" spc="0" normalizeH="0" baseline="0" noProof="0">
                <a:ln>
                  <a:noFill/>
                </a:ln>
                <a:solidFill>
                  <a:srgbClr val="6C4B94"/>
                </a:solidFill>
                <a:effectLst/>
                <a:uLnTx/>
                <a:uFillTx/>
                <a:latin typeface="Arial" panose="020B0604020202020204"/>
                <a:ea typeface="+mn-ea"/>
                <a:cs typeface="+mn-cs"/>
              </a:rPr>
              <a:t>Streamlined Deployment</a:t>
            </a:r>
            <a:endParaRPr kumimoji="0" sz="1600" b="0" i="0" u="none" strike="noStrike" kern="1200" cap="none" spc="0" normalizeH="0" baseline="0" noProof="0">
              <a:ln>
                <a:noFill/>
              </a:ln>
              <a:solidFill>
                <a:srgbClr val="6C4B94"/>
              </a:solidFill>
              <a:effectLst/>
              <a:uLnTx/>
              <a:uFillTx/>
              <a:latin typeface="Arial" panose="020B0604020202020204"/>
              <a:ea typeface="+mn-ea"/>
              <a:cs typeface="+mn-cs"/>
            </a:endParaRPr>
          </a:p>
          <a:p>
            <a:pPr marL="0" marR="0" lvl="0" indent="0" algn="r" defTabSz="914400" rtl="0" eaLnBrk="1" fontAlgn="auto" latinLnBrk="0" hangingPunct="1">
              <a:lnSpc>
                <a:spcPct val="100000"/>
              </a:lnSpc>
              <a:spcBef>
                <a:spcPts val="0"/>
              </a:spcBef>
              <a:spcAft>
                <a:spcPts val="0"/>
              </a:spcAft>
              <a:buClr>
                <a:srgbClr val="000000"/>
              </a:buClr>
              <a:buSzPts val="1000"/>
              <a:buFontTx/>
              <a:buNone/>
              <a:tabLst/>
              <a:defRPr/>
            </a:pPr>
            <a:r>
              <a:rPr kumimoji="0" lang="en" sz="1333" b="0" i="0" u="none" strike="noStrike" kern="1200" cap="none" spc="0" normalizeH="0" baseline="0" noProof="0">
                <a:ln>
                  <a:noFill/>
                </a:ln>
                <a:solidFill>
                  <a:srgbClr val="1B1D36"/>
                </a:solidFill>
                <a:effectLst/>
                <a:uLnTx/>
                <a:uFillTx/>
                <a:latin typeface="Arial" panose="020B0604020202020204"/>
                <a:ea typeface="+mn-ea"/>
                <a:cs typeface="+mn-cs"/>
              </a:rPr>
              <a:t>Easily deploy scalable, fault-isolated Kubernetes clusters</a:t>
            </a:r>
            <a:endParaRPr kumimoji="0" sz="1066" b="0" i="0" u="none" strike="noStrike" kern="1200" cap="none" spc="0" normalizeH="0" baseline="0" noProof="0">
              <a:ln>
                <a:noFill/>
              </a:ln>
              <a:solidFill>
                <a:srgbClr val="1B1D36"/>
              </a:solidFill>
              <a:effectLst/>
              <a:uLnTx/>
              <a:uFillTx/>
              <a:latin typeface="Arial"/>
              <a:ea typeface="Arial"/>
              <a:cs typeface="Arial"/>
              <a:sym typeface="Arial"/>
            </a:endParaRPr>
          </a:p>
        </p:txBody>
      </p:sp>
      <p:sp>
        <p:nvSpPr>
          <p:cNvPr id="4129" name="Google Shape;4129;p217"/>
          <p:cNvSpPr txBox="1">
            <a:spLocks noGrp="1"/>
          </p:cNvSpPr>
          <p:nvPr>
            <p:ph type="title"/>
          </p:nvPr>
        </p:nvSpPr>
        <p:spPr>
          <a:xfrm>
            <a:off x="579809" y="413536"/>
            <a:ext cx="11001134" cy="381101"/>
          </a:xfrm>
          <a:prstGeom prst="rect">
            <a:avLst/>
          </a:prstGeom>
          <a:noFill/>
          <a:ln>
            <a:noFill/>
          </a:ln>
        </p:spPr>
        <p:txBody>
          <a:bodyPr spcFirstLastPara="1" vert="horz" wrap="square" lIns="0" tIns="0" rIns="0" bIns="0" rtlCol="0" anchor="t" anchorCtr="0">
            <a:noAutofit/>
          </a:bodyPr>
          <a:lstStyle/>
          <a:p>
            <a:r>
              <a:rPr lang="en">
                <a:latin typeface="Arial"/>
                <a:ea typeface="Arial"/>
                <a:cs typeface="Arial"/>
                <a:sym typeface="Arial"/>
              </a:rPr>
              <a:t>vSphere Kubernetes Service (VKS)</a:t>
            </a:r>
            <a:endParaRPr>
              <a:latin typeface="Arial"/>
              <a:ea typeface="Arial"/>
              <a:cs typeface="Arial"/>
              <a:sym typeface="Arial"/>
            </a:endParaRPr>
          </a:p>
        </p:txBody>
      </p:sp>
      <p:sp>
        <p:nvSpPr>
          <p:cNvPr id="4130" name="Google Shape;4130;p217"/>
          <p:cNvSpPr txBox="1">
            <a:spLocks noGrp="1"/>
          </p:cNvSpPr>
          <p:nvPr>
            <p:ph type="subTitle" idx="4294967295"/>
          </p:nvPr>
        </p:nvSpPr>
        <p:spPr>
          <a:xfrm>
            <a:off x="592868" y="812512"/>
            <a:ext cx="10962744" cy="247935"/>
          </a:xfrm>
          <a:prstGeom prst="rect">
            <a:avLst/>
          </a:prstGeom>
          <a:noFill/>
          <a:ln>
            <a:noFill/>
          </a:ln>
        </p:spPr>
        <p:txBody>
          <a:bodyPr spcFirstLastPara="1" vert="horz" wrap="square" lIns="0" tIns="0" rIns="0" bIns="0" rtlCol="0" anchor="t" anchorCtr="0">
            <a:noAutofit/>
          </a:bodyPr>
          <a:lstStyle/>
          <a:p>
            <a:pPr>
              <a:spcAft>
                <a:spcPts val="0"/>
              </a:spcAft>
              <a:buSzPts val="1400"/>
              <a:buNone/>
            </a:pPr>
            <a:r>
              <a:rPr lang="en"/>
              <a:t>Deploy Fully Conformant Kubernetes Clusters</a:t>
            </a:r>
            <a:endParaRPr/>
          </a:p>
          <a:p>
            <a:pPr>
              <a:spcAft>
                <a:spcPts val="0"/>
              </a:spcAft>
              <a:buSzPts val="1400"/>
              <a:buNone/>
            </a:pPr>
            <a:endParaRPr/>
          </a:p>
        </p:txBody>
      </p:sp>
      <p:pic>
        <p:nvPicPr>
          <p:cNvPr id="4131" name="Google Shape;4131;p217"/>
          <p:cNvPicPr preferRelativeResize="0"/>
          <p:nvPr/>
        </p:nvPicPr>
        <p:blipFill rotWithShape="1">
          <a:blip r:embed="rId3">
            <a:alphaModFix/>
          </a:blip>
          <a:srcRect/>
          <a:stretch/>
        </p:blipFill>
        <p:spPr>
          <a:xfrm>
            <a:off x="10506102" y="268894"/>
            <a:ext cx="610096" cy="825049"/>
          </a:xfrm>
          <a:prstGeom prst="rect">
            <a:avLst/>
          </a:prstGeom>
          <a:noFill/>
          <a:ln>
            <a:noFill/>
          </a:ln>
        </p:spPr>
      </p:pic>
      <p:grpSp>
        <p:nvGrpSpPr>
          <p:cNvPr id="4132" name="Google Shape;4132;p217"/>
          <p:cNvGrpSpPr/>
          <p:nvPr/>
        </p:nvGrpSpPr>
        <p:grpSpPr>
          <a:xfrm>
            <a:off x="3586477" y="1619282"/>
            <a:ext cx="5037866" cy="4453681"/>
            <a:chOff x="2690559" y="1214107"/>
            <a:chExt cx="3779384" cy="3341131"/>
          </a:xfrm>
        </p:grpSpPr>
        <p:sp>
          <p:nvSpPr>
            <p:cNvPr id="4133" name="Google Shape;4133;p217"/>
            <p:cNvSpPr/>
            <p:nvPr/>
          </p:nvSpPr>
          <p:spPr>
            <a:xfrm>
              <a:off x="2970698" y="1298534"/>
              <a:ext cx="3161700" cy="3161700"/>
            </a:xfrm>
            <a:prstGeom prst="ellipse">
              <a:avLst/>
            </a:prstGeom>
            <a:noFill/>
            <a:ln w="26500" cap="rnd" cmpd="sng">
              <a:solidFill>
                <a:schemeClr val="accent2"/>
              </a:solidFill>
              <a:prstDash val="dot"/>
              <a:round/>
              <a:headEnd type="none" w="sm" len="sm"/>
              <a:tailEnd type="none" w="sm" len="sm"/>
            </a:ln>
          </p:spPr>
          <p:txBody>
            <a:bodyPr spcFirstLastPara="1" wrap="square" lIns="95375" tIns="47688" rIns="95375" bIns="47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39"/>
                <a:buFontTx/>
                <a:buNone/>
                <a:tabLst/>
                <a:defRPr/>
              </a:pPr>
              <a:endParaRPr kumimoji="0" sz="1252" b="0" i="0" u="none" strike="noStrike" kern="1200" cap="none" spc="0" normalizeH="0" baseline="0" noProof="0">
                <a:ln>
                  <a:noFill/>
                </a:ln>
                <a:solidFill>
                  <a:srgbClr val="002142"/>
                </a:solidFill>
                <a:effectLst/>
                <a:uLnTx/>
                <a:uFillTx/>
                <a:latin typeface="Arial"/>
                <a:ea typeface="Arial"/>
                <a:cs typeface="Arial"/>
                <a:sym typeface="Arial"/>
              </a:endParaRPr>
            </a:p>
          </p:txBody>
        </p:sp>
        <p:grpSp>
          <p:nvGrpSpPr>
            <p:cNvPr id="4134" name="Google Shape;4134;p217"/>
            <p:cNvGrpSpPr/>
            <p:nvPr/>
          </p:nvGrpSpPr>
          <p:grpSpPr>
            <a:xfrm>
              <a:off x="4986555" y="1214107"/>
              <a:ext cx="648675" cy="648675"/>
              <a:chOff x="7578889" y="1733395"/>
              <a:chExt cx="864900" cy="864900"/>
            </a:xfrm>
          </p:grpSpPr>
          <p:sp>
            <p:nvSpPr>
              <p:cNvPr id="4135" name="Google Shape;4135;p217"/>
              <p:cNvSpPr/>
              <p:nvPr/>
            </p:nvSpPr>
            <p:spPr>
              <a:xfrm>
                <a:off x="7578889" y="1733395"/>
                <a:ext cx="864900" cy="864900"/>
              </a:xfrm>
              <a:prstGeom prst="ellipse">
                <a:avLst/>
              </a:prstGeom>
              <a:solidFill>
                <a:schemeClr val="accent3">
                  <a:alpha val="31370"/>
                </a:schemeClr>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sp>
            <p:nvSpPr>
              <p:cNvPr id="4136" name="Google Shape;4136;p217"/>
              <p:cNvSpPr/>
              <p:nvPr/>
            </p:nvSpPr>
            <p:spPr>
              <a:xfrm>
                <a:off x="7679233" y="1833740"/>
                <a:ext cx="664200" cy="664200"/>
              </a:xfrm>
              <a:prstGeom prst="ellipse">
                <a:avLst/>
              </a:prstGeom>
              <a:solidFill>
                <a:srgbClr val="FFFFFF"/>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grpSp>
        <p:grpSp>
          <p:nvGrpSpPr>
            <p:cNvPr id="4137" name="Google Shape;4137;p217"/>
            <p:cNvGrpSpPr/>
            <p:nvPr/>
          </p:nvGrpSpPr>
          <p:grpSpPr>
            <a:xfrm>
              <a:off x="4986555" y="3906338"/>
              <a:ext cx="648675" cy="648675"/>
              <a:chOff x="7578889" y="4621216"/>
              <a:chExt cx="864900" cy="864900"/>
            </a:xfrm>
          </p:grpSpPr>
          <p:sp>
            <p:nvSpPr>
              <p:cNvPr id="4138" name="Google Shape;4138;p217"/>
              <p:cNvSpPr/>
              <p:nvPr/>
            </p:nvSpPr>
            <p:spPr>
              <a:xfrm>
                <a:off x="7578889" y="4621216"/>
                <a:ext cx="864900" cy="864900"/>
              </a:xfrm>
              <a:prstGeom prst="ellipse">
                <a:avLst/>
              </a:prstGeom>
              <a:solidFill>
                <a:schemeClr val="accent3">
                  <a:alpha val="31370"/>
                </a:schemeClr>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sp>
            <p:nvSpPr>
              <p:cNvPr id="4139" name="Google Shape;4139;p217"/>
              <p:cNvSpPr/>
              <p:nvPr/>
            </p:nvSpPr>
            <p:spPr>
              <a:xfrm>
                <a:off x="7679233" y="4721561"/>
                <a:ext cx="664200" cy="664200"/>
              </a:xfrm>
              <a:prstGeom prst="ellipse">
                <a:avLst/>
              </a:prstGeom>
              <a:solidFill>
                <a:srgbClr val="FFFFFF"/>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grpSp>
        <p:grpSp>
          <p:nvGrpSpPr>
            <p:cNvPr id="4140" name="Google Shape;4140;p217"/>
            <p:cNvGrpSpPr/>
            <p:nvPr/>
          </p:nvGrpSpPr>
          <p:grpSpPr>
            <a:xfrm>
              <a:off x="3453375" y="3906338"/>
              <a:ext cx="648900" cy="648900"/>
              <a:chOff x="3492452" y="3753938"/>
              <a:chExt cx="648900" cy="648900"/>
            </a:xfrm>
          </p:grpSpPr>
          <p:sp>
            <p:nvSpPr>
              <p:cNvPr id="4141" name="Google Shape;4141;p217"/>
              <p:cNvSpPr/>
              <p:nvPr/>
            </p:nvSpPr>
            <p:spPr>
              <a:xfrm>
                <a:off x="3492452" y="3753938"/>
                <a:ext cx="648900" cy="648900"/>
              </a:xfrm>
              <a:prstGeom prst="ellipse">
                <a:avLst/>
              </a:prstGeom>
              <a:solidFill>
                <a:schemeClr val="accent5">
                  <a:alpha val="30590"/>
                </a:schemeClr>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sp>
            <p:nvSpPr>
              <p:cNvPr id="4142" name="Google Shape;4142;p217"/>
              <p:cNvSpPr/>
              <p:nvPr/>
            </p:nvSpPr>
            <p:spPr>
              <a:xfrm>
                <a:off x="3567711" y="3829197"/>
                <a:ext cx="498300" cy="498300"/>
              </a:xfrm>
              <a:prstGeom prst="ellipse">
                <a:avLst/>
              </a:prstGeom>
              <a:solidFill>
                <a:srgbClr val="FFFFFF"/>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grpSp>
        <p:grpSp>
          <p:nvGrpSpPr>
            <p:cNvPr id="4143" name="Google Shape;4143;p217"/>
            <p:cNvGrpSpPr/>
            <p:nvPr/>
          </p:nvGrpSpPr>
          <p:grpSpPr>
            <a:xfrm>
              <a:off x="3453375" y="1214107"/>
              <a:ext cx="648675" cy="648675"/>
              <a:chOff x="3712904" y="1733395"/>
              <a:chExt cx="864900" cy="864900"/>
            </a:xfrm>
          </p:grpSpPr>
          <p:sp>
            <p:nvSpPr>
              <p:cNvPr id="4144" name="Google Shape;4144;p217"/>
              <p:cNvSpPr/>
              <p:nvPr/>
            </p:nvSpPr>
            <p:spPr>
              <a:xfrm>
                <a:off x="3712904" y="1733395"/>
                <a:ext cx="864900" cy="864900"/>
              </a:xfrm>
              <a:prstGeom prst="ellipse">
                <a:avLst/>
              </a:prstGeom>
              <a:solidFill>
                <a:schemeClr val="accent5">
                  <a:alpha val="30590"/>
                </a:schemeClr>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sp>
            <p:nvSpPr>
              <p:cNvPr id="4145" name="Google Shape;4145;p217"/>
              <p:cNvSpPr/>
              <p:nvPr/>
            </p:nvSpPr>
            <p:spPr>
              <a:xfrm>
                <a:off x="3813249" y="1833740"/>
                <a:ext cx="664200" cy="664200"/>
              </a:xfrm>
              <a:prstGeom prst="ellipse">
                <a:avLst/>
              </a:prstGeom>
              <a:solidFill>
                <a:srgbClr val="FFFFFF"/>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grpSp>
        <p:grpSp>
          <p:nvGrpSpPr>
            <p:cNvPr id="4146" name="Google Shape;4146;p217"/>
            <p:cNvGrpSpPr/>
            <p:nvPr/>
          </p:nvGrpSpPr>
          <p:grpSpPr>
            <a:xfrm>
              <a:off x="5821043" y="2535379"/>
              <a:ext cx="648900" cy="648900"/>
              <a:chOff x="6045797" y="2382979"/>
              <a:chExt cx="648900" cy="648900"/>
            </a:xfrm>
          </p:grpSpPr>
          <p:sp>
            <p:nvSpPr>
              <p:cNvPr id="4147" name="Google Shape;4147;p217"/>
              <p:cNvSpPr/>
              <p:nvPr/>
            </p:nvSpPr>
            <p:spPr>
              <a:xfrm>
                <a:off x="6045797" y="2382979"/>
                <a:ext cx="648900" cy="648900"/>
              </a:xfrm>
              <a:prstGeom prst="ellipse">
                <a:avLst/>
              </a:prstGeom>
              <a:solidFill>
                <a:schemeClr val="accent3">
                  <a:alpha val="31370"/>
                </a:schemeClr>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sp>
            <p:nvSpPr>
              <p:cNvPr id="4148" name="Google Shape;4148;p217"/>
              <p:cNvSpPr/>
              <p:nvPr/>
            </p:nvSpPr>
            <p:spPr>
              <a:xfrm>
                <a:off x="6121055" y="2458238"/>
                <a:ext cx="498300" cy="498300"/>
              </a:xfrm>
              <a:prstGeom prst="ellipse">
                <a:avLst/>
              </a:prstGeom>
              <a:solidFill>
                <a:srgbClr val="FFFFFF"/>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grpSp>
        <p:pic>
          <p:nvPicPr>
            <p:cNvPr id="4149" name="Google Shape;4149;p217"/>
            <p:cNvPicPr preferRelativeResize="0"/>
            <p:nvPr/>
          </p:nvPicPr>
          <p:blipFill rotWithShape="1">
            <a:blip r:embed="rId4">
              <a:alphaModFix/>
            </a:blip>
            <a:srcRect/>
            <a:stretch/>
          </p:blipFill>
          <p:spPr>
            <a:xfrm>
              <a:off x="3623296" y="1365754"/>
              <a:ext cx="327989" cy="327989"/>
            </a:xfrm>
            <a:prstGeom prst="rect">
              <a:avLst/>
            </a:prstGeom>
            <a:noFill/>
            <a:ln>
              <a:noFill/>
            </a:ln>
          </p:spPr>
        </p:pic>
        <p:pic>
          <p:nvPicPr>
            <p:cNvPr id="4150" name="Google Shape;4150;p217" descr="A black background with a black square&#10;&#10;AI-generated content may be incorrect."/>
            <p:cNvPicPr preferRelativeResize="0"/>
            <p:nvPr/>
          </p:nvPicPr>
          <p:blipFill rotWithShape="1">
            <a:blip r:embed="rId5">
              <a:alphaModFix/>
            </a:blip>
            <a:srcRect/>
            <a:stretch/>
          </p:blipFill>
          <p:spPr>
            <a:xfrm>
              <a:off x="5172967" y="4104137"/>
              <a:ext cx="279337" cy="279337"/>
            </a:xfrm>
            <a:prstGeom prst="rect">
              <a:avLst/>
            </a:prstGeom>
            <a:noFill/>
            <a:ln>
              <a:noFill/>
            </a:ln>
          </p:spPr>
        </p:pic>
        <p:grpSp>
          <p:nvGrpSpPr>
            <p:cNvPr id="4151" name="Google Shape;4151;p217"/>
            <p:cNvGrpSpPr/>
            <p:nvPr/>
          </p:nvGrpSpPr>
          <p:grpSpPr>
            <a:xfrm>
              <a:off x="6023001" y="2698431"/>
              <a:ext cx="270880" cy="273141"/>
              <a:chOff x="3580287" y="4870849"/>
              <a:chExt cx="638718" cy="644049"/>
            </a:xfrm>
          </p:grpSpPr>
          <p:sp>
            <p:nvSpPr>
              <p:cNvPr id="4152" name="Google Shape;4152;p217"/>
              <p:cNvSpPr/>
              <p:nvPr/>
            </p:nvSpPr>
            <p:spPr>
              <a:xfrm>
                <a:off x="3888542" y="5267050"/>
                <a:ext cx="22208" cy="152795"/>
              </a:xfrm>
              <a:custGeom>
                <a:avLst/>
                <a:gdLst/>
                <a:ahLst/>
                <a:cxnLst/>
                <a:rect l="l" t="t" r="r" b="b"/>
                <a:pathLst>
                  <a:path w="22208" h="152795" extrusionOk="0">
                    <a:moveTo>
                      <a:pt x="11104" y="152795"/>
                    </a:moveTo>
                    <a:cubicBezTo>
                      <a:pt x="4886" y="152795"/>
                      <a:pt x="0" y="147909"/>
                      <a:pt x="0" y="141691"/>
                    </a:cubicBezTo>
                    <a:lnTo>
                      <a:pt x="0" y="11104"/>
                    </a:lnTo>
                    <a:cubicBezTo>
                      <a:pt x="0" y="4886"/>
                      <a:pt x="4886" y="0"/>
                      <a:pt x="11104" y="0"/>
                    </a:cubicBezTo>
                    <a:cubicBezTo>
                      <a:pt x="17323" y="0"/>
                      <a:pt x="22209" y="4886"/>
                      <a:pt x="22209" y="11104"/>
                    </a:cubicBezTo>
                    <a:lnTo>
                      <a:pt x="22209" y="141691"/>
                    </a:lnTo>
                    <a:cubicBezTo>
                      <a:pt x="22209" y="147909"/>
                      <a:pt x="17323" y="152795"/>
                      <a:pt x="11104" y="152795"/>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53" name="Google Shape;4153;p217"/>
              <p:cNvSpPr/>
              <p:nvPr/>
            </p:nvSpPr>
            <p:spPr>
              <a:xfrm>
                <a:off x="3888542" y="5037413"/>
                <a:ext cx="22208" cy="152795"/>
              </a:xfrm>
              <a:custGeom>
                <a:avLst/>
                <a:gdLst/>
                <a:ahLst/>
                <a:cxnLst/>
                <a:rect l="l" t="t" r="r" b="b"/>
                <a:pathLst>
                  <a:path w="22208" h="152795" extrusionOk="0">
                    <a:moveTo>
                      <a:pt x="11104" y="152795"/>
                    </a:moveTo>
                    <a:cubicBezTo>
                      <a:pt x="4886" y="152795"/>
                      <a:pt x="0" y="147909"/>
                      <a:pt x="0" y="141691"/>
                    </a:cubicBezTo>
                    <a:lnTo>
                      <a:pt x="0" y="11104"/>
                    </a:lnTo>
                    <a:cubicBezTo>
                      <a:pt x="0" y="4886"/>
                      <a:pt x="4886" y="0"/>
                      <a:pt x="11104" y="0"/>
                    </a:cubicBezTo>
                    <a:cubicBezTo>
                      <a:pt x="17323" y="0"/>
                      <a:pt x="22209" y="4886"/>
                      <a:pt x="22209" y="11104"/>
                    </a:cubicBezTo>
                    <a:lnTo>
                      <a:pt x="22209" y="141691"/>
                    </a:lnTo>
                    <a:cubicBezTo>
                      <a:pt x="22209" y="147909"/>
                      <a:pt x="17323" y="152795"/>
                      <a:pt x="11104" y="152795"/>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154" name="Google Shape;4154;p217"/>
              <p:cNvGrpSpPr/>
              <p:nvPr/>
            </p:nvGrpSpPr>
            <p:grpSpPr>
              <a:xfrm>
                <a:off x="3580287" y="5399414"/>
                <a:ext cx="159901" cy="115484"/>
                <a:chOff x="3580287" y="5399414"/>
                <a:chExt cx="159901" cy="115484"/>
              </a:xfrm>
            </p:grpSpPr>
            <p:sp>
              <p:nvSpPr>
                <p:cNvPr id="4155" name="Google Shape;4155;p217"/>
                <p:cNvSpPr/>
                <p:nvPr/>
              </p:nvSpPr>
              <p:spPr>
                <a:xfrm>
                  <a:off x="3591391" y="5410074"/>
                  <a:ext cx="138137" cy="93720"/>
                </a:xfrm>
                <a:custGeom>
                  <a:avLst/>
                  <a:gdLst/>
                  <a:ahLst/>
                  <a:cxnLst/>
                  <a:rect l="l" t="t" r="r" b="b"/>
                  <a:pathLst>
                    <a:path w="138137" h="93720" extrusionOk="0">
                      <a:moveTo>
                        <a:pt x="126145" y="0"/>
                      </a:moveTo>
                      <a:cubicBezTo>
                        <a:pt x="132768" y="0"/>
                        <a:pt x="138138" y="5369"/>
                        <a:pt x="138138" y="11993"/>
                      </a:cubicBezTo>
                      <a:lnTo>
                        <a:pt x="138138" y="81728"/>
                      </a:lnTo>
                      <a:cubicBezTo>
                        <a:pt x="138138" y="88351"/>
                        <a:pt x="132768" y="93720"/>
                        <a:pt x="126145" y="93720"/>
                      </a:cubicBezTo>
                      <a:lnTo>
                        <a:pt x="11993" y="93720"/>
                      </a:lnTo>
                      <a:cubicBezTo>
                        <a:pt x="5369" y="93720"/>
                        <a:pt x="0" y="88351"/>
                        <a:pt x="0" y="81728"/>
                      </a:cubicBezTo>
                      <a:lnTo>
                        <a:pt x="0" y="11993"/>
                      </a:lnTo>
                      <a:cubicBezTo>
                        <a:pt x="0" y="5369"/>
                        <a:pt x="5369" y="0"/>
                        <a:pt x="11993" y="0"/>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56" name="Google Shape;4156;p217"/>
                <p:cNvSpPr/>
                <p:nvPr/>
              </p:nvSpPr>
              <p:spPr>
                <a:xfrm>
                  <a:off x="3580287" y="5399414"/>
                  <a:ext cx="159901" cy="115484"/>
                </a:xfrm>
                <a:custGeom>
                  <a:avLst/>
                  <a:gdLst/>
                  <a:ahLst/>
                  <a:cxnLst/>
                  <a:rect l="l" t="t" r="r" b="b"/>
                  <a:pathLst>
                    <a:path w="159901" h="115484" extrusionOk="0">
                      <a:moveTo>
                        <a:pt x="136805" y="115485"/>
                      </a:moveTo>
                      <a:lnTo>
                        <a:pt x="23097" y="115485"/>
                      </a:lnTo>
                      <a:cubicBezTo>
                        <a:pt x="10216" y="115485"/>
                        <a:pt x="0" y="104825"/>
                        <a:pt x="0" y="92388"/>
                      </a:cubicBezTo>
                      <a:lnTo>
                        <a:pt x="0" y="23097"/>
                      </a:lnTo>
                      <a:cubicBezTo>
                        <a:pt x="0" y="10216"/>
                        <a:pt x="10660" y="0"/>
                        <a:pt x="23097" y="0"/>
                      </a:cubicBezTo>
                      <a:lnTo>
                        <a:pt x="136805" y="0"/>
                      </a:lnTo>
                      <a:cubicBezTo>
                        <a:pt x="149686" y="0"/>
                        <a:pt x="159902" y="10660"/>
                        <a:pt x="159902" y="23097"/>
                      </a:cubicBezTo>
                      <a:lnTo>
                        <a:pt x="159902" y="92388"/>
                      </a:lnTo>
                      <a:cubicBezTo>
                        <a:pt x="159902" y="105269"/>
                        <a:pt x="149242" y="115485"/>
                        <a:pt x="136805" y="115485"/>
                      </a:cubicBezTo>
                      <a:close/>
                      <a:moveTo>
                        <a:pt x="23097" y="21764"/>
                      </a:moveTo>
                      <a:lnTo>
                        <a:pt x="22209" y="91944"/>
                      </a:lnTo>
                      <a:lnTo>
                        <a:pt x="136805" y="92832"/>
                      </a:lnTo>
                      <a:cubicBezTo>
                        <a:pt x="136805" y="92832"/>
                        <a:pt x="137693" y="92388"/>
                        <a:pt x="137693" y="91944"/>
                      </a:cubicBezTo>
                      <a:lnTo>
                        <a:pt x="137693" y="22653"/>
                      </a:lnTo>
                      <a:lnTo>
                        <a:pt x="23097" y="21764"/>
                      </a:ln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4157" name="Google Shape;4157;p217"/>
              <p:cNvSpPr/>
              <p:nvPr/>
            </p:nvSpPr>
            <p:spPr>
              <a:xfrm>
                <a:off x="3819696" y="5399414"/>
                <a:ext cx="159901" cy="115484"/>
              </a:xfrm>
              <a:custGeom>
                <a:avLst/>
                <a:gdLst/>
                <a:ahLst/>
                <a:cxnLst/>
                <a:rect l="l" t="t" r="r" b="b"/>
                <a:pathLst>
                  <a:path w="159901" h="115484" extrusionOk="0">
                    <a:moveTo>
                      <a:pt x="136805" y="115485"/>
                    </a:moveTo>
                    <a:lnTo>
                      <a:pt x="23097" y="115485"/>
                    </a:lnTo>
                    <a:cubicBezTo>
                      <a:pt x="10216" y="115485"/>
                      <a:pt x="0" y="104825"/>
                      <a:pt x="0" y="92388"/>
                    </a:cubicBezTo>
                    <a:lnTo>
                      <a:pt x="0" y="23097"/>
                    </a:lnTo>
                    <a:cubicBezTo>
                      <a:pt x="0" y="10216"/>
                      <a:pt x="10660" y="0"/>
                      <a:pt x="23097" y="0"/>
                    </a:cubicBezTo>
                    <a:lnTo>
                      <a:pt x="136805" y="0"/>
                    </a:lnTo>
                    <a:cubicBezTo>
                      <a:pt x="149686" y="0"/>
                      <a:pt x="159902" y="10660"/>
                      <a:pt x="159902" y="23097"/>
                    </a:cubicBezTo>
                    <a:lnTo>
                      <a:pt x="159902" y="92388"/>
                    </a:lnTo>
                    <a:cubicBezTo>
                      <a:pt x="159902" y="105269"/>
                      <a:pt x="149242" y="115485"/>
                      <a:pt x="136805" y="115485"/>
                    </a:cubicBezTo>
                    <a:close/>
                    <a:moveTo>
                      <a:pt x="23541" y="21764"/>
                    </a:moveTo>
                    <a:lnTo>
                      <a:pt x="22653" y="91944"/>
                    </a:lnTo>
                    <a:lnTo>
                      <a:pt x="137249" y="92832"/>
                    </a:lnTo>
                    <a:cubicBezTo>
                      <a:pt x="137249" y="92832"/>
                      <a:pt x="138138" y="92388"/>
                      <a:pt x="138138" y="91944"/>
                    </a:cubicBezTo>
                    <a:lnTo>
                      <a:pt x="138138" y="22653"/>
                    </a:lnTo>
                    <a:lnTo>
                      <a:pt x="23541" y="21764"/>
                    </a:ln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158" name="Google Shape;4158;p217"/>
              <p:cNvGrpSpPr/>
              <p:nvPr/>
            </p:nvGrpSpPr>
            <p:grpSpPr>
              <a:xfrm>
                <a:off x="4059104" y="5399414"/>
                <a:ext cx="159901" cy="115484"/>
                <a:chOff x="4059104" y="5399414"/>
                <a:chExt cx="159901" cy="115484"/>
              </a:xfrm>
            </p:grpSpPr>
            <p:sp>
              <p:nvSpPr>
                <p:cNvPr id="4159" name="Google Shape;4159;p217"/>
                <p:cNvSpPr/>
                <p:nvPr/>
              </p:nvSpPr>
              <p:spPr>
                <a:xfrm>
                  <a:off x="4070209" y="5410074"/>
                  <a:ext cx="138137" cy="93720"/>
                </a:xfrm>
                <a:custGeom>
                  <a:avLst/>
                  <a:gdLst/>
                  <a:ahLst/>
                  <a:cxnLst/>
                  <a:rect l="l" t="t" r="r" b="b"/>
                  <a:pathLst>
                    <a:path w="138137" h="93720" extrusionOk="0">
                      <a:moveTo>
                        <a:pt x="126145" y="0"/>
                      </a:moveTo>
                      <a:cubicBezTo>
                        <a:pt x="132768" y="0"/>
                        <a:pt x="138138" y="5369"/>
                        <a:pt x="138138" y="11993"/>
                      </a:cubicBezTo>
                      <a:lnTo>
                        <a:pt x="138138" y="81728"/>
                      </a:lnTo>
                      <a:cubicBezTo>
                        <a:pt x="138138" y="88351"/>
                        <a:pt x="132768" y="93720"/>
                        <a:pt x="126145" y="93720"/>
                      </a:cubicBezTo>
                      <a:lnTo>
                        <a:pt x="11993" y="93720"/>
                      </a:lnTo>
                      <a:cubicBezTo>
                        <a:pt x="5369" y="93720"/>
                        <a:pt x="0" y="88351"/>
                        <a:pt x="0" y="81728"/>
                      </a:cubicBezTo>
                      <a:lnTo>
                        <a:pt x="0" y="11993"/>
                      </a:lnTo>
                      <a:cubicBezTo>
                        <a:pt x="0" y="5369"/>
                        <a:pt x="5369" y="0"/>
                        <a:pt x="11993" y="0"/>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60" name="Google Shape;4160;p217"/>
                <p:cNvSpPr/>
                <p:nvPr/>
              </p:nvSpPr>
              <p:spPr>
                <a:xfrm>
                  <a:off x="4059104" y="5399414"/>
                  <a:ext cx="159901" cy="115484"/>
                </a:xfrm>
                <a:custGeom>
                  <a:avLst/>
                  <a:gdLst/>
                  <a:ahLst/>
                  <a:cxnLst/>
                  <a:rect l="l" t="t" r="r" b="b"/>
                  <a:pathLst>
                    <a:path w="159901" h="115484" extrusionOk="0">
                      <a:moveTo>
                        <a:pt x="136805" y="115485"/>
                      </a:moveTo>
                      <a:lnTo>
                        <a:pt x="23097" y="115485"/>
                      </a:lnTo>
                      <a:cubicBezTo>
                        <a:pt x="10216" y="115485"/>
                        <a:pt x="0" y="104825"/>
                        <a:pt x="0" y="92388"/>
                      </a:cubicBezTo>
                      <a:lnTo>
                        <a:pt x="0" y="23097"/>
                      </a:lnTo>
                      <a:cubicBezTo>
                        <a:pt x="0" y="10216"/>
                        <a:pt x="10660" y="0"/>
                        <a:pt x="23097" y="0"/>
                      </a:cubicBezTo>
                      <a:lnTo>
                        <a:pt x="136805" y="0"/>
                      </a:lnTo>
                      <a:cubicBezTo>
                        <a:pt x="149686" y="0"/>
                        <a:pt x="159902" y="10660"/>
                        <a:pt x="159902" y="23097"/>
                      </a:cubicBezTo>
                      <a:lnTo>
                        <a:pt x="159902" y="92388"/>
                      </a:lnTo>
                      <a:cubicBezTo>
                        <a:pt x="159902" y="105269"/>
                        <a:pt x="149242" y="115485"/>
                        <a:pt x="136805" y="115485"/>
                      </a:cubicBezTo>
                      <a:close/>
                      <a:moveTo>
                        <a:pt x="23097" y="21764"/>
                      </a:moveTo>
                      <a:lnTo>
                        <a:pt x="22209" y="91944"/>
                      </a:lnTo>
                      <a:lnTo>
                        <a:pt x="136805" y="92832"/>
                      </a:lnTo>
                      <a:cubicBezTo>
                        <a:pt x="136805" y="92832"/>
                        <a:pt x="137693" y="92388"/>
                        <a:pt x="137693" y="91944"/>
                      </a:cubicBezTo>
                      <a:lnTo>
                        <a:pt x="137693" y="22653"/>
                      </a:lnTo>
                      <a:lnTo>
                        <a:pt x="23097" y="21764"/>
                      </a:ln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4161" name="Google Shape;4161;p217"/>
              <p:cNvSpPr/>
              <p:nvPr/>
            </p:nvSpPr>
            <p:spPr>
              <a:xfrm>
                <a:off x="3649578" y="5329234"/>
                <a:ext cx="500581" cy="90166"/>
              </a:xfrm>
              <a:custGeom>
                <a:avLst/>
                <a:gdLst/>
                <a:ahLst/>
                <a:cxnLst/>
                <a:rect l="l" t="t" r="r" b="b"/>
                <a:pathLst>
                  <a:path w="500581" h="90166" extrusionOk="0">
                    <a:moveTo>
                      <a:pt x="489478" y="90167"/>
                    </a:moveTo>
                    <a:cubicBezTo>
                      <a:pt x="483259" y="90167"/>
                      <a:pt x="478373" y="85281"/>
                      <a:pt x="478373" y="79063"/>
                    </a:cubicBezTo>
                    <a:lnTo>
                      <a:pt x="478373" y="33757"/>
                    </a:lnTo>
                    <a:cubicBezTo>
                      <a:pt x="478373" y="27539"/>
                      <a:pt x="473043" y="22209"/>
                      <a:pt x="466825" y="22209"/>
                    </a:cubicBezTo>
                    <a:lnTo>
                      <a:pt x="33757" y="22209"/>
                    </a:lnTo>
                    <a:cubicBezTo>
                      <a:pt x="27539" y="22209"/>
                      <a:pt x="22209" y="27539"/>
                      <a:pt x="22209" y="33757"/>
                    </a:cubicBezTo>
                    <a:lnTo>
                      <a:pt x="22209" y="78618"/>
                    </a:lnTo>
                    <a:cubicBezTo>
                      <a:pt x="22209" y="84837"/>
                      <a:pt x="17323" y="89723"/>
                      <a:pt x="11104" y="89723"/>
                    </a:cubicBezTo>
                    <a:cubicBezTo>
                      <a:pt x="4886" y="89723"/>
                      <a:pt x="0" y="84837"/>
                      <a:pt x="0" y="78618"/>
                    </a:cubicBezTo>
                    <a:lnTo>
                      <a:pt x="0" y="33757"/>
                    </a:lnTo>
                    <a:cubicBezTo>
                      <a:pt x="0" y="15102"/>
                      <a:pt x="15102" y="0"/>
                      <a:pt x="33757" y="0"/>
                    </a:cubicBezTo>
                    <a:lnTo>
                      <a:pt x="466825" y="0"/>
                    </a:lnTo>
                    <a:cubicBezTo>
                      <a:pt x="485480" y="0"/>
                      <a:pt x="500582" y="15102"/>
                      <a:pt x="500582" y="33757"/>
                    </a:cubicBezTo>
                    <a:lnTo>
                      <a:pt x="500582" y="79063"/>
                    </a:lnTo>
                    <a:cubicBezTo>
                      <a:pt x="500582" y="85281"/>
                      <a:pt x="495696" y="90167"/>
                      <a:pt x="489478" y="90167"/>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62" name="Google Shape;4162;p217"/>
              <p:cNvSpPr/>
              <p:nvPr/>
            </p:nvSpPr>
            <p:spPr>
              <a:xfrm>
                <a:off x="3580287" y="5171109"/>
                <a:ext cx="159901" cy="115484"/>
              </a:xfrm>
              <a:custGeom>
                <a:avLst/>
                <a:gdLst/>
                <a:ahLst/>
                <a:cxnLst/>
                <a:rect l="l" t="t" r="r" b="b"/>
                <a:pathLst>
                  <a:path w="159901" h="115484" extrusionOk="0">
                    <a:moveTo>
                      <a:pt x="136805" y="115485"/>
                    </a:moveTo>
                    <a:lnTo>
                      <a:pt x="23097" y="115485"/>
                    </a:lnTo>
                    <a:cubicBezTo>
                      <a:pt x="10216" y="115485"/>
                      <a:pt x="0" y="104825"/>
                      <a:pt x="0" y="92388"/>
                    </a:cubicBezTo>
                    <a:lnTo>
                      <a:pt x="0" y="23097"/>
                    </a:lnTo>
                    <a:cubicBezTo>
                      <a:pt x="0" y="10216"/>
                      <a:pt x="10660" y="0"/>
                      <a:pt x="23097" y="0"/>
                    </a:cubicBezTo>
                    <a:lnTo>
                      <a:pt x="136805" y="0"/>
                    </a:lnTo>
                    <a:cubicBezTo>
                      <a:pt x="149686" y="0"/>
                      <a:pt x="159902" y="10660"/>
                      <a:pt x="159902" y="23097"/>
                    </a:cubicBezTo>
                    <a:lnTo>
                      <a:pt x="159902" y="92388"/>
                    </a:lnTo>
                    <a:cubicBezTo>
                      <a:pt x="159902" y="105269"/>
                      <a:pt x="149242" y="115485"/>
                      <a:pt x="136805" y="115485"/>
                    </a:cubicBezTo>
                    <a:close/>
                    <a:moveTo>
                      <a:pt x="23097" y="21764"/>
                    </a:moveTo>
                    <a:lnTo>
                      <a:pt x="22209" y="91944"/>
                    </a:lnTo>
                    <a:lnTo>
                      <a:pt x="136805" y="92832"/>
                    </a:lnTo>
                    <a:cubicBezTo>
                      <a:pt x="136805" y="92832"/>
                      <a:pt x="137693" y="92388"/>
                      <a:pt x="137693" y="91944"/>
                    </a:cubicBezTo>
                    <a:lnTo>
                      <a:pt x="137693" y="22653"/>
                    </a:lnTo>
                    <a:lnTo>
                      <a:pt x="23097" y="21764"/>
                    </a:ln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163" name="Google Shape;4163;p217"/>
              <p:cNvGrpSpPr/>
              <p:nvPr/>
            </p:nvGrpSpPr>
            <p:grpSpPr>
              <a:xfrm>
                <a:off x="3819696" y="5171109"/>
                <a:ext cx="159901" cy="115484"/>
                <a:chOff x="3819696" y="5171109"/>
                <a:chExt cx="159901" cy="115484"/>
              </a:xfrm>
            </p:grpSpPr>
            <p:sp>
              <p:nvSpPr>
                <p:cNvPr id="4164" name="Google Shape;4164;p217"/>
                <p:cNvSpPr/>
                <p:nvPr/>
              </p:nvSpPr>
              <p:spPr>
                <a:xfrm>
                  <a:off x="3830800" y="5181769"/>
                  <a:ext cx="138137" cy="93720"/>
                </a:xfrm>
                <a:custGeom>
                  <a:avLst/>
                  <a:gdLst/>
                  <a:ahLst/>
                  <a:cxnLst/>
                  <a:rect l="l" t="t" r="r" b="b"/>
                  <a:pathLst>
                    <a:path w="138137" h="93720" extrusionOk="0">
                      <a:moveTo>
                        <a:pt x="126145" y="0"/>
                      </a:moveTo>
                      <a:cubicBezTo>
                        <a:pt x="132768" y="0"/>
                        <a:pt x="138138" y="5369"/>
                        <a:pt x="138138" y="11993"/>
                      </a:cubicBezTo>
                      <a:lnTo>
                        <a:pt x="138138" y="81728"/>
                      </a:lnTo>
                      <a:cubicBezTo>
                        <a:pt x="138138" y="88351"/>
                        <a:pt x="132768" y="93720"/>
                        <a:pt x="126145" y="93720"/>
                      </a:cubicBezTo>
                      <a:lnTo>
                        <a:pt x="11993" y="93720"/>
                      </a:lnTo>
                      <a:cubicBezTo>
                        <a:pt x="5369" y="93720"/>
                        <a:pt x="0" y="88351"/>
                        <a:pt x="0" y="81728"/>
                      </a:cubicBezTo>
                      <a:lnTo>
                        <a:pt x="0" y="11993"/>
                      </a:lnTo>
                      <a:cubicBezTo>
                        <a:pt x="0" y="5369"/>
                        <a:pt x="5369" y="0"/>
                        <a:pt x="11993" y="0"/>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65" name="Google Shape;4165;p217"/>
                <p:cNvSpPr/>
                <p:nvPr/>
              </p:nvSpPr>
              <p:spPr>
                <a:xfrm>
                  <a:off x="3819696" y="5171109"/>
                  <a:ext cx="159901" cy="115484"/>
                </a:xfrm>
                <a:custGeom>
                  <a:avLst/>
                  <a:gdLst/>
                  <a:ahLst/>
                  <a:cxnLst/>
                  <a:rect l="l" t="t" r="r" b="b"/>
                  <a:pathLst>
                    <a:path w="159901" h="115484" extrusionOk="0">
                      <a:moveTo>
                        <a:pt x="136805" y="115485"/>
                      </a:moveTo>
                      <a:lnTo>
                        <a:pt x="23097" y="115485"/>
                      </a:lnTo>
                      <a:cubicBezTo>
                        <a:pt x="10216" y="115485"/>
                        <a:pt x="0" y="104825"/>
                        <a:pt x="0" y="92388"/>
                      </a:cubicBezTo>
                      <a:lnTo>
                        <a:pt x="0" y="23097"/>
                      </a:lnTo>
                      <a:cubicBezTo>
                        <a:pt x="0" y="10216"/>
                        <a:pt x="10660" y="0"/>
                        <a:pt x="23097" y="0"/>
                      </a:cubicBezTo>
                      <a:lnTo>
                        <a:pt x="136805" y="0"/>
                      </a:lnTo>
                      <a:cubicBezTo>
                        <a:pt x="149686" y="0"/>
                        <a:pt x="159902" y="10660"/>
                        <a:pt x="159902" y="23097"/>
                      </a:cubicBezTo>
                      <a:lnTo>
                        <a:pt x="159902" y="92388"/>
                      </a:lnTo>
                      <a:cubicBezTo>
                        <a:pt x="159902" y="105269"/>
                        <a:pt x="149242" y="115485"/>
                        <a:pt x="136805" y="115485"/>
                      </a:cubicBezTo>
                      <a:close/>
                      <a:moveTo>
                        <a:pt x="23541" y="21764"/>
                      </a:moveTo>
                      <a:lnTo>
                        <a:pt x="22653" y="91944"/>
                      </a:lnTo>
                      <a:lnTo>
                        <a:pt x="137249" y="92832"/>
                      </a:lnTo>
                      <a:cubicBezTo>
                        <a:pt x="137249" y="92832"/>
                        <a:pt x="138138" y="92388"/>
                        <a:pt x="138138" y="91944"/>
                      </a:cubicBezTo>
                      <a:lnTo>
                        <a:pt x="138138" y="22653"/>
                      </a:lnTo>
                      <a:lnTo>
                        <a:pt x="23541" y="21764"/>
                      </a:ln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4166" name="Google Shape;4166;p217"/>
              <p:cNvSpPr/>
              <p:nvPr/>
            </p:nvSpPr>
            <p:spPr>
              <a:xfrm>
                <a:off x="4059104" y="5171109"/>
                <a:ext cx="159901" cy="115484"/>
              </a:xfrm>
              <a:custGeom>
                <a:avLst/>
                <a:gdLst/>
                <a:ahLst/>
                <a:cxnLst/>
                <a:rect l="l" t="t" r="r" b="b"/>
                <a:pathLst>
                  <a:path w="159901" h="115484" extrusionOk="0">
                    <a:moveTo>
                      <a:pt x="136805" y="115485"/>
                    </a:moveTo>
                    <a:lnTo>
                      <a:pt x="23097" y="115485"/>
                    </a:lnTo>
                    <a:cubicBezTo>
                      <a:pt x="10216" y="115485"/>
                      <a:pt x="0" y="104825"/>
                      <a:pt x="0" y="92388"/>
                    </a:cubicBezTo>
                    <a:lnTo>
                      <a:pt x="0" y="23097"/>
                    </a:lnTo>
                    <a:cubicBezTo>
                      <a:pt x="0" y="10216"/>
                      <a:pt x="10660" y="0"/>
                      <a:pt x="23097" y="0"/>
                    </a:cubicBezTo>
                    <a:lnTo>
                      <a:pt x="136805" y="0"/>
                    </a:lnTo>
                    <a:cubicBezTo>
                      <a:pt x="149686" y="0"/>
                      <a:pt x="159902" y="10660"/>
                      <a:pt x="159902" y="23097"/>
                    </a:cubicBezTo>
                    <a:lnTo>
                      <a:pt x="159902" y="92388"/>
                    </a:lnTo>
                    <a:cubicBezTo>
                      <a:pt x="159902" y="105269"/>
                      <a:pt x="149242" y="115485"/>
                      <a:pt x="136805" y="115485"/>
                    </a:cubicBezTo>
                    <a:close/>
                    <a:moveTo>
                      <a:pt x="23097" y="21764"/>
                    </a:moveTo>
                    <a:lnTo>
                      <a:pt x="22209" y="91944"/>
                    </a:lnTo>
                    <a:lnTo>
                      <a:pt x="136805" y="92832"/>
                    </a:lnTo>
                    <a:cubicBezTo>
                      <a:pt x="136805" y="92832"/>
                      <a:pt x="137693" y="92388"/>
                      <a:pt x="137693" y="91944"/>
                    </a:cubicBezTo>
                    <a:lnTo>
                      <a:pt x="137693" y="22653"/>
                    </a:lnTo>
                    <a:lnTo>
                      <a:pt x="23097" y="21764"/>
                    </a:ln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67" name="Google Shape;4167;p217"/>
              <p:cNvSpPr/>
              <p:nvPr/>
            </p:nvSpPr>
            <p:spPr>
              <a:xfrm>
                <a:off x="3649578" y="5100930"/>
                <a:ext cx="500581" cy="90611"/>
              </a:xfrm>
              <a:custGeom>
                <a:avLst/>
                <a:gdLst/>
                <a:ahLst/>
                <a:cxnLst/>
                <a:rect l="l" t="t" r="r" b="b"/>
                <a:pathLst>
                  <a:path w="500581" h="90611" extrusionOk="0">
                    <a:moveTo>
                      <a:pt x="11104" y="90611"/>
                    </a:moveTo>
                    <a:cubicBezTo>
                      <a:pt x="4886" y="90611"/>
                      <a:pt x="0" y="85725"/>
                      <a:pt x="0" y="79507"/>
                    </a:cubicBezTo>
                    <a:lnTo>
                      <a:pt x="0" y="33757"/>
                    </a:lnTo>
                    <a:cubicBezTo>
                      <a:pt x="0" y="15102"/>
                      <a:pt x="15102" y="0"/>
                      <a:pt x="33757" y="0"/>
                    </a:cubicBezTo>
                    <a:lnTo>
                      <a:pt x="466825" y="0"/>
                    </a:lnTo>
                    <a:cubicBezTo>
                      <a:pt x="485480" y="0"/>
                      <a:pt x="500582" y="15102"/>
                      <a:pt x="500582" y="33757"/>
                    </a:cubicBezTo>
                    <a:lnTo>
                      <a:pt x="500582" y="78174"/>
                    </a:lnTo>
                    <a:cubicBezTo>
                      <a:pt x="500582" y="84393"/>
                      <a:pt x="495696" y="89279"/>
                      <a:pt x="489478" y="89279"/>
                    </a:cubicBezTo>
                    <a:cubicBezTo>
                      <a:pt x="483259" y="89279"/>
                      <a:pt x="478373" y="84393"/>
                      <a:pt x="478373" y="78174"/>
                    </a:cubicBezTo>
                    <a:lnTo>
                      <a:pt x="478373" y="33757"/>
                    </a:lnTo>
                    <a:cubicBezTo>
                      <a:pt x="478373" y="27539"/>
                      <a:pt x="473043" y="22209"/>
                      <a:pt x="466825" y="22209"/>
                    </a:cubicBezTo>
                    <a:lnTo>
                      <a:pt x="33757" y="22209"/>
                    </a:lnTo>
                    <a:cubicBezTo>
                      <a:pt x="27539" y="22209"/>
                      <a:pt x="22209" y="27539"/>
                      <a:pt x="22209" y="33757"/>
                    </a:cubicBezTo>
                    <a:lnTo>
                      <a:pt x="22209" y="79507"/>
                    </a:lnTo>
                    <a:cubicBezTo>
                      <a:pt x="22209" y="85725"/>
                      <a:pt x="17323" y="90611"/>
                      <a:pt x="11104" y="90611"/>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68" name="Google Shape;4168;p217"/>
              <p:cNvSpPr/>
              <p:nvPr/>
            </p:nvSpPr>
            <p:spPr>
              <a:xfrm>
                <a:off x="3805926" y="4870849"/>
                <a:ext cx="187440" cy="187440"/>
              </a:xfrm>
              <a:custGeom>
                <a:avLst/>
                <a:gdLst/>
                <a:ahLst/>
                <a:cxnLst/>
                <a:rect l="l" t="t" r="r" b="b"/>
                <a:pathLst>
                  <a:path w="187440" h="187440" extrusionOk="0">
                    <a:moveTo>
                      <a:pt x="93720" y="187441"/>
                    </a:moveTo>
                    <a:cubicBezTo>
                      <a:pt x="42196" y="187441"/>
                      <a:pt x="0" y="145244"/>
                      <a:pt x="0" y="93720"/>
                    </a:cubicBezTo>
                    <a:cubicBezTo>
                      <a:pt x="0" y="42196"/>
                      <a:pt x="42196" y="0"/>
                      <a:pt x="93720" y="0"/>
                    </a:cubicBezTo>
                    <a:cubicBezTo>
                      <a:pt x="145244" y="0"/>
                      <a:pt x="187441" y="42196"/>
                      <a:pt x="187441" y="93720"/>
                    </a:cubicBezTo>
                    <a:cubicBezTo>
                      <a:pt x="187441" y="145244"/>
                      <a:pt x="145244" y="187441"/>
                      <a:pt x="93720" y="187441"/>
                    </a:cubicBezTo>
                    <a:close/>
                    <a:moveTo>
                      <a:pt x="93720" y="22209"/>
                    </a:moveTo>
                    <a:cubicBezTo>
                      <a:pt x="54189" y="22209"/>
                      <a:pt x="22209" y="54189"/>
                      <a:pt x="22209" y="93720"/>
                    </a:cubicBezTo>
                    <a:cubicBezTo>
                      <a:pt x="22209" y="133252"/>
                      <a:pt x="54189" y="165232"/>
                      <a:pt x="93720" y="165232"/>
                    </a:cubicBezTo>
                    <a:cubicBezTo>
                      <a:pt x="133252" y="165232"/>
                      <a:pt x="165232" y="133252"/>
                      <a:pt x="165232" y="93720"/>
                    </a:cubicBezTo>
                    <a:cubicBezTo>
                      <a:pt x="165232" y="54189"/>
                      <a:pt x="133252" y="22209"/>
                      <a:pt x="93720" y="22209"/>
                    </a:cubicBezTo>
                    <a:close/>
                  </a:path>
                </a:pathLst>
              </a:custGeom>
              <a:solidFill>
                <a:srgbClr val="0175A3"/>
              </a:solidFill>
              <a:ln>
                <a:noFill/>
              </a:ln>
            </p:spPr>
            <p:txBody>
              <a:bodyPr spcFirstLastPara="1" wrap="square" lIns="121868" tIns="60917" rIns="121868" bIns="60917"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grpSp>
        <p:pic>
          <p:nvPicPr>
            <p:cNvPr id="4169" name="Google Shape;4169;p217"/>
            <p:cNvPicPr preferRelativeResize="0"/>
            <p:nvPr/>
          </p:nvPicPr>
          <p:blipFill rotWithShape="1">
            <a:blip r:embed="rId6">
              <a:alphaModFix/>
            </a:blip>
            <a:srcRect/>
            <a:stretch/>
          </p:blipFill>
          <p:spPr>
            <a:xfrm>
              <a:off x="5142888" y="1352325"/>
              <a:ext cx="310674" cy="310674"/>
            </a:xfrm>
            <a:prstGeom prst="rect">
              <a:avLst/>
            </a:prstGeom>
            <a:noFill/>
            <a:ln>
              <a:noFill/>
            </a:ln>
          </p:spPr>
        </p:pic>
        <p:sp>
          <p:nvSpPr>
            <p:cNvPr id="4170" name="Google Shape;4170;p217"/>
            <p:cNvSpPr/>
            <p:nvPr/>
          </p:nvSpPr>
          <p:spPr>
            <a:xfrm>
              <a:off x="3642219" y="4089586"/>
              <a:ext cx="271784" cy="282193"/>
            </a:xfrm>
            <a:custGeom>
              <a:avLst/>
              <a:gdLst/>
              <a:ahLst/>
              <a:cxnLst/>
              <a:rect l="l" t="t" r="r" b="b"/>
              <a:pathLst>
                <a:path w="876722" h="940644" extrusionOk="0">
                  <a:moveTo>
                    <a:pt x="323030" y="657795"/>
                  </a:moveTo>
                  <a:lnTo>
                    <a:pt x="423174" y="557175"/>
                  </a:lnTo>
                  <a:lnTo>
                    <a:pt x="423174" y="940645"/>
                  </a:lnTo>
                  <a:lnTo>
                    <a:pt x="145405" y="940645"/>
                  </a:lnTo>
                  <a:cubicBezTo>
                    <a:pt x="132831" y="940645"/>
                    <a:pt x="122402" y="930290"/>
                    <a:pt x="122402" y="917559"/>
                  </a:cubicBezTo>
                  <a:lnTo>
                    <a:pt x="122402" y="670406"/>
                  </a:lnTo>
                  <a:lnTo>
                    <a:pt x="292624" y="670406"/>
                  </a:lnTo>
                  <a:cubicBezTo>
                    <a:pt x="304162" y="670406"/>
                    <a:pt x="314887" y="665952"/>
                    <a:pt x="323022" y="657788"/>
                  </a:cubicBezTo>
                  <a:close/>
                  <a:moveTo>
                    <a:pt x="553643" y="657795"/>
                  </a:moveTo>
                  <a:lnTo>
                    <a:pt x="453498" y="557175"/>
                  </a:lnTo>
                  <a:lnTo>
                    <a:pt x="453498" y="940645"/>
                  </a:lnTo>
                  <a:lnTo>
                    <a:pt x="731268" y="940645"/>
                  </a:lnTo>
                  <a:cubicBezTo>
                    <a:pt x="743841" y="940645"/>
                    <a:pt x="754271" y="930290"/>
                    <a:pt x="754271" y="917559"/>
                  </a:cubicBezTo>
                  <a:lnTo>
                    <a:pt x="754271" y="670406"/>
                  </a:lnTo>
                  <a:lnTo>
                    <a:pt x="584049" y="670406"/>
                  </a:lnTo>
                  <a:cubicBezTo>
                    <a:pt x="572510" y="670406"/>
                    <a:pt x="561786" y="665952"/>
                    <a:pt x="553651" y="657788"/>
                  </a:cubicBezTo>
                  <a:close/>
                  <a:moveTo>
                    <a:pt x="118707" y="502836"/>
                  </a:moveTo>
                  <a:lnTo>
                    <a:pt x="3803" y="618260"/>
                  </a:lnTo>
                  <a:cubicBezTo>
                    <a:pt x="31" y="621971"/>
                    <a:pt x="-1042" y="627278"/>
                    <a:pt x="1066" y="632215"/>
                  </a:cubicBezTo>
                  <a:cubicBezTo>
                    <a:pt x="3063" y="637077"/>
                    <a:pt x="7612" y="640083"/>
                    <a:pt x="12789" y="640083"/>
                  </a:cubicBezTo>
                  <a:lnTo>
                    <a:pt x="292736" y="640083"/>
                  </a:lnTo>
                  <a:cubicBezTo>
                    <a:pt x="296250" y="640083"/>
                    <a:pt x="299282" y="638859"/>
                    <a:pt x="301724" y="636298"/>
                  </a:cubicBezTo>
                  <a:lnTo>
                    <a:pt x="438336" y="499116"/>
                  </a:lnTo>
                  <a:lnTo>
                    <a:pt x="127725" y="499116"/>
                  </a:lnTo>
                  <a:cubicBezTo>
                    <a:pt x="124211" y="499116"/>
                    <a:pt x="121179" y="500340"/>
                    <a:pt x="118700" y="502827"/>
                  </a:cubicBezTo>
                  <a:close/>
                  <a:moveTo>
                    <a:pt x="872984" y="618260"/>
                  </a:moveTo>
                  <a:lnTo>
                    <a:pt x="757975" y="502836"/>
                  </a:lnTo>
                  <a:cubicBezTo>
                    <a:pt x="755498" y="500349"/>
                    <a:pt x="752502" y="499050"/>
                    <a:pt x="748989" y="499050"/>
                  </a:cubicBezTo>
                  <a:lnTo>
                    <a:pt x="438349" y="499013"/>
                  </a:lnTo>
                  <a:lnTo>
                    <a:pt x="575066" y="636224"/>
                  </a:lnTo>
                  <a:cubicBezTo>
                    <a:pt x="577543" y="638710"/>
                    <a:pt x="580539" y="640009"/>
                    <a:pt x="584052" y="640009"/>
                  </a:cubicBezTo>
                  <a:lnTo>
                    <a:pt x="863999" y="640009"/>
                  </a:lnTo>
                  <a:cubicBezTo>
                    <a:pt x="869214" y="640009"/>
                    <a:pt x="873762" y="636966"/>
                    <a:pt x="875722" y="632141"/>
                  </a:cubicBezTo>
                  <a:cubicBezTo>
                    <a:pt x="877719" y="627278"/>
                    <a:pt x="876684" y="621972"/>
                    <a:pt x="872985" y="618260"/>
                  </a:cubicBezTo>
                  <a:close/>
                  <a:moveTo>
                    <a:pt x="391005" y="426339"/>
                  </a:moveTo>
                  <a:lnTo>
                    <a:pt x="485677" y="426339"/>
                  </a:lnTo>
                  <a:cubicBezTo>
                    <a:pt x="491150" y="426339"/>
                    <a:pt x="495810" y="422145"/>
                    <a:pt x="496365" y="416652"/>
                  </a:cubicBezTo>
                  <a:lnTo>
                    <a:pt x="499213" y="387591"/>
                  </a:lnTo>
                  <a:lnTo>
                    <a:pt x="377539" y="387554"/>
                  </a:lnTo>
                  <a:lnTo>
                    <a:pt x="380387" y="416615"/>
                  </a:lnTo>
                  <a:cubicBezTo>
                    <a:pt x="380979" y="422145"/>
                    <a:pt x="385527" y="426339"/>
                    <a:pt x="391001" y="426339"/>
                  </a:cubicBezTo>
                  <a:close/>
                  <a:moveTo>
                    <a:pt x="606016" y="319523"/>
                  </a:moveTo>
                  <a:cubicBezTo>
                    <a:pt x="609418" y="317520"/>
                    <a:pt x="611415" y="314105"/>
                    <a:pt x="611415" y="310207"/>
                  </a:cubicBezTo>
                  <a:lnTo>
                    <a:pt x="611415" y="223172"/>
                  </a:lnTo>
                  <a:cubicBezTo>
                    <a:pt x="611415" y="219164"/>
                    <a:pt x="609418" y="215860"/>
                    <a:pt x="606016" y="213857"/>
                  </a:cubicBezTo>
                  <a:lnTo>
                    <a:pt x="561231" y="187913"/>
                  </a:lnTo>
                  <a:lnTo>
                    <a:pt x="561231" y="299745"/>
                  </a:lnTo>
                  <a:lnTo>
                    <a:pt x="595328" y="319490"/>
                  </a:lnTo>
                  <a:cubicBezTo>
                    <a:pt x="598620" y="321420"/>
                    <a:pt x="602503" y="321420"/>
                    <a:pt x="606016" y="319527"/>
                  </a:cubicBezTo>
                  <a:close/>
                  <a:moveTo>
                    <a:pt x="270780" y="319523"/>
                  </a:moveTo>
                  <a:cubicBezTo>
                    <a:pt x="274182" y="321416"/>
                    <a:pt x="278065" y="321416"/>
                    <a:pt x="281467" y="319523"/>
                  </a:cubicBezTo>
                  <a:lnTo>
                    <a:pt x="315565" y="299778"/>
                  </a:lnTo>
                  <a:lnTo>
                    <a:pt x="315565" y="187946"/>
                  </a:lnTo>
                  <a:lnTo>
                    <a:pt x="270780" y="213890"/>
                  </a:lnTo>
                  <a:cubicBezTo>
                    <a:pt x="267377" y="215894"/>
                    <a:pt x="265381" y="219308"/>
                    <a:pt x="265381" y="223206"/>
                  </a:cubicBezTo>
                  <a:lnTo>
                    <a:pt x="265381" y="310241"/>
                  </a:lnTo>
                  <a:cubicBezTo>
                    <a:pt x="265381" y="314212"/>
                    <a:pt x="267377" y="317553"/>
                    <a:pt x="270780" y="319520"/>
                  </a:cubicBezTo>
                  <a:close/>
                  <a:moveTo>
                    <a:pt x="345742" y="335668"/>
                  </a:moveTo>
                  <a:lnTo>
                    <a:pt x="345742" y="131310"/>
                  </a:lnTo>
                  <a:cubicBezTo>
                    <a:pt x="345742" y="68698"/>
                    <a:pt x="377250" y="20523"/>
                    <a:pt x="438343" y="0"/>
                  </a:cubicBezTo>
                  <a:cubicBezTo>
                    <a:pt x="499399" y="20525"/>
                    <a:pt x="530944" y="68700"/>
                    <a:pt x="530944" y="131310"/>
                  </a:cubicBezTo>
                  <a:lnTo>
                    <a:pt x="530944" y="335782"/>
                  </a:lnTo>
                  <a:cubicBezTo>
                    <a:pt x="530944" y="347659"/>
                    <a:pt x="521292" y="357272"/>
                    <a:pt x="509532" y="357272"/>
                  </a:cubicBezTo>
                  <a:lnTo>
                    <a:pt x="367154" y="357272"/>
                  </a:lnTo>
                  <a:cubicBezTo>
                    <a:pt x="355394" y="357272"/>
                    <a:pt x="345742" y="347548"/>
                    <a:pt x="345742" y="335671"/>
                  </a:cubicBezTo>
                  <a:close/>
                  <a:moveTo>
                    <a:pt x="400586" y="143558"/>
                  </a:moveTo>
                  <a:cubicBezTo>
                    <a:pt x="400586" y="164454"/>
                    <a:pt x="417523" y="181453"/>
                    <a:pt x="438344" y="181453"/>
                  </a:cubicBezTo>
                  <a:cubicBezTo>
                    <a:pt x="459164" y="181453"/>
                    <a:pt x="476102" y="164342"/>
                    <a:pt x="476102" y="143558"/>
                  </a:cubicBezTo>
                  <a:cubicBezTo>
                    <a:pt x="476102" y="122662"/>
                    <a:pt x="459054" y="105552"/>
                    <a:pt x="438344" y="105552"/>
                  </a:cubicBezTo>
                  <a:cubicBezTo>
                    <a:pt x="417523" y="105552"/>
                    <a:pt x="400586" y="122662"/>
                    <a:pt x="400586" y="143558"/>
                  </a:cubicBezTo>
                  <a:close/>
                  <a:moveTo>
                    <a:pt x="633935" y="152688"/>
                  </a:moveTo>
                  <a:lnTo>
                    <a:pt x="679644" y="152688"/>
                  </a:lnTo>
                  <a:cubicBezTo>
                    <a:pt x="684081" y="152688"/>
                    <a:pt x="687706" y="156288"/>
                    <a:pt x="687706" y="160779"/>
                  </a:cubicBezTo>
                  <a:lnTo>
                    <a:pt x="687706" y="414279"/>
                  </a:lnTo>
                  <a:cubicBezTo>
                    <a:pt x="687706" y="420922"/>
                    <a:pt x="693105" y="426341"/>
                    <a:pt x="699725" y="426341"/>
                  </a:cubicBezTo>
                  <a:lnTo>
                    <a:pt x="743474" y="426341"/>
                  </a:lnTo>
                  <a:cubicBezTo>
                    <a:pt x="750094" y="426341"/>
                    <a:pt x="755493" y="420848"/>
                    <a:pt x="755493" y="414279"/>
                  </a:cubicBezTo>
                  <a:lnTo>
                    <a:pt x="755493" y="160675"/>
                  </a:lnTo>
                  <a:cubicBezTo>
                    <a:pt x="755493" y="156221"/>
                    <a:pt x="759080" y="152583"/>
                    <a:pt x="763554" y="152583"/>
                  </a:cubicBezTo>
                  <a:lnTo>
                    <a:pt x="809263" y="152583"/>
                  </a:lnTo>
                  <a:cubicBezTo>
                    <a:pt x="812592" y="152583"/>
                    <a:pt x="815403" y="150691"/>
                    <a:pt x="816660" y="147647"/>
                  </a:cubicBezTo>
                  <a:cubicBezTo>
                    <a:pt x="817991" y="144604"/>
                    <a:pt x="817325" y="141263"/>
                    <a:pt x="814959" y="138888"/>
                  </a:cubicBezTo>
                  <a:lnTo>
                    <a:pt x="727276" y="50888"/>
                  </a:lnTo>
                  <a:cubicBezTo>
                    <a:pt x="724169" y="47771"/>
                    <a:pt x="719139" y="47771"/>
                    <a:pt x="715996" y="50888"/>
                  </a:cubicBezTo>
                  <a:lnTo>
                    <a:pt x="628313" y="138888"/>
                  </a:lnTo>
                  <a:cubicBezTo>
                    <a:pt x="625946" y="141263"/>
                    <a:pt x="625281" y="144604"/>
                    <a:pt x="626612" y="147647"/>
                  </a:cubicBezTo>
                  <a:cubicBezTo>
                    <a:pt x="627795" y="150802"/>
                    <a:pt x="630606" y="152695"/>
                    <a:pt x="633934" y="152695"/>
                  </a:cubicBezTo>
                  <a:close/>
                  <a:moveTo>
                    <a:pt x="67413" y="152688"/>
                  </a:moveTo>
                  <a:lnTo>
                    <a:pt x="113122" y="152688"/>
                  </a:lnTo>
                  <a:cubicBezTo>
                    <a:pt x="117560" y="152688"/>
                    <a:pt x="121185" y="156288"/>
                    <a:pt x="121185" y="160779"/>
                  </a:cubicBezTo>
                  <a:lnTo>
                    <a:pt x="121185" y="414279"/>
                  </a:lnTo>
                  <a:cubicBezTo>
                    <a:pt x="121185" y="420922"/>
                    <a:pt x="126584" y="426341"/>
                    <a:pt x="133203" y="426341"/>
                  </a:cubicBezTo>
                  <a:lnTo>
                    <a:pt x="176952" y="426341"/>
                  </a:lnTo>
                  <a:cubicBezTo>
                    <a:pt x="183572" y="426341"/>
                    <a:pt x="188971" y="420848"/>
                    <a:pt x="188971" y="414279"/>
                  </a:cubicBezTo>
                  <a:lnTo>
                    <a:pt x="188971" y="160675"/>
                  </a:lnTo>
                  <a:cubicBezTo>
                    <a:pt x="188971" y="156221"/>
                    <a:pt x="192558" y="152583"/>
                    <a:pt x="197033" y="152583"/>
                  </a:cubicBezTo>
                  <a:lnTo>
                    <a:pt x="242741" y="152583"/>
                  </a:lnTo>
                  <a:cubicBezTo>
                    <a:pt x="246070" y="152583"/>
                    <a:pt x="248881" y="150691"/>
                    <a:pt x="250138" y="147647"/>
                  </a:cubicBezTo>
                  <a:cubicBezTo>
                    <a:pt x="251469" y="144604"/>
                    <a:pt x="250804" y="141263"/>
                    <a:pt x="248437" y="138888"/>
                  </a:cubicBezTo>
                  <a:lnTo>
                    <a:pt x="160754" y="50888"/>
                  </a:lnTo>
                  <a:cubicBezTo>
                    <a:pt x="157648" y="47771"/>
                    <a:pt x="152618" y="47771"/>
                    <a:pt x="149475" y="50888"/>
                  </a:cubicBezTo>
                  <a:lnTo>
                    <a:pt x="61792" y="138888"/>
                  </a:lnTo>
                  <a:cubicBezTo>
                    <a:pt x="59425" y="141263"/>
                    <a:pt x="58759" y="144604"/>
                    <a:pt x="60090" y="147647"/>
                  </a:cubicBezTo>
                  <a:cubicBezTo>
                    <a:pt x="61348" y="150802"/>
                    <a:pt x="64195" y="152695"/>
                    <a:pt x="67412" y="152695"/>
                  </a:cubicBezTo>
                  <a:close/>
                </a:path>
              </a:pathLst>
            </a:custGeom>
            <a:solidFill>
              <a:schemeClr val="accent5"/>
            </a:solidFill>
            <a:ln>
              <a:noFill/>
            </a:ln>
            <a:effectLst>
              <a:reflection endPos="30000" dist="28580" dir="5400000" fadeDir="5400012" sy="-100000" algn="bl" rotWithShape="0"/>
            </a:effectLst>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171" name="Google Shape;4171;p217"/>
            <p:cNvGrpSpPr/>
            <p:nvPr/>
          </p:nvGrpSpPr>
          <p:grpSpPr>
            <a:xfrm>
              <a:off x="2690559" y="2535379"/>
              <a:ext cx="648900" cy="648900"/>
              <a:chOff x="2438382" y="2382979"/>
              <a:chExt cx="648900" cy="648900"/>
            </a:xfrm>
          </p:grpSpPr>
          <p:sp>
            <p:nvSpPr>
              <p:cNvPr id="4172" name="Google Shape;4172;p217"/>
              <p:cNvSpPr/>
              <p:nvPr/>
            </p:nvSpPr>
            <p:spPr>
              <a:xfrm>
                <a:off x="2438382" y="2382979"/>
                <a:ext cx="648900" cy="648900"/>
              </a:xfrm>
              <a:prstGeom prst="ellipse">
                <a:avLst/>
              </a:prstGeom>
              <a:solidFill>
                <a:schemeClr val="accent5">
                  <a:alpha val="30590"/>
                </a:schemeClr>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sp>
            <p:nvSpPr>
              <p:cNvPr id="4173" name="Google Shape;4173;p217"/>
              <p:cNvSpPr/>
              <p:nvPr/>
            </p:nvSpPr>
            <p:spPr>
              <a:xfrm>
                <a:off x="2513640" y="2458238"/>
                <a:ext cx="498300" cy="498300"/>
              </a:xfrm>
              <a:prstGeom prst="ellipse">
                <a:avLst/>
              </a:prstGeom>
              <a:solidFill>
                <a:srgbClr val="FFFFFF"/>
              </a:solidFill>
              <a:ln>
                <a:noFill/>
              </a:ln>
            </p:spPr>
            <p:txBody>
              <a:bodyPr spcFirstLastPara="1" wrap="square" lIns="91376" tIns="45688" rIns="91376" bIns="45688"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002142"/>
                  </a:solidFill>
                  <a:effectLst/>
                  <a:uLnTx/>
                  <a:uFillTx/>
                  <a:latin typeface="Arial"/>
                  <a:ea typeface="Arial"/>
                  <a:cs typeface="Arial"/>
                  <a:sym typeface="Arial"/>
                </a:endParaRPr>
              </a:p>
            </p:txBody>
          </p:sp>
        </p:grpSp>
        <p:sp>
          <p:nvSpPr>
            <p:cNvPr id="4174" name="Google Shape;4174;p217"/>
            <p:cNvSpPr/>
            <p:nvPr/>
          </p:nvSpPr>
          <p:spPr>
            <a:xfrm>
              <a:off x="2903964" y="2737671"/>
              <a:ext cx="229077" cy="270694"/>
            </a:xfrm>
            <a:custGeom>
              <a:avLst/>
              <a:gdLst/>
              <a:ahLst/>
              <a:cxnLst/>
              <a:rect l="l" t="t" r="r" b="b"/>
              <a:pathLst>
                <a:path w="591167" h="698566" extrusionOk="0">
                  <a:moveTo>
                    <a:pt x="295583" y="370656"/>
                  </a:moveTo>
                  <a:cubicBezTo>
                    <a:pt x="282790" y="370656"/>
                    <a:pt x="272405" y="381041"/>
                    <a:pt x="272405" y="393835"/>
                  </a:cubicBezTo>
                  <a:cubicBezTo>
                    <a:pt x="272405" y="401711"/>
                    <a:pt x="276318" y="408635"/>
                    <a:pt x="282339" y="412849"/>
                  </a:cubicBezTo>
                  <a:lnTo>
                    <a:pt x="282339" y="433569"/>
                  </a:lnTo>
                  <a:cubicBezTo>
                    <a:pt x="282339" y="440894"/>
                    <a:pt x="288259" y="446814"/>
                    <a:pt x="295583" y="446814"/>
                  </a:cubicBezTo>
                  <a:cubicBezTo>
                    <a:pt x="302908" y="446814"/>
                    <a:pt x="308828" y="440894"/>
                    <a:pt x="308828" y="433569"/>
                  </a:cubicBezTo>
                  <a:lnTo>
                    <a:pt x="308828" y="412849"/>
                  </a:lnTo>
                  <a:cubicBezTo>
                    <a:pt x="314849" y="408685"/>
                    <a:pt x="318762" y="401711"/>
                    <a:pt x="318762" y="393835"/>
                  </a:cubicBezTo>
                  <a:cubicBezTo>
                    <a:pt x="318762" y="381041"/>
                    <a:pt x="308377" y="370656"/>
                    <a:pt x="295583" y="370656"/>
                  </a:cubicBezTo>
                  <a:close/>
                  <a:moveTo>
                    <a:pt x="295583" y="327560"/>
                  </a:moveTo>
                  <a:cubicBezTo>
                    <a:pt x="341288" y="327560"/>
                    <a:pt x="378364" y="364636"/>
                    <a:pt x="378364" y="410340"/>
                  </a:cubicBezTo>
                  <a:cubicBezTo>
                    <a:pt x="378364" y="456045"/>
                    <a:pt x="341288" y="493121"/>
                    <a:pt x="295583" y="493121"/>
                  </a:cubicBezTo>
                  <a:cubicBezTo>
                    <a:pt x="249879" y="493121"/>
                    <a:pt x="212803" y="456045"/>
                    <a:pt x="212803" y="410340"/>
                  </a:cubicBezTo>
                  <a:cubicBezTo>
                    <a:pt x="212803" y="364636"/>
                    <a:pt x="249828" y="327560"/>
                    <a:pt x="295583" y="327560"/>
                  </a:cubicBezTo>
                  <a:close/>
                  <a:moveTo>
                    <a:pt x="295584" y="208557"/>
                  </a:moveTo>
                  <a:cubicBezTo>
                    <a:pt x="319364" y="208557"/>
                    <a:pt x="338630" y="227822"/>
                    <a:pt x="338630" y="251603"/>
                  </a:cubicBezTo>
                  <a:lnTo>
                    <a:pt x="338630" y="302676"/>
                  </a:lnTo>
                  <a:cubicBezTo>
                    <a:pt x="325335" y="297308"/>
                    <a:pt x="310785" y="294398"/>
                    <a:pt x="295584" y="294398"/>
                  </a:cubicBezTo>
                  <a:cubicBezTo>
                    <a:pt x="280382" y="294398"/>
                    <a:pt x="265833" y="297358"/>
                    <a:pt x="252538" y="302676"/>
                  </a:cubicBezTo>
                  <a:lnTo>
                    <a:pt x="252538" y="251603"/>
                  </a:lnTo>
                  <a:cubicBezTo>
                    <a:pt x="252538" y="227822"/>
                    <a:pt x="271803" y="208557"/>
                    <a:pt x="295584" y="208557"/>
                  </a:cubicBezTo>
                  <a:close/>
                  <a:moveTo>
                    <a:pt x="295533" y="175444"/>
                  </a:moveTo>
                  <a:cubicBezTo>
                    <a:pt x="253491" y="175444"/>
                    <a:pt x="219375" y="209510"/>
                    <a:pt x="219375" y="251602"/>
                  </a:cubicBezTo>
                  <a:lnTo>
                    <a:pt x="219375" y="322944"/>
                  </a:lnTo>
                  <a:cubicBezTo>
                    <a:pt x="195043" y="344216"/>
                    <a:pt x="179641" y="375472"/>
                    <a:pt x="179641" y="410340"/>
                  </a:cubicBezTo>
                  <a:cubicBezTo>
                    <a:pt x="179641" y="458390"/>
                    <a:pt x="208849" y="499583"/>
                    <a:pt x="250460" y="517176"/>
                  </a:cubicBezTo>
                  <a:lnTo>
                    <a:pt x="295533" y="526273"/>
                  </a:lnTo>
                  <a:lnTo>
                    <a:pt x="295483" y="526283"/>
                  </a:lnTo>
                  <a:lnTo>
                    <a:pt x="295583" y="526283"/>
                  </a:lnTo>
                  <a:lnTo>
                    <a:pt x="295533" y="526273"/>
                  </a:lnTo>
                  <a:lnTo>
                    <a:pt x="340628" y="517169"/>
                  </a:lnTo>
                  <a:cubicBezTo>
                    <a:pt x="382246" y="499564"/>
                    <a:pt x="411426" y="458353"/>
                    <a:pt x="411426" y="410340"/>
                  </a:cubicBezTo>
                  <a:cubicBezTo>
                    <a:pt x="411426" y="375472"/>
                    <a:pt x="396024" y="344216"/>
                    <a:pt x="371691" y="322944"/>
                  </a:cubicBezTo>
                  <a:lnTo>
                    <a:pt x="371691" y="251602"/>
                  </a:lnTo>
                  <a:cubicBezTo>
                    <a:pt x="371691" y="209560"/>
                    <a:pt x="337576" y="175444"/>
                    <a:pt x="295533" y="175444"/>
                  </a:cubicBezTo>
                  <a:close/>
                  <a:moveTo>
                    <a:pt x="295583" y="0"/>
                  </a:moveTo>
                  <a:cubicBezTo>
                    <a:pt x="295583" y="0"/>
                    <a:pt x="406459" y="77613"/>
                    <a:pt x="581602" y="77613"/>
                  </a:cubicBezTo>
                  <a:cubicBezTo>
                    <a:pt x="653596" y="566619"/>
                    <a:pt x="295583" y="698566"/>
                    <a:pt x="295583" y="698566"/>
                  </a:cubicBezTo>
                  <a:cubicBezTo>
                    <a:pt x="295583" y="698566"/>
                    <a:pt x="-62429" y="566619"/>
                    <a:pt x="9565" y="77613"/>
                  </a:cubicBezTo>
                  <a:cubicBezTo>
                    <a:pt x="184658" y="77613"/>
                    <a:pt x="295583" y="0"/>
                    <a:pt x="295583" y="0"/>
                  </a:cubicBezTo>
                  <a:close/>
                </a:path>
              </a:pathLst>
            </a:custGeom>
            <a:solidFill>
              <a:srgbClr val="49296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FFFFFF"/>
                </a:buClr>
                <a:buSzPts val="1400"/>
                <a:buFontTx/>
                <a:buNone/>
                <a:tabLst/>
                <a:defRPr/>
              </a:pPr>
              <a:endParaRPr kumimoji="0" sz="1866"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176" name="Google Shape;4176;p217"/>
            <p:cNvSpPr/>
            <p:nvPr/>
          </p:nvSpPr>
          <p:spPr>
            <a:xfrm>
              <a:off x="4975600" y="2429459"/>
              <a:ext cx="203400" cy="17700"/>
            </a:xfrm>
            <a:prstGeom prst="rect">
              <a:avLst/>
            </a:prstGeom>
            <a:solidFill>
              <a:schemeClr val="lt1"/>
            </a:solidFill>
            <a:ln>
              <a:noFill/>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cxnSp>
          <p:nvCxnSpPr>
            <p:cNvPr id="4177" name="Google Shape;4177;p217"/>
            <p:cNvCxnSpPr>
              <a:cxnSpLocks/>
              <a:endCxn id="4178" idx="0"/>
            </p:cNvCxnSpPr>
            <p:nvPr/>
          </p:nvCxnSpPr>
          <p:spPr>
            <a:xfrm rot="5400000">
              <a:off x="4072183" y="1791998"/>
              <a:ext cx="227400" cy="729600"/>
            </a:xfrm>
            <a:prstGeom prst="bentConnector3">
              <a:avLst>
                <a:gd name="adj1" fmla="val 50004"/>
              </a:avLst>
            </a:prstGeom>
            <a:noFill/>
            <a:ln w="5300" cap="flat" cmpd="sng">
              <a:solidFill>
                <a:srgbClr val="684791"/>
              </a:solidFill>
              <a:prstDash val="solid"/>
              <a:round/>
              <a:headEnd type="none" w="sm" len="sm"/>
              <a:tailEnd type="none" w="sm" len="sm"/>
            </a:ln>
          </p:spPr>
        </p:cxnSp>
        <p:cxnSp>
          <p:nvCxnSpPr>
            <p:cNvPr id="4179" name="Google Shape;4179;p217"/>
            <p:cNvCxnSpPr>
              <a:cxnSpLocks/>
              <a:endCxn id="4180" idx="0"/>
            </p:cNvCxnSpPr>
            <p:nvPr/>
          </p:nvCxnSpPr>
          <p:spPr>
            <a:xfrm rot="-5400000" flipH="1">
              <a:off x="4684033" y="1909748"/>
              <a:ext cx="282000" cy="548700"/>
            </a:xfrm>
            <a:prstGeom prst="bentConnector3">
              <a:avLst>
                <a:gd name="adj1" fmla="val 40208"/>
              </a:avLst>
            </a:prstGeom>
            <a:noFill/>
            <a:ln w="5300" cap="flat" cmpd="sng">
              <a:solidFill>
                <a:srgbClr val="684791"/>
              </a:solidFill>
              <a:prstDash val="solid"/>
              <a:round/>
              <a:headEnd type="none" w="sm" len="sm"/>
              <a:tailEnd type="none" w="sm" len="sm"/>
            </a:ln>
          </p:spPr>
        </p:cxnSp>
        <p:sp>
          <p:nvSpPr>
            <p:cNvPr id="4180" name="Google Shape;4180;p217"/>
            <p:cNvSpPr/>
            <p:nvPr/>
          </p:nvSpPr>
          <p:spPr>
            <a:xfrm>
              <a:off x="4480832" y="2325111"/>
              <a:ext cx="1236900" cy="757800"/>
            </a:xfrm>
            <a:prstGeom prst="roundRect">
              <a:avLst>
                <a:gd name="adj" fmla="val 3683"/>
              </a:avLst>
            </a:prstGeom>
            <a:solidFill>
              <a:schemeClr val="lt1"/>
            </a:solidFill>
            <a:ln w="10575" cap="flat" cmpd="sng">
              <a:solidFill>
                <a:schemeClr val="accent2"/>
              </a:solidFill>
              <a:prstDash val="solid"/>
              <a:round/>
              <a:headEnd type="none" w="sm" len="sm"/>
              <a:tailEnd type="none" w="sm" len="sm"/>
            </a:ln>
          </p:spPr>
          <p:txBody>
            <a:bodyPr spcFirstLastPara="1" wrap="square" lIns="67682" tIns="1015602" rIns="67682" bIns="20308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592"/>
                <a:buFontTx/>
                <a:buNone/>
                <a:tabLst/>
                <a:defRPr/>
              </a:pPr>
              <a:endParaRPr kumimoji="0" sz="789" b="0" i="0" u="none" strike="noStrike" kern="1200" cap="none" spc="0" normalizeH="0" baseline="0" noProof="0">
                <a:ln>
                  <a:noFill/>
                </a:ln>
                <a:solidFill>
                  <a:srgbClr val="005C8A"/>
                </a:solidFill>
                <a:effectLst/>
                <a:uLnTx/>
                <a:uFillTx/>
                <a:latin typeface="Arial"/>
                <a:ea typeface="Arial"/>
                <a:cs typeface="Arial"/>
                <a:sym typeface="Arial"/>
              </a:endParaRPr>
            </a:p>
          </p:txBody>
        </p:sp>
        <p:sp>
          <p:nvSpPr>
            <p:cNvPr id="4181" name="Google Shape;4181;p217"/>
            <p:cNvSpPr/>
            <p:nvPr/>
          </p:nvSpPr>
          <p:spPr>
            <a:xfrm>
              <a:off x="3389417" y="3363409"/>
              <a:ext cx="2347500" cy="285300"/>
            </a:xfrm>
            <a:prstGeom prst="roundRect">
              <a:avLst>
                <a:gd name="adj" fmla="val 9132"/>
              </a:avLst>
            </a:prstGeom>
            <a:noFill/>
            <a:ln w="10575" cap="flat" cmpd="sng">
              <a:solidFill>
                <a:schemeClr val="accent1"/>
              </a:solidFill>
              <a:prstDash val="dash"/>
              <a:round/>
              <a:headEnd type="none" w="sm" len="sm"/>
              <a:tailEnd type="none" w="sm" len="sm"/>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89"/>
                <a:buFontTx/>
                <a:buNone/>
                <a:tabLst/>
                <a:defRPr/>
              </a:pPr>
              <a:endParaRPr kumimoji="0" sz="1184"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82" name="Google Shape;4182;p217"/>
            <p:cNvSpPr/>
            <p:nvPr/>
          </p:nvSpPr>
          <p:spPr>
            <a:xfrm>
              <a:off x="3411318" y="3240005"/>
              <a:ext cx="2291100" cy="235200"/>
            </a:xfrm>
            <a:prstGeom prst="roundRect">
              <a:avLst>
                <a:gd name="adj" fmla="val 8857"/>
              </a:avLst>
            </a:prstGeom>
            <a:gradFill>
              <a:gsLst>
                <a:gs pos="0">
                  <a:srgbClr val="6C4B8F"/>
                </a:gs>
                <a:gs pos="100000">
                  <a:srgbClr val="005B84"/>
                </a:gs>
              </a:gsLst>
              <a:lin ang="0" scaled="0"/>
            </a:gradFill>
            <a:ln>
              <a:noFill/>
            </a:ln>
            <a:effectLst>
              <a:reflection stA="41000" endPos="31000" dist="28221" dir="5400000" fadeDir="5400012" sy="-100000" algn="bl" rotWithShape="0"/>
            </a:effectLst>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15"/>
                <a:buFontTx/>
                <a:buNone/>
                <a:tabLst/>
                <a:defRPr/>
              </a:pPr>
              <a:endParaRPr kumimoji="0" sz="1085"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183" name="Google Shape;4183;p217"/>
            <p:cNvSpPr txBox="1"/>
            <p:nvPr/>
          </p:nvSpPr>
          <p:spPr>
            <a:xfrm>
              <a:off x="3777708" y="3266464"/>
              <a:ext cx="1502400" cy="180096"/>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30000"/>
                </a:lnSpc>
                <a:spcBef>
                  <a:spcPts val="0"/>
                </a:spcBef>
                <a:spcAft>
                  <a:spcPts val="0"/>
                </a:spcAft>
                <a:buClr>
                  <a:srgbClr val="000000"/>
                </a:buClr>
                <a:buSzPts val="518"/>
                <a:buFontTx/>
                <a:buNone/>
                <a:tabLst/>
                <a:defRPr/>
              </a:pPr>
              <a:r>
                <a:rPr kumimoji="0" lang="en" sz="1200" b="1" i="0" u="none" strike="noStrike" kern="1200" cap="none" spc="0" normalizeH="0" baseline="0" noProof="0" dirty="0">
                  <a:ln>
                    <a:noFill/>
                  </a:ln>
                  <a:solidFill>
                    <a:srgbClr val="FFFFFF"/>
                  </a:solidFill>
                  <a:effectLst/>
                  <a:uLnTx/>
                  <a:uFillTx/>
                  <a:latin typeface="Arial" panose="020B0604020202020204"/>
                  <a:ea typeface="+mn-ea"/>
                  <a:cs typeface="+mn-cs"/>
                </a:rPr>
                <a:t>vSphere</a:t>
              </a:r>
              <a:endParaRPr kumimoji="0" sz="1200" b="1" i="0" u="none" strike="noStrike" kern="1200" cap="none" spc="0" normalizeH="0" baseline="0" noProof="0" dirty="0">
                <a:ln>
                  <a:noFill/>
                </a:ln>
                <a:solidFill>
                  <a:srgbClr val="FFFFFF"/>
                </a:solidFill>
                <a:effectLst/>
                <a:uLnTx/>
                <a:uFillTx/>
                <a:latin typeface="Arial"/>
                <a:ea typeface="Arial"/>
                <a:cs typeface="Arial"/>
                <a:sym typeface="Arial"/>
              </a:endParaRPr>
            </a:p>
          </p:txBody>
        </p:sp>
        <p:grpSp>
          <p:nvGrpSpPr>
            <p:cNvPr id="4188" name="Google Shape;4188;p217"/>
            <p:cNvGrpSpPr/>
            <p:nvPr/>
          </p:nvGrpSpPr>
          <p:grpSpPr>
            <a:xfrm>
              <a:off x="3388107" y="2270466"/>
              <a:ext cx="865725" cy="757984"/>
              <a:chOff x="805150" y="1625512"/>
              <a:chExt cx="1557900" cy="1365000"/>
            </a:xfrm>
          </p:grpSpPr>
          <p:sp>
            <p:nvSpPr>
              <p:cNvPr id="4178" name="Google Shape;4178;p217"/>
              <p:cNvSpPr/>
              <p:nvPr/>
            </p:nvSpPr>
            <p:spPr>
              <a:xfrm>
                <a:off x="805150" y="1625512"/>
                <a:ext cx="1557900" cy="1365000"/>
              </a:xfrm>
              <a:prstGeom prst="roundRect">
                <a:avLst>
                  <a:gd name="adj" fmla="val 3683"/>
                </a:avLst>
              </a:prstGeom>
              <a:solidFill>
                <a:schemeClr val="lt1"/>
              </a:solidFill>
              <a:ln w="10575" cap="flat" cmpd="sng">
                <a:solidFill>
                  <a:schemeClr val="accent2"/>
                </a:solidFill>
                <a:prstDash val="solid"/>
                <a:round/>
                <a:headEnd type="none" w="sm" len="sm"/>
                <a:tailEnd type="none" w="sm" len="sm"/>
              </a:ln>
            </p:spPr>
            <p:txBody>
              <a:bodyPr spcFirstLastPara="1" wrap="square" lIns="67682" tIns="1015602" rIns="67682" bIns="20308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592"/>
                  <a:buFontTx/>
                  <a:buNone/>
                  <a:tabLst/>
                  <a:defRPr/>
                </a:pPr>
                <a:endParaRPr kumimoji="0" sz="789" b="0" i="0" u="none" strike="noStrike" kern="1200" cap="none" spc="0" normalizeH="0" baseline="0" noProof="0">
                  <a:ln>
                    <a:noFill/>
                  </a:ln>
                  <a:solidFill>
                    <a:srgbClr val="005C8A"/>
                  </a:solidFill>
                  <a:effectLst/>
                  <a:uLnTx/>
                  <a:uFillTx/>
                  <a:latin typeface="Arial"/>
                  <a:ea typeface="Arial"/>
                  <a:cs typeface="Arial"/>
                  <a:sym typeface="Arial"/>
                </a:endParaRPr>
              </a:p>
            </p:txBody>
          </p:sp>
          <p:grpSp>
            <p:nvGrpSpPr>
              <p:cNvPr id="4189" name="Google Shape;4189;p217"/>
              <p:cNvGrpSpPr/>
              <p:nvPr/>
            </p:nvGrpSpPr>
            <p:grpSpPr>
              <a:xfrm>
                <a:off x="987583" y="1738488"/>
                <a:ext cx="1174395" cy="972014"/>
                <a:chOff x="3325948" y="1424891"/>
                <a:chExt cx="1694409" cy="1402415"/>
              </a:xfrm>
            </p:grpSpPr>
            <p:sp>
              <p:nvSpPr>
                <p:cNvPr id="4190" name="Google Shape;4190;p217"/>
                <p:cNvSpPr/>
                <p:nvPr/>
              </p:nvSpPr>
              <p:spPr>
                <a:xfrm>
                  <a:off x="4297641" y="1533016"/>
                  <a:ext cx="528600" cy="45600"/>
                </a:xfrm>
                <a:prstGeom prst="rect">
                  <a:avLst/>
                </a:prstGeom>
                <a:solidFill>
                  <a:schemeClr val="lt1"/>
                </a:solidFill>
                <a:ln>
                  <a:noFill/>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191" name="Google Shape;4191;p217"/>
                <p:cNvSpPr/>
                <p:nvPr/>
              </p:nvSpPr>
              <p:spPr>
                <a:xfrm>
                  <a:off x="4297642" y="2297981"/>
                  <a:ext cx="474600" cy="45600"/>
                </a:xfrm>
                <a:prstGeom prst="rect">
                  <a:avLst/>
                </a:prstGeom>
                <a:solidFill>
                  <a:schemeClr val="lt1"/>
                </a:solidFill>
                <a:ln>
                  <a:noFill/>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4192" name="Google Shape;4192;p217"/>
                <p:cNvPicPr preferRelativeResize="0"/>
                <p:nvPr/>
              </p:nvPicPr>
              <p:blipFill rotWithShape="1">
                <a:blip r:embed="rId7">
                  <a:alphaModFix/>
                </a:blip>
                <a:srcRect/>
                <a:stretch/>
              </p:blipFill>
              <p:spPr>
                <a:xfrm>
                  <a:off x="3503144" y="1496410"/>
                  <a:ext cx="392596" cy="392595"/>
                </a:xfrm>
                <a:prstGeom prst="rect">
                  <a:avLst/>
                </a:prstGeom>
                <a:noFill/>
                <a:ln>
                  <a:noFill/>
                </a:ln>
              </p:spPr>
            </p:pic>
            <p:sp>
              <p:nvSpPr>
                <p:cNvPr id="4193" name="Google Shape;4193;p217"/>
                <p:cNvSpPr txBox="1"/>
                <p:nvPr/>
              </p:nvSpPr>
              <p:spPr>
                <a:xfrm>
                  <a:off x="4000890" y="1545342"/>
                  <a:ext cx="886800" cy="319702"/>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94" name="Google Shape;4194;p217"/>
                <p:cNvSpPr/>
                <p:nvPr/>
              </p:nvSpPr>
              <p:spPr>
                <a:xfrm>
                  <a:off x="3331847" y="1424891"/>
                  <a:ext cx="1680900" cy="535500"/>
                </a:xfrm>
                <a:prstGeom prst="rect">
                  <a:avLst/>
                </a:prstGeom>
                <a:noFill/>
                <a:ln w="5975" cap="flat" cmpd="sng">
                  <a:solidFill>
                    <a:schemeClr val="accent2"/>
                  </a:solidFill>
                  <a:prstDash val="dot"/>
                  <a:miter lim="800000"/>
                  <a:headEnd type="none" w="sm" len="sm"/>
                  <a:tailEnd type="none" w="sm" len="sm"/>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195" name="Google Shape;4195;p217"/>
                <p:cNvSpPr/>
                <p:nvPr/>
              </p:nvSpPr>
              <p:spPr>
                <a:xfrm>
                  <a:off x="3325948" y="2547405"/>
                  <a:ext cx="521400" cy="2799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96" name="Google Shape;4196;p217"/>
                <p:cNvSpPr/>
                <p:nvPr/>
              </p:nvSpPr>
              <p:spPr>
                <a:xfrm>
                  <a:off x="3912452" y="2547406"/>
                  <a:ext cx="521400" cy="2799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97" name="Google Shape;4197;p217"/>
                <p:cNvSpPr/>
                <p:nvPr/>
              </p:nvSpPr>
              <p:spPr>
                <a:xfrm>
                  <a:off x="4498957" y="2547404"/>
                  <a:ext cx="521400" cy="2799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370"/>
                    <a:buFontTx/>
                    <a:buNone/>
                    <a:tabLst/>
                    <a:defRPr/>
                  </a:pPr>
                  <a:r>
                    <a:rPr kumimoji="0" lang="en" sz="493" b="0" i="0" u="none" strike="noStrike" kern="1200" cap="none" spc="0" normalizeH="0" baseline="0" noProof="0">
                      <a:ln>
                        <a:noFill/>
                      </a:ln>
                      <a:solidFill>
                        <a:srgbClr val="FFFFFF"/>
                      </a:solidFill>
                      <a:effectLst/>
                      <a:uLnTx/>
                      <a:uFillTx/>
                      <a:latin typeface="Arial"/>
                      <a:ea typeface="Arial"/>
                      <a:cs typeface="Arial"/>
                      <a:sym typeface="Arial"/>
                    </a:rPr>
                    <a:t>N</a:t>
                  </a:r>
                  <a:endParaRPr kumimoji="0" sz="78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98" name="Google Shape;4198;p217"/>
                <p:cNvSpPr/>
                <p:nvPr/>
              </p:nvSpPr>
              <p:spPr>
                <a:xfrm>
                  <a:off x="3325949" y="2040092"/>
                  <a:ext cx="1694400" cy="285600"/>
                </a:xfrm>
                <a:prstGeom prst="roundRect">
                  <a:avLst>
                    <a:gd name="adj" fmla="val 50000"/>
                  </a:avLst>
                </a:prstGeom>
                <a:solidFill>
                  <a:srgbClr val="3E417C"/>
                </a:solidFill>
                <a:ln>
                  <a:noFill/>
                </a:ln>
              </p:spPr>
              <p:txBody>
                <a:bodyPr spcFirstLastPara="1" wrap="square" lIns="0" tIns="13563" rIns="0" bIns="0" anchor="ctr" anchorCtr="0">
                  <a:noAutofit/>
                </a:bodyPr>
                <a:lstStyle/>
                <a:p>
                  <a:pPr marL="0" marR="0" lvl="0" indent="0" algn="ctr" defTabSz="914400" rtl="0" eaLnBrk="1" fontAlgn="auto" latinLnBrk="0" hangingPunct="1">
                    <a:lnSpc>
                      <a:spcPct val="8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cxnSp>
              <p:nvCxnSpPr>
                <p:cNvPr id="4199" name="Google Shape;4199;p217"/>
                <p:cNvCxnSpPr/>
                <p:nvPr/>
              </p:nvCxnSpPr>
              <p:spPr>
                <a:xfrm>
                  <a:off x="4186614" y="2313793"/>
                  <a:ext cx="0" cy="240300"/>
                </a:xfrm>
                <a:prstGeom prst="straightConnector1">
                  <a:avLst/>
                </a:prstGeom>
                <a:noFill/>
                <a:ln w="5975" cap="flat" cmpd="sng">
                  <a:solidFill>
                    <a:schemeClr val="accent2"/>
                  </a:solidFill>
                  <a:prstDash val="solid"/>
                  <a:miter lim="800000"/>
                  <a:headEnd type="none" w="sm" len="sm"/>
                  <a:tailEnd type="none" w="sm" len="sm"/>
                </a:ln>
              </p:spPr>
            </p:cxnSp>
            <p:cxnSp>
              <p:nvCxnSpPr>
                <p:cNvPr id="4200" name="Google Shape;4200;p217"/>
                <p:cNvCxnSpPr/>
                <p:nvPr/>
              </p:nvCxnSpPr>
              <p:spPr>
                <a:xfrm>
                  <a:off x="3603836" y="2432789"/>
                  <a:ext cx="0" cy="121500"/>
                </a:xfrm>
                <a:prstGeom prst="straightConnector1">
                  <a:avLst/>
                </a:prstGeom>
                <a:noFill/>
                <a:ln w="5975" cap="flat" cmpd="sng">
                  <a:solidFill>
                    <a:schemeClr val="accent2"/>
                  </a:solidFill>
                  <a:prstDash val="solid"/>
                  <a:miter lim="800000"/>
                  <a:headEnd type="none" w="sm" len="sm"/>
                  <a:tailEnd type="none" w="sm" len="sm"/>
                </a:ln>
              </p:spPr>
            </p:cxnSp>
            <p:cxnSp>
              <p:nvCxnSpPr>
                <p:cNvPr id="4201" name="Google Shape;4201;p217"/>
                <p:cNvCxnSpPr/>
                <p:nvPr/>
              </p:nvCxnSpPr>
              <p:spPr>
                <a:xfrm>
                  <a:off x="4769392" y="2432789"/>
                  <a:ext cx="0" cy="121500"/>
                </a:xfrm>
                <a:prstGeom prst="straightConnector1">
                  <a:avLst/>
                </a:prstGeom>
                <a:noFill/>
                <a:ln w="5975" cap="flat" cmpd="sng">
                  <a:solidFill>
                    <a:schemeClr val="accent2"/>
                  </a:solidFill>
                  <a:prstDash val="solid"/>
                  <a:miter lim="800000"/>
                  <a:headEnd type="none" w="sm" len="sm"/>
                  <a:tailEnd type="none" w="sm" len="sm"/>
                </a:ln>
              </p:spPr>
            </p:cxnSp>
            <p:cxnSp>
              <p:nvCxnSpPr>
                <p:cNvPr id="4202" name="Google Shape;4202;p217"/>
                <p:cNvCxnSpPr/>
                <p:nvPr/>
              </p:nvCxnSpPr>
              <p:spPr>
                <a:xfrm>
                  <a:off x="3599903" y="2431944"/>
                  <a:ext cx="1172400" cy="0"/>
                </a:xfrm>
                <a:prstGeom prst="straightConnector1">
                  <a:avLst/>
                </a:prstGeom>
                <a:noFill/>
                <a:ln w="5975" cap="flat" cmpd="sng">
                  <a:solidFill>
                    <a:schemeClr val="accent2"/>
                  </a:solidFill>
                  <a:prstDash val="solid"/>
                  <a:miter lim="800000"/>
                  <a:headEnd type="none" w="sm" len="sm"/>
                  <a:tailEnd type="none" w="sm" len="sm"/>
                </a:ln>
              </p:spPr>
            </p:cxnSp>
          </p:grpSp>
          <p:sp>
            <p:nvSpPr>
              <p:cNvPr id="4203" name="Google Shape;4203;p217"/>
              <p:cNvSpPr txBox="1"/>
              <p:nvPr/>
            </p:nvSpPr>
            <p:spPr>
              <a:xfrm>
                <a:off x="805150" y="2760706"/>
                <a:ext cx="1557900" cy="164068"/>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592"/>
                  <a:buFontTx/>
                  <a:buNone/>
                  <a:tabLst/>
                  <a:defRPr/>
                </a:pPr>
                <a:r>
                  <a:rPr kumimoji="0" lang="en" sz="789"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4204" name="Google Shape;4204;p217"/>
            <p:cNvSpPr/>
            <p:nvPr/>
          </p:nvSpPr>
          <p:spPr>
            <a:xfrm>
              <a:off x="5024166" y="2723853"/>
              <a:ext cx="183000" cy="17700"/>
            </a:xfrm>
            <a:prstGeom prst="rect">
              <a:avLst/>
            </a:prstGeom>
            <a:solidFill>
              <a:schemeClr val="lt1"/>
            </a:solidFill>
            <a:ln>
              <a:noFill/>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4205" name="Google Shape;4205;p217"/>
            <p:cNvPicPr preferRelativeResize="0"/>
            <p:nvPr/>
          </p:nvPicPr>
          <p:blipFill rotWithShape="1">
            <a:blip r:embed="rId7">
              <a:alphaModFix/>
            </a:blip>
            <a:srcRect/>
            <a:stretch/>
          </p:blipFill>
          <p:spPr>
            <a:xfrm>
              <a:off x="4899094" y="2415371"/>
              <a:ext cx="151169" cy="151088"/>
            </a:xfrm>
            <a:prstGeom prst="rect">
              <a:avLst/>
            </a:prstGeom>
            <a:noFill/>
            <a:ln>
              <a:noFill/>
            </a:ln>
          </p:spPr>
        </p:pic>
        <p:sp>
          <p:nvSpPr>
            <p:cNvPr id="4206" name="Google Shape;4206;p217"/>
            <p:cNvSpPr txBox="1"/>
            <p:nvPr/>
          </p:nvSpPr>
          <p:spPr>
            <a:xfrm>
              <a:off x="5090752" y="2434161"/>
              <a:ext cx="341400" cy="123046"/>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07" name="Google Shape;4207;p217"/>
            <p:cNvSpPr/>
            <p:nvPr/>
          </p:nvSpPr>
          <p:spPr>
            <a:xfrm>
              <a:off x="4595373" y="2391889"/>
              <a:ext cx="1008300" cy="206100"/>
            </a:xfrm>
            <a:prstGeom prst="rect">
              <a:avLst/>
            </a:prstGeom>
            <a:noFill/>
            <a:ln w="5975" cap="flat" cmpd="sng">
              <a:solidFill>
                <a:schemeClr val="accent2"/>
              </a:solidFill>
              <a:prstDash val="dot"/>
              <a:miter lim="800000"/>
              <a:headEnd type="none" w="sm" len="sm"/>
              <a:tailEnd type="none" w="sm" len="sm"/>
            </a:ln>
          </p:spPr>
          <p:txBody>
            <a:bodyPr spcFirstLastPara="1" wrap="square" lIns="57518" tIns="28759" rIns="57518" bIns="28759"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208" name="Google Shape;4208;p217"/>
            <p:cNvSpPr/>
            <p:nvPr/>
          </p:nvSpPr>
          <p:spPr>
            <a:xfrm>
              <a:off x="4585256" y="2624603"/>
              <a:ext cx="1028100" cy="108000"/>
            </a:xfrm>
            <a:prstGeom prst="roundRect">
              <a:avLst>
                <a:gd name="adj" fmla="val 50000"/>
              </a:avLst>
            </a:prstGeom>
            <a:solidFill>
              <a:srgbClr val="3E417C"/>
            </a:solidFill>
            <a:ln>
              <a:noFill/>
            </a:ln>
          </p:spPr>
          <p:txBody>
            <a:bodyPr spcFirstLastPara="1" wrap="square" lIns="0" tIns="13563" rIns="0" bIns="0" anchor="ctr" anchorCtr="0">
              <a:noAutofit/>
            </a:bodyPr>
            <a:lstStyle/>
            <a:p>
              <a:pPr marL="0" marR="0" lvl="0" indent="0" algn="ctr" defTabSz="914400" rtl="0" eaLnBrk="1" fontAlgn="auto" latinLnBrk="0" hangingPunct="1">
                <a:lnSpc>
                  <a:spcPct val="8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cxnSp>
          <p:nvCxnSpPr>
            <p:cNvPr id="4209" name="Google Shape;4209;p217"/>
            <p:cNvCxnSpPr/>
            <p:nvPr/>
          </p:nvCxnSpPr>
          <p:spPr>
            <a:xfrm>
              <a:off x="5101678" y="2732121"/>
              <a:ext cx="0" cy="45300"/>
            </a:xfrm>
            <a:prstGeom prst="straightConnector1">
              <a:avLst/>
            </a:prstGeom>
            <a:noFill/>
            <a:ln w="5975" cap="flat" cmpd="sng">
              <a:solidFill>
                <a:schemeClr val="accent2"/>
              </a:solidFill>
              <a:prstDash val="solid"/>
              <a:miter lim="800000"/>
              <a:headEnd type="none" w="sm" len="sm"/>
              <a:tailEnd type="none" w="sm" len="sm"/>
            </a:ln>
          </p:spPr>
        </p:cxnSp>
        <p:cxnSp>
          <p:nvCxnSpPr>
            <p:cNvPr id="4210" name="Google Shape;4210;p217"/>
            <p:cNvCxnSpPr/>
            <p:nvPr/>
          </p:nvCxnSpPr>
          <p:spPr>
            <a:xfrm>
              <a:off x="4757016" y="2775733"/>
              <a:ext cx="0" cy="46800"/>
            </a:xfrm>
            <a:prstGeom prst="straightConnector1">
              <a:avLst/>
            </a:prstGeom>
            <a:noFill/>
            <a:ln w="5975" cap="flat" cmpd="sng">
              <a:solidFill>
                <a:schemeClr val="accent2"/>
              </a:solidFill>
              <a:prstDash val="solid"/>
              <a:miter lim="800000"/>
              <a:headEnd type="none" w="sm" len="sm"/>
              <a:tailEnd type="none" w="sm" len="sm"/>
            </a:ln>
          </p:spPr>
        </p:cxnSp>
        <p:cxnSp>
          <p:nvCxnSpPr>
            <p:cNvPr id="4211" name="Google Shape;4211;p217"/>
            <p:cNvCxnSpPr/>
            <p:nvPr/>
          </p:nvCxnSpPr>
          <p:spPr>
            <a:xfrm>
              <a:off x="5205814" y="2775733"/>
              <a:ext cx="0" cy="46800"/>
            </a:xfrm>
            <a:prstGeom prst="straightConnector1">
              <a:avLst/>
            </a:prstGeom>
            <a:noFill/>
            <a:ln w="5975" cap="flat" cmpd="sng">
              <a:solidFill>
                <a:schemeClr val="accent2"/>
              </a:solidFill>
              <a:prstDash val="solid"/>
              <a:miter lim="800000"/>
              <a:headEnd type="none" w="sm" len="sm"/>
              <a:tailEnd type="none" w="sm" len="sm"/>
            </a:ln>
          </p:spPr>
        </p:cxnSp>
        <p:cxnSp>
          <p:nvCxnSpPr>
            <p:cNvPr id="4212" name="Google Shape;4212;p217"/>
            <p:cNvCxnSpPr/>
            <p:nvPr/>
          </p:nvCxnSpPr>
          <p:spPr>
            <a:xfrm>
              <a:off x="4754854" y="2775408"/>
              <a:ext cx="673200" cy="2400"/>
            </a:xfrm>
            <a:prstGeom prst="straightConnector1">
              <a:avLst/>
            </a:prstGeom>
            <a:noFill/>
            <a:ln w="5975" cap="flat" cmpd="sng">
              <a:solidFill>
                <a:schemeClr val="accent2"/>
              </a:solidFill>
              <a:prstDash val="solid"/>
              <a:miter lim="800000"/>
              <a:headEnd type="none" w="sm" len="sm"/>
              <a:tailEnd type="none" w="sm" len="sm"/>
            </a:ln>
          </p:spPr>
        </p:cxnSp>
        <p:sp>
          <p:nvSpPr>
            <p:cNvPr id="4213" name="Google Shape;4213;p217"/>
            <p:cNvSpPr txBox="1"/>
            <p:nvPr/>
          </p:nvSpPr>
          <p:spPr>
            <a:xfrm>
              <a:off x="4657359" y="2955439"/>
              <a:ext cx="865500" cy="91107"/>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592"/>
                <a:buFontTx/>
                <a:buNone/>
                <a:tabLst/>
                <a:defRPr/>
              </a:pPr>
              <a:r>
                <a:rPr kumimoji="0" lang="en" sz="789"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214" name="Google Shape;4214;p217"/>
            <p:cNvGrpSpPr/>
            <p:nvPr/>
          </p:nvGrpSpPr>
          <p:grpSpPr>
            <a:xfrm>
              <a:off x="3484933" y="2367293"/>
              <a:ext cx="865725" cy="757985"/>
              <a:chOff x="805150" y="1625512"/>
              <a:chExt cx="1557900" cy="1365000"/>
            </a:xfrm>
          </p:grpSpPr>
          <p:sp>
            <p:nvSpPr>
              <p:cNvPr id="4215" name="Google Shape;4215;p217"/>
              <p:cNvSpPr/>
              <p:nvPr/>
            </p:nvSpPr>
            <p:spPr>
              <a:xfrm>
                <a:off x="805150" y="1625512"/>
                <a:ext cx="1557900" cy="1365000"/>
              </a:xfrm>
              <a:prstGeom prst="roundRect">
                <a:avLst>
                  <a:gd name="adj" fmla="val 3683"/>
                </a:avLst>
              </a:prstGeom>
              <a:solidFill>
                <a:schemeClr val="lt1"/>
              </a:solidFill>
              <a:ln w="10575" cap="flat" cmpd="sng">
                <a:solidFill>
                  <a:schemeClr val="accent2"/>
                </a:solidFill>
                <a:prstDash val="solid"/>
                <a:round/>
                <a:headEnd type="none" w="sm" len="sm"/>
                <a:tailEnd type="none" w="sm" len="sm"/>
              </a:ln>
            </p:spPr>
            <p:txBody>
              <a:bodyPr spcFirstLastPara="1" wrap="square" lIns="67682" tIns="1015602" rIns="67682" bIns="20308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592"/>
                  <a:buFontTx/>
                  <a:buNone/>
                  <a:tabLst/>
                  <a:defRPr/>
                </a:pPr>
                <a:endParaRPr kumimoji="0" sz="789" b="0" i="0" u="none" strike="noStrike" kern="1200" cap="none" spc="0" normalizeH="0" baseline="0" noProof="0">
                  <a:ln>
                    <a:noFill/>
                  </a:ln>
                  <a:solidFill>
                    <a:srgbClr val="005C8A"/>
                  </a:solidFill>
                  <a:effectLst/>
                  <a:uLnTx/>
                  <a:uFillTx/>
                  <a:latin typeface="Arial"/>
                  <a:ea typeface="Arial"/>
                  <a:cs typeface="Arial"/>
                  <a:sym typeface="Arial"/>
                </a:endParaRPr>
              </a:p>
            </p:txBody>
          </p:sp>
          <p:grpSp>
            <p:nvGrpSpPr>
              <p:cNvPr id="4216" name="Google Shape;4216;p217"/>
              <p:cNvGrpSpPr/>
              <p:nvPr/>
            </p:nvGrpSpPr>
            <p:grpSpPr>
              <a:xfrm>
                <a:off x="987583" y="1738488"/>
                <a:ext cx="1174395" cy="972014"/>
                <a:chOff x="3325948" y="1424891"/>
                <a:chExt cx="1694409" cy="1402415"/>
              </a:xfrm>
            </p:grpSpPr>
            <p:sp>
              <p:nvSpPr>
                <p:cNvPr id="4217" name="Google Shape;4217;p217"/>
                <p:cNvSpPr/>
                <p:nvPr/>
              </p:nvSpPr>
              <p:spPr>
                <a:xfrm>
                  <a:off x="4297641" y="1533016"/>
                  <a:ext cx="528600" cy="45600"/>
                </a:xfrm>
                <a:prstGeom prst="rect">
                  <a:avLst/>
                </a:prstGeom>
                <a:solidFill>
                  <a:schemeClr val="lt1"/>
                </a:solidFill>
                <a:ln>
                  <a:noFill/>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218" name="Google Shape;4218;p217"/>
                <p:cNvSpPr/>
                <p:nvPr/>
              </p:nvSpPr>
              <p:spPr>
                <a:xfrm>
                  <a:off x="4297642" y="2297981"/>
                  <a:ext cx="474600" cy="45600"/>
                </a:xfrm>
                <a:prstGeom prst="rect">
                  <a:avLst/>
                </a:prstGeom>
                <a:solidFill>
                  <a:schemeClr val="lt1"/>
                </a:solidFill>
                <a:ln>
                  <a:noFill/>
                </a:ln>
              </p:spPr>
              <p:txBody>
                <a:bodyPr spcFirstLastPara="1" wrap="square" lIns="67682" tIns="33825" rIns="67682" bIns="33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4219" name="Google Shape;4219;p217"/>
                <p:cNvPicPr preferRelativeResize="0"/>
                <p:nvPr/>
              </p:nvPicPr>
              <p:blipFill rotWithShape="1">
                <a:blip r:embed="rId7">
                  <a:alphaModFix/>
                </a:blip>
                <a:srcRect/>
                <a:stretch/>
              </p:blipFill>
              <p:spPr>
                <a:xfrm>
                  <a:off x="3503144" y="1496410"/>
                  <a:ext cx="392596" cy="392595"/>
                </a:xfrm>
                <a:prstGeom prst="rect">
                  <a:avLst/>
                </a:prstGeom>
                <a:noFill/>
                <a:ln>
                  <a:noFill/>
                </a:ln>
              </p:spPr>
            </p:pic>
            <p:sp>
              <p:nvSpPr>
                <p:cNvPr id="4220" name="Google Shape;4220;p217"/>
                <p:cNvSpPr txBox="1"/>
                <p:nvPr/>
              </p:nvSpPr>
              <p:spPr>
                <a:xfrm>
                  <a:off x="4000890" y="1545345"/>
                  <a:ext cx="886800" cy="319702"/>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21" name="Google Shape;4221;p217"/>
                <p:cNvSpPr/>
                <p:nvPr/>
              </p:nvSpPr>
              <p:spPr>
                <a:xfrm>
                  <a:off x="3331847" y="1424891"/>
                  <a:ext cx="1680900" cy="535500"/>
                </a:xfrm>
                <a:prstGeom prst="rect">
                  <a:avLst/>
                </a:prstGeom>
                <a:noFill/>
                <a:ln w="5975" cap="flat" cmpd="sng">
                  <a:solidFill>
                    <a:schemeClr val="accent2"/>
                  </a:solidFill>
                  <a:prstDash val="dot"/>
                  <a:miter lim="800000"/>
                  <a:headEnd type="none" w="sm" len="sm"/>
                  <a:tailEnd type="none" w="sm" len="sm"/>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667"/>
                    <a:buFontTx/>
                    <a:buNone/>
                    <a:tabLst/>
                    <a:defRPr/>
                  </a:pPr>
                  <a:endParaRPr kumimoji="0" sz="888"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222" name="Google Shape;4222;p217"/>
                <p:cNvSpPr/>
                <p:nvPr/>
              </p:nvSpPr>
              <p:spPr>
                <a:xfrm>
                  <a:off x="3325948" y="2547405"/>
                  <a:ext cx="521400" cy="2799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23" name="Google Shape;4223;p217"/>
                <p:cNvSpPr/>
                <p:nvPr/>
              </p:nvSpPr>
              <p:spPr>
                <a:xfrm>
                  <a:off x="3912452" y="2547406"/>
                  <a:ext cx="521400" cy="2799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24" name="Google Shape;4224;p217"/>
                <p:cNvSpPr/>
                <p:nvPr/>
              </p:nvSpPr>
              <p:spPr>
                <a:xfrm>
                  <a:off x="4498957" y="2547404"/>
                  <a:ext cx="521400" cy="2799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370"/>
                    <a:buFontTx/>
                    <a:buNone/>
                    <a:tabLst/>
                    <a:defRPr/>
                  </a:pPr>
                  <a:r>
                    <a:rPr kumimoji="0" lang="en" sz="493" b="0" i="0" u="none" strike="noStrike" kern="1200" cap="none" spc="0" normalizeH="0" baseline="0" noProof="0">
                      <a:ln>
                        <a:noFill/>
                      </a:ln>
                      <a:solidFill>
                        <a:srgbClr val="FFFFFF"/>
                      </a:solidFill>
                      <a:effectLst/>
                      <a:uLnTx/>
                      <a:uFillTx/>
                      <a:latin typeface="Arial"/>
                      <a:ea typeface="Arial"/>
                      <a:cs typeface="Arial"/>
                      <a:sym typeface="Arial"/>
                    </a:rPr>
                    <a:t>N</a:t>
                  </a:r>
                  <a:endParaRPr kumimoji="0" sz="78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25" name="Google Shape;4225;p217"/>
                <p:cNvSpPr/>
                <p:nvPr/>
              </p:nvSpPr>
              <p:spPr>
                <a:xfrm>
                  <a:off x="3325949" y="2040092"/>
                  <a:ext cx="1694400" cy="285600"/>
                </a:xfrm>
                <a:prstGeom prst="roundRect">
                  <a:avLst>
                    <a:gd name="adj" fmla="val 50000"/>
                  </a:avLst>
                </a:prstGeom>
                <a:solidFill>
                  <a:srgbClr val="3E417C"/>
                </a:solidFill>
                <a:ln>
                  <a:noFill/>
                </a:ln>
              </p:spPr>
              <p:txBody>
                <a:bodyPr spcFirstLastPara="1" wrap="square" lIns="0" tIns="13563" rIns="0" bIns="0" anchor="ctr" anchorCtr="0">
                  <a:noAutofit/>
                </a:bodyPr>
                <a:lstStyle/>
                <a:p>
                  <a:pPr marL="0" marR="0" lvl="0" indent="0" algn="ctr" defTabSz="914400" rtl="0" eaLnBrk="1" fontAlgn="auto" latinLnBrk="0" hangingPunct="1">
                    <a:lnSpc>
                      <a:spcPct val="8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cxnSp>
              <p:nvCxnSpPr>
                <p:cNvPr id="4226" name="Google Shape;4226;p217"/>
                <p:cNvCxnSpPr/>
                <p:nvPr/>
              </p:nvCxnSpPr>
              <p:spPr>
                <a:xfrm>
                  <a:off x="4186614" y="2313793"/>
                  <a:ext cx="0" cy="240300"/>
                </a:xfrm>
                <a:prstGeom prst="straightConnector1">
                  <a:avLst/>
                </a:prstGeom>
                <a:noFill/>
                <a:ln w="5975" cap="flat" cmpd="sng">
                  <a:solidFill>
                    <a:schemeClr val="accent2"/>
                  </a:solidFill>
                  <a:prstDash val="solid"/>
                  <a:miter lim="800000"/>
                  <a:headEnd type="none" w="sm" len="sm"/>
                  <a:tailEnd type="none" w="sm" len="sm"/>
                </a:ln>
              </p:spPr>
            </p:cxnSp>
            <p:cxnSp>
              <p:nvCxnSpPr>
                <p:cNvPr id="4227" name="Google Shape;4227;p217"/>
                <p:cNvCxnSpPr/>
                <p:nvPr/>
              </p:nvCxnSpPr>
              <p:spPr>
                <a:xfrm>
                  <a:off x="3603836" y="2432789"/>
                  <a:ext cx="0" cy="121500"/>
                </a:xfrm>
                <a:prstGeom prst="straightConnector1">
                  <a:avLst/>
                </a:prstGeom>
                <a:noFill/>
                <a:ln w="5975" cap="flat" cmpd="sng">
                  <a:solidFill>
                    <a:schemeClr val="accent2"/>
                  </a:solidFill>
                  <a:prstDash val="solid"/>
                  <a:miter lim="800000"/>
                  <a:headEnd type="none" w="sm" len="sm"/>
                  <a:tailEnd type="none" w="sm" len="sm"/>
                </a:ln>
              </p:spPr>
            </p:cxnSp>
            <p:cxnSp>
              <p:nvCxnSpPr>
                <p:cNvPr id="4228" name="Google Shape;4228;p217"/>
                <p:cNvCxnSpPr/>
                <p:nvPr/>
              </p:nvCxnSpPr>
              <p:spPr>
                <a:xfrm>
                  <a:off x="4769392" y="2432789"/>
                  <a:ext cx="0" cy="121500"/>
                </a:xfrm>
                <a:prstGeom prst="straightConnector1">
                  <a:avLst/>
                </a:prstGeom>
                <a:noFill/>
                <a:ln w="5975" cap="flat" cmpd="sng">
                  <a:solidFill>
                    <a:schemeClr val="accent2"/>
                  </a:solidFill>
                  <a:prstDash val="solid"/>
                  <a:miter lim="800000"/>
                  <a:headEnd type="none" w="sm" len="sm"/>
                  <a:tailEnd type="none" w="sm" len="sm"/>
                </a:ln>
              </p:spPr>
            </p:cxnSp>
            <p:cxnSp>
              <p:nvCxnSpPr>
                <p:cNvPr id="4229" name="Google Shape;4229;p217"/>
                <p:cNvCxnSpPr/>
                <p:nvPr/>
              </p:nvCxnSpPr>
              <p:spPr>
                <a:xfrm>
                  <a:off x="3599903" y="2431944"/>
                  <a:ext cx="1172400" cy="0"/>
                </a:xfrm>
                <a:prstGeom prst="straightConnector1">
                  <a:avLst/>
                </a:prstGeom>
                <a:noFill/>
                <a:ln w="5975" cap="flat" cmpd="sng">
                  <a:solidFill>
                    <a:schemeClr val="accent2"/>
                  </a:solidFill>
                  <a:prstDash val="solid"/>
                  <a:miter lim="800000"/>
                  <a:headEnd type="none" w="sm" len="sm"/>
                  <a:tailEnd type="none" w="sm" len="sm"/>
                </a:ln>
              </p:spPr>
            </p:cxnSp>
          </p:grpSp>
          <p:sp>
            <p:nvSpPr>
              <p:cNvPr id="4230" name="Google Shape;4230;p217"/>
              <p:cNvSpPr txBox="1"/>
              <p:nvPr/>
            </p:nvSpPr>
            <p:spPr>
              <a:xfrm>
                <a:off x="805150" y="2760707"/>
                <a:ext cx="1557900" cy="164068"/>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592"/>
                  <a:buFontTx/>
                  <a:buNone/>
                  <a:tabLst/>
                  <a:defRPr/>
                </a:pPr>
                <a:r>
                  <a:rPr kumimoji="0" lang="en" sz="789"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grpSp>
        <p:cxnSp>
          <p:nvCxnSpPr>
            <p:cNvPr id="4231" name="Google Shape;4231;p217"/>
            <p:cNvCxnSpPr/>
            <p:nvPr/>
          </p:nvCxnSpPr>
          <p:spPr>
            <a:xfrm>
              <a:off x="5427919" y="2775789"/>
              <a:ext cx="0" cy="46800"/>
            </a:xfrm>
            <a:prstGeom prst="straightConnector1">
              <a:avLst/>
            </a:prstGeom>
            <a:noFill/>
            <a:ln w="5975" cap="flat" cmpd="sng">
              <a:solidFill>
                <a:schemeClr val="accent2"/>
              </a:solidFill>
              <a:prstDash val="solid"/>
              <a:miter lim="800000"/>
              <a:headEnd type="none" w="sm" len="sm"/>
              <a:tailEnd type="none" w="sm" len="sm"/>
            </a:ln>
          </p:spPr>
        </p:cxnSp>
        <p:cxnSp>
          <p:nvCxnSpPr>
            <p:cNvPr id="4232" name="Google Shape;4232;p217"/>
            <p:cNvCxnSpPr/>
            <p:nvPr/>
          </p:nvCxnSpPr>
          <p:spPr>
            <a:xfrm>
              <a:off x="4975712" y="2775789"/>
              <a:ext cx="0" cy="46800"/>
            </a:xfrm>
            <a:prstGeom prst="straightConnector1">
              <a:avLst/>
            </a:prstGeom>
            <a:noFill/>
            <a:ln w="5975" cap="flat" cmpd="sng">
              <a:solidFill>
                <a:schemeClr val="accent2"/>
              </a:solidFill>
              <a:prstDash val="solid"/>
              <a:miter lim="800000"/>
              <a:headEnd type="none" w="sm" len="sm"/>
              <a:tailEnd type="none" w="sm" len="sm"/>
            </a:ln>
          </p:spPr>
        </p:cxnSp>
        <p:sp>
          <p:nvSpPr>
            <p:cNvPr id="4233" name="Google Shape;4233;p217"/>
            <p:cNvSpPr/>
            <p:nvPr/>
          </p:nvSpPr>
          <p:spPr>
            <a:xfrm>
              <a:off x="4650015" y="2819843"/>
              <a:ext cx="200700" cy="1080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34" name="Google Shape;4234;p217"/>
            <p:cNvSpPr/>
            <p:nvPr/>
          </p:nvSpPr>
          <p:spPr>
            <a:xfrm>
              <a:off x="4875849" y="2819843"/>
              <a:ext cx="200700" cy="1080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44"/>
                <a:buFontTx/>
                <a:buNone/>
                <a:tabLst/>
                <a:defRPr/>
              </a:pPr>
              <a:r>
                <a:rPr kumimoji="0" lang="en" sz="592"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08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35" name="Google Shape;4235;p217"/>
            <p:cNvSpPr/>
            <p:nvPr/>
          </p:nvSpPr>
          <p:spPr>
            <a:xfrm>
              <a:off x="5101683" y="2819843"/>
              <a:ext cx="200700" cy="1080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370"/>
                <a:buFontTx/>
                <a:buNone/>
                <a:tabLst/>
                <a:defRPr/>
              </a:pPr>
              <a:r>
                <a:rPr kumimoji="0" lang="en" sz="493" b="0" i="0" u="none" strike="noStrike" kern="1200" cap="none" spc="0" normalizeH="0" baseline="0" noProof="0">
                  <a:ln>
                    <a:noFill/>
                  </a:ln>
                  <a:solidFill>
                    <a:srgbClr val="FFFFFF"/>
                  </a:solidFill>
                  <a:effectLst/>
                  <a:uLnTx/>
                  <a:uFillTx/>
                  <a:latin typeface="Arial"/>
                  <a:ea typeface="Arial"/>
                  <a:cs typeface="Arial"/>
                  <a:sym typeface="Arial"/>
                </a:rPr>
                <a:t>N</a:t>
              </a:r>
              <a:endParaRPr kumimoji="0" sz="78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36" name="Google Shape;4236;p217"/>
            <p:cNvSpPr/>
            <p:nvPr/>
          </p:nvSpPr>
          <p:spPr>
            <a:xfrm>
              <a:off x="5327509" y="2822490"/>
              <a:ext cx="200700" cy="108000"/>
            </a:xfrm>
            <a:prstGeom prst="roundRect">
              <a:avLst>
                <a:gd name="adj" fmla="val 50000"/>
              </a:avLst>
            </a:prstGeom>
            <a:solidFill>
              <a:srgbClr val="3E417C"/>
            </a:solidFill>
            <a:ln>
              <a:noFill/>
            </a:ln>
          </p:spPr>
          <p:txBody>
            <a:bodyPr spcFirstLastPara="1" wrap="square" lIns="57518" tIns="28759" rIns="57518" bIns="28759"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370"/>
                <a:buFontTx/>
                <a:buNone/>
                <a:tabLst/>
                <a:defRPr/>
              </a:pPr>
              <a:r>
                <a:rPr kumimoji="0" lang="en" sz="493" b="0" i="0" u="none" strike="noStrike" kern="1200" cap="none" spc="0" normalizeH="0" baseline="0" noProof="0">
                  <a:ln>
                    <a:noFill/>
                  </a:ln>
                  <a:solidFill>
                    <a:srgbClr val="FFFFFF"/>
                  </a:solidFill>
                  <a:effectLst/>
                  <a:uLnTx/>
                  <a:uFillTx/>
                  <a:latin typeface="Arial"/>
                  <a:ea typeface="Arial"/>
                  <a:cs typeface="Arial"/>
                  <a:sym typeface="Arial"/>
                </a:rPr>
                <a:t>N</a:t>
              </a:r>
              <a:endParaRPr kumimoji="0" sz="789"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4237" name="Google Shape;4237;p217"/>
            <p:cNvGrpSpPr/>
            <p:nvPr/>
          </p:nvGrpSpPr>
          <p:grpSpPr>
            <a:xfrm>
              <a:off x="4014100" y="3563634"/>
              <a:ext cx="1036200" cy="189287"/>
              <a:chOff x="4014100" y="3563634"/>
              <a:chExt cx="1036200" cy="189287"/>
            </a:xfrm>
          </p:grpSpPr>
          <p:sp>
            <p:nvSpPr>
              <p:cNvPr id="4238" name="Google Shape;4238;p217"/>
              <p:cNvSpPr/>
              <p:nvPr/>
            </p:nvSpPr>
            <p:spPr>
              <a:xfrm>
                <a:off x="4014100" y="3609362"/>
                <a:ext cx="1036200" cy="81000"/>
              </a:xfrm>
              <a:prstGeom prst="rect">
                <a:avLst/>
              </a:prstGeom>
              <a:solidFill>
                <a:srgbClr val="E6F5F9"/>
              </a:solidFill>
              <a:ln>
                <a:noFill/>
              </a:ln>
            </p:spPr>
            <p:txBody>
              <a:bodyPr spcFirstLastPara="1" wrap="square" lIns="121868" tIns="121868" rIns="121868" bIns="121868"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4239" name="Google Shape;4239;p217"/>
              <p:cNvGrpSpPr/>
              <p:nvPr/>
            </p:nvGrpSpPr>
            <p:grpSpPr>
              <a:xfrm>
                <a:off x="4088137" y="3563634"/>
                <a:ext cx="860066" cy="189287"/>
                <a:chOff x="3737262" y="5076919"/>
                <a:chExt cx="1044276" cy="228804"/>
              </a:xfrm>
            </p:grpSpPr>
            <p:grpSp>
              <p:nvGrpSpPr>
                <p:cNvPr id="4240" name="Google Shape;4240;p217"/>
                <p:cNvGrpSpPr/>
                <p:nvPr/>
              </p:nvGrpSpPr>
              <p:grpSpPr>
                <a:xfrm>
                  <a:off x="3737262" y="5089654"/>
                  <a:ext cx="215986" cy="216069"/>
                  <a:chOff x="3822556" y="4772219"/>
                  <a:chExt cx="611339" cy="557450"/>
                </a:xfrm>
              </p:grpSpPr>
              <p:sp>
                <p:nvSpPr>
                  <p:cNvPr id="4241" name="Google Shape;4241;p217"/>
                  <p:cNvSpPr/>
                  <p:nvPr/>
                </p:nvSpPr>
                <p:spPr>
                  <a:xfrm>
                    <a:off x="3822556" y="4772219"/>
                    <a:ext cx="611339" cy="161803"/>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076" tIns="45455" rIns="91076" bIns="4545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96"/>
                      <a:buFontTx/>
                      <a:buNone/>
                      <a:tabLst/>
                      <a:defRPr/>
                    </a:pPr>
                    <a:endParaRPr kumimoji="0" sz="146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42" name="Google Shape;4242;p217"/>
                  <p:cNvSpPr/>
                  <p:nvPr/>
                </p:nvSpPr>
                <p:spPr>
                  <a:xfrm>
                    <a:off x="3822556" y="4969420"/>
                    <a:ext cx="611339" cy="161846"/>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chemeClr val="accent2"/>
                  </a:solidFill>
                  <a:ln>
                    <a:noFill/>
                  </a:ln>
                </p:spPr>
                <p:txBody>
                  <a:bodyPr spcFirstLastPara="1" wrap="square" lIns="91076" tIns="45455" rIns="91076" bIns="4545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96"/>
                      <a:buFontTx/>
                      <a:buNone/>
                      <a:tabLst/>
                      <a:defRPr/>
                    </a:pPr>
                    <a:endParaRPr kumimoji="0" sz="146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43" name="Google Shape;4243;p217"/>
                  <p:cNvSpPr/>
                  <p:nvPr/>
                </p:nvSpPr>
                <p:spPr>
                  <a:xfrm>
                    <a:off x="3822556" y="5167823"/>
                    <a:ext cx="611339" cy="161846"/>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076" tIns="45455" rIns="91076" bIns="4545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96"/>
                      <a:buFontTx/>
                      <a:buNone/>
                      <a:tabLst/>
                      <a:defRPr/>
                    </a:pPr>
                    <a:endParaRPr kumimoji="0" sz="1461"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4244" name="Google Shape;4244;p217"/>
                <p:cNvSpPr/>
                <p:nvPr/>
              </p:nvSpPr>
              <p:spPr>
                <a:xfrm>
                  <a:off x="4565235" y="5076919"/>
                  <a:ext cx="216303" cy="216303"/>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chemeClr val="accent2"/>
                </a:solidFill>
                <a:ln>
                  <a:noFill/>
                </a:ln>
              </p:spPr>
              <p:txBody>
                <a:bodyPr spcFirstLastPara="1" wrap="square" lIns="91076" tIns="45455" rIns="91076" bIns="4545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96"/>
                    <a:buFontTx/>
                    <a:buNone/>
                    <a:tabLst/>
                    <a:defRPr/>
                  </a:pPr>
                  <a:endParaRPr kumimoji="0" sz="146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245" name="Google Shape;4245;p217"/>
                <p:cNvSpPr/>
                <p:nvPr/>
              </p:nvSpPr>
              <p:spPr>
                <a:xfrm>
                  <a:off x="4175866" y="5082516"/>
                  <a:ext cx="193143" cy="215865"/>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chemeClr val="accent2"/>
                </a:solidFill>
                <a:ln>
                  <a:noFill/>
                </a:ln>
              </p:spPr>
              <p:txBody>
                <a:bodyPr spcFirstLastPara="1" wrap="square" lIns="91076" tIns="45455" rIns="91076" bIns="4545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96"/>
                    <a:buFontTx/>
                    <a:buNone/>
                    <a:tabLst/>
                    <a:defRPr/>
                  </a:pPr>
                  <a:endParaRPr kumimoji="0" sz="1461"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grpSp>
        <p:nvGrpSpPr>
          <p:cNvPr id="6" name="Group 5">
            <a:extLst>
              <a:ext uri="{FF2B5EF4-FFF2-40B4-BE49-F238E27FC236}">
                <a16:creationId xmlns:a16="http://schemas.microsoft.com/office/drawing/2014/main" id="{8453F7D2-861D-A298-5EEA-FE7011836893}"/>
              </a:ext>
            </a:extLst>
          </p:cNvPr>
          <p:cNvGrpSpPr/>
          <p:nvPr/>
        </p:nvGrpSpPr>
        <p:grpSpPr>
          <a:xfrm>
            <a:off x="5802831" y="2156001"/>
            <a:ext cx="540000" cy="540000"/>
            <a:chOff x="5008497" y="2349000"/>
            <a:chExt cx="2160000" cy="2160000"/>
          </a:xfrm>
        </p:grpSpPr>
        <p:sp>
          <p:nvSpPr>
            <p:cNvPr id="4" name="Oval 3">
              <a:extLst>
                <a:ext uri="{FF2B5EF4-FFF2-40B4-BE49-F238E27FC236}">
                  <a16:creationId xmlns:a16="http://schemas.microsoft.com/office/drawing/2014/main" id="{091AA1D3-9B38-E023-A25D-9705AEFDAC1B}"/>
                </a:ext>
              </a:extLst>
            </p:cNvPr>
            <p:cNvSpPr>
              <a:spLocks noChangeAspect="1"/>
            </p:cNvSpPr>
            <p:nvPr/>
          </p:nvSpPr>
          <p:spPr bwMode="gray">
            <a:xfrm>
              <a:off x="5008497" y="2349000"/>
              <a:ext cx="2160000" cy="2160000"/>
            </a:xfrm>
            <a:prstGeom prst="ellipse">
              <a:avLst/>
            </a:prstGeom>
            <a:solidFill>
              <a:schemeClr val="bg1"/>
            </a:solidFill>
            <a:ln w="25400">
              <a:gradFill>
                <a:gsLst>
                  <a:gs pos="0">
                    <a:schemeClr val="accent2">
                      <a:alpha val="69630"/>
                    </a:schemeClr>
                  </a:gs>
                  <a:gs pos="63000">
                    <a:schemeClr val="accent5">
                      <a:alpha val="69963"/>
                    </a:schemeClr>
                  </a:gs>
                  <a:gs pos="83000">
                    <a:schemeClr val="accent1">
                      <a:lumMod val="45000"/>
                      <a:lumOff val="55000"/>
                      <a:alpha val="70029"/>
                    </a:schemeClr>
                  </a:gs>
                  <a:gs pos="100000">
                    <a:schemeClr val="accent2">
                      <a:alpha val="70000"/>
                    </a:schemeClr>
                  </a:gs>
                </a:gsLst>
                <a:lin ang="5400000" scaled="1"/>
              </a:gradFill>
              <a:miter lim="800000"/>
            </a:ln>
            <a:effectLst>
              <a:glow rad="482124">
                <a:schemeClr val="bg1">
                  <a:alpha val="40000"/>
                </a:schemeClr>
              </a:glow>
              <a:outerShdw blurRad="63500" sx="92541" sy="92541" algn="ctr" rotWithShape="0">
                <a:schemeClr val="accent2">
                  <a:alpha val="40000"/>
                </a:schemeClr>
              </a:outerShdw>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pic>
          <p:nvPicPr>
            <p:cNvPr id="5" name="Graphic 4">
              <a:extLst>
                <a:ext uri="{FF2B5EF4-FFF2-40B4-BE49-F238E27FC236}">
                  <a16:creationId xmlns:a16="http://schemas.microsoft.com/office/drawing/2014/main" id="{7EFBE78B-B8DA-1197-3038-A48B9D5CB7B0}"/>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5188497" y="2529000"/>
              <a:ext cx="1800000" cy="1800000"/>
            </a:xfrm>
            <a:prstGeom prst="rect">
              <a:avLst/>
            </a:prstGeom>
          </p:spPr>
        </p:pic>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Shape 1154">
          <a:extLst>
            <a:ext uri="{FF2B5EF4-FFF2-40B4-BE49-F238E27FC236}">
              <a16:creationId xmlns:a16="http://schemas.microsoft.com/office/drawing/2014/main" id="{9FD71E71-59BB-BD44-E886-84B70D36102E}"/>
            </a:ext>
          </a:extLst>
        </p:cNvPr>
        <p:cNvGrpSpPr/>
        <p:nvPr/>
      </p:nvGrpSpPr>
      <p:grpSpPr>
        <a:xfrm>
          <a:off x="0" y="0"/>
          <a:ext cx="0" cy="0"/>
          <a:chOff x="0" y="0"/>
          <a:chExt cx="0" cy="0"/>
        </a:xfrm>
      </p:grpSpPr>
      <p:sp>
        <p:nvSpPr>
          <p:cNvPr id="1155" name="Google Shape;1155;p4">
            <a:extLst>
              <a:ext uri="{FF2B5EF4-FFF2-40B4-BE49-F238E27FC236}">
                <a16:creationId xmlns:a16="http://schemas.microsoft.com/office/drawing/2014/main" id="{ED3474C1-C8FD-4413-5947-47C65CAFE040}"/>
              </a:ext>
            </a:extLst>
          </p:cNvPr>
          <p:cNvSpPr/>
          <p:nvPr/>
        </p:nvSpPr>
        <p:spPr>
          <a:xfrm>
            <a:off x="3956289" y="74870"/>
            <a:ext cx="1939363" cy="6783129"/>
          </a:xfrm>
          <a:custGeom>
            <a:avLst/>
            <a:gdLst/>
            <a:ahLst/>
            <a:cxnLst/>
            <a:rect l="l" t="t" r="r" b="b"/>
            <a:pathLst>
              <a:path w="1939363" h="6858000" extrusionOk="0">
                <a:moveTo>
                  <a:pt x="181456" y="0"/>
                </a:moveTo>
                <a:lnTo>
                  <a:pt x="230577" y="0"/>
                </a:lnTo>
                <a:lnTo>
                  <a:pt x="264720" y="24169"/>
                </a:lnTo>
                <a:cubicBezTo>
                  <a:pt x="1820678" y="1185325"/>
                  <a:pt x="2399935" y="3316968"/>
                  <a:pt x="1542112" y="5142588"/>
                </a:cubicBezTo>
                <a:cubicBezTo>
                  <a:pt x="1205110" y="5859796"/>
                  <a:pt x="690182" y="6436414"/>
                  <a:pt x="74724" y="6844527"/>
                </a:cubicBezTo>
                <a:lnTo>
                  <a:pt x="53304" y="6858000"/>
                </a:lnTo>
                <a:lnTo>
                  <a:pt x="0" y="6858000"/>
                </a:lnTo>
                <a:lnTo>
                  <a:pt x="59013" y="6820882"/>
                </a:lnTo>
                <a:cubicBezTo>
                  <a:pt x="670286" y="6415544"/>
                  <a:pt x="1181712" y="5842848"/>
                  <a:pt x="1516422" y="5130517"/>
                </a:cubicBezTo>
                <a:cubicBezTo>
                  <a:pt x="2368412" y="3317312"/>
                  <a:pt x="1793095" y="1200164"/>
                  <a:pt x="247717" y="46904"/>
                </a:cubicBezTo>
                <a:lnTo>
                  <a:pt x="181456" y="0"/>
                </a:lnTo>
                <a:close/>
              </a:path>
            </a:pathLst>
          </a:custGeom>
          <a:gradFill>
            <a:gsLst>
              <a:gs pos="0">
                <a:schemeClr val="accent5">
                  <a:alpha val="10000"/>
                </a:schemeClr>
              </a:gs>
              <a:gs pos="42000">
                <a:schemeClr val="accent1"/>
              </a:gs>
              <a:gs pos="73000">
                <a:schemeClr val="accent3"/>
              </a:gs>
              <a:gs pos="100000">
                <a:srgbClr val="0098C7">
                  <a:alpha val="9686"/>
                </a:srgbClr>
              </a:gs>
            </a:gsLst>
            <a:lin ang="16200000" scaled="0"/>
          </a:gra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Arial"/>
                <a:cs typeface="Arial"/>
                <a:sym typeface="Arial"/>
              </a:rPr>
              <a:t>v</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56" name="Google Shape;1156;p4">
            <a:extLst>
              <a:ext uri="{FF2B5EF4-FFF2-40B4-BE49-F238E27FC236}">
                <a16:creationId xmlns:a16="http://schemas.microsoft.com/office/drawing/2014/main" id="{DD6B4AD4-36D4-D53E-C512-9E05C524C0BA}"/>
              </a:ext>
            </a:extLst>
          </p:cNvPr>
          <p:cNvSpPr txBox="1"/>
          <p:nvPr/>
        </p:nvSpPr>
        <p:spPr>
          <a:xfrm>
            <a:off x="549035" y="3757235"/>
            <a:ext cx="4371422" cy="1163395"/>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
                <a:srgbClr val="007B8C"/>
              </a:buClr>
              <a:buSzPts val="2800"/>
              <a:buFont typeface="Arial"/>
              <a:buNone/>
              <a:tabLst/>
              <a:defRPr/>
            </a:pPr>
            <a:r>
              <a:rPr kumimoji="0" lang="en-US" sz="2800" b="1" i="0" u="none" strike="noStrike" kern="1200" cap="none" spc="0" normalizeH="0" baseline="0" noProof="0" dirty="0">
                <a:ln>
                  <a:noFill/>
                </a:ln>
                <a:solidFill>
                  <a:srgbClr val="005C8A"/>
                </a:solidFill>
                <a:effectLst/>
                <a:uLnTx/>
                <a:uFillTx/>
                <a:latin typeface="Arial"/>
                <a:ea typeface="Arial"/>
                <a:cs typeface="Arial"/>
                <a:sym typeface="Arial"/>
              </a:rPr>
              <a:t>VCF 9.1 </a:t>
            </a:r>
            <a:r>
              <a:rPr kumimoji="0" lang="en-US" sz="2800" b="0" i="0" u="none" strike="noStrike" kern="1200" cap="none" spc="0" normalizeH="0" baseline="0" noProof="0" dirty="0">
                <a:ln>
                  <a:noFill/>
                </a:ln>
                <a:solidFill>
                  <a:srgbClr val="005C8A"/>
                </a:solidFill>
                <a:effectLst/>
                <a:uLnTx/>
                <a:uFillTx/>
                <a:latin typeface="Arial"/>
                <a:ea typeface="Arial"/>
                <a:cs typeface="Arial"/>
                <a:sym typeface="Arial"/>
              </a:rPr>
              <a:t>delivers significant platform-level enhancements to </a:t>
            </a:r>
            <a:r>
              <a:rPr kumimoji="0" lang="en-US" sz="2800" b="1" i="0" u="none" strike="noStrike" kern="1200" cap="none" spc="0" normalizeH="0" baseline="0" noProof="0" dirty="0">
                <a:ln>
                  <a:noFill/>
                </a:ln>
                <a:solidFill>
                  <a:srgbClr val="005C8A"/>
                </a:solidFill>
                <a:effectLst/>
                <a:uLnTx/>
                <a:uFillTx/>
                <a:latin typeface="Arial"/>
                <a:ea typeface="Arial"/>
                <a:cs typeface="Arial"/>
                <a:sym typeface="Arial"/>
              </a:rPr>
              <a:t>VKS 3.6</a:t>
            </a:r>
            <a:endParaRPr kumimoji="0" sz="2800" b="0" i="0" u="none" strike="noStrike" kern="1200" cap="none" spc="0" normalizeH="0" baseline="0" noProof="0" dirty="0">
              <a:ln>
                <a:noFill/>
              </a:ln>
              <a:solidFill>
                <a:srgbClr val="005C8A"/>
              </a:solidFill>
              <a:effectLst/>
              <a:uLnTx/>
              <a:uFillTx/>
              <a:latin typeface="Arial"/>
              <a:ea typeface="Arial"/>
              <a:cs typeface="Arial"/>
              <a:sym typeface="Arial"/>
            </a:endParaRPr>
          </a:p>
        </p:txBody>
      </p:sp>
      <p:sp>
        <p:nvSpPr>
          <p:cNvPr id="1158" name="Google Shape;1158;p4">
            <a:extLst>
              <a:ext uri="{FF2B5EF4-FFF2-40B4-BE49-F238E27FC236}">
                <a16:creationId xmlns:a16="http://schemas.microsoft.com/office/drawing/2014/main" id="{5F44522B-543F-211E-B16D-864A60F987DB}"/>
              </a:ext>
            </a:extLst>
          </p:cNvPr>
          <p:cNvSpPr txBox="1"/>
          <p:nvPr/>
        </p:nvSpPr>
        <p:spPr>
          <a:xfrm>
            <a:off x="5672126" y="640184"/>
            <a:ext cx="6305357" cy="639644"/>
          </a:xfrm>
          <a:prstGeom prst="rect">
            <a:avLst/>
          </a:prstGeom>
          <a:noFill/>
          <a:ln>
            <a:noFill/>
          </a:ln>
        </p:spPr>
        <p:txBody>
          <a:bodyPr spcFirstLastPara="1" wrap="square" lIns="91425" tIns="91425" rIns="91425"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200"/>
              <a:buFontTx/>
              <a:buNone/>
              <a:tabLst/>
              <a:defRPr/>
            </a:pPr>
            <a:r>
              <a:rPr kumimoji="0" lang="en-GB" sz="2400" b="1" i="0" u="none" strike="noStrike" kern="1200" cap="none" spc="0" normalizeH="0" baseline="0" noProof="0" dirty="0">
                <a:ln>
                  <a:noFill/>
                </a:ln>
                <a:solidFill>
                  <a:srgbClr val="0098C7"/>
                </a:solidFill>
                <a:effectLst/>
                <a:uLnTx/>
                <a:uFillTx/>
                <a:latin typeface="Arial"/>
                <a:ea typeface="Arial"/>
                <a:cs typeface="Arial"/>
                <a:sym typeface="Arial"/>
              </a:rPr>
              <a:t>Fast Deploy </a:t>
            </a:r>
            <a:r>
              <a:rPr kumimoji="0" lang="en-GB" sz="2400" b="0" i="0" u="none" strike="noStrike" kern="1200" cap="none" spc="0" normalizeH="0" baseline="0" noProof="0" dirty="0">
                <a:ln>
                  <a:noFill/>
                </a:ln>
                <a:solidFill>
                  <a:srgbClr val="000000"/>
                </a:solidFill>
                <a:effectLst/>
                <a:uLnTx/>
                <a:uFillTx/>
                <a:latin typeface="Arial"/>
                <a:ea typeface="Arial"/>
                <a:cs typeface="Arial"/>
                <a:sym typeface="Arial"/>
              </a:rPr>
              <a:t>for VKS clusters accelerating provisioning and upgrades</a:t>
            </a:r>
            <a:endParaRPr kumimoji="0" sz="2800"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1159" name="Google Shape;1159;p4">
            <a:extLst>
              <a:ext uri="{FF2B5EF4-FFF2-40B4-BE49-F238E27FC236}">
                <a16:creationId xmlns:a16="http://schemas.microsoft.com/office/drawing/2014/main" id="{20085601-3A33-7F35-0752-0EA5CCCC1805}"/>
              </a:ext>
            </a:extLst>
          </p:cNvPr>
          <p:cNvSpPr txBox="1"/>
          <p:nvPr/>
        </p:nvSpPr>
        <p:spPr>
          <a:xfrm>
            <a:off x="6482053" y="2223446"/>
            <a:ext cx="5543400" cy="698700"/>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600"/>
              <a:buFontTx/>
              <a:buNone/>
              <a:tabLst/>
              <a:defRPr/>
            </a:pPr>
            <a:r>
              <a:rPr kumimoji="0" lang="en-GB" sz="2400" b="1" i="0" u="none" strike="noStrike" kern="1200" cap="none" spc="0" normalizeH="0" baseline="0" noProof="0" dirty="0">
                <a:ln>
                  <a:noFill/>
                </a:ln>
                <a:solidFill>
                  <a:srgbClr val="007B8C"/>
                </a:solidFill>
                <a:effectLst/>
                <a:uLnTx/>
                <a:uFillTx/>
                <a:latin typeface="Arial" panose="020B0604020202020204"/>
                <a:ea typeface="+mn-ea"/>
                <a:cs typeface="+mn-cs"/>
              </a:rPr>
              <a:t>Improved Scalability </a:t>
            </a:r>
            <a:r>
              <a:rPr kumimoji="0" lang="en-GB" sz="2400" b="0" i="0" u="none" strike="noStrike" kern="1200" cap="none" spc="0" normalizeH="0" baseline="0" noProof="0" dirty="0">
                <a:ln>
                  <a:noFill/>
                </a:ln>
                <a:solidFill>
                  <a:srgbClr val="000000"/>
                </a:solidFill>
                <a:effectLst/>
                <a:uLnTx/>
                <a:uFillTx/>
                <a:latin typeface="Arial" panose="020B0604020202020204"/>
                <a:ea typeface="+mn-ea"/>
                <a:cs typeface="+mn-cs"/>
              </a:rPr>
              <a:t>up to 500 VKS clusters in a single control plane</a:t>
            </a:r>
            <a:endParaRPr kumimoji="0" sz="2400" b="0" i="0" u="none" strike="noStrike" kern="1200" cap="none" spc="0" normalizeH="0" baseline="0" noProof="0" dirty="0">
              <a:ln>
                <a:noFill/>
              </a:ln>
              <a:solidFill>
                <a:srgbClr val="007B8C"/>
              </a:solidFill>
              <a:effectLst/>
              <a:uLnTx/>
              <a:uFillTx/>
              <a:latin typeface="Arial"/>
              <a:ea typeface="Arial"/>
              <a:cs typeface="Arial"/>
              <a:sym typeface="Arial"/>
            </a:endParaRPr>
          </a:p>
        </p:txBody>
      </p:sp>
      <p:sp>
        <p:nvSpPr>
          <p:cNvPr id="1160" name="Google Shape;1160;p4">
            <a:extLst>
              <a:ext uri="{FF2B5EF4-FFF2-40B4-BE49-F238E27FC236}">
                <a16:creationId xmlns:a16="http://schemas.microsoft.com/office/drawing/2014/main" id="{9E59F3AF-E3E1-2B9C-7604-5B844112521A}"/>
              </a:ext>
            </a:extLst>
          </p:cNvPr>
          <p:cNvSpPr txBox="1"/>
          <p:nvPr/>
        </p:nvSpPr>
        <p:spPr>
          <a:xfrm>
            <a:off x="6400522" y="4000233"/>
            <a:ext cx="5543400" cy="698700"/>
          </a:xfrm>
          <a:prstGeom prst="rect">
            <a:avLst/>
          </a:prstGeom>
          <a:noFill/>
          <a:ln>
            <a:noFill/>
          </a:ln>
        </p:spPr>
        <p:txBody>
          <a:bodyPr spcFirstLastPara="1" wrap="square" lIns="91425" tIns="91425" rIns="0"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dirty="0">
                <a:ln>
                  <a:noFill/>
                </a:ln>
                <a:solidFill>
                  <a:srgbClr val="6C4B94"/>
                </a:solidFill>
                <a:effectLst/>
                <a:uLnTx/>
                <a:uFillTx/>
                <a:latin typeface="Arial" panose="020B0604020202020204"/>
                <a:ea typeface="+mn-ea"/>
                <a:cs typeface="+mn-cs"/>
              </a:rPr>
              <a:t>Multi-network support </a:t>
            </a:r>
            <a:r>
              <a:rPr kumimoji="0" lang="en-GB" sz="2400" b="0" i="0" u="none" strike="noStrike" kern="1200" cap="none" spc="0" normalizeH="0" baseline="0" noProof="0" dirty="0">
                <a:ln>
                  <a:noFill/>
                </a:ln>
                <a:solidFill>
                  <a:srgbClr val="000000"/>
                </a:solidFill>
                <a:effectLst/>
                <a:uLnTx/>
                <a:uFillTx/>
                <a:latin typeface="Arial" panose="020B0604020202020204"/>
                <a:ea typeface="+mn-ea"/>
                <a:cs typeface="+mn-cs"/>
              </a:rPr>
              <a:t>for VKS clusters </a:t>
            </a:r>
          </a:p>
        </p:txBody>
      </p:sp>
      <p:sp>
        <p:nvSpPr>
          <p:cNvPr id="1162" name="Google Shape;1162;p4">
            <a:extLst>
              <a:ext uri="{FF2B5EF4-FFF2-40B4-BE49-F238E27FC236}">
                <a16:creationId xmlns:a16="http://schemas.microsoft.com/office/drawing/2014/main" id="{DE270C25-FBF0-EB9A-F2D2-3B84CD64E3A6}"/>
              </a:ext>
            </a:extLst>
          </p:cNvPr>
          <p:cNvSpPr/>
          <p:nvPr/>
        </p:nvSpPr>
        <p:spPr>
          <a:xfrm>
            <a:off x="0" y="0"/>
            <a:ext cx="12185715" cy="74871"/>
          </a:xfrm>
          <a:custGeom>
            <a:avLst/>
            <a:gdLst/>
            <a:ahLst/>
            <a:cxnLst/>
            <a:rect l="l" t="t" r="r" b="b"/>
            <a:pathLst>
              <a:path w="12185715" h="74871" extrusionOk="0">
                <a:moveTo>
                  <a:pt x="0" y="0"/>
                </a:moveTo>
                <a:lnTo>
                  <a:pt x="12185716" y="0"/>
                </a:lnTo>
                <a:lnTo>
                  <a:pt x="12185716" y="74871"/>
                </a:lnTo>
                <a:lnTo>
                  <a:pt x="0" y="74871"/>
                </a:lnTo>
                <a:close/>
              </a:path>
            </a:pathLst>
          </a:custGeom>
          <a:gradFill>
            <a:gsLst>
              <a:gs pos="0">
                <a:schemeClr val="accent4"/>
              </a:gs>
              <a:gs pos="25000">
                <a:schemeClr val="accent1"/>
              </a:gs>
              <a:gs pos="50000">
                <a:schemeClr val="accent3"/>
              </a:gs>
              <a:gs pos="75000">
                <a:schemeClr val="accent2"/>
              </a:gs>
              <a:gs pos="100000">
                <a:schemeClr val="accent5"/>
              </a:gs>
            </a:gsLst>
            <a:lin ang="0"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64" name="Google Shape;1164;p4">
            <a:extLst>
              <a:ext uri="{FF2B5EF4-FFF2-40B4-BE49-F238E27FC236}">
                <a16:creationId xmlns:a16="http://schemas.microsoft.com/office/drawing/2014/main" id="{65EFADEE-A5B1-5B04-C835-D954780C5D8E}"/>
              </a:ext>
            </a:extLst>
          </p:cNvPr>
          <p:cNvSpPr>
            <a:spLocks noChangeAspect="1"/>
          </p:cNvSpPr>
          <p:nvPr/>
        </p:nvSpPr>
        <p:spPr>
          <a:xfrm>
            <a:off x="5426770" y="2223446"/>
            <a:ext cx="720000" cy="720000"/>
          </a:xfrm>
          <a:prstGeom prst="ellipse">
            <a:avLst/>
          </a:prstGeom>
          <a:solidFill>
            <a:schemeClr val="accent1"/>
          </a:solidFill>
          <a:ln w="25400" cap="flat" cmpd="sng">
            <a:solidFill>
              <a:schemeClr val="accent1"/>
            </a:solidFill>
            <a:prstDash val="solid"/>
            <a:round/>
            <a:headEnd type="none" w="sm" len="sm"/>
            <a:tailEnd type="none" w="sm" len="sm"/>
          </a:ln>
          <a:effectLst>
            <a:outerShdw sx="120000" sy="120000" algn="ctr" rotWithShape="0">
              <a:schemeClr val="accent1">
                <a:alpha val="23921"/>
              </a:schemeClr>
            </a:outerShdw>
          </a:effectLst>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168" name="Google Shape;1168;p4">
            <a:extLst>
              <a:ext uri="{FF2B5EF4-FFF2-40B4-BE49-F238E27FC236}">
                <a16:creationId xmlns:a16="http://schemas.microsoft.com/office/drawing/2014/main" id="{2F7F68C9-BA48-2FE2-1227-D03C03F64D7D}"/>
              </a:ext>
            </a:extLst>
          </p:cNvPr>
          <p:cNvSpPr>
            <a:spLocks noChangeAspect="1"/>
          </p:cNvSpPr>
          <p:nvPr/>
        </p:nvSpPr>
        <p:spPr>
          <a:xfrm>
            <a:off x="4775123" y="715936"/>
            <a:ext cx="719886" cy="720000"/>
          </a:xfrm>
          <a:prstGeom prst="ellipse">
            <a:avLst/>
          </a:prstGeom>
          <a:solidFill>
            <a:schemeClr val="accent3"/>
          </a:solidFill>
          <a:ln w="25400" cap="flat" cmpd="sng">
            <a:solidFill>
              <a:schemeClr val="accent3"/>
            </a:solidFill>
            <a:prstDash val="solid"/>
            <a:round/>
            <a:headEnd type="none" w="sm" len="sm"/>
            <a:tailEnd type="none" w="sm" len="sm"/>
          </a:ln>
          <a:effectLst>
            <a:outerShdw sx="120000" sy="120000" algn="ctr" rotWithShape="0">
              <a:schemeClr val="accent3">
                <a:alpha val="23921"/>
              </a:schemeClr>
            </a:outerShdw>
          </a:effectLst>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1171" name="Google Shape;1171;p4">
            <a:extLst>
              <a:ext uri="{FF2B5EF4-FFF2-40B4-BE49-F238E27FC236}">
                <a16:creationId xmlns:a16="http://schemas.microsoft.com/office/drawing/2014/main" id="{F5F494B9-4DF1-39E7-8FBF-ED99A0FD6C41}"/>
              </a:ext>
            </a:extLst>
          </p:cNvPr>
          <p:cNvSpPr/>
          <p:nvPr/>
        </p:nvSpPr>
        <p:spPr>
          <a:xfrm>
            <a:off x="5425327" y="3978933"/>
            <a:ext cx="720000" cy="720000"/>
          </a:xfrm>
          <a:prstGeom prst="ellipse">
            <a:avLst/>
          </a:prstGeom>
          <a:solidFill>
            <a:schemeClr val="accent5"/>
          </a:solidFill>
          <a:ln w="25400" cap="flat" cmpd="sng">
            <a:solidFill>
              <a:schemeClr val="accent5"/>
            </a:solidFill>
            <a:prstDash val="solid"/>
            <a:round/>
            <a:headEnd type="none" w="sm" len="sm"/>
            <a:tailEnd type="none" w="sm" len="sm"/>
          </a:ln>
          <a:effectLst>
            <a:outerShdw sx="120000" sy="120000" algn="ctr" rotWithShape="0">
              <a:schemeClr val="accent5">
                <a:alpha val="23529"/>
              </a:schemeClr>
            </a:outerShdw>
          </a:effectLst>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pic>
        <p:nvPicPr>
          <p:cNvPr id="3" name="Graphic 2">
            <a:extLst>
              <a:ext uri="{FF2B5EF4-FFF2-40B4-BE49-F238E27FC236}">
                <a16:creationId xmlns:a16="http://schemas.microsoft.com/office/drawing/2014/main" id="{D4AF7FB3-DCA7-CBC4-BA46-4361B84A989A}"/>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654746" y="1435936"/>
            <a:ext cx="2160000" cy="2160000"/>
          </a:xfrm>
          <a:prstGeom prst="rect">
            <a:avLst/>
          </a:prstGeom>
        </p:spPr>
      </p:pic>
      <p:sp>
        <p:nvSpPr>
          <p:cNvPr id="5" name="Google Shape;1168;p4">
            <a:extLst>
              <a:ext uri="{FF2B5EF4-FFF2-40B4-BE49-F238E27FC236}">
                <a16:creationId xmlns:a16="http://schemas.microsoft.com/office/drawing/2014/main" id="{1DF96964-A816-D07A-6928-C460709C2793}"/>
              </a:ext>
            </a:extLst>
          </p:cNvPr>
          <p:cNvSpPr>
            <a:spLocks noChangeAspect="1"/>
          </p:cNvSpPr>
          <p:nvPr/>
        </p:nvSpPr>
        <p:spPr>
          <a:xfrm>
            <a:off x="4775123" y="5422064"/>
            <a:ext cx="719886" cy="720000"/>
          </a:xfrm>
          <a:prstGeom prst="ellipse">
            <a:avLst/>
          </a:prstGeom>
          <a:solidFill>
            <a:schemeClr val="accent2"/>
          </a:solidFill>
          <a:ln w="25400" cap="flat" cmpd="sng">
            <a:solidFill>
              <a:schemeClr val="accent2"/>
            </a:solidFill>
            <a:prstDash val="solid"/>
            <a:round/>
            <a:headEnd type="none" w="sm" len="sm"/>
            <a:tailEnd type="none" w="sm" len="sm"/>
          </a:ln>
          <a:effectLst>
            <a:outerShdw sx="120000" sy="120000" algn="ctr" rotWithShape="0">
              <a:schemeClr val="accent2">
                <a:alpha val="24000"/>
              </a:schemeClr>
            </a:outerShdw>
          </a:effectLst>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endParaRPr kumimoji="0" sz="12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6" name="Google Shape;1160;p4">
            <a:extLst>
              <a:ext uri="{FF2B5EF4-FFF2-40B4-BE49-F238E27FC236}">
                <a16:creationId xmlns:a16="http://schemas.microsoft.com/office/drawing/2014/main" id="{CCF53F60-FAF9-5F1B-7458-2044AD1A5EE6}"/>
              </a:ext>
            </a:extLst>
          </p:cNvPr>
          <p:cNvSpPr txBox="1"/>
          <p:nvPr/>
        </p:nvSpPr>
        <p:spPr>
          <a:xfrm>
            <a:off x="5875327" y="5519116"/>
            <a:ext cx="6102156" cy="698700"/>
          </a:xfrm>
          <a:prstGeom prst="rect">
            <a:avLst/>
          </a:prstGeom>
          <a:noFill/>
          <a:ln>
            <a:noFill/>
          </a:ln>
        </p:spPr>
        <p:txBody>
          <a:bodyPr spcFirstLastPara="1" wrap="square" lIns="91425" tIns="91425" rIns="0"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dirty="0">
                <a:ln>
                  <a:noFill/>
                </a:ln>
                <a:solidFill>
                  <a:srgbClr val="005C8A"/>
                </a:solidFill>
                <a:effectLst/>
                <a:uLnTx/>
                <a:uFillTx/>
                <a:latin typeface="Arial" panose="020B0604020202020204"/>
                <a:ea typeface="+mn-ea"/>
                <a:cs typeface="+mn-cs"/>
              </a:rPr>
              <a:t>Bring Your Own CNI</a:t>
            </a:r>
            <a:endParaRPr kumimoji="0" lang="en-GB" sz="24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1432403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8060"/>
        <p:cNvGrpSpPr/>
        <p:nvPr/>
      </p:nvGrpSpPr>
      <p:grpSpPr>
        <a:xfrm>
          <a:off x="0" y="0"/>
          <a:ext cx="0" cy="0"/>
          <a:chOff x="0" y="0"/>
          <a:chExt cx="0" cy="0"/>
        </a:xfrm>
      </p:grpSpPr>
      <p:sp>
        <p:nvSpPr>
          <p:cNvPr id="8061" name="Google Shape;8061;p59"/>
          <p:cNvSpPr/>
          <p:nvPr/>
        </p:nvSpPr>
        <p:spPr>
          <a:xfrm>
            <a:off x="989189" y="1817487"/>
            <a:ext cx="3146780" cy="3152379"/>
          </a:xfrm>
          <a:prstGeom prst="roundRect">
            <a:avLst>
              <a:gd name="adj" fmla="val 3599"/>
            </a:avLst>
          </a:prstGeom>
          <a:gradFill>
            <a:gsLst>
              <a:gs pos="0">
                <a:srgbClr val="0098C7">
                  <a:alpha val="0"/>
                </a:srgbClr>
              </a:gs>
              <a:gs pos="100000">
                <a:srgbClr val="0098C7">
                  <a:alpha val="9803"/>
                </a:srgbClr>
              </a:gs>
            </a:gsLst>
            <a:lin ang="16200038" scaled="0"/>
          </a:gradFill>
          <a:ln>
            <a:noFill/>
          </a:ln>
        </p:spPr>
        <p:txBody>
          <a:bodyPr spcFirstLastPara="1" wrap="square" lIns="121850" tIns="60900" rIns="121850"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62" name="Google Shape;8062;p59"/>
          <p:cNvSpPr/>
          <p:nvPr/>
        </p:nvSpPr>
        <p:spPr>
          <a:xfrm>
            <a:off x="2199" y="894"/>
            <a:ext cx="12186826" cy="3218762"/>
          </a:xfrm>
          <a:prstGeom prst="rect">
            <a:avLst/>
          </a:prstGeom>
          <a:gradFill>
            <a:gsLst>
              <a:gs pos="0">
                <a:srgbClr val="0098C7">
                  <a:alpha val="8235"/>
                </a:srgbClr>
              </a:gs>
              <a:gs pos="100000">
                <a:srgbClr val="E8F0F4">
                  <a:alpha val="0"/>
                </a:srgbClr>
              </a:gs>
            </a:gsLst>
            <a:lin ang="5400012" scaled="0"/>
          </a:gradFill>
          <a:ln>
            <a:noFill/>
          </a:ln>
        </p:spPr>
        <p:txBody>
          <a:bodyPr spcFirstLastPara="1" wrap="square" lIns="121725" tIns="60850" rIns="121725" bIns="60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63" name="Google Shape;8063;p59"/>
          <p:cNvSpPr/>
          <p:nvPr/>
        </p:nvSpPr>
        <p:spPr>
          <a:xfrm>
            <a:off x="9532485" y="689260"/>
            <a:ext cx="910431" cy="324286"/>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gradFill>
            <a:gsLst>
              <a:gs pos="0">
                <a:srgbClr val="0098C7">
                  <a:alpha val="8235"/>
                </a:srgbClr>
              </a:gs>
              <a:gs pos="99000">
                <a:srgbClr val="E8F0F4">
                  <a:alpha val="18431"/>
                </a:srgbClr>
              </a:gs>
              <a:gs pos="100000">
                <a:srgbClr val="E8F0F4">
                  <a:alpha val="18431"/>
                </a:srgbClr>
              </a:gs>
            </a:gsLst>
            <a:lin ang="5400012" scaled="0"/>
          </a:gradFill>
          <a:ln>
            <a:noFill/>
          </a:ln>
        </p:spPr>
        <p:txBody>
          <a:bodyPr spcFirstLastPara="1" wrap="square" lIns="121650" tIns="60800" rIns="121650" bIns="608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64" name="Google Shape;8064;p59"/>
          <p:cNvSpPr/>
          <p:nvPr/>
        </p:nvSpPr>
        <p:spPr>
          <a:xfrm flipH="1">
            <a:off x="11344629" y="552869"/>
            <a:ext cx="673167" cy="240284"/>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gradFill>
            <a:gsLst>
              <a:gs pos="0">
                <a:srgbClr val="0098C7">
                  <a:alpha val="8235"/>
                </a:srgbClr>
              </a:gs>
              <a:gs pos="99000">
                <a:srgbClr val="E8F0F4">
                  <a:alpha val="18431"/>
                </a:srgbClr>
              </a:gs>
              <a:gs pos="100000">
                <a:srgbClr val="E8F0F4">
                  <a:alpha val="18431"/>
                </a:srgbClr>
              </a:gs>
            </a:gsLst>
            <a:lin ang="5400012" scaled="0"/>
          </a:gradFill>
          <a:ln>
            <a:noFill/>
          </a:ln>
        </p:spPr>
        <p:txBody>
          <a:bodyPr spcFirstLastPara="1" wrap="square" lIns="121650" tIns="60800" rIns="121650" bIns="608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65" name="Google Shape;8065;p59"/>
          <p:cNvSpPr/>
          <p:nvPr/>
        </p:nvSpPr>
        <p:spPr>
          <a:xfrm>
            <a:off x="10739884" y="355437"/>
            <a:ext cx="744898" cy="263727"/>
          </a:xfrm>
          <a:custGeom>
            <a:avLst/>
            <a:gdLst/>
            <a:ahLst/>
            <a:cxnLst/>
            <a:rect l="l" t="t" r="r" b="b"/>
            <a:pathLst>
              <a:path w="1655761" h="586212" extrusionOk="0">
                <a:moveTo>
                  <a:pt x="1285951" y="273354"/>
                </a:moveTo>
                <a:cubicBezTo>
                  <a:pt x="1221446" y="273354"/>
                  <a:pt x="1160717" y="289669"/>
                  <a:pt x="1107618" y="318372"/>
                </a:cubicBezTo>
                <a:cubicBezTo>
                  <a:pt x="1010331" y="129388"/>
                  <a:pt x="813492" y="0"/>
                  <a:pt x="586212" y="0"/>
                </a:cubicBezTo>
                <a:cubicBezTo>
                  <a:pt x="262478" y="0"/>
                  <a:pt x="0" y="262477"/>
                  <a:pt x="0" y="586212"/>
                </a:cubicBezTo>
                <a:lnTo>
                  <a:pt x="1655761" y="586212"/>
                </a:lnTo>
                <a:cubicBezTo>
                  <a:pt x="1626152" y="408709"/>
                  <a:pt x="1471838" y="273354"/>
                  <a:pt x="1285951" y="273354"/>
                </a:cubicBezTo>
                <a:close/>
              </a:path>
            </a:pathLst>
          </a:custGeom>
          <a:gradFill>
            <a:gsLst>
              <a:gs pos="0">
                <a:srgbClr val="0098C7">
                  <a:alpha val="8235"/>
                </a:srgbClr>
              </a:gs>
              <a:gs pos="99000">
                <a:srgbClr val="E8F0F4">
                  <a:alpha val="18431"/>
                </a:srgbClr>
              </a:gs>
              <a:gs pos="100000">
                <a:srgbClr val="E8F0F4">
                  <a:alpha val="18431"/>
                </a:srgbClr>
              </a:gs>
            </a:gsLst>
            <a:lin ang="5400012" scaled="0"/>
          </a:gradFill>
          <a:ln>
            <a:noFill/>
          </a:ln>
        </p:spPr>
        <p:txBody>
          <a:bodyPr spcFirstLastPara="1" wrap="square" lIns="121650" tIns="60800" rIns="121650" bIns="608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66" name="Google Shape;8066;p59"/>
          <p:cNvSpPr/>
          <p:nvPr/>
        </p:nvSpPr>
        <p:spPr>
          <a:xfrm>
            <a:off x="8052855" y="1810640"/>
            <a:ext cx="3146780" cy="3205565"/>
          </a:xfrm>
          <a:prstGeom prst="roundRect">
            <a:avLst>
              <a:gd name="adj" fmla="val 3599"/>
            </a:avLst>
          </a:prstGeom>
          <a:gradFill>
            <a:gsLst>
              <a:gs pos="0">
                <a:srgbClr val="6C4B94">
                  <a:alpha val="0"/>
                </a:srgbClr>
              </a:gs>
              <a:gs pos="99000">
                <a:srgbClr val="6C4B94">
                  <a:alpha val="9803"/>
                </a:srgbClr>
              </a:gs>
              <a:gs pos="100000">
                <a:srgbClr val="6C4B94">
                  <a:alpha val="9803"/>
                </a:srgbClr>
              </a:gs>
            </a:gsLst>
            <a:lin ang="16200038" scaled="0"/>
          </a:gradFill>
          <a:ln>
            <a:noFill/>
          </a:ln>
        </p:spPr>
        <p:txBody>
          <a:bodyPr spcFirstLastPara="1" wrap="square" lIns="121850" tIns="60900" rIns="121850"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67" name="Google Shape;8067;p59"/>
          <p:cNvSpPr/>
          <p:nvPr/>
        </p:nvSpPr>
        <p:spPr>
          <a:xfrm rot="10800000">
            <a:off x="8064011" y="1818173"/>
            <a:ext cx="3124386" cy="1017735"/>
          </a:xfrm>
          <a:prstGeom prst="roundRect">
            <a:avLst>
              <a:gd name="adj" fmla="val 3599"/>
            </a:avLst>
          </a:prstGeom>
          <a:gradFill>
            <a:gsLst>
              <a:gs pos="0">
                <a:srgbClr val="6C4B94">
                  <a:alpha val="0"/>
                </a:srgbClr>
              </a:gs>
              <a:gs pos="98000">
                <a:srgbClr val="6C4B94">
                  <a:alpha val="17254"/>
                </a:srgbClr>
              </a:gs>
              <a:gs pos="100000">
                <a:srgbClr val="6C4B94">
                  <a:alpha val="17254"/>
                </a:srgbClr>
              </a:gs>
            </a:gsLst>
            <a:lin ang="16200038" scaled="0"/>
          </a:gradFill>
          <a:ln>
            <a:noFill/>
          </a:ln>
        </p:spPr>
        <p:txBody>
          <a:bodyPr spcFirstLastPara="1" wrap="square" lIns="121850" tIns="60900" rIns="121850"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68" name="Google Shape;8068;p59"/>
          <p:cNvSpPr txBox="1"/>
          <p:nvPr/>
        </p:nvSpPr>
        <p:spPr>
          <a:xfrm>
            <a:off x="8204638" y="2389120"/>
            <a:ext cx="2871252" cy="27699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C4B94"/>
                </a:solidFill>
                <a:effectLst/>
                <a:uLnTx/>
                <a:uFillTx/>
                <a:latin typeface="Arial"/>
                <a:ea typeface="Arial"/>
                <a:cs typeface="Arial"/>
                <a:sym typeface="Arial"/>
              </a:rPr>
              <a:t>On-Demand Deployment</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69" name="Google Shape;8069;p59"/>
          <p:cNvSpPr/>
          <p:nvPr/>
        </p:nvSpPr>
        <p:spPr>
          <a:xfrm>
            <a:off x="9269185" y="1446079"/>
            <a:ext cx="720000" cy="720000"/>
          </a:xfrm>
          <a:prstGeom prst="ellipse">
            <a:avLst/>
          </a:prstGeom>
          <a:gradFill>
            <a:gsLst>
              <a:gs pos="0">
                <a:srgbClr val="005C8A"/>
              </a:gs>
              <a:gs pos="64000">
                <a:srgbClr val="6C4B94"/>
              </a:gs>
              <a:gs pos="100000">
                <a:srgbClr val="6C4B94"/>
              </a:gs>
            </a:gsLst>
            <a:lin ang="8100019" scaled="0"/>
          </a:gradFill>
          <a:ln>
            <a:noFill/>
          </a:ln>
          <a:effectLst>
            <a:outerShdw sx="116000" sy="116000" algn="ctr" rotWithShape="0">
              <a:srgbClr val="6C4B94">
                <a:alpha val="9411"/>
              </a:srgbClr>
            </a:outerShdw>
          </a:effectLst>
        </p:spPr>
        <p:txBody>
          <a:bodyPr spcFirstLastPara="1" wrap="square" lIns="121825" tIns="60900" rIns="121825"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70" name="Google Shape;8070;p59"/>
          <p:cNvSpPr/>
          <p:nvPr/>
        </p:nvSpPr>
        <p:spPr>
          <a:xfrm>
            <a:off x="4524829" y="1810642"/>
            <a:ext cx="3146780" cy="3205565"/>
          </a:xfrm>
          <a:prstGeom prst="roundRect">
            <a:avLst>
              <a:gd name="adj" fmla="val 3599"/>
            </a:avLst>
          </a:prstGeom>
          <a:gradFill>
            <a:gsLst>
              <a:gs pos="0">
                <a:srgbClr val="007B8C">
                  <a:alpha val="0"/>
                </a:srgbClr>
              </a:gs>
              <a:gs pos="100000">
                <a:srgbClr val="007B8C">
                  <a:alpha val="12549"/>
                </a:srgbClr>
              </a:gs>
            </a:gsLst>
            <a:lin ang="16200038" scaled="0"/>
          </a:gradFill>
          <a:ln>
            <a:noFill/>
          </a:ln>
        </p:spPr>
        <p:txBody>
          <a:bodyPr spcFirstLastPara="1" wrap="square" lIns="121850" tIns="60900" rIns="121850"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71" name="Google Shape;8071;p59"/>
          <p:cNvSpPr/>
          <p:nvPr/>
        </p:nvSpPr>
        <p:spPr>
          <a:xfrm rot="10800000">
            <a:off x="4535986" y="1818173"/>
            <a:ext cx="3124386" cy="1017735"/>
          </a:xfrm>
          <a:prstGeom prst="roundRect">
            <a:avLst>
              <a:gd name="adj" fmla="val 3599"/>
            </a:avLst>
          </a:prstGeom>
          <a:gradFill>
            <a:gsLst>
              <a:gs pos="0">
                <a:srgbClr val="007B8C">
                  <a:alpha val="0"/>
                </a:srgbClr>
              </a:gs>
              <a:gs pos="98000">
                <a:srgbClr val="007B8C">
                  <a:alpha val="18039"/>
                </a:srgbClr>
              </a:gs>
              <a:gs pos="100000">
                <a:srgbClr val="007B8C">
                  <a:alpha val="18039"/>
                </a:srgbClr>
              </a:gs>
            </a:gsLst>
            <a:lin ang="16200038" scaled="0"/>
          </a:gradFill>
          <a:ln>
            <a:noFill/>
          </a:ln>
        </p:spPr>
        <p:txBody>
          <a:bodyPr spcFirstLastPara="1" wrap="square" lIns="121850" tIns="60900" rIns="121850"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72" name="Google Shape;8072;p59"/>
          <p:cNvSpPr/>
          <p:nvPr/>
        </p:nvSpPr>
        <p:spPr>
          <a:xfrm rot="10800000">
            <a:off x="1001213" y="1818173"/>
            <a:ext cx="3124386" cy="1017735"/>
          </a:xfrm>
          <a:prstGeom prst="roundRect">
            <a:avLst>
              <a:gd name="adj" fmla="val 3599"/>
            </a:avLst>
          </a:prstGeom>
          <a:gradFill>
            <a:gsLst>
              <a:gs pos="0">
                <a:srgbClr val="0098C7">
                  <a:alpha val="0"/>
                </a:srgbClr>
              </a:gs>
              <a:gs pos="99000">
                <a:srgbClr val="0098C7">
                  <a:alpha val="21568"/>
                </a:srgbClr>
              </a:gs>
              <a:gs pos="100000">
                <a:srgbClr val="0098C7">
                  <a:alpha val="21568"/>
                </a:srgbClr>
              </a:gs>
            </a:gsLst>
            <a:lin ang="16200038" scaled="0"/>
          </a:gradFill>
          <a:ln>
            <a:noFill/>
          </a:ln>
        </p:spPr>
        <p:txBody>
          <a:bodyPr spcFirstLastPara="1" wrap="square" lIns="121850" tIns="60900" rIns="121850"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73" name="Google Shape;8073;p59"/>
          <p:cNvSpPr txBox="1"/>
          <p:nvPr/>
        </p:nvSpPr>
        <p:spPr>
          <a:xfrm>
            <a:off x="1012902" y="2381704"/>
            <a:ext cx="3100792" cy="27699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5C8A"/>
                </a:solidFill>
                <a:effectLst/>
                <a:uLnTx/>
                <a:uFillTx/>
                <a:latin typeface="Arial"/>
                <a:ea typeface="Arial"/>
                <a:cs typeface="Arial"/>
                <a:sym typeface="Arial"/>
              </a:rPr>
              <a:t>Small Clusters</a:t>
            </a:r>
            <a:endParaRPr kumimoji="0" sz="1800" b="1" i="0" u="none" strike="noStrike" kern="1200" cap="none" spc="0" normalizeH="0" baseline="0" noProof="0">
              <a:ln>
                <a:noFill/>
              </a:ln>
              <a:solidFill>
                <a:srgbClr val="005C8A"/>
              </a:solidFill>
              <a:effectLst/>
              <a:uLnTx/>
              <a:uFillTx/>
              <a:latin typeface="Arial"/>
              <a:ea typeface="Arial"/>
              <a:cs typeface="Arial"/>
              <a:sym typeface="Arial"/>
            </a:endParaRPr>
          </a:p>
        </p:txBody>
      </p:sp>
      <p:sp>
        <p:nvSpPr>
          <p:cNvPr id="8074" name="Google Shape;8074;p59"/>
          <p:cNvSpPr/>
          <p:nvPr/>
        </p:nvSpPr>
        <p:spPr>
          <a:xfrm>
            <a:off x="2234974" y="1447070"/>
            <a:ext cx="720000" cy="720000"/>
          </a:xfrm>
          <a:prstGeom prst="ellipse">
            <a:avLst/>
          </a:prstGeom>
          <a:gradFill>
            <a:gsLst>
              <a:gs pos="0">
                <a:srgbClr val="0098C7"/>
              </a:gs>
              <a:gs pos="100000">
                <a:srgbClr val="005C8A"/>
              </a:gs>
            </a:gsLst>
            <a:lin ang="18900044" scaled="0"/>
          </a:gradFill>
          <a:ln>
            <a:noFill/>
          </a:ln>
          <a:effectLst>
            <a:outerShdw sx="115830" sy="115830" algn="ctr" rotWithShape="0">
              <a:srgbClr val="0098C7">
                <a:alpha val="13725"/>
              </a:srgbClr>
            </a:outerShdw>
          </a:effectLst>
        </p:spPr>
        <p:txBody>
          <a:bodyPr spcFirstLastPara="1" wrap="square" lIns="121825" tIns="60900" rIns="121825" bIns="60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75" name="Google Shape;8075;p59"/>
          <p:cNvSpPr txBox="1"/>
          <p:nvPr/>
        </p:nvSpPr>
        <p:spPr>
          <a:xfrm>
            <a:off x="4527620" y="2385412"/>
            <a:ext cx="3133584" cy="27699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7B8C"/>
                </a:solidFill>
                <a:effectLst/>
                <a:uLnTx/>
                <a:uFillTx/>
                <a:latin typeface="Arial"/>
                <a:ea typeface="Arial"/>
                <a:cs typeface="Arial"/>
                <a:sym typeface="Arial"/>
              </a:rPr>
              <a:t>Large Clusters</a:t>
            </a:r>
            <a:endParaRPr kumimoji="0" sz="1800" b="1" i="0" u="none" strike="noStrike" kern="1200" cap="none" spc="0" normalizeH="0" baseline="0" noProof="0">
              <a:ln>
                <a:noFill/>
              </a:ln>
              <a:solidFill>
                <a:srgbClr val="007B8C"/>
              </a:solidFill>
              <a:effectLst/>
              <a:uLnTx/>
              <a:uFillTx/>
              <a:latin typeface="Arial"/>
              <a:ea typeface="Arial"/>
              <a:cs typeface="Arial"/>
              <a:sym typeface="Arial"/>
            </a:endParaRPr>
          </a:p>
        </p:txBody>
      </p:sp>
      <p:sp>
        <p:nvSpPr>
          <p:cNvPr id="8076" name="Google Shape;8076;p59"/>
          <p:cNvSpPr/>
          <p:nvPr/>
        </p:nvSpPr>
        <p:spPr>
          <a:xfrm>
            <a:off x="5734412" y="1446079"/>
            <a:ext cx="720000" cy="720000"/>
          </a:xfrm>
          <a:prstGeom prst="ellipse">
            <a:avLst/>
          </a:prstGeom>
          <a:gradFill>
            <a:gsLst>
              <a:gs pos="0">
                <a:srgbClr val="005C8A"/>
              </a:gs>
              <a:gs pos="58999">
                <a:srgbClr val="00879A"/>
              </a:gs>
              <a:gs pos="100000">
                <a:srgbClr val="00879A"/>
              </a:gs>
            </a:gsLst>
            <a:lin ang="8100019" scaled="0"/>
          </a:gradFill>
          <a:ln>
            <a:noFill/>
          </a:ln>
          <a:effectLst>
            <a:outerShdw sx="115790" sy="115790" algn="ctr" rotWithShape="0">
              <a:srgbClr val="007B8C">
                <a:alpha val="15294"/>
              </a:srgbClr>
            </a:outerShdw>
          </a:effectLst>
        </p:spPr>
        <p:txBody>
          <a:bodyPr spcFirstLastPara="1" wrap="square" lIns="134025" tIns="67000" rIns="134025" bIns="670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77" name="Google Shape;8077;p59"/>
          <p:cNvSpPr/>
          <p:nvPr/>
        </p:nvSpPr>
        <p:spPr>
          <a:xfrm>
            <a:off x="4852312" y="6226688"/>
            <a:ext cx="2617318" cy="7998"/>
          </a:xfrm>
          <a:prstGeom prst="rect">
            <a:avLst/>
          </a:prstGeom>
          <a:gradFill>
            <a:gsLst>
              <a:gs pos="0">
                <a:srgbClr val="005C8A">
                  <a:alpha val="0"/>
                </a:srgbClr>
              </a:gs>
              <a:gs pos="1000">
                <a:srgbClr val="005C8A">
                  <a:alpha val="0"/>
                </a:srgbClr>
              </a:gs>
              <a:gs pos="26000">
                <a:srgbClr val="007B8C"/>
              </a:gs>
              <a:gs pos="49000">
                <a:srgbClr val="007B8C"/>
              </a:gs>
              <a:gs pos="73000">
                <a:srgbClr val="007B8C"/>
              </a:gs>
              <a:gs pos="97000">
                <a:srgbClr val="005C8A">
                  <a:alpha val="0"/>
                </a:srgbClr>
              </a:gs>
              <a:gs pos="100000">
                <a:srgbClr val="005C8A">
                  <a:alpha val="0"/>
                </a:srgbClr>
              </a:gs>
            </a:gsLst>
            <a:lin ang="0" scaled="0"/>
          </a:gradFill>
          <a:ln>
            <a:noFill/>
          </a:ln>
        </p:spPr>
        <p:txBody>
          <a:bodyPr spcFirstLastPara="1" wrap="square" lIns="121800" tIns="60900" rIns="121800" bIns="60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78" name="Google Shape;8078;p59"/>
          <p:cNvSpPr/>
          <p:nvPr/>
        </p:nvSpPr>
        <p:spPr>
          <a:xfrm>
            <a:off x="8444376" y="6234686"/>
            <a:ext cx="2617318" cy="7998"/>
          </a:xfrm>
          <a:prstGeom prst="rect">
            <a:avLst/>
          </a:prstGeom>
          <a:gradFill>
            <a:gsLst>
              <a:gs pos="0">
                <a:srgbClr val="005C8A">
                  <a:alpha val="0"/>
                </a:srgbClr>
              </a:gs>
              <a:gs pos="1000">
                <a:srgbClr val="005C8A">
                  <a:alpha val="0"/>
                </a:srgbClr>
              </a:gs>
              <a:gs pos="26000">
                <a:srgbClr val="6C4B94"/>
              </a:gs>
              <a:gs pos="49000">
                <a:srgbClr val="6C4B94"/>
              </a:gs>
              <a:gs pos="73000">
                <a:srgbClr val="6C4B94"/>
              </a:gs>
              <a:gs pos="97000">
                <a:srgbClr val="005C8A">
                  <a:alpha val="0"/>
                </a:srgbClr>
              </a:gs>
              <a:gs pos="100000">
                <a:srgbClr val="005C8A">
                  <a:alpha val="0"/>
                </a:srgbClr>
              </a:gs>
            </a:gsLst>
            <a:lin ang="0" scaled="0"/>
          </a:gradFill>
          <a:ln>
            <a:noFill/>
          </a:ln>
        </p:spPr>
        <p:txBody>
          <a:bodyPr spcFirstLastPara="1" wrap="square" lIns="121800" tIns="60900" rIns="121800" bIns="60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8079" name="Google Shape;8079;p59"/>
          <p:cNvPicPr preferRelativeResize="0"/>
          <p:nvPr/>
        </p:nvPicPr>
        <p:blipFill rotWithShape="1">
          <a:blip r:embed="rId3">
            <a:alphaModFix/>
          </a:blip>
          <a:srcRect l="8254" t="84191" r="8367" b="-1914"/>
          <a:stretch/>
        </p:blipFill>
        <p:spPr>
          <a:xfrm>
            <a:off x="1291888" y="2836595"/>
            <a:ext cx="2443397" cy="184788"/>
          </a:xfrm>
          <a:prstGeom prst="rect">
            <a:avLst/>
          </a:prstGeom>
          <a:noFill/>
          <a:ln>
            <a:noFill/>
          </a:ln>
        </p:spPr>
      </p:pic>
      <p:pic>
        <p:nvPicPr>
          <p:cNvPr id="8080" name="Google Shape;8080;p59"/>
          <p:cNvPicPr preferRelativeResize="0"/>
          <p:nvPr/>
        </p:nvPicPr>
        <p:blipFill rotWithShape="1">
          <a:blip r:embed="rId4">
            <a:alphaModFix/>
          </a:blip>
          <a:srcRect l="8254" t="84191" r="8367" b="-1914"/>
          <a:stretch/>
        </p:blipFill>
        <p:spPr>
          <a:xfrm>
            <a:off x="4939273" y="2836595"/>
            <a:ext cx="2443397" cy="184788"/>
          </a:xfrm>
          <a:prstGeom prst="rect">
            <a:avLst/>
          </a:prstGeom>
          <a:noFill/>
          <a:ln>
            <a:noFill/>
          </a:ln>
        </p:spPr>
      </p:pic>
      <p:pic>
        <p:nvPicPr>
          <p:cNvPr id="8081" name="Google Shape;8081;p59"/>
          <p:cNvPicPr preferRelativeResize="0"/>
          <p:nvPr/>
        </p:nvPicPr>
        <p:blipFill rotWithShape="1">
          <a:blip r:embed="rId5">
            <a:alphaModFix/>
          </a:blip>
          <a:srcRect l="8254" t="84191" r="8367" b="-1914"/>
          <a:stretch/>
        </p:blipFill>
        <p:spPr>
          <a:xfrm>
            <a:off x="8458681" y="2836595"/>
            <a:ext cx="2443397" cy="184788"/>
          </a:xfrm>
          <a:prstGeom prst="rect">
            <a:avLst/>
          </a:prstGeom>
          <a:noFill/>
          <a:ln>
            <a:noFill/>
          </a:ln>
        </p:spPr>
      </p:pic>
      <p:sp>
        <p:nvSpPr>
          <p:cNvPr id="8082" name="Google Shape;8082;p59"/>
          <p:cNvSpPr txBox="1"/>
          <p:nvPr/>
        </p:nvSpPr>
        <p:spPr>
          <a:xfrm>
            <a:off x="4687469" y="3055241"/>
            <a:ext cx="2842859" cy="1921892"/>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Ideal for large-scale or shared workloads</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Centralized management and visibility</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High availability and capacity planning</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83" name="Google Shape;8083;p59"/>
          <p:cNvSpPr txBox="1"/>
          <p:nvPr/>
        </p:nvSpPr>
        <p:spPr>
          <a:xfrm>
            <a:off x="8218835" y="3055241"/>
            <a:ext cx="2842859" cy="1876945"/>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Deploy as needed, destroy when done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Optimize resource usage dynamically</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Scale with ease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333"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84" name="Google Shape;8084;p59"/>
          <p:cNvSpPr txBox="1"/>
          <p:nvPr/>
        </p:nvSpPr>
        <p:spPr>
          <a:xfrm>
            <a:off x="1269728" y="3057678"/>
            <a:ext cx="2650491" cy="1919455"/>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Fast to deploy and tear down</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Perfect for dev/test or isolated environments</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a:ea typeface="Arial"/>
                <a:cs typeface="Arial"/>
                <a:sym typeface="Arial"/>
              </a:rPr>
              <a:t>Custom VM classes for right sizing</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85" name="Google Shape;8085;p59"/>
          <p:cNvSpPr/>
          <p:nvPr/>
        </p:nvSpPr>
        <p:spPr>
          <a:xfrm>
            <a:off x="1454027" y="6218690"/>
            <a:ext cx="2617318" cy="7998"/>
          </a:xfrm>
          <a:prstGeom prst="rect">
            <a:avLst/>
          </a:prstGeom>
          <a:gradFill>
            <a:gsLst>
              <a:gs pos="0">
                <a:srgbClr val="005C8A">
                  <a:alpha val="0"/>
                </a:srgbClr>
              </a:gs>
              <a:gs pos="1000">
                <a:srgbClr val="005C8A">
                  <a:alpha val="0"/>
                </a:srgbClr>
              </a:gs>
              <a:gs pos="27000">
                <a:srgbClr val="0098C7"/>
              </a:gs>
              <a:gs pos="49000">
                <a:srgbClr val="0098C7"/>
              </a:gs>
              <a:gs pos="73000">
                <a:srgbClr val="0098C7"/>
              </a:gs>
              <a:gs pos="97000">
                <a:srgbClr val="005C8A">
                  <a:alpha val="0"/>
                </a:srgbClr>
              </a:gs>
              <a:gs pos="100000">
                <a:srgbClr val="005C8A">
                  <a:alpha val="0"/>
                </a:srgbClr>
              </a:gs>
            </a:gsLst>
            <a:lin ang="0" scaled="0"/>
          </a:gradFill>
          <a:ln>
            <a:noFill/>
          </a:ln>
        </p:spPr>
        <p:txBody>
          <a:bodyPr spcFirstLastPara="1" wrap="square" lIns="121800" tIns="60900" rIns="121800" bIns="60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086" name="Google Shape;8086;p59"/>
          <p:cNvSpPr txBox="1"/>
          <p:nvPr/>
        </p:nvSpPr>
        <p:spPr>
          <a:xfrm>
            <a:off x="4880881" y="5190796"/>
            <a:ext cx="2379780" cy="369245"/>
          </a:xfrm>
          <a:prstGeom prst="rect">
            <a:avLst/>
          </a:prstGeom>
          <a:noFill/>
          <a:ln>
            <a:noFill/>
          </a:ln>
        </p:spPr>
        <p:txBody>
          <a:bodyPr spcFirstLastPara="1" wrap="square" lIns="121850" tIns="60900" rIns="121850" bIns="609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Arial"/>
                <a:cs typeface="Arial"/>
                <a:sym typeface="Arial"/>
              </a:rPr>
              <a:t>Deliver Bigger Wins </a:t>
            </a: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87" name="Google Shape;8087;p59"/>
          <p:cNvSpPr/>
          <p:nvPr/>
        </p:nvSpPr>
        <p:spPr>
          <a:xfrm rot="10800000">
            <a:off x="462013" y="4992401"/>
            <a:ext cx="11280808" cy="797392"/>
          </a:xfrm>
          <a:prstGeom prst="roundRect">
            <a:avLst>
              <a:gd name="adj" fmla="val 5001"/>
            </a:avLst>
          </a:prstGeom>
          <a:gradFill>
            <a:gsLst>
              <a:gs pos="0">
                <a:srgbClr val="005C8A"/>
              </a:gs>
              <a:gs pos="100000">
                <a:srgbClr val="6C4B94"/>
              </a:gs>
            </a:gsLst>
            <a:lin ang="0" scaled="0"/>
          </a:gradFill>
          <a:ln>
            <a:noFill/>
          </a:ln>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6" b="1" i="0" u="none" strike="noStrike" kern="1200" cap="none" spc="0" normalizeH="0" baseline="0" noProof="0">
              <a:ln>
                <a:noFill/>
              </a:ln>
              <a:solidFill>
                <a:srgbClr val="7F35B2"/>
              </a:solidFill>
              <a:effectLst/>
              <a:uLnTx/>
              <a:uFillTx/>
              <a:latin typeface="Arial"/>
              <a:ea typeface="Arial"/>
              <a:cs typeface="Arial"/>
              <a:sym typeface="Arial"/>
            </a:endParaRPr>
          </a:p>
        </p:txBody>
      </p:sp>
      <p:pic>
        <p:nvPicPr>
          <p:cNvPr id="8088" name="Google Shape;8088;p59"/>
          <p:cNvPicPr preferRelativeResize="0"/>
          <p:nvPr/>
        </p:nvPicPr>
        <p:blipFill rotWithShape="1">
          <a:blip r:embed="rId6">
            <a:alphaModFix amt="52999"/>
          </a:blip>
          <a:srcRect/>
          <a:stretch/>
        </p:blipFill>
        <p:spPr>
          <a:xfrm>
            <a:off x="8935951" y="4932186"/>
            <a:ext cx="2073681" cy="1127493"/>
          </a:xfrm>
          <a:prstGeom prst="rect">
            <a:avLst/>
          </a:prstGeom>
          <a:noFill/>
          <a:ln>
            <a:noFill/>
          </a:ln>
        </p:spPr>
      </p:pic>
      <p:sp>
        <p:nvSpPr>
          <p:cNvPr id="8089" name="Google Shape;8089;p59"/>
          <p:cNvSpPr txBox="1"/>
          <p:nvPr/>
        </p:nvSpPr>
        <p:spPr>
          <a:xfrm>
            <a:off x="335264" y="5175406"/>
            <a:ext cx="11534306" cy="430800"/>
          </a:xfrm>
          <a:prstGeom prst="rect">
            <a:avLst/>
          </a:prstGeom>
          <a:noFill/>
          <a:ln>
            <a:noFill/>
          </a:ln>
        </p:spPr>
        <p:txBody>
          <a:bodyPr spcFirstLastPara="1" wrap="square" lIns="121850" tIns="60900" rIns="121850" bIns="609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Arial"/>
                <a:ea typeface="Arial"/>
                <a:cs typeface="Arial"/>
                <a:sym typeface="Arial"/>
              </a:rPr>
              <a:t>VKS empowers teams to deploy clusters that match their needs</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090" name="Google Shape;8090;p59"/>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dk1"/>
              </a:buClr>
              <a:buSzPts val="2100"/>
              <a:buFont typeface="Arial"/>
              <a:buNone/>
            </a:pPr>
            <a:r>
              <a:rPr lang="en-US"/>
              <a:t>Flexibility and Scalability On Demand</a:t>
            </a:r>
            <a:endParaRPr/>
          </a:p>
        </p:txBody>
      </p:sp>
      <p:sp>
        <p:nvSpPr>
          <p:cNvPr id="8091" name="Google Shape;8091;p59"/>
          <p:cNvSpPr txBox="1"/>
          <p:nvPr/>
        </p:nvSpPr>
        <p:spPr>
          <a:xfrm>
            <a:off x="592866" y="811830"/>
            <a:ext cx="10987947" cy="247743"/>
          </a:xfrm>
          <a:prstGeom prst="rect">
            <a:avLst/>
          </a:prstGeom>
          <a:noFill/>
          <a:ln>
            <a:noFill/>
          </a:ln>
        </p:spPr>
        <p:txBody>
          <a:bodyPr spcFirstLastPara="1" wrap="square" lIns="91425" tIns="45700" rIns="91425" bIns="45700" anchor="t" anchorCtr="0">
            <a:noAutofit/>
          </a:bodyPr>
          <a:lstStyle/>
          <a:p>
            <a:pPr marL="0" marR="0" lvl="0" indent="-114300" algn="l" defTabSz="914400" rtl="0" eaLnBrk="1" fontAlgn="auto" latinLnBrk="0" hangingPunct="1">
              <a:lnSpc>
                <a:spcPct val="100000"/>
              </a:lnSpc>
              <a:spcBef>
                <a:spcPts val="0"/>
              </a:spcBef>
              <a:spcAft>
                <a:spcPts val="0"/>
              </a:spcAft>
              <a:buClr>
                <a:srgbClr val="666666"/>
              </a:buClr>
              <a:buSzPts val="1800"/>
              <a:buFont typeface="Arial"/>
              <a:buChar char="​"/>
              <a:tabLst/>
              <a:defRPr/>
            </a:pPr>
            <a:r>
              <a:rPr kumimoji="0" lang="en-US" sz="2000" b="0" i="1" u="none" strike="noStrike" kern="1200" cap="none" spc="0" normalizeH="0" baseline="0" noProof="0">
                <a:ln>
                  <a:noFill/>
                </a:ln>
                <a:solidFill>
                  <a:srgbClr val="000000"/>
                </a:solidFill>
                <a:effectLst/>
                <a:uLnTx/>
                <a:uFillTx/>
                <a:latin typeface="Arial"/>
                <a:ea typeface="Arial"/>
                <a:cs typeface="Arial"/>
                <a:sym typeface="Arial"/>
              </a:rPr>
              <a:t>Right-size your clusters with agility and efficiency</a:t>
            </a:r>
            <a:endParaRPr kumimoji="0" sz="20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8092" name="Google Shape;8092;p59" descr="Rat with solid fill"/>
          <p:cNvPicPr preferRelativeResize="0"/>
          <p:nvPr/>
        </p:nvPicPr>
        <p:blipFill rotWithShape="1">
          <a:blip r:embed="rId7">
            <a:alphaModFix/>
          </a:blip>
          <a:srcRect/>
          <a:stretch/>
        </p:blipFill>
        <p:spPr>
          <a:xfrm>
            <a:off x="2306973" y="1512026"/>
            <a:ext cx="576000" cy="576000"/>
          </a:xfrm>
          <a:prstGeom prst="rect">
            <a:avLst/>
          </a:prstGeom>
          <a:noFill/>
          <a:ln>
            <a:noFill/>
          </a:ln>
        </p:spPr>
      </p:pic>
      <p:pic>
        <p:nvPicPr>
          <p:cNvPr id="8093" name="Google Shape;8093;p59" descr="Elephant with solid fill"/>
          <p:cNvPicPr preferRelativeResize="0"/>
          <p:nvPr/>
        </p:nvPicPr>
        <p:blipFill rotWithShape="1">
          <a:blip r:embed="rId8">
            <a:alphaModFix/>
          </a:blip>
          <a:srcRect/>
          <a:stretch/>
        </p:blipFill>
        <p:spPr>
          <a:xfrm>
            <a:off x="5792311" y="1519220"/>
            <a:ext cx="576000" cy="576000"/>
          </a:xfrm>
          <a:prstGeom prst="rect">
            <a:avLst/>
          </a:prstGeom>
          <a:noFill/>
          <a:ln>
            <a:noFill/>
          </a:ln>
        </p:spPr>
      </p:pic>
      <p:pic>
        <p:nvPicPr>
          <p:cNvPr id="8094" name="Google Shape;8094;p59" descr="Open hand with plant with solid fill"/>
          <p:cNvPicPr preferRelativeResize="0"/>
          <p:nvPr/>
        </p:nvPicPr>
        <p:blipFill rotWithShape="1">
          <a:blip r:embed="rId9">
            <a:alphaModFix/>
          </a:blip>
          <a:srcRect/>
          <a:stretch/>
        </p:blipFill>
        <p:spPr>
          <a:xfrm>
            <a:off x="9338204" y="1508191"/>
            <a:ext cx="576000" cy="576000"/>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02497B-1473-D043-A89D-7D720C021983}"/>
              </a:ext>
            </a:extLst>
          </p:cNvPr>
          <p:cNvSpPr>
            <a:spLocks noGrp="1"/>
          </p:cNvSpPr>
          <p:nvPr>
            <p:ph type="title"/>
          </p:nvPr>
        </p:nvSpPr>
        <p:spPr/>
        <p:txBody>
          <a:bodyPr/>
          <a:lstStyle/>
          <a:p>
            <a:r>
              <a:rPr lang="en-US" dirty="0"/>
              <a:t>Comprehensive Set of Packages with VKS</a:t>
            </a:r>
          </a:p>
        </p:txBody>
      </p:sp>
      <p:sp>
        <p:nvSpPr>
          <p:cNvPr id="3" name="Subtitle 2">
            <a:extLst>
              <a:ext uri="{FF2B5EF4-FFF2-40B4-BE49-F238E27FC236}">
                <a16:creationId xmlns:a16="http://schemas.microsoft.com/office/drawing/2014/main" id="{F192580D-CCF2-EFDD-3964-03E613C6ED3D}"/>
              </a:ext>
            </a:extLst>
          </p:cNvPr>
          <p:cNvSpPr>
            <a:spLocks noGrp="1"/>
          </p:cNvSpPr>
          <p:nvPr>
            <p:ph type="subTitle" idx="10"/>
          </p:nvPr>
        </p:nvSpPr>
        <p:spPr/>
        <p:txBody>
          <a:bodyPr/>
          <a:lstStyle/>
          <a:p>
            <a:endParaRPr lang="en-US"/>
          </a:p>
        </p:txBody>
      </p:sp>
      <p:sp>
        <p:nvSpPr>
          <p:cNvPr id="4" name="Google Shape;1345;p15">
            <a:extLst>
              <a:ext uri="{FF2B5EF4-FFF2-40B4-BE49-F238E27FC236}">
                <a16:creationId xmlns:a16="http://schemas.microsoft.com/office/drawing/2014/main" id="{FEBA7557-9C35-7085-ABDC-4C329D53B58C}"/>
              </a:ext>
            </a:extLst>
          </p:cNvPr>
          <p:cNvSpPr/>
          <p:nvPr/>
        </p:nvSpPr>
        <p:spPr>
          <a:xfrm>
            <a:off x="4208163" y="3445199"/>
            <a:ext cx="718771" cy="622865"/>
          </a:xfrm>
          <a:prstGeom prst="ellipse">
            <a:avLst/>
          </a:prstGeom>
          <a:solidFill>
            <a:schemeClr val="lt1"/>
          </a:solidFill>
          <a:ln w="9525" cap="flat" cmpd="sng">
            <a:solidFill>
              <a:schemeClr val="accent3"/>
            </a:solidFill>
            <a:prstDash val="solid"/>
            <a:round/>
            <a:headEnd type="none" w="sm" len="sm"/>
            <a:tailEnd type="none" w="sm" len="sm"/>
          </a:ln>
          <a:effectLst>
            <a:outerShdw blurRad="127468" sx="101000" sy="101000" algn="t" rotWithShape="0">
              <a:schemeClr val="accent3">
                <a:alpha val="24705"/>
              </a:schemeClr>
            </a:outerShdw>
          </a:effectLst>
        </p:spPr>
        <p:txBody>
          <a:bodyPr spcFirstLastPara="1" wrap="square" lIns="91225" tIns="45600" rIns="91225" bIns="456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5" name="Google Shape;1346;p15">
            <a:extLst>
              <a:ext uri="{FF2B5EF4-FFF2-40B4-BE49-F238E27FC236}">
                <a16:creationId xmlns:a16="http://schemas.microsoft.com/office/drawing/2014/main" id="{46803A3B-C525-1AA5-0C74-21E7085BD699}"/>
              </a:ext>
            </a:extLst>
          </p:cNvPr>
          <p:cNvGrpSpPr/>
          <p:nvPr/>
        </p:nvGrpSpPr>
        <p:grpSpPr>
          <a:xfrm>
            <a:off x="607920" y="3786581"/>
            <a:ext cx="10140598" cy="2354337"/>
            <a:chOff x="585886" y="3786581"/>
            <a:chExt cx="6862579" cy="2354337"/>
          </a:xfrm>
        </p:grpSpPr>
        <p:sp>
          <p:nvSpPr>
            <p:cNvPr id="6" name="Google Shape;1347;p15">
              <a:extLst>
                <a:ext uri="{FF2B5EF4-FFF2-40B4-BE49-F238E27FC236}">
                  <a16:creationId xmlns:a16="http://schemas.microsoft.com/office/drawing/2014/main" id="{70DA2DDD-10E6-45D2-9535-6178C0275BCC}"/>
                </a:ext>
              </a:extLst>
            </p:cNvPr>
            <p:cNvSpPr/>
            <p:nvPr/>
          </p:nvSpPr>
          <p:spPr>
            <a:xfrm>
              <a:off x="585886" y="3786581"/>
              <a:ext cx="6862579" cy="2354337"/>
            </a:xfrm>
            <a:prstGeom prst="roundRect">
              <a:avLst>
                <a:gd name="adj" fmla="val 1989"/>
              </a:avLst>
            </a:prstGeom>
            <a:solidFill>
              <a:schemeClr val="accent1">
                <a:alpha val="7058"/>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7" name="Google Shape;1348;p15">
              <a:extLst>
                <a:ext uri="{FF2B5EF4-FFF2-40B4-BE49-F238E27FC236}">
                  <a16:creationId xmlns:a16="http://schemas.microsoft.com/office/drawing/2014/main" id="{61CB1EC8-3205-CEBA-C8E9-57F0305EA3EF}"/>
                </a:ext>
              </a:extLst>
            </p:cNvPr>
            <p:cNvSpPr/>
            <p:nvPr/>
          </p:nvSpPr>
          <p:spPr>
            <a:xfrm>
              <a:off x="831522" y="5586722"/>
              <a:ext cx="1934880"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 name="Google Shape;1349;p15">
              <a:extLst>
                <a:ext uri="{FF2B5EF4-FFF2-40B4-BE49-F238E27FC236}">
                  <a16:creationId xmlns:a16="http://schemas.microsoft.com/office/drawing/2014/main" id="{753522AF-63F3-3BFB-5E08-F9D7176768D8}"/>
                </a:ext>
              </a:extLst>
            </p:cNvPr>
            <p:cNvSpPr/>
            <p:nvPr/>
          </p:nvSpPr>
          <p:spPr>
            <a:xfrm>
              <a:off x="837545" y="5215187"/>
              <a:ext cx="1934880"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9" name="Google Shape;1350;p15">
              <a:extLst>
                <a:ext uri="{FF2B5EF4-FFF2-40B4-BE49-F238E27FC236}">
                  <a16:creationId xmlns:a16="http://schemas.microsoft.com/office/drawing/2014/main" id="{19DB290B-3506-B234-52B6-5E1AC578F480}"/>
                </a:ext>
              </a:extLst>
            </p:cNvPr>
            <p:cNvSpPr/>
            <p:nvPr/>
          </p:nvSpPr>
          <p:spPr>
            <a:xfrm>
              <a:off x="853088" y="4847352"/>
              <a:ext cx="1913314"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10" name="Google Shape;1351;p15">
              <a:extLst>
                <a:ext uri="{FF2B5EF4-FFF2-40B4-BE49-F238E27FC236}">
                  <a16:creationId xmlns:a16="http://schemas.microsoft.com/office/drawing/2014/main" id="{76F54B53-01C2-9522-8012-27772C2F12E5}"/>
                </a:ext>
              </a:extLst>
            </p:cNvPr>
            <p:cNvGrpSpPr/>
            <p:nvPr/>
          </p:nvGrpSpPr>
          <p:grpSpPr>
            <a:xfrm>
              <a:off x="873703" y="3875778"/>
              <a:ext cx="2506966" cy="333900"/>
              <a:chOff x="387234" y="3480541"/>
              <a:chExt cx="2506966" cy="333900"/>
            </a:xfrm>
          </p:grpSpPr>
          <p:sp>
            <p:nvSpPr>
              <p:cNvPr id="67" name="Google Shape;1352;p15">
                <a:extLst>
                  <a:ext uri="{FF2B5EF4-FFF2-40B4-BE49-F238E27FC236}">
                    <a16:creationId xmlns:a16="http://schemas.microsoft.com/office/drawing/2014/main" id="{4FDBC8F0-829D-BA73-2EC2-0D855E5F8113}"/>
                  </a:ext>
                </a:extLst>
              </p:cNvPr>
              <p:cNvSpPr txBox="1"/>
              <p:nvPr/>
            </p:nvSpPr>
            <p:spPr>
              <a:xfrm>
                <a:off x="670300" y="3480541"/>
                <a:ext cx="2223900" cy="333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200" b="1" i="0" u="none" strike="noStrike" kern="1200" cap="none" spc="0" normalizeH="0" baseline="0" noProof="0">
                    <a:ln>
                      <a:noFill/>
                    </a:ln>
                    <a:solidFill>
                      <a:srgbClr val="3D85C6"/>
                    </a:solidFill>
                    <a:effectLst/>
                    <a:uLnTx/>
                    <a:uFillTx/>
                    <a:latin typeface="Arial"/>
                    <a:ea typeface="Arial"/>
                    <a:cs typeface="Arial"/>
                    <a:sym typeface="Arial"/>
                  </a:rPr>
                  <a:t>VKS Cluster</a:t>
                </a:r>
                <a:endParaRPr kumimoji="0" sz="1200" b="1" i="0" u="none" strike="noStrike" kern="1200" cap="none" spc="0" normalizeH="0" baseline="0" noProof="0">
                  <a:ln>
                    <a:noFill/>
                  </a:ln>
                  <a:solidFill>
                    <a:srgbClr val="3D85C6"/>
                  </a:solidFill>
                  <a:effectLst/>
                  <a:uLnTx/>
                  <a:uFillTx/>
                  <a:latin typeface="Arial"/>
                  <a:ea typeface="Arial"/>
                  <a:cs typeface="Arial"/>
                  <a:sym typeface="Arial"/>
                </a:endParaRPr>
              </a:p>
            </p:txBody>
          </p:sp>
          <p:pic>
            <p:nvPicPr>
              <p:cNvPr id="68" name="Google Shape;1353;p15">
                <a:extLst>
                  <a:ext uri="{FF2B5EF4-FFF2-40B4-BE49-F238E27FC236}">
                    <a16:creationId xmlns:a16="http://schemas.microsoft.com/office/drawing/2014/main" id="{9EE73DD2-2963-20BC-FAE9-F1F6339C738B}"/>
                  </a:ext>
                </a:extLst>
              </p:cNvPr>
              <p:cNvPicPr preferRelativeResize="0"/>
              <p:nvPr/>
            </p:nvPicPr>
            <p:blipFill rotWithShape="1">
              <a:blip r:embed="rId3">
                <a:alphaModFix/>
              </a:blip>
              <a:srcRect/>
              <a:stretch/>
            </p:blipFill>
            <p:spPr>
              <a:xfrm>
                <a:off x="387234" y="3520467"/>
                <a:ext cx="282992" cy="274328"/>
              </a:xfrm>
              <a:prstGeom prst="rect">
                <a:avLst/>
              </a:prstGeom>
              <a:noFill/>
              <a:ln>
                <a:noFill/>
              </a:ln>
            </p:spPr>
          </p:pic>
        </p:grpSp>
        <p:sp>
          <p:nvSpPr>
            <p:cNvPr id="11" name="Google Shape;1354;p15">
              <a:extLst>
                <a:ext uri="{FF2B5EF4-FFF2-40B4-BE49-F238E27FC236}">
                  <a16:creationId xmlns:a16="http://schemas.microsoft.com/office/drawing/2014/main" id="{44C8E468-76A7-EE9C-EA15-BBBFAE601AEC}"/>
                </a:ext>
              </a:extLst>
            </p:cNvPr>
            <p:cNvSpPr txBox="1"/>
            <p:nvPr/>
          </p:nvSpPr>
          <p:spPr>
            <a:xfrm>
              <a:off x="1207075" y="4872475"/>
              <a:ext cx="9759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Pinniped</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2" name="Google Shape;1355;p15">
              <a:extLst>
                <a:ext uri="{FF2B5EF4-FFF2-40B4-BE49-F238E27FC236}">
                  <a16:creationId xmlns:a16="http://schemas.microsoft.com/office/drawing/2014/main" id="{B9C9F6E3-94C4-4A92-AA53-67ABC9F8FB30}"/>
                </a:ext>
              </a:extLst>
            </p:cNvPr>
            <p:cNvSpPr txBox="1"/>
            <p:nvPr/>
          </p:nvSpPr>
          <p:spPr>
            <a:xfrm>
              <a:off x="1106375" y="5240310"/>
              <a:ext cx="21366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Guest-cluster-auth-service</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3" name="Google Shape;1356;p15">
              <a:extLst>
                <a:ext uri="{FF2B5EF4-FFF2-40B4-BE49-F238E27FC236}">
                  <a16:creationId xmlns:a16="http://schemas.microsoft.com/office/drawing/2014/main" id="{328438CB-AC08-E832-1D5D-6665573CEF5B}"/>
                </a:ext>
              </a:extLst>
            </p:cNvPr>
            <p:cNvSpPr txBox="1"/>
            <p:nvPr/>
          </p:nvSpPr>
          <p:spPr>
            <a:xfrm>
              <a:off x="1355528" y="5611845"/>
              <a:ext cx="950222"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vSphere-csi</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14" name="Google Shape;1357;p15">
              <a:extLst>
                <a:ext uri="{FF2B5EF4-FFF2-40B4-BE49-F238E27FC236}">
                  <a16:creationId xmlns:a16="http://schemas.microsoft.com/office/drawing/2014/main" id="{37EF7C61-8391-BAD5-C8A5-3B903A3BB027}"/>
                </a:ext>
              </a:extLst>
            </p:cNvPr>
            <p:cNvPicPr preferRelativeResize="0"/>
            <p:nvPr/>
          </p:nvPicPr>
          <p:blipFill rotWithShape="1">
            <a:blip r:embed="rId4">
              <a:alphaModFix/>
            </a:blip>
            <a:srcRect/>
            <a:stretch/>
          </p:blipFill>
          <p:spPr>
            <a:xfrm>
              <a:off x="932864" y="4889254"/>
              <a:ext cx="212623" cy="212623"/>
            </a:xfrm>
            <a:prstGeom prst="rect">
              <a:avLst/>
            </a:prstGeom>
            <a:noFill/>
            <a:ln>
              <a:noFill/>
            </a:ln>
          </p:spPr>
        </p:pic>
        <p:pic>
          <p:nvPicPr>
            <p:cNvPr id="15" name="Google Shape;1358;p15">
              <a:extLst>
                <a:ext uri="{FF2B5EF4-FFF2-40B4-BE49-F238E27FC236}">
                  <a16:creationId xmlns:a16="http://schemas.microsoft.com/office/drawing/2014/main" id="{4F8227AE-D296-D474-91E0-727DB95DA599}"/>
                </a:ext>
              </a:extLst>
            </p:cNvPr>
            <p:cNvPicPr preferRelativeResize="0"/>
            <p:nvPr/>
          </p:nvPicPr>
          <p:blipFill rotWithShape="1">
            <a:blip r:embed="rId5">
              <a:alphaModFix/>
            </a:blip>
            <a:srcRect/>
            <a:stretch/>
          </p:blipFill>
          <p:spPr>
            <a:xfrm>
              <a:off x="918396" y="5259765"/>
              <a:ext cx="207270" cy="207270"/>
            </a:xfrm>
            <a:prstGeom prst="rect">
              <a:avLst/>
            </a:prstGeom>
            <a:noFill/>
            <a:ln>
              <a:noFill/>
            </a:ln>
          </p:spPr>
        </p:pic>
        <p:pic>
          <p:nvPicPr>
            <p:cNvPr id="16" name="Google Shape;1359;p15">
              <a:extLst>
                <a:ext uri="{FF2B5EF4-FFF2-40B4-BE49-F238E27FC236}">
                  <a16:creationId xmlns:a16="http://schemas.microsoft.com/office/drawing/2014/main" id="{71C8E041-D529-D7BC-7DBA-72A802720599}"/>
                </a:ext>
              </a:extLst>
            </p:cNvPr>
            <p:cNvPicPr preferRelativeResize="0"/>
            <p:nvPr/>
          </p:nvPicPr>
          <p:blipFill rotWithShape="1">
            <a:blip r:embed="rId6">
              <a:alphaModFix/>
            </a:blip>
            <a:srcRect/>
            <a:stretch/>
          </p:blipFill>
          <p:spPr>
            <a:xfrm>
              <a:off x="885526" y="5613830"/>
              <a:ext cx="465326" cy="242211"/>
            </a:xfrm>
            <a:prstGeom prst="rect">
              <a:avLst/>
            </a:prstGeom>
            <a:noFill/>
            <a:ln>
              <a:noFill/>
            </a:ln>
          </p:spPr>
        </p:pic>
        <p:sp>
          <p:nvSpPr>
            <p:cNvPr id="17" name="Google Shape;1360;p15">
              <a:extLst>
                <a:ext uri="{FF2B5EF4-FFF2-40B4-BE49-F238E27FC236}">
                  <a16:creationId xmlns:a16="http://schemas.microsoft.com/office/drawing/2014/main" id="{3B817FB8-42EA-E93D-7C55-DAE12B372A5C}"/>
                </a:ext>
              </a:extLst>
            </p:cNvPr>
            <p:cNvSpPr/>
            <p:nvPr/>
          </p:nvSpPr>
          <p:spPr>
            <a:xfrm rot="10800000">
              <a:off x="5553938" y="3916883"/>
              <a:ext cx="137422" cy="271970"/>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1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8" name="Google Shape;1361;p15">
              <a:extLst>
                <a:ext uri="{FF2B5EF4-FFF2-40B4-BE49-F238E27FC236}">
                  <a16:creationId xmlns:a16="http://schemas.microsoft.com/office/drawing/2014/main" id="{A8A70063-804E-A37D-BB7B-DDCE3582A776}"/>
                </a:ext>
              </a:extLst>
            </p:cNvPr>
            <p:cNvSpPr txBox="1"/>
            <p:nvPr/>
          </p:nvSpPr>
          <p:spPr>
            <a:xfrm>
              <a:off x="5848161" y="3862368"/>
              <a:ext cx="1152600" cy="381000"/>
            </a:xfrm>
            <a:prstGeom prst="rect">
              <a:avLst/>
            </a:prstGeom>
            <a:noFill/>
            <a:ln>
              <a:noFill/>
            </a:ln>
          </p:spPr>
          <p:txBody>
            <a:bodyPr spcFirstLastPara="1" wrap="square" lIns="0" tIns="0" rIns="0" bIns="0" anchor="ctr" anchorCtr="0">
              <a:noAutofit/>
            </a:bodyPr>
            <a:lstStyle/>
            <a:p>
              <a:pPr marL="0" marR="0" lvl="0" indent="0" algn="l" defTabSz="914400" rtl="0" eaLnBrk="1" fontAlgn="auto" latinLnBrk="0" hangingPunct="1">
                <a:lnSpc>
                  <a:spcPct val="130000"/>
                </a:lnSpc>
                <a:spcBef>
                  <a:spcPts val="0"/>
                </a:spcBef>
                <a:spcAft>
                  <a:spcPts val="0"/>
                </a:spcAft>
                <a:buClr>
                  <a:srgbClr val="000000"/>
                </a:buClr>
                <a:buSzPts val="1400"/>
                <a:buFont typeface="Arial"/>
                <a:buNone/>
                <a:tabLst/>
                <a:defRPr/>
              </a:pPr>
              <a:r>
                <a:rPr kumimoji="0" lang="en-US" sz="1200" b="1" i="0" u="none" strike="noStrike" kern="1200" cap="none" spc="0" normalizeH="0" baseline="0" noProof="0">
                  <a:ln>
                    <a:noFill/>
                  </a:ln>
                  <a:solidFill>
                    <a:srgbClr val="0193C2"/>
                  </a:solidFill>
                  <a:effectLst/>
                  <a:uLnTx/>
                  <a:uFillTx/>
                  <a:latin typeface="Arial"/>
                  <a:ea typeface="Arial"/>
                  <a:cs typeface="Arial"/>
                  <a:sym typeface="Arial"/>
                </a:rPr>
                <a:t>Consumer</a:t>
              </a:r>
              <a:endParaRPr kumimoji="0" sz="12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9" name="Google Shape;1362;p15">
              <a:extLst>
                <a:ext uri="{FF2B5EF4-FFF2-40B4-BE49-F238E27FC236}">
                  <a16:creationId xmlns:a16="http://schemas.microsoft.com/office/drawing/2014/main" id="{B8395FCA-A685-0F68-1AE7-76A01D47998B}"/>
                </a:ext>
              </a:extLst>
            </p:cNvPr>
            <p:cNvGrpSpPr/>
            <p:nvPr/>
          </p:nvGrpSpPr>
          <p:grpSpPr>
            <a:xfrm>
              <a:off x="6630568" y="3834136"/>
              <a:ext cx="384656" cy="437464"/>
              <a:chOff x="10321789" y="3824097"/>
              <a:chExt cx="1195260" cy="1571182"/>
            </a:xfrm>
          </p:grpSpPr>
          <p:sp>
            <p:nvSpPr>
              <p:cNvPr id="45" name="Google Shape;1363;p15">
                <a:extLst>
                  <a:ext uri="{FF2B5EF4-FFF2-40B4-BE49-F238E27FC236}">
                    <a16:creationId xmlns:a16="http://schemas.microsoft.com/office/drawing/2014/main" id="{F7DA8970-20E3-F646-F5E5-8E30F452FA9C}"/>
                  </a:ext>
                </a:extLst>
              </p:cNvPr>
              <p:cNvSpPr/>
              <p:nvPr/>
            </p:nvSpPr>
            <p:spPr>
              <a:xfrm>
                <a:off x="11267700" y="4848539"/>
                <a:ext cx="99311" cy="546740"/>
              </a:xfrm>
              <a:custGeom>
                <a:avLst/>
                <a:gdLst/>
                <a:ahLst/>
                <a:cxnLst/>
                <a:rect l="l" t="t" r="r" b="b"/>
                <a:pathLst>
                  <a:path w="99311" h="546740" extrusionOk="0">
                    <a:moveTo>
                      <a:pt x="93161" y="0"/>
                    </a:moveTo>
                    <a:lnTo>
                      <a:pt x="99311" y="546740"/>
                    </a:lnTo>
                    <a:lnTo>
                      <a:pt x="60610" y="546740"/>
                    </a:lnTo>
                    <a:lnTo>
                      <a:pt x="0" y="111803"/>
                    </a:lnTo>
                    <a:lnTo>
                      <a:pt x="93161" y="0"/>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6" name="Google Shape;1364;p15">
                <a:extLst>
                  <a:ext uri="{FF2B5EF4-FFF2-40B4-BE49-F238E27FC236}">
                    <a16:creationId xmlns:a16="http://schemas.microsoft.com/office/drawing/2014/main" id="{E04B709F-6490-CEE9-BD5B-53A9404F6643}"/>
                  </a:ext>
                </a:extLst>
              </p:cNvPr>
              <p:cNvSpPr/>
              <p:nvPr/>
            </p:nvSpPr>
            <p:spPr>
              <a:xfrm>
                <a:off x="10651824" y="4941638"/>
                <a:ext cx="93195" cy="434903"/>
              </a:xfrm>
              <a:custGeom>
                <a:avLst/>
                <a:gdLst/>
                <a:ahLst/>
                <a:cxnLst/>
                <a:rect l="l" t="t" r="r" b="b"/>
                <a:pathLst>
                  <a:path w="93195" h="434903" extrusionOk="0">
                    <a:moveTo>
                      <a:pt x="0" y="0"/>
                    </a:moveTo>
                    <a:lnTo>
                      <a:pt x="0" y="434903"/>
                    </a:lnTo>
                    <a:lnTo>
                      <a:pt x="38702" y="434903"/>
                    </a:lnTo>
                    <a:lnTo>
                      <a:pt x="93195" y="0"/>
                    </a:lnTo>
                    <a:lnTo>
                      <a:pt x="0" y="0"/>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7" name="Google Shape;1365;p15">
                <a:extLst>
                  <a:ext uri="{FF2B5EF4-FFF2-40B4-BE49-F238E27FC236}">
                    <a16:creationId xmlns:a16="http://schemas.microsoft.com/office/drawing/2014/main" id="{BF8C5FAE-C61D-C461-3637-E18C8F71C75A}"/>
                  </a:ext>
                </a:extLst>
              </p:cNvPr>
              <p:cNvSpPr/>
              <p:nvPr/>
            </p:nvSpPr>
            <p:spPr>
              <a:xfrm>
                <a:off x="11076428" y="3877370"/>
                <a:ext cx="129245" cy="318051"/>
              </a:xfrm>
              <a:custGeom>
                <a:avLst/>
                <a:gdLst/>
                <a:ahLst/>
                <a:cxnLst/>
                <a:rect l="l" t="t" r="r" b="b"/>
                <a:pathLst>
                  <a:path w="129245" h="318051" extrusionOk="0">
                    <a:moveTo>
                      <a:pt x="19948" y="23405"/>
                    </a:moveTo>
                    <a:cubicBezTo>
                      <a:pt x="19948" y="23405"/>
                      <a:pt x="528" y="31598"/>
                      <a:pt x="9" y="50716"/>
                    </a:cubicBezTo>
                    <a:cubicBezTo>
                      <a:pt x="-509" y="69799"/>
                      <a:pt x="21019" y="84180"/>
                      <a:pt x="17667" y="101604"/>
                    </a:cubicBezTo>
                    <a:cubicBezTo>
                      <a:pt x="14350" y="119028"/>
                      <a:pt x="-7938" y="148724"/>
                      <a:pt x="9961" y="172578"/>
                    </a:cubicBezTo>
                    <a:cubicBezTo>
                      <a:pt x="27861" y="196467"/>
                      <a:pt x="44654" y="202275"/>
                      <a:pt x="37536" y="234530"/>
                    </a:cubicBezTo>
                    <a:cubicBezTo>
                      <a:pt x="30452" y="266784"/>
                      <a:pt x="24647" y="279057"/>
                      <a:pt x="43341" y="300353"/>
                    </a:cubicBezTo>
                    <a:cubicBezTo>
                      <a:pt x="62036" y="321649"/>
                      <a:pt x="129245" y="317777"/>
                      <a:pt x="129245" y="317777"/>
                    </a:cubicBezTo>
                    <a:lnTo>
                      <a:pt x="106888" y="0"/>
                    </a:lnTo>
                    <a:lnTo>
                      <a:pt x="19913" y="23405"/>
                    </a:lnTo>
                    <a:close/>
                  </a:path>
                </a:pathLst>
              </a:custGeom>
              <a:solidFill>
                <a:srgbClr val="1D215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8" name="Google Shape;1366;p15">
                <a:extLst>
                  <a:ext uri="{FF2B5EF4-FFF2-40B4-BE49-F238E27FC236}">
                    <a16:creationId xmlns:a16="http://schemas.microsoft.com/office/drawing/2014/main" id="{E4910AB3-0B0F-AD85-AAC8-92D5E69B9A6E}"/>
                  </a:ext>
                </a:extLst>
              </p:cNvPr>
              <p:cNvSpPr/>
              <p:nvPr/>
            </p:nvSpPr>
            <p:spPr>
              <a:xfrm>
                <a:off x="10793450" y="4497194"/>
                <a:ext cx="336824" cy="463147"/>
              </a:xfrm>
              <a:custGeom>
                <a:avLst/>
                <a:gdLst/>
                <a:ahLst/>
                <a:cxnLst/>
                <a:rect l="l" t="t" r="r" b="b"/>
                <a:pathLst>
                  <a:path w="336824" h="463147" extrusionOk="0">
                    <a:moveTo>
                      <a:pt x="78214" y="463148"/>
                    </a:moveTo>
                    <a:lnTo>
                      <a:pt x="1606" y="89954"/>
                    </a:lnTo>
                    <a:cubicBezTo>
                      <a:pt x="-3025" y="67863"/>
                      <a:pt x="2469" y="45115"/>
                      <a:pt x="16672" y="27588"/>
                    </a:cubicBezTo>
                    <a:cubicBezTo>
                      <a:pt x="30908" y="10060"/>
                      <a:pt x="51987" y="0"/>
                      <a:pt x="74551" y="0"/>
                    </a:cubicBezTo>
                    <a:lnTo>
                      <a:pt x="336825" y="0"/>
                    </a:lnTo>
                    <a:lnTo>
                      <a:pt x="327426" y="36818"/>
                    </a:lnTo>
                    <a:lnTo>
                      <a:pt x="105271" y="36818"/>
                    </a:lnTo>
                    <a:cubicBezTo>
                      <a:pt x="93833" y="36818"/>
                      <a:pt x="83156" y="41900"/>
                      <a:pt x="75968" y="50785"/>
                    </a:cubicBezTo>
                    <a:cubicBezTo>
                      <a:pt x="68781" y="59670"/>
                      <a:pt x="65982" y="71182"/>
                      <a:pt x="68332" y="82348"/>
                    </a:cubicBezTo>
                    <a:lnTo>
                      <a:pt x="146530" y="463113"/>
                    </a:lnTo>
                    <a:lnTo>
                      <a:pt x="78214" y="463113"/>
                    </a:lnTo>
                    <a:close/>
                  </a:path>
                </a:pathLst>
              </a:custGeom>
              <a:solidFill>
                <a:srgbClr val="BABCBE"/>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9" name="Google Shape;1367;p15">
                <a:extLst>
                  <a:ext uri="{FF2B5EF4-FFF2-40B4-BE49-F238E27FC236}">
                    <a16:creationId xmlns:a16="http://schemas.microsoft.com/office/drawing/2014/main" id="{85ED1621-844C-048B-29BC-ED8CC34C4E04}"/>
                  </a:ext>
                </a:extLst>
              </p:cNvPr>
              <p:cNvSpPr/>
              <p:nvPr/>
            </p:nvSpPr>
            <p:spPr>
              <a:xfrm>
                <a:off x="10618341" y="4181682"/>
                <a:ext cx="574236" cy="778694"/>
              </a:xfrm>
              <a:custGeom>
                <a:avLst/>
                <a:gdLst/>
                <a:ahLst/>
                <a:cxnLst/>
                <a:rect l="l" t="t" r="r" b="b"/>
                <a:pathLst>
                  <a:path w="574236" h="778694" extrusionOk="0">
                    <a:moveTo>
                      <a:pt x="512452" y="39636"/>
                    </a:moveTo>
                    <a:lnTo>
                      <a:pt x="405815" y="389874"/>
                    </a:lnTo>
                    <a:cubicBezTo>
                      <a:pt x="399146" y="412484"/>
                      <a:pt x="395863" y="435923"/>
                      <a:pt x="396002" y="459500"/>
                    </a:cubicBezTo>
                    <a:lnTo>
                      <a:pt x="396485" y="535902"/>
                    </a:lnTo>
                    <a:cubicBezTo>
                      <a:pt x="396935" y="603730"/>
                      <a:pt x="342130" y="658975"/>
                      <a:pt x="274299" y="658975"/>
                    </a:cubicBezTo>
                    <a:lnTo>
                      <a:pt x="119664" y="658975"/>
                    </a:lnTo>
                    <a:cubicBezTo>
                      <a:pt x="53560" y="658975"/>
                      <a:pt x="0" y="712594"/>
                      <a:pt x="0" y="778694"/>
                    </a:cubicBezTo>
                    <a:lnTo>
                      <a:pt x="0" y="778694"/>
                    </a:lnTo>
                    <a:cubicBezTo>
                      <a:pt x="0" y="778694"/>
                      <a:pt x="297623" y="778694"/>
                      <a:pt x="297623" y="778694"/>
                    </a:cubicBezTo>
                    <a:cubicBezTo>
                      <a:pt x="384979" y="778694"/>
                      <a:pt x="455782" y="707858"/>
                      <a:pt x="455782" y="620463"/>
                    </a:cubicBezTo>
                    <a:lnTo>
                      <a:pt x="455782" y="469802"/>
                    </a:lnTo>
                    <a:cubicBezTo>
                      <a:pt x="455782" y="447608"/>
                      <a:pt x="458546" y="425517"/>
                      <a:pt x="464041" y="404048"/>
                    </a:cubicBezTo>
                    <a:lnTo>
                      <a:pt x="574237" y="709"/>
                    </a:lnTo>
                    <a:lnTo>
                      <a:pt x="574237" y="709"/>
                    </a:lnTo>
                    <a:cubicBezTo>
                      <a:pt x="546766" y="-3716"/>
                      <a:pt x="520296" y="12981"/>
                      <a:pt x="512452" y="39670"/>
                    </a:cubicBezTo>
                    <a:close/>
                  </a:path>
                </a:pathLst>
              </a:custGeom>
              <a:solidFill>
                <a:srgbClr val="6D6F7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0" name="Google Shape;1368;p15">
                <a:extLst>
                  <a:ext uri="{FF2B5EF4-FFF2-40B4-BE49-F238E27FC236}">
                    <a16:creationId xmlns:a16="http://schemas.microsoft.com/office/drawing/2014/main" id="{AD4B2119-CC51-D954-16E0-CA9A2BD3A26A}"/>
                  </a:ext>
                </a:extLst>
              </p:cNvPr>
              <p:cNvSpPr/>
              <p:nvPr/>
            </p:nvSpPr>
            <p:spPr>
              <a:xfrm>
                <a:off x="11242751" y="4182356"/>
                <a:ext cx="274298" cy="496810"/>
              </a:xfrm>
              <a:custGeom>
                <a:avLst/>
                <a:gdLst/>
                <a:ahLst/>
                <a:cxnLst/>
                <a:rect l="l" t="t" r="r" b="b"/>
                <a:pathLst>
                  <a:path w="274298" h="496810" extrusionOk="0">
                    <a:moveTo>
                      <a:pt x="274264" y="0"/>
                    </a:moveTo>
                    <a:lnTo>
                      <a:pt x="38218" y="0"/>
                    </a:lnTo>
                    <a:lnTo>
                      <a:pt x="0" y="441230"/>
                    </a:lnTo>
                    <a:cubicBezTo>
                      <a:pt x="0" y="441230"/>
                      <a:pt x="100521" y="505497"/>
                      <a:pt x="107536" y="495817"/>
                    </a:cubicBezTo>
                    <a:cubicBezTo>
                      <a:pt x="114550" y="486137"/>
                      <a:pt x="195375" y="191454"/>
                      <a:pt x="195375" y="191454"/>
                    </a:cubicBezTo>
                    <a:lnTo>
                      <a:pt x="274299" y="0"/>
                    </a:lnTo>
                    <a:close/>
                  </a:path>
                </a:pathLst>
              </a:custGeom>
              <a:solidFill>
                <a:srgbClr val="6D6F7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1" name="Google Shape;1369;p15">
                <a:extLst>
                  <a:ext uri="{FF2B5EF4-FFF2-40B4-BE49-F238E27FC236}">
                    <a16:creationId xmlns:a16="http://schemas.microsoft.com/office/drawing/2014/main" id="{F776D142-C3A4-DB92-013A-E01BA205DA97}"/>
                  </a:ext>
                </a:extLst>
              </p:cNvPr>
              <p:cNvSpPr/>
              <p:nvPr/>
            </p:nvSpPr>
            <p:spPr>
              <a:xfrm>
                <a:off x="11171672" y="3993045"/>
                <a:ext cx="109263" cy="188619"/>
              </a:xfrm>
              <a:custGeom>
                <a:avLst/>
                <a:gdLst/>
                <a:ahLst/>
                <a:cxnLst/>
                <a:rect l="l" t="t" r="r" b="b"/>
                <a:pathLst>
                  <a:path w="109263" h="188619" extrusionOk="0">
                    <a:moveTo>
                      <a:pt x="109263" y="188619"/>
                    </a:moveTo>
                    <a:lnTo>
                      <a:pt x="63409" y="0"/>
                    </a:lnTo>
                    <a:lnTo>
                      <a:pt x="0" y="88778"/>
                    </a:lnTo>
                    <a:lnTo>
                      <a:pt x="0" y="188619"/>
                    </a:lnTo>
                    <a:lnTo>
                      <a:pt x="109263" y="188619"/>
                    </a:lnTo>
                    <a:close/>
                  </a:path>
                </a:pathLst>
              </a:custGeom>
              <a:solidFill>
                <a:srgbClr val="775339"/>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2" name="Google Shape;1370;p15">
                <a:extLst>
                  <a:ext uri="{FF2B5EF4-FFF2-40B4-BE49-F238E27FC236}">
                    <a16:creationId xmlns:a16="http://schemas.microsoft.com/office/drawing/2014/main" id="{222DC4FD-34D0-18CB-F0E4-9440493F1CD1}"/>
                  </a:ext>
                </a:extLst>
              </p:cNvPr>
              <p:cNvSpPr/>
              <p:nvPr/>
            </p:nvSpPr>
            <p:spPr>
              <a:xfrm>
                <a:off x="11102990" y="3885329"/>
                <a:ext cx="172202" cy="220822"/>
              </a:xfrm>
              <a:custGeom>
                <a:avLst/>
                <a:gdLst/>
                <a:ahLst/>
                <a:cxnLst/>
                <a:rect l="l" t="t" r="r" b="b"/>
                <a:pathLst>
                  <a:path w="172202" h="220822" extrusionOk="0">
                    <a:moveTo>
                      <a:pt x="101302" y="216788"/>
                    </a:moveTo>
                    <a:lnTo>
                      <a:pt x="73589" y="220798"/>
                    </a:lnTo>
                    <a:cubicBezTo>
                      <a:pt x="32952" y="221455"/>
                      <a:pt x="21238" y="209009"/>
                      <a:pt x="12979" y="179209"/>
                    </a:cubicBezTo>
                    <a:cubicBezTo>
                      <a:pt x="4720" y="149409"/>
                      <a:pt x="21" y="94649"/>
                      <a:pt x="21" y="94649"/>
                    </a:cubicBezTo>
                    <a:cubicBezTo>
                      <a:pt x="-843" y="45247"/>
                      <a:pt x="25004" y="7357"/>
                      <a:pt x="70064" y="857"/>
                    </a:cubicBezTo>
                    <a:lnTo>
                      <a:pt x="70064" y="857"/>
                    </a:lnTo>
                    <a:cubicBezTo>
                      <a:pt x="115124" y="-5677"/>
                      <a:pt x="157316" y="25852"/>
                      <a:pt x="163812" y="70933"/>
                    </a:cubicBezTo>
                    <a:lnTo>
                      <a:pt x="171345" y="122997"/>
                    </a:lnTo>
                    <a:cubicBezTo>
                      <a:pt x="177876" y="168077"/>
                      <a:pt x="146362" y="210288"/>
                      <a:pt x="101302" y="216788"/>
                    </a:cubicBezTo>
                    <a:close/>
                  </a:path>
                </a:pathLst>
              </a:custGeom>
              <a:solidFill>
                <a:srgbClr val="775339"/>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3" name="Google Shape;1371;p15">
                <a:extLst>
                  <a:ext uri="{FF2B5EF4-FFF2-40B4-BE49-F238E27FC236}">
                    <a16:creationId xmlns:a16="http://schemas.microsoft.com/office/drawing/2014/main" id="{D8CB65FE-6CE5-3197-99CB-D68CA2F44FF8}"/>
                  </a:ext>
                </a:extLst>
              </p:cNvPr>
              <p:cNvSpPr/>
              <p:nvPr/>
            </p:nvSpPr>
            <p:spPr>
              <a:xfrm>
                <a:off x="10836936" y="4171200"/>
                <a:ext cx="377410" cy="315415"/>
              </a:xfrm>
              <a:custGeom>
                <a:avLst/>
                <a:gdLst/>
                <a:ahLst/>
                <a:cxnLst/>
                <a:rect l="l" t="t" r="r" b="b"/>
                <a:pathLst>
                  <a:path w="377410" h="315415" extrusionOk="0">
                    <a:moveTo>
                      <a:pt x="0" y="315415"/>
                    </a:moveTo>
                    <a:lnTo>
                      <a:pt x="245894" y="24639"/>
                    </a:lnTo>
                    <a:cubicBezTo>
                      <a:pt x="274955" y="-7201"/>
                      <a:pt x="324714" y="-8342"/>
                      <a:pt x="355192" y="22150"/>
                    </a:cubicBezTo>
                    <a:lnTo>
                      <a:pt x="355192" y="22150"/>
                    </a:lnTo>
                    <a:cubicBezTo>
                      <a:pt x="383700" y="50671"/>
                      <a:pt x="385013" y="96685"/>
                      <a:pt x="357749" y="126416"/>
                    </a:cubicBezTo>
                    <a:cubicBezTo>
                      <a:pt x="295792" y="193933"/>
                      <a:pt x="188705" y="315415"/>
                      <a:pt x="0" y="315415"/>
                    </a:cubicBezTo>
                    <a:close/>
                  </a:path>
                </a:pathLst>
              </a:custGeom>
              <a:solidFill>
                <a:srgbClr val="654A4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4" name="Google Shape;1372;p15">
                <a:extLst>
                  <a:ext uri="{FF2B5EF4-FFF2-40B4-BE49-F238E27FC236}">
                    <a16:creationId xmlns:a16="http://schemas.microsoft.com/office/drawing/2014/main" id="{37C23999-1650-33D2-FEB7-D7380E93AD6F}"/>
                  </a:ext>
                </a:extLst>
              </p:cNvPr>
              <p:cNvSpPr/>
              <p:nvPr/>
            </p:nvSpPr>
            <p:spPr>
              <a:xfrm>
                <a:off x="10714404" y="4183358"/>
                <a:ext cx="210820" cy="303256"/>
              </a:xfrm>
              <a:custGeom>
                <a:avLst/>
                <a:gdLst/>
                <a:ahLst/>
                <a:cxnLst/>
                <a:rect l="l" t="t" r="r" b="b"/>
                <a:pathLst>
                  <a:path w="210820" h="303256" extrusionOk="0">
                    <a:moveTo>
                      <a:pt x="122532" y="303257"/>
                    </a:moveTo>
                    <a:lnTo>
                      <a:pt x="0" y="34329"/>
                    </a:lnTo>
                    <a:lnTo>
                      <a:pt x="17450" y="0"/>
                    </a:lnTo>
                    <a:lnTo>
                      <a:pt x="210821" y="248877"/>
                    </a:lnTo>
                    <a:lnTo>
                      <a:pt x="122532" y="303257"/>
                    </a:lnTo>
                    <a:close/>
                  </a:path>
                </a:pathLst>
              </a:custGeom>
              <a:solidFill>
                <a:srgbClr val="654A4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5" name="Google Shape;1373;p15">
                <a:extLst>
                  <a:ext uri="{FF2B5EF4-FFF2-40B4-BE49-F238E27FC236}">
                    <a16:creationId xmlns:a16="http://schemas.microsoft.com/office/drawing/2014/main" id="{937FF997-5257-B80B-6712-57A1AAB5D54E}"/>
                  </a:ext>
                </a:extLst>
              </p:cNvPr>
              <p:cNvSpPr/>
              <p:nvPr/>
            </p:nvSpPr>
            <p:spPr>
              <a:xfrm>
                <a:off x="11051696" y="4164310"/>
                <a:ext cx="330264" cy="472308"/>
              </a:xfrm>
              <a:custGeom>
                <a:avLst/>
                <a:gdLst/>
                <a:ahLst/>
                <a:cxnLst/>
                <a:rect l="l" t="t" r="r" b="b"/>
                <a:pathLst>
                  <a:path w="330264" h="472308" extrusionOk="0">
                    <a:moveTo>
                      <a:pt x="292302" y="472309"/>
                    </a:moveTo>
                    <a:cubicBezTo>
                      <a:pt x="239674" y="321372"/>
                      <a:pt x="399665" y="170677"/>
                      <a:pt x="292302" y="0"/>
                    </a:cubicBezTo>
                    <a:lnTo>
                      <a:pt x="131862" y="0"/>
                    </a:lnTo>
                    <a:cubicBezTo>
                      <a:pt x="51453" y="0"/>
                      <a:pt x="2419" y="70871"/>
                      <a:pt x="1901" y="158681"/>
                    </a:cubicBezTo>
                    <a:lnTo>
                      <a:pt x="0" y="472309"/>
                    </a:lnTo>
                    <a:lnTo>
                      <a:pt x="292336" y="472309"/>
                    </a:lnTo>
                    <a:close/>
                  </a:path>
                </a:pathLst>
              </a:custGeom>
              <a:solidFill>
                <a:srgbClr val="2398DB"/>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6" name="Google Shape;1374;p15">
                <a:extLst>
                  <a:ext uri="{FF2B5EF4-FFF2-40B4-BE49-F238E27FC236}">
                    <a16:creationId xmlns:a16="http://schemas.microsoft.com/office/drawing/2014/main" id="{FA8B8A90-C69F-383C-9711-E85B4451EDC4}"/>
                  </a:ext>
                </a:extLst>
              </p:cNvPr>
              <p:cNvSpPr/>
              <p:nvPr/>
            </p:nvSpPr>
            <p:spPr>
              <a:xfrm>
                <a:off x="10321789" y="4557318"/>
                <a:ext cx="1032157" cy="582481"/>
              </a:xfrm>
              <a:custGeom>
                <a:avLst/>
                <a:gdLst/>
                <a:ahLst/>
                <a:cxnLst/>
                <a:rect l="l" t="t" r="r" b="b"/>
                <a:pathLst>
                  <a:path w="1032157" h="582481" extrusionOk="0">
                    <a:moveTo>
                      <a:pt x="292060" y="94028"/>
                    </a:moveTo>
                    <a:lnTo>
                      <a:pt x="131137" y="474793"/>
                    </a:lnTo>
                    <a:cubicBezTo>
                      <a:pt x="123984" y="491733"/>
                      <a:pt x="107674" y="503038"/>
                      <a:pt x="89325" y="503833"/>
                    </a:cubicBezTo>
                    <a:lnTo>
                      <a:pt x="34866" y="506149"/>
                    </a:lnTo>
                    <a:cubicBezTo>
                      <a:pt x="16310" y="506944"/>
                      <a:pt x="1313" y="521568"/>
                      <a:pt x="0" y="540098"/>
                    </a:cubicBezTo>
                    <a:lnTo>
                      <a:pt x="0" y="540098"/>
                    </a:lnTo>
                    <a:cubicBezTo>
                      <a:pt x="0" y="540098"/>
                      <a:pt x="165450" y="582482"/>
                      <a:pt x="165450" y="582482"/>
                    </a:cubicBezTo>
                    <a:lnTo>
                      <a:pt x="214207" y="479910"/>
                    </a:lnTo>
                    <a:cubicBezTo>
                      <a:pt x="214207" y="479910"/>
                      <a:pt x="214345" y="479598"/>
                      <a:pt x="214449" y="479460"/>
                    </a:cubicBezTo>
                    <a:cubicBezTo>
                      <a:pt x="226129" y="455710"/>
                      <a:pt x="241057" y="433654"/>
                      <a:pt x="257919" y="413291"/>
                    </a:cubicBezTo>
                    <a:lnTo>
                      <a:pt x="481353" y="143257"/>
                    </a:lnTo>
                    <a:lnTo>
                      <a:pt x="849849" y="291256"/>
                    </a:lnTo>
                    <a:cubicBezTo>
                      <a:pt x="940901" y="320399"/>
                      <a:pt x="1040178" y="252536"/>
                      <a:pt x="1031643" y="133543"/>
                    </a:cubicBezTo>
                    <a:lnTo>
                      <a:pt x="1022175" y="79370"/>
                    </a:lnTo>
                    <a:cubicBezTo>
                      <a:pt x="676071" y="-82007"/>
                      <a:pt x="370224" y="47945"/>
                      <a:pt x="308888" y="76570"/>
                    </a:cubicBezTo>
                    <a:cubicBezTo>
                      <a:pt x="301286" y="80131"/>
                      <a:pt x="295273" y="86319"/>
                      <a:pt x="292025" y="94063"/>
                    </a:cubicBezTo>
                    <a:close/>
                  </a:path>
                </a:pathLst>
              </a:custGeom>
              <a:solidFill>
                <a:srgbClr val="005B84"/>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7" name="Google Shape;1375;p15">
                <a:extLst>
                  <a:ext uri="{FF2B5EF4-FFF2-40B4-BE49-F238E27FC236}">
                    <a16:creationId xmlns:a16="http://schemas.microsoft.com/office/drawing/2014/main" id="{83303497-9EED-0434-41F9-DD2C21BD4BA9}"/>
                  </a:ext>
                </a:extLst>
              </p:cNvPr>
              <p:cNvSpPr/>
              <p:nvPr/>
            </p:nvSpPr>
            <p:spPr>
              <a:xfrm>
                <a:off x="10619537" y="4688197"/>
                <a:ext cx="542009" cy="707047"/>
              </a:xfrm>
              <a:custGeom>
                <a:avLst/>
                <a:gdLst/>
                <a:ahLst/>
                <a:cxnLst/>
                <a:rect l="l" t="t" r="r" b="b"/>
                <a:pathLst>
                  <a:path w="542009" h="707047" extrusionOk="0">
                    <a:moveTo>
                      <a:pt x="542010" y="151768"/>
                    </a:moveTo>
                    <a:lnTo>
                      <a:pt x="150638" y="154119"/>
                    </a:lnTo>
                    <a:lnTo>
                      <a:pt x="160728" y="233182"/>
                    </a:lnTo>
                    <a:cubicBezTo>
                      <a:pt x="164495" y="262568"/>
                      <a:pt x="163562" y="292368"/>
                      <a:pt x="158033" y="321511"/>
                    </a:cubicBezTo>
                    <a:lnTo>
                      <a:pt x="123478" y="476528"/>
                    </a:lnTo>
                    <a:lnTo>
                      <a:pt x="123478" y="476528"/>
                    </a:lnTo>
                    <a:cubicBezTo>
                      <a:pt x="118053" y="505152"/>
                      <a:pt x="119712" y="534711"/>
                      <a:pt x="128316" y="562540"/>
                    </a:cubicBezTo>
                    <a:lnTo>
                      <a:pt x="138613" y="595832"/>
                    </a:lnTo>
                    <a:lnTo>
                      <a:pt x="12072" y="707047"/>
                    </a:lnTo>
                    <a:lnTo>
                      <a:pt x="12072" y="707047"/>
                    </a:lnTo>
                    <a:cubicBezTo>
                      <a:pt x="-298" y="697575"/>
                      <a:pt x="-3650" y="680324"/>
                      <a:pt x="4297" y="666910"/>
                    </a:cubicBezTo>
                    <a:lnTo>
                      <a:pt x="40891" y="604994"/>
                    </a:lnTo>
                    <a:cubicBezTo>
                      <a:pt x="47180" y="594380"/>
                      <a:pt x="50498" y="582280"/>
                      <a:pt x="50567" y="569939"/>
                    </a:cubicBezTo>
                    <a:lnTo>
                      <a:pt x="48874" y="70180"/>
                    </a:lnTo>
                    <a:cubicBezTo>
                      <a:pt x="48804" y="59014"/>
                      <a:pt x="54886" y="48712"/>
                      <a:pt x="64734" y="43422"/>
                    </a:cubicBezTo>
                    <a:lnTo>
                      <a:pt x="125068" y="10960"/>
                    </a:lnTo>
                    <a:cubicBezTo>
                      <a:pt x="149705" y="-2281"/>
                      <a:pt x="179008" y="-3594"/>
                      <a:pt x="204717" y="7399"/>
                    </a:cubicBezTo>
                    <a:lnTo>
                      <a:pt x="541975" y="151733"/>
                    </a:lnTo>
                    <a:close/>
                  </a:path>
                </a:pathLst>
              </a:custGeom>
              <a:gradFill>
                <a:gsLst>
                  <a:gs pos="0">
                    <a:srgbClr val="004463"/>
                  </a:gs>
                  <a:gs pos="49000">
                    <a:srgbClr val="005B84"/>
                  </a:gs>
                  <a:gs pos="100000">
                    <a:srgbClr val="005B84"/>
                  </a:gs>
                </a:gsLst>
                <a:lin ang="5827324"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8" name="Google Shape;1376;p15">
                <a:extLst>
                  <a:ext uri="{FF2B5EF4-FFF2-40B4-BE49-F238E27FC236}">
                    <a16:creationId xmlns:a16="http://schemas.microsoft.com/office/drawing/2014/main" id="{93A96D2F-8FC6-AE0F-D10F-EBA3A094EB4A}"/>
                  </a:ext>
                </a:extLst>
              </p:cNvPr>
              <p:cNvSpPr/>
              <p:nvPr/>
            </p:nvSpPr>
            <p:spPr>
              <a:xfrm>
                <a:off x="11097297" y="3839284"/>
                <a:ext cx="340729" cy="342379"/>
              </a:xfrm>
              <a:custGeom>
                <a:avLst/>
                <a:gdLst/>
                <a:ahLst/>
                <a:cxnLst/>
                <a:rect l="l" t="t" r="r" b="b"/>
                <a:pathLst>
                  <a:path w="340729" h="342379" extrusionOk="0">
                    <a:moveTo>
                      <a:pt x="326730" y="248070"/>
                    </a:moveTo>
                    <a:cubicBezTo>
                      <a:pt x="294801" y="181659"/>
                      <a:pt x="236576" y="193967"/>
                      <a:pt x="201226" y="83478"/>
                    </a:cubicBezTo>
                    <a:cubicBezTo>
                      <a:pt x="181080" y="20489"/>
                      <a:pt x="119503" y="3515"/>
                      <a:pt x="119503" y="3515"/>
                    </a:cubicBezTo>
                    <a:cubicBezTo>
                      <a:pt x="26412" y="-16432"/>
                      <a:pt x="2396" y="54404"/>
                      <a:pt x="2396" y="68474"/>
                    </a:cubicBezTo>
                    <a:cubicBezTo>
                      <a:pt x="2396" y="70202"/>
                      <a:pt x="-2995" y="67299"/>
                      <a:pt x="2396" y="68474"/>
                    </a:cubicBezTo>
                    <a:cubicBezTo>
                      <a:pt x="9411" y="85206"/>
                      <a:pt x="33081" y="128213"/>
                      <a:pt x="95315" y="142387"/>
                    </a:cubicBezTo>
                    <a:cubicBezTo>
                      <a:pt x="114493" y="146743"/>
                      <a:pt x="130526" y="160364"/>
                      <a:pt x="136470" y="179101"/>
                    </a:cubicBezTo>
                    <a:cubicBezTo>
                      <a:pt x="143553" y="201399"/>
                      <a:pt x="148184" y="228434"/>
                      <a:pt x="149082" y="261207"/>
                    </a:cubicBezTo>
                    <a:cubicBezTo>
                      <a:pt x="150810" y="322536"/>
                      <a:pt x="183603" y="342380"/>
                      <a:pt x="262769" y="342380"/>
                    </a:cubicBezTo>
                    <a:lnTo>
                      <a:pt x="336786" y="342380"/>
                    </a:lnTo>
                    <a:cubicBezTo>
                      <a:pt x="342176" y="318941"/>
                      <a:pt x="344630" y="285407"/>
                      <a:pt x="326661" y="248070"/>
                    </a:cubicBezTo>
                    <a:close/>
                  </a:path>
                </a:pathLst>
              </a:custGeom>
              <a:solidFill>
                <a:srgbClr val="1D215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9" name="Google Shape;1377;p15">
                <a:extLst>
                  <a:ext uri="{FF2B5EF4-FFF2-40B4-BE49-F238E27FC236}">
                    <a16:creationId xmlns:a16="http://schemas.microsoft.com/office/drawing/2014/main" id="{8E2724BD-DB59-8DBA-8641-F5FE63D5BC7F}"/>
                  </a:ext>
                </a:extLst>
              </p:cNvPr>
              <p:cNvSpPr/>
              <p:nvPr/>
            </p:nvSpPr>
            <p:spPr>
              <a:xfrm>
                <a:off x="11012925" y="4164332"/>
                <a:ext cx="385604" cy="322282"/>
              </a:xfrm>
              <a:custGeom>
                <a:avLst/>
                <a:gdLst/>
                <a:ahLst/>
                <a:cxnLst/>
                <a:rect l="l" t="t" r="r" b="b"/>
                <a:pathLst>
                  <a:path w="385604" h="322282" extrusionOk="0">
                    <a:moveTo>
                      <a:pt x="0" y="322283"/>
                    </a:moveTo>
                    <a:lnTo>
                      <a:pt x="251250" y="25180"/>
                    </a:lnTo>
                    <a:cubicBezTo>
                      <a:pt x="280933" y="-7352"/>
                      <a:pt x="331764" y="-8527"/>
                      <a:pt x="362898" y="22621"/>
                    </a:cubicBezTo>
                    <a:lnTo>
                      <a:pt x="362898" y="22621"/>
                    </a:lnTo>
                    <a:cubicBezTo>
                      <a:pt x="392028" y="51765"/>
                      <a:pt x="393375" y="98781"/>
                      <a:pt x="365524" y="129135"/>
                    </a:cubicBezTo>
                    <a:cubicBezTo>
                      <a:pt x="302219" y="198138"/>
                      <a:pt x="192783" y="322248"/>
                      <a:pt x="0" y="322248"/>
                    </a:cubicBezTo>
                    <a:close/>
                  </a:path>
                </a:pathLst>
              </a:custGeom>
              <a:solidFill>
                <a:srgbClr val="775339"/>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0" name="Google Shape;1378;p15">
                <a:extLst>
                  <a:ext uri="{FF2B5EF4-FFF2-40B4-BE49-F238E27FC236}">
                    <a16:creationId xmlns:a16="http://schemas.microsoft.com/office/drawing/2014/main" id="{DA6032F9-E339-A536-F7CF-3C281DE77F8B}"/>
                  </a:ext>
                </a:extLst>
              </p:cNvPr>
              <p:cNvSpPr/>
              <p:nvPr/>
            </p:nvSpPr>
            <p:spPr>
              <a:xfrm>
                <a:off x="10610538" y="3974895"/>
                <a:ext cx="308617" cy="258141"/>
              </a:xfrm>
              <a:custGeom>
                <a:avLst/>
                <a:gdLst/>
                <a:ahLst/>
                <a:cxnLst/>
                <a:rect l="l" t="t" r="r" b="b"/>
                <a:pathLst>
                  <a:path w="308617" h="258141" extrusionOk="0">
                    <a:moveTo>
                      <a:pt x="298065" y="258142"/>
                    </a:moveTo>
                    <a:lnTo>
                      <a:pt x="129436" y="258142"/>
                    </a:lnTo>
                    <a:cubicBezTo>
                      <a:pt x="122076" y="258142"/>
                      <a:pt x="115372" y="253889"/>
                      <a:pt x="112262" y="247217"/>
                    </a:cubicBezTo>
                    <a:lnTo>
                      <a:pt x="684" y="10095"/>
                    </a:lnTo>
                    <a:cubicBezTo>
                      <a:pt x="-1528" y="5393"/>
                      <a:pt x="1893" y="0"/>
                      <a:pt x="7077" y="0"/>
                    </a:cubicBezTo>
                    <a:lnTo>
                      <a:pt x="182859" y="0"/>
                    </a:lnTo>
                    <a:cubicBezTo>
                      <a:pt x="189182" y="0"/>
                      <a:pt x="194918" y="3665"/>
                      <a:pt x="197614" y="9369"/>
                    </a:cubicBezTo>
                    <a:lnTo>
                      <a:pt x="307603" y="243103"/>
                    </a:lnTo>
                    <a:cubicBezTo>
                      <a:pt x="310885" y="250087"/>
                      <a:pt x="305806" y="258142"/>
                      <a:pt x="298065" y="258142"/>
                    </a:cubicBezTo>
                    <a:close/>
                  </a:path>
                </a:pathLst>
              </a:custGeom>
              <a:solidFill>
                <a:srgbClr val="000000"/>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1" name="Google Shape;1379;p15">
                <a:extLst>
                  <a:ext uri="{FF2B5EF4-FFF2-40B4-BE49-F238E27FC236}">
                    <a16:creationId xmlns:a16="http://schemas.microsoft.com/office/drawing/2014/main" id="{29F72318-B691-2E40-B31E-488D8C4CD092}"/>
                  </a:ext>
                </a:extLst>
              </p:cNvPr>
              <p:cNvSpPr/>
              <p:nvPr/>
            </p:nvSpPr>
            <p:spPr>
              <a:xfrm>
                <a:off x="10887698" y="4211845"/>
                <a:ext cx="215451" cy="274770"/>
              </a:xfrm>
              <a:custGeom>
                <a:avLst/>
                <a:gdLst/>
                <a:ahLst/>
                <a:cxnLst/>
                <a:rect l="l" t="t" r="r" b="b"/>
                <a:pathLst>
                  <a:path w="215451" h="274770" extrusionOk="0">
                    <a:moveTo>
                      <a:pt x="125228" y="274770"/>
                    </a:moveTo>
                    <a:lnTo>
                      <a:pt x="0" y="0"/>
                    </a:lnTo>
                    <a:lnTo>
                      <a:pt x="53526" y="5842"/>
                    </a:lnTo>
                    <a:lnTo>
                      <a:pt x="215451" y="219215"/>
                    </a:lnTo>
                    <a:lnTo>
                      <a:pt x="125228" y="274770"/>
                    </a:lnTo>
                    <a:close/>
                  </a:path>
                </a:pathLst>
              </a:custGeom>
              <a:solidFill>
                <a:srgbClr val="775339"/>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2" name="Google Shape;1380;p15">
                <a:extLst>
                  <a:ext uri="{FF2B5EF4-FFF2-40B4-BE49-F238E27FC236}">
                    <a16:creationId xmlns:a16="http://schemas.microsoft.com/office/drawing/2014/main" id="{C8045A72-6F30-8376-ABF0-C5E8657D790B}"/>
                  </a:ext>
                </a:extLst>
              </p:cNvPr>
              <p:cNvSpPr/>
              <p:nvPr/>
            </p:nvSpPr>
            <p:spPr>
              <a:xfrm>
                <a:off x="10789319" y="4133714"/>
                <a:ext cx="153431" cy="99322"/>
              </a:xfrm>
              <a:custGeom>
                <a:avLst/>
                <a:gdLst/>
                <a:ahLst/>
                <a:cxnLst/>
                <a:rect l="l" t="t" r="r" b="b"/>
                <a:pathLst>
                  <a:path w="153431" h="99322" extrusionOk="0">
                    <a:moveTo>
                      <a:pt x="23532" y="0"/>
                    </a:moveTo>
                    <a:lnTo>
                      <a:pt x="103596" y="30630"/>
                    </a:lnTo>
                    <a:lnTo>
                      <a:pt x="89187" y="0"/>
                    </a:lnTo>
                    <a:lnTo>
                      <a:pt x="102076" y="0"/>
                    </a:lnTo>
                    <a:lnTo>
                      <a:pt x="138290" y="31183"/>
                    </a:lnTo>
                    <a:cubicBezTo>
                      <a:pt x="149624" y="42868"/>
                      <a:pt x="155049" y="59047"/>
                      <a:pt x="153010" y="75226"/>
                    </a:cubicBezTo>
                    <a:lnTo>
                      <a:pt x="151904" y="83973"/>
                    </a:lnTo>
                    <a:lnTo>
                      <a:pt x="108054" y="99322"/>
                    </a:lnTo>
                    <a:lnTo>
                      <a:pt x="50416" y="62228"/>
                    </a:lnTo>
                    <a:cubicBezTo>
                      <a:pt x="27402" y="47397"/>
                      <a:pt x="9745" y="25617"/>
                      <a:pt x="0" y="0"/>
                    </a:cubicBezTo>
                    <a:lnTo>
                      <a:pt x="0" y="0"/>
                    </a:lnTo>
                    <a:cubicBezTo>
                      <a:pt x="0" y="0"/>
                      <a:pt x="23532" y="0"/>
                      <a:pt x="23532" y="0"/>
                    </a:cubicBezTo>
                    <a:close/>
                  </a:path>
                </a:pathLst>
              </a:custGeom>
              <a:solidFill>
                <a:srgbClr val="775339"/>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3" name="Google Shape;1381;p15">
                <a:extLst>
                  <a:ext uri="{FF2B5EF4-FFF2-40B4-BE49-F238E27FC236}">
                    <a16:creationId xmlns:a16="http://schemas.microsoft.com/office/drawing/2014/main" id="{833790DE-3057-AC85-60F5-61B9F97B9985}"/>
                  </a:ext>
                </a:extLst>
              </p:cNvPr>
              <p:cNvSpPr/>
              <p:nvPr/>
            </p:nvSpPr>
            <p:spPr>
              <a:xfrm>
                <a:off x="10942779" y="4181682"/>
                <a:ext cx="574236" cy="778694"/>
              </a:xfrm>
              <a:custGeom>
                <a:avLst/>
                <a:gdLst/>
                <a:ahLst/>
                <a:cxnLst/>
                <a:rect l="l" t="t" r="r" b="b"/>
                <a:pathLst>
                  <a:path w="574236" h="778694" extrusionOk="0">
                    <a:moveTo>
                      <a:pt x="512452" y="39636"/>
                    </a:moveTo>
                    <a:lnTo>
                      <a:pt x="405815" y="389874"/>
                    </a:lnTo>
                    <a:cubicBezTo>
                      <a:pt x="399146" y="412484"/>
                      <a:pt x="395863" y="435923"/>
                      <a:pt x="396002" y="459500"/>
                    </a:cubicBezTo>
                    <a:lnTo>
                      <a:pt x="396485" y="535902"/>
                    </a:lnTo>
                    <a:cubicBezTo>
                      <a:pt x="396935" y="603730"/>
                      <a:pt x="342130" y="658975"/>
                      <a:pt x="274298" y="658975"/>
                    </a:cubicBezTo>
                    <a:lnTo>
                      <a:pt x="119664" y="658975"/>
                    </a:lnTo>
                    <a:cubicBezTo>
                      <a:pt x="53560" y="658975"/>
                      <a:pt x="0" y="712594"/>
                      <a:pt x="0" y="778694"/>
                    </a:cubicBezTo>
                    <a:lnTo>
                      <a:pt x="0" y="778694"/>
                    </a:lnTo>
                    <a:cubicBezTo>
                      <a:pt x="0" y="778694"/>
                      <a:pt x="297623" y="778694"/>
                      <a:pt x="297623" y="778694"/>
                    </a:cubicBezTo>
                    <a:cubicBezTo>
                      <a:pt x="384979" y="778694"/>
                      <a:pt x="455782" y="707858"/>
                      <a:pt x="455782" y="620463"/>
                    </a:cubicBezTo>
                    <a:lnTo>
                      <a:pt x="455782" y="469802"/>
                    </a:lnTo>
                    <a:cubicBezTo>
                      <a:pt x="455782" y="447608"/>
                      <a:pt x="458546" y="425517"/>
                      <a:pt x="464041" y="404048"/>
                    </a:cubicBezTo>
                    <a:lnTo>
                      <a:pt x="574237" y="709"/>
                    </a:lnTo>
                    <a:lnTo>
                      <a:pt x="574237" y="709"/>
                    </a:lnTo>
                    <a:cubicBezTo>
                      <a:pt x="546766" y="-3716"/>
                      <a:pt x="520296" y="12981"/>
                      <a:pt x="512452" y="39670"/>
                    </a:cubicBez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4" name="Google Shape;1382;p15">
                <a:extLst>
                  <a:ext uri="{FF2B5EF4-FFF2-40B4-BE49-F238E27FC236}">
                    <a16:creationId xmlns:a16="http://schemas.microsoft.com/office/drawing/2014/main" id="{0AB10DE6-28D4-3876-A07E-538E04E6E04D}"/>
                  </a:ext>
                </a:extLst>
              </p:cNvPr>
              <p:cNvSpPr/>
              <p:nvPr/>
            </p:nvSpPr>
            <p:spPr>
              <a:xfrm>
                <a:off x="11094114" y="4497194"/>
                <a:ext cx="336824" cy="463147"/>
              </a:xfrm>
              <a:custGeom>
                <a:avLst/>
                <a:gdLst/>
                <a:ahLst/>
                <a:cxnLst/>
                <a:rect l="l" t="t" r="r" b="b"/>
                <a:pathLst>
                  <a:path w="336824" h="463147" extrusionOk="0">
                    <a:moveTo>
                      <a:pt x="78214" y="463148"/>
                    </a:moveTo>
                    <a:lnTo>
                      <a:pt x="1606" y="89954"/>
                    </a:lnTo>
                    <a:cubicBezTo>
                      <a:pt x="-3025" y="67863"/>
                      <a:pt x="2469" y="45115"/>
                      <a:pt x="16672" y="27588"/>
                    </a:cubicBezTo>
                    <a:cubicBezTo>
                      <a:pt x="30908" y="10060"/>
                      <a:pt x="51987" y="0"/>
                      <a:pt x="74551" y="0"/>
                    </a:cubicBezTo>
                    <a:lnTo>
                      <a:pt x="336825" y="0"/>
                    </a:lnTo>
                    <a:lnTo>
                      <a:pt x="327426" y="36818"/>
                    </a:lnTo>
                    <a:lnTo>
                      <a:pt x="105271" y="36818"/>
                    </a:lnTo>
                    <a:cubicBezTo>
                      <a:pt x="93833" y="36818"/>
                      <a:pt x="83156" y="41900"/>
                      <a:pt x="75968" y="50785"/>
                    </a:cubicBezTo>
                    <a:cubicBezTo>
                      <a:pt x="68781" y="59670"/>
                      <a:pt x="65982" y="71182"/>
                      <a:pt x="68332" y="82348"/>
                    </a:cubicBezTo>
                    <a:lnTo>
                      <a:pt x="146530" y="463113"/>
                    </a:lnTo>
                    <a:lnTo>
                      <a:pt x="78214" y="463113"/>
                    </a:lnTo>
                    <a:close/>
                  </a:path>
                </a:pathLst>
              </a:custGeom>
              <a:solidFill>
                <a:srgbClr val="BABCBE"/>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5" name="Google Shape;1383;p15">
                <a:extLst>
                  <a:ext uri="{FF2B5EF4-FFF2-40B4-BE49-F238E27FC236}">
                    <a16:creationId xmlns:a16="http://schemas.microsoft.com/office/drawing/2014/main" id="{A260E732-0F82-20E7-7A35-6DC691AFA50D}"/>
                  </a:ext>
                </a:extLst>
              </p:cNvPr>
              <p:cNvSpPr/>
              <p:nvPr/>
            </p:nvSpPr>
            <p:spPr>
              <a:xfrm>
                <a:off x="11090256" y="3824097"/>
                <a:ext cx="379980" cy="358259"/>
              </a:xfrm>
              <a:custGeom>
                <a:avLst/>
                <a:gdLst/>
                <a:ahLst/>
                <a:cxnLst/>
                <a:rect l="l" t="t" r="r" b="b"/>
                <a:pathLst>
                  <a:path w="379980" h="358259" extrusionOk="0">
                    <a:moveTo>
                      <a:pt x="12893" y="91025"/>
                    </a:moveTo>
                    <a:cubicBezTo>
                      <a:pt x="12893" y="91025"/>
                      <a:pt x="-4626" y="77439"/>
                      <a:pt x="1179" y="53274"/>
                    </a:cubicBezTo>
                    <a:cubicBezTo>
                      <a:pt x="6535" y="30941"/>
                      <a:pt x="28650" y="24926"/>
                      <a:pt x="43751" y="21918"/>
                    </a:cubicBezTo>
                    <a:cubicBezTo>
                      <a:pt x="58852" y="18945"/>
                      <a:pt x="62445" y="0"/>
                      <a:pt x="91472" y="0"/>
                    </a:cubicBezTo>
                    <a:cubicBezTo>
                      <a:pt x="124092" y="0"/>
                      <a:pt x="126234" y="23923"/>
                      <a:pt x="149524" y="21953"/>
                    </a:cubicBezTo>
                    <a:cubicBezTo>
                      <a:pt x="172296" y="20017"/>
                      <a:pt x="211516" y="28728"/>
                      <a:pt x="217978" y="65581"/>
                    </a:cubicBezTo>
                    <a:cubicBezTo>
                      <a:pt x="224440" y="102434"/>
                      <a:pt x="232076" y="118095"/>
                      <a:pt x="257232" y="127118"/>
                    </a:cubicBezTo>
                    <a:cubicBezTo>
                      <a:pt x="282389" y="136141"/>
                      <a:pt x="298526" y="156157"/>
                      <a:pt x="303674" y="196813"/>
                    </a:cubicBezTo>
                    <a:cubicBezTo>
                      <a:pt x="308823" y="237468"/>
                      <a:pt x="339370" y="243103"/>
                      <a:pt x="364319" y="266508"/>
                    </a:cubicBezTo>
                    <a:cubicBezTo>
                      <a:pt x="395280" y="295547"/>
                      <a:pt x="370781" y="358259"/>
                      <a:pt x="370781" y="358259"/>
                    </a:cubicBezTo>
                    <a:lnTo>
                      <a:pt x="279762" y="358259"/>
                    </a:lnTo>
                    <a:lnTo>
                      <a:pt x="115487" y="98078"/>
                    </a:lnTo>
                    <a:lnTo>
                      <a:pt x="12893" y="91025"/>
                    </a:lnTo>
                    <a:close/>
                  </a:path>
                </a:pathLst>
              </a:custGeom>
              <a:solidFill>
                <a:srgbClr val="1D215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6" name="Google Shape;1384;p15">
                <a:extLst>
                  <a:ext uri="{FF2B5EF4-FFF2-40B4-BE49-F238E27FC236}">
                    <a16:creationId xmlns:a16="http://schemas.microsoft.com/office/drawing/2014/main" id="{A3AEB624-2BB7-5030-84B3-CB940A043139}"/>
                  </a:ext>
                </a:extLst>
              </p:cNvPr>
              <p:cNvSpPr/>
              <p:nvPr/>
            </p:nvSpPr>
            <p:spPr>
              <a:xfrm>
                <a:off x="10942191" y="4960341"/>
                <a:ext cx="93195" cy="434937"/>
              </a:xfrm>
              <a:custGeom>
                <a:avLst/>
                <a:gdLst/>
                <a:ahLst/>
                <a:cxnLst/>
                <a:rect l="l" t="t" r="r" b="b"/>
                <a:pathLst>
                  <a:path w="93195" h="434937" extrusionOk="0">
                    <a:moveTo>
                      <a:pt x="0" y="0"/>
                    </a:moveTo>
                    <a:lnTo>
                      <a:pt x="0" y="434938"/>
                    </a:lnTo>
                    <a:lnTo>
                      <a:pt x="38736" y="434938"/>
                    </a:lnTo>
                    <a:lnTo>
                      <a:pt x="93195" y="0"/>
                    </a:lnTo>
                    <a:lnTo>
                      <a:pt x="0" y="0"/>
                    </a:lnTo>
                    <a:close/>
                  </a:path>
                </a:pathLst>
              </a:custGeom>
              <a:solidFill>
                <a:srgbClr val="91939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20" name="Google Shape;1385;p15">
              <a:extLst>
                <a:ext uri="{FF2B5EF4-FFF2-40B4-BE49-F238E27FC236}">
                  <a16:creationId xmlns:a16="http://schemas.microsoft.com/office/drawing/2014/main" id="{26675257-B5A5-B4A6-568B-A97C3237D043}"/>
                </a:ext>
              </a:extLst>
            </p:cNvPr>
            <p:cNvSpPr/>
            <p:nvPr/>
          </p:nvSpPr>
          <p:spPr>
            <a:xfrm>
              <a:off x="2838087" y="5586722"/>
              <a:ext cx="1369643"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1" name="Google Shape;1386;p15">
              <a:extLst>
                <a:ext uri="{FF2B5EF4-FFF2-40B4-BE49-F238E27FC236}">
                  <a16:creationId xmlns:a16="http://schemas.microsoft.com/office/drawing/2014/main" id="{92257EF4-2D2D-B235-B54F-157E636C232B}"/>
                </a:ext>
              </a:extLst>
            </p:cNvPr>
            <p:cNvSpPr/>
            <p:nvPr/>
          </p:nvSpPr>
          <p:spPr>
            <a:xfrm>
              <a:off x="2838087" y="5215187"/>
              <a:ext cx="1369643"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2" name="Google Shape;1387;p15">
              <a:extLst>
                <a:ext uri="{FF2B5EF4-FFF2-40B4-BE49-F238E27FC236}">
                  <a16:creationId xmlns:a16="http://schemas.microsoft.com/office/drawing/2014/main" id="{B847CCAB-D8AB-7DA6-1BE8-BB1270ED88B1}"/>
                </a:ext>
              </a:extLst>
            </p:cNvPr>
            <p:cNvSpPr/>
            <p:nvPr/>
          </p:nvSpPr>
          <p:spPr>
            <a:xfrm>
              <a:off x="2838087" y="4847352"/>
              <a:ext cx="1369643"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 name="Google Shape;1388;p15">
              <a:extLst>
                <a:ext uri="{FF2B5EF4-FFF2-40B4-BE49-F238E27FC236}">
                  <a16:creationId xmlns:a16="http://schemas.microsoft.com/office/drawing/2014/main" id="{8261D3F8-B5C9-53D0-4CD2-AA13A4A587B5}"/>
                </a:ext>
              </a:extLst>
            </p:cNvPr>
            <p:cNvSpPr txBox="1"/>
            <p:nvPr/>
          </p:nvSpPr>
          <p:spPr>
            <a:xfrm>
              <a:off x="3182721" y="4872475"/>
              <a:ext cx="9759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Antrea</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4" name="Google Shape;1389;p15">
              <a:extLst>
                <a:ext uri="{FF2B5EF4-FFF2-40B4-BE49-F238E27FC236}">
                  <a16:creationId xmlns:a16="http://schemas.microsoft.com/office/drawing/2014/main" id="{EF14F888-8189-5CB1-97E6-9359364E0F3F}"/>
                </a:ext>
              </a:extLst>
            </p:cNvPr>
            <p:cNvSpPr txBox="1"/>
            <p:nvPr/>
          </p:nvSpPr>
          <p:spPr>
            <a:xfrm>
              <a:off x="3182721" y="5611845"/>
              <a:ext cx="950222"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Calico</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25" name="Google Shape;1390;p15">
              <a:extLst>
                <a:ext uri="{FF2B5EF4-FFF2-40B4-BE49-F238E27FC236}">
                  <a16:creationId xmlns:a16="http://schemas.microsoft.com/office/drawing/2014/main" id="{815373A0-8B30-B95E-4737-6AD16F038537}"/>
                </a:ext>
              </a:extLst>
            </p:cNvPr>
            <p:cNvPicPr preferRelativeResize="0"/>
            <p:nvPr/>
          </p:nvPicPr>
          <p:blipFill rotWithShape="1">
            <a:blip r:embed="rId7">
              <a:alphaModFix/>
            </a:blip>
            <a:srcRect/>
            <a:stretch/>
          </p:blipFill>
          <p:spPr>
            <a:xfrm>
              <a:off x="2946312" y="4889207"/>
              <a:ext cx="212716" cy="212716"/>
            </a:xfrm>
            <a:prstGeom prst="rect">
              <a:avLst/>
            </a:prstGeom>
            <a:noFill/>
            <a:ln>
              <a:noFill/>
            </a:ln>
          </p:spPr>
        </p:pic>
        <p:pic>
          <p:nvPicPr>
            <p:cNvPr id="26" name="Google Shape;1391;p15">
              <a:extLst>
                <a:ext uri="{FF2B5EF4-FFF2-40B4-BE49-F238E27FC236}">
                  <a16:creationId xmlns:a16="http://schemas.microsoft.com/office/drawing/2014/main" id="{7E9F9E7D-71E9-678C-A59A-25E9F6F45F4E}"/>
                </a:ext>
              </a:extLst>
            </p:cNvPr>
            <p:cNvPicPr preferRelativeResize="0"/>
            <p:nvPr/>
          </p:nvPicPr>
          <p:blipFill rotWithShape="1">
            <a:blip r:embed="rId3">
              <a:alphaModFix/>
            </a:blip>
            <a:srcRect/>
            <a:stretch/>
          </p:blipFill>
          <p:spPr>
            <a:xfrm>
              <a:off x="2928272" y="5260347"/>
              <a:ext cx="212615" cy="206106"/>
            </a:xfrm>
            <a:prstGeom prst="rect">
              <a:avLst/>
            </a:prstGeom>
            <a:noFill/>
            <a:ln>
              <a:noFill/>
            </a:ln>
          </p:spPr>
        </p:pic>
        <p:sp>
          <p:nvSpPr>
            <p:cNvPr id="27" name="Google Shape;1392;p15">
              <a:extLst>
                <a:ext uri="{FF2B5EF4-FFF2-40B4-BE49-F238E27FC236}">
                  <a16:creationId xmlns:a16="http://schemas.microsoft.com/office/drawing/2014/main" id="{622A1D06-335D-6B74-8E92-503AB66247F9}"/>
                </a:ext>
              </a:extLst>
            </p:cNvPr>
            <p:cNvSpPr txBox="1"/>
            <p:nvPr/>
          </p:nvSpPr>
          <p:spPr>
            <a:xfrm>
              <a:off x="3182721" y="5240310"/>
              <a:ext cx="91131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Gateway-api</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28" name="Google Shape;1393;p15">
              <a:extLst>
                <a:ext uri="{FF2B5EF4-FFF2-40B4-BE49-F238E27FC236}">
                  <a16:creationId xmlns:a16="http://schemas.microsoft.com/office/drawing/2014/main" id="{7BB55C07-DBAD-D10A-64F7-F5B225B9C235}"/>
                </a:ext>
              </a:extLst>
            </p:cNvPr>
            <p:cNvPicPr preferRelativeResize="0"/>
            <p:nvPr/>
          </p:nvPicPr>
          <p:blipFill rotWithShape="1">
            <a:blip r:embed="rId8">
              <a:alphaModFix/>
            </a:blip>
            <a:srcRect l="23515" r="19700"/>
            <a:stretch/>
          </p:blipFill>
          <p:spPr>
            <a:xfrm>
              <a:off x="2896741" y="5622801"/>
              <a:ext cx="330599" cy="224268"/>
            </a:xfrm>
            <a:prstGeom prst="rect">
              <a:avLst/>
            </a:prstGeom>
            <a:noFill/>
            <a:ln>
              <a:noFill/>
            </a:ln>
          </p:spPr>
        </p:pic>
        <p:sp>
          <p:nvSpPr>
            <p:cNvPr id="29" name="Google Shape;1394;p15">
              <a:extLst>
                <a:ext uri="{FF2B5EF4-FFF2-40B4-BE49-F238E27FC236}">
                  <a16:creationId xmlns:a16="http://schemas.microsoft.com/office/drawing/2014/main" id="{2C3E8E45-E465-4C18-B780-198825FB14F1}"/>
                </a:ext>
              </a:extLst>
            </p:cNvPr>
            <p:cNvSpPr/>
            <p:nvPr/>
          </p:nvSpPr>
          <p:spPr>
            <a:xfrm>
              <a:off x="4299564" y="5586722"/>
              <a:ext cx="1369643"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30" name="Google Shape;1395;p15">
              <a:extLst>
                <a:ext uri="{FF2B5EF4-FFF2-40B4-BE49-F238E27FC236}">
                  <a16:creationId xmlns:a16="http://schemas.microsoft.com/office/drawing/2014/main" id="{7E3DA2BB-6EEB-677B-025E-0D1B32A5BCA0}"/>
                </a:ext>
              </a:extLst>
            </p:cNvPr>
            <p:cNvSpPr/>
            <p:nvPr/>
          </p:nvSpPr>
          <p:spPr>
            <a:xfrm>
              <a:off x="4299564" y="5215187"/>
              <a:ext cx="1702463"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31" name="Google Shape;1396;p15">
              <a:extLst>
                <a:ext uri="{FF2B5EF4-FFF2-40B4-BE49-F238E27FC236}">
                  <a16:creationId xmlns:a16="http://schemas.microsoft.com/office/drawing/2014/main" id="{BEB1710D-8444-E17B-FCC6-76FAEDD9CAD6}"/>
                </a:ext>
              </a:extLst>
            </p:cNvPr>
            <p:cNvSpPr/>
            <p:nvPr/>
          </p:nvSpPr>
          <p:spPr>
            <a:xfrm>
              <a:off x="4299564" y="4847352"/>
              <a:ext cx="1702463"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32" name="Google Shape;1397;p15">
              <a:extLst>
                <a:ext uri="{FF2B5EF4-FFF2-40B4-BE49-F238E27FC236}">
                  <a16:creationId xmlns:a16="http://schemas.microsoft.com/office/drawing/2014/main" id="{538A31A4-874C-9146-5EB3-38BF6B3C52E7}"/>
                </a:ext>
              </a:extLst>
            </p:cNvPr>
            <p:cNvSpPr txBox="1"/>
            <p:nvPr/>
          </p:nvSpPr>
          <p:spPr>
            <a:xfrm>
              <a:off x="4644197" y="4872475"/>
              <a:ext cx="116957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kapp-controller</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3" name="Google Shape;1398;p15">
              <a:extLst>
                <a:ext uri="{FF2B5EF4-FFF2-40B4-BE49-F238E27FC236}">
                  <a16:creationId xmlns:a16="http://schemas.microsoft.com/office/drawing/2014/main" id="{34F185C8-7983-8EC3-73F2-AC7AF963D538}"/>
                </a:ext>
              </a:extLst>
            </p:cNvPr>
            <p:cNvSpPr txBox="1"/>
            <p:nvPr/>
          </p:nvSpPr>
          <p:spPr>
            <a:xfrm>
              <a:off x="4644198" y="5611845"/>
              <a:ext cx="950222"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vSphere-cpi</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4" name="Google Shape;1399;p15">
              <a:extLst>
                <a:ext uri="{FF2B5EF4-FFF2-40B4-BE49-F238E27FC236}">
                  <a16:creationId xmlns:a16="http://schemas.microsoft.com/office/drawing/2014/main" id="{B5380D93-0542-AB2A-ABC5-B28A946F0833}"/>
                </a:ext>
              </a:extLst>
            </p:cNvPr>
            <p:cNvSpPr txBox="1"/>
            <p:nvPr/>
          </p:nvSpPr>
          <p:spPr>
            <a:xfrm>
              <a:off x="4644198" y="5240310"/>
              <a:ext cx="1474534"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secret-gen controller</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35" name="Google Shape;1400;p15">
              <a:extLst>
                <a:ext uri="{FF2B5EF4-FFF2-40B4-BE49-F238E27FC236}">
                  <a16:creationId xmlns:a16="http://schemas.microsoft.com/office/drawing/2014/main" id="{55C2DA90-C9C1-CD0C-DC67-5DA5C08EEF86}"/>
                </a:ext>
              </a:extLst>
            </p:cNvPr>
            <p:cNvPicPr preferRelativeResize="0"/>
            <p:nvPr/>
          </p:nvPicPr>
          <p:blipFill rotWithShape="1">
            <a:blip r:embed="rId9">
              <a:alphaModFix/>
            </a:blip>
            <a:srcRect/>
            <a:stretch/>
          </p:blipFill>
          <p:spPr>
            <a:xfrm>
              <a:off x="4398264" y="5628577"/>
              <a:ext cx="212716" cy="212716"/>
            </a:xfrm>
            <a:prstGeom prst="rect">
              <a:avLst/>
            </a:prstGeom>
            <a:noFill/>
            <a:ln>
              <a:noFill/>
            </a:ln>
          </p:spPr>
        </p:pic>
        <p:pic>
          <p:nvPicPr>
            <p:cNvPr id="36" name="Google Shape;1401;p15">
              <a:extLst>
                <a:ext uri="{FF2B5EF4-FFF2-40B4-BE49-F238E27FC236}">
                  <a16:creationId xmlns:a16="http://schemas.microsoft.com/office/drawing/2014/main" id="{67D5A45C-241E-5ECC-C0D7-3260C8A634BF}"/>
                </a:ext>
              </a:extLst>
            </p:cNvPr>
            <p:cNvPicPr preferRelativeResize="0"/>
            <p:nvPr/>
          </p:nvPicPr>
          <p:blipFill rotWithShape="1">
            <a:blip r:embed="rId10">
              <a:alphaModFix/>
            </a:blip>
            <a:srcRect/>
            <a:stretch/>
          </p:blipFill>
          <p:spPr>
            <a:xfrm>
              <a:off x="4390753" y="5251197"/>
              <a:ext cx="224406" cy="224406"/>
            </a:xfrm>
            <a:prstGeom prst="rect">
              <a:avLst/>
            </a:prstGeom>
            <a:noFill/>
            <a:ln>
              <a:noFill/>
            </a:ln>
          </p:spPr>
        </p:pic>
        <p:pic>
          <p:nvPicPr>
            <p:cNvPr id="37" name="Google Shape;1402;p15">
              <a:extLst>
                <a:ext uri="{FF2B5EF4-FFF2-40B4-BE49-F238E27FC236}">
                  <a16:creationId xmlns:a16="http://schemas.microsoft.com/office/drawing/2014/main" id="{D82CC59B-AC6E-D86E-1B28-17DE64495F18}"/>
                </a:ext>
              </a:extLst>
            </p:cNvPr>
            <p:cNvPicPr preferRelativeResize="0"/>
            <p:nvPr/>
          </p:nvPicPr>
          <p:blipFill rotWithShape="1">
            <a:blip r:embed="rId11">
              <a:alphaModFix/>
            </a:blip>
            <a:srcRect/>
            <a:stretch/>
          </p:blipFill>
          <p:spPr>
            <a:xfrm>
              <a:off x="4385568" y="4902204"/>
              <a:ext cx="231896" cy="186723"/>
            </a:xfrm>
            <a:prstGeom prst="rect">
              <a:avLst/>
            </a:prstGeom>
            <a:noFill/>
            <a:ln>
              <a:noFill/>
            </a:ln>
          </p:spPr>
        </p:pic>
        <p:grpSp>
          <p:nvGrpSpPr>
            <p:cNvPr id="38" name="Google Shape;1403;p15">
              <a:extLst>
                <a:ext uri="{FF2B5EF4-FFF2-40B4-BE49-F238E27FC236}">
                  <a16:creationId xmlns:a16="http://schemas.microsoft.com/office/drawing/2014/main" id="{E2F0834F-122D-8CFC-32DF-64907EB9D1AE}"/>
                </a:ext>
              </a:extLst>
            </p:cNvPr>
            <p:cNvGrpSpPr/>
            <p:nvPr/>
          </p:nvGrpSpPr>
          <p:grpSpPr>
            <a:xfrm>
              <a:off x="5725008" y="5583397"/>
              <a:ext cx="1514210" cy="296426"/>
              <a:chOff x="5810551" y="4736059"/>
              <a:chExt cx="1514210" cy="296426"/>
            </a:xfrm>
          </p:grpSpPr>
          <p:sp>
            <p:nvSpPr>
              <p:cNvPr id="42" name="Google Shape;1404;p15">
                <a:extLst>
                  <a:ext uri="{FF2B5EF4-FFF2-40B4-BE49-F238E27FC236}">
                    <a16:creationId xmlns:a16="http://schemas.microsoft.com/office/drawing/2014/main" id="{CB8ED30E-C31A-036B-A31F-3A7B84701178}"/>
                  </a:ext>
                </a:extLst>
              </p:cNvPr>
              <p:cNvSpPr/>
              <p:nvPr/>
            </p:nvSpPr>
            <p:spPr>
              <a:xfrm>
                <a:off x="5810551" y="4736059"/>
                <a:ext cx="1436251" cy="296426"/>
              </a:xfrm>
              <a:prstGeom prst="roundRect">
                <a:avLst>
                  <a:gd name="adj" fmla="val 6335"/>
                </a:avLst>
              </a:prstGeom>
              <a:solidFill>
                <a:schemeClr val="lt1"/>
              </a:solidFill>
              <a:ln w="9525" cap="flat" cmpd="sng">
                <a:solidFill>
                  <a:schemeClr val="accent1">
                    <a:alpha val="49803"/>
                  </a:schemeClr>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3" name="Google Shape;1405;p15">
                <a:extLst>
                  <a:ext uri="{FF2B5EF4-FFF2-40B4-BE49-F238E27FC236}">
                    <a16:creationId xmlns:a16="http://schemas.microsoft.com/office/drawing/2014/main" id="{C11C795C-E2BE-EEBD-A9C9-916A4D316C1A}"/>
                  </a:ext>
                </a:extLst>
              </p:cNvPr>
              <p:cNvSpPr txBox="1"/>
              <p:nvPr/>
            </p:nvSpPr>
            <p:spPr>
              <a:xfrm>
                <a:off x="6155184" y="4761182"/>
                <a:ext cx="116957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metrics-server</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44" name="Google Shape;1406;p15">
                <a:extLst>
                  <a:ext uri="{FF2B5EF4-FFF2-40B4-BE49-F238E27FC236}">
                    <a16:creationId xmlns:a16="http://schemas.microsoft.com/office/drawing/2014/main" id="{20BFE009-77B3-BCBC-8453-F59467DCE4E8}"/>
                  </a:ext>
                </a:extLst>
              </p:cNvPr>
              <p:cNvPicPr preferRelativeResize="0"/>
              <p:nvPr/>
            </p:nvPicPr>
            <p:blipFill rotWithShape="1">
              <a:blip r:embed="rId12">
                <a:alphaModFix/>
              </a:blip>
              <a:srcRect/>
              <a:stretch/>
            </p:blipFill>
            <p:spPr>
              <a:xfrm>
                <a:off x="5865929" y="4742904"/>
                <a:ext cx="280595" cy="282737"/>
              </a:xfrm>
              <a:prstGeom prst="rect">
                <a:avLst/>
              </a:prstGeom>
              <a:noFill/>
              <a:ln>
                <a:noFill/>
              </a:ln>
            </p:spPr>
          </p:pic>
        </p:grpSp>
        <p:sp>
          <p:nvSpPr>
            <p:cNvPr id="39" name="Google Shape;1407;p15">
              <a:extLst>
                <a:ext uri="{FF2B5EF4-FFF2-40B4-BE49-F238E27FC236}">
                  <a16:creationId xmlns:a16="http://schemas.microsoft.com/office/drawing/2014/main" id="{526BD4DC-0304-1E9E-68DC-1CF0720CD43F}"/>
                </a:ext>
              </a:extLst>
            </p:cNvPr>
            <p:cNvSpPr/>
            <p:nvPr/>
          </p:nvSpPr>
          <p:spPr>
            <a:xfrm>
              <a:off x="713283" y="4634188"/>
              <a:ext cx="6609640" cy="1361131"/>
            </a:xfrm>
            <a:prstGeom prst="roundRect">
              <a:avLst>
                <a:gd name="adj" fmla="val 2820"/>
              </a:avLst>
            </a:prstGeom>
            <a:no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0" name="Google Shape;1408;p15">
              <a:extLst>
                <a:ext uri="{FF2B5EF4-FFF2-40B4-BE49-F238E27FC236}">
                  <a16:creationId xmlns:a16="http://schemas.microsoft.com/office/drawing/2014/main" id="{B72FC78E-5B92-CB64-F493-EF2E178BCCB3}"/>
                </a:ext>
              </a:extLst>
            </p:cNvPr>
            <p:cNvSpPr txBox="1"/>
            <p:nvPr/>
          </p:nvSpPr>
          <p:spPr>
            <a:xfrm>
              <a:off x="2948875" y="4475713"/>
              <a:ext cx="2136600" cy="323699"/>
            </a:xfrm>
            <a:prstGeom prst="rect">
              <a:avLst/>
            </a:prstGeom>
            <a:solidFill>
              <a:srgbClr val="F1F9FC"/>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a:ln>
                    <a:noFill/>
                  </a:ln>
                  <a:solidFill>
                    <a:srgbClr val="007985"/>
                  </a:solidFill>
                  <a:effectLst/>
                  <a:uLnTx/>
                  <a:uFillTx/>
                  <a:latin typeface="Arial"/>
                  <a:ea typeface="Arial"/>
                  <a:cs typeface="Arial"/>
                  <a:sym typeface="Arial"/>
                </a:rPr>
                <a:t>vSphere K8s Release (VKr)</a:t>
              </a:r>
              <a:endParaRPr kumimoji="0" sz="1200" b="0" i="0" u="none" strike="noStrike" kern="1200" cap="none" spc="0" normalizeH="0" baseline="0" noProof="0">
                <a:ln>
                  <a:noFill/>
                </a:ln>
                <a:solidFill>
                  <a:srgbClr val="007985"/>
                </a:solidFill>
                <a:effectLst/>
                <a:uLnTx/>
                <a:uFillTx/>
                <a:latin typeface="Arial"/>
                <a:ea typeface="Arial"/>
                <a:cs typeface="Arial"/>
                <a:sym typeface="Arial"/>
              </a:endParaRPr>
            </a:p>
          </p:txBody>
        </p:sp>
        <p:sp>
          <p:nvSpPr>
            <p:cNvPr id="41" name="Google Shape;1409;p15">
              <a:extLst>
                <a:ext uri="{FF2B5EF4-FFF2-40B4-BE49-F238E27FC236}">
                  <a16:creationId xmlns:a16="http://schemas.microsoft.com/office/drawing/2014/main" id="{68802F64-DFEE-72CD-DC38-52F7A44F3C34}"/>
                </a:ext>
              </a:extLst>
            </p:cNvPr>
            <p:cNvSpPr txBox="1"/>
            <p:nvPr/>
          </p:nvSpPr>
          <p:spPr>
            <a:xfrm>
              <a:off x="2416075" y="4055366"/>
              <a:ext cx="3202200" cy="545287"/>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400" b="1" i="0" u="none" strike="noStrike" kern="1200" cap="none" spc="0" normalizeH="0" baseline="0" noProof="0">
                  <a:ln>
                    <a:noFill/>
                  </a:ln>
                  <a:solidFill>
                    <a:srgbClr val="007A86"/>
                  </a:solidFill>
                  <a:effectLst/>
                  <a:uLnTx/>
                  <a:uFillTx/>
                  <a:latin typeface="Arial"/>
                  <a:ea typeface="Arial"/>
                  <a:cs typeface="Arial"/>
                  <a:sym typeface="Arial"/>
                </a:rPr>
                <a:t>Core Packages </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000" b="1" i="0" u="none" strike="noStrike" kern="1200" cap="none" spc="0" normalizeH="0" baseline="0" noProof="0">
                  <a:ln>
                    <a:noFill/>
                  </a:ln>
                  <a:solidFill>
                    <a:srgbClr val="007A86"/>
                  </a:solidFill>
                  <a:effectLst/>
                  <a:uLnTx/>
                  <a:uFillTx/>
                  <a:latin typeface="Arial"/>
                  <a:ea typeface="Arial"/>
                  <a:cs typeface="Arial"/>
                  <a:sym typeface="Arial"/>
                </a:rPr>
                <a:t>(pre-installed, pre-enabled)</a:t>
              </a:r>
              <a:endParaRPr kumimoji="0" sz="1000" b="1" i="0" u="none" strike="noStrike" kern="1200" cap="none" spc="0" normalizeH="0" baseline="0" noProof="0">
                <a:ln>
                  <a:noFill/>
                </a:ln>
                <a:solidFill>
                  <a:srgbClr val="007A86"/>
                </a:solidFill>
                <a:effectLst/>
                <a:uLnTx/>
                <a:uFillTx/>
                <a:latin typeface="Arial"/>
                <a:ea typeface="Arial"/>
                <a:cs typeface="Arial"/>
                <a:sym typeface="Arial"/>
              </a:endParaRPr>
            </a:p>
          </p:txBody>
        </p:sp>
      </p:grpSp>
      <p:grpSp>
        <p:nvGrpSpPr>
          <p:cNvPr id="69" name="Google Shape;1410;p15">
            <a:extLst>
              <a:ext uri="{FF2B5EF4-FFF2-40B4-BE49-F238E27FC236}">
                <a16:creationId xmlns:a16="http://schemas.microsoft.com/office/drawing/2014/main" id="{05C733C9-437B-F869-DAFF-5244EE77B6C9}"/>
              </a:ext>
            </a:extLst>
          </p:cNvPr>
          <p:cNvGrpSpPr/>
          <p:nvPr/>
        </p:nvGrpSpPr>
        <p:grpSpPr>
          <a:xfrm rot="10800000">
            <a:off x="4388214" y="3581674"/>
            <a:ext cx="358678" cy="349913"/>
            <a:chOff x="5000233" y="3506447"/>
            <a:chExt cx="283795" cy="388519"/>
          </a:xfrm>
        </p:grpSpPr>
        <p:sp>
          <p:nvSpPr>
            <p:cNvPr id="70" name="Google Shape;1411;p15">
              <a:extLst>
                <a:ext uri="{FF2B5EF4-FFF2-40B4-BE49-F238E27FC236}">
                  <a16:creationId xmlns:a16="http://schemas.microsoft.com/office/drawing/2014/main" id="{8ABB7ACE-2F83-A005-96C5-6C85436AE315}"/>
                </a:ext>
              </a:extLst>
            </p:cNvPr>
            <p:cNvSpPr/>
            <p:nvPr/>
          </p:nvSpPr>
          <p:spPr>
            <a:xfrm rot="-5400000">
              <a:off x="5060499" y="367143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0000"/>
              </a:schemeClr>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71" name="Google Shape;1412;p15">
              <a:extLst>
                <a:ext uri="{FF2B5EF4-FFF2-40B4-BE49-F238E27FC236}">
                  <a16:creationId xmlns:a16="http://schemas.microsoft.com/office/drawing/2014/main" id="{FDC69A1B-078F-BE6F-6AC8-8F4FD1C1408A}"/>
                </a:ext>
              </a:extLst>
            </p:cNvPr>
            <p:cNvSpPr/>
            <p:nvPr/>
          </p:nvSpPr>
          <p:spPr>
            <a:xfrm rot="-5400000">
              <a:off x="5060499" y="355880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1176"/>
              </a:schemeClr>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72" name="Google Shape;1413;p15">
              <a:extLst>
                <a:ext uri="{FF2B5EF4-FFF2-40B4-BE49-F238E27FC236}">
                  <a16:creationId xmlns:a16="http://schemas.microsoft.com/office/drawing/2014/main" id="{2AD8F874-04D8-5360-C4F2-FB41FC6F0E6D}"/>
                </a:ext>
              </a:extLst>
            </p:cNvPr>
            <p:cNvSpPr/>
            <p:nvPr/>
          </p:nvSpPr>
          <p:spPr>
            <a:xfrm rot="-5400000">
              <a:off x="5060499" y="3446180"/>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grpSp>
      <p:sp>
        <p:nvSpPr>
          <p:cNvPr id="73" name="Google Shape;1414;p15">
            <a:extLst>
              <a:ext uri="{FF2B5EF4-FFF2-40B4-BE49-F238E27FC236}">
                <a16:creationId xmlns:a16="http://schemas.microsoft.com/office/drawing/2014/main" id="{8CF8BE7E-CFEF-E753-C45B-6CD2D5370778}"/>
              </a:ext>
            </a:extLst>
          </p:cNvPr>
          <p:cNvSpPr/>
          <p:nvPr/>
        </p:nvSpPr>
        <p:spPr>
          <a:xfrm>
            <a:off x="607920" y="1402206"/>
            <a:ext cx="7919258" cy="2272204"/>
          </a:xfrm>
          <a:prstGeom prst="roundRect">
            <a:avLst>
              <a:gd name="adj" fmla="val 1989"/>
            </a:avLst>
          </a:prstGeom>
          <a:noFill/>
          <a:ln w="12700" cap="flat" cmpd="sng">
            <a:solidFill>
              <a:schemeClr val="accent3"/>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74" name="Google Shape;1415;p15">
            <a:extLst>
              <a:ext uri="{FF2B5EF4-FFF2-40B4-BE49-F238E27FC236}">
                <a16:creationId xmlns:a16="http://schemas.microsoft.com/office/drawing/2014/main" id="{C60EF666-09A8-041B-697F-5DA75D658230}"/>
              </a:ext>
            </a:extLst>
          </p:cNvPr>
          <p:cNvGrpSpPr/>
          <p:nvPr/>
        </p:nvGrpSpPr>
        <p:grpSpPr>
          <a:xfrm>
            <a:off x="978986" y="2079611"/>
            <a:ext cx="7081196" cy="1246703"/>
            <a:chOff x="511334" y="2004044"/>
            <a:chExt cx="6136341" cy="1035796"/>
          </a:xfrm>
        </p:grpSpPr>
        <p:sp>
          <p:nvSpPr>
            <p:cNvPr id="75" name="Google Shape;1416;p15">
              <a:extLst>
                <a:ext uri="{FF2B5EF4-FFF2-40B4-BE49-F238E27FC236}">
                  <a16:creationId xmlns:a16="http://schemas.microsoft.com/office/drawing/2014/main" id="{6630A830-F28A-AADA-6A73-C374260F47F7}"/>
                </a:ext>
              </a:extLst>
            </p:cNvPr>
            <p:cNvSpPr/>
            <p:nvPr/>
          </p:nvSpPr>
          <p:spPr>
            <a:xfrm>
              <a:off x="511334" y="2743414"/>
              <a:ext cx="1625971"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76" name="Google Shape;1417;p15">
              <a:extLst>
                <a:ext uri="{FF2B5EF4-FFF2-40B4-BE49-F238E27FC236}">
                  <a16:creationId xmlns:a16="http://schemas.microsoft.com/office/drawing/2014/main" id="{227F51AF-F9B3-59D5-6F78-9850AA865981}"/>
                </a:ext>
              </a:extLst>
            </p:cNvPr>
            <p:cNvSpPr/>
            <p:nvPr/>
          </p:nvSpPr>
          <p:spPr>
            <a:xfrm>
              <a:off x="517357" y="2371879"/>
              <a:ext cx="1625971"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77" name="Google Shape;1418;p15">
              <a:extLst>
                <a:ext uri="{FF2B5EF4-FFF2-40B4-BE49-F238E27FC236}">
                  <a16:creationId xmlns:a16="http://schemas.microsoft.com/office/drawing/2014/main" id="{B2FCE0D2-7664-D94C-2660-95F610512E3F}"/>
                </a:ext>
              </a:extLst>
            </p:cNvPr>
            <p:cNvSpPr/>
            <p:nvPr/>
          </p:nvSpPr>
          <p:spPr>
            <a:xfrm>
              <a:off x="532900" y="2004044"/>
              <a:ext cx="1607848"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78" name="Google Shape;1419;p15">
              <a:extLst>
                <a:ext uri="{FF2B5EF4-FFF2-40B4-BE49-F238E27FC236}">
                  <a16:creationId xmlns:a16="http://schemas.microsoft.com/office/drawing/2014/main" id="{CD13962D-ED80-95D4-3B97-9276ABF7F1D5}"/>
                </a:ext>
              </a:extLst>
            </p:cNvPr>
            <p:cNvSpPr txBox="1"/>
            <p:nvPr/>
          </p:nvSpPr>
          <p:spPr>
            <a:xfrm>
              <a:off x="821860" y="2029167"/>
              <a:ext cx="9759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Contour</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9" name="Google Shape;1420;p15">
              <a:extLst>
                <a:ext uri="{FF2B5EF4-FFF2-40B4-BE49-F238E27FC236}">
                  <a16:creationId xmlns:a16="http://schemas.microsoft.com/office/drawing/2014/main" id="{FFFDD42A-B267-CC71-B184-406A55C0C1B0}"/>
                </a:ext>
              </a:extLst>
            </p:cNvPr>
            <p:cNvSpPr txBox="1"/>
            <p:nvPr/>
          </p:nvSpPr>
          <p:spPr>
            <a:xfrm>
              <a:off x="821860" y="2397002"/>
              <a:ext cx="1004513"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CertManager</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 name="Google Shape;1421;p15">
              <a:extLst>
                <a:ext uri="{FF2B5EF4-FFF2-40B4-BE49-F238E27FC236}">
                  <a16:creationId xmlns:a16="http://schemas.microsoft.com/office/drawing/2014/main" id="{7DCC46E1-BA6C-FA10-E531-37E5BB960D78}"/>
                </a:ext>
              </a:extLst>
            </p:cNvPr>
            <p:cNvSpPr txBox="1"/>
            <p:nvPr/>
          </p:nvSpPr>
          <p:spPr>
            <a:xfrm>
              <a:off x="818083" y="2768537"/>
              <a:ext cx="123769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Cluster Autoscaler</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1" name="Google Shape;1422;p15">
              <a:extLst>
                <a:ext uri="{FF2B5EF4-FFF2-40B4-BE49-F238E27FC236}">
                  <a16:creationId xmlns:a16="http://schemas.microsoft.com/office/drawing/2014/main" id="{3C8FBF65-DE26-F000-632E-25E4453D99D3}"/>
                </a:ext>
              </a:extLst>
            </p:cNvPr>
            <p:cNvSpPr/>
            <p:nvPr/>
          </p:nvSpPr>
          <p:spPr>
            <a:xfrm>
              <a:off x="2280393" y="2743414"/>
              <a:ext cx="1290389"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2" name="Google Shape;1423;p15">
              <a:extLst>
                <a:ext uri="{FF2B5EF4-FFF2-40B4-BE49-F238E27FC236}">
                  <a16:creationId xmlns:a16="http://schemas.microsoft.com/office/drawing/2014/main" id="{7F91AF57-54F3-1F87-2906-3442D9E8AC32}"/>
                </a:ext>
              </a:extLst>
            </p:cNvPr>
            <p:cNvSpPr/>
            <p:nvPr/>
          </p:nvSpPr>
          <p:spPr>
            <a:xfrm>
              <a:off x="2280393" y="2371879"/>
              <a:ext cx="1290389"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3" name="Google Shape;1424;p15">
              <a:extLst>
                <a:ext uri="{FF2B5EF4-FFF2-40B4-BE49-F238E27FC236}">
                  <a16:creationId xmlns:a16="http://schemas.microsoft.com/office/drawing/2014/main" id="{7EC89F15-DF48-10D7-C56C-14C5B2875B50}"/>
                </a:ext>
              </a:extLst>
            </p:cNvPr>
            <p:cNvSpPr/>
            <p:nvPr/>
          </p:nvSpPr>
          <p:spPr>
            <a:xfrm>
              <a:off x="2280393" y="2004044"/>
              <a:ext cx="1290389"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4" name="Google Shape;1425;p15">
              <a:extLst>
                <a:ext uri="{FF2B5EF4-FFF2-40B4-BE49-F238E27FC236}">
                  <a16:creationId xmlns:a16="http://schemas.microsoft.com/office/drawing/2014/main" id="{65118B38-693C-5B6A-4659-3747E4842875}"/>
                </a:ext>
              </a:extLst>
            </p:cNvPr>
            <p:cNvSpPr txBox="1"/>
            <p:nvPr/>
          </p:nvSpPr>
          <p:spPr>
            <a:xfrm>
              <a:off x="2625027" y="2029167"/>
              <a:ext cx="76201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Harbor</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5" name="Google Shape;1426;p15">
              <a:extLst>
                <a:ext uri="{FF2B5EF4-FFF2-40B4-BE49-F238E27FC236}">
                  <a16:creationId xmlns:a16="http://schemas.microsoft.com/office/drawing/2014/main" id="{701CDDD5-0181-BD62-F78A-1043CD5D52E6}"/>
                </a:ext>
              </a:extLst>
            </p:cNvPr>
            <p:cNvSpPr txBox="1"/>
            <p:nvPr/>
          </p:nvSpPr>
          <p:spPr>
            <a:xfrm>
              <a:off x="2625027" y="2768537"/>
              <a:ext cx="74196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Velero</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6" name="Google Shape;1427;p15">
              <a:extLst>
                <a:ext uri="{FF2B5EF4-FFF2-40B4-BE49-F238E27FC236}">
                  <a16:creationId xmlns:a16="http://schemas.microsoft.com/office/drawing/2014/main" id="{BEA31892-EFB6-0EBA-960A-28F5AA06D787}"/>
                </a:ext>
              </a:extLst>
            </p:cNvPr>
            <p:cNvSpPr txBox="1"/>
            <p:nvPr/>
          </p:nvSpPr>
          <p:spPr>
            <a:xfrm>
              <a:off x="2625027" y="2397002"/>
              <a:ext cx="711589"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Telegraf</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7" name="Google Shape;1428;p15">
              <a:extLst>
                <a:ext uri="{FF2B5EF4-FFF2-40B4-BE49-F238E27FC236}">
                  <a16:creationId xmlns:a16="http://schemas.microsoft.com/office/drawing/2014/main" id="{91D4D141-5307-109A-44B7-5DFFDC10C7D3}"/>
                </a:ext>
              </a:extLst>
            </p:cNvPr>
            <p:cNvSpPr/>
            <p:nvPr/>
          </p:nvSpPr>
          <p:spPr>
            <a:xfrm>
              <a:off x="3712374" y="2743414"/>
              <a:ext cx="1329294"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8" name="Google Shape;1429;p15">
              <a:extLst>
                <a:ext uri="{FF2B5EF4-FFF2-40B4-BE49-F238E27FC236}">
                  <a16:creationId xmlns:a16="http://schemas.microsoft.com/office/drawing/2014/main" id="{6AA2C971-60CC-9DE3-8F20-008352F31655}"/>
                </a:ext>
              </a:extLst>
            </p:cNvPr>
            <p:cNvSpPr/>
            <p:nvPr/>
          </p:nvSpPr>
          <p:spPr>
            <a:xfrm>
              <a:off x="3712375" y="2371879"/>
              <a:ext cx="1329294"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9" name="Google Shape;1430;p15">
              <a:extLst>
                <a:ext uri="{FF2B5EF4-FFF2-40B4-BE49-F238E27FC236}">
                  <a16:creationId xmlns:a16="http://schemas.microsoft.com/office/drawing/2014/main" id="{305AEDB8-D094-24C7-7824-C69878464E43}"/>
                </a:ext>
              </a:extLst>
            </p:cNvPr>
            <p:cNvSpPr/>
            <p:nvPr/>
          </p:nvSpPr>
          <p:spPr>
            <a:xfrm>
              <a:off x="3712375" y="2004044"/>
              <a:ext cx="1329294"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90" name="Google Shape;1431;p15">
              <a:extLst>
                <a:ext uri="{FF2B5EF4-FFF2-40B4-BE49-F238E27FC236}">
                  <a16:creationId xmlns:a16="http://schemas.microsoft.com/office/drawing/2014/main" id="{78056375-58D7-DDA4-D7CB-EDDBC3542017}"/>
                </a:ext>
              </a:extLst>
            </p:cNvPr>
            <p:cNvSpPr txBox="1"/>
            <p:nvPr/>
          </p:nvSpPr>
          <p:spPr>
            <a:xfrm>
              <a:off x="4057007" y="2029167"/>
              <a:ext cx="950223"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Prometheus</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91" name="Google Shape;1432;p15">
              <a:extLst>
                <a:ext uri="{FF2B5EF4-FFF2-40B4-BE49-F238E27FC236}">
                  <a16:creationId xmlns:a16="http://schemas.microsoft.com/office/drawing/2014/main" id="{0E240FEF-2D08-E1C5-68C1-BD9F733D480D}"/>
                </a:ext>
              </a:extLst>
            </p:cNvPr>
            <p:cNvSpPr txBox="1"/>
            <p:nvPr/>
          </p:nvSpPr>
          <p:spPr>
            <a:xfrm>
              <a:off x="4057008" y="2768537"/>
              <a:ext cx="699214"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FluentBit</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92" name="Google Shape;1433;p15">
              <a:extLst>
                <a:ext uri="{FF2B5EF4-FFF2-40B4-BE49-F238E27FC236}">
                  <a16:creationId xmlns:a16="http://schemas.microsoft.com/office/drawing/2014/main" id="{4F3F44CC-D81A-773B-76C5-0FF8BFE8DD0B}"/>
                </a:ext>
              </a:extLst>
            </p:cNvPr>
            <p:cNvPicPr preferRelativeResize="0"/>
            <p:nvPr/>
          </p:nvPicPr>
          <p:blipFill rotWithShape="1">
            <a:blip r:embed="rId13">
              <a:alphaModFix/>
            </a:blip>
            <a:srcRect/>
            <a:stretch/>
          </p:blipFill>
          <p:spPr>
            <a:xfrm>
              <a:off x="589099" y="2024418"/>
              <a:ext cx="257274" cy="257274"/>
            </a:xfrm>
            <a:prstGeom prst="rect">
              <a:avLst/>
            </a:prstGeom>
            <a:noFill/>
            <a:ln>
              <a:noFill/>
            </a:ln>
          </p:spPr>
        </p:pic>
        <p:sp>
          <p:nvSpPr>
            <p:cNvPr id="93" name="Google Shape;1434;p15">
              <a:extLst>
                <a:ext uri="{FF2B5EF4-FFF2-40B4-BE49-F238E27FC236}">
                  <a16:creationId xmlns:a16="http://schemas.microsoft.com/office/drawing/2014/main" id="{6976B7CD-3933-1BDC-4FF6-0D31C1125397}"/>
                </a:ext>
              </a:extLst>
            </p:cNvPr>
            <p:cNvSpPr/>
            <p:nvPr/>
          </p:nvSpPr>
          <p:spPr>
            <a:xfrm>
              <a:off x="606054" y="2403189"/>
              <a:ext cx="234050" cy="231255"/>
            </a:xfrm>
            <a:prstGeom prst="ellipse">
              <a:avLst/>
            </a:prstGeom>
            <a:blipFill rotWithShape="1">
              <a:blip r:embed="rId14">
                <a:alphaModFix/>
              </a:blip>
              <a:stretch>
                <a:fillRect/>
              </a:stretch>
            </a:blip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94" name="Google Shape;1435;p15">
              <a:extLst>
                <a:ext uri="{FF2B5EF4-FFF2-40B4-BE49-F238E27FC236}">
                  <a16:creationId xmlns:a16="http://schemas.microsoft.com/office/drawing/2014/main" id="{70EEE91D-5147-9863-3E52-70D7FD3A3C73}"/>
                </a:ext>
              </a:extLst>
            </p:cNvPr>
            <p:cNvPicPr preferRelativeResize="0"/>
            <p:nvPr/>
          </p:nvPicPr>
          <p:blipFill rotWithShape="1">
            <a:blip r:embed="rId15">
              <a:alphaModFix/>
            </a:blip>
            <a:srcRect l="12650" t="13919" r="13476" b="7668"/>
            <a:stretch/>
          </p:blipFill>
          <p:spPr>
            <a:xfrm>
              <a:off x="562763" y="2771286"/>
              <a:ext cx="303490" cy="241287"/>
            </a:xfrm>
            <a:prstGeom prst="rect">
              <a:avLst/>
            </a:prstGeom>
            <a:noFill/>
            <a:ln>
              <a:noFill/>
            </a:ln>
          </p:spPr>
        </p:pic>
        <p:sp>
          <p:nvSpPr>
            <p:cNvPr id="95" name="Google Shape;1436;p15">
              <a:extLst>
                <a:ext uri="{FF2B5EF4-FFF2-40B4-BE49-F238E27FC236}">
                  <a16:creationId xmlns:a16="http://schemas.microsoft.com/office/drawing/2014/main" id="{51D0E609-3DE2-E5E0-9F01-7A1FCDCC9C4A}"/>
                </a:ext>
              </a:extLst>
            </p:cNvPr>
            <p:cNvSpPr/>
            <p:nvPr/>
          </p:nvSpPr>
          <p:spPr>
            <a:xfrm>
              <a:off x="2362777" y="2040421"/>
              <a:ext cx="234050" cy="226859"/>
            </a:xfrm>
            <a:prstGeom prst="ellipse">
              <a:avLst/>
            </a:prstGeom>
            <a:blipFill rotWithShape="1">
              <a:blip r:embed="rId16">
                <a:alphaModFix/>
              </a:blip>
              <a:stretch>
                <a:fillRect/>
              </a:stretch>
            </a:blipFill>
            <a:ln>
              <a:noFill/>
            </a:ln>
          </p:spPr>
          <p:txBody>
            <a:bodyPr spcFirstLastPara="1" wrap="square" lIns="91400" tIns="45700" rIns="91400"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96" name="Google Shape;1437;p15">
              <a:extLst>
                <a:ext uri="{FF2B5EF4-FFF2-40B4-BE49-F238E27FC236}">
                  <a16:creationId xmlns:a16="http://schemas.microsoft.com/office/drawing/2014/main" id="{CF611099-B103-77DC-5DED-EE0241F7D84D}"/>
                </a:ext>
              </a:extLst>
            </p:cNvPr>
            <p:cNvPicPr preferRelativeResize="0"/>
            <p:nvPr/>
          </p:nvPicPr>
          <p:blipFill rotWithShape="1">
            <a:blip r:embed="rId17">
              <a:alphaModFix/>
            </a:blip>
            <a:srcRect/>
            <a:stretch/>
          </p:blipFill>
          <p:spPr>
            <a:xfrm>
              <a:off x="2369550" y="2414049"/>
              <a:ext cx="212716" cy="212716"/>
            </a:xfrm>
            <a:prstGeom prst="rect">
              <a:avLst/>
            </a:prstGeom>
            <a:noFill/>
            <a:ln>
              <a:noFill/>
            </a:ln>
          </p:spPr>
        </p:pic>
        <p:pic>
          <p:nvPicPr>
            <p:cNvPr id="97" name="Google Shape;1438;p15">
              <a:extLst>
                <a:ext uri="{FF2B5EF4-FFF2-40B4-BE49-F238E27FC236}">
                  <a16:creationId xmlns:a16="http://schemas.microsoft.com/office/drawing/2014/main" id="{3F5143D0-15EC-3432-6BFD-BB9F9DB9E72A}"/>
                </a:ext>
              </a:extLst>
            </p:cNvPr>
            <p:cNvPicPr preferRelativeResize="0"/>
            <p:nvPr/>
          </p:nvPicPr>
          <p:blipFill rotWithShape="1">
            <a:blip r:embed="rId18">
              <a:alphaModFix/>
            </a:blip>
            <a:srcRect/>
            <a:stretch/>
          </p:blipFill>
          <p:spPr>
            <a:xfrm>
              <a:off x="2369709" y="2781883"/>
              <a:ext cx="212717" cy="212717"/>
            </a:xfrm>
            <a:prstGeom prst="rect">
              <a:avLst/>
            </a:prstGeom>
            <a:noFill/>
            <a:ln>
              <a:noFill/>
            </a:ln>
          </p:spPr>
        </p:pic>
        <p:pic>
          <p:nvPicPr>
            <p:cNvPr id="98" name="Google Shape;1439;p15">
              <a:extLst>
                <a:ext uri="{FF2B5EF4-FFF2-40B4-BE49-F238E27FC236}">
                  <a16:creationId xmlns:a16="http://schemas.microsoft.com/office/drawing/2014/main" id="{F80EBC44-69CB-623D-1436-62315F478EF5}"/>
                </a:ext>
              </a:extLst>
            </p:cNvPr>
            <p:cNvPicPr preferRelativeResize="0"/>
            <p:nvPr/>
          </p:nvPicPr>
          <p:blipFill rotWithShape="1">
            <a:blip r:embed="rId19">
              <a:alphaModFix/>
            </a:blip>
            <a:srcRect/>
            <a:stretch/>
          </p:blipFill>
          <p:spPr>
            <a:xfrm flipH="1">
              <a:off x="3810334" y="2046236"/>
              <a:ext cx="211461" cy="211005"/>
            </a:xfrm>
            <a:prstGeom prst="rect">
              <a:avLst/>
            </a:prstGeom>
            <a:noFill/>
            <a:ln>
              <a:noFill/>
            </a:ln>
          </p:spPr>
        </p:pic>
        <p:sp>
          <p:nvSpPr>
            <p:cNvPr id="99" name="Google Shape;1440;p15">
              <a:extLst>
                <a:ext uri="{FF2B5EF4-FFF2-40B4-BE49-F238E27FC236}">
                  <a16:creationId xmlns:a16="http://schemas.microsoft.com/office/drawing/2014/main" id="{D5CA9CFB-36BA-5086-60B0-195BBC9D1BAD}"/>
                </a:ext>
              </a:extLst>
            </p:cNvPr>
            <p:cNvSpPr txBox="1"/>
            <p:nvPr/>
          </p:nvSpPr>
          <p:spPr>
            <a:xfrm>
              <a:off x="4057007" y="2388154"/>
              <a:ext cx="905045"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Istio</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100" name="Google Shape;1441;p15">
              <a:extLst>
                <a:ext uri="{FF2B5EF4-FFF2-40B4-BE49-F238E27FC236}">
                  <a16:creationId xmlns:a16="http://schemas.microsoft.com/office/drawing/2014/main" id="{3EF915F1-7A3E-BC57-26DA-5D4728797493}"/>
                </a:ext>
              </a:extLst>
            </p:cNvPr>
            <p:cNvPicPr preferRelativeResize="0"/>
            <p:nvPr/>
          </p:nvPicPr>
          <p:blipFill rotWithShape="1">
            <a:blip r:embed="rId20">
              <a:alphaModFix/>
            </a:blip>
            <a:srcRect t="10860" b="15553"/>
            <a:stretch/>
          </p:blipFill>
          <p:spPr>
            <a:xfrm>
              <a:off x="3773855" y="2777636"/>
              <a:ext cx="303466" cy="223314"/>
            </a:xfrm>
            <a:prstGeom prst="rect">
              <a:avLst/>
            </a:prstGeom>
            <a:noFill/>
            <a:ln>
              <a:noFill/>
            </a:ln>
          </p:spPr>
        </p:pic>
        <p:sp>
          <p:nvSpPr>
            <p:cNvPr id="101" name="Google Shape;1442;p15">
              <a:extLst>
                <a:ext uri="{FF2B5EF4-FFF2-40B4-BE49-F238E27FC236}">
                  <a16:creationId xmlns:a16="http://schemas.microsoft.com/office/drawing/2014/main" id="{4B4FB052-A259-DA16-8408-F032AF59B4EC}"/>
                </a:ext>
              </a:extLst>
            </p:cNvPr>
            <p:cNvSpPr/>
            <p:nvPr/>
          </p:nvSpPr>
          <p:spPr>
            <a:xfrm>
              <a:off x="5180025" y="2371879"/>
              <a:ext cx="1467650"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02" name="Google Shape;1443;p15">
              <a:extLst>
                <a:ext uri="{FF2B5EF4-FFF2-40B4-BE49-F238E27FC236}">
                  <a16:creationId xmlns:a16="http://schemas.microsoft.com/office/drawing/2014/main" id="{ED52524D-067B-3DBA-C807-093A1E90293A}"/>
                </a:ext>
              </a:extLst>
            </p:cNvPr>
            <p:cNvSpPr/>
            <p:nvPr/>
          </p:nvSpPr>
          <p:spPr>
            <a:xfrm>
              <a:off x="5180025" y="2004044"/>
              <a:ext cx="1467650" cy="296426"/>
            </a:xfrm>
            <a:prstGeom prst="roundRect">
              <a:avLst>
                <a:gd name="adj" fmla="val 6335"/>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03" name="Google Shape;1444;p15">
              <a:extLst>
                <a:ext uri="{FF2B5EF4-FFF2-40B4-BE49-F238E27FC236}">
                  <a16:creationId xmlns:a16="http://schemas.microsoft.com/office/drawing/2014/main" id="{5596CE15-BB2A-B451-913A-21C8C46F6DE9}"/>
                </a:ext>
              </a:extLst>
            </p:cNvPr>
            <p:cNvSpPr txBox="1"/>
            <p:nvPr/>
          </p:nvSpPr>
          <p:spPr>
            <a:xfrm>
              <a:off x="5524657" y="2029167"/>
              <a:ext cx="112301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Windows gMSA</a:t>
              </a: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04" name="Google Shape;1445;p15">
              <a:extLst>
                <a:ext uri="{FF2B5EF4-FFF2-40B4-BE49-F238E27FC236}">
                  <a16:creationId xmlns:a16="http://schemas.microsoft.com/office/drawing/2014/main" id="{E9ED521F-4451-BC7E-A263-7F3F4FB8F3C7}"/>
                </a:ext>
              </a:extLst>
            </p:cNvPr>
            <p:cNvSpPr txBox="1"/>
            <p:nvPr/>
          </p:nvSpPr>
          <p:spPr>
            <a:xfrm>
              <a:off x="5524657" y="2388154"/>
              <a:ext cx="1123018"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External DNS</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105" name="Google Shape;1446;p15">
              <a:extLst>
                <a:ext uri="{FF2B5EF4-FFF2-40B4-BE49-F238E27FC236}">
                  <a16:creationId xmlns:a16="http://schemas.microsoft.com/office/drawing/2014/main" id="{5181D98F-7327-E0AA-E299-146235EF45B4}"/>
                </a:ext>
              </a:extLst>
            </p:cNvPr>
            <p:cNvPicPr preferRelativeResize="0"/>
            <p:nvPr/>
          </p:nvPicPr>
          <p:blipFill rotWithShape="1">
            <a:blip r:embed="rId21">
              <a:alphaModFix/>
            </a:blip>
            <a:srcRect/>
            <a:stretch/>
          </p:blipFill>
          <p:spPr>
            <a:xfrm>
              <a:off x="5233780" y="2378629"/>
              <a:ext cx="280667" cy="276115"/>
            </a:xfrm>
            <a:prstGeom prst="rect">
              <a:avLst/>
            </a:prstGeom>
            <a:noFill/>
            <a:ln>
              <a:noFill/>
            </a:ln>
          </p:spPr>
        </p:pic>
        <p:pic>
          <p:nvPicPr>
            <p:cNvPr id="106" name="Google Shape;1447;p15">
              <a:extLst>
                <a:ext uri="{FF2B5EF4-FFF2-40B4-BE49-F238E27FC236}">
                  <a16:creationId xmlns:a16="http://schemas.microsoft.com/office/drawing/2014/main" id="{E59B428A-6EBC-AC9E-D861-C8CA60948218}"/>
                </a:ext>
              </a:extLst>
            </p:cNvPr>
            <p:cNvPicPr preferRelativeResize="0"/>
            <p:nvPr/>
          </p:nvPicPr>
          <p:blipFill rotWithShape="1">
            <a:blip r:embed="rId22">
              <a:alphaModFix/>
            </a:blip>
            <a:srcRect/>
            <a:stretch/>
          </p:blipFill>
          <p:spPr>
            <a:xfrm>
              <a:off x="5233780" y="2073413"/>
              <a:ext cx="288932" cy="162550"/>
            </a:xfrm>
            <a:prstGeom prst="rect">
              <a:avLst/>
            </a:prstGeom>
            <a:noFill/>
            <a:ln>
              <a:noFill/>
            </a:ln>
          </p:spPr>
        </p:pic>
      </p:grpSp>
      <p:sp>
        <p:nvSpPr>
          <p:cNvPr id="107" name="Google Shape;1448;p15">
            <a:extLst>
              <a:ext uri="{FF2B5EF4-FFF2-40B4-BE49-F238E27FC236}">
                <a16:creationId xmlns:a16="http://schemas.microsoft.com/office/drawing/2014/main" id="{5AC4D7D2-AB92-2423-C1A6-1A10CCCC5062}"/>
              </a:ext>
            </a:extLst>
          </p:cNvPr>
          <p:cNvSpPr txBox="1"/>
          <p:nvPr/>
        </p:nvSpPr>
        <p:spPr>
          <a:xfrm>
            <a:off x="3420314" y="1403055"/>
            <a:ext cx="2294469" cy="656317"/>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400" b="1" i="0" u="none" strike="noStrike" kern="1200" cap="none" spc="0" normalizeH="0" baseline="0" noProof="0">
                <a:ln>
                  <a:noFill/>
                </a:ln>
                <a:solidFill>
                  <a:srgbClr val="0098C7"/>
                </a:solidFill>
                <a:effectLst/>
                <a:uLnTx/>
                <a:uFillTx/>
                <a:latin typeface="Arial"/>
                <a:ea typeface="Arial"/>
                <a:cs typeface="Arial"/>
                <a:sym typeface="Arial"/>
              </a:rPr>
              <a:t>Standard Packages </a:t>
            </a: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000" b="1" i="0" u="none" strike="noStrike" kern="1200" cap="none" spc="0" normalizeH="0" baseline="0" noProof="0">
                <a:ln>
                  <a:noFill/>
                </a:ln>
                <a:solidFill>
                  <a:srgbClr val="0098C7"/>
                </a:solidFill>
                <a:effectLst/>
                <a:uLnTx/>
                <a:uFillTx/>
                <a:latin typeface="Arial"/>
                <a:ea typeface="Arial"/>
                <a:cs typeface="Arial"/>
                <a:sym typeface="Arial"/>
              </a:rPr>
              <a:t>(out of the box)</a:t>
            </a:r>
            <a:endParaRPr kumimoji="0" sz="1400" b="1" i="0" u="none" strike="noStrike" kern="1200" cap="none" spc="0" normalizeH="0" baseline="0" noProof="0">
              <a:ln>
                <a:noFill/>
              </a:ln>
              <a:solidFill>
                <a:srgbClr val="0098C7"/>
              </a:solidFill>
              <a:effectLst/>
              <a:uLnTx/>
              <a:uFillTx/>
              <a:latin typeface="Arial"/>
              <a:ea typeface="Arial"/>
              <a:cs typeface="Arial"/>
              <a:sym typeface="Arial"/>
            </a:endParaRPr>
          </a:p>
        </p:txBody>
      </p:sp>
      <p:pic>
        <p:nvPicPr>
          <p:cNvPr id="108" name="Google Shape;1449;p15" descr="A blue and white logo&#10;&#10;AI-generated content may be incorrect.">
            <a:extLst>
              <a:ext uri="{FF2B5EF4-FFF2-40B4-BE49-F238E27FC236}">
                <a16:creationId xmlns:a16="http://schemas.microsoft.com/office/drawing/2014/main" id="{FC0B447D-D5CE-FE90-5C61-C6BEC0729919}"/>
              </a:ext>
            </a:extLst>
          </p:cNvPr>
          <p:cNvPicPr preferRelativeResize="0"/>
          <p:nvPr/>
        </p:nvPicPr>
        <p:blipFill rotWithShape="1">
          <a:blip r:embed="rId23">
            <a:alphaModFix/>
          </a:blip>
          <a:srcRect/>
          <a:stretch/>
        </p:blipFill>
        <p:spPr>
          <a:xfrm>
            <a:off x="4733842" y="2598999"/>
            <a:ext cx="386183" cy="187301"/>
          </a:xfrm>
          <a:prstGeom prst="rect">
            <a:avLst/>
          </a:prstGeom>
          <a:noFill/>
          <a:ln>
            <a:noFill/>
          </a:ln>
        </p:spPr>
      </p:pic>
      <p:sp>
        <p:nvSpPr>
          <p:cNvPr id="109" name="Google Shape;1450;p15">
            <a:extLst>
              <a:ext uri="{FF2B5EF4-FFF2-40B4-BE49-F238E27FC236}">
                <a16:creationId xmlns:a16="http://schemas.microsoft.com/office/drawing/2014/main" id="{69C8C846-1D48-0CEB-9658-45EC51CE0459}"/>
              </a:ext>
            </a:extLst>
          </p:cNvPr>
          <p:cNvSpPr/>
          <p:nvPr/>
        </p:nvSpPr>
        <p:spPr>
          <a:xfrm>
            <a:off x="8702863" y="1382397"/>
            <a:ext cx="2045655" cy="2257285"/>
          </a:xfrm>
          <a:prstGeom prst="roundRect">
            <a:avLst>
              <a:gd name="adj" fmla="val 5333"/>
            </a:avLst>
          </a:prstGeom>
          <a:solidFill>
            <a:schemeClr val="lt1"/>
          </a:solidFill>
          <a:ln w="15875" cap="rnd" cmpd="sng">
            <a:solidFill>
              <a:srgbClr val="0070C0"/>
            </a:solidFill>
            <a:prstDash val="dash"/>
            <a:round/>
            <a:headEnd type="none" w="sm" len="sm"/>
            <a:tailEnd type="none" w="sm" len="sm"/>
          </a:ln>
        </p:spPr>
        <p:txBody>
          <a:bodyPr spcFirstLastPara="1" wrap="square" lIns="91400" tIns="91400" rIns="91400" bIns="91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10" name="Google Shape;1451;p15">
            <a:extLst>
              <a:ext uri="{FF2B5EF4-FFF2-40B4-BE49-F238E27FC236}">
                <a16:creationId xmlns:a16="http://schemas.microsoft.com/office/drawing/2014/main" id="{28E5B10E-4191-641E-0BB4-C4AFD97A3486}"/>
              </a:ext>
            </a:extLst>
          </p:cNvPr>
          <p:cNvSpPr/>
          <p:nvPr/>
        </p:nvSpPr>
        <p:spPr>
          <a:xfrm>
            <a:off x="8887037" y="2020791"/>
            <a:ext cx="1621915" cy="980495"/>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a:ln>
                  <a:noFill/>
                </a:ln>
                <a:solidFill>
                  <a:srgbClr val="005C8A"/>
                </a:solidFill>
                <a:effectLst/>
                <a:uLnTx/>
                <a:uFillTx/>
                <a:latin typeface="Arial"/>
                <a:ea typeface="Arial"/>
                <a:cs typeface="Arial"/>
                <a:sym typeface="Arial"/>
              </a:rPr>
              <a:t>Open Extensible for CNCF Compliant Open Source and</a:t>
            </a:r>
            <a:endParaRPr kumimoji="0" sz="1200" b="0" i="0" u="none" strike="noStrike" kern="1200" cap="none" spc="0" normalizeH="0" baseline="0" noProof="0">
              <a:ln>
                <a:noFill/>
              </a:ln>
              <a:solidFill>
                <a:srgbClr val="005C8A"/>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a:ln>
                  <a:noFill/>
                </a:ln>
                <a:solidFill>
                  <a:srgbClr val="005C8A"/>
                </a:solidFill>
                <a:effectLst/>
                <a:uLnTx/>
                <a:uFillTx/>
                <a:latin typeface="Arial"/>
                <a:ea typeface="Arial"/>
                <a:cs typeface="Arial"/>
                <a:sym typeface="Arial"/>
              </a:rPr>
              <a:t>3rd Party Packages</a:t>
            </a:r>
            <a:endParaRPr kumimoji="0" sz="1467" b="0" i="0" u="none" strike="noStrike" kern="1200" cap="none" spc="0" normalizeH="0" baseline="0" noProof="0">
              <a:ln>
                <a:noFill/>
              </a:ln>
              <a:solidFill>
                <a:srgbClr val="005C8A"/>
              </a:solidFill>
              <a:effectLst/>
              <a:uLnTx/>
              <a:uFillTx/>
              <a:latin typeface="Arial"/>
              <a:ea typeface="Arial"/>
              <a:cs typeface="Arial"/>
              <a:sym typeface="Arial"/>
            </a:endParaRPr>
          </a:p>
        </p:txBody>
      </p:sp>
    </p:spTree>
    <p:extLst>
      <p:ext uri="{BB962C8B-B14F-4D97-AF65-F5344CB8AC3E}">
        <p14:creationId xmlns:p14="http://schemas.microsoft.com/office/powerpoint/2010/main" val="33651545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66651-1C73-11BC-4238-54C30492345B}"/>
              </a:ext>
            </a:extLst>
          </p:cNvPr>
          <p:cNvSpPr>
            <a:spLocks noGrp="1"/>
          </p:cNvSpPr>
          <p:nvPr>
            <p:ph type="title"/>
          </p:nvPr>
        </p:nvSpPr>
        <p:spPr/>
        <p:txBody>
          <a:bodyPr/>
          <a:lstStyle/>
          <a:p>
            <a:r>
              <a:rPr lang="en-US" dirty="0"/>
              <a:t>Kubernetes Multi-Cluster Management</a:t>
            </a:r>
          </a:p>
        </p:txBody>
      </p:sp>
      <p:sp>
        <p:nvSpPr>
          <p:cNvPr id="3" name="Subtitle 2">
            <a:extLst>
              <a:ext uri="{FF2B5EF4-FFF2-40B4-BE49-F238E27FC236}">
                <a16:creationId xmlns:a16="http://schemas.microsoft.com/office/drawing/2014/main" id="{E8288324-7108-1765-839D-02D1E24979A4}"/>
              </a:ext>
            </a:extLst>
          </p:cNvPr>
          <p:cNvSpPr>
            <a:spLocks noGrp="1"/>
          </p:cNvSpPr>
          <p:nvPr>
            <p:ph type="subTitle" idx="10"/>
          </p:nvPr>
        </p:nvSpPr>
        <p:spPr/>
        <p:txBody>
          <a:bodyPr/>
          <a:lstStyle/>
          <a:p>
            <a:r>
              <a:rPr lang="en-US" dirty="0"/>
              <a:t>Deploy and manage add-ons at the push of a button</a:t>
            </a:r>
          </a:p>
        </p:txBody>
      </p:sp>
      <p:sp>
        <p:nvSpPr>
          <p:cNvPr id="4" name="Text Placeholder 3">
            <a:extLst>
              <a:ext uri="{FF2B5EF4-FFF2-40B4-BE49-F238E27FC236}">
                <a16:creationId xmlns:a16="http://schemas.microsoft.com/office/drawing/2014/main" id="{8EE622F1-84FC-1DB2-ACB3-79BF5696720F}"/>
              </a:ext>
            </a:extLst>
          </p:cNvPr>
          <p:cNvSpPr>
            <a:spLocks noGrp="1"/>
          </p:cNvSpPr>
          <p:nvPr>
            <p:ph type="body" sz="quarter" idx="17"/>
          </p:nvPr>
        </p:nvSpPr>
        <p:spPr/>
        <p:txBody>
          <a:bodyPr/>
          <a:lstStyle/>
          <a:p>
            <a:r>
              <a:rPr lang="en-US" dirty="0"/>
              <a:t>Lifecycle management of VKS standard packages</a:t>
            </a:r>
          </a:p>
          <a:p>
            <a:r>
              <a:rPr lang="en-US" dirty="0"/>
              <a:t>Self-service access to add-on packages for simple cluster deployment</a:t>
            </a:r>
          </a:p>
          <a:p>
            <a:r>
              <a:rPr lang="en-US" dirty="0"/>
              <a:t>Point and click deployment to VKS clusters without CLI</a:t>
            </a:r>
          </a:p>
          <a:p>
            <a:r>
              <a:rPr lang="en-US" dirty="0"/>
              <a:t>Dynamic inventory of core and user-managed add-ons</a:t>
            </a:r>
          </a:p>
          <a:p>
            <a:endParaRPr lang="en-US" dirty="0"/>
          </a:p>
        </p:txBody>
      </p:sp>
      <p:pic>
        <p:nvPicPr>
          <p:cNvPr id="8" name="Content Placeholder 7">
            <a:extLst>
              <a:ext uri="{FF2B5EF4-FFF2-40B4-BE49-F238E27FC236}">
                <a16:creationId xmlns:a16="http://schemas.microsoft.com/office/drawing/2014/main" id="{E80544E7-1B4A-EDC5-8BA5-2769EBA22A9B}"/>
              </a:ext>
            </a:extLst>
          </p:cNvPr>
          <p:cNvPicPr>
            <a:picLocks noGrp="1" noChangeAspect="1"/>
          </p:cNvPicPr>
          <p:nvPr>
            <p:ph sz="quarter" idx="14"/>
          </p:nvPr>
        </p:nvPicPr>
        <p:blipFill>
          <a:blip r:embed="rId3"/>
          <a:stretch>
            <a:fillRect/>
          </a:stretch>
        </p:blipFill>
        <p:spPr bwMode="ltGray">
          <a:xfrm>
            <a:off x="592866" y="1600200"/>
            <a:ext cx="7397750" cy="3443630"/>
          </a:xfrm>
          <a:prstGeom prst="rect">
            <a:avLst/>
          </a:prstGeom>
          <a:noFill/>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809521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 name="Google Shape;6504;g341ab2b14b8_2_916">
            <a:extLst>
              <a:ext uri="{FF2B5EF4-FFF2-40B4-BE49-F238E27FC236}">
                <a16:creationId xmlns:a16="http://schemas.microsoft.com/office/drawing/2014/main" id="{2837D860-C3E4-0B0B-5212-8919684F6217}"/>
              </a:ext>
            </a:extLst>
          </p:cNvPr>
          <p:cNvGrpSpPr/>
          <p:nvPr/>
        </p:nvGrpSpPr>
        <p:grpSpPr>
          <a:xfrm rot="10800000">
            <a:off x="159908" y="3198390"/>
            <a:ext cx="8302442" cy="658914"/>
            <a:chOff x="6457" y="3088548"/>
            <a:chExt cx="12175910" cy="421627"/>
          </a:xfrm>
        </p:grpSpPr>
        <p:pic>
          <p:nvPicPr>
            <p:cNvPr id="101" name="Google Shape;6505;g341ab2b14b8_2_916">
              <a:extLst>
                <a:ext uri="{FF2B5EF4-FFF2-40B4-BE49-F238E27FC236}">
                  <a16:creationId xmlns:a16="http://schemas.microsoft.com/office/drawing/2014/main" id="{9B46523F-85F1-2BCA-B34E-C419A3608999}"/>
                </a:ext>
              </a:extLst>
            </p:cNvPr>
            <p:cNvPicPr preferRelativeResize="0"/>
            <p:nvPr/>
          </p:nvPicPr>
          <p:blipFill rotWithShape="1">
            <a:blip r:embed="rId3">
              <a:alphaModFix amt="34000"/>
            </a:blip>
            <a:srcRect t="50513"/>
            <a:stretch/>
          </p:blipFill>
          <p:spPr>
            <a:xfrm>
              <a:off x="6457" y="3101683"/>
              <a:ext cx="12175910" cy="408492"/>
            </a:xfrm>
            <a:prstGeom prst="rect">
              <a:avLst/>
            </a:prstGeom>
            <a:noFill/>
            <a:ln>
              <a:noFill/>
            </a:ln>
          </p:spPr>
        </p:pic>
        <p:sp>
          <p:nvSpPr>
            <p:cNvPr id="102" name="Google Shape;6506;g341ab2b14b8_2_916">
              <a:extLst>
                <a:ext uri="{FF2B5EF4-FFF2-40B4-BE49-F238E27FC236}">
                  <a16:creationId xmlns:a16="http://schemas.microsoft.com/office/drawing/2014/main" id="{4BEF741F-7A75-65F3-4B33-77806D124951}"/>
                </a:ext>
              </a:extLst>
            </p:cNvPr>
            <p:cNvSpPr/>
            <p:nvPr/>
          </p:nvSpPr>
          <p:spPr>
            <a:xfrm rot="-5400000" flipH="1">
              <a:off x="6246689" y="-2240202"/>
              <a:ext cx="18300" cy="10675800"/>
            </a:xfrm>
            <a:prstGeom prst="rect">
              <a:avLst/>
            </a:prstGeom>
            <a:gradFill>
              <a:gsLst>
                <a:gs pos="0">
                  <a:srgbClr val="6C4B8F">
                    <a:alpha val="0"/>
                  </a:srgbClr>
                </a:gs>
                <a:gs pos="10000">
                  <a:srgbClr val="6C4B8F"/>
                </a:gs>
                <a:gs pos="22000">
                  <a:srgbClr val="005B84"/>
                </a:gs>
                <a:gs pos="41000">
                  <a:srgbClr val="005B84"/>
                </a:gs>
                <a:gs pos="60000">
                  <a:srgbClr val="41D1FE"/>
                </a:gs>
                <a:gs pos="90000">
                  <a:srgbClr val="007A86"/>
                </a:gs>
                <a:gs pos="100000">
                  <a:srgbClr val="007A86">
                    <a:alpha val="0"/>
                  </a:srgbClr>
                </a:gs>
              </a:gsLst>
              <a:lin ang="5400012" scaled="0"/>
            </a:gra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sp>
        <p:nvSpPr>
          <p:cNvPr id="97" name="Google Shape;6628;g341ab2b14b8_2_916">
            <a:extLst>
              <a:ext uri="{FF2B5EF4-FFF2-40B4-BE49-F238E27FC236}">
                <a16:creationId xmlns:a16="http://schemas.microsoft.com/office/drawing/2014/main" id="{970A98D2-FE38-C946-CA9C-C623E1A16F76}"/>
              </a:ext>
            </a:extLst>
          </p:cNvPr>
          <p:cNvSpPr/>
          <p:nvPr/>
        </p:nvSpPr>
        <p:spPr>
          <a:xfrm>
            <a:off x="2307644" y="1694422"/>
            <a:ext cx="1051500" cy="864300"/>
          </a:xfrm>
          <a:prstGeom prst="roundRect">
            <a:avLst>
              <a:gd name="adj" fmla="val 6270"/>
            </a:avLst>
          </a:prstGeom>
          <a:solidFill>
            <a:schemeClr val="lt1"/>
          </a:solidFill>
          <a:ln w="12700" cap="flat" cmpd="sng">
            <a:solidFill>
              <a:srgbClr val="005C8A">
                <a:alpha val="25287"/>
              </a:srgbClr>
            </a:solidFill>
            <a:prstDash val="sysDot"/>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89" name="Google Shape;6617;g341ab2b14b8_2_916">
            <a:extLst>
              <a:ext uri="{FF2B5EF4-FFF2-40B4-BE49-F238E27FC236}">
                <a16:creationId xmlns:a16="http://schemas.microsoft.com/office/drawing/2014/main" id="{57181180-1673-315A-FF62-4A69705B67AA}"/>
              </a:ext>
            </a:extLst>
          </p:cNvPr>
          <p:cNvGrpSpPr/>
          <p:nvPr/>
        </p:nvGrpSpPr>
        <p:grpSpPr>
          <a:xfrm>
            <a:off x="4841368" y="1697075"/>
            <a:ext cx="1191489" cy="864294"/>
            <a:chOff x="5203628" y="3571756"/>
            <a:chExt cx="1191489" cy="864294"/>
          </a:xfrm>
        </p:grpSpPr>
        <p:grpSp>
          <p:nvGrpSpPr>
            <p:cNvPr id="90" name="Google Shape;6618;g341ab2b14b8_2_916">
              <a:extLst>
                <a:ext uri="{FF2B5EF4-FFF2-40B4-BE49-F238E27FC236}">
                  <a16:creationId xmlns:a16="http://schemas.microsoft.com/office/drawing/2014/main" id="{FB05071A-05FB-87A2-5948-31E116369948}"/>
                </a:ext>
              </a:extLst>
            </p:cNvPr>
            <p:cNvGrpSpPr/>
            <p:nvPr/>
          </p:nvGrpSpPr>
          <p:grpSpPr>
            <a:xfrm>
              <a:off x="5203628" y="3571756"/>
              <a:ext cx="1191489" cy="864294"/>
              <a:chOff x="5502902" y="3307853"/>
              <a:chExt cx="1489734" cy="1020900"/>
            </a:xfrm>
          </p:grpSpPr>
          <p:sp>
            <p:nvSpPr>
              <p:cNvPr id="94" name="Google Shape;6619;g341ab2b14b8_2_916">
                <a:extLst>
                  <a:ext uri="{FF2B5EF4-FFF2-40B4-BE49-F238E27FC236}">
                    <a16:creationId xmlns:a16="http://schemas.microsoft.com/office/drawing/2014/main" id="{5301245C-36C6-D155-C8C5-80C340D6BD0C}"/>
                  </a:ext>
                </a:extLst>
              </p:cNvPr>
              <p:cNvSpPr/>
              <p:nvPr/>
            </p:nvSpPr>
            <p:spPr>
              <a:xfrm>
                <a:off x="5680736" y="3307853"/>
                <a:ext cx="1311900" cy="1020900"/>
              </a:xfrm>
              <a:prstGeom prst="roundRect">
                <a:avLst>
                  <a:gd name="adj" fmla="val 6270"/>
                </a:avLst>
              </a:prstGeom>
              <a:solidFill>
                <a:schemeClr val="lt1"/>
              </a:solidFill>
              <a:ln w="12700" cap="flat" cmpd="sng">
                <a:solidFill>
                  <a:srgbClr val="005C8A">
                    <a:alpha val="25167"/>
                  </a:srgbClr>
                </a:solidFill>
                <a:prstDash val="sysDot"/>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95" name="Google Shape;6620;g341ab2b14b8_2_916">
                <a:extLst>
                  <a:ext uri="{FF2B5EF4-FFF2-40B4-BE49-F238E27FC236}">
                    <a16:creationId xmlns:a16="http://schemas.microsoft.com/office/drawing/2014/main" id="{EA9FBC5C-F239-D5D2-C6CB-9862AF768309}"/>
                  </a:ext>
                </a:extLst>
              </p:cNvPr>
              <p:cNvSpPr/>
              <p:nvPr/>
            </p:nvSpPr>
            <p:spPr>
              <a:xfrm>
                <a:off x="5502902" y="3430697"/>
                <a:ext cx="1311901" cy="4020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Operators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grpSp>
          <p:nvGrpSpPr>
            <p:cNvPr id="91" name="Google Shape;6621;g341ab2b14b8_2_916">
              <a:extLst>
                <a:ext uri="{FF2B5EF4-FFF2-40B4-BE49-F238E27FC236}">
                  <a16:creationId xmlns:a16="http://schemas.microsoft.com/office/drawing/2014/main" id="{8D6381F3-EA6A-4323-3CB5-C13E539EE222}"/>
                </a:ext>
              </a:extLst>
            </p:cNvPr>
            <p:cNvGrpSpPr/>
            <p:nvPr/>
          </p:nvGrpSpPr>
          <p:grpSpPr>
            <a:xfrm>
              <a:off x="5675839" y="4003193"/>
              <a:ext cx="340454" cy="340427"/>
              <a:chOff x="5622261" y="3790312"/>
              <a:chExt cx="340454" cy="340427"/>
            </a:xfrm>
          </p:grpSpPr>
          <p:sp>
            <p:nvSpPr>
              <p:cNvPr id="92" name="Google Shape;6622;g341ab2b14b8_2_916">
                <a:extLst>
                  <a:ext uri="{FF2B5EF4-FFF2-40B4-BE49-F238E27FC236}">
                    <a16:creationId xmlns:a16="http://schemas.microsoft.com/office/drawing/2014/main" id="{162C902F-922C-EEA7-A0E9-C848684719F8}"/>
                  </a:ext>
                </a:extLst>
              </p:cNvPr>
              <p:cNvSpPr/>
              <p:nvPr/>
            </p:nvSpPr>
            <p:spPr>
              <a:xfrm>
                <a:off x="5693714" y="3861767"/>
                <a:ext cx="197089" cy="197089"/>
              </a:xfrm>
              <a:custGeom>
                <a:avLst/>
                <a:gdLst/>
                <a:ahLst/>
                <a:cxnLst/>
                <a:rect l="l" t="t" r="r" b="b"/>
                <a:pathLst>
                  <a:path w="640940" h="640940" extrusionOk="0">
                    <a:moveTo>
                      <a:pt x="320471" y="640941"/>
                    </a:moveTo>
                    <a:cubicBezTo>
                      <a:pt x="312403" y="640941"/>
                      <a:pt x="305859" y="634397"/>
                      <a:pt x="305859" y="626329"/>
                    </a:cubicBezTo>
                    <a:cubicBezTo>
                      <a:pt x="305859" y="618262"/>
                      <a:pt x="312403" y="611718"/>
                      <a:pt x="320471" y="611718"/>
                    </a:cubicBezTo>
                    <a:cubicBezTo>
                      <a:pt x="481109" y="611718"/>
                      <a:pt x="611807" y="481020"/>
                      <a:pt x="611807" y="320381"/>
                    </a:cubicBezTo>
                    <a:cubicBezTo>
                      <a:pt x="611807" y="159742"/>
                      <a:pt x="481109" y="29044"/>
                      <a:pt x="320471" y="29044"/>
                    </a:cubicBezTo>
                    <a:cubicBezTo>
                      <a:pt x="159832" y="29044"/>
                      <a:pt x="29134" y="159742"/>
                      <a:pt x="29134" y="320381"/>
                    </a:cubicBezTo>
                    <a:cubicBezTo>
                      <a:pt x="29134" y="328449"/>
                      <a:pt x="22590" y="334993"/>
                      <a:pt x="14522" y="334993"/>
                    </a:cubicBezTo>
                    <a:cubicBezTo>
                      <a:pt x="6454" y="334993"/>
                      <a:pt x="0" y="328538"/>
                      <a:pt x="0" y="320471"/>
                    </a:cubicBezTo>
                    <a:cubicBezTo>
                      <a:pt x="0" y="143786"/>
                      <a:pt x="143786" y="0"/>
                      <a:pt x="320471" y="0"/>
                    </a:cubicBezTo>
                    <a:cubicBezTo>
                      <a:pt x="497155" y="0"/>
                      <a:pt x="640941" y="143786"/>
                      <a:pt x="640941" y="320471"/>
                    </a:cubicBezTo>
                    <a:cubicBezTo>
                      <a:pt x="640941" y="497155"/>
                      <a:pt x="497155" y="640941"/>
                      <a:pt x="320471" y="640941"/>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93" name="Google Shape;6623;g341ab2b14b8_2_916">
                <a:extLst>
                  <a:ext uri="{FF2B5EF4-FFF2-40B4-BE49-F238E27FC236}">
                    <a16:creationId xmlns:a16="http://schemas.microsoft.com/office/drawing/2014/main" id="{77A545C9-8702-A952-365E-5E4166C233C3}"/>
                  </a:ext>
                </a:extLst>
              </p:cNvPr>
              <p:cNvSpPr/>
              <p:nvPr/>
            </p:nvSpPr>
            <p:spPr>
              <a:xfrm>
                <a:off x="5622261" y="3790312"/>
                <a:ext cx="340454" cy="340427"/>
              </a:xfrm>
              <a:custGeom>
                <a:avLst/>
                <a:gdLst/>
                <a:ahLst/>
                <a:cxnLst/>
                <a:rect l="l" t="t" r="r" b="b"/>
                <a:pathLst>
                  <a:path w="1107169" h="1107079" extrusionOk="0">
                    <a:moveTo>
                      <a:pt x="643003" y="1107080"/>
                    </a:moveTo>
                    <a:lnTo>
                      <a:pt x="458699" y="1107080"/>
                    </a:lnTo>
                    <a:lnTo>
                      <a:pt x="454754" y="1098833"/>
                    </a:lnTo>
                    <a:cubicBezTo>
                      <a:pt x="448659" y="1086193"/>
                      <a:pt x="442832" y="1067458"/>
                      <a:pt x="437005" y="1041552"/>
                    </a:cubicBezTo>
                    <a:cubicBezTo>
                      <a:pt x="432165" y="1020575"/>
                      <a:pt x="427951" y="1004709"/>
                      <a:pt x="424455" y="994221"/>
                    </a:cubicBezTo>
                    <a:cubicBezTo>
                      <a:pt x="363947" y="967507"/>
                      <a:pt x="340819" y="957019"/>
                      <a:pt x="331496" y="952537"/>
                    </a:cubicBezTo>
                    <a:cubicBezTo>
                      <a:pt x="319216" y="957019"/>
                      <a:pt x="304962" y="964190"/>
                      <a:pt x="288916" y="974051"/>
                    </a:cubicBezTo>
                    <a:cubicBezTo>
                      <a:pt x="265520" y="988483"/>
                      <a:pt x="249384" y="997717"/>
                      <a:pt x="239613" y="1002019"/>
                    </a:cubicBezTo>
                    <a:lnTo>
                      <a:pt x="232352" y="1005246"/>
                    </a:lnTo>
                    <a:lnTo>
                      <a:pt x="225719" y="1000944"/>
                    </a:lnTo>
                    <a:cubicBezTo>
                      <a:pt x="210031" y="990724"/>
                      <a:pt x="169961" y="952716"/>
                      <a:pt x="103178" y="884678"/>
                    </a:cubicBezTo>
                    <a:lnTo>
                      <a:pt x="97262" y="878672"/>
                    </a:lnTo>
                    <a:lnTo>
                      <a:pt x="99503" y="870604"/>
                    </a:lnTo>
                    <a:cubicBezTo>
                      <a:pt x="101564" y="862895"/>
                      <a:pt x="109184" y="844608"/>
                      <a:pt x="149613" y="774687"/>
                    </a:cubicBezTo>
                    <a:cubicBezTo>
                      <a:pt x="146654" y="767516"/>
                      <a:pt x="140738" y="753800"/>
                      <a:pt x="128995" y="727804"/>
                    </a:cubicBezTo>
                    <a:cubicBezTo>
                      <a:pt x="120748" y="708800"/>
                      <a:pt x="114921" y="691230"/>
                      <a:pt x="111604" y="675274"/>
                    </a:cubicBezTo>
                    <a:cubicBezTo>
                      <a:pt x="98068" y="672943"/>
                      <a:pt x="82291" y="669358"/>
                      <a:pt x="64453" y="664517"/>
                    </a:cubicBezTo>
                    <a:cubicBezTo>
                      <a:pt x="38994" y="657077"/>
                      <a:pt x="21335" y="652326"/>
                      <a:pt x="11833" y="650443"/>
                    </a:cubicBezTo>
                    <a:lnTo>
                      <a:pt x="0" y="648202"/>
                    </a:lnTo>
                    <a:lnTo>
                      <a:pt x="0" y="454037"/>
                    </a:lnTo>
                    <a:lnTo>
                      <a:pt x="11295" y="451438"/>
                    </a:lnTo>
                    <a:cubicBezTo>
                      <a:pt x="19452" y="449555"/>
                      <a:pt x="36484" y="444804"/>
                      <a:pt x="61853" y="437364"/>
                    </a:cubicBezTo>
                    <a:cubicBezTo>
                      <a:pt x="80050" y="432075"/>
                      <a:pt x="95738" y="428310"/>
                      <a:pt x="109363" y="426069"/>
                    </a:cubicBezTo>
                    <a:cubicBezTo>
                      <a:pt x="114204" y="416298"/>
                      <a:pt x="121286" y="400431"/>
                      <a:pt x="130340" y="378828"/>
                    </a:cubicBezTo>
                    <a:cubicBezTo>
                      <a:pt x="138856" y="358389"/>
                      <a:pt x="146654" y="342433"/>
                      <a:pt x="154005" y="330421"/>
                    </a:cubicBezTo>
                    <a:cubicBezTo>
                      <a:pt x="124961" y="276456"/>
                      <a:pt x="110080" y="255211"/>
                      <a:pt x="102640" y="246874"/>
                    </a:cubicBezTo>
                    <a:lnTo>
                      <a:pt x="95021" y="238269"/>
                    </a:lnTo>
                    <a:lnTo>
                      <a:pt x="101564" y="228856"/>
                    </a:lnTo>
                    <a:cubicBezTo>
                      <a:pt x="112232" y="213438"/>
                      <a:pt x="152123" y="172202"/>
                      <a:pt x="223478" y="102730"/>
                    </a:cubicBezTo>
                    <a:lnTo>
                      <a:pt x="230828" y="95558"/>
                    </a:lnTo>
                    <a:lnTo>
                      <a:pt x="240062" y="100041"/>
                    </a:lnTo>
                    <a:cubicBezTo>
                      <a:pt x="279773" y="119314"/>
                      <a:pt x="311506" y="137332"/>
                      <a:pt x="334544" y="153557"/>
                    </a:cubicBezTo>
                    <a:cubicBezTo>
                      <a:pt x="390750" y="129174"/>
                      <a:pt x="416656" y="119762"/>
                      <a:pt x="430013" y="116266"/>
                    </a:cubicBezTo>
                    <a:cubicBezTo>
                      <a:pt x="432344" y="107929"/>
                      <a:pt x="436378" y="93228"/>
                      <a:pt x="443280" y="67232"/>
                    </a:cubicBezTo>
                    <a:cubicBezTo>
                      <a:pt x="449286" y="44283"/>
                      <a:pt x="454754" y="25100"/>
                      <a:pt x="459326" y="10309"/>
                    </a:cubicBezTo>
                    <a:lnTo>
                      <a:pt x="462374" y="0"/>
                    </a:lnTo>
                    <a:lnTo>
                      <a:pt x="649098" y="0"/>
                    </a:lnTo>
                    <a:lnTo>
                      <a:pt x="652774" y="9143"/>
                    </a:lnTo>
                    <a:cubicBezTo>
                      <a:pt x="658869" y="24203"/>
                      <a:pt x="668820" y="58178"/>
                      <a:pt x="683252" y="113039"/>
                    </a:cubicBezTo>
                    <a:cubicBezTo>
                      <a:pt x="690603" y="116087"/>
                      <a:pt x="704318" y="121465"/>
                      <a:pt x="729776" y="131057"/>
                    </a:cubicBezTo>
                    <a:cubicBezTo>
                      <a:pt x="750125" y="138676"/>
                      <a:pt x="765902" y="146296"/>
                      <a:pt x="777824" y="154184"/>
                    </a:cubicBezTo>
                    <a:cubicBezTo>
                      <a:pt x="789568" y="150061"/>
                      <a:pt x="802924" y="143069"/>
                      <a:pt x="817895" y="133208"/>
                    </a:cubicBezTo>
                    <a:cubicBezTo>
                      <a:pt x="841829" y="118417"/>
                      <a:pt x="858323" y="109184"/>
                      <a:pt x="868632" y="104881"/>
                    </a:cubicBezTo>
                    <a:lnTo>
                      <a:pt x="875534" y="102013"/>
                    </a:lnTo>
                    <a:lnTo>
                      <a:pt x="881899" y="105867"/>
                    </a:lnTo>
                    <a:cubicBezTo>
                      <a:pt x="901351" y="117700"/>
                      <a:pt x="923045" y="136704"/>
                      <a:pt x="948413" y="164045"/>
                    </a:cubicBezTo>
                    <a:cubicBezTo>
                      <a:pt x="975844" y="192282"/>
                      <a:pt x="995924" y="211645"/>
                      <a:pt x="1008025" y="221147"/>
                    </a:cubicBezTo>
                    <a:lnTo>
                      <a:pt x="1017617" y="228767"/>
                    </a:lnTo>
                    <a:lnTo>
                      <a:pt x="1011790" y="239524"/>
                    </a:lnTo>
                    <a:cubicBezTo>
                      <a:pt x="988932" y="281745"/>
                      <a:pt x="971182" y="312492"/>
                      <a:pt x="957736" y="333110"/>
                    </a:cubicBezTo>
                    <a:cubicBezTo>
                      <a:pt x="978981" y="394067"/>
                      <a:pt x="988394" y="420153"/>
                      <a:pt x="992607" y="430999"/>
                    </a:cubicBezTo>
                    <a:cubicBezTo>
                      <a:pt x="1007308" y="433061"/>
                      <a:pt x="1024251" y="436916"/>
                      <a:pt x="1043165" y="442563"/>
                    </a:cubicBezTo>
                    <a:cubicBezTo>
                      <a:pt x="1068355" y="449914"/>
                      <a:pt x="1086014" y="454665"/>
                      <a:pt x="1095426" y="456547"/>
                    </a:cubicBezTo>
                    <a:lnTo>
                      <a:pt x="1107170" y="458878"/>
                    </a:lnTo>
                    <a:lnTo>
                      <a:pt x="1107170" y="653043"/>
                    </a:lnTo>
                    <a:lnTo>
                      <a:pt x="1095875" y="655642"/>
                    </a:lnTo>
                    <a:cubicBezTo>
                      <a:pt x="1090048" y="656987"/>
                      <a:pt x="1076512" y="660573"/>
                      <a:pt x="1045317" y="669716"/>
                    </a:cubicBezTo>
                    <a:cubicBezTo>
                      <a:pt x="1027298" y="674915"/>
                      <a:pt x="1011253" y="678770"/>
                      <a:pt x="997627" y="681101"/>
                    </a:cubicBezTo>
                    <a:cubicBezTo>
                      <a:pt x="993683" y="688900"/>
                      <a:pt x="987408" y="702973"/>
                      <a:pt x="977816" y="728521"/>
                    </a:cubicBezTo>
                    <a:cubicBezTo>
                      <a:pt x="970196" y="749587"/>
                      <a:pt x="962398" y="765723"/>
                      <a:pt x="953971" y="777287"/>
                    </a:cubicBezTo>
                    <a:cubicBezTo>
                      <a:pt x="958991" y="785803"/>
                      <a:pt x="966611" y="799070"/>
                      <a:pt x="976830" y="816908"/>
                    </a:cubicBezTo>
                    <a:cubicBezTo>
                      <a:pt x="987587" y="835823"/>
                      <a:pt x="997089" y="850614"/>
                      <a:pt x="1005157" y="861012"/>
                    </a:cubicBezTo>
                    <a:lnTo>
                      <a:pt x="1011701" y="869439"/>
                    </a:lnTo>
                    <a:lnTo>
                      <a:pt x="1005605" y="878224"/>
                    </a:lnTo>
                    <a:cubicBezTo>
                      <a:pt x="994938" y="893732"/>
                      <a:pt x="955316" y="934967"/>
                      <a:pt x="884499" y="1004350"/>
                    </a:cubicBezTo>
                    <a:lnTo>
                      <a:pt x="877238" y="1011432"/>
                    </a:lnTo>
                    <a:lnTo>
                      <a:pt x="868094" y="1007039"/>
                    </a:lnTo>
                    <a:cubicBezTo>
                      <a:pt x="836450" y="992069"/>
                      <a:pt x="805076" y="974141"/>
                      <a:pt x="774777" y="953882"/>
                    </a:cubicBezTo>
                    <a:cubicBezTo>
                      <a:pt x="742147" y="972169"/>
                      <a:pt x="710503" y="984629"/>
                      <a:pt x="680652" y="991083"/>
                    </a:cubicBezTo>
                    <a:cubicBezTo>
                      <a:pt x="676529" y="999420"/>
                      <a:pt x="671240" y="1013673"/>
                      <a:pt x="665682" y="1037787"/>
                    </a:cubicBezTo>
                    <a:cubicBezTo>
                      <a:pt x="658780" y="1067727"/>
                      <a:pt x="652774" y="1087717"/>
                      <a:pt x="647126" y="1098922"/>
                    </a:cubicBezTo>
                    <a:lnTo>
                      <a:pt x="643003" y="1107080"/>
                    </a:lnTo>
                    <a:close/>
                    <a:moveTo>
                      <a:pt x="477434" y="1077946"/>
                    </a:moveTo>
                    <a:lnTo>
                      <a:pt x="624357" y="1077946"/>
                    </a:lnTo>
                    <a:cubicBezTo>
                      <a:pt x="627495" y="1069430"/>
                      <a:pt x="631708" y="1055177"/>
                      <a:pt x="637176" y="1031332"/>
                    </a:cubicBezTo>
                    <a:cubicBezTo>
                      <a:pt x="643630" y="1003543"/>
                      <a:pt x="650622" y="983643"/>
                      <a:pt x="658601" y="970645"/>
                    </a:cubicBezTo>
                    <a:lnTo>
                      <a:pt x="662007" y="965087"/>
                    </a:lnTo>
                    <a:lnTo>
                      <a:pt x="668371" y="963921"/>
                    </a:lnTo>
                    <a:cubicBezTo>
                      <a:pt x="699298" y="958274"/>
                      <a:pt x="732824" y="944917"/>
                      <a:pt x="767874" y="924300"/>
                    </a:cubicBezTo>
                    <a:lnTo>
                      <a:pt x="775852" y="919638"/>
                    </a:lnTo>
                    <a:lnTo>
                      <a:pt x="783472" y="924838"/>
                    </a:lnTo>
                    <a:cubicBezTo>
                      <a:pt x="811978" y="944380"/>
                      <a:pt x="841470" y="961680"/>
                      <a:pt x="871321" y="976382"/>
                    </a:cubicBezTo>
                    <a:cubicBezTo>
                      <a:pt x="934877" y="913991"/>
                      <a:pt x="963204" y="883871"/>
                      <a:pt x="975306" y="869618"/>
                    </a:cubicBezTo>
                    <a:cubicBezTo>
                      <a:pt x="968045" y="859309"/>
                      <a:pt x="960067" y="846401"/>
                      <a:pt x="951461" y="831251"/>
                    </a:cubicBezTo>
                    <a:cubicBezTo>
                      <a:pt x="932995" y="798801"/>
                      <a:pt x="926272" y="787506"/>
                      <a:pt x="923851" y="783741"/>
                    </a:cubicBezTo>
                    <a:lnTo>
                      <a:pt x="917756" y="774149"/>
                    </a:lnTo>
                    <a:lnTo>
                      <a:pt x="925644" y="765902"/>
                    </a:lnTo>
                    <a:cubicBezTo>
                      <a:pt x="931202" y="760075"/>
                      <a:pt x="940077" y="747077"/>
                      <a:pt x="950386" y="718392"/>
                    </a:cubicBezTo>
                    <a:cubicBezTo>
                      <a:pt x="961501" y="688989"/>
                      <a:pt x="969748" y="669985"/>
                      <a:pt x="975844" y="660124"/>
                    </a:cubicBezTo>
                    <a:lnTo>
                      <a:pt x="979430" y="654298"/>
                    </a:lnTo>
                    <a:lnTo>
                      <a:pt x="986242" y="653401"/>
                    </a:lnTo>
                    <a:cubicBezTo>
                      <a:pt x="999958" y="651519"/>
                      <a:pt x="1017079" y="647664"/>
                      <a:pt x="1037069" y="641837"/>
                    </a:cubicBezTo>
                    <a:cubicBezTo>
                      <a:pt x="1054460" y="636728"/>
                      <a:pt x="1068086" y="632873"/>
                      <a:pt x="1077946" y="630184"/>
                    </a:cubicBezTo>
                    <a:lnTo>
                      <a:pt x="1077946" y="482454"/>
                    </a:lnTo>
                    <a:cubicBezTo>
                      <a:pt x="1067458" y="479854"/>
                      <a:pt x="1053205" y="475910"/>
                      <a:pt x="1034739" y="470531"/>
                    </a:cubicBezTo>
                    <a:cubicBezTo>
                      <a:pt x="1016093" y="464974"/>
                      <a:pt x="999868" y="461298"/>
                      <a:pt x="986153" y="459505"/>
                    </a:cubicBezTo>
                    <a:cubicBezTo>
                      <a:pt x="971720" y="463001"/>
                      <a:pt x="971541" y="462464"/>
                      <a:pt x="927616" y="335710"/>
                    </a:cubicBezTo>
                    <a:lnTo>
                      <a:pt x="925196" y="328807"/>
                    </a:lnTo>
                    <a:lnTo>
                      <a:pt x="929320" y="322712"/>
                    </a:lnTo>
                    <a:cubicBezTo>
                      <a:pt x="941421" y="304873"/>
                      <a:pt x="958543" y="275739"/>
                      <a:pt x="980326" y="235938"/>
                    </a:cubicBezTo>
                    <a:cubicBezTo>
                      <a:pt x="967418" y="224553"/>
                      <a:pt x="949937" y="207432"/>
                      <a:pt x="927168" y="183946"/>
                    </a:cubicBezTo>
                    <a:cubicBezTo>
                      <a:pt x="906640" y="161894"/>
                      <a:pt x="888533" y="145399"/>
                      <a:pt x="873024" y="134732"/>
                    </a:cubicBezTo>
                    <a:cubicBezTo>
                      <a:pt x="863881" y="139304"/>
                      <a:pt x="850614" y="147013"/>
                      <a:pt x="833492" y="157591"/>
                    </a:cubicBezTo>
                    <a:cubicBezTo>
                      <a:pt x="813592" y="170679"/>
                      <a:pt x="795125" y="179643"/>
                      <a:pt x="779080" y="184035"/>
                    </a:cubicBezTo>
                    <a:lnTo>
                      <a:pt x="772087" y="185918"/>
                    </a:lnTo>
                    <a:lnTo>
                      <a:pt x="766350" y="181525"/>
                    </a:lnTo>
                    <a:cubicBezTo>
                      <a:pt x="756400" y="173906"/>
                      <a:pt x="740623" y="166017"/>
                      <a:pt x="719468" y="158039"/>
                    </a:cubicBezTo>
                    <a:cubicBezTo>
                      <a:pt x="689706" y="146834"/>
                      <a:pt x="671778" y="139752"/>
                      <a:pt x="664875" y="136615"/>
                    </a:cubicBezTo>
                    <a:lnTo>
                      <a:pt x="658601" y="133746"/>
                    </a:lnTo>
                    <a:lnTo>
                      <a:pt x="656897" y="127112"/>
                    </a:lnTo>
                    <a:cubicBezTo>
                      <a:pt x="644527" y="79871"/>
                      <a:pt x="635204" y="46972"/>
                      <a:pt x="629108" y="28954"/>
                    </a:cubicBezTo>
                    <a:lnTo>
                      <a:pt x="483888" y="28954"/>
                    </a:lnTo>
                    <a:cubicBezTo>
                      <a:pt x="480123" y="41594"/>
                      <a:pt x="475910" y="56923"/>
                      <a:pt x="471338" y="74493"/>
                    </a:cubicBezTo>
                    <a:cubicBezTo>
                      <a:pt x="462822" y="106405"/>
                      <a:pt x="457444" y="126126"/>
                      <a:pt x="455292" y="133029"/>
                    </a:cubicBezTo>
                    <a:lnTo>
                      <a:pt x="452244" y="142800"/>
                    </a:lnTo>
                    <a:lnTo>
                      <a:pt x="442025" y="143427"/>
                    </a:lnTo>
                    <a:cubicBezTo>
                      <a:pt x="438888" y="143607"/>
                      <a:pt x="422125" y="147013"/>
                      <a:pt x="338399" y="183587"/>
                    </a:cubicBezTo>
                    <a:lnTo>
                      <a:pt x="330600" y="186993"/>
                    </a:lnTo>
                    <a:lnTo>
                      <a:pt x="323787" y="181884"/>
                    </a:lnTo>
                    <a:cubicBezTo>
                      <a:pt x="303528" y="166645"/>
                      <a:pt x="274126" y="149433"/>
                      <a:pt x="236386" y="130698"/>
                    </a:cubicBezTo>
                    <a:cubicBezTo>
                      <a:pt x="172920" y="192641"/>
                      <a:pt x="144324" y="222671"/>
                      <a:pt x="132043" y="237103"/>
                    </a:cubicBezTo>
                    <a:cubicBezTo>
                      <a:pt x="144593" y="254135"/>
                      <a:pt x="161625" y="282910"/>
                      <a:pt x="183677" y="324235"/>
                    </a:cubicBezTo>
                    <a:lnTo>
                      <a:pt x="187890" y="332124"/>
                    </a:lnTo>
                    <a:lnTo>
                      <a:pt x="182780" y="339475"/>
                    </a:lnTo>
                    <a:cubicBezTo>
                      <a:pt x="175250" y="350232"/>
                      <a:pt x="166645" y="367264"/>
                      <a:pt x="157053" y="390122"/>
                    </a:cubicBezTo>
                    <a:cubicBezTo>
                      <a:pt x="145041" y="418539"/>
                      <a:pt x="136704" y="437005"/>
                      <a:pt x="131415" y="446418"/>
                    </a:cubicBezTo>
                    <a:lnTo>
                      <a:pt x="127919" y="452782"/>
                    </a:lnTo>
                    <a:lnTo>
                      <a:pt x="120748" y="453768"/>
                    </a:lnTo>
                    <a:cubicBezTo>
                      <a:pt x="107033" y="455651"/>
                      <a:pt x="89911" y="459505"/>
                      <a:pt x="69921" y="465332"/>
                    </a:cubicBezTo>
                    <a:cubicBezTo>
                      <a:pt x="52261" y="470531"/>
                      <a:pt x="38725" y="474386"/>
                      <a:pt x="29044" y="476986"/>
                    </a:cubicBezTo>
                    <a:lnTo>
                      <a:pt x="29044" y="624716"/>
                    </a:lnTo>
                    <a:cubicBezTo>
                      <a:pt x="39622" y="627315"/>
                      <a:pt x="53875" y="631260"/>
                      <a:pt x="72252" y="636638"/>
                    </a:cubicBezTo>
                    <a:cubicBezTo>
                      <a:pt x="93497" y="642375"/>
                      <a:pt x="111604" y="646320"/>
                      <a:pt x="125947" y="648202"/>
                    </a:cubicBezTo>
                    <a:lnTo>
                      <a:pt x="136883" y="649636"/>
                    </a:lnTo>
                    <a:lnTo>
                      <a:pt x="138497" y="660573"/>
                    </a:lnTo>
                    <a:cubicBezTo>
                      <a:pt x="140828" y="676708"/>
                      <a:pt x="146565" y="695443"/>
                      <a:pt x="155529" y="716240"/>
                    </a:cubicBezTo>
                    <a:cubicBezTo>
                      <a:pt x="173995" y="757117"/>
                      <a:pt x="178029" y="767426"/>
                      <a:pt x="179374" y="771550"/>
                    </a:cubicBezTo>
                    <a:lnTo>
                      <a:pt x="181436" y="777824"/>
                    </a:lnTo>
                    <a:lnTo>
                      <a:pt x="178119" y="783562"/>
                    </a:lnTo>
                    <a:cubicBezTo>
                      <a:pt x="147730" y="835823"/>
                      <a:pt x="135270" y="860026"/>
                      <a:pt x="130340" y="871142"/>
                    </a:cubicBezTo>
                    <a:cubicBezTo>
                      <a:pt x="192641" y="934429"/>
                      <a:pt x="221685" y="961322"/>
                      <a:pt x="235042" y="971989"/>
                    </a:cubicBezTo>
                    <a:cubicBezTo>
                      <a:pt x="244006" y="967328"/>
                      <a:pt x="256825" y="959798"/>
                      <a:pt x="273408" y="949489"/>
                    </a:cubicBezTo>
                    <a:cubicBezTo>
                      <a:pt x="294295" y="936670"/>
                      <a:pt x="312223" y="928065"/>
                      <a:pt x="328180" y="923134"/>
                    </a:cubicBezTo>
                    <a:lnTo>
                      <a:pt x="334813" y="921073"/>
                    </a:lnTo>
                    <a:lnTo>
                      <a:pt x="340550" y="924927"/>
                    </a:lnTo>
                    <a:cubicBezTo>
                      <a:pt x="342612" y="926093"/>
                      <a:pt x="359286" y="933981"/>
                      <a:pt x="441756" y="970286"/>
                    </a:cubicBezTo>
                    <a:lnTo>
                      <a:pt x="447314" y="972706"/>
                    </a:lnTo>
                    <a:lnTo>
                      <a:pt x="449465" y="978354"/>
                    </a:lnTo>
                    <a:cubicBezTo>
                      <a:pt x="453768" y="989559"/>
                      <a:pt x="458878" y="1008115"/>
                      <a:pt x="465153" y="1035097"/>
                    </a:cubicBezTo>
                    <a:cubicBezTo>
                      <a:pt x="469456" y="1053205"/>
                      <a:pt x="473490" y="1067548"/>
                      <a:pt x="477434" y="1077946"/>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grpSp>
      </p:grpSp>
      <p:sp>
        <p:nvSpPr>
          <p:cNvPr id="2" name="Title 1">
            <a:extLst>
              <a:ext uri="{FF2B5EF4-FFF2-40B4-BE49-F238E27FC236}">
                <a16:creationId xmlns:a16="http://schemas.microsoft.com/office/drawing/2014/main" id="{D8C89568-F87E-1480-183B-23949F1FF90D}"/>
              </a:ext>
            </a:extLst>
          </p:cNvPr>
          <p:cNvSpPr>
            <a:spLocks noGrp="1"/>
          </p:cNvSpPr>
          <p:nvPr>
            <p:ph type="title"/>
          </p:nvPr>
        </p:nvSpPr>
        <p:spPr/>
        <p:txBody>
          <a:bodyPr/>
          <a:lstStyle/>
          <a:p>
            <a:r>
              <a:rPr lang="en-GB" dirty="0"/>
              <a:t>VKS is a service enabled by Supervisor</a:t>
            </a:r>
            <a:endParaRPr lang="en-US" dirty="0"/>
          </a:p>
        </p:txBody>
      </p:sp>
      <p:sp>
        <p:nvSpPr>
          <p:cNvPr id="3" name="Subtitle 2">
            <a:extLst>
              <a:ext uri="{FF2B5EF4-FFF2-40B4-BE49-F238E27FC236}">
                <a16:creationId xmlns:a16="http://schemas.microsoft.com/office/drawing/2014/main" id="{BBBD3D10-19D8-C197-57E4-5EFC3EAAD34C}"/>
              </a:ext>
            </a:extLst>
          </p:cNvPr>
          <p:cNvSpPr>
            <a:spLocks noGrp="1"/>
          </p:cNvSpPr>
          <p:nvPr>
            <p:ph type="subTitle" idx="10"/>
          </p:nvPr>
        </p:nvSpPr>
        <p:spPr/>
        <p:txBody>
          <a:bodyPr/>
          <a:lstStyle/>
          <a:p>
            <a:r>
              <a:rPr lang="en-GB" dirty="0"/>
              <a:t>A Declarative API for unified resource management </a:t>
            </a:r>
            <a:endParaRPr lang="en-US" dirty="0"/>
          </a:p>
        </p:txBody>
      </p:sp>
      <p:sp>
        <p:nvSpPr>
          <p:cNvPr id="8" name="Text Placeholder 7">
            <a:extLst>
              <a:ext uri="{FF2B5EF4-FFF2-40B4-BE49-F238E27FC236}">
                <a16:creationId xmlns:a16="http://schemas.microsoft.com/office/drawing/2014/main" id="{25DB4A0F-A75A-9DF1-FFA9-E0A270224E0C}"/>
              </a:ext>
            </a:extLst>
          </p:cNvPr>
          <p:cNvSpPr>
            <a:spLocks noGrp="1"/>
          </p:cNvSpPr>
          <p:nvPr>
            <p:ph type="body" sz="quarter" idx="17"/>
          </p:nvPr>
        </p:nvSpPr>
        <p:spPr/>
        <p:txBody>
          <a:bodyPr/>
          <a:lstStyle/>
          <a:p>
            <a:r>
              <a:rPr lang="en-US" dirty="0"/>
              <a:t>Deploy and manage </a:t>
            </a:r>
            <a:r>
              <a:rPr lang="en-US" b="1" dirty="0"/>
              <a:t>Virtual Machines</a:t>
            </a:r>
            <a:r>
              <a:rPr lang="en-US" dirty="0"/>
              <a:t>, </a:t>
            </a:r>
            <a:r>
              <a:rPr lang="en-US" b="1" dirty="0"/>
              <a:t>Kubernetes clusters</a:t>
            </a:r>
            <a:r>
              <a:rPr lang="en-US" dirty="0"/>
              <a:t>, and other resources using a </a:t>
            </a:r>
            <a:r>
              <a:rPr lang="en-US" b="1" dirty="0"/>
              <a:t>single API</a:t>
            </a:r>
          </a:p>
          <a:p>
            <a:r>
              <a:rPr lang="en-US" dirty="0"/>
              <a:t>vSphere Supervisor provides an </a:t>
            </a:r>
            <a:r>
              <a:rPr lang="en-US" b="1" dirty="0"/>
              <a:t>extensible ecosystem </a:t>
            </a:r>
            <a:r>
              <a:rPr lang="en-US" dirty="0"/>
              <a:t>with private cloud services</a:t>
            </a:r>
          </a:p>
          <a:p>
            <a:r>
              <a:rPr lang="en-US" dirty="0"/>
              <a:t>Add </a:t>
            </a:r>
            <a:r>
              <a:rPr lang="en-US" b="1" dirty="0"/>
              <a:t>new functionality </a:t>
            </a:r>
            <a:r>
              <a:rPr lang="en-US" dirty="0"/>
              <a:t>when needed while providing a </a:t>
            </a:r>
            <a:r>
              <a:rPr lang="en-US" b="1" dirty="0"/>
              <a:t>consistent consumption experience</a:t>
            </a:r>
          </a:p>
          <a:p>
            <a:r>
              <a:rPr lang="en-US" dirty="0"/>
              <a:t>Provide </a:t>
            </a:r>
            <a:r>
              <a:rPr lang="en-US" b="1" dirty="0"/>
              <a:t>abstraction</a:t>
            </a:r>
            <a:r>
              <a:rPr lang="en-US" dirty="0"/>
              <a:t> for underlying infrastructure</a:t>
            </a:r>
          </a:p>
          <a:p>
            <a:endParaRPr lang="en-US" dirty="0"/>
          </a:p>
          <a:p>
            <a:pPr>
              <a:buNone/>
            </a:pPr>
            <a:endParaRPr lang="en-US" dirty="0"/>
          </a:p>
        </p:txBody>
      </p:sp>
      <p:sp>
        <p:nvSpPr>
          <p:cNvPr id="9" name="Isosceles Triangle 241">
            <a:extLst>
              <a:ext uri="{FF2B5EF4-FFF2-40B4-BE49-F238E27FC236}">
                <a16:creationId xmlns:a16="http://schemas.microsoft.com/office/drawing/2014/main" id="{7A775956-225B-AD3C-26C0-A808CA7525DF}"/>
              </a:ext>
              <a:ext uri="{C183D7F6-B498-43B3-948B-1728B52AA6E4}">
                <adec:decorative xmlns:adec="http://schemas.microsoft.com/office/drawing/2017/decorative" val="1"/>
              </a:ext>
            </a:extLst>
          </p:cNvPr>
          <p:cNvSpPr/>
          <p:nvPr/>
        </p:nvSpPr>
        <p:spPr>
          <a:xfrm>
            <a:off x="914410" y="3597674"/>
            <a:ext cx="6481218" cy="1306364"/>
          </a:xfrm>
          <a:prstGeom prst="triangle">
            <a:avLst>
              <a:gd name="adj" fmla="val 50667"/>
            </a:avLst>
          </a:prstGeom>
          <a:gradFill flip="none" rotWithShape="1">
            <a:gsLst>
              <a:gs pos="50000">
                <a:schemeClr val="accent2">
                  <a:alpha val="0"/>
                </a:schemeClr>
              </a:gs>
              <a:gs pos="0">
                <a:schemeClr val="accent5">
                  <a:alpha val="59511"/>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392" tIns="45696" rIns="91392" bIns="45696"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sp>
        <p:nvSpPr>
          <p:cNvPr id="10" name="Google Shape;1556;p2">
            <a:extLst>
              <a:ext uri="{FF2B5EF4-FFF2-40B4-BE49-F238E27FC236}">
                <a16:creationId xmlns:a16="http://schemas.microsoft.com/office/drawing/2014/main" id="{D3F5656C-77AA-4405-5566-E63F333191FD}"/>
              </a:ext>
            </a:extLst>
          </p:cNvPr>
          <p:cNvSpPr/>
          <p:nvPr/>
        </p:nvSpPr>
        <p:spPr>
          <a:xfrm>
            <a:off x="770384" y="5121313"/>
            <a:ext cx="6700058" cy="513172"/>
          </a:xfrm>
          <a:prstGeom prst="roundRect">
            <a:avLst>
              <a:gd name="adj" fmla="val 9132"/>
            </a:avLst>
          </a:prstGeom>
          <a:noFill/>
          <a:ln w="19050" cap="flat" cmpd="sng">
            <a:solidFill>
              <a:schemeClr val="accent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 name="Google Shape;1562;p2">
            <a:extLst>
              <a:ext uri="{FF2B5EF4-FFF2-40B4-BE49-F238E27FC236}">
                <a16:creationId xmlns:a16="http://schemas.microsoft.com/office/drawing/2014/main" id="{52A8CDF4-C337-2EA1-A883-B1A81EF5BB29}"/>
              </a:ext>
            </a:extLst>
          </p:cNvPr>
          <p:cNvSpPr/>
          <p:nvPr/>
        </p:nvSpPr>
        <p:spPr>
          <a:xfrm>
            <a:off x="847855" y="4910067"/>
            <a:ext cx="6547773" cy="423705"/>
          </a:xfrm>
          <a:prstGeom prst="roundRect">
            <a:avLst>
              <a:gd name="adj" fmla="val 8857"/>
            </a:avLst>
          </a:prstGeom>
          <a:gradFill>
            <a:gsLst>
              <a:gs pos="0">
                <a:srgbClr val="6C4B8F"/>
              </a:gs>
              <a:gs pos="100000">
                <a:srgbClr val="005B84"/>
              </a:gs>
            </a:gsLst>
            <a:lin ang="0" scaled="0"/>
          </a:gradFill>
          <a:ln>
            <a:noFill/>
          </a:ln>
          <a:effectLst>
            <a:reflection stA="41000" endPos="31000" dist="50800" dir="5400000" fadeDir="5400012" sy="-100000" algn="bl" rotWithShape="0"/>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2" name="TextBox 11">
            <a:extLst>
              <a:ext uri="{FF2B5EF4-FFF2-40B4-BE49-F238E27FC236}">
                <a16:creationId xmlns:a16="http://schemas.microsoft.com/office/drawing/2014/main" id="{B6357FCB-CF7E-4F6B-8CCF-612616C51732}"/>
              </a:ext>
            </a:extLst>
          </p:cNvPr>
          <p:cNvSpPr txBox="1"/>
          <p:nvPr/>
        </p:nvSpPr>
        <p:spPr>
          <a:xfrm>
            <a:off x="3687083" y="5021119"/>
            <a:ext cx="866659"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a:ea typeface="+mn-ea"/>
                <a:cs typeface="+mn-cs"/>
              </a:rPr>
              <a:t>Supervisor</a:t>
            </a:r>
          </a:p>
        </p:txBody>
      </p:sp>
      <p:sp>
        <p:nvSpPr>
          <p:cNvPr id="13" name="Rectangle: Rounded Corners 130">
            <a:extLst>
              <a:ext uri="{FF2B5EF4-FFF2-40B4-BE49-F238E27FC236}">
                <a16:creationId xmlns:a16="http://schemas.microsoft.com/office/drawing/2014/main" id="{CFDB37AC-AB2B-D977-4A94-A497AA3511EE}"/>
              </a:ext>
              <a:ext uri="{C183D7F6-B498-43B3-948B-1728B52AA6E4}">
                <adec:decorative xmlns:adec="http://schemas.microsoft.com/office/drawing/2017/decorative" val="1"/>
              </a:ext>
            </a:extLst>
          </p:cNvPr>
          <p:cNvSpPr/>
          <p:nvPr/>
        </p:nvSpPr>
        <p:spPr>
          <a:xfrm>
            <a:off x="899865" y="4972714"/>
            <a:ext cx="1814370" cy="304750"/>
          </a:xfrm>
          <a:prstGeom prst="roundRect">
            <a:avLst>
              <a:gd name="adj" fmla="val 50000"/>
            </a:avLst>
          </a:prstGeom>
          <a:solidFill>
            <a:schemeClr val="bg1"/>
          </a:solidFill>
          <a:ln w="12700">
            <a:solidFill>
              <a:schemeClr val="accent5"/>
            </a:solidFill>
            <a:prstDash val="sysDot"/>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900" b="0" i="0" u="none" strike="noStrike" kern="1200" cap="none" spc="0" normalizeH="0" baseline="0" noProof="0" dirty="0">
              <a:ln>
                <a:noFill/>
              </a:ln>
              <a:solidFill>
                <a:srgbClr val="61A60E"/>
              </a:solidFill>
              <a:effectLst/>
              <a:uLnTx/>
              <a:uFillTx/>
              <a:latin typeface="Arial" panose="020B0604020202020204"/>
              <a:ea typeface="+mn-ea"/>
              <a:cs typeface="+mn-cs"/>
            </a:endParaRPr>
          </a:p>
        </p:txBody>
      </p:sp>
      <p:sp>
        <p:nvSpPr>
          <p:cNvPr id="14" name="TextBox 13">
            <a:extLst>
              <a:ext uri="{FF2B5EF4-FFF2-40B4-BE49-F238E27FC236}">
                <a16:creationId xmlns:a16="http://schemas.microsoft.com/office/drawing/2014/main" id="{F1AAB062-1BF8-4416-F0CE-3030C933E833}"/>
              </a:ext>
            </a:extLst>
          </p:cNvPr>
          <p:cNvSpPr txBox="1"/>
          <p:nvPr/>
        </p:nvSpPr>
        <p:spPr>
          <a:xfrm>
            <a:off x="1224528" y="5031617"/>
            <a:ext cx="1438968" cy="179216"/>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rPr>
              <a:t>Supervisor Control Plane</a:t>
            </a:r>
          </a:p>
        </p:txBody>
      </p:sp>
      <p:grpSp>
        <p:nvGrpSpPr>
          <p:cNvPr id="15" name="Group 14">
            <a:extLst>
              <a:ext uri="{FF2B5EF4-FFF2-40B4-BE49-F238E27FC236}">
                <a16:creationId xmlns:a16="http://schemas.microsoft.com/office/drawing/2014/main" id="{B2A36490-03A0-ABA5-D511-8AB03AFDC8F2}"/>
              </a:ext>
            </a:extLst>
          </p:cNvPr>
          <p:cNvGrpSpPr/>
          <p:nvPr/>
        </p:nvGrpSpPr>
        <p:grpSpPr>
          <a:xfrm>
            <a:off x="914409" y="4983435"/>
            <a:ext cx="288000" cy="288000"/>
            <a:chOff x="456349" y="4375620"/>
            <a:chExt cx="288000" cy="288000"/>
          </a:xfrm>
        </p:grpSpPr>
        <p:sp>
          <p:nvSpPr>
            <p:cNvPr id="16" name="Freeform: Shape 79">
              <a:extLst>
                <a:ext uri="{FF2B5EF4-FFF2-40B4-BE49-F238E27FC236}">
                  <a16:creationId xmlns:a16="http://schemas.microsoft.com/office/drawing/2014/main" id="{EDEDD0A8-DE37-BCC6-E018-ED79FEDFF93C}"/>
                </a:ext>
              </a:extLst>
            </p:cNvPr>
            <p:cNvSpPr/>
            <p:nvPr/>
          </p:nvSpPr>
          <p:spPr>
            <a:xfrm>
              <a:off x="456349" y="4375620"/>
              <a:ext cx="288000" cy="288000"/>
            </a:xfrm>
            <a:custGeom>
              <a:avLst/>
              <a:gdLst>
                <a:gd name="connsiteX0" fmla="*/ 619503 w 1237269"/>
                <a:gd name="connsiteY0" fmla="*/ 0 h 1237269"/>
                <a:gd name="connsiteX1" fmla="*/ 1237270 w 1237269"/>
                <a:gd name="connsiteY1" fmla="*/ 617767 h 1237269"/>
                <a:gd name="connsiteX2" fmla="*/ 1237270 w 1237269"/>
                <a:gd name="connsiteY2" fmla="*/ 619503 h 1237269"/>
                <a:gd name="connsiteX3" fmla="*/ 619503 w 1237269"/>
                <a:gd name="connsiteY3" fmla="*/ 1237270 h 1237269"/>
                <a:gd name="connsiteX4" fmla="*/ 617767 w 1237269"/>
                <a:gd name="connsiteY4" fmla="*/ 1237270 h 1237269"/>
                <a:gd name="connsiteX5" fmla="*/ 0 w 1237269"/>
                <a:gd name="connsiteY5" fmla="*/ 619503 h 1237269"/>
                <a:gd name="connsiteX6" fmla="*/ 0 w 1237269"/>
                <a:gd name="connsiteY6" fmla="*/ 617767 h 1237269"/>
                <a:gd name="connsiteX7" fmla="*/ 617767 w 1237269"/>
                <a:gd name="connsiteY7" fmla="*/ 0 h 123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269" h="1237269">
                  <a:moveTo>
                    <a:pt x="619503" y="0"/>
                  </a:moveTo>
                  <a:cubicBezTo>
                    <a:pt x="960686" y="0"/>
                    <a:pt x="1237270" y="276584"/>
                    <a:pt x="1237270" y="617767"/>
                  </a:cubicBezTo>
                  <a:lnTo>
                    <a:pt x="1237270" y="619503"/>
                  </a:lnTo>
                  <a:cubicBezTo>
                    <a:pt x="1237270" y="960686"/>
                    <a:pt x="960686" y="1237270"/>
                    <a:pt x="619503" y="1237270"/>
                  </a:cubicBezTo>
                  <a:lnTo>
                    <a:pt x="617767" y="1237270"/>
                  </a:lnTo>
                  <a:cubicBezTo>
                    <a:pt x="276584" y="1237270"/>
                    <a:pt x="0" y="960686"/>
                    <a:pt x="0" y="619503"/>
                  </a:cubicBezTo>
                  <a:lnTo>
                    <a:pt x="0" y="617767"/>
                  </a:lnTo>
                  <a:cubicBezTo>
                    <a:pt x="0" y="276584"/>
                    <a:pt x="276584" y="0"/>
                    <a:pt x="617767" y="0"/>
                  </a:cubicBezTo>
                  <a:close/>
                </a:path>
              </a:pathLst>
            </a:custGeom>
            <a:solidFill>
              <a:schemeClr val="accent5"/>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 name="Freeform: Shape 80">
              <a:extLst>
                <a:ext uri="{FF2B5EF4-FFF2-40B4-BE49-F238E27FC236}">
                  <a16:creationId xmlns:a16="http://schemas.microsoft.com/office/drawing/2014/main" id="{4F7D7BF1-21D4-68D2-F760-D9D3DFC2DE05}"/>
                </a:ext>
              </a:extLst>
            </p:cNvPr>
            <p:cNvSpPr>
              <a:spLocks noChangeAspect="1"/>
            </p:cNvSpPr>
            <p:nvPr/>
          </p:nvSpPr>
          <p:spPr>
            <a:xfrm>
              <a:off x="501068" y="4430830"/>
              <a:ext cx="204951" cy="180919"/>
            </a:xfrm>
            <a:custGeom>
              <a:avLst/>
              <a:gdLst>
                <a:gd name="connsiteX0" fmla="*/ 1269187 w 1373429"/>
                <a:gd name="connsiteY0" fmla="*/ 1205789 h 1372819"/>
                <a:gd name="connsiteX1" fmla="*/ 1206094 w 1373429"/>
                <a:gd name="connsiteY1" fmla="*/ 1268882 h 1372819"/>
                <a:gd name="connsiteX2" fmla="*/ 1269187 w 1373429"/>
                <a:gd name="connsiteY2" fmla="*/ 1331976 h 1372819"/>
                <a:gd name="connsiteX3" fmla="*/ 1332281 w 1373429"/>
                <a:gd name="connsiteY3" fmla="*/ 1268882 h 1372819"/>
                <a:gd name="connsiteX4" fmla="*/ 1269187 w 1373429"/>
                <a:gd name="connsiteY4" fmla="*/ 1205789 h 1372819"/>
                <a:gd name="connsiteX5" fmla="*/ 686714 w 1373429"/>
                <a:gd name="connsiteY5" fmla="*/ 1205789 h 1372819"/>
                <a:gd name="connsiteX6" fmla="*/ 623621 w 1373429"/>
                <a:gd name="connsiteY6" fmla="*/ 1268882 h 1372819"/>
                <a:gd name="connsiteX7" fmla="*/ 686714 w 1373429"/>
                <a:gd name="connsiteY7" fmla="*/ 1331976 h 1372819"/>
                <a:gd name="connsiteX8" fmla="*/ 749808 w 1373429"/>
                <a:gd name="connsiteY8" fmla="*/ 1268882 h 1372819"/>
                <a:gd name="connsiteX9" fmla="*/ 686714 w 1373429"/>
                <a:gd name="connsiteY9" fmla="*/ 1205789 h 1372819"/>
                <a:gd name="connsiteX10" fmla="*/ 104242 w 1373429"/>
                <a:gd name="connsiteY10" fmla="*/ 1205789 h 1372819"/>
                <a:gd name="connsiteX11" fmla="*/ 41148 w 1373429"/>
                <a:gd name="connsiteY11" fmla="*/ 1268882 h 1372819"/>
                <a:gd name="connsiteX12" fmla="*/ 104242 w 1373429"/>
                <a:gd name="connsiteY12" fmla="*/ 1331976 h 1372819"/>
                <a:gd name="connsiteX13" fmla="*/ 167335 w 1373429"/>
                <a:gd name="connsiteY13" fmla="*/ 1268882 h 1372819"/>
                <a:gd name="connsiteX14" fmla="*/ 104242 w 1373429"/>
                <a:gd name="connsiteY14" fmla="*/ 1205789 h 1372819"/>
                <a:gd name="connsiteX15" fmla="*/ 607466 w 1373429"/>
                <a:gd name="connsiteY15" fmla="*/ 647090 h 1372819"/>
                <a:gd name="connsiteX16" fmla="*/ 627887 w 1373429"/>
                <a:gd name="connsiteY16" fmla="*/ 693420 h 1372819"/>
                <a:gd name="connsiteX17" fmla="*/ 587044 w 1373429"/>
                <a:gd name="connsiteY17" fmla="*/ 693420 h 1372819"/>
                <a:gd name="connsiteX18" fmla="*/ 693724 w 1373429"/>
                <a:gd name="connsiteY18" fmla="*/ 644042 h 1372819"/>
                <a:gd name="connsiteX19" fmla="*/ 717803 w 1373429"/>
                <a:gd name="connsiteY19" fmla="*/ 644042 h 1372819"/>
                <a:gd name="connsiteX20" fmla="*/ 735482 w 1373429"/>
                <a:gd name="connsiteY20" fmla="*/ 648919 h 1372819"/>
                <a:gd name="connsiteX21" fmla="*/ 742187 w 1373429"/>
                <a:gd name="connsiteY21" fmla="*/ 662330 h 1372819"/>
                <a:gd name="connsiteX22" fmla="*/ 735482 w 1373429"/>
                <a:gd name="connsiteY22" fmla="*/ 676046 h 1372819"/>
                <a:gd name="connsiteX23" fmla="*/ 735482 w 1373429"/>
                <a:gd name="connsiteY23" fmla="*/ 676351 h 1372819"/>
                <a:gd name="connsiteX24" fmla="*/ 717803 w 1373429"/>
                <a:gd name="connsiteY24" fmla="*/ 681228 h 1372819"/>
                <a:gd name="connsiteX25" fmla="*/ 693724 w 1373429"/>
                <a:gd name="connsiteY25" fmla="*/ 681228 h 1372819"/>
                <a:gd name="connsiteX26" fmla="*/ 776629 w 1373429"/>
                <a:gd name="connsiteY26" fmla="*/ 630631 h 1372819"/>
                <a:gd name="connsiteX27" fmla="*/ 776629 w 1373429"/>
                <a:gd name="connsiteY27" fmla="*/ 726338 h 1372819"/>
                <a:gd name="connsiteX28" fmla="*/ 790041 w 1373429"/>
                <a:gd name="connsiteY28" fmla="*/ 726338 h 1372819"/>
                <a:gd name="connsiteX29" fmla="*/ 790041 w 1373429"/>
                <a:gd name="connsiteY29" fmla="*/ 630631 h 1372819"/>
                <a:gd name="connsiteX30" fmla="*/ 679703 w 1373429"/>
                <a:gd name="connsiteY30" fmla="*/ 630631 h 1372819"/>
                <a:gd name="connsiteX31" fmla="*/ 679703 w 1373429"/>
                <a:gd name="connsiteY31" fmla="*/ 726338 h 1372819"/>
                <a:gd name="connsiteX32" fmla="*/ 693114 w 1373429"/>
                <a:gd name="connsiteY32" fmla="*/ 726338 h 1372819"/>
                <a:gd name="connsiteX33" fmla="*/ 693114 w 1373429"/>
                <a:gd name="connsiteY33" fmla="*/ 692810 h 1372819"/>
                <a:gd name="connsiteX34" fmla="*/ 719022 w 1373429"/>
                <a:gd name="connsiteY34" fmla="*/ 692810 h 1372819"/>
                <a:gd name="connsiteX35" fmla="*/ 737005 w 1373429"/>
                <a:gd name="connsiteY35" fmla="*/ 688847 h 1372819"/>
                <a:gd name="connsiteX36" fmla="*/ 749807 w 1373429"/>
                <a:gd name="connsiteY36" fmla="*/ 677875 h 1372819"/>
                <a:gd name="connsiteX37" fmla="*/ 754684 w 1373429"/>
                <a:gd name="connsiteY37" fmla="*/ 661720 h 1372819"/>
                <a:gd name="connsiteX38" fmla="*/ 749807 w 1373429"/>
                <a:gd name="connsiteY38" fmla="*/ 645566 h 1372819"/>
                <a:gd name="connsiteX39" fmla="*/ 737005 w 1373429"/>
                <a:gd name="connsiteY39" fmla="*/ 634593 h 1372819"/>
                <a:gd name="connsiteX40" fmla="*/ 719022 w 1373429"/>
                <a:gd name="connsiteY40" fmla="*/ 630631 h 1372819"/>
                <a:gd name="connsiteX41" fmla="*/ 600150 w 1373429"/>
                <a:gd name="connsiteY41" fmla="*/ 630631 h 1372819"/>
                <a:gd name="connsiteX42" fmla="*/ 558697 w 1373429"/>
                <a:gd name="connsiteY42" fmla="*/ 726338 h 1372819"/>
                <a:gd name="connsiteX43" fmla="*/ 572413 w 1373429"/>
                <a:gd name="connsiteY43" fmla="*/ 726338 h 1372819"/>
                <a:gd name="connsiteX44" fmla="*/ 581862 w 1373429"/>
                <a:gd name="connsiteY44" fmla="*/ 705307 h 1372819"/>
                <a:gd name="connsiteX45" fmla="*/ 631849 w 1373429"/>
                <a:gd name="connsiteY45" fmla="*/ 705307 h 1372819"/>
                <a:gd name="connsiteX46" fmla="*/ 641298 w 1373429"/>
                <a:gd name="connsiteY46" fmla="*/ 726338 h 1372819"/>
                <a:gd name="connsiteX47" fmla="*/ 655014 w 1373429"/>
                <a:gd name="connsiteY47" fmla="*/ 726338 h 1372819"/>
                <a:gd name="connsiteX48" fmla="*/ 613561 w 1373429"/>
                <a:gd name="connsiteY48" fmla="*/ 630631 h 1372819"/>
                <a:gd name="connsiteX49" fmla="*/ 685799 w 1373429"/>
                <a:gd name="connsiteY49" fmla="*/ 490727 h 1372819"/>
                <a:gd name="connsiteX50" fmla="*/ 611733 w 1373429"/>
                <a:gd name="connsiteY50" fmla="*/ 504748 h 1372819"/>
                <a:gd name="connsiteX51" fmla="*/ 505967 w 1373429"/>
                <a:gd name="connsiteY51" fmla="*/ 608075 h 1372819"/>
                <a:gd name="connsiteX52" fmla="*/ 535533 w 1373429"/>
                <a:gd name="connsiteY52" fmla="*/ 620877 h 1372819"/>
                <a:gd name="connsiteX53" fmla="*/ 623620 w 1373429"/>
                <a:gd name="connsiteY53" fmla="*/ 534923 h 1372819"/>
                <a:gd name="connsiteX54" fmla="*/ 746759 w 1373429"/>
                <a:gd name="connsiteY54" fmla="*/ 536447 h 1372819"/>
                <a:gd name="connsiteX55" fmla="*/ 832713 w 1373429"/>
                <a:gd name="connsiteY55" fmla="*/ 624535 h 1372819"/>
                <a:gd name="connsiteX56" fmla="*/ 831189 w 1373429"/>
                <a:gd name="connsiteY56" fmla="*/ 747674 h 1372819"/>
                <a:gd name="connsiteX57" fmla="*/ 619962 w 1373429"/>
                <a:gd name="connsiteY57" fmla="*/ 832103 h 1372819"/>
                <a:gd name="connsiteX58" fmla="*/ 607161 w 1373429"/>
                <a:gd name="connsiteY58" fmla="*/ 861669 h 1372819"/>
                <a:gd name="connsiteX59" fmla="*/ 683056 w 1373429"/>
                <a:gd name="connsiteY59" fmla="*/ 877214 h 1372819"/>
                <a:gd name="connsiteX60" fmla="*/ 860754 w 1373429"/>
                <a:gd name="connsiteY60" fmla="*/ 760171 h 1372819"/>
                <a:gd name="connsiteX61" fmla="*/ 861059 w 1373429"/>
                <a:gd name="connsiteY61" fmla="*/ 760171 h 1372819"/>
                <a:gd name="connsiteX62" fmla="*/ 862888 w 1373429"/>
                <a:gd name="connsiteY62" fmla="*/ 612343 h 1372819"/>
                <a:gd name="connsiteX63" fmla="*/ 759561 w 1373429"/>
                <a:gd name="connsiteY63" fmla="*/ 506577 h 1372819"/>
                <a:gd name="connsiteX64" fmla="*/ 685799 w 1373429"/>
                <a:gd name="connsiteY64" fmla="*/ 490727 h 1372819"/>
                <a:gd name="connsiteX65" fmla="*/ 624229 w 1373429"/>
                <a:gd name="connsiteY65" fmla="*/ 345033 h 1372819"/>
                <a:gd name="connsiteX66" fmla="*/ 749502 w 1373429"/>
                <a:gd name="connsiteY66" fmla="*/ 345033 h 1372819"/>
                <a:gd name="connsiteX67" fmla="*/ 757122 w 1373429"/>
                <a:gd name="connsiteY67" fmla="*/ 425805 h 1372819"/>
                <a:gd name="connsiteX68" fmla="*/ 819911 w 1373429"/>
                <a:gd name="connsiteY68" fmla="*/ 452323 h 1372819"/>
                <a:gd name="connsiteX69" fmla="*/ 883005 w 1373429"/>
                <a:gd name="connsiteY69" fmla="*/ 399897 h 1372819"/>
                <a:gd name="connsiteX70" fmla="*/ 927201 w 1373429"/>
                <a:gd name="connsiteY70" fmla="*/ 444093 h 1372819"/>
                <a:gd name="connsiteX71" fmla="*/ 971397 w 1373429"/>
                <a:gd name="connsiteY71" fmla="*/ 488289 h 1372819"/>
                <a:gd name="connsiteX72" fmla="*/ 917447 w 1373429"/>
                <a:gd name="connsiteY72" fmla="*/ 553516 h 1372819"/>
                <a:gd name="connsiteX73" fmla="*/ 940612 w 1373429"/>
                <a:gd name="connsiteY73" fmla="*/ 613257 h 1372819"/>
                <a:gd name="connsiteX74" fmla="*/ 1026565 w 1373429"/>
                <a:gd name="connsiteY74" fmla="*/ 621487 h 1372819"/>
                <a:gd name="connsiteX75" fmla="*/ 1026565 w 1373429"/>
                <a:gd name="connsiteY75" fmla="*/ 746759 h 1372819"/>
                <a:gd name="connsiteX76" fmla="*/ 936649 w 1373429"/>
                <a:gd name="connsiteY76" fmla="*/ 755294 h 1372819"/>
                <a:gd name="connsiteX77" fmla="*/ 912875 w 1373429"/>
                <a:gd name="connsiteY77" fmla="*/ 809243 h 1372819"/>
                <a:gd name="connsiteX78" fmla="*/ 912265 w 1373429"/>
                <a:gd name="connsiteY78" fmla="*/ 809548 h 1372819"/>
                <a:gd name="connsiteX79" fmla="*/ 971092 w 1373429"/>
                <a:gd name="connsiteY79" fmla="*/ 880262 h 1372819"/>
                <a:gd name="connsiteX80" fmla="*/ 926896 w 1373429"/>
                <a:gd name="connsiteY80" fmla="*/ 924458 h 1372819"/>
                <a:gd name="connsiteX81" fmla="*/ 882700 w 1373429"/>
                <a:gd name="connsiteY81" fmla="*/ 968654 h 1372819"/>
                <a:gd name="connsiteX82" fmla="*/ 809548 w 1373429"/>
                <a:gd name="connsiteY82" fmla="*/ 907999 h 1372819"/>
                <a:gd name="connsiteX83" fmla="*/ 758037 w 1373429"/>
                <a:gd name="connsiteY83" fmla="*/ 928725 h 1372819"/>
                <a:gd name="connsiteX84" fmla="*/ 749197 w 1373429"/>
                <a:gd name="connsiteY84" fmla="*/ 1023823 h 1372819"/>
                <a:gd name="connsiteX85" fmla="*/ 623925 w 1373429"/>
                <a:gd name="connsiteY85" fmla="*/ 1023823 h 1372819"/>
                <a:gd name="connsiteX86" fmla="*/ 615085 w 1373429"/>
                <a:gd name="connsiteY86" fmla="*/ 928725 h 1372819"/>
                <a:gd name="connsiteX87" fmla="*/ 563879 w 1373429"/>
                <a:gd name="connsiteY87" fmla="*/ 907999 h 1372819"/>
                <a:gd name="connsiteX88" fmla="*/ 490727 w 1373429"/>
                <a:gd name="connsiteY88" fmla="*/ 968349 h 1372819"/>
                <a:gd name="connsiteX89" fmla="*/ 446531 w 1373429"/>
                <a:gd name="connsiteY89" fmla="*/ 924153 h 1372819"/>
                <a:gd name="connsiteX90" fmla="*/ 402335 w 1373429"/>
                <a:gd name="connsiteY90" fmla="*/ 879957 h 1372819"/>
                <a:gd name="connsiteX91" fmla="*/ 461161 w 1373429"/>
                <a:gd name="connsiteY91" fmla="*/ 809243 h 1372819"/>
                <a:gd name="connsiteX92" fmla="*/ 437387 w 1373429"/>
                <a:gd name="connsiteY92" fmla="*/ 755294 h 1372819"/>
                <a:gd name="connsiteX93" fmla="*/ 347471 w 1373429"/>
                <a:gd name="connsiteY93" fmla="*/ 746759 h 1372819"/>
                <a:gd name="connsiteX94" fmla="*/ 347471 w 1373429"/>
                <a:gd name="connsiteY94" fmla="*/ 621487 h 1372819"/>
                <a:gd name="connsiteX95" fmla="*/ 433425 w 1373429"/>
                <a:gd name="connsiteY95" fmla="*/ 613867 h 1372819"/>
                <a:gd name="connsiteX96" fmla="*/ 456894 w 1373429"/>
                <a:gd name="connsiteY96" fmla="*/ 553821 h 1372819"/>
                <a:gd name="connsiteX97" fmla="*/ 402640 w 1373429"/>
                <a:gd name="connsiteY97" fmla="*/ 488594 h 1372819"/>
                <a:gd name="connsiteX98" fmla="*/ 446836 w 1373429"/>
                <a:gd name="connsiteY98" fmla="*/ 444398 h 1372819"/>
                <a:gd name="connsiteX99" fmla="*/ 491032 w 1373429"/>
                <a:gd name="connsiteY99" fmla="*/ 400202 h 1372819"/>
                <a:gd name="connsiteX100" fmla="*/ 554125 w 1373429"/>
                <a:gd name="connsiteY100" fmla="*/ 452627 h 1372819"/>
                <a:gd name="connsiteX101" fmla="*/ 616609 w 1373429"/>
                <a:gd name="connsiteY101" fmla="*/ 426110 h 1372819"/>
                <a:gd name="connsiteX102" fmla="*/ 205740 w 1373429"/>
                <a:gd name="connsiteY102" fmla="*/ 118567 h 1372819"/>
                <a:gd name="connsiteX103" fmla="*/ 190500 w 1373429"/>
                <a:gd name="connsiteY103" fmla="*/ 159715 h 1372819"/>
                <a:gd name="connsiteX104" fmla="*/ 431902 w 1373429"/>
                <a:gd name="connsiteY104" fmla="*/ 401422 h 1372819"/>
                <a:gd name="connsiteX105" fmla="*/ 402641 w 1373429"/>
                <a:gd name="connsiteY105" fmla="*/ 430682 h 1372819"/>
                <a:gd name="connsiteX106" fmla="*/ 161544 w 1373429"/>
                <a:gd name="connsiteY106" fmla="*/ 189281 h 1372819"/>
                <a:gd name="connsiteX107" fmla="*/ 121310 w 1373429"/>
                <a:gd name="connsiteY107" fmla="*/ 205130 h 1372819"/>
                <a:gd name="connsiteX108" fmla="*/ 121310 w 1373429"/>
                <a:gd name="connsiteY108" fmla="*/ 1167689 h 1372819"/>
                <a:gd name="connsiteX109" fmla="*/ 160934 w 1373429"/>
                <a:gd name="connsiteY109" fmla="*/ 1183234 h 1372819"/>
                <a:gd name="connsiteX110" fmla="*/ 402336 w 1373429"/>
                <a:gd name="connsiteY110" fmla="*/ 941527 h 1372819"/>
                <a:gd name="connsiteX111" fmla="*/ 431597 w 1373429"/>
                <a:gd name="connsiteY111" fmla="*/ 970788 h 1372819"/>
                <a:gd name="connsiteX112" fmla="*/ 189890 w 1373429"/>
                <a:gd name="connsiteY112" fmla="*/ 1212799 h 1372819"/>
                <a:gd name="connsiteX113" fmla="*/ 205435 w 1373429"/>
                <a:gd name="connsiteY113" fmla="*/ 1254557 h 1372819"/>
                <a:gd name="connsiteX114" fmla="*/ 205435 w 1373429"/>
                <a:gd name="connsiteY114" fmla="*/ 1253642 h 1372819"/>
                <a:gd name="connsiteX115" fmla="*/ 585521 w 1373429"/>
                <a:gd name="connsiteY115" fmla="*/ 1253642 h 1372819"/>
                <a:gd name="connsiteX116" fmla="*/ 668122 w 1373429"/>
                <a:gd name="connsiteY116" fmla="*/ 1168299 h 1372819"/>
                <a:gd name="connsiteX117" fmla="*/ 668122 w 1373429"/>
                <a:gd name="connsiteY117" fmla="*/ 1063752 h 1372819"/>
                <a:gd name="connsiteX118" fmla="*/ 709270 w 1373429"/>
                <a:gd name="connsiteY118" fmla="*/ 1063752 h 1372819"/>
                <a:gd name="connsiteX119" fmla="*/ 709270 w 1373429"/>
                <a:gd name="connsiteY119" fmla="*/ 1168908 h 1372819"/>
                <a:gd name="connsiteX120" fmla="*/ 787908 w 1373429"/>
                <a:gd name="connsiteY120" fmla="*/ 1253642 h 1372819"/>
                <a:gd name="connsiteX121" fmla="*/ 1167994 w 1373429"/>
                <a:gd name="connsiteY121" fmla="*/ 1253642 h 1372819"/>
                <a:gd name="connsiteX122" fmla="*/ 1183455 w 1373429"/>
                <a:gd name="connsiteY122" fmla="*/ 1213020 h 1372819"/>
                <a:gd name="connsiteX123" fmla="*/ 1183843 w 1373429"/>
                <a:gd name="connsiteY123" fmla="*/ 1213409 h 1372819"/>
                <a:gd name="connsiteX124" fmla="*/ 1183539 w 1373429"/>
                <a:gd name="connsiteY124" fmla="*/ 1212799 h 1372819"/>
                <a:gd name="connsiteX125" fmla="*/ 1183455 w 1373429"/>
                <a:gd name="connsiteY125" fmla="*/ 1213020 h 1372819"/>
                <a:gd name="connsiteX126" fmla="*/ 940308 w 1373429"/>
                <a:gd name="connsiteY126" fmla="*/ 969569 h 1372819"/>
                <a:gd name="connsiteX127" fmla="*/ 969569 w 1373429"/>
                <a:gd name="connsiteY127" fmla="*/ 940308 h 1372819"/>
                <a:gd name="connsiteX128" fmla="*/ 1212799 w 1373429"/>
                <a:gd name="connsiteY128" fmla="*/ 1183843 h 1372819"/>
                <a:gd name="connsiteX129" fmla="*/ 1251509 w 1373429"/>
                <a:gd name="connsiteY129" fmla="*/ 1168603 h 1372819"/>
                <a:gd name="connsiteX130" fmla="*/ 1251509 w 1373429"/>
                <a:gd name="connsiteY130" fmla="*/ 205130 h 1372819"/>
                <a:gd name="connsiteX131" fmla="*/ 1212190 w 1373429"/>
                <a:gd name="connsiteY131" fmla="*/ 189281 h 1372819"/>
                <a:gd name="connsiteX132" fmla="*/ 972007 w 1373429"/>
                <a:gd name="connsiteY132" fmla="*/ 430073 h 1372819"/>
                <a:gd name="connsiteX133" fmla="*/ 942746 w 1373429"/>
                <a:gd name="connsiteY133" fmla="*/ 400812 h 1372819"/>
                <a:gd name="connsiteX134" fmla="*/ 1183234 w 1373429"/>
                <a:gd name="connsiteY134" fmla="*/ 159715 h 1372819"/>
                <a:gd name="connsiteX135" fmla="*/ 1167994 w 1373429"/>
                <a:gd name="connsiteY135" fmla="*/ 119482 h 1372819"/>
                <a:gd name="connsiteX136" fmla="*/ 788213 w 1373429"/>
                <a:gd name="connsiteY136" fmla="*/ 119482 h 1372819"/>
                <a:gd name="connsiteX137" fmla="*/ 709270 w 1373429"/>
                <a:gd name="connsiteY137" fmla="*/ 205740 h 1372819"/>
                <a:gd name="connsiteX138" fmla="*/ 709270 w 1373429"/>
                <a:gd name="connsiteY138" fmla="*/ 304800 h 1372819"/>
                <a:gd name="connsiteX139" fmla="*/ 668122 w 1373429"/>
                <a:gd name="connsiteY139" fmla="*/ 304800 h 1372819"/>
                <a:gd name="connsiteX140" fmla="*/ 668122 w 1373429"/>
                <a:gd name="connsiteY140" fmla="*/ 206654 h 1372819"/>
                <a:gd name="connsiteX141" fmla="*/ 585216 w 1373429"/>
                <a:gd name="connsiteY141" fmla="*/ 119482 h 1372819"/>
                <a:gd name="connsiteX142" fmla="*/ 205740 w 1373429"/>
                <a:gd name="connsiteY142" fmla="*/ 119482 h 1372819"/>
                <a:gd name="connsiteX143" fmla="*/ 686714 w 1373429"/>
                <a:gd name="connsiteY143" fmla="*/ 42977 h 1372819"/>
                <a:gd name="connsiteX144" fmla="*/ 623621 w 1373429"/>
                <a:gd name="connsiteY144" fmla="*/ 106070 h 1372819"/>
                <a:gd name="connsiteX145" fmla="*/ 686714 w 1373429"/>
                <a:gd name="connsiteY145" fmla="*/ 169164 h 1372819"/>
                <a:gd name="connsiteX146" fmla="*/ 749808 w 1373429"/>
                <a:gd name="connsiteY146" fmla="*/ 106070 h 1372819"/>
                <a:gd name="connsiteX147" fmla="*/ 686714 w 1373429"/>
                <a:gd name="connsiteY147" fmla="*/ 42977 h 1372819"/>
                <a:gd name="connsiteX148" fmla="*/ 1269187 w 1373429"/>
                <a:gd name="connsiteY148" fmla="*/ 41148 h 1372819"/>
                <a:gd name="connsiteX149" fmla="*/ 1206094 w 1373429"/>
                <a:gd name="connsiteY149" fmla="*/ 104242 h 1372819"/>
                <a:gd name="connsiteX150" fmla="*/ 1269187 w 1373429"/>
                <a:gd name="connsiteY150" fmla="*/ 167335 h 1372819"/>
                <a:gd name="connsiteX151" fmla="*/ 1332281 w 1373429"/>
                <a:gd name="connsiteY151" fmla="*/ 104242 h 1372819"/>
                <a:gd name="connsiteX152" fmla="*/ 1269187 w 1373429"/>
                <a:gd name="connsiteY152" fmla="*/ 41148 h 1372819"/>
                <a:gd name="connsiteX153" fmla="*/ 104242 w 1373429"/>
                <a:gd name="connsiteY153" fmla="*/ 41148 h 1372819"/>
                <a:gd name="connsiteX154" fmla="*/ 41148 w 1373429"/>
                <a:gd name="connsiteY154" fmla="*/ 104242 h 1372819"/>
                <a:gd name="connsiteX155" fmla="*/ 104242 w 1373429"/>
                <a:gd name="connsiteY155" fmla="*/ 167335 h 1372819"/>
                <a:gd name="connsiteX156" fmla="*/ 167335 w 1373429"/>
                <a:gd name="connsiteY156" fmla="*/ 104242 h 1372819"/>
                <a:gd name="connsiteX157" fmla="*/ 104242 w 1373429"/>
                <a:gd name="connsiteY157" fmla="*/ 41148 h 1372819"/>
                <a:gd name="connsiteX158" fmla="*/ 104242 w 1373429"/>
                <a:gd name="connsiteY158" fmla="*/ 0 h 1372819"/>
                <a:gd name="connsiteX159" fmla="*/ 205435 w 1373429"/>
                <a:gd name="connsiteY159" fmla="*/ 89916 h 1372819"/>
                <a:gd name="connsiteX160" fmla="*/ 205435 w 1373429"/>
                <a:gd name="connsiteY160" fmla="*/ 89002 h 1372819"/>
                <a:gd name="connsiteX161" fmla="*/ 585826 w 1373429"/>
                <a:gd name="connsiteY161" fmla="*/ 89002 h 1372819"/>
                <a:gd name="connsiteX162" fmla="*/ 686714 w 1373429"/>
                <a:gd name="connsiteY162" fmla="*/ 1524 h 1372819"/>
                <a:gd name="connsiteX163" fmla="*/ 787603 w 1373429"/>
                <a:gd name="connsiteY163" fmla="*/ 89002 h 1372819"/>
                <a:gd name="connsiteX164" fmla="*/ 1167994 w 1373429"/>
                <a:gd name="connsiteY164" fmla="*/ 89002 h 1372819"/>
                <a:gd name="connsiteX165" fmla="*/ 1269187 w 1373429"/>
                <a:gd name="connsiteY165" fmla="*/ 0 h 1372819"/>
                <a:gd name="connsiteX166" fmla="*/ 1373429 w 1373429"/>
                <a:gd name="connsiteY166" fmla="*/ 104242 h 1372819"/>
                <a:gd name="connsiteX167" fmla="*/ 1281684 w 1373429"/>
                <a:gd name="connsiteY167" fmla="*/ 206045 h 1372819"/>
                <a:gd name="connsiteX168" fmla="*/ 1281684 w 1373429"/>
                <a:gd name="connsiteY168" fmla="*/ 1166774 h 1372819"/>
                <a:gd name="connsiteX169" fmla="*/ 1373429 w 1373429"/>
                <a:gd name="connsiteY169" fmla="*/ 1268578 h 1372819"/>
                <a:gd name="connsiteX170" fmla="*/ 1269187 w 1373429"/>
                <a:gd name="connsiteY170" fmla="*/ 1372819 h 1372819"/>
                <a:gd name="connsiteX171" fmla="*/ 1167994 w 1373429"/>
                <a:gd name="connsiteY171" fmla="*/ 1283818 h 1372819"/>
                <a:gd name="connsiteX172" fmla="*/ 787908 w 1373429"/>
                <a:gd name="connsiteY172" fmla="*/ 1283818 h 1372819"/>
                <a:gd name="connsiteX173" fmla="*/ 686714 w 1373429"/>
                <a:gd name="connsiteY173" fmla="*/ 1372819 h 1372819"/>
                <a:gd name="connsiteX174" fmla="*/ 585521 w 1373429"/>
                <a:gd name="connsiteY174" fmla="*/ 1283818 h 1372819"/>
                <a:gd name="connsiteX175" fmla="*/ 205435 w 1373429"/>
                <a:gd name="connsiteY175" fmla="*/ 1283818 h 1372819"/>
                <a:gd name="connsiteX176" fmla="*/ 205435 w 1373429"/>
                <a:gd name="connsiteY176" fmla="*/ 1282903 h 1372819"/>
                <a:gd name="connsiteX177" fmla="*/ 104242 w 1373429"/>
                <a:gd name="connsiteY177" fmla="*/ 1372819 h 1372819"/>
                <a:gd name="connsiteX178" fmla="*/ 0 w 1373429"/>
                <a:gd name="connsiteY178" fmla="*/ 1268578 h 1372819"/>
                <a:gd name="connsiteX179" fmla="*/ 90830 w 1373429"/>
                <a:gd name="connsiteY179" fmla="*/ 1167079 h 1372819"/>
                <a:gd name="connsiteX180" fmla="*/ 90830 w 1373429"/>
                <a:gd name="connsiteY180" fmla="*/ 205740 h 1372819"/>
                <a:gd name="connsiteX181" fmla="*/ 0 w 1373429"/>
                <a:gd name="connsiteY181" fmla="*/ 104242 h 1372819"/>
                <a:gd name="connsiteX182" fmla="*/ 104242 w 1373429"/>
                <a:gd name="connsiteY182" fmla="*/ 0 h 13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373429" h="1372819">
                  <a:moveTo>
                    <a:pt x="1269187" y="1205789"/>
                  </a:moveTo>
                  <a:cubicBezTo>
                    <a:pt x="1234440" y="1205789"/>
                    <a:pt x="1206094" y="1234135"/>
                    <a:pt x="1206094" y="1268882"/>
                  </a:cubicBezTo>
                  <a:cubicBezTo>
                    <a:pt x="1206094" y="1303630"/>
                    <a:pt x="1234440" y="1331976"/>
                    <a:pt x="1269187" y="1331976"/>
                  </a:cubicBezTo>
                  <a:cubicBezTo>
                    <a:pt x="1303934" y="1331976"/>
                    <a:pt x="1332281" y="1303630"/>
                    <a:pt x="1332281" y="1268882"/>
                  </a:cubicBezTo>
                  <a:cubicBezTo>
                    <a:pt x="1332281" y="1234135"/>
                    <a:pt x="1303934" y="1205789"/>
                    <a:pt x="1269187" y="1205789"/>
                  </a:cubicBezTo>
                  <a:close/>
                  <a:moveTo>
                    <a:pt x="686714" y="1205789"/>
                  </a:moveTo>
                  <a:cubicBezTo>
                    <a:pt x="651967" y="1205789"/>
                    <a:pt x="623621" y="1234135"/>
                    <a:pt x="623621" y="1268882"/>
                  </a:cubicBezTo>
                  <a:cubicBezTo>
                    <a:pt x="623621" y="1303630"/>
                    <a:pt x="651967" y="1331976"/>
                    <a:pt x="686714" y="1331976"/>
                  </a:cubicBezTo>
                  <a:cubicBezTo>
                    <a:pt x="721462" y="1331976"/>
                    <a:pt x="749808" y="1303630"/>
                    <a:pt x="749808" y="1268882"/>
                  </a:cubicBezTo>
                  <a:cubicBezTo>
                    <a:pt x="749808" y="1234135"/>
                    <a:pt x="721462" y="1205789"/>
                    <a:pt x="686714" y="1205789"/>
                  </a:cubicBezTo>
                  <a:close/>
                  <a:moveTo>
                    <a:pt x="104242" y="1205789"/>
                  </a:moveTo>
                  <a:cubicBezTo>
                    <a:pt x="69494" y="1205789"/>
                    <a:pt x="41148" y="1234135"/>
                    <a:pt x="41148" y="1268882"/>
                  </a:cubicBezTo>
                  <a:cubicBezTo>
                    <a:pt x="41148" y="1303630"/>
                    <a:pt x="69494" y="1331976"/>
                    <a:pt x="104242" y="1331976"/>
                  </a:cubicBezTo>
                  <a:cubicBezTo>
                    <a:pt x="138989" y="1331976"/>
                    <a:pt x="167335" y="1303630"/>
                    <a:pt x="167335" y="1268882"/>
                  </a:cubicBezTo>
                  <a:cubicBezTo>
                    <a:pt x="167335" y="1234135"/>
                    <a:pt x="138989" y="1205789"/>
                    <a:pt x="104242" y="1205789"/>
                  </a:cubicBezTo>
                  <a:close/>
                  <a:moveTo>
                    <a:pt x="607466" y="647090"/>
                  </a:moveTo>
                  <a:lnTo>
                    <a:pt x="627887" y="693420"/>
                  </a:lnTo>
                  <a:lnTo>
                    <a:pt x="587044" y="693420"/>
                  </a:lnTo>
                  <a:close/>
                  <a:moveTo>
                    <a:pt x="693724" y="644042"/>
                  </a:moveTo>
                  <a:lnTo>
                    <a:pt x="717803" y="644042"/>
                  </a:lnTo>
                  <a:cubicBezTo>
                    <a:pt x="725118" y="644042"/>
                    <a:pt x="731214" y="645566"/>
                    <a:pt x="735482" y="648919"/>
                  </a:cubicBezTo>
                  <a:cubicBezTo>
                    <a:pt x="740054" y="652272"/>
                    <a:pt x="742187" y="656539"/>
                    <a:pt x="742187" y="662330"/>
                  </a:cubicBezTo>
                  <a:cubicBezTo>
                    <a:pt x="742187" y="668121"/>
                    <a:pt x="739749" y="672693"/>
                    <a:pt x="735482" y="676046"/>
                  </a:cubicBezTo>
                  <a:lnTo>
                    <a:pt x="735482" y="676351"/>
                  </a:lnTo>
                  <a:cubicBezTo>
                    <a:pt x="730910" y="679704"/>
                    <a:pt x="725118" y="681228"/>
                    <a:pt x="717803" y="681228"/>
                  </a:cubicBezTo>
                  <a:lnTo>
                    <a:pt x="693724" y="681228"/>
                  </a:lnTo>
                  <a:close/>
                  <a:moveTo>
                    <a:pt x="776629" y="630631"/>
                  </a:moveTo>
                  <a:lnTo>
                    <a:pt x="776629" y="726338"/>
                  </a:lnTo>
                  <a:lnTo>
                    <a:pt x="790041" y="726338"/>
                  </a:lnTo>
                  <a:lnTo>
                    <a:pt x="790041" y="630631"/>
                  </a:lnTo>
                  <a:close/>
                  <a:moveTo>
                    <a:pt x="679703" y="630631"/>
                  </a:moveTo>
                  <a:lnTo>
                    <a:pt x="679703" y="726338"/>
                  </a:lnTo>
                  <a:lnTo>
                    <a:pt x="693114" y="726338"/>
                  </a:lnTo>
                  <a:lnTo>
                    <a:pt x="693114" y="692810"/>
                  </a:lnTo>
                  <a:lnTo>
                    <a:pt x="719022" y="692810"/>
                  </a:lnTo>
                  <a:cubicBezTo>
                    <a:pt x="725423" y="692810"/>
                    <a:pt x="731519" y="691591"/>
                    <a:pt x="737005" y="688847"/>
                  </a:cubicBezTo>
                  <a:cubicBezTo>
                    <a:pt x="742187" y="686409"/>
                    <a:pt x="746759" y="682751"/>
                    <a:pt x="749807" y="677875"/>
                  </a:cubicBezTo>
                  <a:cubicBezTo>
                    <a:pt x="753160" y="672998"/>
                    <a:pt x="754684" y="667816"/>
                    <a:pt x="754684" y="661720"/>
                  </a:cubicBezTo>
                  <a:cubicBezTo>
                    <a:pt x="754684" y="655624"/>
                    <a:pt x="752855" y="650443"/>
                    <a:pt x="749807" y="645566"/>
                  </a:cubicBezTo>
                  <a:cubicBezTo>
                    <a:pt x="746759" y="640994"/>
                    <a:pt x="742492" y="637336"/>
                    <a:pt x="737005" y="634593"/>
                  </a:cubicBezTo>
                  <a:cubicBezTo>
                    <a:pt x="731519" y="631850"/>
                    <a:pt x="725423" y="630631"/>
                    <a:pt x="719022" y="630631"/>
                  </a:cubicBezTo>
                  <a:close/>
                  <a:moveTo>
                    <a:pt x="600150" y="630631"/>
                  </a:moveTo>
                  <a:lnTo>
                    <a:pt x="558697" y="726338"/>
                  </a:lnTo>
                  <a:lnTo>
                    <a:pt x="572413" y="726338"/>
                  </a:lnTo>
                  <a:lnTo>
                    <a:pt x="581862" y="705307"/>
                  </a:lnTo>
                  <a:lnTo>
                    <a:pt x="631849" y="705307"/>
                  </a:lnTo>
                  <a:lnTo>
                    <a:pt x="641298" y="726338"/>
                  </a:lnTo>
                  <a:lnTo>
                    <a:pt x="655014" y="726338"/>
                  </a:lnTo>
                  <a:lnTo>
                    <a:pt x="613561" y="630631"/>
                  </a:lnTo>
                  <a:close/>
                  <a:moveTo>
                    <a:pt x="685799" y="490727"/>
                  </a:moveTo>
                  <a:cubicBezTo>
                    <a:pt x="660805" y="490423"/>
                    <a:pt x="635812" y="495299"/>
                    <a:pt x="611733" y="504748"/>
                  </a:cubicBezTo>
                  <a:cubicBezTo>
                    <a:pt x="563879" y="523951"/>
                    <a:pt x="526389" y="560831"/>
                    <a:pt x="505967" y="608075"/>
                  </a:cubicBezTo>
                  <a:lnTo>
                    <a:pt x="535533" y="620877"/>
                  </a:lnTo>
                  <a:cubicBezTo>
                    <a:pt x="552601" y="581558"/>
                    <a:pt x="583691" y="550773"/>
                    <a:pt x="623620" y="534923"/>
                  </a:cubicBezTo>
                  <a:cubicBezTo>
                    <a:pt x="663549" y="519074"/>
                    <a:pt x="707135" y="519379"/>
                    <a:pt x="746759" y="536447"/>
                  </a:cubicBezTo>
                  <a:cubicBezTo>
                    <a:pt x="786078" y="553516"/>
                    <a:pt x="816863" y="584606"/>
                    <a:pt x="832713" y="624535"/>
                  </a:cubicBezTo>
                  <a:cubicBezTo>
                    <a:pt x="848562" y="664463"/>
                    <a:pt x="848257" y="708355"/>
                    <a:pt x="831189" y="747674"/>
                  </a:cubicBezTo>
                  <a:cubicBezTo>
                    <a:pt x="796137" y="829055"/>
                    <a:pt x="701649" y="867155"/>
                    <a:pt x="619962" y="832103"/>
                  </a:cubicBezTo>
                  <a:lnTo>
                    <a:pt x="607161" y="861669"/>
                  </a:lnTo>
                  <a:cubicBezTo>
                    <a:pt x="632154" y="872032"/>
                    <a:pt x="657757" y="877214"/>
                    <a:pt x="683056" y="877214"/>
                  </a:cubicBezTo>
                  <a:cubicBezTo>
                    <a:pt x="758037" y="877214"/>
                    <a:pt x="829360" y="833323"/>
                    <a:pt x="860754" y="760171"/>
                  </a:cubicBezTo>
                  <a:lnTo>
                    <a:pt x="861059" y="760171"/>
                  </a:lnTo>
                  <a:cubicBezTo>
                    <a:pt x="881481" y="712622"/>
                    <a:pt x="882090" y="660196"/>
                    <a:pt x="862888" y="612343"/>
                  </a:cubicBezTo>
                  <a:cubicBezTo>
                    <a:pt x="843685" y="564489"/>
                    <a:pt x="807109" y="526999"/>
                    <a:pt x="759561" y="506577"/>
                  </a:cubicBezTo>
                  <a:cubicBezTo>
                    <a:pt x="735786" y="496214"/>
                    <a:pt x="710793" y="490727"/>
                    <a:pt x="685799" y="490727"/>
                  </a:cubicBezTo>
                  <a:close/>
                  <a:moveTo>
                    <a:pt x="624229" y="345033"/>
                  </a:moveTo>
                  <a:lnTo>
                    <a:pt x="749502" y="345033"/>
                  </a:lnTo>
                  <a:cubicBezTo>
                    <a:pt x="749502" y="345033"/>
                    <a:pt x="757122" y="425805"/>
                    <a:pt x="757122" y="425805"/>
                  </a:cubicBezTo>
                  <a:cubicBezTo>
                    <a:pt x="779373" y="431901"/>
                    <a:pt x="800404" y="441045"/>
                    <a:pt x="819911" y="452323"/>
                  </a:cubicBezTo>
                  <a:lnTo>
                    <a:pt x="883005" y="399897"/>
                  </a:lnTo>
                  <a:lnTo>
                    <a:pt x="927201" y="444093"/>
                  </a:lnTo>
                  <a:lnTo>
                    <a:pt x="971397" y="488289"/>
                  </a:lnTo>
                  <a:cubicBezTo>
                    <a:pt x="971397" y="488289"/>
                    <a:pt x="917447" y="553516"/>
                    <a:pt x="917447" y="553516"/>
                  </a:cubicBezTo>
                  <a:cubicBezTo>
                    <a:pt x="927505" y="572109"/>
                    <a:pt x="935430" y="592226"/>
                    <a:pt x="940612" y="613257"/>
                  </a:cubicBezTo>
                  <a:lnTo>
                    <a:pt x="1026565" y="621487"/>
                  </a:lnTo>
                  <a:lnTo>
                    <a:pt x="1026565" y="746759"/>
                  </a:lnTo>
                  <a:cubicBezTo>
                    <a:pt x="1026565" y="746759"/>
                    <a:pt x="936649" y="755294"/>
                    <a:pt x="936649" y="755294"/>
                  </a:cubicBezTo>
                  <a:cubicBezTo>
                    <a:pt x="930858" y="774496"/>
                    <a:pt x="922629" y="792479"/>
                    <a:pt x="912875" y="809243"/>
                  </a:cubicBezTo>
                  <a:lnTo>
                    <a:pt x="912265" y="809548"/>
                  </a:lnTo>
                  <a:lnTo>
                    <a:pt x="971092" y="880262"/>
                  </a:lnTo>
                  <a:lnTo>
                    <a:pt x="926896" y="924458"/>
                  </a:lnTo>
                  <a:lnTo>
                    <a:pt x="882700" y="968654"/>
                  </a:lnTo>
                  <a:cubicBezTo>
                    <a:pt x="882700" y="968654"/>
                    <a:pt x="809548" y="907999"/>
                    <a:pt x="809548" y="907999"/>
                  </a:cubicBezTo>
                  <a:cubicBezTo>
                    <a:pt x="793393" y="916533"/>
                    <a:pt x="776020" y="923543"/>
                    <a:pt x="758037" y="928725"/>
                  </a:cubicBezTo>
                  <a:lnTo>
                    <a:pt x="749197" y="1023823"/>
                  </a:lnTo>
                  <a:lnTo>
                    <a:pt x="623925" y="1023823"/>
                  </a:lnTo>
                  <a:lnTo>
                    <a:pt x="615085" y="928725"/>
                  </a:lnTo>
                  <a:cubicBezTo>
                    <a:pt x="597102" y="923543"/>
                    <a:pt x="580033" y="916533"/>
                    <a:pt x="563879" y="907999"/>
                  </a:cubicBezTo>
                  <a:lnTo>
                    <a:pt x="490727" y="968349"/>
                  </a:lnTo>
                  <a:lnTo>
                    <a:pt x="446531" y="924153"/>
                  </a:lnTo>
                  <a:lnTo>
                    <a:pt x="402335" y="879957"/>
                  </a:lnTo>
                  <a:cubicBezTo>
                    <a:pt x="402335" y="879957"/>
                    <a:pt x="461161" y="809243"/>
                    <a:pt x="461161" y="809243"/>
                  </a:cubicBezTo>
                  <a:cubicBezTo>
                    <a:pt x="451408" y="792175"/>
                    <a:pt x="443178" y="774191"/>
                    <a:pt x="437387" y="755294"/>
                  </a:cubicBezTo>
                  <a:lnTo>
                    <a:pt x="347471" y="746759"/>
                  </a:lnTo>
                  <a:lnTo>
                    <a:pt x="347471" y="621487"/>
                  </a:lnTo>
                  <a:cubicBezTo>
                    <a:pt x="347471" y="621487"/>
                    <a:pt x="433425" y="613867"/>
                    <a:pt x="433425" y="613867"/>
                  </a:cubicBezTo>
                  <a:cubicBezTo>
                    <a:pt x="438911" y="592531"/>
                    <a:pt x="446836" y="572414"/>
                    <a:pt x="456894" y="553821"/>
                  </a:cubicBezTo>
                  <a:lnTo>
                    <a:pt x="402640" y="488594"/>
                  </a:lnTo>
                  <a:lnTo>
                    <a:pt x="446836" y="444398"/>
                  </a:lnTo>
                  <a:lnTo>
                    <a:pt x="491032" y="400202"/>
                  </a:lnTo>
                  <a:lnTo>
                    <a:pt x="554125" y="452627"/>
                  </a:lnTo>
                  <a:cubicBezTo>
                    <a:pt x="573633" y="441350"/>
                    <a:pt x="594359" y="432206"/>
                    <a:pt x="616609" y="426110"/>
                  </a:cubicBezTo>
                  <a:close/>
                  <a:moveTo>
                    <a:pt x="205740" y="118567"/>
                  </a:moveTo>
                  <a:cubicBezTo>
                    <a:pt x="203606" y="133807"/>
                    <a:pt x="198425" y="147523"/>
                    <a:pt x="190500" y="159715"/>
                  </a:cubicBezTo>
                  <a:lnTo>
                    <a:pt x="431902" y="401422"/>
                  </a:lnTo>
                  <a:lnTo>
                    <a:pt x="402641" y="430682"/>
                  </a:lnTo>
                  <a:lnTo>
                    <a:pt x="161544" y="189281"/>
                  </a:lnTo>
                  <a:cubicBezTo>
                    <a:pt x="149352" y="197206"/>
                    <a:pt x="136246" y="202692"/>
                    <a:pt x="121310" y="205130"/>
                  </a:cubicBezTo>
                  <a:lnTo>
                    <a:pt x="121310" y="1167689"/>
                  </a:lnTo>
                  <a:cubicBezTo>
                    <a:pt x="135941" y="1170127"/>
                    <a:pt x="149047" y="1175309"/>
                    <a:pt x="160934" y="1183234"/>
                  </a:cubicBezTo>
                  <a:lnTo>
                    <a:pt x="402336" y="941527"/>
                  </a:lnTo>
                  <a:lnTo>
                    <a:pt x="431597" y="970788"/>
                  </a:lnTo>
                  <a:lnTo>
                    <a:pt x="189890" y="1212799"/>
                  </a:lnTo>
                  <a:cubicBezTo>
                    <a:pt x="197815" y="1225296"/>
                    <a:pt x="203302" y="1239317"/>
                    <a:pt x="205435" y="1254557"/>
                  </a:cubicBezTo>
                  <a:lnTo>
                    <a:pt x="205435" y="1253642"/>
                  </a:lnTo>
                  <a:lnTo>
                    <a:pt x="585521" y="1253642"/>
                  </a:lnTo>
                  <a:cubicBezTo>
                    <a:pt x="592226" y="1210056"/>
                    <a:pt x="624840" y="1176528"/>
                    <a:pt x="668122" y="1168299"/>
                  </a:cubicBezTo>
                  <a:lnTo>
                    <a:pt x="668122" y="1063752"/>
                  </a:lnTo>
                  <a:lnTo>
                    <a:pt x="709270" y="1063752"/>
                  </a:lnTo>
                  <a:lnTo>
                    <a:pt x="709270" y="1168908"/>
                  </a:lnTo>
                  <a:cubicBezTo>
                    <a:pt x="750722" y="1178357"/>
                    <a:pt x="781507" y="1211275"/>
                    <a:pt x="787908" y="1253642"/>
                  </a:cubicBezTo>
                  <a:lnTo>
                    <a:pt x="1167994" y="1253642"/>
                  </a:lnTo>
                  <a:lnTo>
                    <a:pt x="1183455" y="1213020"/>
                  </a:lnTo>
                  <a:lnTo>
                    <a:pt x="1183843" y="1213409"/>
                  </a:lnTo>
                  <a:lnTo>
                    <a:pt x="1183539" y="1212799"/>
                  </a:lnTo>
                  <a:lnTo>
                    <a:pt x="1183455" y="1213020"/>
                  </a:lnTo>
                  <a:lnTo>
                    <a:pt x="940308" y="969569"/>
                  </a:lnTo>
                  <a:lnTo>
                    <a:pt x="969569" y="940308"/>
                  </a:lnTo>
                  <a:lnTo>
                    <a:pt x="1212799" y="1183843"/>
                  </a:lnTo>
                  <a:cubicBezTo>
                    <a:pt x="1224382" y="1176223"/>
                    <a:pt x="1237183" y="1171042"/>
                    <a:pt x="1251509" y="1168603"/>
                  </a:cubicBezTo>
                  <a:lnTo>
                    <a:pt x="1251509" y="205130"/>
                  </a:lnTo>
                  <a:cubicBezTo>
                    <a:pt x="1236879" y="202387"/>
                    <a:pt x="1224077" y="197206"/>
                    <a:pt x="1212190" y="189281"/>
                  </a:cubicBezTo>
                  <a:lnTo>
                    <a:pt x="972007" y="430073"/>
                  </a:lnTo>
                  <a:lnTo>
                    <a:pt x="942746" y="400812"/>
                  </a:lnTo>
                  <a:lnTo>
                    <a:pt x="1183234" y="159715"/>
                  </a:lnTo>
                  <a:cubicBezTo>
                    <a:pt x="1175309" y="147523"/>
                    <a:pt x="1170127" y="134417"/>
                    <a:pt x="1167994" y="119482"/>
                  </a:cubicBezTo>
                  <a:lnTo>
                    <a:pt x="788213" y="119482"/>
                  </a:lnTo>
                  <a:cubicBezTo>
                    <a:pt x="782422" y="162763"/>
                    <a:pt x="751332" y="196291"/>
                    <a:pt x="709270" y="205740"/>
                  </a:cubicBezTo>
                  <a:lnTo>
                    <a:pt x="709270" y="304800"/>
                  </a:lnTo>
                  <a:lnTo>
                    <a:pt x="668122" y="304800"/>
                  </a:lnTo>
                  <a:lnTo>
                    <a:pt x="668122" y="206654"/>
                  </a:lnTo>
                  <a:cubicBezTo>
                    <a:pt x="624230" y="198425"/>
                    <a:pt x="591312" y="163982"/>
                    <a:pt x="585216" y="119482"/>
                  </a:cubicBezTo>
                  <a:lnTo>
                    <a:pt x="205740" y="119482"/>
                  </a:lnTo>
                  <a:close/>
                  <a:moveTo>
                    <a:pt x="686714" y="42977"/>
                  </a:moveTo>
                  <a:cubicBezTo>
                    <a:pt x="651967" y="42977"/>
                    <a:pt x="623621" y="71323"/>
                    <a:pt x="623621" y="106070"/>
                  </a:cubicBezTo>
                  <a:cubicBezTo>
                    <a:pt x="623621" y="140818"/>
                    <a:pt x="651967" y="169164"/>
                    <a:pt x="686714" y="169164"/>
                  </a:cubicBezTo>
                  <a:cubicBezTo>
                    <a:pt x="721462" y="169164"/>
                    <a:pt x="749808" y="140818"/>
                    <a:pt x="749808" y="106070"/>
                  </a:cubicBezTo>
                  <a:cubicBezTo>
                    <a:pt x="749808" y="71323"/>
                    <a:pt x="721462" y="42977"/>
                    <a:pt x="686714" y="42977"/>
                  </a:cubicBezTo>
                  <a:close/>
                  <a:moveTo>
                    <a:pt x="1269187" y="41148"/>
                  </a:moveTo>
                  <a:cubicBezTo>
                    <a:pt x="1234440" y="41148"/>
                    <a:pt x="1206094" y="69494"/>
                    <a:pt x="1206094" y="104242"/>
                  </a:cubicBezTo>
                  <a:cubicBezTo>
                    <a:pt x="1206094" y="138989"/>
                    <a:pt x="1234440" y="167335"/>
                    <a:pt x="1269187" y="167335"/>
                  </a:cubicBezTo>
                  <a:cubicBezTo>
                    <a:pt x="1303934" y="167335"/>
                    <a:pt x="1332281" y="138989"/>
                    <a:pt x="1332281" y="104242"/>
                  </a:cubicBezTo>
                  <a:cubicBezTo>
                    <a:pt x="1332281" y="69494"/>
                    <a:pt x="1303934" y="41148"/>
                    <a:pt x="1269187" y="41148"/>
                  </a:cubicBezTo>
                  <a:close/>
                  <a:moveTo>
                    <a:pt x="104242" y="41148"/>
                  </a:moveTo>
                  <a:cubicBezTo>
                    <a:pt x="69494" y="41148"/>
                    <a:pt x="41148" y="69494"/>
                    <a:pt x="41148" y="104242"/>
                  </a:cubicBezTo>
                  <a:cubicBezTo>
                    <a:pt x="41148" y="138989"/>
                    <a:pt x="69494" y="167335"/>
                    <a:pt x="104242" y="167335"/>
                  </a:cubicBezTo>
                  <a:cubicBezTo>
                    <a:pt x="138989" y="167335"/>
                    <a:pt x="167335" y="138989"/>
                    <a:pt x="167335" y="104242"/>
                  </a:cubicBezTo>
                  <a:cubicBezTo>
                    <a:pt x="167335" y="69494"/>
                    <a:pt x="138989" y="41148"/>
                    <a:pt x="104242" y="41148"/>
                  </a:cubicBezTo>
                  <a:close/>
                  <a:moveTo>
                    <a:pt x="104242" y="0"/>
                  </a:moveTo>
                  <a:cubicBezTo>
                    <a:pt x="156667" y="0"/>
                    <a:pt x="198120" y="39319"/>
                    <a:pt x="205435" y="89916"/>
                  </a:cubicBezTo>
                  <a:lnTo>
                    <a:pt x="205435" y="89002"/>
                  </a:lnTo>
                  <a:lnTo>
                    <a:pt x="585826" y="89002"/>
                  </a:lnTo>
                  <a:cubicBezTo>
                    <a:pt x="594360" y="39624"/>
                    <a:pt x="634898" y="1524"/>
                    <a:pt x="686714" y="1524"/>
                  </a:cubicBezTo>
                  <a:cubicBezTo>
                    <a:pt x="738530" y="1524"/>
                    <a:pt x="779374" y="39929"/>
                    <a:pt x="787603" y="89002"/>
                  </a:cubicBezTo>
                  <a:lnTo>
                    <a:pt x="1167994" y="89002"/>
                  </a:lnTo>
                  <a:cubicBezTo>
                    <a:pt x="1175614" y="39014"/>
                    <a:pt x="1217066" y="0"/>
                    <a:pt x="1269187" y="0"/>
                  </a:cubicBezTo>
                  <a:cubicBezTo>
                    <a:pt x="1326794" y="0"/>
                    <a:pt x="1373429" y="46634"/>
                    <a:pt x="1373429" y="104242"/>
                  </a:cubicBezTo>
                  <a:cubicBezTo>
                    <a:pt x="1373429" y="157582"/>
                    <a:pt x="1333195" y="199644"/>
                    <a:pt x="1281684" y="206045"/>
                  </a:cubicBezTo>
                  <a:lnTo>
                    <a:pt x="1281684" y="1166774"/>
                  </a:lnTo>
                  <a:cubicBezTo>
                    <a:pt x="1333195" y="1173175"/>
                    <a:pt x="1373429" y="1215542"/>
                    <a:pt x="1373429" y="1268578"/>
                  </a:cubicBezTo>
                  <a:cubicBezTo>
                    <a:pt x="1373429" y="1326185"/>
                    <a:pt x="1326794" y="1372819"/>
                    <a:pt x="1269187" y="1372819"/>
                  </a:cubicBezTo>
                  <a:cubicBezTo>
                    <a:pt x="1217066" y="1372819"/>
                    <a:pt x="1175614" y="1333805"/>
                    <a:pt x="1167994" y="1283818"/>
                  </a:cubicBezTo>
                  <a:lnTo>
                    <a:pt x="787908" y="1283818"/>
                  </a:lnTo>
                  <a:cubicBezTo>
                    <a:pt x="780288" y="1333805"/>
                    <a:pt x="738835" y="1372819"/>
                    <a:pt x="686714" y="1372819"/>
                  </a:cubicBezTo>
                  <a:cubicBezTo>
                    <a:pt x="634594" y="1372819"/>
                    <a:pt x="593141" y="1333805"/>
                    <a:pt x="585521" y="1283818"/>
                  </a:cubicBezTo>
                  <a:lnTo>
                    <a:pt x="205435" y="1283818"/>
                  </a:lnTo>
                  <a:lnTo>
                    <a:pt x="205435" y="1282903"/>
                  </a:lnTo>
                  <a:cubicBezTo>
                    <a:pt x="198425" y="1333500"/>
                    <a:pt x="156667" y="1372819"/>
                    <a:pt x="104242" y="1372819"/>
                  </a:cubicBezTo>
                  <a:cubicBezTo>
                    <a:pt x="46634" y="1372819"/>
                    <a:pt x="0" y="1326185"/>
                    <a:pt x="0" y="1268578"/>
                  </a:cubicBezTo>
                  <a:cubicBezTo>
                    <a:pt x="0" y="1215847"/>
                    <a:pt x="39929" y="1173785"/>
                    <a:pt x="90830" y="1167079"/>
                  </a:cubicBezTo>
                  <a:lnTo>
                    <a:pt x="90830" y="205740"/>
                  </a:lnTo>
                  <a:cubicBezTo>
                    <a:pt x="39929" y="199034"/>
                    <a:pt x="0" y="156972"/>
                    <a:pt x="0" y="104242"/>
                  </a:cubicBezTo>
                  <a:cubicBezTo>
                    <a:pt x="0" y="46634"/>
                    <a:pt x="46634" y="0"/>
                    <a:pt x="104242" y="0"/>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8" name="Group 17">
            <a:extLst>
              <a:ext uri="{FF2B5EF4-FFF2-40B4-BE49-F238E27FC236}">
                <a16:creationId xmlns:a16="http://schemas.microsoft.com/office/drawing/2014/main" id="{9E18BC2E-15B6-A4A2-7851-D87766BE6BE3}"/>
              </a:ext>
            </a:extLst>
          </p:cNvPr>
          <p:cNvGrpSpPr/>
          <p:nvPr/>
        </p:nvGrpSpPr>
        <p:grpSpPr>
          <a:xfrm>
            <a:off x="3462881" y="5528331"/>
            <a:ext cx="1344725" cy="216064"/>
            <a:chOff x="3604782" y="5211713"/>
            <a:chExt cx="1344725" cy="216064"/>
          </a:xfrm>
        </p:grpSpPr>
        <p:grpSp>
          <p:nvGrpSpPr>
            <p:cNvPr id="19" name="Group 18">
              <a:extLst>
                <a:ext uri="{FF2B5EF4-FFF2-40B4-BE49-F238E27FC236}">
                  <a16:creationId xmlns:a16="http://schemas.microsoft.com/office/drawing/2014/main" id="{15CAE8B6-5357-96C6-2A04-A74DF3E44C15}"/>
                </a:ext>
              </a:extLst>
            </p:cNvPr>
            <p:cNvGrpSpPr/>
            <p:nvPr/>
          </p:nvGrpSpPr>
          <p:grpSpPr>
            <a:xfrm>
              <a:off x="4468307" y="5211713"/>
              <a:ext cx="481200" cy="216000"/>
              <a:chOff x="9559097" y="5270063"/>
              <a:chExt cx="481200" cy="216000"/>
            </a:xfrm>
          </p:grpSpPr>
          <p:sp>
            <p:nvSpPr>
              <p:cNvPr id="29" name="Google Shape;1557;p2">
                <a:extLst>
                  <a:ext uri="{FF2B5EF4-FFF2-40B4-BE49-F238E27FC236}">
                    <a16:creationId xmlns:a16="http://schemas.microsoft.com/office/drawing/2014/main" id="{01DED620-30DD-2A1B-19BD-579EBE8736A0}"/>
                  </a:ext>
                </a:extLst>
              </p:cNvPr>
              <p:cNvSpPr/>
              <p:nvPr/>
            </p:nvSpPr>
            <p:spPr>
              <a:xfrm>
                <a:off x="9559097" y="5319713"/>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30" name="Google Shape;1622;p2">
                <a:extLst>
                  <a:ext uri="{FF2B5EF4-FFF2-40B4-BE49-F238E27FC236}">
                    <a16:creationId xmlns:a16="http://schemas.microsoft.com/office/drawing/2014/main" id="{0D68EAE8-754F-A6F8-DE52-1A364F3DF4DD}"/>
                  </a:ext>
                </a:extLst>
              </p:cNvPr>
              <p:cNvSpPr>
                <a:spLocks noChangeAspect="1"/>
              </p:cNvSpPr>
              <p:nvPr/>
            </p:nvSpPr>
            <p:spPr>
              <a:xfrm>
                <a:off x="9691694" y="5270063"/>
                <a:ext cx="216000" cy="216000"/>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0" name="Group 19">
              <a:extLst>
                <a:ext uri="{FF2B5EF4-FFF2-40B4-BE49-F238E27FC236}">
                  <a16:creationId xmlns:a16="http://schemas.microsoft.com/office/drawing/2014/main" id="{79D2DCDF-8BE5-1EAE-A4A7-8C9C8FB5434C}"/>
                </a:ext>
              </a:extLst>
            </p:cNvPr>
            <p:cNvGrpSpPr/>
            <p:nvPr/>
          </p:nvGrpSpPr>
          <p:grpSpPr>
            <a:xfrm>
              <a:off x="4059181" y="5211713"/>
              <a:ext cx="437400" cy="216000"/>
              <a:chOff x="9895949" y="1413332"/>
              <a:chExt cx="437400" cy="216000"/>
            </a:xfrm>
          </p:grpSpPr>
          <p:sp>
            <p:nvSpPr>
              <p:cNvPr id="27" name="Google Shape;1558;p2">
                <a:extLst>
                  <a:ext uri="{FF2B5EF4-FFF2-40B4-BE49-F238E27FC236}">
                    <a16:creationId xmlns:a16="http://schemas.microsoft.com/office/drawing/2014/main" id="{08A07F60-1EC2-C91A-1C7B-453591621DFB}"/>
                  </a:ext>
                </a:extLst>
              </p:cNvPr>
              <p:cNvSpPr/>
              <p:nvPr/>
            </p:nvSpPr>
            <p:spPr>
              <a:xfrm>
                <a:off x="9895949" y="1462982"/>
                <a:ext cx="4374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28" name="Google Shape;1623;p2">
                <a:extLst>
                  <a:ext uri="{FF2B5EF4-FFF2-40B4-BE49-F238E27FC236}">
                    <a16:creationId xmlns:a16="http://schemas.microsoft.com/office/drawing/2014/main" id="{3660E930-58E3-83EC-8933-DFAF297A6AB2}"/>
                  </a:ext>
                </a:extLst>
              </p:cNvPr>
              <p:cNvSpPr>
                <a:spLocks noChangeAspect="1"/>
              </p:cNvSpPr>
              <p:nvPr/>
            </p:nvSpPr>
            <p:spPr>
              <a:xfrm>
                <a:off x="10018018" y="1413332"/>
                <a:ext cx="193263" cy="216000"/>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1" name="Group 20">
              <a:extLst>
                <a:ext uri="{FF2B5EF4-FFF2-40B4-BE49-F238E27FC236}">
                  <a16:creationId xmlns:a16="http://schemas.microsoft.com/office/drawing/2014/main" id="{2CC2DFFE-94ED-2727-254A-1ED70C8BE0A6}"/>
                </a:ext>
              </a:extLst>
            </p:cNvPr>
            <p:cNvGrpSpPr/>
            <p:nvPr/>
          </p:nvGrpSpPr>
          <p:grpSpPr>
            <a:xfrm>
              <a:off x="3604782" y="5211777"/>
              <a:ext cx="481200" cy="216000"/>
              <a:chOff x="8526343" y="2145622"/>
              <a:chExt cx="481200" cy="216000"/>
            </a:xfrm>
          </p:grpSpPr>
          <p:sp>
            <p:nvSpPr>
              <p:cNvPr id="22" name="Google Shape;1557;p2">
                <a:extLst>
                  <a:ext uri="{FF2B5EF4-FFF2-40B4-BE49-F238E27FC236}">
                    <a16:creationId xmlns:a16="http://schemas.microsoft.com/office/drawing/2014/main" id="{398C0790-C5F6-A326-5DEF-289BDC67D7CE}"/>
                  </a:ext>
                </a:extLst>
              </p:cNvPr>
              <p:cNvSpPr/>
              <p:nvPr/>
            </p:nvSpPr>
            <p:spPr>
              <a:xfrm>
                <a:off x="8526343" y="2191830"/>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grpSp>
            <p:nvGrpSpPr>
              <p:cNvPr id="23" name="Google Shape;1618;p2">
                <a:extLst>
                  <a:ext uri="{FF2B5EF4-FFF2-40B4-BE49-F238E27FC236}">
                    <a16:creationId xmlns:a16="http://schemas.microsoft.com/office/drawing/2014/main" id="{A9D99B5F-770A-4732-3534-CDEB91C64B38}"/>
                  </a:ext>
                </a:extLst>
              </p:cNvPr>
              <p:cNvGrpSpPr>
                <a:grpSpLocks noChangeAspect="1"/>
              </p:cNvGrpSpPr>
              <p:nvPr/>
            </p:nvGrpSpPr>
            <p:grpSpPr>
              <a:xfrm>
                <a:off x="8658941" y="2145622"/>
                <a:ext cx="216005" cy="216000"/>
                <a:chOff x="3822556" y="5087301"/>
                <a:chExt cx="611339" cy="557273"/>
              </a:xfrm>
            </p:grpSpPr>
            <p:sp>
              <p:nvSpPr>
                <p:cNvPr id="24" name="Google Shape;1619;p2">
                  <a:extLst>
                    <a:ext uri="{FF2B5EF4-FFF2-40B4-BE49-F238E27FC236}">
                      <a16:creationId xmlns:a16="http://schemas.microsoft.com/office/drawing/2014/main" id="{C1BA66C9-672B-587E-DA57-2DA7BE732BE2}"/>
                    </a:ext>
                  </a:extLst>
                </p:cNvPr>
                <p:cNvSpPr/>
                <p:nvPr/>
              </p:nvSpPr>
              <p:spPr>
                <a:xfrm>
                  <a:off x="3822556" y="5087301"/>
                  <a:ext cx="611339" cy="161801"/>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5" name="Google Shape;1620;p2">
                  <a:extLst>
                    <a:ext uri="{FF2B5EF4-FFF2-40B4-BE49-F238E27FC236}">
                      <a16:creationId xmlns:a16="http://schemas.microsoft.com/office/drawing/2014/main" id="{3D0A2491-A2F5-4E72-4431-AFAEBA379007}"/>
                    </a:ext>
                  </a:extLst>
                </p:cNvPr>
                <p:cNvSpPr/>
                <p:nvPr/>
              </p:nvSpPr>
              <p:spPr>
                <a:xfrm>
                  <a:off x="3822556" y="5284403"/>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6" name="Google Shape;1621;p2">
                  <a:extLst>
                    <a:ext uri="{FF2B5EF4-FFF2-40B4-BE49-F238E27FC236}">
                      <a16:creationId xmlns:a16="http://schemas.microsoft.com/office/drawing/2014/main" id="{1D2E878D-CAA4-8B29-C0C9-A1ECD1058154}"/>
                    </a:ext>
                  </a:extLst>
                </p:cNvPr>
                <p:cNvSpPr/>
                <p:nvPr/>
              </p:nvSpPr>
              <p:spPr>
                <a:xfrm>
                  <a:off x="3822556" y="5482729"/>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31" name="Google Shape;6428;g341ab2b14b8_2_916">
            <a:extLst>
              <a:ext uri="{FF2B5EF4-FFF2-40B4-BE49-F238E27FC236}">
                <a16:creationId xmlns:a16="http://schemas.microsoft.com/office/drawing/2014/main" id="{9F5C2099-7CB1-80A9-DB3F-8B0AC5274789}"/>
              </a:ext>
            </a:extLst>
          </p:cNvPr>
          <p:cNvSpPr/>
          <p:nvPr/>
        </p:nvSpPr>
        <p:spPr>
          <a:xfrm rot="10800000">
            <a:off x="336253" y="1600200"/>
            <a:ext cx="7694872" cy="2773888"/>
          </a:xfrm>
          <a:prstGeom prst="roundRect">
            <a:avLst>
              <a:gd name="adj" fmla="val 4329"/>
            </a:avLst>
          </a:prstGeom>
          <a:noFill/>
          <a:ln w="19050" cap="rnd" cmpd="sng">
            <a:solidFill>
              <a:schemeClr val="accent1"/>
            </a:solidFill>
            <a:prstDash val="sysDot"/>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798"/>
              <a:buFont typeface="Arial"/>
              <a:buNone/>
              <a:tabLst/>
              <a:defRPr/>
            </a:pPr>
            <a:r>
              <a:rPr kumimoji="0" lang="en-US" sz="1598" b="0" i="0" u="none" strike="noStrike" kern="1200" cap="none" spc="0" normalizeH="0" baseline="0" noProof="0" dirty="0">
                <a:ln>
                  <a:noFill/>
                </a:ln>
                <a:solidFill>
                  <a:srgbClr val="FFFFFF"/>
                </a:solidFill>
                <a:effectLst/>
                <a:uLnTx/>
                <a:uFillTx/>
                <a:latin typeface="Arial"/>
                <a:ea typeface="Arial"/>
                <a:cs typeface="Arial"/>
                <a:sym typeface="Arial"/>
              </a:rPr>
              <a:t>			</a:t>
            </a:r>
            <a:endParaRPr kumimoji="0" sz="1598"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32" name="Google Shape;6429;g341ab2b14b8_2_916">
            <a:extLst>
              <a:ext uri="{FF2B5EF4-FFF2-40B4-BE49-F238E27FC236}">
                <a16:creationId xmlns:a16="http://schemas.microsoft.com/office/drawing/2014/main" id="{1EBEBB36-95FB-0530-E8AC-437387ED240F}"/>
              </a:ext>
            </a:extLst>
          </p:cNvPr>
          <p:cNvSpPr txBox="1"/>
          <p:nvPr/>
        </p:nvSpPr>
        <p:spPr>
          <a:xfrm>
            <a:off x="410491" y="3237365"/>
            <a:ext cx="1059600" cy="294300"/>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TKG</a:t>
            </a:r>
            <a:br>
              <a:rPr kumimoji="0" lang="en-US" sz="800" b="0" i="0" u="none" strike="noStrike" kern="1200" cap="none" spc="0" normalizeH="0" baseline="0" noProof="0">
                <a:ln>
                  <a:noFill/>
                </a:ln>
                <a:solidFill>
                  <a:srgbClr val="000000"/>
                </a:solidFill>
                <a:effectLst/>
                <a:uLnTx/>
                <a:uFillTx/>
                <a:latin typeface="Arial"/>
                <a:ea typeface="Arial"/>
                <a:cs typeface="Arial"/>
                <a:sym typeface="Arial"/>
              </a:rPr>
            </a:b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Service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3" name="Google Shape;6430;g341ab2b14b8_2_916">
            <a:extLst>
              <a:ext uri="{FF2B5EF4-FFF2-40B4-BE49-F238E27FC236}">
                <a16:creationId xmlns:a16="http://schemas.microsoft.com/office/drawing/2014/main" id="{01566289-25B5-079C-48BD-8565B5739FA7}"/>
              </a:ext>
            </a:extLst>
          </p:cNvPr>
          <p:cNvSpPr/>
          <p:nvPr/>
        </p:nvSpPr>
        <p:spPr>
          <a:xfrm>
            <a:off x="768614" y="3225299"/>
            <a:ext cx="357600" cy="2442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00" tIns="91400" rIns="91400" bIns="91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35" name="Google Shape;6507;g341ab2b14b8_2_916">
            <a:extLst>
              <a:ext uri="{FF2B5EF4-FFF2-40B4-BE49-F238E27FC236}">
                <a16:creationId xmlns:a16="http://schemas.microsoft.com/office/drawing/2014/main" id="{985F8D37-2CFB-8619-25AE-1874DABC3ECD}"/>
              </a:ext>
            </a:extLst>
          </p:cNvPr>
          <p:cNvGrpSpPr/>
          <p:nvPr/>
        </p:nvGrpSpPr>
        <p:grpSpPr>
          <a:xfrm>
            <a:off x="2096145" y="3353465"/>
            <a:ext cx="1051619" cy="864396"/>
            <a:chOff x="7037124" y="3307853"/>
            <a:chExt cx="1311900" cy="1020900"/>
          </a:xfrm>
        </p:grpSpPr>
        <p:sp>
          <p:nvSpPr>
            <p:cNvPr id="36" name="Google Shape;6508;g341ab2b14b8_2_916">
              <a:extLst>
                <a:ext uri="{FF2B5EF4-FFF2-40B4-BE49-F238E27FC236}">
                  <a16:creationId xmlns:a16="http://schemas.microsoft.com/office/drawing/2014/main" id="{A71A5271-0F56-D306-8781-DF630DF2E06A}"/>
                </a:ext>
              </a:extLst>
            </p:cNvPr>
            <p:cNvSpPr/>
            <p:nvPr/>
          </p:nvSpPr>
          <p:spPr>
            <a:xfrm>
              <a:off x="7037124" y="3307853"/>
              <a:ext cx="1311900" cy="1020900"/>
            </a:xfrm>
            <a:prstGeom prst="roundRect">
              <a:avLst>
                <a:gd name="adj" fmla="val 6270"/>
              </a:avLst>
            </a:prstGeom>
            <a:solidFill>
              <a:schemeClr val="lt1"/>
            </a:solidFill>
            <a:ln w="12700" cap="flat" cmpd="sng">
              <a:solidFill>
                <a:srgbClr val="005C8A"/>
              </a:solidFill>
              <a:prstDash val="solid"/>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37" name="Google Shape;6509;g341ab2b14b8_2_916">
              <a:extLst>
                <a:ext uri="{FF2B5EF4-FFF2-40B4-BE49-F238E27FC236}">
                  <a16:creationId xmlns:a16="http://schemas.microsoft.com/office/drawing/2014/main" id="{BF337129-7EA2-559E-BD0C-2F43ED341A59}"/>
                </a:ext>
              </a:extLst>
            </p:cNvPr>
            <p:cNvSpPr/>
            <p:nvPr/>
          </p:nvSpPr>
          <p:spPr>
            <a:xfrm>
              <a:off x="7147815" y="3318810"/>
              <a:ext cx="1090500" cy="4014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Network Service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8" name="Google Shape;6510;g341ab2b14b8_2_916">
              <a:extLst>
                <a:ext uri="{FF2B5EF4-FFF2-40B4-BE49-F238E27FC236}">
                  <a16:creationId xmlns:a16="http://schemas.microsoft.com/office/drawing/2014/main" id="{1CDFF18F-EE7F-4F53-AED4-D329AA66E5AC}"/>
                </a:ext>
              </a:extLst>
            </p:cNvPr>
            <p:cNvSpPr/>
            <p:nvPr/>
          </p:nvSpPr>
          <p:spPr>
            <a:xfrm>
              <a:off x="7493406" y="3789189"/>
              <a:ext cx="422660" cy="418749"/>
            </a:xfrm>
            <a:custGeom>
              <a:avLst/>
              <a:gdLst/>
              <a:ahLst/>
              <a:cxnLst/>
              <a:rect l="l" t="t" r="r" b="b"/>
              <a:pathLst>
                <a:path w="1134658" h="1124158" extrusionOk="0">
                  <a:moveTo>
                    <a:pt x="7193" y="95826"/>
                  </a:moveTo>
                  <a:cubicBezTo>
                    <a:pt x="14347" y="65926"/>
                    <a:pt x="44430" y="47491"/>
                    <a:pt x="74330" y="54645"/>
                  </a:cubicBezTo>
                  <a:cubicBezTo>
                    <a:pt x="103771" y="61707"/>
                    <a:pt x="122023" y="90965"/>
                    <a:pt x="115694" y="120406"/>
                  </a:cubicBezTo>
                  <a:lnTo>
                    <a:pt x="290232" y="215976"/>
                  </a:lnTo>
                  <a:lnTo>
                    <a:pt x="290232" y="365016"/>
                  </a:lnTo>
                  <a:cubicBezTo>
                    <a:pt x="279776" y="371620"/>
                    <a:pt x="269779" y="379049"/>
                    <a:pt x="260424" y="387120"/>
                  </a:cubicBezTo>
                  <a:lnTo>
                    <a:pt x="260424" y="233585"/>
                  </a:lnTo>
                  <a:lnTo>
                    <a:pt x="101753" y="146729"/>
                  </a:lnTo>
                  <a:cubicBezTo>
                    <a:pt x="88546" y="160762"/>
                    <a:pt x="68552" y="167733"/>
                    <a:pt x="48374" y="162872"/>
                  </a:cubicBezTo>
                  <a:cubicBezTo>
                    <a:pt x="18566" y="155718"/>
                    <a:pt x="39" y="125726"/>
                    <a:pt x="7193" y="95826"/>
                  </a:cubicBezTo>
                  <a:close/>
                  <a:moveTo>
                    <a:pt x="491918" y="109767"/>
                  </a:moveTo>
                  <a:cubicBezTo>
                    <a:pt x="492377" y="109859"/>
                    <a:pt x="492927" y="109859"/>
                    <a:pt x="493386" y="109951"/>
                  </a:cubicBezTo>
                  <a:lnTo>
                    <a:pt x="502099" y="323835"/>
                  </a:lnTo>
                  <a:cubicBezTo>
                    <a:pt x="510445" y="309344"/>
                    <a:pt x="519984" y="295861"/>
                    <a:pt x="530256" y="283296"/>
                  </a:cubicBezTo>
                  <a:lnTo>
                    <a:pt x="523102" y="108116"/>
                  </a:lnTo>
                  <a:cubicBezTo>
                    <a:pt x="540345" y="102063"/>
                    <a:pt x="554378" y="87755"/>
                    <a:pt x="558963" y="68586"/>
                  </a:cubicBezTo>
                  <a:cubicBezTo>
                    <a:pt x="566117" y="38686"/>
                    <a:pt x="547682" y="8695"/>
                    <a:pt x="517782" y="1541"/>
                  </a:cubicBezTo>
                  <a:cubicBezTo>
                    <a:pt x="487883" y="-5613"/>
                    <a:pt x="457891" y="12822"/>
                    <a:pt x="450737" y="42722"/>
                  </a:cubicBezTo>
                  <a:cubicBezTo>
                    <a:pt x="443583" y="72622"/>
                    <a:pt x="462018" y="102613"/>
                    <a:pt x="491918" y="109767"/>
                  </a:cubicBezTo>
                  <a:close/>
                  <a:moveTo>
                    <a:pt x="1042955" y="1018959"/>
                  </a:moveTo>
                  <a:cubicBezTo>
                    <a:pt x="1035342" y="1015107"/>
                    <a:pt x="1027363" y="1013273"/>
                    <a:pt x="1019384" y="1012998"/>
                  </a:cubicBezTo>
                  <a:lnTo>
                    <a:pt x="979212" y="888262"/>
                  </a:lnTo>
                  <a:cubicBezTo>
                    <a:pt x="974442" y="888629"/>
                    <a:pt x="969765" y="889088"/>
                    <a:pt x="964904" y="889088"/>
                  </a:cubicBezTo>
                  <a:cubicBezTo>
                    <a:pt x="964904" y="889088"/>
                    <a:pt x="961785" y="889088"/>
                    <a:pt x="960226" y="888996"/>
                  </a:cubicBezTo>
                  <a:cubicBezTo>
                    <a:pt x="958759" y="888996"/>
                    <a:pt x="954540" y="888996"/>
                    <a:pt x="948119" y="888905"/>
                  </a:cubicBezTo>
                  <a:lnTo>
                    <a:pt x="990309" y="1019968"/>
                  </a:lnTo>
                  <a:cubicBezTo>
                    <a:pt x="981046" y="1025104"/>
                    <a:pt x="973250" y="1032992"/>
                    <a:pt x="968022" y="1043081"/>
                  </a:cubicBezTo>
                  <a:cubicBezTo>
                    <a:pt x="953989" y="1070413"/>
                    <a:pt x="964812" y="1103981"/>
                    <a:pt x="992144" y="1118014"/>
                  </a:cubicBezTo>
                  <a:cubicBezTo>
                    <a:pt x="1019475" y="1132047"/>
                    <a:pt x="1053044" y="1121224"/>
                    <a:pt x="1067077" y="1093892"/>
                  </a:cubicBezTo>
                  <a:cubicBezTo>
                    <a:pt x="1081109" y="1066561"/>
                    <a:pt x="1070287" y="1032992"/>
                    <a:pt x="1042955" y="1018959"/>
                  </a:cubicBezTo>
                  <a:close/>
                  <a:moveTo>
                    <a:pt x="603171" y="980347"/>
                  </a:moveTo>
                  <a:lnTo>
                    <a:pt x="603171" y="890005"/>
                  </a:lnTo>
                  <a:cubicBezTo>
                    <a:pt x="593541" y="890005"/>
                    <a:pt x="583910" y="890097"/>
                    <a:pt x="574188" y="890097"/>
                  </a:cubicBezTo>
                  <a:cubicBezTo>
                    <a:pt x="573913" y="890097"/>
                    <a:pt x="573638" y="890097"/>
                    <a:pt x="573363" y="890097"/>
                  </a:cubicBezTo>
                  <a:lnTo>
                    <a:pt x="573363" y="980347"/>
                  </a:lnTo>
                  <a:cubicBezTo>
                    <a:pt x="554469" y="985574"/>
                    <a:pt x="538877" y="1000433"/>
                    <a:pt x="533925" y="1020794"/>
                  </a:cubicBezTo>
                  <a:cubicBezTo>
                    <a:pt x="526771" y="1050694"/>
                    <a:pt x="545206" y="1080685"/>
                    <a:pt x="575106" y="1087839"/>
                  </a:cubicBezTo>
                  <a:cubicBezTo>
                    <a:pt x="605005" y="1094993"/>
                    <a:pt x="634997" y="1076558"/>
                    <a:pt x="642151" y="1046658"/>
                  </a:cubicBezTo>
                  <a:cubicBezTo>
                    <a:pt x="649213" y="1017492"/>
                    <a:pt x="631787" y="988418"/>
                    <a:pt x="603171" y="980347"/>
                  </a:cubicBezTo>
                  <a:close/>
                  <a:moveTo>
                    <a:pt x="196589" y="891197"/>
                  </a:moveTo>
                  <a:cubicBezTo>
                    <a:pt x="188976" y="891197"/>
                    <a:pt x="183382" y="891197"/>
                    <a:pt x="179896" y="891197"/>
                  </a:cubicBezTo>
                  <a:lnTo>
                    <a:pt x="86345" y="984749"/>
                  </a:lnTo>
                  <a:cubicBezTo>
                    <a:pt x="78824" y="980897"/>
                    <a:pt x="70386" y="978512"/>
                    <a:pt x="61306" y="978512"/>
                  </a:cubicBezTo>
                  <a:cubicBezTo>
                    <a:pt x="30581" y="978512"/>
                    <a:pt x="5634" y="1003459"/>
                    <a:pt x="5634" y="1034185"/>
                  </a:cubicBezTo>
                  <a:cubicBezTo>
                    <a:pt x="5634" y="1064910"/>
                    <a:pt x="30581" y="1089857"/>
                    <a:pt x="61306" y="1089857"/>
                  </a:cubicBezTo>
                  <a:cubicBezTo>
                    <a:pt x="92031" y="1089857"/>
                    <a:pt x="116978" y="1064910"/>
                    <a:pt x="116978" y="1034185"/>
                  </a:cubicBezTo>
                  <a:cubicBezTo>
                    <a:pt x="116978" y="1023362"/>
                    <a:pt x="113768" y="1013365"/>
                    <a:pt x="108449" y="1004835"/>
                  </a:cubicBezTo>
                  <a:lnTo>
                    <a:pt x="221994" y="891197"/>
                  </a:lnTo>
                  <a:cubicBezTo>
                    <a:pt x="212089" y="891197"/>
                    <a:pt x="203559" y="891197"/>
                    <a:pt x="196589" y="891197"/>
                  </a:cubicBezTo>
                  <a:close/>
                  <a:moveTo>
                    <a:pt x="797611" y="130037"/>
                  </a:moveTo>
                  <a:lnTo>
                    <a:pt x="990584" y="130037"/>
                  </a:lnTo>
                  <a:cubicBezTo>
                    <a:pt x="996546" y="147555"/>
                    <a:pt x="1010946" y="161771"/>
                    <a:pt x="1030206" y="166357"/>
                  </a:cubicBezTo>
                  <a:cubicBezTo>
                    <a:pt x="1060106" y="173511"/>
                    <a:pt x="1090098" y="155076"/>
                    <a:pt x="1097252" y="125176"/>
                  </a:cubicBezTo>
                  <a:cubicBezTo>
                    <a:pt x="1104406" y="95276"/>
                    <a:pt x="1085970" y="65284"/>
                    <a:pt x="1056071" y="58131"/>
                  </a:cubicBezTo>
                  <a:cubicBezTo>
                    <a:pt x="1026171" y="50977"/>
                    <a:pt x="996179" y="69412"/>
                    <a:pt x="989025" y="99312"/>
                  </a:cubicBezTo>
                  <a:cubicBezTo>
                    <a:pt x="988934" y="99587"/>
                    <a:pt x="988934" y="99954"/>
                    <a:pt x="988934" y="100229"/>
                  </a:cubicBezTo>
                  <a:lnTo>
                    <a:pt x="767803" y="100229"/>
                  </a:lnTo>
                  <a:lnTo>
                    <a:pt x="767803" y="184975"/>
                  </a:lnTo>
                  <a:cubicBezTo>
                    <a:pt x="777892" y="186259"/>
                    <a:pt x="787798" y="188277"/>
                    <a:pt x="797611" y="190662"/>
                  </a:cubicBezTo>
                  <a:lnTo>
                    <a:pt x="797611" y="130037"/>
                  </a:lnTo>
                  <a:close/>
                  <a:moveTo>
                    <a:pt x="957658" y="859188"/>
                  </a:moveTo>
                  <a:cubicBezTo>
                    <a:pt x="955457" y="859188"/>
                    <a:pt x="948853" y="859096"/>
                    <a:pt x="938489" y="859096"/>
                  </a:cubicBezTo>
                  <a:cubicBezTo>
                    <a:pt x="829162" y="859096"/>
                    <a:pt x="303806" y="861389"/>
                    <a:pt x="193287" y="861389"/>
                  </a:cubicBezTo>
                  <a:cubicBezTo>
                    <a:pt x="182831" y="861389"/>
                    <a:pt x="176044" y="861389"/>
                    <a:pt x="173751" y="861298"/>
                  </a:cubicBezTo>
                  <a:cubicBezTo>
                    <a:pt x="81942" y="858821"/>
                    <a:pt x="-2071" y="774442"/>
                    <a:pt x="39" y="682174"/>
                  </a:cubicBezTo>
                  <a:cubicBezTo>
                    <a:pt x="2240" y="591374"/>
                    <a:pt x="76348" y="519101"/>
                    <a:pt x="166322" y="519101"/>
                  </a:cubicBezTo>
                  <a:cubicBezTo>
                    <a:pt x="167698" y="519101"/>
                    <a:pt x="169074" y="519101"/>
                    <a:pt x="170358" y="519193"/>
                  </a:cubicBezTo>
                  <a:cubicBezTo>
                    <a:pt x="184482" y="519468"/>
                    <a:pt x="198331" y="521394"/>
                    <a:pt x="211355" y="525063"/>
                  </a:cubicBezTo>
                  <a:cubicBezTo>
                    <a:pt x="231900" y="429218"/>
                    <a:pt x="315729" y="358229"/>
                    <a:pt x="415609" y="358229"/>
                  </a:cubicBezTo>
                  <a:cubicBezTo>
                    <a:pt x="417352" y="358229"/>
                    <a:pt x="419095" y="358229"/>
                    <a:pt x="420746" y="358321"/>
                  </a:cubicBezTo>
                  <a:cubicBezTo>
                    <a:pt x="451196" y="359146"/>
                    <a:pt x="479720" y="366117"/>
                    <a:pt x="505492" y="378590"/>
                  </a:cubicBezTo>
                  <a:cubicBezTo>
                    <a:pt x="543280" y="281095"/>
                    <a:pt x="631053" y="212857"/>
                    <a:pt x="732492" y="212857"/>
                  </a:cubicBezTo>
                  <a:cubicBezTo>
                    <a:pt x="734510" y="212857"/>
                    <a:pt x="736528" y="212857"/>
                    <a:pt x="738546" y="212949"/>
                  </a:cubicBezTo>
                  <a:cubicBezTo>
                    <a:pt x="864015" y="215976"/>
                    <a:pt x="965087" y="321909"/>
                    <a:pt x="977285" y="456091"/>
                  </a:cubicBezTo>
                  <a:cubicBezTo>
                    <a:pt x="1067443" y="464713"/>
                    <a:pt x="1137332" y="553862"/>
                    <a:pt x="1134580" y="661721"/>
                  </a:cubicBezTo>
                  <a:cubicBezTo>
                    <a:pt x="1132196" y="771323"/>
                    <a:pt x="1054695" y="859372"/>
                    <a:pt x="961418" y="859372"/>
                  </a:cubicBezTo>
                  <a:cubicBezTo>
                    <a:pt x="960318" y="859280"/>
                    <a:pt x="958942" y="859280"/>
                    <a:pt x="957658" y="859188"/>
                  </a:cubicBezTo>
                  <a:close/>
                  <a:moveTo>
                    <a:pt x="938489" y="829380"/>
                  </a:moveTo>
                  <a:cubicBezTo>
                    <a:pt x="949220" y="829380"/>
                    <a:pt x="956007" y="829380"/>
                    <a:pt x="958300" y="829472"/>
                  </a:cubicBezTo>
                  <a:cubicBezTo>
                    <a:pt x="959492" y="829472"/>
                    <a:pt x="960593" y="829472"/>
                    <a:pt x="961602" y="829472"/>
                  </a:cubicBezTo>
                  <a:cubicBezTo>
                    <a:pt x="1038644" y="829472"/>
                    <a:pt x="1102938" y="753897"/>
                    <a:pt x="1105048" y="660987"/>
                  </a:cubicBezTo>
                  <a:cubicBezTo>
                    <a:pt x="1107340" y="569821"/>
                    <a:pt x="1050109" y="492870"/>
                    <a:pt x="974717" y="485716"/>
                  </a:cubicBezTo>
                  <a:lnTo>
                    <a:pt x="950137" y="483331"/>
                  </a:lnTo>
                  <a:lnTo>
                    <a:pt x="947936" y="458751"/>
                  </a:lnTo>
                  <a:cubicBezTo>
                    <a:pt x="936930" y="338235"/>
                    <a:pt x="846772" y="245325"/>
                    <a:pt x="738087" y="242757"/>
                  </a:cubicBezTo>
                  <a:cubicBezTo>
                    <a:pt x="736253" y="242665"/>
                    <a:pt x="734510" y="242665"/>
                    <a:pt x="732767" y="242665"/>
                  </a:cubicBezTo>
                  <a:cubicBezTo>
                    <a:pt x="646278" y="242665"/>
                    <a:pt x="568135" y="300264"/>
                    <a:pt x="533558" y="389321"/>
                  </a:cubicBezTo>
                  <a:lnTo>
                    <a:pt x="521910" y="419496"/>
                  </a:lnTo>
                  <a:lnTo>
                    <a:pt x="492835" y="405372"/>
                  </a:lnTo>
                  <a:cubicBezTo>
                    <a:pt x="470640" y="394641"/>
                    <a:pt x="446151" y="388771"/>
                    <a:pt x="420287" y="388037"/>
                  </a:cubicBezTo>
                  <a:cubicBezTo>
                    <a:pt x="418911" y="388037"/>
                    <a:pt x="417444" y="387945"/>
                    <a:pt x="415976" y="387945"/>
                  </a:cubicBezTo>
                  <a:cubicBezTo>
                    <a:pt x="332330" y="387945"/>
                    <a:pt x="258681" y="448204"/>
                    <a:pt x="240888" y="531208"/>
                  </a:cubicBezTo>
                  <a:lnTo>
                    <a:pt x="234285" y="562116"/>
                  </a:lnTo>
                  <a:lnTo>
                    <a:pt x="203834" y="553678"/>
                  </a:lnTo>
                  <a:cubicBezTo>
                    <a:pt x="193287" y="550743"/>
                    <a:pt x="182006" y="549184"/>
                    <a:pt x="170174" y="548909"/>
                  </a:cubicBezTo>
                  <a:cubicBezTo>
                    <a:pt x="168890" y="548909"/>
                    <a:pt x="167790" y="548909"/>
                    <a:pt x="166689" y="548909"/>
                  </a:cubicBezTo>
                  <a:cubicBezTo>
                    <a:pt x="93224" y="548909"/>
                    <a:pt x="31956" y="609076"/>
                    <a:pt x="30214" y="682908"/>
                  </a:cubicBezTo>
                  <a:cubicBezTo>
                    <a:pt x="28471" y="757199"/>
                    <a:pt x="98818" y="829472"/>
                    <a:pt x="174944" y="831581"/>
                  </a:cubicBezTo>
                  <a:cubicBezTo>
                    <a:pt x="176961" y="831581"/>
                    <a:pt x="183473" y="831673"/>
                    <a:pt x="193654" y="831673"/>
                  </a:cubicBezTo>
                  <a:cubicBezTo>
                    <a:pt x="248959" y="831673"/>
                    <a:pt x="411024" y="831123"/>
                    <a:pt x="567768" y="830572"/>
                  </a:cubicBezTo>
                  <a:cubicBezTo>
                    <a:pt x="723045" y="829930"/>
                    <a:pt x="883917" y="829380"/>
                    <a:pt x="938489" y="829380"/>
                  </a:cubicBezTo>
                  <a:close/>
                </a:path>
              </a:pathLst>
            </a:custGeom>
            <a:solidFill>
              <a:schemeClr val="accent2"/>
            </a:solidFill>
            <a:ln>
              <a:noFill/>
            </a:ln>
          </p:spPr>
          <p:txBody>
            <a:bodyPr spcFirstLastPara="1" wrap="square" lIns="91375" tIns="45650" rIns="91375" bIns="456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6"/>
                <a:buFont typeface="Arial"/>
                <a:buNone/>
                <a:tabLst/>
                <a:defRPr/>
              </a:pPr>
              <a:endParaRPr kumimoji="0" sz="1795" b="0" i="0" u="none" strike="noStrike" kern="1200" cap="none" spc="0" normalizeH="0" baseline="0" noProof="0">
                <a:ln>
                  <a:noFill/>
                </a:ln>
                <a:solidFill>
                  <a:srgbClr val="717074"/>
                </a:solidFill>
                <a:effectLst/>
                <a:uLnTx/>
                <a:uFillTx/>
                <a:latin typeface="Arial"/>
                <a:ea typeface="Arial"/>
                <a:cs typeface="Arial"/>
                <a:sym typeface="Arial"/>
              </a:endParaRPr>
            </a:p>
          </p:txBody>
        </p:sp>
      </p:grpSp>
      <p:grpSp>
        <p:nvGrpSpPr>
          <p:cNvPr id="39" name="Google Shape;6511;g341ab2b14b8_2_916">
            <a:extLst>
              <a:ext uri="{FF2B5EF4-FFF2-40B4-BE49-F238E27FC236}">
                <a16:creationId xmlns:a16="http://schemas.microsoft.com/office/drawing/2014/main" id="{81A1B736-2E4B-3D44-05F2-7A54660F9B82}"/>
              </a:ext>
            </a:extLst>
          </p:cNvPr>
          <p:cNvGrpSpPr/>
          <p:nvPr/>
        </p:nvGrpSpPr>
        <p:grpSpPr>
          <a:xfrm>
            <a:off x="6382798" y="3343956"/>
            <a:ext cx="1051500" cy="868800"/>
            <a:chOff x="10063041" y="3571756"/>
            <a:chExt cx="1051500" cy="868800"/>
          </a:xfrm>
        </p:grpSpPr>
        <p:sp>
          <p:nvSpPr>
            <p:cNvPr id="40" name="Google Shape;6512;g341ab2b14b8_2_916">
              <a:extLst>
                <a:ext uri="{FF2B5EF4-FFF2-40B4-BE49-F238E27FC236}">
                  <a16:creationId xmlns:a16="http://schemas.microsoft.com/office/drawing/2014/main" id="{D382DA9C-0EF0-30E9-E634-068976C64859}"/>
                </a:ext>
              </a:extLst>
            </p:cNvPr>
            <p:cNvSpPr/>
            <p:nvPr/>
          </p:nvSpPr>
          <p:spPr>
            <a:xfrm>
              <a:off x="10063041" y="3571756"/>
              <a:ext cx="1051500" cy="868800"/>
            </a:xfrm>
            <a:prstGeom prst="roundRect">
              <a:avLst>
                <a:gd name="adj" fmla="val 6270"/>
              </a:avLst>
            </a:prstGeom>
            <a:solidFill>
              <a:schemeClr val="lt1"/>
            </a:solidFill>
            <a:ln w="12700" cap="flat" cmpd="sng">
              <a:solidFill>
                <a:srgbClr val="005C8A"/>
              </a:solidFill>
              <a:prstDash val="solid"/>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41" name="Google Shape;6513;g341ab2b14b8_2_916">
              <a:extLst>
                <a:ext uri="{FF2B5EF4-FFF2-40B4-BE49-F238E27FC236}">
                  <a16:creationId xmlns:a16="http://schemas.microsoft.com/office/drawing/2014/main" id="{F5C31517-D1F9-BC17-E3E0-12CF5D5A15AE}"/>
                </a:ext>
              </a:extLst>
            </p:cNvPr>
            <p:cNvPicPr preferRelativeResize="0"/>
            <p:nvPr/>
          </p:nvPicPr>
          <p:blipFill rotWithShape="1">
            <a:blip r:embed="rId4">
              <a:alphaModFix/>
            </a:blip>
            <a:srcRect/>
            <a:stretch/>
          </p:blipFill>
          <p:spPr>
            <a:xfrm>
              <a:off x="10402218" y="3906647"/>
              <a:ext cx="422600" cy="422600"/>
            </a:xfrm>
            <a:prstGeom prst="rect">
              <a:avLst/>
            </a:prstGeom>
            <a:noFill/>
            <a:ln>
              <a:noFill/>
            </a:ln>
          </p:spPr>
        </p:pic>
        <p:sp>
          <p:nvSpPr>
            <p:cNvPr id="42" name="Google Shape;6514;g341ab2b14b8_2_916">
              <a:extLst>
                <a:ext uri="{FF2B5EF4-FFF2-40B4-BE49-F238E27FC236}">
                  <a16:creationId xmlns:a16="http://schemas.microsoft.com/office/drawing/2014/main" id="{6379AFA8-09A4-C67D-1697-84ECF208A75F}"/>
                </a:ext>
              </a:extLst>
            </p:cNvPr>
            <p:cNvSpPr txBox="1"/>
            <p:nvPr/>
          </p:nvSpPr>
          <p:spPr>
            <a:xfrm>
              <a:off x="10146332" y="3619975"/>
              <a:ext cx="962400" cy="1617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Image Registry</a:t>
              </a:r>
              <a:endParaRPr kumimoji="0" sz="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54" name="Google Shape;6526;g341ab2b14b8_2_916">
            <a:extLst>
              <a:ext uri="{FF2B5EF4-FFF2-40B4-BE49-F238E27FC236}">
                <a16:creationId xmlns:a16="http://schemas.microsoft.com/office/drawing/2014/main" id="{75B86DCC-1919-1055-DAB1-B48AF568899C}"/>
              </a:ext>
            </a:extLst>
          </p:cNvPr>
          <p:cNvGrpSpPr/>
          <p:nvPr/>
        </p:nvGrpSpPr>
        <p:grpSpPr>
          <a:xfrm>
            <a:off x="761184" y="3361039"/>
            <a:ext cx="1051517" cy="864294"/>
            <a:chOff x="5343601" y="3571756"/>
            <a:chExt cx="1051517" cy="864294"/>
          </a:xfrm>
        </p:grpSpPr>
        <p:grpSp>
          <p:nvGrpSpPr>
            <p:cNvPr id="55" name="Google Shape;6527;g341ab2b14b8_2_916">
              <a:extLst>
                <a:ext uri="{FF2B5EF4-FFF2-40B4-BE49-F238E27FC236}">
                  <a16:creationId xmlns:a16="http://schemas.microsoft.com/office/drawing/2014/main" id="{76E92B3F-1898-9ECD-C61F-0D593C875700}"/>
                </a:ext>
              </a:extLst>
            </p:cNvPr>
            <p:cNvGrpSpPr/>
            <p:nvPr/>
          </p:nvGrpSpPr>
          <p:grpSpPr>
            <a:xfrm>
              <a:off x="5343601" y="3571756"/>
              <a:ext cx="1051517" cy="864294"/>
              <a:chOff x="5677911" y="3307853"/>
              <a:chExt cx="1314725" cy="1020900"/>
            </a:xfrm>
          </p:grpSpPr>
          <p:sp>
            <p:nvSpPr>
              <p:cNvPr id="57" name="Google Shape;6528;g341ab2b14b8_2_916">
                <a:extLst>
                  <a:ext uri="{FF2B5EF4-FFF2-40B4-BE49-F238E27FC236}">
                    <a16:creationId xmlns:a16="http://schemas.microsoft.com/office/drawing/2014/main" id="{5BF0AB40-AB7B-3D45-ED78-443A7A3A27B2}"/>
                  </a:ext>
                </a:extLst>
              </p:cNvPr>
              <p:cNvSpPr/>
              <p:nvPr/>
            </p:nvSpPr>
            <p:spPr>
              <a:xfrm>
                <a:off x="5680736" y="3307853"/>
                <a:ext cx="1311900" cy="1020900"/>
              </a:xfrm>
              <a:prstGeom prst="roundRect">
                <a:avLst>
                  <a:gd name="adj" fmla="val 6270"/>
                </a:avLst>
              </a:prstGeom>
              <a:solidFill>
                <a:schemeClr val="lt1"/>
              </a:solidFill>
              <a:ln w="12700" cap="flat" cmpd="sng">
                <a:solidFill>
                  <a:srgbClr val="005C8A"/>
                </a:solidFill>
                <a:prstDash val="solid"/>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58" name="Google Shape;6529;g341ab2b14b8_2_916">
                <a:extLst>
                  <a:ext uri="{FF2B5EF4-FFF2-40B4-BE49-F238E27FC236}">
                    <a16:creationId xmlns:a16="http://schemas.microsoft.com/office/drawing/2014/main" id="{6B2001D8-B0EA-8D8F-DEEA-FF262A68FE3D}"/>
                  </a:ext>
                </a:extLst>
              </p:cNvPr>
              <p:cNvSpPr/>
              <p:nvPr/>
            </p:nvSpPr>
            <p:spPr>
              <a:xfrm>
                <a:off x="5677911" y="3313168"/>
                <a:ext cx="1311900" cy="4020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VM Service</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56" name="Google Shape;6530;g341ab2b14b8_2_916">
              <a:extLst>
                <a:ext uri="{FF2B5EF4-FFF2-40B4-BE49-F238E27FC236}">
                  <a16:creationId xmlns:a16="http://schemas.microsoft.com/office/drawing/2014/main" id="{D8E382B8-7ED9-4B04-682A-C0B84BB6EBA9}"/>
                </a:ext>
              </a:extLst>
            </p:cNvPr>
            <p:cNvSpPr/>
            <p:nvPr/>
          </p:nvSpPr>
          <p:spPr>
            <a:xfrm>
              <a:off x="5689485" y="3913503"/>
              <a:ext cx="340450" cy="340450"/>
            </a:xfrm>
            <a:custGeom>
              <a:avLst/>
              <a:gdLst/>
              <a:ahLst/>
              <a:cxnLst/>
              <a:rect l="l" t="t" r="r" b="b"/>
              <a:pathLst>
                <a:path w="384" h="384" extrusionOk="0">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900"/>
                <a:buFont typeface="Arial"/>
                <a:buNone/>
                <a:tabLst/>
                <a:defRPr/>
              </a:pPr>
              <a:endParaRPr kumimoji="0" sz="1900" b="0" i="0" u="none" strike="noStrike" kern="1200" cap="none" spc="0" normalizeH="0" baseline="0" noProof="0">
                <a:ln>
                  <a:noFill/>
                </a:ln>
                <a:solidFill>
                  <a:srgbClr val="717074"/>
                </a:solidFill>
                <a:effectLst/>
                <a:uLnTx/>
                <a:uFillTx/>
                <a:latin typeface="Arial"/>
                <a:ea typeface="Arial"/>
                <a:cs typeface="Arial"/>
                <a:sym typeface="Arial"/>
              </a:endParaRPr>
            </a:p>
          </p:txBody>
        </p:sp>
      </p:grpSp>
      <p:grpSp>
        <p:nvGrpSpPr>
          <p:cNvPr id="66" name="Google Shape;6617;g341ab2b14b8_2_916">
            <a:extLst>
              <a:ext uri="{FF2B5EF4-FFF2-40B4-BE49-F238E27FC236}">
                <a16:creationId xmlns:a16="http://schemas.microsoft.com/office/drawing/2014/main" id="{D59E4A00-888F-2A14-49EC-7523C1263F68}"/>
              </a:ext>
            </a:extLst>
          </p:cNvPr>
          <p:cNvGrpSpPr/>
          <p:nvPr/>
        </p:nvGrpSpPr>
        <p:grpSpPr>
          <a:xfrm>
            <a:off x="4847274" y="1789508"/>
            <a:ext cx="1051517" cy="864294"/>
            <a:chOff x="5343601" y="3571756"/>
            <a:chExt cx="1051517" cy="864294"/>
          </a:xfrm>
        </p:grpSpPr>
        <p:grpSp>
          <p:nvGrpSpPr>
            <p:cNvPr id="67" name="Google Shape;6618;g341ab2b14b8_2_916">
              <a:extLst>
                <a:ext uri="{FF2B5EF4-FFF2-40B4-BE49-F238E27FC236}">
                  <a16:creationId xmlns:a16="http://schemas.microsoft.com/office/drawing/2014/main" id="{B7D68E96-4F93-09C3-D504-CEFE1C000433}"/>
                </a:ext>
              </a:extLst>
            </p:cNvPr>
            <p:cNvGrpSpPr/>
            <p:nvPr/>
          </p:nvGrpSpPr>
          <p:grpSpPr>
            <a:xfrm>
              <a:off x="5343601" y="3571756"/>
              <a:ext cx="1051517" cy="864294"/>
              <a:chOff x="5677911" y="3307853"/>
              <a:chExt cx="1314725" cy="1020900"/>
            </a:xfrm>
          </p:grpSpPr>
          <p:sp>
            <p:nvSpPr>
              <p:cNvPr id="71" name="Google Shape;6619;g341ab2b14b8_2_916">
                <a:extLst>
                  <a:ext uri="{FF2B5EF4-FFF2-40B4-BE49-F238E27FC236}">
                    <a16:creationId xmlns:a16="http://schemas.microsoft.com/office/drawing/2014/main" id="{FC68BB60-9801-D2F4-76E3-64B375211308}"/>
                  </a:ext>
                </a:extLst>
              </p:cNvPr>
              <p:cNvSpPr/>
              <p:nvPr/>
            </p:nvSpPr>
            <p:spPr>
              <a:xfrm>
                <a:off x="5680736" y="3307853"/>
                <a:ext cx="1311900" cy="1020900"/>
              </a:xfrm>
              <a:prstGeom prst="roundRect">
                <a:avLst>
                  <a:gd name="adj" fmla="val 6270"/>
                </a:avLst>
              </a:prstGeom>
              <a:solidFill>
                <a:schemeClr val="lt1"/>
              </a:solidFill>
              <a:ln w="12700" cap="flat" cmpd="sng">
                <a:solidFill>
                  <a:srgbClr val="005C8A">
                    <a:alpha val="50187"/>
                  </a:srgbClr>
                </a:solidFill>
                <a:prstDash val="sysDot"/>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72" name="Google Shape;6620;g341ab2b14b8_2_916">
                <a:extLst>
                  <a:ext uri="{FF2B5EF4-FFF2-40B4-BE49-F238E27FC236}">
                    <a16:creationId xmlns:a16="http://schemas.microsoft.com/office/drawing/2014/main" id="{AE7343AB-536B-90DE-5B1B-34B8A0844615}"/>
                  </a:ext>
                </a:extLst>
              </p:cNvPr>
              <p:cNvSpPr/>
              <p:nvPr/>
            </p:nvSpPr>
            <p:spPr>
              <a:xfrm>
                <a:off x="5677911" y="3313168"/>
                <a:ext cx="1311900" cy="4020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Operators</a:t>
                </a:r>
                <a:endParaRPr kumimoji="0" sz="14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grpSp>
          <p:nvGrpSpPr>
            <p:cNvPr id="68" name="Google Shape;6621;g341ab2b14b8_2_916">
              <a:extLst>
                <a:ext uri="{FF2B5EF4-FFF2-40B4-BE49-F238E27FC236}">
                  <a16:creationId xmlns:a16="http://schemas.microsoft.com/office/drawing/2014/main" id="{B5C27D7F-2D99-1094-4C3A-5B14A000C401}"/>
                </a:ext>
              </a:extLst>
            </p:cNvPr>
            <p:cNvGrpSpPr/>
            <p:nvPr/>
          </p:nvGrpSpPr>
          <p:grpSpPr>
            <a:xfrm>
              <a:off x="5675839" y="4003193"/>
              <a:ext cx="340454" cy="340427"/>
              <a:chOff x="5622261" y="3790312"/>
              <a:chExt cx="340454" cy="340427"/>
            </a:xfrm>
          </p:grpSpPr>
          <p:sp>
            <p:nvSpPr>
              <p:cNvPr id="69" name="Google Shape;6622;g341ab2b14b8_2_916">
                <a:extLst>
                  <a:ext uri="{FF2B5EF4-FFF2-40B4-BE49-F238E27FC236}">
                    <a16:creationId xmlns:a16="http://schemas.microsoft.com/office/drawing/2014/main" id="{9F05AD2C-6B40-FCA9-1710-67882612CE52}"/>
                  </a:ext>
                </a:extLst>
              </p:cNvPr>
              <p:cNvSpPr/>
              <p:nvPr/>
            </p:nvSpPr>
            <p:spPr>
              <a:xfrm>
                <a:off x="5693714" y="3861767"/>
                <a:ext cx="197089" cy="197089"/>
              </a:xfrm>
              <a:custGeom>
                <a:avLst/>
                <a:gdLst/>
                <a:ahLst/>
                <a:cxnLst/>
                <a:rect l="l" t="t" r="r" b="b"/>
                <a:pathLst>
                  <a:path w="640940" h="640940" extrusionOk="0">
                    <a:moveTo>
                      <a:pt x="320471" y="640941"/>
                    </a:moveTo>
                    <a:cubicBezTo>
                      <a:pt x="312403" y="640941"/>
                      <a:pt x="305859" y="634397"/>
                      <a:pt x="305859" y="626329"/>
                    </a:cubicBezTo>
                    <a:cubicBezTo>
                      <a:pt x="305859" y="618262"/>
                      <a:pt x="312403" y="611718"/>
                      <a:pt x="320471" y="611718"/>
                    </a:cubicBezTo>
                    <a:cubicBezTo>
                      <a:pt x="481109" y="611718"/>
                      <a:pt x="611807" y="481020"/>
                      <a:pt x="611807" y="320381"/>
                    </a:cubicBezTo>
                    <a:cubicBezTo>
                      <a:pt x="611807" y="159742"/>
                      <a:pt x="481109" y="29044"/>
                      <a:pt x="320471" y="29044"/>
                    </a:cubicBezTo>
                    <a:cubicBezTo>
                      <a:pt x="159832" y="29044"/>
                      <a:pt x="29134" y="159742"/>
                      <a:pt x="29134" y="320381"/>
                    </a:cubicBezTo>
                    <a:cubicBezTo>
                      <a:pt x="29134" y="328449"/>
                      <a:pt x="22590" y="334993"/>
                      <a:pt x="14522" y="334993"/>
                    </a:cubicBezTo>
                    <a:cubicBezTo>
                      <a:pt x="6454" y="334993"/>
                      <a:pt x="0" y="328538"/>
                      <a:pt x="0" y="320471"/>
                    </a:cubicBezTo>
                    <a:cubicBezTo>
                      <a:pt x="0" y="143786"/>
                      <a:pt x="143786" y="0"/>
                      <a:pt x="320471" y="0"/>
                    </a:cubicBezTo>
                    <a:cubicBezTo>
                      <a:pt x="497155" y="0"/>
                      <a:pt x="640941" y="143786"/>
                      <a:pt x="640941" y="320471"/>
                    </a:cubicBezTo>
                    <a:cubicBezTo>
                      <a:pt x="640941" y="497155"/>
                      <a:pt x="497155" y="640941"/>
                      <a:pt x="320471" y="640941"/>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sp>
            <p:nvSpPr>
              <p:cNvPr id="70" name="Google Shape;6623;g341ab2b14b8_2_916">
                <a:extLst>
                  <a:ext uri="{FF2B5EF4-FFF2-40B4-BE49-F238E27FC236}">
                    <a16:creationId xmlns:a16="http://schemas.microsoft.com/office/drawing/2014/main" id="{E7B09EED-8347-0312-CDAC-0DD17EF06F99}"/>
                  </a:ext>
                </a:extLst>
              </p:cNvPr>
              <p:cNvSpPr/>
              <p:nvPr/>
            </p:nvSpPr>
            <p:spPr>
              <a:xfrm>
                <a:off x="5622261" y="3790312"/>
                <a:ext cx="340454" cy="340427"/>
              </a:xfrm>
              <a:custGeom>
                <a:avLst/>
                <a:gdLst/>
                <a:ahLst/>
                <a:cxnLst/>
                <a:rect l="l" t="t" r="r" b="b"/>
                <a:pathLst>
                  <a:path w="1107169" h="1107079" extrusionOk="0">
                    <a:moveTo>
                      <a:pt x="643003" y="1107080"/>
                    </a:moveTo>
                    <a:lnTo>
                      <a:pt x="458699" y="1107080"/>
                    </a:lnTo>
                    <a:lnTo>
                      <a:pt x="454754" y="1098833"/>
                    </a:lnTo>
                    <a:cubicBezTo>
                      <a:pt x="448659" y="1086193"/>
                      <a:pt x="442832" y="1067458"/>
                      <a:pt x="437005" y="1041552"/>
                    </a:cubicBezTo>
                    <a:cubicBezTo>
                      <a:pt x="432165" y="1020575"/>
                      <a:pt x="427951" y="1004709"/>
                      <a:pt x="424455" y="994221"/>
                    </a:cubicBezTo>
                    <a:cubicBezTo>
                      <a:pt x="363947" y="967507"/>
                      <a:pt x="340819" y="957019"/>
                      <a:pt x="331496" y="952537"/>
                    </a:cubicBezTo>
                    <a:cubicBezTo>
                      <a:pt x="319216" y="957019"/>
                      <a:pt x="304962" y="964190"/>
                      <a:pt x="288916" y="974051"/>
                    </a:cubicBezTo>
                    <a:cubicBezTo>
                      <a:pt x="265520" y="988483"/>
                      <a:pt x="249384" y="997717"/>
                      <a:pt x="239613" y="1002019"/>
                    </a:cubicBezTo>
                    <a:lnTo>
                      <a:pt x="232352" y="1005246"/>
                    </a:lnTo>
                    <a:lnTo>
                      <a:pt x="225719" y="1000944"/>
                    </a:lnTo>
                    <a:cubicBezTo>
                      <a:pt x="210031" y="990724"/>
                      <a:pt x="169961" y="952716"/>
                      <a:pt x="103178" y="884678"/>
                    </a:cubicBezTo>
                    <a:lnTo>
                      <a:pt x="97262" y="878672"/>
                    </a:lnTo>
                    <a:lnTo>
                      <a:pt x="99503" y="870604"/>
                    </a:lnTo>
                    <a:cubicBezTo>
                      <a:pt x="101564" y="862895"/>
                      <a:pt x="109184" y="844608"/>
                      <a:pt x="149613" y="774687"/>
                    </a:cubicBezTo>
                    <a:cubicBezTo>
                      <a:pt x="146654" y="767516"/>
                      <a:pt x="140738" y="753800"/>
                      <a:pt x="128995" y="727804"/>
                    </a:cubicBezTo>
                    <a:cubicBezTo>
                      <a:pt x="120748" y="708800"/>
                      <a:pt x="114921" y="691230"/>
                      <a:pt x="111604" y="675274"/>
                    </a:cubicBezTo>
                    <a:cubicBezTo>
                      <a:pt x="98068" y="672943"/>
                      <a:pt x="82291" y="669358"/>
                      <a:pt x="64453" y="664517"/>
                    </a:cubicBezTo>
                    <a:cubicBezTo>
                      <a:pt x="38994" y="657077"/>
                      <a:pt x="21335" y="652326"/>
                      <a:pt x="11833" y="650443"/>
                    </a:cubicBezTo>
                    <a:lnTo>
                      <a:pt x="0" y="648202"/>
                    </a:lnTo>
                    <a:lnTo>
                      <a:pt x="0" y="454037"/>
                    </a:lnTo>
                    <a:lnTo>
                      <a:pt x="11295" y="451438"/>
                    </a:lnTo>
                    <a:cubicBezTo>
                      <a:pt x="19452" y="449555"/>
                      <a:pt x="36484" y="444804"/>
                      <a:pt x="61853" y="437364"/>
                    </a:cubicBezTo>
                    <a:cubicBezTo>
                      <a:pt x="80050" y="432075"/>
                      <a:pt x="95738" y="428310"/>
                      <a:pt x="109363" y="426069"/>
                    </a:cubicBezTo>
                    <a:cubicBezTo>
                      <a:pt x="114204" y="416298"/>
                      <a:pt x="121286" y="400431"/>
                      <a:pt x="130340" y="378828"/>
                    </a:cubicBezTo>
                    <a:cubicBezTo>
                      <a:pt x="138856" y="358389"/>
                      <a:pt x="146654" y="342433"/>
                      <a:pt x="154005" y="330421"/>
                    </a:cubicBezTo>
                    <a:cubicBezTo>
                      <a:pt x="124961" y="276456"/>
                      <a:pt x="110080" y="255211"/>
                      <a:pt x="102640" y="246874"/>
                    </a:cubicBezTo>
                    <a:lnTo>
                      <a:pt x="95021" y="238269"/>
                    </a:lnTo>
                    <a:lnTo>
                      <a:pt x="101564" y="228856"/>
                    </a:lnTo>
                    <a:cubicBezTo>
                      <a:pt x="112232" y="213438"/>
                      <a:pt x="152123" y="172202"/>
                      <a:pt x="223478" y="102730"/>
                    </a:cubicBezTo>
                    <a:lnTo>
                      <a:pt x="230828" y="95558"/>
                    </a:lnTo>
                    <a:lnTo>
                      <a:pt x="240062" y="100041"/>
                    </a:lnTo>
                    <a:cubicBezTo>
                      <a:pt x="279773" y="119314"/>
                      <a:pt x="311506" y="137332"/>
                      <a:pt x="334544" y="153557"/>
                    </a:cubicBezTo>
                    <a:cubicBezTo>
                      <a:pt x="390750" y="129174"/>
                      <a:pt x="416656" y="119762"/>
                      <a:pt x="430013" y="116266"/>
                    </a:cubicBezTo>
                    <a:cubicBezTo>
                      <a:pt x="432344" y="107929"/>
                      <a:pt x="436378" y="93228"/>
                      <a:pt x="443280" y="67232"/>
                    </a:cubicBezTo>
                    <a:cubicBezTo>
                      <a:pt x="449286" y="44283"/>
                      <a:pt x="454754" y="25100"/>
                      <a:pt x="459326" y="10309"/>
                    </a:cubicBezTo>
                    <a:lnTo>
                      <a:pt x="462374" y="0"/>
                    </a:lnTo>
                    <a:lnTo>
                      <a:pt x="649098" y="0"/>
                    </a:lnTo>
                    <a:lnTo>
                      <a:pt x="652774" y="9143"/>
                    </a:lnTo>
                    <a:cubicBezTo>
                      <a:pt x="658869" y="24203"/>
                      <a:pt x="668820" y="58178"/>
                      <a:pt x="683252" y="113039"/>
                    </a:cubicBezTo>
                    <a:cubicBezTo>
                      <a:pt x="690603" y="116087"/>
                      <a:pt x="704318" y="121465"/>
                      <a:pt x="729776" y="131057"/>
                    </a:cubicBezTo>
                    <a:cubicBezTo>
                      <a:pt x="750125" y="138676"/>
                      <a:pt x="765902" y="146296"/>
                      <a:pt x="777824" y="154184"/>
                    </a:cubicBezTo>
                    <a:cubicBezTo>
                      <a:pt x="789568" y="150061"/>
                      <a:pt x="802924" y="143069"/>
                      <a:pt x="817895" y="133208"/>
                    </a:cubicBezTo>
                    <a:cubicBezTo>
                      <a:pt x="841829" y="118417"/>
                      <a:pt x="858323" y="109184"/>
                      <a:pt x="868632" y="104881"/>
                    </a:cubicBezTo>
                    <a:lnTo>
                      <a:pt x="875534" y="102013"/>
                    </a:lnTo>
                    <a:lnTo>
                      <a:pt x="881899" y="105867"/>
                    </a:lnTo>
                    <a:cubicBezTo>
                      <a:pt x="901351" y="117700"/>
                      <a:pt x="923045" y="136704"/>
                      <a:pt x="948413" y="164045"/>
                    </a:cubicBezTo>
                    <a:cubicBezTo>
                      <a:pt x="975844" y="192282"/>
                      <a:pt x="995924" y="211645"/>
                      <a:pt x="1008025" y="221147"/>
                    </a:cubicBezTo>
                    <a:lnTo>
                      <a:pt x="1017617" y="228767"/>
                    </a:lnTo>
                    <a:lnTo>
                      <a:pt x="1011790" y="239524"/>
                    </a:lnTo>
                    <a:cubicBezTo>
                      <a:pt x="988932" y="281745"/>
                      <a:pt x="971182" y="312492"/>
                      <a:pt x="957736" y="333110"/>
                    </a:cubicBezTo>
                    <a:cubicBezTo>
                      <a:pt x="978981" y="394067"/>
                      <a:pt x="988394" y="420153"/>
                      <a:pt x="992607" y="430999"/>
                    </a:cubicBezTo>
                    <a:cubicBezTo>
                      <a:pt x="1007308" y="433061"/>
                      <a:pt x="1024251" y="436916"/>
                      <a:pt x="1043165" y="442563"/>
                    </a:cubicBezTo>
                    <a:cubicBezTo>
                      <a:pt x="1068355" y="449914"/>
                      <a:pt x="1086014" y="454665"/>
                      <a:pt x="1095426" y="456547"/>
                    </a:cubicBezTo>
                    <a:lnTo>
                      <a:pt x="1107170" y="458878"/>
                    </a:lnTo>
                    <a:lnTo>
                      <a:pt x="1107170" y="653043"/>
                    </a:lnTo>
                    <a:lnTo>
                      <a:pt x="1095875" y="655642"/>
                    </a:lnTo>
                    <a:cubicBezTo>
                      <a:pt x="1090048" y="656987"/>
                      <a:pt x="1076512" y="660573"/>
                      <a:pt x="1045317" y="669716"/>
                    </a:cubicBezTo>
                    <a:cubicBezTo>
                      <a:pt x="1027298" y="674915"/>
                      <a:pt x="1011253" y="678770"/>
                      <a:pt x="997627" y="681101"/>
                    </a:cubicBezTo>
                    <a:cubicBezTo>
                      <a:pt x="993683" y="688900"/>
                      <a:pt x="987408" y="702973"/>
                      <a:pt x="977816" y="728521"/>
                    </a:cubicBezTo>
                    <a:cubicBezTo>
                      <a:pt x="970196" y="749587"/>
                      <a:pt x="962398" y="765723"/>
                      <a:pt x="953971" y="777287"/>
                    </a:cubicBezTo>
                    <a:cubicBezTo>
                      <a:pt x="958991" y="785803"/>
                      <a:pt x="966611" y="799070"/>
                      <a:pt x="976830" y="816908"/>
                    </a:cubicBezTo>
                    <a:cubicBezTo>
                      <a:pt x="987587" y="835823"/>
                      <a:pt x="997089" y="850614"/>
                      <a:pt x="1005157" y="861012"/>
                    </a:cubicBezTo>
                    <a:lnTo>
                      <a:pt x="1011701" y="869439"/>
                    </a:lnTo>
                    <a:lnTo>
                      <a:pt x="1005605" y="878224"/>
                    </a:lnTo>
                    <a:cubicBezTo>
                      <a:pt x="994938" y="893732"/>
                      <a:pt x="955316" y="934967"/>
                      <a:pt x="884499" y="1004350"/>
                    </a:cubicBezTo>
                    <a:lnTo>
                      <a:pt x="877238" y="1011432"/>
                    </a:lnTo>
                    <a:lnTo>
                      <a:pt x="868094" y="1007039"/>
                    </a:lnTo>
                    <a:cubicBezTo>
                      <a:pt x="836450" y="992069"/>
                      <a:pt x="805076" y="974141"/>
                      <a:pt x="774777" y="953882"/>
                    </a:cubicBezTo>
                    <a:cubicBezTo>
                      <a:pt x="742147" y="972169"/>
                      <a:pt x="710503" y="984629"/>
                      <a:pt x="680652" y="991083"/>
                    </a:cubicBezTo>
                    <a:cubicBezTo>
                      <a:pt x="676529" y="999420"/>
                      <a:pt x="671240" y="1013673"/>
                      <a:pt x="665682" y="1037787"/>
                    </a:cubicBezTo>
                    <a:cubicBezTo>
                      <a:pt x="658780" y="1067727"/>
                      <a:pt x="652774" y="1087717"/>
                      <a:pt x="647126" y="1098922"/>
                    </a:cubicBezTo>
                    <a:lnTo>
                      <a:pt x="643003" y="1107080"/>
                    </a:lnTo>
                    <a:close/>
                    <a:moveTo>
                      <a:pt x="477434" y="1077946"/>
                    </a:moveTo>
                    <a:lnTo>
                      <a:pt x="624357" y="1077946"/>
                    </a:lnTo>
                    <a:cubicBezTo>
                      <a:pt x="627495" y="1069430"/>
                      <a:pt x="631708" y="1055177"/>
                      <a:pt x="637176" y="1031332"/>
                    </a:cubicBezTo>
                    <a:cubicBezTo>
                      <a:pt x="643630" y="1003543"/>
                      <a:pt x="650622" y="983643"/>
                      <a:pt x="658601" y="970645"/>
                    </a:cubicBezTo>
                    <a:lnTo>
                      <a:pt x="662007" y="965087"/>
                    </a:lnTo>
                    <a:lnTo>
                      <a:pt x="668371" y="963921"/>
                    </a:lnTo>
                    <a:cubicBezTo>
                      <a:pt x="699298" y="958274"/>
                      <a:pt x="732824" y="944917"/>
                      <a:pt x="767874" y="924300"/>
                    </a:cubicBezTo>
                    <a:lnTo>
                      <a:pt x="775852" y="919638"/>
                    </a:lnTo>
                    <a:lnTo>
                      <a:pt x="783472" y="924838"/>
                    </a:lnTo>
                    <a:cubicBezTo>
                      <a:pt x="811978" y="944380"/>
                      <a:pt x="841470" y="961680"/>
                      <a:pt x="871321" y="976382"/>
                    </a:cubicBezTo>
                    <a:cubicBezTo>
                      <a:pt x="934877" y="913991"/>
                      <a:pt x="963204" y="883871"/>
                      <a:pt x="975306" y="869618"/>
                    </a:cubicBezTo>
                    <a:cubicBezTo>
                      <a:pt x="968045" y="859309"/>
                      <a:pt x="960067" y="846401"/>
                      <a:pt x="951461" y="831251"/>
                    </a:cubicBezTo>
                    <a:cubicBezTo>
                      <a:pt x="932995" y="798801"/>
                      <a:pt x="926272" y="787506"/>
                      <a:pt x="923851" y="783741"/>
                    </a:cubicBezTo>
                    <a:lnTo>
                      <a:pt x="917756" y="774149"/>
                    </a:lnTo>
                    <a:lnTo>
                      <a:pt x="925644" y="765902"/>
                    </a:lnTo>
                    <a:cubicBezTo>
                      <a:pt x="931202" y="760075"/>
                      <a:pt x="940077" y="747077"/>
                      <a:pt x="950386" y="718392"/>
                    </a:cubicBezTo>
                    <a:cubicBezTo>
                      <a:pt x="961501" y="688989"/>
                      <a:pt x="969748" y="669985"/>
                      <a:pt x="975844" y="660124"/>
                    </a:cubicBezTo>
                    <a:lnTo>
                      <a:pt x="979430" y="654298"/>
                    </a:lnTo>
                    <a:lnTo>
                      <a:pt x="986242" y="653401"/>
                    </a:lnTo>
                    <a:cubicBezTo>
                      <a:pt x="999958" y="651519"/>
                      <a:pt x="1017079" y="647664"/>
                      <a:pt x="1037069" y="641837"/>
                    </a:cubicBezTo>
                    <a:cubicBezTo>
                      <a:pt x="1054460" y="636728"/>
                      <a:pt x="1068086" y="632873"/>
                      <a:pt x="1077946" y="630184"/>
                    </a:cubicBezTo>
                    <a:lnTo>
                      <a:pt x="1077946" y="482454"/>
                    </a:lnTo>
                    <a:cubicBezTo>
                      <a:pt x="1067458" y="479854"/>
                      <a:pt x="1053205" y="475910"/>
                      <a:pt x="1034739" y="470531"/>
                    </a:cubicBezTo>
                    <a:cubicBezTo>
                      <a:pt x="1016093" y="464974"/>
                      <a:pt x="999868" y="461298"/>
                      <a:pt x="986153" y="459505"/>
                    </a:cubicBezTo>
                    <a:cubicBezTo>
                      <a:pt x="971720" y="463001"/>
                      <a:pt x="971541" y="462464"/>
                      <a:pt x="927616" y="335710"/>
                    </a:cubicBezTo>
                    <a:lnTo>
                      <a:pt x="925196" y="328807"/>
                    </a:lnTo>
                    <a:lnTo>
                      <a:pt x="929320" y="322712"/>
                    </a:lnTo>
                    <a:cubicBezTo>
                      <a:pt x="941421" y="304873"/>
                      <a:pt x="958543" y="275739"/>
                      <a:pt x="980326" y="235938"/>
                    </a:cubicBezTo>
                    <a:cubicBezTo>
                      <a:pt x="967418" y="224553"/>
                      <a:pt x="949937" y="207432"/>
                      <a:pt x="927168" y="183946"/>
                    </a:cubicBezTo>
                    <a:cubicBezTo>
                      <a:pt x="906640" y="161894"/>
                      <a:pt x="888533" y="145399"/>
                      <a:pt x="873024" y="134732"/>
                    </a:cubicBezTo>
                    <a:cubicBezTo>
                      <a:pt x="863881" y="139304"/>
                      <a:pt x="850614" y="147013"/>
                      <a:pt x="833492" y="157591"/>
                    </a:cubicBezTo>
                    <a:cubicBezTo>
                      <a:pt x="813592" y="170679"/>
                      <a:pt x="795125" y="179643"/>
                      <a:pt x="779080" y="184035"/>
                    </a:cubicBezTo>
                    <a:lnTo>
                      <a:pt x="772087" y="185918"/>
                    </a:lnTo>
                    <a:lnTo>
                      <a:pt x="766350" y="181525"/>
                    </a:lnTo>
                    <a:cubicBezTo>
                      <a:pt x="756400" y="173906"/>
                      <a:pt x="740623" y="166017"/>
                      <a:pt x="719468" y="158039"/>
                    </a:cubicBezTo>
                    <a:cubicBezTo>
                      <a:pt x="689706" y="146834"/>
                      <a:pt x="671778" y="139752"/>
                      <a:pt x="664875" y="136615"/>
                    </a:cubicBezTo>
                    <a:lnTo>
                      <a:pt x="658601" y="133746"/>
                    </a:lnTo>
                    <a:lnTo>
                      <a:pt x="656897" y="127112"/>
                    </a:lnTo>
                    <a:cubicBezTo>
                      <a:pt x="644527" y="79871"/>
                      <a:pt x="635204" y="46972"/>
                      <a:pt x="629108" y="28954"/>
                    </a:cubicBezTo>
                    <a:lnTo>
                      <a:pt x="483888" y="28954"/>
                    </a:lnTo>
                    <a:cubicBezTo>
                      <a:pt x="480123" y="41594"/>
                      <a:pt x="475910" y="56923"/>
                      <a:pt x="471338" y="74493"/>
                    </a:cubicBezTo>
                    <a:cubicBezTo>
                      <a:pt x="462822" y="106405"/>
                      <a:pt x="457444" y="126126"/>
                      <a:pt x="455292" y="133029"/>
                    </a:cubicBezTo>
                    <a:lnTo>
                      <a:pt x="452244" y="142800"/>
                    </a:lnTo>
                    <a:lnTo>
                      <a:pt x="442025" y="143427"/>
                    </a:lnTo>
                    <a:cubicBezTo>
                      <a:pt x="438888" y="143607"/>
                      <a:pt x="422125" y="147013"/>
                      <a:pt x="338399" y="183587"/>
                    </a:cubicBezTo>
                    <a:lnTo>
                      <a:pt x="330600" y="186993"/>
                    </a:lnTo>
                    <a:lnTo>
                      <a:pt x="323787" y="181884"/>
                    </a:lnTo>
                    <a:cubicBezTo>
                      <a:pt x="303528" y="166645"/>
                      <a:pt x="274126" y="149433"/>
                      <a:pt x="236386" y="130698"/>
                    </a:cubicBezTo>
                    <a:cubicBezTo>
                      <a:pt x="172920" y="192641"/>
                      <a:pt x="144324" y="222671"/>
                      <a:pt x="132043" y="237103"/>
                    </a:cubicBezTo>
                    <a:cubicBezTo>
                      <a:pt x="144593" y="254135"/>
                      <a:pt x="161625" y="282910"/>
                      <a:pt x="183677" y="324235"/>
                    </a:cubicBezTo>
                    <a:lnTo>
                      <a:pt x="187890" y="332124"/>
                    </a:lnTo>
                    <a:lnTo>
                      <a:pt x="182780" y="339475"/>
                    </a:lnTo>
                    <a:cubicBezTo>
                      <a:pt x="175250" y="350232"/>
                      <a:pt x="166645" y="367264"/>
                      <a:pt x="157053" y="390122"/>
                    </a:cubicBezTo>
                    <a:cubicBezTo>
                      <a:pt x="145041" y="418539"/>
                      <a:pt x="136704" y="437005"/>
                      <a:pt x="131415" y="446418"/>
                    </a:cubicBezTo>
                    <a:lnTo>
                      <a:pt x="127919" y="452782"/>
                    </a:lnTo>
                    <a:lnTo>
                      <a:pt x="120748" y="453768"/>
                    </a:lnTo>
                    <a:cubicBezTo>
                      <a:pt x="107033" y="455651"/>
                      <a:pt x="89911" y="459505"/>
                      <a:pt x="69921" y="465332"/>
                    </a:cubicBezTo>
                    <a:cubicBezTo>
                      <a:pt x="52261" y="470531"/>
                      <a:pt x="38725" y="474386"/>
                      <a:pt x="29044" y="476986"/>
                    </a:cubicBezTo>
                    <a:lnTo>
                      <a:pt x="29044" y="624716"/>
                    </a:lnTo>
                    <a:cubicBezTo>
                      <a:pt x="39622" y="627315"/>
                      <a:pt x="53875" y="631260"/>
                      <a:pt x="72252" y="636638"/>
                    </a:cubicBezTo>
                    <a:cubicBezTo>
                      <a:pt x="93497" y="642375"/>
                      <a:pt x="111604" y="646320"/>
                      <a:pt x="125947" y="648202"/>
                    </a:cubicBezTo>
                    <a:lnTo>
                      <a:pt x="136883" y="649636"/>
                    </a:lnTo>
                    <a:lnTo>
                      <a:pt x="138497" y="660573"/>
                    </a:lnTo>
                    <a:cubicBezTo>
                      <a:pt x="140828" y="676708"/>
                      <a:pt x="146565" y="695443"/>
                      <a:pt x="155529" y="716240"/>
                    </a:cubicBezTo>
                    <a:cubicBezTo>
                      <a:pt x="173995" y="757117"/>
                      <a:pt x="178029" y="767426"/>
                      <a:pt x="179374" y="771550"/>
                    </a:cubicBezTo>
                    <a:lnTo>
                      <a:pt x="181436" y="777824"/>
                    </a:lnTo>
                    <a:lnTo>
                      <a:pt x="178119" y="783562"/>
                    </a:lnTo>
                    <a:cubicBezTo>
                      <a:pt x="147730" y="835823"/>
                      <a:pt x="135270" y="860026"/>
                      <a:pt x="130340" y="871142"/>
                    </a:cubicBezTo>
                    <a:cubicBezTo>
                      <a:pt x="192641" y="934429"/>
                      <a:pt x="221685" y="961322"/>
                      <a:pt x="235042" y="971989"/>
                    </a:cubicBezTo>
                    <a:cubicBezTo>
                      <a:pt x="244006" y="967328"/>
                      <a:pt x="256825" y="959798"/>
                      <a:pt x="273408" y="949489"/>
                    </a:cubicBezTo>
                    <a:cubicBezTo>
                      <a:pt x="294295" y="936670"/>
                      <a:pt x="312223" y="928065"/>
                      <a:pt x="328180" y="923134"/>
                    </a:cubicBezTo>
                    <a:lnTo>
                      <a:pt x="334813" y="921073"/>
                    </a:lnTo>
                    <a:lnTo>
                      <a:pt x="340550" y="924927"/>
                    </a:lnTo>
                    <a:cubicBezTo>
                      <a:pt x="342612" y="926093"/>
                      <a:pt x="359286" y="933981"/>
                      <a:pt x="441756" y="970286"/>
                    </a:cubicBezTo>
                    <a:lnTo>
                      <a:pt x="447314" y="972706"/>
                    </a:lnTo>
                    <a:lnTo>
                      <a:pt x="449465" y="978354"/>
                    </a:lnTo>
                    <a:cubicBezTo>
                      <a:pt x="453768" y="989559"/>
                      <a:pt x="458878" y="1008115"/>
                      <a:pt x="465153" y="1035097"/>
                    </a:cubicBezTo>
                    <a:cubicBezTo>
                      <a:pt x="469456" y="1053205"/>
                      <a:pt x="473490" y="1067548"/>
                      <a:pt x="477434" y="1077946"/>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717074"/>
                  </a:solidFill>
                  <a:effectLst/>
                  <a:uLnTx/>
                  <a:uFillTx/>
                  <a:latin typeface="Arial"/>
                  <a:ea typeface="Arial"/>
                  <a:cs typeface="Arial"/>
                  <a:sym typeface="Arial"/>
                </a:endParaRPr>
              </a:p>
            </p:txBody>
          </p:sp>
        </p:grpSp>
      </p:grpSp>
      <p:grpSp>
        <p:nvGrpSpPr>
          <p:cNvPr id="73" name="Google Shape;6627;g341ab2b14b8_2_916">
            <a:extLst>
              <a:ext uri="{FF2B5EF4-FFF2-40B4-BE49-F238E27FC236}">
                <a16:creationId xmlns:a16="http://schemas.microsoft.com/office/drawing/2014/main" id="{0BA20834-2CE0-E633-B088-D2295B5E34E4}"/>
              </a:ext>
            </a:extLst>
          </p:cNvPr>
          <p:cNvGrpSpPr/>
          <p:nvPr/>
        </p:nvGrpSpPr>
        <p:grpSpPr>
          <a:xfrm>
            <a:off x="2413985" y="1789505"/>
            <a:ext cx="1051500" cy="864300"/>
            <a:chOff x="8884225" y="3571523"/>
            <a:chExt cx="1051500" cy="864300"/>
          </a:xfrm>
        </p:grpSpPr>
        <p:sp>
          <p:nvSpPr>
            <p:cNvPr id="74" name="Google Shape;6628;g341ab2b14b8_2_916">
              <a:extLst>
                <a:ext uri="{FF2B5EF4-FFF2-40B4-BE49-F238E27FC236}">
                  <a16:creationId xmlns:a16="http://schemas.microsoft.com/office/drawing/2014/main" id="{658964AA-3DA8-7A30-9FED-E4E078A5F0D6}"/>
                </a:ext>
              </a:extLst>
            </p:cNvPr>
            <p:cNvSpPr/>
            <p:nvPr/>
          </p:nvSpPr>
          <p:spPr>
            <a:xfrm>
              <a:off x="8884225" y="3571523"/>
              <a:ext cx="1051500" cy="864300"/>
            </a:xfrm>
            <a:prstGeom prst="roundRect">
              <a:avLst>
                <a:gd name="adj" fmla="val 6270"/>
              </a:avLst>
            </a:prstGeom>
            <a:solidFill>
              <a:schemeClr val="lt1"/>
            </a:solidFill>
            <a:ln w="12700" cap="flat" cmpd="sng">
              <a:solidFill>
                <a:srgbClr val="005C8A">
                  <a:alpha val="49801"/>
                </a:srgbClr>
              </a:solidFill>
              <a:prstDash val="sysDot"/>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75" name="Google Shape;6629;g341ab2b14b8_2_916">
              <a:extLst>
                <a:ext uri="{FF2B5EF4-FFF2-40B4-BE49-F238E27FC236}">
                  <a16:creationId xmlns:a16="http://schemas.microsoft.com/office/drawing/2014/main" id="{E473C80A-0013-564E-6505-70F6A55B48E9}"/>
                </a:ext>
              </a:extLst>
            </p:cNvPr>
            <p:cNvPicPr preferRelativeResize="0"/>
            <p:nvPr/>
          </p:nvPicPr>
          <p:blipFill rotWithShape="1">
            <a:blip r:embed="rId5">
              <a:alphaModFix/>
            </a:blip>
            <a:srcRect/>
            <a:stretch/>
          </p:blipFill>
          <p:spPr>
            <a:xfrm>
              <a:off x="9201511" y="3961740"/>
              <a:ext cx="411793" cy="411793"/>
            </a:xfrm>
            <a:prstGeom prst="rect">
              <a:avLst/>
            </a:prstGeom>
            <a:noFill/>
            <a:ln>
              <a:noFill/>
            </a:ln>
          </p:spPr>
        </p:pic>
        <p:sp>
          <p:nvSpPr>
            <p:cNvPr id="76" name="Google Shape;6630;g341ab2b14b8_2_916">
              <a:extLst>
                <a:ext uri="{FF2B5EF4-FFF2-40B4-BE49-F238E27FC236}">
                  <a16:creationId xmlns:a16="http://schemas.microsoft.com/office/drawing/2014/main" id="{7E0CD794-C742-8B5D-51F7-8CE1F4014B70}"/>
                </a:ext>
              </a:extLst>
            </p:cNvPr>
            <p:cNvSpPr txBox="1"/>
            <p:nvPr/>
          </p:nvSpPr>
          <p:spPr>
            <a:xfrm>
              <a:off x="8947803" y="3579303"/>
              <a:ext cx="962400" cy="3399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Certificate Management</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grpSp>
        <p:nvGrpSpPr>
          <p:cNvPr id="77" name="Google Shape;6631;g341ab2b14b8_2_916">
            <a:extLst>
              <a:ext uri="{FF2B5EF4-FFF2-40B4-BE49-F238E27FC236}">
                <a16:creationId xmlns:a16="http://schemas.microsoft.com/office/drawing/2014/main" id="{5D5FA6B7-3F08-0F5F-209C-6623005D2085}"/>
              </a:ext>
            </a:extLst>
          </p:cNvPr>
          <p:cNvGrpSpPr/>
          <p:nvPr/>
        </p:nvGrpSpPr>
        <p:grpSpPr>
          <a:xfrm>
            <a:off x="5081042" y="3358532"/>
            <a:ext cx="1051619" cy="864396"/>
            <a:chOff x="7682466" y="3571756"/>
            <a:chExt cx="1051619" cy="864396"/>
          </a:xfrm>
        </p:grpSpPr>
        <p:grpSp>
          <p:nvGrpSpPr>
            <p:cNvPr id="78" name="Google Shape;6632;g341ab2b14b8_2_916">
              <a:extLst>
                <a:ext uri="{FF2B5EF4-FFF2-40B4-BE49-F238E27FC236}">
                  <a16:creationId xmlns:a16="http://schemas.microsoft.com/office/drawing/2014/main" id="{79E5621B-0010-E008-1D48-0939EFE52A1F}"/>
                </a:ext>
              </a:extLst>
            </p:cNvPr>
            <p:cNvGrpSpPr/>
            <p:nvPr/>
          </p:nvGrpSpPr>
          <p:grpSpPr>
            <a:xfrm>
              <a:off x="7682466" y="3571756"/>
              <a:ext cx="1051619" cy="864396"/>
              <a:chOff x="8393511" y="3307853"/>
              <a:chExt cx="1311900" cy="1020900"/>
            </a:xfrm>
          </p:grpSpPr>
          <p:sp>
            <p:nvSpPr>
              <p:cNvPr id="80" name="Google Shape;6633;g341ab2b14b8_2_916">
                <a:extLst>
                  <a:ext uri="{FF2B5EF4-FFF2-40B4-BE49-F238E27FC236}">
                    <a16:creationId xmlns:a16="http://schemas.microsoft.com/office/drawing/2014/main" id="{7D74647C-33D2-2C5A-DC79-A44CF3B12D13}"/>
                  </a:ext>
                </a:extLst>
              </p:cNvPr>
              <p:cNvSpPr/>
              <p:nvPr/>
            </p:nvSpPr>
            <p:spPr>
              <a:xfrm>
                <a:off x="8393511" y="3307853"/>
                <a:ext cx="1311900" cy="1020900"/>
              </a:xfrm>
              <a:prstGeom prst="roundRect">
                <a:avLst>
                  <a:gd name="adj" fmla="val 6270"/>
                </a:avLst>
              </a:prstGeom>
              <a:solidFill>
                <a:schemeClr val="lt1"/>
              </a:solidFill>
              <a:ln w="12700" cap="flat" cmpd="sng">
                <a:solidFill>
                  <a:srgbClr val="005C8A"/>
                </a:solidFill>
                <a:prstDash val="solid"/>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81" name="Google Shape;6634;g341ab2b14b8_2_916">
                <a:extLst>
                  <a:ext uri="{FF2B5EF4-FFF2-40B4-BE49-F238E27FC236}">
                    <a16:creationId xmlns:a16="http://schemas.microsoft.com/office/drawing/2014/main" id="{10A95B71-1BE6-9944-4D72-F91C381C18ED}"/>
                  </a:ext>
                </a:extLst>
              </p:cNvPr>
              <p:cNvSpPr/>
              <p:nvPr/>
            </p:nvSpPr>
            <p:spPr>
              <a:xfrm>
                <a:off x="8405214" y="3310894"/>
                <a:ext cx="1263000" cy="4014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a:ln>
                      <a:noFill/>
                    </a:ln>
                    <a:solidFill>
                      <a:srgbClr val="000000"/>
                    </a:solidFill>
                    <a:effectLst/>
                    <a:uLnTx/>
                    <a:uFillTx/>
                    <a:latin typeface="Arial"/>
                    <a:ea typeface="Arial"/>
                    <a:cs typeface="Arial"/>
                    <a:sym typeface="Arial"/>
                  </a:rPr>
                  <a:t>Storage and Data Services</a:t>
                </a: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pic>
          <p:nvPicPr>
            <p:cNvPr id="79" name="Google Shape;6635;g341ab2b14b8_2_916" descr="vSAN Database&#10;">
              <a:extLst>
                <a:ext uri="{FF2B5EF4-FFF2-40B4-BE49-F238E27FC236}">
                  <a16:creationId xmlns:a16="http://schemas.microsoft.com/office/drawing/2014/main" id="{776728E9-F4F0-EE56-8C0B-91D3CBF849EF}"/>
                </a:ext>
              </a:extLst>
            </p:cNvPr>
            <p:cNvPicPr preferRelativeResize="0"/>
            <p:nvPr/>
          </p:nvPicPr>
          <p:blipFill rotWithShape="1">
            <a:blip r:embed="rId6">
              <a:alphaModFix/>
            </a:blip>
            <a:srcRect/>
            <a:stretch/>
          </p:blipFill>
          <p:spPr>
            <a:xfrm>
              <a:off x="8025076" y="3946014"/>
              <a:ext cx="339877" cy="339792"/>
            </a:xfrm>
            <a:prstGeom prst="rect">
              <a:avLst/>
            </a:prstGeom>
            <a:solidFill>
              <a:srgbClr val="FFFFFF"/>
            </a:solidFill>
            <a:ln>
              <a:noFill/>
            </a:ln>
          </p:spPr>
        </p:pic>
      </p:grpSp>
      <p:grpSp>
        <p:nvGrpSpPr>
          <p:cNvPr id="82" name="Google Shape;6636;g341ab2b14b8_2_916">
            <a:extLst>
              <a:ext uri="{FF2B5EF4-FFF2-40B4-BE49-F238E27FC236}">
                <a16:creationId xmlns:a16="http://schemas.microsoft.com/office/drawing/2014/main" id="{B75861F3-E5C3-CD79-C28D-563C918ADDE5}"/>
              </a:ext>
            </a:extLst>
          </p:cNvPr>
          <p:cNvGrpSpPr/>
          <p:nvPr/>
        </p:nvGrpSpPr>
        <p:grpSpPr>
          <a:xfrm>
            <a:off x="3630474" y="1789505"/>
            <a:ext cx="1051500" cy="864300"/>
            <a:chOff x="8884225" y="3571523"/>
            <a:chExt cx="1051500" cy="864300"/>
          </a:xfrm>
        </p:grpSpPr>
        <p:sp>
          <p:nvSpPr>
            <p:cNvPr id="83" name="Google Shape;6637;g341ab2b14b8_2_916">
              <a:extLst>
                <a:ext uri="{FF2B5EF4-FFF2-40B4-BE49-F238E27FC236}">
                  <a16:creationId xmlns:a16="http://schemas.microsoft.com/office/drawing/2014/main" id="{D978FC57-129A-B782-D24C-FAEB08AB5564}"/>
                </a:ext>
              </a:extLst>
            </p:cNvPr>
            <p:cNvSpPr/>
            <p:nvPr/>
          </p:nvSpPr>
          <p:spPr>
            <a:xfrm>
              <a:off x="8884225" y="3571523"/>
              <a:ext cx="1051500" cy="864300"/>
            </a:xfrm>
            <a:prstGeom prst="roundRect">
              <a:avLst>
                <a:gd name="adj" fmla="val 6270"/>
              </a:avLst>
            </a:prstGeom>
            <a:solidFill>
              <a:schemeClr val="lt1"/>
            </a:solidFill>
            <a:ln w="12700" cap="flat" cmpd="sng">
              <a:solidFill>
                <a:srgbClr val="005C8A">
                  <a:alpha val="50012"/>
                </a:srgbClr>
              </a:solidFill>
              <a:prstDash val="sysDot"/>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4" name="Google Shape;6638;g341ab2b14b8_2_916">
              <a:extLst>
                <a:ext uri="{FF2B5EF4-FFF2-40B4-BE49-F238E27FC236}">
                  <a16:creationId xmlns:a16="http://schemas.microsoft.com/office/drawing/2014/main" id="{F323F01C-4A60-E9EA-D3E4-A625DC871963}"/>
                </a:ext>
              </a:extLst>
            </p:cNvPr>
            <p:cNvSpPr/>
            <p:nvPr/>
          </p:nvSpPr>
          <p:spPr>
            <a:xfrm>
              <a:off x="9333228" y="4074049"/>
              <a:ext cx="123273" cy="183220"/>
            </a:xfrm>
            <a:custGeom>
              <a:avLst/>
              <a:gdLst/>
              <a:ahLst/>
              <a:cxnLst/>
              <a:rect l="l" t="t" r="r" b="b"/>
              <a:pathLst>
                <a:path w="184678" h="274487" extrusionOk="0">
                  <a:moveTo>
                    <a:pt x="146731" y="107518"/>
                  </a:moveTo>
                  <a:lnTo>
                    <a:pt x="146731" y="55024"/>
                  </a:lnTo>
                  <a:cubicBezTo>
                    <a:pt x="146731" y="24666"/>
                    <a:pt x="124595" y="0"/>
                    <a:pt x="96766" y="0"/>
                  </a:cubicBezTo>
                  <a:lnTo>
                    <a:pt x="88544" y="0"/>
                  </a:lnTo>
                  <a:cubicBezTo>
                    <a:pt x="61349" y="0"/>
                    <a:pt x="38580" y="24666"/>
                    <a:pt x="38580" y="55024"/>
                  </a:cubicBezTo>
                  <a:lnTo>
                    <a:pt x="38580" y="107518"/>
                  </a:lnTo>
                  <a:cubicBezTo>
                    <a:pt x="15179" y="124595"/>
                    <a:pt x="0" y="151790"/>
                    <a:pt x="0" y="182148"/>
                  </a:cubicBezTo>
                  <a:cubicBezTo>
                    <a:pt x="0" y="233378"/>
                    <a:pt x="41110" y="274488"/>
                    <a:pt x="92339" y="274488"/>
                  </a:cubicBezTo>
                  <a:cubicBezTo>
                    <a:pt x="143568" y="274488"/>
                    <a:pt x="184678" y="233378"/>
                    <a:pt x="184678" y="182148"/>
                  </a:cubicBezTo>
                  <a:cubicBezTo>
                    <a:pt x="184678" y="151158"/>
                    <a:pt x="169499" y="123962"/>
                    <a:pt x="146731" y="107518"/>
                  </a:cubicBezTo>
                  <a:close/>
                  <a:moveTo>
                    <a:pt x="53759" y="55024"/>
                  </a:moveTo>
                  <a:cubicBezTo>
                    <a:pt x="53759" y="33520"/>
                    <a:pt x="68938" y="15812"/>
                    <a:pt x="87912" y="15812"/>
                  </a:cubicBezTo>
                  <a:lnTo>
                    <a:pt x="96134" y="15812"/>
                  </a:lnTo>
                  <a:cubicBezTo>
                    <a:pt x="115108" y="15812"/>
                    <a:pt x="130287" y="33520"/>
                    <a:pt x="130287" y="55024"/>
                  </a:cubicBezTo>
                  <a:lnTo>
                    <a:pt x="130287" y="98031"/>
                  </a:lnTo>
                  <a:cubicBezTo>
                    <a:pt x="118902" y="92972"/>
                    <a:pt x="105621" y="89809"/>
                    <a:pt x="91707" y="89809"/>
                  </a:cubicBezTo>
                  <a:cubicBezTo>
                    <a:pt x="77793" y="89809"/>
                    <a:pt x="65143" y="92972"/>
                    <a:pt x="53127" y="98031"/>
                  </a:cubicBezTo>
                  <a:lnTo>
                    <a:pt x="53127" y="55024"/>
                  </a:lnTo>
                  <a:close/>
                  <a:moveTo>
                    <a:pt x="92339" y="258676"/>
                  </a:moveTo>
                  <a:cubicBezTo>
                    <a:pt x="49964" y="258676"/>
                    <a:pt x="15812" y="224523"/>
                    <a:pt x="15812" y="182148"/>
                  </a:cubicBezTo>
                  <a:cubicBezTo>
                    <a:pt x="15812" y="139774"/>
                    <a:pt x="49964" y="105621"/>
                    <a:pt x="92339" y="105621"/>
                  </a:cubicBezTo>
                  <a:cubicBezTo>
                    <a:pt x="134714" y="105621"/>
                    <a:pt x="168867" y="139774"/>
                    <a:pt x="168867" y="182148"/>
                  </a:cubicBezTo>
                  <a:cubicBezTo>
                    <a:pt x="168867" y="224523"/>
                    <a:pt x="134714" y="258676"/>
                    <a:pt x="92339" y="258676"/>
                  </a:cubicBezTo>
                  <a:close/>
                </a:path>
              </a:pathLst>
            </a:custGeom>
            <a:gradFill>
              <a:gsLst>
                <a:gs pos="0">
                  <a:srgbClr val="6C4B94"/>
                </a:gs>
                <a:gs pos="25000">
                  <a:srgbClr val="005C8A"/>
                </a:gs>
                <a:gs pos="50000">
                  <a:srgbClr val="0098C7"/>
                </a:gs>
                <a:gs pos="75000">
                  <a:srgbClr val="007B8C"/>
                </a:gs>
                <a:gs pos="100000">
                  <a:srgbClr val="61A60E"/>
                </a:gs>
              </a:gsLst>
              <a:lin ang="0"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5" name="Google Shape;6639;g341ab2b14b8_2_916">
              <a:extLst>
                <a:ext uri="{FF2B5EF4-FFF2-40B4-BE49-F238E27FC236}">
                  <a16:creationId xmlns:a16="http://schemas.microsoft.com/office/drawing/2014/main" id="{4C93D67B-A5A6-BBCB-25DD-41236B349371}"/>
                </a:ext>
              </a:extLst>
            </p:cNvPr>
            <p:cNvSpPr/>
            <p:nvPr/>
          </p:nvSpPr>
          <p:spPr>
            <a:xfrm>
              <a:off x="9224614" y="3965018"/>
              <a:ext cx="340266" cy="400636"/>
            </a:xfrm>
            <a:custGeom>
              <a:avLst/>
              <a:gdLst/>
              <a:ahLst/>
              <a:cxnLst/>
              <a:rect l="l" t="t" r="r" b="b"/>
              <a:pathLst>
                <a:path w="509762" h="600204" extrusionOk="0">
                  <a:moveTo>
                    <a:pt x="254881" y="600205"/>
                  </a:moveTo>
                  <a:lnTo>
                    <a:pt x="246027" y="597042"/>
                  </a:lnTo>
                  <a:cubicBezTo>
                    <a:pt x="235908" y="593248"/>
                    <a:pt x="0" y="500908"/>
                    <a:pt x="0" y="264368"/>
                  </a:cubicBezTo>
                  <a:lnTo>
                    <a:pt x="0" y="111313"/>
                  </a:lnTo>
                  <a:lnTo>
                    <a:pt x="18974" y="106253"/>
                  </a:lnTo>
                  <a:cubicBezTo>
                    <a:pt x="58186" y="95501"/>
                    <a:pt x="97399" y="82220"/>
                    <a:pt x="134714" y="65143"/>
                  </a:cubicBezTo>
                  <a:cubicBezTo>
                    <a:pt x="171397" y="49332"/>
                    <a:pt x="207447" y="30358"/>
                    <a:pt x="240967" y="8854"/>
                  </a:cubicBezTo>
                  <a:lnTo>
                    <a:pt x="254881" y="0"/>
                  </a:lnTo>
                  <a:lnTo>
                    <a:pt x="268796" y="8854"/>
                  </a:lnTo>
                  <a:cubicBezTo>
                    <a:pt x="302948" y="30358"/>
                    <a:pt x="338366" y="49332"/>
                    <a:pt x="375049" y="65143"/>
                  </a:cubicBezTo>
                  <a:cubicBezTo>
                    <a:pt x="412364" y="81587"/>
                    <a:pt x="450944" y="95501"/>
                    <a:pt x="490789" y="106253"/>
                  </a:cubicBezTo>
                  <a:lnTo>
                    <a:pt x="509763" y="111313"/>
                  </a:lnTo>
                  <a:lnTo>
                    <a:pt x="509763" y="264368"/>
                  </a:lnTo>
                  <a:cubicBezTo>
                    <a:pt x="509763" y="496481"/>
                    <a:pt x="289667" y="587555"/>
                    <a:pt x="263103" y="597042"/>
                  </a:cubicBezTo>
                  <a:lnTo>
                    <a:pt x="263103" y="597675"/>
                  </a:lnTo>
                  <a:lnTo>
                    <a:pt x="254881" y="600205"/>
                  </a:lnTo>
                  <a:close/>
                  <a:moveTo>
                    <a:pt x="15812" y="123330"/>
                  </a:moveTo>
                  <a:lnTo>
                    <a:pt x="15812" y="264368"/>
                  </a:lnTo>
                  <a:cubicBezTo>
                    <a:pt x="15812" y="490789"/>
                    <a:pt x="242232" y="578701"/>
                    <a:pt x="251719" y="582496"/>
                  </a:cubicBezTo>
                  <a:lnTo>
                    <a:pt x="254881" y="583761"/>
                  </a:lnTo>
                  <a:lnTo>
                    <a:pt x="259941" y="581863"/>
                  </a:lnTo>
                  <a:cubicBezTo>
                    <a:pt x="273855" y="576804"/>
                    <a:pt x="493951" y="488259"/>
                    <a:pt x="493951" y="264368"/>
                  </a:cubicBezTo>
                  <a:lnTo>
                    <a:pt x="493951" y="123330"/>
                  </a:lnTo>
                  <a:lnTo>
                    <a:pt x="486362" y="121432"/>
                  </a:lnTo>
                  <a:cubicBezTo>
                    <a:pt x="446517" y="110681"/>
                    <a:pt x="406672" y="96766"/>
                    <a:pt x="368724" y="79690"/>
                  </a:cubicBezTo>
                  <a:cubicBezTo>
                    <a:pt x="331409" y="63246"/>
                    <a:pt x="294726" y="44272"/>
                    <a:pt x="260574" y="22769"/>
                  </a:cubicBezTo>
                  <a:lnTo>
                    <a:pt x="254881" y="18974"/>
                  </a:lnTo>
                  <a:lnTo>
                    <a:pt x="249822" y="22136"/>
                  </a:lnTo>
                  <a:cubicBezTo>
                    <a:pt x="215036" y="43640"/>
                    <a:pt x="178986" y="63246"/>
                    <a:pt x="141671" y="79690"/>
                  </a:cubicBezTo>
                  <a:cubicBezTo>
                    <a:pt x="103723" y="96766"/>
                    <a:pt x="63878" y="110681"/>
                    <a:pt x="23401" y="121432"/>
                  </a:cubicBezTo>
                  <a:lnTo>
                    <a:pt x="15812" y="123330"/>
                  </a:lnTo>
                  <a:close/>
                </a:path>
              </a:pathLst>
            </a:custGeom>
            <a:gradFill>
              <a:gsLst>
                <a:gs pos="0">
                  <a:srgbClr val="6C4B94"/>
                </a:gs>
                <a:gs pos="25000">
                  <a:srgbClr val="005C8A"/>
                </a:gs>
                <a:gs pos="50000">
                  <a:srgbClr val="0098C7"/>
                </a:gs>
                <a:gs pos="75000">
                  <a:srgbClr val="007B8C"/>
                </a:gs>
                <a:gs pos="100000">
                  <a:srgbClr val="61A60E"/>
                </a:gs>
              </a:gsLst>
              <a:lin ang="0" scaled="0"/>
            </a:gra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6" name="Google Shape;6640;g341ab2b14b8_2_916">
              <a:extLst>
                <a:ext uri="{FF2B5EF4-FFF2-40B4-BE49-F238E27FC236}">
                  <a16:creationId xmlns:a16="http://schemas.microsoft.com/office/drawing/2014/main" id="{727F9DF5-5488-6065-92E8-DCB7B7A9CF3D}"/>
                </a:ext>
              </a:extLst>
            </p:cNvPr>
            <p:cNvSpPr txBox="1"/>
            <p:nvPr/>
          </p:nvSpPr>
          <p:spPr>
            <a:xfrm>
              <a:off x="8947803" y="3579303"/>
              <a:ext cx="962400" cy="3399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0" i="0" u="none" strike="noStrike" kern="1200" cap="none" spc="0" normalizeH="0" baseline="0" noProof="0" dirty="0">
                  <a:ln>
                    <a:noFill/>
                  </a:ln>
                  <a:solidFill>
                    <a:srgbClr val="000000"/>
                  </a:solidFill>
                  <a:effectLst/>
                  <a:uLnTx/>
                  <a:uFillTx/>
                  <a:latin typeface="Arial"/>
                  <a:ea typeface="Arial"/>
                  <a:cs typeface="Arial"/>
                  <a:sym typeface="Arial"/>
                </a:rPr>
                <a:t>Secret Store</a:t>
              </a:r>
              <a:endParaRPr kumimoji="0" sz="800"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pic>
        <p:nvPicPr>
          <p:cNvPr id="88" name="Graphic 87" descr="Badge Follow outline">
            <a:extLst>
              <a:ext uri="{FF2B5EF4-FFF2-40B4-BE49-F238E27FC236}">
                <a16:creationId xmlns:a16="http://schemas.microsoft.com/office/drawing/2014/main" id="{0A6146D4-F2D9-3125-EFA4-620372C5CC36}"/>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3993119" y="2735144"/>
            <a:ext cx="252000" cy="252000"/>
          </a:xfrm>
          <a:prstGeom prst="rect">
            <a:avLst/>
          </a:prstGeom>
        </p:spPr>
      </p:pic>
      <p:grpSp>
        <p:nvGrpSpPr>
          <p:cNvPr id="5" name="Group 4">
            <a:extLst>
              <a:ext uri="{FF2B5EF4-FFF2-40B4-BE49-F238E27FC236}">
                <a16:creationId xmlns:a16="http://schemas.microsoft.com/office/drawing/2014/main" id="{30DC2F80-DEAF-33E4-7217-C6C716F4E3C3}"/>
              </a:ext>
            </a:extLst>
          </p:cNvPr>
          <p:cNvGrpSpPr/>
          <p:nvPr/>
        </p:nvGrpSpPr>
        <p:grpSpPr>
          <a:xfrm>
            <a:off x="3429941" y="3090509"/>
            <a:ext cx="1368924" cy="1286958"/>
            <a:chOff x="366295" y="2954196"/>
            <a:chExt cx="1368924" cy="1286958"/>
          </a:xfrm>
        </p:grpSpPr>
        <p:grpSp>
          <p:nvGrpSpPr>
            <p:cNvPr id="60" name="Google Shape;6532;g341ab2b14b8_2_916">
              <a:extLst>
                <a:ext uri="{FF2B5EF4-FFF2-40B4-BE49-F238E27FC236}">
                  <a16:creationId xmlns:a16="http://schemas.microsoft.com/office/drawing/2014/main" id="{750DB219-408C-790E-4573-BB694B36D352}"/>
                </a:ext>
              </a:extLst>
            </p:cNvPr>
            <p:cNvGrpSpPr/>
            <p:nvPr/>
          </p:nvGrpSpPr>
          <p:grpSpPr>
            <a:xfrm>
              <a:off x="366295" y="2954196"/>
              <a:ext cx="1368924" cy="1286958"/>
              <a:chOff x="2967962" y="3308066"/>
              <a:chExt cx="1311900" cy="1020900"/>
            </a:xfrm>
            <a:effectLst>
              <a:outerShdw blurRad="63500" sx="102000" sy="102000" algn="ctr" rotWithShape="0">
                <a:prstClr val="black">
                  <a:alpha val="40000"/>
                </a:prstClr>
              </a:outerShdw>
            </a:effectLst>
          </p:grpSpPr>
          <p:sp>
            <p:nvSpPr>
              <p:cNvPr id="64" name="Google Shape;6533;g341ab2b14b8_2_916">
                <a:extLst>
                  <a:ext uri="{FF2B5EF4-FFF2-40B4-BE49-F238E27FC236}">
                    <a16:creationId xmlns:a16="http://schemas.microsoft.com/office/drawing/2014/main" id="{E5C4198D-5CC6-A93F-356E-9CF3DE7B2E26}"/>
                  </a:ext>
                </a:extLst>
              </p:cNvPr>
              <p:cNvSpPr/>
              <p:nvPr/>
            </p:nvSpPr>
            <p:spPr>
              <a:xfrm>
                <a:off x="2967962" y="3308066"/>
                <a:ext cx="1311900" cy="1020900"/>
              </a:xfrm>
              <a:prstGeom prst="roundRect">
                <a:avLst>
                  <a:gd name="adj" fmla="val 6270"/>
                </a:avLst>
              </a:prstGeom>
              <a:solidFill>
                <a:schemeClr val="lt1"/>
              </a:solidFill>
              <a:ln w="12700" cap="flat" cmpd="sng">
                <a:solidFill>
                  <a:srgbClr val="005C8A"/>
                </a:solidFill>
                <a:prstDash val="solid"/>
                <a:miter lim="400000"/>
                <a:headEnd type="none" w="sm" len="sm"/>
                <a:tailEnd type="none" w="sm" len="sm"/>
              </a:ln>
            </p:spPr>
            <p:txBody>
              <a:bodyPr spcFirstLastPara="1" wrap="square" lIns="41050" tIns="328875" rIns="41050" bIns="82225" anchor="ctr" anchorCtr="0">
                <a:noAutofit/>
              </a:bodyPr>
              <a:lstStyle/>
              <a:p>
                <a:pPr marL="0" marR="0" lvl="0" indent="0" algn="l" defTabSz="914400" rtl="0" eaLnBrk="1" fontAlgn="auto" latinLnBrk="0" hangingPunct="1">
                  <a:lnSpc>
                    <a:spcPct val="80000"/>
                  </a:lnSpc>
                  <a:spcBef>
                    <a:spcPts val="0"/>
                  </a:spcBef>
                  <a:spcAft>
                    <a:spcPts val="0"/>
                  </a:spcAft>
                  <a:buClr>
                    <a:srgbClr val="000000"/>
                  </a:buClr>
                  <a:buSzPts val="900"/>
                  <a:buFont typeface="Arial"/>
                  <a:buNone/>
                  <a:tabLst/>
                  <a:defRPr/>
                </a:pPr>
                <a:endParaRPr kumimoji="0" sz="900" b="0" i="0" u="none" strike="noStrike" kern="1200" cap="none" spc="0" normalizeH="0" baseline="0" noProof="0" dirty="0">
                  <a:ln>
                    <a:noFill/>
                  </a:ln>
                  <a:solidFill>
                    <a:srgbClr val="FFFFFF"/>
                  </a:solidFill>
                  <a:effectLst/>
                  <a:uLnTx/>
                  <a:uFillTx/>
                  <a:latin typeface="Arial"/>
                  <a:ea typeface="Arial"/>
                  <a:cs typeface="Arial"/>
                  <a:sym typeface="Arial"/>
                </a:endParaRPr>
              </a:p>
            </p:txBody>
          </p:sp>
          <p:sp>
            <p:nvSpPr>
              <p:cNvPr id="65" name="Google Shape;6534;g341ab2b14b8_2_916">
                <a:extLst>
                  <a:ext uri="{FF2B5EF4-FFF2-40B4-BE49-F238E27FC236}">
                    <a16:creationId xmlns:a16="http://schemas.microsoft.com/office/drawing/2014/main" id="{D7FEEBDD-5FA7-E62E-176A-360BE7450618}"/>
                  </a:ext>
                </a:extLst>
              </p:cNvPr>
              <p:cNvSpPr txBox="1"/>
              <p:nvPr/>
            </p:nvSpPr>
            <p:spPr>
              <a:xfrm>
                <a:off x="2990321" y="3314416"/>
                <a:ext cx="1289400" cy="458100"/>
              </a:xfrm>
              <a:prstGeom prst="rect">
                <a:avLst/>
              </a:prstGeom>
              <a:noFill/>
              <a:ln>
                <a:noFill/>
              </a:ln>
            </p:spPr>
            <p:txBody>
              <a:bodyPr spcFirstLastPara="1" wrap="square" lIns="91400" tIns="91400" rIns="91400" bIns="91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900" b="1" i="0" u="none" strike="noStrike" kern="1200" cap="none" spc="0" normalizeH="0" baseline="0" noProof="0" dirty="0">
                    <a:ln>
                      <a:noFill/>
                    </a:ln>
                    <a:solidFill>
                      <a:srgbClr val="1B1D36"/>
                    </a:solidFill>
                    <a:effectLst/>
                    <a:uLnTx/>
                    <a:uFillTx/>
                    <a:latin typeface="Arial"/>
                    <a:ea typeface="Arial"/>
                    <a:cs typeface="Arial"/>
                    <a:sym typeface="Arial"/>
                  </a:rPr>
                  <a:t>vSphere Kubernetes Service (VKS)</a:t>
                </a:r>
                <a:endParaRPr kumimoji="0" sz="900" b="1" i="0" u="none" strike="noStrike" kern="1200" cap="none" spc="0" normalizeH="0" baseline="0" noProof="0" dirty="0">
                  <a:ln>
                    <a:noFill/>
                  </a:ln>
                  <a:solidFill>
                    <a:srgbClr val="1B1D36"/>
                  </a:solidFill>
                  <a:effectLst/>
                  <a:uLnTx/>
                  <a:uFillTx/>
                  <a:latin typeface="Arial"/>
                  <a:ea typeface="Arial"/>
                  <a:cs typeface="Arial"/>
                  <a:sym typeface="Arial"/>
                </a:endParaRPr>
              </a:p>
            </p:txBody>
          </p:sp>
        </p:grpSp>
        <p:pic>
          <p:nvPicPr>
            <p:cNvPr id="4" name="Graphic 3">
              <a:extLst>
                <a:ext uri="{FF2B5EF4-FFF2-40B4-BE49-F238E27FC236}">
                  <a16:creationId xmlns:a16="http://schemas.microsoft.com/office/drawing/2014/main" id="{2FE5B8DA-6923-C917-3E4E-7633E166250E}"/>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756349" y="3449573"/>
              <a:ext cx="612000" cy="612000"/>
            </a:xfrm>
            <a:prstGeom prst="rect">
              <a:avLst/>
            </a:prstGeom>
          </p:spPr>
        </p:pic>
      </p:grpSp>
    </p:spTree>
    <p:extLst>
      <p:ext uri="{BB962C8B-B14F-4D97-AF65-F5344CB8AC3E}">
        <p14:creationId xmlns:p14="http://schemas.microsoft.com/office/powerpoint/2010/main" val="7807465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06C645-8D31-3CA2-89E9-52A3916987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B383F7-AD58-69BE-CB98-353CC802B6DB}"/>
              </a:ext>
            </a:extLst>
          </p:cNvPr>
          <p:cNvSpPr>
            <a:spLocks noGrp="1"/>
          </p:cNvSpPr>
          <p:nvPr>
            <p:ph type="title"/>
          </p:nvPr>
        </p:nvSpPr>
        <p:spPr/>
        <p:txBody>
          <a:bodyPr/>
          <a:lstStyle/>
          <a:p>
            <a:r>
              <a:rPr lang="en-US" dirty="0"/>
              <a:t>Introducing Container Service</a:t>
            </a:r>
          </a:p>
        </p:txBody>
      </p:sp>
      <p:sp>
        <p:nvSpPr>
          <p:cNvPr id="3" name="Subtitle 2">
            <a:extLst>
              <a:ext uri="{FF2B5EF4-FFF2-40B4-BE49-F238E27FC236}">
                <a16:creationId xmlns:a16="http://schemas.microsoft.com/office/drawing/2014/main" id="{1866A6A2-2AE1-F5CC-DD67-77B3AF5E376D}"/>
              </a:ext>
            </a:extLst>
          </p:cNvPr>
          <p:cNvSpPr>
            <a:spLocks noGrp="1"/>
          </p:cNvSpPr>
          <p:nvPr>
            <p:ph type="subTitle" idx="10"/>
          </p:nvPr>
        </p:nvSpPr>
        <p:spPr/>
        <p:txBody>
          <a:bodyPr/>
          <a:lstStyle/>
          <a:p>
            <a:r>
              <a:rPr lang="en-US" dirty="0"/>
              <a:t>Deploy isolated and secure containers</a:t>
            </a:r>
          </a:p>
          <a:p>
            <a:endParaRPr lang="en-US" dirty="0"/>
          </a:p>
        </p:txBody>
      </p:sp>
      <p:sp>
        <p:nvSpPr>
          <p:cNvPr id="6" name="Google Shape;1556;p2">
            <a:extLst>
              <a:ext uri="{FF2B5EF4-FFF2-40B4-BE49-F238E27FC236}">
                <a16:creationId xmlns:a16="http://schemas.microsoft.com/office/drawing/2014/main" id="{4AFF4B69-C721-33DB-ACAD-E5788C1CF7C0}"/>
              </a:ext>
            </a:extLst>
          </p:cNvPr>
          <p:cNvSpPr/>
          <p:nvPr/>
        </p:nvSpPr>
        <p:spPr>
          <a:xfrm>
            <a:off x="1371430" y="4446036"/>
            <a:ext cx="3835059" cy="513172"/>
          </a:xfrm>
          <a:prstGeom prst="roundRect">
            <a:avLst>
              <a:gd name="adj" fmla="val 9132"/>
            </a:avLst>
          </a:prstGeom>
          <a:noFill/>
          <a:ln w="19050" cap="flat" cmpd="sng">
            <a:solidFill>
              <a:schemeClr val="accent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 name="Google Shape;1562;p2">
            <a:extLst>
              <a:ext uri="{FF2B5EF4-FFF2-40B4-BE49-F238E27FC236}">
                <a16:creationId xmlns:a16="http://schemas.microsoft.com/office/drawing/2014/main" id="{7DC18BAC-40EB-15DB-326D-39A34063968D}"/>
              </a:ext>
            </a:extLst>
          </p:cNvPr>
          <p:cNvSpPr/>
          <p:nvPr/>
        </p:nvSpPr>
        <p:spPr>
          <a:xfrm>
            <a:off x="1414892" y="4234790"/>
            <a:ext cx="3742625" cy="423705"/>
          </a:xfrm>
          <a:prstGeom prst="roundRect">
            <a:avLst>
              <a:gd name="adj" fmla="val 8857"/>
            </a:avLst>
          </a:prstGeom>
          <a:gradFill>
            <a:gsLst>
              <a:gs pos="0">
                <a:srgbClr val="6C4B8F"/>
              </a:gs>
              <a:gs pos="100000">
                <a:srgbClr val="005B84"/>
              </a:gs>
            </a:gsLst>
            <a:lin ang="0" scaled="0"/>
          </a:gradFill>
          <a:ln>
            <a:noFill/>
          </a:ln>
          <a:effectLst>
            <a:reflection stA="41000" endPos="31000" dist="50800" dir="5400000" fadeDir="5400012" sy="-100000" algn="bl" rotWithShape="0"/>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0" name="TextBox 9">
            <a:extLst>
              <a:ext uri="{FF2B5EF4-FFF2-40B4-BE49-F238E27FC236}">
                <a16:creationId xmlns:a16="http://schemas.microsoft.com/office/drawing/2014/main" id="{DA3B7084-C9D2-D012-5E0B-6F6B8645C806}"/>
              </a:ext>
            </a:extLst>
          </p:cNvPr>
          <p:cNvSpPr txBox="1"/>
          <p:nvPr/>
        </p:nvSpPr>
        <p:spPr>
          <a:xfrm>
            <a:off x="3034084" y="4387718"/>
            <a:ext cx="569627"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vSphere</a:t>
            </a:r>
          </a:p>
        </p:txBody>
      </p:sp>
      <p:sp>
        <p:nvSpPr>
          <p:cNvPr id="16" name="Rectangle: Rounded Corners 82">
            <a:extLst>
              <a:ext uri="{FF2B5EF4-FFF2-40B4-BE49-F238E27FC236}">
                <a16:creationId xmlns:a16="http://schemas.microsoft.com/office/drawing/2014/main" id="{F0E395A6-096D-87F9-A724-8F394DFB889D}"/>
              </a:ext>
            </a:extLst>
          </p:cNvPr>
          <p:cNvSpPr/>
          <p:nvPr/>
        </p:nvSpPr>
        <p:spPr>
          <a:xfrm>
            <a:off x="1414892" y="3939700"/>
            <a:ext cx="3742625" cy="209646"/>
          </a:xfrm>
          <a:prstGeom prst="roundRect">
            <a:avLst/>
          </a:prstGeom>
          <a:solidFill>
            <a:schemeClr val="accent5"/>
          </a:solidFill>
          <a:ln w="158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7719" tIns="43860" rIns="87719" bIns="438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vSphere Namespace</a:t>
            </a:r>
          </a:p>
        </p:txBody>
      </p:sp>
      <p:grpSp>
        <p:nvGrpSpPr>
          <p:cNvPr id="17" name="Group 16">
            <a:extLst>
              <a:ext uri="{FF2B5EF4-FFF2-40B4-BE49-F238E27FC236}">
                <a16:creationId xmlns:a16="http://schemas.microsoft.com/office/drawing/2014/main" id="{252C3465-B8A2-A4D0-BC4D-562A0DE4E48C}"/>
              </a:ext>
            </a:extLst>
          </p:cNvPr>
          <p:cNvGrpSpPr/>
          <p:nvPr/>
        </p:nvGrpSpPr>
        <p:grpSpPr>
          <a:xfrm>
            <a:off x="2616596" y="4851176"/>
            <a:ext cx="1344725" cy="216064"/>
            <a:chOff x="3604782" y="5211713"/>
            <a:chExt cx="1344725" cy="216064"/>
          </a:xfrm>
        </p:grpSpPr>
        <p:grpSp>
          <p:nvGrpSpPr>
            <p:cNvPr id="18" name="Group 17">
              <a:extLst>
                <a:ext uri="{FF2B5EF4-FFF2-40B4-BE49-F238E27FC236}">
                  <a16:creationId xmlns:a16="http://schemas.microsoft.com/office/drawing/2014/main" id="{8D7143AC-3A41-A3AB-02FC-00B91C05163E}"/>
                </a:ext>
              </a:extLst>
            </p:cNvPr>
            <p:cNvGrpSpPr/>
            <p:nvPr/>
          </p:nvGrpSpPr>
          <p:grpSpPr>
            <a:xfrm>
              <a:off x="4468307" y="5211713"/>
              <a:ext cx="481200" cy="216000"/>
              <a:chOff x="9559097" y="5270063"/>
              <a:chExt cx="481200" cy="216000"/>
            </a:xfrm>
          </p:grpSpPr>
          <p:sp>
            <p:nvSpPr>
              <p:cNvPr id="28" name="Google Shape;1557;p2">
                <a:extLst>
                  <a:ext uri="{FF2B5EF4-FFF2-40B4-BE49-F238E27FC236}">
                    <a16:creationId xmlns:a16="http://schemas.microsoft.com/office/drawing/2014/main" id="{3DB01971-6957-EC4A-9394-983348AE0B1A}"/>
                  </a:ext>
                </a:extLst>
              </p:cNvPr>
              <p:cNvSpPr/>
              <p:nvPr/>
            </p:nvSpPr>
            <p:spPr>
              <a:xfrm>
                <a:off x="9559097" y="5319713"/>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29" name="Google Shape;1622;p2">
                <a:extLst>
                  <a:ext uri="{FF2B5EF4-FFF2-40B4-BE49-F238E27FC236}">
                    <a16:creationId xmlns:a16="http://schemas.microsoft.com/office/drawing/2014/main" id="{CB5C8073-86B3-0BA3-2E9A-E7DF16ACB447}"/>
                  </a:ext>
                </a:extLst>
              </p:cNvPr>
              <p:cNvSpPr>
                <a:spLocks noChangeAspect="1"/>
              </p:cNvSpPr>
              <p:nvPr/>
            </p:nvSpPr>
            <p:spPr>
              <a:xfrm>
                <a:off x="9691694" y="5270063"/>
                <a:ext cx="216000" cy="216000"/>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9" name="Group 18">
              <a:extLst>
                <a:ext uri="{FF2B5EF4-FFF2-40B4-BE49-F238E27FC236}">
                  <a16:creationId xmlns:a16="http://schemas.microsoft.com/office/drawing/2014/main" id="{44E0493F-B3DB-F0FA-2CD8-DD97DC161CEF}"/>
                </a:ext>
              </a:extLst>
            </p:cNvPr>
            <p:cNvGrpSpPr/>
            <p:nvPr/>
          </p:nvGrpSpPr>
          <p:grpSpPr>
            <a:xfrm>
              <a:off x="4059181" y="5211713"/>
              <a:ext cx="437400" cy="216000"/>
              <a:chOff x="9895949" y="1413332"/>
              <a:chExt cx="437400" cy="216000"/>
            </a:xfrm>
          </p:grpSpPr>
          <p:sp>
            <p:nvSpPr>
              <p:cNvPr id="26" name="Google Shape;1558;p2">
                <a:extLst>
                  <a:ext uri="{FF2B5EF4-FFF2-40B4-BE49-F238E27FC236}">
                    <a16:creationId xmlns:a16="http://schemas.microsoft.com/office/drawing/2014/main" id="{C07AB53D-D648-C62C-6625-1424BF86FE06}"/>
                  </a:ext>
                </a:extLst>
              </p:cNvPr>
              <p:cNvSpPr/>
              <p:nvPr/>
            </p:nvSpPr>
            <p:spPr>
              <a:xfrm>
                <a:off x="9895949" y="1462982"/>
                <a:ext cx="4374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27" name="Google Shape;1623;p2">
                <a:extLst>
                  <a:ext uri="{FF2B5EF4-FFF2-40B4-BE49-F238E27FC236}">
                    <a16:creationId xmlns:a16="http://schemas.microsoft.com/office/drawing/2014/main" id="{4AB4BEA7-B6C2-BC57-18F8-426AC803A78D}"/>
                  </a:ext>
                </a:extLst>
              </p:cNvPr>
              <p:cNvSpPr>
                <a:spLocks noChangeAspect="1"/>
              </p:cNvSpPr>
              <p:nvPr/>
            </p:nvSpPr>
            <p:spPr>
              <a:xfrm>
                <a:off x="10018018" y="1413332"/>
                <a:ext cx="193263" cy="216000"/>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0" name="Group 19">
              <a:extLst>
                <a:ext uri="{FF2B5EF4-FFF2-40B4-BE49-F238E27FC236}">
                  <a16:creationId xmlns:a16="http://schemas.microsoft.com/office/drawing/2014/main" id="{077DB48B-B7C6-F032-2535-FCCE331B82E8}"/>
                </a:ext>
              </a:extLst>
            </p:cNvPr>
            <p:cNvGrpSpPr/>
            <p:nvPr/>
          </p:nvGrpSpPr>
          <p:grpSpPr>
            <a:xfrm>
              <a:off x="3604782" y="5211777"/>
              <a:ext cx="481200" cy="216000"/>
              <a:chOff x="8526343" y="2145622"/>
              <a:chExt cx="481200" cy="216000"/>
            </a:xfrm>
          </p:grpSpPr>
          <p:sp>
            <p:nvSpPr>
              <p:cNvPr id="21" name="Google Shape;1557;p2">
                <a:extLst>
                  <a:ext uri="{FF2B5EF4-FFF2-40B4-BE49-F238E27FC236}">
                    <a16:creationId xmlns:a16="http://schemas.microsoft.com/office/drawing/2014/main" id="{84F82034-4702-67DB-8E54-28BA4272E77A}"/>
                  </a:ext>
                </a:extLst>
              </p:cNvPr>
              <p:cNvSpPr/>
              <p:nvPr/>
            </p:nvSpPr>
            <p:spPr>
              <a:xfrm>
                <a:off x="8526343" y="2191830"/>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grpSp>
            <p:nvGrpSpPr>
              <p:cNvPr id="22" name="Google Shape;1618;p2">
                <a:extLst>
                  <a:ext uri="{FF2B5EF4-FFF2-40B4-BE49-F238E27FC236}">
                    <a16:creationId xmlns:a16="http://schemas.microsoft.com/office/drawing/2014/main" id="{BB11BADA-CE9B-7603-A7BB-B191A49EB7D9}"/>
                  </a:ext>
                </a:extLst>
              </p:cNvPr>
              <p:cNvGrpSpPr>
                <a:grpSpLocks noChangeAspect="1"/>
              </p:cNvGrpSpPr>
              <p:nvPr/>
            </p:nvGrpSpPr>
            <p:grpSpPr>
              <a:xfrm>
                <a:off x="8658941" y="2145622"/>
                <a:ext cx="216005" cy="216000"/>
                <a:chOff x="3822556" y="5087301"/>
                <a:chExt cx="611339" cy="557273"/>
              </a:xfrm>
            </p:grpSpPr>
            <p:sp>
              <p:nvSpPr>
                <p:cNvPr id="23" name="Google Shape;1619;p2">
                  <a:extLst>
                    <a:ext uri="{FF2B5EF4-FFF2-40B4-BE49-F238E27FC236}">
                      <a16:creationId xmlns:a16="http://schemas.microsoft.com/office/drawing/2014/main" id="{6823A423-9332-677E-26D2-CE4B96AC7364}"/>
                    </a:ext>
                  </a:extLst>
                </p:cNvPr>
                <p:cNvSpPr/>
                <p:nvPr/>
              </p:nvSpPr>
              <p:spPr>
                <a:xfrm>
                  <a:off x="3822556" y="5087301"/>
                  <a:ext cx="611339" cy="161801"/>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4" name="Google Shape;1620;p2">
                  <a:extLst>
                    <a:ext uri="{FF2B5EF4-FFF2-40B4-BE49-F238E27FC236}">
                      <a16:creationId xmlns:a16="http://schemas.microsoft.com/office/drawing/2014/main" id="{B32D494A-4849-E551-A2E8-5E618C1C32F4}"/>
                    </a:ext>
                  </a:extLst>
                </p:cNvPr>
                <p:cNvSpPr/>
                <p:nvPr/>
              </p:nvSpPr>
              <p:spPr>
                <a:xfrm>
                  <a:off x="3822556" y="5284403"/>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5" name="Google Shape;1621;p2">
                  <a:extLst>
                    <a:ext uri="{FF2B5EF4-FFF2-40B4-BE49-F238E27FC236}">
                      <a16:creationId xmlns:a16="http://schemas.microsoft.com/office/drawing/2014/main" id="{E668C8B6-EE2D-20C5-4E9A-44FBCEA98555}"/>
                    </a:ext>
                  </a:extLst>
                </p:cNvPr>
                <p:cNvSpPr/>
                <p:nvPr/>
              </p:nvSpPr>
              <p:spPr>
                <a:xfrm>
                  <a:off x="3822556" y="5482729"/>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5" name="Google Shape;1373;p147">
            <a:extLst>
              <a:ext uri="{FF2B5EF4-FFF2-40B4-BE49-F238E27FC236}">
                <a16:creationId xmlns:a16="http://schemas.microsoft.com/office/drawing/2014/main" id="{F64864DA-CBE3-CF8A-9258-66ABA9002338}"/>
              </a:ext>
            </a:extLst>
          </p:cNvPr>
          <p:cNvSpPr txBox="1"/>
          <p:nvPr/>
        </p:nvSpPr>
        <p:spPr>
          <a:xfrm>
            <a:off x="7655578" y="740973"/>
            <a:ext cx="3345329" cy="385700"/>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85000"/>
              </a:lnSpc>
              <a:spcBef>
                <a:spcPts val="0"/>
              </a:spcBef>
              <a:spcAft>
                <a:spcPts val="0"/>
              </a:spcAft>
              <a:buClr>
                <a:srgbClr val="000000"/>
              </a:buClr>
              <a:buSzPts val="1799"/>
              <a:buFont typeface="Arial"/>
              <a:buNone/>
              <a:tabLst/>
              <a:defRPr/>
            </a:pPr>
            <a:r>
              <a:rPr kumimoji="0" lang="en-US" sz="1799" b="1" i="0" u="none" strike="noStrike" kern="1200" cap="none" spc="0" normalizeH="0" baseline="0" noProof="0" dirty="0">
                <a:ln>
                  <a:noFill/>
                </a:ln>
                <a:solidFill>
                  <a:srgbClr val="005C8A"/>
                </a:solidFill>
                <a:effectLst/>
                <a:uLnTx/>
                <a:uFillTx/>
                <a:latin typeface="Arial" panose="020B0604020202020204"/>
                <a:ea typeface="Arial"/>
                <a:cs typeface="Arial"/>
                <a:sym typeface="Arial"/>
              </a:rPr>
              <a:t>Highlights</a:t>
            </a:r>
            <a:endParaRPr kumimoji="0" sz="14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
        <p:nvSpPr>
          <p:cNvPr id="8" name="Google Shape;1375;p147">
            <a:extLst>
              <a:ext uri="{FF2B5EF4-FFF2-40B4-BE49-F238E27FC236}">
                <a16:creationId xmlns:a16="http://schemas.microsoft.com/office/drawing/2014/main" id="{6BB3617E-63CB-5E0F-B316-4ED7600123EC}"/>
              </a:ext>
            </a:extLst>
          </p:cNvPr>
          <p:cNvSpPr txBox="1"/>
          <p:nvPr/>
        </p:nvSpPr>
        <p:spPr>
          <a:xfrm>
            <a:off x="7655349" y="3746850"/>
            <a:ext cx="3835591" cy="385700"/>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85000"/>
              </a:lnSpc>
              <a:spcBef>
                <a:spcPts val="0"/>
              </a:spcBef>
              <a:spcAft>
                <a:spcPts val="0"/>
              </a:spcAft>
              <a:buClr>
                <a:srgbClr val="000000"/>
              </a:buClr>
              <a:buSzPts val="1799"/>
              <a:buFont typeface="Arial"/>
              <a:buNone/>
              <a:tabLst/>
              <a:defRPr/>
            </a:pPr>
            <a:r>
              <a:rPr kumimoji="0" lang="en-US" sz="1799" b="1" i="0" u="none" strike="noStrike" kern="1200" cap="none" spc="0" normalizeH="0" baseline="0" noProof="0" dirty="0">
                <a:ln>
                  <a:noFill/>
                </a:ln>
                <a:solidFill>
                  <a:srgbClr val="6C4B93"/>
                </a:solidFill>
                <a:effectLst/>
                <a:uLnTx/>
                <a:uFillTx/>
                <a:latin typeface="Arial" panose="020B0604020202020204"/>
                <a:ea typeface="Arial"/>
                <a:cs typeface="Arial"/>
                <a:sym typeface="Arial"/>
              </a:rPr>
              <a:t>Features</a:t>
            </a:r>
            <a:endParaRPr kumimoji="0" sz="14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
        <p:nvSpPr>
          <p:cNvPr id="9" name="Google Shape;1378;p147">
            <a:extLst>
              <a:ext uri="{FF2B5EF4-FFF2-40B4-BE49-F238E27FC236}">
                <a16:creationId xmlns:a16="http://schemas.microsoft.com/office/drawing/2014/main" id="{A8E2DED5-862B-10D0-9D10-103404D70D25}"/>
              </a:ext>
            </a:extLst>
          </p:cNvPr>
          <p:cNvSpPr/>
          <p:nvPr/>
        </p:nvSpPr>
        <p:spPr>
          <a:xfrm>
            <a:off x="7101043" y="1400920"/>
            <a:ext cx="14996" cy="2030771"/>
          </a:xfrm>
          <a:prstGeom prst="rect">
            <a:avLst/>
          </a:prstGeom>
          <a:gradFill>
            <a:gsLst>
              <a:gs pos="0">
                <a:schemeClr val="accent3"/>
              </a:gs>
              <a:gs pos="100000">
                <a:srgbClr val="0193C2">
                  <a:alpha val="0"/>
                </a:srgbClr>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50" name="Google Shape;1379;p147">
            <a:extLst>
              <a:ext uri="{FF2B5EF4-FFF2-40B4-BE49-F238E27FC236}">
                <a16:creationId xmlns:a16="http://schemas.microsoft.com/office/drawing/2014/main" id="{4C05C5B8-A492-F16F-78DE-3E34E3416639}"/>
              </a:ext>
            </a:extLst>
          </p:cNvPr>
          <p:cNvSpPr/>
          <p:nvPr/>
        </p:nvSpPr>
        <p:spPr>
          <a:xfrm>
            <a:off x="7100812" y="4255166"/>
            <a:ext cx="14996" cy="1722751"/>
          </a:xfrm>
          <a:prstGeom prst="rect">
            <a:avLst/>
          </a:prstGeom>
          <a:gradFill>
            <a:gsLst>
              <a:gs pos="0">
                <a:schemeClr val="accent5"/>
              </a:gs>
              <a:gs pos="100000">
                <a:srgbClr val="6C4B8F">
                  <a:alpha val="0"/>
                </a:srgbClr>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51" name="Google Shape;1380;p147">
            <a:extLst>
              <a:ext uri="{FF2B5EF4-FFF2-40B4-BE49-F238E27FC236}">
                <a16:creationId xmlns:a16="http://schemas.microsoft.com/office/drawing/2014/main" id="{7ABD21D2-9E9B-9506-B00F-9738E7E46DA4}"/>
              </a:ext>
            </a:extLst>
          </p:cNvPr>
          <p:cNvGrpSpPr/>
          <p:nvPr/>
        </p:nvGrpSpPr>
        <p:grpSpPr>
          <a:xfrm>
            <a:off x="6861784" y="914333"/>
            <a:ext cx="493819" cy="493671"/>
            <a:chOff x="2820929" y="2993975"/>
            <a:chExt cx="493800" cy="493800"/>
          </a:xfrm>
        </p:grpSpPr>
        <p:sp>
          <p:nvSpPr>
            <p:cNvPr id="52" name="Google Shape;1381;p147">
              <a:extLst>
                <a:ext uri="{FF2B5EF4-FFF2-40B4-BE49-F238E27FC236}">
                  <a16:creationId xmlns:a16="http://schemas.microsoft.com/office/drawing/2014/main" id="{DF353E2F-D2E1-E4E0-B48B-9B6E27FA2EA8}"/>
                </a:ext>
              </a:extLst>
            </p:cNvPr>
            <p:cNvSpPr/>
            <p:nvPr/>
          </p:nvSpPr>
          <p:spPr>
            <a:xfrm>
              <a:off x="2820929" y="2993975"/>
              <a:ext cx="493800" cy="493800"/>
            </a:xfrm>
            <a:prstGeom prst="ellipse">
              <a:avLst/>
            </a:prstGeom>
            <a:solidFill>
              <a:srgbClr val="FFFFFF"/>
            </a:solidFill>
            <a:ln w="12700" cap="flat" cmpd="sng">
              <a:solidFill>
                <a:schemeClr val="accent3"/>
              </a:solidFill>
              <a:prstDash val="solid"/>
              <a:miter lim="800000"/>
              <a:headEnd type="none" w="sm" len="sm"/>
              <a:tailEnd type="none" w="sm" len="sm"/>
            </a:ln>
            <a:effectLst>
              <a:outerShdw sx="120000" sy="120000" algn="ctr" rotWithShape="0">
                <a:schemeClr val="accent2">
                  <a:alpha val="22352"/>
                </a:schemeClr>
              </a:outerShdw>
            </a:effectLst>
          </p:spPr>
          <p:txBody>
            <a:bodyPr spcFirstLastPara="1" wrap="square" lIns="36565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53" name="Google Shape;1382;p147">
              <a:extLst>
                <a:ext uri="{FF2B5EF4-FFF2-40B4-BE49-F238E27FC236}">
                  <a16:creationId xmlns:a16="http://schemas.microsoft.com/office/drawing/2014/main" id="{F0CE34B8-0008-67B4-0E5C-C57843FCDE8F}"/>
                </a:ext>
              </a:extLst>
            </p:cNvPr>
            <p:cNvPicPr preferRelativeResize="0"/>
            <p:nvPr/>
          </p:nvPicPr>
          <p:blipFill rotWithShape="1">
            <a:blip r:embed="rId3">
              <a:alphaModFix/>
            </a:blip>
            <a:srcRect/>
            <a:stretch/>
          </p:blipFill>
          <p:spPr>
            <a:xfrm>
              <a:off x="2941865" y="3100008"/>
              <a:ext cx="268576" cy="268576"/>
            </a:xfrm>
            <a:prstGeom prst="rect">
              <a:avLst/>
            </a:prstGeom>
            <a:noFill/>
            <a:ln>
              <a:noFill/>
            </a:ln>
          </p:spPr>
        </p:pic>
      </p:grpSp>
      <p:grpSp>
        <p:nvGrpSpPr>
          <p:cNvPr id="54" name="Google Shape;1383;p147">
            <a:extLst>
              <a:ext uri="{FF2B5EF4-FFF2-40B4-BE49-F238E27FC236}">
                <a16:creationId xmlns:a16="http://schemas.microsoft.com/office/drawing/2014/main" id="{56360EFF-1DC7-3558-B224-15B099CD050D}"/>
              </a:ext>
            </a:extLst>
          </p:cNvPr>
          <p:cNvGrpSpPr/>
          <p:nvPr/>
        </p:nvGrpSpPr>
        <p:grpSpPr>
          <a:xfrm>
            <a:off x="6861784" y="3754953"/>
            <a:ext cx="493819" cy="493671"/>
            <a:chOff x="8669697" y="2993975"/>
            <a:chExt cx="493800" cy="493800"/>
          </a:xfrm>
        </p:grpSpPr>
        <p:sp>
          <p:nvSpPr>
            <p:cNvPr id="55" name="Google Shape;1384;p147">
              <a:extLst>
                <a:ext uri="{FF2B5EF4-FFF2-40B4-BE49-F238E27FC236}">
                  <a16:creationId xmlns:a16="http://schemas.microsoft.com/office/drawing/2014/main" id="{A3C187DD-E4C3-0967-8D67-05E9FA3CA654}"/>
                </a:ext>
              </a:extLst>
            </p:cNvPr>
            <p:cNvSpPr/>
            <p:nvPr/>
          </p:nvSpPr>
          <p:spPr>
            <a:xfrm>
              <a:off x="8669697" y="2993975"/>
              <a:ext cx="493800" cy="493800"/>
            </a:xfrm>
            <a:prstGeom prst="ellipse">
              <a:avLst/>
            </a:prstGeom>
            <a:solidFill>
              <a:schemeClr val="lt1"/>
            </a:solidFill>
            <a:ln w="12700" cap="flat" cmpd="sng">
              <a:solidFill>
                <a:schemeClr val="accent5"/>
              </a:solidFill>
              <a:prstDash val="solid"/>
              <a:miter lim="800000"/>
              <a:headEnd type="none" w="sm" len="sm"/>
              <a:tailEnd type="none" w="sm" len="sm"/>
            </a:ln>
            <a:effectLst>
              <a:outerShdw sx="120000" sy="120000" algn="ctr" rotWithShape="0">
                <a:schemeClr val="accent5">
                  <a:alpha val="25490"/>
                </a:schemeClr>
              </a:outerShdw>
            </a:effectLst>
          </p:spPr>
          <p:txBody>
            <a:bodyPr spcFirstLastPara="1" wrap="square" lIns="36565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56" name="Google Shape;1385;p147">
              <a:extLst>
                <a:ext uri="{FF2B5EF4-FFF2-40B4-BE49-F238E27FC236}">
                  <a16:creationId xmlns:a16="http://schemas.microsoft.com/office/drawing/2014/main" id="{8D964A61-79AD-77BF-D645-9352ADE60216}"/>
                </a:ext>
              </a:extLst>
            </p:cNvPr>
            <p:cNvPicPr preferRelativeResize="0"/>
            <p:nvPr/>
          </p:nvPicPr>
          <p:blipFill rotWithShape="1">
            <a:blip r:embed="rId4">
              <a:alphaModFix/>
            </a:blip>
            <a:srcRect/>
            <a:stretch/>
          </p:blipFill>
          <p:spPr>
            <a:xfrm>
              <a:off x="8762368" y="3100008"/>
              <a:ext cx="307627" cy="307628"/>
            </a:xfrm>
            <a:prstGeom prst="rect">
              <a:avLst/>
            </a:prstGeom>
            <a:noFill/>
            <a:ln>
              <a:noFill/>
            </a:ln>
          </p:spPr>
        </p:pic>
      </p:grpSp>
      <p:sp>
        <p:nvSpPr>
          <p:cNvPr id="57" name="Google Shape;1372;p147">
            <a:extLst>
              <a:ext uri="{FF2B5EF4-FFF2-40B4-BE49-F238E27FC236}">
                <a16:creationId xmlns:a16="http://schemas.microsoft.com/office/drawing/2014/main" id="{FB83DF28-2776-CC6D-60AA-99EA6AC82BD8}"/>
              </a:ext>
            </a:extLst>
          </p:cNvPr>
          <p:cNvSpPr/>
          <p:nvPr/>
        </p:nvSpPr>
        <p:spPr>
          <a:xfrm>
            <a:off x="7655579" y="1236209"/>
            <a:ext cx="4163815" cy="2129099"/>
          </a:xfrm>
          <a:prstGeom prst="rect">
            <a:avLst/>
          </a:prstGeom>
          <a:noFill/>
          <a:ln>
            <a:noFill/>
          </a:ln>
        </p:spPr>
        <p:txBody>
          <a:bodyPr spcFirstLastPara="1" wrap="square" lIns="0" tIns="45625" rIns="91325" bIns="45625" anchor="t" anchorCtr="0">
            <a:noAutofit/>
          </a:bodyPr>
          <a:lstStyle/>
          <a:p>
            <a:pPr marL="342900" marR="0" lvl="0" indent="-342900" algn="l" defTabSz="914400" rtl="0" eaLnBrk="1" fontAlgn="auto" latinLnBrk="0" hangingPunct="1">
              <a:lnSpc>
                <a:spcPct val="100000"/>
              </a:lnSpc>
              <a:spcBef>
                <a:spcPts val="0"/>
              </a:spcBef>
              <a:spcAft>
                <a:spcPts val="0"/>
              </a:spcAft>
              <a:buClr>
                <a:srgbClr val="000000"/>
              </a:buClr>
              <a:buSzTx/>
              <a:buFont typeface="Wingdings" pitchFamily="2" charset="2"/>
              <a:buChar char="ü"/>
              <a:tabLst/>
              <a:defRPr/>
            </a:pPr>
            <a:endPar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58" name="Google Shape;1374;p147">
            <a:extLst>
              <a:ext uri="{FF2B5EF4-FFF2-40B4-BE49-F238E27FC236}">
                <a16:creationId xmlns:a16="http://schemas.microsoft.com/office/drawing/2014/main" id="{FB0661D2-84C9-BCDD-BED6-BFEF3A83B5B4}"/>
              </a:ext>
            </a:extLst>
          </p:cNvPr>
          <p:cNvSpPr/>
          <p:nvPr/>
        </p:nvSpPr>
        <p:spPr>
          <a:xfrm>
            <a:off x="7655348" y="4246377"/>
            <a:ext cx="4163815" cy="2051462"/>
          </a:xfrm>
          <a:prstGeom prst="rect">
            <a:avLst/>
          </a:prstGeom>
          <a:noFill/>
          <a:ln>
            <a:noFill/>
          </a:ln>
        </p:spPr>
        <p:txBody>
          <a:bodyPr spcFirstLastPara="1" wrap="square" lIns="0" tIns="45625" rIns="91325" bIns="45625" anchor="t" anchorCtr="0">
            <a:noAutofit/>
          </a:bodyPr>
          <a:lstStyle/>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Based on vSphere Pods</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Extremely fast deployment</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Ability to create </a:t>
            </a:r>
            <a:r>
              <a:rPr kumimoji="0" lang="en-GB" sz="1600" b="0" i="0" u="none" strike="noStrike" kern="1200" cap="none" spc="0" normalizeH="0" baseline="0" noProof="0" dirty="0" err="1">
                <a:ln>
                  <a:noFill/>
                </a:ln>
                <a:solidFill>
                  <a:srgbClr val="000000"/>
                </a:solidFill>
                <a:effectLst/>
                <a:uLnTx/>
                <a:uFillTx/>
                <a:latin typeface="Arial" panose="020B0604020202020204"/>
                <a:ea typeface="Arial"/>
                <a:cs typeface="Arial"/>
                <a:sym typeface="Arial"/>
              </a:rPr>
              <a:t>StatefulSets</a:t>
            </a: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 by attaching a Persistent Volume</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Multi-container support</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endPar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endParaRPr kumimoji="0"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a:p>
            <a:pPr marL="0" marR="0" lvl="0" indent="0" algn="l" defTabSz="914400" rtl="0" eaLnBrk="1" fontAlgn="auto" latinLnBrk="0" hangingPunct="1">
              <a:lnSpc>
                <a:spcPct val="90000"/>
              </a:lnSpc>
              <a:spcBef>
                <a:spcPts val="0"/>
              </a:spcBef>
              <a:spcAft>
                <a:spcPts val="0"/>
              </a:spcAft>
              <a:buClr>
                <a:srgbClr val="000000"/>
              </a:buClr>
              <a:buSzPts val="1200"/>
              <a:buFont typeface="Arial"/>
              <a:buNone/>
              <a:tabLst/>
              <a:defRPr/>
            </a:pPr>
            <a:endParaRPr kumimoji="0"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
        <p:nvSpPr>
          <p:cNvPr id="61" name="Google Shape;1374;p147">
            <a:extLst>
              <a:ext uri="{FF2B5EF4-FFF2-40B4-BE49-F238E27FC236}">
                <a16:creationId xmlns:a16="http://schemas.microsoft.com/office/drawing/2014/main" id="{626FEF2A-5290-A828-237D-5B2BA6C6C448}"/>
              </a:ext>
            </a:extLst>
          </p:cNvPr>
          <p:cNvSpPr/>
          <p:nvPr/>
        </p:nvSpPr>
        <p:spPr>
          <a:xfrm>
            <a:off x="7664579" y="1349748"/>
            <a:ext cx="4163815" cy="2051462"/>
          </a:xfrm>
          <a:prstGeom prst="rect">
            <a:avLst/>
          </a:prstGeom>
          <a:noFill/>
          <a:ln>
            <a:noFill/>
          </a:ln>
        </p:spPr>
        <p:txBody>
          <a:bodyPr spcFirstLastPara="1" wrap="square" lIns="0" tIns="45625" rIns="91325" bIns="45625" anchor="t" anchorCtr="0">
            <a:noAutofit/>
          </a:bodyPr>
          <a:lstStyle/>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Isolated and secure containers</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Removing the overhead of Kubernetes for container deployments</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US"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UI-driven provisioning and lifecycle control of Container Instance within vSphere Namespaces</a:t>
            </a:r>
            <a:endParaRPr kumimoji="0"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pic>
        <p:nvPicPr>
          <p:cNvPr id="59" name="Google Shape;2551;p37" title="podvm.png">
            <a:extLst>
              <a:ext uri="{FF2B5EF4-FFF2-40B4-BE49-F238E27FC236}">
                <a16:creationId xmlns:a16="http://schemas.microsoft.com/office/drawing/2014/main" id="{2F9A9E3E-45FC-FB32-3A33-E312CC134E47}"/>
              </a:ext>
            </a:extLst>
          </p:cNvPr>
          <p:cNvPicPr preferRelativeResize="0"/>
          <p:nvPr/>
        </p:nvPicPr>
        <p:blipFill rotWithShape="1">
          <a:blip r:embed="rId5">
            <a:alphaModFix/>
          </a:blip>
          <a:srcRect/>
          <a:stretch/>
        </p:blipFill>
        <p:spPr>
          <a:xfrm>
            <a:off x="2932406" y="2064822"/>
            <a:ext cx="720000" cy="720000"/>
          </a:xfrm>
          <a:prstGeom prst="rect">
            <a:avLst/>
          </a:prstGeom>
          <a:noFill/>
          <a:ln>
            <a:noFill/>
          </a:ln>
        </p:spPr>
      </p:pic>
      <p:sp>
        <p:nvSpPr>
          <p:cNvPr id="12" name="Rounded Rectangle 11">
            <a:extLst>
              <a:ext uri="{FF2B5EF4-FFF2-40B4-BE49-F238E27FC236}">
                <a16:creationId xmlns:a16="http://schemas.microsoft.com/office/drawing/2014/main" id="{18FC628B-B8D7-457C-C876-81ED433A9833}"/>
              </a:ext>
            </a:extLst>
          </p:cNvPr>
          <p:cNvSpPr/>
          <p:nvPr/>
        </p:nvSpPr>
        <p:spPr bwMode="gray">
          <a:xfrm>
            <a:off x="1564764" y="3424413"/>
            <a:ext cx="697961" cy="366942"/>
          </a:xfrm>
          <a:prstGeom prst="roundRect">
            <a:avLst>
              <a:gd name="adj" fmla="val 50000"/>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Pod</a:t>
            </a:r>
          </a:p>
        </p:txBody>
      </p:sp>
      <p:sp>
        <p:nvSpPr>
          <p:cNvPr id="13" name="Rounded Rectangle 12">
            <a:extLst>
              <a:ext uri="{FF2B5EF4-FFF2-40B4-BE49-F238E27FC236}">
                <a16:creationId xmlns:a16="http://schemas.microsoft.com/office/drawing/2014/main" id="{B512F44A-E56E-6C7C-1BA5-2205A9148CDA}"/>
              </a:ext>
            </a:extLst>
          </p:cNvPr>
          <p:cNvSpPr/>
          <p:nvPr/>
        </p:nvSpPr>
        <p:spPr bwMode="gray">
          <a:xfrm>
            <a:off x="2487605" y="3424413"/>
            <a:ext cx="697961" cy="366942"/>
          </a:xfrm>
          <a:prstGeom prst="roundRect">
            <a:avLst>
              <a:gd name="adj" fmla="val 50000"/>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Pod</a:t>
            </a:r>
          </a:p>
        </p:txBody>
      </p:sp>
      <p:sp>
        <p:nvSpPr>
          <p:cNvPr id="14" name="Rounded Rectangle 13">
            <a:extLst>
              <a:ext uri="{FF2B5EF4-FFF2-40B4-BE49-F238E27FC236}">
                <a16:creationId xmlns:a16="http://schemas.microsoft.com/office/drawing/2014/main" id="{90D4F73F-1BB2-6BBB-59A4-8FA66A773052}"/>
              </a:ext>
            </a:extLst>
          </p:cNvPr>
          <p:cNvSpPr/>
          <p:nvPr/>
        </p:nvSpPr>
        <p:spPr bwMode="gray">
          <a:xfrm>
            <a:off x="3410307" y="3429000"/>
            <a:ext cx="697961" cy="366942"/>
          </a:xfrm>
          <a:prstGeom prst="roundRect">
            <a:avLst>
              <a:gd name="adj" fmla="val 50000"/>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Pod</a:t>
            </a:r>
          </a:p>
        </p:txBody>
      </p:sp>
      <p:sp>
        <p:nvSpPr>
          <p:cNvPr id="15" name="Rounded Rectangle 14">
            <a:extLst>
              <a:ext uri="{FF2B5EF4-FFF2-40B4-BE49-F238E27FC236}">
                <a16:creationId xmlns:a16="http://schemas.microsoft.com/office/drawing/2014/main" id="{214F3A38-22AF-DAFC-4716-BF94D75A19B1}"/>
              </a:ext>
            </a:extLst>
          </p:cNvPr>
          <p:cNvSpPr/>
          <p:nvPr/>
        </p:nvSpPr>
        <p:spPr bwMode="gray">
          <a:xfrm>
            <a:off x="4329467" y="3424413"/>
            <a:ext cx="697962" cy="366942"/>
          </a:xfrm>
          <a:prstGeom prst="roundRect">
            <a:avLst>
              <a:gd name="adj" fmla="val 50000"/>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Pod</a:t>
            </a:r>
          </a:p>
        </p:txBody>
      </p:sp>
      <p:cxnSp>
        <p:nvCxnSpPr>
          <p:cNvPr id="31" name="Elbow Connector 30">
            <a:extLst>
              <a:ext uri="{FF2B5EF4-FFF2-40B4-BE49-F238E27FC236}">
                <a16:creationId xmlns:a16="http://schemas.microsoft.com/office/drawing/2014/main" id="{FE34265A-8E02-38B2-754F-B9E3C2637065}"/>
              </a:ext>
            </a:extLst>
          </p:cNvPr>
          <p:cNvCxnSpPr>
            <a:cxnSpLocks/>
            <a:stCxn id="59" idx="1"/>
            <a:endCxn id="12" idx="0"/>
          </p:cNvCxnSpPr>
          <p:nvPr/>
        </p:nvCxnSpPr>
        <p:spPr bwMode="gray">
          <a:xfrm rot="10800000" flipV="1">
            <a:off x="1913746" y="2424821"/>
            <a:ext cx="1018661" cy="999591"/>
          </a:xfrm>
          <a:prstGeom prst="bentConnector2">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5" name="Elbow Connector 34">
            <a:extLst>
              <a:ext uri="{FF2B5EF4-FFF2-40B4-BE49-F238E27FC236}">
                <a16:creationId xmlns:a16="http://schemas.microsoft.com/office/drawing/2014/main" id="{A4D656EA-5642-FFDB-064D-962EC1A2C89F}"/>
              </a:ext>
            </a:extLst>
          </p:cNvPr>
          <p:cNvCxnSpPr>
            <a:cxnSpLocks/>
            <a:stCxn id="59" idx="2"/>
            <a:endCxn id="13" idx="0"/>
          </p:cNvCxnSpPr>
          <p:nvPr/>
        </p:nvCxnSpPr>
        <p:spPr bwMode="gray">
          <a:xfrm rot="5400000">
            <a:off x="2744701" y="2876707"/>
            <a:ext cx="639591" cy="455820"/>
          </a:xfrm>
          <a:prstGeom prst="bentConnector3">
            <a:avLst>
              <a:gd name="adj1" fmla="val 50000"/>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9" name="Elbow Connector 38">
            <a:extLst>
              <a:ext uri="{FF2B5EF4-FFF2-40B4-BE49-F238E27FC236}">
                <a16:creationId xmlns:a16="http://schemas.microsoft.com/office/drawing/2014/main" id="{51A3F7D4-8776-C5A7-04CD-71824FC3CB0A}"/>
              </a:ext>
            </a:extLst>
          </p:cNvPr>
          <p:cNvCxnSpPr>
            <a:cxnSpLocks/>
            <a:stCxn id="59" idx="2"/>
          </p:cNvCxnSpPr>
          <p:nvPr/>
        </p:nvCxnSpPr>
        <p:spPr bwMode="gray">
          <a:xfrm rot="16200000" flipH="1">
            <a:off x="3212060" y="2865168"/>
            <a:ext cx="635510" cy="474818"/>
          </a:xfrm>
          <a:prstGeom prst="bentConnector3">
            <a:avLst>
              <a:gd name="adj1" fmla="val 50000"/>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a:extLst>
              <a:ext uri="{FF2B5EF4-FFF2-40B4-BE49-F238E27FC236}">
                <a16:creationId xmlns:a16="http://schemas.microsoft.com/office/drawing/2014/main" id="{99740349-DE65-75E9-EDF5-594218D34AA6}"/>
              </a:ext>
            </a:extLst>
          </p:cNvPr>
          <p:cNvCxnSpPr>
            <a:cxnSpLocks/>
            <a:stCxn id="59" idx="3"/>
          </p:cNvCxnSpPr>
          <p:nvPr/>
        </p:nvCxnSpPr>
        <p:spPr bwMode="gray">
          <a:xfrm>
            <a:off x="3652406" y="2424822"/>
            <a:ext cx="1020568" cy="1004178"/>
          </a:xfrm>
          <a:prstGeom prst="bentConnector3">
            <a:avLst>
              <a:gd name="adj1" fmla="val 100097"/>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9888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06C645-8D31-3CA2-89E9-52A3916987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B383F7-AD58-69BE-CB98-353CC802B6DB}"/>
              </a:ext>
            </a:extLst>
          </p:cNvPr>
          <p:cNvSpPr>
            <a:spLocks noGrp="1"/>
          </p:cNvSpPr>
          <p:nvPr>
            <p:ph type="title"/>
          </p:nvPr>
        </p:nvSpPr>
        <p:spPr/>
        <p:txBody>
          <a:bodyPr/>
          <a:lstStyle/>
          <a:p>
            <a:r>
              <a:rPr lang="en-US" dirty="0"/>
              <a:t>VM Service</a:t>
            </a:r>
          </a:p>
        </p:txBody>
      </p:sp>
      <p:sp>
        <p:nvSpPr>
          <p:cNvPr id="3" name="Subtitle 2">
            <a:extLst>
              <a:ext uri="{FF2B5EF4-FFF2-40B4-BE49-F238E27FC236}">
                <a16:creationId xmlns:a16="http://schemas.microsoft.com/office/drawing/2014/main" id="{1866A6A2-2AE1-F5CC-DD67-77B3AF5E376D}"/>
              </a:ext>
            </a:extLst>
          </p:cNvPr>
          <p:cNvSpPr>
            <a:spLocks noGrp="1"/>
          </p:cNvSpPr>
          <p:nvPr>
            <p:ph type="subTitle" idx="10"/>
          </p:nvPr>
        </p:nvSpPr>
        <p:spPr/>
        <p:txBody>
          <a:bodyPr/>
          <a:lstStyle/>
          <a:p>
            <a:r>
              <a:rPr lang="en-US" dirty="0"/>
              <a:t>Deploy declaratively defined Virtual Machines</a:t>
            </a:r>
          </a:p>
          <a:p>
            <a:endParaRPr lang="en-US" dirty="0"/>
          </a:p>
        </p:txBody>
      </p:sp>
      <p:sp>
        <p:nvSpPr>
          <p:cNvPr id="93" name="Rectangle: Rounded Corners 121">
            <a:extLst>
              <a:ext uri="{FF2B5EF4-FFF2-40B4-BE49-F238E27FC236}">
                <a16:creationId xmlns:a16="http://schemas.microsoft.com/office/drawing/2014/main" id="{46C5434A-5F61-B6FD-D970-70675375337B}"/>
              </a:ext>
            </a:extLst>
          </p:cNvPr>
          <p:cNvSpPr/>
          <p:nvPr/>
        </p:nvSpPr>
        <p:spPr>
          <a:xfrm>
            <a:off x="1413318" y="3025539"/>
            <a:ext cx="838270" cy="741471"/>
          </a:xfrm>
          <a:prstGeom prst="roundRect">
            <a:avLst>
              <a:gd name="adj" fmla="val 7399"/>
            </a:avLst>
          </a:prstGeom>
          <a:solidFill>
            <a:schemeClr val="bg1"/>
          </a:solidFill>
          <a:ln w="1905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548640" rIns="91416" bIns="2743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a:ln>
                  <a:noFill/>
                </a:ln>
                <a:solidFill>
                  <a:srgbClr val="005C8A"/>
                </a:solidFill>
                <a:effectLst/>
                <a:uLnTx/>
                <a:uFillTx/>
                <a:latin typeface="Metropolis Semi Bold" panose="00000700000000000000" pitchFamily="2" charset="0"/>
                <a:ea typeface="+mn-ea"/>
                <a:cs typeface="+mn-cs"/>
              </a:rPr>
              <a:t>VM</a:t>
            </a:r>
          </a:p>
        </p:txBody>
      </p:sp>
      <p:grpSp>
        <p:nvGrpSpPr>
          <p:cNvPr id="133" name="Group 132">
            <a:extLst>
              <a:ext uri="{FF2B5EF4-FFF2-40B4-BE49-F238E27FC236}">
                <a16:creationId xmlns:a16="http://schemas.microsoft.com/office/drawing/2014/main" id="{877AF547-2AEC-DD0D-3730-C8501F8408DC}"/>
              </a:ext>
              <a:ext uri="{C183D7F6-B498-43B3-948B-1728B52AA6E4}">
                <adec:decorative xmlns:adec="http://schemas.microsoft.com/office/drawing/2017/decorative" val="1"/>
              </a:ext>
            </a:extLst>
          </p:cNvPr>
          <p:cNvGrpSpPr/>
          <p:nvPr/>
        </p:nvGrpSpPr>
        <p:grpSpPr>
          <a:xfrm>
            <a:off x="1683583" y="3149176"/>
            <a:ext cx="297739" cy="292247"/>
            <a:chOff x="1465490" y="3219301"/>
            <a:chExt cx="438300" cy="438301"/>
          </a:xfrm>
        </p:grpSpPr>
        <p:sp>
          <p:nvSpPr>
            <p:cNvPr id="134" name="Oval 133">
              <a:extLst>
                <a:ext uri="{FF2B5EF4-FFF2-40B4-BE49-F238E27FC236}">
                  <a16:creationId xmlns:a16="http://schemas.microsoft.com/office/drawing/2014/main" id="{283B6C10-1D35-887E-91F1-157C829D0DEC}"/>
                </a:ext>
              </a:extLst>
            </p:cNvPr>
            <p:cNvSpPr/>
            <p:nvPr/>
          </p:nvSpPr>
          <p:spPr>
            <a:xfrm>
              <a:off x="1465490" y="3219301"/>
              <a:ext cx="438300" cy="438301"/>
            </a:xfrm>
            <a:prstGeom prst="ellipse">
              <a:avLst/>
            </a:prstGeom>
            <a:noFill/>
            <a:ln w="9138">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7719" tIns="43860" rIns="87719" bIns="438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36" name="Graphic 1">
              <a:extLst>
                <a:ext uri="{FF2B5EF4-FFF2-40B4-BE49-F238E27FC236}">
                  <a16:creationId xmlns:a16="http://schemas.microsoft.com/office/drawing/2014/main" id="{01E4E59D-F909-BB6C-05A1-2FC070B9F082}"/>
                </a:ext>
              </a:extLst>
            </p:cNvPr>
            <p:cNvGrpSpPr/>
            <p:nvPr/>
          </p:nvGrpSpPr>
          <p:grpSpPr>
            <a:xfrm>
              <a:off x="1561461" y="3315270"/>
              <a:ext cx="245369" cy="245370"/>
              <a:chOff x="979296" y="1541158"/>
              <a:chExt cx="1054511" cy="1054515"/>
            </a:xfrm>
            <a:solidFill>
              <a:schemeClr val="tx2"/>
            </a:solidFill>
          </p:grpSpPr>
          <p:sp>
            <p:nvSpPr>
              <p:cNvPr id="137" name="Freeform: Shape 815">
                <a:extLst>
                  <a:ext uri="{FF2B5EF4-FFF2-40B4-BE49-F238E27FC236}">
                    <a16:creationId xmlns:a16="http://schemas.microsoft.com/office/drawing/2014/main" id="{D110CB3D-0FAC-16A9-138E-293E857890CE}"/>
                  </a:ext>
                </a:extLst>
              </p:cNvPr>
              <p:cNvSpPr/>
              <p:nvPr/>
            </p:nvSpPr>
            <p:spPr>
              <a:xfrm>
                <a:off x="979296" y="1541158"/>
                <a:ext cx="1054511" cy="1054515"/>
              </a:xfrm>
              <a:custGeom>
                <a:avLst/>
                <a:gdLst>
                  <a:gd name="connsiteX0" fmla="*/ 904147 w 1054510"/>
                  <a:gd name="connsiteY0" fmla="*/ 1054511 h 1054510"/>
                  <a:gd name="connsiteX1" fmla="*/ 0 w 1054510"/>
                  <a:gd name="connsiteY1" fmla="*/ 1054511 h 1054510"/>
                  <a:gd name="connsiteX2" fmla="*/ 0 w 1054510"/>
                  <a:gd name="connsiteY2" fmla="*/ 0 h 1054510"/>
                  <a:gd name="connsiteX3" fmla="*/ 1054511 w 1054510"/>
                  <a:gd name="connsiteY3" fmla="*/ 0 h 1054510"/>
                  <a:gd name="connsiteX4" fmla="*/ 1054511 w 1054510"/>
                  <a:gd name="connsiteY4" fmla="*/ 1045460 h 1054510"/>
                  <a:gd name="connsiteX5" fmla="*/ 1026760 w 1054510"/>
                  <a:gd name="connsiteY5" fmla="*/ 1045460 h 1054510"/>
                  <a:gd name="connsiteX6" fmla="*/ 1026760 w 1054510"/>
                  <a:gd name="connsiteY6" fmla="*/ 27750 h 1054510"/>
                  <a:gd name="connsiteX7" fmla="*/ 27750 w 1054510"/>
                  <a:gd name="connsiteY7" fmla="*/ 27750 h 1054510"/>
                  <a:gd name="connsiteX8" fmla="*/ 27750 w 1054510"/>
                  <a:gd name="connsiteY8" fmla="*/ 1026760 h 1054510"/>
                  <a:gd name="connsiteX9" fmla="*/ 904147 w 1054510"/>
                  <a:gd name="connsiteY9" fmla="*/ 1026760 h 105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510" h="105451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38" name="Graphic 1">
                <a:extLst>
                  <a:ext uri="{FF2B5EF4-FFF2-40B4-BE49-F238E27FC236}">
                    <a16:creationId xmlns:a16="http://schemas.microsoft.com/office/drawing/2014/main" id="{3AE692B1-D7FF-82B4-905E-97E58E92B2E6}"/>
                  </a:ext>
                </a:extLst>
              </p:cNvPr>
              <p:cNvGrpSpPr/>
              <p:nvPr/>
            </p:nvGrpSpPr>
            <p:grpSpPr>
              <a:xfrm>
                <a:off x="1296246" y="2002748"/>
                <a:ext cx="390297" cy="146863"/>
                <a:chOff x="1296246" y="2002748"/>
                <a:chExt cx="390297" cy="146863"/>
              </a:xfrm>
              <a:grpFill/>
            </p:grpSpPr>
            <p:sp>
              <p:nvSpPr>
                <p:cNvPr id="157" name="Freeform: Shape 817">
                  <a:extLst>
                    <a:ext uri="{FF2B5EF4-FFF2-40B4-BE49-F238E27FC236}">
                      <a16:creationId xmlns:a16="http://schemas.microsoft.com/office/drawing/2014/main" id="{3F9BCC4F-2D33-5687-74C2-1EE4A244773A}"/>
                    </a:ext>
                  </a:extLst>
                </p:cNvPr>
                <p:cNvSpPr/>
                <p:nvPr/>
              </p:nvSpPr>
              <p:spPr>
                <a:xfrm>
                  <a:off x="1296246" y="2006164"/>
                  <a:ext cx="141227" cy="143447"/>
                </a:xfrm>
                <a:custGeom>
                  <a:avLst/>
                  <a:gdLst>
                    <a:gd name="connsiteX0" fmla="*/ 0 w 141227"/>
                    <a:gd name="connsiteY0" fmla="*/ 0 h 143447"/>
                    <a:gd name="connsiteX1" fmla="*/ 23310 w 141227"/>
                    <a:gd name="connsiteY1" fmla="*/ 0 h 143447"/>
                    <a:gd name="connsiteX2" fmla="*/ 71041 w 141227"/>
                    <a:gd name="connsiteY2" fmla="*/ 119027 h 143447"/>
                    <a:gd name="connsiteX3" fmla="*/ 117917 w 141227"/>
                    <a:gd name="connsiteY3" fmla="*/ 0 h 143447"/>
                    <a:gd name="connsiteX4" fmla="*/ 141228 w 141227"/>
                    <a:gd name="connsiteY4" fmla="*/ 0 h 143447"/>
                    <a:gd name="connsiteX5" fmla="*/ 81031 w 141227"/>
                    <a:gd name="connsiteY5" fmla="*/ 143448 h 143447"/>
                    <a:gd name="connsiteX6" fmla="*/ 61051 w 141227"/>
                    <a:gd name="connsiteY6" fmla="*/ 143448 h 143447"/>
                    <a:gd name="connsiteX7" fmla="*/ 0 w 141227"/>
                    <a:gd name="connsiteY7" fmla="*/ 0 h 14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27" h="143447">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1" name="Freeform: Shape 818">
                  <a:extLst>
                    <a:ext uri="{FF2B5EF4-FFF2-40B4-BE49-F238E27FC236}">
                      <a16:creationId xmlns:a16="http://schemas.microsoft.com/office/drawing/2014/main" id="{B1D64E07-0F50-13E3-24CB-E93F13B1B2C0}"/>
                    </a:ext>
                  </a:extLst>
                </p:cNvPr>
                <p:cNvSpPr/>
                <p:nvPr/>
              </p:nvSpPr>
              <p:spPr>
                <a:xfrm>
                  <a:off x="1480252" y="2002748"/>
                  <a:ext cx="206291" cy="146863"/>
                </a:xfrm>
                <a:custGeom>
                  <a:avLst/>
                  <a:gdLst>
                    <a:gd name="connsiteX0" fmla="*/ 206291 w 206291"/>
                    <a:gd name="connsiteY0" fmla="*/ 55586 h 146863"/>
                    <a:gd name="connsiteX1" fmla="*/ 206291 w 206291"/>
                    <a:gd name="connsiteY1" fmla="*/ 146863 h 146863"/>
                    <a:gd name="connsiteX2" fmla="*/ 185457 w 206291"/>
                    <a:gd name="connsiteY2" fmla="*/ 146863 h 146863"/>
                    <a:gd name="connsiteX3" fmla="*/ 185457 w 206291"/>
                    <a:gd name="connsiteY3" fmla="*/ 58318 h 146863"/>
                    <a:gd name="connsiteX4" fmla="*/ 152413 w 206291"/>
                    <a:gd name="connsiteY4" fmla="*/ 18614 h 146863"/>
                    <a:gd name="connsiteX5" fmla="*/ 113563 w 206291"/>
                    <a:gd name="connsiteY5" fmla="*/ 55501 h 146863"/>
                    <a:gd name="connsiteX6" fmla="*/ 113563 w 206291"/>
                    <a:gd name="connsiteY6" fmla="*/ 146778 h 146863"/>
                    <a:gd name="connsiteX7" fmla="*/ 92729 w 206291"/>
                    <a:gd name="connsiteY7" fmla="*/ 146778 h 146863"/>
                    <a:gd name="connsiteX8" fmla="*/ 92729 w 206291"/>
                    <a:gd name="connsiteY8" fmla="*/ 58318 h 146863"/>
                    <a:gd name="connsiteX9" fmla="*/ 59685 w 206291"/>
                    <a:gd name="connsiteY9" fmla="*/ 18614 h 146863"/>
                    <a:gd name="connsiteX10" fmla="*/ 20834 w 206291"/>
                    <a:gd name="connsiteY10" fmla="*/ 55501 h 146863"/>
                    <a:gd name="connsiteX11" fmla="*/ 20834 w 206291"/>
                    <a:gd name="connsiteY11" fmla="*/ 146778 h 146863"/>
                    <a:gd name="connsiteX12" fmla="*/ 0 w 206291"/>
                    <a:gd name="connsiteY12" fmla="*/ 146778 h 146863"/>
                    <a:gd name="connsiteX13" fmla="*/ 0 w 206291"/>
                    <a:gd name="connsiteY13" fmla="*/ 3330 h 146863"/>
                    <a:gd name="connsiteX14" fmla="*/ 20834 w 206291"/>
                    <a:gd name="connsiteY14" fmla="*/ 3330 h 146863"/>
                    <a:gd name="connsiteX15" fmla="*/ 20834 w 206291"/>
                    <a:gd name="connsiteY15" fmla="*/ 24420 h 146863"/>
                    <a:gd name="connsiteX16" fmla="*/ 62417 w 206291"/>
                    <a:gd name="connsiteY16" fmla="*/ 0 h 146863"/>
                    <a:gd name="connsiteX17" fmla="*/ 108781 w 206291"/>
                    <a:gd name="connsiteY17" fmla="*/ 30483 h 146863"/>
                    <a:gd name="connsiteX18" fmla="*/ 155145 w 206291"/>
                    <a:gd name="connsiteY18" fmla="*/ 0 h 146863"/>
                    <a:gd name="connsiteX19" fmla="*/ 206291 w 206291"/>
                    <a:gd name="connsiteY19" fmla="*/ 55586 h 1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6291" h="146863">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grpSp>
        <p:nvGrpSpPr>
          <p:cNvPr id="164" name="Group 163">
            <a:extLst>
              <a:ext uri="{FF2B5EF4-FFF2-40B4-BE49-F238E27FC236}">
                <a16:creationId xmlns:a16="http://schemas.microsoft.com/office/drawing/2014/main" id="{BAE86E77-65DA-71CC-EE9E-5370E74445DD}"/>
              </a:ext>
            </a:extLst>
          </p:cNvPr>
          <p:cNvGrpSpPr/>
          <p:nvPr/>
        </p:nvGrpSpPr>
        <p:grpSpPr>
          <a:xfrm>
            <a:off x="2895186" y="1581204"/>
            <a:ext cx="793590" cy="794657"/>
            <a:chOff x="7025267" y="1600200"/>
            <a:chExt cx="1237269" cy="1237269"/>
          </a:xfrm>
        </p:grpSpPr>
        <p:sp>
          <p:nvSpPr>
            <p:cNvPr id="165" name="Freeform: Shape 82">
              <a:extLst>
                <a:ext uri="{FF2B5EF4-FFF2-40B4-BE49-F238E27FC236}">
                  <a16:creationId xmlns:a16="http://schemas.microsoft.com/office/drawing/2014/main" id="{B121F4AC-127F-9C82-1931-E46FD2AA8A08}"/>
                </a:ext>
              </a:extLst>
            </p:cNvPr>
            <p:cNvSpPr/>
            <p:nvPr/>
          </p:nvSpPr>
          <p:spPr>
            <a:xfrm>
              <a:off x="7025267" y="1600200"/>
              <a:ext cx="1237269" cy="1237269"/>
            </a:xfrm>
            <a:custGeom>
              <a:avLst/>
              <a:gdLst>
                <a:gd name="connsiteX0" fmla="*/ 619503 w 1237269"/>
                <a:gd name="connsiteY0" fmla="*/ 0 h 1237269"/>
                <a:gd name="connsiteX1" fmla="*/ 1237270 w 1237269"/>
                <a:gd name="connsiteY1" fmla="*/ 617767 h 1237269"/>
                <a:gd name="connsiteX2" fmla="*/ 1237270 w 1237269"/>
                <a:gd name="connsiteY2" fmla="*/ 619503 h 1237269"/>
                <a:gd name="connsiteX3" fmla="*/ 619503 w 1237269"/>
                <a:gd name="connsiteY3" fmla="*/ 1237270 h 1237269"/>
                <a:gd name="connsiteX4" fmla="*/ 617767 w 1237269"/>
                <a:gd name="connsiteY4" fmla="*/ 1237270 h 1237269"/>
                <a:gd name="connsiteX5" fmla="*/ 0 w 1237269"/>
                <a:gd name="connsiteY5" fmla="*/ 619503 h 1237269"/>
                <a:gd name="connsiteX6" fmla="*/ 0 w 1237269"/>
                <a:gd name="connsiteY6" fmla="*/ 617767 h 1237269"/>
                <a:gd name="connsiteX7" fmla="*/ 617767 w 1237269"/>
                <a:gd name="connsiteY7" fmla="*/ 0 h 123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269" h="1237269">
                  <a:moveTo>
                    <a:pt x="619503" y="0"/>
                  </a:moveTo>
                  <a:cubicBezTo>
                    <a:pt x="960686" y="0"/>
                    <a:pt x="1237270" y="276584"/>
                    <a:pt x="1237270" y="617767"/>
                  </a:cubicBezTo>
                  <a:lnTo>
                    <a:pt x="1237270" y="619503"/>
                  </a:lnTo>
                  <a:cubicBezTo>
                    <a:pt x="1237270" y="960686"/>
                    <a:pt x="960686" y="1237270"/>
                    <a:pt x="619503" y="1237270"/>
                  </a:cubicBezTo>
                  <a:lnTo>
                    <a:pt x="617767" y="1237270"/>
                  </a:lnTo>
                  <a:cubicBezTo>
                    <a:pt x="276584" y="1237270"/>
                    <a:pt x="0" y="960686"/>
                    <a:pt x="0" y="619503"/>
                  </a:cubicBezTo>
                  <a:lnTo>
                    <a:pt x="0" y="617767"/>
                  </a:lnTo>
                  <a:cubicBezTo>
                    <a:pt x="0" y="276584"/>
                    <a:pt x="276584" y="0"/>
                    <a:pt x="617767" y="0"/>
                  </a:cubicBezTo>
                  <a:close/>
                </a:path>
              </a:pathLst>
            </a:custGeom>
            <a:solidFill>
              <a:schemeClr val="accent5"/>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6" name="Freeform: Shape 83">
              <a:extLst>
                <a:ext uri="{FF2B5EF4-FFF2-40B4-BE49-F238E27FC236}">
                  <a16:creationId xmlns:a16="http://schemas.microsoft.com/office/drawing/2014/main" id="{3E66EEFD-4068-E40D-D741-AEFA3B1CB132}"/>
                </a:ext>
              </a:extLst>
            </p:cNvPr>
            <p:cNvSpPr>
              <a:spLocks/>
            </p:cNvSpPr>
            <p:nvPr/>
          </p:nvSpPr>
          <p:spPr>
            <a:xfrm>
              <a:off x="7252591" y="1829259"/>
              <a:ext cx="780885" cy="779150"/>
            </a:xfrm>
            <a:custGeom>
              <a:avLst/>
              <a:gdLst>
                <a:gd name="connsiteX0" fmla="*/ 1267496 w 1371600"/>
                <a:gd name="connsiteY0" fmla="*/ 1204265 h 1371326"/>
                <a:gd name="connsiteX1" fmla="*/ 1204539 w 1371600"/>
                <a:gd name="connsiteY1" fmla="*/ 1267221 h 1371326"/>
                <a:gd name="connsiteX2" fmla="*/ 1267496 w 1371600"/>
                <a:gd name="connsiteY2" fmla="*/ 1330178 h 1371326"/>
                <a:gd name="connsiteX3" fmla="*/ 1330452 w 1371600"/>
                <a:gd name="connsiteY3" fmla="*/ 1267221 h 1371326"/>
                <a:gd name="connsiteX4" fmla="*/ 1267496 w 1371600"/>
                <a:gd name="connsiteY4" fmla="*/ 1204265 h 1371326"/>
                <a:gd name="connsiteX5" fmla="*/ 685800 w 1371600"/>
                <a:gd name="connsiteY5" fmla="*/ 1204265 h 1371326"/>
                <a:gd name="connsiteX6" fmla="*/ 622844 w 1371600"/>
                <a:gd name="connsiteY6" fmla="*/ 1267221 h 1371326"/>
                <a:gd name="connsiteX7" fmla="*/ 685800 w 1371600"/>
                <a:gd name="connsiteY7" fmla="*/ 1330178 h 1371326"/>
                <a:gd name="connsiteX8" fmla="*/ 748756 w 1371600"/>
                <a:gd name="connsiteY8" fmla="*/ 1267221 h 1371326"/>
                <a:gd name="connsiteX9" fmla="*/ 685800 w 1371600"/>
                <a:gd name="connsiteY9" fmla="*/ 1204265 h 1371326"/>
                <a:gd name="connsiteX10" fmla="*/ 104104 w 1371600"/>
                <a:gd name="connsiteY10" fmla="*/ 1204265 h 1371326"/>
                <a:gd name="connsiteX11" fmla="*/ 41148 w 1371600"/>
                <a:gd name="connsiteY11" fmla="*/ 1267221 h 1371326"/>
                <a:gd name="connsiteX12" fmla="*/ 104104 w 1371600"/>
                <a:gd name="connsiteY12" fmla="*/ 1330178 h 1371326"/>
                <a:gd name="connsiteX13" fmla="*/ 167061 w 1371600"/>
                <a:gd name="connsiteY13" fmla="*/ 1267221 h 1371326"/>
                <a:gd name="connsiteX14" fmla="*/ 104104 w 1371600"/>
                <a:gd name="connsiteY14" fmla="*/ 1204265 h 1371326"/>
                <a:gd name="connsiteX15" fmla="*/ 691560 w 1371600"/>
                <a:gd name="connsiteY15" fmla="*/ 581421 h 1371326"/>
                <a:gd name="connsiteX16" fmla="*/ 691560 w 1371600"/>
                <a:gd name="connsiteY16" fmla="*/ 780578 h 1371326"/>
                <a:gd name="connsiteX17" fmla="*/ 727496 w 1371600"/>
                <a:gd name="connsiteY17" fmla="*/ 780578 h 1371326"/>
                <a:gd name="connsiteX18" fmla="*/ 727496 w 1371600"/>
                <a:gd name="connsiteY18" fmla="*/ 647532 h 1371326"/>
                <a:gd name="connsiteX19" fmla="*/ 793196 w 1371600"/>
                <a:gd name="connsiteY19" fmla="*/ 768919 h 1371326"/>
                <a:gd name="connsiteX20" fmla="*/ 858621 w 1371600"/>
                <a:gd name="connsiteY20" fmla="*/ 647532 h 1371326"/>
                <a:gd name="connsiteX21" fmla="*/ 858621 w 1371600"/>
                <a:gd name="connsiteY21" fmla="*/ 780578 h 1371326"/>
                <a:gd name="connsiteX22" fmla="*/ 894832 w 1371600"/>
                <a:gd name="connsiteY22" fmla="*/ 780578 h 1371326"/>
                <a:gd name="connsiteX23" fmla="*/ 894832 w 1371600"/>
                <a:gd name="connsiteY23" fmla="*/ 581421 h 1371326"/>
                <a:gd name="connsiteX24" fmla="*/ 858621 w 1371600"/>
                <a:gd name="connsiteY24" fmla="*/ 581421 h 1371326"/>
                <a:gd name="connsiteX25" fmla="*/ 793196 w 1371600"/>
                <a:gd name="connsiteY25" fmla="*/ 702808 h 1371326"/>
                <a:gd name="connsiteX26" fmla="*/ 727496 w 1371600"/>
                <a:gd name="connsiteY26" fmla="*/ 581421 h 1371326"/>
                <a:gd name="connsiteX27" fmla="*/ 449199 w 1371600"/>
                <a:gd name="connsiteY27" fmla="*/ 581421 h 1371326"/>
                <a:gd name="connsiteX28" fmla="*/ 532455 w 1371600"/>
                <a:gd name="connsiteY28" fmla="*/ 780578 h 1371326"/>
                <a:gd name="connsiteX29" fmla="*/ 572917 w 1371600"/>
                <a:gd name="connsiteY29" fmla="*/ 780578 h 1371326"/>
                <a:gd name="connsiteX30" fmla="*/ 655899 w 1371600"/>
                <a:gd name="connsiteY30" fmla="*/ 581421 h 1371326"/>
                <a:gd name="connsiteX31" fmla="*/ 616122 w 1371600"/>
                <a:gd name="connsiteY31" fmla="*/ 581421 h 1371326"/>
                <a:gd name="connsiteX32" fmla="*/ 552755 w 1371600"/>
                <a:gd name="connsiteY32" fmla="*/ 732434 h 1371326"/>
                <a:gd name="connsiteX33" fmla="*/ 489387 w 1371600"/>
                <a:gd name="connsiteY33" fmla="*/ 581421 h 1371326"/>
                <a:gd name="connsiteX34" fmla="*/ 415732 w 1371600"/>
                <a:gd name="connsiteY34" fmla="*/ 345506 h 1371326"/>
                <a:gd name="connsiteX35" fmla="*/ 955868 w 1371600"/>
                <a:gd name="connsiteY35" fmla="*/ 345506 h 1371326"/>
                <a:gd name="connsiteX36" fmla="*/ 955868 w 1371600"/>
                <a:gd name="connsiteY36" fmla="*/ 345643 h 1371326"/>
                <a:gd name="connsiteX37" fmla="*/ 1023351 w 1371600"/>
                <a:gd name="connsiteY37" fmla="*/ 413126 h 1371326"/>
                <a:gd name="connsiteX38" fmla="*/ 1023351 w 1371600"/>
                <a:gd name="connsiteY38" fmla="*/ 953125 h 1371326"/>
                <a:gd name="connsiteX39" fmla="*/ 955868 w 1371600"/>
                <a:gd name="connsiteY39" fmla="*/ 1020608 h 1371326"/>
                <a:gd name="connsiteX40" fmla="*/ 415732 w 1371600"/>
                <a:gd name="connsiteY40" fmla="*/ 1020608 h 1371326"/>
                <a:gd name="connsiteX41" fmla="*/ 348249 w 1371600"/>
                <a:gd name="connsiteY41" fmla="*/ 953125 h 1371326"/>
                <a:gd name="connsiteX42" fmla="*/ 348249 w 1371600"/>
                <a:gd name="connsiteY42" fmla="*/ 412989 h 1371326"/>
                <a:gd name="connsiteX43" fmla="*/ 415732 w 1371600"/>
                <a:gd name="connsiteY43" fmla="*/ 345506 h 1371326"/>
                <a:gd name="connsiteX44" fmla="*/ 205603 w 1371600"/>
                <a:gd name="connsiteY44" fmla="*/ 117820 h 1371326"/>
                <a:gd name="connsiteX45" fmla="*/ 190104 w 1371600"/>
                <a:gd name="connsiteY45" fmla="*/ 159654 h 1371326"/>
                <a:gd name="connsiteX46" fmla="*/ 352090 w 1371600"/>
                <a:gd name="connsiteY46" fmla="*/ 321777 h 1371326"/>
                <a:gd name="connsiteX47" fmla="*/ 323012 w 1371600"/>
                <a:gd name="connsiteY47" fmla="*/ 350855 h 1371326"/>
                <a:gd name="connsiteX48" fmla="*/ 161300 w 1371600"/>
                <a:gd name="connsiteY48" fmla="*/ 189006 h 1371326"/>
                <a:gd name="connsiteX49" fmla="*/ 121524 w 1371600"/>
                <a:gd name="connsiteY49" fmla="*/ 204780 h 1371326"/>
                <a:gd name="connsiteX50" fmla="*/ 121524 w 1371600"/>
                <a:gd name="connsiteY50" fmla="*/ 1166409 h 1371326"/>
                <a:gd name="connsiteX51" fmla="*/ 160752 w 1371600"/>
                <a:gd name="connsiteY51" fmla="*/ 1181908 h 1371326"/>
                <a:gd name="connsiteX52" fmla="*/ 326304 w 1371600"/>
                <a:gd name="connsiteY52" fmla="*/ 1016218 h 1371326"/>
                <a:gd name="connsiteX53" fmla="*/ 355382 w 1371600"/>
                <a:gd name="connsiteY53" fmla="*/ 1045296 h 1371326"/>
                <a:gd name="connsiteX54" fmla="*/ 189692 w 1371600"/>
                <a:gd name="connsiteY54" fmla="*/ 1211123 h 1371326"/>
                <a:gd name="connsiteX55" fmla="*/ 205466 w 1371600"/>
                <a:gd name="connsiteY55" fmla="*/ 1253505 h 1371326"/>
                <a:gd name="connsiteX56" fmla="*/ 205466 w 1371600"/>
                <a:gd name="connsiteY56" fmla="*/ 1251997 h 1371326"/>
                <a:gd name="connsiteX57" fmla="*/ 584713 w 1371600"/>
                <a:gd name="connsiteY57" fmla="*/ 1251997 h 1371326"/>
                <a:gd name="connsiteX58" fmla="*/ 667009 w 1371600"/>
                <a:gd name="connsiteY58" fmla="*/ 1166820 h 1371326"/>
                <a:gd name="connsiteX59" fmla="*/ 667009 w 1371600"/>
                <a:gd name="connsiteY59" fmla="*/ 1061756 h 1371326"/>
                <a:gd name="connsiteX60" fmla="*/ 708020 w 1371600"/>
                <a:gd name="connsiteY60" fmla="*/ 1061756 h 1371326"/>
                <a:gd name="connsiteX61" fmla="*/ 708020 w 1371600"/>
                <a:gd name="connsiteY61" fmla="*/ 1167506 h 1371326"/>
                <a:gd name="connsiteX62" fmla="*/ 786750 w 1371600"/>
                <a:gd name="connsiteY62" fmla="*/ 1251997 h 1371326"/>
                <a:gd name="connsiteX63" fmla="*/ 1166409 w 1371600"/>
                <a:gd name="connsiteY63" fmla="*/ 1251997 h 1371326"/>
                <a:gd name="connsiteX64" fmla="*/ 1181908 w 1371600"/>
                <a:gd name="connsiteY64" fmla="*/ 1211260 h 1371326"/>
                <a:gd name="connsiteX65" fmla="*/ 1182182 w 1371600"/>
                <a:gd name="connsiteY65" fmla="*/ 1211397 h 1371326"/>
                <a:gd name="connsiteX66" fmla="*/ 1016081 w 1371600"/>
                <a:gd name="connsiteY66" fmla="*/ 1044885 h 1371326"/>
                <a:gd name="connsiteX67" fmla="*/ 1045159 w 1371600"/>
                <a:gd name="connsiteY67" fmla="*/ 1015807 h 1371326"/>
                <a:gd name="connsiteX68" fmla="*/ 1211123 w 1371600"/>
                <a:gd name="connsiteY68" fmla="*/ 1182182 h 1371326"/>
                <a:gd name="connsiteX69" fmla="*/ 1249665 w 1371600"/>
                <a:gd name="connsiteY69" fmla="*/ 1166820 h 1371326"/>
                <a:gd name="connsiteX70" fmla="*/ 1249665 w 1371600"/>
                <a:gd name="connsiteY70" fmla="*/ 204643 h 1371326"/>
                <a:gd name="connsiteX71" fmla="*/ 1210711 w 1371600"/>
                <a:gd name="connsiteY71" fmla="*/ 189006 h 1371326"/>
                <a:gd name="connsiteX72" fmla="*/ 1048314 w 1371600"/>
                <a:gd name="connsiteY72" fmla="*/ 351678 h 1371326"/>
                <a:gd name="connsiteX73" fmla="*/ 1019236 w 1371600"/>
                <a:gd name="connsiteY73" fmla="*/ 322600 h 1371326"/>
                <a:gd name="connsiteX74" fmla="*/ 1181771 w 1371600"/>
                <a:gd name="connsiteY74" fmla="*/ 159654 h 1371326"/>
                <a:gd name="connsiteX75" fmla="*/ 1166683 w 1371600"/>
                <a:gd name="connsiteY75" fmla="*/ 119466 h 1371326"/>
                <a:gd name="connsiteX76" fmla="*/ 787436 w 1371600"/>
                <a:gd name="connsiteY76" fmla="*/ 119466 h 1371326"/>
                <a:gd name="connsiteX77" fmla="*/ 708294 w 1371600"/>
                <a:gd name="connsiteY77" fmla="*/ 205603 h 1371326"/>
                <a:gd name="connsiteX78" fmla="*/ 708294 w 1371600"/>
                <a:gd name="connsiteY78" fmla="*/ 304358 h 1371326"/>
                <a:gd name="connsiteX79" fmla="*/ 667283 w 1371600"/>
                <a:gd name="connsiteY79" fmla="*/ 304358 h 1371326"/>
                <a:gd name="connsiteX80" fmla="*/ 667283 w 1371600"/>
                <a:gd name="connsiteY80" fmla="*/ 206289 h 1371326"/>
                <a:gd name="connsiteX81" fmla="*/ 584576 w 1371600"/>
                <a:gd name="connsiteY81" fmla="*/ 119466 h 1371326"/>
                <a:gd name="connsiteX82" fmla="*/ 205603 w 1371600"/>
                <a:gd name="connsiteY82" fmla="*/ 119466 h 1371326"/>
                <a:gd name="connsiteX83" fmla="*/ 685800 w 1371600"/>
                <a:gd name="connsiteY83" fmla="*/ 42931 h 1371326"/>
                <a:gd name="connsiteX84" fmla="*/ 622844 w 1371600"/>
                <a:gd name="connsiteY84" fmla="*/ 105888 h 1371326"/>
                <a:gd name="connsiteX85" fmla="*/ 685800 w 1371600"/>
                <a:gd name="connsiteY85" fmla="*/ 168844 h 1371326"/>
                <a:gd name="connsiteX86" fmla="*/ 748756 w 1371600"/>
                <a:gd name="connsiteY86" fmla="*/ 105888 h 1371326"/>
                <a:gd name="connsiteX87" fmla="*/ 685800 w 1371600"/>
                <a:gd name="connsiteY87" fmla="*/ 42931 h 1371326"/>
                <a:gd name="connsiteX88" fmla="*/ 1267496 w 1371600"/>
                <a:gd name="connsiteY88" fmla="*/ 41148 h 1371326"/>
                <a:gd name="connsiteX89" fmla="*/ 1204539 w 1371600"/>
                <a:gd name="connsiteY89" fmla="*/ 104104 h 1371326"/>
                <a:gd name="connsiteX90" fmla="*/ 1267496 w 1371600"/>
                <a:gd name="connsiteY90" fmla="*/ 167061 h 1371326"/>
                <a:gd name="connsiteX91" fmla="*/ 1330452 w 1371600"/>
                <a:gd name="connsiteY91" fmla="*/ 104104 h 1371326"/>
                <a:gd name="connsiteX92" fmla="*/ 1267496 w 1371600"/>
                <a:gd name="connsiteY92" fmla="*/ 41148 h 1371326"/>
                <a:gd name="connsiteX93" fmla="*/ 104104 w 1371600"/>
                <a:gd name="connsiteY93" fmla="*/ 41148 h 1371326"/>
                <a:gd name="connsiteX94" fmla="*/ 41148 w 1371600"/>
                <a:gd name="connsiteY94" fmla="*/ 104104 h 1371326"/>
                <a:gd name="connsiteX95" fmla="*/ 104104 w 1371600"/>
                <a:gd name="connsiteY95" fmla="*/ 167061 h 1371326"/>
                <a:gd name="connsiteX96" fmla="*/ 167061 w 1371600"/>
                <a:gd name="connsiteY96" fmla="*/ 104104 h 1371326"/>
                <a:gd name="connsiteX97" fmla="*/ 104104 w 1371600"/>
                <a:gd name="connsiteY97" fmla="*/ 41148 h 1371326"/>
                <a:gd name="connsiteX98" fmla="*/ 104104 w 1371600"/>
                <a:gd name="connsiteY98" fmla="*/ 0 h 1371326"/>
                <a:gd name="connsiteX99" fmla="*/ 205466 w 1371600"/>
                <a:gd name="connsiteY99" fmla="*/ 90526 h 1371326"/>
                <a:gd name="connsiteX100" fmla="*/ 205466 w 1371600"/>
                <a:gd name="connsiteY100" fmla="*/ 89017 h 1371326"/>
                <a:gd name="connsiteX101" fmla="*/ 585262 w 1371600"/>
                <a:gd name="connsiteY101" fmla="*/ 89017 h 1371326"/>
                <a:gd name="connsiteX102" fmla="*/ 685937 w 1371600"/>
                <a:gd name="connsiteY102" fmla="*/ 1783 h 1371326"/>
                <a:gd name="connsiteX103" fmla="*/ 786613 w 1371600"/>
                <a:gd name="connsiteY103" fmla="*/ 89017 h 1371326"/>
                <a:gd name="connsiteX104" fmla="*/ 1166546 w 1371600"/>
                <a:gd name="connsiteY104" fmla="*/ 89017 h 1371326"/>
                <a:gd name="connsiteX105" fmla="*/ 1267496 w 1371600"/>
                <a:gd name="connsiteY105" fmla="*/ 0 h 1371326"/>
                <a:gd name="connsiteX106" fmla="*/ 1371600 w 1371600"/>
                <a:gd name="connsiteY106" fmla="*/ 104104 h 1371326"/>
                <a:gd name="connsiteX107" fmla="*/ 1279840 w 1371600"/>
                <a:gd name="connsiteY107" fmla="*/ 205740 h 1371326"/>
                <a:gd name="connsiteX108" fmla="*/ 1279840 w 1371600"/>
                <a:gd name="connsiteY108" fmla="*/ 1165586 h 1371326"/>
                <a:gd name="connsiteX109" fmla="*/ 1371600 w 1371600"/>
                <a:gd name="connsiteY109" fmla="*/ 1267221 h 1371326"/>
                <a:gd name="connsiteX110" fmla="*/ 1267496 w 1371600"/>
                <a:gd name="connsiteY110" fmla="*/ 1371326 h 1371326"/>
                <a:gd name="connsiteX111" fmla="*/ 1166546 w 1371600"/>
                <a:gd name="connsiteY111" fmla="*/ 1282446 h 1371326"/>
                <a:gd name="connsiteX112" fmla="*/ 786887 w 1371600"/>
                <a:gd name="connsiteY112" fmla="*/ 1282446 h 1371326"/>
                <a:gd name="connsiteX113" fmla="*/ 685800 w 1371600"/>
                <a:gd name="connsiteY113" fmla="*/ 1371326 h 1371326"/>
                <a:gd name="connsiteX114" fmla="*/ 584850 w 1371600"/>
                <a:gd name="connsiteY114" fmla="*/ 1282446 h 1371326"/>
                <a:gd name="connsiteX115" fmla="*/ 205466 w 1371600"/>
                <a:gd name="connsiteY115" fmla="*/ 1282446 h 1371326"/>
                <a:gd name="connsiteX116" fmla="*/ 205466 w 1371600"/>
                <a:gd name="connsiteY116" fmla="*/ 1280800 h 1371326"/>
                <a:gd name="connsiteX117" fmla="*/ 104104 w 1371600"/>
                <a:gd name="connsiteY117" fmla="*/ 1371326 h 1371326"/>
                <a:gd name="connsiteX118" fmla="*/ 0 w 1371600"/>
                <a:gd name="connsiteY118" fmla="*/ 1267221 h 1371326"/>
                <a:gd name="connsiteX119" fmla="*/ 90937 w 1371600"/>
                <a:gd name="connsiteY119" fmla="*/ 1165723 h 1371326"/>
                <a:gd name="connsiteX120" fmla="*/ 90937 w 1371600"/>
                <a:gd name="connsiteY120" fmla="*/ 205603 h 1371326"/>
                <a:gd name="connsiteX121" fmla="*/ 0 w 1371600"/>
                <a:gd name="connsiteY121" fmla="*/ 104104 h 1371326"/>
                <a:gd name="connsiteX122" fmla="*/ 104104 w 1371600"/>
                <a:gd name="connsiteY122" fmla="*/ 0 h 137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371600" h="1371326">
                  <a:moveTo>
                    <a:pt x="1267496" y="1204265"/>
                  </a:moveTo>
                  <a:cubicBezTo>
                    <a:pt x="1232794" y="1204265"/>
                    <a:pt x="1204539" y="1232520"/>
                    <a:pt x="1204539" y="1267221"/>
                  </a:cubicBezTo>
                  <a:cubicBezTo>
                    <a:pt x="1204539" y="1301923"/>
                    <a:pt x="1232794" y="1330178"/>
                    <a:pt x="1267496" y="1330178"/>
                  </a:cubicBezTo>
                  <a:cubicBezTo>
                    <a:pt x="1302197" y="1330178"/>
                    <a:pt x="1330452" y="1301923"/>
                    <a:pt x="1330452" y="1267221"/>
                  </a:cubicBezTo>
                  <a:cubicBezTo>
                    <a:pt x="1330452" y="1232520"/>
                    <a:pt x="1302197" y="1204265"/>
                    <a:pt x="1267496" y="1204265"/>
                  </a:cubicBezTo>
                  <a:close/>
                  <a:moveTo>
                    <a:pt x="685800" y="1204265"/>
                  </a:moveTo>
                  <a:cubicBezTo>
                    <a:pt x="651099" y="1204265"/>
                    <a:pt x="622844" y="1232520"/>
                    <a:pt x="622844" y="1267221"/>
                  </a:cubicBezTo>
                  <a:cubicBezTo>
                    <a:pt x="622844" y="1301923"/>
                    <a:pt x="651099" y="1330178"/>
                    <a:pt x="685800" y="1330178"/>
                  </a:cubicBezTo>
                  <a:cubicBezTo>
                    <a:pt x="720501" y="1330178"/>
                    <a:pt x="748756" y="1301923"/>
                    <a:pt x="748756" y="1267221"/>
                  </a:cubicBezTo>
                  <a:cubicBezTo>
                    <a:pt x="748756" y="1232520"/>
                    <a:pt x="720501" y="1204265"/>
                    <a:pt x="685800" y="1204265"/>
                  </a:cubicBezTo>
                  <a:close/>
                  <a:moveTo>
                    <a:pt x="104104" y="1204265"/>
                  </a:moveTo>
                  <a:cubicBezTo>
                    <a:pt x="69403" y="1204265"/>
                    <a:pt x="41148" y="1232520"/>
                    <a:pt x="41148" y="1267221"/>
                  </a:cubicBezTo>
                  <a:cubicBezTo>
                    <a:pt x="41148" y="1301923"/>
                    <a:pt x="69403" y="1330178"/>
                    <a:pt x="104104" y="1330178"/>
                  </a:cubicBezTo>
                  <a:cubicBezTo>
                    <a:pt x="138806" y="1330178"/>
                    <a:pt x="167061" y="1301923"/>
                    <a:pt x="167061" y="1267221"/>
                  </a:cubicBezTo>
                  <a:cubicBezTo>
                    <a:pt x="167061" y="1232520"/>
                    <a:pt x="138806" y="1204265"/>
                    <a:pt x="104104" y="1204265"/>
                  </a:cubicBezTo>
                  <a:close/>
                  <a:moveTo>
                    <a:pt x="691560" y="581421"/>
                  </a:moveTo>
                  <a:lnTo>
                    <a:pt x="691560" y="780578"/>
                  </a:lnTo>
                  <a:lnTo>
                    <a:pt x="727496" y="780578"/>
                  </a:lnTo>
                  <a:lnTo>
                    <a:pt x="727496" y="647532"/>
                  </a:lnTo>
                  <a:lnTo>
                    <a:pt x="793196" y="768919"/>
                  </a:lnTo>
                  <a:lnTo>
                    <a:pt x="858621" y="647532"/>
                  </a:lnTo>
                  <a:lnTo>
                    <a:pt x="858621" y="780578"/>
                  </a:lnTo>
                  <a:lnTo>
                    <a:pt x="894832" y="780578"/>
                  </a:lnTo>
                  <a:lnTo>
                    <a:pt x="894832" y="581421"/>
                  </a:lnTo>
                  <a:lnTo>
                    <a:pt x="858621" y="581421"/>
                  </a:lnTo>
                  <a:lnTo>
                    <a:pt x="793196" y="702808"/>
                  </a:lnTo>
                  <a:lnTo>
                    <a:pt x="727496" y="581421"/>
                  </a:lnTo>
                  <a:close/>
                  <a:moveTo>
                    <a:pt x="449199" y="581421"/>
                  </a:moveTo>
                  <a:lnTo>
                    <a:pt x="532455" y="780578"/>
                  </a:lnTo>
                  <a:lnTo>
                    <a:pt x="572917" y="780578"/>
                  </a:lnTo>
                  <a:lnTo>
                    <a:pt x="655899" y="581421"/>
                  </a:lnTo>
                  <a:lnTo>
                    <a:pt x="616122" y="581421"/>
                  </a:lnTo>
                  <a:lnTo>
                    <a:pt x="552755" y="732434"/>
                  </a:lnTo>
                  <a:lnTo>
                    <a:pt x="489387" y="581421"/>
                  </a:lnTo>
                  <a:close/>
                  <a:moveTo>
                    <a:pt x="415732" y="345506"/>
                  </a:moveTo>
                  <a:lnTo>
                    <a:pt x="955868" y="345506"/>
                  </a:lnTo>
                  <a:lnTo>
                    <a:pt x="955868" y="345643"/>
                  </a:lnTo>
                  <a:cubicBezTo>
                    <a:pt x="993175" y="345643"/>
                    <a:pt x="1023351" y="375818"/>
                    <a:pt x="1023351" y="413126"/>
                  </a:cubicBezTo>
                  <a:lnTo>
                    <a:pt x="1023351" y="953125"/>
                  </a:lnTo>
                  <a:cubicBezTo>
                    <a:pt x="1023351" y="990432"/>
                    <a:pt x="993175" y="1020608"/>
                    <a:pt x="955868" y="1020608"/>
                  </a:cubicBezTo>
                  <a:lnTo>
                    <a:pt x="415732" y="1020608"/>
                  </a:lnTo>
                  <a:cubicBezTo>
                    <a:pt x="378424" y="1020608"/>
                    <a:pt x="348249" y="990432"/>
                    <a:pt x="348249" y="953125"/>
                  </a:cubicBezTo>
                  <a:lnTo>
                    <a:pt x="348249" y="412989"/>
                  </a:lnTo>
                  <a:cubicBezTo>
                    <a:pt x="348249" y="375681"/>
                    <a:pt x="378424" y="345506"/>
                    <a:pt x="415732" y="345506"/>
                  </a:cubicBezTo>
                  <a:close/>
                  <a:moveTo>
                    <a:pt x="205603" y="117820"/>
                  </a:moveTo>
                  <a:cubicBezTo>
                    <a:pt x="203545" y="133320"/>
                    <a:pt x="198196" y="147173"/>
                    <a:pt x="190104" y="159654"/>
                  </a:cubicBezTo>
                  <a:lnTo>
                    <a:pt x="352090" y="321777"/>
                  </a:lnTo>
                  <a:lnTo>
                    <a:pt x="323012" y="350855"/>
                  </a:lnTo>
                  <a:lnTo>
                    <a:pt x="161300" y="189006"/>
                  </a:lnTo>
                  <a:cubicBezTo>
                    <a:pt x="149367" y="196962"/>
                    <a:pt x="136200" y="202174"/>
                    <a:pt x="121524" y="204780"/>
                  </a:cubicBezTo>
                  <a:lnTo>
                    <a:pt x="121524" y="1166409"/>
                  </a:lnTo>
                  <a:cubicBezTo>
                    <a:pt x="135926" y="1168878"/>
                    <a:pt x="148956" y="1174090"/>
                    <a:pt x="160752" y="1181908"/>
                  </a:cubicBezTo>
                  <a:lnTo>
                    <a:pt x="326304" y="1016218"/>
                  </a:lnTo>
                  <a:lnTo>
                    <a:pt x="355382" y="1045296"/>
                  </a:lnTo>
                  <a:lnTo>
                    <a:pt x="189692" y="1211123"/>
                  </a:lnTo>
                  <a:cubicBezTo>
                    <a:pt x="197922" y="1223742"/>
                    <a:pt x="203271" y="1237869"/>
                    <a:pt x="205466" y="1253505"/>
                  </a:cubicBezTo>
                  <a:lnTo>
                    <a:pt x="205466" y="1251997"/>
                  </a:lnTo>
                  <a:lnTo>
                    <a:pt x="584713" y="1251997"/>
                  </a:lnTo>
                  <a:cubicBezTo>
                    <a:pt x="591297" y="1208380"/>
                    <a:pt x="623804" y="1174913"/>
                    <a:pt x="667009" y="1166820"/>
                  </a:cubicBezTo>
                  <a:lnTo>
                    <a:pt x="667009" y="1061756"/>
                  </a:lnTo>
                  <a:lnTo>
                    <a:pt x="708020" y="1061756"/>
                  </a:lnTo>
                  <a:lnTo>
                    <a:pt x="708020" y="1167506"/>
                  </a:lnTo>
                  <a:cubicBezTo>
                    <a:pt x="749442" y="1176833"/>
                    <a:pt x="780303" y="1209614"/>
                    <a:pt x="786750" y="1251997"/>
                  </a:cubicBezTo>
                  <a:lnTo>
                    <a:pt x="1166409" y="1251997"/>
                  </a:lnTo>
                  <a:cubicBezTo>
                    <a:pt x="1168740" y="1236909"/>
                    <a:pt x="1173952" y="1223467"/>
                    <a:pt x="1181908" y="1211260"/>
                  </a:cubicBezTo>
                  <a:lnTo>
                    <a:pt x="1182182" y="1211397"/>
                  </a:lnTo>
                  <a:lnTo>
                    <a:pt x="1016081" y="1044885"/>
                  </a:lnTo>
                  <a:lnTo>
                    <a:pt x="1045159" y="1015807"/>
                  </a:lnTo>
                  <a:lnTo>
                    <a:pt x="1211123" y="1182182"/>
                  </a:lnTo>
                  <a:cubicBezTo>
                    <a:pt x="1222781" y="1174501"/>
                    <a:pt x="1235537" y="1169426"/>
                    <a:pt x="1249665" y="1166820"/>
                  </a:cubicBezTo>
                  <a:lnTo>
                    <a:pt x="1249665" y="204643"/>
                  </a:lnTo>
                  <a:cubicBezTo>
                    <a:pt x="1235263" y="202037"/>
                    <a:pt x="1222370" y="196825"/>
                    <a:pt x="1210711" y="189006"/>
                  </a:cubicBezTo>
                  <a:lnTo>
                    <a:pt x="1048314" y="351678"/>
                  </a:lnTo>
                  <a:lnTo>
                    <a:pt x="1019236" y="322600"/>
                  </a:lnTo>
                  <a:lnTo>
                    <a:pt x="1181771" y="159654"/>
                  </a:lnTo>
                  <a:cubicBezTo>
                    <a:pt x="1174090" y="147584"/>
                    <a:pt x="1169015" y="134280"/>
                    <a:pt x="1166683" y="119466"/>
                  </a:cubicBezTo>
                  <a:lnTo>
                    <a:pt x="787436" y="119466"/>
                  </a:lnTo>
                  <a:cubicBezTo>
                    <a:pt x="781538" y="162672"/>
                    <a:pt x="750265" y="196139"/>
                    <a:pt x="708294" y="205603"/>
                  </a:cubicBezTo>
                  <a:lnTo>
                    <a:pt x="708294" y="304358"/>
                  </a:lnTo>
                  <a:lnTo>
                    <a:pt x="667283" y="304358"/>
                  </a:lnTo>
                  <a:lnTo>
                    <a:pt x="667283" y="206289"/>
                  </a:lnTo>
                  <a:cubicBezTo>
                    <a:pt x="623529" y="198059"/>
                    <a:pt x="590611" y="163906"/>
                    <a:pt x="584576" y="119466"/>
                  </a:cubicBezTo>
                  <a:lnTo>
                    <a:pt x="205603" y="119466"/>
                  </a:lnTo>
                  <a:close/>
                  <a:moveTo>
                    <a:pt x="685800" y="42931"/>
                  </a:moveTo>
                  <a:cubicBezTo>
                    <a:pt x="651099" y="42931"/>
                    <a:pt x="622844" y="71186"/>
                    <a:pt x="622844" y="105888"/>
                  </a:cubicBezTo>
                  <a:cubicBezTo>
                    <a:pt x="622844" y="140589"/>
                    <a:pt x="651099" y="168844"/>
                    <a:pt x="685800" y="168844"/>
                  </a:cubicBezTo>
                  <a:cubicBezTo>
                    <a:pt x="720501" y="168844"/>
                    <a:pt x="748756" y="140589"/>
                    <a:pt x="748756" y="105888"/>
                  </a:cubicBezTo>
                  <a:cubicBezTo>
                    <a:pt x="748756" y="71186"/>
                    <a:pt x="720501" y="42931"/>
                    <a:pt x="685800" y="42931"/>
                  </a:cubicBezTo>
                  <a:close/>
                  <a:moveTo>
                    <a:pt x="1267496" y="41148"/>
                  </a:moveTo>
                  <a:cubicBezTo>
                    <a:pt x="1232794" y="41148"/>
                    <a:pt x="1204539" y="69403"/>
                    <a:pt x="1204539" y="104104"/>
                  </a:cubicBezTo>
                  <a:cubicBezTo>
                    <a:pt x="1204539" y="138806"/>
                    <a:pt x="1232794" y="167061"/>
                    <a:pt x="1267496" y="167061"/>
                  </a:cubicBezTo>
                  <a:cubicBezTo>
                    <a:pt x="1302197" y="167061"/>
                    <a:pt x="1330452" y="138806"/>
                    <a:pt x="1330452" y="104104"/>
                  </a:cubicBezTo>
                  <a:cubicBezTo>
                    <a:pt x="1330452" y="69403"/>
                    <a:pt x="1302197" y="41148"/>
                    <a:pt x="1267496" y="41148"/>
                  </a:cubicBezTo>
                  <a:close/>
                  <a:moveTo>
                    <a:pt x="104104" y="41148"/>
                  </a:moveTo>
                  <a:cubicBezTo>
                    <a:pt x="69403" y="41148"/>
                    <a:pt x="41148" y="69403"/>
                    <a:pt x="41148" y="104104"/>
                  </a:cubicBezTo>
                  <a:cubicBezTo>
                    <a:pt x="41148" y="138806"/>
                    <a:pt x="69403" y="167061"/>
                    <a:pt x="104104" y="167061"/>
                  </a:cubicBezTo>
                  <a:cubicBezTo>
                    <a:pt x="138806" y="167061"/>
                    <a:pt x="167061" y="138806"/>
                    <a:pt x="167061" y="104104"/>
                  </a:cubicBezTo>
                  <a:cubicBezTo>
                    <a:pt x="167061" y="69403"/>
                    <a:pt x="138806" y="41148"/>
                    <a:pt x="104104" y="41148"/>
                  </a:cubicBezTo>
                  <a:close/>
                  <a:moveTo>
                    <a:pt x="104104" y="0"/>
                  </a:moveTo>
                  <a:cubicBezTo>
                    <a:pt x="156774" y="0"/>
                    <a:pt x="198608" y="39776"/>
                    <a:pt x="205466" y="90526"/>
                  </a:cubicBezTo>
                  <a:lnTo>
                    <a:pt x="205466" y="89017"/>
                  </a:lnTo>
                  <a:lnTo>
                    <a:pt x="585262" y="89017"/>
                  </a:lnTo>
                  <a:cubicBezTo>
                    <a:pt x="593628" y="39914"/>
                    <a:pt x="634502" y="1783"/>
                    <a:pt x="685937" y="1783"/>
                  </a:cubicBezTo>
                  <a:cubicBezTo>
                    <a:pt x="737372" y="1783"/>
                    <a:pt x="778246" y="39914"/>
                    <a:pt x="786613" y="89017"/>
                  </a:cubicBezTo>
                  <a:lnTo>
                    <a:pt x="1166546" y="89017"/>
                  </a:lnTo>
                  <a:cubicBezTo>
                    <a:pt x="1174090" y="38953"/>
                    <a:pt x="1215375" y="0"/>
                    <a:pt x="1267496" y="0"/>
                  </a:cubicBezTo>
                  <a:cubicBezTo>
                    <a:pt x="1324966" y="0"/>
                    <a:pt x="1371600" y="46634"/>
                    <a:pt x="1371600" y="104104"/>
                  </a:cubicBezTo>
                  <a:cubicBezTo>
                    <a:pt x="1371600" y="157185"/>
                    <a:pt x="1331275" y="199431"/>
                    <a:pt x="1279840" y="205740"/>
                  </a:cubicBezTo>
                  <a:lnTo>
                    <a:pt x="1279840" y="1165586"/>
                  </a:lnTo>
                  <a:cubicBezTo>
                    <a:pt x="1331275" y="1171895"/>
                    <a:pt x="1371600" y="1214140"/>
                    <a:pt x="1371600" y="1267221"/>
                  </a:cubicBezTo>
                  <a:cubicBezTo>
                    <a:pt x="1371600" y="1324691"/>
                    <a:pt x="1324966" y="1371326"/>
                    <a:pt x="1267496" y="1371326"/>
                  </a:cubicBezTo>
                  <a:cubicBezTo>
                    <a:pt x="1215512" y="1371326"/>
                    <a:pt x="1174227" y="1332372"/>
                    <a:pt x="1166546" y="1282446"/>
                  </a:cubicBezTo>
                  <a:lnTo>
                    <a:pt x="786887" y="1282446"/>
                  </a:lnTo>
                  <a:cubicBezTo>
                    <a:pt x="779206" y="1332372"/>
                    <a:pt x="737784" y="1371326"/>
                    <a:pt x="685800" y="1371326"/>
                  </a:cubicBezTo>
                  <a:cubicBezTo>
                    <a:pt x="633816" y="1371326"/>
                    <a:pt x="592531" y="1332372"/>
                    <a:pt x="584850" y="1282446"/>
                  </a:cubicBezTo>
                  <a:lnTo>
                    <a:pt x="205466" y="1282446"/>
                  </a:lnTo>
                  <a:lnTo>
                    <a:pt x="205466" y="1280800"/>
                  </a:lnTo>
                  <a:cubicBezTo>
                    <a:pt x="198471" y="1331549"/>
                    <a:pt x="156774" y="1371326"/>
                    <a:pt x="104104" y="1371326"/>
                  </a:cubicBezTo>
                  <a:cubicBezTo>
                    <a:pt x="46634" y="1371326"/>
                    <a:pt x="0" y="1324691"/>
                    <a:pt x="0" y="1267221"/>
                  </a:cubicBezTo>
                  <a:cubicBezTo>
                    <a:pt x="0" y="1214278"/>
                    <a:pt x="39914" y="1172444"/>
                    <a:pt x="90937" y="1165723"/>
                  </a:cubicBezTo>
                  <a:lnTo>
                    <a:pt x="90937" y="205603"/>
                  </a:lnTo>
                  <a:cubicBezTo>
                    <a:pt x="40051" y="198882"/>
                    <a:pt x="0" y="156911"/>
                    <a:pt x="0" y="104104"/>
                  </a:cubicBezTo>
                  <a:cubicBezTo>
                    <a:pt x="0" y="46634"/>
                    <a:pt x="46634" y="0"/>
                    <a:pt x="104104" y="0"/>
                  </a:cubicBezTo>
                  <a:close/>
                </a:path>
              </a:pathLst>
            </a:custGeom>
            <a:solidFill>
              <a:schemeClr val="bg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sp>
        <p:nvSpPr>
          <p:cNvPr id="322" name="Rectangle: Rounded Corners 121">
            <a:extLst>
              <a:ext uri="{FF2B5EF4-FFF2-40B4-BE49-F238E27FC236}">
                <a16:creationId xmlns:a16="http://schemas.microsoft.com/office/drawing/2014/main" id="{F6C40FB9-11AF-5C89-4548-975CBF9CA9F3}"/>
              </a:ext>
            </a:extLst>
          </p:cNvPr>
          <p:cNvSpPr/>
          <p:nvPr/>
        </p:nvSpPr>
        <p:spPr>
          <a:xfrm>
            <a:off x="2377673" y="3026432"/>
            <a:ext cx="838270" cy="741471"/>
          </a:xfrm>
          <a:prstGeom prst="roundRect">
            <a:avLst>
              <a:gd name="adj" fmla="val 7399"/>
            </a:avLst>
          </a:prstGeom>
          <a:solidFill>
            <a:schemeClr val="bg1"/>
          </a:solidFill>
          <a:ln w="1905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548640" rIns="91416" bIns="2743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a:ln>
                  <a:noFill/>
                </a:ln>
                <a:solidFill>
                  <a:srgbClr val="005C8A"/>
                </a:solidFill>
                <a:effectLst/>
                <a:uLnTx/>
                <a:uFillTx/>
                <a:latin typeface="Metropolis Semi Bold" panose="00000700000000000000" pitchFamily="2" charset="0"/>
                <a:ea typeface="+mn-ea"/>
                <a:cs typeface="+mn-cs"/>
              </a:rPr>
              <a:t>VM</a:t>
            </a:r>
          </a:p>
        </p:txBody>
      </p:sp>
      <p:grpSp>
        <p:nvGrpSpPr>
          <p:cNvPr id="323" name="Group 322">
            <a:extLst>
              <a:ext uri="{FF2B5EF4-FFF2-40B4-BE49-F238E27FC236}">
                <a16:creationId xmlns:a16="http://schemas.microsoft.com/office/drawing/2014/main" id="{C1AC88BC-F691-2292-4ABF-B6A9A2F62B2D}"/>
              </a:ext>
              <a:ext uri="{C183D7F6-B498-43B3-948B-1728B52AA6E4}">
                <adec:decorative xmlns:adec="http://schemas.microsoft.com/office/drawing/2017/decorative" val="1"/>
              </a:ext>
            </a:extLst>
          </p:cNvPr>
          <p:cNvGrpSpPr/>
          <p:nvPr/>
        </p:nvGrpSpPr>
        <p:grpSpPr>
          <a:xfrm>
            <a:off x="2647938" y="3150069"/>
            <a:ext cx="297739" cy="292247"/>
            <a:chOff x="1465490" y="3219301"/>
            <a:chExt cx="438300" cy="438301"/>
          </a:xfrm>
        </p:grpSpPr>
        <p:sp>
          <p:nvSpPr>
            <p:cNvPr id="324" name="Oval 323">
              <a:extLst>
                <a:ext uri="{FF2B5EF4-FFF2-40B4-BE49-F238E27FC236}">
                  <a16:creationId xmlns:a16="http://schemas.microsoft.com/office/drawing/2014/main" id="{A6EF07ED-08EB-3A01-AE5A-D83B50FF3B6B}"/>
                </a:ext>
              </a:extLst>
            </p:cNvPr>
            <p:cNvSpPr/>
            <p:nvPr/>
          </p:nvSpPr>
          <p:spPr>
            <a:xfrm>
              <a:off x="1465490" y="3219301"/>
              <a:ext cx="438300" cy="438301"/>
            </a:xfrm>
            <a:prstGeom prst="ellipse">
              <a:avLst/>
            </a:prstGeom>
            <a:noFill/>
            <a:ln w="9138">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7719" tIns="43860" rIns="87719" bIns="438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325" name="Graphic 1">
              <a:extLst>
                <a:ext uri="{FF2B5EF4-FFF2-40B4-BE49-F238E27FC236}">
                  <a16:creationId xmlns:a16="http://schemas.microsoft.com/office/drawing/2014/main" id="{BF6BD0EB-9FC0-6D08-DBDA-4C5284E88F25}"/>
                </a:ext>
              </a:extLst>
            </p:cNvPr>
            <p:cNvGrpSpPr/>
            <p:nvPr/>
          </p:nvGrpSpPr>
          <p:grpSpPr>
            <a:xfrm>
              <a:off x="1561461" y="3315270"/>
              <a:ext cx="245369" cy="245370"/>
              <a:chOff x="979296" y="1541158"/>
              <a:chExt cx="1054511" cy="1054515"/>
            </a:xfrm>
            <a:solidFill>
              <a:schemeClr val="tx2"/>
            </a:solidFill>
          </p:grpSpPr>
          <p:sp>
            <p:nvSpPr>
              <p:cNvPr id="326" name="Freeform: Shape 815">
                <a:extLst>
                  <a:ext uri="{FF2B5EF4-FFF2-40B4-BE49-F238E27FC236}">
                    <a16:creationId xmlns:a16="http://schemas.microsoft.com/office/drawing/2014/main" id="{6E78795B-4AC0-45B9-630E-30C4D872133C}"/>
                  </a:ext>
                </a:extLst>
              </p:cNvPr>
              <p:cNvSpPr/>
              <p:nvPr/>
            </p:nvSpPr>
            <p:spPr>
              <a:xfrm>
                <a:off x="979296" y="1541158"/>
                <a:ext cx="1054511" cy="1054515"/>
              </a:xfrm>
              <a:custGeom>
                <a:avLst/>
                <a:gdLst>
                  <a:gd name="connsiteX0" fmla="*/ 904147 w 1054510"/>
                  <a:gd name="connsiteY0" fmla="*/ 1054511 h 1054510"/>
                  <a:gd name="connsiteX1" fmla="*/ 0 w 1054510"/>
                  <a:gd name="connsiteY1" fmla="*/ 1054511 h 1054510"/>
                  <a:gd name="connsiteX2" fmla="*/ 0 w 1054510"/>
                  <a:gd name="connsiteY2" fmla="*/ 0 h 1054510"/>
                  <a:gd name="connsiteX3" fmla="*/ 1054511 w 1054510"/>
                  <a:gd name="connsiteY3" fmla="*/ 0 h 1054510"/>
                  <a:gd name="connsiteX4" fmla="*/ 1054511 w 1054510"/>
                  <a:gd name="connsiteY4" fmla="*/ 1045460 h 1054510"/>
                  <a:gd name="connsiteX5" fmla="*/ 1026760 w 1054510"/>
                  <a:gd name="connsiteY5" fmla="*/ 1045460 h 1054510"/>
                  <a:gd name="connsiteX6" fmla="*/ 1026760 w 1054510"/>
                  <a:gd name="connsiteY6" fmla="*/ 27750 h 1054510"/>
                  <a:gd name="connsiteX7" fmla="*/ 27750 w 1054510"/>
                  <a:gd name="connsiteY7" fmla="*/ 27750 h 1054510"/>
                  <a:gd name="connsiteX8" fmla="*/ 27750 w 1054510"/>
                  <a:gd name="connsiteY8" fmla="*/ 1026760 h 1054510"/>
                  <a:gd name="connsiteX9" fmla="*/ 904147 w 1054510"/>
                  <a:gd name="connsiteY9" fmla="*/ 1026760 h 105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510" h="105451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327" name="Graphic 1">
                <a:extLst>
                  <a:ext uri="{FF2B5EF4-FFF2-40B4-BE49-F238E27FC236}">
                    <a16:creationId xmlns:a16="http://schemas.microsoft.com/office/drawing/2014/main" id="{2A560980-0A42-8719-7846-1C7A3B7AA007}"/>
                  </a:ext>
                </a:extLst>
              </p:cNvPr>
              <p:cNvGrpSpPr/>
              <p:nvPr/>
            </p:nvGrpSpPr>
            <p:grpSpPr>
              <a:xfrm>
                <a:off x="1296246" y="2002748"/>
                <a:ext cx="390297" cy="146863"/>
                <a:chOff x="1296246" y="2002748"/>
                <a:chExt cx="390297" cy="146863"/>
              </a:xfrm>
              <a:grpFill/>
            </p:grpSpPr>
            <p:sp>
              <p:nvSpPr>
                <p:cNvPr id="328" name="Freeform: Shape 817">
                  <a:extLst>
                    <a:ext uri="{FF2B5EF4-FFF2-40B4-BE49-F238E27FC236}">
                      <a16:creationId xmlns:a16="http://schemas.microsoft.com/office/drawing/2014/main" id="{ADF1F6E3-3312-9C29-2EA8-036E004A69B8}"/>
                    </a:ext>
                  </a:extLst>
                </p:cNvPr>
                <p:cNvSpPr/>
                <p:nvPr/>
              </p:nvSpPr>
              <p:spPr>
                <a:xfrm>
                  <a:off x="1296246" y="2006164"/>
                  <a:ext cx="141227" cy="143447"/>
                </a:xfrm>
                <a:custGeom>
                  <a:avLst/>
                  <a:gdLst>
                    <a:gd name="connsiteX0" fmla="*/ 0 w 141227"/>
                    <a:gd name="connsiteY0" fmla="*/ 0 h 143447"/>
                    <a:gd name="connsiteX1" fmla="*/ 23310 w 141227"/>
                    <a:gd name="connsiteY1" fmla="*/ 0 h 143447"/>
                    <a:gd name="connsiteX2" fmla="*/ 71041 w 141227"/>
                    <a:gd name="connsiteY2" fmla="*/ 119027 h 143447"/>
                    <a:gd name="connsiteX3" fmla="*/ 117917 w 141227"/>
                    <a:gd name="connsiteY3" fmla="*/ 0 h 143447"/>
                    <a:gd name="connsiteX4" fmla="*/ 141228 w 141227"/>
                    <a:gd name="connsiteY4" fmla="*/ 0 h 143447"/>
                    <a:gd name="connsiteX5" fmla="*/ 81031 w 141227"/>
                    <a:gd name="connsiteY5" fmla="*/ 143448 h 143447"/>
                    <a:gd name="connsiteX6" fmla="*/ 61051 w 141227"/>
                    <a:gd name="connsiteY6" fmla="*/ 143448 h 143447"/>
                    <a:gd name="connsiteX7" fmla="*/ 0 w 141227"/>
                    <a:gd name="connsiteY7" fmla="*/ 0 h 14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27" h="143447">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29" name="Freeform: Shape 818">
                  <a:extLst>
                    <a:ext uri="{FF2B5EF4-FFF2-40B4-BE49-F238E27FC236}">
                      <a16:creationId xmlns:a16="http://schemas.microsoft.com/office/drawing/2014/main" id="{2FF7095A-716B-5881-B067-E10F921EF29C}"/>
                    </a:ext>
                  </a:extLst>
                </p:cNvPr>
                <p:cNvSpPr/>
                <p:nvPr/>
              </p:nvSpPr>
              <p:spPr>
                <a:xfrm>
                  <a:off x="1480252" y="2002748"/>
                  <a:ext cx="206291" cy="146863"/>
                </a:xfrm>
                <a:custGeom>
                  <a:avLst/>
                  <a:gdLst>
                    <a:gd name="connsiteX0" fmla="*/ 206291 w 206291"/>
                    <a:gd name="connsiteY0" fmla="*/ 55586 h 146863"/>
                    <a:gd name="connsiteX1" fmla="*/ 206291 w 206291"/>
                    <a:gd name="connsiteY1" fmla="*/ 146863 h 146863"/>
                    <a:gd name="connsiteX2" fmla="*/ 185457 w 206291"/>
                    <a:gd name="connsiteY2" fmla="*/ 146863 h 146863"/>
                    <a:gd name="connsiteX3" fmla="*/ 185457 w 206291"/>
                    <a:gd name="connsiteY3" fmla="*/ 58318 h 146863"/>
                    <a:gd name="connsiteX4" fmla="*/ 152413 w 206291"/>
                    <a:gd name="connsiteY4" fmla="*/ 18614 h 146863"/>
                    <a:gd name="connsiteX5" fmla="*/ 113563 w 206291"/>
                    <a:gd name="connsiteY5" fmla="*/ 55501 h 146863"/>
                    <a:gd name="connsiteX6" fmla="*/ 113563 w 206291"/>
                    <a:gd name="connsiteY6" fmla="*/ 146778 h 146863"/>
                    <a:gd name="connsiteX7" fmla="*/ 92729 w 206291"/>
                    <a:gd name="connsiteY7" fmla="*/ 146778 h 146863"/>
                    <a:gd name="connsiteX8" fmla="*/ 92729 w 206291"/>
                    <a:gd name="connsiteY8" fmla="*/ 58318 h 146863"/>
                    <a:gd name="connsiteX9" fmla="*/ 59685 w 206291"/>
                    <a:gd name="connsiteY9" fmla="*/ 18614 h 146863"/>
                    <a:gd name="connsiteX10" fmla="*/ 20834 w 206291"/>
                    <a:gd name="connsiteY10" fmla="*/ 55501 h 146863"/>
                    <a:gd name="connsiteX11" fmla="*/ 20834 w 206291"/>
                    <a:gd name="connsiteY11" fmla="*/ 146778 h 146863"/>
                    <a:gd name="connsiteX12" fmla="*/ 0 w 206291"/>
                    <a:gd name="connsiteY12" fmla="*/ 146778 h 146863"/>
                    <a:gd name="connsiteX13" fmla="*/ 0 w 206291"/>
                    <a:gd name="connsiteY13" fmla="*/ 3330 h 146863"/>
                    <a:gd name="connsiteX14" fmla="*/ 20834 w 206291"/>
                    <a:gd name="connsiteY14" fmla="*/ 3330 h 146863"/>
                    <a:gd name="connsiteX15" fmla="*/ 20834 w 206291"/>
                    <a:gd name="connsiteY15" fmla="*/ 24420 h 146863"/>
                    <a:gd name="connsiteX16" fmla="*/ 62417 w 206291"/>
                    <a:gd name="connsiteY16" fmla="*/ 0 h 146863"/>
                    <a:gd name="connsiteX17" fmla="*/ 108781 w 206291"/>
                    <a:gd name="connsiteY17" fmla="*/ 30483 h 146863"/>
                    <a:gd name="connsiteX18" fmla="*/ 155145 w 206291"/>
                    <a:gd name="connsiteY18" fmla="*/ 0 h 146863"/>
                    <a:gd name="connsiteX19" fmla="*/ 206291 w 206291"/>
                    <a:gd name="connsiteY19" fmla="*/ 55586 h 1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6291" h="146863">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sp>
        <p:nvSpPr>
          <p:cNvPr id="330" name="Rectangle: Rounded Corners 121">
            <a:extLst>
              <a:ext uri="{FF2B5EF4-FFF2-40B4-BE49-F238E27FC236}">
                <a16:creationId xmlns:a16="http://schemas.microsoft.com/office/drawing/2014/main" id="{0B58923A-DA6D-C73C-D31C-1083CA86F77F}"/>
              </a:ext>
            </a:extLst>
          </p:cNvPr>
          <p:cNvSpPr/>
          <p:nvPr/>
        </p:nvSpPr>
        <p:spPr>
          <a:xfrm>
            <a:off x="3353318" y="3024646"/>
            <a:ext cx="838270" cy="741471"/>
          </a:xfrm>
          <a:prstGeom prst="roundRect">
            <a:avLst>
              <a:gd name="adj" fmla="val 7399"/>
            </a:avLst>
          </a:prstGeom>
          <a:solidFill>
            <a:schemeClr val="bg1"/>
          </a:solidFill>
          <a:ln w="1905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548640" rIns="91416" bIns="2743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a:ln>
                  <a:noFill/>
                </a:ln>
                <a:solidFill>
                  <a:srgbClr val="005C8A"/>
                </a:solidFill>
                <a:effectLst/>
                <a:uLnTx/>
                <a:uFillTx/>
                <a:latin typeface="Metropolis Semi Bold" panose="00000700000000000000" pitchFamily="2" charset="0"/>
                <a:ea typeface="+mn-ea"/>
                <a:cs typeface="+mn-cs"/>
              </a:rPr>
              <a:t>VM</a:t>
            </a:r>
          </a:p>
        </p:txBody>
      </p:sp>
      <p:grpSp>
        <p:nvGrpSpPr>
          <p:cNvPr id="331" name="Group 330">
            <a:extLst>
              <a:ext uri="{FF2B5EF4-FFF2-40B4-BE49-F238E27FC236}">
                <a16:creationId xmlns:a16="http://schemas.microsoft.com/office/drawing/2014/main" id="{21C38760-A778-B150-FB36-94DD65AD90B5}"/>
              </a:ext>
              <a:ext uri="{C183D7F6-B498-43B3-948B-1728B52AA6E4}">
                <adec:decorative xmlns:adec="http://schemas.microsoft.com/office/drawing/2017/decorative" val="1"/>
              </a:ext>
            </a:extLst>
          </p:cNvPr>
          <p:cNvGrpSpPr/>
          <p:nvPr/>
        </p:nvGrpSpPr>
        <p:grpSpPr>
          <a:xfrm>
            <a:off x="3623583" y="3148283"/>
            <a:ext cx="297739" cy="292247"/>
            <a:chOff x="1465490" y="3219301"/>
            <a:chExt cx="438300" cy="438301"/>
          </a:xfrm>
        </p:grpSpPr>
        <p:sp>
          <p:nvSpPr>
            <p:cNvPr id="332" name="Oval 331">
              <a:extLst>
                <a:ext uri="{FF2B5EF4-FFF2-40B4-BE49-F238E27FC236}">
                  <a16:creationId xmlns:a16="http://schemas.microsoft.com/office/drawing/2014/main" id="{6058A52A-0914-876A-05B4-9190557E3713}"/>
                </a:ext>
              </a:extLst>
            </p:cNvPr>
            <p:cNvSpPr/>
            <p:nvPr/>
          </p:nvSpPr>
          <p:spPr>
            <a:xfrm>
              <a:off x="1465490" y="3219301"/>
              <a:ext cx="438300" cy="438301"/>
            </a:xfrm>
            <a:prstGeom prst="ellipse">
              <a:avLst/>
            </a:prstGeom>
            <a:noFill/>
            <a:ln w="9138">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7719" tIns="43860" rIns="87719" bIns="438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333" name="Graphic 1">
              <a:extLst>
                <a:ext uri="{FF2B5EF4-FFF2-40B4-BE49-F238E27FC236}">
                  <a16:creationId xmlns:a16="http://schemas.microsoft.com/office/drawing/2014/main" id="{E7C0957C-309F-CE2E-29CE-92EE5C8ADFEB}"/>
                </a:ext>
              </a:extLst>
            </p:cNvPr>
            <p:cNvGrpSpPr/>
            <p:nvPr/>
          </p:nvGrpSpPr>
          <p:grpSpPr>
            <a:xfrm>
              <a:off x="1561461" y="3315270"/>
              <a:ext cx="245369" cy="245370"/>
              <a:chOff x="979296" y="1541158"/>
              <a:chExt cx="1054511" cy="1054515"/>
            </a:xfrm>
            <a:solidFill>
              <a:schemeClr val="tx2"/>
            </a:solidFill>
          </p:grpSpPr>
          <p:sp>
            <p:nvSpPr>
              <p:cNvPr id="334" name="Freeform: Shape 815">
                <a:extLst>
                  <a:ext uri="{FF2B5EF4-FFF2-40B4-BE49-F238E27FC236}">
                    <a16:creationId xmlns:a16="http://schemas.microsoft.com/office/drawing/2014/main" id="{A7DCCF1A-5FBA-E712-638A-E798F59A7177}"/>
                  </a:ext>
                </a:extLst>
              </p:cNvPr>
              <p:cNvSpPr/>
              <p:nvPr/>
            </p:nvSpPr>
            <p:spPr>
              <a:xfrm>
                <a:off x="979296" y="1541158"/>
                <a:ext cx="1054511" cy="1054515"/>
              </a:xfrm>
              <a:custGeom>
                <a:avLst/>
                <a:gdLst>
                  <a:gd name="connsiteX0" fmla="*/ 904147 w 1054510"/>
                  <a:gd name="connsiteY0" fmla="*/ 1054511 h 1054510"/>
                  <a:gd name="connsiteX1" fmla="*/ 0 w 1054510"/>
                  <a:gd name="connsiteY1" fmla="*/ 1054511 h 1054510"/>
                  <a:gd name="connsiteX2" fmla="*/ 0 w 1054510"/>
                  <a:gd name="connsiteY2" fmla="*/ 0 h 1054510"/>
                  <a:gd name="connsiteX3" fmla="*/ 1054511 w 1054510"/>
                  <a:gd name="connsiteY3" fmla="*/ 0 h 1054510"/>
                  <a:gd name="connsiteX4" fmla="*/ 1054511 w 1054510"/>
                  <a:gd name="connsiteY4" fmla="*/ 1045460 h 1054510"/>
                  <a:gd name="connsiteX5" fmla="*/ 1026760 w 1054510"/>
                  <a:gd name="connsiteY5" fmla="*/ 1045460 h 1054510"/>
                  <a:gd name="connsiteX6" fmla="*/ 1026760 w 1054510"/>
                  <a:gd name="connsiteY6" fmla="*/ 27750 h 1054510"/>
                  <a:gd name="connsiteX7" fmla="*/ 27750 w 1054510"/>
                  <a:gd name="connsiteY7" fmla="*/ 27750 h 1054510"/>
                  <a:gd name="connsiteX8" fmla="*/ 27750 w 1054510"/>
                  <a:gd name="connsiteY8" fmla="*/ 1026760 h 1054510"/>
                  <a:gd name="connsiteX9" fmla="*/ 904147 w 1054510"/>
                  <a:gd name="connsiteY9" fmla="*/ 1026760 h 105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510" h="105451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335" name="Graphic 1">
                <a:extLst>
                  <a:ext uri="{FF2B5EF4-FFF2-40B4-BE49-F238E27FC236}">
                    <a16:creationId xmlns:a16="http://schemas.microsoft.com/office/drawing/2014/main" id="{1A06D681-3834-6907-45E7-4D79045F6D82}"/>
                  </a:ext>
                </a:extLst>
              </p:cNvPr>
              <p:cNvGrpSpPr/>
              <p:nvPr/>
            </p:nvGrpSpPr>
            <p:grpSpPr>
              <a:xfrm>
                <a:off x="1296246" y="2002748"/>
                <a:ext cx="390297" cy="146863"/>
                <a:chOff x="1296246" y="2002748"/>
                <a:chExt cx="390297" cy="146863"/>
              </a:xfrm>
              <a:grpFill/>
            </p:grpSpPr>
            <p:sp>
              <p:nvSpPr>
                <p:cNvPr id="336" name="Freeform: Shape 817">
                  <a:extLst>
                    <a:ext uri="{FF2B5EF4-FFF2-40B4-BE49-F238E27FC236}">
                      <a16:creationId xmlns:a16="http://schemas.microsoft.com/office/drawing/2014/main" id="{C49D816F-F1E6-0627-55B8-CA01C8C473CD}"/>
                    </a:ext>
                  </a:extLst>
                </p:cNvPr>
                <p:cNvSpPr/>
                <p:nvPr/>
              </p:nvSpPr>
              <p:spPr>
                <a:xfrm>
                  <a:off x="1296246" y="2006164"/>
                  <a:ext cx="141227" cy="143447"/>
                </a:xfrm>
                <a:custGeom>
                  <a:avLst/>
                  <a:gdLst>
                    <a:gd name="connsiteX0" fmla="*/ 0 w 141227"/>
                    <a:gd name="connsiteY0" fmla="*/ 0 h 143447"/>
                    <a:gd name="connsiteX1" fmla="*/ 23310 w 141227"/>
                    <a:gd name="connsiteY1" fmla="*/ 0 h 143447"/>
                    <a:gd name="connsiteX2" fmla="*/ 71041 w 141227"/>
                    <a:gd name="connsiteY2" fmla="*/ 119027 h 143447"/>
                    <a:gd name="connsiteX3" fmla="*/ 117917 w 141227"/>
                    <a:gd name="connsiteY3" fmla="*/ 0 h 143447"/>
                    <a:gd name="connsiteX4" fmla="*/ 141228 w 141227"/>
                    <a:gd name="connsiteY4" fmla="*/ 0 h 143447"/>
                    <a:gd name="connsiteX5" fmla="*/ 81031 w 141227"/>
                    <a:gd name="connsiteY5" fmla="*/ 143448 h 143447"/>
                    <a:gd name="connsiteX6" fmla="*/ 61051 w 141227"/>
                    <a:gd name="connsiteY6" fmla="*/ 143448 h 143447"/>
                    <a:gd name="connsiteX7" fmla="*/ 0 w 141227"/>
                    <a:gd name="connsiteY7" fmla="*/ 0 h 14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27" h="143447">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37" name="Freeform: Shape 818">
                  <a:extLst>
                    <a:ext uri="{FF2B5EF4-FFF2-40B4-BE49-F238E27FC236}">
                      <a16:creationId xmlns:a16="http://schemas.microsoft.com/office/drawing/2014/main" id="{66CA1E15-9CC0-90FE-FAD0-45FB37251984}"/>
                    </a:ext>
                  </a:extLst>
                </p:cNvPr>
                <p:cNvSpPr/>
                <p:nvPr/>
              </p:nvSpPr>
              <p:spPr>
                <a:xfrm>
                  <a:off x="1480252" y="2002748"/>
                  <a:ext cx="206291" cy="146863"/>
                </a:xfrm>
                <a:custGeom>
                  <a:avLst/>
                  <a:gdLst>
                    <a:gd name="connsiteX0" fmla="*/ 206291 w 206291"/>
                    <a:gd name="connsiteY0" fmla="*/ 55586 h 146863"/>
                    <a:gd name="connsiteX1" fmla="*/ 206291 w 206291"/>
                    <a:gd name="connsiteY1" fmla="*/ 146863 h 146863"/>
                    <a:gd name="connsiteX2" fmla="*/ 185457 w 206291"/>
                    <a:gd name="connsiteY2" fmla="*/ 146863 h 146863"/>
                    <a:gd name="connsiteX3" fmla="*/ 185457 w 206291"/>
                    <a:gd name="connsiteY3" fmla="*/ 58318 h 146863"/>
                    <a:gd name="connsiteX4" fmla="*/ 152413 w 206291"/>
                    <a:gd name="connsiteY4" fmla="*/ 18614 h 146863"/>
                    <a:gd name="connsiteX5" fmla="*/ 113563 w 206291"/>
                    <a:gd name="connsiteY5" fmla="*/ 55501 h 146863"/>
                    <a:gd name="connsiteX6" fmla="*/ 113563 w 206291"/>
                    <a:gd name="connsiteY6" fmla="*/ 146778 h 146863"/>
                    <a:gd name="connsiteX7" fmla="*/ 92729 w 206291"/>
                    <a:gd name="connsiteY7" fmla="*/ 146778 h 146863"/>
                    <a:gd name="connsiteX8" fmla="*/ 92729 w 206291"/>
                    <a:gd name="connsiteY8" fmla="*/ 58318 h 146863"/>
                    <a:gd name="connsiteX9" fmla="*/ 59685 w 206291"/>
                    <a:gd name="connsiteY9" fmla="*/ 18614 h 146863"/>
                    <a:gd name="connsiteX10" fmla="*/ 20834 w 206291"/>
                    <a:gd name="connsiteY10" fmla="*/ 55501 h 146863"/>
                    <a:gd name="connsiteX11" fmla="*/ 20834 w 206291"/>
                    <a:gd name="connsiteY11" fmla="*/ 146778 h 146863"/>
                    <a:gd name="connsiteX12" fmla="*/ 0 w 206291"/>
                    <a:gd name="connsiteY12" fmla="*/ 146778 h 146863"/>
                    <a:gd name="connsiteX13" fmla="*/ 0 w 206291"/>
                    <a:gd name="connsiteY13" fmla="*/ 3330 h 146863"/>
                    <a:gd name="connsiteX14" fmla="*/ 20834 w 206291"/>
                    <a:gd name="connsiteY14" fmla="*/ 3330 h 146863"/>
                    <a:gd name="connsiteX15" fmla="*/ 20834 w 206291"/>
                    <a:gd name="connsiteY15" fmla="*/ 24420 h 146863"/>
                    <a:gd name="connsiteX16" fmla="*/ 62417 w 206291"/>
                    <a:gd name="connsiteY16" fmla="*/ 0 h 146863"/>
                    <a:gd name="connsiteX17" fmla="*/ 108781 w 206291"/>
                    <a:gd name="connsiteY17" fmla="*/ 30483 h 146863"/>
                    <a:gd name="connsiteX18" fmla="*/ 155145 w 206291"/>
                    <a:gd name="connsiteY18" fmla="*/ 0 h 146863"/>
                    <a:gd name="connsiteX19" fmla="*/ 206291 w 206291"/>
                    <a:gd name="connsiteY19" fmla="*/ 55586 h 1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6291" h="146863">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sp>
        <p:nvSpPr>
          <p:cNvPr id="338" name="Rectangle: Rounded Corners 121">
            <a:extLst>
              <a:ext uri="{FF2B5EF4-FFF2-40B4-BE49-F238E27FC236}">
                <a16:creationId xmlns:a16="http://schemas.microsoft.com/office/drawing/2014/main" id="{8E9BE92F-464E-EE54-FE54-5E006D2AC2F5}"/>
              </a:ext>
            </a:extLst>
          </p:cNvPr>
          <p:cNvSpPr/>
          <p:nvPr/>
        </p:nvSpPr>
        <p:spPr>
          <a:xfrm>
            <a:off x="4317673" y="3025539"/>
            <a:ext cx="838270" cy="741471"/>
          </a:xfrm>
          <a:prstGeom prst="roundRect">
            <a:avLst>
              <a:gd name="adj" fmla="val 7399"/>
            </a:avLst>
          </a:prstGeom>
          <a:solidFill>
            <a:schemeClr val="bg1"/>
          </a:solidFill>
          <a:ln w="19050">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548640" rIns="91416" bIns="2743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a:ln>
                  <a:noFill/>
                </a:ln>
                <a:solidFill>
                  <a:srgbClr val="005C8A"/>
                </a:solidFill>
                <a:effectLst/>
                <a:uLnTx/>
                <a:uFillTx/>
                <a:latin typeface="Metropolis Semi Bold" panose="00000700000000000000" pitchFamily="2" charset="0"/>
                <a:ea typeface="+mn-ea"/>
                <a:cs typeface="+mn-cs"/>
              </a:rPr>
              <a:t>VM</a:t>
            </a:r>
          </a:p>
        </p:txBody>
      </p:sp>
      <p:grpSp>
        <p:nvGrpSpPr>
          <p:cNvPr id="339" name="Group 338">
            <a:extLst>
              <a:ext uri="{FF2B5EF4-FFF2-40B4-BE49-F238E27FC236}">
                <a16:creationId xmlns:a16="http://schemas.microsoft.com/office/drawing/2014/main" id="{4D5B75CB-DABD-9F7B-E42F-A86DE877C696}"/>
              </a:ext>
              <a:ext uri="{C183D7F6-B498-43B3-948B-1728B52AA6E4}">
                <adec:decorative xmlns:adec="http://schemas.microsoft.com/office/drawing/2017/decorative" val="1"/>
              </a:ext>
            </a:extLst>
          </p:cNvPr>
          <p:cNvGrpSpPr/>
          <p:nvPr/>
        </p:nvGrpSpPr>
        <p:grpSpPr>
          <a:xfrm>
            <a:off x="4587938" y="3149176"/>
            <a:ext cx="297739" cy="292247"/>
            <a:chOff x="1465490" y="3219301"/>
            <a:chExt cx="438300" cy="438301"/>
          </a:xfrm>
        </p:grpSpPr>
        <p:sp>
          <p:nvSpPr>
            <p:cNvPr id="340" name="Oval 339">
              <a:extLst>
                <a:ext uri="{FF2B5EF4-FFF2-40B4-BE49-F238E27FC236}">
                  <a16:creationId xmlns:a16="http://schemas.microsoft.com/office/drawing/2014/main" id="{84F57662-93CD-015D-88AC-3B73FB7C1B86}"/>
                </a:ext>
              </a:extLst>
            </p:cNvPr>
            <p:cNvSpPr/>
            <p:nvPr/>
          </p:nvSpPr>
          <p:spPr>
            <a:xfrm>
              <a:off x="1465490" y="3219301"/>
              <a:ext cx="438300" cy="438301"/>
            </a:xfrm>
            <a:prstGeom prst="ellipse">
              <a:avLst/>
            </a:prstGeom>
            <a:noFill/>
            <a:ln w="9138">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7719" tIns="43860" rIns="87719" bIns="438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341" name="Graphic 1">
              <a:extLst>
                <a:ext uri="{FF2B5EF4-FFF2-40B4-BE49-F238E27FC236}">
                  <a16:creationId xmlns:a16="http://schemas.microsoft.com/office/drawing/2014/main" id="{E8378346-FF54-117A-F39C-FADAB400299A}"/>
                </a:ext>
              </a:extLst>
            </p:cNvPr>
            <p:cNvGrpSpPr/>
            <p:nvPr/>
          </p:nvGrpSpPr>
          <p:grpSpPr>
            <a:xfrm>
              <a:off x="1561461" y="3315270"/>
              <a:ext cx="245369" cy="245370"/>
              <a:chOff x="979296" y="1541158"/>
              <a:chExt cx="1054511" cy="1054515"/>
            </a:xfrm>
            <a:solidFill>
              <a:schemeClr val="tx2"/>
            </a:solidFill>
          </p:grpSpPr>
          <p:sp>
            <p:nvSpPr>
              <p:cNvPr id="342" name="Freeform: Shape 815">
                <a:extLst>
                  <a:ext uri="{FF2B5EF4-FFF2-40B4-BE49-F238E27FC236}">
                    <a16:creationId xmlns:a16="http://schemas.microsoft.com/office/drawing/2014/main" id="{AA6CDC90-9801-56F8-0567-8BC71A49FF90}"/>
                  </a:ext>
                </a:extLst>
              </p:cNvPr>
              <p:cNvSpPr/>
              <p:nvPr/>
            </p:nvSpPr>
            <p:spPr>
              <a:xfrm>
                <a:off x="979296" y="1541158"/>
                <a:ext cx="1054511" cy="1054515"/>
              </a:xfrm>
              <a:custGeom>
                <a:avLst/>
                <a:gdLst>
                  <a:gd name="connsiteX0" fmla="*/ 904147 w 1054510"/>
                  <a:gd name="connsiteY0" fmla="*/ 1054511 h 1054510"/>
                  <a:gd name="connsiteX1" fmla="*/ 0 w 1054510"/>
                  <a:gd name="connsiteY1" fmla="*/ 1054511 h 1054510"/>
                  <a:gd name="connsiteX2" fmla="*/ 0 w 1054510"/>
                  <a:gd name="connsiteY2" fmla="*/ 0 h 1054510"/>
                  <a:gd name="connsiteX3" fmla="*/ 1054511 w 1054510"/>
                  <a:gd name="connsiteY3" fmla="*/ 0 h 1054510"/>
                  <a:gd name="connsiteX4" fmla="*/ 1054511 w 1054510"/>
                  <a:gd name="connsiteY4" fmla="*/ 1045460 h 1054510"/>
                  <a:gd name="connsiteX5" fmla="*/ 1026760 w 1054510"/>
                  <a:gd name="connsiteY5" fmla="*/ 1045460 h 1054510"/>
                  <a:gd name="connsiteX6" fmla="*/ 1026760 w 1054510"/>
                  <a:gd name="connsiteY6" fmla="*/ 27750 h 1054510"/>
                  <a:gd name="connsiteX7" fmla="*/ 27750 w 1054510"/>
                  <a:gd name="connsiteY7" fmla="*/ 27750 h 1054510"/>
                  <a:gd name="connsiteX8" fmla="*/ 27750 w 1054510"/>
                  <a:gd name="connsiteY8" fmla="*/ 1026760 h 1054510"/>
                  <a:gd name="connsiteX9" fmla="*/ 904147 w 1054510"/>
                  <a:gd name="connsiteY9" fmla="*/ 1026760 h 105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510" h="105451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343" name="Graphic 1">
                <a:extLst>
                  <a:ext uri="{FF2B5EF4-FFF2-40B4-BE49-F238E27FC236}">
                    <a16:creationId xmlns:a16="http://schemas.microsoft.com/office/drawing/2014/main" id="{CE908FF2-9F4E-C7D7-A57A-594DF0D7F2CA}"/>
                  </a:ext>
                </a:extLst>
              </p:cNvPr>
              <p:cNvGrpSpPr/>
              <p:nvPr/>
            </p:nvGrpSpPr>
            <p:grpSpPr>
              <a:xfrm>
                <a:off x="1296246" y="2002748"/>
                <a:ext cx="390297" cy="146863"/>
                <a:chOff x="1296246" y="2002748"/>
                <a:chExt cx="390297" cy="146863"/>
              </a:xfrm>
              <a:grpFill/>
            </p:grpSpPr>
            <p:sp>
              <p:nvSpPr>
                <p:cNvPr id="344" name="Freeform: Shape 817">
                  <a:extLst>
                    <a:ext uri="{FF2B5EF4-FFF2-40B4-BE49-F238E27FC236}">
                      <a16:creationId xmlns:a16="http://schemas.microsoft.com/office/drawing/2014/main" id="{23E05901-ADC1-9AF1-E607-7C1C0D1850AA}"/>
                    </a:ext>
                  </a:extLst>
                </p:cNvPr>
                <p:cNvSpPr/>
                <p:nvPr/>
              </p:nvSpPr>
              <p:spPr>
                <a:xfrm>
                  <a:off x="1296246" y="2006164"/>
                  <a:ext cx="141227" cy="143447"/>
                </a:xfrm>
                <a:custGeom>
                  <a:avLst/>
                  <a:gdLst>
                    <a:gd name="connsiteX0" fmla="*/ 0 w 141227"/>
                    <a:gd name="connsiteY0" fmla="*/ 0 h 143447"/>
                    <a:gd name="connsiteX1" fmla="*/ 23310 w 141227"/>
                    <a:gd name="connsiteY1" fmla="*/ 0 h 143447"/>
                    <a:gd name="connsiteX2" fmla="*/ 71041 w 141227"/>
                    <a:gd name="connsiteY2" fmla="*/ 119027 h 143447"/>
                    <a:gd name="connsiteX3" fmla="*/ 117917 w 141227"/>
                    <a:gd name="connsiteY3" fmla="*/ 0 h 143447"/>
                    <a:gd name="connsiteX4" fmla="*/ 141228 w 141227"/>
                    <a:gd name="connsiteY4" fmla="*/ 0 h 143447"/>
                    <a:gd name="connsiteX5" fmla="*/ 81031 w 141227"/>
                    <a:gd name="connsiteY5" fmla="*/ 143448 h 143447"/>
                    <a:gd name="connsiteX6" fmla="*/ 61051 w 141227"/>
                    <a:gd name="connsiteY6" fmla="*/ 143448 h 143447"/>
                    <a:gd name="connsiteX7" fmla="*/ 0 w 141227"/>
                    <a:gd name="connsiteY7" fmla="*/ 0 h 14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27" h="143447">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45" name="Freeform: Shape 818">
                  <a:extLst>
                    <a:ext uri="{FF2B5EF4-FFF2-40B4-BE49-F238E27FC236}">
                      <a16:creationId xmlns:a16="http://schemas.microsoft.com/office/drawing/2014/main" id="{0A7542B5-C7EF-02A0-EF2D-94A0598E9893}"/>
                    </a:ext>
                  </a:extLst>
                </p:cNvPr>
                <p:cNvSpPr/>
                <p:nvPr/>
              </p:nvSpPr>
              <p:spPr>
                <a:xfrm>
                  <a:off x="1480252" y="2002748"/>
                  <a:ext cx="206291" cy="146863"/>
                </a:xfrm>
                <a:custGeom>
                  <a:avLst/>
                  <a:gdLst>
                    <a:gd name="connsiteX0" fmla="*/ 206291 w 206291"/>
                    <a:gd name="connsiteY0" fmla="*/ 55586 h 146863"/>
                    <a:gd name="connsiteX1" fmla="*/ 206291 w 206291"/>
                    <a:gd name="connsiteY1" fmla="*/ 146863 h 146863"/>
                    <a:gd name="connsiteX2" fmla="*/ 185457 w 206291"/>
                    <a:gd name="connsiteY2" fmla="*/ 146863 h 146863"/>
                    <a:gd name="connsiteX3" fmla="*/ 185457 w 206291"/>
                    <a:gd name="connsiteY3" fmla="*/ 58318 h 146863"/>
                    <a:gd name="connsiteX4" fmla="*/ 152413 w 206291"/>
                    <a:gd name="connsiteY4" fmla="*/ 18614 h 146863"/>
                    <a:gd name="connsiteX5" fmla="*/ 113563 w 206291"/>
                    <a:gd name="connsiteY5" fmla="*/ 55501 h 146863"/>
                    <a:gd name="connsiteX6" fmla="*/ 113563 w 206291"/>
                    <a:gd name="connsiteY6" fmla="*/ 146778 h 146863"/>
                    <a:gd name="connsiteX7" fmla="*/ 92729 w 206291"/>
                    <a:gd name="connsiteY7" fmla="*/ 146778 h 146863"/>
                    <a:gd name="connsiteX8" fmla="*/ 92729 w 206291"/>
                    <a:gd name="connsiteY8" fmla="*/ 58318 h 146863"/>
                    <a:gd name="connsiteX9" fmla="*/ 59685 w 206291"/>
                    <a:gd name="connsiteY9" fmla="*/ 18614 h 146863"/>
                    <a:gd name="connsiteX10" fmla="*/ 20834 w 206291"/>
                    <a:gd name="connsiteY10" fmla="*/ 55501 h 146863"/>
                    <a:gd name="connsiteX11" fmla="*/ 20834 w 206291"/>
                    <a:gd name="connsiteY11" fmla="*/ 146778 h 146863"/>
                    <a:gd name="connsiteX12" fmla="*/ 0 w 206291"/>
                    <a:gd name="connsiteY12" fmla="*/ 146778 h 146863"/>
                    <a:gd name="connsiteX13" fmla="*/ 0 w 206291"/>
                    <a:gd name="connsiteY13" fmla="*/ 3330 h 146863"/>
                    <a:gd name="connsiteX14" fmla="*/ 20834 w 206291"/>
                    <a:gd name="connsiteY14" fmla="*/ 3330 h 146863"/>
                    <a:gd name="connsiteX15" fmla="*/ 20834 w 206291"/>
                    <a:gd name="connsiteY15" fmla="*/ 24420 h 146863"/>
                    <a:gd name="connsiteX16" fmla="*/ 62417 w 206291"/>
                    <a:gd name="connsiteY16" fmla="*/ 0 h 146863"/>
                    <a:gd name="connsiteX17" fmla="*/ 108781 w 206291"/>
                    <a:gd name="connsiteY17" fmla="*/ 30483 h 146863"/>
                    <a:gd name="connsiteX18" fmla="*/ 155145 w 206291"/>
                    <a:gd name="connsiteY18" fmla="*/ 0 h 146863"/>
                    <a:gd name="connsiteX19" fmla="*/ 206291 w 206291"/>
                    <a:gd name="connsiteY19" fmla="*/ 55586 h 1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6291" h="146863">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w="8526" cap="flat">
                  <a:noFill/>
                  <a:prstDash val="solid"/>
                  <a:miter/>
                </a:ln>
              </p:spPr>
              <p:txBody>
                <a:bodyPr lIns="87719" tIns="43860" rIns="87719" bIns="438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grpSp>
      <p:cxnSp>
        <p:nvCxnSpPr>
          <p:cNvPr id="349" name="Elbow Connector 348">
            <a:extLst>
              <a:ext uri="{FF2B5EF4-FFF2-40B4-BE49-F238E27FC236}">
                <a16:creationId xmlns:a16="http://schemas.microsoft.com/office/drawing/2014/main" id="{1810F2B3-809B-751F-AA19-7B2793B835CD}"/>
              </a:ext>
            </a:extLst>
          </p:cNvPr>
          <p:cNvCxnSpPr>
            <a:stCxn id="165" idx="4"/>
            <a:endCxn id="93" idx="0"/>
          </p:cNvCxnSpPr>
          <p:nvPr/>
        </p:nvCxnSpPr>
        <p:spPr bwMode="gray">
          <a:xfrm flipH="1">
            <a:off x="1832453" y="2375862"/>
            <a:ext cx="1458972" cy="649677"/>
          </a:xfrm>
          <a:prstGeom prst="bentConnector4">
            <a:avLst>
              <a:gd name="adj1" fmla="val 745"/>
              <a:gd name="adj2" fmla="val -333"/>
            </a:avLst>
          </a:prstGeom>
          <a:ln>
            <a:tailEnd type="none"/>
          </a:ln>
        </p:spPr>
        <p:style>
          <a:lnRef idx="1">
            <a:schemeClr val="accent5"/>
          </a:lnRef>
          <a:fillRef idx="0">
            <a:schemeClr val="accent5"/>
          </a:fillRef>
          <a:effectRef idx="0">
            <a:schemeClr val="accent5"/>
          </a:effectRef>
          <a:fontRef idx="minor">
            <a:schemeClr val="tx1"/>
          </a:fontRef>
        </p:style>
      </p:cxnSp>
      <p:cxnSp>
        <p:nvCxnSpPr>
          <p:cNvPr id="353" name="Elbow Connector 352">
            <a:extLst>
              <a:ext uri="{FF2B5EF4-FFF2-40B4-BE49-F238E27FC236}">
                <a16:creationId xmlns:a16="http://schemas.microsoft.com/office/drawing/2014/main" id="{7B5BC36F-DA7D-581D-6054-D3A3CBAC1D05}"/>
              </a:ext>
            </a:extLst>
          </p:cNvPr>
          <p:cNvCxnSpPr>
            <a:stCxn id="165" idx="4"/>
            <a:endCxn id="322" idx="0"/>
          </p:cNvCxnSpPr>
          <p:nvPr/>
        </p:nvCxnSpPr>
        <p:spPr bwMode="gray">
          <a:xfrm flipH="1">
            <a:off x="2796808" y="2375862"/>
            <a:ext cx="494617" cy="650570"/>
          </a:xfrm>
          <a:prstGeom prst="bentConnector4">
            <a:avLst>
              <a:gd name="adj1" fmla="val 2200"/>
              <a:gd name="adj2" fmla="val 50000"/>
            </a:avLst>
          </a:prstGeom>
          <a:ln>
            <a:tailEnd type="none"/>
          </a:ln>
        </p:spPr>
        <p:style>
          <a:lnRef idx="1">
            <a:schemeClr val="accent5"/>
          </a:lnRef>
          <a:fillRef idx="0">
            <a:schemeClr val="accent5"/>
          </a:fillRef>
          <a:effectRef idx="0">
            <a:schemeClr val="accent5"/>
          </a:effectRef>
          <a:fontRef idx="minor">
            <a:schemeClr val="tx1"/>
          </a:fontRef>
        </p:style>
      </p:cxnSp>
      <p:cxnSp>
        <p:nvCxnSpPr>
          <p:cNvPr id="360" name="Elbow Connector 359">
            <a:extLst>
              <a:ext uri="{FF2B5EF4-FFF2-40B4-BE49-F238E27FC236}">
                <a16:creationId xmlns:a16="http://schemas.microsoft.com/office/drawing/2014/main" id="{B015AC31-9BE2-61EE-254B-8A846961A0AE}"/>
              </a:ext>
            </a:extLst>
          </p:cNvPr>
          <p:cNvCxnSpPr>
            <a:cxnSpLocks/>
            <a:endCxn id="330" idx="0"/>
          </p:cNvCxnSpPr>
          <p:nvPr/>
        </p:nvCxnSpPr>
        <p:spPr bwMode="gray">
          <a:xfrm rot="16200000" flipH="1">
            <a:off x="3202349" y="2454542"/>
            <a:ext cx="645768" cy="494440"/>
          </a:xfrm>
          <a:prstGeom prst="bentConnector3">
            <a:avLst>
              <a:gd name="adj1" fmla="val 50000"/>
            </a:avLst>
          </a:prstGeom>
          <a:ln>
            <a:tailEnd type="none"/>
          </a:ln>
        </p:spPr>
        <p:style>
          <a:lnRef idx="1">
            <a:schemeClr val="accent5"/>
          </a:lnRef>
          <a:fillRef idx="0">
            <a:schemeClr val="accent5"/>
          </a:fillRef>
          <a:effectRef idx="0">
            <a:schemeClr val="accent5"/>
          </a:effectRef>
          <a:fontRef idx="minor">
            <a:schemeClr val="tx1"/>
          </a:fontRef>
        </p:style>
      </p:cxnSp>
      <p:cxnSp>
        <p:nvCxnSpPr>
          <p:cNvPr id="364" name="Elbow Connector 363">
            <a:extLst>
              <a:ext uri="{FF2B5EF4-FFF2-40B4-BE49-F238E27FC236}">
                <a16:creationId xmlns:a16="http://schemas.microsoft.com/office/drawing/2014/main" id="{B03FC1FE-510A-9602-D3DC-ADEF0395295A}"/>
              </a:ext>
            </a:extLst>
          </p:cNvPr>
          <p:cNvCxnSpPr>
            <a:cxnSpLocks/>
            <a:stCxn id="165" idx="4"/>
            <a:endCxn id="338" idx="0"/>
          </p:cNvCxnSpPr>
          <p:nvPr/>
        </p:nvCxnSpPr>
        <p:spPr bwMode="gray">
          <a:xfrm>
            <a:off x="3291425" y="2375862"/>
            <a:ext cx="1445383" cy="649677"/>
          </a:xfrm>
          <a:prstGeom prst="bentConnector2">
            <a:avLst/>
          </a:prstGeom>
          <a:ln>
            <a:tailEnd type="none"/>
          </a:ln>
        </p:spPr>
        <p:style>
          <a:lnRef idx="1">
            <a:schemeClr val="accent5"/>
          </a:lnRef>
          <a:fillRef idx="0">
            <a:schemeClr val="accent5"/>
          </a:fillRef>
          <a:effectRef idx="0">
            <a:schemeClr val="accent5"/>
          </a:effectRef>
          <a:fontRef idx="minor">
            <a:schemeClr val="tx1"/>
          </a:fontRef>
        </p:style>
      </p:cxnSp>
      <p:sp>
        <p:nvSpPr>
          <p:cNvPr id="6" name="Google Shape;1556;p2">
            <a:extLst>
              <a:ext uri="{FF2B5EF4-FFF2-40B4-BE49-F238E27FC236}">
                <a16:creationId xmlns:a16="http://schemas.microsoft.com/office/drawing/2014/main" id="{4AFF4B69-C721-33DB-ACAD-E5788C1CF7C0}"/>
              </a:ext>
            </a:extLst>
          </p:cNvPr>
          <p:cNvSpPr/>
          <p:nvPr/>
        </p:nvSpPr>
        <p:spPr>
          <a:xfrm>
            <a:off x="1369855" y="4491399"/>
            <a:ext cx="3835059" cy="513172"/>
          </a:xfrm>
          <a:prstGeom prst="roundRect">
            <a:avLst>
              <a:gd name="adj" fmla="val 9132"/>
            </a:avLst>
          </a:prstGeom>
          <a:noFill/>
          <a:ln w="19050" cap="flat" cmpd="sng">
            <a:solidFill>
              <a:schemeClr val="accent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 name="Google Shape;1562;p2">
            <a:extLst>
              <a:ext uri="{FF2B5EF4-FFF2-40B4-BE49-F238E27FC236}">
                <a16:creationId xmlns:a16="http://schemas.microsoft.com/office/drawing/2014/main" id="{7DC18BAC-40EB-15DB-326D-39A34063968D}"/>
              </a:ext>
            </a:extLst>
          </p:cNvPr>
          <p:cNvSpPr/>
          <p:nvPr/>
        </p:nvSpPr>
        <p:spPr>
          <a:xfrm>
            <a:off x="1413317" y="4280153"/>
            <a:ext cx="3742625" cy="423705"/>
          </a:xfrm>
          <a:prstGeom prst="roundRect">
            <a:avLst>
              <a:gd name="adj" fmla="val 8857"/>
            </a:avLst>
          </a:prstGeom>
          <a:gradFill>
            <a:gsLst>
              <a:gs pos="0">
                <a:srgbClr val="6C4B8F"/>
              </a:gs>
              <a:gs pos="100000">
                <a:srgbClr val="005B84"/>
              </a:gs>
            </a:gsLst>
            <a:lin ang="0" scaled="0"/>
          </a:gradFill>
          <a:ln>
            <a:noFill/>
          </a:ln>
          <a:effectLst>
            <a:reflection stA="41000" endPos="31000" dist="50800" dir="5400000" fadeDir="5400012" sy="-100000" algn="bl" rotWithShape="0"/>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dirty="0">
              <a:ln>
                <a:noFill/>
              </a:ln>
              <a:solidFill>
                <a:srgbClr val="FFFFFF"/>
              </a:solidFill>
              <a:effectLst/>
              <a:uLnTx/>
              <a:uFillTx/>
              <a:latin typeface="Arial" panose="020B0604020202020204"/>
              <a:ea typeface="Arial"/>
              <a:cs typeface="Arial"/>
              <a:sym typeface="Arial"/>
            </a:endParaRPr>
          </a:p>
        </p:txBody>
      </p:sp>
      <p:sp>
        <p:nvSpPr>
          <p:cNvPr id="10" name="TextBox 9">
            <a:extLst>
              <a:ext uri="{FF2B5EF4-FFF2-40B4-BE49-F238E27FC236}">
                <a16:creationId xmlns:a16="http://schemas.microsoft.com/office/drawing/2014/main" id="{DA3B7084-C9D2-D012-5E0B-6F6B8645C806}"/>
              </a:ext>
            </a:extLst>
          </p:cNvPr>
          <p:cNvSpPr txBox="1"/>
          <p:nvPr/>
        </p:nvSpPr>
        <p:spPr>
          <a:xfrm>
            <a:off x="2960339" y="4433081"/>
            <a:ext cx="895117"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rial" panose="020B0604020202020204"/>
                <a:ea typeface="+mn-ea"/>
                <a:cs typeface="+mn-cs"/>
              </a:rPr>
              <a:t>vSphere</a:t>
            </a:r>
          </a:p>
        </p:txBody>
      </p:sp>
      <p:sp>
        <p:nvSpPr>
          <p:cNvPr id="16" name="Rectangle: Rounded Corners 82">
            <a:extLst>
              <a:ext uri="{FF2B5EF4-FFF2-40B4-BE49-F238E27FC236}">
                <a16:creationId xmlns:a16="http://schemas.microsoft.com/office/drawing/2014/main" id="{F0E395A6-096D-87F9-A724-8F394DFB889D}"/>
              </a:ext>
            </a:extLst>
          </p:cNvPr>
          <p:cNvSpPr/>
          <p:nvPr/>
        </p:nvSpPr>
        <p:spPr>
          <a:xfrm>
            <a:off x="1413317" y="3985063"/>
            <a:ext cx="3742625" cy="209646"/>
          </a:xfrm>
          <a:prstGeom prst="roundRect">
            <a:avLst/>
          </a:prstGeom>
          <a:solidFill>
            <a:schemeClr val="accent5"/>
          </a:solidFill>
          <a:ln w="158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87719" tIns="43860" rIns="87719" bIns="438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a:ea typeface="+mn-ea"/>
                <a:cs typeface="+mn-cs"/>
              </a:rPr>
              <a:t>vSphere Namespace</a:t>
            </a:r>
          </a:p>
        </p:txBody>
      </p:sp>
      <p:grpSp>
        <p:nvGrpSpPr>
          <p:cNvPr id="17" name="Group 16">
            <a:extLst>
              <a:ext uri="{FF2B5EF4-FFF2-40B4-BE49-F238E27FC236}">
                <a16:creationId xmlns:a16="http://schemas.microsoft.com/office/drawing/2014/main" id="{252C3465-B8A2-A4D0-BC4D-562A0DE4E48C}"/>
              </a:ext>
            </a:extLst>
          </p:cNvPr>
          <p:cNvGrpSpPr/>
          <p:nvPr/>
        </p:nvGrpSpPr>
        <p:grpSpPr>
          <a:xfrm>
            <a:off x="2615021" y="4896539"/>
            <a:ext cx="1344725" cy="216064"/>
            <a:chOff x="3604782" y="5211713"/>
            <a:chExt cx="1344725" cy="216064"/>
          </a:xfrm>
        </p:grpSpPr>
        <p:grpSp>
          <p:nvGrpSpPr>
            <p:cNvPr id="18" name="Group 17">
              <a:extLst>
                <a:ext uri="{FF2B5EF4-FFF2-40B4-BE49-F238E27FC236}">
                  <a16:creationId xmlns:a16="http://schemas.microsoft.com/office/drawing/2014/main" id="{8D7143AC-3A41-A3AB-02FC-00B91C05163E}"/>
                </a:ext>
              </a:extLst>
            </p:cNvPr>
            <p:cNvGrpSpPr/>
            <p:nvPr/>
          </p:nvGrpSpPr>
          <p:grpSpPr>
            <a:xfrm>
              <a:off x="4468307" y="5211713"/>
              <a:ext cx="481200" cy="216000"/>
              <a:chOff x="9559097" y="5270063"/>
              <a:chExt cx="481200" cy="216000"/>
            </a:xfrm>
          </p:grpSpPr>
          <p:sp>
            <p:nvSpPr>
              <p:cNvPr id="28" name="Google Shape;1557;p2">
                <a:extLst>
                  <a:ext uri="{FF2B5EF4-FFF2-40B4-BE49-F238E27FC236}">
                    <a16:creationId xmlns:a16="http://schemas.microsoft.com/office/drawing/2014/main" id="{3DB01971-6957-EC4A-9394-983348AE0B1A}"/>
                  </a:ext>
                </a:extLst>
              </p:cNvPr>
              <p:cNvSpPr/>
              <p:nvPr/>
            </p:nvSpPr>
            <p:spPr>
              <a:xfrm>
                <a:off x="9559097" y="5319713"/>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29" name="Google Shape;1622;p2">
                <a:extLst>
                  <a:ext uri="{FF2B5EF4-FFF2-40B4-BE49-F238E27FC236}">
                    <a16:creationId xmlns:a16="http://schemas.microsoft.com/office/drawing/2014/main" id="{CB5C8073-86B3-0BA3-2E9A-E7DF16ACB447}"/>
                  </a:ext>
                </a:extLst>
              </p:cNvPr>
              <p:cNvSpPr>
                <a:spLocks noChangeAspect="1"/>
              </p:cNvSpPr>
              <p:nvPr/>
            </p:nvSpPr>
            <p:spPr>
              <a:xfrm>
                <a:off x="9691694" y="5270063"/>
                <a:ext cx="216000" cy="216000"/>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9" name="Group 18">
              <a:extLst>
                <a:ext uri="{FF2B5EF4-FFF2-40B4-BE49-F238E27FC236}">
                  <a16:creationId xmlns:a16="http://schemas.microsoft.com/office/drawing/2014/main" id="{44E0493F-B3DB-F0FA-2CD8-DD97DC161CEF}"/>
                </a:ext>
              </a:extLst>
            </p:cNvPr>
            <p:cNvGrpSpPr/>
            <p:nvPr/>
          </p:nvGrpSpPr>
          <p:grpSpPr>
            <a:xfrm>
              <a:off x="4059181" y="5211713"/>
              <a:ext cx="437400" cy="216000"/>
              <a:chOff x="9895949" y="1413332"/>
              <a:chExt cx="437400" cy="216000"/>
            </a:xfrm>
          </p:grpSpPr>
          <p:sp>
            <p:nvSpPr>
              <p:cNvPr id="26" name="Google Shape;1558;p2">
                <a:extLst>
                  <a:ext uri="{FF2B5EF4-FFF2-40B4-BE49-F238E27FC236}">
                    <a16:creationId xmlns:a16="http://schemas.microsoft.com/office/drawing/2014/main" id="{C07AB53D-D648-C62C-6625-1424BF86FE06}"/>
                  </a:ext>
                </a:extLst>
              </p:cNvPr>
              <p:cNvSpPr/>
              <p:nvPr/>
            </p:nvSpPr>
            <p:spPr>
              <a:xfrm>
                <a:off x="9895949" y="1462982"/>
                <a:ext cx="4374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27" name="Google Shape;1623;p2">
                <a:extLst>
                  <a:ext uri="{FF2B5EF4-FFF2-40B4-BE49-F238E27FC236}">
                    <a16:creationId xmlns:a16="http://schemas.microsoft.com/office/drawing/2014/main" id="{4AB4BEA7-B6C2-BC57-18F8-426AC803A78D}"/>
                  </a:ext>
                </a:extLst>
              </p:cNvPr>
              <p:cNvSpPr>
                <a:spLocks noChangeAspect="1"/>
              </p:cNvSpPr>
              <p:nvPr/>
            </p:nvSpPr>
            <p:spPr>
              <a:xfrm>
                <a:off x="10018018" y="1413332"/>
                <a:ext cx="193263" cy="216000"/>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0" name="Group 19">
              <a:extLst>
                <a:ext uri="{FF2B5EF4-FFF2-40B4-BE49-F238E27FC236}">
                  <a16:creationId xmlns:a16="http://schemas.microsoft.com/office/drawing/2014/main" id="{077DB48B-B7C6-F032-2535-FCCE331B82E8}"/>
                </a:ext>
              </a:extLst>
            </p:cNvPr>
            <p:cNvGrpSpPr/>
            <p:nvPr/>
          </p:nvGrpSpPr>
          <p:grpSpPr>
            <a:xfrm>
              <a:off x="3604782" y="5211777"/>
              <a:ext cx="481200" cy="216000"/>
              <a:chOff x="8526343" y="2145622"/>
              <a:chExt cx="481200" cy="216000"/>
            </a:xfrm>
          </p:grpSpPr>
          <p:sp>
            <p:nvSpPr>
              <p:cNvPr id="21" name="Google Shape;1557;p2">
                <a:extLst>
                  <a:ext uri="{FF2B5EF4-FFF2-40B4-BE49-F238E27FC236}">
                    <a16:creationId xmlns:a16="http://schemas.microsoft.com/office/drawing/2014/main" id="{84F82034-4702-67DB-8E54-28BA4272E77A}"/>
                  </a:ext>
                </a:extLst>
              </p:cNvPr>
              <p:cNvSpPr/>
              <p:nvPr/>
            </p:nvSpPr>
            <p:spPr>
              <a:xfrm>
                <a:off x="8526343" y="2191830"/>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grpSp>
            <p:nvGrpSpPr>
              <p:cNvPr id="22" name="Google Shape;1618;p2">
                <a:extLst>
                  <a:ext uri="{FF2B5EF4-FFF2-40B4-BE49-F238E27FC236}">
                    <a16:creationId xmlns:a16="http://schemas.microsoft.com/office/drawing/2014/main" id="{BB11BADA-CE9B-7603-A7BB-B191A49EB7D9}"/>
                  </a:ext>
                </a:extLst>
              </p:cNvPr>
              <p:cNvGrpSpPr>
                <a:grpSpLocks noChangeAspect="1"/>
              </p:cNvGrpSpPr>
              <p:nvPr/>
            </p:nvGrpSpPr>
            <p:grpSpPr>
              <a:xfrm>
                <a:off x="8658941" y="2145622"/>
                <a:ext cx="216005" cy="216000"/>
                <a:chOff x="3822556" y="5087301"/>
                <a:chExt cx="611339" cy="557273"/>
              </a:xfrm>
            </p:grpSpPr>
            <p:sp>
              <p:nvSpPr>
                <p:cNvPr id="23" name="Google Shape;1619;p2">
                  <a:extLst>
                    <a:ext uri="{FF2B5EF4-FFF2-40B4-BE49-F238E27FC236}">
                      <a16:creationId xmlns:a16="http://schemas.microsoft.com/office/drawing/2014/main" id="{6823A423-9332-677E-26D2-CE4B96AC7364}"/>
                    </a:ext>
                  </a:extLst>
                </p:cNvPr>
                <p:cNvSpPr/>
                <p:nvPr/>
              </p:nvSpPr>
              <p:spPr>
                <a:xfrm>
                  <a:off x="3822556" y="5087301"/>
                  <a:ext cx="611339" cy="161801"/>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4" name="Google Shape;1620;p2">
                  <a:extLst>
                    <a:ext uri="{FF2B5EF4-FFF2-40B4-BE49-F238E27FC236}">
                      <a16:creationId xmlns:a16="http://schemas.microsoft.com/office/drawing/2014/main" id="{B32D494A-4849-E551-A2E8-5E618C1C32F4}"/>
                    </a:ext>
                  </a:extLst>
                </p:cNvPr>
                <p:cNvSpPr/>
                <p:nvPr/>
              </p:nvSpPr>
              <p:spPr>
                <a:xfrm>
                  <a:off x="3822556" y="5284403"/>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5" name="Google Shape;1621;p2">
                  <a:extLst>
                    <a:ext uri="{FF2B5EF4-FFF2-40B4-BE49-F238E27FC236}">
                      <a16:creationId xmlns:a16="http://schemas.microsoft.com/office/drawing/2014/main" id="{E668C8B6-EE2D-20C5-4E9A-44FBCEA98555}"/>
                    </a:ext>
                  </a:extLst>
                </p:cNvPr>
                <p:cNvSpPr/>
                <p:nvPr/>
              </p:nvSpPr>
              <p:spPr>
                <a:xfrm>
                  <a:off x="3822556" y="5482729"/>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5" name="Google Shape;1373;p147">
            <a:extLst>
              <a:ext uri="{FF2B5EF4-FFF2-40B4-BE49-F238E27FC236}">
                <a16:creationId xmlns:a16="http://schemas.microsoft.com/office/drawing/2014/main" id="{F64864DA-CBE3-CF8A-9258-66ABA9002338}"/>
              </a:ext>
            </a:extLst>
          </p:cNvPr>
          <p:cNvSpPr txBox="1"/>
          <p:nvPr/>
        </p:nvSpPr>
        <p:spPr>
          <a:xfrm>
            <a:off x="7665357" y="615955"/>
            <a:ext cx="3345329" cy="385700"/>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85000"/>
              </a:lnSpc>
              <a:spcBef>
                <a:spcPts val="0"/>
              </a:spcBef>
              <a:spcAft>
                <a:spcPts val="0"/>
              </a:spcAft>
              <a:buClr>
                <a:srgbClr val="000000"/>
              </a:buClr>
              <a:buSzPts val="1799"/>
              <a:buFont typeface="Arial"/>
              <a:buNone/>
              <a:tabLst/>
              <a:defRPr/>
            </a:pPr>
            <a:r>
              <a:rPr kumimoji="0" lang="en-US" sz="1799" b="1" i="0" u="none" strike="noStrike" kern="1200" cap="none" spc="0" normalizeH="0" baseline="0" noProof="0" dirty="0">
                <a:ln>
                  <a:noFill/>
                </a:ln>
                <a:solidFill>
                  <a:srgbClr val="005C8A"/>
                </a:solidFill>
                <a:effectLst/>
                <a:uLnTx/>
                <a:uFillTx/>
                <a:latin typeface="Arial" panose="020B0604020202020204"/>
                <a:ea typeface="Arial"/>
                <a:cs typeface="Arial"/>
                <a:sym typeface="Arial"/>
              </a:rPr>
              <a:t>Highlights</a:t>
            </a:r>
            <a:endParaRPr kumimoji="0" sz="14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
        <p:nvSpPr>
          <p:cNvPr id="8" name="Google Shape;1375;p147">
            <a:extLst>
              <a:ext uri="{FF2B5EF4-FFF2-40B4-BE49-F238E27FC236}">
                <a16:creationId xmlns:a16="http://schemas.microsoft.com/office/drawing/2014/main" id="{6BB3617E-63CB-5E0F-B316-4ED7600123EC}"/>
              </a:ext>
            </a:extLst>
          </p:cNvPr>
          <p:cNvSpPr txBox="1"/>
          <p:nvPr/>
        </p:nvSpPr>
        <p:spPr>
          <a:xfrm>
            <a:off x="7665359" y="3599363"/>
            <a:ext cx="3835591" cy="385700"/>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85000"/>
              </a:lnSpc>
              <a:spcBef>
                <a:spcPts val="0"/>
              </a:spcBef>
              <a:spcAft>
                <a:spcPts val="0"/>
              </a:spcAft>
              <a:buClr>
                <a:srgbClr val="000000"/>
              </a:buClr>
              <a:buSzPts val="1799"/>
              <a:buFont typeface="Arial"/>
              <a:buNone/>
              <a:tabLst/>
              <a:defRPr/>
            </a:pPr>
            <a:r>
              <a:rPr kumimoji="0" lang="en-US" sz="1799" b="1" i="0" u="none" strike="noStrike" kern="1200" cap="none" spc="0" normalizeH="0" baseline="0" noProof="0" dirty="0">
                <a:ln>
                  <a:noFill/>
                </a:ln>
                <a:solidFill>
                  <a:srgbClr val="6C4B93"/>
                </a:solidFill>
                <a:effectLst/>
                <a:uLnTx/>
                <a:uFillTx/>
                <a:latin typeface="Arial" panose="020B0604020202020204"/>
                <a:ea typeface="Arial"/>
                <a:cs typeface="Arial"/>
                <a:sym typeface="Arial"/>
              </a:rPr>
              <a:t>Features</a:t>
            </a:r>
            <a:endParaRPr kumimoji="0" sz="14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
        <p:nvSpPr>
          <p:cNvPr id="9" name="Google Shape;1378;p147">
            <a:extLst>
              <a:ext uri="{FF2B5EF4-FFF2-40B4-BE49-F238E27FC236}">
                <a16:creationId xmlns:a16="http://schemas.microsoft.com/office/drawing/2014/main" id="{A8E2DED5-862B-10D0-9D10-103404D70D25}"/>
              </a:ext>
            </a:extLst>
          </p:cNvPr>
          <p:cNvSpPr/>
          <p:nvPr/>
        </p:nvSpPr>
        <p:spPr>
          <a:xfrm>
            <a:off x="7110822" y="1275902"/>
            <a:ext cx="14996" cy="2030771"/>
          </a:xfrm>
          <a:prstGeom prst="rect">
            <a:avLst/>
          </a:prstGeom>
          <a:gradFill>
            <a:gsLst>
              <a:gs pos="0">
                <a:schemeClr val="accent3"/>
              </a:gs>
              <a:gs pos="100000">
                <a:srgbClr val="0193C2">
                  <a:alpha val="0"/>
                </a:srgbClr>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50" name="Google Shape;1379;p147">
            <a:extLst>
              <a:ext uri="{FF2B5EF4-FFF2-40B4-BE49-F238E27FC236}">
                <a16:creationId xmlns:a16="http://schemas.microsoft.com/office/drawing/2014/main" id="{4C05C5B8-A492-F16F-78DE-3E34E3416639}"/>
              </a:ext>
            </a:extLst>
          </p:cNvPr>
          <p:cNvSpPr/>
          <p:nvPr/>
        </p:nvSpPr>
        <p:spPr>
          <a:xfrm>
            <a:off x="7110822" y="4107679"/>
            <a:ext cx="14996" cy="1722751"/>
          </a:xfrm>
          <a:prstGeom prst="rect">
            <a:avLst/>
          </a:prstGeom>
          <a:gradFill>
            <a:gsLst>
              <a:gs pos="0">
                <a:schemeClr val="accent5"/>
              </a:gs>
              <a:gs pos="100000">
                <a:srgbClr val="6C4B8F">
                  <a:alpha val="0"/>
                </a:srgbClr>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51" name="Google Shape;1380;p147">
            <a:extLst>
              <a:ext uri="{FF2B5EF4-FFF2-40B4-BE49-F238E27FC236}">
                <a16:creationId xmlns:a16="http://schemas.microsoft.com/office/drawing/2014/main" id="{7ABD21D2-9E9B-9506-B00F-9738E7E46DA4}"/>
              </a:ext>
            </a:extLst>
          </p:cNvPr>
          <p:cNvGrpSpPr/>
          <p:nvPr/>
        </p:nvGrpSpPr>
        <p:grpSpPr>
          <a:xfrm>
            <a:off x="6871563" y="789315"/>
            <a:ext cx="493819" cy="493671"/>
            <a:chOff x="2820929" y="2993975"/>
            <a:chExt cx="493800" cy="493800"/>
          </a:xfrm>
        </p:grpSpPr>
        <p:sp>
          <p:nvSpPr>
            <p:cNvPr id="52" name="Google Shape;1381;p147">
              <a:extLst>
                <a:ext uri="{FF2B5EF4-FFF2-40B4-BE49-F238E27FC236}">
                  <a16:creationId xmlns:a16="http://schemas.microsoft.com/office/drawing/2014/main" id="{DF353E2F-D2E1-E4E0-B48B-9B6E27FA2EA8}"/>
                </a:ext>
              </a:extLst>
            </p:cNvPr>
            <p:cNvSpPr/>
            <p:nvPr/>
          </p:nvSpPr>
          <p:spPr>
            <a:xfrm>
              <a:off x="2820929" y="2993975"/>
              <a:ext cx="493800" cy="493800"/>
            </a:xfrm>
            <a:prstGeom prst="ellipse">
              <a:avLst/>
            </a:prstGeom>
            <a:solidFill>
              <a:srgbClr val="FFFFFF"/>
            </a:solidFill>
            <a:ln w="12700" cap="flat" cmpd="sng">
              <a:solidFill>
                <a:schemeClr val="accent3"/>
              </a:solidFill>
              <a:prstDash val="solid"/>
              <a:miter lim="800000"/>
              <a:headEnd type="none" w="sm" len="sm"/>
              <a:tailEnd type="none" w="sm" len="sm"/>
            </a:ln>
            <a:effectLst>
              <a:outerShdw sx="120000" sy="120000" algn="ctr" rotWithShape="0">
                <a:schemeClr val="accent2">
                  <a:alpha val="22352"/>
                </a:schemeClr>
              </a:outerShdw>
            </a:effectLst>
          </p:spPr>
          <p:txBody>
            <a:bodyPr spcFirstLastPara="1" wrap="square" lIns="36565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53" name="Google Shape;1382;p147">
              <a:extLst>
                <a:ext uri="{FF2B5EF4-FFF2-40B4-BE49-F238E27FC236}">
                  <a16:creationId xmlns:a16="http://schemas.microsoft.com/office/drawing/2014/main" id="{F0CE34B8-0008-67B4-0E5C-C57843FCDE8F}"/>
                </a:ext>
              </a:extLst>
            </p:cNvPr>
            <p:cNvPicPr preferRelativeResize="0"/>
            <p:nvPr/>
          </p:nvPicPr>
          <p:blipFill rotWithShape="1">
            <a:blip r:embed="rId3">
              <a:alphaModFix/>
            </a:blip>
            <a:srcRect/>
            <a:stretch/>
          </p:blipFill>
          <p:spPr>
            <a:xfrm>
              <a:off x="2941865" y="3100008"/>
              <a:ext cx="268576" cy="268576"/>
            </a:xfrm>
            <a:prstGeom prst="rect">
              <a:avLst/>
            </a:prstGeom>
            <a:noFill/>
            <a:ln>
              <a:noFill/>
            </a:ln>
          </p:spPr>
        </p:pic>
      </p:grpSp>
      <p:grpSp>
        <p:nvGrpSpPr>
          <p:cNvPr id="54" name="Google Shape;1383;p147">
            <a:extLst>
              <a:ext uri="{FF2B5EF4-FFF2-40B4-BE49-F238E27FC236}">
                <a16:creationId xmlns:a16="http://schemas.microsoft.com/office/drawing/2014/main" id="{56360EFF-1DC7-3558-B224-15B099CD050D}"/>
              </a:ext>
            </a:extLst>
          </p:cNvPr>
          <p:cNvGrpSpPr/>
          <p:nvPr/>
        </p:nvGrpSpPr>
        <p:grpSpPr>
          <a:xfrm>
            <a:off x="6871794" y="3607466"/>
            <a:ext cx="493819" cy="493671"/>
            <a:chOff x="8669697" y="2993975"/>
            <a:chExt cx="493800" cy="493800"/>
          </a:xfrm>
        </p:grpSpPr>
        <p:sp>
          <p:nvSpPr>
            <p:cNvPr id="55" name="Google Shape;1384;p147">
              <a:extLst>
                <a:ext uri="{FF2B5EF4-FFF2-40B4-BE49-F238E27FC236}">
                  <a16:creationId xmlns:a16="http://schemas.microsoft.com/office/drawing/2014/main" id="{A3C187DD-E4C3-0967-8D67-05E9FA3CA654}"/>
                </a:ext>
              </a:extLst>
            </p:cNvPr>
            <p:cNvSpPr/>
            <p:nvPr/>
          </p:nvSpPr>
          <p:spPr>
            <a:xfrm>
              <a:off x="8669697" y="2993975"/>
              <a:ext cx="493800" cy="493800"/>
            </a:xfrm>
            <a:prstGeom prst="ellipse">
              <a:avLst/>
            </a:prstGeom>
            <a:solidFill>
              <a:schemeClr val="lt1"/>
            </a:solidFill>
            <a:ln w="12700" cap="flat" cmpd="sng">
              <a:solidFill>
                <a:schemeClr val="accent5"/>
              </a:solidFill>
              <a:prstDash val="solid"/>
              <a:miter lim="800000"/>
              <a:headEnd type="none" w="sm" len="sm"/>
              <a:tailEnd type="none" w="sm" len="sm"/>
            </a:ln>
            <a:effectLst>
              <a:outerShdw sx="120000" sy="120000" algn="ctr" rotWithShape="0">
                <a:schemeClr val="accent5">
                  <a:alpha val="25490"/>
                </a:schemeClr>
              </a:outerShdw>
            </a:effectLst>
          </p:spPr>
          <p:txBody>
            <a:bodyPr spcFirstLastPara="1" wrap="square" lIns="36565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9"/>
                <a:buFont typeface="Arial"/>
                <a:buNone/>
                <a:tabLst/>
                <a:defRPr/>
              </a:pPr>
              <a:endParaRPr kumimoji="0" sz="1799"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56" name="Google Shape;1385;p147">
              <a:extLst>
                <a:ext uri="{FF2B5EF4-FFF2-40B4-BE49-F238E27FC236}">
                  <a16:creationId xmlns:a16="http://schemas.microsoft.com/office/drawing/2014/main" id="{8D964A61-79AD-77BF-D645-9352ADE60216}"/>
                </a:ext>
              </a:extLst>
            </p:cNvPr>
            <p:cNvPicPr preferRelativeResize="0"/>
            <p:nvPr/>
          </p:nvPicPr>
          <p:blipFill rotWithShape="1">
            <a:blip r:embed="rId4">
              <a:alphaModFix/>
            </a:blip>
            <a:srcRect/>
            <a:stretch/>
          </p:blipFill>
          <p:spPr>
            <a:xfrm>
              <a:off x="8762368" y="3100008"/>
              <a:ext cx="307627" cy="307628"/>
            </a:xfrm>
            <a:prstGeom prst="rect">
              <a:avLst/>
            </a:prstGeom>
            <a:noFill/>
            <a:ln>
              <a:noFill/>
            </a:ln>
          </p:spPr>
        </p:pic>
      </p:grpSp>
      <p:sp>
        <p:nvSpPr>
          <p:cNvPr id="57" name="Google Shape;1372;p147">
            <a:extLst>
              <a:ext uri="{FF2B5EF4-FFF2-40B4-BE49-F238E27FC236}">
                <a16:creationId xmlns:a16="http://schemas.microsoft.com/office/drawing/2014/main" id="{FB83DF28-2776-CC6D-60AA-99EA6AC82BD8}"/>
              </a:ext>
            </a:extLst>
          </p:cNvPr>
          <p:cNvSpPr/>
          <p:nvPr/>
        </p:nvSpPr>
        <p:spPr>
          <a:xfrm>
            <a:off x="7665358" y="1111191"/>
            <a:ext cx="4163815" cy="2129099"/>
          </a:xfrm>
          <a:prstGeom prst="rect">
            <a:avLst/>
          </a:prstGeom>
          <a:noFill/>
          <a:ln>
            <a:noFill/>
          </a:ln>
        </p:spPr>
        <p:txBody>
          <a:bodyPr spcFirstLastPara="1" wrap="square" lIns="0" tIns="45625" rIns="91325" bIns="45625" anchor="t" anchorCtr="0">
            <a:noAutofit/>
          </a:bodyPr>
          <a:lstStyle/>
          <a:p>
            <a:pPr marL="342900" marR="0" lvl="0" indent="-342900" algn="l" defTabSz="914400" rtl="0" eaLnBrk="1" fontAlgn="auto" latinLnBrk="0" hangingPunct="1">
              <a:lnSpc>
                <a:spcPct val="100000"/>
              </a:lnSpc>
              <a:spcBef>
                <a:spcPts val="0"/>
              </a:spcBef>
              <a:spcAft>
                <a:spcPts val="0"/>
              </a:spcAft>
              <a:buClr>
                <a:srgbClr val="000000"/>
              </a:buClr>
              <a:buSzTx/>
              <a:buFont typeface="Wingdings" pitchFamily="2" charset="2"/>
              <a:buChar char="ü"/>
              <a:tabLst/>
              <a:defRPr/>
            </a:pPr>
            <a:endParaRPr kumimoji="0" lang="en-US" sz="16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58" name="Google Shape;1374;p147">
            <a:extLst>
              <a:ext uri="{FF2B5EF4-FFF2-40B4-BE49-F238E27FC236}">
                <a16:creationId xmlns:a16="http://schemas.microsoft.com/office/drawing/2014/main" id="{FB0661D2-84C9-BCDD-BED6-BFEF3A83B5B4}"/>
              </a:ext>
            </a:extLst>
          </p:cNvPr>
          <p:cNvSpPr/>
          <p:nvPr/>
        </p:nvSpPr>
        <p:spPr>
          <a:xfrm>
            <a:off x="7665358" y="4098890"/>
            <a:ext cx="4163815" cy="2051462"/>
          </a:xfrm>
          <a:prstGeom prst="rect">
            <a:avLst/>
          </a:prstGeom>
          <a:noFill/>
          <a:ln>
            <a:noFill/>
          </a:ln>
        </p:spPr>
        <p:txBody>
          <a:bodyPr spcFirstLastPara="1" wrap="square" lIns="0" tIns="45625" rIns="91325" bIns="45625" anchor="t" anchorCtr="0">
            <a:noAutofit/>
          </a:bodyPr>
          <a:lstStyle/>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Deploy from OVF or ISO</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Hardware definition through </a:t>
            </a:r>
            <a:r>
              <a:rPr kumimoji="0" lang="en-GB" sz="1600" b="0" i="0" u="none" strike="noStrike" kern="1200" cap="none" spc="0" normalizeH="0" baseline="0" noProof="0" dirty="0" err="1">
                <a:ln>
                  <a:noFill/>
                </a:ln>
                <a:solidFill>
                  <a:srgbClr val="000000"/>
                </a:solidFill>
                <a:effectLst/>
                <a:uLnTx/>
                <a:uFillTx/>
                <a:latin typeface="Arial" panose="020B0604020202020204"/>
                <a:ea typeface="Arial"/>
                <a:cs typeface="Arial"/>
                <a:sym typeface="Arial"/>
              </a:rPr>
              <a:t>VMClass</a:t>
            </a:r>
            <a:endPar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Cloud-</a:t>
            </a:r>
            <a:r>
              <a:rPr kumimoji="0" lang="en-GB" sz="1600" b="0" i="0" u="none" strike="noStrike" kern="1200" cap="none" spc="0" normalizeH="0" baseline="0" noProof="0" dirty="0" err="1">
                <a:ln>
                  <a:noFill/>
                </a:ln>
                <a:solidFill>
                  <a:srgbClr val="000000"/>
                </a:solidFill>
                <a:effectLst/>
                <a:uLnTx/>
                <a:uFillTx/>
                <a:latin typeface="Arial" panose="020B0604020202020204"/>
                <a:ea typeface="Arial"/>
                <a:cs typeface="Arial"/>
                <a:sym typeface="Arial"/>
              </a:rPr>
              <a:t>init</a:t>
            </a: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 and </a:t>
            </a:r>
            <a:r>
              <a:rPr kumimoji="0" lang="en-GB" sz="1600" b="0" i="0" u="none" strike="noStrike" kern="1200" cap="none" spc="0" normalizeH="0" baseline="0" noProof="0" dirty="0" err="1">
                <a:ln>
                  <a:noFill/>
                </a:ln>
                <a:solidFill>
                  <a:srgbClr val="000000"/>
                </a:solidFill>
                <a:effectLst/>
                <a:uLnTx/>
                <a:uFillTx/>
                <a:latin typeface="Arial" panose="020B0604020202020204"/>
                <a:ea typeface="Arial"/>
                <a:cs typeface="Arial"/>
                <a:sym typeface="Arial"/>
              </a:rPr>
              <a:t>Sysprep</a:t>
            </a: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 support</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Easy integration with existing image packaging and configuration management tools</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err="1">
                <a:ln>
                  <a:noFill/>
                </a:ln>
                <a:solidFill>
                  <a:srgbClr val="000000"/>
                </a:solidFill>
                <a:effectLst/>
                <a:uLnTx/>
                <a:uFillTx/>
                <a:latin typeface="Arial" panose="020B0604020202020204"/>
                <a:ea typeface="Arial"/>
                <a:cs typeface="Arial"/>
                <a:sym typeface="Arial"/>
              </a:rPr>
              <a:t>GitOps</a:t>
            </a: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 support</a:t>
            </a:r>
            <a:endParaRPr kumimoji="0"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a:p>
            <a:pPr marL="0" marR="0" lvl="0" indent="0" algn="l" defTabSz="914400" rtl="0" eaLnBrk="1" fontAlgn="auto" latinLnBrk="0" hangingPunct="1">
              <a:lnSpc>
                <a:spcPct val="90000"/>
              </a:lnSpc>
              <a:spcBef>
                <a:spcPts val="0"/>
              </a:spcBef>
              <a:spcAft>
                <a:spcPts val="0"/>
              </a:spcAft>
              <a:buClr>
                <a:srgbClr val="000000"/>
              </a:buClr>
              <a:buSzPts val="1200"/>
              <a:buFont typeface="Arial"/>
              <a:buNone/>
              <a:tabLst/>
              <a:defRPr/>
            </a:pPr>
            <a:endParaRPr kumimoji="0"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
        <p:nvSpPr>
          <p:cNvPr id="61" name="Google Shape;1374;p147">
            <a:extLst>
              <a:ext uri="{FF2B5EF4-FFF2-40B4-BE49-F238E27FC236}">
                <a16:creationId xmlns:a16="http://schemas.microsoft.com/office/drawing/2014/main" id="{626FEF2A-5290-A828-237D-5B2BA6C6C448}"/>
              </a:ext>
            </a:extLst>
          </p:cNvPr>
          <p:cNvSpPr/>
          <p:nvPr/>
        </p:nvSpPr>
        <p:spPr>
          <a:xfrm>
            <a:off x="7674358" y="1224730"/>
            <a:ext cx="4163815" cy="2051462"/>
          </a:xfrm>
          <a:prstGeom prst="rect">
            <a:avLst/>
          </a:prstGeom>
          <a:noFill/>
          <a:ln>
            <a:noFill/>
          </a:ln>
        </p:spPr>
        <p:txBody>
          <a:bodyPr spcFirstLastPara="1" wrap="square" lIns="0" tIns="45625" rIns="91325" bIns="45625" anchor="t" anchorCtr="0">
            <a:noAutofit/>
          </a:bodyPr>
          <a:lstStyle/>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Declarative definition of Virtual Machines</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Desired State lifecycle management</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Direct access and self-service by Consumers</a:t>
            </a:r>
          </a:p>
          <a:p>
            <a:pPr marL="285750" marR="0" lvl="0" indent="-285750" algn="l" defTabSz="914400" rtl="0" eaLnBrk="1" fontAlgn="auto" latinLnBrk="0" hangingPunct="1">
              <a:lnSpc>
                <a:spcPct val="100000"/>
              </a:lnSpc>
              <a:spcBef>
                <a:spcPts val="0"/>
              </a:spcBef>
              <a:spcAft>
                <a:spcPts val="600"/>
              </a:spcAft>
              <a:buClr>
                <a:srgbClr val="000000"/>
              </a:buClr>
              <a:buSzPts val="1200"/>
              <a:buFont typeface="Wingdings" pitchFamily="2" charset="2"/>
              <a:buChar char="ü"/>
              <a:tabLst/>
              <a:defRPr/>
            </a:pPr>
            <a:r>
              <a:rPr kumimoji="0" lang="en-GB"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rPr>
              <a:t>Full VM configuration through cloud config</a:t>
            </a:r>
          </a:p>
          <a:p>
            <a:pPr marL="0" marR="0" lvl="0" indent="0" algn="l" defTabSz="914400" rtl="0" eaLnBrk="1" fontAlgn="auto" latinLnBrk="0" hangingPunct="1">
              <a:lnSpc>
                <a:spcPct val="90000"/>
              </a:lnSpc>
              <a:spcBef>
                <a:spcPts val="0"/>
              </a:spcBef>
              <a:spcAft>
                <a:spcPts val="0"/>
              </a:spcAft>
              <a:buClr>
                <a:srgbClr val="000000"/>
              </a:buClr>
              <a:buSzPts val="1200"/>
              <a:buFont typeface="Arial"/>
              <a:buNone/>
              <a:tabLst/>
              <a:defRPr/>
            </a:pPr>
            <a:endParaRPr kumimoji="0" sz="1600" b="0" i="0" u="none" strike="noStrike" kern="1200" cap="none" spc="0" normalizeH="0" baseline="0" noProof="0" dirty="0">
              <a:ln>
                <a:noFill/>
              </a:ln>
              <a:solidFill>
                <a:srgbClr val="000000"/>
              </a:solidFill>
              <a:effectLst/>
              <a:uLnTx/>
              <a:uFillTx/>
              <a:latin typeface="Arial" panose="020B0604020202020204"/>
              <a:ea typeface="Arial"/>
              <a:cs typeface="Arial"/>
              <a:sym typeface="Arial"/>
            </a:endParaRPr>
          </a:p>
        </p:txBody>
      </p:sp>
    </p:spTree>
    <p:extLst>
      <p:ext uri="{BB962C8B-B14F-4D97-AF65-F5344CB8AC3E}">
        <p14:creationId xmlns:p14="http://schemas.microsoft.com/office/powerpoint/2010/main" val="3573274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ED04E-69A5-5F03-0BEF-8789127698B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BC77DF3-0359-07B6-F2A3-28E32AFC1D1B}"/>
              </a:ext>
            </a:extLst>
          </p:cNvPr>
          <p:cNvSpPr>
            <a:spLocks noGrp="1"/>
          </p:cNvSpPr>
          <p:nvPr>
            <p:ph type="title"/>
          </p:nvPr>
        </p:nvSpPr>
        <p:spPr/>
        <p:txBody>
          <a:bodyPr/>
          <a:lstStyle/>
          <a:p>
            <a:r>
              <a:rPr lang="en-US" dirty="0"/>
              <a:t>Enable GitOps with ArgoCD Service</a:t>
            </a:r>
          </a:p>
        </p:txBody>
      </p:sp>
      <p:sp>
        <p:nvSpPr>
          <p:cNvPr id="3" name="Subtitle 2">
            <a:extLst>
              <a:ext uri="{FF2B5EF4-FFF2-40B4-BE49-F238E27FC236}">
                <a16:creationId xmlns:a16="http://schemas.microsoft.com/office/drawing/2014/main" id="{78E9F7C4-491C-42DC-DD74-32FA183B15DA}"/>
              </a:ext>
            </a:extLst>
          </p:cNvPr>
          <p:cNvSpPr>
            <a:spLocks noGrp="1"/>
          </p:cNvSpPr>
          <p:nvPr>
            <p:ph type="subTitle" idx="10"/>
          </p:nvPr>
        </p:nvSpPr>
        <p:spPr/>
        <p:txBody>
          <a:bodyPr/>
          <a:lstStyle/>
          <a:p>
            <a:r>
              <a:rPr lang="en-US" dirty="0"/>
              <a:t>Introducing ArgoCD service</a:t>
            </a:r>
          </a:p>
        </p:txBody>
      </p:sp>
      <p:sp>
        <p:nvSpPr>
          <p:cNvPr id="6" name="Text Placeholder 5">
            <a:extLst>
              <a:ext uri="{FF2B5EF4-FFF2-40B4-BE49-F238E27FC236}">
                <a16:creationId xmlns:a16="http://schemas.microsoft.com/office/drawing/2014/main" id="{8C8CF684-721F-11F0-4930-817B66E8A4DA}"/>
              </a:ext>
            </a:extLst>
          </p:cNvPr>
          <p:cNvSpPr>
            <a:spLocks noGrp="1"/>
          </p:cNvSpPr>
          <p:nvPr>
            <p:ph type="body" sz="quarter" idx="20"/>
          </p:nvPr>
        </p:nvSpPr>
        <p:spPr/>
        <p:txBody>
          <a:bodyPr/>
          <a:lstStyle/>
          <a:p>
            <a:r>
              <a:rPr lang="en-US" sz="1600" b="1" dirty="0"/>
              <a:t>Continuous Delivery </a:t>
            </a:r>
            <a:r>
              <a:rPr lang="en-US" sz="1600" dirty="0"/>
              <a:t>with</a:t>
            </a:r>
            <a:r>
              <a:rPr lang="en-US" sz="1600" b="1" dirty="0"/>
              <a:t> ArgoCD</a:t>
            </a:r>
            <a:endParaRPr lang="en-US" sz="1600" dirty="0"/>
          </a:p>
          <a:p>
            <a:r>
              <a:rPr lang="en-US" sz="1600" b="1" dirty="0"/>
              <a:t>Single API target</a:t>
            </a:r>
            <a:r>
              <a:rPr lang="en-US" sz="1600" dirty="0"/>
              <a:t> for all resources – VKS clusters, VMs, LBs, PVCs,..</a:t>
            </a:r>
          </a:p>
          <a:p>
            <a:r>
              <a:rPr lang="en-US" sz="1600" dirty="0"/>
              <a:t>Reuse automatically created desired state manifest</a:t>
            </a:r>
          </a:p>
          <a:p>
            <a:r>
              <a:rPr lang="en-US" sz="1600" dirty="0"/>
              <a:t>Manage ArgoCD Instance and Apps with </a:t>
            </a:r>
            <a:r>
              <a:rPr lang="en-US" sz="1600" b="1" dirty="0"/>
              <a:t>UI</a:t>
            </a:r>
            <a:r>
              <a:rPr lang="en-US" sz="1600" dirty="0"/>
              <a:t> or </a:t>
            </a:r>
            <a:r>
              <a:rPr lang="en-US" sz="1600" b="1" dirty="0" err="1"/>
              <a:t>argocd</a:t>
            </a:r>
            <a:r>
              <a:rPr lang="en-US" sz="1600" b="1" dirty="0"/>
              <a:t> CLI</a:t>
            </a:r>
          </a:p>
          <a:p>
            <a:endParaRPr lang="en-US" sz="1600" dirty="0"/>
          </a:p>
        </p:txBody>
      </p:sp>
      <p:sp>
        <p:nvSpPr>
          <p:cNvPr id="7" name="Google Shape;2832;p4">
            <a:extLst>
              <a:ext uri="{FF2B5EF4-FFF2-40B4-BE49-F238E27FC236}">
                <a16:creationId xmlns:a16="http://schemas.microsoft.com/office/drawing/2014/main" id="{5DF2E846-30C5-08EE-D004-DE36BCC07FBB}"/>
              </a:ext>
            </a:extLst>
          </p:cNvPr>
          <p:cNvSpPr/>
          <p:nvPr/>
        </p:nvSpPr>
        <p:spPr>
          <a:xfrm>
            <a:off x="3085654" y="5711209"/>
            <a:ext cx="8752908" cy="513172"/>
          </a:xfrm>
          <a:prstGeom prst="roundRect">
            <a:avLst>
              <a:gd name="adj" fmla="val 9132"/>
            </a:avLst>
          </a:prstGeom>
          <a:noFill/>
          <a:ln w="19050" cap="flat" cmpd="sng">
            <a:solidFill>
              <a:schemeClr val="accent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sz="16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8" name="Google Shape;2833;p4">
            <a:extLst>
              <a:ext uri="{FF2B5EF4-FFF2-40B4-BE49-F238E27FC236}">
                <a16:creationId xmlns:a16="http://schemas.microsoft.com/office/drawing/2014/main" id="{6E047C2F-2DD9-0B2F-F46E-3DFC96F15396}"/>
              </a:ext>
            </a:extLst>
          </p:cNvPr>
          <p:cNvGrpSpPr/>
          <p:nvPr/>
        </p:nvGrpSpPr>
        <p:grpSpPr>
          <a:xfrm>
            <a:off x="2588991" y="4922513"/>
            <a:ext cx="9599834" cy="448438"/>
            <a:chOff x="6457" y="3088548"/>
            <a:chExt cx="12175910" cy="421612"/>
          </a:xfrm>
        </p:grpSpPr>
        <p:pic>
          <p:nvPicPr>
            <p:cNvPr id="9" name="Google Shape;2834;p4">
              <a:extLst>
                <a:ext uri="{FF2B5EF4-FFF2-40B4-BE49-F238E27FC236}">
                  <a16:creationId xmlns:a16="http://schemas.microsoft.com/office/drawing/2014/main" id="{176F32AE-9D44-F3D6-9F8B-394605344F73}"/>
                </a:ext>
              </a:extLst>
            </p:cNvPr>
            <p:cNvPicPr preferRelativeResize="0"/>
            <p:nvPr/>
          </p:nvPicPr>
          <p:blipFill rotWithShape="1">
            <a:blip r:embed="rId3">
              <a:alphaModFix amt="34000"/>
            </a:blip>
            <a:srcRect t="50513"/>
            <a:stretch/>
          </p:blipFill>
          <p:spPr>
            <a:xfrm>
              <a:off x="6457" y="3101668"/>
              <a:ext cx="12175910" cy="408492"/>
            </a:xfrm>
            <a:prstGeom prst="rect">
              <a:avLst/>
            </a:prstGeom>
            <a:noFill/>
            <a:ln>
              <a:noFill/>
            </a:ln>
          </p:spPr>
        </p:pic>
        <p:sp>
          <p:nvSpPr>
            <p:cNvPr id="10" name="Google Shape;2835;p4">
              <a:extLst>
                <a:ext uri="{FF2B5EF4-FFF2-40B4-BE49-F238E27FC236}">
                  <a16:creationId xmlns:a16="http://schemas.microsoft.com/office/drawing/2014/main" id="{8BF3D6BB-81BC-59CD-0596-F6A323B2625E}"/>
                </a:ext>
              </a:extLst>
            </p:cNvPr>
            <p:cNvSpPr/>
            <p:nvPr/>
          </p:nvSpPr>
          <p:spPr>
            <a:xfrm rot="-5400000" flipH="1">
              <a:off x="6246689" y="-2240202"/>
              <a:ext cx="18300" cy="10675800"/>
            </a:xfrm>
            <a:prstGeom prst="rect">
              <a:avLst/>
            </a:prstGeom>
            <a:gradFill>
              <a:gsLst>
                <a:gs pos="0">
                  <a:srgbClr val="6C4B8F">
                    <a:alpha val="0"/>
                  </a:srgbClr>
                </a:gs>
                <a:gs pos="10000">
                  <a:srgbClr val="6C4B8F"/>
                </a:gs>
                <a:gs pos="22000">
                  <a:srgbClr val="005B84"/>
                </a:gs>
                <a:gs pos="41000">
                  <a:srgbClr val="005B84"/>
                </a:gs>
                <a:gs pos="60000">
                  <a:srgbClr val="41D1FE"/>
                </a:gs>
                <a:gs pos="90000">
                  <a:srgbClr val="007A86"/>
                </a:gs>
                <a:gs pos="100000">
                  <a:srgbClr val="007A86">
                    <a:alpha val="0"/>
                  </a:srgbClr>
                </a:gs>
              </a:gsLst>
              <a:lin ang="5400012" scaled="0"/>
            </a:gra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grpSp>
      <p:sp>
        <p:nvSpPr>
          <p:cNvPr id="11" name="Google Shape;2839;p4">
            <a:extLst>
              <a:ext uri="{FF2B5EF4-FFF2-40B4-BE49-F238E27FC236}">
                <a16:creationId xmlns:a16="http://schemas.microsoft.com/office/drawing/2014/main" id="{69355F35-15D9-C210-4AF3-440B2E1FF797}"/>
              </a:ext>
            </a:extLst>
          </p:cNvPr>
          <p:cNvSpPr/>
          <p:nvPr/>
        </p:nvSpPr>
        <p:spPr>
          <a:xfrm>
            <a:off x="3498501" y="4114419"/>
            <a:ext cx="1814370" cy="317647"/>
          </a:xfrm>
          <a:prstGeom prst="roundRect">
            <a:avLst>
              <a:gd name="adj" fmla="val 16667"/>
            </a:avLst>
          </a:prstGeom>
          <a:solidFill>
            <a:schemeClr val="accent5"/>
          </a:solidFill>
          <a:ln>
            <a:noFill/>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vSphere </a:t>
            </a:r>
            <a:br>
              <a:rPr kumimoji="0" lang="en-US" sz="800" b="0" i="0" u="none" strike="noStrike" kern="1200" cap="none" spc="0" normalizeH="0" baseline="0" noProof="0">
                <a:ln>
                  <a:noFill/>
                </a:ln>
                <a:solidFill>
                  <a:srgbClr val="FFFFFF"/>
                </a:solidFill>
                <a:effectLst/>
                <a:uLnTx/>
                <a:uFillTx/>
                <a:latin typeface="Arial"/>
                <a:ea typeface="Arial"/>
                <a:cs typeface="Arial"/>
                <a:sym typeface="Arial"/>
              </a:rPr>
            </a:b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Namespace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0" name="Google Shape;2848;p4">
            <a:extLst>
              <a:ext uri="{FF2B5EF4-FFF2-40B4-BE49-F238E27FC236}">
                <a16:creationId xmlns:a16="http://schemas.microsoft.com/office/drawing/2014/main" id="{01CBA130-2F66-8A7F-390C-80CD7EB859DC}"/>
              </a:ext>
            </a:extLst>
          </p:cNvPr>
          <p:cNvGrpSpPr/>
          <p:nvPr/>
        </p:nvGrpSpPr>
        <p:grpSpPr>
          <a:xfrm>
            <a:off x="3581056" y="2500638"/>
            <a:ext cx="1557833" cy="1364965"/>
            <a:chOff x="805150" y="1625512"/>
            <a:chExt cx="1557833" cy="1364965"/>
          </a:xfrm>
        </p:grpSpPr>
        <p:sp>
          <p:nvSpPr>
            <p:cNvPr id="21" name="Google Shape;2849;p4">
              <a:extLst>
                <a:ext uri="{FF2B5EF4-FFF2-40B4-BE49-F238E27FC236}">
                  <a16:creationId xmlns:a16="http://schemas.microsoft.com/office/drawing/2014/main" id="{867FB94B-A239-D513-EEA2-2DFA08759DCF}"/>
                </a:ext>
              </a:extLst>
            </p:cNvPr>
            <p:cNvSpPr/>
            <p:nvPr/>
          </p:nvSpPr>
          <p:spPr>
            <a:xfrm>
              <a:off x="805150" y="1625512"/>
              <a:ext cx="1557833" cy="1364965"/>
            </a:xfrm>
            <a:prstGeom prst="roundRect">
              <a:avLst>
                <a:gd name="adj" fmla="val 3683"/>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1371600"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5C8A"/>
                </a:solidFill>
                <a:effectLst/>
                <a:uLnTx/>
                <a:uFillTx/>
                <a:latin typeface="Arial"/>
                <a:ea typeface="Arial"/>
                <a:cs typeface="Arial"/>
                <a:sym typeface="Arial"/>
              </a:endParaRPr>
            </a:p>
          </p:txBody>
        </p:sp>
        <p:grpSp>
          <p:nvGrpSpPr>
            <p:cNvPr id="22" name="Google Shape;2850;p4">
              <a:extLst>
                <a:ext uri="{FF2B5EF4-FFF2-40B4-BE49-F238E27FC236}">
                  <a16:creationId xmlns:a16="http://schemas.microsoft.com/office/drawing/2014/main" id="{A1108FB7-9B6D-B85A-9722-4F94FC59A115}"/>
                </a:ext>
              </a:extLst>
            </p:cNvPr>
            <p:cNvGrpSpPr/>
            <p:nvPr/>
          </p:nvGrpSpPr>
          <p:grpSpPr>
            <a:xfrm>
              <a:off x="987548" y="1738474"/>
              <a:ext cx="1174334" cy="972000"/>
              <a:chOff x="3325948" y="1424891"/>
              <a:chExt cx="1694347" cy="1402415"/>
            </a:xfrm>
          </p:grpSpPr>
          <p:sp>
            <p:nvSpPr>
              <p:cNvPr id="24" name="Google Shape;2851;p4">
                <a:extLst>
                  <a:ext uri="{FF2B5EF4-FFF2-40B4-BE49-F238E27FC236}">
                    <a16:creationId xmlns:a16="http://schemas.microsoft.com/office/drawing/2014/main" id="{D254096B-A4F6-4D44-3DD4-B84FB7C50C7A}"/>
                  </a:ext>
                </a:extLst>
              </p:cNvPr>
              <p:cNvSpPr/>
              <p:nvPr/>
            </p:nvSpPr>
            <p:spPr>
              <a:xfrm>
                <a:off x="4297641" y="1533016"/>
                <a:ext cx="528559"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5" name="Google Shape;2852;p4">
                <a:extLst>
                  <a:ext uri="{FF2B5EF4-FFF2-40B4-BE49-F238E27FC236}">
                    <a16:creationId xmlns:a16="http://schemas.microsoft.com/office/drawing/2014/main" id="{956391DA-65C8-22DE-080E-6D48D13FF5DC}"/>
                  </a:ext>
                </a:extLst>
              </p:cNvPr>
              <p:cNvSpPr/>
              <p:nvPr/>
            </p:nvSpPr>
            <p:spPr>
              <a:xfrm>
                <a:off x="4297642" y="2297981"/>
                <a:ext cx="474562"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26" name="Google Shape;2853;p4">
                <a:extLst>
                  <a:ext uri="{FF2B5EF4-FFF2-40B4-BE49-F238E27FC236}">
                    <a16:creationId xmlns:a16="http://schemas.microsoft.com/office/drawing/2014/main" id="{E13CD5EB-1DC4-50B0-6FE1-97E192F35FB9}"/>
                  </a:ext>
                </a:extLst>
              </p:cNvPr>
              <p:cNvPicPr preferRelativeResize="0"/>
              <p:nvPr/>
            </p:nvPicPr>
            <p:blipFill rotWithShape="1">
              <a:blip r:embed="rId4">
                <a:alphaModFix/>
              </a:blip>
              <a:srcRect/>
              <a:stretch/>
            </p:blipFill>
            <p:spPr>
              <a:xfrm>
                <a:off x="3503144" y="1496410"/>
                <a:ext cx="392596" cy="392595"/>
              </a:xfrm>
              <a:prstGeom prst="rect">
                <a:avLst/>
              </a:prstGeom>
              <a:noFill/>
              <a:ln>
                <a:noFill/>
              </a:ln>
            </p:spPr>
          </p:pic>
          <p:sp>
            <p:nvSpPr>
              <p:cNvPr id="27" name="Google Shape;2854;p4">
                <a:extLst>
                  <a:ext uri="{FF2B5EF4-FFF2-40B4-BE49-F238E27FC236}">
                    <a16:creationId xmlns:a16="http://schemas.microsoft.com/office/drawing/2014/main" id="{86CF67CB-A15B-D1ED-EEC8-9D67A637A527}"/>
                  </a:ext>
                </a:extLst>
              </p:cNvPr>
              <p:cNvSpPr txBox="1"/>
              <p:nvPr/>
            </p:nvSpPr>
            <p:spPr>
              <a:xfrm>
                <a:off x="3954242" y="1532844"/>
                <a:ext cx="886800" cy="319726"/>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800"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8" name="Google Shape;2855;p4">
                <a:extLst>
                  <a:ext uri="{FF2B5EF4-FFF2-40B4-BE49-F238E27FC236}">
                    <a16:creationId xmlns:a16="http://schemas.microsoft.com/office/drawing/2014/main" id="{E5598487-A87B-1DC0-9AE7-F8686BB993C8}"/>
                  </a:ext>
                </a:extLst>
              </p:cNvPr>
              <p:cNvSpPr/>
              <p:nvPr/>
            </p:nvSpPr>
            <p:spPr>
              <a:xfrm>
                <a:off x="3331847" y="1424891"/>
                <a:ext cx="1680883" cy="535632"/>
              </a:xfrm>
              <a:prstGeom prst="rect">
                <a:avLst/>
              </a:prstGeom>
              <a:noFill/>
              <a:ln w="10775" cap="flat" cmpd="sng">
                <a:solidFill>
                  <a:schemeClr val="accent2"/>
                </a:solidFill>
                <a:prstDash val="dot"/>
                <a:miter lim="800000"/>
                <a:headEnd type="none" w="sm" len="sm"/>
                <a:tailEnd type="none" w="sm" len="sm"/>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9" name="Google Shape;2856;p4">
                <a:extLst>
                  <a:ext uri="{FF2B5EF4-FFF2-40B4-BE49-F238E27FC236}">
                    <a16:creationId xmlns:a16="http://schemas.microsoft.com/office/drawing/2014/main" id="{52B2C037-D48F-98FA-4F56-373A210EE12B}"/>
                  </a:ext>
                </a:extLst>
              </p:cNvPr>
              <p:cNvSpPr/>
              <p:nvPr/>
            </p:nvSpPr>
            <p:spPr>
              <a:xfrm>
                <a:off x="3325948" y="2547406"/>
                <a:ext cx="521337" cy="279900"/>
              </a:xfrm>
              <a:prstGeom prst="roundRect">
                <a:avLst>
                  <a:gd name="adj" fmla="val 50000"/>
                </a:avLst>
              </a:prstGeom>
              <a:solidFill>
                <a:srgbClr val="3E417C"/>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Node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0" name="Google Shape;2857;p4">
                <a:extLst>
                  <a:ext uri="{FF2B5EF4-FFF2-40B4-BE49-F238E27FC236}">
                    <a16:creationId xmlns:a16="http://schemas.microsoft.com/office/drawing/2014/main" id="{8CB432EC-F5E0-50ED-C0ED-F1964F1A7DB8}"/>
                  </a:ext>
                </a:extLst>
              </p:cNvPr>
              <p:cNvSpPr/>
              <p:nvPr/>
            </p:nvSpPr>
            <p:spPr>
              <a:xfrm>
                <a:off x="3912452" y="2547406"/>
                <a:ext cx="521337" cy="279900"/>
              </a:xfrm>
              <a:prstGeom prst="roundRect">
                <a:avLst>
                  <a:gd name="adj" fmla="val 50000"/>
                </a:avLst>
              </a:prstGeom>
              <a:solidFill>
                <a:srgbClr val="3E417C"/>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Node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1" name="Google Shape;2858;p4">
                <a:extLst>
                  <a:ext uri="{FF2B5EF4-FFF2-40B4-BE49-F238E27FC236}">
                    <a16:creationId xmlns:a16="http://schemas.microsoft.com/office/drawing/2014/main" id="{501153CD-F4F7-FCC9-CDBE-C73E00133FEF}"/>
                  </a:ext>
                </a:extLst>
              </p:cNvPr>
              <p:cNvSpPr/>
              <p:nvPr/>
            </p:nvSpPr>
            <p:spPr>
              <a:xfrm>
                <a:off x="4498957" y="2547405"/>
                <a:ext cx="521337" cy="279900"/>
              </a:xfrm>
              <a:prstGeom prst="roundRect">
                <a:avLst>
                  <a:gd name="adj" fmla="val 50000"/>
                </a:avLst>
              </a:prstGeom>
              <a:solidFill>
                <a:srgbClr val="3E417C"/>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Node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2" name="Google Shape;2859;p4">
                <a:extLst>
                  <a:ext uri="{FF2B5EF4-FFF2-40B4-BE49-F238E27FC236}">
                    <a16:creationId xmlns:a16="http://schemas.microsoft.com/office/drawing/2014/main" id="{6C2A61D1-6EBD-AB9C-E954-CEBB5E39CC2C}"/>
                  </a:ext>
                </a:extLst>
              </p:cNvPr>
              <p:cNvSpPr/>
              <p:nvPr/>
            </p:nvSpPr>
            <p:spPr>
              <a:xfrm>
                <a:off x="3325949" y="2040092"/>
                <a:ext cx="1694346" cy="285650"/>
              </a:xfrm>
              <a:prstGeom prst="roundRect">
                <a:avLst>
                  <a:gd name="adj" fmla="val 50000"/>
                </a:avLst>
              </a:prstGeom>
              <a:solidFill>
                <a:srgbClr val="3E417C"/>
              </a:solidFill>
              <a:ln>
                <a:noFill/>
              </a:ln>
            </p:spPr>
            <p:txBody>
              <a:bodyPr spcFirstLastPara="1" wrap="square" lIns="0" tIns="18275" rIns="0" bIns="0" anchor="ctr" anchorCtr="0">
                <a:no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33" name="Google Shape;2860;p4">
                <a:extLst>
                  <a:ext uri="{FF2B5EF4-FFF2-40B4-BE49-F238E27FC236}">
                    <a16:creationId xmlns:a16="http://schemas.microsoft.com/office/drawing/2014/main" id="{A3FA4F64-40A9-1F48-E799-928DC6AE59DB}"/>
                  </a:ext>
                </a:extLst>
              </p:cNvPr>
              <p:cNvCxnSpPr/>
              <p:nvPr/>
            </p:nvCxnSpPr>
            <p:spPr>
              <a:xfrm>
                <a:off x="4186614" y="2313793"/>
                <a:ext cx="0" cy="240408"/>
              </a:xfrm>
              <a:prstGeom prst="straightConnector1">
                <a:avLst/>
              </a:prstGeom>
              <a:noFill/>
              <a:ln w="10775" cap="flat" cmpd="sng">
                <a:solidFill>
                  <a:schemeClr val="accent2"/>
                </a:solidFill>
                <a:prstDash val="solid"/>
                <a:miter lim="800000"/>
                <a:headEnd type="none" w="sm" len="sm"/>
                <a:tailEnd type="none" w="sm" len="sm"/>
              </a:ln>
            </p:spPr>
          </p:cxnSp>
          <p:cxnSp>
            <p:nvCxnSpPr>
              <p:cNvPr id="34" name="Google Shape;2861;p4">
                <a:extLst>
                  <a:ext uri="{FF2B5EF4-FFF2-40B4-BE49-F238E27FC236}">
                    <a16:creationId xmlns:a16="http://schemas.microsoft.com/office/drawing/2014/main" id="{359E2AD9-D178-A74F-9ECC-B5A15749BD4D}"/>
                  </a:ext>
                </a:extLst>
              </p:cNvPr>
              <p:cNvCxnSpPr/>
              <p:nvPr/>
            </p:nvCxnSpPr>
            <p:spPr>
              <a:xfrm>
                <a:off x="3603836" y="2432789"/>
                <a:ext cx="0" cy="121412"/>
              </a:xfrm>
              <a:prstGeom prst="straightConnector1">
                <a:avLst/>
              </a:prstGeom>
              <a:noFill/>
              <a:ln w="10775" cap="flat" cmpd="sng">
                <a:solidFill>
                  <a:schemeClr val="accent2"/>
                </a:solidFill>
                <a:prstDash val="solid"/>
                <a:miter lim="800000"/>
                <a:headEnd type="none" w="sm" len="sm"/>
                <a:tailEnd type="none" w="sm" len="sm"/>
              </a:ln>
            </p:spPr>
          </p:cxnSp>
          <p:cxnSp>
            <p:nvCxnSpPr>
              <p:cNvPr id="35" name="Google Shape;2862;p4">
                <a:extLst>
                  <a:ext uri="{FF2B5EF4-FFF2-40B4-BE49-F238E27FC236}">
                    <a16:creationId xmlns:a16="http://schemas.microsoft.com/office/drawing/2014/main" id="{59DAE2AF-D41E-4636-3BD1-426C85641654}"/>
                  </a:ext>
                </a:extLst>
              </p:cNvPr>
              <p:cNvCxnSpPr/>
              <p:nvPr/>
            </p:nvCxnSpPr>
            <p:spPr>
              <a:xfrm>
                <a:off x="4769392" y="2432789"/>
                <a:ext cx="0" cy="121412"/>
              </a:xfrm>
              <a:prstGeom prst="straightConnector1">
                <a:avLst/>
              </a:prstGeom>
              <a:noFill/>
              <a:ln w="10775" cap="flat" cmpd="sng">
                <a:solidFill>
                  <a:schemeClr val="accent2"/>
                </a:solidFill>
                <a:prstDash val="solid"/>
                <a:miter lim="800000"/>
                <a:headEnd type="none" w="sm" len="sm"/>
                <a:tailEnd type="none" w="sm" len="sm"/>
              </a:ln>
            </p:spPr>
          </p:cxnSp>
          <p:cxnSp>
            <p:nvCxnSpPr>
              <p:cNvPr id="36" name="Google Shape;2863;p4">
                <a:extLst>
                  <a:ext uri="{FF2B5EF4-FFF2-40B4-BE49-F238E27FC236}">
                    <a16:creationId xmlns:a16="http://schemas.microsoft.com/office/drawing/2014/main" id="{CEB74571-BCE0-D2E9-EC77-468D2B3A5473}"/>
                  </a:ext>
                </a:extLst>
              </p:cNvPr>
              <p:cNvCxnSpPr/>
              <p:nvPr/>
            </p:nvCxnSpPr>
            <p:spPr>
              <a:xfrm>
                <a:off x="3599903" y="2431944"/>
                <a:ext cx="1172301" cy="0"/>
              </a:xfrm>
              <a:prstGeom prst="straightConnector1">
                <a:avLst/>
              </a:prstGeom>
              <a:noFill/>
              <a:ln w="10775" cap="flat" cmpd="sng">
                <a:solidFill>
                  <a:schemeClr val="accent2"/>
                </a:solidFill>
                <a:prstDash val="solid"/>
                <a:miter lim="800000"/>
                <a:headEnd type="none" w="sm" len="sm"/>
                <a:tailEnd type="none" w="sm" len="sm"/>
              </a:ln>
            </p:spPr>
          </p:cxnSp>
        </p:grpSp>
        <p:sp>
          <p:nvSpPr>
            <p:cNvPr id="23" name="Google Shape;2864;p4">
              <a:extLst>
                <a:ext uri="{FF2B5EF4-FFF2-40B4-BE49-F238E27FC236}">
                  <a16:creationId xmlns:a16="http://schemas.microsoft.com/office/drawing/2014/main" id="{F912E8F9-E055-2FA0-3ADD-16A07601B55C}"/>
                </a:ext>
              </a:extLst>
            </p:cNvPr>
            <p:cNvSpPr txBox="1"/>
            <p:nvPr/>
          </p:nvSpPr>
          <p:spPr>
            <a:xfrm>
              <a:off x="805150" y="2760707"/>
              <a:ext cx="1557833" cy="161583"/>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37" name="Google Shape;2865;p4">
            <a:extLst>
              <a:ext uri="{FF2B5EF4-FFF2-40B4-BE49-F238E27FC236}">
                <a16:creationId xmlns:a16="http://schemas.microsoft.com/office/drawing/2014/main" id="{88E47CD5-CD8A-8947-E56D-69F45AC685C6}"/>
              </a:ext>
            </a:extLst>
          </p:cNvPr>
          <p:cNvGrpSpPr/>
          <p:nvPr/>
        </p:nvGrpSpPr>
        <p:grpSpPr>
          <a:xfrm>
            <a:off x="3706023" y="2584993"/>
            <a:ext cx="1557833" cy="1364965"/>
            <a:chOff x="805150" y="1625512"/>
            <a:chExt cx="1557833" cy="1364965"/>
          </a:xfrm>
        </p:grpSpPr>
        <p:sp>
          <p:nvSpPr>
            <p:cNvPr id="38" name="Google Shape;2866;p4">
              <a:extLst>
                <a:ext uri="{FF2B5EF4-FFF2-40B4-BE49-F238E27FC236}">
                  <a16:creationId xmlns:a16="http://schemas.microsoft.com/office/drawing/2014/main" id="{371F8144-1E59-C96D-223C-98E9EDD94A6D}"/>
                </a:ext>
              </a:extLst>
            </p:cNvPr>
            <p:cNvSpPr/>
            <p:nvPr/>
          </p:nvSpPr>
          <p:spPr>
            <a:xfrm>
              <a:off x="805150" y="1625512"/>
              <a:ext cx="1557833" cy="1364965"/>
            </a:xfrm>
            <a:prstGeom prst="roundRect">
              <a:avLst>
                <a:gd name="adj" fmla="val 3683"/>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1371600"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5C8A"/>
                </a:solidFill>
                <a:effectLst/>
                <a:uLnTx/>
                <a:uFillTx/>
                <a:latin typeface="Arial"/>
                <a:ea typeface="Arial"/>
                <a:cs typeface="Arial"/>
                <a:sym typeface="Arial"/>
              </a:endParaRPr>
            </a:p>
          </p:txBody>
        </p:sp>
        <p:grpSp>
          <p:nvGrpSpPr>
            <p:cNvPr id="39" name="Google Shape;2867;p4">
              <a:extLst>
                <a:ext uri="{FF2B5EF4-FFF2-40B4-BE49-F238E27FC236}">
                  <a16:creationId xmlns:a16="http://schemas.microsoft.com/office/drawing/2014/main" id="{CE93C9EF-7645-4622-4737-029486AE6073}"/>
                </a:ext>
              </a:extLst>
            </p:cNvPr>
            <p:cNvGrpSpPr/>
            <p:nvPr/>
          </p:nvGrpSpPr>
          <p:grpSpPr>
            <a:xfrm>
              <a:off x="987548" y="1738474"/>
              <a:ext cx="1174334" cy="972000"/>
              <a:chOff x="3325948" y="1424891"/>
              <a:chExt cx="1694347" cy="1402415"/>
            </a:xfrm>
          </p:grpSpPr>
          <p:sp>
            <p:nvSpPr>
              <p:cNvPr id="41" name="Google Shape;2868;p4">
                <a:extLst>
                  <a:ext uri="{FF2B5EF4-FFF2-40B4-BE49-F238E27FC236}">
                    <a16:creationId xmlns:a16="http://schemas.microsoft.com/office/drawing/2014/main" id="{D22ACBD0-C352-22FC-B015-186B2CA87C82}"/>
                  </a:ext>
                </a:extLst>
              </p:cNvPr>
              <p:cNvSpPr/>
              <p:nvPr/>
            </p:nvSpPr>
            <p:spPr>
              <a:xfrm>
                <a:off x="4297641" y="1533016"/>
                <a:ext cx="528559"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2" name="Google Shape;2869;p4">
                <a:extLst>
                  <a:ext uri="{FF2B5EF4-FFF2-40B4-BE49-F238E27FC236}">
                    <a16:creationId xmlns:a16="http://schemas.microsoft.com/office/drawing/2014/main" id="{B82CE27F-7D1C-2BA6-B1A9-8D650C0EBD22}"/>
                  </a:ext>
                </a:extLst>
              </p:cNvPr>
              <p:cNvSpPr/>
              <p:nvPr/>
            </p:nvSpPr>
            <p:spPr>
              <a:xfrm>
                <a:off x="4297642" y="2297981"/>
                <a:ext cx="474562"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43" name="Google Shape;2870;p4">
                <a:extLst>
                  <a:ext uri="{FF2B5EF4-FFF2-40B4-BE49-F238E27FC236}">
                    <a16:creationId xmlns:a16="http://schemas.microsoft.com/office/drawing/2014/main" id="{6B51A232-6437-4E04-25CE-9B2D7DCA8744}"/>
                  </a:ext>
                </a:extLst>
              </p:cNvPr>
              <p:cNvPicPr preferRelativeResize="0"/>
              <p:nvPr/>
            </p:nvPicPr>
            <p:blipFill rotWithShape="1">
              <a:blip r:embed="rId4">
                <a:alphaModFix/>
              </a:blip>
              <a:srcRect/>
              <a:stretch/>
            </p:blipFill>
            <p:spPr>
              <a:xfrm>
                <a:off x="3503144" y="1496410"/>
                <a:ext cx="392596" cy="392595"/>
              </a:xfrm>
              <a:prstGeom prst="rect">
                <a:avLst/>
              </a:prstGeom>
              <a:noFill/>
              <a:ln>
                <a:noFill/>
              </a:ln>
            </p:spPr>
          </p:pic>
          <p:sp>
            <p:nvSpPr>
              <p:cNvPr id="44" name="Google Shape;2871;p4">
                <a:extLst>
                  <a:ext uri="{FF2B5EF4-FFF2-40B4-BE49-F238E27FC236}">
                    <a16:creationId xmlns:a16="http://schemas.microsoft.com/office/drawing/2014/main" id="{4C3AF80F-4F7D-A17B-F3AB-B8DA54CCA461}"/>
                  </a:ext>
                </a:extLst>
              </p:cNvPr>
              <p:cNvSpPr txBox="1"/>
              <p:nvPr/>
            </p:nvSpPr>
            <p:spPr>
              <a:xfrm>
                <a:off x="4000893" y="1545256"/>
                <a:ext cx="886800" cy="319726"/>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800"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5" name="Google Shape;2872;p4">
                <a:extLst>
                  <a:ext uri="{FF2B5EF4-FFF2-40B4-BE49-F238E27FC236}">
                    <a16:creationId xmlns:a16="http://schemas.microsoft.com/office/drawing/2014/main" id="{F7E6A549-CB91-6E2B-CE39-ECB7CDC21562}"/>
                  </a:ext>
                </a:extLst>
              </p:cNvPr>
              <p:cNvSpPr/>
              <p:nvPr/>
            </p:nvSpPr>
            <p:spPr>
              <a:xfrm>
                <a:off x="3331847" y="1424891"/>
                <a:ext cx="1680883" cy="535632"/>
              </a:xfrm>
              <a:prstGeom prst="rect">
                <a:avLst/>
              </a:prstGeom>
              <a:noFill/>
              <a:ln w="10775" cap="flat" cmpd="sng">
                <a:solidFill>
                  <a:schemeClr val="accent2"/>
                </a:solidFill>
                <a:prstDash val="dot"/>
                <a:miter lim="800000"/>
                <a:headEnd type="none" w="sm" len="sm"/>
                <a:tailEnd type="none" w="sm" len="sm"/>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46" name="Google Shape;2873;p4">
                <a:extLst>
                  <a:ext uri="{FF2B5EF4-FFF2-40B4-BE49-F238E27FC236}">
                    <a16:creationId xmlns:a16="http://schemas.microsoft.com/office/drawing/2014/main" id="{F5008069-C9FA-BFCD-76ED-578B35E65CA8}"/>
                  </a:ext>
                </a:extLst>
              </p:cNvPr>
              <p:cNvSpPr/>
              <p:nvPr/>
            </p:nvSpPr>
            <p:spPr>
              <a:xfrm>
                <a:off x="3325948" y="2547406"/>
                <a:ext cx="521337" cy="279900"/>
              </a:xfrm>
              <a:prstGeom prst="roundRect">
                <a:avLst>
                  <a:gd name="adj" fmla="val 50000"/>
                </a:avLst>
              </a:prstGeom>
              <a:solidFill>
                <a:srgbClr val="3E417C"/>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N</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7" name="Google Shape;2874;p4">
                <a:extLst>
                  <a:ext uri="{FF2B5EF4-FFF2-40B4-BE49-F238E27FC236}">
                    <a16:creationId xmlns:a16="http://schemas.microsoft.com/office/drawing/2014/main" id="{3CB9779C-1842-DD87-A417-37E055A8655F}"/>
                  </a:ext>
                </a:extLst>
              </p:cNvPr>
              <p:cNvSpPr/>
              <p:nvPr/>
            </p:nvSpPr>
            <p:spPr>
              <a:xfrm>
                <a:off x="3912452" y="2547406"/>
                <a:ext cx="521337" cy="279900"/>
              </a:xfrm>
              <a:prstGeom prst="roundRect">
                <a:avLst>
                  <a:gd name="adj" fmla="val 50000"/>
                </a:avLst>
              </a:prstGeom>
              <a:solidFill>
                <a:srgbClr val="3E417C"/>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N</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8" name="Google Shape;2875;p4">
                <a:extLst>
                  <a:ext uri="{FF2B5EF4-FFF2-40B4-BE49-F238E27FC236}">
                    <a16:creationId xmlns:a16="http://schemas.microsoft.com/office/drawing/2014/main" id="{CF58C6A4-2C6F-79E5-D14F-E5D52FA1FC98}"/>
                  </a:ext>
                </a:extLst>
              </p:cNvPr>
              <p:cNvSpPr/>
              <p:nvPr/>
            </p:nvSpPr>
            <p:spPr>
              <a:xfrm>
                <a:off x="4498957" y="2547405"/>
                <a:ext cx="521337" cy="279900"/>
              </a:xfrm>
              <a:prstGeom prst="roundRect">
                <a:avLst>
                  <a:gd name="adj" fmla="val 50000"/>
                </a:avLst>
              </a:prstGeom>
              <a:solidFill>
                <a:srgbClr val="3E417C"/>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N</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9" name="Google Shape;2876;p4">
                <a:extLst>
                  <a:ext uri="{FF2B5EF4-FFF2-40B4-BE49-F238E27FC236}">
                    <a16:creationId xmlns:a16="http://schemas.microsoft.com/office/drawing/2014/main" id="{FC016A3C-E60A-13F0-A026-C4BBB1F916D5}"/>
                  </a:ext>
                </a:extLst>
              </p:cNvPr>
              <p:cNvSpPr/>
              <p:nvPr/>
            </p:nvSpPr>
            <p:spPr>
              <a:xfrm>
                <a:off x="3325949" y="2040092"/>
                <a:ext cx="1694346" cy="285650"/>
              </a:xfrm>
              <a:prstGeom prst="roundRect">
                <a:avLst>
                  <a:gd name="adj" fmla="val 50000"/>
                </a:avLst>
              </a:prstGeom>
              <a:solidFill>
                <a:srgbClr val="3E417C"/>
              </a:solidFill>
              <a:ln>
                <a:noFill/>
              </a:ln>
            </p:spPr>
            <p:txBody>
              <a:bodyPr spcFirstLastPara="1" wrap="square" lIns="0" tIns="18275" rIns="0" bIns="0" anchor="ctr" anchorCtr="0">
                <a:no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50" name="Google Shape;2877;p4">
                <a:extLst>
                  <a:ext uri="{FF2B5EF4-FFF2-40B4-BE49-F238E27FC236}">
                    <a16:creationId xmlns:a16="http://schemas.microsoft.com/office/drawing/2014/main" id="{E9A8258F-A9CC-B317-3F3E-EF0613802A06}"/>
                  </a:ext>
                </a:extLst>
              </p:cNvPr>
              <p:cNvCxnSpPr/>
              <p:nvPr/>
            </p:nvCxnSpPr>
            <p:spPr>
              <a:xfrm>
                <a:off x="4186614" y="2313793"/>
                <a:ext cx="0" cy="240408"/>
              </a:xfrm>
              <a:prstGeom prst="straightConnector1">
                <a:avLst/>
              </a:prstGeom>
              <a:noFill/>
              <a:ln w="10775" cap="flat" cmpd="sng">
                <a:solidFill>
                  <a:schemeClr val="accent2"/>
                </a:solidFill>
                <a:prstDash val="solid"/>
                <a:miter lim="800000"/>
                <a:headEnd type="none" w="sm" len="sm"/>
                <a:tailEnd type="none" w="sm" len="sm"/>
              </a:ln>
            </p:spPr>
          </p:cxnSp>
          <p:cxnSp>
            <p:nvCxnSpPr>
              <p:cNvPr id="51" name="Google Shape;2878;p4">
                <a:extLst>
                  <a:ext uri="{FF2B5EF4-FFF2-40B4-BE49-F238E27FC236}">
                    <a16:creationId xmlns:a16="http://schemas.microsoft.com/office/drawing/2014/main" id="{27FDE8B4-DF9A-791E-86E3-F0844F12CFEE}"/>
                  </a:ext>
                </a:extLst>
              </p:cNvPr>
              <p:cNvCxnSpPr/>
              <p:nvPr/>
            </p:nvCxnSpPr>
            <p:spPr>
              <a:xfrm>
                <a:off x="3603836" y="2432789"/>
                <a:ext cx="0" cy="121412"/>
              </a:xfrm>
              <a:prstGeom prst="straightConnector1">
                <a:avLst/>
              </a:prstGeom>
              <a:noFill/>
              <a:ln w="10775" cap="flat" cmpd="sng">
                <a:solidFill>
                  <a:schemeClr val="accent2"/>
                </a:solidFill>
                <a:prstDash val="solid"/>
                <a:miter lim="800000"/>
                <a:headEnd type="none" w="sm" len="sm"/>
                <a:tailEnd type="none" w="sm" len="sm"/>
              </a:ln>
            </p:spPr>
          </p:cxnSp>
          <p:cxnSp>
            <p:nvCxnSpPr>
              <p:cNvPr id="52" name="Google Shape;2879;p4">
                <a:extLst>
                  <a:ext uri="{FF2B5EF4-FFF2-40B4-BE49-F238E27FC236}">
                    <a16:creationId xmlns:a16="http://schemas.microsoft.com/office/drawing/2014/main" id="{F8921A5E-FCAC-7384-7A6A-C988843D470A}"/>
                  </a:ext>
                </a:extLst>
              </p:cNvPr>
              <p:cNvCxnSpPr/>
              <p:nvPr/>
            </p:nvCxnSpPr>
            <p:spPr>
              <a:xfrm>
                <a:off x="4769392" y="2432789"/>
                <a:ext cx="0" cy="121412"/>
              </a:xfrm>
              <a:prstGeom prst="straightConnector1">
                <a:avLst/>
              </a:prstGeom>
              <a:noFill/>
              <a:ln w="10775" cap="flat" cmpd="sng">
                <a:solidFill>
                  <a:schemeClr val="accent2"/>
                </a:solidFill>
                <a:prstDash val="solid"/>
                <a:miter lim="800000"/>
                <a:headEnd type="none" w="sm" len="sm"/>
                <a:tailEnd type="none" w="sm" len="sm"/>
              </a:ln>
            </p:spPr>
          </p:cxnSp>
          <p:cxnSp>
            <p:nvCxnSpPr>
              <p:cNvPr id="53" name="Google Shape;2880;p4">
                <a:extLst>
                  <a:ext uri="{FF2B5EF4-FFF2-40B4-BE49-F238E27FC236}">
                    <a16:creationId xmlns:a16="http://schemas.microsoft.com/office/drawing/2014/main" id="{AAA6A903-D292-47F9-D8A9-3E92B8CBD95D}"/>
                  </a:ext>
                </a:extLst>
              </p:cNvPr>
              <p:cNvCxnSpPr/>
              <p:nvPr/>
            </p:nvCxnSpPr>
            <p:spPr>
              <a:xfrm>
                <a:off x="3599903" y="2431944"/>
                <a:ext cx="1172301" cy="0"/>
              </a:xfrm>
              <a:prstGeom prst="straightConnector1">
                <a:avLst/>
              </a:prstGeom>
              <a:noFill/>
              <a:ln w="10775" cap="flat" cmpd="sng">
                <a:solidFill>
                  <a:schemeClr val="accent2"/>
                </a:solidFill>
                <a:prstDash val="solid"/>
                <a:miter lim="800000"/>
                <a:headEnd type="none" w="sm" len="sm"/>
                <a:tailEnd type="none" w="sm" len="sm"/>
              </a:ln>
            </p:spPr>
          </p:cxnSp>
        </p:grpSp>
        <p:sp>
          <p:nvSpPr>
            <p:cNvPr id="40" name="Google Shape;2881;p4">
              <a:extLst>
                <a:ext uri="{FF2B5EF4-FFF2-40B4-BE49-F238E27FC236}">
                  <a16:creationId xmlns:a16="http://schemas.microsoft.com/office/drawing/2014/main" id="{6D3844A7-7237-E7EF-3936-C67B9B196449}"/>
                </a:ext>
              </a:extLst>
            </p:cNvPr>
            <p:cNvSpPr txBox="1"/>
            <p:nvPr/>
          </p:nvSpPr>
          <p:spPr>
            <a:xfrm>
              <a:off x="805150" y="2760707"/>
              <a:ext cx="1557833" cy="161583"/>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54" name="Google Shape;2882;p4">
            <a:extLst>
              <a:ext uri="{FF2B5EF4-FFF2-40B4-BE49-F238E27FC236}">
                <a16:creationId xmlns:a16="http://schemas.microsoft.com/office/drawing/2014/main" id="{A254D918-86EF-4A1B-B026-B7F17D097BD5}"/>
              </a:ext>
            </a:extLst>
          </p:cNvPr>
          <p:cNvGrpSpPr/>
          <p:nvPr/>
        </p:nvGrpSpPr>
        <p:grpSpPr>
          <a:xfrm>
            <a:off x="5857573" y="2852930"/>
            <a:ext cx="1143070" cy="946519"/>
            <a:chOff x="2558676" y="1416583"/>
            <a:chExt cx="1143070" cy="946519"/>
          </a:xfrm>
        </p:grpSpPr>
        <p:sp>
          <p:nvSpPr>
            <p:cNvPr id="55" name="Google Shape;2883;p4">
              <a:extLst>
                <a:ext uri="{FF2B5EF4-FFF2-40B4-BE49-F238E27FC236}">
                  <a16:creationId xmlns:a16="http://schemas.microsoft.com/office/drawing/2014/main" id="{D5DB9E7C-3919-039B-7570-44F10E434459}"/>
                </a:ext>
              </a:extLst>
            </p:cNvPr>
            <p:cNvSpPr/>
            <p:nvPr/>
          </p:nvSpPr>
          <p:spPr>
            <a:xfrm>
              <a:off x="2558676" y="1416583"/>
              <a:ext cx="838270" cy="741471"/>
            </a:xfrm>
            <a:prstGeom prst="roundRect">
              <a:avLst>
                <a:gd name="adj" fmla="val 7399"/>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548625"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5C8A"/>
                  </a:solidFill>
                  <a:effectLst/>
                  <a:uLnTx/>
                  <a:uFillTx/>
                  <a:latin typeface="Arial"/>
                  <a:ea typeface="Arial"/>
                  <a:cs typeface="Arial"/>
                  <a:sym typeface="Arial"/>
                </a:rPr>
                <a:t>VM</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56" name="Google Shape;2884;p4">
              <a:extLst>
                <a:ext uri="{FF2B5EF4-FFF2-40B4-BE49-F238E27FC236}">
                  <a16:creationId xmlns:a16="http://schemas.microsoft.com/office/drawing/2014/main" id="{53B5A9A8-EA45-FF88-5586-F968F07E23AF}"/>
                </a:ext>
              </a:extLst>
            </p:cNvPr>
            <p:cNvGrpSpPr/>
            <p:nvPr/>
          </p:nvGrpSpPr>
          <p:grpSpPr>
            <a:xfrm>
              <a:off x="2828939" y="1548245"/>
              <a:ext cx="297739" cy="292247"/>
              <a:chOff x="1465490" y="3219301"/>
              <a:chExt cx="438300" cy="438301"/>
            </a:xfrm>
          </p:grpSpPr>
          <p:sp>
            <p:nvSpPr>
              <p:cNvPr id="73" name="Google Shape;2885;p4">
                <a:extLst>
                  <a:ext uri="{FF2B5EF4-FFF2-40B4-BE49-F238E27FC236}">
                    <a16:creationId xmlns:a16="http://schemas.microsoft.com/office/drawing/2014/main" id="{B94FC5A3-EB6D-C6D7-FA43-32226698A6AB}"/>
                  </a:ext>
                </a:extLst>
              </p:cNvPr>
              <p:cNvSpPr/>
              <p:nvPr/>
            </p:nvSpPr>
            <p:spPr>
              <a:xfrm>
                <a:off x="1465490" y="3219301"/>
                <a:ext cx="438300" cy="438301"/>
              </a:xfrm>
              <a:prstGeom prst="ellipse">
                <a:avLst/>
              </a:prstGeom>
              <a:noFill/>
              <a:ln w="9525" cap="flat" cmpd="sng">
                <a:solidFill>
                  <a:schemeClr val="accent2"/>
                </a:solidFill>
                <a:prstDash val="solid"/>
                <a:round/>
                <a:headEnd type="none" w="sm" len="sm"/>
                <a:tailEnd type="none" w="sm" len="sm"/>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74" name="Google Shape;2886;p4">
                <a:extLst>
                  <a:ext uri="{FF2B5EF4-FFF2-40B4-BE49-F238E27FC236}">
                    <a16:creationId xmlns:a16="http://schemas.microsoft.com/office/drawing/2014/main" id="{0F9CE7B6-5A32-3B04-51C4-65AB2223C5AD}"/>
                  </a:ext>
                </a:extLst>
              </p:cNvPr>
              <p:cNvGrpSpPr/>
              <p:nvPr/>
            </p:nvGrpSpPr>
            <p:grpSpPr>
              <a:xfrm>
                <a:off x="1561461" y="3315270"/>
                <a:ext cx="245369" cy="245370"/>
                <a:chOff x="979296" y="1541158"/>
                <a:chExt cx="1054511" cy="1054515"/>
              </a:xfrm>
            </p:grpSpPr>
            <p:sp>
              <p:nvSpPr>
                <p:cNvPr id="75" name="Google Shape;2887;p4">
                  <a:extLst>
                    <a:ext uri="{FF2B5EF4-FFF2-40B4-BE49-F238E27FC236}">
                      <a16:creationId xmlns:a16="http://schemas.microsoft.com/office/drawing/2014/main" id="{01C66442-C3C8-F0E6-EC7E-D850515487D2}"/>
                    </a:ext>
                  </a:extLst>
                </p:cNvPr>
                <p:cNvSpPr/>
                <p:nvPr/>
              </p:nvSpPr>
              <p:spPr>
                <a:xfrm>
                  <a:off x="979296" y="1541158"/>
                  <a:ext cx="1054511" cy="1054515"/>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76" name="Google Shape;2888;p4">
                  <a:extLst>
                    <a:ext uri="{FF2B5EF4-FFF2-40B4-BE49-F238E27FC236}">
                      <a16:creationId xmlns:a16="http://schemas.microsoft.com/office/drawing/2014/main" id="{A314CAFA-954F-FDA8-20A7-961CA625C75C}"/>
                    </a:ext>
                  </a:extLst>
                </p:cNvPr>
                <p:cNvGrpSpPr/>
                <p:nvPr/>
              </p:nvGrpSpPr>
              <p:grpSpPr>
                <a:xfrm>
                  <a:off x="1296246" y="2002748"/>
                  <a:ext cx="390297" cy="146863"/>
                  <a:chOff x="1296246" y="2002748"/>
                  <a:chExt cx="390297" cy="146863"/>
                </a:xfrm>
              </p:grpSpPr>
              <p:sp>
                <p:nvSpPr>
                  <p:cNvPr id="77" name="Google Shape;2889;p4">
                    <a:extLst>
                      <a:ext uri="{FF2B5EF4-FFF2-40B4-BE49-F238E27FC236}">
                        <a16:creationId xmlns:a16="http://schemas.microsoft.com/office/drawing/2014/main" id="{9F964C3C-7464-A2AD-CE9C-B03134A2FC6F}"/>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8" name="Google Shape;2890;p4">
                    <a:extLst>
                      <a:ext uri="{FF2B5EF4-FFF2-40B4-BE49-F238E27FC236}">
                        <a16:creationId xmlns:a16="http://schemas.microsoft.com/office/drawing/2014/main" id="{18F171D6-8D33-8F7E-5270-EBA338E19592}"/>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57" name="Google Shape;2891;p4">
              <a:extLst>
                <a:ext uri="{FF2B5EF4-FFF2-40B4-BE49-F238E27FC236}">
                  <a16:creationId xmlns:a16="http://schemas.microsoft.com/office/drawing/2014/main" id="{E965DAE0-7BC5-B20A-2DEF-5E2708ECBE7A}"/>
                </a:ext>
              </a:extLst>
            </p:cNvPr>
            <p:cNvSpPr/>
            <p:nvPr/>
          </p:nvSpPr>
          <p:spPr>
            <a:xfrm>
              <a:off x="2694285" y="1521061"/>
              <a:ext cx="838270" cy="741471"/>
            </a:xfrm>
            <a:prstGeom prst="roundRect">
              <a:avLst>
                <a:gd name="adj" fmla="val 7399"/>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548625"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5C8A"/>
                  </a:solidFill>
                  <a:effectLst/>
                  <a:uLnTx/>
                  <a:uFillTx/>
                  <a:latin typeface="Arial"/>
                  <a:ea typeface="Arial"/>
                  <a:cs typeface="Arial"/>
                  <a:sym typeface="Arial"/>
                </a:rPr>
                <a:t>VM</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58" name="Google Shape;2892;p4">
              <a:extLst>
                <a:ext uri="{FF2B5EF4-FFF2-40B4-BE49-F238E27FC236}">
                  <a16:creationId xmlns:a16="http://schemas.microsoft.com/office/drawing/2014/main" id="{B7965339-DAEA-FEA1-9A7B-9ED77F91E9C3}"/>
                </a:ext>
              </a:extLst>
            </p:cNvPr>
            <p:cNvGrpSpPr/>
            <p:nvPr/>
          </p:nvGrpSpPr>
          <p:grpSpPr>
            <a:xfrm>
              <a:off x="2981339" y="1700645"/>
              <a:ext cx="297739" cy="292247"/>
              <a:chOff x="1465490" y="3219301"/>
              <a:chExt cx="438300" cy="438301"/>
            </a:xfrm>
          </p:grpSpPr>
          <p:sp>
            <p:nvSpPr>
              <p:cNvPr id="67" name="Google Shape;2893;p4">
                <a:extLst>
                  <a:ext uri="{FF2B5EF4-FFF2-40B4-BE49-F238E27FC236}">
                    <a16:creationId xmlns:a16="http://schemas.microsoft.com/office/drawing/2014/main" id="{F5E7288C-9100-67E3-9E31-03D0D5522C37}"/>
                  </a:ext>
                </a:extLst>
              </p:cNvPr>
              <p:cNvSpPr/>
              <p:nvPr/>
            </p:nvSpPr>
            <p:spPr>
              <a:xfrm>
                <a:off x="1465490" y="3219301"/>
                <a:ext cx="438300" cy="438301"/>
              </a:xfrm>
              <a:prstGeom prst="ellipse">
                <a:avLst/>
              </a:prstGeom>
              <a:noFill/>
              <a:ln w="9525" cap="flat" cmpd="sng">
                <a:solidFill>
                  <a:schemeClr val="accent2"/>
                </a:solidFill>
                <a:prstDash val="solid"/>
                <a:round/>
                <a:headEnd type="none" w="sm" len="sm"/>
                <a:tailEnd type="none" w="sm" len="sm"/>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68" name="Google Shape;2894;p4">
                <a:extLst>
                  <a:ext uri="{FF2B5EF4-FFF2-40B4-BE49-F238E27FC236}">
                    <a16:creationId xmlns:a16="http://schemas.microsoft.com/office/drawing/2014/main" id="{A9B6A3A4-9F8B-E91A-8CCB-32A889B71B69}"/>
                  </a:ext>
                </a:extLst>
              </p:cNvPr>
              <p:cNvGrpSpPr/>
              <p:nvPr/>
            </p:nvGrpSpPr>
            <p:grpSpPr>
              <a:xfrm>
                <a:off x="1561461" y="3315270"/>
                <a:ext cx="245369" cy="245370"/>
                <a:chOff x="979296" y="1541158"/>
                <a:chExt cx="1054511" cy="1054515"/>
              </a:xfrm>
            </p:grpSpPr>
            <p:sp>
              <p:nvSpPr>
                <p:cNvPr id="69" name="Google Shape;2895;p4">
                  <a:extLst>
                    <a:ext uri="{FF2B5EF4-FFF2-40B4-BE49-F238E27FC236}">
                      <a16:creationId xmlns:a16="http://schemas.microsoft.com/office/drawing/2014/main" id="{ADDA08F8-7A5F-3B89-C2B0-95A9BC24340E}"/>
                    </a:ext>
                  </a:extLst>
                </p:cNvPr>
                <p:cNvSpPr/>
                <p:nvPr/>
              </p:nvSpPr>
              <p:spPr>
                <a:xfrm>
                  <a:off x="979296" y="1541158"/>
                  <a:ext cx="1054511" cy="1054515"/>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70" name="Google Shape;2896;p4">
                  <a:extLst>
                    <a:ext uri="{FF2B5EF4-FFF2-40B4-BE49-F238E27FC236}">
                      <a16:creationId xmlns:a16="http://schemas.microsoft.com/office/drawing/2014/main" id="{39F81CAF-CA9A-B592-73B4-8B1CF5C9AEB8}"/>
                    </a:ext>
                  </a:extLst>
                </p:cNvPr>
                <p:cNvGrpSpPr/>
                <p:nvPr/>
              </p:nvGrpSpPr>
              <p:grpSpPr>
                <a:xfrm>
                  <a:off x="1296246" y="2002748"/>
                  <a:ext cx="390297" cy="146863"/>
                  <a:chOff x="1296246" y="2002748"/>
                  <a:chExt cx="390297" cy="146863"/>
                </a:xfrm>
              </p:grpSpPr>
              <p:sp>
                <p:nvSpPr>
                  <p:cNvPr id="71" name="Google Shape;2897;p4">
                    <a:extLst>
                      <a:ext uri="{FF2B5EF4-FFF2-40B4-BE49-F238E27FC236}">
                        <a16:creationId xmlns:a16="http://schemas.microsoft.com/office/drawing/2014/main" id="{5593F01D-04AB-9CFD-97AD-32546C9FFB81}"/>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2" name="Google Shape;2898;p4">
                    <a:extLst>
                      <a:ext uri="{FF2B5EF4-FFF2-40B4-BE49-F238E27FC236}">
                        <a16:creationId xmlns:a16="http://schemas.microsoft.com/office/drawing/2014/main" id="{B925DB19-51C4-8FB6-07BD-4BA16014B1CB}"/>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59" name="Google Shape;2899;p4">
              <a:extLst>
                <a:ext uri="{FF2B5EF4-FFF2-40B4-BE49-F238E27FC236}">
                  <a16:creationId xmlns:a16="http://schemas.microsoft.com/office/drawing/2014/main" id="{7BA14709-ABA7-7C86-343C-7F238C2B1E0F}"/>
                </a:ext>
              </a:extLst>
            </p:cNvPr>
            <p:cNvSpPr/>
            <p:nvPr/>
          </p:nvSpPr>
          <p:spPr>
            <a:xfrm>
              <a:off x="2863476" y="1621631"/>
              <a:ext cx="838270" cy="741471"/>
            </a:xfrm>
            <a:prstGeom prst="roundRect">
              <a:avLst>
                <a:gd name="adj" fmla="val 7399"/>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548625"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a:ea typeface="Arial"/>
                  <a:cs typeface="Arial"/>
                  <a:sym typeface="Arial"/>
                </a:rPr>
                <a:t>VM</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60" name="Google Shape;2900;p4">
              <a:extLst>
                <a:ext uri="{FF2B5EF4-FFF2-40B4-BE49-F238E27FC236}">
                  <a16:creationId xmlns:a16="http://schemas.microsoft.com/office/drawing/2014/main" id="{4AF90D13-F70E-8C5E-7BB0-7E85E1505CF9}"/>
                </a:ext>
              </a:extLst>
            </p:cNvPr>
            <p:cNvGrpSpPr/>
            <p:nvPr/>
          </p:nvGrpSpPr>
          <p:grpSpPr>
            <a:xfrm>
              <a:off x="3133739" y="1753293"/>
              <a:ext cx="297739" cy="292247"/>
              <a:chOff x="1465490" y="3219301"/>
              <a:chExt cx="438300" cy="438301"/>
            </a:xfrm>
          </p:grpSpPr>
          <p:sp>
            <p:nvSpPr>
              <p:cNvPr id="61" name="Google Shape;2901;p4">
                <a:extLst>
                  <a:ext uri="{FF2B5EF4-FFF2-40B4-BE49-F238E27FC236}">
                    <a16:creationId xmlns:a16="http://schemas.microsoft.com/office/drawing/2014/main" id="{FAA7A482-91A1-1E56-C23D-C1B8D5B88F03}"/>
                  </a:ext>
                </a:extLst>
              </p:cNvPr>
              <p:cNvSpPr/>
              <p:nvPr/>
            </p:nvSpPr>
            <p:spPr>
              <a:xfrm>
                <a:off x="1465490" y="3219301"/>
                <a:ext cx="438300" cy="438301"/>
              </a:xfrm>
              <a:prstGeom prst="ellipse">
                <a:avLst/>
              </a:prstGeom>
              <a:noFill/>
              <a:ln w="9525" cap="flat" cmpd="sng">
                <a:solidFill>
                  <a:schemeClr val="accent2"/>
                </a:solidFill>
                <a:prstDash val="solid"/>
                <a:round/>
                <a:headEnd type="none" w="sm" len="sm"/>
                <a:tailEnd type="none" w="sm" len="sm"/>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62" name="Google Shape;2902;p4">
                <a:extLst>
                  <a:ext uri="{FF2B5EF4-FFF2-40B4-BE49-F238E27FC236}">
                    <a16:creationId xmlns:a16="http://schemas.microsoft.com/office/drawing/2014/main" id="{4DCB8EC5-5311-8143-CB1D-24624C0B9140}"/>
                  </a:ext>
                </a:extLst>
              </p:cNvPr>
              <p:cNvGrpSpPr/>
              <p:nvPr/>
            </p:nvGrpSpPr>
            <p:grpSpPr>
              <a:xfrm>
                <a:off x="1561461" y="3315270"/>
                <a:ext cx="245369" cy="245370"/>
                <a:chOff x="979296" y="1541158"/>
                <a:chExt cx="1054511" cy="1054515"/>
              </a:xfrm>
            </p:grpSpPr>
            <p:sp>
              <p:nvSpPr>
                <p:cNvPr id="63" name="Google Shape;2903;p4">
                  <a:extLst>
                    <a:ext uri="{FF2B5EF4-FFF2-40B4-BE49-F238E27FC236}">
                      <a16:creationId xmlns:a16="http://schemas.microsoft.com/office/drawing/2014/main" id="{A0D2DC99-BE9C-A168-9F7A-E5900944DADF}"/>
                    </a:ext>
                  </a:extLst>
                </p:cNvPr>
                <p:cNvSpPr/>
                <p:nvPr/>
              </p:nvSpPr>
              <p:spPr>
                <a:xfrm>
                  <a:off x="979296" y="1541158"/>
                  <a:ext cx="1054511" cy="1054515"/>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64" name="Google Shape;2904;p4">
                  <a:extLst>
                    <a:ext uri="{FF2B5EF4-FFF2-40B4-BE49-F238E27FC236}">
                      <a16:creationId xmlns:a16="http://schemas.microsoft.com/office/drawing/2014/main" id="{52CD759D-9D16-DEEC-76F5-216751122773}"/>
                    </a:ext>
                  </a:extLst>
                </p:cNvPr>
                <p:cNvGrpSpPr/>
                <p:nvPr/>
              </p:nvGrpSpPr>
              <p:grpSpPr>
                <a:xfrm>
                  <a:off x="1296246" y="2002748"/>
                  <a:ext cx="390297" cy="146863"/>
                  <a:chOff x="1296246" y="2002748"/>
                  <a:chExt cx="390297" cy="146863"/>
                </a:xfrm>
              </p:grpSpPr>
              <p:sp>
                <p:nvSpPr>
                  <p:cNvPr id="65" name="Google Shape;2905;p4">
                    <a:extLst>
                      <a:ext uri="{FF2B5EF4-FFF2-40B4-BE49-F238E27FC236}">
                        <a16:creationId xmlns:a16="http://schemas.microsoft.com/office/drawing/2014/main" id="{6E08BE98-E678-A1D1-3BD9-BE38EC60F2BF}"/>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6" name="Google Shape;2906;p4">
                    <a:extLst>
                      <a:ext uri="{FF2B5EF4-FFF2-40B4-BE49-F238E27FC236}">
                        <a16:creationId xmlns:a16="http://schemas.microsoft.com/office/drawing/2014/main" id="{6B7B48E4-B8F7-AB29-976F-CA2B420034DE}"/>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accent2"/>
                  </a:solidFill>
                  <a:ln>
                    <a:noFill/>
                  </a:ln>
                </p:spPr>
                <p:txBody>
                  <a:bodyPr spcFirstLastPara="1" wrap="square" lIns="87700" tIns="43850" rIns="87700" bIns="4385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grpSp>
      <p:sp>
        <p:nvSpPr>
          <p:cNvPr id="79" name="Google Shape;2907;p4">
            <a:extLst>
              <a:ext uri="{FF2B5EF4-FFF2-40B4-BE49-F238E27FC236}">
                <a16:creationId xmlns:a16="http://schemas.microsoft.com/office/drawing/2014/main" id="{ABE75C58-3CDA-07B0-22AB-C1421AD24577}"/>
              </a:ext>
            </a:extLst>
          </p:cNvPr>
          <p:cNvSpPr/>
          <p:nvPr/>
        </p:nvSpPr>
        <p:spPr>
          <a:xfrm>
            <a:off x="9727957" y="2574375"/>
            <a:ext cx="1650545" cy="1364965"/>
          </a:xfrm>
          <a:prstGeom prst="roundRect">
            <a:avLst>
              <a:gd name="adj" fmla="val 3604"/>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1371600"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 name="Google Shape;2908;p4">
            <a:extLst>
              <a:ext uri="{FF2B5EF4-FFF2-40B4-BE49-F238E27FC236}">
                <a16:creationId xmlns:a16="http://schemas.microsoft.com/office/drawing/2014/main" id="{DA12408B-5A20-FD69-229C-15F9D56A7970}"/>
              </a:ext>
            </a:extLst>
          </p:cNvPr>
          <p:cNvSpPr/>
          <p:nvPr/>
        </p:nvSpPr>
        <p:spPr>
          <a:xfrm>
            <a:off x="9916724" y="2898738"/>
            <a:ext cx="1286640" cy="749075"/>
          </a:xfrm>
          <a:prstGeom prst="rect">
            <a:avLst/>
          </a:prstGeom>
          <a:solidFill>
            <a:schemeClr val="lt1"/>
          </a:solidFill>
          <a:ln w="12700" cap="flat" cmpd="sng">
            <a:solidFill>
              <a:schemeClr val="accent1"/>
            </a:solidFill>
            <a:prstDash val="dot"/>
            <a:round/>
            <a:headEnd type="none" w="sm" len="sm"/>
            <a:tailEnd type="none" w="sm" len="sm"/>
          </a:ln>
        </p:spPr>
        <p:txBody>
          <a:bodyPr spcFirstLastPara="1" wrap="square" lIns="0" tIns="0" rIns="27430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1" name="Google Shape;2910;p4">
            <a:extLst>
              <a:ext uri="{FF2B5EF4-FFF2-40B4-BE49-F238E27FC236}">
                <a16:creationId xmlns:a16="http://schemas.microsoft.com/office/drawing/2014/main" id="{9A5C8BE9-73C1-147C-EFC3-337350A4F31F}"/>
              </a:ext>
            </a:extLst>
          </p:cNvPr>
          <p:cNvSpPr/>
          <p:nvPr/>
        </p:nvSpPr>
        <p:spPr>
          <a:xfrm>
            <a:off x="5526932" y="4111161"/>
            <a:ext cx="1814370" cy="317647"/>
          </a:xfrm>
          <a:prstGeom prst="roundRect">
            <a:avLst>
              <a:gd name="adj" fmla="val 16667"/>
            </a:avLst>
          </a:prstGeom>
          <a:solidFill>
            <a:schemeClr val="accent5"/>
          </a:solidFill>
          <a:ln>
            <a:noFill/>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vSphere </a:t>
            </a:r>
            <a:br>
              <a:rPr kumimoji="0" lang="en-US" sz="800" b="0" i="0" u="none" strike="noStrike" kern="1200" cap="none" spc="0" normalizeH="0" baseline="0" noProof="0">
                <a:ln>
                  <a:noFill/>
                </a:ln>
                <a:solidFill>
                  <a:srgbClr val="FFFFFF"/>
                </a:solidFill>
                <a:effectLst/>
                <a:uLnTx/>
                <a:uFillTx/>
                <a:latin typeface="Arial"/>
                <a:ea typeface="Arial"/>
                <a:cs typeface="Arial"/>
                <a:sym typeface="Arial"/>
              </a:rPr>
            </a:b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Namespace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2" name="Google Shape;2911;p4">
            <a:extLst>
              <a:ext uri="{FF2B5EF4-FFF2-40B4-BE49-F238E27FC236}">
                <a16:creationId xmlns:a16="http://schemas.microsoft.com/office/drawing/2014/main" id="{41237467-1899-1935-99D0-5C3690835E01}"/>
              </a:ext>
            </a:extLst>
          </p:cNvPr>
          <p:cNvSpPr/>
          <p:nvPr/>
        </p:nvSpPr>
        <p:spPr>
          <a:xfrm>
            <a:off x="9617476" y="4111257"/>
            <a:ext cx="1885133" cy="317647"/>
          </a:xfrm>
          <a:prstGeom prst="roundRect">
            <a:avLst>
              <a:gd name="adj" fmla="val 16667"/>
            </a:avLst>
          </a:prstGeom>
          <a:solidFill>
            <a:schemeClr val="accent2"/>
          </a:solidFill>
          <a:ln>
            <a:noFill/>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Service vSphere </a:t>
            </a:r>
            <a:b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b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Namespace</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83" name="Google Shape;2912;p4">
            <a:extLst>
              <a:ext uri="{FF2B5EF4-FFF2-40B4-BE49-F238E27FC236}">
                <a16:creationId xmlns:a16="http://schemas.microsoft.com/office/drawing/2014/main" id="{53844C8F-A780-A284-85CD-B2E44FC5774F}"/>
              </a:ext>
            </a:extLst>
          </p:cNvPr>
          <p:cNvGrpSpPr/>
          <p:nvPr/>
        </p:nvGrpSpPr>
        <p:grpSpPr>
          <a:xfrm>
            <a:off x="10431042" y="4499162"/>
            <a:ext cx="257998" cy="353203"/>
            <a:chOff x="5000233" y="3506447"/>
            <a:chExt cx="283795" cy="388519"/>
          </a:xfrm>
        </p:grpSpPr>
        <p:sp>
          <p:nvSpPr>
            <p:cNvPr id="84" name="Google Shape;2913;p4">
              <a:extLst>
                <a:ext uri="{FF2B5EF4-FFF2-40B4-BE49-F238E27FC236}">
                  <a16:creationId xmlns:a16="http://schemas.microsoft.com/office/drawing/2014/main" id="{666EDE05-450B-F01A-DD23-80C531FEB7EB}"/>
                </a:ext>
              </a:extLst>
            </p:cNvPr>
            <p:cNvSpPr/>
            <p:nvPr/>
          </p:nvSpPr>
          <p:spPr>
            <a:xfrm rot="-5400000">
              <a:off x="5060499" y="367143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2">
                <a:alpha val="22352"/>
              </a:schemeClr>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85" name="Google Shape;2914;p4">
              <a:extLst>
                <a:ext uri="{FF2B5EF4-FFF2-40B4-BE49-F238E27FC236}">
                  <a16:creationId xmlns:a16="http://schemas.microsoft.com/office/drawing/2014/main" id="{6E5F0A4C-18C8-FC19-256C-0D6E2850E861}"/>
                </a:ext>
              </a:extLst>
            </p:cNvPr>
            <p:cNvSpPr/>
            <p:nvPr/>
          </p:nvSpPr>
          <p:spPr>
            <a:xfrm rot="-5400000">
              <a:off x="5060499" y="355880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2">
                <a:alpha val="47450"/>
              </a:schemeClr>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86" name="Google Shape;2915;p4">
              <a:extLst>
                <a:ext uri="{FF2B5EF4-FFF2-40B4-BE49-F238E27FC236}">
                  <a16:creationId xmlns:a16="http://schemas.microsoft.com/office/drawing/2014/main" id="{F32FF510-3F98-F3CB-BF2E-4583F9E49B8F}"/>
                </a:ext>
              </a:extLst>
            </p:cNvPr>
            <p:cNvSpPr/>
            <p:nvPr/>
          </p:nvSpPr>
          <p:spPr>
            <a:xfrm rot="-5400000">
              <a:off x="5060499" y="3446180"/>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2"/>
            </a:solidFill>
            <a:ln>
              <a:noFill/>
            </a:ln>
          </p:spPr>
          <p:txBody>
            <a:bodyPr spcFirstLastPara="1" wrap="square" lIns="91350" tIns="45650" rIns="91350"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grpSp>
      <p:sp>
        <p:nvSpPr>
          <p:cNvPr id="87" name="Google Shape;2916;p4">
            <a:extLst>
              <a:ext uri="{FF2B5EF4-FFF2-40B4-BE49-F238E27FC236}">
                <a16:creationId xmlns:a16="http://schemas.microsoft.com/office/drawing/2014/main" id="{26637D81-3476-8092-040E-273B6A28DE5F}"/>
              </a:ext>
            </a:extLst>
          </p:cNvPr>
          <p:cNvSpPr/>
          <p:nvPr/>
        </p:nvSpPr>
        <p:spPr>
          <a:xfrm>
            <a:off x="9974022" y="3368851"/>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88" name="Google Shape;2917;p4">
            <a:extLst>
              <a:ext uri="{FF2B5EF4-FFF2-40B4-BE49-F238E27FC236}">
                <a16:creationId xmlns:a16="http://schemas.microsoft.com/office/drawing/2014/main" id="{5BB2FF85-BB52-3A3C-7B38-EA65F7B9973D}"/>
              </a:ext>
            </a:extLst>
          </p:cNvPr>
          <p:cNvSpPr/>
          <p:nvPr/>
        </p:nvSpPr>
        <p:spPr>
          <a:xfrm>
            <a:off x="10391500" y="3368851"/>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89" name="Google Shape;2918;p4">
            <a:extLst>
              <a:ext uri="{FF2B5EF4-FFF2-40B4-BE49-F238E27FC236}">
                <a16:creationId xmlns:a16="http://schemas.microsoft.com/office/drawing/2014/main" id="{781D135F-F483-0A1F-4300-ED19BF3487A6}"/>
              </a:ext>
            </a:extLst>
          </p:cNvPr>
          <p:cNvSpPr/>
          <p:nvPr/>
        </p:nvSpPr>
        <p:spPr>
          <a:xfrm>
            <a:off x="10804874" y="3368851"/>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0" name="Google Shape;2919;p4">
            <a:extLst>
              <a:ext uri="{FF2B5EF4-FFF2-40B4-BE49-F238E27FC236}">
                <a16:creationId xmlns:a16="http://schemas.microsoft.com/office/drawing/2014/main" id="{A1EF1EE5-3B40-644E-9FF6-7713B881C81B}"/>
              </a:ext>
            </a:extLst>
          </p:cNvPr>
          <p:cNvSpPr/>
          <p:nvPr/>
        </p:nvSpPr>
        <p:spPr>
          <a:xfrm>
            <a:off x="9967825" y="3149925"/>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1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1" name="Google Shape;2920;p4">
            <a:extLst>
              <a:ext uri="{FF2B5EF4-FFF2-40B4-BE49-F238E27FC236}">
                <a16:creationId xmlns:a16="http://schemas.microsoft.com/office/drawing/2014/main" id="{E0D55E30-71C2-7144-26FA-44936286B75D}"/>
              </a:ext>
            </a:extLst>
          </p:cNvPr>
          <p:cNvSpPr/>
          <p:nvPr/>
        </p:nvSpPr>
        <p:spPr>
          <a:xfrm>
            <a:off x="10385303" y="3149925"/>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2" name="Google Shape;2921;p4">
            <a:extLst>
              <a:ext uri="{FF2B5EF4-FFF2-40B4-BE49-F238E27FC236}">
                <a16:creationId xmlns:a16="http://schemas.microsoft.com/office/drawing/2014/main" id="{7ACCBD6C-FA42-BE2C-CB07-1D8C5EEC95F5}"/>
              </a:ext>
            </a:extLst>
          </p:cNvPr>
          <p:cNvSpPr/>
          <p:nvPr/>
        </p:nvSpPr>
        <p:spPr>
          <a:xfrm>
            <a:off x="10798677" y="3149925"/>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3" name="Google Shape;2922;p4">
            <a:extLst>
              <a:ext uri="{FF2B5EF4-FFF2-40B4-BE49-F238E27FC236}">
                <a16:creationId xmlns:a16="http://schemas.microsoft.com/office/drawing/2014/main" id="{0838C778-9EC7-7C90-E112-08B5EAD6589D}"/>
              </a:ext>
            </a:extLst>
          </p:cNvPr>
          <p:cNvSpPr txBox="1"/>
          <p:nvPr/>
        </p:nvSpPr>
        <p:spPr>
          <a:xfrm>
            <a:off x="9781127" y="3705632"/>
            <a:ext cx="1557833" cy="161583"/>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rial"/>
                <a:ea typeface="Arial"/>
                <a:cs typeface="Arial"/>
                <a:sym typeface="Arial"/>
              </a:rPr>
              <a:t>vSphere Pods</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4" name="Google Shape;2923;p4">
            <a:extLst>
              <a:ext uri="{FF2B5EF4-FFF2-40B4-BE49-F238E27FC236}">
                <a16:creationId xmlns:a16="http://schemas.microsoft.com/office/drawing/2014/main" id="{109AECCF-B96D-6E85-72DB-52BE58FCDC7C}"/>
              </a:ext>
            </a:extLst>
          </p:cNvPr>
          <p:cNvSpPr/>
          <p:nvPr/>
        </p:nvSpPr>
        <p:spPr>
          <a:xfrm>
            <a:off x="3163125" y="5499963"/>
            <a:ext cx="8561609" cy="423705"/>
          </a:xfrm>
          <a:prstGeom prst="roundRect">
            <a:avLst>
              <a:gd name="adj" fmla="val 8857"/>
            </a:avLst>
          </a:prstGeom>
          <a:gradFill>
            <a:gsLst>
              <a:gs pos="0">
                <a:srgbClr val="6C4B8F"/>
              </a:gs>
              <a:gs pos="100000">
                <a:srgbClr val="005B84"/>
              </a:gs>
            </a:gsLst>
            <a:lin ang="0" scaled="0"/>
          </a:gradFill>
          <a:ln>
            <a:noFill/>
          </a:ln>
          <a:effectLst>
            <a:reflection stA="41000" endPos="31000" dist="50800" dir="5400000" fadeDir="5400012" sy="-100000" algn="bl" rotWithShape="0"/>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95" name="Google Shape;2924;p4">
            <a:extLst>
              <a:ext uri="{FF2B5EF4-FFF2-40B4-BE49-F238E27FC236}">
                <a16:creationId xmlns:a16="http://schemas.microsoft.com/office/drawing/2014/main" id="{EF4B9F65-E317-098E-6F30-BEFA44E1E7BA}"/>
              </a:ext>
            </a:extLst>
          </p:cNvPr>
          <p:cNvSpPr txBox="1"/>
          <p:nvPr/>
        </p:nvSpPr>
        <p:spPr>
          <a:xfrm>
            <a:off x="7010599" y="5611278"/>
            <a:ext cx="866659" cy="215444"/>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a:ea typeface="Arial"/>
                <a:cs typeface="Arial"/>
                <a:sym typeface="Arial"/>
              </a:rPr>
              <a:t>Supervisor</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8" name="Google Shape;2927;p4">
            <a:extLst>
              <a:ext uri="{FF2B5EF4-FFF2-40B4-BE49-F238E27FC236}">
                <a16:creationId xmlns:a16="http://schemas.microsoft.com/office/drawing/2014/main" id="{D52D3FFC-F0AD-F9CB-8B9C-C8D822192CEF}"/>
              </a:ext>
            </a:extLst>
          </p:cNvPr>
          <p:cNvSpPr txBox="1"/>
          <p:nvPr/>
        </p:nvSpPr>
        <p:spPr>
          <a:xfrm>
            <a:off x="9925618" y="5056553"/>
            <a:ext cx="1255221" cy="169277"/>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1B1D36"/>
                </a:solidFill>
                <a:effectLst/>
                <a:uLnTx/>
                <a:uFillTx/>
                <a:latin typeface="Arial"/>
                <a:ea typeface="Arial"/>
                <a:cs typeface="Arial"/>
                <a:sym typeface="Arial"/>
              </a:rPr>
              <a:t>ArgoCD</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99" name="Google Shape;2928;p4">
            <a:extLst>
              <a:ext uri="{FF2B5EF4-FFF2-40B4-BE49-F238E27FC236}">
                <a16:creationId xmlns:a16="http://schemas.microsoft.com/office/drawing/2014/main" id="{EC292A5A-D2F6-FFE6-FB7D-396ED5F17B36}"/>
              </a:ext>
            </a:extLst>
          </p:cNvPr>
          <p:cNvSpPr/>
          <p:nvPr/>
        </p:nvSpPr>
        <p:spPr>
          <a:xfrm>
            <a:off x="3215135" y="5562610"/>
            <a:ext cx="1814370" cy="304750"/>
          </a:xfrm>
          <a:prstGeom prst="roundRect">
            <a:avLst>
              <a:gd name="adj" fmla="val 50000"/>
            </a:avLst>
          </a:prstGeom>
          <a:solidFill>
            <a:schemeClr val="lt1"/>
          </a:solidFill>
          <a:ln w="12700" cap="flat" cmpd="sng">
            <a:solidFill>
              <a:schemeClr val="accent5"/>
            </a:solidFill>
            <a:prstDash val="dot"/>
            <a:round/>
            <a:headEnd type="none" w="sm" len="sm"/>
            <a:tailEnd type="none" w="sm" len="sm"/>
          </a:ln>
        </p:spPr>
        <p:txBody>
          <a:bodyPr spcFirstLastPara="1" wrap="square" lIns="91400" tIns="45700" rIns="91400"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srgbClr val="61A60E"/>
              </a:solidFill>
              <a:effectLst/>
              <a:uLnTx/>
              <a:uFillTx/>
              <a:latin typeface="Arial"/>
              <a:ea typeface="Arial"/>
              <a:cs typeface="Arial"/>
              <a:sym typeface="Arial"/>
            </a:endParaRPr>
          </a:p>
        </p:txBody>
      </p:sp>
      <p:sp>
        <p:nvSpPr>
          <p:cNvPr id="100" name="Google Shape;2929;p4">
            <a:extLst>
              <a:ext uri="{FF2B5EF4-FFF2-40B4-BE49-F238E27FC236}">
                <a16:creationId xmlns:a16="http://schemas.microsoft.com/office/drawing/2014/main" id="{519EAD72-2A9D-4B74-B8FF-8B9D7C65A527}"/>
              </a:ext>
            </a:extLst>
          </p:cNvPr>
          <p:cNvSpPr txBox="1"/>
          <p:nvPr/>
        </p:nvSpPr>
        <p:spPr>
          <a:xfrm>
            <a:off x="3539798" y="5621513"/>
            <a:ext cx="1438968" cy="179216"/>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a:ea typeface="Arial"/>
                <a:cs typeface="Arial"/>
                <a:sym typeface="Arial"/>
              </a:rPr>
              <a:t>Supervisor Control Plane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01" name="Google Shape;2930;p4">
            <a:extLst>
              <a:ext uri="{FF2B5EF4-FFF2-40B4-BE49-F238E27FC236}">
                <a16:creationId xmlns:a16="http://schemas.microsoft.com/office/drawing/2014/main" id="{A20A74EA-7708-EE18-002D-1DC216BA2A7D}"/>
              </a:ext>
            </a:extLst>
          </p:cNvPr>
          <p:cNvGrpSpPr/>
          <p:nvPr/>
        </p:nvGrpSpPr>
        <p:grpSpPr>
          <a:xfrm>
            <a:off x="3229679" y="5573331"/>
            <a:ext cx="288000" cy="288000"/>
            <a:chOff x="456349" y="4375620"/>
            <a:chExt cx="288000" cy="288000"/>
          </a:xfrm>
        </p:grpSpPr>
        <p:sp>
          <p:nvSpPr>
            <p:cNvPr id="102" name="Google Shape;2931;p4">
              <a:extLst>
                <a:ext uri="{FF2B5EF4-FFF2-40B4-BE49-F238E27FC236}">
                  <a16:creationId xmlns:a16="http://schemas.microsoft.com/office/drawing/2014/main" id="{18485DE4-10D3-A40F-7B24-B9C94C0136B2}"/>
                </a:ext>
              </a:extLst>
            </p:cNvPr>
            <p:cNvSpPr/>
            <p:nvPr/>
          </p:nvSpPr>
          <p:spPr>
            <a:xfrm>
              <a:off x="456349" y="4375620"/>
              <a:ext cx="288000" cy="288000"/>
            </a:xfrm>
            <a:custGeom>
              <a:avLst/>
              <a:gdLst/>
              <a:ahLst/>
              <a:cxnLst/>
              <a:rect l="l" t="t" r="r" b="b"/>
              <a:pathLst>
                <a:path w="1237269" h="1237269" extrusionOk="0">
                  <a:moveTo>
                    <a:pt x="619503" y="0"/>
                  </a:moveTo>
                  <a:cubicBezTo>
                    <a:pt x="960686" y="0"/>
                    <a:pt x="1237270" y="276584"/>
                    <a:pt x="1237270" y="617767"/>
                  </a:cubicBezTo>
                  <a:lnTo>
                    <a:pt x="1237270" y="619503"/>
                  </a:lnTo>
                  <a:cubicBezTo>
                    <a:pt x="1237270" y="960686"/>
                    <a:pt x="960686" y="1237270"/>
                    <a:pt x="619503" y="1237270"/>
                  </a:cubicBezTo>
                  <a:lnTo>
                    <a:pt x="617767" y="1237270"/>
                  </a:lnTo>
                  <a:cubicBezTo>
                    <a:pt x="276584" y="1237270"/>
                    <a:pt x="0" y="960686"/>
                    <a:pt x="0" y="619503"/>
                  </a:cubicBezTo>
                  <a:lnTo>
                    <a:pt x="0" y="617767"/>
                  </a:lnTo>
                  <a:cubicBezTo>
                    <a:pt x="0" y="276584"/>
                    <a:pt x="276584" y="0"/>
                    <a:pt x="617767" y="0"/>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03" name="Google Shape;2932;p4">
              <a:extLst>
                <a:ext uri="{FF2B5EF4-FFF2-40B4-BE49-F238E27FC236}">
                  <a16:creationId xmlns:a16="http://schemas.microsoft.com/office/drawing/2014/main" id="{7628A01C-D886-FAEB-75D5-72B1AEDA96C5}"/>
                </a:ext>
              </a:extLst>
            </p:cNvPr>
            <p:cNvSpPr/>
            <p:nvPr/>
          </p:nvSpPr>
          <p:spPr>
            <a:xfrm>
              <a:off x="501068" y="4430830"/>
              <a:ext cx="204951" cy="180919"/>
            </a:xfrm>
            <a:custGeom>
              <a:avLst/>
              <a:gdLst/>
              <a:ahLst/>
              <a:cxnLst/>
              <a:rect l="l" t="t" r="r" b="b"/>
              <a:pathLst>
                <a:path w="1373429" h="1372819" extrusionOk="0">
                  <a:moveTo>
                    <a:pt x="1269187" y="1205789"/>
                  </a:moveTo>
                  <a:cubicBezTo>
                    <a:pt x="1234440" y="1205789"/>
                    <a:pt x="1206094" y="1234135"/>
                    <a:pt x="1206094" y="1268882"/>
                  </a:cubicBezTo>
                  <a:cubicBezTo>
                    <a:pt x="1206094" y="1303630"/>
                    <a:pt x="1234440" y="1331976"/>
                    <a:pt x="1269187" y="1331976"/>
                  </a:cubicBezTo>
                  <a:cubicBezTo>
                    <a:pt x="1303934" y="1331976"/>
                    <a:pt x="1332281" y="1303630"/>
                    <a:pt x="1332281" y="1268882"/>
                  </a:cubicBezTo>
                  <a:cubicBezTo>
                    <a:pt x="1332281" y="1234135"/>
                    <a:pt x="1303934" y="1205789"/>
                    <a:pt x="1269187" y="1205789"/>
                  </a:cubicBezTo>
                  <a:close/>
                  <a:moveTo>
                    <a:pt x="686714" y="1205789"/>
                  </a:moveTo>
                  <a:cubicBezTo>
                    <a:pt x="651967" y="1205789"/>
                    <a:pt x="623621" y="1234135"/>
                    <a:pt x="623621" y="1268882"/>
                  </a:cubicBezTo>
                  <a:cubicBezTo>
                    <a:pt x="623621" y="1303630"/>
                    <a:pt x="651967" y="1331976"/>
                    <a:pt x="686714" y="1331976"/>
                  </a:cubicBezTo>
                  <a:cubicBezTo>
                    <a:pt x="721462" y="1331976"/>
                    <a:pt x="749808" y="1303630"/>
                    <a:pt x="749808" y="1268882"/>
                  </a:cubicBezTo>
                  <a:cubicBezTo>
                    <a:pt x="749808" y="1234135"/>
                    <a:pt x="721462" y="1205789"/>
                    <a:pt x="686714" y="1205789"/>
                  </a:cubicBezTo>
                  <a:close/>
                  <a:moveTo>
                    <a:pt x="104242" y="1205789"/>
                  </a:moveTo>
                  <a:cubicBezTo>
                    <a:pt x="69494" y="1205789"/>
                    <a:pt x="41148" y="1234135"/>
                    <a:pt x="41148" y="1268882"/>
                  </a:cubicBezTo>
                  <a:cubicBezTo>
                    <a:pt x="41148" y="1303630"/>
                    <a:pt x="69494" y="1331976"/>
                    <a:pt x="104242" y="1331976"/>
                  </a:cubicBezTo>
                  <a:cubicBezTo>
                    <a:pt x="138989" y="1331976"/>
                    <a:pt x="167335" y="1303630"/>
                    <a:pt x="167335" y="1268882"/>
                  </a:cubicBezTo>
                  <a:cubicBezTo>
                    <a:pt x="167335" y="1234135"/>
                    <a:pt x="138989" y="1205789"/>
                    <a:pt x="104242" y="1205789"/>
                  </a:cubicBezTo>
                  <a:close/>
                  <a:moveTo>
                    <a:pt x="607466" y="647090"/>
                  </a:moveTo>
                  <a:lnTo>
                    <a:pt x="627887" y="693420"/>
                  </a:lnTo>
                  <a:lnTo>
                    <a:pt x="587044" y="693420"/>
                  </a:lnTo>
                  <a:close/>
                  <a:moveTo>
                    <a:pt x="693724" y="644042"/>
                  </a:moveTo>
                  <a:lnTo>
                    <a:pt x="717803" y="644042"/>
                  </a:lnTo>
                  <a:cubicBezTo>
                    <a:pt x="725118" y="644042"/>
                    <a:pt x="731214" y="645566"/>
                    <a:pt x="735482" y="648919"/>
                  </a:cubicBezTo>
                  <a:cubicBezTo>
                    <a:pt x="740054" y="652272"/>
                    <a:pt x="742187" y="656539"/>
                    <a:pt x="742187" y="662330"/>
                  </a:cubicBezTo>
                  <a:cubicBezTo>
                    <a:pt x="742187" y="668121"/>
                    <a:pt x="739749" y="672693"/>
                    <a:pt x="735482" y="676046"/>
                  </a:cubicBezTo>
                  <a:lnTo>
                    <a:pt x="735482" y="676351"/>
                  </a:lnTo>
                  <a:cubicBezTo>
                    <a:pt x="730910" y="679704"/>
                    <a:pt x="725118" y="681228"/>
                    <a:pt x="717803" y="681228"/>
                  </a:cubicBezTo>
                  <a:lnTo>
                    <a:pt x="693724" y="681228"/>
                  </a:lnTo>
                  <a:close/>
                  <a:moveTo>
                    <a:pt x="776629" y="630631"/>
                  </a:moveTo>
                  <a:lnTo>
                    <a:pt x="776629" y="726338"/>
                  </a:lnTo>
                  <a:lnTo>
                    <a:pt x="790041" y="726338"/>
                  </a:lnTo>
                  <a:lnTo>
                    <a:pt x="790041" y="630631"/>
                  </a:lnTo>
                  <a:close/>
                  <a:moveTo>
                    <a:pt x="679703" y="630631"/>
                  </a:moveTo>
                  <a:lnTo>
                    <a:pt x="679703" y="726338"/>
                  </a:lnTo>
                  <a:lnTo>
                    <a:pt x="693114" y="726338"/>
                  </a:lnTo>
                  <a:lnTo>
                    <a:pt x="693114" y="692810"/>
                  </a:lnTo>
                  <a:lnTo>
                    <a:pt x="719022" y="692810"/>
                  </a:lnTo>
                  <a:cubicBezTo>
                    <a:pt x="725423" y="692810"/>
                    <a:pt x="731519" y="691591"/>
                    <a:pt x="737005" y="688847"/>
                  </a:cubicBezTo>
                  <a:cubicBezTo>
                    <a:pt x="742187" y="686409"/>
                    <a:pt x="746759" y="682751"/>
                    <a:pt x="749807" y="677875"/>
                  </a:cubicBezTo>
                  <a:cubicBezTo>
                    <a:pt x="753160" y="672998"/>
                    <a:pt x="754684" y="667816"/>
                    <a:pt x="754684" y="661720"/>
                  </a:cubicBezTo>
                  <a:cubicBezTo>
                    <a:pt x="754684" y="655624"/>
                    <a:pt x="752855" y="650443"/>
                    <a:pt x="749807" y="645566"/>
                  </a:cubicBezTo>
                  <a:cubicBezTo>
                    <a:pt x="746759" y="640994"/>
                    <a:pt x="742492" y="637336"/>
                    <a:pt x="737005" y="634593"/>
                  </a:cubicBezTo>
                  <a:cubicBezTo>
                    <a:pt x="731519" y="631850"/>
                    <a:pt x="725423" y="630631"/>
                    <a:pt x="719022" y="630631"/>
                  </a:cubicBezTo>
                  <a:close/>
                  <a:moveTo>
                    <a:pt x="600150" y="630631"/>
                  </a:moveTo>
                  <a:lnTo>
                    <a:pt x="558697" y="726338"/>
                  </a:lnTo>
                  <a:lnTo>
                    <a:pt x="572413" y="726338"/>
                  </a:lnTo>
                  <a:lnTo>
                    <a:pt x="581862" y="705307"/>
                  </a:lnTo>
                  <a:lnTo>
                    <a:pt x="631849" y="705307"/>
                  </a:lnTo>
                  <a:lnTo>
                    <a:pt x="641298" y="726338"/>
                  </a:lnTo>
                  <a:lnTo>
                    <a:pt x="655014" y="726338"/>
                  </a:lnTo>
                  <a:lnTo>
                    <a:pt x="613561" y="630631"/>
                  </a:lnTo>
                  <a:close/>
                  <a:moveTo>
                    <a:pt x="685799" y="490727"/>
                  </a:moveTo>
                  <a:cubicBezTo>
                    <a:pt x="660805" y="490423"/>
                    <a:pt x="635812" y="495299"/>
                    <a:pt x="611733" y="504748"/>
                  </a:cubicBezTo>
                  <a:cubicBezTo>
                    <a:pt x="563879" y="523951"/>
                    <a:pt x="526389" y="560831"/>
                    <a:pt x="505967" y="608075"/>
                  </a:cubicBezTo>
                  <a:lnTo>
                    <a:pt x="535533" y="620877"/>
                  </a:lnTo>
                  <a:cubicBezTo>
                    <a:pt x="552601" y="581558"/>
                    <a:pt x="583691" y="550773"/>
                    <a:pt x="623620" y="534923"/>
                  </a:cubicBezTo>
                  <a:cubicBezTo>
                    <a:pt x="663549" y="519074"/>
                    <a:pt x="707135" y="519379"/>
                    <a:pt x="746759" y="536447"/>
                  </a:cubicBezTo>
                  <a:cubicBezTo>
                    <a:pt x="786078" y="553516"/>
                    <a:pt x="816863" y="584606"/>
                    <a:pt x="832713" y="624535"/>
                  </a:cubicBezTo>
                  <a:cubicBezTo>
                    <a:pt x="848562" y="664463"/>
                    <a:pt x="848257" y="708355"/>
                    <a:pt x="831189" y="747674"/>
                  </a:cubicBezTo>
                  <a:cubicBezTo>
                    <a:pt x="796137" y="829055"/>
                    <a:pt x="701649" y="867155"/>
                    <a:pt x="619962" y="832103"/>
                  </a:cubicBezTo>
                  <a:lnTo>
                    <a:pt x="607161" y="861669"/>
                  </a:lnTo>
                  <a:cubicBezTo>
                    <a:pt x="632154" y="872032"/>
                    <a:pt x="657757" y="877214"/>
                    <a:pt x="683056" y="877214"/>
                  </a:cubicBezTo>
                  <a:cubicBezTo>
                    <a:pt x="758037" y="877214"/>
                    <a:pt x="829360" y="833323"/>
                    <a:pt x="860754" y="760171"/>
                  </a:cubicBezTo>
                  <a:lnTo>
                    <a:pt x="861059" y="760171"/>
                  </a:lnTo>
                  <a:cubicBezTo>
                    <a:pt x="881481" y="712622"/>
                    <a:pt x="882090" y="660196"/>
                    <a:pt x="862888" y="612343"/>
                  </a:cubicBezTo>
                  <a:cubicBezTo>
                    <a:pt x="843685" y="564489"/>
                    <a:pt x="807109" y="526999"/>
                    <a:pt x="759561" y="506577"/>
                  </a:cubicBezTo>
                  <a:cubicBezTo>
                    <a:pt x="735786" y="496214"/>
                    <a:pt x="710793" y="490727"/>
                    <a:pt x="685799" y="490727"/>
                  </a:cubicBezTo>
                  <a:close/>
                  <a:moveTo>
                    <a:pt x="624229" y="345033"/>
                  </a:moveTo>
                  <a:lnTo>
                    <a:pt x="749502" y="345033"/>
                  </a:lnTo>
                  <a:cubicBezTo>
                    <a:pt x="749502" y="345033"/>
                    <a:pt x="757122" y="425805"/>
                    <a:pt x="757122" y="425805"/>
                  </a:cubicBezTo>
                  <a:cubicBezTo>
                    <a:pt x="779373" y="431901"/>
                    <a:pt x="800404" y="441045"/>
                    <a:pt x="819911" y="452323"/>
                  </a:cubicBezTo>
                  <a:lnTo>
                    <a:pt x="883005" y="399897"/>
                  </a:lnTo>
                  <a:lnTo>
                    <a:pt x="927201" y="444093"/>
                  </a:lnTo>
                  <a:lnTo>
                    <a:pt x="971397" y="488289"/>
                  </a:lnTo>
                  <a:cubicBezTo>
                    <a:pt x="971397" y="488289"/>
                    <a:pt x="917447" y="553516"/>
                    <a:pt x="917447" y="553516"/>
                  </a:cubicBezTo>
                  <a:cubicBezTo>
                    <a:pt x="927505" y="572109"/>
                    <a:pt x="935430" y="592226"/>
                    <a:pt x="940612" y="613257"/>
                  </a:cubicBezTo>
                  <a:lnTo>
                    <a:pt x="1026565" y="621487"/>
                  </a:lnTo>
                  <a:lnTo>
                    <a:pt x="1026565" y="746759"/>
                  </a:lnTo>
                  <a:cubicBezTo>
                    <a:pt x="1026565" y="746759"/>
                    <a:pt x="936649" y="755294"/>
                    <a:pt x="936649" y="755294"/>
                  </a:cubicBezTo>
                  <a:cubicBezTo>
                    <a:pt x="930858" y="774496"/>
                    <a:pt x="922629" y="792479"/>
                    <a:pt x="912875" y="809243"/>
                  </a:cubicBezTo>
                  <a:lnTo>
                    <a:pt x="912265" y="809548"/>
                  </a:lnTo>
                  <a:lnTo>
                    <a:pt x="971092" y="880262"/>
                  </a:lnTo>
                  <a:lnTo>
                    <a:pt x="926896" y="924458"/>
                  </a:lnTo>
                  <a:lnTo>
                    <a:pt x="882700" y="968654"/>
                  </a:lnTo>
                  <a:cubicBezTo>
                    <a:pt x="882700" y="968654"/>
                    <a:pt x="809548" y="907999"/>
                    <a:pt x="809548" y="907999"/>
                  </a:cubicBezTo>
                  <a:cubicBezTo>
                    <a:pt x="793393" y="916533"/>
                    <a:pt x="776020" y="923543"/>
                    <a:pt x="758037" y="928725"/>
                  </a:cubicBezTo>
                  <a:lnTo>
                    <a:pt x="749197" y="1023823"/>
                  </a:lnTo>
                  <a:lnTo>
                    <a:pt x="623925" y="1023823"/>
                  </a:lnTo>
                  <a:lnTo>
                    <a:pt x="615085" y="928725"/>
                  </a:lnTo>
                  <a:cubicBezTo>
                    <a:pt x="597102" y="923543"/>
                    <a:pt x="580033" y="916533"/>
                    <a:pt x="563879" y="907999"/>
                  </a:cubicBezTo>
                  <a:lnTo>
                    <a:pt x="490727" y="968349"/>
                  </a:lnTo>
                  <a:lnTo>
                    <a:pt x="446531" y="924153"/>
                  </a:lnTo>
                  <a:lnTo>
                    <a:pt x="402335" y="879957"/>
                  </a:lnTo>
                  <a:cubicBezTo>
                    <a:pt x="402335" y="879957"/>
                    <a:pt x="461161" y="809243"/>
                    <a:pt x="461161" y="809243"/>
                  </a:cubicBezTo>
                  <a:cubicBezTo>
                    <a:pt x="451408" y="792175"/>
                    <a:pt x="443178" y="774191"/>
                    <a:pt x="437387" y="755294"/>
                  </a:cubicBezTo>
                  <a:lnTo>
                    <a:pt x="347471" y="746759"/>
                  </a:lnTo>
                  <a:lnTo>
                    <a:pt x="347471" y="621487"/>
                  </a:lnTo>
                  <a:cubicBezTo>
                    <a:pt x="347471" y="621487"/>
                    <a:pt x="433425" y="613867"/>
                    <a:pt x="433425" y="613867"/>
                  </a:cubicBezTo>
                  <a:cubicBezTo>
                    <a:pt x="438911" y="592531"/>
                    <a:pt x="446836" y="572414"/>
                    <a:pt x="456894" y="553821"/>
                  </a:cubicBezTo>
                  <a:lnTo>
                    <a:pt x="402640" y="488594"/>
                  </a:lnTo>
                  <a:lnTo>
                    <a:pt x="446836" y="444398"/>
                  </a:lnTo>
                  <a:lnTo>
                    <a:pt x="491032" y="400202"/>
                  </a:lnTo>
                  <a:lnTo>
                    <a:pt x="554125" y="452627"/>
                  </a:lnTo>
                  <a:cubicBezTo>
                    <a:pt x="573633" y="441350"/>
                    <a:pt x="594359" y="432206"/>
                    <a:pt x="616609" y="426110"/>
                  </a:cubicBezTo>
                  <a:close/>
                  <a:moveTo>
                    <a:pt x="205740" y="118567"/>
                  </a:moveTo>
                  <a:cubicBezTo>
                    <a:pt x="203606" y="133807"/>
                    <a:pt x="198425" y="147523"/>
                    <a:pt x="190500" y="159715"/>
                  </a:cubicBezTo>
                  <a:lnTo>
                    <a:pt x="431902" y="401422"/>
                  </a:lnTo>
                  <a:lnTo>
                    <a:pt x="402641" y="430682"/>
                  </a:lnTo>
                  <a:lnTo>
                    <a:pt x="161544" y="189281"/>
                  </a:lnTo>
                  <a:cubicBezTo>
                    <a:pt x="149352" y="197206"/>
                    <a:pt x="136246" y="202692"/>
                    <a:pt x="121310" y="205130"/>
                  </a:cubicBezTo>
                  <a:lnTo>
                    <a:pt x="121310" y="1167689"/>
                  </a:lnTo>
                  <a:cubicBezTo>
                    <a:pt x="135941" y="1170127"/>
                    <a:pt x="149047" y="1175309"/>
                    <a:pt x="160934" y="1183234"/>
                  </a:cubicBezTo>
                  <a:lnTo>
                    <a:pt x="402336" y="941527"/>
                  </a:lnTo>
                  <a:lnTo>
                    <a:pt x="431597" y="970788"/>
                  </a:lnTo>
                  <a:lnTo>
                    <a:pt x="189890" y="1212799"/>
                  </a:lnTo>
                  <a:cubicBezTo>
                    <a:pt x="197815" y="1225296"/>
                    <a:pt x="203302" y="1239317"/>
                    <a:pt x="205435" y="1254557"/>
                  </a:cubicBezTo>
                  <a:lnTo>
                    <a:pt x="205435" y="1253642"/>
                  </a:lnTo>
                  <a:lnTo>
                    <a:pt x="585521" y="1253642"/>
                  </a:lnTo>
                  <a:cubicBezTo>
                    <a:pt x="592226" y="1210056"/>
                    <a:pt x="624840" y="1176528"/>
                    <a:pt x="668122" y="1168299"/>
                  </a:cubicBezTo>
                  <a:lnTo>
                    <a:pt x="668122" y="1063752"/>
                  </a:lnTo>
                  <a:lnTo>
                    <a:pt x="709270" y="1063752"/>
                  </a:lnTo>
                  <a:lnTo>
                    <a:pt x="709270" y="1168908"/>
                  </a:lnTo>
                  <a:cubicBezTo>
                    <a:pt x="750722" y="1178357"/>
                    <a:pt x="781507" y="1211275"/>
                    <a:pt x="787908" y="1253642"/>
                  </a:cubicBezTo>
                  <a:lnTo>
                    <a:pt x="1167994" y="1253642"/>
                  </a:lnTo>
                  <a:lnTo>
                    <a:pt x="1183455" y="1213020"/>
                  </a:lnTo>
                  <a:lnTo>
                    <a:pt x="1183843" y="1213409"/>
                  </a:lnTo>
                  <a:lnTo>
                    <a:pt x="1183539" y="1212799"/>
                  </a:lnTo>
                  <a:lnTo>
                    <a:pt x="1183455" y="1213020"/>
                  </a:lnTo>
                  <a:lnTo>
                    <a:pt x="940308" y="969569"/>
                  </a:lnTo>
                  <a:lnTo>
                    <a:pt x="969569" y="940308"/>
                  </a:lnTo>
                  <a:lnTo>
                    <a:pt x="1212799" y="1183843"/>
                  </a:lnTo>
                  <a:cubicBezTo>
                    <a:pt x="1224382" y="1176223"/>
                    <a:pt x="1237183" y="1171042"/>
                    <a:pt x="1251509" y="1168603"/>
                  </a:cubicBezTo>
                  <a:lnTo>
                    <a:pt x="1251509" y="205130"/>
                  </a:lnTo>
                  <a:cubicBezTo>
                    <a:pt x="1236879" y="202387"/>
                    <a:pt x="1224077" y="197206"/>
                    <a:pt x="1212190" y="189281"/>
                  </a:cubicBezTo>
                  <a:lnTo>
                    <a:pt x="972007" y="430073"/>
                  </a:lnTo>
                  <a:lnTo>
                    <a:pt x="942746" y="400812"/>
                  </a:lnTo>
                  <a:lnTo>
                    <a:pt x="1183234" y="159715"/>
                  </a:lnTo>
                  <a:cubicBezTo>
                    <a:pt x="1175309" y="147523"/>
                    <a:pt x="1170127" y="134417"/>
                    <a:pt x="1167994" y="119482"/>
                  </a:cubicBezTo>
                  <a:lnTo>
                    <a:pt x="788213" y="119482"/>
                  </a:lnTo>
                  <a:cubicBezTo>
                    <a:pt x="782422" y="162763"/>
                    <a:pt x="751332" y="196291"/>
                    <a:pt x="709270" y="205740"/>
                  </a:cubicBezTo>
                  <a:lnTo>
                    <a:pt x="709270" y="304800"/>
                  </a:lnTo>
                  <a:lnTo>
                    <a:pt x="668122" y="304800"/>
                  </a:lnTo>
                  <a:lnTo>
                    <a:pt x="668122" y="206654"/>
                  </a:lnTo>
                  <a:cubicBezTo>
                    <a:pt x="624230" y="198425"/>
                    <a:pt x="591312" y="163982"/>
                    <a:pt x="585216" y="119482"/>
                  </a:cubicBezTo>
                  <a:lnTo>
                    <a:pt x="205740" y="119482"/>
                  </a:lnTo>
                  <a:close/>
                  <a:moveTo>
                    <a:pt x="686714" y="42977"/>
                  </a:moveTo>
                  <a:cubicBezTo>
                    <a:pt x="651967" y="42977"/>
                    <a:pt x="623621" y="71323"/>
                    <a:pt x="623621" y="106070"/>
                  </a:cubicBezTo>
                  <a:cubicBezTo>
                    <a:pt x="623621" y="140818"/>
                    <a:pt x="651967" y="169164"/>
                    <a:pt x="686714" y="169164"/>
                  </a:cubicBezTo>
                  <a:cubicBezTo>
                    <a:pt x="721462" y="169164"/>
                    <a:pt x="749808" y="140818"/>
                    <a:pt x="749808" y="106070"/>
                  </a:cubicBezTo>
                  <a:cubicBezTo>
                    <a:pt x="749808" y="71323"/>
                    <a:pt x="721462" y="42977"/>
                    <a:pt x="686714" y="42977"/>
                  </a:cubicBezTo>
                  <a:close/>
                  <a:moveTo>
                    <a:pt x="1269187" y="41148"/>
                  </a:moveTo>
                  <a:cubicBezTo>
                    <a:pt x="1234440" y="41148"/>
                    <a:pt x="1206094" y="69494"/>
                    <a:pt x="1206094" y="104242"/>
                  </a:cubicBezTo>
                  <a:cubicBezTo>
                    <a:pt x="1206094" y="138989"/>
                    <a:pt x="1234440" y="167335"/>
                    <a:pt x="1269187" y="167335"/>
                  </a:cubicBezTo>
                  <a:cubicBezTo>
                    <a:pt x="1303934" y="167335"/>
                    <a:pt x="1332281" y="138989"/>
                    <a:pt x="1332281" y="104242"/>
                  </a:cubicBezTo>
                  <a:cubicBezTo>
                    <a:pt x="1332281" y="69494"/>
                    <a:pt x="1303934" y="41148"/>
                    <a:pt x="1269187" y="41148"/>
                  </a:cubicBezTo>
                  <a:close/>
                  <a:moveTo>
                    <a:pt x="104242" y="41148"/>
                  </a:moveTo>
                  <a:cubicBezTo>
                    <a:pt x="69494" y="41148"/>
                    <a:pt x="41148" y="69494"/>
                    <a:pt x="41148" y="104242"/>
                  </a:cubicBezTo>
                  <a:cubicBezTo>
                    <a:pt x="41148" y="138989"/>
                    <a:pt x="69494" y="167335"/>
                    <a:pt x="104242" y="167335"/>
                  </a:cubicBezTo>
                  <a:cubicBezTo>
                    <a:pt x="138989" y="167335"/>
                    <a:pt x="167335" y="138989"/>
                    <a:pt x="167335" y="104242"/>
                  </a:cubicBezTo>
                  <a:cubicBezTo>
                    <a:pt x="167335" y="69494"/>
                    <a:pt x="138989" y="41148"/>
                    <a:pt x="104242" y="41148"/>
                  </a:cubicBezTo>
                  <a:close/>
                  <a:moveTo>
                    <a:pt x="104242" y="0"/>
                  </a:moveTo>
                  <a:cubicBezTo>
                    <a:pt x="156667" y="0"/>
                    <a:pt x="198120" y="39319"/>
                    <a:pt x="205435" y="89916"/>
                  </a:cubicBezTo>
                  <a:lnTo>
                    <a:pt x="205435" y="89002"/>
                  </a:lnTo>
                  <a:lnTo>
                    <a:pt x="585826" y="89002"/>
                  </a:lnTo>
                  <a:cubicBezTo>
                    <a:pt x="594360" y="39624"/>
                    <a:pt x="634898" y="1524"/>
                    <a:pt x="686714" y="1524"/>
                  </a:cubicBezTo>
                  <a:cubicBezTo>
                    <a:pt x="738530" y="1524"/>
                    <a:pt x="779374" y="39929"/>
                    <a:pt x="787603" y="89002"/>
                  </a:cubicBezTo>
                  <a:lnTo>
                    <a:pt x="1167994" y="89002"/>
                  </a:lnTo>
                  <a:cubicBezTo>
                    <a:pt x="1175614" y="39014"/>
                    <a:pt x="1217066" y="0"/>
                    <a:pt x="1269187" y="0"/>
                  </a:cubicBezTo>
                  <a:cubicBezTo>
                    <a:pt x="1326794" y="0"/>
                    <a:pt x="1373429" y="46634"/>
                    <a:pt x="1373429" y="104242"/>
                  </a:cubicBezTo>
                  <a:cubicBezTo>
                    <a:pt x="1373429" y="157582"/>
                    <a:pt x="1333195" y="199644"/>
                    <a:pt x="1281684" y="206045"/>
                  </a:cubicBezTo>
                  <a:lnTo>
                    <a:pt x="1281684" y="1166774"/>
                  </a:lnTo>
                  <a:cubicBezTo>
                    <a:pt x="1333195" y="1173175"/>
                    <a:pt x="1373429" y="1215542"/>
                    <a:pt x="1373429" y="1268578"/>
                  </a:cubicBezTo>
                  <a:cubicBezTo>
                    <a:pt x="1373429" y="1326185"/>
                    <a:pt x="1326794" y="1372819"/>
                    <a:pt x="1269187" y="1372819"/>
                  </a:cubicBezTo>
                  <a:cubicBezTo>
                    <a:pt x="1217066" y="1372819"/>
                    <a:pt x="1175614" y="1333805"/>
                    <a:pt x="1167994" y="1283818"/>
                  </a:cubicBezTo>
                  <a:lnTo>
                    <a:pt x="787908" y="1283818"/>
                  </a:lnTo>
                  <a:cubicBezTo>
                    <a:pt x="780288" y="1333805"/>
                    <a:pt x="738835" y="1372819"/>
                    <a:pt x="686714" y="1372819"/>
                  </a:cubicBezTo>
                  <a:cubicBezTo>
                    <a:pt x="634594" y="1372819"/>
                    <a:pt x="593141" y="1333805"/>
                    <a:pt x="585521" y="1283818"/>
                  </a:cubicBezTo>
                  <a:lnTo>
                    <a:pt x="205435" y="1283818"/>
                  </a:lnTo>
                  <a:lnTo>
                    <a:pt x="205435" y="1282903"/>
                  </a:lnTo>
                  <a:cubicBezTo>
                    <a:pt x="198425" y="1333500"/>
                    <a:pt x="156667" y="1372819"/>
                    <a:pt x="104242" y="1372819"/>
                  </a:cubicBezTo>
                  <a:cubicBezTo>
                    <a:pt x="46634" y="1372819"/>
                    <a:pt x="0" y="1326185"/>
                    <a:pt x="0" y="1268578"/>
                  </a:cubicBezTo>
                  <a:cubicBezTo>
                    <a:pt x="0" y="1215847"/>
                    <a:pt x="39929" y="1173785"/>
                    <a:pt x="90830" y="1167079"/>
                  </a:cubicBezTo>
                  <a:lnTo>
                    <a:pt x="90830" y="205740"/>
                  </a:lnTo>
                  <a:cubicBezTo>
                    <a:pt x="39929" y="199034"/>
                    <a:pt x="0" y="156972"/>
                    <a:pt x="0" y="104242"/>
                  </a:cubicBezTo>
                  <a:cubicBezTo>
                    <a:pt x="0" y="46634"/>
                    <a:pt x="46634" y="0"/>
                    <a:pt x="104242"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04" name="Google Shape;2933;p4">
            <a:extLst>
              <a:ext uri="{FF2B5EF4-FFF2-40B4-BE49-F238E27FC236}">
                <a16:creationId xmlns:a16="http://schemas.microsoft.com/office/drawing/2014/main" id="{80A74A89-25FB-5E29-77B5-EAAEEC136E68}"/>
              </a:ext>
            </a:extLst>
          </p:cNvPr>
          <p:cNvGrpSpPr/>
          <p:nvPr/>
        </p:nvGrpSpPr>
        <p:grpSpPr>
          <a:xfrm>
            <a:off x="6780102" y="6118227"/>
            <a:ext cx="1344725" cy="216064"/>
            <a:chOff x="3604782" y="5211713"/>
            <a:chExt cx="1344725" cy="216064"/>
          </a:xfrm>
        </p:grpSpPr>
        <p:grpSp>
          <p:nvGrpSpPr>
            <p:cNvPr id="105" name="Google Shape;2934;p4">
              <a:extLst>
                <a:ext uri="{FF2B5EF4-FFF2-40B4-BE49-F238E27FC236}">
                  <a16:creationId xmlns:a16="http://schemas.microsoft.com/office/drawing/2014/main" id="{9D71A68A-63F3-0602-AAF9-A4CDE148520E}"/>
                </a:ext>
              </a:extLst>
            </p:cNvPr>
            <p:cNvGrpSpPr/>
            <p:nvPr/>
          </p:nvGrpSpPr>
          <p:grpSpPr>
            <a:xfrm>
              <a:off x="4468307" y="5211713"/>
              <a:ext cx="481200" cy="216000"/>
              <a:chOff x="9559097" y="5270063"/>
              <a:chExt cx="481200" cy="216000"/>
            </a:xfrm>
          </p:grpSpPr>
          <p:sp>
            <p:nvSpPr>
              <p:cNvPr id="115" name="Google Shape;2935;p4">
                <a:extLst>
                  <a:ext uri="{FF2B5EF4-FFF2-40B4-BE49-F238E27FC236}">
                    <a16:creationId xmlns:a16="http://schemas.microsoft.com/office/drawing/2014/main" id="{4368AC43-4558-DE28-FE95-2071D05F3D95}"/>
                  </a:ext>
                </a:extLst>
              </p:cNvPr>
              <p:cNvSpPr/>
              <p:nvPr/>
            </p:nvSpPr>
            <p:spPr>
              <a:xfrm>
                <a:off x="9559097" y="5319713"/>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116" name="Google Shape;2936;p4">
                <a:extLst>
                  <a:ext uri="{FF2B5EF4-FFF2-40B4-BE49-F238E27FC236}">
                    <a16:creationId xmlns:a16="http://schemas.microsoft.com/office/drawing/2014/main" id="{DBBC6DF1-806E-0C4A-39BD-4CA9EEABC8E3}"/>
                  </a:ext>
                </a:extLst>
              </p:cNvPr>
              <p:cNvSpPr/>
              <p:nvPr/>
            </p:nvSpPr>
            <p:spPr>
              <a:xfrm>
                <a:off x="9691694" y="5270063"/>
                <a:ext cx="216000" cy="216000"/>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06" name="Google Shape;2937;p4">
              <a:extLst>
                <a:ext uri="{FF2B5EF4-FFF2-40B4-BE49-F238E27FC236}">
                  <a16:creationId xmlns:a16="http://schemas.microsoft.com/office/drawing/2014/main" id="{7027E86E-3145-9C1C-895E-A33DAD6F8614}"/>
                </a:ext>
              </a:extLst>
            </p:cNvPr>
            <p:cNvGrpSpPr/>
            <p:nvPr/>
          </p:nvGrpSpPr>
          <p:grpSpPr>
            <a:xfrm>
              <a:off x="4059181" y="5211713"/>
              <a:ext cx="437400" cy="216000"/>
              <a:chOff x="9895949" y="1413332"/>
              <a:chExt cx="437400" cy="216000"/>
            </a:xfrm>
          </p:grpSpPr>
          <p:sp>
            <p:nvSpPr>
              <p:cNvPr id="113" name="Google Shape;2938;p4">
                <a:extLst>
                  <a:ext uri="{FF2B5EF4-FFF2-40B4-BE49-F238E27FC236}">
                    <a16:creationId xmlns:a16="http://schemas.microsoft.com/office/drawing/2014/main" id="{F5636D95-AF48-DBA2-811E-C5737871AD73}"/>
                  </a:ext>
                </a:extLst>
              </p:cNvPr>
              <p:cNvSpPr/>
              <p:nvPr/>
            </p:nvSpPr>
            <p:spPr>
              <a:xfrm>
                <a:off x="9895949" y="1462982"/>
                <a:ext cx="4374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114" name="Google Shape;2939;p4">
                <a:extLst>
                  <a:ext uri="{FF2B5EF4-FFF2-40B4-BE49-F238E27FC236}">
                    <a16:creationId xmlns:a16="http://schemas.microsoft.com/office/drawing/2014/main" id="{2ED17FFC-B168-1508-9A59-63259468D81D}"/>
                  </a:ext>
                </a:extLst>
              </p:cNvPr>
              <p:cNvSpPr/>
              <p:nvPr/>
            </p:nvSpPr>
            <p:spPr>
              <a:xfrm>
                <a:off x="10018018" y="1413332"/>
                <a:ext cx="193263" cy="216000"/>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07" name="Google Shape;2940;p4">
              <a:extLst>
                <a:ext uri="{FF2B5EF4-FFF2-40B4-BE49-F238E27FC236}">
                  <a16:creationId xmlns:a16="http://schemas.microsoft.com/office/drawing/2014/main" id="{2CBC2DA7-F392-4633-0565-ED0B0DFB6719}"/>
                </a:ext>
              </a:extLst>
            </p:cNvPr>
            <p:cNvGrpSpPr/>
            <p:nvPr/>
          </p:nvGrpSpPr>
          <p:grpSpPr>
            <a:xfrm>
              <a:off x="3604782" y="5211777"/>
              <a:ext cx="481200" cy="216000"/>
              <a:chOff x="8526343" y="2145622"/>
              <a:chExt cx="481200" cy="216000"/>
            </a:xfrm>
          </p:grpSpPr>
          <p:sp>
            <p:nvSpPr>
              <p:cNvPr id="108" name="Google Shape;2941;p4">
                <a:extLst>
                  <a:ext uri="{FF2B5EF4-FFF2-40B4-BE49-F238E27FC236}">
                    <a16:creationId xmlns:a16="http://schemas.microsoft.com/office/drawing/2014/main" id="{96C4DCDC-37AD-74ED-CD78-96F9BF7C2C01}"/>
                  </a:ext>
                </a:extLst>
              </p:cNvPr>
              <p:cNvSpPr/>
              <p:nvPr/>
            </p:nvSpPr>
            <p:spPr>
              <a:xfrm>
                <a:off x="8526343" y="2191830"/>
                <a:ext cx="481200" cy="1167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1200" cap="none" spc="0" normalizeH="0" baseline="0" noProof="0">
                  <a:ln>
                    <a:noFill/>
                  </a:ln>
                  <a:solidFill>
                    <a:srgbClr val="005B84"/>
                  </a:solidFill>
                  <a:effectLst/>
                  <a:uLnTx/>
                  <a:uFillTx/>
                  <a:latin typeface="Arial"/>
                  <a:ea typeface="Arial"/>
                  <a:cs typeface="Arial"/>
                  <a:sym typeface="Arial"/>
                </a:endParaRPr>
              </a:p>
            </p:txBody>
          </p:sp>
          <p:grpSp>
            <p:nvGrpSpPr>
              <p:cNvPr id="109" name="Google Shape;2942;p4">
                <a:extLst>
                  <a:ext uri="{FF2B5EF4-FFF2-40B4-BE49-F238E27FC236}">
                    <a16:creationId xmlns:a16="http://schemas.microsoft.com/office/drawing/2014/main" id="{CD8D404C-4876-0660-6A98-1CFA0FE3B873}"/>
                  </a:ext>
                </a:extLst>
              </p:cNvPr>
              <p:cNvGrpSpPr/>
              <p:nvPr/>
            </p:nvGrpSpPr>
            <p:grpSpPr>
              <a:xfrm>
                <a:off x="8658941" y="2145622"/>
                <a:ext cx="216005" cy="216000"/>
                <a:chOff x="3822556" y="5087301"/>
                <a:chExt cx="611339" cy="557273"/>
              </a:xfrm>
            </p:grpSpPr>
            <p:sp>
              <p:nvSpPr>
                <p:cNvPr id="110" name="Google Shape;2943;p4">
                  <a:extLst>
                    <a:ext uri="{FF2B5EF4-FFF2-40B4-BE49-F238E27FC236}">
                      <a16:creationId xmlns:a16="http://schemas.microsoft.com/office/drawing/2014/main" id="{107ECC28-4B8C-B215-78FB-30329D29C699}"/>
                    </a:ext>
                  </a:extLst>
                </p:cNvPr>
                <p:cNvSpPr/>
                <p:nvPr/>
              </p:nvSpPr>
              <p:spPr>
                <a:xfrm>
                  <a:off x="3822556" y="5087301"/>
                  <a:ext cx="611339" cy="161801"/>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1" name="Google Shape;2944;p4">
                  <a:extLst>
                    <a:ext uri="{FF2B5EF4-FFF2-40B4-BE49-F238E27FC236}">
                      <a16:creationId xmlns:a16="http://schemas.microsoft.com/office/drawing/2014/main" id="{8AFFCE23-49E3-FB3B-EBC4-85FDC072BF22}"/>
                    </a:ext>
                  </a:extLst>
                </p:cNvPr>
                <p:cNvSpPr/>
                <p:nvPr/>
              </p:nvSpPr>
              <p:spPr>
                <a:xfrm>
                  <a:off x="3822556" y="5284403"/>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2" name="Google Shape;2945;p4">
                  <a:extLst>
                    <a:ext uri="{FF2B5EF4-FFF2-40B4-BE49-F238E27FC236}">
                      <a16:creationId xmlns:a16="http://schemas.microsoft.com/office/drawing/2014/main" id="{0A60DC43-766F-68D3-500C-8D7A5239DFA1}"/>
                    </a:ext>
                  </a:extLst>
                </p:cNvPr>
                <p:cNvSpPr/>
                <p:nvPr/>
              </p:nvSpPr>
              <p:spPr>
                <a:xfrm>
                  <a:off x="3822556" y="5482729"/>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chemeClr val="accent2"/>
                </a:solid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grpSp>
        <p:nvGrpSpPr>
          <p:cNvPr id="117" name="Google Shape;3420;p8">
            <a:extLst>
              <a:ext uri="{FF2B5EF4-FFF2-40B4-BE49-F238E27FC236}">
                <a16:creationId xmlns:a16="http://schemas.microsoft.com/office/drawing/2014/main" id="{1D5A4069-CAEE-F572-C2B8-CB9A22A8DA2E}"/>
              </a:ext>
            </a:extLst>
          </p:cNvPr>
          <p:cNvGrpSpPr/>
          <p:nvPr/>
        </p:nvGrpSpPr>
        <p:grpSpPr>
          <a:xfrm>
            <a:off x="5558316" y="4141067"/>
            <a:ext cx="259961" cy="252000"/>
            <a:chOff x="6844091" y="3272403"/>
            <a:chExt cx="600837" cy="600837"/>
          </a:xfrm>
        </p:grpSpPr>
        <p:grpSp>
          <p:nvGrpSpPr>
            <p:cNvPr id="118" name="Google Shape;3421;p8" descr="Router&#10;">
              <a:extLst>
                <a:ext uri="{FF2B5EF4-FFF2-40B4-BE49-F238E27FC236}">
                  <a16:creationId xmlns:a16="http://schemas.microsoft.com/office/drawing/2014/main" id="{5F54272B-0F49-70DF-1E67-F8CFC3EFA19D}"/>
                </a:ext>
              </a:extLst>
            </p:cNvPr>
            <p:cNvGrpSpPr/>
            <p:nvPr/>
          </p:nvGrpSpPr>
          <p:grpSpPr>
            <a:xfrm>
              <a:off x="6844091" y="3272403"/>
              <a:ext cx="600837" cy="600837"/>
              <a:chOff x="529959" y="1943518"/>
              <a:chExt cx="600837" cy="600837"/>
            </a:xfrm>
          </p:grpSpPr>
          <p:sp>
            <p:nvSpPr>
              <p:cNvPr id="121" name="Google Shape;3422;p8">
                <a:extLst>
                  <a:ext uri="{FF2B5EF4-FFF2-40B4-BE49-F238E27FC236}">
                    <a16:creationId xmlns:a16="http://schemas.microsoft.com/office/drawing/2014/main" id="{EB7153F2-D1DC-1193-85C1-C9855550A9E0}"/>
                  </a:ext>
                </a:extLst>
              </p:cNvPr>
              <p:cNvSpPr/>
              <p:nvPr/>
            </p:nvSpPr>
            <p:spPr>
              <a:xfrm>
                <a:off x="529959" y="1943518"/>
                <a:ext cx="600837" cy="600837"/>
              </a:xfrm>
              <a:custGeom>
                <a:avLst/>
                <a:gdLst/>
                <a:ahLst/>
                <a:cxnLst/>
                <a:rect l="l" t="t" r="r" b="b"/>
                <a:pathLst>
                  <a:path w="600837" h="600837" extrusionOk="0">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22" name="Google Shape;3423;p8">
                <a:extLst>
                  <a:ext uri="{FF2B5EF4-FFF2-40B4-BE49-F238E27FC236}">
                    <a16:creationId xmlns:a16="http://schemas.microsoft.com/office/drawing/2014/main" id="{44F29FD5-92A0-AD26-C1BB-68F8BC5EEB6B}"/>
                  </a:ext>
                </a:extLst>
              </p:cNvPr>
              <p:cNvSpPr/>
              <p:nvPr/>
            </p:nvSpPr>
            <p:spPr>
              <a:xfrm rot="10800000">
                <a:off x="787811" y="2110873"/>
                <a:ext cx="85129" cy="126942"/>
              </a:xfrm>
              <a:custGeom>
                <a:avLst/>
                <a:gdLst/>
                <a:ahLst/>
                <a:cxnLst/>
                <a:rect l="l" t="t" r="r" b="b"/>
                <a:pathLst>
                  <a:path w="85129" h="189738" extrusionOk="0">
                    <a:moveTo>
                      <a:pt x="0" y="73745"/>
                    </a:moveTo>
                    <a:lnTo>
                      <a:pt x="26753" y="73745"/>
                    </a:lnTo>
                    <a:lnTo>
                      <a:pt x="26753" y="189738"/>
                    </a:lnTo>
                    <a:lnTo>
                      <a:pt x="58376" y="189738"/>
                    </a:lnTo>
                    <a:lnTo>
                      <a:pt x="58376" y="73745"/>
                    </a:lnTo>
                    <a:lnTo>
                      <a:pt x="85129" y="73745"/>
                    </a:lnTo>
                    <a:lnTo>
                      <a:pt x="42565" y="0"/>
                    </a:lnTo>
                    <a:lnTo>
                      <a:pt x="0" y="73745"/>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23" name="Google Shape;3424;p8">
                <a:extLst>
                  <a:ext uri="{FF2B5EF4-FFF2-40B4-BE49-F238E27FC236}">
                    <a16:creationId xmlns:a16="http://schemas.microsoft.com/office/drawing/2014/main" id="{7FEB3860-5F50-2BF4-DB3D-F69ACE0ED5F9}"/>
                  </a:ext>
                </a:extLst>
              </p:cNvPr>
              <p:cNvSpPr/>
              <p:nvPr/>
            </p:nvSpPr>
            <p:spPr>
              <a:xfrm rot="10800000">
                <a:off x="787812" y="2267093"/>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19" name="Google Shape;3425;p8">
              <a:extLst>
                <a:ext uri="{FF2B5EF4-FFF2-40B4-BE49-F238E27FC236}">
                  <a16:creationId xmlns:a16="http://schemas.microsoft.com/office/drawing/2014/main" id="{8656C5ED-9BC0-3843-EDFB-8DD70C422C3E}"/>
                </a:ext>
              </a:extLst>
            </p:cNvPr>
            <p:cNvSpPr/>
            <p:nvPr/>
          </p:nvSpPr>
          <p:spPr>
            <a:xfrm rot="5400000">
              <a:off x="7023501" y="3521896"/>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20" name="Google Shape;3426;p8">
              <a:extLst>
                <a:ext uri="{FF2B5EF4-FFF2-40B4-BE49-F238E27FC236}">
                  <a16:creationId xmlns:a16="http://schemas.microsoft.com/office/drawing/2014/main" id="{D9F022B4-D7E3-4D93-7E5C-B62A7F164B09}"/>
                </a:ext>
              </a:extLst>
            </p:cNvPr>
            <p:cNvSpPr/>
            <p:nvPr/>
          </p:nvSpPr>
          <p:spPr>
            <a:xfrm rot="-5400000">
              <a:off x="7180245" y="3525854"/>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24" name="Google Shape;3420;p8">
            <a:extLst>
              <a:ext uri="{FF2B5EF4-FFF2-40B4-BE49-F238E27FC236}">
                <a16:creationId xmlns:a16="http://schemas.microsoft.com/office/drawing/2014/main" id="{4CB854B8-ECCA-F0E9-C971-1F06556286F5}"/>
              </a:ext>
            </a:extLst>
          </p:cNvPr>
          <p:cNvGrpSpPr/>
          <p:nvPr/>
        </p:nvGrpSpPr>
        <p:grpSpPr>
          <a:xfrm>
            <a:off x="3527357" y="4144179"/>
            <a:ext cx="259961" cy="252000"/>
            <a:chOff x="6844091" y="3272403"/>
            <a:chExt cx="600837" cy="600837"/>
          </a:xfrm>
        </p:grpSpPr>
        <p:grpSp>
          <p:nvGrpSpPr>
            <p:cNvPr id="125" name="Google Shape;3421;p8" descr="Router&#10;">
              <a:extLst>
                <a:ext uri="{FF2B5EF4-FFF2-40B4-BE49-F238E27FC236}">
                  <a16:creationId xmlns:a16="http://schemas.microsoft.com/office/drawing/2014/main" id="{354C3FE0-546B-01F9-1AF9-EE438AA8026D}"/>
                </a:ext>
              </a:extLst>
            </p:cNvPr>
            <p:cNvGrpSpPr/>
            <p:nvPr/>
          </p:nvGrpSpPr>
          <p:grpSpPr>
            <a:xfrm>
              <a:off x="6844091" y="3272403"/>
              <a:ext cx="600837" cy="600837"/>
              <a:chOff x="529959" y="1943518"/>
              <a:chExt cx="600837" cy="600837"/>
            </a:xfrm>
          </p:grpSpPr>
          <p:sp>
            <p:nvSpPr>
              <p:cNvPr id="128" name="Google Shape;3422;p8">
                <a:extLst>
                  <a:ext uri="{FF2B5EF4-FFF2-40B4-BE49-F238E27FC236}">
                    <a16:creationId xmlns:a16="http://schemas.microsoft.com/office/drawing/2014/main" id="{2CE8AD81-141C-8DB4-0860-856EACB644FC}"/>
                  </a:ext>
                </a:extLst>
              </p:cNvPr>
              <p:cNvSpPr/>
              <p:nvPr/>
            </p:nvSpPr>
            <p:spPr>
              <a:xfrm>
                <a:off x="529959" y="1943518"/>
                <a:ext cx="600837" cy="600837"/>
              </a:xfrm>
              <a:custGeom>
                <a:avLst/>
                <a:gdLst/>
                <a:ahLst/>
                <a:cxnLst/>
                <a:rect l="l" t="t" r="r" b="b"/>
                <a:pathLst>
                  <a:path w="600837" h="600837" extrusionOk="0">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29" name="Google Shape;3423;p8">
                <a:extLst>
                  <a:ext uri="{FF2B5EF4-FFF2-40B4-BE49-F238E27FC236}">
                    <a16:creationId xmlns:a16="http://schemas.microsoft.com/office/drawing/2014/main" id="{2C8F74BE-99E0-0339-64EF-4A8CEAB76393}"/>
                  </a:ext>
                </a:extLst>
              </p:cNvPr>
              <p:cNvSpPr/>
              <p:nvPr/>
            </p:nvSpPr>
            <p:spPr>
              <a:xfrm rot="10800000">
                <a:off x="787811" y="2110873"/>
                <a:ext cx="85129" cy="126942"/>
              </a:xfrm>
              <a:custGeom>
                <a:avLst/>
                <a:gdLst/>
                <a:ahLst/>
                <a:cxnLst/>
                <a:rect l="l" t="t" r="r" b="b"/>
                <a:pathLst>
                  <a:path w="85129" h="189738" extrusionOk="0">
                    <a:moveTo>
                      <a:pt x="0" y="73745"/>
                    </a:moveTo>
                    <a:lnTo>
                      <a:pt x="26753" y="73745"/>
                    </a:lnTo>
                    <a:lnTo>
                      <a:pt x="26753" y="189738"/>
                    </a:lnTo>
                    <a:lnTo>
                      <a:pt x="58376" y="189738"/>
                    </a:lnTo>
                    <a:lnTo>
                      <a:pt x="58376" y="73745"/>
                    </a:lnTo>
                    <a:lnTo>
                      <a:pt x="85129" y="73745"/>
                    </a:lnTo>
                    <a:lnTo>
                      <a:pt x="42565" y="0"/>
                    </a:lnTo>
                    <a:lnTo>
                      <a:pt x="0" y="73745"/>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30" name="Google Shape;3424;p8">
                <a:extLst>
                  <a:ext uri="{FF2B5EF4-FFF2-40B4-BE49-F238E27FC236}">
                    <a16:creationId xmlns:a16="http://schemas.microsoft.com/office/drawing/2014/main" id="{E499C0D7-E201-A3FB-DD36-8488437F7D4A}"/>
                  </a:ext>
                </a:extLst>
              </p:cNvPr>
              <p:cNvSpPr/>
              <p:nvPr/>
            </p:nvSpPr>
            <p:spPr>
              <a:xfrm rot="10800000">
                <a:off x="787812" y="2267093"/>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26" name="Google Shape;3425;p8">
              <a:extLst>
                <a:ext uri="{FF2B5EF4-FFF2-40B4-BE49-F238E27FC236}">
                  <a16:creationId xmlns:a16="http://schemas.microsoft.com/office/drawing/2014/main" id="{3A04908B-E21B-D4F7-47E8-3FD448F5DC97}"/>
                </a:ext>
              </a:extLst>
            </p:cNvPr>
            <p:cNvSpPr/>
            <p:nvPr/>
          </p:nvSpPr>
          <p:spPr>
            <a:xfrm rot="5400000">
              <a:off x="7023501" y="3521896"/>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27" name="Google Shape;3426;p8">
              <a:extLst>
                <a:ext uri="{FF2B5EF4-FFF2-40B4-BE49-F238E27FC236}">
                  <a16:creationId xmlns:a16="http://schemas.microsoft.com/office/drawing/2014/main" id="{E1BAC208-71E3-4C82-2445-5512EDC78932}"/>
                </a:ext>
              </a:extLst>
            </p:cNvPr>
            <p:cNvSpPr/>
            <p:nvPr/>
          </p:nvSpPr>
          <p:spPr>
            <a:xfrm rot="-5400000">
              <a:off x="7180245" y="3525854"/>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31" name="Google Shape;3420;p8">
            <a:extLst>
              <a:ext uri="{FF2B5EF4-FFF2-40B4-BE49-F238E27FC236}">
                <a16:creationId xmlns:a16="http://schemas.microsoft.com/office/drawing/2014/main" id="{68B85937-8425-ADD0-E1E7-EE650EEBCE88}"/>
              </a:ext>
            </a:extLst>
          </p:cNvPr>
          <p:cNvGrpSpPr/>
          <p:nvPr/>
        </p:nvGrpSpPr>
        <p:grpSpPr>
          <a:xfrm>
            <a:off x="9648269" y="4154048"/>
            <a:ext cx="259961" cy="252000"/>
            <a:chOff x="6844091" y="3272403"/>
            <a:chExt cx="600837" cy="600837"/>
          </a:xfrm>
        </p:grpSpPr>
        <p:grpSp>
          <p:nvGrpSpPr>
            <p:cNvPr id="132" name="Google Shape;3421;p8" descr="Router&#10;">
              <a:extLst>
                <a:ext uri="{FF2B5EF4-FFF2-40B4-BE49-F238E27FC236}">
                  <a16:creationId xmlns:a16="http://schemas.microsoft.com/office/drawing/2014/main" id="{7A5ED3AC-A2C1-9732-C4C7-45DF54413B89}"/>
                </a:ext>
              </a:extLst>
            </p:cNvPr>
            <p:cNvGrpSpPr/>
            <p:nvPr/>
          </p:nvGrpSpPr>
          <p:grpSpPr>
            <a:xfrm>
              <a:off x="6844091" y="3272403"/>
              <a:ext cx="600837" cy="600837"/>
              <a:chOff x="529959" y="1943518"/>
              <a:chExt cx="600837" cy="600837"/>
            </a:xfrm>
          </p:grpSpPr>
          <p:sp>
            <p:nvSpPr>
              <p:cNvPr id="135" name="Google Shape;3422;p8">
                <a:extLst>
                  <a:ext uri="{FF2B5EF4-FFF2-40B4-BE49-F238E27FC236}">
                    <a16:creationId xmlns:a16="http://schemas.microsoft.com/office/drawing/2014/main" id="{44F8EB87-2E8B-5432-ED27-1EBB7CECA4CF}"/>
                  </a:ext>
                </a:extLst>
              </p:cNvPr>
              <p:cNvSpPr/>
              <p:nvPr/>
            </p:nvSpPr>
            <p:spPr>
              <a:xfrm>
                <a:off x="529959" y="1943518"/>
                <a:ext cx="600837" cy="600837"/>
              </a:xfrm>
              <a:custGeom>
                <a:avLst/>
                <a:gdLst/>
                <a:ahLst/>
                <a:cxnLst/>
                <a:rect l="l" t="t" r="r" b="b"/>
                <a:pathLst>
                  <a:path w="600837" h="600837" extrusionOk="0">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36" name="Google Shape;3423;p8">
                <a:extLst>
                  <a:ext uri="{FF2B5EF4-FFF2-40B4-BE49-F238E27FC236}">
                    <a16:creationId xmlns:a16="http://schemas.microsoft.com/office/drawing/2014/main" id="{2E3696C8-BAED-326C-F6AC-F6E4D82971FE}"/>
                  </a:ext>
                </a:extLst>
              </p:cNvPr>
              <p:cNvSpPr/>
              <p:nvPr/>
            </p:nvSpPr>
            <p:spPr>
              <a:xfrm rot="10800000">
                <a:off x="787811" y="2110873"/>
                <a:ext cx="85129" cy="126942"/>
              </a:xfrm>
              <a:custGeom>
                <a:avLst/>
                <a:gdLst/>
                <a:ahLst/>
                <a:cxnLst/>
                <a:rect l="l" t="t" r="r" b="b"/>
                <a:pathLst>
                  <a:path w="85129" h="189738" extrusionOk="0">
                    <a:moveTo>
                      <a:pt x="0" y="73745"/>
                    </a:moveTo>
                    <a:lnTo>
                      <a:pt x="26753" y="73745"/>
                    </a:lnTo>
                    <a:lnTo>
                      <a:pt x="26753" y="189738"/>
                    </a:lnTo>
                    <a:lnTo>
                      <a:pt x="58376" y="189738"/>
                    </a:lnTo>
                    <a:lnTo>
                      <a:pt x="58376" y="73745"/>
                    </a:lnTo>
                    <a:lnTo>
                      <a:pt x="85129" y="73745"/>
                    </a:lnTo>
                    <a:lnTo>
                      <a:pt x="42565" y="0"/>
                    </a:lnTo>
                    <a:lnTo>
                      <a:pt x="0" y="73745"/>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37" name="Google Shape;3424;p8">
                <a:extLst>
                  <a:ext uri="{FF2B5EF4-FFF2-40B4-BE49-F238E27FC236}">
                    <a16:creationId xmlns:a16="http://schemas.microsoft.com/office/drawing/2014/main" id="{67822FCE-D1E4-A175-FF36-A7F4DD0D9EB9}"/>
                  </a:ext>
                </a:extLst>
              </p:cNvPr>
              <p:cNvSpPr/>
              <p:nvPr/>
            </p:nvSpPr>
            <p:spPr>
              <a:xfrm rot="10800000">
                <a:off x="787812" y="2267093"/>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33" name="Google Shape;3425;p8">
              <a:extLst>
                <a:ext uri="{FF2B5EF4-FFF2-40B4-BE49-F238E27FC236}">
                  <a16:creationId xmlns:a16="http://schemas.microsoft.com/office/drawing/2014/main" id="{685B725F-D795-1A2C-F85F-74BDE5570045}"/>
                </a:ext>
              </a:extLst>
            </p:cNvPr>
            <p:cNvSpPr/>
            <p:nvPr/>
          </p:nvSpPr>
          <p:spPr>
            <a:xfrm rot="5400000">
              <a:off x="7023501" y="3521896"/>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34" name="Google Shape;3426;p8">
              <a:extLst>
                <a:ext uri="{FF2B5EF4-FFF2-40B4-BE49-F238E27FC236}">
                  <a16:creationId xmlns:a16="http://schemas.microsoft.com/office/drawing/2014/main" id="{CE1B3406-0929-97B3-F49D-C818234BE186}"/>
                </a:ext>
              </a:extLst>
            </p:cNvPr>
            <p:cNvSpPr/>
            <p:nvPr/>
          </p:nvSpPr>
          <p:spPr>
            <a:xfrm rot="-5400000">
              <a:off x="7180245" y="3525854"/>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46" name="Freeform: Shape 144">
            <a:extLst>
              <a:ext uri="{FF2B5EF4-FFF2-40B4-BE49-F238E27FC236}">
                <a16:creationId xmlns:a16="http://schemas.microsoft.com/office/drawing/2014/main" id="{17825C95-F6CD-E5EF-1EFD-EB6429D96349}"/>
              </a:ext>
              <a:ext uri="{C183D7F6-B498-43B3-948B-1728B52AA6E4}">
                <adec:decorative xmlns:adec="http://schemas.microsoft.com/office/drawing/2017/decorative" val="1"/>
              </a:ext>
            </a:extLst>
          </p:cNvPr>
          <p:cNvSpPr/>
          <p:nvPr/>
        </p:nvSpPr>
        <p:spPr>
          <a:xfrm rot="10800000" flipH="1">
            <a:off x="8510441" y="2087041"/>
            <a:ext cx="45719" cy="502288"/>
          </a:xfrm>
          <a:custGeom>
            <a:avLst/>
            <a:gdLst>
              <a:gd name="connsiteX0" fmla="*/ 0 w 7821"/>
              <a:gd name="connsiteY0" fmla="*/ 0 h 677563"/>
              <a:gd name="connsiteX1" fmla="*/ 0 w 7821"/>
              <a:gd name="connsiteY1" fmla="*/ 677563 h 677563"/>
            </a:gdLst>
            <a:ahLst/>
            <a:cxnLst>
              <a:cxn ang="0">
                <a:pos x="connsiteX0" y="connsiteY0"/>
              </a:cxn>
              <a:cxn ang="0">
                <a:pos x="connsiteX1" y="connsiteY1"/>
              </a:cxn>
            </a:cxnLst>
            <a:rect l="l" t="t" r="r" b="b"/>
            <a:pathLst>
              <a:path w="7821" h="677563">
                <a:moveTo>
                  <a:pt x="0" y="0"/>
                </a:moveTo>
                <a:lnTo>
                  <a:pt x="0" y="677563"/>
                </a:lnTo>
              </a:path>
            </a:pathLst>
          </a:custGeom>
          <a:noFill/>
          <a:ln w="190500" cap="flat">
            <a:gradFill flip="none" rotWithShape="1">
              <a:gsLst>
                <a:gs pos="0">
                  <a:schemeClr val="accent5"/>
                </a:gs>
                <a:gs pos="100000">
                  <a:schemeClr val="accent3">
                    <a:alpha val="50000"/>
                  </a:schemeClr>
                </a:gs>
              </a:gsLst>
              <a:lin ang="16200000" scaled="1"/>
              <a:tileRect/>
            </a:gra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cxnSp>
        <p:nvCxnSpPr>
          <p:cNvPr id="154" name="Curved Connector 153">
            <a:extLst>
              <a:ext uri="{FF2B5EF4-FFF2-40B4-BE49-F238E27FC236}">
                <a16:creationId xmlns:a16="http://schemas.microsoft.com/office/drawing/2014/main" id="{8789A29E-CFAC-D516-AE37-8DB13522345A}"/>
              </a:ext>
            </a:extLst>
          </p:cNvPr>
          <p:cNvCxnSpPr>
            <a:cxnSpLocks/>
            <a:endCxn id="38" idx="3"/>
          </p:cNvCxnSpPr>
          <p:nvPr/>
        </p:nvCxnSpPr>
        <p:spPr bwMode="gray">
          <a:xfrm rot="10800000" flipV="1">
            <a:off x="5263857" y="1431402"/>
            <a:ext cx="2295343" cy="1836073"/>
          </a:xfrm>
          <a:prstGeom prst="curvedConnector3">
            <a:avLst>
              <a:gd name="adj1" fmla="val 74068"/>
            </a:avLst>
          </a:prstGeom>
          <a:ln w="15875">
            <a:tailEnd type="triangle"/>
          </a:ln>
        </p:spPr>
        <p:style>
          <a:lnRef idx="1">
            <a:schemeClr val="accent2"/>
          </a:lnRef>
          <a:fillRef idx="0">
            <a:schemeClr val="accent2"/>
          </a:fillRef>
          <a:effectRef idx="0">
            <a:schemeClr val="accent2"/>
          </a:effectRef>
          <a:fontRef idx="minor">
            <a:schemeClr val="tx1"/>
          </a:fontRef>
        </p:style>
      </p:cxnSp>
      <p:cxnSp>
        <p:nvCxnSpPr>
          <p:cNvPr id="158" name="Curved Connector 157">
            <a:extLst>
              <a:ext uri="{FF2B5EF4-FFF2-40B4-BE49-F238E27FC236}">
                <a16:creationId xmlns:a16="http://schemas.microsoft.com/office/drawing/2014/main" id="{4FC56C96-C60F-7090-B781-04F542F8199F}"/>
              </a:ext>
            </a:extLst>
          </p:cNvPr>
          <p:cNvCxnSpPr>
            <a:cxnSpLocks/>
            <a:endCxn id="59" idx="3"/>
          </p:cNvCxnSpPr>
          <p:nvPr/>
        </p:nvCxnSpPr>
        <p:spPr bwMode="gray">
          <a:xfrm rot="10800000" flipV="1">
            <a:off x="7000643" y="1431402"/>
            <a:ext cx="558556" cy="1997311"/>
          </a:xfrm>
          <a:prstGeom prst="curvedConnector3">
            <a:avLst/>
          </a:prstGeom>
          <a:ln w="15875">
            <a:tailEnd type="triangle"/>
          </a:ln>
        </p:spPr>
        <p:style>
          <a:lnRef idx="1">
            <a:schemeClr val="accent2"/>
          </a:lnRef>
          <a:fillRef idx="0">
            <a:schemeClr val="accent2"/>
          </a:fillRef>
          <a:effectRef idx="0">
            <a:schemeClr val="accent2"/>
          </a:effectRef>
          <a:fontRef idx="minor">
            <a:schemeClr val="tx1"/>
          </a:fontRef>
        </p:style>
      </p:cxnSp>
      <p:pic>
        <p:nvPicPr>
          <p:cNvPr id="5" name="Picture 4" descr="A cartoon of an octopus&#10;&#10;AI-generated content may be incorrect.">
            <a:extLst>
              <a:ext uri="{FF2B5EF4-FFF2-40B4-BE49-F238E27FC236}">
                <a16:creationId xmlns:a16="http://schemas.microsoft.com/office/drawing/2014/main" id="{744E0C05-B852-2332-F043-8E3536B76421}"/>
              </a:ext>
            </a:extLst>
          </p:cNvPr>
          <p:cNvPicPr>
            <a:picLocks noChangeAspect="1"/>
          </p:cNvPicPr>
          <p:nvPr/>
        </p:nvPicPr>
        <p:blipFill>
          <a:blip r:embed="rId5"/>
          <a:stretch>
            <a:fillRect/>
          </a:stretch>
        </p:blipFill>
        <p:spPr>
          <a:xfrm>
            <a:off x="10393546" y="2698113"/>
            <a:ext cx="360000" cy="360000"/>
          </a:xfrm>
          <a:prstGeom prst="rect">
            <a:avLst/>
          </a:prstGeom>
        </p:spPr>
      </p:pic>
      <p:sp>
        <p:nvSpPr>
          <p:cNvPr id="12" name="Google Shape;2910;p4">
            <a:extLst>
              <a:ext uri="{FF2B5EF4-FFF2-40B4-BE49-F238E27FC236}">
                <a16:creationId xmlns:a16="http://schemas.microsoft.com/office/drawing/2014/main" id="{76B18313-5607-0227-4D61-CFC422BB2667}"/>
              </a:ext>
            </a:extLst>
          </p:cNvPr>
          <p:cNvSpPr/>
          <p:nvPr/>
        </p:nvSpPr>
        <p:spPr>
          <a:xfrm>
            <a:off x="7555363" y="4118545"/>
            <a:ext cx="1814370" cy="317647"/>
          </a:xfrm>
          <a:prstGeom prst="roundRect">
            <a:avLst>
              <a:gd name="adj" fmla="val 16667"/>
            </a:avLst>
          </a:prstGeom>
          <a:solidFill>
            <a:schemeClr val="accent5"/>
          </a:solidFill>
          <a:ln>
            <a:noFill/>
          </a:ln>
        </p:spPr>
        <p:txBody>
          <a:bodyPr spcFirstLastPara="1" wrap="square" lIns="87700" tIns="43850" rIns="87700" bIns="43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vSphere </a:t>
            </a:r>
            <a:br>
              <a:rPr kumimoji="0" lang="en-US" sz="800" b="0" i="0" u="none" strike="noStrike" kern="1200" cap="none" spc="0" normalizeH="0" baseline="0" noProof="0">
                <a:ln>
                  <a:noFill/>
                </a:ln>
                <a:solidFill>
                  <a:srgbClr val="FFFFFF"/>
                </a:solidFill>
                <a:effectLst/>
                <a:uLnTx/>
                <a:uFillTx/>
                <a:latin typeface="Arial"/>
                <a:ea typeface="Arial"/>
                <a:cs typeface="Arial"/>
                <a:sym typeface="Arial"/>
              </a:rPr>
            </a:br>
            <a:r>
              <a:rPr kumimoji="0" lang="en-US" sz="800" b="0" i="0" u="none" strike="noStrike" kern="1200" cap="none" spc="0" normalizeH="0" baseline="0" noProof="0">
                <a:ln>
                  <a:noFill/>
                </a:ln>
                <a:solidFill>
                  <a:srgbClr val="FFFFFF"/>
                </a:solidFill>
                <a:effectLst/>
                <a:uLnTx/>
                <a:uFillTx/>
                <a:latin typeface="Arial"/>
                <a:ea typeface="Arial"/>
                <a:cs typeface="Arial"/>
                <a:sym typeface="Arial"/>
              </a:rPr>
              <a:t>Namespace</a:t>
            </a:r>
            <a:endParaRPr kumimoji="0"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3" name="Google Shape;3420;p8">
            <a:extLst>
              <a:ext uri="{FF2B5EF4-FFF2-40B4-BE49-F238E27FC236}">
                <a16:creationId xmlns:a16="http://schemas.microsoft.com/office/drawing/2014/main" id="{5004A239-33D5-AA2E-21A5-AF9E155B7967}"/>
              </a:ext>
            </a:extLst>
          </p:cNvPr>
          <p:cNvGrpSpPr/>
          <p:nvPr/>
        </p:nvGrpSpPr>
        <p:grpSpPr>
          <a:xfrm>
            <a:off x="7608139" y="4145469"/>
            <a:ext cx="259961" cy="252000"/>
            <a:chOff x="6844091" y="3272403"/>
            <a:chExt cx="600837" cy="600837"/>
          </a:xfrm>
        </p:grpSpPr>
        <p:grpSp>
          <p:nvGrpSpPr>
            <p:cNvPr id="14" name="Google Shape;3421;p8" descr="Router&#10;">
              <a:extLst>
                <a:ext uri="{FF2B5EF4-FFF2-40B4-BE49-F238E27FC236}">
                  <a16:creationId xmlns:a16="http://schemas.microsoft.com/office/drawing/2014/main" id="{5B37B045-E767-6E0B-2332-8FEF4DDF5AA4}"/>
                </a:ext>
              </a:extLst>
            </p:cNvPr>
            <p:cNvGrpSpPr/>
            <p:nvPr/>
          </p:nvGrpSpPr>
          <p:grpSpPr>
            <a:xfrm>
              <a:off x="6844091" y="3272403"/>
              <a:ext cx="600837" cy="600837"/>
              <a:chOff x="529959" y="1943518"/>
              <a:chExt cx="600837" cy="600837"/>
            </a:xfrm>
          </p:grpSpPr>
          <p:sp>
            <p:nvSpPr>
              <p:cNvPr id="17" name="Google Shape;3422;p8">
                <a:extLst>
                  <a:ext uri="{FF2B5EF4-FFF2-40B4-BE49-F238E27FC236}">
                    <a16:creationId xmlns:a16="http://schemas.microsoft.com/office/drawing/2014/main" id="{69F1ACEC-8DCD-9D05-5A4D-EC438F0D9E0F}"/>
                  </a:ext>
                </a:extLst>
              </p:cNvPr>
              <p:cNvSpPr/>
              <p:nvPr/>
            </p:nvSpPr>
            <p:spPr>
              <a:xfrm>
                <a:off x="529959" y="1943518"/>
                <a:ext cx="600837" cy="600837"/>
              </a:xfrm>
              <a:custGeom>
                <a:avLst/>
                <a:gdLst/>
                <a:ahLst/>
                <a:cxnLst/>
                <a:rect l="l" t="t" r="r" b="b"/>
                <a:pathLst>
                  <a:path w="600837" h="600837" extrusionOk="0">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8" name="Google Shape;3423;p8">
                <a:extLst>
                  <a:ext uri="{FF2B5EF4-FFF2-40B4-BE49-F238E27FC236}">
                    <a16:creationId xmlns:a16="http://schemas.microsoft.com/office/drawing/2014/main" id="{689B8A93-444C-97CF-D67D-7C986E840195}"/>
                  </a:ext>
                </a:extLst>
              </p:cNvPr>
              <p:cNvSpPr/>
              <p:nvPr/>
            </p:nvSpPr>
            <p:spPr>
              <a:xfrm rot="10800000">
                <a:off x="787811" y="2110873"/>
                <a:ext cx="85129" cy="126942"/>
              </a:xfrm>
              <a:custGeom>
                <a:avLst/>
                <a:gdLst/>
                <a:ahLst/>
                <a:cxnLst/>
                <a:rect l="l" t="t" r="r" b="b"/>
                <a:pathLst>
                  <a:path w="85129" h="189738" extrusionOk="0">
                    <a:moveTo>
                      <a:pt x="0" y="73745"/>
                    </a:moveTo>
                    <a:lnTo>
                      <a:pt x="26753" y="73745"/>
                    </a:lnTo>
                    <a:lnTo>
                      <a:pt x="26753" y="189738"/>
                    </a:lnTo>
                    <a:lnTo>
                      <a:pt x="58376" y="189738"/>
                    </a:lnTo>
                    <a:lnTo>
                      <a:pt x="58376" y="73745"/>
                    </a:lnTo>
                    <a:lnTo>
                      <a:pt x="85129" y="73745"/>
                    </a:lnTo>
                    <a:lnTo>
                      <a:pt x="42565" y="0"/>
                    </a:lnTo>
                    <a:lnTo>
                      <a:pt x="0" y="73745"/>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9" name="Google Shape;3424;p8">
                <a:extLst>
                  <a:ext uri="{FF2B5EF4-FFF2-40B4-BE49-F238E27FC236}">
                    <a16:creationId xmlns:a16="http://schemas.microsoft.com/office/drawing/2014/main" id="{ED8BB435-1044-8ACB-95B4-372D54BA258C}"/>
                  </a:ext>
                </a:extLst>
              </p:cNvPr>
              <p:cNvSpPr/>
              <p:nvPr/>
            </p:nvSpPr>
            <p:spPr>
              <a:xfrm rot="10800000">
                <a:off x="787812" y="2267093"/>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5" name="Google Shape;3425;p8">
              <a:extLst>
                <a:ext uri="{FF2B5EF4-FFF2-40B4-BE49-F238E27FC236}">
                  <a16:creationId xmlns:a16="http://schemas.microsoft.com/office/drawing/2014/main" id="{BC36CCC0-02F5-0C65-1BA1-60BC75444C3B}"/>
                </a:ext>
              </a:extLst>
            </p:cNvPr>
            <p:cNvSpPr/>
            <p:nvPr/>
          </p:nvSpPr>
          <p:spPr>
            <a:xfrm rot="5400000">
              <a:off x="7023501" y="3521896"/>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6" name="Google Shape;3426;p8">
              <a:extLst>
                <a:ext uri="{FF2B5EF4-FFF2-40B4-BE49-F238E27FC236}">
                  <a16:creationId xmlns:a16="http://schemas.microsoft.com/office/drawing/2014/main" id="{24ED1DD5-BC48-2A7A-F122-9868A6327CB4}"/>
                </a:ext>
              </a:extLst>
            </p:cNvPr>
            <p:cNvSpPr/>
            <p:nvPr/>
          </p:nvSpPr>
          <p:spPr>
            <a:xfrm rot="-5400000">
              <a:off x="7180245" y="3525854"/>
              <a:ext cx="85129" cy="114929"/>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chemeClr val="accent2"/>
            </a:solidFill>
            <a:ln w="9525"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96" name="Google Shape;2907;p4">
            <a:extLst>
              <a:ext uri="{FF2B5EF4-FFF2-40B4-BE49-F238E27FC236}">
                <a16:creationId xmlns:a16="http://schemas.microsoft.com/office/drawing/2014/main" id="{A77A8F15-80D9-4FD1-10C2-6804748741EA}"/>
              </a:ext>
            </a:extLst>
          </p:cNvPr>
          <p:cNvSpPr/>
          <p:nvPr/>
        </p:nvSpPr>
        <p:spPr>
          <a:xfrm>
            <a:off x="7666232" y="2583408"/>
            <a:ext cx="1650545" cy="1364965"/>
          </a:xfrm>
          <a:prstGeom prst="roundRect">
            <a:avLst>
              <a:gd name="adj" fmla="val 3604"/>
            </a:avLst>
          </a:prstGeom>
          <a:solidFill>
            <a:schemeClr val="lt1"/>
          </a:solidFill>
          <a:ln w="19050" cap="flat" cmpd="sng">
            <a:solidFill>
              <a:schemeClr val="accent2"/>
            </a:solidFill>
            <a:prstDash val="solid"/>
            <a:round/>
            <a:headEnd type="none" w="sm" len="sm"/>
            <a:tailEnd type="none" w="sm" len="sm"/>
          </a:ln>
        </p:spPr>
        <p:txBody>
          <a:bodyPr spcFirstLastPara="1" wrap="square" lIns="91400" tIns="1371600" rIns="91400" bIns="2743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05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97" name="Google Shape;2908;p4">
            <a:extLst>
              <a:ext uri="{FF2B5EF4-FFF2-40B4-BE49-F238E27FC236}">
                <a16:creationId xmlns:a16="http://schemas.microsoft.com/office/drawing/2014/main" id="{FEE7B68E-0763-D1D0-3437-0C15B465A2B6}"/>
              </a:ext>
            </a:extLst>
          </p:cNvPr>
          <p:cNvSpPr/>
          <p:nvPr/>
        </p:nvSpPr>
        <p:spPr>
          <a:xfrm>
            <a:off x="7854999" y="2907771"/>
            <a:ext cx="1286640" cy="749075"/>
          </a:xfrm>
          <a:prstGeom prst="rect">
            <a:avLst/>
          </a:prstGeom>
          <a:solidFill>
            <a:schemeClr val="lt1"/>
          </a:solidFill>
          <a:ln w="12700" cap="flat" cmpd="sng">
            <a:solidFill>
              <a:schemeClr val="accent1"/>
            </a:solidFill>
            <a:prstDash val="dot"/>
            <a:round/>
            <a:headEnd type="none" w="sm" len="sm"/>
            <a:tailEnd type="none" w="sm" len="sm"/>
          </a:ln>
        </p:spPr>
        <p:txBody>
          <a:bodyPr spcFirstLastPara="1" wrap="square" lIns="0" tIns="0" rIns="274300" bIns="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38" name="Google Shape;2916;p4">
            <a:extLst>
              <a:ext uri="{FF2B5EF4-FFF2-40B4-BE49-F238E27FC236}">
                <a16:creationId xmlns:a16="http://schemas.microsoft.com/office/drawing/2014/main" id="{88EFF040-730F-B406-4B3A-99068D408C6A}"/>
              </a:ext>
            </a:extLst>
          </p:cNvPr>
          <p:cNvSpPr/>
          <p:nvPr/>
        </p:nvSpPr>
        <p:spPr>
          <a:xfrm>
            <a:off x="7912297" y="3377884"/>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39" name="Google Shape;2917;p4">
            <a:extLst>
              <a:ext uri="{FF2B5EF4-FFF2-40B4-BE49-F238E27FC236}">
                <a16:creationId xmlns:a16="http://schemas.microsoft.com/office/drawing/2014/main" id="{BDFA8FC0-9AE5-7A4C-4917-56B60DD32CFA}"/>
              </a:ext>
            </a:extLst>
          </p:cNvPr>
          <p:cNvSpPr/>
          <p:nvPr/>
        </p:nvSpPr>
        <p:spPr>
          <a:xfrm>
            <a:off x="8329775" y="3377884"/>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41" name="Google Shape;2918;p4">
            <a:extLst>
              <a:ext uri="{FF2B5EF4-FFF2-40B4-BE49-F238E27FC236}">
                <a16:creationId xmlns:a16="http://schemas.microsoft.com/office/drawing/2014/main" id="{54CC5BEA-85F1-1DAB-DAB0-AFABCFB3C48D}"/>
              </a:ext>
            </a:extLst>
          </p:cNvPr>
          <p:cNvSpPr/>
          <p:nvPr/>
        </p:nvSpPr>
        <p:spPr>
          <a:xfrm>
            <a:off x="8743149" y="3377884"/>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44" name="Google Shape;2919;p4">
            <a:extLst>
              <a:ext uri="{FF2B5EF4-FFF2-40B4-BE49-F238E27FC236}">
                <a16:creationId xmlns:a16="http://schemas.microsoft.com/office/drawing/2014/main" id="{DE2A88A4-1409-10EF-53B6-A101C1E33F3D}"/>
              </a:ext>
            </a:extLst>
          </p:cNvPr>
          <p:cNvSpPr/>
          <p:nvPr/>
        </p:nvSpPr>
        <p:spPr>
          <a:xfrm>
            <a:off x="7906100" y="3158958"/>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1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45" name="Google Shape;2920;p4">
            <a:extLst>
              <a:ext uri="{FF2B5EF4-FFF2-40B4-BE49-F238E27FC236}">
                <a16:creationId xmlns:a16="http://schemas.microsoft.com/office/drawing/2014/main" id="{6106A110-A3A2-E25F-73FA-BD66212055E7}"/>
              </a:ext>
            </a:extLst>
          </p:cNvPr>
          <p:cNvSpPr/>
          <p:nvPr/>
        </p:nvSpPr>
        <p:spPr>
          <a:xfrm>
            <a:off x="8323578" y="3158958"/>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47" name="Google Shape;2921;p4">
            <a:extLst>
              <a:ext uri="{FF2B5EF4-FFF2-40B4-BE49-F238E27FC236}">
                <a16:creationId xmlns:a16="http://schemas.microsoft.com/office/drawing/2014/main" id="{F7984D73-A018-773B-6976-574BF677AE40}"/>
              </a:ext>
            </a:extLst>
          </p:cNvPr>
          <p:cNvSpPr/>
          <p:nvPr/>
        </p:nvSpPr>
        <p:spPr>
          <a:xfrm>
            <a:off x="8736952" y="3158958"/>
            <a:ext cx="361333" cy="193996"/>
          </a:xfrm>
          <a:prstGeom prst="roundRect">
            <a:avLst>
              <a:gd name="adj" fmla="val 50000"/>
            </a:avLst>
          </a:prstGeom>
          <a:solidFill>
            <a:schemeClr val="accent1"/>
          </a:solidFill>
          <a:ln>
            <a:noFill/>
          </a:ln>
        </p:spPr>
        <p:txBody>
          <a:bodyPr spcFirstLastPara="1" wrap="square" lIns="77700" tIns="38850" rIns="77700" bIns="3885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a:ea typeface="Arial"/>
                <a:cs typeface="Arial"/>
                <a:sym typeface="Arial"/>
              </a:rPr>
              <a:t>P</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50" name="Google Shape;2922;p4">
            <a:extLst>
              <a:ext uri="{FF2B5EF4-FFF2-40B4-BE49-F238E27FC236}">
                <a16:creationId xmlns:a16="http://schemas.microsoft.com/office/drawing/2014/main" id="{4B5D89A3-5C31-597A-3C2A-9471D1F0B219}"/>
              </a:ext>
            </a:extLst>
          </p:cNvPr>
          <p:cNvSpPr txBox="1"/>
          <p:nvPr/>
        </p:nvSpPr>
        <p:spPr>
          <a:xfrm>
            <a:off x="7719402" y="3714665"/>
            <a:ext cx="1557833" cy="161583"/>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a:ea typeface="Arial"/>
                <a:cs typeface="Arial"/>
                <a:sym typeface="Arial"/>
              </a:rPr>
              <a:t>ArgoCD Instance</a:t>
            </a:r>
            <a:endParaRPr kumimoji="0"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151" name="Picture 150" descr="A cartoon of an octopus&#10;&#10;AI-generated content may be incorrect.">
            <a:extLst>
              <a:ext uri="{FF2B5EF4-FFF2-40B4-BE49-F238E27FC236}">
                <a16:creationId xmlns:a16="http://schemas.microsoft.com/office/drawing/2014/main" id="{A69BCCE1-C8AE-84A2-B089-7291D9A3F8D7}"/>
              </a:ext>
            </a:extLst>
          </p:cNvPr>
          <p:cNvPicPr>
            <a:picLocks noChangeAspect="1"/>
          </p:cNvPicPr>
          <p:nvPr/>
        </p:nvPicPr>
        <p:blipFill>
          <a:blip r:embed="rId5"/>
          <a:stretch>
            <a:fillRect/>
          </a:stretch>
        </p:blipFill>
        <p:spPr>
          <a:xfrm>
            <a:off x="8331821" y="2707146"/>
            <a:ext cx="360000" cy="360000"/>
          </a:xfrm>
          <a:prstGeom prst="rect">
            <a:avLst/>
          </a:prstGeom>
        </p:spPr>
      </p:pic>
      <p:pic>
        <p:nvPicPr>
          <p:cNvPr id="156" name="Picture 155">
            <a:extLst>
              <a:ext uri="{FF2B5EF4-FFF2-40B4-BE49-F238E27FC236}">
                <a16:creationId xmlns:a16="http://schemas.microsoft.com/office/drawing/2014/main" id="{A2DB13C1-EBD1-2452-7201-77D3D2125D42}"/>
              </a:ext>
            </a:extLst>
          </p:cNvPr>
          <p:cNvPicPr>
            <a:picLocks noChangeAspect="1"/>
          </p:cNvPicPr>
          <p:nvPr/>
        </p:nvPicPr>
        <p:blipFill>
          <a:blip r:embed="rId6"/>
          <a:stretch>
            <a:fillRect/>
          </a:stretch>
        </p:blipFill>
        <p:spPr>
          <a:xfrm>
            <a:off x="6411528" y="267061"/>
            <a:ext cx="4044808" cy="1830365"/>
          </a:xfrm>
          <a:prstGeom prst="rect">
            <a:avLst/>
          </a:prstGeom>
        </p:spPr>
      </p:pic>
      <p:sp>
        <p:nvSpPr>
          <p:cNvPr id="161" name="Freeform: Shape 144">
            <a:extLst>
              <a:ext uri="{FF2B5EF4-FFF2-40B4-BE49-F238E27FC236}">
                <a16:creationId xmlns:a16="http://schemas.microsoft.com/office/drawing/2014/main" id="{680D0266-C82D-9916-18BB-DCF51DB872EB}"/>
              </a:ext>
              <a:ext uri="{C183D7F6-B498-43B3-948B-1728B52AA6E4}">
                <adec:decorative xmlns:adec="http://schemas.microsoft.com/office/drawing/2017/decorative" val="1"/>
              </a:ext>
            </a:extLst>
          </p:cNvPr>
          <p:cNvSpPr/>
          <p:nvPr/>
        </p:nvSpPr>
        <p:spPr>
          <a:xfrm rot="16200000">
            <a:off x="9499040" y="3098586"/>
            <a:ext cx="45719" cy="395096"/>
          </a:xfrm>
          <a:custGeom>
            <a:avLst/>
            <a:gdLst>
              <a:gd name="connsiteX0" fmla="*/ 0 w 7821"/>
              <a:gd name="connsiteY0" fmla="*/ 0 h 677563"/>
              <a:gd name="connsiteX1" fmla="*/ 0 w 7821"/>
              <a:gd name="connsiteY1" fmla="*/ 677563 h 677563"/>
            </a:gdLst>
            <a:ahLst/>
            <a:cxnLst>
              <a:cxn ang="0">
                <a:pos x="connsiteX0" y="connsiteY0"/>
              </a:cxn>
              <a:cxn ang="0">
                <a:pos x="connsiteX1" y="connsiteY1"/>
              </a:cxn>
            </a:cxnLst>
            <a:rect l="l" t="t" r="r" b="b"/>
            <a:pathLst>
              <a:path w="7821" h="677563">
                <a:moveTo>
                  <a:pt x="0" y="0"/>
                </a:moveTo>
                <a:lnTo>
                  <a:pt x="0" y="677563"/>
                </a:lnTo>
              </a:path>
            </a:pathLst>
          </a:custGeom>
          <a:noFill/>
          <a:ln w="190500" cap="flat">
            <a:gradFill flip="none" rotWithShape="1">
              <a:gsLst>
                <a:gs pos="0">
                  <a:schemeClr val="accent5"/>
                </a:gs>
                <a:gs pos="100000">
                  <a:schemeClr val="accent3">
                    <a:alpha val="50000"/>
                  </a:schemeClr>
                </a:gs>
              </a:gsLst>
              <a:lin ang="16200000" scaled="1"/>
              <a:tileRect/>
            </a:gra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164" name="Picture 163" descr="A logo of a cat&#10;&#10;AI-generated content may be incorrect.">
            <a:extLst>
              <a:ext uri="{FF2B5EF4-FFF2-40B4-BE49-F238E27FC236}">
                <a16:creationId xmlns:a16="http://schemas.microsoft.com/office/drawing/2014/main" id="{683D1619-69C8-D418-0474-06D71464C75F}"/>
              </a:ext>
            </a:extLst>
          </p:cNvPr>
          <p:cNvPicPr>
            <a:picLocks noChangeAspect="1"/>
          </p:cNvPicPr>
          <p:nvPr/>
        </p:nvPicPr>
        <p:blipFill>
          <a:blip r:embed="rId7"/>
          <a:srcRect l="29674" r="29495" b="31534"/>
          <a:stretch>
            <a:fillRect/>
          </a:stretch>
        </p:blipFill>
        <p:spPr>
          <a:xfrm>
            <a:off x="11018739" y="877291"/>
            <a:ext cx="640442" cy="601378"/>
          </a:xfrm>
          <a:prstGeom prst="rect">
            <a:avLst/>
          </a:prstGeom>
        </p:spPr>
      </p:pic>
      <p:cxnSp>
        <p:nvCxnSpPr>
          <p:cNvPr id="167" name="Straight Arrow Connector 166">
            <a:extLst>
              <a:ext uri="{FF2B5EF4-FFF2-40B4-BE49-F238E27FC236}">
                <a16:creationId xmlns:a16="http://schemas.microsoft.com/office/drawing/2014/main" id="{129BCB20-6EB1-FB12-35A8-1C48E4BBF42C}"/>
              </a:ext>
            </a:extLst>
          </p:cNvPr>
          <p:cNvCxnSpPr>
            <a:stCxn id="164" idx="1"/>
            <a:endCxn id="156" idx="3"/>
          </p:cNvCxnSpPr>
          <p:nvPr/>
        </p:nvCxnSpPr>
        <p:spPr bwMode="gray">
          <a:xfrm flipH="1">
            <a:off x="10456336" y="1177980"/>
            <a:ext cx="562403" cy="4264"/>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pic>
        <p:nvPicPr>
          <p:cNvPr id="172" name="Graphic 171" descr="Open folder outline">
            <a:extLst>
              <a:ext uri="{FF2B5EF4-FFF2-40B4-BE49-F238E27FC236}">
                <a16:creationId xmlns:a16="http://schemas.microsoft.com/office/drawing/2014/main" id="{059BC41A-5BA2-73B1-9202-1CD7ACA04160}"/>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1161260" y="1553182"/>
            <a:ext cx="434484" cy="434484"/>
          </a:xfrm>
          <a:prstGeom prst="rect">
            <a:avLst/>
          </a:prstGeom>
        </p:spPr>
      </p:pic>
    </p:spTree>
    <p:extLst>
      <p:ext uri="{BB962C8B-B14F-4D97-AF65-F5344CB8AC3E}">
        <p14:creationId xmlns:p14="http://schemas.microsoft.com/office/powerpoint/2010/main" val="40876373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7"/>
                                        </p:tgtEl>
                                        <p:attrNameLst>
                                          <p:attrName>style.visibility</p:attrName>
                                        </p:attrNameLst>
                                      </p:cBhvr>
                                      <p:to>
                                        <p:strVal val="visible"/>
                                      </p:to>
                                    </p:set>
                                    <p:animEffect transition="in" filter="fade">
                                      <p:cBhvr>
                                        <p:cTn id="7" dur="500"/>
                                        <p:tgtEl>
                                          <p:spTgt spid="1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fade">
                                      <p:cBhvr>
                                        <p:cTn id="12" dur="500"/>
                                        <p:tgtEl>
                                          <p:spTgt spid="12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1"/>
                                        </p:tgtEl>
                                        <p:attrNameLst>
                                          <p:attrName>style.visibility</p:attrName>
                                        </p:attrNameLst>
                                      </p:cBhvr>
                                      <p:to>
                                        <p:strVal val="visible"/>
                                      </p:to>
                                    </p:set>
                                    <p:animEffect transition="in" filter="fade">
                                      <p:cBhvr>
                                        <p:cTn id="17" dur="500"/>
                                        <p:tgtEl>
                                          <p:spTgt spid="13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E9F434-3C3A-FF63-083C-8F6BC52FD522}"/>
              </a:ext>
            </a:extLst>
          </p:cNvPr>
          <p:cNvSpPr>
            <a:spLocks noGrp="1"/>
          </p:cNvSpPr>
          <p:nvPr>
            <p:ph type="title"/>
          </p:nvPr>
        </p:nvSpPr>
        <p:spPr/>
        <p:txBody>
          <a:bodyPr/>
          <a:lstStyle/>
          <a:p>
            <a:r>
              <a:rPr lang="en-US" dirty="0"/>
              <a:t>Simplify VKS Secret Injection</a:t>
            </a:r>
          </a:p>
        </p:txBody>
      </p:sp>
      <p:sp>
        <p:nvSpPr>
          <p:cNvPr id="3" name="Subtitle 2">
            <a:extLst>
              <a:ext uri="{FF2B5EF4-FFF2-40B4-BE49-F238E27FC236}">
                <a16:creationId xmlns:a16="http://schemas.microsoft.com/office/drawing/2014/main" id="{AEDFC6A7-D430-9855-8FAA-29AC002CB99B}"/>
              </a:ext>
            </a:extLst>
          </p:cNvPr>
          <p:cNvSpPr>
            <a:spLocks noGrp="1"/>
          </p:cNvSpPr>
          <p:nvPr>
            <p:ph type="subTitle" idx="10"/>
          </p:nvPr>
        </p:nvSpPr>
        <p:spPr/>
        <p:txBody>
          <a:bodyPr/>
          <a:lstStyle/>
          <a:p>
            <a:r>
              <a:rPr lang="en-US" dirty="0"/>
              <a:t>Automatic Creation of Secret Store Agent Injector to Consume Secrets</a:t>
            </a:r>
          </a:p>
        </p:txBody>
      </p:sp>
      <p:sp>
        <p:nvSpPr>
          <p:cNvPr id="4" name="Text Placeholder 3">
            <a:extLst>
              <a:ext uri="{FF2B5EF4-FFF2-40B4-BE49-F238E27FC236}">
                <a16:creationId xmlns:a16="http://schemas.microsoft.com/office/drawing/2014/main" id="{537FBC3E-F896-64C4-CD49-EE7B2F156A8E}"/>
              </a:ext>
            </a:extLst>
          </p:cNvPr>
          <p:cNvSpPr>
            <a:spLocks noGrp="1"/>
          </p:cNvSpPr>
          <p:nvPr>
            <p:ph type="body" sz="quarter" idx="17"/>
          </p:nvPr>
        </p:nvSpPr>
        <p:spPr/>
        <p:txBody>
          <a:bodyPr/>
          <a:lstStyle/>
          <a:p>
            <a:pPr marL="285750" indent="-285750"/>
            <a:r>
              <a:rPr lang="en-US" dirty="0"/>
              <a:t>Uniform automated injection mechanism </a:t>
            </a:r>
          </a:p>
          <a:p>
            <a:pPr marL="285750" indent="-285750"/>
            <a:r>
              <a:rPr lang="en-US" dirty="0"/>
              <a:t>Strengthens security, auditability, &amp; consistency across all workloads</a:t>
            </a:r>
          </a:p>
          <a:p>
            <a:pPr marL="285750" indent="-285750"/>
            <a:r>
              <a:rPr lang="en-US" dirty="0"/>
              <a:t>Automatically creates the Secret Store Agent Injector for VKS Pods</a:t>
            </a:r>
          </a:p>
          <a:p>
            <a:pPr marL="285750" indent="-285750"/>
            <a:r>
              <a:rPr lang="en-US" dirty="0"/>
              <a:t>Consistent &amp; streamlined secret-injection workflow across all Supervisor workloads</a:t>
            </a:r>
          </a:p>
          <a:p>
            <a:endParaRPr lang="en-US" dirty="0"/>
          </a:p>
        </p:txBody>
      </p:sp>
      <p:sp>
        <p:nvSpPr>
          <p:cNvPr id="6" name="Google Shape;3219;g36f95115970_1_0">
            <a:extLst>
              <a:ext uri="{FF2B5EF4-FFF2-40B4-BE49-F238E27FC236}">
                <a16:creationId xmlns:a16="http://schemas.microsoft.com/office/drawing/2014/main" id="{ED2C5604-C3CD-3588-A64F-1E1B17BB7EE7}"/>
              </a:ext>
            </a:extLst>
          </p:cNvPr>
          <p:cNvSpPr/>
          <p:nvPr/>
        </p:nvSpPr>
        <p:spPr>
          <a:xfrm>
            <a:off x="1245804" y="2001288"/>
            <a:ext cx="1439100" cy="513300"/>
          </a:xfrm>
          <a:prstGeom prst="rect">
            <a:avLst/>
          </a:pr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Secret Store agent Injector</a:t>
            </a:r>
            <a:endParaRPr kumimoji="0" sz="14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7" name="Google Shape;3220;g36f95115970_1_0">
            <a:extLst>
              <a:ext uri="{FF2B5EF4-FFF2-40B4-BE49-F238E27FC236}">
                <a16:creationId xmlns:a16="http://schemas.microsoft.com/office/drawing/2014/main" id="{9D28D3FC-9B0F-6DC1-59D9-C55FF7587CB8}"/>
              </a:ext>
            </a:extLst>
          </p:cNvPr>
          <p:cNvSpPr/>
          <p:nvPr/>
        </p:nvSpPr>
        <p:spPr>
          <a:xfrm>
            <a:off x="659642" y="5757955"/>
            <a:ext cx="6197700" cy="474900"/>
          </a:xfrm>
          <a:prstGeom prst="roundRect">
            <a:avLst>
              <a:gd name="adj" fmla="val 9132"/>
            </a:avLst>
          </a:prstGeom>
          <a:noFill/>
          <a:ln w="17625" cap="flat" cmpd="sng">
            <a:solidFill>
              <a:srgbClr val="007B8C"/>
            </a:solidFill>
            <a:prstDash val="dash"/>
            <a:round/>
            <a:headEnd type="none" w="sm" len="sm"/>
            <a:tailEnd type="none" w="sm" len="sm"/>
          </a:ln>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80"/>
              <a:buFont typeface="Arial"/>
              <a:buNone/>
              <a:tabLst/>
              <a:defRPr/>
            </a:pPr>
            <a:endParaRPr kumimoji="0" sz="148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8" name="Google Shape;3221;g36f95115970_1_0">
            <a:extLst>
              <a:ext uri="{FF2B5EF4-FFF2-40B4-BE49-F238E27FC236}">
                <a16:creationId xmlns:a16="http://schemas.microsoft.com/office/drawing/2014/main" id="{8E312E62-24B5-66EF-BD62-079D261CACE6}"/>
              </a:ext>
            </a:extLst>
          </p:cNvPr>
          <p:cNvGrpSpPr/>
          <p:nvPr/>
        </p:nvGrpSpPr>
        <p:grpSpPr>
          <a:xfrm>
            <a:off x="200228" y="5028246"/>
            <a:ext cx="6879389" cy="414782"/>
            <a:chOff x="6457" y="3088548"/>
            <a:chExt cx="12175910" cy="421612"/>
          </a:xfrm>
        </p:grpSpPr>
        <p:pic>
          <p:nvPicPr>
            <p:cNvPr id="9" name="Google Shape;3222;g36f95115970_1_0">
              <a:extLst>
                <a:ext uri="{FF2B5EF4-FFF2-40B4-BE49-F238E27FC236}">
                  <a16:creationId xmlns:a16="http://schemas.microsoft.com/office/drawing/2014/main" id="{ACF5100D-A3E9-2AEF-0E9B-7DC2AFB32473}"/>
                </a:ext>
              </a:extLst>
            </p:cNvPr>
            <p:cNvPicPr preferRelativeResize="0"/>
            <p:nvPr/>
          </p:nvPicPr>
          <p:blipFill rotWithShape="1">
            <a:blip r:embed="rId3">
              <a:alphaModFix amt="34000"/>
            </a:blip>
            <a:srcRect t="50511"/>
            <a:stretch/>
          </p:blipFill>
          <p:spPr>
            <a:xfrm>
              <a:off x="6457" y="3101668"/>
              <a:ext cx="12175910" cy="408492"/>
            </a:xfrm>
            <a:prstGeom prst="rect">
              <a:avLst/>
            </a:prstGeom>
            <a:noFill/>
            <a:ln>
              <a:noFill/>
            </a:ln>
          </p:spPr>
        </p:pic>
        <p:sp>
          <p:nvSpPr>
            <p:cNvPr id="10" name="Google Shape;3223;g36f95115970_1_0">
              <a:extLst>
                <a:ext uri="{FF2B5EF4-FFF2-40B4-BE49-F238E27FC236}">
                  <a16:creationId xmlns:a16="http://schemas.microsoft.com/office/drawing/2014/main" id="{9BA5262A-4BB4-2B09-000F-4B6CFD9C00D3}"/>
                </a:ext>
              </a:extLst>
            </p:cNvPr>
            <p:cNvSpPr/>
            <p:nvPr/>
          </p:nvSpPr>
          <p:spPr>
            <a:xfrm rot="-5400000" flipH="1">
              <a:off x="6246689" y="-2240202"/>
              <a:ext cx="18300" cy="10675800"/>
            </a:xfrm>
            <a:prstGeom prst="rect">
              <a:avLst/>
            </a:prstGeom>
            <a:gradFill>
              <a:gsLst>
                <a:gs pos="0">
                  <a:srgbClr val="6C4B8F">
                    <a:alpha val="0"/>
                  </a:srgbClr>
                </a:gs>
                <a:gs pos="10000">
                  <a:srgbClr val="6C4B8F"/>
                </a:gs>
                <a:gs pos="22000">
                  <a:srgbClr val="005B84"/>
                </a:gs>
                <a:gs pos="41000">
                  <a:srgbClr val="005B84"/>
                </a:gs>
                <a:gs pos="60000">
                  <a:srgbClr val="41D1FE"/>
                </a:gs>
                <a:gs pos="90000">
                  <a:srgbClr val="007A86"/>
                </a:gs>
                <a:gs pos="100000">
                  <a:srgbClr val="007A86">
                    <a:alpha val="0"/>
                  </a:srgbClr>
                </a:gs>
              </a:gsLst>
              <a:lin ang="5400012" scaled="0"/>
            </a:gradFill>
            <a:ln>
              <a:noFill/>
            </a:ln>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grpSp>
      <p:sp>
        <p:nvSpPr>
          <p:cNvPr id="11" name="Google Shape;3224;g36f95115970_1_0">
            <a:extLst>
              <a:ext uri="{FF2B5EF4-FFF2-40B4-BE49-F238E27FC236}">
                <a16:creationId xmlns:a16="http://schemas.microsoft.com/office/drawing/2014/main" id="{82BD3DDC-A349-776F-7D65-C5F4A8810871}"/>
              </a:ext>
            </a:extLst>
          </p:cNvPr>
          <p:cNvSpPr/>
          <p:nvPr/>
        </p:nvSpPr>
        <p:spPr>
          <a:xfrm>
            <a:off x="1041525" y="4280926"/>
            <a:ext cx="1678200" cy="294000"/>
          </a:xfrm>
          <a:prstGeom prst="roundRect">
            <a:avLst>
              <a:gd name="adj" fmla="val 16667"/>
            </a:avLst>
          </a:prstGeom>
          <a:solidFill>
            <a:srgbClr val="6C4B94"/>
          </a:solidFill>
          <a:ln>
            <a:noFill/>
          </a:ln>
        </p:spPr>
        <p:txBody>
          <a:bodyPr spcFirstLastPara="1" wrap="square" lIns="81125" tIns="40550" rIns="81125" bIns="4055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vSphere </a:t>
            </a:r>
            <a:br>
              <a:rPr kumimoji="0" lang="en-US" sz="740" b="0" i="0" u="none" strike="noStrike" kern="1200" cap="none" spc="0" normalizeH="0" baseline="0" noProof="0">
                <a:ln>
                  <a:noFill/>
                </a:ln>
                <a:solidFill>
                  <a:srgbClr val="FFFFFF"/>
                </a:solidFill>
                <a:effectLst/>
                <a:uLnTx/>
                <a:uFillTx/>
                <a:latin typeface="Arial"/>
                <a:ea typeface="Arial"/>
                <a:cs typeface="Arial"/>
                <a:sym typeface="Arial"/>
              </a:rPr>
            </a:b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Namespace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2" name="Google Shape;3225;g36f95115970_1_0">
            <a:extLst>
              <a:ext uri="{FF2B5EF4-FFF2-40B4-BE49-F238E27FC236}">
                <a16:creationId xmlns:a16="http://schemas.microsoft.com/office/drawing/2014/main" id="{D91589F2-03E7-BFC4-08C4-FD423B6C1372}"/>
              </a:ext>
            </a:extLst>
          </p:cNvPr>
          <p:cNvGrpSpPr/>
          <p:nvPr/>
        </p:nvGrpSpPr>
        <p:grpSpPr>
          <a:xfrm>
            <a:off x="1117888" y="2788183"/>
            <a:ext cx="1441058" cy="1262625"/>
            <a:chOff x="805150" y="1625512"/>
            <a:chExt cx="1557900" cy="1365000"/>
          </a:xfrm>
        </p:grpSpPr>
        <p:sp>
          <p:nvSpPr>
            <p:cNvPr id="13" name="Google Shape;3226;g36f95115970_1_0">
              <a:extLst>
                <a:ext uri="{FF2B5EF4-FFF2-40B4-BE49-F238E27FC236}">
                  <a16:creationId xmlns:a16="http://schemas.microsoft.com/office/drawing/2014/main" id="{70506F05-7B33-87AD-AE6E-AF879F85FEDA}"/>
                </a:ext>
              </a:extLst>
            </p:cNvPr>
            <p:cNvSpPr/>
            <p:nvPr/>
          </p:nvSpPr>
          <p:spPr>
            <a:xfrm>
              <a:off x="805150" y="1625512"/>
              <a:ext cx="1557900" cy="1365000"/>
            </a:xfrm>
            <a:prstGeom prst="roundRect">
              <a:avLst>
                <a:gd name="adj" fmla="val 3683"/>
              </a:avLst>
            </a:prstGeom>
            <a:solidFill>
              <a:srgbClr val="FFFFFF"/>
            </a:solidFill>
            <a:ln w="17625" cap="flat" cmpd="sng">
              <a:solidFill>
                <a:srgbClr val="005C8A"/>
              </a:solidFill>
              <a:prstDash val="solid"/>
              <a:round/>
              <a:headEnd type="none" w="sm" len="sm"/>
              <a:tailEnd type="none" w="sm" len="sm"/>
            </a:ln>
          </p:spPr>
          <p:txBody>
            <a:bodyPr spcFirstLastPara="1" wrap="square" lIns="84550" tIns="1268725" rIns="84550" bIns="2537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5C8A"/>
                </a:solidFill>
                <a:effectLst/>
                <a:uLnTx/>
                <a:uFillTx/>
                <a:latin typeface="Arial"/>
                <a:ea typeface="Arial"/>
                <a:cs typeface="Arial"/>
                <a:sym typeface="Arial"/>
              </a:endParaRPr>
            </a:p>
          </p:txBody>
        </p:sp>
        <p:grpSp>
          <p:nvGrpSpPr>
            <p:cNvPr id="14" name="Google Shape;3227;g36f95115970_1_0">
              <a:extLst>
                <a:ext uri="{FF2B5EF4-FFF2-40B4-BE49-F238E27FC236}">
                  <a16:creationId xmlns:a16="http://schemas.microsoft.com/office/drawing/2014/main" id="{42726571-D3E8-CB1E-A34C-21A38CB55680}"/>
                </a:ext>
              </a:extLst>
            </p:cNvPr>
            <p:cNvGrpSpPr/>
            <p:nvPr/>
          </p:nvGrpSpPr>
          <p:grpSpPr>
            <a:xfrm>
              <a:off x="987583" y="1738488"/>
              <a:ext cx="1174395" cy="972014"/>
              <a:chOff x="3325948" y="1424891"/>
              <a:chExt cx="1694409" cy="1402415"/>
            </a:xfrm>
          </p:grpSpPr>
          <p:sp>
            <p:nvSpPr>
              <p:cNvPr id="16" name="Google Shape;3228;g36f95115970_1_0">
                <a:extLst>
                  <a:ext uri="{FF2B5EF4-FFF2-40B4-BE49-F238E27FC236}">
                    <a16:creationId xmlns:a16="http://schemas.microsoft.com/office/drawing/2014/main" id="{176D5E37-E3DD-2760-3C01-D02694CCB5FA}"/>
                  </a:ext>
                </a:extLst>
              </p:cNvPr>
              <p:cNvSpPr/>
              <p:nvPr/>
            </p:nvSpPr>
            <p:spPr>
              <a:xfrm>
                <a:off x="4297641" y="1533016"/>
                <a:ext cx="528600" cy="45600"/>
              </a:xfrm>
              <a:prstGeom prst="rect">
                <a:avLst/>
              </a:prstGeom>
              <a:solidFill>
                <a:srgbClr val="FFFFFF"/>
              </a:solidFill>
              <a:ln>
                <a:noFill/>
              </a:ln>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7" name="Google Shape;3229;g36f95115970_1_0">
                <a:extLst>
                  <a:ext uri="{FF2B5EF4-FFF2-40B4-BE49-F238E27FC236}">
                    <a16:creationId xmlns:a16="http://schemas.microsoft.com/office/drawing/2014/main" id="{D5425675-69AB-2AF2-9623-5A12DC443BE9}"/>
                  </a:ext>
                </a:extLst>
              </p:cNvPr>
              <p:cNvSpPr/>
              <p:nvPr/>
            </p:nvSpPr>
            <p:spPr>
              <a:xfrm>
                <a:off x="4297642" y="2297981"/>
                <a:ext cx="474600" cy="45600"/>
              </a:xfrm>
              <a:prstGeom prst="rect">
                <a:avLst/>
              </a:prstGeom>
              <a:solidFill>
                <a:srgbClr val="FFFFFF"/>
              </a:solidFill>
              <a:ln>
                <a:noFill/>
              </a:ln>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18" name="Google Shape;3230;g36f95115970_1_0">
                <a:extLst>
                  <a:ext uri="{FF2B5EF4-FFF2-40B4-BE49-F238E27FC236}">
                    <a16:creationId xmlns:a16="http://schemas.microsoft.com/office/drawing/2014/main" id="{981568E5-B3E9-A6C2-2F32-8EB910AE6942}"/>
                  </a:ext>
                </a:extLst>
              </p:cNvPr>
              <p:cNvPicPr preferRelativeResize="0"/>
              <p:nvPr/>
            </p:nvPicPr>
            <p:blipFill rotWithShape="1">
              <a:blip r:embed="rId4">
                <a:alphaModFix/>
              </a:blip>
              <a:srcRect/>
              <a:stretch/>
            </p:blipFill>
            <p:spPr>
              <a:xfrm>
                <a:off x="3503144" y="1496410"/>
                <a:ext cx="392596" cy="392595"/>
              </a:xfrm>
              <a:prstGeom prst="rect">
                <a:avLst/>
              </a:prstGeom>
              <a:noFill/>
              <a:ln>
                <a:noFill/>
              </a:ln>
            </p:spPr>
          </p:pic>
          <p:sp>
            <p:nvSpPr>
              <p:cNvPr id="19" name="Google Shape;3231;g36f95115970_1_0">
                <a:extLst>
                  <a:ext uri="{FF2B5EF4-FFF2-40B4-BE49-F238E27FC236}">
                    <a16:creationId xmlns:a16="http://schemas.microsoft.com/office/drawing/2014/main" id="{D5368441-ED67-7050-5534-E58970B917AB}"/>
                  </a:ext>
                </a:extLst>
              </p:cNvPr>
              <p:cNvSpPr txBox="1"/>
              <p:nvPr/>
            </p:nvSpPr>
            <p:spPr>
              <a:xfrm>
                <a:off x="3954242" y="1532844"/>
                <a:ext cx="886800" cy="319800"/>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
                    <a:srgbClr val="336DE6"/>
                  </a:buClr>
                  <a:buSzPts val="740"/>
                  <a:buFont typeface="Arial"/>
                  <a:buNone/>
                  <a:tabLst/>
                  <a:defRPr/>
                </a:pPr>
                <a:r>
                  <a:rPr kumimoji="0" lang="en-US" sz="740"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0" name="Google Shape;3232;g36f95115970_1_0">
                <a:extLst>
                  <a:ext uri="{FF2B5EF4-FFF2-40B4-BE49-F238E27FC236}">
                    <a16:creationId xmlns:a16="http://schemas.microsoft.com/office/drawing/2014/main" id="{5E701464-D672-B79B-2DF6-8F20AEF5542E}"/>
                  </a:ext>
                </a:extLst>
              </p:cNvPr>
              <p:cNvSpPr/>
              <p:nvPr/>
            </p:nvSpPr>
            <p:spPr>
              <a:xfrm>
                <a:off x="3331847" y="1424891"/>
                <a:ext cx="1680900" cy="535500"/>
              </a:xfrm>
              <a:prstGeom prst="rect">
                <a:avLst/>
              </a:prstGeom>
              <a:noFill/>
              <a:ln w="9975" cap="flat" cmpd="sng">
                <a:solidFill>
                  <a:srgbClr val="005C8A"/>
                </a:solidFill>
                <a:prstDash val="dot"/>
                <a:miter lim="800000"/>
                <a:headEnd type="none" w="sm" len="sm"/>
                <a:tailEnd type="none" w="sm" len="sm"/>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1" name="Google Shape;3233;g36f95115970_1_0">
                <a:extLst>
                  <a:ext uri="{FF2B5EF4-FFF2-40B4-BE49-F238E27FC236}">
                    <a16:creationId xmlns:a16="http://schemas.microsoft.com/office/drawing/2014/main" id="{8CD73D0B-20FE-9A5F-624F-C92D55A45492}"/>
                  </a:ext>
                </a:extLst>
              </p:cNvPr>
              <p:cNvSpPr/>
              <p:nvPr/>
            </p:nvSpPr>
            <p:spPr>
              <a:xfrm>
                <a:off x="3325948" y="2547406"/>
                <a:ext cx="521400" cy="279900"/>
              </a:xfrm>
              <a:prstGeom prst="roundRect">
                <a:avLst>
                  <a:gd name="adj" fmla="val 50000"/>
                </a:avLst>
              </a:prstGeom>
              <a:solidFill>
                <a:srgbClr val="3E417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Node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2" name="Google Shape;3234;g36f95115970_1_0">
                <a:extLst>
                  <a:ext uri="{FF2B5EF4-FFF2-40B4-BE49-F238E27FC236}">
                    <a16:creationId xmlns:a16="http://schemas.microsoft.com/office/drawing/2014/main" id="{1A9E3E1C-E7C1-13B5-C845-3371D8BFF546}"/>
                  </a:ext>
                </a:extLst>
              </p:cNvPr>
              <p:cNvSpPr/>
              <p:nvPr/>
            </p:nvSpPr>
            <p:spPr>
              <a:xfrm>
                <a:off x="3912452" y="2547406"/>
                <a:ext cx="521400" cy="279900"/>
              </a:xfrm>
              <a:prstGeom prst="roundRect">
                <a:avLst>
                  <a:gd name="adj" fmla="val 50000"/>
                </a:avLst>
              </a:prstGeom>
              <a:solidFill>
                <a:srgbClr val="3E417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Node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 name="Google Shape;3235;g36f95115970_1_0">
                <a:extLst>
                  <a:ext uri="{FF2B5EF4-FFF2-40B4-BE49-F238E27FC236}">
                    <a16:creationId xmlns:a16="http://schemas.microsoft.com/office/drawing/2014/main" id="{0ED1FA63-3C65-E1BC-4542-1C4607263AB4}"/>
                  </a:ext>
                </a:extLst>
              </p:cNvPr>
              <p:cNvSpPr/>
              <p:nvPr/>
            </p:nvSpPr>
            <p:spPr>
              <a:xfrm>
                <a:off x="4498957" y="2547405"/>
                <a:ext cx="521400" cy="279900"/>
              </a:xfrm>
              <a:prstGeom prst="roundRect">
                <a:avLst>
                  <a:gd name="adj" fmla="val 50000"/>
                </a:avLst>
              </a:prstGeom>
              <a:solidFill>
                <a:srgbClr val="3E417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Node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4" name="Google Shape;3236;g36f95115970_1_0">
                <a:extLst>
                  <a:ext uri="{FF2B5EF4-FFF2-40B4-BE49-F238E27FC236}">
                    <a16:creationId xmlns:a16="http://schemas.microsoft.com/office/drawing/2014/main" id="{07226ECF-7906-8168-8489-685D23F38540}"/>
                  </a:ext>
                </a:extLst>
              </p:cNvPr>
              <p:cNvSpPr/>
              <p:nvPr/>
            </p:nvSpPr>
            <p:spPr>
              <a:xfrm>
                <a:off x="3325949" y="2040092"/>
                <a:ext cx="1694400" cy="285600"/>
              </a:xfrm>
              <a:prstGeom prst="roundRect">
                <a:avLst>
                  <a:gd name="adj" fmla="val 50000"/>
                </a:avLst>
              </a:prstGeom>
              <a:solidFill>
                <a:srgbClr val="3E417C"/>
              </a:solidFill>
              <a:ln>
                <a:noFill/>
              </a:ln>
            </p:spPr>
            <p:txBody>
              <a:bodyPr spcFirstLastPara="1" wrap="square" lIns="0" tIns="16900" rIns="0" bIns="0" anchor="ctr" anchorCtr="0">
                <a:noAutofit/>
              </a:bodyPr>
              <a:lstStyle/>
              <a:p>
                <a:pPr marL="0" marR="0" lvl="0" indent="0" algn="ctr" defTabSz="914400" rtl="0" eaLnBrk="1" fontAlgn="auto" latinLnBrk="0" hangingPunct="1">
                  <a:lnSpc>
                    <a:spcPct val="8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cxnSp>
            <p:nvCxnSpPr>
              <p:cNvPr id="25" name="Google Shape;3237;g36f95115970_1_0">
                <a:extLst>
                  <a:ext uri="{FF2B5EF4-FFF2-40B4-BE49-F238E27FC236}">
                    <a16:creationId xmlns:a16="http://schemas.microsoft.com/office/drawing/2014/main" id="{6F9B5821-BBEB-2463-4563-E075595E119A}"/>
                  </a:ext>
                </a:extLst>
              </p:cNvPr>
              <p:cNvCxnSpPr/>
              <p:nvPr/>
            </p:nvCxnSpPr>
            <p:spPr>
              <a:xfrm>
                <a:off x="4186614" y="2313793"/>
                <a:ext cx="0" cy="240300"/>
              </a:xfrm>
              <a:prstGeom prst="straightConnector1">
                <a:avLst/>
              </a:prstGeom>
              <a:noFill/>
              <a:ln w="9975" cap="flat" cmpd="sng">
                <a:solidFill>
                  <a:srgbClr val="005C8A"/>
                </a:solidFill>
                <a:prstDash val="solid"/>
                <a:miter lim="800000"/>
                <a:headEnd type="none" w="sm" len="sm"/>
                <a:tailEnd type="none" w="sm" len="sm"/>
              </a:ln>
            </p:spPr>
          </p:cxnSp>
          <p:cxnSp>
            <p:nvCxnSpPr>
              <p:cNvPr id="26" name="Google Shape;3238;g36f95115970_1_0">
                <a:extLst>
                  <a:ext uri="{FF2B5EF4-FFF2-40B4-BE49-F238E27FC236}">
                    <a16:creationId xmlns:a16="http://schemas.microsoft.com/office/drawing/2014/main" id="{E5FD1EB7-E6F3-DF46-9373-7D7827546167}"/>
                  </a:ext>
                </a:extLst>
              </p:cNvPr>
              <p:cNvCxnSpPr/>
              <p:nvPr/>
            </p:nvCxnSpPr>
            <p:spPr>
              <a:xfrm>
                <a:off x="3603836" y="2432789"/>
                <a:ext cx="0" cy="121500"/>
              </a:xfrm>
              <a:prstGeom prst="straightConnector1">
                <a:avLst/>
              </a:prstGeom>
              <a:noFill/>
              <a:ln w="9975" cap="flat" cmpd="sng">
                <a:solidFill>
                  <a:srgbClr val="005C8A"/>
                </a:solidFill>
                <a:prstDash val="solid"/>
                <a:miter lim="800000"/>
                <a:headEnd type="none" w="sm" len="sm"/>
                <a:tailEnd type="none" w="sm" len="sm"/>
              </a:ln>
            </p:spPr>
          </p:cxnSp>
          <p:cxnSp>
            <p:nvCxnSpPr>
              <p:cNvPr id="27" name="Google Shape;3239;g36f95115970_1_0">
                <a:extLst>
                  <a:ext uri="{FF2B5EF4-FFF2-40B4-BE49-F238E27FC236}">
                    <a16:creationId xmlns:a16="http://schemas.microsoft.com/office/drawing/2014/main" id="{9D9247DC-ADA1-FEBC-72CE-8AA9FF7430E4}"/>
                  </a:ext>
                </a:extLst>
              </p:cNvPr>
              <p:cNvCxnSpPr/>
              <p:nvPr/>
            </p:nvCxnSpPr>
            <p:spPr>
              <a:xfrm>
                <a:off x="4769392" y="2432789"/>
                <a:ext cx="0" cy="121500"/>
              </a:xfrm>
              <a:prstGeom prst="straightConnector1">
                <a:avLst/>
              </a:prstGeom>
              <a:noFill/>
              <a:ln w="9975" cap="flat" cmpd="sng">
                <a:solidFill>
                  <a:srgbClr val="005C8A"/>
                </a:solidFill>
                <a:prstDash val="solid"/>
                <a:miter lim="800000"/>
                <a:headEnd type="none" w="sm" len="sm"/>
                <a:tailEnd type="none" w="sm" len="sm"/>
              </a:ln>
            </p:spPr>
          </p:cxnSp>
          <p:cxnSp>
            <p:nvCxnSpPr>
              <p:cNvPr id="28" name="Google Shape;3240;g36f95115970_1_0">
                <a:extLst>
                  <a:ext uri="{FF2B5EF4-FFF2-40B4-BE49-F238E27FC236}">
                    <a16:creationId xmlns:a16="http://schemas.microsoft.com/office/drawing/2014/main" id="{644B7D89-0C77-577C-3D35-354718BF4F18}"/>
                  </a:ext>
                </a:extLst>
              </p:cNvPr>
              <p:cNvCxnSpPr/>
              <p:nvPr/>
            </p:nvCxnSpPr>
            <p:spPr>
              <a:xfrm>
                <a:off x="3599903" y="2431944"/>
                <a:ext cx="1172400" cy="0"/>
              </a:xfrm>
              <a:prstGeom prst="straightConnector1">
                <a:avLst/>
              </a:prstGeom>
              <a:noFill/>
              <a:ln w="9975" cap="flat" cmpd="sng">
                <a:solidFill>
                  <a:srgbClr val="005C8A"/>
                </a:solidFill>
                <a:prstDash val="solid"/>
                <a:miter lim="800000"/>
                <a:headEnd type="none" w="sm" len="sm"/>
                <a:tailEnd type="none" w="sm" len="sm"/>
              </a:ln>
            </p:spPr>
          </p:cxnSp>
        </p:grpSp>
        <p:sp>
          <p:nvSpPr>
            <p:cNvPr id="15" name="Google Shape;3241;g36f95115970_1_0">
              <a:extLst>
                <a:ext uri="{FF2B5EF4-FFF2-40B4-BE49-F238E27FC236}">
                  <a16:creationId xmlns:a16="http://schemas.microsoft.com/office/drawing/2014/main" id="{E7BE03EC-7590-6373-BEC2-4463089CECA4}"/>
                </a:ext>
              </a:extLst>
            </p:cNvPr>
            <p:cNvSpPr txBox="1"/>
            <p:nvPr/>
          </p:nvSpPr>
          <p:spPr>
            <a:xfrm>
              <a:off x="805150" y="2760707"/>
              <a:ext cx="1557900" cy="1617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r>
                <a:rPr kumimoji="0" lang="en-US" sz="971"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9" name="Google Shape;3242;g36f95115970_1_0">
            <a:extLst>
              <a:ext uri="{FF2B5EF4-FFF2-40B4-BE49-F238E27FC236}">
                <a16:creationId xmlns:a16="http://schemas.microsoft.com/office/drawing/2014/main" id="{108204D6-B8D1-CD86-B163-6EE79216C025}"/>
              </a:ext>
            </a:extLst>
          </p:cNvPr>
          <p:cNvGrpSpPr/>
          <p:nvPr/>
        </p:nvGrpSpPr>
        <p:grpSpPr>
          <a:xfrm>
            <a:off x="1233483" y="2866212"/>
            <a:ext cx="1441058" cy="1262625"/>
            <a:chOff x="805150" y="1625512"/>
            <a:chExt cx="1557900" cy="1365000"/>
          </a:xfrm>
        </p:grpSpPr>
        <p:sp>
          <p:nvSpPr>
            <p:cNvPr id="30" name="Google Shape;3243;g36f95115970_1_0">
              <a:extLst>
                <a:ext uri="{FF2B5EF4-FFF2-40B4-BE49-F238E27FC236}">
                  <a16:creationId xmlns:a16="http://schemas.microsoft.com/office/drawing/2014/main" id="{01E21758-40E8-4EED-57CF-75FC1582745D}"/>
                </a:ext>
              </a:extLst>
            </p:cNvPr>
            <p:cNvSpPr/>
            <p:nvPr/>
          </p:nvSpPr>
          <p:spPr>
            <a:xfrm>
              <a:off x="805150" y="1625512"/>
              <a:ext cx="1557900" cy="1365000"/>
            </a:xfrm>
            <a:prstGeom prst="roundRect">
              <a:avLst>
                <a:gd name="adj" fmla="val 3683"/>
              </a:avLst>
            </a:prstGeom>
            <a:solidFill>
              <a:srgbClr val="FFFFFF"/>
            </a:solidFill>
            <a:ln w="17625" cap="flat" cmpd="sng">
              <a:solidFill>
                <a:srgbClr val="005C8A"/>
              </a:solidFill>
              <a:prstDash val="solid"/>
              <a:round/>
              <a:headEnd type="none" w="sm" len="sm"/>
              <a:tailEnd type="none" w="sm" len="sm"/>
            </a:ln>
          </p:spPr>
          <p:txBody>
            <a:bodyPr spcFirstLastPara="1" wrap="square" lIns="84550" tIns="1268725" rIns="84550" bIns="2537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5C8A"/>
                </a:solidFill>
                <a:effectLst/>
                <a:uLnTx/>
                <a:uFillTx/>
                <a:latin typeface="Arial"/>
                <a:ea typeface="Arial"/>
                <a:cs typeface="Arial"/>
                <a:sym typeface="Arial"/>
              </a:endParaRPr>
            </a:p>
          </p:txBody>
        </p:sp>
        <p:grpSp>
          <p:nvGrpSpPr>
            <p:cNvPr id="31" name="Google Shape;3244;g36f95115970_1_0">
              <a:extLst>
                <a:ext uri="{FF2B5EF4-FFF2-40B4-BE49-F238E27FC236}">
                  <a16:creationId xmlns:a16="http://schemas.microsoft.com/office/drawing/2014/main" id="{AD2EC895-C8E1-7540-A9EA-356E5C110394}"/>
                </a:ext>
              </a:extLst>
            </p:cNvPr>
            <p:cNvGrpSpPr/>
            <p:nvPr/>
          </p:nvGrpSpPr>
          <p:grpSpPr>
            <a:xfrm>
              <a:off x="987583" y="1738488"/>
              <a:ext cx="1174395" cy="972014"/>
              <a:chOff x="3325948" y="1424891"/>
              <a:chExt cx="1694409" cy="1402415"/>
            </a:xfrm>
          </p:grpSpPr>
          <p:sp>
            <p:nvSpPr>
              <p:cNvPr id="33" name="Google Shape;3245;g36f95115970_1_0">
                <a:extLst>
                  <a:ext uri="{FF2B5EF4-FFF2-40B4-BE49-F238E27FC236}">
                    <a16:creationId xmlns:a16="http://schemas.microsoft.com/office/drawing/2014/main" id="{0216EE53-4C49-EEA2-AAB3-EDC5CD44AD5D}"/>
                  </a:ext>
                </a:extLst>
              </p:cNvPr>
              <p:cNvSpPr/>
              <p:nvPr/>
            </p:nvSpPr>
            <p:spPr>
              <a:xfrm>
                <a:off x="4297641" y="1533016"/>
                <a:ext cx="528600" cy="45600"/>
              </a:xfrm>
              <a:prstGeom prst="rect">
                <a:avLst/>
              </a:prstGeom>
              <a:solidFill>
                <a:srgbClr val="FFFFFF"/>
              </a:solidFill>
              <a:ln>
                <a:noFill/>
              </a:ln>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34" name="Google Shape;3246;g36f95115970_1_0">
                <a:extLst>
                  <a:ext uri="{FF2B5EF4-FFF2-40B4-BE49-F238E27FC236}">
                    <a16:creationId xmlns:a16="http://schemas.microsoft.com/office/drawing/2014/main" id="{AB4806A0-3585-26F5-5017-C467B0EB8C85}"/>
                  </a:ext>
                </a:extLst>
              </p:cNvPr>
              <p:cNvSpPr/>
              <p:nvPr/>
            </p:nvSpPr>
            <p:spPr>
              <a:xfrm>
                <a:off x="4297642" y="2297981"/>
                <a:ext cx="474600" cy="45600"/>
              </a:xfrm>
              <a:prstGeom prst="rect">
                <a:avLst/>
              </a:prstGeom>
              <a:solidFill>
                <a:srgbClr val="FFFFFF"/>
              </a:solidFill>
              <a:ln>
                <a:noFill/>
              </a:ln>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35" name="Google Shape;3247;g36f95115970_1_0">
                <a:extLst>
                  <a:ext uri="{FF2B5EF4-FFF2-40B4-BE49-F238E27FC236}">
                    <a16:creationId xmlns:a16="http://schemas.microsoft.com/office/drawing/2014/main" id="{388AD9AB-67BF-4323-1273-2B2106CE98E7}"/>
                  </a:ext>
                </a:extLst>
              </p:cNvPr>
              <p:cNvPicPr preferRelativeResize="0"/>
              <p:nvPr/>
            </p:nvPicPr>
            <p:blipFill rotWithShape="1">
              <a:blip r:embed="rId4">
                <a:alphaModFix/>
              </a:blip>
              <a:srcRect/>
              <a:stretch/>
            </p:blipFill>
            <p:spPr>
              <a:xfrm>
                <a:off x="3503144" y="1496410"/>
                <a:ext cx="392596" cy="392595"/>
              </a:xfrm>
              <a:prstGeom prst="rect">
                <a:avLst/>
              </a:prstGeom>
              <a:noFill/>
              <a:ln>
                <a:noFill/>
              </a:ln>
            </p:spPr>
          </p:pic>
          <p:sp>
            <p:nvSpPr>
              <p:cNvPr id="36" name="Google Shape;3248;g36f95115970_1_0">
                <a:extLst>
                  <a:ext uri="{FF2B5EF4-FFF2-40B4-BE49-F238E27FC236}">
                    <a16:creationId xmlns:a16="http://schemas.microsoft.com/office/drawing/2014/main" id="{A8B82B2B-8FA8-53AA-EC5A-71AA2D5ABF60}"/>
                  </a:ext>
                </a:extLst>
              </p:cNvPr>
              <p:cNvSpPr txBox="1"/>
              <p:nvPr/>
            </p:nvSpPr>
            <p:spPr>
              <a:xfrm>
                <a:off x="4000893" y="1545256"/>
                <a:ext cx="886800" cy="319800"/>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90000"/>
                  </a:lnSpc>
                  <a:spcBef>
                    <a:spcPts val="0"/>
                  </a:spcBef>
                  <a:spcAft>
                    <a:spcPts val="0"/>
                  </a:spcAft>
                  <a:buClr>
                    <a:srgbClr val="336DE6"/>
                  </a:buClr>
                  <a:buSzPts val="740"/>
                  <a:buFont typeface="Arial"/>
                  <a:buNone/>
                  <a:tabLst/>
                  <a:defRPr/>
                </a:pPr>
                <a:r>
                  <a:rPr kumimoji="0" lang="en-US" sz="740" b="0" i="0" u="none" strike="noStrike" kern="1200" cap="none" spc="0" normalizeH="0" baseline="0" noProof="0">
                    <a:ln>
                      <a:noFill/>
                    </a:ln>
                    <a:solidFill>
                      <a:srgbClr val="336DE6"/>
                    </a:solidFill>
                    <a:effectLst/>
                    <a:uLnTx/>
                    <a:uFillTx/>
                    <a:latin typeface="Arial"/>
                    <a:ea typeface="Arial"/>
                    <a:cs typeface="Arial"/>
                    <a:sym typeface="Arial"/>
                  </a:rPr>
                  <a:t>Kubernetes Applications</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7" name="Google Shape;3249;g36f95115970_1_0">
                <a:extLst>
                  <a:ext uri="{FF2B5EF4-FFF2-40B4-BE49-F238E27FC236}">
                    <a16:creationId xmlns:a16="http://schemas.microsoft.com/office/drawing/2014/main" id="{E4A08A3D-BB5F-584A-D782-959DCE8B31E3}"/>
                  </a:ext>
                </a:extLst>
              </p:cNvPr>
              <p:cNvSpPr/>
              <p:nvPr/>
            </p:nvSpPr>
            <p:spPr>
              <a:xfrm>
                <a:off x="3331847" y="1424891"/>
                <a:ext cx="1680900" cy="535500"/>
              </a:xfrm>
              <a:prstGeom prst="rect">
                <a:avLst/>
              </a:prstGeom>
              <a:noFill/>
              <a:ln w="9975" cap="flat" cmpd="sng">
                <a:solidFill>
                  <a:srgbClr val="005C8A"/>
                </a:solidFill>
                <a:prstDash val="dot"/>
                <a:miter lim="800000"/>
                <a:headEnd type="none" w="sm" len="sm"/>
                <a:tailEnd type="none" w="sm" len="sm"/>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38" name="Google Shape;3250;g36f95115970_1_0">
                <a:extLst>
                  <a:ext uri="{FF2B5EF4-FFF2-40B4-BE49-F238E27FC236}">
                    <a16:creationId xmlns:a16="http://schemas.microsoft.com/office/drawing/2014/main" id="{46CDFFDE-EE34-51E7-A49A-D28D528BE14D}"/>
                  </a:ext>
                </a:extLst>
              </p:cNvPr>
              <p:cNvSpPr/>
              <p:nvPr/>
            </p:nvSpPr>
            <p:spPr>
              <a:xfrm>
                <a:off x="3325948" y="2547406"/>
                <a:ext cx="521400" cy="279900"/>
              </a:xfrm>
              <a:prstGeom prst="roundRect">
                <a:avLst>
                  <a:gd name="adj" fmla="val 50000"/>
                </a:avLst>
              </a:prstGeom>
              <a:solidFill>
                <a:srgbClr val="3E417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39" name="Google Shape;3251;g36f95115970_1_0">
                <a:extLst>
                  <a:ext uri="{FF2B5EF4-FFF2-40B4-BE49-F238E27FC236}">
                    <a16:creationId xmlns:a16="http://schemas.microsoft.com/office/drawing/2014/main" id="{772C74D9-169A-5064-89C0-747B16B5C1BD}"/>
                  </a:ext>
                </a:extLst>
              </p:cNvPr>
              <p:cNvSpPr/>
              <p:nvPr/>
            </p:nvSpPr>
            <p:spPr>
              <a:xfrm>
                <a:off x="3912452" y="2547406"/>
                <a:ext cx="521400" cy="279900"/>
              </a:xfrm>
              <a:prstGeom prst="roundRect">
                <a:avLst>
                  <a:gd name="adj" fmla="val 50000"/>
                </a:avLst>
              </a:prstGeom>
              <a:solidFill>
                <a:srgbClr val="3E417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0" name="Google Shape;3252;g36f95115970_1_0">
                <a:extLst>
                  <a:ext uri="{FF2B5EF4-FFF2-40B4-BE49-F238E27FC236}">
                    <a16:creationId xmlns:a16="http://schemas.microsoft.com/office/drawing/2014/main" id="{EAF33F93-4B15-EFB2-E678-A541933C0D1F}"/>
                  </a:ext>
                </a:extLst>
              </p:cNvPr>
              <p:cNvSpPr/>
              <p:nvPr/>
            </p:nvSpPr>
            <p:spPr>
              <a:xfrm>
                <a:off x="4498957" y="2547405"/>
                <a:ext cx="521400" cy="279900"/>
              </a:xfrm>
              <a:prstGeom prst="roundRect">
                <a:avLst>
                  <a:gd name="adj" fmla="val 50000"/>
                </a:avLst>
              </a:prstGeom>
              <a:solidFill>
                <a:srgbClr val="3E417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41" name="Google Shape;3253;g36f95115970_1_0">
                <a:extLst>
                  <a:ext uri="{FF2B5EF4-FFF2-40B4-BE49-F238E27FC236}">
                    <a16:creationId xmlns:a16="http://schemas.microsoft.com/office/drawing/2014/main" id="{4C47476A-C63A-3353-7314-5B26F56B5E66}"/>
                  </a:ext>
                </a:extLst>
              </p:cNvPr>
              <p:cNvSpPr/>
              <p:nvPr/>
            </p:nvSpPr>
            <p:spPr>
              <a:xfrm>
                <a:off x="3325949" y="2040092"/>
                <a:ext cx="1694400" cy="285600"/>
              </a:xfrm>
              <a:prstGeom prst="roundRect">
                <a:avLst>
                  <a:gd name="adj" fmla="val 50000"/>
                </a:avLst>
              </a:prstGeom>
              <a:solidFill>
                <a:srgbClr val="3E417C"/>
              </a:solidFill>
              <a:ln>
                <a:noFill/>
              </a:ln>
            </p:spPr>
            <p:txBody>
              <a:bodyPr spcFirstLastPara="1" wrap="square" lIns="0" tIns="16900" rIns="0" bIns="0" anchor="ctr" anchorCtr="0">
                <a:noAutofit/>
              </a:bodyPr>
              <a:lstStyle/>
              <a:p>
                <a:pPr marL="0" marR="0" lvl="0" indent="0" algn="ctr" defTabSz="914400" rtl="0" eaLnBrk="1" fontAlgn="auto" latinLnBrk="0" hangingPunct="1">
                  <a:lnSpc>
                    <a:spcPct val="8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Control Plane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cxnSp>
            <p:nvCxnSpPr>
              <p:cNvPr id="42" name="Google Shape;3254;g36f95115970_1_0">
                <a:extLst>
                  <a:ext uri="{FF2B5EF4-FFF2-40B4-BE49-F238E27FC236}">
                    <a16:creationId xmlns:a16="http://schemas.microsoft.com/office/drawing/2014/main" id="{805530D2-2A0E-767F-A553-356FA76D2724}"/>
                  </a:ext>
                </a:extLst>
              </p:cNvPr>
              <p:cNvCxnSpPr/>
              <p:nvPr/>
            </p:nvCxnSpPr>
            <p:spPr>
              <a:xfrm>
                <a:off x="4186614" y="2313793"/>
                <a:ext cx="0" cy="240300"/>
              </a:xfrm>
              <a:prstGeom prst="straightConnector1">
                <a:avLst/>
              </a:prstGeom>
              <a:noFill/>
              <a:ln w="9975" cap="flat" cmpd="sng">
                <a:solidFill>
                  <a:srgbClr val="005C8A"/>
                </a:solidFill>
                <a:prstDash val="solid"/>
                <a:miter lim="800000"/>
                <a:headEnd type="none" w="sm" len="sm"/>
                <a:tailEnd type="none" w="sm" len="sm"/>
              </a:ln>
            </p:spPr>
          </p:cxnSp>
          <p:cxnSp>
            <p:nvCxnSpPr>
              <p:cNvPr id="43" name="Google Shape;3255;g36f95115970_1_0">
                <a:extLst>
                  <a:ext uri="{FF2B5EF4-FFF2-40B4-BE49-F238E27FC236}">
                    <a16:creationId xmlns:a16="http://schemas.microsoft.com/office/drawing/2014/main" id="{234890F1-E4F9-A1FF-9010-FA800F469FE5}"/>
                  </a:ext>
                </a:extLst>
              </p:cNvPr>
              <p:cNvCxnSpPr/>
              <p:nvPr/>
            </p:nvCxnSpPr>
            <p:spPr>
              <a:xfrm>
                <a:off x="3603836" y="2432789"/>
                <a:ext cx="0" cy="121500"/>
              </a:xfrm>
              <a:prstGeom prst="straightConnector1">
                <a:avLst/>
              </a:prstGeom>
              <a:noFill/>
              <a:ln w="9975" cap="flat" cmpd="sng">
                <a:solidFill>
                  <a:srgbClr val="005C8A"/>
                </a:solidFill>
                <a:prstDash val="solid"/>
                <a:miter lim="800000"/>
                <a:headEnd type="none" w="sm" len="sm"/>
                <a:tailEnd type="none" w="sm" len="sm"/>
              </a:ln>
            </p:spPr>
          </p:cxnSp>
          <p:cxnSp>
            <p:nvCxnSpPr>
              <p:cNvPr id="44" name="Google Shape;3256;g36f95115970_1_0">
                <a:extLst>
                  <a:ext uri="{FF2B5EF4-FFF2-40B4-BE49-F238E27FC236}">
                    <a16:creationId xmlns:a16="http://schemas.microsoft.com/office/drawing/2014/main" id="{6CDBA191-DEA0-1CE0-8FC0-5AB5E1CCC229}"/>
                  </a:ext>
                </a:extLst>
              </p:cNvPr>
              <p:cNvCxnSpPr/>
              <p:nvPr/>
            </p:nvCxnSpPr>
            <p:spPr>
              <a:xfrm>
                <a:off x="4769392" y="2432789"/>
                <a:ext cx="0" cy="121500"/>
              </a:xfrm>
              <a:prstGeom prst="straightConnector1">
                <a:avLst/>
              </a:prstGeom>
              <a:noFill/>
              <a:ln w="9975" cap="flat" cmpd="sng">
                <a:solidFill>
                  <a:srgbClr val="005C8A"/>
                </a:solidFill>
                <a:prstDash val="solid"/>
                <a:miter lim="800000"/>
                <a:headEnd type="none" w="sm" len="sm"/>
                <a:tailEnd type="none" w="sm" len="sm"/>
              </a:ln>
            </p:spPr>
          </p:cxnSp>
          <p:cxnSp>
            <p:nvCxnSpPr>
              <p:cNvPr id="45" name="Google Shape;3257;g36f95115970_1_0">
                <a:extLst>
                  <a:ext uri="{FF2B5EF4-FFF2-40B4-BE49-F238E27FC236}">
                    <a16:creationId xmlns:a16="http://schemas.microsoft.com/office/drawing/2014/main" id="{487C737C-6A99-5EEC-A3EA-02BC35A31FD1}"/>
                  </a:ext>
                </a:extLst>
              </p:cNvPr>
              <p:cNvCxnSpPr/>
              <p:nvPr/>
            </p:nvCxnSpPr>
            <p:spPr>
              <a:xfrm>
                <a:off x="3599903" y="2431944"/>
                <a:ext cx="1172400" cy="0"/>
              </a:xfrm>
              <a:prstGeom prst="straightConnector1">
                <a:avLst/>
              </a:prstGeom>
              <a:noFill/>
              <a:ln w="9975" cap="flat" cmpd="sng">
                <a:solidFill>
                  <a:srgbClr val="005C8A"/>
                </a:solidFill>
                <a:prstDash val="solid"/>
                <a:miter lim="800000"/>
                <a:headEnd type="none" w="sm" len="sm"/>
                <a:tailEnd type="none" w="sm" len="sm"/>
              </a:ln>
            </p:spPr>
          </p:cxnSp>
        </p:grpSp>
        <p:sp>
          <p:nvSpPr>
            <p:cNvPr id="32" name="Google Shape;3258;g36f95115970_1_0">
              <a:extLst>
                <a:ext uri="{FF2B5EF4-FFF2-40B4-BE49-F238E27FC236}">
                  <a16:creationId xmlns:a16="http://schemas.microsoft.com/office/drawing/2014/main" id="{8306F1B0-6F09-97B5-EAD0-40072D01ED57}"/>
                </a:ext>
              </a:extLst>
            </p:cNvPr>
            <p:cNvSpPr txBox="1"/>
            <p:nvPr/>
          </p:nvSpPr>
          <p:spPr>
            <a:xfrm>
              <a:off x="805150" y="2760707"/>
              <a:ext cx="1557900" cy="1617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r>
                <a:rPr kumimoji="0" lang="en-US" sz="971" b="0" i="0" u="none" strike="noStrike" kern="1200" cap="none" spc="0" normalizeH="0" baseline="0" noProof="0">
                  <a:ln>
                    <a:noFill/>
                  </a:ln>
                  <a:solidFill>
                    <a:srgbClr val="000000"/>
                  </a:solidFill>
                  <a:effectLst/>
                  <a:uLnTx/>
                  <a:uFillTx/>
                  <a:latin typeface="Arial"/>
                  <a:ea typeface="Arial"/>
                  <a:cs typeface="Arial"/>
                  <a:sym typeface="Arial"/>
                </a:rPr>
                <a:t>Kubernetes Cluster</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46" name="Google Shape;3259;g36f95115970_1_0">
            <a:extLst>
              <a:ext uri="{FF2B5EF4-FFF2-40B4-BE49-F238E27FC236}">
                <a16:creationId xmlns:a16="http://schemas.microsoft.com/office/drawing/2014/main" id="{02AB7C45-FD13-A9CE-FE9B-D6D1BF0A4E7A}"/>
              </a:ext>
            </a:extLst>
          </p:cNvPr>
          <p:cNvGrpSpPr/>
          <p:nvPr/>
        </p:nvGrpSpPr>
        <p:grpSpPr>
          <a:xfrm>
            <a:off x="3223667" y="3114053"/>
            <a:ext cx="1057275" cy="875649"/>
            <a:chOff x="2558676" y="1416583"/>
            <a:chExt cx="1143000" cy="946648"/>
          </a:xfrm>
        </p:grpSpPr>
        <p:sp>
          <p:nvSpPr>
            <p:cNvPr id="47" name="Google Shape;3260;g36f95115970_1_0">
              <a:extLst>
                <a:ext uri="{FF2B5EF4-FFF2-40B4-BE49-F238E27FC236}">
                  <a16:creationId xmlns:a16="http://schemas.microsoft.com/office/drawing/2014/main" id="{A95039FF-B7AB-EDB0-B89F-8EEABA9F8687}"/>
                </a:ext>
              </a:extLst>
            </p:cNvPr>
            <p:cNvSpPr/>
            <p:nvPr/>
          </p:nvSpPr>
          <p:spPr>
            <a:xfrm>
              <a:off x="2558676" y="1416583"/>
              <a:ext cx="838200" cy="741600"/>
            </a:xfrm>
            <a:prstGeom prst="roundRect">
              <a:avLst>
                <a:gd name="adj" fmla="val 7399"/>
              </a:avLst>
            </a:prstGeom>
            <a:solidFill>
              <a:srgbClr val="FFFFFF"/>
            </a:solidFill>
            <a:ln w="17625" cap="flat" cmpd="sng">
              <a:solidFill>
                <a:srgbClr val="005C8A"/>
              </a:solidFill>
              <a:prstDash val="solid"/>
              <a:round/>
              <a:headEnd type="none" w="sm" len="sm"/>
              <a:tailEnd type="none" w="sm" len="sm"/>
            </a:ln>
          </p:spPr>
          <p:txBody>
            <a:bodyPr spcFirstLastPara="1" wrap="square" lIns="84550" tIns="507475" rIns="84550" bIns="253725" anchor="t" anchorCtr="0">
              <a:noAutofit/>
            </a:bodyPr>
            <a:lstStyle/>
            <a:p>
              <a:pPr marL="0" marR="0" lvl="0" indent="0" algn="ctr" defTabSz="914400" rtl="0" eaLnBrk="1" fontAlgn="auto" latinLnBrk="0" hangingPunct="1">
                <a:lnSpc>
                  <a:spcPct val="100000"/>
                </a:lnSpc>
                <a:spcBef>
                  <a:spcPts val="0"/>
                </a:spcBef>
                <a:spcAft>
                  <a:spcPts val="0"/>
                </a:spcAft>
                <a:buClr>
                  <a:srgbClr val="005C8A"/>
                </a:buClr>
                <a:buSzPts val="971"/>
                <a:buFont typeface="Arial"/>
                <a:buNone/>
                <a:tabLst/>
                <a:defRPr/>
              </a:pPr>
              <a:r>
                <a:rPr kumimoji="0" lang="en-US" sz="971" b="0" i="0" u="none" strike="noStrike" kern="1200" cap="none" spc="0" normalizeH="0" baseline="0" noProof="0" dirty="0">
                  <a:ln>
                    <a:noFill/>
                  </a:ln>
                  <a:solidFill>
                    <a:srgbClr val="005C8A"/>
                  </a:solidFill>
                  <a:effectLst/>
                  <a:uLnTx/>
                  <a:uFillTx/>
                  <a:latin typeface="Arial"/>
                  <a:ea typeface="Arial"/>
                  <a:cs typeface="Arial"/>
                  <a:sym typeface="Arial"/>
                </a:rPr>
                <a:t>VM</a:t>
              </a:r>
              <a:endParaRPr kumimoji="0" sz="1665"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nvGrpSpPr>
            <p:cNvPr id="48" name="Google Shape;3261;g36f95115970_1_0">
              <a:extLst>
                <a:ext uri="{FF2B5EF4-FFF2-40B4-BE49-F238E27FC236}">
                  <a16:creationId xmlns:a16="http://schemas.microsoft.com/office/drawing/2014/main" id="{6408B13E-1A10-0208-028E-1B148915C9B2}"/>
                </a:ext>
              </a:extLst>
            </p:cNvPr>
            <p:cNvGrpSpPr/>
            <p:nvPr/>
          </p:nvGrpSpPr>
          <p:grpSpPr>
            <a:xfrm>
              <a:off x="2828933" y="1548334"/>
              <a:ext cx="297737" cy="292258"/>
              <a:chOff x="1465490" y="3219301"/>
              <a:chExt cx="438300" cy="438300"/>
            </a:xfrm>
          </p:grpSpPr>
          <p:sp>
            <p:nvSpPr>
              <p:cNvPr id="65" name="Google Shape;3262;g36f95115970_1_0">
                <a:extLst>
                  <a:ext uri="{FF2B5EF4-FFF2-40B4-BE49-F238E27FC236}">
                    <a16:creationId xmlns:a16="http://schemas.microsoft.com/office/drawing/2014/main" id="{06BAB505-E4D3-61D6-3318-7ABB09EECB90}"/>
                  </a:ext>
                </a:extLst>
              </p:cNvPr>
              <p:cNvSpPr/>
              <p:nvPr/>
            </p:nvSpPr>
            <p:spPr>
              <a:xfrm>
                <a:off x="1465490" y="3219301"/>
                <a:ext cx="438300" cy="438300"/>
              </a:xfrm>
              <a:prstGeom prst="ellipse">
                <a:avLst/>
              </a:prstGeom>
              <a:noFill/>
              <a:ln w="9525" cap="flat" cmpd="sng">
                <a:solidFill>
                  <a:srgbClr val="005C8A"/>
                </a:solidFill>
                <a:prstDash val="solid"/>
                <a:round/>
                <a:headEnd type="none" w="sm" len="sm"/>
                <a:tailEnd type="none" w="sm" len="sm"/>
              </a:ln>
            </p:spPr>
            <p:txBody>
              <a:bodyPr spcFirstLastPara="1" wrap="square" lIns="81125" tIns="40550" rIns="81125" bIns="405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740"/>
                  <a:buFont typeface="Arial"/>
                  <a:buNone/>
                  <a:tabLst/>
                  <a:defRPr/>
                </a:pPr>
                <a:endParaRPr kumimoji="0" sz="74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66" name="Google Shape;3263;g36f95115970_1_0">
                <a:extLst>
                  <a:ext uri="{FF2B5EF4-FFF2-40B4-BE49-F238E27FC236}">
                    <a16:creationId xmlns:a16="http://schemas.microsoft.com/office/drawing/2014/main" id="{084B0E01-7D21-0CF1-32B2-60A5F3FB16E8}"/>
                  </a:ext>
                </a:extLst>
              </p:cNvPr>
              <p:cNvGrpSpPr/>
              <p:nvPr/>
            </p:nvGrpSpPr>
            <p:grpSpPr>
              <a:xfrm>
                <a:off x="1561476" y="3315293"/>
                <a:ext cx="245384" cy="245384"/>
                <a:chOff x="979296" y="1541158"/>
                <a:chExt cx="1054510" cy="1054510"/>
              </a:xfrm>
            </p:grpSpPr>
            <p:sp>
              <p:nvSpPr>
                <p:cNvPr id="67" name="Google Shape;3264;g36f95115970_1_0">
                  <a:extLst>
                    <a:ext uri="{FF2B5EF4-FFF2-40B4-BE49-F238E27FC236}">
                      <a16:creationId xmlns:a16="http://schemas.microsoft.com/office/drawing/2014/main" id="{F7ABA287-A65B-3C06-1D14-E585B8683C6C}"/>
                    </a:ext>
                  </a:extLst>
                </p:cNvPr>
                <p:cNvSpPr/>
                <p:nvPr/>
              </p:nvSpPr>
              <p:spPr>
                <a:xfrm>
                  <a:off x="979296" y="1541158"/>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68" name="Google Shape;3265;g36f95115970_1_0">
                  <a:extLst>
                    <a:ext uri="{FF2B5EF4-FFF2-40B4-BE49-F238E27FC236}">
                      <a16:creationId xmlns:a16="http://schemas.microsoft.com/office/drawing/2014/main" id="{1D1C4F80-4898-9992-EBB3-E4455F70F725}"/>
                    </a:ext>
                  </a:extLst>
                </p:cNvPr>
                <p:cNvGrpSpPr/>
                <p:nvPr/>
              </p:nvGrpSpPr>
              <p:grpSpPr>
                <a:xfrm>
                  <a:off x="1296246" y="2002748"/>
                  <a:ext cx="390297" cy="146863"/>
                  <a:chOff x="1296246" y="2002748"/>
                  <a:chExt cx="390297" cy="146863"/>
                </a:xfrm>
              </p:grpSpPr>
              <p:sp>
                <p:nvSpPr>
                  <p:cNvPr id="69" name="Google Shape;3266;g36f95115970_1_0">
                    <a:extLst>
                      <a:ext uri="{FF2B5EF4-FFF2-40B4-BE49-F238E27FC236}">
                        <a16:creationId xmlns:a16="http://schemas.microsoft.com/office/drawing/2014/main" id="{4E80E2DA-3AC5-51EF-9A9A-985DE6C67849}"/>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0" name="Google Shape;3267;g36f95115970_1_0">
                    <a:extLst>
                      <a:ext uri="{FF2B5EF4-FFF2-40B4-BE49-F238E27FC236}">
                        <a16:creationId xmlns:a16="http://schemas.microsoft.com/office/drawing/2014/main" id="{CD1CFFE0-9034-4086-7272-CF883A007A84}"/>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49" name="Google Shape;3268;g36f95115970_1_0">
              <a:extLst>
                <a:ext uri="{FF2B5EF4-FFF2-40B4-BE49-F238E27FC236}">
                  <a16:creationId xmlns:a16="http://schemas.microsoft.com/office/drawing/2014/main" id="{2E01C38E-0852-F404-DF5B-ACC873FE9055}"/>
                </a:ext>
              </a:extLst>
            </p:cNvPr>
            <p:cNvSpPr/>
            <p:nvPr/>
          </p:nvSpPr>
          <p:spPr>
            <a:xfrm>
              <a:off x="2694285" y="1521061"/>
              <a:ext cx="838200" cy="741600"/>
            </a:xfrm>
            <a:prstGeom prst="roundRect">
              <a:avLst>
                <a:gd name="adj" fmla="val 7399"/>
              </a:avLst>
            </a:prstGeom>
            <a:solidFill>
              <a:srgbClr val="FFFFFF"/>
            </a:solidFill>
            <a:ln w="17625" cap="flat" cmpd="sng">
              <a:solidFill>
                <a:srgbClr val="005C8A"/>
              </a:solidFill>
              <a:prstDash val="solid"/>
              <a:round/>
              <a:headEnd type="none" w="sm" len="sm"/>
              <a:tailEnd type="none" w="sm" len="sm"/>
            </a:ln>
          </p:spPr>
          <p:txBody>
            <a:bodyPr spcFirstLastPara="1" wrap="square" lIns="84550" tIns="507475" rIns="84550" bIns="253725" anchor="t" anchorCtr="0">
              <a:noAutofit/>
            </a:bodyPr>
            <a:lstStyle/>
            <a:p>
              <a:pPr marL="0" marR="0" lvl="0" indent="0" algn="ctr" defTabSz="914400" rtl="0" eaLnBrk="1" fontAlgn="auto" latinLnBrk="0" hangingPunct="1">
                <a:lnSpc>
                  <a:spcPct val="100000"/>
                </a:lnSpc>
                <a:spcBef>
                  <a:spcPts val="0"/>
                </a:spcBef>
                <a:spcAft>
                  <a:spcPts val="0"/>
                </a:spcAft>
                <a:buClr>
                  <a:srgbClr val="005C8A"/>
                </a:buClr>
                <a:buSzPts val="971"/>
                <a:buFont typeface="Arial"/>
                <a:buNone/>
                <a:tabLst/>
                <a:defRPr/>
              </a:pPr>
              <a:r>
                <a:rPr kumimoji="0" lang="en-US" sz="971" b="0" i="0" u="none" strike="noStrike" kern="1200" cap="none" spc="0" normalizeH="0" baseline="0" noProof="0" dirty="0">
                  <a:ln>
                    <a:noFill/>
                  </a:ln>
                  <a:solidFill>
                    <a:srgbClr val="005C8A"/>
                  </a:solidFill>
                  <a:effectLst/>
                  <a:uLnTx/>
                  <a:uFillTx/>
                  <a:latin typeface="Arial"/>
                  <a:ea typeface="Arial"/>
                  <a:cs typeface="Arial"/>
                  <a:sym typeface="Arial"/>
                </a:rPr>
                <a:t>VM</a:t>
              </a:r>
              <a:endParaRPr kumimoji="0" sz="1665"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nvGrpSpPr>
            <p:cNvPr id="50" name="Google Shape;3269;g36f95115970_1_0">
              <a:extLst>
                <a:ext uri="{FF2B5EF4-FFF2-40B4-BE49-F238E27FC236}">
                  <a16:creationId xmlns:a16="http://schemas.microsoft.com/office/drawing/2014/main" id="{11DC60AA-C869-C956-E0A8-1436D9D55FAA}"/>
                </a:ext>
              </a:extLst>
            </p:cNvPr>
            <p:cNvGrpSpPr/>
            <p:nvPr/>
          </p:nvGrpSpPr>
          <p:grpSpPr>
            <a:xfrm>
              <a:off x="2981333" y="1700734"/>
              <a:ext cx="297737" cy="292258"/>
              <a:chOff x="1465490" y="3219301"/>
              <a:chExt cx="438300" cy="438300"/>
            </a:xfrm>
          </p:grpSpPr>
          <p:sp>
            <p:nvSpPr>
              <p:cNvPr id="59" name="Google Shape;3270;g36f95115970_1_0">
                <a:extLst>
                  <a:ext uri="{FF2B5EF4-FFF2-40B4-BE49-F238E27FC236}">
                    <a16:creationId xmlns:a16="http://schemas.microsoft.com/office/drawing/2014/main" id="{0F0C3FDA-7B4C-F30A-14EE-28F4CF5346F9}"/>
                  </a:ext>
                </a:extLst>
              </p:cNvPr>
              <p:cNvSpPr/>
              <p:nvPr/>
            </p:nvSpPr>
            <p:spPr>
              <a:xfrm>
                <a:off x="1465490" y="3219301"/>
                <a:ext cx="438300" cy="438300"/>
              </a:xfrm>
              <a:prstGeom prst="ellipse">
                <a:avLst/>
              </a:prstGeom>
              <a:noFill/>
              <a:ln w="9525" cap="flat" cmpd="sng">
                <a:solidFill>
                  <a:srgbClr val="005C8A"/>
                </a:solidFill>
                <a:prstDash val="solid"/>
                <a:round/>
                <a:headEnd type="none" w="sm" len="sm"/>
                <a:tailEnd type="none" w="sm" len="sm"/>
              </a:ln>
            </p:spPr>
            <p:txBody>
              <a:bodyPr spcFirstLastPara="1" wrap="square" lIns="81125" tIns="40550" rIns="81125" bIns="405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740"/>
                  <a:buFont typeface="Arial"/>
                  <a:buNone/>
                  <a:tabLst/>
                  <a:defRPr/>
                </a:pPr>
                <a:endParaRPr kumimoji="0" sz="74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60" name="Google Shape;3271;g36f95115970_1_0">
                <a:extLst>
                  <a:ext uri="{FF2B5EF4-FFF2-40B4-BE49-F238E27FC236}">
                    <a16:creationId xmlns:a16="http://schemas.microsoft.com/office/drawing/2014/main" id="{E80C99E6-74B2-8D58-80CF-58439FEE0408}"/>
                  </a:ext>
                </a:extLst>
              </p:cNvPr>
              <p:cNvGrpSpPr/>
              <p:nvPr/>
            </p:nvGrpSpPr>
            <p:grpSpPr>
              <a:xfrm>
                <a:off x="1561476" y="3315293"/>
                <a:ext cx="245384" cy="245384"/>
                <a:chOff x="979296" y="1541158"/>
                <a:chExt cx="1054510" cy="1054510"/>
              </a:xfrm>
            </p:grpSpPr>
            <p:sp>
              <p:nvSpPr>
                <p:cNvPr id="61" name="Google Shape;3272;g36f95115970_1_0">
                  <a:extLst>
                    <a:ext uri="{FF2B5EF4-FFF2-40B4-BE49-F238E27FC236}">
                      <a16:creationId xmlns:a16="http://schemas.microsoft.com/office/drawing/2014/main" id="{1173DC3B-880E-CE25-5D3A-8BEF9AEAB38D}"/>
                    </a:ext>
                  </a:extLst>
                </p:cNvPr>
                <p:cNvSpPr/>
                <p:nvPr/>
              </p:nvSpPr>
              <p:spPr>
                <a:xfrm>
                  <a:off x="979296" y="1541158"/>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62" name="Google Shape;3273;g36f95115970_1_0">
                  <a:extLst>
                    <a:ext uri="{FF2B5EF4-FFF2-40B4-BE49-F238E27FC236}">
                      <a16:creationId xmlns:a16="http://schemas.microsoft.com/office/drawing/2014/main" id="{36A1F0E8-8D9A-1BB0-F365-D52165472422}"/>
                    </a:ext>
                  </a:extLst>
                </p:cNvPr>
                <p:cNvGrpSpPr/>
                <p:nvPr/>
              </p:nvGrpSpPr>
              <p:grpSpPr>
                <a:xfrm>
                  <a:off x="1296246" y="2002748"/>
                  <a:ext cx="390297" cy="146863"/>
                  <a:chOff x="1296246" y="2002748"/>
                  <a:chExt cx="390297" cy="146863"/>
                </a:xfrm>
              </p:grpSpPr>
              <p:sp>
                <p:nvSpPr>
                  <p:cNvPr id="63" name="Google Shape;3274;g36f95115970_1_0">
                    <a:extLst>
                      <a:ext uri="{FF2B5EF4-FFF2-40B4-BE49-F238E27FC236}">
                        <a16:creationId xmlns:a16="http://schemas.microsoft.com/office/drawing/2014/main" id="{03C9829C-0C66-52FD-DEC3-9D0C3A4A3A17}"/>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64" name="Google Shape;3275;g36f95115970_1_0">
                    <a:extLst>
                      <a:ext uri="{FF2B5EF4-FFF2-40B4-BE49-F238E27FC236}">
                        <a16:creationId xmlns:a16="http://schemas.microsoft.com/office/drawing/2014/main" id="{84E82820-C23C-F90E-ABAC-164C669AE8A4}"/>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sp>
          <p:nvSpPr>
            <p:cNvPr id="51" name="Google Shape;3276;g36f95115970_1_0">
              <a:extLst>
                <a:ext uri="{FF2B5EF4-FFF2-40B4-BE49-F238E27FC236}">
                  <a16:creationId xmlns:a16="http://schemas.microsoft.com/office/drawing/2014/main" id="{F88DDB6C-6416-80B6-22B7-DBE6A9E9CB23}"/>
                </a:ext>
              </a:extLst>
            </p:cNvPr>
            <p:cNvSpPr/>
            <p:nvPr/>
          </p:nvSpPr>
          <p:spPr>
            <a:xfrm>
              <a:off x="2863476" y="1621631"/>
              <a:ext cx="838200" cy="741600"/>
            </a:xfrm>
            <a:prstGeom prst="roundRect">
              <a:avLst>
                <a:gd name="adj" fmla="val 7399"/>
              </a:avLst>
            </a:prstGeom>
            <a:solidFill>
              <a:srgbClr val="FFFFFF"/>
            </a:solidFill>
            <a:ln w="17625" cap="flat" cmpd="sng">
              <a:solidFill>
                <a:srgbClr val="005C8A"/>
              </a:solidFill>
              <a:prstDash val="solid"/>
              <a:round/>
              <a:headEnd type="none" w="sm" len="sm"/>
              <a:tailEnd type="none" w="sm" len="sm"/>
            </a:ln>
          </p:spPr>
          <p:txBody>
            <a:bodyPr spcFirstLastPara="1" wrap="square" lIns="84550" tIns="507475" rIns="84550" bIns="2537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r>
                <a:rPr kumimoji="0" lang="en-US" sz="971" b="0" i="0" u="none" strike="noStrike" kern="1200" cap="none" spc="0" normalizeH="0" baseline="0" noProof="0" dirty="0">
                  <a:ln>
                    <a:noFill/>
                  </a:ln>
                  <a:solidFill>
                    <a:srgbClr val="000000"/>
                  </a:solidFill>
                  <a:effectLst/>
                  <a:uLnTx/>
                  <a:uFillTx/>
                  <a:latin typeface="Arial"/>
                  <a:ea typeface="Arial"/>
                  <a:cs typeface="Arial"/>
                  <a:sym typeface="Arial"/>
                </a:rPr>
                <a:t>VM</a:t>
              </a:r>
              <a:endParaRPr kumimoji="0" sz="1665" b="0" i="0" u="none" strike="noStrike" kern="1200" cap="none" spc="0" normalizeH="0" baseline="0" noProof="0" dirty="0">
                <a:ln>
                  <a:noFill/>
                </a:ln>
                <a:solidFill>
                  <a:srgbClr val="000000"/>
                </a:solidFill>
                <a:effectLst/>
                <a:uLnTx/>
                <a:uFillTx/>
                <a:latin typeface="Arial"/>
                <a:ea typeface="Arial"/>
                <a:cs typeface="Arial"/>
                <a:sym typeface="Arial"/>
              </a:endParaRPr>
            </a:p>
          </p:txBody>
        </p:sp>
        <p:grpSp>
          <p:nvGrpSpPr>
            <p:cNvPr id="52" name="Google Shape;3277;g36f95115970_1_0">
              <a:extLst>
                <a:ext uri="{FF2B5EF4-FFF2-40B4-BE49-F238E27FC236}">
                  <a16:creationId xmlns:a16="http://schemas.microsoft.com/office/drawing/2014/main" id="{0137EB70-860E-4E26-BA60-86FFAF62E82E}"/>
                </a:ext>
              </a:extLst>
            </p:cNvPr>
            <p:cNvGrpSpPr/>
            <p:nvPr/>
          </p:nvGrpSpPr>
          <p:grpSpPr>
            <a:xfrm>
              <a:off x="3133733" y="1753382"/>
              <a:ext cx="297737" cy="292258"/>
              <a:chOff x="1465490" y="3219301"/>
              <a:chExt cx="438300" cy="438300"/>
            </a:xfrm>
          </p:grpSpPr>
          <p:sp>
            <p:nvSpPr>
              <p:cNvPr id="53" name="Google Shape;3278;g36f95115970_1_0">
                <a:extLst>
                  <a:ext uri="{FF2B5EF4-FFF2-40B4-BE49-F238E27FC236}">
                    <a16:creationId xmlns:a16="http://schemas.microsoft.com/office/drawing/2014/main" id="{268D2A4D-F11D-78BA-1B25-BB5FA991BC7A}"/>
                  </a:ext>
                </a:extLst>
              </p:cNvPr>
              <p:cNvSpPr/>
              <p:nvPr/>
            </p:nvSpPr>
            <p:spPr>
              <a:xfrm>
                <a:off x="1465490" y="3219301"/>
                <a:ext cx="438300" cy="438300"/>
              </a:xfrm>
              <a:prstGeom prst="ellipse">
                <a:avLst/>
              </a:prstGeom>
              <a:noFill/>
              <a:ln w="9525" cap="flat" cmpd="sng">
                <a:solidFill>
                  <a:srgbClr val="005C8A"/>
                </a:solidFill>
                <a:prstDash val="solid"/>
                <a:round/>
                <a:headEnd type="none" w="sm" len="sm"/>
                <a:tailEnd type="none" w="sm" len="sm"/>
              </a:ln>
            </p:spPr>
            <p:txBody>
              <a:bodyPr spcFirstLastPara="1" wrap="square" lIns="81125" tIns="40550" rIns="81125" bIns="405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740"/>
                  <a:buFont typeface="Arial"/>
                  <a:buNone/>
                  <a:tabLst/>
                  <a:defRPr/>
                </a:pPr>
                <a:endParaRPr kumimoji="0" sz="740" b="0" i="0" u="none" strike="noStrike" kern="1200" cap="none" spc="0" normalizeH="0" baseline="0" noProof="0">
                  <a:ln>
                    <a:noFill/>
                  </a:ln>
                  <a:solidFill>
                    <a:srgbClr val="FFFFFF"/>
                  </a:solidFill>
                  <a:effectLst/>
                  <a:uLnTx/>
                  <a:uFillTx/>
                  <a:latin typeface="Arial"/>
                  <a:ea typeface="Arial"/>
                  <a:cs typeface="Arial"/>
                  <a:sym typeface="Arial"/>
                </a:endParaRPr>
              </a:p>
            </p:txBody>
          </p:sp>
          <p:grpSp>
            <p:nvGrpSpPr>
              <p:cNvPr id="54" name="Google Shape;3279;g36f95115970_1_0">
                <a:extLst>
                  <a:ext uri="{FF2B5EF4-FFF2-40B4-BE49-F238E27FC236}">
                    <a16:creationId xmlns:a16="http://schemas.microsoft.com/office/drawing/2014/main" id="{571E4008-171E-8708-EA61-A06728A12A79}"/>
                  </a:ext>
                </a:extLst>
              </p:cNvPr>
              <p:cNvGrpSpPr/>
              <p:nvPr/>
            </p:nvGrpSpPr>
            <p:grpSpPr>
              <a:xfrm>
                <a:off x="1561476" y="3315293"/>
                <a:ext cx="245384" cy="245384"/>
                <a:chOff x="979296" y="1541158"/>
                <a:chExt cx="1054510" cy="1054510"/>
              </a:xfrm>
            </p:grpSpPr>
            <p:sp>
              <p:nvSpPr>
                <p:cNvPr id="55" name="Google Shape;3280;g36f95115970_1_0">
                  <a:extLst>
                    <a:ext uri="{FF2B5EF4-FFF2-40B4-BE49-F238E27FC236}">
                      <a16:creationId xmlns:a16="http://schemas.microsoft.com/office/drawing/2014/main" id="{F9143508-9A35-5DE4-400B-43EBF35B0FFA}"/>
                    </a:ext>
                  </a:extLst>
                </p:cNvPr>
                <p:cNvSpPr/>
                <p:nvPr/>
              </p:nvSpPr>
              <p:spPr>
                <a:xfrm>
                  <a:off x="979296" y="1541158"/>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56" name="Google Shape;3281;g36f95115970_1_0">
                  <a:extLst>
                    <a:ext uri="{FF2B5EF4-FFF2-40B4-BE49-F238E27FC236}">
                      <a16:creationId xmlns:a16="http://schemas.microsoft.com/office/drawing/2014/main" id="{26E5FA1B-4E24-B806-5A94-1D9E0582436E}"/>
                    </a:ext>
                  </a:extLst>
                </p:cNvPr>
                <p:cNvGrpSpPr/>
                <p:nvPr/>
              </p:nvGrpSpPr>
              <p:grpSpPr>
                <a:xfrm>
                  <a:off x="1296246" y="2002748"/>
                  <a:ext cx="390297" cy="146863"/>
                  <a:chOff x="1296246" y="2002748"/>
                  <a:chExt cx="390297" cy="146863"/>
                </a:xfrm>
              </p:grpSpPr>
              <p:sp>
                <p:nvSpPr>
                  <p:cNvPr id="57" name="Google Shape;3282;g36f95115970_1_0">
                    <a:extLst>
                      <a:ext uri="{FF2B5EF4-FFF2-40B4-BE49-F238E27FC236}">
                        <a16:creationId xmlns:a16="http://schemas.microsoft.com/office/drawing/2014/main" id="{F5BAD1D7-2004-F4A5-36AD-82F5DBD79AAF}"/>
                      </a:ext>
                    </a:extLst>
                  </p:cNvPr>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58" name="Google Shape;3283;g36f95115970_1_0">
                    <a:extLst>
                      <a:ext uri="{FF2B5EF4-FFF2-40B4-BE49-F238E27FC236}">
                        <a16:creationId xmlns:a16="http://schemas.microsoft.com/office/drawing/2014/main" id="{243EA209-D588-56B6-2E5F-2CD5D0DE08D2}"/>
                      </a:ext>
                    </a:extLst>
                  </p:cNvPr>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rgbClr val="005C8A"/>
                  </a:solidFill>
                  <a:ln>
                    <a:noFill/>
                  </a:ln>
                </p:spPr>
                <p:txBody>
                  <a:bodyPr spcFirstLastPara="1" wrap="square" lIns="81125" tIns="40550" rIns="81125" bIns="405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grpSp>
      <p:sp>
        <p:nvSpPr>
          <p:cNvPr id="71" name="Google Shape;3284;g36f95115970_1_0">
            <a:extLst>
              <a:ext uri="{FF2B5EF4-FFF2-40B4-BE49-F238E27FC236}">
                <a16:creationId xmlns:a16="http://schemas.microsoft.com/office/drawing/2014/main" id="{7213D291-CE7D-1625-3EC0-6D1A4B2C4E87}"/>
              </a:ext>
            </a:extLst>
          </p:cNvPr>
          <p:cNvSpPr/>
          <p:nvPr/>
        </p:nvSpPr>
        <p:spPr>
          <a:xfrm>
            <a:off x="4887699" y="2864520"/>
            <a:ext cx="1526700" cy="1262700"/>
          </a:xfrm>
          <a:prstGeom prst="roundRect">
            <a:avLst>
              <a:gd name="adj" fmla="val 3604"/>
            </a:avLst>
          </a:prstGeom>
          <a:solidFill>
            <a:srgbClr val="FFFFFF"/>
          </a:solidFill>
          <a:ln w="17625" cap="flat" cmpd="sng">
            <a:solidFill>
              <a:srgbClr val="005C8A"/>
            </a:solidFill>
            <a:prstDash val="solid"/>
            <a:round/>
            <a:headEnd type="none" w="sm" len="sm"/>
            <a:tailEnd type="none" w="sm" len="sm"/>
          </a:ln>
        </p:spPr>
        <p:txBody>
          <a:bodyPr spcFirstLastPara="1" wrap="square" lIns="84550" tIns="1268725" rIns="84550" bIns="2537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endParaRPr kumimoji="0" sz="971"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2" name="Google Shape;3285;g36f95115970_1_0">
            <a:extLst>
              <a:ext uri="{FF2B5EF4-FFF2-40B4-BE49-F238E27FC236}">
                <a16:creationId xmlns:a16="http://schemas.microsoft.com/office/drawing/2014/main" id="{6B2D5EB8-CA41-65E5-E2B0-B95152850512}"/>
              </a:ext>
            </a:extLst>
          </p:cNvPr>
          <p:cNvSpPr/>
          <p:nvPr/>
        </p:nvSpPr>
        <p:spPr>
          <a:xfrm>
            <a:off x="5062309" y="3164556"/>
            <a:ext cx="1190100" cy="693000"/>
          </a:xfrm>
          <a:prstGeom prst="rect">
            <a:avLst/>
          </a:prstGeom>
          <a:solidFill>
            <a:srgbClr val="FFFFFF"/>
          </a:solidFill>
          <a:ln w="11750" cap="flat" cmpd="sng">
            <a:solidFill>
              <a:srgbClr val="007B8C"/>
            </a:solidFill>
            <a:prstDash val="dot"/>
            <a:round/>
            <a:headEnd type="none" w="sm" len="sm"/>
            <a:tailEnd type="none" w="sm" len="sm"/>
          </a:ln>
        </p:spPr>
        <p:txBody>
          <a:bodyPr spcFirstLastPara="1" wrap="square" lIns="0" tIns="0" rIns="253725"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95"/>
              <a:buFont typeface="Arial"/>
              <a:buNone/>
              <a:tabLst/>
              <a:defRPr/>
            </a:pPr>
            <a:endParaRPr kumimoji="0" sz="1295"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73" name="Google Shape;3286;g36f95115970_1_0">
            <a:extLst>
              <a:ext uri="{FF2B5EF4-FFF2-40B4-BE49-F238E27FC236}">
                <a16:creationId xmlns:a16="http://schemas.microsoft.com/office/drawing/2014/main" id="{1B929434-6731-E68E-52AF-FC7571B5CFE5}"/>
              </a:ext>
            </a:extLst>
          </p:cNvPr>
          <p:cNvSpPr/>
          <p:nvPr/>
        </p:nvSpPr>
        <p:spPr>
          <a:xfrm>
            <a:off x="2917825" y="4277913"/>
            <a:ext cx="1678200" cy="294000"/>
          </a:xfrm>
          <a:prstGeom prst="roundRect">
            <a:avLst>
              <a:gd name="adj" fmla="val 16667"/>
            </a:avLst>
          </a:prstGeom>
          <a:solidFill>
            <a:srgbClr val="6C4B94"/>
          </a:solidFill>
          <a:ln>
            <a:noFill/>
          </a:ln>
        </p:spPr>
        <p:txBody>
          <a:bodyPr spcFirstLastPara="1" wrap="square" lIns="81125" tIns="40550" rIns="81125" bIns="4055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vSphere </a:t>
            </a:r>
            <a:br>
              <a:rPr kumimoji="0" lang="en-US" sz="740" b="0" i="0" u="none" strike="noStrike" kern="1200" cap="none" spc="0" normalizeH="0" baseline="0" noProof="0">
                <a:ln>
                  <a:noFill/>
                </a:ln>
                <a:solidFill>
                  <a:srgbClr val="FFFFFF"/>
                </a:solidFill>
                <a:effectLst/>
                <a:uLnTx/>
                <a:uFillTx/>
                <a:latin typeface="Arial"/>
                <a:ea typeface="Arial"/>
                <a:cs typeface="Arial"/>
                <a:sym typeface="Arial"/>
              </a:rPr>
            </a:b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Namespace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4" name="Google Shape;3287;g36f95115970_1_0">
            <a:extLst>
              <a:ext uri="{FF2B5EF4-FFF2-40B4-BE49-F238E27FC236}">
                <a16:creationId xmlns:a16="http://schemas.microsoft.com/office/drawing/2014/main" id="{41A2AF3F-F765-F5E5-6D87-6139F8C4B243}"/>
              </a:ext>
            </a:extLst>
          </p:cNvPr>
          <p:cNvSpPr/>
          <p:nvPr/>
        </p:nvSpPr>
        <p:spPr>
          <a:xfrm>
            <a:off x="4785504" y="4286134"/>
            <a:ext cx="1743900" cy="294000"/>
          </a:xfrm>
          <a:prstGeom prst="roundRect">
            <a:avLst>
              <a:gd name="adj" fmla="val 16667"/>
            </a:avLst>
          </a:prstGeom>
          <a:solidFill>
            <a:srgbClr val="005C8A"/>
          </a:solidFill>
          <a:ln>
            <a:noFill/>
          </a:ln>
        </p:spPr>
        <p:txBody>
          <a:bodyPr spcFirstLastPara="1" wrap="square" lIns="81125" tIns="40550" rIns="81125" bIns="4055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Service vSphere </a:t>
            </a:r>
            <a:br>
              <a:rPr kumimoji="0" lang="en-US" sz="740" b="0" i="0" u="none" strike="noStrike" kern="1200" cap="none" spc="0" normalizeH="0" baseline="0" noProof="0">
                <a:ln>
                  <a:noFill/>
                </a:ln>
                <a:solidFill>
                  <a:srgbClr val="FFFFFF"/>
                </a:solidFill>
                <a:effectLst/>
                <a:uLnTx/>
                <a:uFillTx/>
                <a:latin typeface="Arial"/>
                <a:ea typeface="Arial"/>
                <a:cs typeface="Arial"/>
                <a:sym typeface="Arial"/>
              </a:rPr>
            </a:b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Namespace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75" name="Google Shape;3288;g36f95115970_1_0">
            <a:extLst>
              <a:ext uri="{FF2B5EF4-FFF2-40B4-BE49-F238E27FC236}">
                <a16:creationId xmlns:a16="http://schemas.microsoft.com/office/drawing/2014/main" id="{020B8C51-957A-1D0B-B93A-50272ECEDB81}"/>
              </a:ext>
            </a:extLst>
          </p:cNvPr>
          <p:cNvGrpSpPr/>
          <p:nvPr/>
        </p:nvGrpSpPr>
        <p:grpSpPr>
          <a:xfrm>
            <a:off x="5537963" y="4644885"/>
            <a:ext cx="238643" cy="326706"/>
            <a:chOff x="5000233" y="3506447"/>
            <a:chExt cx="283795" cy="388519"/>
          </a:xfrm>
        </p:grpSpPr>
        <p:sp>
          <p:nvSpPr>
            <p:cNvPr id="76" name="Google Shape;3289;g36f95115970_1_0">
              <a:extLst>
                <a:ext uri="{FF2B5EF4-FFF2-40B4-BE49-F238E27FC236}">
                  <a16:creationId xmlns:a16="http://schemas.microsoft.com/office/drawing/2014/main" id="{3853D464-84B5-F5C6-5B32-7F309619837E}"/>
                </a:ext>
              </a:extLst>
            </p:cNvPr>
            <p:cNvSpPr/>
            <p:nvPr/>
          </p:nvSpPr>
          <p:spPr>
            <a:xfrm rot="-5400000">
              <a:off x="5060499" y="367143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rgbClr val="005C8A">
                <a:alpha val="20000"/>
              </a:srgbClr>
            </a:solidFill>
            <a:ln>
              <a:noFill/>
            </a:ln>
          </p:spPr>
          <p:txBody>
            <a:bodyPr spcFirstLastPara="1" wrap="square" lIns="84500" tIns="42225" rIns="84500" bIns="422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77" name="Google Shape;3290;g36f95115970_1_0">
              <a:extLst>
                <a:ext uri="{FF2B5EF4-FFF2-40B4-BE49-F238E27FC236}">
                  <a16:creationId xmlns:a16="http://schemas.microsoft.com/office/drawing/2014/main" id="{A45B781E-6032-00D4-9541-FFC0B50AC04D}"/>
                </a:ext>
              </a:extLst>
            </p:cNvPr>
            <p:cNvSpPr/>
            <p:nvPr/>
          </p:nvSpPr>
          <p:spPr>
            <a:xfrm rot="-5400000">
              <a:off x="5060499" y="355880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rgbClr val="005C8A">
                <a:alpha val="44313"/>
              </a:srgbClr>
            </a:solidFill>
            <a:ln>
              <a:noFill/>
            </a:ln>
          </p:spPr>
          <p:txBody>
            <a:bodyPr spcFirstLastPara="1" wrap="square" lIns="84500" tIns="42225" rIns="84500" bIns="422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78" name="Google Shape;3291;g36f95115970_1_0">
              <a:extLst>
                <a:ext uri="{FF2B5EF4-FFF2-40B4-BE49-F238E27FC236}">
                  <a16:creationId xmlns:a16="http://schemas.microsoft.com/office/drawing/2014/main" id="{42FFF100-7C4E-04F5-6BB2-94DC54786427}"/>
                </a:ext>
              </a:extLst>
            </p:cNvPr>
            <p:cNvSpPr/>
            <p:nvPr/>
          </p:nvSpPr>
          <p:spPr>
            <a:xfrm rot="-5400000">
              <a:off x="5060499" y="3446180"/>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rgbClr val="005C8A"/>
            </a:solidFill>
            <a:ln>
              <a:noFill/>
            </a:ln>
          </p:spPr>
          <p:txBody>
            <a:bodyPr spcFirstLastPara="1" wrap="square" lIns="84500" tIns="42225" rIns="84500" bIns="422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005B84"/>
                </a:solidFill>
                <a:effectLst/>
                <a:uLnTx/>
                <a:uFillTx/>
                <a:latin typeface="Arial"/>
                <a:ea typeface="Arial"/>
                <a:cs typeface="Arial"/>
                <a:sym typeface="Arial"/>
              </a:endParaRPr>
            </a:p>
          </p:txBody>
        </p:sp>
      </p:grpSp>
      <p:sp>
        <p:nvSpPr>
          <p:cNvPr id="79" name="Google Shape;3292;g36f95115970_1_0">
            <a:extLst>
              <a:ext uri="{FF2B5EF4-FFF2-40B4-BE49-F238E27FC236}">
                <a16:creationId xmlns:a16="http://schemas.microsoft.com/office/drawing/2014/main" id="{CEFCE35B-BDF6-4D4C-054F-8C45CED025CB}"/>
              </a:ext>
            </a:extLst>
          </p:cNvPr>
          <p:cNvSpPr/>
          <p:nvPr/>
        </p:nvSpPr>
        <p:spPr>
          <a:xfrm>
            <a:off x="5115309" y="3599409"/>
            <a:ext cx="334200" cy="179400"/>
          </a:xfrm>
          <a:prstGeom prst="roundRect">
            <a:avLst>
              <a:gd name="adj" fmla="val 50000"/>
            </a:avLst>
          </a:prstGeom>
          <a:solidFill>
            <a:srgbClr val="007B8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P</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0" name="Google Shape;3293;g36f95115970_1_0">
            <a:extLst>
              <a:ext uri="{FF2B5EF4-FFF2-40B4-BE49-F238E27FC236}">
                <a16:creationId xmlns:a16="http://schemas.microsoft.com/office/drawing/2014/main" id="{845A9BBD-5CC3-37F4-A738-FF6D7E979DC3}"/>
              </a:ext>
            </a:extLst>
          </p:cNvPr>
          <p:cNvSpPr/>
          <p:nvPr/>
        </p:nvSpPr>
        <p:spPr>
          <a:xfrm>
            <a:off x="5501477" y="3599409"/>
            <a:ext cx="334200" cy="179400"/>
          </a:xfrm>
          <a:prstGeom prst="roundRect">
            <a:avLst>
              <a:gd name="adj" fmla="val 50000"/>
            </a:avLst>
          </a:prstGeom>
          <a:solidFill>
            <a:srgbClr val="007B8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P</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1" name="Google Shape;3294;g36f95115970_1_0">
            <a:extLst>
              <a:ext uri="{FF2B5EF4-FFF2-40B4-BE49-F238E27FC236}">
                <a16:creationId xmlns:a16="http://schemas.microsoft.com/office/drawing/2014/main" id="{7BACE3F4-85D2-06F3-C487-EFEFC05E6088}"/>
              </a:ext>
            </a:extLst>
          </p:cNvPr>
          <p:cNvSpPr/>
          <p:nvPr/>
        </p:nvSpPr>
        <p:spPr>
          <a:xfrm>
            <a:off x="5883848" y="3599409"/>
            <a:ext cx="334200" cy="179400"/>
          </a:xfrm>
          <a:prstGeom prst="roundRect">
            <a:avLst>
              <a:gd name="adj" fmla="val 50000"/>
            </a:avLst>
          </a:prstGeom>
          <a:solidFill>
            <a:srgbClr val="007B8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P</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2" name="Google Shape;3295;g36f95115970_1_0">
            <a:extLst>
              <a:ext uri="{FF2B5EF4-FFF2-40B4-BE49-F238E27FC236}">
                <a16:creationId xmlns:a16="http://schemas.microsoft.com/office/drawing/2014/main" id="{A13A0B32-048D-8A25-762C-E4E73DAAFEEC}"/>
              </a:ext>
            </a:extLst>
          </p:cNvPr>
          <p:cNvSpPr/>
          <p:nvPr/>
        </p:nvSpPr>
        <p:spPr>
          <a:xfrm>
            <a:off x="5109577" y="3396903"/>
            <a:ext cx="334200" cy="179400"/>
          </a:xfrm>
          <a:prstGeom prst="roundRect">
            <a:avLst>
              <a:gd name="adj" fmla="val 50000"/>
            </a:avLst>
          </a:prstGeom>
          <a:solidFill>
            <a:srgbClr val="007B8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648"/>
              <a:buFont typeface="Arial"/>
              <a:buNone/>
              <a:tabLst/>
              <a:defRPr/>
            </a:pPr>
            <a:r>
              <a:rPr kumimoji="0" lang="en-US" sz="647" b="0" i="0" u="none" strike="noStrike" kern="1200" cap="none" spc="0" normalizeH="0" baseline="0" noProof="0">
                <a:ln>
                  <a:noFill/>
                </a:ln>
                <a:solidFill>
                  <a:srgbClr val="FFFFFF"/>
                </a:solidFill>
                <a:effectLst/>
                <a:uLnTx/>
                <a:uFillTx/>
                <a:latin typeface="Arial"/>
                <a:ea typeface="Arial"/>
                <a:cs typeface="Arial"/>
                <a:sym typeface="Arial"/>
              </a:rPr>
              <a:t>P</a:t>
            </a:r>
            <a:endParaRPr kumimoji="0" sz="1017"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3" name="Google Shape;3296;g36f95115970_1_0">
            <a:extLst>
              <a:ext uri="{FF2B5EF4-FFF2-40B4-BE49-F238E27FC236}">
                <a16:creationId xmlns:a16="http://schemas.microsoft.com/office/drawing/2014/main" id="{7CA07C57-3D29-811E-7E0A-46BBB0BC58D8}"/>
              </a:ext>
            </a:extLst>
          </p:cNvPr>
          <p:cNvSpPr/>
          <p:nvPr/>
        </p:nvSpPr>
        <p:spPr>
          <a:xfrm>
            <a:off x="5495744" y="3396903"/>
            <a:ext cx="334200" cy="179400"/>
          </a:xfrm>
          <a:prstGeom prst="roundRect">
            <a:avLst>
              <a:gd name="adj" fmla="val 50000"/>
            </a:avLst>
          </a:prstGeom>
          <a:solidFill>
            <a:srgbClr val="007B8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P</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4" name="Google Shape;3297;g36f95115970_1_0">
            <a:extLst>
              <a:ext uri="{FF2B5EF4-FFF2-40B4-BE49-F238E27FC236}">
                <a16:creationId xmlns:a16="http://schemas.microsoft.com/office/drawing/2014/main" id="{736EC7DF-1D6D-7969-8E0B-201071729189}"/>
              </a:ext>
            </a:extLst>
          </p:cNvPr>
          <p:cNvSpPr/>
          <p:nvPr/>
        </p:nvSpPr>
        <p:spPr>
          <a:xfrm>
            <a:off x="5878116" y="3396903"/>
            <a:ext cx="334200" cy="179400"/>
          </a:xfrm>
          <a:prstGeom prst="roundRect">
            <a:avLst>
              <a:gd name="adj" fmla="val 50000"/>
            </a:avLst>
          </a:prstGeom>
          <a:solidFill>
            <a:srgbClr val="007B8C"/>
          </a:solidFill>
          <a:ln>
            <a:noFill/>
          </a:ln>
        </p:spPr>
        <p:txBody>
          <a:bodyPr spcFirstLastPara="1" wrap="square" lIns="71875" tIns="35925" rIns="71875" bIns="35925"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740"/>
              <a:buFont typeface="Arial"/>
              <a:buNone/>
              <a:tabLst/>
              <a:defRPr/>
            </a:pPr>
            <a:r>
              <a:rPr kumimoji="0" lang="en-US" sz="740" b="0" i="0" u="none" strike="noStrike" kern="1200" cap="none" spc="0" normalizeH="0" baseline="0" noProof="0">
                <a:ln>
                  <a:noFill/>
                </a:ln>
                <a:solidFill>
                  <a:srgbClr val="FFFFFF"/>
                </a:solidFill>
                <a:effectLst/>
                <a:uLnTx/>
                <a:uFillTx/>
                <a:latin typeface="Arial"/>
                <a:ea typeface="Arial"/>
                <a:cs typeface="Arial"/>
                <a:sym typeface="Arial"/>
              </a:rPr>
              <a:t>P</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5" name="Google Shape;3298;g36f95115970_1_0">
            <a:extLst>
              <a:ext uri="{FF2B5EF4-FFF2-40B4-BE49-F238E27FC236}">
                <a16:creationId xmlns:a16="http://schemas.microsoft.com/office/drawing/2014/main" id="{14593921-5F6D-2BFA-DA65-37A87E194BEB}"/>
              </a:ext>
            </a:extLst>
          </p:cNvPr>
          <p:cNvSpPr txBox="1"/>
          <p:nvPr/>
        </p:nvSpPr>
        <p:spPr>
          <a:xfrm>
            <a:off x="4936881" y="3910931"/>
            <a:ext cx="1441200" cy="1494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971"/>
              <a:buFont typeface="Arial"/>
              <a:buNone/>
              <a:tabLst/>
              <a:defRPr/>
            </a:pPr>
            <a:r>
              <a:rPr kumimoji="0" lang="en-US" sz="971" b="0" i="0" u="none" strike="noStrike" kern="1200" cap="none" spc="0" normalizeH="0" baseline="0" noProof="0">
                <a:ln>
                  <a:noFill/>
                </a:ln>
                <a:solidFill>
                  <a:srgbClr val="000000"/>
                </a:solidFill>
                <a:effectLst/>
                <a:uLnTx/>
                <a:uFillTx/>
                <a:latin typeface="Arial"/>
                <a:ea typeface="Arial"/>
                <a:cs typeface="Arial"/>
                <a:sym typeface="Arial"/>
              </a:rPr>
              <a:t>vSphere Pods</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6" name="Google Shape;3299;g36f95115970_1_0">
            <a:extLst>
              <a:ext uri="{FF2B5EF4-FFF2-40B4-BE49-F238E27FC236}">
                <a16:creationId xmlns:a16="http://schemas.microsoft.com/office/drawing/2014/main" id="{63B3AB8A-54EB-B569-1082-A5273A565111}"/>
              </a:ext>
            </a:extLst>
          </p:cNvPr>
          <p:cNvSpPr/>
          <p:nvPr/>
        </p:nvSpPr>
        <p:spPr>
          <a:xfrm>
            <a:off x="731302" y="5562552"/>
            <a:ext cx="6056700" cy="391800"/>
          </a:xfrm>
          <a:prstGeom prst="roundRect">
            <a:avLst>
              <a:gd name="adj" fmla="val 8857"/>
            </a:avLst>
          </a:prstGeom>
          <a:gradFill>
            <a:gsLst>
              <a:gs pos="0">
                <a:srgbClr val="6C4B8F"/>
              </a:gs>
              <a:gs pos="100000">
                <a:srgbClr val="005B84"/>
              </a:gs>
            </a:gsLst>
            <a:lin ang="0" scaled="0"/>
          </a:gradFill>
          <a:ln>
            <a:noFill/>
          </a:ln>
          <a:effectLst>
            <a:reflection stA="41000" endPos="31000" dist="46990" dir="5400000" fadeDir="5400012" sy="-100000" algn="bl" rotWithShape="0"/>
          </a:effectLst>
        </p:spPr>
        <p:txBody>
          <a:bodyPr spcFirstLastPara="1" wrap="square" lIns="84575" tIns="42275" rIns="84575" bIns="42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95"/>
              <a:buFont typeface="Arial"/>
              <a:buNone/>
              <a:tabLst/>
              <a:defRPr/>
            </a:pPr>
            <a:endParaRPr kumimoji="0" sz="1295"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87" name="Google Shape;3300;g36f95115970_1_0">
            <a:extLst>
              <a:ext uri="{FF2B5EF4-FFF2-40B4-BE49-F238E27FC236}">
                <a16:creationId xmlns:a16="http://schemas.microsoft.com/office/drawing/2014/main" id="{FDD26505-4260-59F2-09C9-196B8D4F7F6F}"/>
              </a:ext>
            </a:extLst>
          </p:cNvPr>
          <p:cNvSpPr txBox="1"/>
          <p:nvPr/>
        </p:nvSpPr>
        <p:spPr>
          <a:xfrm>
            <a:off x="3357698" y="5665519"/>
            <a:ext cx="801600" cy="19920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295"/>
              <a:buFont typeface="Arial"/>
              <a:buNone/>
              <a:tabLst/>
              <a:defRPr/>
            </a:pPr>
            <a:r>
              <a:rPr kumimoji="0" lang="en-US" sz="1295" b="0" i="0" u="none" strike="noStrike" kern="1200" cap="none" spc="0" normalizeH="0" baseline="0" noProof="0">
                <a:ln>
                  <a:noFill/>
                </a:ln>
                <a:solidFill>
                  <a:srgbClr val="FFFFFF"/>
                </a:solidFill>
                <a:effectLst/>
                <a:uLnTx/>
                <a:uFillTx/>
                <a:latin typeface="Arial"/>
                <a:ea typeface="Arial"/>
                <a:cs typeface="Arial"/>
                <a:sym typeface="Arial"/>
              </a:rPr>
              <a:t>vSphere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88" name="Google Shape;3301;g36f95115970_1_0">
            <a:extLst>
              <a:ext uri="{FF2B5EF4-FFF2-40B4-BE49-F238E27FC236}">
                <a16:creationId xmlns:a16="http://schemas.microsoft.com/office/drawing/2014/main" id="{D0A4F073-1BFF-40F9-4D13-6E1D77CCBC76}"/>
              </a:ext>
            </a:extLst>
          </p:cNvPr>
          <p:cNvSpPr txBox="1"/>
          <p:nvPr/>
        </p:nvSpPr>
        <p:spPr>
          <a:xfrm>
            <a:off x="5076838" y="5206993"/>
            <a:ext cx="1161000" cy="1566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srgbClr val="1B1D36"/>
              </a:buClr>
              <a:buSzPts val="1018"/>
              <a:buFont typeface="Arial"/>
              <a:buNone/>
              <a:tabLst/>
              <a:defRPr/>
            </a:pPr>
            <a:r>
              <a:rPr kumimoji="0" lang="en-US" sz="1017" b="0" i="0" u="none" strike="noStrike" kern="1200" cap="none" spc="0" normalizeH="0" baseline="0" noProof="0">
                <a:ln>
                  <a:noFill/>
                </a:ln>
                <a:solidFill>
                  <a:srgbClr val="1B1D36"/>
                </a:solidFill>
                <a:effectLst/>
                <a:uLnTx/>
                <a:uFillTx/>
                <a:latin typeface="Arial"/>
                <a:ea typeface="Arial"/>
                <a:cs typeface="Arial"/>
                <a:sym typeface="Arial"/>
              </a:rPr>
              <a:t>Secret Store</a:t>
            </a: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89" name="Google Shape;3302;g36f95115970_1_0">
            <a:extLst>
              <a:ext uri="{FF2B5EF4-FFF2-40B4-BE49-F238E27FC236}">
                <a16:creationId xmlns:a16="http://schemas.microsoft.com/office/drawing/2014/main" id="{B46E4865-DB87-6147-F898-5E451286092D}"/>
              </a:ext>
            </a:extLst>
          </p:cNvPr>
          <p:cNvGrpSpPr/>
          <p:nvPr/>
        </p:nvGrpSpPr>
        <p:grpSpPr>
          <a:xfrm>
            <a:off x="3150201" y="6134453"/>
            <a:ext cx="1243871" cy="200080"/>
            <a:chOff x="3604782" y="5211713"/>
            <a:chExt cx="1344725" cy="216303"/>
          </a:xfrm>
        </p:grpSpPr>
        <p:grpSp>
          <p:nvGrpSpPr>
            <p:cNvPr id="90" name="Google Shape;3303;g36f95115970_1_0">
              <a:extLst>
                <a:ext uri="{FF2B5EF4-FFF2-40B4-BE49-F238E27FC236}">
                  <a16:creationId xmlns:a16="http://schemas.microsoft.com/office/drawing/2014/main" id="{C68CFA00-4F08-158E-94FA-431D5C01DCD4}"/>
                </a:ext>
              </a:extLst>
            </p:cNvPr>
            <p:cNvGrpSpPr/>
            <p:nvPr/>
          </p:nvGrpSpPr>
          <p:grpSpPr>
            <a:xfrm>
              <a:off x="4468307" y="5211713"/>
              <a:ext cx="481200" cy="216303"/>
              <a:chOff x="9559097" y="5270063"/>
              <a:chExt cx="481200" cy="216303"/>
            </a:xfrm>
          </p:grpSpPr>
          <p:sp>
            <p:nvSpPr>
              <p:cNvPr id="100" name="Google Shape;3304;g36f95115970_1_0">
                <a:extLst>
                  <a:ext uri="{FF2B5EF4-FFF2-40B4-BE49-F238E27FC236}">
                    <a16:creationId xmlns:a16="http://schemas.microsoft.com/office/drawing/2014/main" id="{EA490065-E5E5-2278-A6BE-FCA9DE7BD960}"/>
                  </a:ext>
                </a:extLst>
              </p:cNvPr>
              <p:cNvSpPr/>
              <p:nvPr/>
            </p:nvSpPr>
            <p:spPr>
              <a:xfrm>
                <a:off x="9559097" y="5319713"/>
                <a:ext cx="481200" cy="116700"/>
              </a:xfrm>
              <a:prstGeom prst="rect">
                <a:avLst/>
              </a:prstGeom>
              <a:solidFill>
                <a:srgbClr val="FFFFFF"/>
              </a:solidFill>
              <a:ln>
                <a:noFill/>
              </a:ln>
            </p:spPr>
            <p:txBody>
              <a:bodyPr spcFirstLastPara="1" wrap="square" lIns="84575" tIns="84575" rIns="84575" bIns="845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101" name="Google Shape;3305;g36f95115970_1_0">
                <a:extLst>
                  <a:ext uri="{FF2B5EF4-FFF2-40B4-BE49-F238E27FC236}">
                    <a16:creationId xmlns:a16="http://schemas.microsoft.com/office/drawing/2014/main" id="{86AFCC35-8107-4090-2236-6D2E94B1C814}"/>
                  </a:ext>
                </a:extLst>
              </p:cNvPr>
              <p:cNvSpPr/>
              <p:nvPr/>
            </p:nvSpPr>
            <p:spPr>
              <a:xfrm>
                <a:off x="9691694" y="5270063"/>
                <a:ext cx="216303" cy="216303"/>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rgbClr val="005C8A"/>
              </a:soli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91" name="Google Shape;3306;g36f95115970_1_0">
              <a:extLst>
                <a:ext uri="{FF2B5EF4-FFF2-40B4-BE49-F238E27FC236}">
                  <a16:creationId xmlns:a16="http://schemas.microsoft.com/office/drawing/2014/main" id="{72198EC8-CD99-334E-CFA2-E485E32A4309}"/>
                </a:ext>
              </a:extLst>
            </p:cNvPr>
            <p:cNvGrpSpPr/>
            <p:nvPr/>
          </p:nvGrpSpPr>
          <p:grpSpPr>
            <a:xfrm>
              <a:off x="4059181" y="5211713"/>
              <a:ext cx="437400" cy="215865"/>
              <a:chOff x="9895949" y="1413332"/>
              <a:chExt cx="437400" cy="215865"/>
            </a:xfrm>
          </p:grpSpPr>
          <p:sp>
            <p:nvSpPr>
              <p:cNvPr id="98" name="Google Shape;3307;g36f95115970_1_0">
                <a:extLst>
                  <a:ext uri="{FF2B5EF4-FFF2-40B4-BE49-F238E27FC236}">
                    <a16:creationId xmlns:a16="http://schemas.microsoft.com/office/drawing/2014/main" id="{B18C2E51-4761-C6D5-53BC-A06F19EC0FBB}"/>
                  </a:ext>
                </a:extLst>
              </p:cNvPr>
              <p:cNvSpPr/>
              <p:nvPr/>
            </p:nvSpPr>
            <p:spPr>
              <a:xfrm>
                <a:off x="9895949" y="1462982"/>
                <a:ext cx="437400" cy="116700"/>
              </a:xfrm>
              <a:prstGeom prst="rect">
                <a:avLst/>
              </a:prstGeom>
              <a:solidFill>
                <a:srgbClr val="FFFFFF"/>
              </a:solidFill>
              <a:ln>
                <a:noFill/>
              </a:ln>
            </p:spPr>
            <p:txBody>
              <a:bodyPr spcFirstLastPara="1" wrap="square" lIns="84575" tIns="84575" rIns="84575" bIns="845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005B84"/>
                  </a:solidFill>
                  <a:effectLst/>
                  <a:uLnTx/>
                  <a:uFillTx/>
                  <a:latin typeface="Arial"/>
                  <a:ea typeface="Arial"/>
                  <a:cs typeface="Arial"/>
                  <a:sym typeface="Arial"/>
                </a:endParaRPr>
              </a:p>
            </p:txBody>
          </p:sp>
          <p:sp>
            <p:nvSpPr>
              <p:cNvPr id="99" name="Google Shape;3308;g36f95115970_1_0">
                <a:extLst>
                  <a:ext uri="{FF2B5EF4-FFF2-40B4-BE49-F238E27FC236}">
                    <a16:creationId xmlns:a16="http://schemas.microsoft.com/office/drawing/2014/main" id="{4DF9AF80-F14B-6C30-2E83-73359AB21C49}"/>
                  </a:ext>
                </a:extLst>
              </p:cNvPr>
              <p:cNvSpPr/>
              <p:nvPr/>
            </p:nvSpPr>
            <p:spPr>
              <a:xfrm>
                <a:off x="10018018" y="1413332"/>
                <a:ext cx="193143" cy="215865"/>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rgbClr val="005C8A"/>
              </a:soli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92" name="Google Shape;3309;g36f95115970_1_0">
              <a:extLst>
                <a:ext uri="{FF2B5EF4-FFF2-40B4-BE49-F238E27FC236}">
                  <a16:creationId xmlns:a16="http://schemas.microsoft.com/office/drawing/2014/main" id="{C995967B-CB26-9AFC-50B1-102DBA20CBAA}"/>
                </a:ext>
              </a:extLst>
            </p:cNvPr>
            <p:cNvGrpSpPr/>
            <p:nvPr/>
          </p:nvGrpSpPr>
          <p:grpSpPr>
            <a:xfrm>
              <a:off x="3604782" y="5211768"/>
              <a:ext cx="481200" cy="215999"/>
              <a:chOff x="8526343" y="2145613"/>
              <a:chExt cx="481200" cy="215999"/>
            </a:xfrm>
          </p:grpSpPr>
          <p:sp>
            <p:nvSpPr>
              <p:cNvPr id="93" name="Google Shape;3310;g36f95115970_1_0">
                <a:extLst>
                  <a:ext uri="{FF2B5EF4-FFF2-40B4-BE49-F238E27FC236}">
                    <a16:creationId xmlns:a16="http://schemas.microsoft.com/office/drawing/2014/main" id="{475CD25A-F67F-58A7-8523-B33A1565AE4C}"/>
                  </a:ext>
                </a:extLst>
              </p:cNvPr>
              <p:cNvSpPr/>
              <p:nvPr/>
            </p:nvSpPr>
            <p:spPr>
              <a:xfrm>
                <a:off x="8526343" y="2191830"/>
                <a:ext cx="481200" cy="116700"/>
              </a:xfrm>
              <a:prstGeom prst="rect">
                <a:avLst/>
              </a:prstGeom>
              <a:solidFill>
                <a:srgbClr val="FFFFFF"/>
              </a:solidFill>
              <a:ln>
                <a:noFill/>
              </a:ln>
            </p:spPr>
            <p:txBody>
              <a:bodyPr spcFirstLastPara="1" wrap="square" lIns="84575" tIns="84575" rIns="84575" bIns="845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10"/>
                  <a:buFont typeface="Arial"/>
                  <a:buNone/>
                  <a:tabLst/>
                  <a:defRPr/>
                </a:pPr>
                <a:endParaRPr kumimoji="0" sz="1110" b="0" i="0" u="none" strike="noStrike" kern="1200" cap="none" spc="0" normalizeH="0" baseline="0" noProof="0">
                  <a:ln>
                    <a:noFill/>
                  </a:ln>
                  <a:solidFill>
                    <a:srgbClr val="005B84"/>
                  </a:solidFill>
                  <a:effectLst/>
                  <a:uLnTx/>
                  <a:uFillTx/>
                  <a:latin typeface="Arial"/>
                  <a:ea typeface="Arial"/>
                  <a:cs typeface="Arial"/>
                  <a:sym typeface="Arial"/>
                </a:endParaRPr>
              </a:p>
            </p:txBody>
          </p:sp>
          <p:grpSp>
            <p:nvGrpSpPr>
              <p:cNvPr id="94" name="Google Shape;3311;g36f95115970_1_0">
                <a:extLst>
                  <a:ext uri="{FF2B5EF4-FFF2-40B4-BE49-F238E27FC236}">
                    <a16:creationId xmlns:a16="http://schemas.microsoft.com/office/drawing/2014/main" id="{A8099808-392A-98C0-9F61-231A412F96F9}"/>
                  </a:ext>
                </a:extLst>
              </p:cNvPr>
              <p:cNvGrpSpPr/>
              <p:nvPr/>
            </p:nvGrpSpPr>
            <p:grpSpPr>
              <a:xfrm>
                <a:off x="8658823" y="2145613"/>
                <a:ext cx="215986" cy="215999"/>
                <a:chOff x="3822556" y="5087301"/>
                <a:chExt cx="611339" cy="557273"/>
              </a:xfrm>
            </p:grpSpPr>
            <p:sp>
              <p:nvSpPr>
                <p:cNvPr id="95" name="Google Shape;3312;g36f95115970_1_0">
                  <a:extLst>
                    <a:ext uri="{FF2B5EF4-FFF2-40B4-BE49-F238E27FC236}">
                      <a16:creationId xmlns:a16="http://schemas.microsoft.com/office/drawing/2014/main" id="{AF72ED64-39C8-8B76-F29F-08A2ECA75D65}"/>
                    </a:ext>
                  </a:extLst>
                </p:cNvPr>
                <p:cNvSpPr/>
                <p:nvPr/>
              </p:nvSpPr>
              <p:spPr>
                <a:xfrm>
                  <a:off x="3822556" y="5087301"/>
                  <a:ext cx="611339" cy="161801"/>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rgbClr val="005C8A"/>
                </a:soli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96" name="Google Shape;3313;g36f95115970_1_0">
                  <a:extLst>
                    <a:ext uri="{FF2B5EF4-FFF2-40B4-BE49-F238E27FC236}">
                      <a16:creationId xmlns:a16="http://schemas.microsoft.com/office/drawing/2014/main" id="{DD5276F5-A45F-B416-984A-F1959C902202}"/>
                    </a:ext>
                  </a:extLst>
                </p:cNvPr>
                <p:cNvSpPr/>
                <p:nvPr/>
              </p:nvSpPr>
              <p:spPr>
                <a:xfrm>
                  <a:off x="3822556" y="5284403"/>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rgbClr val="005C8A"/>
                </a:soli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97" name="Google Shape;3314;g36f95115970_1_0">
                  <a:extLst>
                    <a:ext uri="{FF2B5EF4-FFF2-40B4-BE49-F238E27FC236}">
                      <a16:creationId xmlns:a16="http://schemas.microsoft.com/office/drawing/2014/main" id="{A6F0BA34-A122-4FF7-49CB-9ACF16D0A7B7}"/>
                    </a:ext>
                  </a:extLst>
                </p:cNvPr>
                <p:cNvSpPr/>
                <p:nvPr/>
              </p:nvSpPr>
              <p:spPr>
                <a:xfrm>
                  <a:off x="3822556" y="5482729"/>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rgbClr val="005C8A"/>
                </a:soli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grpSp>
        <p:nvGrpSpPr>
          <p:cNvPr id="102" name="Google Shape;3315;g36f95115970_1_0">
            <a:extLst>
              <a:ext uri="{FF2B5EF4-FFF2-40B4-BE49-F238E27FC236}">
                <a16:creationId xmlns:a16="http://schemas.microsoft.com/office/drawing/2014/main" id="{B1B001F5-3783-0F4B-97A6-E0FD5632958F}"/>
              </a:ext>
            </a:extLst>
          </p:cNvPr>
          <p:cNvGrpSpPr/>
          <p:nvPr/>
        </p:nvGrpSpPr>
        <p:grpSpPr>
          <a:xfrm>
            <a:off x="2946752" y="4305385"/>
            <a:ext cx="240455" cy="233065"/>
            <a:chOff x="6844091" y="3272403"/>
            <a:chExt cx="600837" cy="600837"/>
          </a:xfrm>
        </p:grpSpPr>
        <p:grpSp>
          <p:nvGrpSpPr>
            <p:cNvPr id="103" name="Google Shape;3316;g36f95115970_1_0" descr="Router&#10;">
              <a:extLst>
                <a:ext uri="{FF2B5EF4-FFF2-40B4-BE49-F238E27FC236}">
                  <a16:creationId xmlns:a16="http://schemas.microsoft.com/office/drawing/2014/main" id="{D2B1448F-FAF6-703C-27D2-9512E3C274EC}"/>
                </a:ext>
              </a:extLst>
            </p:cNvPr>
            <p:cNvGrpSpPr/>
            <p:nvPr/>
          </p:nvGrpSpPr>
          <p:grpSpPr>
            <a:xfrm>
              <a:off x="6844091" y="3272403"/>
              <a:ext cx="600837" cy="600837"/>
              <a:chOff x="529959" y="1943518"/>
              <a:chExt cx="600837" cy="600837"/>
            </a:xfrm>
          </p:grpSpPr>
          <p:sp>
            <p:nvSpPr>
              <p:cNvPr id="106" name="Google Shape;3317;g36f95115970_1_0">
                <a:extLst>
                  <a:ext uri="{FF2B5EF4-FFF2-40B4-BE49-F238E27FC236}">
                    <a16:creationId xmlns:a16="http://schemas.microsoft.com/office/drawing/2014/main" id="{026C9D7B-61BA-8F5A-D8F0-33BA44E93C05}"/>
                  </a:ext>
                </a:extLst>
              </p:cNvPr>
              <p:cNvSpPr/>
              <p:nvPr/>
            </p:nvSpPr>
            <p:spPr>
              <a:xfrm>
                <a:off x="529959" y="1943518"/>
                <a:ext cx="600837" cy="600837"/>
              </a:xfrm>
              <a:custGeom>
                <a:avLst/>
                <a:gdLst/>
                <a:ahLst/>
                <a:cxnLst/>
                <a:rect l="l" t="t" r="r" b="b"/>
                <a:pathLst>
                  <a:path w="600837" h="600837" extrusionOk="0">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07" name="Google Shape;3318;g36f95115970_1_0">
                <a:extLst>
                  <a:ext uri="{FF2B5EF4-FFF2-40B4-BE49-F238E27FC236}">
                    <a16:creationId xmlns:a16="http://schemas.microsoft.com/office/drawing/2014/main" id="{63A68522-E2EE-2425-C323-2A0F8192AC40}"/>
                  </a:ext>
                </a:extLst>
              </p:cNvPr>
              <p:cNvSpPr/>
              <p:nvPr/>
            </p:nvSpPr>
            <p:spPr>
              <a:xfrm rot="10800000">
                <a:off x="787811" y="2110691"/>
                <a:ext cx="85129" cy="127124"/>
              </a:xfrm>
              <a:custGeom>
                <a:avLst/>
                <a:gdLst/>
                <a:ahLst/>
                <a:cxnLst/>
                <a:rect l="l" t="t" r="r" b="b"/>
                <a:pathLst>
                  <a:path w="85129" h="189738" extrusionOk="0">
                    <a:moveTo>
                      <a:pt x="0" y="73745"/>
                    </a:moveTo>
                    <a:lnTo>
                      <a:pt x="26753" y="73745"/>
                    </a:lnTo>
                    <a:lnTo>
                      <a:pt x="26753" y="189738"/>
                    </a:lnTo>
                    <a:lnTo>
                      <a:pt x="58376" y="189738"/>
                    </a:lnTo>
                    <a:lnTo>
                      <a:pt x="58376" y="73745"/>
                    </a:lnTo>
                    <a:lnTo>
                      <a:pt x="85129" y="73745"/>
                    </a:lnTo>
                    <a:lnTo>
                      <a:pt x="42565" y="0"/>
                    </a:lnTo>
                    <a:lnTo>
                      <a:pt x="0" y="73745"/>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08" name="Google Shape;3319;g36f95115970_1_0">
                <a:extLst>
                  <a:ext uri="{FF2B5EF4-FFF2-40B4-BE49-F238E27FC236}">
                    <a16:creationId xmlns:a16="http://schemas.microsoft.com/office/drawing/2014/main" id="{287F19A0-4841-D1C2-BCB2-F08CF84F6404}"/>
                  </a:ext>
                </a:extLst>
              </p:cNvPr>
              <p:cNvSpPr/>
              <p:nvPr/>
            </p:nvSpPr>
            <p:spPr>
              <a:xfrm rot="10800000">
                <a:off x="787812" y="2267231"/>
                <a:ext cx="85129" cy="114791"/>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04" name="Google Shape;3320;g36f95115970_1_0">
              <a:extLst>
                <a:ext uri="{FF2B5EF4-FFF2-40B4-BE49-F238E27FC236}">
                  <a16:creationId xmlns:a16="http://schemas.microsoft.com/office/drawing/2014/main" id="{E10EB3F7-4E54-33DB-397B-8333EDDECE60}"/>
                </a:ext>
              </a:extLst>
            </p:cNvPr>
            <p:cNvSpPr/>
            <p:nvPr/>
          </p:nvSpPr>
          <p:spPr>
            <a:xfrm rot="5400000">
              <a:off x="7023570" y="3521965"/>
              <a:ext cx="85129" cy="114791"/>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05" name="Google Shape;3321;g36f95115970_1_0">
              <a:extLst>
                <a:ext uri="{FF2B5EF4-FFF2-40B4-BE49-F238E27FC236}">
                  <a16:creationId xmlns:a16="http://schemas.microsoft.com/office/drawing/2014/main" id="{0B589AA8-A594-01E9-B4F5-BEF9DE4B61D1}"/>
                </a:ext>
              </a:extLst>
            </p:cNvPr>
            <p:cNvSpPr/>
            <p:nvPr/>
          </p:nvSpPr>
          <p:spPr>
            <a:xfrm rot="-5400000">
              <a:off x="7180176" y="3525923"/>
              <a:ext cx="85129" cy="114791"/>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09" name="Google Shape;3322;g36f95115970_1_0">
            <a:extLst>
              <a:ext uri="{FF2B5EF4-FFF2-40B4-BE49-F238E27FC236}">
                <a16:creationId xmlns:a16="http://schemas.microsoft.com/office/drawing/2014/main" id="{7B523F7E-4A3B-5F60-D3C8-92327BC7E814}"/>
              </a:ext>
            </a:extLst>
          </p:cNvPr>
          <p:cNvGrpSpPr/>
          <p:nvPr/>
        </p:nvGrpSpPr>
        <p:grpSpPr>
          <a:xfrm>
            <a:off x="4813884" y="4325525"/>
            <a:ext cx="240455" cy="233065"/>
            <a:chOff x="6844091" y="3272403"/>
            <a:chExt cx="600837" cy="600837"/>
          </a:xfrm>
        </p:grpSpPr>
        <p:grpSp>
          <p:nvGrpSpPr>
            <p:cNvPr id="110" name="Google Shape;3323;g36f95115970_1_0" descr="Router&#10;">
              <a:extLst>
                <a:ext uri="{FF2B5EF4-FFF2-40B4-BE49-F238E27FC236}">
                  <a16:creationId xmlns:a16="http://schemas.microsoft.com/office/drawing/2014/main" id="{16533E77-EC58-5E8D-5938-D4847B396C52}"/>
                </a:ext>
              </a:extLst>
            </p:cNvPr>
            <p:cNvGrpSpPr/>
            <p:nvPr/>
          </p:nvGrpSpPr>
          <p:grpSpPr>
            <a:xfrm>
              <a:off x="6844091" y="3272403"/>
              <a:ext cx="600837" cy="600837"/>
              <a:chOff x="529959" y="1943518"/>
              <a:chExt cx="600837" cy="600837"/>
            </a:xfrm>
          </p:grpSpPr>
          <p:sp>
            <p:nvSpPr>
              <p:cNvPr id="113" name="Google Shape;3324;g36f95115970_1_0">
                <a:extLst>
                  <a:ext uri="{FF2B5EF4-FFF2-40B4-BE49-F238E27FC236}">
                    <a16:creationId xmlns:a16="http://schemas.microsoft.com/office/drawing/2014/main" id="{A2AADB0B-4578-0C85-D780-48B9591A7B28}"/>
                  </a:ext>
                </a:extLst>
              </p:cNvPr>
              <p:cNvSpPr/>
              <p:nvPr/>
            </p:nvSpPr>
            <p:spPr>
              <a:xfrm>
                <a:off x="529959" y="1943518"/>
                <a:ext cx="600837" cy="600837"/>
              </a:xfrm>
              <a:custGeom>
                <a:avLst/>
                <a:gdLst/>
                <a:ahLst/>
                <a:cxnLst/>
                <a:rect l="l" t="t" r="r" b="b"/>
                <a:pathLst>
                  <a:path w="600837" h="600837" extrusionOk="0">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4" name="Google Shape;3325;g36f95115970_1_0">
                <a:extLst>
                  <a:ext uri="{FF2B5EF4-FFF2-40B4-BE49-F238E27FC236}">
                    <a16:creationId xmlns:a16="http://schemas.microsoft.com/office/drawing/2014/main" id="{5FEF9844-A2E2-B79B-2281-B37D9B8D51E3}"/>
                  </a:ext>
                </a:extLst>
              </p:cNvPr>
              <p:cNvSpPr/>
              <p:nvPr/>
            </p:nvSpPr>
            <p:spPr>
              <a:xfrm rot="10800000">
                <a:off x="787811" y="2110691"/>
                <a:ext cx="85129" cy="127124"/>
              </a:xfrm>
              <a:custGeom>
                <a:avLst/>
                <a:gdLst/>
                <a:ahLst/>
                <a:cxnLst/>
                <a:rect l="l" t="t" r="r" b="b"/>
                <a:pathLst>
                  <a:path w="85129" h="189738" extrusionOk="0">
                    <a:moveTo>
                      <a:pt x="0" y="73745"/>
                    </a:moveTo>
                    <a:lnTo>
                      <a:pt x="26753" y="73745"/>
                    </a:lnTo>
                    <a:lnTo>
                      <a:pt x="26753" y="189738"/>
                    </a:lnTo>
                    <a:lnTo>
                      <a:pt x="58376" y="189738"/>
                    </a:lnTo>
                    <a:lnTo>
                      <a:pt x="58376" y="73745"/>
                    </a:lnTo>
                    <a:lnTo>
                      <a:pt x="85129" y="73745"/>
                    </a:lnTo>
                    <a:lnTo>
                      <a:pt x="42565" y="0"/>
                    </a:lnTo>
                    <a:lnTo>
                      <a:pt x="0" y="73745"/>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5" name="Google Shape;3326;g36f95115970_1_0">
                <a:extLst>
                  <a:ext uri="{FF2B5EF4-FFF2-40B4-BE49-F238E27FC236}">
                    <a16:creationId xmlns:a16="http://schemas.microsoft.com/office/drawing/2014/main" id="{BF224FB4-7F83-05FA-9447-045C76B77AA8}"/>
                  </a:ext>
                </a:extLst>
              </p:cNvPr>
              <p:cNvSpPr/>
              <p:nvPr/>
            </p:nvSpPr>
            <p:spPr>
              <a:xfrm rot="10800000">
                <a:off x="787812" y="2267231"/>
                <a:ext cx="85129" cy="114791"/>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11" name="Google Shape;3327;g36f95115970_1_0">
              <a:extLst>
                <a:ext uri="{FF2B5EF4-FFF2-40B4-BE49-F238E27FC236}">
                  <a16:creationId xmlns:a16="http://schemas.microsoft.com/office/drawing/2014/main" id="{544F3F1D-829A-8B78-3319-4BFB09E8E223}"/>
                </a:ext>
              </a:extLst>
            </p:cNvPr>
            <p:cNvSpPr/>
            <p:nvPr/>
          </p:nvSpPr>
          <p:spPr>
            <a:xfrm rot="5400000">
              <a:off x="7023570" y="3521965"/>
              <a:ext cx="85129" cy="114791"/>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2" name="Google Shape;3328;g36f95115970_1_0">
              <a:extLst>
                <a:ext uri="{FF2B5EF4-FFF2-40B4-BE49-F238E27FC236}">
                  <a16:creationId xmlns:a16="http://schemas.microsoft.com/office/drawing/2014/main" id="{3F2776B1-687A-00B5-1BB2-B4C8E45C0594}"/>
                </a:ext>
              </a:extLst>
            </p:cNvPr>
            <p:cNvSpPr/>
            <p:nvPr/>
          </p:nvSpPr>
          <p:spPr>
            <a:xfrm rot="-5400000">
              <a:off x="7180176" y="3525923"/>
              <a:ext cx="85129" cy="114791"/>
            </a:xfrm>
            <a:custGeom>
              <a:avLst/>
              <a:gdLst/>
              <a:ahLst/>
              <a:cxnLst/>
              <a:rect l="l" t="t" r="r" b="b"/>
              <a:pathLst>
                <a:path w="85129" h="189738" extrusionOk="0">
                  <a:moveTo>
                    <a:pt x="58376" y="0"/>
                  </a:moveTo>
                  <a:lnTo>
                    <a:pt x="26753" y="0"/>
                  </a:lnTo>
                  <a:lnTo>
                    <a:pt x="26753" y="115993"/>
                  </a:lnTo>
                  <a:lnTo>
                    <a:pt x="0" y="115993"/>
                  </a:lnTo>
                  <a:lnTo>
                    <a:pt x="42565" y="189738"/>
                  </a:lnTo>
                  <a:lnTo>
                    <a:pt x="85129" y="115993"/>
                  </a:lnTo>
                  <a:lnTo>
                    <a:pt x="58376" y="115993"/>
                  </a:lnTo>
                  <a:lnTo>
                    <a:pt x="58376" y="0"/>
                  </a:lnTo>
                  <a:close/>
                </a:path>
              </a:pathLst>
            </a:custGeom>
            <a:solidFill>
              <a:srgbClr val="005C8A"/>
            </a:solidFill>
            <a:ln w="9525" cap="flat" cmpd="sng">
              <a:solidFill>
                <a:srgbClr val="FFFFFF"/>
              </a:solidFill>
              <a:prstDash val="solid"/>
              <a:round/>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116" name="Google Shape;3329;g36f95115970_1_0">
            <a:extLst>
              <a:ext uri="{FF2B5EF4-FFF2-40B4-BE49-F238E27FC236}">
                <a16:creationId xmlns:a16="http://schemas.microsoft.com/office/drawing/2014/main" id="{ADEF85C6-6AB0-D840-4AB3-9B2671C6ED96}"/>
              </a:ext>
            </a:extLst>
          </p:cNvPr>
          <p:cNvGrpSpPr/>
          <p:nvPr/>
        </p:nvGrpSpPr>
        <p:grpSpPr>
          <a:xfrm>
            <a:off x="5495333" y="2953617"/>
            <a:ext cx="314746" cy="370588"/>
            <a:chOff x="9224614" y="3965018"/>
            <a:chExt cx="340266" cy="400636"/>
          </a:xfrm>
        </p:grpSpPr>
        <p:sp>
          <p:nvSpPr>
            <p:cNvPr id="117" name="Google Shape;3330;g36f95115970_1_0">
              <a:extLst>
                <a:ext uri="{FF2B5EF4-FFF2-40B4-BE49-F238E27FC236}">
                  <a16:creationId xmlns:a16="http://schemas.microsoft.com/office/drawing/2014/main" id="{73D446C3-8876-70D1-0C5D-AB9C01E0FDA7}"/>
                </a:ext>
              </a:extLst>
            </p:cNvPr>
            <p:cNvSpPr/>
            <p:nvPr/>
          </p:nvSpPr>
          <p:spPr>
            <a:xfrm>
              <a:off x="9333228" y="4074049"/>
              <a:ext cx="123273" cy="183220"/>
            </a:xfrm>
            <a:custGeom>
              <a:avLst/>
              <a:gdLst/>
              <a:ahLst/>
              <a:cxnLst/>
              <a:rect l="l" t="t" r="r" b="b"/>
              <a:pathLst>
                <a:path w="184678" h="274487" extrusionOk="0">
                  <a:moveTo>
                    <a:pt x="146731" y="107518"/>
                  </a:moveTo>
                  <a:lnTo>
                    <a:pt x="146731" y="55024"/>
                  </a:lnTo>
                  <a:cubicBezTo>
                    <a:pt x="146731" y="24666"/>
                    <a:pt x="124595" y="0"/>
                    <a:pt x="96766" y="0"/>
                  </a:cubicBezTo>
                  <a:lnTo>
                    <a:pt x="88544" y="0"/>
                  </a:lnTo>
                  <a:cubicBezTo>
                    <a:pt x="61349" y="0"/>
                    <a:pt x="38580" y="24666"/>
                    <a:pt x="38580" y="55024"/>
                  </a:cubicBezTo>
                  <a:lnTo>
                    <a:pt x="38580" y="107518"/>
                  </a:lnTo>
                  <a:cubicBezTo>
                    <a:pt x="15179" y="124595"/>
                    <a:pt x="0" y="151790"/>
                    <a:pt x="0" y="182148"/>
                  </a:cubicBezTo>
                  <a:cubicBezTo>
                    <a:pt x="0" y="233378"/>
                    <a:pt x="41110" y="274488"/>
                    <a:pt x="92339" y="274488"/>
                  </a:cubicBezTo>
                  <a:cubicBezTo>
                    <a:pt x="143568" y="274488"/>
                    <a:pt x="184678" y="233378"/>
                    <a:pt x="184678" y="182148"/>
                  </a:cubicBezTo>
                  <a:cubicBezTo>
                    <a:pt x="184678" y="151158"/>
                    <a:pt x="169499" y="123962"/>
                    <a:pt x="146731" y="107518"/>
                  </a:cubicBezTo>
                  <a:close/>
                  <a:moveTo>
                    <a:pt x="53759" y="55024"/>
                  </a:moveTo>
                  <a:cubicBezTo>
                    <a:pt x="53759" y="33520"/>
                    <a:pt x="68938" y="15812"/>
                    <a:pt x="87912" y="15812"/>
                  </a:cubicBezTo>
                  <a:lnTo>
                    <a:pt x="96134" y="15812"/>
                  </a:lnTo>
                  <a:cubicBezTo>
                    <a:pt x="115108" y="15812"/>
                    <a:pt x="130287" y="33520"/>
                    <a:pt x="130287" y="55024"/>
                  </a:cubicBezTo>
                  <a:lnTo>
                    <a:pt x="130287" y="98031"/>
                  </a:lnTo>
                  <a:cubicBezTo>
                    <a:pt x="118902" y="92972"/>
                    <a:pt x="105621" y="89809"/>
                    <a:pt x="91707" y="89809"/>
                  </a:cubicBezTo>
                  <a:cubicBezTo>
                    <a:pt x="77793" y="89809"/>
                    <a:pt x="65143" y="92972"/>
                    <a:pt x="53127" y="98031"/>
                  </a:cubicBezTo>
                  <a:lnTo>
                    <a:pt x="53127" y="55024"/>
                  </a:lnTo>
                  <a:close/>
                  <a:moveTo>
                    <a:pt x="92339" y="258676"/>
                  </a:moveTo>
                  <a:cubicBezTo>
                    <a:pt x="49964" y="258676"/>
                    <a:pt x="15812" y="224523"/>
                    <a:pt x="15812" y="182148"/>
                  </a:cubicBezTo>
                  <a:cubicBezTo>
                    <a:pt x="15812" y="139774"/>
                    <a:pt x="49964" y="105621"/>
                    <a:pt x="92339" y="105621"/>
                  </a:cubicBezTo>
                  <a:cubicBezTo>
                    <a:pt x="134714" y="105621"/>
                    <a:pt x="168867" y="139774"/>
                    <a:pt x="168867" y="182148"/>
                  </a:cubicBezTo>
                  <a:cubicBezTo>
                    <a:pt x="168867" y="224523"/>
                    <a:pt x="134714" y="258676"/>
                    <a:pt x="92339" y="258676"/>
                  </a:cubicBezTo>
                  <a:close/>
                </a:path>
              </a:pathLst>
            </a:custGeom>
            <a:gradFill>
              <a:gsLst>
                <a:gs pos="0">
                  <a:srgbClr val="6C4B94"/>
                </a:gs>
                <a:gs pos="25000">
                  <a:srgbClr val="005C8A"/>
                </a:gs>
                <a:gs pos="50000">
                  <a:srgbClr val="0098C7"/>
                </a:gs>
                <a:gs pos="75000">
                  <a:srgbClr val="007B8C"/>
                </a:gs>
                <a:gs pos="100000">
                  <a:srgbClr val="61A60E"/>
                </a:gs>
              </a:gsLst>
              <a:lin ang="0" scaled="0"/>
            </a:gra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18" name="Google Shape;3331;g36f95115970_1_0">
              <a:extLst>
                <a:ext uri="{FF2B5EF4-FFF2-40B4-BE49-F238E27FC236}">
                  <a16:creationId xmlns:a16="http://schemas.microsoft.com/office/drawing/2014/main" id="{7C9587D5-FCCA-7DF9-9EEA-33D52B1FACBD}"/>
                </a:ext>
              </a:extLst>
            </p:cNvPr>
            <p:cNvSpPr/>
            <p:nvPr/>
          </p:nvSpPr>
          <p:spPr>
            <a:xfrm>
              <a:off x="9224614" y="3965018"/>
              <a:ext cx="340266" cy="400636"/>
            </a:xfrm>
            <a:custGeom>
              <a:avLst/>
              <a:gdLst/>
              <a:ahLst/>
              <a:cxnLst/>
              <a:rect l="l" t="t" r="r" b="b"/>
              <a:pathLst>
                <a:path w="509762" h="600204" extrusionOk="0">
                  <a:moveTo>
                    <a:pt x="254881" y="600205"/>
                  </a:moveTo>
                  <a:lnTo>
                    <a:pt x="246027" y="597042"/>
                  </a:lnTo>
                  <a:cubicBezTo>
                    <a:pt x="235908" y="593248"/>
                    <a:pt x="0" y="500908"/>
                    <a:pt x="0" y="264368"/>
                  </a:cubicBezTo>
                  <a:lnTo>
                    <a:pt x="0" y="111313"/>
                  </a:lnTo>
                  <a:lnTo>
                    <a:pt x="18974" y="106253"/>
                  </a:lnTo>
                  <a:cubicBezTo>
                    <a:pt x="58186" y="95501"/>
                    <a:pt x="97399" y="82220"/>
                    <a:pt x="134714" y="65143"/>
                  </a:cubicBezTo>
                  <a:cubicBezTo>
                    <a:pt x="171397" y="49332"/>
                    <a:pt x="207447" y="30358"/>
                    <a:pt x="240967" y="8854"/>
                  </a:cubicBezTo>
                  <a:lnTo>
                    <a:pt x="254881" y="0"/>
                  </a:lnTo>
                  <a:lnTo>
                    <a:pt x="268796" y="8854"/>
                  </a:lnTo>
                  <a:cubicBezTo>
                    <a:pt x="302948" y="30358"/>
                    <a:pt x="338366" y="49332"/>
                    <a:pt x="375049" y="65143"/>
                  </a:cubicBezTo>
                  <a:cubicBezTo>
                    <a:pt x="412364" y="81587"/>
                    <a:pt x="450944" y="95501"/>
                    <a:pt x="490789" y="106253"/>
                  </a:cubicBezTo>
                  <a:lnTo>
                    <a:pt x="509763" y="111313"/>
                  </a:lnTo>
                  <a:lnTo>
                    <a:pt x="509763" y="264368"/>
                  </a:lnTo>
                  <a:cubicBezTo>
                    <a:pt x="509763" y="496481"/>
                    <a:pt x="289667" y="587555"/>
                    <a:pt x="263103" y="597042"/>
                  </a:cubicBezTo>
                  <a:lnTo>
                    <a:pt x="263103" y="597675"/>
                  </a:lnTo>
                  <a:lnTo>
                    <a:pt x="254881" y="600205"/>
                  </a:lnTo>
                  <a:close/>
                  <a:moveTo>
                    <a:pt x="15812" y="123330"/>
                  </a:moveTo>
                  <a:lnTo>
                    <a:pt x="15812" y="264368"/>
                  </a:lnTo>
                  <a:cubicBezTo>
                    <a:pt x="15812" y="490789"/>
                    <a:pt x="242232" y="578701"/>
                    <a:pt x="251719" y="582496"/>
                  </a:cubicBezTo>
                  <a:lnTo>
                    <a:pt x="254881" y="583761"/>
                  </a:lnTo>
                  <a:lnTo>
                    <a:pt x="259941" y="581863"/>
                  </a:lnTo>
                  <a:cubicBezTo>
                    <a:pt x="273855" y="576804"/>
                    <a:pt x="493951" y="488259"/>
                    <a:pt x="493951" y="264368"/>
                  </a:cubicBezTo>
                  <a:lnTo>
                    <a:pt x="493951" y="123330"/>
                  </a:lnTo>
                  <a:lnTo>
                    <a:pt x="486362" y="121432"/>
                  </a:lnTo>
                  <a:cubicBezTo>
                    <a:pt x="446517" y="110681"/>
                    <a:pt x="406672" y="96766"/>
                    <a:pt x="368724" y="79690"/>
                  </a:cubicBezTo>
                  <a:cubicBezTo>
                    <a:pt x="331409" y="63246"/>
                    <a:pt x="294726" y="44272"/>
                    <a:pt x="260574" y="22769"/>
                  </a:cubicBezTo>
                  <a:lnTo>
                    <a:pt x="254881" y="18974"/>
                  </a:lnTo>
                  <a:lnTo>
                    <a:pt x="249822" y="22136"/>
                  </a:lnTo>
                  <a:cubicBezTo>
                    <a:pt x="215036" y="43640"/>
                    <a:pt x="178986" y="63246"/>
                    <a:pt x="141671" y="79690"/>
                  </a:cubicBezTo>
                  <a:cubicBezTo>
                    <a:pt x="103723" y="96766"/>
                    <a:pt x="63878" y="110681"/>
                    <a:pt x="23401" y="121432"/>
                  </a:cubicBezTo>
                  <a:lnTo>
                    <a:pt x="15812" y="123330"/>
                  </a:lnTo>
                  <a:close/>
                </a:path>
              </a:pathLst>
            </a:custGeom>
            <a:gradFill>
              <a:gsLst>
                <a:gs pos="0">
                  <a:srgbClr val="6C4B94"/>
                </a:gs>
                <a:gs pos="25000">
                  <a:srgbClr val="005C8A"/>
                </a:gs>
                <a:gs pos="50000">
                  <a:srgbClr val="0098C7"/>
                </a:gs>
                <a:gs pos="75000">
                  <a:srgbClr val="007B8C"/>
                </a:gs>
                <a:gs pos="100000">
                  <a:srgbClr val="61A60E"/>
                </a:gs>
              </a:gsLst>
              <a:lin ang="0" scaled="0"/>
            </a:gradFill>
            <a:ln>
              <a:noFill/>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119" name="Google Shape;3332;g36f95115970_1_0">
            <a:extLst>
              <a:ext uri="{FF2B5EF4-FFF2-40B4-BE49-F238E27FC236}">
                <a16:creationId xmlns:a16="http://schemas.microsoft.com/office/drawing/2014/main" id="{3C941B16-6080-29F2-FDFF-0549352B136D}"/>
              </a:ext>
            </a:extLst>
          </p:cNvPr>
          <p:cNvSpPr/>
          <p:nvPr/>
        </p:nvSpPr>
        <p:spPr>
          <a:xfrm rot="10800000" flipH="1">
            <a:off x="5666722" y="2395473"/>
            <a:ext cx="42292" cy="465825"/>
          </a:xfrm>
          <a:custGeom>
            <a:avLst/>
            <a:gdLst/>
            <a:ahLst/>
            <a:cxnLst/>
            <a:rect l="l" t="t" r="r" b="b"/>
            <a:pathLst>
              <a:path w="7821" h="677563" extrusionOk="0">
                <a:moveTo>
                  <a:pt x="0" y="0"/>
                </a:moveTo>
                <a:lnTo>
                  <a:pt x="0" y="677563"/>
                </a:lnTo>
              </a:path>
            </a:pathLst>
          </a:custGeom>
          <a:noFill/>
          <a:ln w="176200" cap="flat" cmpd="sng">
            <a:solidFill>
              <a:srgbClr val="6C4B94"/>
            </a:solidFill>
            <a:prstDash val="solid"/>
            <a:miter lim="8000"/>
            <a:headEnd type="none" w="sm" len="sm"/>
            <a:tailEnd type="none" w="sm" len="sm"/>
          </a:ln>
        </p:spPr>
        <p:txBody>
          <a:bodyPr spcFirstLastPara="1" wrap="square" lIns="84575" tIns="42275" rIns="84575" bIns="422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65"/>
              <a:buFont typeface="Arial"/>
              <a:buNone/>
              <a:tabLst/>
              <a:defRPr/>
            </a:pPr>
            <a:endParaRPr kumimoji="0" sz="1665" b="0" i="0" u="none" strike="noStrike" kern="1200" cap="none" spc="0" normalizeH="0" baseline="0" noProof="0">
              <a:ln>
                <a:noFill/>
              </a:ln>
              <a:solidFill>
                <a:srgbClr val="000000"/>
              </a:solidFill>
              <a:effectLst/>
              <a:uLnTx/>
              <a:uFillTx/>
              <a:latin typeface="Arial"/>
              <a:ea typeface="Arial"/>
              <a:cs typeface="Arial"/>
              <a:sym typeface="Arial"/>
            </a:endParaRPr>
          </a:p>
        </p:txBody>
      </p:sp>
      <p:pic>
        <p:nvPicPr>
          <p:cNvPr id="120" name="Google Shape;3333;g36f95115970_1_0">
            <a:extLst>
              <a:ext uri="{FF2B5EF4-FFF2-40B4-BE49-F238E27FC236}">
                <a16:creationId xmlns:a16="http://schemas.microsoft.com/office/drawing/2014/main" id="{92B3E677-DB95-9CAD-8534-CC897FADD8AF}"/>
              </a:ext>
            </a:extLst>
          </p:cNvPr>
          <p:cNvPicPr preferRelativeResize="0"/>
          <p:nvPr/>
        </p:nvPicPr>
        <p:blipFill rotWithShape="1">
          <a:blip r:embed="rId5">
            <a:alphaModFix/>
          </a:blip>
          <a:srcRect/>
          <a:stretch/>
        </p:blipFill>
        <p:spPr>
          <a:xfrm>
            <a:off x="4797673" y="1192220"/>
            <a:ext cx="1741834" cy="1213841"/>
          </a:xfrm>
          <a:prstGeom prst="rect">
            <a:avLst/>
          </a:prstGeom>
          <a:noFill/>
          <a:ln w="9525" cap="flat" cmpd="sng">
            <a:solidFill>
              <a:srgbClr val="6C4B94"/>
            </a:solidFill>
            <a:prstDash val="solid"/>
            <a:round/>
            <a:headEnd type="none" w="sm" len="sm"/>
            <a:tailEnd type="none" w="sm" len="sm"/>
          </a:ln>
          <a:effectLst>
            <a:outerShdw blurRad="46990" dist="35242" dir="2700000" algn="tl" rotWithShape="0">
              <a:srgbClr val="000000">
                <a:alpha val="40000"/>
              </a:srgbClr>
            </a:outerShdw>
          </a:effectLst>
        </p:spPr>
      </p:pic>
      <p:pic>
        <p:nvPicPr>
          <p:cNvPr id="121" name="Google Shape;3334;g36f95115970_1_0">
            <a:extLst>
              <a:ext uri="{FF2B5EF4-FFF2-40B4-BE49-F238E27FC236}">
                <a16:creationId xmlns:a16="http://schemas.microsoft.com/office/drawing/2014/main" id="{119A3A6D-DF81-E7F5-91FC-E409698F076D}"/>
              </a:ext>
            </a:extLst>
          </p:cNvPr>
          <p:cNvPicPr preferRelativeResize="0"/>
          <p:nvPr/>
        </p:nvPicPr>
        <p:blipFill rotWithShape="1">
          <a:blip r:embed="rId6">
            <a:alphaModFix/>
          </a:blip>
          <a:srcRect r="64711" b="65517"/>
          <a:stretch/>
        </p:blipFill>
        <p:spPr>
          <a:xfrm>
            <a:off x="6091474" y="1423934"/>
            <a:ext cx="1883053" cy="1283219"/>
          </a:xfrm>
          <a:prstGeom prst="rect">
            <a:avLst/>
          </a:prstGeom>
          <a:noFill/>
          <a:ln w="9525" cap="flat" cmpd="sng">
            <a:solidFill>
              <a:srgbClr val="6C4B94"/>
            </a:solidFill>
            <a:prstDash val="solid"/>
            <a:round/>
            <a:headEnd type="none" w="sm" len="sm"/>
            <a:tailEnd type="none" w="sm" len="sm"/>
          </a:ln>
          <a:effectLst>
            <a:outerShdw blurRad="46990" dist="35242" dir="2700000" algn="tl" rotWithShape="0">
              <a:srgbClr val="000000">
                <a:alpha val="40000"/>
              </a:srgbClr>
            </a:outerShdw>
          </a:effectLst>
        </p:spPr>
      </p:pic>
      <p:cxnSp>
        <p:nvCxnSpPr>
          <p:cNvPr id="122" name="Google Shape;3335;g36f95115970_1_0">
            <a:extLst>
              <a:ext uri="{FF2B5EF4-FFF2-40B4-BE49-F238E27FC236}">
                <a16:creationId xmlns:a16="http://schemas.microsoft.com/office/drawing/2014/main" id="{1ACFFCA2-99F7-28F3-81D2-D00081008224}"/>
              </a:ext>
            </a:extLst>
          </p:cNvPr>
          <p:cNvCxnSpPr>
            <a:stCxn id="120" idx="1"/>
            <a:endCxn id="6" idx="3"/>
          </p:cNvCxnSpPr>
          <p:nvPr/>
        </p:nvCxnSpPr>
        <p:spPr>
          <a:xfrm flipH="1">
            <a:off x="2684773" y="1799140"/>
            <a:ext cx="2112900" cy="458700"/>
          </a:xfrm>
          <a:prstGeom prst="curvedConnector3">
            <a:avLst>
              <a:gd name="adj1" fmla="val 49997"/>
            </a:avLst>
          </a:prstGeom>
          <a:noFill/>
          <a:ln w="14675" cap="flat" cmpd="sng">
            <a:solidFill>
              <a:srgbClr val="005A89"/>
            </a:solidFill>
            <a:prstDash val="solid"/>
            <a:round/>
            <a:headEnd type="none" w="sm" len="sm"/>
            <a:tailEnd type="triangle" w="med" len="med"/>
          </a:ln>
        </p:spPr>
      </p:cxnSp>
      <p:cxnSp>
        <p:nvCxnSpPr>
          <p:cNvPr id="123" name="Google Shape;3336;g36f95115970_1_0">
            <a:extLst>
              <a:ext uri="{FF2B5EF4-FFF2-40B4-BE49-F238E27FC236}">
                <a16:creationId xmlns:a16="http://schemas.microsoft.com/office/drawing/2014/main" id="{BC0FA818-3E92-8EE8-F71E-AE0DDC26DF2E}"/>
              </a:ext>
            </a:extLst>
          </p:cNvPr>
          <p:cNvCxnSpPr>
            <a:stCxn id="120" idx="1"/>
            <a:endCxn id="51" idx="3"/>
          </p:cNvCxnSpPr>
          <p:nvPr/>
        </p:nvCxnSpPr>
        <p:spPr>
          <a:xfrm flipH="1">
            <a:off x="4281073" y="1799140"/>
            <a:ext cx="516600" cy="1847700"/>
          </a:xfrm>
          <a:prstGeom prst="curvedConnector3">
            <a:avLst>
              <a:gd name="adj1" fmla="val 50002"/>
            </a:avLst>
          </a:prstGeom>
          <a:noFill/>
          <a:ln w="14675" cap="flat" cmpd="sng">
            <a:solidFill>
              <a:srgbClr val="005A89"/>
            </a:solidFill>
            <a:prstDash val="solid"/>
            <a:round/>
            <a:headEnd type="none" w="sm" len="sm"/>
            <a:tailEnd type="triangle" w="med" len="med"/>
          </a:ln>
        </p:spPr>
      </p:cxnSp>
      <p:sp>
        <p:nvSpPr>
          <p:cNvPr id="124" name="Google Shape;3337;g36f95115970_1_0">
            <a:extLst>
              <a:ext uri="{FF2B5EF4-FFF2-40B4-BE49-F238E27FC236}">
                <a16:creationId xmlns:a16="http://schemas.microsoft.com/office/drawing/2014/main" id="{04A83A63-5486-09E9-08B9-D3738685EAD3}"/>
              </a:ext>
            </a:extLst>
          </p:cNvPr>
          <p:cNvSpPr txBox="1"/>
          <p:nvPr/>
        </p:nvSpPr>
        <p:spPr>
          <a:xfrm>
            <a:off x="3409067" y="2208376"/>
            <a:ext cx="1102800" cy="3603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30000"/>
              </a:lnSpc>
              <a:spcBef>
                <a:spcPts val="0"/>
              </a:spcBef>
              <a:spcAft>
                <a:spcPts val="0"/>
              </a:spcAft>
              <a:buClr>
                <a:srgbClr val="000000"/>
              </a:buClr>
              <a:buSzPts val="1017"/>
              <a:buFont typeface="Arial"/>
              <a:buNone/>
              <a:tabLst/>
              <a:defRPr/>
            </a:pPr>
            <a:r>
              <a:rPr kumimoji="0" lang="en-US" sz="1017" b="0" i="0" u="none" strike="noStrike" kern="1200" cap="none" spc="0" normalizeH="0" baseline="0" noProof="0">
                <a:ln>
                  <a:noFill/>
                </a:ln>
                <a:solidFill>
                  <a:srgbClr val="1B1D36"/>
                </a:solidFill>
                <a:effectLst/>
                <a:uLnTx/>
                <a:uFillTx/>
                <a:latin typeface="Courier New"/>
                <a:ea typeface="Courier New"/>
                <a:cs typeface="Courier New"/>
                <a:sym typeface="Courier New"/>
              </a:rPr>
              <a:t>Secret Injection</a:t>
            </a:r>
            <a:endParaRPr kumimoji="0" sz="1295" b="0" i="0" u="none" strike="noStrike" kern="1200" cap="none" spc="0" normalizeH="0" baseline="0" noProof="0">
              <a:ln>
                <a:noFill/>
              </a:ln>
              <a:solidFill>
                <a:srgbClr val="000000"/>
              </a:solidFill>
              <a:effectLst/>
              <a:uLnTx/>
              <a:uFillTx/>
              <a:latin typeface="Arial"/>
              <a:ea typeface="Arial"/>
              <a:cs typeface="Arial"/>
              <a:sym typeface="Arial"/>
            </a:endParaRPr>
          </a:p>
        </p:txBody>
      </p:sp>
      <p:cxnSp>
        <p:nvCxnSpPr>
          <p:cNvPr id="125" name="Google Shape;3338;g36f95115970_1_0">
            <a:extLst>
              <a:ext uri="{FF2B5EF4-FFF2-40B4-BE49-F238E27FC236}">
                <a16:creationId xmlns:a16="http://schemas.microsoft.com/office/drawing/2014/main" id="{4E3FC0B5-33BF-16E9-C3D2-F56E45E3F3D2}"/>
              </a:ext>
            </a:extLst>
          </p:cNvPr>
          <p:cNvCxnSpPr>
            <a:stCxn id="6" idx="2"/>
            <a:endCxn id="30" idx="0"/>
          </p:cNvCxnSpPr>
          <p:nvPr/>
        </p:nvCxnSpPr>
        <p:spPr>
          <a:xfrm flipH="1">
            <a:off x="1953954" y="2514588"/>
            <a:ext cx="11400" cy="351600"/>
          </a:xfrm>
          <a:prstGeom prst="straightConnector1">
            <a:avLst/>
          </a:prstGeom>
          <a:noFill/>
          <a:ln w="9525" cap="flat" cmpd="sng">
            <a:solidFill>
              <a:schemeClr val="dk2"/>
            </a:solidFill>
            <a:prstDash val="solid"/>
            <a:round/>
            <a:headEnd type="none" w="sm" len="sm"/>
            <a:tailEnd type="triangle" w="med" len="med"/>
          </a:ln>
        </p:spPr>
      </p:cxnSp>
      <p:sp>
        <p:nvSpPr>
          <p:cNvPr id="126" name="Google Shape;3339;g36f95115970_1_0">
            <a:extLst>
              <a:ext uri="{FF2B5EF4-FFF2-40B4-BE49-F238E27FC236}">
                <a16:creationId xmlns:a16="http://schemas.microsoft.com/office/drawing/2014/main" id="{A93D2361-8246-C9AE-4B31-60B301E1ACDE}"/>
              </a:ext>
            </a:extLst>
          </p:cNvPr>
          <p:cNvSpPr txBox="1"/>
          <p:nvPr/>
        </p:nvSpPr>
        <p:spPr>
          <a:xfrm>
            <a:off x="276429" y="1391375"/>
            <a:ext cx="2006100" cy="4587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300"/>
              <a:buFont typeface="Arial"/>
              <a:buNone/>
              <a:tabLst/>
              <a:defRPr/>
            </a:pPr>
            <a:r>
              <a:rPr kumimoji="0" lang="en-US" sz="1300" b="0" i="0" u="none" strike="noStrike" kern="1200" cap="none" spc="0" normalizeH="0" baseline="0" noProof="0">
                <a:ln>
                  <a:noFill/>
                </a:ln>
                <a:solidFill>
                  <a:srgbClr val="000000"/>
                </a:solidFill>
                <a:effectLst/>
                <a:uLnTx/>
                <a:uFillTx/>
                <a:latin typeface="Arial"/>
                <a:ea typeface="Arial"/>
                <a:cs typeface="Arial"/>
                <a:sym typeface="Arial"/>
              </a:rPr>
              <a:t>before, consumers had to manually create this resource</a:t>
            </a:r>
            <a:endParaRPr kumimoji="0" sz="13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27" name="Google Shape;3340;g36f95115970_1_0">
            <a:extLst>
              <a:ext uri="{FF2B5EF4-FFF2-40B4-BE49-F238E27FC236}">
                <a16:creationId xmlns:a16="http://schemas.microsoft.com/office/drawing/2014/main" id="{D9A65904-DB8D-3CD0-5C64-841082E9EB16}"/>
              </a:ext>
            </a:extLst>
          </p:cNvPr>
          <p:cNvGrpSpPr/>
          <p:nvPr/>
        </p:nvGrpSpPr>
        <p:grpSpPr>
          <a:xfrm>
            <a:off x="4714329" y="2010425"/>
            <a:ext cx="3595075" cy="3887700"/>
            <a:chOff x="5045925" y="2010425"/>
            <a:chExt cx="3595075" cy="3887700"/>
          </a:xfrm>
        </p:grpSpPr>
        <p:grpSp>
          <p:nvGrpSpPr>
            <p:cNvPr id="128" name="Google Shape;3341;g36f95115970_1_0">
              <a:extLst>
                <a:ext uri="{FF2B5EF4-FFF2-40B4-BE49-F238E27FC236}">
                  <a16:creationId xmlns:a16="http://schemas.microsoft.com/office/drawing/2014/main" id="{BCF5ADB8-DAAE-5E46-3AB1-39AA621402E9}"/>
                </a:ext>
              </a:extLst>
            </p:cNvPr>
            <p:cNvGrpSpPr/>
            <p:nvPr/>
          </p:nvGrpSpPr>
          <p:grpSpPr>
            <a:xfrm>
              <a:off x="5045925" y="3021425"/>
              <a:ext cx="3595075" cy="2876700"/>
              <a:chOff x="5045925" y="3250025"/>
              <a:chExt cx="3595075" cy="2876700"/>
            </a:xfrm>
          </p:grpSpPr>
          <p:sp>
            <p:nvSpPr>
              <p:cNvPr id="130" name="Google Shape;3342;g36f95115970_1_0">
                <a:extLst>
                  <a:ext uri="{FF2B5EF4-FFF2-40B4-BE49-F238E27FC236}">
                    <a16:creationId xmlns:a16="http://schemas.microsoft.com/office/drawing/2014/main" id="{DE5BAFF7-DEC8-EB43-EC2D-B676BFA908F6}"/>
                  </a:ext>
                </a:extLst>
              </p:cNvPr>
              <p:cNvSpPr/>
              <p:nvPr/>
            </p:nvSpPr>
            <p:spPr>
              <a:xfrm>
                <a:off x="5132800" y="3265025"/>
                <a:ext cx="3508200" cy="3603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131" name="Google Shape;3343;g36f95115970_1_0">
                <a:extLst>
                  <a:ext uri="{FF2B5EF4-FFF2-40B4-BE49-F238E27FC236}">
                    <a16:creationId xmlns:a16="http://schemas.microsoft.com/office/drawing/2014/main" id="{DC14AEC3-F7E5-103C-AE93-330CC794CFED}"/>
                  </a:ext>
                </a:extLst>
              </p:cNvPr>
              <p:cNvGrpSpPr/>
              <p:nvPr/>
            </p:nvGrpSpPr>
            <p:grpSpPr>
              <a:xfrm>
                <a:off x="5045925" y="3250025"/>
                <a:ext cx="3595023" cy="2876700"/>
                <a:chOff x="5195625" y="1837900"/>
                <a:chExt cx="3595023" cy="2876700"/>
              </a:xfrm>
            </p:grpSpPr>
            <p:pic>
              <p:nvPicPr>
                <p:cNvPr id="132" name="Google Shape;3344;g36f95115970_1_0" title="Screenshot 2025-08-13 at 1.46.46 PM.png">
                  <a:extLst>
                    <a:ext uri="{FF2B5EF4-FFF2-40B4-BE49-F238E27FC236}">
                      <a16:creationId xmlns:a16="http://schemas.microsoft.com/office/drawing/2014/main" id="{D6ED65A1-AE4F-96C2-118A-D0D79142DB4E}"/>
                    </a:ext>
                  </a:extLst>
                </p:cNvPr>
                <p:cNvPicPr preferRelativeResize="0"/>
                <p:nvPr/>
              </p:nvPicPr>
              <p:blipFill rotWithShape="1">
                <a:blip r:embed="rId7">
                  <a:alphaModFix/>
                </a:blip>
                <a:srcRect/>
                <a:stretch/>
              </p:blipFill>
              <p:spPr>
                <a:xfrm>
                  <a:off x="5263457" y="2152650"/>
                  <a:ext cx="3527191" cy="2561950"/>
                </a:xfrm>
                <a:prstGeom prst="rect">
                  <a:avLst/>
                </a:prstGeom>
                <a:noFill/>
                <a:ln>
                  <a:noFill/>
                </a:ln>
              </p:spPr>
            </p:pic>
            <p:sp>
              <p:nvSpPr>
                <p:cNvPr id="133" name="Google Shape;3345;g36f95115970_1_0">
                  <a:extLst>
                    <a:ext uri="{FF2B5EF4-FFF2-40B4-BE49-F238E27FC236}">
                      <a16:creationId xmlns:a16="http://schemas.microsoft.com/office/drawing/2014/main" id="{00746CD7-E255-AABA-7DEE-40D29610DF19}"/>
                    </a:ext>
                  </a:extLst>
                </p:cNvPr>
                <p:cNvSpPr txBox="1"/>
                <p:nvPr/>
              </p:nvSpPr>
              <p:spPr>
                <a:xfrm>
                  <a:off x="5195625" y="1837900"/>
                  <a:ext cx="3357600" cy="3147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1200" cap="none" spc="0" normalizeH="0" baseline="0" noProof="0">
                      <a:ln>
                        <a:noFill/>
                      </a:ln>
                      <a:solidFill>
                        <a:srgbClr val="000000"/>
                      </a:solidFill>
                      <a:effectLst/>
                      <a:uLnTx/>
                      <a:uFillTx/>
                      <a:latin typeface="Arial"/>
                      <a:ea typeface="Arial"/>
                      <a:cs typeface="Arial"/>
                      <a:sym typeface="Arial"/>
                    </a:rPr>
                    <a:t>Agent-inject annotation to Kubernetes Pod spec:</a:t>
                  </a:r>
                  <a:endParaRPr kumimoji="0" sz="1100"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cxnSp>
          <p:nvCxnSpPr>
            <p:cNvPr id="129" name="Google Shape;3346;g36f95115970_1_0">
              <a:extLst>
                <a:ext uri="{FF2B5EF4-FFF2-40B4-BE49-F238E27FC236}">
                  <a16:creationId xmlns:a16="http://schemas.microsoft.com/office/drawing/2014/main" id="{4BB769D3-ECA9-01C7-556E-AEB493E39282}"/>
                </a:ext>
              </a:extLst>
            </p:cNvPr>
            <p:cNvCxnSpPr>
              <a:stCxn id="133" idx="0"/>
            </p:cNvCxnSpPr>
            <p:nvPr/>
          </p:nvCxnSpPr>
          <p:spPr>
            <a:xfrm rot="10800000" flipH="1">
              <a:off x="6724725" y="2010425"/>
              <a:ext cx="347100" cy="1011000"/>
            </a:xfrm>
            <a:prstGeom prst="straightConnector1">
              <a:avLst/>
            </a:prstGeom>
            <a:noFill/>
            <a:ln w="9525" cap="flat" cmpd="sng">
              <a:solidFill>
                <a:schemeClr val="dk2"/>
              </a:solidFill>
              <a:prstDash val="solid"/>
              <a:round/>
              <a:headEnd type="none" w="sm" len="sm"/>
              <a:tailEnd type="triangle" w="med" len="med"/>
            </a:ln>
          </p:spPr>
        </p:cxnSp>
      </p:grpSp>
    </p:spTree>
    <p:extLst>
      <p:ext uri="{BB962C8B-B14F-4D97-AF65-F5344CB8AC3E}">
        <p14:creationId xmlns:p14="http://schemas.microsoft.com/office/powerpoint/2010/main" val="32674484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Shape 2179"/>
        <p:cNvGrpSpPr/>
        <p:nvPr/>
      </p:nvGrpSpPr>
      <p:grpSpPr>
        <a:xfrm>
          <a:off x="0" y="0"/>
          <a:ext cx="0" cy="0"/>
          <a:chOff x="0" y="0"/>
          <a:chExt cx="0" cy="0"/>
        </a:xfrm>
      </p:grpSpPr>
      <p:grpSp>
        <p:nvGrpSpPr>
          <p:cNvPr id="2180" name="Google Shape;2180;p76"/>
          <p:cNvGrpSpPr/>
          <p:nvPr/>
        </p:nvGrpSpPr>
        <p:grpSpPr>
          <a:xfrm>
            <a:off x="-4549" y="1048289"/>
            <a:ext cx="4294227" cy="5786153"/>
            <a:chOff x="930" y="1352468"/>
            <a:chExt cx="4294200" cy="5787660"/>
          </a:xfrm>
        </p:grpSpPr>
        <p:sp>
          <p:nvSpPr>
            <p:cNvPr id="2181" name="Google Shape;2181;p76"/>
            <p:cNvSpPr/>
            <p:nvPr/>
          </p:nvSpPr>
          <p:spPr>
            <a:xfrm>
              <a:off x="930" y="1352469"/>
              <a:ext cx="4294200" cy="5505600"/>
            </a:xfrm>
            <a:prstGeom prst="rect">
              <a:avLst/>
            </a:prstGeom>
            <a:gradFill>
              <a:gsLst>
                <a:gs pos="0">
                  <a:srgbClr val="E8F0F4">
                    <a:alpha val="65882"/>
                  </a:srgbClr>
                </a:gs>
                <a:gs pos="100000">
                  <a:srgbClr val="E8F0F4">
                    <a:alpha val="0"/>
                  </a:srgbClr>
                </a:gs>
              </a:gsLst>
              <a:lin ang="5400012" scaled="0"/>
            </a:gradFill>
            <a:ln>
              <a:noFill/>
            </a:ln>
          </p:spPr>
          <p:txBody>
            <a:bodyPr spcFirstLastPara="1" wrap="square" lIns="91310" tIns="45655" rIns="91310"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2182" name="Google Shape;2182;p76"/>
            <p:cNvPicPr preferRelativeResize="0"/>
            <p:nvPr/>
          </p:nvPicPr>
          <p:blipFill rotWithShape="1">
            <a:blip r:embed="rId3">
              <a:alphaModFix amt="54000"/>
            </a:blip>
            <a:srcRect t="73487" r="14089" b="-55140"/>
            <a:stretch/>
          </p:blipFill>
          <p:spPr>
            <a:xfrm rot="5400000" flipH="1">
              <a:off x="1208289" y="4053287"/>
              <a:ext cx="5787660" cy="386021"/>
            </a:xfrm>
            <a:prstGeom prst="rect">
              <a:avLst/>
            </a:prstGeom>
            <a:noFill/>
            <a:ln>
              <a:noFill/>
            </a:ln>
          </p:spPr>
        </p:pic>
      </p:grpSp>
      <p:grpSp>
        <p:nvGrpSpPr>
          <p:cNvPr id="2183" name="Google Shape;2183;p76"/>
          <p:cNvGrpSpPr/>
          <p:nvPr/>
        </p:nvGrpSpPr>
        <p:grpSpPr>
          <a:xfrm flipH="1">
            <a:off x="7894724" y="1048289"/>
            <a:ext cx="4294227" cy="5786153"/>
            <a:chOff x="930" y="1352468"/>
            <a:chExt cx="4294200" cy="5787660"/>
          </a:xfrm>
        </p:grpSpPr>
        <p:sp>
          <p:nvSpPr>
            <p:cNvPr id="2184" name="Google Shape;2184;p76"/>
            <p:cNvSpPr/>
            <p:nvPr/>
          </p:nvSpPr>
          <p:spPr>
            <a:xfrm>
              <a:off x="930" y="1352469"/>
              <a:ext cx="4294200" cy="5505600"/>
            </a:xfrm>
            <a:prstGeom prst="rect">
              <a:avLst/>
            </a:prstGeom>
            <a:gradFill>
              <a:gsLst>
                <a:gs pos="0">
                  <a:srgbClr val="E8F0F4">
                    <a:alpha val="65882"/>
                  </a:srgbClr>
                </a:gs>
                <a:gs pos="100000">
                  <a:srgbClr val="E8F0F4">
                    <a:alpha val="0"/>
                  </a:srgbClr>
                </a:gs>
              </a:gsLst>
              <a:lin ang="5400012" scaled="0"/>
            </a:gradFill>
            <a:ln>
              <a:noFill/>
            </a:ln>
          </p:spPr>
          <p:txBody>
            <a:bodyPr spcFirstLastPara="1" wrap="square" lIns="91310" tIns="45655" rIns="91310"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2185" name="Google Shape;2185;p76"/>
            <p:cNvPicPr preferRelativeResize="0"/>
            <p:nvPr/>
          </p:nvPicPr>
          <p:blipFill rotWithShape="1">
            <a:blip r:embed="rId3">
              <a:alphaModFix amt="54000"/>
            </a:blip>
            <a:srcRect t="73487" r="14089" b="-55140"/>
            <a:stretch/>
          </p:blipFill>
          <p:spPr>
            <a:xfrm rot="5400000" flipH="1">
              <a:off x="1208289" y="4053287"/>
              <a:ext cx="5787660" cy="386021"/>
            </a:xfrm>
            <a:prstGeom prst="rect">
              <a:avLst/>
            </a:prstGeom>
            <a:noFill/>
            <a:ln>
              <a:noFill/>
            </a:ln>
          </p:spPr>
        </p:pic>
      </p:grpSp>
      <p:grpSp>
        <p:nvGrpSpPr>
          <p:cNvPr id="2186" name="Google Shape;2186;p76"/>
          <p:cNvGrpSpPr/>
          <p:nvPr/>
        </p:nvGrpSpPr>
        <p:grpSpPr>
          <a:xfrm>
            <a:off x="4410488" y="1394952"/>
            <a:ext cx="539104" cy="538960"/>
            <a:chOff x="4524765" y="2258641"/>
            <a:chExt cx="539100" cy="539100"/>
          </a:xfrm>
        </p:grpSpPr>
        <p:sp>
          <p:nvSpPr>
            <p:cNvPr id="2187" name="Google Shape;2187;p76"/>
            <p:cNvSpPr/>
            <p:nvPr/>
          </p:nvSpPr>
          <p:spPr>
            <a:xfrm>
              <a:off x="4524765" y="2258641"/>
              <a:ext cx="539100" cy="539100"/>
            </a:xfrm>
            <a:prstGeom prst="ellipse">
              <a:avLst/>
            </a:prstGeom>
            <a:gradFill>
              <a:gsLst>
                <a:gs pos="0">
                  <a:schemeClr val="accent2"/>
                </a:gs>
                <a:gs pos="15000">
                  <a:schemeClr val="accent2"/>
                </a:gs>
                <a:gs pos="66000">
                  <a:schemeClr val="accent3"/>
                </a:gs>
                <a:gs pos="100000">
                  <a:schemeClr val="accent3"/>
                </a:gs>
              </a:gsLst>
              <a:lin ang="18900044" scaled="0"/>
            </a:gradFill>
            <a:ln>
              <a:noFill/>
            </a:ln>
            <a:effectLst>
              <a:outerShdw sx="120000" sy="120000" algn="ctr" rotWithShape="0">
                <a:srgbClr val="0098C7">
                  <a:alpha val="22750"/>
                </a:srgbClr>
              </a:outerShdw>
            </a:effectLst>
          </p:spPr>
          <p:txBody>
            <a:bodyPr spcFirstLastPara="1" wrap="square" lIns="91343" tIns="45655" rIns="91343"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188" name="Google Shape;2188;p76"/>
            <p:cNvSpPr/>
            <p:nvPr/>
          </p:nvSpPr>
          <p:spPr>
            <a:xfrm>
              <a:off x="4635796" y="2365654"/>
              <a:ext cx="317570" cy="325075"/>
            </a:xfrm>
            <a:custGeom>
              <a:avLst/>
              <a:gdLst/>
              <a:ahLst/>
              <a:cxnLst/>
              <a:rect l="l" t="t" r="r" b="b"/>
              <a:pathLst>
                <a:path w="779314" h="778622" extrusionOk="0">
                  <a:moveTo>
                    <a:pt x="720165" y="683887"/>
                  </a:moveTo>
                  <a:cubicBezTo>
                    <a:pt x="700448" y="683887"/>
                    <a:pt x="684364" y="699964"/>
                    <a:pt x="684364" y="719672"/>
                  </a:cubicBezTo>
                  <a:cubicBezTo>
                    <a:pt x="684364" y="739379"/>
                    <a:pt x="700448" y="755457"/>
                    <a:pt x="720165" y="755457"/>
                  </a:cubicBezTo>
                  <a:cubicBezTo>
                    <a:pt x="739881" y="755457"/>
                    <a:pt x="755965" y="739379"/>
                    <a:pt x="755965" y="719672"/>
                  </a:cubicBezTo>
                  <a:cubicBezTo>
                    <a:pt x="755965" y="699964"/>
                    <a:pt x="739881" y="683887"/>
                    <a:pt x="720165" y="683887"/>
                  </a:cubicBezTo>
                  <a:close/>
                  <a:moveTo>
                    <a:pt x="389657" y="683887"/>
                  </a:moveTo>
                  <a:cubicBezTo>
                    <a:pt x="369941" y="683887"/>
                    <a:pt x="353856" y="699964"/>
                    <a:pt x="353856" y="719672"/>
                  </a:cubicBezTo>
                  <a:cubicBezTo>
                    <a:pt x="353856" y="739379"/>
                    <a:pt x="369941" y="755457"/>
                    <a:pt x="389657" y="755457"/>
                  </a:cubicBezTo>
                  <a:cubicBezTo>
                    <a:pt x="409373" y="755457"/>
                    <a:pt x="425458" y="739379"/>
                    <a:pt x="425458" y="719672"/>
                  </a:cubicBezTo>
                  <a:cubicBezTo>
                    <a:pt x="425458" y="699964"/>
                    <a:pt x="409373" y="683887"/>
                    <a:pt x="389657" y="683887"/>
                  </a:cubicBezTo>
                  <a:close/>
                  <a:moveTo>
                    <a:pt x="59149" y="683887"/>
                  </a:moveTo>
                  <a:cubicBezTo>
                    <a:pt x="39433" y="683887"/>
                    <a:pt x="23348" y="699964"/>
                    <a:pt x="23348" y="719672"/>
                  </a:cubicBezTo>
                  <a:cubicBezTo>
                    <a:pt x="23348" y="739379"/>
                    <a:pt x="39433" y="755457"/>
                    <a:pt x="59149" y="755457"/>
                  </a:cubicBezTo>
                  <a:cubicBezTo>
                    <a:pt x="78865" y="755457"/>
                    <a:pt x="94950" y="739379"/>
                    <a:pt x="94950" y="719672"/>
                  </a:cubicBezTo>
                  <a:cubicBezTo>
                    <a:pt x="94950" y="699964"/>
                    <a:pt x="78865" y="683887"/>
                    <a:pt x="59149" y="683887"/>
                  </a:cubicBezTo>
                  <a:close/>
                  <a:moveTo>
                    <a:pt x="305429" y="418180"/>
                  </a:moveTo>
                  <a:lnTo>
                    <a:pt x="356968" y="469523"/>
                  </a:lnTo>
                  <a:lnTo>
                    <a:pt x="305429" y="520867"/>
                  </a:lnTo>
                  <a:lnTo>
                    <a:pt x="253890" y="469523"/>
                  </a:lnTo>
                  <a:close/>
                  <a:moveTo>
                    <a:pt x="425112" y="413858"/>
                  </a:moveTo>
                  <a:lnTo>
                    <a:pt x="514527" y="413858"/>
                  </a:lnTo>
                  <a:lnTo>
                    <a:pt x="448201" y="475667"/>
                  </a:lnTo>
                  <a:lnTo>
                    <a:pt x="448114" y="475574"/>
                  </a:lnTo>
                  <a:lnTo>
                    <a:pt x="448114" y="475747"/>
                  </a:lnTo>
                  <a:lnTo>
                    <a:pt x="448201" y="475667"/>
                  </a:lnTo>
                  <a:lnTo>
                    <a:pt x="459875" y="488194"/>
                  </a:lnTo>
                  <a:lnTo>
                    <a:pt x="526633" y="426132"/>
                  </a:lnTo>
                  <a:lnTo>
                    <a:pt x="526633" y="515162"/>
                  </a:lnTo>
                  <a:cubicBezTo>
                    <a:pt x="526633" y="516026"/>
                    <a:pt x="525769" y="516890"/>
                    <a:pt x="524731" y="516890"/>
                  </a:cubicBezTo>
                  <a:lnTo>
                    <a:pt x="425112" y="516890"/>
                  </a:lnTo>
                  <a:cubicBezTo>
                    <a:pt x="424074" y="516890"/>
                    <a:pt x="423382" y="516199"/>
                    <a:pt x="423382" y="515162"/>
                  </a:cubicBezTo>
                  <a:lnTo>
                    <a:pt x="423382" y="415587"/>
                  </a:lnTo>
                  <a:cubicBezTo>
                    <a:pt x="423382" y="414549"/>
                    <a:pt x="424074" y="413858"/>
                    <a:pt x="425112" y="413858"/>
                  </a:cubicBezTo>
                  <a:close/>
                  <a:moveTo>
                    <a:pt x="425112" y="396571"/>
                  </a:moveTo>
                  <a:cubicBezTo>
                    <a:pt x="414735" y="396571"/>
                    <a:pt x="406260" y="405042"/>
                    <a:pt x="406260" y="415587"/>
                  </a:cubicBezTo>
                  <a:lnTo>
                    <a:pt x="406260" y="515162"/>
                  </a:lnTo>
                  <a:cubicBezTo>
                    <a:pt x="406260" y="525707"/>
                    <a:pt x="414562" y="534178"/>
                    <a:pt x="425112" y="534178"/>
                  </a:cubicBezTo>
                  <a:lnTo>
                    <a:pt x="524731" y="534178"/>
                  </a:lnTo>
                  <a:cubicBezTo>
                    <a:pt x="535108" y="534178"/>
                    <a:pt x="543755" y="525707"/>
                    <a:pt x="543755" y="515162"/>
                  </a:cubicBezTo>
                  <a:lnTo>
                    <a:pt x="543755" y="415587"/>
                  </a:lnTo>
                  <a:cubicBezTo>
                    <a:pt x="543755" y="405042"/>
                    <a:pt x="535281" y="396571"/>
                    <a:pt x="524731" y="396571"/>
                  </a:cubicBezTo>
                  <a:close/>
                  <a:moveTo>
                    <a:pt x="305430" y="393805"/>
                  </a:moveTo>
                  <a:lnTo>
                    <a:pt x="229678" y="469524"/>
                  </a:lnTo>
                  <a:lnTo>
                    <a:pt x="305430" y="545415"/>
                  </a:lnTo>
                  <a:lnTo>
                    <a:pt x="381182" y="469524"/>
                  </a:lnTo>
                  <a:close/>
                  <a:moveTo>
                    <a:pt x="474748" y="291983"/>
                  </a:moveTo>
                  <a:cubicBezTo>
                    <a:pt x="483742" y="291983"/>
                    <a:pt x="491006" y="299417"/>
                    <a:pt x="491006" y="308233"/>
                  </a:cubicBezTo>
                  <a:cubicBezTo>
                    <a:pt x="491006" y="317050"/>
                    <a:pt x="483742" y="324310"/>
                    <a:pt x="474748" y="324310"/>
                  </a:cubicBezTo>
                  <a:cubicBezTo>
                    <a:pt x="465755" y="324310"/>
                    <a:pt x="458491" y="317223"/>
                    <a:pt x="458491" y="308233"/>
                  </a:cubicBezTo>
                  <a:cubicBezTo>
                    <a:pt x="458491" y="299244"/>
                    <a:pt x="465755" y="291983"/>
                    <a:pt x="474748" y="291983"/>
                  </a:cubicBezTo>
                  <a:close/>
                  <a:moveTo>
                    <a:pt x="474747" y="274695"/>
                  </a:moveTo>
                  <a:cubicBezTo>
                    <a:pt x="456415" y="274695"/>
                    <a:pt x="441368" y="289562"/>
                    <a:pt x="441368" y="308059"/>
                  </a:cubicBezTo>
                  <a:cubicBezTo>
                    <a:pt x="441368" y="326557"/>
                    <a:pt x="456415" y="341424"/>
                    <a:pt x="474747" y="341424"/>
                  </a:cubicBezTo>
                  <a:cubicBezTo>
                    <a:pt x="493080" y="341424"/>
                    <a:pt x="508127" y="326557"/>
                    <a:pt x="508127" y="308059"/>
                  </a:cubicBezTo>
                  <a:cubicBezTo>
                    <a:pt x="508127" y="289562"/>
                    <a:pt x="493080" y="274695"/>
                    <a:pt x="474747" y="274695"/>
                  </a:cubicBezTo>
                  <a:close/>
                  <a:moveTo>
                    <a:pt x="474747" y="260865"/>
                  </a:moveTo>
                  <a:cubicBezTo>
                    <a:pt x="500690" y="260865"/>
                    <a:pt x="521963" y="282128"/>
                    <a:pt x="521963" y="308232"/>
                  </a:cubicBezTo>
                  <a:cubicBezTo>
                    <a:pt x="521963" y="334336"/>
                    <a:pt x="500690" y="355600"/>
                    <a:pt x="474747" y="355600"/>
                  </a:cubicBezTo>
                  <a:cubicBezTo>
                    <a:pt x="448632" y="355600"/>
                    <a:pt x="427359" y="334336"/>
                    <a:pt x="427359" y="308232"/>
                  </a:cubicBezTo>
                  <a:cubicBezTo>
                    <a:pt x="427359" y="282128"/>
                    <a:pt x="448805" y="260865"/>
                    <a:pt x="474747" y="260865"/>
                  </a:cubicBezTo>
                  <a:close/>
                  <a:moveTo>
                    <a:pt x="255793" y="255679"/>
                  </a:moveTo>
                  <a:lnTo>
                    <a:pt x="297301" y="255679"/>
                  </a:lnTo>
                  <a:lnTo>
                    <a:pt x="297301" y="290599"/>
                  </a:lnTo>
                  <a:lnTo>
                    <a:pt x="314596" y="290599"/>
                  </a:lnTo>
                  <a:lnTo>
                    <a:pt x="314596" y="255679"/>
                  </a:lnTo>
                  <a:lnTo>
                    <a:pt x="355412" y="255679"/>
                  </a:lnTo>
                  <a:cubicBezTo>
                    <a:pt x="356450" y="255679"/>
                    <a:pt x="357314" y="256543"/>
                    <a:pt x="357314" y="257408"/>
                  </a:cubicBezTo>
                  <a:lnTo>
                    <a:pt x="357314" y="299935"/>
                  </a:lnTo>
                  <a:lnTo>
                    <a:pt x="269283" y="299935"/>
                  </a:lnTo>
                  <a:lnTo>
                    <a:pt x="269283" y="317222"/>
                  </a:lnTo>
                  <a:lnTo>
                    <a:pt x="357314" y="317222"/>
                  </a:lnTo>
                  <a:lnTo>
                    <a:pt x="357314" y="356983"/>
                  </a:lnTo>
                  <a:cubicBezTo>
                    <a:pt x="357314" y="357847"/>
                    <a:pt x="356450" y="358712"/>
                    <a:pt x="355412" y="358712"/>
                  </a:cubicBezTo>
                  <a:lnTo>
                    <a:pt x="314941" y="358712"/>
                  </a:lnTo>
                  <a:lnTo>
                    <a:pt x="314941" y="343326"/>
                  </a:lnTo>
                  <a:lnTo>
                    <a:pt x="297646" y="343326"/>
                  </a:lnTo>
                  <a:lnTo>
                    <a:pt x="297646" y="358712"/>
                  </a:lnTo>
                  <a:lnTo>
                    <a:pt x="255793" y="358712"/>
                  </a:lnTo>
                  <a:cubicBezTo>
                    <a:pt x="254755" y="358712"/>
                    <a:pt x="254063" y="358020"/>
                    <a:pt x="254063" y="356983"/>
                  </a:cubicBezTo>
                  <a:lnTo>
                    <a:pt x="254063" y="257408"/>
                  </a:lnTo>
                  <a:cubicBezTo>
                    <a:pt x="254063" y="256370"/>
                    <a:pt x="254755" y="255679"/>
                    <a:pt x="255793" y="255679"/>
                  </a:cubicBezTo>
                  <a:close/>
                  <a:moveTo>
                    <a:pt x="474748" y="243578"/>
                  </a:moveTo>
                  <a:cubicBezTo>
                    <a:pt x="439121" y="243578"/>
                    <a:pt x="410065" y="272448"/>
                    <a:pt x="410065" y="308233"/>
                  </a:cubicBezTo>
                  <a:cubicBezTo>
                    <a:pt x="410065" y="344017"/>
                    <a:pt x="439121" y="372887"/>
                    <a:pt x="474748" y="372887"/>
                  </a:cubicBezTo>
                  <a:cubicBezTo>
                    <a:pt x="510376" y="372887"/>
                    <a:pt x="539259" y="344017"/>
                    <a:pt x="539259" y="308233"/>
                  </a:cubicBezTo>
                  <a:cubicBezTo>
                    <a:pt x="539259" y="272448"/>
                    <a:pt x="510376" y="243578"/>
                    <a:pt x="474748" y="243578"/>
                  </a:cubicBezTo>
                  <a:close/>
                  <a:moveTo>
                    <a:pt x="255793" y="238392"/>
                  </a:moveTo>
                  <a:cubicBezTo>
                    <a:pt x="245416" y="238392"/>
                    <a:pt x="236942" y="246863"/>
                    <a:pt x="236942" y="257408"/>
                  </a:cubicBezTo>
                  <a:lnTo>
                    <a:pt x="236942" y="356983"/>
                  </a:lnTo>
                  <a:cubicBezTo>
                    <a:pt x="236942" y="367528"/>
                    <a:pt x="245243" y="375999"/>
                    <a:pt x="255793" y="375999"/>
                  </a:cubicBezTo>
                  <a:lnTo>
                    <a:pt x="355413" y="375999"/>
                  </a:lnTo>
                  <a:cubicBezTo>
                    <a:pt x="365790" y="375999"/>
                    <a:pt x="374437" y="367528"/>
                    <a:pt x="374437" y="356983"/>
                  </a:cubicBezTo>
                  <a:lnTo>
                    <a:pt x="374437" y="257408"/>
                  </a:lnTo>
                  <a:cubicBezTo>
                    <a:pt x="374437" y="246863"/>
                    <a:pt x="365963" y="238392"/>
                    <a:pt x="355413" y="238392"/>
                  </a:cubicBezTo>
                  <a:close/>
                  <a:moveTo>
                    <a:pt x="236250" y="195865"/>
                  </a:moveTo>
                  <a:lnTo>
                    <a:pt x="543064" y="195865"/>
                  </a:lnTo>
                  <a:cubicBezTo>
                    <a:pt x="564337" y="195865"/>
                    <a:pt x="581459" y="212979"/>
                    <a:pt x="581459" y="234243"/>
                  </a:cubicBezTo>
                  <a:lnTo>
                    <a:pt x="581459" y="541093"/>
                  </a:lnTo>
                  <a:cubicBezTo>
                    <a:pt x="581459" y="562356"/>
                    <a:pt x="564337" y="579471"/>
                    <a:pt x="543064" y="579471"/>
                  </a:cubicBezTo>
                  <a:lnTo>
                    <a:pt x="236250" y="579471"/>
                  </a:lnTo>
                  <a:cubicBezTo>
                    <a:pt x="214977" y="579471"/>
                    <a:pt x="197855" y="562356"/>
                    <a:pt x="197855" y="541093"/>
                  </a:cubicBezTo>
                  <a:lnTo>
                    <a:pt x="197855" y="234243"/>
                  </a:lnTo>
                  <a:cubicBezTo>
                    <a:pt x="197855" y="212979"/>
                    <a:pt x="214977" y="195865"/>
                    <a:pt x="236250" y="195865"/>
                  </a:cubicBezTo>
                  <a:close/>
                  <a:moveTo>
                    <a:pt x="116741" y="66729"/>
                  </a:moveTo>
                  <a:cubicBezTo>
                    <a:pt x="115531" y="75373"/>
                    <a:pt x="112591" y="83325"/>
                    <a:pt x="107921" y="90413"/>
                  </a:cubicBezTo>
                  <a:lnTo>
                    <a:pt x="200449" y="183073"/>
                  </a:lnTo>
                  <a:lnTo>
                    <a:pt x="183846" y="199669"/>
                  </a:lnTo>
                  <a:lnTo>
                    <a:pt x="91491" y="107181"/>
                  </a:lnTo>
                  <a:cubicBezTo>
                    <a:pt x="84746" y="111676"/>
                    <a:pt x="77136" y="114788"/>
                    <a:pt x="68834" y="116171"/>
                  </a:cubicBezTo>
                  <a:lnTo>
                    <a:pt x="68834" y="662451"/>
                  </a:lnTo>
                  <a:cubicBezTo>
                    <a:pt x="77136" y="663834"/>
                    <a:pt x="84400" y="666772"/>
                    <a:pt x="91145" y="671267"/>
                  </a:cubicBezTo>
                  <a:lnTo>
                    <a:pt x="185403" y="577051"/>
                  </a:lnTo>
                  <a:lnTo>
                    <a:pt x="202006" y="593647"/>
                  </a:lnTo>
                  <a:lnTo>
                    <a:pt x="107748" y="687863"/>
                  </a:lnTo>
                  <a:cubicBezTo>
                    <a:pt x="112418" y="694951"/>
                    <a:pt x="115531" y="702903"/>
                    <a:pt x="116741" y="711892"/>
                  </a:cubicBezTo>
                  <a:lnTo>
                    <a:pt x="116741" y="711028"/>
                  </a:lnTo>
                  <a:lnTo>
                    <a:pt x="332237" y="711028"/>
                  </a:lnTo>
                  <a:cubicBezTo>
                    <a:pt x="335869" y="686307"/>
                    <a:pt x="354375" y="667291"/>
                    <a:pt x="378934" y="662624"/>
                  </a:cubicBezTo>
                  <a:lnTo>
                    <a:pt x="378934" y="602982"/>
                  </a:lnTo>
                  <a:lnTo>
                    <a:pt x="402282" y="602982"/>
                  </a:lnTo>
                  <a:lnTo>
                    <a:pt x="402282" y="662969"/>
                  </a:lnTo>
                  <a:cubicBezTo>
                    <a:pt x="425803" y="668328"/>
                    <a:pt x="443444" y="686999"/>
                    <a:pt x="447076" y="711028"/>
                  </a:cubicBezTo>
                  <a:lnTo>
                    <a:pt x="662745" y="711028"/>
                  </a:lnTo>
                  <a:lnTo>
                    <a:pt x="671519" y="687988"/>
                  </a:lnTo>
                  <a:lnTo>
                    <a:pt x="671566" y="688036"/>
                  </a:lnTo>
                  <a:lnTo>
                    <a:pt x="671566" y="687863"/>
                  </a:lnTo>
                  <a:lnTo>
                    <a:pt x="671519" y="687988"/>
                  </a:lnTo>
                  <a:lnTo>
                    <a:pt x="577654" y="593993"/>
                  </a:lnTo>
                  <a:lnTo>
                    <a:pt x="594257" y="577397"/>
                  </a:lnTo>
                  <a:lnTo>
                    <a:pt x="688169" y="671440"/>
                  </a:lnTo>
                  <a:cubicBezTo>
                    <a:pt x="694741" y="666945"/>
                    <a:pt x="702005" y="664007"/>
                    <a:pt x="710134" y="662624"/>
                  </a:cubicBezTo>
                  <a:lnTo>
                    <a:pt x="710134" y="116171"/>
                  </a:lnTo>
                  <a:cubicBezTo>
                    <a:pt x="702005" y="114788"/>
                    <a:pt x="694568" y="111849"/>
                    <a:pt x="687996" y="107354"/>
                  </a:cubicBezTo>
                  <a:lnTo>
                    <a:pt x="595468" y="199842"/>
                  </a:lnTo>
                  <a:lnTo>
                    <a:pt x="578864" y="183246"/>
                  </a:lnTo>
                  <a:lnTo>
                    <a:pt x="671566" y="90586"/>
                  </a:lnTo>
                  <a:cubicBezTo>
                    <a:pt x="667069" y="83671"/>
                    <a:pt x="664129" y="76237"/>
                    <a:pt x="662918" y="67766"/>
                  </a:cubicBezTo>
                  <a:lnTo>
                    <a:pt x="447422" y="67766"/>
                  </a:lnTo>
                  <a:cubicBezTo>
                    <a:pt x="444136" y="92314"/>
                    <a:pt x="426322" y="111330"/>
                    <a:pt x="402455" y="116690"/>
                  </a:cubicBezTo>
                  <a:lnTo>
                    <a:pt x="402455" y="172700"/>
                  </a:lnTo>
                  <a:lnTo>
                    <a:pt x="379107" y="172700"/>
                  </a:lnTo>
                  <a:lnTo>
                    <a:pt x="379107" y="117035"/>
                  </a:lnTo>
                  <a:cubicBezTo>
                    <a:pt x="354202" y="112195"/>
                    <a:pt x="335523" y="92833"/>
                    <a:pt x="332064" y="67593"/>
                  </a:cubicBezTo>
                  <a:lnTo>
                    <a:pt x="116741" y="67593"/>
                  </a:lnTo>
                  <a:close/>
                  <a:moveTo>
                    <a:pt x="389657" y="24375"/>
                  </a:moveTo>
                  <a:cubicBezTo>
                    <a:pt x="369941" y="24375"/>
                    <a:pt x="353856" y="40452"/>
                    <a:pt x="353856" y="60160"/>
                  </a:cubicBezTo>
                  <a:cubicBezTo>
                    <a:pt x="353856" y="79867"/>
                    <a:pt x="369941" y="95945"/>
                    <a:pt x="389657" y="95945"/>
                  </a:cubicBezTo>
                  <a:cubicBezTo>
                    <a:pt x="409373" y="95945"/>
                    <a:pt x="425458" y="79867"/>
                    <a:pt x="425458" y="60160"/>
                  </a:cubicBezTo>
                  <a:cubicBezTo>
                    <a:pt x="425458" y="40452"/>
                    <a:pt x="409373" y="24375"/>
                    <a:pt x="389657" y="24375"/>
                  </a:cubicBezTo>
                  <a:close/>
                  <a:moveTo>
                    <a:pt x="720165" y="23338"/>
                  </a:moveTo>
                  <a:cubicBezTo>
                    <a:pt x="700448" y="23338"/>
                    <a:pt x="684364" y="39415"/>
                    <a:pt x="684364" y="59123"/>
                  </a:cubicBezTo>
                  <a:cubicBezTo>
                    <a:pt x="684364" y="78830"/>
                    <a:pt x="700448" y="94907"/>
                    <a:pt x="720165" y="94907"/>
                  </a:cubicBezTo>
                  <a:cubicBezTo>
                    <a:pt x="739881" y="94907"/>
                    <a:pt x="755965" y="78830"/>
                    <a:pt x="755965" y="59123"/>
                  </a:cubicBezTo>
                  <a:cubicBezTo>
                    <a:pt x="755965" y="39415"/>
                    <a:pt x="739881" y="23338"/>
                    <a:pt x="720165" y="23338"/>
                  </a:cubicBezTo>
                  <a:close/>
                  <a:moveTo>
                    <a:pt x="59149" y="23338"/>
                  </a:moveTo>
                  <a:cubicBezTo>
                    <a:pt x="39433" y="23338"/>
                    <a:pt x="23348" y="39415"/>
                    <a:pt x="23348" y="59123"/>
                  </a:cubicBezTo>
                  <a:cubicBezTo>
                    <a:pt x="23348" y="78830"/>
                    <a:pt x="39433" y="94907"/>
                    <a:pt x="59149" y="94907"/>
                  </a:cubicBezTo>
                  <a:cubicBezTo>
                    <a:pt x="78865" y="94907"/>
                    <a:pt x="94950" y="78830"/>
                    <a:pt x="94950" y="59123"/>
                  </a:cubicBezTo>
                  <a:cubicBezTo>
                    <a:pt x="94950" y="39415"/>
                    <a:pt x="78865" y="23338"/>
                    <a:pt x="59149" y="23338"/>
                  </a:cubicBezTo>
                  <a:close/>
                  <a:moveTo>
                    <a:pt x="59149" y="0"/>
                  </a:moveTo>
                  <a:cubicBezTo>
                    <a:pt x="89069" y="0"/>
                    <a:pt x="112764" y="22474"/>
                    <a:pt x="116741" y="51343"/>
                  </a:cubicBezTo>
                  <a:lnTo>
                    <a:pt x="116741" y="50479"/>
                  </a:lnTo>
                  <a:lnTo>
                    <a:pt x="332410" y="50479"/>
                  </a:lnTo>
                  <a:cubicBezTo>
                    <a:pt x="337253" y="22646"/>
                    <a:pt x="360428" y="1037"/>
                    <a:pt x="389657" y="1037"/>
                  </a:cubicBezTo>
                  <a:cubicBezTo>
                    <a:pt x="418885" y="1037"/>
                    <a:pt x="442234" y="22646"/>
                    <a:pt x="446903" y="50479"/>
                  </a:cubicBezTo>
                  <a:lnTo>
                    <a:pt x="662745" y="50479"/>
                  </a:lnTo>
                  <a:cubicBezTo>
                    <a:pt x="667069" y="22128"/>
                    <a:pt x="690590" y="0"/>
                    <a:pt x="720165" y="0"/>
                  </a:cubicBezTo>
                  <a:cubicBezTo>
                    <a:pt x="752852" y="0"/>
                    <a:pt x="779314" y="26450"/>
                    <a:pt x="779314" y="59123"/>
                  </a:cubicBezTo>
                  <a:cubicBezTo>
                    <a:pt x="779314" y="89376"/>
                    <a:pt x="756311" y="113232"/>
                    <a:pt x="727083" y="116862"/>
                  </a:cubicBezTo>
                  <a:lnTo>
                    <a:pt x="727083" y="661759"/>
                  </a:lnTo>
                  <a:cubicBezTo>
                    <a:pt x="756311" y="665390"/>
                    <a:pt x="779314" y="689246"/>
                    <a:pt x="779314" y="719499"/>
                  </a:cubicBezTo>
                  <a:cubicBezTo>
                    <a:pt x="779314" y="752172"/>
                    <a:pt x="752852" y="778622"/>
                    <a:pt x="720165" y="778622"/>
                  </a:cubicBezTo>
                  <a:cubicBezTo>
                    <a:pt x="690590" y="778622"/>
                    <a:pt x="667069" y="756494"/>
                    <a:pt x="662745" y="728142"/>
                  </a:cubicBezTo>
                  <a:lnTo>
                    <a:pt x="447076" y="728142"/>
                  </a:lnTo>
                  <a:cubicBezTo>
                    <a:pt x="442753" y="756494"/>
                    <a:pt x="419231" y="778622"/>
                    <a:pt x="389657" y="778622"/>
                  </a:cubicBezTo>
                  <a:cubicBezTo>
                    <a:pt x="360082" y="778622"/>
                    <a:pt x="336561" y="756494"/>
                    <a:pt x="332237" y="728142"/>
                  </a:cubicBezTo>
                  <a:lnTo>
                    <a:pt x="116741" y="728142"/>
                  </a:lnTo>
                  <a:lnTo>
                    <a:pt x="116741" y="727278"/>
                  </a:lnTo>
                  <a:cubicBezTo>
                    <a:pt x="112764" y="755975"/>
                    <a:pt x="89069" y="778622"/>
                    <a:pt x="59149" y="778622"/>
                  </a:cubicBezTo>
                  <a:cubicBezTo>
                    <a:pt x="26461" y="778622"/>
                    <a:pt x="0" y="752172"/>
                    <a:pt x="0" y="719499"/>
                  </a:cubicBezTo>
                  <a:cubicBezTo>
                    <a:pt x="0" y="689592"/>
                    <a:pt x="22656" y="665735"/>
                    <a:pt x="51712" y="661932"/>
                  </a:cubicBezTo>
                  <a:lnTo>
                    <a:pt x="51712" y="116690"/>
                  </a:lnTo>
                  <a:cubicBezTo>
                    <a:pt x="22656" y="112886"/>
                    <a:pt x="0" y="89203"/>
                    <a:pt x="0" y="59123"/>
                  </a:cubicBezTo>
                  <a:cubicBezTo>
                    <a:pt x="0" y="26450"/>
                    <a:pt x="26461" y="0"/>
                    <a:pt x="59149" y="0"/>
                  </a:cubicBezTo>
                  <a:close/>
                </a:path>
              </a:pathLst>
            </a:custGeom>
            <a:solidFill>
              <a:srgbClr val="FFFFFF"/>
            </a:solidFill>
            <a:ln>
              <a:noFill/>
            </a:ln>
          </p:spPr>
          <p:txBody>
            <a:bodyPr spcFirstLastPara="1" wrap="square" lIns="121802" tIns="60884" rIns="121802" bIns="60884"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500"/>
                <a:buFontTx/>
                <a:buNone/>
                <a:tabLst/>
                <a:defRPr/>
              </a:pPr>
              <a:endParaRPr kumimoji="0" sz="2000"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2189" name="Google Shape;2189;p76"/>
          <p:cNvSpPr txBox="1"/>
          <p:nvPr/>
        </p:nvSpPr>
        <p:spPr>
          <a:xfrm>
            <a:off x="5109002" y="1303454"/>
            <a:ext cx="2661707" cy="120494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Tx/>
              <a:buNone/>
              <a:tabLst/>
              <a:defRPr/>
            </a:pPr>
            <a:r>
              <a:rPr kumimoji="0" lang="en" sz="1866" b="0" i="0" u="none" strike="noStrike" kern="1200" cap="none" spc="0" normalizeH="0" baseline="0" noProof="0" dirty="0">
                <a:ln>
                  <a:noFill/>
                </a:ln>
                <a:solidFill>
                  <a:srgbClr val="0193C2"/>
                </a:solidFill>
                <a:effectLst/>
                <a:uLnTx/>
                <a:uFillTx/>
                <a:latin typeface="Arial"/>
                <a:ea typeface="Arial"/>
                <a:cs typeface="Arial"/>
                <a:sym typeface="Arial"/>
              </a:rPr>
              <a:t>Unified Lifecycle Management</a:t>
            </a:r>
            <a:endParaRPr kumimoji="0" sz="1466" b="0"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667"/>
              </a:spcBef>
              <a:spcAft>
                <a:spcPts val="667"/>
              </a:spcAft>
              <a:buClr>
                <a:srgbClr val="000000"/>
              </a:buClr>
              <a:buSzPts val="1400"/>
              <a:buFontTx/>
              <a:buNone/>
              <a:tabLst/>
              <a:defRPr/>
            </a:pPr>
            <a:r>
              <a:rPr kumimoji="0" lang="en" sz="1466" b="0" i="0" u="none" strike="noStrike" kern="1200" cap="none" spc="0" normalizeH="0" baseline="0" noProof="0" dirty="0">
                <a:ln>
                  <a:noFill/>
                </a:ln>
                <a:solidFill>
                  <a:srgbClr val="000000"/>
                </a:solidFill>
                <a:effectLst/>
                <a:uLnTx/>
                <a:uFillTx/>
                <a:latin typeface="Arial"/>
                <a:ea typeface="Arial"/>
                <a:cs typeface="Arial"/>
                <a:sym typeface="Arial"/>
              </a:rPr>
              <a:t>Desired state definition, deployment and deletion</a:t>
            </a:r>
            <a:endParaRPr kumimoji="0" sz="1466"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90" name="Google Shape;2190;p76"/>
          <p:cNvSpPr txBox="1"/>
          <p:nvPr/>
        </p:nvSpPr>
        <p:spPr>
          <a:xfrm>
            <a:off x="5109002" y="2660633"/>
            <a:ext cx="2661707" cy="120494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Tx/>
              <a:buNone/>
              <a:tabLst/>
              <a:defRPr/>
            </a:pPr>
            <a:r>
              <a:rPr kumimoji="0" lang="en" sz="1866" b="0" i="0" u="none" strike="noStrike" kern="1200" cap="none" spc="0" normalizeH="0" baseline="0" noProof="0" dirty="0">
                <a:ln>
                  <a:noFill/>
                </a:ln>
                <a:solidFill>
                  <a:srgbClr val="007B8C"/>
                </a:solidFill>
                <a:effectLst/>
                <a:uLnTx/>
                <a:uFillTx/>
                <a:latin typeface="Arial"/>
                <a:ea typeface="Arial"/>
                <a:cs typeface="Arial"/>
                <a:sym typeface="Arial"/>
              </a:rPr>
              <a:t>Unified Automation and Config Management</a:t>
            </a:r>
            <a:endParaRPr kumimoji="0" sz="1866" b="0" i="0" u="none" strike="noStrike" kern="120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667"/>
              </a:spcBef>
              <a:spcAft>
                <a:spcPts val="667"/>
              </a:spcAft>
              <a:buClr>
                <a:srgbClr val="000000"/>
              </a:buClr>
              <a:buSzPts val="1400"/>
              <a:buFontTx/>
              <a:buNone/>
              <a:tabLst/>
              <a:defRPr/>
            </a:pPr>
            <a:r>
              <a:rPr kumimoji="0" lang="en" sz="1466" b="0" i="0" u="none" strike="noStrike" kern="1200" cap="none" spc="0" normalizeH="0" baseline="0" noProof="0" dirty="0">
                <a:ln>
                  <a:noFill/>
                </a:ln>
                <a:solidFill>
                  <a:srgbClr val="000000"/>
                </a:solidFill>
                <a:effectLst/>
                <a:uLnTx/>
                <a:uFillTx/>
                <a:latin typeface="Arial"/>
                <a:ea typeface="Arial"/>
                <a:cs typeface="Arial"/>
                <a:sym typeface="Arial"/>
              </a:rPr>
              <a:t>Same tools targeting both VMs and Kubernetes</a:t>
            </a:r>
            <a:endParaRPr kumimoji="0" sz="1466" b="0" i="0" u="none" strike="noStrike" kern="1200" cap="none" spc="0" normalizeH="0" baseline="0" noProof="0" dirty="0">
              <a:ln>
                <a:noFill/>
              </a:ln>
              <a:solidFill>
                <a:srgbClr val="000000"/>
              </a:solidFill>
              <a:effectLst/>
              <a:uLnTx/>
              <a:uFillTx/>
              <a:latin typeface="Arial"/>
              <a:ea typeface="Arial"/>
              <a:cs typeface="Arial"/>
              <a:sym typeface="Arial"/>
            </a:endParaRPr>
          </a:p>
        </p:txBody>
      </p:sp>
      <p:sp>
        <p:nvSpPr>
          <p:cNvPr id="2191" name="Google Shape;2191;p76"/>
          <p:cNvSpPr txBox="1"/>
          <p:nvPr/>
        </p:nvSpPr>
        <p:spPr>
          <a:xfrm>
            <a:off x="5109035" y="4106590"/>
            <a:ext cx="2661707" cy="91781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Tx/>
              <a:buNone/>
              <a:tabLst/>
              <a:defRPr/>
            </a:pPr>
            <a:r>
              <a:rPr kumimoji="0" lang="en" sz="1866" b="0" i="0" u="none" strike="noStrike" kern="1200" cap="none" spc="0" normalizeH="0" baseline="0" noProof="0">
                <a:ln>
                  <a:noFill/>
                </a:ln>
                <a:solidFill>
                  <a:srgbClr val="61A60E"/>
                </a:solidFill>
                <a:effectLst/>
                <a:uLnTx/>
                <a:uFillTx/>
                <a:latin typeface="Arial"/>
                <a:ea typeface="Arial"/>
                <a:cs typeface="Arial"/>
                <a:sym typeface="Arial"/>
              </a:rPr>
              <a:t>Integrate with Build Tools</a:t>
            </a:r>
            <a:endParaRPr kumimoji="0" sz="1866" b="0" i="0" u="none" strike="noStrike" kern="1200" cap="none" spc="0" normalizeH="0" baseline="0" noProof="0">
              <a:ln>
                <a:noFill/>
              </a:ln>
              <a:solidFill>
                <a:srgbClr val="61A60E"/>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667"/>
              </a:spcBef>
              <a:spcAft>
                <a:spcPts val="667"/>
              </a:spcAft>
              <a:buClr>
                <a:srgbClr val="000000"/>
              </a:buClr>
              <a:buSzPts val="1400"/>
              <a:buFontTx/>
              <a:buNone/>
              <a:tabLst/>
              <a:defRPr/>
            </a:pPr>
            <a:r>
              <a:rPr kumimoji="0" lang="en" sz="1466" b="0" i="0" u="none" strike="noStrike" kern="1200" cap="none" spc="0" normalizeH="0" baseline="0" noProof="0">
                <a:ln>
                  <a:noFill/>
                </a:ln>
                <a:solidFill>
                  <a:srgbClr val="000000"/>
                </a:solidFill>
                <a:effectLst/>
                <a:uLnTx/>
                <a:uFillTx/>
                <a:latin typeface="Arial"/>
                <a:ea typeface="Arial"/>
                <a:cs typeface="Arial"/>
                <a:sym typeface="Arial"/>
              </a:rPr>
              <a:t>Build, customize, and publish VM images and templates</a:t>
            </a: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192" name="Google Shape;2192;p76"/>
          <p:cNvSpPr txBox="1">
            <a:spLocks noGrp="1"/>
          </p:cNvSpPr>
          <p:nvPr>
            <p:ph type="title"/>
          </p:nvPr>
        </p:nvSpPr>
        <p:spPr>
          <a:xfrm>
            <a:off x="579815" y="413536"/>
            <a:ext cx="11001134" cy="381101"/>
          </a:xfrm>
          <a:prstGeom prst="rect">
            <a:avLst/>
          </a:prstGeom>
          <a:noFill/>
          <a:ln>
            <a:noFill/>
          </a:ln>
        </p:spPr>
        <p:txBody>
          <a:bodyPr spcFirstLastPara="1" vert="horz" wrap="square" lIns="0" tIns="0" rIns="0" bIns="0" rtlCol="0" anchor="b" anchorCtr="0">
            <a:noAutofit/>
          </a:bodyPr>
          <a:lstStyle/>
          <a:p>
            <a:pPr>
              <a:buClr>
                <a:schemeClr val="accent2"/>
              </a:buClr>
              <a:buSzPts val="2100"/>
            </a:pPr>
            <a:r>
              <a:rPr lang="en" dirty="0"/>
              <a:t>Unified Management and Operations Across VMs and Containers  </a:t>
            </a:r>
            <a:endParaRPr dirty="0"/>
          </a:p>
        </p:txBody>
      </p:sp>
      <p:grpSp>
        <p:nvGrpSpPr>
          <p:cNvPr id="2193" name="Google Shape;2193;p76"/>
          <p:cNvGrpSpPr/>
          <p:nvPr/>
        </p:nvGrpSpPr>
        <p:grpSpPr>
          <a:xfrm>
            <a:off x="4410487" y="5446086"/>
            <a:ext cx="539104" cy="538960"/>
            <a:chOff x="4630860" y="5429496"/>
            <a:chExt cx="539100" cy="539100"/>
          </a:xfrm>
        </p:grpSpPr>
        <p:sp>
          <p:nvSpPr>
            <p:cNvPr id="2194" name="Google Shape;2194;p76"/>
            <p:cNvSpPr/>
            <p:nvPr/>
          </p:nvSpPr>
          <p:spPr>
            <a:xfrm>
              <a:off x="4630860" y="5429496"/>
              <a:ext cx="539100" cy="539100"/>
            </a:xfrm>
            <a:prstGeom prst="ellipse">
              <a:avLst/>
            </a:prstGeom>
            <a:gradFill>
              <a:gsLst>
                <a:gs pos="0">
                  <a:srgbClr val="3D5290"/>
                </a:gs>
                <a:gs pos="18000">
                  <a:srgbClr val="3D5290"/>
                </a:gs>
                <a:gs pos="100000">
                  <a:schemeClr val="accent5"/>
                </a:gs>
              </a:gsLst>
              <a:lin ang="18900044" scaled="0"/>
            </a:gradFill>
            <a:ln>
              <a:noFill/>
            </a:ln>
            <a:effectLst>
              <a:outerShdw sx="120000" sy="120000" algn="ctr" rotWithShape="0">
                <a:srgbClr val="6C4B94">
                  <a:alpha val="23140"/>
                </a:srgbClr>
              </a:outerShdw>
            </a:effectLst>
          </p:spPr>
          <p:txBody>
            <a:bodyPr spcFirstLastPara="1" wrap="square" lIns="91343" tIns="45655" rIns="91343"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2195" name="Google Shape;2195;p76"/>
            <p:cNvPicPr preferRelativeResize="0"/>
            <p:nvPr/>
          </p:nvPicPr>
          <p:blipFill rotWithShape="1">
            <a:blip r:embed="rId4">
              <a:alphaModFix/>
            </a:blip>
            <a:srcRect/>
            <a:stretch/>
          </p:blipFill>
          <p:spPr>
            <a:xfrm>
              <a:off x="4721080" y="5519058"/>
              <a:ext cx="359114" cy="349091"/>
            </a:xfrm>
            <a:prstGeom prst="rect">
              <a:avLst/>
            </a:prstGeom>
            <a:noFill/>
            <a:ln>
              <a:noFill/>
            </a:ln>
          </p:spPr>
        </p:pic>
      </p:grpSp>
      <p:sp>
        <p:nvSpPr>
          <p:cNvPr id="2196" name="Google Shape;2196;p76"/>
          <p:cNvSpPr txBox="1"/>
          <p:nvPr/>
        </p:nvSpPr>
        <p:spPr>
          <a:xfrm>
            <a:off x="5109002" y="5305345"/>
            <a:ext cx="2661707" cy="91781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Tx/>
              <a:buNone/>
              <a:tabLst/>
              <a:defRPr/>
            </a:pPr>
            <a:r>
              <a:rPr kumimoji="0" lang="en" sz="1866" b="0" i="0" u="none" strike="noStrike" kern="1200" cap="none" spc="0" normalizeH="0" baseline="0" noProof="0">
                <a:ln>
                  <a:noFill/>
                </a:ln>
                <a:solidFill>
                  <a:srgbClr val="6C4B8F"/>
                </a:solidFill>
                <a:effectLst/>
                <a:uLnTx/>
                <a:uFillTx/>
                <a:latin typeface="Arial"/>
                <a:ea typeface="Arial"/>
                <a:cs typeface="Arial"/>
                <a:sym typeface="Arial"/>
              </a:rPr>
              <a:t>Unified GitOps</a:t>
            </a:r>
            <a:endParaRPr kumimoji="0" sz="1866" b="0" i="0" u="none" strike="noStrike" kern="1200" cap="none" spc="0" normalizeH="0" baseline="0" noProof="0">
              <a:ln>
                <a:noFill/>
              </a:ln>
              <a:solidFill>
                <a:srgbClr val="6C4B8F"/>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667"/>
              </a:spcBef>
              <a:spcAft>
                <a:spcPts val="667"/>
              </a:spcAft>
              <a:buClr>
                <a:srgbClr val="000000"/>
              </a:buClr>
              <a:buSzPts val="1400"/>
              <a:buFontTx/>
              <a:buNone/>
              <a:tabLst/>
              <a:defRPr/>
            </a:pPr>
            <a:r>
              <a:rPr kumimoji="0" lang="en" sz="1466" b="0" i="0" u="none" strike="noStrike" kern="1200" cap="none" spc="0" normalizeH="0" baseline="0" noProof="0">
                <a:ln>
                  <a:noFill/>
                </a:ln>
                <a:solidFill>
                  <a:srgbClr val="000000"/>
                </a:solidFill>
                <a:effectLst/>
                <a:uLnTx/>
                <a:uFillTx/>
                <a:latin typeface="Arial"/>
                <a:ea typeface="Arial"/>
                <a:cs typeface="Arial"/>
                <a:sym typeface="Arial"/>
              </a:rPr>
              <a:t>Continuous delivery targeting both VMs and Kubernetes</a:t>
            </a: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197" name="Google Shape;2197;p76"/>
          <p:cNvGrpSpPr/>
          <p:nvPr/>
        </p:nvGrpSpPr>
        <p:grpSpPr>
          <a:xfrm>
            <a:off x="4410486" y="2753922"/>
            <a:ext cx="539104" cy="538960"/>
            <a:chOff x="4410459" y="3148120"/>
            <a:chExt cx="539100" cy="539100"/>
          </a:xfrm>
        </p:grpSpPr>
        <p:sp>
          <p:nvSpPr>
            <p:cNvPr id="2198" name="Google Shape;2198;p76"/>
            <p:cNvSpPr/>
            <p:nvPr/>
          </p:nvSpPr>
          <p:spPr>
            <a:xfrm>
              <a:off x="4410459" y="3148120"/>
              <a:ext cx="539100" cy="539100"/>
            </a:xfrm>
            <a:prstGeom prst="ellipse">
              <a:avLst/>
            </a:prstGeom>
            <a:gradFill>
              <a:gsLst>
                <a:gs pos="0">
                  <a:srgbClr val="003D46"/>
                </a:gs>
                <a:gs pos="1000">
                  <a:srgbClr val="003D46"/>
                </a:gs>
                <a:gs pos="14000">
                  <a:srgbClr val="003D46"/>
                </a:gs>
                <a:gs pos="60000">
                  <a:schemeClr val="accent1"/>
                </a:gs>
                <a:gs pos="100000">
                  <a:schemeClr val="accent1"/>
                </a:gs>
              </a:gsLst>
              <a:lin ang="18900044" scaled="0"/>
            </a:gradFill>
            <a:ln>
              <a:noFill/>
            </a:ln>
            <a:effectLst>
              <a:outerShdw sx="120000" sy="120000" algn="ctr" rotWithShape="0">
                <a:schemeClr val="accent1">
                  <a:alpha val="22750"/>
                </a:schemeClr>
              </a:outerShdw>
            </a:effectLst>
          </p:spPr>
          <p:txBody>
            <a:bodyPr spcFirstLastPara="1" wrap="square" lIns="91343" tIns="45655" rIns="91343"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199" name="Google Shape;2199;p76"/>
            <p:cNvSpPr/>
            <p:nvPr/>
          </p:nvSpPr>
          <p:spPr>
            <a:xfrm>
              <a:off x="4514726" y="3252201"/>
              <a:ext cx="328550" cy="327935"/>
            </a:xfrm>
            <a:custGeom>
              <a:avLst/>
              <a:gdLst/>
              <a:ahLst/>
              <a:cxnLst/>
              <a:rect l="l" t="t" r="r" b="b"/>
              <a:pathLst>
                <a:path w="534227" h="533227" extrusionOk="0">
                  <a:moveTo>
                    <a:pt x="129547" y="24088"/>
                  </a:moveTo>
                  <a:cubicBezTo>
                    <a:pt x="146399" y="16929"/>
                    <a:pt x="163341" y="9325"/>
                    <a:pt x="180683" y="2833"/>
                  </a:cubicBezTo>
                  <a:cubicBezTo>
                    <a:pt x="184373" y="1454"/>
                    <a:pt x="191088" y="2566"/>
                    <a:pt x="193800" y="5234"/>
                  </a:cubicBezTo>
                  <a:cubicBezTo>
                    <a:pt x="204872" y="15995"/>
                    <a:pt x="215233" y="27556"/>
                    <a:pt x="225193" y="39339"/>
                  </a:cubicBezTo>
                  <a:cubicBezTo>
                    <a:pt x="230974" y="46187"/>
                    <a:pt x="237243" y="47966"/>
                    <a:pt x="246048" y="47254"/>
                  </a:cubicBezTo>
                  <a:cubicBezTo>
                    <a:pt x="259076" y="46187"/>
                    <a:pt x="272283" y="47655"/>
                    <a:pt x="285311" y="46676"/>
                  </a:cubicBezTo>
                  <a:cubicBezTo>
                    <a:pt x="291181" y="46232"/>
                    <a:pt x="298073" y="43786"/>
                    <a:pt x="302208" y="39784"/>
                  </a:cubicBezTo>
                  <a:cubicBezTo>
                    <a:pt x="312969" y="29424"/>
                    <a:pt x="322929" y="18085"/>
                    <a:pt x="332267" y="6435"/>
                  </a:cubicBezTo>
                  <a:cubicBezTo>
                    <a:pt x="338137" y="-858"/>
                    <a:pt x="343651" y="-1480"/>
                    <a:pt x="351699" y="2210"/>
                  </a:cubicBezTo>
                  <a:cubicBezTo>
                    <a:pt x="364550" y="8124"/>
                    <a:pt x="377623" y="13505"/>
                    <a:pt x="390962" y="18218"/>
                  </a:cubicBezTo>
                  <a:cubicBezTo>
                    <a:pt x="399100" y="21108"/>
                    <a:pt x="401634" y="25644"/>
                    <a:pt x="400923" y="34048"/>
                  </a:cubicBezTo>
                  <a:cubicBezTo>
                    <a:pt x="399633" y="48944"/>
                    <a:pt x="398655" y="63974"/>
                    <a:pt x="398966" y="78914"/>
                  </a:cubicBezTo>
                  <a:cubicBezTo>
                    <a:pt x="399055" y="84206"/>
                    <a:pt x="402079" y="90431"/>
                    <a:pt x="405770" y="94477"/>
                  </a:cubicBezTo>
                  <a:cubicBezTo>
                    <a:pt x="415508" y="105283"/>
                    <a:pt x="425913" y="115510"/>
                    <a:pt x="436851" y="125070"/>
                  </a:cubicBezTo>
                  <a:cubicBezTo>
                    <a:pt x="440987" y="128716"/>
                    <a:pt x="447256" y="131873"/>
                    <a:pt x="452592" y="131873"/>
                  </a:cubicBezTo>
                  <a:cubicBezTo>
                    <a:pt x="468467" y="131962"/>
                    <a:pt x="484385" y="130628"/>
                    <a:pt x="500215" y="129383"/>
                  </a:cubicBezTo>
                  <a:cubicBezTo>
                    <a:pt x="507019" y="128849"/>
                    <a:pt x="510532" y="131117"/>
                    <a:pt x="513066" y="137520"/>
                  </a:cubicBezTo>
                  <a:cubicBezTo>
                    <a:pt x="518713" y="151927"/>
                    <a:pt x="524761" y="166156"/>
                    <a:pt x="531431" y="180119"/>
                  </a:cubicBezTo>
                  <a:cubicBezTo>
                    <a:pt x="534765" y="187055"/>
                    <a:pt x="533343" y="191324"/>
                    <a:pt x="527829" y="196038"/>
                  </a:cubicBezTo>
                  <a:cubicBezTo>
                    <a:pt x="516090" y="206087"/>
                    <a:pt x="504217" y="216136"/>
                    <a:pt x="493723" y="227386"/>
                  </a:cubicBezTo>
                  <a:cubicBezTo>
                    <a:pt x="489677" y="231744"/>
                    <a:pt x="487809" y="239392"/>
                    <a:pt x="487365" y="245706"/>
                  </a:cubicBezTo>
                  <a:cubicBezTo>
                    <a:pt x="486431" y="258824"/>
                    <a:pt x="486386" y="272075"/>
                    <a:pt x="487454" y="285148"/>
                  </a:cubicBezTo>
                  <a:cubicBezTo>
                    <a:pt x="487987" y="291417"/>
                    <a:pt x="490344" y="298799"/>
                    <a:pt x="494479" y="303201"/>
                  </a:cubicBezTo>
                  <a:cubicBezTo>
                    <a:pt x="505062" y="314362"/>
                    <a:pt x="516935" y="324367"/>
                    <a:pt x="528763" y="334282"/>
                  </a:cubicBezTo>
                  <a:cubicBezTo>
                    <a:pt x="534410" y="338996"/>
                    <a:pt x="535699" y="343220"/>
                    <a:pt x="532542" y="350157"/>
                  </a:cubicBezTo>
                  <a:cubicBezTo>
                    <a:pt x="526184" y="364208"/>
                    <a:pt x="520403" y="378615"/>
                    <a:pt x="515067" y="393111"/>
                  </a:cubicBezTo>
                  <a:cubicBezTo>
                    <a:pt x="512444" y="400270"/>
                    <a:pt x="508175" y="402138"/>
                    <a:pt x="501060" y="401604"/>
                  </a:cubicBezTo>
                  <a:cubicBezTo>
                    <a:pt x="486164" y="400537"/>
                    <a:pt x="471179" y="399292"/>
                    <a:pt x="456283" y="399781"/>
                  </a:cubicBezTo>
                  <a:cubicBezTo>
                    <a:pt x="450191" y="400003"/>
                    <a:pt x="443166" y="403249"/>
                    <a:pt x="438497" y="407340"/>
                  </a:cubicBezTo>
                  <a:cubicBezTo>
                    <a:pt x="428892" y="415655"/>
                    <a:pt x="421244" y="426238"/>
                    <a:pt x="411550" y="434420"/>
                  </a:cubicBezTo>
                  <a:cubicBezTo>
                    <a:pt x="403591" y="441134"/>
                    <a:pt x="400523" y="448071"/>
                    <a:pt x="401545" y="458431"/>
                  </a:cubicBezTo>
                  <a:cubicBezTo>
                    <a:pt x="403146" y="475106"/>
                    <a:pt x="409416" y="495605"/>
                    <a:pt x="402212" y="507611"/>
                  </a:cubicBezTo>
                  <a:cubicBezTo>
                    <a:pt x="395142" y="519394"/>
                    <a:pt x="373532" y="522196"/>
                    <a:pt x="358769" y="529755"/>
                  </a:cubicBezTo>
                  <a:cubicBezTo>
                    <a:pt x="348809" y="534869"/>
                    <a:pt x="341605" y="534691"/>
                    <a:pt x="334268" y="524997"/>
                  </a:cubicBezTo>
                  <a:cubicBezTo>
                    <a:pt x="326042" y="514103"/>
                    <a:pt x="316749" y="503831"/>
                    <a:pt x="306655" y="494627"/>
                  </a:cubicBezTo>
                  <a:cubicBezTo>
                    <a:pt x="302119" y="490491"/>
                    <a:pt x="294738" y="488090"/>
                    <a:pt x="288424" y="487646"/>
                  </a:cubicBezTo>
                  <a:cubicBezTo>
                    <a:pt x="274506" y="486667"/>
                    <a:pt x="260410" y="486801"/>
                    <a:pt x="246492" y="487735"/>
                  </a:cubicBezTo>
                  <a:cubicBezTo>
                    <a:pt x="241112" y="488090"/>
                    <a:pt x="234709" y="490758"/>
                    <a:pt x="230929" y="494538"/>
                  </a:cubicBezTo>
                  <a:cubicBezTo>
                    <a:pt x="219724" y="505699"/>
                    <a:pt x="210030" y="518372"/>
                    <a:pt x="198780" y="529444"/>
                  </a:cubicBezTo>
                  <a:cubicBezTo>
                    <a:pt x="195668" y="532467"/>
                    <a:pt x="188420" y="534113"/>
                    <a:pt x="184284" y="532734"/>
                  </a:cubicBezTo>
                  <a:cubicBezTo>
                    <a:pt x="169210" y="527710"/>
                    <a:pt x="154403" y="521707"/>
                    <a:pt x="140130" y="514770"/>
                  </a:cubicBezTo>
                  <a:cubicBezTo>
                    <a:pt x="136350" y="512902"/>
                    <a:pt x="132704" y="506455"/>
                    <a:pt x="132615" y="502008"/>
                  </a:cubicBezTo>
                  <a:cubicBezTo>
                    <a:pt x="132304" y="487068"/>
                    <a:pt x="133015" y="472038"/>
                    <a:pt x="134527" y="457186"/>
                  </a:cubicBezTo>
                  <a:cubicBezTo>
                    <a:pt x="135416" y="448471"/>
                    <a:pt x="132170" y="443358"/>
                    <a:pt x="125812" y="438155"/>
                  </a:cubicBezTo>
                  <a:cubicBezTo>
                    <a:pt x="117319" y="431174"/>
                    <a:pt x="108559" y="423926"/>
                    <a:pt x="102111" y="415166"/>
                  </a:cubicBezTo>
                  <a:cubicBezTo>
                    <a:pt x="93663" y="403649"/>
                    <a:pt x="83702" y="400492"/>
                    <a:pt x="70185" y="402404"/>
                  </a:cubicBezTo>
                  <a:cubicBezTo>
                    <a:pt x="58401" y="404094"/>
                    <a:pt x="46351" y="403738"/>
                    <a:pt x="34523" y="404983"/>
                  </a:cubicBezTo>
                  <a:cubicBezTo>
                    <a:pt x="26875" y="405784"/>
                    <a:pt x="22562" y="403694"/>
                    <a:pt x="19671" y="396046"/>
                  </a:cubicBezTo>
                  <a:cubicBezTo>
                    <a:pt x="14246" y="381594"/>
                    <a:pt x="7176" y="367765"/>
                    <a:pt x="1840" y="353269"/>
                  </a:cubicBezTo>
                  <a:cubicBezTo>
                    <a:pt x="506" y="349579"/>
                    <a:pt x="1707" y="342909"/>
                    <a:pt x="4419" y="340152"/>
                  </a:cubicBezTo>
                  <a:cubicBezTo>
                    <a:pt x="14869" y="329391"/>
                    <a:pt x="26074" y="319342"/>
                    <a:pt x="37547" y="309648"/>
                  </a:cubicBezTo>
                  <a:cubicBezTo>
                    <a:pt x="45061" y="303334"/>
                    <a:pt x="48085" y="296486"/>
                    <a:pt x="46262" y="286570"/>
                  </a:cubicBezTo>
                  <a:cubicBezTo>
                    <a:pt x="44661" y="277988"/>
                    <a:pt x="43105" y="268606"/>
                    <a:pt x="44972" y="260335"/>
                  </a:cubicBezTo>
                  <a:cubicBezTo>
                    <a:pt x="48708" y="243928"/>
                    <a:pt x="43816" y="232944"/>
                    <a:pt x="30610" y="223073"/>
                  </a:cubicBezTo>
                  <a:cubicBezTo>
                    <a:pt x="19093" y="214402"/>
                    <a:pt x="3263" y="204842"/>
                    <a:pt x="462" y="193014"/>
                  </a:cubicBezTo>
                  <a:cubicBezTo>
                    <a:pt x="-2339" y="181275"/>
                    <a:pt x="8288" y="166068"/>
                    <a:pt x="13802" y="152683"/>
                  </a:cubicBezTo>
                  <a:cubicBezTo>
                    <a:pt x="22873" y="130584"/>
                    <a:pt x="17003" y="132096"/>
                    <a:pt x="43816" y="133830"/>
                  </a:cubicBezTo>
                  <a:cubicBezTo>
                    <a:pt x="45106" y="133919"/>
                    <a:pt x="46440" y="133919"/>
                    <a:pt x="47729" y="134141"/>
                  </a:cubicBezTo>
                  <a:cubicBezTo>
                    <a:pt x="73075" y="138499"/>
                    <a:pt x="92418" y="132585"/>
                    <a:pt x="110960" y="111597"/>
                  </a:cubicBezTo>
                  <a:cubicBezTo>
                    <a:pt x="126078" y="94522"/>
                    <a:pt x="134972" y="80115"/>
                    <a:pt x="129991" y="57393"/>
                  </a:cubicBezTo>
                  <a:cubicBezTo>
                    <a:pt x="127724" y="46899"/>
                    <a:pt x="129591" y="35471"/>
                    <a:pt x="129591" y="24043"/>
                  </a:cubicBezTo>
                  <a:close/>
                  <a:moveTo>
                    <a:pt x="266635" y="378971"/>
                  </a:moveTo>
                  <a:cubicBezTo>
                    <a:pt x="324486" y="379060"/>
                    <a:pt x="377623" y="331792"/>
                    <a:pt x="378201" y="268206"/>
                  </a:cubicBezTo>
                  <a:cubicBezTo>
                    <a:pt x="378779" y="207376"/>
                    <a:pt x="327999" y="155618"/>
                    <a:pt x="266947" y="155574"/>
                  </a:cubicBezTo>
                  <a:cubicBezTo>
                    <a:pt x="207540" y="155574"/>
                    <a:pt x="154270" y="202885"/>
                    <a:pt x="154803" y="268339"/>
                  </a:cubicBezTo>
                  <a:cubicBezTo>
                    <a:pt x="155293" y="325478"/>
                    <a:pt x="201937" y="378971"/>
                    <a:pt x="266635" y="378926"/>
                  </a:cubicBezTo>
                  <a:close/>
                </a:path>
              </a:pathLst>
            </a:custGeom>
            <a:solidFill>
              <a:schemeClr val="lt1"/>
            </a:solidFill>
            <a:ln>
              <a:noFill/>
            </a:ln>
          </p:spPr>
          <p:txBody>
            <a:bodyPr spcFirstLastPara="1" wrap="square" lIns="91376" tIns="45655" rIns="91376" bIns="4565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200" name="Google Shape;2200;p76"/>
          <p:cNvGrpSpPr/>
          <p:nvPr/>
        </p:nvGrpSpPr>
        <p:grpSpPr>
          <a:xfrm>
            <a:off x="4387127" y="4172137"/>
            <a:ext cx="579904" cy="581249"/>
            <a:chOff x="4387100" y="4387850"/>
            <a:chExt cx="579900" cy="581400"/>
          </a:xfrm>
        </p:grpSpPr>
        <p:sp>
          <p:nvSpPr>
            <p:cNvPr id="2201" name="Google Shape;2201;p76"/>
            <p:cNvSpPr/>
            <p:nvPr/>
          </p:nvSpPr>
          <p:spPr>
            <a:xfrm>
              <a:off x="4387100" y="4387850"/>
              <a:ext cx="579900" cy="581400"/>
            </a:xfrm>
            <a:prstGeom prst="ellipse">
              <a:avLst/>
            </a:prstGeom>
            <a:gradFill>
              <a:gsLst>
                <a:gs pos="0">
                  <a:srgbClr val="17856E"/>
                </a:gs>
                <a:gs pos="16000">
                  <a:srgbClr val="17856E"/>
                </a:gs>
                <a:gs pos="100000">
                  <a:schemeClr val="accent4"/>
                </a:gs>
              </a:gsLst>
              <a:lin ang="18900044" scaled="0"/>
            </a:gradFill>
            <a:ln>
              <a:noFill/>
            </a:ln>
            <a:effectLst>
              <a:outerShdw sx="120000" sy="120000" algn="ctr" rotWithShape="0">
                <a:srgbClr val="61A60E">
                  <a:alpha val="21570"/>
                </a:srgbClr>
              </a:outerShdw>
            </a:effectLst>
          </p:spPr>
          <p:txBody>
            <a:bodyPr spcFirstLastPara="1" wrap="square" lIns="91310" tIns="45655" rIns="91310" bIns="4565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Tx/>
                <a:buNone/>
                <a:tabLst/>
                <a:defRPr/>
              </a:pPr>
              <a:endParaRPr kumimoji="0" sz="1200" b="0" i="0" u="none" strike="noStrike" kern="1200" cap="none" spc="0" normalizeH="0" baseline="0" noProof="0">
                <a:ln>
                  <a:noFill/>
                </a:ln>
                <a:solidFill>
                  <a:srgbClr val="FFFFFF"/>
                </a:solidFill>
                <a:effectLst/>
                <a:uLnTx/>
                <a:uFillTx/>
                <a:latin typeface="Arial"/>
                <a:ea typeface="Arial"/>
                <a:cs typeface="Arial"/>
                <a:sym typeface="Arial"/>
              </a:endParaRPr>
            </a:p>
          </p:txBody>
        </p:sp>
        <p:pic>
          <p:nvPicPr>
            <p:cNvPr id="2202" name="Google Shape;2202;p76"/>
            <p:cNvPicPr preferRelativeResize="0"/>
            <p:nvPr/>
          </p:nvPicPr>
          <p:blipFill rotWithShape="1">
            <a:blip r:embed="rId5">
              <a:alphaModFix/>
            </a:blip>
            <a:srcRect/>
            <a:stretch/>
          </p:blipFill>
          <p:spPr>
            <a:xfrm>
              <a:off x="4516925" y="4518398"/>
              <a:ext cx="328250" cy="328250"/>
            </a:xfrm>
            <a:prstGeom prst="rect">
              <a:avLst/>
            </a:prstGeom>
            <a:noFill/>
            <a:ln>
              <a:noFill/>
            </a:ln>
          </p:spPr>
        </p:pic>
      </p:grpSp>
      <p:grpSp>
        <p:nvGrpSpPr>
          <p:cNvPr id="2280" name="Google Shape;2280;p76"/>
          <p:cNvGrpSpPr/>
          <p:nvPr/>
        </p:nvGrpSpPr>
        <p:grpSpPr>
          <a:xfrm>
            <a:off x="387253" y="4310852"/>
            <a:ext cx="3509542" cy="1728470"/>
            <a:chOff x="8295851" y="4893392"/>
            <a:chExt cx="3635518" cy="1790760"/>
          </a:xfrm>
        </p:grpSpPr>
        <p:grpSp>
          <p:nvGrpSpPr>
            <p:cNvPr id="2281" name="Google Shape;2281;p76"/>
            <p:cNvGrpSpPr/>
            <p:nvPr/>
          </p:nvGrpSpPr>
          <p:grpSpPr>
            <a:xfrm>
              <a:off x="8295851" y="4893392"/>
              <a:ext cx="3635518" cy="1790760"/>
              <a:chOff x="7414" y="956925"/>
              <a:chExt cx="6986006" cy="3441123"/>
            </a:xfrm>
          </p:grpSpPr>
          <p:sp>
            <p:nvSpPr>
              <p:cNvPr id="2282" name="Google Shape;2282;p76"/>
              <p:cNvSpPr/>
              <p:nvPr/>
            </p:nvSpPr>
            <p:spPr>
              <a:xfrm>
                <a:off x="7414" y="1914105"/>
                <a:ext cx="1926600" cy="1589100"/>
              </a:xfrm>
              <a:prstGeom prst="roundRect">
                <a:avLst>
                  <a:gd name="adj" fmla="val 10000"/>
                </a:avLst>
              </a:prstGeom>
              <a:solidFill>
                <a:srgbClr val="FFFFFF"/>
              </a:solidFill>
              <a:ln w="25400" cap="flat" cmpd="sng">
                <a:solidFill>
                  <a:srgbClr val="000000"/>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3" name="Google Shape;2283;p76"/>
              <p:cNvSpPr/>
              <p:nvPr/>
            </p:nvSpPr>
            <p:spPr>
              <a:xfrm>
                <a:off x="1101330" y="2332848"/>
                <a:ext cx="2065200" cy="2065200"/>
              </a:xfrm>
              <a:custGeom>
                <a:avLst/>
                <a:gdLst/>
                <a:ahLst/>
                <a:cxnLst/>
                <a:rect l="l" t="t" r="r" b="b"/>
                <a:pathLst>
                  <a:path w="120000" h="120000" extrusionOk="0">
                    <a:moveTo>
                      <a:pt x="9823" y="88499"/>
                    </a:moveTo>
                    <a:lnTo>
                      <a:pt x="12815" y="86800"/>
                    </a:lnTo>
                    <a:cubicBezTo>
                      <a:pt x="21955" y="102891"/>
                      <a:pt x="38665" y="113216"/>
                      <a:pt x="57146" y="114189"/>
                    </a:cubicBezTo>
                    <a:cubicBezTo>
                      <a:pt x="75627" y="115162"/>
                      <a:pt x="93329" y="106650"/>
                      <a:pt x="104109" y="91608"/>
                    </a:cubicBezTo>
                    <a:lnTo>
                      <a:pt x="102122" y="90479"/>
                    </a:lnTo>
                    <a:lnTo>
                      <a:pt x="108681" y="87649"/>
                    </a:lnTo>
                    <a:lnTo>
                      <a:pt x="109104" y="94445"/>
                    </a:lnTo>
                    <a:lnTo>
                      <a:pt x="107117" y="93316"/>
                    </a:lnTo>
                    <a:lnTo>
                      <a:pt x="107117" y="93316"/>
                    </a:lnTo>
                    <a:cubicBezTo>
                      <a:pt x="95717" y="109438"/>
                      <a:pt x="76867" y="118611"/>
                      <a:pt x="57146" y="117635"/>
                    </a:cubicBezTo>
                    <a:cubicBezTo>
                      <a:pt x="37426" y="116659"/>
                      <a:pt x="19574" y="105668"/>
                      <a:pt x="9823" y="88499"/>
                    </a:cubicBezTo>
                    <a:close/>
                  </a:path>
                </a:pathLst>
              </a:custGeom>
              <a:solidFill>
                <a:srgbClr val="A8BDC2"/>
              </a:solidFill>
              <a:ln>
                <a:noFill/>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4" name="Google Shape;2284;p76"/>
              <p:cNvSpPr/>
              <p:nvPr/>
            </p:nvSpPr>
            <p:spPr>
              <a:xfrm>
                <a:off x="435547" y="3162640"/>
                <a:ext cx="1712400" cy="681000"/>
              </a:xfrm>
              <a:prstGeom prst="roundRect">
                <a:avLst>
                  <a:gd name="adj" fmla="val 10000"/>
                </a:avLst>
              </a:prstGeom>
              <a:solidFill>
                <a:srgbClr val="0193C2"/>
              </a:solidFill>
              <a:ln w="25400" cap="flat" cmpd="sng">
                <a:solidFill>
                  <a:srgbClr val="003E51"/>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5" name="Google Shape;2285;p76"/>
              <p:cNvSpPr txBox="1"/>
              <p:nvPr/>
            </p:nvSpPr>
            <p:spPr>
              <a:xfrm>
                <a:off x="455493" y="3182586"/>
                <a:ext cx="1672500" cy="641100"/>
              </a:xfrm>
              <a:prstGeom prst="rect">
                <a:avLst/>
              </a:prstGeom>
              <a:noFill/>
              <a:ln>
                <a:noFill/>
              </a:ln>
            </p:spPr>
            <p:txBody>
              <a:bodyPr spcFirstLastPara="1" wrap="square" lIns="36157" tIns="24127" rIns="36157" bIns="24127" anchor="ctr" anchorCtr="0">
                <a:noAutofit/>
              </a:bodyPr>
              <a:lstStyle/>
              <a:p>
                <a:pPr marL="0" marR="0" lvl="0" indent="0" algn="ctr" defTabSz="914400" rtl="0" eaLnBrk="1" fontAlgn="auto" latinLnBrk="0" hangingPunct="1">
                  <a:lnSpc>
                    <a:spcPct val="90000"/>
                  </a:lnSpc>
                  <a:spcBef>
                    <a:spcPts val="0"/>
                  </a:spcBef>
                  <a:spcAft>
                    <a:spcPts val="0"/>
                  </a:spcAft>
                  <a:buClr>
                    <a:srgbClr val="FFFFFF"/>
                  </a:buClr>
                  <a:buSzPts val="1400"/>
                  <a:buFontTx/>
                  <a:buNone/>
                  <a:tabLst/>
                  <a:defRPr/>
                </a:pPr>
                <a:r>
                  <a:rPr kumimoji="0" lang="en" sz="1066" b="0" i="0" u="none" strike="noStrike" kern="1200" cap="none" spc="0" normalizeH="0" baseline="0" noProof="0">
                    <a:ln>
                      <a:noFill/>
                    </a:ln>
                    <a:solidFill>
                      <a:srgbClr val="FFFFFF"/>
                    </a:solidFill>
                    <a:effectLst/>
                    <a:uLnTx/>
                    <a:uFillTx/>
                    <a:latin typeface="Arial"/>
                    <a:ea typeface="Arial"/>
                    <a:cs typeface="Arial"/>
                    <a:sym typeface="Arial"/>
                  </a:rPr>
                  <a:t>Packer Template</a:t>
                </a:r>
                <a:endParaRPr kumimoji="0" sz="1066"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6" name="Google Shape;2286;p76"/>
              <p:cNvSpPr/>
              <p:nvPr/>
            </p:nvSpPr>
            <p:spPr>
              <a:xfrm>
                <a:off x="2430150" y="1914105"/>
                <a:ext cx="1926600" cy="1589100"/>
              </a:xfrm>
              <a:prstGeom prst="roundRect">
                <a:avLst>
                  <a:gd name="adj" fmla="val 10000"/>
                </a:avLst>
              </a:prstGeom>
              <a:solidFill>
                <a:srgbClr val="FFFFFF"/>
              </a:solidFill>
              <a:ln w="25400" cap="flat" cmpd="sng">
                <a:solidFill>
                  <a:srgbClr val="000000"/>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7" name="Google Shape;2287;p76"/>
              <p:cNvSpPr/>
              <p:nvPr/>
            </p:nvSpPr>
            <p:spPr>
              <a:xfrm>
                <a:off x="3508011" y="956925"/>
                <a:ext cx="2311500" cy="2311500"/>
              </a:xfrm>
              <a:custGeom>
                <a:avLst/>
                <a:gdLst/>
                <a:ahLst/>
                <a:cxnLst/>
                <a:rect l="l" t="t" r="r" b="b"/>
                <a:pathLst>
                  <a:path w="120000" h="120000" extrusionOk="0">
                    <a:moveTo>
                      <a:pt x="9610" y="31380"/>
                    </a:moveTo>
                    <a:lnTo>
                      <a:pt x="9610" y="31380"/>
                    </a:lnTo>
                    <a:cubicBezTo>
                      <a:pt x="19458" y="14042"/>
                      <a:pt x="37528" y="2984"/>
                      <a:pt x="57449" y="2106"/>
                    </a:cubicBezTo>
                    <a:cubicBezTo>
                      <a:pt x="77369" y="1229"/>
                      <a:pt x="96342" y="10654"/>
                      <a:pt x="107677" y="27059"/>
                    </a:cubicBezTo>
                    <a:lnTo>
                      <a:pt x="109454" y="26049"/>
                    </a:lnTo>
                    <a:lnTo>
                      <a:pt x="109053" y="32140"/>
                    </a:lnTo>
                    <a:lnTo>
                      <a:pt x="103215" y="29593"/>
                    </a:lnTo>
                    <a:lnTo>
                      <a:pt x="104992" y="28584"/>
                    </a:lnTo>
                    <a:lnTo>
                      <a:pt x="104992" y="28584"/>
                    </a:lnTo>
                    <a:cubicBezTo>
                      <a:pt x="94209" y="13143"/>
                      <a:pt x="76262" y="4309"/>
                      <a:pt x="57449" y="5185"/>
                    </a:cubicBezTo>
                    <a:cubicBezTo>
                      <a:pt x="38635" y="6061"/>
                      <a:pt x="21586" y="16523"/>
                      <a:pt x="12284" y="32899"/>
                    </a:cubicBezTo>
                    <a:close/>
                  </a:path>
                </a:pathLst>
              </a:custGeom>
              <a:solidFill>
                <a:srgbClr val="A8BDC2"/>
              </a:solidFill>
              <a:ln>
                <a:noFill/>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89" name="Google Shape;2289;p76"/>
              <p:cNvSpPr txBox="1"/>
              <p:nvPr/>
            </p:nvSpPr>
            <p:spPr>
              <a:xfrm>
                <a:off x="2854131" y="1542185"/>
                <a:ext cx="1672501" cy="641099"/>
              </a:xfrm>
              <a:prstGeom prst="rect">
                <a:avLst/>
              </a:prstGeom>
              <a:ln>
                <a:solidFill>
                  <a:schemeClr val="accent4">
                    <a:shade val="15000"/>
                  </a:schemeClr>
                </a:solidFill>
              </a:ln>
            </p:spPr>
            <p:style>
              <a:lnRef idx="2">
                <a:schemeClr val="accent4">
                  <a:shade val="15000"/>
                </a:schemeClr>
              </a:lnRef>
              <a:fillRef idx="1">
                <a:schemeClr val="accent4"/>
              </a:fillRef>
              <a:effectRef idx="0">
                <a:schemeClr val="accent4"/>
              </a:effectRef>
              <a:fontRef idx="minor">
                <a:schemeClr val="lt1"/>
              </a:fontRef>
            </p:style>
            <p:txBody>
              <a:bodyPr spcFirstLastPara="1" wrap="square" lIns="36157" tIns="24127" rIns="36157" bIns="24127" anchor="ctr" anchorCtr="0">
                <a:noAutofit/>
              </a:bodyPr>
              <a:lstStyle/>
              <a:p>
                <a:pPr marL="0" marR="0" lvl="0" indent="0" algn="ctr" defTabSz="914400" rtl="0" eaLnBrk="1" fontAlgn="auto" latinLnBrk="0" hangingPunct="1">
                  <a:lnSpc>
                    <a:spcPct val="90000"/>
                  </a:lnSpc>
                  <a:spcBef>
                    <a:spcPts val="0"/>
                  </a:spcBef>
                  <a:spcAft>
                    <a:spcPts val="0"/>
                  </a:spcAft>
                  <a:buClr>
                    <a:srgbClr val="FFFFFF"/>
                  </a:buClr>
                  <a:buSzPts val="1400"/>
                  <a:buFontTx/>
                  <a:buNone/>
                  <a:tabLst/>
                  <a:defRPr/>
                </a:pPr>
                <a:r>
                  <a:rPr kumimoji="0" lang="en" sz="1066" b="0" i="0" u="none" strike="noStrike" kern="1200" cap="none" spc="0" normalizeH="0" baseline="0" noProof="0">
                    <a:ln>
                      <a:noFill/>
                    </a:ln>
                    <a:solidFill>
                      <a:srgbClr val="FFFFFF"/>
                    </a:solidFill>
                    <a:effectLst/>
                    <a:uLnTx/>
                    <a:uFillTx/>
                    <a:latin typeface="Arial"/>
                    <a:ea typeface="Arial"/>
                    <a:cs typeface="Arial"/>
                    <a:sym typeface="Arial"/>
                  </a:rPr>
                  <a:t>Packer Plugin</a:t>
                </a:r>
                <a:endParaRPr kumimoji="0" sz="1066"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90" name="Google Shape;2290;p76"/>
              <p:cNvSpPr/>
              <p:nvPr/>
            </p:nvSpPr>
            <p:spPr>
              <a:xfrm>
                <a:off x="4852887" y="1914105"/>
                <a:ext cx="1926600" cy="1589100"/>
              </a:xfrm>
              <a:prstGeom prst="roundRect">
                <a:avLst>
                  <a:gd name="adj" fmla="val 10000"/>
                </a:avLst>
              </a:prstGeom>
              <a:solidFill>
                <a:srgbClr val="FFFFFF"/>
              </a:solidFill>
              <a:ln w="25400" cap="flat" cmpd="sng">
                <a:solidFill>
                  <a:srgbClr val="000000"/>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91" name="Google Shape;2291;p76"/>
              <p:cNvSpPr/>
              <p:nvPr/>
            </p:nvSpPr>
            <p:spPr>
              <a:xfrm>
                <a:off x="5281020" y="3162640"/>
                <a:ext cx="1712400" cy="681000"/>
              </a:xfrm>
              <a:prstGeom prst="roundRect">
                <a:avLst>
                  <a:gd name="adj" fmla="val 10000"/>
                </a:avLst>
              </a:prstGeom>
              <a:solidFill>
                <a:srgbClr val="6C4B8F"/>
              </a:solidFill>
              <a:ln w="25400" cap="flat" cmpd="sng">
                <a:solidFill>
                  <a:srgbClr val="2D1F3C"/>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92" name="Google Shape;2292;p76"/>
              <p:cNvSpPr txBox="1"/>
              <p:nvPr/>
            </p:nvSpPr>
            <p:spPr>
              <a:xfrm>
                <a:off x="5300966" y="3182586"/>
                <a:ext cx="1672500" cy="641100"/>
              </a:xfrm>
              <a:prstGeom prst="rect">
                <a:avLst/>
              </a:prstGeom>
              <a:noFill/>
              <a:ln>
                <a:noFill/>
              </a:ln>
            </p:spPr>
            <p:txBody>
              <a:bodyPr spcFirstLastPara="1" wrap="square" lIns="36157" tIns="24127" rIns="36157" bIns="24127" anchor="ctr" anchorCtr="0">
                <a:noAutofit/>
              </a:bodyPr>
              <a:lstStyle/>
              <a:p>
                <a:pPr marL="0" marR="0" lvl="0" indent="0" algn="ctr" defTabSz="914400" rtl="0" eaLnBrk="1" fontAlgn="auto" latinLnBrk="0" hangingPunct="1">
                  <a:lnSpc>
                    <a:spcPct val="90000"/>
                  </a:lnSpc>
                  <a:spcBef>
                    <a:spcPts val="0"/>
                  </a:spcBef>
                  <a:spcAft>
                    <a:spcPts val="0"/>
                  </a:spcAft>
                  <a:buClr>
                    <a:srgbClr val="FFFFFF"/>
                  </a:buClr>
                  <a:buSzPts val="1400"/>
                  <a:buFontTx/>
                  <a:buNone/>
                  <a:tabLst/>
                  <a:defRPr/>
                </a:pPr>
                <a:r>
                  <a:rPr kumimoji="0" lang="en" sz="1066" b="0" i="0" u="none" strike="noStrike" kern="1200" cap="none" spc="0" normalizeH="0" baseline="0" noProof="0">
                    <a:ln>
                      <a:noFill/>
                    </a:ln>
                    <a:solidFill>
                      <a:srgbClr val="FFFFFF"/>
                    </a:solidFill>
                    <a:effectLst/>
                    <a:uLnTx/>
                    <a:uFillTx/>
                    <a:latin typeface="Arial" panose="020B0604020202020204"/>
                    <a:ea typeface="+mn-ea"/>
                    <a:cs typeface="+mn-cs"/>
                  </a:rPr>
                  <a:t>Supervisor</a:t>
                </a:r>
                <a:endParaRPr kumimoji="0" sz="1066"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293" name="Google Shape;2293;p76"/>
            <p:cNvGrpSpPr/>
            <p:nvPr/>
          </p:nvGrpSpPr>
          <p:grpSpPr>
            <a:xfrm>
              <a:off x="8511559" y="5543516"/>
              <a:ext cx="448063" cy="436808"/>
              <a:chOff x="3204821" y="5260748"/>
              <a:chExt cx="530001" cy="600837"/>
            </a:xfrm>
          </p:grpSpPr>
          <p:grpSp>
            <p:nvGrpSpPr>
              <p:cNvPr id="2294" name="Google Shape;2294;p76" descr="Log"/>
              <p:cNvGrpSpPr/>
              <p:nvPr/>
            </p:nvGrpSpPr>
            <p:grpSpPr>
              <a:xfrm>
                <a:off x="3204821" y="5260748"/>
                <a:ext cx="530001" cy="600837"/>
                <a:chOff x="3204821" y="5260748"/>
                <a:chExt cx="530001" cy="600837"/>
              </a:xfrm>
            </p:grpSpPr>
            <p:sp>
              <p:nvSpPr>
                <p:cNvPr id="2295" name="Google Shape;2295;p76"/>
                <p:cNvSpPr/>
                <p:nvPr/>
              </p:nvSpPr>
              <p:spPr>
                <a:xfrm>
                  <a:off x="3344595" y="5260748"/>
                  <a:ext cx="390227" cy="600837"/>
                </a:xfrm>
                <a:custGeom>
                  <a:avLst/>
                  <a:gdLst/>
                  <a:ahLst/>
                  <a:cxnLst/>
                  <a:rect l="l" t="t" r="r" b="b"/>
                  <a:pathLst>
                    <a:path w="390227" h="600837" extrusionOk="0">
                      <a:moveTo>
                        <a:pt x="309905" y="0"/>
                      </a:moveTo>
                      <a:lnTo>
                        <a:pt x="0" y="0"/>
                      </a:lnTo>
                      <a:lnTo>
                        <a:pt x="0" y="49964"/>
                      </a:lnTo>
                      <a:lnTo>
                        <a:pt x="16444" y="49964"/>
                      </a:lnTo>
                      <a:lnTo>
                        <a:pt x="16444" y="16444"/>
                      </a:lnTo>
                      <a:lnTo>
                        <a:pt x="287769" y="16444"/>
                      </a:lnTo>
                      <a:lnTo>
                        <a:pt x="287769" y="96766"/>
                      </a:lnTo>
                      <a:lnTo>
                        <a:pt x="373151" y="96766"/>
                      </a:lnTo>
                      <a:lnTo>
                        <a:pt x="373151" y="583761"/>
                      </a:lnTo>
                      <a:lnTo>
                        <a:pt x="16444" y="583761"/>
                      </a:lnTo>
                      <a:lnTo>
                        <a:pt x="16444" y="254881"/>
                      </a:lnTo>
                      <a:lnTo>
                        <a:pt x="0" y="254881"/>
                      </a:lnTo>
                      <a:lnTo>
                        <a:pt x="0" y="600837"/>
                      </a:lnTo>
                      <a:lnTo>
                        <a:pt x="390228" y="600837"/>
                      </a:lnTo>
                      <a:lnTo>
                        <a:pt x="390228" y="89809"/>
                      </a:lnTo>
                      <a:lnTo>
                        <a:pt x="309905" y="0"/>
                      </a:lnTo>
                      <a:close/>
                      <a:moveTo>
                        <a:pt x="304846" y="19606"/>
                      </a:moveTo>
                      <a:lnTo>
                        <a:pt x="359237" y="80322"/>
                      </a:lnTo>
                      <a:lnTo>
                        <a:pt x="304846" y="80322"/>
                      </a:lnTo>
                      <a:lnTo>
                        <a:pt x="304846" y="19606"/>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grpSp>
              <p:nvGrpSpPr>
                <p:cNvPr id="2296" name="Google Shape;2296;p76"/>
                <p:cNvGrpSpPr/>
                <p:nvPr/>
              </p:nvGrpSpPr>
              <p:grpSpPr>
                <a:xfrm>
                  <a:off x="3412268" y="5443529"/>
                  <a:ext cx="267531" cy="349750"/>
                  <a:chOff x="3412268" y="5443529"/>
                  <a:chExt cx="267531" cy="349750"/>
                </a:xfrm>
              </p:grpSpPr>
              <p:sp>
                <p:nvSpPr>
                  <p:cNvPr id="2297" name="Google Shape;2297;p76"/>
                  <p:cNvSpPr/>
                  <p:nvPr/>
                </p:nvSpPr>
                <p:spPr>
                  <a:xfrm>
                    <a:off x="3412268" y="5643387"/>
                    <a:ext cx="266898" cy="16443"/>
                  </a:xfrm>
                  <a:custGeom>
                    <a:avLst/>
                    <a:gdLst/>
                    <a:ahLst/>
                    <a:cxnLst/>
                    <a:rect l="l" t="t" r="r" b="b"/>
                    <a:pathLst>
                      <a:path w="266898" h="16443" extrusionOk="0">
                        <a:moveTo>
                          <a:pt x="0" y="0"/>
                        </a:moveTo>
                        <a:lnTo>
                          <a:pt x="266898" y="0"/>
                        </a:lnTo>
                        <a:lnTo>
                          <a:pt x="266898" y="16444"/>
                        </a:lnTo>
                        <a:lnTo>
                          <a:pt x="0" y="1644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298" name="Google Shape;2298;p76"/>
                  <p:cNvSpPr/>
                  <p:nvPr/>
                </p:nvSpPr>
                <p:spPr>
                  <a:xfrm>
                    <a:off x="3412268" y="5710427"/>
                    <a:ext cx="266898" cy="16443"/>
                  </a:xfrm>
                  <a:custGeom>
                    <a:avLst/>
                    <a:gdLst/>
                    <a:ahLst/>
                    <a:cxnLst/>
                    <a:rect l="l" t="t" r="r" b="b"/>
                    <a:pathLst>
                      <a:path w="266898" h="16443" extrusionOk="0">
                        <a:moveTo>
                          <a:pt x="0" y="0"/>
                        </a:moveTo>
                        <a:lnTo>
                          <a:pt x="266898" y="0"/>
                        </a:lnTo>
                        <a:lnTo>
                          <a:pt x="266898" y="16444"/>
                        </a:lnTo>
                        <a:lnTo>
                          <a:pt x="0" y="1644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299" name="Google Shape;2299;p76"/>
                  <p:cNvSpPr/>
                  <p:nvPr/>
                </p:nvSpPr>
                <p:spPr>
                  <a:xfrm>
                    <a:off x="3412268" y="5776836"/>
                    <a:ext cx="266898" cy="16443"/>
                  </a:xfrm>
                  <a:custGeom>
                    <a:avLst/>
                    <a:gdLst/>
                    <a:ahLst/>
                    <a:cxnLst/>
                    <a:rect l="l" t="t" r="r" b="b"/>
                    <a:pathLst>
                      <a:path w="266898" h="16443" extrusionOk="0">
                        <a:moveTo>
                          <a:pt x="0" y="0"/>
                        </a:moveTo>
                        <a:lnTo>
                          <a:pt x="266898" y="0"/>
                        </a:lnTo>
                        <a:lnTo>
                          <a:pt x="266898" y="16444"/>
                        </a:lnTo>
                        <a:lnTo>
                          <a:pt x="0" y="1644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00" name="Google Shape;2300;p76"/>
                  <p:cNvSpPr/>
                  <p:nvPr/>
                </p:nvSpPr>
                <p:spPr>
                  <a:xfrm>
                    <a:off x="3416696" y="5576978"/>
                    <a:ext cx="262470" cy="16443"/>
                  </a:xfrm>
                  <a:custGeom>
                    <a:avLst/>
                    <a:gdLst/>
                    <a:ahLst/>
                    <a:cxnLst/>
                    <a:rect l="l" t="t" r="r" b="b"/>
                    <a:pathLst>
                      <a:path w="262470" h="16443" extrusionOk="0">
                        <a:moveTo>
                          <a:pt x="0" y="0"/>
                        </a:moveTo>
                        <a:lnTo>
                          <a:pt x="262471" y="0"/>
                        </a:lnTo>
                        <a:lnTo>
                          <a:pt x="262471" y="16444"/>
                        </a:lnTo>
                        <a:lnTo>
                          <a:pt x="0" y="1644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01" name="Google Shape;2301;p76"/>
                  <p:cNvSpPr/>
                  <p:nvPr/>
                </p:nvSpPr>
                <p:spPr>
                  <a:xfrm>
                    <a:off x="3558999" y="5509937"/>
                    <a:ext cx="120799" cy="16443"/>
                  </a:xfrm>
                  <a:custGeom>
                    <a:avLst/>
                    <a:gdLst/>
                    <a:ahLst/>
                    <a:cxnLst/>
                    <a:rect l="l" t="t" r="r" b="b"/>
                    <a:pathLst>
                      <a:path w="120799" h="16443" extrusionOk="0">
                        <a:moveTo>
                          <a:pt x="0" y="0"/>
                        </a:moveTo>
                        <a:lnTo>
                          <a:pt x="120800" y="0"/>
                        </a:lnTo>
                        <a:lnTo>
                          <a:pt x="120800" y="16444"/>
                        </a:lnTo>
                        <a:lnTo>
                          <a:pt x="0" y="1644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02" name="Google Shape;2302;p76"/>
                  <p:cNvSpPr/>
                  <p:nvPr/>
                </p:nvSpPr>
                <p:spPr>
                  <a:xfrm>
                    <a:off x="3591255" y="5443529"/>
                    <a:ext cx="88544" cy="16443"/>
                  </a:xfrm>
                  <a:custGeom>
                    <a:avLst/>
                    <a:gdLst/>
                    <a:ahLst/>
                    <a:cxnLst/>
                    <a:rect l="l" t="t" r="r" b="b"/>
                    <a:pathLst>
                      <a:path w="88544" h="16443" extrusionOk="0">
                        <a:moveTo>
                          <a:pt x="0" y="0"/>
                        </a:moveTo>
                        <a:lnTo>
                          <a:pt x="88544" y="0"/>
                        </a:lnTo>
                        <a:lnTo>
                          <a:pt x="88544" y="16444"/>
                        </a:lnTo>
                        <a:lnTo>
                          <a:pt x="0" y="1644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2303" name="Google Shape;2303;p76"/>
                <p:cNvSpPr/>
                <p:nvPr/>
              </p:nvSpPr>
              <p:spPr>
                <a:xfrm>
                  <a:off x="3204821" y="5329686"/>
                  <a:ext cx="290299" cy="163174"/>
                </a:xfrm>
                <a:custGeom>
                  <a:avLst/>
                  <a:gdLst/>
                  <a:ahLst/>
                  <a:cxnLst/>
                  <a:rect l="l" t="t" r="r" b="b"/>
                  <a:pathLst>
                    <a:path w="290299" h="163174" extrusionOk="0">
                      <a:moveTo>
                        <a:pt x="289034" y="163175"/>
                      </a:moveTo>
                      <a:lnTo>
                        <a:pt x="0" y="163175"/>
                      </a:lnTo>
                      <a:lnTo>
                        <a:pt x="0" y="0"/>
                      </a:lnTo>
                      <a:lnTo>
                        <a:pt x="290299" y="0"/>
                      </a:lnTo>
                      <a:lnTo>
                        <a:pt x="290299" y="117638"/>
                      </a:lnTo>
                      <a:lnTo>
                        <a:pt x="273855" y="117638"/>
                      </a:lnTo>
                      <a:lnTo>
                        <a:pt x="273855" y="17076"/>
                      </a:lnTo>
                      <a:lnTo>
                        <a:pt x="16444" y="17076"/>
                      </a:lnTo>
                      <a:lnTo>
                        <a:pt x="16444" y="146731"/>
                      </a:lnTo>
                      <a:lnTo>
                        <a:pt x="289034" y="146731"/>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grpSp>
          <p:sp>
            <p:nvSpPr>
              <p:cNvPr id="2304" name="Google Shape;2304;p76"/>
              <p:cNvSpPr txBox="1"/>
              <p:nvPr/>
            </p:nvSpPr>
            <p:spPr>
              <a:xfrm>
                <a:off x="3264285" y="5357417"/>
                <a:ext cx="230699" cy="14629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667" b="0" i="0" u="none" strike="noStrike" kern="1200" cap="none" spc="0" normalizeH="0" baseline="0" noProof="0">
                    <a:ln>
                      <a:noFill/>
                    </a:ln>
                    <a:solidFill>
                      <a:srgbClr val="000000"/>
                    </a:solidFill>
                    <a:effectLst/>
                    <a:uLnTx/>
                    <a:uFillTx/>
                    <a:latin typeface="Arial"/>
                    <a:ea typeface="Arial"/>
                    <a:cs typeface="Arial"/>
                    <a:sym typeface="Arial"/>
                  </a:rPr>
                  <a:t>HCL</a:t>
                </a:r>
                <a:endParaRPr kumimoji="0" sz="400" b="0" i="0" u="none" strike="noStrike" kern="1200" cap="none" spc="0" normalizeH="0" baseline="0" noProof="0">
                  <a:ln>
                    <a:noFill/>
                  </a:ln>
                  <a:solidFill>
                    <a:srgbClr val="000000"/>
                  </a:solidFill>
                  <a:effectLst/>
                  <a:uLnTx/>
                  <a:uFillTx/>
                  <a:latin typeface="Arial"/>
                  <a:ea typeface="Arial"/>
                  <a:cs typeface="Arial"/>
                  <a:sym typeface="Arial"/>
                </a:endParaRPr>
              </a:p>
            </p:txBody>
          </p:sp>
        </p:grpSp>
        <p:pic>
          <p:nvPicPr>
            <p:cNvPr id="2305" name="Google Shape;2305;p76"/>
            <p:cNvPicPr preferRelativeResize="0"/>
            <p:nvPr/>
          </p:nvPicPr>
          <p:blipFill rotWithShape="1">
            <a:blip r:embed="rId6">
              <a:alphaModFix/>
            </a:blip>
            <a:srcRect/>
            <a:stretch/>
          </p:blipFill>
          <p:spPr>
            <a:xfrm>
              <a:off x="9959165" y="5679164"/>
              <a:ext cx="245409" cy="245409"/>
            </a:xfrm>
            <a:prstGeom prst="rect">
              <a:avLst/>
            </a:prstGeom>
            <a:noFill/>
            <a:ln>
              <a:noFill/>
            </a:ln>
          </p:spPr>
        </p:pic>
        <p:grpSp>
          <p:nvGrpSpPr>
            <p:cNvPr id="2306" name="Google Shape;2306;p76" descr="Laptop"/>
            <p:cNvGrpSpPr/>
            <p:nvPr/>
          </p:nvGrpSpPr>
          <p:grpSpPr>
            <a:xfrm>
              <a:off x="9719349" y="5624804"/>
              <a:ext cx="725163" cy="410224"/>
              <a:chOff x="4486845" y="852645"/>
              <a:chExt cx="599655" cy="339252"/>
            </a:xfrm>
          </p:grpSpPr>
          <p:sp>
            <p:nvSpPr>
              <p:cNvPr id="2307" name="Google Shape;2307;p76"/>
              <p:cNvSpPr/>
              <p:nvPr/>
            </p:nvSpPr>
            <p:spPr>
              <a:xfrm>
                <a:off x="4534416" y="852645"/>
                <a:ext cx="504829" cy="260573"/>
              </a:xfrm>
              <a:custGeom>
                <a:avLst/>
                <a:gdLst/>
                <a:ahLst/>
                <a:cxnLst/>
                <a:rect l="l" t="t" r="r" b="b"/>
                <a:pathLst>
                  <a:path w="504829" h="260573" extrusionOk="0">
                    <a:moveTo>
                      <a:pt x="15812" y="24034"/>
                    </a:moveTo>
                    <a:cubicBezTo>
                      <a:pt x="15846" y="19507"/>
                      <a:pt x="19507" y="15846"/>
                      <a:pt x="24033" y="15812"/>
                    </a:cubicBezTo>
                    <a:lnTo>
                      <a:pt x="480543" y="15812"/>
                    </a:lnTo>
                    <a:cubicBezTo>
                      <a:pt x="485118" y="15707"/>
                      <a:pt x="488911" y="19330"/>
                      <a:pt x="489016" y="23904"/>
                    </a:cubicBezTo>
                    <a:cubicBezTo>
                      <a:pt x="489017" y="23947"/>
                      <a:pt x="489018" y="23990"/>
                      <a:pt x="489018" y="24034"/>
                    </a:cubicBezTo>
                    <a:lnTo>
                      <a:pt x="489018" y="260574"/>
                    </a:lnTo>
                    <a:lnTo>
                      <a:pt x="504830" y="260574"/>
                    </a:lnTo>
                    <a:lnTo>
                      <a:pt x="504830" y="24034"/>
                    </a:lnTo>
                    <a:cubicBezTo>
                      <a:pt x="504795" y="10750"/>
                      <a:pt x="494016" y="0"/>
                      <a:pt x="480733" y="0"/>
                    </a:cubicBezTo>
                    <a:lnTo>
                      <a:pt x="24033" y="0"/>
                    </a:lnTo>
                    <a:cubicBezTo>
                      <a:pt x="10760" y="0"/>
                      <a:pt x="0" y="10760"/>
                      <a:pt x="0" y="24034"/>
                    </a:cubicBezTo>
                    <a:lnTo>
                      <a:pt x="0" y="260574"/>
                    </a:lnTo>
                    <a:lnTo>
                      <a:pt x="15812" y="260574"/>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08" name="Google Shape;2308;p76"/>
              <p:cNvSpPr/>
              <p:nvPr/>
            </p:nvSpPr>
            <p:spPr>
              <a:xfrm>
                <a:off x="4486845" y="1128841"/>
                <a:ext cx="599655" cy="63056"/>
              </a:xfrm>
              <a:custGeom>
                <a:avLst/>
                <a:gdLst/>
                <a:ahLst/>
                <a:cxnLst/>
                <a:rect l="l" t="t" r="r" b="b"/>
                <a:pathLst>
                  <a:path w="599655" h="63056" extrusionOk="0">
                    <a:moveTo>
                      <a:pt x="586364" y="190"/>
                    </a:moveTo>
                    <a:lnTo>
                      <a:pt x="378474" y="190"/>
                    </a:lnTo>
                    <a:lnTo>
                      <a:pt x="365825" y="10689"/>
                    </a:lnTo>
                    <a:cubicBezTo>
                      <a:pt x="361884" y="14660"/>
                      <a:pt x="356323" y="16576"/>
                      <a:pt x="350772" y="15875"/>
                    </a:cubicBezTo>
                    <a:lnTo>
                      <a:pt x="259571" y="15875"/>
                    </a:lnTo>
                    <a:lnTo>
                      <a:pt x="252172" y="15875"/>
                    </a:lnTo>
                    <a:cubicBezTo>
                      <a:pt x="247448" y="16276"/>
                      <a:pt x="242777" y="14643"/>
                      <a:pt x="239333" y="11384"/>
                    </a:cubicBezTo>
                    <a:lnTo>
                      <a:pt x="224407" y="0"/>
                    </a:lnTo>
                    <a:lnTo>
                      <a:pt x="13292" y="0"/>
                    </a:lnTo>
                    <a:cubicBezTo>
                      <a:pt x="5665" y="309"/>
                      <a:pt x="-275" y="6729"/>
                      <a:pt x="10" y="14357"/>
                    </a:cubicBezTo>
                    <a:lnTo>
                      <a:pt x="10" y="48763"/>
                    </a:lnTo>
                    <a:cubicBezTo>
                      <a:pt x="-275" y="56372"/>
                      <a:pt x="5663" y="62771"/>
                      <a:pt x="13273" y="63056"/>
                    </a:cubicBezTo>
                    <a:cubicBezTo>
                      <a:pt x="13279" y="63056"/>
                      <a:pt x="13285" y="63056"/>
                      <a:pt x="13292" y="63056"/>
                    </a:cubicBezTo>
                    <a:lnTo>
                      <a:pt x="586364" y="63056"/>
                    </a:lnTo>
                    <a:cubicBezTo>
                      <a:pt x="593972" y="62782"/>
                      <a:pt x="599917" y="56391"/>
                      <a:pt x="599645" y="48781"/>
                    </a:cubicBezTo>
                    <a:cubicBezTo>
                      <a:pt x="599645" y="48775"/>
                      <a:pt x="599645" y="48769"/>
                      <a:pt x="599645" y="48763"/>
                    </a:cubicBezTo>
                    <a:lnTo>
                      <a:pt x="599645" y="14547"/>
                    </a:lnTo>
                    <a:cubicBezTo>
                      <a:pt x="599930" y="6919"/>
                      <a:pt x="593991" y="498"/>
                      <a:pt x="586364" y="190"/>
                    </a:cubicBezTo>
                    <a:close/>
                    <a:moveTo>
                      <a:pt x="583834" y="47435"/>
                    </a:moveTo>
                    <a:lnTo>
                      <a:pt x="15821" y="47435"/>
                    </a:lnTo>
                    <a:lnTo>
                      <a:pt x="15821" y="15812"/>
                    </a:lnTo>
                    <a:lnTo>
                      <a:pt x="218841" y="15812"/>
                    </a:lnTo>
                    <a:lnTo>
                      <a:pt x="228644" y="23275"/>
                    </a:lnTo>
                    <a:cubicBezTo>
                      <a:pt x="235003" y="29064"/>
                      <a:pt x="243390" y="32109"/>
                      <a:pt x="251982" y="31750"/>
                    </a:cubicBezTo>
                    <a:lnTo>
                      <a:pt x="350456" y="31750"/>
                    </a:lnTo>
                    <a:cubicBezTo>
                      <a:pt x="360040" y="32395"/>
                      <a:pt x="369453" y="28974"/>
                      <a:pt x="376387" y="22326"/>
                    </a:cubicBezTo>
                    <a:lnTo>
                      <a:pt x="384103" y="16001"/>
                    </a:lnTo>
                    <a:lnTo>
                      <a:pt x="583834" y="16001"/>
                    </a:lnTo>
                    <a:close/>
                  </a:path>
                </a:pathLst>
              </a:custGeom>
              <a:solidFill>
                <a:srgbClr val="1B1E35"/>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66"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309" name="Google Shape;2309;p76"/>
            <p:cNvGrpSpPr/>
            <p:nvPr/>
          </p:nvGrpSpPr>
          <p:grpSpPr>
            <a:xfrm>
              <a:off x="11056896" y="5445664"/>
              <a:ext cx="539032" cy="538657"/>
              <a:chOff x="4987708" y="2959714"/>
              <a:chExt cx="741855" cy="741339"/>
            </a:xfrm>
          </p:grpSpPr>
          <p:grpSp>
            <p:nvGrpSpPr>
              <p:cNvPr id="2310" name="Google Shape;2310;p76"/>
              <p:cNvGrpSpPr/>
              <p:nvPr/>
            </p:nvGrpSpPr>
            <p:grpSpPr>
              <a:xfrm>
                <a:off x="4987708" y="2959714"/>
                <a:ext cx="741855" cy="741339"/>
                <a:chOff x="4987708" y="2959714"/>
                <a:chExt cx="741855" cy="741339"/>
              </a:xfrm>
            </p:grpSpPr>
            <p:sp>
              <p:nvSpPr>
                <p:cNvPr id="2311" name="Google Shape;2311;p76"/>
                <p:cNvSpPr/>
                <p:nvPr/>
              </p:nvSpPr>
              <p:spPr>
                <a:xfrm>
                  <a:off x="5320976" y="3641210"/>
                  <a:ext cx="75836" cy="59843"/>
                </a:xfrm>
                <a:custGeom>
                  <a:avLst/>
                  <a:gdLst/>
                  <a:ahLst/>
                  <a:cxnLst/>
                  <a:rect l="l" t="t" r="r" b="b"/>
                  <a:pathLst>
                    <a:path w="75836" h="59843" extrusionOk="0">
                      <a:moveTo>
                        <a:pt x="38176" y="59844"/>
                      </a:moveTo>
                      <a:lnTo>
                        <a:pt x="0" y="22183"/>
                      </a:lnTo>
                      <a:lnTo>
                        <a:pt x="21668" y="0"/>
                      </a:lnTo>
                      <a:lnTo>
                        <a:pt x="38176" y="15993"/>
                      </a:lnTo>
                      <a:lnTo>
                        <a:pt x="54169" y="0"/>
                      </a:lnTo>
                      <a:lnTo>
                        <a:pt x="75836" y="22183"/>
                      </a:lnTo>
                      <a:lnTo>
                        <a:pt x="38176" y="59844"/>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2" name="Google Shape;2312;p76"/>
                <p:cNvSpPr/>
                <p:nvPr/>
              </p:nvSpPr>
              <p:spPr>
                <a:xfrm>
                  <a:off x="5055290" y="3376041"/>
                  <a:ext cx="257946" cy="257431"/>
                </a:xfrm>
                <a:custGeom>
                  <a:avLst/>
                  <a:gdLst/>
                  <a:ahLst/>
                  <a:cxnLst/>
                  <a:rect l="l" t="t" r="r" b="b"/>
                  <a:pathLst>
                    <a:path w="257946" h="257431" extrusionOk="0">
                      <a:moveTo>
                        <a:pt x="236279" y="257431"/>
                      </a:moveTo>
                      <a:lnTo>
                        <a:pt x="177468" y="198619"/>
                      </a:lnTo>
                      <a:lnTo>
                        <a:pt x="199135" y="176952"/>
                      </a:lnTo>
                      <a:lnTo>
                        <a:pt x="257947" y="235764"/>
                      </a:lnTo>
                      <a:lnTo>
                        <a:pt x="236279" y="257431"/>
                      </a:lnTo>
                      <a:close/>
                      <a:moveTo>
                        <a:pt x="147546" y="169213"/>
                      </a:moveTo>
                      <a:lnTo>
                        <a:pt x="88734" y="110401"/>
                      </a:lnTo>
                      <a:lnTo>
                        <a:pt x="110401" y="88734"/>
                      </a:lnTo>
                      <a:lnTo>
                        <a:pt x="169213" y="147546"/>
                      </a:lnTo>
                      <a:lnTo>
                        <a:pt x="147546" y="169213"/>
                      </a:lnTo>
                      <a:close/>
                      <a:moveTo>
                        <a:pt x="58812" y="80479"/>
                      </a:moveTo>
                      <a:lnTo>
                        <a:pt x="0" y="21668"/>
                      </a:lnTo>
                      <a:lnTo>
                        <a:pt x="21668" y="0"/>
                      </a:lnTo>
                      <a:lnTo>
                        <a:pt x="80479" y="58812"/>
                      </a:lnTo>
                      <a:lnTo>
                        <a:pt x="58812"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3" name="Google Shape;2313;p76"/>
                <p:cNvSpPr/>
                <p:nvPr/>
              </p:nvSpPr>
              <p:spPr>
                <a:xfrm>
                  <a:off x="4987708" y="3292466"/>
                  <a:ext cx="59843" cy="75836"/>
                </a:xfrm>
                <a:custGeom>
                  <a:avLst/>
                  <a:gdLst/>
                  <a:ahLst/>
                  <a:cxnLst/>
                  <a:rect l="l" t="t" r="r" b="b"/>
                  <a:pathLst>
                    <a:path w="59843" h="75836" extrusionOk="0">
                      <a:moveTo>
                        <a:pt x="38176" y="75836"/>
                      </a:moveTo>
                      <a:lnTo>
                        <a:pt x="0" y="37660"/>
                      </a:lnTo>
                      <a:lnTo>
                        <a:pt x="38176" y="0"/>
                      </a:lnTo>
                      <a:lnTo>
                        <a:pt x="59844" y="21668"/>
                      </a:lnTo>
                      <a:lnTo>
                        <a:pt x="43851" y="37660"/>
                      </a:lnTo>
                      <a:lnTo>
                        <a:pt x="59844" y="53653"/>
                      </a:lnTo>
                      <a:lnTo>
                        <a:pt x="38176" y="75836"/>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4" name="Google Shape;2314;p76"/>
                <p:cNvSpPr/>
                <p:nvPr/>
              </p:nvSpPr>
              <p:spPr>
                <a:xfrm>
                  <a:off x="5055290" y="3027296"/>
                  <a:ext cx="257431" cy="257431"/>
                </a:xfrm>
                <a:custGeom>
                  <a:avLst/>
                  <a:gdLst/>
                  <a:ahLst/>
                  <a:cxnLst/>
                  <a:rect l="l" t="t" r="r" b="b"/>
                  <a:pathLst>
                    <a:path w="257431" h="257431" extrusionOk="0">
                      <a:moveTo>
                        <a:pt x="21668" y="257431"/>
                      </a:moveTo>
                      <a:lnTo>
                        <a:pt x="0" y="235764"/>
                      </a:lnTo>
                      <a:lnTo>
                        <a:pt x="58812" y="176952"/>
                      </a:lnTo>
                      <a:lnTo>
                        <a:pt x="80479" y="198619"/>
                      </a:lnTo>
                      <a:lnTo>
                        <a:pt x="21668" y="257431"/>
                      </a:lnTo>
                      <a:close/>
                      <a:moveTo>
                        <a:pt x="110401" y="169213"/>
                      </a:moveTo>
                      <a:lnTo>
                        <a:pt x="88734" y="147546"/>
                      </a:lnTo>
                      <a:lnTo>
                        <a:pt x="147546" y="88734"/>
                      </a:lnTo>
                      <a:lnTo>
                        <a:pt x="169213" y="110401"/>
                      </a:lnTo>
                      <a:lnTo>
                        <a:pt x="110401" y="169213"/>
                      </a:lnTo>
                      <a:close/>
                      <a:moveTo>
                        <a:pt x="198619" y="80479"/>
                      </a:moveTo>
                      <a:lnTo>
                        <a:pt x="176952" y="58812"/>
                      </a:lnTo>
                      <a:lnTo>
                        <a:pt x="235764" y="0"/>
                      </a:lnTo>
                      <a:lnTo>
                        <a:pt x="257431" y="21668"/>
                      </a:lnTo>
                      <a:lnTo>
                        <a:pt x="198619"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5" name="Google Shape;2315;p76"/>
                <p:cNvSpPr/>
                <p:nvPr/>
              </p:nvSpPr>
              <p:spPr>
                <a:xfrm>
                  <a:off x="5320460" y="2959714"/>
                  <a:ext cx="75836" cy="59843"/>
                </a:xfrm>
                <a:custGeom>
                  <a:avLst/>
                  <a:gdLst/>
                  <a:ahLst/>
                  <a:cxnLst/>
                  <a:rect l="l" t="t" r="r" b="b"/>
                  <a:pathLst>
                    <a:path w="75836" h="59843" extrusionOk="0">
                      <a:moveTo>
                        <a:pt x="54169" y="59844"/>
                      </a:moveTo>
                      <a:lnTo>
                        <a:pt x="37660" y="43851"/>
                      </a:lnTo>
                      <a:lnTo>
                        <a:pt x="21668" y="59844"/>
                      </a:lnTo>
                      <a:lnTo>
                        <a:pt x="0" y="38176"/>
                      </a:lnTo>
                      <a:lnTo>
                        <a:pt x="37660" y="0"/>
                      </a:lnTo>
                      <a:lnTo>
                        <a:pt x="75836" y="38176"/>
                      </a:lnTo>
                      <a:lnTo>
                        <a:pt x="54169" y="59844"/>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6" name="Google Shape;2316;p76"/>
                <p:cNvSpPr/>
                <p:nvPr/>
              </p:nvSpPr>
              <p:spPr>
                <a:xfrm>
                  <a:off x="5404035" y="3027812"/>
                  <a:ext cx="257947" cy="257431"/>
                </a:xfrm>
                <a:custGeom>
                  <a:avLst/>
                  <a:gdLst/>
                  <a:ahLst/>
                  <a:cxnLst/>
                  <a:rect l="l" t="t" r="r" b="b"/>
                  <a:pathLst>
                    <a:path w="257947" h="257431" extrusionOk="0">
                      <a:moveTo>
                        <a:pt x="236279" y="257431"/>
                      </a:moveTo>
                      <a:lnTo>
                        <a:pt x="177468" y="198619"/>
                      </a:lnTo>
                      <a:lnTo>
                        <a:pt x="199135" y="176952"/>
                      </a:lnTo>
                      <a:lnTo>
                        <a:pt x="257947" y="235764"/>
                      </a:lnTo>
                      <a:lnTo>
                        <a:pt x="236279" y="257431"/>
                      </a:lnTo>
                      <a:close/>
                      <a:moveTo>
                        <a:pt x="147546" y="168697"/>
                      </a:moveTo>
                      <a:lnTo>
                        <a:pt x="88734" y="109885"/>
                      </a:lnTo>
                      <a:lnTo>
                        <a:pt x="110401" y="88218"/>
                      </a:lnTo>
                      <a:lnTo>
                        <a:pt x="169213" y="147030"/>
                      </a:lnTo>
                      <a:lnTo>
                        <a:pt x="147546" y="168697"/>
                      </a:lnTo>
                      <a:close/>
                      <a:moveTo>
                        <a:pt x="58812" y="80479"/>
                      </a:moveTo>
                      <a:lnTo>
                        <a:pt x="0" y="21668"/>
                      </a:lnTo>
                      <a:lnTo>
                        <a:pt x="21668" y="0"/>
                      </a:lnTo>
                      <a:lnTo>
                        <a:pt x="80479" y="58812"/>
                      </a:lnTo>
                      <a:lnTo>
                        <a:pt x="58812"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7" name="Google Shape;2317;p76"/>
                <p:cNvSpPr/>
                <p:nvPr/>
              </p:nvSpPr>
              <p:spPr>
                <a:xfrm>
                  <a:off x="5669720" y="3292982"/>
                  <a:ext cx="59843" cy="75836"/>
                </a:xfrm>
                <a:custGeom>
                  <a:avLst/>
                  <a:gdLst/>
                  <a:ahLst/>
                  <a:cxnLst/>
                  <a:rect l="l" t="t" r="r" b="b"/>
                  <a:pathLst>
                    <a:path w="59843" h="75836" extrusionOk="0">
                      <a:moveTo>
                        <a:pt x="21668" y="75836"/>
                      </a:moveTo>
                      <a:lnTo>
                        <a:pt x="0" y="53653"/>
                      </a:lnTo>
                      <a:lnTo>
                        <a:pt x="15993" y="37660"/>
                      </a:lnTo>
                      <a:lnTo>
                        <a:pt x="0" y="21668"/>
                      </a:lnTo>
                      <a:lnTo>
                        <a:pt x="21668" y="0"/>
                      </a:lnTo>
                      <a:lnTo>
                        <a:pt x="59844" y="37660"/>
                      </a:lnTo>
                      <a:lnTo>
                        <a:pt x="21668" y="75836"/>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18" name="Google Shape;2318;p76"/>
                <p:cNvSpPr/>
                <p:nvPr/>
              </p:nvSpPr>
              <p:spPr>
                <a:xfrm>
                  <a:off x="5404551" y="3376557"/>
                  <a:ext cx="257431" cy="257431"/>
                </a:xfrm>
                <a:custGeom>
                  <a:avLst/>
                  <a:gdLst/>
                  <a:ahLst/>
                  <a:cxnLst/>
                  <a:rect l="l" t="t" r="r" b="b"/>
                  <a:pathLst>
                    <a:path w="257431" h="257431" extrusionOk="0">
                      <a:moveTo>
                        <a:pt x="21668" y="257431"/>
                      </a:moveTo>
                      <a:lnTo>
                        <a:pt x="0" y="235764"/>
                      </a:lnTo>
                      <a:lnTo>
                        <a:pt x="58812" y="176952"/>
                      </a:lnTo>
                      <a:lnTo>
                        <a:pt x="80479" y="198619"/>
                      </a:lnTo>
                      <a:lnTo>
                        <a:pt x="21668" y="257431"/>
                      </a:lnTo>
                      <a:close/>
                      <a:moveTo>
                        <a:pt x="110401" y="168697"/>
                      </a:moveTo>
                      <a:lnTo>
                        <a:pt x="88734" y="147030"/>
                      </a:lnTo>
                      <a:lnTo>
                        <a:pt x="147546" y="88218"/>
                      </a:lnTo>
                      <a:lnTo>
                        <a:pt x="169213" y="109885"/>
                      </a:lnTo>
                      <a:lnTo>
                        <a:pt x="110401" y="168697"/>
                      </a:lnTo>
                      <a:close/>
                      <a:moveTo>
                        <a:pt x="198619" y="80479"/>
                      </a:moveTo>
                      <a:lnTo>
                        <a:pt x="176952" y="58812"/>
                      </a:lnTo>
                      <a:lnTo>
                        <a:pt x="235764" y="0"/>
                      </a:lnTo>
                      <a:lnTo>
                        <a:pt x="257431" y="21668"/>
                      </a:lnTo>
                      <a:lnTo>
                        <a:pt x="198619"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319" name="Google Shape;2319;p76"/>
              <p:cNvGrpSpPr/>
              <p:nvPr/>
            </p:nvGrpSpPr>
            <p:grpSpPr>
              <a:xfrm>
                <a:off x="5167110" y="3140664"/>
                <a:ext cx="383051" cy="383051"/>
                <a:chOff x="5167110" y="3140664"/>
                <a:chExt cx="383051" cy="383051"/>
              </a:xfrm>
            </p:grpSpPr>
            <p:sp>
              <p:nvSpPr>
                <p:cNvPr id="2320" name="Google Shape;2320;p76"/>
                <p:cNvSpPr/>
                <p:nvPr/>
              </p:nvSpPr>
              <p:spPr>
                <a:xfrm>
                  <a:off x="5346770" y="3305363"/>
                  <a:ext cx="34564" cy="25794"/>
                </a:xfrm>
                <a:custGeom>
                  <a:avLst/>
                  <a:gdLst/>
                  <a:ahLst/>
                  <a:cxnLst/>
                  <a:rect l="l" t="t" r="r" b="b"/>
                  <a:pathLst>
                    <a:path w="34564" h="25794" extrusionOk="0">
                      <a:moveTo>
                        <a:pt x="18056" y="0"/>
                      </a:moveTo>
                      <a:lnTo>
                        <a:pt x="0" y="0"/>
                      </a:lnTo>
                      <a:lnTo>
                        <a:pt x="0" y="25795"/>
                      </a:lnTo>
                      <a:lnTo>
                        <a:pt x="18056" y="25795"/>
                      </a:lnTo>
                      <a:cubicBezTo>
                        <a:pt x="23215" y="25795"/>
                        <a:pt x="26826" y="24763"/>
                        <a:pt x="29922" y="22183"/>
                      </a:cubicBezTo>
                      <a:cubicBezTo>
                        <a:pt x="33017" y="20120"/>
                        <a:pt x="34565" y="16509"/>
                        <a:pt x="34565" y="12897"/>
                      </a:cubicBezTo>
                      <a:cubicBezTo>
                        <a:pt x="34565" y="9286"/>
                        <a:pt x="33017" y="5675"/>
                        <a:pt x="29922" y="3611"/>
                      </a:cubicBezTo>
                      <a:cubicBezTo>
                        <a:pt x="26826" y="1032"/>
                        <a:pt x="22699" y="0"/>
                        <a:pt x="18056" y="0"/>
                      </a:cubicBez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21" name="Google Shape;2321;p76"/>
                <p:cNvSpPr/>
                <p:nvPr/>
              </p:nvSpPr>
              <p:spPr>
                <a:xfrm>
                  <a:off x="5260616" y="3311038"/>
                  <a:ext cx="27342" cy="33017"/>
                </a:xfrm>
                <a:custGeom>
                  <a:avLst/>
                  <a:gdLst/>
                  <a:ahLst/>
                  <a:cxnLst/>
                  <a:rect l="l" t="t" r="r" b="b"/>
                  <a:pathLst>
                    <a:path w="27342" h="33017" extrusionOk="0">
                      <a:moveTo>
                        <a:pt x="0" y="33017"/>
                      </a:moveTo>
                      <a:lnTo>
                        <a:pt x="27342" y="33017"/>
                      </a:lnTo>
                      <a:lnTo>
                        <a:pt x="13413" y="0"/>
                      </a:lnTo>
                      <a:lnTo>
                        <a:pt x="0" y="33017"/>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22" name="Google Shape;2322;p76"/>
                <p:cNvSpPr/>
                <p:nvPr/>
              </p:nvSpPr>
              <p:spPr>
                <a:xfrm>
                  <a:off x="5429313" y="3305363"/>
                  <a:ext cx="34564" cy="25794"/>
                </a:xfrm>
                <a:custGeom>
                  <a:avLst/>
                  <a:gdLst/>
                  <a:ahLst/>
                  <a:cxnLst/>
                  <a:rect l="l" t="t" r="r" b="b"/>
                  <a:pathLst>
                    <a:path w="34564" h="25794" extrusionOk="0">
                      <a:moveTo>
                        <a:pt x="18056" y="0"/>
                      </a:moveTo>
                      <a:lnTo>
                        <a:pt x="0" y="0"/>
                      </a:lnTo>
                      <a:lnTo>
                        <a:pt x="0" y="25795"/>
                      </a:lnTo>
                      <a:lnTo>
                        <a:pt x="18056" y="25795"/>
                      </a:lnTo>
                      <a:cubicBezTo>
                        <a:pt x="23215" y="25795"/>
                        <a:pt x="26827" y="24763"/>
                        <a:pt x="29922" y="22183"/>
                      </a:cubicBezTo>
                      <a:cubicBezTo>
                        <a:pt x="33017" y="20120"/>
                        <a:pt x="34565" y="16509"/>
                        <a:pt x="34565" y="12897"/>
                      </a:cubicBezTo>
                      <a:cubicBezTo>
                        <a:pt x="34565" y="9286"/>
                        <a:pt x="33017" y="5675"/>
                        <a:pt x="29922" y="3611"/>
                      </a:cubicBezTo>
                      <a:cubicBezTo>
                        <a:pt x="26827" y="1032"/>
                        <a:pt x="22699" y="0"/>
                        <a:pt x="18056" y="0"/>
                      </a:cubicBez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23" name="Google Shape;2323;p76"/>
                <p:cNvSpPr/>
                <p:nvPr/>
              </p:nvSpPr>
              <p:spPr>
                <a:xfrm>
                  <a:off x="5167110" y="3140664"/>
                  <a:ext cx="383051" cy="383051"/>
                </a:xfrm>
                <a:custGeom>
                  <a:avLst/>
                  <a:gdLst/>
                  <a:ahLst/>
                  <a:cxnLst/>
                  <a:rect l="l" t="t" r="r" b="b"/>
                  <a:pathLst>
                    <a:path w="383051" h="383051" extrusionOk="0">
                      <a:moveTo>
                        <a:pt x="375700" y="173469"/>
                      </a:moveTo>
                      <a:lnTo>
                        <a:pt x="209582" y="7351"/>
                      </a:lnTo>
                      <a:cubicBezTo>
                        <a:pt x="199780" y="-2450"/>
                        <a:pt x="183787" y="-2450"/>
                        <a:pt x="173469" y="7351"/>
                      </a:cubicBezTo>
                      <a:lnTo>
                        <a:pt x="7351" y="173469"/>
                      </a:lnTo>
                      <a:cubicBezTo>
                        <a:pt x="-2450" y="183271"/>
                        <a:pt x="-2450" y="199264"/>
                        <a:pt x="7351" y="209582"/>
                      </a:cubicBezTo>
                      <a:lnTo>
                        <a:pt x="173469" y="375700"/>
                      </a:lnTo>
                      <a:cubicBezTo>
                        <a:pt x="183271" y="385502"/>
                        <a:pt x="199264" y="385502"/>
                        <a:pt x="209582" y="375700"/>
                      </a:cubicBezTo>
                      <a:lnTo>
                        <a:pt x="375700" y="209582"/>
                      </a:lnTo>
                      <a:cubicBezTo>
                        <a:pt x="385502" y="199780"/>
                        <a:pt x="385502" y="183787"/>
                        <a:pt x="375700" y="173469"/>
                      </a:cubicBezTo>
                      <a:close/>
                      <a:moveTo>
                        <a:pt x="132198" y="230218"/>
                      </a:moveTo>
                      <a:lnTo>
                        <a:pt x="126007" y="215257"/>
                      </a:lnTo>
                      <a:lnTo>
                        <a:pt x="88347" y="215257"/>
                      </a:lnTo>
                      <a:lnTo>
                        <a:pt x="82156" y="230218"/>
                      </a:lnTo>
                      <a:lnTo>
                        <a:pt x="66163" y="230218"/>
                      </a:lnTo>
                      <a:lnTo>
                        <a:pt x="99181" y="151802"/>
                      </a:lnTo>
                      <a:lnTo>
                        <a:pt x="115173" y="151802"/>
                      </a:lnTo>
                      <a:lnTo>
                        <a:pt x="148191" y="230218"/>
                      </a:lnTo>
                      <a:lnTo>
                        <a:pt x="132198" y="230218"/>
                      </a:lnTo>
                      <a:close/>
                      <a:moveTo>
                        <a:pt x="225059" y="191010"/>
                      </a:moveTo>
                      <a:cubicBezTo>
                        <a:pt x="222479" y="195137"/>
                        <a:pt x="218868" y="198232"/>
                        <a:pt x="214225" y="200296"/>
                      </a:cubicBezTo>
                      <a:cubicBezTo>
                        <a:pt x="209582" y="202359"/>
                        <a:pt x="204939" y="203391"/>
                        <a:pt x="199264" y="203391"/>
                      </a:cubicBezTo>
                      <a:lnTo>
                        <a:pt x="179144" y="203391"/>
                      </a:lnTo>
                      <a:lnTo>
                        <a:pt x="179144" y="229702"/>
                      </a:lnTo>
                      <a:lnTo>
                        <a:pt x="165215" y="229702"/>
                      </a:lnTo>
                      <a:lnTo>
                        <a:pt x="165215" y="151286"/>
                      </a:lnTo>
                      <a:lnTo>
                        <a:pt x="199264" y="151286"/>
                      </a:lnTo>
                      <a:cubicBezTo>
                        <a:pt x="204939" y="151286"/>
                        <a:pt x="209582" y="152318"/>
                        <a:pt x="214225" y="154381"/>
                      </a:cubicBezTo>
                      <a:cubicBezTo>
                        <a:pt x="218868" y="156445"/>
                        <a:pt x="222479" y="159540"/>
                        <a:pt x="225059" y="163667"/>
                      </a:cubicBezTo>
                      <a:cubicBezTo>
                        <a:pt x="227638" y="167795"/>
                        <a:pt x="228670" y="171922"/>
                        <a:pt x="228670" y="177081"/>
                      </a:cubicBezTo>
                      <a:cubicBezTo>
                        <a:pt x="228670" y="182240"/>
                        <a:pt x="227638" y="186367"/>
                        <a:pt x="225059" y="190494"/>
                      </a:cubicBezTo>
                      <a:close/>
                      <a:moveTo>
                        <a:pt x="307602" y="191010"/>
                      </a:moveTo>
                      <a:cubicBezTo>
                        <a:pt x="305022" y="195137"/>
                        <a:pt x="301411" y="198232"/>
                        <a:pt x="296768" y="200296"/>
                      </a:cubicBezTo>
                      <a:cubicBezTo>
                        <a:pt x="292125" y="202359"/>
                        <a:pt x="287482" y="203391"/>
                        <a:pt x="281807" y="203391"/>
                      </a:cubicBezTo>
                      <a:lnTo>
                        <a:pt x="261687" y="203391"/>
                      </a:lnTo>
                      <a:lnTo>
                        <a:pt x="261687" y="229702"/>
                      </a:lnTo>
                      <a:lnTo>
                        <a:pt x="247758" y="229702"/>
                      </a:lnTo>
                      <a:lnTo>
                        <a:pt x="247758" y="151286"/>
                      </a:lnTo>
                      <a:lnTo>
                        <a:pt x="281807" y="151286"/>
                      </a:lnTo>
                      <a:cubicBezTo>
                        <a:pt x="287482" y="151286"/>
                        <a:pt x="292125" y="152318"/>
                        <a:pt x="296768" y="154381"/>
                      </a:cubicBezTo>
                      <a:cubicBezTo>
                        <a:pt x="301411" y="156445"/>
                        <a:pt x="305022" y="159540"/>
                        <a:pt x="307602" y="163667"/>
                      </a:cubicBezTo>
                      <a:cubicBezTo>
                        <a:pt x="310181" y="167795"/>
                        <a:pt x="311213" y="171922"/>
                        <a:pt x="311213" y="177081"/>
                      </a:cubicBezTo>
                      <a:cubicBezTo>
                        <a:pt x="311213" y="182240"/>
                        <a:pt x="310181" y="186367"/>
                        <a:pt x="307602" y="190494"/>
                      </a:cubicBez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grpSp>
      <p:grpSp>
        <p:nvGrpSpPr>
          <p:cNvPr id="2324" name="Google Shape;2324;p76"/>
          <p:cNvGrpSpPr/>
          <p:nvPr/>
        </p:nvGrpSpPr>
        <p:grpSpPr>
          <a:xfrm>
            <a:off x="8338523" y="4169082"/>
            <a:ext cx="3509851" cy="1797935"/>
            <a:chOff x="8338473" y="4169275"/>
            <a:chExt cx="3509829" cy="1798403"/>
          </a:xfrm>
        </p:grpSpPr>
        <p:grpSp>
          <p:nvGrpSpPr>
            <p:cNvPr id="2325" name="Google Shape;2325;p76"/>
            <p:cNvGrpSpPr/>
            <p:nvPr/>
          </p:nvGrpSpPr>
          <p:grpSpPr>
            <a:xfrm>
              <a:off x="8338473" y="4391422"/>
              <a:ext cx="3509829" cy="1576256"/>
              <a:chOff x="8325606" y="4926864"/>
              <a:chExt cx="3509829" cy="1576256"/>
            </a:xfrm>
          </p:grpSpPr>
          <p:sp>
            <p:nvSpPr>
              <p:cNvPr id="2326" name="Google Shape;2326;p76"/>
              <p:cNvSpPr/>
              <p:nvPr/>
            </p:nvSpPr>
            <p:spPr>
              <a:xfrm>
                <a:off x="8325606" y="5331545"/>
                <a:ext cx="967800" cy="798300"/>
              </a:xfrm>
              <a:prstGeom prst="roundRect">
                <a:avLst>
                  <a:gd name="adj" fmla="val 10000"/>
                </a:avLst>
              </a:prstGeom>
              <a:solidFill>
                <a:srgbClr val="FFFFFF"/>
              </a:solidFill>
              <a:ln w="25400" cap="flat" cmpd="sng">
                <a:solidFill>
                  <a:srgbClr val="000000"/>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27" name="Google Shape;2327;p76"/>
              <p:cNvSpPr/>
              <p:nvPr/>
            </p:nvSpPr>
            <p:spPr>
              <a:xfrm>
                <a:off x="8875183" y="5465719"/>
                <a:ext cx="1037400" cy="1037400"/>
              </a:xfrm>
              <a:custGeom>
                <a:avLst/>
                <a:gdLst/>
                <a:ahLst/>
                <a:cxnLst/>
                <a:rect l="l" t="t" r="r" b="b"/>
                <a:pathLst>
                  <a:path w="120000" h="120000" extrusionOk="0">
                    <a:moveTo>
                      <a:pt x="9824" y="88502"/>
                    </a:moveTo>
                    <a:lnTo>
                      <a:pt x="12816" y="86803"/>
                    </a:lnTo>
                    <a:lnTo>
                      <a:pt x="12816" y="86803"/>
                    </a:lnTo>
                    <a:cubicBezTo>
                      <a:pt x="21956" y="102892"/>
                      <a:pt x="38666" y="113216"/>
                      <a:pt x="57146" y="114189"/>
                    </a:cubicBezTo>
                    <a:cubicBezTo>
                      <a:pt x="75625" y="115162"/>
                      <a:pt x="93327" y="106652"/>
                      <a:pt x="104107" y="91611"/>
                    </a:cubicBezTo>
                    <a:lnTo>
                      <a:pt x="102121" y="90482"/>
                    </a:lnTo>
                    <a:lnTo>
                      <a:pt x="108680" y="87652"/>
                    </a:lnTo>
                    <a:lnTo>
                      <a:pt x="109102" y="94448"/>
                    </a:lnTo>
                    <a:lnTo>
                      <a:pt x="107115" y="93319"/>
                    </a:lnTo>
                    <a:lnTo>
                      <a:pt x="107115" y="93319"/>
                    </a:lnTo>
                    <a:cubicBezTo>
                      <a:pt x="95715" y="109439"/>
                      <a:pt x="76865" y="118611"/>
                      <a:pt x="57146" y="117635"/>
                    </a:cubicBezTo>
                    <a:cubicBezTo>
                      <a:pt x="37427" y="116659"/>
                      <a:pt x="19576" y="105669"/>
                      <a:pt x="9824" y="88502"/>
                    </a:cubicBezTo>
                    <a:close/>
                  </a:path>
                </a:pathLst>
              </a:custGeom>
              <a:solidFill>
                <a:srgbClr val="A8BDC2"/>
              </a:solidFill>
              <a:ln>
                <a:noFill/>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28" name="Google Shape;2328;p76"/>
              <p:cNvSpPr/>
              <p:nvPr/>
            </p:nvSpPr>
            <p:spPr>
              <a:xfrm>
                <a:off x="9542775" y="5331545"/>
                <a:ext cx="967800" cy="798300"/>
              </a:xfrm>
              <a:prstGeom prst="roundRect">
                <a:avLst>
                  <a:gd name="adj" fmla="val 10000"/>
                </a:avLst>
              </a:prstGeom>
              <a:solidFill>
                <a:srgbClr val="FFFFFF"/>
              </a:solidFill>
              <a:ln w="25400" cap="flat" cmpd="sng">
                <a:solidFill>
                  <a:srgbClr val="000000"/>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29" name="Google Shape;2329;p76"/>
              <p:cNvSpPr/>
              <p:nvPr/>
            </p:nvSpPr>
            <p:spPr>
              <a:xfrm>
                <a:off x="10084286" y="4926864"/>
                <a:ext cx="1161300" cy="1161300"/>
              </a:xfrm>
              <a:custGeom>
                <a:avLst/>
                <a:gdLst/>
                <a:ahLst/>
                <a:cxnLst/>
                <a:rect l="l" t="t" r="r" b="b"/>
                <a:pathLst>
                  <a:path w="120000" h="120000" extrusionOk="0">
                    <a:moveTo>
                      <a:pt x="9612" y="31377"/>
                    </a:moveTo>
                    <a:lnTo>
                      <a:pt x="9612" y="31377"/>
                    </a:lnTo>
                    <a:cubicBezTo>
                      <a:pt x="19460" y="14041"/>
                      <a:pt x="37529" y="2984"/>
                      <a:pt x="57449" y="2106"/>
                    </a:cubicBezTo>
                    <a:cubicBezTo>
                      <a:pt x="77368" y="1229"/>
                      <a:pt x="96340" y="10653"/>
                      <a:pt x="107675" y="27056"/>
                    </a:cubicBezTo>
                    <a:lnTo>
                      <a:pt x="109452" y="26046"/>
                    </a:lnTo>
                    <a:lnTo>
                      <a:pt x="109051" y="32137"/>
                    </a:lnTo>
                    <a:lnTo>
                      <a:pt x="103214" y="29590"/>
                    </a:lnTo>
                    <a:lnTo>
                      <a:pt x="104990" y="28581"/>
                    </a:lnTo>
                    <a:lnTo>
                      <a:pt x="104990" y="28581"/>
                    </a:lnTo>
                    <a:cubicBezTo>
                      <a:pt x="94207" y="13141"/>
                      <a:pt x="76260" y="4309"/>
                      <a:pt x="57448" y="5185"/>
                    </a:cubicBezTo>
                    <a:cubicBezTo>
                      <a:pt x="38636" y="6061"/>
                      <a:pt x="21587" y="16522"/>
                      <a:pt x="12286" y="32896"/>
                    </a:cubicBezTo>
                    <a:close/>
                  </a:path>
                </a:pathLst>
              </a:custGeom>
              <a:solidFill>
                <a:srgbClr val="A8BDC2"/>
              </a:solidFill>
              <a:ln>
                <a:noFill/>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30" name="Google Shape;2330;p76"/>
              <p:cNvSpPr/>
              <p:nvPr/>
            </p:nvSpPr>
            <p:spPr>
              <a:xfrm>
                <a:off x="10759944" y="5331545"/>
                <a:ext cx="967800" cy="798300"/>
              </a:xfrm>
              <a:prstGeom prst="roundRect">
                <a:avLst>
                  <a:gd name="adj" fmla="val 10000"/>
                </a:avLst>
              </a:prstGeom>
              <a:solidFill>
                <a:srgbClr val="FFFFFF"/>
              </a:solidFill>
              <a:ln w="25400" cap="flat" cmpd="sng">
                <a:solidFill>
                  <a:srgbClr val="000000"/>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31" name="Google Shape;2331;p76"/>
              <p:cNvSpPr/>
              <p:nvPr/>
            </p:nvSpPr>
            <p:spPr>
              <a:xfrm>
                <a:off x="10975035" y="5958802"/>
                <a:ext cx="860400" cy="342000"/>
              </a:xfrm>
              <a:prstGeom prst="roundRect">
                <a:avLst>
                  <a:gd name="adj" fmla="val 10000"/>
                </a:avLst>
              </a:prstGeom>
              <a:solidFill>
                <a:srgbClr val="6C4B8F"/>
              </a:solidFill>
              <a:ln w="25400" cap="flat" cmpd="sng">
                <a:solidFill>
                  <a:srgbClr val="2D1F3C"/>
                </a:solidFill>
                <a:prstDash val="solid"/>
                <a:round/>
                <a:headEnd type="none" w="sm" len="sm"/>
                <a:tailEnd type="none" w="sm" len="sm"/>
              </a:ln>
            </p:spPr>
            <p:txBody>
              <a:bodyPr spcFirstLastPara="1" wrap="square" lIns="91410" tIns="91410" rIns="91410" bIns="9141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9"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32" name="Google Shape;2332;p76"/>
              <p:cNvSpPr txBox="1"/>
              <p:nvPr/>
            </p:nvSpPr>
            <p:spPr>
              <a:xfrm>
                <a:off x="10985056" y="5968823"/>
                <a:ext cx="840300" cy="322200"/>
              </a:xfrm>
              <a:prstGeom prst="rect">
                <a:avLst/>
              </a:prstGeom>
              <a:noFill/>
              <a:ln>
                <a:noFill/>
              </a:ln>
            </p:spPr>
            <p:txBody>
              <a:bodyPr spcFirstLastPara="1" wrap="square" lIns="36157" tIns="24127" rIns="36157" bIns="24127" anchor="ctr" anchorCtr="0">
                <a:noAutofit/>
              </a:bodyPr>
              <a:lstStyle/>
              <a:p>
                <a:pPr marL="0" marR="0" lvl="0" indent="0" algn="ctr" defTabSz="914400" rtl="0" eaLnBrk="1" fontAlgn="auto" latinLnBrk="0" hangingPunct="1">
                  <a:lnSpc>
                    <a:spcPct val="90000"/>
                  </a:lnSpc>
                  <a:spcBef>
                    <a:spcPts val="0"/>
                  </a:spcBef>
                  <a:spcAft>
                    <a:spcPts val="0"/>
                  </a:spcAft>
                  <a:buClr>
                    <a:srgbClr val="FFFFFF"/>
                  </a:buClr>
                  <a:buSzPts val="1400"/>
                  <a:buFontTx/>
                  <a:buNone/>
                  <a:tabLst/>
                  <a:defRPr/>
                </a:pPr>
                <a:r>
                  <a:rPr kumimoji="0" lang="en" sz="1066" b="0" i="0" u="none" strike="noStrike" kern="1200" cap="none" spc="0" normalizeH="0" baseline="0" noProof="0">
                    <a:ln>
                      <a:noFill/>
                    </a:ln>
                    <a:solidFill>
                      <a:srgbClr val="FFFFFF"/>
                    </a:solidFill>
                    <a:effectLst/>
                    <a:uLnTx/>
                    <a:uFillTx/>
                    <a:latin typeface="Arial" panose="020B0604020202020204"/>
                    <a:ea typeface="+mn-ea"/>
                    <a:cs typeface="+mn-cs"/>
                  </a:rPr>
                  <a:t>Supervisor</a:t>
                </a:r>
                <a:endParaRPr kumimoji="0" sz="1066"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333" name="Google Shape;2333;p76"/>
              <p:cNvGrpSpPr/>
              <p:nvPr/>
            </p:nvGrpSpPr>
            <p:grpSpPr>
              <a:xfrm>
                <a:off x="10991320" y="5383946"/>
                <a:ext cx="520411" cy="520049"/>
                <a:chOff x="4987708" y="2959714"/>
                <a:chExt cx="741855" cy="741339"/>
              </a:xfrm>
            </p:grpSpPr>
            <p:sp>
              <p:nvSpPr>
                <p:cNvPr id="2334" name="Google Shape;2334;p76"/>
                <p:cNvSpPr/>
                <p:nvPr/>
              </p:nvSpPr>
              <p:spPr>
                <a:xfrm>
                  <a:off x="5320976" y="3641210"/>
                  <a:ext cx="75836" cy="59843"/>
                </a:xfrm>
                <a:custGeom>
                  <a:avLst/>
                  <a:gdLst/>
                  <a:ahLst/>
                  <a:cxnLst/>
                  <a:rect l="l" t="t" r="r" b="b"/>
                  <a:pathLst>
                    <a:path w="75836" h="59843" extrusionOk="0">
                      <a:moveTo>
                        <a:pt x="38176" y="59844"/>
                      </a:moveTo>
                      <a:lnTo>
                        <a:pt x="0" y="22183"/>
                      </a:lnTo>
                      <a:lnTo>
                        <a:pt x="21668" y="0"/>
                      </a:lnTo>
                      <a:lnTo>
                        <a:pt x="38176" y="15993"/>
                      </a:lnTo>
                      <a:lnTo>
                        <a:pt x="54169" y="0"/>
                      </a:lnTo>
                      <a:lnTo>
                        <a:pt x="75836" y="22183"/>
                      </a:lnTo>
                      <a:lnTo>
                        <a:pt x="38176" y="59844"/>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35" name="Google Shape;2335;p76"/>
                <p:cNvSpPr/>
                <p:nvPr/>
              </p:nvSpPr>
              <p:spPr>
                <a:xfrm>
                  <a:off x="5055290" y="3376041"/>
                  <a:ext cx="257946" cy="257431"/>
                </a:xfrm>
                <a:custGeom>
                  <a:avLst/>
                  <a:gdLst/>
                  <a:ahLst/>
                  <a:cxnLst/>
                  <a:rect l="l" t="t" r="r" b="b"/>
                  <a:pathLst>
                    <a:path w="257946" h="257431" extrusionOk="0">
                      <a:moveTo>
                        <a:pt x="236279" y="257431"/>
                      </a:moveTo>
                      <a:lnTo>
                        <a:pt x="177468" y="198619"/>
                      </a:lnTo>
                      <a:lnTo>
                        <a:pt x="199135" y="176952"/>
                      </a:lnTo>
                      <a:lnTo>
                        <a:pt x="257947" y="235764"/>
                      </a:lnTo>
                      <a:lnTo>
                        <a:pt x="236279" y="257431"/>
                      </a:lnTo>
                      <a:close/>
                      <a:moveTo>
                        <a:pt x="147546" y="169213"/>
                      </a:moveTo>
                      <a:lnTo>
                        <a:pt x="88734" y="110401"/>
                      </a:lnTo>
                      <a:lnTo>
                        <a:pt x="110401" y="88734"/>
                      </a:lnTo>
                      <a:lnTo>
                        <a:pt x="169213" y="147546"/>
                      </a:lnTo>
                      <a:lnTo>
                        <a:pt x="147546" y="169213"/>
                      </a:lnTo>
                      <a:close/>
                      <a:moveTo>
                        <a:pt x="58812" y="80479"/>
                      </a:moveTo>
                      <a:lnTo>
                        <a:pt x="0" y="21668"/>
                      </a:lnTo>
                      <a:lnTo>
                        <a:pt x="21668" y="0"/>
                      </a:lnTo>
                      <a:lnTo>
                        <a:pt x="80479" y="58812"/>
                      </a:lnTo>
                      <a:lnTo>
                        <a:pt x="58812"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36" name="Google Shape;2336;p76"/>
                <p:cNvSpPr/>
                <p:nvPr/>
              </p:nvSpPr>
              <p:spPr>
                <a:xfrm>
                  <a:off x="4987708" y="3292466"/>
                  <a:ext cx="59843" cy="75836"/>
                </a:xfrm>
                <a:custGeom>
                  <a:avLst/>
                  <a:gdLst/>
                  <a:ahLst/>
                  <a:cxnLst/>
                  <a:rect l="l" t="t" r="r" b="b"/>
                  <a:pathLst>
                    <a:path w="59843" h="75836" extrusionOk="0">
                      <a:moveTo>
                        <a:pt x="38176" y="75836"/>
                      </a:moveTo>
                      <a:lnTo>
                        <a:pt x="0" y="37660"/>
                      </a:lnTo>
                      <a:lnTo>
                        <a:pt x="38176" y="0"/>
                      </a:lnTo>
                      <a:lnTo>
                        <a:pt x="59844" y="21668"/>
                      </a:lnTo>
                      <a:lnTo>
                        <a:pt x="43851" y="37660"/>
                      </a:lnTo>
                      <a:lnTo>
                        <a:pt x="59844" y="53653"/>
                      </a:lnTo>
                      <a:lnTo>
                        <a:pt x="38176" y="75836"/>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37" name="Google Shape;2337;p76"/>
                <p:cNvSpPr/>
                <p:nvPr/>
              </p:nvSpPr>
              <p:spPr>
                <a:xfrm>
                  <a:off x="5055290" y="3027296"/>
                  <a:ext cx="257431" cy="257431"/>
                </a:xfrm>
                <a:custGeom>
                  <a:avLst/>
                  <a:gdLst/>
                  <a:ahLst/>
                  <a:cxnLst/>
                  <a:rect l="l" t="t" r="r" b="b"/>
                  <a:pathLst>
                    <a:path w="257431" h="257431" extrusionOk="0">
                      <a:moveTo>
                        <a:pt x="21668" y="257431"/>
                      </a:moveTo>
                      <a:lnTo>
                        <a:pt x="0" y="235764"/>
                      </a:lnTo>
                      <a:lnTo>
                        <a:pt x="58812" y="176952"/>
                      </a:lnTo>
                      <a:lnTo>
                        <a:pt x="80479" y="198619"/>
                      </a:lnTo>
                      <a:lnTo>
                        <a:pt x="21668" y="257431"/>
                      </a:lnTo>
                      <a:close/>
                      <a:moveTo>
                        <a:pt x="110401" y="169213"/>
                      </a:moveTo>
                      <a:lnTo>
                        <a:pt x="88734" y="147546"/>
                      </a:lnTo>
                      <a:lnTo>
                        <a:pt x="147546" y="88734"/>
                      </a:lnTo>
                      <a:lnTo>
                        <a:pt x="169213" y="110401"/>
                      </a:lnTo>
                      <a:lnTo>
                        <a:pt x="110401" y="169213"/>
                      </a:lnTo>
                      <a:close/>
                      <a:moveTo>
                        <a:pt x="198619" y="80479"/>
                      </a:moveTo>
                      <a:lnTo>
                        <a:pt x="176952" y="58812"/>
                      </a:lnTo>
                      <a:lnTo>
                        <a:pt x="235764" y="0"/>
                      </a:lnTo>
                      <a:lnTo>
                        <a:pt x="257431" y="21668"/>
                      </a:lnTo>
                      <a:lnTo>
                        <a:pt x="198619"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38" name="Google Shape;2338;p76"/>
                <p:cNvSpPr/>
                <p:nvPr/>
              </p:nvSpPr>
              <p:spPr>
                <a:xfrm>
                  <a:off x="5320460" y="2959714"/>
                  <a:ext cx="75836" cy="59843"/>
                </a:xfrm>
                <a:custGeom>
                  <a:avLst/>
                  <a:gdLst/>
                  <a:ahLst/>
                  <a:cxnLst/>
                  <a:rect l="l" t="t" r="r" b="b"/>
                  <a:pathLst>
                    <a:path w="75836" h="59843" extrusionOk="0">
                      <a:moveTo>
                        <a:pt x="54169" y="59844"/>
                      </a:moveTo>
                      <a:lnTo>
                        <a:pt x="37660" y="43851"/>
                      </a:lnTo>
                      <a:lnTo>
                        <a:pt x="21668" y="59844"/>
                      </a:lnTo>
                      <a:lnTo>
                        <a:pt x="0" y="38176"/>
                      </a:lnTo>
                      <a:lnTo>
                        <a:pt x="37660" y="0"/>
                      </a:lnTo>
                      <a:lnTo>
                        <a:pt x="75836" y="38176"/>
                      </a:lnTo>
                      <a:lnTo>
                        <a:pt x="54169" y="59844"/>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39" name="Google Shape;2339;p76"/>
                <p:cNvSpPr/>
                <p:nvPr/>
              </p:nvSpPr>
              <p:spPr>
                <a:xfrm>
                  <a:off x="5404035" y="3027812"/>
                  <a:ext cx="257947" cy="257431"/>
                </a:xfrm>
                <a:custGeom>
                  <a:avLst/>
                  <a:gdLst/>
                  <a:ahLst/>
                  <a:cxnLst/>
                  <a:rect l="l" t="t" r="r" b="b"/>
                  <a:pathLst>
                    <a:path w="257947" h="257431" extrusionOk="0">
                      <a:moveTo>
                        <a:pt x="236279" y="257431"/>
                      </a:moveTo>
                      <a:lnTo>
                        <a:pt x="177468" y="198619"/>
                      </a:lnTo>
                      <a:lnTo>
                        <a:pt x="199135" y="176952"/>
                      </a:lnTo>
                      <a:lnTo>
                        <a:pt x="257947" y="235764"/>
                      </a:lnTo>
                      <a:lnTo>
                        <a:pt x="236279" y="257431"/>
                      </a:lnTo>
                      <a:close/>
                      <a:moveTo>
                        <a:pt x="147546" y="168697"/>
                      </a:moveTo>
                      <a:lnTo>
                        <a:pt x="88734" y="109885"/>
                      </a:lnTo>
                      <a:lnTo>
                        <a:pt x="110401" y="88218"/>
                      </a:lnTo>
                      <a:lnTo>
                        <a:pt x="169213" y="147030"/>
                      </a:lnTo>
                      <a:lnTo>
                        <a:pt x="147546" y="168697"/>
                      </a:lnTo>
                      <a:close/>
                      <a:moveTo>
                        <a:pt x="58812" y="80479"/>
                      </a:moveTo>
                      <a:lnTo>
                        <a:pt x="0" y="21668"/>
                      </a:lnTo>
                      <a:lnTo>
                        <a:pt x="21668" y="0"/>
                      </a:lnTo>
                      <a:lnTo>
                        <a:pt x="80479" y="58812"/>
                      </a:lnTo>
                      <a:lnTo>
                        <a:pt x="58812"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40" name="Google Shape;2340;p76"/>
                <p:cNvSpPr/>
                <p:nvPr/>
              </p:nvSpPr>
              <p:spPr>
                <a:xfrm>
                  <a:off x="5669720" y="3292982"/>
                  <a:ext cx="59843" cy="75836"/>
                </a:xfrm>
                <a:custGeom>
                  <a:avLst/>
                  <a:gdLst/>
                  <a:ahLst/>
                  <a:cxnLst/>
                  <a:rect l="l" t="t" r="r" b="b"/>
                  <a:pathLst>
                    <a:path w="59843" h="75836" extrusionOk="0">
                      <a:moveTo>
                        <a:pt x="21668" y="75836"/>
                      </a:moveTo>
                      <a:lnTo>
                        <a:pt x="0" y="53653"/>
                      </a:lnTo>
                      <a:lnTo>
                        <a:pt x="15993" y="37660"/>
                      </a:lnTo>
                      <a:lnTo>
                        <a:pt x="0" y="21668"/>
                      </a:lnTo>
                      <a:lnTo>
                        <a:pt x="21668" y="0"/>
                      </a:lnTo>
                      <a:lnTo>
                        <a:pt x="59844" y="37660"/>
                      </a:lnTo>
                      <a:lnTo>
                        <a:pt x="21668" y="75836"/>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41" name="Google Shape;2341;p76"/>
                <p:cNvSpPr/>
                <p:nvPr/>
              </p:nvSpPr>
              <p:spPr>
                <a:xfrm>
                  <a:off x="5404551" y="3376557"/>
                  <a:ext cx="257431" cy="257431"/>
                </a:xfrm>
                <a:custGeom>
                  <a:avLst/>
                  <a:gdLst/>
                  <a:ahLst/>
                  <a:cxnLst/>
                  <a:rect l="l" t="t" r="r" b="b"/>
                  <a:pathLst>
                    <a:path w="257431" h="257431" extrusionOk="0">
                      <a:moveTo>
                        <a:pt x="21668" y="257431"/>
                      </a:moveTo>
                      <a:lnTo>
                        <a:pt x="0" y="235764"/>
                      </a:lnTo>
                      <a:lnTo>
                        <a:pt x="58812" y="176952"/>
                      </a:lnTo>
                      <a:lnTo>
                        <a:pt x="80479" y="198619"/>
                      </a:lnTo>
                      <a:lnTo>
                        <a:pt x="21668" y="257431"/>
                      </a:lnTo>
                      <a:close/>
                      <a:moveTo>
                        <a:pt x="110401" y="168697"/>
                      </a:moveTo>
                      <a:lnTo>
                        <a:pt x="88734" y="147030"/>
                      </a:lnTo>
                      <a:lnTo>
                        <a:pt x="147546" y="88218"/>
                      </a:lnTo>
                      <a:lnTo>
                        <a:pt x="169213" y="109885"/>
                      </a:lnTo>
                      <a:lnTo>
                        <a:pt x="110401" y="168697"/>
                      </a:lnTo>
                      <a:close/>
                      <a:moveTo>
                        <a:pt x="198619" y="80479"/>
                      </a:moveTo>
                      <a:lnTo>
                        <a:pt x="176952" y="58812"/>
                      </a:lnTo>
                      <a:lnTo>
                        <a:pt x="235764" y="0"/>
                      </a:lnTo>
                      <a:lnTo>
                        <a:pt x="257431" y="21668"/>
                      </a:lnTo>
                      <a:lnTo>
                        <a:pt x="198619" y="80479"/>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grpSp>
            <p:nvGrpSpPr>
              <p:cNvPr id="2342" name="Google Shape;2342;p76"/>
              <p:cNvGrpSpPr/>
              <p:nvPr/>
            </p:nvGrpSpPr>
            <p:grpSpPr>
              <a:xfrm>
                <a:off x="11117171" y="5510882"/>
                <a:ext cx="268710" cy="268710"/>
                <a:chOff x="5167110" y="3140664"/>
                <a:chExt cx="383051" cy="383051"/>
              </a:xfrm>
            </p:grpSpPr>
            <p:sp>
              <p:nvSpPr>
                <p:cNvPr id="2343" name="Google Shape;2343;p76"/>
                <p:cNvSpPr/>
                <p:nvPr/>
              </p:nvSpPr>
              <p:spPr>
                <a:xfrm>
                  <a:off x="5346770" y="3305363"/>
                  <a:ext cx="34564" cy="25794"/>
                </a:xfrm>
                <a:custGeom>
                  <a:avLst/>
                  <a:gdLst/>
                  <a:ahLst/>
                  <a:cxnLst/>
                  <a:rect l="l" t="t" r="r" b="b"/>
                  <a:pathLst>
                    <a:path w="34564" h="25794" extrusionOk="0">
                      <a:moveTo>
                        <a:pt x="18056" y="0"/>
                      </a:moveTo>
                      <a:lnTo>
                        <a:pt x="0" y="0"/>
                      </a:lnTo>
                      <a:lnTo>
                        <a:pt x="0" y="25795"/>
                      </a:lnTo>
                      <a:lnTo>
                        <a:pt x="18056" y="25795"/>
                      </a:lnTo>
                      <a:cubicBezTo>
                        <a:pt x="23215" y="25795"/>
                        <a:pt x="26826" y="24763"/>
                        <a:pt x="29922" y="22183"/>
                      </a:cubicBezTo>
                      <a:cubicBezTo>
                        <a:pt x="33017" y="20120"/>
                        <a:pt x="34565" y="16509"/>
                        <a:pt x="34565" y="12897"/>
                      </a:cubicBezTo>
                      <a:cubicBezTo>
                        <a:pt x="34565" y="9286"/>
                        <a:pt x="33017" y="5675"/>
                        <a:pt x="29922" y="3611"/>
                      </a:cubicBezTo>
                      <a:cubicBezTo>
                        <a:pt x="26826" y="1032"/>
                        <a:pt x="22699" y="0"/>
                        <a:pt x="18056" y="0"/>
                      </a:cubicBez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44" name="Google Shape;2344;p76"/>
                <p:cNvSpPr/>
                <p:nvPr/>
              </p:nvSpPr>
              <p:spPr>
                <a:xfrm>
                  <a:off x="5260616" y="3311038"/>
                  <a:ext cx="27342" cy="33017"/>
                </a:xfrm>
                <a:custGeom>
                  <a:avLst/>
                  <a:gdLst/>
                  <a:ahLst/>
                  <a:cxnLst/>
                  <a:rect l="l" t="t" r="r" b="b"/>
                  <a:pathLst>
                    <a:path w="27342" h="33017" extrusionOk="0">
                      <a:moveTo>
                        <a:pt x="0" y="33017"/>
                      </a:moveTo>
                      <a:lnTo>
                        <a:pt x="27342" y="33017"/>
                      </a:lnTo>
                      <a:lnTo>
                        <a:pt x="13413" y="0"/>
                      </a:lnTo>
                      <a:lnTo>
                        <a:pt x="0" y="33017"/>
                      </a:ln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45" name="Google Shape;2345;p76"/>
                <p:cNvSpPr/>
                <p:nvPr/>
              </p:nvSpPr>
              <p:spPr>
                <a:xfrm>
                  <a:off x="5429313" y="3305363"/>
                  <a:ext cx="34564" cy="25794"/>
                </a:xfrm>
                <a:custGeom>
                  <a:avLst/>
                  <a:gdLst/>
                  <a:ahLst/>
                  <a:cxnLst/>
                  <a:rect l="l" t="t" r="r" b="b"/>
                  <a:pathLst>
                    <a:path w="34564" h="25794" extrusionOk="0">
                      <a:moveTo>
                        <a:pt x="18056" y="0"/>
                      </a:moveTo>
                      <a:lnTo>
                        <a:pt x="0" y="0"/>
                      </a:lnTo>
                      <a:lnTo>
                        <a:pt x="0" y="25795"/>
                      </a:lnTo>
                      <a:lnTo>
                        <a:pt x="18056" y="25795"/>
                      </a:lnTo>
                      <a:cubicBezTo>
                        <a:pt x="23215" y="25795"/>
                        <a:pt x="26827" y="24763"/>
                        <a:pt x="29922" y="22183"/>
                      </a:cubicBezTo>
                      <a:cubicBezTo>
                        <a:pt x="33017" y="20120"/>
                        <a:pt x="34565" y="16509"/>
                        <a:pt x="34565" y="12897"/>
                      </a:cubicBezTo>
                      <a:cubicBezTo>
                        <a:pt x="34565" y="9286"/>
                        <a:pt x="33017" y="5675"/>
                        <a:pt x="29922" y="3611"/>
                      </a:cubicBezTo>
                      <a:cubicBezTo>
                        <a:pt x="26827" y="1032"/>
                        <a:pt x="22699" y="0"/>
                        <a:pt x="18056" y="0"/>
                      </a:cubicBez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2346" name="Google Shape;2346;p76"/>
                <p:cNvSpPr/>
                <p:nvPr/>
              </p:nvSpPr>
              <p:spPr>
                <a:xfrm>
                  <a:off x="5167110" y="3140664"/>
                  <a:ext cx="383051" cy="383051"/>
                </a:xfrm>
                <a:custGeom>
                  <a:avLst/>
                  <a:gdLst/>
                  <a:ahLst/>
                  <a:cxnLst/>
                  <a:rect l="l" t="t" r="r" b="b"/>
                  <a:pathLst>
                    <a:path w="383051" h="383051" extrusionOk="0">
                      <a:moveTo>
                        <a:pt x="375700" y="173469"/>
                      </a:moveTo>
                      <a:lnTo>
                        <a:pt x="209582" y="7351"/>
                      </a:lnTo>
                      <a:cubicBezTo>
                        <a:pt x="199780" y="-2450"/>
                        <a:pt x="183787" y="-2450"/>
                        <a:pt x="173469" y="7351"/>
                      </a:cubicBezTo>
                      <a:lnTo>
                        <a:pt x="7351" y="173469"/>
                      </a:lnTo>
                      <a:cubicBezTo>
                        <a:pt x="-2450" y="183271"/>
                        <a:pt x="-2450" y="199264"/>
                        <a:pt x="7351" y="209582"/>
                      </a:cubicBezTo>
                      <a:lnTo>
                        <a:pt x="173469" y="375700"/>
                      </a:lnTo>
                      <a:cubicBezTo>
                        <a:pt x="183271" y="385502"/>
                        <a:pt x="199264" y="385502"/>
                        <a:pt x="209582" y="375700"/>
                      </a:cubicBezTo>
                      <a:lnTo>
                        <a:pt x="375700" y="209582"/>
                      </a:lnTo>
                      <a:cubicBezTo>
                        <a:pt x="385502" y="199780"/>
                        <a:pt x="385502" y="183787"/>
                        <a:pt x="375700" y="173469"/>
                      </a:cubicBezTo>
                      <a:close/>
                      <a:moveTo>
                        <a:pt x="132198" y="230218"/>
                      </a:moveTo>
                      <a:lnTo>
                        <a:pt x="126007" y="215257"/>
                      </a:lnTo>
                      <a:lnTo>
                        <a:pt x="88347" y="215257"/>
                      </a:lnTo>
                      <a:lnTo>
                        <a:pt x="82156" y="230218"/>
                      </a:lnTo>
                      <a:lnTo>
                        <a:pt x="66163" y="230218"/>
                      </a:lnTo>
                      <a:lnTo>
                        <a:pt x="99181" y="151802"/>
                      </a:lnTo>
                      <a:lnTo>
                        <a:pt x="115173" y="151802"/>
                      </a:lnTo>
                      <a:lnTo>
                        <a:pt x="148191" y="230218"/>
                      </a:lnTo>
                      <a:lnTo>
                        <a:pt x="132198" y="230218"/>
                      </a:lnTo>
                      <a:close/>
                      <a:moveTo>
                        <a:pt x="225059" y="191010"/>
                      </a:moveTo>
                      <a:cubicBezTo>
                        <a:pt x="222479" y="195137"/>
                        <a:pt x="218868" y="198232"/>
                        <a:pt x="214225" y="200296"/>
                      </a:cubicBezTo>
                      <a:cubicBezTo>
                        <a:pt x="209582" y="202359"/>
                        <a:pt x="204939" y="203391"/>
                        <a:pt x="199264" y="203391"/>
                      </a:cubicBezTo>
                      <a:lnTo>
                        <a:pt x="179144" y="203391"/>
                      </a:lnTo>
                      <a:lnTo>
                        <a:pt x="179144" y="229702"/>
                      </a:lnTo>
                      <a:lnTo>
                        <a:pt x="165215" y="229702"/>
                      </a:lnTo>
                      <a:lnTo>
                        <a:pt x="165215" y="151286"/>
                      </a:lnTo>
                      <a:lnTo>
                        <a:pt x="199264" y="151286"/>
                      </a:lnTo>
                      <a:cubicBezTo>
                        <a:pt x="204939" y="151286"/>
                        <a:pt x="209582" y="152318"/>
                        <a:pt x="214225" y="154381"/>
                      </a:cubicBezTo>
                      <a:cubicBezTo>
                        <a:pt x="218868" y="156445"/>
                        <a:pt x="222479" y="159540"/>
                        <a:pt x="225059" y="163667"/>
                      </a:cubicBezTo>
                      <a:cubicBezTo>
                        <a:pt x="227638" y="167795"/>
                        <a:pt x="228670" y="171922"/>
                        <a:pt x="228670" y="177081"/>
                      </a:cubicBezTo>
                      <a:cubicBezTo>
                        <a:pt x="228670" y="182240"/>
                        <a:pt x="227638" y="186367"/>
                        <a:pt x="225059" y="190494"/>
                      </a:cubicBezTo>
                      <a:close/>
                      <a:moveTo>
                        <a:pt x="307602" y="191010"/>
                      </a:moveTo>
                      <a:cubicBezTo>
                        <a:pt x="305022" y="195137"/>
                        <a:pt x="301411" y="198232"/>
                        <a:pt x="296768" y="200296"/>
                      </a:cubicBezTo>
                      <a:cubicBezTo>
                        <a:pt x="292125" y="202359"/>
                        <a:pt x="287482" y="203391"/>
                        <a:pt x="281807" y="203391"/>
                      </a:cubicBezTo>
                      <a:lnTo>
                        <a:pt x="261687" y="203391"/>
                      </a:lnTo>
                      <a:lnTo>
                        <a:pt x="261687" y="229702"/>
                      </a:lnTo>
                      <a:lnTo>
                        <a:pt x="247758" y="229702"/>
                      </a:lnTo>
                      <a:lnTo>
                        <a:pt x="247758" y="151286"/>
                      </a:lnTo>
                      <a:lnTo>
                        <a:pt x="281807" y="151286"/>
                      </a:lnTo>
                      <a:cubicBezTo>
                        <a:pt x="287482" y="151286"/>
                        <a:pt x="292125" y="152318"/>
                        <a:pt x="296768" y="154381"/>
                      </a:cubicBezTo>
                      <a:cubicBezTo>
                        <a:pt x="301411" y="156445"/>
                        <a:pt x="305022" y="159540"/>
                        <a:pt x="307602" y="163667"/>
                      </a:cubicBezTo>
                      <a:cubicBezTo>
                        <a:pt x="310181" y="167795"/>
                        <a:pt x="311213" y="171922"/>
                        <a:pt x="311213" y="177081"/>
                      </a:cubicBezTo>
                      <a:cubicBezTo>
                        <a:pt x="311213" y="182240"/>
                        <a:pt x="310181" y="186367"/>
                        <a:pt x="307602" y="190494"/>
                      </a:cubicBezTo>
                      <a:close/>
                    </a:path>
                  </a:pathLst>
                </a:custGeom>
                <a:solidFill>
                  <a:srgbClr val="6C4B8F"/>
                </a:solidFill>
                <a:ln>
                  <a:noFill/>
                </a:ln>
              </p:spPr>
              <p:txBody>
                <a:bodyPr spcFirstLastPara="1" wrap="square" lIns="91410" tIns="45688" rIns="91410" bIns="45688"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466" b="0" i="0" u="none" strike="noStrike" kern="1200" cap="none" spc="0" normalizeH="0" baseline="0" noProof="0">
                    <a:ln>
                      <a:noFill/>
                    </a:ln>
                    <a:solidFill>
                      <a:srgbClr val="000000"/>
                    </a:solidFill>
                    <a:effectLst/>
                    <a:uLnTx/>
                    <a:uFillTx/>
                    <a:latin typeface="Arial"/>
                    <a:ea typeface="Arial"/>
                    <a:cs typeface="Arial"/>
                    <a:sym typeface="Arial"/>
                  </a:endParaRPr>
                </a:p>
              </p:txBody>
            </p:sp>
          </p:grpSp>
          <p:pic>
            <p:nvPicPr>
              <p:cNvPr id="2347" name="Google Shape;2347;p76" descr="Github Logo - Free social media icons"/>
              <p:cNvPicPr preferRelativeResize="0"/>
              <p:nvPr/>
            </p:nvPicPr>
            <p:blipFill rotWithShape="1">
              <a:blip r:embed="rId7">
                <a:alphaModFix/>
              </a:blip>
              <a:srcRect/>
              <a:stretch/>
            </p:blipFill>
            <p:spPr>
              <a:xfrm>
                <a:off x="8556708" y="5472532"/>
                <a:ext cx="520375" cy="520375"/>
              </a:xfrm>
              <a:prstGeom prst="rect">
                <a:avLst/>
              </a:prstGeom>
              <a:noFill/>
              <a:ln>
                <a:noFill/>
              </a:ln>
            </p:spPr>
          </p:pic>
          <p:pic>
            <p:nvPicPr>
              <p:cNvPr id="2348" name="Google Shape;2348;p76" descr="See ArgoCD, Argo Workflows and Argo Rollouts in the real world at CNCF Tel  Aviv"/>
              <p:cNvPicPr preferRelativeResize="0"/>
              <p:nvPr/>
            </p:nvPicPr>
            <p:blipFill rotWithShape="1">
              <a:blip r:embed="rId8">
                <a:alphaModFix/>
              </a:blip>
              <a:srcRect/>
              <a:stretch/>
            </p:blipFill>
            <p:spPr>
              <a:xfrm>
                <a:off x="9691740" y="5396691"/>
                <a:ext cx="668225" cy="668225"/>
              </a:xfrm>
              <a:prstGeom prst="rect">
                <a:avLst/>
              </a:prstGeom>
              <a:noFill/>
              <a:ln>
                <a:noFill/>
              </a:ln>
            </p:spPr>
          </p:pic>
        </p:grpSp>
        <p:pic>
          <p:nvPicPr>
            <p:cNvPr id="2350" name="Google Shape;2350;p76" descr="See the source image"/>
            <p:cNvPicPr preferRelativeResize="0"/>
            <p:nvPr/>
          </p:nvPicPr>
          <p:blipFill rotWithShape="1">
            <a:blip r:embed="rId9">
              <a:alphaModFix/>
            </a:blip>
            <a:srcRect/>
            <a:stretch/>
          </p:blipFill>
          <p:spPr>
            <a:xfrm>
              <a:off x="8780175" y="4169275"/>
              <a:ext cx="1162800" cy="581400"/>
            </a:xfrm>
            <a:prstGeom prst="rect">
              <a:avLst/>
            </a:prstGeom>
            <a:noFill/>
            <a:ln>
              <a:noFill/>
            </a:ln>
          </p:spPr>
        </p:pic>
      </p:grpSp>
      <p:pic>
        <p:nvPicPr>
          <p:cNvPr id="2351" name="Google Shape;2351;p76"/>
          <p:cNvPicPr preferRelativeResize="0"/>
          <p:nvPr/>
        </p:nvPicPr>
        <p:blipFill rotWithShape="1">
          <a:blip r:embed="rId10">
            <a:alphaModFix/>
          </a:blip>
          <a:srcRect/>
          <a:stretch/>
        </p:blipFill>
        <p:spPr>
          <a:xfrm>
            <a:off x="10817600" y="4847281"/>
            <a:ext cx="239639" cy="239639"/>
          </a:xfrm>
          <a:prstGeom prst="rect">
            <a:avLst/>
          </a:prstGeom>
          <a:noFill/>
          <a:ln>
            <a:noFill/>
          </a:ln>
        </p:spPr>
      </p:pic>
      <p:pic>
        <p:nvPicPr>
          <p:cNvPr id="2352" name="Google Shape;2352;p76"/>
          <p:cNvPicPr preferRelativeResize="0"/>
          <p:nvPr/>
        </p:nvPicPr>
        <p:blipFill rotWithShape="1">
          <a:blip r:embed="rId11">
            <a:alphaModFix/>
          </a:blip>
          <a:srcRect/>
          <a:stretch/>
        </p:blipFill>
        <p:spPr>
          <a:xfrm>
            <a:off x="8444139" y="1351540"/>
            <a:ext cx="3284744" cy="2292203"/>
          </a:xfrm>
          <a:prstGeom prst="roundRect">
            <a:avLst>
              <a:gd name="adj" fmla="val 2261"/>
            </a:avLst>
          </a:prstGeom>
          <a:noFill/>
          <a:ln w="9525" cap="flat" cmpd="sng">
            <a:solidFill>
              <a:srgbClr val="005C8A">
                <a:alpha val="20000"/>
              </a:srgbClr>
            </a:solidFill>
            <a:prstDash val="solid"/>
            <a:round/>
            <a:headEnd type="none" w="sm" len="sm"/>
            <a:tailEnd type="none" w="sm" len="sm"/>
          </a:ln>
          <a:effectLst>
            <a:outerShdw blurRad="114300" dist="66675" dir="2700000" algn="ctr" rotWithShape="0">
              <a:srgbClr val="000000">
                <a:alpha val="25000"/>
              </a:srgbClr>
            </a:outerShdw>
          </a:effectLst>
        </p:spPr>
      </p:pic>
      <p:pic>
        <p:nvPicPr>
          <p:cNvPr id="3" name="Picture 2">
            <a:extLst>
              <a:ext uri="{FF2B5EF4-FFF2-40B4-BE49-F238E27FC236}">
                <a16:creationId xmlns:a16="http://schemas.microsoft.com/office/drawing/2014/main" id="{B96E3E12-19AA-7DFC-A918-F0219EBF3210}"/>
              </a:ext>
            </a:extLst>
          </p:cNvPr>
          <p:cNvPicPr>
            <a:picLocks noChangeAspect="1"/>
          </p:cNvPicPr>
          <p:nvPr/>
        </p:nvPicPr>
        <p:blipFill>
          <a:blip r:embed="rId12"/>
          <a:stretch>
            <a:fillRect/>
          </a:stretch>
        </p:blipFill>
        <p:spPr>
          <a:xfrm>
            <a:off x="283825" y="1388358"/>
            <a:ext cx="3639173" cy="2218566"/>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Shape 6003"/>
        <p:cNvGrpSpPr/>
        <p:nvPr/>
      </p:nvGrpSpPr>
      <p:grpSpPr>
        <a:xfrm>
          <a:off x="0" y="0"/>
          <a:ext cx="0" cy="0"/>
          <a:chOff x="0" y="0"/>
          <a:chExt cx="0" cy="0"/>
        </a:xfrm>
      </p:grpSpPr>
      <p:sp>
        <p:nvSpPr>
          <p:cNvPr id="6004" name="Google Shape;6004;p309"/>
          <p:cNvSpPr txBox="1">
            <a:spLocks noGrp="1"/>
          </p:cNvSpPr>
          <p:nvPr>
            <p:ph type="title"/>
          </p:nvPr>
        </p:nvSpPr>
        <p:spPr>
          <a:xfrm>
            <a:off x="589106" y="939443"/>
            <a:ext cx="8161474" cy="1229280"/>
          </a:xfrm>
          <a:prstGeom prst="rect">
            <a:avLst/>
          </a:prstGeom>
          <a:noFill/>
          <a:ln>
            <a:noFill/>
          </a:ln>
        </p:spPr>
        <p:txBody>
          <a:bodyPr spcFirstLastPara="1" wrap="square" lIns="0" tIns="0" rIns="0" bIns="0" anchor="b" anchorCtr="0">
            <a:noAutofit/>
          </a:bodyPr>
          <a:lstStyle/>
          <a:p>
            <a:pPr>
              <a:buClr>
                <a:srgbClr val="000000"/>
              </a:buClr>
              <a:buSzPts val="1000"/>
            </a:pPr>
            <a:r>
              <a:rPr lang="en"/>
              <a:t>Build, Run and Manage Private AI Apps</a:t>
            </a:r>
            <a:endParaRPr/>
          </a:p>
        </p:txBody>
      </p:sp>
      <p:sp>
        <p:nvSpPr>
          <p:cNvPr id="6005" name="Google Shape;6005;p309"/>
          <p:cNvSpPr txBox="1">
            <a:spLocks noGrp="1"/>
          </p:cNvSpPr>
          <p:nvPr>
            <p:ph type="subTitle" idx="1"/>
          </p:nvPr>
        </p:nvSpPr>
        <p:spPr>
          <a:xfrm>
            <a:off x="602965" y="2268014"/>
            <a:ext cx="6542296" cy="700618"/>
          </a:xfrm>
          <a:prstGeom prst="rect">
            <a:avLst/>
          </a:prstGeom>
          <a:noFill/>
          <a:ln>
            <a:noFill/>
          </a:ln>
        </p:spPr>
        <p:txBody>
          <a:bodyPr spcFirstLastPara="1" wrap="square" lIns="0" tIns="0" rIns="0" bIns="0" anchor="t" anchorCtr="0">
            <a:noAutofit/>
          </a:bodyPr>
          <a:lstStyle/>
          <a:p>
            <a:pPr marL="0" indent="0"/>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Shape 6010"/>
        <p:cNvGrpSpPr/>
        <p:nvPr/>
      </p:nvGrpSpPr>
      <p:grpSpPr>
        <a:xfrm>
          <a:off x="0" y="0"/>
          <a:ext cx="0" cy="0"/>
          <a:chOff x="0" y="0"/>
          <a:chExt cx="0" cy="0"/>
        </a:xfrm>
      </p:grpSpPr>
      <p:sp>
        <p:nvSpPr>
          <p:cNvPr id="6011" name="Google Shape;6011;p310"/>
          <p:cNvSpPr/>
          <p:nvPr/>
        </p:nvSpPr>
        <p:spPr>
          <a:xfrm>
            <a:off x="2399172" y="1759019"/>
            <a:ext cx="7390475" cy="788595"/>
          </a:xfrm>
          <a:prstGeom prst="rect">
            <a:avLst/>
          </a:prstGeom>
          <a:noFill/>
          <a:ln>
            <a:noFill/>
          </a:ln>
        </p:spPr>
        <p:txBody>
          <a:bodyPr spcFirstLastPara="1" wrap="square" lIns="91276" tIns="91276" rIns="91276" bIns="91276" anchor="ctr" anchorCtr="0">
            <a:noAutofit/>
          </a:bodyPr>
          <a:lstStyle/>
          <a:p>
            <a:pPr algn="ctr" defTabSz="1218895">
              <a:buSzPts val="900"/>
            </a:pPr>
            <a:endParaRPr sz="1200">
              <a:solidFill>
                <a:srgbClr val="041032"/>
              </a:solidFill>
            </a:endParaRPr>
          </a:p>
        </p:txBody>
      </p:sp>
      <p:sp>
        <p:nvSpPr>
          <p:cNvPr id="6012" name="Google Shape;6012;p310"/>
          <p:cNvSpPr txBox="1"/>
          <p:nvPr/>
        </p:nvSpPr>
        <p:spPr>
          <a:xfrm>
            <a:off x="415810" y="6625269"/>
            <a:ext cx="115170" cy="123111"/>
          </a:xfrm>
          <a:prstGeom prst="rect">
            <a:avLst/>
          </a:prstGeom>
          <a:noFill/>
          <a:ln>
            <a:noFill/>
          </a:ln>
        </p:spPr>
        <p:txBody>
          <a:bodyPr spcFirstLastPara="1" wrap="square" lIns="0" tIns="0" rIns="0" bIns="0" anchor="ctr" anchorCtr="0">
            <a:spAutoFit/>
          </a:bodyPr>
          <a:lstStyle/>
          <a:p>
            <a:pPr defTabSz="1218895">
              <a:buClr>
                <a:srgbClr val="2D2D2D"/>
              </a:buClr>
              <a:buSzPts val="600"/>
            </a:pPr>
            <a:fld id="{00000000-1234-1234-1234-123412341234}" type="slidenum">
              <a:rPr lang="en" sz="800">
                <a:solidFill>
                  <a:srgbClr val="2D2D2D"/>
                </a:solidFill>
              </a:rPr>
              <a:pPr defTabSz="1218895">
                <a:buClr>
                  <a:srgbClr val="2D2D2D"/>
                </a:buClr>
                <a:buSzPts val="600"/>
              </a:pPr>
              <a:t>121</a:t>
            </a:fld>
            <a:endParaRPr sz="800">
              <a:solidFill>
                <a:srgbClr val="2D2D2D"/>
              </a:solidFill>
            </a:endParaRPr>
          </a:p>
        </p:txBody>
      </p:sp>
      <p:sp>
        <p:nvSpPr>
          <p:cNvPr id="6013" name="Google Shape;6013;p310"/>
          <p:cNvSpPr/>
          <p:nvPr/>
        </p:nvSpPr>
        <p:spPr>
          <a:xfrm>
            <a:off x="4765" y="99678"/>
            <a:ext cx="5495369" cy="6753841"/>
          </a:xfrm>
          <a:prstGeom prst="rect">
            <a:avLst/>
          </a:prstGeom>
          <a:gradFill>
            <a:gsLst>
              <a:gs pos="0">
                <a:srgbClr val="FFFFFF"/>
              </a:gs>
              <a:gs pos="3000">
                <a:srgbClr val="FFFFFF"/>
              </a:gs>
              <a:gs pos="100000">
                <a:srgbClr val="E3EDF2"/>
              </a:gs>
            </a:gsLst>
            <a:lin ang="2700006" scaled="0"/>
          </a:gradFill>
          <a:ln>
            <a:noFill/>
          </a:ln>
        </p:spPr>
        <p:txBody>
          <a:bodyPr spcFirstLastPara="1" wrap="square" lIns="91343" tIns="45655" rIns="91343" bIns="45655" anchor="ctr" anchorCtr="0">
            <a:noAutofit/>
          </a:bodyPr>
          <a:lstStyle/>
          <a:p>
            <a:pPr algn="ctr" defTabSz="1218895">
              <a:buSzPts val="900"/>
            </a:pPr>
            <a:endParaRPr sz="1200">
              <a:solidFill>
                <a:srgbClr val="1D428A"/>
              </a:solidFill>
            </a:endParaRPr>
          </a:p>
        </p:txBody>
      </p:sp>
      <p:grpSp>
        <p:nvGrpSpPr>
          <p:cNvPr id="6014" name="Google Shape;6014;p310"/>
          <p:cNvGrpSpPr/>
          <p:nvPr/>
        </p:nvGrpSpPr>
        <p:grpSpPr>
          <a:xfrm>
            <a:off x="270176" y="6320129"/>
            <a:ext cx="1248231" cy="369257"/>
            <a:chOff x="265625" y="6323271"/>
            <a:chExt cx="1249222" cy="369649"/>
          </a:xfrm>
        </p:grpSpPr>
        <p:grpSp>
          <p:nvGrpSpPr>
            <p:cNvPr id="6015" name="Google Shape;6015;p310"/>
            <p:cNvGrpSpPr/>
            <p:nvPr/>
          </p:nvGrpSpPr>
          <p:grpSpPr>
            <a:xfrm>
              <a:off x="745455" y="6594444"/>
              <a:ext cx="722663" cy="98476"/>
              <a:chOff x="745455" y="6594444"/>
              <a:chExt cx="722663" cy="98476"/>
            </a:xfrm>
          </p:grpSpPr>
          <p:sp>
            <p:nvSpPr>
              <p:cNvPr id="6016" name="Google Shape;6016;p310"/>
              <p:cNvSpPr/>
              <p:nvPr/>
            </p:nvSpPr>
            <p:spPr>
              <a:xfrm>
                <a:off x="745455" y="6594444"/>
                <a:ext cx="55936" cy="81777"/>
              </a:xfrm>
              <a:custGeom>
                <a:avLst/>
                <a:gdLst/>
                <a:ahLst/>
                <a:cxnLst/>
                <a:rect l="l" t="t" r="r" b="b"/>
                <a:pathLst>
                  <a:path w="55936" h="81777" extrusionOk="0">
                    <a:moveTo>
                      <a:pt x="5397" y="68381"/>
                    </a:moveTo>
                    <a:lnTo>
                      <a:pt x="5397" y="80508"/>
                    </a:lnTo>
                    <a:lnTo>
                      <a:pt x="0" y="80508"/>
                    </a:lnTo>
                    <a:lnTo>
                      <a:pt x="0" y="0"/>
                    </a:lnTo>
                    <a:lnTo>
                      <a:pt x="5397" y="0"/>
                    </a:lnTo>
                    <a:lnTo>
                      <a:pt x="5397" y="36826"/>
                    </a:lnTo>
                    <a:cubicBezTo>
                      <a:pt x="10222" y="29460"/>
                      <a:pt x="17397" y="22920"/>
                      <a:pt x="28571" y="22920"/>
                    </a:cubicBezTo>
                    <a:cubicBezTo>
                      <a:pt x="42159" y="22920"/>
                      <a:pt x="55936" y="33841"/>
                      <a:pt x="55936" y="52126"/>
                    </a:cubicBezTo>
                    <a:lnTo>
                      <a:pt x="55936" y="52317"/>
                    </a:lnTo>
                    <a:cubicBezTo>
                      <a:pt x="55936" y="70603"/>
                      <a:pt x="42159" y="81777"/>
                      <a:pt x="28571" y="81777"/>
                    </a:cubicBezTo>
                    <a:cubicBezTo>
                      <a:pt x="17333" y="81841"/>
                      <a:pt x="10032" y="75428"/>
                      <a:pt x="5397" y="68381"/>
                    </a:cubicBezTo>
                    <a:close/>
                    <a:moveTo>
                      <a:pt x="50095" y="52571"/>
                    </a:moveTo>
                    <a:lnTo>
                      <a:pt x="50095" y="52381"/>
                    </a:lnTo>
                    <a:cubicBezTo>
                      <a:pt x="50095" y="37587"/>
                      <a:pt x="39809" y="28127"/>
                      <a:pt x="28063" y="28127"/>
                    </a:cubicBezTo>
                    <a:cubicBezTo>
                      <a:pt x="16381" y="28127"/>
                      <a:pt x="5143" y="37968"/>
                      <a:pt x="5143" y="52254"/>
                    </a:cubicBezTo>
                    <a:lnTo>
                      <a:pt x="5143" y="52444"/>
                    </a:lnTo>
                    <a:cubicBezTo>
                      <a:pt x="5143" y="66921"/>
                      <a:pt x="16381" y="76571"/>
                      <a:pt x="28063" y="76571"/>
                    </a:cubicBezTo>
                    <a:cubicBezTo>
                      <a:pt x="40254" y="76635"/>
                      <a:pt x="50095" y="67682"/>
                      <a:pt x="50095" y="52571"/>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17" name="Google Shape;6017;p310"/>
              <p:cNvSpPr/>
              <p:nvPr/>
            </p:nvSpPr>
            <p:spPr>
              <a:xfrm>
                <a:off x="809582" y="6618699"/>
                <a:ext cx="55872" cy="74221"/>
              </a:xfrm>
              <a:custGeom>
                <a:avLst/>
                <a:gdLst/>
                <a:ahLst/>
                <a:cxnLst/>
                <a:rect l="l" t="t" r="r" b="b"/>
                <a:pathLst>
                  <a:path w="55872" h="74221" extrusionOk="0">
                    <a:moveTo>
                      <a:pt x="49904" y="0"/>
                    </a:moveTo>
                    <a:lnTo>
                      <a:pt x="55873" y="0"/>
                    </a:lnTo>
                    <a:lnTo>
                      <a:pt x="31492" y="58221"/>
                    </a:lnTo>
                    <a:cubicBezTo>
                      <a:pt x="26540" y="70031"/>
                      <a:pt x="20825" y="74221"/>
                      <a:pt x="12762" y="74221"/>
                    </a:cubicBezTo>
                    <a:cubicBezTo>
                      <a:pt x="8444" y="74221"/>
                      <a:pt x="5397" y="73460"/>
                      <a:pt x="1651" y="71809"/>
                    </a:cubicBezTo>
                    <a:lnTo>
                      <a:pt x="3492" y="67047"/>
                    </a:lnTo>
                    <a:cubicBezTo>
                      <a:pt x="6476" y="68507"/>
                      <a:pt x="8889" y="69142"/>
                      <a:pt x="13079" y="69142"/>
                    </a:cubicBezTo>
                    <a:cubicBezTo>
                      <a:pt x="18921" y="69142"/>
                      <a:pt x="22794" y="65714"/>
                      <a:pt x="26984" y="55936"/>
                    </a:cubicBezTo>
                    <a:lnTo>
                      <a:pt x="0" y="0"/>
                    </a:lnTo>
                    <a:lnTo>
                      <a:pt x="6286" y="0"/>
                    </a:lnTo>
                    <a:lnTo>
                      <a:pt x="29651" y="50285"/>
                    </a:lnTo>
                    <a:lnTo>
                      <a:pt x="49904" y="0"/>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18" name="Google Shape;6018;p310"/>
              <p:cNvSpPr/>
              <p:nvPr/>
            </p:nvSpPr>
            <p:spPr>
              <a:xfrm>
                <a:off x="913010" y="6597746"/>
                <a:ext cx="64317" cy="77079"/>
              </a:xfrm>
              <a:custGeom>
                <a:avLst/>
                <a:gdLst/>
                <a:ahLst/>
                <a:cxnLst/>
                <a:rect l="l" t="t" r="r" b="b"/>
                <a:pathLst>
                  <a:path w="64317" h="77079" extrusionOk="0">
                    <a:moveTo>
                      <a:pt x="63" y="0"/>
                    </a:moveTo>
                    <a:lnTo>
                      <a:pt x="34666" y="0"/>
                    </a:lnTo>
                    <a:cubicBezTo>
                      <a:pt x="43492" y="0"/>
                      <a:pt x="50412" y="2413"/>
                      <a:pt x="54857" y="6857"/>
                    </a:cubicBezTo>
                    <a:cubicBezTo>
                      <a:pt x="58285" y="10286"/>
                      <a:pt x="60063" y="14603"/>
                      <a:pt x="60063" y="19619"/>
                    </a:cubicBezTo>
                    <a:lnTo>
                      <a:pt x="60063" y="19809"/>
                    </a:lnTo>
                    <a:cubicBezTo>
                      <a:pt x="60063" y="29079"/>
                      <a:pt x="54793" y="34031"/>
                      <a:pt x="49016" y="37015"/>
                    </a:cubicBezTo>
                    <a:cubicBezTo>
                      <a:pt x="58031" y="40126"/>
                      <a:pt x="64317" y="45270"/>
                      <a:pt x="64317" y="55746"/>
                    </a:cubicBezTo>
                    <a:lnTo>
                      <a:pt x="64317" y="55936"/>
                    </a:lnTo>
                    <a:cubicBezTo>
                      <a:pt x="64317" y="69714"/>
                      <a:pt x="52952" y="77079"/>
                      <a:pt x="35746" y="77079"/>
                    </a:cubicBezTo>
                    <a:lnTo>
                      <a:pt x="0" y="77079"/>
                    </a:lnTo>
                    <a:lnTo>
                      <a:pt x="0" y="0"/>
                    </a:lnTo>
                    <a:close/>
                    <a:moveTo>
                      <a:pt x="46476" y="21841"/>
                    </a:moveTo>
                    <a:cubicBezTo>
                      <a:pt x="46476" y="15809"/>
                      <a:pt x="41651" y="12000"/>
                      <a:pt x="32889" y="12000"/>
                    </a:cubicBezTo>
                    <a:lnTo>
                      <a:pt x="13397" y="12000"/>
                    </a:lnTo>
                    <a:lnTo>
                      <a:pt x="13397" y="32508"/>
                    </a:lnTo>
                    <a:lnTo>
                      <a:pt x="31936" y="32508"/>
                    </a:lnTo>
                    <a:cubicBezTo>
                      <a:pt x="40635" y="32508"/>
                      <a:pt x="46476" y="29079"/>
                      <a:pt x="46476" y="22031"/>
                    </a:cubicBezTo>
                    <a:lnTo>
                      <a:pt x="46476" y="21841"/>
                    </a:lnTo>
                    <a:close/>
                    <a:moveTo>
                      <a:pt x="34920" y="43999"/>
                    </a:moveTo>
                    <a:lnTo>
                      <a:pt x="13397" y="43999"/>
                    </a:lnTo>
                    <a:lnTo>
                      <a:pt x="13397" y="65143"/>
                    </a:lnTo>
                    <a:lnTo>
                      <a:pt x="35873" y="65143"/>
                    </a:lnTo>
                    <a:cubicBezTo>
                      <a:pt x="45016" y="65143"/>
                      <a:pt x="50730" y="61523"/>
                      <a:pt x="50730" y="54539"/>
                    </a:cubicBezTo>
                    <a:lnTo>
                      <a:pt x="50730" y="54349"/>
                    </a:lnTo>
                    <a:cubicBezTo>
                      <a:pt x="50793" y="47873"/>
                      <a:pt x="45587" y="43999"/>
                      <a:pt x="34920" y="43999"/>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19" name="Google Shape;6019;p310"/>
              <p:cNvSpPr/>
              <p:nvPr/>
            </p:nvSpPr>
            <p:spPr>
              <a:xfrm>
                <a:off x="991041" y="6615627"/>
                <a:ext cx="34095" cy="59325"/>
              </a:xfrm>
              <a:custGeom>
                <a:avLst/>
                <a:gdLst/>
                <a:ahLst/>
                <a:cxnLst/>
                <a:rect l="l" t="t" r="r" b="b"/>
                <a:pathLst>
                  <a:path w="34095" h="59325" extrusionOk="0">
                    <a:moveTo>
                      <a:pt x="0" y="1103"/>
                    </a:moveTo>
                    <a:lnTo>
                      <a:pt x="13460" y="1103"/>
                    </a:lnTo>
                    <a:lnTo>
                      <a:pt x="13460" y="14245"/>
                    </a:lnTo>
                    <a:cubicBezTo>
                      <a:pt x="17079" y="5547"/>
                      <a:pt x="23809" y="-421"/>
                      <a:pt x="34095" y="23"/>
                    </a:cubicBezTo>
                    <a:lnTo>
                      <a:pt x="34095" y="14119"/>
                    </a:lnTo>
                    <a:lnTo>
                      <a:pt x="33333" y="14119"/>
                    </a:lnTo>
                    <a:cubicBezTo>
                      <a:pt x="21651" y="14119"/>
                      <a:pt x="13460" y="21738"/>
                      <a:pt x="13460" y="37167"/>
                    </a:cubicBezTo>
                    <a:lnTo>
                      <a:pt x="13460" y="59325"/>
                    </a:lnTo>
                    <a:lnTo>
                      <a:pt x="0" y="59325"/>
                    </a:lnTo>
                    <a:lnTo>
                      <a:pt x="0" y="1103"/>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0" name="Google Shape;6020;p310"/>
              <p:cNvSpPr/>
              <p:nvPr/>
            </p:nvSpPr>
            <p:spPr>
              <a:xfrm>
                <a:off x="1031485"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0" y="11683"/>
                    </a:cubicBezTo>
                    <a:cubicBezTo>
                      <a:pt x="20254" y="11683"/>
                      <a:pt x="13397" y="20064"/>
                      <a:pt x="13397" y="30222"/>
                    </a:cubicBezTo>
                    <a:lnTo>
                      <a:pt x="13397" y="30413"/>
                    </a:lnTo>
                    <a:cubicBezTo>
                      <a:pt x="13397" y="40571"/>
                      <a:pt x="20762" y="49080"/>
                      <a:pt x="31174" y="49080"/>
                    </a:cubicBezTo>
                    <a:cubicBezTo>
                      <a:pt x="41904" y="49016"/>
                      <a:pt x="48762" y="40635"/>
                      <a:pt x="48762" y="30603"/>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1" name="Google Shape;6021;p310"/>
              <p:cNvSpPr/>
              <p:nvPr/>
            </p:nvSpPr>
            <p:spPr>
              <a:xfrm>
                <a:off x="1103168" y="6615904"/>
                <a:ext cx="52698" cy="60190"/>
              </a:xfrm>
              <a:custGeom>
                <a:avLst/>
                <a:gdLst/>
                <a:ahLst/>
                <a:cxnLst/>
                <a:rect l="l" t="t" r="r" b="b"/>
                <a:pathLst>
                  <a:path w="52698" h="60190" extrusionOk="0">
                    <a:moveTo>
                      <a:pt x="0" y="42286"/>
                    </a:moveTo>
                    <a:lnTo>
                      <a:pt x="0" y="42095"/>
                    </a:lnTo>
                    <a:cubicBezTo>
                      <a:pt x="0" y="29524"/>
                      <a:pt x="9905" y="23365"/>
                      <a:pt x="24127" y="23365"/>
                    </a:cubicBezTo>
                    <a:cubicBezTo>
                      <a:pt x="30603" y="23365"/>
                      <a:pt x="35238" y="24381"/>
                      <a:pt x="39809" y="25778"/>
                    </a:cubicBezTo>
                    <a:lnTo>
                      <a:pt x="39809" y="24317"/>
                    </a:lnTo>
                    <a:cubicBezTo>
                      <a:pt x="39809" y="16064"/>
                      <a:pt x="34730" y="11619"/>
                      <a:pt x="25333" y="11619"/>
                    </a:cubicBezTo>
                    <a:cubicBezTo>
                      <a:pt x="18857" y="11619"/>
                      <a:pt x="13968" y="13080"/>
                      <a:pt x="8698" y="15238"/>
                    </a:cubicBezTo>
                    <a:lnTo>
                      <a:pt x="5079" y="4762"/>
                    </a:lnTo>
                    <a:cubicBezTo>
                      <a:pt x="11556" y="1905"/>
                      <a:pt x="17841" y="0"/>
                      <a:pt x="27111" y="0"/>
                    </a:cubicBezTo>
                    <a:cubicBezTo>
                      <a:pt x="35809" y="0"/>
                      <a:pt x="42349" y="2286"/>
                      <a:pt x="46412" y="6476"/>
                    </a:cubicBezTo>
                    <a:cubicBezTo>
                      <a:pt x="50730" y="10667"/>
                      <a:pt x="52698" y="16825"/>
                      <a:pt x="52698" y="24444"/>
                    </a:cubicBezTo>
                    <a:lnTo>
                      <a:pt x="52698" y="58984"/>
                    </a:lnTo>
                    <a:lnTo>
                      <a:pt x="39682" y="58984"/>
                    </a:lnTo>
                    <a:lnTo>
                      <a:pt x="39682" y="51682"/>
                    </a:lnTo>
                    <a:cubicBezTo>
                      <a:pt x="35682" y="56444"/>
                      <a:pt x="29651" y="60190"/>
                      <a:pt x="20698" y="60190"/>
                    </a:cubicBezTo>
                    <a:cubicBezTo>
                      <a:pt x="9778" y="60254"/>
                      <a:pt x="0" y="53968"/>
                      <a:pt x="0" y="42286"/>
                    </a:cubicBezTo>
                    <a:close/>
                    <a:moveTo>
                      <a:pt x="40000" y="38095"/>
                    </a:moveTo>
                    <a:lnTo>
                      <a:pt x="40000" y="34095"/>
                    </a:lnTo>
                    <a:cubicBezTo>
                      <a:pt x="36571" y="32762"/>
                      <a:pt x="32063" y="31809"/>
                      <a:pt x="26794" y="31809"/>
                    </a:cubicBezTo>
                    <a:cubicBezTo>
                      <a:pt x="18222" y="31809"/>
                      <a:pt x="13143" y="35428"/>
                      <a:pt x="13143" y="41524"/>
                    </a:cubicBezTo>
                    <a:lnTo>
                      <a:pt x="13143" y="41714"/>
                    </a:lnTo>
                    <a:cubicBezTo>
                      <a:pt x="13143" y="47365"/>
                      <a:pt x="18095" y="50539"/>
                      <a:pt x="24508" y="50539"/>
                    </a:cubicBezTo>
                    <a:cubicBezTo>
                      <a:pt x="33270" y="50539"/>
                      <a:pt x="40000" y="45460"/>
                      <a:pt x="40000" y="38095"/>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2" name="Google Shape;6022;p310"/>
              <p:cNvSpPr/>
              <p:nvPr/>
            </p:nvSpPr>
            <p:spPr>
              <a:xfrm>
                <a:off x="1168882" y="6594444"/>
                <a:ext cx="60253" cy="81713"/>
              </a:xfrm>
              <a:custGeom>
                <a:avLst/>
                <a:gdLst/>
                <a:ahLst/>
                <a:cxnLst/>
                <a:rect l="l" t="t" r="r" b="b"/>
                <a:pathLst>
                  <a:path w="60253" h="81713" extrusionOk="0">
                    <a:moveTo>
                      <a:pt x="0" y="51492"/>
                    </a:moveTo>
                    <a:lnTo>
                      <a:pt x="0" y="51301"/>
                    </a:lnTo>
                    <a:cubicBezTo>
                      <a:pt x="0" y="32000"/>
                      <a:pt x="13143" y="21080"/>
                      <a:pt x="27047" y="21080"/>
                    </a:cubicBezTo>
                    <a:cubicBezTo>
                      <a:pt x="36635" y="21080"/>
                      <a:pt x="42730" y="25842"/>
                      <a:pt x="46920" y="31302"/>
                    </a:cubicBezTo>
                    <a:lnTo>
                      <a:pt x="46920" y="0"/>
                    </a:lnTo>
                    <a:lnTo>
                      <a:pt x="60254" y="0"/>
                    </a:lnTo>
                    <a:lnTo>
                      <a:pt x="60254" y="80508"/>
                    </a:lnTo>
                    <a:lnTo>
                      <a:pt x="46920" y="80508"/>
                    </a:lnTo>
                    <a:lnTo>
                      <a:pt x="46920" y="70793"/>
                    </a:lnTo>
                    <a:cubicBezTo>
                      <a:pt x="42603" y="76825"/>
                      <a:pt x="36571" y="81714"/>
                      <a:pt x="27047" y="81714"/>
                    </a:cubicBezTo>
                    <a:cubicBezTo>
                      <a:pt x="13333" y="81714"/>
                      <a:pt x="0" y="70793"/>
                      <a:pt x="0" y="51492"/>
                    </a:cubicBezTo>
                    <a:close/>
                    <a:moveTo>
                      <a:pt x="47111" y="51492"/>
                    </a:moveTo>
                    <a:lnTo>
                      <a:pt x="47111" y="51301"/>
                    </a:lnTo>
                    <a:cubicBezTo>
                      <a:pt x="47111" y="40064"/>
                      <a:pt x="39174" y="32635"/>
                      <a:pt x="30222" y="32635"/>
                    </a:cubicBezTo>
                    <a:cubicBezTo>
                      <a:pt x="21079" y="32635"/>
                      <a:pt x="13460" y="39809"/>
                      <a:pt x="13460" y="51301"/>
                    </a:cubicBezTo>
                    <a:lnTo>
                      <a:pt x="13460" y="51492"/>
                    </a:lnTo>
                    <a:cubicBezTo>
                      <a:pt x="13460" y="62730"/>
                      <a:pt x="21206" y="70159"/>
                      <a:pt x="30222" y="70159"/>
                    </a:cubicBezTo>
                    <a:cubicBezTo>
                      <a:pt x="39174" y="70159"/>
                      <a:pt x="47111" y="62666"/>
                      <a:pt x="47111" y="51492"/>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3" name="Google Shape;6023;p310"/>
              <p:cNvSpPr/>
              <p:nvPr/>
            </p:nvSpPr>
            <p:spPr>
              <a:xfrm>
                <a:off x="1242659" y="6615587"/>
                <a:ext cx="53904" cy="60762"/>
              </a:xfrm>
              <a:custGeom>
                <a:avLst/>
                <a:gdLst/>
                <a:ahLst/>
                <a:cxnLst/>
                <a:rect l="l" t="t" r="r" b="b"/>
                <a:pathLst>
                  <a:path w="53904" h="60762" extrusionOk="0">
                    <a:moveTo>
                      <a:pt x="0" y="30603"/>
                    </a:moveTo>
                    <a:lnTo>
                      <a:pt x="0" y="30413"/>
                    </a:lnTo>
                    <a:cubicBezTo>
                      <a:pt x="0" y="13842"/>
                      <a:pt x="12762" y="0"/>
                      <a:pt x="30349" y="0"/>
                    </a:cubicBezTo>
                    <a:cubicBezTo>
                      <a:pt x="41270" y="0"/>
                      <a:pt x="48127" y="4064"/>
                      <a:pt x="53587" y="10032"/>
                    </a:cubicBezTo>
                    <a:lnTo>
                      <a:pt x="45206" y="18985"/>
                    </a:lnTo>
                    <a:cubicBezTo>
                      <a:pt x="41143" y="14794"/>
                      <a:pt x="36825" y="11683"/>
                      <a:pt x="30222" y="11683"/>
                    </a:cubicBezTo>
                    <a:cubicBezTo>
                      <a:pt x="20508" y="11683"/>
                      <a:pt x="13333" y="20064"/>
                      <a:pt x="13333" y="30222"/>
                    </a:cubicBezTo>
                    <a:lnTo>
                      <a:pt x="13333" y="30413"/>
                    </a:lnTo>
                    <a:cubicBezTo>
                      <a:pt x="13333" y="40762"/>
                      <a:pt x="20508" y="49080"/>
                      <a:pt x="30730" y="49080"/>
                    </a:cubicBezTo>
                    <a:cubicBezTo>
                      <a:pt x="37016" y="49080"/>
                      <a:pt x="41524" y="46222"/>
                      <a:pt x="45841" y="41905"/>
                    </a:cubicBezTo>
                    <a:lnTo>
                      <a:pt x="53905" y="49842"/>
                    </a:lnTo>
                    <a:cubicBezTo>
                      <a:pt x="48190" y="56254"/>
                      <a:pt x="41460" y="60762"/>
                      <a:pt x="30095" y="60762"/>
                    </a:cubicBezTo>
                    <a:cubicBezTo>
                      <a:pt x="12762" y="60698"/>
                      <a:pt x="0" y="47111"/>
                      <a:pt x="0" y="30603"/>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4" name="Google Shape;6024;p310"/>
              <p:cNvSpPr/>
              <p:nvPr/>
            </p:nvSpPr>
            <p:spPr>
              <a:xfrm>
                <a:off x="1303928" y="6615587"/>
                <a:ext cx="62094" cy="60762"/>
              </a:xfrm>
              <a:custGeom>
                <a:avLst/>
                <a:gdLst/>
                <a:ahLst/>
                <a:cxnLst/>
                <a:rect l="l" t="t" r="r" b="b"/>
                <a:pathLst>
                  <a:path w="62094" h="60762" extrusionOk="0">
                    <a:moveTo>
                      <a:pt x="0" y="30603"/>
                    </a:moveTo>
                    <a:lnTo>
                      <a:pt x="0" y="30413"/>
                    </a:lnTo>
                    <a:cubicBezTo>
                      <a:pt x="0" y="13778"/>
                      <a:pt x="13206" y="0"/>
                      <a:pt x="31111" y="0"/>
                    </a:cubicBezTo>
                    <a:cubicBezTo>
                      <a:pt x="48952" y="0"/>
                      <a:pt x="62095" y="13587"/>
                      <a:pt x="62095" y="30222"/>
                    </a:cubicBezTo>
                    <a:lnTo>
                      <a:pt x="62095" y="30413"/>
                    </a:lnTo>
                    <a:cubicBezTo>
                      <a:pt x="62095" y="46984"/>
                      <a:pt x="48889" y="60762"/>
                      <a:pt x="30857" y="60762"/>
                    </a:cubicBezTo>
                    <a:cubicBezTo>
                      <a:pt x="13143" y="60698"/>
                      <a:pt x="0" y="47111"/>
                      <a:pt x="0" y="30603"/>
                    </a:cubicBezTo>
                    <a:close/>
                    <a:moveTo>
                      <a:pt x="48762" y="30603"/>
                    </a:moveTo>
                    <a:lnTo>
                      <a:pt x="48762" y="30413"/>
                    </a:lnTo>
                    <a:cubicBezTo>
                      <a:pt x="48762" y="20127"/>
                      <a:pt x="41397" y="11683"/>
                      <a:pt x="30921" y="11683"/>
                    </a:cubicBezTo>
                    <a:cubicBezTo>
                      <a:pt x="20254" y="11683"/>
                      <a:pt x="13397" y="20064"/>
                      <a:pt x="13397" y="30222"/>
                    </a:cubicBezTo>
                    <a:lnTo>
                      <a:pt x="13397" y="30413"/>
                    </a:lnTo>
                    <a:cubicBezTo>
                      <a:pt x="13397" y="40571"/>
                      <a:pt x="20762" y="49080"/>
                      <a:pt x="31174" y="49080"/>
                    </a:cubicBezTo>
                    <a:cubicBezTo>
                      <a:pt x="41905" y="49016"/>
                      <a:pt x="48762" y="40635"/>
                      <a:pt x="48762" y="30603"/>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5" name="Google Shape;6025;p310"/>
              <p:cNvSpPr/>
              <p:nvPr/>
            </p:nvSpPr>
            <p:spPr>
              <a:xfrm>
                <a:off x="1379484" y="6615524"/>
                <a:ext cx="88634" cy="59554"/>
              </a:xfrm>
              <a:custGeom>
                <a:avLst/>
                <a:gdLst/>
                <a:ahLst/>
                <a:cxnLst/>
                <a:rect l="l" t="t" r="r" b="b"/>
                <a:pathLst>
                  <a:path w="88634" h="59554" extrusionOk="0">
                    <a:moveTo>
                      <a:pt x="0" y="1206"/>
                    </a:moveTo>
                    <a:lnTo>
                      <a:pt x="13460" y="1206"/>
                    </a:lnTo>
                    <a:lnTo>
                      <a:pt x="13460" y="10031"/>
                    </a:lnTo>
                    <a:cubicBezTo>
                      <a:pt x="17206" y="4825"/>
                      <a:pt x="22286" y="0"/>
                      <a:pt x="31238" y="0"/>
                    </a:cubicBezTo>
                    <a:cubicBezTo>
                      <a:pt x="39619" y="0"/>
                      <a:pt x="45587" y="4063"/>
                      <a:pt x="48635" y="10222"/>
                    </a:cubicBezTo>
                    <a:cubicBezTo>
                      <a:pt x="53270" y="4063"/>
                      <a:pt x="59428" y="0"/>
                      <a:pt x="68254" y="0"/>
                    </a:cubicBezTo>
                    <a:cubicBezTo>
                      <a:pt x="80952" y="0"/>
                      <a:pt x="88634" y="8063"/>
                      <a:pt x="88634" y="22285"/>
                    </a:cubicBezTo>
                    <a:lnTo>
                      <a:pt x="88634" y="59428"/>
                    </a:lnTo>
                    <a:lnTo>
                      <a:pt x="75301" y="59428"/>
                    </a:lnTo>
                    <a:lnTo>
                      <a:pt x="75301" y="26348"/>
                    </a:lnTo>
                    <a:cubicBezTo>
                      <a:pt x="75301" y="17079"/>
                      <a:pt x="70984" y="12126"/>
                      <a:pt x="63492" y="12126"/>
                    </a:cubicBezTo>
                    <a:cubicBezTo>
                      <a:pt x="56190" y="12126"/>
                      <a:pt x="51047" y="17206"/>
                      <a:pt x="51047" y="26603"/>
                    </a:cubicBezTo>
                    <a:lnTo>
                      <a:pt x="51047" y="59492"/>
                    </a:lnTo>
                    <a:lnTo>
                      <a:pt x="37714" y="59492"/>
                    </a:lnTo>
                    <a:lnTo>
                      <a:pt x="37714" y="26285"/>
                    </a:lnTo>
                    <a:cubicBezTo>
                      <a:pt x="37714" y="17270"/>
                      <a:pt x="33333" y="12190"/>
                      <a:pt x="25905" y="12190"/>
                    </a:cubicBezTo>
                    <a:cubicBezTo>
                      <a:pt x="18540" y="12190"/>
                      <a:pt x="13460" y="17714"/>
                      <a:pt x="13460" y="26666"/>
                    </a:cubicBezTo>
                    <a:lnTo>
                      <a:pt x="13460" y="59555"/>
                    </a:lnTo>
                    <a:lnTo>
                      <a:pt x="0" y="59555"/>
                    </a:lnTo>
                    <a:lnTo>
                      <a:pt x="0" y="1206"/>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grpSp>
        <p:grpSp>
          <p:nvGrpSpPr>
            <p:cNvPr id="6026" name="Google Shape;6026;p310"/>
            <p:cNvGrpSpPr/>
            <p:nvPr/>
          </p:nvGrpSpPr>
          <p:grpSpPr>
            <a:xfrm>
              <a:off x="265625" y="6323271"/>
              <a:ext cx="1249222" cy="190348"/>
              <a:chOff x="265625" y="6323271"/>
              <a:chExt cx="1249222" cy="190348"/>
            </a:xfrm>
          </p:grpSpPr>
          <p:sp>
            <p:nvSpPr>
              <p:cNvPr id="6027" name="Google Shape;6027;p310"/>
              <p:cNvSpPr/>
              <p:nvPr/>
            </p:nvSpPr>
            <p:spPr>
              <a:xfrm>
                <a:off x="745773" y="6327144"/>
                <a:ext cx="264126" cy="184633"/>
              </a:xfrm>
              <a:custGeom>
                <a:avLst/>
                <a:gdLst/>
                <a:ahLst/>
                <a:cxnLst/>
                <a:rect l="l" t="t" r="r" b="b"/>
                <a:pathLst>
                  <a:path w="264126" h="184633" extrusionOk="0">
                    <a:moveTo>
                      <a:pt x="250919" y="0"/>
                    </a:moveTo>
                    <a:cubicBezTo>
                      <a:pt x="243618" y="0"/>
                      <a:pt x="239808" y="4889"/>
                      <a:pt x="238031" y="10476"/>
                    </a:cubicBezTo>
                    <a:lnTo>
                      <a:pt x="191999" y="142412"/>
                    </a:lnTo>
                    <a:lnTo>
                      <a:pt x="146729" y="10857"/>
                    </a:lnTo>
                    <a:cubicBezTo>
                      <a:pt x="144634" y="4635"/>
                      <a:pt x="140126" y="64"/>
                      <a:pt x="132761" y="64"/>
                    </a:cubicBezTo>
                    <a:lnTo>
                      <a:pt x="131364" y="64"/>
                    </a:lnTo>
                    <a:cubicBezTo>
                      <a:pt x="124444" y="64"/>
                      <a:pt x="120253" y="4635"/>
                      <a:pt x="118158" y="10857"/>
                    </a:cubicBezTo>
                    <a:lnTo>
                      <a:pt x="72508" y="142412"/>
                    </a:lnTo>
                    <a:lnTo>
                      <a:pt x="27174" y="11175"/>
                    </a:lnTo>
                    <a:cubicBezTo>
                      <a:pt x="25079" y="4571"/>
                      <a:pt x="20571" y="0"/>
                      <a:pt x="13587" y="0"/>
                    </a:cubicBezTo>
                    <a:cubicBezTo>
                      <a:pt x="5587" y="0"/>
                      <a:pt x="0" y="6286"/>
                      <a:pt x="0" y="12889"/>
                    </a:cubicBezTo>
                    <a:cubicBezTo>
                      <a:pt x="0" y="15301"/>
                      <a:pt x="1016" y="18095"/>
                      <a:pt x="1714" y="20190"/>
                    </a:cubicBezTo>
                    <a:lnTo>
                      <a:pt x="56444" y="172507"/>
                    </a:lnTo>
                    <a:cubicBezTo>
                      <a:pt x="59238" y="180507"/>
                      <a:pt x="64762" y="184634"/>
                      <a:pt x="71428" y="184634"/>
                    </a:cubicBezTo>
                    <a:lnTo>
                      <a:pt x="72127" y="184634"/>
                    </a:lnTo>
                    <a:cubicBezTo>
                      <a:pt x="79111" y="184634"/>
                      <a:pt x="84317" y="180444"/>
                      <a:pt x="86730" y="172507"/>
                    </a:cubicBezTo>
                    <a:lnTo>
                      <a:pt x="132063" y="43111"/>
                    </a:lnTo>
                    <a:lnTo>
                      <a:pt x="176952" y="172507"/>
                    </a:lnTo>
                    <a:cubicBezTo>
                      <a:pt x="179428" y="180507"/>
                      <a:pt x="184634" y="184634"/>
                      <a:pt x="191618" y="184634"/>
                    </a:cubicBezTo>
                    <a:lnTo>
                      <a:pt x="192697" y="184634"/>
                    </a:lnTo>
                    <a:cubicBezTo>
                      <a:pt x="198920" y="184634"/>
                      <a:pt x="204507" y="180444"/>
                      <a:pt x="207364" y="172507"/>
                    </a:cubicBezTo>
                    <a:lnTo>
                      <a:pt x="262411" y="19873"/>
                    </a:lnTo>
                    <a:cubicBezTo>
                      <a:pt x="263110" y="17778"/>
                      <a:pt x="264126" y="14984"/>
                      <a:pt x="264126" y="12508"/>
                    </a:cubicBezTo>
                    <a:cubicBezTo>
                      <a:pt x="264189" y="5905"/>
                      <a:pt x="258602" y="0"/>
                      <a:pt x="250919" y="0"/>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8" name="Google Shape;6028;p310"/>
              <p:cNvSpPr/>
              <p:nvPr/>
            </p:nvSpPr>
            <p:spPr>
              <a:xfrm>
                <a:off x="1200945" y="6326827"/>
                <a:ext cx="102285" cy="184697"/>
              </a:xfrm>
              <a:custGeom>
                <a:avLst/>
                <a:gdLst/>
                <a:ahLst/>
                <a:cxnLst/>
                <a:rect l="l" t="t" r="r" b="b"/>
                <a:pathLst>
                  <a:path w="102285" h="184697" extrusionOk="0">
                    <a:moveTo>
                      <a:pt x="89015" y="317"/>
                    </a:moveTo>
                    <a:cubicBezTo>
                      <a:pt x="69524" y="317"/>
                      <a:pt x="40127" y="14476"/>
                      <a:pt x="26857" y="44507"/>
                    </a:cubicBezTo>
                    <a:lnTo>
                      <a:pt x="26857" y="13587"/>
                    </a:lnTo>
                    <a:cubicBezTo>
                      <a:pt x="26857" y="5905"/>
                      <a:pt x="20952" y="0"/>
                      <a:pt x="13206" y="0"/>
                    </a:cubicBezTo>
                    <a:cubicBezTo>
                      <a:pt x="5905" y="0"/>
                      <a:pt x="0" y="6286"/>
                      <a:pt x="0" y="13587"/>
                    </a:cubicBezTo>
                    <a:lnTo>
                      <a:pt x="0" y="171110"/>
                    </a:lnTo>
                    <a:cubicBezTo>
                      <a:pt x="0" y="178729"/>
                      <a:pt x="5905" y="184698"/>
                      <a:pt x="13587" y="184698"/>
                    </a:cubicBezTo>
                    <a:cubicBezTo>
                      <a:pt x="21270" y="184698"/>
                      <a:pt x="26857" y="178411"/>
                      <a:pt x="26857" y="171110"/>
                    </a:cubicBezTo>
                    <a:lnTo>
                      <a:pt x="26857" y="109904"/>
                    </a:lnTo>
                    <a:cubicBezTo>
                      <a:pt x="26857" y="57841"/>
                      <a:pt x="55492" y="31682"/>
                      <a:pt x="90412" y="27492"/>
                    </a:cubicBezTo>
                    <a:cubicBezTo>
                      <a:pt x="97396" y="26412"/>
                      <a:pt x="102285" y="21206"/>
                      <a:pt x="102285" y="13841"/>
                    </a:cubicBezTo>
                    <a:cubicBezTo>
                      <a:pt x="102349" y="6222"/>
                      <a:pt x="97079" y="317"/>
                      <a:pt x="89015" y="317"/>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29" name="Google Shape;6029;p310"/>
              <p:cNvSpPr/>
              <p:nvPr/>
            </p:nvSpPr>
            <p:spPr>
              <a:xfrm>
                <a:off x="1301262" y="6326700"/>
                <a:ext cx="166856" cy="186538"/>
              </a:xfrm>
              <a:custGeom>
                <a:avLst/>
                <a:gdLst/>
                <a:ahLst/>
                <a:cxnLst/>
                <a:rect l="l" t="t" r="r" b="b"/>
                <a:pathLst>
                  <a:path w="166856" h="186538" extrusionOk="0">
                    <a:moveTo>
                      <a:pt x="84825" y="0"/>
                    </a:moveTo>
                    <a:cubicBezTo>
                      <a:pt x="35873" y="0"/>
                      <a:pt x="0" y="41460"/>
                      <a:pt x="0" y="92888"/>
                    </a:cubicBezTo>
                    <a:lnTo>
                      <a:pt x="0" y="93587"/>
                    </a:lnTo>
                    <a:cubicBezTo>
                      <a:pt x="0" y="148888"/>
                      <a:pt x="39619" y="186538"/>
                      <a:pt x="88254" y="186538"/>
                    </a:cubicBezTo>
                    <a:cubicBezTo>
                      <a:pt x="118349" y="186538"/>
                      <a:pt x="138158" y="175809"/>
                      <a:pt x="154920" y="159618"/>
                    </a:cubicBezTo>
                    <a:cubicBezTo>
                      <a:pt x="157713" y="157206"/>
                      <a:pt x="159047" y="154095"/>
                      <a:pt x="159047" y="151047"/>
                    </a:cubicBezTo>
                    <a:cubicBezTo>
                      <a:pt x="159047" y="144825"/>
                      <a:pt x="153840" y="139618"/>
                      <a:pt x="147428" y="139618"/>
                    </a:cubicBezTo>
                    <a:cubicBezTo>
                      <a:pt x="144317" y="139618"/>
                      <a:pt x="141904" y="141015"/>
                      <a:pt x="139872" y="142666"/>
                    </a:cubicBezTo>
                    <a:cubicBezTo>
                      <a:pt x="126856" y="154793"/>
                      <a:pt x="110793" y="163364"/>
                      <a:pt x="88888" y="163364"/>
                    </a:cubicBezTo>
                    <a:cubicBezTo>
                      <a:pt x="57397" y="163364"/>
                      <a:pt x="30413" y="141586"/>
                      <a:pt x="26667" y="102920"/>
                    </a:cubicBezTo>
                    <a:lnTo>
                      <a:pt x="154539" y="102920"/>
                    </a:lnTo>
                    <a:cubicBezTo>
                      <a:pt x="161015" y="102920"/>
                      <a:pt x="166856" y="97714"/>
                      <a:pt x="166856" y="90476"/>
                    </a:cubicBezTo>
                    <a:cubicBezTo>
                      <a:pt x="166856" y="43111"/>
                      <a:pt x="137079" y="0"/>
                      <a:pt x="84825" y="0"/>
                    </a:cubicBezTo>
                    <a:close/>
                    <a:moveTo>
                      <a:pt x="26667" y="83238"/>
                    </a:moveTo>
                    <a:cubicBezTo>
                      <a:pt x="30032" y="48317"/>
                      <a:pt x="53333" y="22476"/>
                      <a:pt x="84127" y="22476"/>
                    </a:cubicBezTo>
                    <a:cubicBezTo>
                      <a:pt x="119301" y="22476"/>
                      <a:pt x="137841" y="50793"/>
                      <a:pt x="140571" y="83238"/>
                    </a:cubicBezTo>
                    <a:lnTo>
                      <a:pt x="26667" y="83238"/>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30" name="Google Shape;6030;p310"/>
              <p:cNvSpPr/>
              <p:nvPr/>
            </p:nvSpPr>
            <p:spPr>
              <a:xfrm>
                <a:off x="1010406" y="6327144"/>
                <a:ext cx="157967" cy="186157"/>
              </a:xfrm>
              <a:custGeom>
                <a:avLst/>
                <a:gdLst/>
                <a:ahLst/>
                <a:cxnLst/>
                <a:rect l="l" t="t" r="r" b="b"/>
                <a:pathLst>
                  <a:path w="157967" h="186157" extrusionOk="0">
                    <a:moveTo>
                      <a:pt x="81460" y="0"/>
                    </a:moveTo>
                    <a:cubicBezTo>
                      <a:pt x="58476" y="0"/>
                      <a:pt x="45143" y="2539"/>
                      <a:pt x="27428" y="10222"/>
                    </a:cubicBezTo>
                    <a:cubicBezTo>
                      <a:pt x="22540" y="12381"/>
                      <a:pt x="20063" y="15809"/>
                      <a:pt x="20063" y="21397"/>
                    </a:cubicBezTo>
                    <a:cubicBezTo>
                      <a:pt x="20063" y="27619"/>
                      <a:pt x="25651" y="32889"/>
                      <a:pt x="31936" y="32889"/>
                    </a:cubicBezTo>
                    <a:cubicBezTo>
                      <a:pt x="33270" y="32889"/>
                      <a:pt x="35047" y="32508"/>
                      <a:pt x="36762" y="31809"/>
                    </a:cubicBezTo>
                    <a:cubicBezTo>
                      <a:pt x="49968" y="25904"/>
                      <a:pt x="60508" y="23619"/>
                      <a:pt x="78666" y="23619"/>
                    </a:cubicBezTo>
                    <a:cubicBezTo>
                      <a:pt x="112380" y="23619"/>
                      <a:pt x="132253" y="40317"/>
                      <a:pt x="132253" y="72698"/>
                    </a:cubicBezTo>
                    <a:lnTo>
                      <a:pt x="132253" y="78984"/>
                    </a:lnTo>
                    <a:cubicBezTo>
                      <a:pt x="116190" y="74476"/>
                      <a:pt x="99872" y="71301"/>
                      <a:pt x="76889" y="71301"/>
                    </a:cubicBezTo>
                    <a:cubicBezTo>
                      <a:pt x="31301" y="71301"/>
                      <a:pt x="0" y="91491"/>
                      <a:pt x="0" y="129460"/>
                    </a:cubicBezTo>
                    <a:lnTo>
                      <a:pt x="0" y="130158"/>
                    </a:lnTo>
                    <a:cubicBezTo>
                      <a:pt x="0" y="167047"/>
                      <a:pt x="33778" y="186157"/>
                      <a:pt x="67174" y="186157"/>
                    </a:cubicBezTo>
                    <a:cubicBezTo>
                      <a:pt x="98793" y="186157"/>
                      <a:pt x="119682" y="171554"/>
                      <a:pt x="132253" y="155174"/>
                    </a:cubicBezTo>
                    <a:lnTo>
                      <a:pt x="132253" y="172380"/>
                    </a:lnTo>
                    <a:cubicBezTo>
                      <a:pt x="132253" y="179364"/>
                      <a:pt x="137460" y="184951"/>
                      <a:pt x="145079" y="184951"/>
                    </a:cubicBezTo>
                    <a:cubicBezTo>
                      <a:pt x="152444" y="184951"/>
                      <a:pt x="157967" y="179364"/>
                      <a:pt x="157967" y="171745"/>
                    </a:cubicBezTo>
                    <a:lnTo>
                      <a:pt x="157967" y="72444"/>
                    </a:lnTo>
                    <a:cubicBezTo>
                      <a:pt x="157967" y="49460"/>
                      <a:pt x="151682" y="32063"/>
                      <a:pt x="139491" y="19936"/>
                    </a:cubicBezTo>
                    <a:cubicBezTo>
                      <a:pt x="126349" y="6603"/>
                      <a:pt x="106857" y="0"/>
                      <a:pt x="81460" y="0"/>
                    </a:cubicBezTo>
                    <a:close/>
                    <a:moveTo>
                      <a:pt x="132634" y="116253"/>
                    </a:moveTo>
                    <a:cubicBezTo>
                      <a:pt x="132634" y="144761"/>
                      <a:pt x="105460" y="164951"/>
                      <a:pt x="72444" y="164951"/>
                    </a:cubicBezTo>
                    <a:cubicBezTo>
                      <a:pt x="48063" y="164951"/>
                      <a:pt x="27174" y="151745"/>
                      <a:pt x="27174" y="129142"/>
                    </a:cubicBezTo>
                    <a:lnTo>
                      <a:pt x="27174" y="128444"/>
                    </a:lnTo>
                    <a:cubicBezTo>
                      <a:pt x="27174" y="105841"/>
                      <a:pt x="46032" y="91174"/>
                      <a:pt x="79682" y="91174"/>
                    </a:cubicBezTo>
                    <a:cubicBezTo>
                      <a:pt x="101587" y="91174"/>
                      <a:pt x="119365" y="95047"/>
                      <a:pt x="132571" y="98857"/>
                    </a:cubicBezTo>
                    <a:lnTo>
                      <a:pt x="132571" y="116253"/>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31" name="Google Shape;6031;p310"/>
              <p:cNvSpPr/>
              <p:nvPr/>
            </p:nvSpPr>
            <p:spPr>
              <a:xfrm>
                <a:off x="265625" y="6323271"/>
                <a:ext cx="468782" cy="190348"/>
              </a:xfrm>
              <a:custGeom>
                <a:avLst/>
                <a:gdLst/>
                <a:ahLst/>
                <a:cxnLst/>
                <a:rect l="l" t="t" r="r" b="b"/>
                <a:pathLst>
                  <a:path w="468782" h="190348" extrusionOk="0">
                    <a:moveTo>
                      <a:pt x="404466" y="0"/>
                    </a:moveTo>
                    <a:cubicBezTo>
                      <a:pt x="369418" y="0"/>
                      <a:pt x="347386" y="24317"/>
                      <a:pt x="347386" y="24317"/>
                    </a:cubicBezTo>
                    <a:cubicBezTo>
                      <a:pt x="335704" y="9142"/>
                      <a:pt x="319577" y="63"/>
                      <a:pt x="292339" y="63"/>
                    </a:cubicBezTo>
                    <a:cubicBezTo>
                      <a:pt x="263577" y="63"/>
                      <a:pt x="238435" y="24317"/>
                      <a:pt x="238435" y="24317"/>
                    </a:cubicBezTo>
                    <a:cubicBezTo>
                      <a:pt x="226752" y="9142"/>
                      <a:pt x="206879" y="63"/>
                      <a:pt x="190371" y="63"/>
                    </a:cubicBezTo>
                    <a:cubicBezTo>
                      <a:pt x="164911" y="63"/>
                      <a:pt x="144657" y="11238"/>
                      <a:pt x="132340" y="39492"/>
                    </a:cubicBezTo>
                    <a:lnTo>
                      <a:pt x="95896" y="125459"/>
                    </a:lnTo>
                    <a:lnTo>
                      <a:pt x="49102" y="15174"/>
                    </a:lnTo>
                    <a:cubicBezTo>
                      <a:pt x="43197" y="2286"/>
                      <a:pt x="28658" y="-3619"/>
                      <a:pt x="15071" y="2476"/>
                    </a:cubicBezTo>
                    <a:cubicBezTo>
                      <a:pt x="1483" y="8508"/>
                      <a:pt x="-3532" y="23619"/>
                      <a:pt x="2563" y="36571"/>
                    </a:cubicBezTo>
                    <a:lnTo>
                      <a:pt x="59705" y="160698"/>
                    </a:lnTo>
                    <a:cubicBezTo>
                      <a:pt x="68658" y="180126"/>
                      <a:pt x="78118" y="190348"/>
                      <a:pt x="95896" y="190348"/>
                    </a:cubicBezTo>
                    <a:cubicBezTo>
                      <a:pt x="114880" y="190348"/>
                      <a:pt x="123134" y="179237"/>
                      <a:pt x="132086" y="160698"/>
                    </a:cubicBezTo>
                    <a:cubicBezTo>
                      <a:pt x="132086" y="160698"/>
                      <a:pt x="181927" y="52190"/>
                      <a:pt x="182371" y="51111"/>
                    </a:cubicBezTo>
                    <a:cubicBezTo>
                      <a:pt x="182879" y="49904"/>
                      <a:pt x="184467" y="46412"/>
                      <a:pt x="189546" y="46476"/>
                    </a:cubicBezTo>
                    <a:cubicBezTo>
                      <a:pt x="193863" y="46539"/>
                      <a:pt x="197419" y="49904"/>
                      <a:pt x="197419" y="54476"/>
                    </a:cubicBezTo>
                    <a:lnTo>
                      <a:pt x="197419" y="160570"/>
                    </a:lnTo>
                    <a:cubicBezTo>
                      <a:pt x="197419" y="176888"/>
                      <a:pt x="206498" y="190285"/>
                      <a:pt x="223959" y="190285"/>
                    </a:cubicBezTo>
                    <a:cubicBezTo>
                      <a:pt x="241355" y="190285"/>
                      <a:pt x="250815" y="176888"/>
                      <a:pt x="250815" y="160570"/>
                    </a:cubicBezTo>
                    <a:lnTo>
                      <a:pt x="250815" y="73777"/>
                    </a:lnTo>
                    <a:cubicBezTo>
                      <a:pt x="250815" y="57015"/>
                      <a:pt x="262815" y="46158"/>
                      <a:pt x="279133" y="46158"/>
                    </a:cubicBezTo>
                    <a:cubicBezTo>
                      <a:pt x="295450" y="46158"/>
                      <a:pt x="306371" y="57396"/>
                      <a:pt x="306371" y="73777"/>
                    </a:cubicBezTo>
                    <a:lnTo>
                      <a:pt x="306371" y="160570"/>
                    </a:lnTo>
                    <a:cubicBezTo>
                      <a:pt x="306371" y="176888"/>
                      <a:pt x="315450" y="190285"/>
                      <a:pt x="332910" y="190285"/>
                    </a:cubicBezTo>
                    <a:cubicBezTo>
                      <a:pt x="350371" y="190285"/>
                      <a:pt x="359831" y="176888"/>
                      <a:pt x="359831" y="160570"/>
                    </a:cubicBezTo>
                    <a:lnTo>
                      <a:pt x="359831" y="73777"/>
                    </a:lnTo>
                    <a:cubicBezTo>
                      <a:pt x="359831" y="57015"/>
                      <a:pt x="371767" y="46158"/>
                      <a:pt x="388148" y="46158"/>
                    </a:cubicBezTo>
                    <a:cubicBezTo>
                      <a:pt x="404466" y="46158"/>
                      <a:pt x="415386" y="57396"/>
                      <a:pt x="415386" y="73777"/>
                    </a:cubicBezTo>
                    <a:lnTo>
                      <a:pt x="415386" y="160570"/>
                    </a:lnTo>
                    <a:cubicBezTo>
                      <a:pt x="415386" y="176888"/>
                      <a:pt x="424465" y="190285"/>
                      <a:pt x="441926" y="190285"/>
                    </a:cubicBezTo>
                    <a:cubicBezTo>
                      <a:pt x="459322" y="190285"/>
                      <a:pt x="468783" y="176888"/>
                      <a:pt x="468783" y="160570"/>
                    </a:cubicBezTo>
                    <a:lnTo>
                      <a:pt x="468783" y="61777"/>
                    </a:lnTo>
                    <a:cubicBezTo>
                      <a:pt x="468783" y="25460"/>
                      <a:pt x="439576" y="0"/>
                      <a:pt x="404466" y="0"/>
                    </a:cubicBez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32" name="Google Shape;6032;p310"/>
              <p:cNvSpPr/>
              <p:nvPr/>
            </p:nvSpPr>
            <p:spPr>
              <a:xfrm>
                <a:off x="1470340" y="6326700"/>
                <a:ext cx="44507" cy="44761"/>
              </a:xfrm>
              <a:custGeom>
                <a:avLst/>
                <a:gdLst/>
                <a:ahLst/>
                <a:cxnLst/>
                <a:rect l="l" t="t" r="r" b="b"/>
                <a:pathLst>
                  <a:path w="44507" h="44761" extrusionOk="0">
                    <a:moveTo>
                      <a:pt x="22222" y="0"/>
                    </a:moveTo>
                    <a:cubicBezTo>
                      <a:pt x="9841" y="0"/>
                      <a:pt x="0" y="10222"/>
                      <a:pt x="0" y="22349"/>
                    </a:cubicBezTo>
                    <a:lnTo>
                      <a:pt x="0" y="22476"/>
                    </a:lnTo>
                    <a:cubicBezTo>
                      <a:pt x="0" y="34667"/>
                      <a:pt x="9651" y="44762"/>
                      <a:pt x="22222" y="44762"/>
                    </a:cubicBezTo>
                    <a:cubicBezTo>
                      <a:pt x="34666" y="44762"/>
                      <a:pt x="44508" y="34540"/>
                      <a:pt x="44508" y="22349"/>
                    </a:cubicBezTo>
                    <a:lnTo>
                      <a:pt x="44508" y="22222"/>
                    </a:lnTo>
                    <a:cubicBezTo>
                      <a:pt x="44508" y="10095"/>
                      <a:pt x="34793" y="0"/>
                      <a:pt x="22222" y="0"/>
                    </a:cubicBezTo>
                    <a:close/>
                    <a:moveTo>
                      <a:pt x="40190" y="22349"/>
                    </a:moveTo>
                    <a:cubicBezTo>
                      <a:pt x="40190" y="32317"/>
                      <a:pt x="32381" y="40634"/>
                      <a:pt x="22222" y="40634"/>
                    </a:cubicBezTo>
                    <a:cubicBezTo>
                      <a:pt x="11936" y="40634"/>
                      <a:pt x="4190" y="32508"/>
                      <a:pt x="4190" y="22476"/>
                    </a:cubicBezTo>
                    <a:lnTo>
                      <a:pt x="4190" y="22349"/>
                    </a:lnTo>
                    <a:cubicBezTo>
                      <a:pt x="4190" y="12445"/>
                      <a:pt x="12000" y="4127"/>
                      <a:pt x="22222" y="4127"/>
                    </a:cubicBezTo>
                    <a:cubicBezTo>
                      <a:pt x="32508" y="4064"/>
                      <a:pt x="40190" y="12254"/>
                      <a:pt x="40190" y="22349"/>
                    </a:cubicBezTo>
                    <a:lnTo>
                      <a:pt x="40190" y="22349"/>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sp>
            <p:nvSpPr>
              <p:cNvPr id="6033" name="Google Shape;6033;p310"/>
              <p:cNvSpPr/>
              <p:nvPr/>
            </p:nvSpPr>
            <p:spPr>
              <a:xfrm>
                <a:off x="1484118" y="6337811"/>
                <a:ext cx="17968" cy="21714"/>
              </a:xfrm>
              <a:custGeom>
                <a:avLst/>
                <a:gdLst/>
                <a:ahLst/>
                <a:cxnLst/>
                <a:rect l="l" t="t" r="r" b="b"/>
                <a:pathLst>
                  <a:path w="17968" h="21714" extrusionOk="0">
                    <a:moveTo>
                      <a:pt x="9778" y="0"/>
                    </a:moveTo>
                    <a:lnTo>
                      <a:pt x="2349" y="0"/>
                    </a:lnTo>
                    <a:cubicBezTo>
                      <a:pt x="1016" y="0"/>
                      <a:pt x="0" y="1079"/>
                      <a:pt x="0" y="2413"/>
                    </a:cubicBezTo>
                    <a:lnTo>
                      <a:pt x="0" y="19365"/>
                    </a:lnTo>
                    <a:cubicBezTo>
                      <a:pt x="0" y="20698"/>
                      <a:pt x="1016" y="21714"/>
                      <a:pt x="2349" y="21714"/>
                    </a:cubicBezTo>
                    <a:cubicBezTo>
                      <a:pt x="3683" y="21714"/>
                      <a:pt x="4698" y="20635"/>
                      <a:pt x="4698" y="19365"/>
                    </a:cubicBezTo>
                    <a:lnTo>
                      <a:pt x="4698" y="14667"/>
                    </a:lnTo>
                    <a:lnTo>
                      <a:pt x="8444" y="14667"/>
                    </a:lnTo>
                    <a:lnTo>
                      <a:pt x="13079" y="20508"/>
                    </a:lnTo>
                    <a:cubicBezTo>
                      <a:pt x="13651" y="21143"/>
                      <a:pt x="14349" y="21714"/>
                      <a:pt x="15428" y="21714"/>
                    </a:cubicBezTo>
                    <a:cubicBezTo>
                      <a:pt x="16571" y="21714"/>
                      <a:pt x="17714" y="20825"/>
                      <a:pt x="17714" y="19492"/>
                    </a:cubicBezTo>
                    <a:cubicBezTo>
                      <a:pt x="17714" y="18794"/>
                      <a:pt x="17397" y="18286"/>
                      <a:pt x="16952" y="17714"/>
                    </a:cubicBezTo>
                    <a:lnTo>
                      <a:pt x="13651" y="13714"/>
                    </a:lnTo>
                    <a:cubicBezTo>
                      <a:pt x="16254" y="12635"/>
                      <a:pt x="17968" y="10539"/>
                      <a:pt x="17968" y="7111"/>
                    </a:cubicBezTo>
                    <a:lnTo>
                      <a:pt x="17968" y="7047"/>
                    </a:lnTo>
                    <a:cubicBezTo>
                      <a:pt x="17968" y="5079"/>
                      <a:pt x="17333" y="3365"/>
                      <a:pt x="16063" y="2159"/>
                    </a:cubicBezTo>
                    <a:cubicBezTo>
                      <a:pt x="14667" y="825"/>
                      <a:pt x="12571" y="0"/>
                      <a:pt x="9778" y="0"/>
                    </a:cubicBezTo>
                    <a:close/>
                    <a:moveTo>
                      <a:pt x="13079" y="7428"/>
                    </a:moveTo>
                    <a:cubicBezTo>
                      <a:pt x="13079" y="9270"/>
                      <a:pt x="11809" y="10476"/>
                      <a:pt x="9460" y="10476"/>
                    </a:cubicBezTo>
                    <a:lnTo>
                      <a:pt x="4698" y="10476"/>
                    </a:lnTo>
                    <a:lnTo>
                      <a:pt x="4698" y="4317"/>
                    </a:lnTo>
                    <a:lnTo>
                      <a:pt x="9397" y="4317"/>
                    </a:lnTo>
                    <a:cubicBezTo>
                      <a:pt x="11682" y="4317"/>
                      <a:pt x="13079" y="5397"/>
                      <a:pt x="13079" y="7365"/>
                    </a:cubicBezTo>
                    <a:lnTo>
                      <a:pt x="13079" y="7428"/>
                    </a:lnTo>
                    <a:close/>
                  </a:path>
                </a:pathLst>
              </a:custGeom>
              <a:solidFill>
                <a:srgbClr val="000000"/>
              </a:solidFill>
              <a:ln>
                <a:noFill/>
              </a:ln>
            </p:spPr>
            <p:txBody>
              <a:bodyPr spcFirstLastPara="1" wrap="square" lIns="91343" tIns="45655" rIns="91343" bIns="45655" anchor="ctr" anchorCtr="0">
                <a:noAutofit/>
              </a:bodyPr>
              <a:lstStyle/>
              <a:p>
                <a:pPr defTabSz="1218895">
                  <a:buSzPts val="1300"/>
                </a:pPr>
                <a:endParaRPr sz="1733">
                  <a:solidFill>
                    <a:srgbClr val="000001"/>
                  </a:solidFill>
                </a:endParaRPr>
              </a:p>
            </p:txBody>
          </p:sp>
        </p:grpSp>
      </p:grpSp>
      <p:sp>
        <p:nvSpPr>
          <p:cNvPr id="6034" name="Google Shape;6034;p310"/>
          <p:cNvSpPr txBox="1"/>
          <p:nvPr/>
        </p:nvSpPr>
        <p:spPr>
          <a:xfrm>
            <a:off x="1645083" y="6460709"/>
            <a:ext cx="2806869" cy="133434"/>
          </a:xfrm>
          <a:prstGeom prst="rect">
            <a:avLst/>
          </a:prstGeom>
          <a:noFill/>
          <a:ln>
            <a:noFill/>
          </a:ln>
        </p:spPr>
        <p:txBody>
          <a:bodyPr spcFirstLastPara="1" wrap="square" lIns="0" tIns="0" rIns="0" bIns="0" anchor="t" anchorCtr="0">
            <a:spAutoFit/>
          </a:bodyPr>
          <a:lstStyle/>
          <a:p>
            <a:pPr defTabSz="1218895">
              <a:lnSpc>
                <a:spcPct val="130000"/>
              </a:lnSpc>
              <a:buSzPts val="500"/>
            </a:pPr>
            <a:r>
              <a:rPr lang="en" sz="667"/>
              <a:t>Broadcom Proprietary and Confidential. Copyright © 2026 Broadcom.  </a:t>
            </a:r>
            <a:endParaRPr sz="1466"/>
          </a:p>
        </p:txBody>
      </p:sp>
      <p:sp>
        <p:nvSpPr>
          <p:cNvPr id="6035" name="Google Shape;6035;p310"/>
          <p:cNvSpPr txBox="1"/>
          <p:nvPr/>
        </p:nvSpPr>
        <p:spPr>
          <a:xfrm>
            <a:off x="1645083" y="6568617"/>
            <a:ext cx="3855396" cy="133434"/>
          </a:xfrm>
          <a:prstGeom prst="rect">
            <a:avLst/>
          </a:prstGeom>
          <a:noFill/>
          <a:ln>
            <a:noFill/>
          </a:ln>
        </p:spPr>
        <p:txBody>
          <a:bodyPr spcFirstLastPara="1" wrap="square" lIns="0" tIns="0" rIns="0" bIns="0" anchor="t" anchorCtr="0">
            <a:spAutoFit/>
          </a:bodyPr>
          <a:lstStyle/>
          <a:p>
            <a:pPr defTabSz="1218895">
              <a:lnSpc>
                <a:spcPct val="130000"/>
              </a:lnSpc>
              <a:buSzPts val="500"/>
            </a:pPr>
            <a:r>
              <a:rPr lang="en" sz="667"/>
              <a:t>All Rights Reserved. The term “Broadcom” refers to Broadcom Inc. and/or its subsidiaries.</a:t>
            </a:r>
            <a:endParaRPr sz="1466"/>
          </a:p>
        </p:txBody>
      </p:sp>
      <p:sp>
        <p:nvSpPr>
          <p:cNvPr id="6036" name="Google Shape;6036;p310"/>
          <p:cNvSpPr/>
          <p:nvPr/>
        </p:nvSpPr>
        <p:spPr>
          <a:xfrm>
            <a:off x="0" y="894"/>
            <a:ext cx="12182541" cy="74851"/>
          </a:xfrm>
          <a:custGeom>
            <a:avLst/>
            <a:gdLst/>
            <a:ahLst/>
            <a:cxnLst/>
            <a:rect l="l" t="t" r="r" b="b"/>
            <a:pathLst>
              <a:path w="12185715" h="74871" extrusionOk="0">
                <a:moveTo>
                  <a:pt x="0" y="0"/>
                </a:moveTo>
                <a:lnTo>
                  <a:pt x="12185716" y="0"/>
                </a:lnTo>
                <a:lnTo>
                  <a:pt x="12185716" y="74871"/>
                </a:lnTo>
                <a:lnTo>
                  <a:pt x="0" y="74871"/>
                </a:lnTo>
                <a:close/>
              </a:path>
            </a:pathLst>
          </a:custGeom>
          <a:gradFill>
            <a:gsLst>
              <a:gs pos="0">
                <a:schemeClr val="accent4"/>
              </a:gs>
              <a:gs pos="25000">
                <a:schemeClr val="accent1"/>
              </a:gs>
              <a:gs pos="50000">
                <a:schemeClr val="accent3"/>
              </a:gs>
              <a:gs pos="75000">
                <a:schemeClr val="accent2"/>
              </a:gs>
              <a:gs pos="100000">
                <a:schemeClr val="accent5"/>
              </a:gs>
            </a:gsLst>
            <a:lin ang="0" scaled="0"/>
          </a:gradFill>
          <a:ln>
            <a:noFill/>
          </a:ln>
        </p:spPr>
        <p:txBody>
          <a:bodyPr spcFirstLastPara="1" wrap="square" lIns="91410" tIns="45688" rIns="91410" bIns="45688" anchor="ctr" anchorCtr="0">
            <a:noAutofit/>
          </a:bodyPr>
          <a:lstStyle/>
          <a:p>
            <a:pPr defTabSz="1218895">
              <a:buSzPts val="1400"/>
            </a:pPr>
            <a:endParaRPr sz="1866"/>
          </a:p>
        </p:txBody>
      </p:sp>
      <p:grpSp>
        <p:nvGrpSpPr>
          <p:cNvPr id="6037" name="Google Shape;6037;p310"/>
          <p:cNvGrpSpPr/>
          <p:nvPr/>
        </p:nvGrpSpPr>
        <p:grpSpPr>
          <a:xfrm>
            <a:off x="566886" y="1140172"/>
            <a:ext cx="4763982" cy="913918"/>
            <a:chOff x="565444" y="1481894"/>
            <a:chExt cx="4765222" cy="914400"/>
          </a:xfrm>
        </p:grpSpPr>
        <p:sp>
          <p:nvSpPr>
            <p:cNvPr id="6038" name="Google Shape;6038;p310"/>
            <p:cNvSpPr txBox="1"/>
            <p:nvPr/>
          </p:nvSpPr>
          <p:spPr>
            <a:xfrm>
              <a:off x="1721066" y="1682996"/>
              <a:ext cx="3609600" cy="508200"/>
            </a:xfrm>
            <a:prstGeom prst="rect">
              <a:avLst/>
            </a:prstGeom>
            <a:noFill/>
            <a:ln>
              <a:noFill/>
            </a:ln>
          </p:spPr>
          <p:txBody>
            <a:bodyPr spcFirstLastPara="1" wrap="square" lIns="0" tIns="0" rIns="0" bIns="0" anchor="ctr" anchorCtr="0">
              <a:noAutofit/>
            </a:bodyPr>
            <a:lstStyle/>
            <a:p>
              <a:pPr defTabSz="1218895">
                <a:buClr>
                  <a:srgbClr val="3F3F3F"/>
                </a:buClr>
                <a:buSzPts val="1200"/>
              </a:pPr>
              <a:r>
                <a:rPr lang="en" sz="1600">
                  <a:solidFill>
                    <a:srgbClr val="3F3F3F"/>
                  </a:solidFill>
                </a:rPr>
                <a:t>Maintain privacy, control, </a:t>
              </a:r>
              <a:br>
                <a:rPr lang="en" sz="1600">
                  <a:solidFill>
                    <a:srgbClr val="3F3F3F"/>
                  </a:solidFill>
                </a:rPr>
              </a:br>
              <a:r>
                <a:rPr lang="en" sz="1600">
                  <a:solidFill>
                    <a:srgbClr val="3F3F3F"/>
                  </a:solidFill>
                </a:rPr>
                <a:t>and reduce risk</a:t>
              </a:r>
              <a:endParaRPr sz="1466"/>
            </a:p>
          </p:txBody>
        </p:sp>
        <p:grpSp>
          <p:nvGrpSpPr>
            <p:cNvPr id="6039" name="Google Shape;6039;p310"/>
            <p:cNvGrpSpPr/>
            <p:nvPr/>
          </p:nvGrpSpPr>
          <p:grpSpPr>
            <a:xfrm>
              <a:off x="763275" y="1674643"/>
              <a:ext cx="521268" cy="525002"/>
              <a:chOff x="5499332" y="2829461"/>
              <a:chExt cx="1190110" cy="1198634"/>
            </a:xfrm>
          </p:grpSpPr>
          <p:sp>
            <p:nvSpPr>
              <p:cNvPr id="6040" name="Google Shape;6040;p310"/>
              <p:cNvSpPr/>
              <p:nvPr/>
            </p:nvSpPr>
            <p:spPr>
              <a:xfrm rot="10800000" flipH="1">
                <a:off x="5499332" y="2829461"/>
                <a:ext cx="1034282" cy="1198634"/>
              </a:xfrm>
              <a:custGeom>
                <a:avLst/>
                <a:gdLst/>
                <a:ahLst/>
                <a:cxnLst/>
                <a:rect l="l" t="t" r="r" b="b"/>
                <a:pathLst>
                  <a:path w="1034282" h="1198634" extrusionOk="0">
                    <a:moveTo>
                      <a:pt x="969112" y="1029157"/>
                    </a:moveTo>
                    <a:cubicBezTo>
                      <a:pt x="987654" y="1029157"/>
                      <a:pt x="1002640" y="1014171"/>
                      <a:pt x="1002640" y="995629"/>
                    </a:cubicBezTo>
                    <a:cubicBezTo>
                      <a:pt x="1002640" y="977214"/>
                      <a:pt x="987654" y="962215"/>
                      <a:pt x="969112" y="962215"/>
                    </a:cubicBezTo>
                    <a:cubicBezTo>
                      <a:pt x="950697" y="962215"/>
                      <a:pt x="935584" y="977214"/>
                      <a:pt x="935584" y="995629"/>
                    </a:cubicBezTo>
                    <a:cubicBezTo>
                      <a:pt x="935584" y="1014171"/>
                      <a:pt x="950697" y="1029157"/>
                      <a:pt x="969112" y="1029157"/>
                    </a:cubicBezTo>
                    <a:moveTo>
                      <a:pt x="430251" y="195275"/>
                    </a:moveTo>
                    <a:cubicBezTo>
                      <a:pt x="411836" y="195275"/>
                      <a:pt x="396850" y="210261"/>
                      <a:pt x="396850" y="228790"/>
                    </a:cubicBezTo>
                    <a:cubicBezTo>
                      <a:pt x="396850" y="247218"/>
                      <a:pt x="411836" y="262204"/>
                      <a:pt x="430251" y="262204"/>
                    </a:cubicBezTo>
                    <a:cubicBezTo>
                      <a:pt x="448793" y="262204"/>
                      <a:pt x="463779" y="247218"/>
                      <a:pt x="463779" y="228790"/>
                    </a:cubicBezTo>
                    <a:cubicBezTo>
                      <a:pt x="463779" y="210261"/>
                      <a:pt x="448793" y="195275"/>
                      <a:pt x="430251" y="195275"/>
                    </a:cubicBezTo>
                    <a:moveTo>
                      <a:pt x="596760" y="244665"/>
                    </a:moveTo>
                    <a:lnTo>
                      <a:pt x="493497" y="244665"/>
                    </a:lnTo>
                    <a:cubicBezTo>
                      <a:pt x="486512" y="272999"/>
                      <a:pt x="460858" y="293954"/>
                      <a:pt x="430251" y="293954"/>
                    </a:cubicBezTo>
                    <a:cubicBezTo>
                      <a:pt x="394310" y="293954"/>
                      <a:pt x="365100" y="264744"/>
                      <a:pt x="365100" y="228790"/>
                    </a:cubicBezTo>
                    <a:cubicBezTo>
                      <a:pt x="365100" y="192735"/>
                      <a:pt x="394310" y="163525"/>
                      <a:pt x="430251" y="163525"/>
                    </a:cubicBezTo>
                    <a:cubicBezTo>
                      <a:pt x="460858" y="163525"/>
                      <a:pt x="486512" y="184480"/>
                      <a:pt x="493497" y="212915"/>
                    </a:cubicBezTo>
                    <a:lnTo>
                      <a:pt x="596760" y="212915"/>
                    </a:lnTo>
                    <a:lnTo>
                      <a:pt x="596760" y="83108"/>
                    </a:lnTo>
                    <a:cubicBezTo>
                      <a:pt x="516890" y="13462"/>
                      <a:pt x="395008" y="14668"/>
                      <a:pt x="316281" y="86969"/>
                    </a:cubicBezTo>
                    <a:cubicBezTo>
                      <a:pt x="277482" y="122555"/>
                      <a:pt x="253771" y="170891"/>
                      <a:pt x="249123" y="223316"/>
                    </a:cubicBezTo>
                    <a:lnTo>
                      <a:pt x="266637" y="282740"/>
                    </a:lnTo>
                    <a:lnTo>
                      <a:pt x="236182" y="291719"/>
                    </a:lnTo>
                    <a:lnTo>
                      <a:pt x="221425" y="241655"/>
                    </a:lnTo>
                    <a:cubicBezTo>
                      <a:pt x="176263" y="246164"/>
                      <a:pt x="133528" y="265099"/>
                      <a:pt x="99974" y="296075"/>
                    </a:cubicBezTo>
                    <a:cubicBezTo>
                      <a:pt x="58547" y="334149"/>
                      <a:pt x="34430" y="386067"/>
                      <a:pt x="32042" y="442277"/>
                    </a:cubicBezTo>
                    <a:cubicBezTo>
                      <a:pt x="29680" y="498513"/>
                      <a:pt x="49352" y="552272"/>
                      <a:pt x="87376" y="593598"/>
                    </a:cubicBezTo>
                    <a:cubicBezTo>
                      <a:pt x="89992" y="596404"/>
                      <a:pt x="92507" y="598982"/>
                      <a:pt x="94983" y="601433"/>
                    </a:cubicBezTo>
                    <a:lnTo>
                      <a:pt x="158547" y="565327"/>
                    </a:lnTo>
                    <a:lnTo>
                      <a:pt x="174231" y="592924"/>
                    </a:lnTo>
                    <a:lnTo>
                      <a:pt x="101854" y="634047"/>
                    </a:lnTo>
                    <a:cubicBezTo>
                      <a:pt x="101587" y="634276"/>
                      <a:pt x="101321" y="634504"/>
                      <a:pt x="101054" y="634746"/>
                    </a:cubicBezTo>
                    <a:lnTo>
                      <a:pt x="99974" y="635723"/>
                    </a:lnTo>
                    <a:cubicBezTo>
                      <a:pt x="58547" y="673811"/>
                      <a:pt x="34430" y="725716"/>
                      <a:pt x="32042" y="781926"/>
                    </a:cubicBezTo>
                    <a:cubicBezTo>
                      <a:pt x="29680" y="838161"/>
                      <a:pt x="49352" y="891921"/>
                      <a:pt x="87465" y="933335"/>
                    </a:cubicBezTo>
                    <a:cubicBezTo>
                      <a:pt x="126632" y="976007"/>
                      <a:pt x="182232" y="1000721"/>
                      <a:pt x="240030" y="1001280"/>
                    </a:cubicBezTo>
                    <a:lnTo>
                      <a:pt x="303467" y="994105"/>
                    </a:lnTo>
                    <a:lnTo>
                      <a:pt x="307048" y="1025664"/>
                    </a:lnTo>
                    <a:lnTo>
                      <a:pt x="261950" y="1030757"/>
                    </a:lnTo>
                    <a:cubicBezTo>
                      <a:pt x="271399" y="1055827"/>
                      <a:pt x="285267" y="1078763"/>
                      <a:pt x="303784" y="1098918"/>
                    </a:cubicBezTo>
                    <a:cubicBezTo>
                      <a:pt x="341770" y="1140320"/>
                      <a:pt x="393649" y="1164412"/>
                      <a:pt x="449859" y="1166787"/>
                    </a:cubicBezTo>
                    <a:cubicBezTo>
                      <a:pt x="504241" y="1168946"/>
                      <a:pt x="555943" y="1150861"/>
                      <a:pt x="596760" y="1115402"/>
                    </a:cubicBezTo>
                    <a:lnTo>
                      <a:pt x="596760" y="814197"/>
                    </a:lnTo>
                    <a:lnTo>
                      <a:pt x="628510" y="814197"/>
                    </a:lnTo>
                    <a:lnTo>
                      <a:pt x="628510" y="977392"/>
                    </a:lnTo>
                    <a:lnTo>
                      <a:pt x="906488" y="977392"/>
                    </a:lnTo>
                    <a:cubicBezTo>
                      <a:pt x="906501" y="977366"/>
                      <a:pt x="906501" y="977353"/>
                      <a:pt x="906501" y="977341"/>
                    </a:cubicBezTo>
                    <a:cubicBezTo>
                      <a:pt x="914375" y="950290"/>
                      <a:pt x="939521" y="930465"/>
                      <a:pt x="969112" y="930465"/>
                    </a:cubicBezTo>
                    <a:cubicBezTo>
                      <a:pt x="1005180" y="930465"/>
                      <a:pt x="1034390" y="959688"/>
                      <a:pt x="1034390" y="995629"/>
                    </a:cubicBezTo>
                    <a:cubicBezTo>
                      <a:pt x="1034390" y="1031697"/>
                      <a:pt x="1005180" y="1060907"/>
                      <a:pt x="969112" y="1060907"/>
                    </a:cubicBezTo>
                    <a:cubicBezTo>
                      <a:pt x="937755" y="1060907"/>
                      <a:pt x="911492" y="1038707"/>
                      <a:pt x="905243" y="1009142"/>
                    </a:cubicBezTo>
                    <a:lnTo>
                      <a:pt x="628510" y="1009142"/>
                    </a:lnTo>
                    <a:lnTo>
                      <a:pt x="628510" y="1128941"/>
                    </a:lnTo>
                    <a:lnTo>
                      <a:pt x="622732" y="1134795"/>
                    </a:lnTo>
                    <a:cubicBezTo>
                      <a:pt x="575081" y="1178610"/>
                      <a:pt x="513207" y="1201420"/>
                      <a:pt x="448526" y="1198499"/>
                    </a:cubicBezTo>
                    <a:cubicBezTo>
                      <a:pt x="383832" y="1195781"/>
                      <a:pt x="324117" y="1168044"/>
                      <a:pt x="280391" y="1120394"/>
                    </a:cubicBezTo>
                    <a:cubicBezTo>
                      <a:pt x="256832" y="1094727"/>
                      <a:pt x="239459" y="1065276"/>
                      <a:pt x="228689" y="1032687"/>
                    </a:cubicBezTo>
                    <a:cubicBezTo>
                      <a:pt x="166129" y="1029195"/>
                      <a:pt x="106667" y="1001204"/>
                      <a:pt x="64084" y="954824"/>
                    </a:cubicBezTo>
                    <a:cubicBezTo>
                      <a:pt x="20244" y="907186"/>
                      <a:pt x="-2413" y="845299"/>
                      <a:pt x="330" y="780592"/>
                    </a:cubicBezTo>
                    <a:cubicBezTo>
                      <a:pt x="2883" y="720039"/>
                      <a:pt x="27381" y="663816"/>
                      <a:pt x="69596" y="620941"/>
                    </a:cubicBezTo>
                    <a:cubicBezTo>
                      <a:pt x="67793" y="619112"/>
                      <a:pt x="65951" y="617194"/>
                      <a:pt x="64084" y="615175"/>
                    </a:cubicBezTo>
                    <a:cubicBezTo>
                      <a:pt x="20244" y="567524"/>
                      <a:pt x="-2413" y="505650"/>
                      <a:pt x="330" y="440944"/>
                    </a:cubicBezTo>
                    <a:cubicBezTo>
                      <a:pt x="3061" y="376262"/>
                      <a:pt x="30836" y="316509"/>
                      <a:pt x="78473" y="272732"/>
                    </a:cubicBezTo>
                    <a:cubicBezTo>
                      <a:pt x="117145" y="237020"/>
                      <a:pt x="166446" y="214985"/>
                      <a:pt x="218580" y="209842"/>
                    </a:cubicBezTo>
                    <a:cubicBezTo>
                      <a:pt x="226035" y="153631"/>
                      <a:pt x="252781" y="102107"/>
                      <a:pt x="294818" y="63576"/>
                    </a:cubicBezTo>
                    <a:cubicBezTo>
                      <a:pt x="340932" y="21247"/>
                      <a:pt x="399885" y="101"/>
                      <a:pt x="458800" y="114"/>
                    </a:cubicBezTo>
                    <a:cubicBezTo>
                      <a:pt x="518135" y="114"/>
                      <a:pt x="577431" y="21564"/>
                      <a:pt x="623456" y="64427"/>
                    </a:cubicBezTo>
                    <a:lnTo>
                      <a:pt x="628510" y="69138"/>
                    </a:lnTo>
                    <a:lnTo>
                      <a:pt x="628510" y="323761"/>
                    </a:lnTo>
                    <a:lnTo>
                      <a:pt x="596760" y="323761"/>
                    </a:lnTo>
                    <a:close/>
                  </a:path>
                </a:pathLst>
              </a:custGeom>
              <a:solidFill>
                <a:schemeClr val="accent5"/>
              </a:solidFill>
              <a:ln>
                <a:noFill/>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41" name="Google Shape;6041;p310"/>
              <p:cNvSpPr/>
              <p:nvPr/>
            </p:nvSpPr>
            <p:spPr>
              <a:xfrm rot="10800000" flipH="1">
                <a:off x="5704177" y="3094562"/>
                <a:ext cx="985265" cy="636905"/>
              </a:xfrm>
              <a:custGeom>
                <a:avLst/>
                <a:gdLst/>
                <a:ahLst/>
                <a:cxnLst/>
                <a:rect l="l" t="t" r="r" b="b"/>
                <a:pathLst>
                  <a:path w="985265" h="636905" extrusionOk="0">
                    <a:moveTo>
                      <a:pt x="687557" y="31806"/>
                    </a:moveTo>
                    <a:cubicBezTo>
                      <a:pt x="540872" y="31806"/>
                      <a:pt x="421492" y="151186"/>
                      <a:pt x="421492" y="297871"/>
                    </a:cubicBezTo>
                    <a:cubicBezTo>
                      <a:pt x="421492" y="444683"/>
                      <a:pt x="540872" y="564063"/>
                      <a:pt x="687557" y="564063"/>
                    </a:cubicBezTo>
                    <a:cubicBezTo>
                      <a:pt x="834242" y="564063"/>
                      <a:pt x="953622" y="444683"/>
                      <a:pt x="953622" y="297871"/>
                    </a:cubicBezTo>
                    <a:cubicBezTo>
                      <a:pt x="953622" y="151186"/>
                      <a:pt x="834242" y="31806"/>
                      <a:pt x="687557" y="31806"/>
                    </a:cubicBezTo>
                    <a:moveTo>
                      <a:pt x="157586" y="147503"/>
                    </a:moveTo>
                    <a:cubicBezTo>
                      <a:pt x="139044" y="147503"/>
                      <a:pt x="124058" y="162489"/>
                      <a:pt x="124058" y="181031"/>
                    </a:cubicBezTo>
                    <a:cubicBezTo>
                      <a:pt x="124058" y="199446"/>
                      <a:pt x="139044" y="214559"/>
                      <a:pt x="157586" y="214559"/>
                    </a:cubicBezTo>
                    <a:cubicBezTo>
                      <a:pt x="176001" y="214559"/>
                      <a:pt x="190987" y="199446"/>
                      <a:pt x="190987" y="181031"/>
                    </a:cubicBezTo>
                    <a:cubicBezTo>
                      <a:pt x="190987" y="162489"/>
                      <a:pt x="176001" y="147503"/>
                      <a:pt x="157586" y="147503"/>
                    </a:cubicBezTo>
                    <a:moveTo>
                      <a:pt x="31856" y="571683"/>
                    </a:moveTo>
                    <a:cubicBezTo>
                      <a:pt x="31856" y="590225"/>
                      <a:pt x="46842" y="605211"/>
                      <a:pt x="65257" y="605211"/>
                    </a:cubicBezTo>
                    <a:cubicBezTo>
                      <a:pt x="83799" y="605211"/>
                      <a:pt x="98785" y="590225"/>
                      <a:pt x="98785" y="571683"/>
                    </a:cubicBezTo>
                    <a:cubicBezTo>
                      <a:pt x="98785" y="553268"/>
                      <a:pt x="83799" y="538155"/>
                      <a:pt x="65257" y="538155"/>
                    </a:cubicBezTo>
                    <a:cubicBezTo>
                      <a:pt x="46842" y="538155"/>
                      <a:pt x="31856" y="553268"/>
                      <a:pt x="31856" y="571683"/>
                    </a:cubicBezTo>
                    <a:moveTo>
                      <a:pt x="687557" y="595813"/>
                    </a:moveTo>
                    <a:cubicBezTo>
                      <a:pt x="568177" y="595813"/>
                      <a:pt x="464926" y="525201"/>
                      <a:pt x="417555" y="423474"/>
                    </a:cubicBezTo>
                    <a:lnTo>
                      <a:pt x="77487" y="423474"/>
                    </a:lnTo>
                    <a:lnTo>
                      <a:pt x="77487" y="507687"/>
                    </a:lnTo>
                    <a:cubicBezTo>
                      <a:pt x="107700" y="513301"/>
                      <a:pt x="130535" y="539945"/>
                      <a:pt x="130535" y="571683"/>
                    </a:cubicBezTo>
                    <a:cubicBezTo>
                      <a:pt x="130535" y="607751"/>
                      <a:pt x="101325" y="636961"/>
                      <a:pt x="65257" y="636961"/>
                    </a:cubicBezTo>
                    <a:cubicBezTo>
                      <a:pt x="29316" y="636961"/>
                      <a:pt x="106" y="607751"/>
                      <a:pt x="106" y="571683"/>
                    </a:cubicBezTo>
                    <a:cubicBezTo>
                      <a:pt x="106" y="542473"/>
                      <a:pt x="19283" y="517708"/>
                      <a:pt x="45699" y="509326"/>
                    </a:cubicBezTo>
                    <a:cubicBezTo>
                      <a:pt x="45712" y="509326"/>
                      <a:pt x="45725" y="509326"/>
                      <a:pt x="45737" y="509313"/>
                    </a:cubicBezTo>
                    <a:lnTo>
                      <a:pt x="45737" y="391724"/>
                    </a:lnTo>
                    <a:lnTo>
                      <a:pt x="404982" y="391724"/>
                    </a:lnTo>
                    <a:cubicBezTo>
                      <a:pt x="395076" y="362260"/>
                      <a:pt x="389742" y="330637"/>
                      <a:pt x="389742" y="297871"/>
                    </a:cubicBezTo>
                    <a:cubicBezTo>
                      <a:pt x="389742" y="259771"/>
                      <a:pt x="396981" y="223322"/>
                      <a:pt x="410189" y="189794"/>
                    </a:cubicBezTo>
                    <a:lnTo>
                      <a:pt x="222102" y="189794"/>
                    </a:lnTo>
                    <a:cubicBezTo>
                      <a:pt x="217911" y="221544"/>
                      <a:pt x="190606" y="246309"/>
                      <a:pt x="157586" y="246309"/>
                    </a:cubicBezTo>
                    <a:cubicBezTo>
                      <a:pt x="121518" y="246309"/>
                      <a:pt x="92308" y="216972"/>
                      <a:pt x="92308" y="181031"/>
                    </a:cubicBezTo>
                    <a:cubicBezTo>
                      <a:pt x="92308" y="144963"/>
                      <a:pt x="121518" y="115753"/>
                      <a:pt x="157586" y="115753"/>
                    </a:cubicBezTo>
                    <a:cubicBezTo>
                      <a:pt x="185399" y="115753"/>
                      <a:pt x="209275" y="133279"/>
                      <a:pt x="218546" y="158044"/>
                    </a:cubicBezTo>
                    <a:lnTo>
                      <a:pt x="419714" y="158044"/>
                    </a:lnTo>
                    <a:lnTo>
                      <a:pt x="419714" y="167835"/>
                    </a:lnTo>
                    <a:lnTo>
                      <a:pt x="419714" y="167823"/>
                    </a:lnTo>
                    <a:cubicBezTo>
                      <a:pt x="467974" y="68636"/>
                      <a:pt x="569955" y="56"/>
                      <a:pt x="687557" y="56"/>
                    </a:cubicBezTo>
                    <a:cubicBezTo>
                      <a:pt x="851768" y="56"/>
                      <a:pt x="985372" y="133660"/>
                      <a:pt x="985372" y="297871"/>
                    </a:cubicBezTo>
                    <a:cubicBezTo>
                      <a:pt x="985372" y="462209"/>
                      <a:pt x="851768" y="595813"/>
                      <a:pt x="687557" y="595813"/>
                    </a:cubicBezTo>
                  </a:path>
                </a:pathLst>
              </a:custGeom>
              <a:solidFill>
                <a:schemeClr val="accent5"/>
              </a:solidFill>
              <a:ln>
                <a:noFill/>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42" name="Google Shape;6042;p310"/>
              <p:cNvSpPr/>
              <p:nvPr/>
            </p:nvSpPr>
            <p:spPr>
              <a:xfrm rot="10800000" flipH="1">
                <a:off x="6277076" y="3267788"/>
                <a:ext cx="228472" cy="322072"/>
              </a:xfrm>
              <a:custGeom>
                <a:avLst/>
                <a:gdLst/>
                <a:ahLst/>
                <a:cxnLst/>
                <a:rect l="l" t="t" r="r" b="b"/>
                <a:pathLst>
                  <a:path w="228472" h="322072" extrusionOk="0">
                    <a:moveTo>
                      <a:pt x="109458" y="291555"/>
                    </a:moveTo>
                    <a:lnTo>
                      <a:pt x="119237" y="291555"/>
                    </a:lnTo>
                    <a:cubicBezTo>
                      <a:pt x="137906" y="291555"/>
                      <a:pt x="152892" y="274664"/>
                      <a:pt x="152892" y="253836"/>
                    </a:cubicBezTo>
                    <a:lnTo>
                      <a:pt x="152892" y="214466"/>
                    </a:lnTo>
                    <a:cubicBezTo>
                      <a:pt x="140573" y="218911"/>
                      <a:pt x="127619" y="221070"/>
                      <a:pt x="114284" y="221070"/>
                    </a:cubicBezTo>
                    <a:cubicBezTo>
                      <a:pt x="101076" y="221070"/>
                      <a:pt x="88122" y="218911"/>
                      <a:pt x="75803" y="214466"/>
                    </a:cubicBezTo>
                    <a:lnTo>
                      <a:pt x="75803" y="253836"/>
                    </a:lnTo>
                    <a:cubicBezTo>
                      <a:pt x="75803" y="274664"/>
                      <a:pt x="90789" y="291555"/>
                      <a:pt x="109458" y="291555"/>
                    </a:cubicBezTo>
                    <a:moveTo>
                      <a:pt x="197850" y="110580"/>
                    </a:moveTo>
                    <a:cubicBezTo>
                      <a:pt x="197850" y="66638"/>
                      <a:pt x="160385" y="30824"/>
                      <a:pt x="114284" y="30824"/>
                    </a:cubicBezTo>
                    <a:cubicBezTo>
                      <a:pt x="68310" y="30824"/>
                      <a:pt x="30845" y="66638"/>
                      <a:pt x="30845" y="110580"/>
                    </a:cubicBezTo>
                    <a:cubicBezTo>
                      <a:pt x="30845" y="154649"/>
                      <a:pt x="68310" y="190463"/>
                      <a:pt x="114284" y="190463"/>
                    </a:cubicBezTo>
                    <a:cubicBezTo>
                      <a:pt x="160385" y="190463"/>
                      <a:pt x="197850" y="154649"/>
                      <a:pt x="197850" y="110580"/>
                    </a:cubicBezTo>
                    <a:moveTo>
                      <a:pt x="183626" y="198337"/>
                    </a:moveTo>
                    <a:lnTo>
                      <a:pt x="183626" y="253836"/>
                    </a:lnTo>
                    <a:cubicBezTo>
                      <a:pt x="183626" y="291555"/>
                      <a:pt x="154797" y="322162"/>
                      <a:pt x="119237" y="322162"/>
                    </a:cubicBezTo>
                    <a:lnTo>
                      <a:pt x="109458" y="322162"/>
                    </a:lnTo>
                    <a:cubicBezTo>
                      <a:pt x="73898" y="322162"/>
                      <a:pt x="45069" y="291555"/>
                      <a:pt x="45069" y="253836"/>
                    </a:cubicBezTo>
                    <a:lnTo>
                      <a:pt x="45069" y="198337"/>
                    </a:lnTo>
                    <a:cubicBezTo>
                      <a:pt x="16875" y="177382"/>
                      <a:pt x="111" y="144870"/>
                      <a:pt x="111" y="110580"/>
                    </a:cubicBezTo>
                    <a:cubicBezTo>
                      <a:pt x="111" y="49747"/>
                      <a:pt x="51419" y="90"/>
                      <a:pt x="114284" y="90"/>
                    </a:cubicBezTo>
                    <a:cubicBezTo>
                      <a:pt x="177276" y="90"/>
                      <a:pt x="228584" y="49747"/>
                      <a:pt x="228584" y="110580"/>
                    </a:cubicBezTo>
                    <a:cubicBezTo>
                      <a:pt x="228584" y="144870"/>
                      <a:pt x="211820" y="177382"/>
                      <a:pt x="183626" y="198337"/>
                    </a:cubicBezTo>
                  </a:path>
                </a:pathLst>
              </a:custGeom>
              <a:solidFill>
                <a:schemeClr val="accent5"/>
              </a:solidFill>
              <a:ln>
                <a:noFill/>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43" name="Google Shape;6043;p310"/>
              <p:cNvSpPr/>
              <p:nvPr/>
            </p:nvSpPr>
            <p:spPr>
              <a:xfrm rot="10800000" flipH="1">
                <a:off x="6367246" y="3445842"/>
                <a:ext cx="48132" cy="66928"/>
              </a:xfrm>
              <a:custGeom>
                <a:avLst/>
                <a:gdLst/>
                <a:ahLst/>
                <a:cxnLst/>
                <a:rect l="l" t="t" r="r" b="b"/>
                <a:pathLst>
                  <a:path w="48132" h="66928" extrusionOk="0">
                    <a:moveTo>
                      <a:pt x="109" y="43520"/>
                    </a:moveTo>
                    <a:cubicBezTo>
                      <a:pt x="109" y="36408"/>
                      <a:pt x="3411" y="29804"/>
                      <a:pt x="8999" y="25359"/>
                    </a:cubicBezTo>
                    <a:lnTo>
                      <a:pt x="8999" y="11008"/>
                    </a:lnTo>
                    <a:cubicBezTo>
                      <a:pt x="8999" y="4912"/>
                      <a:pt x="13952" y="86"/>
                      <a:pt x="20048" y="86"/>
                    </a:cubicBezTo>
                    <a:lnTo>
                      <a:pt x="28303" y="86"/>
                    </a:lnTo>
                    <a:cubicBezTo>
                      <a:pt x="34399" y="86"/>
                      <a:pt x="39352" y="4912"/>
                      <a:pt x="39352" y="11008"/>
                    </a:cubicBezTo>
                    <a:lnTo>
                      <a:pt x="39352" y="25359"/>
                    </a:lnTo>
                    <a:cubicBezTo>
                      <a:pt x="44940" y="29804"/>
                      <a:pt x="48242" y="36408"/>
                      <a:pt x="48242" y="43520"/>
                    </a:cubicBezTo>
                    <a:cubicBezTo>
                      <a:pt x="48242" y="56474"/>
                      <a:pt x="37447" y="67015"/>
                      <a:pt x="24112" y="67015"/>
                    </a:cubicBezTo>
                    <a:cubicBezTo>
                      <a:pt x="10904" y="67015"/>
                      <a:pt x="109" y="56474"/>
                      <a:pt x="109" y="43520"/>
                    </a:cubicBezTo>
                  </a:path>
                </a:pathLst>
              </a:custGeom>
              <a:solidFill>
                <a:schemeClr val="accent5"/>
              </a:solidFill>
              <a:ln>
                <a:noFill/>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grpSp>
        <p:sp>
          <p:nvSpPr>
            <p:cNvPr id="6044" name="Google Shape;6044;p310"/>
            <p:cNvSpPr/>
            <p:nvPr/>
          </p:nvSpPr>
          <p:spPr>
            <a:xfrm>
              <a:off x="565444" y="1481894"/>
              <a:ext cx="914400" cy="914400"/>
            </a:xfrm>
            <a:prstGeom prst="ellipse">
              <a:avLst/>
            </a:prstGeom>
            <a:noFill/>
            <a:ln w="19050" cap="flat" cmpd="sng">
              <a:solidFill>
                <a:schemeClr val="accent5"/>
              </a:solidFill>
              <a:prstDash val="solid"/>
              <a:round/>
              <a:headEnd type="none" w="sm" len="sm"/>
              <a:tailEnd type="none" w="sm" len="sm"/>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grpSp>
      <p:grpSp>
        <p:nvGrpSpPr>
          <p:cNvPr id="6045" name="Google Shape;6045;p310"/>
          <p:cNvGrpSpPr/>
          <p:nvPr/>
        </p:nvGrpSpPr>
        <p:grpSpPr>
          <a:xfrm>
            <a:off x="571614" y="2294438"/>
            <a:ext cx="4365338" cy="913918"/>
            <a:chOff x="570175" y="2636768"/>
            <a:chExt cx="4366475" cy="914400"/>
          </a:xfrm>
        </p:grpSpPr>
        <p:sp>
          <p:nvSpPr>
            <p:cNvPr id="6046" name="Google Shape;6046;p310"/>
            <p:cNvSpPr txBox="1"/>
            <p:nvPr/>
          </p:nvSpPr>
          <p:spPr>
            <a:xfrm>
              <a:off x="1747650" y="2865999"/>
              <a:ext cx="3189000" cy="526500"/>
            </a:xfrm>
            <a:prstGeom prst="rect">
              <a:avLst/>
            </a:prstGeom>
            <a:noFill/>
            <a:ln>
              <a:noFill/>
            </a:ln>
          </p:spPr>
          <p:txBody>
            <a:bodyPr spcFirstLastPara="1" wrap="square" lIns="0" tIns="0" rIns="0" bIns="0" anchor="ctr" anchorCtr="0">
              <a:noAutofit/>
            </a:bodyPr>
            <a:lstStyle/>
            <a:p>
              <a:pPr defTabSz="1218895">
                <a:buClr>
                  <a:srgbClr val="3F3F3F"/>
                </a:buClr>
                <a:buSzPts val="1200"/>
              </a:pPr>
              <a:r>
                <a:rPr lang="en" sz="1600">
                  <a:solidFill>
                    <a:srgbClr val="3F3F3F"/>
                  </a:solidFill>
                </a:rPr>
                <a:t>Build on top of VMware Cloud Foundation infrastructure for cost effectiveness</a:t>
              </a:r>
              <a:endParaRPr sz="1466"/>
            </a:p>
          </p:txBody>
        </p:sp>
        <p:pic>
          <p:nvPicPr>
            <p:cNvPr id="6047" name="Google Shape;6047;p310"/>
            <p:cNvPicPr preferRelativeResize="0"/>
            <p:nvPr/>
          </p:nvPicPr>
          <p:blipFill rotWithShape="1">
            <a:blip r:embed="rId3">
              <a:alphaModFix/>
            </a:blip>
            <a:srcRect/>
            <a:stretch/>
          </p:blipFill>
          <p:spPr>
            <a:xfrm>
              <a:off x="803797" y="2814253"/>
              <a:ext cx="439992" cy="557323"/>
            </a:xfrm>
            <a:prstGeom prst="rect">
              <a:avLst/>
            </a:prstGeom>
            <a:noFill/>
            <a:ln>
              <a:noFill/>
            </a:ln>
          </p:spPr>
        </p:pic>
        <p:sp>
          <p:nvSpPr>
            <p:cNvPr id="6048" name="Google Shape;6048;p310"/>
            <p:cNvSpPr/>
            <p:nvPr/>
          </p:nvSpPr>
          <p:spPr>
            <a:xfrm>
              <a:off x="570175" y="2636768"/>
              <a:ext cx="914400" cy="914400"/>
            </a:xfrm>
            <a:prstGeom prst="ellipse">
              <a:avLst/>
            </a:prstGeom>
            <a:noFill/>
            <a:ln w="19050" cap="flat" cmpd="sng">
              <a:solidFill>
                <a:schemeClr val="accent2"/>
              </a:solidFill>
              <a:prstDash val="solid"/>
              <a:round/>
              <a:headEnd type="none" w="sm" len="sm"/>
              <a:tailEnd type="none" w="sm" len="sm"/>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grpSp>
      <p:grpSp>
        <p:nvGrpSpPr>
          <p:cNvPr id="6049" name="Google Shape;6049;p310"/>
          <p:cNvGrpSpPr/>
          <p:nvPr/>
        </p:nvGrpSpPr>
        <p:grpSpPr>
          <a:xfrm>
            <a:off x="570806" y="3448614"/>
            <a:ext cx="4175146" cy="913918"/>
            <a:chOff x="569367" y="3791554"/>
            <a:chExt cx="4176234" cy="914400"/>
          </a:xfrm>
        </p:grpSpPr>
        <p:sp>
          <p:nvSpPr>
            <p:cNvPr id="6050" name="Google Shape;6050;p310"/>
            <p:cNvSpPr txBox="1"/>
            <p:nvPr/>
          </p:nvSpPr>
          <p:spPr>
            <a:xfrm>
              <a:off x="1747101" y="4067305"/>
              <a:ext cx="2998500" cy="526500"/>
            </a:xfrm>
            <a:prstGeom prst="rect">
              <a:avLst/>
            </a:prstGeom>
            <a:noFill/>
            <a:ln>
              <a:noFill/>
            </a:ln>
          </p:spPr>
          <p:txBody>
            <a:bodyPr spcFirstLastPara="1" wrap="square" lIns="0" tIns="0" rIns="0" bIns="0" anchor="ctr" anchorCtr="0">
              <a:noAutofit/>
            </a:bodyPr>
            <a:lstStyle/>
            <a:p>
              <a:pPr defTabSz="1218895">
                <a:buClr>
                  <a:srgbClr val="3F3F3F"/>
                </a:buClr>
                <a:buSzPts val="1200"/>
              </a:pPr>
              <a:r>
                <a:rPr lang="en" sz="1600">
                  <a:solidFill>
                    <a:srgbClr val="3F3F3F"/>
                  </a:solidFill>
                </a:rPr>
                <a:t>Fine-tune / augment your choice of LLM and deploy for inferencing</a:t>
              </a:r>
              <a:endParaRPr sz="1466"/>
            </a:p>
          </p:txBody>
        </p:sp>
        <p:grpSp>
          <p:nvGrpSpPr>
            <p:cNvPr id="6051" name="Google Shape;6051;p310"/>
            <p:cNvGrpSpPr/>
            <p:nvPr/>
          </p:nvGrpSpPr>
          <p:grpSpPr>
            <a:xfrm>
              <a:off x="783546" y="3987311"/>
              <a:ext cx="480387" cy="522779"/>
              <a:chOff x="783546" y="4088124"/>
              <a:chExt cx="480387" cy="522779"/>
            </a:xfrm>
          </p:grpSpPr>
          <p:sp>
            <p:nvSpPr>
              <p:cNvPr id="6052" name="Google Shape;6052;p310"/>
              <p:cNvSpPr/>
              <p:nvPr/>
            </p:nvSpPr>
            <p:spPr>
              <a:xfrm>
                <a:off x="862969" y="4151577"/>
                <a:ext cx="123924" cy="70712"/>
              </a:xfrm>
              <a:custGeom>
                <a:avLst/>
                <a:gdLst/>
                <a:ahLst/>
                <a:cxnLst/>
                <a:rect l="l" t="t" r="r" b="b"/>
                <a:pathLst>
                  <a:path w="182914" h="104372" extrusionOk="0">
                    <a:moveTo>
                      <a:pt x="0" y="104373"/>
                    </a:moveTo>
                    <a:lnTo>
                      <a:pt x="182914"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3" name="Google Shape;6053;p310"/>
              <p:cNvSpPr/>
              <p:nvPr/>
            </p:nvSpPr>
            <p:spPr>
              <a:xfrm>
                <a:off x="1023794" y="4172916"/>
                <a:ext cx="14114" cy="127028"/>
              </a:xfrm>
              <a:custGeom>
                <a:avLst/>
                <a:gdLst/>
                <a:ahLst/>
                <a:cxnLst/>
                <a:rect l="l" t="t" r="r" b="b"/>
                <a:pathLst>
                  <a:path w="20833" h="187495" extrusionOk="0">
                    <a:moveTo>
                      <a:pt x="0" y="187496"/>
                    </a:moveTo>
                    <a:lnTo>
                      <a:pt x="0"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4" name="Google Shape;6054;p310"/>
              <p:cNvSpPr/>
              <p:nvPr/>
            </p:nvSpPr>
            <p:spPr>
              <a:xfrm>
                <a:off x="1023794" y="4384897"/>
                <a:ext cx="14114" cy="141142"/>
              </a:xfrm>
              <a:custGeom>
                <a:avLst/>
                <a:gdLst/>
                <a:ahLst/>
                <a:cxnLst/>
                <a:rect l="l" t="t" r="r" b="b"/>
                <a:pathLst>
                  <a:path w="20833" h="208328" extrusionOk="0">
                    <a:moveTo>
                      <a:pt x="0" y="208329"/>
                    </a:moveTo>
                    <a:lnTo>
                      <a:pt x="0"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5" name="Google Shape;6055;p310"/>
              <p:cNvSpPr/>
              <p:nvPr/>
            </p:nvSpPr>
            <p:spPr>
              <a:xfrm>
                <a:off x="863817" y="4361438"/>
                <a:ext cx="121948" cy="60973"/>
              </a:xfrm>
              <a:custGeom>
                <a:avLst/>
                <a:gdLst/>
                <a:ahLst/>
                <a:cxnLst/>
                <a:rect l="l" t="t" r="r" b="b"/>
                <a:pathLst>
                  <a:path w="179997" h="89997" extrusionOk="0">
                    <a:moveTo>
                      <a:pt x="0" y="89998"/>
                    </a:moveTo>
                    <a:lnTo>
                      <a:pt x="179998"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6" name="Google Shape;6056;p310"/>
              <p:cNvSpPr/>
              <p:nvPr/>
            </p:nvSpPr>
            <p:spPr>
              <a:xfrm>
                <a:off x="863817" y="4262514"/>
                <a:ext cx="121948" cy="60973"/>
              </a:xfrm>
              <a:custGeom>
                <a:avLst/>
                <a:gdLst/>
                <a:ahLst/>
                <a:cxnLst/>
                <a:rect l="l" t="t" r="r" b="b"/>
                <a:pathLst>
                  <a:path w="179997" h="89997" extrusionOk="0">
                    <a:moveTo>
                      <a:pt x="0" y="0"/>
                    </a:moveTo>
                    <a:lnTo>
                      <a:pt x="179998" y="89998"/>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7" name="Google Shape;6057;p310"/>
              <p:cNvSpPr/>
              <p:nvPr/>
            </p:nvSpPr>
            <p:spPr>
              <a:xfrm>
                <a:off x="861556" y="4464319"/>
                <a:ext cx="126465" cy="81298"/>
              </a:xfrm>
              <a:custGeom>
                <a:avLst/>
                <a:gdLst/>
                <a:ahLst/>
                <a:cxnLst/>
                <a:rect l="l" t="t" r="r" b="b"/>
                <a:pathLst>
                  <a:path w="186664" h="119997" extrusionOk="0">
                    <a:moveTo>
                      <a:pt x="0" y="0"/>
                    </a:moveTo>
                    <a:lnTo>
                      <a:pt x="186664" y="119997"/>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8" name="Google Shape;6058;p310"/>
              <p:cNvSpPr/>
              <p:nvPr/>
            </p:nvSpPr>
            <p:spPr>
              <a:xfrm>
                <a:off x="847989" y="4279755"/>
                <a:ext cx="153564" cy="252363"/>
              </a:xfrm>
              <a:custGeom>
                <a:avLst/>
                <a:gdLst/>
                <a:ahLst/>
                <a:cxnLst/>
                <a:rect l="l" t="t" r="r" b="b"/>
                <a:pathLst>
                  <a:path w="226663" h="372491" extrusionOk="0">
                    <a:moveTo>
                      <a:pt x="0" y="0"/>
                    </a:moveTo>
                    <a:lnTo>
                      <a:pt x="226664" y="372492"/>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59" name="Google Shape;6059;p310"/>
              <p:cNvSpPr/>
              <p:nvPr/>
            </p:nvSpPr>
            <p:spPr>
              <a:xfrm>
                <a:off x="848413" y="4166274"/>
                <a:ext cx="152435" cy="239519"/>
              </a:xfrm>
              <a:custGeom>
                <a:avLst/>
                <a:gdLst/>
                <a:ahLst/>
                <a:cxnLst/>
                <a:rect l="l" t="t" r="r" b="b"/>
                <a:pathLst>
                  <a:path w="224997" h="353533" extrusionOk="0">
                    <a:moveTo>
                      <a:pt x="0" y="353534"/>
                    </a:moveTo>
                    <a:lnTo>
                      <a:pt x="224997"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0" name="Google Shape;6060;p310"/>
              <p:cNvSpPr/>
              <p:nvPr/>
            </p:nvSpPr>
            <p:spPr>
              <a:xfrm>
                <a:off x="1060820" y="4151718"/>
                <a:ext cx="123924" cy="70712"/>
              </a:xfrm>
              <a:custGeom>
                <a:avLst/>
                <a:gdLst/>
                <a:ahLst/>
                <a:cxnLst/>
                <a:rect l="l" t="t" r="r" b="b"/>
                <a:pathLst>
                  <a:path w="182914" h="104372" extrusionOk="0">
                    <a:moveTo>
                      <a:pt x="182914" y="104373"/>
                    </a:moveTo>
                    <a:lnTo>
                      <a:pt x="0"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1" name="Google Shape;6061;p310"/>
              <p:cNvSpPr/>
              <p:nvPr/>
            </p:nvSpPr>
            <p:spPr>
              <a:xfrm>
                <a:off x="1061668" y="4361438"/>
                <a:ext cx="117432" cy="58715"/>
              </a:xfrm>
              <a:custGeom>
                <a:avLst/>
                <a:gdLst/>
                <a:ahLst/>
                <a:cxnLst/>
                <a:rect l="l" t="t" r="r" b="b"/>
                <a:pathLst>
                  <a:path w="173331" h="86664" extrusionOk="0">
                    <a:moveTo>
                      <a:pt x="173331" y="86665"/>
                    </a:moveTo>
                    <a:lnTo>
                      <a:pt x="0"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2" name="Google Shape;6062;p310"/>
              <p:cNvSpPr/>
              <p:nvPr/>
            </p:nvSpPr>
            <p:spPr>
              <a:xfrm>
                <a:off x="1061668" y="4263644"/>
                <a:ext cx="119831" cy="59844"/>
              </a:xfrm>
              <a:custGeom>
                <a:avLst/>
                <a:gdLst/>
                <a:ahLst/>
                <a:cxnLst/>
                <a:rect l="l" t="t" r="r" b="b"/>
                <a:pathLst>
                  <a:path w="176872" h="88331" extrusionOk="0">
                    <a:moveTo>
                      <a:pt x="176873" y="0"/>
                    </a:moveTo>
                    <a:lnTo>
                      <a:pt x="0" y="88331"/>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3" name="Google Shape;6063;p310"/>
              <p:cNvSpPr/>
              <p:nvPr/>
            </p:nvSpPr>
            <p:spPr>
              <a:xfrm>
                <a:off x="1059124" y="4463895"/>
                <a:ext cx="122936" cy="81298"/>
              </a:xfrm>
              <a:custGeom>
                <a:avLst/>
                <a:gdLst/>
                <a:ahLst/>
                <a:cxnLst/>
                <a:rect l="l" t="t" r="r" b="b"/>
                <a:pathLst>
                  <a:path w="181456" h="119997" extrusionOk="0">
                    <a:moveTo>
                      <a:pt x="181456" y="0"/>
                    </a:moveTo>
                    <a:lnTo>
                      <a:pt x="0" y="119997"/>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4" name="Google Shape;6064;p310"/>
              <p:cNvSpPr/>
              <p:nvPr/>
            </p:nvSpPr>
            <p:spPr>
              <a:xfrm>
                <a:off x="1045698" y="4279331"/>
                <a:ext cx="153000" cy="252645"/>
              </a:xfrm>
              <a:custGeom>
                <a:avLst/>
                <a:gdLst/>
                <a:ahLst/>
                <a:cxnLst/>
                <a:rect l="l" t="t" r="r" b="b"/>
                <a:pathLst>
                  <a:path w="225830" h="372908" extrusionOk="0">
                    <a:moveTo>
                      <a:pt x="225831" y="0"/>
                    </a:moveTo>
                    <a:lnTo>
                      <a:pt x="0" y="372908"/>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5" name="Google Shape;6065;p310"/>
              <p:cNvSpPr/>
              <p:nvPr/>
            </p:nvSpPr>
            <p:spPr>
              <a:xfrm>
                <a:off x="1046546" y="4166274"/>
                <a:ext cx="152153" cy="239095"/>
              </a:xfrm>
              <a:custGeom>
                <a:avLst/>
                <a:gdLst/>
                <a:ahLst/>
                <a:cxnLst/>
                <a:rect l="l" t="t" r="r" b="b"/>
                <a:pathLst>
                  <a:path w="224580" h="352908" extrusionOk="0">
                    <a:moveTo>
                      <a:pt x="224581" y="352909"/>
                    </a:moveTo>
                    <a:lnTo>
                      <a:pt x="0" y="0"/>
                    </a:lnTo>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6" name="Google Shape;6066;p310"/>
              <p:cNvSpPr/>
              <p:nvPr/>
            </p:nvSpPr>
            <p:spPr>
              <a:xfrm>
                <a:off x="981397" y="4526218"/>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7" name="Google Shape;6067;p310"/>
              <p:cNvSpPr/>
              <p:nvPr/>
            </p:nvSpPr>
            <p:spPr>
              <a:xfrm>
                <a:off x="981397" y="4300105"/>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8" name="Google Shape;6068;p310"/>
              <p:cNvSpPr/>
              <p:nvPr/>
            </p:nvSpPr>
            <p:spPr>
              <a:xfrm>
                <a:off x="981397" y="4088124"/>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69" name="Google Shape;6069;p310"/>
              <p:cNvSpPr/>
              <p:nvPr/>
            </p:nvSpPr>
            <p:spPr>
              <a:xfrm>
                <a:off x="1179247" y="4201180"/>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70" name="Google Shape;6070;p310"/>
              <p:cNvSpPr/>
              <p:nvPr/>
            </p:nvSpPr>
            <p:spPr>
              <a:xfrm>
                <a:off x="1179247" y="4399029"/>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71" name="Google Shape;6071;p310"/>
              <p:cNvSpPr/>
              <p:nvPr/>
            </p:nvSpPr>
            <p:spPr>
              <a:xfrm>
                <a:off x="783546" y="4201180"/>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72" name="Google Shape;6072;p310"/>
              <p:cNvSpPr/>
              <p:nvPr/>
            </p:nvSpPr>
            <p:spPr>
              <a:xfrm>
                <a:off x="783546" y="4399029"/>
                <a:ext cx="84686" cy="84685"/>
              </a:xfrm>
              <a:custGeom>
                <a:avLst/>
                <a:gdLst/>
                <a:ahLst/>
                <a:cxnLst/>
                <a:rect l="l" t="t" r="r" b="b"/>
                <a:pathLst>
                  <a:path w="124998" h="124997" extrusionOk="0">
                    <a:moveTo>
                      <a:pt x="124999" y="62499"/>
                    </a:moveTo>
                    <a:cubicBezTo>
                      <a:pt x="124999" y="97016"/>
                      <a:pt x="97017" y="124997"/>
                      <a:pt x="62499" y="124997"/>
                    </a:cubicBezTo>
                    <a:cubicBezTo>
                      <a:pt x="27982" y="124997"/>
                      <a:pt x="0" y="97016"/>
                      <a:pt x="0" y="62499"/>
                    </a:cubicBezTo>
                    <a:cubicBezTo>
                      <a:pt x="0" y="27982"/>
                      <a:pt x="27982" y="0"/>
                      <a:pt x="62499" y="0"/>
                    </a:cubicBezTo>
                    <a:cubicBezTo>
                      <a:pt x="97017" y="0"/>
                      <a:pt x="124999" y="27982"/>
                      <a:pt x="124999" y="62499"/>
                    </a:cubicBezTo>
                    <a:close/>
                  </a:path>
                </a:pathLst>
              </a:custGeom>
              <a:noFill/>
              <a:ln w="14300" cap="sq" cmpd="sng">
                <a:solidFill>
                  <a:schemeClr val="accent1"/>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grpSp>
        <p:sp>
          <p:nvSpPr>
            <p:cNvPr id="6073" name="Google Shape;6073;p310"/>
            <p:cNvSpPr/>
            <p:nvPr/>
          </p:nvSpPr>
          <p:spPr>
            <a:xfrm>
              <a:off x="569367" y="3791554"/>
              <a:ext cx="914400" cy="914400"/>
            </a:xfrm>
            <a:prstGeom prst="ellipse">
              <a:avLst/>
            </a:prstGeom>
            <a:noFill/>
            <a:ln w="19050" cap="flat" cmpd="sng">
              <a:solidFill>
                <a:schemeClr val="accent1"/>
              </a:solidFill>
              <a:prstDash val="solid"/>
              <a:round/>
              <a:headEnd type="none" w="sm" len="sm"/>
              <a:tailEnd type="none" w="sm" len="sm"/>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grpSp>
      <p:grpSp>
        <p:nvGrpSpPr>
          <p:cNvPr id="6074" name="Google Shape;6074;p310"/>
          <p:cNvGrpSpPr/>
          <p:nvPr/>
        </p:nvGrpSpPr>
        <p:grpSpPr>
          <a:xfrm>
            <a:off x="568758" y="4602791"/>
            <a:ext cx="4776742" cy="913918"/>
            <a:chOff x="567317" y="4946340"/>
            <a:chExt cx="4777986" cy="914400"/>
          </a:xfrm>
        </p:grpSpPr>
        <p:sp>
          <p:nvSpPr>
            <p:cNvPr id="6075" name="Google Shape;6075;p310"/>
            <p:cNvSpPr txBox="1"/>
            <p:nvPr/>
          </p:nvSpPr>
          <p:spPr>
            <a:xfrm>
              <a:off x="1735703" y="5141360"/>
              <a:ext cx="3609600" cy="526500"/>
            </a:xfrm>
            <a:prstGeom prst="rect">
              <a:avLst/>
            </a:prstGeom>
            <a:noFill/>
            <a:ln>
              <a:noFill/>
            </a:ln>
          </p:spPr>
          <p:txBody>
            <a:bodyPr spcFirstLastPara="1" wrap="square" lIns="0" tIns="0" rIns="0" bIns="0" anchor="ctr" anchorCtr="0">
              <a:noAutofit/>
            </a:bodyPr>
            <a:lstStyle/>
            <a:p>
              <a:pPr defTabSz="1218895">
                <a:buClr>
                  <a:srgbClr val="3F3F3F"/>
                </a:buClr>
                <a:buSzPts val="1200"/>
              </a:pPr>
              <a:r>
                <a:rPr lang="en" sz="1600">
                  <a:solidFill>
                    <a:srgbClr val="3F3F3F"/>
                  </a:solidFill>
                </a:rPr>
                <a:t>Deliver accelerated LLM services</a:t>
              </a:r>
              <a:br>
                <a:rPr lang="en" sz="1600">
                  <a:solidFill>
                    <a:srgbClr val="3F3F3F"/>
                  </a:solidFill>
                </a:rPr>
              </a:br>
              <a:r>
                <a:rPr lang="en" sz="1600">
                  <a:solidFill>
                    <a:srgbClr val="3F3F3F"/>
                  </a:solidFill>
                </a:rPr>
                <a:t>to transform AI powered apps</a:t>
              </a:r>
              <a:endParaRPr sz="1466"/>
            </a:p>
          </p:txBody>
        </p:sp>
        <p:grpSp>
          <p:nvGrpSpPr>
            <p:cNvPr id="6076" name="Google Shape;6076;p310"/>
            <p:cNvGrpSpPr/>
            <p:nvPr/>
          </p:nvGrpSpPr>
          <p:grpSpPr>
            <a:xfrm>
              <a:off x="780137" y="5160952"/>
              <a:ext cx="487275" cy="487273"/>
              <a:chOff x="3168670" y="1952729"/>
              <a:chExt cx="561765" cy="561763"/>
            </a:xfrm>
          </p:grpSpPr>
          <p:sp>
            <p:nvSpPr>
              <p:cNvPr id="6077" name="Google Shape;6077;p310"/>
              <p:cNvSpPr/>
              <p:nvPr/>
            </p:nvSpPr>
            <p:spPr>
              <a:xfrm>
                <a:off x="3259003" y="2036793"/>
                <a:ext cx="381157" cy="393574"/>
              </a:xfrm>
              <a:custGeom>
                <a:avLst/>
                <a:gdLst/>
                <a:ahLst/>
                <a:cxnLst/>
                <a:rect l="l" t="t" r="r" b="b"/>
                <a:pathLst>
                  <a:path w="381157" h="393574" extrusionOk="0">
                    <a:moveTo>
                      <a:pt x="381157" y="195354"/>
                    </a:moveTo>
                    <a:cubicBezTo>
                      <a:pt x="381157" y="171293"/>
                      <a:pt x="367664" y="149441"/>
                      <a:pt x="346767" y="138456"/>
                    </a:cubicBezTo>
                    <a:cubicBezTo>
                      <a:pt x="350827" y="130097"/>
                      <a:pt x="352977" y="120843"/>
                      <a:pt x="352977" y="111409"/>
                    </a:cubicBezTo>
                    <a:cubicBezTo>
                      <a:pt x="352977" y="77198"/>
                      <a:pt x="325154" y="49316"/>
                      <a:pt x="290883" y="49316"/>
                    </a:cubicBezTo>
                    <a:lnTo>
                      <a:pt x="290346" y="49316"/>
                    </a:lnTo>
                    <a:cubicBezTo>
                      <a:pt x="284435" y="20718"/>
                      <a:pt x="259478" y="0"/>
                      <a:pt x="229566" y="0"/>
                    </a:cubicBezTo>
                    <a:cubicBezTo>
                      <a:pt x="215177" y="0"/>
                      <a:pt x="201624" y="4896"/>
                      <a:pt x="190579" y="13792"/>
                    </a:cubicBezTo>
                    <a:cubicBezTo>
                      <a:pt x="179593" y="4896"/>
                      <a:pt x="165980" y="0"/>
                      <a:pt x="151591" y="0"/>
                    </a:cubicBezTo>
                    <a:cubicBezTo>
                      <a:pt x="121679" y="0"/>
                      <a:pt x="96722" y="20718"/>
                      <a:pt x="90811" y="49316"/>
                    </a:cubicBezTo>
                    <a:cubicBezTo>
                      <a:pt x="56183" y="48839"/>
                      <a:pt x="28241" y="76960"/>
                      <a:pt x="28241" y="111409"/>
                    </a:cubicBezTo>
                    <a:cubicBezTo>
                      <a:pt x="28241" y="120843"/>
                      <a:pt x="30390" y="130037"/>
                      <a:pt x="34450" y="138456"/>
                    </a:cubicBezTo>
                    <a:cubicBezTo>
                      <a:pt x="14031" y="149203"/>
                      <a:pt x="0" y="170637"/>
                      <a:pt x="0" y="195354"/>
                    </a:cubicBezTo>
                    <a:cubicBezTo>
                      <a:pt x="0" y="218401"/>
                      <a:pt x="12180" y="239297"/>
                      <a:pt x="31644" y="250761"/>
                    </a:cubicBezTo>
                    <a:cubicBezTo>
                      <a:pt x="27345" y="259298"/>
                      <a:pt x="25136" y="268791"/>
                      <a:pt x="25136" y="278464"/>
                    </a:cubicBezTo>
                    <a:cubicBezTo>
                      <a:pt x="25136" y="311898"/>
                      <a:pt x="51764" y="339184"/>
                      <a:pt x="84901" y="340437"/>
                    </a:cubicBezTo>
                    <a:cubicBezTo>
                      <a:pt x="88543" y="370290"/>
                      <a:pt x="114037" y="393575"/>
                      <a:pt x="144845" y="393575"/>
                    </a:cubicBezTo>
                    <a:cubicBezTo>
                      <a:pt x="162458" y="393575"/>
                      <a:pt x="179115" y="385694"/>
                      <a:pt x="190519" y="372559"/>
                    </a:cubicBezTo>
                    <a:cubicBezTo>
                      <a:pt x="201923" y="385634"/>
                      <a:pt x="218521" y="393575"/>
                      <a:pt x="236193" y="393575"/>
                    </a:cubicBezTo>
                    <a:cubicBezTo>
                      <a:pt x="267001" y="393575"/>
                      <a:pt x="292495" y="370409"/>
                      <a:pt x="296197" y="340616"/>
                    </a:cubicBezTo>
                    <a:cubicBezTo>
                      <a:pt x="329333" y="339363"/>
                      <a:pt x="355902" y="312018"/>
                      <a:pt x="355902" y="278583"/>
                    </a:cubicBezTo>
                    <a:cubicBezTo>
                      <a:pt x="355902" y="268851"/>
                      <a:pt x="353633" y="259418"/>
                      <a:pt x="349394" y="250880"/>
                    </a:cubicBezTo>
                    <a:cubicBezTo>
                      <a:pt x="368858" y="239417"/>
                      <a:pt x="381038" y="218520"/>
                      <a:pt x="381038" y="195474"/>
                    </a:cubicBezTo>
                    <a:lnTo>
                      <a:pt x="381038" y="195474"/>
                    </a:lnTo>
                    <a:close/>
                    <a:moveTo>
                      <a:pt x="144964" y="378529"/>
                    </a:moveTo>
                    <a:cubicBezTo>
                      <a:pt x="119828" y="378529"/>
                      <a:pt x="99409" y="358110"/>
                      <a:pt x="99409" y="332974"/>
                    </a:cubicBezTo>
                    <a:cubicBezTo>
                      <a:pt x="99409" y="307838"/>
                      <a:pt x="119828" y="287419"/>
                      <a:pt x="144964" y="287419"/>
                    </a:cubicBezTo>
                    <a:cubicBezTo>
                      <a:pt x="149084" y="287419"/>
                      <a:pt x="152427" y="284076"/>
                      <a:pt x="152427" y="279956"/>
                    </a:cubicBezTo>
                    <a:cubicBezTo>
                      <a:pt x="152427" y="275837"/>
                      <a:pt x="149084" y="272493"/>
                      <a:pt x="144964" y="272493"/>
                    </a:cubicBezTo>
                    <a:cubicBezTo>
                      <a:pt x="137919" y="272493"/>
                      <a:pt x="131172" y="273747"/>
                      <a:pt x="124843" y="276016"/>
                    </a:cubicBezTo>
                    <a:cubicBezTo>
                      <a:pt x="125978" y="267179"/>
                      <a:pt x="124963" y="258104"/>
                      <a:pt x="121500" y="249626"/>
                    </a:cubicBezTo>
                    <a:cubicBezTo>
                      <a:pt x="119948" y="245805"/>
                      <a:pt x="115589" y="243954"/>
                      <a:pt x="111768" y="245507"/>
                    </a:cubicBezTo>
                    <a:cubicBezTo>
                      <a:pt x="107947" y="247059"/>
                      <a:pt x="106096" y="251417"/>
                      <a:pt x="107648" y="255238"/>
                    </a:cubicBezTo>
                    <a:cubicBezTo>
                      <a:pt x="111828" y="265567"/>
                      <a:pt x="111231" y="277031"/>
                      <a:pt x="106096" y="286822"/>
                    </a:cubicBezTo>
                    <a:cubicBezTo>
                      <a:pt x="94752" y="296375"/>
                      <a:pt x="86990" y="310048"/>
                      <a:pt x="85020" y="325511"/>
                    </a:cubicBezTo>
                    <a:cubicBezTo>
                      <a:pt x="60063" y="324317"/>
                      <a:pt x="40122" y="303719"/>
                      <a:pt x="40122" y="278464"/>
                    </a:cubicBezTo>
                    <a:cubicBezTo>
                      <a:pt x="40122" y="268911"/>
                      <a:pt x="42928" y="259716"/>
                      <a:pt x="48361" y="251895"/>
                    </a:cubicBezTo>
                    <a:cubicBezTo>
                      <a:pt x="49615" y="250044"/>
                      <a:pt x="49973" y="247716"/>
                      <a:pt x="49376" y="245566"/>
                    </a:cubicBezTo>
                    <a:cubicBezTo>
                      <a:pt x="48779" y="243417"/>
                      <a:pt x="47167" y="241685"/>
                      <a:pt x="45137" y="240790"/>
                    </a:cubicBezTo>
                    <a:cubicBezTo>
                      <a:pt x="26867" y="233028"/>
                      <a:pt x="15046" y="215176"/>
                      <a:pt x="15046" y="195354"/>
                    </a:cubicBezTo>
                    <a:cubicBezTo>
                      <a:pt x="15046" y="168129"/>
                      <a:pt x="37196" y="146038"/>
                      <a:pt x="64362" y="146038"/>
                    </a:cubicBezTo>
                    <a:cubicBezTo>
                      <a:pt x="81677" y="146038"/>
                      <a:pt x="97379" y="154994"/>
                      <a:pt x="106335" y="169383"/>
                    </a:cubicBezTo>
                    <a:cubicBezTo>
                      <a:pt x="97319" y="174219"/>
                      <a:pt x="89259" y="180727"/>
                      <a:pt x="82692" y="189026"/>
                    </a:cubicBezTo>
                    <a:cubicBezTo>
                      <a:pt x="80124" y="192250"/>
                      <a:pt x="80662" y="196966"/>
                      <a:pt x="83886" y="199534"/>
                    </a:cubicBezTo>
                    <a:cubicBezTo>
                      <a:pt x="85259" y="200608"/>
                      <a:pt x="86871" y="201146"/>
                      <a:pt x="88543" y="201146"/>
                    </a:cubicBezTo>
                    <a:cubicBezTo>
                      <a:pt x="90752" y="201146"/>
                      <a:pt x="92901" y="200191"/>
                      <a:pt x="94394" y="198340"/>
                    </a:cubicBezTo>
                    <a:cubicBezTo>
                      <a:pt x="100543" y="190578"/>
                      <a:pt x="108484" y="184548"/>
                      <a:pt x="117261" y="180667"/>
                    </a:cubicBezTo>
                    <a:cubicBezTo>
                      <a:pt x="118037" y="180667"/>
                      <a:pt x="118873" y="180488"/>
                      <a:pt x="119649" y="180189"/>
                    </a:cubicBezTo>
                    <a:cubicBezTo>
                      <a:pt x="120246" y="179951"/>
                      <a:pt x="120664" y="179533"/>
                      <a:pt x="121142" y="179174"/>
                    </a:cubicBezTo>
                    <a:cubicBezTo>
                      <a:pt x="128605" y="176428"/>
                      <a:pt x="136605" y="175055"/>
                      <a:pt x="144725" y="175473"/>
                    </a:cubicBezTo>
                    <a:cubicBezTo>
                      <a:pt x="148785" y="175592"/>
                      <a:pt x="152308" y="172428"/>
                      <a:pt x="152487" y="168308"/>
                    </a:cubicBezTo>
                    <a:cubicBezTo>
                      <a:pt x="152666" y="164188"/>
                      <a:pt x="149442" y="160726"/>
                      <a:pt x="145322" y="160546"/>
                    </a:cubicBezTo>
                    <a:cubicBezTo>
                      <a:pt x="144188" y="160546"/>
                      <a:pt x="143053" y="160487"/>
                      <a:pt x="141919" y="160487"/>
                    </a:cubicBezTo>
                    <a:cubicBezTo>
                      <a:pt x="134456" y="160487"/>
                      <a:pt x="127172" y="161681"/>
                      <a:pt x="120246" y="163771"/>
                    </a:cubicBezTo>
                    <a:cubicBezTo>
                      <a:pt x="108902" y="143769"/>
                      <a:pt x="87767" y="131231"/>
                      <a:pt x="64362" y="131231"/>
                    </a:cubicBezTo>
                    <a:cubicBezTo>
                      <a:pt x="58929" y="131231"/>
                      <a:pt x="53675" y="132008"/>
                      <a:pt x="48600" y="133261"/>
                    </a:cubicBezTo>
                    <a:cubicBezTo>
                      <a:pt x="45137" y="126574"/>
                      <a:pt x="43227" y="119231"/>
                      <a:pt x="43227" y="111588"/>
                    </a:cubicBezTo>
                    <a:cubicBezTo>
                      <a:pt x="43227" y="85617"/>
                      <a:pt x="64362" y="64422"/>
                      <a:pt x="90394" y="64422"/>
                    </a:cubicBezTo>
                    <a:cubicBezTo>
                      <a:pt x="92364" y="64422"/>
                      <a:pt x="94394" y="64541"/>
                      <a:pt x="96364" y="64780"/>
                    </a:cubicBezTo>
                    <a:cubicBezTo>
                      <a:pt x="98334" y="65019"/>
                      <a:pt x="100424" y="64481"/>
                      <a:pt x="101976" y="63168"/>
                    </a:cubicBezTo>
                    <a:cubicBezTo>
                      <a:pt x="103529" y="61914"/>
                      <a:pt x="104544" y="60063"/>
                      <a:pt x="104723" y="58033"/>
                    </a:cubicBezTo>
                    <a:cubicBezTo>
                      <a:pt x="106872" y="33972"/>
                      <a:pt x="127470" y="15105"/>
                      <a:pt x="151711" y="15105"/>
                    </a:cubicBezTo>
                    <a:cubicBezTo>
                      <a:pt x="163473" y="15105"/>
                      <a:pt x="174578" y="19344"/>
                      <a:pt x="183235" y="27166"/>
                    </a:cubicBezTo>
                    <a:lnTo>
                      <a:pt x="183235" y="96423"/>
                    </a:lnTo>
                    <a:cubicBezTo>
                      <a:pt x="178041" y="98573"/>
                      <a:pt x="172488" y="99767"/>
                      <a:pt x="166816" y="99767"/>
                    </a:cubicBezTo>
                    <a:cubicBezTo>
                      <a:pt x="152129" y="99767"/>
                      <a:pt x="138695" y="92363"/>
                      <a:pt x="130874" y="79885"/>
                    </a:cubicBezTo>
                    <a:cubicBezTo>
                      <a:pt x="128665" y="76422"/>
                      <a:pt x="124067" y="75348"/>
                      <a:pt x="120604" y="77557"/>
                    </a:cubicBezTo>
                    <a:cubicBezTo>
                      <a:pt x="117141" y="79766"/>
                      <a:pt x="116067" y="84363"/>
                      <a:pt x="118276" y="87826"/>
                    </a:cubicBezTo>
                    <a:cubicBezTo>
                      <a:pt x="128844" y="104663"/>
                      <a:pt x="146994" y="114693"/>
                      <a:pt x="166816" y="114693"/>
                    </a:cubicBezTo>
                    <a:cubicBezTo>
                      <a:pt x="172369" y="114693"/>
                      <a:pt x="177921" y="113798"/>
                      <a:pt x="183235" y="112186"/>
                    </a:cubicBezTo>
                    <a:lnTo>
                      <a:pt x="183235" y="115469"/>
                    </a:lnTo>
                    <a:cubicBezTo>
                      <a:pt x="183235" y="115469"/>
                      <a:pt x="183116" y="115768"/>
                      <a:pt x="183116" y="115947"/>
                    </a:cubicBezTo>
                    <a:cubicBezTo>
                      <a:pt x="183116" y="116126"/>
                      <a:pt x="183175" y="116245"/>
                      <a:pt x="183235" y="116425"/>
                    </a:cubicBezTo>
                    <a:lnTo>
                      <a:pt x="183235" y="196369"/>
                    </a:lnTo>
                    <a:cubicBezTo>
                      <a:pt x="183235" y="196369"/>
                      <a:pt x="183116" y="196668"/>
                      <a:pt x="183116" y="196847"/>
                    </a:cubicBezTo>
                    <a:cubicBezTo>
                      <a:pt x="183116" y="197026"/>
                      <a:pt x="183175" y="197146"/>
                      <a:pt x="183235" y="197325"/>
                    </a:cubicBezTo>
                    <a:lnTo>
                      <a:pt x="183235" y="277270"/>
                    </a:lnTo>
                    <a:cubicBezTo>
                      <a:pt x="183235" y="277270"/>
                      <a:pt x="183116" y="277568"/>
                      <a:pt x="183116" y="277747"/>
                    </a:cubicBezTo>
                    <a:cubicBezTo>
                      <a:pt x="183116" y="277926"/>
                      <a:pt x="183175" y="278046"/>
                      <a:pt x="183235" y="278225"/>
                    </a:cubicBezTo>
                    <a:lnTo>
                      <a:pt x="183235" y="357931"/>
                    </a:lnTo>
                    <a:cubicBezTo>
                      <a:pt x="174876" y="370767"/>
                      <a:pt x="160428" y="378648"/>
                      <a:pt x="145024" y="378648"/>
                    </a:cubicBezTo>
                    <a:lnTo>
                      <a:pt x="145024" y="378648"/>
                    </a:lnTo>
                    <a:close/>
                    <a:moveTo>
                      <a:pt x="336080" y="240790"/>
                    </a:moveTo>
                    <a:cubicBezTo>
                      <a:pt x="333990" y="241685"/>
                      <a:pt x="332438" y="243417"/>
                      <a:pt x="331841" y="245566"/>
                    </a:cubicBezTo>
                    <a:cubicBezTo>
                      <a:pt x="331184" y="247716"/>
                      <a:pt x="331602" y="250044"/>
                      <a:pt x="332856" y="251895"/>
                    </a:cubicBezTo>
                    <a:cubicBezTo>
                      <a:pt x="338229" y="259716"/>
                      <a:pt x="341095" y="268911"/>
                      <a:pt x="341095" y="278464"/>
                    </a:cubicBezTo>
                    <a:cubicBezTo>
                      <a:pt x="341095" y="304435"/>
                      <a:pt x="319960" y="325631"/>
                      <a:pt x="293928" y="325631"/>
                    </a:cubicBezTo>
                    <a:cubicBezTo>
                      <a:pt x="292555" y="325631"/>
                      <a:pt x="291182" y="325571"/>
                      <a:pt x="289868" y="325451"/>
                    </a:cubicBezTo>
                    <a:cubicBezTo>
                      <a:pt x="287600" y="325213"/>
                      <a:pt x="285390" y="326168"/>
                      <a:pt x="283838" y="327840"/>
                    </a:cubicBezTo>
                    <a:cubicBezTo>
                      <a:pt x="282525" y="329273"/>
                      <a:pt x="281808" y="331183"/>
                      <a:pt x="281808" y="333094"/>
                    </a:cubicBezTo>
                    <a:cubicBezTo>
                      <a:pt x="281808" y="358170"/>
                      <a:pt x="261329" y="378529"/>
                      <a:pt x="236253" y="378529"/>
                    </a:cubicBezTo>
                    <a:cubicBezTo>
                      <a:pt x="220909" y="378529"/>
                      <a:pt x="206460" y="370648"/>
                      <a:pt x="198042" y="357811"/>
                    </a:cubicBezTo>
                    <a:lnTo>
                      <a:pt x="198042" y="285091"/>
                    </a:lnTo>
                    <a:lnTo>
                      <a:pt x="229984" y="285091"/>
                    </a:lnTo>
                    <a:cubicBezTo>
                      <a:pt x="233268" y="296853"/>
                      <a:pt x="243955" y="305510"/>
                      <a:pt x="256732" y="305510"/>
                    </a:cubicBezTo>
                    <a:cubicBezTo>
                      <a:pt x="272136" y="305510"/>
                      <a:pt x="284614" y="292972"/>
                      <a:pt x="284614" y="277628"/>
                    </a:cubicBezTo>
                    <a:cubicBezTo>
                      <a:pt x="284614" y="262284"/>
                      <a:pt x="272076" y="249746"/>
                      <a:pt x="256732" y="249746"/>
                    </a:cubicBezTo>
                    <a:cubicBezTo>
                      <a:pt x="243955" y="249746"/>
                      <a:pt x="233268" y="258462"/>
                      <a:pt x="229984" y="270165"/>
                    </a:cubicBezTo>
                    <a:lnTo>
                      <a:pt x="198042" y="270165"/>
                    </a:lnTo>
                    <a:lnTo>
                      <a:pt x="198042" y="204191"/>
                    </a:lnTo>
                    <a:lnTo>
                      <a:pt x="275778" y="204191"/>
                    </a:lnTo>
                    <a:cubicBezTo>
                      <a:pt x="279062" y="215953"/>
                      <a:pt x="289749" y="224610"/>
                      <a:pt x="302526" y="224610"/>
                    </a:cubicBezTo>
                    <a:cubicBezTo>
                      <a:pt x="317930" y="224610"/>
                      <a:pt x="330408" y="212072"/>
                      <a:pt x="330408" y="196728"/>
                    </a:cubicBezTo>
                    <a:cubicBezTo>
                      <a:pt x="330408" y="181383"/>
                      <a:pt x="317870" y="168845"/>
                      <a:pt x="302526" y="168845"/>
                    </a:cubicBezTo>
                    <a:cubicBezTo>
                      <a:pt x="289749" y="168845"/>
                      <a:pt x="279062" y="177562"/>
                      <a:pt x="275778" y="189265"/>
                    </a:cubicBezTo>
                    <a:lnTo>
                      <a:pt x="198042" y="189265"/>
                    </a:lnTo>
                    <a:lnTo>
                      <a:pt x="198042" y="123291"/>
                    </a:lnTo>
                    <a:lnTo>
                      <a:pt x="229984" y="123291"/>
                    </a:lnTo>
                    <a:cubicBezTo>
                      <a:pt x="233268" y="135052"/>
                      <a:pt x="243955" y="143710"/>
                      <a:pt x="256732" y="143710"/>
                    </a:cubicBezTo>
                    <a:cubicBezTo>
                      <a:pt x="272136" y="143710"/>
                      <a:pt x="284614" y="131172"/>
                      <a:pt x="284614" y="115828"/>
                    </a:cubicBezTo>
                    <a:cubicBezTo>
                      <a:pt x="284614" y="100483"/>
                      <a:pt x="272076" y="87945"/>
                      <a:pt x="256732" y="87945"/>
                    </a:cubicBezTo>
                    <a:cubicBezTo>
                      <a:pt x="243955" y="87945"/>
                      <a:pt x="233268" y="96662"/>
                      <a:pt x="229984" y="108364"/>
                    </a:cubicBezTo>
                    <a:lnTo>
                      <a:pt x="198042" y="108364"/>
                    </a:lnTo>
                    <a:lnTo>
                      <a:pt x="198042" y="26987"/>
                    </a:lnTo>
                    <a:cubicBezTo>
                      <a:pt x="206699" y="19165"/>
                      <a:pt x="217804" y="14926"/>
                      <a:pt x="229566" y="14926"/>
                    </a:cubicBezTo>
                    <a:cubicBezTo>
                      <a:pt x="253747" y="14926"/>
                      <a:pt x="274405" y="33793"/>
                      <a:pt x="276554" y="57854"/>
                    </a:cubicBezTo>
                    <a:cubicBezTo>
                      <a:pt x="276733" y="59884"/>
                      <a:pt x="277748" y="61735"/>
                      <a:pt x="279301" y="62989"/>
                    </a:cubicBezTo>
                    <a:cubicBezTo>
                      <a:pt x="280853" y="64242"/>
                      <a:pt x="282943" y="64840"/>
                      <a:pt x="284913" y="64601"/>
                    </a:cubicBezTo>
                    <a:cubicBezTo>
                      <a:pt x="286883" y="64362"/>
                      <a:pt x="288913" y="64242"/>
                      <a:pt x="290883" y="64242"/>
                    </a:cubicBezTo>
                    <a:cubicBezTo>
                      <a:pt x="316855" y="64242"/>
                      <a:pt x="338050" y="85378"/>
                      <a:pt x="338050" y="111409"/>
                    </a:cubicBezTo>
                    <a:cubicBezTo>
                      <a:pt x="338050" y="120843"/>
                      <a:pt x="335244" y="129978"/>
                      <a:pt x="329990" y="137739"/>
                    </a:cubicBezTo>
                    <a:cubicBezTo>
                      <a:pt x="328677" y="139650"/>
                      <a:pt x="328378" y="142038"/>
                      <a:pt x="329095" y="144247"/>
                    </a:cubicBezTo>
                    <a:cubicBezTo>
                      <a:pt x="329811" y="146456"/>
                      <a:pt x="331483" y="148188"/>
                      <a:pt x="333632" y="148964"/>
                    </a:cubicBezTo>
                    <a:cubicBezTo>
                      <a:pt x="353156" y="156009"/>
                      <a:pt x="366231" y="174637"/>
                      <a:pt x="366231" y="195414"/>
                    </a:cubicBezTo>
                    <a:cubicBezTo>
                      <a:pt x="366231" y="216191"/>
                      <a:pt x="354410" y="233148"/>
                      <a:pt x="336140" y="240850"/>
                    </a:cubicBezTo>
                    <a:lnTo>
                      <a:pt x="336140" y="240850"/>
                    </a:lnTo>
                    <a:close/>
                    <a:moveTo>
                      <a:pt x="243776" y="277628"/>
                    </a:moveTo>
                    <a:cubicBezTo>
                      <a:pt x="243776" y="270463"/>
                      <a:pt x="249567" y="264672"/>
                      <a:pt x="256732" y="264672"/>
                    </a:cubicBezTo>
                    <a:cubicBezTo>
                      <a:pt x="263897" y="264672"/>
                      <a:pt x="269688" y="270463"/>
                      <a:pt x="269688" y="277628"/>
                    </a:cubicBezTo>
                    <a:cubicBezTo>
                      <a:pt x="269688" y="284792"/>
                      <a:pt x="263897" y="290584"/>
                      <a:pt x="256732" y="290584"/>
                    </a:cubicBezTo>
                    <a:cubicBezTo>
                      <a:pt x="249567" y="290584"/>
                      <a:pt x="243776" y="284792"/>
                      <a:pt x="243776" y="277628"/>
                    </a:cubicBezTo>
                    <a:close/>
                    <a:moveTo>
                      <a:pt x="289570" y="196728"/>
                    </a:moveTo>
                    <a:cubicBezTo>
                      <a:pt x="289570" y="189563"/>
                      <a:pt x="295361" y="183772"/>
                      <a:pt x="302526" y="183772"/>
                    </a:cubicBezTo>
                    <a:cubicBezTo>
                      <a:pt x="309690" y="183772"/>
                      <a:pt x="315482" y="189563"/>
                      <a:pt x="315482" y="196728"/>
                    </a:cubicBezTo>
                    <a:cubicBezTo>
                      <a:pt x="315482" y="203892"/>
                      <a:pt x="309690" y="209684"/>
                      <a:pt x="302526" y="209684"/>
                    </a:cubicBezTo>
                    <a:cubicBezTo>
                      <a:pt x="295361" y="209684"/>
                      <a:pt x="289570" y="203892"/>
                      <a:pt x="289570" y="196728"/>
                    </a:cubicBezTo>
                    <a:close/>
                    <a:moveTo>
                      <a:pt x="243776" y="115828"/>
                    </a:moveTo>
                    <a:cubicBezTo>
                      <a:pt x="243776" y="108663"/>
                      <a:pt x="249567" y="102872"/>
                      <a:pt x="256732" y="102872"/>
                    </a:cubicBezTo>
                    <a:cubicBezTo>
                      <a:pt x="263897" y="102872"/>
                      <a:pt x="269688" y="108663"/>
                      <a:pt x="269688" y="115828"/>
                    </a:cubicBezTo>
                    <a:cubicBezTo>
                      <a:pt x="269688" y="122992"/>
                      <a:pt x="263897" y="128783"/>
                      <a:pt x="256732" y="128783"/>
                    </a:cubicBezTo>
                    <a:cubicBezTo>
                      <a:pt x="249567" y="128783"/>
                      <a:pt x="243776" y="122992"/>
                      <a:pt x="243776" y="115828"/>
                    </a:cubicBezTo>
                    <a:close/>
                  </a:path>
                </a:pathLst>
              </a:custGeom>
              <a:solidFill>
                <a:schemeClr val="accent3"/>
              </a:solidFill>
              <a:ln>
                <a:noFill/>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sp>
            <p:nvSpPr>
              <p:cNvPr id="6078" name="Google Shape;6078;p310"/>
              <p:cNvSpPr/>
              <p:nvPr/>
            </p:nvSpPr>
            <p:spPr>
              <a:xfrm>
                <a:off x="3168670" y="1952729"/>
                <a:ext cx="561765" cy="561763"/>
              </a:xfrm>
              <a:custGeom>
                <a:avLst/>
                <a:gdLst/>
                <a:ahLst/>
                <a:cxnLst/>
                <a:rect l="l" t="t" r="r" b="b"/>
                <a:pathLst>
                  <a:path w="561765" h="561763" extrusionOk="0">
                    <a:moveTo>
                      <a:pt x="554243" y="561763"/>
                    </a:moveTo>
                    <a:lnTo>
                      <a:pt x="466416" y="561763"/>
                    </a:lnTo>
                    <a:cubicBezTo>
                      <a:pt x="462297" y="561763"/>
                      <a:pt x="458953" y="558420"/>
                      <a:pt x="458953" y="554300"/>
                    </a:cubicBezTo>
                    <a:cubicBezTo>
                      <a:pt x="458953" y="550181"/>
                      <a:pt x="462297" y="546837"/>
                      <a:pt x="466416" y="546837"/>
                    </a:cubicBezTo>
                    <a:lnTo>
                      <a:pt x="536212" y="546837"/>
                    </a:lnTo>
                    <a:lnTo>
                      <a:pt x="445281" y="455907"/>
                    </a:lnTo>
                    <a:cubicBezTo>
                      <a:pt x="442355" y="452981"/>
                      <a:pt x="442355" y="448264"/>
                      <a:pt x="445281" y="445339"/>
                    </a:cubicBezTo>
                    <a:cubicBezTo>
                      <a:pt x="448206" y="442413"/>
                      <a:pt x="452923" y="442413"/>
                      <a:pt x="455848" y="445339"/>
                    </a:cubicBezTo>
                    <a:lnTo>
                      <a:pt x="546779" y="536269"/>
                    </a:lnTo>
                    <a:lnTo>
                      <a:pt x="546779" y="466474"/>
                    </a:lnTo>
                    <a:cubicBezTo>
                      <a:pt x="546779" y="462355"/>
                      <a:pt x="550123" y="459011"/>
                      <a:pt x="554243" y="459011"/>
                    </a:cubicBezTo>
                    <a:cubicBezTo>
                      <a:pt x="558362" y="459011"/>
                      <a:pt x="561706" y="462355"/>
                      <a:pt x="561706" y="466474"/>
                    </a:cubicBezTo>
                    <a:lnTo>
                      <a:pt x="561706" y="554300"/>
                    </a:lnTo>
                    <a:cubicBezTo>
                      <a:pt x="561706" y="555315"/>
                      <a:pt x="561467" y="556271"/>
                      <a:pt x="561109" y="557166"/>
                    </a:cubicBezTo>
                    <a:cubicBezTo>
                      <a:pt x="560750" y="558062"/>
                      <a:pt x="560213" y="558838"/>
                      <a:pt x="559497" y="559554"/>
                    </a:cubicBezTo>
                    <a:cubicBezTo>
                      <a:pt x="558780" y="560271"/>
                      <a:pt x="558004" y="560808"/>
                      <a:pt x="557108" y="561166"/>
                    </a:cubicBezTo>
                    <a:cubicBezTo>
                      <a:pt x="556213" y="561525"/>
                      <a:pt x="555258" y="561763"/>
                      <a:pt x="554243" y="561763"/>
                    </a:cubicBezTo>
                    <a:lnTo>
                      <a:pt x="554243" y="561763"/>
                    </a:lnTo>
                    <a:close/>
                    <a:moveTo>
                      <a:pt x="95289" y="561763"/>
                    </a:moveTo>
                    <a:lnTo>
                      <a:pt x="7463" y="561763"/>
                    </a:lnTo>
                    <a:cubicBezTo>
                      <a:pt x="6448" y="561763"/>
                      <a:pt x="5433" y="561525"/>
                      <a:pt x="4597" y="561166"/>
                    </a:cubicBezTo>
                    <a:cubicBezTo>
                      <a:pt x="3702" y="560808"/>
                      <a:pt x="2926" y="560271"/>
                      <a:pt x="2209" y="559554"/>
                    </a:cubicBezTo>
                    <a:cubicBezTo>
                      <a:pt x="1493" y="558838"/>
                      <a:pt x="955" y="558062"/>
                      <a:pt x="597" y="557166"/>
                    </a:cubicBezTo>
                    <a:cubicBezTo>
                      <a:pt x="239" y="556271"/>
                      <a:pt x="0" y="555315"/>
                      <a:pt x="0" y="554300"/>
                    </a:cubicBezTo>
                    <a:lnTo>
                      <a:pt x="0" y="466474"/>
                    </a:lnTo>
                    <a:cubicBezTo>
                      <a:pt x="0" y="462355"/>
                      <a:pt x="3343" y="459011"/>
                      <a:pt x="7463" y="459011"/>
                    </a:cubicBezTo>
                    <a:cubicBezTo>
                      <a:pt x="11583" y="459011"/>
                      <a:pt x="14926" y="462355"/>
                      <a:pt x="14926" y="466474"/>
                    </a:cubicBezTo>
                    <a:lnTo>
                      <a:pt x="14926" y="536269"/>
                    </a:lnTo>
                    <a:lnTo>
                      <a:pt x="105857" y="445339"/>
                    </a:lnTo>
                    <a:cubicBezTo>
                      <a:pt x="108783" y="442413"/>
                      <a:pt x="113499" y="442413"/>
                      <a:pt x="116425" y="445339"/>
                    </a:cubicBezTo>
                    <a:cubicBezTo>
                      <a:pt x="119351" y="448264"/>
                      <a:pt x="119351" y="452981"/>
                      <a:pt x="116425" y="455907"/>
                    </a:cubicBezTo>
                    <a:lnTo>
                      <a:pt x="25494" y="546837"/>
                    </a:lnTo>
                    <a:lnTo>
                      <a:pt x="95289" y="546837"/>
                    </a:lnTo>
                    <a:cubicBezTo>
                      <a:pt x="99409" y="546837"/>
                      <a:pt x="102752" y="550181"/>
                      <a:pt x="102752" y="554300"/>
                    </a:cubicBezTo>
                    <a:cubicBezTo>
                      <a:pt x="102752" y="558420"/>
                      <a:pt x="99409" y="561763"/>
                      <a:pt x="95289" y="561763"/>
                    </a:cubicBezTo>
                    <a:lnTo>
                      <a:pt x="95289" y="561763"/>
                    </a:lnTo>
                    <a:close/>
                    <a:moveTo>
                      <a:pt x="450594" y="118634"/>
                    </a:moveTo>
                    <a:cubicBezTo>
                      <a:pt x="448684" y="118634"/>
                      <a:pt x="446773" y="117917"/>
                      <a:pt x="445340" y="116425"/>
                    </a:cubicBezTo>
                    <a:cubicBezTo>
                      <a:pt x="442415" y="113499"/>
                      <a:pt x="442415" y="108782"/>
                      <a:pt x="445340" y="105857"/>
                    </a:cubicBezTo>
                    <a:lnTo>
                      <a:pt x="536271" y="14926"/>
                    </a:lnTo>
                    <a:lnTo>
                      <a:pt x="466476" y="14926"/>
                    </a:lnTo>
                    <a:cubicBezTo>
                      <a:pt x="462356" y="14926"/>
                      <a:pt x="459013" y="11583"/>
                      <a:pt x="459013" y="7463"/>
                    </a:cubicBezTo>
                    <a:cubicBezTo>
                      <a:pt x="459013" y="3343"/>
                      <a:pt x="462356" y="0"/>
                      <a:pt x="466476" y="0"/>
                    </a:cubicBezTo>
                    <a:lnTo>
                      <a:pt x="554302" y="0"/>
                    </a:lnTo>
                    <a:cubicBezTo>
                      <a:pt x="555317" y="0"/>
                      <a:pt x="556272" y="179"/>
                      <a:pt x="557168" y="597"/>
                    </a:cubicBezTo>
                    <a:cubicBezTo>
                      <a:pt x="558064" y="955"/>
                      <a:pt x="558840" y="1493"/>
                      <a:pt x="559556" y="2209"/>
                    </a:cubicBezTo>
                    <a:cubicBezTo>
                      <a:pt x="560273" y="2926"/>
                      <a:pt x="560810" y="3702"/>
                      <a:pt x="561168" y="4597"/>
                    </a:cubicBezTo>
                    <a:cubicBezTo>
                      <a:pt x="561527" y="5493"/>
                      <a:pt x="561765" y="6448"/>
                      <a:pt x="561765" y="7463"/>
                    </a:cubicBezTo>
                    <a:lnTo>
                      <a:pt x="561765" y="95289"/>
                    </a:lnTo>
                    <a:cubicBezTo>
                      <a:pt x="561765" y="99409"/>
                      <a:pt x="558422" y="102752"/>
                      <a:pt x="554302" y="102752"/>
                    </a:cubicBezTo>
                    <a:cubicBezTo>
                      <a:pt x="550183" y="102752"/>
                      <a:pt x="546839" y="99409"/>
                      <a:pt x="546839" y="95289"/>
                    </a:cubicBezTo>
                    <a:lnTo>
                      <a:pt x="546839" y="25554"/>
                    </a:lnTo>
                    <a:lnTo>
                      <a:pt x="455908" y="116484"/>
                    </a:lnTo>
                    <a:cubicBezTo>
                      <a:pt x="454475" y="117917"/>
                      <a:pt x="452565" y="118693"/>
                      <a:pt x="450654" y="118693"/>
                    </a:cubicBezTo>
                    <a:lnTo>
                      <a:pt x="450654" y="118693"/>
                    </a:lnTo>
                    <a:close/>
                    <a:moveTo>
                      <a:pt x="111111" y="118634"/>
                    </a:moveTo>
                    <a:cubicBezTo>
                      <a:pt x="109201" y="118634"/>
                      <a:pt x="107290" y="117917"/>
                      <a:pt x="105857" y="116425"/>
                    </a:cubicBezTo>
                    <a:lnTo>
                      <a:pt x="14926" y="25554"/>
                    </a:lnTo>
                    <a:lnTo>
                      <a:pt x="14926" y="95349"/>
                    </a:lnTo>
                    <a:cubicBezTo>
                      <a:pt x="14926" y="99468"/>
                      <a:pt x="11583" y="102812"/>
                      <a:pt x="7463" y="102812"/>
                    </a:cubicBezTo>
                    <a:cubicBezTo>
                      <a:pt x="3343" y="102812"/>
                      <a:pt x="0" y="99468"/>
                      <a:pt x="0" y="95349"/>
                    </a:cubicBezTo>
                    <a:lnTo>
                      <a:pt x="0" y="7523"/>
                    </a:lnTo>
                    <a:cubicBezTo>
                      <a:pt x="0" y="6508"/>
                      <a:pt x="179" y="5493"/>
                      <a:pt x="597" y="4657"/>
                    </a:cubicBezTo>
                    <a:cubicBezTo>
                      <a:pt x="955" y="3761"/>
                      <a:pt x="1493" y="2985"/>
                      <a:pt x="2209" y="2269"/>
                    </a:cubicBezTo>
                    <a:cubicBezTo>
                      <a:pt x="2926" y="1552"/>
                      <a:pt x="3702" y="1015"/>
                      <a:pt x="4597" y="657"/>
                    </a:cubicBezTo>
                    <a:cubicBezTo>
                      <a:pt x="5433" y="299"/>
                      <a:pt x="6448" y="60"/>
                      <a:pt x="7463" y="60"/>
                    </a:cubicBezTo>
                    <a:lnTo>
                      <a:pt x="95289" y="60"/>
                    </a:lnTo>
                    <a:cubicBezTo>
                      <a:pt x="99409" y="60"/>
                      <a:pt x="102752" y="3403"/>
                      <a:pt x="102752" y="7523"/>
                    </a:cubicBezTo>
                    <a:cubicBezTo>
                      <a:pt x="102752" y="11642"/>
                      <a:pt x="99409" y="14986"/>
                      <a:pt x="95289" y="14986"/>
                    </a:cubicBezTo>
                    <a:lnTo>
                      <a:pt x="25494" y="14986"/>
                    </a:lnTo>
                    <a:lnTo>
                      <a:pt x="116425" y="105916"/>
                    </a:lnTo>
                    <a:cubicBezTo>
                      <a:pt x="119351" y="108842"/>
                      <a:pt x="119351" y="113559"/>
                      <a:pt x="116425" y="116484"/>
                    </a:cubicBezTo>
                    <a:cubicBezTo>
                      <a:pt x="114992" y="117917"/>
                      <a:pt x="113081" y="118693"/>
                      <a:pt x="111171" y="118693"/>
                    </a:cubicBezTo>
                    <a:lnTo>
                      <a:pt x="111171" y="118693"/>
                    </a:lnTo>
                    <a:close/>
                  </a:path>
                </a:pathLst>
              </a:custGeom>
              <a:solidFill>
                <a:schemeClr val="accent3"/>
              </a:solidFill>
              <a:ln>
                <a:noFill/>
              </a:ln>
            </p:spPr>
            <p:txBody>
              <a:bodyPr spcFirstLastPara="1" wrap="square" lIns="91410" tIns="45688" rIns="91410" bIns="45688" anchor="ctr" anchorCtr="0">
                <a:noAutofit/>
              </a:bodyPr>
              <a:lstStyle/>
              <a:p>
                <a:pPr defTabSz="1218895">
                  <a:buSzPts val="1300"/>
                </a:pPr>
                <a:endParaRPr sz="1733">
                  <a:solidFill>
                    <a:srgbClr val="000001"/>
                  </a:solidFill>
                </a:endParaRPr>
              </a:p>
            </p:txBody>
          </p:sp>
        </p:grpSp>
        <p:sp>
          <p:nvSpPr>
            <p:cNvPr id="6079" name="Google Shape;6079;p310"/>
            <p:cNvSpPr/>
            <p:nvPr/>
          </p:nvSpPr>
          <p:spPr>
            <a:xfrm>
              <a:off x="567317" y="4946340"/>
              <a:ext cx="914400" cy="914400"/>
            </a:xfrm>
            <a:prstGeom prst="ellipse">
              <a:avLst/>
            </a:prstGeom>
            <a:noFill/>
            <a:ln w="19050" cap="flat" cmpd="sng">
              <a:solidFill>
                <a:schemeClr val="accent3"/>
              </a:solidFill>
              <a:prstDash val="solid"/>
              <a:round/>
              <a:headEnd type="none" w="sm" len="sm"/>
              <a:tailEnd type="none" w="sm" len="sm"/>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grpSp>
      <p:grpSp>
        <p:nvGrpSpPr>
          <p:cNvPr id="6080" name="Google Shape;6080;p310"/>
          <p:cNvGrpSpPr/>
          <p:nvPr/>
        </p:nvGrpSpPr>
        <p:grpSpPr>
          <a:xfrm>
            <a:off x="5500134" y="2261226"/>
            <a:ext cx="6688558" cy="2932671"/>
            <a:chOff x="5681234" y="2174907"/>
            <a:chExt cx="6690300" cy="2934217"/>
          </a:xfrm>
        </p:grpSpPr>
        <p:sp>
          <p:nvSpPr>
            <p:cNvPr id="6081" name="Google Shape;6081;p310"/>
            <p:cNvSpPr txBox="1"/>
            <p:nvPr/>
          </p:nvSpPr>
          <p:spPr>
            <a:xfrm>
              <a:off x="5681234" y="3079327"/>
              <a:ext cx="6690300" cy="708066"/>
            </a:xfrm>
            <a:prstGeom prst="rect">
              <a:avLst/>
            </a:prstGeom>
            <a:noFill/>
            <a:ln>
              <a:noFill/>
            </a:ln>
          </p:spPr>
          <p:txBody>
            <a:bodyPr spcFirstLastPara="1" wrap="square" lIns="91410" tIns="45688" rIns="91410" bIns="45688" anchor="t" anchorCtr="0">
              <a:spAutoFit/>
            </a:bodyPr>
            <a:lstStyle/>
            <a:p>
              <a:pPr algn="ctr" defTabSz="1218895">
                <a:buClr>
                  <a:srgbClr val="005C8A"/>
                </a:buClr>
                <a:buSzPts val="3000"/>
              </a:pPr>
              <a:r>
                <a:rPr lang="en" sz="3999">
                  <a:solidFill>
                    <a:srgbClr val="005C8A"/>
                  </a:solidFill>
                </a:rPr>
                <a:t>VCF Private AI Services</a:t>
              </a:r>
              <a:endParaRPr sz="1466"/>
            </a:p>
          </p:txBody>
        </p:sp>
        <p:sp>
          <p:nvSpPr>
            <p:cNvPr id="6082" name="Google Shape;6082;p310"/>
            <p:cNvSpPr txBox="1"/>
            <p:nvPr/>
          </p:nvSpPr>
          <p:spPr>
            <a:xfrm>
              <a:off x="5903401" y="4031595"/>
              <a:ext cx="5897400" cy="1077529"/>
            </a:xfrm>
            <a:prstGeom prst="rect">
              <a:avLst/>
            </a:prstGeom>
            <a:noFill/>
            <a:ln>
              <a:noFill/>
            </a:ln>
          </p:spPr>
          <p:txBody>
            <a:bodyPr spcFirstLastPara="1" wrap="square" lIns="91410" tIns="45688" rIns="91410" bIns="45688" anchor="t" anchorCtr="0">
              <a:spAutoFit/>
            </a:bodyPr>
            <a:lstStyle/>
            <a:p>
              <a:pPr algn="ctr" defTabSz="1218895">
                <a:buClr>
                  <a:srgbClr val="3F3F3F"/>
                </a:buClr>
                <a:buSzPts val="1600"/>
              </a:pPr>
              <a:r>
                <a:rPr lang="en" sz="2133">
                  <a:solidFill>
                    <a:srgbClr val="3F3F3F"/>
                  </a:solidFill>
                </a:rPr>
                <a:t>An architectural approach that balances the business gains from AI with the privacy and compliance needs of the organization.</a:t>
              </a:r>
              <a:endParaRPr sz="1466"/>
            </a:p>
          </p:txBody>
        </p:sp>
        <p:sp>
          <p:nvSpPr>
            <p:cNvPr id="6083" name="Google Shape;6083;p310"/>
            <p:cNvSpPr/>
            <p:nvPr/>
          </p:nvSpPr>
          <p:spPr>
            <a:xfrm rot="10800000" flipH="1">
              <a:off x="8836614" y="2174907"/>
              <a:ext cx="55111" cy="76633"/>
            </a:xfrm>
            <a:custGeom>
              <a:avLst/>
              <a:gdLst/>
              <a:ahLst/>
              <a:cxnLst/>
              <a:rect l="l" t="t" r="r" b="b"/>
              <a:pathLst>
                <a:path w="48132" h="66928" extrusionOk="0">
                  <a:moveTo>
                    <a:pt x="109" y="43520"/>
                  </a:moveTo>
                  <a:cubicBezTo>
                    <a:pt x="109" y="36408"/>
                    <a:pt x="3411" y="29804"/>
                    <a:pt x="8999" y="25359"/>
                  </a:cubicBezTo>
                  <a:lnTo>
                    <a:pt x="8999" y="11008"/>
                  </a:lnTo>
                  <a:cubicBezTo>
                    <a:pt x="8999" y="4912"/>
                    <a:pt x="13952" y="86"/>
                    <a:pt x="20048" y="86"/>
                  </a:cubicBezTo>
                  <a:lnTo>
                    <a:pt x="28303" y="86"/>
                  </a:lnTo>
                  <a:cubicBezTo>
                    <a:pt x="34399" y="86"/>
                    <a:pt x="39352" y="4912"/>
                    <a:pt x="39352" y="11008"/>
                  </a:cubicBezTo>
                  <a:lnTo>
                    <a:pt x="39352" y="25359"/>
                  </a:lnTo>
                  <a:cubicBezTo>
                    <a:pt x="44940" y="29804"/>
                    <a:pt x="48242" y="36408"/>
                    <a:pt x="48242" y="43520"/>
                  </a:cubicBezTo>
                  <a:cubicBezTo>
                    <a:pt x="48242" y="56474"/>
                    <a:pt x="37447" y="67015"/>
                    <a:pt x="24112" y="67015"/>
                  </a:cubicBezTo>
                  <a:cubicBezTo>
                    <a:pt x="10904" y="67015"/>
                    <a:pt x="109" y="56474"/>
                    <a:pt x="109" y="43520"/>
                  </a:cubicBezTo>
                </a:path>
              </a:pathLst>
            </a:custGeom>
            <a:gradFill>
              <a:gsLst>
                <a:gs pos="0">
                  <a:schemeClr val="accent2"/>
                </a:gs>
                <a:gs pos="7000">
                  <a:schemeClr val="accent2"/>
                </a:gs>
                <a:gs pos="83000">
                  <a:schemeClr val="accent5"/>
                </a:gs>
                <a:gs pos="100000">
                  <a:schemeClr val="accent5"/>
                </a:gs>
              </a:gsLst>
              <a:lin ang="18900044" scaled="0"/>
            </a:gradFill>
            <a:ln>
              <a:noFill/>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grpSp>
      <p:pic>
        <p:nvPicPr>
          <p:cNvPr id="6084" name="Google Shape;6084;p310"/>
          <p:cNvPicPr preferRelativeResize="0"/>
          <p:nvPr/>
        </p:nvPicPr>
        <p:blipFill rotWithShape="1">
          <a:blip r:embed="rId4">
            <a:alphaModFix/>
          </a:blip>
          <a:srcRect/>
          <a:stretch/>
        </p:blipFill>
        <p:spPr>
          <a:xfrm>
            <a:off x="8120686" y="1600667"/>
            <a:ext cx="1447423" cy="1447423"/>
          </a:xfrm>
          <a:prstGeom prst="rect">
            <a:avLst/>
          </a:prstGeom>
          <a:noFill/>
          <a:ln>
            <a:noFill/>
          </a:ln>
        </p:spPr>
      </p:pic>
      <p:sp>
        <p:nvSpPr>
          <p:cNvPr id="6085" name="Google Shape;6085;p310"/>
          <p:cNvSpPr txBox="1"/>
          <p:nvPr/>
        </p:nvSpPr>
        <p:spPr>
          <a:xfrm>
            <a:off x="7431429" y="5983777"/>
            <a:ext cx="4418849" cy="247935"/>
          </a:xfrm>
          <a:prstGeom prst="rect">
            <a:avLst/>
          </a:prstGeom>
          <a:noFill/>
          <a:ln>
            <a:noFill/>
          </a:ln>
        </p:spPr>
        <p:txBody>
          <a:bodyPr spcFirstLastPara="1" wrap="square" lIns="91410" tIns="45688" rIns="91410" bIns="45688" anchor="ctr" anchorCtr="0">
            <a:noAutofit/>
          </a:bodyPr>
          <a:lstStyle/>
          <a:p>
            <a:pPr defTabSz="1218895">
              <a:buClr>
                <a:srgbClr val="666666"/>
              </a:buClr>
              <a:buSzPts val="500"/>
            </a:pPr>
            <a:r>
              <a:rPr lang="en" sz="800">
                <a:solidFill>
                  <a:srgbClr val="797979"/>
                </a:solidFill>
                <a:highlight>
                  <a:srgbClr val="FFFFFF"/>
                </a:highlight>
              </a:rPr>
              <a:t>VMware </a:t>
            </a:r>
            <a:r>
              <a:rPr lang="en" sz="800">
                <a:solidFill>
                  <a:srgbClr val="565656"/>
                </a:solidFill>
                <a:highlight>
                  <a:srgbClr val="FFFFFF"/>
                </a:highlight>
              </a:rPr>
              <a:t>Private AI Foundation is a licensed Add-on to VMware Cloud Foundation </a:t>
            </a:r>
            <a:endParaRPr sz="800">
              <a:solidFill>
                <a:srgbClr val="797979"/>
              </a:solidFil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080"/>
                                        </p:tgtEl>
                                        <p:attrNameLst>
                                          <p:attrName>style.visibility</p:attrName>
                                        </p:attrNameLst>
                                      </p:cBhvr>
                                      <p:to>
                                        <p:strVal val="visible"/>
                                      </p:to>
                                    </p:set>
                                    <p:animEffect transition="in" filter="fade">
                                      <p:cBhvr>
                                        <p:cTn id="7" dur="1000"/>
                                        <p:tgtEl>
                                          <p:spTgt spid="608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037"/>
                                        </p:tgtEl>
                                        <p:attrNameLst>
                                          <p:attrName>style.visibility</p:attrName>
                                        </p:attrNameLst>
                                      </p:cBhvr>
                                      <p:to>
                                        <p:strVal val="visible"/>
                                      </p:to>
                                    </p:set>
                                    <p:animEffect transition="in" filter="fade">
                                      <p:cBhvr>
                                        <p:cTn id="11" dur="1000"/>
                                        <p:tgtEl>
                                          <p:spTgt spid="6037"/>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6045"/>
                                        </p:tgtEl>
                                        <p:attrNameLst>
                                          <p:attrName>style.visibility</p:attrName>
                                        </p:attrNameLst>
                                      </p:cBhvr>
                                      <p:to>
                                        <p:strVal val="visible"/>
                                      </p:to>
                                    </p:set>
                                    <p:animEffect transition="in" filter="fade">
                                      <p:cBhvr>
                                        <p:cTn id="15" dur="1000"/>
                                        <p:tgtEl>
                                          <p:spTgt spid="6045"/>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6049"/>
                                        </p:tgtEl>
                                        <p:attrNameLst>
                                          <p:attrName>style.visibility</p:attrName>
                                        </p:attrNameLst>
                                      </p:cBhvr>
                                      <p:to>
                                        <p:strVal val="visible"/>
                                      </p:to>
                                    </p:set>
                                    <p:animEffect transition="in" filter="fade">
                                      <p:cBhvr>
                                        <p:cTn id="19" dur="1000"/>
                                        <p:tgtEl>
                                          <p:spTgt spid="6049"/>
                                        </p:tgtEl>
                                      </p:cBhvr>
                                    </p:animEffect>
                                  </p:childTnLst>
                                </p:cTn>
                              </p:par>
                            </p:childTnLst>
                          </p:cTn>
                        </p:par>
                        <p:par>
                          <p:cTn id="20" fill="hold">
                            <p:stCondLst>
                              <p:cond delay="4000"/>
                            </p:stCondLst>
                            <p:childTnLst>
                              <p:par>
                                <p:cTn id="21" presetID="10" presetClass="entr" presetSubtype="0" fill="hold" nodeType="afterEffect">
                                  <p:stCondLst>
                                    <p:cond delay="0"/>
                                  </p:stCondLst>
                                  <p:childTnLst>
                                    <p:set>
                                      <p:cBhvr>
                                        <p:cTn id="22" dur="1" fill="hold">
                                          <p:stCondLst>
                                            <p:cond delay="0"/>
                                          </p:stCondLst>
                                        </p:cTn>
                                        <p:tgtEl>
                                          <p:spTgt spid="6074"/>
                                        </p:tgtEl>
                                        <p:attrNameLst>
                                          <p:attrName>style.visibility</p:attrName>
                                        </p:attrNameLst>
                                      </p:cBhvr>
                                      <p:to>
                                        <p:strVal val="visible"/>
                                      </p:to>
                                    </p:set>
                                    <p:animEffect transition="in" filter="fade">
                                      <p:cBhvr>
                                        <p:cTn id="23" dur="1000"/>
                                        <p:tgtEl>
                                          <p:spTgt spid="6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Shape 6090"/>
        <p:cNvGrpSpPr/>
        <p:nvPr/>
      </p:nvGrpSpPr>
      <p:grpSpPr>
        <a:xfrm>
          <a:off x="0" y="0"/>
          <a:ext cx="0" cy="0"/>
          <a:chOff x="0" y="0"/>
          <a:chExt cx="0" cy="0"/>
        </a:xfrm>
      </p:grpSpPr>
      <p:sp>
        <p:nvSpPr>
          <p:cNvPr id="6091" name="Google Shape;6091;p311"/>
          <p:cNvSpPr/>
          <p:nvPr/>
        </p:nvSpPr>
        <p:spPr>
          <a:xfrm>
            <a:off x="7936" y="1286228"/>
            <a:ext cx="12172829" cy="5568949"/>
          </a:xfrm>
          <a:prstGeom prst="rect">
            <a:avLst/>
          </a:prstGeom>
          <a:gradFill>
            <a:gsLst>
              <a:gs pos="0">
                <a:srgbClr val="E8F0F4">
                  <a:alpha val="66274"/>
                </a:srgbClr>
              </a:gs>
              <a:gs pos="100000">
                <a:srgbClr val="E8F0F4">
                  <a:alpha val="0"/>
                </a:srgbClr>
              </a:gs>
            </a:gsLst>
            <a:lin ang="5400012" scaled="0"/>
          </a:gradFill>
          <a:ln>
            <a:noFill/>
          </a:ln>
        </p:spPr>
        <p:txBody>
          <a:bodyPr spcFirstLastPara="1" wrap="square" lIns="91210" tIns="45588" rIns="91210" bIns="45588" anchor="ctr" anchorCtr="0">
            <a:noAutofit/>
          </a:bodyPr>
          <a:lstStyle/>
          <a:p>
            <a:pPr algn="ctr" defTabSz="1218895"/>
            <a:endParaRPr sz="1200">
              <a:solidFill>
                <a:srgbClr val="FFFFFF"/>
              </a:solidFill>
            </a:endParaRPr>
          </a:p>
        </p:txBody>
      </p:sp>
      <p:pic>
        <p:nvPicPr>
          <p:cNvPr id="6092" name="Google Shape;6092;p311"/>
          <p:cNvPicPr preferRelativeResize="0"/>
          <p:nvPr/>
        </p:nvPicPr>
        <p:blipFill rotWithShape="1">
          <a:blip r:embed="rId3">
            <a:alphaModFix amt="18000"/>
          </a:blip>
          <a:srcRect b="64080"/>
          <a:stretch/>
        </p:blipFill>
        <p:spPr>
          <a:xfrm rot="10800000">
            <a:off x="331820" y="1281079"/>
            <a:ext cx="11525189" cy="190013"/>
          </a:xfrm>
          <a:prstGeom prst="rect">
            <a:avLst/>
          </a:prstGeom>
          <a:noFill/>
          <a:ln>
            <a:noFill/>
          </a:ln>
        </p:spPr>
      </p:pic>
      <p:sp>
        <p:nvSpPr>
          <p:cNvPr id="6093" name="Google Shape;6093;p311"/>
          <p:cNvSpPr/>
          <p:nvPr/>
        </p:nvSpPr>
        <p:spPr>
          <a:xfrm flipH="1">
            <a:off x="3096570" y="5418578"/>
            <a:ext cx="7887545" cy="683022"/>
          </a:xfrm>
          <a:prstGeom prst="rect">
            <a:avLst/>
          </a:prstGeom>
          <a:gradFill>
            <a:gsLst>
              <a:gs pos="0">
                <a:srgbClr val="CEDFE7"/>
              </a:gs>
              <a:gs pos="100000">
                <a:srgbClr val="FFFFFF">
                  <a:alpha val="0"/>
                </a:srgbClr>
              </a:gs>
            </a:gsLst>
            <a:lin ang="5400012" scaled="0"/>
          </a:gradFill>
          <a:ln>
            <a:noFill/>
          </a:ln>
        </p:spPr>
        <p:txBody>
          <a:bodyPr spcFirstLastPara="1" wrap="square" lIns="91243" tIns="45621" rIns="91243" bIns="45621" anchor="ctr" anchorCtr="0">
            <a:noAutofit/>
          </a:bodyPr>
          <a:lstStyle/>
          <a:p>
            <a:pPr algn="ctr" defTabSz="1218895"/>
            <a:endParaRPr sz="1066">
              <a:solidFill>
                <a:srgbClr val="FFFFFF"/>
              </a:solidFill>
            </a:endParaRPr>
          </a:p>
        </p:txBody>
      </p:sp>
      <p:sp>
        <p:nvSpPr>
          <p:cNvPr id="6094" name="Google Shape;6094;p311"/>
          <p:cNvSpPr/>
          <p:nvPr/>
        </p:nvSpPr>
        <p:spPr>
          <a:xfrm>
            <a:off x="6030123" y="5549914"/>
            <a:ext cx="1812728" cy="419091"/>
          </a:xfrm>
          <a:prstGeom prst="rect">
            <a:avLst/>
          </a:prstGeom>
          <a:noFill/>
          <a:ln>
            <a:noFill/>
          </a:ln>
        </p:spPr>
        <p:txBody>
          <a:bodyPr spcFirstLastPara="1" wrap="square" lIns="91243" tIns="91243" rIns="91243" bIns="91243" anchor="ctr" anchorCtr="0">
            <a:noAutofit/>
          </a:bodyPr>
          <a:lstStyle/>
          <a:p>
            <a:pPr algn="ctr" defTabSz="1218895">
              <a:lnSpc>
                <a:spcPct val="85000"/>
              </a:lnSpc>
            </a:pPr>
            <a:r>
              <a:rPr lang="en" sz="1066">
                <a:solidFill>
                  <a:srgbClr val="000001"/>
                </a:solidFill>
              </a:rPr>
              <a:t>Bare-Metal Performance</a:t>
            </a:r>
            <a:endParaRPr sz="1200">
              <a:solidFill>
                <a:srgbClr val="000001"/>
              </a:solidFill>
            </a:endParaRPr>
          </a:p>
        </p:txBody>
      </p:sp>
      <p:pic>
        <p:nvPicPr>
          <p:cNvPr id="6095" name="Google Shape;6095;p311"/>
          <p:cNvPicPr preferRelativeResize="0"/>
          <p:nvPr/>
        </p:nvPicPr>
        <p:blipFill rotWithShape="1">
          <a:blip r:embed="rId3">
            <a:alphaModFix amt="40000"/>
          </a:blip>
          <a:srcRect b="64080"/>
          <a:stretch/>
        </p:blipFill>
        <p:spPr>
          <a:xfrm flipH="1">
            <a:off x="3104322" y="3395950"/>
            <a:ext cx="7871858" cy="108584"/>
          </a:xfrm>
          <a:prstGeom prst="rect">
            <a:avLst/>
          </a:prstGeom>
          <a:noFill/>
          <a:ln>
            <a:noFill/>
          </a:ln>
        </p:spPr>
      </p:pic>
      <p:pic>
        <p:nvPicPr>
          <p:cNvPr id="6096" name="Google Shape;6096;p311"/>
          <p:cNvPicPr preferRelativeResize="0"/>
          <p:nvPr/>
        </p:nvPicPr>
        <p:blipFill rotWithShape="1">
          <a:blip r:embed="rId3">
            <a:alphaModFix amt="40000"/>
          </a:blip>
          <a:srcRect b="64080"/>
          <a:stretch/>
        </p:blipFill>
        <p:spPr>
          <a:xfrm rot="10800000" flipH="1">
            <a:off x="3104322" y="5403155"/>
            <a:ext cx="7871858" cy="73314"/>
          </a:xfrm>
          <a:prstGeom prst="rect">
            <a:avLst/>
          </a:prstGeom>
          <a:noFill/>
          <a:ln>
            <a:noFill/>
          </a:ln>
        </p:spPr>
      </p:pic>
      <p:sp>
        <p:nvSpPr>
          <p:cNvPr id="6097" name="Google Shape;6097;p311"/>
          <p:cNvSpPr/>
          <p:nvPr/>
        </p:nvSpPr>
        <p:spPr>
          <a:xfrm rot="10800000">
            <a:off x="2454987" y="2239424"/>
            <a:ext cx="9170411" cy="3160377"/>
          </a:xfrm>
          <a:prstGeom prst="roundRect">
            <a:avLst>
              <a:gd name="adj" fmla="val 4329"/>
            </a:avLst>
          </a:prstGeom>
          <a:solidFill>
            <a:schemeClr val="lt1"/>
          </a:solidFill>
          <a:ln w="9525" cap="rnd" cmpd="sng">
            <a:solidFill>
              <a:schemeClr val="accent2"/>
            </a:solidFill>
            <a:prstDash val="solid"/>
            <a:round/>
            <a:headEnd type="none" w="sm" len="sm"/>
            <a:tailEnd type="none" w="sm" len="sm"/>
          </a:ln>
        </p:spPr>
        <p:txBody>
          <a:bodyPr spcFirstLastPara="1" wrap="square" lIns="91276" tIns="45621" rIns="91276" bIns="45621" anchor="ctr" anchorCtr="0">
            <a:noAutofit/>
          </a:bodyPr>
          <a:lstStyle/>
          <a:p>
            <a:pPr algn="ctr" defTabSz="1218895"/>
            <a:r>
              <a:rPr lang="en" sz="1600">
                <a:solidFill>
                  <a:srgbClr val="FFFFFF"/>
                </a:solidFill>
              </a:rPr>
              <a:t>			</a:t>
            </a:r>
            <a:endParaRPr sz="1600">
              <a:solidFill>
                <a:srgbClr val="FFFFFF"/>
              </a:solidFill>
            </a:endParaRPr>
          </a:p>
        </p:txBody>
      </p:sp>
      <p:sp>
        <p:nvSpPr>
          <p:cNvPr id="6098" name="Google Shape;6098;p311"/>
          <p:cNvSpPr/>
          <p:nvPr/>
        </p:nvSpPr>
        <p:spPr>
          <a:xfrm>
            <a:off x="4219572" y="4940958"/>
            <a:ext cx="4751962" cy="384300"/>
          </a:xfrm>
          <a:prstGeom prst="rect">
            <a:avLst/>
          </a:prstGeom>
          <a:gradFill>
            <a:gsLst>
              <a:gs pos="0">
                <a:srgbClr val="FFFFFF">
                  <a:alpha val="46666"/>
                </a:srgbClr>
              </a:gs>
              <a:gs pos="100000">
                <a:schemeClr val="lt1"/>
              </a:gs>
            </a:gsLst>
            <a:lin ang="5400012" scaled="0"/>
          </a:gradFill>
          <a:ln>
            <a:noFill/>
          </a:ln>
          <a:effectLst>
            <a:outerShdw blurRad="219075" sx="102000" sy="102000" algn="ctr" rotWithShape="0">
              <a:schemeClr val="lt2">
                <a:alpha val="20000"/>
              </a:schemeClr>
            </a:outerShdw>
          </a:effectLst>
        </p:spPr>
        <p:txBody>
          <a:bodyPr spcFirstLastPara="1" wrap="square" lIns="91243" tIns="91243" rIns="91243" bIns="91243" anchor="ctr" anchorCtr="0">
            <a:noAutofit/>
          </a:bodyPr>
          <a:lstStyle/>
          <a:p>
            <a:pPr algn="ctr" defTabSz="1218895"/>
            <a:endParaRPr sz="1066">
              <a:solidFill>
                <a:srgbClr val="FFFFFF"/>
              </a:solidFill>
            </a:endParaRPr>
          </a:p>
        </p:txBody>
      </p:sp>
      <p:sp>
        <p:nvSpPr>
          <p:cNvPr id="6099" name="Google Shape;6099;p311"/>
          <p:cNvSpPr/>
          <p:nvPr/>
        </p:nvSpPr>
        <p:spPr>
          <a:xfrm>
            <a:off x="3546806" y="5549914"/>
            <a:ext cx="1812728" cy="419091"/>
          </a:xfrm>
          <a:prstGeom prst="rect">
            <a:avLst/>
          </a:prstGeom>
          <a:noFill/>
          <a:ln>
            <a:noFill/>
          </a:ln>
        </p:spPr>
        <p:txBody>
          <a:bodyPr spcFirstLastPara="1" wrap="square" lIns="91243" tIns="91243" rIns="91243" bIns="91243" anchor="ctr" anchorCtr="0">
            <a:noAutofit/>
          </a:bodyPr>
          <a:lstStyle/>
          <a:p>
            <a:pPr algn="ctr" defTabSz="1218895">
              <a:lnSpc>
                <a:spcPct val="85000"/>
              </a:lnSpc>
            </a:pPr>
            <a:r>
              <a:rPr lang="en" sz="1066">
                <a:solidFill>
                  <a:srgbClr val="000001"/>
                </a:solidFill>
              </a:rPr>
              <a:t>Choice of LLMs</a:t>
            </a:r>
            <a:endParaRPr sz="1466"/>
          </a:p>
        </p:txBody>
      </p:sp>
      <p:sp>
        <p:nvSpPr>
          <p:cNvPr id="6100" name="Google Shape;6100;p311"/>
          <p:cNvSpPr/>
          <p:nvPr/>
        </p:nvSpPr>
        <p:spPr>
          <a:xfrm>
            <a:off x="8579743" y="5558796"/>
            <a:ext cx="1812728" cy="419091"/>
          </a:xfrm>
          <a:prstGeom prst="rect">
            <a:avLst/>
          </a:prstGeom>
          <a:noFill/>
          <a:ln>
            <a:noFill/>
          </a:ln>
        </p:spPr>
        <p:txBody>
          <a:bodyPr spcFirstLastPara="1" wrap="square" lIns="91243" tIns="91243" rIns="91243" bIns="91243" anchor="ctr" anchorCtr="0">
            <a:noAutofit/>
          </a:bodyPr>
          <a:lstStyle/>
          <a:p>
            <a:pPr algn="ctr" defTabSz="1218895">
              <a:lnSpc>
                <a:spcPct val="85000"/>
              </a:lnSpc>
            </a:pPr>
            <a:r>
              <a:rPr lang="en" sz="1066">
                <a:solidFill>
                  <a:srgbClr val="000001"/>
                </a:solidFill>
              </a:rPr>
              <a:t>Faster Time-To-Value</a:t>
            </a:r>
            <a:endParaRPr sz="1466"/>
          </a:p>
        </p:txBody>
      </p:sp>
      <p:grpSp>
        <p:nvGrpSpPr>
          <p:cNvPr id="6101" name="Google Shape;6101;p311"/>
          <p:cNvGrpSpPr/>
          <p:nvPr/>
        </p:nvGrpSpPr>
        <p:grpSpPr>
          <a:xfrm>
            <a:off x="748733" y="4290982"/>
            <a:ext cx="992396" cy="609007"/>
            <a:chOff x="720018" y="4555531"/>
            <a:chExt cx="993582" cy="609735"/>
          </a:xfrm>
        </p:grpSpPr>
        <p:grpSp>
          <p:nvGrpSpPr>
            <p:cNvPr id="6102" name="Google Shape;6102;p311"/>
            <p:cNvGrpSpPr/>
            <p:nvPr/>
          </p:nvGrpSpPr>
          <p:grpSpPr>
            <a:xfrm>
              <a:off x="720018" y="4891283"/>
              <a:ext cx="993582" cy="273983"/>
              <a:chOff x="-3115898" y="5604052"/>
              <a:chExt cx="3370358" cy="929385"/>
            </a:xfrm>
          </p:grpSpPr>
          <p:sp>
            <p:nvSpPr>
              <p:cNvPr id="6103" name="Google Shape;6103;p311"/>
              <p:cNvSpPr/>
              <p:nvPr/>
            </p:nvSpPr>
            <p:spPr>
              <a:xfrm>
                <a:off x="-3115898" y="5610141"/>
                <a:ext cx="348628" cy="346390"/>
              </a:xfrm>
              <a:custGeom>
                <a:avLst/>
                <a:gdLst/>
                <a:ahLst/>
                <a:cxnLst/>
                <a:rect l="l" t="t" r="r" b="b"/>
                <a:pathLst>
                  <a:path w="348628" h="346390" extrusionOk="0">
                    <a:moveTo>
                      <a:pt x="348628" y="0"/>
                    </a:moveTo>
                    <a:lnTo>
                      <a:pt x="195776" y="346391"/>
                    </a:lnTo>
                    <a:lnTo>
                      <a:pt x="152852" y="346391"/>
                    </a:lnTo>
                    <a:lnTo>
                      <a:pt x="0" y="0"/>
                    </a:lnTo>
                    <a:lnTo>
                      <a:pt x="42829" y="0"/>
                    </a:lnTo>
                    <a:lnTo>
                      <a:pt x="174457" y="297967"/>
                    </a:lnTo>
                    <a:lnTo>
                      <a:pt x="305609" y="0"/>
                    </a:lnTo>
                    <a:lnTo>
                      <a:pt x="348533" y="0"/>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04" name="Google Shape;6104;p311"/>
              <p:cNvSpPr/>
              <p:nvPr/>
            </p:nvSpPr>
            <p:spPr>
              <a:xfrm>
                <a:off x="-2713020" y="5610141"/>
                <a:ext cx="335874" cy="346390"/>
              </a:xfrm>
              <a:custGeom>
                <a:avLst/>
                <a:gdLst/>
                <a:ahLst/>
                <a:cxnLst/>
                <a:rect l="l" t="t" r="r" b="b"/>
                <a:pathLst>
                  <a:path w="335874" h="346390" extrusionOk="0">
                    <a:moveTo>
                      <a:pt x="0" y="0"/>
                    </a:moveTo>
                    <a:lnTo>
                      <a:pt x="39308" y="0"/>
                    </a:lnTo>
                    <a:lnTo>
                      <a:pt x="167890" y="241551"/>
                    </a:lnTo>
                    <a:lnTo>
                      <a:pt x="296567" y="0"/>
                    </a:lnTo>
                    <a:lnTo>
                      <a:pt x="335875" y="0"/>
                    </a:lnTo>
                    <a:lnTo>
                      <a:pt x="335875" y="346391"/>
                    </a:lnTo>
                    <a:lnTo>
                      <a:pt x="296567" y="346391"/>
                    </a:lnTo>
                    <a:lnTo>
                      <a:pt x="296567" y="84671"/>
                    </a:lnTo>
                    <a:lnTo>
                      <a:pt x="167890" y="326222"/>
                    </a:lnTo>
                    <a:lnTo>
                      <a:pt x="39308" y="84671"/>
                    </a:lnTo>
                    <a:lnTo>
                      <a:pt x="39308" y="346391"/>
                    </a:lnTo>
                    <a:lnTo>
                      <a:pt x="0" y="346391"/>
                    </a:lnTo>
                    <a:lnTo>
                      <a:pt x="0" y="0"/>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05" name="Google Shape;6105;p311"/>
              <p:cNvSpPr/>
              <p:nvPr/>
            </p:nvSpPr>
            <p:spPr>
              <a:xfrm>
                <a:off x="-2327082" y="5695858"/>
                <a:ext cx="385842" cy="260673"/>
              </a:xfrm>
              <a:custGeom>
                <a:avLst/>
                <a:gdLst/>
                <a:ahLst/>
                <a:cxnLst/>
                <a:rect l="l" t="t" r="r" b="b"/>
                <a:pathLst>
                  <a:path w="385842" h="260673" extrusionOk="0">
                    <a:moveTo>
                      <a:pt x="0" y="0"/>
                    </a:moveTo>
                    <a:lnTo>
                      <a:pt x="40354" y="0"/>
                    </a:lnTo>
                    <a:lnTo>
                      <a:pt x="105455" y="210251"/>
                    </a:lnTo>
                    <a:lnTo>
                      <a:pt x="176551" y="0"/>
                    </a:lnTo>
                    <a:lnTo>
                      <a:pt x="209291" y="0"/>
                    </a:lnTo>
                    <a:lnTo>
                      <a:pt x="280388" y="210251"/>
                    </a:lnTo>
                    <a:lnTo>
                      <a:pt x="345488" y="0"/>
                    </a:lnTo>
                    <a:lnTo>
                      <a:pt x="385842" y="0"/>
                    </a:lnTo>
                    <a:lnTo>
                      <a:pt x="298090" y="260673"/>
                    </a:lnTo>
                    <a:lnTo>
                      <a:pt x="262304" y="260673"/>
                    </a:lnTo>
                    <a:lnTo>
                      <a:pt x="193207" y="52420"/>
                    </a:lnTo>
                    <a:lnTo>
                      <a:pt x="123062" y="260673"/>
                    </a:lnTo>
                    <a:lnTo>
                      <a:pt x="87276" y="260673"/>
                    </a:lnTo>
                    <a:lnTo>
                      <a:pt x="0" y="0"/>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06" name="Google Shape;6106;p311"/>
              <p:cNvSpPr/>
              <p:nvPr/>
            </p:nvSpPr>
            <p:spPr>
              <a:xfrm>
                <a:off x="-1928106" y="5689770"/>
                <a:ext cx="225090" cy="272755"/>
              </a:xfrm>
              <a:custGeom>
                <a:avLst/>
                <a:gdLst/>
                <a:ahLst/>
                <a:cxnLst/>
                <a:rect l="l" t="t" r="r" b="b"/>
                <a:pathLst>
                  <a:path w="225090" h="272755" extrusionOk="0">
                    <a:moveTo>
                      <a:pt x="198060" y="29492"/>
                    </a:moveTo>
                    <a:cubicBezTo>
                      <a:pt x="216049" y="49185"/>
                      <a:pt x="225090" y="75253"/>
                      <a:pt x="225090" y="107884"/>
                    </a:cubicBezTo>
                    <a:lnTo>
                      <a:pt x="225090" y="266667"/>
                    </a:lnTo>
                    <a:lnTo>
                      <a:pt x="187210" y="266667"/>
                    </a:lnTo>
                    <a:lnTo>
                      <a:pt x="187210" y="225853"/>
                    </a:lnTo>
                    <a:cubicBezTo>
                      <a:pt x="178169" y="240695"/>
                      <a:pt x="165130" y="252206"/>
                      <a:pt x="148093" y="260388"/>
                    </a:cubicBezTo>
                    <a:cubicBezTo>
                      <a:pt x="131152" y="268665"/>
                      <a:pt x="113545" y="272755"/>
                      <a:pt x="95366" y="272755"/>
                    </a:cubicBezTo>
                    <a:cubicBezTo>
                      <a:pt x="67480" y="272755"/>
                      <a:pt x="44542" y="265145"/>
                      <a:pt x="26744" y="250018"/>
                    </a:cubicBezTo>
                    <a:cubicBezTo>
                      <a:pt x="8947" y="234891"/>
                      <a:pt x="0" y="214722"/>
                      <a:pt x="0" y="189511"/>
                    </a:cubicBezTo>
                    <a:cubicBezTo>
                      <a:pt x="0" y="172672"/>
                      <a:pt x="4568" y="157641"/>
                      <a:pt x="13896" y="144417"/>
                    </a:cubicBezTo>
                    <a:cubicBezTo>
                      <a:pt x="23128" y="131098"/>
                      <a:pt x="35596" y="120918"/>
                      <a:pt x="51205" y="113688"/>
                    </a:cubicBezTo>
                    <a:cubicBezTo>
                      <a:pt x="66813" y="106457"/>
                      <a:pt x="83945" y="102842"/>
                      <a:pt x="102409" y="102842"/>
                    </a:cubicBezTo>
                    <a:cubicBezTo>
                      <a:pt x="128678" y="102842"/>
                      <a:pt x="156849" y="107694"/>
                      <a:pt x="187115" y="117493"/>
                    </a:cubicBezTo>
                    <a:lnTo>
                      <a:pt x="187115" y="107884"/>
                    </a:lnTo>
                    <a:cubicBezTo>
                      <a:pt x="187115" y="86669"/>
                      <a:pt x="181690" y="68783"/>
                      <a:pt x="170936" y="54228"/>
                    </a:cubicBezTo>
                    <a:cubicBezTo>
                      <a:pt x="160181" y="39577"/>
                      <a:pt x="142002" y="32251"/>
                      <a:pt x="116495" y="32251"/>
                    </a:cubicBezTo>
                    <a:cubicBezTo>
                      <a:pt x="104693" y="32251"/>
                      <a:pt x="92701" y="34344"/>
                      <a:pt x="80423" y="38530"/>
                    </a:cubicBezTo>
                    <a:cubicBezTo>
                      <a:pt x="68146" y="42716"/>
                      <a:pt x="54821" y="48520"/>
                      <a:pt x="40355" y="55940"/>
                    </a:cubicBezTo>
                    <a:lnTo>
                      <a:pt x="25222" y="25211"/>
                    </a:lnTo>
                    <a:cubicBezTo>
                      <a:pt x="58819" y="8372"/>
                      <a:pt x="90131" y="0"/>
                      <a:pt x="119065" y="0"/>
                    </a:cubicBezTo>
                    <a:cubicBezTo>
                      <a:pt x="153709" y="0"/>
                      <a:pt x="179977" y="9799"/>
                      <a:pt x="197965" y="29492"/>
                    </a:cubicBezTo>
                    <a:close/>
                    <a:moveTo>
                      <a:pt x="155231" y="225092"/>
                    </a:moveTo>
                    <a:cubicBezTo>
                      <a:pt x="171887" y="215484"/>
                      <a:pt x="182547" y="202164"/>
                      <a:pt x="187306" y="185040"/>
                    </a:cubicBezTo>
                    <a:lnTo>
                      <a:pt x="187306" y="145178"/>
                    </a:lnTo>
                    <a:cubicBezTo>
                      <a:pt x="161703" y="138138"/>
                      <a:pt x="135530" y="134618"/>
                      <a:pt x="108595" y="134618"/>
                    </a:cubicBezTo>
                    <a:cubicBezTo>
                      <a:pt x="88704" y="134618"/>
                      <a:pt x="71858" y="139660"/>
                      <a:pt x="57867" y="149744"/>
                    </a:cubicBezTo>
                    <a:cubicBezTo>
                      <a:pt x="43876" y="159829"/>
                      <a:pt x="36928" y="172577"/>
                      <a:pt x="36928" y="188084"/>
                    </a:cubicBezTo>
                    <a:cubicBezTo>
                      <a:pt x="36928" y="203592"/>
                      <a:pt x="43019" y="216435"/>
                      <a:pt x="55297" y="225663"/>
                    </a:cubicBezTo>
                    <a:cubicBezTo>
                      <a:pt x="67575" y="234891"/>
                      <a:pt x="83088" y="239553"/>
                      <a:pt x="101933" y="239553"/>
                    </a:cubicBezTo>
                    <a:cubicBezTo>
                      <a:pt x="120778" y="239553"/>
                      <a:pt x="138481" y="234796"/>
                      <a:pt x="155136" y="225187"/>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07" name="Google Shape;6107;p311"/>
              <p:cNvSpPr/>
              <p:nvPr/>
            </p:nvSpPr>
            <p:spPr>
              <a:xfrm>
                <a:off x="-1632586" y="5689770"/>
                <a:ext cx="138766" cy="266761"/>
              </a:xfrm>
              <a:custGeom>
                <a:avLst/>
                <a:gdLst/>
                <a:ahLst/>
                <a:cxnLst/>
                <a:rect l="l" t="t" r="r" b="b"/>
                <a:pathLst>
                  <a:path w="138766" h="266761" extrusionOk="0">
                    <a:moveTo>
                      <a:pt x="76236" y="15412"/>
                    </a:moveTo>
                    <a:cubicBezTo>
                      <a:pt x="94034" y="5137"/>
                      <a:pt x="114877" y="0"/>
                      <a:pt x="138766" y="0"/>
                    </a:cubicBezTo>
                    <a:lnTo>
                      <a:pt x="138766" y="33773"/>
                    </a:lnTo>
                    <a:cubicBezTo>
                      <a:pt x="119255" y="33773"/>
                      <a:pt x="101838" y="37484"/>
                      <a:pt x="86515" y="44904"/>
                    </a:cubicBezTo>
                    <a:cubicBezTo>
                      <a:pt x="71191" y="52325"/>
                      <a:pt x="59294" y="62600"/>
                      <a:pt x="50729" y="75919"/>
                    </a:cubicBezTo>
                    <a:cubicBezTo>
                      <a:pt x="42163" y="89238"/>
                      <a:pt x="37880" y="104269"/>
                      <a:pt x="37880" y="121013"/>
                    </a:cubicBezTo>
                    <a:lnTo>
                      <a:pt x="37880" y="266762"/>
                    </a:lnTo>
                    <a:lnTo>
                      <a:pt x="0" y="266762"/>
                    </a:lnTo>
                    <a:lnTo>
                      <a:pt x="0" y="6089"/>
                    </a:lnTo>
                    <a:lnTo>
                      <a:pt x="37880" y="6089"/>
                    </a:lnTo>
                    <a:lnTo>
                      <a:pt x="37880" y="56987"/>
                    </a:lnTo>
                    <a:cubicBezTo>
                      <a:pt x="45589" y="39482"/>
                      <a:pt x="58343" y="25687"/>
                      <a:pt x="76236" y="15412"/>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08" name="Google Shape;6108;p311"/>
              <p:cNvSpPr/>
              <p:nvPr/>
            </p:nvSpPr>
            <p:spPr>
              <a:xfrm>
                <a:off x="-1478401" y="5689865"/>
                <a:ext cx="252310" cy="272755"/>
              </a:xfrm>
              <a:custGeom>
                <a:avLst/>
                <a:gdLst/>
                <a:ahLst/>
                <a:cxnLst/>
                <a:rect l="l" t="t" r="r" b="b"/>
                <a:pathLst>
                  <a:path w="252310" h="272755" extrusionOk="0">
                    <a:moveTo>
                      <a:pt x="178169" y="229849"/>
                    </a:moveTo>
                    <a:cubicBezTo>
                      <a:pt x="193778" y="223760"/>
                      <a:pt x="205675" y="216435"/>
                      <a:pt x="213765" y="207682"/>
                    </a:cubicBezTo>
                    <a:lnTo>
                      <a:pt x="236987" y="232418"/>
                    </a:lnTo>
                    <a:cubicBezTo>
                      <a:pt x="225852" y="244500"/>
                      <a:pt x="210338" y="254299"/>
                      <a:pt x="190351" y="261625"/>
                    </a:cubicBezTo>
                    <a:cubicBezTo>
                      <a:pt x="170364" y="269045"/>
                      <a:pt x="150949" y="272755"/>
                      <a:pt x="132104" y="272755"/>
                    </a:cubicBezTo>
                    <a:cubicBezTo>
                      <a:pt x="108881" y="272755"/>
                      <a:pt x="87181" y="266857"/>
                      <a:pt x="67004" y="255060"/>
                    </a:cubicBezTo>
                    <a:cubicBezTo>
                      <a:pt x="46826" y="243263"/>
                      <a:pt x="30551" y="226900"/>
                      <a:pt x="18369" y="205875"/>
                    </a:cubicBezTo>
                    <a:cubicBezTo>
                      <a:pt x="6091" y="184850"/>
                      <a:pt x="0" y="161446"/>
                      <a:pt x="0" y="135569"/>
                    </a:cubicBezTo>
                    <a:cubicBezTo>
                      <a:pt x="0" y="109692"/>
                      <a:pt x="5806" y="87335"/>
                      <a:pt x="17417" y="66500"/>
                    </a:cubicBezTo>
                    <a:cubicBezTo>
                      <a:pt x="29029" y="45665"/>
                      <a:pt x="44637" y="29397"/>
                      <a:pt x="64339" y="17600"/>
                    </a:cubicBezTo>
                    <a:cubicBezTo>
                      <a:pt x="84040" y="5803"/>
                      <a:pt x="105455" y="0"/>
                      <a:pt x="128678" y="0"/>
                    </a:cubicBezTo>
                    <a:cubicBezTo>
                      <a:pt x="167700" y="0"/>
                      <a:pt x="198060" y="13604"/>
                      <a:pt x="219761" y="40813"/>
                    </a:cubicBezTo>
                    <a:cubicBezTo>
                      <a:pt x="241461" y="68022"/>
                      <a:pt x="252311" y="104650"/>
                      <a:pt x="252311" y="150696"/>
                    </a:cubicBezTo>
                    <a:lnTo>
                      <a:pt x="38927" y="150696"/>
                    </a:lnTo>
                    <a:cubicBezTo>
                      <a:pt x="41592" y="176573"/>
                      <a:pt x="51490" y="197788"/>
                      <a:pt x="68431" y="214247"/>
                    </a:cubicBezTo>
                    <a:cubicBezTo>
                      <a:pt x="85373" y="230705"/>
                      <a:pt x="106502" y="238982"/>
                      <a:pt x="131723" y="238982"/>
                    </a:cubicBezTo>
                    <a:cubicBezTo>
                      <a:pt x="147142" y="238982"/>
                      <a:pt x="162750" y="235938"/>
                      <a:pt x="178359" y="229944"/>
                    </a:cubicBezTo>
                    <a:close/>
                    <a:moveTo>
                      <a:pt x="69383" y="56606"/>
                    </a:moveTo>
                    <a:cubicBezTo>
                      <a:pt x="52537" y="71923"/>
                      <a:pt x="42448" y="91997"/>
                      <a:pt x="39117" y="116827"/>
                    </a:cubicBezTo>
                    <a:lnTo>
                      <a:pt x="214621" y="116827"/>
                    </a:lnTo>
                    <a:cubicBezTo>
                      <a:pt x="211956" y="91997"/>
                      <a:pt x="203390" y="71828"/>
                      <a:pt x="188924" y="56606"/>
                    </a:cubicBezTo>
                    <a:cubicBezTo>
                      <a:pt x="174457" y="41289"/>
                      <a:pt x="154756" y="33678"/>
                      <a:pt x="129915" y="33678"/>
                    </a:cubicBezTo>
                    <a:cubicBezTo>
                      <a:pt x="106406" y="33678"/>
                      <a:pt x="86229" y="41289"/>
                      <a:pt x="69383" y="56606"/>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09" name="Google Shape;6109;p311"/>
              <p:cNvSpPr/>
              <p:nvPr/>
            </p:nvSpPr>
            <p:spPr>
              <a:xfrm>
                <a:off x="-1039641" y="5604052"/>
                <a:ext cx="302087" cy="358473"/>
              </a:xfrm>
              <a:custGeom>
                <a:avLst/>
                <a:gdLst/>
                <a:ahLst/>
                <a:cxnLst/>
                <a:rect l="l" t="t" r="r" b="b"/>
                <a:pathLst>
                  <a:path w="302087" h="358473" extrusionOk="0">
                    <a:moveTo>
                      <a:pt x="89465" y="334023"/>
                    </a:moveTo>
                    <a:cubicBezTo>
                      <a:pt x="62055" y="317755"/>
                      <a:pt x="40259" y="295778"/>
                      <a:pt x="24175" y="268189"/>
                    </a:cubicBezTo>
                    <a:cubicBezTo>
                      <a:pt x="7995" y="240599"/>
                      <a:pt x="0" y="210917"/>
                      <a:pt x="0" y="178951"/>
                    </a:cubicBezTo>
                    <a:cubicBezTo>
                      <a:pt x="0" y="146985"/>
                      <a:pt x="8090" y="117398"/>
                      <a:pt x="24175" y="89999"/>
                    </a:cubicBezTo>
                    <a:cubicBezTo>
                      <a:pt x="40355" y="62600"/>
                      <a:pt x="62055" y="40718"/>
                      <a:pt x="89465" y="24450"/>
                    </a:cubicBezTo>
                    <a:cubicBezTo>
                      <a:pt x="116876" y="8182"/>
                      <a:pt x="146190" y="0"/>
                      <a:pt x="177503" y="0"/>
                    </a:cubicBezTo>
                    <a:cubicBezTo>
                      <a:pt x="201011" y="0"/>
                      <a:pt x="223568" y="4662"/>
                      <a:pt x="245077" y="13890"/>
                    </a:cubicBezTo>
                    <a:cubicBezTo>
                      <a:pt x="266587" y="23118"/>
                      <a:pt x="285622" y="36152"/>
                      <a:pt x="302088" y="52991"/>
                    </a:cubicBezTo>
                    <a:lnTo>
                      <a:pt x="275343" y="80200"/>
                    </a:lnTo>
                    <a:cubicBezTo>
                      <a:pt x="262590" y="66405"/>
                      <a:pt x="247647" y="55655"/>
                      <a:pt x="230706" y="47949"/>
                    </a:cubicBezTo>
                    <a:cubicBezTo>
                      <a:pt x="213765" y="40243"/>
                      <a:pt x="195967" y="36342"/>
                      <a:pt x="177503" y="36342"/>
                    </a:cubicBezTo>
                    <a:cubicBezTo>
                      <a:pt x="152947" y="36342"/>
                      <a:pt x="130200" y="42811"/>
                      <a:pt x="109166" y="55750"/>
                    </a:cubicBezTo>
                    <a:cubicBezTo>
                      <a:pt x="88133" y="68688"/>
                      <a:pt x="71287" y="86193"/>
                      <a:pt x="58723" y="108170"/>
                    </a:cubicBezTo>
                    <a:cubicBezTo>
                      <a:pt x="46065" y="130146"/>
                      <a:pt x="39783" y="153835"/>
                      <a:pt x="39783" y="179046"/>
                    </a:cubicBezTo>
                    <a:cubicBezTo>
                      <a:pt x="39783" y="204257"/>
                      <a:pt x="46065" y="228327"/>
                      <a:pt x="58723" y="250113"/>
                    </a:cubicBezTo>
                    <a:cubicBezTo>
                      <a:pt x="71287" y="271994"/>
                      <a:pt x="88133" y="289404"/>
                      <a:pt x="109166" y="302533"/>
                    </a:cubicBezTo>
                    <a:cubicBezTo>
                      <a:pt x="130200" y="315662"/>
                      <a:pt x="152947" y="322226"/>
                      <a:pt x="177503" y="322226"/>
                    </a:cubicBezTo>
                    <a:cubicBezTo>
                      <a:pt x="195967" y="322226"/>
                      <a:pt x="213765" y="318326"/>
                      <a:pt x="230706" y="310620"/>
                    </a:cubicBezTo>
                    <a:cubicBezTo>
                      <a:pt x="247647" y="302914"/>
                      <a:pt x="262590" y="292163"/>
                      <a:pt x="275343" y="278368"/>
                    </a:cubicBezTo>
                    <a:lnTo>
                      <a:pt x="302088" y="305577"/>
                    </a:lnTo>
                    <a:cubicBezTo>
                      <a:pt x="285622" y="322036"/>
                      <a:pt x="266587" y="334974"/>
                      <a:pt x="245077" y="344393"/>
                    </a:cubicBezTo>
                    <a:cubicBezTo>
                      <a:pt x="223568" y="353812"/>
                      <a:pt x="201011" y="358473"/>
                      <a:pt x="177503" y="358473"/>
                    </a:cubicBezTo>
                    <a:cubicBezTo>
                      <a:pt x="146190" y="358473"/>
                      <a:pt x="116876" y="350291"/>
                      <a:pt x="89465" y="334023"/>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0" name="Google Shape;6110;p311"/>
              <p:cNvSpPr/>
              <p:nvPr/>
            </p:nvSpPr>
            <p:spPr>
              <a:xfrm>
                <a:off x="-688729" y="5604052"/>
                <a:ext cx="37879" cy="352479"/>
              </a:xfrm>
              <a:custGeom>
                <a:avLst/>
                <a:gdLst/>
                <a:ahLst/>
                <a:cxnLst/>
                <a:rect l="l" t="t" r="r" b="b"/>
                <a:pathLst>
                  <a:path w="37879" h="352479" extrusionOk="0">
                    <a:moveTo>
                      <a:pt x="0" y="0"/>
                    </a:moveTo>
                    <a:lnTo>
                      <a:pt x="37880" y="0"/>
                    </a:lnTo>
                    <a:lnTo>
                      <a:pt x="37880" y="352480"/>
                    </a:lnTo>
                    <a:lnTo>
                      <a:pt x="0" y="352480"/>
                    </a:lnTo>
                    <a:lnTo>
                      <a:pt x="0" y="0"/>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1" name="Google Shape;6111;p311"/>
              <p:cNvSpPr/>
              <p:nvPr/>
            </p:nvSpPr>
            <p:spPr>
              <a:xfrm>
                <a:off x="-595933" y="5689865"/>
                <a:ext cx="268966" cy="272660"/>
              </a:xfrm>
              <a:custGeom>
                <a:avLst/>
                <a:gdLst/>
                <a:ahLst/>
                <a:cxnLst/>
                <a:rect l="l" t="t" r="r" b="b"/>
                <a:pathLst>
                  <a:path w="268966" h="272660" extrusionOk="0">
                    <a:moveTo>
                      <a:pt x="67384" y="254299"/>
                    </a:moveTo>
                    <a:cubicBezTo>
                      <a:pt x="46731" y="242026"/>
                      <a:pt x="30266" y="225378"/>
                      <a:pt x="18178" y="204353"/>
                    </a:cubicBezTo>
                    <a:cubicBezTo>
                      <a:pt x="6091" y="183327"/>
                      <a:pt x="0" y="160590"/>
                      <a:pt x="0" y="136045"/>
                    </a:cubicBezTo>
                    <a:cubicBezTo>
                      <a:pt x="0" y="111499"/>
                      <a:pt x="6091" y="88857"/>
                      <a:pt x="18178" y="68022"/>
                    </a:cubicBezTo>
                    <a:cubicBezTo>
                      <a:pt x="30266" y="47187"/>
                      <a:pt x="46636" y="30634"/>
                      <a:pt x="67384" y="18361"/>
                    </a:cubicBezTo>
                    <a:cubicBezTo>
                      <a:pt x="88037" y="6089"/>
                      <a:pt x="110499" y="0"/>
                      <a:pt x="134768" y="0"/>
                    </a:cubicBezTo>
                    <a:cubicBezTo>
                      <a:pt x="159038" y="0"/>
                      <a:pt x="181309" y="6184"/>
                      <a:pt x="201867" y="18361"/>
                    </a:cubicBezTo>
                    <a:cubicBezTo>
                      <a:pt x="222330" y="30634"/>
                      <a:pt x="238700" y="47187"/>
                      <a:pt x="250788" y="68022"/>
                    </a:cubicBezTo>
                    <a:cubicBezTo>
                      <a:pt x="262875" y="88857"/>
                      <a:pt x="268966" y="111595"/>
                      <a:pt x="268966" y="136045"/>
                    </a:cubicBezTo>
                    <a:cubicBezTo>
                      <a:pt x="268966" y="160495"/>
                      <a:pt x="262875" y="183327"/>
                      <a:pt x="250788" y="204353"/>
                    </a:cubicBezTo>
                    <a:cubicBezTo>
                      <a:pt x="238700" y="225378"/>
                      <a:pt x="222330" y="242026"/>
                      <a:pt x="201867" y="254299"/>
                    </a:cubicBezTo>
                    <a:cubicBezTo>
                      <a:pt x="181309" y="266572"/>
                      <a:pt x="159038" y="272660"/>
                      <a:pt x="134768" y="272660"/>
                    </a:cubicBezTo>
                    <a:cubicBezTo>
                      <a:pt x="110499" y="272660"/>
                      <a:pt x="88132" y="266572"/>
                      <a:pt x="67384" y="254299"/>
                    </a:cubicBezTo>
                    <a:close/>
                    <a:moveTo>
                      <a:pt x="182166" y="224997"/>
                    </a:moveTo>
                    <a:cubicBezTo>
                      <a:pt x="196633" y="215769"/>
                      <a:pt x="208149" y="203211"/>
                      <a:pt x="216715" y="187418"/>
                    </a:cubicBezTo>
                    <a:cubicBezTo>
                      <a:pt x="225281" y="171626"/>
                      <a:pt x="229564" y="154501"/>
                      <a:pt x="229564" y="135950"/>
                    </a:cubicBezTo>
                    <a:cubicBezTo>
                      <a:pt x="229564" y="117398"/>
                      <a:pt x="225281" y="100369"/>
                      <a:pt x="216715" y="84766"/>
                    </a:cubicBezTo>
                    <a:cubicBezTo>
                      <a:pt x="208149" y="69164"/>
                      <a:pt x="196633" y="56701"/>
                      <a:pt x="182166" y="47473"/>
                    </a:cubicBezTo>
                    <a:cubicBezTo>
                      <a:pt x="167699" y="38245"/>
                      <a:pt x="151900" y="33583"/>
                      <a:pt x="134768" y="33583"/>
                    </a:cubicBezTo>
                    <a:cubicBezTo>
                      <a:pt x="117637" y="33583"/>
                      <a:pt x="101743" y="38245"/>
                      <a:pt x="87086" y="47473"/>
                    </a:cubicBezTo>
                    <a:cubicBezTo>
                      <a:pt x="72429" y="56701"/>
                      <a:pt x="60817" y="69164"/>
                      <a:pt x="52251" y="84766"/>
                    </a:cubicBezTo>
                    <a:cubicBezTo>
                      <a:pt x="43686" y="100369"/>
                      <a:pt x="39403" y="117493"/>
                      <a:pt x="39403" y="135950"/>
                    </a:cubicBezTo>
                    <a:cubicBezTo>
                      <a:pt x="39403" y="154406"/>
                      <a:pt x="43686" y="171626"/>
                      <a:pt x="52251" y="187418"/>
                    </a:cubicBezTo>
                    <a:cubicBezTo>
                      <a:pt x="60817" y="203211"/>
                      <a:pt x="72429" y="215769"/>
                      <a:pt x="87086" y="224997"/>
                    </a:cubicBezTo>
                    <a:cubicBezTo>
                      <a:pt x="101743" y="234225"/>
                      <a:pt x="117637" y="238887"/>
                      <a:pt x="134768" y="238887"/>
                    </a:cubicBezTo>
                    <a:cubicBezTo>
                      <a:pt x="151900" y="238887"/>
                      <a:pt x="167699" y="234225"/>
                      <a:pt x="182166" y="224997"/>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2" name="Google Shape;6112;p311"/>
              <p:cNvSpPr/>
              <p:nvPr/>
            </p:nvSpPr>
            <p:spPr>
              <a:xfrm>
                <a:off x="-277189" y="5695668"/>
                <a:ext cx="221568" cy="266856"/>
              </a:xfrm>
              <a:custGeom>
                <a:avLst/>
                <a:gdLst/>
                <a:ahLst/>
                <a:cxnLst/>
                <a:rect l="l" t="t" r="r" b="b"/>
                <a:pathLst>
                  <a:path w="221568" h="266856" extrusionOk="0">
                    <a:moveTo>
                      <a:pt x="221474" y="190"/>
                    </a:moveTo>
                    <a:lnTo>
                      <a:pt x="221474" y="260863"/>
                    </a:lnTo>
                    <a:lnTo>
                      <a:pt x="183594" y="260863"/>
                    </a:lnTo>
                    <a:lnTo>
                      <a:pt x="183594" y="219479"/>
                    </a:lnTo>
                    <a:cubicBezTo>
                      <a:pt x="175885" y="233559"/>
                      <a:pt x="164273" y="245071"/>
                      <a:pt x="148760" y="253728"/>
                    </a:cubicBezTo>
                    <a:cubicBezTo>
                      <a:pt x="133246" y="262481"/>
                      <a:pt x="116305" y="266857"/>
                      <a:pt x="97841" y="266857"/>
                    </a:cubicBezTo>
                    <a:cubicBezTo>
                      <a:pt x="79376" y="266857"/>
                      <a:pt x="61674" y="262671"/>
                      <a:pt x="46922" y="254204"/>
                    </a:cubicBezTo>
                    <a:cubicBezTo>
                      <a:pt x="32074" y="245832"/>
                      <a:pt x="20558" y="233940"/>
                      <a:pt x="12373" y="218623"/>
                    </a:cubicBezTo>
                    <a:cubicBezTo>
                      <a:pt x="4092" y="203306"/>
                      <a:pt x="0" y="185801"/>
                      <a:pt x="0" y="165917"/>
                    </a:cubicBezTo>
                    <a:lnTo>
                      <a:pt x="0" y="0"/>
                    </a:lnTo>
                    <a:lnTo>
                      <a:pt x="37880" y="0"/>
                    </a:lnTo>
                    <a:lnTo>
                      <a:pt x="37880" y="160875"/>
                    </a:lnTo>
                    <a:cubicBezTo>
                      <a:pt x="37880" y="182376"/>
                      <a:pt x="43971" y="199786"/>
                      <a:pt x="56058" y="213105"/>
                    </a:cubicBezTo>
                    <a:cubicBezTo>
                      <a:pt x="68146" y="226424"/>
                      <a:pt x="83850" y="232988"/>
                      <a:pt x="102980" y="232988"/>
                    </a:cubicBezTo>
                    <a:cubicBezTo>
                      <a:pt x="117447" y="232988"/>
                      <a:pt x="130867" y="229944"/>
                      <a:pt x="143335" y="223951"/>
                    </a:cubicBezTo>
                    <a:cubicBezTo>
                      <a:pt x="155802" y="217862"/>
                      <a:pt x="165606" y="209775"/>
                      <a:pt x="172839" y="199500"/>
                    </a:cubicBezTo>
                    <a:cubicBezTo>
                      <a:pt x="180072" y="189226"/>
                      <a:pt x="183689" y="178095"/>
                      <a:pt x="183689" y="166013"/>
                    </a:cubicBezTo>
                    <a:lnTo>
                      <a:pt x="183689" y="95"/>
                    </a:lnTo>
                    <a:lnTo>
                      <a:pt x="221569" y="95"/>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3" name="Google Shape;6113;p311"/>
              <p:cNvSpPr/>
              <p:nvPr/>
            </p:nvSpPr>
            <p:spPr>
              <a:xfrm>
                <a:off x="1769" y="5604052"/>
                <a:ext cx="252691" cy="358568"/>
              </a:xfrm>
              <a:custGeom>
                <a:avLst/>
                <a:gdLst/>
                <a:ahLst/>
                <a:cxnLst/>
                <a:rect l="l" t="t" r="r" b="b"/>
                <a:pathLst>
                  <a:path w="252691" h="358568" extrusionOk="0">
                    <a:moveTo>
                      <a:pt x="252691" y="0"/>
                    </a:moveTo>
                    <a:lnTo>
                      <a:pt x="252691" y="352480"/>
                    </a:lnTo>
                    <a:lnTo>
                      <a:pt x="214812" y="352480"/>
                    </a:lnTo>
                    <a:lnTo>
                      <a:pt x="214812" y="303580"/>
                    </a:lnTo>
                    <a:cubicBezTo>
                      <a:pt x="204723" y="321085"/>
                      <a:pt x="191493" y="334594"/>
                      <a:pt x="175218" y="344203"/>
                    </a:cubicBezTo>
                    <a:cubicBezTo>
                      <a:pt x="158943" y="353812"/>
                      <a:pt x="140479" y="358568"/>
                      <a:pt x="120016" y="358568"/>
                    </a:cubicBezTo>
                    <a:cubicBezTo>
                      <a:pt x="97460" y="358568"/>
                      <a:pt x="77092" y="352765"/>
                      <a:pt x="58724" y="341158"/>
                    </a:cubicBezTo>
                    <a:cubicBezTo>
                      <a:pt x="40354" y="329552"/>
                      <a:pt x="25983" y="313379"/>
                      <a:pt x="15609" y="292544"/>
                    </a:cubicBezTo>
                    <a:cubicBezTo>
                      <a:pt x="5140" y="271709"/>
                      <a:pt x="0" y="248210"/>
                      <a:pt x="0" y="221953"/>
                    </a:cubicBezTo>
                    <a:cubicBezTo>
                      <a:pt x="0" y="195695"/>
                      <a:pt x="5235" y="172292"/>
                      <a:pt x="15609" y="151647"/>
                    </a:cubicBezTo>
                    <a:cubicBezTo>
                      <a:pt x="26078" y="131003"/>
                      <a:pt x="40450" y="114829"/>
                      <a:pt x="58724" y="103223"/>
                    </a:cubicBezTo>
                    <a:cubicBezTo>
                      <a:pt x="77092" y="91616"/>
                      <a:pt x="97460" y="85813"/>
                      <a:pt x="120016" y="85813"/>
                    </a:cubicBezTo>
                    <a:cubicBezTo>
                      <a:pt x="140479" y="85813"/>
                      <a:pt x="158943" y="90570"/>
                      <a:pt x="175218" y="100178"/>
                    </a:cubicBezTo>
                    <a:cubicBezTo>
                      <a:pt x="191493" y="109787"/>
                      <a:pt x="204723" y="123296"/>
                      <a:pt x="214812" y="140802"/>
                    </a:cubicBezTo>
                    <a:lnTo>
                      <a:pt x="214812" y="95"/>
                    </a:lnTo>
                    <a:lnTo>
                      <a:pt x="252691" y="95"/>
                    </a:lnTo>
                    <a:close/>
                    <a:moveTo>
                      <a:pt x="172458" y="311571"/>
                    </a:moveTo>
                    <a:cubicBezTo>
                      <a:pt x="185878" y="302819"/>
                      <a:pt x="196347" y="290641"/>
                      <a:pt x="203771" y="275039"/>
                    </a:cubicBezTo>
                    <a:cubicBezTo>
                      <a:pt x="211195" y="259436"/>
                      <a:pt x="214906" y="241646"/>
                      <a:pt x="214906" y="221858"/>
                    </a:cubicBezTo>
                    <a:cubicBezTo>
                      <a:pt x="214906" y="202069"/>
                      <a:pt x="211195" y="184374"/>
                      <a:pt x="203771" y="168962"/>
                    </a:cubicBezTo>
                    <a:cubicBezTo>
                      <a:pt x="196347" y="153550"/>
                      <a:pt x="185973" y="141372"/>
                      <a:pt x="172458" y="132620"/>
                    </a:cubicBezTo>
                    <a:cubicBezTo>
                      <a:pt x="159038" y="123867"/>
                      <a:pt x="143906" y="119491"/>
                      <a:pt x="127060" y="119491"/>
                    </a:cubicBezTo>
                    <a:cubicBezTo>
                      <a:pt x="110213" y="119491"/>
                      <a:pt x="95176" y="123867"/>
                      <a:pt x="81946" y="132620"/>
                    </a:cubicBezTo>
                    <a:cubicBezTo>
                      <a:pt x="68622" y="141372"/>
                      <a:pt x="58343" y="153455"/>
                      <a:pt x="50919" y="168962"/>
                    </a:cubicBezTo>
                    <a:cubicBezTo>
                      <a:pt x="43495" y="184469"/>
                      <a:pt x="39783" y="202069"/>
                      <a:pt x="39783" y="221858"/>
                    </a:cubicBezTo>
                    <a:cubicBezTo>
                      <a:pt x="39783" y="241646"/>
                      <a:pt x="43495" y="259436"/>
                      <a:pt x="50919" y="275039"/>
                    </a:cubicBezTo>
                    <a:cubicBezTo>
                      <a:pt x="58343" y="290641"/>
                      <a:pt x="68622" y="302819"/>
                      <a:pt x="81946" y="311571"/>
                    </a:cubicBezTo>
                    <a:cubicBezTo>
                      <a:pt x="95271" y="320324"/>
                      <a:pt x="110309" y="324700"/>
                      <a:pt x="127060" y="324700"/>
                    </a:cubicBezTo>
                    <a:cubicBezTo>
                      <a:pt x="143810" y="324700"/>
                      <a:pt x="159038" y="320324"/>
                      <a:pt x="172458" y="311571"/>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4" name="Google Shape;6114;p311"/>
              <p:cNvSpPr/>
              <p:nvPr/>
            </p:nvSpPr>
            <p:spPr>
              <a:xfrm>
                <a:off x="-2795822" y="6180958"/>
                <a:ext cx="248694" cy="346390"/>
              </a:xfrm>
              <a:custGeom>
                <a:avLst/>
                <a:gdLst/>
                <a:ahLst/>
                <a:cxnLst/>
                <a:rect l="l" t="t" r="r" b="b"/>
                <a:pathLst>
                  <a:path w="248694" h="346390" extrusionOk="0">
                    <a:moveTo>
                      <a:pt x="39879" y="37293"/>
                    </a:moveTo>
                    <a:lnTo>
                      <a:pt x="39879" y="151267"/>
                    </a:lnTo>
                    <a:lnTo>
                      <a:pt x="228041" y="151267"/>
                    </a:lnTo>
                    <a:lnTo>
                      <a:pt x="228041" y="188560"/>
                    </a:lnTo>
                    <a:lnTo>
                      <a:pt x="39879" y="188560"/>
                    </a:lnTo>
                    <a:lnTo>
                      <a:pt x="39879" y="346391"/>
                    </a:lnTo>
                    <a:lnTo>
                      <a:pt x="0" y="346391"/>
                    </a:lnTo>
                    <a:lnTo>
                      <a:pt x="0" y="0"/>
                    </a:lnTo>
                    <a:lnTo>
                      <a:pt x="248694" y="0"/>
                    </a:lnTo>
                    <a:lnTo>
                      <a:pt x="248694" y="37293"/>
                    </a:lnTo>
                    <a:lnTo>
                      <a:pt x="39879" y="37293"/>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5" name="Google Shape;6115;p311"/>
              <p:cNvSpPr/>
              <p:nvPr/>
            </p:nvSpPr>
            <p:spPr>
              <a:xfrm>
                <a:off x="-2520575" y="6260682"/>
                <a:ext cx="268966" cy="272660"/>
              </a:xfrm>
              <a:custGeom>
                <a:avLst/>
                <a:gdLst/>
                <a:ahLst/>
                <a:cxnLst/>
                <a:rect l="l" t="t" r="r" b="b"/>
                <a:pathLst>
                  <a:path w="268966" h="272660" extrusionOk="0">
                    <a:moveTo>
                      <a:pt x="67384" y="254299"/>
                    </a:moveTo>
                    <a:cubicBezTo>
                      <a:pt x="46731" y="242026"/>
                      <a:pt x="30266" y="225378"/>
                      <a:pt x="18179" y="204353"/>
                    </a:cubicBezTo>
                    <a:cubicBezTo>
                      <a:pt x="6091" y="183327"/>
                      <a:pt x="0" y="160590"/>
                      <a:pt x="0" y="136045"/>
                    </a:cubicBezTo>
                    <a:cubicBezTo>
                      <a:pt x="0" y="111499"/>
                      <a:pt x="6091" y="88857"/>
                      <a:pt x="18179" y="68022"/>
                    </a:cubicBezTo>
                    <a:cubicBezTo>
                      <a:pt x="30266" y="47187"/>
                      <a:pt x="46636" y="30634"/>
                      <a:pt x="67384" y="18361"/>
                    </a:cubicBezTo>
                    <a:cubicBezTo>
                      <a:pt x="88037" y="6089"/>
                      <a:pt x="110499" y="0"/>
                      <a:pt x="134769" y="0"/>
                    </a:cubicBezTo>
                    <a:cubicBezTo>
                      <a:pt x="159039" y="0"/>
                      <a:pt x="181310" y="6184"/>
                      <a:pt x="201868" y="18361"/>
                    </a:cubicBezTo>
                    <a:cubicBezTo>
                      <a:pt x="222330" y="30634"/>
                      <a:pt x="238701" y="47187"/>
                      <a:pt x="250788" y="68022"/>
                    </a:cubicBezTo>
                    <a:cubicBezTo>
                      <a:pt x="262875" y="88857"/>
                      <a:pt x="268966" y="111595"/>
                      <a:pt x="268966" y="136045"/>
                    </a:cubicBezTo>
                    <a:cubicBezTo>
                      <a:pt x="268966" y="160495"/>
                      <a:pt x="262875" y="183327"/>
                      <a:pt x="250788" y="204353"/>
                    </a:cubicBezTo>
                    <a:cubicBezTo>
                      <a:pt x="238701" y="225378"/>
                      <a:pt x="222330" y="242026"/>
                      <a:pt x="201868" y="254299"/>
                    </a:cubicBezTo>
                    <a:cubicBezTo>
                      <a:pt x="181310" y="266572"/>
                      <a:pt x="159039" y="272660"/>
                      <a:pt x="134769" y="272660"/>
                    </a:cubicBezTo>
                    <a:cubicBezTo>
                      <a:pt x="110499" y="272660"/>
                      <a:pt x="88133" y="266572"/>
                      <a:pt x="67384" y="254299"/>
                    </a:cubicBezTo>
                    <a:close/>
                    <a:moveTo>
                      <a:pt x="182166" y="224997"/>
                    </a:moveTo>
                    <a:cubicBezTo>
                      <a:pt x="196633" y="215769"/>
                      <a:pt x="208149" y="203211"/>
                      <a:pt x="216715" y="187418"/>
                    </a:cubicBezTo>
                    <a:cubicBezTo>
                      <a:pt x="225281" y="171626"/>
                      <a:pt x="229564" y="154501"/>
                      <a:pt x="229564" y="135950"/>
                    </a:cubicBezTo>
                    <a:cubicBezTo>
                      <a:pt x="229564" y="117398"/>
                      <a:pt x="225281" y="100369"/>
                      <a:pt x="216715" y="84766"/>
                    </a:cubicBezTo>
                    <a:cubicBezTo>
                      <a:pt x="208149" y="69164"/>
                      <a:pt x="196633" y="56701"/>
                      <a:pt x="182166" y="47473"/>
                    </a:cubicBezTo>
                    <a:cubicBezTo>
                      <a:pt x="167700" y="38245"/>
                      <a:pt x="151900" y="33583"/>
                      <a:pt x="134769" y="33583"/>
                    </a:cubicBezTo>
                    <a:cubicBezTo>
                      <a:pt x="117637" y="33583"/>
                      <a:pt x="101743" y="38245"/>
                      <a:pt x="87086" y="47473"/>
                    </a:cubicBezTo>
                    <a:cubicBezTo>
                      <a:pt x="72429" y="56701"/>
                      <a:pt x="60817" y="69164"/>
                      <a:pt x="52251" y="84766"/>
                    </a:cubicBezTo>
                    <a:cubicBezTo>
                      <a:pt x="43686" y="100369"/>
                      <a:pt x="39403" y="117493"/>
                      <a:pt x="39403" y="135950"/>
                    </a:cubicBezTo>
                    <a:cubicBezTo>
                      <a:pt x="39403" y="154406"/>
                      <a:pt x="43686" y="171626"/>
                      <a:pt x="52251" y="187418"/>
                    </a:cubicBezTo>
                    <a:cubicBezTo>
                      <a:pt x="60817" y="203211"/>
                      <a:pt x="72429" y="215769"/>
                      <a:pt x="87086" y="224997"/>
                    </a:cubicBezTo>
                    <a:cubicBezTo>
                      <a:pt x="101743" y="234225"/>
                      <a:pt x="117637" y="238887"/>
                      <a:pt x="134769" y="238887"/>
                    </a:cubicBezTo>
                    <a:cubicBezTo>
                      <a:pt x="151900" y="238887"/>
                      <a:pt x="167700" y="234225"/>
                      <a:pt x="182166" y="224997"/>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6" name="Google Shape;6116;p311"/>
              <p:cNvSpPr/>
              <p:nvPr/>
            </p:nvSpPr>
            <p:spPr>
              <a:xfrm>
                <a:off x="-2201831" y="6266485"/>
                <a:ext cx="221568" cy="266856"/>
              </a:xfrm>
              <a:custGeom>
                <a:avLst/>
                <a:gdLst/>
                <a:ahLst/>
                <a:cxnLst/>
                <a:rect l="l" t="t" r="r" b="b"/>
                <a:pathLst>
                  <a:path w="221568" h="266856" extrusionOk="0">
                    <a:moveTo>
                      <a:pt x="221474" y="190"/>
                    </a:moveTo>
                    <a:lnTo>
                      <a:pt x="221474" y="260863"/>
                    </a:lnTo>
                    <a:lnTo>
                      <a:pt x="183594" y="260863"/>
                    </a:lnTo>
                    <a:lnTo>
                      <a:pt x="183594" y="219479"/>
                    </a:lnTo>
                    <a:cubicBezTo>
                      <a:pt x="175885" y="233559"/>
                      <a:pt x="164273" y="245071"/>
                      <a:pt x="148760" y="253728"/>
                    </a:cubicBezTo>
                    <a:cubicBezTo>
                      <a:pt x="133246" y="262481"/>
                      <a:pt x="116305" y="266857"/>
                      <a:pt x="97841" y="266857"/>
                    </a:cubicBezTo>
                    <a:cubicBezTo>
                      <a:pt x="79376" y="266857"/>
                      <a:pt x="61674" y="262671"/>
                      <a:pt x="46922" y="254204"/>
                    </a:cubicBezTo>
                    <a:cubicBezTo>
                      <a:pt x="32074" y="245832"/>
                      <a:pt x="20558" y="233940"/>
                      <a:pt x="12373" y="218623"/>
                    </a:cubicBezTo>
                    <a:cubicBezTo>
                      <a:pt x="4092" y="203306"/>
                      <a:pt x="0" y="185801"/>
                      <a:pt x="0" y="165917"/>
                    </a:cubicBezTo>
                    <a:lnTo>
                      <a:pt x="0" y="0"/>
                    </a:lnTo>
                    <a:lnTo>
                      <a:pt x="37880" y="0"/>
                    </a:lnTo>
                    <a:lnTo>
                      <a:pt x="37880" y="160875"/>
                    </a:lnTo>
                    <a:cubicBezTo>
                      <a:pt x="37880" y="182376"/>
                      <a:pt x="43971" y="199786"/>
                      <a:pt x="56058" y="213105"/>
                    </a:cubicBezTo>
                    <a:cubicBezTo>
                      <a:pt x="68146" y="226424"/>
                      <a:pt x="83850" y="232988"/>
                      <a:pt x="102980" y="232988"/>
                    </a:cubicBezTo>
                    <a:cubicBezTo>
                      <a:pt x="117447" y="232988"/>
                      <a:pt x="130867" y="229944"/>
                      <a:pt x="143335" y="223951"/>
                    </a:cubicBezTo>
                    <a:cubicBezTo>
                      <a:pt x="155802" y="217862"/>
                      <a:pt x="165606" y="209775"/>
                      <a:pt x="172839" y="199500"/>
                    </a:cubicBezTo>
                    <a:cubicBezTo>
                      <a:pt x="180072" y="189226"/>
                      <a:pt x="183689" y="178095"/>
                      <a:pt x="183689" y="166013"/>
                    </a:cubicBezTo>
                    <a:lnTo>
                      <a:pt x="183689" y="95"/>
                    </a:lnTo>
                    <a:lnTo>
                      <a:pt x="221569" y="95"/>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7" name="Google Shape;6117;p311"/>
              <p:cNvSpPr/>
              <p:nvPr/>
            </p:nvSpPr>
            <p:spPr>
              <a:xfrm>
                <a:off x="-1906692" y="6260587"/>
                <a:ext cx="221568" cy="266761"/>
              </a:xfrm>
              <a:custGeom>
                <a:avLst/>
                <a:gdLst/>
                <a:ahLst/>
                <a:cxnLst/>
                <a:rect l="l" t="t" r="r" b="b"/>
                <a:pathLst>
                  <a:path w="221568" h="266761" extrusionOk="0">
                    <a:moveTo>
                      <a:pt x="174647" y="12558"/>
                    </a:moveTo>
                    <a:cubicBezTo>
                      <a:pt x="189400" y="20930"/>
                      <a:pt x="200916" y="32822"/>
                      <a:pt x="209196" y="48139"/>
                    </a:cubicBezTo>
                    <a:cubicBezTo>
                      <a:pt x="217476" y="63456"/>
                      <a:pt x="221569" y="80961"/>
                      <a:pt x="221569" y="100844"/>
                    </a:cubicBezTo>
                    <a:lnTo>
                      <a:pt x="221569" y="266762"/>
                    </a:lnTo>
                    <a:lnTo>
                      <a:pt x="183689" y="266762"/>
                    </a:lnTo>
                    <a:lnTo>
                      <a:pt x="183689" y="105887"/>
                    </a:lnTo>
                    <a:cubicBezTo>
                      <a:pt x="183689" y="84386"/>
                      <a:pt x="177598" y="66976"/>
                      <a:pt x="165510" y="53657"/>
                    </a:cubicBezTo>
                    <a:cubicBezTo>
                      <a:pt x="153423" y="40338"/>
                      <a:pt x="137719" y="33773"/>
                      <a:pt x="118589" y="33773"/>
                    </a:cubicBezTo>
                    <a:cubicBezTo>
                      <a:pt x="104122" y="33773"/>
                      <a:pt x="90702" y="36818"/>
                      <a:pt x="78234" y="42811"/>
                    </a:cubicBezTo>
                    <a:cubicBezTo>
                      <a:pt x="65766" y="48900"/>
                      <a:pt x="55963" y="56987"/>
                      <a:pt x="48730" y="67261"/>
                    </a:cubicBezTo>
                    <a:cubicBezTo>
                      <a:pt x="41497" y="77536"/>
                      <a:pt x="37880" y="88667"/>
                      <a:pt x="37880" y="100749"/>
                    </a:cubicBezTo>
                    <a:lnTo>
                      <a:pt x="37880" y="266667"/>
                    </a:lnTo>
                    <a:lnTo>
                      <a:pt x="0" y="266667"/>
                    </a:lnTo>
                    <a:lnTo>
                      <a:pt x="0" y="5994"/>
                    </a:lnTo>
                    <a:lnTo>
                      <a:pt x="37880" y="5994"/>
                    </a:lnTo>
                    <a:lnTo>
                      <a:pt x="37880" y="47378"/>
                    </a:lnTo>
                    <a:cubicBezTo>
                      <a:pt x="45589" y="33298"/>
                      <a:pt x="57201" y="21881"/>
                      <a:pt x="72714" y="13129"/>
                    </a:cubicBezTo>
                    <a:cubicBezTo>
                      <a:pt x="88133" y="4376"/>
                      <a:pt x="105169" y="0"/>
                      <a:pt x="123633" y="0"/>
                    </a:cubicBezTo>
                    <a:cubicBezTo>
                      <a:pt x="142097" y="0"/>
                      <a:pt x="159800" y="4186"/>
                      <a:pt x="174552" y="12653"/>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8" name="Google Shape;6118;p311"/>
              <p:cNvSpPr/>
              <p:nvPr/>
            </p:nvSpPr>
            <p:spPr>
              <a:xfrm>
                <a:off x="-1631444" y="6174869"/>
                <a:ext cx="252691" cy="358568"/>
              </a:xfrm>
              <a:custGeom>
                <a:avLst/>
                <a:gdLst/>
                <a:ahLst/>
                <a:cxnLst/>
                <a:rect l="l" t="t" r="r" b="b"/>
                <a:pathLst>
                  <a:path w="252691" h="358568" extrusionOk="0">
                    <a:moveTo>
                      <a:pt x="252691" y="0"/>
                    </a:moveTo>
                    <a:lnTo>
                      <a:pt x="252691" y="352480"/>
                    </a:lnTo>
                    <a:lnTo>
                      <a:pt x="214812" y="352480"/>
                    </a:lnTo>
                    <a:lnTo>
                      <a:pt x="214812" y="303580"/>
                    </a:lnTo>
                    <a:cubicBezTo>
                      <a:pt x="204723" y="321085"/>
                      <a:pt x="191494" y="334594"/>
                      <a:pt x="175218" y="344203"/>
                    </a:cubicBezTo>
                    <a:cubicBezTo>
                      <a:pt x="158943" y="353812"/>
                      <a:pt x="140479" y="358568"/>
                      <a:pt x="120016" y="358568"/>
                    </a:cubicBezTo>
                    <a:cubicBezTo>
                      <a:pt x="97460" y="358568"/>
                      <a:pt x="77092" y="352765"/>
                      <a:pt x="58723" y="341158"/>
                    </a:cubicBezTo>
                    <a:cubicBezTo>
                      <a:pt x="40355" y="329552"/>
                      <a:pt x="25983" y="313379"/>
                      <a:pt x="15609" y="292544"/>
                    </a:cubicBezTo>
                    <a:cubicBezTo>
                      <a:pt x="5140" y="271709"/>
                      <a:pt x="0" y="248210"/>
                      <a:pt x="0" y="221953"/>
                    </a:cubicBezTo>
                    <a:cubicBezTo>
                      <a:pt x="0" y="195695"/>
                      <a:pt x="5235" y="172292"/>
                      <a:pt x="15609" y="151647"/>
                    </a:cubicBezTo>
                    <a:cubicBezTo>
                      <a:pt x="26078" y="131003"/>
                      <a:pt x="40450" y="114829"/>
                      <a:pt x="58723" y="103223"/>
                    </a:cubicBezTo>
                    <a:cubicBezTo>
                      <a:pt x="77092" y="91616"/>
                      <a:pt x="97460" y="85813"/>
                      <a:pt x="120016" y="85813"/>
                    </a:cubicBezTo>
                    <a:cubicBezTo>
                      <a:pt x="140479" y="85813"/>
                      <a:pt x="158943" y="90570"/>
                      <a:pt x="175218" y="100178"/>
                    </a:cubicBezTo>
                    <a:cubicBezTo>
                      <a:pt x="191494" y="109787"/>
                      <a:pt x="204723" y="123296"/>
                      <a:pt x="214812" y="140802"/>
                    </a:cubicBezTo>
                    <a:lnTo>
                      <a:pt x="214812" y="95"/>
                    </a:lnTo>
                    <a:lnTo>
                      <a:pt x="252691" y="95"/>
                    </a:lnTo>
                    <a:close/>
                    <a:moveTo>
                      <a:pt x="172553" y="311571"/>
                    </a:moveTo>
                    <a:cubicBezTo>
                      <a:pt x="185973" y="302819"/>
                      <a:pt x="196443" y="290641"/>
                      <a:pt x="203866" y="275039"/>
                    </a:cubicBezTo>
                    <a:cubicBezTo>
                      <a:pt x="211290" y="259436"/>
                      <a:pt x="215002" y="241646"/>
                      <a:pt x="215002" y="221858"/>
                    </a:cubicBezTo>
                    <a:cubicBezTo>
                      <a:pt x="215002" y="202069"/>
                      <a:pt x="211290" y="184374"/>
                      <a:pt x="203866" y="168962"/>
                    </a:cubicBezTo>
                    <a:cubicBezTo>
                      <a:pt x="196443" y="153550"/>
                      <a:pt x="186068" y="141372"/>
                      <a:pt x="172553" y="132620"/>
                    </a:cubicBezTo>
                    <a:cubicBezTo>
                      <a:pt x="159134" y="123867"/>
                      <a:pt x="144001" y="119491"/>
                      <a:pt x="127155" y="119491"/>
                    </a:cubicBezTo>
                    <a:cubicBezTo>
                      <a:pt x="110309" y="119491"/>
                      <a:pt x="95271" y="123867"/>
                      <a:pt x="82042" y="132620"/>
                    </a:cubicBezTo>
                    <a:cubicBezTo>
                      <a:pt x="68717" y="141372"/>
                      <a:pt x="58438" y="153455"/>
                      <a:pt x="51014" y="168962"/>
                    </a:cubicBezTo>
                    <a:cubicBezTo>
                      <a:pt x="43590" y="184469"/>
                      <a:pt x="39879" y="202069"/>
                      <a:pt x="39879" y="221858"/>
                    </a:cubicBezTo>
                    <a:cubicBezTo>
                      <a:pt x="39879" y="241646"/>
                      <a:pt x="43590" y="259436"/>
                      <a:pt x="51014" y="275039"/>
                    </a:cubicBezTo>
                    <a:cubicBezTo>
                      <a:pt x="58438" y="290641"/>
                      <a:pt x="68717" y="302819"/>
                      <a:pt x="82042" y="311571"/>
                    </a:cubicBezTo>
                    <a:cubicBezTo>
                      <a:pt x="95366" y="320324"/>
                      <a:pt x="110404" y="324700"/>
                      <a:pt x="127155" y="324700"/>
                    </a:cubicBezTo>
                    <a:cubicBezTo>
                      <a:pt x="143906" y="324700"/>
                      <a:pt x="159134" y="320324"/>
                      <a:pt x="172553" y="311571"/>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19" name="Google Shape;6119;p311"/>
              <p:cNvSpPr/>
              <p:nvPr/>
            </p:nvSpPr>
            <p:spPr>
              <a:xfrm>
                <a:off x="-1326501" y="6260587"/>
                <a:ext cx="225090" cy="272755"/>
              </a:xfrm>
              <a:custGeom>
                <a:avLst/>
                <a:gdLst/>
                <a:ahLst/>
                <a:cxnLst/>
                <a:rect l="l" t="t" r="r" b="b"/>
                <a:pathLst>
                  <a:path w="225090" h="272755" extrusionOk="0">
                    <a:moveTo>
                      <a:pt x="198060" y="29492"/>
                    </a:moveTo>
                    <a:cubicBezTo>
                      <a:pt x="216049" y="49185"/>
                      <a:pt x="225090" y="75253"/>
                      <a:pt x="225090" y="107884"/>
                    </a:cubicBezTo>
                    <a:lnTo>
                      <a:pt x="225090" y="266667"/>
                    </a:lnTo>
                    <a:lnTo>
                      <a:pt x="187210" y="266667"/>
                    </a:lnTo>
                    <a:lnTo>
                      <a:pt x="187210" y="225853"/>
                    </a:lnTo>
                    <a:cubicBezTo>
                      <a:pt x="178169" y="240695"/>
                      <a:pt x="165130" y="252206"/>
                      <a:pt x="148093" y="260388"/>
                    </a:cubicBezTo>
                    <a:cubicBezTo>
                      <a:pt x="131152" y="268665"/>
                      <a:pt x="113544" y="272755"/>
                      <a:pt x="95366" y="272755"/>
                    </a:cubicBezTo>
                    <a:cubicBezTo>
                      <a:pt x="67480" y="272755"/>
                      <a:pt x="44542" y="265145"/>
                      <a:pt x="26744" y="250018"/>
                    </a:cubicBezTo>
                    <a:cubicBezTo>
                      <a:pt x="8947" y="234891"/>
                      <a:pt x="0" y="214722"/>
                      <a:pt x="0" y="189511"/>
                    </a:cubicBezTo>
                    <a:cubicBezTo>
                      <a:pt x="0" y="172672"/>
                      <a:pt x="4568" y="157641"/>
                      <a:pt x="13896" y="144417"/>
                    </a:cubicBezTo>
                    <a:cubicBezTo>
                      <a:pt x="23128" y="131098"/>
                      <a:pt x="35596" y="120918"/>
                      <a:pt x="51204" y="113688"/>
                    </a:cubicBezTo>
                    <a:cubicBezTo>
                      <a:pt x="66813" y="106457"/>
                      <a:pt x="83945" y="102842"/>
                      <a:pt x="102409" y="102842"/>
                    </a:cubicBezTo>
                    <a:cubicBezTo>
                      <a:pt x="128677" y="102842"/>
                      <a:pt x="156849" y="107694"/>
                      <a:pt x="187115" y="117493"/>
                    </a:cubicBezTo>
                    <a:lnTo>
                      <a:pt x="187115" y="107884"/>
                    </a:lnTo>
                    <a:cubicBezTo>
                      <a:pt x="187115" y="86669"/>
                      <a:pt x="181690" y="68783"/>
                      <a:pt x="170935" y="54228"/>
                    </a:cubicBezTo>
                    <a:cubicBezTo>
                      <a:pt x="160181" y="39577"/>
                      <a:pt x="142002" y="32251"/>
                      <a:pt x="116495" y="32251"/>
                    </a:cubicBezTo>
                    <a:cubicBezTo>
                      <a:pt x="104693" y="32251"/>
                      <a:pt x="92701" y="34344"/>
                      <a:pt x="80423" y="38530"/>
                    </a:cubicBezTo>
                    <a:cubicBezTo>
                      <a:pt x="68146" y="42716"/>
                      <a:pt x="54821" y="48520"/>
                      <a:pt x="40354" y="55940"/>
                    </a:cubicBezTo>
                    <a:lnTo>
                      <a:pt x="25221" y="25211"/>
                    </a:lnTo>
                    <a:cubicBezTo>
                      <a:pt x="58818" y="8372"/>
                      <a:pt x="90131" y="0"/>
                      <a:pt x="119065" y="0"/>
                    </a:cubicBezTo>
                    <a:cubicBezTo>
                      <a:pt x="153709" y="0"/>
                      <a:pt x="179977" y="9799"/>
                      <a:pt x="197965" y="29492"/>
                    </a:cubicBezTo>
                    <a:close/>
                    <a:moveTo>
                      <a:pt x="155231" y="225092"/>
                    </a:moveTo>
                    <a:cubicBezTo>
                      <a:pt x="171887" y="215484"/>
                      <a:pt x="182547" y="202164"/>
                      <a:pt x="187306" y="185040"/>
                    </a:cubicBezTo>
                    <a:lnTo>
                      <a:pt x="187306" y="145178"/>
                    </a:lnTo>
                    <a:cubicBezTo>
                      <a:pt x="161703" y="138138"/>
                      <a:pt x="135530" y="134618"/>
                      <a:pt x="108595" y="134618"/>
                    </a:cubicBezTo>
                    <a:cubicBezTo>
                      <a:pt x="88704" y="134618"/>
                      <a:pt x="71858" y="139660"/>
                      <a:pt x="57867" y="149744"/>
                    </a:cubicBezTo>
                    <a:cubicBezTo>
                      <a:pt x="43876" y="159829"/>
                      <a:pt x="36928" y="172577"/>
                      <a:pt x="36928" y="188084"/>
                    </a:cubicBezTo>
                    <a:cubicBezTo>
                      <a:pt x="36928" y="203592"/>
                      <a:pt x="43019" y="216435"/>
                      <a:pt x="55297" y="225663"/>
                    </a:cubicBezTo>
                    <a:cubicBezTo>
                      <a:pt x="67575" y="234891"/>
                      <a:pt x="83088" y="239553"/>
                      <a:pt x="101933" y="239553"/>
                    </a:cubicBezTo>
                    <a:cubicBezTo>
                      <a:pt x="120778" y="239553"/>
                      <a:pt x="138481" y="234796"/>
                      <a:pt x="155136" y="225187"/>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20" name="Google Shape;6120;p311"/>
              <p:cNvSpPr/>
              <p:nvPr/>
            </p:nvSpPr>
            <p:spPr>
              <a:xfrm>
                <a:off x="-1068480" y="6195038"/>
                <a:ext cx="152851" cy="338304"/>
              </a:xfrm>
              <a:custGeom>
                <a:avLst/>
                <a:gdLst/>
                <a:ahLst/>
                <a:cxnLst/>
                <a:rect l="l" t="t" r="r" b="b"/>
                <a:pathLst>
                  <a:path w="152851" h="338304" extrusionOk="0">
                    <a:moveTo>
                      <a:pt x="152852" y="321655"/>
                    </a:moveTo>
                    <a:cubicBezTo>
                      <a:pt x="138766" y="332786"/>
                      <a:pt x="122586" y="338304"/>
                      <a:pt x="104408" y="338304"/>
                    </a:cubicBezTo>
                    <a:cubicBezTo>
                      <a:pt x="86229" y="338304"/>
                      <a:pt x="70716" y="332121"/>
                      <a:pt x="58723" y="319658"/>
                    </a:cubicBezTo>
                    <a:cubicBezTo>
                      <a:pt x="46826" y="307195"/>
                      <a:pt x="40830" y="291212"/>
                      <a:pt x="40830" y="271804"/>
                    </a:cubicBezTo>
                    <a:lnTo>
                      <a:pt x="40830" y="105411"/>
                    </a:lnTo>
                    <a:lnTo>
                      <a:pt x="0" y="105411"/>
                    </a:lnTo>
                    <a:lnTo>
                      <a:pt x="0" y="71638"/>
                    </a:lnTo>
                    <a:lnTo>
                      <a:pt x="40830" y="71638"/>
                    </a:lnTo>
                    <a:lnTo>
                      <a:pt x="40830" y="0"/>
                    </a:lnTo>
                    <a:lnTo>
                      <a:pt x="78710" y="0"/>
                    </a:lnTo>
                    <a:lnTo>
                      <a:pt x="78710" y="71638"/>
                    </a:lnTo>
                    <a:lnTo>
                      <a:pt x="142763" y="71638"/>
                    </a:lnTo>
                    <a:lnTo>
                      <a:pt x="142763" y="105411"/>
                    </a:lnTo>
                    <a:lnTo>
                      <a:pt x="78710" y="105411"/>
                    </a:lnTo>
                    <a:lnTo>
                      <a:pt x="78710" y="271804"/>
                    </a:lnTo>
                    <a:cubicBezTo>
                      <a:pt x="78710" y="281223"/>
                      <a:pt x="81470" y="289024"/>
                      <a:pt x="86991" y="295208"/>
                    </a:cubicBezTo>
                    <a:cubicBezTo>
                      <a:pt x="92511" y="301392"/>
                      <a:pt x="99173" y="304531"/>
                      <a:pt x="106882" y="304531"/>
                    </a:cubicBezTo>
                    <a:cubicBezTo>
                      <a:pt x="112593" y="304531"/>
                      <a:pt x="117827" y="303485"/>
                      <a:pt x="122491" y="301487"/>
                    </a:cubicBezTo>
                    <a:cubicBezTo>
                      <a:pt x="127155" y="299489"/>
                      <a:pt x="131057" y="296920"/>
                      <a:pt x="134102" y="293971"/>
                    </a:cubicBezTo>
                    <a:lnTo>
                      <a:pt x="152757" y="321751"/>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21" name="Google Shape;6121;p311"/>
              <p:cNvSpPr/>
              <p:nvPr/>
            </p:nvSpPr>
            <p:spPr>
              <a:xfrm>
                <a:off x="-880317" y="6169351"/>
                <a:ext cx="49967" cy="357997"/>
              </a:xfrm>
              <a:custGeom>
                <a:avLst/>
                <a:gdLst/>
                <a:ahLst/>
                <a:cxnLst/>
                <a:rect l="l" t="t" r="r" b="b"/>
                <a:pathLst>
                  <a:path w="49967" h="357997" extrusionOk="0">
                    <a:moveTo>
                      <a:pt x="7328" y="42336"/>
                    </a:moveTo>
                    <a:cubicBezTo>
                      <a:pt x="2474" y="37293"/>
                      <a:pt x="0" y="31395"/>
                      <a:pt x="0" y="24735"/>
                    </a:cubicBezTo>
                    <a:cubicBezTo>
                      <a:pt x="0" y="18076"/>
                      <a:pt x="2474" y="12177"/>
                      <a:pt x="7328" y="7326"/>
                    </a:cubicBezTo>
                    <a:cubicBezTo>
                      <a:pt x="12182" y="2473"/>
                      <a:pt x="18179" y="0"/>
                      <a:pt x="25221" y="0"/>
                    </a:cubicBezTo>
                    <a:cubicBezTo>
                      <a:pt x="32264" y="0"/>
                      <a:pt x="37785" y="2473"/>
                      <a:pt x="42639" y="7326"/>
                    </a:cubicBezTo>
                    <a:cubicBezTo>
                      <a:pt x="47493" y="12177"/>
                      <a:pt x="49967" y="17981"/>
                      <a:pt x="49967" y="24735"/>
                    </a:cubicBezTo>
                    <a:cubicBezTo>
                      <a:pt x="49967" y="31490"/>
                      <a:pt x="47493" y="37388"/>
                      <a:pt x="42639" y="42336"/>
                    </a:cubicBezTo>
                    <a:cubicBezTo>
                      <a:pt x="37785" y="47378"/>
                      <a:pt x="31979" y="49947"/>
                      <a:pt x="25221" y="49947"/>
                    </a:cubicBezTo>
                    <a:cubicBezTo>
                      <a:pt x="18179" y="49947"/>
                      <a:pt x="12182" y="47378"/>
                      <a:pt x="7328" y="42336"/>
                    </a:cubicBezTo>
                    <a:close/>
                    <a:moveTo>
                      <a:pt x="6091" y="97324"/>
                    </a:moveTo>
                    <a:lnTo>
                      <a:pt x="43971" y="97324"/>
                    </a:lnTo>
                    <a:lnTo>
                      <a:pt x="43971" y="357998"/>
                    </a:lnTo>
                    <a:lnTo>
                      <a:pt x="6091" y="357998"/>
                    </a:lnTo>
                    <a:lnTo>
                      <a:pt x="6091" y="97324"/>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22" name="Google Shape;6122;p311"/>
              <p:cNvSpPr/>
              <p:nvPr/>
            </p:nvSpPr>
            <p:spPr>
              <a:xfrm>
                <a:off x="-782762" y="6260682"/>
                <a:ext cx="268966" cy="272660"/>
              </a:xfrm>
              <a:custGeom>
                <a:avLst/>
                <a:gdLst/>
                <a:ahLst/>
                <a:cxnLst/>
                <a:rect l="l" t="t" r="r" b="b"/>
                <a:pathLst>
                  <a:path w="268966" h="272660" extrusionOk="0">
                    <a:moveTo>
                      <a:pt x="67384" y="254299"/>
                    </a:moveTo>
                    <a:cubicBezTo>
                      <a:pt x="46731" y="242026"/>
                      <a:pt x="30266" y="225378"/>
                      <a:pt x="18179" y="204353"/>
                    </a:cubicBezTo>
                    <a:cubicBezTo>
                      <a:pt x="6091" y="183327"/>
                      <a:pt x="0" y="160590"/>
                      <a:pt x="0" y="136045"/>
                    </a:cubicBezTo>
                    <a:cubicBezTo>
                      <a:pt x="0" y="111499"/>
                      <a:pt x="6091" y="88857"/>
                      <a:pt x="18179" y="68022"/>
                    </a:cubicBezTo>
                    <a:cubicBezTo>
                      <a:pt x="30266" y="47187"/>
                      <a:pt x="46636" y="30634"/>
                      <a:pt x="67384" y="18361"/>
                    </a:cubicBezTo>
                    <a:cubicBezTo>
                      <a:pt x="88037" y="6089"/>
                      <a:pt x="110499" y="0"/>
                      <a:pt x="134769" y="0"/>
                    </a:cubicBezTo>
                    <a:cubicBezTo>
                      <a:pt x="159038" y="0"/>
                      <a:pt x="181309" y="6184"/>
                      <a:pt x="201867" y="18361"/>
                    </a:cubicBezTo>
                    <a:cubicBezTo>
                      <a:pt x="222330" y="30634"/>
                      <a:pt x="238700" y="47187"/>
                      <a:pt x="250788" y="68022"/>
                    </a:cubicBezTo>
                    <a:cubicBezTo>
                      <a:pt x="262875" y="88857"/>
                      <a:pt x="268966" y="111595"/>
                      <a:pt x="268966" y="136045"/>
                    </a:cubicBezTo>
                    <a:cubicBezTo>
                      <a:pt x="268966" y="160495"/>
                      <a:pt x="262875" y="183327"/>
                      <a:pt x="250788" y="204353"/>
                    </a:cubicBezTo>
                    <a:cubicBezTo>
                      <a:pt x="238700" y="225378"/>
                      <a:pt x="222330" y="242026"/>
                      <a:pt x="201867" y="254299"/>
                    </a:cubicBezTo>
                    <a:cubicBezTo>
                      <a:pt x="181309" y="266572"/>
                      <a:pt x="159038" y="272660"/>
                      <a:pt x="134769" y="272660"/>
                    </a:cubicBezTo>
                    <a:cubicBezTo>
                      <a:pt x="110499" y="272660"/>
                      <a:pt x="88132" y="266572"/>
                      <a:pt x="67384" y="254299"/>
                    </a:cubicBezTo>
                    <a:close/>
                    <a:moveTo>
                      <a:pt x="182071" y="224997"/>
                    </a:moveTo>
                    <a:cubicBezTo>
                      <a:pt x="196538" y="215769"/>
                      <a:pt x="208054" y="203211"/>
                      <a:pt x="216620" y="187418"/>
                    </a:cubicBezTo>
                    <a:cubicBezTo>
                      <a:pt x="225186" y="171626"/>
                      <a:pt x="229468" y="154501"/>
                      <a:pt x="229468" y="135950"/>
                    </a:cubicBezTo>
                    <a:cubicBezTo>
                      <a:pt x="229468" y="117398"/>
                      <a:pt x="225186" y="100369"/>
                      <a:pt x="216620" y="84766"/>
                    </a:cubicBezTo>
                    <a:cubicBezTo>
                      <a:pt x="208054" y="69164"/>
                      <a:pt x="196538" y="56701"/>
                      <a:pt x="182071" y="47473"/>
                    </a:cubicBezTo>
                    <a:cubicBezTo>
                      <a:pt x="167604" y="38245"/>
                      <a:pt x="151805" y="33583"/>
                      <a:pt x="134673" y="33583"/>
                    </a:cubicBezTo>
                    <a:cubicBezTo>
                      <a:pt x="117542" y="33583"/>
                      <a:pt x="101648" y="38245"/>
                      <a:pt x="86990" y="47473"/>
                    </a:cubicBezTo>
                    <a:cubicBezTo>
                      <a:pt x="72334" y="56701"/>
                      <a:pt x="60722" y="69164"/>
                      <a:pt x="52156" y="84766"/>
                    </a:cubicBezTo>
                    <a:cubicBezTo>
                      <a:pt x="43590" y="100369"/>
                      <a:pt x="39308" y="117493"/>
                      <a:pt x="39308" y="135950"/>
                    </a:cubicBezTo>
                    <a:cubicBezTo>
                      <a:pt x="39308" y="154406"/>
                      <a:pt x="43590" y="171626"/>
                      <a:pt x="52156" y="187418"/>
                    </a:cubicBezTo>
                    <a:cubicBezTo>
                      <a:pt x="60722" y="203211"/>
                      <a:pt x="72334" y="215769"/>
                      <a:pt x="86990" y="224997"/>
                    </a:cubicBezTo>
                    <a:cubicBezTo>
                      <a:pt x="101648" y="234225"/>
                      <a:pt x="117542" y="238887"/>
                      <a:pt x="134673" y="238887"/>
                    </a:cubicBezTo>
                    <a:cubicBezTo>
                      <a:pt x="151805" y="238887"/>
                      <a:pt x="167604" y="234225"/>
                      <a:pt x="182071" y="224997"/>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23" name="Google Shape;6123;p311"/>
              <p:cNvSpPr/>
              <p:nvPr/>
            </p:nvSpPr>
            <p:spPr>
              <a:xfrm>
                <a:off x="-459260" y="6260587"/>
                <a:ext cx="221568" cy="266761"/>
              </a:xfrm>
              <a:custGeom>
                <a:avLst/>
                <a:gdLst/>
                <a:ahLst/>
                <a:cxnLst/>
                <a:rect l="l" t="t" r="r" b="b"/>
                <a:pathLst>
                  <a:path w="221568" h="266761" extrusionOk="0">
                    <a:moveTo>
                      <a:pt x="174647" y="12558"/>
                    </a:moveTo>
                    <a:cubicBezTo>
                      <a:pt x="189399" y="20930"/>
                      <a:pt x="200916" y="32822"/>
                      <a:pt x="209196" y="48139"/>
                    </a:cubicBezTo>
                    <a:cubicBezTo>
                      <a:pt x="217476" y="63456"/>
                      <a:pt x="221569" y="80961"/>
                      <a:pt x="221569" y="100844"/>
                    </a:cubicBezTo>
                    <a:lnTo>
                      <a:pt x="221569" y="266762"/>
                    </a:lnTo>
                    <a:lnTo>
                      <a:pt x="183689" y="266762"/>
                    </a:lnTo>
                    <a:lnTo>
                      <a:pt x="183689" y="105887"/>
                    </a:lnTo>
                    <a:cubicBezTo>
                      <a:pt x="183689" y="84386"/>
                      <a:pt x="177598" y="66976"/>
                      <a:pt x="165511" y="53657"/>
                    </a:cubicBezTo>
                    <a:cubicBezTo>
                      <a:pt x="153423" y="40338"/>
                      <a:pt x="137719" y="33773"/>
                      <a:pt x="118589" y="33773"/>
                    </a:cubicBezTo>
                    <a:cubicBezTo>
                      <a:pt x="104122" y="33773"/>
                      <a:pt x="90702" y="36818"/>
                      <a:pt x="78234" y="42811"/>
                    </a:cubicBezTo>
                    <a:cubicBezTo>
                      <a:pt x="65766" y="48900"/>
                      <a:pt x="55963" y="56987"/>
                      <a:pt x="48730" y="67261"/>
                    </a:cubicBezTo>
                    <a:cubicBezTo>
                      <a:pt x="41497" y="77536"/>
                      <a:pt x="37880" y="88667"/>
                      <a:pt x="37880" y="100749"/>
                    </a:cubicBezTo>
                    <a:lnTo>
                      <a:pt x="37880" y="266667"/>
                    </a:lnTo>
                    <a:lnTo>
                      <a:pt x="0" y="266667"/>
                    </a:lnTo>
                    <a:lnTo>
                      <a:pt x="0" y="5994"/>
                    </a:lnTo>
                    <a:lnTo>
                      <a:pt x="37880" y="5994"/>
                    </a:lnTo>
                    <a:lnTo>
                      <a:pt x="37880" y="47378"/>
                    </a:lnTo>
                    <a:cubicBezTo>
                      <a:pt x="45589" y="33298"/>
                      <a:pt x="57201" y="21881"/>
                      <a:pt x="72714" y="13129"/>
                    </a:cubicBezTo>
                    <a:cubicBezTo>
                      <a:pt x="88133" y="4376"/>
                      <a:pt x="105169" y="0"/>
                      <a:pt x="123633" y="0"/>
                    </a:cubicBezTo>
                    <a:cubicBezTo>
                      <a:pt x="142097" y="0"/>
                      <a:pt x="159800" y="4186"/>
                      <a:pt x="174552" y="12653"/>
                    </a:cubicBez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sp>
            <p:nvSpPr>
              <p:cNvPr id="6124" name="Google Shape;6124;p311"/>
              <p:cNvSpPr/>
              <p:nvPr/>
            </p:nvSpPr>
            <p:spPr>
              <a:xfrm>
                <a:off x="-179159" y="6182766"/>
                <a:ext cx="164844" cy="79914"/>
              </a:xfrm>
              <a:custGeom>
                <a:avLst/>
                <a:gdLst/>
                <a:ahLst/>
                <a:cxnLst/>
                <a:rect l="l" t="t" r="r" b="b"/>
                <a:pathLst>
                  <a:path w="164844" h="79914" extrusionOk="0">
                    <a:moveTo>
                      <a:pt x="20749" y="19979"/>
                    </a:moveTo>
                    <a:lnTo>
                      <a:pt x="0" y="19979"/>
                    </a:lnTo>
                    <a:lnTo>
                      <a:pt x="0" y="0"/>
                    </a:lnTo>
                    <a:lnTo>
                      <a:pt x="62911" y="0"/>
                    </a:lnTo>
                    <a:lnTo>
                      <a:pt x="62911" y="19979"/>
                    </a:lnTo>
                    <a:lnTo>
                      <a:pt x="41592" y="19979"/>
                    </a:lnTo>
                    <a:lnTo>
                      <a:pt x="41592" y="79914"/>
                    </a:lnTo>
                    <a:lnTo>
                      <a:pt x="20843" y="79914"/>
                    </a:lnTo>
                    <a:lnTo>
                      <a:pt x="20843" y="19979"/>
                    </a:lnTo>
                    <a:close/>
                    <a:moveTo>
                      <a:pt x="75665" y="0"/>
                    </a:moveTo>
                    <a:lnTo>
                      <a:pt x="96413" y="0"/>
                    </a:lnTo>
                    <a:lnTo>
                      <a:pt x="120112" y="39672"/>
                    </a:lnTo>
                    <a:lnTo>
                      <a:pt x="143811" y="0"/>
                    </a:lnTo>
                    <a:lnTo>
                      <a:pt x="164844" y="0"/>
                    </a:lnTo>
                    <a:lnTo>
                      <a:pt x="164844" y="79914"/>
                    </a:lnTo>
                    <a:lnTo>
                      <a:pt x="143811" y="79914"/>
                    </a:lnTo>
                    <a:lnTo>
                      <a:pt x="143811" y="35391"/>
                    </a:lnTo>
                    <a:lnTo>
                      <a:pt x="120112" y="75348"/>
                    </a:lnTo>
                    <a:lnTo>
                      <a:pt x="96413" y="35391"/>
                    </a:lnTo>
                    <a:lnTo>
                      <a:pt x="96413" y="79914"/>
                    </a:lnTo>
                    <a:lnTo>
                      <a:pt x="75665" y="79914"/>
                    </a:lnTo>
                    <a:lnTo>
                      <a:pt x="75665" y="0"/>
                    </a:lnTo>
                    <a:close/>
                  </a:path>
                </a:pathLst>
              </a:custGeom>
              <a:solidFill>
                <a:schemeClr val="dk1"/>
              </a:solidFill>
              <a:ln>
                <a:noFill/>
              </a:ln>
            </p:spPr>
            <p:txBody>
              <a:bodyPr spcFirstLastPara="1" wrap="square" lIns="91343" tIns="45655" rIns="91343" bIns="45655" anchor="ctr" anchorCtr="0">
                <a:noAutofit/>
              </a:bodyPr>
              <a:lstStyle/>
              <a:p>
                <a:pPr defTabSz="1218895"/>
                <a:endParaRPr sz="1733"/>
              </a:p>
            </p:txBody>
          </p:sp>
        </p:grpSp>
        <p:grpSp>
          <p:nvGrpSpPr>
            <p:cNvPr id="6125" name="Google Shape;6125;p311"/>
            <p:cNvGrpSpPr/>
            <p:nvPr/>
          </p:nvGrpSpPr>
          <p:grpSpPr>
            <a:xfrm>
              <a:off x="1051333" y="4555531"/>
              <a:ext cx="333316" cy="263975"/>
              <a:chOff x="-1941240" y="4587617"/>
              <a:chExt cx="1027801" cy="813985"/>
            </a:xfrm>
          </p:grpSpPr>
          <p:sp>
            <p:nvSpPr>
              <p:cNvPr id="6126" name="Google Shape;6126;p311"/>
              <p:cNvSpPr/>
              <p:nvPr/>
            </p:nvSpPr>
            <p:spPr>
              <a:xfrm>
                <a:off x="-1941240" y="4587617"/>
                <a:ext cx="1027801" cy="813985"/>
              </a:xfrm>
              <a:custGeom>
                <a:avLst/>
                <a:gdLst/>
                <a:ahLst/>
                <a:cxnLst/>
                <a:rect l="l" t="t" r="r" b="b"/>
                <a:pathLst>
                  <a:path w="1027801" h="813985" extrusionOk="0">
                    <a:moveTo>
                      <a:pt x="932341" y="257439"/>
                    </a:moveTo>
                    <a:cubicBezTo>
                      <a:pt x="892843" y="217957"/>
                      <a:pt x="844208" y="189321"/>
                      <a:pt x="791100" y="174290"/>
                    </a:cubicBezTo>
                    <a:cubicBezTo>
                      <a:pt x="727332" y="66500"/>
                      <a:pt x="610932" y="0"/>
                      <a:pt x="485205" y="0"/>
                    </a:cubicBezTo>
                    <a:cubicBezTo>
                      <a:pt x="390315" y="0"/>
                      <a:pt x="301040" y="36913"/>
                      <a:pt x="233942" y="103984"/>
                    </a:cubicBezTo>
                    <a:cubicBezTo>
                      <a:pt x="190542" y="147366"/>
                      <a:pt x="159134" y="201023"/>
                      <a:pt x="142859" y="259436"/>
                    </a:cubicBezTo>
                    <a:cubicBezTo>
                      <a:pt x="54536" y="313759"/>
                      <a:pt x="0" y="410703"/>
                      <a:pt x="0" y="514592"/>
                    </a:cubicBezTo>
                    <a:cubicBezTo>
                      <a:pt x="0" y="594601"/>
                      <a:pt x="31122" y="669759"/>
                      <a:pt x="87752" y="726270"/>
                    </a:cubicBezTo>
                    <a:cubicBezTo>
                      <a:pt x="114877" y="753384"/>
                      <a:pt x="146285" y="774599"/>
                      <a:pt x="180453" y="789440"/>
                    </a:cubicBezTo>
                    <a:cubicBezTo>
                      <a:pt x="193206" y="794958"/>
                      <a:pt x="206341" y="799620"/>
                      <a:pt x="219856" y="803330"/>
                    </a:cubicBezTo>
                    <a:cubicBezTo>
                      <a:pt x="219856" y="803330"/>
                      <a:pt x="219856" y="803330"/>
                      <a:pt x="219856" y="803330"/>
                    </a:cubicBezTo>
                    <a:lnTo>
                      <a:pt x="254214" y="768986"/>
                    </a:lnTo>
                    <a:cubicBezTo>
                      <a:pt x="254214" y="768986"/>
                      <a:pt x="254214" y="768986"/>
                      <a:pt x="254214" y="768986"/>
                    </a:cubicBezTo>
                    <a:lnTo>
                      <a:pt x="558110" y="465216"/>
                    </a:lnTo>
                    <a:lnTo>
                      <a:pt x="558110" y="581092"/>
                    </a:lnTo>
                    <a:cubicBezTo>
                      <a:pt x="558110" y="592413"/>
                      <a:pt x="567342" y="601641"/>
                      <a:pt x="578668" y="601641"/>
                    </a:cubicBezTo>
                    <a:cubicBezTo>
                      <a:pt x="589994" y="601641"/>
                      <a:pt x="599226" y="592413"/>
                      <a:pt x="599226" y="581092"/>
                    </a:cubicBezTo>
                    <a:lnTo>
                      <a:pt x="599226" y="415650"/>
                    </a:lnTo>
                    <a:lnTo>
                      <a:pt x="599226" y="415650"/>
                    </a:lnTo>
                    <a:lnTo>
                      <a:pt x="599226" y="395101"/>
                    </a:lnTo>
                    <a:lnTo>
                      <a:pt x="413157" y="395101"/>
                    </a:lnTo>
                    <a:cubicBezTo>
                      <a:pt x="401831" y="395101"/>
                      <a:pt x="392600" y="404329"/>
                      <a:pt x="392600" y="415650"/>
                    </a:cubicBezTo>
                    <a:cubicBezTo>
                      <a:pt x="392600" y="426971"/>
                      <a:pt x="401831" y="436199"/>
                      <a:pt x="413157" y="436199"/>
                    </a:cubicBezTo>
                    <a:lnTo>
                      <a:pt x="529081" y="436199"/>
                    </a:lnTo>
                    <a:lnTo>
                      <a:pt x="208625" y="756523"/>
                    </a:lnTo>
                    <a:cubicBezTo>
                      <a:pt x="174552" y="743775"/>
                      <a:pt x="143335" y="723796"/>
                      <a:pt x="116876" y="697253"/>
                    </a:cubicBezTo>
                    <a:cubicBezTo>
                      <a:pt x="68051" y="648448"/>
                      <a:pt x="41211" y="583566"/>
                      <a:pt x="41211" y="514592"/>
                    </a:cubicBezTo>
                    <a:cubicBezTo>
                      <a:pt x="41211" y="422500"/>
                      <a:pt x="90893" y="336687"/>
                      <a:pt x="170935" y="290641"/>
                    </a:cubicBezTo>
                    <a:lnTo>
                      <a:pt x="178454" y="286265"/>
                    </a:lnTo>
                    <a:lnTo>
                      <a:pt x="180548" y="277798"/>
                    </a:lnTo>
                    <a:cubicBezTo>
                      <a:pt x="194253" y="223285"/>
                      <a:pt x="222806" y="173243"/>
                      <a:pt x="263065" y="133000"/>
                    </a:cubicBezTo>
                    <a:cubicBezTo>
                      <a:pt x="322455" y="73635"/>
                      <a:pt x="401356" y="41004"/>
                      <a:pt x="485205" y="41004"/>
                    </a:cubicBezTo>
                    <a:cubicBezTo>
                      <a:pt x="599035" y="41004"/>
                      <a:pt x="704205" y="102652"/>
                      <a:pt x="759597" y="201879"/>
                    </a:cubicBezTo>
                    <a:lnTo>
                      <a:pt x="763880" y="209585"/>
                    </a:lnTo>
                    <a:lnTo>
                      <a:pt x="772445" y="211773"/>
                    </a:lnTo>
                    <a:cubicBezTo>
                      <a:pt x="821651" y="224236"/>
                      <a:pt x="866860" y="250113"/>
                      <a:pt x="903217" y="286455"/>
                    </a:cubicBezTo>
                    <a:cubicBezTo>
                      <a:pt x="957086" y="340302"/>
                      <a:pt x="986686" y="411845"/>
                      <a:pt x="986686" y="487954"/>
                    </a:cubicBezTo>
                    <a:cubicBezTo>
                      <a:pt x="986686" y="564063"/>
                      <a:pt x="956991" y="635605"/>
                      <a:pt x="903217" y="689452"/>
                    </a:cubicBezTo>
                    <a:cubicBezTo>
                      <a:pt x="849347" y="743299"/>
                      <a:pt x="777775" y="772887"/>
                      <a:pt x="701635" y="772887"/>
                    </a:cubicBezTo>
                    <a:lnTo>
                      <a:pt x="341014" y="772887"/>
                    </a:lnTo>
                    <a:lnTo>
                      <a:pt x="299898" y="813985"/>
                    </a:lnTo>
                    <a:lnTo>
                      <a:pt x="701635" y="813985"/>
                    </a:lnTo>
                    <a:cubicBezTo>
                      <a:pt x="788721" y="813985"/>
                      <a:pt x="870667" y="780117"/>
                      <a:pt x="932245" y="718469"/>
                    </a:cubicBezTo>
                    <a:cubicBezTo>
                      <a:pt x="993824" y="656916"/>
                      <a:pt x="1027802" y="575003"/>
                      <a:pt x="1027802" y="487954"/>
                    </a:cubicBezTo>
                    <a:cubicBezTo>
                      <a:pt x="1027802" y="400904"/>
                      <a:pt x="993919" y="318992"/>
                      <a:pt x="932245" y="257439"/>
                    </a:cubicBezTo>
                    <a:close/>
                  </a:path>
                </a:pathLst>
              </a:custGeom>
              <a:solidFill>
                <a:srgbClr val="0098C7"/>
              </a:solidFill>
              <a:ln>
                <a:noFill/>
              </a:ln>
            </p:spPr>
            <p:txBody>
              <a:bodyPr spcFirstLastPara="1" wrap="square" lIns="91343" tIns="45655" rIns="91343" bIns="45655" anchor="ctr" anchorCtr="0">
                <a:noAutofit/>
              </a:bodyPr>
              <a:lstStyle/>
              <a:p>
                <a:pPr defTabSz="1218895"/>
                <a:endParaRPr sz="1733"/>
              </a:p>
            </p:txBody>
          </p:sp>
          <p:sp>
            <p:nvSpPr>
              <p:cNvPr id="6127" name="Google Shape;6127;p311"/>
              <p:cNvSpPr/>
              <p:nvPr/>
            </p:nvSpPr>
            <p:spPr>
              <a:xfrm>
                <a:off x="-1823127" y="4705681"/>
                <a:ext cx="791385" cy="577667"/>
              </a:xfrm>
              <a:custGeom>
                <a:avLst/>
                <a:gdLst/>
                <a:ahLst/>
                <a:cxnLst/>
                <a:rect l="l" t="t" r="r" b="b"/>
                <a:pathLst>
                  <a:path w="791385" h="577667" extrusionOk="0">
                    <a:moveTo>
                      <a:pt x="592088" y="162207"/>
                    </a:moveTo>
                    <a:cubicBezTo>
                      <a:pt x="560109" y="65929"/>
                      <a:pt x="469787" y="0"/>
                      <a:pt x="366997" y="0"/>
                    </a:cubicBezTo>
                    <a:cubicBezTo>
                      <a:pt x="241080" y="0"/>
                      <a:pt x="137814" y="98561"/>
                      <a:pt x="130295" y="222524"/>
                    </a:cubicBezTo>
                    <a:cubicBezTo>
                      <a:pt x="53869" y="244881"/>
                      <a:pt x="0" y="315472"/>
                      <a:pt x="0" y="396433"/>
                    </a:cubicBezTo>
                    <a:cubicBezTo>
                      <a:pt x="0" y="461696"/>
                      <a:pt x="34739" y="519063"/>
                      <a:pt x="86705" y="550934"/>
                    </a:cubicBezTo>
                    <a:lnTo>
                      <a:pt x="116876" y="520776"/>
                    </a:lnTo>
                    <a:cubicBezTo>
                      <a:pt x="71953" y="497372"/>
                      <a:pt x="41116" y="450470"/>
                      <a:pt x="41116" y="396433"/>
                    </a:cubicBezTo>
                    <a:cubicBezTo>
                      <a:pt x="41116" y="329457"/>
                      <a:pt x="88799" y="271709"/>
                      <a:pt x="154375" y="258866"/>
                    </a:cubicBezTo>
                    <a:lnTo>
                      <a:pt x="171126" y="255631"/>
                    </a:lnTo>
                    <a:lnTo>
                      <a:pt x="170936" y="238506"/>
                    </a:lnTo>
                    <a:cubicBezTo>
                      <a:pt x="170936" y="238506"/>
                      <a:pt x="170936" y="237555"/>
                      <a:pt x="170936" y="237079"/>
                    </a:cubicBezTo>
                    <a:lnTo>
                      <a:pt x="170936" y="236889"/>
                    </a:lnTo>
                    <a:cubicBezTo>
                      <a:pt x="170936" y="128814"/>
                      <a:pt x="258878" y="41004"/>
                      <a:pt x="366902" y="41004"/>
                    </a:cubicBezTo>
                    <a:cubicBezTo>
                      <a:pt x="456272" y="41004"/>
                      <a:pt x="534316" y="101320"/>
                      <a:pt x="556682" y="187799"/>
                    </a:cubicBezTo>
                    <a:lnTo>
                      <a:pt x="560775" y="203782"/>
                    </a:lnTo>
                    <a:lnTo>
                      <a:pt x="577907" y="203116"/>
                    </a:lnTo>
                    <a:cubicBezTo>
                      <a:pt x="579715" y="203116"/>
                      <a:pt x="581618" y="203021"/>
                      <a:pt x="583427" y="203021"/>
                    </a:cubicBezTo>
                    <a:cubicBezTo>
                      <a:pt x="675366" y="203021"/>
                      <a:pt x="750270" y="277798"/>
                      <a:pt x="750270" y="369794"/>
                    </a:cubicBezTo>
                    <a:cubicBezTo>
                      <a:pt x="750270" y="461791"/>
                      <a:pt x="675462" y="536568"/>
                      <a:pt x="583427" y="536568"/>
                    </a:cubicBezTo>
                    <a:lnTo>
                      <a:pt x="341014" y="536568"/>
                    </a:lnTo>
                    <a:lnTo>
                      <a:pt x="299899" y="577667"/>
                    </a:lnTo>
                    <a:lnTo>
                      <a:pt x="583427" y="577667"/>
                    </a:lnTo>
                    <a:cubicBezTo>
                      <a:pt x="698113" y="577667"/>
                      <a:pt x="791386" y="484434"/>
                      <a:pt x="791386" y="369794"/>
                    </a:cubicBezTo>
                    <a:cubicBezTo>
                      <a:pt x="791386" y="255155"/>
                      <a:pt x="702682" y="166583"/>
                      <a:pt x="591897" y="162112"/>
                    </a:cubicBezTo>
                    <a:close/>
                  </a:path>
                </a:pathLst>
              </a:custGeom>
              <a:solidFill>
                <a:srgbClr val="005C8A"/>
              </a:solidFill>
              <a:ln>
                <a:noFill/>
              </a:ln>
            </p:spPr>
            <p:txBody>
              <a:bodyPr spcFirstLastPara="1" wrap="square" lIns="91343" tIns="45655" rIns="91343" bIns="45655" anchor="ctr" anchorCtr="0">
                <a:noAutofit/>
              </a:bodyPr>
              <a:lstStyle/>
              <a:p>
                <a:pPr defTabSz="1218895"/>
                <a:endParaRPr sz="1733"/>
              </a:p>
            </p:txBody>
          </p:sp>
        </p:grpSp>
      </p:grpSp>
      <p:grpSp>
        <p:nvGrpSpPr>
          <p:cNvPr id="6128" name="Google Shape;6128;p311"/>
          <p:cNvGrpSpPr/>
          <p:nvPr/>
        </p:nvGrpSpPr>
        <p:grpSpPr>
          <a:xfrm>
            <a:off x="5735428" y="5479648"/>
            <a:ext cx="2351078" cy="617562"/>
            <a:chOff x="5734334" y="5728114"/>
            <a:chExt cx="2353888" cy="618300"/>
          </a:xfrm>
        </p:grpSpPr>
        <p:sp>
          <p:nvSpPr>
            <p:cNvPr id="6129" name="Google Shape;6129;p311"/>
            <p:cNvSpPr/>
            <p:nvPr/>
          </p:nvSpPr>
          <p:spPr>
            <a:xfrm>
              <a:off x="5734334" y="5728114"/>
              <a:ext cx="15600" cy="618300"/>
            </a:xfrm>
            <a:prstGeom prst="rect">
              <a:avLst/>
            </a:prstGeom>
            <a:gradFill>
              <a:gsLst>
                <a:gs pos="0">
                  <a:srgbClr val="3B3B3B">
                    <a:alpha val="0"/>
                  </a:srgbClr>
                </a:gs>
                <a:gs pos="1000">
                  <a:srgbClr val="3B3B3B">
                    <a:alpha val="0"/>
                  </a:srgbClr>
                </a:gs>
                <a:gs pos="50000">
                  <a:srgbClr val="3B3B3B">
                    <a:alpha val="25882"/>
                  </a:srgbClr>
                </a:gs>
                <a:gs pos="100000">
                  <a:srgbClr val="3B3B3B">
                    <a:alpha val="0"/>
                  </a:srgbClr>
                </a:gs>
              </a:gsLst>
              <a:lin ang="5400012" scaled="0"/>
            </a:gradFill>
            <a:ln>
              <a:noFill/>
            </a:ln>
          </p:spPr>
          <p:txBody>
            <a:bodyPr spcFirstLastPara="1" wrap="square" lIns="91310" tIns="45655" rIns="91310" bIns="45655" anchor="ctr" anchorCtr="0">
              <a:noAutofit/>
            </a:bodyPr>
            <a:lstStyle/>
            <a:p>
              <a:pPr algn="ctr" defTabSz="1218895"/>
              <a:endParaRPr sz="1200">
                <a:solidFill>
                  <a:srgbClr val="FFFFFF"/>
                </a:solidFill>
              </a:endParaRPr>
            </a:p>
          </p:txBody>
        </p:sp>
        <p:sp>
          <p:nvSpPr>
            <p:cNvPr id="6130" name="Google Shape;6130;p311"/>
            <p:cNvSpPr/>
            <p:nvPr/>
          </p:nvSpPr>
          <p:spPr>
            <a:xfrm>
              <a:off x="8072622" y="5728114"/>
              <a:ext cx="15600" cy="618300"/>
            </a:xfrm>
            <a:prstGeom prst="rect">
              <a:avLst/>
            </a:prstGeom>
            <a:gradFill>
              <a:gsLst>
                <a:gs pos="0">
                  <a:srgbClr val="3B3B3B">
                    <a:alpha val="0"/>
                  </a:srgbClr>
                </a:gs>
                <a:gs pos="1000">
                  <a:srgbClr val="3B3B3B">
                    <a:alpha val="0"/>
                  </a:srgbClr>
                </a:gs>
                <a:gs pos="50000">
                  <a:srgbClr val="3B3B3B">
                    <a:alpha val="25882"/>
                  </a:srgbClr>
                </a:gs>
                <a:gs pos="100000">
                  <a:srgbClr val="3B3B3B">
                    <a:alpha val="0"/>
                  </a:srgbClr>
                </a:gs>
              </a:gsLst>
              <a:lin ang="5400012" scaled="0"/>
            </a:gradFill>
            <a:ln>
              <a:noFill/>
            </a:ln>
          </p:spPr>
          <p:txBody>
            <a:bodyPr spcFirstLastPara="1" wrap="square" lIns="91310" tIns="45655" rIns="91310" bIns="45655" anchor="ctr" anchorCtr="0">
              <a:noAutofit/>
            </a:bodyPr>
            <a:lstStyle/>
            <a:p>
              <a:pPr algn="ctr" defTabSz="1218895"/>
              <a:endParaRPr sz="1200">
                <a:solidFill>
                  <a:srgbClr val="FFFFFF"/>
                </a:solidFill>
              </a:endParaRPr>
            </a:p>
          </p:txBody>
        </p:sp>
      </p:grpSp>
      <p:grpSp>
        <p:nvGrpSpPr>
          <p:cNvPr id="6131" name="Google Shape;6131;p311"/>
          <p:cNvGrpSpPr/>
          <p:nvPr/>
        </p:nvGrpSpPr>
        <p:grpSpPr>
          <a:xfrm>
            <a:off x="3096713" y="1395571"/>
            <a:ext cx="7888673" cy="729927"/>
            <a:chOff x="3092470" y="1963602"/>
            <a:chExt cx="7898100" cy="730800"/>
          </a:xfrm>
        </p:grpSpPr>
        <p:grpSp>
          <p:nvGrpSpPr>
            <p:cNvPr id="6132" name="Google Shape;6132;p311"/>
            <p:cNvGrpSpPr/>
            <p:nvPr/>
          </p:nvGrpSpPr>
          <p:grpSpPr>
            <a:xfrm>
              <a:off x="3092470" y="1963602"/>
              <a:ext cx="7898100" cy="730800"/>
              <a:chOff x="3092470" y="2771984"/>
              <a:chExt cx="7898100" cy="730800"/>
            </a:xfrm>
          </p:grpSpPr>
          <p:sp>
            <p:nvSpPr>
              <p:cNvPr id="6133" name="Google Shape;6133;p311"/>
              <p:cNvSpPr/>
              <p:nvPr/>
            </p:nvSpPr>
            <p:spPr>
              <a:xfrm rot="10800000" flipH="1">
                <a:off x="3092470" y="2771984"/>
                <a:ext cx="7898100" cy="730800"/>
              </a:xfrm>
              <a:prstGeom prst="rect">
                <a:avLst/>
              </a:prstGeom>
              <a:gradFill>
                <a:gsLst>
                  <a:gs pos="0">
                    <a:srgbClr val="CEDFE7"/>
                  </a:gs>
                  <a:gs pos="100000">
                    <a:srgbClr val="FFFFFF">
                      <a:alpha val="0"/>
                    </a:srgbClr>
                  </a:gs>
                </a:gsLst>
                <a:lin ang="5400012" scaled="0"/>
              </a:gradFill>
              <a:ln>
                <a:noFill/>
              </a:ln>
            </p:spPr>
            <p:txBody>
              <a:bodyPr spcFirstLastPara="1" wrap="square" lIns="91243" tIns="45621" rIns="91243" bIns="45621" anchor="ctr" anchorCtr="0">
                <a:noAutofit/>
              </a:bodyPr>
              <a:lstStyle/>
              <a:p>
                <a:pPr algn="ctr" defTabSz="1218895"/>
                <a:endParaRPr sz="1066">
                  <a:solidFill>
                    <a:srgbClr val="FFFFFF"/>
                  </a:solidFill>
                </a:endParaRPr>
              </a:p>
            </p:txBody>
          </p:sp>
          <p:grpSp>
            <p:nvGrpSpPr>
              <p:cNvPr id="6134" name="Google Shape;6134;p311"/>
              <p:cNvGrpSpPr/>
              <p:nvPr/>
            </p:nvGrpSpPr>
            <p:grpSpPr>
              <a:xfrm>
                <a:off x="3510087" y="3093856"/>
                <a:ext cx="2166313" cy="227190"/>
                <a:chOff x="3897456" y="3234911"/>
                <a:chExt cx="2166313" cy="227190"/>
              </a:xfrm>
            </p:grpSpPr>
            <p:sp>
              <p:nvSpPr>
                <p:cNvPr id="6135" name="Google Shape;6135;p311"/>
                <p:cNvSpPr txBox="1"/>
                <p:nvPr/>
              </p:nvSpPr>
              <p:spPr>
                <a:xfrm>
                  <a:off x="4195669" y="3244001"/>
                  <a:ext cx="1868100" cy="218100"/>
                </a:xfrm>
                <a:prstGeom prst="rect">
                  <a:avLst/>
                </a:prstGeom>
                <a:noFill/>
                <a:ln>
                  <a:noFill/>
                </a:ln>
              </p:spPr>
              <p:txBody>
                <a:bodyPr spcFirstLastPara="1" wrap="square" lIns="0" tIns="0" rIns="0" bIns="0" anchor="ctr" anchorCtr="0">
                  <a:noAutofit/>
                </a:bodyPr>
                <a:lstStyle/>
                <a:p>
                  <a:pPr indent="-67716" defTabSz="1218895">
                    <a:buClr>
                      <a:srgbClr val="666666"/>
                    </a:buClr>
                    <a:buSzPts val="800"/>
                    <a:buFont typeface="Arial"/>
                    <a:buChar char="​"/>
                  </a:pPr>
                  <a:r>
                    <a:rPr lang="en" sz="1066">
                      <a:solidFill>
                        <a:srgbClr val="181818"/>
                      </a:solidFill>
                    </a:rPr>
                    <a:t>NVIDIA Foundation Models</a:t>
                  </a:r>
                  <a:endParaRPr sz="1466"/>
                </a:p>
              </p:txBody>
            </p:sp>
            <p:pic>
              <p:nvPicPr>
                <p:cNvPr id="6136" name="Google Shape;6136;p311"/>
                <p:cNvPicPr preferRelativeResize="0"/>
                <p:nvPr/>
              </p:nvPicPr>
              <p:blipFill rotWithShape="1">
                <a:blip r:embed="rId4">
                  <a:alphaModFix/>
                </a:blip>
                <a:srcRect/>
                <a:stretch/>
              </p:blipFill>
              <p:spPr>
                <a:xfrm>
                  <a:off x="3897456" y="3234911"/>
                  <a:ext cx="206023" cy="223682"/>
                </a:xfrm>
                <a:prstGeom prst="rect">
                  <a:avLst/>
                </a:prstGeom>
                <a:noFill/>
                <a:ln>
                  <a:noFill/>
                </a:ln>
              </p:spPr>
            </p:pic>
          </p:grpSp>
          <p:grpSp>
            <p:nvGrpSpPr>
              <p:cNvPr id="6137" name="Google Shape;6137;p311"/>
              <p:cNvGrpSpPr/>
              <p:nvPr/>
            </p:nvGrpSpPr>
            <p:grpSpPr>
              <a:xfrm>
                <a:off x="5977895" y="3093856"/>
                <a:ext cx="2139613" cy="227190"/>
                <a:chOff x="3897456" y="3234911"/>
                <a:chExt cx="2139613" cy="227190"/>
              </a:xfrm>
            </p:grpSpPr>
            <p:sp>
              <p:nvSpPr>
                <p:cNvPr id="6138" name="Google Shape;6138;p311"/>
                <p:cNvSpPr txBox="1"/>
                <p:nvPr/>
              </p:nvSpPr>
              <p:spPr>
                <a:xfrm>
                  <a:off x="4195669" y="3244001"/>
                  <a:ext cx="1841400" cy="218100"/>
                </a:xfrm>
                <a:prstGeom prst="rect">
                  <a:avLst/>
                </a:prstGeom>
                <a:noFill/>
                <a:ln>
                  <a:noFill/>
                </a:ln>
              </p:spPr>
              <p:txBody>
                <a:bodyPr spcFirstLastPara="1" wrap="square" lIns="0" tIns="0" rIns="0" bIns="0" anchor="ctr" anchorCtr="0">
                  <a:noAutofit/>
                </a:bodyPr>
                <a:lstStyle/>
                <a:p>
                  <a:pPr indent="-67716" defTabSz="1218895">
                    <a:buClr>
                      <a:srgbClr val="666666"/>
                    </a:buClr>
                    <a:buSzPts val="800"/>
                    <a:buFont typeface="Arial"/>
                    <a:buChar char="​"/>
                  </a:pPr>
                  <a:r>
                    <a:rPr lang="en" sz="1066">
                      <a:solidFill>
                        <a:srgbClr val="181818"/>
                      </a:solidFill>
                    </a:rPr>
                    <a:t>NVIDIA Optimized Models</a:t>
                  </a:r>
                  <a:endParaRPr sz="1466"/>
                </a:p>
              </p:txBody>
            </p:sp>
            <p:pic>
              <p:nvPicPr>
                <p:cNvPr id="6139" name="Google Shape;6139;p311"/>
                <p:cNvPicPr preferRelativeResize="0"/>
                <p:nvPr/>
              </p:nvPicPr>
              <p:blipFill rotWithShape="1">
                <a:blip r:embed="rId4">
                  <a:alphaModFix/>
                </a:blip>
                <a:srcRect/>
                <a:stretch/>
              </p:blipFill>
              <p:spPr>
                <a:xfrm>
                  <a:off x="3897456" y="3234911"/>
                  <a:ext cx="206023" cy="223682"/>
                </a:xfrm>
                <a:prstGeom prst="rect">
                  <a:avLst/>
                </a:prstGeom>
                <a:noFill/>
                <a:ln>
                  <a:noFill/>
                </a:ln>
              </p:spPr>
            </p:pic>
          </p:grpSp>
          <p:grpSp>
            <p:nvGrpSpPr>
              <p:cNvPr id="6140" name="Google Shape;6140;p311"/>
              <p:cNvGrpSpPr/>
              <p:nvPr/>
            </p:nvGrpSpPr>
            <p:grpSpPr>
              <a:xfrm>
                <a:off x="8396990" y="3093856"/>
                <a:ext cx="2451013" cy="227190"/>
                <a:chOff x="3897456" y="3234911"/>
                <a:chExt cx="2451013" cy="227190"/>
              </a:xfrm>
            </p:grpSpPr>
            <p:sp>
              <p:nvSpPr>
                <p:cNvPr id="6141" name="Google Shape;6141;p311"/>
                <p:cNvSpPr txBox="1"/>
                <p:nvPr/>
              </p:nvSpPr>
              <p:spPr>
                <a:xfrm>
                  <a:off x="4195669" y="3244001"/>
                  <a:ext cx="2152800" cy="218100"/>
                </a:xfrm>
                <a:prstGeom prst="rect">
                  <a:avLst/>
                </a:prstGeom>
                <a:noFill/>
                <a:ln>
                  <a:noFill/>
                </a:ln>
              </p:spPr>
              <p:txBody>
                <a:bodyPr spcFirstLastPara="1" wrap="square" lIns="0" tIns="0" rIns="0" bIns="0" anchor="ctr" anchorCtr="0">
                  <a:noAutofit/>
                </a:bodyPr>
                <a:lstStyle/>
                <a:p>
                  <a:pPr indent="-67716" defTabSz="1218895">
                    <a:buClr>
                      <a:srgbClr val="666666"/>
                    </a:buClr>
                    <a:buSzPts val="800"/>
                    <a:buFont typeface="Arial"/>
                    <a:buChar char="​"/>
                  </a:pPr>
                  <a:r>
                    <a:rPr lang="en" sz="1066">
                      <a:solidFill>
                        <a:srgbClr val="181818"/>
                      </a:solidFill>
                    </a:rPr>
                    <a:t>Third party &amp; Community Models</a:t>
                  </a:r>
                  <a:endParaRPr sz="1466"/>
                </a:p>
              </p:txBody>
            </p:sp>
            <p:pic>
              <p:nvPicPr>
                <p:cNvPr id="6142" name="Google Shape;6142;p311"/>
                <p:cNvPicPr preferRelativeResize="0"/>
                <p:nvPr/>
              </p:nvPicPr>
              <p:blipFill rotWithShape="1">
                <a:blip r:embed="rId4">
                  <a:alphaModFix/>
                </a:blip>
                <a:srcRect/>
                <a:stretch/>
              </p:blipFill>
              <p:spPr>
                <a:xfrm>
                  <a:off x="3897456" y="3234911"/>
                  <a:ext cx="206023" cy="223682"/>
                </a:xfrm>
                <a:prstGeom prst="rect">
                  <a:avLst/>
                </a:prstGeom>
                <a:noFill/>
                <a:ln>
                  <a:noFill/>
                </a:ln>
              </p:spPr>
            </p:pic>
          </p:grpSp>
        </p:grpSp>
        <p:grpSp>
          <p:nvGrpSpPr>
            <p:cNvPr id="6143" name="Google Shape;6143;p311"/>
            <p:cNvGrpSpPr/>
            <p:nvPr/>
          </p:nvGrpSpPr>
          <p:grpSpPr>
            <a:xfrm>
              <a:off x="5676278" y="1997631"/>
              <a:ext cx="2462743" cy="618300"/>
              <a:chOff x="5676278" y="2832516"/>
              <a:chExt cx="2462743" cy="618300"/>
            </a:xfrm>
          </p:grpSpPr>
          <p:sp>
            <p:nvSpPr>
              <p:cNvPr id="6144" name="Google Shape;6144;p311"/>
              <p:cNvSpPr/>
              <p:nvPr/>
            </p:nvSpPr>
            <p:spPr>
              <a:xfrm>
                <a:off x="5676278" y="2832516"/>
                <a:ext cx="15600" cy="618300"/>
              </a:xfrm>
              <a:prstGeom prst="rect">
                <a:avLst/>
              </a:prstGeom>
              <a:gradFill>
                <a:gsLst>
                  <a:gs pos="0">
                    <a:srgbClr val="3B3B3B">
                      <a:alpha val="0"/>
                    </a:srgbClr>
                  </a:gs>
                  <a:gs pos="1000">
                    <a:srgbClr val="3B3B3B">
                      <a:alpha val="0"/>
                    </a:srgbClr>
                  </a:gs>
                  <a:gs pos="50000">
                    <a:srgbClr val="3B3B3B">
                      <a:alpha val="25882"/>
                    </a:srgbClr>
                  </a:gs>
                  <a:gs pos="100000">
                    <a:srgbClr val="3B3B3B">
                      <a:alpha val="0"/>
                    </a:srgbClr>
                  </a:gs>
                </a:gsLst>
                <a:lin ang="5400012" scaled="0"/>
              </a:gradFill>
              <a:ln>
                <a:noFill/>
              </a:ln>
            </p:spPr>
            <p:txBody>
              <a:bodyPr spcFirstLastPara="1" wrap="square" lIns="91310" tIns="45655" rIns="91310" bIns="45655" anchor="ctr" anchorCtr="0">
                <a:noAutofit/>
              </a:bodyPr>
              <a:lstStyle/>
              <a:p>
                <a:pPr algn="ctr" defTabSz="1218895"/>
                <a:endParaRPr sz="1200">
                  <a:solidFill>
                    <a:srgbClr val="FFFFFF"/>
                  </a:solidFill>
                </a:endParaRPr>
              </a:p>
            </p:txBody>
          </p:sp>
          <p:sp>
            <p:nvSpPr>
              <p:cNvPr id="6145" name="Google Shape;6145;p311"/>
              <p:cNvSpPr/>
              <p:nvPr/>
            </p:nvSpPr>
            <p:spPr>
              <a:xfrm>
                <a:off x="8123421" y="2832516"/>
                <a:ext cx="15600" cy="618300"/>
              </a:xfrm>
              <a:prstGeom prst="rect">
                <a:avLst/>
              </a:prstGeom>
              <a:gradFill>
                <a:gsLst>
                  <a:gs pos="0">
                    <a:srgbClr val="3B3B3B">
                      <a:alpha val="0"/>
                    </a:srgbClr>
                  </a:gs>
                  <a:gs pos="1000">
                    <a:srgbClr val="3B3B3B">
                      <a:alpha val="0"/>
                    </a:srgbClr>
                  </a:gs>
                  <a:gs pos="50000">
                    <a:srgbClr val="3B3B3B">
                      <a:alpha val="25882"/>
                    </a:srgbClr>
                  </a:gs>
                  <a:gs pos="100000">
                    <a:srgbClr val="3B3B3B">
                      <a:alpha val="0"/>
                    </a:srgbClr>
                  </a:gs>
                </a:gsLst>
                <a:lin ang="5400012" scaled="0"/>
              </a:gradFill>
              <a:ln>
                <a:noFill/>
              </a:ln>
            </p:spPr>
            <p:txBody>
              <a:bodyPr spcFirstLastPara="1" wrap="square" lIns="91310" tIns="45655" rIns="91310" bIns="45655" anchor="ctr" anchorCtr="0">
                <a:noAutofit/>
              </a:bodyPr>
              <a:lstStyle/>
              <a:p>
                <a:pPr algn="ctr" defTabSz="1218895"/>
                <a:endParaRPr sz="1200">
                  <a:solidFill>
                    <a:srgbClr val="FFFFFF"/>
                  </a:solidFill>
                </a:endParaRPr>
              </a:p>
            </p:txBody>
          </p:sp>
        </p:grpSp>
      </p:grpSp>
      <p:grpSp>
        <p:nvGrpSpPr>
          <p:cNvPr id="6146" name="Google Shape;6146;p311"/>
          <p:cNvGrpSpPr/>
          <p:nvPr/>
        </p:nvGrpSpPr>
        <p:grpSpPr>
          <a:xfrm>
            <a:off x="476370" y="2353632"/>
            <a:ext cx="10580604" cy="684956"/>
            <a:chOff x="473571" y="2869355"/>
            <a:chExt cx="10589008" cy="685500"/>
          </a:xfrm>
        </p:grpSpPr>
        <p:sp>
          <p:nvSpPr>
            <p:cNvPr id="6147" name="Google Shape;6147;p311"/>
            <p:cNvSpPr/>
            <p:nvPr/>
          </p:nvSpPr>
          <p:spPr>
            <a:xfrm>
              <a:off x="3022579" y="2869355"/>
              <a:ext cx="8040000" cy="685500"/>
            </a:xfrm>
            <a:prstGeom prst="rect">
              <a:avLst/>
            </a:prstGeom>
            <a:gradFill>
              <a:gsLst>
                <a:gs pos="0">
                  <a:srgbClr val="61A00A">
                    <a:alpha val="60000"/>
                  </a:srgbClr>
                </a:gs>
                <a:gs pos="99000">
                  <a:schemeClr val="accent4"/>
                </a:gs>
                <a:gs pos="100000">
                  <a:schemeClr val="accent4"/>
                </a:gs>
              </a:gsLst>
              <a:lin ang="5400012" scaled="0"/>
            </a:gradFill>
            <a:ln w="9525" cap="flat" cmpd="sng">
              <a:solidFill>
                <a:srgbClr val="EBEBEB"/>
              </a:solidFill>
              <a:prstDash val="solid"/>
              <a:round/>
              <a:headEnd type="none" w="sm" len="sm"/>
              <a:tailEnd type="none" w="sm" len="sm"/>
            </a:ln>
          </p:spPr>
          <p:txBody>
            <a:bodyPr spcFirstLastPara="1" wrap="square" lIns="182486" tIns="1094981" rIns="182486" bIns="45621" anchor="t" anchorCtr="0">
              <a:noAutofit/>
            </a:bodyPr>
            <a:lstStyle/>
            <a:p>
              <a:pPr defTabSz="1218895">
                <a:lnSpc>
                  <a:spcPct val="90000"/>
                </a:lnSpc>
              </a:pPr>
              <a:endParaRPr sz="1733">
                <a:solidFill>
                  <a:srgbClr val="5A5A5A"/>
                </a:solidFill>
              </a:endParaRPr>
            </a:p>
          </p:txBody>
        </p:sp>
        <p:sp>
          <p:nvSpPr>
            <p:cNvPr id="6148" name="Google Shape;6148;p311"/>
            <p:cNvSpPr/>
            <p:nvPr/>
          </p:nvSpPr>
          <p:spPr>
            <a:xfrm>
              <a:off x="3551972" y="2974655"/>
              <a:ext cx="1457100" cy="474900"/>
            </a:xfrm>
            <a:prstGeom prst="rect">
              <a:avLst/>
            </a:prstGeom>
            <a:solidFill>
              <a:schemeClr val="lt1"/>
            </a:solidFill>
            <a:ln w="9525" cap="sq" cmpd="sng">
              <a:solidFill>
                <a:schemeClr val="accent4"/>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NVIDIA </a:t>
              </a:r>
              <a:endParaRPr sz="1466"/>
            </a:p>
            <a:p>
              <a:pPr algn="ctr" defTabSz="1218895">
                <a:lnSpc>
                  <a:spcPct val="90000"/>
                </a:lnSpc>
              </a:pPr>
              <a:r>
                <a:rPr lang="en" sz="933">
                  <a:solidFill>
                    <a:srgbClr val="181818"/>
                  </a:solidFill>
                </a:rPr>
                <a:t>NIM</a:t>
              </a:r>
              <a:r>
                <a:rPr lang="en" sz="933" baseline="30000">
                  <a:solidFill>
                    <a:srgbClr val="181818"/>
                  </a:solidFill>
                </a:rPr>
                <a:t>TM</a:t>
              </a:r>
              <a:r>
                <a:rPr lang="en" sz="933">
                  <a:solidFill>
                    <a:srgbClr val="181818"/>
                  </a:solidFill>
                </a:rPr>
                <a:t> Microservices</a:t>
              </a:r>
              <a:endParaRPr sz="1466"/>
            </a:p>
          </p:txBody>
        </p:sp>
        <p:sp>
          <p:nvSpPr>
            <p:cNvPr id="6149" name="Google Shape;6149;p311"/>
            <p:cNvSpPr/>
            <p:nvPr/>
          </p:nvSpPr>
          <p:spPr>
            <a:xfrm>
              <a:off x="5396384" y="2974655"/>
              <a:ext cx="1457100" cy="474900"/>
            </a:xfrm>
            <a:prstGeom prst="rect">
              <a:avLst/>
            </a:prstGeom>
            <a:solidFill>
              <a:schemeClr val="lt1"/>
            </a:solidFill>
            <a:ln w="9525" cap="sq" cmpd="sng">
              <a:solidFill>
                <a:schemeClr val="accent4"/>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NVIDIA </a:t>
              </a:r>
              <a:br>
                <a:rPr lang="en" sz="933">
                  <a:solidFill>
                    <a:srgbClr val="181818"/>
                  </a:solidFill>
                </a:rPr>
              </a:br>
              <a:r>
                <a:rPr lang="en" sz="933">
                  <a:solidFill>
                    <a:srgbClr val="181818"/>
                  </a:solidFill>
                </a:rPr>
                <a:t>NeMo</a:t>
              </a:r>
              <a:r>
                <a:rPr lang="en" sz="933" baseline="30000">
                  <a:solidFill>
                    <a:srgbClr val="181818"/>
                  </a:solidFill>
                </a:rPr>
                <a:t>TM</a:t>
              </a:r>
              <a:r>
                <a:rPr lang="en" sz="933">
                  <a:solidFill>
                    <a:srgbClr val="181818"/>
                  </a:solidFill>
                </a:rPr>
                <a:t> Retriever</a:t>
              </a:r>
              <a:endParaRPr sz="1466"/>
            </a:p>
          </p:txBody>
        </p:sp>
        <p:sp>
          <p:nvSpPr>
            <p:cNvPr id="6150" name="Google Shape;6150;p311"/>
            <p:cNvSpPr/>
            <p:nvPr/>
          </p:nvSpPr>
          <p:spPr>
            <a:xfrm>
              <a:off x="7240795" y="2974655"/>
              <a:ext cx="1457100" cy="474900"/>
            </a:xfrm>
            <a:prstGeom prst="rect">
              <a:avLst/>
            </a:prstGeom>
            <a:solidFill>
              <a:schemeClr val="lt1"/>
            </a:solidFill>
            <a:ln w="9525" cap="sq" cmpd="sng">
              <a:solidFill>
                <a:schemeClr val="accent4"/>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NVIDIA</a:t>
              </a:r>
              <a:br>
                <a:rPr lang="en" sz="933">
                  <a:solidFill>
                    <a:srgbClr val="181818"/>
                  </a:solidFill>
                </a:rPr>
              </a:br>
              <a:r>
                <a:rPr lang="en" sz="933">
                  <a:solidFill>
                    <a:srgbClr val="181818"/>
                  </a:solidFill>
                </a:rPr>
                <a:t>Blueprints</a:t>
              </a:r>
              <a:endParaRPr sz="1600">
                <a:solidFill>
                  <a:srgbClr val="181818"/>
                </a:solidFill>
              </a:endParaRPr>
            </a:p>
          </p:txBody>
        </p:sp>
        <p:sp>
          <p:nvSpPr>
            <p:cNvPr id="6151" name="Google Shape;6151;p311"/>
            <p:cNvSpPr/>
            <p:nvPr/>
          </p:nvSpPr>
          <p:spPr>
            <a:xfrm>
              <a:off x="9085209" y="2974655"/>
              <a:ext cx="1457100" cy="474900"/>
            </a:xfrm>
            <a:prstGeom prst="rect">
              <a:avLst/>
            </a:prstGeom>
            <a:solidFill>
              <a:schemeClr val="lt1"/>
            </a:solidFill>
            <a:ln w="9525" cap="sq" cmpd="sng">
              <a:solidFill>
                <a:schemeClr val="accent4"/>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NVIDIA </a:t>
              </a:r>
              <a:br>
                <a:rPr lang="en" sz="933">
                  <a:solidFill>
                    <a:srgbClr val="181818"/>
                  </a:solidFill>
                </a:rPr>
              </a:br>
              <a:r>
                <a:rPr lang="en" sz="933">
                  <a:solidFill>
                    <a:srgbClr val="181818"/>
                  </a:solidFill>
                </a:rPr>
                <a:t>NIM Operator</a:t>
              </a:r>
              <a:endParaRPr sz="1600">
                <a:solidFill>
                  <a:srgbClr val="181818"/>
                </a:solidFill>
              </a:endParaRPr>
            </a:p>
          </p:txBody>
        </p:sp>
        <p:grpSp>
          <p:nvGrpSpPr>
            <p:cNvPr id="6152" name="Google Shape;6152;p311"/>
            <p:cNvGrpSpPr/>
            <p:nvPr/>
          </p:nvGrpSpPr>
          <p:grpSpPr>
            <a:xfrm>
              <a:off x="473571" y="2972395"/>
              <a:ext cx="1537463" cy="430628"/>
              <a:chOff x="4687801" y="4020867"/>
              <a:chExt cx="1686000" cy="472232"/>
            </a:xfrm>
          </p:grpSpPr>
          <p:sp>
            <p:nvSpPr>
              <p:cNvPr id="6153" name="Google Shape;6153;p311"/>
              <p:cNvSpPr/>
              <p:nvPr/>
            </p:nvSpPr>
            <p:spPr>
              <a:xfrm>
                <a:off x="4687801" y="4354499"/>
                <a:ext cx="1686000" cy="138600"/>
              </a:xfrm>
              <a:prstGeom prst="rect">
                <a:avLst/>
              </a:prstGeom>
              <a:noFill/>
              <a:ln>
                <a:noFill/>
              </a:ln>
            </p:spPr>
            <p:txBody>
              <a:bodyPr spcFirstLastPara="1" wrap="square" lIns="91243" tIns="91243" rIns="91243" bIns="91243" anchor="ctr" anchorCtr="0">
                <a:noAutofit/>
              </a:bodyPr>
              <a:lstStyle/>
              <a:p>
                <a:pPr algn="ctr" defTabSz="1218895">
                  <a:lnSpc>
                    <a:spcPct val="93000"/>
                  </a:lnSpc>
                </a:pPr>
                <a:r>
                  <a:rPr lang="en" sz="1200">
                    <a:solidFill>
                      <a:srgbClr val="000001"/>
                    </a:solidFill>
                  </a:rPr>
                  <a:t>AI Enterprise</a:t>
                </a:r>
                <a:endParaRPr sz="1200">
                  <a:solidFill>
                    <a:srgbClr val="000001"/>
                  </a:solidFill>
                </a:endParaRPr>
              </a:p>
            </p:txBody>
          </p:sp>
          <p:pic>
            <p:nvPicPr>
              <p:cNvPr id="6154" name="Google Shape;6154;p311" descr="A logo with black text&#10;&#10;Description automatically generated"/>
              <p:cNvPicPr preferRelativeResize="0"/>
              <p:nvPr/>
            </p:nvPicPr>
            <p:blipFill rotWithShape="1">
              <a:blip r:embed="rId5">
                <a:alphaModFix/>
              </a:blip>
              <a:srcRect t="29874" b="29874"/>
              <a:stretch/>
            </p:blipFill>
            <p:spPr>
              <a:xfrm>
                <a:off x="4840089" y="4020867"/>
                <a:ext cx="1288372" cy="291385"/>
              </a:xfrm>
              <a:prstGeom prst="rect">
                <a:avLst/>
              </a:prstGeom>
              <a:noFill/>
              <a:ln>
                <a:noFill/>
              </a:ln>
            </p:spPr>
          </p:pic>
        </p:grpSp>
        <p:grpSp>
          <p:nvGrpSpPr>
            <p:cNvPr id="6155" name="Google Shape;6155;p311"/>
            <p:cNvGrpSpPr/>
            <p:nvPr/>
          </p:nvGrpSpPr>
          <p:grpSpPr>
            <a:xfrm>
              <a:off x="1856490" y="3152441"/>
              <a:ext cx="1377511" cy="101949"/>
              <a:chOff x="1852651" y="4011421"/>
              <a:chExt cx="1378200" cy="102000"/>
            </a:xfrm>
          </p:grpSpPr>
          <p:sp>
            <p:nvSpPr>
              <p:cNvPr id="6156" name="Google Shape;6156;p311"/>
              <p:cNvSpPr/>
              <p:nvPr/>
            </p:nvSpPr>
            <p:spPr>
              <a:xfrm>
                <a:off x="2303521" y="4011421"/>
                <a:ext cx="342300" cy="102000"/>
              </a:xfrm>
              <a:prstGeom prst="rect">
                <a:avLst/>
              </a:prstGeom>
              <a:gradFill>
                <a:gsLst>
                  <a:gs pos="0">
                    <a:srgbClr val="F5F9FB"/>
                  </a:gs>
                  <a:gs pos="100000">
                    <a:schemeClr val="lt1"/>
                  </a:gs>
                </a:gsLst>
                <a:lin ang="0" scaled="0"/>
              </a:gradFill>
              <a:ln>
                <a:noFill/>
              </a:ln>
            </p:spPr>
            <p:txBody>
              <a:bodyPr spcFirstLastPara="1" wrap="square" lIns="91343" tIns="45655" rIns="91343" bIns="45655" anchor="ctr" anchorCtr="0">
                <a:noAutofit/>
              </a:bodyPr>
              <a:lstStyle/>
              <a:p>
                <a:pPr algn="ctr" defTabSz="1218895"/>
                <a:endParaRPr sz="1733">
                  <a:solidFill>
                    <a:srgbClr val="FFFFFF"/>
                  </a:solidFill>
                </a:endParaRPr>
              </a:p>
            </p:txBody>
          </p:sp>
          <p:cxnSp>
            <p:nvCxnSpPr>
              <p:cNvPr id="6157" name="Google Shape;6157;p311"/>
              <p:cNvCxnSpPr/>
              <p:nvPr/>
            </p:nvCxnSpPr>
            <p:spPr>
              <a:xfrm>
                <a:off x="1852651" y="4062427"/>
                <a:ext cx="1378200" cy="0"/>
              </a:xfrm>
              <a:prstGeom prst="straightConnector1">
                <a:avLst/>
              </a:prstGeom>
              <a:noFill/>
              <a:ln w="7150" cap="flat" cmpd="sng">
                <a:solidFill>
                  <a:schemeClr val="dk1"/>
                </a:solidFill>
                <a:prstDash val="dash"/>
                <a:round/>
                <a:headEnd type="none" w="sm" len="sm"/>
                <a:tailEnd type="stealth" w="med" len="med"/>
              </a:ln>
            </p:spPr>
          </p:cxnSp>
        </p:grpSp>
      </p:grpSp>
      <p:sp>
        <p:nvSpPr>
          <p:cNvPr id="6158" name="Google Shape;6158;p311"/>
          <p:cNvSpPr/>
          <p:nvPr/>
        </p:nvSpPr>
        <p:spPr>
          <a:xfrm>
            <a:off x="3023395" y="3066157"/>
            <a:ext cx="8033907" cy="1851918"/>
          </a:xfrm>
          <a:prstGeom prst="rect">
            <a:avLst/>
          </a:prstGeom>
          <a:gradFill>
            <a:gsLst>
              <a:gs pos="0">
                <a:srgbClr val="0193C2">
                  <a:alpha val="60000"/>
                </a:srgbClr>
              </a:gs>
              <a:gs pos="100000">
                <a:schemeClr val="accent3"/>
              </a:gs>
            </a:gsLst>
            <a:lin ang="5400012" scaled="0"/>
          </a:gradFill>
          <a:ln w="9525" cap="flat" cmpd="sng">
            <a:solidFill>
              <a:srgbClr val="EBEBEB"/>
            </a:solidFill>
            <a:prstDash val="solid"/>
            <a:round/>
            <a:headEnd type="none" w="sm" len="sm"/>
            <a:tailEnd type="none" w="sm" len="sm"/>
          </a:ln>
        </p:spPr>
        <p:txBody>
          <a:bodyPr spcFirstLastPara="1" wrap="square" lIns="182486" tIns="1094981" rIns="182486" bIns="45621" anchor="t" anchorCtr="0">
            <a:noAutofit/>
          </a:bodyPr>
          <a:lstStyle/>
          <a:p>
            <a:pPr defTabSz="1218895">
              <a:lnSpc>
                <a:spcPct val="90000"/>
              </a:lnSpc>
            </a:pPr>
            <a:endParaRPr sz="1733">
              <a:solidFill>
                <a:srgbClr val="5A5A5A"/>
              </a:solidFill>
            </a:endParaRPr>
          </a:p>
        </p:txBody>
      </p:sp>
      <p:grpSp>
        <p:nvGrpSpPr>
          <p:cNvPr id="6159" name="Google Shape;6159;p311"/>
          <p:cNvGrpSpPr/>
          <p:nvPr/>
        </p:nvGrpSpPr>
        <p:grpSpPr>
          <a:xfrm>
            <a:off x="478162" y="3543971"/>
            <a:ext cx="2756449" cy="435629"/>
            <a:chOff x="475363" y="3495254"/>
            <a:chExt cx="2758638" cy="435975"/>
          </a:xfrm>
        </p:grpSpPr>
        <p:sp>
          <p:nvSpPr>
            <p:cNvPr id="6160" name="Google Shape;6160;p311"/>
            <p:cNvSpPr txBox="1"/>
            <p:nvPr/>
          </p:nvSpPr>
          <p:spPr>
            <a:xfrm>
              <a:off x="475363" y="3495254"/>
              <a:ext cx="1411199" cy="435975"/>
            </a:xfrm>
            <a:prstGeom prst="rect">
              <a:avLst/>
            </a:prstGeom>
            <a:noFill/>
            <a:ln>
              <a:noFill/>
            </a:ln>
          </p:spPr>
          <p:txBody>
            <a:bodyPr spcFirstLastPara="1" wrap="square" lIns="91343" tIns="45655" rIns="91343" bIns="45655" anchor="t" anchorCtr="0">
              <a:spAutoFit/>
            </a:bodyPr>
            <a:lstStyle/>
            <a:p>
              <a:pPr algn="ctr" defTabSz="1218895">
                <a:lnSpc>
                  <a:spcPct val="93000"/>
                </a:lnSpc>
              </a:pPr>
              <a:r>
                <a:rPr lang="en" sz="1200">
                  <a:solidFill>
                    <a:srgbClr val="000001"/>
                  </a:solidFill>
                </a:rPr>
                <a:t>VCF Private AI </a:t>
              </a:r>
              <a:endParaRPr sz="1466"/>
            </a:p>
            <a:p>
              <a:pPr algn="ctr" defTabSz="1218895">
                <a:lnSpc>
                  <a:spcPct val="93000"/>
                </a:lnSpc>
              </a:pPr>
              <a:r>
                <a:rPr lang="en" sz="1200">
                  <a:solidFill>
                    <a:srgbClr val="000001"/>
                  </a:solidFill>
                </a:rPr>
                <a:t>Services</a:t>
              </a:r>
              <a:endParaRPr sz="1466"/>
            </a:p>
          </p:txBody>
        </p:sp>
        <p:grpSp>
          <p:nvGrpSpPr>
            <p:cNvPr id="6161" name="Google Shape;6161;p311"/>
            <p:cNvGrpSpPr/>
            <p:nvPr/>
          </p:nvGrpSpPr>
          <p:grpSpPr>
            <a:xfrm>
              <a:off x="1856490" y="3662022"/>
              <a:ext cx="1377511" cy="101949"/>
              <a:chOff x="1852651" y="4011421"/>
              <a:chExt cx="1378200" cy="102000"/>
            </a:xfrm>
          </p:grpSpPr>
          <p:sp>
            <p:nvSpPr>
              <p:cNvPr id="6162" name="Google Shape;6162;p311"/>
              <p:cNvSpPr/>
              <p:nvPr/>
            </p:nvSpPr>
            <p:spPr>
              <a:xfrm>
                <a:off x="2303521" y="4011421"/>
                <a:ext cx="342300" cy="102000"/>
              </a:xfrm>
              <a:prstGeom prst="rect">
                <a:avLst/>
              </a:prstGeom>
              <a:gradFill>
                <a:gsLst>
                  <a:gs pos="0">
                    <a:srgbClr val="F5F9FB"/>
                  </a:gs>
                  <a:gs pos="100000">
                    <a:schemeClr val="lt1"/>
                  </a:gs>
                </a:gsLst>
                <a:lin ang="0" scaled="0"/>
              </a:gradFill>
              <a:ln>
                <a:noFill/>
              </a:ln>
            </p:spPr>
            <p:txBody>
              <a:bodyPr spcFirstLastPara="1" wrap="square" lIns="91343" tIns="45655" rIns="91343" bIns="45655" anchor="ctr" anchorCtr="0">
                <a:noAutofit/>
              </a:bodyPr>
              <a:lstStyle/>
              <a:p>
                <a:pPr algn="ctr" defTabSz="1218895"/>
                <a:endParaRPr sz="1733">
                  <a:solidFill>
                    <a:srgbClr val="FFFFFF"/>
                  </a:solidFill>
                </a:endParaRPr>
              </a:p>
            </p:txBody>
          </p:sp>
          <p:cxnSp>
            <p:nvCxnSpPr>
              <p:cNvPr id="6163" name="Google Shape;6163;p311"/>
              <p:cNvCxnSpPr/>
              <p:nvPr/>
            </p:nvCxnSpPr>
            <p:spPr>
              <a:xfrm>
                <a:off x="1852651" y="4062427"/>
                <a:ext cx="1378200" cy="0"/>
              </a:xfrm>
              <a:prstGeom prst="straightConnector1">
                <a:avLst/>
              </a:prstGeom>
              <a:noFill/>
              <a:ln w="7150" cap="flat" cmpd="sng">
                <a:solidFill>
                  <a:schemeClr val="dk1"/>
                </a:solidFill>
                <a:prstDash val="dash"/>
                <a:round/>
                <a:headEnd type="none" w="sm" len="sm"/>
                <a:tailEnd type="stealth" w="med" len="med"/>
              </a:ln>
            </p:spPr>
          </p:cxnSp>
        </p:grpSp>
      </p:grpSp>
      <p:grpSp>
        <p:nvGrpSpPr>
          <p:cNvPr id="6164" name="Google Shape;6164;p311"/>
          <p:cNvGrpSpPr/>
          <p:nvPr/>
        </p:nvGrpSpPr>
        <p:grpSpPr>
          <a:xfrm>
            <a:off x="1858377" y="4519295"/>
            <a:ext cx="1376555" cy="101864"/>
            <a:chOff x="1852651" y="4691359"/>
            <a:chExt cx="1378200" cy="102000"/>
          </a:xfrm>
        </p:grpSpPr>
        <p:sp>
          <p:nvSpPr>
            <p:cNvPr id="6165" name="Google Shape;6165;p311"/>
            <p:cNvSpPr/>
            <p:nvPr/>
          </p:nvSpPr>
          <p:spPr>
            <a:xfrm>
              <a:off x="2303521" y="4691359"/>
              <a:ext cx="342300" cy="102000"/>
            </a:xfrm>
            <a:prstGeom prst="rect">
              <a:avLst/>
            </a:prstGeom>
            <a:gradFill>
              <a:gsLst>
                <a:gs pos="0">
                  <a:srgbClr val="F5F9FB"/>
                </a:gs>
                <a:gs pos="100000">
                  <a:schemeClr val="lt1"/>
                </a:gs>
              </a:gsLst>
              <a:lin ang="0" scaled="0"/>
            </a:gradFill>
            <a:ln>
              <a:noFill/>
            </a:ln>
          </p:spPr>
          <p:txBody>
            <a:bodyPr spcFirstLastPara="1" wrap="square" lIns="91343" tIns="45655" rIns="91343" bIns="45655" anchor="ctr" anchorCtr="0">
              <a:noAutofit/>
            </a:bodyPr>
            <a:lstStyle/>
            <a:p>
              <a:pPr algn="ctr" defTabSz="1218895"/>
              <a:endParaRPr sz="1733">
                <a:solidFill>
                  <a:srgbClr val="FFFFFF"/>
                </a:solidFill>
              </a:endParaRPr>
            </a:p>
          </p:txBody>
        </p:sp>
        <p:cxnSp>
          <p:nvCxnSpPr>
            <p:cNvPr id="6166" name="Google Shape;6166;p311"/>
            <p:cNvCxnSpPr/>
            <p:nvPr/>
          </p:nvCxnSpPr>
          <p:spPr>
            <a:xfrm>
              <a:off x="1852651" y="4742365"/>
              <a:ext cx="1378200" cy="0"/>
            </a:xfrm>
            <a:prstGeom prst="straightConnector1">
              <a:avLst/>
            </a:prstGeom>
            <a:noFill/>
            <a:ln w="7150" cap="flat" cmpd="sng">
              <a:solidFill>
                <a:schemeClr val="dk1"/>
              </a:solidFill>
              <a:prstDash val="dash"/>
              <a:round/>
              <a:headEnd type="none" w="sm" len="sm"/>
              <a:tailEnd type="stealth" w="med" len="med"/>
            </a:ln>
          </p:spPr>
        </p:cxnSp>
      </p:grpSp>
      <p:sp>
        <p:nvSpPr>
          <p:cNvPr id="6167" name="Google Shape;6167;p311"/>
          <p:cNvSpPr/>
          <p:nvPr/>
        </p:nvSpPr>
        <p:spPr>
          <a:xfrm>
            <a:off x="3234608" y="3169666"/>
            <a:ext cx="7452059" cy="1125307"/>
          </a:xfrm>
          <a:prstGeom prst="rect">
            <a:avLst/>
          </a:prstGeom>
          <a:noFill/>
          <a:ln w="9525" cap="flat" cmpd="sng">
            <a:solidFill>
              <a:schemeClr val="accent1"/>
            </a:solidFill>
            <a:prstDash val="dash"/>
            <a:miter lim="800000"/>
            <a:headEnd type="none" w="sm" len="sm"/>
            <a:tailEnd type="none" w="sm" len="sm"/>
          </a:ln>
        </p:spPr>
        <p:txBody>
          <a:bodyPr spcFirstLastPara="1" wrap="square" lIns="91343" tIns="45655" rIns="91343" bIns="45655" anchor="ctr" anchorCtr="0">
            <a:noAutofit/>
          </a:bodyPr>
          <a:lstStyle/>
          <a:p>
            <a:pPr algn="ctr" defTabSz="1218895"/>
            <a:endParaRPr sz="1733">
              <a:solidFill>
                <a:srgbClr val="FFFFFF"/>
              </a:solidFill>
            </a:endParaRPr>
          </a:p>
        </p:txBody>
      </p:sp>
      <p:sp>
        <p:nvSpPr>
          <p:cNvPr id="6168" name="Google Shape;6168;p311"/>
          <p:cNvSpPr/>
          <p:nvPr/>
        </p:nvSpPr>
        <p:spPr>
          <a:xfrm>
            <a:off x="3552373" y="3763603"/>
            <a:ext cx="1456021" cy="453082"/>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AI Metrics </a:t>
            </a:r>
            <a:endParaRPr sz="1466"/>
          </a:p>
          <a:p>
            <a:pPr algn="ctr" defTabSz="1218895">
              <a:lnSpc>
                <a:spcPct val="90000"/>
              </a:lnSpc>
            </a:pPr>
            <a:r>
              <a:rPr lang="en" sz="933">
                <a:solidFill>
                  <a:srgbClr val="181818"/>
                </a:solidFill>
              </a:rPr>
              <a:t>Dashboard</a:t>
            </a:r>
            <a:endParaRPr sz="1466"/>
          </a:p>
        </p:txBody>
      </p:sp>
      <p:sp>
        <p:nvSpPr>
          <p:cNvPr id="6169" name="Google Shape;6169;p311"/>
          <p:cNvSpPr/>
          <p:nvPr/>
        </p:nvSpPr>
        <p:spPr>
          <a:xfrm>
            <a:off x="5395343" y="3784526"/>
            <a:ext cx="1456021" cy="432687"/>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Vector </a:t>
            </a:r>
            <a:endParaRPr sz="1466"/>
          </a:p>
          <a:p>
            <a:pPr algn="ctr" defTabSz="1218895">
              <a:lnSpc>
                <a:spcPct val="90000"/>
              </a:lnSpc>
            </a:pPr>
            <a:r>
              <a:rPr lang="en" sz="933">
                <a:solidFill>
                  <a:srgbClr val="181818"/>
                </a:solidFill>
              </a:rPr>
              <a:t>Databases</a:t>
            </a:r>
            <a:endParaRPr sz="1600">
              <a:solidFill>
                <a:srgbClr val="181818"/>
              </a:solidFill>
            </a:endParaRPr>
          </a:p>
        </p:txBody>
      </p:sp>
      <p:sp>
        <p:nvSpPr>
          <p:cNvPr id="6170" name="Google Shape;6170;p311"/>
          <p:cNvSpPr/>
          <p:nvPr/>
        </p:nvSpPr>
        <p:spPr>
          <a:xfrm>
            <a:off x="7238313" y="3763603"/>
            <a:ext cx="1456021" cy="453082"/>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AI Blueprints </a:t>
            </a:r>
            <a:endParaRPr sz="1466"/>
          </a:p>
          <a:p>
            <a:pPr algn="ctr" defTabSz="1218895">
              <a:lnSpc>
                <a:spcPct val="90000"/>
              </a:lnSpc>
            </a:pPr>
            <a:r>
              <a:rPr lang="en" sz="933">
                <a:solidFill>
                  <a:srgbClr val="181818"/>
                </a:solidFill>
              </a:rPr>
              <a:t>Quick Start</a:t>
            </a:r>
            <a:endParaRPr sz="1466"/>
          </a:p>
        </p:txBody>
      </p:sp>
      <p:sp>
        <p:nvSpPr>
          <p:cNvPr id="6171" name="Google Shape;6171;p311"/>
          <p:cNvSpPr/>
          <p:nvPr/>
        </p:nvSpPr>
        <p:spPr>
          <a:xfrm>
            <a:off x="9081288" y="3742259"/>
            <a:ext cx="1456021" cy="474676"/>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vGPU Profile </a:t>
            </a:r>
            <a:endParaRPr sz="1466"/>
          </a:p>
          <a:p>
            <a:pPr algn="ctr" defTabSz="1218895">
              <a:lnSpc>
                <a:spcPct val="90000"/>
              </a:lnSpc>
            </a:pPr>
            <a:r>
              <a:rPr lang="en" sz="933">
                <a:solidFill>
                  <a:srgbClr val="181818"/>
                </a:solidFill>
              </a:rPr>
              <a:t>Visibility</a:t>
            </a:r>
            <a:endParaRPr sz="933">
              <a:solidFill>
                <a:srgbClr val="181818"/>
              </a:solidFill>
            </a:endParaRPr>
          </a:p>
        </p:txBody>
      </p:sp>
      <p:sp>
        <p:nvSpPr>
          <p:cNvPr id="6172" name="Google Shape;6172;p311"/>
          <p:cNvSpPr/>
          <p:nvPr/>
        </p:nvSpPr>
        <p:spPr>
          <a:xfrm>
            <a:off x="3558187" y="3246314"/>
            <a:ext cx="1456021" cy="453082"/>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Model Context Protocol</a:t>
            </a:r>
            <a:endParaRPr sz="1466"/>
          </a:p>
          <a:p>
            <a:pPr algn="ctr" defTabSz="1218895">
              <a:lnSpc>
                <a:spcPct val="90000"/>
              </a:lnSpc>
            </a:pPr>
            <a:r>
              <a:rPr lang="en" sz="933">
                <a:solidFill>
                  <a:srgbClr val="181818"/>
                </a:solidFill>
              </a:rPr>
              <a:t>Governance</a:t>
            </a:r>
            <a:endParaRPr sz="1466"/>
          </a:p>
        </p:txBody>
      </p:sp>
      <p:sp>
        <p:nvSpPr>
          <p:cNvPr id="6173" name="Google Shape;6173;p311"/>
          <p:cNvSpPr/>
          <p:nvPr/>
        </p:nvSpPr>
        <p:spPr>
          <a:xfrm>
            <a:off x="5401159" y="3267237"/>
            <a:ext cx="1456021" cy="432687"/>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Agent Builder</a:t>
            </a:r>
            <a:endParaRPr sz="933"/>
          </a:p>
          <a:p>
            <a:pPr algn="ctr" defTabSz="1218895">
              <a:lnSpc>
                <a:spcPct val="90000"/>
              </a:lnSpc>
            </a:pPr>
            <a:r>
              <a:rPr lang="en" sz="933">
                <a:solidFill>
                  <a:srgbClr val="181818"/>
                </a:solidFill>
              </a:rPr>
              <a:t>Service</a:t>
            </a:r>
            <a:endParaRPr sz="1466"/>
          </a:p>
        </p:txBody>
      </p:sp>
      <p:sp>
        <p:nvSpPr>
          <p:cNvPr id="6174" name="Google Shape;6174;p311"/>
          <p:cNvSpPr/>
          <p:nvPr/>
        </p:nvSpPr>
        <p:spPr>
          <a:xfrm>
            <a:off x="7244128" y="3246314"/>
            <a:ext cx="1456021" cy="453082"/>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Model </a:t>
            </a:r>
            <a:endParaRPr sz="1466"/>
          </a:p>
          <a:p>
            <a:pPr algn="ctr" defTabSz="1218895">
              <a:lnSpc>
                <a:spcPct val="90000"/>
              </a:lnSpc>
            </a:pPr>
            <a:r>
              <a:rPr lang="en" sz="933">
                <a:solidFill>
                  <a:srgbClr val="181818"/>
                </a:solidFill>
              </a:rPr>
              <a:t>Runtime</a:t>
            </a:r>
            <a:endParaRPr sz="1466"/>
          </a:p>
        </p:txBody>
      </p:sp>
      <p:sp>
        <p:nvSpPr>
          <p:cNvPr id="6175" name="Google Shape;6175;p311"/>
          <p:cNvSpPr/>
          <p:nvPr/>
        </p:nvSpPr>
        <p:spPr>
          <a:xfrm>
            <a:off x="9080129" y="3224969"/>
            <a:ext cx="1456021" cy="474676"/>
          </a:xfrm>
          <a:prstGeom prst="rect">
            <a:avLst/>
          </a:prstGeom>
          <a:solidFill>
            <a:schemeClr val="lt1"/>
          </a:solidFill>
          <a:ln w="9525" cap="sq" cmpd="sng">
            <a:solidFill>
              <a:schemeClr val="accent1"/>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Model </a:t>
            </a:r>
            <a:endParaRPr sz="1466"/>
          </a:p>
          <a:p>
            <a:pPr algn="ctr" defTabSz="1218895">
              <a:lnSpc>
                <a:spcPct val="90000"/>
              </a:lnSpc>
            </a:pPr>
            <a:r>
              <a:rPr lang="en" sz="933">
                <a:solidFill>
                  <a:srgbClr val="181818"/>
                </a:solidFill>
              </a:rPr>
              <a:t>Gallery</a:t>
            </a:r>
            <a:endParaRPr sz="933">
              <a:solidFill>
                <a:srgbClr val="181818"/>
              </a:solidFill>
            </a:endParaRPr>
          </a:p>
        </p:txBody>
      </p:sp>
      <p:grpSp>
        <p:nvGrpSpPr>
          <p:cNvPr id="6176" name="Google Shape;6176;p311"/>
          <p:cNvGrpSpPr/>
          <p:nvPr/>
        </p:nvGrpSpPr>
        <p:grpSpPr>
          <a:xfrm>
            <a:off x="3552303" y="4347709"/>
            <a:ext cx="6984665" cy="467000"/>
            <a:chOff x="3551308" y="4509389"/>
            <a:chExt cx="6992078" cy="498422"/>
          </a:xfrm>
        </p:grpSpPr>
        <p:sp>
          <p:nvSpPr>
            <p:cNvPr id="6177" name="Google Shape;6177;p311"/>
            <p:cNvSpPr/>
            <p:nvPr/>
          </p:nvSpPr>
          <p:spPr>
            <a:xfrm>
              <a:off x="3551308" y="4530641"/>
              <a:ext cx="1457400" cy="471600"/>
            </a:xfrm>
            <a:prstGeom prst="rect">
              <a:avLst/>
            </a:prstGeom>
            <a:solidFill>
              <a:schemeClr val="lt1"/>
            </a:solidFill>
            <a:ln w="9525" cap="sq" cmpd="sng">
              <a:solidFill>
                <a:schemeClr val="accent3"/>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Multitenancy</a:t>
              </a:r>
              <a:endParaRPr sz="1466"/>
            </a:p>
          </p:txBody>
        </p:sp>
        <p:sp>
          <p:nvSpPr>
            <p:cNvPr id="6178" name="Google Shape;6178;p311"/>
            <p:cNvSpPr/>
            <p:nvPr/>
          </p:nvSpPr>
          <p:spPr>
            <a:xfrm>
              <a:off x="5396200" y="4547311"/>
              <a:ext cx="1457400" cy="460500"/>
            </a:xfrm>
            <a:prstGeom prst="rect">
              <a:avLst/>
            </a:prstGeom>
            <a:solidFill>
              <a:schemeClr val="lt1"/>
            </a:solidFill>
            <a:ln w="9525" cap="sq" cmpd="sng">
              <a:solidFill>
                <a:schemeClr val="accent3"/>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Distributed </a:t>
              </a:r>
              <a:endParaRPr sz="1466"/>
            </a:p>
            <a:p>
              <a:pPr algn="ctr" defTabSz="1218895">
                <a:lnSpc>
                  <a:spcPct val="90000"/>
                </a:lnSpc>
              </a:pPr>
              <a:r>
                <a:rPr lang="en" sz="933">
                  <a:solidFill>
                    <a:srgbClr val="181818"/>
                  </a:solidFill>
                </a:rPr>
                <a:t>Resource Scheduler</a:t>
              </a:r>
              <a:endParaRPr sz="1466"/>
            </a:p>
          </p:txBody>
        </p:sp>
        <p:sp>
          <p:nvSpPr>
            <p:cNvPr id="6179" name="Google Shape;6179;p311"/>
            <p:cNvSpPr/>
            <p:nvPr/>
          </p:nvSpPr>
          <p:spPr>
            <a:xfrm>
              <a:off x="9085986" y="4509389"/>
              <a:ext cx="1457400" cy="492900"/>
            </a:xfrm>
            <a:prstGeom prst="rect">
              <a:avLst/>
            </a:prstGeom>
            <a:solidFill>
              <a:schemeClr val="lt1"/>
            </a:solidFill>
            <a:ln w="9525" cap="sq" cmpd="sng">
              <a:solidFill>
                <a:schemeClr val="accent3"/>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GPU</a:t>
              </a:r>
              <a:endParaRPr sz="1466"/>
            </a:p>
            <a:p>
              <a:pPr algn="ctr" defTabSz="1218895">
                <a:lnSpc>
                  <a:spcPct val="90000"/>
                </a:lnSpc>
              </a:pPr>
              <a:r>
                <a:rPr lang="en" sz="933">
                  <a:solidFill>
                    <a:srgbClr val="181818"/>
                  </a:solidFill>
                </a:rPr>
                <a:t>Monitoring</a:t>
              </a:r>
              <a:endParaRPr sz="1466"/>
            </a:p>
          </p:txBody>
        </p:sp>
        <p:sp>
          <p:nvSpPr>
            <p:cNvPr id="6180" name="Google Shape;6180;p311"/>
            <p:cNvSpPr/>
            <p:nvPr/>
          </p:nvSpPr>
          <p:spPr>
            <a:xfrm>
              <a:off x="7241091" y="4525641"/>
              <a:ext cx="1457400" cy="476700"/>
            </a:xfrm>
            <a:prstGeom prst="rect">
              <a:avLst/>
            </a:prstGeom>
            <a:solidFill>
              <a:schemeClr val="lt1"/>
            </a:solidFill>
            <a:ln w="9525" cap="sq" cmpd="sng">
              <a:solidFill>
                <a:schemeClr val="accent3"/>
              </a:solidFill>
              <a:prstDash val="solid"/>
              <a:miter lim="800000"/>
              <a:headEnd type="none" w="sm" len="sm"/>
              <a:tailEnd type="none" w="sm" len="sm"/>
            </a:ln>
          </p:spPr>
          <p:txBody>
            <a:bodyPr spcFirstLastPara="1" wrap="square" lIns="91243" tIns="91243" rIns="91243" bIns="91243" anchor="ctr" anchorCtr="0">
              <a:noAutofit/>
            </a:bodyPr>
            <a:lstStyle/>
            <a:p>
              <a:pPr algn="ctr" defTabSz="1218895">
                <a:lnSpc>
                  <a:spcPct val="90000"/>
                </a:lnSpc>
              </a:pPr>
              <a:r>
                <a:rPr lang="en" sz="933">
                  <a:solidFill>
                    <a:srgbClr val="181818"/>
                  </a:solidFill>
                </a:rPr>
                <a:t>Workload </a:t>
              </a:r>
              <a:endParaRPr sz="1466"/>
            </a:p>
            <a:p>
              <a:pPr algn="ctr" defTabSz="1218895">
                <a:lnSpc>
                  <a:spcPct val="90000"/>
                </a:lnSpc>
              </a:pPr>
              <a:r>
                <a:rPr lang="en" sz="933">
                  <a:solidFill>
                    <a:srgbClr val="181818"/>
                  </a:solidFill>
                </a:rPr>
                <a:t>Security </a:t>
              </a:r>
              <a:endParaRPr sz="1466"/>
            </a:p>
          </p:txBody>
        </p:sp>
      </p:grpSp>
      <p:sp>
        <p:nvSpPr>
          <p:cNvPr id="6181" name="Google Shape;6181;p311"/>
          <p:cNvSpPr txBox="1">
            <a:spLocks noGrp="1"/>
          </p:cNvSpPr>
          <p:nvPr>
            <p:ph type="title"/>
          </p:nvPr>
        </p:nvSpPr>
        <p:spPr>
          <a:xfrm>
            <a:off x="585707" y="415108"/>
            <a:ext cx="10992337" cy="380701"/>
          </a:xfrm>
          <a:prstGeom prst="rect">
            <a:avLst/>
          </a:prstGeom>
          <a:noFill/>
          <a:ln>
            <a:noFill/>
          </a:ln>
        </p:spPr>
        <p:txBody>
          <a:bodyPr spcFirstLastPara="1" wrap="square" lIns="0" tIns="0" rIns="0" bIns="0" anchor="b" anchorCtr="0">
            <a:noAutofit/>
          </a:bodyPr>
          <a:lstStyle/>
          <a:p>
            <a:pPr algn="ctr">
              <a:buSzPts val="2000"/>
            </a:pPr>
            <a:r>
              <a:rPr lang="en"/>
              <a:t>VMware Private AI Foundation with NVIDIA</a:t>
            </a:r>
            <a:endParaRPr/>
          </a:p>
        </p:txBody>
      </p:sp>
      <p:sp>
        <p:nvSpPr>
          <p:cNvPr id="6182" name="Google Shape;6182;p311"/>
          <p:cNvSpPr txBox="1"/>
          <p:nvPr/>
        </p:nvSpPr>
        <p:spPr>
          <a:xfrm>
            <a:off x="598751" y="813876"/>
            <a:ext cx="10953947" cy="247536"/>
          </a:xfrm>
          <a:prstGeom prst="rect">
            <a:avLst/>
          </a:prstGeom>
          <a:noFill/>
          <a:ln>
            <a:noFill/>
          </a:ln>
        </p:spPr>
        <p:txBody>
          <a:bodyPr spcFirstLastPara="1" wrap="square" lIns="0" tIns="0" rIns="0" bIns="0" anchor="t" anchorCtr="0">
            <a:noAutofit/>
          </a:bodyPr>
          <a:lstStyle/>
          <a:p>
            <a:pPr algn="ctr" defTabSz="1218895"/>
            <a:r>
              <a:rPr lang="en" sz="1466"/>
              <a:t>Unlock AI &amp; Unleash Productivity With Lower TCO</a:t>
            </a:r>
            <a:endParaRPr sz="1466"/>
          </a:p>
          <a:p>
            <a:pPr algn="ctr" defTabSz="1218895">
              <a:spcBef>
                <a:spcPts val="1200"/>
              </a:spcBef>
            </a:pPr>
            <a:endParaRPr sz="1466"/>
          </a:p>
        </p:txBody>
      </p:sp>
      <p:grpSp>
        <p:nvGrpSpPr>
          <p:cNvPr id="6183" name="Google Shape;6183;p311"/>
          <p:cNvGrpSpPr/>
          <p:nvPr/>
        </p:nvGrpSpPr>
        <p:grpSpPr>
          <a:xfrm>
            <a:off x="3767550" y="4880513"/>
            <a:ext cx="6455502" cy="580208"/>
            <a:chOff x="2086771" y="3779881"/>
            <a:chExt cx="8071479" cy="725449"/>
          </a:xfrm>
        </p:grpSpPr>
        <p:pic>
          <p:nvPicPr>
            <p:cNvPr id="6184" name="Google Shape;6184;p311"/>
            <p:cNvPicPr preferRelativeResize="0"/>
            <p:nvPr/>
          </p:nvPicPr>
          <p:blipFill rotWithShape="1">
            <a:blip r:embed="rId6">
              <a:alphaModFix/>
            </a:blip>
            <a:srcRect/>
            <a:stretch/>
          </p:blipFill>
          <p:spPr>
            <a:xfrm>
              <a:off x="5425195" y="3958433"/>
              <a:ext cx="804218" cy="335722"/>
            </a:xfrm>
            <a:prstGeom prst="rect">
              <a:avLst/>
            </a:prstGeom>
            <a:noFill/>
            <a:ln>
              <a:noFill/>
            </a:ln>
          </p:spPr>
        </p:pic>
        <p:grpSp>
          <p:nvGrpSpPr>
            <p:cNvPr id="6185" name="Google Shape;6185;p311"/>
            <p:cNvGrpSpPr/>
            <p:nvPr/>
          </p:nvGrpSpPr>
          <p:grpSpPr>
            <a:xfrm>
              <a:off x="2086771" y="3843447"/>
              <a:ext cx="1181877" cy="594241"/>
              <a:chOff x="4194734" y="4171290"/>
              <a:chExt cx="1640357" cy="824761"/>
            </a:xfrm>
          </p:grpSpPr>
          <p:pic>
            <p:nvPicPr>
              <p:cNvPr id="6186" name="Google Shape;6186;p311"/>
              <p:cNvPicPr preferRelativeResize="0"/>
              <p:nvPr/>
            </p:nvPicPr>
            <p:blipFill rotWithShape="1">
              <a:blip r:embed="rId7">
                <a:alphaModFix/>
              </a:blip>
              <a:srcRect r="67335"/>
              <a:stretch/>
            </p:blipFill>
            <p:spPr>
              <a:xfrm>
                <a:off x="4194734" y="4482445"/>
                <a:ext cx="531806" cy="203509"/>
              </a:xfrm>
              <a:prstGeom prst="rect">
                <a:avLst/>
              </a:prstGeom>
              <a:noFill/>
              <a:ln>
                <a:noFill/>
              </a:ln>
            </p:spPr>
          </p:pic>
          <p:pic>
            <p:nvPicPr>
              <p:cNvPr id="6187" name="Google Shape;6187;p311" descr="A black background with black text&#10;&#10;Description automatically generated"/>
              <p:cNvPicPr preferRelativeResize="0"/>
              <p:nvPr/>
            </p:nvPicPr>
            <p:blipFill rotWithShape="1">
              <a:blip r:embed="rId8">
                <a:alphaModFix/>
              </a:blip>
              <a:srcRect/>
              <a:stretch/>
            </p:blipFill>
            <p:spPr>
              <a:xfrm>
                <a:off x="4736212" y="4171290"/>
                <a:ext cx="1098879" cy="824761"/>
              </a:xfrm>
              <a:prstGeom prst="rect">
                <a:avLst/>
              </a:prstGeom>
              <a:noFill/>
              <a:ln>
                <a:noFill/>
              </a:ln>
            </p:spPr>
          </p:pic>
        </p:grpSp>
        <p:pic>
          <p:nvPicPr>
            <p:cNvPr id="6188" name="Google Shape;6188;p311" descr="A black background with a black square&#10;&#10;Description automatically generated with medium confidence"/>
            <p:cNvPicPr preferRelativeResize="0"/>
            <p:nvPr/>
          </p:nvPicPr>
          <p:blipFill rotWithShape="1">
            <a:blip r:embed="rId9">
              <a:alphaModFix/>
            </a:blip>
            <a:srcRect/>
            <a:stretch/>
          </p:blipFill>
          <p:spPr>
            <a:xfrm>
              <a:off x="6582228" y="3857129"/>
              <a:ext cx="1531086" cy="548221"/>
            </a:xfrm>
            <a:prstGeom prst="rect">
              <a:avLst/>
            </a:prstGeom>
            <a:noFill/>
            <a:ln>
              <a:noFill/>
            </a:ln>
          </p:spPr>
        </p:pic>
        <p:pic>
          <p:nvPicPr>
            <p:cNvPr id="6189" name="Google Shape;6189;p311"/>
            <p:cNvPicPr preferRelativeResize="0"/>
            <p:nvPr/>
          </p:nvPicPr>
          <p:blipFill rotWithShape="1">
            <a:blip r:embed="rId10">
              <a:alphaModFix/>
            </a:blip>
            <a:srcRect/>
            <a:stretch/>
          </p:blipFill>
          <p:spPr>
            <a:xfrm>
              <a:off x="9425297" y="3940953"/>
              <a:ext cx="732953" cy="388591"/>
            </a:xfrm>
            <a:prstGeom prst="rect">
              <a:avLst/>
            </a:prstGeom>
            <a:noFill/>
            <a:ln>
              <a:noFill/>
            </a:ln>
          </p:spPr>
        </p:pic>
        <p:pic>
          <p:nvPicPr>
            <p:cNvPr id="6190" name="Google Shape;6190;p311" descr="A black background with white spots&#10;&#10;Description automatically generated"/>
            <p:cNvPicPr preferRelativeResize="0"/>
            <p:nvPr/>
          </p:nvPicPr>
          <p:blipFill rotWithShape="1">
            <a:blip r:embed="rId11">
              <a:alphaModFix/>
            </a:blip>
            <a:srcRect/>
            <a:stretch/>
          </p:blipFill>
          <p:spPr>
            <a:xfrm>
              <a:off x="8466130" y="3919065"/>
              <a:ext cx="606350" cy="455094"/>
            </a:xfrm>
            <a:prstGeom prst="rect">
              <a:avLst/>
            </a:prstGeom>
            <a:noFill/>
            <a:ln>
              <a:noFill/>
            </a:ln>
          </p:spPr>
        </p:pic>
        <p:pic>
          <p:nvPicPr>
            <p:cNvPr id="6191" name="Google Shape;6191;p311" descr="A black background with a black square&#10;&#10;Description automatically generated with medium confidence"/>
            <p:cNvPicPr preferRelativeResize="0"/>
            <p:nvPr/>
          </p:nvPicPr>
          <p:blipFill rotWithShape="1">
            <a:blip r:embed="rId12">
              <a:alphaModFix/>
            </a:blip>
            <a:srcRect/>
            <a:stretch/>
          </p:blipFill>
          <p:spPr>
            <a:xfrm>
              <a:off x="3621482" y="3779881"/>
              <a:ext cx="1450896" cy="725449"/>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Shape 6196"/>
        <p:cNvGrpSpPr/>
        <p:nvPr/>
      </p:nvGrpSpPr>
      <p:grpSpPr>
        <a:xfrm>
          <a:off x="0" y="0"/>
          <a:ext cx="0" cy="0"/>
          <a:chOff x="0" y="0"/>
          <a:chExt cx="0" cy="0"/>
        </a:xfrm>
      </p:grpSpPr>
      <p:sp>
        <p:nvSpPr>
          <p:cNvPr id="6197" name="Google Shape;6197;p312"/>
          <p:cNvSpPr txBox="1"/>
          <p:nvPr/>
        </p:nvSpPr>
        <p:spPr>
          <a:xfrm>
            <a:off x="554243" y="2463759"/>
            <a:ext cx="1125707" cy="451213"/>
          </a:xfrm>
          <a:prstGeom prst="rect">
            <a:avLst/>
          </a:prstGeom>
          <a:solidFill>
            <a:schemeClr val="lt1"/>
          </a:solidFill>
          <a:ln>
            <a:noFill/>
          </a:ln>
        </p:spPr>
        <p:txBody>
          <a:bodyPr spcFirstLastPara="1" wrap="square" lIns="91376" tIns="91376" rIns="91376" bIns="91376" anchor="t" anchorCtr="0">
            <a:spAutoFit/>
          </a:bodyPr>
          <a:lstStyle/>
          <a:p>
            <a:pPr algn="ctr" defTabSz="1218895"/>
            <a:r>
              <a:rPr lang="en" sz="933" b="1"/>
              <a:t>VI Admin</a:t>
            </a:r>
            <a:endParaRPr sz="1466"/>
          </a:p>
          <a:p>
            <a:pPr algn="ctr" defTabSz="1218895"/>
            <a:endParaRPr sz="800"/>
          </a:p>
        </p:txBody>
      </p:sp>
      <p:sp>
        <p:nvSpPr>
          <p:cNvPr id="6198" name="Google Shape;6198;p312"/>
          <p:cNvSpPr/>
          <p:nvPr/>
        </p:nvSpPr>
        <p:spPr>
          <a:xfrm>
            <a:off x="594445" y="1665590"/>
            <a:ext cx="11122303" cy="4506426"/>
          </a:xfrm>
          <a:prstGeom prst="roundRect">
            <a:avLst>
              <a:gd name="adj" fmla="val 2912"/>
            </a:avLst>
          </a:prstGeom>
          <a:noFill/>
          <a:ln w="7150"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1218895"/>
            <a:endParaRPr sz="1200">
              <a:solidFill>
                <a:srgbClr val="FFFFFF"/>
              </a:solidFill>
            </a:endParaRPr>
          </a:p>
        </p:txBody>
      </p:sp>
      <p:cxnSp>
        <p:nvCxnSpPr>
          <p:cNvPr id="6199" name="Google Shape;6199;p312"/>
          <p:cNvCxnSpPr>
            <a:endCxn id="6200" idx="2"/>
          </p:cNvCxnSpPr>
          <p:nvPr/>
        </p:nvCxnSpPr>
        <p:spPr>
          <a:xfrm>
            <a:off x="2225585" y="2046917"/>
            <a:ext cx="23594" cy="3443903"/>
          </a:xfrm>
          <a:prstGeom prst="straightConnector1">
            <a:avLst/>
          </a:prstGeom>
          <a:noFill/>
          <a:ln w="19050" cap="flat" cmpd="sng">
            <a:solidFill>
              <a:srgbClr val="B2B2B2"/>
            </a:solidFill>
            <a:prstDash val="solid"/>
            <a:miter lim="800000"/>
            <a:headEnd type="none" w="sm" len="sm"/>
            <a:tailEnd type="none" w="sm" len="sm"/>
          </a:ln>
        </p:spPr>
      </p:cxnSp>
      <p:sp>
        <p:nvSpPr>
          <p:cNvPr id="6201" name="Google Shape;6201;p312"/>
          <p:cNvSpPr txBox="1">
            <a:spLocks noGrp="1"/>
          </p:cNvSpPr>
          <p:nvPr>
            <p:ph type="title"/>
          </p:nvPr>
        </p:nvSpPr>
        <p:spPr>
          <a:xfrm>
            <a:off x="594445" y="417204"/>
            <a:ext cx="11360241" cy="366305"/>
          </a:xfrm>
          <a:prstGeom prst="rect">
            <a:avLst/>
          </a:prstGeom>
          <a:noFill/>
          <a:ln>
            <a:noFill/>
          </a:ln>
        </p:spPr>
        <p:txBody>
          <a:bodyPr spcFirstLastPara="1" wrap="square" lIns="0" tIns="0" rIns="0" bIns="0" anchor="b" anchorCtr="0">
            <a:noAutofit/>
          </a:bodyPr>
          <a:lstStyle/>
          <a:p>
            <a:pPr>
              <a:buClr>
                <a:schemeClr val="accent2"/>
              </a:buClr>
              <a:buSzPts val="2000"/>
            </a:pPr>
            <a:r>
              <a:rPr lang="en">
                <a:solidFill>
                  <a:schemeClr val="accent2"/>
                </a:solidFill>
              </a:rPr>
              <a:t>Orchestrated Private AI Deployment Steps</a:t>
            </a:r>
            <a:endParaRPr/>
          </a:p>
        </p:txBody>
      </p:sp>
      <p:sp>
        <p:nvSpPr>
          <p:cNvPr id="6202" name="Google Shape;6202;p312"/>
          <p:cNvSpPr/>
          <p:nvPr/>
        </p:nvSpPr>
        <p:spPr>
          <a:xfrm>
            <a:off x="1563127" y="2926298"/>
            <a:ext cx="1367244" cy="459080"/>
          </a:xfrm>
          <a:prstGeom prst="roundRect">
            <a:avLst>
              <a:gd name="adj" fmla="val 16667"/>
            </a:avLst>
          </a:prstGeom>
          <a:solidFill>
            <a:schemeClr val="lt1"/>
          </a:solidFill>
          <a:ln w="19050" cap="flat" cmpd="sng">
            <a:solidFill>
              <a:schemeClr val="accent3"/>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Prepare ESX Hosts</a:t>
            </a:r>
            <a:endParaRPr sz="1466"/>
          </a:p>
        </p:txBody>
      </p:sp>
      <p:sp>
        <p:nvSpPr>
          <p:cNvPr id="6203" name="Google Shape;6203;p312"/>
          <p:cNvSpPr/>
          <p:nvPr/>
        </p:nvSpPr>
        <p:spPr>
          <a:xfrm>
            <a:off x="1558865" y="3453682"/>
            <a:ext cx="1367244" cy="459080"/>
          </a:xfrm>
          <a:prstGeom prst="roundRect">
            <a:avLst>
              <a:gd name="adj" fmla="val 16667"/>
            </a:avLst>
          </a:prstGeom>
          <a:solidFill>
            <a:schemeClr val="lt1"/>
          </a:solidFill>
          <a:ln w="19050" cap="flat" cmpd="sng">
            <a:solidFill>
              <a:schemeClr val="accent3"/>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Install NVIDIA host vGPU driver</a:t>
            </a:r>
            <a:endParaRPr sz="1466"/>
          </a:p>
        </p:txBody>
      </p:sp>
      <p:sp>
        <p:nvSpPr>
          <p:cNvPr id="6204" name="Google Shape;6204;p312"/>
          <p:cNvSpPr/>
          <p:nvPr/>
        </p:nvSpPr>
        <p:spPr>
          <a:xfrm>
            <a:off x="1561914" y="3981066"/>
            <a:ext cx="1367244" cy="459080"/>
          </a:xfrm>
          <a:prstGeom prst="roundRect">
            <a:avLst>
              <a:gd name="adj" fmla="val 16667"/>
            </a:avLst>
          </a:prstGeom>
          <a:solidFill>
            <a:schemeClr val="lt1"/>
          </a:solidFill>
          <a:ln w="19050" cap="flat" cmpd="sng">
            <a:solidFill>
              <a:schemeClr val="accent3"/>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Storage Considerations</a:t>
            </a:r>
            <a:endParaRPr sz="1466"/>
          </a:p>
        </p:txBody>
      </p:sp>
      <p:sp>
        <p:nvSpPr>
          <p:cNvPr id="6205" name="Google Shape;6205;p312"/>
          <p:cNvSpPr/>
          <p:nvPr/>
        </p:nvSpPr>
        <p:spPr>
          <a:xfrm>
            <a:off x="1561702" y="4506402"/>
            <a:ext cx="1367244" cy="459080"/>
          </a:xfrm>
          <a:prstGeom prst="roundRect">
            <a:avLst>
              <a:gd name="adj" fmla="val 16667"/>
            </a:avLst>
          </a:prstGeom>
          <a:solidFill>
            <a:schemeClr val="lt1"/>
          </a:solidFill>
          <a:ln w="19050" cap="flat" cmpd="sng">
            <a:solidFill>
              <a:schemeClr val="accent3"/>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Deploy VCF Automation* </a:t>
            </a:r>
            <a:endParaRPr sz="800">
              <a:highlight>
                <a:srgbClr val="FF0000"/>
              </a:highlight>
            </a:endParaRPr>
          </a:p>
        </p:txBody>
      </p:sp>
      <p:sp>
        <p:nvSpPr>
          <p:cNvPr id="6200" name="Google Shape;6200;p312"/>
          <p:cNvSpPr/>
          <p:nvPr/>
        </p:nvSpPr>
        <p:spPr>
          <a:xfrm>
            <a:off x="1565557" y="5031741"/>
            <a:ext cx="1367244" cy="459080"/>
          </a:xfrm>
          <a:prstGeom prst="roundRect">
            <a:avLst>
              <a:gd name="adj" fmla="val 16667"/>
            </a:avLst>
          </a:prstGeom>
          <a:solidFill>
            <a:schemeClr val="lt1"/>
          </a:solidFill>
          <a:ln w="19050" cap="flat" cmpd="sng">
            <a:solidFill>
              <a:schemeClr val="accent3"/>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Import Data Services Manager.ova (DSM)</a:t>
            </a:r>
            <a:endParaRPr sz="1466"/>
          </a:p>
        </p:txBody>
      </p:sp>
      <p:sp>
        <p:nvSpPr>
          <p:cNvPr id="6206" name="Google Shape;6206;p312"/>
          <p:cNvSpPr/>
          <p:nvPr/>
        </p:nvSpPr>
        <p:spPr>
          <a:xfrm>
            <a:off x="1551154" y="1914017"/>
            <a:ext cx="1639973" cy="448283"/>
          </a:xfrm>
          <a:prstGeom prst="chevron">
            <a:avLst>
              <a:gd name="adj" fmla="val 50740"/>
            </a:avLst>
          </a:prstGeom>
          <a:solidFill>
            <a:srgbClr val="0193C2"/>
          </a:solidFill>
          <a:ln>
            <a:noFill/>
          </a:ln>
        </p:spPr>
        <p:txBody>
          <a:bodyPr spcFirstLastPara="1" wrap="square" lIns="91376" tIns="45688" rIns="91376" bIns="45688" anchor="ctr" anchorCtr="0">
            <a:noAutofit/>
          </a:bodyPr>
          <a:lstStyle/>
          <a:p>
            <a:pPr algn="ctr" defTabSz="1218895"/>
            <a:r>
              <a:rPr lang="en" sz="933">
                <a:solidFill>
                  <a:srgbClr val="FFFFFF"/>
                </a:solidFill>
              </a:rPr>
              <a:t>Prerequisites</a:t>
            </a:r>
            <a:endParaRPr sz="1466"/>
          </a:p>
        </p:txBody>
      </p:sp>
      <p:grpSp>
        <p:nvGrpSpPr>
          <p:cNvPr id="6207" name="Google Shape;6207;p312"/>
          <p:cNvGrpSpPr/>
          <p:nvPr/>
        </p:nvGrpSpPr>
        <p:grpSpPr>
          <a:xfrm>
            <a:off x="4726184" y="1917216"/>
            <a:ext cx="1645666" cy="2522583"/>
            <a:chOff x="4725825" y="1916440"/>
            <a:chExt cx="1646095" cy="2523913"/>
          </a:xfrm>
        </p:grpSpPr>
        <p:cxnSp>
          <p:nvCxnSpPr>
            <p:cNvPr id="6208" name="Google Shape;6208;p312"/>
            <p:cNvCxnSpPr>
              <a:endCxn id="6209" idx="2"/>
            </p:cNvCxnSpPr>
            <p:nvPr/>
          </p:nvCxnSpPr>
          <p:spPr>
            <a:xfrm flipH="1">
              <a:off x="5437704" y="2053553"/>
              <a:ext cx="3000" cy="2386800"/>
            </a:xfrm>
            <a:prstGeom prst="straightConnector1">
              <a:avLst/>
            </a:prstGeom>
            <a:noFill/>
            <a:ln w="19050" cap="flat" cmpd="sng">
              <a:solidFill>
                <a:srgbClr val="B2B2B2"/>
              </a:solidFill>
              <a:prstDash val="solid"/>
              <a:miter lim="800000"/>
              <a:headEnd type="none" w="sm" len="sm"/>
              <a:tailEnd type="none" w="sm" len="sm"/>
            </a:ln>
          </p:spPr>
        </p:cxnSp>
        <p:sp>
          <p:nvSpPr>
            <p:cNvPr id="6210" name="Google Shape;6210;p312"/>
            <p:cNvSpPr/>
            <p:nvPr/>
          </p:nvSpPr>
          <p:spPr>
            <a:xfrm>
              <a:off x="4755067" y="2926035"/>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Configure vCenter Linking to VCF Management Domain</a:t>
              </a:r>
              <a:endParaRPr sz="1466"/>
            </a:p>
          </p:txBody>
        </p:sp>
        <p:sp>
          <p:nvSpPr>
            <p:cNvPr id="6211" name="Google Shape;6211;p312"/>
            <p:cNvSpPr/>
            <p:nvPr/>
          </p:nvSpPr>
          <p:spPr>
            <a:xfrm>
              <a:off x="4754663" y="3453694"/>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Setup network connectivity &amp; deploy NSX Edge cluster</a:t>
              </a:r>
              <a:endParaRPr sz="1466"/>
            </a:p>
          </p:txBody>
        </p:sp>
        <p:sp>
          <p:nvSpPr>
            <p:cNvPr id="6209" name="Google Shape;6209;p312"/>
            <p:cNvSpPr/>
            <p:nvPr/>
          </p:nvSpPr>
          <p:spPr>
            <a:xfrm>
              <a:off x="4753854" y="3981353"/>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Create VM Classes for NVIDIA vGPUs</a:t>
              </a:r>
              <a:endParaRPr sz="800"/>
            </a:p>
          </p:txBody>
        </p:sp>
        <p:grpSp>
          <p:nvGrpSpPr>
            <p:cNvPr id="6212" name="Google Shape;6212;p312"/>
            <p:cNvGrpSpPr/>
            <p:nvPr/>
          </p:nvGrpSpPr>
          <p:grpSpPr>
            <a:xfrm>
              <a:off x="4725825" y="2439123"/>
              <a:ext cx="1375800" cy="244200"/>
              <a:chOff x="2382419" y="2340846"/>
              <a:chExt cx="1375800" cy="244200"/>
            </a:xfrm>
          </p:grpSpPr>
          <p:sp>
            <p:nvSpPr>
              <p:cNvPr id="6213" name="Google Shape;6213;p312"/>
              <p:cNvSpPr/>
              <p:nvPr/>
            </p:nvSpPr>
            <p:spPr>
              <a:xfrm>
                <a:off x="2382419" y="2340846"/>
                <a:ext cx="1375800" cy="244200"/>
              </a:xfrm>
              <a:prstGeom prst="roundRect">
                <a:avLst>
                  <a:gd name="adj" fmla="val 34871"/>
                </a:avLst>
              </a:prstGeom>
              <a:gradFill>
                <a:gsLst>
                  <a:gs pos="0">
                    <a:schemeClr val="accent4"/>
                  </a:gs>
                  <a:gs pos="30000">
                    <a:schemeClr val="accent4"/>
                  </a:gs>
                  <a:gs pos="98000">
                    <a:srgbClr val="92D050"/>
                  </a:gs>
                  <a:gs pos="100000">
                    <a:schemeClr val="accent4"/>
                  </a:gs>
                </a:gsLst>
                <a:lin ang="0" scaled="0"/>
              </a:gradFill>
              <a:ln>
                <a:noFill/>
              </a:ln>
            </p:spPr>
            <p:txBody>
              <a:bodyPr spcFirstLastPara="1" wrap="square" lIns="91376" tIns="45688" rIns="91376" bIns="45688" anchor="ctr" anchorCtr="0">
                <a:noAutofit/>
              </a:bodyPr>
              <a:lstStyle/>
              <a:p>
                <a:pPr algn="ctr" defTabSz="1218895"/>
                <a:r>
                  <a:rPr lang="en" sz="667">
                    <a:solidFill>
                      <a:srgbClr val="FFFFFF"/>
                    </a:solidFill>
                  </a:rPr>
                  <a:t>    Orchestrated Workflows</a:t>
                </a:r>
                <a:endParaRPr sz="1466"/>
              </a:p>
            </p:txBody>
          </p:sp>
          <p:grpSp>
            <p:nvGrpSpPr>
              <p:cNvPr id="6214" name="Google Shape;6214;p312" descr="Automation"/>
              <p:cNvGrpSpPr/>
              <p:nvPr/>
            </p:nvGrpSpPr>
            <p:grpSpPr>
              <a:xfrm>
                <a:off x="2438125" y="2397354"/>
                <a:ext cx="134753" cy="134768"/>
                <a:chOff x="531730" y="723307"/>
                <a:chExt cx="600773" cy="600837"/>
              </a:xfrm>
            </p:grpSpPr>
            <p:sp>
              <p:nvSpPr>
                <p:cNvPr id="6215" name="Google Shape;6215;p312"/>
                <p:cNvSpPr/>
                <p:nvPr/>
              </p:nvSpPr>
              <p:spPr>
                <a:xfrm>
                  <a:off x="658159" y="849799"/>
                  <a:ext cx="347853" cy="347853"/>
                </a:xfrm>
                <a:custGeom>
                  <a:avLst/>
                  <a:gdLst/>
                  <a:ahLst/>
                  <a:cxnLst/>
                  <a:rect l="l" t="t" r="r" b="b"/>
                  <a:pathLst>
                    <a:path w="347853" h="347853" extrusionOk="0">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sp>
              <p:nvSpPr>
                <p:cNvPr id="6216" name="Google Shape;6216;p312"/>
                <p:cNvSpPr/>
                <p:nvPr/>
              </p:nvSpPr>
              <p:spPr>
                <a:xfrm>
                  <a:off x="531730" y="723307"/>
                  <a:ext cx="600773" cy="600837"/>
                </a:xfrm>
                <a:custGeom>
                  <a:avLst/>
                  <a:gdLst/>
                  <a:ahLst/>
                  <a:cxnLst/>
                  <a:rect l="l" t="t" r="r" b="b"/>
                  <a:pathLst>
                    <a:path w="600773" h="600837" extrusionOk="0">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grpSp>
        </p:grpSp>
        <p:sp>
          <p:nvSpPr>
            <p:cNvPr id="6217" name="Google Shape;6217;p312"/>
            <p:cNvSpPr/>
            <p:nvPr/>
          </p:nvSpPr>
          <p:spPr>
            <a:xfrm>
              <a:off x="4732420" y="1916440"/>
              <a:ext cx="1639500" cy="441000"/>
            </a:xfrm>
            <a:prstGeom prst="chevron">
              <a:avLst>
                <a:gd name="adj" fmla="val 50740"/>
              </a:avLst>
            </a:prstGeom>
            <a:solidFill>
              <a:srgbClr val="007A86"/>
            </a:solidFill>
            <a:ln>
              <a:noFill/>
            </a:ln>
          </p:spPr>
          <p:txBody>
            <a:bodyPr spcFirstLastPara="1" wrap="square" lIns="91376" tIns="45688" rIns="91376" bIns="45688" anchor="ctr" anchorCtr="0">
              <a:noAutofit/>
            </a:bodyPr>
            <a:lstStyle/>
            <a:p>
              <a:pPr algn="ctr" defTabSz="1218895"/>
              <a:r>
                <a:rPr lang="en" sz="933">
                  <a:solidFill>
                    <a:srgbClr val="FFFFFF"/>
                  </a:solidFill>
                </a:rPr>
                <a:t>Configure vSphere Supervisor</a:t>
              </a:r>
              <a:endParaRPr sz="1466"/>
            </a:p>
          </p:txBody>
        </p:sp>
      </p:grpSp>
      <p:grpSp>
        <p:nvGrpSpPr>
          <p:cNvPr id="6218" name="Google Shape;6218;p312"/>
          <p:cNvGrpSpPr/>
          <p:nvPr/>
        </p:nvGrpSpPr>
        <p:grpSpPr>
          <a:xfrm>
            <a:off x="5880364" y="1394649"/>
            <a:ext cx="509651" cy="509574"/>
            <a:chOff x="561992" y="1229036"/>
            <a:chExt cx="579300" cy="579300"/>
          </a:xfrm>
        </p:grpSpPr>
        <p:sp>
          <p:nvSpPr>
            <p:cNvPr id="6219" name="Google Shape;6219;p312"/>
            <p:cNvSpPr/>
            <p:nvPr/>
          </p:nvSpPr>
          <p:spPr>
            <a:xfrm>
              <a:off x="561992" y="1229036"/>
              <a:ext cx="579300" cy="579300"/>
            </a:xfrm>
            <a:prstGeom prst="ellipse">
              <a:avLst/>
            </a:prstGeom>
            <a:solidFill>
              <a:schemeClr val="lt1"/>
            </a:solidFill>
            <a:ln>
              <a:noFill/>
            </a:ln>
          </p:spPr>
          <p:txBody>
            <a:bodyPr spcFirstLastPara="1" wrap="square" lIns="91376" tIns="45688" rIns="91376" bIns="45688" anchor="ctr" anchorCtr="0">
              <a:noAutofit/>
            </a:bodyPr>
            <a:lstStyle/>
            <a:p>
              <a:pPr algn="ctr" defTabSz="1218895"/>
              <a:endParaRPr sz="1200">
                <a:solidFill>
                  <a:srgbClr val="FFFFFF"/>
                </a:solidFill>
              </a:endParaRPr>
            </a:p>
          </p:txBody>
        </p:sp>
        <p:pic>
          <p:nvPicPr>
            <p:cNvPr id="6220" name="Google Shape;6220;p312"/>
            <p:cNvPicPr preferRelativeResize="0"/>
            <p:nvPr/>
          </p:nvPicPr>
          <p:blipFill rotWithShape="1">
            <a:blip r:embed="rId3">
              <a:alphaModFix/>
            </a:blip>
            <a:srcRect/>
            <a:stretch/>
          </p:blipFill>
          <p:spPr>
            <a:xfrm>
              <a:off x="643947" y="1337019"/>
              <a:ext cx="419100" cy="419100"/>
            </a:xfrm>
            <a:prstGeom prst="rect">
              <a:avLst/>
            </a:prstGeom>
            <a:noFill/>
            <a:ln>
              <a:noFill/>
            </a:ln>
          </p:spPr>
        </p:pic>
      </p:grpSp>
      <p:sp>
        <p:nvSpPr>
          <p:cNvPr id="6221" name="Google Shape;6221;p312"/>
          <p:cNvSpPr txBox="1"/>
          <p:nvPr/>
        </p:nvSpPr>
        <p:spPr>
          <a:xfrm>
            <a:off x="511192" y="805500"/>
            <a:ext cx="10959945" cy="247935"/>
          </a:xfrm>
          <a:prstGeom prst="rect">
            <a:avLst/>
          </a:prstGeom>
          <a:noFill/>
          <a:ln>
            <a:noFill/>
          </a:ln>
        </p:spPr>
        <p:txBody>
          <a:bodyPr spcFirstLastPara="1" wrap="square" lIns="91410" tIns="45688" rIns="91410" bIns="45688" anchor="ctr" anchorCtr="0">
            <a:noAutofit/>
          </a:bodyPr>
          <a:lstStyle/>
          <a:p>
            <a:pPr defTabSz="1218895">
              <a:buClr>
                <a:srgbClr val="666666"/>
              </a:buClr>
              <a:buSzPts val="1300"/>
            </a:pPr>
            <a:r>
              <a:rPr lang="en" sz="2000"/>
              <a:t>VMware Private AI Foundation with NVIDIA</a:t>
            </a:r>
            <a:endParaRPr sz="1466"/>
          </a:p>
        </p:txBody>
      </p:sp>
      <p:sp>
        <p:nvSpPr>
          <p:cNvPr id="6222" name="Google Shape;6222;p312"/>
          <p:cNvSpPr txBox="1"/>
          <p:nvPr/>
        </p:nvSpPr>
        <p:spPr>
          <a:xfrm>
            <a:off x="5355075" y="5890530"/>
            <a:ext cx="4417649" cy="247935"/>
          </a:xfrm>
          <a:prstGeom prst="rect">
            <a:avLst/>
          </a:prstGeom>
          <a:noFill/>
          <a:ln>
            <a:noFill/>
          </a:ln>
        </p:spPr>
        <p:txBody>
          <a:bodyPr spcFirstLastPara="1" wrap="square" lIns="91410" tIns="45688" rIns="91410" bIns="45688" anchor="ctr" anchorCtr="0">
            <a:noAutofit/>
          </a:bodyPr>
          <a:lstStyle/>
          <a:p>
            <a:pPr defTabSz="1218895">
              <a:buClr>
                <a:srgbClr val="666666"/>
              </a:buClr>
              <a:buSzPts val="500"/>
            </a:pPr>
            <a:r>
              <a:rPr lang="en" sz="800">
                <a:solidFill>
                  <a:srgbClr val="797979"/>
                </a:solidFill>
              </a:rPr>
              <a:t>This illustration showcases the workflow for configuring PAIF-N when cloud connected</a:t>
            </a:r>
            <a:endParaRPr sz="1466"/>
          </a:p>
        </p:txBody>
      </p:sp>
      <p:grpSp>
        <p:nvGrpSpPr>
          <p:cNvPr id="6223" name="Google Shape;6223;p312"/>
          <p:cNvGrpSpPr/>
          <p:nvPr/>
        </p:nvGrpSpPr>
        <p:grpSpPr>
          <a:xfrm>
            <a:off x="7897365" y="1914005"/>
            <a:ext cx="1647171" cy="2525794"/>
            <a:chOff x="6324815" y="1910354"/>
            <a:chExt cx="1647600" cy="2527126"/>
          </a:xfrm>
        </p:grpSpPr>
        <p:cxnSp>
          <p:nvCxnSpPr>
            <p:cNvPr id="6224" name="Google Shape;6224;p312"/>
            <p:cNvCxnSpPr>
              <a:endCxn id="6225" idx="2"/>
            </p:cNvCxnSpPr>
            <p:nvPr/>
          </p:nvCxnSpPr>
          <p:spPr>
            <a:xfrm>
              <a:off x="6989724" y="2186880"/>
              <a:ext cx="20400" cy="2250600"/>
            </a:xfrm>
            <a:prstGeom prst="straightConnector1">
              <a:avLst/>
            </a:prstGeom>
            <a:noFill/>
            <a:ln w="19050" cap="flat" cmpd="sng">
              <a:solidFill>
                <a:srgbClr val="B2B2B2"/>
              </a:solidFill>
              <a:prstDash val="solid"/>
              <a:miter lim="800000"/>
              <a:headEnd type="none" w="sm" len="sm"/>
              <a:tailEnd type="none" w="sm" len="sm"/>
            </a:ln>
          </p:spPr>
        </p:cxnSp>
        <p:sp>
          <p:nvSpPr>
            <p:cNvPr id="6226" name="Google Shape;6226;p312"/>
            <p:cNvSpPr/>
            <p:nvPr/>
          </p:nvSpPr>
          <p:spPr>
            <a:xfrm>
              <a:off x="6330333" y="2923163"/>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Install Cloud Services for Harbor &amp; register Model Gallery</a:t>
              </a:r>
              <a:endParaRPr sz="1466"/>
            </a:p>
          </p:txBody>
        </p:sp>
        <p:sp>
          <p:nvSpPr>
            <p:cNvPr id="6227" name="Google Shape;6227;p312"/>
            <p:cNvSpPr/>
            <p:nvPr/>
          </p:nvSpPr>
          <p:spPr>
            <a:xfrm>
              <a:off x="6326274" y="3452034"/>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Install Cloud Services for Private AI Services</a:t>
              </a:r>
              <a:endParaRPr sz="1466"/>
            </a:p>
          </p:txBody>
        </p:sp>
        <p:grpSp>
          <p:nvGrpSpPr>
            <p:cNvPr id="6228" name="Google Shape;6228;p312"/>
            <p:cNvGrpSpPr/>
            <p:nvPr/>
          </p:nvGrpSpPr>
          <p:grpSpPr>
            <a:xfrm>
              <a:off x="6326274" y="2433037"/>
              <a:ext cx="1375800" cy="244200"/>
              <a:chOff x="2382419" y="2340846"/>
              <a:chExt cx="1375800" cy="244200"/>
            </a:xfrm>
          </p:grpSpPr>
          <p:sp>
            <p:nvSpPr>
              <p:cNvPr id="6229" name="Google Shape;6229;p312"/>
              <p:cNvSpPr/>
              <p:nvPr/>
            </p:nvSpPr>
            <p:spPr>
              <a:xfrm>
                <a:off x="2382419" y="2340846"/>
                <a:ext cx="1375800" cy="244200"/>
              </a:xfrm>
              <a:prstGeom prst="roundRect">
                <a:avLst>
                  <a:gd name="adj" fmla="val 34871"/>
                </a:avLst>
              </a:prstGeom>
              <a:gradFill>
                <a:gsLst>
                  <a:gs pos="0">
                    <a:schemeClr val="accent4"/>
                  </a:gs>
                  <a:gs pos="30000">
                    <a:schemeClr val="accent4"/>
                  </a:gs>
                  <a:gs pos="98000">
                    <a:srgbClr val="92D050"/>
                  </a:gs>
                  <a:gs pos="100000">
                    <a:schemeClr val="accent4"/>
                  </a:gs>
                </a:gsLst>
                <a:lin ang="0" scaled="0"/>
              </a:gradFill>
              <a:ln>
                <a:noFill/>
              </a:ln>
            </p:spPr>
            <p:txBody>
              <a:bodyPr spcFirstLastPara="1" wrap="square" lIns="91376" tIns="45688" rIns="91376" bIns="45688" anchor="ctr" anchorCtr="0">
                <a:noAutofit/>
              </a:bodyPr>
              <a:lstStyle/>
              <a:p>
                <a:pPr algn="ctr" defTabSz="1218895"/>
                <a:r>
                  <a:rPr lang="en" sz="667">
                    <a:solidFill>
                      <a:srgbClr val="FFFFFF"/>
                    </a:solidFill>
                  </a:rPr>
                  <a:t>    Orchestrated Workflows</a:t>
                </a:r>
                <a:endParaRPr sz="1466"/>
              </a:p>
            </p:txBody>
          </p:sp>
          <p:grpSp>
            <p:nvGrpSpPr>
              <p:cNvPr id="6230" name="Google Shape;6230;p312" descr="Automation"/>
              <p:cNvGrpSpPr/>
              <p:nvPr/>
            </p:nvGrpSpPr>
            <p:grpSpPr>
              <a:xfrm>
                <a:off x="2438125" y="2397354"/>
                <a:ext cx="134753" cy="134768"/>
                <a:chOff x="531730" y="723307"/>
                <a:chExt cx="600773" cy="600837"/>
              </a:xfrm>
            </p:grpSpPr>
            <p:sp>
              <p:nvSpPr>
                <p:cNvPr id="6231" name="Google Shape;6231;p312"/>
                <p:cNvSpPr/>
                <p:nvPr/>
              </p:nvSpPr>
              <p:spPr>
                <a:xfrm>
                  <a:off x="658159" y="849799"/>
                  <a:ext cx="347853" cy="347853"/>
                </a:xfrm>
                <a:custGeom>
                  <a:avLst/>
                  <a:gdLst/>
                  <a:ahLst/>
                  <a:cxnLst/>
                  <a:rect l="l" t="t" r="r" b="b"/>
                  <a:pathLst>
                    <a:path w="347853" h="347853" extrusionOk="0">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sp>
              <p:nvSpPr>
                <p:cNvPr id="6232" name="Google Shape;6232;p312"/>
                <p:cNvSpPr/>
                <p:nvPr/>
              </p:nvSpPr>
              <p:spPr>
                <a:xfrm>
                  <a:off x="531730" y="723307"/>
                  <a:ext cx="600773" cy="600837"/>
                </a:xfrm>
                <a:custGeom>
                  <a:avLst/>
                  <a:gdLst/>
                  <a:ahLst/>
                  <a:cxnLst/>
                  <a:rect l="l" t="t" r="r" b="b"/>
                  <a:pathLst>
                    <a:path w="600773" h="600837" extrusionOk="0">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grpSp>
        </p:grpSp>
        <p:sp>
          <p:nvSpPr>
            <p:cNvPr id="6233" name="Google Shape;6233;p312"/>
            <p:cNvSpPr/>
            <p:nvPr/>
          </p:nvSpPr>
          <p:spPr>
            <a:xfrm>
              <a:off x="6324815" y="1910354"/>
              <a:ext cx="1647600" cy="441000"/>
            </a:xfrm>
            <a:prstGeom prst="chevron">
              <a:avLst>
                <a:gd name="adj" fmla="val 50740"/>
              </a:avLst>
            </a:prstGeom>
            <a:solidFill>
              <a:srgbClr val="007A86"/>
            </a:solidFill>
            <a:ln>
              <a:noFill/>
            </a:ln>
          </p:spPr>
          <p:txBody>
            <a:bodyPr spcFirstLastPara="1" wrap="square" lIns="91376" tIns="45688" rIns="91376" bIns="45688" anchor="ctr" anchorCtr="0">
              <a:noAutofit/>
            </a:bodyPr>
            <a:lstStyle/>
            <a:p>
              <a:pPr algn="ctr" defTabSz="1218895"/>
              <a:r>
                <a:rPr lang="en" sz="933">
                  <a:solidFill>
                    <a:srgbClr val="FFFFFF"/>
                  </a:solidFill>
                </a:rPr>
                <a:t>Install Private AI Services &amp; DSM</a:t>
              </a:r>
              <a:endParaRPr sz="1466"/>
            </a:p>
          </p:txBody>
        </p:sp>
        <p:sp>
          <p:nvSpPr>
            <p:cNvPr id="6225" name="Google Shape;6225;p312"/>
            <p:cNvSpPr/>
            <p:nvPr/>
          </p:nvSpPr>
          <p:spPr>
            <a:xfrm>
              <a:off x="6326274" y="3978480"/>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Deploy Data Services Manager (DSM) </a:t>
              </a:r>
              <a:endParaRPr sz="800">
                <a:highlight>
                  <a:srgbClr val="FF0000"/>
                </a:highlight>
              </a:endParaRPr>
            </a:p>
          </p:txBody>
        </p:sp>
      </p:grpSp>
      <p:grpSp>
        <p:nvGrpSpPr>
          <p:cNvPr id="6234" name="Google Shape;6234;p312"/>
          <p:cNvGrpSpPr/>
          <p:nvPr/>
        </p:nvGrpSpPr>
        <p:grpSpPr>
          <a:xfrm>
            <a:off x="6313652" y="1923331"/>
            <a:ext cx="1645734" cy="1995202"/>
            <a:chOff x="7920703" y="1910354"/>
            <a:chExt cx="1646163" cy="1996254"/>
          </a:xfrm>
        </p:grpSpPr>
        <p:cxnSp>
          <p:nvCxnSpPr>
            <p:cNvPr id="6235" name="Google Shape;6235;p312"/>
            <p:cNvCxnSpPr>
              <a:endCxn id="6236" idx="0"/>
            </p:cNvCxnSpPr>
            <p:nvPr/>
          </p:nvCxnSpPr>
          <p:spPr>
            <a:xfrm flipH="1">
              <a:off x="8607561" y="2047808"/>
              <a:ext cx="2400" cy="1399800"/>
            </a:xfrm>
            <a:prstGeom prst="straightConnector1">
              <a:avLst/>
            </a:prstGeom>
            <a:noFill/>
            <a:ln w="19050" cap="flat" cmpd="sng">
              <a:solidFill>
                <a:srgbClr val="B2B2B2"/>
              </a:solidFill>
              <a:prstDash val="solid"/>
              <a:miter lim="800000"/>
              <a:headEnd type="none" w="sm" len="sm"/>
              <a:tailEnd type="none" w="sm" len="sm"/>
            </a:ln>
          </p:spPr>
        </p:cxnSp>
        <p:sp>
          <p:nvSpPr>
            <p:cNvPr id="6237" name="Google Shape;6237;p312"/>
            <p:cNvSpPr/>
            <p:nvPr/>
          </p:nvSpPr>
          <p:spPr>
            <a:xfrm>
              <a:off x="7924115" y="2919949"/>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Provider configures Region, Org and Content Libraries</a:t>
              </a:r>
              <a:endParaRPr sz="1466"/>
            </a:p>
          </p:txBody>
        </p:sp>
        <p:sp>
          <p:nvSpPr>
            <p:cNvPr id="6236" name="Google Shape;6236;p312"/>
            <p:cNvSpPr/>
            <p:nvPr/>
          </p:nvSpPr>
          <p:spPr>
            <a:xfrm>
              <a:off x="7923711" y="3447608"/>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Provider sets up consumption for Tenant Admins</a:t>
              </a:r>
              <a:endParaRPr sz="1466"/>
            </a:p>
          </p:txBody>
        </p:sp>
        <p:grpSp>
          <p:nvGrpSpPr>
            <p:cNvPr id="6238" name="Google Shape;6238;p312"/>
            <p:cNvGrpSpPr/>
            <p:nvPr/>
          </p:nvGrpSpPr>
          <p:grpSpPr>
            <a:xfrm>
              <a:off x="7920703" y="2433037"/>
              <a:ext cx="1375800" cy="244200"/>
              <a:chOff x="2382419" y="2340846"/>
              <a:chExt cx="1375800" cy="244200"/>
            </a:xfrm>
          </p:grpSpPr>
          <p:sp>
            <p:nvSpPr>
              <p:cNvPr id="6239" name="Google Shape;6239;p312"/>
              <p:cNvSpPr/>
              <p:nvPr/>
            </p:nvSpPr>
            <p:spPr>
              <a:xfrm>
                <a:off x="2382419" y="2340846"/>
                <a:ext cx="1375800" cy="244200"/>
              </a:xfrm>
              <a:prstGeom prst="roundRect">
                <a:avLst>
                  <a:gd name="adj" fmla="val 34871"/>
                </a:avLst>
              </a:prstGeom>
              <a:gradFill>
                <a:gsLst>
                  <a:gs pos="0">
                    <a:schemeClr val="accent4"/>
                  </a:gs>
                  <a:gs pos="30000">
                    <a:schemeClr val="accent4"/>
                  </a:gs>
                  <a:gs pos="98000">
                    <a:srgbClr val="92D050"/>
                  </a:gs>
                  <a:gs pos="100000">
                    <a:schemeClr val="accent4"/>
                  </a:gs>
                </a:gsLst>
                <a:lin ang="0" scaled="0"/>
              </a:gradFill>
              <a:ln>
                <a:noFill/>
              </a:ln>
            </p:spPr>
            <p:txBody>
              <a:bodyPr spcFirstLastPara="1" wrap="square" lIns="91376" tIns="45688" rIns="91376" bIns="45688" anchor="ctr" anchorCtr="0">
                <a:noAutofit/>
              </a:bodyPr>
              <a:lstStyle/>
              <a:p>
                <a:pPr algn="ctr" defTabSz="1218895"/>
                <a:r>
                  <a:rPr lang="en" sz="667">
                    <a:solidFill>
                      <a:srgbClr val="FFFFFF"/>
                    </a:solidFill>
                  </a:rPr>
                  <a:t>    Orchestrated Workflows</a:t>
                </a:r>
                <a:endParaRPr sz="1466"/>
              </a:p>
            </p:txBody>
          </p:sp>
          <p:grpSp>
            <p:nvGrpSpPr>
              <p:cNvPr id="6240" name="Google Shape;6240;p312" descr="Automation"/>
              <p:cNvGrpSpPr/>
              <p:nvPr/>
            </p:nvGrpSpPr>
            <p:grpSpPr>
              <a:xfrm>
                <a:off x="2438125" y="2397354"/>
                <a:ext cx="134753" cy="134768"/>
                <a:chOff x="531730" y="723307"/>
                <a:chExt cx="600773" cy="600837"/>
              </a:xfrm>
            </p:grpSpPr>
            <p:sp>
              <p:nvSpPr>
                <p:cNvPr id="6241" name="Google Shape;6241;p312"/>
                <p:cNvSpPr/>
                <p:nvPr/>
              </p:nvSpPr>
              <p:spPr>
                <a:xfrm>
                  <a:off x="658159" y="849799"/>
                  <a:ext cx="347853" cy="347853"/>
                </a:xfrm>
                <a:custGeom>
                  <a:avLst/>
                  <a:gdLst/>
                  <a:ahLst/>
                  <a:cxnLst/>
                  <a:rect l="l" t="t" r="r" b="b"/>
                  <a:pathLst>
                    <a:path w="347853" h="347853" extrusionOk="0">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sp>
              <p:nvSpPr>
                <p:cNvPr id="6242" name="Google Shape;6242;p312"/>
                <p:cNvSpPr/>
                <p:nvPr/>
              </p:nvSpPr>
              <p:spPr>
                <a:xfrm>
                  <a:off x="531730" y="723307"/>
                  <a:ext cx="600773" cy="600837"/>
                </a:xfrm>
                <a:custGeom>
                  <a:avLst/>
                  <a:gdLst/>
                  <a:ahLst/>
                  <a:cxnLst/>
                  <a:rect l="l" t="t" r="r" b="b"/>
                  <a:pathLst>
                    <a:path w="600773" h="600837" extrusionOk="0">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grpSp>
        </p:grpSp>
        <p:sp>
          <p:nvSpPr>
            <p:cNvPr id="6243" name="Google Shape;6243;p312"/>
            <p:cNvSpPr/>
            <p:nvPr/>
          </p:nvSpPr>
          <p:spPr>
            <a:xfrm>
              <a:off x="7935166" y="1910354"/>
              <a:ext cx="1631700" cy="441000"/>
            </a:xfrm>
            <a:prstGeom prst="chevron">
              <a:avLst>
                <a:gd name="adj" fmla="val 50740"/>
              </a:avLst>
            </a:prstGeom>
            <a:solidFill>
              <a:srgbClr val="007A86"/>
            </a:solidFill>
            <a:ln>
              <a:noFill/>
            </a:ln>
          </p:spPr>
          <p:txBody>
            <a:bodyPr spcFirstLastPara="1" wrap="square" lIns="91376" tIns="45688" rIns="91376" bIns="45688" anchor="ctr" anchorCtr="0">
              <a:noAutofit/>
            </a:bodyPr>
            <a:lstStyle/>
            <a:p>
              <a:pPr algn="ctr" defTabSz="1218895"/>
              <a:r>
                <a:rPr lang="en" sz="933">
                  <a:solidFill>
                    <a:srgbClr val="FFFFFF"/>
                  </a:solidFill>
                </a:rPr>
                <a:t>Provision in VCF Automation</a:t>
              </a:r>
              <a:endParaRPr sz="1466"/>
            </a:p>
          </p:txBody>
        </p:sp>
      </p:grpSp>
      <p:grpSp>
        <p:nvGrpSpPr>
          <p:cNvPr id="6244" name="Google Shape;6244;p312"/>
          <p:cNvGrpSpPr/>
          <p:nvPr/>
        </p:nvGrpSpPr>
        <p:grpSpPr>
          <a:xfrm>
            <a:off x="1551153" y="2442950"/>
            <a:ext cx="1375442" cy="244071"/>
            <a:chOff x="733181" y="2340846"/>
            <a:chExt cx="1375800" cy="244200"/>
          </a:xfrm>
        </p:grpSpPr>
        <p:sp>
          <p:nvSpPr>
            <p:cNvPr id="6245" name="Google Shape;6245;p312"/>
            <p:cNvSpPr/>
            <p:nvPr/>
          </p:nvSpPr>
          <p:spPr>
            <a:xfrm>
              <a:off x="733181" y="2340846"/>
              <a:ext cx="1375800" cy="244200"/>
            </a:xfrm>
            <a:prstGeom prst="roundRect">
              <a:avLst>
                <a:gd name="adj" fmla="val 34871"/>
              </a:avLst>
            </a:prstGeom>
            <a:gradFill>
              <a:gsLst>
                <a:gs pos="0">
                  <a:srgbClr val="777777"/>
                </a:gs>
                <a:gs pos="30000">
                  <a:srgbClr val="777777"/>
                </a:gs>
                <a:gs pos="98000">
                  <a:srgbClr val="A5A5A5"/>
                </a:gs>
                <a:gs pos="100000">
                  <a:srgbClr val="D8D8D8"/>
                </a:gs>
              </a:gsLst>
              <a:lin ang="0" scaled="0"/>
            </a:gradFill>
            <a:ln>
              <a:noFill/>
            </a:ln>
          </p:spPr>
          <p:txBody>
            <a:bodyPr spcFirstLastPara="1" wrap="square" lIns="91376" tIns="45688" rIns="91376" bIns="45688" anchor="ctr" anchorCtr="0">
              <a:noAutofit/>
            </a:bodyPr>
            <a:lstStyle/>
            <a:p>
              <a:pPr algn="ctr" defTabSz="1218895"/>
              <a:r>
                <a:rPr lang="en" sz="800">
                  <a:solidFill>
                    <a:srgbClr val="FFFFFF"/>
                  </a:solidFill>
                </a:rPr>
                <a:t>   </a:t>
              </a:r>
              <a:r>
                <a:rPr lang="en" sz="667">
                  <a:solidFill>
                    <a:srgbClr val="FFFFFF"/>
                  </a:solidFill>
                </a:rPr>
                <a:t>Links to Documentation</a:t>
              </a:r>
              <a:endParaRPr sz="1466"/>
            </a:p>
          </p:txBody>
        </p:sp>
        <p:grpSp>
          <p:nvGrpSpPr>
            <p:cNvPr id="6246" name="Google Shape;6246;p312"/>
            <p:cNvGrpSpPr/>
            <p:nvPr/>
          </p:nvGrpSpPr>
          <p:grpSpPr>
            <a:xfrm>
              <a:off x="817746" y="2410309"/>
              <a:ext cx="109094" cy="114898"/>
              <a:chOff x="836796" y="2410309"/>
              <a:chExt cx="109094" cy="114898"/>
            </a:xfrm>
          </p:grpSpPr>
          <p:cxnSp>
            <p:nvCxnSpPr>
              <p:cNvPr id="6247" name="Google Shape;6247;p312"/>
              <p:cNvCxnSpPr/>
              <p:nvPr/>
            </p:nvCxnSpPr>
            <p:spPr>
              <a:xfrm rot="10800000" flipH="1">
                <a:off x="836796" y="2423507"/>
                <a:ext cx="89700" cy="101700"/>
              </a:xfrm>
              <a:prstGeom prst="straightConnector1">
                <a:avLst/>
              </a:prstGeom>
              <a:noFill/>
              <a:ln w="11900" cap="flat" cmpd="sng">
                <a:solidFill>
                  <a:schemeClr val="lt1"/>
                </a:solidFill>
                <a:prstDash val="solid"/>
                <a:miter lim="800000"/>
                <a:headEnd type="none" w="sm" len="sm"/>
                <a:tailEnd type="triangle" w="med" len="med"/>
              </a:ln>
            </p:spPr>
          </p:cxnSp>
          <p:sp>
            <p:nvSpPr>
              <p:cNvPr id="6248" name="Google Shape;6248;p312"/>
              <p:cNvSpPr/>
              <p:nvPr/>
            </p:nvSpPr>
            <p:spPr>
              <a:xfrm>
                <a:off x="837890" y="2410309"/>
                <a:ext cx="108000" cy="108000"/>
              </a:xfrm>
              <a:prstGeom prst="rect">
                <a:avLst/>
              </a:prstGeom>
              <a:noFill/>
              <a:ln w="7150" cap="flat" cmpd="sng">
                <a:solidFill>
                  <a:schemeClr val="lt1"/>
                </a:solidFill>
                <a:prstDash val="solid"/>
                <a:round/>
                <a:headEnd type="none" w="sm" len="sm"/>
                <a:tailEnd type="none" w="sm" len="sm"/>
              </a:ln>
            </p:spPr>
            <p:txBody>
              <a:bodyPr spcFirstLastPara="1" wrap="square" lIns="91376" tIns="45688" rIns="91376" bIns="45688" anchor="ctr" anchorCtr="0">
                <a:noAutofit/>
              </a:bodyPr>
              <a:lstStyle/>
              <a:p>
                <a:pPr algn="ctr" defTabSz="1218895"/>
                <a:endParaRPr sz="1200">
                  <a:solidFill>
                    <a:srgbClr val="FFFFFF"/>
                  </a:solidFill>
                </a:endParaRPr>
              </a:p>
            </p:txBody>
          </p:sp>
        </p:grpSp>
      </p:grpSp>
      <p:pic>
        <p:nvPicPr>
          <p:cNvPr id="6249" name="Google Shape;6249;p312"/>
          <p:cNvPicPr preferRelativeResize="0"/>
          <p:nvPr/>
        </p:nvPicPr>
        <p:blipFill rotWithShape="1">
          <a:blip r:embed="rId4">
            <a:alphaModFix/>
          </a:blip>
          <a:srcRect b="39217"/>
          <a:stretch/>
        </p:blipFill>
        <p:spPr>
          <a:xfrm>
            <a:off x="489582" y="1811884"/>
            <a:ext cx="1164657" cy="720484"/>
          </a:xfrm>
          <a:prstGeom prst="rect">
            <a:avLst/>
          </a:prstGeom>
          <a:noFill/>
          <a:ln>
            <a:noFill/>
          </a:ln>
        </p:spPr>
      </p:pic>
      <p:grpSp>
        <p:nvGrpSpPr>
          <p:cNvPr id="6250" name="Google Shape;6250;p312"/>
          <p:cNvGrpSpPr/>
          <p:nvPr/>
        </p:nvGrpSpPr>
        <p:grpSpPr>
          <a:xfrm>
            <a:off x="9763790" y="1907480"/>
            <a:ext cx="1808230" cy="4041017"/>
            <a:chOff x="9764746" y="1906698"/>
            <a:chExt cx="1808701" cy="4043148"/>
          </a:xfrm>
        </p:grpSpPr>
        <p:sp>
          <p:nvSpPr>
            <p:cNvPr id="6251" name="Google Shape;6251;p312"/>
            <p:cNvSpPr/>
            <p:nvPr/>
          </p:nvSpPr>
          <p:spPr>
            <a:xfrm>
              <a:off x="9764747" y="2778546"/>
              <a:ext cx="1808700" cy="3171300"/>
            </a:xfrm>
            <a:prstGeom prst="roundRect">
              <a:avLst>
                <a:gd name="adj" fmla="val 2356"/>
              </a:avLst>
            </a:prstGeom>
            <a:solidFill>
              <a:srgbClr val="E8E8EA"/>
            </a:solidFill>
            <a:ln>
              <a:noFill/>
            </a:ln>
          </p:spPr>
          <p:txBody>
            <a:bodyPr spcFirstLastPara="1" wrap="square" lIns="91376" tIns="45655" rIns="91376" bIns="45655" anchor="ctr" anchorCtr="0">
              <a:noAutofit/>
            </a:bodyPr>
            <a:lstStyle/>
            <a:p>
              <a:pPr algn="ctr" defTabSz="1218895"/>
              <a:endParaRPr sz="1200">
                <a:solidFill>
                  <a:srgbClr val="FFFFFF"/>
                </a:solidFill>
              </a:endParaRPr>
            </a:p>
          </p:txBody>
        </p:sp>
        <p:sp>
          <p:nvSpPr>
            <p:cNvPr id="6252" name="Google Shape;6252;p312"/>
            <p:cNvSpPr/>
            <p:nvPr/>
          </p:nvSpPr>
          <p:spPr>
            <a:xfrm>
              <a:off x="9764746" y="1906698"/>
              <a:ext cx="1808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933"/>
                <a:t>Completed Deployment</a:t>
              </a:r>
              <a:endParaRPr sz="1466"/>
            </a:p>
          </p:txBody>
        </p:sp>
        <p:pic>
          <p:nvPicPr>
            <p:cNvPr id="6253" name="Google Shape;6253;p312"/>
            <p:cNvPicPr preferRelativeResize="0"/>
            <p:nvPr/>
          </p:nvPicPr>
          <p:blipFill rotWithShape="1">
            <a:blip r:embed="rId5">
              <a:alphaModFix/>
            </a:blip>
            <a:srcRect/>
            <a:stretch/>
          </p:blipFill>
          <p:spPr>
            <a:xfrm>
              <a:off x="10825549" y="3580291"/>
              <a:ext cx="666751" cy="666741"/>
            </a:xfrm>
            <a:prstGeom prst="rect">
              <a:avLst/>
            </a:prstGeom>
            <a:noFill/>
            <a:ln>
              <a:noFill/>
            </a:ln>
          </p:spPr>
        </p:pic>
        <p:sp>
          <p:nvSpPr>
            <p:cNvPr id="6254" name="Google Shape;6254;p312"/>
            <p:cNvSpPr txBox="1"/>
            <p:nvPr/>
          </p:nvSpPr>
          <p:spPr>
            <a:xfrm>
              <a:off x="10063257" y="3187756"/>
              <a:ext cx="1187100" cy="328275"/>
            </a:xfrm>
            <a:prstGeom prst="rect">
              <a:avLst/>
            </a:prstGeom>
            <a:noFill/>
            <a:ln>
              <a:noFill/>
            </a:ln>
          </p:spPr>
          <p:txBody>
            <a:bodyPr spcFirstLastPara="1" wrap="square" lIns="91376" tIns="91376" rIns="91376" bIns="91376" anchor="t" anchorCtr="0">
              <a:spAutoFit/>
            </a:bodyPr>
            <a:lstStyle/>
            <a:p>
              <a:pPr algn="ctr" defTabSz="1218895"/>
              <a:r>
                <a:rPr lang="en" sz="933" b="1"/>
                <a:t>Tenant Admin(s)</a:t>
              </a:r>
              <a:endParaRPr sz="933"/>
            </a:p>
          </p:txBody>
        </p:sp>
        <p:pic>
          <p:nvPicPr>
            <p:cNvPr id="6255" name="Google Shape;6255;p312"/>
            <p:cNvPicPr preferRelativeResize="0"/>
            <p:nvPr/>
          </p:nvPicPr>
          <p:blipFill rotWithShape="1">
            <a:blip r:embed="rId6">
              <a:alphaModFix/>
            </a:blip>
            <a:srcRect b="37406"/>
            <a:stretch/>
          </p:blipFill>
          <p:spPr>
            <a:xfrm>
              <a:off x="9977618" y="2467916"/>
              <a:ext cx="1367789" cy="773940"/>
            </a:xfrm>
            <a:prstGeom prst="rect">
              <a:avLst/>
            </a:prstGeom>
            <a:noFill/>
            <a:ln>
              <a:noFill/>
            </a:ln>
          </p:spPr>
        </p:pic>
        <p:sp>
          <p:nvSpPr>
            <p:cNvPr id="6256" name="Google Shape;6256;p312"/>
            <p:cNvSpPr txBox="1"/>
            <p:nvPr/>
          </p:nvSpPr>
          <p:spPr>
            <a:xfrm>
              <a:off x="9959114" y="4284360"/>
              <a:ext cx="1333200" cy="759196"/>
            </a:xfrm>
            <a:prstGeom prst="rect">
              <a:avLst/>
            </a:prstGeom>
            <a:noFill/>
            <a:ln>
              <a:noFill/>
            </a:ln>
          </p:spPr>
          <p:txBody>
            <a:bodyPr spcFirstLastPara="1" wrap="square" lIns="91376" tIns="91376" rIns="91376" bIns="91376" anchor="t" anchorCtr="0">
              <a:spAutoFit/>
            </a:bodyPr>
            <a:lstStyle/>
            <a:p>
              <a:pPr algn="ctr" defTabSz="1218895"/>
              <a:r>
                <a:rPr lang="en" sz="933" b="1"/>
                <a:t>Consumers</a:t>
              </a:r>
              <a:br>
                <a:rPr lang="en" sz="933" b="1"/>
              </a:br>
              <a:endParaRPr sz="933" b="1"/>
            </a:p>
            <a:p>
              <a:pPr algn="ctr" defTabSz="1218895"/>
              <a:r>
                <a:rPr lang="en" sz="933"/>
                <a:t>Data Scientists, DevOps, MLOps</a:t>
              </a:r>
              <a:endParaRPr sz="933"/>
            </a:p>
          </p:txBody>
        </p:sp>
        <p:pic>
          <p:nvPicPr>
            <p:cNvPr id="6257" name="Google Shape;6257;p312"/>
            <p:cNvPicPr preferRelativeResize="0"/>
            <p:nvPr/>
          </p:nvPicPr>
          <p:blipFill rotWithShape="1">
            <a:blip r:embed="rId5">
              <a:alphaModFix/>
            </a:blip>
            <a:srcRect/>
            <a:stretch/>
          </p:blipFill>
          <p:spPr>
            <a:xfrm>
              <a:off x="9835076" y="3579063"/>
              <a:ext cx="666751" cy="666741"/>
            </a:xfrm>
            <a:prstGeom prst="rect">
              <a:avLst/>
            </a:prstGeom>
            <a:noFill/>
            <a:ln>
              <a:noFill/>
            </a:ln>
          </p:spPr>
        </p:pic>
        <p:sp>
          <p:nvSpPr>
            <p:cNvPr id="6258" name="Google Shape;6258;p312"/>
            <p:cNvSpPr/>
            <p:nvPr/>
          </p:nvSpPr>
          <p:spPr>
            <a:xfrm>
              <a:off x="9814108" y="5032575"/>
              <a:ext cx="1704900" cy="859200"/>
            </a:xfrm>
            <a:prstGeom prst="roundRect">
              <a:avLst>
                <a:gd name="adj" fmla="val 0"/>
              </a:avLst>
            </a:prstGeom>
            <a:solidFill>
              <a:schemeClr val="lt1"/>
            </a:solidFill>
            <a:ln w="14300" cap="flat" cmpd="sng">
              <a:solidFill>
                <a:schemeClr val="accent2"/>
              </a:solidFill>
              <a:prstDash val="solid"/>
              <a:miter lim="800000"/>
              <a:headEnd type="none" w="sm" len="sm"/>
              <a:tailEnd type="none" w="sm" len="sm"/>
            </a:ln>
          </p:spPr>
          <p:txBody>
            <a:bodyPr spcFirstLastPara="1" wrap="square" lIns="121602" tIns="60784" rIns="121602" bIns="60784" anchor="ctr" anchorCtr="0">
              <a:noAutofit/>
            </a:bodyPr>
            <a:lstStyle/>
            <a:p>
              <a:pPr algn="ctr" defTabSz="1218895"/>
              <a:endParaRPr sz="667">
                <a:solidFill>
                  <a:srgbClr val="FFFFFF"/>
                </a:solidFill>
              </a:endParaRPr>
            </a:p>
          </p:txBody>
        </p:sp>
        <p:sp>
          <p:nvSpPr>
            <p:cNvPr id="6259" name="Google Shape;6259;p312"/>
            <p:cNvSpPr/>
            <p:nvPr/>
          </p:nvSpPr>
          <p:spPr>
            <a:xfrm>
              <a:off x="10684137" y="5149598"/>
              <a:ext cx="758700" cy="620700"/>
            </a:xfrm>
            <a:prstGeom prst="roundRect">
              <a:avLst>
                <a:gd name="adj" fmla="val 0"/>
              </a:avLst>
            </a:prstGeom>
            <a:solidFill>
              <a:schemeClr val="accent2">
                <a:alpha val="94900"/>
              </a:schemeClr>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sp>
          <p:nvSpPr>
            <p:cNvPr id="6260" name="Google Shape;6260;p312"/>
            <p:cNvSpPr/>
            <p:nvPr/>
          </p:nvSpPr>
          <p:spPr>
            <a:xfrm>
              <a:off x="10731728" y="5496467"/>
              <a:ext cx="657000" cy="205500"/>
            </a:xfrm>
            <a:prstGeom prst="roundRect">
              <a:avLst>
                <a:gd name="adj" fmla="val 0"/>
              </a:avLst>
            </a:prstGeom>
            <a:noFill/>
            <a:ln w="9525" cap="flat" cmpd="sng">
              <a:solidFill>
                <a:schemeClr val="lt1"/>
              </a:solidFill>
              <a:prstDash val="solid"/>
              <a:miter lim="800000"/>
              <a:headEnd type="none" w="sm" len="sm"/>
              <a:tailEnd type="none" w="sm" len="sm"/>
            </a:ln>
          </p:spPr>
          <p:txBody>
            <a:bodyPr spcFirstLastPara="1" wrap="square" lIns="91343" tIns="45655" rIns="91343" bIns="45655" anchor="ctr" anchorCtr="0">
              <a:noAutofit/>
            </a:bodyPr>
            <a:lstStyle/>
            <a:p>
              <a:pPr algn="ctr" defTabSz="1218895"/>
              <a:r>
                <a:rPr lang="en" sz="667">
                  <a:solidFill>
                    <a:srgbClr val="FFFFFF"/>
                  </a:solidFill>
                </a:rPr>
                <a:t>Namespace</a:t>
              </a:r>
              <a:endParaRPr sz="1466"/>
            </a:p>
          </p:txBody>
        </p:sp>
        <p:grpSp>
          <p:nvGrpSpPr>
            <p:cNvPr id="6261" name="Google Shape;6261;p312"/>
            <p:cNvGrpSpPr/>
            <p:nvPr/>
          </p:nvGrpSpPr>
          <p:grpSpPr>
            <a:xfrm>
              <a:off x="10973260" y="5239317"/>
              <a:ext cx="189965" cy="187362"/>
              <a:chOff x="2736089" y="2462787"/>
              <a:chExt cx="390232" cy="384886"/>
            </a:xfrm>
          </p:grpSpPr>
          <p:sp>
            <p:nvSpPr>
              <p:cNvPr id="6262" name="Google Shape;6262;p312"/>
              <p:cNvSpPr/>
              <p:nvPr/>
            </p:nvSpPr>
            <p:spPr>
              <a:xfrm>
                <a:off x="2736089" y="2462787"/>
                <a:ext cx="339166" cy="339166"/>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263" name="Google Shape;6263;p312"/>
              <p:cNvSpPr/>
              <p:nvPr/>
            </p:nvSpPr>
            <p:spPr>
              <a:xfrm>
                <a:off x="2760874" y="2487973"/>
                <a:ext cx="338400" cy="338400"/>
              </a:xfrm>
              <a:prstGeom prst="roundRect">
                <a:avLst>
                  <a:gd name="adj" fmla="val 8925"/>
                </a:avLst>
              </a:prstGeom>
              <a:solidFill>
                <a:schemeClr val="accent1"/>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sp>
            <p:nvSpPr>
              <p:cNvPr id="6264" name="Google Shape;6264;p312"/>
              <p:cNvSpPr/>
              <p:nvPr/>
            </p:nvSpPr>
            <p:spPr>
              <a:xfrm>
                <a:off x="2761622" y="2485647"/>
                <a:ext cx="339166" cy="339166"/>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265" name="Google Shape;6265;p312"/>
              <p:cNvSpPr/>
              <p:nvPr/>
            </p:nvSpPr>
            <p:spPr>
              <a:xfrm>
                <a:off x="2787155" y="2508507"/>
                <a:ext cx="338400" cy="338400"/>
              </a:xfrm>
              <a:prstGeom prst="roundRect">
                <a:avLst>
                  <a:gd name="adj" fmla="val 8925"/>
                </a:avLst>
              </a:prstGeom>
              <a:solidFill>
                <a:schemeClr val="accent2"/>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sp>
            <p:nvSpPr>
              <p:cNvPr id="6266" name="Google Shape;6266;p312"/>
              <p:cNvSpPr/>
              <p:nvPr/>
            </p:nvSpPr>
            <p:spPr>
              <a:xfrm>
                <a:off x="2787155" y="2508507"/>
                <a:ext cx="339166" cy="339166"/>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pic>
            <p:nvPicPr>
              <p:cNvPr id="6267" name="Google Shape;6267;p312"/>
              <p:cNvPicPr preferRelativeResize="0"/>
              <p:nvPr/>
            </p:nvPicPr>
            <p:blipFill rotWithShape="1">
              <a:blip r:embed="rId7">
                <a:alphaModFix/>
              </a:blip>
              <a:srcRect/>
              <a:stretch/>
            </p:blipFill>
            <p:spPr>
              <a:xfrm>
                <a:off x="2852352" y="2578765"/>
                <a:ext cx="201185" cy="196811"/>
              </a:xfrm>
              <a:prstGeom prst="rect">
                <a:avLst/>
              </a:prstGeom>
              <a:noFill/>
              <a:ln>
                <a:noFill/>
              </a:ln>
            </p:spPr>
          </p:pic>
        </p:grpSp>
        <p:grpSp>
          <p:nvGrpSpPr>
            <p:cNvPr id="6268" name="Google Shape;6268;p312"/>
            <p:cNvGrpSpPr/>
            <p:nvPr/>
          </p:nvGrpSpPr>
          <p:grpSpPr>
            <a:xfrm>
              <a:off x="10741274" y="5239326"/>
              <a:ext cx="189714" cy="187454"/>
              <a:chOff x="2736089" y="2774661"/>
              <a:chExt cx="389716" cy="385075"/>
            </a:xfrm>
          </p:grpSpPr>
          <p:sp>
            <p:nvSpPr>
              <p:cNvPr id="6269" name="Google Shape;6269;p312"/>
              <p:cNvSpPr/>
              <p:nvPr/>
            </p:nvSpPr>
            <p:spPr>
              <a:xfrm>
                <a:off x="2736089" y="2774661"/>
                <a:ext cx="275012" cy="265854"/>
              </a:xfrm>
              <a:custGeom>
                <a:avLst/>
                <a:gdLst/>
                <a:ahLst/>
                <a:cxnLst/>
                <a:rect l="l" t="t" r="r" b="b"/>
                <a:pathLst>
                  <a:path w="325458" h="314620" extrusionOk="0">
                    <a:moveTo>
                      <a:pt x="297003" y="69981"/>
                    </a:moveTo>
                    <a:cubicBezTo>
                      <a:pt x="295142" y="64030"/>
                      <a:pt x="290683" y="59184"/>
                      <a:pt x="285100" y="56217"/>
                    </a:cubicBezTo>
                    <a:lnTo>
                      <a:pt x="171578" y="1861"/>
                    </a:lnTo>
                    <a:cubicBezTo>
                      <a:pt x="168593" y="369"/>
                      <a:pt x="165240" y="0"/>
                      <a:pt x="162273" y="0"/>
                    </a:cubicBezTo>
                    <a:cubicBezTo>
                      <a:pt x="159288" y="0"/>
                      <a:pt x="155953" y="0"/>
                      <a:pt x="152968" y="737"/>
                    </a:cubicBezTo>
                    <a:lnTo>
                      <a:pt x="39447" y="55462"/>
                    </a:lnTo>
                    <a:cubicBezTo>
                      <a:pt x="33864" y="58060"/>
                      <a:pt x="29774" y="62906"/>
                      <a:pt x="28281" y="69226"/>
                    </a:cubicBezTo>
                    <a:lnTo>
                      <a:pt x="366" y="191683"/>
                    </a:lnTo>
                    <a:cubicBezTo>
                      <a:pt x="-758" y="198004"/>
                      <a:pt x="735" y="204342"/>
                      <a:pt x="4457" y="209557"/>
                    </a:cubicBezTo>
                    <a:lnTo>
                      <a:pt x="82987" y="306697"/>
                    </a:lnTo>
                    <a:cubicBezTo>
                      <a:pt x="87446" y="311156"/>
                      <a:pt x="93785" y="314141"/>
                      <a:pt x="100105" y="314510"/>
                    </a:cubicBezTo>
                    <a:lnTo>
                      <a:pt x="225161" y="314510"/>
                    </a:lnTo>
                    <a:cubicBezTo>
                      <a:pt x="231868" y="315247"/>
                      <a:pt x="238188" y="312280"/>
                      <a:pt x="242278" y="306697"/>
                    </a:cubicBezTo>
                    <a:lnTo>
                      <a:pt x="320809" y="209557"/>
                    </a:lnTo>
                    <a:cubicBezTo>
                      <a:pt x="324531" y="204342"/>
                      <a:pt x="326023" y="198022"/>
                      <a:pt x="325268" y="191683"/>
                    </a:cubicBezTo>
                    <a:lnTo>
                      <a:pt x="297003" y="69981"/>
                    </a:lnTo>
                    <a:lnTo>
                      <a:pt x="297003" y="69981"/>
                    </a:lnTo>
                    <a:close/>
                  </a:path>
                </a:pathLst>
              </a:custGeom>
              <a:noFill/>
              <a:ln w="9525"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sp>
            <p:nvSpPr>
              <p:cNvPr id="6270" name="Google Shape;6270;p312"/>
              <p:cNvSpPr/>
              <p:nvPr/>
            </p:nvSpPr>
            <p:spPr>
              <a:xfrm>
                <a:off x="2793441" y="2834271"/>
                <a:ext cx="275012" cy="265854"/>
              </a:xfrm>
              <a:custGeom>
                <a:avLst/>
                <a:gdLst/>
                <a:ahLst/>
                <a:cxnLst/>
                <a:rect l="l" t="t" r="r" b="b"/>
                <a:pathLst>
                  <a:path w="325458" h="314620" extrusionOk="0">
                    <a:moveTo>
                      <a:pt x="297003" y="69981"/>
                    </a:moveTo>
                    <a:cubicBezTo>
                      <a:pt x="295142" y="64030"/>
                      <a:pt x="290683" y="59184"/>
                      <a:pt x="285100" y="56217"/>
                    </a:cubicBezTo>
                    <a:lnTo>
                      <a:pt x="171578" y="1861"/>
                    </a:lnTo>
                    <a:cubicBezTo>
                      <a:pt x="168593" y="369"/>
                      <a:pt x="165240" y="0"/>
                      <a:pt x="162273" y="0"/>
                    </a:cubicBezTo>
                    <a:cubicBezTo>
                      <a:pt x="159288" y="0"/>
                      <a:pt x="155953" y="0"/>
                      <a:pt x="152968" y="737"/>
                    </a:cubicBezTo>
                    <a:lnTo>
                      <a:pt x="39447" y="55462"/>
                    </a:lnTo>
                    <a:cubicBezTo>
                      <a:pt x="33864" y="58060"/>
                      <a:pt x="29774" y="62906"/>
                      <a:pt x="28281" y="69226"/>
                    </a:cubicBezTo>
                    <a:lnTo>
                      <a:pt x="366" y="191683"/>
                    </a:lnTo>
                    <a:cubicBezTo>
                      <a:pt x="-758" y="198004"/>
                      <a:pt x="735" y="204342"/>
                      <a:pt x="4457" y="209557"/>
                    </a:cubicBezTo>
                    <a:lnTo>
                      <a:pt x="82987" y="306697"/>
                    </a:lnTo>
                    <a:cubicBezTo>
                      <a:pt x="87446" y="311156"/>
                      <a:pt x="93785" y="314141"/>
                      <a:pt x="100105" y="314510"/>
                    </a:cubicBezTo>
                    <a:lnTo>
                      <a:pt x="225161" y="314510"/>
                    </a:lnTo>
                    <a:cubicBezTo>
                      <a:pt x="231868" y="315247"/>
                      <a:pt x="238188" y="312280"/>
                      <a:pt x="242278" y="306697"/>
                    </a:cubicBezTo>
                    <a:lnTo>
                      <a:pt x="320809" y="209557"/>
                    </a:lnTo>
                    <a:cubicBezTo>
                      <a:pt x="324531" y="204342"/>
                      <a:pt x="326023" y="198022"/>
                      <a:pt x="325268" y="191683"/>
                    </a:cubicBezTo>
                    <a:lnTo>
                      <a:pt x="297003" y="69981"/>
                    </a:lnTo>
                    <a:lnTo>
                      <a:pt x="297003" y="69981"/>
                    </a:lnTo>
                    <a:close/>
                  </a:path>
                </a:pathLst>
              </a:custGeom>
              <a:solidFill>
                <a:schemeClr val="accent2"/>
              </a:solidFill>
              <a:ln w="9525"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grpSp>
            <p:nvGrpSpPr>
              <p:cNvPr id="6271" name="Google Shape;6271;p312"/>
              <p:cNvGrpSpPr/>
              <p:nvPr/>
            </p:nvGrpSpPr>
            <p:grpSpPr>
              <a:xfrm>
                <a:off x="2850793" y="2893882"/>
                <a:ext cx="275012" cy="265854"/>
                <a:chOff x="1940012" y="2582008"/>
                <a:chExt cx="275012" cy="265854"/>
              </a:xfrm>
            </p:grpSpPr>
            <p:sp>
              <p:nvSpPr>
                <p:cNvPr id="6272" name="Google Shape;6272;p312"/>
                <p:cNvSpPr/>
                <p:nvPr/>
              </p:nvSpPr>
              <p:spPr>
                <a:xfrm>
                  <a:off x="1940012" y="2582008"/>
                  <a:ext cx="275012" cy="265854"/>
                </a:xfrm>
                <a:custGeom>
                  <a:avLst/>
                  <a:gdLst/>
                  <a:ahLst/>
                  <a:cxnLst/>
                  <a:rect l="l" t="t" r="r" b="b"/>
                  <a:pathLst>
                    <a:path w="325458" h="314620" extrusionOk="0">
                      <a:moveTo>
                        <a:pt x="297003" y="69981"/>
                      </a:moveTo>
                      <a:cubicBezTo>
                        <a:pt x="295142" y="64030"/>
                        <a:pt x="290683" y="59184"/>
                        <a:pt x="285100" y="56217"/>
                      </a:cubicBezTo>
                      <a:lnTo>
                        <a:pt x="171578" y="1861"/>
                      </a:lnTo>
                      <a:cubicBezTo>
                        <a:pt x="168593" y="369"/>
                        <a:pt x="165240" y="0"/>
                        <a:pt x="162273" y="0"/>
                      </a:cubicBezTo>
                      <a:cubicBezTo>
                        <a:pt x="159288" y="0"/>
                        <a:pt x="155953" y="0"/>
                        <a:pt x="152968" y="737"/>
                      </a:cubicBezTo>
                      <a:lnTo>
                        <a:pt x="39447" y="55462"/>
                      </a:lnTo>
                      <a:cubicBezTo>
                        <a:pt x="33864" y="58060"/>
                        <a:pt x="29774" y="62906"/>
                        <a:pt x="28281" y="69226"/>
                      </a:cubicBezTo>
                      <a:lnTo>
                        <a:pt x="366" y="191683"/>
                      </a:lnTo>
                      <a:cubicBezTo>
                        <a:pt x="-758" y="198004"/>
                        <a:pt x="735" y="204342"/>
                        <a:pt x="4457" y="209557"/>
                      </a:cubicBezTo>
                      <a:lnTo>
                        <a:pt x="82987" y="306697"/>
                      </a:lnTo>
                      <a:cubicBezTo>
                        <a:pt x="87446" y="311156"/>
                        <a:pt x="93785" y="314141"/>
                        <a:pt x="100105" y="314510"/>
                      </a:cubicBezTo>
                      <a:lnTo>
                        <a:pt x="225161" y="314510"/>
                      </a:lnTo>
                      <a:cubicBezTo>
                        <a:pt x="231868" y="315247"/>
                        <a:pt x="238188" y="312280"/>
                        <a:pt x="242278" y="306697"/>
                      </a:cubicBezTo>
                      <a:lnTo>
                        <a:pt x="320809" y="209557"/>
                      </a:lnTo>
                      <a:cubicBezTo>
                        <a:pt x="324531" y="204342"/>
                        <a:pt x="326023" y="198022"/>
                        <a:pt x="325268" y="191683"/>
                      </a:cubicBezTo>
                      <a:lnTo>
                        <a:pt x="297003" y="69981"/>
                      </a:lnTo>
                      <a:lnTo>
                        <a:pt x="297003" y="69981"/>
                      </a:lnTo>
                      <a:close/>
                    </a:path>
                  </a:pathLst>
                </a:custGeom>
                <a:solidFill>
                  <a:schemeClr val="accent2"/>
                </a:solidFill>
                <a:ln>
                  <a:noFill/>
                </a:ln>
              </p:spPr>
              <p:txBody>
                <a:bodyPr spcFirstLastPara="1" wrap="square" lIns="91410" tIns="45688" rIns="91410" bIns="45688" anchor="ctr" anchorCtr="0">
                  <a:noAutofit/>
                </a:bodyPr>
                <a:lstStyle/>
                <a:p>
                  <a:pPr defTabSz="1218895"/>
                  <a:endParaRPr sz="1733"/>
                </a:p>
              </p:txBody>
            </p:sp>
            <p:pic>
              <p:nvPicPr>
                <p:cNvPr id="6273" name="Google Shape;6273;p312"/>
                <p:cNvPicPr preferRelativeResize="0"/>
                <p:nvPr/>
              </p:nvPicPr>
              <p:blipFill rotWithShape="1">
                <a:blip r:embed="rId7">
                  <a:alphaModFix/>
                </a:blip>
                <a:srcRect/>
                <a:stretch/>
              </p:blipFill>
              <p:spPr>
                <a:xfrm>
                  <a:off x="1943469" y="2584880"/>
                  <a:ext cx="267777" cy="261955"/>
                </a:xfrm>
                <a:prstGeom prst="rect">
                  <a:avLst/>
                </a:prstGeom>
                <a:noFill/>
                <a:ln>
                  <a:noFill/>
                </a:ln>
              </p:spPr>
            </p:pic>
          </p:grpSp>
        </p:grpSp>
        <p:grpSp>
          <p:nvGrpSpPr>
            <p:cNvPr id="6274" name="Google Shape;6274;p312"/>
            <p:cNvGrpSpPr/>
            <p:nvPr/>
          </p:nvGrpSpPr>
          <p:grpSpPr>
            <a:xfrm>
              <a:off x="11206416" y="5239325"/>
              <a:ext cx="188964" cy="186923"/>
              <a:chOff x="2564906" y="2394044"/>
              <a:chExt cx="282288" cy="279240"/>
            </a:xfrm>
          </p:grpSpPr>
          <p:grpSp>
            <p:nvGrpSpPr>
              <p:cNvPr id="6275" name="Google Shape;6275;p312"/>
              <p:cNvGrpSpPr/>
              <p:nvPr/>
            </p:nvGrpSpPr>
            <p:grpSpPr>
              <a:xfrm>
                <a:off x="2564906" y="2394044"/>
                <a:ext cx="246480" cy="246480"/>
                <a:chOff x="3526040" y="2503629"/>
                <a:chExt cx="347400" cy="347400"/>
              </a:xfrm>
            </p:grpSpPr>
            <p:sp>
              <p:nvSpPr>
                <p:cNvPr id="6276" name="Google Shape;6276;p312"/>
                <p:cNvSpPr/>
                <p:nvPr/>
              </p:nvSpPr>
              <p:spPr>
                <a:xfrm>
                  <a:off x="3526040" y="2503629"/>
                  <a:ext cx="347400" cy="347400"/>
                </a:xfrm>
                <a:prstGeom prst="rect">
                  <a:avLst/>
                </a:prstGeom>
                <a:solidFill>
                  <a:schemeClr val="accent1"/>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grpSp>
              <p:nvGrpSpPr>
                <p:cNvPr id="6277" name="Google Shape;6277;p312"/>
                <p:cNvGrpSpPr/>
                <p:nvPr/>
              </p:nvGrpSpPr>
              <p:grpSpPr>
                <a:xfrm>
                  <a:off x="3526087" y="2503702"/>
                  <a:ext cx="341872" cy="341872"/>
                  <a:chOff x="979296" y="1541155"/>
                  <a:chExt cx="1054510" cy="1054510"/>
                </a:xfrm>
              </p:grpSpPr>
              <p:sp>
                <p:nvSpPr>
                  <p:cNvPr id="6278" name="Google Shape;6278;p312"/>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nvGrpSpPr>
                  <p:cNvPr id="6279" name="Google Shape;6279;p312"/>
                  <p:cNvGrpSpPr/>
                  <p:nvPr/>
                </p:nvGrpSpPr>
                <p:grpSpPr>
                  <a:xfrm>
                    <a:off x="1296246" y="2002748"/>
                    <a:ext cx="390297" cy="146863"/>
                    <a:chOff x="1296246" y="2002748"/>
                    <a:chExt cx="390297" cy="146863"/>
                  </a:xfrm>
                </p:grpSpPr>
                <p:sp>
                  <p:nvSpPr>
                    <p:cNvPr id="6280" name="Google Shape;6280;p312"/>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281" name="Google Shape;6281;p312"/>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grpSp>
          </p:grpSp>
          <p:grpSp>
            <p:nvGrpSpPr>
              <p:cNvPr id="6282" name="Google Shape;6282;p312"/>
              <p:cNvGrpSpPr/>
              <p:nvPr/>
            </p:nvGrpSpPr>
            <p:grpSpPr>
              <a:xfrm>
                <a:off x="2582810" y="2410424"/>
                <a:ext cx="246480" cy="246480"/>
                <a:chOff x="3526040" y="2503629"/>
                <a:chExt cx="347400" cy="347400"/>
              </a:xfrm>
            </p:grpSpPr>
            <p:sp>
              <p:nvSpPr>
                <p:cNvPr id="6283" name="Google Shape;6283;p312"/>
                <p:cNvSpPr/>
                <p:nvPr/>
              </p:nvSpPr>
              <p:spPr>
                <a:xfrm>
                  <a:off x="3526040" y="2503629"/>
                  <a:ext cx="347400" cy="347400"/>
                </a:xfrm>
                <a:prstGeom prst="rect">
                  <a:avLst/>
                </a:prstGeom>
                <a:solidFill>
                  <a:schemeClr val="accent1"/>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grpSp>
              <p:nvGrpSpPr>
                <p:cNvPr id="6284" name="Google Shape;6284;p312"/>
                <p:cNvGrpSpPr/>
                <p:nvPr/>
              </p:nvGrpSpPr>
              <p:grpSpPr>
                <a:xfrm>
                  <a:off x="3526087" y="2503702"/>
                  <a:ext cx="341872" cy="341872"/>
                  <a:chOff x="979296" y="1541155"/>
                  <a:chExt cx="1054510" cy="1054510"/>
                </a:xfrm>
              </p:grpSpPr>
              <p:sp>
                <p:nvSpPr>
                  <p:cNvPr id="6285" name="Google Shape;6285;p312"/>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nvGrpSpPr>
                  <p:cNvPr id="6286" name="Google Shape;6286;p312"/>
                  <p:cNvGrpSpPr/>
                  <p:nvPr/>
                </p:nvGrpSpPr>
                <p:grpSpPr>
                  <a:xfrm>
                    <a:off x="1296246" y="2002748"/>
                    <a:ext cx="390297" cy="146863"/>
                    <a:chOff x="1296246" y="2002748"/>
                    <a:chExt cx="390297" cy="146863"/>
                  </a:xfrm>
                </p:grpSpPr>
                <p:sp>
                  <p:nvSpPr>
                    <p:cNvPr id="6287" name="Google Shape;6287;p312"/>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288" name="Google Shape;6288;p312"/>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grpSp>
          </p:grpSp>
          <p:grpSp>
            <p:nvGrpSpPr>
              <p:cNvPr id="6289" name="Google Shape;6289;p312"/>
              <p:cNvGrpSpPr/>
              <p:nvPr/>
            </p:nvGrpSpPr>
            <p:grpSpPr>
              <a:xfrm>
                <a:off x="2600714" y="2426804"/>
                <a:ext cx="246480" cy="246480"/>
                <a:chOff x="3526040" y="2503629"/>
                <a:chExt cx="347400" cy="347400"/>
              </a:xfrm>
            </p:grpSpPr>
            <p:sp>
              <p:nvSpPr>
                <p:cNvPr id="6290" name="Google Shape;6290;p312"/>
                <p:cNvSpPr/>
                <p:nvPr/>
              </p:nvSpPr>
              <p:spPr>
                <a:xfrm>
                  <a:off x="3526040" y="2503629"/>
                  <a:ext cx="347400" cy="347400"/>
                </a:xfrm>
                <a:prstGeom prst="rect">
                  <a:avLst/>
                </a:prstGeom>
                <a:solidFill>
                  <a:schemeClr val="accent2"/>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grpSp>
              <p:nvGrpSpPr>
                <p:cNvPr id="6291" name="Google Shape;6291;p312"/>
                <p:cNvGrpSpPr/>
                <p:nvPr/>
              </p:nvGrpSpPr>
              <p:grpSpPr>
                <a:xfrm>
                  <a:off x="3526087" y="2503702"/>
                  <a:ext cx="341872" cy="341872"/>
                  <a:chOff x="979296" y="1541155"/>
                  <a:chExt cx="1054510" cy="1054510"/>
                </a:xfrm>
              </p:grpSpPr>
              <p:sp>
                <p:nvSpPr>
                  <p:cNvPr id="6292" name="Google Shape;6292;p312"/>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nvGrpSpPr>
                  <p:cNvPr id="6293" name="Google Shape;6293;p312"/>
                  <p:cNvGrpSpPr/>
                  <p:nvPr/>
                </p:nvGrpSpPr>
                <p:grpSpPr>
                  <a:xfrm>
                    <a:off x="1296246" y="2002748"/>
                    <a:ext cx="390297" cy="146863"/>
                    <a:chOff x="1296246" y="2002748"/>
                    <a:chExt cx="390297" cy="146863"/>
                  </a:xfrm>
                </p:grpSpPr>
                <p:sp>
                  <p:nvSpPr>
                    <p:cNvPr id="6294" name="Google Shape;6294;p312"/>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295" name="Google Shape;6295;p312"/>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grpSp>
          </p:grpSp>
        </p:grpSp>
        <p:sp>
          <p:nvSpPr>
            <p:cNvPr id="6296" name="Google Shape;6296;p312"/>
            <p:cNvSpPr/>
            <p:nvPr/>
          </p:nvSpPr>
          <p:spPr>
            <a:xfrm>
              <a:off x="9871599" y="5149598"/>
              <a:ext cx="758700" cy="620700"/>
            </a:xfrm>
            <a:prstGeom prst="roundRect">
              <a:avLst>
                <a:gd name="adj" fmla="val 0"/>
              </a:avLst>
            </a:prstGeom>
            <a:solidFill>
              <a:schemeClr val="accent2">
                <a:alpha val="94900"/>
              </a:schemeClr>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sp>
          <p:nvSpPr>
            <p:cNvPr id="6297" name="Google Shape;6297;p312"/>
            <p:cNvSpPr/>
            <p:nvPr/>
          </p:nvSpPr>
          <p:spPr>
            <a:xfrm>
              <a:off x="9919190" y="5496467"/>
              <a:ext cx="657000" cy="205500"/>
            </a:xfrm>
            <a:prstGeom prst="roundRect">
              <a:avLst>
                <a:gd name="adj" fmla="val 0"/>
              </a:avLst>
            </a:prstGeom>
            <a:noFill/>
            <a:ln w="9525" cap="flat" cmpd="sng">
              <a:solidFill>
                <a:schemeClr val="lt1"/>
              </a:solidFill>
              <a:prstDash val="solid"/>
              <a:miter lim="800000"/>
              <a:headEnd type="none" w="sm" len="sm"/>
              <a:tailEnd type="none" w="sm" len="sm"/>
            </a:ln>
          </p:spPr>
          <p:txBody>
            <a:bodyPr spcFirstLastPara="1" wrap="square" lIns="91343" tIns="45655" rIns="91343" bIns="45655" anchor="ctr" anchorCtr="0">
              <a:noAutofit/>
            </a:bodyPr>
            <a:lstStyle/>
            <a:p>
              <a:pPr algn="ctr" defTabSz="1218895"/>
              <a:r>
                <a:rPr lang="en" sz="667">
                  <a:solidFill>
                    <a:srgbClr val="FFFFFF"/>
                  </a:solidFill>
                </a:rPr>
                <a:t>Namespace</a:t>
              </a:r>
              <a:endParaRPr sz="1466"/>
            </a:p>
          </p:txBody>
        </p:sp>
        <p:grpSp>
          <p:nvGrpSpPr>
            <p:cNvPr id="6298" name="Google Shape;6298;p312"/>
            <p:cNvGrpSpPr/>
            <p:nvPr/>
          </p:nvGrpSpPr>
          <p:grpSpPr>
            <a:xfrm>
              <a:off x="10160722" y="5239317"/>
              <a:ext cx="189965" cy="187362"/>
              <a:chOff x="2736089" y="2462787"/>
              <a:chExt cx="390232" cy="384886"/>
            </a:xfrm>
          </p:grpSpPr>
          <p:sp>
            <p:nvSpPr>
              <p:cNvPr id="6299" name="Google Shape;6299;p312"/>
              <p:cNvSpPr/>
              <p:nvPr/>
            </p:nvSpPr>
            <p:spPr>
              <a:xfrm>
                <a:off x="2736089" y="2462787"/>
                <a:ext cx="339166" cy="339166"/>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300" name="Google Shape;6300;p312"/>
              <p:cNvSpPr/>
              <p:nvPr/>
            </p:nvSpPr>
            <p:spPr>
              <a:xfrm>
                <a:off x="2760874" y="2487973"/>
                <a:ext cx="338400" cy="338400"/>
              </a:xfrm>
              <a:prstGeom prst="roundRect">
                <a:avLst>
                  <a:gd name="adj" fmla="val 8925"/>
                </a:avLst>
              </a:prstGeom>
              <a:solidFill>
                <a:schemeClr val="accent1"/>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sp>
            <p:nvSpPr>
              <p:cNvPr id="6301" name="Google Shape;6301;p312"/>
              <p:cNvSpPr/>
              <p:nvPr/>
            </p:nvSpPr>
            <p:spPr>
              <a:xfrm>
                <a:off x="2761622" y="2485647"/>
                <a:ext cx="339166" cy="339166"/>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302" name="Google Shape;6302;p312"/>
              <p:cNvSpPr/>
              <p:nvPr/>
            </p:nvSpPr>
            <p:spPr>
              <a:xfrm>
                <a:off x="2787155" y="2508507"/>
                <a:ext cx="338400" cy="338400"/>
              </a:xfrm>
              <a:prstGeom prst="roundRect">
                <a:avLst>
                  <a:gd name="adj" fmla="val 8925"/>
                </a:avLst>
              </a:prstGeom>
              <a:solidFill>
                <a:schemeClr val="accent2"/>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sp>
            <p:nvSpPr>
              <p:cNvPr id="6303" name="Google Shape;6303;p312"/>
              <p:cNvSpPr/>
              <p:nvPr/>
            </p:nvSpPr>
            <p:spPr>
              <a:xfrm>
                <a:off x="2787155" y="2508507"/>
                <a:ext cx="339166" cy="339166"/>
              </a:xfrm>
              <a:custGeom>
                <a:avLst/>
                <a:gdLst/>
                <a:ahLst/>
                <a:cxnLst/>
                <a:rect l="l" t="t" r="r" b="b"/>
                <a:pathLst>
                  <a:path w="1035620" h="1035620" extrusionOk="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pic>
            <p:nvPicPr>
              <p:cNvPr id="6304" name="Google Shape;6304;p312"/>
              <p:cNvPicPr preferRelativeResize="0"/>
              <p:nvPr/>
            </p:nvPicPr>
            <p:blipFill rotWithShape="1">
              <a:blip r:embed="rId7">
                <a:alphaModFix/>
              </a:blip>
              <a:srcRect/>
              <a:stretch/>
            </p:blipFill>
            <p:spPr>
              <a:xfrm>
                <a:off x="2852352" y="2578765"/>
                <a:ext cx="201185" cy="196811"/>
              </a:xfrm>
              <a:prstGeom prst="rect">
                <a:avLst/>
              </a:prstGeom>
              <a:noFill/>
              <a:ln>
                <a:noFill/>
              </a:ln>
            </p:spPr>
          </p:pic>
        </p:grpSp>
        <p:grpSp>
          <p:nvGrpSpPr>
            <p:cNvPr id="6305" name="Google Shape;6305;p312"/>
            <p:cNvGrpSpPr/>
            <p:nvPr/>
          </p:nvGrpSpPr>
          <p:grpSpPr>
            <a:xfrm>
              <a:off x="9928736" y="5239326"/>
              <a:ext cx="189714" cy="187454"/>
              <a:chOff x="2736089" y="2774661"/>
              <a:chExt cx="389716" cy="385075"/>
            </a:xfrm>
          </p:grpSpPr>
          <p:sp>
            <p:nvSpPr>
              <p:cNvPr id="6306" name="Google Shape;6306;p312"/>
              <p:cNvSpPr/>
              <p:nvPr/>
            </p:nvSpPr>
            <p:spPr>
              <a:xfrm>
                <a:off x="2736089" y="2774661"/>
                <a:ext cx="275012" cy="265854"/>
              </a:xfrm>
              <a:custGeom>
                <a:avLst/>
                <a:gdLst/>
                <a:ahLst/>
                <a:cxnLst/>
                <a:rect l="l" t="t" r="r" b="b"/>
                <a:pathLst>
                  <a:path w="325458" h="314620" extrusionOk="0">
                    <a:moveTo>
                      <a:pt x="297003" y="69981"/>
                    </a:moveTo>
                    <a:cubicBezTo>
                      <a:pt x="295142" y="64030"/>
                      <a:pt x="290683" y="59184"/>
                      <a:pt x="285100" y="56217"/>
                    </a:cubicBezTo>
                    <a:lnTo>
                      <a:pt x="171578" y="1861"/>
                    </a:lnTo>
                    <a:cubicBezTo>
                      <a:pt x="168593" y="369"/>
                      <a:pt x="165240" y="0"/>
                      <a:pt x="162273" y="0"/>
                    </a:cubicBezTo>
                    <a:cubicBezTo>
                      <a:pt x="159288" y="0"/>
                      <a:pt x="155953" y="0"/>
                      <a:pt x="152968" y="737"/>
                    </a:cubicBezTo>
                    <a:lnTo>
                      <a:pt x="39447" y="55462"/>
                    </a:lnTo>
                    <a:cubicBezTo>
                      <a:pt x="33864" y="58060"/>
                      <a:pt x="29774" y="62906"/>
                      <a:pt x="28281" y="69226"/>
                    </a:cubicBezTo>
                    <a:lnTo>
                      <a:pt x="366" y="191683"/>
                    </a:lnTo>
                    <a:cubicBezTo>
                      <a:pt x="-758" y="198004"/>
                      <a:pt x="735" y="204342"/>
                      <a:pt x="4457" y="209557"/>
                    </a:cubicBezTo>
                    <a:lnTo>
                      <a:pt x="82987" y="306697"/>
                    </a:lnTo>
                    <a:cubicBezTo>
                      <a:pt x="87446" y="311156"/>
                      <a:pt x="93785" y="314141"/>
                      <a:pt x="100105" y="314510"/>
                    </a:cubicBezTo>
                    <a:lnTo>
                      <a:pt x="225161" y="314510"/>
                    </a:lnTo>
                    <a:cubicBezTo>
                      <a:pt x="231868" y="315247"/>
                      <a:pt x="238188" y="312280"/>
                      <a:pt x="242278" y="306697"/>
                    </a:cubicBezTo>
                    <a:lnTo>
                      <a:pt x="320809" y="209557"/>
                    </a:lnTo>
                    <a:cubicBezTo>
                      <a:pt x="324531" y="204342"/>
                      <a:pt x="326023" y="198022"/>
                      <a:pt x="325268" y="191683"/>
                    </a:cubicBezTo>
                    <a:lnTo>
                      <a:pt x="297003" y="69981"/>
                    </a:lnTo>
                    <a:lnTo>
                      <a:pt x="297003" y="69981"/>
                    </a:lnTo>
                    <a:close/>
                  </a:path>
                </a:pathLst>
              </a:custGeom>
              <a:noFill/>
              <a:ln w="9525"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sp>
            <p:nvSpPr>
              <p:cNvPr id="6307" name="Google Shape;6307;p312"/>
              <p:cNvSpPr/>
              <p:nvPr/>
            </p:nvSpPr>
            <p:spPr>
              <a:xfrm>
                <a:off x="2793441" y="2834271"/>
                <a:ext cx="275012" cy="265854"/>
              </a:xfrm>
              <a:custGeom>
                <a:avLst/>
                <a:gdLst/>
                <a:ahLst/>
                <a:cxnLst/>
                <a:rect l="l" t="t" r="r" b="b"/>
                <a:pathLst>
                  <a:path w="325458" h="314620" extrusionOk="0">
                    <a:moveTo>
                      <a:pt x="297003" y="69981"/>
                    </a:moveTo>
                    <a:cubicBezTo>
                      <a:pt x="295142" y="64030"/>
                      <a:pt x="290683" y="59184"/>
                      <a:pt x="285100" y="56217"/>
                    </a:cubicBezTo>
                    <a:lnTo>
                      <a:pt x="171578" y="1861"/>
                    </a:lnTo>
                    <a:cubicBezTo>
                      <a:pt x="168593" y="369"/>
                      <a:pt x="165240" y="0"/>
                      <a:pt x="162273" y="0"/>
                    </a:cubicBezTo>
                    <a:cubicBezTo>
                      <a:pt x="159288" y="0"/>
                      <a:pt x="155953" y="0"/>
                      <a:pt x="152968" y="737"/>
                    </a:cubicBezTo>
                    <a:lnTo>
                      <a:pt x="39447" y="55462"/>
                    </a:lnTo>
                    <a:cubicBezTo>
                      <a:pt x="33864" y="58060"/>
                      <a:pt x="29774" y="62906"/>
                      <a:pt x="28281" y="69226"/>
                    </a:cubicBezTo>
                    <a:lnTo>
                      <a:pt x="366" y="191683"/>
                    </a:lnTo>
                    <a:cubicBezTo>
                      <a:pt x="-758" y="198004"/>
                      <a:pt x="735" y="204342"/>
                      <a:pt x="4457" y="209557"/>
                    </a:cubicBezTo>
                    <a:lnTo>
                      <a:pt x="82987" y="306697"/>
                    </a:lnTo>
                    <a:cubicBezTo>
                      <a:pt x="87446" y="311156"/>
                      <a:pt x="93785" y="314141"/>
                      <a:pt x="100105" y="314510"/>
                    </a:cubicBezTo>
                    <a:lnTo>
                      <a:pt x="225161" y="314510"/>
                    </a:lnTo>
                    <a:cubicBezTo>
                      <a:pt x="231868" y="315247"/>
                      <a:pt x="238188" y="312280"/>
                      <a:pt x="242278" y="306697"/>
                    </a:cubicBezTo>
                    <a:lnTo>
                      <a:pt x="320809" y="209557"/>
                    </a:lnTo>
                    <a:cubicBezTo>
                      <a:pt x="324531" y="204342"/>
                      <a:pt x="326023" y="198022"/>
                      <a:pt x="325268" y="191683"/>
                    </a:cubicBezTo>
                    <a:lnTo>
                      <a:pt x="297003" y="69981"/>
                    </a:lnTo>
                    <a:lnTo>
                      <a:pt x="297003" y="69981"/>
                    </a:lnTo>
                    <a:close/>
                  </a:path>
                </a:pathLst>
              </a:custGeom>
              <a:solidFill>
                <a:schemeClr val="accent2"/>
              </a:solidFill>
              <a:ln w="9525"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grpSp>
            <p:nvGrpSpPr>
              <p:cNvPr id="6308" name="Google Shape;6308;p312"/>
              <p:cNvGrpSpPr/>
              <p:nvPr/>
            </p:nvGrpSpPr>
            <p:grpSpPr>
              <a:xfrm>
                <a:off x="2850793" y="2893882"/>
                <a:ext cx="275012" cy="265854"/>
                <a:chOff x="1940012" y="2582008"/>
                <a:chExt cx="275012" cy="265854"/>
              </a:xfrm>
            </p:grpSpPr>
            <p:sp>
              <p:nvSpPr>
                <p:cNvPr id="6309" name="Google Shape;6309;p312"/>
                <p:cNvSpPr/>
                <p:nvPr/>
              </p:nvSpPr>
              <p:spPr>
                <a:xfrm>
                  <a:off x="1940012" y="2582008"/>
                  <a:ext cx="275012" cy="265854"/>
                </a:xfrm>
                <a:custGeom>
                  <a:avLst/>
                  <a:gdLst/>
                  <a:ahLst/>
                  <a:cxnLst/>
                  <a:rect l="l" t="t" r="r" b="b"/>
                  <a:pathLst>
                    <a:path w="325458" h="314620" extrusionOk="0">
                      <a:moveTo>
                        <a:pt x="297003" y="69981"/>
                      </a:moveTo>
                      <a:cubicBezTo>
                        <a:pt x="295142" y="64030"/>
                        <a:pt x="290683" y="59184"/>
                        <a:pt x="285100" y="56217"/>
                      </a:cubicBezTo>
                      <a:lnTo>
                        <a:pt x="171578" y="1861"/>
                      </a:lnTo>
                      <a:cubicBezTo>
                        <a:pt x="168593" y="369"/>
                        <a:pt x="165240" y="0"/>
                        <a:pt x="162273" y="0"/>
                      </a:cubicBezTo>
                      <a:cubicBezTo>
                        <a:pt x="159288" y="0"/>
                        <a:pt x="155953" y="0"/>
                        <a:pt x="152968" y="737"/>
                      </a:cubicBezTo>
                      <a:lnTo>
                        <a:pt x="39447" y="55462"/>
                      </a:lnTo>
                      <a:cubicBezTo>
                        <a:pt x="33864" y="58060"/>
                        <a:pt x="29774" y="62906"/>
                        <a:pt x="28281" y="69226"/>
                      </a:cubicBezTo>
                      <a:lnTo>
                        <a:pt x="366" y="191683"/>
                      </a:lnTo>
                      <a:cubicBezTo>
                        <a:pt x="-758" y="198004"/>
                        <a:pt x="735" y="204342"/>
                        <a:pt x="4457" y="209557"/>
                      </a:cubicBezTo>
                      <a:lnTo>
                        <a:pt x="82987" y="306697"/>
                      </a:lnTo>
                      <a:cubicBezTo>
                        <a:pt x="87446" y="311156"/>
                        <a:pt x="93785" y="314141"/>
                        <a:pt x="100105" y="314510"/>
                      </a:cubicBezTo>
                      <a:lnTo>
                        <a:pt x="225161" y="314510"/>
                      </a:lnTo>
                      <a:cubicBezTo>
                        <a:pt x="231868" y="315247"/>
                        <a:pt x="238188" y="312280"/>
                        <a:pt x="242278" y="306697"/>
                      </a:cubicBezTo>
                      <a:lnTo>
                        <a:pt x="320809" y="209557"/>
                      </a:lnTo>
                      <a:cubicBezTo>
                        <a:pt x="324531" y="204342"/>
                        <a:pt x="326023" y="198022"/>
                        <a:pt x="325268" y="191683"/>
                      </a:cubicBezTo>
                      <a:lnTo>
                        <a:pt x="297003" y="69981"/>
                      </a:lnTo>
                      <a:lnTo>
                        <a:pt x="297003" y="69981"/>
                      </a:lnTo>
                      <a:close/>
                    </a:path>
                  </a:pathLst>
                </a:custGeom>
                <a:solidFill>
                  <a:schemeClr val="accent2"/>
                </a:solidFill>
                <a:ln>
                  <a:noFill/>
                </a:ln>
              </p:spPr>
              <p:txBody>
                <a:bodyPr spcFirstLastPara="1" wrap="square" lIns="91410" tIns="45688" rIns="91410" bIns="45688" anchor="ctr" anchorCtr="0">
                  <a:noAutofit/>
                </a:bodyPr>
                <a:lstStyle/>
                <a:p>
                  <a:pPr defTabSz="1218895"/>
                  <a:endParaRPr sz="1733"/>
                </a:p>
              </p:txBody>
            </p:sp>
            <p:pic>
              <p:nvPicPr>
                <p:cNvPr id="6310" name="Google Shape;6310;p312"/>
                <p:cNvPicPr preferRelativeResize="0"/>
                <p:nvPr/>
              </p:nvPicPr>
              <p:blipFill rotWithShape="1">
                <a:blip r:embed="rId7">
                  <a:alphaModFix/>
                </a:blip>
                <a:srcRect/>
                <a:stretch/>
              </p:blipFill>
              <p:spPr>
                <a:xfrm>
                  <a:off x="1943469" y="2584880"/>
                  <a:ext cx="267777" cy="261955"/>
                </a:xfrm>
                <a:prstGeom prst="rect">
                  <a:avLst/>
                </a:prstGeom>
                <a:noFill/>
                <a:ln>
                  <a:noFill/>
                </a:ln>
              </p:spPr>
            </p:pic>
          </p:grpSp>
        </p:grpSp>
        <p:grpSp>
          <p:nvGrpSpPr>
            <p:cNvPr id="6311" name="Google Shape;6311;p312"/>
            <p:cNvGrpSpPr/>
            <p:nvPr/>
          </p:nvGrpSpPr>
          <p:grpSpPr>
            <a:xfrm>
              <a:off x="10393878" y="5239325"/>
              <a:ext cx="188964" cy="186923"/>
              <a:chOff x="2564906" y="2394044"/>
              <a:chExt cx="282288" cy="279240"/>
            </a:xfrm>
          </p:grpSpPr>
          <p:grpSp>
            <p:nvGrpSpPr>
              <p:cNvPr id="6312" name="Google Shape;6312;p312"/>
              <p:cNvGrpSpPr/>
              <p:nvPr/>
            </p:nvGrpSpPr>
            <p:grpSpPr>
              <a:xfrm>
                <a:off x="2564906" y="2394044"/>
                <a:ext cx="246480" cy="246480"/>
                <a:chOff x="3526040" y="2503629"/>
                <a:chExt cx="347400" cy="347400"/>
              </a:xfrm>
            </p:grpSpPr>
            <p:sp>
              <p:nvSpPr>
                <p:cNvPr id="6313" name="Google Shape;6313;p312"/>
                <p:cNvSpPr/>
                <p:nvPr/>
              </p:nvSpPr>
              <p:spPr>
                <a:xfrm>
                  <a:off x="3526040" y="2503629"/>
                  <a:ext cx="347400" cy="347400"/>
                </a:xfrm>
                <a:prstGeom prst="rect">
                  <a:avLst/>
                </a:prstGeom>
                <a:solidFill>
                  <a:schemeClr val="accent1"/>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grpSp>
              <p:nvGrpSpPr>
                <p:cNvPr id="6314" name="Google Shape;6314;p312"/>
                <p:cNvGrpSpPr/>
                <p:nvPr/>
              </p:nvGrpSpPr>
              <p:grpSpPr>
                <a:xfrm>
                  <a:off x="3526087" y="2503702"/>
                  <a:ext cx="341872" cy="341872"/>
                  <a:chOff x="979296" y="1541155"/>
                  <a:chExt cx="1054510" cy="1054510"/>
                </a:xfrm>
              </p:grpSpPr>
              <p:sp>
                <p:nvSpPr>
                  <p:cNvPr id="6315" name="Google Shape;6315;p312"/>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nvGrpSpPr>
                  <p:cNvPr id="6316" name="Google Shape;6316;p312"/>
                  <p:cNvGrpSpPr/>
                  <p:nvPr/>
                </p:nvGrpSpPr>
                <p:grpSpPr>
                  <a:xfrm>
                    <a:off x="1296246" y="2002748"/>
                    <a:ext cx="390297" cy="146863"/>
                    <a:chOff x="1296246" y="2002748"/>
                    <a:chExt cx="390297" cy="146863"/>
                  </a:xfrm>
                </p:grpSpPr>
                <p:sp>
                  <p:nvSpPr>
                    <p:cNvPr id="6317" name="Google Shape;6317;p312"/>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318" name="Google Shape;6318;p312"/>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grpSp>
          </p:grpSp>
          <p:grpSp>
            <p:nvGrpSpPr>
              <p:cNvPr id="6319" name="Google Shape;6319;p312"/>
              <p:cNvGrpSpPr/>
              <p:nvPr/>
            </p:nvGrpSpPr>
            <p:grpSpPr>
              <a:xfrm>
                <a:off x="2582810" y="2410424"/>
                <a:ext cx="246480" cy="246480"/>
                <a:chOff x="3526040" y="2503629"/>
                <a:chExt cx="347400" cy="347400"/>
              </a:xfrm>
            </p:grpSpPr>
            <p:sp>
              <p:nvSpPr>
                <p:cNvPr id="6320" name="Google Shape;6320;p312"/>
                <p:cNvSpPr/>
                <p:nvPr/>
              </p:nvSpPr>
              <p:spPr>
                <a:xfrm>
                  <a:off x="3526040" y="2503629"/>
                  <a:ext cx="347400" cy="347400"/>
                </a:xfrm>
                <a:prstGeom prst="rect">
                  <a:avLst/>
                </a:prstGeom>
                <a:solidFill>
                  <a:schemeClr val="accent1"/>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grpSp>
              <p:nvGrpSpPr>
                <p:cNvPr id="6321" name="Google Shape;6321;p312"/>
                <p:cNvGrpSpPr/>
                <p:nvPr/>
              </p:nvGrpSpPr>
              <p:grpSpPr>
                <a:xfrm>
                  <a:off x="3526087" y="2503702"/>
                  <a:ext cx="341872" cy="341872"/>
                  <a:chOff x="979296" y="1541155"/>
                  <a:chExt cx="1054510" cy="1054510"/>
                </a:xfrm>
              </p:grpSpPr>
              <p:sp>
                <p:nvSpPr>
                  <p:cNvPr id="6322" name="Google Shape;6322;p312"/>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nvGrpSpPr>
                  <p:cNvPr id="6323" name="Google Shape;6323;p312"/>
                  <p:cNvGrpSpPr/>
                  <p:nvPr/>
                </p:nvGrpSpPr>
                <p:grpSpPr>
                  <a:xfrm>
                    <a:off x="1296246" y="2002748"/>
                    <a:ext cx="390297" cy="146863"/>
                    <a:chOff x="1296246" y="2002748"/>
                    <a:chExt cx="390297" cy="146863"/>
                  </a:xfrm>
                </p:grpSpPr>
                <p:sp>
                  <p:nvSpPr>
                    <p:cNvPr id="6324" name="Google Shape;6324;p312"/>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325" name="Google Shape;6325;p312"/>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grpSp>
          </p:grpSp>
          <p:grpSp>
            <p:nvGrpSpPr>
              <p:cNvPr id="6326" name="Google Shape;6326;p312"/>
              <p:cNvGrpSpPr/>
              <p:nvPr/>
            </p:nvGrpSpPr>
            <p:grpSpPr>
              <a:xfrm>
                <a:off x="2600714" y="2426804"/>
                <a:ext cx="246480" cy="246480"/>
                <a:chOff x="3526040" y="2503629"/>
                <a:chExt cx="347400" cy="347400"/>
              </a:xfrm>
            </p:grpSpPr>
            <p:sp>
              <p:nvSpPr>
                <p:cNvPr id="6327" name="Google Shape;6327;p312"/>
                <p:cNvSpPr/>
                <p:nvPr/>
              </p:nvSpPr>
              <p:spPr>
                <a:xfrm>
                  <a:off x="3526040" y="2503629"/>
                  <a:ext cx="347400" cy="347400"/>
                </a:xfrm>
                <a:prstGeom prst="rect">
                  <a:avLst/>
                </a:prstGeom>
                <a:solidFill>
                  <a:schemeClr val="accent2"/>
                </a:solidFill>
                <a:ln>
                  <a:noFill/>
                </a:ln>
              </p:spPr>
              <p:txBody>
                <a:bodyPr spcFirstLastPara="1" wrap="square" lIns="91343" tIns="45655" rIns="91343" bIns="45655" anchor="ctr" anchorCtr="0">
                  <a:noAutofit/>
                </a:bodyPr>
                <a:lstStyle/>
                <a:p>
                  <a:pPr algn="ctr" defTabSz="1218895"/>
                  <a:endParaRPr sz="1200">
                    <a:solidFill>
                      <a:srgbClr val="FFFFFF"/>
                    </a:solidFill>
                  </a:endParaRPr>
                </a:p>
              </p:txBody>
            </p:sp>
            <p:grpSp>
              <p:nvGrpSpPr>
                <p:cNvPr id="6328" name="Google Shape;6328;p312"/>
                <p:cNvGrpSpPr/>
                <p:nvPr/>
              </p:nvGrpSpPr>
              <p:grpSpPr>
                <a:xfrm>
                  <a:off x="3526087" y="2503702"/>
                  <a:ext cx="341872" cy="341872"/>
                  <a:chOff x="979296" y="1541155"/>
                  <a:chExt cx="1054510" cy="1054510"/>
                </a:xfrm>
              </p:grpSpPr>
              <p:sp>
                <p:nvSpPr>
                  <p:cNvPr id="6329" name="Google Shape;6329;p312"/>
                  <p:cNvSpPr/>
                  <p:nvPr/>
                </p:nvSpPr>
                <p:spPr>
                  <a:xfrm>
                    <a:off x="979296" y="1541155"/>
                    <a:ext cx="1054510" cy="1054510"/>
                  </a:xfrm>
                  <a:custGeom>
                    <a:avLst/>
                    <a:gdLst/>
                    <a:ahLst/>
                    <a:cxnLst/>
                    <a:rect l="l" t="t" r="r" b="b"/>
                    <a:pathLst>
                      <a:path w="1054510" h="1054510" extrusionOk="0">
                        <a:moveTo>
                          <a:pt x="904147" y="1054511"/>
                        </a:moveTo>
                        <a:lnTo>
                          <a:pt x="0" y="1054511"/>
                        </a:lnTo>
                        <a:lnTo>
                          <a:pt x="0" y="0"/>
                        </a:lnTo>
                        <a:lnTo>
                          <a:pt x="1054511" y="0"/>
                        </a:lnTo>
                        <a:lnTo>
                          <a:pt x="1054511" y="1045460"/>
                        </a:lnTo>
                        <a:lnTo>
                          <a:pt x="1026760" y="1045460"/>
                        </a:lnTo>
                        <a:lnTo>
                          <a:pt x="1026760" y="27750"/>
                        </a:lnTo>
                        <a:lnTo>
                          <a:pt x="27750" y="27750"/>
                        </a:lnTo>
                        <a:lnTo>
                          <a:pt x="27750" y="1026760"/>
                        </a:lnTo>
                        <a:lnTo>
                          <a:pt x="904147" y="102676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nvGrpSpPr>
                  <p:cNvPr id="6330" name="Google Shape;6330;p312"/>
                  <p:cNvGrpSpPr/>
                  <p:nvPr/>
                </p:nvGrpSpPr>
                <p:grpSpPr>
                  <a:xfrm>
                    <a:off x="1296246" y="2002748"/>
                    <a:ext cx="390297" cy="146863"/>
                    <a:chOff x="1296246" y="2002748"/>
                    <a:chExt cx="390297" cy="146863"/>
                  </a:xfrm>
                </p:grpSpPr>
                <p:sp>
                  <p:nvSpPr>
                    <p:cNvPr id="6331" name="Google Shape;6331;p312"/>
                    <p:cNvSpPr/>
                    <p:nvPr/>
                  </p:nvSpPr>
                  <p:spPr>
                    <a:xfrm>
                      <a:off x="1296246" y="2006164"/>
                      <a:ext cx="141227" cy="143447"/>
                    </a:xfrm>
                    <a:custGeom>
                      <a:avLst/>
                      <a:gdLst/>
                      <a:ahLst/>
                      <a:cxnLst/>
                      <a:rect l="l" t="t" r="r" b="b"/>
                      <a:pathLst>
                        <a:path w="141227" h="143447" extrusionOk="0">
                          <a:moveTo>
                            <a:pt x="0" y="0"/>
                          </a:moveTo>
                          <a:lnTo>
                            <a:pt x="23310" y="0"/>
                          </a:lnTo>
                          <a:lnTo>
                            <a:pt x="71041" y="119027"/>
                          </a:lnTo>
                          <a:lnTo>
                            <a:pt x="117917" y="0"/>
                          </a:lnTo>
                          <a:lnTo>
                            <a:pt x="141228" y="0"/>
                          </a:lnTo>
                          <a:lnTo>
                            <a:pt x="81031" y="143448"/>
                          </a:lnTo>
                          <a:lnTo>
                            <a:pt x="61051" y="143448"/>
                          </a:lnTo>
                          <a:lnTo>
                            <a:pt x="0" y="0"/>
                          </a:ln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sp>
                  <p:nvSpPr>
                    <p:cNvPr id="6332" name="Google Shape;6332;p312"/>
                    <p:cNvSpPr/>
                    <p:nvPr/>
                  </p:nvSpPr>
                  <p:spPr>
                    <a:xfrm>
                      <a:off x="1480252" y="2002748"/>
                      <a:ext cx="206291" cy="146863"/>
                    </a:xfrm>
                    <a:custGeom>
                      <a:avLst/>
                      <a:gdLst/>
                      <a:ahLst/>
                      <a:cxnLst/>
                      <a:rect l="l" t="t" r="r" b="b"/>
                      <a:pathLst>
                        <a:path w="206291" h="146863" extrusionOk="0">
                          <a:moveTo>
                            <a:pt x="206291" y="55586"/>
                          </a:moveTo>
                          <a:lnTo>
                            <a:pt x="206291" y="146863"/>
                          </a:lnTo>
                          <a:lnTo>
                            <a:pt x="185457" y="146863"/>
                          </a:lnTo>
                          <a:lnTo>
                            <a:pt x="185457" y="58318"/>
                          </a:lnTo>
                          <a:cubicBezTo>
                            <a:pt x="185457" y="35008"/>
                            <a:pt x="171881" y="18614"/>
                            <a:pt x="152413" y="18614"/>
                          </a:cubicBezTo>
                          <a:cubicBezTo>
                            <a:pt x="129701" y="18614"/>
                            <a:pt x="113563" y="33898"/>
                            <a:pt x="113563" y="55501"/>
                          </a:cubicBezTo>
                          <a:lnTo>
                            <a:pt x="113563" y="146778"/>
                          </a:lnTo>
                          <a:lnTo>
                            <a:pt x="92729" y="146778"/>
                          </a:lnTo>
                          <a:lnTo>
                            <a:pt x="92729" y="58318"/>
                          </a:lnTo>
                          <a:cubicBezTo>
                            <a:pt x="92729" y="35008"/>
                            <a:pt x="79152" y="18614"/>
                            <a:pt x="59685" y="18614"/>
                          </a:cubicBezTo>
                          <a:cubicBezTo>
                            <a:pt x="36972" y="18614"/>
                            <a:pt x="20834" y="33898"/>
                            <a:pt x="20834" y="55501"/>
                          </a:cubicBezTo>
                          <a:lnTo>
                            <a:pt x="20834" y="146778"/>
                          </a:lnTo>
                          <a:lnTo>
                            <a:pt x="0" y="146778"/>
                          </a:lnTo>
                          <a:lnTo>
                            <a:pt x="0" y="3330"/>
                          </a:lnTo>
                          <a:lnTo>
                            <a:pt x="20834" y="3330"/>
                          </a:lnTo>
                          <a:lnTo>
                            <a:pt x="20834" y="24420"/>
                          </a:lnTo>
                          <a:cubicBezTo>
                            <a:pt x="28006" y="9478"/>
                            <a:pt x="43547" y="0"/>
                            <a:pt x="62417" y="0"/>
                          </a:cubicBezTo>
                          <a:cubicBezTo>
                            <a:pt x="84019" y="0"/>
                            <a:pt x="101011" y="11954"/>
                            <a:pt x="108781" y="30483"/>
                          </a:cubicBezTo>
                          <a:cubicBezTo>
                            <a:pt x="114587" y="11869"/>
                            <a:pt x="133458" y="0"/>
                            <a:pt x="155145" y="0"/>
                          </a:cubicBezTo>
                          <a:cubicBezTo>
                            <a:pt x="185201" y="85"/>
                            <a:pt x="206291" y="23139"/>
                            <a:pt x="206291" y="55586"/>
                          </a:cubicBezTo>
                          <a:close/>
                        </a:path>
                      </a:pathLst>
                    </a:custGeom>
                    <a:solidFill>
                      <a:schemeClr val="lt1"/>
                    </a:solidFill>
                    <a:ln>
                      <a:noFill/>
                    </a:ln>
                  </p:spPr>
                  <p:txBody>
                    <a:bodyPr spcFirstLastPara="1" wrap="square" lIns="91410" tIns="45688" rIns="91410" bIns="45688" anchor="ctr" anchorCtr="0">
                      <a:noAutofit/>
                    </a:bodyPr>
                    <a:lstStyle/>
                    <a:p>
                      <a:pPr defTabSz="1218895"/>
                      <a:endParaRPr sz="1733">
                        <a:solidFill>
                          <a:srgbClr val="717074"/>
                        </a:solidFill>
                      </a:endParaRPr>
                    </a:p>
                  </p:txBody>
                </p:sp>
              </p:grpSp>
            </p:grpSp>
          </p:grpSp>
        </p:grpSp>
      </p:grpSp>
      <p:grpSp>
        <p:nvGrpSpPr>
          <p:cNvPr id="6333" name="Google Shape;6333;p312"/>
          <p:cNvGrpSpPr/>
          <p:nvPr/>
        </p:nvGrpSpPr>
        <p:grpSpPr>
          <a:xfrm>
            <a:off x="3142993" y="1919982"/>
            <a:ext cx="1636719" cy="3593417"/>
            <a:chOff x="2357859" y="1439691"/>
            <a:chExt cx="1227859" cy="2695765"/>
          </a:xfrm>
        </p:grpSpPr>
        <p:grpSp>
          <p:nvGrpSpPr>
            <p:cNvPr id="6334" name="Google Shape;6334;p312"/>
            <p:cNvGrpSpPr/>
            <p:nvPr/>
          </p:nvGrpSpPr>
          <p:grpSpPr>
            <a:xfrm>
              <a:off x="2357859" y="1439691"/>
              <a:ext cx="1227859" cy="2401214"/>
              <a:chOff x="3142224" y="1919206"/>
              <a:chExt cx="1637146" cy="3202472"/>
            </a:xfrm>
          </p:grpSpPr>
          <p:cxnSp>
            <p:nvCxnSpPr>
              <p:cNvPr id="6335" name="Google Shape;6335;p312"/>
              <p:cNvCxnSpPr/>
              <p:nvPr/>
            </p:nvCxnSpPr>
            <p:spPr>
              <a:xfrm flipH="1">
                <a:off x="3827298" y="1963278"/>
                <a:ext cx="20400" cy="3158400"/>
              </a:xfrm>
              <a:prstGeom prst="straightConnector1">
                <a:avLst/>
              </a:prstGeom>
              <a:noFill/>
              <a:ln w="19050" cap="flat" cmpd="sng">
                <a:solidFill>
                  <a:srgbClr val="B2B2B2"/>
                </a:solidFill>
                <a:prstDash val="solid"/>
                <a:miter lim="800000"/>
                <a:headEnd type="none" w="sm" len="sm"/>
                <a:tailEnd type="none" w="sm" len="sm"/>
              </a:ln>
            </p:spPr>
          </p:cxnSp>
          <p:sp>
            <p:nvSpPr>
              <p:cNvPr id="6336" name="Google Shape;6336;p312"/>
              <p:cNvSpPr/>
              <p:nvPr/>
            </p:nvSpPr>
            <p:spPr>
              <a:xfrm>
                <a:off x="3152722" y="3445886"/>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Create a Network Pool</a:t>
                </a:r>
                <a:endParaRPr sz="1466"/>
              </a:p>
            </p:txBody>
          </p:sp>
          <p:sp>
            <p:nvSpPr>
              <p:cNvPr id="6337" name="Google Shape;6337;p312"/>
              <p:cNvSpPr/>
              <p:nvPr/>
            </p:nvSpPr>
            <p:spPr>
              <a:xfrm>
                <a:off x="3152318" y="3973545"/>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Commission ESX Hosts with GPUs</a:t>
                </a:r>
                <a:endParaRPr sz="1466"/>
              </a:p>
            </p:txBody>
          </p:sp>
          <p:sp>
            <p:nvSpPr>
              <p:cNvPr id="6338" name="Google Shape;6338;p312"/>
              <p:cNvSpPr/>
              <p:nvPr/>
            </p:nvSpPr>
            <p:spPr>
              <a:xfrm>
                <a:off x="3151509" y="4501204"/>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Deploy a new WLD for Private AI Foundation</a:t>
                </a:r>
                <a:endParaRPr sz="1466"/>
              </a:p>
            </p:txBody>
          </p:sp>
          <p:grpSp>
            <p:nvGrpSpPr>
              <p:cNvPr id="6339" name="Google Shape;6339;p312"/>
              <p:cNvGrpSpPr/>
              <p:nvPr/>
            </p:nvGrpSpPr>
            <p:grpSpPr>
              <a:xfrm>
                <a:off x="3142224" y="2442446"/>
                <a:ext cx="1375800" cy="244200"/>
                <a:chOff x="2382419" y="2340846"/>
                <a:chExt cx="1375800" cy="244200"/>
              </a:xfrm>
            </p:grpSpPr>
            <p:sp>
              <p:nvSpPr>
                <p:cNvPr id="6340" name="Google Shape;6340;p312"/>
                <p:cNvSpPr/>
                <p:nvPr/>
              </p:nvSpPr>
              <p:spPr>
                <a:xfrm>
                  <a:off x="2382419" y="2340846"/>
                  <a:ext cx="1375800" cy="244200"/>
                </a:xfrm>
                <a:prstGeom prst="roundRect">
                  <a:avLst>
                    <a:gd name="adj" fmla="val 34871"/>
                  </a:avLst>
                </a:prstGeom>
                <a:gradFill>
                  <a:gsLst>
                    <a:gs pos="0">
                      <a:schemeClr val="accent4"/>
                    </a:gs>
                    <a:gs pos="30000">
                      <a:schemeClr val="accent4"/>
                    </a:gs>
                    <a:gs pos="98000">
                      <a:srgbClr val="92D050"/>
                    </a:gs>
                    <a:gs pos="100000">
                      <a:schemeClr val="accent4"/>
                    </a:gs>
                  </a:gsLst>
                  <a:lin ang="0" scaled="0"/>
                </a:gradFill>
                <a:ln>
                  <a:noFill/>
                </a:ln>
              </p:spPr>
              <p:txBody>
                <a:bodyPr spcFirstLastPara="1" wrap="square" lIns="91376" tIns="45688" rIns="91376" bIns="45688" anchor="ctr" anchorCtr="0">
                  <a:noAutofit/>
                </a:bodyPr>
                <a:lstStyle/>
                <a:p>
                  <a:pPr algn="ctr" defTabSz="1218895"/>
                  <a:r>
                    <a:rPr lang="en" sz="667">
                      <a:solidFill>
                        <a:srgbClr val="FFFFFF"/>
                      </a:solidFill>
                    </a:rPr>
                    <a:t>    Orchestrated Workflows</a:t>
                  </a:r>
                  <a:endParaRPr sz="1466"/>
                </a:p>
              </p:txBody>
            </p:sp>
            <p:grpSp>
              <p:nvGrpSpPr>
                <p:cNvPr id="6341" name="Google Shape;6341;p312" descr="Automation"/>
                <p:cNvGrpSpPr/>
                <p:nvPr/>
              </p:nvGrpSpPr>
              <p:grpSpPr>
                <a:xfrm>
                  <a:off x="2438125" y="2397354"/>
                  <a:ext cx="134753" cy="134768"/>
                  <a:chOff x="531730" y="723307"/>
                  <a:chExt cx="600773" cy="600837"/>
                </a:xfrm>
              </p:grpSpPr>
              <p:sp>
                <p:nvSpPr>
                  <p:cNvPr id="6342" name="Google Shape;6342;p312"/>
                  <p:cNvSpPr/>
                  <p:nvPr/>
                </p:nvSpPr>
                <p:spPr>
                  <a:xfrm>
                    <a:off x="658159" y="849799"/>
                    <a:ext cx="347853" cy="347853"/>
                  </a:xfrm>
                  <a:custGeom>
                    <a:avLst/>
                    <a:gdLst/>
                    <a:ahLst/>
                    <a:cxnLst/>
                    <a:rect l="l" t="t" r="r" b="b"/>
                    <a:pathLst>
                      <a:path w="347853" h="347853" extrusionOk="0">
                        <a:moveTo>
                          <a:pt x="173927" y="347853"/>
                        </a:moveTo>
                        <a:cubicBezTo>
                          <a:pt x="169560" y="347853"/>
                          <a:pt x="166021" y="344314"/>
                          <a:pt x="166021" y="339947"/>
                        </a:cubicBezTo>
                        <a:cubicBezTo>
                          <a:pt x="166021" y="335581"/>
                          <a:pt x="169560" y="332042"/>
                          <a:pt x="173927" y="332042"/>
                        </a:cubicBezTo>
                        <a:cubicBezTo>
                          <a:pt x="261251" y="332042"/>
                          <a:pt x="332042" y="261251"/>
                          <a:pt x="332042" y="173927"/>
                        </a:cubicBezTo>
                        <a:cubicBezTo>
                          <a:pt x="332042" y="86602"/>
                          <a:pt x="261251" y="15812"/>
                          <a:pt x="173927" y="15812"/>
                        </a:cubicBezTo>
                        <a:cubicBezTo>
                          <a:pt x="86602" y="15812"/>
                          <a:pt x="15812" y="86602"/>
                          <a:pt x="15812" y="173927"/>
                        </a:cubicBezTo>
                        <a:cubicBezTo>
                          <a:pt x="15812" y="178293"/>
                          <a:pt x="12272" y="181832"/>
                          <a:pt x="7906" y="181832"/>
                        </a:cubicBezTo>
                        <a:cubicBezTo>
                          <a:pt x="3539" y="181832"/>
                          <a:pt x="0" y="178293"/>
                          <a:pt x="0" y="173927"/>
                        </a:cubicBezTo>
                        <a:cubicBezTo>
                          <a:pt x="0" y="77870"/>
                          <a:pt x="77870" y="0"/>
                          <a:pt x="173927" y="0"/>
                        </a:cubicBezTo>
                        <a:cubicBezTo>
                          <a:pt x="269983" y="0"/>
                          <a:pt x="347853" y="77870"/>
                          <a:pt x="347853" y="173927"/>
                        </a:cubicBezTo>
                        <a:cubicBezTo>
                          <a:pt x="347853" y="269983"/>
                          <a:pt x="269983" y="347853"/>
                          <a:pt x="173927" y="347853"/>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sp>
                <p:nvSpPr>
                  <p:cNvPr id="6343" name="Google Shape;6343;p312"/>
                  <p:cNvSpPr/>
                  <p:nvPr/>
                </p:nvSpPr>
                <p:spPr>
                  <a:xfrm>
                    <a:off x="531730" y="723307"/>
                    <a:ext cx="600773" cy="600837"/>
                  </a:xfrm>
                  <a:custGeom>
                    <a:avLst/>
                    <a:gdLst/>
                    <a:ahLst/>
                    <a:cxnLst/>
                    <a:rect l="l" t="t" r="r" b="b"/>
                    <a:pathLst>
                      <a:path w="600773" h="600837" extrusionOk="0">
                        <a:moveTo>
                          <a:pt x="348928" y="600837"/>
                        </a:moveTo>
                        <a:lnTo>
                          <a:pt x="248873" y="600837"/>
                        </a:lnTo>
                        <a:lnTo>
                          <a:pt x="246723" y="596347"/>
                        </a:lnTo>
                        <a:cubicBezTo>
                          <a:pt x="242433" y="586360"/>
                          <a:pt x="239211" y="575956"/>
                          <a:pt x="237109" y="565293"/>
                        </a:cubicBezTo>
                        <a:cubicBezTo>
                          <a:pt x="234453" y="553909"/>
                          <a:pt x="232176" y="545244"/>
                          <a:pt x="230342" y="539615"/>
                        </a:cubicBezTo>
                        <a:cubicBezTo>
                          <a:pt x="197454" y="525132"/>
                          <a:pt x="184931" y="519439"/>
                          <a:pt x="179745" y="517036"/>
                        </a:cubicBezTo>
                        <a:cubicBezTo>
                          <a:pt x="171774" y="520163"/>
                          <a:pt x="164127" y="524061"/>
                          <a:pt x="156913" y="528673"/>
                        </a:cubicBezTo>
                        <a:cubicBezTo>
                          <a:pt x="148304" y="534259"/>
                          <a:pt x="139371" y="539328"/>
                          <a:pt x="130160" y="543852"/>
                        </a:cubicBezTo>
                        <a:lnTo>
                          <a:pt x="126239" y="545560"/>
                        </a:lnTo>
                        <a:lnTo>
                          <a:pt x="122444" y="543410"/>
                        </a:lnTo>
                        <a:cubicBezTo>
                          <a:pt x="113969" y="537718"/>
                          <a:pt x="92213" y="517099"/>
                          <a:pt x="55720" y="480164"/>
                        </a:cubicBezTo>
                        <a:lnTo>
                          <a:pt x="52557" y="476875"/>
                        </a:lnTo>
                        <a:lnTo>
                          <a:pt x="53759" y="472511"/>
                        </a:lnTo>
                        <a:cubicBezTo>
                          <a:pt x="54898" y="468337"/>
                          <a:pt x="59009" y="458407"/>
                          <a:pt x="80955" y="420459"/>
                        </a:cubicBezTo>
                        <a:cubicBezTo>
                          <a:pt x="79374" y="416601"/>
                          <a:pt x="76148" y="409138"/>
                          <a:pt x="69760" y="395161"/>
                        </a:cubicBezTo>
                        <a:cubicBezTo>
                          <a:pt x="65687" y="385895"/>
                          <a:pt x="62593" y="376230"/>
                          <a:pt x="60526" y="366321"/>
                        </a:cubicBezTo>
                        <a:cubicBezTo>
                          <a:pt x="53190" y="365056"/>
                          <a:pt x="44588" y="363095"/>
                          <a:pt x="34912" y="360502"/>
                        </a:cubicBezTo>
                        <a:cubicBezTo>
                          <a:pt x="21061" y="356454"/>
                          <a:pt x="11511" y="354178"/>
                          <a:pt x="6325" y="352849"/>
                        </a:cubicBezTo>
                        <a:lnTo>
                          <a:pt x="0" y="351585"/>
                        </a:lnTo>
                        <a:lnTo>
                          <a:pt x="0" y="246153"/>
                        </a:lnTo>
                        <a:lnTo>
                          <a:pt x="6325" y="244699"/>
                        </a:lnTo>
                        <a:cubicBezTo>
                          <a:pt x="10752" y="243687"/>
                          <a:pt x="19733" y="241220"/>
                          <a:pt x="33773" y="237109"/>
                        </a:cubicBezTo>
                        <a:cubicBezTo>
                          <a:pt x="42224" y="234503"/>
                          <a:pt x="50819" y="232391"/>
                          <a:pt x="59514" y="230785"/>
                        </a:cubicBezTo>
                        <a:cubicBezTo>
                          <a:pt x="62171" y="225535"/>
                          <a:pt x="65839" y="216934"/>
                          <a:pt x="70962" y="205170"/>
                        </a:cubicBezTo>
                        <a:cubicBezTo>
                          <a:pt x="74537" y="196106"/>
                          <a:pt x="78765" y="187313"/>
                          <a:pt x="83611" y="178860"/>
                        </a:cubicBezTo>
                        <a:cubicBezTo>
                          <a:pt x="67800" y="150020"/>
                          <a:pt x="59704" y="138635"/>
                          <a:pt x="55720" y="133892"/>
                        </a:cubicBezTo>
                        <a:lnTo>
                          <a:pt x="51609" y="129275"/>
                        </a:lnTo>
                        <a:lnTo>
                          <a:pt x="55151" y="124152"/>
                        </a:lnTo>
                        <a:cubicBezTo>
                          <a:pt x="60969" y="115803"/>
                          <a:pt x="82599" y="93351"/>
                          <a:pt x="121306" y="55656"/>
                        </a:cubicBezTo>
                        <a:lnTo>
                          <a:pt x="125290" y="51798"/>
                        </a:lnTo>
                        <a:lnTo>
                          <a:pt x="130287" y="54265"/>
                        </a:lnTo>
                        <a:cubicBezTo>
                          <a:pt x="148100" y="62579"/>
                          <a:pt x="165230" y="72286"/>
                          <a:pt x="181516" y="83295"/>
                        </a:cubicBezTo>
                        <a:cubicBezTo>
                          <a:pt x="198335" y="75456"/>
                          <a:pt x="215637" y="68697"/>
                          <a:pt x="233315" y="63056"/>
                        </a:cubicBezTo>
                        <a:cubicBezTo>
                          <a:pt x="234516" y="58692"/>
                          <a:pt x="236730" y="50787"/>
                          <a:pt x="240525" y="36430"/>
                        </a:cubicBezTo>
                        <a:cubicBezTo>
                          <a:pt x="243813" y="23780"/>
                          <a:pt x="246849" y="13535"/>
                          <a:pt x="249252" y="5566"/>
                        </a:cubicBezTo>
                        <a:lnTo>
                          <a:pt x="250960" y="0"/>
                        </a:lnTo>
                        <a:lnTo>
                          <a:pt x="352154" y="0"/>
                        </a:lnTo>
                        <a:lnTo>
                          <a:pt x="354178" y="4933"/>
                        </a:lnTo>
                        <a:cubicBezTo>
                          <a:pt x="357466" y="13155"/>
                          <a:pt x="362906" y="31560"/>
                          <a:pt x="370748" y="61285"/>
                        </a:cubicBezTo>
                        <a:cubicBezTo>
                          <a:pt x="374733" y="62930"/>
                          <a:pt x="382196" y="65902"/>
                          <a:pt x="396046" y="71089"/>
                        </a:cubicBezTo>
                        <a:cubicBezTo>
                          <a:pt x="405168" y="74339"/>
                          <a:pt x="413907" y="78581"/>
                          <a:pt x="422104" y="83738"/>
                        </a:cubicBezTo>
                        <a:cubicBezTo>
                          <a:pt x="429774" y="80828"/>
                          <a:pt x="437076" y="77029"/>
                          <a:pt x="443860" y="72417"/>
                        </a:cubicBezTo>
                        <a:cubicBezTo>
                          <a:pt x="452652" y="66680"/>
                          <a:pt x="461823" y="61545"/>
                          <a:pt x="471309" y="57048"/>
                        </a:cubicBezTo>
                        <a:lnTo>
                          <a:pt x="475041" y="55467"/>
                        </a:lnTo>
                        <a:lnTo>
                          <a:pt x="478519" y="57554"/>
                        </a:lnTo>
                        <a:cubicBezTo>
                          <a:pt x="491900" y="66456"/>
                          <a:pt x="504043" y="77089"/>
                          <a:pt x="514633" y="89177"/>
                        </a:cubicBezTo>
                        <a:cubicBezTo>
                          <a:pt x="524848" y="100093"/>
                          <a:pt x="535636" y="110459"/>
                          <a:pt x="546951" y="120231"/>
                        </a:cubicBezTo>
                        <a:lnTo>
                          <a:pt x="552138" y="124342"/>
                        </a:lnTo>
                        <a:lnTo>
                          <a:pt x="548975" y="130160"/>
                        </a:lnTo>
                        <a:cubicBezTo>
                          <a:pt x="536326" y="153055"/>
                          <a:pt x="526966" y="169752"/>
                          <a:pt x="519629" y="180757"/>
                        </a:cubicBezTo>
                        <a:cubicBezTo>
                          <a:pt x="531140" y="213835"/>
                          <a:pt x="536326" y="228002"/>
                          <a:pt x="538603" y="233884"/>
                        </a:cubicBezTo>
                        <a:cubicBezTo>
                          <a:pt x="547898" y="235304"/>
                          <a:pt x="557071" y="237418"/>
                          <a:pt x="566052" y="240208"/>
                        </a:cubicBezTo>
                        <a:cubicBezTo>
                          <a:pt x="579713" y="244193"/>
                          <a:pt x="589326" y="246533"/>
                          <a:pt x="594449" y="247798"/>
                        </a:cubicBezTo>
                        <a:lnTo>
                          <a:pt x="600774" y="249063"/>
                        </a:lnTo>
                        <a:lnTo>
                          <a:pt x="600774" y="354431"/>
                        </a:lnTo>
                        <a:lnTo>
                          <a:pt x="594449" y="355822"/>
                        </a:lnTo>
                        <a:cubicBezTo>
                          <a:pt x="591224" y="356581"/>
                          <a:pt x="583824" y="358542"/>
                          <a:pt x="567000" y="363475"/>
                        </a:cubicBezTo>
                        <a:cubicBezTo>
                          <a:pt x="558481" y="366068"/>
                          <a:pt x="549825" y="368180"/>
                          <a:pt x="541070" y="369799"/>
                        </a:cubicBezTo>
                        <a:cubicBezTo>
                          <a:pt x="537042" y="378188"/>
                          <a:pt x="533453" y="386780"/>
                          <a:pt x="530318" y="395541"/>
                        </a:cubicBezTo>
                        <a:cubicBezTo>
                          <a:pt x="527320" y="404886"/>
                          <a:pt x="523064" y="413779"/>
                          <a:pt x="517669" y="421977"/>
                        </a:cubicBezTo>
                        <a:cubicBezTo>
                          <a:pt x="520388" y="426594"/>
                          <a:pt x="524562" y="433804"/>
                          <a:pt x="530318" y="443481"/>
                        </a:cubicBezTo>
                        <a:cubicBezTo>
                          <a:pt x="534778" y="451841"/>
                          <a:pt x="539829" y="459873"/>
                          <a:pt x="545434" y="467514"/>
                        </a:cubicBezTo>
                        <a:lnTo>
                          <a:pt x="548975" y="472068"/>
                        </a:lnTo>
                        <a:lnTo>
                          <a:pt x="545687" y="476875"/>
                        </a:lnTo>
                        <a:cubicBezTo>
                          <a:pt x="539868" y="485223"/>
                          <a:pt x="518364" y="507612"/>
                          <a:pt x="479911" y="545307"/>
                        </a:cubicBezTo>
                        <a:lnTo>
                          <a:pt x="475989" y="549165"/>
                        </a:lnTo>
                        <a:lnTo>
                          <a:pt x="470993" y="546825"/>
                        </a:lnTo>
                        <a:cubicBezTo>
                          <a:pt x="453461" y="538432"/>
                          <a:pt x="436552" y="528794"/>
                          <a:pt x="420396" y="517985"/>
                        </a:cubicBezTo>
                        <a:cubicBezTo>
                          <a:pt x="404480" y="527209"/>
                          <a:pt x="387278" y="534009"/>
                          <a:pt x="369357" y="538160"/>
                        </a:cubicBezTo>
                        <a:cubicBezTo>
                          <a:pt x="365738" y="546270"/>
                          <a:pt x="363024" y="554756"/>
                          <a:pt x="361261" y="563459"/>
                        </a:cubicBezTo>
                        <a:cubicBezTo>
                          <a:pt x="359082" y="574856"/>
                          <a:pt x="355690" y="585987"/>
                          <a:pt x="351142" y="596663"/>
                        </a:cubicBezTo>
                        <a:close/>
                        <a:moveTo>
                          <a:pt x="259056" y="585026"/>
                        </a:moveTo>
                        <a:lnTo>
                          <a:pt x="338809" y="585026"/>
                        </a:lnTo>
                        <a:cubicBezTo>
                          <a:pt x="341634" y="576740"/>
                          <a:pt x="343957" y="568291"/>
                          <a:pt x="345766" y="559727"/>
                        </a:cubicBezTo>
                        <a:cubicBezTo>
                          <a:pt x="347926" y="548210"/>
                          <a:pt x="351851" y="537095"/>
                          <a:pt x="357403" y="526776"/>
                        </a:cubicBezTo>
                        <a:lnTo>
                          <a:pt x="359301" y="523803"/>
                        </a:lnTo>
                        <a:lnTo>
                          <a:pt x="362779" y="523171"/>
                        </a:lnTo>
                        <a:cubicBezTo>
                          <a:pt x="381877" y="519133"/>
                          <a:pt x="400144" y="511861"/>
                          <a:pt x="416791" y="501667"/>
                        </a:cubicBezTo>
                        <a:lnTo>
                          <a:pt x="421092" y="499137"/>
                        </a:lnTo>
                        <a:lnTo>
                          <a:pt x="425203" y="501920"/>
                        </a:lnTo>
                        <a:cubicBezTo>
                          <a:pt x="440490" y="512398"/>
                          <a:pt x="456512" y="521761"/>
                          <a:pt x="473143" y="529938"/>
                        </a:cubicBezTo>
                        <a:cubicBezTo>
                          <a:pt x="507612" y="496038"/>
                          <a:pt x="523044" y="479721"/>
                          <a:pt x="529559" y="472005"/>
                        </a:cubicBezTo>
                        <a:cubicBezTo>
                          <a:pt x="525638" y="466376"/>
                          <a:pt x="521274" y="459356"/>
                          <a:pt x="516910" y="451197"/>
                        </a:cubicBezTo>
                        <a:cubicBezTo>
                          <a:pt x="506853" y="433615"/>
                          <a:pt x="503185" y="427480"/>
                          <a:pt x="501920" y="425393"/>
                        </a:cubicBezTo>
                        <a:lnTo>
                          <a:pt x="498631" y="420206"/>
                        </a:lnTo>
                        <a:lnTo>
                          <a:pt x="502869" y="415716"/>
                        </a:lnTo>
                        <a:cubicBezTo>
                          <a:pt x="509006" y="408080"/>
                          <a:pt x="513583" y="399312"/>
                          <a:pt x="516340" y="389912"/>
                        </a:cubicBezTo>
                        <a:cubicBezTo>
                          <a:pt x="520091" y="379022"/>
                          <a:pt x="524702" y="368448"/>
                          <a:pt x="530128" y="358289"/>
                        </a:cubicBezTo>
                        <a:lnTo>
                          <a:pt x="532089" y="355126"/>
                        </a:lnTo>
                        <a:lnTo>
                          <a:pt x="535820" y="354620"/>
                        </a:lnTo>
                        <a:cubicBezTo>
                          <a:pt x="545145" y="353140"/>
                          <a:pt x="554358" y="351027"/>
                          <a:pt x="563395" y="348296"/>
                        </a:cubicBezTo>
                        <a:cubicBezTo>
                          <a:pt x="572756" y="345513"/>
                          <a:pt x="580219" y="343426"/>
                          <a:pt x="585531" y="341971"/>
                        </a:cubicBezTo>
                        <a:lnTo>
                          <a:pt x="585531" y="261838"/>
                        </a:lnTo>
                        <a:cubicBezTo>
                          <a:pt x="579839" y="260447"/>
                          <a:pt x="572123" y="258297"/>
                          <a:pt x="562130" y="255514"/>
                        </a:cubicBezTo>
                        <a:cubicBezTo>
                          <a:pt x="553523" y="252704"/>
                          <a:pt x="544703" y="250590"/>
                          <a:pt x="535757" y="249189"/>
                        </a:cubicBezTo>
                        <a:cubicBezTo>
                          <a:pt x="527978" y="251087"/>
                          <a:pt x="527851" y="250897"/>
                          <a:pt x="504134" y="182022"/>
                        </a:cubicBezTo>
                        <a:lnTo>
                          <a:pt x="502806" y="178290"/>
                        </a:lnTo>
                        <a:lnTo>
                          <a:pt x="505019" y="175002"/>
                        </a:lnTo>
                        <a:cubicBezTo>
                          <a:pt x="511344" y="165325"/>
                          <a:pt x="520957" y="149703"/>
                          <a:pt x="532721" y="127883"/>
                        </a:cubicBezTo>
                        <a:cubicBezTo>
                          <a:pt x="525764" y="121559"/>
                          <a:pt x="516214" y="112451"/>
                          <a:pt x="503881" y="99739"/>
                        </a:cubicBezTo>
                        <a:cubicBezTo>
                          <a:pt x="495063" y="89814"/>
                          <a:pt x="485203" y="80866"/>
                          <a:pt x="474472" y="73049"/>
                        </a:cubicBezTo>
                        <a:cubicBezTo>
                          <a:pt x="469538" y="75516"/>
                          <a:pt x="462328" y="79690"/>
                          <a:pt x="453031" y="85698"/>
                        </a:cubicBezTo>
                        <a:cubicBezTo>
                          <a:pt x="443673" y="92016"/>
                          <a:pt x="433388" y="96838"/>
                          <a:pt x="422547" y="99992"/>
                        </a:cubicBezTo>
                        <a:lnTo>
                          <a:pt x="418752" y="101004"/>
                        </a:lnTo>
                        <a:lnTo>
                          <a:pt x="416222" y="98601"/>
                        </a:lnTo>
                        <a:cubicBezTo>
                          <a:pt x="408397" y="93265"/>
                          <a:pt x="399887" y="89010"/>
                          <a:pt x="390924" y="85951"/>
                        </a:cubicBezTo>
                        <a:cubicBezTo>
                          <a:pt x="374733" y="79627"/>
                          <a:pt x="365056" y="76022"/>
                          <a:pt x="361261" y="74314"/>
                        </a:cubicBezTo>
                        <a:lnTo>
                          <a:pt x="357846" y="72733"/>
                        </a:lnTo>
                        <a:lnTo>
                          <a:pt x="356454" y="69065"/>
                        </a:lnTo>
                        <a:cubicBezTo>
                          <a:pt x="349750" y="43450"/>
                          <a:pt x="344691" y="25551"/>
                          <a:pt x="341339" y="15812"/>
                        </a:cubicBezTo>
                        <a:lnTo>
                          <a:pt x="262597" y="15812"/>
                        </a:lnTo>
                        <a:cubicBezTo>
                          <a:pt x="260574" y="22642"/>
                          <a:pt x="258233" y="30927"/>
                          <a:pt x="255767" y="40477"/>
                        </a:cubicBezTo>
                        <a:cubicBezTo>
                          <a:pt x="252605" y="52368"/>
                          <a:pt x="248494" y="67483"/>
                          <a:pt x="247039" y="72100"/>
                        </a:cubicBezTo>
                        <a:lnTo>
                          <a:pt x="245395" y="77413"/>
                        </a:lnTo>
                        <a:lnTo>
                          <a:pt x="239892" y="77413"/>
                        </a:lnTo>
                        <a:cubicBezTo>
                          <a:pt x="238184" y="77413"/>
                          <a:pt x="229077" y="79374"/>
                          <a:pt x="183603" y="99233"/>
                        </a:cubicBezTo>
                        <a:lnTo>
                          <a:pt x="179429" y="101067"/>
                        </a:lnTo>
                        <a:lnTo>
                          <a:pt x="175887" y="98664"/>
                        </a:lnTo>
                        <a:cubicBezTo>
                          <a:pt x="160909" y="88053"/>
                          <a:pt x="145038" y="78763"/>
                          <a:pt x="128453" y="70899"/>
                        </a:cubicBezTo>
                        <a:cubicBezTo>
                          <a:pt x="94047" y="104546"/>
                          <a:pt x="78552" y="120863"/>
                          <a:pt x="71847" y="128642"/>
                        </a:cubicBezTo>
                        <a:cubicBezTo>
                          <a:pt x="82260" y="143775"/>
                          <a:pt x="91662" y="159579"/>
                          <a:pt x="99992" y="175950"/>
                        </a:cubicBezTo>
                        <a:lnTo>
                          <a:pt x="102269" y="180188"/>
                        </a:lnTo>
                        <a:lnTo>
                          <a:pt x="99549" y="184172"/>
                        </a:lnTo>
                        <a:cubicBezTo>
                          <a:pt x="93979" y="192851"/>
                          <a:pt x="89296" y="202068"/>
                          <a:pt x="85572" y="211684"/>
                        </a:cubicBezTo>
                        <a:cubicBezTo>
                          <a:pt x="79247" y="227116"/>
                          <a:pt x="74504" y="236983"/>
                          <a:pt x="71658" y="242232"/>
                        </a:cubicBezTo>
                        <a:lnTo>
                          <a:pt x="69760" y="245711"/>
                        </a:lnTo>
                        <a:lnTo>
                          <a:pt x="65839" y="246217"/>
                        </a:lnTo>
                        <a:cubicBezTo>
                          <a:pt x="56507" y="247659"/>
                          <a:pt x="47292" y="249773"/>
                          <a:pt x="38264" y="252541"/>
                        </a:cubicBezTo>
                        <a:cubicBezTo>
                          <a:pt x="28650" y="255324"/>
                          <a:pt x="21314" y="257411"/>
                          <a:pt x="16064" y="258866"/>
                        </a:cubicBezTo>
                        <a:lnTo>
                          <a:pt x="16064" y="338999"/>
                        </a:lnTo>
                        <a:cubicBezTo>
                          <a:pt x="21820" y="340390"/>
                          <a:pt x="29536" y="342540"/>
                          <a:pt x="39529" y="345323"/>
                        </a:cubicBezTo>
                        <a:cubicBezTo>
                          <a:pt x="49083" y="348043"/>
                          <a:pt x="58800" y="350156"/>
                          <a:pt x="68622" y="351648"/>
                        </a:cubicBezTo>
                        <a:lnTo>
                          <a:pt x="74567" y="352407"/>
                        </a:lnTo>
                        <a:lnTo>
                          <a:pt x="75452" y="358352"/>
                        </a:lnTo>
                        <a:cubicBezTo>
                          <a:pt x="77200" y="368796"/>
                          <a:pt x="80327" y="378962"/>
                          <a:pt x="84750" y="388583"/>
                        </a:cubicBezTo>
                        <a:cubicBezTo>
                          <a:pt x="94679" y="410593"/>
                          <a:pt x="96893" y="416222"/>
                          <a:pt x="97399" y="418625"/>
                        </a:cubicBezTo>
                        <a:lnTo>
                          <a:pt x="98537" y="421977"/>
                        </a:lnTo>
                        <a:lnTo>
                          <a:pt x="96766" y="425076"/>
                        </a:lnTo>
                        <a:cubicBezTo>
                          <a:pt x="80259" y="453411"/>
                          <a:pt x="73555" y="466566"/>
                          <a:pt x="70836" y="472637"/>
                        </a:cubicBezTo>
                        <a:cubicBezTo>
                          <a:pt x="104672" y="506980"/>
                          <a:pt x="120420" y="521527"/>
                          <a:pt x="127757" y="527345"/>
                        </a:cubicBezTo>
                        <a:cubicBezTo>
                          <a:pt x="132627" y="524815"/>
                          <a:pt x="139584" y="521021"/>
                          <a:pt x="148628" y="515139"/>
                        </a:cubicBezTo>
                        <a:cubicBezTo>
                          <a:pt x="157902" y="509154"/>
                          <a:pt x="167888" y="504351"/>
                          <a:pt x="178354" y="500845"/>
                        </a:cubicBezTo>
                        <a:lnTo>
                          <a:pt x="181959" y="499770"/>
                        </a:lnTo>
                        <a:lnTo>
                          <a:pt x="185058" y="501857"/>
                        </a:lnTo>
                        <a:cubicBezTo>
                          <a:pt x="186196" y="502489"/>
                          <a:pt x="195240" y="506727"/>
                          <a:pt x="240019" y="526460"/>
                        </a:cubicBezTo>
                        <a:lnTo>
                          <a:pt x="243054" y="527788"/>
                        </a:lnTo>
                        <a:lnTo>
                          <a:pt x="244193" y="530887"/>
                        </a:lnTo>
                        <a:cubicBezTo>
                          <a:pt x="247661" y="540971"/>
                          <a:pt x="250512" y="551258"/>
                          <a:pt x="252731" y="561688"/>
                        </a:cubicBezTo>
                        <a:cubicBezTo>
                          <a:pt x="254324" y="569600"/>
                          <a:pt x="256437" y="577392"/>
                          <a:pt x="259056" y="585026"/>
                        </a:cubicBezTo>
                        <a:close/>
                      </a:path>
                    </a:pathLst>
                  </a:custGeom>
                  <a:solidFill>
                    <a:schemeClr val="lt1"/>
                  </a:solidFill>
                  <a:ln w="7150" cap="flat" cmpd="sng">
                    <a:solidFill>
                      <a:schemeClr val="lt1"/>
                    </a:solidFill>
                    <a:prstDash val="solid"/>
                    <a:miter lim="8000"/>
                    <a:headEnd type="none" w="sm" len="sm"/>
                    <a:tailEnd type="none" w="sm" len="sm"/>
                  </a:ln>
                </p:spPr>
                <p:txBody>
                  <a:bodyPr spcFirstLastPara="1" wrap="square" lIns="91410" tIns="45688" rIns="91410" bIns="45688" anchor="ctr" anchorCtr="0">
                    <a:noAutofit/>
                  </a:bodyPr>
                  <a:lstStyle/>
                  <a:p>
                    <a:pPr defTabSz="1218895"/>
                    <a:endParaRPr sz="1733"/>
                  </a:p>
                </p:txBody>
              </p:sp>
            </p:grpSp>
          </p:grpSp>
          <p:sp>
            <p:nvSpPr>
              <p:cNvPr id="6344" name="Google Shape;6344;p312"/>
              <p:cNvSpPr/>
              <p:nvPr/>
            </p:nvSpPr>
            <p:spPr>
              <a:xfrm>
                <a:off x="3149470" y="1919206"/>
                <a:ext cx="1629900" cy="441000"/>
              </a:xfrm>
              <a:prstGeom prst="chevron">
                <a:avLst>
                  <a:gd name="adj" fmla="val 50740"/>
                </a:avLst>
              </a:prstGeom>
              <a:solidFill>
                <a:srgbClr val="007A86"/>
              </a:solidFill>
              <a:ln>
                <a:noFill/>
              </a:ln>
            </p:spPr>
            <p:txBody>
              <a:bodyPr spcFirstLastPara="1" wrap="square" lIns="91376" tIns="45688" rIns="91376" bIns="45688" anchor="ctr" anchorCtr="0">
                <a:noAutofit/>
              </a:bodyPr>
              <a:lstStyle/>
              <a:p>
                <a:pPr algn="ctr" defTabSz="1218895"/>
                <a:r>
                  <a:rPr lang="en" sz="933">
                    <a:solidFill>
                      <a:srgbClr val="FFFFFF"/>
                    </a:solidFill>
                  </a:rPr>
                  <a:t>Deploy Private AI Infrastructure</a:t>
                </a:r>
                <a:endParaRPr sz="1466"/>
              </a:p>
            </p:txBody>
          </p:sp>
          <p:sp>
            <p:nvSpPr>
              <p:cNvPr id="6345" name="Google Shape;6345;p312"/>
              <p:cNvSpPr/>
              <p:nvPr/>
            </p:nvSpPr>
            <p:spPr>
              <a:xfrm>
                <a:off x="3149470" y="2926564"/>
                <a:ext cx="1367700" cy="459000"/>
              </a:xfrm>
              <a:prstGeom prst="roundRect">
                <a:avLst>
                  <a:gd name="adj" fmla="val 16667"/>
                </a:avLst>
              </a:prstGeom>
              <a:solidFill>
                <a:schemeClr val="lt1"/>
              </a:solidFill>
              <a:ln w="19050" cap="flat" cmpd="sng">
                <a:solidFill>
                  <a:srgbClr val="007A86"/>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Cloud Connected / Cloud Disconnected</a:t>
                </a:r>
                <a:endParaRPr sz="1466"/>
              </a:p>
            </p:txBody>
          </p:sp>
        </p:grpSp>
        <p:sp>
          <p:nvSpPr>
            <p:cNvPr id="6346" name="Google Shape;6346;p312"/>
            <p:cNvSpPr/>
            <p:nvPr/>
          </p:nvSpPr>
          <p:spPr>
            <a:xfrm>
              <a:off x="2358643" y="3791298"/>
              <a:ext cx="1025775" cy="344158"/>
            </a:xfrm>
            <a:prstGeom prst="roundRect">
              <a:avLst>
                <a:gd name="adj" fmla="val 16667"/>
              </a:avLst>
            </a:prstGeom>
            <a:solidFill>
              <a:schemeClr val="lt1"/>
            </a:solidFill>
            <a:ln w="19050" cap="flat" cmpd="sng">
              <a:solidFill>
                <a:srgbClr val="007295"/>
              </a:solidFill>
              <a:prstDash val="solid"/>
              <a:round/>
              <a:headEnd type="none" w="sm" len="sm"/>
              <a:tailEnd type="none" w="sm" len="sm"/>
            </a:ln>
          </p:spPr>
          <p:txBody>
            <a:bodyPr spcFirstLastPara="1" wrap="square" lIns="91376" tIns="45688" rIns="91376" bIns="45688" anchor="ctr" anchorCtr="0">
              <a:noAutofit/>
            </a:bodyPr>
            <a:lstStyle/>
            <a:p>
              <a:pPr algn="ctr" defTabSz="1218895"/>
              <a:r>
                <a:rPr lang="en" sz="800"/>
                <a:t>Configure PAIF Licensing</a:t>
              </a:r>
              <a:endParaRPr sz="1466"/>
            </a:p>
          </p:txBody>
        </p:sp>
      </p:grpSp>
      <p:pic>
        <p:nvPicPr>
          <p:cNvPr id="6347" name="Google Shape;6347;p312"/>
          <p:cNvPicPr preferRelativeResize="0"/>
          <p:nvPr/>
        </p:nvPicPr>
        <p:blipFill rotWithShape="1">
          <a:blip r:embed="rId8">
            <a:alphaModFix/>
          </a:blip>
          <a:srcRect/>
          <a:stretch/>
        </p:blipFill>
        <p:spPr>
          <a:xfrm>
            <a:off x="10566004" y="6430904"/>
            <a:ext cx="1013377" cy="189823"/>
          </a:xfrm>
          <a:prstGeom prst="rect">
            <a:avLst/>
          </a:prstGeom>
          <a:noFill/>
          <a:ln>
            <a:noFill/>
          </a:ln>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207"/>
                                        </p:tgtEl>
                                        <p:attrNameLst>
                                          <p:attrName>style.visibility</p:attrName>
                                        </p:attrNameLst>
                                      </p:cBhvr>
                                      <p:to>
                                        <p:strVal val="visible"/>
                                      </p:to>
                                    </p:set>
                                    <p:animEffect transition="in" filter="fade">
                                      <p:cBhvr>
                                        <p:cTn id="7" dur="500"/>
                                        <p:tgtEl>
                                          <p:spTgt spid="620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234"/>
                                        </p:tgtEl>
                                        <p:attrNameLst>
                                          <p:attrName>style.visibility</p:attrName>
                                        </p:attrNameLst>
                                      </p:cBhvr>
                                      <p:to>
                                        <p:strVal val="visible"/>
                                      </p:to>
                                    </p:set>
                                    <p:animEffect transition="in" filter="fade">
                                      <p:cBhvr>
                                        <p:cTn id="12" dur="500"/>
                                        <p:tgtEl>
                                          <p:spTgt spid="623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223"/>
                                        </p:tgtEl>
                                        <p:attrNameLst>
                                          <p:attrName>style.visibility</p:attrName>
                                        </p:attrNameLst>
                                      </p:cBhvr>
                                      <p:to>
                                        <p:strVal val="visible"/>
                                      </p:to>
                                    </p:set>
                                    <p:animEffect transition="in" filter="fade">
                                      <p:cBhvr>
                                        <p:cTn id="17" dur="500"/>
                                        <p:tgtEl>
                                          <p:spTgt spid="62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250"/>
                                        </p:tgtEl>
                                        <p:attrNameLst>
                                          <p:attrName>style.visibility</p:attrName>
                                        </p:attrNameLst>
                                      </p:cBhvr>
                                      <p:to>
                                        <p:strVal val="visible"/>
                                      </p:to>
                                    </p:set>
                                    <p:animEffect transition="in" filter="fade">
                                      <p:cBhvr>
                                        <p:cTn id="22" dur="500"/>
                                        <p:tgtEl>
                                          <p:spTgt spid="62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Shape 6352"/>
        <p:cNvGrpSpPr/>
        <p:nvPr/>
      </p:nvGrpSpPr>
      <p:grpSpPr>
        <a:xfrm>
          <a:off x="0" y="0"/>
          <a:ext cx="0" cy="0"/>
          <a:chOff x="0" y="0"/>
          <a:chExt cx="0" cy="0"/>
        </a:xfrm>
      </p:grpSpPr>
      <p:grpSp>
        <p:nvGrpSpPr>
          <p:cNvPr id="6353" name="Google Shape;6353;p313"/>
          <p:cNvGrpSpPr/>
          <p:nvPr/>
        </p:nvGrpSpPr>
        <p:grpSpPr>
          <a:xfrm>
            <a:off x="608040" y="1604609"/>
            <a:ext cx="7409882" cy="4083908"/>
            <a:chOff x="4494213" y="5565463"/>
            <a:chExt cx="7409835" cy="4084972"/>
          </a:xfrm>
        </p:grpSpPr>
        <p:pic>
          <p:nvPicPr>
            <p:cNvPr id="6354" name="Google Shape;6354;p313"/>
            <p:cNvPicPr preferRelativeResize="0"/>
            <p:nvPr/>
          </p:nvPicPr>
          <p:blipFill rotWithShape="1">
            <a:blip r:embed="rId3">
              <a:alphaModFix/>
            </a:blip>
            <a:srcRect/>
            <a:stretch/>
          </p:blipFill>
          <p:spPr>
            <a:xfrm>
              <a:off x="4494213" y="5565463"/>
              <a:ext cx="7409835" cy="4084972"/>
            </a:xfrm>
            <a:prstGeom prst="rect">
              <a:avLst/>
            </a:prstGeom>
            <a:noFill/>
            <a:ln>
              <a:noFill/>
            </a:ln>
          </p:spPr>
        </p:pic>
        <p:sp>
          <p:nvSpPr>
            <p:cNvPr id="6355" name="Google Shape;6355;p313"/>
            <p:cNvSpPr/>
            <p:nvPr/>
          </p:nvSpPr>
          <p:spPr>
            <a:xfrm>
              <a:off x="11536583" y="5702669"/>
              <a:ext cx="206400" cy="75900"/>
            </a:xfrm>
            <a:prstGeom prst="rect">
              <a:avLst/>
            </a:prstGeom>
            <a:solidFill>
              <a:srgbClr val="0B2339"/>
            </a:solidFill>
            <a:ln>
              <a:noFill/>
            </a:ln>
          </p:spPr>
          <p:txBody>
            <a:bodyPr spcFirstLastPara="1" wrap="square" lIns="91410" tIns="45688" rIns="91410" bIns="45688" anchor="ctr" anchorCtr="0">
              <a:noAutofit/>
            </a:bodyPr>
            <a:lstStyle/>
            <a:p>
              <a:pPr algn="ctr" defTabSz="1218895"/>
              <a:endParaRPr sz="1866">
                <a:solidFill>
                  <a:srgbClr val="FFFFFF"/>
                </a:solidFill>
              </a:endParaRPr>
            </a:p>
          </p:txBody>
        </p:sp>
        <p:sp>
          <p:nvSpPr>
            <p:cNvPr id="6356" name="Google Shape;6356;p313"/>
            <p:cNvSpPr txBox="1"/>
            <p:nvPr/>
          </p:nvSpPr>
          <p:spPr>
            <a:xfrm>
              <a:off x="4565013" y="7285834"/>
              <a:ext cx="484500" cy="61571"/>
            </a:xfrm>
            <a:prstGeom prst="rect">
              <a:avLst/>
            </a:prstGeom>
            <a:solidFill>
              <a:srgbClr val="EFF4F6"/>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a:solidFill>
                    <a:srgbClr val="777777"/>
                  </a:solidFill>
                </a:rPr>
                <a:t>Private AI-Lab        </a:t>
              </a:r>
              <a:endParaRPr sz="1466"/>
            </a:p>
          </p:txBody>
        </p:sp>
        <p:sp>
          <p:nvSpPr>
            <p:cNvPr id="6357" name="Google Shape;6357;p313"/>
            <p:cNvSpPr txBox="1"/>
            <p:nvPr/>
          </p:nvSpPr>
          <p:spPr>
            <a:xfrm>
              <a:off x="6305548" y="6574968"/>
              <a:ext cx="349500" cy="61571"/>
            </a:xfrm>
            <a:prstGeom prst="rect">
              <a:avLst/>
            </a:prstGeom>
            <a:solidFill>
              <a:srgbClr val="FBFDFD"/>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a:solidFill>
                    <a:srgbClr val="777777"/>
                  </a:solidFill>
                </a:rPr>
                <a:t>Private AI-Lab</a:t>
              </a:r>
              <a:endParaRPr sz="1466"/>
            </a:p>
          </p:txBody>
        </p:sp>
      </p:grpSp>
      <p:sp>
        <p:nvSpPr>
          <p:cNvPr id="6358" name="Google Shape;6358;p313"/>
          <p:cNvSpPr txBox="1">
            <a:spLocks noGrp="1"/>
          </p:cNvSpPr>
          <p:nvPr>
            <p:ph type="title"/>
          </p:nvPr>
        </p:nvSpPr>
        <p:spPr>
          <a:xfrm>
            <a:off x="579809" y="413536"/>
            <a:ext cx="11001134" cy="381101"/>
          </a:xfrm>
          <a:prstGeom prst="rect">
            <a:avLst/>
          </a:prstGeom>
          <a:noFill/>
          <a:ln>
            <a:noFill/>
          </a:ln>
        </p:spPr>
        <p:txBody>
          <a:bodyPr spcFirstLastPara="1" wrap="square" lIns="0" tIns="0" rIns="0" bIns="0" anchor="b" anchorCtr="0">
            <a:noAutofit/>
          </a:bodyPr>
          <a:lstStyle/>
          <a:p>
            <a:r>
              <a:rPr lang="en"/>
              <a:t>VCF Private AI Services</a:t>
            </a:r>
            <a:endParaRPr/>
          </a:p>
        </p:txBody>
      </p:sp>
      <p:sp>
        <p:nvSpPr>
          <p:cNvPr id="6359" name="Google Shape;6359;p313"/>
          <p:cNvSpPr txBox="1">
            <a:spLocks noGrp="1"/>
          </p:cNvSpPr>
          <p:nvPr>
            <p:ph type="subTitle" idx="1"/>
          </p:nvPr>
        </p:nvSpPr>
        <p:spPr>
          <a:xfrm>
            <a:off x="592865" y="812512"/>
            <a:ext cx="10962744" cy="247935"/>
          </a:xfrm>
          <a:prstGeom prst="rect">
            <a:avLst/>
          </a:prstGeom>
          <a:noFill/>
          <a:ln>
            <a:noFill/>
          </a:ln>
        </p:spPr>
        <p:txBody>
          <a:bodyPr spcFirstLastPara="1" wrap="square" lIns="0" tIns="0" rIns="0" bIns="0" anchor="t" anchorCtr="0">
            <a:noAutofit/>
          </a:bodyPr>
          <a:lstStyle/>
          <a:p>
            <a:pPr marL="0" indent="0"/>
            <a:r>
              <a:rPr lang="en"/>
              <a:t>Deliver self-service AI workloads with VCF Automation</a:t>
            </a:r>
            <a:endParaRPr/>
          </a:p>
          <a:p>
            <a:pPr marL="0" indent="0">
              <a:spcBef>
                <a:spcPts val="1200"/>
              </a:spcBef>
            </a:pPr>
            <a:endParaRPr/>
          </a:p>
        </p:txBody>
      </p:sp>
      <p:sp>
        <p:nvSpPr>
          <p:cNvPr id="6360" name="Google Shape;6360;p313"/>
          <p:cNvSpPr txBox="1">
            <a:spLocks noGrp="1"/>
          </p:cNvSpPr>
          <p:nvPr>
            <p:ph type="body" idx="2"/>
          </p:nvPr>
        </p:nvSpPr>
        <p:spPr>
          <a:xfrm>
            <a:off x="8380412" y="1600676"/>
            <a:ext cx="3808608" cy="4570809"/>
          </a:xfrm>
          <a:prstGeom prst="rect">
            <a:avLst/>
          </a:prstGeom>
          <a:noFill/>
          <a:ln>
            <a:noFill/>
          </a:ln>
        </p:spPr>
        <p:txBody>
          <a:bodyPr spcFirstLastPara="1" wrap="square" lIns="0" tIns="457148" rIns="594312" bIns="457148" anchor="t" anchorCtr="0">
            <a:noAutofit/>
          </a:bodyPr>
          <a:lstStyle/>
          <a:p>
            <a:pPr marL="0" indent="-101575">
              <a:buSzPts val="1200"/>
            </a:pPr>
            <a:r>
              <a:rPr lang="en" sz="1866" dirty="0">
                <a:solidFill>
                  <a:schemeClr val="dk1"/>
                </a:solidFill>
              </a:rPr>
              <a:t>Overview</a:t>
            </a:r>
            <a:endParaRPr dirty="0"/>
          </a:p>
          <a:p>
            <a:pPr marL="0" indent="0">
              <a:spcBef>
                <a:spcPts val="1200"/>
              </a:spcBef>
              <a:buNone/>
            </a:pPr>
            <a:r>
              <a:rPr lang="en" dirty="0"/>
              <a:t>VCF Admins can deliver self-service AI-ready workloads to Data Scientists/DevOps teams with VCF Automation</a:t>
            </a:r>
            <a:endParaRPr dirty="0"/>
          </a:p>
          <a:p>
            <a:pPr marL="0" indent="0">
              <a:spcBef>
                <a:spcPts val="1200"/>
              </a:spcBef>
              <a:buNone/>
            </a:pPr>
            <a:r>
              <a:rPr lang="en" dirty="0"/>
              <a:t>Service Broker Catalog includes several templates to simplify and accelerate deployment of AI workloads</a:t>
            </a:r>
            <a:endParaRPr dirty="0"/>
          </a:p>
          <a:p>
            <a:pPr marL="0" indent="0">
              <a:spcBef>
                <a:spcPts val="1200"/>
              </a:spcBef>
              <a:buNone/>
            </a:pPr>
            <a:r>
              <a:rPr lang="en" dirty="0"/>
              <a:t>Data Scientists can deploy AI workloads quickly using a choice of LLM and appropriately sized GPU resources</a:t>
            </a:r>
            <a:endParaRPr dirty="0"/>
          </a:p>
          <a:p>
            <a:pPr marL="0" indent="0">
              <a:spcBef>
                <a:spcPts val="1200"/>
              </a:spcBef>
              <a:buNone/>
            </a:pPr>
            <a:endParaRPr dirty="0"/>
          </a:p>
        </p:txBody>
      </p:sp>
      <p:grpSp>
        <p:nvGrpSpPr>
          <p:cNvPr id="6361" name="Google Shape;6361;p313"/>
          <p:cNvGrpSpPr/>
          <p:nvPr/>
        </p:nvGrpSpPr>
        <p:grpSpPr>
          <a:xfrm>
            <a:off x="608016" y="1607704"/>
            <a:ext cx="7409878" cy="4095906"/>
            <a:chOff x="608013" y="1800664"/>
            <a:chExt cx="7409832" cy="4096973"/>
          </a:xfrm>
        </p:grpSpPr>
        <p:pic>
          <p:nvPicPr>
            <p:cNvPr id="6362" name="Google Shape;6362;p313"/>
            <p:cNvPicPr preferRelativeResize="0"/>
            <p:nvPr/>
          </p:nvPicPr>
          <p:blipFill rotWithShape="1">
            <a:blip r:embed="rId4">
              <a:alphaModFix/>
            </a:blip>
            <a:srcRect/>
            <a:stretch/>
          </p:blipFill>
          <p:spPr>
            <a:xfrm>
              <a:off x="608013" y="1800664"/>
              <a:ext cx="7409832" cy="4096973"/>
            </a:xfrm>
            <a:prstGeom prst="rect">
              <a:avLst/>
            </a:prstGeom>
            <a:noFill/>
            <a:ln>
              <a:noFill/>
            </a:ln>
          </p:spPr>
        </p:pic>
        <p:sp>
          <p:nvSpPr>
            <p:cNvPr id="6363" name="Google Shape;6363;p313"/>
            <p:cNvSpPr/>
            <p:nvPr/>
          </p:nvSpPr>
          <p:spPr>
            <a:xfrm>
              <a:off x="7648184" y="1935836"/>
              <a:ext cx="206400" cy="75900"/>
            </a:xfrm>
            <a:prstGeom prst="rect">
              <a:avLst/>
            </a:prstGeom>
            <a:solidFill>
              <a:srgbClr val="0B2339"/>
            </a:solidFill>
            <a:ln>
              <a:noFill/>
            </a:ln>
          </p:spPr>
          <p:txBody>
            <a:bodyPr spcFirstLastPara="1" wrap="square" lIns="91410" tIns="45688" rIns="91410" bIns="45688" anchor="ctr" anchorCtr="0">
              <a:noAutofit/>
            </a:bodyPr>
            <a:lstStyle/>
            <a:p>
              <a:pPr algn="ctr" defTabSz="1218895"/>
              <a:endParaRPr sz="1866">
                <a:solidFill>
                  <a:srgbClr val="FFFFFF"/>
                </a:solidFill>
              </a:endParaRPr>
            </a:p>
          </p:txBody>
        </p:sp>
        <p:sp>
          <p:nvSpPr>
            <p:cNvPr id="6364" name="Google Shape;6364;p313"/>
            <p:cNvSpPr txBox="1"/>
            <p:nvPr/>
          </p:nvSpPr>
          <p:spPr>
            <a:xfrm>
              <a:off x="2001519" y="3787595"/>
              <a:ext cx="349500" cy="61571"/>
            </a:xfrm>
            <a:prstGeom prst="rect">
              <a:avLst/>
            </a:prstGeom>
            <a:solidFill>
              <a:schemeClr val="lt1"/>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b="1">
                  <a:solidFill>
                    <a:srgbClr val="777777"/>
                  </a:solidFill>
                </a:rPr>
                <a:t>Private AI-Lab</a:t>
              </a:r>
              <a:endParaRPr sz="1466"/>
            </a:p>
          </p:txBody>
        </p:sp>
        <p:sp>
          <p:nvSpPr>
            <p:cNvPr id="6365" name="Google Shape;6365;p313"/>
            <p:cNvSpPr txBox="1"/>
            <p:nvPr/>
          </p:nvSpPr>
          <p:spPr>
            <a:xfrm>
              <a:off x="3139439" y="3787595"/>
              <a:ext cx="349500" cy="61571"/>
            </a:xfrm>
            <a:prstGeom prst="rect">
              <a:avLst/>
            </a:prstGeom>
            <a:solidFill>
              <a:schemeClr val="lt1"/>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b="1">
                  <a:solidFill>
                    <a:srgbClr val="777777"/>
                  </a:solidFill>
                </a:rPr>
                <a:t>Private AI-Lab</a:t>
              </a:r>
              <a:endParaRPr sz="1466"/>
            </a:p>
          </p:txBody>
        </p:sp>
        <p:sp>
          <p:nvSpPr>
            <p:cNvPr id="6366" name="Google Shape;6366;p313"/>
            <p:cNvSpPr txBox="1"/>
            <p:nvPr/>
          </p:nvSpPr>
          <p:spPr>
            <a:xfrm>
              <a:off x="4277358" y="3790983"/>
              <a:ext cx="349500" cy="61571"/>
            </a:xfrm>
            <a:prstGeom prst="rect">
              <a:avLst/>
            </a:prstGeom>
            <a:solidFill>
              <a:schemeClr val="lt1"/>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b="1">
                  <a:solidFill>
                    <a:srgbClr val="777777"/>
                  </a:solidFill>
                </a:rPr>
                <a:t>Private AI-Lab</a:t>
              </a:r>
              <a:endParaRPr sz="1466"/>
            </a:p>
          </p:txBody>
        </p:sp>
        <p:sp>
          <p:nvSpPr>
            <p:cNvPr id="6367" name="Google Shape;6367;p313"/>
            <p:cNvSpPr txBox="1"/>
            <p:nvPr/>
          </p:nvSpPr>
          <p:spPr>
            <a:xfrm>
              <a:off x="5415279" y="3787595"/>
              <a:ext cx="349500" cy="61571"/>
            </a:xfrm>
            <a:prstGeom prst="rect">
              <a:avLst/>
            </a:prstGeom>
            <a:solidFill>
              <a:schemeClr val="lt1"/>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b="1">
                  <a:solidFill>
                    <a:srgbClr val="777777"/>
                  </a:solidFill>
                </a:rPr>
                <a:t>Private AI-Lab</a:t>
              </a:r>
              <a:endParaRPr sz="1466"/>
            </a:p>
          </p:txBody>
        </p:sp>
        <p:sp>
          <p:nvSpPr>
            <p:cNvPr id="6368" name="Google Shape;6368;p313"/>
            <p:cNvSpPr txBox="1"/>
            <p:nvPr/>
          </p:nvSpPr>
          <p:spPr>
            <a:xfrm>
              <a:off x="6553200" y="3787595"/>
              <a:ext cx="349500" cy="61571"/>
            </a:xfrm>
            <a:prstGeom prst="rect">
              <a:avLst/>
            </a:prstGeom>
            <a:solidFill>
              <a:schemeClr val="lt1"/>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b="1">
                  <a:solidFill>
                    <a:srgbClr val="777777"/>
                  </a:solidFill>
                </a:rPr>
                <a:t>Private AI-Lab</a:t>
              </a:r>
              <a:endParaRPr sz="1466"/>
            </a:p>
          </p:txBody>
        </p:sp>
        <p:sp>
          <p:nvSpPr>
            <p:cNvPr id="6369" name="Google Shape;6369;p313"/>
            <p:cNvSpPr txBox="1"/>
            <p:nvPr/>
          </p:nvSpPr>
          <p:spPr>
            <a:xfrm>
              <a:off x="671193" y="3530421"/>
              <a:ext cx="484500" cy="61571"/>
            </a:xfrm>
            <a:prstGeom prst="rect">
              <a:avLst/>
            </a:prstGeom>
            <a:solidFill>
              <a:srgbClr val="EFF4F6"/>
            </a:solidFill>
            <a:ln>
              <a:noFill/>
            </a:ln>
            <a:effectLst>
              <a:outerShdw blurRad="952665" dist="38107" dir="5400000" algn="ctr" rotWithShape="0">
                <a:srgbClr val="777777"/>
              </a:outerShdw>
            </a:effectLst>
          </p:spPr>
          <p:txBody>
            <a:bodyPr spcFirstLastPara="1" wrap="square" lIns="0" tIns="0" rIns="0" bIns="0" anchor="t" anchorCtr="0">
              <a:spAutoFit/>
            </a:bodyPr>
            <a:lstStyle/>
            <a:p>
              <a:pPr defTabSz="1218895"/>
              <a:r>
                <a:rPr lang="en" sz="400">
                  <a:solidFill>
                    <a:srgbClr val="777777"/>
                  </a:solidFill>
                </a:rPr>
                <a:t>Private AI-Lab        </a:t>
              </a:r>
              <a:endParaRPr sz="1466"/>
            </a:p>
          </p:txBody>
        </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6361"/>
                                        </p:tgtEl>
                                      </p:cBhvr>
                                    </p:animEffect>
                                    <p:set>
                                      <p:cBhvr>
                                        <p:cTn id="7" dur="1" fill="hold">
                                          <p:stCondLst>
                                            <p:cond delay="500"/>
                                          </p:stCondLst>
                                        </p:cTn>
                                        <p:tgtEl>
                                          <p:spTgt spid="636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Shape 6374"/>
        <p:cNvGrpSpPr/>
        <p:nvPr/>
      </p:nvGrpSpPr>
      <p:grpSpPr>
        <a:xfrm>
          <a:off x="0" y="0"/>
          <a:ext cx="0" cy="0"/>
          <a:chOff x="0" y="0"/>
          <a:chExt cx="0" cy="0"/>
        </a:xfrm>
      </p:grpSpPr>
      <p:sp>
        <p:nvSpPr>
          <p:cNvPr id="6375" name="Google Shape;6375;p314"/>
          <p:cNvSpPr txBox="1">
            <a:spLocks noGrp="1"/>
          </p:cNvSpPr>
          <p:nvPr>
            <p:ph type="title"/>
          </p:nvPr>
        </p:nvSpPr>
        <p:spPr>
          <a:xfrm>
            <a:off x="579809" y="413536"/>
            <a:ext cx="11001134" cy="381101"/>
          </a:xfrm>
          <a:prstGeom prst="rect">
            <a:avLst/>
          </a:prstGeom>
          <a:noFill/>
          <a:ln>
            <a:noFill/>
          </a:ln>
        </p:spPr>
        <p:txBody>
          <a:bodyPr spcFirstLastPara="1" wrap="square" lIns="0" tIns="0" rIns="0" bIns="0" anchor="b" anchorCtr="0">
            <a:noAutofit/>
          </a:bodyPr>
          <a:lstStyle/>
          <a:p>
            <a:r>
              <a:rPr lang="en"/>
              <a:t>Expanded Collaboration with AMD on AI</a:t>
            </a:r>
            <a:endParaRPr/>
          </a:p>
        </p:txBody>
      </p:sp>
      <p:sp>
        <p:nvSpPr>
          <p:cNvPr id="6376" name="Google Shape;6376;p314"/>
          <p:cNvSpPr txBox="1">
            <a:spLocks noGrp="1"/>
          </p:cNvSpPr>
          <p:nvPr>
            <p:ph type="subTitle" idx="1"/>
          </p:nvPr>
        </p:nvSpPr>
        <p:spPr>
          <a:xfrm>
            <a:off x="592869" y="812512"/>
            <a:ext cx="10962744" cy="247935"/>
          </a:xfrm>
          <a:prstGeom prst="rect">
            <a:avLst/>
          </a:prstGeom>
          <a:noFill/>
          <a:ln>
            <a:noFill/>
          </a:ln>
        </p:spPr>
        <p:txBody>
          <a:bodyPr spcFirstLastPara="1" wrap="square" lIns="0" tIns="0" rIns="0" bIns="0" anchor="t" anchorCtr="0">
            <a:noAutofit/>
          </a:bodyPr>
          <a:lstStyle/>
          <a:p>
            <a:pPr marL="0" indent="0"/>
            <a:r>
              <a:rPr lang="en"/>
              <a:t>Advance Private AI</a:t>
            </a:r>
            <a:endParaRPr/>
          </a:p>
          <a:p>
            <a:pPr marL="0" indent="0"/>
            <a:endParaRPr/>
          </a:p>
        </p:txBody>
      </p:sp>
      <p:pic>
        <p:nvPicPr>
          <p:cNvPr id="6377" name="Google Shape;6377;p314"/>
          <p:cNvPicPr preferRelativeResize="0"/>
          <p:nvPr/>
        </p:nvPicPr>
        <p:blipFill>
          <a:blip r:embed="rId3">
            <a:alphaModFix/>
          </a:blip>
          <a:stretch>
            <a:fillRect/>
          </a:stretch>
        </p:blipFill>
        <p:spPr>
          <a:xfrm>
            <a:off x="-1" y="1263598"/>
            <a:ext cx="12188825" cy="5573600"/>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Shape 6382"/>
        <p:cNvGrpSpPr/>
        <p:nvPr/>
      </p:nvGrpSpPr>
      <p:grpSpPr>
        <a:xfrm>
          <a:off x="0" y="0"/>
          <a:ext cx="0" cy="0"/>
          <a:chOff x="0" y="0"/>
          <a:chExt cx="0" cy="0"/>
        </a:xfrm>
      </p:grpSpPr>
      <p:sp>
        <p:nvSpPr>
          <p:cNvPr id="6383" name="Google Shape;6383;p315"/>
          <p:cNvSpPr txBox="1">
            <a:spLocks noGrp="1"/>
          </p:cNvSpPr>
          <p:nvPr>
            <p:ph type="title"/>
          </p:nvPr>
        </p:nvSpPr>
        <p:spPr>
          <a:xfrm>
            <a:off x="579809" y="413536"/>
            <a:ext cx="11001134" cy="381101"/>
          </a:xfrm>
          <a:prstGeom prst="rect">
            <a:avLst/>
          </a:prstGeom>
          <a:noFill/>
          <a:ln>
            <a:noFill/>
          </a:ln>
        </p:spPr>
        <p:txBody>
          <a:bodyPr spcFirstLastPara="1" wrap="square" lIns="0" tIns="0" rIns="0" bIns="0" anchor="b" anchorCtr="0">
            <a:noAutofit/>
          </a:bodyPr>
          <a:lstStyle/>
          <a:p>
            <a:r>
              <a:rPr lang="en"/>
              <a:t>VCF Private AI Services</a:t>
            </a:r>
            <a:endParaRPr/>
          </a:p>
        </p:txBody>
      </p:sp>
      <p:sp>
        <p:nvSpPr>
          <p:cNvPr id="6384" name="Google Shape;6384;p315"/>
          <p:cNvSpPr txBox="1">
            <a:spLocks noGrp="1"/>
          </p:cNvSpPr>
          <p:nvPr>
            <p:ph type="subTitle" idx="1"/>
          </p:nvPr>
        </p:nvSpPr>
        <p:spPr>
          <a:xfrm>
            <a:off x="592865" y="812512"/>
            <a:ext cx="10962744" cy="247935"/>
          </a:xfrm>
          <a:prstGeom prst="rect">
            <a:avLst/>
          </a:prstGeom>
          <a:noFill/>
          <a:ln>
            <a:noFill/>
          </a:ln>
        </p:spPr>
        <p:txBody>
          <a:bodyPr spcFirstLastPara="1" wrap="square" lIns="0" tIns="0" rIns="0" bIns="0" anchor="t" anchorCtr="0">
            <a:noAutofit/>
          </a:bodyPr>
          <a:lstStyle/>
          <a:p>
            <a:pPr marL="0" indent="0"/>
            <a:r>
              <a:rPr lang="en"/>
              <a:t>Model Gallery |  Model Endpoints  |  Data Indexing &amp; Retrieval  |  Agent Builder </a:t>
            </a:r>
            <a:endParaRPr/>
          </a:p>
        </p:txBody>
      </p:sp>
      <p:sp>
        <p:nvSpPr>
          <p:cNvPr id="6385" name="Google Shape;6385;p315"/>
          <p:cNvSpPr/>
          <p:nvPr/>
        </p:nvSpPr>
        <p:spPr>
          <a:xfrm>
            <a:off x="2082489" y="2576839"/>
            <a:ext cx="1594385" cy="1087317"/>
          </a:xfrm>
          <a:prstGeom prst="roundRect">
            <a:avLst>
              <a:gd name="adj" fmla="val 4299"/>
            </a:avLst>
          </a:prstGeom>
          <a:noFill/>
          <a:ln w="19050" cap="flat" cmpd="sng">
            <a:solidFill>
              <a:schemeClr val="accent2"/>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900"/>
            </a:pPr>
            <a:r>
              <a:rPr lang="en" sz="1200"/>
              <a:t>Deep Learning VM (DMZ) </a:t>
            </a:r>
            <a:endParaRPr sz="1200"/>
          </a:p>
          <a:p>
            <a:pPr algn="ctr" defTabSz="1218895">
              <a:buSzPts val="800"/>
            </a:pPr>
            <a:endParaRPr sz="1066"/>
          </a:p>
          <a:p>
            <a:pPr algn="ctr" defTabSz="1218895">
              <a:buSzPts val="800"/>
            </a:pPr>
            <a:r>
              <a:rPr lang="en" sz="1066"/>
              <a:t>Validate your model</a:t>
            </a:r>
            <a:endParaRPr sz="1066"/>
          </a:p>
          <a:p>
            <a:pPr algn="ctr" defTabSz="1218895">
              <a:buSzPts val="900"/>
            </a:pPr>
            <a:r>
              <a:rPr lang="en" sz="1200"/>
              <a:t> </a:t>
            </a:r>
            <a:endParaRPr sz="1200"/>
          </a:p>
        </p:txBody>
      </p:sp>
      <p:pic>
        <p:nvPicPr>
          <p:cNvPr id="6386" name="Google Shape;6386;p315"/>
          <p:cNvPicPr preferRelativeResize="0"/>
          <p:nvPr/>
        </p:nvPicPr>
        <p:blipFill rotWithShape="1">
          <a:blip r:embed="rId3">
            <a:alphaModFix/>
          </a:blip>
          <a:srcRect/>
          <a:stretch/>
        </p:blipFill>
        <p:spPr>
          <a:xfrm>
            <a:off x="917039" y="2099461"/>
            <a:ext cx="418523" cy="418523"/>
          </a:xfrm>
          <a:prstGeom prst="rect">
            <a:avLst/>
          </a:prstGeom>
          <a:noFill/>
          <a:ln>
            <a:noFill/>
          </a:ln>
        </p:spPr>
      </p:pic>
      <p:cxnSp>
        <p:nvCxnSpPr>
          <p:cNvPr id="6387" name="Google Shape;6387;p315"/>
          <p:cNvCxnSpPr>
            <a:endCxn id="6385" idx="0"/>
          </p:cNvCxnSpPr>
          <p:nvPr/>
        </p:nvCxnSpPr>
        <p:spPr>
          <a:xfrm>
            <a:off x="1409664" y="2278517"/>
            <a:ext cx="1470017" cy="298322"/>
          </a:xfrm>
          <a:prstGeom prst="bentConnector2">
            <a:avLst/>
          </a:prstGeom>
          <a:noFill/>
          <a:ln w="14300" cap="flat" cmpd="sng">
            <a:solidFill>
              <a:schemeClr val="accent2"/>
            </a:solidFill>
            <a:prstDash val="solid"/>
            <a:round/>
            <a:headEnd type="none" w="sm" len="sm"/>
            <a:tailEnd type="triangle" w="med" len="med"/>
          </a:ln>
        </p:spPr>
      </p:cxnSp>
      <p:sp>
        <p:nvSpPr>
          <p:cNvPr id="6388" name="Google Shape;6388;p315"/>
          <p:cNvSpPr txBox="1"/>
          <p:nvPr/>
        </p:nvSpPr>
        <p:spPr>
          <a:xfrm>
            <a:off x="523302" y="2498245"/>
            <a:ext cx="1256473" cy="840682"/>
          </a:xfrm>
          <a:prstGeom prst="rect">
            <a:avLst/>
          </a:prstGeom>
          <a:noFill/>
          <a:ln>
            <a:noFill/>
          </a:ln>
        </p:spPr>
        <p:txBody>
          <a:bodyPr spcFirstLastPara="1" wrap="square" lIns="91410" tIns="91410" rIns="91410" bIns="91410" anchor="t" anchorCtr="0">
            <a:spAutoFit/>
          </a:bodyPr>
          <a:lstStyle/>
          <a:p>
            <a:pPr defTabSz="1218895">
              <a:buSzPts val="800"/>
            </a:pPr>
            <a:r>
              <a:rPr lang="en" sz="1066"/>
              <a:t>Pull model from online source: Hugging Face, NVIDIA NGC…</a:t>
            </a:r>
            <a:endParaRPr sz="1066"/>
          </a:p>
        </p:txBody>
      </p:sp>
      <p:pic>
        <p:nvPicPr>
          <p:cNvPr id="6389" name="Google Shape;6389;p315"/>
          <p:cNvPicPr preferRelativeResize="0"/>
          <p:nvPr/>
        </p:nvPicPr>
        <p:blipFill rotWithShape="1">
          <a:blip r:embed="rId4">
            <a:alphaModFix/>
          </a:blip>
          <a:srcRect/>
          <a:stretch/>
        </p:blipFill>
        <p:spPr>
          <a:xfrm>
            <a:off x="1869113" y="3453167"/>
            <a:ext cx="429656" cy="429656"/>
          </a:xfrm>
          <a:prstGeom prst="rect">
            <a:avLst/>
          </a:prstGeom>
          <a:noFill/>
          <a:ln>
            <a:noFill/>
          </a:ln>
        </p:spPr>
      </p:pic>
      <p:sp>
        <p:nvSpPr>
          <p:cNvPr id="6390" name="Google Shape;6390;p315"/>
          <p:cNvSpPr/>
          <p:nvPr/>
        </p:nvSpPr>
        <p:spPr>
          <a:xfrm>
            <a:off x="4042429" y="2282928"/>
            <a:ext cx="1728750" cy="1380440"/>
          </a:xfrm>
          <a:prstGeom prst="roundRect">
            <a:avLst>
              <a:gd name="adj" fmla="val 4299"/>
            </a:avLst>
          </a:prstGeom>
          <a:noFill/>
          <a:ln w="21425" cap="flat" cmpd="sng">
            <a:solidFill>
              <a:schemeClr val="accent3"/>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900"/>
            </a:pPr>
            <a:r>
              <a:rPr lang="en" sz="1200" b="1"/>
              <a:t>Harbor for Model Gallery </a:t>
            </a:r>
            <a:endParaRPr sz="1200" b="1"/>
          </a:p>
          <a:p>
            <a:pPr defTabSz="1218895">
              <a:buSzPts val="800"/>
            </a:pPr>
            <a:endParaRPr sz="267"/>
          </a:p>
          <a:p>
            <a:pPr defTabSz="1218895">
              <a:buSzPts val="800"/>
            </a:pPr>
            <a:r>
              <a:rPr lang="en" sz="1066"/>
              <a:t>Storage for all validated and secure models shared with appropriate teams.  </a:t>
            </a:r>
            <a:endParaRPr sz="1066"/>
          </a:p>
        </p:txBody>
      </p:sp>
      <p:cxnSp>
        <p:nvCxnSpPr>
          <p:cNvPr id="6391" name="Google Shape;6391;p315"/>
          <p:cNvCxnSpPr/>
          <p:nvPr/>
        </p:nvCxnSpPr>
        <p:spPr>
          <a:xfrm>
            <a:off x="3689253" y="2974506"/>
            <a:ext cx="345110" cy="3599"/>
          </a:xfrm>
          <a:prstGeom prst="straightConnector1">
            <a:avLst/>
          </a:prstGeom>
          <a:noFill/>
          <a:ln w="14300" cap="flat" cmpd="sng">
            <a:solidFill>
              <a:schemeClr val="accent2"/>
            </a:solidFill>
            <a:prstDash val="solid"/>
            <a:round/>
            <a:headEnd type="none" w="sm" len="sm"/>
            <a:tailEnd type="triangle" w="med" len="med"/>
          </a:ln>
        </p:spPr>
      </p:cxnSp>
      <p:pic>
        <p:nvPicPr>
          <p:cNvPr id="6392" name="Google Shape;6392;p315"/>
          <p:cNvPicPr preferRelativeResize="0"/>
          <p:nvPr/>
        </p:nvPicPr>
        <p:blipFill rotWithShape="1">
          <a:blip r:embed="rId5">
            <a:alphaModFix/>
          </a:blip>
          <a:srcRect/>
          <a:stretch/>
        </p:blipFill>
        <p:spPr>
          <a:xfrm>
            <a:off x="3828581" y="3448003"/>
            <a:ext cx="429656" cy="429656"/>
          </a:xfrm>
          <a:prstGeom prst="rect">
            <a:avLst/>
          </a:prstGeom>
          <a:noFill/>
          <a:ln>
            <a:noFill/>
          </a:ln>
        </p:spPr>
      </p:pic>
      <p:cxnSp>
        <p:nvCxnSpPr>
          <p:cNvPr id="6393" name="Google Shape;6393;p315"/>
          <p:cNvCxnSpPr>
            <a:stCxn id="6390" idx="3"/>
            <a:endCxn id="6394" idx="1"/>
          </p:cNvCxnSpPr>
          <p:nvPr/>
        </p:nvCxnSpPr>
        <p:spPr>
          <a:xfrm rot="10800000" flipH="1">
            <a:off x="5771179" y="2969550"/>
            <a:ext cx="331114" cy="3599"/>
          </a:xfrm>
          <a:prstGeom prst="straightConnector1">
            <a:avLst/>
          </a:prstGeom>
          <a:noFill/>
          <a:ln w="14300" cap="flat" cmpd="sng">
            <a:solidFill>
              <a:schemeClr val="accent3"/>
            </a:solidFill>
            <a:prstDash val="solid"/>
            <a:round/>
            <a:headEnd type="none" w="sm" len="sm"/>
            <a:tailEnd type="triangle" w="med" len="med"/>
          </a:ln>
        </p:spPr>
      </p:cxnSp>
      <p:sp>
        <p:nvSpPr>
          <p:cNvPr id="6394" name="Google Shape;6394;p315"/>
          <p:cNvSpPr/>
          <p:nvPr/>
        </p:nvSpPr>
        <p:spPr>
          <a:xfrm>
            <a:off x="6102314" y="2279474"/>
            <a:ext cx="1728750" cy="1380440"/>
          </a:xfrm>
          <a:prstGeom prst="roundRect">
            <a:avLst>
              <a:gd name="adj" fmla="val 4299"/>
            </a:avLst>
          </a:prstGeom>
          <a:noFill/>
          <a:ln w="21425" cap="flat" cmpd="sng">
            <a:solidFill>
              <a:schemeClr val="accent3"/>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900"/>
            </a:pPr>
            <a:r>
              <a:rPr lang="en" sz="1200" b="1"/>
              <a:t>Model Runtime </a:t>
            </a:r>
            <a:endParaRPr sz="1466"/>
          </a:p>
          <a:p>
            <a:pPr algn="ctr" defTabSz="1218895">
              <a:buSzPts val="900"/>
            </a:pPr>
            <a:endParaRPr sz="1200" b="1"/>
          </a:p>
          <a:p>
            <a:pPr algn="ctr" defTabSz="1218895">
              <a:buSzPts val="800"/>
            </a:pPr>
            <a:r>
              <a:rPr lang="en" sz="1066"/>
              <a:t>Service consumes available model in Harbor to support Model Endpoint creation </a:t>
            </a:r>
            <a:endParaRPr sz="1066"/>
          </a:p>
        </p:txBody>
      </p:sp>
      <p:pic>
        <p:nvPicPr>
          <p:cNvPr id="6395" name="Google Shape;6395;p315"/>
          <p:cNvPicPr preferRelativeResize="0"/>
          <p:nvPr/>
        </p:nvPicPr>
        <p:blipFill rotWithShape="1">
          <a:blip r:embed="rId5">
            <a:alphaModFix/>
          </a:blip>
          <a:srcRect/>
          <a:stretch/>
        </p:blipFill>
        <p:spPr>
          <a:xfrm>
            <a:off x="5889475" y="3447526"/>
            <a:ext cx="429656" cy="429656"/>
          </a:xfrm>
          <a:prstGeom prst="rect">
            <a:avLst/>
          </a:prstGeom>
          <a:noFill/>
          <a:ln>
            <a:noFill/>
          </a:ln>
        </p:spPr>
      </p:pic>
      <p:sp>
        <p:nvSpPr>
          <p:cNvPr id="6396" name="Google Shape;6396;p315"/>
          <p:cNvSpPr/>
          <p:nvPr/>
        </p:nvSpPr>
        <p:spPr>
          <a:xfrm>
            <a:off x="6102310" y="3925335"/>
            <a:ext cx="1742746" cy="1310459"/>
          </a:xfrm>
          <a:prstGeom prst="roundRect">
            <a:avLst>
              <a:gd name="adj" fmla="val 4299"/>
            </a:avLst>
          </a:prstGeom>
          <a:noFill/>
          <a:ln w="21425" cap="flat" cmpd="sng">
            <a:solidFill>
              <a:schemeClr val="accent3"/>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800"/>
            </a:pPr>
            <a:r>
              <a:rPr lang="en" sz="1200" b="1"/>
              <a:t>Data Indexing and Retrieval Service</a:t>
            </a:r>
            <a:endParaRPr sz="1466"/>
          </a:p>
          <a:p>
            <a:pPr algn="ctr" defTabSz="1218895">
              <a:buSzPts val="800"/>
            </a:pPr>
            <a:endParaRPr sz="267"/>
          </a:p>
          <a:p>
            <a:pPr algn="ctr" defTabSz="1218895">
              <a:buSzPts val="800"/>
            </a:pPr>
            <a:endParaRPr sz="267"/>
          </a:p>
          <a:p>
            <a:pPr algn="ctr" defTabSz="1218895">
              <a:buSzPts val="800"/>
            </a:pPr>
            <a:r>
              <a:rPr lang="en" sz="1066"/>
              <a:t>Connects to different data sources.  Loads relevant data into vector databases  </a:t>
            </a:r>
            <a:endParaRPr sz="1066"/>
          </a:p>
          <a:p>
            <a:pPr algn="ctr" defTabSz="1218895">
              <a:buSzPts val="800"/>
            </a:pPr>
            <a:endParaRPr sz="1066" b="1"/>
          </a:p>
        </p:txBody>
      </p:sp>
      <p:pic>
        <p:nvPicPr>
          <p:cNvPr id="6397" name="Google Shape;6397;p315"/>
          <p:cNvPicPr preferRelativeResize="0"/>
          <p:nvPr/>
        </p:nvPicPr>
        <p:blipFill rotWithShape="1">
          <a:blip r:embed="rId5">
            <a:alphaModFix/>
          </a:blip>
          <a:srcRect/>
          <a:stretch/>
        </p:blipFill>
        <p:spPr>
          <a:xfrm>
            <a:off x="5890383" y="4983480"/>
            <a:ext cx="429656" cy="429656"/>
          </a:xfrm>
          <a:prstGeom prst="rect">
            <a:avLst/>
          </a:prstGeom>
          <a:noFill/>
          <a:ln>
            <a:noFill/>
          </a:ln>
        </p:spPr>
      </p:pic>
      <p:sp>
        <p:nvSpPr>
          <p:cNvPr id="6398" name="Google Shape;6398;p315"/>
          <p:cNvSpPr/>
          <p:nvPr/>
        </p:nvSpPr>
        <p:spPr>
          <a:xfrm>
            <a:off x="6445701" y="5500771"/>
            <a:ext cx="1058924" cy="502669"/>
          </a:xfrm>
          <a:prstGeom prst="roundRect">
            <a:avLst>
              <a:gd name="adj" fmla="val 4299"/>
            </a:avLst>
          </a:prstGeom>
          <a:noFill/>
          <a:ln w="19050" cap="flat" cmpd="sng">
            <a:solidFill>
              <a:schemeClr val="accent2"/>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800"/>
            </a:pPr>
            <a:r>
              <a:rPr lang="en" sz="1200">
                <a:solidFill>
                  <a:srgbClr val="1B1D36"/>
                </a:solidFill>
              </a:rPr>
              <a:t>Vector DB (DSM)</a:t>
            </a:r>
            <a:endParaRPr sz="1200">
              <a:solidFill>
                <a:srgbClr val="1B1D36"/>
              </a:solidFill>
            </a:endParaRPr>
          </a:p>
        </p:txBody>
      </p:sp>
      <p:cxnSp>
        <p:nvCxnSpPr>
          <p:cNvPr id="6399" name="Google Shape;6399;p315"/>
          <p:cNvCxnSpPr/>
          <p:nvPr/>
        </p:nvCxnSpPr>
        <p:spPr>
          <a:xfrm>
            <a:off x="6976213" y="5209055"/>
            <a:ext cx="0" cy="291924"/>
          </a:xfrm>
          <a:prstGeom prst="straightConnector1">
            <a:avLst/>
          </a:prstGeom>
          <a:noFill/>
          <a:ln w="14300" cap="flat" cmpd="sng">
            <a:solidFill>
              <a:schemeClr val="accent2"/>
            </a:solidFill>
            <a:prstDash val="solid"/>
            <a:round/>
            <a:headEnd type="triangle" w="med" len="med"/>
            <a:tailEnd type="triangle" w="med" len="med"/>
          </a:ln>
        </p:spPr>
      </p:cxnSp>
      <p:sp>
        <p:nvSpPr>
          <p:cNvPr id="6400" name="Google Shape;6400;p315"/>
          <p:cNvSpPr/>
          <p:nvPr/>
        </p:nvSpPr>
        <p:spPr>
          <a:xfrm>
            <a:off x="4700021" y="4331704"/>
            <a:ext cx="1058924" cy="502669"/>
          </a:xfrm>
          <a:prstGeom prst="roundRect">
            <a:avLst>
              <a:gd name="adj" fmla="val 4299"/>
            </a:avLst>
          </a:prstGeom>
          <a:noFill/>
          <a:ln w="19050" cap="flat" cmpd="sng">
            <a:solidFill>
              <a:srgbClr val="777777"/>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800"/>
            </a:pPr>
            <a:r>
              <a:rPr lang="en" sz="1200">
                <a:solidFill>
                  <a:srgbClr val="1B1D36"/>
                </a:solidFill>
              </a:rPr>
              <a:t>Data Sources</a:t>
            </a:r>
            <a:endParaRPr sz="1200">
              <a:solidFill>
                <a:srgbClr val="1B1D36"/>
              </a:solidFill>
            </a:endParaRPr>
          </a:p>
        </p:txBody>
      </p:sp>
      <p:cxnSp>
        <p:nvCxnSpPr>
          <p:cNvPr id="6401" name="Google Shape;6401;p315"/>
          <p:cNvCxnSpPr>
            <a:stCxn id="6400" idx="3"/>
            <a:endCxn id="6396" idx="1"/>
          </p:cNvCxnSpPr>
          <p:nvPr/>
        </p:nvCxnSpPr>
        <p:spPr>
          <a:xfrm rot="10800000" flipH="1">
            <a:off x="5758944" y="4580639"/>
            <a:ext cx="343511" cy="2399"/>
          </a:xfrm>
          <a:prstGeom prst="straightConnector1">
            <a:avLst/>
          </a:prstGeom>
          <a:noFill/>
          <a:ln w="14300" cap="flat" cmpd="sng">
            <a:solidFill>
              <a:schemeClr val="accent2"/>
            </a:solidFill>
            <a:prstDash val="solid"/>
            <a:round/>
            <a:headEnd type="none" w="sm" len="sm"/>
            <a:tailEnd type="triangle" w="med" len="med"/>
          </a:ln>
        </p:spPr>
      </p:cxnSp>
      <p:cxnSp>
        <p:nvCxnSpPr>
          <p:cNvPr id="6402" name="Google Shape;6402;p315"/>
          <p:cNvCxnSpPr>
            <a:stCxn id="6394" idx="2"/>
            <a:endCxn id="6396" idx="0"/>
          </p:cNvCxnSpPr>
          <p:nvPr/>
        </p:nvCxnSpPr>
        <p:spPr>
          <a:xfrm>
            <a:off x="6966689" y="3659914"/>
            <a:ext cx="6798" cy="265531"/>
          </a:xfrm>
          <a:prstGeom prst="straightConnector1">
            <a:avLst/>
          </a:prstGeom>
          <a:noFill/>
          <a:ln w="14300" cap="flat" cmpd="sng">
            <a:solidFill>
              <a:schemeClr val="accent3"/>
            </a:solidFill>
            <a:prstDash val="solid"/>
            <a:round/>
            <a:headEnd type="triangle" w="med" len="med"/>
            <a:tailEnd type="triangle" w="med" len="med"/>
          </a:ln>
        </p:spPr>
      </p:cxnSp>
      <p:cxnSp>
        <p:nvCxnSpPr>
          <p:cNvPr id="6403" name="Google Shape;6403;p315"/>
          <p:cNvCxnSpPr>
            <a:endCxn id="6396" idx="3"/>
          </p:cNvCxnSpPr>
          <p:nvPr/>
        </p:nvCxnSpPr>
        <p:spPr>
          <a:xfrm rot="10800000">
            <a:off x="7845056" y="4580564"/>
            <a:ext cx="334313" cy="0"/>
          </a:xfrm>
          <a:prstGeom prst="straightConnector1">
            <a:avLst/>
          </a:prstGeom>
          <a:noFill/>
          <a:ln w="14300" cap="flat" cmpd="sng">
            <a:solidFill>
              <a:schemeClr val="accent3"/>
            </a:solidFill>
            <a:prstDash val="solid"/>
            <a:round/>
            <a:headEnd type="triangle" w="med" len="med"/>
            <a:tailEnd type="triangle" w="med" len="med"/>
          </a:ln>
        </p:spPr>
      </p:cxnSp>
      <p:cxnSp>
        <p:nvCxnSpPr>
          <p:cNvPr id="6404" name="Google Shape;6404;p315"/>
          <p:cNvCxnSpPr>
            <a:endCxn id="6394" idx="3"/>
          </p:cNvCxnSpPr>
          <p:nvPr/>
        </p:nvCxnSpPr>
        <p:spPr>
          <a:xfrm rot="10800000">
            <a:off x="7831064" y="2969694"/>
            <a:ext cx="334313" cy="0"/>
          </a:xfrm>
          <a:prstGeom prst="straightConnector1">
            <a:avLst/>
          </a:prstGeom>
          <a:noFill/>
          <a:ln w="14300" cap="flat" cmpd="sng">
            <a:solidFill>
              <a:schemeClr val="accent3"/>
            </a:solidFill>
            <a:prstDash val="solid"/>
            <a:round/>
            <a:headEnd type="triangle" w="med" len="med"/>
            <a:tailEnd type="triangle" w="med" len="med"/>
          </a:ln>
        </p:spPr>
      </p:cxnSp>
      <p:sp>
        <p:nvSpPr>
          <p:cNvPr id="6405" name="Google Shape;6405;p315"/>
          <p:cNvSpPr/>
          <p:nvPr/>
        </p:nvSpPr>
        <p:spPr>
          <a:xfrm>
            <a:off x="1766706" y="1729941"/>
            <a:ext cx="8496987" cy="4549615"/>
          </a:xfrm>
          <a:prstGeom prst="roundRect">
            <a:avLst>
              <a:gd name="adj" fmla="val 2746"/>
            </a:avLst>
          </a:prstGeom>
          <a:noFill/>
          <a:ln w="9525" cap="flat" cmpd="sng">
            <a:solidFill>
              <a:srgbClr val="777777"/>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900"/>
            </a:pPr>
            <a:br>
              <a:rPr lang="en" sz="1200" b="1"/>
            </a:br>
            <a:endParaRPr sz="1066" b="1"/>
          </a:p>
        </p:txBody>
      </p:sp>
      <p:sp>
        <p:nvSpPr>
          <p:cNvPr id="6406" name="Google Shape;6406;p315"/>
          <p:cNvSpPr txBox="1"/>
          <p:nvPr/>
        </p:nvSpPr>
        <p:spPr>
          <a:xfrm>
            <a:off x="9715898" y="3366363"/>
            <a:ext cx="1058924" cy="677048"/>
          </a:xfrm>
          <a:prstGeom prst="rect">
            <a:avLst/>
          </a:prstGeom>
          <a:solidFill>
            <a:schemeClr val="lt1"/>
          </a:solidFill>
          <a:ln>
            <a:noFill/>
          </a:ln>
        </p:spPr>
        <p:txBody>
          <a:bodyPr spcFirstLastPara="1" wrap="square" lIns="91410" tIns="91410" rIns="91410" bIns="91410" anchor="t" anchorCtr="0">
            <a:spAutoFit/>
          </a:bodyPr>
          <a:lstStyle/>
          <a:p>
            <a:pPr algn="ctr" defTabSz="1218895">
              <a:buClr>
                <a:srgbClr val="1B1D36"/>
              </a:buClr>
              <a:buSzPts val="600"/>
            </a:pPr>
            <a:r>
              <a:rPr lang="en" sz="800">
                <a:solidFill>
                  <a:srgbClr val="1B1D36"/>
                </a:solidFill>
              </a:rPr>
              <a:t>Agent API Endpoint</a:t>
            </a:r>
            <a:endParaRPr sz="1466"/>
          </a:p>
          <a:p>
            <a:pPr algn="ctr" defTabSz="1218895">
              <a:buSzPts val="600"/>
            </a:pPr>
            <a:endParaRPr sz="800">
              <a:solidFill>
                <a:srgbClr val="1B1D36"/>
              </a:solidFill>
            </a:endParaRPr>
          </a:p>
          <a:p>
            <a:pPr algn="ctr" defTabSz="1218895">
              <a:buSzPts val="600"/>
            </a:pPr>
            <a:endParaRPr sz="800">
              <a:solidFill>
                <a:srgbClr val="1B1D36"/>
              </a:solidFill>
            </a:endParaRPr>
          </a:p>
        </p:txBody>
      </p:sp>
      <p:cxnSp>
        <p:nvCxnSpPr>
          <p:cNvPr id="6407" name="Google Shape;6407;p315"/>
          <p:cNvCxnSpPr/>
          <p:nvPr/>
        </p:nvCxnSpPr>
        <p:spPr>
          <a:xfrm rot="10800000">
            <a:off x="9914061" y="3797114"/>
            <a:ext cx="706616" cy="2799"/>
          </a:xfrm>
          <a:prstGeom prst="straightConnector1">
            <a:avLst/>
          </a:prstGeom>
          <a:noFill/>
          <a:ln w="14300" cap="flat" cmpd="sng">
            <a:solidFill>
              <a:schemeClr val="accent2"/>
            </a:solidFill>
            <a:prstDash val="solid"/>
            <a:round/>
            <a:headEnd type="triangle" w="med" len="med"/>
            <a:tailEnd type="triangle" w="med" len="med"/>
          </a:ln>
        </p:spPr>
      </p:cxnSp>
      <p:sp>
        <p:nvSpPr>
          <p:cNvPr id="6408" name="Google Shape;6408;p315"/>
          <p:cNvSpPr/>
          <p:nvPr/>
        </p:nvSpPr>
        <p:spPr>
          <a:xfrm>
            <a:off x="8185514" y="2278633"/>
            <a:ext cx="1728750" cy="2918040"/>
          </a:xfrm>
          <a:prstGeom prst="roundRect">
            <a:avLst>
              <a:gd name="adj" fmla="val 4299"/>
            </a:avLst>
          </a:prstGeom>
          <a:noFill/>
          <a:ln w="21425" cap="flat" cmpd="sng">
            <a:solidFill>
              <a:schemeClr val="accent3"/>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900"/>
            </a:pPr>
            <a:r>
              <a:rPr lang="en" sz="1200" b="1"/>
              <a:t>Agent Builder Service </a:t>
            </a:r>
            <a:br>
              <a:rPr lang="en" sz="1200" b="1"/>
            </a:br>
            <a:endParaRPr sz="1066" b="1"/>
          </a:p>
          <a:p>
            <a:pPr algn="ctr" defTabSz="1218895">
              <a:buSzPts val="800"/>
            </a:pPr>
            <a:r>
              <a:rPr lang="en" sz="1066"/>
              <a:t>Used to build, iterate and serve AI agents (builds RAG pipelines)</a:t>
            </a:r>
            <a:endParaRPr sz="1066"/>
          </a:p>
        </p:txBody>
      </p:sp>
      <p:sp>
        <p:nvSpPr>
          <p:cNvPr id="6409" name="Google Shape;6409;p315"/>
          <p:cNvSpPr/>
          <p:nvPr/>
        </p:nvSpPr>
        <p:spPr>
          <a:xfrm>
            <a:off x="10620677" y="3457630"/>
            <a:ext cx="960150" cy="684622"/>
          </a:xfrm>
          <a:prstGeom prst="roundRect">
            <a:avLst>
              <a:gd name="adj" fmla="val 4299"/>
            </a:avLst>
          </a:prstGeom>
          <a:noFill/>
          <a:ln w="19050" cap="flat" cmpd="sng">
            <a:solidFill>
              <a:srgbClr val="777777"/>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800"/>
            </a:pPr>
            <a:r>
              <a:rPr lang="en" sz="1200">
                <a:solidFill>
                  <a:srgbClr val="1B1D36"/>
                </a:solidFill>
              </a:rPr>
              <a:t>Customer Application</a:t>
            </a:r>
            <a:endParaRPr sz="1200">
              <a:solidFill>
                <a:srgbClr val="1B1D36"/>
              </a:solidFill>
            </a:endParaRPr>
          </a:p>
        </p:txBody>
      </p:sp>
      <p:pic>
        <p:nvPicPr>
          <p:cNvPr id="6410" name="Google Shape;6410;p315"/>
          <p:cNvPicPr preferRelativeResize="0"/>
          <p:nvPr/>
        </p:nvPicPr>
        <p:blipFill rotWithShape="1">
          <a:blip r:embed="rId6">
            <a:alphaModFix/>
          </a:blip>
          <a:srcRect/>
          <a:stretch/>
        </p:blipFill>
        <p:spPr>
          <a:xfrm>
            <a:off x="7970982" y="4986256"/>
            <a:ext cx="430988" cy="430988"/>
          </a:xfrm>
          <a:prstGeom prst="rect">
            <a:avLst/>
          </a:prstGeom>
          <a:noFill/>
          <a:ln>
            <a:noFill/>
          </a:ln>
        </p:spPr>
      </p:pic>
      <p:sp>
        <p:nvSpPr>
          <p:cNvPr id="6411" name="Google Shape;6411;p315"/>
          <p:cNvSpPr txBox="1"/>
          <p:nvPr/>
        </p:nvSpPr>
        <p:spPr>
          <a:xfrm>
            <a:off x="1872643" y="1754231"/>
            <a:ext cx="2247814" cy="348625"/>
          </a:xfrm>
          <a:prstGeom prst="rect">
            <a:avLst/>
          </a:prstGeom>
          <a:solidFill>
            <a:schemeClr val="lt1"/>
          </a:solidFill>
          <a:ln>
            <a:noFill/>
          </a:ln>
        </p:spPr>
        <p:txBody>
          <a:bodyPr spcFirstLastPara="1" wrap="square" lIns="91410" tIns="91410" rIns="91410" bIns="91410" anchor="t" anchorCtr="0">
            <a:spAutoFit/>
          </a:bodyPr>
          <a:lstStyle/>
          <a:p>
            <a:pPr algn="ctr" defTabSz="1218895">
              <a:buClr>
                <a:srgbClr val="1B1D36"/>
              </a:buClr>
              <a:buSzPts val="800"/>
            </a:pPr>
            <a:r>
              <a:rPr lang="en" sz="1066">
                <a:solidFill>
                  <a:srgbClr val="1B1D36"/>
                </a:solidFill>
              </a:rPr>
              <a:t>vSphere Supervisor Namespace</a:t>
            </a:r>
            <a:endParaRPr sz="1466"/>
          </a:p>
        </p:txBody>
      </p:sp>
      <p:grpSp>
        <p:nvGrpSpPr>
          <p:cNvPr id="6412" name="Google Shape;6412;p315"/>
          <p:cNvGrpSpPr/>
          <p:nvPr/>
        </p:nvGrpSpPr>
        <p:grpSpPr>
          <a:xfrm>
            <a:off x="1807224" y="5311212"/>
            <a:ext cx="2877277" cy="787243"/>
            <a:chOff x="2173513" y="4896740"/>
            <a:chExt cx="2877260" cy="787447"/>
          </a:xfrm>
        </p:grpSpPr>
        <p:sp>
          <p:nvSpPr>
            <p:cNvPr id="6413" name="Google Shape;6413;p315"/>
            <p:cNvSpPr txBox="1"/>
            <p:nvPr/>
          </p:nvSpPr>
          <p:spPr>
            <a:xfrm>
              <a:off x="3991773" y="5364430"/>
              <a:ext cx="1059000" cy="307796"/>
            </a:xfrm>
            <a:prstGeom prst="rect">
              <a:avLst/>
            </a:prstGeom>
            <a:noFill/>
            <a:ln>
              <a:noFill/>
            </a:ln>
          </p:spPr>
          <p:txBody>
            <a:bodyPr spcFirstLastPara="1" wrap="square" lIns="91410" tIns="91410" rIns="91410" bIns="91410" anchor="t" anchorCtr="0">
              <a:spAutoFit/>
            </a:bodyPr>
            <a:lstStyle/>
            <a:p>
              <a:pPr algn="ctr" defTabSz="1218895">
                <a:buClr>
                  <a:srgbClr val="1B1D36"/>
                </a:buClr>
                <a:buSzPts val="600"/>
              </a:pPr>
              <a:r>
                <a:rPr lang="en" sz="800" b="1">
                  <a:solidFill>
                    <a:srgbClr val="1B1D36"/>
                  </a:solidFill>
                </a:rPr>
                <a:t>Data Scientist </a:t>
              </a:r>
              <a:endParaRPr sz="800" b="1">
                <a:solidFill>
                  <a:srgbClr val="1B1D36"/>
                </a:solidFill>
              </a:endParaRPr>
            </a:p>
          </p:txBody>
        </p:sp>
        <p:grpSp>
          <p:nvGrpSpPr>
            <p:cNvPr id="6414" name="Google Shape;6414;p315"/>
            <p:cNvGrpSpPr/>
            <p:nvPr/>
          </p:nvGrpSpPr>
          <p:grpSpPr>
            <a:xfrm>
              <a:off x="2173513" y="4896740"/>
              <a:ext cx="2499477" cy="787447"/>
              <a:chOff x="11103939" y="4898238"/>
              <a:chExt cx="2499477" cy="787447"/>
            </a:xfrm>
          </p:grpSpPr>
          <p:sp>
            <p:nvSpPr>
              <p:cNvPr id="6415" name="Google Shape;6415;p315"/>
              <p:cNvSpPr txBox="1"/>
              <p:nvPr/>
            </p:nvSpPr>
            <p:spPr>
              <a:xfrm>
                <a:off x="11767943" y="5368407"/>
                <a:ext cx="660000" cy="307796"/>
              </a:xfrm>
              <a:prstGeom prst="rect">
                <a:avLst/>
              </a:prstGeom>
              <a:noFill/>
              <a:ln>
                <a:noFill/>
              </a:ln>
            </p:spPr>
            <p:txBody>
              <a:bodyPr spcFirstLastPara="1" wrap="square" lIns="91410" tIns="91410" rIns="91410" bIns="91410" anchor="t" anchorCtr="0">
                <a:spAutoFit/>
              </a:bodyPr>
              <a:lstStyle/>
              <a:p>
                <a:pPr algn="ctr" defTabSz="1218895">
                  <a:buClr>
                    <a:srgbClr val="1B1D36"/>
                  </a:buClr>
                  <a:buSzPts val="600"/>
                </a:pPr>
                <a:r>
                  <a:rPr lang="en" sz="800" b="1">
                    <a:solidFill>
                      <a:srgbClr val="1B1D36"/>
                    </a:solidFill>
                  </a:rPr>
                  <a:t> MLOps</a:t>
                </a:r>
                <a:endParaRPr sz="800" b="1">
                  <a:solidFill>
                    <a:srgbClr val="1B1D36"/>
                  </a:solidFill>
                </a:endParaRPr>
              </a:p>
            </p:txBody>
          </p:sp>
          <p:pic>
            <p:nvPicPr>
              <p:cNvPr id="6416" name="Google Shape;6416;p315"/>
              <p:cNvPicPr preferRelativeResize="0"/>
              <p:nvPr/>
            </p:nvPicPr>
            <p:blipFill rotWithShape="1">
              <a:blip r:embed="rId5">
                <a:alphaModFix/>
              </a:blip>
              <a:srcRect/>
              <a:stretch/>
            </p:blipFill>
            <p:spPr>
              <a:xfrm>
                <a:off x="11911109" y="4904010"/>
                <a:ext cx="429768" cy="429768"/>
              </a:xfrm>
              <a:prstGeom prst="rect">
                <a:avLst/>
              </a:prstGeom>
              <a:noFill/>
              <a:ln>
                <a:noFill/>
              </a:ln>
            </p:spPr>
          </p:pic>
          <p:pic>
            <p:nvPicPr>
              <p:cNvPr id="6417" name="Google Shape;6417;p315"/>
              <p:cNvPicPr preferRelativeResize="0"/>
              <p:nvPr/>
            </p:nvPicPr>
            <p:blipFill rotWithShape="1">
              <a:blip r:embed="rId4">
                <a:alphaModFix/>
              </a:blip>
              <a:srcRect/>
              <a:stretch/>
            </p:blipFill>
            <p:spPr>
              <a:xfrm>
                <a:off x="13173648" y="4904010"/>
                <a:ext cx="429768" cy="429768"/>
              </a:xfrm>
              <a:prstGeom prst="rect">
                <a:avLst/>
              </a:prstGeom>
              <a:noFill/>
              <a:ln>
                <a:noFill/>
              </a:ln>
            </p:spPr>
          </p:pic>
          <p:pic>
            <p:nvPicPr>
              <p:cNvPr id="6418" name="Google Shape;6418;p315"/>
              <p:cNvPicPr preferRelativeResize="0"/>
              <p:nvPr/>
            </p:nvPicPr>
            <p:blipFill rotWithShape="1">
              <a:blip r:embed="rId6">
                <a:alphaModFix/>
              </a:blip>
              <a:srcRect/>
              <a:stretch/>
            </p:blipFill>
            <p:spPr>
              <a:xfrm>
                <a:off x="12541713" y="4903344"/>
                <a:ext cx="431099" cy="431099"/>
              </a:xfrm>
              <a:prstGeom prst="rect">
                <a:avLst/>
              </a:prstGeom>
              <a:noFill/>
              <a:ln>
                <a:noFill/>
              </a:ln>
            </p:spPr>
          </p:pic>
          <p:sp>
            <p:nvSpPr>
              <p:cNvPr id="6419" name="Google Shape;6419;p315"/>
              <p:cNvSpPr txBox="1"/>
              <p:nvPr/>
            </p:nvSpPr>
            <p:spPr>
              <a:xfrm>
                <a:off x="12362148" y="5368407"/>
                <a:ext cx="725400" cy="307796"/>
              </a:xfrm>
              <a:prstGeom prst="rect">
                <a:avLst/>
              </a:prstGeom>
              <a:noFill/>
              <a:ln>
                <a:noFill/>
              </a:ln>
            </p:spPr>
            <p:txBody>
              <a:bodyPr spcFirstLastPara="1" wrap="square" lIns="91410" tIns="91410" rIns="91410" bIns="91410" anchor="t" anchorCtr="0">
                <a:spAutoFit/>
              </a:bodyPr>
              <a:lstStyle/>
              <a:p>
                <a:pPr algn="ctr" defTabSz="1218895">
                  <a:buClr>
                    <a:srgbClr val="1B1D36"/>
                  </a:buClr>
                  <a:buSzPts val="600"/>
                </a:pPr>
                <a:r>
                  <a:rPr lang="en" sz="800" b="1">
                    <a:solidFill>
                      <a:srgbClr val="1B1D36"/>
                    </a:solidFill>
                  </a:rPr>
                  <a:t>Developer</a:t>
                </a:r>
                <a:endParaRPr sz="800" b="1">
                  <a:solidFill>
                    <a:srgbClr val="1B1D36"/>
                  </a:solidFill>
                </a:endParaRPr>
              </a:p>
            </p:txBody>
          </p:sp>
          <p:sp>
            <p:nvSpPr>
              <p:cNvPr id="6420" name="Google Shape;6420;p315"/>
              <p:cNvSpPr txBox="1"/>
              <p:nvPr/>
            </p:nvSpPr>
            <p:spPr>
              <a:xfrm>
                <a:off x="11123169" y="5377889"/>
                <a:ext cx="660000" cy="307796"/>
              </a:xfrm>
              <a:prstGeom prst="rect">
                <a:avLst/>
              </a:prstGeom>
              <a:noFill/>
              <a:ln>
                <a:noFill/>
              </a:ln>
            </p:spPr>
            <p:txBody>
              <a:bodyPr spcFirstLastPara="1" wrap="square" lIns="91410" tIns="91410" rIns="91410" bIns="91410" anchor="t" anchorCtr="0">
                <a:spAutoFit/>
              </a:bodyPr>
              <a:lstStyle/>
              <a:p>
                <a:pPr algn="ctr" defTabSz="1218895">
                  <a:buClr>
                    <a:srgbClr val="1B1D36"/>
                  </a:buClr>
                  <a:buSzPts val="600"/>
                </a:pPr>
                <a:r>
                  <a:rPr lang="en" sz="800" b="1">
                    <a:solidFill>
                      <a:srgbClr val="1B1D36"/>
                    </a:solidFill>
                  </a:rPr>
                  <a:t> VI Admin</a:t>
                </a:r>
                <a:endParaRPr sz="800" b="1">
                  <a:solidFill>
                    <a:srgbClr val="1B1D36"/>
                  </a:solidFill>
                </a:endParaRPr>
              </a:p>
            </p:txBody>
          </p:sp>
          <p:pic>
            <p:nvPicPr>
              <p:cNvPr id="6421" name="Google Shape;6421;p315"/>
              <p:cNvPicPr preferRelativeResize="0"/>
              <p:nvPr/>
            </p:nvPicPr>
            <p:blipFill rotWithShape="1">
              <a:blip r:embed="rId7">
                <a:alphaModFix/>
              </a:blip>
              <a:srcRect b="39217"/>
              <a:stretch/>
            </p:blipFill>
            <p:spPr>
              <a:xfrm>
                <a:off x="11103939" y="4898238"/>
                <a:ext cx="767494" cy="474915"/>
              </a:xfrm>
              <a:prstGeom prst="rect">
                <a:avLst/>
              </a:prstGeom>
              <a:noFill/>
              <a:ln>
                <a:noFill/>
              </a:ln>
            </p:spPr>
          </p:pic>
        </p:grpSp>
      </p:grpSp>
      <p:pic>
        <p:nvPicPr>
          <p:cNvPr id="6422" name="Google Shape;6422;p315"/>
          <p:cNvPicPr preferRelativeResize="0"/>
          <p:nvPr/>
        </p:nvPicPr>
        <p:blipFill rotWithShape="1">
          <a:blip r:embed="rId7">
            <a:alphaModFix/>
          </a:blip>
          <a:srcRect b="39217"/>
          <a:stretch/>
        </p:blipFill>
        <p:spPr>
          <a:xfrm>
            <a:off x="1375504" y="1501166"/>
            <a:ext cx="767493" cy="474792"/>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Shape 6427"/>
        <p:cNvGrpSpPr/>
        <p:nvPr/>
      </p:nvGrpSpPr>
      <p:grpSpPr>
        <a:xfrm>
          <a:off x="0" y="0"/>
          <a:ext cx="0" cy="0"/>
          <a:chOff x="0" y="0"/>
          <a:chExt cx="0" cy="0"/>
        </a:xfrm>
      </p:grpSpPr>
      <p:sp>
        <p:nvSpPr>
          <p:cNvPr id="6428" name="Google Shape;6428;p316"/>
          <p:cNvSpPr/>
          <p:nvPr/>
        </p:nvSpPr>
        <p:spPr>
          <a:xfrm>
            <a:off x="8540677" y="1508833"/>
            <a:ext cx="3643051" cy="281927"/>
          </a:xfrm>
          <a:prstGeom prst="rect">
            <a:avLst/>
          </a:prstGeom>
          <a:solidFill>
            <a:schemeClr val="lt1"/>
          </a:solidFill>
          <a:ln>
            <a:noFill/>
          </a:ln>
        </p:spPr>
        <p:txBody>
          <a:bodyPr spcFirstLastPara="1" wrap="square" lIns="91376" tIns="45655" rIns="91376" bIns="45655" anchor="ctr" anchorCtr="0">
            <a:noAutofit/>
          </a:bodyPr>
          <a:lstStyle/>
          <a:p>
            <a:pPr algn="ctr" defTabSz="1218895">
              <a:buClr>
                <a:srgbClr val="FFFFFF"/>
              </a:buClr>
              <a:buSzPts val="900"/>
            </a:pPr>
            <a:endParaRPr sz="1200">
              <a:solidFill>
                <a:srgbClr val="FFFFFF"/>
              </a:solidFill>
            </a:endParaRPr>
          </a:p>
        </p:txBody>
      </p:sp>
      <p:cxnSp>
        <p:nvCxnSpPr>
          <p:cNvPr id="6429" name="Google Shape;6429;p316"/>
          <p:cNvCxnSpPr/>
          <p:nvPr/>
        </p:nvCxnSpPr>
        <p:spPr>
          <a:xfrm rot="10800000">
            <a:off x="8540603" y="1620855"/>
            <a:ext cx="3645051" cy="0"/>
          </a:xfrm>
          <a:prstGeom prst="straightConnector1">
            <a:avLst/>
          </a:prstGeom>
          <a:noFill/>
          <a:ln w="42875" cap="flat" cmpd="sng">
            <a:solidFill>
              <a:schemeClr val="accent2"/>
            </a:solidFill>
            <a:prstDash val="solid"/>
            <a:miter lim="800000"/>
            <a:headEnd type="none" w="sm" len="sm"/>
            <a:tailEnd type="none" w="sm" len="sm"/>
          </a:ln>
        </p:spPr>
      </p:cxnSp>
      <p:sp>
        <p:nvSpPr>
          <p:cNvPr id="6430" name="Google Shape;6430;p316"/>
          <p:cNvSpPr txBox="1">
            <a:spLocks noGrp="1"/>
          </p:cNvSpPr>
          <p:nvPr>
            <p:ph type="body" idx="2"/>
          </p:nvPr>
        </p:nvSpPr>
        <p:spPr>
          <a:xfrm>
            <a:off x="8403064" y="1646183"/>
            <a:ext cx="3780615" cy="4524022"/>
          </a:xfrm>
          <a:prstGeom prst="rect">
            <a:avLst/>
          </a:prstGeom>
          <a:noFill/>
          <a:ln>
            <a:noFill/>
          </a:ln>
        </p:spPr>
        <p:txBody>
          <a:bodyPr spcFirstLastPara="1" wrap="square" lIns="274262" tIns="457148" rIns="457148" bIns="457148" anchor="t" anchorCtr="0">
            <a:noAutofit/>
          </a:bodyPr>
          <a:lstStyle/>
          <a:p>
            <a:pPr marL="0" indent="0">
              <a:lnSpc>
                <a:spcPct val="115000"/>
              </a:lnSpc>
              <a:spcBef>
                <a:spcPts val="800"/>
              </a:spcBef>
              <a:buNone/>
            </a:pPr>
            <a:r>
              <a:rPr lang="en" b="1">
                <a:solidFill>
                  <a:schemeClr val="dk1"/>
                </a:solidFill>
              </a:rPr>
              <a:t>Purpose: Run, serve, and scale models.</a:t>
            </a:r>
            <a:endParaRPr b="1">
              <a:solidFill>
                <a:schemeClr val="dk1"/>
              </a:solidFill>
            </a:endParaRPr>
          </a:p>
          <a:p>
            <a:pPr marL="0" indent="0">
              <a:lnSpc>
                <a:spcPct val="115000"/>
              </a:lnSpc>
              <a:spcBef>
                <a:spcPts val="800"/>
              </a:spcBef>
              <a:buNone/>
            </a:pPr>
            <a:r>
              <a:rPr lang="en" sz="1733">
                <a:solidFill>
                  <a:schemeClr val="dk1"/>
                </a:solidFill>
              </a:rPr>
              <a:t>Users pull the model from Model Gallery into a Runtime</a:t>
            </a:r>
            <a:endParaRPr sz="1733">
              <a:solidFill>
                <a:schemeClr val="dk1"/>
              </a:solidFill>
            </a:endParaRPr>
          </a:p>
          <a:p>
            <a:pPr marL="0" indent="0">
              <a:lnSpc>
                <a:spcPct val="115000"/>
              </a:lnSpc>
              <a:spcBef>
                <a:spcPts val="800"/>
              </a:spcBef>
              <a:buNone/>
            </a:pPr>
            <a:endParaRPr sz="1733">
              <a:solidFill>
                <a:schemeClr val="dk1"/>
              </a:solidFill>
            </a:endParaRPr>
          </a:p>
          <a:p>
            <a:pPr marL="0" indent="0">
              <a:lnSpc>
                <a:spcPct val="115000"/>
              </a:lnSpc>
              <a:spcBef>
                <a:spcPts val="800"/>
              </a:spcBef>
              <a:buNone/>
            </a:pPr>
            <a:r>
              <a:rPr lang="en" sz="1733">
                <a:solidFill>
                  <a:schemeClr val="dk1"/>
                </a:solidFill>
              </a:rPr>
              <a:t>Model Endpoints serve both Completions and Embeddings models </a:t>
            </a:r>
            <a:endParaRPr sz="1733">
              <a:solidFill>
                <a:schemeClr val="dk1"/>
              </a:solidFill>
            </a:endParaRPr>
          </a:p>
          <a:p>
            <a:pPr marL="0" indent="0">
              <a:lnSpc>
                <a:spcPct val="115000"/>
              </a:lnSpc>
              <a:spcBef>
                <a:spcPts val="800"/>
              </a:spcBef>
              <a:buNone/>
            </a:pPr>
            <a:endParaRPr sz="1733">
              <a:solidFill>
                <a:schemeClr val="dk1"/>
              </a:solidFill>
            </a:endParaRPr>
          </a:p>
          <a:p>
            <a:pPr marL="0" indent="0">
              <a:lnSpc>
                <a:spcPct val="115000"/>
              </a:lnSpc>
              <a:spcBef>
                <a:spcPts val="800"/>
              </a:spcBef>
              <a:buNone/>
            </a:pPr>
            <a:r>
              <a:rPr lang="en" sz="1733">
                <a:solidFill>
                  <a:schemeClr val="dk1"/>
                </a:solidFill>
              </a:rPr>
              <a:t>Model Runtime supports popular inferencing servers (e.g. vLLM)</a:t>
            </a:r>
            <a:endParaRPr sz="1733">
              <a:solidFill>
                <a:schemeClr val="dk1"/>
              </a:solidFill>
            </a:endParaRPr>
          </a:p>
        </p:txBody>
      </p:sp>
      <p:sp>
        <p:nvSpPr>
          <p:cNvPr id="6431" name="Google Shape;6431;p316"/>
          <p:cNvSpPr txBox="1">
            <a:spLocks noGrp="1"/>
          </p:cNvSpPr>
          <p:nvPr>
            <p:ph type="title"/>
          </p:nvPr>
        </p:nvSpPr>
        <p:spPr>
          <a:xfrm>
            <a:off x="579809" y="413536"/>
            <a:ext cx="11001134" cy="381101"/>
          </a:xfrm>
          <a:prstGeom prst="rect">
            <a:avLst/>
          </a:prstGeom>
          <a:noFill/>
          <a:ln>
            <a:noFill/>
          </a:ln>
        </p:spPr>
        <p:txBody>
          <a:bodyPr spcFirstLastPara="1" wrap="square" lIns="0" tIns="0" rIns="0" bIns="0" anchor="b" anchorCtr="0">
            <a:noAutofit/>
          </a:bodyPr>
          <a:lstStyle/>
          <a:p>
            <a:r>
              <a:rPr lang="en">
                <a:solidFill>
                  <a:schemeClr val="accent2"/>
                </a:solidFill>
              </a:rPr>
              <a:t>Model Runtime supports Model Endpoints</a:t>
            </a:r>
            <a:endParaRPr/>
          </a:p>
        </p:txBody>
      </p:sp>
      <p:sp>
        <p:nvSpPr>
          <p:cNvPr id="6432" name="Google Shape;6432;p316"/>
          <p:cNvSpPr txBox="1">
            <a:spLocks noGrp="1"/>
          </p:cNvSpPr>
          <p:nvPr>
            <p:ph type="subTitle" idx="1"/>
          </p:nvPr>
        </p:nvSpPr>
        <p:spPr>
          <a:xfrm>
            <a:off x="592865" y="812512"/>
            <a:ext cx="10962744" cy="247935"/>
          </a:xfrm>
          <a:prstGeom prst="rect">
            <a:avLst/>
          </a:prstGeom>
        </p:spPr>
        <p:txBody>
          <a:bodyPr spcFirstLastPara="1" wrap="square" lIns="0" tIns="0" rIns="0" bIns="0" anchor="t" anchorCtr="0">
            <a:noAutofit/>
          </a:bodyPr>
          <a:lstStyle/>
          <a:p>
            <a:pPr marL="0" indent="0">
              <a:spcAft>
                <a:spcPts val="1200"/>
              </a:spcAft>
            </a:pPr>
            <a:r>
              <a:rPr lang="en"/>
              <a:t>Deployed as VKS Node Pools</a:t>
            </a:r>
            <a:endParaRPr/>
          </a:p>
        </p:txBody>
      </p:sp>
      <p:grpSp>
        <p:nvGrpSpPr>
          <p:cNvPr id="6433" name="Google Shape;6433;p316"/>
          <p:cNvGrpSpPr/>
          <p:nvPr/>
        </p:nvGrpSpPr>
        <p:grpSpPr>
          <a:xfrm>
            <a:off x="228073" y="1646188"/>
            <a:ext cx="8075097" cy="4524022"/>
            <a:chOff x="106675" y="1259343"/>
            <a:chExt cx="6057900" cy="3393900"/>
          </a:xfrm>
        </p:grpSpPr>
        <p:sp>
          <p:nvSpPr>
            <p:cNvPr id="6434" name="Google Shape;6434;p316"/>
            <p:cNvSpPr/>
            <p:nvPr/>
          </p:nvSpPr>
          <p:spPr>
            <a:xfrm>
              <a:off x="106675" y="1259343"/>
              <a:ext cx="6057900" cy="3393900"/>
            </a:xfrm>
            <a:prstGeom prst="rect">
              <a:avLst/>
            </a:prstGeom>
            <a:solidFill>
              <a:srgbClr val="F4F8FB"/>
            </a:solidFill>
            <a:ln>
              <a:noFill/>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cxnSp>
          <p:nvCxnSpPr>
            <p:cNvPr id="6435" name="Google Shape;6435;p316"/>
            <p:cNvCxnSpPr>
              <a:stCxn id="6436" idx="2"/>
              <a:endCxn id="6437" idx="0"/>
            </p:cNvCxnSpPr>
            <p:nvPr/>
          </p:nvCxnSpPr>
          <p:spPr>
            <a:xfrm>
              <a:off x="3036888" y="2326813"/>
              <a:ext cx="0" cy="516000"/>
            </a:xfrm>
            <a:prstGeom prst="straightConnector1">
              <a:avLst/>
            </a:prstGeom>
            <a:noFill/>
            <a:ln w="7150" cap="flat" cmpd="sng">
              <a:solidFill>
                <a:schemeClr val="accent4"/>
              </a:solidFill>
              <a:prstDash val="solid"/>
              <a:round/>
              <a:headEnd type="none" w="sm" len="sm"/>
              <a:tailEnd type="triangle" w="med" len="med"/>
            </a:ln>
          </p:spPr>
        </p:cxnSp>
        <p:grpSp>
          <p:nvGrpSpPr>
            <p:cNvPr id="6438" name="Google Shape;6438;p316"/>
            <p:cNvGrpSpPr/>
            <p:nvPr/>
          </p:nvGrpSpPr>
          <p:grpSpPr>
            <a:xfrm>
              <a:off x="1885638" y="1637713"/>
              <a:ext cx="2302500" cy="689100"/>
              <a:chOff x="1962564" y="1637713"/>
              <a:chExt cx="2302500" cy="689100"/>
            </a:xfrm>
          </p:grpSpPr>
          <p:sp>
            <p:nvSpPr>
              <p:cNvPr id="6436" name="Google Shape;6436;p316"/>
              <p:cNvSpPr/>
              <p:nvPr/>
            </p:nvSpPr>
            <p:spPr>
              <a:xfrm>
                <a:off x="1962564" y="1637713"/>
                <a:ext cx="2302500" cy="689100"/>
              </a:xfrm>
              <a:prstGeom prst="roundRect">
                <a:avLst>
                  <a:gd name="adj" fmla="val 16667"/>
                </a:avLst>
              </a:prstGeom>
              <a:noFill/>
              <a:ln w="7150" cap="flat" cmpd="sng">
                <a:solidFill>
                  <a:schemeClr val="accent5"/>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1100"/>
                </a:pPr>
                <a:endParaRPr sz="1466"/>
              </a:p>
              <a:p>
                <a:pPr algn="ctr" defTabSz="1218895">
                  <a:buSzPts val="1100"/>
                </a:pPr>
                <a:endParaRPr sz="1466"/>
              </a:p>
              <a:p>
                <a:pPr algn="ctr" defTabSz="1218895">
                  <a:buSzPts val="1100"/>
                </a:pPr>
                <a:endParaRPr sz="1200"/>
              </a:p>
              <a:p>
                <a:pPr algn="ctr" defTabSz="1218895">
                  <a:buSzPts val="1100"/>
                </a:pPr>
                <a:r>
                  <a:rPr lang="en" sz="1466"/>
                  <a:t>Models stored in Harbor</a:t>
                </a:r>
                <a:endParaRPr sz="1466"/>
              </a:p>
            </p:txBody>
          </p:sp>
          <p:sp>
            <p:nvSpPr>
              <p:cNvPr id="6439" name="Google Shape;6439;p316"/>
              <p:cNvSpPr/>
              <p:nvPr/>
            </p:nvSpPr>
            <p:spPr>
              <a:xfrm>
                <a:off x="2139250" y="1779400"/>
                <a:ext cx="261000" cy="324600"/>
              </a:xfrm>
              <a:prstGeom prst="roundRect">
                <a:avLst>
                  <a:gd name="adj" fmla="val 16667"/>
                </a:avLst>
              </a:prstGeom>
              <a:solidFill>
                <a:srgbClr val="D9D2E9"/>
              </a:solidFill>
              <a:ln>
                <a:noFill/>
              </a:ln>
            </p:spPr>
            <p:txBody>
              <a:bodyPr spcFirstLastPara="1" wrap="square" lIns="121868" tIns="121868" rIns="121868" bIns="121868" anchor="ctr" anchorCtr="0">
                <a:noAutofit/>
              </a:bodyPr>
              <a:lstStyle/>
              <a:p>
                <a:pPr algn="ctr" defTabSz="1218895"/>
                <a:endParaRPr sz="1866"/>
              </a:p>
            </p:txBody>
          </p:sp>
          <p:sp>
            <p:nvSpPr>
              <p:cNvPr id="6440" name="Google Shape;6440;p316"/>
              <p:cNvSpPr/>
              <p:nvPr/>
            </p:nvSpPr>
            <p:spPr>
              <a:xfrm>
                <a:off x="2461000" y="1779400"/>
                <a:ext cx="261000" cy="324600"/>
              </a:xfrm>
              <a:prstGeom prst="roundRect">
                <a:avLst>
                  <a:gd name="adj" fmla="val 16667"/>
                </a:avLst>
              </a:prstGeom>
              <a:solidFill>
                <a:srgbClr val="D9D2E9"/>
              </a:solidFill>
              <a:ln>
                <a:noFill/>
              </a:ln>
            </p:spPr>
            <p:txBody>
              <a:bodyPr spcFirstLastPara="1" wrap="square" lIns="121868" tIns="121868" rIns="121868" bIns="121868" anchor="ctr" anchorCtr="0">
                <a:noAutofit/>
              </a:bodyPr>
              <a:lstStyle/>
              <a:p>
                <a:pPr algn="ctr" defTabSz="1218895"/>
                <a:endParaRPr sz="1866"/>
              </a:p>
            </p:txBody>
          </p:sp>
          <p:sp>
            <p:nvSpPr>
              <p:cNvPr id="6441" name="Google Shape;6441;p316"/>
              <p:cNvSpPr/>
              <p:nvPr/>
            </p:nvSpPr>
            <p:spPr>
              <a:xfrm>
                <a:off x="2782750" y="1779400"/>
                <a:ext cx="261000" cy="324600"/>
              </a:xfrm>
              <a:prstGeom prst="roundRect">
                <a:avLst>
                  <a:gd name="adj" fmla="val 16667"/>
                </a:avLst>
              </a:prstGeom>
              <a:solidFill>
                <a:srgbClr val="D9D2E9"/>
              </a:solidFill>
              <a:ln>
                <a:noFill/>
              </a:ln>
            </p:spPr>
            <p:txBody>
              <a:bodyPr spcFirstLastPara="1" wrap="square" lIns="121868" tIns="121868" rIns="121868" bIns="121868" anchor="ctr" anchorCtr="0">
                <a:noAutofit/>
              </a:bodyPr>
              <a:lstStyle/>
              <a:p>
                <a:pPr algn="ctr" defTabSz="1218895"/>
                <a:endParaRPr sz="1866"/>
              </a:p>
            </p:txBody>
          </p:sp>
          <p:sp>
            <p:nvSpPr>
              <p:cNvPr id="6442" name="Google Shape;6442;p316"/>
              <p:cNvSpPr/>
              <p:nvPr/>
            </p:nvSpPr>
            <p:spPr>
              <a:xfrm>
                <a:off x="3104500" y="1779400"/>
                <a:ext cx="261000" cy="324600"/>
              </a:xfrm>
              <a:prstGeom prst="roundRect">
                <a:avLst>
                  <a:gd name="adj" fmla="val 16667"/>
                </a:avLst>
              </a:prstGeom>
              <a:solidFill>
                <a:srgbClr val="D9D2E9"/>
              </a:solidFill>
              <a:ln>
                <a:noFill/>
              </a:ln>
            </p:spPr>
            <p:txBody>
              <a:bodyPr spcFirstLastPara="1" wrap="square" lIns="121868" tIns="121868" rIns="121868" bIns="121868" anchor="ctr" anchorCtr="0">
                <a:noAutofit/>
              </a:bodyPr>
              <a:lstStyle/>
              <a:p>
                <a:pPr algn="ctr" defTabSz="1218895"/>
                <a:endParaRPr sz="1866"/>
              </a:p>
            </p:txBody>
          </p:sp>
          <p:sp>
            <p:nvSpPr>
              <p:cNvPr id="6443" name="Google Shape;6443;p316"/>
              <p:cNvSpPr/>
              <p:nvPr/>
            </p:nvSpPr>
            <p:spPr>
              <a:xfrm>
                <a:off x="3426250" y="1779400"/>
                <a:ext cx="261000" cy="324600"/>
              </a:xfrm>
              <a:prstGeom prst="roundRect">
                <a:avLst>
                  <a:gd name="adj" fmla="val 16667"/>
                </a:avLst>
              </a:prstGeom>
              <a:solidFill>
                <a:srgbClr val="D9D2E9"/>
              </a:solidFill>
              <a:ln>
                <a:noFill/>
              </a:ln>
            </p:spPr>
            <p:txBody>
              <a:bodyPr spcFirstLastPara="1" wrap="square" lIns="121868" tIns="121868" rIns="121868" bIns="121868" anchor="ctr" anchorCtr="0">
                <a:noAutofit/>
              </a:bodyPr>
              <a:lstStyle/>
              <a:p>
                <a:pPr algn="ctr" defTabSz="1218895"/>
                <a:endParaRPr sz="1866"/>
              </a:p>
            </p:txBody>
          </p:sp>
          <p:sp>
            <p:nvSpPr>
              <p:cNvPr id="6444" name="Google Shape;6444;p316"/>
              <p:cNvSpPr/>
              <p:nvPr/>
            </p:nvSpPr>
            <p:spPr>
              <a:xfrm>
                <a:off x="3748000" y="1779400"/>
                <a:ext cx="261000" cy="324600"/>
              </a:xfrm>
              <a:prstGeom prst="roundRect">
                <a:avLst>
                  <a:gd name="adj" fmla="val 16667"/>
                </a:avLst>
              </a:prstGeom>
              <a:solidFill>
                <a:srgbClr val="D9D2E9"/>
              </a:solidFill>
              <a:ln>
                <a:noFill/>
              </a:ln>
            </p:spPr>
            <p:txBody>
              <a:bodyPr spcFirstLastPara="1" wrap="square" lIns="121868" tIns="121868" rIns="121868" bIns="121868" anchor="ctr" anchorCtr="0">
                <a:noAutofit/>
              </a:bodyPr>
              <a:lstStyle/>
              <a:p>
                <a:pPr algn="ctr" defTabSz="1218895"/>
                <a:endParaRPr sz="1866"/>
              </a:p>
            </p:txBody>
          </p:sp>
        </p:grpSp>
        <p:grpSp>
          <p:nvGrpSpPr>
            <p:cNvPr id="6445" name="Google Shape;6445;p316"/>
            <p:cNvGrpSpPr/>
            <p:nvPr/>
          </p:nvGrpSpPr>
          <p:grpSpPr>
            <a:xfrm>
              <a:off x="1444488" y="2842700"/>
              <a:ext cx="3184800" cy="1348675"/>
              <a:chOff x="1444488" y="2842700"/>
              <a:chExt cx="3184800" cy="1348675"/>
            </a:xfrm>
          </p:grpSpPr>
          <p:sp>
            <p:nvSpPr>
              <p:cNvPr id="6437" name="Google Shape;6437;p316"/>
              <p:cNvSpPr/>
              <p:nvPr/>
            </p:nvSpPr>
            <p:spPr>
              <a:xfrm>
                <a:off x="1444488" y="2842700"/>
                <a:ext cx="3184800" cy="1041000"/>
              </a:xfrm>
              <a:prstGeom prst="roundRect">
                <a:avLst>
                  <a:gd name="adj" fmla="val 16667"/>
                </a:avLst>
              </a:prstGeom>
              <a:noFill/>
              <a:ln w="7150" cap="flat" cmpd="sng">
                <a:solidFill>
                  <a:schemeClr val="accent1"/>
                </a:solidFill>
                <a:prstDash val="solid"/>
                <a:round/>
                <a:headEnd type="none" w="sm" len="sm"/>
                <a:tailEnd type="none" w="sm" len="sm"/>
              </a:ln>
            </p:spPr>
            <p:txBody>
              <a:bodyPr spcFirstLastPara="1" wrap="square" lIns="91410" tIns="91410" rIns="91410" bIns="91410" anchor="ctr" anchorCtr="0">
                <a:noAutofit/>
              </a:bodyPr>
              <a:lstStyle/>
              <a:p>
                <a:pPr algn="ctr" defTabSz="1218895">
                  <a:buSzPts val="1100"/>
                </a:pPr>
                <a:endParaRPr sz="1466">
                  <a:latin typeface="Roboto"/>
                  <a:ea typeface="Roboto"/>
                  <a:cs typeface="Roboto"/>
                  <a:sym typeface="Roboto"/>
                </a:endParaRPr>
              </a:p>
            </p:txBody>
          </p:sp>
          <p:sp>
            <p:nvSpPr>
              <p:cNvPr id="6446" name="Google Shape;6446;p316"/>
              <p:cNvSpPr txBox="1"/>
              <p:nvPr/>
            </p:nvSpPr>
            <p:spPr>
              <a:xfrm>
                <a:off x="1947759" y="3883575"/>
                <a:ext cx="2178300" cy="307800"/>
              </a:xfrm>
              <a:prstGeom prst="rect">
                <a:avLst/>
              </a:prstGeom>
              <a:noFill/>
              <a:ln>
                <a:noFill/>
              </a:ln>
            </p:spPr>
            <p:txBody>
              <a:bodyPr spcFirstLastPara="1" wrap="square" lIns="91410" tIns="91410" rIns="91410" bIns="91410" anchor="ctr" anchorCtr="0">
                <a:noAutofit/>
              </a:bodyPr>
              <a:lstStyle/>
              <a:p>
                <a:pPr algn="ctr" defTabSz="1218895">
                  <a:buSzPts val="1100"/>
                </a:pPr>
                <a:r>
                  <a:rPr lang="en" sz="1466"/>
                  <a:t>VKS Cluster Nodes With GPU</a:t>
                </a:r>
                <a:endParaRPr sz="1466"/>
              </a:p>
            </p:txBody>
          </p:sp>
          <p:grpSp>
            <p:nvGrpSpPr>
              <p:cNvPr id="6447" name="Google Shape;6447;p316"/>
              <p:cNvGrpSpPr/>
              <p:nvPr/>
            </p:nvGrpSpPr>
            <p:grpSpPr>
              <a:xfrm>
                <a:off x="1540563" y="2989544"/>
                <a:ext cx="2992649" cy="747313"/>
                <a:chOff x="1367526" y="2946163"/>
                <a:chExt cx="2992649" cy="747313"/>
              </a:xfrm>
            </p:grpSpPr>
            <p:sp>
              <p:nvSpPr>
                <p:cNvPr id="6448" name="Google Shape;6448;p316"/>
                <p:cNvSpPr/>
                <p:nvPr/>
              </p:nvSpPr>
              <p:spPr>
                <a:xfrm>
                  <a:off x="1367526" y="2946163"/>
                  <a:ext cx="1439400" cy="747300"/>
                </a:xfrm>
                <a:prstGeom prst="roundRect">
                  <a:avLst>
                    <a:gd name="adj" fmla="val 16667"/>
                  </a:avLst>
                </a:prstGeom>
                <a:solidFill>
                  <a:srgbClr val="D0E0E3"/>
                </a:solidFill>
                <a:ln>
                  <a:noFill/>
                </a:ln>
              </p:spPr>
              <p:txBody>
                <a:bodyPr spcFirstLastPara="1" wrap="square" lIns="91410" tIns="91410" rIns="91410" bIns="91410" anchor="ctr" anchorCtr="0">
                  <a:noAutofit/>
                </a:bodyPr>
                <a:lstStyle/>
                <a:p>
                  <a:pPr algn="ctr" defTabSz="1218895">
                    <a:buSzPts val="1100"/>
                  </a:pPr>
                  <a:endParaRPr sz="1466"/>
                </a:p>
                <a:p>
                  <a:pPr algn="ctr" defTabSz="1218895">
                    <a:buSzPts val="1100"/>
                  </a:pPr>
                  <a:endParaRPr sz="1466"/>
                </a:p>
                <a:p>
                  <a:pPr algn="ctr" defTabSz="1218895">
                    <a:buSzPts val="1100"/>
                  </a:pPr>
                  <a:endParaRPr sz="1466"/>
                </a:p>
                <a:p>
                  <a:pPr algn="ctr" defTabSz="1218895">
                    <a:buSzPts val="1100"/>
                  </a:pPr>
                  <a:r>
                    <a:rPr lang="en" sz="1466"/>
                    <a:t>Nodepool 1</a:t>
                  </a:r>
                  <a:endParaRPr sz="1466"/>
                </a:p>
              </p:txBody>
            </p:sp>
            <p:sp>
              <p:nvSpPr>
                <p:cNvPr id="6449" name="Google Shape;6449;p316"/>
                <p:cNvSpPr/>
                <p:nvPr/>
              </p:nvSpPr>
              <p:spPr>
                <a:xfrm>
                  <a:off x="1513925" y="3108325"/>
                  <a:ext cx="1146600" cy="324600"/>
                </a:xfrm>
                <a:prstGeom prst="roundRect">
                  <a:avLst>
                    <a:gd name="adj" fmla="val 16667"/>
                  </a:avLst>
                </a:prstGeom>
                <a:solidFill>
                  <a:srgbClr val="76A5AF"/>
                </a:solidFill>
                <a:ln>
                  <a:noFill/>
                </a:ln>
              </p:spPr>
              <p:txBody>
                <a:bodyPr spcFirstLastPara="1" wrap="square" lIns="121868" tIns="121868" rIns="121868" bIns="121868" anchor="ctr" anchorCtr="0">
                  <a:noAutofit/>
                </a:bodyPr>
                <a:lstStyle/>
                <a:p>
                  <a:pPr algn="ctr" defTabSz="1218895"/>
                  <a:r>
                    <a:rPr lang="en" sz="1200"/>
                    <a:t>Model Endpoint 1</a:t>
                  </a:r>
                  <a:endParaRPr sz="1200"/>
                </a:p>
              </p:txBody>
            </p:sp>
            <p:sp>
              <p:nvSpPr>
                <p:cNvPr id="6450" name="Google Shape;6450;p316"/>
                <p:cNvSpPr/>
                <p:nvPr/>
              </p:nvSpPr>
              <p:spPr>
                <a:xfrm>
                  <a:off x="2920775" y="2946175"/>
                  <a:ext cx="1439400" cy="747300"/>
                </a:xfrm>
                <a:prstGeom prst="roundRect">
                  <a:avLst>
                    <a:gd name="adj" fmla="val 16667"/>
                  </a:avLst>
                </a:prstGeom>
                <a:solidFill>
                  <a:srgbClr val="D0E0E3"/>
                </a:solidFill>
                <a:ln>
                  <a:noFill/>
                </a:ln>
              </p:spPr>
              <p:txBody>
                <a:bodyPr spcFirstLastPara="1" wrap="square" lIns="91410" tIns="91410" rIns="91410" bIns="91410" anchor="ctr" anchorCtr="0">
                  <a:noAutofit/>
                </a:bodyPr>
                <a:lstStyle/>
                <a:p>
                  <a:pPr algn="ctr" defTabSz="1218895">
                    <a:buSzPts val="1100"/>
                  </a:pPr>
                  <a:endParaRPr sz="1466"/>
                </a:p>
                <a:p>
                  <a:pPr algn="ctr" defTabSz="1218895">
                    <a:buSzPts val="1100"/>
                  </a:pPr>
                  <a:endParaRPr sz="1466"/>
                </a:p>
                <a:p>
                  <a:pPr algn="ctr" defTabSz="1218895">
                    <a:buSzPts val="1100"/>
                  </a:pPr>
                  <a:endParaRPr sz="1466"/>
                </a:p>
                <a:p>
                  <a:pPr algn="ctr" defTabSz="1218895">
                    <a:buSzPts val="1100"/>
                  </a:pPr>
                  <a:r>
                    <a:rPr lang="en" sz="1466"/>
                    <a:t>Nodepool 2</a:t>
                  </a:r>
                  <a:endParaRPr sz="1466"/>
                </a:p>
              </p:txBody>
            </p:sp>
            <p:sp>
              <p:nvSpPr>
                <p:cNvPr id="6451" name="Google Shape;6451;p316"/>
                <p:cNvSpPr/>
                <p:nvPr/>
              </p:nvSpPr>
              <p:spPr>
                <a:xfrm>
                  <a:off x="3067175" y="3108325"/>
                  <a:ext cx="1146600" cy="324600"/>
                </a:xfrm>
                <a:prstGeom prst="roundRect">
                  <a:avLst>
                    <a:gd name="adj" fmla="val 16667"/>
                  </a:avLst>
                </a:prstGeom>
                <a:solidFill>
                  <a:srgbClr val="76A5AF"/>
                </a:solidFill>
                <a:ln>
                  <a:noFill/>
                </a:ln>
              </p:spPr>
              <p:txBody>
                <a:bodyPr spcFirstLastPara="1" wrap="square" lIns="121868" tIns="121868" rIns="121868" bIns="121868" anchor="ctr" anchorCtr="0">
                  <a:noAutofit/>
                </a:bodyPr>
                <a:lstStyle/>
                <a:p>
                  <a:pPr algn="ctr" defTabSz="1218895"/>
                  <a:r>
                    <a:rPr lang="en" sz="1200"/>
                    <a:t>Model Endpoint 2</a:t>
                  </a:r>
                  <a:endParaRPr sz="1866"/>
                </a:p>
              </p:txBody>
            </p:sp>
          </p:grpSp>
        </p:gr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Shape 6456"/>
        <p:cNvGrpSpPr/>
        <p:nvPr/>
      </p:nvGrpSpPr>
      <p:grpSpPr>
        <a:xfrm>
          <a:off x="0" y="0"/>
          <a:ext cx="0" cy="0"/>
          <a:chOff x="0" y="0"/>
          <a:chExt cx="0" cy="0"/>
        </a:xfrm>
      </p:grpSpPr>
      <p:sp>
        <p:nvSpPr>
          <p:cNvPr id="6457" name="Google Shape;6457;p317"/>
          <p:cNvSpPr txBox="1">
            <a:spLocks noGrp="1"/>
          </p:cNvSpPr>
          <p:nvPr>
            <p:ph type="body" idx="2"/>
          </p:nvPr>
        </p:nvSpPr>
        <p:spPr>
          <a:xfrm>
            <a:off x="8069098" y="1251667"/>
            <a:ext cx="3438304" cy="864175"/>
          </a:xfrm>
          <a:prstGeom prst="rect">
            <a:avLst/>
          </a:prstGeom>
          <a:noFill/>
          <a:ln>
            <a:noFill/>
          </a:ln>
        </p:spPr>
        <p:txBody>
          <a:bodyPr spcFirstLastPara="1" wrap="square" lIns="0" tIns="0" rIns="0" bIns="0" anchor="b" anchorCtr="0">
            <a:noAutofit/>
          </a:bodyPr>
          <a:lstStyle/>
          <a:p>
            <a:pPr marL="0" indent="0"/>
            <a:r>
              <a:rPr lang="en"/>
              <a:t>Unlock the full value of your internal documents</a:t>
            </a:r>
            <a:endParaRPr/>
          </a:p>
          <a:p>
            <a:pPr marL="0" indent="0"/>
            <a:endParaRPr/>
          </a:p>
        </p:txBody>
      </p:sp>
      <p:sp>
        <p:nvSpPr>
          <p:cNvPr id="6458" name="Google Shape;6458;p317"/>
          <p:cNvSpPr txBox="1">
            <a:spLocks noGrp="1"/>
          </p:cNvSpPr>
          <p:nvPr>
            <p:ph type="body" idx="3"/>
          </p:nvPr>
        </p:nvSpPr>
        <p:spPr>
          <a:xfrm>
            <a:off x="8069097" y="1989408"/>
            <a:ext cx="3921379" cy="4717171"/>
          </a:xfrm>
          <a:prstGeom prst="rect">
            <a:avLst/>
          </a:prstGeom>
          <a:noFill/>
          <a:ln>
            <a:noFill/>
          </a:ln>
        </p:spPr>
        <p:txBody>
          <a:bodyPr spcFirstLastPara="1" wrap="square" lIns="0" tIns="0" rIns="0" bIns="0" anchor="t" anchorCtr="0">
            <a:noAutofit/>
          </a:bodyPr>
          <a:lstStyle/>
          <a:p>
            <a:pPr marL="0" indent="0">
              <a:buNone/>
            </a:pPr>
            <a:r>
              <a:rPr lang="en" sz="1733"/>
              <a:t>Data Indexing and Retrieval Service can use content from various data sources such as Sharepoint, Confluence, Google Workspace, S3-compatible Object Stores, etc. for building knowledge bases</a:t>
            </a:r>
            <a:endParaRPr sz="1733"/>
          </a:p>
          <a:p>
            <a:pPr marL="0" indent="0">
              <a:buNone/>
            </a:pPr>
            <a:endParaRPr sz="1733"/>
          </a:p>
          <a:p>
            <a:pPr marL="0" indent="0">
              <a:buNone/>
            </a:pPr>
            <a:r>
              <a:rPr lang="en" sz="1733"/>
              <a:t>The data in the data sources is fetched, crawled, and indexed to generate the metadata and text chunks</a:t>
            </a:r>
            <a:endParaRPr sz="1733"/>
          </a:p>
          <a:p>
            <a:pPr marL="0" indent="0">
              <a:buNone/>
            </a:pPr>
            <a:endParaRPr sz="1733"/>
          </a:p>
          <a:p>
            <a:pPr marL="0" indent="0">
              <a:buNone/>
            </a:pPr>
            <a:r>
              <a:rPr lang="en" sz="1733"/>
              <a:t>The metadata is stored in the SQL database while text chunks and their corresponding embeddings (after being processed by the embeddings model) are stored in Vector database</a:t>
            </a:r>
            <a:endParaRPr sz="1733"/>
          </a:p>
          <a:p>
            <a:pPr marL="457086" indent="-220078">
              <a:buNone/>
            </a:pPr>
            <a:endParaRPr sz="1733"/>
          </a:p>
        </p:txBody>
      </p:sp>
      <p:sp>
        <p:nvSpPr>
          <p:cNvPr id="6459" name="Google Shape;6459;p317"/>
          <p:cNvSpPr txBox="1">
            <a:spLocks noGrp="1"/>
          </p:cNvSpPr>
          <p:nvPr>
            <p:ph type="title"/>
          </p:nvPr>
        </p:nvSpPr>
        <p:spPr>
          <a:xfrm>
            <a:off x="581246" y="414322"/>
            <a:ext cx="5307817" cy="381101"/>
          </a:xfrm>
          <a:prstGeom prst="rect">
            <a:avLst/>
          </a:prstGeom>
          <a:noFill/>
          <a:ln>
            <a:noFill/>
          </a:ln>
        </p:spPr>
        <p:txBody>
          <a:bodyPr spcFirstLastPara="1" wrap="square" lIns="0" tIns="0" rIns="0" bIns="0" anchor="b" anchorCtr="0">
            <a:noAutofit/>
          </a:bodyPr>
          <a:lstStyle/>
          <a:p>
            <a:pPr>
              <a:buSzPts val="2000"/>
            </a:pPr>
            <a:r>
              <a:rPr lang="en"/>
              <a:t>Data Indexing &amp; Retrieval</a:t>
            </a:r>
            <a:endParaRPr/>
          </a:p>
        </p:txBody>
      </p:sp>
      <p:sp>
        <p:nvSpPr>
          <p:cNvPr id="6460" name="Google Shape;6460;p317"/>
          <p:cNvSpPr txBox="1">
            <a:spLocks noGrp="1"/>
          </p:cNvSpPr>
          <p:nvPr>
            <p:ph type="subTitle" idx="1"/>
          </p:nvPr>
        </p:nvSpPr>
        <p:spPr>
          <a:xfrm>
            <a:off x="594299" y="813194"/>
            <a:ext cx="5301419" cy="247935"/>
          </a:xfrm>
          <a:prstGeom prst="rect">
            <a:avLst/>
          </a:prstGeom>
          <a:noFill/>
          <a:ln>
            <a:noFill/>
          </a:ln>
        </p:spPr>
        <p:txBody>
          <a:bodyPr spcFirstLastPara="1" wrap="square" lIns="0" tIns="0" rIns="0" bIns="0" anchor="t" anchorCtr="0">
            <a:noAutofit/>
          </a:bodyPr>
          <a:lstStyle/>
          <a:p>
            <a:pPr marL="0" indent="0"/>
            <a:r>
              <a:rPr lang="en"/>
              <a:t>Building comprehensive knowledge bases</a:t>
            </a:r>
            <a:endParaRPr/>
          </a:p>
        </p:txBody>
      </p:sp>
      <p:grpSp>
        <p:nvGrpSpPr>
          <p:cNvPr id="6461" name="Google Shape;6461;p317"/>
          <p:cNvGrpSpPr/>
          <p:nvPr/>
        </p:nvGrpSpPr>
        <p:grpSpPr>
          <a:xfrm>
            <a:off x="99307" y="1845813"/>
            <a:ext cx="7418265" cy="3368655"/>
            <a:chOff x="74500" y="1384050"/>
            <a:chExt cx="5565148" cy="2527149"/>
          </a:xfrm>
        </p:grpSpPr>
        <p:pic>
          <p:nvPicPr>
            <p:cNvPr id="6462" name="Google Shape;6462;p317"/>
            <p:cNvPicPr preferRelativeResize="0"/>
            <p:nvPr/>
          </p:nvPicPr>
          <p:blipFill>
            <a:blip r:embed="rId3">
              <a:alphaModFix/>
            </a:blip>
            <a:stretch>
              <a:fillRect/>
            </a:stretch>
          </p:blipFill>
          <p:spPr>
            <a:xfrm>
              <a:off x="74500" y="1384050"/>
              <a:ext cx="5565148" cy="2527149"/>
            </a:xfrm>
            <a:prstGeom prst="rect">
              <a:avLst/>
            </a:prstGeom>
            <a:noFill/>
            <a:ln>
              <a:noFill/>
            </a:ln>
          </p:spPr>
        </p:pic>
        <p:sp>
          <p:nvSpPr>
            <p:cNvPr id="6463" name="Google Shape;6463;p317"/>
            <p:cNvSpPr/>
            <p:nvPr/>
          </p:nvSpPr>
          <p:spPr>
            <a:xfrm>
              <a:off x="275750" y="2719269"/>
              <a:ext cx="360800" cy="115550"/>
            </a:xfrm>
            <a:prstGeom prst="flowChartPunchedTape">
              <a:avLst/>
            </a:prstGeom>
            <a:solidFill>
              <a:srgbClr val="6C4B94"/>
            </a:solidFill>
            <a:ln w="25400" cap="flat" cmpd="sng">
              <a:solidFill>
                <a:srgbClr val="6C4B94"/>
              </a:solidFill>
              <a:prstDash val="solid"/>
              <a:round/>
              <a:headEnd type="none" w="sm" len="sm"/>
              <a:tailEnd type="none" w="sm" len="sm"/>
            </a:ln>
          </p:spPr>
          <p:txBody>
            <a:bodyPr spcFirstLastPara="1" wrap="square" lIns="121868" tIns="60917" rIns="121868" bIns="60917" anchor="ctr" anchorCtr="0">
              <a:noAutofit/>
            </a:bodyPr>
            <a:lstStyle/>
            <a:p>
              <a:pPr algn="ctr" defTabSz="1218895"/>
              <a:r>
                <a:rPr lang="en" sz="800">
                  <a:solidFill>
                    <a:srgbClr val="FFFFFF"/>
                  </a:solidFill>
                </a:rPr>
                <a:t>New</a:t>
              </a:r>
              <a:endParaRPr sz="800"/>
            </a:p>
          </p:txBody>
        </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Shape 6468"/>
        <p:cNvGrpSpPr/>
        <p:nvPr/>
      </p:nvGrpSpPr>
      <p:grpSpPr>
        <a:xfrm>
          <a:off x="0" y="0"/>
          <a:ext cx="0" cy="0"/>
          <a:chOff x="0" y="0"/>
          <a:chExt cx="0" cy="0"/>
        </a:xfrm>
      </p:grpSpPr>
      <p:sp>
        <p:nvSpPr>
          <p:cNvPr id="6469" name="Google Shape;6469;p318"/>
          <p:cNvSpPr/>
          <p:nvPr/>
        </p:nvSpPr>
        <p:spPr>
          <a:xfrm>
            <a:off x="4081316" y="1671712"/>
            <a:ext cx="8109488" cy="4588805"/>
          </a:xfrm>
          <a:prstGeom prst="roundRect">
            <a:avLst>
              <a:gd name="adj" fmla="val 0"/>
            </a:avLst>
          </a:prstGeom>
          <a:solidFill>
            <a:srgbClr val="F4F8FA"/>
          </a:solidFill>
          <a:ln>
            <a:noFill/>
          </a:ln>
        </p:spPr>
        <p:txBody>
          <a:bodyPr spcFirstLastPara="1" wrap="square" lIns="91276" tIns="45655" rIns="91276" bIns="45655" anchor="ctr" anchorCtr="0">
            <a:noAutofit/>
          </a:bodyPr>
          <a:lstStyle/>
          <a:p>
            <a:pPr algn="ctr" defTabSz="1218895">
              <a:buClr>
                <a:srgbClr val="FFFFFF"/>
              </a:buClr>
              <a:buSzPts val="900"/>
            </a:pPr>
            <a:endParaRPr sz="1200">
              <a:solidFill>
                <a:srgbClr val="FFFFFF"/>
              </a:solidFill>
            </a:endParaRPr>
          </a:p>
        </p:txBody>
      </p:sp>
      <p:sp>
        <p:nvSpPr>
          <p:cNvPr id="6470" name="Google Shape;6470;p318"/>
          <p:cNvSpPr/>
          <p:nvPr/>
        </p:nvSpPr>
        <p:spPr>
          <a:xfrm>
            <a:off x="4402701" y="2205316"/>
            <a:ext cx="7272106" cy="3673843"/>
          </a:xfrm>
          <a:prstGeom prst="roundRect">
            <a:avLst>
              <a:gd name="adj" fmla="val 2554"/>
            </a:avLst>
          </a:prstGeom>
          <a:solidFill>
            <a:schemeClr val="lt1"/>
          </a:solidFill>
          <a:ln w="9525" cap="flat" cmpd="sng">
            <a:solidFill>
              <a:srgbClr val="777777"/>
            </a:solidFill>
            <a:prstDash val="solid"/>
            <a:round/>
            <a:headEnd type="none" w="sm" len="sm"/>
            <a:tailEnd type="none" w="sm" len="sm"/>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sp>
        <p:nvSpPr>
          <p:cNvPr id="6471" name="Google Shape;6471;p318"/>
          <p:cNvSpPr txBox="1"/>
          <p:nvPr/>
        </p:nvSpPr>
        <p:spPr>
          <a:xfrm>
            <a:off x="581244" y="414321"/>
            <a:ext cx="10997935" cy="381101"/>
          </a:xfrm>
          <a:prstGeom prst="rect">
            <a:avLst/>
          </a:prstGeom>
          <a:noFill/>
          <a:ln>
            <a:noFill/>
          </a:ln>
        </p:spPr>
        <p:txBody>
          <a:bodyPr spcFirstLastPara="1" wrap="square" lIns="0" tIns="0" rIns="0" bIns="0" anchor="b" anchorCtr="0">
            <a:noAutofit/>
          </a:bodyPr>
          <a:lstStyle/>
          <a:p>
            <a:pPr defTabSz="1218895">
              <a:lnSpc>
                <a:spcPct val="90000"/>
              </a:lnSpc>
              <a:buClr>
                <a:srgbClr val="005C8A"/>
              </a:buClr>
              <a:buSzPts val="2100"/>
            </a:pPr>
            <a:r>
              <a:rPr lang="en" sz="2799">
                <a:solidFill>
                  <a:srgbClr val="005C8A"/>
                </a:solidFill>
              </a:rPr>
              <a:t>VCF Private AI Services</a:t>
            </a:r>
            <a:endParaRPr sz="1466"/>
          </a:p>
        </p:txBody>
      </p:sp>
      <p:sp>
        <p:nvSpPr>
          <p:cNvPr id="6472" name="Google Shape;6472;p318"/>
          <p:cNvSpPr txBox="1"/>
          <p:nvPr/>
        </p:nvSpPr>
        <p:spPr>
          <a:xfrm>
            <a:off x="594301" y="813196"/>
            <a:ext cx="10959945" cy="307520"/>
          </a:xfrm>
          <a:prstGeom prst="rect">
            <a:avLst/>
          </a:prstGeom>
          <a:noFill/>
          <a:ln>
            <a:noFill/>
          </a:ln>
        </p:spPr>
        <p:txBody>
          <a:bodyPr spcFirstLastPara="1" wrap="square" lIns="0" tIns="0" rIns="0" bIns="0" anchor="t" anchorCtr="0">
            <a:noAutofit/>
          </a:bodyPr>
          <a:lstStyle/>
          <a:p>
            <a:pPr defTabSz="1218895">
              <a:buClr>
                <a:srgbClr val="666666"/>
              </a:buClr>
              <a:buSzPts val="1300"/>
            </a:pPr>
            <a:r>
              <a:rPr lang="en" sz="2000"/>
              <a:t>Deployment Guidance for Retrieval Augmented Generation</a:t>
            </a:r>
            <a:endParaRPr sz="1466"/>
          </a:p>
        </p:txBody>
      </p:sp>
      <p:cxnSp>
        <p:nvCxnSpPr>
          <p:cNvPr id="6473" name="Google Shape;6473;p318"/>
          <p:cNvCxnSpPr/>
          <p:nvPr/>
        </p:nvCxnSpPr>
        <p:spPr>
          <a:xfrm rot="10800000">
            <a:off x="13173" y="1620855"/>
            <a:ext cx="3645051" cy="0"/>
          </a:xfrm>
          <a:prstGeom prst="straightConnector1">
            <a:avLst/>
          </a:prstGeom>
          <a:noFill/>
          <a:ln w="42875" cap="flat" cmpd="sng">
            <a:solidFill>
              <a:schemeClr val="accent2"/>
            </a:solidFill>
            <a:prstDash val="solid"/>
            <a:miter lim="800000"/>
            <a:headEnd type="none" w="sm" len="sm"/>
            <a:tailEnd type="none" w="sm" len="sm"/>
          </a:ln>
        </p:spPr>
      </p:cxnSp>
      <p:sp>
        <p:nvSpPr>
          <p:cNvPr id="6474" name="Google Shape;6474;p318"/>
          <p:cNvSpPr txBox="1"/>
          <p:nvPr/>
        </p:nvSpPr>
        <p:spPr>
          <a:xfrm>
            <a:off x="413662" y="1914977"/>
            <a:ext cx="3329533" cy="4076538"/>
          </a:xfrm>
          <a:prstGeom prst="rect">
            <a:avLst/>
          </a:prstGeom>
          <a:noFill/>
          <a:ln>
            <a:noFill/>
          </a:ln>
        </p:spPr>
        <p:txBody>
          <a:bodyPr spcFirstLastPara="1" wrap="square" lIns="91410" tIns="45688" rIns="91410" bIns="45688" anchor="t" anchorCtr="0">
            <a:noAutofit/>
          </a:bodyPr>
          <a:lstStyle/>
          <a:p>
            <a:pPr defTabSz="1218895">
              <a:buClr>
                <a:srgbClr val="666666"/>
              </a:buClr>
              <a:buSzPts val="1200"/>
            </a:pPr>
            <a:r>
              <a:rPr lang="en" sz="1866"/>
              <a:t>Overview</a:t>
            </a:r>
            <a:endParaRPr sz="1466"/>
          </a:p>
          <a:p>
            <a:pPr defTabSz="1218895">
              <a:spcBef>
                <a:spcPts val="933"/>
              </a:spcBef>
              <a:buClr>
                <a:srgbClr val="1B1E35"/>
              </a:buClr>
              <a:buSzPts val="1100"/>
            </a:pPr>
            <a:r>
              <a:rPr lang="en" sz="1600">
                <a:solidFill>
                  <a:srgbClr val="005C8A"/>
                </a:solidFill>
              </a:rPr>
              <a:t>VCF Admins can utilize VMware Data Services Manager to deploy a vector database using </a:t>
            </a:r>
            <a:r>
              <a:rPr lang="en" sz="1600"/>
              <a:t>PostgreSQL</a:t>
            </a:r>
            <a:r>
              <a:rPr lang="en" sz="1600">
                <a:solidFill>
                  <a:srgbClr val="005C8A"/>
                </a:solidFill>
              </a:rPr>
              <a:t> and </a:t>
            </a:r>
            <a:r>
              <a:rPr lang="en" sz="1600"/>
              <a:t>pgvector</a:t>
            </a:r>
            <a:endParaRPr sz="1600"/>
          </a:p>
          <a:p>
            <a:pPr defTabSz="1218895">
              <a:spcBef>
                <a:spcPts val="933"/>
              </a:spcBef>
              <a:buClr>
                <a:srgbClr val="1B1E35"/>
              </a:buClr>
              <a:buSzPts val="1100"/>
            </a:pPr>
            <a:endParaRPr sz="1600">
              <a:solidFill>
                <a:srgbClr val="005C8A"/>
              </a:solidFill>
            </a:endParaRPr>
          </a:p>
          <a:p>
            <a:pPr defTabSz="1218895">
              <a:spcBef>
                <a:spcPts val="933"/>
              </a:spcBef>
              <a:buClr>
                <a:srgbClr val="1B1E35"/>
              </a:buClr>
              <a:buSzPts val="1100"/>
            </a:pPr>
            <a:r>
              <a:rPr lang="en" sz="1600"/>
              <a:t>pgvector</a:t>
            </a:r>
            <a:r>
              <a:rPr lang="en" sz="1600">
                <a:solidFill>
                  <a:srgbClr val="005C8A"/>
                </a:solidFill>
              </a:rPr>
              <a:t> is VMware’s vector database used to capture semantic relationships and similarities between data sets used with RAG</a:t>
            </a:r>
            <a:endParaRPr sz="1466"/>
          </a:p>
          <a:p>
            <a:pPr defTabSz="1218895">
              <a:spcBef>
                <a:spcPts val="933"/>
              </a:spcBef>
              <a:buClr>
                <a:srgbClr val="1B1E35"/>
              </a:buClr>
              <a:buSzPts val="1100"/>
            </a:pPr>
            <a:endParaRPr sz="1600">
              <a:solidFill>
                <a:srgbClr val="000001"/>
              </a:solidFill>
            </a:endParaRPr>
          </a:p>
        </p:txBody>
      </p:sp>
      <p:pic>
        <p:nvPicPr>
          <p:cNvPr id="6475" name="Google Shape;6475;p318"/>
          <p:cNvPicPr preferRelativeResize="0"/>
          <p:nvPr/>
        </p:nvPicPr>
        <p:blipFill rotWithShape="1">
          <a:blip r:embed="rId3">
            <a:alphaModFix/>
          </a:blip>
          <a:srcRect/>
          <a:stretch/>
        </p:blipFill>
        <p:spPr>
          <a:xfrm>
            <a:off x="7243173" y="3071591"/>
            <a:ext cx="1535416" cy="1580910"/>
          </a:xfrm>
          <a:prstGeom prst="rect">
            <a:avLst/>
          </a:prstGeom>
          <a:noFill/>
          <a:ln>
            <a:noFill/>
          </a:ln>
        </p:spPr>
      </p:pic>
      <p:grpSp>
        <p:nvGrpSpPr>
          <p:cNvPr id="6476" name="Google Shape;6476;p318"/>
          <p:cNvGrpSpPr/>
          <p:nvPr/>
        </p:nvGrpSpPr>
        <p:grpSpPr>
          <a:xfrm>
            <a:off x="9619439" y="3192178"/>
            <a:ext cx="1139339" cy="1131433"/>
            <a:chOff x="5337416" y="2553851"/>
            <a:chExt cx="1314965" cy="1306242"/>
          </a:xfrm>
        </p:grpSpPr>
        <p:sp>
          <p:nvSpPr>
            <p:cNvPr id="6477" name="Google Shape;6477;p318"/>
            <p:cNvSpPr/>
            <p:nvPr/>
          </p:nvSpPr>
          <p:spPr>
            <a:xfrm>
              <a:off x="5582317" y="2795045"/>
              <a:ext cx="824100" cy="824100"/>
            </a:xfrm>
            <a:prstGeom prst="roundRect">
              <a:avLst>
                <a:gd name="adj" fmla="val 11044"/>
              </a:avLst>
            </a:prstGeom>
            <a:no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78" name="Google Shape;6478;p318"/>
            <p:cNvSpPr/>
            <p:nvPr/>
          </p:nvSpPr>
          <p:spPr>
            <a:xfrm>
              <a:off x="5747505" y="2960233"/>
              <a:ext cx="493500" cy="493500"/>
            </a:xfrm>
            <a:prstGeom prst="roundRect">
              <a:avLst>
                <a:gd name="adj" fmla="val 2190"/>
              </a:avLst>
            </a:prstGeom>
            <a:no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79" name="Google Shape;6479;p318"/>
            <p:cNvSpPr/>
            <p:nvPr/>
          </p:nvSpPr>
          <p:spPr>
            <a:xfrm>
              <a:off x="5701786" y="2553852"/>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0" name="Google Shape;6480;p318"/>
            <p:cNvSpPr/>
            <p:nvPr/>
          </p:nvSpPr>
          <p:spPr>
            <a:xfrm>
              <a:off x="5971362" y="2553851"/>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1" name="Google Shape;6481;p318"/>
            <p:cNvSpPr/>
            <p:nvPr/>
          </p:nvSpPr>
          <p:spPr>
            <a:xfrm>
              <a:off x="6237848" y="2553851"/>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2" name="Google Shape;6482;p318"/>
            <p:cNvSpPr/>
            <p:nvPr/>
          </p:nvSpPr>
          <p:spPr>
            <a:xfrm>
              <a:off x="5701370" y="3619193"/>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3" name="Google Shape;6483;p318"/>
            <p:cNvSpPr/>
            <p:nvPr/>
          </p:nvSpPr>
          <p:spPr>
            <a:xfrm>
              <a:off x="5970946" y="3619192"/>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4" name="Google Shape;6484;p318"/>
            <p:cNvSpPr/>
            <p:nvPr/>
          </p:nvSpPr>
          <p:spPr>
            <a:xfrm>
              <a:off x="6237432" y="3619192"/>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grpSp>
          <p:nvGrpSpPr>
            <p:cNvPr id="6485" name="Google Shape;6485;p318"/>
            <p:cNvGrpSpPr/>
            <p:nvPr/>
          </p:nvGrpSpPr>
          <p:grpSpPr>
            <a:xfrm rot="5400000">
              <a:off x="6241099" y="3087740"/>
              <a:ext cx="581662" cy="240901"/>
              <a:chOff x="5854186" y="2706251"/>
              <a:chExt cx="581662" cy="240901"/>
            </a:xfrm>
          </p:grpSpPr>
          <p:sp>
            <p:nvSpPr>
              <p:cNvPr id="6486" name="Google Shape;6486;p318"/>
              <p:cNvSpPr/>
              <p:nvPr/>
            </p:nvSpPr>
            <p:spPr>
              <a:xfrm>
                <a:off x="5854186" y="2706252"/>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7" name="Google Shape;6487;p318"/>
              <p:cNvSpPr/>
              <p:nvPr/>
            </p:nvSpPr>
            <p:spPr>
              <a:xfrm>
                <a:off x="6123762" y="2706251"/>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88" name="Google Shape;6488;p318"/>
              <p:cNvSpPr/>
              <p:nvPr/>
            </p:nvSpPr>
            <p:spPr>
              <a:xfrm>
                <a:off x="6390248" y="2706251"/>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grpSp>
        <p:grpSp>
          <p:nvGrpSpPr>
            <p:cNvPr id="6489" name="Google Shape;6489;p318"/>
            <p:cNvGrpSpPr/>
            <p:nvPr/>
          </p:nvGrpSpPr>
          <p:grpSpPr>
            <a:xfrm rot="5400000">
              <a:off x="5167035" y="3087742"/>
              <a:ext cx="581663" cy="240901"/>
              <a:chOff x="5854186" y="2711585"/>
              <a:chExt cx="581663" cy="240901"/>
            </a:xfrm>
          </p:grpSpPr>
          <p:sp>
            <p:nvSpPr>
              <p:cNvPr id="6490" name="Google Shape;6490;p318"/>
              <p:cNvSpPr/>
              <p:nvPr/>
            </p:nvSpPr>
            <p:spPr>
              <a:xfrm>
                <a:off x="5854186" y="2711585"/>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91" name="Google Shape;6491;p318"/>
              <p:cNvSpPr/>
              <p:nvPr/>
            </p:nvSpPr>
            <p:spPr>
              <a:xfrm>
                <a:off x="6123762" y="2711586"/>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sp>
            <p:nvSpPr>
              <p:cNvPr id="6492" name="Google Shape;6492;p318"/>
              <p:cNvSpPr/>
              <p:nvPr/>
            </p:nvSpPr>
            <p:spPr>
              <a:xfrm>
                <a:off x="6390249" y="2711585"/>
                <a:ext cx="45600" cy="240900"/>
              </a:xfrm>
              <a:prstGeom prst="roundRect">
                <a:avLst>
                  <a:gd name="adj" fmla="val 36434"/>
                </a:avLst>
              </a:prstGeom>
              <a:solidFill>
                <a:schemeClr val="dk1"/>
              </a:solidFill>
              <a:ln w="38100" cap="rnd" cmpd="sng">
                <a:solidFill>
                  <a:schemeClr val="dk1"/>
                </a:solidFill>
                <a:prstDash val="solid"/>
                <a:round/>
                <a:headEnd type="none" w="sm" len="sm"/>
                <a:tailEnd type="none" w="sm" len="sm"/>
              </a:ln>
            </p:spPr>
            <p:txBody>
              <a:bodyPr spcFirstLastPara="1" wrap="square" lIns="91376" tIns="45655" rIns="91376" bIns="45655" anchor="ctr" anchorCtr="0">
                <a:noAutofit/>
              </a:bodyPr>
              <a:lstStyle/>
              <a:p>
                <a:pPr algn="ctr" defTabSz="1218895">
                  <a:buSzPts val="1400"/>
                </a:pPr>
                <a:endParaRPr sz="1733">
                  <a:solidFill>
                    <a:srgbClr val="FFFFFF"/>
                  </a:solidFill>
                </a:endParaRPr>
              </a:p>
            </p:txBody>
          </p:sp>
        </p:grpSp>
      </p:grpSp>
      <p:pic>
        <p:nvPicPr>
          <p:cNvPr id="6493" name="Google Shape;6493;p318" descr="A blue and green circular object with lines&#10;&#10;Description automatically generated"/>
          <p:cNvPicPr preferRelativeResize="0"/>
          <p:nvPr/>
        </p:nvPicPr>
        <p:blipFill rotWithShape="1">
          <a:blip r:embed="rId4">
            <a:alphaModFix/>
          </a:blip>
          <a:srcRect/>
          <a:stretch/>
        </p:blipFill>
        <p:spPr>
          <a:xfrm>
            <a:off x="4934258" y="3068130"/>
            <a:ext cx="1594575" cy="1481188"/>
          </a:xfrm>
          <a:prstGeom prst="rect">
            <a:avLst/>
          </a:prstGeom>
          <a:solidFill>
            <a:srgbClr val="DDF1FA"/>
          </a:solidFill>
          <a:ln>
            <a:noFill/>
          </a:ln>
        </p:spPr>
      </p:pic>
      <p:sp>
        <p:nvSpPr>
          <p:cNvPr id="6494" name="Google Shape;6494;p318"/>
          <p:cNvSpPr txBox="1"/>
          <p:nvPr/>
        </p:nvSpPr>
        <p:spPr>
          <a:xfrm>
            <a:off x="6843391" y="5038752"/>
            <a:ext cx="2232219" cy="276999"/>
          </a:xfrm>
          <a:prstGeom prst="rect">
            <a:avLst/>
          </a:prstGeom>
          <a:noFill/>
          <a:ln>
            <a:noFill/>
          </a:ln>
        </p:spPr>
        <p:txBody>
          <a:bodyPr spcFirstLastPara="1" wrap="square" lIns="0" tIns="0" rIns="0" bIns="0" anchor="t" anchorCtr="0">
            <a:spAutoFit/>
          </a:bodyPr>
          <a:lstStyle/>
          <a:p>
            <a:pPr algn="ctr" defTabSz="1218895">
              <a:lnSpc>
                <a:spcPct val="90000"/>
              </a:lnSpc>
              <a:buSzPts val="2400"/>
            </a:pPr>
            <a:r>
              <a:rPr lang="en" sz="2000">
                <a:solidFill>
                  <a:srgbClr val="000001"/>
                </a:solidFill>
              </a:rPr>
              <a:t>Postgre</a:t>
            </a:r>
            <a:r>
              <a:rPr lang="en" sz="2000">
                <a:solidFill>
                  <a:srgbClr val="336791"/>
                </a:solidFill>
              </a:rPr>
              <a:t>SQL</a:t>
            </a:r>
            <a:endParaRPr sz="2000">
              <a:solidFill>
                <a:srgbClr val="000001"/>
              </a:solidFill>
            </a:endParaRPr>
          </a:p>
        </p:txBody>
      </p:sp>
      <p:sp>
        <p:nvSpPr>
          <p:cNvPr id="6495" name="Google Shape;6495;p318"/>
          <p:cNvSpPr txBox="1"/>
          <p:nvPr/>
        </p:nvSpPr>
        <p:spPr>
          <a:xfrm>
            <a:off x="9371401" y="5038752"/>
            <a:ext cx="1570391" cy="276999"/>
          </a:xfrm>
          <a:prstGeom prst="rect">
            <a:avLst/>
          </a:prstGeom>
          <a:noFill/>
          <a:ln>
            <a:noFill/>
          </a:ln>
        </p:spPr>
        <p:txBody>
          <a:bodyPr spcFirstLastPara="1" wrap="square" lIns="0" tIns="0" rIns="0" bIns="0" anchor="t" anchorCtr="0">
            <a:spAutoFit/>
          </a:bodyPr>
          <a:lstStyle/>
          <a:p>
            <a:pPr algn="ctr" defTabSz="1218895">
              <a:lnSpc>
                <a:spcPct val="90000"/>
              </a:lnSpc>
              <a:buSzPts val="2400"/>
            </a:pPr>
            <a:r>
              <a:rPr lang="en" sz="2000">
                <a:solidFill>
                  <a:srgbClr val="000001"/>
                </a:solidFill>
              </a:rPr>
              <a:t>pgvector</a:t>
            </a:r>
            <a:endParaRPr sz="2000"/>
          </a:p>
        </p:txBody>
      </p:sp>
      <p:sp>
        <p:nvSpPr>
          <p:cNvPr id="6496" name="Google Shape;6496;p318"/>
          <p:cNvSpPr txBox="1"/>
          <p:nvPr/>
        </p:nvSpPr>
        <p:spPr>
          <a:xfrm>
            <a:off x="4942383" y="5028120"/>
            <a:ext cx="1594385" cy="276999"/>
          </a:xfrm>
          <a:prstGeom prst="rect">
            <a:avLst/>
          </a:prstGeom>
          <a:noFill/>
          <a:ln>
            <a:noFill/>
          </a:ln>
        </p:spPr>
        <p:txBody>
          <a:bodyPr spcFirstLastPara="1" wrap="square" lIns="0" tIns="0" rIns="0" bIns="0" anchor="t" anchorCtr="0">
            <a:spAutoFit/>
          </a:bodyPr>
          <a:lstStyle/>
          <a:p>
            <a:pPr algn="ctr" defTabSz="1218895">
              <a:lnSpc>
                <a:spcPct val="90000"/>
              </a:lnSpc>
              <a:buSzPts val="2400"/>
            </a:pPr>
            <a:r>
              <a:rPr lang="en" sz="2000">
                <a:solidFill>
                  <a:srgbClr val="000001"/>
                </a:solidFill>
              </a:rPr>
              <a:t>DSM 2.0</a:t>
            </a:r>
            <a:endParaRPr sz="2000"/>
          </a:p>
        </p:txBody>
      </p:sp>
      <p:sp>
        <p:nvSpPr>
          <p:cNvPr id="6497" name="Google Shape;6497;p318"/>
          <p:cNvSpPr txBox="1"/>
          <p:nvPr/>
        </p:nvSpPr>
        <p:spPr>
          <a:xfrm>
            <a:off x="6885910" y="5393971"/>
            <a:ext cx="2182631" cy="221599"/>
          </a:xfrm>
          <a:prstGeom prst="rect">
            <a:avLst/>
          </a:prstGeom>
          <a:noFill/>
          <a:ln>
            <a:noFill/>
          </a:ln>
        </p:spPr>
        <p:txBody>
          <a:bodyPr spcFirstLastPara="1" wrap="square" lIns="0" tIns="0" rIns="0" bIns="0" anchor="t" anchorCtr="0">
            <a:spAutoFit/>
          </a:bodyPr>
          <a:lstStyle/>
          <a:p>
            <a:pPr algn="ctr" defTabSz="1218895">
              <a:lnSpc>
                <a:spcPct val="90000"/>
              </a:lnSpc>
              <a:buSzPts val="1400"/>
            </a:pPr>
            <a:r>
              <a:rPr lang="en" sz="1600">
                <a:solidFill>
                  <a:srgbClr val="797979"/>
                </a:solidFill>
              </a:rPr>
              <a:t>Relational Database</a:t>
            </a:r>
            <a:endParaRPr sz="1600">
              <a:solidFill>
                <a:srgbClr val="797979"/>
              </a:solidFill>
            </a:endParaRPr>
          </a:p>
        </p:txBody>
      </p:sp>
      <p:sp>
        <p:nvSpPr>
          <p:cNvPr id="6498" name="Google Shape;6498;p318"/>
          <p:cNvSpPr txBox="1"/>
          <p:nvPr/>
        </p:nvSpPr>
        <p:spPr>
          <a:xfrm>
            <a:off x="4878602" y="5398190"/>
            <a:ext cx="1756343" cy="221599"/>
          </a:xfrm>
          <a:prstGeom prst="rect">
            <a:avLst/>
          </a:prstGeom>
          <a:noFill/>
          <a:ln>
            <a:noFill/>
          </a:ln>
        </p:spPr>
        <p:txBody>
          <a:bodyPr spcFirstLastPara="1" wrap="square" lIns="0" tIns="0" rIns="0" bIns="0" anchor="t" anchorCtr="0">
            <a:spAutoFit/>
          </a:bodyPr>
          <a:lstStyle/>
          <a:p>
            <a:pPr algn="ctr" defTabSz="1218895">
              <a:lnSpc>
                <a:spcPct val="90000"/>
              </a:lnSpc>
              <a:buSzPts val="1400"/>
            </a:pPr>
            <a:r>
              <a:rPr lang="en" sz="1600">
                <a:solidFill>
                  <a:srgbClr val="797979"/>
                </a:solidFill>
              </a:rPr>
              <a:t>Included in VCF</a:t>
            </a:r>
            <a:endParaRPr sz="1600">
              <a:solidFill>
                <a:srgbClr val="797979"/>
              </a:solidFill>
            </a:endParaRPr>
          </a:p>
        </p:txBody>
      </p:sp>
      <p:sp>
        <p:nvSpPr>
          <p:cNvPr id="6499" name="Google Shape;6499;p318"/>
          <p:cNvSpPr txBox="1"/>
          <p:nvPr/>
        </p:nvSpPr>
        <p:spPr>
          <a:xfrm>
            <a:off x="9647777" y="5393971"/>
            <a:ext cx="1075320" cy="221599"/>
          </a:xfrm>
          <a:prstGeom prst="rect">
            <a:avLst/>
          </a:prstGeom>
          <a:noFill/>
          <a:ln>
            <a:noFill/>
          </a:ln>
        </p:spPr>
        <p:txBody>
          <a:bodyPr spcFirstLastPara="1" wrap="square" lIns="0" tIns="0" rIns="0" bIns="0" anchor="t" anchorCtr="0">
            <a:spAutoFit/>
          </a:bodyPr>
          <a:lstStyle/>
          <a:p>
            <a:pPr algn="ctr" defTabSz="1218895">
              <a:lnSpc>
                <a:spcPct val="90000"/>
              </a:lnSpc>
              <a:buSzPts val="1400"/>
            </a:pPr>
            <a:r>
              <a:rPr lang="en" sz="1600">
                <a:solidFill>
                  <a:srgbClr val="797979"/>
                </a:solidFill>
              </a:rPr>
              <a:t>Extension</a:t>
            </a:r>
            <a:endParaRPr sz="1600">
              <a:solidFill>
                <a:srgbClr val="797979"/>
              </a:solidFill>
            </a:endParaRPr>
          </a:p>
        </p:txBody>
      </p:sp>
      <p:sp>
        <p:nvSpPr>
          <p:cNvPr id="6500" name="Google Shape;6500;p318"/>
          <p:cNvSpPr txBox="1"/>
          <p:nvPr/>
        </p:nvSpPr>
        <p:spPr>
          <a:xfrm>
            <a:off x="9024089" y="3523101"/>
            <a:ext cx="363905" cy="664669"/>
          </a:xfrm>
          <a:prstGeom prst="rect">
            <a:avLst/>
          </a:prstGeom>
          <a:noFill/>
          <a:ln>
            <a:noFill/>
          </a:ln>
        </p:spPr>
        <p:txBody>
          <a:bodyPr spcFirstLastPara="1" wrap="square" lIns="0" tIns="0" rIns="0" bIns="0" anchor="t" anchorCtr="0">
            <a:spAutoFit/>
          </a:bodyPr>
          <a:lstStyle/>
          <a:p>
            <a:pPr defTabSz="1218895">
              <a:lnSpc>
                <a:spcPct val="90000"/>
              </a:lnSpc>
              <a:buSzPts val="3600"/>
            </a:pPr>
            <a:r>
              <a:rPr lang="en" sz="4799">
                <a:solidFill>
                  <a:srgbClr val="797979"/>
                </a:solidFill>
              </a:rPr>
              <a:t>+</a:t>
            </a:r>
            <a:endParaRPr sz="1466">
              <a:solidFill>
                <a:srgbClr val="797979"/>
              </a:solidFill>
            </a:endParaRPr>
          </a:p>
        </p:txBody>
      </p:sp>
      <p:sp>
        <p:nvSpPr>
          <p:cNvPr id="6501" name="Google Shape;6501;p318"/>
          <p:cNvSpPr txBox="1"/>
          <p:nvPr/>
        </p:nvSpPr>
        <p:spPr>
          <a:xfrm>
            <a:off x="6672283" y="3523353"/>
            <a:ext cx="363905" cy="664669"/>
          </a:xfrm>
          <a:prstGeom prst="rect">
            <a:avLst/>
          </a:prstGeom>
          <a:solidFill>
            <a:schemeClr val="lt1"/>
          </a:solidFill>
          <a:ln>
            <a:noFill/>
          </a:ln>
        </p:spPr>
        <p:txBody>
          <a:bodyPr spcFirstLastPara="1" wrap="square" lIns="0" tIns="0" rIns="0" bIns="0" anchor="t" anchorCtr="0">
            <a:spAutoFit/>
          </a:bodyPr>
          <a:lstStyle/>
          <a:p>
            <a:pPr defTabSz="1218895">
              <a:lnSpc>
                <a:spcPct val="90000"/>
              </a:lnSpc>
              <a:buSzPts val="3600"/>
            </a:pPr>
            <a:r>
              <a:rPr lang="en" sz="4799">
                <a:solidFill>
                  <a:srgbClr val="797979"/>
                </a:solidFill>
              </a:rPr>
              <a:t>+</a:t>
            </a:r>
            <a:endParaRPr sz="1466">
              <a:solidFill>
                <a:srgbClr val="797979"/>
              </a:solidFill>
            </a:endParaRPr>
          </a:p>
        </p:txBody>
      </p:sp>
      <p:grpSp>
        <p:nvGrpSpPr>
          <p:cNvPr id="6502" name="Google Shape;6502;p318"/>
          <p:cNvGrpSpPr/>
          <p:nvPr/>
        </p:nvGrpSpPr>
        <p:grpSpPr>
          <a:xfrm>
            <a:off x="10947049" y="1904725"/>
            <a:ext cx="973128" cy="972941"/>
            <a:chOff x="9033990" y="1205241"/>
            <a:chExt cx="1398000" cy="1398000"/>
          </a:xfrm>
        </p:grpSpPr>
        <p:sp>
          <p:nvSpPr>
            <p:cNvPr id="6503" name="Google Shape;6503;p318"/>
            <p:cNvSpPr/>
            <p:nvPr/>
          </p:nvSpPr>
          <p:spPr>
            <a:xfrm>
              <a:off x="9033990" y="1205241"/>
              <a:ext cx="1398000" cy="1398000"/>
            </a:xfrm>
            <a:prstGeom prst="ellipse">
              <a:avLst/>
            </a:prstGeom>
            <a:solidFill>
              <a:schemeClr val="lt1"/>
            </a:solidFill>
            <a:ln w="28575" cap="flat" cmpd="sng">
              <a:solidFill>
                <a:schemeClr val="dk2"/>
              </a:solidFill>
              <a:prstDash val="solid"/>
              <a:round/>
              <a:headEnd type="none" w="sm" len="sm"/>
              <a:tailEnd type="none" w="sm" len="sm"/>
            </a:ln>
          </p:spPr>
          <p:txBody>
            <a:bodyPr spcFirstLastPara="1" wrap="square" lIns="91376" tIns="45688" rIns="91376" bIns="45688" anchor="ctr" anchorCtr="0">
              <a:noAutofit/>
            </a:bodyPr>
            <a:lstStyle/>
            <a:p>
              <a:pPr algn="ctr" defTabSz="1218895">
                <a:buClr>
                  <a:srgbClr val="FFFFFF"/>
                </a:buClr>
                <a:buSzPts val="900"/>
              </a:pPr>
              <a:endParaRPr sz="1200">
                <a:solidFill>
                  <a:srgbClr val="FFFFFF"/>
                </a:solidFill>
              </a:endParaRPr>
            </a:p>
          </p:txBody>
        </p:sp>
        <p:grpSp>
          <p:nvGrpSpPr>
            <p:cNvPr id="6504" name="Google Shape;6504;p318"/>
            <p:cNvGrpSpPr/>
            <p:nvPr/>
          </p:nvGrpSpPr>
          <p:grpSpPr>
            <a:xfrm>
              <a:off x="9417487" y="1466352"/>
              <a:ext cx="611616" cy="665577"/>
              <a:chOff x="5368482" y="1414496"/>
              <a:chExt cx="249639" cy="271664"/>
            </a:xfrm>
          </p:grpSpPr>
          <p:sp>
            <p:nvSpPr>
              <p:cNvPr id="6505" name="Google Shape;6505;p318"/>
              <p:cNvSpPr/>
              <p:nvPr/>
            </p:nvSpPr>
            <p:spPr>
              <a:xfrm>
                <a:off x="5409746" y="1447463"/>
                <a:ext cx="64465" cy="36785"/>
              </a:xfrm>
              <a:custGeom>
                <a:avLst/>
                <a:gdLst/>
                <a:ahLst/>
                <a:cxnLst/>
                <a:rect l="l" t="t" r="r" b="b"/>
                <a:pathLst>
                  <a:path w="64465" h="36785" extrusionOk="0">
                    <a:moveTo>
                      <a:pt x="0" y="36785"/>
                    </a:moveTo>
                    <a:lnTo>
                      <a:pt x="64466"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06" name="Google Shape;6506;p318"/>
              <p:cNvSpPr/>
              <p:nvPr/>
            </p:nvSpPr>
            <p:spPr>
              <a:xfrm>
                <a:off x="5493302" y="1458550"/>
                <a:ext cx="7342" cy="66080"/>
              </a:xfrm>
              <a:custGeom>
                <a:avLst/>
                <a:gdLst/>
                <a:ahLst/>
                <a:cxnLst/>
                <a:rect l="l" t="t" r="r" b="b"/>
                <a:pathLst>
                  <a:path w="7342" h="66080" extrusionOk="0">
                    <a:moveTo>
                      <a:pt x="0" y="66081"/>
                    </a:moveTo>
                    <a:lnTo>
                      <a:pt x="0"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07" name="Google Shape;6507;p318"/>
              <p:cNvSpPr/>
              <p:nvPr/>
            </p:nvSpPr>
            <p:spPr>
              <a:xfrm>
                <a:off x="5493302" y="1568684"/>
                <a:ext cx="7342" cy="73423"/>
              </a:xfrm>
              <a:custGeom>
                <a:avLst/>
                <a:gdLst/>
                <a:ahLst/>
                <a:cxnLst/>
                <a:rect l="l" t="t" r="r" b="b"/>
                <a:pathLst>
                  <a:path w="7342" h="73423" extrusionOk="0">
                    <a:moveTo>
                      <a:pt x="0" y="73423"/>
                    </a:moveTo>
                    <a:lnTo>
                      <a:pt x="0"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08" name="Google Shape;6508;p318"/>
              <p:cNvSpPr/>
              <p:nvPr/>
            </p:nvSpPr>
            <p:spPr>
              <a:xfrm>
                <a:off x="5410186" y="1556496"/>
                <a:ext cx="63437" cy="31718"/>
              </a:xfrm>
              <a:custGeom>
                <a:avLst/>
                <a:gdLst/>
                <a:ahLst/>
                <a:cxnLst/>
                <a:rect l="l" t="t" r="r" b="b"/>
                <a:pathLst>
                  <a:path w="63437" h="31718" extrusionOk="0">
                    <a:moveTo>
                      <a:pt x="0" y="31719"/>
                    </a:moveTo>
                    <a:lnTo>
                      <a:pt x="63438"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09" name="Google Shape;6509;p318"/>
              <p:cNvSpPr/>
              <p:nvPr/>
            </p:nvSpPr>
            <p:spPr>
              <a:xfrm>
                <a:off x="5410186" y="1505100"/>
                <a:ext cx="63437" cy="31718"/>
              </a:xfrm>
              <a:custGeom>
                <a:avLst/>
                <a:gdLst/>
                <a:ahLst/>
                <a:cxnLst/>
                <a:rect l="l" t="t" r="r" b="b"/>
                <a:pathLst>
                  <a:path w="63437" h="31718" extrusionOk="0">
                    <a:moveTo>
                      <a:pt x="0" y="0"/>
                    </a:moveTo>
                    <a:lnTo>
                      <a:pt x="63438" y="31719"/>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0" name="Google Shape;6510;p318"/>
              <p:cNvSpPr/>
              <p:nvPr/>
            </p:nvSpPr>
            <p:spPr>
              <a:xfrm>
                <a:off x="5409011" y="1609948"/>
                <a:ext cx="65787" cy="42291"/>
              </a:xfrm>
              <a:custGeom>
                <a:avLst/>
                <a:gdLst/>
                <a:ahLst/>
                <a:cxnLst/>
                <a:rect l="l" t="t" r="r" b="b"/>
                <a:pathLst>
                  <a:path w="65787" h="42291" extrusionOk="0">
                    <a:moveTo>
                      <a:pt x="0" y="0"/>
                    </a:moveTo>
                    <a:lnTo>
                      <a:pt x="65787" y="42292"/>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1" name="Google Shape;6511;p318"/>
              <p:cNvSpPr/>
              <p:nvPr/>
            </p:nvSpPr>
            <p:spPr>
              <a:xfrm>
                <a:off x="5401963" y="1514057"/>
                <a:ext cx="79884" cy="131280"/>
              </a:xfrm>
              <a:custGeom>
                <a:avLst/>
                <a:gdLst/>
                <a:ahLst/>
                <a:cxnLst/>
                <a:rect l="l" t="t" r="r" b="b"/>
                <a:pathLst>
                  <a:path w="79884" h="131280" extrusionOk="0">
                    <a:moveTo>
                      <a:pt x="0" y="0"/>
                    </a:moveTo>
                    <a:lnTo>
                      <a:pt x="79885" y="131281"/>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2" name="Google Shape;6512;p318"/>
              <p:cNvSpPr/>
              <p:nvPr/>
            </p:nvSpPr>
            <p:spPr>
              <a:xfrm>
                <a:off x="5402183" y="1455099"/>
                <a:ext cx="79297" cy="124599"/>
              </a:xfrm>
              <a:custGeom>
                <a:avLst/>
                <a:gdLst/>
                <a:ahLst/>
                <a:cxnLst/>
                <a:rect l="l" t="t" r="r" b="b"/>
                <a:pathLst>
                  <a:path w="79297" h="124599" extrusionOk="0">
                    <a:moveTo>
                      <a:pt x="0" y="124599"/>
                    </a:moveTo>
                    <a:lnTo>
                      <a:pt x="79297"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3" name="Google Shape;6513;p318"/>
              <p:cNvSpPr/>
              <p:nvPr/>
            </p:nvSpPr>
            <p:spPr>
              <a:xfrm>
                <a:off x="5512538" y="1447536"/>
                <a:ext cx="64465" cy="36785"/>
              </a:xfrm>
              <a:custGeom>
                <a:avLst/>
                <a:gdLst/>
                <a:ahLst/>
                <a:cxnLst/>
                <a:rect l="l" t="t" r="r" b="b"/>
                <a:pathLst>
                  <a:path w="64465" h="36785" extrusionOk="0">
                    <a:moveTo>
                      <a:pt x="64466" y="36785"/>
                    </a:moveTo>
                    <a:lnTo>
                      <a:pt x="0"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4" name="Google Shape;6514;p318"/>
              <p:cNvSpPr/>
              <p:nvPr/>
            </p:nvSpPr>
            <p:spPr>
              <a:xfrm>
                <a:off x="5512979" y="1556496"/>
                <a:ext cx="61088" cy="30544"/>
              </a:xfrm>
              <a:custGeom>
                <a:avLst/>
                <a:gdLst/>
                <a:ahLst/>
                <a:cxnLst/>
                <a:rect l="l" t="t" r="r" b="b"/>
                <a:pathLst>
                  <a:path w="61088" h="30544" extrusionOk="0">
                    <a:moveTo>
                      <a:pt x="61088" y="30544"/>
                    </a:moveTo>
                    <a:lnTo>
                      <a:pt x="0"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5" name="Google Shape;6515;p318"/>
              <p:cNvSpPr/>
              <p:nvPr/>
            </p:nvSpPr>
            <p:spPr>
              <a:xfrm>
                <a:off x="5512979" y="1505687"/>
                <a:ext cx="62336" cy="31131"/>
              </a:xfrm>
              <a:custGeom>
                <a:avLst/>
                <a:gdLst/>
                <a:ahLst/>
                <a:cxnLst/>
                <a:rect l="l" t="t" r="r" b="b"/>
                <a:pathLst>
                  <a:path w="62336" h="31131" extrusionOk="0">
                    <a:moveTo>
                      <a:pt x="62336" y="0"/>
                    </a:moveTo>
                    <a:lnTo>
                      <a:pt x="0" y="31131"/>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6" name="Google Shape;6516;p318"/>
              <p:cNvSpPr/>
              <p:nvPr/>
            </p:nvSpPr>
            <p:spPr>
              <a:xfrm>
                <a:off x="5511657" y="1609728"/>
                <a:ext cx="63951" cy="42291"/>
              </a:xfrm>
              <a:custGeom>
                <a:avLst/>
                <a:gdLst/>
                <a:ahLst/>
                <a:cxnLst/>
                <a:rect l="l" t="t" r="r" b="b"/>
                <a:pathLst>
                  <a:path w="63951" h="42291" extrusionOk="0">
                    <a:moveTo>
                      <a:pt x="63952" y="0"/>
                    </a:moveTo>
                    <a:lnTo>
                      <a:pt x="0" y="42292"/>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7" name="Google Shape;6517;p318"/>
              <p:cNvSpPr/>
              <p:nvPr/>
            </p:nvSpPr>
            <p:spPr>
              <a:xfrm>
                <a:off x="5504682" y="1513837"/>
                <a:ext cx="79590" cy="131427"/>
              </a:xfrm>
              <a:custGeom>
                <a:avLst/>
                <a:gdLst/>
                <a:ahLst/>
                <a:cxnLst/>
                <a:rect l="l" t="t" r="r" b="b"/>
                <a:pathLst>
                  <a:path w="79590" h="131427" extrusionOk="0">
                    <a:moveTo>
                      <a:pt x="79591" y="0"/>
                    </a:moveTo>
                    <a:lnTo>
                      <a:pt x="0" y="131427"/>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8" name="Google Shape;6518;p318"/>
              <p:cNvSpPr/>
              <p:nvPr/>
            </p:nvSpPr>
            <p:spPr>
              <a:xfrm>
                <a:off x="5505123" y="1455099"/>
                <a:ext cx="79150" cy="124378"/>
              </a:xfrm>
              <a:custGeom>
                <a:avLst/>
                <a:gdLst/>
                <a:ahLst/>
                <a:cxnLst/>
                <a:rect l="l" t="t" r="r" b="b"/>
                <a:pathLst>
                  <a:path w="79150" h="124378" extrusionOk="0">
                    <a:moveTo>
                      <a:pt x="79150" y="124379"/>
                    </a:moveTo>
                    <a:lnTo>
                      <a:pt x="0" y="0"/>
                    </a:lnTo>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19" name="Google Shape;6519;p318"/>
              <p:cNvSpPr/>
              <p:nvPr/>
            </p:nvSpPr>
            <p:spPr>
              <a:xfrm>
                <a:off x="5471274" y="1642107"/>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20" name="Google Shape;6520;p318"/>
              <p:cNvSpPr/>
              <p:nvPr/>
            </p:nvSpPr>
            <p:spPr>
              <a:xfrm>
                <a:off x="5471274" y="1524630"/>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21" name="Google Shape;6521;p318"/>
              <p:cNvSpPr/>
              <p:nvPr/>
            </p:nvSpPr>
            <p:spPr>
              <a:xfrm>
                <a:off x="5471274" y="1414496"/>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22" name="Google Shape;6522;p318"/>
              <p:cNvSpPr/>
              <p:nvPr/>
            </p:nvSpPr>
            <p:spPr>
              <a:xfrm>
                <a:off x="5574067" y="1473234"/>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23" name="Google Shape;6523;p318"/>
              <p:cNvSpPr/>
              <p:nvPr/>
            </p:nvSpPr>
            <p:spPr>
              <a:xfrm>
                <a:off x="5574067" y="1576027"/>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24" name="Google Shape;6524;p318"/>
              <p:cNvSpPr/>
              <p:nvPr/>
            </p:nvSpPr>
            <p:spPr>
              <a:xfrm>
                <a:off x="5368482" y="1473234"/>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sp>
            <p:nvSpPr>
              <p:cNvPr id="6525" name="Google Shape;6525;p318"/>
              <p:cNvSpPr/>
              <p:nvPr/>
            </p:nvSpPr>
            <p:spPr>
              <a:xfrm>
                <a:off x="5368482" y="1576027"/>
                <a:ext cx="44054" cy="44053"/>
              </a:xfrm>
              <a:custGeom>
                <a:avLst/>
                <a:gdLst/>
                <a:ahLst/>
                <a:cxnLst/>
                <a:rect l="l" t="t" r="r" b="b"/>
                <a:pathLst>
                  <a:path w="44054" h="44053" extrusionOk="0">
                    <a:moveTo>
                      <a:pt x="44054" y="22027"/>
                    </a:moveTo>
                    <a:cubicBezTo>
                      <a:pt x="44054" y="34192"/>
                      <a:pt x="34192" y="44054"/>
                      <a:pt x="22027" y="44054"/>
                    </a:cubicBezTo>
                    <a:cubicBezTo>
                      <a:pt x="9862" y="44054"/>
                      <a:pt x="0" y="34192"/>
                      <a:pt x="0" y="22027"/>
                    </a:cubicBezTo>
                    <a:cubicBezTo>
                      <a:pt x="0" y="9862"/>
                      <a:pt x="9862" y="0"/>
                      <a:pt x="22027" y="0"/>
                    </a:cubicBezTo>
                    <a:cubicBezTo>
                      <a:pt x="34192" y="0"/>
                      <a:pt x="44054" y="9862"/>
                      <a:pt x="44054" y="22027"/>
                    </a:cubicBezTo>
                    <a:close/>
                  </a:path>
                </a:pathLst>
              </a:custGeom>
              <a:solidFill>
                <a:schemeClr val="lt1"/>
              </a:solidFill>
              <a:ln w="21425" cap="sq" cmpd="sng">
                <a:solidFill>
                  <a:schemeClr val="dk2"/>
                </a:solidFill>
                <a:prstDash val="solid"/>
                <a:miter lim="8000"/>
                <a:headEnd type="none" w="sm" len="sm"/>
                <a:tailEnd type="none" w="sm" len="sm"/>
              </a:ln>
            </p:spPr>
            <p:txBody>
              <a:bodyPr spcFirstLastPara="1" wrap="square" lIns="91410" tIns="45688" rIns="91410" bIns="45688" anchor="ctr" anchorCtr="0">
                <a:noAutofit/>
              </a:bodyPr>
              <a:lstStyle/>
              <a:p>
                <a:pPr defTabSz="1218895">
                  <a:buSzPts val="1300"/>
                </a:pPr>
                <a:endParaRPr sz="1733">
                  <a:solidFill>
                    <a:srgbClr val="717074"/>
                  </a:solidFill>
                </a:endParaRPr>
              </a:p>
            </p:txBody>
          </p:sp>
        </p:grpSp>
        <p:sp>
          <p:nvSpPr>
            <p:cNvPr id="6526" name="Google Shape;6526;p318"/>
            <p:cNvSpPr txBox="1"/>
            <p:nvPr/>
          </p:nvSpPr>
          <p:spPr>
            <a:xfrm>
              <a:off x="9461498" y="2134047"/>
              <a:ext cx="618000" cy="421325"/>
            </a:xfrm>
            <a:prstGeom prst="rect">
              <a:avLst/>
            </a:prstGeom>
            <a:noFill/>
            <a:ln>
              <a:noFill/>
            </a:ln>
          </p:spPr>
          <p:txBody>
            <a:bodyPr spcFirstLastPara="1" wrap="square" lIns="0" tIns="0" rIns="0" bIns="0" anchor="t" anchorCtr="0">
              <a:spAutoFit/>
            </a:bodyPr>
            <a:lstStyle/>
            <a:p>
              <a:pPr defTabSz="1218895">
                <a:lnSpc>
                  <a:spcPct val="130000"/>
                </a:lnSpc>
                <a:buClr>
                  <a:srgbClr val="1B1E35"/>
                </a:buClr>
                <a:buSzPts val="1100"/>
              </a:pPr>
              <a:r>
                <a:rPr lang="en" sz="1466">
                  <a:solidFill>
                    <a:srgbClr val="1B1E35"/>
                  </a:solidFill>
                </a:rPr>
                <a:t>LLM</a:t>
              </a:r>
              <a:endParaRPr sz="1466"/>
            </a:p>
          </p:txBody>
        </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Shape 6530"/>
        <p:cNvGrpSpPr/>
        <p:nvPr/>
      </p:nvGrpSpPr>
      <p:grpSpPr>
        <a:xfrm>
          <a:off x="0" y="0"/>
          <a:ext cx="0" cy="0"/>
          <a:chOff x="0" y="0"/>
          <a:chExt cx="0" cy="0"/>
        </a:xfrm>
      </p:grpSpPr>
      <p:sp>
        <p:nvSpPr>
          <p:cNvPr id="6531" name="Google Shape;6531;p319"/>
          <p:cNvSpPr txBox="1">
            <a:spLocks noGrp="1"/>
          </p:cNvSpPr>
          <p:nvPr>
            <p:ph type="body" idx="2"/>
          </p:nvPr>
        </p:nvSpPr>
        <p:spPr>
          <a:xfrm>
            <a:off x="7926388" y="1668591"/>
            <a:ext cx="3654248" cy="635834"/>
          </a:xfrm>
          <a:prstGeom prst="rect">
            <a:avLst/>
          </a:prstGeom>
        </p:spPr>
        <p:txBody>
          <a:bodyPr spcFirstLastPara="1" wrap="square" lIns="0" tIns="0" rIns="0" bIns="0" anchor="b" anchorCtr="0">
            <a:noAutofit/>
          </a:bodyPr>
          <a:lstStyle/>
          <a:p>
            <a:pPr marL="0" indent="0"/>
            <a:r>
              <a:rPr lang="en"/>
              <a:t>Enhance the agents with  internal data via RAG</a:t>
            </a:r>
            <a:endParaRPr/>
          </a:p>
        </p:txBody>
      </p:sp>
      <p:sp>
        <p:nvSpPr>
          <p:cNvPr id="6532" name="Google Shape;6532;p319"/>
          <p:cNvSpPr txBox="1">
            <a:spLocks noGrp="1"/>
          </p:cNvSpPr>
          <p:nvPr>
            <p:ph type="body" idx="3"/>
          </p:nvPr>
        </p:nvSpPr>
        <p:spPr>
          <a:xfrm>
            <a:off x="7926402" y="2390363"/>
            <a:ext cx="3654248" cy="3781015"/>
          </a:xfrm>
          <a:prstGeom prst="rect">
            <a:avLst/>
          </a:prstGeom>
        </p:spPr>
        <p:txBody>
          <a:bodyPr spcFirstLastPara="1" wrap="square" lIns="0" tIns="0" rIns="0" bIns="0" anchor="t" anchorCtr="0">
            <a:noAutofit/>
          </a:bodyPr>
          <a:lstStyle/>
          <a:p>
            <a:pPr marL="0" indent="0">
              <a:buNone/>
            </a:pPr>
            <a:r>
              <a:rPr lang="en"/>
              <a:t>Retrieval Augmented Generation (RAG) combines a large language model with a retrieval system to fetch real-time, relevant information, enhancing the accuracy and context of generated responses.</a:t>
            </a:r>
            <a:endParaRPr/>
          </a:p>
          <a:p>
            <a:pPr marL="0" indent="0">
              <a:buNone/>
            </a:pPr>
            <a:endParaRPr/>
          </a:p>
        </p:txBody>
      </p:sp>
      <p:pic>
        <p:nvPicPr>
          <p:cNvPr id="6533" name="Google Shape;6533;p319"/>
          <p:cNvPicPr preferRelativeResize="0"/>
          <p:nvPr/>
        </p:nvPicPr>
        <p:blipFill rotWithShape="1">
          <a:blip r:embed="rId3">
            <a:alphaModFix/>
          </a:blip>
          <a:srcRect/>
          <a:stretch/>
        </p:blipFill>
        <p:spPr>
          <a:xfrm>
            <a:off x="701217" y="2077353"/>
            <a:ext cx="6214448" cy="2703296"/>
          </a:xfrm>
          <a:prstGeom prst="rect">
            <a:avLst/>
          </a:prstGeom>
          <a:noFill/>
          <a:ln>
            <a:noFill/>
          </a:ln>
        </p:spPr>
      </p:pic>
      <p:sp>
        <p:nvSpPr>
          <p:cNvPr id="6534" name="Google Shape;6534;p319"/>
          <p:cNvSpPr txBox="1"/>
          <p:nvPr/>
        </p:nvSpPr>
        <p:spPr>
          <a:xfrm>
            <a:off x="581244" y="414321"/>
            <a:ext cx="10997935" cy="381101"/>
          </a:xfrm>
          <a:prstGeom prst="rect">
            <a:avLst/>
          </a:prstGeom>
          <a:noFill/>
          <a:ln>
            <a:noFill/>
          </a:ln>
        </p:spPr>
        <p:txBody>
          <a:bodyPr spcFirstLastPara="1" wrap="square" lIns="0" tIns="0" rIns="0" bIns="0" anchor="b" anchorCtr="0">
            <a:noAutofit/>
          </a:bodyPr>
          <a:lstStyle/>
          <a:p>
            <a:pPr defTabSz="1218895">
              <a:lnSpc>
                <a:spcPct val="90000"/>
              </a:lnSpc>
              <a:buClr>
                <a:srgbClr val="005C8A"/>
              </a:buClr>
              <a:buSzPts val="2100"/>
            </a:pPr>
            <a:r>
              <a:rPr lang="en" sz="2799">
                <a:solidFill>
                  <a:srgbClr val="005C8A"/>
                </a:solidFill>
              </a:rPr>
              <a:t>Agent Builder Service</a:t>
            </a:r>
            <a:endParaRPr sz="2799">
              <a:solidFill>
                <a:srgbClr val="005C8A"/>
              </a:solidFill>
            </a:endParaRPr>
          </a:p>
        </p:txBody>
      </p:sp>
      <p:sp>
        <p:nvSpPr>
          <p:cNvPr id="6535" name="Google Shape;6535;p319"/>
          <p:cNvSpPr txBox="1"/>
          <p:nvPr/>
        </p:nvSpPr>
        <p:spPr>
          <a:xfrm>
            <a:off x="594301" y="813196"/>
            <a:ext cx="10959945" cy="307520"/>
          </a:xfrm>
          <a:prstGeom prst="rect">
            <a:avLst/>
          </a:prstGeom>
          <a:noFill/>
          <a:ln>
            <a:noFill/>
          </a:ln>
        </p:spPr>
        <p:txBody>
          <a:bodyPr spcFirstLastPara="1" wrap="square" lIns="0" tIns="0" rIns="0" bIns="0" anchor="t" anchorCtr="0">
            <a:noAutofit/>
          </a:bodyPr>
          <a:lstStyle/>
          <a:p>
            <a:pPr defTabSz="1218895">
              <a:buClr>
                <a:srgbClr val="666666"/>
              </a:buClr>
              <a:buSzPts val="1300"/>
            </a:pPr>
            <a:r>
              <a:rPr lang="en" sz="2000"/>
              <a:t>Deploy AI Agents based on pre-trained LLMs </a:t>
            </a:r>
            <a:endParaRPr sz="2000"/>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Shape 6540"/>
        <p:cNvGrpSpPr/>
        <p:nvPr/>
      </p:nvGrpSpPr>
      <p:grpSpPr>
        <a:xfrm>
          <a:off x="0" y="0"/>
          <a:ext cx="0" cy="0"/>
          <a:chOff x="0" y="0"/>
          <a:chExt cx="0" cy="0"/>
        </a:xfrm>
      </p:grpSpPr>
      <p:sp>
        <p:nvSpPr>
          <p:cNvPr id="6541" name="Google Shape;6541;p320"/>
          <p:cNvSpPr txBox="1">
            <a:spLocks noGrp="1"/>
          </p:cNvSpPr>
          <p:nvPr>
            <p:ph type="body" idx="3"/>
          </p:nvPr>
        </p:nvSpPr>
        <p:spPr>
          <a:xfrm>
            <a:off x="7926401" y="1881303"/>
            <a:ext cx="4008556" cy="3749423"/>
          </a:xfrm>
          <a:prstGeom prst="rect">
            <a:avLst/>
          </a:prstGeom>
          <a:noFill/>
          <a:ln>
            <a:noFill/>
          </a:ln>
        </p:spPr>
        <p:txBody>
          <a:bodyPr spcFirstLastPara="1" wrap="square" lIns="0" tIns="0" rIns="0" bIns="0" anchor="t" anchorCtr="0">
            <a:noAutofit/>
          </a:bodyPr>
          <a:lstStyle/>
          <a:p>
            <a:pPr marL="118504" indent="0">
              <a:buNone/>
            </a:pPr>
            <a:r>
              <a:rPr lang="en" sz="1733"/>
              <a:t>Operators can drill into: </a:t>
            </a:r>
            <a:endParaRPr sz="1733"/>
          </a:p>
          <a:p>
            <a:pPr marL="118504" indent="0">
              <a:buNone/>
            </a:pPr>
            <a:endParaRPr sz="1733"/>
          </a:p>
          <a:p>
            <a:pPr marL="406298" indent="-262401">
              <a:buSzPts val="1100"/>
              <a:buFont typeface="Arial"/>
              <a:buChar char="•"/>
            </a:pPr>
            <a:r>
              <a:rPr lang="en" sz="1733"/>
              <a:t>GPU Utilization</a:t>
            </a:r>
            <a:endParaRPr sz="1733"/>
          </a:p>
          <a:p>
            <a:pPr marL="406298" indent="-262401">
              <a:buSzPts val="1100"/>
              <a:buFont typeface="Arial"/>
              <a:buChar char="•"/>
            </a:pPr>
            <a:r>
              <a:rPr lang="en" sz="1733"/>
              <a:t>Memory Usage</a:t>
            </a:r>
            <a:endParaRPr sz="1733"/>
          </a:p>
          <a:p>
            <a:pPr marL="406298" indent="-262401">
              <a:buSzPts val="1100"/>
              <a:buFont typeface="Arial"/>
              <a:buChar char="•"/>
            </a:pPr>
            <a:r>
              <a:rPr lang="en" sz="1733"/>
              <a:t>GPU Temperature</a:t>
            </a:r>
            <a:endParaRPr sz="1733"/>
          </a:p>
          <a:p>
            <a:pPr marL="406298" indent="-262401">
              <a:buSzPts val="1100"/>
              <a:buFont typeface="Arial"/>
              <a:buChar char="•"/>
            </a:pPr>
            <a:r>
              <a:rPr lang="en" sz="1733"/>
              <a:t>and more</a:t>
            </a:r>
            <a:endParaRPr sz="1733"/>
          </a:p>
          <a:p>
            <a:pPr marL="118504" indent="0">
              <a:buNone/>
            </a:pPr>
            <a:endParaRPr sz="1733"/>
          </a:p>
          <a:p>
            <a:pPr marL="118504" indent="0">
              <a:buNone/>
            </a:pPr>
            <a:r>
              <a:rPr lang="en" sz="1733"/>
              <a:t>Real-time stats at high granularity (per-GPU, per-process) for all connected GPUs (including passthrough)</a:t>
            </a:r>
            <a:br>
              <a:rPr lang="en" sz="1733"/>
            </a:br>
            <a:br>
              <a:rPr lang="en" sz="1733"/>
            </a:br>
            <a:r>
              <a:rPr lang="en" sz="1733"/>
              <a:t>MLOps Engineers can understand which models are heavily being used to inform scaling and cost decisions</a:t>
            </a:r>
            <a:endParaRPr sz="1733"/>
          </a:p>
          <a:p>
            <a:pPr marL="118504" indent="0">
              <a:buNone/>
            </a:pPr>
            <a:endParaRPr sz="1733"/>
          </a:p>
        </p:txBody>
      </p:sp>
      <p:sp>
        <p:nvSpPr>
          <p:cNvPr id="6542" name="Google Shape;6542;p320"/>
          <p:cNvSpPr txBox="1">
            <a:spLocks noGrp="1"/>
          </p:cNvSpPr>
          <p:nvPr>
            <p:ph type="body" idx="2"/>
          </p:nvPr>
        </p:nvSpPr>
        <p:spPr>
          <a:xfrm>
            <a:off x="7926401" y="931317"/>
            <a:ext cx="4105331" cy="820986"/>
          </a:xfrm>
          <a:prstGeom prst="rect">
            <a:avLst/>
          </a:prstGeom>
          <a:noFill/>
          <a:ln>
            <a:noFill/>
          </a:ln>
        </p:spPr>
        <p:txBody>
          <a:bodyPr spcFirstLastPara="1" wrap="square" lIns="0" tIns="0" rIns="0" bIns="0" anchor="b" anchorCtr="0">
            <a:noAutofit/>
          </a:bodyPr>
          <a:lstStyle/>
          <a:p>
            <a:pPr marL="0" indent="0"/>
            <a:r>
              <a:rPr lang="en"/>
              <a:t>Detailed analysis of GPU resources and Model Utilization:</a:t>
            </a:r>
            <a:endParaRPr/>
          </a:p>
        </p:txBody>
      </p:sp>
      <p:sp>
        <p:nvSpPr>
          <p:cNvPr id="6543" name="Google Shape;6543;p320"/>
          <p:cNvSpPr txBox="1"/>
          <p:nvPr/>
        </p:nvSpPr>
        <p:spPr>
          <a:xfrm>
            <a:off x="581244" y="414321"/>
            <a:ext cx="10997935" cy="381101"/>
          </a:xfrm>
          <a:prstGeom prst="rect">
            <a:avLst/>
          </a:prstGeom>
          <a:noFill/>
          <a:ln>
            <a:noFill/>
          </a:ln>
        </p:spPr>
        <p:txBody>
          <a:bodyPr spcFirstLastPara="1" wrap="square" lIns="0" tIns="0" rIns="0" bIns="0" anchor="b" anchorCtr="0">
            <a:noAutofit/>
          </a:bodyPr>
          <a:lstStyle/>
          <a:p>
            <a:pPr defTabSz="1218895">
              <a:lnSpc>
                <a:spcPct val="90000"/>
              </a:lnSpc>
              <a:buClr>
                <a:srgbClr val="005C8A"/>
              </a:buClr>
              <a:buSzPts val="2100"/>
            </a:pPr>
            <a:r>
              <a:rPr lang="en" sz="2799">
                <a:solidFill>
                  <a:srgbClr val="005C8A"/>
                </a:solidFill>
              </a:rPr>
              <a:t>GPU and Model Observability</a:t>
            </a:r>
            <a:endParaRPr sz="2799">
              <a:solidFill>
                <a:srgbClr val="005C8A"/>
              </a:solidFill>
            </a:endParaRPr>
          </a:p>
        </p:txBody>
      </p:sp>
      <p:sp>
        <p:nvSpPr>
          <p:cNvPr id="6544" name="Google Shape;6544;p320"/>
          <p:cNvSpPr txBox="1"/>
          <p:nvPr/>
        </p:nvSpPr>
        <p:spPr>
          <a:xfrm>
            <a:off x="594301" y="813196"/>
            <a:ext cx="10959945" cy="307520"/>
          </a:xfrm>
          <a:prstGeom prst="rect">
            <a:avLst/>
          </a:prstGeom>
          <a:noFill/>
          <a:ln>
            <a:noFill/>
          </a:ln>
        </p:spPr>
        <p:txBody>
          <a:bodyPr spcFirstLastPara="1" wrap="square" lIns="0" tIns="0" rIns="0" bIns="0" anchor="t" anchorCtr="0">
            <a:noAutofit/>
          </a:bodyPr>
          <a:lstStyle/>
          <a:p>
            <a:pPr defTabSz="1218895">
              <a:buSzPts val="1400"/>
            </a:pPr>
            <a:r>
              <a:rPr lang="en" sz="2000"/>
              <a:t>Monitor GPU resources and model utilization </a:t>
            </a:r>
            <a:endParaRPr sz="2000"/>
          </a:p>
        </p:txBody>
      </p:sp>
      <p:grpSp>
        <p:nvGrpSpPr>
          <p:cNvPr id="6545" name="Google Shape;6545;p320"/>
          <p:cNvGrpSpPr/>
          <p:nvPr/>
        </p:nvGrpSpPr>
        <p:grpSpPr>
          <a:xfrm>
            <a:off x="347511" y="1640078"/>
            <a:ext cx="6921844" cy="3577852"/>
            <a:chOff x="262339" y="1262021"/>
            <a:chExt cx="5192735" cy="2684088"/>
          </a:xfrm>
        </p:grpSpPr>
        <p:pic>
          <p:nvPicPr>
            <p:cNvPr id="6546" name="Google Shape;6546;p320"/>
            <p:cNvPicPr preferRelativeResize="0"/>
            <p:nvPr/>
          </p:nvPicPr>
          <p:blipFill rotWithShape="1">
            <a:blip r:embed="rId3">
              <a:alphaModFix/>
            </a:blip>
            <a:srcRect l="2904" t="20184" r="72772" b="60929"/>
            <a:stretch/>
          </p:blipFill>
          <p:spPr>
            <a:xfrm>
              <a:off x="264610" y="1262021"/>
              <a:ext cx="2513476" cy="1235073"/>
            </a:xfrm>
            <a:prstGeom prst="roundRect">
              <a:avLst>
                <a:gd name="adj" fmla="val 3118"/>
              </a:avLst>
            </a:prstGeom>
            <a:noFill/>
            <a:ln w="6250" cap="flat" cmpd="sng">
              <a:solidFill>
                <a:srgbClr val="0098C7"/>
              </a:solidFill>
              <a:prstDash val="solid"/>
              <a:round/>
              <a:headEnd type="none" w="sm" len="sm"/>
              <a:tailEnd type="none" w="sm" len="sm"/>
            </a:ln>
            <a:effectLst>
              <a:outerShdw blurRad="92694" dist="85493" dir="2700000" sx="99440" sy="99440" algn="tl" rotWithShape="0">
                <a:srgbClr val="000000">
                  <a:alpha val="13330"/>
                </a:srgbClr>
              </a:outerShdw>
            </a:effectLst>
          </p:spPr>
        </p:pic>
        <p:pic>
          <p:nvPicPr>
            <p:cNvPr id="6547" name="Google Shape;6547;p320"/>
            <p:cNvPicPr preferRelativeResize="0"/>
            <p:nvPr/>
          </p:nvPicPr>
          <p:blipFill rotWithShape="1">
            <a:blip r:embed="rId3">
              <a:alphaModFix/>
            </a:blip>
            <a:srcRect l="50234" t="20184" r="25443" b="60929"/>
            <a:stretch/>
          </p:blipFill>
          <p:spPr>
            <a:xfrm>
              <a:off x="2936070" y="1264678"/>
              <a:ext cx="2513476" cy="1235073"/>
            </a:xfrm>
            <a:prstGeom prst="roundRect">
              <a:avLst>
                <a:gd name="adj" fmla="val 3118"/>
              </a:avLst>
            </a:prstGeom>
            <a:noFill/>
            <a:ln w="6250" cap="flat" cmpd="sng">
              <a:solidFill>
                <a:srgbClr val="0098C7"/>
              </a:solidFill>
              <a:prstDash val="solid"/>
              <a:round/>
              <a:headEnd type="none" w="sm" len="sm"/>
              <a:tailEnd type="none" w="sm" len="sm"/>
            </a:ln>
            <a:effectLst>
              <a:outerShdw blurRad="92694" dist="85493" dir="2700000" sx="99440" sy="99440" algn="tl" rotWithShape="0">
                <a:srgbClr val="000000">
                  <a:alpha val="13330"/>
                </a:srgbClr>
              </a:outerShdw>
            </a:effectLst>
          </p:spPr>
        </p:pic>
        <p:pic>
          <p:nvPicPr>
            <p:cNvPr id="6548" name="Google Shape;6548;p320"/>
            <p:cNvPicPr preferRelativeResize="0"/>
            <p:nvPr/>
          </p:nvPicPr>
          <p:blipFill rotWithShape="1">
            <a:blip r:embed="rId4">
              <a:alphaModFix/>
            </a:blip>
            <a:srcRect l="50343" t="59910" r="28867" b="23130"/>
            <a:stretch/>
          </p:blipFill>
          <p:spPr>
            <a:xfrm>
              <a:off x="2930574" y="2685510"/>
              <a:ext cx="2524500" cy="1260600"/>
            </a:xfrm>
            <a:prstGeom prst="roundRect">
              <a:avLst>
                <a:gd name="adj" fmla="val 3118"/>
              </a:avLst>
            </a:prstGeom>
            <a:noFill/>
            <a:ln w="6275" cap="flat" cmpd="sng">
              <a:solidFill>
                <a:srgbClr val="0098C7"/>
              </a:solidFill>
              <a:prstDash val="solid"/>
              <a:round/>
              <a:headEnd type="none" w="sm" len="sm"/>
              <a:tailEnd type="none" w="sm" len="sm"/>
            </a:ln>
            <a:effectLst>
              <a:outerShdw blurRad="93016" dist="85790" dir="2700000" sx="99440" sy="99440" algn="tl" rotWithShape="0">
                <a:srgbClr val="000000">
                  <a:alpha val="13330"/>
                </a:srgbClr>
              </a:outerShdw>
            </a:effectLst>
          </p:spPr>
        </p:pic>
        <p:pic>
          <p:nvPicPr>
            <p:cNvPr id="6549" name="Google Shape;6549;p320"/>
            <p:cNvPicPr preferRelativeResize="0"/>
            <p:nvPr/>
          </p:nvPicPr>
          <p:blipFill rotWithShape="1">
            <a:blip r:embed="rId5">
              <a:alphaModFix/>
            </a:blip>
            <a:srcRect l="3647" t="4549" r="75089" b="51195"/>
            <a:stretch/>
          </p:blipFill>
          <p:spPr>
            <a:xfrm>
              <a:off x="262339" y="2686258"/>
              <a:ext cx="2517900" cy="1259100"/>
            </a:xfrm>
            <a:prstGeom prst="roundRect">
              <a:avLst>
                <a:gd name="adj" fmla="val 3118"/>
              </a:avLst>
            </a:prstGeom>
            <a:noFill/>
            <a:ln w="6275" cap="flat" cmpd="sng">
              <a:solidFill>
                <a:srgbClr val="0098C7"/>
              </a:solidFill>
              <a:prstDash val="solid"/>
              <a:round/>
              <a:headEnd type="none" w="sm" len="sm"/>
              <a:tailEnd type="none" w="sm" len="sm"/>
            </a:ln>
            <a:effectLst>
              <a:outerShdw blurRad="93016" dist="85790" dir="2700000" sx="99440" sy="99440" algn="tl" rotWithShape="0">
                <a:srgbClr val="000000">
                  <a:alpha val="13330"/>
                </a:srgbClr>
              </a:outerShdw>
            </a:effectLst>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Shape 6554"/>
        <p:cNvGrpSpPr/>
        <p:nvPr/>
      </p:nvGrpSpPr>
      <p:grpSpPr>
        <a:xfrm>
          <a:off x="0" y="0"/>
          <a:ext cx="0" cy="0"/>
          <a:chOff x="0" y="0"/>
          <a:chExt cx="0" cy="0"/>
        </a:xfrm>
      </p:grpSpPr>
      <p:sp>
        <p:nvSpPr>
          <p:cNvPr id="6555" name="Google Shape;6555;p321"/>
          <p:cNvSpPr/>
          <p:nvPr/>
        </p:nvSpPr>
        <p:spPr>
          <a:xfrm>
            <a:off x="6491609" y="201356"/>
            <a:ext cx="5703314" cy="6332750"/>
          </a:xfrm>
          <a:prstGeom prst="rect">
            <a:avLst/>
          </a:prstGeom>
          <a:gradFill>
            <a:gsLst>
              <a:gs pos="0">
                <a:schemeClr val="lt1"/>
              </a:gs>
              <a:gs pos="75000">
                <a:srgbClr val="F4F8FA"/>
              </a:gs>
              <a:gs pos="100000">
                <a:srgbClr val="F4F8FA"/>
              </a:gs>
            </a:gsLst>
            <a:lin ang="5400012" scaled="0"/>
          </a:gradFill>
          <a:ln>
            <a:noFill/>
          </a:ln>
        </p:spPr>
        <p:txBody>
          <a:bodyPr spcFirstLastPara="1" wrap="square" lIns="91343" tIns="45655" rIns="91343" bIns="45655" anchor="ctr" anchorCtr="0">
            <a:noAutofit/>
          </a:bodyPr>
          <a:lstStyle/>
          <a:p>
            <a:pPr algn="ctr" defTabSz="1218895">
              <a:buClr>
                <a:srgbClr val="000001"/>
              </a:buClr>
              <a:buSzPts val="900"/>
            </a:pPr>
            <a:endParaRPr sz="1100">
              <a:solidFill>
                <a:srgbClr val="FFFFFF"/>
              </a:solidFill>
            </a:endParaRPr>
          </a:p>
        </p:txBody>
      </p:sp>
      <p:sp>
        <p:nvSpPr>
          <p:cNvPr id="6556" name="Google Shape;6556;p321"/>
          <p:cNvSpPr txBox="1"/>
          <p:nvPr/>
        </p:nvSpPr>
        <p:spPr>
          <a:xfrm>
            <a:off x="600987" y="3482092"/>
            <a:ext cx="4711173" cy="738536"/>
          </a:xfrm>
          <a:prstGeom prst="rect">
            <a:avLst/>
          </a:prstGeom>
          <a:noFill/>
          <a:ln>
            <a:noFill/>
          </a:ln>
        </p:spPr>
        <p:txBody>
          <a:bodyPr spcFirstLastPara="1" wrap="square" lIns="0" tIns="0" rIns="0" bIns="0" anchor="t" anchorCtr="0">
            <a:spAutoFit/>
          </a:bodyPr>
          <a:lstStyle/>
          <a:p>
            <a:pPr algn="ctr" defTabSz="1218895">
              <a:buClr>
                <a:srgbClr val="005B84"/>
              </a:buClr>
              <a:buSzPts val="2100"/>
            </a:pPr>
            <a:r>
              <a:rPr lang="en" sz="2799">
                <a:solidFill>
                  <a:srgbClr val="005C8A"/>
                </a:solidFill>
              </a:rPr>
              <a:t>VMware Cloud Foundation</a:t>
            </a:r>
            <a:br>
              <a:rPr lang="en" sz="2799" b="1">
                <a:solidFill>
                  <a:srgbClr val="000001"/>
                </a:solidFill>
              </a:rPr>
            </a:br>
            <a:r>
              <a:rPr lang="en" sz="2000">
                <a:solidFill>
                  <a:srgbClr val="3C3C3C"/>
                </a:solidFill>
              </a:rPr>
              <a:t>A proven platform for AI production</a:t>
            </a:r>
            <a:endParaRPr sz="2799">
              <a:solidFill>
                <a:srgbClr val="3C3C3C"/>
              </a:solidFill>
            </a:endParaRPr>
          </a:p>
        </p:txBody>
      </p:sp>
      <p:sp>
        <p:nvSpPr>
          <p:cNvPr id="6557" name="Google Shape;6557;p321"/>
          <p:cNvSpPr txBox="1"/>
          <p:nvPr/>
        </p:nvSpPr>
        <p:spPr>
          <a:xfrm>
            <a:off x="7319942" y="2043284"/>
            <a:ext cx="4501627" cy="735408"/>
          </a:xfrm>
          <a:prstGeom prst="rect">
            <a:avLst/>
          </a:prstGeom>
          <a:noFill/>
          <a:ln>
            <a:noFill/>
          </a:ln>
        </p:spPr>
        <p:txBody>
          <a:bodyPr spcFirstLastPara="1" wrap="square" lIns="0" tIns="0" rIns="0" bIns="0" anchor="t" anchorCtr="0">
            <a:noAutofit/>
          </a:bodyPr>
          <a:lstStyle/>
          <a:p>
            <a:pPr defTabSz="1218895">
              <a:buClr>
                <a:srgbClr val="A8A8AB"/>
              </a:buClr>
              <a:buSzPts val="1200"/>
            </a:pPr>
            <a:r>
              <a:rPr lang="en" sz="1600" dirty="0">
                <a:solidFill>
                  <a:srgbClr val="61A60E"/>
                </a:solidFill>
              </a:rPr>
              <a:t>Scale</a:t>
            </a:r>
            <a:endParaRPr lang="en" sz="1400" dirty="0">
              <a:solidFill>
                <a:srgbClr val="61A60E"/>
              </a:solidFill>
            </a:endParaRPr>
          </a:p>
          <a:p>
            <a:pPr defTabSz="1218895">
              <a:buClr>
                <a:srgbClr val="A8A8AB"/>
              </a:buClr>
              <a:buSzPts val="1200"/>
            </a:pPr>
            <a:endParaRPr lang="en" sz="1400" dirty="0">
              <a:solidFill>
                <a:srgbClr val="61A60E"/>
              </a:solidFill>
            </a:endParaRPr>
          </a:p>
          <a:p>
            <a:pPr defTabSz="1218895">
              <a:buClr>
                <a:srgbClr val="A8A8AB"/>
              </a:buClr>
              <a:buSzPts val="1200"/>
            </a:pPr>
            <a:r>
              <a:rPr lang="en" sz="1400" dirty="0">
                <a:solidFill>
                  <a:srgbClr val="3F3F3F"/>
                </a:solidFill>
              </a:rPr>
              <a:t>Right-size compute to match demand</a:t>
            </a:r>
            <a:br>
              <a:rPr lang="en" sz="1400" dirty="0">
                <a:solidFill>
                  <a:srgbClr val="3F3F3F"/>
                </a:solidFill>
              </a:rPr>
            </a:br>
            <a:r>
              <a:rPr lang="en" sz="1400" dirty="0">
                <a:solidFill>
                  <a:srgbClr val="3F3F3F"/>
                </a:solidFill>
              </a:rPr>
              <a:t>Provision new resources quickly</a:t>
            </a:r>
            <a:br>
              <a:rPr lang="en" sz="1400" dirty="0">
                <a:solidFill>
                  <a:srgbClr val="3F3F3F"/>
                </a:solidFill>
              </a:rPr>
            </a:br>
            <a:r>
              <a:rPr lang="en" sz="1400" dirty="0">
                <a:solidFill>
                  <a:srgbClr val="3F3F3F"/>
                </a:solidFill>
              </a:rPr>
              <a:t>Rapid configuration of new HW</a:t>
            </a:r>
            <a:br>
              <a:rPr lang="en" sz="1400" dirty="0">
                <a:solidFill>
                  <a:srgbClr val="3F3F3F"/>
                </a:solidFill>
              </a:rPr>
            </a:br>
            <a:endParaRPr sz="1400" dirty="0">
              <a:solidFill>
                <a:srgbClr val="3F3F3F"/>
              </a:solidFill>
            </a:endParaRPr>
          </a:p>
        </p:txBody>
      </p:sp>
      <p:sp>
        <p:nvSpPr>
          <p:cNvPr id="6558" name="Google Shape;6558;p321"/>
          <p:cNvSpPr txBox="1"/>
          <p:nvPr/>
        </p:nvSpPr>
        <p:spPr>
          <a:xfrm>
            <a:off x="7245991" y="3841625"/>
            <a:ext cx="4649589" cy="533461"/>
          </a:xfrm>
          <a:prstGeom prst="rect">
            <a:avLst/>
          </a:prstGeom>
          <a:noFill/>
          <a:ln>
            <a:noFill/>
          </a:ln>
        </p:spPr>
        <p:txBody>
          <a:bodyPr spcFirstLastPara="1" wrap="square" lIns="0" tIns="0" rIns="0" bIns="0" anchor="t" anchorCtr="0">
            <a:noAutofit/>
          </a:bodyPr>
          <a:lstStyle/>
          <a:p>
            <a:pPr defTabSz="1218895">
              <a:buClr>
                <a:srgbClr val="A8A8AB"/>
              </a:buClr>
              <a:buSzPts val="1200"/>
            </a:pPr>
            <a:r>
              <a:rPr lang="en" sz="1600" dirty="0">
                <a:solidFill>
                  <a:srgbClr val="007B8C"/>
                </a:solidFill>
              </a:rPr>
              <a:t>Enhanced Lifecycle Management</a:t>
            </a:r>
            <a:endParaRPr lang="en" sz="1400" dirty="0">
              <a:solidFill>
                <a:srgbClr val="007B8C"/>
              </a:solidFill>
            </a:endParaRPr>
          </a:p>
          <a:p>
            <a:pPr defTabSz="1218895">
              <a:buClr>
                <a:srgbClr val="A8A8AB"/>
              </a:buClr>
              <a:buSzPts val="1200"/>
            </a:pPr>
            <a:endParaRPr lang="en" sz="1400" dirty="0">
              <a:solidFill>
                <a:srgbClr val="3F3F3F"/>
              </a:solidFill>
            </a:endParaRPr>
          </a:p>
          <a:p>
            <a:pPr defTabSz="1218895">
              <a:buClr>
                <a:srgbClr val="A8A8AB"/>
              </a:buClr>
              <a:buSzPts val="1200"/>
            </a:pPr>
            <a:r>
              <a:rPr lang="en" sz="1400" dirty="0">
                <a:solidFill>
                  <a:srgbClr val="3F3F3F"/>
                </a:solidFill>
              </a:rPr>
              <a:t>Streamline Maintenance, Upgrades, Patches Increase Reliability and Uptime</a:t>
            </a:r>
            <a:br>
              <a:rPr lang="en" sz="1400" dirty="0">
                <a:solidFill>
                  <a:srgbClr val="3F3F3F"/>
                </a:solidFill>
              </a:rPr>
            </a:br>
            <a:r>
              <a:rPr lang="en" sz="1400" dirty="0">
                <a:solidFill>
                  <a:srgbClr val="3F3F3F"/>
                </a:solidFill>
              </a:rPr>
              <a:t>Self-service and RAG Automation</a:t>
            </a:r>
            <a:endParaRPr sz="1400" dirty="0"/>
          </a:p>
        </p:txBody>
      </p:sp>
      <p:sp>
        <p:nvSpPr>
          <p:cNvPr id="6559" name="Google Shape;6559;p321"/>
          <p:cNvSpPr txBox="1"/>
          <p:nvPr/>
        </p:nvSpPr>
        <p:spPr>
          <a:xfrm>
            <a:off x="7257743" y="5396574"/>
            <a:ext cx="4489631" cy="751804"/>
          </a:xfrm>
          <a:prstGeom prst="rect">
            <a:avLst/>
          </a:prstGeom>
          <a:noFill/>
          <a:ln>
            <a:noFill/>
          </a:ln>
        </p:spPr>
        <p:txBody>
          <a:bodyPr spcFirstLastPara="1" wrap="square" lIns="0" tIns="0" rIns="0" bIns="0" anchor="t" anchorCtr="0">
            <a:noAutofit/>
          </a:bodyPr>
          <a:lstStyle/>
          <a:p>
            <a:pPr defTabSz="1218895">
              <a:buClr>
                <a:srgbClr val="A8A8AB"/>
              </a:buClr>
              <a:buSzPts val="1200"/>
            </a:pPr>
            <a:r>
              <a:rPr lang="en" sz="1600" dirty="0">
                <a:solidFill>
                  <a:srgbClr val="0098C7"/>
                </a:solidFill>
              </a:rPr>
              <a:t>Privacy &amp; Security</a:t>
            </a:r>
          </a:p>
          <a:p>
            <a:pPr defTabSz="1218895">
              <a:buClr>
                <a:srgbClr val="A8A8AB"/>
              </a:buClr>
              <a:buSzPts val="1200"/>
            </a:pPr>
            <a:endParaRPr lang="en" sz="1600" dirty="0">
              <a:solidFill>
                <a:srgbClr val="0098C7"/>
              </a:solidFill>
            </a:endParaRPr>
          </a:p>
          <a:p>
            <a:pPr defTabSz="1218895">
              <a:buClr>
                <a:srgbClr val="A8A8AB"/>
              </a:buClr>
              <a:buSzPts val="1200"/>
            </a:pPr>
            <a:r>
              <a:rPr lang="en" sz="1400" dirty="0">
                <a:solidFill>
                  <a:srgbClr val="3F3F3F"/>
                </a:solidFill>
              </a:rPr>
              <a:t>Secure Boot, Host Lockdown, VM Encryption</a:t>
            </a:r>
            <a:br>
              <a:rPr lang="en" sz="1400" dirty="0">
                <a:solidFill>
                  <a:srgbClr val="3F3F3F"/>
                </a:solidFill>
              </a:rPr>
            </a:br>
            <a:r>
              <a:rPr lang="en" sz="1400" dirty="0">
                <a:solidFill>
                  <a:srgbClr val="3F3F3F"/>
                </a:solidFill>
              </a:rPr>
              <a:t>and more…</a:t>
            </a:r>
            <a:endParaRPr sz="1400" dirty="0"/>
          </a:p>
        </p:txBody>
      </p:sp>
      <p:sp>
        <p:nvSpPr>
          <p:cNvPr id="6560" name="Google Shape;6560;p321"/>
          <p:cNvSpPr/>
          <p:nvPr/>
        </p:nvSpPr>
        <p:spPr>
          <a:xfrm>
            <a:off x="6006291" y="2073775"/>
            <a:ext cx="973346" cy="972947"/>
          </a:xfrm>
          <a:prstGeom prst="ellipse">
            <a:avLst/>
          </a:prstGeom>
          <a:solidFill>
            <a:schemeClr val="lt1"/>
          </a:solidFill>
          <a:ln w="19050" cap="flat" cmpd="sng">
            <a:solidFill>
              <a:schemeClr val="accent4"/>
            </a:solidFill>
            <a:prstDash val="solid"/>
            <a:round/>
            <a:headEnd type="none" w="sm" len="sm"/>
            <a:tailEnd type="none" w="sm" len="sm"/>
          </a:ln>
        </p:spPr>
        <p:txBody>
          <a:bodyPr spcFirstLastPara="1" wrap="square" lIns="60851" tIns="30392" rIns="60851" bIns="30392" anchor="ctr" anchorCtr="0">
            <a:noAutofit/>
          </a:bodyPr>
          <a:lstStyle/>
          <a:p>
            <a:pPr algn="ctr" defTabSz="1218895">
              <a:buClr>
                <a:srgbClr val="000001"/>
              </a:buClr>
              <a:buSzPts val="1200"/>
            </a:pPr>
            <a:endParaRPr sz="1400">
              <a:solidFill>
                <a:srgbClr val="3F3F3F"/>
              </a:solidFill>
            </a:endParaRPr>
          </a:p>
        </p:txBody>
      </p:sp>
      <p:grpSp>
        <p:nvGrpSpPr>
          <p:cNvPr id="6561" name="Google Shape;6561;p321" descr="Scalable Performance&#10;"/>
          <p:cNvGrpSpPr/>
          <p:nvPr/>
        </p:nvGrpSpPr>
        <p:grpSpPr>
          <a:xfrm>
            <a:off x="6235537" y="2302783"/>
            <a:ext cx="514102" cy="515094"/>
            <a:chOff x="11076958" y="720311"/>
            <a:chExt cx="600836" cy="602089"/>
          </a:xfrm>
        </p:grpSpPr>
        <p:sp>
          <p:nvSpPr>
            <p:cNvPr id="6562" name="Google Shape;6562;p321"/>
            <p:cNvSpPr/>
            <p:nvPr/>
          </p:nvSpPr>
          <p:spPr>
            <a:xfrm>
              <a:off x="11638266" y="1282789"/>
              <a:ext cx="39528" cy="39611"/>
            </a:xfrm>
            <a:custGeom>
              <a:avLst/>
              <a:gdLst/>
              <a:ahLst/>
              <a:cxnLst/>
              <a:rect l="l" t="t" r="r" b="b"/>
              <a:pathLst>
                <a:path w="39528" h="39611" extrusionOk="0">
                  <a:moveTo>
                    <a:pt x="39529" y="39611"/>
                  </a:moveTo>
                  <a:lnTo>
                    <a:pt x="0" y="39611"/>
                  </a:lnTo>
                  <a:lnTo>
                    <a:pt x="0" y="23767"/>
                  </a:lnTo>
                  <a:lnTo>
                    <a:pt x="23717" y="23767"/>
                  </a:lnTo>
                  <a:lnTo>
                    <a:pt x="23717" y="0"/>
                  </a:lnTo>
                  <a:lnTo>
                    <a:pt x="39529" y="0"/>
                  </a:lnTo>
                  <a:lnTo>
                    <a:pt x="39529" y="39611"/>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3" name="Google Shape;6563;p321"/>
            <p:cNvSpPr/>
            <p:nvPr/>
          </p:nvSpPr>
          <p:spPr>
            <a:xfrm>
              <a:off x="11149121" y="1306556"/>
              <a:ext cx="456572" cy="15844"/>
            </a:xfrm>
            <a:custGeom>
              <a:avLst/>
              <a:gdLst/>
              <a:ahLst/>
              <a:cxnLst/>
              <a:rect l="l" t="t" r="r" b="b"/>
              <a:pathLst>
                <a:path w="456572" h="15844" extrusionOk="0">
                  <a:moveTo>
                    <a:pt x="456573" y="15844"/>
                  </a:moveTo>
                  <a:lnTo>
                    <a:pt x="391303" y="15844"/>
                  </a:lnTo>
                  <a:lnTo>
                    <a:pt x="391303" y="0"/>
                  </a:lnTo>
                  <a:lnTo>
                    <a:pt x="456573" y="0"/>
                  </a:lnTo>
                  <a:close/>
                  <a:moveTo>
                    <a:pt x="358731" y="15844"/>
                  </a:moveTo>
                  <a:lnTo>
                    <a:pt x="293461" y="15844"/>
                  </a:lnTo>
                  <a:lnTo>
                    <a:pt x="293461" y="0"/>
                  </a:lnTo>
                  <a:lnTo>
                    <a:pt x="358984" y="0"/>
                  </a:lnTo>
                  <a:close/>
                  <a:moveTo>
                    <a:pt x="260890" y="15844"/>
                  </a:moveTo>
                  <a:lnTo>
                    <a:pt x="195683" y="15844"/>
                  </a:lnTo>
                  <a:lnTo>
                    <a:pt x="195683" y="0"/>
                  </a:lnTo>
                  <a:lnTo>
                    <a:pt x="260890" y="0"/>
                  </a:lnTo>
                  <a:close/>
                  <a:moveTo>
                    <a:pt x="163048" y="15844"/>
                  </a:moveTo>
                  <a:lnTo>
                    <a:pt x="97842" y="15844"/>
                  </a:lnTo>
                  <a:lnTo>
                    <a:pt x="97842" y="0"/>
                  </a:lnTo>
                  <a:lnTo>
                    <a:pt x="162922" y="0"/>
                  </a:lnTo>
                  <a:close/>
                  <a:moveTo>
                    <a:pt x="65207" y="15844"/>
                  </a:moveTo>
                  <a:lnTo>
                    <a:pt x="0" y="15844"/>
                  </a:lnTo>
                  <a:lnTo>
                    <a:pt x="0" y="0"/>
                  </a:lnTo>
                  <a:lnTo>
                    <a:pt x="65207" y="0"/>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4" name="Google Shape;6564;p321"/>
            <p:cNvSpPr/>
            <p:nvPr/>
          </p:nvSpPr>
          <p:spPr>
            <a:xfrm>
              <a:off x="11076958" y="1282789"/>
              <a:ext cx="39528" cy="39611"/>
            </a:xfrm>
            <a:custGeom>
              <a:avLst/>
              <a:gdLst/>
              <a:ahLst/>
              <a:cxnLst/>
              <a:rect l="l" t="t" r="r" b="b"/>
              <a:pathLst>
                <a:path w="39528" h="39611" extrusionOk="0">
                  <a:moveTo>
                    <a:pt x="39529" y="39611"/>
                  </a:moveTo>
                  <a:lnTo>
                    <a:pt x="0" y="39611"/>
                  </a:lnTo>
                  <a:lnTo>
                    <a:pt x="0" y="0"/>
                  </a:lnTo>
                  <a:lnTo>
                    <a:pt x="15812" y="0"/>
                  </a:lnTo>
                  <a:lnTo>
                    <a:pt x="15812" y="23767"/>
                  </a:lnTo>
                  <a:lnTo>
                    <a:pt x="39529" y="23767"/>
                  </a:lnTo>
                  <a:lnTo>
                    <a:pt x="39529" y="39611"/>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5" name="Google Shape;6565;p321"/>
            <p:cNvSpPr/>
            <p:nvPr/>
          </p:nvSpPr>
          <p:spPr>
            <a:xfrm>
              <a:off x="11076958" y="792688"/>
              <a:ext cx="15811" cy="457397"/>
            </a:xfrm>
            <a:custGeom>
              <a:avLst/>
              <a:gdLst/>
              <a:ahLst/>
              <a:cxnLst/>
              <a:rect l="l" t="t" r="r" b="b"/>
              <a:pathLst>
                <a:path w="15811" h="457397" extrusionOk="0">
                  <a:moveTo>
                    <a:pt x="15812" y="457398"/>
                  </a:moveTo>
                  <a:lnTo>
                    <a:pt x="0" y="457398"/>
                  </a:lnTo>
                  <a:lnTo>
                    <a:pt x="0" y="392055"/>
                  </a:lnTo>
                  <a:lnTo>
                    <a:pt x="15812" y="392055"/>
                  </a:lnTo>
                  <a:close/>
                  <a:moveTo>
                    <a:pt x="15812" y="359352"/>
                  </a:moveTo>
                  <a:lnTo>
                    <a:pt x="0" y="359352"/>
                  </a:lnTo>
                  <a:lnTo>
                    <a:pt x="0" y="294010"/>
                  </a:lnTo>
                  <a:lnTo>
                    <a:pt x="15812" y="294010"/>
                  </a:lnTo>
                  <a:close/>
                  <a:moveTo>
                    <a:pt x="15812" y="261307"/>
                  </a:moveTo>
                  <a:lnTo>
                    <a:pt x="0" y="261307"/>
                  </a:lnTo>
                  <a:lnTo>
                    <a:pt x="0" y="195964"/>
                  </a:lnTo>
                  <a:lnTo>
                    <a:pt x="15812" y="195964"/>
                  </a:lnTo>
                  <a:close/>
                  <a:moveTo>
                    <a:pt x="15812" y="163325"/>
                  </a:moveTo>
                  <a:lnTo>
                    <a:pt x="0" y="163325"/>
                  </a:lnTo>
                  <a:lnTo>
                    <a:pt x="0" y="97919"/>
                  </a:lnTo>
                  <a:lnTo>
                    <a:pt x="15812" y="97919"/>
                  </a:lnTo>
                  <a:close/>
                  <a:moveTo>
                    <a:pt x="15812" y="65279"/>
                  </a:moveTo>
                  <a:lnTo>
                    <a:pt x="0" y="65279"/>
                  </a:lnTo>
                  <a:lnTo>
                    <a:pt x="0" y="0"/>
                  </a:lnTo>
                  <a:lnTo>
                    <a:pt x="15812" y="0"/>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6" name="Google Shape;6566;p321"/>
            <p:cNvSpPr/>
            <p:nvPr/>
          </p:nvSpPr>
          <p:spPr>
            <a:xfrm>
              <a:off x="11076958" y="720311"/>
              <a:ext cx="39528" cy="39611"/>
            </a:xfrm>
            <a:custGeom>
              <a:avLst/>
              <a:gdLst/>
              <a:ahLst/>
              <a:cxnLst/>
              <a:rect l="l" t="t" r="r" b="b"/>
              <a:pathLst>
                <a:path w="39528" h="39611" extrusionOk="0">
                  <a:moveTo>
                    <a:pt x="15812" y="39611"/>
                  </a:moveTo>
                  <a:lnTo>
                    <a:pt x="0" y="39611"/>
                  </a:lnTo>
                  <a:lnTo>
                    <a:pt x="0" y="0"/>
                  </a:lnTo>
                  <a:lnTo>
                    <a:pt x="39529" y="0"/>
                  </a:lnTo>
                  <a:lnTo>
                    <a:pt x="39529" y="15844"/>
                  </a:lnTo>
                  <a:lnTo>
                    <a:pt x="15812" y="15844"/>
                  </a:lnTo>
                  <a:lnTo>
                    <a:pt x="15812" y="39611"/>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7" name="Google Shape;6567;p321"/>
            <p:cNvSpPr/>
            <p:nvPr/>
          </p:nvSpPr>
          <p:spPr>
            <a:xfrm>
              <a:off x="11149121" y="720311"/>
              <a:ext cx="456572" cy="15844"/>
            </a:xfrm>
            <a:custGeom>
              <a:avLst/>
              <a:gdLst/>
              <a:ahLst/>
              <a:cxnLst/>
              <a:rect l="l" t="t" r="r" b="b"/>
              <a:pathLst>
                <a:path w="456572" h="15844" extrusionOk="0">
                  <a:moveTo>
                    <a:pt x="456573" y="15844"/>
                  </a:moveTo>
                  <a:lnTo>
                    <a:pt x="391303" y="15844"/>
                  </a:lnTo>
                  <a:lnTo>
                    <a:pt x="391303" y="0"/>
                  </a:lnTo>
                  <a:lnTo>
                    <a:pt x="456573" y="0"/>
                  </a:lnTo>
                  <a:close/>
                  <a:moveTo>
                    <a:pt x="358984" y="15844"/>
                  </a:moveTo>
                  <a:lnTo>
                    <a:pt x="293461" y="15844"/>
                  </a:lnTo>
                  <a:lnTo>
                    <a:pt x="293461" y="0"/>
                  </a:lnTo>
                  <a:lnTo>
                    <a:pt x="358984" y="0"/>
                  </a:lnTo>
                  <a:close/>
                  <a:moveTo>
                    <a:pt x="261143" y="15844"/>
                  </a:moveTo>
                  <a:lnTo>
                    <a:pt x="195683" y="15844"/>
                  </a:lnTo>
                  <a:lnTo>
                    <a:pt x="195683" y="0"/>
                  </a:lnTo>
                  <a:lnTo>
                    <a:pt x="260890" y="0"/>
                  </a:lnTo>
                  <a:close/>
                  <a:moveTo>
                    <a:pt x="162922" y="15844"/>
                  </a:moveTo>
                  <a:lnTo>
                    <a:pt x="97842" y="15844"/>
                  </a:lnTo>
                  <a:lnTo>
                    <a:pt x="97842" y="0"/>
                  </a:lnTo>
                  <a:lnTo>
                    <a:pt x="162922" y="0"/>
                  </a:lnTo>
                  <a:close/>
                  <a:moveTo>
                    <a:pt x="65080" y="15844"/>
                  </a:moveTo>
                  <a:lnTo>
                    <a:pt x="0" y="15844"/>
                  </a:lnTo>
                  <a:lnTo>
                    <a:pt x="0" y="0"/>
                  </a:lnTo>
                  <a:lnTo>
                    <a:pt x="65207" y="0"/>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8" name="Google Shape;6568;p321"/>
            <p:cNvSpPr/>
            <p:nvPr/>
          </p:nvSpPr>
          <p:spPr>
            <a:xfrm>
              <a:off x="11638266" y="720311"/>
              <a:ext cx="39528" cy="39611"/>
            </a:xfrm>
            <a:custGeom>
              <a:avLst/>
              <a:gdLst/>
              <a:ahLst/>
              <a:cxnLst/>
              <a:rect l="l" t="t" r="r" b="b"/>
              <a:pathLst>
                <a:path w="39528" h="39611" extrusionOk="0">
                  <a:moveTo>
                    <a:pt x="39529" y="39611"/>
                  </a:moveTo>
                  <a:lnTo>
                    <a:pt x="23717" y="39611"/>
                  </a:lnTo>
                  <a:lnTo>
                    <a:pt x="23717" y="15844"/>
                  </a:lnTo>
                  <a:lnTo>
                    <a:pt x="0" y="15844"/>
                  </a:lnTo>
                  <a:lnTo>
                    <a:pt x="0" y="0"/>
                  </a:lnTo>
                  <a:lnTo>
                    <a:pt x="39529" y="0"/>
                  </a:lnTo>
                  <a:lnTo>
                    <a:pt x="39529" y="39611"/>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69" name="Google Shape;6569;p321"/>
            <p:cNvSpPr/>
            <p:nvPr/>
          </p:nvSpPr>
          <p:spPr>
            <a:xfrm>
              <a:off x="11661983" y="792688"/>
              <a:ext cx="15811" cy="457397"/>
            </a:xfrm>
            <a:custGeom>
              <a:avLst/>
              <a:gdLst/>
              <a:ahLst/>
              <a:cxnLst/>
              <a:rect l="l" t="t" r="r" b="b"/>
              <a:pathLst>
                <a:path w="15811" h="457397" extrusionOk="0">
                  <a:moveTo>
                    <a:pt x="15812" y="457398"/>
                  </a:moveTo>
                  <a:lnTo>
                    <a:pt x="0" y="457398"/>
                  </a:lnTo>
                  <a:lnTo>
                    <a:pt x="0" y="392055"/>
                  </a:lnTo>
                  <a:lnTo>
                    <a:pt x="15812" y="392055"/>
                  </a:lnTo>
                  <a:close/>
                  <a:moveTo>
                    <a:pt x="15812" y="359352"/>
                  </a:moveTo>
                  <a:lnTo>
                    <a:pt x="0" y="359352"/>
                  </a:lnTo>
                  <a:lnTo>
                    <a:pt x="0" y="294010"/>
                  </a:lnTo>
                  <a:lnTo>
                    <a:pt x="15812" y="294010"/>
                  </a:lnTo>
                  <a:close/>
                  <a:moveTo>
                    <a:pt x="15812" y="261307"/>
                  </a:moveTo>
                  <a:lnTo>
                    <a:pt x="0" y="261307"/>
                  </a:lnTo>
                  <a:lnTo>
                    <a:pt x="0" y="195964"/>
                  </a:lnTo>
                  <a:lnTo>
                    <a:pt x="15812" y="195964"/>
                  </a:lnTo>
                  <a:close/>
                  <a:moveTo>
                    <a:pt x="15812" y="163325"/>
                  </a:moveTo>
                  <a:lnTo>
                    <a:pt x="0" y="163325"/>
                  </a:lnTo>
                  <a:lnTo>
                    <a:pt x="0" y="97919"/>
                  </a:lnTo>
                  <a:lnTo>
                    <a:pt x="15812" y="97919"/>
                  </a:lnTo>
                  <a:close/>
                  <a:moveTo>
                    <a:pt x="15812" y="65279"/>
                  </a:moveTo>
                  <a:lnTo>
                    <a:pt x="0" y="65279"/>
                  </a:lnTo>
                  <a:lnTo>
                    <a:pt x="0" y="0"/>
                  </a:lnTo>
                  <a:lnTo>
                    <a:pt x="15812" y="0"/>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0" name="Google Shape;6570;p321"/>
            <p:cNvSpPr/>
            <p:nvPr/>
          </p:nvSpPr>
          <p:spPr>
            <a:xfrm>
              <a:off x="11489574" y="827673"/>
              <a:ext cx="84180" cy="84038"/>
            </a:xfrm>
            <a:custGeom>
              <a:avLst/>
              <a:gdLst/>
              <a:ahLst/>
              <a:cxnLst/>
              <a:rect l="l" t="t" r="r" b="b"/>
              <a:pathLst>
                <a:path w="84180" h="84038" extrusionOk="0">
                  <a:moveTo>
                    <a:pt x="11131" y="84039"/>
                  </a:moveTo>
                  <a:lnTo>
                    <a:pt x="62614" y="32640"/>
                  </a:lnTo>
                  <a:lnTo>
                    <a:pt x="72670" y="42653"/>
                  </a:lnTo>
                  <a:lnTo>
                    <a:pt x="84180" y="0"/>
                  </a:lnTo>
                  <a:lnTo>
                    <a:pt x="41489" y="11345"/>
                  </a:lnTo>
                  <a:lnTo>
                    <a:pt x="51482" y="21422"/>
                  </a:lnTo>
                  <a:lnTo>
                    <a:pt x="0" y="72821"/>
                  </a:lnTo>
                  <a:lnTo>
                    <a:pt x="11131" y="84039"/>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1" name="Google Shape;6571;p321"/>
            <p:cNvSpPr/>
            <p:nvPr/>
          </p:nvSpPr>
          <p:spPr>
            <a:xfrm>
              <a:off x="11490966" y="1133471"/>
              <a:ext cx="82788" cy="82644"/>
            </a:xfrm>
            <a:custGeom>
              <a:avLst/>
              <a:gdLst/>
              <a:ahLst/>
              <a:cxnLst/>
              <a:rect l="l" t="t" r="r" b="b"/>
              <a:pathLst>
                <a:path w="82788" h="82644" extrusionOk="0">
                  <a:moveTo>
                    <a:pt x="61222" y="50005"/>
                  </a:moveTo>
                  <a:lnTo>
                    <a:pt x="11131" y="0"/>
                  </a:lnTo>
                  <a:lnTo>
                    <a:pt x="0" y="11218"/>
                  </a:lnTo>
                  <a:lnTo>
                    <a:pt x="50091" y="61223"/>
                  </a:lnTo>
                  <a:lnTo>
                    <a:pt x="40098" y="71300"/>
                  </a:lnTo>
                  <a:lnTo>
                    <a:pt x="82789" y="82645"/>
                  </a:lnTo>
                  <a:lnTo>
                    <a:pt x="71278" y="39991"/>
                  </a:lnTo>
                  <a:lnTo>
                    <a:pt x="61222" y="50005"/>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2" name="Google Shape;6572;p321"/>
            <p:cNvSpPr/>
            <p:nvPr/>
          </p:nvSpPr>
          <p:spPr>
            <a:xfrm>
              <a:off x="11189219" y="827673"/>
              <a:ext cx="84812" cy="84672"/>
            </a:xfrm>
            <a:custGeom>
              <a:avLst/>
              <a:gdLst/>
              <a:ahLst/>
              <a:cxnLst/>
              <a:rect l="l" t="t" r="r" b="b"/>
              <a:pathLst>
                <a:path w="84812" h="84672" extrusionOk="0">
                  <a:moveTo>
                    <a:pt x="42628" y="11345"/>
                  </a:moveTo>
                  <a:lnTo>
                    <a:pt x="0" y="0"/>
                  </a:lnTo>
                  <a:lnTo>
                    <a:pt x="11511" y="42653"/>
                  </a:lnTo>
                  <a:lnTo>
                    <a:pt x="21504" y="32640"/>
                  </a:lnTo>
                  <a:lnTo>
                    <a:pt x="73618" y="84673"/>
                  </a:lnTo>
                  <a:lnTo>
                    <a:pt x="84813" y="73455"/>
                  </a:lnTo>
                  <a:lnTo>
                    <a:pt x="32635" y="21422"/>
                  </a:lnTo>
                  <a:lnTo>
                    <a:pt x="42628" y="11345"/>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3" name="Google Shape;6573;p321"/>
            <p:cNvSpPr/>
            <p:nvPr/>
          </p:nvSpPr>
          <p:spPr>
            <a:xfrm>
              <a:off x="11189219" y="1132647"/>
              <a:ext cx="83611" cy="83468"/>
            </a:xfrm>
            <a:custGeom>
              <a:avLst/>
              <a:gdLst/>
              <a:ahLst/>
              <a:cxnLst/>
              <a:rect l="l" t="t" r="r" b="b"/>
              <a:pathLst>
                <a:path w="83611" h="83468" extrusionOk="0">
                  <a:moveTo>
                    <a:pt x="72417" y="0"/>
                  </a:moveTo>
                  <a:lnTo>
                    <a:pt x="21504" y="50829"/>
                  </a:lnTo>
                  <a:lnTo>
                    <a:pt x="11511" y="40815"/>
                  </a:lnTo>
                  <a:lnTo>
                    <a:pt x="0" y="83469"/>
                  </a:lnTo>
                  <a:lnTo>
                    <a:pt x="42628" y="72124"/>
                  </a:lnTo>
                  <a:lnTo>
                    <a:pt x="32635" y="62047"/>
                  </a:lnTo>
                  <a:lnTo>
                    <a:pt x="83611" y="11218"/>
                  </a:lnTo>
                  <a:lnTo>
                    <a:pt x="72417" y="0"/>
                  </a:ln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4" name="Google Shape;6574;p321"/>
            <p:cNvSpPr/>
            <p:nvPr/>
          </p:nvSpPr>
          <p:spPr>
            <a:xfrm>
              <a:off x="11330890" y="940422"/>
              <a:ext cx="3541" cy="13436"/>
            </a:xfrm>
            <a:custGeom>
              <a:avLst/>
              <a:gdLst/>
              <a:ahLst/>
              <a:cxnLst/>
              <a:rect l="l" t="t" r="r" b="b"/>
              <a:pathLst>
                <a:path w="3541" h="13436" extrusionOk="0">
                  <a:moveTo>
                    <a:pt x="0" y="0"/>
                  </a:moveTo>
                  <a:lnTo>
                    <a:pt x="3542" y="13436"/>
                  </a:lnTo>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5" name="Google Shape;6575;p321"/>
            <p:cNvSpPr/>
            <p:nvPr/>
          </p:nvSpPr>
          <p:spPr>
            <a:xfrm>
              <a:off x="11326557" y="936283"/>
              <a:ext cx="12267" cy="21947"/>
            </a:xfrm>
            <a:custGeom>
              <a:avLst/>
              <a:gdLst/>
              <a:ahLst/>
              <a:cxnLst/>
              <a:rect l="l" t="t" r="r" b="b"/>
              <a:pathLst>
                <a:path w="12267" h="21947" extrusionOk="0">
                  <a:moveTo>
                    <a:pt x="7875" y="21948"/>
                  </a:moveTo>
                  <a:cubicBezTo>
                    <a:pt x="5910" y="21952"/>
                    <a:pt x="4192" y="20622"/>
                    <a:pt x="3700" y="18716"/>
                  </a:cubicBezTo>
                  <a:lnTo>
                    <a:pt x="95" y="5280"/>
                  </a:lnTo>
                  <a:cubicBezTo>
                    <a:pt x="-404" y="2917"/>
                    <a:pt x="1103" y="596"/>
                    <a:pt x="3461" y="95"/>
                  </a:cubicBezTo>
                  <a:cubicBezTo>
                    <a:pt x="5635" y="-365"/>
                    <a:pt x="7808" y="884"/>
                    <a:pt x="8507" y="2998"/>
                  </a:cubicBezTo>
                  <a:lnTo>
                    <a:pt x="12112" y="16434"/>
                  </a:lnTo>
                  <a:cubicBezTo>
                    <a:pt x="12743" y="18729"/>
                    <a:pt x="11397" y="21101"/>
                    <a:pt x="9107" y="21733"/>
                  </a:cubicBezTo>
                  <a:cubicBezTo>
                    <a:pt x="9076" y="21741"/>
                    <a:pt x="9045" y="21750"/>
                    <a:pt x="9013" y="21758"/>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6" name="Google Shape;6576;p321"/>
            <p:cNvSpPr/>
            <p:nvPr/>
          </p:nvSpPr>
          <p:spPr>
            <a:xfrm>
              <a:off x="11261889" y="979526"/>
              <a:ext cx="9866" cy="9823"/>
            </a:xfrm>
            <a:custGeom>
              <a:avLst/>
              <a:gdLst/>
              <a:ahLst/>
              <a:cxnLst/>
              <a:rect l="l" t="t" r="r" b="b"/>
              <a:pathLst>
                <a:path w="9866" h="9823" extrusionOk="0">
                  <a:moveTo>
                    <a:pt x="0" y="0"/>
                  </a:moveTo>
                  <a:lnTo>
                    <a:pt x="9866" y="9824"/>
                  </a:lnTo>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7" name="Google Shape;6577;p321"/>
            <p:cNvSpPr/>
            <p:nvPr/>
          </p:nvSpPr>
          <p:spPr>
            <a:xfrm>
              <a:off x="11257543" y="975172"/>
              <a:ext cx="18823" cy="18570"/>
            </a:xfrm>
            <a:custGeom>
              <a:avLst/>
              <a:gdLst/>
              <a:ahLst/>
              <a:cxnLst/>
              <a:rect l="l" t="t" r="r" b="b"/>
              <a:pathLst>
                <a:path w="18823" h="18570" extrusionOk="0">
                  <a:moveTo>
                    <a:pt x="14212" y="18551"/>
                  </a:moveTo>
                  <a:cubicBezTo>
                    <a:pt x="13053" y="18551"/>
                    <a:pt x="11941" y="18096"/>
                    <a:pt x="11113" y="17284"/>
                  </a:cubicBezTo>
                  <a:lnTo>
                    <a:pt x="1310" y="7650"/>
                  </a:lnTo>
                  <a:cubicBezTo>
                    <a:pt x="-437" y="5900"/>
                    <a:pt x="-437" y="3062"/>
                    <a:pt x="1310" y="1312"/>
                  </a:cubicBezTo>
                  <a:cubicBezTo>
                    <a:pt x="3056" y="-437"/>
                    <a:pt x="5888" y="-437"/>
                    <a:pt x="7634" y="1312"/>
                  </a:cubicBezTo>
                  <a:lnTo>
                    <a:pt x="17437" y="11199"/>
                  </a:lnTo>
                  <a:cubicBezTo>
                    <a:pt x="19184" y="12812"/>
                    <a:pt x="19295" y="15539"/>
                    <a:pt x="17685" y="17289"/>
                  </a:cubicBezTo>
                  <a:cubicBezTo>
                    <a:pt x="17606" y="17375"/>
                    <a:pt x="17523" y="17458"/>
                    <a:pt x="17437" y="17537"/>
                  </a:cubicBezTo>
                  <a:cubicBezTo>
                    <a:pt x="16542" y="18296"/>
                    <a:pt x="15379" y="18661"/>
                    <a:pt x="14212" y="18551"/>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8" name="Google Shape;6578;p321"/>
            <p:cNvSpPr/>
            <p:nvPr/>
          </p:nvSpPr>
          <p:spPr>
            <a:xfrm>
              <a:off x="11509370" y="1048861"/>
              <a:ext cx="13408" cy="3612"/>
            </a:xfrm>
            <a:custGeom>
              <a:avLst/>
              <a:gdLst/>
              <a:ahLst/>
              <a:cxnLst/>
              <a:rect l="l" t="t" r="r" b="b"/>
              <a:pathLst>
                <a:path w="13408" h="3612" extrusionOk="0">
                  <a:moveTo>
                    <a:pt x="13408" y="0"/>
                  </a:moveTo>
                  <a:lnTo>
                    <a:pt x="0" y="3613"/>
                  </a:lnTo>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79" name="Google Shape;6579;p321"/>
            <p:cNvSpPr/>
            <p:nvPr/>
          </p:nvSpPr>
          <p:spPr>
            <a:xfrm>
              <a:off x="11505051" y="1044548"/>
              <a:ext cx="21775" cy="12240"/>
            </a:xfrm>
            <a:custGeom>
              <a:avLst/>
              <a:gdLst/>
              <a:ahLst/>
              <a:cxnLst/>
              <a:rect l="l" t="t" r="r" b="b"/>
              <a:pathLst>
                <a:path w="21775" h="12240" extrusionOk="0">
                  <a:moveTo>
                    <a:pt x="4319" y="12236"/>
                  </a:moveTo>
                  <a:cubicBezTo>
                    <a:pt x="2354" y="12240"/>
                    <a:pt x="637" y="10910"/>
                    <a:pt x="145" y="9004"/>
                  </a:cubicBezTo>
                  <a:cubicBezTo>
                    <a:pt x="-462" y="6696"/>
                    <a:pt x="889" y="4327"/>
                    <a:pt x="3181" y="3680"/>
                  </a:cubicBezTo>
                  <a:lnTo>
                    <a:pt x="16652" y="67"/>
                  </a:lnTo>
                  <a:cubicBezTo>
                    <a:pt x="19026" y="-352"/>
                    <a:pt x="21290" y="1236"/>
                    <a:pt x="21708" y="3614"/>
                  </a:cubicBezTo>
                  <a:cubicBezTo>
                    <a:pt x="22079" y="5719"/>
                    <a:pt x="20877" y="7783"/>
                    <a:pt x="18866" y="8496"/>
                  </a:cubicBezTo>
                  <a:lnTo>
                    <a:pt x="5458" y="12109"/>
                  </a:lnTo>
                  <a:cubicBezTo>
                    <a:pt x="5088" y="12214"/>
                    <a:pt x="4703" y="12257"/>
                    <a:pt x="4319" y="12236"/>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0" name="Google Shape;6580;p321"/>
            <p:cNvSpPr/>
            <p:nvPr/>
          </p:nvSpPr>
          <p:spPr>
            <a:xfrm>
              <a:off x="11226345" y="1036693"/>
              <a:ext cx="13408" cy="3612"/>
            </a:xfrm>
            <a:custGeom>
              <a:avLst/>
              <a:gdLst/>
              <a:ahLst/>
              <a:cxnLst/>
              <a:rect l="l" t="t" r="r" b="b"/>
              <a:pathLst>
                <a:path w="13408" h="3612" extrusionOk="0">
                  <a:moveTo>
                    <a:pt x="0" y="0"/>
                  </a:moveTo>
                  <a:lnTo>
                    <a:pt x="13408" y="3613"/>
                  </a:lnTo>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1" name="Google Shape;6581;p321"/>
            <p:cNvSpPr/>
            <p:nvPr/>
          </p:nvSpPr>
          <p:spPr>
            <a:xfrm>
              <a:off x="11221952" y="1032555"/>
              <a:ext cx="22134" cy="12169"/>
            </a:xfrm>
            <a:custGeom>
              <a:avLst/>
              <a:gdLst/>
              <a:ahLst/>
              <a:cxnLst/>
              <a:rect l="l" t="t" r="r" b="b"/>
              <a:pathLst>
                <a:path w="22134" h="12169" extrusionOk="0">
                  <a:moveTo>
                    <a:pt x="17801" y="12124"/>
                  </a:moveTo>
                  <a:cubicBezTo>
                    <a:pt x="17424" y="12184"/>
                    <a:pt x="17039" y="12184"/>
                    <a:pt x="16662" y="12124"/>
                  </a:cubicBezTo>
                  <a:lnTo>
                    <a:pt x="3254" y="8511"/>
                  </a:lnTo>
                  <a:cubicBezTo>
                    <a:pt x="951" y="7932"/>
                    <a:pt x="-448" y="5590"/>
                    <a:pt x="131" y="3282"/>
                  </a:cubicBezTo>
                  <a:cubicBezTo>
                    <a:pt x="138" y="3250"/>
                    <a:pt x="146" y="3219"/>
                    <a:pt x="155" y="3188"/>
                  </a:cubicBezTo>
                  <a:cubicBezTo>
                    <a:pt x="801" y="891"/>
                    <a:pt x="3165" y="-463"/>
                    <a:pt x="5468" y="146"/>
                  </a:cubicBezTo>
                  <a:lnTo>
                    <a:pt x="18939" y="3758"/>
                  </a:lnTo>
                  <a:cubicBezTo>
                    <a:pt x="21235" y="4370"/>
                    <a:pt x="22600" y="6731"/>
                    <a:pt x="21989" y="9032"/>
                  </a:cubicBezTo>
                  <a:cubicBezTo>
                    <a:pt x="21985" y="9048"/>
                    <a:pt x="21980" y="9065"/>
                    <a:pt x="21975" y="9082"/>
                  </a:cubicBezTo>
                  <a:cubicBezTo>
                    <a:pt x="21395" y="10900"/>
                    <a:pt x="19706" y="12132"/>
                    <a:pt x="17801" y="12124"/>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2" name="Google Shape;6582;p321"/>
            <p:cNvSpPr/>
            <p:nvPr/>
          </p:nvSpPr>
          <p:spPr>
            <a:xfrm>
              <a:off x="11473573" y="979526"/>
              <a:ext cx="9866" cy="9823"/>
            </a:xfrm>
            <a:custGeom>
              <a:avLst/>
              <a:gdLst/>
              <a:ahLst/>
              <a:cxnLst/>
              <a:rect l="l" t="t" r="r" b="b"/>
              <a:pathLst>
                <a:path w="9866" h="9823" extrusionOk="0">
                  <a:moveTo>
                    <a:pt x="9866" y="0"/>
                  </a:moveTo>
                  <a:lnTo>
                    <a:pt x="0" y="9824"/>
                  </a:lnTo>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3" name="Google Shape;6583;p321"/>
            <p:cNvSpPr/>
            <p:nvPr/>
          </p:nvSpPr>
          <p:spPr>
            <a:xfrm>
              <a:off x="11469151" y="975172"/>
              <a:ext cx="18823" cy="18551"/>
            </a:xfrm>
            <a:custGeom>
              <a:avLst/>
              <a:gdLst/>
              <a:ahLst/>
              <a:cxnLst/>
              <a:rect l="l" t="t" r="r" b="b"/>
              <a:pathLst>
                <a:path w="18823" h="18551" extrusionOk="0">
                  <a:moveTo>
                    <a:pt x="4422" y="18551"/>
                  </a:moveTo>
                  <a:cubicBezTo>
                    <a:pt x="3283" y="18542"/>
                    <a:pt x="2194" y="18087"/>
                    <a:pt x="1386" y="17284"/>
                  </a:cubicBezTo>
                  <a:cubicBezTo>
                    <a:pt x="-360" y="15671"/>
                    <a:pt x="-472" y="12944"/>
                    <a:pt x="1139" y="11194"/>
                  </a:cubicBezTo>
                  <a:cubicBezTo>
                    <a:pt x="1218" y="11108"/>
                    <a:pt x="1300" y="11025"/>
                    <a:pt x="1386" y="10946"/>
                  </a:cubicBezTo>
                  <a:lnTo>
                    <a:pt x="11189" y="1312"/>
                  </a:lnTo>
                  <a:cubicBezTo>
                    <a:pt x="12935" y="-437"/>
                    <a:pt x="15767" y="-437"/>
                    <a:pt x="17514" y="1312"/>
                  </a:cubicBezTo>
                  <a:cubicBezTo>
                    <a:pt x="19260" y="3062"/>
                    <a:pt x="19260" y="5900"/>
                    <a:pt x="17514" y="7650"/>
                  </a:cubicBezTo>
                  <a:lnTo>
                    <a:pt x="7331" y="17284"/>
                  </a:lnTo>
                  <a:cubicBezTo>
                    <a:pt x="6551" y="18052"/>
                    <a:pt x="5515" y="18503"/>
                    <a:pt x="4422" y="18551"/>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4" name="Google Shape;6584;p321"/>
            <p:cNvSpPr/>
            <p:nvPr/>
          </p:nvSpPr>
          <p:spPr>
            <a:xfrm>
              <a:off x="11408999" y="937380"/>
              <a:ext cx="3605" cy="13436"/>
            </a:xfrm>
            <a:custGeom>
              <a:avLst/>
              <a:gdLst/>
              <a:ahLst/>
              <a:cxnLst/>
              <a:rect l="l" t="t" r="r" b="b"/>
              <a:pathLst>
                <a:path w="3605" h="13436" extrusionOk="0">
                  <a:moveTo>
                    <a:pt x="3605" y="0"/>
                  </a:moveTo>
                  <a:lnTo>
                    <a:pt x="0" y="13436"/>
                  </a:lnTo>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5" name="Google Shape;6585;p321"/>
            <p:cNvSpPr/>
            <p:nvPr/>
          </p:nvSpPr>
          <p:spPr>
            <a:xfrm>
              <a:off x="11404668" y="933367"/>
              <a:ext cx="12268" cy="21822"/>
            </a:xfrm>
            <a:custGeom>
              <a:avLst/>
              <a:gdLst/>
              <a:ahLst/>
              <a:cxnLst/>
              <a:rect l="l" t="t" r="r" b="b"/>
              <a:pathLst>
                <a:path w="12268" h="21822" extrusionOk="0">
                  <a:moveTo>
                    <a:pt x="4331" y="21822"/>
                  </a:moveTo>
                  <a:lnTo>
                    <a:pt x="3256" y="21822"/>
                  </a:lnTo>
                  <a:cubicBezTo>
                    <a:pt x="925" y="21208"/>
                    <a:pt x="-468" y="18816"/>
                    <a:pt x="144" y="16481"/>
                  </a:cubicBezTo>
                  <a:cubicBezTo>
                    <a:pt x="149" y="16465"/>
                    <a:pt x="152" y="16450"/>
                    <a:pt x="157" y="16435"/>
                  </a:cubicBezTo>
                  <a:lnTo>
                    <a:pt x="3762" y="2999"/>
                  </a:lnTo>
                  <a:cubicBezTo>
                    <a:pt x="4520" y="706"/>
                    <a:pt x="6989" y="-537"/>
                    <a:pt x="9277" y="223"/>
                  </a:cubicBezTo>
                  <a:cubicBezTo>
                    <a:pt x="11387" y="924"/>
                    <a:pt x="12634" y="3101"/>
                    <a:pt x="12174" y="5280"/>
                  </a:cubicBezTo>
                  <a:lnTo>
                    <a:pt x="8569" y="18590"/>
                  </a:lnTo>
                  <a:cubicBezTo>
                    <a:pt x="8072" y="20519"/>
                    <a:pt x="6320" y="21856"/>
                    <a:pt x="4331" y="21822"/>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sp>
          <p:nvSpPr>
            <p:cNvPr id="6586" name="Google Shape;6586;p321"/>
            <p:cNvSpPr/>
            <p:nvPr/>
          </p:nvSpPr>
          <p:spPr>
            <a:xfrm>
              <a:off x="11187069" y="909908"/>
              <a:ext cx="368913" cy="191493"/>
            </a:xfrm>
            <a:custGeom>
              <a:avLst/>
              <a:gdLst/>
              <a:ahLst/>
              <a:cxnLst/>
              <a:rect l="l" t="t" r="r" b="b"/>
              <a:pathLst>
                <a:path w="368913" h="191493" extrusionOk="0">
                  <a:moveTo>
                    <a:pt x="368914" y="183572"/>
                  </a:moveTo>
                  <a:lnTo>
                    <a:pt x="368914" y="180213"/>
                  </a:lnTo>
                  <a:lnTo>
                    <a:pt x="368914" y="180213"/>
                  </a:lnTo>
                  <a:cubicBezTo>
                    <a:pt x="366345" y="78143"/>
                    <a:pt x="281689" y="-2514"/>
                    <a:pt x="179832" y="60"/>
                  </a:cubicBezTo>
                  <a:cubicBezTo>
                    <a:pt x="80290" y="2576"/>
                    <a:pt x="701" y="83793"/>
                    <a:pt x="0" y="183572"/>
                  </a:cubicBezTo>
                  <a:lnTo>
                    <a:pt x="0" y="191494"/>
                  </a:lnTo>
                  <a:lnTo>
                    <a:pt x="368851" y="191494"/>
                  </a:lnTo>
                  <a:lnTo>
                    <a:pt x="368851" y="188135"/>
                  </a:lnTo>
                  <a:close/>
                  <a:moveTo>
                    <a:pt x="208649" y="175016"/>
                  </a:moveTo>
                  <a:lnTo>
                    <a:pt x="283089" y="144214"/>
                  </a:lnTo>
                  <a:cubicBezTo>
                    <a:pt x="284417" y="143770"/>
                    <a:pt x="284797" y="141552"/>
                    <a:pt x="284038" y="139334"/>
                  </a:cubicBezTo>
                  <a:cubicBezTo>
                    <a:pt x="283279" y="137116"/>
                    <a:pt x="281508" y="135658"/>
                    <a:pt x="280243" y="136102"/>
                  </a:cubicBezTo>
                  <a:lnTo>
                    <a:pt x="194545" y="162277"/>
                  </a:lnTo>
                  <a:lnTo>
                    <a:pt x="194545" y="162974"/>
                  </a:lnTo>
                  <a:cubicBezTo>
                    <a:pt x="191457" y="161293"/>
                    <a:pt x="188003" y="160400"/>
                    <a:pt x="184489" y="160375"/>
                  </a:cubicBezTo>
                  <a:cubicBezTo>
                    <a:pt x="175266" y="160408"/>
                    <a:pt x="167072" y="166280"/>
                    <a:pt x="164060" y="175016"/>
                  </a:cubicBezTo>
                  <a:cubicBezTo>
                    <a:pt x="122318" y="175016"/>
                    <a:pt x="73176" y="175016"/>
                    <a:pt x="16064" y="175586"/>
                  </a:cubicBezTo>
                  <a:cubicBezTo>
                    <a:pt x="20096" y="82357"/>
                    <a:pt x="98785" y="10055"/>
                    <a:pt x="191821" y="14095"/>
                  </a:cubicBezTo>
                  <a:cubicBezTo>
                    <a:pt x="279208" y="17890"/>
                    <a:pt x="349189" y="88017"/>
                    <a:pt x="352976" y="175586"/>
                  </a:cubicBezTo>
                  <a:cubicBezTo>
                    <a:pt x="352976" y="175586"/>
                    <a:pt x="308388" y="175142"/>
                    <a:pt x="208649" y="175016"/>
                  </a:cubicBezTo>
                  <a:close/>
                </a:path>
              </a:pathLst>
            </a:custGeom>
            <a:solidFill>
              <a:schemeClr val="accent4"/>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717074"/>
                </a:solidFill>
              </a:endParaRPr>
            </a:p>
          </p:txBody>
        </p:sp>
      </p:grpSp>
      <p:sp>
        <p:nvSpPr>
          <p:cNvPr id="6587" name="Google Shape;6587;p321"/>
          <p:cNvSpPr txBox="1"/>
          <p:nvPr/>
        </p:nvSpPr>
        <p:spPr>
          <a:xfrm>
            <a:off x="7257741" y="638450"/>
            <a:ext cx="4660386" cy="1076919"/>
          </a:xfrm>
          <a:prstGeom prst="rect">
            <a:avLst/>
          </a:prstGeom>
          <a:noFill/>
          <a:ln>
            <a:noFill/>
          </a:ln>
        </p:spPr>
        <p:txBody>
          <a:bodyPr spcFirstLastPara="1" wrap="square" lIns="0" tIns="0" rIns="0" bIns="0" anchor="t" anchorCtr="0">
            <a:noAutofit/>
          </a:bodyPr>
          <a:lstStyle/>
          <a:p>
            <a:pPr defTabSz="1218895">
              <a:buClr>
                <a:srgbClr val="A8A8AB"/>
              </a:buClr>
              <a:buSzPts val="1200"/>
            </a:pPr>
            <a:r>
              <a:rPr lang="en" sz="1600" dirty="0">
                <a:solidFill>
                  <a:srgbClr val="6C4B93"/>
                </a:solidFill>
              </a:rPr>
              <a:t>Agility</a:t>
            </a:r>
            <a:r>
              <a:rPr lang="en" sz="1600" b="1" dirty="0">
                <a:solidFill>
                  <a:srgbClr val="0091DA"/>
                </a:solidFill>
              </a:rPr>
              <a:t> </a:t>
            </a:r>
            <a:endParaRPr lang="en" sz="1400" b="1" dirty="0"/>
          </a:p>
          <a:p>
            <a:pPr defTabSz="1218895">
              <a:buClr>
                <a:srgbClr val="A8A8AB"/>
              </a:buClr>
              <a:buSzPts val="1200"/>
            </a:pPr>
            <a:endParaRPr lang="en" sz="1400" b="1" dirty="0">
              <a:solidFill>
                <a:srgbClr val="3F3F3F"/>
              </a:solidFill>
            </a:endParaRPr>
          </a:p>
          <a:p>
            <a:pPr defTabSz="1218895">
              <a:buClr>
                <a:srgbClr val="A8A8AB"/>
              </a:buClr>
              <a:buSzPts val="1200"/>
            </a:pPr>
            <a:r>
              <a:rPr lang="en" sz="1400" dirty="0">
                <a:solidFill>
                  <a:srgbClr val="3F3F3F"/>
                </a:solidFill>
              </a:rPr>
              <a:t>Reconfigure or re-allocate hardware in minutes </a:t>
            </a:r>
            <a:br>
              <a:rPr lang="en" sz="1400" dirty="0">
                <a:solidFill>
                  <a:srgbClr val="3F3F3F"/>
                </a:solidFill>
              </a:rPr>
            </a:br>
            <a:r>
              <a:rPr lang="en" sz="1400" dirty="0">
                <a:solidFill>
                  <a:srgbClr val="3F3F3F"/>
                </a:solidFill>
              </a:rPr>
              <a:t>Avoid bare-metal silos, share GPU resources Choice of LLMs, tools, data sets and parameters</a:t>
            </a:r>
            <a:br>
              <a:rPr lang="en" sz="1400" dirty="0">
                <a:solidFill>
                  <a:srgbClr val="3F3F3F"/>
                </a:solidFill>
              </a:rPr>
            </a:br>
            <a:endParaRPr sz="1400" dirty="0">
              <a:solidFill>
                <a:srgbClr val="3F3F3F"/>
              </a:solidFill>
            </a:endParaRPr>
          </a:p>
        </p:txBody>
      </p:sp>
      <p:sp>
        <p:nvSpPr>
          <p:cNvPr id="6588" name="Google Shape;6588;p321"/>
          <p:cNvSpPr/>
          <p:nvPr/>
        </p:nvSpPr>
        <p:spPr>
          <a:xfrm>
            <a:off x="6011754" y="592707"/>
            <a:ext cx="970947" cy="947753"/>
          </a:xfrm>
          <a:prstGeom prst="ellipse">
            <a:avLst/>
          </a:prstGeom>
          <a:noFill/>
          <a:ln w="19050" cap="flat" cmpd="sng">
            <a:solidFill>
              <a:schemeClr val="accent5"/>
            </a:solidFill>
            <a:prstDash val="solid"/>
            <a:round/>
            <a:headEnd type="none" w="sm" len="sm"/>
            <a:tailEnd type="none" w="sm" len="sm"/>
          </a:ln>
        </p:spPr>
        <p:txBody>
          <a:bodyPr spcFirstLastPara="1" wrap="square" lIns="91376" tIns="45655" rIns="91376" bIns="45655" anchor="ctr" anchorCtr="0">
            <a:noAutofit/>
          </a:bodyPr>
          <a:lstStyle/>
          <a:p>
            <a:pPr algn="ctr" defTabSz="1218895">
              <a:buClr>
                <a:srgbClr val="FFFFFF"/>
              </a:buClr>
              <a:buSzPts val="900"/>
            </a:pPr>
            <a:endParaRPr sz="1100">
              <a:solidFill>
                <a:srgbClr val="FFFFFF"/>
              </a:solidFill>
            </a:endParaRPr>
          </a:p>
        </p:txBody>
      </p:sp>
      <p:grpSp>
        <p:nvGrpSpPr>
          <p:cNvPr id="6589" name="Google Shape;6589;p321" descr="Agility 1&#10;"/>
          <p:cNvGrpSpPr/>
          <p:nvPr/>
        </p:nvGrpSpPr>
        <p:grpSpPr>
          <a:xfrm>
            <a:off x="6164475" y="877052"/>
            <a:ext cx="597360" cy="435419"/>
            <a:chOff x="9765919" y="4508734"/>
            <a:chExt cx="597675" cy="435765"/>
          </a:xfrm>
        </p:grpSpPr>
        <p:sp>
          <p:nvSpPr>
            <p:cNvPr id="6590" name="Google Shape;6590;p321"/>
            <p:cNvSpPr/>
            <p:nvPr/>
          </p:nvSpPr>
          <p:spPr>
            <a:xfrm>
              <a:off x="10237102" y="4508734"/>
              <a:ext cx="126492" cy="126492"/>
            </a:xfrm>
            <a:custGeom>
              <a:avLst/>
              <a:gdLst/>
              <a:ahLst/>
              <a:cxnLst/>
              <a:rect l="l" t="t" r="r" b="b"/>
              <a:pathLst>
                <a:path w="126492" h="126492" extrusionOk="0">
                  <a:moveTo>
                    <a:pt x="63246" y="126492"/>
                  </a:moveTo>
                  <a:cubicBezTo>
                    <a:pt x="28461" y="126492"/>
                    <a:pt x="0" y="98031"/>
                    <a:pt x="0" y="63246"/>
                  </a:cubicBezTo>
                  <a:cubicBezTo>
                    <a:pt x="0" y="28461"/>
                    <a:pt x="28461" y="0"/>
                    <a:pt x="63246" y="0"/>
                  </a:cubicBezTo>
                  <a:cubicBezTo>
                    <a:pt x="98031" y="0"/>
                    <a:pt x="126492" y="28461"/>
                    <a:pt x="126492" y="63246"/>
                  </a:cubicBezTo>
                  <a:cubicBezTo>
                    <a:pt x="126492" y="98031"/>
                    <a:pt x="98031" y="126492"/>
                    <a:pt x="63246" y="126492"/>
                  </a:cubicBezTo>
                  <a:close/>
                  <a:moveTo>
                    <a:pt x="63246" y="15812"/>
                  </a:moveTo>
                  <a:cubicBezTo>
                    <a:pt x="37315" y="15812"/>
                    <a:pt x="15812" y="37315"/>
                    <a:pt x="15812" y="63246"/>
                  </a:cubicBezTo>
                  <a:cubicBezTo>
                    <a:pt x="15812" y="89177"/>
                    <a:pt x="37315" y="110681"/>
                    <a:pt x="63246" y="110681"/>
                  </a:cubicBezTo>
                  <a:cubicBezTo>
                    <a:pt x="89177" y="110681"/>
                    <a:pt x="110681" y="89177"/>
                    <a:pt x="110681" y="63246"/>
                  </a:cubicBezTo>
                  <a:cubicBezTo>
                    <a:pt x="110681" y="37315"/>
                    <a:pt x="89177" y="15812"/>
                    <a:pt x="63246" y="15812"/>
                  </a:cubicBez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591" name="Google Shape;6591;p321"/>
            <p:cNvSpPr/>
            <p:nvPr/>
          </p:nvSpPr>
          <p:spPr>
            <a:xfrm>
              <a:off x="9982827" y="4528341"/>
              <a:ext cx="378745" cy="416158"/>
            </a:xfrm>
            <a:custGeom>
              <a:avLst/>
              <a:gdLst/>
              <a:ahLst/>
              <a:cxnLst/>
              <a:rect l="l" t="t" r="r" b="b"/>
              <a:pathLst>
                <a:path w="378745" h="416158" extrusionOk="0">
                  <a:moveTo>
                    <a:pt x="70861" y="416159"/>
                  </a:moveTo>
                  <a:cubicBezTo>
                    <a:pt x="68331" y="416159"/>
                    <a:pt x="65169" y="414894"/>
                    <a:pt x="63904" y="412364"/>
                  </a:cubicBezTo>
                  <a:cubicBezTo>
                    <a:pt x="62007" y="408569"/>
                    <a:pt x="63272" y="403510"/>
                    <a:pt x="67066" y="401612"/>
                  </a:cubicBezTo>
                  <a:lnTo>
                    <a:pt x="208737" y="321290"/>
                  </a:lnTo>
                  <a:cubicBezTo>
                    <a:pt x="210635" y="320025"/>
                    <a:pt x="211267" y="318760"/>
                    <a:pt x="211900" y="318127"/>
                  </a:cubicBezTo>
                  <a:cubicBezTo>
                    <a:pt x="211900" y="317495"/>
                    <a:pt x="212532" y="316230"/>
                    <a:pt x="211267" y="314333"/>
                  </a:cubicBezTo>
                  <a:lnTo>
                    <a:pt x="164465" y="230848"/>
                  </a:lnTo>
                  <a:cubicBezTo>
                    <a:pt x="160670" y="223258"/>
                    <a:pt x="161303" y="214404"/>
                    <a:pt x="167628" y="208079"/>
                  </a:cubicBezTo>
                  <a:lnTo>
                    <a:pt x="196721" y="177721"/>
                  </a:lnTo>
                  <a:cubicBezTo>
                    <a:pt x="199883" y="174559"/>
                    <a:pt x="203678" y="173294"/>
                    <a:pt x="208105" y="173294"/>
                  </a:cubicBezTo>
                  <a:cubicBezTo>
                    <a:pt x="212532" y="173294"/>
                    <a:pt x="216327" y="175824"/>
                    <a:pt x="218857" y="178986"/>
                  </a:cubicBezTo>
                  <a:lnTo>
                    <a:pt x="246685" y="214404"/>
                  </a:lnTo>
                  <a:lnTo>
                    <a:pt x="328272" y="213771"/>
                  </a:lnTo>
                  <a:lnTo>
                    <a:pt x="353571" y="188473"/>
                  </a:lnTo>
                  <a:lnTo>
                    <a:pt x="270086" y="178354"/>
                  </a:lnTo>
                  <a:cubicBezTo>
                    <a:pt x="267556" y="177721"/>
                    <a:pt x="265026" y="176456"/>
                    <a:pt x="263761" y="173926"/>
                  </a:cubicBezTo>
                  <a:lnTo>
                    <a:pt x="215062" y="67041"/>
                  </a:lnTo>
                  <a:lnTo>
                    <a:pt x="158141" y="17709"/>
                  </a:lnTo>
                  <a:lnTo>
                    <a:pt x="25324" y="16444"/>
                  </a:lnTo>
                  <a:lnTo>
                    <a:pt x="45563" y="41110"/>
                  </a:lnTo>
                  <a:lnTo>
                    <a:pt x="122723" y="41110"/>
                  </a:lnTo>
                  <a:cubicBezTo>
                    <a:pt x="125253" y="41110"/>
                    <a:pt x="127783" y="42375"/>
                    <a:pt x="129047" y="44272"/>
                  </a:cubicBezTo>
                  <a:lnTo>
                    <a:pt x="164465" y="92339"/>
                  </a:lnTo>
                  <a:cubicBezTo>
                    <a:pt x="166995" y="95501"/>
                    <a:pt x="166363" y="99929"/>
                    <a:pt x="163200" y="103091"/>
                  </a:cubicBezTo>
                  <a:lnTo>
                    <a:pt x="87305" y="173294"/>
                  </a:lnTo>
                  <a:cubicBezTo>
                    <a:pt x="76553" y="182781"/>
                    <a:pt x="75288" y="198592"/>
                    <a:pt x="83510" y="209977"/>
                  </a:cubicBezTo>
                  <a:lnTo>
                    <a:pt x="145491" y="294094"/>
                  </a:lnTo>
                  <a:cubicBezTo>
                    <a:pt x="148021" y="297889"/>
                    <a:pt x="149286" y="302948"/>
                    <a:pt x="148654" y="307376"/>
                  </a:cubicBezTo>
                  <a:cubicBezTo>
                    <a:pt x="148021" y="311803"/>
                    <a:pt x="144859" y="316230"/>
                    <a:pt x="140432" y="318127"/>
                  </a:cubicBezTo>
                  <a:lnTo>
                    <a:pt x="47460" y="371887"/>
                  </a:lnTo>
                  <a:cubicBezTo>
                    <a:pt x="43665" y="373784"/>
                    <a:pt x="38606" y="372519"/>
                    <a:pt x="36708" y="368724"/>
                  </a:cubicBezTo>
                  <a:cubicBezTo>
                    <a:pt x="34811" y="364929"/>
                    <a:pt x="36076" y="359870"/>
                    <a:pt x="39871" y="357972"/>
                  </a:cubicBezTo>
                  <a:lnTo>
                    <a:pt x="132842" y="304213"/>
                  </a:lnTo>
                  <a:lnTo>
                    <a:pt x="132842" y="302948"/>
                  </a:lnTo>
                  <a:lnTo>
                    <a:pt x="70861" y="218831"/>
                  </a:lnTo>
                  <a:cubicBezTo>
                    <a:pt x="57579" y="200490"/>
                    <a:pt x="60109" y="175824"/>
                    <a:pt x="76553" y="160645"/>
                  </a:cubicBezTo>
                  <a:lnTo>
                    <a:pt x="148021" y="96134"/>
                  </a:lnTo>
                  <a:lnTo>
                    <a:pt x="118928" y="56921"/>
                  </a:lnTo>
                  <a:lnTo>
                    <a:pt x="41768" y="56921"/>
                  </a:lnTo>
                  <a:cubicBezTo>
                    <a:pt x="39238" y="56921"/>
                    <a:pt x="37341" y="55656"/>
                    <a:pt x="35443" y="53759"/>
                  </a:cubicBezTo>
                  <a:lnTo>
                    <a:pt x="1923" y="12649"/>
                  </a:lnTo>
                  <a:cubicBezTo>
                    <a:pt x="26" y="10119"/>
                    <a:pt x="-607" y="6957"/>
                    <a:pt x="658" y="4427"/>
                  </a:cubicBezTo>
                  <a:cubicBezTo>
                    <a:pt x="1923" y="1897"/>
                    <a:pt x="4453" y="0"/>
                    <a:pt x="7615" y="0"/>
                  </a:cubicBezTo>
                  <a:lnTo>
                    <a:pt x="161303" y="2530"/>
                  </a:lnTo>
                  <a:cubicBezTo>
                    <a:pt x="163200" y="2530"/>
                    <a:pt x="165098" y="3162"/>
                    <a:pt x="166363" y="4427"/>
                  </a:cubicBezTo>
                  <a:lnTo>
                    <a:pt x="227079" y="56921"/>
                  </a:lnTo>
                  <a:cubicBezTo>
                    <a:pt x="227711" y="57554"/>
                    <a:pt x="228344" y="58819"/>
                    <a:pt x="228976" y="59451"/>
                  </a:cubicBezTo>
                  <a:lnTo>
                    <a:pt x="276411" y="163175"/>
                  </a:lnTo>
                  <a:lnTo>
                    <a:pt x="371912" y="174559"/>
                  </a:lnTo>
                  <a:cubicBezTo>
                    <a:pt x="375074" y="175191"/>
                    <a:pt x="377604" y="177089"/>
                    <a:pt x="378237" y="179619"/>
                  </a:cubicBezTo>
                  <a:cubicBezTo>
                    <a:pt x="379502" y="182781"/>
                    <a:pt x="378237" y="185943"/>
                    <a:pt x="376339" y="187841"/>
                  </a:cubicBezTo>
                  <a:lnTo>
                    <a:pt x="337127" y="227053"/>
                  </a:lnTo>
                  <a:cubicBezTo>
                    <a:pt x="335862" y="228318"/>
                    <a:pt x="333965" y="229583"/>
                    <a:pt x="331435" y="229583"/>
                  </a:cubicBezTo>
                  <a:lnTo>
                    <a:pt x="246685" y="230215"/>
                  </a:lnTo>
                  <a:cubicBezTo>
                    <a:pt x="241625" y="230215"/>
                    <a:pt x="237198" y="228318"/>
                    <a:pt x="234668" y="224523"/>
                  </a:cubicBezTo>
                  <a:lnTo>
                    <a:pt x="207473" y="190370"/>
                  </a:lnTo>
                  <a:lnTo>
                    <a:pt x="179012" y="219464"/>
                  </a:lnTo>
                  <a:cubicBezTo>
                    <a:pt x="177747" y="220729"/>
                    <a:pt x="177747" y="221993"/>
                    <a:pt x="178379" y="223258"/>
                  </a:cubicBezTo>
                  <a:lnTo>
                    <a:pt x="225181" y="306743"/>
                  </a:lnTo>
                  <a:cubicBezTo>
                    <a:pt x="227711" y="311803"/>
                    <a:pt x="228344" y="317495"/>
                    <a:pt x="227079" y="323187"/>
                  </a:cubicBezTo>
                  <a:cubicBezTo>
                    <a:pt x="225181" y="328879"/>
                    <a:pt x="221387" y="333306"/>
                    <a:pt x="216327" y="335204"/>
                  </a:cubicBezTo>
                  <a:lnTo>
                    <a:pt x="74656" y="414894"/>
                  </a:lnTo>
                  <a:cubicBezTo>
                    <a:pt x="73391" y="415526"/>
                    <a:pt x="72126" y="416159"/>
                    <a:pt x="70861" y="416159"/>
                  </a:cubicBez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grpSp>
          <p:nvGrpSpPr>
            <p:cNvPr id="6592" name="Google Shape;6592;p321"/>
            <p:cNvGrpSpPr/>
            <p:nvPr/>
          </p:nvGrpSpPr>
          <p:grpSpPr>
            <a:xfrm>
              <a:off x="9828482" y="4742745"/>
              <a:ext cx="241650" cy="170763"/>
              <a:chOff x="9828482" y="4742745"/>
              <a:chExt cx="241650" cy="170763"/>
            </a:xfrm>
          </p:grpSpPr>
          <p:sp>
            <p:nvSpPr>
              <p:cNvPr id="6593" name="Google Shape;6593;p321"/>
              <p:cNvSpPr/>
              <p:nvPr/>
            </p:nvSpPr>
            <p:spPr>
              <a:xfrm>
                <a:off x="9828482" y="4742745"/>
                <a:ext cx="203703" cy="132184"/>
              </a:xfrm>
              <a:custGeom>
                <a:avLst/>
                <a:gdLst/>
                <a:ahLst/>
                <a:cxnLst/>
                <a:rect l="l" t="t" r="r" b="b"/>
                <a:pathLst>
                  <a:path w="203703" h="132184" extrusionOk="0">
                    <a:moveTo>
                      <a:pt x="8273" y="132184"/>
                    </a:moveTo>
                    <a:cubicBezTo>
                      <a:pt x="5743" y="132184"/>
                      <a:pt x="3214" y="130919"/>
                      <a:pt x="1316" y="128389"/>
                    </a:cubicBezTo>
                    <a:cubicBezTo>
                      <a:pt x="-1214" y="124595"/>
                      <a:pt x="51" y="119535"/>
                      <a:pt x="3846" y="117638"/>
                    </a:cubicBezTo>
                    <a:lnTo>
                      <a:pt x="194216" y="0"/>
                    </a:lnTo>
                    <a:lnTo>
                      <a:pt x="203703" y="13282"/>
                    </a:lnTo>
                    <a:lnTo>
                      <a:pt x="12068" y="130919"/>
                    </a:lnTo>
                    <a:cubicBezTo>
                      <a:pt x="10803" y="132184"/>
                      <a:pt x="9538" y="132184"/>
                      <a:pt x="8273" y="132184"/>
                    </a:cubicBez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594" name="Google Shape;6594;p321"/>
              <p:cNvSpPr/>
              <p:nvPr/>
            </p:nvSpPr>
            <p:spPr>
              <a:xfrm>
                <a:off x="9854224" y="4787649"/>
                <a:ext cx="215908" cy="125859"/>
              </a:xfrm>
              <a:custGeom>
                <a:avLst/>
                <a:gdLst/>
                <a:ahLst/>
                <a:cxnLst/>
                <a:rect l="l" t="t" r="r" b="b"/>
                <a:pathLst>
                  <a:path w="215908" h="125859" extrusionOk="0">
                    <a:moveTo>
                      <a:pt x="7829" y="125860"/>
                    </a:moveTo>
                    <a:cubicBezTo>
                      <a:pt x="5299" y="125860"/>
                      <a:pt x="2137" y="124595"/>
                      <a:pt x="872" y="121432"/>
                    </a:cubicBezTo>
                    <a:cubicBezTo>
                      <a:pt x="-1026" y="117638"/>
                      <a:pt x="239" y="112578"/>
                      <a:pt x="4034" y="110681"/>
                    </a:cubicBezTo>
                    <a:lnTo>
                      <a:pt x="205156" y="0"/>
                    </a:lnTo>
                    <a:lnTo>
                      <a:pt x="215908" y="13282"/>
                    </a:lnTo>
                    <a:lnTo>
                      <a:pt x="11624" y="125227"/>
                    </a:lnTo>
                    <a:cubicBezTo>
                      <a:pt x="10359" y="125860"/>
                      <a:pt x="9094" y="125860"/>
                      <a:pt x="7829" y="125860"/>
                    </a:cubicBez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grpSp>
        <p:sp>
          <p:nvSpPr>
            <p:cNvPr id="6595" name="Google Shape;6595;p321"/>
            <p:cNvSpPr/>
            <p:nvPr/>
          </p:nvSpPr>
          <p:spPr>
            <a:xfrm>
              <a:off x="9947435" y="4644713"/>
              <a:ext cx="81587" cy="15811"/>
            </a:xfrm>
            <a:custGeom>
              <a:avLst/>
              <a:gdLst/>
              <a:ahLst/>
              <a:cxnLst/>
              <a:rect l="l" t="t" r="r" b="b"/>
              <a:pathLst>
                <a:path w="81587" h="15811" extrusionOk="0">
                  <a:moveTo>
                    <a:pt x="0" y="0"/>
                  </a:moveTo>
                  <a:lnTo>
                    <a:pt x="81587" y="0"/>
                  </a:lnTo>
                  <a:lnTo>
                    <a:pt x="81587" y="15812"/>
                  </a:lnTo>
                  <a:lnTo>
                    <a:pt x="0" y="15812"/>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596" name="Google Shape;6596;p321"/>
            <p:cNvSpPr/>
            <p:nvPr/>
          </p:nvSpPr>
          <p:spPr>
            <a:xfrm>
              <a:off x="9904428" y="4644713"/>
              <a:ext cx="17708" cy="15811"/>
            </a:xfrm>
            <a:custGeom>
              <a:avLst/>
              <a:gdLst/>
              <a:ahLst/>
              <a:cxnLst/>
              <a:rect l="l" t="t" r="r" b="b"/>
              <a:pathLst>
                <a:path w="17708" h="15811" extrusionOk="0">
                  <a:moveTo>
                    <a:pt x="0" y="0"/>
                  </a:moveTo>
                  <a:lnTo>
                    <a:pt x="17709" y="0"/>
                  </a:lnTo>
                  <a:lnTo>
                    <a:pt x="17709" y="15812"/>
                  </a:lnTo>
                  <a:lnTo>
                    <a:pt x="0" y="15812"/>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597" name="Google Shape;6597;p321"/>
            <p:cNvSpPr/>
            <p:nvPr/>
          </p:nvSpPr>
          <p:spPr>
            <a:xfrm>
              <a:off x="9862053" y="4644713"/>
              <a:ext cx="21503" cy="15811"/>
            </a:xfrm>
            <a:custGeom>
              <a:avLst/>
              <a:gdLst/>
              <a:ahLst/>
              <a:cxnLst/>
              <a:rect l="l" t="t" r="r" b="b"/>
              <a:pathLst>
                <a:path w="21503" h="15811" extrusionOk="0">
                  <a:moveTo>
                    <a:pt x="0" y="0"/>
                  </a:moveTo>
                  <a:lnTo>
                    <a:pt x="21504" y="0"/>
                  </a:lnTo>
                  <a:lnTo>
                    <a:pt x="21504" y="15812"/>
                  </a:lnTo>
                  <a:lnTo>
                    <a:pt x="0" y="15812"/>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598" name="Google Shape;6598;p321"/>
            <p:cNvSpPr/>
            <p:nvPr/>
          </p:nvSpPr>
          <p:spPr>
            <a:xfrm>
              <a:off x="9851301" y="4724403"/>
              <a:ext cx="81587" cy="15811"/>
            </a:xfrm>
            <a:custGeom>
              <a:avLst/>
              <a:gdLst/>
              <a:ahLst/>
              <a:cxnLst/>
              <a:rect l="l" t="t" r="r" b="b"/>
              <a:pathLst>
                <a:path w="81587" h="15811" extrusionOk="0">
                  <a:moveTo>
                    <a:pt x="0" y="0"/>
                  </a:moveTo>
                  <a:lnTo>
                    <a:pt x="81587" y="0"/>
                  </a:lnTo>
                  <a:lnTo>
                    <a:pt x="81587" y="15811"/>
                  </a:lnTo>
                  <a:lnTo>
                    <a:pt x="0" y="15811"/>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599" name="Google Shape;6599;p321"/>
            <p:cNvSpPr/>
            <p:nvPr/>
          </p:nvSpPr>
          <p:spPr>
            <a:xfrm>
              <a:off x="9808294" y="4724403"/>
              <a:ext cx="17708" cy="15811"/>
            </a:xfrm>
            <a:custGeom>
              <a:avLst/>
              <a:gdLst/>
              <a:ahLst/>
              <a:cxnLst/>
              <a:rect l="l" t="t" r="r" b="b"/>
              <a:pathLst>
                <a:path w="17708" h="15811" extrusionOk="0">
                  <a:moveTo>
                    <a:pt x="0" y="0"/>
                  </a:moveTo>
                  <a:lnTo>
                    <a:pt x="17709" y="0"/>
                  </a:lnTo>
                  <a:lnTo>
                    <a:pt x="17709" y="15811"/>
                  </a:lnTo>
                  <a:lnTo>
                    <a:pt x="0" y="15811"/>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00" name="Google Shape;6600;p321"/>
            <p:cNvSpPr/>
            <p:nvPr/>
          </p:nvSpPr>
          <p:spPr>
            <a:xfrm>
              <a:off x="9765919" y="4724403"/>
              <a:ext cx="21503" cy="15811"/>
            </a:xfrm>
            <a:custGeom>
              <a:avLst/>
              <a:gdLst/>
              <a:ahLst/>
              <a:cxnLst/>
              <a:rect l="l" t="t" r="r" b="b"/>
              <a:pathLst>
                <a:path w="21503" h="15811" extrusionOk="0">
                  <a:moveTo>
                    <a:pt x="0" y="0"/>
                  </a:moveTo>
                  <a:lnTo>
                    <a:pt x="21504" y="0"/>
                  </a:lnTo>
                  <a:lnTo>
                    <a:pt x="21504" y="15811"/>
                  </a:lnTo>
                  <a:lnTo>
                    <a:pt x="0" y="15811"/>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01" name="Google Shape;6601;p321"/>
            <p:cNvSpPr/>
            <p:nvPr/>
          </p:nvSpPr>
          <p:spPr>
            <a:xfrm>
              <a:off x="9882292" y="4563758"/>
              <a:ext cx="81587" cy="15811"/>
            </a:xfrm>
            <a:custGeom>
              <a:avLst/>
              <a:gdLst/>
              <a:ahLst/>
              <a:cxnLst/>
              <a:rect l="l" t="t" r="r" b="b"/>
              <a:pathLst>
                <a:path w="81587" h="15811" extrusionOk="0">
                  <a:moveTo>
                    <a:pt x="0" y="0"/>
                  </a:moveTo>
                  <a:lnTo>
                    <a:pt x="81587" y="0"/>
                  </a:lnTo>
                  <a:lnTo>
                    <a:pt x="81587" y="15812"/>
                  </a:lnTo>
                  <a:lnTo>
                    <a:pt x="0" y="15812"/>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02" name="Google Shape;6602;p321"/>
            <p:cNvSpPr/>
            <p:nvPr/>
          </p:nvSpPr>
          <p:spPr>
            <a:xfrm>
              <a:off x="9839285" y="4563758"/>
              <a:ext cx="17708" cy="15811"/>
            </a:xfrm>
            <a:custGeom>
              <a:avLst/>
              <a:gdLst/>
              <a:ahLst/>
              <a:cxnLst/>
              <a:rect l="l" t="t" r="r" b="b"/>
              <a:pathLst>
                <a:path w="17708" h="15811" extrusionOk="0">
                  <a:moveTo>
                    <a:pt x="0" y="0"/>
                  </a:moveTo>
                  <a:lnTo>
                    <a:pt x="17709" y="0"/>
                  </a:lnTo>
                  <a:lnTo>
                    <a:pt x="17709" y="15812"/>
                  </a:lnTo>
                  <a:lnTo>
                    <a:pt x="0" y="15812"/>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03" name="Google Shape;6603;p321"/>
            <p:cNvSpPr/>
            <p:nvPr/>
          </p:nvSpPr>
          <p:spPr>
            <a:xfrm>
              <a:off x="9796910" y="4563758"/>
              <a:ext cx="21503" cy="15811"/>
            </a:xfrm>
            <a:custGeom>
              <a:avLst/>
              <a:gdLst/>
              <a:ahLst/>
              <a:cxnLst/>
              <a:rect l="l" t="t" r="r" b="b"/>
              <a:pathLst>
                <a:path w="21503" h="15811" extrusionOk="0">
                  <a:moveTo>
                    <a:pt x="0" y="0"/>
                  </a:moveTo>
                  <a:lnTo>
                    <a:pt x="21504" y="0"/>
                  </a:lnTo>
                  <a:lnTo>
                    <a:pt x="21504" y="15812"/>
                  </a:lnTo>
                  <a:lnTo>
                    <a:pt x="0" y="15812"/>
                  </a:lnTo>
                  <a:close/>
                </a:path>
              </a:pathLst>
            </a:custGeom>
            <a:solidFill>
              <a:schemeClr val="accent5"/>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grpSp>
      <p:grpSp>
        <p:nvGrpSpPr>
          <p:cNvPr id="6604" name="Google Shape;6604;p321"/>
          <p:cNvGrpSpPr/>
          <p:nvPr/>
        </p:nvGrpSpPr>
        <p:grpSpPr>
          <a:xfrm>
            <a:off x="6006296" y="3621668"/>
            <a:ext cx="973246" cy="972987"/>
            <a:chOff x="6004678" y="3573661"/>
            <a:chExt cx="973500" cy="973500"/>
          </a:xfrm>
        </p:grpSpPr>
        <p:sp>
          <p:nvSpPr>
            <p:cNvPr id="6605" name="Google Shape;6605;p321"/>
            <p:cNvSpPr/>
            <p:nvPr/>
          </p:nvSpPr>
          <p:spPr>
            <a:xfrm>
              <a:off x="6004678" y="3573661"/>
              <a:ext cx="973500" cy="973500"/>
            </a:xfrm>
            <a:prstGeom prst="ellipse">
              <a:avLst/>
            </a:prstGeom>
            <a:solidFill>
              <a:schemeClr val="lt1"/>
            </a:solidFill>
            <a:ln w="19050" cap="flat" cmpd="sng">
              <a:solidFill>
                <a:schemeClr val="accent1"/>
              </a:solidFill>
              <a:prstDash val="solid"/>
              <a:round/>
              <a:headEnd type="none" w="sm" len="sm"/>
              <a:tailEnd type="none" w="sm" len="sm"/>
            </a:ln>
          </p:spPr>
          <p:txBody>
            <a:bodyPr spcFirstLastPara="1" wrap="square" lIns="60851" tIns="30392" rIns="60851" bIns="30392" anchor="ctr" anchorCtr="0">
              <a:noAutofit/>
            </a:bodyPr>
            <a:lstStyle/>
            <a:p>
              <a:pPr algn="ctr" defTabSz="1218895">
                <a:buClr>
                  <a:srgbClr val="000001"/>
                </a:buClr>
                <a:buSzPts val="1200"/>
              </a:pPr>
              <a:endParaRPr sz="1400">
                <a:solidFill>
                  <a:srgbClr val="3F3F3F"/>
                </a:solidFill>
              </a:endParaRPr>
            </a:p>
          </p:txBody>
        </p:sp>
        <p:grpSp>
          <p:nvGrpSpPr>
            <p:cNvPr id="6606" name="Google Shape;6606;p321" descr="IT Support Lifecycle &#10;"/>
            <p:cNvGrpSpPr/>
            <p:nvPr/>
          </p:nvGrpSpPr>
          <p:grpSpPr>
            <a:xfrm>
              <a:off x="6193895" y="3770950"/>
              <a:ext cx="600657" cy="601908"/>
              <a:chOff x="8439892" y="1943036"/>
              <a:chExt cx="600837" cy="602089"/>
            </a:xfrm>
          </p:grpSpPr>
          <p:sp>
            <p:nvSpPr>
              <p:cNvPr id="6607" name="Google Shape;6607;p321"/>
              <p:cNvSpPr/>
              <p:nvPr/>
            </p:nvSpPr>
            <p:spPr>
              <a:xfrm>
                <a:off x="8439892" y="1943036"/>
                <a:ext cx="600837" cy="602089"/>
              </a:xfrm>
              <a:custGeom>
                <a:avLst/>
                <a:gdLst/>
                <a:ahLst/>
                <a:cxnLst/>
                <a:rect l="l" t="t" r="r" b="b"/>
                <a:pathLst>
                  <a:path w="600837" h="602089" extrusionOk="0">
                    <a:moveTo>
                      <a:pt x="300419" y="0"/>
                    </a:moveTo>
                    <a:cubicBezTo>
                      <a:pt x="253616" y="0"/>
                      <a:pt x="209344" y="10774"/>
                      <a:pt x="169499" y="29788"/>
                    </a:cubicBezTo>
                    <a:lnTo>
                      <a:pt x="176456" y="43731"/>
                    </a:lnTo>
                    <a:cubicBezTo>
                      <a:pt x="213771" y="25351"/>
                      <a:pt x="255514" y="15211"/>
                      <a:pt x="299786" y="15211"/>
                    </a:cubicBezTo>
                    <a:cubicBezTo>
                      <a:pt x="456636" y="15211"/>
                      <a:pt x="584393" y="143234"/>
                      <a:pt x="584393" y="300411"/>
                    </a:cubicBezTo>
                    <a:cubicBezTo>
                      <a:pt x="584393" y="457588"/>
                      <a:pt x="456636" y="585611"/>
                      <a:pt x="299786" y="585611"/>
                    </a:cubicBezTo>
                    <a:cubicBezTo>
                      <a:pt x="142936" y="585611"/>
                      <a:pt x="15179" y="457588"/>
                      <a:pt x="15179" y="300411"/>
                    </a:cubicBezTo>
                    <a:cubicBezTo>
                      <a:pt x="15179" y="229428"/>
                      <a:pt x="41110" y="164149"/>
                      <a:pt x="84117" y="114714"/>
                    </a:cubicBezTo>
                    <a:lnTo>
                      <a:pt x="117005" y="151473"/>
                    </a:lnTo>
                    <a:lnTo>
                      <a:pt x="151790" y="46266"/>
                    </a:lnTo>
                    <a:lnTo>
                      <a:pt x="43640" y="68448"/>
                    </a:lnTo>
                    <a:lnTo>
                      <a:pt x="73365" y="102038"/>
                    </a:lnTo>
                    <a:cubicBezTo>
                      <a:pt x="28461" y="155909"/>
                      <a:pt x="0" y="225625"/>
                      <a:pt x="0" y="301045"/>
                    </a:cubicBezTo>
                    <a:cubicBezTo>
                      <a:pt x="0" y="467095"/>
                      <a:pt x="134714" y="602089"/>
                      <a:pt x="300419" y="602089"/>
                    </a:cubicBezTo>
                    <a:cubicBezTo>
                      <a:pt x="466123" y="602089"/>
                      <a:pt x="600837" y="467095"/>
                      <a:pt x="600837" y="301045"/>
                    </a:cubicBezTo>
                    <a:cubicBezTo>
                      <a:pt x="600837" y="134995"/>
                      <a:pt x="466755" y="0"/>
                      <a:pt x="300419" y="0"/>
                    </a:cubicBezTo>
                    <a:close/>
                  </a:path>
                </a:pathLst>
              </a:custGeom>
              <a:solidFill>
                <a:schemeClr val="accent1"/>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08" name="Google Shape;6608;p321"/>
              <p:cNvSpPr/>
              <p:nvPr/>
            </p:nvSpPr>
            <p:spPr>
              <a:xfrm>
                <a:off x="8576503" y="2079932"/>
                <a:ext cx="352912" cy="358084"/>
              </a:xfrm>
              <a:custGeom>
                <a:avLst/>
                <a:gdLst/>
                <a:ahLst/>
                <a:cxnLst/>
                <a:rect l="l" t="t" r="r" b="b"/>
                <a:pathLst>
                  <a:path w="352912" h="358084" extrusionOk="0">
                    <a:moveTo>
                      <a:pt x="23401" y="0"/>
                    </a:moveTo>
                    <a:lnTo>
                      <a:pt x="0" y="23450"/>
                    </a:lnTo>
                    <a:lnTo>
                      <a:pt x="20871" y="59575"/>
                    </a:lnTo>
                    <a:lnTo>
                      <a:pt x="34785" y="51336"/>
                    </a:lnTo>
                    <a:lnTo>
                      <a:pt x="20239" y="25985"/>
                    </a:lnTo>
                    <a:lnTo>
                      <a:pt x="25298" y="20915"/>
                    </a:lnTo>
                    <a:lnTo>
                      <a:pt x="67673" y="53237"/>
                    </a:lnTo>
                    <a:lnTo>
                      <a:pt x="67673" y="77321"/>
                    </a:lnTo>
                    <a:lnTo>
                      <a:pt x="156850" y="166684"/>
                    </a:lnTo>
                    <a:lnTo>
                      <a:pt x="139774" y="183796"/>
                    </a:lnTo>
                    <a:cubicBezTo>
                      <a:pt x="132184" y="191401"/>
                      <a:pt x="132184" y="204710"/>
                      <a:pt x="140406" y="212949"/>
                    </a:cubicBezTo>
                    <a:lnTo>
                      <a:pt x="149893" y="222456"/>
                    </a:lnTo>
                    <a:lnTo>
                      <a:pt x="161277" y="211048"/>
                    </a:lnTo>
                    <a:lnTo>
                      <a:pt x="151790" y="201542"/>
                    </a:lnTo>
                    <a:cubicBezTo>
                      <a:pt x="149893" y="199640"/>
                      <a:pt x="149893" y="196471"/>
                      <a:pt x="151158" y="194570"/>
                    </a:cubicBezTo>
                    <a:lnTo>
                      <a:pt x="189106" y="156543"/>
                    </a:lnTo>
                    <a:cubicBezTo>
                      <a:pt x="191003" y="154642"/>
                      <a:pt x="193533" y="155276"/>
                      <a:pt x="196063" y="157177"/>
                    </a:cubicBezTo>
                    <a:lnTo>
                      <a:pt x="207447" y="168585"/>
                    </a:lnTo>
                    <a:cubicBezTo>
                      <a:pt x="209344" y="170486"/>
                      <a:pt x="209344" y="173655"/>
                      <a:pt x="208079" y="175557"/>
                    </a:cubicBezTo>
                    <a:lnTo>
                      <a:pt x="208079" y="175557"/>
                    </a:lnTo>
                    <a:lnTo>
                      <a:pt x="168234" y="214851"/>
                    </a:lnTo>
                    <a:lnTo>
                      <a:pt x="179619" y="226259"/>
                    </a:lnTo>
                    <a:lnTo>
                      <a:pt x="220729" y="185063"/>
                    </a:lnTo>
                    <a:lnTo>
                      <a:pt x="235908" y="193302"/>
                    </a:lnTo>
                    <a:lnTo>
                      <a:pt x="335204" y="292806"/>
                    </a:lnTo>
                    <a:lnTo>
                      <a:pt x="337101" y="299777"/>
                    </a:lnTo>
                    <a:lnTo>
                      <a:pt x="294726" y="340973"/>
                    </a:lnTo>
                    <a:lnTo>
                      <a:pt x="289034" y="339705"/>
                    </a:lnTo>
                    <a:lnTo>
                      <a:pt x="184678" y="235132"/>
                    </a:lnTo>
                    <a:lnTo>
                      <a:pt x="173294" y="246540"/>
                    </a:lnTo>
                    <a:lnTo>
                      <a:pt x="280812" y="354282"/>
                    </a:lnTo>
                    <a:lnTo>
                      <a:pt x="299786" y="358085"/>
                    </a:lnTo>
                    <a:lnTo>
                      <a:pt x="352913" y="304847"/>
                    </a:lnTo>
                    <a:lnTo>
                      <a:pt x="348485" y="285200"/>
                    </a:lnTo>
                    <a:lnTo>
                      <a:pt x="244762" y="180627"/>
                    </a:lnTo>
                    <a:lnTo>
                      <a:pt x="223891" y="169853"/>
                    </a:lnTo>
                    <a:cubicBezTo>
                      <a:pt x="223258" y="165416"/>
                      <a:pt x="221361" y="160980"/>
                      <a:pt x="218199" y="157177"/>
                    </a:cubicBezTo>
                    <a:lnTo>
                      <a:pt x="206814" y="145769"/>
                    </a:lnTo>
                    <a:cubicBezTo>
                      <a:pt x="198592" y="137530"/>
                      <a:pt x="185943" y="137530"/>
                      <a:pt x="177721" y="145135"/>
                    </a:cubicBezTo>
                    <a:lnTo>
                      <a:pt x="166969" y="155909"/>
                    </a:lnTo>
                    <a:lnTo>
                      <a:pt x="82852" y="71617"/>
                    </a:lnTo>
                    <a:lnTo>
                      <a:pt x="82852" y="46266"/>
                    </a:lnTo>
                    <a:lnTo>
                      <a:pt x="23401" y="0"/>
                    </a:lnTo>
                    <a:close/>
                  </a:path>
                </a:pathLst>
              </a:custGeom>
              <a:solidFill>
                <a:schemeClr val="accent1"/>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09" name="Google Shape;6609;p321"/>
              <p:cNvSpPr/>
              <p:nvPr/>
            </p:nvSpPr>
            <p:spPr>
              <a:xfrm>
                <a:off x="8547503" y="2239644"/>
                <a:ext cx="169405" cy="197738"/>
              </a:xfrm>
              <a:custGeom>
                <a:avLst/>
                <a:gdLst/>
                <a:ahLst/>
                <a:cxnLst/>
                <a:rect l="l" t="t" r="r" b="b"/>
                <a:pathLst>
                  <a:path w="169405" h="197738" extrusionOk="0">
                    <a:moveTo>
                      <a:pt x="158022" y="58308"/>
                    </a:moveTo>
                    <a:lnTo>
                      <a:pt x="106792" y="109644"/>
                    </a:lnTo>
                    <a:lnTo>
                      <a:pt x="108690" y="114714"/>
                    </a:lnTo>
                    <a:cubicBezTo>
                      <a:pt x="116279" y="133093"/>
                      <a:pt x="111852" y="153374"/>
                      <a:pt x="97938" y="167317"/>
                    </a:cubicBezTo>
                    <a:cubicBezTo>
                      <a:pt x="87186" y="178092"/>
                      <a:pt x="72639" y="183162"/>
                      <a:pt x="58093" y="181261"/>
                    </a:cubicBezTo>
                    <a:lnTo>
                      <a:pt x="79597" y="159712"/>
                    </a:lnTo>
                    <a:lnTo>
                      <a:pt x="70742" y="126122"/>
                    </a:lnTo>
                    <a:lnTo>
                      <a:pt x="37222" y="117249"/>
                    </a:lnTo>
                    <a:lnTo>
                      <a:pt x="15718" y="138797"/>
                    </a:lnTo>
                    <a:cubicBezTo>
                      <a:pt x="13821" y="124221"/>
                      <a:pt x="18880" y="109644"/>
                      <a:pt x="29632" y="98869"/>
                    </a:cubicBezTo>
                    <a:cubicBezTo>
                      <a:pt x="43546" y="84926"/>
                      <a:pt x="64417" y="81124"/>
                      <a:pt x="82126" y="88095"/>
                    </a:cubicBezTo>
                    <a:lnTo>
                      <a:pt x="87186" y="89997"/>
                    </a:lnTo>
                    <a:lnTo>
                      <a:pt x="144107" y="32956"/>
                    </a:lnTo>
                    <a:cubicBezTo>
                      <a:pt x="144740" y="31055"/>
                      <a:pt x="146005" y="29154"/>
                      <a:pt x="147270" y="27886"/>
                    </a:cubicBezTo>
                    <a:lnTo>
                      <a:pt x="165611" y="11408"/>
                    </a:lnTo>
                    <a:lnTo>
                      <a:pt x="154227" y="0"/>
                    </a:lnTo>
                    <a:lnTo>
                      <a:pt x="84024" y="72251"/>
                    </a:lnTo>
                    <a:cubicBezTo>
                      <a:pt x="61255" y="64645"/>
                      <a:pt x="36589" y="70983"/>
                      <a:pt x="18880" y="88095"/>
                    </a:cubicBezTo>
                    <a:cubicBezTo>
                      <a:pt x="539" y="106475"/>
                      <a:pt x="-5153" y="133727"/>
                      <a:pt x="4966" y="157177"/>
                    </a:cubicBezTo>
                    <a:lnTo>
                      <a:pt x="9393" y="168585"/>
                    </a:lnTo>
                    <a:lnTo>
                      <a:pt x="42281" y="135629"/>
                    </a:lnTo>
                    <a:lnTo>
                      <a:pt x="58093" y="140065"/>
                    </a:lnTo>
                    <a:lnTo>
                      <a:pt x="62520" y="155909"/>
                    </a:lnTo>
                    <a:lnTo>
                      <a:pt x="29000" y="188866"/>
                    </a:lnTo>
                    <a:lnTo>
                      <a:pt x="40384" y="193302"/>
                    </a:lnTo>
                    <a:cubicBezTo>
                      <a:pt x="47974" y="196471"/>
                      <a:pt x="56195" y="197739"/>
                      <a:pt x="64417" y="197739"/>
                    </a:cubicBezTo>
                    <a:cubicBezTo>
                      <a:pt x="80861" y="197739"/>
                      <a:pt x="97305" y="191401"/>
                      <a:pt x="109955" y="178725"/>
                    </a:cubicBezTo>
                    <a:cubicBezTo>
                      <a:pt x="127031" y="161613"/>
                      <a:pt x="132723" y="136262"/>
                      <a:pt x="125766" y="113446"/>
                    </a:cubicBezTo>
                    <a:lnTo>
                      <a:pt x="169406" y="69716"/>
                    </a:lnTo>
                    <a:lnTo>
                      <a:pt x="158022" y="58308"/>
                    </a:lnTo>
                    <a:close/>
                  </a:path>
                </a:pathLst>
              </a:custGeom>
              <a:solidFill>
                <a:schemeClr val="accent1"/>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sp>
            <p:nvSpPr>
              <p:cNvPr id="6610" name="Google Shape;6610;p321"/>
              <p:cNvSpPr/>
              <p:nvPr/>
            </p:nvSpPr>
            <p:spPr>
              <a:xfrm>
                <a:off x="8735883" y="2051291"/>
                <a:ext cx="197866" cy="174410"/>
              </a:xfrm>
              <a:custGeom>
                <a:avLst/>
                <a:gdLst/>
                <a:ahLst/>
                <a:cxnLst/>
                <a:rect l="l" t="t" r="r" b="b"/>
                <a:pathLst>
                  <a:path w="197866" h="174410" extrusionOk="0">
                    <a:moveTo>
                      <a:pt x="11384" y="166805"/>
                    </a:moveTo>
                    <a:lnTo>
                      <a:pt x="90442" y="87583"/>
                    </a:lnTo>
                    <a:lnTo>
                      <a:pt x="88544" y="82513"/>
                    </a:lnTo>
                    <a:cubicBezTo>
                      <a:pt x="80955" y="64133"/>
                      <a:pt x="85382" y="43852"/>
                      <a:pt x="99296" y="29909"/>
                    </a:cubicBezTo>
                    <a:cubicBezTo>
                      <a:pt x="110048" y="19135"/>
                      <a:pt x="124595" y="14065"/>
                      <a:pt x="139141" y="15966"/>
                    </a:cubicBezTo>
                    <a:lnTo>
                      <a:pt x="117638" y="37514"/>
                    </a:lnTo>
                    <a:lnTo>
                      <a:pt x="126492" y="71105"/>
                    </a:lnTo>
                    <a:lnTo>
                      <a:pt x="160012" y="79978"/>
                    </a:lnTo>
                    <a:lnTo>
                      <a:pt x="181516" y="58429"/>
                    </a:lnTo>
                    <a:cubicBezTo>
                      <a:pt x="183413" y="73006"/>
                      <a:pt x="178354" y="87583"/>
                      <a:pt x="167602" y="98357"/>
                    </a:cubicBezTo>
                    <a:cubicBezTo>
                      <a:pt x="153688" y="112300"/>
                      <a:pt x="132817" y="116103"/>
                      <a:pt x="115108" y="109131"/>
                    </a:cubicBezTo>
                    <a:lnTo>
                      <a:pt x="110048" y="106596"/>
                    </a:lnTo>
                    <a:lnTo>
                      <a:pt x="54392" y="162369"/>
                    </a:lnTo>
                    <a:lnTo>
                      <a:pt x="65143" y="174411"/>
                    </a:lnTo>
                    <a:lnTo>
                      <a:pt x="113843" y="125610"/>
                    </a:lnTo>
                    <a:cubicBezTo>
                      <a:pt x="136611" y="133215"/>
                      <a:pt x="161277" y="126877"/>
                      <a:pt x="178986" y="109765"/>
                    </a:cubicBezTo>
                    <a:cubicBezTo>
                      <a:pt x="197328" y="91386"/>
                      <a:pt x="203020" y="64133"/>
                      <a:pt x="192900" y="40683"/>
                    </a:cubicBezTo>
                    <a:lnTo>
                      <a:pt x="188473" y="28642"/>
                    </a:lnTo>
                    <a:lnTo>
                      <a:pt x="155585" y="61598"/>
                    </a:lnTo>
                    <a:lnTo>
                      <a:pt x="139774" y="57162"/>
                    </a:lnTo>
                    <a:lnTo>
                      <a:pt x="135346" y="41951"/>
                    </a:lnTo>
                    <a:lnTo>
                      <a:pt x="168234" y="8994"/>
                    </a:lnTo>
                    <a:lnTo>
                      <a:pt x="156850" y="4558"/>
                    </a:lnTo>
                    <a:cubicBezTo>
                      <a:pt x="132817" y="-4949"/>
                      <a:pt x="105621" y="755"/>
                      <a:pt x="87912" y="18501"/>
                    </a:cubicBezTo>
                    <a:cubicBezTo>
                      <a:pt x="70836" y="35613"/>
                      <a:pt x="65143" y="60964"/>
                      <a:pt x="72100" y="83780"/>
                    </a:cubicBezTo>
                    <a:lnTo>
                      <a:pt x="0" y="156031"/>
                    </a:lnTo>
                    <a:lnTo>
                      <a:pt x="11384" y="166805"/>
                    </a:lnTo>
                    <a:close/>
                  </a:path>
                </a:pathLst>
              </a:custGeom>
              <a:solidFill>
                <a:schemeClr val="accent1"/>
              </a:solidFill>
              <a:ln>
                <a:noFill/>
              </a:ln>
            </p:spPr>
            <p:txBody>
              <a:bodyPr spcFirstLastPara="1" wrap="square" lIns="91376" tIns="45655" rIns="91376" bIns="45655" anchor="ctr" anchorCtr="0">
                <a:noAutofit/>
              </a:bodyPr>
              <a:lstStyle/>
              <a:p>
                <a:pPr defTabSz="1218895">
                  <a:buClr>
                    <a:srgbClr val="000001"/>
                  </a:buClr>
                  <a:buSzPts val="1300"/>
                </a:pPr>
                <a:endParaRPr sz="1600">
                  <a:solidFill>
                    <a:srgbClr val="000001"/>
                  </a:solidFill>
                </a:endParaRPr>
              </a:p>
            </p:txBody>
          </p:sp>
        </p:grpSp>
      </p:grpSp>
      <p:grpSp>
        <p:nvGrpSpPr>
          <p:cNvPr id="6611" name="Google Shape;6611;p321"/>
          <p:cNvGrpSpPr/>
          <p:nvPr/>
        </p:nvGrpSpPr>
        <p:grpSpPr>
          <a:xfrm>
            <a:off x="6006296" y="5246704"/>
            <a:ext cx="973246" cy="972987"/>
            <a:chOff x="6004678" y="5247679"/>
            <a:chExt cx="973500" cy="973500"/>
          </a:xfrm>
        </p:grpSpPr>
        <p:sp>
          <p:nvSpPr>
            <p:cNvPr id="6612" name="Google Shape;6612;p321"/>
            <p:cNvSpPr/>
            <p:nvPr/>
          </p:nvSpPr>
          <p:spPr>
            <a:xfrm>
              <a:off x="6004678" y="5247679"/>
              <a:ext cx="973500" cy="973500"/>
            </a:xfrm>
            <a:prstGeom prst="ellipse">
              <a:avLst/>
            </a:prstGeom>
            <a:solidFill>
              <a:schemeClr val="lt1"/>
            </a:solidFill>
            <a:ln w="19050" cap="flat" cmpd="sng">
              <a:solidFill>
                <a:schemeClr val="accent3"/>
              </a:solidFill>
              <a:prstDash val="solid"/>
              <a:round/>
              <a:headEnd type="none" w="sm" len="sm"/>
              <a:tailEnd type="none" w="sm" len="sm"/>
            </a:ln>
          </p:spPr>
          <p:txBody>
            <a:bodyPr spcFirstLastPara="1" wrap="square" lIns="60851" tIns="30392" rIns="60851" bIns="30392" anchor="ctr" anchorCtr="0">
              <a:noAutofit/>
            </a:bodyPr>
            <a:lstStyle/>
            <a:p>
              <a:pPr algn="ctr" defTabSz="1218895">
                <a:buClr>
                  <a:srgbClr val="000001"/>
                </a:buClr>
                <a:buSzPts val="1200"/>
              </a:pPr>
              <a:endParaRPr sz="1400">
                <a:solidFill>
                  <a:srgbClr val="3F3F3F"/>
                </a:solidFill>
              </a:endParaRPr>
            </a:p>
          </p:txBody>
        </p:sp>
        <p:grpSp>
          <p:nvGrpSpPr>
            <p:cNvPr id="6613" name="Google Shape;6613;p321" descr="Security 2&#10;"/>
            <p:cNvGrpSpPr/>
            <p:nvPr/>
          </p:nvGrpSpPr>
          <p:grpSpPr>
            <a:xfrm>
              <a:off x="6266799" y="5389353"/>
              <a:ext cx="456935" cy="665721"/>
              <a:chOff x="5912431" y="1949843"/>
              <a:chExt cx="411098" cy="598939"/>
            </a:xfrm>
          </p:grpSpPr>
          <p:sp>
            <p:nvSpPr>
              <p:cNvPr id="6614" name="Google Shape;6614;p321"/>
              <p:cNvSpPr/>
              <p:nvPr/>
            </p:nvSpPr>
            <p:spPr>
              <a:xfrm>
                <a:off x="5958601" y="2179426"/>
                <a:ext cx="166336" cy="166336"/>
              </a:xfrm>
              <a:custGeom>
                <a:avLst/>
                <a:gdLst/>
                <a:ahLst/>
                <a:cxnLst/>
                <a:rect l="l" t="t" r="r" b="b"/>
                <a:pathLst>
                  <a:path w="166336" h="166336" extrusionOk="0">
                    <a:moveTo>
                      <a:pt x="7590" y="166337"/>
                    </a:moveTo>
                    <a:cubicBezTo>
                      <a:pt x="3162" y="166337"/>
                      <a:pt x="0" y="162542"/>
                      <a:pt x="0" y="158747"/>
                    </a:cubicBezTo>
                    <a:cubicBezTo>
                      <a:pt x="0" y="71468"/>
                      <a:pt x="71468" y="0"/>
                      <a:pt x="158747" y="0"/>
                    </a:cubicBezTo>
                    <a:cubicBezTo>
                      <a:pt x="163175" y="0"/>
                      <a:pt x="166337" y="3795"/>
                      <a:pt x="166337" y="7590"/>
                    </a:cubicBezTo>
                    <a:cubicBezTo>
                      <a:pt x="166337" y="11384"/>
                      <a:pt x="162542" y="15179"/>
                      <a:pt x="158747" y="15179"/>
                    </a:cubicBezTo>
                    <a:cubicBezTo>
                      <a:pt x="79690" y="15179"/>
                      <a:pt x="15812" y="79058"/>
                      <a:pt x="15812" y="158115"/>
                    </a:cubicBezTo>
                    <a:cubicBezTo>
                      <a:pt x="15179" y="162542"/>
                      <a:pt x="12017" y="166337"/>
                      <a:pt x="7590" y="166337"/>
                    </a:cubicBezTo>
                    <a:close/>
                  </a:path>
                </a:pathLst>
              </a:custGeom>
              <a:solidFill>
                <a:schemeClr val="accent3"/>
              </a:solidFill>
              <a:ln>
                <a:noFill/>
              </a:ln>
            </p:spPr>
            <p:txBody>
              <a:bodyPr spcFirstLastPara="1" wrap="square" lIns="91376" tIns="45655" rIns="91376" bIns="45655" anchor="ctr" anchorCtr="0">
                <a:noAutofit/>
              </a:bodyPr>
              <a:lstStyle/>
              <a:p>
                <a:pPr defTabSz="1218895">
                  <a:buClr>
                    <a:srgbClr val="000001"/>
                  </a:buClr>
                  <a:buSzPts val="1400"/>
                </a:pPr>
                <a:endParaRPr sz="1600">
                  <a:solidFill>
                    <a:srgbClr val="000001"/>
                  </a:solidFill>
                </a:endParaRPr>
              </a:p>
            </p:txBody>
          </p:sp>
          <p:grpSp>
            <p:nvGrpSpPr>
              <p:cNvPr id="6615" name="Google Shape;6615;p321"/>
              <p:cNvGrpSpPr/>
              <p:nvPr/>
            </p:nvGrpSpPr>
            <p:grpSpPr>
              <a:xfrm>
                <a:off x="5912431" y="1949843"/>
                <a:ext cx="411098" cy="598939"/>
                <a:chOff x="5912431" y="1949843"/>
                <a:chExt cx="411098" cy="598939"/>
              </a:xfrm>
            </p:grpSpPr>
            <p:sp>
              <p:nvSpPr>
                <p:cNvPr id="6616" name="Google Shape;6616;p321"/>
                <p:cNvSpPr/>
                <p:nvPr/>
              </p:nvSpPr>
              <p:spPr>
                <a:xfrm>
                  <a:off x="5912431" y="1949843"/>
                  <a:ext cx="411098" cy="598939"/>
                </a:xfrm>
                <a:custGeom>
                  <a:avLst/>
                  <a:gdLst/>
                  <a:ahLst/>
                  <a:cxnLst/>
                  <a:rect l="l" t="t" r="r" b="b"/>
                  <a:pathLst>
                    <a:path w="411098" h="598939" extrusionOk="0">
                      <a:moveTo>
                        <a:pt x="316230" y="220096"/>
                      </a:moveTo>
                      <a:lnTo>
                        <a:pt x="316230" y="104988"/>
                      </a:lnTo>
                      <a:cubicBezTo>
                        <a:pt x="316230" y="47435"/>
                        <a:pt x="270693" y="0"/>
                        <a:pt x="215036" y="0"/>
                      </a:cubicBezTo>
                      <a:lnTo>
                        <a:pt x="196063" y="0"/>
                      </a:lnTo>
                      <a:cubicBezTo>
                        <a:pt x="140406" y="0"/>
                        <a:pt x="94869" y="46802"/>
                        <a:pt x="94869" y="104988"/>
                      </a:cubicBezTo>
                      <a:lnTo>
                        <a:pt x="94869" y="220096"/>
                      </a:lnTo>
                      <a:cubicBezTo>
                        <a:pt x="37948" y="256779"/>
                        <a:pt x="0" y="320657"/>
                        <a:pt x="0" y="393390"/>
                      </a:cubicBezTo>
                      <a:cubicBezTo>
                        <a:pt x="0" y="506600"/>
                        <a:pt x="92339" y="598940"/>
                        <a:pt x="205549" y="598940"/>
                      </a:cubicBezTo>
                      <a:cubicBezTo>
                        <a:pt x="318760" y="598940"/>
                        <a:pt x="411099" y="506600"/>
                        <a:pt x="411099" y="393390"/>
                      </a:cubicBezTo>
                      <a:cubicBezTo>
                        <a:pt x="411099" y="320025"/>
                        <a:pt x="373151" y="256146"/>
                        <a:pt x="316230" y="220096"/>
                      </a:cubicBezTo>
                      <a:close/>
                      <a:moveTo>
                        <a:pt x="110680" y="104988"/>
                      </a:moveTo>
                      <a:cubicBezTo>
                        <a:pt x="110680" y="55656"/>
                        <a:pt x="149261" y="15812"/>
                        <a:pt x="196063" y="15812"/>
                      </a:cubicBezTo>
                      <a:lnTo>
                        <a:pt x="215036" y="15812"/>
                      </a:lnTo>
                      <a:cubicBezTo>
                        <a:pt x="262471" y="15812"/>
                        <a:pt x="300419" y="55656"/>
                        <a:pt x="300419" y="104988"/>
                      </a:cubicBezTo>
                      <a:lnTo>
                        <a:pt x="300419" y="211242"/>
                      </a:lnTo>
                      <a:cubicBezTo>
                        <a:pt x="271958" y="196695"/>
                        <a:pt x="239702" y="187841"/>
                        <a:pt x="205549" y="187841"/>
                      </a:cubicBezTo>
                      <a:cubicBezTo>
                        <a:pt x="171397" y="187841"/>
                        <a:pt x="139141" y="196063"/>
                        <a:pt x="110680" y="211242"/>
                      </a:cubicBezTo>
                      <a:lnTo>
                        <a:pt x="110680" y="104988"/>
                      </a:lnTo>
                      <a:close/>
                      <a:moveTo>
                        <a:pt x="205549" y="583128"/>
                      </a:moveTo>
                      <a:cubicBezTo>
                        <a:pt x="101194" y="583128"/>
                        <a:pt x="15812" y="497746"/>
                        <a:pt x="15812" y="393390"/>
                      </a:cubicBezTo>
                      <a:cubicBezTo>
                        <a:pt x="15812" y="289034"/>
                        <a:pt x="101194" y="203652"/>
                        <a:pt x="205549" y="203652"/>
                      </a:cubicBezTo>
                      <a:cubicBezTo>
                        <a:pt x="309905" y="203652"/>
                        <a:pt x="395288" y="289034"/>
                        <a:pt x="395288" y="393390"/>
                      </a:cubicBezTo>
                      <a:cubicBezTo>
                        <a:pt x="395288" y="497746"/>
                        <a:pt x="309905" y="583128"/>
                        <a:pt x="205549" y="583128"/>
                      </a:cubicBezTo>
                      <a:close/>
                    </a:path>
                  </a:pathLst>
                </a:custGeom>
                <a:solidFill>
                  <a:schemeClr val="accent3"/>
                </a:solidFill>
                <a:ln>
                  <a:noFill/>
                </a:ln>
              </p:spPr>
              <p:txBody>
                <a:bodyPr spcFirstLastPara="1" wrap="square" lIns="91376" tIns="45655" rIns="91376" bIns="45655" anchor="ctr" anchorCtr="0">
                  <a:noAutofit/>
                </a:bodyPr>
                <a:lstStyle/>
                <a:p>
                  <a:pPr defTabSz="1218895">
                    <a:buClr>
                      <a:srgbClr val="000001"/>
                    </a:buClr>
                    <a:buSzPts val="1400"/>
                  </a:pPr>
                  <a:endParaRPr sz="1600">
                    <a:solidFill>
                      <a:srgbClr val="000001"/>
                    </a:solidFill>
                  </a:endParaRPr>
                </a:p>
              </p:txBody>
            </p:sp>
            <p:sp>
              <p:nvSpPr>
                <p:cNvPr id="6617" name="Google Shape;6617;p321"/>
                <p:cNvSpPr/>
                <p:nvPr/>
              </p:nvSpPr>
              <p:spPr>
                <a:xfrm>
                  <a:off x="6084460" y="2289474"/>
                  <a:ext cx="67673" cy="106253"/>
                </a:xfrm>
                <a:custGeom>
                  <a:avLst/>
                  <a:gdLst/>
                  <a:ahLst/>
                  <a:cxnLst/>
                  <a:rect l="l" t="t" r="r" b="b"/>
                  <a:pathLst>
                    <a:path w="67673" h="106253" extrusionOk="0">
                      <a:moveTo>
                        <a:pt x="33520" y="0"/>
                      </a:moveTo>
                      <a:cubicBezTo>
                        <a:pt x="15179" y="0"/>
                        <a:pt x="0" y="15179"/>
                        <a:pt x="0" y="33520"/>
                      </a:cubicBezTo>
                      <a:cubicBezTo>
                        <a:pt x="0" y="46170"/>
                        <a:pt x="6957" y="56921"/>
                        <a:pt x="17076" y="62614"/>
                      </a:cubicBezTo>
                      <a:lnTo>
                        <a:pt x="17076" y="97399"/>
                      </a:lnTo>
                      <a:cubicBezTo>
                        <a:pt x="17076" y="102459"/>
                        <a:pt x="20871" y="106253"/>
                        <a:pt x="25931" y="106253"/>
                      </a:cubicBezTo>
                      <a:lnTo>
                        <a:pt x="41742" y="106253"/>
                      </a:lnTo>
                      <a:cubicBezTo>
                        <a:pt x="46802" y="106253"/>
                        <a:pt x="50597" y="102459"/>
                        <a:pt x="50597" y="97399"/>
                      </a:cubicBezTo>
                      <a:lnTo>
                        <a:pt x="50597" y="62614"/>
                      </a:lnTo>
                      <a:cubicBezTo>
                        <a:pt x="60716" y="56921"/>
                        <a:pt x="67673" y="46170"/>
                        <a:pt x="67673" y="33520"/>
                      </a:cubicBezTo>
                      <a:cubicBezTo>
                        <a:pt x="67041" y="15179"/>
                        <a:pt x="51862" y="0"/>
                        <a:pt x="33520" y="0"/>
                      </a:cubicBezTo>
                      <a:close/>
                    </a:path>
                  </a:pathLst>
                </a:custGeom>
                <a:solidFill>
                  <a:schemeClr val="accent3"/>
                </a:solidFill>
                <a:ln>
                  <a:noFill/>
                </a:ln>
              </p:spPr>
              <p:txBody>
                <a:bodyPr spcFirstLastPara="1" wrap="square" lIns="91376" tIns="45655" rIns="91376" bIns="45655" anchor="ctr" anchorCtr="0">
                  <a:noAutofit/>
                </a:bodyPr>
                <a:lstStyle/>
                <a:p>
                  <a:pPr defTabSz="1218895">
                    <a:buClr>
                      <a:srgbClr val="000001"/>
                    </a:buClr>
                    <a:buSzPts val="1400"/>
                  </a:pPr>
                  <a:endParaRPr sz="1600">
                    <a:solidFill>
                      <a:srgbClr val="000001"/>
                    </a:solidFill>
                  </a:endParaRPr>
                </a:p>
              </p:txBody>
            </p:sp>
          </p:grpSp>
        </p:grpSp>
      </p:grpSp>
      <p:grpSp>
        <p:nvGrpSpPr>
          <p:cNvPr id="6618" name="Google Shape;6618;p321"/>
          <p:cNvGrpSpPr/>
          <p:nvPr/>
        </p:nvGrpSpPr>
        <p:grpSpPr>
          <a:xfrm>
            <a:off x="2244086" y="2022338"/>
            <a:ext cx="1425133" cy="1424845"/>
            <a:chOff x="953779" y="3714543"/>
            <a:chExt cx="720000" cy="720000"/>
          </a:xfrm>
        </p:grpSpPr>
        <p:sp>
          <p:nvSpPr>
            <p:cNvPr id="6619" name="Google Shape;6619;p321"/>
            <p:cNvSpPr/>
            <p:nvPr/>
          </p:nvSpPr>
          <p:spPr>
            <a:xfrm>
              <a:off x="953779" y="3714543"/>
              <a:ext cx="720000" cy="720000"/>
            </a:xfrm>
            <a:prstGeom prst="ellipse">
              <a:avLst/>
            </a:prstGeom>
            <a:solidFill>
              <a:schemeClr val="lt1"/>
            </a:solidFill>
            <a:ln>
              <a:noFill/>
            </a:ln>
          </p:spPr>
          <p:txBody>
            <a:bodyPr spcFirstLastPara="1" wrap="square" lIns="91410" tIns="45688" rIns="91410" bIns="45688" anchor="ctr" anchorCtr="0">
              <a:noAutofit/>
            </a:bodyPr>
            <a:lstStyle/>
            <a:p>
              <a:pPr algn="ctr" defTabSz="1218895">
                <a:buClr>
                  <a:srgbClr val="FFFFFF"/>
                </a:buClr>
                <a:buSzPts val="900"/>
              </a:pPr>
              <a:endParaRPr sz="1200">
                <a:solidFill>
                  <a:srgbClr val="FFFFFF"/>
                </a:solidFill>
              </a:endParaRPr>
            </a:p>
          </p:txBody>
        </p:sp>
        <p:pic>
          <p:nvPicPr>
            <p:cNvPr id="6620" name="Google Shape;6620;p321"/>
            <p:cNvPicPr preferRelativeResize="0"/>
            <p:nvPr/>
          </p:nvPicPr>
          <p:blipFill rotWithShape="1">
            <a:blip r:embed="rId3">
              <a:alphaModFix/>
            </a:blip>
            <a:srcRect/>
            <a:stretch/>
          </p:blipFill>
          <p:spPr>
            <a:xfrm>
              <a:off x="991706" y="3714543"/>
              <a:ext cx="647700" cy="647700"/>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Shape 17156"/>
        <p:cNvGrpSpPr/>
        <p:nvPr/>
      </p:nvGrpSpPr>
      <p:grpSpPr>
        <a:xfrm>
          <a:off x="0" y="0"/>
          <a:ext cx="0" cy="0"/>
          <a:chOff x="0" y="0"/>
          <a:chExt cx="0" cy="0"/>
        </a:xfrm>
      </p:grpSpPr>
      <p:sp>
        <p:nvSpPr>
          <p:cNvPr id="17157" name="Google Shape;17157;p135"/>
          <p:cNvSpPr txBox="1">
            <a:spLocks noGrp="1"/>
          </p:cNvSpPr>
          <p:nvPr>
            <p:ph type="title"/>
          </p:nvPr>
        </p:nvSpPr>
        <p:spPr>
          <a:xfrm>
            <a:off x="589107" y="938794"/>
            <a:ext cx="6555971" cy="122936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3600"/>
              <a:buFont typeface="Arial"/>
              <a:buNone/>
            </a:pPr>
            <a:r>
              <a:rPr lang="en-US"/>
              <a:t>Strengthen Compliance and Harden Infrastructure</a:t>
            </a:r>
            <a:endParaRPr/>
          </a:p>
        </p:txBody>
      </p:sp>
      <p:sp>
        <p:nvSpPr>
          <p:cNvPr id="17158" name="Google Shape;17158;p135"/>
          <p:cNvSpPr/>
          <p:nvPr/>
        </p:nvSpPr>
        <p:spPr>
          <a:xfrm rot="2688603">
            <a:off x="5784758" y="1981995"/>
            <a:ext cx="1901172" cy="4098676"/>
          </a:xfrm>
          <a:prstGeom prst="rect">
            <a:avLst/>
          </a:prstGeom>
          <a:solidFill>
            <a:schemeClr val="lt1">
              <a:alpha val="71764"/>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a:buNone/>
              <a:tabLst/>
              <a:defRPr/>
            </a:pPr>
            <a:endParaRPr kumimoji="0" sz="10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17159" name="Google Shape;17159;p135"/>
          <p:cNvSpPr txBox="1"/>
          <p:nvPr/>
        </p:nvSpPr>
        <p:spPr>
          <a:xfrm>
            <a:off x="490252" y="2308659"/>
            <a:ext cx="7315200" cy="434541"/>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600"/>
              </a:spcBef>
              <a:spcAft>
                <a:spcPts val="0"/>
              </a:spcAft>
              <a:buClr>
                <a:srgbClr val="666666"/>
              </a:buClr>
              <a:buSzPts val="1800"/>
              <a:buFont typeface="Arial"/>
              <a:buNone/>
              <a:tabLst/>
              <a:defRPr/>
            </a:pPr>
            <a:endParaRPr kumimoji="0" sz="2000" b="0" i="0" u="none" strike="noStrike" kern="1200" cap="none" spc="0" normalizeH="0" baseline="0" noProof="0">
              <a:ln>
                <a:noFill/>
              </a:ln>
              <a:solidFill>
                <a:srgbClr val="000000"/>
              </a:solidFill>
              <a:effectLst/>
              <a:uLnTx/>
              <a:uFillTx/>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C94BE2-3115-3D06-3776-22A9657C2244}"/>
              </a:ext>
            </a:extLst>
          </p:cNvPr>
          <p:cNvSpPr>
            <a:spLocks noGrp="1"/>
          </p:cNvSpPr>
          <p:nvPr>
            <p:ph type="title"/>
          </p:nvPr>
        </p:nvSpPr>
        <p:spPr/>
        <p:txBody>
          <a:bodyPr/>
          <a:lstStyle/>
          <a:p>
            <a:pPr algn="ctr"/>
            <a:r>
              <a:rPr lang="en-US" dirty="0">
                <a:solidFill>
                  <a:schemeClr val="accent2"/>
                </a:solidFill>
              </a:rPr>
              <a:t>Defense in Depth with VMware Cloud Foundation</a:t>
            </a:r>
          </a:p>
        </p:txBody>
      </p:sp>
      <p:sp>
        <p:nvSpPr>
          <p:cNvPr id="3" name="Google Shape;7618;g3e0685d0c96_0_10295">
            <a:extLst>
              <a:ext uri="{FF2B5EF4-FFF2-40B4-BE49-F238E27FC236}">
                <a16:creationId xmlns:a16="http://schemas.microsoft.com/office/drawing/2014/main" id="{38EBDC31-6CCC-3FF3-4B27-C392289F08BD}"/>
              </a:ext>
            </a:extLst>
          </p:cNvPr>
          <p:cNvSpPr/>
          <p:nvPr/>
        </p:nvSpPr>
        <p:spPr>
          <a:xfrm>
            <a:off x="4761" y="1687538"/>
            <a:ext cx="12179100" cy="1308600"/>
          </a:xfrm>
          <a:prstGeom prst="rect">
            <a:avLst/>
          </a:prstGeom>
          <a:gradFill>
            <a:gsLst>
              <a:gs pos="0">
                <a:srgbClr val="E8F0F4">
                  <a:alpha val="0"/>
                </a:srgbClr>
              </a:gs>
              <a:gs pos="31970">
                <a:srgbClr val="E8F0F4"/>
              </a:gs>
              <a:gs pos="73000">
                <a:srgbClr val="E8F0F4"/>
              </a:gs>
              <a:gs pos="100000">
                <a:srgbClr val="E8F0F4">
                  <a:alpha val="0"/>
                </a:srgbClr>
              </a:gs>
            </a:gsLst>
            <a:lin ang="0" scaled="0"/>
          </a:gradFill>
          <a:ln>
            <a:noFill/>
          </a:ln>
        </p:spPr>
        <p:txBody>
          <a:bodyPr spcFirstLastPara="1" wrap="square" lIns="91300" tIns="45625" rIns="91300" bIns="456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4" name="Google Shape;7619;g3e0685d0c96_0_10295">
            <a:extLst>
              <a:ext uri="{FF2B5EF4-FFF2-40B4-BE49-F238E27FC236}">
                <a16:creationId xmlns:a16="http://schemas.microsoft.com/office/drawing/2014/main" id="{04B12DF9-7989-5749-388A-4D98DF9DC14C}"/>
              </a:ext>
            </a:extLst>
          </p:cNvPr>
          <p:cNvSpPr/>
          <p:nvPr/>
        </p:nvSpPr>
        <p:spPr>
          <a:xfrm>
            <a:off x="4761" y="3087738"/>
            <a:ext cx="12179100" cy="1308600"/>
          </a:xfrm>
          <a:prstGeom prst="rect">
            <a:avLst/>
          </a:prstGeom>
          <a:gradFill>
            <a:gsLst>
              <a:gs pos="0">
                <a:srgbClr val="E8F0F4">
                  <a:alpha val="0"/>
                </a:srgbClr>
              </a:gs>
              <a:gs pos="31970">
                <a:srgbClr val="E8F0F4"/>
              </a:gs>
              <a:gs pos="73000">
                <a:srgbClr val="E8F0F4"/>
              </a:gs>
              <a:gs pos="100000">
                <a:srgbClr val="E8F0F4">
                  <a:alpha val="0"/>
                </a:srgbClr>
              </a:gs>
            </a:gsLst>
            <a:lin ang="0" scaled="0"/>
          </a:gradFill>
          <a:ln>
            <a:noFill/>
          </a:ln>
        </p:spPr>
        <p:txBody>
          <a:bodyPr spcFirstLastPara="1" wrap="square" lIns="91300" tIns="45625" rIns="91300" bIns="456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5" name="Google Shape;7620;g3e0685d0c96_0_10295">
            <a:extLst>
              <a:ext uri="{FF2B5EF4-FFF2-40B4-BE49-F238E27FC236}">
                <a16:creationId xmlns:a16="http://schemas.microsoft.com/office/drawing/2014/main" id="{3A9CF112-D893-9014-9538-9117D9F53668}"/>
              </a:ext>
            </a:extLst>
          </p:cNvPr>
          <p:cNvSpPr/>
          <p:nvPr/>
        </p:nvSpPr>
        <p:spPr>
          <a:xfrm>
            <a:off x="4761" y="4487938"/>
            <a:ext cx="12179100" cy="1308600"/>
          </a:xfrm>
          <a:prstGeom prst="rect">
            <a:avLst/>
          </a:prstGeom>
          <a:gradFill>
            <a:gsLst>
              <a:gs pos="0">
                <a:srgbClr val="E8F0F4">
                  <a:alpha val="0"/>
                </a:srgbClr>
              </a:gs>
              <a:gs pos="31970">
                <a:srgbClr val="E8F0F4"/>
              </a:gs>
              <a:gs pos="73000">
                <a:srgbClr val="E8F0F4"/>
              </a:gs>
              <a:gs pos="100000">
                <a:srgbClr val="E8F0F4">
                  <a:alpha val="0"/>
                </a:srgbClr>
              </a:gs>
            </a:gsLst>
            <a:lin ang="0" scaled="0"/>
          </a:gradFill>
          <a:ln>
            <a:noFill/>
          </a:ln>
        </p:spPr>
        <p:txBody>
          <a:bodyPr spcFirstLastPara="1" wrap="square" lIns="91300" tIns="45625" rIns="91300" bIns="456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6" name="Google Shape;7621;g3e0685d0c96_0_10295">
            <a:extLst>
              <a:ext uri="{FF2B5EF4-FFF2-40B4-BE49-F238E27FC236}">
                <a16:creationId xmlns:a16="http://schemas.microsoft.com/office/drawing/2014/main" id="{981FB93A-042F-7CC6-FD08-D3F8F94507DF}"/>
              </a:ext>
            </a:extLst>
          </p:cNvPr>
          <p:cNvSpPr/>
          <p:nvPr/>
        </p:nvSpPr>
        <p:spPr>
          <a:xfrm>
            <a:off x="3131140" y="1267284"/>
            <a:ext cx="5644800" cy="4931700"/>
          </a:xfrm>
          <a:prstGeom prst="roundRect">
            <a:avLst>
              <a:gd name="adj" fmla="val 5681"/>
            </a:avLst>
          </a:prstGeom>
          <a:gradFill>
            <a:gsLst>
              <a:gs pos="0">
                <a:srgbClr val="E0D7EB"/>
              </a:gs>
              <a:gs pos="21000">
                <a:srgbClr val="F2F2F2"/>
              </a:gs>
              <a:gs pos="100000">
                <a:srgbClr val="E0D7EB"/>
              </a:gs>
            </a:gsLst>
            <a:lin ang="2700006" scaled="0"/>
          </a:gradFill>
          <a:ln w="25400" cap="rnd" cmpd="sng">
            <a:solidFill>
              <a:schemeClr val="accent5">
                <a:alpha val="54901"/>
              </a:schemeClr>
            </a:solidFill>
            <a:prstDash val="solid"/>
            <a:round/>
            <a:headEnd type="none" w="sm" len="sm"/>
            <a:tailEnd type="none" w="sm" len="sm"/>
          </a:ln>
          <a:effectLst>
            <a:outerShdw blurRad="63500" sx="102000" sy="102000" algn="ctr" rotWithShape="0">
              <a:schemeClr val="accent5">
                <a:alpha val="14901"/>
              </a:schemeClr>
            </a:outerShdw>
          </a:effectLst>
        </p:spPr>
        <p:txBody>
          <a:bodyPr spcFirstLastPara="1" wrap="square" lIns="91325" tIns="45600" rIns="91325" bIns="456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7" name="Google Shape;7622;g3e0685d0c96_0_10295">
            <a:extLst>
              <a:ext uri="{FF2B5EF4-FFF2-40B4-BE49-F238E27FC236}">
                <a16:creationId xmlns:a16="http://schemas.microsoft.com/office/drawing/2014/main" id="{EF3ABDEA-7BCD-3834-03CB-E325F6E235BB}"/>
              </a:ext>
            </a:extLst>
          </p:cNvPr>
          <p:cNvSpPr/>
          <p:nvPr/>
        </p:nvSpPr>
        <p:spPr>
          <a:xfrm>
            <a:off x="3467290" y="1942187"/>
            <a:ext cx="4972500" cy="3892200"/>
          </a:xfrm>
          <a:prstGeom prst="roundRect">
            <a:avLst>
              <a:gd name="adj" fmla="val 5891"/>
            </a:avLst>
          </a:prstGeom>
          <a:gradFill>
            <a:gsLst>
              <a:gs pos="0">
                <a:srgbClr val="C0F0FE"/>
              </a:gs>
              <a:gs pos="21000">
                <a:srgbClr val="F2F2F2"/>
              </a:gs>
              <a:gs pos="100000">
                <a:srgbClr val="C0F0FE"/>
              </a:gs>
            </a:gsLst>
            <a:lin ang="2700006" scaled="0"/>
          </a:gradFill>
          <a:ln w="25400" cap="rnd" cmpd="sng">
            <a:solidFill>
              <a:schemeClr val="accent3">
                <a:alpha val="54901"/>
              </a:schemeClr>
            </a:solidFill>
            <a:prstDash val="solid"/>
            <a:round/>
            <a:headEnd type="none" w="sm" len="sm"/>
            <a:tailEnd type="none" w="sm" len="sm"/>
          </a:ln>
          <a:effectLst>
            <a:outerShdw blurRad="63500" sx="102000" sy="102000" algn="ctr" rotWithShape="0">
              <a:srgbClr val="004C63">
                <a:alpha val="14901"/>
              </a:srgbClr>
            </a:outerShdw>
          </a:effectLst>
        </p:spPr>
        <p:txBody>
          <a:bodyPr spcFirstLastPara="1" wrap="square" lIns="91325" tIns="45600" rIns="91325" bIns="456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8" name="Google Shape;7623;g3e0685d0c96_0_10295">
            <a:extLst>
              <a:ext uri="{FF2B5EF4-FFF2-40B4-BE49-F238E27FC236}">
                <a16:creationId xmlns:a16="http://schemas.microsoft.com/office/drawing/2014/main" id="{E2DE50FE-06BD-246F-8437-DF3C3DC7FC2E}"/>
              </a:ext>
            </a:extLst>
          </p:cNvPr>
          <p:cNvSpPr/>
          <p:nvPr/>
        </p:nvSpPr>
        <p:spPr>
          <a:xfrm>
            <a:off x="3796840" y="2617089"/>
            <a:ext cx="4313400" cy="2883900"/>
          </a:xfrm>
          <a:prstGeom prst="roundRect">
            <a:avLst>
              <a:gd name="adj" fmla="val 4661"/>
            </a:avLst>
          </a:prstGeom>
          <a:gradFill>
            <a:gsLst>
              <a:gs pos="0">
                <a:srgbClr val="CEDFB9"/>
              </a:gs>
              <a:gs pos="21000">
                <a:srgbClr val="F2F2F2"/>
              </a:gs>
              <a:gs pos="100000">
                <a:srgbClr val="C5DAAB"/>
              </a:gs>
            </a:gsLst>
            <a:lin ang="2700006" scaled="0"/>
          </a:gradFill>
          <a:ln w="25400" cap="rnd" cmpd="sng">
            <a:solidFill>
              <a:srgbClr val="5F9C09">
                <a:alpha val="54901"/>
              </a:srgbClr>
            </a:solidFill>
            <a:prstDash val="solid"/>
            <a:round/>
            <a:headEnd type="none" w="sm" len="sm"/>
            <a:tailEnd type="none" w="sm" len="sm"/>
          </a:ln>
          <a:effectLst>
            <a:outerShdw blurRad="63500" sx="102000" sy="102000" algn="ctr" rotWithShape="0">
              <a:srgbClr val="487C0A">
                <a:alpha val="14901"/>
              </a:srgbClr>
            </a:outerShdw>
          </a:effectLst>
        </p:spPr>
        <p:txBody>
          <a:bodyPr spcFirstLastPara="1" wrap="square" lIns="91325" tIns="45600" rIns="91325" bIns="456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9" name="Google Shape;7624;g3e0685d0c96_0_10295">
            <a:extLst>
              <a:ext uri="{FF2B5EF4-FFF2-40B4-BE49-F238E27FC236}">
                <a16:creationId xmlns:a16="http://schemas.microsoft.com/office/drawing/2014/main" id="{C961A106-E9FD-2DA4-192C-F24EE4CB90A1}"/>
              </a:ext>
            </a:extLst>
          </p:cNvPr>
          <p:cNvSpPr/>
          <p:nvPr/>
        </p:nvSpPr>
        <p:spPr>
          <a:xfrm>
            <a:off x="4844740" y="5707591"/>
            <a:ext cx="2217600" cy="286800"/>
          </a:xfrm>
          <a:prstGeom prst="roundRect">
            <a:avLst>
              <a:gd name="adj" fmla="val 50000"/>
            </a:avLst>
          </a:prstGeom>
          <a:gradFill>
            <a:gsLst>
              <a:gs pos="0">
                <a:srgbClr val="00729D"/>
              </a:gs>
              <a:gs pos="100000">
                <a:srgbClr val="0187A6"/>
              </a:gs>
            </a:gsLst>
            <a:lin ang="0" scaled="0"/>
          </a:gradFill>
          <a:ln>
            <a:noFill/>
          </a:ln>
        </p:spPr>
        <p:txBody>
          <a:bodyPr spcFirstLastPara="1" wrap="square" lIns="91325" tIns="45600" rIns="91325" bIns="45600" anchor="ctr" anchorCtr="0">
            <a:noAutofit/>
          </a:bodyPr>
          <a:lstStyle/>
          <a:p>
            <a:pPr marL="0" marR="0" lvl="0" indent="0" algn="ctr" defTabSz="914400" rtl="0" eaLnBrk="1" fontAlgn="auto" latinLnBrk="0" hangingPunct="1">
              <a:lnSpc>
                <a:spcPct val="85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FFFFFF"/>
                </a:solidFill>
                <a:effectLst/>
                <a:uLnTx/>
                <a:uFillTx/>
                <a:latin typeface="Arial" panose="020B0604020202020204"/>
                <a:ea typeface="Arial" pitchFamily="2" charset="0"/>
                <a:cs typeface="Arial" pitchFamily="2" charset="0"/>
                <a:sym typeface="Arial" pitchFamily="2" charset="0"/>
              </a:rPr>
              <a:t>Advanced Security*</a:t>
            </a:r>
            <a:endParaRPr kumimoji="0" sz="1400" b="0" i="0" u="none" strike="noStrike" kern="1200" cap="none" spc="0" normalizeH="0" baseline="0" noProof="0" dirty="0">
              <a:ln>
                <a:noFill/>
              </a:ln>
              <a:solidFill>
                <a:srgbClr val="000000"/>
              </a:solidFill>
              <a:effectLst/>
              <a:uLnTx/>
              <a:uFillTx/>
              <a:latin typeface="Arial" panose="020B0604020202020204"/>
              <a:ea typeface="Arial" pitchFamily="2" charset="0"/>
              <a:cs typeface="Arial" pitchFamily="2" charset="0"/>
              <a:sym typeface="Arial" pitchFamily="2" charset="0"/>
            </a:endParaRPr>
          </a:p>
        </p:txBody>
      </p:sp>
      <p:sp>
        <p:nvSpPr>
          <p:cNvPr id="10" name="Google Shape;7625;g3e0685d0c96_0_10295">
            <a:extLst>
              <a:ext uri="{FF2B5EF4-FFF2-40B4-BE49-F238E27FC236}">
                <a16:creationId xmlns:a16="http://schemas.microsoft.com/office/drawing/2014/main" id="{587252A4-0C02-B855-9EC2-F6675F0661D8}"/>
              </a:ext>
            </a:extLst>
          </p:cNvPr>
          <p:cNvSpPr/>
          <p:nvPr/>
        </p:nvSpPr>
        <p:spPr>
          <a:xfrm>
            <a:off x="4844740" y="5357982"/>
            <a:ext cx="2217600" cy="286800"/>
          </a:xfrm>
          <a:prstGeom prst="roundRect">
            <a:avLst>
              <a:gd name="adj" fmla="val 50000"/>
            </a:avLst>
          </a:prstGeom>
          <a:gradFill>
            <a:gsLst>
              <a:gs pos="0">
                <a:schemeClr val="accent1"/>
              </a:gs>
              <a:gs pos="100000">
                <a:schemeClr val="accent4"/>
              </a:gs>
            </a:gsLst>
            <a:lin ang="0" scaled="0"/>
          </a:gradFill>
          <a:ln>
            <a:noFill/>
          </a:ln>
        </p:spPr>
        <p:txBody>
          <a:bodyPr spcFirstLastPara="1" wrap="square" lIns="91325" tIns="45600" rIns="91325" bIns="45600" anchor="ctr" anchorCtr="0">
            <a:noAutofit/>
          </a:bodyPr>
          <a:lstStyle/>
          <a:p>
            <a:pPr marL="0" marR="0" lvl="0" indent="0" algn="ctr" defTabSz="914400" rtl="0" eaLnBrk="1" fontAlgn="auto" latinLnBrk="0" hangingPunct="1">
              <a:lnSpc>
                <a:spcPct val="85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FFFFFF"/>
                </a:solidFill>
                <a:effectLst/>
                <a:uLnTx/>
                <a:uFillTx/>
                <a:latin typeface="Arial" panose="020B0604020202020204"/>
                <a:ea typeface="Arial" pitchFamily="2" charset="0"/>
                <a:cs typeface="Arial" pitchFamily="2" charset="0"/>
                <a:sym typeface="Arial" pitchFamily="2" charset="0"/>
              </a:rPr>
              <a:t>Platform Hardening</a:t>
            </a:r>
            <a:endParaRPr kumimoji="0" sz="1400" b="0" i="0" u="none" strike="noStrike" kern="1200" cap="none" spc="0" normalizeH="0" baseline="0" noProof="0" dirty="0">
              <a:ln>
                <a:noFill/>
              </a:ln>
              <a:solidFill>
                <a:srgbClr val="000000"/>
              </a:solidFill>
              <a:effectLst/>
              <a:uLnTx/>
              <a:uFillTx/>
              <a:latin typeface="Arial" panose="020B0604020202020204"/>
              <a:ea typeface="Arial" pitchFamily="2" charset="0"/>
              <a:cs typeface="Arial" pitchFamily="2" charset="0"/>
              <a:sym typeface="Arial" pitchFamily="2" charset="0"/>
            </a:endParaRPr>
          </a:p>
        </p:txBody>
      </p:sp>
      <p:sp>
        <p:nvSpPr>
          <p:cNvPr id="11" name="Google Shape;7626;g3e0685d0c96_0_10295">
            <a:extLst>
              <a:ext uri="{FF2B5EF4-FFF2-40B4-BE49-F238E27FC236}">
                <a16:creationId xmlns:a16="http://schemas.microsoft.com/office/drawing/2014/main" id="{07C25A6C-6B03-F713-6C68-19AF29ABDD8C}"/>
              </a:ext>
            </a:extLst>
          </p:cNvPr>
          <p:cNvSpPr txBox="1"/>
          <p:nvPr/>
        </p:nvSpPr>
        <p:spPr>
          <a:xfrm>
            <a:off x="566959" y="2028292"/>
            <a:ext cx="2278500" cy="627351"/>
          </a:xfrm>
          <a:prstGeom prst="rect">
            <a:avLst/>
          </a:prstGeom>
          <a:noFill/>
          <a:ln>
            <a:noFill/>
          </a:ln>
        </p:spPr>
        <p:txBody>
          <a:bodyPr spcFirstLastPara="1" wrap="square" lIns="0" tIns="0" rIns="0" bIns="0" anchor="ctr" anchorCtr="0">
            <a:spAutoFit/>
          </a:bodyPr>
          <a:lstStyle/>
          <a:p>
            <a:pPr marL="0" marR="0" lvl="0" indent="0" algn="r" defTabSz="914400" rtl="0" eaLnBrk="1" fontAlgn="auto" latinLnBrk="0" hangingPunct="1">
              <a:lnSpc>
                <a:spcPct val="85000"/>
              </a:lnSpc>
              <a:spcBef>
                <a:spcPts val="0"/>
              </a:spcBef>
              <a:spcAft>
                <a:spcPts val="0"/>
              </a:spcAft>
              <a:buClr>
                <a:srgbClr val="000000"/>
              </a:buClr>
              <a:buSzPts val="2398"/>
              <a:buFont typeface="Arial" pitchFamily="2" charset="0"/>
              <a:buNone/>
              <a:tabLst/>
              <a:defRPr/>
            </a:pPr>
            <a:r>
              <a:rPr kumimoji="0" lang="en-US" sz="2398" b="0" i="0" u="none" strike="noStrike" kern="1200" cap="none" spc="0" normalizeH="0" baseline="0" noProof="0" dirty="0">
                <a:ln>
                  <a:noFill/>
                </a:ln>
                <a:solidFill>
                  <a:srgbClr val="6C4B94"/>
                </a:solidFill>
                <a:effectLst/>
                <a:uLnTx/>
                <a:uFillTx/>
                <a:latin typeface="Arial" panose="020B0604020202020204"/>
                <a:ea typeface="+mn-ea"/>
                <a:cs typeface="+mn-cs"/>
              </a:rPr>
              <a:t>Cyber-Resilient </a:t>
            </a:r>
            <a:r>
              <a:rPr kumimoji="0" lang="en-US" sz="2398" b="0" i="0" u="none" strike="noStrike" kern="1200" cap="none" spc="0" normalizeH="0" baseline="0" noProof="0" dirty="0">
                <a:ln>
                  <a:noFill/>
                </a:ln>
                <a:solidFill>
                  <a:srgbClr val="6C4B94"/>
                </a:solidFill>
                <a:effectLst/>
                <a:uLnTx/>
                <a:uFillTx/>
                <a:latin typeface="Arial" panose="020B0604020202020204"/>
                <a:ea typeface="Arial" pitchFamily="2" charset="0"/>
                <a:cs typeface="Arial" pitchFamily="2" charset="0"/>
                <a:sym typeface="Arial" pitchFamily="2" charset="0"/>
              </a:rPr>
              <a:t> Recovery</a:t>
            </a:r>
            <a:endParaRPr kumimoji="0" sz="1400" b="0" i="0" u="none" strike="noStrike" kern="1200" cap="none" spc="0" normalizeH="0" baseline="0" noProof="0" dirty="0">
              <a:ln>
                <a:noFill/>
              </a:ln>
              <a:solidFill>
                <a:srgbClr val="6C4B94"/>
              </a:solidFill>
              <a:effectLst/>
              <a:uLnTx/>
              <a:uFillTx/>
              <a:latin typeface="Arial" panose="020B0604020202020204"/>
              <a:ea typeface="Arial" pitchFamily="2" charset="0"/>
              <a:cs typeface="Arial" pitchFamily="2" charset="0"/>
              <a:sym typeface="Arial" pitchFamily="2" charset="0"/>
            </a:endParaRPr>
          </a:p>
        </p:txBody>
      </p:sp>
      <p:sp>
        <p:nvSpPr>
          <p:cNvPr id="12" name="Google Shape;7627;g3e0685d0c96_0_10295">
            <a:extLst>
              <a:ext uri="{FF2B5EF4-FFF2-40B4-BE49-F238E27FC236}">
                <a16:creationId xmlns:a16="http://schemas.microsoft.com/office/drawing/2014/main" id="{69EB7CBE-CE7F-97EB-96EF-4B8CE3009410}"/>
              </a:ext>
            </a:extLst>
          </p:cNvPr>
          <p:cNvSpPr txBox="1"/>
          <p:nvPr/>
        </p:nvSpPr>
        <p:spPr>
          <a:xfrm>
            <a:off x="9044527" y="1865623"/>
            <a:ext cx="2853600" cy="1095172"/>
          </a:xfrm>
          <a:prstGeom prst="rect">
            <a:avLst/>
          </a:prstGeom>
          <a:noFill/>
          <a:ln>
            <a:noFill/>
          </a:ln>
        </p:spPr>
        <p:txBody>
          <a:bodyPr spcFirstLastPara="1" wrap="square" lIns="0" tIns="0" rIns="0" bIns="0" anchor="ctr" anchorCtr="0">
            <a:spAutoFit/>
          </a:bodyPr>
          <a:lstStyle/>
          <a:p>
            <a:pPr marL="171395" marR="0" lvl="0" indent="-171395" algn="l" defTabSz="914400" rtl="0" eaLnBrk="1" fontAlgn="auto" latinLnBrk="0" hangingPunct="1">
              <a:lnSpc>
                <a:spcPct val="90000"/>
              </a:lnSpc>
              <a:spcBef>
                <a:spcPts val="0"/>
              </a:spcBef>
              <a:spcAft>
                <a:spcPts val="0"/>
              </a:spcAft>
              <a:buClr>
                <a:srgbClr val="000000"/>
              </a:buClr>
              <a:buSzPts val="1050"/>
              <a:buFont typeface="Arial" pitchFamily="2" charset="0"/>
              <a:buChar char="•"/>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Continuous replication with rollback points</a:t>
            </a:r>
            <a:endParaRPr kumimoji="0" sz="1051"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171395" marR="0" lvl="0" indent="-171395" algn="l" defTabSz="914400" rtl="0" eaLnBrk="1" fontAlgn="auto" latinLnBrk="0" hangingPunct="1">
              <a:lnSpc>
                <a:spcPct val="90000"/>
              </a:lnSpc>
              <a:spcBef>
                <a:spcPts val="1000"/>
              </a:spcBef>
              <a:spcAft>
                <a:spcPts val="0"/>
              </a:spcAft>
              <a:buClr>
                <a:srgbClr val="000000"/>
              </a:buClr>
              <a:buSzPts val="1050"/>
              <a:buFont typeface="Arial" pitchFamily="2" charset="0"/>
              <a:buChar char="•"/>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Automated testing in isolated networks​</a:t>
            </a:r>
          </a:p>
          <a:p>
            <a:pPr marL="171395" marR="0" lvl="0" indent="-171395" algn="l" defTabSz="914400" rtl="0" eaLnBrk="1" fontAlgn="auto" latinLnBrk="0" hangingPunct="1">
              <a:lnSpc>
                <a:spcPct val="90000"/>
              </a:lnSpc>
              <a:spcBef>
                <a:spcPts val="1000"/>
              </a:spcBef>
              <a:spcAft>
                <a:spcPts val="0"/>
              </a:spcAft>
              <a:buClr>
                <a:srgbClr val="000000"/>
              </a:buClr>
              <a:buSzPts val="1050"/>
              <a:buFont typeface="Arial" pitchFamily="2" charset="0"/>
              <a:buChar char="•"/>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Choice of detection vendor​</a:t>
            </a:r>
          </a:p>
          <a:p>
            <a:pPr marL="171395" marR="0" lvl="0" indent="-171395" algn="l" defTabSz="914400" rtl="0" eaLnBrk="1" fontAlgn="auto" latinLnBrk="0" hangingPunct="1">
              <a:lnSpc>
                <a:spcPct val="90000"/>
              </a:lnSpc>
              <a:spcBef>
                <a:spcPts val="1000"/>
              </a:spcBef>
              <a:spcAft>
                <a:spcPts val="1000"/>
              </a:spcAft>
              <a:buClr>
                <a:srgbClr val="000000"/>
              </a:buClr>
              <a:buSzPts val="1050"/>
              <a:buFont typeface="Arial" pitchFamily="2" charset="0"/>
              <a:buChar char="•"/>
              <a:tabLst/>
              <a:defRPr/>
            </a:pPr>
            <a:r>
              <a:rPr kumimoji="0" lang="en-US" sz="1051" b="1" i="0" u="none" strike="noStrike" kern="1200" cap="none" spc="0" normalizeH="0" baseline="0" noProof="0" dirty="0">
                <a:ln>
                  <a:noFill/>
                </a:ln>
                <a:solidFill>
                  <a:srgbClr val="000000"/>
                </a:solidFill>
                <a:effectLst/>
                <a:uLnTx/>
                <a:uFillTx/>
                <a:latin typeface="Arial" pitchFamily="2" charset="0"/>
                <a:ea typeface="+mn-ea"/>
                <a:cs typeface="+mn-cs"/>
              </a:rPr>
              <a:t>Faster recovery, verified clean</a:t>
            </a:r>
          </a:p>
        </p:txBody>
      </p:sp>
      <p:sp>
        <p:nvSpPr>
          <p:cNvPr id="13" name="Google Shape;7628;g3e0685d0c96_0_10295">
            <a:extLst>
              <a:ext uri="{FF2B5EF4-FFF2-40B4-BE49-F238E27FC236}">
                <a16:creationId xmlns:a16="http://schemas.microsoft.com/office/drawing/2014/main" id="{DE7DAC2D-7825-3FA4-08AB-4C34C9939F51}"/>
              </a:ext>
            </a:extLst>
          </p:cNvPr>
          <p:cNvSpPr txBox="1"/>
          <p:nvPr/>
        </p:nvSpPr>
        <p:spPr>
          <a:xfrm>
            <a:off x="566959" y="3428492"/>
            <a:ext cx="2278500" cy="627351"/>
          </a:xfrm>
          <a:prstGeom prst="rect">
            <a:avLst/>
          </a:prstGeom>
          <a:noFill/>
          <a:ln>
            <a:noFill/>
          </a:ln>
        </p:spPr>
        <p:txBody>
          <a:bodyPr spcFirstLastPara="1" wrap="square" lIns="0" tIns="0" rIns="0" bIns="0" anchor="ctr" anchorCtr="0">
            <a:spAutoFit/>
          </a:bodyPr>
          <a:lstStyle/>
          <a:p>
            <a:pPr marL="0" marR="0" lvl="0" indent="0" algn="r" defTabSz="914400" rtl="0" eaLnBrk="1" fontAlgn="auto" latinLnBrk="0" hangingPunct="1">
              <a:lnSpc>
                <a:spcPct val="85000"/>
              </a:lnSpc>
              <a:spcBef>
                <a:spcPts val="0"/>
              </a:spcBef>
              <a:spcAft>
                <a:spcPts val="0"/>
              </a:spcAft>
              <a:buClr>
                <a:srgbClr val="000000"/>
              </a:buClr>
              <a:buSzPts val="2398"/>
              <a:buFont typeface="Arial" pitchFamily="2" charset="0"/>
              <a:buNone/>
              <a:tabLst/>
              <a:defRPr/>
            </a:pPr>
            <a:r>
              <a:rPr kumimoji="0" lang="en-US" sz="2398" b="0" i="0" u="none" strike="noStrike" kern="1200" cap="none" spc="0" normalizeH="0" baseline="0" noProof="0" dirty="0">
                <a:ln>
                  <a:noFill/>
                </a:ln>
                <a:solidFill>
                  <a:srgbClr val="005C8A"/>
                </a:solidFill>
                <a:effectLst/>
                <a:uLnTx/>
                <a:uFillTx/>
                <a:latin typeface="Arial" panose="020B0604020202020204"/>
                <a:ea typeface="Arial" pitchFamily="2" charset="0"/>
                <a:cs typeface="Arial" pitchFamily="2" charset="0"/>
                <a:sym typeface="Arial" pitchFamily="2" charset="0"/>
              </a:rPr>
              <a:t>Strong Lateral Security</a:t>
            </a:r>
            <a:endParaRPr kumimoji="0" sz="2398" b="0" i="0" u="none" strike="noStrike" kern="1200" cap="none" spc="0" normalizeH="0" baseline="0" noProof="0" dirty="0">
              <a:ln>
                <a:noFill/>
              </a:ln>
              <a:solidFill>
                <a:srgbClr val="005C8A"/>
              </a:solidFill>
              <a:effectLst/>
              <a:uLnTx/>
              <a:uFillTx/>
              <a:latin typeface="Arial" panose="020B0604020202020204"/>
              <a:ea typeface="Arial" pitchFamily="2" charset="0"/>
              <a:cs typeface="Arial" pitchFamily="2" charset="0"/>
              <a:sym typeface="Arial" pitchFamily="2" charset="0"/>
            </a:endParaRPr>
          </a:p>
        </p:txBody>
      </p:sp>
      <p:sp>
        <p:nvSpPr>
          <p:cNvPr id="14" name="Google Shape;7629;g3e0685d0c96_0_10295">
            <a:extLst>
              <a:ext uri="{FF2B5EF4-FFF2-40B4-BE49-F238E27FC236}">
                <a16:creationId xmlns:a16="http://schemas.microsoft.com/office/drawing/2014/main" id="{F86299A6-FCA9-0B9D-7B75-88D47275E833}"/>
              </a:ext>
            </a:extLst>
          </p:cNvPr>
          <p:cNvSpPr txBox="1"/>
          <p:nvPr/>
        </p:nvSpPr>
        <p:spPr>
          <a:xfrm>
            <a:off x="9044527" y="3263898"/>
            <a:ext cx="2762400" cy="1095172"/>
          </a:xfrm>
          <a:prstGeom prst="rect">
            <a:avLst/>
          </a:prstGeom>
          <a:noFill/>
          <a:ln>
            <a:noFill/>
          </a:ln>
        </p:spPr>
        <p:txBody>
          <a:bodyPr spcFirstLastPara="1" wrap="square" lIns="0" tIns="0" rIns="0" bIns="0" anchor="ctr" anchorCtr="0">
            <a:spAutoFit/>
          </a:bodyPr>
          <a:lstStyle/>
          <a:p>
            <a:pPr marL="171395" marR="0" lvl="0" indent="-171395" algn="l" defTabSz="914400" rtl="0" eaLnBrk="1" fontAlgn="auto" latinLnBrk="0" hangingPunct="1">
              <a:lnSpc>
                <a:spcPct val="90000"/>
              </a:lnSpc>
              <a:spcBef>
                <a:spcPts val="0"/>
              </a:spcBef>
              <a:spcAft>
                <a:spcPts val="0"/>
              </a:spcAft>
              <a:buClr>
                <a:srgbClr val="000000"/>
              </a:buClr>
              <a:buSzPts val="1050"/>
              <a:buFont typeface="Arial" pitchFamily="2" charset="0"/>
              <a:buChar char="•"/>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Visibility into every workload and flow</a:t>
            </a:r>
            <a:endParaRPr kumimoji="0" sz="16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171395" marR="0" lvl="0" indent="-171395" algn="l" defTabSz="914400" rtl="0" eaLnBrk="1" fontAlgn="auto" latinLnBrk="0" hangingPunct="1">
              <a:lnSpc>
                <a:spcPct val="90000"/>
              </a:lnSpc>
              <a:spcBef>
                <a:spcPts val="1000"/>
              </a:spcBef>
              <a:spcAft>
                <a:spcPts val="0"/>
              </a:spcAft>
              <a:buClr>
                <a:srgbClr val="000000"/>
              </a:buClr>
              <a:buSzPts val="1050"/>
              <a:buFont typeface="Arial" pitchFamily="2" charset="0"/>
              <a:buChar char="•"/>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Signature- and behavior-based detection</a:t>
            </a:r>
            <a:endParaRPr kumimoji="0" sz="16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171395" marR="0" lvl="0" indent="-171395" algn="l" defTabSz="914400" rtl="0" eaLnBrk="1" fontAlgn="auto" latinLnBrk="0" hangingPunct="1">
              <a:lnSpc>
                <a:spcPct val="90000"/>
              </a:lnSpc>
              <a:spcBef>
                <a:spcPts val="1000"/>
              </a:spcBef>
              <a:spcAft>
                <a:spcPts val="0"/>
              </a:spcAft>
              <a:buClr>
                <a:srgbClr val="000000"/>
              </a:buClr>
              <a:buSzPts val="1050"/>
              <a:buFont typeface="Arial" pitchFamily="2" charset="0"/>
              <a:buChar char="•"/>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mn-ea"/>
                <a:cs typeface="+mn-cs"/>
                <a:sym typeface="Arial" pitchFamily="2" charset="0"/>
              </a:rPr>
              <a:t>Automated response and policy tuning</a:t>
            </a:r>
            <a:endPar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171395" marR="0" lvl="0" indent="-171395" algn="l" defTabSz="914400" rtl="0" eaLnBrk="1" fontAlgn="auto" latinLnBrk="0" hangingPunct="1">
              <a:lnSpc>
                <a:spcPct val="90000"/>
              </a:lnSpc>
              <a:spcBef>
                <a:spcPts val="1000"/>
              </a:spcBef>
              <a:spcAft>
                <a:spcPts val="1000"/>
              </a:spcAft>
              <a:buClr>
                <a:srgbClr val="000000"/>
              </a:buClr>
              <a:buSzPts val="1050"/>
              <a:buFont typeface="Arial" pitchFamily="2" charset="0"/>
              <a:buChar char="•"/>
              <a:tabLst/>
              <a:defRPr/>
            </a:pPr>
            <a:r>
              <a:rPr kumimoji="0" lang="en-US" sz="1051" b="1"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Reduce blast radius and dwell time</a:t>
            </a:r>
          </a:p>
        </p:txBody>
      </p:sp>
      <p:sp>
        <p:nvSpPr>
          <p:cNvPr id="15" name="Google Shape;7630;g3e0685d0c96_0_10295">
            <a:extLst>
              <a:ext uri="{FF2B5EF4-FFF2-40B4-BE49-F238E27FC236}">
                <a16:creationId xmlns:a16="http://schemas.microsoft.com/office/drawing/2014/main" id="{406ED78B-8D94-3442-3411-CBE73FA0154A}"/>
              </a:ext>
            </a:extLst>
          </p:cNvPr>
          <p:cNvSpPr txBox="1"/>
          <p:nvPr/>
        </p:nvSpPr>
        <p:spPr>
          <a:xfrm>
            <a:off x="566959" y="4828567"/>
            <a:ext cx="2278500" cy="627600"/>
          </a:xfrm>
          <a:prstGeom prst="rect">
            <a:avLst/>
          </a:prstGeom>
          <a:noFill/>
          <a:ln>
            <a:noFill/>
          </a:ln>
        </p:spPr>
        <p:txBody>
          <a:bodyPr spcFirstLastPara="1" wrap="square" lIns="0" tIns="0" rIns="0" bIns="0" anchor="ctr" anchorCtr="0">
            <a:spAutoFit/>
          </a:bodyPr>
          <a:lstStyle/>
          <a:p>
            <a:pPr marL="0" marR="0" lvl="0" indent="0" algn="r" defTabSz="914400" rtl="0" eaLnBrk="1" fontAlgn="auto" latinLnBrk="0" hangingPunct="1">
              <a:lnSpc>
                <a:spcPct val="85000"/>
              </a:lnSpc>
              <a:spcBef>
                <a:spcPts val="0"/>
              </a:spcBef>
              <a:spcAft>
                <a:spcPts val="0"/>
              </a:spcAft>
              <a:buClr>
                <a:srgbClr val="000000"/>
              </a:buClr>
              <a:buSzPts val="2398"/>
              <a:buFont typeface="Arial" pitchFamily="2" charset="0"/>
              <a:buNone/>
              <a:tabLst/>
              <a:defRPr/>
            </a:pPr>
            <a:r>
              <a:rPr kumimoji="0" lang="en-US" sz="2398" b="0" i="0" u="none" strike="noStrike" kern="1200" cap="none" spc="0" normalizeH="0" baseline="0" noProof="0" dirty="0">
                <a:ln>
                  <a:noFill/>
                </a:ln>
                <a:solidFill>
                  <a:srgbClr val="61A60E">
                    <a:lumMod val="75000"/>
                  </a:srgbClr>
                </a:solidFill>
                <a:effectLst/>
                <a:uLnTx/>
                <a:uFillTx/>
                <a:latin typeface="Arial" panose="020B0604020202020204"/>
                <a:ea typeface="Arial" pitchFamily="2" charset="0"/>
                <a:cs typeface="Arial" pitchFamily="2" charset="0"/>
                <a:sym typeface="Arial" pitchFamily="2" charset="0"/>
              </a:rPr>
              <a:t>Hardened Infrastructure</a:t>
            </a:r>
            <a:endParaRPr kumimoji="0" sz="1400" b="0" i="0" u="none" strike="noStrike" kern="1200" cap="none" spc="0" normalizeH="0" baseline="0" noProof="0" dirty="0">
              <a:ln>
                <a:noFill/>
              </a:ln>
              <a:solidFill>
                <a:srgbClr val="61A60E">
                  <a:lumMod val="75000"/>
                </a:srgbClr>
              </a:solidFill>
              <a:effectLst/>
              <a:uLnTx/>
              <a:uFillTx/>
              <a:latin typeface="Arial" panose="020B0604020202020204"/>
              <a:ea typeface="Arial" pitchFamily="2" charset="0"/>
              <a:cs typeface="Arial" pitchFamily="2" charset="0"/>
              <a:sym typeface="Arial" pitchFamily="2" charset="0"/>
            </a:endParaRPr>
          </a:p>
        </p:txBody>
      </p:sp>
      <p:sp>
        <p:nvSpPr>
          <p:cNvPr id="16" name="Google Shape;7631;g3e0685d0c96_0_10295">
            <a:extLst>
              <a:ext uri="{FF2B5EF4-FFF2-40B4-BE49-F238E27FC236}">
                <a16:creationId xmlns:a16="http://schemas.microsoft.com/office/drawing/2014/main" id="{E18E3A98-843D-FEE5-95B3-7F93055A2AFC}"/>
              </a:ext>
            </a:extLst>
          </p:cNvPr>
          <p:cNvSpPr txBox="1"/>
          <p:nvPr/>
        </p:nvSpPr>
        <p:spPr>
          <a:xfrm>
            <a:off x="9044527" y="4662106"/>
            <a:ext cx="2940914" cy="1095172"/>
          </a:xfrm>
          <a:prstGeom prst="rect">
            <a:avLst/>
          </a:prstGeom>
          <a:noFill/>
          <a:ln>
            <a:noFill/>
          </a:ln>
        </p:spPr>
        <p:txBody>
          <a:bodyPr spcFirstLastPara="1" wrap="square" lIns="0" tIns="0" rIns="0" bIns="0" anchor="ctr" anchorCtr="0">
            <a:spAutoFit/>
          </a:bodyPr>
          <a:lstStyle/>
          <a:p>
            <a:pPr marL="171395" marR="0" lvl="0" indent="-171395" algn="l" defTabSz="914400" rtl="0" eaLnBrk="1" fontAlgn="auto" latinLnBrk="0" hangingPunct="1">
              <a:lnSpc>
                <a:spcPct val="90000"/>
              </a:lnSpc>
              <a:spcBef>
                <a:spcPts val="0"/>
              </a:spcBef>
              <a:spcAft>
                <a:spcPts val="0"/>
              </a:spcAft>
              <a:buClrTx/>
              <a:buSzPts val="1050"/>
              <a:buFontTx/>
              <a:buChar char="•"/>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Compliance enforcement and drift detection</a:t>
            </a:r>
            <a:endParaRPr kumimoji="0" sz="1051"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171395" marR="0" lvl="0" indent="-171395" algn="l" defTabSz="914400" rtl="0" eaLnBrk="1" fontAlgn="auto" latinLnBrk="0" hangingPunct="1">
              <a:lnSpc>
                <a:spcPct val="90000"/>
              </a:lnSpc>
              <a:spcBef>
                <a:spcPts val="1000"/>
              </a:spcBef>
              <a:spcAft>
                <a:spcPts val="0"/>
              </a:spcAft>
              <a:buClrTx/>
              <a:buSzPts val="1050"/>
              <a:buFontTx/>
              <a:buChar char="•"/>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Patching while workloads stay running</a:t>
            </a:r>
          </a:p>
          <a:p>
            <a:pPr marL="171395" marR="0" lvl="0" indent="-171395" algn="l" defTabSz="914400" rtl="0" eaLnBrk="1" fontAlgn="auto" latinLnBrk="0" hangingPunct="1">
              <a:lnSpc>
                <a:spcPct val="90000"/>
              </a:lnSpc>
              <a:spcBef>
                <a:spcPts val="1000"/>
              </a:spcBef>
              <a:spcAft>
                <a:spcPts val="0"/>
              </a:spcAft>
              <a:buClrTx/>
              <a:buSzPts val="1050"/>
              <a:buFontTx/>
              <a:buChar char="•"/>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High performance, secure storage </a:t>
            </a:r>
          </a:p>
          <a:p>
            <a:pPr marL="171395" marR="0" lvl="0" indent="-171395" algn="l" defTabSz="914400" rtl="0" eaLnBrk="1" fontAlgn="auto" latinLnBrk="0" hangingPunct="1">
              <a:lnSpc>
                <a:spcPct val="90000"/>
              </a:lnSpc>
              <a:spcBef>
                <a:spcPts val="1000"/>
              </a:spcBef>
              <a:spcAft>
                <a:spcPts val="1000"/>
              </a:spcAft>
              <a:buClrTx/>
              <a:buSzPts val="1050"/>
              <a:buFontTx/>
              <a:buChar char="•"/>
              <a:tabLst/>
              <a:defRPr/>
            </a:pPr>
            <a:r>
              <a:rPr kumimoji="0" lang="en-US" sz="1051" b="1" i="0" u="none" strike="noStrike" kern="1200" cap="none" spc="0" normalizeH="0" baseline="0" noProof="0" dirty="0">
                <a:ln>
                  <a:noFill/>
                </a:ln>
                <a:solidFill>
                  <a:srgbClr val="000000"/>
                </a:solidFill>
                <a:effectLst/>
                <a:uLnTx/>
                <a:uFillTx/>
                <a:latin typeface="Arial" pitchFamily="2" charset="0"/>
                <a:ea typeface="+mn-ea"/>
                <a:cs typeface="+mn-cs"/>
              </a:rPr>
              <a:t>Resilient from hardware to workload</a:t>
            </a:r>
            <a:endParaRPr kumimoji="0" sz="1051" b="1"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nvGrpSpPr>
          <p:cNvPr id="17" name="Google Shape;7632;g3e0685d0c96_0_10295">
            <a:extLst>
              <a:ext uri="{FF2B5EF4-FFF2-40B4-BE49-F238E27FC236}">
                <a16:creationId xmlns:a16="http://schemas.microsoft.com/office/drawing/2014/main" id="{CB8183FC-6133-CEB0-A179-E05FD9AC12BF}"/>
              </a:ext>
            </a:extLst>
          </p:cNvPr>
          <p:cNvGrpSpPr/>
          <p:nvPr/>
        </p:nvGrpSpPr>
        <p:grpSpPr>
          <a:xfrm>
            <a:off x="3552590" y="1465869"/>
            <a:ext cx="4727493" cy="291338"/>
            <a:chOff x="3713850" y="2727077"/>
            <a:chExt cx="4731752" cy="291600"/>
          </a:xfrm>
        </p:grpSpPr>
        <p:sp>
          <p:nvSpPr>
            <p:cNvPr id="18" name="Google Shape;7633;g3e0685d0c96_0_10295">
              <a:extLst>
                <a:ext uri="{FF2B5EF4-FFF2-40B4-BE49-F238E27FC236}">
                  <a16:creationId xmlns:a16="http://schemas.microsoft.com/office/drawing/2014/main" id="{62BC97D3-8046-820E-A897-3033574CB437}"/>
                </a:ext>
              </a:extLst>
            </p:cNvPr>
            <p:cNvSpPr txBox="1"/>
            <p:nvPr/>
          </p:nvSpPr>
          <p:spPr>
            <a:xfrm>
              <a:off x="3713850" y="2727194"/>
              <a:ext cx="1808100" cy="291367"/>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AI-Powered </a:t>
              </a: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Live</a:t>
              </a:r>
            </a:p>
            <a:p>
              <a:pPr marL="0" marR="0" lvl="0" indent="0" algn="ctr" defTabSz="914400" rtl="0" eaLnBrk="1" fontAlgn="auto" latinLnBrk="0" hangingPunct="1">
                <a:lnSpc>
                  <a:spcPct val="90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 Behavioral Analysis</a:t>
              </a:r>
              <a:endParaRPr kumimoji="0" sz="1400"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19" name="Google Shape;7634;g3e0685d0c96_0_10295">
              <a:extLst>
                <a:ext uri="{FF2B5EF4-FFF2-40B4-BE49-F238E27FC236}">
                  <a16:creationId xmlns:a16="http://schemas.microsoft.com/office/drawing/2014/main" id="{1670C0DC-DE32-914E-F538-DFC48BE3D5ED}"/>
                </a:ext>
              </a:extLst>
            </p:cNvPr>
            <p:cNvSpPr txBox="1"/>
            <p:nvPr/>
          </p:nvSpPr>
          <p:spPr>
            <a:xfrm>
              <a:off x="6449705" y="2727077"/>
              <a:ext cx="1995897" cy="2916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On-Premises</a:t>
              </a:r>
              <a:b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b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 Iso</a:t>
              </a: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lated </a:t>
              </a:r>
              <a:r>
                <a:rPr kumimoji="0" lang="en-US" sz="1051" b="0" i="0" u="none" strike="noStrike" kern="1200" cap="none" spc="0" normalizeH="0" baseline="0" noProof="0" dirty="0">
                  <a:ln>
                    <a:noFill/>
                  </a:ln>
                  <a:solidFill>
                    <a:srgbClr val="000000"/>
                  </a:solidFill>
                  <a:effectLst/>
                  <a:uLnTx/>
                  <a:uFillTx/>
                  <a:latin typeface="Arial" panose="020B0604020202020204"/>
                  <a:ea typeface="+mn-ea"/>
                  <a:cs typeface="+mn-cs"/>
                </a:rPr>
                <a:t>Clean Room</a:t>
              </a:r>
              <a:endParaRPr kumimoji="0" sz="1400"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grpSp>
        <p:nvGrpSpPr>
          <p:cNvPr id="20" name="Google Shape;7635;g3e0685d0c96_0_10295">
            <a:extLst>
              <a:ext uri="{FF2B5EF4-FFF2-40B4-BE49-F238E27FC236}">
                <a16:creationId xmlns:a16="http://schemas.microsoft.com/office/drawing/2014/main" id="{C712C3EA-201F-E5FD-433C-EA87287DD05B}"/>
              </a:ext>
            </a:extLst>
          </p:cNvPr>
          <p:cNvGrpSpPr/>
          <p:nvPr/>
        </p:nvGrpSpPr>
        <p:grpSpPr>
          <a:xfrm>
            <a:off x="3769066" y="2147976"/>
            <a:ext cx="4368949" cy="291338"/>
            <a:chOff x="3930538" y="2034017"/>
            <a:chExt cx="4372885" cy="291601"/>
          </a:xfrm>
        </p:grpSpPr>
        <p:sp>
          <p:nvSpPr>
            <p:cNvPr id="21" name="Google Shape;7636;g3e0685d0c96_0_10295">
              <a:extLst>
                <a:ext uri="{FF2B5EF4-FFF2-40B4-BE49-F238E27FC236}">
                  <a16:creationId xmlns:a16="http://schemas.microsoft.com/office/drawing/2014/main" id="{88A0275D-2F5E-89B9-C561-4C206419EABE}"/>
                </a:ext>
              </a:extLst>
            </p:cNvPr>
            <p:cNvSpPr txBox="1"/>
            <p:nvPr/>
          </p:nvSpPr>
          <p:spPr>
            <a:xfrm>
              <a:off x="3930538" y="2034018"/>
              <a:ext cx="914400" cy="2916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Lateral</a:t>
              </a:r>
              <a:b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b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Security</a:t>
              </a:r>
              <a:endParaRPr kumimoji="0" sz="1400"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22" name="Google Shape;7637;g3e0685d0c96_0_10295">
              <a:extLst>
                <a:ext uri="{FF2B5EF4-FFF2-40B4-BE49-F238E27FC236}">
                  <a16:creationId xmlns:a16="http://schemas.microsoft.com/office/drawing/2014/main" id="{9A5C9C34-7E12-7F9A-C067-B13393D97737}"/>
                </a:ext>
              </a:extLst>
            </p:cNvPr>
            <p:cNvSpPr txBox="1"/>
            <p:nvPr/>
          </p:nvSpPr>
          <p:spPr>
            <a:xfrm>
              <a:off x="4997830" y="2034018"/>
              <a:ext cx="914400" cy="2916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IDS/</a:t>
              </a:r>
              <a:b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b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IPS</a:t>
              </a:r>
              <a:endParaRPr kumimoji="0" sz="1400"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23" name="Google Shape;7638;g3e0685d0c96_0_10295">
              <a:extLst>
                <a:ext uri="{FF2B5EF4-FFF2-40B4-BE49-F238E27FC236}">
                  <a16:creationId xmlns:a16="http://schemas.microsoft.com/office/drawing/2014/main" id="{C0EB4B51-238A-D922-FD6A-0A07186CA2B2}"/>
                </a:ext>
              </a:extLst>
            </p:cNvPr>
            <p:cNvSpPr txBox="1"/>
            <p:nvPr/>
          </p:nvSpPr>
          <p:spPr>
            <a:xfrm>
              <a:off x="6321732" y="2034017"/>
              <a:ext cx="914400" cy="29160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NTA/</a:t>
              </a:r>
              <a:b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br>
              <a:r>
                <a:rPr kumimoji="0" lang="en-US" sz="1051"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NDR</a:t>
              </a:r>
              <a:endParaRPr kumimoji="0" sz="1400" b="0"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24" name="Google Shape;7639;g3e0685d0c96_0_10295">
              <a:extLst>
                <a:ext uri="{FF2B5EF4-FFF2-40B4-BE49-F238E27FC236}">
                  <a16:creationId xmlns:a16="http://schemas.microsoft.com/office/drawing/2014/main" id="{3DCA0BA9-3F6F-4C2D-9043-FF3DA2096CD6}"/>
                </a:ext>
              </a:extLst>
            </p:cNvPr>
            <p:cNvSpPr txBox="1"/>
            <p:nvPr/>
          </p:nvSpPr>
          <p:spPr>
            <a:xfrm>
              <a:off x="7389023" y="2034261"/>
              <a:ext cx="914400" cy="291111"/>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panose="020B0604020202020204"/>
                  <a:ea typeface="+mn-ea"/>
                  <a:cs typeface="+mn-cs"/>
                </a:rPr>
                <a:t>Web App Security</a:t>
              </a: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nvGrpSpPr>
          <p:cNvPr id="25" name="Google Shape;7640;g3e0685d0c96_0_10295">
            <a:extLst>
              <a:ext uri="{FF2B5EF4-FFF2-40B4-BE49-F238E27FC236}">
                <a16:creationId xmlns:a16="http://schemas.microsoft.com/office/drawing/2014/main" id="{FC667110-AEEA-B2AC-5474-7764A8C1B8EA}"/>
              </a:ext>
            </a:extLst>
          </p:cNvPr>
          <p:cNvGrpSpPr/>
          <p:nvPr/>
        </p:nvGrpSpPr>
        <p:grpSpPr>
          <a:xfrm>
            <a:off x="5715590" y="1695345"/>
            <a:ext cx="499784" cy="499784"/>
            <a:chOff x="5872153" y="1606483"/>
            <a:chExt cx="448800" cy="448800"/>
          </a:xfrm>
        </p:grpSpPr>
        <p:sp>
          <p:nvSpPr>
            <p:cNvPr id="26" name="Google Shape;7641;g3e0685d0c96_0_10295">
              <a:extLst>
                <a:ext uri="{FF2B5EF4-FFF2-40B4-BE49-F238E27FC236}">
                  <a16:creationId xmlns:a16="http://schemas.microsoft.com/office/drawing/2014/main" id="{A6025E6C-8006-F1A6-475B-BF8CBF8DA769}"/>
                </a:ext>
              </a:extLst>
            </p:cNvPr>
            <p:cNvSpPr/>
            <p:nvPr/>
          </p:nvSpPr>
          <p:spPr>
            <a:xfrm>
              <a:off x="5872153" y="1606483"/>
              <a:ext cx="448800" cy="448800"/>
            </a:xfrm>
            <a:prstGeom prst="ellipse">
              <a:avLst/>
            </a:prstGeom>
            <a:gradFill>
              <a:gsLst>
                <a:gs pos="0">
                  <a:schemeClr val="accent3"/>
                </a:gs>
                <a:gs pos="83000">
                  <a:schemeClr val="accent2"/>
                </a:gs>
                <a:gs pos="100000">
                  <a:schemeClr val="accent2"/>
                </a:gs>
              </a:gsLst>
              <a:lin ang="10800025" scaled="0"/>
            </a:gradFill>
            <a:ln>
              <a:noFill/>
            </a:ln>
          </p:spPr>
          <p:txBody>
            <a:bodyPr spcFirstLastPara="1" wrap="square" lIns="91275" tIns="45575" rIns="91275" bIns="455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pic>
          <p:nvPicPr>
            <p:cNvPr id="27" name="Google Shape;7642;g3e0685d0c96_0_10295">
              <a:extLst>
                <a:ext uri="{FF2B5EF4-FFF2-40B4-BE49-F238E27FC236}">
                  <a16:creationId xmlns:a16="http://schemas.microsoft.com/office/drawing/2014/main" id="{5AA0036A-07A3-84FB-91B4-6D84FBED3E46}"/>
                </a:ext>
              </a:extLst>
            </p:cNvPr>
            <p:cNvPicPr preferRelativeResize="0"/>
            <p:nvPr/>
          </p:nvPicPr>
          <p:blipFill rotWithShape="1">
            <a:blip r:embed="rId3">
              <a:alphaModFix/>
            </a:blip>
            <a:srcRect/>
            <a:stretch/>
          </p:blipFill>
          <p:spPr>
            <a:xfrm>
              <a:off x="5955697" y="1681900"/>
              <a:ext cx="281760" cy="281760"/>
            </a:xfrm>
            <a:prstGeom prst="rect">
              <a:avLst/>
            </a:prstGeom>
            <a:noFill/>
            <a:ln>
              <a:noFill/>
            </a:ln>
          </p:spPr>
        </p:pic>
      </p:grpSp>
      <p:grpSp>
        <p:nvGrpSpPr>
          <p:cNvPr id="28" name="Google Shape;7643;g3e0685d0c96_0_10295">
            <a:extLst>
              <a:ext uri="{FF2B5EF4-FFF2-40B4-BE49-F238E27FC236}">
                <a16:creationId xmlns:a16="http://schemas.microsoft.com/office/drawing/2014/main" id="{C79CAB0E-AB09-3FBE-0135-90024AF40C2F}"/>
              </a:ext>
            </a:extLst>
          </p:cNvPr>
          <p:cNvGrpSpPr/>
          <p:nvPr/>
        </p:nvGrpSpPr>
        <p:grpSpPr>
          <a:xfrm>
            <a:off x="5715590" y="1030803"/>
            <a:ext cx="499784" cy="499784"/>
            <a:chOff x="5872152" y="941422"/>
            <a:chExt cx="448800" cy="448800"/>
          </a:xfrm>
        </p:grpSpPr>
        <p:sp>
          <p:nvSpPr>
            <p:cNvPr id="29" name="Google Shape;7644;g3e0685d0c96_0_10295">
              <a:extLst>
                <a:ext uri="{FF2B5EF4-FFF2-40B4-BE49-F238E27FC236}">
                  <a16:creationId xmlns:a16="http://schemas.microsoft.com/office/drawing/2014/main" id="{08C6B97D-4635-AC8D-FDA1-E32E532DFF43}"/>
                </a:ext>
              </a:extLst>
            </p:cNvPr>
            <p:cNvSpPr/>
            <p:nvPr/>
          </p:nvSpPr>
          <p:spPr>
            <a:xfrm>
              <a:off x="5872152" y="941422"/>
              <a:ext cx="448800" cy="448800"/>
            </a:xfrm>
            <a:prstGeom prst="ellipse">
              <a:avLst/>
            </a:prstGeom>
            <a:gradFill>
              <a:gsLst>
                <a:gs pos="0">
                  <a:schemeClr val="accent2"/>
                </a:gs>
                <a:gs pos="99000">
                  <a:schemeClr val="accent5"/>
                </a:gs>
                <a:gs pos="100000">
                  <a:schemeClr val="accent5"/>
                </a:gs>
              </a:gsLst>
              <a:lin ang="10800025" scaled="0"/>
            </a:gradFill>
            <a:ln>
              <a:noFill/>
            </a:ln>
          </p:spPr>
          <p:txBody>
            <a:bodyPr spcFirstLastPara="1" wrap="square" lIns="91275" tIns="45575" rIns="91275" bIns="455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grpSp>
          <p:nvGrpSpPr>
            <p:cNvPr id="30" name="Google Shape;7645;g3e0685d0c96_0_10295">
              <a:extLst>
                <a:ext uri="{FF2B5EF4-FFF2-40B4-BE49-F238E27FC236}">
                  <a16:creationId xmlns:a16="http://schemas.microsoft.com/office/drawing/2014/main" id="{3CB55E99-EF07-AB93-21A5-8F79E3F69DA8}"/>
                </a:ext>
              </a:extLst>
            </p:cNvPr>
            <p:cNvGrpSpPr/>
            <p:nvPr/>
          </p:nvGrpSpPr>
          <p:grpSpPr>
            <a:xfrm>
              <a:off x="5957355" y="1026620"/>
              <a:ext cx="278465" cy="278465"/>
              <a:chOff x="5942012" y="3276600"/>
              <a:chExt cx="304800" cy="304800"/>
            </a:xfrm>
          </p:grpSpPr>
          <p:sp>
            <p:nvSpPr>
              <p:cNvPr id="31" name="Google Shape;7646;g3e0685d0c96_0_10295">
                <a:extLst>
                  <a:ext uri="{FF2B5EF4-FFF2-40B4-BE49-F238E27FC236}">
                    <a16:creationId xmlns:a16="http://schemas.microsoft.com/office/drawing/2014/main" id="{4CAB1A4A-6B77-1ECC-F885-3B6417495F33}"/>
                  </a:ext>
                </a:extLst>
              </p:cNvPr>
              <p:cNvSpPr/>
              <p:nvPr/>
            </p:nvSpPr>
            <p:spPr>
              <a:xfrm>
                <a:off x="5984855" y="3319462"/>
                <a:ext cx="219131" cy="219113"/>
              </a:xfrm>
              <a:custGeom>
                <a:avLst/>
                <a:gdLst/>
                <a:ahLst/>
                <a:cxnLst/>
                <a:rect l="l" t="t" r="r" b="b"/>
                <a:pathLst>
                  <a:path w="219131" h="219113" extrusionOk="0">
                    <a:moveTo>
                      <a:pt x="109556" y="219113"/>
                    </a:moveTo>
                    <a:cubicBezTo>
                      <a:pt x="95326" y="219113"/>
                      <a:pt x="81457" y="216408"/>
                      <a:pt x="68332" y="211093"/>
                    </a:cubicBezTo>
                    <a:cubicBezTo>
                      <a:pt x="65208" y="209817"/>
                      <a:pt x="63703" y="206254"/>
                      <a:pt x="64960" y="203130"/>
                    </a:cubicBezTo>
                    <a:cubicBezTo>
                      <a:pt x="66236" y="200006"/>
                      <a:pt x="69799" y="198501"/>
                      <a:pt x="72923" y="199758"/>
                    </a:cubicBezTo>
                    <a:cubicBezTo>
                      <a:pt x="84582" y="204483"/>
                      <a:pt x="96907" y="206883"/>
                      <a:pt x="109556" y="206883"/>
                    </a:cubicBezTo>
                    <a:cubicBezTo>
                      <a:pt x="122205" y="206883"/>
                      <a:pt x="134531" y="204483"/>
                      <a:pt x="146189" y="199758"/>
                    </a:cubicBezTo>
                    <a:cubicBezTo>
                      <a:pt x="158267" y="194862"/>
                      <a:pt x="169087" y="187662"/>
                      <a:pt x="178384" y="178365"/>
                    </a:cubicBezTo>
                    <a:cubicBezTo>
                      <a:pt x="187680" y="169069"/>
                      <a:pt x="194881" y="158229"/>
                      <a:pt x="199777" y="146171"/>
                    </a:cubicBezTo>
                    <a:cubicBezTo>
                      <a:pt x="204501" y="134512"/>
                      <a:pt x="206902" y="122187"/>
                      <a:pt x="206902" y="109538"/>
                    </a:cubicBezTo>
                    <a:cubicBezTo>
                      <a:pt x="206902" y="96888"/>
                      <a:pt x="204501" y="84563"/>
                      <a:pt x="199777" y="72904"/>
                    </a:cubicBezTo>
                    <a:cubicBezTo>
                      <a:pt x="198501" y="69780"/>
                      <a:pt x="200025" y="66218"/>
                      <a:pt x="203149" y="64941"/>
                    </a:cubicBezTo>
                    <a:cubicBezTo>
                      <a:pt x="206273" y="63665"/>
                      <a:pt x="209835" y="65189"/>
                      <a:pt x="211112" y="68313"/>
                    </a:cubicBezTo>
                    <a:cubicBezTo>
                      <a:pt x="216427" y="81439"/>
                      <a:pt x="219132" y="95307"/>
                      <a:pt x="219132" y="109538"/>
                    </a:cubicBezTo>
                    <a:cubicBezTo>
                      <a:pt x="219132" y="123768"/>
                      <a:pt x="216427" y="137636"/>
                      <a:pt x="211112" y="150762"/>
                    </a:cubicBezTo>
                    <a:cubicBezTo>
                      <a:pt x="205606" y="164363"/>
                      <a:pt x="197491" y="176555"/>
                      <a:pt x="187051" y="187014"/>
                    </a:cubicBezTo>
                    <a:cubicBezTo>
                      <a:pt x="176612" y="197472"/>
                      <a:pt x="164401" y="205569"/>
                      <a:pt x="150799" y="211074"/>
                    </a:cubicBezTo>
                    <a:cubicBezTo>
                      <a:pt x="137674" y="216389"/>
                      <a:pt x="123805" y="219094"/>
                      <a:pt x="109575" y="219094"/>
                    </a:cubicBezTo>
                    <a:lnTo>
                      <a:pt x="109556" y="219113"/>
                    </a:lnTo>
                    <a:close/>
                    <a:moveTo>
                      <a:pt x="13678" y="154591"/>
                    </a:moveTo>
                    <a:cubicBezTo>
                      <a:pt x="11259" y="154591"/>
                      <a:pt x="8973" y="153143"/>
                      <a:pt x="8020" y="150781"/>
                    </a:cubicBezTo>
                    <a:cubicBezTo>
                      <a:pt x="2705" y="137655"/>
                      <a:pt x="0" y="123787"/>
                      <a:pt x="0" y="109557"/>
                    </a:cubicBezTo>
                    <a:cubicBezTo>
                      <a:pt x="0" y="95326"/>
                      <a:pt x="2705" y="81458"/>
                      <a:pt x="8020" y="68332"/>
                    </a:cubicBezTo>
                    <a:cubicBezTo>
                      <a:pt x="13525" y="54731"/>
                      <a:pt x="21641" y="42539"/>
                      <a:pt x="32080" y="32080"/>
                    </a:cubicBezTo>
                    <a:cubicBezTo>
                      <a:pt x="42539" y="21622"/>
                      <a:pt x="54730" y="13526"/>
                      <a:pt x="68332" y="8020"/>
                    </a:cubicBezTo>
                    <a:cubicBezTo>
                      <a:pt x="81457" y="2705"/>
                      <a:pt x="95326" y="0"/>
                      <a:pt x="109556" y="0"/>
                    </a:cubicBezTo>
                    <a:cubicBezTo>
                      <a:pt x="123786" y="0"/>
                      <a:pt x="137655" y="2705"/>
                      <a:pt x="150780" y="8020"/>
                    </a:cubicBezTo>
                    <a:cubicBezTo>
                      <a:pt x="153904" y="9296"/>
                      <a:pt x="155409" y="12859"/>
                      <a:pt x="154152" y="15983"/>
                    </a:cubicBezTo>
                    <a:cubicBezTo>
                      <a:pt x="152876" y="19107"/>
                      <a:pt x="149313" y="20612"/>
                      <a:pt x="146189" y="19355"/>
                    </a:cubicBezTo>
                    <a:cubicBezTo>
                      <a:pt x="134531" y="14630"/>
                      <a:pt x="122205" y="12230"/>
                      <a:pt x="109556" y="12230"/>
                    </a:cubicBezTo>
                    <a:cubicBezTo>
                      <a:pt x="96907" y="12230"/>
                      <a:pt x="84582" y="14630"/>
                      <a:pt x="72923" y="19355"/>
                    </a:cubicBezTo>
                    <a:cubicBezTo>
                      <a:pt x="60845" y="24251"/>
                      <a:pt x="50025" y="31452"/>
                      <a:pt x="40729" y="40748"/>
                    </a:cubicBezTo>
                    <a:cubicBezTo>
                      <a:pt x="31432" y="50044"/>
                      <a:pt x="24232" y="60884"/>
                      <a:pt x="19336" y="72942"/>
                    </a:cubicBezTo>
                    <a:cubicBezTo>
                      <a:pt x="14611" y="84601"/>
                      <a:pt x="12211" y="96926"/>
                      <a:pt x="12211" y="109576"/>
                    </a:cubicBezTo>
                    <a:cubicBezTo>
                      <a:pt x="12211" y="122225"/>
                      <a:pt x="14611" y="134550"/>
                      <a:pt x="19336" y="146209"/>
                    </a:cubicBezTo>
                    <a:cubicBezTo>
                      <a:pt x="20612" y="149333"/>
                      <a:pt x="19088" y="152895"/>
                      <a:pt x="15964" y="154172"/>
                    </a:cubicBezTo>
                    <a:cubicBezTo>
                      <a:pt x="15221" y="154476"/>
                      <a:pt x="14440" y="154629"/>
                      <a:pt x="13678" y="154629"/>
                    </a:cubicBezTo>
                    <a:lnTo>
                      <a:pt x="13678" y="154591"/>
                    </a:lnTo>
                    <a:close/>
                  </a:path>
                </a:pathLst>
              </a:custGeom>
              <a:solidFill>
                <a:schemeClr val="lt1"/>
              </a:solidFill>
              <a:ln>
                <a:noFill/>
              </a:ln>
            </p:spPr>
            <p:txBody>
              <a:bodyPr spcFirstLastPara="1" wrap="square" lIns="91325" tIns="45600" rIns="91325" bIns="456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8"/>
                  <a:buFont typeface="Arial" pitchFamily="2" charset="0"/>
                  <a:buNone/>
                  <a:tabLst/>
                  <a:defRPr/>
                </a:pPr>
                <a:endParaRPr kumimoji="0" sz="1798"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32" name="Google Shape;7647;g3e0685d0c96_0_10295">
                <a:extLst>
                  <a:ext uri="{FF2B5EF4-FFF2-40B4-BE49-F238E27FC236}">
                    <a16:creationId xmlns:a16="http://schemas.microsoft.com/office/drawing/2014/main" id="{EAE68BA3-78F4-DF46-E6F7-F743156FCDE8}"/>
                  </a:ext>
                </a:extLst>
              </p:cNvPr>
              <p:cNvSpPr/>
              <p:nvPr/>
            </p:nvSpPr>
            <p:spPr>
              <a:xfrm>
                <a:off x="5942012" y="3276600"/>
                <a:ext cx="304800" cy="304800"/>
              </a:xfrm>
              <a:custGeom>
                <a:avLst/>
                <a:gdLst/>
                <a:ahLst/>
                <a:cxnLst/>
                <a:rect l="l" t="t" r="r" b="b"/>
                <a:pathLst>
                  <a:path w="304800" h="304800" extrusionOk="0">
                    <a:moveTo>
                      <a:pt x="152400" y="304800"/>
                    </a:moveTo>
                    <a:cubicBezTo>
                      <a:pt x="132607" y="304800"/>
                      <a:pt x="113309" y="301047"/>
                      <a:pt x="95059" y="293637"/>
                    </a:cubicBezTo>
                    <a:cubicBezTo>
                      <a:pt x="91935" y="292360"/>
                      <a:pt x="90430" y="288798"/>
                      <a:pt x="91688" y="285674"/>
                    </a:cubicBezTo>
                    <a:cubicBezTo>
                      <a:pt x="92964" y="282550"/>
                      <a:pt x="96526" y="281045"/>
                      <a:pt x="99651" y="282302"/>
                    </a:cubicBezTo>
                    <a:cubicBezTo>
                      <a:pt x="116453" y="289103"/>
                      <a:pt x="134188" y="292570"/>
                      <a:pt x="152400" y="292570"/>
                    </a:cubicBezTo>
                    <a:cubicBezTo>
                      <a:pt x="170612" y="292570"/>
                      <a:pt x="188366" y="289122"/>
                      <a:pt x="205149" y="282302"/>
                    </a:cubicBezTo>
                    <a:cubicBezTo>
                      <a:pt x="222542" y="275253"/>
                      <a:pt x="238144" y="264890"/>
                      <a:pt x="251517" y="251517"/>
                    </a:cubicBezTo>
                    <a:cubicBezTo>
                      <a:pt x="264909" y="238125"/>
                      <a:pt x="275253" y="222542"/>
                      <a:pt x="282302" y="205149"/>
                    </a:cubicBezTo>
                    <a:cubicBezTo>
                      <a:pt x="289122" y="188347"/>
                      <a:pt x="292570" y="170612"/>
                      <a:pt x="292570" y="152400"/>
                    </a:cubicBezTo>
                    <a:cubicBezTo>
                      <a:pt x="292570" y="134188"/>
                      <a:pt x="289122" y="116434"/>
                      <a:pt x="282302" y="99651"/>
                    </a:cubicBezTo>
                    <a:cubicBezTo>
                      <a:pt x="281026" y="96526"/>
                      <a:pt x="282550" y="92964"/>
                      <a:pt x="285674" y="91688"/>
                    </a:cubicBezTo>
                    <a:cubicBezTo>
                      <a:pt x="288798" y="90411"/>
                      <a:pt x="292360" y="91935"/>
                      <a:pt x="293637" y="95059"/>
                    </a:cubicBezTo>
                    <a:cubicBezTo>
                      <a:pt x="301047" y="113328"/>
                      <a:pt x="304800" y="132607"/>
                      <a:pt x="304800" y="152400"/>
                    </a:cubicBezTo>
                    <a:cubicBezTo>
                      <a:pt x="304800" y="172193"/>
                      <a:pt x="301047" y="191491"/>
                      <a:pt x="293637" y="209741"/>
                    </a:cubicBezTo>
                    <a:cubicBezTo>
                      <a:pt x="285960" y="228657"/>
                      <a:pt x="274701" y="245612"/>
                      <a:pt x="260166" y="260166"/>
                    </a:cubicBezTo>
                    <a:cubicBezTo>
                      <a:pt x="245612" y="274720"/>
                      <a:pt x="228657" y="285979"/>
                      <a:pt x="209741" y="293637"/>
                    </a:cubicBezTo>
                    <a:cubicBezTo>
                      <a:pt x="191472" y="301047"/>
                      <a:pt x="172193" y="304800"/>
                      <a:pt x="152400" y="304800"/>
                    </a:cubicBezTo>
                    <a:close/>
                    <a:moveTo>
                      <a:pt x="59531" y="268815"/>
                    </a:moveTo>
                    <a:cubicBezTo>
                      <a:pt x="53492" y="268815"/>
                      <a:pt x="47454" y="266510"/>
                      <a:pt x="42863" y="261918"/>
                    </a:cubicBezTo>
                    <a:cubicBezTo>
                      <a:pt x="33680" y="252736"/>
                      <a:pt x="33680" y="237782"/>
                      <a:pt x="42863" y="228581"/>
                    </a:cubicBezTo>
                    <a:cubicBezTo>
                      <a:pt x="47320" y="224123"/>
                      <a:pt x="53226" y="221685"/>
                      <a:pt x="59531" y="221685"/>
                    </a:cubicBezTo>
                    <a:cubicBezTo>
                      <a:pt x="65837" y="221685"/>
                      <a:pt x="71742" y="224142"/>
                      <a:pt x="76200" y="228581"/>
                    </a:cubicBezTo>
                    <a:cubicBezTo>
                      <a:pt x="80658" y="233039"/>
                      <a:pt x="83096" y="238944"/>
                      <a:pt x="83096" y="245250"/>
                    </a:cubicBezTo>
                    <a:cubicBezTo>
                      <a:pt x="83096" y="251555"/>
                      <a:pt x="80639" y="257461"/>
                      <a:pt x="76200" y="261918"/>
                    </a:cubicBezTo>
                    <a:cubicBezTo>
                      <a:pt x="71609" y="266510"/>
                      <a:pt x="65570" y="268815"/>
                      <a:pt x="59531" y="268815"/>
                    </a:cubicBezTo>
                    <a:close/>
                    <a:moveTo>
                      <a:pt x="16821" y="213551"/>
                    </a:moveTo>
                    <a:cubicBezTo>
                      <a:pt x="14402" y="213551"/>
                      <a:pt x="12116" y="212103"/>
                      <a:pt x="11163" y="209741"/>
                    </a:cubicBezTo>
                    <a:cubicBezTo>
                      <a:pt x="3753" y="191472"/>
                      <a:pt x="0" y="172193"/>
                      <a:pt x="0" y="152400"/>
                    </a:cubicBezTo>
                    <a:cubicBezTo>
                      <a:pt x="0" y="132607"/>
                      <a:pt x="3753" y="113309"/>
                      <a:pt x="11163" y="95059"/>
                    </a:cubicBezTo>
                    <a:cubicBezTo>
                      <a:pt x="18821" y="76143"/>
                      <a:pt x="30099" y="59188"/>
                      <a:pt x="44634" y="44634"/>
                    </a:cubicBezTo>
                    <a:cubicBezTo>
                      <a:pt x="59188" y="30080"/>
                      <a:pt x="76143" y="18821"/>
                      <a:pt x="95059" y="11163"/>
                    </a:cubicBezTo>
                    <a:cubicBezTo>
                      <a:pt x="113328" y="3753"/>
                      <a:pt x="132607" y="0"/>
                      <a:pt x="152400" y="0"/>
                    </a:cubicBezTo>
                    <a:cubicBezTo>
                      <a:pt x="172193" y="0"/>
                      <a:pt x="191491" y="3753"/>
                      <a:pt x="209741" y="11163"/>
                    </a:cubicBezTo>
                    <a:cubicBezTo>
                      <a:pt x="212865" y="12440"/>
                      <a:pt x="214370" y="16002"/>
                      <a:pt x="213112" y="19126"/>
                    </a:cubicBezTo>
                    <a:cubicBezTo>
                      <a:pt x="211836" y="22250"/>
                      <a:pt x="208274" y="23755"/>
                      <a:pt x="205149" y="22498"/>
                    </a:cubicBezTo>
                    <a:cubicBezTo>
                      <a:pt x="188347" y="15678"/>
                      <a:pt x="170612" y="12230"/>
                      <a:pt x="152400" y="12230"/>
                    </a:cubicBezTo>
                    <a:cubicBezTo>
                      <a:pt x="134188" y="12230"/>
                      <a:pt x="116434" y="15678"/>
                      <a:pt x="99651" y="22498"/>
                    </a:cubicBezTo>
                    <a:cubicBezTo>
                      <a:pt x="82258" y="29547"/>
                      <a:pt x="66656" y="39910"/>
                      <a:pt x="53283" y="53283"/>
                    </a:cubicBezTo>
                    <a:cubicBezTo>
                      <a:pt x="39891" y="66675"/>
                      <a:pt x="29547" y="82258"/>
                      <a:pt x="22498" y="99651"/>
                    </a:cubicBezTo>
                    <a:cubicBezTo>
                      <a:pt x="15697" y="116453"/>
                      <a:pt x="12230" y="134188"/>
                      <a:pt x="12230" y="152400"/>
                    </a:cubicBezTo>
                    <a:cubicBezTo>
                      <a:pt x="12230" y="170612"/>
                      <a:pt x="15678" y="188366"/>
                      <a:pt x="22498" y="205149"/>
                    </a:cubicBezTo>
                    <a:cubicBezTo>
                      <a:pt x="23774" y="208274"/>
                      <a:pt x="22250" y="211836"/>
                      <a:pt x="19126" y="213112"/>
                    </a:cubicBezTo>
                    <a:cubicBezTo>
                      <a:pt x="18383" y="213417"/>
                      <a:pt x="17602" y="213570"/>
                      <a:pt x="16840" y="213570"/>
                    </a:cubicBezTo>
                    <a:lnTo>
                      <a:pt x="16821" y="213551"/>
                    </a:lnTo>
                    <a:close/>
                    <a:moveTo>
                      <a:pt x="245250" y="83096"/>
                    </a:moveTo>
                    <a:cubicBezTo>
                      <a:pt x="238963" y="83096"/>
                      <a:pt x="233039" y="80639"/>
                      <a:pt x="228581" y="76200"/>
                    </a:cubicBezTo>
                    <a:cubicBezTo>
                      <a:pt x="224123" y="71761"/>
                      <a:pt x="221685" y="65837"/>
                      <a:pt x="221685" y="59531"/>
                    </a:cubicBezTo>
                    <a:cubicBezTo>
                      <a:pt x="221685" y="53226"/>
                      <a:pt x="224142" y="47320"/>
                      <a:pt x="228581" y="42863"/>
                    </a:cubicBezTo>
                    <a:cubicBezTo>
                      <a:pt x="233039" y="38405"/>
                      <a:pt x="238944" y="35966"/>
                      <a:pt x="245250" y="35966"/>
                    </a:cubicBezTo>
                    <a:cubicBezTo>
                      <a:pt x="251555" y="35966"/>
                      <a:pt x="257461" y="38424"/>
                      <a:pt x="261918" y="42863"/>
                    </a:cubicBezTo>
                    <a:cubicBezTo>
                      <a:pt x="271101" y="52045"/>
                      <a:pt x="271101" y="66999"/>
                      <a:pt x="261918" y="76200"/>
                    </a:cubicBezTo>
                    <a:cubicBezTo>
                      <a:pt x="257461" y="80658"/>
                      <a:pt x="251555" y="83096"/>
                      <a:pt x="245250" y="83096"/>
                    </a:cubicBezTo>
                    <a:close/>
                  </a:path>
                </a:pathLst>
              </a:custGeom>
              <a:solidFill>
                <a:schemeClr val="lt1"/>
              </a:solidFill>
              <a:ln>
                <a:noFill/>
              </a:ln>
            </p:spPr>
            <p:txBody>
              <a:bodyPr spcFirstLastPara="1" wrap="square" lIns="91325" tIns="45600" rIns="91325" bIns="456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8"/>
                  <a:buFont typeface="Arial" pitchFamily="2" charset="0"/>
                  <a:buNone/>
                  <a:tabLst/>
                  <a:defRPr/>
                </a:pPr>
                <a:endParaRPr kumimoji="0" sz="1798"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33" name="Google Shape;7648;g3e0685d0c96_0_10295">
                <a:extLst>
                  <a:ext uri="{FF2B5EF4-FFF2-40B4-BE49-F238E27FC236}">
                    <a16:creationId xmlns:a16="http://schemas.microsoft.com/office/drawing/2014/main" id="{244F8C28-9B14-0F04-0E42-264863C66A9C}"/>
                  </a:ext>
                </a:extLst>
              </p:cNvPr>
              <p:cNvSpPr/>
              <p:nvPr/>
            </p:nvSpPr>
            <p:spPr>
              <a:xfrm>
                <a:off x="6046307" y="3351321"/>
                <a:ext cx="96168" cy="155381"/>
              </a:xfrm>
              <a:custGeom>
                <a:avLst/>
                <a:gdLst/>
                <a:ahLst/>
                <a:cxnLst/>
                <a:rect l="l" t="t" r="r" b="b"/>
                <a:pathLst>
                  <a:path w="96168" h="155381" extrusionOk="0">
                    <a:moveTo>
                      <a:pt x="34788" y="155382"/>
                    </a:moveTo>
                    <a:cubicBezTo>
                      <a:pt x="33302" y="155382"/>
                      <a:pt x="31797" y="155096"/>
                      <a:pt x="30349" y="154487"/>
                    </a:cubicBezTo>
                    <a:cubicBezTo>
                      <a:pt x="25701" y="152563"/>
                      <a:pt x="23224" y="148086"/>
                      <a:pt x="24158" y="143361"/>
                    </a:cubicBezTo>
                    <a:lnTo>
                      <a:pt x="33645" y="96079"/>
                    </a:lnTo>
                    <a:lnTo>
                      <a:pt x="10785" y="96079"/>
                    </a:lnTo>
                    <a:cubicBezTo>
                      <a:pt x="6689" y="96079"/>
                      <a:pt x="2993" y="93946"/>
                      <a:pt x="1164" y="90517"/>
                    </a:cubicBezTo>
                    <a:cubicBezTo>
                      <a:pt x="-550" y="87316"/>
                      <a:pt x="-360" y="83602"/>
                      <a:pt x="1660" y="80573"/>
                    </a:cubicBezTo>
                    <a:lnTo>
                      <a:pt x="52314" y="4735"/>
                    </a:lnTo>
                    <a:cubicBezTo>
                      <a:pt x="55171" y="449"/>
                      <a:pt x="60867" y="-1170"/>
                      <a:pt x="65820" y="887"/>
                    </a:cubicBezTo>
                    <a:cubicBezTo>
                      <a:pt x="70468" y="2811"/>
                      <a:pt x="72945" y="7288"/>
                      <a:pt x="72011" y="12012"/>
                    </a:cubicBezTo>
                    <a:lnTo>
                      <a:pt x="62524" y="59294"/>
                    </a:lnTo>
                    <a:lnTo>
                      <a:pt x="85384" y="59294"/>
                    </a:lnTo>
                    <a:cubicBezTo>
                      <a:pt x="89480" y="59294"/>
                      <a:pt x="93176" y="61427"/>
                      <a:pt x="95005" y="64856"/>
                    </a:cubicBezTo>
                    <a:cubicBezTo>
                      <a:pt x="96719" y="68057"/>
                      <a:pt x="96529" y="71772"/>
                      <a:pt x="94509" y="74800"/>
                    </a:cubicBezTo>
                    <a:lnTo>
                      <a:pt x="43855" y="150639"/>
                    </a:lnTo>
                    <a:cubicBezTo>
                      <a:pt x="41817" y="153687"/>
                      <a:pt x="38388" y="155382"/>
                      <a:pt x="34788" y="155382"/>
                    </a:cubicBezTo>
                    <a:close/>
                    <a:moveTo>
                      <a:pt x="14175" y="83868"/>
                    </a:moveTo>
                    <a:lnTo>
                      <a:pt x="48561" y="83868"/>
                    </a:lnTo>
                    <a:lnTo>
                      <a:pt x="37740" y="137780"/>
                    </a:lnTo>
                    <a:lnTo>
                      <a:pt x="81993" y="71505"/>
                    </a:lnTo>
                    <a:lnTo>
                      <a:pt x="47608" y="71505"/>
                    </a:lnTo>
                    <a:lnTo>
                      <a:pt x="58429" y="17575"/>
                    </a:lnTo>
                    <a:lnTo>
                      <a:pt x="14175" y="83868"/>
                    </a:lnTo>
                    <a:close/>
                  </a:path>
                </a:pathLst>
              </a:custGeom>
              <a:solidFill>
                <a:schemeClr val="lt1"/>
              </a:solidFill>
              <a:ln>
                <a:noFill/>
              </a:ln>
            </p:spPr>
            <p:txBody>
              <a:bodyPr spcFirstLastPara="1" wrap="square" lIns="91325" tIns="45600" rIns="91325" bIns="456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8"/>
                  <a:buFont typeface="Arial" pitchFamily="2" charset="0"/>
                  <a:buNone/>
                  <a:tabLst/>
                  <a:defRPr/>
                </a:pPr>
                <a:endParaRPr kumimoji="0" sz="1798"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grpSp>
      <p:grpSp>
        <p:nvGrpSpPr>
          <p:cNvPr id="34" name="Google Shape;7649;g3e0685d0c96_0_10295">
            <a:extLst>
              <a:ext uri="{FF2B5EF4-FFF2-40B4-BE49-F238E27FC236}">
                <a16:creationId xmlns:a16="http://schemas.microsoft.com/office/drawing/2014/main" id="{C5654E08-E3E4-E969-38BA-1FA2E33E85D4}"/>
              </a:ext>
            </a:extLst>
          </p:cNvPr>
          <p:cNvGrpSpPr/>
          <p:nvPr/>
        </p:nvGrpSpPr>
        <p:grpSpPr>
          <a:xfrm>
            <a:off x="5715657" y="2359819"/>
            <a:ext cx="499650" cy="499650"/>
            <a:chOff x="5846671" y="2246497"/>
            <a:chExt cx="499800" cy="499800"/>
          </a:xfrm>
        </p:grpSpPr>
        <p:sp>
          <p:nvSpPr>
            <p:cNvPr id="35" name="Google Shape;7650;g3e0685d0c96_0_10295">
              <a:extLst>
                <a:ext uri="{FF2B5EF4-FFF2-40B4-BE49-F238E27FC236}">
                  <a16:creationId xmlns:a16="http://schemas.microsoft.com/office/drawing/2014/main" id="{4C3DDD9B-559A-8ED9-5C27-4F181B975770}"/>
                </a:ext>
              </a:extLst>
            </p:cNvPr>
            <p:cNvSpPr/>
            <p:nvPr/>
          </p:nvSpPr>
          <p:spPr>
            <a:xfrm>
              <a:off x="5846671" y="2246497"/>
              <a:ext cx="499800" cy="499800"/>
            </a:xfrm>
            <a:prstGeom prst="ellipse">
              <a:avLst/>
            </a:prstGeom>
            <a:gradFill>
              <a:gsLst>
                <a:gs pos="0">
                  <a:schemeClr val="accent1"/>
                </a:gs>
                <a:gs pos="83000">
                  <a:schemeClr val="accent4"/>
                </a:gs>
                <a:gs pos="100000">
                  <a:schemeClr val="accent4"/>
                </a:gs>
              </a:gsLst>
              <a:lin ang="0" scaled="0"/>
            </a:gradFill>
            <a:ln>
              <a:noFill/>
            </a:ln>
          </p:spPr>
          <p:txBody>
            <a:bodyPr spcFirstLastPara="1" wrap="square" lIns="91275" tIns="45575" rIns="91275" bIns="455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pitchFamily="2" charset="0"/>
                <a:buNone/>
                <a:tabLst/>
                <a:defRPr/>
              </a:pPr>
              <a:endParaRPr kumimoji="0" sz="12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grpSp>
          <p:nvGrpSpPr>
            <p:cNvPr id="36" name="Google Shape;7651;g3e0685d0c96_0_10295">
              <a:extLst>
                <a:ext uri="{FF2B5EF4-FFF2-40B4-BE49-F238E27FC236}">
                  <a16:creationId xmlns:a16="http://schemas.microsoft.com/office/drawing/2014/main" id="{C033F4A0-2DF0-FDBA-2279-C9E19416F4A0}"/>
                </a:ext>
              </a:extLst>
            </p:cNvPr>
            <p:cNvGrpSpPr/>
            <p:nvPr/>
          </p:nvGrpSpPr>
          <p:grpSpPr>
            <a:xfrm>
              <a:off x="6036659" y="2407617"/>
              <a:ext cx="119361" cy="177407"/>
              <a:chOff x="6885857" y="3368177"/>
              <a:chExt cx="111730" cy="166065"/>
            </a:xfrm>
          </p:grpSpPr>
          <p:sp>
            <p:nvSpPr>
              <p:cNvPr id="38" name="Google Shape;7652;g3e0685d0c96_0_10295">
                <a:extLst>
                  <a:ext uri="{FF2B5EF4-FFF2-40B4-BE49-F238E27FC236}">
                    <a16:creationId xmlns:a16="http://schemas.microsoft.com/office/drawing/2014/main" id="{34CE749E-4B4A-C51A-326D-02B53D49A0B9}"/>
                  </a:ext>
                </a:extLst>
              </p:cNvPr>
              <p:cNvSpPr/>
              <p:nvPr/>
            </p:nvSpPr>
            <p:spPr>
              <a:xfrm>
                <a:off x="6885857" y="3368177"/>
                <a:ext cx="111730" cy="166065"/>
              </a:xfrm>
              <a:custGeom>
                <a:avLst/>
                <a:gdLst/>
                <a:ahLst/>
                <a:cxnLst/>
                <a:rect l="l" t="t" r="r" b="b"/>
                <a:pathLst>
                  <a:path w="184678" h="274487" extrusionOk="0">
                    <a:moveTo>
                      <a:pt x="146731" y="107518"/>
                    </a:moveTo>
                    <a:lnTo>
                      <a:pt x="146731" y="55024"/>
                    </a:lnTo>
                    <a:cubicBezTo>
                      <a:pt x="146731" y="24666"/>
                      <a:pt x="124595" y="0"/>
                      <a:pt x="96766" y="0"/>
                    </a:cubicBezTo>
                    <a:lnTo>
                      <a:pt x="88544" y="0"/>
                    </a:lnTo>
                    <a:cubicBezTo>
                      <a:pt x="61349" y="0"/>
                      <a:pt x="38580" y="24666"/>
                      <a:pt x="38580" y="55024"/>
                    </a:cubicBezTo>
                    <a:lnTo>
                      <a:pt x="38580" y="107518"/>
                    </a:lnTo>
                    <a:cubicBezTo>
                      <a:pt x="15179" y="124595"/>
                      <a:pt x="0" y="151790"/>
                      <a:pt x="0" y="182148"/>
                    </a:cubicBezTo>
                    <a:cubicBezTo>
                      <a:pt x="0" y="233378"/>
                      <a:pt x="41110" y="274488"/>
                      <a:pt x="92339" y="274488"/>
                    </a:cubicBezTo>
                    <a:cubicBezTo>
                      <a:pt x="143568" y="274488"/>
                      <a:pt x="184678" y="233378"/>
                      <a:pt x="184678" y="182148"/>
                    </a:cubicBezTo>
                    <a:cubicBezTo>
                      <a:pt x="184678" y="151158"/>
                      <a:pt x="169499" y="123962"/>
                      <a:pt x="146731" y="107518"/>
                    </a:cubicBezTo>
                    <a:close/>
                    <a:moveTo>
                      <a:pt x="53759" y="55024"/>
                    </a:moveTo>
                    <a:cubicBezTo>
                      <a:pt x="53759" y="33520"/>
                      <a:pt x="68938" y="15812"/>
                      <a:pt x="87912" y="15812"/>
                    </a:cubicBezTo>
                    <a:lnTo>
                      <a:pt x="96134" y="15812"/>
                    </a:lnTo>
                    <a:cubicBezTo>
                      <a:pt x="115108" y="15812"/>
                      <a:pt x="130287" y="33520"/>
                      <a:pt x="130287" y="55024"/>
                    </a:cubicBezTo>
                    <a:lnTo>
                      <a:pt x="130287" y="98031"/>
                    </a:lnTo>
                    <a:cubicBezTo>
                      <a:pt x="118902" y="92972"/>
                      <a:pt x="105621" y="89809"/>
                      <a:pt x="91707" y="89809"/>
                    </a:cubicBezTo>
                    <a:cubicBezTo>
                      <a:pt x="77793" y="89809"/>
                      <a:pt x="65143" y="92972"/>
                      <a:pt x="53127" y="98031"/>
                    </a:cubicBezTo>
                    <a:lnTo>
                      <a:pt x="53127" y="55024"/>
                    </a:lnTo>
                    <a:close/>
                    <a:moveTo>
                      <a:pt x="92339" y="258676"/>
                    </a:moveTo>
                    <a:cubicBezTo>
                      <a:pt x="49964" y="258676"/>
                      <a:pt x="15812" y="224523"/>
                      <a:pt x="15812" y="182148"/>
                    </a:cubicBezTo>
                    <a:cubicBezTo>
                      <a:pt x="15812" y="139774"/>
                      <a:pt x="49964" y="105621"/>
                      <a:pt x="92339" y="105621"/>
                    </a:cubicBezTo>
                    <a:cubicBezTo>
                      <a:pt x="134714" y="105621"/>
                      <a:pt x="168867" y="139774"/>
                      <a:pt x="168867" y="182148"/>
                    </a:cubicBezTo>
                    <a:cubicBezTo>
                      <a:pt x="168867" y="224523"/>
                      <a:pt x="134714" y="258676"/>
                      <a:pt x="92339" y="258676"/>
                    </a:cubicBezTo>
                    <a:close/>
                  </a:path>
                </a:pathLst>
              </a:custGeom>
              <a:solidFill>
                <a:schemeClr val="lt1"/>
              </a:solidFill>
              <a:ln>
                <a:noFill/>
              </a:ln>
            </p:spPr>
            <p:txBody>
              <a:bodyPr spcFirstLastPara="1" wrap="square" lIns="91325" tIns="45600" rIns="91325" bIns="456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8"/>
                  <a:buFont typeface="Arial" pitchFamily="2" charset="0"/>
                  <a:buNone/>
                  <a:tabLst/>
                  <a:defRPr/>
                </a:pPr>
                <a:endParaRPr kumimoji="0" sz="1798"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39" name="Google Shape;7653;g3e0685d0c96_0_10295">
                <a:extLst>
                  <a:ext uri="{FF2B5EF4-FFF2-40B4-BE49-F238E27FC236}">
                    <a16:creationId xmlns:a16="http://schemas.microsoft.com/office/drawing/2014/main" id="{6BA82175-8E06-CA03-F966-F9ADB54B9E19}"/>
                  </a:ext>
                </a:extLst>
              </p:cNvPr>
              <p:cNvSpPr/>
              <p:nvPr/>
            </p:nvSpPr>
            <p:spPr>
              <a:xfrm>
                <a:off x="6932472" y="3463700"/>
                <a:ext cx="18008" cy="29080"/>
              </a:xfrm>
              <a:custGeom>
                <a:avLst/>
                <a:gdLst/>
                <a:ahLst/>
                <a:cxnLst/>
                <a:rect l="l" t="t" r="r" b="b"/>
                <a:pathLst>
                  <a:path w="29765" h="48066" extrusionOk="0">
                    <a:moveTo>
                      <a:pt x="15179" y="0"/>
                    </a:moveTo>
                    <a:cubicBezTo>
                      <a:pt x="6957" y="0"/>
                      <a:pt x="0" y="6957"/>
                      <a:pt x="0" y="15179"/>
                    </a:cubicBezTo>
                    <a:cubicBezTo>
                      <a:pt x="0" y="20871"/>
                      <a:pt x="3162" y="25931"/>
                      <a:pt x="7590" y="28461"/>
                    </a:cubicBezTo>
                    <a:lnTo>
                      <a:pt x="7590" y="44272"/>
                    </a:lnTo>
                    <a:cubicBezTo>
                      <a:pt x="7590" y="46802"/>
                      <a:pt x="9487" y="48067"/>
                      <a:pt x="11384" y="48067"/>
                    </a:cubicBezTo>
                    <a:lnTo>
                      <a:pt x="18341" y="48067"/>
                    </a:lnTo>
                    <a:cubicBezTo>
                      <a:pt x="20871" y="48067"/>
                      <a:pt x="22136" y="46170"/>
                      <a:pt x="22136" y="44272"/>
                    </a:cubicBezTo>
                    <a:lnTo>
                      <a:pt x="22136" y="28461"/>
                    </a:lnTo>
                    <a:cubicBezTo>
                      <a:pt x="26563" y="25931"/>
                      <a:pt x="29726" y="20871"/>
                      <a:pt x="29726" y="15179"/>
                    </a:cubicBezTo>
                    <a:cubicBezTo>
                      <a:pt x="30358" y="6957"/>
                      <a:pt x="23401" y="0"/>
                      <a:pt x="15179" y="0"/>
                    </a:cubicBezTo>
                    <a:close/>
                  </a:path>
                </a:pathLst>
              </a:custGeom>
              <a:solidFill>
                <a:schemeClr val="lt1"/>
              </a:solidFill>
              <a:ln>
                <a:noFill/>
              </a:ln>
            </p:spPr>
            <p:txBody>
              <a:bodyPr spcFirstLastPara="1" wrap="square" lIns="91325" tIns="45600" rIns="91325" bIns="456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798"/>
                  <a:buFont typeface="Arial" pitchFamily="2" charset="0"/>
                  <a:buNone/>
                  <a:tabLst/>
                  <a:defRPr/>
                </a:pPr>
                <a:endParaRPr kumimoji="0" sz="1798"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sp>
          <p:nvSpPr>
            <p:cNvPr id="37" name="Google Shape;7654;g3e0685d0c96_0_10295">
              <a:extLst>
                <a:ext uri="{FF2B5EF4-FFF2-40B4-BE49-F238E27FC236}">
                  <a16:creationId xmlns:a16="http://schemas.microsoft.com/office/drawing/2014/main" id="{CB19E645-141A-3DC8-11AE-3E7734C9AB2A}"/>
                </a:ext>
              </a:extLst>
            </p:cNvPr>
            <p:cNvSpPr/>
            <p:nvPr/>
          </p:nvSpPr>
          <p:spPr>
            <a:xfrm>
              <a:off x="5964612" y="2342261"/>
              <a:ext cx="264284" cy="308679"/>
            </a:xfrm>
            <a:custGeom>
              <a:avLst/>
              <a:gdLst/>
              <a:ahLst/>
              <a:cxnLst/>
              <a:rect l="l" t="t" r="r" b="b"/>
              <a:pathLst>
                <a:path w="633016" h="739350" extrusionOk="0">
                  <a:moveTo>
                    <a:pt x="304771" y="735190"/>
                  </a:moveTo>
                  <a:cubicBezTo>
                    <a:pt x="301468" y="733962"/>
                    <a:pt x="223786" y="704614"/>
                    <a:pt x="147731" y="638072"/>
                  </a:cubicBezTo>
                  <a:cubicBezTo>
                    <a:pt x="104673" y="600390"/>
                    <a:pt x="70412" y="558047"/>
                    <a:pt x="45898" y="512207"/>
                  </a:cubicBezTo>
                  <a:cubicBezTo>
                    <a:pt x="15441" y="455240"/>
                    <a:pt x="0" y="392645"/>
                    <a:pt x="0" y="326141"/>
                  </a:cubicBezTo>
                  <a:lnTo>
                    <a:pt x="0" y="137106"/>
                  </a:lnTo>
                  <a:lnTo>
                    <a:pt x="25239" y="130426"/>
                  </a:lnTo>
                  <a:cubicBezTo>
                    <a:pt x="78670" y="115890"/>
                    <a:pt x="125194" y="99487"/>
                    <a:pt x="167426" y="80314"/>
                  </a:cubicBezTo>
                  <a:cubicBezTo>
                    <a:pt x="213462" y="60614"/>
                    <a:pt x="257384" y="37531"/>
                    <a:pt x="298014" y="11667"/>
                  </a:cubicBezTo>
                  <a:lnTo>
                    <a:pt x="316496" y="0"/>
                  </a:lnTo>
                  <a:lnTo>
                    <a:pt x="334978" y="11667"/>
                  </a:lnTo>
                  <a:cubicBezTo>
                    <a:pt x="378036" y="38572"/>
                    <a:pt x="421957" y="61667"/>
                    <a:pt x="465528" y="80301"/>
                  </a:cubicBezTo>
                  <a:cubicBezTo>
                    <a:pt x="512702" y="100928"/>
                    <a:pt x="560553" y="117795"/>
                    <a:pt x="607778" y="130439"/>
                  </a:cubicBezTo>
                  <a:lnTo>
                    <a:pt x="633017" y="137118"/>
                  </a:lnTo>
                  <a:lnTo>
                    <a:pt x="633017" y="326154"/>
                  </a:lnTo>
                  <a:cubicBezTo>
                    <a:pt x="633017" y="391643"/>
                    <a:pt x="618501" y="453134"/>
                    <a:pt x="589859" y="508924"/>
                  </a:cubicBezTo>
                  <a:cubicBezTo>
                    <a:pt x="566547" y="554350"/>
                    <a:pt x="533787" y="596243"/>
                    <a:pt x="492519" y="633423"/>
                  </a:cubicBezTo>
                  <a:cubicBezTo>
                    <a:pt x="419292" y="699401"/>
                    <a:pt x="341760" y="729902"/>
                    <a:pt x="329134" y="734601"/>
                  </a:cubicBezTo>
                  <a:lnTo>
                    <a:pt x="329134" y="735479"/>
                  </a:lnTo>
                  <a:lnTo>
                    <a:pt x="316446" y="739351"/>
                  </a:lnTo>
                  <a:lnTo>
                    <a:pt x="304758" y="735203"/>
                  </a:lnTo>
                  <a:close/>
                  <a:moveTo>
                    <a:pt x="24488" y="326129"/>
                  </a:moveTo>
                  <a:cubicBezTo>
                    <a:pt x="24488" y="388422"/>
                    <a:pt x="38866" y="447069"/>
                    <a:pt x="67208" y="500440"/>
                  </a:cubicBezTo>
                  <a:cubicBezTo>
                    <a:pt x="90107" y="543548"/>
                    <a:pt x="122179" y="583423"/>
                    <a:pt x="162534" y="618987"/>
                  </a:cubicBezTo>
                  <a:cubicBezTo>
                    <a:pt x="227627" y="676343"/>
                    <a:pt x="294260" y="705103"/>
                    <a:pt x="313117" y="712559"/>
                  </a:cubicBezTo>
                  <a:lnTo>
                    <a:pt x="316533" y="713912"/>
                  </a:lnTo>
                  <a:lnTo>
                    <a:pt x="321864" y="711932"/>
                  </a:lnTo>
                  <a:cubicBezTo>
                    <a:pt x="324755" y="710892"/>
                    <a:pt x="608528" y="605290"/>
                    <a:pt x="608528" y="326154"/>
                  </a:cubicBezTo>
                  <a:lnTo>
                    <a:pt x="608528" y="155702"/>
                  </a:lnTo>
                  <a:lnTo>
                    <a:pt x="601083" y="153848"/>
                  </a:lnTo>
                  <a:cubicBezTo>
                    <a:pt x="550129" y="140213"/>
                    <a:pt x="501240" y="122995"/>
                    <a:pt x="455742" y="102682"/>
                  </a:cubicBezTo>
                  <a:cubicBezTo>
                    <a:pt x="407304" y="81504"/>
                    <a:pt x="362369" y="58033"/>
                    <a:pt x="322202" y="32932"/>
                  </a:cubicBezTo>
                  <a:lnTo>
                    <a:pt x="316471" y="29135"/>
                  </a:lnTo>
                  <a:lnTo>
                    <a:pt x="311603" y="32155"/>
                  </a:lnTo>
                  <a:cubicBezTo>
                    <a:pt x="265292" y="60564"/>
                    <a:pt x="221608" y="83634"/>
                    <a:pt x="178050" y="102682"/>
                  </a:cubicBezTo>
                  <a:cubicBezTo>
                    <a:pt x="132139" y="123183"/>
                    <a:pt x="82987" y="140389"/>
                    <a:pt x="31984" y="153835"/>
                  </a:cubicBezTo>
                  <a:lnTo>
                    <a:pt x="24501" y="155690"/>
                  </a:lnTo>
                  <a:lnTo>
                    <a:pt x="24501" y="326141"/>
                  </a:lnTo>
                  <a:close/>
                </a:path>
              </a:pathLst>
            </a:custGeom>
            <a:solidFill>
              <a:schemeClr val="lt1"/>
            </a:solidFill>
            <a:ln>
              <a:noFill/>
            </a:ln>
          </p:spPr>
          <p:txBody>
            <a:bodyPr spcFirstLastPara="1" wrap="square" lIns="91375" tIns="45675" rIns="91375" bIns="4567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pitchFamily="2" charset="0"/>
                <a:buNone/>
                <a:tabLst/>
                <a:defRPr/>
              </a:pPr>
              <a:endParaRPr kumimoji="0" sz="1400"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grpSp>
        <p:nvGrpSpPr>
          <p:cNvPr id="40" name="Google Shape;7656;g3e0685d0c96_0_10295">
            <a:extLst>
              <a:ext uri="{FF2B5EF4-FFF2-40B4-BE49-F238E27FC236}">
                <a16:creationId xmlns:a16="http://schemas.microsoft.com/office/drawing/2014/main" id="{2AA2E60A-D64E-75AA-8D37-5B725BF6ED4F}"/>
              </a:ext>
            </a:extLst>
          </p:cNvPr>
          <p:cNvGrpSpPr/>
          <p:nvPr/>
        </p:nvGrpSpPr>
        <p:grpSpPr>
          <a:xfrm>
            <a:off x="4479331" y="3088291"/>
            <a:ext cx="2948418" cy="1782275"/>
            <a:chOff x="4477491" y="3000975"/>
            <a:chExt cx="3336446" cy="2016832"/>
          </a:xfrm>
        </p:grpSpPr>
        <p:grpSp>
          <p:nvGrpSpPr>
            <p:cNvPr id="41" name="Google Shape;7657;g3e0685d0c96_0_10295">
              <a:extLst>
                <a:ext uri="{FF2B5EF4-FFF2-40B4-BE49-F238E27FC236}">
                  <a16:creationId xmlns:a16="http://schemas.microsoft.com/office/drawing/2014/main" id="{90350A85-4BE5-5D66-B928-209F3C27D5D3}"/>
                </a:ext>
              </a:extLst>
            </p:cNvPr>
            <p:cNvGrpSpPr/>
            <p:nvPr/>
          </p:nvGrpSpPr>
          <p:grpSpPr>
            <a:xfrm>
              <a:off x="4477491" y="3000975"/>
              <a:ext cx="3336446" cy="2016832"/>
              <a:chOff x="1349275" y="562475"/>
              <a:chExt cx="9527260" cy="5663668"/>
            </a:xfrm>
          </p:grpSpPr>
          <p:sp>
            <p:nvSpPr>
              <p:cNvPr id="43" name="Google Shape;7658;g3e0685d0c96_0_10295">
                <a:extLst>
                  <a:ext uri="{FF2B5EF4-FFF2-40B4-BE49-F238E27FC236}">
                    <a16:creationId xmlns:a16="http://schemas.microsoft.com/office/drawing/2014/main" id="{2BF0F1C5-0834-7FA9-4EF6-904BC2DB9785}"/>
                  </a:ext>
                </a:extLst>
              </p:cNvPr>
              <p:cNvSpPr/>
              <p:nvPr/>
            </p:nvSpPr>
            <p:spPr>
              <a:xfrm>
                <a:off x="1474796" y="776287"/>
                <a:ext cx="9240926" cy="5308100"/>
              </a:xfrm>
              <a:custGeom>
                <a:avLst/>
                <a:gdLst/>
                <a:ahLst/>
                <a:cxnLst/>
                <a:rect l="l" t="t" r="r" b="b"/>
                <a:pathLst>
                  <a:path w="9240926" h="5308100" extrusionOk="0">
                    <a:moveTo>
                      <a:pt x="4587707" y="0"/>
                    </a:moveTo>
                    <a:cubicBezTo>
                      <a:pt x="5712134" y="0"/>
                      <a:pt x="6662348" y="745236"/>
                      <a:pt x="6972005" y="1768793"/>
                    </a:cubicBezTo>
                    <a:lnTo>
                      <a:pt x="6999628" y="1905095"/>
                    </a:lnTo>
                    <a:lnTo>
                      <a:pt x="7132692" y="1898809"/>
                    </a:lnTo>
                    <a:cubicBezTo>
                      <a:pt x="7724480" y="1898809"/>
                      <a:pt x="8316364" y="2123408"/>
                      <a:pt x="8765372" y="2572607"/>
                    </a:cubicBezTo>
                    <a:cubicBezTo>
                      <a:pt x="8775373" y="2582513"/>
                      <a:pt x="8785184" y="2592515"/>
                      <a:pt x="8794899" y="2602611"/>
                    </a:cubicBezTo>
                    <a:cubicBezTo>
                      <a:pt x="9769307" y="3610928"/>
                      <a:pt x="9040549" y="5298377"/>
                      <a:pt x="7638660" y="5298472"/>
                    </a:cubicBezTo>
                    <a:lnTo>
                      <a:pt x="4239568" y="5299044"/>
                    </a:lnTo>
                    <a:lnTo>
                      <a:pt x="1489320" y="5308093"/>
                    </a:lnTo>
                    <a:cubicBezTo>
                      <a:pt x="634165" y="5310855"/>
                      <a:pt x="-46301" y="4592289"/>
                      <a:pt x="2467" y="3738182"/>
                    </a:cubicBezTo>
                    <a:cubicBezTo>
                      <a:pt x="2467" y="2740438"/>
                      <a:pt x="811044" y="1931575"/>
                      <a:pt x="1808407" y="1931575"/>
                    </a:cubicBezTo>
                    <a:lnTo>
                      <a:pt x="2160261" y="1931861"/>
                    </a:lnTo>
                    <a:cubicBezTo>
                      <a:pt x="2414483" y="825246"/>
                      <a:pt x="3404511" y="0"/>
                      <a:pt x="4587707" y="0"/>
                    </a:cubicBezTo>
                    <a:lnTo>
                      <a:pt x="4587707" y="0"/>
                    </a:lnTo>
                    <a:close/>
                  </a:path>
                </a:pathLst>
              </a:custGeom>
              <a:solidFill>
                <a:srgbClr val="0A1432"/>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44" name="Google Shape;7659;g3e0685d0c96_0_10295">
                <a:extLst>
                  <a:ext uri="{FF2B5EF4-FFF2-40B4-BE49-F238E27FC236}">
                    <a16:creationId xmlns:a16="http://schemas.microsoft.com/office/drawing/2014/main" id="{7A5ACF41-46BC-3940-2143-9A4A6E7603AD}"/>
                  </a:ext>
                </a:extLst>
              </p:cNvPr>
              <p:cNvSpPr/>
              <p:nvPr/>
            </p:nvSpPr>
            <p:spPr>
              <a:xfrm>
                <a:off x="1349275" y="562475"/>
                <a:ext cx="9527260" cy="5663668"/>
              </a:xfrm>
              <a:custGeom>
                <a:avLst/>
                <a:gdLst/>
                <a:ahLst/>
                <a:cxnLst/>
                <a:rect l="l" t="t" r="r" b="b"/>
                <a:pathLst>
                  <a:path w="9527260" h="5593746" extrusionOk="0">
                    <a:moveTo>
                      <a:pt x="1627211" y="5593747"/>
                    </a:moveTo>
                    <a:cubicBezTo>
                      <a:pt x="1176012" y="5593747"/>
                      <a:pt x="756817" y="5413439"/>
                      <a:pt x="446302" y="5085683"/>
                    </a:cubicBezTo>
                    <a:cubicBezTo>
                      <a:pt x="135311" y="4757452"/>
                      <a:pt x="-22233" y="4328351"/>
                      <a:pt x="2532" y="3876961"/>
                    </a:cubicBezTo>
                    <a:cubicBezTo>
                      <a:pt x="4818" y="2803874"/>
                      <a:pt x="878165" y="1931480"/>
                      <a:pt x="1951347" y="1931480"/>
                    </a:cubicBezTo>
                    <a:lnTo>
                      <a:pt x="2192044" y="1931670"/>
                    </a:lnTo>
                    <a:cubicBezTo>
                      <a:pt x="2338062" y="1404271"/>
                      <a:pt x="2650006" y="928592"/>
                      <a:pt x="3078821" y="582644"/>
                    </a:cubicBezTo>
                    <a:cubicBezTo>
                      <a:pt x="3307898" y="397859"/>
                      <a:pt x="3563835" y="253841"/>
                      <a:pt x="3839583" y="154686"/>
                    </a:cubicBezTo>
                    <a:cubicBezTo>
                      <a:pt x="4124857" y="52007"/>
                      <a:pt x="4424704" y="0"/>
                      <a:pt x="4730552" y="0"/>
                    </a:cubicBezTo>
                    <a:cubicBezTo>
                      <a:pt x="5307291" y="0"/>
                      <a:pt x="5854883" y="183071"/>
                      <a:pt x="6314178" y="529400"/>
                    </a:cubicBezTo>
                    <a:cubicBezTo>
                      <a:pt x="6758329" y="864299"/>
                      <a:pt x="7091228" y="1340549"/>
                      <a:pt x="7251534" y="1870329"/>
                    </a:cubicBezTo>
                    <a:lnTo>
                      <a:pt x="7253439" y="1876711"/>
                    </a:lnTo>
                    <a:lnTo>
                      <a:pt x="7258011" y="1899380"/>
                    </a:lnTo>
                    <a:lnTo>
                      <a:pt x="7275442" y="1898714"/>
                    </a:lnTo>
                    <a:cubicBezTo>
                      <a:pt x="7932000" y="1898714"/>
                      <a:pt x="8547505" y="2152745"/>
                      <a:pt x="9008801" y="2614041"/>
                    </a:cubicBezTo>
                    <a:cubicBezTo>
                      <a:pt x="9019469" y="2624614"/>
                      <a:pt x="9029851" y="2635282"/>
                      <a:pt x="9040233" y="2645950"/>
                    </a:cubicBezTo>
                    <a:cubicBezTo>
                      <a:pt x="9528961" y="3151632"/>
                      <a:pt x="9661168" y="3869531"/>
                      <a:pt x="9385419" y="4519613"/>
                    </a:cubicBezTo>
                    <a:cubicBezTo>
                      <a:pt x="9255022" y="4827080"/>
                      <a:pt x="9044234" y="5088827"/>
                      <a:pt x="8775819" y="5276469"/>
                    </a:cubicBezTo>
                    <a:cubicBezTo>
                      <a:pt x="8487974" y="5477733"/>
                      <a:pt x="8144122" y="5584127"/>
                      <a:pt x="7781410" y="5584127"/>
                    </a:cubicBezTo>
                    <a:lnTo>
                      <a:pt x="4382318" y="5584698"/>
                    </a:lnTo>
                    <a:lnTo>
                      <a:pt x="1632545" y="5593747"/>
                    </a:lnTo>
                    <a:cubicBezTo>
                      <a:pt x="1630736" y="5593747"/>
                      <a:pt x="1628926" y="5593747"/>
                      <a:pt x="1627116" y="5593747"/>
                    </a:cubicBezTo>
                    <a:close/>
                    <a:moveTo>
                      <a:pt x="1951157" y="2217230"/>
                    </a:moveTo>
                    <a:cubicBezTo>
                      <a:pt x="1034280" y="2217230"/>
                      <a:pt x="288187" y="2963609"/>
                      <a:pt x="288187" y="3880961"/>
                    </a:cubicBezTo>
                    <a:lnTo>
                      <a:pt x="287996" y="3889153"/>
                    </a:lnTo>
                    <a:cubicBezTo>
                      <a:pt x="266660" y="4262628"/>
                      <a:pt x="396486" y="4617720"/>
                      <a:pt x="653756" y="4889183"/>
                    </a:cubicBezTo>
                    <a:cubicBezTo>
                      <a:pt x="909788" y="5159407"/>
                      <a:pt x="1255356" y="5307997"/>
                      <a:pt x="1627307" y="5307997"/>
                    </a:cubicBezTo>
                    <a:cubicBezTo>
                      <a:pt x="1628831" y="5307997"/>
                      <a:pt x="1630260" y="5307997"/>
                      <a:pt x="1631784" y="5307997"/>
                    </a:cubicBezTo>
                    <a:lnTo>
                      <a:pt x="4382032" y="5298948"/>
                    </a:lnTo>
                    <a:lnTo>
                      <a:pt x="7781600" y="5298377"/>
                    </a:lnTo>
                    <a:cubicBezTo>
                      <a:pt x="8375769" y="5298377"/>
                      <a:pt x="8889643" y="4957191"/>
                      <a:pt x="9122529" y="4407980"/>
                    </a:cubicBezTo>
                    <a:cubicBezTo>
                      <a:pt x="9352748" y="3865340"/>
                      <a:pt x="9242639" y="3266218"/>
                      <a:pt x="8835160" y="2844641"/>
                    </a:cubicBezTo>
                    <a:cubicBezTo>
                      <a:pt x="8826302" y="2835497"/>
                      <a:pt x="8817348" y="2826258"/>
                      <a:pt x="8808109" y="2817114"/>
                    </a:cubicBezTo>
                    <a:lnTo>
                      <a:pt x="8807347" y="2816352"/>
                    </a:lnTo>
                    <a:cubicBezTo>
                      <a:pt x="8400820" y="2409635"/>
                      <a:pt x="7858181" y="2185321"/>
                      <a:pt x="7279061" y="2184464"/>
                    </a:cubicBezTo>
                    <a:lnTo>
                      <a:pt x="7026934" y="2196465"/>
                    </a:lnTo>
                    <a:lnTo>
                      <a:pt x="6976261" y="1946720"/>
                    </a:lnTo>
                    <a:cubicBezTo>
                      <a:pt x="6677176" y="968407"/>
                      <a:pt x="5754680" y="285750"/>
                      <a:pt x="4730647" y="285750"/>
                    </a:cubicBezTo>
                    <a:cubicBezTo>
                      <a:pt x="3629652" y="285750"/>
                      <a:pt x="2688678" y="1034510"/>
                      <a:pt x="2442456" y="2106644"/>
                    </a:cubicBezTo>
                    <a:lnTo>
                      <a:pt x="2416929" y="2217611"/>
                    </a:lnTo>
                    <a:lnTo>
                      <a:pt x="1951252" y="2217230"/>
                    </a:lnTo>
                    <a:close/>
                  </a:path>
                </a:pathLst>
              </a:custGeom>
              <a:gradFill>
                <a:gsLst>
                  <a:gs pos="0">
                    <a:schemeClr val="accent5"/>
                  </a:gs>
                  <a:gs pos="52000">
                    <a:schemeClr val="accent3"/>
                  </a:gs>
                  <a:gs pos="100000">
                    <a:schemeClr val="accent3"/>
                  </a:gs>
                </a:gsLst>
                <a:lin ang="18900044" scaled="0"/>
              </a:gradFill>
              <a:ln>
                <a:noFill/>
              </a:ln>
            </p:spPr>
            <p:txBody>
              <a:bodyPr spcFirstLastPara="1" wrap="square" lIns="90225" tIns="90225" rIns="90225" bIns="902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pitchFamily="2" charset="0"/>
                  <a:buNone/>
                  <a:tabLst/>
                  <a:defRPr/>
                </a:pPr>
                <a:endParaRPr kumimoji="0" sz="1100" b="0" i="0" u="none" strike="noStrike" kern="1200" cap="none" spc="0" normalizeH="0" baseline="0" noProof="0">
                  <a:ln>
                    <a:noFill/>
                  </a:ln>
                  <a:solidFill>
                    <a:srgbClr val="041032"/>
                  </a:solidFill>
                  <a:effectLst/>
                  <a:uLnTx/>
                  <a:uFillTx/>
                  <a:latin typeface="Arial" pitchFamily="2" charset="0"/>
                  <a:ea typeface="Arial" pitchFamily="2" charset="0"/>
                  <a:cs typeface="Arial" pitchFamily="2" charset="0"/>
                  <a:sym typeface="Arial" pitchFamily="2" charset="0"/>
                </a:endParaRPr>
              </a:p>
            </p:txBody>
          </p:sp>
        </p:grpSp>
        <p:pic>
          <p:nvPicPr>
            <p:cNvPr id="42" name="Google Shape;7660;g3e0685d0c96_0_10295">
              <a:extLst>
                <a:ext uri="{FF2B5EF4-FFF2-40B4-BE49-F238E27FC236}">
                  <a16:creationId xmlns:a16="http://schemas.microsoft.com/office/drawing/2014/main" id="{382D8FCF-6EED-71A9-2373-BE55207D62E0}"/>
                </a:ext>
              </a:extLst>
            </p:cNvPr>
            <p:cNvPicPr preferRelativeResize="0"/>
            <p:nvPr/>
          </p:nvPicPr>
          <p:blipFill rotWithShape="1">
            <a:blip r:embed="rId4">
              <a:alphaModFix/>
            </a:blip>
            <a:srcRect/>
            <a:stretch/>
          </p:blipFill>
          <p:spPr>
            <a:xfrm>
              <a:off x="4563534" y="3092916"/>
              <a:ext cx="3164249" cy="1849937"/>
            </a:xfrm>
            <a:prstGeom prst="rect">
              <a:avLst/>
            </a:prstGeom>
            <a:noFill/>
            <a:ln>
              <a:noFill/>
            </a:ln>
          </p:spPr>
        </p:pic>
      </p:grpSp>
      <p:grpSp>
        <p:nvGrpSpPr>
          <p:cNvPr id="45" name="Google Shape;7661;g3e0685d0c96_0_10295">
            <a:extLst>
              <a:ext uri="{FF2B5EF4-FFF2-40B4-BE49-F238E27FC236}">
                <a16:creationId xmlns:a16="http://schemas.microsoft.com/office/drawing/2014/main" id="{05056FD7-107D-51F0-1086-9873A0F8A1B0}"/>
              </a:ext>
            </a:extLst>
          </p:cNvPr>
          <p:cNvGrpSpPr/>
          <p:nvPr/>
        </p:nvGrpSpPr>
        <p:grpSpPr>
          <a:xfrm>
            <a:off x="5021608" y="4033677"/>
            <a:ext cx="1863864" cy="522695"/>
            <a:chOff x="3980597" y="5876075"/>
            <a:chExt cx="4227408" cy="1165949"/>
          </a:xfrm>
        </p:grpSpPr>
        <p:grpSp>
          <p:nvGrpSpPr>
            <p:cNvPr id="46" name="Google Shape;7662;g3e0685d0c96_0_10295">
              <a:extLst>
                <a:ext uri="{FF2B5EF4-FFF2-40B4-BE49-F238E27FC236}">
                  <a16:creationId xmlns:a16="http://schemas.microsoft.com/office/drawing/2014/main" id="{E30FB33D-081F-3814-DB2B-9B0E955B5801}"/>
                </a:ext>
              </a:extLst>
            </p:cNvPr>
            <p:cNvGrpSpPr/>
            <p:nvPr/>
          </p:nvGrpSpPr>
          <p:grpSpPr>
            <a:xfrm>
              <a:off x="3980597" y="5876075"/>
              <a:ext cx="4227408" cy="449719"/>
              <a:chOff x="3980597" y="5876075"/>
              <a:chExt cx="4227408" cy="449719"/>
            </a:xfrm>
          </p:grpSpPr>
          <p:sp>
            <p:nvSpPr>
              <p:cNvPr id="58" name="Google Shape;7663;g3e0685d0c96_0_10295">
                <a:extLst>
                  <a:ext uri="{FF2B5EF4-FFF2-40B4-BE49-F238E27FC236}">
                    <a16:creationId xmlns:a16="http://schemas.microsoft.com/office/drawing/2014/main" id="{A7AC033A-25DE-38B0-F9B2-9AFD0FF3E067}"/>
                  </a:ext>
                </a:extLst>
              </p:cNvPr>
              <p:cNvSpPr/>
              <p:nvPr/>
            </p:nvSpPr>
            <p:spPr>
              <a:xfrm>
                <a:off x="3980597" y="5883716"/>
                <a:ext cx="436997" cy="434373"/>
              </a:xfrm>
              <a:custGeom>
                <a:avLst/>
                <a:gdLst/>
                <a:ahLst/>
                <a:cxnLst/>
                <a:rect l="l" t="t" r="r" b="b"/>
                <a:pathLst>
                  <a:path w="348900" h="346805" extrusionOk="0">
                    <a:moveTo>
                      <a:pt x="348901" y="0"/>
                    </a:moveTo>
                    <a:lnTo>
                      <a:pt x="195929" y="346805"/>
                    </a:lnTo>
                    <a:lnTo>
                      <a:pt x="152971" y="346805"/>
                    </a:lnTo>
                    <a:lnTo>
                      <a:pt x="0" y="0"/>
                    </a:lnTo>
                    <a:lnTo>
                      <a:pt x="42863" y="0"/>
                    </a:lnTo>
                    <a:lnTo>
                      <a:pt x="174593" y="298323"/>
                    </a:lnTo>
                    <a:lnTo>
                      <a:pt x="305848" y="0"/>
                    </a:lnTo>
                    <a:lnTo>
                      <a:pt x="348805" y="0"/>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9" name="Google Shape;7664;g3e0685d0c96_0_10295">
                <a:extLst>
                  <a:ext uri="{FF2B5EF4-FFF2-40B4-BE49-F238E27FC236}">
                    <a16:creationId xmlns:a16="http://schemas.microsoft.com/office/drawing/2014/main" id="{B536ABDA-3324-3709-4798-5B37131D2304}"/>
                  </a:ext>
                </a:extLst>
              </p:cNvPr>
              <p:cNvSpPr/>
              <p:nvPr/>
            </p:nvSpPr>
            <p:spPr>
              <a:xfrm>
                <a:off x="4485950" y="5883716"/>
                <a:ext cx="421012" cy="434373"/>
              </a:xfrm>
              <a:custGeom>
                <a:avLst/>
                <a:gdLst/>
                <a:ahLst/>
                <a:cxnLst/>
                <a:rect l="l" t="t" r="r" b="b"/>
                <a:pathLst>
                  <a:path w="336137" h="346805" extrusionOk="0">
                    <a:moveTo>
                      <a:pt x="0" y="0"/>
                    </a:moveTo>
                    <a:lnTo>
                      <a:pt x="39338" y="0"/>
                    </a:lnTo>
                    <a:lnTo>
                      <a:pt x="168021" y="241840"/>
                    </a:lnTo>
                    <a:lnTo>
                      <a:pt x="296799" y="0"/>
                    </a:lnTo>
                    <a:lnTo>
                      <a:pt x="336137" y="0"/>
                    </a:lnTo>
                    <a:lnTo>
                      <a:pt x="336137" y="346805"/>
                    </a:lnTo>
                    <a:lnTo>
                      <a:pt x="296799" y="346805"/>
                    </a:lnTo>
                    <a:lnTo>
                      <a:pt x="296799" y="84772"/>
                    </a:lnTo>
                    <a:lnTo>
                      <a:pt x="168021" y="326612"/>
                    </a:lnTo>
                    <a:lnTo>
                      <a:pt x="39338" y="84772"/>
                    </a:lnTo>
                    <a:lnTo>
                      <a:pt x="39338" y="346805"/>
                    </a:lnTo>
                    <a:lnTo>
                      <a:pt x="0" y="346805"/>
                    </a:lnTo>
                    <a:lnTo>
                      <a:pt x="0" y="0"/>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0" name="Google Shape;7665;g3e0685d0c96_0_10295">
                <a:extLst>
                  <a:ext uri="{FF2B5EF4-FFF2-40B4-BE49-F238E27FC236}">
                    <a16:creationId xmlns:a16="http://schemas.microsoft.com/office/drawing/2014/main" id="{87EAD7C9-9E82-565E-9143-507A32BCF6AA}"/>
                  </a:ext>
                </a:extLst>
              </p:cNvPr>
              <p:cNvSpPr/>
              <p:nvPr/>
            </p:nvSpPr>
            <p:spPr>
              <a:xfrm>
                <a:off x="4970052" y="5991280"/>
                <a:ext cx="483644" cy="326884"/>
              </a:xfrm>
              <a:custGeom>
                <a:avLst/>
                <a:gdLst/>
                <a:ahLst/>
                <a:cxnLst/>
                <a:rect l="l" t="t" r="r" b="b"/>
                <a:pathLst>
                  <a:path w="386143" h="260985" extrusionOk="0">
                    <a:moveTo>
                      <a:pt x="0" y="0"/>
                    </a:moveTo>
                    <a:lnTo>
                      <a:pt x="40386" y="0"/>
                    </a:lnTo>
                    <a:lnTo>
                      <a:pt x="105537" y="210503"/>
                    </a:lnTo>
                    <a:lnTo>
                      <a:pt x="176689" y="0"/>
                    </a:lnTo>
                    <a:lnTo>
                      <a:pt x="209455" y="0"/>
                    </a:lnTo>
                    <a:lnTo>
                      <a:pt x="280607" y="210503"/>
                    </a:lnTo>
                    <a:lnTo>
                      <a:pt x="345758" y="0"/>
                    </a:lnTo>
                    <a:lnTo>
                      <a:pt x="386144" y="0"/>
                    </a:lnTo>
                    <a:lnTo>
                      <a:pt x="298323" y="260985"/>
                    </a:lnTo>
                    <a:lnTo>
                      <a:pt x="262509" y="260985"/>
                    </a:lnTo>
                    <a:lnTo>
                      <a:pt x="193358" y="52483"/>
                    </a:lnTo>
                    <a:lnTo>
                      <a:pt x="123158" y="260985"/>
                    </a:lnTo>
                    <a:lnTo>
                      <a:pt x="87344" y="260985"/>
                    </a:lnTo>
                    <a:lnTo>
                      <a:pt x="0" y="0"/>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1" name="Google Shape;7666;g3e0685d0c96_0_10295">
                <a:extLst>
                  <a:ext uri="{FF2B5EF4-FFF2-40B4-BE49-F238E27FC236}">
                    <a16:creationId xmlns:a16="http://schemas.microsoft.com/office/drawing/2014/main" id="{DAEA25ED-45C5-01B5-17E0-09E4FC018120}"/>
                  </a:ext>
                </a:extLst>
              </p:cNvPr>
              <p:cNvSpPr/>
              <p:nvPr/>
            </p:nvSpPr>
            <p:spPr>
              <a:xfrm>
                <a:off x="5470510" y="5983640"/>
                <a:ext cx="282146" cy="342034"/>
              </a:xfrm>
              <a:custGeom>
                <a:avLst/>
                <a:gdLst/>
                <a:ahLst/>
                <a:cxnLst/>
                <a:rect l="l" t="t" r="r" b="b"/>
                <a:pathLst>
                  <a:path w="225266" h="273081" extrusionOk="0">
                    <a:moveTo>
                      <a:pt x="198215" y="29528"/>
                    </a:moveTo>
                    <a:cubicBezTo>
                      <a:pt x="216217" y="49244"/>
                      <a:pt x="225266" y="75343"/>
                      <a:pt x="225266" y="108013"/>
                    </a:cubicBezTo>
                    <a:lnTo>
                      <a:pt x="225266" y="266986"/>
                    </a:lnTo>
                    <a:lnTo>
                      <a:pt x="187357" y="266986"/>
                    </a:lnTo>
                    <a:lnTo>
                      <a:pt x="187357" y="226124"/>
                    </a:lnTo>
                    <a:cubicBezTo>
                      <a:pt x="178308" y="240983"/>
                      <a:pt x="165259" y="252508"/>
                      <a:pt x="148209" y="260699"/>
                    </a:cubicBezTo>
                    <a:cubicBezTo>
                      <a:pt x="131254" y="268986"/>
                      <a:pt x="113633" y="273082"/>
                      <a:pt x="95441" y="273082"/>
                    </a:cubicBezTo>
                    <a:cubicBezTo>
                      <a:pt x="67532" y="273082"/>
                      <a:pt x="44577" y="265462"/>
                      <a:pt x="26765" y="250317"/>
                    </a:cubicBezTo>
                    <a:cubicBezTo>
                      <a:pt x="8954" y="235172"/>
                      <a:pt x="0" y="214979"/>
                      <a:pt x="0" y="189738"/>
                    </a:cubicBezTo>
                    <a:cubicBezTo>
                      <a:pt x="0" y="172879"/>
                      <a:pt x="4572" y="157829"/>
                      <a:pt x="13907" y="144590"/>
                    </a:cubicBezTo>
                    <a:cubicBezTo>
                      <a:pt x="23146" y="131254"/>
                      <a:pt x="35624" y="121063"/>
                      <a:pt x="51245" y="113824"/>
                    </a:cubicBezTo>
                    <a:cubicBezTo>
                      <a:pt x="66866" y="106585"/>
                      <a:pt x="84011" y="102965"/>
                      <a:pt x="102489" y="102965"/>
                    </a:cubicBezTo>
                    <a:cubicBezTo>
                      <a:pt x="128778" y="102965"/>
                      <a:pt x="156972" y="107823"/>
                      <a:pt x="187262" y="117634"/>
                    </a:cubicBezTo>
                    <a:lnTo>
                      <a:pt x="187262" y="108013"/>
                    </a:lnTo>
                    <a:cubicBezTo>
                      <a:pt x="187262" y="86773"/>
                      <a:pt x="181832" y="68866"/>
                      <a:pt x="171069" y="54292"/>
                    </a:cubicBezTo>
                    <a:cubicBezTo>
                      <a:pt x="160306" y="39624"/>
                      <a:pt x="142113" y="32290"/>
                      <a:pt x="116586" y="32290"/>
                    </a:cubicBezTo>
                    <a:cubicBezTo>
                      <a:pt x="104775" y="32290"/>
                      <a:pt x="92774" y="34385"/>
                      <a:pt x="80486" y="38576"/>
                    </a:cubicBezTo>
                    <a:cubicBezTo>
                      <a:pt x="68199" y="42767"/>
                      <a:pt x="54864" y="48578"/>
                      <a:pt x="40386" y="56007"/>
                    </a:cubicBezTo>
                    <a:lnTo>
                      <a:pt x="25241" y="25241"/>
                    </a:lnTo>
                    <a:cubicBezTo>
                      <a:pt x="58865" y="8382"/>
                      <a:pt x="90202" y="0"/>
                      <a:pt x="119158" y="0"/>
                    </a:cubicBezTo>
                    <a:cubicBezTo>
                      <a:pt x="153829" y="0"/>
                      <a:pt x="180118" y="9811"/>
                      <a:pt x="198120" y="29528"/>
                    </a:cubicBezTo>
                    <a:close/>
                    <a:moveTo>
                      <a:pt x="155353" y="225362"/>
                    </a:moveTo>
                    <a:cubicBezTo>
                      <a:pt x="172021" y="215741"/>
                      <a:pt x="182690" y="202406"/>
                      <a:pt x="187452" y="185261"/>
                    </a:cubicBezTo>
                    <a:lnTo>
                      <a:pt x="187452" y="145352"/>
                    </a:lnTo>
                    <a:cubicBezTo>
                      <a:pt x="161830" y="138303"/>
                      <a:pt x="135636" y="134779"/>
                      <a:pt x="108680" y="134779"/>
                    </a:cubicBezTo>
                    <a:cubicBezTo>
                      <a:pt x="88773" y="134779"/>
                      <a:pt x="71914" y="139827"/>
                      <a:pt x="57912" y="149924"/>
                    </a:cubicBezTo>
                    <a:cubicBezTo>
                      <a:pt x="43910" y="160020"/>
                      <a:pt x="36957" y="172784"/>
                      <a:pt x="36957" y="188309"/>
                    </a:cubicBezTo>
                    <a:cubicBezTo>
                      <a:pt x="36957" y="203835"/>
                      <a:pt x="43053" y="216694"/>
                      <a:pt x="55340" y="225933"/>
                    </a:cubicBezTo>
                    <a:cubicBezTo>
                      <a:pt x="67628" y="235172"/>
                      <a:pt x="83153" y="239840"/>
                      <a:pt x="102013" y="239840"/>
                    </a:cubicBezTo>
                    <a:cubicBezTo>
                      <a:pt x="120872" y="239840"/>
                      <a:pt x="138589" y="235077"/>
                      <a:pt x="155258" y="225457"/>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2" name="Google Shape;7667;g3e0685d0c96_0_10295">
                <a:extLst>
                  <a:ext uri="{FF2B5EF4-FFF2-40B4-BE49-F238E27FC236}">
                    <a16:creationId xmlns:a16="http://schemas.microsoft.com/office/drawing/2014/main" id="{318ABC6C-19DC-74F6-1E5A-E16B3D2E3444}"/>
                  </a:ext>
                </a:extLst>
              </p:cNvPr>
              <p:cNvSpPr/>
              <p:nvPr/>
            </p:nvSpPr>
            <p:spPr>
              <a:xfrm>
                <a:off x="5841199" y="5983640"/>
                <a:ext cx="173940" cy="334519"/>
              </a:xfrm>
              <a:custGeom>
                <a:avLst/>
                <a:gdLst/>
                <a:ahLst/>
                <a:cxnLst/>
                <a:rect l="l" t="t" r="r" b="b"/>
                <a:pathLst>
                  <a:path w="138874" h="267081" extrusionOk="0">
                    <a:moveTo>
                      <a:pt x="76295" y="15431"/>
                    </a:moveTo>
                    <a:cubicBezTo>
                      <a:pt x="94107" y="5144"/>
                      <a:pt x="114967" y="0"/>
                      <a:pt x="138875" y="0"/>
                    </a:cubicBezTo>
                    <a:lnTo>
                      <a:pt x="138875" y="33814"/>
                    </a:lnTo>
                    <a:cubicBezTo>
                      <a:pt x="119348" y="33814"/>
                      <a:pt x="101917" y="37529"/>
                      <a:pt x="86582" y="44958"/>
                    </a:cubicBezTo>
                    <a:cubicBezTo>
                      <a:pt x="71247" y="52388"/>
                      <a:pt x="59341" y="62675"/>
                      <a:pt x="50768" y="76009"/>
                    </a:cubicBezTo>
                    <a:cubicBezTo>
                      <a:pt x="42196" y="89345"/>
                      <a:pt x="37909" y="104394"/>
                      <a:pt x="37909" y="121158"/>
                    </a:cubicBezTo>
                    <a:lnTo>
                      <a:pt x="37909" y="267081"/>
                    </a:lnTo>
                    <a:lnTo>
                      <a:pt x="0" y="267081"/>
                    </a:lnTo>
                    <a:lnTo>
                      <a:pt x="0" y="6096"/>
                    </a:lnTo>
                    <a:lnTo>
                      <a:pt x="37909" y="6096"/>
                    </a:lnTo>
                    <a:lnTo>
                      <a:pt x="37909" y="57055"/>
                    </a:lnTo>
                    <a:cubicBezTo>
                      <a:pt x="45625" y="39529"/>
                      <a:pt x="58388" y="25717"/>
                      <a:pt x="76295" y="15431"/>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3" name="Google Shape;7668;g3e0685d0c96_0_10295">
                <a:extLst>
                  <a:ext uri="{FF2B5EF4-FFF2-40B4-BE49-F238E27FC236}">
                    <a16:creationId xmlns:a16="http://schemas.microsoft.com/office/drawing/2014/main" id="{8B9A324C-3E27-AE9C-FEB8-9FFF42F43823}"/>
                  </a:ext>
                </a:extLst>
              </p:cNvPr>
              <p:cNvSpPr/>
              <p:nvPr/>
            </p:nvSpPr>
            <p:spPr>
              <a:xfrm>
                <a:off x="6034601" y="5983760"/>
                <a:ext cx="316265" cy="342034"/>
              </a:xfrm>
              <a:custGeom>
                <a:avLst/>
                <a:gdLst/>
                <a:ahLst/>
                <a:cxnLst/>
                <a:rect l="l" t="t" r="r" b="b"/>
                <a:pathLst>
                  <a:path w="252507" h="273081" extrusionOk="0">
                    <a:moveTo>
                      <a:pt x="178308" y="230124"/>
                    </a:moveTo>
                    <a:cubicBezTo>
                      <a:pt x="193929" y="224028"/>
                      <a:pt x="205835" y="216694"/>
                      <a:pt x="213932" y="207931"/>
                    </a:cubicBezTo>
                    <a:lnTo>
                      <a:pt x="237173" y="232696"/>
                    </a:lnTo>
                    <a:cubicBezTo>
                      <a:pt x="226028" y="244792"/>
                      <a:pt x="210503" y="254603"/>
                      <a:pt x="190500" y="261938"/>
                    </a:cubicBezTo>
                    <a:cubicBezTo>
                      <a:pt x="170498" y="269367"/>
                      <a:pt x="151067" y="273082"/>
                      <a:pt x="132207" y="273082"/>
                    </a:cubicBezTo>
                    <a:cubicBezTo>
                      <a:pt x="108966" y="273082"/>
                      <a:pt x="87249" y="267176"/>
                      <a:pt x="67056" y="255365"/>
                    </a:cubicBezTo>
                    <a:cubicBezTo>
                      <a:pt x="46863" y="243554"/>
                      <a:pt x="30575" y="227171"/>
                      <a:pt x="18383" y="206121"/>
                    </a:cubicBezTo>
                    <a:cubicBezTo>
                      <a:pt x="6096" y="185071"/>
                      <a:pt x="0" y="161639"/>
                      <a:pt x="0" y="135731"/>
                    </a:cubicBezTo>
                    <a:cubicBezTo>
                      <a:pt x="0" y="109823"/>
                      <a:pt x="5810" y="87439"/>
                      <a:pt x="17431" y="66580"/>
                    </a:cubicBezTo>
                    <a:cubicBezTo>
                      <a:pt x="29051" y="45720"/>
                      <a:pt x="44672" y="29432"/>
                      <a:pt x="64389" y="17621"/>
                    </a:cubicBezTo>
                    <a:cubicBezTo>
                      <a:pt x="84106" y="5810"/>
                      <a:pt x="105537" y="0"/>
                      <a:pt x="128778" y="0"/>
                    </a:cubicBezTo>
                    <a:cubicBezTo>
                      <a:pt x="167831" y="0"/>
                      <a:pt x="198215" y="13621"/>
                      <a:pt x="219932" y="40862"/>
                    </a:cubicBezTo>
                    <a:cubicBezTo>
                      <a:pt x="241649" y="68104"/>
                      <a:pt x="252508" y="104775"/>
                      <a:pt x="252508" y="150876"/>
                    </a:cubicBezTo>
                    <a:lnTo>
                      <a:pt x="38957" y="150876"/>
                    </a:lnTo>
                    <a:cubicBezTo>
                      <a:pt x="41624" y="176784"/>
                      <a:pt x="51530" y="198025"/>
                      <a:pt x="68485" y="214503"/>
                    </a:cubicBezTo>
                    <a:cubicBezTo>
                      <a:pt x="85439" y="230981"/>
                      <a:pt x="106585" y="239268"/>
                      <a:pt x="131826" y="239268"/>
                    </a:cubicBezTo>
                    <a:cubicBezTo>
                      <a:pt x="147257" y="239268"/>
                      <a:pt x="162878" y="236220"/>
                      <a:pt x="178499" y="230219"/>
                    </a:cubicBezTo>
                    <a:close/>
                    <a:moveTo>
                      <a:pt x="69437" y="56674"/>
                    </a:moveTo>
                    <a:cubicBezTo>
                      <a:pt x="52578" y="72009"/>
                      <a:pt x="42482" y="92107"/>
                      <a:pt x="39148" y="116967"/>
                    </a:cubicBezTo>
                    <a:lnTo>
                      <a:pt x="214789" y="116967"/>
                    </a:lnTo>
                    <a:cubicBezTo>
                      <a:pt x="212122" y="92107"/>
                      <a:pt x="203549" y="71914"/>
                      <a:pt x="189071" y="56674"/>
                    </a:cubicBezTo>
                    <a:cubicBezTo>
                      <a:pt x="174593" y="41338"/>
                      <a:pt x="154877" y="33718"/>
                      <a:pt x="130016" y="33718"/>
                    </a:cubicBezTo>
                    <a:cubicBezTo>
                      <a:pt x="106490" y="33718"/>
                      <a:pt x="86296" y="41338"/>
                      <a:pt x="69437" y="56674"/>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4" name="Google Shape;7669;g3e0685d0c96_0_10295">
                <a:extLst>
                  <a:ext uri="{FF2B5EF4-FFF2-40B4-BE49-F238E27FC236}">
                    <a16:creationId xmlns:a16="http://schemas.microsoft.com/office/drawing/2014/main" id="{4A985D9B-7B69-FA9C-9DEA-FFCFFCEB3F7D}"/>
                  </a:ext>
                </a:extLst>
              </p:cNvPr>
              <p:cNvSpPr/>
              <p:nvPr/>
            </p:nvSpPr>
            <p:spPr>
              <a:xfrm>
                <a:off x="6584961" y="5876075"/>
                <a:ext cx="378660" cy="449524"/>
              </a:xfrm>
              <a:custGeom>
                <a:avLst/>
                <a:gdLst/>
                <a:ahLst/>
                <a:cxnLst/>
                <a:rect l="l" t="t" r="r" b="b"/>
                <a:pathLst>
                  <a:path w="302323" h="358901" extrusionOk="0">
                    <a:moveTo>
                      <a:pt x="89535" y="334423"/>
                    </a:moveTo>
                    <a:cubicBezTo>
                      <a:pt x="62103" y="318135"/>
                      <a:pt x="40291" y="296132"/>
                      <a:pt x="24193" y="268510"/>
                    </a:cubicBezTo>
                    <a:cubicBezTo>
                      <a:pt x="8001" y="240887"/>
                      <a:pt x="0" y="211169"/>
                      <a:pt x="0" y="179165"/>
                    </a:cubicBezTo>
                    <a:cubicBezTo>
                      <a:pt x="0" y="147161"/>
                      <a:pt x="8096" y="117538"/>
                      <a:pt x="24193" y="90106"/>
                    </a:cubicBezTo>
                    <a:cubicBezTo>
                      <a:pt x="40386" y="62675"/>
                      <a:pt x="62103" y="40767"/>
                      <a:pt x="89535" y="24479"/>
                    </a:cubicBezTo>
                    <a:cubicBezTo>
                      <a:pt x="116967" y="8192"/>
                      <a:pt x="146304" y="0"/>
                      <a:pt x="177641" y="0"/>
                    </a:cubicBezTo>
                    <a:cubicBezTo>
                      <a:pt x="201168" y="0"/>
                      <a:pt x="223742" y="4667"/>
                      <a:pt x="245269" y="13906"/>
                    </a:cubicBezTo>
                    <a:cubicBezTo>
                      <a:pt x="266795" y="23146"/>
                      <a:pt x="285845" y="36195"/>
                      <a:pt x="302324" y="53054"/>
                    </a:cubicBezTo>
                    <a:lnTo>
                      <a:pt x="275558" y="80296"/>
                    </a:lnTo>
                    <a:cubicBezTo>
                      <a:pt x="262795" y="66484"/>
                      <a:pt x="247841" y="55721"/>
                      <a:pt x="230886" y="48006"/>
                    </a:cubicBezTo>
                    <a:cubicBezTo>
                      <a:pt x="213932" y="40291"/>
                      <a:pt x="196120" y="36385"/>
                      <a:pt x="177641" y="36385"/>
                    </a:cubicBezTo>
                    <a:cubicBezTo>
                      <a:pt x="153067" y="36385"/>
                      <a:pt x="130302" y="42863"/>
                      <a:pt x="109252" y="55817"/>
                    </a:cubicBezTo>
                    <a:cubicBezTo>
                      <a:pt x="88201" y="68771"/>
                      <a:pt x="71342" y="86296"/>
                      <a:pt x="58769" y="108299"/>
                    </a:cubicBezTo>
                    <a:cubicBezTo>
                      <a:pt x="46101" y="130302"/>
                      <a:pt x="39815" y="154019"/>
                      <a:pt x="39815" y="179260"/>
                    </a:cubicBezTo>
                    <a:cubicBezTo>
                      <a:pt x="39815" y="204502"/>
                      <a:pt x="46101" y="228600"/>
                      <a:pt x="58769" y="250412"/>
                    </a:cubicBezTo>
                    <a:cubicBezTo>
                      <a:pt x="71342" y="272320"/>
                      <a:pt x="88201" y="289750"/>
                      <a:pt x="109252" y="302895"/>
                    </a:cubicBezTo>
                    <a:cubicBezTo>
                      <a:pt x="130302" y="316039"/>
                      <a:pt x="153067" y="322612"/>
                      <a:pt x="177641" y="322612"/>
                    </a:cubicBezTo>
                    <a:cubicBezTo>
                      <a:pt x="196120" y="322612"/>
                      <a:pt x="213932" y="318706"/>
                      <a:pt x="230886" y="310991"/>
                    </a:cubicBezTo>
                    <a:cubicBezTo>
                      <a:pt x="247841" y="303276"/>
                      <a:pt x="262795" y="292513"/>
                      <a:pt x="275558" y="278701"/>
                    </a:cubicBezTo>
                    <a:lnTo>
                      <a:pt x="302324" y="305943"/>
                    </a:lnTo>
                    <a:cubicBezTo>
                      <a:pt x="285845" y="322421"/>
                      <a:pt x="266795" y="335375"/>
                      <a:pt x="245269" y="344805"/>
                    </a:cubicBezTo>
                    <a:cubicBezTo>
                      <a:pt x="223742" y="354235"/>
                      <a:pt x="201168" y="358902"/>
                      <a:pt x="177641" y="358902"/>
                    </a:cubicBezTo>
                    <a:cubicBezTo>
                      <a:pt x="146304" y="358902"/>
                      <a:pt x="116967" y="350710"/>
                      <a:pt x="89535" y="334423"/>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5" name="Google Shape;7670;g3e0685d0c96_0_10295">
                <a:extLst>
                  <a:ext uri="{FF2B5EF4-FFF2-40B4-BE49-F238E27FC236}">
                    <a16:creationId xmlns:a16="http://schemas.microsoft.com/office/drawing/2014/main" id="{3580BC43-262D-1411-C492-862CE9C4FA38}"/>
                  </a:ext>
                </a:extLst>
              </p:cNvPr>
              <p:cNvSpPr/>
              <p:nvPr/>
            </p:nvSpPr>
            <p:spPr>
              <a:xfrm>
                <a:off x="7025131" y="5876075"/>
                <a:ext cx="47481" cy="442009"/>
              </a:xfrm>
              <a:custGeom>
                <a:avLst/>
                <a:gdLst/>
                <a:ahLst/>
                <a:cxnLst/>
                <a:rect l="l" t="t" r="r" b="b"/>
                <a:pathLst>
                  <a:path w="37909" h="352901" extrusionOk="0">
                    <a:moveTo>
                      <a:pt x="0" y="0"/>
                    </a:moveTo>
                    <a:lnTo>
                      <a:pt x="37909" y="0"/>
                    </a:lnTo>
                    <a:lnTo>
                      <a:pt x="37909" y="352901"/>
                    </a:lnTo>
                    <a:lnTo>
                      <a:pt x="0" y="352901"/>
                    </a:lnTo>
                    <a:lnTo>
                      <a:pt x="0" y="0"/>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6" name="Google Shape;7671;g3e0685d0c96_0_10295">
                <a:extLst>
                  <a:ext uri="{FF2B5EF4-FFF2-40B4-BE49-F238E27FC236}">
                    <a16:creationId xmlns:a16="http://schemas.microsoft.com/office/drawing/2014/main" id="{24BBF343-2F3D-89DB-A2EC-6FB93C531387}"/>
                  </a:ext>
                </a:extLst>
              </p:cNvPr>
              <p:cNvSpPr/>
              <p:nvPr/>
            </p:nvSpPr>
            <p:spPr>
              <a:xfrm>
                <a:off x="7141531" y="5983760"/>
                <a:ext cx="337143" cy="341915"/>
              </a:xfrm>
              <a:custGeom>
                <a:avLst/>
                <a:gdLst/>
                <a:ahLst/>
                <a:cxnLst/>
                <a:rect l="l" t="t" r="r" b="b"/>
                <a:pathLst>
                  <a:path w="269176" h="272986" extrusionOk="0">
                    <a:moveTo>
                      <a:pt x="67437" y="254603"/>
                    </a:moveTo>
                    <a:cubicBezTo>
                      <a:pt x="46767" y="242316"/>
                      <a:pt x="30289" y="225647"/>
                      <a:pt x="18192" y="204597"/>
                    </a:cubicBezTo>
                    <a:cubicBezTo>
                      <a:pt x="6096" y="183547"/>
                      <a:pt x="0" y="160782"/>
                      <a:pt x="0" y="136207"/>
                    </a:cubicBezTo>
                    <a:cubicBezTo>
                      <a:pt x="0" y="111633"/>
                      <a:pt x="6096" y="88963"/>
                      <a:pt x="18192" y="68104"/>
                    </a:cubicBezTo>
                    <a:cubicBezTo>
                      <a:pt x="30289" y="47244"/>
                      <a:pt x="46672" y="30670"/>
                      <a:pt x="67437" y="18383"/>
                    </a:cubicBezTo>
                    <a:cubicBezTo>
                      <a:pt x="88106" y="6096"/>
                      <a:pt x="110585" y="0"/>
                      <a:pt x="134874" y="0"/>
                    </a:cubicBezTo>
                    <a:cubicBezTo>
                      <a:pt x="159163" y="0"/>
                      <a:pt x="181451" y="6191"/>
                      <a:pt x="202025" y="18383"/>
                    </a:cubicBezTo>
                    <a:cubicBezTo>
                      <a:pt x="222504" y="30670"/>
                      <a:pt x="238887" y="47244"/>
                      <a:pt x="250984" y="68104"/>
                    </a:cubicBezTo>
                    <a:cubicBezTo>
                      <a:pt x="263080" y="88963"/>
                      <a:pt x="269176" y="111728"/>
                      <a:pt x="269176" y="136207"/>
                    </a:cubicBezTo>
                    <a:cubicBezTo>
                      <a:pt x="269176" y="160687"/>
                      <a:pt x="263080" y="183547"/>
                      <a:pt x="250984" y="204597"/>
                    </a:cubicBezTo>
                    <a:cubicBezTo>
                      <a:pt x="238887" y="225647"/>
                      <a:pt x="222504" y="242316"/>
                      <a:pt x="202025" y="254603"/>
                    </a:cubicBezTo>
                    <a:cubicBezTo>
                      <a:pt x="181451" y="266890"/>
                      <a:pt x="159163" y="272986"/>
                      <a:pt x="134874" y="272986"/>
                    </a:cubicBezTo>
                    <a:cubicBezTo>
                      <a:pt x="110585" y="272986"/>
                      <a:pt x="88201" y="266890"/>
                      <a:pt x="67437" y="254603"/>
                    </a:cubicBezTo>
                    <a:close/>
                    <a:moveTo>
                      <a:pt x="182308" y="225266"/>
                    </a:moveTo>
                    <a:cubicBezTo>
                      <a:pt x="196786" y="216027"/>
                      <a:pt x="208312" y="203454"/>
                      <a:pt x="216884" y="187642"/>
                    </a:cubicBezTo>
                    <a:cubicBezTo>
                      <a:pt x="225457" y="171831"/>
                      <a:pt x="229743" y="154686"/>
                      <a:pt x="229743" y="136112"/>
                    </a:cubicBezTo>
                    <a:cubicBezTo>
                      <a:pt x="229743" y="117538"/>
                      <a:pt x="225457" y="100489"/>
                      <a:pt x="216884" y="84868"/>
                    </a:cubicBezTo>
                    <a:cubicBezTo>
                      <a:pt x="208312" y="69247"/>
                      <a:pt x="196786" y="56769"/>
                      <a:pt x="182308" y="47530"/>
                    </a:cubicBezTo>
                    <a:cubicBezTo>
                      <a:pt x="167830" y="38290"/>
                      <a:pt x="152019" y="33623"/>
                      <a:pt x="134874" y="33623"/>
                    </a:cubicBezTo>
                    <a:cubicBezTo>
                      <a:pt x="117729" y="33623"/>
                      <a:pt x="101822" y="38290"/>
                      <a:pt x="87154" y="47530"/>
                    </a:cubicBezTo>
                    <a:cubicBezTo>
                      <a:pt x="72485" y="56769"/>
                      <a:pt x="60865" y="69247"/>
                      <a:pt x="52292" y="84868"/>
                    </a:cubicBezTo>
                    <a:cubicBezTo>
                      <a:pt x="43720" y="100489"/>
                      <a:pt x="39433" y="117634"/>
                      <a:pt x="39433" y="136112"/>
                    </a:cubicBezTo>
                    <a:cubicBezTo>
                      <a:pt x="39433" y="154591"/>
                      <a:pt x="43720" y="171831"/>
                      <a:pt x="52292" y="187642"/>
                    </a:cubicBezTo>
                    <a:cubicBezTo>
                      <a:pt x="60865" y="203454"/>
                      <a:pt x="72485" y="216027"/>
                      <a:pt x="87154" y="225266"/>
                    </a:cubicBezTo>
                    <a:cubicBezTo>
                      <a:pt x="101822" y="234505"/>
                      <a:pt x="117729" y="239173"/>
                      <a:pt x="134874" y="239173"/>
                    </a:cubicBezTo>
                    <a:cubicBezTo>
                      <a:pt x="152019" y="239173"/>
                      <a:pt x="167830" y="234505"/>
                      <a:pt x="182308" y="225266"/>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7" name="Google Shape;7672;g3e0685d0c96_0_10295">
                <a:extLst>
                  <a:ext uri="{FF2B5EF4-FFF2-40B4-BE49-F238E27FC236}">
                    <a16:creationId xmlns:a16="http://schemas.microsoft.com/office/drawing/2014/main" id="{C7D698C7-8E2E-9256-585B-D75752B64470}"/>
                  </a:ext>
                </a:extLst>
              </p:cNvPr>
              <p:cNvSpPr/>
              <p:nvPr/>
            </p:nvSpPr>
            <p:spPr>
              <a:xfrm>
                <a:off x="7541348" y="5991042"/>
                <a:ext cx="277731" cy="334638"/>
              </a:xfrm>
              <a:custGeom>
                <a:avLst/>
                <a:gdLst/>
                <a:ahLst/>
                <a:cxnLst/>
                <a:rect l="l" t="t" r="r" b="b"/>
                <a:pathLst>
                  <a:path w="221741" h="267176" extrusionOk="0">
                    <a:moveTo>
                      <a:pt x="221647" y="190"/>
                    </a:moveTo>
                    <a:lnTo>
                      <a:pt x="221647" y="261175"/>
                    </a:lnTo>
                    <a:lnTo>
                      <a:pt x="183737" y="261175"/>
                    </a:lnTo>
                    <a:lnTo>
                      <a:pt x="183737" y="219742"/>
                    </a:lnTo>
                    <a:cubicBezTo>
                      <a:pt x="176022" y="233839"/>
                      <a:pt x="164402" y="245364"/>
                      <a:pt x="148876" y="254032"/>
                    </a:cubicBezTo>
                    <a:cubicBezTo>
                      <a:pt x="133350" y="262795"/>
                      <a:pt x="116396" y="267176"/>
                      <a:pt x="97917" y="267176"/>
                    </a:cubicBezTo>
                    <a:cubicBezTo>
                      <a:pt x="79438" y="267176"/>
                      <a:pt x="61722" y="262985"/>
                      <a:pt x="46958" y="254508"/>
                    </a:cubicBezTo>
                    <a:cubicBezTo>
                      <a:pt x="32099" y="246126"/>
                      <a:pt x="20574" y="234220"/>
                      <a:pt x="12382" y="218884"/>
                    </a:cubicBezTo>
                    <a:cubicBezTo>
                      <a:pt x="4096" y="203549"/>
                      <a:pt x="0" y="186023"/>
                      <a:pt x="0" y="166116"/>
                    </a:cubicBezTo>
                    <a:lnTo>
                      <a:pt x="0" y="0"/>
                    </a:lnTo>
                    <a:lnTo>
                      <a:pt x="37910" y="0"/>
                    </a:lnTo>
                    <a:lnTo>
                      <a:pt x="37910" y="161068"/>
                    </a:lnTo>
                    <a:cubicBezTo>
                      <a:pt x="37910" y="182594"/>
                      <a:pt x="44005" y="200025"/>
                      <a:pt x="56102" y="213360"/>
                    </a:cubicBezTo>
                    <a:cubicBezTo>
                      <a:pt x="68199" y="226695"/>
                      <a:pt x="83915" y="233267"/>
                      <a:pt x="103061" y="233267"/>
                    </a:cubicBezTo>
                    <a:cubicBezTo>
                      <a:pt x="117538" y="233267"/>
                      <a:pt x="130969" y="230219"/>
                      <a:pt x="143446" y="224218"/>
                    </a:cubicBezTo>
                    <a:cubicBezTo>
                      <a:pt x="155924" y="218122"/>
                      <a:pt x="165735" y="210026"/>
                      <a:pt x="172974" y="199739"/>
                    </a:cubicBezTo>
                    <a:cubicBezTo>
                      <a:pt x="180213" y="189452"/>
                      <a:pt x="183832" y="178308"/>
                      <a:pt x="183832" y="166211"/>
                    </a:cubicBezTo>
                    <a:lnTo>
                      <a:pt x="183832" y="95"/>
                    </a:lnTo>
                    <a:lnTo>
                      <a:pt x="221742" y="95"/>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68" name="Google Shape;7673;g3e0685d0c96_0_10295">
                <a:extLst>
                  <a:ext uri="{FF2B5EF4-FFF2-40B4-BE49-F238E27FC236}">
                    <a16:creationId xmlns:a16="http://schemas.microsoft.com/office/drawing/2014/main" id="{3E3D94B6-7132-085A-1E48-9C20468DF452}"/>
                  </a:ext>
                </a:extLst>
              </p:cNvPr>
              <p:cNvSpPr/>
              <p:nvPr/>
            </p:nvSpPr>
            <p:spPr>
              <a:xfrm>
                <a:off x="7891263" y="5876075"/>
                <a:ext cx="316742" cy="449644"/>
              </a:xfrm>
              <a:custGeom>
                <a:avLst/>
                <a:gdLst/>
                <a:ahLst/>
                <a:cxnLst/>
                <a:rect l="l" t="t" r="r" b="b"/>
                <a:pathLst>
                  <a:path w="252888" h="358997" extrusionOk="0">
                    <a:moveTo>
                      <a:pt x="252889" y="0"/>
                    </a:moveTo>
                    <a:lnTo>
                      <a:pt x="252889" y="352901"/>
                    </a:lnTo>
                    <a:lnTo>
                      <a:pt x="214979" y="352901"/>
                    </a:lnTo>
                    <a:lnTo>
                      <a:pt x="214979" y="303943"/>
                    </a:lnTo>
                    <a:cubicBezTo>
                      <a:pt x="204883" y="321469"/>
                      <a:pt x="191643" y="334994"/>
                      <a:pt x="175355" y="344614"/>
                    </a:cubicBezTo>
                    <a:cubicBezTo>
                      <a:pt x="159068" y="354235"/>
                      <a:pt x="140589" y="358997"/>
                      <a:pt x="120110" y="358997"/>
                    </a:cubicBezTo>
                    <a:cubicBezTo>
                      <a:pt x="97536" y="358997"/>
                      <a:pt x="77153" y="353187"/>
                      <a:pt x="58769" y="341567"/>
                    </a:cubicBezTo>
                    <a:cubicBezTo>
                      <a:pt x="40386" y="329946"/>
                      <a:pt x="26003" y="313754"/>
                      <a:pt x="15621" y="292894"/>
                    </a:cubicBezTo>
                    <a:cubicBezTo>
                      <a:pt x="5144" y="272034"/>
                      <a:pt x="0" y="248507"/>
                      <a:pt x="0" y="222218"/>
                    </a:cubicBezTo>
                    <a:cubicBezTo>
                      <a:pt x="0" y="195929"/>
                      <a:pt x="5239" y="172498"/>
                      <a:pt x="15621" y="151829"/>
                    </a:cubicBezTo>
                    <a:cubicBezTo>
                      <a:pt x="26098" y="131159"/>
                      <a:pt x="40481" y="114967"/>
                      <a:pt x="58769" y="103346"/>
                    </a:cubicBezTo>
                    <a:cubicBezTo>
                      <a:pt x="77153" y="91726"/>
                      <a:pt x="97536" y="85916"/>
                      <a:pt x="120110" y="85916"/>
                    </a:cubicBezTo>
                    <a:cubicBezTo>
                      <a:pt x="140589" y="85916"/>
                      <a:pt x="159068" y="90678"/>
                      <a:pt x="175355" y="100298"/>
                    </a:cubicBezTo>
                    <a:cubicBezTo>
                      <a:pt x="191643" y="109918"/>
                      <a:pt x="204883" y="123444"/>
                      <a:pt x="214979" y="140970"/>
                    </a:cubicBezTo>
                    <a:lnTo>
                      <a:pt x="214979" y="95"/>
                    </a:lnTo>
                    <a:lnTo>
                      <a:pt x="252889" y="95"/>
                    </a:lnTo>
                    <a:close/>
                    <a:moveTo>
                      <a:pt x="172593" y="311944"/>
                    </a:moveTo>
                    <a:cubicBezTo>
                      <a:pt x="186023" y="303181"/>
                      <a:pt x="196501" y="290989"/>
                      <a:pt x="203930" y="275368"/>
                    </a:cubicBezTo>
                    <a:cubicBezTo>
                      <a:pt x="211360" y="259747"/>
                      <a:pt x="215074" y="241935"/>
                      <a:pt x="215074" y="222123"/>
                    </a:cubicBezTo>
                    <a:cubicBezTo>
                      <a:pt x="215074" y="202311"/>
                      <a:pt x="211360" y="184595"/>
                      <a:pt x="203930" y="169164"/>
                    </a:cubicBezTo>
                    <a:cubicBezTo>
                      <a:pt x="196501" y="153734"/>
                      <a:pt x="186119" y="141542"/>
                      <a:pt x="172593" y="132779"/>
                    </a:cubicBezTo>
                    <a:cubicBezTo>
                      <a:pt x="159163" y="124016"/>
                      <a:pt x="144018" y="119634"/>
                      <a:pt x="127159" y="119634"/>
                    </a:cubicBezTo>
                    <a:cubicBezTo>
                      <a:pt x="110299" y="119634"/>
                      <a:pt x="95250" y="124016"/>
                      <a:pt x="82010" y="132779"/>
                    </a:cubicBezTo>
                    <a:cubicBezTo>
                      <a:pt x="68675" y="141542"/>
                      <a:pt x="58388" y="153638"/>
                      <a:pt x="50959" y="169164"/>
                    </a:cubicBezTo>
                    <a:cubicBezTo>
                      <a:pt x="43529" y="184690"/>
                      <a:pt x="39814" y="202311"/>
                      <a:pt x="39814" y="222123"/>
                    </a:cubicBezTo>
                    <a:cubicBezTo>
                      <a:pt x="39814" y="241935"/>
                      <a:pt x="43529" y="259747"/>
                      <a:pt x="50959" y="275368"/>
                    </a:cubicBezTo>
                    <a:cubicBezTo>
                      <a:pt x="58388" y="290989"/>
                      <a:pt x="68675" y="303181"/>
                      <a:pt x="82010" y="311944"/>
                    </a:cubicBezTo>
                    <a:cubicBezTo>
                      <a:pt x="95345" y="320707"/>
                      <a:pt x="110395" y="325088"/>
                      <a:pt x="127159" y="325088"/>
                    </a:cubicBezTo>
                    <a:cubicBezTo>
                      <a:pt x="143923" y="325088"/>
                      <a:pt x="159163" y="320707"/>
                      <a:pt x="172593" y="311944"/>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grpSp>
        <p:grpSp>
          <p:nvGrpSpPr>
            <p:cNvPr id="47" name="Google Shape;7674;g3e0685d0c96_0_10295">
              <a:extLst>
                <a:ext uri="{FF2B5EF4-FFF2-40B4-BE49-F238E27FC236}">
                  <a16:creationId xmlns:a16="http://schemas.microsoft.com/office/drawing/2014/main" id="{60885FC5-6510-B997-3E88-D8A00EA7B979}"/>
                </a:ext>
              </a:extLst>
            </p:cNvPr>
            <p:cNvGrpSpPr/>
            <p:nvPr/>
          </p:nvGrpSpPr>
          <p:grpSpPr>
            <a:xfrm>
              <a:off x="4490009" y="6585457"/>
              <a:ext cx="3208612" cy="456567"/>
              <a:chOff x="4382085" y="6585457"/>
              <a:chExt cx="3208612" cy="456567"/>
            </a:xfrm>
          </p:grpSpPr>
          <p:sp>
            <p:nvSpPr>
              <p:cNvPr id="48" name="Google Shape;7675;g3e0685d0c96_0_10295">
                <a:extLst>
                  <a:ext uri="{FF2B5EF4-FFF2-40B4-BE49-F238E27FC236}">
                    <a16:creationId xmlns:a16="http://schemas.microsoft.com/office/drawing/2014/main" id="{96BE4A53-2FC2-E2C6-33C7-6FEEEE20B990}"/>
                  </a:ext>
                </a:extLst>
              </p:cNvPr>
              <p:cNvSpPr/>
              <p:nvPr/>
            </p:nvSpPr>
            <p:spPr>
              <a:xfrm>
                <a:off x="4382085" y="6600021"/>
                <a:ext cx="311732" cy="434373"/>
              </a:xfrm>
              <a:custGeom>
                <a:avLst/>
                <a:gdLst/>
                <a:ahLst/>
                <a:cxnLst/>
                <a:rect l="l" t="t" r="r" b="b"/>
                <a:pathLst>
                  <a:path w="248888" h="346805" extrusionOk="0">
                    <a:moveTo>
                      <a:pt x="39910" y="37338"/>
                    </a:moveTo>
                    <a:lnTo>
                      <a:pt x="39910" y="151447"/>
                    </a:lnTo>
                    <a:lnTo>
                      <a:pt x="228219" y="151447"/>
                    </a:lnTo>
                    <a:lnTo>
                      <a:pt x="228219" y="188785"/>
                    </a:lnTo>
                    <a:lnTo>
                      <a:pt x="39910" y="188785"/>
                    </a:lnTo>
                    <a:lnTo>
                      <a:pt x="39910" y="346805"/>
                    </a:lnTo>
                    <a:lnTo>
                      <a:pt x="0" y="346805"/>
                    </a:lnTo>
                    <a:lnTo>
                      <a:pt x="0" y="0"/>
                    </a:lnTo>
                    <a:lnTo>
                      <a:pt x="248888" y="0"/>
                    </a:lnTo>
                    <a:lnTo>
                      <a:pt x="248888" y="37338"/>
                    </a:lnTo>
                    <a:lnTo>
                      <a:pt x="39910" y="37338"/>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49" name="Google Shape;7676;g3e0685d0c96_0_10295">
                <a:extLst>
                  <a:ext uri="{FF2B5EF4-FFF2-40B4-BE49-F238E27FC236}">
                    <a16:creationId xmlns:a16="http://schemas.microsoft.com/office/drawing/2014/main" id="{4E8F2AFC-A3EB-42BD-AF76-CF4600E7DFFF}"/>
                  </a:ext>
                </a:extLst>
              </p:cNvPr>
              <p:cNvSpPr/>
              <p:nvPr/>
            </p:nvSpPr>
            <p:spPr>
              <a:xfrm>
                <a:off x="4727344" y="6700065"/>
                <a:ext cx="337143" cy="341915"/>
              </a:xfrm>
              <a:custGeom>
                <a:avLst/>
                <a:gdLst/>
                <a:ahLst/>
                <a:cxnLst/>
                <a:rect l="l" t="t" r="r" b="b"/>
                <a:pathLst>
                  <a:path w="269176" h="272986" extrusionOk="0">
                    <a:moveTo>
                      <a:pt x="67437" y="254603"/>
                    </a:moveTo>
                    <a:cubicBezTo>
                      <a:pt x="46768" y="242316"/>
                      <a:pt x="30290" y="225647"/>
                      <a:pt x="18193" y="204597"/>
                    </a:cubicBezTo>
                    <a:cubicBezTo>
                      <a:pt x="6096" y="183547"/>
                      <a:pt x="0" y="160782"/>
                      <a:pt x="0" y="136207"/>
                    </a:cubicBezTo>
                    <a:cubicBezTo>
                      <a:pt x="0" y="111633"/>
                      <a:pt x="6096" y="88963"/>
                      <a:pt x="18193" y="68104"/>
                    </a:cubicBezTo>
                    <a:cubicBezTo>
                      <a:pt x="30290" y="47244"/>
                      <a:pt x="46673" y="30670"/>
                      <a:pt x="67437" y="18383"/>
                    </a:cubicBezTo>
                    <a:cubicBezTo>
                      <a:pt x="88106" y="6096"/>
                      <a:pt x="110585" y="0"/>
                      <a:pt x="134874" y="0"/>
                    </a:cubicBezTo>
                    <a:cubicBezTo>
                      <a:pt x="159163" y="0"/>
                      <a:pt x="181451" y="6191"/>
                      <a:pt x="202025" y="18383"/>
                    </a:cubicBezTo>
                    <a:cubicBezTo>
                      <a:pt x="222504" y="30670"/>
                      <a:pt x="238887" y="47244"/>
                      <a:pt x="250984" y="68104"/>
                    </a:cubicBezTo>
                    <a:cubicBezTo>
                      <a:pt x="263081" y="88963"/>
                      <a:pt x="269177" y="111728"/>
                      <a:pt x="269177" y="136207"/>
                    </a:cubicBezTo>
                    <a:cubicBezTo>
                      <a:pt x="269177" y="160687"/>
                      <a:pt x="263081" y="183547"/>
                      <a:pt x="250984" y="204597"/>
                    </a:cubicBezTo>
                    <a:cubicBezTo>
                      <a:pt x="238887" y="225647"/>
                      <a:pt x="222504" y="242316"/>
                      <a:pt x="202025" y="254603"/>
                    </a:cubicBezTo>
                    <a:cubicBezTo>
                      <a:pt x="181451" y="266890"/>
                      <a:pt x="159163" y="272986"/>
                      <a:pt x="134874" y="272986"/>
                    </a:cubicBezTo>
                    <a:cubicBezTo>
                      <a:pt x="110585" y="272986"/>
                      <a:pt x="88202" y="266890"/>
                      <a:pt x="67437" y="254603"/>
                    </a:cubicBezTo>
                    <a:close/>
                    <a:moveTo>
                      <a:pt x="182309" y="225266"/>
                    </a:moveTo>
                    <a:cubicBezTo>
                      <a:pt x="196787" y="216027"/>
                      <a:pt x="208312" y="203454"/>
                      <a:pt x="216884" y="187642"/>
                    </a:cubicBezTo>
                    <a:cubicBezTo>
                      <a:pt x="225457" y="171831"/>
                      <a:pt x="229743" y="154686"/>
                      <a:pt x="229743" y="136112"/>
                    </a:cubicBezTo>
                    <a:cubicBezTo>
                      <a:pt x="229743" y="117538"/>
                      <a:pt x="225457" y="100489"/>
                      <a:pt x="216884" y="84868"/>
                    </a:cubicBezTo>
                    <a:cubicBezTo>
                      <a:pt x="208312" y="69247"/>
                      <a:pt x="196787" y="56769"/>
                      <a:pt x="182309" y="47530"/>
                    </a:cubicBezTo>
                    <a:cubicBezTo>
                      <a:pt x="167831" y="38290"/>
                      <a:pt x="152019" y="33623"/>
                      <a:pt x="134874" y="33623"/>
                    </a:cubicBezTo>
                    <a:cubicBezTo>
                      <a:pt x="117729" y="33623"/>
                      <a:pt x="101822" y="38290"/>
                      <a:pt x="87154" y="47530"/>
                    </a:cubicBezTo>
                    <a:cubicBezTo>
                      <a:pt x="72485" y="56769"/>
                      <a:pt x="60865" y="69247"/>
                      <a:pt x="52292" y="84868"/>
                    </a:cubicBezTo>
                    <a:cubicBezTo>
                      <a:pt x="43720" y="100489"/>
                      <a:pt x="39433" y="117634"/>
                      <a:pt x="39433" y="136112"/>
                    </a:cubicBezTo>
                    <a:cubicBezTo>
                      <a:pt x="39433" y="154591"/>
                      <a:pt x="43720" y="171831"/>
                      <a:pt x="52292" y="187642"/>
                    </a:cubicBezTo>
                    <a:cubicBezTo>
                      <a:pt x="60865" y="203454"/>
                      <a:pt x="72485" y="216027"/>
                      <a:pt x="87154" y="225266"/>
                    </a:cubicBezTo>
                    <a:cubicBezTo>
                      <a:pt x="101822" y="234505"/>
                      <a:pt x="117729" y="239173"/>
                      <a:pt x="134874" y="239173"/>
                    </a:cubicBezTo>
                    <a:cubicBezTo>
                      <a:pt x="152019" y="239173"/>
                      <a:pt x="167831" y="234505"/>
                      <a:pt x="182309" y="225266"/>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0" name="Google Shape;7677;g3e0685d0c96_0_10295">
                <a:extLst>
                  <a:ext uri="{FF2B5EF4-FFF2-40B4-BE49-F238E27FC236}">
                    <a16:creationId xmlns:a16="http://schemas.microsoft.com/office/drawing/2014/main" id="{25053277-F360-2466-CA25-7EE1F85F9C14}"/>
                  </a:ext>
                </a:extLst>
              </p:cNvPr>
              <p:cNvSpPr/>
              <p:nvPr/>
            </p:nvSpPr>
            <p:spPr>
              <a:xfrm>
                <a:off x="5127162" y="6707348"/>
                <a:ext cx="277731" cy="334638"/>
              </a:xfrm>
              <a:custGeom>
                <a:avLst/>
                <a:gdLst/>
                <a:ahLst/>
                <a:cxnLst/>
                <a:rect l="l" t="t" r="r" b="b"/>
                <a:pathLst>
                  <a:path w="221741" h="267176" extrusionOk="0">
                    <a:moveTo>
                      <a:pt x="221647" y="190"/>
                    </a:moveTo>
                    <a:lnTo>
                      <a:pt x="221647" y="261175"/>
                    </a:lnTo>
                    <a:lnTo>
                      <a:pt x="183737" y="261175"/>
                    </a:lnTo>
                    <a:lnTo>
                      <a:pt x="183737" y="219742"/>
                    </a:lnTo>
                    <a:cubicBezTo>
                      <a:pt x="176022" y="233839"/>
                      <a:pt x="164401" y="245364"/>
                      <a:pt x="148876" y="254032"/>
                    </a:cubicBezTo>
                    <a:cubicBezTo>
                      <a:pt x="133350" y="262795"/>
                      <a:pt x="116396" y="267176"/>
                      <a:pt x="97917" y="267176"/>
                    </a:cubicBezTo>
                    <a:cubicBezTo>
                      <a:pt x="79438" y="267176"/>
                      <a:pt x="61722" y="262985"/>
                      <a:pt x="46958" y="254508"/>
                    </a:cubicBezTo>
                    <a:cubicBezTo>
                      <a:pt x="32099" y="246126"/>
                      <a:pt x="20574" y="234220"/>
                      <a:pt x="12383" y="218884"/>
                    </a:cubicBezTo>
                    <a:cubicBezTo>
                      <a:pt x="4096" y="203549"/>
                      <a:pt x="0" y="186023"/>
                      <a:pt x="0" y="166116"/>
                    </a:cubicBezTo>
                    <a:lnTo>
                      <a:pt x="0" y="0"/>
                    </a:lnTo>
                    <a:lnTo>
                      <a:pt x="37909" y="0"/>
                    </a:lnTo>
                    <a:lnTo>
                      <a:pt x="37909" y="161068"/>
                    </a:lnTo>
                    <a:cubicBezTo>
                      <a:pt x="37909" y="182594"/>
                      <a:pt x="44005" y="200025"/>
                      <a:pt x="56102" y="213360"/>
                    </a:cubicBezTo>
                    <a:cubicBezTo>
                      <a:pt x="68199" y="226695"/>
                      <a:pt x="83915" y="233267"/>
                      <a:pt x="103060" y="233267"/>
                    </a:cubicBezTo>
                    <a:cubicBezTo>
                      <a:pt x="117538" y="233267"/>
                      <a:pt x="130969" y="230219"/>
                      <a:pt x="143446" y="224218"/>
                    </a:cubicBezTo>
                    <a:cubicBezTo>
                      <a:pt x="155924" y="218122"/>
                      <a:pt x="165735" y="210026"/>
                      <a:pt x="172974" y="199739"/>
                    </a:cubicBezTo>
                    <a:cubicBezTo>
                      <a:pt x="180213" y="189452"/>
                      <a:pt x="183833" y="178308"/>
                      <a:pt x="183833" y="166211"/>
                    </a:cubicBezTo>
                    <a:lnTo>
                      <a:pt x="183833" y="95"/>
                    </a:lnTo>
                    <a:lnTo>
                      <a:pt x="221742" y="95"/>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1" name="Google Shape;7678;g3e0685d0c96_0_10295">
                <a:extLst>
                  <a:ext uri="{FF2B5EF4-FFF2-40B4-BE49-F238E27FC236}">
                    <a16:creationId xmlns:a16="http://schemas.microsoft.com/office/drawing/2014/main" id="{092B5B62-CEC5-10FD-1B42-163A3A75AF1E}"/>
                  </a:ext>
                </a:extLst>
              </p:cNvPr>
              <p:cNvSpPr/>
              <p:nvPr/>
            </p:nvSpPr>
            <p:spPr>
              <a:xfrm>
                <a:off x="5497372" y="6699945"/>
                <a:ext cx="277731" cy="334519"/>
              </a:xfrm>
              <a:custGeom>
                <a:avLst/>
                <a:gdLst/>
                <a:ahLst/>
                <a:cxnLst/>
                <a:rect l="l" t="t" r="r" b="b"/>
                <a:pathLst>
                  <a:path w="221741" h="267081" extrusionOk="0">
                    <a:moveTo>
                      <a:pt x="174784" y="12573"/>
                    </a:moveTo>
                    <a:cubicBezTo>
                      <a:pt x="189548" y="20955"/>
                      <a:pt x="201073" y="32861"/>
                      <a:pt x="209359" y="48196"/>
                    </a:cubicBezTo>
                    <a:cubicBezTo>
                      <a:pt x="217646" y="63532"/>
                      <a:pt x="221742" y="81058"/>
                      <a:pt x="221742" y="100965"/>
                    </a:cubicBezTo>
                    <a:lnTo>
                      <a:pt x="221742" y="267081"/>
                    </a:lnTo>
                    <a:lnTo>
                      <a:pt x="183833" y="267081"/>
                    </a:lnTo>
                    <a:lnTo>
                      <a:pt x="183833" y="106013"/>
                    </a:lnTo>
                    <a:cubicBezTo>
                      <a:pt x="183833" y="84487"/>
                      <a:pt x="177737" y="67056"/>
                      <a:pt x="165640" y="53721"/>
                    </a:cubicBezTo>
                    <a:cubicBezTo>
                      <a:pt x="153543" y="40386"/>
                      <a:pt x="137827" y="33814"/>
                      <a:pt x="118682" y="33814"/>
                    </a:cubicBezTo>
                    <a:cubicBezTo>
                      <a:pt x="104204" y="33814"/>
                      <a:pt x="90773" y="36862"/>
                      <a:pt x="78296" y="42863"/>
                    </a:cubicBezTo>
                    <a:cubicBezTo>
                      <a:pt x="65818" y="48958"/>
                      <a:pt x="56007" y="57055"/>
                      <a:pt x="48768" y="67342"/>
                    </a:cubicBezTo>
                    <a:cubicBezTo>
                      <a:pt x="41529" y="77629"/>
                      <a:pt x="37909" y="88773"/>
                      <a:pt x="37909" y="100870"/>
                    </a:cubicBezTo>
                    <a:lnTo>
                      <a:pt x="37909" y="266986"/>
                    </a:lnTo>
                    <a:lnTo>
                      <a:pt x="0" y="266986"/>
                    </a:lnTo>
                    <a:lnTo>
                      <a:pt x="0" y="6001"/>
                    </a:lnTo>
                    <a:lnTo>
                      <a:pt x="37909" y="6001"/>
                    </a:lnTo>
                    <a:lnTo>
                      <a:pt x="37909" y="47434"/>
                    </a:lnTo>
                    <a:cubicBezTo>
                      <a:pt x="45625" y="33338"/>
                      <a:pt x="57245" y="21908"/>
                      <a:pt x="72771" y="13145"/>
                    </a:cubicBezTo>
                    <a:cubicBezTo>
                      <a:pt x="88202" y="4382"/>
                      <a:pt x="105251" y="0"/>
                      <a:pt x="123730" y="0"/>
                    </a:cubicBezTo>
                    <a:cubicBezTo>
                      <a:pt x="142208" y="0"/>
                      <a:pt x="159925" y="4191"/>
                      <a:pt x="174688" y="12668"/>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2" name="Google Shape;7679;g3e0685d0c96_0_10295">
                <a:extLst>
                  <a:ext uri="{FF2B5EF4-FFF2-40B4-BE49-F238E27FC236}">
                    <a16:creationId xmlns:a16="http://schemas.microsoft.com/office/drawing/2014/main" id="{1F749FF2-BC26-BB27-FFA1-64859B337BFC}"/>
                  </a:ext>
                </a:extLst>
              </p:cNvPr>
              <p:cNvSpPr/>
              <p:nvPr/>
            </p:nvSpPr>
            <p:spPr>
              <a:xfrm>
                <a:off x="5842631" y="6592380"/>
                <a:ext cx="316742" cy="449644"/>
              </a:xfrm>
              <a:custGeom>
                <a:avLst/>
                <a:gdLst/>
                <a:ahLst/>
                <a:cxnLst/>
                <a:rect l="l" t="t" r="r" b="b"/>
                <a:pathLst>
                  <a:path w="252888" h="358997" extrusionOk="0">
                    <a:moveTo>
                      <a:pt x="252889" y="0"/>
                    </a:moveTo>
                    <a:lnTo>
                      <a:pt x="252889" y="352901"/>
                    </a:lnTo>
                    <a:lnTo>
                      <a:pt x="214979" y="352901"/>
                    </a:lnTo>
                    <a:lnTo>
                      <a:pt x="214979" y="303943"/>
                    </a:lnTo>
                    <a:cubicBezTo>
                      <a:pt x="204883" y="321469"/>
                      <a:pt x="191643" y="334994"/>
                      <a:pt x="175355" y="344614"/>
                    </a:cubicBezTo>
                    <a:cubicBezTo>
                      <a:pt x="159068" y="354235"/>
                      <a:pt x="140589" y="358997"/>
                      <a:pt x="120110" y="358997"/>
                    </a:cubicBezTo>
                    <a:cubicBezTo>
                      <a:pt x="97536" y="358997"/>
                      <a:pt x="77153" y="353187"/>
                      <a:pt x="58769" y="341567"/>
                    </a:cubicBezTo>
                    <a:cubicBezTo>
                      <a:pt x="40386" y="329946"/>
                      <a:pt x="26003" y="313754"/>
                      <a:pt x="15621" y="292894"/>
                    </a:cubicBezTo>
                    <a:cubicBezTo>
                      <a:pt x="5144" y="272034"/>
                      <a:pt x="0" y="248507"/>
                      <a:pt x="0" y="222218"/>
                    </a:cubicBezTo>
                    <a:cubicBezTo>
                      <a:pt x="0" y="195929"/>
                      <a:pt x="5239" y="172498"/>
                      <a:pt x="15621" y="151829"/>
                    </a:cubicBezTo>
                    <a:cubicBezTo>
                      <a:pt x="26099" y="131159"/>
                      <a:pt x="40481" y="114967"/>
                      <a:pt x="58769" y="103346"/>
                    </a:cubicBezTo>
                    <a:cubicBezTo>
                      <a:pt x="77153" y="91726"/>
                      <a:pt x="97536" y="85916"/>
                      <a:pt x="120110" y="85916"/>
                    </a:cubicBezTo>
                    <a:cubicBezTo>
                      <a:pt x="140589" y="85916"/>
                      <a:pt x="159068" y="90678"/>
                      <a:pt x="175355" y="100298"/>
                    </a:cubicBezTo>
                    <a:cubicBezTo>
                      <a:pt x="191643" y="109918"/>
                      <a:pt x="204883" y="123444"/>
                      <a:pt x="214979" y="140970"/>
                    </a:cubicBezTo>
                    <a:lnTo>
                      <a:pt x="214979" y="95"/>
                    </a:lnTo>
                    <a:lnTo>
                      <a:pt x="252889" y="95"/>
                    </a:lnTo>
                    <a:close/>
                    <a:moveTo>
                      <a:pt x="172688" y="311944"/>
                    </a:moveTo>
                    <a:cubicBezTo>
                      <a:pt x="186119" y="303181"/>
                      <a:pt x="196596" y="290989"/>
                      <a:pt x="204025" y="275368"/>
                    </a:cubicBezTo>
                    <a:cubicBezTo>
                      <a:pt x="211455" y="259747"/>
                      <a:pt x="215170" y="241935"/>
                      <a:pt x="215170" y="222123"/>
                    </a:cubicBezTo>
                    <a:cubicBezTo>
                      <a:pt x="215170" y="202311"/>
                      <a:pt x="211455" y="184595"/>
                      <a:pt x="204025" y="169164"/>
                    </a:cubicBezTo>
                    <a:cubicBezTo>
                      <a:pt x="196596" y="153734"/>
                      <a:pt x="186214" y="141542"/>
                      <a:pt x="172688" y="132779"/>
                    </a:cubicBezTo>
                    <a:cubicBezTo>
                      <a:pt x="159258" y="124016"/>
                      <a:pt x="144113" y="119634"/>
                      <a:pt x="127254" y="119634"/>
                    </a:cubicBezTo>
                    <a:cubicBezTo>
                      <a:pt x="110395" y="119634"/>
                      <a:pt x="95345" y="124016"/>
                      <a:pt x="82106" y="132779"/>
                    </a:cubicBezTo>
                    <a:cubicBezTo>
                      <a:pt x="68771" y="141542"/>
                      <a:pt x="58483" y="153638"/>
                      <a:pt x="51054" y="169164"/>
                    </a:cubicBezTo>
                    <a:cubicBezTo>
                      <a:pt x="43625" y="184690"/>
                      <a:pt x="39910" y="202311"/>
                      <a:pt x="39910" y="222123"/>
                    </a:cubicBezTo>
                    <a:cubicBezTo>
                      <a:pt x="39910" y="241935"/>
                      <a:pt x="43625" y="259747"/>
                      <a:pt x="51054" y="275368"/>
                    </a:cubicBezTo>
                    <a:cubicBezTo>
                      <a:pt x="58483" y="290989"/>
                      <a:pt x="68771" y="303181"/>
                      <a:pt x="82106" y="311944"/>
                    </a:cubicBezTo>
                    <a:cubicBezTo>
                      <a:pt x="95441" y="320707"/>
                      <a:pt x="110490" y="325088"/>
                      <a:pt x="127254" y="325088"/>
                    </a:cubicBezTo>
                    <a:cubicBezTo>
                      <a:pt x="144018" y="325088"/>
                      <a:pt x="159258" y="320707"/>
                      <a:pt x="172688" y="311944"/>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3" name="Google Shape;7680;g3e0685d0c96_0_10295">
                <a:extLst>
                  <a:ext uri="{FF2B5EF4-FFF2-40B4-BE49-F238E27FC236}">
                    <a16:creationId xmlns:a16="http://schemas.microsoft.com/office/drawing/2014/main" id="{D74DCAE0-7E57-E9AB-831D-318A435F6DE8}"/>
                  </a:ext>
                </a:extLst>
              </p:cNvPr>
              <p:cNvSpPr/>
              <p:nvPr/>
            </p:nvSpPr>
            <p:spPr>
              <a:xfrm>
                <a:off x="6225138" y="6699945"/>
                <a:ext cx="282146" cy="342034"/>
              </a:xfrm>
              <a:custGeom>
                <a:avLst/>
                <a:gdLst/>
                <a:ahLst/>
                <a:cxnLst/>
                <a:rect l="l" t="t" r="r" b="b"/>
                <a:pathLst>
                  <a:path w="225266" h="273081" extrusionOk="0">
                    <a:moveTo>
                      <a:pt x="198215" y="29528"/>
                    </a:moveTo>
                    <a:cubicBezTo>
                      <a:pt x="216217" y="49244"/>
                      <a:pt x="225266" y="75343"/>
                      <a:pt x="225266" y="108013"/>
                    </a:cubicBezTo>
                    <a:lnTo>
                      <a:pt x="225266" y="266986"/>
                    </a:lnTo>
                    <a:lnTo>
                      <a:pt x="187357" y="266986"/>
                    </a:lnTo>
                    <a:lnTo>
                      <a:pt x="187357" y="226124"/>
                    </a:lnTo>
                    <a:cubicBezTo>
                      <a:pt x="178308" y="240983"/>
                      <a:pt x="165259" y="252508"/>
                      <a:pt x="148209" y="260699"/>
                    </a:cubicBezTo>
                    <a:cubicBezTo>
                      <a:pt x="131254" y="268986"/>
                      <a:pt x="113633" y="273082"/>
                      <a:pt x="95440" y="273082"/>
                    </a:cubicBezTo>
                    <a:cubicBezTo>
                      <a:pt x="67532" y="273082"/>
                      <a:pt x="44577" y="265462"/>
                      <a:pt x="26765" y="250317"/>
                    </a:cubicBezTo>
                    <a:cubicBezTo>
                      <a:pt x="8954" y="235172"/>
                      <a:pt x="0" y="214979"/>
                      <a:pt x="0" y="189738"/>
                    </a:cubicBezTo>
                    <a:cubicBezTo>
                      <a:pt x="0" y="172879"/>
                      <a:pt x="4572" y="157829"/>
                      <a:pt x="13906" y="144590"/>
                    </a:cubicBezTo>
                    <a:cubicBezTo>
                      <a:pt x="23146" y="131254"/>
                      <a:pt x="35623" y="121063"/>
                      <a:pt x="51244" y="113824"/>
                    </a:cubicBezTo>
                    <a:cubicBezTo>
                      <a:pt x="66865" y="106585"/>
                      <a:pt x="84010" y="102965"/>
                      <a:pt x="102489" y="102965"/>
                    </a:cubicBezTo>
                    <a:cubicBezTo>
                      <a:pt x="128778" y="102965"/>
                      <a:pt x="156972" y="107823"/>
                      <a:pt x="187262" y="117634"/>
                    </a:cubicBezTo>
                    <a:lnTo>
                      <a:pt x="187262" y="108013"/>
                    </a:lnTo>
                    <a:cubicBezTo>
                      <a:pt x="187262" y="86773"/>
                      <a:pt x="181832" y="68866"/>
                      <a:pt x="171069" y="54292"/>
                    </a:cubicBezTo>
                    <a:cubicBezTo>
                      <a:pt x="160306" y="39624"/>
                      <a:pt x="142113" y="32290"/>
                      <a:pt x="116586" y="32290"/>
                    </a:cubicBezTo>
                    <a:cubicBezTo>
                      <a:pt x="104775" y="32290"/>
                      <a:pt x="92773" y="34385"/>
                      <a:pt x="80486" y="38576"/>
                    </a:cubicBezTo>
                    <a:cubicBezTo>
                      <a:pt x="68199" y="42767"/>
                      <a:pt x="54864" y="48578"/>
                      <a:pt x="40386" y="56007"/>
                    </a:cubicBezTo>
                    <a:lnTo>
                      <a:pt x="25241" y="25241"/>
                    </a:lnTo>
                    <a:cubicBezTo>
                      <a:pt x="58864" y="8382"/>
                      <a:pt x="90202" y="0"/>
                      <a:pt x="119158" y="0"/>
                    </a:cubicBezTo>
                    <a:cubicBezTo>
                      <a:pt x="153829" y="0"/>
                      <a:pt x="180118" y="9811"/>
                      <a:pt x="198120" y="29528"/>
                    </a:cubicBezTo>
                    <a:close/>
                    <a:moveTo>
                      <a:pt x="155353" y="225362"/>
                    </a:moveTo>
                    <a:cubicBezTo>
                      <a:pt x="172021" y="215741"/>
                      <a:pt x="182689" y="202406"/>
                      <a:pt x="187452" y="185261"/>
                    </a:cubicBezTo>
                    <a:lnTo>
                      <a:pt x="187452" y="145352"/>
                    </a:lnTo>
                    <a:cubicBezTo>
                      <a:pt x="161830" y="138303"/>
                      <a:pt x="135636" y="134779"/>
                      <a:pt x="108680" y="134779"/>
                    </a:cubicBezTo>
                    <a:cubicBezTo>
                      <a:pt x="88773" y="134779"/>
                      <a:pt x="71914" y="139827"/>
                      <a:pt x="57912" y="149924"/>
                    </a:cubicBezTo>
                    <a:cubicBezTo>
                      <a:pt x="43910" y="160020"/>
                      <a:pt x="36957" y="172784"/>
                      <a:pt x="36957" y="188309"/>
                    </a:cubicBezTo>
                    <a:cubicBezTo>
                      <a:pt x="36957" y="203835"/>
                      <a:pt x="43053" y="216694"/>
                      <a:pt x="55340" y="225933"/>
                    </a:cubicBezTo>
                    <a:cubicBezTo>
                      <a:pt x="67627" y="235172"/>
                      <a:pt x="83153" y="239840"/>
                      <a:pt x="102013" y="239840"/>
                    </a:cubicBezTo>
                    <a:cubicBezTo>
                      <a:pt x="120872" y="239840"/>
                      <a:pt x="138589" y="235077"/>
                      <a:pt x="155258" y="225457"/>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4" name="Google Shape;7681;g3e0685d0c96_0_10295">
                <a:extLst>
                  <a:ext uri="{FF2B5EF4-FFF2-40B4-BE49-F238E27FC236}">
                    <a16:creationId xmlns:a16="http://schemas.microsoft.com/office/drawing/2014/main" id="{39FAE148-7ABC-AF58-8EBF-42AE84A64932}"/>
                  </a:ext>
                </a:extLst>
              </p:cNvPr>
              <p:cNvSpPr/>
              <p:nvPr/>
            </p:nvSpPr>
            <p:spPr>
              <a:xfrm>
                <a:off x="6548789" y="6617690"/>
                <a:ext cx="191596" cy="424232"/>
              </a:xfrm>
              <a:custGeom>
                <a:avLst/>
                <a:gdLst/>
                <a:ahLst/>
                <a:cxnLst/>
                <a:rect l="l" t="t" r="r" b="b"/>
                <a:pathLst>
                  <a:path w="152971" h="338708" extrusionOk="0">
                    <a:moveTo>
                      <a:pt x="152971" y="322040"/>
                    </a:moveTo>
                    <a:cubicBezTo>
                      <a:pt x="138875" y="333184"/>
                      <a:pt x="122682" y="338709"/>
                      <a:pt x="104489" y="338709"/>
                    </a:cubicBezTo>
                    <a:cubicBezTo>
                      <a:pt x="86296" y="338709"/>
                      <a:pt x="70771" y="332518"/>
                      <a:pt x="58769" y="320040"/>
                    </a:cubicBezTo>
                    <a:cubicBezTo>
                      <a:pt x="46863" y="307562"/>
                      <a:pt x="40862" y="291560"/>
                      <a:pt x="40862" y="272129"/>
                    </a:cubicBezTo>
                    <a:lnTo>
                      <a:pt x="40862" y="105537"/>
                    </a:lnTo>
                    <a:lnTo>
                      <a:pt x="0" y="105537"/>
                    </a:lnTo>
                    <a:lnTo>
                      <a:pt x="0" y="71723"/>
                    </a:lnTo>
                    <a:lnTo>
                      <a:pt x="40862" y="71723"/>
                    </a:lnTo>
                    <a:lnTo>
                      <a:pt x="40862" y="0"/>
                    </a:lnTo>
                    <a:lnTo>
                      <a:pt x="78772" y="0"/>
                    </a:lnTo>
                    <a:lnTo>
                      <a:pt x="78772" y="71723"/>
                    </a:lnTo>
                    <a:lnTo>
                      <a:pt x="142875" y="71723"/>
                    </a:lnTo>
                    <a:lnTo>
                      <a:pt x="142875" y="105537"/>
                    </a:lnTo>
                    <a:lnTo>
                      <a:pt x="78772" y="105537"/>
                    </a:lnTo>
                    <a:lnTo>
                      <a:pt x="78772" y="272129"/>
                    </a:lnTo>
                    <a:cubicBezTo>
                      <a:pt x="78772" y="281559"/>
                      <a:pt x="81534" y="289370"/>
                      <a:pt x="87058" y="295561"/>
                    </a:cubicBezTo>
                    <a:cubicBezTo>
                      <a:pt x="92583" y="301752"/>
                      <a:pt x="99250" y="304895"/>
                      <a:pt x="106966" y="304895"/>
                    </a:cubicBezTo>
                    <a:cubicBezTo>
                      <a:pt x="112681" y="304895"/>
                      <a:pt x="117919" y="303848"/>
                      <a:pt x="122587" y="301847"/>
                    </a:cubicBezTo>
                    <a:cubicBezTo>
                      <a:pt x="127254" y="299847"/>
                      <a:pt x="131159" y="297275"/>
                      <a:pt x="134207" y="294323"/>
                    </a:cubicBezTo>
                    <a:lnTo>
                      <a:pt x="152876" y="322136"/>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5" name="Google Shape;7682;g3e0685d0c96_0_10295">
                <a:extLst>
                  <a:ext uri="{FF2B5EF4-FFF2-40B4-BE49-F238E27FC236}">
                    <a16:creationId xmlns:a16="http://schemas.microsoft.com/office/drawing/2014/main" id="{4B1165AC-1F62-CA0B-FACD-62C3A3A9F68C}"/>
                  </a:ext>
                </a:extLst>
              </p:cNvPr>
              <p:cNvSpPr/>
              <p:nvPr/>
            </p:nvSpPr>
            <p:spPr>
              <a:xfrm>
                <a:off x="6784811" y="6585457"/>
                <a:ext cx="62633" cy="448927"/>
              </a:xfrm>
              <a:custGeom>
                <a:avLst/>
                <a:gdLst/>
                <a:ahLst/>
                <a:cxnLst/>
                <a:rect l="l" t="t" r="r" b="b"/>
                <a:pathLst>
                  <a:path w="50006" h="358425" extrusionOk="0">
                    <a:moveTo>
                      <a:pt x="7334" y="42386"/>
                    </a:moveTo>
                    <a:cubicBezTo>
                      <a:pt x="2476" y="37338"/>
                      <a:pt x="0" y="31433"/>
                      <a:pt x="0" y="24765"/>
                    </a:cubicBezTo>
                    <a:cubicBezTo>
                      <a:pt x="0" y="18097"/>
                      <a:pt x="2476" y="12192"/>
                      <a:pt x="7334" y="7334"/>
                    </a:cubicBezTo>
                    <a:cubicBezTo>
                      <a:pt x="12192" y="2476"/>
                      <a:pt x="18193" y="0"/>
                      <a:pt x="25241" y="0"/>
                    </a:cubicBezTo>
                    <a:cubicBezTo>
                      <a:pt x="32290" y="0"/>
                      <a:pt x="37814" y="2476"/>
                      <a:pt x="42672" y="7334"/>
                    </a:cubicBezTo>
                    <a:cubicBezTo>
                      <a:pt x="47530" y="12192"/>
                      <a:pt x="50006" y="18002"/>
                      <a:pt x="50006" y="24765"/>
                    </a:cubicBezTo>
                    <a:cubicBezTo>
                      <a:pt x="50006" y="31528"/>
                      <a:pt x="47530" y="37433"/>
                      <a:pt x="42672" y="42386"/>
                    </a:cubicBezTo>
                    <a:cubicBezTo>
                      <a:pt x="37814" y="47434"/>
                      <a:pt x="32004" y="50006"/>
                      <a:pt x="25241" y="50006"/>
                    </a:cubicBezTo>
                    <a:cubicBezTo>
                      <a:pt x="18193" y="50006"/>
                      <a:pt x="12192" y="47434"/>
                      <a:pt x="7334" y="42386"/>
                    </a:cubicBezTo>
                    <a:close/>
                    <a:moveTo>
                      <a:pt x="6096" y="97441"/>
                    </a:moveTo>
                    <a:lnTo>
                      <a:pt x="44005" y="97441"/>
                    </a:lnTo>
                    <a:lnTo>
                      <a:pt x="44005" y="358426"/>
                    </a:lnTo>
                    <a:lnTo>
                      <a:pt x="6096" y="358426"/>
                    </a:lnTo>
                    <a:lnTo>
                      <a:pt x="6096" y="97441"/>
                    </a:ln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6" name="Google Shape;7683;g3e0685d0c96_0_10295">
                <a:extLst>
                  <a:ext uri="{FF2B5EF4-FFF2-40B4-BE49-F238E27FC236}">
                    <a16:creationId xmlns:a16="http://schemas.microsoft.com/office/drawing/2014/main" id="{078AE1A0-FE9C-260D-A18B-EEB1BADD7C01}"/>
                  </a:ext>
                </a:extLst>
              </p:cNvPr>
              <p:cNvSpPr/>
              <p:nvPr/>
            </p:nvSpPr>
            <p:spPr>
              <a:xfrm>
                <a:off x="6907179" y="6700065"/>
                <a:ext cx="337143" cy="341915"/>
              </a:xfrm>
              <a:custGeom>
                <a:avLst/>
                <a:gdLst/>
                <a:ahLst/>
                <a:cxnLst/>
                <a:rect l="l" t="t" r="r" b="b"/>
                <a:pathLst>
                  <a:path w="269176" h="272986" extrusionOk="0">
                    <a:moveTo>
                      <a:pt x="67437" y="254603"/>
                    </a:moveTo>
                    <a:cubicBezTo>
                      <a:pt x="46768" y="242316"/>
                      <a:pt x="30289" y="225647"/>
                      <a:pt x="18193" y="204597"/>
                    </a:cubicBezTo>
                    <a:cubicBezTo>
                      <a:pt x="6096" y="183547"/>
                      <a:pt x="0" y="160782"/>
                      <a:pt x="0" y="136207"/>
                    </a:cubicBezTo>
                    <a:cubicBezTo>
                      <a:pt x="0" y="111633"/>
                      <a:pt x="6096" y="88963"/>
                      <a:pt x="18193" y="68104"/>
                    </a:cubicBezTo>
                    <a:cubicBezTo>
                      <a:pt x="30289" y="47244"/>
                      <a:pt x="46672" y="30670"/>
                      <a:pt x="67437" y="18383"/>
                    </a:cubicBezTo>
                    <a:cubicBezTo>
                      <a:pt x="88106" y="6096"/>
                      <a:pt x="110585" y="0"/>
                      <a:pt x="134874" y="0"/>
                    </a:cubicBezTo>
                    <a:cubicBezTo>
                      <a:pt x="159163" y="0"/>
                      <a:pt x="181451" y="6191"/>
                      <a:pt x="202025" y="18383"/>
                    </a:cubicBezTo>
                    <a:cubicBezTo>
                      <a:pt x="222504" y="30670"/>
                      <a:pt x="238887" y="47244"/>
                      <a:pt x="250984" y="68104"/>
                    </a:cubicBezTo>
                    <a:cubicBezTo>
                      <a:pt x="263080" y="88963"/>
                      <a:pt x="269176" y="111728"/>
                      <a:pt x="269176" y="136207"/>
                    </a:cubicBezTo>
                    <a:cubicBezTo>
                      <a:pt x="269176" y="160687"/>
                      <a:pt x="263080" y="183547"/>
                      <a:pt x="250984" y="204597"/>
                    </a:cubicBezTo>
                    <a:cubicBezTo>
                      <a:pt x="238887" y="225647"/>
                      <a:pt x="222504" y="242316"/>
                      <a:pt x="202025" y="254603"/>
                    </a:cubicBezTo>
                    <a:cubicBezTo>
                      <a:pt x="181451" y="266890"/>
                      <a:pt x="159163" y="272986"/>
                      <a:pt x="134874" y="272986"/>
                    </a:cubicBezTo>
                    <a:cubicBezTo>
                      <a:pt x="110585" y="272986"/>
                      <a:pt x="88201" y="266890"/>
                      <a:pt x="67437" y="254603"/>
                    </a:cubicBezTo>
                    <a:close/>
                    <a:moveTo>
                      <a:pt x="182213" y="225266"/>
                    </a:moveTo>
                    <a:cubicBezTo>
                      <a:pt x="196691" y="216027"/>
                      <a:pt x="208216" y="203454"/>
                      <a:pt x="216789" y="187642"/>
                    </a:cubicBezTo>
                    <a:cubicBezTo>
                      <a:pt x="225362" y="171831"/>
                      <a:pt x="229648" y="154686"/>
                      <a:pt x="229648" y="136112"/>
                    </a:cubicBezTo>
                    <a:cubicBezTo>
                      <a:pt x="229648" y="117538"/>
                      <a:pt x="225362" y="100489"/>
                      <a:pt x="216789" y="84868"/>
                    </a:cubicBezTo>
                    <a:cubicBezTo>
                      <a:pt x="208216" y="69247"/>
                      <a:pt x="196691" y="56769"/>
                      <a:pt x="182213" y="47530"/>
                    </a:cubicBezTo>
                    <a:cubicBezTo>
                      <a:pt x="167735" y="38290"/>
                      <a:pt x="151924" y="33623"/>
                      <a:pt x="134779" y="33623"/>
                    </a:cubicBezTo>
                    <a:cubicBezTo>
                      <a:pt x="117634" y="33623"/>
                      <a:pt x="101727" y="38290"/>
                      <a:pt x="87058" y="47530"/>
                    </a:cubicBezTo>
                    <a:cubicBezTo>
                      <a:pt x="72390" y="56769"/>
                      <a:pt x="60770" y="69247"/>
                      <a:pt x="52197" y="84868"/>
                    </a:cubicBezTo>
                    <a:cubicBezTo>
                      <a:pt x="43624" y="100489"/>
                      <a:pt x="39338" y="117634"/>
                      <a:pt x="39338" y="136112"/>
                    </a:cubicBezTo>
                    <a:cubicBezTo>
                      <a:pt x="39338" y="154591"/>
                      <a:pt x="43624" y="171831"/>
                      <a:pt x="52197" y="187642"/>
                    </a:cubicBezTo>
                    <a:cubicBezTo>
                      <a:pt x="60770" y="203454"/>
                      <a:pt x="72390" y="216027"/>
                      <a:pt x="87058" y="225266"/>
                    </a:cubicBezTo>
                    <a:cubicBezTo>
                      <a:pt x="101727" y="234505"/>
                      <a:pt x="117634" y="239173"/>
                      <a:pt x="134779" y="239173"/>
                    </a:cubicBezTo>
                    <a:cubicBezTo>
                      <a:pt x="151924" y="239173"/>
                      <a:pt x="167735" y="234505"/>
                      <a:pt x="182213" y="225266"/>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sp>
            <p:nvSpPr>
              <p:cNvPr id="57" name="Google Shape;7684;g3e0685d0c96_0_10295">
                <a:extLst>
                  <a:ext uri="{FF2B5EF4-FFF2-40B4-BE49-F238E27FC236}">
                    <a16:creationId xmlns:a16="http://schemas.microsoft.com/office/drawing/2014/main" id="{C9425729-BD82-E44E-C112-2F7A7CA3ACC1}"/>
                  </a:ext>
                </a:extLst>
              </p:cNvPr>
              <p:cNvSpPr/>
              <p:nvPr/>
            </p:nvSpPr>
            <p:spPr>
              <a:xfrm>
                <a:off x="7312966" y="6699945"/>
                <a:ext cx="277731" cy="334519"/>
              </a:xfrm>
              <a:custGeom>
                <a:avLst/>
                <a:gdLst/>
                <a:ahLst/>
                <a:cxnLst/>
                <a:rect l="l" t="t" r="r" b="b"/>
                <a:pathLst>
                  <a:path w="221741" h="267081" extrusionOk="0">
                    <a:moveTo>
                      <a:pt x="174784" y="12573"/>
                    </a:moveTo>
                    <a:cubicBezTo>
                      <a:pt x="189547" y="20955"/>
                      <a:pt x="201073" y="32861"/>
                      <a:pt x="209360" y="48196"/>
                    </a:cubicBezTo>
                    <a:cubicBezTo>
                      <a:pt x="217646" y="63532"/>
                      <a:pt x="221742" y="81058"/>
                      <a:pt x="221742" y="100965"/>
                    </a:cubicBezTo>
                    <a:lnTo>
                      <a:pt x="221742" y="267081"/>
                    </a:lnTo>
                    <a:lnTo>
                      <a:pt x="183832" y="267081"/>
                    </a:lnTo>
                    <a:lnTo>
                      <a:pt x="183832" y="106013"/>
                    </a:lnTo>
                    <a:cubicBezTo>
                      <a:pt x="183832" y="84487"/>
                      <a:pt x="177737" y="67056"/>
                      <a:pt x="165640" y="53721"/>
                    </a:cubicBezTo>
                    <a:cubicBezTo>
                      <a:pt x="153543" y="40386"/>
                      <a:pt x="137827" y="33814"/>
                      <a:pt x="118681" y="33814"/>
                    </a:cubicBezTo>
                    <a:cubicBezTo>
                      <a:pt x="104204" y="33814"/>
                      <a:pt x="90773" y="36862"/>
                      <a:pt x="78296" y="42863"/>
                    </a:cubicBezTo>
                    <a:cubicBezTo>
                      <a:pt x="65818" y="48958"/>
                      <a:pt x="56007" y="57055"/>
                      <a:pt x="48768" y="67342"/>
                    </a:cubicBezTo>
                    <a:cubicBezTo>
                      <a:pt x="41529" y="77629"/>
                      <a:pt x="37910" y="88773"/>
                      <a:pt x="37910" y="100870"/>
                    </a:cubicBezTo>
                    <a:lnTo>
                      <a:pt x="37910" y="266986"/>
                    </a:lnTo>
                    <a:lnTo>
                      <a:pt x="0" y="266986"/>
                    </a:lnTo>
                    <a:lnTo>
                      <a:pt x="0" y="6001"/>
                    </a:lnTo>
                    <a:lnTo>
                      <a:pt x="37910" y="6001"/>
                    </a:lnTo>
                    <a:lnTo>
                      <a:pt x="37910" y="47434"/>
                    </a:lnTo>
                    <a:cubicBezTo>
                      <a:pt x="45625" y="33338"/>
                      <a:pt x="57245" y="21908"/>
                      <a:pt x="72771" y="13145"/>
                    </a:cubicBezTo>
                    <a:cubicBezTo>
                      <a:pt x="88202" y="4382"/>
                      <a:pt x="105251" y="0"/>
                      <a:pt x="123730" y="0"/>
                    </a:cubicBezTo>
                    <a:cubicBezTo>
                      <a:pt x="142208" y="0"/>
                      <a:pt x="159925" y="4191"/>
                      <a:pt x="174688" y="12668"/>
                    </a:cubicBezTo>
                    <a:close/>
                  </a:path>
                </a:pathLst>
              </a:custGeom>
              <a:solidFill>
                <a:srgbClr val="000000"/>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F2F2F2"/>
                  </a:solidFill>
                  <a:effectLst/>
                  <a:uLnTx/>
                  <a:uFillTx/>
                  <a:latin typeface="Arial" pitchFamily="2" charset="0"/>
                  <a:ea typeface="Arial" pitchFamily="2" charset="0"/>
                  <a:cs typeface="Arial" pitchFamily="2" charset="0"/>
                  <a:sym typeface="Arial" pitchFamily="2" charset="0"/>
                </a:endParaRPr>
              </a:p>
            </p:txBody>
          </p:sp>
        </p:grpSp>
      </p:grpSp>
      <p:sp>
        <p:nvSpPr>
          <p:cNvPr id="69" name="Google Shape;7685;g3e0685d0c96_0_10295">
            <a:extLst>
              <a:ext uri="{FF2B5EF4-FFF2-40B4-BE49-F238E27FC236}">
                <a16:creationId xmlns:a16="http://schemas.microsoft.com/office/drawing/2014/main" id="{335480DD-F653-FA05-7846-B4089581DAAE}"/>
              </a:ext>
            </a:extLst>
          </p:cNvPr>
          <p:cNvSpPr/>
          <p:nvPr/>
        </p:nvSpPr>
        <p:spPr>
          <a:xfrm>
            <a:off x="5694132" y="2953921"/>
            <a:ext cx="542700" cy="551700"/>
          </a:xfrm>
          <a:prstGeom prst="ellipse">
            <a:avLst/>
          </a:prstGeom>
          <a:solidFill>
            <a:schemeClr val="lt1"/>
          </a:solidFill>
          <a:ln>
            <a:noFill/>
          </a:ln>
          <a:effectLst>
            <a:outerShdw blurRad="300491" sx="102000" sy="102000" algn="ctr" rotWithShape="0">
              <a:schemeClr val="accent2">
                <a:alpha val="40000"/>
              </a:schemeClr>
            </a:outerShdw>
          </a:effectLst>
        </p:spPr>
        <p:txBody>
          <a:bodyPr spcFirstLastPara="1" wrap="square" lIns="90225" tIns="90225" rIns="90225" bIns="902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100"/>
              <a:buFont typeface="Arial" pitchFamily="2" charset="0"/>
              <a:buNone/>
              <a:tabLst/>
              <a:defRPr/>
            </a:pPr>
            <a:endParaRPr kumimoji="0" sz="1100" b="0" i="0" u="none" strike="noStrike" kern="1200" cap="none" spc="0" normalizeH="0" baseline="0" noProof="0">
              <a:ln>
                <a:noFill/>
              </a:ln>
              <a:solidFill>
                <a:srgbClr val="041032"/>
              </a:solidFill>
              <a:effectLst/>
              <a:uLnTx/>
              <a:uFillTx/>
              <a:latin typeface="Arial" pitchFamily="2" charset="0"/>
              <a:ea typeface="Arial" pitchFamily="2" charset="0"/>
              <a:cs typeface="Arial" pitchFamily="2" charset="0"/>
              <a:sym typeface="Arial" pitchFamily="2" charset="0"/>
            </a:endParaRPr>
          </a:p>
        </p:txBody>
      </p:sp>
      <p:grpSp>
        <p:nvGrpSpPr>
          <p:cNvPr id="70" name="Google Shape;7686;g3e0685d0c96_0_10295">
            <a:extLst>
              <a:ext uri="{FF2B5EF4-FFF2-40B4-BE49-F238E27FC236}">
                <a16:creationId xmlns:a16="http://schemas.microsoft.com/office/drawing/2014/main" id="{55D3E217-0E20-B981-8E0F-5A06B4DC4489}"/>
              </a:ext>
            </a:extLst>
          </p:cNvPr>
          <p:cNvGrpSpPr/>
          <p:nvPr/>
        </p:nvGrpSpPr>
        <p:grpSpPr>
          <a:xfrm>
            <a:off x="5773283" y="3063754"/>
            <a:ext cx="384398" cy="309558"/>
            <a:chOff x="6654593" y="-151907"/>
            <a:chExt cx="1027801" cy="813985"/>
          </a:xfrm>
        </p:grpSpPr>
        <p:sp>
          <p:nvSpPr>
            <p:cNvPr id="71" name="Google Shape;7687;g3e0685d0c96_0_10295">
              <a:extLst>
                <a:ext uri="{FF2B5EF4-FFF2-40B4-BE49-F238E27FC236}">
                  <a16:creationId xmlns:a16="http://schemas.microsoft.com/office/drawing/2014/main" id="{A72576AE-C98B-C80C-56A0-AEAE3DC83971}"/>
                </a:ext>
              </a:extLst>
            </p:cNvPr>
            <p:cNvSpPr/>
            <p:nvPr/>
          </p:nvSpPr>
          <p:spPr>
            <a:xfrm>
              <a:off x="6654593" y="-151907"/>
              <a:ext cx="1027801" cy="813985"/>
            </a:xfrm>
            <a:custGeom>
              <a:avLst/>
              <a:gdLst/>
              <a:ahLst/>
              <a:cxnLst/>
              <a:rect l="l" t="t" r="r" b="b"/>
              <a:pathLst>
                <a:path w="1027801" h="813985" extrusionOk="0">
                  <a:moveTo>
                    <a:pt x="932341" y="257439"/>
                  </a:moveTo>
                  <a:cubicBezTo>
                    <a:pt x="892843" y="217957"/>
                    <a:pt x="844208" y="189321"/>
                    <a:pt x="791100" y="174290"/>
                  </a:cubicBezTo>
                  <a:cubicBezTo>
                    <a:pt x="727332" y="66500"/>
                    <a:pt x="610932" y="0"/>
                    <a:pt x="485205" y="0"/>
                  </a:cubicBezTo>
                  <a:cubicBezTo>
                    <a:pt x="390315" y="0"/>
                    <a:pt x="301040" y="36913"/>
                    <a:pt x="233942" y="103984"/>
                  </a:cubicBezTo>
                  <a:cubicBezTo>
                    <a:pt x="190542" y="147366"/>
                    <a:pt x="159134" y="201023"/>
                    <a:pt x="142859" y="259436"/>
                  </a:cubicBezTo>
                  <a:cubicBezTo>
                    <a:pt x="54536" y="313759"/>
                    <a:pt x="0" y="410703"/>
                    <a:pt x="0" y="514592"/>
                  </a:cubicBezTo>
                  <a:cubicBezTo>
                    <a:pt x="0" y="594601"/>
                    <a:pt x="31122" y="669759"/>
                    <a:pt x="87752" y="726270"/>
                  </a:cubicBezTo>
                  <a:cubicBezTo>
                    <a:pt x="114877" y="753384"/>
                    <a:pt x="146285" y="774599"/>
                    <a:pt x="180453" y="789440"/>
                  </a:cubicBezTo>
                  <a:cubicBezTo>
                    <a:pt x="193206" y="794958"/>
                    <a:pt x="206341" y="799620"/>
                    <a:pt x="219856" y="803330"/>
                  </a:cubicBezTo>
                  <a:cubicBezTo>
                    <a:pt x="219856" y="803330"/>
                    <a:pt x="219856" y="803330"/>
                    <a:pt x="219856" y="803330"/>
                  </a:cubicBezTo>
                  <a:lnTo>
                    <a:pt x="254214" y="768986"/>
                  </a:lnTo>
                  <a:cubicBezTo>
                    <a:pt x="254214" y="768986"/>
                    <a:pt x="254214" y="768986"/>
                    <a:pt x="254214" y="768986"/>
                  </a:cubicBezTo>
                  <a:lnTo>
                    <a:pt x="558110" y="465216"/>
                  </a:lnTo>
                  <a:lnTo>
                    <a:pt x="558110" y="581092"/>
                  </a:lnTo>
                  <a:cubicBezTo>
                    <a:pt x="558110" y="592413"/>
                    <a:pt x="567342" y="601641"/>
                    <a:pt x="578668" y="601641"/>
                  </a:cubicBezTo>
                  <a:cubicBezTo>
                    <a:pt x="589994" y="601641"/>
                    <a:pt x="599226" y="592413"/>
                    <a:pt x="599226" y="581092"/>
                  </a:cubicBezTo>
                  <a:lnTo>
                    <a:pt x="599226" y="415650"/>
                  </a:lnTo>
                  <a:lnTo>
                    <a:pt x="599226" y="415650"/>
                  </a:lnTo>
                  <a:lnTo>
                    <a:pt x="599226" y="395101"/>
                  </a:lnTo>
                  <a:lnTo>
                    <a:pt x="413157" y="395101"/>
                  </a:lnTo>
                  <a:cubicBezTo>
                    <a:pt x="401831" y="395101"/>
                    <a:pt x="392600" y="404329"/>
                    <a:pt x="392600" y="415650"/>
                  </a:cubicBezTo>
                  <a:cubicBezTo>
                    <a:pt x="392600" y="426971"/>
                    <a:pt x="401831" y="436199"/>
                    <a:pt x="413157" y="436199"/>
                  </a:cubicBezTo>
                  <a:lnTo>
                    <a:pt x="529081" y="436199"/>
                  </a:lnTo>
                  <a:lnTo>
                    <a:pt x="208625" y="756523"/>
                  </a:lnTo>
                  <a:cubicBezTo>
                    <a:pt x="174552" y="743775"/>
                    <a:pt x="143335" y="723796"/>
                    <a:pt x="116876" y="697253"/>
                  </a:cubicBezTo>
                  <a:cubicBezTo>
                    <a:pt x="68051" y="648448"/>
                    <a:pt x="41211" y="583566"/>
                    <a:pt x="41211" y="514592"/>
                  </a:cubicBezTo>
                  <a:cubicBezTo>
                    <a:pt x="41211" y="422500"/>
                    <a:pt x="90893" y="336687"/>
                    <a:pt x="170935" y="290641"/>
                  </a:cubicBezTo>
                  <a:lnTo>
                    <a:pt x="178454" y="286265"/>
                  </a:lnTo>
                  <a:lnTo>
                    <a:pt x="180548" y="277798"/>
                  </a:lnTo>
                  <a:cubicBezTo>
                    <a:pt x="194253" y="223285"/>
                    <a:pt x="222806" y="173243"/>
                    <a:pt x="263065" y="133000"/>
                  </a:cubicBezTo>
                  <a:cubicBezTo>
                    <a:pt x="322455" y="73635"/>
                    <a:pt x="401356" y="41004"/>
                    <a:pt x="485205" y="41004"/>
                  </a:cubicBezTo>
                  <a:cubicBezTo>
                    <a:pt x="599035" y="41004"/>
                    <a:pt x="704205" y="102652"/>
                    <a:pt x="759597" y="201879"/>
                  </a:cubicBezTo>
                  <a:lnTo>
                    <a:pt x="763880" y="209585"/>
                  </a:lnTo>
                  <a:lnTo>
                    <a:pt x="772445" y="211773"/>
                  </a:lnTo>
                  <a:cubicBezTo>
                    <a:pt x="821651" y="224236"/>
                    <a:pt x="866860" y="250113"/>
                    <a:pt x="903217" y="286455"/>
                  </a:cubicBezTo>
                  <a:cubicBezTo>
                    <a:pt x="957086" y="340302"/>
                    <a:pt x="986686" y="411845"/>
                    <a:pt x="986686" y="487954"/>
                  </a:cubicBezTo>
                  <a:cubicBezTo>
                    <a:pt x="986686" y="564063"/>
                    <a:pt x="956991" y="635605"/>
                    <a:pt x="903217" y="689452"/>
                  </a:cubicBezTo>
                  <a:cubicBezTo>
                    <a:pt x="849347" y="743299"/>
                    <a:pt x="777775" y="772887"/>
                    <a:pt x="701635" y="772887"/>
                  </a:cubicBezTo>
                  <a:lnTo>
                    <a:pt x="341014" y="772887"/>
                  </a:lnTo>
                  <a:lnTo>
                    <a:pt x="299898" y="813985"/>
                  </a:lnTo>
                  <a:lnTo>
                    <a:pt x="701635" y="813985"/>
                  </a:lnTo>
                  <a:cubicBezTo>
                    <a:pt x="788721" y="813985"/>
                    <a:pt x="870667" y="780117"/>
                    <a:pt x="932245" y="718469"/>
                  </a:cubicBezTo>
                  <a:cubicBezTo>
                    <a:pt x="993824" y="656916"/>
                    <a:pt x="1027802" y="575003"/>
                    <a:pt x="1027802" y="487954"/>
                  </a:cubicBezTo>
                  <a:cubicBezTo>
                    <a:pt x="1027802" y="400904"/>
                    <a:pt x="993919" y="318992"/>
                    <a:pt x="932245" y="257439"/>
                  </a:cubicBezTo>
                  <a:close/>
                </a:path>
              </a:pathLst>
            </a:custGeom>
            <a:solidFill>
              <a:srgbClr val="0098C7"/>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72" name="Google Shape;7688;g3e0685d0c96_0_10295">
              <a:extLst>
                <a:ext uri="{FF2B5EF4-FFF2-40B4-BE49-F238E27FC236}">
                  <a16:creationId xmlns:a16="http://schemas.microsoft.com/office/drawing/2014/main" id="{E4792260-7E71-1B04-80E9-CFCB01A4F64B}"/>
                </a:ext>
              </a:extLst>
            </p:cNvPr>
            <p:cNvSpPr/>
            <p:nvPr/>
          </p:nvSpPr>
          <p:spPr>
            <a:xfrm>
              <a:off x="6772706" y="-33843"/>
              <a:ext cx="791385" cy="577667"/>
            </a:xfrm>
            <a:custGeom>
              <a:avLst/>
              <a:gdLst/>
              <a:ahLst/>
              <a:cxnLst/>
              <a:rect l="l" t="t" r="r" b="b"/>
              <a:pathLst>
                <a:path w="791385" h="577667" extrusionOk="0">
                  <a:moveTo>
                    <a:pt x="592088" y="162207"/>
                  </a:moveTo>
                  <a:cubicBezTo>
                    <a:pt x="560109" y="65929"/>
                    <a:pt x="469787" y="0"/>
                    <a:pt x="366997" y="0"/>
                  </a:cubicBezTo>
                  <a:cubicBezTo>
                    <a:pt x="241080" y="0"/>
                    <a:pt x="137814" y="98561"/>
                    <a:pt x="130295" y="222524"/>
                  </a:cubicBezTo>
                  <a:cubicBezTo>
                    <a:pt x="53869" y="244881"/>
                    <a:pt x="0" y="315472"/>
                    <a:pt x="0" y="396433"/>
                  </a:cubicBezTo>
                  <a:cubicBezTo>
                    <a:pt x="0" y="461696"/>
                    <a:pt x="34739" y="519063"/>
                    <a:pt x="86705" y="550934"/>
                  </a:cubicBezTo>
                  <a:lnTo>
                    <a:pt x="116876" y="520776"/>
                  </a:lnTo>
                  <a:cubicBezTo>
                    <a:pt x="71953" y="497372"/>
                    <a:pt x="41116" y="450470"/>
                    <a:pt x="41116" y="396433"/>
                  </a:cubicBezTo>
                  <a:cubicBezTo>
                    <a:pt x="41116" y="329457"/>
                    <a:pt x="88799" y="271709"/>
                    <a:pt x="154375" y="258866"/>
                  </a:cubicBezTo>
                  <a:lnTo>
                    <a:pt x="171126" y="255631"/>
                  </a:lnTo>
                  <a:lnTo>
                    <a:pt x="170936" y="238506"/>
                  </a:lnTo>
                  <a:cubicBezTo>
                    <a:pt x="170936" y="238506"/>
                    <a:pt x="170936" y="237555"/>
                    <a:pt x="170936" y="237079"/>
                  </a:cubicBezTo>
                  <a:lnTo>
                    <a:pt x="170936" y="236889"/>
                  </a:lnTo>
                  <a:cubicBezTo>
                    <a:pt x="170936" y="128814"/>
                    <a:pt x="258878" y="41004"/>
                    <a:pt x="366902" y="41004"/>
                  </a:cubicBezTo>
                  <a:cubicBezTo>
                    <a:pt x="456272" y="41004"/>
                    <a:pt x="534316" y="101320"/>
                    <a:pt x="556682" y="187799"/>
                  </a:cubicBezTo>
                  <a:lnTo>
                    <a:pt x="560775" y="203782"/>
                  </a:lnTo>
                  <a:lnTo>
                    <a:pt x="577907" y="203116"/>
                  </a:lnTo>
                  <a:cubicBezTo>
                    <a:pt x="579715" y="203116"/>
                    <a:pt x="581618" y="203021"/>
                    <a:pt x="583427" y="203021"/>
                  </a:cubicBezTo>
                  <a:cubicBezTo>
                    <a:pt x="675366" y="203021"/>
                    <a:pt x="750270" y="277798"/>
                    <a:pt x="750270" y="369794"/>
                  </a:cubicBezTo>
                  <a:cubicBezTo>
                    <a:pt x="750270" y="461791"/>
                    <a:pt x="675462" y="536568"/>
                    <a:pt x="583427" y="536568"/>
                  </a:cubicBezTo>
                  <a:lnTo>
                    <a:pt x="341014" y="536568"/>
                  </a:lnTo>
                  <a:lnTo>
                    <a:pt x="299899" y="577667"/>
                  </a:lnTo>
                  <a:lnTo>
                    <a:pt x="583427" y="577667"/>
                  </a:lnTo>
                  <a:cubicBezTo>
                    <a:pt x="698113" y="577667"/>
                    <a:pt x="791386" y="484434"/>
                    <a:pt x="791386" y="369794"/>
                  </a:cubicBezTo>
                  <a:cubicBezTo>
                    <a:pt x="791386" y="255155"/>
                    <a:pt x="702682" y="166583"/>
                    <a:pt x="591897" y="162112"/>
                  </a:cubicBezTo>
                  <a:close/>
                </a:path>
              </a:pathLst>
            </a:custGeom>
            <a:solidFill>
              <a:srgbClr val="005C8A"/>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pitchFamily="2" charset="0"/>
                <a:buNone/>
                <a:tabLst/>
                <a:defRPr/>
              </a:pPr>
              <a:endParaRPr kumimoji="0" sz="1600" b="0"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sp>
        <p:nvSpPr>
          <p:cNvPr id="73" name="Google Shape;7689;g3e0685d0c96_0_10295">
            <a:extLst>
              <a:ext uri="{FF2B5EF4-FFF2-40B4-BE49-F238E27FC236}">
                <a16:creationId xmlns:a16="http://schemas.microsoft.com/office/drawing/2014/main" id="{586009FE-4C4A-0D3E-E485-B56F7E0EA77C}"/>
              </a:ext>
            </a:extLst>
          </p:cNvPr>
          <p:cNvSpPr/>
          <p:nvPr/>
        </p:nvSpPr>
        <p:spPr>
          <a:xfrm>
            <a:off x="4844740" y="6057201"/>
            <a:ext cx="2217600" cy="286800"/>
          </a:xfrm>
          <a:prstGeom prst="roundRect">
            <a:avLst>
              <a:gd name="adj" fmla="val 50000"/>
            </a:avLst>
          </a:prstGeom>
          <a:gradFill>
            <a:gsLst>
              <a:gs pos="0">
                <a:schemeClr val="accent5"/>
              </a:gs>
              <a:gs pos="3000">
                <a:schemeClr val="accent5"/>
              </a:gs>
              <a:gs pos="100000">
                <a:schemeClr val="accent2"/>
              </a:gs>
            </a:gsLst>
            <a:lin ang="10800025" scaled="0"/>
          </a:gradFill>
          <a:ln>
            <a:noFill/>
          </a:ln>
        </p:spPr>
        <p:txBody>
          <a:bodyPr spcFirstLastPara="1" wrap="square" lIns="91325" tIns="45600" rIns="91325" bIns="45600" anchor="ctr" anchorCtr="0">
            <a:noAutofit/>
          </a:bodyPr>
          <a:lstStyle/>
          <a:p>
            <a:pPr marL="0" marR="0" lvl="0" indent="0" algn="ctr" defTabSz="914400" rtl="0" eaLnBrk="1" fontAlgn="auto" latinLnBrk="0" hangingPunct="1">
              <a:lnSpc>
                <a:spcPct val="85000"/>
              </a:lnSpc>
              <a:spcBef>
                <a:spcPts val="0"/>
              </a:spcBef>
              <a:spcAft>
                <a:spcPts val="0"/>
              </a:spcAft>
              <a:buClr>
                <a:srgbClr val="000000"/>
              </a:buClr>
              <a:buSzPts val="1051"/>
              <a:buFont typeface="Arial" pitchFamily="2" charset="0"/>
              <a:buNone/>
              <a:tabLst/>
              <a:defRPr/>
            </a:pPr>
            <a:r>
              <a:rPr kumimoji="0" lang="en-US" sz="1051" b="0" i="0" u="none" strike="noStrike" kern="1200" cap="none" spc="0" normalizeH="0" baseline="0" noProof="0">
                <a:ln>
                  <a:noFill/>
                </a:ln>
                <a:solidFill>
                  <a:srgbClr val="FFFFFF"/>
                </a:solidFill>
                <a:effectLst/>
                <a:uLnTx/>
                <a:uFillTx/>
                <a:latin typeface="Arial" panose="020B0604020202020204"/>
                <a:ea typeface="+mn-ea"/>
                <a:cs typeface="+mn-cs"/>
              </a:rPr>
              <a:t>Cyber Recovery*</a:t>
            </a:r>
            <a:endParaRPr kumimoji="0" sz="1400" b="0" i="0" u="none" strike="noStrike" kern="1200" cap="none" spc="0" normalizeH="0" baseline="0" noProof="0">
              <a:ln>
                <a:noFill/>
              </a:ln>
              <a:solidFill>
                <a:srgbClr val="000000"/>
              </a:solidFill>
              <a:effectLst/>
              <a:uLnTx/>
              <a:uFillTx/>
              <a:latin typeface="Arial" panose="020B0604020202020204"/>
              <a:ea typeface="Arial" pitchFamily="2" charset="0"/>
              <a:cs typeface="Arial" pitchFamily="2" charset="0"/>
              <a:sym typeface="Arial" pitchFamily="2" charset="0"/>
            </a:endParaRPr>
          </a:p>
        </p:txBody>
      </p:sp>
      <p:grpSp>
        <p:nvGrpSpPr>
          <p:cNvPr id="74" name="Google Shape;7690;g3e0685d0c96_0_10295">
            <a:extLst>
              <a:ext uri="{FF2B5EF4-FFF2-40B4-BE49-F238E27FC236}">
                <a16:creationId xmlns:a16="http://schemas.microsoft.com/office/drawing/2014/main" id="{37D62E37-3E8D-D8DD-63F9-D1C23B95FEA2}"/>
              </a:ext>
            </a:extLst>
          </p:cNvPr>
          <p:cNvGrpSpPr/>
          <p:nvPr/>
        </p:nvGrpSpPr>
        <p:grpSpPr>
          <a:xfrm>
            <a:off x="4165886" y="4625469"/>
            <a:ext cx="3575308" cy="552968"/>
            <a:chOff x="4806371" y="3924991"/>
            <a:chExt cx="3575308" cy="552968"/>
          </a:xfrm>
        </p:grpSpPr>
        <p:sp>
          <p:nvSpPr>
            <p:cNvPr id="75" name="Google Shape;7691;g3e0685d0c96_0_10295">
              <a:extLst>
                <a:ext uri="{FF2B5EF4-FFF2-40B4-BE49-F238E27FC236}">
                  <a16:creationId xmlns:a16="http://schemas.microsoft.com/office/drawing/2014/main" id="{6C115B8F-81D8-4C8C-E91B-1070EBA8144E}"/>
                </a:ext>
              </a:extLst>
            </p:cNvPr>
            <p:cNvSpPr txBox="1"/>
            <p:nvPr/>
          </p:nvSpPr>
          <p:spPr>
            <a:xfrm>
              <a:off x="4806371" y="4371829"/>
              <a:ext cx="921900" cy="104700"/>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85000"/>
                </a:lnSpc>
                <a:spcBef>
                  <a:spcPts val="0"/>
                </a:spcBef>
                <a:spcAft>
                  <a:spcPts val="0"/>
                </a:spcAft>
                <a:buClr>
                  <a:srgbClr val="000000"/>
                </a:buClr>
                <a:buSzPts val="800"/>
                <a:buFont typeface="Arial" pitchFamily="2" charset="0"/>
                <a:buNone/>
                <a:tabLst/>
                <a:defRPr/>
              </a:pPr>
              <a:r>
                <a:rPr kumimoji="0" lang="en-US" sz="800" b="1"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rPr>
                <a:t>COMPUTE</a:t>
              </a:r>
              <a:endParaRPr kumimoji="0" sz="1100" b="1" i="0" u="none" strike="noStrike" kern="1200" cap="none" spc="0" normalizeH="0" baseline="0" noProof="0" dirty="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76" name="Google Shape;7692;g3e0685d0c96_0_10295">
              <a:extLst>
                <a:ext uri="{FF2B5EF4-FFF2-40B4-BE49-F238E27FC236}">
                  <a16:creationId xmlns:a16="http://schemas.microsoft.com/office/drawing/2014/main" id="{A8860E1A-060C-535C-69F6-F31A5A9246F6}"/>
                </a:ext>
              </a:extLst>
            </p:cNvPr>
            <p:cNvSpPr txBox="1"/>
            <p:nvPr/>
          </p:nvSpPr>
          <p:spPr>
            <a:xfrm>
              <a:off x="5659085" y="4373259"/>
              <a:ext cx="921900" cy="104700"/>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85000"/>
                </a:lnSpc>
                <a:spcBef>
                  <a:spcPts val="0"/>
                </a:spcBef>
                <a:spcAft>
                  <a:spcPts val="0"/>
                </a:spcAft>
                <a:buClr>
                  <a:srgbClr val="000000"/>
                </a:buClr>
                <a:buSzPts val="800"/>
                <a:buFont typeface="Arial" pitchFamily="2" charset="0"/>
                <a:buNone/>
                <a:tabLst/>
                <a:defRPr/>
              </a:pPr>
              <a:r>
                <a:rPr kumimoji="0" lang="en-US" sz="800" b="1"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rPr>
                <a:t>STORA</a:t>
              </a:r>
              <a:r>
                <a:rPr kumimoji="0" lang="en-US" sz="800" b="1" i="0" u="none" strike="noStrike" kern="1200" cap="none" spc="0" normalizeH="0" baseline="0" noProof="0">
                  <a:ln>
                    <a:noFill/>
                  </a:ln>
                  <a:solidFill>
                    <a:srgbClr val="000000"/>
                  </a:solidFill>
                  <a:effectLst/>
                  <a:uLnTx/>
                  <a:uFillTx/>
                  <a:latin typeface="Arial" panose="020B0604020202020204"/>
                  <a:ea typeface="+mn-ea"/>
                  <a:cs typeface="+mn-cs"/>
                </a:rPr>
                <a:t>GE</a:t>
              </a:r>
              <a:endParaRPr kumimoji="0" sz="1100" b="1"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sp>
          <p:nvSpPr>
            <p:cNvPr id="77" name="Google Shape;7693;g3e0685d0c96_0_10295">
              <a:extLst>
                <a:ext uri="{FF2B5EF4-FFF2-40B4-BE49-F238E27FC236}">
                  <a16:creationId xmlns:a16="http://schemas.microsoft.com/office/drawing/2014/main" id="{F5C0C181-93AB-69E8-5064-8A07501A3E15}"/>
                </a:ext>
              </a:extLst>
            </p:cNvPr>
            <p:cNvSpPr txBox="1"/>
            <p:nvPr/>
          </p:nvSpPr>
          <p:spPr>
            <a:xfrm>
              <a:off x="6424396" y="4371829"/>
              <a:ext cx="1098300" cy="104700"/>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85000"/>
                </a:lnSpc>
                <a:spcBef>
                  <a:spcPts val="0"/>
                </a:spcBef>
                <a:spcAft>
                  <a:spcPts val="0"/>
                </a:spcAft>
                <a:buClr>
                  <a:srgbClr val="000000"/>
                </a:buClr>
                <a:buSzPts val="800"/>
                <a:buFont typeface="Arial" pitchFamily="2" charset="0"/>
                <a:buNone/>
                <a:tabLst/>
                <a:defRPr/>
              </a:pPr>
              <a:r>
                <a:rPr kumimoji="0" lang="en-US" sz="800" b="1"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rPr>
                <a:t>NETWORKING</a:t>
              </a:r>
              <a:endParaRPr kumimoji="0" sz="1100" b="1"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nvGrpSpPr>
            <p:cNvPr id="78" name="Google Shape;7694;g3e0685d0c96_0_10295">
              <a:extLst>
                <a:ext uri="{FF2B5EF4-FFF2-40B4-BE49-F238E27FC236}">
                  <a16:creationId xmlns:a16="http://schemas.microsoft.com/office/drawing/2014/main" id="{4AF5B44A-D548-FCD5-906D-120B0126857C}"/>
                </a:ext>
              </a:extLst>
            </p:cNvPr>
            <p:cNvGrpSpPr/>
            <p:nvPr/>
          </p:nvGrpSpPr>
          <p:grpSpPr>
            <a:xfrm>
              <a:off x="5105556" y="3925005"/>
              <a:ext cx="322318" cy="327720"/>
              <a:chOff x="3971678" y="-375237"/>
              <a:chExt cx="329400" cy="329400"/>
            </a:xfrm>
          </p:grpSpPr>
          <p:sp>
            <p:nvSpPr>
              <p:cNvPr id="87" name="Google Shape;7695;g3e0685d0c96_0_10295">
                <a:extLst>
                  <a:ext uri="{FF2B5EF4-FFF2-40B4-BE49-F238E27FC236}">
                    <a16:creationId xmlns:a16="http://schemas.microsoft.com/office/drawing/2014/main" id="{C3F9D6A8-A90E-AA17-D60A-A6B8F100B11F}"/>
                  </a:ext>
                </a:extLst>
              </p:cNvPr>
              <p:cNvSpPr/>
              <p:nvPr/>
            </p:nvSpPr>
            <p:spPr>
              <a:xfrm>
                <a:off x="3971678" y="-375237"/>
                <a:ext cx="329400" cy="329400"/>
              </a:xfrm>
              <a:prstGeom prst="ellipse">
                <a:avLst/>
              </a:prstGeom>
              <a:gradFill>
                <a:gsLst>
                  <a:gs pos="0">
                    <a:srgbClr val="36254A"/>
                  </a:gs>
                  <a:gs pos="37000">
                    <a:schemeClr val="accent5"/>
                  </a:gs>
                  <a:gs pos="100000">
                    <a:schemeClr val="accent5"/>
                  </a:gs>
                </a:gsLst>
                <a:lin ang="18900044" scaled="0"/>
              </a:gradFill>
              <a:ln>
                <a:noFill/>
              </a:ln>
            </p:spPr>
            <p:txBody>
              <a:bodyPr spcFirstLastPara="1" wrap="square" lIns="90175" tIns="45075" rIns="90175" bIns="450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pitchFamily="2" charset="0"/>
                  <a:buNone/>
                  <a:tabLst/>
                  <a:defRPr/>
                </a:pPr>
                <a:endParaRPr kumimoji="0" sz="10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88" name="Google Shape;7696;g3e0685d0c96_0_10295">
                <a:extLst>
                  <a:ext uri="{FF2B5EF4-FFF2-40B4-BE49-F238E27FC236}">
                    <a16:creationId xmlns:a16="http://schemas.microsoft.com/office/drawing/2014/main" id="{36372B9F-1CD8-3B7E-8A13-30C8B0FF91F7}"/>
                  </a:ext>
                </a:extLst>
              </p:cNvPr>
              <p:cNvSpPr/>
              <p:nvPr/>
            </p:nvSpPr>
            <p:spPr>
              <a:xfrm>
                <a:off x="4049530" y="-289884"/>
                <a:ext cx="174232" cy="158823"/>
              </a:xfrm>
              <a:custGeom>
                <a:avLst/>
                <a:gdLst/>
                <a:ahLst/>
                <a:cxnLst/>
                <a:rect l="l" t="t" r="r" b="b"/>
                <a:pathLst>
                  <a:path w="611339" h="557274" extrusionOk="0">
                    <a:moveTo>
                      <a:pt x="72043" y="458373"/>
                    </a:moveTo>
                    <a:cubicBezTo>
                      <a:pt x="62114" y="458373"/>
                      <a:pt x="54065" y="466421"/>
                      <a:pt x="54065" y="476351"/>
                    </a:cubicBezTo>
                    <a:cubicBezTo>
                      <a:pt x="54065" y="486280"/>
                      <a:pt x="62114" y="494329"/>
                      <a:pt x="72043" y="494329"/>
                    </a:cubicBezTo>
                    <a:cubicBezTo>
                      <a:pt x="81973" y="494329"/>
                      <a:pt x="90021" y="486280"/>
                      <a:pt x="90021" y="476351"/>
                    </a:cubicBezTo>
                    <a:cubicBezTo>
                      <a:pt x="90021" y="466421"/>
                      <a:pt x="81973" y="458373"/>
                      <a:pt x="72043" y="458373"/>
                    </a:cubicBezTo>
                    <a:close/>
                    <a:moveTo>
                      <a:pt x="538640" y="450062"/>
                    </a:moveTo>
                    <a:lnTo>
                      <a:pt x="538640" y="503996"/>
                    </a:lnTo>
                    <a:lnTo>
                      <a:pt x="551762" y="503996"/>
                    </a:lnTo>
                    <a:lnTo>
                      <a:pt x="551762" y="450062"/>
                    </a:lnTo>
                    <a:close/>
                    <a:moveTo>
                      <a:pt x="502596" y="450062"/>
                    </a:moveTo>
                    <a:lnTo>
                      <a:pt x="502596" y="503996"/>
                    </a:lnTo>
                    <a:lnTo>
                      <a:pt x="515719" y="503996"/>
                    </a:lnTo>
                    <a:lnTo>
                      <a:pt x="515719" y="450062"/>
                    </a:lnTo>
                    <a:close/>
                    <a:moveTo>
                      <a:pt x="466509" y="450062"/>
                    </a:moveTo>
                    <a:lnTo>
                      <a:pt x="466509" y="503996"/>
                    </a:lnTo>
                    <a:lnTo>
                      <a:pt x="479632" y="503996"/>
                    </a:lnTo>
                    <a:lnTo>
                      <a:pt x="479632" y="450062"/>
                    </a:lnTo>
                    <a:close/>
                    <a:moveTo>
                      <a:pt x="430466" y="450062"/>
                    </a:moveTo>
                    <a:lnTo>
                      <a:pt x="430466" y="503996"/>
                    </a:lnTo>
                    <a:lnTo>
                      <a:pt x="443588" y="503996"/>
                    </a:lnTo>
                    <a:lnTo>
                      <a:pt x="443588" y="450062"/>
                    </a:lnTo>
                    <a:close/>
                    <a:moveTo>
                      <a:pt x="394378" y="450062"/>
                    </a:moveTo>
                    <a:lnTo>
                      <a:pt x="394378" y="503996"/>
                    </a:lnTo>
                    <a:lnTo>
                      <a:pt x="407501" y="503996"/>
                    </a:lnTo>
                    <a:lnTo>
                      <a:pt x="407501" y="450062"/>
                    </a:lnTo>
                    <a:close/>
                    <a:moveTo>
                      <a:pt x="358291" y="450062"/>
                    </a:moveTo>
                    <a:lnTo>
                      <a:pt x="358291" y="503996"/>
                    </a:lnTo>
                    <a:lnTo>
                      <a:pt x="371414" y="503996"/>
                    </a:lnTo>
                    <a:lnTo>
                      <a:pt x="371414" y="450062"/>
                    </a:lnTo>
                    <a:close/>
                    <a:moveTo>
                      <a:pt x="322248" y="450062"/>
                    </a:moveTo>
                    <a:lnTo>
                      <a:pt x="322248" y="503996"/>
                    </a:lnTo>
                    <a:lnTo>
                      <a:pt x="335370" y="503996"/>
                    </a:lnTo>
                    <a:lnTo>
                      <a:pt x="335370" y="450062"/>
                    </a:lnTo>
                    <a:close/>
                    <a:moveTo>
                      <a:pt x="286161" y="450062"/>
                    </a:moveTo>
                    <a:lnTo>
                      <a:pt x="286161" y="503996"/>
                    </a:lnTo>
                    <a:lnTo>
                      <a:pt x="299283" y="503996"/>
                    </a:lnTo>
                    <a:lnTo>
                      <a:pt x="299283" y="450062"/>
                    </a:lnTo>
                    <a:close/>
                    <a:moveTo>
                      <a:pt x="0" y="395428"/>
                    </a:moveTo>
                    <a:lnTo>
                      <a:pt x="611339" y="395428"/>
                    </a:lnTo>
                    <a:lnTo>
                      <a:pt x="611339" y="557274"/>
                    </a:lnTo>
                    <a:lnTo>
                      <a:pt x="0" y="557274"/>
                    </a:lnTo>
                    <a:close/>
                    <a:moveTo>
                      <a:pt x="72043" y="260003"/>
                    </a:moveTo>
                    <a:cubicBezTo>
                      <a:pt x="62114" y="260003"/>
                      <a:pt x="54065" y="268052"/>
                      <a:pt x="54065" y="277981"/>
                    </a:cubicBezTo>
                    <a:cubicBezTo>
                      <a:pt x="54065" y="287911"/>
                      <a:pt x="62114" y="295959"/>
                      <a:pt x="72043" y="295959"/>
                    </a:cubicBezTo>
                    <a:cubicBezTo>
                      <a:pt x="81973" y="295959"/>
                      <a:pt x="90021" y="287911"/>
                      <a:pt x="90021" y="277981"/>
                    </a:cubicBezTo>
                    <a:cubicBezTo>
                      <a:pt x="90021" y="268052"/>
                      <a:pt x="81973" y="260003"/>
                      <a:pt x="72043" y="260003"/>
                    </a:cubicBezTo>
                    <a:close/>
                    <a:moveTo>
                      <a:pt x="538640" y="251692"/>
                    </a:moveTo>
                    <a:lnTo>
                      <a:pt x="538640" y="305626"/>
                    </a:lnTo>
                    <a:lnTo>
                      <a:pt x="551762" y="305626"/>
                    </a:lnTo>
                    <a:lnTo>
                      <a:pt x="551762" y="251692"/>
                    </a:lnTo>
                    <a:close/>
                    <a:moveTo>
                      <a:pt x="502596" y="251692"/>
                    </a:moveTo>
                    <a:lnTo>
                      <a:pt x="502596" y="305626"/>
                    </a:lnTo>
                    <a:lnTo>
                      <a:pt x="515719" y="305626"/>
                    </a:lnTo>
                    <a:lnTo>
                      <a:pt x="515719" y="251692"/>
                    </a:lnTo>
                    <a:close/>
                    <a:moveTo>
                      <a:pt x="466509" y="251692"/>
                    </a:moveTo>
                    <a:lnTo>
                      <a:pt x="466509" y="305626"/>
                    </a:lnTo>
                    <a:lnTo>
                      <a:pt x="479632" y="305626"/>
                    </a:lnTo>
                    <a:lnTo>
                      <a:pt x="479632" y="251692"/>
                    </a:lnTo>
                    <a:close/>
                    <a:moveTo>
                      <a:pt x="430466" y="251692"/>
                    </a:moveTo>
                    <a:lnTo>
                      <a:pt x="430466" y="305626"/>
                    </a:lnTo>
                    <a:lnTo>
                      <a:pt x="443588" y="305626"/>
                    </a:lnTo>
                    <a:lnTo>
                      <a:pt x="443588" y="251692"/>
                    </a:lnTo>
                    <a:close/>
                    <a:moveTo>
                      <a:pt x="394378" y="251692"/>
                    </a:moveTo>
                    <a:lnTo>
                      <a:pt x="394378" y="305626"/>
                    </a:lnTo>
                    <a:lnTo>
                      <a:pt x="407501" y="305626"/>
                    </a:lnTo>
                    <a:lnTo>
                      <a:pt x="407501" y="251692"/>
                    </a:lnTo>
                    <a:close/>
                    <a:moveTo>
                      <a:pt x="358291" y="251692"/>
                    </a:moveTo>
                    <a:lnTo>
                      <a:pt x="358291" y="305626"/>
                    </a:lnTo>
                    <a:lnTo>
                      <a:pt x="371414" y="305626"/>
                    </a:lnTo>
                    <a:lnTo>
                      <a:pt x="371414" y="251692"/>
                    </a:lnTo>
                    <a:close/>
                    <a:moveTo>
                      <a:pt x="322248" y="251692"/>
                    </a:moveTo>
                    <a:lnTo>
                      <a:pt x="322248" y="305626"/>
                    </a:lnTo>
                    <a:lnTo>
                      <a:pt x="335370" y="305626"/>
                    </a:lnTo>
                    <a:lnTo>
                      <a:pt x="335370" y="251692"/>
                    </a:lnTo>
                    <a:close/>
                    <a:moveTo>
                      <a:pt x="286161" y="251692"/>
                    </a:moveTo>
                    <a:lnTo>
                      <a:pt x="286161" y="305626"/>
                    </a:lnTo>
                    <a:lnTo>
                      <a:pt x="299283" y="305626"/>
                    </a:lnTo>
                    <a:lnTo>
                      <a:pt x="299283" y="251692"/>
                    </a:lnTo>
                    <a:close/>
                    <a:moveTo>
                      <a:pt x="0" y="197102"/>
                    </a:moveTo>
                    <a:lnTo>
                      <a:pt x="611339" y="197102"/>
                    </a:lnTo>
                    <a:lnTo>
                      <a:pt x="611339" y="358948"/>
                    </a:lnTo>
                    <a:lnTo>
                      <a:pt x="0" y="358948"/>
                    </a:lnTo>
                    <a:close/>
                    <a:moveTo>
                      <a:pt x="72043" y="62945"/>
                    </a:moveTo>
                    <a:cubicBezTo>
                      <a:pt x="62114" y="62945"/>
                      <a:pt x="54065" y="70993"/>
                      <a:pt x="54065" y="80923"/>
                    </a:cubicBezTo>
                    <a:cubicBezTo>
                      <a:pt x="54065" y="90852"/>
                      <a:pt x="62114" y="98901"/>
                      <a:pt x="72043" y="98901"/>
                    </a:cubicBezTo>
                    <a:cubicBezTo>
                      <a:pt x="81973" y="98901"/>
                      <a:pt x="90021" y="90852"/>
                      <a:pt x="90021" y="80923"/>
                    </a:cubicBezTo>
                    <a:cubicBezTo>
                      <a:pt x="90021" y="70993"/>
                      <a:pt x="81973" y="62945"/>
                      <a:pt x="72043" y="62945"/>
                    </a:cubicBezTo>
                    <a:close/>
                    <a:moveTo>
                      <a:pt x="538640" y="54634"/>
                    </a:moveTo>
                    <a:lnTo>
                      <a:pt x="538640" y="108568"/>
                    </a:lnTo>
                    <a:lnTo>
                      <a:pt x="551762" y="108568"/>
                    </a:lnTo>
                    <a:lnTo>
                      <a:pt x="551762" y="54634"/>
                    </a:lnTo>
                    <a:close/>
                    <a:moveTo>
                      <a:pt x="502596" y="54634"/>
                    </a:moveTo>
                    <a:lnTo>
                      <a:pt x="502596" y="108568"/>
                    </a:lnTo>
                    <a:lnTo>
                      <a:pt x="515719" y="108568"/>
                    </a:lnTo>
                    <a:lnTo>
                      <a:pt x="515719" y="54634"/>
                    </a:lnTo>
                    <a:close/>
                    <a:moveTo>
                      <a:pt x="466509" y="54634"/>
                    </a:moveTo>
                    <a:lnTo>
                      <a:pt x="466509" y="108568"/>
                    </a:lnTo>
                    <a:lnTo>
                      <a:pt x="479632" y="108568"/>
                    </a:lnTo>
                    <a:lnTo>
                      <a:pt x="479632" y="54634"/>
                    </a:lnTo>
                    <a:close/>
                    <a:moveTo>
                      <a:pt x="430466" y="54634"/>
                    </a:moveTo>
                    <a:lnTo>
                      <a:pt x="430466" y="108568"/>
                    </a:lnTo>
                    <a:lnTo>
                      <a:pt x="443588" y="108568"/>
                    </a:lnTo>
                    <a:lnTo>
                      <a:pt x="443588" y="54634"/>
                    </a:lnTo>
                    <a:close/>
                    <a:moveTo>
                      <a:pt x="394378" y="54634"/>
                    </a:moveTo>
                    <a:lnTo>
                      <a:pt x="394378" y="108568"/>
                    </a:lnTo>
                    <a:lnTo>
                      <a:pt x="407501" y="108568"/>
                    </a:lnTo>
                    <a:lnTo>
                      <a:pt x="407501" y="54634"/>
                    </a:lnTo>
                    <a:close/>
                    <a:moveTo>
                      <a:pt x="358291" y="54634"/>
                    </a:moveTo>
                    <a:lnTo>
                      <a:pt x="358291" y="108568"/>
                    </a:lnTo>
                    <a:lnTo>
                      <a:pt x="371414" y="108568"/>
                    </a:lnTo>
                    <a:lnTo>
                      <a:pt x="371414" y="54634"/>
                    </a:lnTo>
                    <a:close/>
                    <a:moveTo>
                      <a:pt x="322248" y="54634"/>
                    </a:moveTo>
                    <a:lnTo>
                      <a:pt x="322248" y="108568"/>
                    </a:lnTo>
                    <a:lnTo>
                      <a:pt x="335370" y="108568"/>
                    </a:lnTo>
                    <a:lnTo>
                      <a:pt x="335370" y="54634"/>
                    </a:lnTo>
                    <a:close/>
                    <a:moveTo>
                      <a:pt x="286161" y="54634"/>
                    </a:moveTo>
                    <a:lnTo>
                      <a:pt x="286161" y="108568"/>
                    </a:lnTo>
                    <a:lnTo>
                      <a:pt x="299283" y="108568"/>
                    </a:lnTo>
                    <a:lnTo>
                      <a:pt x="299283" y="54634"/>
                    </a:lnTo>
                    <a:close/>
                    <a:moveTo>
                      <a:pt x="0" y="0"/>
                    </a:moveTo>
                    <a:lnTo>
                      <a:pt x="611339" y="0"/>
                    </a:lnTo>
                    <a:lnTo>
                      <a:pt x="611339" y="161802"/>
                    </a:lnTo>
                    <a:lnTo>
                      <a:pt x="0" y="161802"/>
                    </a:lnTo>
                    <a:close/>
                  </a:path>
                </a:pathLst>
              </a:custGeom>
              <a:solidFill>
                <a:srgbClr val="FFFFFF"/>
              </a:solidFill>
              <a:ln>
                <a:noFill/>
              </a:ln>
            </p:spPr>
            <p:txBody>
              <a:bodyPr spcFirstLastPara="1" wrap="square" lIns="180350" tIns="90175" rIns="180350" bIns="901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100"/>
                  <a:buFont typeface="Arial" pitchFamily="2" charset="0"/>
                  <a:buNone/>
                  <a:tabLst/>
                  <a:defRPr/>
                </a:pPr>
                <a:endParaRPr kumimoji="0" sz="11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grpSp>
        <p:grpSp>
          <p:nvGrpSpPr>
            <p:cNvPr id="79" name="Google Shape;7697;g3e0685d0c96_0_10295">
              <a:extLst>
                <a:ext uri="{FF2B5EF4-FFF2-40B4-BE49-F238E27FC236}">
                  <a16:creationId xmlns:a16="http://schemas.microsoft.com/office/drawing/2014/main" id="{4C77E698-2D84-5230-94FB-5F6E81C6749E}"/>
                </a:ext>
              </a:extLst>
            </p:cNvPr>
            <p:cNvGrpSpPr/>
            <p:nvPr/>
          </p:nvGrpSpPr>
          <p:grpSpPr>
            <a:xfrm>
              <a:off x="6810285" y="3925005"/>
              <a:ext cx="322318" cy="327720"/>
              <a:chOff x="5763337" y="-375236"/>
              <a:chExt cx="329400" cy="329400"/>
            </a:xfrm>
          </p:grpSpPr>
          <p:sp>
            <p:nvSpPr>
              <p:cNvPr id="85" name="Google Shape;7698;g3e0685d0c96_0_10295">
                <a:extLst>
                  <a:ext uri="{FF2B5EF4-FFF2-40B4-BE49-F238E27FC236}">
                    <a16:creationId xmlns:a16="http://schemas.microsoft.com/office/drawing/2014/main" id="{3866709F-587F-BBD8-478D-83924666BFDE}"/>
                  </a:ext>
                </a:extLst>
              </p:cNvPr>
              <p:cNvSpPr/>
              <p:nvPr/>
            </p:nvSpPr>
            <p:spPr>
              <a:xfrm>
                <a:off x="5763337" y="-375236"/>
                <a:ext cx="329400" cy="329400"/>
              </a:xfrm>
              <a:prstGeom prst="ellipse">
                <a:avLst/>
              </a:prstGeom>
              <a:gradFill>
                <a:gsLst>
                  <a:gs pos="0">
                    <a:srgbClr val="305306"/>
                  </a:gs>
                  <a:gs pos="51000">
                    <a:schemeClr val="accent4"/>
                  </a:gs>
                  <a:gs pos="100000">
                    <a:schemeClr val="accent4"/>
                  </a:gs>
                </a:gsLst>
                <a:lin ang="18900044" scaled="0"/>
              </a:gradFill>
              <a:ln>
                <a:noFill/>
              </a:ln>
            </p:spPr>
            <p:txBody>
              <a:bodyPr spcFirstLastPara="1" wrap="square" lIns="90175" tIns="45075" rIns="90175" bIns="450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pitchFamily="2" charset="0"/>
                  <a:buNone/>
                  <a:tabLst/>
                  <a:defRPr/>
                </a:pPr>
                <a:endParaRPr kumimoji="0" sz="10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86" name="Google Shape;7699;g3e0685d0c96_0_10295">
                <a:extLst>
                  <a:ext uri="{FF2B5EF4-FFF2-40B4-BE49-F238E27FC236}">
                    <a16:creationId xmlns:a16="http://schemas.microsoft.com/office/drawing/2014/main" id="{516F19D5-C8FA-43FD-8A2F-846AE0F96C04}"/>
                  </a:ext>
                </a:extLst>
              </p:cNvPr>
              <p:cNvSpPr/>
              <p:nvPr/>
            </p:nvSpPr>
            <p:spPr>
              <a:xfrm>
                <a:off x="5826024" y="-312777"/>
                <a:ext cx="204058" cy="204058"/>
              </a:xfrm>
              <a:custGeom>
                <a:avLst/>
                <a:gdLst/>
                <a:ahLst/>
                <a:cxnLst/>
                <a:rect l="l" t="t" r="r" b="b"/>
                <a:pathLst>
                  <a:path w="595789" h="595789" extrusionOk="0">
                    <a:moveTo>
                      <a:pt x="297895" y="0"/>
                    </a:moveTo>
                    <a:cubicBezTo>
                      <a:pt x="133388" y="0"/>
                      <a:pt x="0" y="133388"/>
                      <a:pt x="0" y="297895"/>
                    </a:cubicBezTo>
                    <a:cubicBezTo>
                      <a:pt x="0" y="462401"/>
                      <a:pt x="133388" y="595789"/>
                      <a:pt x="297895" y="595789"/>
                    </a:cubicBezTo>
                    <a:cubicBezTo>
                      <a:pt x="462401" y="595789"/>
                      <a:pt x="595789" y="462401"/>
                      <a:pt x="595789" y="297895"/>
                    </a:cubicBezTo>
                    <a:cubicBezTo>
                      <a:pt x="595789" y="133388"/>
                      <a:pt x="462401" y="0"/>
                      <a:pt x="297895" y="0"/>
                    </a:cubicBezTo>
                    <a:close/>
                    <a:moveTo>
                      <a:pt x="374404" y="130859"/>
                    </a:moveTo>
                    <a:lnTo>
                      <a:pt x="473717" y="230172"/>
                    </a:lnTo>
                    <a:lnTo>
                      <a:pt x="452500" y="251389"/>
                    </a:lnTo>
                    <a:lnTo>
                      <a:pt x="353187" y="152076"/>
                    </a:lnTo>
                    <a:lnTo>
                      <a:pt x="374404" y="130859"/>
                    </a:lnTo>
                    <a:close/>
                    <a:moveTo>
                      <a:pt x="436255" y="288208"/>
                    </a:moveTo>
                    <a:lnTo>
                      <a:pt x="436255" y="318211"/>
                    </a:lnTo>
                    <a:lnTo>
                      <a:pt x="372475" y="318211"/>
                    </a:lnTo>
                    <a:lnTo>
                      <a:pt x="372475" y="288208"/>
                    </a:lnTo>
                    <a:lnTo>
                      <a:pt x="436255" y="288208"/>
                    </a:lnTo>
                    <a:close/>
                    <a:moveTo>
                      <a:pt x="51735" y="301667"/>
                    </a:moveTo>
                    <a:cubicBezTo>
                      <a:pt x="51735" y="275692"/>
                      <a:pt x="72781" y="254646"/>
                      <a:pt x="98755" y="254646"/>
                    </a:cubicBezTo>
                    <a:cubicBezTo>
                      <a:pt x="124730" y="254646"/>
                      <a:pt x="145775" y="275692"/>
                      <a:pt x="145775" y="301667"/>
                    </a:cubicBezTo>
                    <a:cubicBezTo>
                      <a:pt x="145775" y="327641"/>
                      <a:pt x="124730" y="348687"/>
                      <a:pt x="98755" y="348687"/>
                    </a:cubicBezTo>
                    <a:cubicBezTo>
                      <a:pt x="72781" y="348687"/>
                      <a:pt x="51735" y="327641"/>
                      <a:pt x="51735" y="301667"/>
                    </a:cubicBezTo>
                    <a:close/>
                    <a:moveTo>
                      <a:pt x="230515" y="466430"/>
                    </a:moveTo>
                    <a:lnTo>
                      <a:pt x="131202" y="367118"/>
                    </a:lnTo>
                    <a:lnTo>
                      <a:pt x="152419" y="345901"/>
                    </a:lnTo>
                    <a:lnTo>
                      <a:pt x="251732" y="445213"/>
                    </a:lnTo>
                    <a:lnTo>
                      <a:pt x="230515" y="466430"/>
                    </a:lnTo>
                    <a:close/>
                    <a:moveTo>
                      <a:pt x="165878" y="318211"/>
                    </a:moveTo>
                    <a:lnTo>
                      <a:pt x="165878" y="288208"/>
                    </a:lnTo>
                    <a:lnTo>
                      <a:pt x="229657" y="288208"/>
                    </a:lnTo>
                    <a:lnTo>
                      <a:pt x="229657" y="318211"/>
                    </a:lnTo>
                    <a:lnTo>
                      <a:pt x="165878" y="318211"/>
                    </a:lnTo>
                    <a:close/>
                    <a:moveTo>
                      <a:pt x="152419" y="251432"/>
                    </a:moveTo>
                    <a:lnTo>
                      <a:pt x="131202" y="230215"/>
                    </a:lnTo>
                    <a:lnTo>
                      <a:pt x="230515" y="130902"/>
                    </a:lnTo>
                    <a:lnTo>
                      <a:pt x="251732" y="152119"/>
                    </a:lnTo>
                    <a:lnTo>
                      <a:pt x="152419" y="251432"/>
                    </a:lnTo>
                    <a:close/>
                    <a:moveTo>
                      <a:pt x="299438" y="543840"/>
                    </a:moveTo>
                    <a:cubicBezTo>
                      <a:pt x="273463" y="543840"/>
                      <a:pt x="252417" y="522794"/>
                      <a:pt x="252417" y="496820"/>
                    </a:cubicBezTo>
                    <a:cubicBezTo>
                      <a:pt x="252417" y="470845"/>
                      <a:pt x="273463" y="449799"/>
                      <a:pt x="299438" y="449799"/>
                    </a:cubicBezTo>
                    <a:cubicBezTo>
                      <a:pt x="325412" y="449799"/>
                      <a:pt x="346458" y="470845"/>
                      <a:pt x="346458" y="496820"/>
                    </a:cubicBezTo>
                    <a:cubicBezTo>
                      <a:pt x="346458" y="522794"/>
                      <a:pt x="325412" y="543840"/>
                      <a:pt x="299438" y="543840"/>
                    </a:cubicBezTo>
                    <a:close/>
                    <a:moveTo>
                      <a:pt x="299438" y="347572"/>
                    </a:moveTo>
                    <a:cubicBezTo>
                      <a:pt x="273463" y="347572"/>
                      <a:pt x="252417" y="326527"/>
                      <a:pt x="252417" y="300552"/>
                    </a:cubicBezTo>
                    <a:cubicBezTo>
                      <a:pt x="252417" y="274577"/>
                      <a:pt x="273463" y="253532"/>
                      <a:pt x="299438" y="253532"/>
                    </a:cubicBezTo>
                    <a:cubicBezTo>
                      <a:pt x="325412" y="253532"/>
                      <a:pt x="346458" y="274577"/>
                      <a:pt x="346458" y="300552"/>
                    </a:cubicBezTo>
                    <a:cubicBezTo>
                      <a:pt x="346458" y="326527"/>
                      <a:pt x="325412" y="347572"/>
                      <a:pt x="299438" y="347572"/>
                    </a:cubicBezTo>
                    <a:close/>
                    <a:moveTo>
                      <a:pt x="299438" y="145818"/>
                    </a:moveTo>
                    <a:cubicBezTo>
                      <a:pt x="273463" y="145818"/>
                      <a:pt x="252417" y="124773"/>
                      <a:pt x="252417" y="98798"/>
                    </a:cubicBezTo>
                    <a:cubicBezTo>
                      <a:pt x="252417" y="72823"/>
                      <a:pt x="273463" y="51778"/>
                      <a:pt x="299438" y="51778"/>
                    </a:cubicBezTo>
                    <a:cubicBezTo>
                      <a:pt x="325412" y="51778"/>
                      <a:pt x="346458" y="72823"/>
                      <a:pt x="346458" y="98798"/>
                    </a:cubicBezTo>
                    <a:cubicBezTo>
                      <a:pt x="346458" y="124773"/>
                      <a:pt x="325412" y="145818"/>
                      <a:pt x="299438" y="145818"/>
                    </a:cubicBezTo>
                    <a:close/>
                    <a:moveTo>
                      <a:pt x="374404" y="466430"/>
                    </a:moveTo>
                    <a:lnTo>
                      <a:pt x="353187" y="445213"/>
                    </a:lnTo>
                    <a:lnTo>
                      <a:pt x="452500" y="345901"/>
                    </a:lnTo>
                    <a:lnTo>
                      <a:pt x="473717" y="367118"/>
                    </a:lnTo>
                    <a:lnTo>
                      <a:pt x="374404" y="466430"/>
                    </a:lnTo>
                    <a:close/>
                    <a:moveTo>
                      <a:pt x="500120" y="348687"/>
                    </a:moveTo>
                    <a:cubicBezTo>
                      <a:pt x="474145" y="348687"/>
                      <a:pt x="453100" y="327641"/>
                      <a:pt x="453100" y="301667"/>
                    </a:cubicBezTo>
                    <a:cubicBezTo>
                      <a:pt x="453100" y="275692"/>
                      <a:pt x="474145" y="254646"/>
                      <a:pt x="500120" y="254646"/>
                    </a:cubicBezTo>
                    <a:cubicBezTo>
                      <a:pt x="526095" y="254646"/>
                      <a:pt x="547140" y="275692"/>
                      <a:pt x="547140" y="301667"/>
                    </a:cubicBezTo>
                    <a:cubicBezTo>
                      <a:pt x="547140" y="327641"/>
                      <a:pt x="526095" y="348687"/>
                      <a:pt x="500120" y="348687"/>
                    </a:cubicBezTo>
                    <a:close/>
                  </a:path>
                </a:pathLst>
              </a:custGeom>
              <a:solidFill>
                <a:srgbClr val="FFFFFF"/>
              </a:solidFill>
              <a:ln>
                <a:noFill/>
              </a:ln>
            </p:spPr>
            <p:txBody>
              <a:bodyPr spcFirstLastPara="1" wrap="square" lIns="180350" tIns="90175" rIns="180350" bIns="901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100"/>
                  <a:buFont typeface="Arial" pitchFamily="2" charset="0"/>
                  <a:buNone/>
                  <a:tabLst/>
                  <a:defRPr/>
                </a:pPr>
                <a:endParaRPr kumimoji="0" sz="11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grpSp>
        <p:grpSp>
          <p:nvGrpSpPr>
            <p:cNvPr id="80" name="Google Shape;7700;g3e0685d0c96_0_10295">
              <a:extLst>
                <a:ext uri="{FF2B5EF4-FFF2-40B4-BE49-F238E27FC236}">
                  <a16:creationId xmlns:a16="http://schemas.microsoft.com/office/drawing/2014/main" id="{23F9BC33-9942-2BB9-A6A0-FB9654FEE0E7}"/>
                </a:ext>
              </a:extLst>
            </p:cNvPr>
            <p:cNvGrpSpPr/>
            <p:nvPr/>
          </p:nvGrpSpPr>
          <p:grpSpPr>
            <a:xfrm>
              <a:off x="5957921" y="3925005"/>
              <a:ext cx="322318" cy="327720"/>
              <a:chOff x="4867512" y="-375234"/>
              <a:chExt cx="329400" cy="329400"/>
            </a:xfrm>
          </p:grpSpPr>
          <p:sp>
            <p:nvSpPr>
              <p:cNvPr id="83" name="Google Shape;7701;g3e0685d0c96_0_10295">
                <a:extLst>
                  <a:ext uri="{FF2B5EF4-FFF2-40B4-BE49-F238E27FC236}">
                    <a16:creationId xmlns:a16="http://schemas.microsoft.com/office/drawing/2014/main" id="{6A0D5C61-CD77-ADB0-F960-97D1FB773390}"/>
                  </a:ext>
                </a:extLst>
              </p:cNvPr>
              <p:cNvSpPr/>
              <p:nvPr/>
            </p:nvSpPr>
            <p:spPr>
              <a:xfrm>
                <a:off x="4867512" y="-375234"/>
                <a:ext cx="329400" cy="329400"/>
              </a:xfrm>
              <a:prstGeom prst="ellipse">
                <a:avLst/>
              </a:prstGeom>
              <a:gradFill>
                <a:gsLst>
                  <a:gs pos="0">
                    <a:srgbClr val="004C63"/>
                  </a:gs>
                  <a:gs pos="51000">
                    <a:schemeClr val="accent3"/>
                  </a:gs>
                  <a:gs pos="100000">
                    <a:schemeClr val="accent3"/>
                  </a:gs>
                </a:gsLst>
                <a:lin ang="18900044" scaled="0"/>
              </a:gradFill>
              <a:ln>
                <a:noFill/>
              </a:ln>
            </p:spPr>
            <p:txBody>
              <a:bodyPr spcFirstLastPara="1" wrap="square" lIns="90175" tIns="45075" rIns="90175" bIns="450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pitchFamily="2" charset="0"/>
                  <a:buNone/>
                  <a:tabLst/>
                  <a:defRPr/>
                </a:pPr>
                <a:endParaRPr kumimoji="0" sz="10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84" name="Google Shape;7702;g3e0685d0c96_0_10295">
                <a:extLst>
                  <a:ext uri="{FF2B5EF4-FFF2-40B4-BE49-F238E27FC236}">
                    <a16:creationId xmlns:a16="http://schemas.microsoft.com/office/drawing/2014/main" id="{FFBA106E-1AB6-27F9-AA51-01C429507509}"/>
                  </a:ext>
                </a:extLst>
              </p:cNvPr>
              <p:cNvSpPr/>
              <p:nvPr/>
            </p:nvSpPr>
            <p:spPr>
              <a:xfrm>
                <a:off x="4958935" y="-292610"/>
                <a:ext cx="147207" cy="164523"/>
              </a:xfrm>
              <a:custGeom>
                <a:avLst/>
                <a:gdLst/>
                <a:ahLst/>
                <a:cxnLst/>
                <a:rect l="l" t="t" r="r" b="b"/>
                <a:pathLst>
                  <a:path w="582999" h="651578" extrusionOk="0">
                    <a:moveTo>
                      <a:pt x="291500" y="0"/>
                    </a:moveTo>
                    <a:cubicBezTo>
                      <a:pt x="452469" y="0"/>
                      <a:pt x="582999" y="34570"/>
                      <a:pt x="582999" y="77247"/>
                    </a:cubicBezTo>
                    <a:lnTo>
                      <a:pt x="582999" y="111460"/>
                    </a:lnTo>
                    <a:cubicBezTo>
                      <a:pt x="582999" y="154086"/>
                      <a:pt x="452469" y="188605"/>
                      <a:pt x="291500" y="188605"/>
                    </a:cubicBezTo>
                    <a:cubicBezTo>
                      <a:pt x="130530" y="188605"/>
                      <a:pt x="0" y="154035"/>
                      <a:pt x="0" y="111460"/>
                    </a:cubicBezTo>
                    <a:lnTo>
                      <a:pt x="0" y="77145"/>
                    </a:lnTo>
                    <a:cubicBezTo>
                      <a:pt x="0" y="34519"/>
                      <a:pt x="130530" y="0"/>
                      <a:pt x="291500" y="0"/>
                    </a:cubicBezTo>
                    <a:close/>
                    <a:moveTo>
                      <a:pt x="582999" y="574433"/>
                    </a:moveTo>
                    <a:cubicBezTo>
                      <a:pt x="582999" y="617059"/>
                      <a:pt x="452469" y="651578"/>
                      <a:pt x="291500" y="651578"/>
                    </a:cubicBezTo>
                    <a:cubicBezTo>
                      <a:pt x="130530" y="651578"/>
                      <a:pt x="0" y="617008"/>
                      <a:pt x="0" y="574433"/>
                    </a:cubicBezTo>
                    <a:lnTo>
                      <a:pt x="0" y="471539"/>
                    </a:lnTo>
                    <a:cubicBezTo>
                      <a:pt x="0" y="514165"/>
                      <a:pt x="130530" y="548684"/>
                      <a:pt x="291500" y="548684"/>
                    </a:cubicBezTo>
                    <a:cubicBezTo>
                      <a:pt x="452469" y="548684"/>
                      <a:pt x="582999" y="514165"/>
                      <a:pt x="582999" y="471590"/>
                    </a:cubicBezTo>
                    <a:lnTo>
                      <a:pt x="582999" y="574382"/>
                    </a:lnTo>
                    <a:close/>
                    <a:moveTo>
                      <a:pt x="582999" y="420092"/>
                    </a:moveTo>
                    <a:cubicBezTo>
                      <a:pt x="582999" y="462718"/>
                      <a:pt x="452469" y="497237"/>
                      <a:pt x="291500" y="497237"/>
                    </a:cubicBezTo>
                    <a:cubicBezTo>
                      <a:pt x="130530" y="497237"/>
                      <a:pt x="0" y="462667"/>
                      <a:pt x="0" y="420092"/>
                    </a:cubicBezTo>
                    <a:lnTo>
                      <a:pt x="0" y="317198"/>
                    </a:lnTo>
                    <a:cubicBezTo>
                      <a:pt x="0" y="359824"/>
                      <a:pt x="130530" y="394343"/>
                      <a:pt x="291500" y="394343"/>
                    </a:cubicBezTo>
                    <a:cubicBezTo>
                      <a:pt x="452469" y="394343"/>
                      <a:pt x="582999" y="359824"/>
                      <a:pt x="582999" y="317249"/>
                    </a:cubicBezTo>
                    <a:lnTo>
                      <a:pt x="582999" y="420092"/>
                    </a:lnTo>
                    <a:close/>
                    <a:moveTo>
                      <a:pt x="582999" y="265751"/>
                    </a:moveTo>
                    <a:cubicBezTo>
                      <a:pt x="582999" y="308377"/>
                      <a:pt x="452469" y="342896"/>
                      <a:pt x="291500" y="342896"/>
                    </a:cubicBezTo>
                    <a:cubicBezTo>
                      <a:pt x="130530" y="342896"/>
                      <a:pt x="0" y="308326"/>
                      <a:pt x="0" y="265751"/>
                    </a:cubicBezTo>
                    <a:lnTo>
                      <a:pt x="0" y="162856"/>
                    </a:lnTo>
                    <a:cubicBezTo>
                      <a:pt x="0" y="205482"/>
                      <a:pt x="130530" y="240001"/>
                      <a:pt x="291500" y="240001"/>
                    </a:cubicBezTo>
                    <a:cubicBezTo>
                      <a:pt x="452469" y="240001"/>
                      <a:pt x="582999" y="205482"/>
                      <a:pt x="582999" y="162907"/>
                    </a:cubicBezTo>
                    <a:lnTo>
                      <a:pt x="582999" y="265751"/>
                    </a:lnTo>
                    <a:close/>
                  </a:path>
                </a:pathLst>
              </a:custGeom>
              <a:solidFill>
                <a:srgbClr val="FFFFFF"/>
              </a:solidFill>
              <a:ln>
                <a:noFill/>
              </a:ln>
            </p:spPr>
            <p:txBody>
              <a:bodyPr spcFirstLastPara="1" wrap="square" lIns="180350" tIns="90175" rIns="180350" bIns="901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100"/>
                  <a:buFont typeface="Arial" pitchFamily="2" charset="0"/>
                  <a:buNone/>
                  <a:tabLst/>
                  <a:defRPr/>
                </a:pPr>
                <a:endParaRPr kumimoji="0" sz="11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grpSp>
        <p:sp>
          <p:nvSpPr>
            <p:cNvPr id="81" name="Google Shape;7703;g3e0685d0c96_0_10295">
              <a:extLst>
                <a:ext uri="{FF2B5EF4-FFF2-40B4-BE49-F238E27FC236}">
                  <a16:creationId xmlns:a16="http://schemas.microsoft.com/office/drawing/2014/main" id="{9B19FBB2-19CA-1BE8-8622-BBF8FD037126}"/>
                </a:ext>
              </a:extLst>
            </p:cNvPr>
            <p:cNvSpPr/>
            <p:nvPr/>
          </p:nvSpPr>
          <p:spPr>
            <a:xfrm>
              <a:off x="7662408" y="3924991"/>
              <a:ext cx="322200" cy="327600"/>
            </a:xfrm>
            <a:prstGeom prst="ellipse">
              <a:avLst/>
            </a:prstGeom>
            <a:gradFill>
              <a:gsLst>
                <a:gs pos="0">
                  <a:srgbClr val="004467"/>
                </a:gs>
                <a:gs pos="51000">
                  <a:schemeClr val="accent1"/>
                </a:gs>
                <a:gs pos="100000">
                  <a:schemeClr val="accent1"/>
                </a:gs>
              </a:gsLst>
              <a:lin ang="18900044" scaled="0"/>
            </a:gradFill>
            <a:ln>
              <a:noFill/>
            </a:ln>
          </p:spPr>
          <p:txBody>
            <a:bodyPr spcFirstLastPara="1" wrap="square" lIns="90175" tIns="45075" rIns="90175" bIns="450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000"/>
                <a:buFont typeface="Arial" pitchFamily="2" charset="0"/>
                <a:buNone/>
                <a:tabLst/>
                <a:defRPr/>
              </a:pPr>
              <a:endParaRPr kumimoji="0" sz="1000" b="0" i="0" u="none" strike="noStrike" kern="1200" cap="none" spc="0" normalizeH="0" baseline="0" noProof="0">
                <a:ln>
                  <a:noFill/>
                </a:ln>
                <a:solidFill>
                  <a:srgbClr val="FFFFFF"/>
                </a:solidFill>
                <a:effectLst/>
                <a:uLnTx/>
                <a:uFillTx/>
                <a:latin typeface="Arial" pitchFamily="2" charset="0"/>
                <a:ea typeface="Arial" pitchFamily="2" charset="0"/>
                <a:cs typeface="Arial" pitchFamily="2" charset="0"/>
                <a:sym typeface="Arial" pitchFamily="2" charset="0"/>
              </a:endParaRPr>
            </a:p>
          </p:txBody>
        </p:sp>
        <p:sp>
          <p:nvSpPr>
            <p:cNvPr id="82" name="Google Shape;7704;g3e0685d0c96_0_10295">
              <a:extLst>
                <a:ext uri="{FF2B5EF4-FFF2-40B4-BE49-F238E27FC236}">
                  <a16:creationId xmlns:a16="http://schemas.microsoft.com/office/drawing/2014/main" id="{A452096C-D0E8-F04D-D23A-03DACFDED0D8}"/>
                </a:ext>
              </a:extLst>
            </p:cNvPr>
            <p:cNvSpPr txBox="1"/>
            <p:nvPr/>
          </p:nvSpPr>
          <p:spPr>
            <a:xfrm>
              <a:off x="7283379" y="4371829"/>
              <a:ext cx="1098300" cy="104700"/>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85000"/>
                </a:lnSpc>
                <a:spcBef>
                  <a:spcPts val="0"/>
                </a:spcBef>
                <a:spcAft>
                  <a:spcPts val="0"/>
                </a:spcAft>
                <a:buClr>
                  <a:srgbClr val="000000"/>
                </a:buClr>
                <a:buSzPts val="800"/>
                <a:buFont typeface="Arial" pitchFamily="2" charset="0"/>
                <a:buNone/>
                <a:tabLst/>
                <a:defRPr/>
              </a:pPr>
              <a:r>
                <a:rPr kumimoji="0" lang="en-US" sz="800" b="1"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rPr>
                <a:t>MANAGEMENT</a:t>
              </a:r>
              <a:endParaRPr kumimoji="0" sz="1100" b="1" i="0" u="none" strike="noStrike" kern="1200" cap="none" spc="0" normalizeH="0" baseline="0" noProof="0">
                <a:ln>
                  <a:noFill/>
                </a:ln>
                <a:solidFill>
                  <a:srgbClr val="000000"/>
                </a:solidFill>
                <a:effectLst/>
                <a:uLnTx/>
                <a:uFillTx/>
                <a:latin typeface="Arial" pitchFamily="2" charset="0"/>
                <a:ea typeface="Arial" pitchFamily="2" charset="0"/>
                <a:cs typeface="Arial" pitchFamily="2" charset="0"/>
                <a:sym typeface="Arial" pitchFamily="2" charset="0"/>
              </a:endParaRPr>
            </a:p>
          </p:txBody>
        </p:sp>
      </p:grpSp>
      <p:pic>
        <p:nvPicPr>
          <p:cNvPr id="89" name="Google Shape;7705;g3e0685d0c96_0_10295">
            <a:extLst>
              <a:ext uri="{FF2B5EF4-FFF2-40B4-BE49-F238E27FC236}">
                <a16:creationId xmlns:a16="http://schemas.microsoft.com/office/drawing/2014/main" id="{CFB0D228-B1B3-91B1-5211-612D86161A44}"/>
              </a:ext>
            </a:extLst>
          </p:cNvPr>
          <p:cNvPicPr preferRelativeResize="0"/>
          <p:nvPr/>
        </p:nvPicPr>
        <p:blipFill rotWithShape="1">
          <a:blip r:embed="rId5">
            <a:alphaModFix/>
          </a:blip>
          <a:srcRect/>
          <a:stretch/>
        </p:blipFill>
        <p:spPr>
          <a:xfrm>
            <a:off x="7071685" y="4675312"/>
            <a:ext cx="227015" cy="227014"/>
          </a:xfrm>
          <a:prstGeom prst="rect">
            <a:avLst/>
          </a:prstGeom>
          <a:noFill/>
          <a:ln>
            <a:noFill/>
          </a:ln>
        </p:spPr>
      </p:pic>
      <p:sp>
        <p:nvSpPr>
          <p:cNvPr id="90" name="Google Shape;7706;g3e0685d0c96_0_10295">
            <a:extLst>
              <a:ext uri="{FF2B5EF4-FFF2-40B4-BE49-F238E27FC236}">
                <a16:creationId xmlns:a16="http://schemas.microsoft.com/office/drawing/2014/main" id="{87F1A9F6-2E0C-E1F3-429E-E0D71872F832}"/>
              </a:ext>
            </a:extLst>
          </p:cNvPr>
          <p:cNvSpPr txBox="1"/>
          <p:nvPr/>
        </p:nvSpPr>
        <p:spPr>
          <a:xfrm>
            <a:off x="8633012" y="6378237"/>
            <a:ext cx="3142928" cy="467790"/>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 Capabilities mentioned here may require additional licensing​</a:t>
            </a:r>
            <a:endParaRPr kumimoji="0" sz="800"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a:ea typeface="+mn-ea"/>
                <a:cs typeface="+mn-cs"/>
              </a:rPr>
              <a:t>​</a:t>
            </a:r>
            <a:endParaRPr kumimoji="0" sz="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20208098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288AF2-3BA8-A135-117A-0EF21CA2FCDB}"/>
            </a:ext>
          </a:extLst>
        </p:cNvPr>
        <p:cNvGrpSpPr/>
        <p:nvPr/>
      </p:nvGrpSpPr>
      <p:grpSpPr>
        <a:xfrm>
          <a:off x="0" y="0"/>
          <a:ext cx="0" cy="0"/>
          <a:chOff x="0" y="0"/>
          <a:chExt cx="0" cy="0"/>
        </a:xfrm>
      </p:grpSpPr>
      <p:cxnSp>
        <p:nvCxnSpPr>
          <p:cNvPr id="30" name="Straight Arrow Connector 29">
            <a:extLst>
              <a:ext uri="{FF2B5EF4-FFF2-40B4-BE49-F238E27FC236}">
                <a16:creationId xmlns:a16="http://schemas.microsoft.com/office/drawing/2014/main" id="{727C2F54-63F6-3845-8F75-C37CE88395D2}"/>
              </a:ext>
            </a:extLst>
          </p:cNvPr>
          <p:cNvCxnSpPr>
            <a:cxnSpLocks/>
          </p:cNvCxnSpPr>
          <p:nvPr/>
        </p:nvCxnSpPr>
        <p:spPr bwMode="gray">
          <a:xfrm flipV="1">
            <a:off x="2616641" y="2674773"/>
            <a:ext cx="240" cy="640080"/>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9" name="Title 8">
            <a:extLst>
              <a:ext uri="{FF2B5EF4-FFF2-40B4-BE49-F238E27FC236}">
                <a16:creationId xmlns:a16="http://schemas.microsoft.com/office/drawing/2014/main" id="{44E20684-65F9-9957-8F28-08B60777DC20}"/>
              </a:ext>
            </a:extLst>
          </p:cNvPr>
          <p:cNvSpPr>
            <a:spLocks noGrp="1"/>
          </p:cNvSpPr>
          <p:nvPr>
            <p:ph type="title"/>
          </p:nvPr>
        </p:nvSpPr>
        <p:spPr/>
        <p:txBody>
          <a:bodyPr/>
          <a:lstStyle/>
          <a:p>
            <a:r>
              <a:rPr lang="en-US" dirty="0">
                <a:solidFill>
                  <a:schemeClr val="accent2"/>
                </a:solidFill>
              </a:rPr>
              <a:t>Unified Identity: One Broker for All VCF Components</a:t>
            </a:r>
          </a:p>
        </p:txBody>
      </p:sp>
      <p:sp>
        <p:nvSpPr>
          <p:cNvPr id="10" name="Subtitle 9">
            <a:extLst>
              <a:ext uri="{FF2B5EF4-FFF2-40B4-BE49-F238E27FC236}">
                <a16:creationId xmlns:a16="http://schemas.microsoft.com/office/drawing/2014/main" id="{78CA5D3A-49E1-E320-D221-E7E0165F9EEC}"/>
              </a:ext>
            </a:extLst>
          </p:cNvPr>
          <p:cNvSpPr>
            <a:spLocks noGrp="1"/>
          </p:cNvSpPr>
          <p:nvPr>
            <p:ph type="subTitle" idx="10"/>
          </p:nvPr>
        </p:nvSpPr>
        <p:spPr/>
        <p:txBody>
          <a:bodyPr/>
          <a:lstStyle/>
          <a:p>
            <a:r>
              <a:rPr lang="en-US" dirty="0"/>
              <a:t>VMware Cloud Foundation SSO</a:t>
            </a:r>
          </a:p>
        </p:txBody>
      </p:sp>
      <p:sp>
        <p:nvSpPr>
          <p:cNvPr id="12" name="Text Placeholder 11">
            <a:extLst>
              <a:ext uri="{FF2B5EF4-FFF2-40B4-BE49-F238E27FC236}">
                <a16:creationId xmlns:a16="http://schemas.microsoft.com/office/drawing/2014/main" id="{A424DD4C-D9B2-04FB-43A2-5A13CA2A8968}"/>
              </a:ext>
            </a:extLst>
          </p:cNvPr>
          <p:cNvSpPr>
            <a:spLocks noGrp="1"/>
          </p:cNvSpPr>
          <p:nvPr>
            <p:ph type="body" sz="quarter" idx="17"/>
          </p:nvPr>
        </p:nvSpPr>
        <p:spPr/>
        <p:txBody>
          <a:bodyPr/>
          <a:lstStyle/>
          <a:p>
            <a:r>
              <a:rPr lang="en-US" sz="1800" dirty="0">
                <a:solidFill>
                  <a:schemeClr val="tx1"/>
                </a:solidFill>
              </a:rPr>
              <a:t>Embedded (in vCenter), standalone, and clustered appliance deployment models</a:t>
            </a:r>
            <a:br>
              <a:rPr lang="en-US" sz="1800" dirty="0">
                <a:solidFill>
                  <a:schemeClr val="tx1"/>
                </a:solidFill>
              </a:rPr>
            </a:br>
            <a:endParaRPr lang="en-US" sz="600" dirty="0">
              <a:solidFill>
                <a:schemeClr val="tx1"/>
              </a:solidFill>
            </a:endParaRPr>
          </a:p>
          <a:p>
            <a:r>
              <a:rPr lang="en-US" sz="1800" dirty="0">
                <a:solidFill>
                  <a:schemeClr val="tx1"/>
                </a:solidFill>
              </a:rPr>
              <a:t>Automatic configuration for vCenter, NSX, Operations,</a:t>
            </a:r>
            <a:br>
              <a:rPr lang="en-US" sz="1800" dirty="0">
                <a:solidFill>
                  <a:schemeClr val="tx1"/>
                </a:solidFill>
              </a:rPr>
            </a:br>
            <a:r>
              <a:rPr lang="en-US" sz="1800" dirty="0">
                <a:solidFill>
                  <a:schemeClr val="tx1"/>
                </a:solidFill>
              </a:rPr>
              <a:t>and Automation</a:t>
            </a:r>
            <a:br>
              <a:rPr lang="en-US" sz="1800" dirty="0">
                <a:solidFill>
                  <a:schemeClr val="tx1"/>
                </a:solidFill>
              </a:rPr>
            </a:br>
            <a:endParaRPr lang="en-US" sz="600" dirty="0">
              <a:solidFill>
                <a:schemeClr val="tx1"/>
              </a:solidFill>
            </a:endParaRPr>
          </a:p>
          <a:p>
            <a:r>
              <a:rPr lang="en-US" sz="1800" dirty="0">
                <a:solidFill>
                  <a:schemeClr val="tx1"/>
                </a:solidFill>
              </a:rPr>
              <a:t>One IdP configuration for VCF management components, but Automation has multitenancy</a:t>
            </a:r>
            <a:br>
              <a:rPr lang="en-US" sz="1800" dirty="0">
                <a:solidFill>
                  <a:schemeClr val="tx1"/>
                </a:solidFill>
              </a:rPr>
            </a:br>
            <a:endParaRPr lang="en-US" sz="600" dirty="0">
              <a:solidFill>
                <a:schemeClr val="tx1"/>
              </a:solidFill>
            </a:endParaRPr>
          </a:p>
          <a:p>
            <a:r>
              <a:rPr lang="en-US" sz="1800" b="1" dirty="0">
                <a:solidFill>
                  <a:schemeClr val="tx1"/>
                </a:solidFill>
                <a:latin typeface="Arial" pitchFamily="2" charset="0"/>
              </a:rPr>
              <a:t>Supports any SAML, OIDC, and AD/LDAPS-based IdP</a:t>
            </a:r>
          </a:p>
        </p:txBody>
      </p:sp>
      <p:sp>
        <p:nvSpPr>
          <p:cNvPr id="3" name="Rectangle 2">
            <a:extLst>
              <a:ext uri="{FF2B5EF4-FFF2-40B4-BE49-F238E27FC236}">
                <a16:creationId xmlns:a16="http://schemas.microsoft.com/office/drawing/2014/main" id="{A3603A66-93B7-77E9-F938-766A0CBF2844}"/>
              </a:ext>
            </a:extLst>
          </p:cNvPr>
          <p:cNvSpPr/>
          <p:nvPr/>
        </p:nvSpPr>
        <p:spPr bwMode="gray">
          <a:xfrm>
            <a:off x="1374588" y="1712687"/>
            <a:ext cx="5444042" cy="688788"/>
          </a:xfrm>
          <a:prstGeom prst="rect">
            <a:avLst/>
          </a:prstGeom>
          <a:solidFill>
            <a:schemeClr val="accent5"/>
          </a:solidFill>
          <a:ln w="127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VCF Identity Broker (VIDB)</a:t>
            </a:r>
          </a:p>
        </p:txBody>
      </p:sp>
      <p:sp>
        <p:nvSpPr>
          <p:cNvPr id="5" name="Rectangle 4">
            <a:extLst>
              <a:ext uri="{FF2B5EF4-FFF2-40B4-BE49-F238E27FC236}">
                <a16:creationId xmlns:a16="http://schemas.microsoft.com/office/drawing/2014/main" id="{B150EB32-169C-2E42-EE04-091D7FD3821D}"/>
              </a:ext>
            </a:extLst>
          </p:cNvPr>
          <p:cNvSpPr/>
          <p:nvPr/>
        </p:nvSpPr>
        <p:spPr bwMode="gray">
          <a:xfrm>
            <a:off x="5364091" y="3314852"/>
            <a:ext cx="1454539" cy="2427357"/>
          </a:xfrm>
          <a:prstGeom prst="rect">
            <a:avLst/>
          </a:prstGeom>
          <a:noFill/>
          <a:ln w="12700">
            <a:solidFill>
              <a:schemeClr val="tx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rPr>
              <a:t>\</a:t>
            </a:r>
          </a:p>
        </p:txBody>
      </p:sp>
      <p:cxnSp>
        <p:nvCxnSpPr>
          <p:cNvPr id="13" name="Straight Arrow Connector 12">
            <a:extLst>
              <a:ext uri="{FF2B5EF4-FFF2-40B4-BE49-F238E27FC236}">
                <a16:creationId xmlns:a16="http://schemas.microsoft.com/office/drawing/2014/main" id="{BE15B2AF-38A7-2270-640B-3E482812EC80}"/>
              </a:ext>
            </a:extLst>
          </p:cNvPr>
          <p:cNvCxnSpPr>
            <a:cxnSpLocks/>
          </p:cNvCxnSpPr>
          <p:nvPr/>
        </p:nvCxnSpPr>
        <p:spPr bwMode="gray">
          <a:xfrm>
            <a:off x="2616641" y="2679845"/>
            <a:ext cx="3474720" cy="0"/>
          </a:xfrm>
          <a:prstGeom prst="straightConnector1">
            <a:avLst/>
          </a:prstGeom>
          <a:ln w="127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03ECC920-FE72-8E20-12FA-C30FE4973513}"/>
              </a:ext>
            </a:extLst>
          </p:cNvPr>
          <p:cNvSpPr txBox="1"/>
          <p:nvPr/>
        </p:nvSpPr>
        <p:spPr>
          <a:xfrm>
            <a:off x="2099860" y="2946602"/>
            <a:ext cx="1033562" cy="153888"/>
          </a:xfrm>
          <a:prstGeom prst="rect">
            <a:avLst/>
          </a:prstGeom>
          <a:solidFill>
            <a:schemeClr val="bg1"/>
          </a:solid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SAML/OIDC</a:t>
            </a:r>
          </a:p>
        </p:txBody>
      </p:sp>
      <p:pic>
        <p:nvPicPr>
          <p:cNvPr id="20" name="Picture 2" descr="The Power of Microsoft Active Directory ...">
            <a:extLst>
              <a:ext uri="{FF2B5EF4-FFF2-40B4-BE49-F238E27FC236}">
                <a16:creationId xmlns:a16="http://schemas.microsoft.com/office/drawing/2014/main" id="{67508261-44D7-21DC-E80F-A0DF5CE35FD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5949" t="12047" r="17759" b="18643"/>
          <a:stretch>
            <a:fillRect/>
          </a:stretch>
        </p:blipFill>
        <p:spPr bwMode="auto">
          <a:xfrm>
            <a:off x="5526475" y="3599672"/>
            <a:ext cx="1164922" cy="828390"/>
          </a:xfrm>
          <a:prstGeom prst="rect">
            <a:avLst/>
          </a:prstGeom>
          <a:noFill/>
          <a:extLst>
            <a:ext uri="{909E8E84-426E-40DD-AFC4-6F175D3DCCD1}">
              <a14:hiddenFill xmlns:a14="http://schemas.microsoft.com/office/drawing/2010/main">
                <a:solidFill>
                  <a:srgbClr val="FFFFFF"/>
                </a:solidFill>
              </a14:hiddenFill>
            </a:ext>
          </a:extLst>
        </p:spPr>
      </p:pic>
      <p:cxnSp>
        <p:nvCxnSpPr>
          <p:cNvPr id="31" name="Straight Arrow Connector 30">
            <a:extLst>
              <a:ext uri="{FF2B5EF4-FFF2-40B4-BE49-F238E27FC236}">
                <a16:creationId xmlns:a16="http://schemas.microsoft.com/office/drawing/2014/main" id="{6A6F3AC8-C496-32E0-EF29-53D9CD49DA56}"/>
              </a:ext>
            </a:extLst>
          </p:cNvPr>
          <p:cNvCxnSpPr>
            <a:cxnSpLocks/>
          </p:cNvCxnSpPr>
          <p:nvPr/>
        </p:nvCxnSpPr>
        <p:spPr bwMode="gray">
          <a:xfrm flipV="1">
            <a:off x="3732599" y="2404925"/>
            <a:ext cx="0" cy="274320"/>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762A095B-25D0-D221-D461-D79F0AD2A9CD}"/>
              </a:ext>
            </a:extLst>
          </p:cNvPr>
          <p:cNvGrpSpPr/>
          <p:nvPr/>
        </p:nvGrpSpPr>
        <p:grpSpPr>
          <a:xfrm>
            <a:off x="1377408" y="3314853"/>
            <a:ext cx="3882679" cy="2427360"/>
            <a:chOff x="414708" y="3845037"/>
            <a:chExt cx="3882679" cy="2427360"/>
          </a:xfrm>
        </p:grpSpPr>
        <p:sp>
          <p:nvSpPr>
            <p:cNvPr id="4" name="Rectangle 3">
              <a:extLst>
                <a:ext uri="{FF2B5EF4-FFF2-40B4-BE49-F238E27FC236}">
                  <a16:creationId xmlns:a16="http://schemas.microsoft.com/office/drawing/2014/main" id="{D4CBC1B1-DAD6-311E-3EE8-0D72C7785FEA}"/>
                </a:ext>
              </a:extLst>
            </p:cNvPr>
            <p:cNvSpPr/>
            <p:nvPr/>
          </p:nvSpPr>
          <p:spPr bwMode="gray">
            <a:xfrm>
              <a:off x="414708" y="3845037"/>
              <a:ext cx="3882679" cy="2427360"/>
            </a:xfrm>
            <a:prstGeom prst="rect">
              <a:avLst/>
            </a:prstGeom>
            <a:noFill/>
            <a:ln w="12700">
              <a:solidFill>
                <a:schemeClr val="tx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pic>
          <p:nvPicPr>
            <p:cNvPr id="21" name="Picture 4" descr="Identity Management with PingID Integration">
              <a:extLst>
                <a:ext uri="{FF2B5EF4-FFF2-40B4-BE49-F238E27FC236}">
                  <a16:creationId xmlns:a16="http://schemas.microsoft.com/office/drawing/2014/main" id="{AC028C92-BBD5-F6A3-182E-C8980C1DAFDB}"/>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9724" t="17051" r="22582" b="23513"/>
            <a:stretch>
              <a:fillRect/>
            </a:stretch>
          </p:blipFill>
          <p:spPr bwMode="auto">
            <a:xfrm>
              <a:off x="2509004" y="4772111"/>
              <a:ext cx="641541" cy="660913"/>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6" descr="Okta Logo PNG Vector (SVG) Free Download">
              <a:extLst>
                <a:ext uri="{FF2B5EF4-FFF2-40B4-BE49-F238E27FC236}">
                  <a16:creationId xmlns:a16="http://schemas.microsoft.com/office/drawing/2014/main" id="{3580A58E-5495-ECFB-478A-DCDF14454130}"/>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t="32811" b="31765"/>
            <a:stretch>
              <a:fillRect/>
            </a:stretch>
          </p:blipFill>
          <p:spPr bwMode="auto">
            <a:xfrm>
              <a:off x="3035537" y="5622065"/>
              <a:ext cx="972846" cy="344613"/>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8" descr="Microsoft Entra ID - Wikipedia">
              <a:extLst>
                <a:ext uri="{FF2B5EF4-FFF2-40B4-BE49-F238E27FC236}">
                  <a16:creationId xmlns:a16="http://schemas.microsoft.com/office/drawing/2014/main" id="{86414EE7-55D0-9791-20F7-566952ADC75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27650" y="5344398"/>
              <a:ext cx="728397" cy="728397"/>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10" descr="CVE-2022-47966 SAML ShowStopper">
              <a:extLst>
                <a:ext uri="{FF2B5EF4-FFF2-40B4-BE49-F238E27FC236}">
                  <a16:creationId xmlns:a16="http://schemas.microsoft.com/office/drawing/2014/main" id="{9E8015A9-3C4A-DFA6-E588-9DAC132D4CB1}"/>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7606" t="34217" r="19966" b="33888"/>
            <a:stretch>
              <a:fillRect/>
            </a:stretch>
          </p:blipFill>
          <p:spPr bwMode="auto">
            <a:xfrm>
              <a:off x="2893174" y="4207644"/>
              <a:ext cx="1115209" cy="326136"/>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Symantec VIP - Two Factor Authentication Anywhere">
              <a:extLst>
                <a:ext uri="{FF2B5EF4-FFF2-40B4-BE49-F238E27FC236}">
                  <a16:creationId xmlns:a16="http://schemas.microsoft.com/office/drawing/2014/main" id="{220C1188-B1BD-CC62-DC95-BE043F24BF2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91916" y="4113622"/>
              <a:ext cx="1924050" cy="409575"/>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37" name="Straight Arrow Connector 36">
            <a:extLst>
              <a:ext uri="{FF2B5EF4-FFF2-40B4-BE49-F238E27FC236}">
                <a16:creationId xmlns:a16="http://schemas.microsoft.com/office/drawing/2014/main" id="{D3A4ED94-3BA4-C2DB-3A3C-FC5E2F11A912}"/>
              </a:ext>
            </a:extLst>
          </p:cNvPr>
          <p:cNvCxnSpPr>
            <a:cxnSpLocks/>
          </p:cNvCxnSpPr>
          <p:nvPr/>
        </p:nvCxnSpPr>
        <p:spPr bwMode="gray">
          <a:xfrm flipV="1">
            <a:off x="6074811" y="2686746"/>
            <a:ext cx="240" cy="640080"/>
          </a:xfrm>
          <a:prstGeom prst="straightConnector1">
            <a:avLst/>
          </a:prstGeom>
          <a:ln w="127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25A6041C-3BFD-DA2C-F44A-BCCEC73971D8}"/>
              </a:ext>
            </a:extLst>
          </p:cNvPr>
          <p:cNvSpPr txBox="1"/>
          <p:nvPr/>
        </p:nvSpPr>
        <p:spPr>
          <a:xfrm>
            <a:off x="5568974" y="2946602"/>
            <a:ext cx="1033562" cy="153888"/>
          </a:xfrm>
          <a:prstGeom prst="rect">
            <a:avLst/>
          </a:prstGeom>
          <a:solidFill>
            <a:schemeClr val="bg1"/>
          </a:solid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1B1D36"/>
                </a:solidFill>
                <a:effectLst/>
                <a:uLnTx/>
                <a:uFillTx/>
                <a:latin typeface="Arial" panose="020B0604020202020204"/>
                <a:ea typeface="+mn-ea"/>
                <a:cs typeface="+mn-cs"/>
              </a:rPr>
              <a:t>LDAPS</a:t>
            </a:r>
          </a:p>
        </p:txBody>
      </p:sp>
      <p:pic>
        <p:nvPicPr>
          <p:cNvPr id="6" name="Graphic 5">
            <a:extLst>
              <a:ext uri="{FF2B5EF4-FFF2-40B4-BE49-F238E27FC236}">
                <a16:creationId xmlns:a16="http://schemas.microsoft.com/office/drawing/2014/main" id="{1127A5FA-3E63-DFD6-3C38-971B03957639}"/>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654616" y="4241927"/>
            <a:ext cx="724318" cy="724318"/>
          </a:xfrm>
          <a:prstGeom prst="rect">
            <a:avLst/>
          </a:prstGeom>
        </p:spPr>
      </p:pic>
      <p:pic>
        <p:nvPicPr>
          <p:cNvPr id="2" name="Picture 2" descr="OpenLDAP">
            <a:extLst>
              <a:ext uri="{FF2B5EF4-FFF2-40B4-BE49-F238E27FC236}">
                <a16:creationId xmlns:a16="http://schemas.microsoft.com/office/drawing/2014/main" id="{2B2D44D7-42ED-CE81-F32A-4488CF4C737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47567" y="4851322"/>
            <a:ext cx="1076375" cy="42349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349935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22E82A-7603-7175-DE67-EFABAD6CB1D7}"/>
            </a:ext>
          </a:extLst>
        </p:cNvPr>
        <p:cNvGrpSpPr/>
        <p:nvPr/>
      </p:nvGrpSpPr>
      <p:grpSpPr>
        <a:xfrm>
          <a:off x="0" y="0"/>
          <a:ext cx="0" cy="0"/>
          <a:chOff x="0" y="0"/>
          <a:chExt cx="0" cy="0"/>
        </a:xfrm>
      </p:grpSpPr>
      <p:sp>
        <p:nvSpPr>
          <p:cNvPr id="10" name="Title 9">
            <a:extLst>
              <a:ext uri="{FF2B5EF4-FFF2-40B4-BE49-F238E27FC236}">
                <a16:creationId xmlns:a16="http://schemas.microsoft.com/office/drawing/2014/main" id="{1C824D15-F441-A3F3-6690-6C8E80075329}"/>
              </a:ext>
            </a:extLst>
          </p:cNvPr>
          <p:cNvSpPr>
            <a:spLocks noGrp="1"/>
          </p:cNvSpPr>
          <p:nvPr>
            <p:ph type="title"/>
          </p:nvPr>
        </p:nvSpPr>
        <p:spPr/>
        <p:txBody>
          <a:bodyPr/>
          <a:lstStyle/>
          <a:p>
            <a:r>
              <a:rPr lang="en-IN" dirty="0">
                <a:solidFill>
                  <a:schemeClr val="accent2"/>
                </a:solidFill>
              </a:rPr>
              <a:t>One-Stop Dashboard for Baseline Security Operations</a:t>
            </a:r>
            <a:endParaRPr lang="en-US" dirty="0">
              <a:solidFill>
                <a:schemeClr val="accent2"/>
              </a:solidFill>
            </a:endParaRPr>
          </a:p>
        </p:txBody>
      </p:sp>
      <p:sp>
        <p:nvSpPr>
          <p:cNvPr id="3" name="Subtitle 2">
            <a:extLst>
              <a:ext uri="{FF2B5EF4-FFF2-40B4-BE49-F238E27FC236}">
                <a16:creationId xmlns:a16="http://schemas.microsoft.com/office/drawing/2014/main" id="{7F26ABE4-FA55-42C0-A9A6-A64ABF8097C5}"/>
              </a:ext>
            </a:extLst>
          </p:cNvPr>
          <p:cNvSpPr>
            <a:spLocks noGrp="1"/>
          </p:cNvSpPr>
          <p:nvPr>
            <p:ph type="subTitle" idx="10"/>
          </p:nvPr>
        </p:nvSpPr>
        <p:spPr/>
        <p:txBody>
          <a:bodyPr/>
          <a:lstStyle/>
          <a:p>
            <a:r>
              <a:rPr lang="en-IN" dirty="0"/>
              <a:t>VCF Operations Security Dashboards</a:t>
            </a:r>
            <a:endParaRPr lang="en-US" dirty="0"/>
          </a:p>
        </p:txBody>
      </p:sp>
      <p:sp>
        <p:nvSpPr>
          <p:cNvPr id="12" name="Text Placeholder 11">
            <a:extLst>
              <a:ext uri="{FF2B5EF4-FFF2-40B4-BE49-F238E27FC236}">
                <a16:creationId xmlns:a16="http://schemas.microsoft.com/office/drawing/2014/main" id="{B5479604-7623-AB7F-CB6C-42F99270172F}"/>
              </a:ext>
            </a:extLst>
          </p:cNvPr>
          <p:cNvSpPr>
            <a:spLocks noGrp="1"/>
          </p:cNvSpPr>
          <p:nvPr>
            <p:ph type="body" sz="quarter" idx="17"/>
          </p:nvPr>
        </p:nvSpPr>
        <p:spPr>
          <a:xfrm>
            <a:off x="8380412" y="1600200"/>
            <a:ext cx="3898673" cy="4572000"/>
          </a:xfrm>
        </p:spPr>
        <p:txBody>
          <a:bodyPr/>
          <a:lstStyle/>
          <a:p>
            <a:r>
              <a:rPr lang="en-US" sz="1800" dirty="0">
                <a:solidFill>
                  <a:schemeClr val="tx1"/>
                </a:solidFill>
              </a:rPr>
              <a:t>Overview provides insight into user and infrastructure security</a:t>
            </a:r>
          </a:p>
          <a:p>
            <a:endParaRPr lang="en-US" sz="1800" dirty="0">
              <a:solidFill>
                <a:schemeClr val="tx1"/>
              </a:solidFill>
            </a:endParaRPr>
          </a:p>
          <a:p>
            <a:r>
              <a:rPr lang="en-US" sz="1800" dirty="0">
                <a:solidFill>
                  <a:schemeClr val="tx1"/>
                </a:solidFill>
              </a:rPr>
              <a:t>Configurable baselines for assessments</a:t>
            </a:r>
          </a:p>
          <a:p>
            <a:endParaRPr lang="en-US" sz="1800" dirty="0">
              <a:solidFill>
                <a:schemeClr val="tx1"/>
              </a:solidFill>
            </a:endParaRPr>
          </a:p>
          <a:p>
            <a:r>
              <a:rPr lang="en-US" sz="1800" dirty="0">
                <a:solidFill>
                  <a:schemeClr val="tx1"/>
                </a:solidFill>
              </a:rPr>
              <a:t>Be notified quickly when things change</a:t>
            </a:r>
          </a:p>
          <a:p>
            <a:endParaRPr lang="en-US" sz="1800" dirty="0">
              <a:solidFill>
                <a:schemeClr val="tx1"/>
              </a:solidFill>
              <a:latin typeface="Arial" panose="020B0604020202020204" pitchFamily="34" charset="0"/>
            </a:endParaRPr>
          </a:p>
          <a:p>
            <a:r>
              <a:rPr lang="en-US" sz="1800" dirty="0">
                <a:solidFill>
                  <a:schemeClr val="tx1"/>
                </a:solidFill>
                <a:latin typeface="Arial" panose="020B0604020202020204" pitchFamily="34" charset="0"/>
              </a:rPr>
              <a:t>Continuous monitoring replaces trust with data</a:t>
            </a:r>
          </a:p>
        </p:txBody>
      </p:sp>
      <p:pic>
        <p:nvPicPr>
          <p:cNvPr id="17" name="Content Placeholder 16">
            <a:extLst>
              <a:ext uri="{FF2B5EF4-FFF2-40B4-BE49-F238E27FC236}">
                <a16:creationId xmlns:a16="http://schemas.microsoft.com/office/drawing/2014/main" id="{72C6642D-2E2A-5DAD-DBD3-DB09D10B19B1}"/>
              </a:ext>
            </a:extLst>
          </p:cNvPr>
          <p:cNvPicPr>
            <a:picLocks noGrp="1" noChangeAspect="1"/>
          </p:cNvPicPr>
          <p:nvPr>
            <p:ph sz="quarter" idx="14"/>
          </p:nvPr>
        </p:nvPicPr>
        <p:blipFill>
          <a:blip r:embed="rId3"/>
          <a:srcRect/>
          <a:stretch/>
        </p:blipFill>
        <p:spPr>
          <a:xfrm>
            <a:off x="592866" y="1600200"/>
            <a:ext cx="7397750" cy="4397230"/>
          </a:xfrm>
          <a:ln>
            <a:solidFill>
              <a:schemeClr val="tx1"/>
            </a:solidFill>
          </a:ln>
        </p:spPr>
      </p:pic>
    </p:spTree>
    <p:extLst>
      <p:ext uri="{BB962C8B-B14F-4D97-AF65-F5344CB8AC3E}">
        <p14:creationId xmlns:p14="http://schemas.microsoft.com/office/powerpoint/2010/main" val="98868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90B1BC23-B1B1-F958-FDD1-1B48AD249AF7}"/>
              </a:ext>
            </a:extLst>
          </p:cNvPr>
          <p:cNvSpPr>
            <a:spLocks noGrp="1"/>
          </p:cNvSpPr>
          <p:nvPr>
            <p:ph type="title"/>
          </p:nvPr>
        </p:nvSpPr>
        <p:spPr>
          <a:xfrm>
            <a:off x="579809" y="412751"/>
            <a:ext cx="11001004" cy="381000"/>
          </a:xfrm>
        </p:spPr>
        <p:txBody>
          <a:bodyPr/>
          <a:lstStyle/>
          <a:p>
            <a:r>
              <a:rPr lang="en-US" dirty="0">
                <a:solidFill>
                  <a:schemeClr val="accent2"/>
                </a:solidFill>
              </a:rPr>
              <a:t>Know Where Your Security Stands</a:t>
            </a:r>
          </a:p>
        </p:txBody>
      </p:sp>
      <p:sp>
        <p:nvSpPr>
          <p:cNvPr id="7" name="Subtitle 6">
            <a:extLst>
              <a:ext uri="{FF2B5EF4-FFF2-40B4-BE49-F238E27FC236}">
                <a16:creationId xmlns:a16="http://schemas.microsoft.com/office/drawing/2014/main" id="{F073DB5F-6770-1929-905A-DEA80EE01593}"/>
              </a:ext>
            </a:extLst>
          </p:cNvPr>
          <p:cNvSpPr>
            <a:spLocks noGrp="1"/>
          </p:cNvSpPr>
          <p:nvPr>
            <p:ph type="subTitle" idx="10"/>
          </p:nvPr>
        </p:nvSpPr>
        <p:spPr>
          <a:xfrm>
            <a:off x="592866" y="811830"/>
            <a:ext cx="10962687" cy="247743"/>
          </a:xfrm>
        </p:spPr>
        <p:txBody>
          <a:bodyPr/>
          <a:lstStyle/>
          <a:p>
            <a:r>
              <a:rPr lang="en-US" dirty="0"/>
              <a:t>Continuous Compliance Enforcement &amp; Security Posture Management</a:t>
            </a:r>
          </a:p>
        </p:txBody>
      </p:sp>
      <p:sp>
        <p:nvSpPr>
          <p:cNvPr id="9" name="Text Placeholder 8">
            <a:extLst>
              <a:ext uri="{FF2B5EF4-FFF2-40B4-BE49-F238E27FC236}">
                <a16:creationId xmlns:a16="http://schemas.microsoft.com/office/drawing/2014/main" id="{D9F44614-B402-C060-D7EA-E9726FA0ACB3}"/>
              </a:ext>
            </a:extLst>
          </p:cNvPr>
          <p:cNvSpPr>
            <a:spLocks noGrp="1"/>
          </p:cNvSpPr>
          <p:nvPr>
            <p:ph type="body" sz="quarter" idx="20"/>
          </p:nvPr>
        </p:nvSpPr>
        <p:spPr>
          <a:xfrm>
            <a:off x="9294812" y="1609531"/>
            <a:ext cx="2894013" cy="4572000"/>
          </a:xfrm>
        </p:spPr>
        <p:txBody>
          <a:bodyPr/>
          <a:lstStyle/>
          <a:p>
            <a:pPr marL="114300" indent="0">
              <a:buNone/>
            </a:pPr>
            <a:r>
              <a:rPr lang="en-US" dirty="0">
                <a:solidFill>
                  <a:schemeClr val="tx1"/>
                </a:solidFill>
              </a:rPr>
              <a:t>See exactly where your environment stands against common baselines</a:t>
            </a:r>
          </a:p>
          <a:p>
            <a:pPr marL="114300" indent="0">
              <a:buNone/>
            </a:pPr>
            <a:r>
              <a:rPr lang="en-US" dirty="0">
                <a:solidFill>
                  <a:schemeClr val="tx1"/>
                </a:solidFill>
              </a:rPr>
              <a:t>Be alerted when settings change</a:t>
            </a:r>
          </a:p>
          <a:p>
            <a:pPr marL="114300" indent="0">
              <a:buNone/>
            </a:pPr>
            <a:r>
              <a:rPr lang="en-US" dirty="0">
                <a:solidFill>
                  <a:schemeClr val="tx1"/>
                </a:solidFill>
              </a:rPr>
              <a:t>Search audit logs to see what changed and who changed it</a:t>
            </a:r>
          </a:p>
          <a:p>
            <a:pPr marL="114300" indent="0">
              <a:buNone/>
            </a:pPr>
            <a:r>
              <a:rPr lang="en-US" dirty="0">
                <a:solidFill>
                  <a:schemeClr val="tx1"/>
                </a:solidFill>
              </a:rPr>
              <a:t>Unified with vCenter Desired State</a:t>
            </a:r>
          </a:p>
        </p:txBody>
      </p:sp>
      <p:pic>
        <p:nvPicPr>
          <p:cNvPr id="14" name="Content Placeholder 13">
            <a:extLst>
              <a:ext uri="{FF2B5EF4-FFF2-40B4-BE49-F238E27FC236}">
                <a16:creationId xmlns:a16="http://schemas.microsoft.com/office/drawing/2014/main" id="{DF9BDD91-FD31-7A2A-1779-B5D13F83C442}"/>
              </a:ext>
            </a:extLst>
          </p:cNvPr>
          <p:cNvPicPr>
            <a:picLocks noGrp="1" noChangeAspect="1"/>
          </p:cNvPicPr>
          <p:nvPr>
            <p:ph sz="quarter" idx="19"/>
          </p:nvPr>
        </p:nvPicPr>
        <p:blipFill>
          <a:blip r:embed="rId3"/>
          <a:stretch>
            <a:fillRect/>
          </a:stretch>
        </p:blipFill>
        <p:spPr>
          <a:xfrm>
            <a:off x="630238" y="1608138"/>
            <a:ext cx="8128000" cy="4572000"/>
          </a:xfrm>
          <a:ln>
            <a:solidFill>
              <a:schemeClr val="accent1"/>
            </a:solidFill>
          </a:ln>
        </p:spPr>
      </p:pic>
      <p:sp>
        <p:nvSpPr>
          <p:cNvPr id="13" name="Trapezoid 12" descr="Plum flag with white text">
            <a:extLst>
              <a:ext uri="{FF2B5EF4-FFF2-40B4-BE49-F238E27FC236}">
                <a16:creationId xmlns:a16="http://schemas.microsoft.com/office/drawing/2014/main" id="{58B00071-E71B-C442-535F-47060970C8E0}"/>
              </a:ext>
            </a:extLst>
          </p:cNvPr>
          <p:cNvSpPr/>
          <p:nvPr/>
        </p:nvSpPr>
        <p:spPr bwMode="gray">
          <a:xfrm flipH="1">
            <a:off x="10873742" y="379264"/>
            <a:ext cx="2001609" cy="447973"/>
          </a:xfrm>
          <a:prstGeom prst="trapezoid">
            <a:avLst>
              <a:gd name="adj" fmla="val 1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74320" tIns="45720" rIns="548640" bIns="91440" numCol="1" spcCol="0" rtlCol="0" fromWordArt="0" anchor="ctr" anchorCtr="0" forceAA="0" compatLnSpc="1">
            <a:prstTxWarp prst="textNoShape">
              <a:avLst/>
            </a:prstTxWarp>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anose="020B0604020202020204"/>
                <a:ea typeface="+mn-ea"/>
                <a:cs typeface="+mn-cs"/>
              </a:rPr>
              <a:t>ACC</a:t>
            </a:r>
            <a:endPar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1375055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adec="http://schemas.microsoft.com/office/drawing/2017/decorative" xmlns="">
      <p:transition spd="med">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1CF703-D9F9-53F6-B08E-B3C61FD55A3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28A4950A-6E38-CDC4-C5C2-EE7005E67C8A}"/>
              </a:ext>
            </a:extLst>
          </p:cNvPr>
          <p:cNvSpPr>
            <a:spLocks noGrp="1"/>
          </p:cNvSpPr>
          <p:nvPr>
            <p:ph type="title"/>
          </p:nvPr>
        </p:nvSpPr>
        <p:spPr/>
        <p:txBody>
          <a:bodyPr/>
          <a:lstStyle/>
          <a:p>
            <a:r>
              <a:rPr lang="en-US" dirty="0"/>
              <a:t>Trusted Execution Environments Create Strong Boundaries</a:t>
            </a:r>
          </a:p>
        </p:txBody>
      </p:sp>
      <p:sp>
        <p:nvSpPr>
          <p:cNvPr id="8" name="Subtitle 7">
            <a:extLst>
              <a:ext uri="{FF2B5EF4-FFF2-40B4-BE49-F238E27FC236}">
                <a16:creationId xmlns:a16="http://schemas.microsoft.com/office/drawing/2014/main" id="{E6D103A1-0AF1-F0B0-B484-1FCFC742F0C7}"/>
              </a:ext>
            </a:extLst>
          </p:cNvPr>
          <p:cNvSpPr>
            <a:spLocks noGrp="1"/>
          </p:cNvSpPr>
          <p:nvPr>
            <p:ph type="subTitle" idx="10"/>
          </p:nvPr>
        </p:nvSpPr>
        <p:spPr/>
        <p:txBody>
          <a:bodyPr/>
          <a:lstStyle/>
          <a:p>
            <a:r>
              <a:rPr lang="en-US" dirty="0"/>
              <a:t>Confidential Computing in VCF Advanced Cyber Compliance</a:t>
            </a:r>
          </a:p>
        </p:txBody>
      </p:sp>
      <p:grpSp>
        <p:nvGrpSpPr>
          <p:cNvPr id="117" name="Group 116" descr="ESXi box">
            <a:extLst>
              <a:ext uri="{FF2B5EF4-FFF2-40B4-BE49-F238E27FC236}">
                <a16:creationId xmlns:a16="http://schemas.microsoft.com/office/drawing/2014/main" id="{1F3A4A45-0DBB-2196-8492-582CBC5CE694}"/>
              </a:ext>
            </a:extLst>
          </p:cNvPr>
          <p:cNvGrpSpPr/>
          <p:nvPr/>
        </p:nvGrpSpPr>
        <p:grpSpPr>
          <a:xfrm>
            <a:off x="608139" y="1407293"/>
            <a:ext cx="10972674" cy="3629863"/>
            <a:chOff x="608139" y="1352551"/>
            <a:chExt cx="10972674" cy="3629863"/>
          </a:xfrm>
        </p:grpSpPr>
        <p:sp>
          <p:nvSpPr>
            <p:cNvPr id="118" name="Rectangle 117">
              <a:extLst>
                <a:ext uri="{FF2B5EF4-FFF2-40B4-BE49-F238E27FC236}">
                  <a16:creationId xmlns:a16="http://schemas.microsoft.com/office/drawing/2014/main" id="{CA6A6881-7467-81DE-A9E5-D7D710B3E65E}"/>
                </a:ext>
              </a:extLst>
            </p:cNvPr>
            <p:cNvSpPr/>
            <p:nvPr/>
          </p:nvSpPr>
          <p:spPr>
            <a:xfrm>
              <a:off x="608139" y="1352551"/>
              <a:ext cx="10972674" cy="3629863"/>
            </a:xfrm>
            <a:prstGeom prst="rect">
              <a:avLst/>
            </a:prstGeom>
            <a:solidFill>
              <a:srgbClr val="F4F8FA"/>
            </a:solidFill>
            <a:ln w="25400">
              <a:solidFill>
                <a:schemeClr val="accent2"/>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19" name="TextBox 118">
              <a:extLst>
                <a:ext uri="{FF2B5EF4-FFF2-40B4-BE49-F238E27FC236}">
                  <a16:creationId xmlns:a16="http://schemas.microsoft.com/office/drawing/2014/main" id="{480D3404-4127-2559-C5DC-6161DB148DE2}"/>
                </a:ext>
              </a:extLst>
            </p:cNvPr>
            <p:cNvSpPr txBox="1"/>
            <p:nvPr/>
          </p:nvSpPr>
          <p:spPr>
            <a:xfrm>
              <a:off x="4393130" y="4622187"/>
              <a:ext cx="3402565"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ESX</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120" name="Group 119" descr="CPU and memory">
            <a:extLst>
              <a:ext uri="{FF2B5EF4-FFF2-40B4-BE49-F238E27FC236}">
                <a16:creationId xmlns:a16="http://schemas.microsoft.com/office/drawing/2014/main" id="{7C06842C-BDB8-8F4E-DFA8-B36947CD0BCE}"/>
              </a:ext>
            </a:extLst>
          </p:cNvPr>
          <p:cNvGrpSpPr/>
          <p:nvPr/>
        </p:nvGrpSpPr>
        <p:grpSpPr>
          <a:xfrm>
            <a:off x="608139" y="5131812"/>
            <a:ext cx="10972674" cy="451827"/>
            <a:chOff x="608139" y="4981291"/>
            <a:chExt cx="10972674" cy="451827"/>
          </a:xfrm>
          <a:solidFill>
            <a:schemeClr val="accent2">
              <a:lumMod val="20000"/>
              <a:lumOff val="80000"/>
            </a:schemeClr>
          </a:solidFill>
        </p:grpSpPr>
        <p:sp>
          <p:nvSpPr>
            <p:cNvPr id="121" name="Rectangle 120">
              <a:extLst>
                <a:ext uri="{FF2B5EF4-FFF2-40B4-BE49-F238E27FC236}">
                  <a16:creationId xmlns:a16="http://schemas.microsoft.com/office/drawing/2014/main" id="{58A372A3-43AD-2964-AF3F-0234831A9460}"/>
                </a:ext>
              </a:extLst>
            </p:cNvPr>
            <p:cNvSpPr/>
            <p:nvPr/>
          </p:nvSpPr>
          <p:spPr>
            <a:xfrm>
              <a:off x="608139" y="4981291"/>
              <a:ext cx="10972674" cy="451827"/>
            </a:xfrm>
            <a:prstGeom prst="rect">
              <a:avLst/>
            </a:prstGeom>
            <a:grp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22" name="TextBox 121">
              <a:extLst>
                <a:ext uri="{FF2B5EF4-FFF2-40B4-BE49-F238E27FC236}">
                  <a16:creationId xmlns:a16="http://schemas.microsoft.com/office/drawing/2014/main" id="{393CFDD7-03E6-5098-23F7-74F23919A26A}"/>
                </a:ext>
              </a:extLst>
            </p:cNvPr>
            <p:cNvSpPr txBox="1"/>
            <p:nvPr/>
          </p:nvSpPr>
          <p:spPr>
            <a:xfrm>
              <a:off x="4393130" y="5084094"/>
              <a:ext cx="3402565" cy="246221"/>
            </a:xfrm>
            <a:prstGeom prst="rect">
              <a:avLst/>
            </a:prstGeom>
            <a:grp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CPU and Memory</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sp>
        <p:nvSpPr>
          <p:cNvPr id="3" name="Rectangle 2">
            <a:extLst>
              <a:ext uri="{FF2B5EF4-FFF2-40B4-BE49-F238E27FC236}">
                <a16:creationId xmlns:a16="http://schemas.microsoft.com/office/drawing/2014/main" id="{36EB6347-D501-4C19-0C76-FABC74CB89B9}"/>
              </a:ext>
            </a:extLst>
          </p:cNvPr>
          <p:cNvSpPr/>
          <p:nvPr/>
        </p:nvSpPr>
        <p:spPr>
          <a:xfrm>
            <a:off x="4389158" y="1546859"/>
            <a:ext cx="3409374" cy="4100905"/>
          </a:xfrm>
          <a:prstGeom prst="rect">
            <a:avLst/>
          </a:prstGeom>
          <a:pattFill prst="pct10">
            <a:fgClr>
              <a:schemeClr val="accent1"/>
            </a:fgClr>
            <a:bgClr>
              <a:schemeClr val="bg1"/>
            </a:bgClr>
          </a:pattFill>
          <a:ln w="25400">
            <a:solidFill>
              <a:schemeClr val="accent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800" b="0" i="0" u="none" strike="noStrike" kern="1200" cap="none" spc="0" normalizeH="0" baseline="0" noProof="0" dirty="0">
              <a:ln>
                <a:noFill/>
              </a:ln>
              <a:solidFill>
                <a:srgbClr val="FFFFFF"/>
              </a:solidFill>
              <a:effectLst/>
              <a:uLnTx/>
              <a:uFillTx/>
              <a:latin typeface="Arial" pitchFamily="2" charset="0"/>
              <a:ea typeface="+mn-ea"/>
              <a:cs typeface="+mn-cs"/>
            </a:endParaRPr>
          </a:p>
        </p:txBody>
      </p:sp>
      <p:grpSp>
        <p:nvGrpSpPr>
          <p:cNvPr id="301" name="Group 300" descr="Encryption Key A&#10;">
            <a:extLst>
              <a:ext uri="{FF2B5EF4-FFF2-40B4-BE49-F238E27FC236}">
                <a16:creationId xmlns:a16="http://schemas.microsoft.com/office/drawing/2014/main" id="{8F46F47A-A775-7449-F3D8-1D952C7DF00E}"/>
              </a:ext>
            </a:extLst>
          </p:cNvPr>
          <p:cNvGrpSpPr/>
          <p:nvPr/>
        </p:nvGrpSpPr>
        <p:grpSpPr>
          <a:xfrm>
            <a:off x="781628" y="1546860"/>
            <a:ext cx="3409372" cy="4103838"/>
            <a:chOff x="781628" y="1546860"/>
            <a:chExt cx="3409372" cy="4028632"/>
          </a:xfrm>
          <a:pattFill prst="pct10">
            <a:fgClr>
              <a:schemeClr val="accent1"/>
            </a:fgClr>
            <a:bgClr>
              <a:schemeClr val="bg1"/>
            </a:bgClr>
          </a:pattFill>
        </p:grpSpPr>
        <p:sp>
          <p:nvSpPr>
            <p:cNvPr id="302" name="Rectangle 301">
              <a:extLst>
                <a:ext uri="{FF2B5EF4-FFF2-40B4-BE49-F238E27FC236}">
                  <a16:creationId xmlns:a16="http://schemas.microsoft.com/office/drawing/2014/main" id="{303B2A93-E8CC-A6F9-DB4C-E78A6AE6221E}"/>
                </a:ext>
              </a:extLst>
            </p:cNvPr>
            <p:cNvSpPr/>
            <p:nvPr/>
          </p:nvSpPr>
          <p:spPr>
            <a:xfrm>
              <a:off x="781628" y="1546860"/>
              <a:ext cx="3409372" cy="4028632"/>
            </a:xfrm>
            <a:prstGeom prst="rect">
              <a:avLst/>
            </a:prstGeom>
            <a:grpFill/>
            <a:ln w="25400">
              <a:solidFill>
                <a:schemeClr val="accent5"/>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8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303" name="TextBox 302">
              <a:extLst>
                <a:ext uri="{FF2B5EF4-FFF2-40B4-BE49-F238E27FC236}">
                  <a16:creationId xmlns:a16="http://schemas.microsoft.com/office/drawing/2014/main" id="{AF18CCD2-E147-22AE-1730-781144E49919}"/>
                </a:ext>
              </a:extLst>
            </p:cNvPr>
            <p:cNvSpPr txBox="1"/>
            <p:nvPr/>
          </p:nvSpPr>
          <p:spPr>
            <a:xfrm>
              <a:off x="910902" y="4733332"/>
              <a:ext cx="3150824" cy="604273"/>
            </a:xfrm>
            <a:prstGeom prst="rect">
              <a:avLst/>
            </a:prstGeom>
            <a:grp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2000" b="0" i="0" u="none" strike="noStrike" kern="0" cap="none" spc="0" normalizeH="0" baseline="0" noProof="0" dirty="0">
                  <a:ln>
                    <a:noFill/>
                  </a:ln>
                  <a:solidFill>
                    <a:srgbClr val="6C4B94"/>
                  </a:solidFill>
                  <a:effectLst/>
                  <a:uLnTx/>
                  <a:uFillTx/>
                  <a:latin typeface="Arial" pitchFamily="2" charset="0"/>
                  <a:ea typeface="+mn-ea"/>
                  <a:cs typeface="+mn-cs"/>
                </a:rPr>
                <a:t>Trusted Execution Environment A</a:t>
              </a:r>
              <a:endParaRPr kumimoji="0" lang="en-US" sz="1600" b="0" i="0" u="none" strike="noStrike" kern="0" cap="none" spc="0" normalizeH="0" baseline="0" noProof="0" dirty="0">
                <a:ln>
                  <a:noFill/>
                </a:ln>
                <a:solidFill>
                  <a:srgbClr val="6C4B94"/>
                </a:solidFill>
                <a:effectLst/>
                <a:uLnTx/>
                <a:uFillTx/>
                <a:latin typeface="Arial" pitchFamily="2" charset="0"/>
                <a:ea typeface="+mn-ea"/>
                <a:cs typeface="+mn-cs"/>
              </a:endParaRPr>
            </a:p>
          </p:txBody>
        </p:sp>
      </p:grpSp>
      <p:sp>
        <p:nvSpPr>
          <p:cNvPr id="306" name="TextBox 305">
            <a:extLst>
              <a:ext uri="{FF2B5EF4-FFF2-40B4-BE49-F238E27FC236}">
                <a16:creationId xmlns:a16="http://schemas.microsoft.com/office/drawing/2014/main" id="{10FF5E6B-7E95-6183-324F-FBE60B433106}"/>
              </a:ext>
            </a:extLst>
          </p:cNvPr>
          <p:cNvSpPr txBox="1"/>
          <p:nvPr/>
        </p:nvSpPr>
        <p:spPr>
          <a:xfrm>
            <a:off x="4510859" y="4791616"/>
            <a:ext cx="3150824" cy="615553"/>
          </a:xfrm>
          <a:prstGeom prst="rect">
            <a:avLst/>
          </a:prstGeom>
          <a:pattFill prst="pct10">
            <a:fgClr>
              <a:schemeClr val="accent1"/>
            </a:fgClr>
            <a:bgClr>
              <a:schemeClr val="bg1"/>
            </a:bgClr>
          </a:patt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2000" b="0" i="0" u="none" strike="noStrike" kern="0" cap="none" spc="0" normalizeH="0" baseline="0" noProof="0" dirty="0">
                <a:ln>
                  <a:noFill/>
                </a:ln>
                <a:solidFill>
                  <a:srgbClr val="007B8C"/>
                </a:solidFill>
                <a:effectLst/>
                <a:uLnTx/>
                <a:uFillTx/>
                <a:latin typeface="Arial" pitchFamily="2" charset="0"/>
                <a:ea typeface="+mn-ea"/>
                <a:cs typeface="+mn-cs"/>
              </a:rPr>
              <a:t>Trusted Execution Environment B</a:t>
            </a:r>
          </a:p>
        </p:txBody>
      </p:sp>
      <p:grpSp>
        <p:nvGrpSpPr>
          <p:cNvPr id="123" name="Group 122" descr="Sandbox&#10;">
            <a:extLst>
              <a:ext uri="{FF2B5EF4-FFF2-40B4-BE49-F238E27FC236}">
                <a16:creationId xmlns:a16="http://schemas.microsoft.com/office/drawing/2014/main" id="{883B0095-A17F-4FD3-6113-4F67FFBACDE6}"/>
              </a:ext>
            </a:extLst>
          </p:cNvPr>
          <p:cNvGrpSpPr/>
          <p:nvPr/>
        </p:nvGrpSpPr>
        <p:grpSpPr>
          <a:xfrm>
            <a:off x="910902" y="1684105"/>
            <a:ext cx="3150824" cy="2772568"/>
            <a:chOff x="910902" y="1629363"/>
            <a:chExt cx="3150824" cy="2772568"/>
          </a:xfrm>
        </p:grpSpPr>
        <p:sp>
          <p:nvSpPr>
            <p:cNvPr id="124" name="Rectangle 123">
              <a:extLst>
                <a:ext uri="{FF2B5EF4-FFF2-40B4-BE49-F238E27FC236}">
                  <a16:creationId xmlns:a16="http://schemas.microsoft.com/office/drawing/2014/main" id="{3E05866A-31E0-2FCB-6A06-EAC02A60996C}"/>
                </a:ext>
              </a:extLst>
            </p:cNvPr>
            <p:cNvSpPr/>
            <p:nvPr/>
          </p:nvSpPr>
          <p:spPr>
            <a:xfrm>
              <a:off x="910902" y="1629363"/>
              <a:ext cx="3150824" cy="2772568"/>
            </a:xfrm>
            <a:prstGeom prst="rect">
              <a:avLst/>
            </a:prstGeom>
            <a:solidFill>
              <a:srgbClr val="F4F8FA"/>
            </a:solidFill>
            <a:ln w="25400">
              <a:solidFill>
                <a:schemeClr val="accent5"/>
              </a:solidFil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398"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25" name="TextBox 124">
              <a:extLst>
                <a:ext uri="{FF2B5EF4-FFF2-40B4-BE49-F238E27FC236}">
                  <a16:creationId xmlns:a16="http://schemas.microsoft.com/office/drawing/2014/main" id="{D665A230-2841-726C-423D-B16A59E47BDA}"/>
                </a:ext>
              </a:extLst>
            </p:cNvPr>
            <p:cNvSpPr txBox="1"/>
            <p:nvPr/>
          </p:nvSpPr>
          <p:spPr>
            <a:xfrm>
              <a:off x="910902" y="4063029"/>
              <a:ext cx="3150824"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Sandbox</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126" name="Group 125" descr="VM Runtime&#10;">
            <a:extLst>
              <a:ext uri="{FF2B5EF4-FFF2-40B4-BE49-F238E27FC236}">
                <a16:creationId xmlns:a16="http://schemas.microsoft.com/office/drawing/2014/main" id="{B18BDD8C-647A-A473-77D7-63499D50D324}"/>
              </a:ext>
            </a:extLst>
          </p:cNvPr>
          <p:cNvGrpSpPr/>
          <p:nvPr/>
        </p:nvGrpSpPr>
        <p:grpSpPr>
          <a:xfrm>
            <a:off x="1152917" y="1929825"/>
            <a:ext cx="2666796" cy="2052743"/>
            <a:chOff x="1152917" y="1875083"/>
            <a:chExt cx="2666796" cy="2052743"/>
          </a:xfrm>
        </p:grpSpPr>
        <p:sp>
          <p:nvSpPr>
            <p:cNvPr id="127" name="Rectangle 126">
              <a:extLst>
                <a:ext uri="{FF2B5EF4-FFF2-40B4-BE49-F238E27FC236}">
                  <a16:creationId xmlns:a16="http://schemas.microsoft.com/office/drawing/2014/main" id="{4582A6AE-0243-D8B9-F30C-4156DC014FB1}"/>
                </a:ext>
              </a:extLst>
            </p:cNvPr>
            <p:cNvSpPr/>
            <p:nvPr/>
          </p:nvSpPr>
          <p:spPr>
            <a:xfrm>
              <a:off x="1152917" y="1875083"/>
              <a:ext cx="2666796" cy="2052743"/>
            </a:xfrm>
            <a:prstGeom prst="rect">
              <a:avLst/>
            </a:prstGeom>
            <a:solidFill>
              <a:schemeClr val="accent5">
                <a:alpha val="25000"/>
              </a:schemeClr>
            </a:solidFill>
            <a:ln w="25400">
              <a:noFil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398"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28" name="TextBox 127">
              <a:extLst>
                <a:ext uri="{FF2B5EF4-FFF2-40B4-BE49-F238E27FC236}">
                  <a16:creationId xmlns:a16="http://schemas.microsoft.com/office/drawing/2014/main" id="{F02BBEFF-383E-9C1D-8C57-30E9727AAF29}"/>
                </a:ext>
              </a:extLst>
            </p:cNvPr>
            <p:cNvSpPr txBox="1"/>
            <p:nvPr/>
          </p:nvSpPr>
          <p:spPr>
            <a:xfrm>
              <a:off x="1242013" y="3610583"/>
              <a:ext cx="2488603"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VM Runtime</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129" name="Group 128" descr="Guest OS&#10;">
            <a:extLst>
              <a:ext uri="{FF2B5EF4-FFF2-40B4-BE49-F238E27FC236}">
                <a16:creationId xmlns:a16="http://schemas.microsoft.com/office/drawing/2014/main" id="{56B40C73-1F0C-6E1A-D648-461CA3966B2A}"/>
              </a:ext>
            </a:extLst>
          </p:cNvPr>
          <p:cNvGrpSpPr/>
          <p:nvPr/>
        </p:nvGrpSpPr>
        <p:grpSpPr>
          <a:xfrm>
            <a:off x="1389212" y="2177917"/>
            <a:ext cx="2194205" cy="1360570"/>
            <a:chOff x="1389212" y="2123175"/>
            <a:chExt cx="2194205" cy="1360570"/>
          </a:xfrm>
        </p:grpSpPr>
        <p:sp>
          <p:nvSpPr>
            <p:cNvPr id="130" name="Rectangle 129">
              <a:extLst>
                <a:ext uri="{FF2B5EF4-FFF2-40B4-BE49-F238E27FC236}">
                  <a16:creationId xmlns:a16="http://schemas.microsoft.com/office/drawing/2014/main" id="{F4A8C52F-08B1-5712-A4CF-636F7B10866B}"/>
                </a:ext>
              </a:extLst>
            </p:cNvPr>
            <p:cNvSpPr/>
            <p:nvPr/>
          </p:nvSpPr>
          <p:spPr>
            <a:xfrm>
              <a:off x="1389212" y="2123175"/>
              <a:ext cx="2194205" cy="1360570"/>
            </a:xfrm>
            <a:prstGeom prst="rect">
              <a:avLst/>
            </a:prstGeom>
            <a:solidFill>
              <a:schemeClr val="accent5"/>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7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31" name="TextBox 130">
              <a:extLst>
                <a:ext uri="{FF2B5EF4-FFF2-40B4-BE49-F238E27FC236}">
                  <a16:creationId xmlns:a16="http://schemas.microsoft.com/office/drawing/2014/main" id="{B996E077-FF6F-D1EC-1D4E-8089D17098F4}"/>
                </a:ext>
              </a:extLst>
            </p:cNvPr>
            <p:cNvSpPr txBox="1"/>
            <p:nvPr/>
          </p:nvSpPr>
          <p:spPr>
            <a:xfrm>
              <a:off x="1462519" y="3176129"/>
              <a:ext cx="2047591"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pitchFamily="2" charset="0"/>
                  <a:ea typeface="+mn-ea"/>
                  <a:cs typeface="+mn-cs"/>
                </a:rPr>
                <a:t>Guest OS</a:t>
              </a:r>
              <a:endParaRPr kumimoji="0" lang="en-US" sz="1200" b="0" i="0" u="none" strike="noStrike" kern="0" cap="none" spc="0" normalizeH="0" baseline="0" noProof="0" dirty="0">
                <a:ln>
                  <a:noFill/>
                </a:ln>
                <a:solidFill>
                  <a:srgbClr val="FFFFFF"/>
                </a:solidFill>
                <a:effectLst/>
                <a:uLnTx/>
                <a:uFillTx/>
                <a:latin typeface="Arial" pitchFamily="2" charset="0"/>
                <a:ea typeface="+mn-ea"/>
                <a:cs typeface="+mn-cs"/>
              </a:endParaRPr>
            </a:p>
          </p:txBody>
        </p:sp>
      </p:grpSp>
      <p:grpSp>
        <p:nvGrpSpPr>
          <p:cNvPr id="132" name="Graphic 3" descr="App icon">
            <a:extLst>
              <a:ext uri="{FF2B5EF4-FFF2-40B4-BE49-F238E27FC236}">
                <a16:creationId xmlns:a16="http://schemas.microsoft.com/office/drawing/2014/main" id="{E48303C7-B086-8DB1-A035-60F574117483}"/>
              </a:ext>
            </a:extLst>
          </p:cNvPr>
          <p:cNvGrpSpPr/>
          <p:nvPr/>
        </p:nvGrpSpPr>
        <p:grpSpPr>
          <a:xfrm>
            <a:off x="1595994" y="2498487"/>
            <a:ext cx="504756" cy="504756"/>
            <a:chOff x="988779" y="1554296"/>
            <a:chExt cx="1039813" cy="1039813"/>
          </a:xfrm>
        </p:grpSpPr>
        <p:grpSp>
          <p:nvGrpSpPr>
            <p:cNvPr id="133" name="Graphic 3">
              <a:extLst>
                <a:ext uri="{FF2B5EF4-FFF2-40B4-BE49-F238E27FC236}">
                  <a16:creationId xmlns:a16="http://schemas.microsoft.com/office/drawing/2014/main" id="{20FE8298-F675-2DB3-36C9-F9FA29B8280D}"/>
                </a:ext>
              </a:extLst>
            </p:cNvPr>
            <p:cNvGrpSpPr/>
            <p:nvPr/>
          </p:nvGrpSpPr>
          <p:grpSpPr>
            <a:xfrm>
              <a:off x="1165295" y="1944645"/>
              <a:ext cx="663300" cy="217354"/>
              <a:chOff x="1165295" y="1944645"/>
              <a:chExt cx="663300" cy="217354"/>
            </a:xfrm>
            <a:solidFill>
              <a:srgbClr val="FFFFFF"/>
            </a:solidFill>
          </p:grpSpPr>
          <p:sp>
            <p:nvSpPr>
              <p:cNvPr id="135" name="Freeform: Shape 134">
                <a:extLst>
                  <a:ext uri="{FF2B5EF4-FFF2-40B4-BE49-F238E27FC236}">
                    <a16:creationId xmlns:a16="http://schemas.microsoft.com/office/drawing/2014/main" id="{FB4EC6D8-F65F-B447-EAC5-7AB0209BC405}"/>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136" name="Freeform: Shape 135">
                <a:extLst>
                  <a:ext uri="{FF2B5EF4-FFF2-40B4-BE49-F238E27FC236}">
                    <a16:creationId xmlns:a16="http://schemas.microsoft.com/office/drawing/2014/main" id="{A036C9CD-048D-0CD8-DB86-C97CAE9DC317}"/>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137" name="Freeform: Shape 136">
                <a:extLst>
                  <a:ext uri="{FF2B5EF4-FFF2-40B4-BE49-F238E27FC236}">
                    <a16:creationId xmlns:a16="http://schemas.microsoft.com/office/drawing/2014/main" id="{48F3D2BC-9EEA-E6FB-DF54-B89349182A08}"/>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sp>
          <p:nvSpPr>
            <p:cNvPr id="134" name="Freeform: Shape 133">
              <a:extLst>
                <a:ext uri="{FF2B5EF4-FFF2-40B4-BE49-F238E27FC236}">
                  <a16:creationId xmlns:a16="http://schemas.microsoft.com/office/drawing/2014/main" id="{5299C7C8-C8C2-BDD0-B430-7782DD2FA185}"/>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grpSp>
        <p:nvGrpSpPr>
          <p:cNvPr id="138" name="Graphic 3" descr="App icon">
            <a:extLst>
              <a:ext uri="{FF2B5EF4-FFF2-40B4-BE49-F238E27FC236}">
                <a16:creationId xmlns:a16="http://schemas.microsoft.com/office/drawing/2014/main" id="{65870DFE-F7C4-D1AF-26DE-69DED03C0312}"/>
              </a:ext>
            </a:extLst>
          </p:cNvPr>
          <p:cNvGrpSpPr/>
          <p:nvPr/>
        </p:nvGrpSpPr>
        <p:grpSpPr>
          <a:xfrm>
            <a:off x="2233936" y="2498487"/>
            <a:ext cx="504756" cy="504756"/>
            <a:chOff x="988779" y="1554296"/>
            <a:chExt cx="1039813" cy="1039813"/>
          </a:xfrm>
        </p:grpSpPr>
        <p:grpSp>
          <p:nvGrpSpPr>
            <p:cNvPr id="139" name="Graphic 3">
              <a:extLst>
                <a:ext uri="{FF2B5EF4-FFF2-40B4-BE49-F238E27FC236}">
                  <a16:creationId xmlns:a16="http://schemas.microsoft.com/office/drawing/2014/main" id="{315883A1-BF83-4870-C29C-AD6981B7E412}"/>
                </a:ext>
              </a:extLst>
            </p:cNvPr>
            <p:cNvGrpSpPr/>
            <p:nvPr/>
          </p:nvGrpSpPr>
          <p:grpSpPr>
            <a:xfrm>
              <a:off x="1165295" y="1944645"/>
              <a:ext cx="663300" cy="217354"/>
              <a:chOff x="1165295" y="1944645"/>
              <a:chExt cx="663300" cy="217354"/>
            </a:xfrm>
            <a:solidFill>
              <a:srgbClr val="FFFFFF"/>
            </a:solidFill>
          </p:grpSpPr>
          <p:sp>
            <p:nvSpPr>
              <p:cNvPr id="141" name="Freeform: Shape 140">
                <a:extLst>
                  <a:ext uri="{FF2B5EF4-FFF2-40B4-BE49-F238E27FC236}">
                    <a16:creationId xmlns:a16="http://schemas.microsoft.com/office/drawing/2014/main" id="{A323DC5F-930C-ABEF-33FE-7BCBE8527207}"/>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142" name="Freeform: Shape 141">
                <a:extLst>
                  <a:ext uri="{FF2B5EF4-FFF2-40B4-BE49-F238E27FC236}">
                    <a16:creationId xmlns:a16="http://schemas.microsoft.com/office/drawing/2014/main" id="{CB9FF8D7-2F00-3301-0D6D-DEE673065A7A}"/>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143" name="Freeform: Shape 142">
                <a:extLst>
                  <a:ext uri="{FF2B5EF4-FFF2-40B4-BE49-F238E27FC236}">
                    <a16:creationId xmlns:a16="http://schemas.microsoft.com/office/drawing/2014/main" id="{D4F937DA-3B32-0C31-EA2C-97AC78A0731D}"/>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sp>
          <p:nvSpPr>
            <p:cNvPr id="140" name="Freeform: Shape 139">
              <a:extLst>
                <a:ext uri="{FF2B5EF4-FFF2-40B4-BE49-F238E27FC236}">
                  <a16:creationId xmlns:a16="http://schemas.microsoft.com/office/drawing/2014/main" id="{87438E2F-DC73-7547-AEFF-2BF06E362966}"/>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grpSp>
        <p:nvGrpSpPr>
          <p:cNvPr id="144" name="Graphic 3" descr="App icon">
            <a:extLst>
              <a:ext uri="{FF2B5EF4-FFF2-40B4-BE49-F238E27FC236}">
                <a16:creationId xmlns:a16="http://schemas.microsoft.com/office/drawing/2014/main" id="{E685BA63-40A1-0F4A-7075-20FEA112EB3F}"/>
              </a:ext>
            </a:extLst>
          </p:cNvPr>
          <p:cNvGrpSpPr/>
          <p:nvPr/>
        </p:nvGrpSpPr>
        <p:grpSpPr>
          <a:xfrm>
            <a:off x="2871877" y="2498487"/>
            <a:ext cx="504756" cy="504756"/>
            <a:chOff x="988779" y="1554296"/>
            <a:chExt cx="1039813" cy="1039813"/>
          </a:xfrm>
        </p:grpSpPr>
        <p:grpSp>
          <p:nvGrpSpPr>
            <p:cNvPr id="145" name="Graphic 3">
              <a:extLst>
                <a:ext uri="{FF2B5EF4-FFF2-40B4-BE49-F238E27FC236}">
                  <a16:creationId xmlns:a16="http://schemas.microsoft.com/office/drawing/2014/main" id="{8E664736-F734-3692-2FAA-910D0EAAFAEB}"/>
                </a:ext>
              </a:extLst>
            </p:cNvPr>
            <p:cNvGrpSpPr/>
            <p:nvPr/>
          </p:nvGrpSpPr>
          <p:grpSpPr>
            <a:xfrm>
              <a:off x="1165295" y="1944645"/>
              <a:ext cx="663300" cy="217354"/>
              <a:chOff x="1165295" y="1944645"/>
              <a:chExt cx="663300" cy="217354"/>
            </a:xfrm>
            <a:solidFill>
              <a:srgbClr val="FFFFFF"/>
            </a:solidFill>
          </p:grpSpPr>
          <p:sp>
            <p:nvSpPr>
              <p:cNvPr id="147" name="Freeform: Shape 146">
                <a:extLst>
                  <a:ext uri="{FF2B5EF4-FFF2-40B4-BE49-F238E27FC236}">
                    <a16:creationId xmlns:a16="http://schemas.microsoft.com/office/drawing/2014/main" id="{92DD9113-7EC2-6472-E54D-3CFB1A1B12ED}"/>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148" name="Freeform: Shape 147">
                <a:extLst>
                  <a:ext uri="{FF2B5EF4-FFF2-40B4-BE49-F238E27FC236}">
                    <a16:creationId xmlns:a16="http://schemas.microsoft.com/office/drawing/2014/main" id="{965E3157-66A2-6339-69E2-A08CA5F05737}"/>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149" name="Freeform: Shape 148">
                <a:extLst>
                  <a:ext uri="{FF2B5EF4-FFF2-40B4-BE49-F238E27FC236}">
                    <a16:creationId xmlns:a16="http://schemas.microsoft.com/office/drawing/2014/main" id="{3B70A120-3EAE-9C4D-2703-6F789EBA900C}"/>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sp>
          <p:nvSpPr>
            <p:cNvPr id="146" name="Freeform: Shape 145">
              <a:extLst>
                <a:ext uri="{FF2B5EF4-FFF2-40B4-BE49-F238E27FC236}">
                  <a16:creationId xmlns:a16="http://schemas.microsoft.com/office/drawing/2014/main" id="{4BCA78EF-EBC9-AF34-99F6-ECF777B0C38D}"/>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grpSp>
        <p:nvGrpSpPr>
          <p:cNvPr id="150" name="Group 149" descr="Sandbox&#10;">
            <a:extLst>
              <a:ext uri="{FF2B5EF4-FFF2-40B4-BE49-F238E27FC236}">
                <a16:creationId xmlns:a16="http://schemas.microsoft.com/office/drawing/2014/main" id="{C724BE29-57A3-00DA-D01A-2CD26F3B1574}"/>
              </a:ext>
            </a:extLst>
          </p:cNvPr>
          <p:cNvGrpSpPr/>
          <p:nvPr/>
        </p:nvGrpSpPr>
        <p:grpSpPr>
          <a:xfrm>
            <a:off x="4511987" y="1684105"/>
            <a:ext cx="3157270" cy="2772568"/>
            <a:chOff x="4511987" y="1629363"/>
            <a:chExt cx="3157270" cy="2772568"/>
          </a:xfrm>
        </p:grpSpPr>
        <p:sp>
          <p:nvSpPr>
            <p:cNvPr id="151" name="Rectangle 150">
              <a:extLst>
                <a:ext uri="{FF2B5EF4-FFF2-40B4-BE49-F238E27FC236}">
                  <a16:creationId xmlns:a16="http://schemas.microsoft.com/office/drawing/2014/main" id="{F0102DF9-783A-EF9F-3B7B-6C8A51AE0465}"/>
                </a:ext>
              </a:extLst>
            </p:cNvPr>
            <p:cNvSpPr/>
            <p:nvPr/>
          </p:nvSpPr>
          <p:spPr>
            <a:xfrm>
              <a:off x="4518432" y="1629363"/>
              <a:ext cx="3150825" cy="2772568"/>
            </a:xfrm>
            <a:prstGeom prst="rect">
              <a:avLst/>
            </a:prstGeom>
            <a:solidFill>
              <a:srgbClr val="F4F8FA"/>
            </a:solidFill>
            <a:ln w="25400">
              <a:solidFill>
                <a:schemeClr val="accent1"/>
              </a:solidFil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398"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52" name="TextBox 151">
              <a:extLst>
                <a:ext uri="{FF2B5EF4-FFF2-40B4-BE49-F238E27FC236}">
                  <a16:creationId xmlns:a16="http://schemas.microsoft.com/office/drawing/2014/main" id="{B2554F29-B0CF-010D-37B3-43AEDB7D3663}"/>
                </a:ext>
              </a:extLst>
            </p:cNvPr>
            <p:cNvSpPr txBox="1"/>
            <p:nvPr/>
          </p:nvSpPr>
          <p:spPr>
            <a:xfrm>
              <a:off x="4511987" y="4063029"/>
              <a:ext cx="3150825"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Sandbox</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153" name="Group 152" descr="VM Runtime&#10;">
            <a:extLst>
              <a:ext uri="{FF2B5EF4-FFF2-40B4-BE49-F238E27FC236}">
                <a16:creationId xmlns:a16="http://schemas.microsoft.com/office/drawing/2014/main" id="{5A827B5D-5D1E-BE5E-2FC7-F534BE08CF5D}"/>
              </a:ext>
            </a:extLst>
          </p:cNvPr>
          <p:cNvGrpSpPr/>
          <p:nvPr/>
        </p:nvGrpSpPr>
        <p:grpSpPr>
          <a:xfrm>
            <a:off x="4754002" y="1929825"/>
            <a:ext cx="2666797" cy="2052743"/>
            <a:chOff x="4754002" y="1875083"/>
            <a:chExt cx="2666797" cy="2052743"/>
          </a:xfrm>
        </p:grpSpPr>
        <p:sp>
          <p:nvSpPr>
            <p:cNvPr id="157" name="Rectangle 156">
              <a:extLst>
                <a:ext uri="{FF2B5EF4-FFF2-40B4-BE49-F238E27FC236}">
                  <a16:creationId xmlns:a16="http://schemas.microsoft.com/office/drawing/2014/main" id="{0F787563-D84B-4BF0-38E3-890693789557}"/>
                </a:ext>
              </a:extLst>
            </p:cNvPr>
            <p:cNvSpPr/>
            <p:nvPr/>
          </p:nvSpPr>
          <p:spPr>
            <a:xfrm>
              <a:off x="4754002" y="1875083"/>
              <a:ext cx="2666797" cy="2052743"/>
            </a:xfrm>
            <a:prstGeom prst="rect">
              <a:avLst/>
            </a:prstGeom>
            <a:solidFill>
              <a:schemeClr val="accent1">
                <a:alpha val="25000"/>
              </a:schemeClr>
            </a:solidFill>
            <a:ln w="25400">
              <a:noFil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398"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60" name="TextBox 159">
              <a:extLst>
                <a:ext uri="{FF2B5EF4-FFF2-40B4-BE49-F238E27FC236}">
                  <a16:creationId xmlns:a16="http://schemas.microsoft.com/office/drawing/2014/main" id="{E3428DB8-5E1A-CF25-6D51-128F6189F73E}"/>
                </a:ext>
              </a:extLst>
            </p:cNvPr>
            <p:cNvSpPr txBox="1"/>
            <p:nvPr/>
          </p:nvSpPr>
          <p:spPr>
            <a:xfrm>
              <a:off x="4843098" y="3610583"/>
              <a:ext cx="2488604"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VM Runtime</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161" name="Group 160" descr="Guest OS&#10;">
            <a:extLst>
              <a:ext uri="{FF2B5EF4-FFF2-40B4-BE49-F238E27FC236}">
                <a16:creationId xmlns:a16="http://schemas.microsoft.com/office/drawing/2014/main" id="{26DB11CD-4861-7F49-AF3F-74BE1D527A7B}"/>
              </a:ext>
            </a:extLst>
          </p:cNvPr>
          <p:cNvGrpSpPr/>
          <p:nvPr/>
        </p:nvGrpSpPr>
        <p:grpSpPr>
          <a:xfrm>
            <a:off x="4990297" y="2177917"/>
            <a:ext cx="2194206" cy="1360570"/>
            <a:chOff x="4990297" y="2123175"/>
            <a:chExt cx="2194206" cy="1360570"/>
          </a:xfrm>
        </p:grpSpPr>
        <p:sp>
          <p:nvSpPr>
            <p:cNvPr id="162" name="Rectangle 161">
              <a:extLst>
                <a:ext uri="{FF2B5EF4-FFF2-40B4-BE49-F238E27FC236}">
                  <a16:creationId xmlns:a16="http://schemas.microsoft.com/office/drawing/2014/main" id="{C9A64059-008E-E0AE-4142-66647C977956}"/>
                </a:ext>
              </a:extLst>
            </p:cNvPr>
            <p:cNvSpPr/>
            <p:nvPr/>
          </p:nvSpPr>
          <p:spPr>
            <a:xfrm>
              <a:off x="4990297" y="2123175"/>
              <a:ext cx="2194206" cy="1360570"/>
            </a:xfrm>
            <a:prstGeom prst="rect">
              <a:avLst/>
            </a:prstGeom>
            <a:solidFill>
              <a:schemeClr val="accent1">
                <a:lumMod val="75000"/>
              </a:schemeClr>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7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163" name="TextBox 162">
              <a:extLst>
                <a:ext uri="{FF2B5EF4-FFF2-40B4-BE49-F238E27FC236}">
                  <a16:creationId xmlns:a16="http://schemas.microsoft.com/office/drawing/2014/main" id="{A2FB256B-883A-86A3-4ECA-9341F08D438D}"/>
                </a:ext>
              </a:extLst>
            </p:cNvPr>
            <p:cNvSpPr txBox="1"/>
            <p:nvPr/>
          </p:nvSpPr>
          <p:spPr>
            <a:xfrm>
              <a:off x="5063604" y="3176129"/>
              <a:ext cx="2047592"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pitchFamily="2" charset="0"/>
                  <a:ea typeface="+mn-ea"/>
                  <a:cs typeface="+mn-cs"/>
                </a:rPr>
                <a:t>Guest OS</a:t>
              </a:r>
              <a:endParaRPr kumimoji="0" lang="en-US" sz="1200" b="0" i="0" u="none" strike="noStrike" kern="0" cap="none" spc="0" normalizeH="0" baseline="0" noProof="0" dirty="0">
                <a:ln>
                  <a:noFill/>
                </a:ln>
                <a:solidFill>
                  <a:srgbClr val="FFFFFF"/>
                </a:solidFill>
                <a:effectLst/>
                <a:uLnTx/>
                <a:uFillTx/>
                <a:latin typeface="Arial" pitchFamily="2" charset="0"/>
                <a:ea typeface="+mn-ea"/>
                <a:cs typeface="+mn-cs"/>
              </a:endParaRPr>
            </a:p>
          </p:txBody>
        </p:sp>
      </p:grpSp>
      <p:grpSp>
        <p:nvGrpSpPr>
          <p:cNvPr id="164" name="Graphic 3" descr="App icon">
            <a:extLst>
              <a:ext uri="{FF2B5EF4-FFF2-40B4-BE49-F238E27FC236}">
                <a16:creationId xmlns:a16="http://schemas.microsoft.com/office/drawing/2014/main" id="{3EB46769-0AAF-EE8C-C86B-8AE9FB4E0BAA}"/>
              </a:ext>
            </a:extLst>
          </p:cNvPr>
          <p:cNvGrpSpPr/>
          <p:nvPr/>
        </p:nvGrpSpPr>
        <p:grpSpPr>
          <a:xfrm>
            <a:off x="5196969" y="2498487"/>
            <a:ext cx="504756" cy="504756"/>
            <a:chOff x="988779" y="1554296"/>
            <a:chExt cx="1039813" cy="1039813"/>
          </a:xfrm>
        </p:grpSpPr>
        <p:grpSp>
          <p:nvGrpSpPr>
            <p:cNvPr id="165" name="Graphic 3">
              <a:extLst>
                <a:ext uri="{FF2B5EF4-FFF2-40B4-BE49-F238E27FC236}">
                  <a16:creationId xmlns:a16="http://schemas.microsoft.com/office/drawing/2014/main" id="{7776DEF5-F36C-9CE6-D31A-362467471877}"/>
                </a:ext>
              </a:extLst>
            </p:cNvPr>
            <p:cNvGrpSpPr/>
            <p:nvPr/>
          </p:nvGrpSpPr>
          <p:grpSpPr>
            <a:xfrm>
              <a:off x="1165295" y="1944645"/>
              <a:ext cx="663300" cy="217354"/>
              <a:chOff x="1165295" y="1944645"/>
              <a:chExt cx="663300" cy="217354"/>
            </a:xfrm>
            <a:solidFill>
              <a:srgbClr val="FFFFFF"/>
            </a:solidFill>
          </p:grpSpPr>
          <p:sp>
            <p:nvSpPr>
              <p:cNvPr id="167" name="Freeform: Shape 166">
                <a:extLst>
                  <a:ext uri="{FF2B5EF4-FFF2-40B4-BE49-F238E27FC236}">
                    <a16:creationId xmlns:a16="http://schemas.microsoft.com/office/drawing/2014/main" id="{45CECB49-39B8-6998-35C0-2C64C8FC4CF4}"/>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168" name="Freeform: Shape 167">
                <a:extLst>
                  <a:ext uri="{FF2B5EF4-FFF2-40B4-BE49-F238E27FC236}">
                    <a16:creationId xmlns:a16="http://schemas.microsoft.com/office/drawing/2014/main" id="{FC999329-F01A-3984-1892-B938310CBF03}"/>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169" name="Freeform: Shape 168">
                <a:extLst>
                  <a:ext uri="{FF2B5EF4-FFF2-40B4-BE49-F238E27FC236}">
                    <a16:creationId xmlns:a16="http://schemas.microsoft.com/office/drawing/2014/main" id="{0C855829-7858-BB05-B7C2-BC7267756E73}"/>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sp>
          <p:nvSpPr>
            <p:cNvPr id="166" name="Freeform: Shape 165">
              <a:extLst>
                <a:ext uri="{FF2B5EF4-FFF2-40B4-BE49-F238E27FC236}">
                  <a16:creationId xmlns:a16="http://schemas.microsoft.com/office/drawing/2014/main" id="{A39610FB-DC5A-ABAD-A9CD-CE525E032E40}"/>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grpSp>
        <p:nvGrpSpPr>
          <p:cNvPr id="182" name="Graphic 3" descr="App icon">
            <a:extLst>
              <a:ext uri="{FF2B5EF4-FFF2-40B4-BE49-F238E27FC236}">
                <a16:creationId xmlns:a16="http://schemas.microsoft.com/office/drawing/2014/main" id="{7945E86D-D184-827C-FA17-B29BF3EA2226}"/>
              </a:ext>
            </a:extLst>
          </p:cNvPr>
          <p:cNvGrpSpPr/>
          <p:nvPr/>
        </p:nvGrpSpPr>
        <p:grpSpPr>
          <a:xfrm>
            <a:off x="5834911" y="2498487"/>
            <a:ext cx="504756" cy="504756"/>
            <a:chOff x="988779" y="1554296"/>
            <a:chExt cx="1039813" cy="1039813"/>
          </a:xfrm>
        </p:grpSpPr>
        <p:grpSp>
          <p:nvGrpSpPr>
            <p:cNvPr id="183" name="Graphic 3">
              <a:extLst>
                <a:ext uri="{FF2B5EF4-FFF2-40B4-BE49-F238E27FC236}">
                  <a16:creationId xmlns:a16="http://schemas.microsoft.com/office/drawing/2014/main" id="{0D6783D3-D9E2-AA18-95F0-8CED3473514E}"/>
                </a:ext>
              </a:extLst>
            </p:cNvPr>
            <p:cNvGrpSpPr/>
            <p:nvPr/>
          </p:nvGrpSpPr>
          <p:grpSpPr>
            <a:xfrm>
              <a:off x="1165295" y="1944645"/>
              <a:ext cx="663300" cy="217354"/>
              <a:chOff x="1165295" y="1944645"/>
              <a:chExt cx="663300" cy="217354"/>
            </a:xfrm>
            <a:solidFill>
              <a:srgbClr val="FFFFFF"/>
            </a:solidFill>
          </p:grpSpPr>
          <p:sp>
            <p:nvSpPr>
              <p:cNvPr id="185" name="Freeform: Shape 184">
                <a:extLst>
                  <a:ext uri="{FF2B5EF4-FFF2-40B4-BE49-F238E27FC236}">
                    <a16:creationId xmlns:a16="http://schemas.microsoft.com/office/drawing/2014/main" id="{1F3D0E4C-1274-1188-3B05-E5D07719E04D}"/>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186" name="Freeform: Shape 185">
                <a:extLst>
                  <a:ext uri="{FF2B5EF4-FFF2-40B4-BE49-F238E27FC236}">
                    <a16:creationId xmlns:a16="http://schemas.microsoft.com/office/drawing/2014/main" id="{031CB51A-648A-8039-91E6-5320C4C1CDAD}"/>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187" name="Freeform: Shape 186">
                <a:extLst>
                  <a:ext uri="{FF2B5EF4-FFF2-40B4-BE49-F238E27FC236}">
                    <a16:creationId xmlns:a16="http://schemas.microsoft.com/office/drawing/2014/main" id="{A4DE688E-9CF2-A555-C2DA-9D817D596A88}"/>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sp>
          <p:nvSpPr>
            <p:cNvPr id="184" name="Freeform: Shape 183">
              <a:extLst>
                <a:ext uri="{FF2B5EF4-FFF2-40B4-BE49-F238E27FC236}">
                  <a16:creationId xmlns:a16="http://schemas.microsoft.com/office/drawing/2014/main" id="{0AD1FD85-1B52-DD23-258A-B348CE6EF0C9}"/>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grpSp>
        <p:nvGrpSpPr>
          <p:cNvPr id="188" name="Graphic 3" descr="App icon">
            <a:extLst>
              <a:ext uri="{FF2B5EF4-FFF2-40B4-BE49-F238E27FC236}">
                <a16:creationId xmlns:a16="http://schemas.microsoft.com/office/drawing/2014/main" id="{C595862A-ABC4-766E-1BCA-413BDE5A6358}"/>
              </a:ext>
            </a:extLst>
          </p:cNvPr>
          <p:cNvGrpSpPr/>
          <p:nvPr/>
        </p:nvGrpSpPr>
        <p:grpSpPr>
          <a:xfrm>
            <a:off x="6472853" y="2498487"/>
            <a:ext cx="504756" cy="504756"/>
            <a:chOff x="988779" y="1554296"/>
            <a:chExt cx="1039813" cy="1039813"/>
          </a:xfrm>
        </p:grpSpPr>
        <p:grpSp>
          <p:nvGrpSpPr>
            <p:cNvPr id="189" name="Graphic 3">
              <a:extLst>
                <a:ext uri="{FF2B5EF4-FFF2-40B4-BE49-F238E27FC236}">
                  <a16:creationId xmlns:a16="http://schemas.microsoft.com/office/drawing/2014/main" id="{E1434CB8-8CF9-AE0D-A172-71D32BAF049B}"/>
                </a:ext>
              </a:extLst>
            </p:cNvPr>
            <p:cNvGrpSpPr/>
            <p:nvPr/>
          </p:nvGrpSpPr>
          <p:grpSpPr>
            <a:xfrm>
              <a:off x="1165295" y="1944645"/>
              <a:ext cx="663300" cy="217354"/>
              <a:chOff x="1165295" y="1944645"/>
              <a:chExt cx="663300" cy="217354"/>
            </a:xfrm>
            <a:solidFill>
              <a:srgbClr val="FFFFFF"/>
            </a:solidFill>
          </p:grpSpPr>
          <p:sp>
            <p:nvSpPr>
              <p:cNvPr id="191" name="Freeform: Shape 190">
                <a:extLst>
                  <a:ext uri="{FF2B5EF4-FFF2-40B4-BE49-F238E27FC236}">
                    <a16:creationId xmlns:a16="http://schemas.microsoft.com/office/drawing/2014/main" id="{A49C45B5-9406-6CDC-7D01-A6BA7404AC9B}"/>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04" name="Freeform: Shape 203">
                <a:extLst>
                  <a:ext uri="{FF2B5EF4-FFF2-40B4-BE49-F238E27FC236}">
                    <a16:creationId xmlns:a16="http://schemas.microsoft.com/office/drawing/2014/main" id="{76658F38-6E72-8F35-3816-8DDD1407CF52}"/>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28" name="Freeform: Shape 227">
                <a:extLst>
                  <a:ext uri="{FF2B5EF4-FFF2-40B4-BE49-F238E27FC236}">
                    <a16:creationId xmlns:a16="http://schemas.microsoft.com/office/drawing/2014/main" id="{34C0537D-DC45-F630-7099-66F9EAE6BECD}"/>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sp>
          <p:nvSpPr>
            <p:cNvPr id="190" name="Freeform: Shape 189">
              <a:extLst>
                <a:ext uri="{FF2B5EF4-FFF2-40B4-BE49-F238E27FC236}">
                  <a16:creationId xmlns:a16="http://schemas.microsoft.com/office/drawing/2014/main" id="{49044CDD-03EA-4C2B-5C85-919EA2B5C4D7}"/>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grpSp>
        <p:nvGrpSpPr>
          <p:cNvPr id="247" name="Group 246" descr="Sandbox&#10;">
            <a:extLst>
              <a:ext uri="{FF2B5EF4-FFF2-40B4-BE49-F238E27FC236}">
                <a16:creationId xmlns:a16="http://schemas.microsoft.com/office/drawing/2014/main" id="{C53C40E0-2823-2172-ACC1-2B33FD9ACFB1}"/>
              </a:ext>
            </a:extLst>
          </p:cNvPr>
          <p:cNvGrpSpPr/>
          <p:nvPr/>
        </p:nvGrpSpPr>
        <p:grpSpPr>
          <a:xfrm>
            <a:off x="8118682" y="1684105"/>
            <a:ext cx="3158918" cy="2772568"/>
            <a:chOff x="8118682" y="1629363"/>
            <a:chExt cx="3158918" cy="2772568"/>
          </a:xfrm>
        </p:grpSpPr>
        <p:sp>
          <p:nvSpPr>
            <p:cNvPr id="248" name="Rectangle 247">
              <a:extLst>
                <a:ext uri="{FF2B5EF4-FFF2-40B4-BE49-F238E27FC236}">
                  <a16:creationId xmlns:a16="http://schemas.microsoft.com/office/drawing/2014/main" id="{B288DE0C-D832-7FF9-D710-8903664E7CE9}"/>
                </a:ext>
              </a:extLst>
            </p:cNvPr>
            <p:cNvSpPr/>
            <p:nvPr/>
          </p:nvSpPr>
          <p:spPr>
            <a:xfrm>
              <a:off x="8126775" y="1629363"/>
              <a:ext cx="3150825" cy="2772568"/>
            </a:xfrm>
            <a:prstGeom prst="rect">
              <a:avLst/>
            </a:prstGeom>
            <a:solidFill>
              <a:srgbClr val="F4F8FA"/>
            </a:solidFill>
            <a:ln w="25400">
              <a:solidFill>
                <a:schemeClr val="accent2"/>
              </a:solidFil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398"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253" name="TextBox 252">
              <a:extLst>
                <a:ext uri="{FF2B5EF4-FFF2-40B4-BE49-F238E27FC236}">
                  <a16:creationId xmlns:a16="http://schemas.microsoft.com/office/drawing/2014/main" id="{DA302F27-B78B-19FD-6D78-4E3675586067}"/>
                </a:ext>
              </a:extLst>
            </p:cNvPr>
            <p:cNvSpPr txBox="1"/>
            <p:nvPr/>
          </p:nvSpPr>
          <p:spPr>
            <a:xfrm>
              <a:off x="8118682" y="4063029"/>
              <a:ext cx="3150825"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Sandbox</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254" name="Group 253" descr="VM Runtime&#10;">
            <a:extLst>
              <a:ext uri="{FF2B5EF4-FFF2-40B4-BE49-F238E27FC236}">
                <a16:creationId xmlns:a16="http://schemas.microsoft.com/office/drawing/2014/main" id="{D45AD076-1C9C-5144-3CB0-8D9CFA69BA2F}"/>
              </a:ext>
            </a:extLst>
          </p:cNvPr>
          <p:cNvGrpSpPr/>
          <p:nvPr/>
        </p:nvGrpSpPr>
        <p:grpSpPr>
          <a:xfrm>
            <a:off x="8360697" y="1929825"/>
            <a:ext cx="2666796" cy="2052743"/>
            <a:chOff x="8360697" y="1875083"/>
            <a:chExt cx="2666796" cy="2052743"/>
          </a:xfrm>
        </p:grpSpPr>
        <p:sp>
          <p:nvSpPr>
            <p:cNvPr id="255" name="Rectangle 254">
              <a:extLst>
                <a:ext uri="{FF2B5EF4-FFF2-40B4-BE49-F238E27FC236}">
                  <a16:creationId xmlns:a16="http://schemas.microsoft.com/office/drawing/2014/main" id="{96E26D3E-590F-397D-E04A-12D554952B75}"/>
                </a:ext>
              </a:extLst>
            </p:cNvPr>
            <p:cNvSpPr/>
            <p:nvPr/>
          </p:nvSpPr>
          <p:spPr>
            <a:xfrm>
              <a:off x="8360697" y="1875083"/>
              <a:ext cx="2666796" cy="2052743"/>
            </a:xfrm>
            <a:prstGeom prst="rect">
              <a:avLst/>
            </a:prstGeom>
            <a:solidFill>
              <a:schemeClr val="accent2">
                <a:alpha val="25000"/>
              </a:schemeClr>
            </a:solidFill>
            <a:ln w="25400">
              <a:noFil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398"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256" name="TextBox 255">
              <a:extLst>
                <a:ext uri="{FF2B5EF4-FFF2-40B4-BE49-F238E27FC236}">
                  <a16:creationId xmlns:a16="http://schemas.microsoft.com/office/drawing/2014/main" id="{481C4868-52E8-0BAC-CBE3-4DED0A2A3CB8}"/>
                </a:ext>
              </a:extLst>
            </p:cNvPr>
            <p:cNvSpPr txBox="1"/>
            <p:nvPr/>
          </p:nvSpPr>
          <p:spPr>
            <a:xfrm>
              <a:off x="8449793" y="3610583"/>
              <a:ext cx="2488604"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VM Runtime</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257" name="Group 256" descr="Guest OS&#10;">
            <a:extLst>
              <a:ext uri="{FF2B5EF4-FFF2-40B4-BE49-F238E27FC236}">
                <a16:creationId xmlns:a16="http://schemas.microsoft.com/office/drawing/2014/main" id="{618DB9BB-D720-5440-E03E-AD26C3ED5640}"/>
              </a:ext>
            </a:extLst>
          </p:cNvPr>
          <p:cNvGrpSpPr/>
          <p:nvPr/>
        </p:nvGrpSpPr>
        <p:grpSpPr>
          <a:xfrm>
            <a:off x="8596992" y="2177917"/>
            <a:ext cx="2194206" cy="1360570"/>
            <a:chOff x="8596992" y="2123175"/>
            <a:chExt cx="2194206" cy="1360570"/>
          </a:xfrm>
        </p:grpSpPr>
        <p:sp>
          <p:nvSpPr>
            <p:cNvPr id="258" name="Rectangle 257">
              <a:extLst>
                <a:ext uri="{FF2B5EF4-FFF2-40B4-BE49-F238E27FC236}">
                  <a16:creationId xmlns:a16="http://schemas.microsoft.com/office/drawing/2014/main" id="{D4573E3A-7E05-B204-7F8B-948FCC657663}"/>
                </a:ext>
              </a:extLst>
            </p:cNvPr>
            <p:cNvSpPr/>
            <p:nvPr/>
          </p:nvSpPr>
          <p:spPr>
            <a:xfrm>
              <a:off x="8596992" y="2123175"/>
              <a:ext cx="2194206" cy="1360570"/>
            </a:xfrm>
            <a:prstGeom prst="rect">
              <a:avLst/>
            </a:prstGeom>
            <a:solidFill>
              <a:schemeClr val="accent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7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259" name="TextBox 258">
              <a:extLst>
                <a:ext uri="{FF2B5EF4-FFF2-40B4-BE49-F238E27FC236}">
                  <a16:creationId xmlns:a16="http://schemas.microsoft.com/office/drawing/2014/main" id="{0A7E6B18-BCDB-4D80-2DE9-ABEFCBF34C88}"/>
                </a:ext>
              </a:extLst>
            </p:cNvPr>
            <p:cNvSpPr txBox="1"/>
            <p:nvPr/>
          </p:nvSpPr>
          <p:spPr>
            <a:xfrm>
              <a:off x="8670299" y="3176129"/>
              <a:ext cx="2047591" cy="246221"/>
            </a:xfrm>
            <a:prstGeom prst="rect">
              <a:avLst/>
            </a:prstGeom>
            <a:no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pitchFamily="2" charset="0"/>
                  <a:ea typeface="+mn-ea"/>
                  <a:cs typeface="+mn-cs"/>
                </a:rPr>
                <a:t>Guest OS</a:t>
              </a:r>
              <a:endParaRPr kumimoji="0" lang="en-US" sz="1200" b="0" i="0" u="none" strike="noStrike" kern="0" cap="none" spc="0" normalizeH="0" baseline="0" noProof="0" dirty="0">
                <a:ln>
                  <a:noFill/>
                </a:ln>
                <a:solidFill>
                  <a:srgbClr val="FFFFFF"/>
                </a:solidFill>
                <a:effectLst/>
                <a:uLnTx/>
                <a:uFillTx/>
                <a:latin typeface="Arial" pitchFamily="2" charset="0"/>
                <a:ea typeface="+mn-ea"/>
                <a:cs typeface="+mn-cs"/>
              </a:endParaRPr>
            </a:p>
          </p:txBody>
        </p:sp>
      </p:grpSp>
      <p:grpSp>
        <p:nvGrpSpPr>
          <p:cNvPr id="260" name="Graphic 3" descr="App icon">
            <a:extLst>
              <a:ext uri="{FF2B5EF4-FFF2-40B4-BE49-F238E27FC236}">
                <a16:creationId xmlns:a16="http://schemas.microsoft.com/office/drawing/2014/main" id="{3AD48132-61CB-C097-CF80-F3851E31C28F}"/>
              </a:ext>
            </a:extLst>
          </p:cNvPr>
          <p:cNvGrpSpPr/>
          <p:nvPr/>
        </p:nvGrpSpPr>
        <p:grpSpPr>
          <a:xfrm>
            <a:off x="8807821" y="2498487"/>
            <a:ext cx="504756" cy="504756"/>
            <a:chOff x="988779" y="1554296"/>
            <a:chExt cx="1039813" cy="1039813"/>
          </a:xfrm>
        </p:grpSpPr>
        <p:grpSp>
          <p:nvGrpSpPr>
            <p:cNvPr id="261" name="Graphic 3">
              <a:extLst>
                <a:ext uri="{FF2B5EF4-FFF2-40B4-BE49-F238E27FC236}">
                  <a16:creationId xmlns:a16="http://schemas.microsoft.com/office/drawing/2014/main" id="{16CA89A8-AF18-C633-2A5D-4532C64BAB85}"/>
                </a:ext>
              </a:extLst>
            </p:cNvPr>
            <p:cNvGrpSpPr/>
            <p:nvPr/>
          </p:nvGrpSpPr>
          <p:grpSpPr>
            <a:xfrm>
              <a:off x="1165295" y="1944645"/>
              <a:ext cx="663300" cy="217354"/>
              <a:chOff x="1165295" y="1944645"/>
              <a:chExt cx="663300" cy="217354"/>
            </a:xfrm>
            <a:solidFill>
              <a:srgbClr val="FFFFFF"/>
            </a:solidFill>
          </p:grpSpPr>
          <p:sp>
            <p:nvSpPr>
              <p:cNvPr id="263" name="Freeform: Shape 262">
                <a:extLst>
                  <a:ext uri="{FF2B5EF4-FFF2-40B4-BE49-F238E27FC236}">
                    <a16:creationId xmlns:a16="http://schemas.microsoft.com/office/drawing/2014/main" id="{B7FD0C40-FABE-4443-8347-1B5A229BDF46}"/>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64" name="Freeform: Shape 263">
                <a:extLst>
                  <a:ext uri="{FF2B5EF4-FFF2-40B4-BE49-F238E27FC236}">
                    <a16:creationId xmlns:a16="http://schemas.microsoft.com/office/drawing/2014/main" id="{35F7CA21-7AAD-C251-2CEB-ADE65120D76A}"/>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65" name="Freeform: Shape 264">
                <a:extLst>
                  <a:ext uri="{FF2B5EF4-FFF2-40B4-BE49-F238E27FC236}">
                    <a16:creationId xmlns:a16="http://schemas.microsoft.com/office/drawing/2014/main" id="{FB19C644-D7F8-9707-6ABA-D1C843A56901}"/>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sp>
          <p:nvSpPr>
            <p:cNvPr id="262" name="Freeform: Shape 261">
              <a:extLst>
                <a:ext uri="{FF2B5EF4-FFF2-40B4-BE49-F238E27FC236}">
                  <a16:creationId xmlns:a16="http://schemas.microsoft.com/office/drawing/2014/main" id="{82EDEC41-BEF1-5B01-5114-550851B2A957}"/>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grpSp>
        <p:nvGrpSpPr>
          <p:cNvPr id="266" name="Graphic 3" descr="App icon">
            <a:extLst>
              <a:ext uri="{FF2B5EF4-FFF2-40B4-BE49-F238E27FC236}">
                <a16:creationId xmlns:a16="http://schemas.microsoft.com/office/drawing/2014/main" id="{EE36E601-E0CF-9251-285B-0855B89F31ED}"/>
              </a:ext>
            </a:extLst>
          </p:cNvPr>
          <p:cNvGrpSpPr/>
          <p:nvPr/>
        </p:nvGrpSpPr>
        <p:grpSpPr>
          <a:xfrm>
            <a:off x="9445763" y="2498487"/>
            <a:ext cx="504756" cy="504756"/>
            <a:chOff x="988779" y="1554296"/>
            <a:chExt cx="1039813" cy="1039813"/>
          </a:xfrm>
        </p:grpSpPr>
        <p:grpSp>
          <p:nvGrpSpPr>
            <p:cNvPr id="267" name="Graphic 3">
              <a:extLst>
                <a:ext uri="{FF2B5EF4-FFF2-40B4-BE49-F238E27FC236}">
                  <a16:creationId xmlns:a16="http://schemas.microsoft.com/office/drawing/2014/main" id="{1ABD8474-7237-F111-0D68-9CF1750EC66F}"/>
                </a:ext>
              </a:extLst>
            </p:cNvPr>
            <p:cNvGrpSpPr/>
            <p:nvPr/>
          </p:nvGrpSpPr>
          <p:grpSpPr>
            <a:xfrm>
              <a:off x="1165295" y="1944645"/>
              <a:ext cx="663300" cy="217354"/>
              <a:chOff x="1165295" y="1944645"/>
              <a:chExt cx="663300" cy="217354"/>
            </a:xfrm>
            <a:solidFill>
              <a:srgbClr val="FFFFFF"/>
            </a:solidFill>
          </p:grpSpPr>
          <p:sp>
            <p:nvSpPr>
              <p:cNvPr id="269" name="Freeform: Shape 268">
                <a:extLst>
                  <a:ext uri="{FF2B5EF4-FFF2-40B4-BE49-F238E27FC236}">
                    <a16:creationId xmlns:a16="http://schemas.microsoft.com/office/drawing/2014/main" id="{A28A8D86-AA82-0043-D093-BC950B234E02}"/>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70" name="Freeform: Shape 269">
                <a:extLst>
                  <a:ext uri="{FF2B5EF4-FFF2-40B4-BE49-F238E27FC236}">
                    <a16:creationId xmlns:a16="http://schemas.microsoft.com/office/drawing/2014/main" id="{C2732DDB-17A4-040B-E1B4-4DEA33B2323D}"/>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71" name="Freeform: Shape 270">
                <a:extLst>
                  <a:ext uri="{FF2B5EF4-FFF2-40B4-BE49-F238E27FC236}">
                    <a16:creationId xmlns:a16="http://schemas.microsoft.com/office/drawing/2014/main" id="{098780A7-BDE4-336D-1ECB-38C071EAF68F}"/>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sp>
          <p:nvSpPr>
            <p:cNvPr id="268" name="Freeform: Shape 267">
              <a:extLst>
                <a:ext uri="{FF2B5EF4-FFF2-40B4-BE49-F238E27FC236}">
                  <a16:creationId xmlns:a16="http://schemas.microsoft.com/office/drawing/2014/main" id="{29837A3D-26FD-E6C5-4706-24F48C20836F}"/>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grpSp>
        <p:nvGrpSpPr>
          <p:cNvPr id="272" name="Graphic 3" descr="App icon">
            <a:extLst>
              <a:ext uri="{FF2B5EF4-FFF2-40B4-BE49-F238E27FC236}">
                <a16:creationId xmlns:a16="http://schemas.microsoft.com/office/drawing/2014/main" id="{E98357DC-F645-B76D-9512-5541308B7BC5}"/>
              </a:ext>
            </a:extLst>
          </p:cNvPr>
          <p:cNvGrpSpPr/>
          <p:nvPr/>
        </p:nvGrpSpPr>
        <p:grpSpPr>
          <a:xfrm>
            <a:off x="10083704" y="2498487"/>
            <a:ext cx="504756" cy="504756"/>
            <a:chOff x="988779" y="1554296"/>
            <a:chExt cx="1039813" cy="1039813"/>
          </a:xfrm>
        </p:grpSpPr>
        <p:grpSp>
          <p:nvGrpSpPr>
            <p:cNvPr id="273" name="Graphic 3">
              <a:extLst>
                <a:ext uri="{FF2B5EF4-FFF2-40B4-BE49-F238E27FC236}">
                  <a16:creationId xmlns:a16="http://schemas.microsoft.com/office/drawing/2014/main" id="{51763464-A01B-4120-4482-3B5E277DECDF}"/>
                </a:ext>
              </a:extLst>
            </p:cNvPr>
            <p:cNvGrpSpPr/>
            <p:nvPr/>
          </p:nvGrpSpPr>
          <p:grpSpPr>
            <a:xfrm>
              <a:off x="1165295" y="1944645"/>
              <a:ext cx="663300" cy="217354"/>
              <a:chOff x="1165295" y="1944645"/>
              <a:chExt cx="663300" cy="217354"/>
            </a:xfrm>
            <a:solidFill>
              <a:srgbClr val="FFFFFF"/>
            </a:solidFill>
          </p:grpSpPr>
          <p:sp>
            <p:nvSpPr>
              <p:cNvPr id="275" name="Freeform: Shape 274">
                <a:extLst>
                  <a:ext uri="{FF2B5EF4-FFF2-40B4-BE49-F238E27FC236}">
                    <a16:creationId xmlns:a16="http://schemas.microsoft.com/office/drawing/2014/main" id="{5B8F12F9-15BC-2DB6-D66F-DB06F624E710}"/>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76" name="Freeform: Shape 275">
                <a:extLst>
                  <a:ext uri="{FF2B5EF4-FFF2-40B4-BE49-F238E27FC236}">
                    <a16:creationId xmlns:a16="http://schemas.microsoft.com/office/drawing/2014/main" id="{39AE90B0-EE2D-ADAA-B764-9E63CBB54333}"/>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sp>
            <p:nvSpPr>
              <p:cNvPr id="277" name="Freeform: Shape 276">
                <a:extLst>
                  <a:ext uri="{FF2B5EF4-FFF2-40B4-BE49-F238E27FC236}">
                    <a16:creationId xmlns:a16="http://schemas.microsoft.com/office/drawing/2014/main" id="{636B7E5E-35A2-6C6E-EDB8-F50CD0558C06}"/>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sp>
          <p:nvSpPr>
            <p:cNvPr id="274" name="Freeform: Shape 273">
              <a:extLst>
                <a:ext uri="{FF2B5EF4-FFF2-40B4-BE49-F238E27FC236}">
                  <a16:creationId xmlns:a16="http://schemas.microsoft.com/office/drawing/2014/main" id="{530508BD-2303-5B1A-71AB-0FF54BAB8BF6}"/>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solidFill>
              <a:schemeClr val="bg1"/>
            </a:solid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B1D36"/>
                </a:solidFill>
                <a:effectLst/>
                <a:uLnTx/>
                <a:uFillTx/>
                <a:latin typeface="Arial" pitchFamily="2" charset="0"/>
                <a:ea typeface="+mn-ea"/>
                <a:cs typeface="+mn-cs"/>
              </a:endParaRPr>
            </a:p>
          </p:txBody>
        </p:sp>
      </p:grpSp>
      <p:grpSp>
        <p:nvGrpSpPr>
          <p:cNvPr id="278" name="Graphic 3" descr="App icon">
            <a:extLst>
              <a:ext uri="{FF2B5EF4-FFF2-40B4-BE49-F238E27FC236}">
                <a16:creationId xmlns:a16="http://schemas.microsoft.com/office/drawing/2014/main" id="{7B077917-05E4-108B-87D4-68BE08DC934A}"/>
              </a:ext>
            </a:extLst>
          </p:cNvPr>
          <p:cNvGrpSpPr/>
          <p:nvPr/>
        </p:nvGrpSpPr>
        <p:grpSpPr>
          <a:xfrm>
            <a:off x="1595994" y="2498487"/>
            <a:ext cx="504756" cy="504756"/>
            <a:chOff x="988779" y="1554296"/>
            <a:chExt cx="1039813" cy="1039813"/>
          </a:xfrm>
          <a:solidFill>
            <a:schemeClr val="bg1"/>
          </a:solidFill>
        </p:grpSpPr>
        <p:grpSp>
          <p:nvGrpSpPr>
            <p:cNvPr id="279" name="Graphic 3">
              <a:extLst>
                <a:ext uri="{FF2B5EF4-FFF2-40B4-BE49-F238E27FC236}">
                  <a16:creationId xmlns:a16="http://schemas.microsoft.com/office/drawing/2014/main" id="{0F023637-E428-10A0-8E36-4B136F7553C3}"/>
                </a:ext>
              </a:extLst>
            </p:cNvPr>
            <p:cNvGrpSpPr/>
            <p:nvPr/>
          </p:nvGrpSpPr>
          <p:grpSpPr>
            <a:xfrm>
              <a:off x="1165295" y="1944645"/>
              <a:ext cx="663300" cy="217354"/>
              <a:chOff x="1165295" y="1944645"/>
              <a:chExt cx="663300" cy="217354"/>
            </a:xfrm>
            <a:grpFill/>
          </p:grpSpPr>
          <p:sp>
            <p:nvSpPr>
              <p:cNvPr id="285" name="Freeform: Shape 284">
                <a:extLst>
                  <a:ext uri="{FF2B5EF4-FFF2-40B4-BE49-F238E27FC236}">
                    <a16:creationId xmlns:a16="http://schemas.microsoft.com/office/drawing/2014/main" id="{90E5D4ED-3D48-9252-4AC3-AF1F28792313}"/>
                  </a:ext>
                </a:extLst>
              </p:cNvPr>
              <p:cNvSpPr/>
              <p:nvPr/>
            </p:nvSpPr>
            <p:spPr>
              <a:xfrm>
                <a:off x="1165295" y="1944645"/>
                <a:ext cx="218612" cy="217270"/>
              </a:xfrm>
              <a:custGeom>
                <a:avLst/>
                <a:gdLst>
                  <a:gd name="connsiteX0" fmla="*/ 169808 w 218612"/>
                  <a:gd name="connsiteY0" fmla="*/ 167963 h 217270"/>
                  <a:gd name="connsiteX1" fmla="*/ 48720 w 218612"/>
                  <a:gd name="connsiteY1" fmla="*/ 167963 h 217270"/>
                  <a:gd name="connsiteX2" fmla="*/ 26918 w 218612"/>
                  <a:gd name="connsiteY2" fmla="*/ 217271 h 217270"/>
                  <a:gd name="connsiteX3" fmla="*/ 0 w 218612"/>
                  <a:gd name="connsiteY3" fmla="*/ 217271 h 217270"/>
                  <a:gd name="connsiteX4" fmla="*/ 95847 w 218612"/>
                  <a:gd name="connsiteY4" fmla="*/ 0 h 217270"/>
                  <a:gd name="connsiteX5" fmla="*/ 122765 w 218612"/>
                  <a:gd name="connsiteY5" fmla="*/ 0 h 217270"/>
                  <a:gd name="connsiteX6" fmla="*/ 218612 w 218612"/>
                  <a:gd name="connsiteY6" fmla="*/ 217271 h 217270"/>
                  <a:gd name="connsiteX7" fmla="*/ 191695 w 218612"/>
                  <a:gd name="connsiteY7" fmla="*/ 217271 h 217270"/>
                  <a:gd name="connsiteX8" fmla="*/ 169808 w 218612"/>
                  <a:gd name="connsiteY8" fmla="*/ 167963 h 217270"/>
                  <a:gd name="connsiteX9" fmla="*/ 159745 w 218612"/>
                  <a:gd name="connsiteY9" fmla="*/ 144568 h 217270"/>
                  <a:gd name="connsiteX10" fmla="*/ 109432 w 218612"/>
                  <a:gd name="connsiteY10" fmla="*/ 30440 h 217270"/>
                  <a:gd name="connsiteX11" fmla="*/ 58867 w 218612"/>
                  <a:gd name="connsiteY11" fmla="*/ 144568 h 217270"/>
                  <a:gd name="connsiteX12" fmla="*/ 159745 w 218612"/>
                  <a:gd name="connsiteY12" fmla="*/ 144568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12" h="217270">
                    <a:moveTo>
                      <a:pt x="169808" y="167963"/>
                    </a:moveTo>
                    <a:lnTo>
                      <a:pt x="48720" y="167963"/>
                    </a:lnTo>
                    <a:lnTo>
                      <a:pt x="26918" y="217271"/>
                    </a:lnTo>
                    <a:lnTo>
                      <a:pt x="0" y="217271"/>
                    </a:lnTo>
                    <a:lnTo>
                      <a:pt x="95847" y="0"/>
                    </a:lnTo>
                    <a:lnTo>
                      <a:pt x="122765" y="0"/>
                    </a:lnTo>
                    <a:lnTo>
                      <a:pt x="218612" y="217271"/>
                    </a:lnTo>
                    <a:lnTo>
                      <a:pt x="191695" y="217271"/>
                    </a:lnTo>
                    <a:lnTo>
                      <a:pt x="169808" y="167963"/>
                    </a:lnTo>
                    <a:close/>
                    <a:moveTo>
                      <a:pt x="159745" y="144568"/>
                    </a:moveTo>
                    <a:lnTo>
                      <a:pt x="109432" y="30440"/>
                    </a:lnTo>
                    <a:lnTo>
                      <a:pt x="58867" y="144568"/>
                    </a:lnTo>
                    <a:lnTo>
                      <a:pt x="159745" y="144568"/>
                    </a:lnTo>
                    <a:close/>
                  </a:path>
                </a:pathLst>
              </a:custGeom>
              <a:grp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288" name="Freeform: Shape 287">
                <a:extLst>
                  <a:ext uri="{FF2B5EF4-FFF2-40B4-BE49-F238E27FC236}">
                    <a16:creationId xmlns:a16="http://schemas.microsoft.com/office/drawing/2014/main" id="{62F35807-725A-92E0-D782-41CE13344792}"/>
                  </a:ext>
                </a:extLst>
              </p:cNvPr>
              <p:cNvSpPr/>
              <p:nvPr/>
            </p:nvSpPr>
            <p:spPr>
              <a:xfrm>
                <a:off x="1437827"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772 w 168214"/>
                  <a:gd name="connsiteY8" fmla="*/ 115721 h 217270"/>
                  <a:gd name="connsiteX9" fmla="*/ 143226 w 168214"/>
                  <a:gd name="connsiteY9" fmla="*/ 69600 h 217270"/>
                  <a:gd name="connsiteX10" fmla="*/ 83772 w 168214"/>
                  <a:gd name="connsiteY10" fmla="*/ 23396 h 217270"/>
                  <a:gd name="connsiteX11" fmla="*/ 24654 w 168214"/>
                  <a:gd name="connsiteY11" fmla="*/ 23396 h 217270"/>
                  <a:gd name="connsiteX12" fmla="*/ 24654 w 168214"/>
                  <a:gd name="connsiteY12" fmla="*/ 115721 h 217270"/>
                  <a:gd name="connsiteX13" fmla="*/ 83772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772" y="115721"/>
                    </a:moveTo>
                    <a:cubicBezTo>
                      <a:pt x="119159" y="115721"/>
                      <a:pt x="143226" y="98615"/>
                      <a:pt x="143226" y="69600"/>
                    </a:cubicBezTo>
                    <a:cubicBezTo>
                      <a:pt x="143226" y="40502"/>
                      <a:pt x="119159" y="23396"/>
                      <a:pt x="83772" y="23396"/>
                    </a:cubicBezTo>
                    <a:lnTo>
                      <a:pt x="24654" y="23396"/>
                    </a:lnTo>
                    <a:lnTo>
                      <a:pt x="24654" y="115721"/>
                    </a:lnTo>
                    <a:lnTo>
                      <a:pt x="83772" y="115721"/>
                    </a:lnTo>
                    <a:close/>
                  </a:path>
                </a:pathLst>
              </a:custGeom>
              <a:grp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sp>
            <p:nvSpPr>
              <p:cNvPr id="295" name="Freeform: Shape 294">
                <a:extLst>
                  <a:ext uri="{FF2B5EF4-FFF2-40B4-BE49-F238E27FC236}">
                    <a16:creationId xmlns:a16="http://schemas.microsoft.com/office/drawing/2014/main" id="{CCD8FBA9-70BB-56B4-3051-2C23C2ACF0E7}"/>
                  </a:ext>
                </a:extLst>
              </p:cNvPr>
              <p:cNvSpPr/>
              <p:nvPr/>
            </p:nvSpPr>
            <p:spPr>
              <a:xfrm>
                <a:off x="1660380" y="1944729"/>
                <a:ext cx="168214" cy="217270"/>
              </a:xfrm>
              <a:custGeom>
                <a:avLst/>
                <a:gdLst>
                  <a:gd name="connsiteX0" fmla="*/ 0 w 168214"/>
                  <a:gd name="connsiteY0" fmla="*/ 0 h 217270"/>
                  <a:gd name="connsiteX1" fmla="*/ 88216 w 168214"/>
                  <a:gd name="connsiteY1" fmla="*/ 0 h 217270"/>
                  <a:gd name="connsiteX2" fmla="*/ 168215 w 168214"/>
                  <a:gd name="connsiteY2" fmla="*/ 69600 h 217270"/>
                  <a:gd name="connsiteX3" fmla="*/ 88216 w 168214"/>
                  <a:gd name="connsiteY3" fmla="*/ 139201 h 217270"/>
                  <a:gd name="connsiteX4" fmla="*/ 24654 w 168214"/>
                  <a:gd name="connsiteY4" fmla="*/ 139201 h 217270"/>
                  <a:gd name="connsiteX5" fmla="*/ 24654 w 168214"/>
                  <a:gd name="connsiteY5" fmla="*/ 217271 h 217270"/>
                  <a:gd name="connsiteX6" fmla="*/ 0 w 168214"/>
                  <a:gd name="connsiteY6" fmla="*/ 217271 h 217270"/>
                  <a:gd name="connsiteX7" fmla="*/ 0 w 168214"/>
                  <a:gd name="connsiteY7" fmla="*/ 0 h 217270"/>
                  <a:gd name="connsiteX8" fmla="*/ 83856 w 168214"/>
                  <a:gd name="connsiteY8" fmla="*/ 115721 h 217270"/>
                  <a:gd name="connsiteX9" fmla="*/ 143310 w 168214"/>
                  <a:gd name="connsiteY9" fmla="*/ 69600 h 217270"/>
                  <a:gd name="connsiteX10" fmla="*/ 83856 w 168214"/>
                  <a:gd name="connsiteY10" fmla="*/ 23396 h 217270"/>
                  <a:gd name="connsiteX11" fmla="*/ 24738 w 168214"/>
                  <a:gd name="connsiteY11" fmla="*/ 23396 h 217270"/>
                  <a:gd name="connsiteX12" fmla="*/ 24738 w 168214"/>
                  <a:gd name="connsiteY12" fmla="*/ 115721 h 217270"/>
                  <a:gd name="connsiteX13" fmla="*/ 83856 w 168214"/>
                  <a:gd name="connsiteY13" fmla="*/ 115721 h 2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14" h="217270">
                    <a:moveTo>
                      <a:pt x="0" y="0"/>
                    </a:moveTo>
                    <a:lnTo>
                      <a:pt x="88216" y="0"/>
                    </a:lnTo>
                    <a:cubicBezTo>
                      <a:pt x="133079" y="0"/>
                      <a:pt x="168215" y="28763"/>
                      <a:pt x="168215" y="69600"/>
                    </a:cubicBezTo>
                    <a:cubicBezTo>
                      <a:pt x="168215" y="110354"/>
                      <a:pt x="133079" y="139201"/>
                      <a:pt x="88216" y="139201"/>
                    </a:cubicBezTo>
                    <a:lnTo>
                      <a:pt x="24654" y="139201"/>
                    </a:lnTo>
                    <a:lnTo>
                      <a:pt x="24654" y="217271"/>
                    </a:lnTo>
                    <a:lnTo>
                      <a:pt x="0" y="217271"/>
                    </a:lnTo>
                    <a:lnTo>
                      <a:pt x="0" y="0"/>
                    </a:lnTo>
                    <a:close/>
                    <a:moveTo>
                      <a:pt x="83856" y="115721"/>
                    </a:moveTo>
                    <a:cubicBezTo>
                      <a:pt x="119243" y="115721"/>
                      <a:pt x="143310" y="98615"/>
                      <a:pt x="143310" y="69600"/>
                    </a:cubicBezTo>
                    <a:cubicBezTo>
                      <a:pt x="143310" y="40502"/>
                      <a:pt x="119243" y="23396"/>
                      <a:pt x="83856" y="23396"/>
                    </a:cubicBezTo>
                    <a:lnTo>
                      <a:pt x="24738" y="23396"/>
                    </a:lnTo>
                    <a:lnTo>
                      <a:pt x="24738" y="115721"/>
                    </a:lnTo>
                    <a:lnTo>
                      <a:pt x="83856" y="115721"/>
                    </a:lnTo>
                    <a:close/>
                  </a:path>
                </a:pathLst>
              </a:custGeom>
              <a:grp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sp>
          <p:nvSpPr>
            <p:cNvPr id="282" name="Freeform: Shape 281">
              <a:extLst>
                <a:ext uri="{FF2B5EF4-FFF2-40B4-BE49-F238E27FC236}">
                  <a16:creationId xmlns:a16="http://schemas.microsoft.com/office/drawing/2014/main" id="{6EBAC341-783C-95E7-2A5A-130583BF1E57}"/>
                </a:ext>
              </a:extLst>
            </p:cNvPr>
            <p:cNvSpPr/>
            <p:nvPr/>
          </p:nvSpPr>
          <p:spPr>
            <a:xfrm>
              <a:off x="988779" y="1554296"/>
              <a:ext cx="1035620" cy="1035620"/>
            </a:xfrm>
            <a:custGeom>
              <a:avLst/>
              <a:gdLst>
                <a:gd name="connsiteX0" fmla="*/ 956544 w 1035620"/>
                <a:gd name="connsiteY0" fmla="*/ 27253 h 1035620"/>
                <a:gd name="connsiteX1" fmla="*/ 1008367 w 1035620"/>
                <a:gd name="connsiteY1" fmla="*/ 79076 h 1035620"/>
                <a:gd name="connsiteX2" fmla="*/ 1008367 w 1035620"/>
                <a:gd name="connsiteY2" fmla="*/ 956544 h 1035620"/>
                <a:gd name="connsiteX3" fmla="*/ 956544 w 1035620"/>
                <a:gd name="connsiteY3" fmla="*/ 1008367 h 1035620"/>
                <a:gd name="connsiteX4" fmla="*/ 79076 w 1035620"/>
                <a:gd name="connsiteY4" fmla="*/ 1008367 h 1035620"/>
                <a:gd name="connsiteX5" fmla="*/ 27253 w 1035620"/>
                <a:gd name="connsiteY5" fmla="*/ 956544 h 1035620"/>
                <a:gd name="connsiteX6" fmla="*/ 27253 w 1035620"/>
                <a:gd name="connsiteY6" fmla="*/ 79076 h 1035620"/>
                <a:gd name="connsiteX7" fmla="*/ 79076 w 1035620"/>
                <a:gd name="connsiteY7" fmla="*/ 27253 h 1035620"/>
                <a:gd name="connsiteX8" fmla="*/ 956544 w 1035620"/>
                <a:gd name="connsiteY8" fmla="*/ 27253 h 1035620"/>
                <a:gd name="connsiteX9" fmla="*/ 956544 w 1035620"/>
                <a:gd name="connsiteY9" fmla="*/ 0 h 1035620"/>
                <a:gd name="connsiteX10" fmla="*/ 79076 w 1035620"/>
                <a:gd name="connsiteY10" fmla="*/ 0 h 1035620"/>
                <a:gd name="connsiteX11" fmla="*/ 0 w 1035620"/>
                <a:gd name="connsiteY11" fmla="*/ 79076 h 1035620"/>
                <a:gd name="connsiteX12" fmla="*/ 0 w 1035620"/>
                <a:gd name="connsiteY12" fmla="*/ 956544 h 1035620"/>
                <a:gd name="connsiteX13" fmla="*/ 79076 w 1035620"/>
                <a:gd name="connsiteY13" fmla="*/ 1035620 h 1035620"/>
                <a:gd name="connsiteX14" fmla="*/ 956544 w 1035620"/>
                <a:gd name="connsiteY14" fmla="*/ 1035620 h 1035620"/>
                <a:gd name="connsiteX15" fmla="*/ 1035620 w 1035620"/>
                <a:gd name="connsiteY15" fmla="*/ 956544 h 1035620"/>
                <a:gd name="connsiteX16" fmla="*/ 1035620 w 1035620"/>
                <a:gd name="connsiteY16" fmla="*/ 79076 h 1035620"/>
                <a:gd name="connsiteX17" fmla="*/ 956544 w 1035620"/>
                <a:gd name="connsiteY17" fmla="*/ 0 h 1035620"/>
                <a:gd name="connsiteX18" fmla="*/ 956544 w 1035620"/>
                <a:gd name="connsiteY18" fmla="*/ 0 h 103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620" h="1035620">
                  <a:moveTo>
                    <a:pt x="956544" y="27253"/>
                  </a:moveTo>
                  <a:cubicBezTo>
                    <a:pt x="985139" y="27253"/>
                    <a:pt x="1008367" y="50481"/>
                    <a:pt x="1008367" y="79076"/>
                  </a:cubicBezTo>
                  <a:lnTo>
                    <a:pt x="1008367" y="956544"/>
                  </a:lnTo>
                  <a:cubicBezTo>
                    <a:pt x="1008367" y="985139"/>
                    <a:pt x="985139" y="1008367"/>
                    <a:pt x="956544" y="1008367"/>
                  </a:cubicBezTo>
                  <a:lnTo>
                    <a:pt x="79076" y="1008367"/>
                  </a:lnTo>
                  <a:cubicBezTo>
                    <a:pt x="50481" y="1008367"/>
                    <a:pt x="27253" y="985139"/>
                    <a:pt x="27253" y="956544"/>
                  </a:cubicBezTo>
                  <a:lnTo>
                    <a:pt x="27253" y="79076"/>
                  </a:lnTo>
                  <a:cubicBezTo>
                    <a:pt x="27253" y="50481"/>
                    <a:pt x="50481" y="27253"/>
                    <a:pt x="79076" y="27253"/>
                  </a:cubicBezTo>
                  <a:lnTo>
                    <a:pt x="956544" y="27253"/>
                  </a:lnTo>
                  <a:moveTo>
                    <a:pt x="956544" y="0"/>
                  </a:moveTo>
                  <a:lnTo>
                    <a:pt x="79076" y="0"/>
                  </a:lnTo>
                  <a:cubicBezTo>
                    <a:pt x="35387" y="0"/>
                    <a:pt x="0" y="35387"/>
                    <a:pt x="0" y="79076"/>
                  </a:cubicBezTo>
                  <a:lnTo>
                    <a:pt x="0" y="956544"/>
                  </a:lnTo>
                  <a:cubicBezTo>
                    <a:pt x="0" y="1000233"/>
                    <a:pt x="35387" y="1035620"/>
                    <a:pt x="79076" y="1035620"/>
                  </a:cubicBezTo>
                  <a:lnTo>
                    <a:pt x="956544" y="1035620"/>
                  </a:lnTo>
                  <a:cubicBezTo>
                    <a:pt x="1000233" y="1035620"/>
                    <a:pt x="1035620" y="1000233"/>
                    <a:pt x="1035620" y="956544"/>
                  </a:cubicBezTo>
                  <a:lnTo>
                    <a:pt x="1035620" y="79076"/>
                  </a:lnTo>
                  <a:cubicBezTo>
                    <a:pt x="1035620" y="35387"/>
                    <a:pt x="1000233" y="0"/>
                    <a:pt x="956544" y="0"/>
                  </a:cubicBezTo>
                  <a:lnTo>
                    <a:pt x="956544" y="0"/>
                  </a:lnTo>
                  <a:close/>
                </a:path>
              </a:pathLst>
            </a:custGeom>
            <a:grpFill/>
            <a:ln w="837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itchFamily="2" charset="0"/>
                <a:ea typeface="+mn-ea"/>
                <a:cs typeface="+mn-cs"/>
              </a:endParaRPr>
            </a:p>
          </p:txBody>
        </p:sp>
      </p:grpSp>
      <p:grpSp>
        <p:nvGrpSpPr>
          <p:cNvPr id="298" name="Group 297" descr="AMD Secure Processor&#10;">
            <a:extLst>
              <a:ext uri="{FF2B5EF4-FFF2-40B4-BE49-F238E27FC236}">
                <a16:creationId xmlns:a16="http://schemas.microsoft.com/office/drawing/2014/main" id="{4E12981B-9BD7-87E7-849F-0143802A905B}"/>
              </a:ext>
            </a:extLst>
          </p:cNvPr>
          <p:cNvGrpSpPr/>
          <p:nvPr/>
        </p:nvGrpSpPr>
        <p:grpSpPr>
          <a:xfrm>
            <a:off x="608139" y="5678295"/>
            <a:ext cx="10972674" cy="451827"/>
            <a:chOff x="608139" y="5431013"/>
            <a:chExt cx="10972674" cy="451827"/>
          </a:xfrm>
          <a:solidFill>
            <a:schemeClr val="accent6">
              <a:lumMod val="40000"/>
              <a:lumOff val="60000"/>
            </a:schemeClr>
          </a:solidFill>
        </p:grpSpPr>
        <p:sp>
          <p:nvSpPr>
            <p:cNvPr id="299" name="Rectangle 298">
              <a:extLst>
                <a:ext uri="{FF2B5EF4-FFF2-40B4-BE49-F238E27FC236}">
                  <a16:creationId xmlns:a16="http://schemas.microsoft.com/office/drawing/2014/main" id="{70DA4B0B-340B-DDFF-D2C8-4BD6DDE00869}"/>
                </a:ext>
              </a:extLst>
            </p:cNvPr>
            <p:cNvSpPr/>
            <p:nvPr/>
          </p:nvSpPr>
          <p:spPr>
            <a:xfrm>
              <a:off x="608139" y="5431013"/>
              <a:ext cx="10972674" cy="451827"/>
            </a:xfrm>
            <a:prstGeom prst="rect">
              <a:avLst/>
            </a:prstGeom>
            <a:grp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300" name="TextBox 299">
              <a:extLst>
                <a:ext uri="{FF2B5EF4-FFF2-40B4-BE49-F238E27FC236}">
                  <a16:creationId xmlns:a16="http://schemas.microsoft.com/office/drawing/2014/main" id="{06226F9A-82FA-D282-513E-48C7CB1841E2}"/>
                </a:ext>
              </a:extLst>
            </p:cNvPr>
            <p:cNvSpPr txBox="1"/>
            <p:nvPr/>
          </p:nvSpPr>
          <p:spPr>
            <a:xfrm>
              <a:off x="4170024" y="5533815"/>
              <a:ext cx="3808369" cy="246221"/>
            </a:xfrm>
            <a:prstGeom prst="rect">
              <a:avLst/>
            </a:prstGeom>
            <a:grpFill/>
            <a:ln>
              <a:noFill/>
            </a:ln>
          </p:spPr>
          <p:txBody>
            <a:bodyPr wrap="square" lIns="0" tIns="0" rIns="0" bIns="0" rtlCol="0" anchor="ctr">
              <a:spAutoFit/>
            </a:bodyPr>
            <a:lstStyle/>
            <a:p>
              <a:pPr marL="0" marR="0" lvl="0" indent="0" algn="ctr" defTabSz="913304" rtl="0" eaLnBrk="1" fontAlgn="auto" latinLnBrk="0" hangingPunct="1">
                <a:lnSpc>
                  <a:spcPct val="100000"/>
                </a:lnSpc>
                <a:spcBef>
                  <a:spcPts val="0"/>
                </a:spcBef>
                <a:spcAft>
                  <a:spcPts val="600"/>
                </a:spcAft>
                <a:buClrTx/>
                <a:buSzTx/>
                <a:buFontTx/>
                <a:buNone/>
                <a:tabLst/>
                <a:defRPr/>
              </a:pPr>
              <a:r>
                <a:rPr kumimoji="0" lang="en-US" sz="1600" b="0" i="0" u="none" strike="noStrike" kern="0" cap="none" spc="0" normalizeH="0" baseline="0" noProof="0" dirty="0">
                  <a:ln>
                    <a:noFill/>
                  </a:ln>
                  <a:solidFill>
                    <a:srgbClr val="1B1D36"/>
                  </a:solidFill>
                  <a:effectLst/>
                  <a:uLnTx/>
                  <a:uFillTx/>
                  <a:latin typeface="Arial" pitchFamily="2" charset="0"/>
                  <a:ea typeface="+mn-ea"/>
                  <a:cs typeface="+mn-cs"/>
                </a:rPr>
                <a:t>AMD SEV-SNP or Intel TDX</a:t>
              </a:r>
              <a:endParaRPr kumimoji="0" lang="en-US" sz="1200" b="0" i="0" u="none" strike="noStrike" kern="0" cap="none" spc="0" normalizeH="0" baseline="0" noProof="0" dirty="0">
                <a:ln>
                  <a:noFill/>
                </a:ln>
                <a:solidFill>
                  <a:srgbClr val="1B1D36"/>
                </a:solidFill>
                <a:effectLst/>
                <a:uLnTx/>
                <a:uFillTx/>
                <a:latin typeface="Arial" pitchFamily="2" charset="0"/>
                <a:ea typeface="+mn-ea"/>
                <a:cs typeface="+mn-cs"/>
              </a:endParaRPr>
            </a:p>
          </p:txBody>
        </p:sp>
      </p:grpSp>
      <p:grpSp>
        <p:nvGrpSpPr>
          <p:cNvPr id="313" name="Group 312" descr="stop icon">
            <a:extLst>
              <a:ext uri="{FF2B5EF4-FFF2-40B4-BE49-F238E27FC236}">
                <a16:creationId xmlns:a16="http://schemas.microsoft.com/office/drawing/2014/main" id="{A5602B60-D2D4-EB07-0BC1-A01E3927EAFE}"/>
              </a:ext>
            </a:extLst>
          </p:cNvPr>
          <p:cNvGrpSpPr/>
          <p:nvPr/>
        </p:nvGrpSpPr>
        <p:grpSpPr>
          <a:xfrm>
            <a:off x="3993219" y="5025505"/>
            <a:ext cx="599416" cy="599110"/>
            <a:chOff x="3993219" y="5019571"/>
            <a:chExt cx="599416" cy="599110"/>
          </a:xfrm>
          <a:solidFill>
            <a:schemeClr val="bg1"/>
          </a:solidFill>
        </p:grpSpPr>
        <p:sp>
          <p:nvSpPr>
            <p:cNvPr id="314" name="!! teal white">
              <a:extLst>
                <a:ext uri="{FF2B5EF4-FFF2-40B4-BE49-F238E27FC236}">
                  <a16:creationId xmlns:a16="http://schemas.microsoft.com/office/drawing/2014/main" id="{F2554D6A-5AA2-036D-3057-80722DB0D368}"/>
                </a:ext>
              </a:extLst>
            </p:cNvPr>
            <p:cNvSpPr/>
            <p:nvPr/>
          </p:nvSpPr>
          <p:spPr>
            <a:xfrm>
              <a:off x="3993219" y="5019571"/>
              <a:ext cx="599416" cy="599110"/>
            </a:xfrm>
            <a:prstGeom prst="ellipse">
              <a:avLst/>
            </a:prstGeom>
            <a:solidFill>
              <a:srgbClr val="9F284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700" b="0" i="0" u="none" strike="noStrike" kern="1200" cap="none" spc="0" normalizeH="0" baseline="0" noProof="0" dirty="0">
                <a:ln>
                  <a:noFill/>
                </a:ln>
                <a:solidFill>
                  <a:srgbClr val="FFFFFF"/>
                </a:solidFill>
                <a:effectLst/>
                <a:uLnTx/>
                <a:uFillTx/>
                <a:latin typeface="Arial" pitchFamily="2" charset="0"/>
                <a:ea typeface="+mn-ea"/>
                <a:cs typeface="+mn-cs"/>
                <a:sym typeface="Arial" pitchFamily="2" charset="0"/>
              </a:endParaRPr>
            </a:p>
          </p:txBody>
        </p:sp>
        <p:grpSp>
          <p:nvGrpSpPr>
            <p:cNvPr id="315" name="Group 314">
              <a:extLst>
                <a:ext uri="{FF2B5EF4-FFF2-40B4-BE49-F238E27FC236}">
                  <a16:creationId xmlns:a16="http://schemas.microsoft.com/office/drawing/2014/main" id="{F3760422-2D6C-447C-8826-6713A35E01B7}"/>
                </a:ext>
              </a:extLst>
            </p:cNvPr>
            <p:cNvGrpSpPr/>
            <p:nvPr/>
          </p:nvGrpSpPr>
          <p:grpSpPr>
            <a:xfrm>
              <a:off x="4133968" y="5160170"/>
              <a:ext cx="317916" cy="317914"/>
              <a:chOff x="6153861" y="1301811"/>
              <a:chExt cx="509111" cy="509111"/>
            </a:xfrm>
            <a:grpFill/>
          </p:grpSpPr>
          <p:sp>
            <p:nvSpPr>
              <p:cNvPr id="316" name="Oval 315">
                <a:extLst>
                  <a:ext uri="{FF2B5EF4-FFF2-40B4-BE49-F238E27FC236}">
                    <a16:creationId xmlns:a16="http://schemas.microsoft.com/office/drawing/2014/main" id="{BD81A5AF-E470-4984-420D-CEA6ED798A66}"/>
                  </a:ext>
                </a:extLst>
              </p:cNvPr>
              <p:cNvSpPr/>
              <p:nvPr/>
            </p:nvSpPr>
            <p:spPr>
              <a:xfrm>
                <a:off x="6153861" y="1301811"/>
                <a:ext cx="509111" cy="509111"/>
              </a:xfrm>
              <a:prstGeom prst="ellipse">
                <a:avLst/>
              </a:prstGeom>
              <a:no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cxnSp>
            <p:nvCxnSpPr>
              <p:cNvPr id="317" name="Straight Connector 316">
                <a:extLst>
                  <a:ext uri="{FF2B5EF4-FFF2-40B4-BE49-F238E27FC236}">
                    <a16:creationId xmlns:a16="http://schemas.microsoft.com/office/drawing/2014/main" id="{E561FA95-0758-1617-FA84-3C6DC6187EB0}"/>
                  </a:ext>
                </a:extLst>
              </p:cNvPr>
              <p:cNvCxnSpPr>
                <a:cxnSpLocks/>
              </p:cNvCxnSpPr>
              <p:nvPr/>
            </p:nvCxnSpPr>
            <p:spPr bwMode="gray">
              <a:xfrm flipV="1">
                <a:off x="6224799" y="1376369"/>
                <a:ext cx="363618" cy="359580"/>
              </a:xfrm>
              <a:prstGeom prst="line">
                <a:avLst/>
              </a:prstGeom>
              <a:grpFill/>
              <a:ln w="25400">
                <a:solidFill>
                  <a:schemeClr val="bg1"/>
                </a:solidFill>
              </a:ln>
              <a:effectLst/>
            </p:spPr>
            <p:style>
              <a:lnRef idx="1">
                <a:schemeClr val="accent1"/>
              </a:lnRef>
              <a:fillRef idx="3">
                <a:schemeClr val="accent1"/>
              </a:fillRef>
              <a:effectRef idx="2">
                <a:schemeClr val="accent1"/>
              </a:effectRef>
              <a:fontRef idx="minor">
                <a:schemeClr val="lt1"/>
              </a:fontRef>
            </p:style>
          </p:cxnSp>
        </p:grpSp>
      </p:grpSp>
      <p:grpSp>
        <p:nvGrpSpPr>
          <p:cNvPr id="318" name="Group 317" descr="stop icon">
            <a:extLst>
              <a:ext uri="{FF2B5EF4-FFF2-40B4-BE49-F238E27FC236}">
                <a16:creationId xmlns:a16="http://schemas.microsoft.com/office/drawing/2014/main" id="{FF01D917-A092-3438-FA76-DA2081177330}"/>
              </a:ext>
            </a:extLst>
          </p:cNvPr>
          <p:cNvGrpSpPr/>
          <p:nvPr/>
        </p:nvGrpSpPr>
        <p:grpSpPr>
          <a:xfrm>
            <a:off x="7602083" y="5025505"/>
            <a:ext cx="599416" cy="599110"/>
            <a:chOff x="3993219" y="5019571"/>
            <a:chExt cx="599416" cy="599110"/>
          </a:xfrm>
          <a:solidFill>
            <a:schemeClr val="bg1"/>
          </a:solidFill>
        </p:grpSpPr>
        <p:sp>
          <p:nvSpPr>
            <p:cNvPr id="319" name="!! teal white">
              <a:extLst>
                <a:ext uri="{FF2B5EF4-FFF2-40B4-BE49-F238E27FC236}">
                  <a16:creationId xmlns:a16="http://schemas.microsoft.com/office/drawing/2014/main" id="{EC38A67A-B2A1-DB0B-0D0D-38A1092AE3B9}"/>
                </a:ext>
              </a:extLst>
            </p:cNvPr>
            <p:cNvSpPr/>
            <p:nvPr/>
          </p:nvSpPr>
          <p:spPr>
            <a:xfrm>
              <a:off x="3993219" y="5019571"/>
              <a:ext cx="599416" cy="599110"/>
            </a:xfrm>
            <a:prstGeom prst="ellipse">
              <a:avLst/>
            </a:prstGeom>
            <a:solidFill>
              <a:srgbClr val="9F2842"/>
            </a:solid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sz="700" b="0" i="0" u="none" strike="noStrike" kern="1200" cap="none" spc="0" normalizeH="0" baseline="0" noProof="0" dirty="0">
                <a:ln>
                  <a:noFill/>
                </a:ln>
                <a:solidFill>
                  <a:srgbClr val="FFFFFF"/>
                </a:solidFill>
                <a:effectLst/>
                <a:uLnTx/>
                <a:uFillTx/>
                <a:latin typeface="Arial" pitchFamily="2" charset="0"/>
                <a:ea typeface="+mn-ea"/>
                <a:cs typeface="+mn-cs"/>
                <a:sym typeface="Arial" pitchFamily="2" charset="0"/>
              </a:endParaRPr>
            </a:p>
          </p:txBody>
        </p:sp>
        <p:grpSp>
          <p:nvGrpSpPr>
            <p:cNvPr id="320" name="Group 319">
              <a:extLst>
                <a:ext uri="{FF2B5EF4-FFF2-40B4-BE49-F238E27FC236}">
                  <a16:creationId xmlns:a16="http://schemas.microsoft.com/office/drawing/2014/main" id="{300642AF-A99D-44E7-E53D-209E343E2FB2}"/>
                </a:ext>
              </a:extLst>
            </p:cNvPr>
            <p:cNvGrpSpPr/>
            <p:nvPr/>
          </p:nvGrpSpPr>
          <p:grpSpPr>
            <a:xfrm>
              <a:off x="4133970" y="5160170"/>
              <a:ext cx="317916" cy="317914"/>
              <a:chOff x="6153864" y="1301811"/>
              <a:chExt cx="509111" cy="509111"/>
            </a:xfrm>
            <a:grpFill/>
          </p:grpSpPr>
          <p:sp>
            <p:nvSpPr>
              <p:cNvPr id="321" name="Oval 320">
                <a:extLst>
                  <a:ext uri="{FF2B5EF4-FFF2-40B4-BE49-F238E27FC236}">
                    <a16:creationId xmlns:a16="http://schemas.microsoft.com/office/drawing/2014/main" id="{F1AEAD28-DA8E-7459-D0C8-A25B68B8D0DE}"/>
                  </a:ext>
                </a:extLst>
              </p:cNvPr>
              <p:cNvSpPr/>
              <p:nvPr/>
            </p:nvSpPr>
            <p:spPr>
              <a:xfrm>
                <a:off x="6153864" y="1301811"/>
                <a:ext cx="509111" cy="509111"/>
              </a:xfrm>
              <a:prstGeom prst="ellipse">
                <a:avLst/>
              </a:prstGeom>
              <a:no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cxnSp>
            <p:nvCxnSpPr>
              <p:cNvPr id="322" name="Straight Connector 321">
                <a:extLst>
                  <a:ext uri="{FF2B5EF4-FFF2-40B4-BE49-F238E27FC236}">
                    <a16:creationId xmlns:a16="http://schemas.microsoft.com/office/drawing/2014/main" id="{CFA13AC6-3C97-8464-C0AC-4F7674543A14}"/>
                  </a:ext>
                </a:extLst>
              </p:cNvPr>
              <p:cNvCxnSpPr>
                <a:cxnSpLocks/>
              </p:cNvCxnSpPr>
              <p:nvPr/>
            </p:nvCxnSpPr>
            <p:spPr bwMode="gray">
              <a:xfrm flipV="1">
                <a:off x="6224799" y="1376369"/>
                <a:ext cx="363618" cy="359580"/>
              </a:xfrm>
              <a:prstGeom prst="line">
                <a:avLst/>
              </a:prstGeom>
              <a:grpFill/>
              <a:ln w="25400">
                <a:solidFill>
                  <a:schemeClr val="bg1"/>
                </a:solidFill>
              </a:ln>
              <a:effectLst/>
            </p:spPr>
            <p:style>
              <a:lnRef idx="1">
                <a:schemeClr val="accent1"/>
              </a:lnRef>
              <a:fillRef idx="3">
                <a:schemeClr val="accent1"/>
              </a:fillRef>
              <a:effectRef idx="2">
                <a:schemeClr val="accent1"/>
              </a:effectRef>
              <a:fontRef idx="minor">
                <a:schemeClr val="lt1"/>
              </a:fontRef>
            </p:style>
          </p:cxnSp>
        </p:grpSp>
      </p:grpSp>
      <p:sp>
        <p:nvSpPr>
          <p:cNvPr id="2" name="Trapezoid 1" descr="Plum flag with white text">
            <a:extLst>
              <a:ext uri="{FF2B5EF4-FFF2-40B4-BE49-F238E27FC236}">
                <a16:creationId xmlns:a16="http://schemas.microsoft.com/office/drawing/2014/main" id="{D9143721-9074-4C03-F3DB-A608DC2E2F76}"/>
              </a:ext>
            </a:extLst>
          </p:cNvPr>
          <p:cNvSpPr/>
          <p:nvPr/>
        </p:nvSpPr>
        <p:spPr bwMode="gray">
          <a:xfrm flipH="1">
            <a:off x="10873742" y="355318"/>
            <a:ext cx="2001609" cy="495866"/>
          </a:xfrm>
          <a:prstGeom prst="trapezoid">
            <a:avLst>
              <a:gd name="adj" fmla="val 1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74320" tIns="45720" rIns="548640" bIns="91440" numCol="1" spcCol="0" rtlCol="0" fromWordArt="0" anchor="ctr" anchorCtr="0" forceAA="0" compatLnSpc="1">
            <a:prstTxWarp prst="textNoShape">
              <a:avLst/>
            </a:prstTxWarp>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ACC</a:t>
            </a:r>
          </a:p>
        </p:txBody>
      </p:sp>
    </p:spTree>
    <p:extLst>
      <p:ext uri="{BB962C8B-B14F-4D97-AF65-F5344CB8AC3E}">
        <p14:creationId xmlns:p14="http://schemas.microsoft.com/office/powerpoint/2010/main" val="1619268570"/>
      </p:ext>
    </p:extLst>
  </p:cSld>
  <p:clrMapOvr>
    <a:masterClrMapping/>
  </p:clrMapOvr>
  <mc:AlternateContent xmlns:mc="http://schemas.openxmlformats.org/markup-compatibility/2006" xmlns:p14="http://schemas.microsoft.com/office/powerpoint/2010/main">
    <mc:Choice Requires="p14">
      <p:transition p14:dur="0"/>
    </mc:Choice>
    <mc:Fallback xmlns:a16="http://schemas.microsoft.com/office/drawing/2014/main" xmlns="">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2DC4531-F3A8-736F-0B56-944EE8C833BC}"/>
              </a:ext>
            </a:extLst>
          </p:cNvPr>
          <p:cNvSpPr>
            <a:spLocks noGrp="1"/>
          </p:cNvSpPr>
          <p:nvPr>
            <p:ph type="title"/>
          </p:nvPr>
        </p:nvSpPr>
        <p:spPr/>
        <p:txBody>
          <a:bodyPr/>
          <a:lstStyle/>
          <a:p>
            <a:r>
              <a:rPr lang="en-US" dirty="0">
                <a:solidFill>
                  <a:schemeClr val="accent2"/>
                </a:solidFill>
              </a:rPr>
              <a:t>Confidential Computing Helps Reduce The Need For Trust</a:t>
            </a:r>
          </a:p>
        </p:txBody>
      </p:sp>
      <p:sp>
        <p:nvSpPr>
          <p:cNvPr id="5" name="Subtitle 4">
            <a:extLst>
              <a:ext uri="{FF2B5EF4-FFF2-40B4-BE49-F238E27FC236}">
                <a16:creationId xmlns:a16="http://schemas.microsoft.com/office/drawing/2014/main" id="{537A526E-651D-E3E2-272D-77B707BCD2AD}"/>
              </a:ext>
            </a:extLst>
          </p:cNvPr>
          <p:cNvSpPr>
            <a:spLocks noGrp="1"/>
          </p:cNvSpPr>
          <p:nvPr>
            <p:ph type="subTitle" idx="10"/>
          </p:nvPr>
        </p:nvSpPr>
        <p:spPr/>
        <p:txBody>
          <a:bodyPr/>
          <a:lstStyle/>
          <a:p>
            <a:r>
              <a:rPr lang="en-US" dirty="0"/>
              <a:t>Zero Trust Means Less Trust, Not More</a:t>
            </a:r>
          </a:p>
        </p:txBody>
      </p:sp>
      <p:sp>
        <p:nvSpPr>
          <p:cNvPr id="7" name="Text Placeholder 6">
            <a:extLst>
              <a:ext uri="{FF2B5EF4-FFF2-40B4-BE49-F238E27FC236}">
                <a16:creationId xmlns:a16="http://schemas.microsoft.com/office/drawing/2014/main" id="{35D87613-0D36-0ED4-E400-A641D841D7B0}"/>
              </a:ext>
            </a:extLst>
          </p:cNvPr>
          <p:cNvSpPr>
            <a:spLocks noGrp="1"/>
          </p:cNvSpPr>
          <p:nvPr>
            <p:ph type="body" sz="quarter" idx="20"/>
          </p:nvPr>
        </p:nvSpPr>
        <p:spPr/>
        <p:txBody>
          <a:bodyPr/>
          <a:lstStyle/>
          <a:p>
            <a:pPr marL="114300" indent="0">
              <a:buNone/>
            </a:pPr>
            <a:r>
              <a:rPr lang="en-US" dirty="0">
                <a:solidFill>
                  <a:schemeClr val="tx1"/>
                </a:solidFill>
              </a:rPr>
              <a:t>AMD SEV-ES &amp; SEV-SNP and Intel SGX &amp; TDX support</a:t>
            </a:r>
          </a:p>
          <a:p>
            <a:pPr marL="114300" indent="0">
              <a:buNone/>
            </a:pPr>
            <a:r>
              <a:rPr lang="en-US" dirty="0">
                <a:solidFill>
                  <a:schemeClr val="tx1"/>
                </a:solidFill>
              </a:rPr>
              <a:t>Not compatible with Memory Tiering</a:t>
            </a:r>
          </a:p>
          <a:p>
            <a:pPr marL="114300" indent="0">
              <a:buNone/>
            </a:pPr>
            <a:r>
              <a:rPr lang="en-US" dirty="0">
                <a:solidFill>
                  <a:schemeClr val="tx1"/>
                </a:solidFill>
              </a:rPr>
              <a:t>ESX Quick Boot</a:t>
            </a:r>
          </a:p>
          <a:p>
            <a:pPr marL="114300" indent="0">
              <a:buNone/>
            </a:pPr>
            <a:r>
              <a:rPr lang="en-US" b="1" dirty="0">
                <a:solidFill>
                  <a:schemeClr val="tx1"/>
                </a:solidFill>
                <a:latin typeface="Arial" pitchFamily="2" charset="0"/>
              </a:rPr>
              <a:t>Rich roadmap going forward, deep security made easier</a:t>
            </a:r>
          </a:p>
        </p:txBody>
      </p:sp>
      <p:pic>
        <p:nvPicPr>
          <p:cNvPr id="9" name="Content Placeholder 8">
            <a:extLst>
              <a:ext uri="{FF2B5EF4-FFF2-40B4-BE49-F238E27FC236}">
                <a16:creationId xmlns:a16="http://schemas.microsoft.com/office/drawing/2014/main" id="{08B479D3-3333-2AFC-4974-DB00D44237AF}"/>
              </a:ext>
            </a:extLst>
          </p:cNvPr>
          <p:cNvPicPr>
            <a:picLocks noGrp="1" noChangeAspect="1"/>
          </p:cNvPicPr>
          <p:nvPr>
            <p:ph sz="quarter" idx="19"/>
          </p:nvPr>
        </p:nvPicPr>
        <p:blipFill>
          <a:blip r:embed="rId3"/>
          <a:srcRect/>
          <a:stretch/>
        </p:blipFill>
        <p:spPr>
          <a:xfrm>
            <a:off x="1071492" y="1474170"/>
            <a:ext cx="7043737" cy="4572000"/>
          </a:xfrm>
        </p:spPr>
      </p:pic>
      <p:sp>
        <p:nvSpPr>
          <p:cNvPr id="2" name="Arrow: Right 1">
            <a:extLst>
              <a:ext uri="{FF2B5EF4-FFF2-40B4-BE49-F238E27FC236}">
                <a16:creationId xmlns:a16="http://schemas.microsoft.com/office/drawing/2014/main" id="{88748F9A-587E-36CD-59F2-235248113551}"/>
              </a:ext>
            </a:extLst>
          </p:cNvPr>
          <p:cNvSpPr/>
          <p:nvPr/>
        </p:nvSpPr>
        <p:spPr>
          <a:xfrm rot="10800000">
            <a:off x="4035014" y="3412738"/>
            <a:ext cx="1116692" cy="521293"/>
          </a:xfrm>
          <a:prstGeom prst="rightArrow">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itchFamily="2" charset="0"/>
              <a:ea typeface="+mn-ea"/>
              <a:cs typeface="+mn-cs"/>
            </a:endParaRPr>
          </a:p>
        </p:txBody>
      </p:sp>
      <p:sp>
        <p:nvSpPr>
          <p:cNvPr id="6" name="TextBox 5">
            <a:extLst>
              <a:ext uri="{FF2B5EF4-FFF2-40B4-BE49-F238E27FC236}">
                <a16:creationId xmlns:a16="http://schemas.microsoft.com/office/drawing/2014/main" id="{5985D53E-E60C-2C8F-3D55-118D4ACC608C}"/>
              </a:ext>
            </a:extLst>
          </p:cNvPr>
          <p:cNvSpPr txBox="1"/>
          <p:nvPr/>
        </p:nvSpPr>
        <p:spPr>
          <a:xfrm>
            <a:off x="3046344" y="3045551"/>
            <a:ext cx="609268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rPr>
              <a:t> </a:t>
            </a:r>
          </a:p>
        </p:txBody>
      </p:sp>
      <p:sp>
        <p:nvSpPr>
          <p:cNvPr id="3" name="Trapezoid 2" descr="Plum flag with white text">
            <a:extLst>
              <a:ext uri="{FF2B5EF4-FFF2-40B4-BE49-F238E27FC236}">
                <a16:creationId xmlns:a16="http://schemas.microsoft.com/office/drawing/2014/main" id="{B823C075-50DD-7CE1-43CB-B65B7452F060}"/>
              </a:ext>
            </a:extLst>
          </p:cNvPr>
          <p:cNvSpPr/>
          <p:nvPr/>
        </p:nvSpPr>
        <p:spPr bwMode="gray">
          <a:xfrm flipH="1">
            <a:off x="10873742" y="355318"/>
            <a:ext cx="2001609" cy="495866"/>
          </a:xfrm>
          <a:prstGeom prst="trapezoid">
            <a:avLst>
              <a:gd name="adj" fmla="val 1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74320" tIns="45720" rIns="548640" bIns="91440" numCol="1" spcCol="0" rtlCol="0" fromWordArt="0" anchor="ctr" anchorCtr="0" forceAA="0" compatLnSpc="1">
            <a:prstTxWarp prst="textNoShape">
              <a:avLst/>
            </a:prstTxWarp>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a:ea typeface="+mn-ea"/>
                <a:cs typeface="+mn-cs"/>
              </a:rPr>
              <a:t>ACC</a:t>
            </a:r>
          </a:p>
        </p:txBody>
      </p:sp>
    </p:spTree>
    <p:extLst>
      <p:ext uri="{BB962C8B-B14F-4D97-AF65-F5344CB8AC3E}">
        <p14:creationId xmlns:p14="http://schemas.microsoft.com/office/powerpoint/2010/main" val="20653391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12ABE05-FEE8-48A4-803E-32E628DCEAD9}"/>
              </a:ext>
            </a:extLst>
          </p:cNvPr>
          <p:cNvGrpSpPr/>
          <p:nvPr/>
        </p:nvGrpSpPr>
        <p:grpSpPr>
          <a:xfrm>
            <a:off x="1820623" y="1266557"/>
            <a:ext cx="758008" cy="1311796"/>
            <a:chOff x="1841405" y="1436575"/>
            <a:chExt cx="758008" cy="1311796"/>
          </a:xfrm>
        </p:grpSpPr>
        <p:cxnSp>
          <p:nvCxnSpPr>
            <p:cNvPr id="90" name="Straight Connector 89">
              <a:extLst>
                <a:ext uri="{FF2B5EF4-FFF2-40B4-BE49-F238E27FC236}">
                  <a16:creationId xmlns:a16="http://schemas.microsoft.com/office/drawing/2014/main" id="{75B9FC78-B14B-6C42-8FD4-E71B0BFDA536}"/>
                </a:ext>
              </a:extLst>
            </p:cNvPr>
            <p:cNvCxnSpPr>
              <a:cxnSpLocks/>
            </p:cNvCxnSpPr>
            <p:nvPr/>
          </p:nvCxnSpPr>
          <p:spPr bwMode="gray">
            <a:xfrm flipV="1">
              <a:off x="2211829" y="2382706"/>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91" name="Oval 90">
              <a:extLst>
                <a:ext uri="{FF2B5EF4-FFF2-40B4-BE49-F238E27FC236}">
                  <a16:creationId xmlns:a16="http://schemas.microsoft.com/office/drawing/2014/main" id="{CE748359-4340-724A-806D-D6AC924A0553}"/>
                </a:ext>
              </a:extLst>
            </p:cNvPr>
            <p:cNvSpPr/>
            <p:nvPr/>
          </p:nvSpPr>
          <p:spPr>
            <a:xfrm>
              <a:off x="1971769"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69" name="Rounded Rectangle 36">
              <a:extLst>
                <a:ext uri="{FF2B5EF4-FFF2-40B4-BE49-F238E27FC236}">
                  <a16:creationId xmlns:a16="http://schemas.microsoft.com/office/drawing/2014/main" id="{08BD9207-B84B-C643-BEC6-1880A595DCB4}"/>
                </a:ext>
              </a:extLst>
            </p:cNvPr>
            <p:cNvSpPr/>
            <p:nvPr/>
          </p:nvSpPr>
          <p:spPr>
            <a:xfrm>
              <a:off x="1841405"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Continuous</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Monitoring</a:t>
              </a:r>
              <a:endParaRPr kumimoji="0" lang="en-US" sz="11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pic>
          <p:nvPicPr>
            <p:cNvPr id="72" name="Graphic 71">
              <a:extLst>
                <a:ext uri="{FF2B5EF4-FFF2-40B4-BE49-F238E27FC236}">
                  <a16:creationId xmlns:a16="http://schemas.microsoft.com/office/drawing/2014/main" id="{A065BA38-AD4C-0C4D-9906-425F6648FABD}"/>
                </a:ext>
              </a:extLst>
            </p:cNvPr>
            <p:cNvPicPr>
              <a:picLocks noChangeAspect="1"/>
            </p:cNvPicPr>
            <p:nvPr/>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2037476" y="2024483"/>
              <a:ext cx="350624" cy="200761"/>
            </a:xfrm>
            <a:prstGeom prst="rect">
              <a:avLst/>
            </a:prstGeom>
          </p:spPr>
        </p:pic>
      </p:grpSp>
      <p:grpSp>
        <p:nvGrpSpPr>
          <p:cNvPr id="15" name="Group 14">
            <a:extLst>
              <a:ext uri="{FF2B5EF4-FFF2-40B4-BE49-F238E27FC236}">
                <a16:creationId xmlns:a16="http://schemas.microsoft.com/office/drawing/2014/main" id="{72CC817C-6880-46F7-9625-7505B31F1D79}"/>
              </a:ext>
            </a:extLst>
          </p:cNvPr>
          <p:cNvGrpSpPr/>
          <p:nvPr/>
        </p:nvGrpSpPr>
        <p:grpSpPr>
          <a:xfrm>
            <a:off x="4983457" y="1266557"/>
            <a:ext cx="758008" cy="1311796"/>
            <a:chOff x="4829288" y="1436575"/>
            <a:chExt cx="758008" cy="1311796"/>
          </a:xfrm>
        </p:grpSpPr>
        <p:cxnSp>
          <p:nvCxnSpPr>
            <p:cNvPr id="104" name="Straight Connector 103">
              <a:extLst>
                <a:ext uri="{FF2B5EF4-FFF2-40B4-BE49-F238E27FC236}">
                  <a16:creationId xmlns:a16="http://schemas.microsoft.com/office/drawing/2014/main" id="{572DCDAD-CC8D-7B4A-8EAD-C1B08E9D0FD0}"/>
                </a:ext>
              </a:extLst>
            </p:cNvPr>
            <p:cNvCxnSpPr>
              <a:cxnSpLocks/>
            </p:cNvCxnSpPr>
            <p:nvPr/>
          </p:nvCxnSpPr>
          <p:spPr bwMode="gray">
            <a:xfrm flipV="1">
              <a:off x="5208289" y="2382706"/>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C2E394C4-53E1-3340-9AA6-A6DF159A7821}"/>
                </a:ext>
              </a:extLst>
            </p:cNvPr>
            <p:cNvSpPr/>
            <p:nvPr/>
          </p:nvSpPr>
          <p:spPr>
            <a:xfrm>
              <a:off x="4968229"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06" name="Rounded Rectangle 37">
              <a:extLst>
                <a:ext uri="{FF2B5EF4-FFF2-40B4-BE49-F238E27FC236}">
                  <a16:creationId xmlns:a16="http://schemas.microsoft.com/office/drawing/2014/main" id="{6FEF2BB8-574A-3741-BD1B-1917513B246E}"/>
                </a:ext>
              </a:extLst>
            </p:cNvPr>
            <p:cNvSpPr/>
            <p:nvPr/>
          </p:nvSpPr>
          <p:spPr>
            <a:xfrm>
              <a:off x="4829288"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Process</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Sandbox</a:t>
              </a:r>
            </a:p>
          </p:txBody>
        </p:sp>
        <p:pic>
          <p:nvPicPr>
            <p:cNvPr id="118" name="Graphic 117">
              <a:extLst>
                <a:ext uri="{FF2B5EF4-FFF2-40B4-BE49-F238E27FC236}">
                  <a16:creationId xmlns:a16="http://schemas.microsoft.com/office/drawing/2014/main" id="{D6D528CB-94B7-4F42-9C62-8494A65334BC}"/>
                </a:ext>
              </a:extLst>
            </p:cNvPr>
            <p:cNvPicPr>
              <a:picLocks noChangeAspect="1"/>
            </p:cNvPicPr>
            <p:nvPr/>
          </p:nvPicPr>
          <p:blipFill>
            <a:blip>
              <a:extLst>
                <a:ext uri="{96DAC541-7B7A-43D3-8B79-37D633B846F1}">
                  <asvg:svgBlip xmlns:asvg="http://schemas.microsoft.com/office/drawing/2016/SVG/main" r:embed="rId4"/>
                </a:ext>
              </a:extLst>
            </a:blip>
            <a:srcRect/>
            <a:stretch/>
          </p:blipFill>
          <p:spPr>
            <a:xfrm>
              <a:off x="5081495" y="1998068"/>
              <a:ext cx="253591" cy="253591"/>
            </a:xfrm>
            <a:prstGeom prst="rect">
              <a:avLst/>
            </a:prstGeom>
          </p:spPr>
        </p:pic>
      </p:grpSp>
      <p:grpSp>
        <p:nvGrpSpPr>
          <p:cNvPr id="16" name="Group 15">
            <a:extLst>
              <a:ext uri="{FF2B5EF4-FFF2-40B4-BE49-F238E27FC236}">
                <a16:creationId xmlns:a16="http://schemas.microsoft.com/office/drawing/2014/main" id="{90242839-5827-40D4-AD04-B4783851D8EA}"/>
              </a:ext>
            </a:extLst>
          </p:cNvPr>
          <p:cNvGrpSpPr/>
          <p:nvPr/>
        </p:nvGrpSpPr>
        <p:grpSpPr>
          <a:xfrm>
            <a:off x="6037735" y="1266557"/>
            <a:ext cx="758008" cy="1311796"/>
            <a:chOff x="5998300" y="1436575"/>
            <a:chExt cx="758008" cy="1311796"/>
          </a:xfrm>
        </p:grpSpPr>
        <p:cxnSp>
          <p:nvCxnSpPr>
            <p:cNvPr id="102" name="Straight Connector 101">
              <a:extLst>
                <a:ext uri="{FF2B5EF4-FFF2-40B4-BE49-F238E27FC236}">
                  <a16:creationId xmlns:a16="http://schemas.microsoft.com/office/drawing/2014/main" id="{8C707E88-0234-3049-9720-BB38429FFFA4}"/>
                </a:ext>
              </a:extLst>
            </p:cNvPr>
            <p:cNvCxnSpPr>
              <a:cxnSpLocks/>
            </p:cNvCxnSpPr>
            <p:nvPr/>
          </p:nvCxnSpPr>
          <p:spPr bwMode="gray">
            <a:xfrm flipV="1">
              <a:off x="6368723" y="2382706"/>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03" name="Oval 102">
              <a:extLst>
                <a:ext uri="{FF2B5EF4-FFF2-40B4-BE49-F238E27FC236}">
                  <a16:creationId xmlns:a16="http://schemas.microsoft.com/office/drawing/2014/main" id="{864EDB15-3D8C-5644-B400-D256672F7452}"/>
                </a:ext>
              </a:extLst>
            </p:cNvPr>
            <p:cNvSpPr/>
            <p:nvPr/>
          </p:nvSpPr>
          <p:spPr>
            <a:xfrm>
              <a:off x="6128663"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08" name="Rounded Rectangle 36">
              <a:extLst>
                <a:ext uri="{FF2B5EF4-FFF2-40B4-BE49-F238E27FC236}">
                  <a16:creationId xmlns:a16="http://schemas.microsoft.com/office/drawing/2014/main" id="{FF10F398-E827-3B45-B440-6C99A1F765A9}"/>
                </a:ext>
              </a:extLst>
            </p:cNvPr>
            <p:cNvSpPr/>
            <p:nvPr/>
          </p:nvSpPr>
          <p:spPr>
            <a:xfrm>
              <a:off x="5998300"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b"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Network Detection</a:t>
              </a:r>
            </a:p>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&amp; Response</a:t>
              </a:r>
            </a:p>
          </p:txBody>
        </p:sp>
        <p:grpSp>
          <p:nvGrpSpPr>
            <p:cNvPr id="161" name="Picture Placeholder 78" descr="Endpoint Threat Inspection&#10;">
              <a:extLst>
                <a:ext uri="{FF2B5EF4-FFF2-40B4-BE49-F238E27FC236}">
                  <a16:creationId xmlns:a16="http://schemas.microsoft.com/office/drawing/2014/main" id="{128F4861-50A1-8A44-8940-1A0016B70BE2}"/>
                </a:ext>
              </a:extLst>
            </p:cNvPr>
            <p:cNvGrpSpPr>
              <a:grpSpLocks noChangeAspect="1"/>
            </p:cNvGrpSpPr>
            <p:nvPr/>
          </p:nvGrpSpPr>
          <p:grpSpPr>
            <a:xfrm>
              <a:off x="6234047" y="2019839"/>
              <a:ext cx="274249" cy="240528"/>
              <a:chOff x="11084357" y="5738838"/>
              <a:chExt cx="594512" cy="521415"/>
            </a:xfrm>
            <a:solidFill>
              <a:schemeClr val="tx1"/>
            </a:solidFill>
          </p:grpSpPr>
          <p:sp>
            <p:nvSpPr>
              <p:cNvPr id="162" name="Picture Placeholder 78">
                <a:extLst>
                  <a:ext uri="{FF2B5EF4-FFF2-40B4-BE49-F238E27FC236}">
                    <a16:creationId xmlns:a16="http://schemas.microsoft.com/office/drawing/2014/main" id="{709578EB-A158-604A-AECF-5A407418C1D6}"/>
                  </a:ext>
                </a:extLst>
              </p:cNvPr>
              <p:cNvSpPr/>
              <p:nvPr/>
            </p:nvSpPr>
            <p:spPr>
              <a:xfrm>
                <a:off x="11155193" y="5970800"/>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63" name="Picture Placeholder 78">
                <a:extLst>
                  <a:ext uri="{FF2B5EF4-FFF2-40B4-BE49-F238E27FC236}">
                    <a16:creationId xmlns:a16="http://schemas.microsoft.com/office/drawing/2014/main" id="{75A1715F-1050-2243-87A7-791E6ABD2B01}"/>
                  </a:ext>
                </a:extLst>
              </p:cNvPr>
              <p:cNvSpPr/>
              <p:nvPr/>
            </p:nvSpPr>
            <p:spPr>
              <a:xfrm>
                <a:off x="11221601" y="5970800"/>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64" name="Picture Placeholder 78">
                <a:extLst>
                  <a:ext uri="{FF2B5EF4-FFF2-40B4-BE49-F238E27FC236}">
                    <a16:creationId xmlns:a16="http://schemas.microsoft.com/office/drawing/2014/main" id="{721576A7-4E5F-B942-ABA5-5938D487B82E}"/>
                  </a:ext>
                </a:extLst>
              </p:cNvPr>
              <p:cNvSpPr/>
              <p:nvPr/>
            </p:nvSpPr>
            <p:spPr>
              <a:xfrm>
                <a:off x="11288642" y="5970800"/>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65" name="Picture Placeholder 78">
                <a:extLst>
                  <a:ext uri="{FF2B5EF4-FFF2-40B4-BE49-F238E27FC236}">
                    <a16:creationId xmlns:a16="http://schemas.microsoft.com/office/drawing/2014/main" id="{020A6111-F6D4-8F4E-81C4-2C4E0BAD151F}"/>
                  </a:ext>
                </a:extLst>
              </p:cNvPr>
              <p:cNvSpPr/>
              <p:nvPr/>
            </p:nvSpPr>
            <p:spPr>
              <a:xfrm>
                <a:off x="11355050" y="5970800"/>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66" name="Picture Placeholder 78">
                <a:extLst>
                  <a:ext uri="{FF2B5EF4-FFF2-40B4-BE49-F238E27FC236}">
                    <a16:creationId xmlns:a16="http://schemas.microsoft.com/office/drawing/2014/main" id="{2634CBF3-8448-884E-B8B7-F10BEDC045ED}"/>
                  </a:ext>
                </a:extLst>
              </p:cNvPr>
              <p:cNvSpPr/>
              <p:nvPr/>
            </p:nvSpPr>
            <p:spPr>
              <a:xfrm>
                <a:off x="11421458" y="5970800"/>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67" name="Picture Placeholder 78">
                <a:extLst>
                  <a:ext uri="{FF2B5EF4-FFF2-40B4-BE49-F238E27FC236}">
                    <a16:creationId xmlns:a16="http://schemas.microsoft.com/office/drawing/2014/main" id="{F50F8BB7-DCAC-BF40-9B5A-E0C19D3206DA}"/>
                  </a:ext>
                </a:extLst>
              </p:cNvPr>
              <p:cNvSpPr/>
              <p:nvPr/>
            </p:nvSpPr>
            <p:spPr>
              <a:xfrm>
                <a:off x="11270928" y="6135583"/>
                <a:ext cx="221466" cy="123586"/>
              </a:xfrm>
              <a:custGeom>
                <a:avLst/>
                <a:gdLst>
                  <a:gd name="connsiteX0" fmla="*/ 216306 w 221466"/>
                  <a:gd name="connsiteY0" fmla="*/ 100137 h 123586"/>
                  <a:gd name="connsiteX1" fmla="*/ 169504 w 221466"/>
                  <a:gd name="connsiteY1" fmla="*/ 78589 h 123586"/>
                  <a:gd name="connsiteX2" fmla="*/ 161915 w 221466"/>
                  <a:gd name="connsiteY2" fmla="*/ 0 h 123586"/>
                  <a:gd name="connsiteX3" fmla="*/ 146103 w 221466"/>
                  <a:gd name="connsiteY3" fmla="*/ 0 h 123586"/>
                  <a:gd name="connsiteX4" fmla="*/ 154325 w 221466"/>
                  <a:gd name="connsiteY4" fmla="*/ 89996 h 123586"/>
                  <a:gd name="connsiteX5" fmla="*/ 158752 w 221466"/>
                  <a:gd name="connsiteY5" fmla="*/ 91898 h 123586"/>
                  <a:gd name="connsiteX6" fmla="*/ 196700 w 221466"/>
                  <a:gd name="connsiteY6" fmla="*/ 107742 h 123586"/>
                  <a:gd name="connsiteX7" fmla="*/ 24671 w 221466"/>
                  <a:gd name="connsiteY7" fmla="*/ 107742 h 123586"/>
                  <a:gd name="connsiteX8" fmla="*/ 62618 w 221466"/>
                  <a:gd name="connsiteY8" fmla="*/ 91898 h 123586"/>
                  <a:gd name="connsiteX9" fmla="*/ 67046 w 221466"/>
                  <a:gd name="connsiteY9" fmla="*/ 89996 h 123586"/>
                  <a:gd name="connsiteX10" fmla="*/ 78430 w 221466"/>
                  <a:gd name="connsiteY10" fmla="*/ 0 h 123586"/>
                  <a:gd name="connsiteX11" fmla="*/ 62618 w 221466"/>
                  <a:gd name="connsiteY11" fmla="*/ 0 h 123586"/>
                  <a:gd name="connsiteX12" fmla="*/ 52499 w 221466"/>
                  <a:gd name="connsiteY12" fmla="*/ 78589 h 123586"/>
                  <a:gd name="connsiteX13" fmla="*/ 5697 w 221466"/>
                  <a:gd name="connsiteY13" fmla="*/ 100137 h 123586"/>
                  <a:gd name="connsiteX14" fmla="*/ 637 w 221466"/>
                  <a:gd name="connsiteY14" fmla="*/ 114714 h 123586"/>
                  <a:gd name="connsiteX15" fmla="*/ 12654 w 221466"/>
                  <a:gd name="connsiteY15" fmla="*/ 123587 h 123586"/>
                  <a:gd name="connsiteX16" fmla="*/ 208717 w 221466"/>
                  <a:gd name="connsiteY16" fmla="*/ 123587 h 123586"/>
                  <a:gd name="connsiteX17" fmla="*/ 220733 w 221466"/>
                  <a:gd name="connsiteY17" fmla="*/ 114714 h 123586"/>
                  <a:gd name="connsiteX18" fmla="*/ 216306 w 221466"/>
                  <a:gd name="connsiteY18" fmla="*/ 100137 h 12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1466" h="123586">
                    <a:moveTo>
                      <a:pt x="216306" y="100137"/>
                    </a:moveTo>
                    <a:cubicBezTo>
                      <a:pt x="206187" y="93165"/>
                      <a:pt x="180888" y="83025"/>
                      <a:pt x="169504" y="78589"/>
                    </a:cubicBezTo>
                    <a:lnTo>
                      <a:pt x="161915" y="0"/>
                    </a:lnTo>
                    <a:lnTo>
                      <a:pt x="146103" y="0"/>
                    </a:lnTo>
                    <a:lnTo>
                      <a:pt x="154325" y="89996"/>
                    </a:lnTo>
                    <a:lnTo>
                      <a:pt x="158752" y="91898"/>
                    </a:lnTo>
                    <a:cubicBezTo>
                      <a:pt x="166342" y="95067"/>
                      <a:pt x="184683" y="102038"/>
                      <a:pt x="196700" y="107742"/>
                    </a:cubicBezTo>
                    <a:lnTo>
                      <a:pt x="24671" y="107742"/>
                    </a:lnTo>
                    <a:cubicBezTo>
                      <a:pt x="36688" y="102038"/>
                      <a:pt x="55029" y="94433"/>
                      <a:pt x="62618" y="91898"/>
                    </a:cubicBezTo>
                    <a:lnTo>
                      <a:pt x="67046" y="89996"/>
                    </a:lnTo>
                    <a:lnTo>
                      <a:pt x="78430" y="0"/>
                    </a:lnTo>
                    <a:lnTo>
                      <a:pt x="62618" y="0"/>
                    </a:lnTo>
                    <a:lnTo>
                      <a:pt x="52499" y="78589"/>
                    </a:lnTo>
                    <a:cubicBezTo>
                      <a:pt x="41747" y="83025"/>
                      <a:pt x="15816" y="93165"/>
                      <a:pt x="5697" y="100137"/>
                    </a:cubicBezTo>
                    <a:cubicBezTo>
                      <a:pt x="1270" y="103306"/>
                      <a:pt x="-1260" y="109010"/>
                      <a:pt x="637" y="114714"/>
                    </a:cubicBezTo>
                    <a:cubicBezTo>
                      <a:pt x="2535" y="119784"/>
                      <a:pt x="6962" y="123587"/>
                      <a:pt x="12654" y="123587"/>
                    </a:cubicBezTo>
                    <a:lnTo>
                      <a:pt x="208717" y="123587"/>
                    </a:lnTo>
                    <a:cubicBezTo>
                      <a:pt x="214409" y="123587"/>
                      <a:pt x="218836" y="119784"/>
                      <a:pt x="220733" y="114714"/>
                    </a:cubicBezTo>
                    <a:cubicBezTo>
                      <a:pt x="222631" y="109644"/>
                      <a:pt x="220733" y="103940"/>
                      <a:pt x="216306" y="100137"/>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68" name="Picture Placeholder 78">
                <a:extLst>
                  <a:ext uri="{FF2B5EF4-FFF2-40B4-BE49-F238E27FC236}">
                    <a16:creationId xmlns:a16="http://schemas.microsoft.com/office/drawing/2014/main" id="{18EF9529-74A9-E441-B844-D819972AC0BF}"/>
                  </a:ext>
                </a:extLst>
              </p:cNvPr>
              <p:cNvSpPr/>
              <p:nvPr/>
            </p:nvSpPr>
            <p:spPr>
              <a:xfrm>
                <a:off x="11084357" y="5738838"/>
                <a:ext cx="594512" cy="380266"/>
              </a:xfrm>
              <a:custGeom>
                <a:avLst/>
                <a:gdLst>
                  <a:gd name="connsiteX0" fmla="*/ 562257 w 594512"/>
                  <a:gd name="connsiteY0" fmla="*/ 15844 h 380266"/>
                  <a:gd name="connsiteX1" fmla="*/ 578701 w 594512"/>
                  <a:gd name="connsiteY1" fmla="*/ 31055 h 380266"/>
                  <a:gd name="connsiteX2" fmla="*/ 578701 w 594512"/>
                  <a:gd name="connsiteY2" fmla="*/ 350479 h 380266"/>
                  <a:gd name="connsiteX3" fmla="*/ 563522 w 594512"/>
                  <a:gd name="connsiteY3" fmla="*/ 364423 h 380266"/>
                  <a:gd name="connsiteX4" fmla="*/ 29726 w 594512"/>
                  <a:gd name="connsiteY4" fmla="*/ 364423 h 380266"/>
                  <a:gd name="connsiteX5" fmla="*/ 15812 w 594512"/>
                  <a:gd name="connsiteY5" fmla="*/ 351747 h 380266"/>
                  <a:gd name="connsiteX6" fmla="*/ 15812 w 594512"/>
                  <a:gd name="connsiteY6" fmla="*/ 28520 h 380266"/>
                  <a:gd name="connsiteX7" fmla="*/ 29726 w 594512"/>
                  <a:gd name="connsiteY7" fmla="*/ 15844 h 380266"/>
                  <a:gd name="connsiteX8" fmla="*/ 562257 w 594512"/>
                  <a:gd name="connsiteY8" fmla="*/ 15844 h 380266"/>
                  <a:gd name="connsiteX9" fmla="*/ 562257 w 594512"/>
                  <a:gd name="connsiteY9" fmla="*/ 0 h 380266"/>
                  <a:gd name="connsiteX10" fmla="*/ 29726 w 594512"/>
                  <a:gd name="connsiteY10" fmla="*/ 0 h 380266"/>
                  <a:gd name="connsiteX11" fmla="*/ 0 w 594512"/>
                  <a:gd name="connsiteY11" fmla="*/ 28520 h 380266"/>
                  <a:gd name="connsiteX12" fmla="*/ 0 w 594512"/>
                  <a:gd name="connsiteY12" fmla="*/ 351747 h 380266"/>
                  <a:gd name="connsiteX13" fmla="*/ 29726 w 594512"/>
                  <a:gd name="connsiteY13" fmla="*/ 380267 h 380266"/>
                  <a:gd name="connsiteX14" fmla="*/ 563522 w 594512"/>
                  <a:gd name="connsiteY14" fmla="*/ 380267 h 380266"/>
                  <a:gd name="connsiteX15" fmla="*/ 594512 w 594512"/>
                  <a:gd name="connsiteY15" fmla="*/ 350479 h 380266"/>
                  <a:gd name="connsiteX16" fmla="*/ 594512 w 594512"/>
                  <a:gd name="connsiteY16" fmla="*/ 31055 h 380266"/>
                  <a:gd name="connsiteX17" fmla="*/ 562257 w 594512"/>
                  <a:gd name="connsiteY17" fmla="*/ 0 h 380266"/>
                  <a:gd name="connsiteX18" fmla="*/ 562257 w 594512"/>
                  <a:gd name="connsiteY18" fmla="*/ 0 h 380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94512" h="380266">
                    <a:moveTo>
                      <a:pt x="562257" y="15844"/>
                    </a:moveTo>
                    <a:cubicBezTo>
                      <a:pt x="571111" y="15844"/>
                      <a:pt x="578701" y="22816"/>
                      <a:pt x="578701" y="31055"/>
                    </a:cubicBezTo>
                    <a:lnTo>
                      <a:pt x="578701" y="350479"/>
                    </a:lnTo>
                    <a:cubicBezTo>
                      <a:pt x="578701" y="358085"/>
                      <a:pt x="571744" y="364423"/>
                      <a:pt x="563522" y="364423"/>
                    </a:cubicBezTo>
                    <a:lnTo>
                      <a:pt x="29726" y="364423"/>
                    </a:lnTo>
                    <a:cubicBezTo>
                      <a:pt x="22136" y="364423"/>
                      <a:pt x="15812" y="358719"/>
                      <a:pt x="15812" y="351747"/>
                    </a:cubicBezTo>
                    <a:lnTo>
                      <a:pt x="15812" y="28520"/>
                    </a:lnTo>
                    <a:cubicBezTo>
                      <a:pt x="15812" y="21548"/>
                      <a:pt x="22136" y="15844"/>
                      <a:pt x="29726" y="15844"/>
                    </a:cubicBezTo>
                    <a:lnTo>
                      <a:pt x="562257" y="15844"/>
                    </a:lnTo>
                    <a:moveTo>
                      <a:pt x="562257" y="0"/>
                    </a:moveTo>
                    <a:lnTo>
                      <a:pt x="29726" y="0"/>
                    </a:lnTo>
                    <a:cubicBezTo>
                      <a:pt x="13282" y="0"/>
                      <a:pt x="0" y="12676"/>
                      <a:pt x="0" y="28520"/>
                    </a:cubicBezTo>
                    <a:lnTo>
                      <a:pt x="0" y="351747"/>
                    </a:lnTo>
                    <a:cubicBezTo>
                      <a:pt x="0" y="367591"/>
                      <a:pt x="13282" y="380267"/>
                      <a:pt x="29726" y="380267"/>
                    </a:cubicBezTo>
                    <a:lnTo>
                      <a:pt x="563522" y="380267"/>
                    </a:lnTo>
                    <a:cubicBezTo>
                      <a:pt x="580598" y="380267"/>
                      <a:pt x="594512" y="366958"/>
                      <a:pt x="594512" y="350479"/>
                    </a:cubicBezTo>
                    <a:lnTo>
                      <a:pt x="594512" y="31055"/>
                    </a:lnTo>
                    <a:cubicBezTo>
                      <a:pt x="594512" y="13943"/>
                      <a:pt x="579966" y="0"/>
                      <a:pt x="562257" y="0"/>
                    </a:cubicBezTo>
                    <a:lnTo>
                      <a:pt x="562257" y="0"/>
                    </a:ln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169" name="Picture Placeholder 78">
                <a:extLst>
                  <a:ext uri="{FF2B5EF4-FFF2-40B4-BE49-F238E27FC236}">
                    <a16:creationId xmlns:a16="http://schemas.microsoft.com/office/drawing/2014/main" id="{BE8C3796-ACB5-EB4F-86B9-1AEF6BD6F8C7}"/>
                  </a:ext>
                </a:extLst>
              </p:cNvPr>
              <p:cNvGrpSpPr/>
              <p:nvPr/>
            </p:nvGrpSpPr>
            <p:grpSpPr>
              <a:xfrm>
                <a:off x="11121040" y="5796511"/>
                <a:ext cx="299786" cy="33024"/>
                <a:chOff x="11121040" y="5796511"/>
                <a:chExt cx="299786" cy="33024"/>
              </a:xfrm>
              <a:grpFill/>
            </p:grpSpPr>
            <p:sp>
              <p:nvSpPr>
                <p:cNvPr id="189" name="Picture Placeholder 78">
                  <a:extLst>
                    <a:ext uri="{FF2B5EF4-FFF2-40B4-BE49-F238E27FC236}">
                      <a16:creationId xmlns:a16="http://schemas.microsoft.com/office/drawing/2014/main" id="{0D6BF630-9D26-B04C-93F2-E3C8977C203B}"/>
                    </a:ext>
                  </a:extLst>
                </p:cNvPr>
                <p:cNvSpPr/>
                <p:nvPr/>
              </p:nvSpPr>
              <p:spPr>
                <a:xfrm>
                  <a:off x="11121040" y="5796511"/>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90" name="Picture Placeholder 78">
                  <a:extLst>
                    <a:ext uri="{FF2B5EF4-FFF2-40B4-BE49-F238E27FC236}">
                      <a16:creationId xmlns:a16="http://schemas.microsoft.com/office/drawing/2014/main" id="{99737C9B-5AEE-0D4F-B329-8F5B476E6295}"/>
                    </a:ext>
                  </a:extLst>
                </p:cNvPr>
                <p:cNvSpPr/>
                <p:nvPr/>
              </p:nvSpPr>
              <p:spPr>
                <a:xfrm>
                  <a:off x="11188081" y="5796511"/>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91" name="Picture Placeholder 78">
                  <a:extLst>
                    <a:ext uri="{FF2B5EF4-FFF2-40B4-BE49-F238E27FC236}">
                      <a16:creationId xmlns:a16="http://schemas.microsoft.com/office/drawing/2014/main" id="{5C940A13-D316-CE42-BE90-0B1EA3626037}"/>
                    </a:ext>
                  </a:extLst>
                </p:cNvPr>
                <p:cNvSpPr/>
                <p:nvPr/>
              </p:nvSpPr>
              <p:spPr>
                <a:xfrm>
                  <a:off x="11254489" y="5796511"/>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92" name="Picture Placeholder 78">
                  <a:extLst>
                    <a:ext uri="{FF2B5EF4-FFF2-40B4-BE49-F238E27FC236}">
                      <a16:creationId xmlns:a16="http://schemas.microsoft.com/office/drawing/2014/main" id="{2E4BD63A-88FE-314C-919F-238F4A3C858C}"/>
                    </a:ext>
                  </a:extLst>
                </p:cNvPr>
                <p:cNvSpPr/>
                <p:nvPr/>
              </p:nvSpPr>
              <p:spPr>
                <a:xfrm>
                  <a:off x="11320897" y="5796511"/>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93" name="Picture Placeholder 78">
                  <a:extLst>
                    <a:ext uri="{FF2B5EF4-FFF2-40B4-BE49-F238E27FC236}">
                      <a16:creationId xmlns:a16="http://schemas.microsoft.com/office/drawing/2014/main" id="{479D17B8-00A0-EB4C-80A2-6D06CFC6F826}"/>
                    </a:ext>
                  </a:extLst>
                </p:cNvPr>
                <p:cNvSpPr/>
                <p:nvPr/>
              </p:nvSpPr>
              <p:spPr>
                <a:xfrm>
                  <a:off x="11387938" y="5796511"/>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170" name="Picture Placeholder 78">
                <a:extLst>
                  <a:ext uri="{FF2B5EF4-FFF2-40B4-BE49-F238E27FC236}">
                    <a16:creationId xmlns:a16="http://schemas.microsoft.com/office/drawing/2014/main" id="{EEB8FF25-17BC-8B41-960B-D4C93023164E}"/>
                  </a:ext>
                </a:extLst>
              </p:cNvPr>
              <p:cNvGrpSpPr/>
              <p:nvPr/>
            </p:nvGrpSpPr>
            <p:grpSpPr>
              <a:xfrm>
                <a:off x="11121040" y="5912493"/>
                <a:ext cx="369356" cy="33024"/>
                <a:chOff x="11121040" y="5912493"/>
                <a:chExt cx="369356" cy="33024"/>
              </a:xfrm>
              <a:grpFill/>
            </p:grpSpPr>
            <p:sp>
              <p:nvSpPr>
                <p:cNvPr id="183" name="Picture Placeholder 78">
                  <a:extLst>
                    <a:ext uri="{FF2B5EF4-FFF2-40B4-BE49-F238E27FC236}">
                      <a16:creationId xmlns:a16="http://schemas.microsoft.com/office/drawing/2014/main" id="{02F9BBDD-92D9-0B46-BCF3-160528D065D5}"/>
                    </a:ext>
                  </a:extLst>
                </p:cNvPr>
                <p:cNvSpPr/>
                <p:nvPr/>
              </p:nvSpPr>
              <p:spPr>
                <a:xfrm>
                  <a:off x="11121040" y="5912493"/>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4" name="Picture Placeholder 78">
                  <a:extLst>
                    <a:ext uri="{FF2B5EF4-FFF2-40B4-BE49-F238E27FC236}">
                      <a16:creationId xmlns:a16="http://schemas.microsoft.com/office/drawing/2014/main" id="{5B78B7F2-5148-7342-A4B4-A5E75B114F71}"/>
                    </a:ext>
                  </a:extLst>
                </p:cNvPr>
                <p:cNvSpPr/>
                <p:nvPr/>
              </p:nvSpPr>
              <p:spPr>
                <a:xfrm>
                  <a:off x="11188081" y="5912493"/>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5" name="Picture Placeholder 78">
                  <a:extLst>
                    <a:ext uri="{FF2B5EF4-FFF2-40B4-BE49-F238E27FC236}">
                      <a16:creationId xmlns:a16="http://schemas.microsoft.com/office/drawing/2014/main" id="{D33B76CA-29D6-CE48-AD98-E70835A1D113}"/>
                    </a:ext>
                  </a:extLst>
                </p:cNvPr>
                <p:cNvSpPr/>
                <p:nvPr/>
              </p:nvSpPr>
              <p:spPr>
                <a:xfrm>
                  <a:off x="11254489" y="5912493"/>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6" name="Picture Placeholder 78">
                  <a:extLst>
                    <a:ext uri="{FF2B5EF4-FFF2-40B4-BE49-F238E27FC236}">
                      <a16:creationId xmlns:a16="http://schemas.microsoft.com/office/drawing/2014/main" id="{C398AD94-CDB2-7246-B96A-B69E3B80A4E1}"/>
                    </a:ext>
                  </a:extLst>
                </p:cNvPr>
                <p:cNvSpPr/>
                <p:nvPr/>
              </p:nvSpPr>
              <p:spPr>
                <a:xfrm>
                  <a:off x="11320897" y="5912493"/>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7" name="Picture Placeholder 78">
                  <a:extLst>
                    <a:ext uri="{FF2B5EF4-FFF2-40B4-BE49-F238E27FC236}">
                      <a16:creationId xmlns:a16="http://schemas.microsoft.com/office/drawing/2014/main" id="{AA08A017-7B71-174E-B638-868FCF68381E}"/>
                    </a:ext>
                  </a:extLst>
                </p:cNvPr>
                <p:cNvSpPr/>
                <p:nvPr/>
              </p:nvSpPr>
              <p:spPr>
                <a:xfrm>
                  <a:off x="11387938" y="5912493"/>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8" name="Picture Placeholder 78">
                  <a:extLst>
                    <a:ext uri="{FF2B5EF4-FFF2-40B4-BE49-F238E27FC236}">
                      <a16:creationId xmlns:a16="http://schemas.microsoft.com/office/drawing/2014/main" id="{FB9F8E52-6E09-E543-9B63-54D61C02A5A4}"/>
                    </a:ext>
                  </a:extLst>
                </p:cNvPr>
                <p:cNvSpPr/>
                <p:nvPr/>
              </p:nvSpPr>
              <p:spPr>
                <a:xfrm>
                  <a:off x="11457509" y="5912493"/>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171" name="Picture Placeholder 78">
                <a:extLst>
                  <a:ext uri="{FF2B5EF4-FFF2-40B4-BE49-F238E27FC236}">
                    <a16:creationId xmlns:a16="http://schemas.microsoft.com/office/drawing/2014/main" id="{EC33BBFE-E00E-2E44-9F3B-F23C1CB32D7D}"/>
                  </a:ext>
                </a:extLst>
              </p:cNvPr>
              <p:cNvGrpSpPr/>
              <p:nvPr/>
            </p:nvGrpSpPr>
            <p:grpSpPr>
              <a:xfrm>
                <a:off x="11121040" y="6028474"/>
                <a:ext cx="299786" cy="33024"/>
                <a:chOff x="11121040" y="6028474"/>
                <a:chExt cx="299786" cy="33024"/>
              </a:xfrm>
              <a:grpFill/>
            </p:grpSpPr>
            <p:sp>
              <p:nvSpPr>
                <p:cNvPr id="178" name="Picture Placeholder 78">
                  <a:extLst>
                    <a:ext uri="{FF2B5EF4-FFF2-40B4-BE49-F238E27FC236}">
                      <a16:creationId xmlns:a16="http://schemas.microsoft.com/office/drawing/2014/main" id="{593AFC38-639E-D44C-907E-F965C7893BDA}"/>
                    </a:ext>
                  </a:extLst>
                </p:cNvPr>
                <p:cNvSpPr/>
                <p:nvPr/>
              </p:nvSpPr>
              <p:spPr>
                <a:xfrm>
                  <a:off x="11121040" y="6028474"/>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79" name="Picture Placeholder 78">
                  <a:extLst>
                    <a:ext uri="{FF2B5EF4-FFF2-40B4-BE49-F238E27FC236}">
                      <a16:creationId xmlns:a16="http://schemas.microsoft.com/office/drawing/2014/main" id="{289ABDDF-2095-CD4D-9BD1-6793E90C217B}"/>
                    </a:ext>
                  </a:extLst>
                </p:cNvPr>
                <p:cNvSpPr/>
                <p:nvPr/>
              </p:nvSpPr>
              <p:spPr>
                <a:xfrm>
                  <a:off x="11188081" y="6028474"/>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0" name="Picture Placeholder 78">
                  <a:extLst>
                    <a:ext uri="{FF2B5EF4-FFF2-40B4-BE49-F238E27FC236}">
                      <a16:creationId xmlns:a16="http://schemas.microsoft.com/office/drawing/2014/main" id="{5896ADF3-F882-2D4B-906A-BDCF63CA583A}"/>
                    </a:ext>
                  </a:extLst>
                </p:cNvPr>
                <p:cNvSpPr/>
                <p:nvPr/>
              </p:nvSpPr>
              <p:spPr>
                <a:xfrm>
                  <a:off x="11254489" y="6028474"/>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1" name="Picture Placeholder 78">
                  <a:extLst>
                    <a:ext uri="{FF2B5EF4-FFF2-40B4-BE49-F238E27FC236}">
                      <a16:creationId xmlns:a16="http://schemas.microsoft.com/office/drawing/2014/main" id="{E432EF72-E400-6348-B00B-78254F5C637C}"/>
                    </a:ext>
                  </a:extLst>
                </p:cNvPr>
                <p:cNvSpPr/>
                <p:nvPr/>
              </p:nvSpPr>
              <p:spPr>
                <a:xfrm>
                  <a:off x="11320897" y="6028474"/>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82" name="Picture Placeholder 78">
                  <a:extLst>
                    <a:ext uri="{FF2B5EF4-FFF2-40B4-BE49-F238E27FC236}">
                      <a16:creationId xmlns:a16="http://schemas.microsoft.com/office/drawing/2014/main" id="{D26FC5FD-8D96-FA46-B13B-A182D23842BB}"/>
                    </a:ext>
                  </a:extLst>
                </p:cNvPr>
                <p:cNvSpPr/>
                <p:nvPr/>
              </p:nvSpPr>
              <p:spPr>
                <a:xfrm>
                  <a:off x="11387938" y="6028474"/>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172" name="Picture Placeholder 78">
                <a:extLst>
                  <a:ext uri="{FF2B5EF4-FFF2-40B4-BE49-F238E27FC236}">
                    <a16:creationId xmlns:a16="http://schemas.microsoft.com/office/drawing/2014/main" id="{08592F0D-43B5-424F-AFC7-21496A8A9DAB}"/>
                  </a:ext>
                </a:extLst>
              </p:cNvPr>
              <p:cNvGrpSpPr/>
              <p:nvPr/>
            </p:nvGrpSpPr>
            <p:grpSpPr>
              <a:xfrm>
                <a:off x="11155193" y="5854819"/>
                <a:ext cx="299153" cy="33024"/>
                <a:chOff x="11155193" y="5854819"/>
                <a:chExt cx="299153" cy="33024"/>
              </a:xfrm>
              <a:grpFill/>
            </p:grpSpPr>
            <p:sp>
              <p:nvSpPr>
                <p:cNvPr id="173" name="Picture Placeholder 78">
                  <a:extLst>
                    <a:ext uri="{FF2B5EF4-FFF2-40B4-BE49-F238E27FC236}">
                      <a16:creationId xmlns:a16="http://schemas.microsoft.com/office/drawing/2014/main" id="{AED8E92E-41E2-B942-863D-C6EDABCECD88}"/>
                    </a:ext>
                  </a:extLst>
                </p:cNvPr>
                <p:cNvSpPr/>
                <p:nvPr/>
              </p:nvSpPr>
              <p:spPr>
                <a:xfrm>
                  <a:off x="11155193" y="5854819"/>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74" name="Picture Placeholder 78">
                  <a:extLst>
                    <a:ext uri="{FF2B5EF4-FFF2-40B4-BE49-F238E27FC236}">
                      <a16:creationId xmlns:a16="http://schemas.microsoft.com/office/drawing/2014/main" id="{478B3B28-4C30-DA40-996F-7868A81283D4}"/>
                    </a:ext>
                  </a:extLst>
                </p:cNvPr>
                <p:cNvSpPr/>
                <p:nvPr/>
              </p:nvSpPr>
              <p:spPr>
                <a:xfrm>
                  <a:off x="11221601" y="5854819"/>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75" name="Picture Placeholder 78">
                  <a:extLst>
                    <a:ext uri="{FF2B5EF4-FFF2-40B4-BE49-F238E27FC236}">
                      <a16:creationId xmlns:a16="http://schemas.microsoft.com/office/drawing/2014/main" id="{567209E7-A643-844B-A91B-49CEE77E8718}"/>
                    </a:ext>
                  </a:extLst>
                </p:cNvPr>
                <p:cNvSpPr/>
                <p:nvPr/>
              </p:nvSpPr>
              <p:spPr>
                <a:xfrm>
                  <a:off x="11288642" y="5854819"/>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76" name="Picture Placeholder 78">
                  <a:extLst>
                    <a:ext uri="{FF2B5EF4-FFF2-40B4-BE49-F238E27FC236}">
                      <a16:creationId xmlns:a16="http://schemas.microsoft.com/office/drawing/2014/main" id="{F0191E82-8A0C-0241-BAAF-149224D6FFD3}"/>
                    </a:ext>
                  </a:extLst>
                </p:cNvPr>
                <p:cNvSpPr/>
                <p:nvPr/>
              </p:nvSpPr>
              <p:spPr>
                <a:xfrm>
                  <a:off x="11355050" y="5854819"/>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77" name="Picture Placeholder 78">
                  <a:extLst>
                    <a:ext uri="{FF2B5EF4-FFF2-40B4-BE49-F238E27FC236}">
                      <a16:creationId xmlns:a16="http://schemas.microsoft.com/office/drawing/2014/main" id="{08DB18C9-560B-AE49-A465-2716EC842C2D}"/>
                    </a:ext>
                  </a:extLst>
                </p:cNvPr>
                <p:cNvSpPr/>
                <p:nvPr/>
              </p:nvSpPr>
              <p:spPr>
                <a:xfrm>
                  <a:off x="11421458" y="5854819"/>
                  <a:ext cx="32887" cy="32956"/>
                </a:xfrm>
                <a:custGeom>
                  <a:avLst/>
                  <a:gdLst>
                    <a:gd name="connsiteX0" fmla="*/ 32888 w 32887"/>
                    <a:gd name="connsiteY0" fmla="*/ 16478 h 32956"/>
                    <a:gd name="connsiteX1" fmla="*/ 16444 w 32887"/>
                    <a:gd name="connsiteY1" fmla="*/ 32956 h 32956"/>
                    <a:gd name="connsiteX2" fmla="*/ 0 w 32887"/>
                    <a:gd name="connsiteY2" fmla="*/ 16478 h 32956"/>
                    <a:gd name="connsiteX3" fmla="*/ 16444 w 32887"/>
                    <a:gd name="connsiteY3" fmla="*/ 0 h 32956"/>
                    <a:gd name="connsiteX4" fmla="*/ 32888 w 32887"/>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87" h="32956">
                      <a:moveTo>
                        <a:pt x="32888" y="16478"/>
                      </a:moveTo>
                      <a:cubicBezTo>
                        <a:pt x="32888" y="25579"/>
                        <a:pt x="25526" y="32956"/>
                        <a:pt x="16444" y="32956"/>
                      </a:cubicBezTo>
                      <a:cubicBezTo>
                        <a:pt x="7362" y="32956"/>
                        <a:pt x="0" y="25579"/>
                        <a:pt x="0" y="16478"/>
                      </a:cubicBezTo>
                      <a:cubicBezTo>
                        <a:pt x="0" y="7378"/>
                        <a:pt x="7362" y="0"/>
                        <a:pt x="16444" y="0"/>
                      </a:cubicBezTo>
                      <a:cubicBezTo>
                        <a:pt x="25526" y="0"/>
                        <a:pt x="32888" y="7378"/>
                        <a:pt x="32888" y="16478"/>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20" name="Group 19">
            <a:extLst>
              <a:ext uri="{FF2B5EF4-FFF2-40B4-BE49-F238E27FC236}">
                <a16:creationId xmlns:a16="http://schemas.microsoft.com/office/drawing/2014/main" id="{9D89FBFF-3AA6-4409-A49B-BF80384786A0}"/>
              </a:ext>
            </a:extLst>
          </p:cNvPr>
          <p:cNvGrpSpPr/>
          <p:nvPr/>
        </p:nvGrpSpPr>
        <p:grpSpPr>
          <a:xfrm>
            <a:off x="10254847" y="1266557"/>
            <a:ext cx="758008" cy="1300703"/>
            <a:chOff x="10254847" y="1436575"/>
            <a:chExt cx="758008" cy="1300703"/>
          </a:xfrm>
        </p:grpSpPr>
        <p:sp>
          <p:nvSpPr>
            <p:cNvPr id="154" name="Oval 153">
              <a:extLst>
                <a:ext uri="{FF2B5EF4-FFF2-40B4-BE49-F238E27FC236}">
                  <a16:creationId xmlns:a16="http://schemas.microsoft.com/office/drawing/2014/main" id="{1D63C571-51C3-684A-B236-16BF585D1B4F}"/>
                </a:ext>
              </a:extLst>
            </p:cNvPr>
            <p:cNvSpPr/>
            <p:nvPr/>
          </p:nvSpPr>
          <p:spPr>
            <a:xfrm>
              <a:off x="10385818"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55" name="Rounded Rectangle 36">
              <a:extLst>
                <a:ext uri="{FF2B5EF4-FFF2-40B4-BE49-F238E27FC236}">
                  <a16:creationId xmlns:a16="http://schemas.microsoft.com/office/drawing/2014/main" id="{5B9D31DD-465F-DC4A-BDDF-10E76541757F}"/>
                </a:ext>
              </a:extLst>
            </p:cNvPr>
            <p:cNvSpPr/>
            <p:nvPr/>
          </p:nvSpPr>
          <p:spPr>
            <a:xfrm>
              <a:off x="10254847"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Delta-Based</a:t>
              </a:r>
            </a:p>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Failback</a:t>
              </a:r>
            </a:p>
          </p:txBody>
        </p:sp>
        <p:grpSp>
          <p:nvGrpSpPr>
            <p:cNvPr id="212" name="Picture Placeholder 111" descr="Future-Proof&#10;">
              <a:extLst>
                <a:ext uri="{FF2B5EF4-FFF2-40B4-BE49-F238E27FC236}">
                  <a16:creationId xmlns:a16="http://schemas.microsoft.com/office/drawing/2014/main" id="{986D2E4B-B3A3-1448-A3E2-B7694DB7CA30}"/>
                </a:ext>
              </a:extLst>
            </p:cNvPr>
            <p:cNvGrpSpPr>
              <a:grpSpLocks noChangeAspect="1"/>
            </p:cNvGrpSpPr>
            <p:nvPr/>
          </p:nvGrpSpPr>
          <p:grpSpPr>
            <a:xfrm flipH="1">
              <a:off x="10501120" y="1998409"/>
              <a:ext cx="274249" cy="283388"/>
              <a:chOff x="8459498" y="3193521"/>
              <a:chExt cx="553154" cy="571588"/>
            </a:xfrm>
            <a:solidFill>
              <a:schemeClr val="tx1"/>
            </a:solidFill>
          </p:grpSpPr>
          <p:sp>
            <p:nvSpPr>
              <p:cNvPr id="213" name="Picture Placeholder 111">
                <a:extLst>
                  <a:ext uri="{FF2B5EF4-FFF2-40B4-BE49-F238E27FC236}">
                    <a16:creationId xmlns:a16="http://schemas.microsoft.com/office/drawing/2014/main" id="{151CEC21-45DD-A648-9426-1E7C655EE4C0}"/>
                  </a:ext>
                </a:extLst>
              </p:cNvPr>
              <p:cNvSpPr/>
              <p:nvPr/>
            </p:nvSpPr>
            <p:spPr>
              <a:xfrm>
                <a:off x="8600537" y="3334854"/>
                <a:ext cx="284606" cy="285200"/>
              </a:xfrm>
              <a:custGeom>
                <a:avLst/>
                <a:gdLst>
                  <a:gd name="connsiteX0" fmla="*/ 142304 w 284606"/>
                  <a:gd name="connsiteY0" fmla="*/ 285200 h 285200"/>
                  <a:gd name="connsiteX1" fmla="*/ 0 w 284606"/>
                  <a:gd name="connsiteY1" fmla="*/ 142600 h 285200"/>
                  <a:gd name="connsiteX2" fmla="*/ 142304 w 284606"/>
                  <a:gd name="connsiteY2" fmla="*/ 0 h 285200"/>
                  <a:gd name="connsiteX3" fmla="*/ 284607 w 284606"/>
                  <a:gd name="connsiteY3" fmla="*/ 142600 h 285200"/>
                  <a:gd name="connsiteX4" fmla="*/ 142304 w 284606"/>
                  <a:gd name="connsiteY4" fmla="*/ 285200 h 285200"/>
                  <a:gd name="connsiteX5" fmla="*/ 142304 w 284606"/>
                  <a:gd name="connsiteY5" fmla="*/ 15844 h 285200"/>
                  <a:gd name="connsiteX6" fmla="*/ 15812 w 284606"/>
                  <a:gd name="connsiteY6" fmla="*/ 142600 h 285200"/>
                  <a:gd name="connsiteX7" fmla="*/ 142304 w 284606"/>
                  <a:gd name="connsiteY7" fmla="*/ 269356 h 285200"/>
                  <a:gd name="connsiteX8" fmla="*/ 268795 w 284606"/>
                  <a:gd name="connsiteY8" fmla="*/ 142600 h 285200"/>
                  <a:gd name="connsiteX9" fmla="*/ 142304 w 284606"/>
                  <a:gd name="connsiteY9" fmla="*/ 15844 h 28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606" h="285200">
                    <a:moveTo>
                      <a:pt x="142304" y="285200"/>
                    </a:moveTo>
                    <a:cubicBezTo>
                      <a:pt x="63878" y="285200"/>
                      <a:pt x="0" y="221189"/>
                      <a:pt x="0" y="142600"/>
                    </a:cubicBezTo>
                    <a:cubicBezTo>
                      <a:pt x="0" y="64012"/>
                      <a:pt x="63878" y="0"/>
                      <a:pt x="142304" y="0"/>
                    </a:cubicBezTo>
                    <a:cubicBezTo>
                      <a:pt x="220729" y="0"/>
                      <a:pt x="284607" y="64012"/>
                      <a:pt x="284607" y="142600"/>
                    </a:cubicBezTo>
                    <a:cubicBezTo>
                      <a:pt x="284607" y="221189"/>
                      <a:pt x="220729" y="285200"/>
                      <a:pt x="142304" y="285200"/>
                    </a:cubicBezTo>
                    <a:close/>
                    <a:moveTo>
                      <a:pt x="142304" y="15844"/>
                    </a:moveTo>
                    <a:cubicBezTo>
                      <a:pt x="72733" y="15844"/>
                      <a:pt x="15812" y="72885"/>
                      <a:pt x="15812" y="142600"/>
                    </a:cubicBezTo>
                    <a:cubicBezTo>
                      <a:pt x="15812" y="212316"/>
                      <a:pt x="72733" y="269356"/>
                      <a:pt x="142304" y="269356"/>
                    </a:cubicBezTo>
                    <a:cubicBezTo>
                      <a:pt x="211874" y="269356"/>
                      <a:pt x="268795" y="212316"/>
                      <a:pt x="268795" y="142600"/>
                    </a:cubicBezTo>
                    <a:cubicBezTo>
                      <a:pt x="268795" y="72885"/>
                      <a:pt x="212507" y="15844"/>
                      <a:pt x="142304" y="15844"/>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14" name="Picture Placeholder 111">
                <a:extLst>
                  <a:ext uri="{FF2B5EF4-FFF2-40B4-BE49-F238E27FC236}">
                    <a16:creationId xmlns:a16="http://schemas.microsoft.com/office/drawing/2014/main" id="{100F1355-8FEF-0244-99C2-A26E8E9029C7}"/>
                  </a:ext>
                </a:extLst>
              </p:cNvPr>
              <p:cNvSpPr/>
              <p:nvPr/>
            </p:nvSpPr>
            <p:spPr>
              <a:xfrm>
                <a:off x="8728294" y="3416611"/>
                <a:ext cx="66882" cy="123586"/>
              </a:xfrm>
              <a:custGeom>
                <a:avLst/>
                <a:gdLst>
                  <a:gd name="connsiteX0" fmla="*/ 59451 w 66882"/>
                  <a:gd name="connsiteY0" fmla="*/ 123587 h 123586"/>
                  <a:gd name="connsiteX1" fmla="*/ 53759 w 66882"/>
                  <a:gd name="connsiteY1" fmla="*/ 121052 h 123586"/>
                  <a:gd name="connsiteX2" fmla="*/ 0 w 66882"/>
                  <a:gd name="connsiteY2" fmla="*/ 65279 h 123586"/>
                  <a:gd name="connsiteX3" fmla="*/ 0 w 66882"/>
                  <a:gd name="connsiteY3" fmla="*/ 7605 h 123586"/>
                  <a:gd name="connsiteX4" fmla="*/ 7590 w 66882"/>
                  <a:gd name="connsiteY4" fmla="*/ 0 h 123586"/>
                  <a:gd name="connsiteX5" fmla="*/ 15179 w 66882"/>
                  <a:gd name="connsiteY5" fmla="*/ 7605 h 123586"/>
                  <a:gd name="connsiteX6" fmla="*/ 15179 w 66882"/>
                  <a:gd name="connsiteY6" fmla="*/ 58941 h 123586"/>
                  <a:gd name="connsiteX7" fmla="*/ 64511 w 66882"/>
                  <a:gd name="connsiteY7" fmla="*/ 110277 h 123586"/>
                  <a:gd name="connsiteX8" fmla="*/ 64511 w 66882"/>
                  <a:gd name="connsiteY8" fmla="*/ 121685 h 123586"/>
                  <a:gd name="connsiteX9" fmla="*/ 59451 w 66882"/>
                  <a:gd name="connsiteY9" fmla="*/ 123587 h 12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882" h="123586">
                    <a:moveTo>
                      <a:pt x="59451" y="123587"/>
                    </a:moveTo>
                    <a:cubicBezTo>
                      <a:pt x="57554" y="123587"/>
                      <a:pt x="55024" y="122953"/>
                      <a:pt x="53759" y="121052"/>
                    </a:cubicBezTo>
                    <a:lnTo>
                      <a:pt x="0" y="65279"/>
                    </a:lnTo>
                    <a:lnTo>
                      <a:pt x="0" y="7605"/>
                    </a:lnTo>
                    <a:cubicBezTo>
                      <a:pt x="0" y="3169"/>
                      <a:pt x="3795" y="0"/>
                      <a:pt x="7590" y="0"/>
                    </a:cubicBezTo>
                    <a:cubicBezTo>
                      <a:pt x="11384" y="0"/>
                      <a:pt x="15179" y="3803"/>
                      <a:pt x="15179" y="7605"/>
                    </a:cubicBezTo>
                    <a:lnTo>
                      <a:pt x="15179" y="58941"/>
                    </a:lnTo>
                    <a:lnTo>
                      <a:pt x="64511" y="110277"/>
                    </a:lnTo>
                    <a:cubicBezTo>
                      <a:pt x="67673" y="113446"/>
                      <a:pt x="67673" y="118517"/>
                      <a:pt x="64511" y="121685"/>
                    </a:cubicBezTo>
                    <a:cubicBezTo>
                      <a:pt x="63246" y="122319"/>
                      <a:pt x="61349" y="123587"/>
                      <a:pt x="59451" y="123587"/>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15" name="Picture Placeholder 111">
                <a:extLst>
                  <a:ext uri="{FF2B5EF4-FFF2-40B4-BE49-F238E27FC236}">
                    <a16:creationId xmlns:a16="http://schemas.microsoft.com/office/drawing/2014/main" id="{2B516E8C-F0D7-9D49-BA0F-63B0145730DB}"/>
                  </a:ext>
                </a:extLst>
              </p:cNvPr>
              <p:cNvSpPr/>
              <p:nvPr/>
            </p:nvSpPr>
            <p:spPr>
              <a:xfrm>
                <a:off x="8537291" y="3271476"/>
                <a:ext cx="411098" cy="411955"/>
              </a:xfrm>
              <a:custGeom>
                <a:avLst/>
                <a:gdLst>
                  <a:gd name="connsiteX0" fmla="*/ 214404 w 411098"/>
                  <a:gd name="connsiteY0" fmla="*/ 411956 h 411955"/>
                  <a:gd name="connsiteX1" fmla="*/ 213771 w 411098"/>
                  <a:gd name="connsiteY1" fmla="*/ 396111 h 411955"/>
                  <a:gd name="connsiteX2" fmla="*/ 228951 w 411098"/>
                  <a:gd name="connsiteY2" fmla="*/ 394844 h 411955"/>
                  <a:gd name="connsiteX3" fmla="*/ 230848 w 411098"/>
                  <a:gd name="connsiteY3" fmla="*/ 410688 h 411955"/>
                  <a:gd name="connsiteX4" fmla="*/ 214404 w 411098"/>
                  <a:gd name="connsiteY4" fmla="*/ 411956 h 411955"/>
                  <a:gd name="connsiteX5" fmla="*/ 181516 w 411098"/>
                  <a:gd name="connsiteY5" fmla="*/ 410688 h 411955"/>
                  <a:gd name="connsiteX6" fmla="*/ 165072 w 411098"/>
                  <a:gd name="connsiteY6" fmla="*/ 408153 h 411955"/>
                  <a:gd name="connsiteX7" fmla="*/ 168234 w 411098"/>
                  <a:gd name="connsiteY7" fmla="*/ 392309 h 411955"/>
                  <a:gd name="connsiteX8" fmla="*/ 183413 w 411098"/>
                  <a:gd name="connsiteY8" fmla="*/ 394844 h 411955"/>
                  <a:gd name="connsiteX9" fmla="*/ 181516 w 411098"/>
                  <a:gd name="connsiteY9" fmla="*/ 410688 h 411955"/>
                  <a:gd name="connsiteX10" fmla="*/ 263103 w 411098"/>
                  <a:gd name="connsiteY10" fmla="*/ 403717 h 411955"/>
                  <a:gd name="connsiteX11" fmla="*/ 258676 w 411098"/>
                  <a:gd name="connsiteY11" fmla="*/ 388506 h 411955"/>
                  <a:gd name="connsiteX12" fmla="*/ 273223 w 411098"/>
                  <a:gd name="connsiteY12" fmla="*/ 383436 h 411955"/>
                  <a:gd name="connsiteX13" fmla="*/ 278915 w 411098"/>
                  <a:gd name="connsiteY13" fmla="*/ 398013 h 411955"/>
                  <a:gd name="connsiteX14" fmla="*/ 263103 w 411098"/>
                  <a:gd name="connsiteY14" fmla="*/ 403717 h 411955"/>
                  <a:gd name="connsiteX15" fmla="*/ 132817 w 411098"/>
                  <a:gd name="connsiteY15" fmla="*/ 398647 h 411955"/>
                  <a:gd name="connsiteX16" fmla="*/ 117638 w 411098"/>
                  <a:gd name="connsiteY16" fmla="*/ 392309 h 411955"/>
                  <a:gd name="connsiteX17" fmla="*/ 124595 w 411098"/>
                  <a:gd name="connsiteY17" fmla="*/ 377732 h 411955"/>
                  <a:gd name="connsiteX18" fmla="*/ 138509 w 411098"/>
                  <a:gd name="connsiteY18" fmla="*/ 383436 h 411955"/>
                  <a:gd name="connsiteX19" fmla="*/ 132817 w 411098"/>
                  <a:gd name="connsiteY19" fmla="*/ 398647 h 411955"/>
                  <a:gd name="connsiteX20" fmla="*/ 308640 w 411098"/>
                  <a:gd name="connsiteY20" fmla="*/ 384703 h 411955"/>
                  <a:gd name="connsiteX21" fmla="*/ 300418 w 411098"/>
                  <a:gd name="connsiteY21" fmla="*/ 370760 h 411955"/>
                  <a:gd name="connsiteX22" fmla="*/ 313068 w 411098"/>
                  <a:gd name="connsiteY22" fmla="*/ 362521 h 411955"/>
                  <a:gd name="connsiteX23" fmla="*/ 321922 w 411098"/>
                  <a:gd name="connsiteY23" fmla="*/ 375831 h 411955"/>
                  <a:gd name="connsiteX24" fmla="*/ 308640 w 411098"/>
                  <a:gd name="connsiteY24" fmla="*/ 384703 h 411955"/>
                  <a:gd name="connsiteX25" fmla="*/ 89177 w 411098"/>
                  <a:gd name="connsiteY25" fmla="*/ 375831 h 411955"/>
                  <a:gd name="connsiteX26" fmla="*/ 75895 w 411098"/>
                  <a:gd name="connsiteY26" fmla="*/ 365690 h 411955"/>
                  <a:gd name="connsiteX27" fmla="*/ 86015 w 411098"/>
                  <a:gd name="connsiteY27" fmla="*/ 353648 h 411955"/>
                  <a:gd name="connsiteX28" fmla="*/ 98031 w 411098"/>
                  <a:gd name="connsiteY28" fmla="*/ 362521 h 411955"/>
                  <a:gd name="connsiteX29" fmla="*/ 89177 w 411098"/>
                  <a:gd name="connsiteY29" fmla="*/ 375831 h 411955"/>
                  <a:gd name="connsiteX30" fmla="*/ 348485 w 411098"/>
                  <a:gd name="connsiteY30" fmla="*/ 354282 h 411955"/>
                  <a:gd name="connsiteX31" fmla="*/ 337101 w 411098"/>
                  <a:gd name="connsiteY31" fmla="*/ 342874 h 411955"/>
                  <a:gd name="connsiteX32" fmla="*/ 347853 w 411098"/>
                  <a:gd name="connsiteY32" fmla="*/ 332100 h 411955"/>
                  <a:gd name="connsiteX33" fmla="*/ 359870 w 411098"/>
                  <a:gd name="connsiteY33" fmla="*/ 342874 h 411955"/>
                  <a:gd name="connsiteX34" fmla="*/ 348485 w 411098"/>
                  <a:gd name="connsiteY34" fmla="*/ 354282 h 411955"/>
                  <a:gd name="connsiteX35" fmla="*/ 51862 w 411098"/>
                  <a:gd name="connsiteY35" fmla="*/ 342874 h 411955"/>
                  <a:gd name="connsiteX36" fmla="*/ 41110 w 411098"/>
                  <a:gd name="connsiteY36" fmla="*/ 330198 h 411955"/>
                  <a:gd name="connsiteX37" fmla="*/ 53759 w 411098"/>
                  <a:gd name="connsiteY37" fmla="*/ 320692 h 411955"/>
                  <a:gd name="connsiteX38" fmla="*/ 63246 w 411098"/>
                  <a:gd name="connsiteY38" fmla="*/ 332734 h 411955"/>
                  <a:gd name="connsiteX39" fmla="*/ 51862 w 411098"/>
                  <a:gd name="connsiteY39" fmla="*/ 342874 h 411955"/>
                  <a:gd name="connsiteX40" fmla="*/ 379476 w 411098"/>
                  <a:gd name="connsiteY40" fmla="*/ 316255 h 411955"/>
                  <a:gd name="connsiteX41" fmla="*/ 366194 w 411098"/>
                  <a:gd name="connsiteY41" fmla="*/ 308016 h 411955"/>
                  <a:gd name="connsiteX42" fmla="*/ 373784 w 411098"/>
                  <a:gd name="connsiteY42" fmla="*/ 294707 h 411955"/>
                  <a:gd name="connsiteX43" fmla="*/ 387698 w 411098"/>
                  <a:gd name="connsiteY43" fmla="*/ 302312 h 411955"/>
                  <a:gd name="connsiteX44" fmla="*/ 379476 w 411098"/>
                  <a:gd name="connsiteY44" fmla="*/ 316255 h 411955"/>
                  <a:gd name="connsiteX45" fmla="*/ 24033 w 411098"/>
                  <a:gd name="connsiteY45" fmla="*/ 302312 h 411955"/>
                  <a:gd name="connsiteX46" fmla="*/ 17076 w 411098"/>
                  <a:gd name="connsiteY46" fmla="*/ 287102 h 411955"/>
                  <a:gd name="connsiteX47" fmla="*/ 31623 w 411098"/>
                  <a:gd name="connsiteY47" fmla="*/ 280764 h 411955"/>
                  <a:gd name="connsiteX48" fmla="*/ 37948 w 411098"/>
                  <a:gd name="connsiteY48" fmla="*/ 294707 h 411955"/>
                  <a:gd name="connsiteX49" fmla="*/ 24033 w 411098"/>
                  <a:gd name="connsiteY49" fmla="*/ 302312 h 411955"/>
                  <a:gd name="connsiteX50" fmla="*/ 400980 w 411098"/>
                  <a:gd name="connsiteY50" fmla="*/ 271257 h 411955"/>
                  <a:gd name="connsiteX51" fmla="*/ 385801 w 411098"/>
                  <a:gd name="connsiteY51" fmla="*/ 266187 h 411955"/>
                  <a:gd name="connsiteX52" fmla="*/ 390228 w 411098"/>
                  <a:gd name="connsiteY52" fmla="*/ 251610 h 411955"/>
                  <a:gd name="connsiteX53" fmla="*/ 405407 w 411098"/>
                  <a:gd name="connsiteY53" fmla="*/ 255413 h 411955"/>
                  <a:gd name="connsiteX54" fmla="*/ 400980 w 411098"/>
                  <a:gd name="connsiteY54" fmla="*/ 271257 h 411955"/>
                  <a:gd name="connsiteX55" fmla="*/ 6325 w 411098"/>
                  <a:gd name="connsiteY55" fmla="*/ 256046 h 411955"/>
                  <a:gd name="connsiteX56" fmla="*/ 3162 w 411098"/>
                  <a:gd name="connsiteY56" fmla="*/ 239568 h 411955"/>
                  <a:gd name="connsiteX57" fmla="*/ 18974 w 411098"/>
                  <a:gd name="connsiteY57" fmla="*/ 237033 h 411955"/>
                  <a:gd name="connsiteX58" fmla="*/ 22136 w 411098"/>
                  <a:gd name="connsiteY58" fmla="*/ 252244 h 411955"/>
                  <a:gd name="connsiteX59" fmla="*/ 6325 w 411098"/>
                  <a:gd name="connsiteY59" fmla="*/ 256046 h 411955"/>
                  <a:gd name="connsiteX60" fmla="*/ 410467 w 411098"/>
                  <a:gd name="connsiteY60" fmla="*/ 222456 h 411955"/>
                  <a:gd name="connsiteX61" fmla="*/ 394655 w 411098"/>
                  <a:gd name="connsiteY61" fmla="*/ 221189 h 411955"/>
                  <a:gd name="connsiteX62" fmla="*/ 395287 w 411098"/>
                  <a:gd name="connsiteY62" fmla="*/ 205978 h 411955"/>
                  <a:gd name="connsiteX63" fmla="*/ 395287 w 411098"/>
                  <a:gd name="connsiteY63" fmla="*/ 205344 h 411955"/>
                  <a:gd name="connsiteX64" fmla="*/ 411099 w 411098"/>
                  <a:gd name="connsiteY64" fmla="*/ 205344 h 411955"/>
                  <a:gd name="connsiteX65" fmla="*/ 411099 w 411098"/>
                  <a:gd name="connsiteY65" fmla="*/ 205978 h 411955"/>
                  <a:gd name="connsiteX66" fmla="*/ 410467 w 411098"/>
                  <a:gd name="connsiteY66" fmla="*/ 222456 h 411955"/>
                  <a:gd name="connsiteX67" fmla="*/ 0 w 411098"/>
                  <a:gd name="connsiteY67" fmla="*/ 206612 h 411955"/>
                  <a:gd name="connsiteX68" fmla="*/ 0 w 411098"/>
                  <a:gd name="connsiteY68" fmla="*/ 206612 h 411955"/>
                  <a:gd name="connsiteX69" fmla="*/ 632 w 411098"/>
                  <a:gd name="connsiteY69" fmla="*/ 190133 h 411955"/>
                  <a:gd name="connsiteX70" fmla="*/ 16444 w 411098"/>
                  <a:gd name="connsiteY70" fmla="*/ 191401 h 411955"/>
                  <a:gd name="connsiteX71" fmla="*/ 15812 w 411098"/>
                  <a:gd name="connsiteY71" fmla="*/ 206612 h 411955"/>
                  <a:gd name="connsiteX72" fmla="*/ 0 w 411098"/>
                  <a:gd name="connsiteY72" fmla="*/ 206612 h 411955"/>
                  <a:gd name="connsiteX73" fmla="*/ 392758 w 411098"/>
                  <a:gd name="connsiteY73" fmla="*/ 174923 h 411955"/>
                  <a:gd name="connsiteX74" fmla="*/ 389595 w 411098"/>
                  <a:gd name="connsiteY74" fmla="*/ 159712 h 411955"/>
                  <a:gd name="connsiteX75" fmla="*/ 404774 w 411098"/>
                  <a:gd name="connsiteY75" fmla="*/ 155909 h 411955"/>
                  <a:gd name="connsiteX76" fmla="*/ 407937 w 411098"/>
                  <a:gd name="connsiteY76" fmla="*/ 172388 h 411955"/>
                  <a:gd name="connsiteX77" fmla="*/ 392758 w 411098"/>
                  <a:gd name="connsiteY77" fmla="*/ 174923 h 411955"/>
                  <a:gd name="connsiteX78" fmla="*/ 21504 w 411098"/>
                  <a:gd name="connsiteY78" fmla="*/ 160980 h 411955"/>
                  <a:gd name="connsiteX79" fmla="*/ 6325 w 411098"/>
                  <a:gd name="connsiteY79" fmla="*/ 157177 h 411955"/>
                  <a:gd name="connsiteX80" fmla="*/ 10752 w 411098"/>
                  <a:gd name="connsiteY80" fmla="*/ 141333 h 411955"/>
                  <a:gd name="connsiteX81" fmla="*/ 25931 w 411098"/>
                  <a:gd name="connsiteY81" fmla="*/ 146403 h 411955"/>
                  <a:gd name="connsiteX82" fmla="*/ 21504 w 411098"/>
                  <a:gd name="connsiteY82" fmla="*/ 160980 h 411955"/>
                  <a:gd name="connsiteX83" fmla="*/ 380108 w 411098"/>
                  <a:gd name="connsiteY83" fmla="*/ 131192 h 411955"/>
                  <a:gd name="connsiteX84" fmla="*/ 373784 w 411098"/>
                  <a:gd name="connsiteY84" fmla="*/ 117249 h 411955"/>
                  <a:gd name="connsiteX85" fmla="*/ 387698 w 411098"/>
                  <a:gd name="connsiteY85" fmla="*/ 109644 h 411955"/>
                  <a:gd name="connsiteX86" fmla="*/ 394655 w 411098"/>
                  <a:gd name="connsiteY86" fmla="*/ 124854 h 411955"/>
                  <a:gd name="connsiteX87" fmla="*/ 380108 w 411098"/>
                  <a:gd name="connsiteY87" fmla="*/ 131192 h 411955"/>
                  <a:gd name="connsiteX88" fmla="*/ 37315 w 411098"/>
                  <a:gd name="connsiteY88" fmla="*/ 117883 h 411955"/>
                  <a:gd name="connsiteX89" fmla="*/ 23401 w 411098"/>
                  <a:gd name="connsiteY89" fmla="*/ 110277 h 411955"/>
                  <a:gd name="connsiteX90" fmla="*/ 31623 w 411098"/>
                  <a:gd name="connsiteY90" fmla="*/ 95701 h 411955"/>
                  <a:gd name="connsiteX91" fmla="*/ 44905 w 411098"/>
                  <a:gd name="connsiteY91" fmla="*/ 103940 h 411955"/>
                  <a:gd name="connsiteX92" fmla="*/ 37315 w 411098"/>
                  <a:gd name="connsiteY92" fmla="*/ 117883 h 411955"/>
                  <a:gd name="connsiteX93" fmla="*/ 357340 w 411098"/>
                  <a:gd name="connsiteY93" fmla="*/ 91264 h 411955"/>
                  <a:gd name="connsiteX94" fmla="*/ 347853 w 411098"/>
                  <a:gd name="connsiteY94" fmla="*/ 79222 h 411955"/>
                  <a:gd name="connsiteX95" fmla="*/ 359870 w 411098"/>
                  <a:gd name="connsiteY95" fmla="*/ 68448 h 411955"/>
                  <a:gd name="connsiteX96" fmla="*/ 370622 w 411098"/>
                  <a:gd name="connsiteY96" fmla="*/ 81124 h 411955"/>
                  <a:gd name="connsiteX97" fmla="*/ 357340 w 411098"/>
                  <a:gd name="connsiteY97" fmla="*/ 91264 h 411955"/>
                  <a:gd name="connsiteX98" fmla="*/ 63246 w 411098"/>
                  <a:gd name="connsiteY98" fmla="*/ 80490 h 411955"/>
                  <a:gd name="connsiteX99" fmla="*/ 51229 w 411098"/>
                  <a:gd name="connsiteY99" fmla="*/ 69716 h 411955"/>
                  <a:gd name="connsiteX100" fmla="*/ 62614 w 411098"/>
                  <a:gd name="connsiteY100" fmla="*/ 57674 h 411955"/>
                  <a:gd name="connsiteX101" fmla="*/ 73365 w 411098"/>
                  <a:gd name="connsiteY101" fmla="*/ 69082 h 411955"/>
                  <a:gd name="connsiteX102" fmla="*/ 63246 w 411098"/>
                  <a:gd name="connsiteY102" fmla="*/ 80490 h 411955"/>
                  <a:gd name="connsiteX103" fmla="*/ 325084 w 411098"/>
                  <a:gd name="connsiteY103" fmla="*/ 58308 h 411955"/>
                  <a:gd name="connsiteX104" fmla="*/ 313068 w 411098"/>
                  <a:gd name="connsiteY104" fmla="*/ 49435 h 411955"/>
                  <a:gd name="connsiteX105" fmla="*/ 321922 w 411098"/>
                  <a:gd name="connsiteY105" fmla="*/ 36125 h 411955"/>
                  <a:gd name="connsiteX106" fmla="*/ 335204 w 411098"/>
                  <a:gd name="connsiteY106" fmla="*/ 46266 h 411955"/>
                  <a:gd name="connsiteX107" fmla="*/ 325084 w 411098"/>
                  <a:gd name="connsiteY107" fmla="*/ 58308 h 411955"/>
                  <a:gd name="connsiteX108" fmla="*/ 97399 w 411098"/>
                  <a:gd name="connsiteY108" fmla="*/ 50068 h 411955"/>
                  <a:gd name="connsiteX109" fmla="*/ 88544 w 411098"/>
                  <a:gd name="connsiteY109" fmla="*/ 36759 h 411955"/>
                  <a:gd name="connsiteX110" fmla="*/ 102459 w 411098"/>
                  <a:gd name="connsiteY110" fmla="*/ 27886 h 411955"/>
                  <a:gd name="connsiteX111" fmla="*/ 110681 w 411098"/>
                  <a:gd name="connsiteY111" fmla="*/ 41829 h 411955"/>
                  <a:gd name="connsiteX112" fmla="*/ 97399 w 411098"/>
                  <a:gd name="connsiteY112" fmla="*/ 50068 h 411955"/>
                  <a:gd name="connsiteX113" fmla="*/ 286504 w 411098"/>
                  <a:gd name="connsiteY113" fmla="*/ 34224 h 411955"/>
                  <a:gd name="connsiteX114" fmla="*/ 272590 w 411098"/>
                  <a:gd name="connsiteY114" fmla="*/ 28520 h 411955"/>
                  <a:gd name="connsiteX115" fmla="*/ 278282 w 411098"/>
                  <a:gd name="connsiteY115" fmla="*/ 13943 h 411955"/>
                  <a:gd name="connsiteX116" fmla="*/ 293461 w 411098"/>
                  <a:gd name="connsiteY116" fmla="*/ 20281 h 411955"/>
                  <a:gd name="connsiteX117" fmla="*/ 286504 w 411098"/>
                  <a:gd name="connsiteY117" fmla="*/ 34224 h 411955"/>
                  <a:gd name="connsiteX118" fmla="*/ 137876 w 411098"/>
                  <a:gd name="connsiteY118" fmla="*/ 28520 h 411955"/>
                  <a:gd name="connsiteX119" fmla="*/ 132184 w 411098"/>
                  <a:gd name="connsiteY119" fmla="*/ 13943 h 411955"/>
                  <a:gd name="connsiteX120" fmla="*/ 147996 w 411098"/>
                  <a:gd name="connsiteY120" fmla="*/ 8873 h 411955"/>
                  <a:gd name="connsiteX121" fmla="*/ 152423 w 411098"/>
                  <a:gd name="connsiteY121" fmla="*/ 24084 h 411955"/>
                  <a:gd name="connsiteX122" fmla="*/ 137876 w 411098"/>
                  <a:gd name="connsiteY122" fmla="*/ 28520 h 411955"/>
                  <a:gd name="connsiteX123" fmla="*/ 242865 w 411098"/>
                  <a:gd name="connsiteY123" fmla="*/ 19647 h 411955"/>
                  <a:gd name="connsiteX124" fmla="*/ 227686 w 411098"/>
                  <a:gd name="connsiteY124" fmla="*/ 17112 h 411955"/>
                  <a:gd name="connsiteX125" fmla="*/ 229583 w 411098"/>
                  <a:gd name="connsiteY125" fmla="*/ 1268 h 411955"/>
                  <a:gd name="connsiteX126" fmla="*/ 246027 w 411098"/>
                  <a:gd name="connsiteY126" fmla="*/ 3803 h 411955"/>
                  <a:gd name="connsiteX127" fmla="*/ 242865 w 411098"/>
                  <a:gd name="connsiteY127" fmla="*/ 19647 h 411955"/>
                  <a:gd name="connsiteX128" fmla="*/ 182148 w 411098"/>
                  <a:gd name="connsiteY128" fmla="*/ 17112 h 411955"/>
                  <a:gd name="connsiteX129" fmla="*/ 180251 w 411098"/>
                  <a:gd name="connsiteY129" fmla="*/ 1268 h 411955"/>
                  <a:gd name="connsiteX130" fmla="*/ 196695 w 411098"/>
                  <a:gd name="connsiteY130" fmla="*/ 0 h 411955"/>
                  <a:gd name="connsiteX131" fmla="*/ 197328 w 411098"/>
                  <a:gd name="connsiteY131" fmla="*/ 15844 h 411955"/>
                  <a:gd name="connsiteX132" fmla="*/ 182148 w 411098"/>
                  <a:gd name="connsiteY132" fmla="*/ 17112 h 41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411098" h="411955">
                    <a:moveTo>
                      <a:pt x="214404" y="411956"/>
                    </a:moveTo>
                    <a:lnTo>
                      <a:pt x="213771" y="396111"/>
                    </a:lnTo>
                    <a:cubicBezTo>
                      <a:pt x="218831" y="396111"/>
                      <a:pt x="223891" y="395478"/>
                      <a:pt x="228951" y="394844"/>
                    </a:cubicBezTo>
                    <a:lnTo>
                      <a:pt x="230848" y="410688"/>
                    </a:lnTo>
                    <a:cubicBezTo>
                      <a:pt x="225156" y="411322"/>
                      <a:pt x="220096" y="411956"/>
                      <a:pt x="214404" y="411956"/>
                    </a:cubicBezTo>
                    <a:close/>
                    <a:moveTo>
                      <a:pt x="181516" y="410688"/>
                    </a:moveTo>
                    <a:cubicBezTo>
                      <a:pt x="175824" y="410055"/>
                      <a:pt x="170764" y="409421"/>
                      <a:pt x="165072" y="408153"/>
                    </a:cubicBezTo>
                    <a:lnTo>
                      <a:pt x="168234" y="392309"/>
                    </a:lnTo>
                    <a:cubicBezTo>
                      <a:pt x="173294" y="393576"/>
                      <a:pt x="178354" y="394210"/>
                      <a:pt x="183413" y="394844"/>
                    </a:cubicBezTo>
                    <a:lnTo>
                      <a:pt x="181516" y="410688"/>
                    </a:lnTo>
                    <a:close/>
                    <a:moveTo>
                      <a:pt x="263103" y="403717"/>
                    </a:moveTo>
                    <a:lnTo>
                      <a:pt x="258676" y="388506"/>
                    </a:lnTo>
                    <a:cubicBezTo>
                      <a:pt x="263736" y="387239"/>
                      <a:pt x="268163" y="385337"/>
                      <a:pt x="273223" y="383436"/>
                    </a:cubicBezTo>
                    <a:lnTo>
                      <a:pt x="278915" y="398013"/>
                    </a:lnTo>
                    <a:cubicBezTo>
                      <a:pt x="273855" y="400548"/>
                      <a:pt x="268163" y="402449"/>
                      <a:pt x="263103" y="403717"/>
                    </a:cubicBezTo>
                    <a:close/>
                    <a:moveTo>
                      <a:pt x="132817" y="398647"/>
                    </a:moveTo>
                    <a:cubicBezTo>
                      <a:pt x="127757" y="396745"/>
                      <a:pt x="122697" y="394844"/>
                      <a:pt x="117638" y="392309"/>
                    </a:cubicBezTo>
                    <a:lnTo>
                      <a:pt x="124595" y="377732"/>
                    </a:lnTo>
                    <a:cubicBezTo>
                      <a:pt x="129022" y="379633"/>
                      <a:pt x="134082" y="382168"/>
                      <a:pt x="138509" y="383436"/>
                    </a:cubicBezTo>
                    <a:lnTo>
                      <a:pt x="132817" y="398647"/>
                    </a:lnTo>
                    <a:close/>
                    <a:moveTo>
                      <a:pt x="308640" y="384703"/>
                    </a:moveTo>
                    <a:lnTo>
                      <a:pt x="300418" y="370760"/>
                    </a:lnTo>
                    <a:cubicBezTo>
                      <a:pt x="304846" y="368225"/>
                      <a:pt x="309273" y="365690"/>
                      <a:pt x="313068" y="362521"/>
                    </a:cubicBezTo>
                    <a:lnTo>
                      <a:pt x="321922" y="375831"/>
                    </a:lnTo>
                    <a:cubicBezTo>
                      <a:pt x="318127" y="378366"/>
                      <a:pt x="313700" y="381535"/>
                      <a:pt x="308640" y="384703"/>
                    </a:cubicBezTo>
                    <a:close/>
                    <a:moveTo>
                      <a:pt x="89177" y="375831"/>
                    </a:moveTo>
                    <a:cubicBezTo>
                      <a:pt x="84750" y="372662"/>
                      <a:pt x="80322" y="369493"/>
                      <a:pt x="75895" y="365690"/>
                    </a:cubicBezTo>
                    <a:lnTo>
                      <a:pt x="86015" y="353648"/>
                    </a:lnTo>
                    <a:cubicBezTo>
                      <a:pt x="89809" y="356817"/>
                      <a:pt x="94237" y="359986"/>
                      <a:pt x="98031" y="362521"/>
                    </a:cubicBezTo>
                    <a:lnTo>
                      <a:pt x="89177" y="375831"/>
                    </a:lnTo>
                    <a:close/>
                    <a:moveTo>
                      <a:pt x="348485" y="354282"/>
                    </a:moveTo>
                    <a:lnTo>
                      <a:pt x="337101" y="342874"/>
                    </a:lnTo>
                    <a:cubicBezTo>
                      <a:pt x="340896" y="339071"/>
                      <a:pt x="344058" y="335903"/>
                      <a:pt x="347853" y="332100"/>
                    </a:cubicBezTo>
                    <a:lnTo>
                      <a:pt x="359870" y="342874"/>
                    </a:lnTo>
                    <a:cubicBezTo>
                      <a:pt x="356075" y="346677"/>
                      <a:pt x="352280" y="350479"/>
                      <a:pt x="348485" y="354282"/>
                    </a:cubicBezTo>
                    <a:close/>
                    <a:moveTo>
                      <a:pt x="51862" y="342874"/>
                    </a:moveTo>
                    <a:cubicBezTo>
                      <a:pt x="48067" y="338438"/>
                      <a:pt x="44905" y="334635"/>
                      <a:pt x="41110" y="330198"/>
                    </a:cubicBezTo>
                    <a:lnTo>
                      <a:pt x="53759" y="320692"/>
                    </a:lnTo>
                    <a:cubicBezTo>
                      <a:pt x="56921" y="324494"/>
                      <a:pt x="60084" y="328931"/>
                      <a:pt x="63246" y="332734"/>
                    </a:cubicBezTo>
                    <a:lnTo>
                      <a:pt x="51862" y="342874"/>
                    </a:lnTo>
                    <a:close/>
                    <a:moveTo>
                      <a:pt x="379476" y="316255"/>
                    </a:moveTo>
                    <a:lnTo>
                      <a:pt x="366194" y="308016"/>
                    </a:lnTo>
                    <a:cubicBezTo>
                      <a:pt x="368724" y="303580"/>
                      <a:pt x="371254" y="299143"/>
                      <a:pt x="373784" y="294707"/>
                    </a:cubicBezTo>
                    <a:lnTo>
                      <a:pt x="387698" y="302312"/>
                    </a:lnTo>
                    <a:cubicBezTo>
                      <a:pt x="385168" y="306749"/>
                      <a:pt x="382638" y="311185"/>
                      <a:pt x="379476" y="316255"/>
                    </a:cubicBezTo>
                    <a:close/>
                    <a:moveTo>
                      <a:pt x="24033" y="302312"/>
                    </a:moveTo>
                    <a:cubicBezTo>
                      <a:pt x="21504" y="297242"/>
                      <a:pt x="18974" y="292172"/>
                      <a:pt x="17076" y="287102"/>
                    </a:cubicBezTo>
                    <a:lnTo>
                      <a:pt x="31623" y="280764"/>
                    </a:lnTo>
                    <a:cubicBezTo>
                      <a:pt x="33520" y="285200"/>
                      <a:pt x="36050" y="290270"/>
                      <a:pt x="37948" y="294707"/>
                    </a:cubicBezTo>
                    <a:lnTo>
                      <a:pt x="24033" y="302312"/>
                    </a:lnTo>
                    <a:close/>
                    <a:moveTo>
                      <a:pt x="400980" y="271257"/>
                    </a:moveTo>
                    <a:lnTo>
                      <a:pt x="385801" y="266187"/>
                    </a:lnTo>
                    <a:cubicBezTo>
                      <a:pt x="387698" y="261117"/>
                      <a:pt x="388963" y="256680"/>
                      <a:pt x="390228" y="251610"/>
                    </a:cubicBezTo>
                    <a:lnTo>
                      <a:pt x="405407" y="255413"/>
                    </a:lnTo>
                    <a:cubicBezTo>
                      <a:pt x="404142" y="260483"/>
                      <a:pt x="402245" y="266187"/>
                      <a:pt x="400980" y="271257"/>
                    </a:cubicBezTo>
                    <a:close/>
                    <a:moveTo>
                      <a:pt x="6325" y="256046"/>
                    </a:moveTo>
                    <a:cubicBezTo>
                      <a:pt x="5060" y="250976"/>
                      <a:pt x="3795" y="245272"/>
                      <a:pt x="3162" y="239568"/>
                    </a:cubicBezTo>
                    <a:lnTo>
                      <a:pt x="18974" y="237033"/>
                    </a:lnTo>
                    <a:cubicBezTo>
                      <a:pt x="19606" y="242103"/>
                      <a:pt x="20871" y="247174"/>
                      <a:pt x="22136" y="252244"/>
                    </a:cubicBezTo>
                    <a:lnTo>
                      <a:pt x="6325" y="256046"/>
                    </a:lnTo>
                    <a:close/>
                    <a:moveTo>
                      <a:pt x="410467" y="222456"/>
                    </a:moveTo>
                    <a:lnTo>
                      <a:pt x="394655" y="221189"/>
                    </a:lnTo>
                    <a:cubicBezTo>
                      <a:pt x="395287" y="216118"/>
                      <a:pt x="395287" y="211048"/>
                      <a:pt x="395287" y="205978"/>
                    </a:cubicBezTo>
                    <a:lnTo>
                      <a:pt x="395287" y="205344"/>
                    </a:lnTo>
                    <a:lnTo>
                      <a:pt x="411099" y="205344"/>
                    </a:lnTo>
                    <a:lnTo>
                      <a:pt x="411099" y="205978"/>
                    </a:lnTo>
                    <a:cubicBezTo>
                      <a:pt x="411099" y="211682"/>
                      <a:pt x="411099" y="217386"/>
                      <a:pt x="410467" y="222456"/>
                    </a:cubicBezTo>
                    <a:close/>
                    <a:moveTo>
                      <a:pt x="0" y="206612"/>
                    </a:moveTo>
                    <a:lnTo>
                      <a:pt x="0" y="206612"/>
                    </a:lnTo>
                    <a:cubicBezTo>
                      <a:pt x="0" y="200908"/>
                      <a:pt x="0" y="195204"/>
                      <a:pt x="632" y="190133"/>
                    </a:cubicBezTo>
                    <a:lnTo>
                      <a:pt x="16444" y="191401"/>
                    </a:lnTo>
                    <a:cubicBezTo>
                      <a:pt x="15812" y="196471"/>
                      <a:pt x="15812" y="201542"/>
                      <a:pt x="15812" y="206612"/>
                    </a:cubicBezTo>
                    <a:lnTo>
                      <a:pt x="0" y="206612"/>
                    </a:lnTo>
                    <a:close/>
                    <a:moveTo>
                      <a:pt x="392758" y="174923"/>
                    </a:moveTo>
                    <a:cubicBezTo>
                      <a:pt x="392125" y="169853"/>
                      <a:pt x="390860" y="164782"/>
                      <a:pt x="389595" y="159712"/>
                    </a:cubicBezTo>
                    <a:lnTo>
                      <a:pt x="404774" y="155909"/>
                    </a:lnTo>
                    <a:cubicBezTo>
                      <a:pt x="406039" y="160980"/>
                      <a:pt x="407304" y="166684"/>
                      <a:pt x="407937" y="172388"/>
                    </a:cubicBezTo>
                    <a:lnTo>
                      <a:pt x="392758" y="174923"/>
                    </a:lnTo>
                    <a:close/>
                    <a:moveTo>
                      <a:pt x="21504" y="160980"/>
                    </a:moveTo>
                    <a:lnTo>
                      <a:pt x="6325" y="157177"/>
                    </a:lnTo>
                    <a:cubicBezTo>
                      <a:pt x="7590" y="152107"/>
                      <a:pt x="8854" y="146403"/>
                      <a:pt x="10752" y="141333"/>
                    </a:cubicBezTo>
                    <a:lnTo>
                      <a:pt x="25931" y="146403"/>
                    </a:lnTo>
                    <a:cubicBezTo>
                      <a:pt x="24033" y="150839"/>
                      <a:pt x="22769" y="155909"/>
                      <a:pt x="21504" y="160980"/>
                    </a:cubicBezTo>
                    <a:close/>
                    <a:moveTo>
                      <a:pt x="380108" y="131192"/>
                    </a:moveTo>
                    <a:cubicBezTo>
                      <a:pt x="378211" y="126756"/>
                      <a:pt x="375681" y="121685"/>
                      <a:pt x="373784" y="117249"/>
                    </a:cubicBezTo>
                    <a:lnTo>
                      <a:pt x="387698" y="109644"/>
                    </a:lnTo>
                    <a:cubicBezTo>
                      <a:pt x="390228" y="114714"/>
                      <a:pt x="392758" y="119784"/>
                      <a:pt x="394655" y="124854"/>
                    </a:cubicBezTo>
                    <a:lnTo>
                      <a:pt x="380108" y="131192"/>
                    </a:lnTo>
                    <a:close/>
                    <a:moveTo>
                      <a:pt x="37315" y="117883"/>
                    </a:moveTo>
                    <a:lnTo>
                      <a:pt x="23401" y="110277"/>
                    </a:lnTo>
                    <a:cubicBezTo>
                      <a:pt x="25931" y="105207"/>
                      <a:pt x="28461" y="100771"/>
                      <a:pt x="31623" y="95701"/>
                    </a:cubicBezTo>
                    <a:lnTo>
                      <a:pt x="44905" y="103940"/>
                    </a:lnTo>
                    <a:cubicBezTo>
                      <a:pt x="42375" y="109010"/>
                      <a:pt x="39845" y="113446"/>
                      <a:pt x="37315" y="117883"/>
                    </a:cubicBezTo>
                    <a:close/>
                    <a:moveTo>
                      <a:pt x="357340" y="91264"/>
                    </a:moveTo>
                    <a:cubicBezTo>
                      <a:pt x="354178" y="87461"/>
                      <a:pt x="351015" y="83025"/>
                      <a:pt x="347853" y="79222"/>
                    </a:cubicBezTo>
                    <a:lnTo>
                      <a:pt x="359870" y="68448"/>
                    </a:lnTo>
                    <a:cubicBezTo>
                      <a:pt x="363664" y="72251"/>
                      <a:pt x="366827" y="76687"/>
                      <a:pt x="370622" y="81124"/>
                    </a:cubicBezTo>
                    <a:lnTo>
                      <a:pt x="357340" y="91264"/>
                    </a:lnTo>
                    <a:close/>
                    <a:moveTo>
                      <a:pt x="63246" y="80490"/>
                    </a:moveTo>
                    <a:lnTo>
                      <a:pt x="51229" y="69716"/>
                    </a:lnTo>
                    <a:cubicBezTo>
                      <a:pt x="55024" y="65913"/>
                      <a:pt x="58819" y="61476"/>
                      <a:pt x="62614" y="57674"/>
                    </a:cubicBezTo>
                    <a:lnTo>
                      <a:pt x="73365" y="69082"/>
                    </a:lnTo>
                    <a:cubicBezTo>
                      <a:pt x="70203" y="72885"/>
                      <a:pt x="67041" y="76687"/>
                      <a:pt x="63246" y="80490"/>
                    </a:cubicBezTo>
                    <a:close/>
                    <a:moveTo>
                      <a:pt x="325084" y="58308"/>
                    </a:moveTo>
                    <a:cubicBezTo>
                      <a:pt x="321290" y="55139"/>
                      <a:pt x="316862" y="51970"/>
                      <a:pt x="313068" y="49435"/>
                    </a:cubicBezTo>
                    <a:lnTo>
                      <a:pt x="321922" y="36125"/>
                    </a:lnTo>
                    <a:cubicBezTo>
                      <a:pt x="326349" y="39294"/>
                      <a:pt x="330777" y="42463"/>
                      <a:pt x="335204" y="46266"/>
                    </a:cubicBezTo>
                    <a:lnTo>
                      <a:pt x="325084" y="58308"/>
                    </a:lnTo>
                    <a:close/>
                    <a:moveTo>
                      <a:pt x="97399" y="50068"/>
                    </a:moveTo>
                    <a:lnTo>
                      <a:pt x="88544" y="36759"/>
                    </a:lnTo>
                    <a:cubicBezTo>
                      <a:pt x="92972" y="33590"/>
                      <a:pt x="98031" y="30421"/>
                      <a:pt x="102459" y="27886"/>
                    </a:cubicBezTo>
                    <a:lnTo>
                      <a:pt x="110681" y="41829"/>
                    </a:lnTo>
                    <a:cubicBezTo>
                      <a:pt x="106253" y="44364"/>
                      <a:pt x="101826" y="46900"/>
                      <a:pt x="97399" y="50068"/>
                    </a:cubicBezTo>
                    <a:close/>
                    <a:moveTo>
                      <a:pt x="286504" y="34224"/>
                    </a:moveTo>
                    <a:cubicBezTo>
                      <a:pt x="282077" y="32323"/>
                      <a:pt x="277017" y="29788"/>
                      <a:pt x="272590" y="28520"/>
                    </a:cubicBezTo>
                    <a:lnTo>
                      <a:pt x="278282" y="13943"/>
                    </a:lnTo>
                    <a:cubicBezTo>
                      <a:pt x="283342" y="15844"/>
                      <a:pt x="288402" y="17746"/>
                      <a:pt x="293461" y="20281"/>
                    </a:cubicBezTo>
                    <a:lnTo>
                      <a:pt x="286504" y="34224"/>
                    </a:lnTo>
                    <a:close/>
                    <a:moveTo>
                      <a:pt x="137876" y="28520"/>
                    </a:moveTo>
                    <a:lnTo>
                      <a:pt x="132184" y="13943"/>
                    </a:lnTo>
                    <a:cubicBezTo>
                      <a:pt x="137244" y="12042"/>
                      <a:pt x="142304" y="10140"/>
                      <a:pt x="147996" y="8873"/>
                    </a:cubicBezTo>
                    <a:lnTo>
                      <a:pt x="152423" y="24084"/>
                    </a:lnTo>
                    <a:cubicBezTo>
                      <a:pt x="147363" y="24717"/>
                      <a:pt x="142936" y="26619"/>
                      <a:pt x="137876" y="28520"/>
                    </a:cubicBezTo>
                    <a:close/>
                    <a:moveTo>
                      <a:pt x="242865" y="19647"/>
                    </a:moveTo>
                    <a:cubicBezTo>
                      <a:pt x="237805" y="18380"/>
                      <a:pt x="232745" y="17746"/>
                      <a:pt x="227686" y="17112"/>
                    </a:cubicBezTo>
                    <a:lnTo>
                      <a:pt x="229583" y="1268"/>
                    </a:lnTo>
                    <a:cubicBezTo>
                      <a:pt x="235275" y="1901"/>
                      <a:pt x="240335" y="2535"/>
                      <a:pt x="246027" y="3803"/>
                    </a:cubicBezTo>
                    <a:lnTo>
                      <a:pt x="242865" y="19647"/>
                    </a:lnTo>
                    <a:close/>
                    <a:moveTo>
                      <a:pt x="182148" y="17112"/>
                    </a:moveTo>
                    <a:lnTo>
                      <a:pt x="180251" y="1268"/>
                    </a:lnTo>
                    <a:cubicBezTo>
                      <a:pt x="185943" y="634"/>
                      <a:pt x="191003" y="0"/>
                      <a:pt x="196695" y="0"/>
                    </a:cubicBezTo>
                    <a:lnTo>
                      <a:pt x="197328" y="15844"/>
                    </a:lnTo>
                    <a:cubicBezTo>
                      <a:pt x="192268" y="16478"/>
                      <a:pt x="187208" y="17112"/>
                      <a:pt x="182148" y="17112"/>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16" name="Picture Placeholder 111">
                <a:extLst>
                  <a:ext uri="{FF2B5EF4-FFF2-40B4-BE49-F238E27FC236}">
                    <a16:creationId xmlns:a16="http://schemas.microsoft.com/office/drawing/2014/main" id="{EDDE3615-EAF1-F647-9E67-63E194C36F8C}"/>
                  </a:ext>
                </a:extLst>
              </p:cNvPr>
              <p:cNvSpPr/>
              <p:nvPr/>
            </p:nvSpPr>
            <p:spPr>
              <a:xfrm>
                <a:off x="8459498" y="3193521"/>
                <a:ext cx="553154" cy="570400"/>
              </a:xfrm>
              <a:custGeom>
                <a:avLst/>
                <a:gdLst>
                  <a:gd name="connsiteX0" fmla="*/ 547710 w 553154"/>
                  <a:gd name="connsiteY0" fmla="*/ 370127 h 570400"/>
                  <a:gd name="connsiteX1" fmla="*/ 537591 w 553154"/>
                  <a:gd name="connsiteY1" fmla="*/ 375197 h 570400"/>
                  <a:gd name="connsiteX2" fmla="*/ 284607 w 553154"/>
                  <a:gd name="connsiteY2" fmla="*/ 553922 h 570400"/>
                  <a:gd name="connsiteX3" fmla="*/ 15812 w 553154"/>
                  <a:gd name="connsiteY3" fmla="*/ 284566 h 570400"/>
                  <a:gd name="connsiteX4" fmla="*/ 284607 w 553154"/>
                  <a:gd name="connsiteY4" fmla="*/ 15211 h 570400"/>
                  <a:gd name="connsiteX5" fmla="*/ 510395 w 553154"/>
                  <a:gd name="connsiteY5" fmla="*/ 138797 h 570400"/>
                  <a:gd name="connsiteX6" fmla="*/ 480670 w 553154"/>
                  <a:gd name="connsiteY6" fmla="*/ 148304 h 570400"/>
                  <a:gd name="connsiteX7" fmla="*/ 507233 w 553154"/>
                  <a:gd name="connsiteY7" fmla="*/ 173021 h 570400"/>
                  <a:gd name="connsiteX8" fmla="*/ 533796 w 553154"/>
                  <a:gd name="connsiteY8" fmla="*/ 197739 h 570400"/>
                  <a:gd name="connsiteX9" fmla="*/ 542018 w 553154"/>
                  <a:gd name="connsiteY9" fmla="*/ 162247 h 570400"/>
                  <a:gd name="connsiteX10" fmla="*/ 550240 w 553154"/>
                  <a:gd name="connsiteY10" fmla="*/ 126756 h 570400"/>
                  <a:gd name="connsiteX11" fmla="*/ 526207 w 553154"/>
                  <a:gd name="connsiteY11" fmla="*/ 134361 h 570400"/>
                  <a:gd name="connsiteX12" fmla="*/ 284607 w 553154"/>
                  <a:gd name="connsiteY12" fmla="*/ 0 h 570400"/>
                  <a:gd name="connsiteX13" fmla="*/ 0 w 553154"/>
                  <a:gd name="connsiteY13" fmla="*/ 285200 h 570400"/>
                  <a:gd name="connsiteX14" fmla="*/ 284607 w 553154"/>
                  <a:gd name="connsiteY14" fmla="*/ 570400 h 570400"/>
                  <a:gd name="connsiteX15" fmla="*/ 552770 w 553154"/>
                  <a:gd name="connsiteY15" fmla="*/ 380901 h 570400"/>
                  <a:gd name="connsiteX16" fmla="*/ 547710 w 553154"/>
                  <a:gd name="connsiteY16" fmla="*/ 370127 h 5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154" h="570400">
                    <a:moveTo>
                      <a:pt x="547710" y="370127"/>
                    </a:moveTo>
                    <a:cubicBezTo>
                      <a:pt x="543283" y="368859"/>
                      <a:pt x="538856" y="370760"/>
                      <a:pt x="537591" y="375197"/>
                    </a:cubicBezTo>
                    <a:cubicBezTo>
                      <a:pt x="499643" y="482305"/>
                      <a:pt x="397817" y="553922"/>
                      <a:pt x="284607" y="553922"/>
                    </a:cubicBezTo>
                    <a:cubicBezTo>
                      <a:pt x="136611" y="553922"/>
                      <a:pt x="15812" y="432871"/>
                      <a:pt x="15812" y="284566"/>
                    </a:cubicBezTo>
                    <a:cubicBezTo>
                      <a:pt x="15812" y="136262"/>
                      <a:pt x="136611" y="15211"/>
                      <a:pt x="284607" y="15211"/>
                    </a:cubicBezTo>
                    <a:cubicBezTo>
                      <a:pt x="375681" y="15211"/>
                      <a:pt x="461063" y="62110"/>
                      <a:pt x="510395" y="138797"/>
                    </a:cubicBezTo>
                    <a:lnTo>
                      <a:pt x="480670" y="148304"/>
                    </a:lnTo>
                    <a:lnTo>
                      <a:pt x="507233" y="173021"/>
                    </a:lnTo>
                    <a:lnTo>
                      <a:pt x="533796" y="197739"/>
                    </a:lnTo>
                    <a:lnTo>
                      <a:pt x="542018" y="162247"/>
                    </a:lnTo>
                    <a:lnTo>
                      <a:pt x="550240" y="126756"/>
                    </a:lnTo>
                    <a:lnTo>
                      <a:pt x="526207" y="134361"/>
                    </a:lnTo>
                    <a:cubicBezTo>
                      <a:pt x="474345" y="51336"/>
                      <a:pt x="382638" y="0"/>
                      <a:pt x="284607" y="0"/>
                    </a:cubicBezTo>
                    <a:cubicBezTo>
                      <a:pt x="127757" y="0"/>
                      <a:pt x="0" y="128023"/>
                      <a:pt x="0" y="285200"/>
                    </a:cubicBezTo>
                    <a:cubicBezTo>
                      <a:pt x="0" y="442377"/>
                      <a:pt x="127757" y="570400"/>
                      <a:pt x="284607" y="570400"/>
                    </a:cubicBezTo>
                    <a:cubicBezTo>
                      <a:pt x="404774" y="570400"/>
                      <a:pt x="512293" y="494347"/>
                      <a:pt x="552770" y="380901"/>
                    </a:cubicBezTo>
                    <a:cubicBezTo>
                      <a:pt x="554035" y="375831"/>
                      <a:pt x="552138" y="371394"/>
                      <a:pt x="547710" y="370127"/>
                    </a:cubicBez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cxnSp>
          <p:nvCxnSpPr>
            <p:cNvPr id="134" name="Straight Connector 133">
              <a:extLst>
                <a:ext uri="{FF2B5EF4-FFF2-40B4-BE49-F238E27FC236}">
                  <a16:creationId xmlns:a16="http://schemas.microsoft.com/office/drawing/2014/main" id="{D0EB53EB-5A19-42E7-AB0C-DE047869EE5B}"/>
                </a:ext>
              </a:extLst>
            </p:cNvPr>
            <p:cNvCxnSpPr>
              <a:cxnSpLocks/>
            </p:cNvCxnSpPr>
            <p:nvPr/>
          </p:nvCxnSpPr>
          <p:spPr bwMode="gray">
            <a:xfrm flipV="1">
              <a:off x="10622381" y="237161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367EB47-6B01-4932-B7C7-516AA7775537}"/>
              </a:ext>
            </a:extLst>
          </p:cNvPr>
          <p:cNvGrpSpPr/>
          <p:nvPr/>
        </p:nvGrpSpPr>
        <p:grpSpPr>
          <a:xfrm>
            <a:off x="3929179" y="1266557"/>
            <a:ext cx="758008" cy="1300703"/>
            <a:chOff x="3855590" y="1436575"/>
            <a:chExt cx="758008" cy="1300703"/>
          </a:xfrm>
        </p:grpSpPr>
        <p:cxnSp>
          <p:nvCxnSpPr>
            <p:cNvPr id="197" name="Straight Connector 196">
              <a:extLst>
                <a:ext uri="{FF2B5EF4-FFF2-40B4-BE49-F238E27FC236}">
                  <a16:creationId xmlns:a16="http://schemas.microsoft.com/office/drawing/2014/main" id="{507DD277-52AA-4F4A-8918-738F49266D02}"/>
                </a:ext>
              </a:extLst>
            </p:cNvPr>
            <p:cNvCxnSpPr>
              <a:cxnSpLocks/>
            </p:cNvCxnSpPr>
            <p:nvPr/>
          </p:nvCxnSpPr>
          <p:spPr bwMode="gray">
            <a:xfrm flipV="1">
              <a:off x="4234591" y="237161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98" name="Oval 197">
              <a:extLst>
                <a:ext uri="{FF2B5EF4-FFF2-40B4-BE49-F238E27FC236}">
                  <a16:creationId xmlns:a16="http://schemas.microsoft.com/office/drawing/2014/main" id="{995AE75D-14AE-4CF4-ADCD-3C997A5622A4}"/>
                </a:ext>
              </a:extLst>
            </p:cNvPr>
            <p:cNvSpPr/>
            <p:nvPr/>
          </p:nvSpPr>
          <p:spPr>
            <a:xfrm>
              <a:off x="3994531"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99" name="Rounded Rectangle 37">
              <a:extLst>
                <a:ext uri="{FF2B5EF4-FFF2-40B4-BE49-F238E27FC236}">
                  <a16:creationId xmlns:a16="http://schemas.microsoft.com/office/drawing/2014/main" id="{CC8D1500-B86F-4049-AA7C-D68FF61843C8}"/>
                </a:ext>
              </a:extLst>
            </p:cNvPr>
            <p:cNvSpPr/>
            <p:nvPr/>
          </p:nvSpPr>
          <p:spPr>
            <a:xfrm>
              <a:off x="3855590"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Data-at-Rest</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Encryption</a:t>
              </a:r>
            </a:p>
          </p:txBody>
        </p:sp>
        <p:grpSp>
          <p:nvGrpSpPr>
            <p:cNvPr id="258" name="Picture Placeholder 96" descr="Storage Secure&#10;">
              <a:extLst>
                <a:ext uri="{FF2B5EF4-FFF2-40B4-BE49-F238E27FC236}">
                  <a16:creationId xmlns:a16="http://schemas.microsoft.com/office/drawing/2014/main" id="{7818BE63-5623-4417-9653-A34D84335ECF}"/>
                </a:ext>
              </a:extLst>
            </p:cNvPr>
            <p:cNvGrpSpPr>
              <a:grpSpLocks noChangeAspect="1"/>
            </p:cNvGrpSpPr>
            <p:nvPr/>
          </p:nvGrpSpPr>
          <p:grpSpPr>
            <a:xfrm>
              <a:off x="4116947" y="1998123"/>
              <a:ext cx="274320" cy="295409"/>
              <a:chOff x="5851715" y="3181479"/>
              <a:chExt cx="559094" cy="602073"/>
            </a:xfrm>
            <a:solidFill>
              <a:schemeClr val="tx1"/>
            </a:solidFill>
          </p:grpSpPr>
          <p:sp>
            <p:nvSpPr>
              <p:cNvPr id="259" name="Picture Placeholder 96">
                <a:extLst>
                  <a:ext uri="{FF2B5EF4-FFF2-40B4-BE49-F238E27FC236}">
                    <a16:creationId xmlns:a16="http://schemas.microsoft.com/office/drawing/2014/main" id="{E0D31C48-A936-4A51-B012-D303F40187A6}"/>
                  </a:ext>
                </a:extLst>
              </p:cNvPr>
              <p:cNvSpPr/>
              <p:nvPr/>
            </p:nvSpPr>
            <p:spPr>
              <a:xfrm>
                <a:off x="6223602" y="3503439"/>
                <a:ext cx="187208" cy="278862"/>
              </a:xfrm>
              <a:custGeom>
                <a:avLst/>
                <a:gdLst>
                  <a:gd name="connsiteX0" fmla="*/ 148628 w 187208"/>
                  <a:gd name="connsiteY0" fmla="*/ 109010 h 278862"/>
                  <a:gd name="connsiteX1" fmla="*/ 148628 w 187208"/>
                  <a:gd name="connsiteY1" fmla="*/ 55773 h 278862"/>
                  <a:gd name="connsiteX2" fmla="*/ 98031 w 187208"/>
                  <a:gd name="connsiteY2" fmla="*/ 0 h 278862"/>
                  <a:gd name="connsiteX3" fmla="*/ 89177 w 187208"/>
                  <a:gd name="connsiteY3" fmla="*/ 0 h 278862"/>
                  <a:gd name="connsiteX4" fmla="*/ 38580 w 187208"/>
                  <a:gd name="connsiteY4" fmla="*/ 55773 h 278862"/>
                  <a:gd name="connsiteX5" fmla="*/ 38580 w 187208"/>
                  <a:gd name="connsiteY5" fmla="*/ 109010 h 278862"/>
                  <a:gd name="connsiteX6" fmla="*/ 0 w 187208"/>
                  <a:gd name="connsiteY6" fmla="*/ 185063 h 278862"/>
                  <a:gd name="connsiteX7" fmla="*/ 93604 w 187208"/>
                  <a:gd name="connsiteY7" fmla="*/ 278862 h 278862"/>
                  <a:gd name="connsiteX8" fmla="*/ 187208 w 187208"/>
                  <a:gd name="connsiteY8" fmla="*/ 185063 h 278862"/>
                  <a:gd name="connsiteX9" fmla="*/ 148628 w 187208"/>
                  <a:gd name="connsiteY9" fmla="*/ 109010 h 278862"/>
                  <a:gd name="connsiteX10" fmla="*/ 55024 w 187208"/>
                  <a:gd name="connsiteY10" fmla="*/ 55773 h 278862"/>
                  <a:gd name="connsiteX11" fmla="*/ 89177 w 187208"/>
                  <a:gd name="connsiteY11" fmla="*/ 15844 h 278862"/>
                  <a:gd name="connsiteX12" fmla="*/ 98031 w 187208"/>
                  <a:gd name="connsiteY12" fmla="*/ 15844 h 278862"/>
                  <a:gd name="connsiteX13" fmla="*/ 132184 w 187208"/>
                  <a:gd name="connsiteY13" fmla="*/ 55773 h 278862"/>
                  <a:gd name="connsiteX14" fmla="*/ 132184 w 187208"/>
                  <a:gd name="connsiteY14" fmla="*/ 99503 h 278862"/>
                  <a:gd name="connsiteX15" fmla="*/ 93604 w 187208"/>
                  <a:gd name="connsiteY15" fmla="*/ 91264 h 278862"/>
                  <a:gd name="connsiteX16" fmla="*/ 55024 w 187208"/>
                  <a:gd name="connsiteY16" fmla="*/ 99503 h 278862"/>
                  <a:gd name="connsiteX17" fmla="*/ 55024 w 187208"/>
                  <a:gd name="connsiteY17" fmla="*/ 55773 h 278862"/>
                  <a:gd name="connsiteX18" fmla="*/ 94237 w 187208"/>
                  <a:gd name="connsiteY18" fmla="*/ 262384 h 278862"/>
                  <a:gd name="connsiteX19" fmla="*/ 17076 w 187208"/>
                  <a:gd name="connsiteY19" fmla="*/ 185063 h 278862"/>
                  <a:gd name="connsiteX20" fmla="*/ 94237 w 187208"/>
                  <a:gd name="connsiteY20" fmla="*/ 107742 h 278862"/>
                  <a:gd name="connsiteX21" fmla="*/ 171397 w 187208"/>
                  <a:gd name="connsiteY21" fmla="*/ 185063 h 278862"/>
                  <a:gd name="connsiteX22" fmla="*/ 94237 w 187208"/>
                  <a:gd name="connsiteY22" fmla="*/ 262384 h 27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208" h="278862">
                    <a:moveTo>
                      <a:pt x="148628" y="109010"/>
                    </a:moveTo>
                    <a:lnTo>
                      <a:pt x="148628" y="55773"/>
                    </a:lnTo>
                    <a:cubicBezTo>
                      <a:pt x="148628" y="25351"/>
                      <a:pt x="125860" y="0"/>
                      <a:pt x="98031" y="0"/>
                    </a:cubicBezTo>
                    <a:lnTo>
                      <a:pt x="89177" y="0"/>
                    </a:lnTo>
                    <a:cubicBezTo>
                      <a:pt x="61349" y="0"/>
                      <a:pt x="38580" y="24717"/>
                      <a:pt x="38580" y="55773"/>
                    </a:cubicBezTo>
                    <a:lnTo>
                      <a:pt x="38580" y="109010"/>
                    </a:lnTo>
                    <a:cubicBezTo>
                      <a:pt x="15179" y="126122"/>
                      <a:pt x="0" y="153374"/>
                      <a:pt x="0" y="185063"/>
                    </a:cubicBezTo>
                    <a:cubicBezTo>
                      <a:pt x="0" y="237033"/>
                      <a:pt x="41742" y="278862"/>
                      <a:pt x="93604" y="278862"/>
                    </a:cubicBezTo>
                    <a:cubicBezTo>
                      <a:pt x="145466" y="278862"/>
                      <a:pt x="187208" y="237033"/>
                      <a:pt x="187208" y="185063"/>
                    </a:cubicBezTo>
                    <a:cubicBezTo>
                      <a:pt x="187208" y="153374"/>
                      <a:pt x="172029" y="125488"/>
                      <a:pt x="148628" y="109010"/>
                    </a:cubicBezTo>
                    <a:close/>
                    <a:moveTo>
                      <a:pt x="55024" y="55773"/>
                    </a:moveTo>
                    <a:cubicBezTo>
                      <a:pt x="55024" y="33590"/>
                      <a:pt x="70203" y="15844"/>
                      <a:pt x="89177" y="15844"/>
                    </a:cubicBezTo>
                    <a:lnTo>
                      <a:pt x="98031" y="15844"/>
                    </a:lnTo>
                    <a:cubicBezTo>
                      <a:pt x="117005" y="15844"/>
                      <a:pt x="132184" y="33590"/>
                      <a:pt x="132184" y="55773"/>
                    </a:cubicBezTo>
                    <a:lnTo>
                      <a:pt x="132184" y="99503"/>
                    </a:lnTo>
                    <a:cubicBezTo>
                      <a:pt x="120167" y="93799"/>
                      <a:pt x="107518" y="91264"/>
                      <a:pt x="93604" y="91264"/>
                    </a:cubicBezTo>
                    <a:cubicBezTo>
                      <a:pt x="79690" y="91264"/>
                      <a:pt x="66408" y="94433"/>
                      <a:pt x="55024" y="99503"/>
                    </a:cubicBezTo>
                    <a:lnTo>
                      <a:pt x="55024" y="55773"/>
                    </a:lnTo>
                    <a:close/>
                    <a:moveTo>
                      <a:pt x="94237" y="262384"/>
                    </a:moveTo>
                    <a:cubicBezTo>
                      <a:pt x="51862" y="262384"/>
                      <a:pt x="17076" y="227526"/>
                      <a:pt x="17076" y="185063"/>
                    </a:cubicBezTo>
                    <a:cubicBezTo>
                      <a:pt x="17076" y="142600"/>
                      <a:pt x="51862" y="107742"/>
                      <a:pt x="94237" y="107742"/>
                    </a:cubicBezTo>
                    <a:cubicBezTo>
                      <a:pt x="136611" y="107742"/>
                      <a:pt x="171397" y="142600"/>
                      <a:pt x="171397" y="185063"/>
                    </a:cubicBezTo>
                    <a:cubicBezTo>
                      <a:pt x="171397" y="227526"/>
                      <a:pt x="136611" y="262384"/>
                      <a:pt x="94237" y="26238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60" name="Picture Placeholder 96">
                <a:extLst>
                  <a:ext uri="{FF2B5EF4-FFF2-40B4-BE49-F238E27FC236}">
                    <a16:creationId xmlns:a16="http://schemas.microsoft.com/office/drawing/2014/main" id="{5AD1DBCA-E0CF-4A75-9112-92D2A9EF6C5C}"/>
                  </a:ext>
                </a:extLst>
              </p:cNvPr>
              <p:cNvSpPr/>
              <p:nvPr/>
            </p:nvSpPr>
            <p:spPr>
              <a:xfrm>
                <a:off x="6302659" y="3663785"/>
                <a:ext cx="29765" cy="48167"/>
              </a:xfrm>
              <a:custGeom>
                <a:avLst/>
                <a:gdLst>
                  <a:gd name="connsiteX0" fmla="*/ 15179 w 29765"/>
                  <a:gd name="connsiteY0" fmla="*/ 0 h 48167"/>
                  <a:gd name="connsiteX1" fmla="*/ 0 w 29765"/>
                  <a:gd name="connsiteY1" fmla="*/ 15211 h 48167"/>
                  <a:gd name="connsiteX2" fmla="*/ 7590 w 29765"/>
                  <a:gd name="connsiteY2" fmla="*/ 28520 h 48167"/>
                  <a:gd name="connsiteX3" fmla="*/ 7590 w 29765"/>
                  <a:gd name="connsiteY3" fmla="*/ 44364 h 48167"/>
                  <a:gd name="connsiteX4" fmla="*/ 11384 w 29765"/>
                  <a:gd name="connsiteY4" fmla="*/ 48167 h 48167"/>
                  <a:gd name="connsiteX5" fmla="*/ 18341 w 29765"/>
                  <a:gd name="connsiteY5" fmla="*/ 48167 h 48167"/>
                  <a:gd name="connsiteX6" fmla="*/ 22136 w 29765"/>
                  <a:gd name="connsiteY6" fmla="*/ 44364 h 48167"/>
                  <a:gd name="connsiteX7" fmla="*/ 22136 w 29765"/>
                  <a:gd name="connsiteY7" fmla="*/ 28520 h 48167"/>
                  <a:gd name="connsiteX8" fmla="*/ 29726 w 29765"/>
                  <a:gd name="connsiteY8" fmla="*/ 15211 h 48167"/>
                  <a:gd name="connsiteX9" fmla="*/ 15179 w 29765"/>
                  <a:gd name="connsiteY9" fmla="*/ 0 h 4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5" h="48167">
                    <a:moveTo>
                      <a:pt x="15179" y="0"/>
                    </a:moveTo>
                    <a:cubicBezTo>
                      <a:pt x="6957" y="0"/>
                      <a:pt x="0" y="6972"/>
                      <a:pt x="0" y="15211"/>
                    </a:cubicBezTo>
                    <a:cubicBezTo>
                      <a:pt x="0" y="20915"/>
                      <a:pt x="3162" y="25985"/>
                      <a:pt x="7590" y="28520"/>
                    </a:cubicBezTo>
                    <a:lnTo>
                      <a:pt x="7590" y="44364"/>
                    </a:lnTo>
                    <a:cubicBezTo>
                      <a:pt x="7590" y="46900"/>
                      <a:pt x="9487" y="48167"/>
                      <a:pt x="11384" y="48167"/>
                    </a:cubicBezTo>
                    <a:lnTo>
                      <a:pt x="18341" y="48167"/>
                    </a:lnTo>
                    <a:cubicBezTo>
                      <a:pt x="20871" y="48167"/>
                      <a:pt x="22136" y="46266"/>
                      <a:pt x="22136" y="44364"/>
                    </a:cubicBezTo>
                    <a:lnTo>
                      <a:pt x="22136" y="28520"/>
                    </a:lnTo>
                    <a:cubicBezTo>
                      <a:pt x="26563" y="25985"/>
                      <a:pt x="29726" y="20915"/>
                      <a:pt x="29726" y="15211"/>
                    </a:cubicBezTo>
                    <a:cubicBezTo>
                      <a:pt x="30358" y="6972"/>
                      <a:pt x="23401" y="0"/>
                      <a:pt x="15179"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261" name="Picture Placeholder 96">
                <a:extLst>
                  <a:ext uri="{FF2B5EF4-FFF2-40B4-BE49-F238E27FC236}">
                    <a16:creationId xmlns:a16="http://schemas.microsoft.com/office/drawing/2014/main" id="{BCB6A7C0-C7E8-4181-A732-F102D944A312}"/>
                  </a:ext>
                </a:extLst>
              </p:cNvPr>
              <p:cNvGrpSpPr/>
              <p:nvPr/>
            </p:nvGrpSpPr>
            <p:grpSpPr>
              <a:xfrm>
                <a:off x="5851715" y="3181479"/>
                <a:ext cx="474345" cy="572224"/>
                <a:chOff x="5851715" y="3181479"/>
                <a:chExt cx="474345" cy="572224"/>
              </a:xfrm>
              <a:grpFill/>
            </p:grpSpPr>
            <p:sp>
              <p:nvSpPr>
                <p:cNvPr id="262" name="Picture Placeholder 96">
                  <a:extLst>
                    <a:ext uri="{FF2B5EF4-FFF2-40B4-BE49-F238E27FC236}">
                      <a16:creationId xmlns:a16="http://schemas.microsoft.com/office/drawing/2014/main" id="{C9E27497-9BC1-4187-8BDD-E95904F1E281}"/>
                    </a:ext>
                  </a:extLst>
                </p:cNvPr>
                <p:cNvSpPr/>
                <p:nvPr/>
              </p:nvSpPr>
              <p:spPr>
                <a:xfrm>
                  <a:off x="5851715" y="3181479"/>
                  <a:ext cx="474345" cy="295974"/>
                </a:xfrm>
                <a:custGeom>
                  <a:avLst/>
                  <a:gdLst>
                    <a:gd name="connsiteX0" fmla="*/ 237173 w 474345"/>
                    <a:gd name="connsiteY0" fmla="*/ 272525 h 295974"/>
                    <a:gd name="connsiteX1" fmla="*/ 458534 w 474345"/>
                    <a:gd name="connsiteY1" fmla="*/ 229428 h 295974"/>
                    <a:gd name="connsiteX2" fmla="*/ 458534 w 474345"/>
                    <a:gd name="connsiteY2" fmla="*/ 295974 h 295974"/>
                    <a:gd name="connsiteX3" fmla="*/ 474345 w 474345"/>
                    <a:gd name="connsiteY3" fmla="*/ 295974 h 295974"/>
                    <a:gd name="connsiteX4" fmla="*/ 474345 w 474345"/>
                    <a:gd name="connsiteY4" fmla="*/ 69082 h 295974"/>
                    <a:gd name="connsiteX5" fmla="*/ 237173 w 474345"/>
                    <a:gd name="connsiteY5" fmla="*/ 0 h 295974"/>
                    <a:gd name="connsiteX6" fmla="*/ 0 w 474345"/>
                    <a:gd name="connsiteY6" fmla="*/ 69082 h 295974"/>
                    <a:gd name="connsiteX7" fmla="*/ 237173 w 474345"/>
                    <a:gd name="connsiteY7" fmla="*/ 138164 h 295974"/>
                    <a:gd name="connsiteX8" fmla="*/ 458534 w 474345"/>
                    <a:gd name="connsiteY8" fmla="*/ 95067 h 295974"/>
                    <a:gd name="connsiteX9" fmla="*/ 458534 w 474345"/>
                    <a:gd name="connsiteY9" fmla="*/ 203443 h 295974"/>
                    <a:gd name="connsiteX10" fmla="*/ 237173 w 474345"/>
                    <a:gd name="connsiteY10" fmla="*/ 256680 h 295974"/>
                    <a:gd name="connsiteX11" fmla="*/ 15812 w 474345"/>
                    <a:gd name="connsiteY11" fmla="*/ 203443 h 295974"/>
                    <a:gd name="connsiteX12" fmla="*/ 15812 w 474345"/>
                    <a:gd name="connsiteY12" fmla="*/ 124221 h 295974"/>
                    <a:gd name="connsiteX13" fmla="*/ 0 w 474345"/>
                    <a:gd name="connsiteY13" fmla="*/ 124221 h 295974"/>
                    <a:gd name="connsiteX14" fmla="*/ 0 w 474345"/>
                    <a:gd name="connsiteY14" fmla="*/ 202809 h 295974"/>
                    <a:gd name="connsiteX15" fmla="*/ 237173 w 474345"/>
                    <a:gd name="connsiteY15" fmla="*/ 272525 h 295974"/>
                    <a:gd name="connsiteX16" fmla="*/ 237173 w 474345"/>
                    <a:gd name="connsiteY16" fmla="*/ 122319 h 295974"/>
                    <a:gd name="connsiteX17" fmla="*/ 15812 w 474345"/>
                    <a:gd name="connsiteY17" fmla="*/ 69082 h 295974"/>
                    <a:gd name="connsiteX18" fmla="*/ 237173 w 474345"/>
                    <a:gd name="connsiteY18" fmla="*/ 15844 h 295974"/>
                    <a:gd name="connsiteX19" fmla="*/ 458534 w 474345"/>
                    <a:gd name="connsiteY19" fmla="*/ 69082 h 295974"/>
                    <a:gd name="connsiteX20" fmla="*/ 237173 w 474345"/>
                    <a:gd name="connsiteY20" fmla="*/ 122319 h 29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4345" h="295974">
                      <a:moveTo>
                        <a:pt x="237173" y="272525"/>
                      </a:moveTo>
                      <a:cubicBezTo>
                        <a:pt x="326982" y="272525"/>
                        <a:pt x="421851" y="257314"/>
                        <a:pt x="458534" y="229428"/>
                      </a:cubicBezTo>
                      <a:lnTo>
                        <a:pt x="458534" y="295974"/>
                      </a:lnTo>
                      <a:lnTo>
                        <a:pt x="474345" y="295974"/>
                      </a:lnTo>
                      <a:lnTo>
                        <a:pt x="474345" y="69082"/>
                      </a:lnTo>
                      <a:cubicBezTo>
                        <a:pt x="474345" y="24084"/>
                        <a:pt x="352280" y="0"/>
                        <a:pt x="237173" y="0"/>
                      </a:cubicBezTo>
                      <a:cubicBezTo>
                        <a:pt x="122065" y="0"/>
                        <a:pt x="0" y="24084"/>
                        <a:pt x="0" y="69082"/>
                      </a:cubicBezTo>
                      <a:cubicBezTo>
                        <a:pt x="0" y="114080"/>
                        <a:pt x="122065" y="138164"/>
                        <a:pt x="237173" y="138164"/>
                      </a:cubicBezTo>
                      <a:cubicBezTo>
                        <a:pt x="326982" y="138164"/>
                        <a:pt x="421851" y="122953"/>
                        <a:pt x="458534" y="95067"/>
                      </a:cubicBezTo>
                      <a:lnTo>
                        <a:pt x="458534" y="203443"/>
                      </a:lnTo>
                      <a:cubicBezTo>
                        <a:pt x="458534" y="225625"/>
                        <a:pt x="374416" y="256680"/>
                        <a:pt x="237173" y="256680"/>
                      </a:cubicBezTo>
                      <a:cubicBezTo>
                        <a:pt x="99929" y="256680"/>
                        <a:pt x="15812" y="225625"/>
                        <a:pt x="15812" y="203443"/>
                      </a:cubicBezTo>
                      <a:lnTo>
                        <a:pt x="15812" y="124221"/>
                      </a:lnTo>
                      <a:lnTo>
                        <a:pt x="0" y="124221"/>
                      </a:lnTo>
                      <a:lnTo>
                        <a:pt x="0" y="202809"/>
                      </a:lnTo>
                      <a:cubicBezTo>
                        <a:pt x="0" y="248441"/>
                        <a:pt x="122065" y="272525"/>
                        <a:pt x="237173" y="272525"/>
                      </a:cubicBezTo>
                      <a:close/>
                      <a:moveTo>
                        <a:pt x="237173" y="122319"/>
                      </a:moveTo>
                      <a:cubicBezTo>
                        <a:pt x="99929" y="122319"/>
                        <a:pt x="15812" y="91264"/>
                        <a:pt x="15812" y="69082"/>
                      </a:cubicBezTo>
                      <a:cubicBezTo>
                        <a:pt x="15812" y="46900"/>
                        <a:pt x="99929" y="15844"/>
                        <a:pt x="237173" y="15844"/>
                      </a:cubicBezTo>
                      <a:cubicBezTo>
                        <a:pt x="374416" y="15844"/>
                        <a:pt x="458534" y="46900"/>
                        <a:pt x="458534" y="69082"/>
                      </a:cubicBezTo>
                      <a:cubicBezTo>
                        <a:pt x="458534" y="91264"/>
                        <a:pt x="373784" y="122319"/>
                        <a:pt x="237173" y="12231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63" name="Picture Placeholder 96">
                  <a:extLst>
                    <a:ext uri="{FF2B5EF4-FFF2-40B4-BE49-F238E27FC236}">
                      <a16:creationId xmlns:a16="http://schemas.microsoft.com/office/drawing/2014/main" id="{A69088A8-6D7E-41A0-9E1B-530B0CED84C6}"/>
                    </a:ext>
                  </a:extLst>
                </p:cNvPr>
                <p:cNvSpPr/>
                <p:nvPr/>
              </p:nvSpPr>
              <p:spPr>
                <a:xfrm>
                  <a:off x="5851715" y="3604843"/>
                  <a:ext cx="354810" cy="147670"/>
                </a:xfrm>
                <a:custGeom>
                  <a:avLst/>
                  <a:gdLst>
                    <a:gd name="connsiteX0" fmla="*/ 354810 w 354810"/>
                    <a:gd name="connsiteY0" fmla="*/ 123587 h 147670"/>
                    <a:gd name="connsiteX1" fmla="*/ 237173 w 354810"/>
                    <a:gd name="connsiteY1" fmla="*/ 132460 h 147670"/>
                    <a:gd name="connsiteX2" fmla="*/ 15812 w 354810"/>
                    <a:gd name="connsiteY2" fmla="*/ 79222 h 147670"/>
                    <a:gd name="connsiteX3" fmla="*/ 15812 w 354810"/>
                    <a:gd name="connsiteY3" fmla="*/ 0 h 147670"/>
                    <a:gd name="connsiteX4" fmla="*/ 0 w 354810"/>
                    <a:gd name="connsiteY4" fmla="*/ 0 h 147670"/>
                    <a:gd name="connsiteX5" fmla="*/ 0 w 354810"/>
                    <a:gd name="connsiteY5" fmla="*/ 78589 h 147670"/>
                    <a:gd name="connsiteX6" fmla="*/ 237173 w 354810"/>
                    <a:gd name="connsiteY6" fmla="*/ 147670 h 147670"/>
                    <a:gd name="connsiteX7" fmla="*/ 354810 w 354810"/>
                    <a:gd name="connsiteY7" fmla="*/ 138797 h 147670"/>
                    <a:gd name="connsiteX8" fmla="*/ 354810 w 354810"/>
                    <a:gd name="connsiteY8" fmla="*/ 123587 h 1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810" h="147670">
                      <a:moveTo>
                        <a:pt x="354810" y="123587"/>
                      </a:moveTo>
                      <a:cubicBezTo>
                        <a:pt x="321922" y="129291"/>
                        <a:pt x="282710" y="132460"/>
                        <a:pt x="237173" y="132460"/>
                      </a:cubicBezTo>
                      <a:cubicBezTo>
                        <a:pt x="99929" y="132460"/>
                        <a:pt x="15812" y="101405"/>
                        <a:pt x="15812" y="79222"/>
                      </a:cubicBezTo>
                      <a:lnTo>
                        <a:pt x="15812" y="0"/>
                      </a:lnTo>
                      <a:lnTo>
                        <a:pt x="0" y="0"/>
                      </a:lnTo>
                      <a:lnTo>
                        <a:pt x="0" y="78589"/>
                      </a:lnTo>
                      <a:cubicBezTo>
                        <a:pt x="0" y="123587"/>
                        <a:pt x="122065" y="147670"/>
                        <a:pt x="237173" y="147670"/>
                      </a:cubicBezTo>
                      <a:cubicBezTo>
                        <a:pt x="277650" y="147670"/>
                        <a:pt x="318760" y="144501"/>
                        <a:pt x="354810" y="138797"/>
                      </a:cubicBezTo>
                      <a:lnTo>
                        <a:pt x="354810" y="123587"/>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64" name="Picture Placeholder 96">
                  <a:extLst>
                    <a:ext uri="{FF2B5EF4-FFF2-40B4-BE49-F238E27FC236}">
                      <a16:creationId xmlns:a16="http://schemas.microsoft.com/office/drawing/2014/main" id="{DB18CD41-EEB3-44D5-87D7-C797DCB96732}"/>
                    </a:ext>
                  </a:extLst>
                </p:cNvPr>
                <p:cNvSpPr/>
                <p:nvPr/>
              </p:nvSpPr>
              <p:spPr>
                <a:xfrm>
                  <a:off x="5851715" y="3455272"/>
                  <a:ext cx="354810" cy="148304"/>
                </a:xfrm>
                <a:custGeom>
                  <a:avLst/>
                  <a:gdLst>
                    <a:gd name="connsiteX0" fmla="*/ 237173 w 354810"/>
                    <a:gd name="connsiteY0" fmla="*/ 148304 h 148304"/>
                    <a:gd name="connsiteX1" fmla="*/ 354810 w 354810"/>
                    <a:gd name="connsiteY1" fmla="*/ 139431 h 148304"/>
                    <a:gd name="connsiteX2" fmla="*/ 354810 w 354810"/>
                    <a:gd name="connsiteY2" fmla="*/ 123587 h 148304"/>
                    <a:gd name="connsiteX3" fmla="*/ 237173 w 354810"/>
                    <a:gd name="connsiteY3" fmla="*/ 132460 h 148304"/>
                    <a:gd name="connsiteX4" fmla="*/ 15812 w 354810"/>
                    <a:gd name="connsiteY4" fmla="*/ 78589 h 148304"/>
                    <a:gd name="connsiteX5" fmla="*/ 15812 w 354810"/>
                    <a:gd name="connsiteY5" fmla="*/ 0 h 148304"/>
                    <a:gd name="connsiteX6" fmla="*/ 0 w 354810"/>
                    <a:gd name="connsiteY6" fmla="*/ 0 h 148304"/>
                    <a:gd name="connsiteX7" fmla="*/ 0 w 354810"/>
                    <a:gd name="connsiteY7" fmla="*/ 78589 h 148304"/>
                    <a:gd name="connsiteX8" fmla="*/ 237173 w 354810"/>
                    <a:gd name="connsiteY8" fmla="*/ 148304 h 14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810" h="148304">
                      <a:moveTo>
                        <a:pt x="237173" y="148304"/>
                      </a:moveTo>
                      <a:cubicBezTo>
                        <a:pt x="277650" y="148304"/>
                        <a:pt x="318760" y="145135"/>
                        <a:pt x="354810" y="139431"/>
                      </a:cubicBezTo>
                      <a:lnTo>
                        <a:pt x="354810" y="123587"/>
                      </a:lnTo>
                      <a:cubicBezTo>
                        <a:pt x="321922" y="129291"/>
                        <a:pt x="282710" y="132460"/>
                        <a:pt x="237173" y="132460"/>
                      </a:cubicBezTo>
                      <a:cubicBezTo>
                        <a:pt x="99929" y="132460"/>
                        <a:pt x="15812" y="101405"/>
                        <a:pt x="15812" y="78589"/>
                      </a:cubicBezTo>
                      <a:lnTo>
                        <a:pt x="15812" y="0"/>
                      </a:lnTo>
                      <a:lnTo>
                        <a:pt x="0" y="0"/>
                      </a:lnTo>
                      <a:lnTo>
                        <a:pt x="0" y="78589"/>
                      </a:lnTo>
                      <a:cubicBezTo>
                        <a:pt x="0" y="124221"/>
                        <a:pt x="122065" y="148304"/>
                        <a:pt x="237173" y="14830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13" name="Group 12">
            <a:extLst>
              <a:ext uri="{FF2B5EF4-FFF2-40B4-BE49-F238E27FC236}">
                <a16:creationId xmlns:a16="http://schemas.microsoft.com/office/drawing/2014/main" id="{71812BAC-3498-4B83-9C85-C520A4612699}"/>
              </a:ext>
            </a:extLst>
          </p:cNvPr>
          <p:cNvGrpSpPr/>
          <p:nvPr/>
        </p:nvGrpSpPr>
        <p:grpSpPr>
          <a:xfrm>
            <a:off x="2874901" y="1266557"/>
            <a:ext cx="758008" cy="1300703"/>
            <a:chOff x="2872610" y="1436575"/>
            <a:chExt cx="758008" cy="1300703"/>
          </a:xfrm>
        </p:grpSpPr>
        <p:cxnSp>
          <p:nvCxnSpPr>
            <p:cNvPr id="124" name="Straight Connector 123">
              <a:extLst>
                <a:ext uri="{FF2B5EF4-FFF2-40B4-BE49-F238E27FC236}">
                  <a16:creationId xmlns:a16="http://schemas.microsoft.com/office/drawing/2014/main" id="{49458914-0920-4798-A869-41AD676DE6E7}"/>
                </a:ext>
              </a:extLst>
            </p:cNvPr>
            <p:cNvCxnSpPr>
              <a:cxnSpLocks/>
            </p:cNvCxnSpPr>
            <p:nvPr/>
          </p:nvCxnSpPr>
          <p:spPr bwMode="gray">
            <a:xfrm flipV="1">
              <a:off x="3251611" y="237161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30" name="Oval 129">
              <a:extLst>
                <a:ext uri="{FF2B5EF4-FFF2-40B4-BE49-F238E27FC236}">
                  <a16:creationId xmlns:a16="http://schemas.microsoft.com/office/drawing/2014/main" id="{1C984887-0622-4CF5-A998-DD116290EC2C}"/>
                </a:ext>
              </a:extLst>
            </p:cNvPr>
            <p:cNvSpPr/>
            <p:nvPr/>
          </p:nvSpPr>
          <p:spPr>
            <a:xfrm>
              <a:off x="3011551"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31" name="Rounded Rectangle 37">
              <a:extLst>
                <a:ext uri="{FF2B5EF4-FFF2-40B4-BE49-F238E27FC236}">
                  <a16:creationId xmlns:a16="http://schemas.microsoft.com/office/drawing/2014/main" id="{44512959-7C50-4B43-ABED-DF8FDF680954}"/>
                </a:ext>
              </a:extLst>
            </p:cNvPr>
            <p:cNvSpPr/>
            <p:nvPr/>
          </p:nvSpPr>
          <p:spPr>
            <a:xfrm>
              <a:off x="2872610"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Automated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Patching</a:t>
              </a:r>
            </a:p>
          </p:txBody>
        </p:sp>
        <p:grpSp>
          <p:nvGrpSpPr>
            <p:cNvPr id="265" name="Picture Placeholder 89" descr="Security Lifecycle&#10;">
              <a:extLst>
                <a:ext uri="{FF2B5EF4-FFF2-40B4-BE49-F238E27FC236}">
                  <a16:creationId xmlns:a16="http://schemas.microsoft.com/office/drawing/2014/main" id="{4122E753-4C0F-4179-9775-53645760411E}"/>
                </a:ext>
              </a:extLst>
            </p:cNvPr>
            <p:cNvGrpSpPr>
              <a:grpSpLocks noChangeAspect="1"/>
            </p:cNvGrpSpPr>
            <p:nvPr/>
          </p:nvGrpSpPr>
          <p:grpSpPr>
            <a:xfrm>
              <a:off x="3121454" y="1995171"/>
              <a:ext cx="274607" cy="274320"/>
              <a:chOff x="8438627" y="1946048"/>
              <a:chExt cx="605896" cy="605264"/>
            </a:xfrm>
            <a:solidFill>
              <a:schemeClr val="tx1"/>
            </a:solidFill>
          </p:grpSpPr>
          <p:sp>
            <p:nvSpPr>
              <p:cNvPr id="266" name="Picture Placeholder 89">
                <a:extLst>
                  <a:ext uri="{FF2B5EF4-FFF2-40B4-BE49-F238E27FC236}">
                    <a16:creationId xmlns:a16="http://schemas.microsoft.com/office/drawing/2014/main" id="{F22861FE-7B7F-40B2-AE3A-8E88BAE9F9C8}"/>
                  </a:ext>
                </a:extLst>
              </p:cNvPr>
              <p:cNvSpPr/>
              <p:nvPr/>
            </p:nvSpPr>
            <p:spPr>
              <a:xfrm>
                <a:off x="8438627" y="1946048"/>
                <a:ext cx="588187" cy="471182"/>
              </a:xfrm>
              <a:custGeom>
                <a:avLst/>
                <a:gdLst>
                  <a:gd name="connsiteX0" fmla="*/ 17076 w 588187"/>
                  <a:gd name="connsiteY0" fmla="*/ 302948 h 471182"/>
                  <a:gd name="connsiteX1" fmla="*/ 302948 w 588187"/>
                  <a:gd name="connsiteY1" fmla="*/ 17076 h 471182"/>
                  <a:gd name="connsiteX2" fmla="*/ 550240 w 588187"/>
                  <a:gd name="connsiteY2" fmla="*/ 158747 h 471182"/>
                  <a:gd name="connsiteX3" fmla="*/ 501541 w 588187"/>
                  <a:gd name="connsiteY3" fmla="*/ 149893 h 471182"/>
                  <a:gd name="connsiteX4" fmla="*/ 498379 w 588187"/>
                  <a:gd name="connsiteY4" fmla="*/ 166337 h 471182"/>
                  <a:gd name="connsiteX5" fmla="*/ 573009 w 588187"/>
                  <a:gd name="connsiteY5" fmla="*/ 179619 h 471182"/>
                  <a:gd name="connsiteX6" fmla="*/ 588188 w 588187"/>
                  <a:gd name="connsiteY6" fmla="*/ 105621 h 471182"/>
                  <a:gd name="connsiteX7" fmla="*/ 571744 w 588187"/>
                  <a:gd name="connsiteY7" fmla="*/ 102459 h 471182"/>
                  <a:gd name="connsiteX8" fmla="*/ 562257 w 588187"/>
                  <a:gd name="connsiteY8" fmla="*/ 146731 h 471182"/>
                  <a:gd name="connsiteX9" fmla="*/ 302948 w 588187"/>
                  <a:gd name="connsiteY9" fmla="*/ 0 h 471182"/>
                  <a:gd name="connsiteX10" fmla="*/ 0 w 588187"/>
                  <a:gd name="connsiteY10" fmla="*/ 302948 h 471182"/>
                  <a:gd name="connsiteX11" fmla="*/ 50597 w 588187"/>
                  <a:gd name="connsiteY11" fmla="*/ 471183 h 471182"/>
                  <a:gd name="connsiteX12" fmla="*/ 64511 w 588187"/>
                  <a:gd name="connsiteY12" fmla="*/ 461696 h 471182"/>
                  <a:gd name="connsiteX13" fmla="*/ 17076 w 588187"/>
                  <a:gd name="connsiteY13" fmla="*/ 302948 h 47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187" h="471182">
                    <a:moveTo>
                      <a:pt x="17076" y="302948"/>
                    </a:moveTo>
                    <a:cubicBezTo>
                      <a:pt x="17076" y="145466"/>
                      <a:pt x="145466" y="17076"/>
                      <a:pt x="302948" y="17076"/>
                    </a:cubicBezTo>
                    <a:cubicBezTo>
                      <a:pt x="405407" y="17076"/>
                      <a:pt x="499011" y="70836"/>
                      <a:pt x="550240" y="158747"/>
                    </a:cubicBezTo>
                    <a:lnTo>
                      <a:pt x="501541" y="149893"/>
                    </a:lnTo>
                    <a:lnTo>
                      <a:pt x="498379" y="166337"/>
                    </a:lnTo>
                    <a:lnTo>
                      <a:pt x="573009" y="179619"/>
                    </a:lnTo>
                    <a:lnTo>
                      <a:pt x="588188" y="105621"/>
                    </a:lnTo>
                    <a:lnTo>
                      <a:pt x="571744" y="102459"/>
                    </a:lnTo>
                    <a:lnTo>
                      <a:pt x="562257" y="146731"/>
                    </a:lnTo>
                    <a:cubicBezTo>
                      <a:pt x="507865" y="55656"/>
                      <a:pt x="409834" y="0"/>
                      <a:pt x="302948" y="0"/>
                    </a:cubicBezTo>
                    <a:cubicBezTo>
                      <a:pt x="135979" y="0"/>
                      <a:pt x="0" y="135979"/>
                      <a:pt x="0" y="302948"/>
                    </a:cubicBezTo>
                    <a:cubicBezTo>
                      <a:pt x="0" y="363032"/>
                      <a:pt x="17709" y="421218"/>
                      <a:pt x="50597" y="471183"/>
                    </a:cubicBezTo>
                    <a:lnTo>
                      <a:pt x="64511" y="461696"/>
                    </a:lnTo>
                    <a:cubicBezTo>
                      <a:pt x="34153" y="414261"/>
                      <a:pt x="17076" y="359870"/>
                      <a:pt x="17076" y="302948"/>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67" name="Picture Placeholder 89">
                <a:extLst>
                  <a:ext uri="{FF2B5EF4-FFF2-40B4-BE49-F238E27FC236}">
                    <a16:creationId xmlns:a16="http://schemas.microsoft.com/office/drawing/2014/main" id="{F94ABC2A-AF01-4F74-94E2-FDAE02EC7D1B}"/>
                  </a:ext>
                </a:extLst>
              </p:cNvPr>
              <p:cNvSpPr/>
              <p:nvPr/>
            </p:nvSpPr>
            <p:spPr>
              <a:xfrm>
                <a:off x="8500608" y="2143376"/>
                <a:ext cx="543915" cy="407936"/>
              </a:xfrm>
              <a:custGeom>
                <a:avLst/>
                <a:gdLst>
                  <a:gd name="connsiteX0" fmla="*/ 524942 w 543915"/>
                  <a:gd name="connsiteY0" fmla="*/ 0 h 407936"/>
                  <a:gd name="connsiteX1" fmla="*/ 509130 w 543915"/>
                  <a:gd name="connsiteY1" fmla="*/ 5692 h 407936"/>
                  <a:gd name="connsiteX2" fmla="*/ 526839 w 543915"/>
                  <a:gd name="connsiteY2" fmla="*/ 105621 h 407936"/>
                  <a:gd name="connsiteX3" fmla="*/ 240967 w 543915"/>
                  <a:gd name="connsiteY3" fmla="*/ 391493 h 407936"/>
                  <a:gd name="connsiteX4" fmla="*/ 37315 w 543915"/>
                  <a:gd name="connsiteY4" fmla="*/ 306111 h 407936"/>
                  <a:gd name="connsiteX5" fmla="*/ 86647 w 543915"/>
                  <a:gd name="connsiteY5" fmla="*/ 314965 h 407936"/>
                  <a:gd name="connsiteX6" fmla="*/ 89809 w 543915"/>
                  <a:gd name="connsiteY6" fmla="*/ 298521 h 407936"/>
                  <a:gd name="connsiteX7" fmla="*/ 15179 w 543915"/>
                  <a:gd name="connsiteY7" fmla="*/ 285239 h 407936"/>
                  <a:gd name="connsiteX8" fmla="*/ 0 w 543915"/>
                  <a:gd name="connsiteY8" fmla="*/ 359237 h 407936"/>
                  <a:gd name="connsiteX9" fmla="*/ 16444 w 543915"/>
                  <a:gd name="connsiteY9" fmla="*/ 362400 h 407936"/>
                  <a:gd name="connsiteX10" fmla="*/ 25931 w 543915"/>
                  <a:gd name="connsiteY10" fmla="*/ 318127 h 407936"/>
                  <a:gd name="connsiteX11" fmla="*/ 240967 w 543915"/>
                  <a:gd name="connsiteY11" fmla="*/ 407937 h 407936"/>
                  <a:gd name="connsiteX12" fmla="*/ 543916 w 543915"/>
                  <a:gd name="connsiteY12" fmla="*/ 104988 h 407936"/>
                  <a:gd name="connsiteX13" fmla="*/ 524942 w 543915"/>
                  <a:gd name="connsiteY13" fmla="*/ 0 h 407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3915" h="407936">
                    <a:moveTo>
                      <a:pt x="524942" y="0"/>
                    </a:moveTo>
                    <a:lnTo>
                      <a:pt x="509130" y="5692"/>
                    </a:lnTo>
                    <a:cubicBezTo>
                      <a:pt x="521147" y="37315"/>
                      <a:pt x="526839" y="71468"/>
                      <a:pt x="526839" y="105621"/>
                    </a:cubicBezTo>
                    <a:cubicBezTo>
                      <a:pt x="526839" y="263103"/>
                      <a:pt x="398450" y="391493"/>
                      <a:pt x="240967" y="391493"/>
                    </a:cubicBezTo>
                    <a:cubicBezTo>
                      <a:pt x="164440" y="391493"/>
                      <a:pt x="91074" y="360502"/>
                      <a:pt x="37315" y="306111"/>
                    </a:cubicBezTo>
                    <a:lnTo>
                      <a:pt x="86647" y="314965"/>
                    </a:lnTo>
                    <a:lnTo>
                      <a:pt x="89809" y="298521"/>
                    </a:lnTo>
                    <a:lnTo>
                      <a:pt x="15179" y="285239"/>
                    </a:lnTo>
                    <a:lnTo>
                      <a:pt x="0" y="359237"/>
                    </a:lnTo>
                    <a:lnTo>
                      <a:pt x="16444" y="362400"/>
                    </a:lnTo>
                    <a:lnTo>
                      <a:pt x="25931" y="318127"/>
                    </a:lnTo>
                    <a:cubicBezTo>
                      <a:pt x="82852" y="375681"/>
                      <a:pt x="160012" y="407937"/>
                      <a:pt x="240967" y="407937"/>
                    </a:cubicBezTo>
                    <a:cubicBezTo>
                      <a:pt x="407937" y="407937"/>
                      <a:pt x="543916" y="271958"/>
                      <a:pt x="543916" y="104988"/>
                    </a:cubicBezTo>
                    <a:cubicBezTo>
                      <a:pt x="543916" y="68938"/>
                      <a:pt x="537591" y="33520"/>
                      <a:pt x="524942"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68" name="Picture Placeholder 89">
                <a:extLst>
                  <a:ext uri="{FF2B5EF4-FFF2-40B4-BE49-F238E27FC236}">
                    <a16:creationId xmlns:a16="http://schemas.microsoft.com/office/drawing/2014/main" id="{57A80703-98B7-470C-90B3-A5E39796C4C0}"/>
                  </a:ext>
                </a:extLst>
              </p:cNvPr>
              <p:cNvSpPr/>
              <p:nvPr/>
            </p:nvSpPr>
            <p:spPr>
              <a:xfrm>
                <a:off x="8721969" y="2275560"/>
                <a:ext cx="46169" cy="72100"/>
              </a:xfrm>
              <a:custGeom>
                <a:avLst/>
                <a:gdLst>
                  <a:gd name="connsiteX0" fmla="*/ 0 w 46169"/>
                  <a:gd name="connsiteY0" fmla="*/ 22769 h 72100"/>
                  <a:gd name="connsiteX1" fmla="*/ 11384 w 46169"/>
                  <a:gd name="connsiteY1" fmla="*/ 42375 h 72100"/>
                  <a:gd name="connsiteX2" fmla="*/ 11384 w 46169"/>
                  <a:gd name="connsiteY2" fmla="*/ 65776 h 72100"/>
                  <a:gd name="connsiteX3" fmla="*/ 17709 w 46169"/>
                  <a:gd name="connsiteY3" fmla="*/ 72100 h 72100"/>
                  <a:gd name="connsiteX4" fmla="*/ 28461 w 46169"/>
                  <a:gd name="connsiteY4" fmla="*/ 72100 h 72100"/>
                  <a:gd name="connsiteX5" fmla="*/ 34785 w 46169"/>
                  <a:gd name="connsiteY5" fmla="*/ 65776 h 72100"/>
                  <a:gd name="connsiteX6" fmla="*/ 34785 w 46169"/>
                  <a:gd name="connsiteY6" fmla="*/ 42375 h 72100"/>
                  <a:gd name="connsiteX7" fmla="*/ 46170 w 46169"/>
                  <a:gd name="connsiteY7" fmla="*/ 22769 h 72100"/>
                  <a:gd name="connsiteX8" fmla="*/ 23401 w 46169"/>
                  <a:gd name="connsiteY8" fmla="*/ 0 h 72100"/>
                  <a:gd name="connsiteX9" fmla="*/ 0 w 46169"/>
                  <a:gd name="connsiteY9" fmla="*/ 22769 h 7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169" h="72100">
                    <a:moveTo>
                      <a:pt x="0" y="22769"/>
                    </a:moveTo>
                    <a:cubicBezTo>
                      <a:pt x="0" y="30991"/>
                      <a:pt x="4427" y="38580"/>
                      <a:pt x="11384" y="42375"/>
                    </a:cubicBezTo>
                    <a:lnTo>
                      <a:pt x="11384" y="65776"/>
                    </a:lnTo>
                    <a:cubicBezTo>
                      <a:pt x="11384" y="68938"/>
                      <a:pt x="13914" y="72100"/>
                      <a:pt x="17709" y="72100"/>
                    </a:cubicBezTo>
                    <a:lnTo>
                      <a:pt x="28461" y="72100"/>
                    </a:lnTo>
                    <a:cubicBezTo>
                      <a:pt x="31623" y="72100"/>
                      <a:pt x="34785" y="69571"/>
                      <a:pt x="34785" y="65776"/>
                    </a:cubicBezTo>
                    <a:lnTo>
                      <a:pt x="34785" y="42375"/>
                    </a:lnTo>
                    <a:cubicBezTo>
                      <a:pt x="41742" y="38580"/>
                      <a:pt x="46170" y="30991"/>
                      <a:pt x="46170" y="22769"/>
                    </a:cubicBezTo>
                    <a:cubicBezTo>
                      <a:pt x="46170" y="10119"/>
                      <a:pt x="36050" y="0"/>
                      <a:pt x="23401" y="0"/>
                    </a:cubicBezTo>
                    <a:cubicBezTo>
                      <a:pt x="10119" y="0"/>
                      <a:pt x="0" y="10119"/>
                      <a:pt x="0" y="2276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69" name="Picture Placeholder 89">
                <a:extLst>
                  <a:ext uri="{FF2B5EF4-FFF2-40B4-BE49-F238E27FC236}">
                    <a16:creationId xmlns:a16="http://schemas.microsoft.com/office/drawing/2014/main" id="{7DEA4763-0426-48C9-80F3-AC5199FA23DE}"/>
                  </a:ext>
                </a:extLst>
              </p:cNvPr>
              <p:cNvSpPr/>
              <p:nvPr/>
            </p:nvSpPr>
            <p:spPr>
              <a:xfrm>
                <a:off x="8604331" y="2045977"/>
                <a:ext cx="282077" cy="408569"/>
              </a:xfrm>
              <a:custGeom>
                <a:avLst/>
                <a:gdLst>
                  <a:gd name="connsiteX0" fmla="*/ 141039 w 282077"/>
                  <a:gd name="connsiteY0" fmla="*/ 0 h 408569"/>
                  <a:gd name="connsiteX1" fmla="*/ 64511 w 282077"/>
                  <a:gd name="connsiteY1" fmla="*/ 76528 h 408569"/>
                  <a:gd name="connsiteX2" fmla="*/ 64511 w 282077"/>
                  <a:gd name="connsiteY2" fmla="*/ 149261 h 408569"/>
                  <a:gd name="connsiteX3" fmla="*/ 0 w 282077"/>
                  <a:gd name="connsiteY3" fmla="*/ 267531 h 408569"/>
                  <a:gd name="connsiteX4" fmla="*/ 141039 w 282077"/>
                  <a:gd name="connsiteY4" fmla="*/ 408569 h 408569"/>
                  <a:gd name="connsiteX5" fmla="*/ 282077 w 282077"/>
                  <a:gd name="connsiteY5" fmla="*/ 267531 h 408569"/>
                  <a:gd name="connsiteX6" fmla="*/ 217566 w 282077"/>
                  <a:gd name="connsiteY6" fmla="*/ 149261 h 408569"/>
                  <a:gd name="connsiteX7" fmla="*/ 217566 w 282077"/>
                  <a:gd name="connsiteY7" fmla="*/ 76528 h 408569"/>
                  <a:gd name="connsiteX8" fmla="*/ 141039 w 282077"/>
                  <a:gd name="connsiteY8" fmla="*/ 0 h 408569"/>
                  <a:gd name="connsiteX9" fmla="*/ 83485 w 282077"/>
                  <a:gd name="connsiteY9" fmla="*/ 76528 h 408569"/>
                  <a:gd name="connsiteX10" fmla="*/ 141039 w 282077"/>
                  <a:gd name="connsiteY10" fmla="*/ 18974 h 408569"/>
                  <a:gd name="connsiteX11" fmla="*/ 198592 w 282077"/>
                  <a:gd name="connsiteY11" fmla="*/ 76528 h 408569"/>
                  <a:gd name="connsiteX12" fmla="*/ 198592 w 282077"/>
                  <a:gd name="connsiteY12" fmla="*/ 139141 h 408569"/>
                  <a:gd name="connsiteX13" fmla="*/ 141039 w 282077"/>
                  <a:gd name="connsiteY13" fmla="*/ 126492 h 408569"/>
                  <a:gd name="connsiteX14" fmla="*/ 83485 w 282077"/>
                  <a:gd name="connsiteY14" fmla="*/ 138509 h 408569"/>
                  <a:gd name="connsiteX15" fmla="*/ 83485 w 282077"/>
                  <a:gd name="connsiteY15" fmla="*/ 76528 h 408569"/>
                  <a:gd name="connsiteX16" fmla="*/ 262471 w 282077"/>
                  <a:gd name="connsiteY16" fmla="*/ 267531 h 408569"/>
                  <a:gd name="connsiteX17" fmla="*/ 140406 w 282077"/>
                  <a:gd name="connsiteY17" fmla="*/ 389595 h 408569"/>
                  <a:gd name="connsiteX18" fmla="*/ 18341 w 282077"/>
                  <a:gd name="connsiteY18" fmla="*/ 267531 h 408569"/>
                  <a:gd name="connsiteX19" fmla="*/ 140406 w 282077"/>
                  <a:gd name="connsiteY19" fmla="*/ 145466 h 408569"/>
                  <a:gd name="connsiteX20" fmla="*/ 262471 w 282077"/>
                  <a:gd name="connsiteY20" fmla="*/ 267531 h 408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2077" h="408569">
                    <a:moveTo>
                      <a:pt x="141039" y="0"/>
                    </a:moveTo>
                    <a:cubicBezTo>
                      <a:pt x="98664" y="0"/>
                      <a:pt x="64511" y="34153"/>
                      <a:pt x="64511" y="76528"/>
                    </a:cubicBezTo>
                    <a:lnTo>
                      <a:pt x="64511" y="149261"/>
                    </a:lnTo>
                    <a:cubicBezTo>
                      <a:pt x="25298" y="174559"/>
                      <a:pt x="0" y="218199"/>
                      <a:pt x="0" y="267531"/>
                    </a:cubicBezTo>
                    <a:cubicBezTo>
                      <a:pt x="0" y="345323"/>
                      <a:pt x="63246" y="408569"/>
                      <a:pt x="141039" y="408569"/>
                    </a:cubicBezTo>
                    <a:cubicBezTo>
                      <a:pt x="218831" y="408569"/>
                      <a:pt x="282077" y="345323"/>
                      <a:pt x="282077" y="267531"/>
                    </a:cubicBezTo>
                    <a:cubicBezTo>
                      <a:pt x="282077" y="218199"/>
                      <a:pt x="256146" y="174559"/>
                      <a:pt x="217566" y="149261"/>
                    </a:cubicBezTo>
                    <a:lnTo>
                      <a:pt x="217566" y="76528"/>
                    </a:lnTo>
                    <a:cubicBezTo>
                      <a:pt x="217566" y="34153"/>
                      <a:pt x="182781" y="0"/>
                      <a:pt x="141039" y="0"/>
                    </a:cubicBezTo>
                    <a:close/>
                    <a:moveTo>
                      <a:pt x="83485" y="76528"/>
                    </a:moveTo>
                    <a:cubicBezTo>
                      <a:pt x="83485" y="44905"/>
                      <a:pt x="109416" y="18974"/>
                      <a:pt x="141039" y="18974"/>
                    </a:cubicBezTo>
                    <a:cubicBezTo>
                      <a:pt x="172662" y="18974"/>
                      <a:pt x="198592" y="44905"/>
                      <a:pt x="198592" y="76528"/>
                    </a:cubicBezTo>
                    <a:lnTo>
                      <a:pt x="198592" y="139141"/>
                    </a:lnTo>
                    <a:cubicBezTo>
                      <a:pt x="180884" y="130919"/>
                      <a:pt x="161277" y="126492"/>
                      <a:pt x="141039" y="126492"/>
                    </a:cubicBezTo>
                    <a:cubicBezTo>
                      <a:pt x="120800" y="126492"/>
                      <a:pt x="101194" y="130919"/>
                      <a:pt x="83485" y="138509"/>
                    </a:cubicBezTo>
                    <a:lnTo>
                      <a:pt x="83485" y="76528"/>
                    </a:lnTo>
                    <a:close/>
                    <a:moveTo>
                      <a:pt x="262471" y="267531"/>
                    </a:moveTo>
                    <a:cubicBezTo>
                      <a:pt x="262471" y="334571"/>
                      <a:pt x="207447" y="389595"/>
                      <a:pt x="140406" y="389595"/>
                    </a:cubicBezTo>
                    <a:cubicBezTo>
                      <a:pt x="73365" y="389595"/>
                      <a:pt x="18341" y="335204"/>
                      <a:pt x="18341" y="267531"/>
                    </a:cubicBezTo>
                    <a:cubicBezTo>
                      <a:pt x="18341" y="199857"/>
                      <a:pt x="73365" y="145466"/>
                      <a:pt x="140406" y="145466"/>
                    </a:cubicBezTo>
                    <a:cubicBezTo>
                      <a:pt x="207447" y="145466"/>
                      <a:pt x="262471" y="200490"/>
                      <a:pt x="262471" y="26753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19" name="Group 18">
            <a:extLst>
              <a:ext uri="{FF2B5EF4-FFF2-40B4-BE49-F238E27FC236}">
                <a16:creationId xmlns:a16="http://schemas.microsoft.com/office/drawing/2014/main" id="{11193379-41C7-4F33-944D-B697F30F15CC}"/>
              </a:ext>
            </a:extLst>
          </p:cNvPr>
          <p:cNvGrpSpPr/>
          <p:nvPr/>
        </p:nvGrpSpPr>
        <p:grpSpPr>
          <a:xfrm>
            <a:off x="9200569" y="1266557"/>
            <a:ext cx="758008" cy="1317802"/>
            <a:chOff x="9308111" y="1436575"/>
            <a:chExt cx="758008" cy="1317802"/>
          </a:xfrm>
        </p:grpSpPr>
        <p:cxnSp>
          <p:nvCxnSpPr>
            <p:cNvPr id="248" name="Straight Connector 247">
              <a:extLst>
                <a:ext uri="{FF2B5EF4-FFF2-40B4-BE49-F238E27FC236}">
                  <a16:creationId xmlns:a16="http://schemas.microsoft.com/office/drawing/2014/main" id="{19752386-6F9A-4053-9ECB-DBD86891E713}"/>
                </a:ext>
              </a:extLst>
            </p:cNvPr>
            <p:cNvCxnSpPr>
              <a:cxnSpLocks/>
            </p:cNvCxnSpPr>
            <p:nvPr/>
          </p:nvCxnSpPr>
          <p:spPr bwMode="gray">
            <a:xfrm flipV="1">
              <a:off x="9687112" y="2388712"/>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49" name="Oval 248">
              <a:extLst>
                <a:ext uri="{FF2B5EF4-FFF2-40B4-BE49-F238E27FC236}">
                  <a16:creationId xmlns:a16="http://schemas.microsoft.com/office/drawing/2014/main" id="{127E3563-329F-4590-995E-9E39F98F73F6}"/>
                </a:ext>
              </a:extLst>
            </p:cNvPr>
            <p:cNvSpPr/>
            <p:nvPr/>
          </p:nvSpPr>
          <p:spPr>
            <a:xfrm>
              <a:off x="9447052"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250" name="Rounded Rectangle 37">
              <a:extLst>
                <a:ext uri="{FF2B5EF4-FFF2-40B4-BE49-F238E27FC236}">
                  <a16:creationId xmlns:a16="http://schemas.microsoft.com/office/drawing/2014/main" id="{3EF411E6-FE78-45CA-9896-9E59ED36A8A0}"/>
                </a:ext>
              </a:extLst>
            </p:cNvPr>
            <p:cNvSpPr/>
            <p:nvPr/>
          </p:nvSpPr>
          <p:spPr>
            <a:xfrm>
              <a:off x="9308111"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Redeploy</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Applications</a:t>
              </a:r>
            </a:p>
          </p:txBody>
        </p:sp>
        <p:grpSp>
          <p:nvGrpSpPr>
            <p:cNvPr id="273" name="Picture Placeholder 77" descr="DevOps&#10;">
              <a:extLst>
                <a:ext uri="{FF2B5EF4-FFF2-40B4-BE49-F238E27FC236}">
                  <a16:creationId xmlns:a16="http://schemas.microsoft.com/office/drawing/2014/main" id="{ACD3C024-0F61-4796-8BD7-7121FB23E2C7}"/>
                </a:ext>
              </a:extLst>
            </p:cNvPr>
            <p:cNvGrpSpPr>
              <a:grpSpLocks noChangeAspect="1"/>
            </p:cNvGrpSpPr>
            <p:nvPr/>
          </p:nvGrpSpPr>
          <p:grpSpPr>
            <a:xfrm>
              <a:off x="9504232" y="2043825"/>
              <a:ext cx="365760" cy="204316"/>
              <a:chOff x="4511243" y="4174113"/>
              <a:chExt cx="598939" cy="334571"/>
            </a:xfrm>
            <a:solidFill>
              <a:schemeClr val="tx1"/>
            </a:solidFill>
          </p:grpSpPr>
          <p:sp>
            <p:nvSpPr>
              <p:cNvPr id="274" name="Picture Placeholder 77">
                <a:extLst>
                  <a:ext uri="{FF2B5EF4-FFF2-40B4-BE49-F238E27FC236}">
                    <a16:creationId xmlns:a16="http://schemas.microsoft.com/office/drawing/2014/main" id="{17EE068B-3371-4C3B-B2EA-AD5FB54159CF}"/>
                  </a:ext>
                </a:extLst>
              </p:cNvPr>
              <p:cNvSpPr/>
              <p:nvPr/>
            </p:nvSpPr>
            <p:spPr>
              <a:xfrm>
                <a:off x="4581446" y="4176643"/>
                <a:ext cx="528736" cy="332041"/>
              </a:xfrm>
              <a:custGeom>
                <a:avLst/>
                <a:gdLst>
                  <a:gd name="connsiteX0" fmla="*/ 361767 w 528736"/>
                  <a:gd name="connsiteY0" fmla="*/ 332042 h 332041"/>
                  <a:gd name="connsiteX1" fmla="*/ 263736 w 528736"/>
                  <a:gd name="connsiteY1" fmla="*/ 300419 h 332041"/>
                  <a:gd name="connsiteX2" fmla="*/ 240335 w 528736"/>
                  <a:gd name="connsiteY2" fmla="*/ 279547 h 332041"/>
                  <a:gd name="connsiteX3" fmla="*/ 252984 w 528736"/>
                  <a:gd name="connsiteY3" fmla="*/ 268796 h 332041"/>
                  <a:gd name="connsiteX4" fmla="*/ 273855 w 528736"/>
                  <a:gd name="connsiteY4" fmla="*/ 287137 h 332041"/>
                  <a:gd name="connsiteX5" fmla="*/ 362400 w 528736"/>
                  <a:gd name="connsiteY5" fmla="*/ 316230 h 332041"/>
                  <a:gd name="connsiteX6" fmla="*/ 512925 w 528736"/>
                  <a:gd name="connsiteY6" fmla="*/ 165705 h 332041"/>
                  <a:gd name="connsiteX7" fmla="*/ 362400 w 528736"/>
                  <a:gd name="connsiteY7" fmla="*/ 15179 h 332041"/>
                  <a:gd name="connsiteX8" fmla="*/ 228318 w 528736"/>
                  <a:gd name="connsiteY8" fmla="*/ 96766 h 332041"/>
                  <a:gd name="connsiteX9" fmla="*/ 212507 w 528736"/>
                  <a:gd name="connsiteY9" fmla="*/ 150525 h 332041"/>
                  <a:gd name="connsiteX10" fmla="*/ 209344 w 528736"/>
                  <a:gd name="connsiteY10" fmla="*/ 167602 h 332041"/>
                  <a:gd name="connsiteX11" fmla="*/ 209344 w 528736"/>
                  <a:gd name="connsiteY11" fmla="*/ 167602 h 332041"/>
                  <a:gd name="connsiteX12" fmla="*/ 209344 w 528736"/>
                  <a:gd name="connsiteY12" fmla="*/ 167602 h 332041"/>
                  <a:gd name="connsiteX13" fmla="*/ 200490 w 528736"/>
                  <a:gd name="connsiteY13" fmla="*/ 197960 h 332041"/>
                  <a:gd name="connsiteX14" fmla="*/ 96766 w 528736"/>
                  <a:gd name="connsiteY14" fmla="*/ 263103 h 332041"/>
                  <a:gd name="connsiteX15" fmla="*/ 0 w 528736"/>
                  <a:gd name="connsiteY15" fmla="*/ 166337 h 332041"/>
                  <a:gd name="connsiteX16" fmla="*/ 96766 w 528736"/>
                  <a:gd name="connsiteY16" fmla="*/ 69571 h 332041"/>
                  <a:gd name="connsiteX17" fmla="*/ 183413 w 528736"/>
                  <a:gd name="connsiteY17" fmla="*/ 110681 h 332041"/>
                  <a:gd name="connsiteX18" fmla="*/ 197960 w 528736"/>
                  <a:gd name="connsiteY18" fmla="*/ 137244 h 332041"/>
                  <a:gd name="connsiteX19" fmla="*/ 213139 w 528736"/>
                  <a:gd name="connsiteY19" fmla="*/ 90442 h 332041"/>
                  <a:gd name="connsiteX20" fmla="*/ 361767 w 528736"/>
                  <a:gd name="connsiteY20" fmla="*/ 0 h 332041"/>
                  <a:gd name="connsiteX21" fmla="*/ 528737 w 528736"/>
                  <a:gd name="connsiteY21" fmla="*/ 166969 h 332041"/>
                  <a:gd name="connsiteX22" fmla="*/ 361767 w 528736"/>
                  <a:gd name="connsiteY22" fmla="*/ 332042 h 332041"/>
                  <a:gd name="connsiteX23" fmla="*/ 96766 w 528736"/>
                  <a:gd name="connsiteY23" fmla="*/ 84117 h 332041"/>
                  <a:gd name="connsiteX24" fmla="*/ 16444 w 528736"/>
                  <a:gd name="connsiteY24" fmla="*/ 164440 h 332041"/>
                  <a:gd name="connsiteX25" fmla="*/ 96766 w 528736"/>
                  <a:gd name="connsiteY25" fmla="*/ 244762 h 332041"/>
                  <a:gd name="connsiteX26" fmla="*/ 184678 w 528736"/>
                  <a:gd name="connsiteY26" fmla="*/ 190370 h 332041"/>
                  <a:gd name="connsiteX27" fmla="*/ 191635 w 528736"/>
                  <a:gd name="connsiteY27" fmla="*/ 166337 h 332041"/>
                  <a:gd name="connsiteX28" fmla="*/ 170132 w 528736"/>
                  <a:gd name="connsiteY28" fmla="*/ 118270 h 332041"/>
                  <a:gd name="connsiteX29" fmla="*/ 96766 w 528736"/>
                  <a:gd name="connsiteY29" fmla="*/ 84117 h 3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28736" h="332041">
                    <a:moveTo>
                      <a:pt x="361767" y="332042"/>
                    </a:moveTo>
                    <a:cubicBezTo>
                      <a:pt x="326349" y="332042"/>
                      <a:pt x="292197" y="321290"/>
                      <a:pt x="263736" y="300419"/>
                    </a:cubicBezTo>
                    <a:cubicBezTo>
                      <a:pt x="254881" y="294726"/>
                      <a:pt x="247292" y="287769"/>
                      <a:pt x="240335" y="279547"/>
                    </a:cubicBezTo>
                    <a:lnTo>
                      <a:pt x="252984" y="268796"/>
                    </a:lnTo>
                    <a:cubicBezTo>
                      <a:pt x="259309" y="276385"/>
                      <a:pt x="265633" y="281445"/>
                      <a:pt x="273855" y="287137"/>
                    </a:cubicBezTo>
                    <a:cubicBezTo>
                      <a:pt x="299786" y="306111"/>
                      <a:pt x="330777" y="316230"/>
                      <a:pt x="362400" y="316230"/>
                    </a:cubicBezTo>
                    <a:cubicBezTo>
                      <a:pt x="445252" y="316230"/>
                      <a:pt x="512925" y="248557"/>
                      <a:pt x="512925" y="165705"/>
                    </a:cubicBezTo>
                    <a:cubicBezTo>
                      <a:pt x="512925" y="82852"/>
                      <a:pt x="445252" y="15179"/>
                      <a:pt x="362400" y="15179"/>
                    </a:cubicBezTo>
                    <a:cubicBezTo>
                      <a:pt x="306743" y="15179"/>
                      <a:pt x="254249" y="47435"/>
                      <a:pt x="228318" y="96766"/>
                    </a:cubicBezTo>
                    <a:cubicBezTo>
                      <a:pt x="219464" y="113210"/>
                      <a:pt x="216301" y="131552"/>
                      <a:pt x="212507" y="150525"/>
                    </a:cubicBezTo>
                    <a:cubicBezTo>
                      <a:pt x="211242" y="156218"/>
                      <a:pt x="210609" y="161910"/>
                      <a:pt x="209344" y="167602"/>
                    </a:cubicBezTo>
                    <a:cubicBezTo>
                      <a:pt x="209344" y="167602"/>
                      <a:pt x="209344" y="167602"/>
                      <a:pt x="209344" y="167602"/>
                    </a:cubicBezTo>
                    <a:lnTo>
                      <a:pt x="209344" y="167602"/>
                    </a:lnTo>
                    <a:cubicBezTo>
                      <a:pt x="207447" y="177721"/>
                      <a:pt x="204285" y="187841"/>
                      <a:pt x="200490" y="197960"/>
                    </a:cubicBezTo>
                    <a:cubicBezTo>
                      <a:pt x="184678" y="238437"/>
                      <a:pt x="146098" y="263103"/>
                      <a:pt x="96766" y="263103"/>
                    </a:cubicBezTo>
                    <a:cubicBezTo>
                      <a:pt x="43640" y="263103"/>
                      <a:pt x="0" y="219464"/>
                      <a:pt x="0" y="166337"/>
                    </a:cubicBezTo>
                    <a:cubicBezTo>
                      <a:pt x="0" y="113210"/>
                      <a:pt x="43640" y="69571"/>
                      <a:pt x="96766" y="69571"/>
                    </a:cubicBezTo>
                    <a:cubicBezTo>
                      <a:pt x="126492" y="69571"/>
                      <a:pt x="154953" y="72733"/>
                      <a:pt x="183413" y="110681"/>
                    </a:cubicBezTo>
                    <a:cubicBezTo>
                      <a:pt x="189106" y="118902"/>
                      <a:pt x="194165" y="127757"/>
                      <a:pt x="197960" y="137244"/>
                    </a:cubicBezTo>
                    <a:cubicBezTo>
                      <a:pt x="201122" y="121432"/>
                      <a:pt x="204917" y="105621"/>
                      <a:pt x="213139" y="90442"/>
                    </a:cubicBezTo>
                    <a:cubicBezTo>
                      <a:pt x="241600" y="35418"/>
                      <a:pt x="299786" y="0"/>
                      <a:pt x="361767" y="0"/>
                    </a:cubicBezTo>
                    <a:cubicBezTo>
                      <a:pt x="454106" y="0"/>
                      <a:pt x="528737" y="74630"/>
                      <a:pt x="528737" y="166969"/>
                    </a:cubicBezTo>
                    <a:cubicBezTo>
                      <a:pt x="528737" y="256779"/>
                      <a:pt x="454106" y="332042"/>
                      <a:pt x="361767" y="332042"/>
                    </a:cubicBezTo>
                    <a:close/>
                    <a:moveTo>
                      <a:pt x="96766" y="84117"/>
                    </a:moveTo>
                    <a:cubicBezTo>
                      <a:pt x="52494" y="84117"/>
                      <a:pt x="16444" y="120167"/>
                      <a:pt x="16444" y="164440"/>
                    </a:cubicBezTo>
                    <a:cubicBezTo>
                      <a:pt x="16444" y="208712"/>
                      <a:pt x="52494" y="244762"/>
                      <a:pt x="96766" y="244762"/>
                    </a:cubicBezTo>
                    <a:cubicBezTo>
                      <a:pt x="138509" y="244762"/>
                      <a:pt x="171397" y="224523"/>
                      <a:pt x="184678" y="190370"/>
                    </a:cubicBezTo>
                    <a:cubicBezTo>
                      <a:pt x="187841" y="182781"/>
                      <a:pt x="189738" y="174559"/>
                      <a:pt x="191635" y="166337"/>
                    </a:cubicBezTo>
                    <a:cubicBezTo>
                      <a:pt x="189106" y="157483"/>
                      <a:pt x="182148" y="134082"/>
                      <a:pt x="170132" y="118270"/>
                    </a:cubicBezTo>
                    <a:cubicBezTo>
                      <a:pt x="146731" y="86647"/>
                      <a:pt x="123962" y="84117"/>
                      <a:pt x="96766" y="8411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75" name="Picture Placeholder 77">
                <a:extLst>
                  <a:ext uri="{FF2B5EF4-FFF2-40B4-BE49-F238E27FC236}">
                    <a16:creationId xmlns:a16="http://schemas.microsoft.com/office/drawing/2014/main" id="{4082AE4F-CCD9-4097-A2E7-9D1DD4BF52F8}"/>
                  </a:ext>
                </a:extLst>
              </p:cNvPr>
              <p:cNvSpPr/>
              <p:nvPr/>
            </p:nvSpPr>
            <p:spPr>
              <a:xfrm>
                <a:off x="4511243" y="4174113"/>
                <a:ext cx="529369" cy="334571"/>
              </a:xfrm>
              <a:custGeom>
                <a:avLst/>
                <a:gdLst>
                  <a:gd name="connsiteX0" fmla="*/ 166969 w 529369"/>
                  <a:gd name="connsiteY0" fmla="*/ 334571 h 334571"/>
                  <a:gd name="connsiteX1" fmla="*/ 166969 w 529369"/>
                  <a:gd name="connsiteY1" fmla="*/ 334571 h 334571"/>
                  <a:gd name="connsiteX2" fmla="*/ 0 w 529369"/>
                  <a:gd name="connsiteY2" fmla="*/ 166969 h 334571"/>
                  <a:gd name="connsiteX3" fmla="*/ 166969 w 529369"/>
                  <a:gd name="connsiteY3" fmla="*/ 0 h 334571"/>
                  <a:gd name="connsiteX4" fmla="*/ 289034 w 529369"/>
                  <a:gd name="connsiteY4" fmla="*/ 50597 h 334571"/>
                  <a:gd name="connsiteX5" fmla="*/ 277650 w 529369"/>
                  <a:gd name="connsiteY5" fmla="*/ 62614 h 334571"/>
                  <a:gd name="connsiteX6" fmla="*/ 167602 w 529369"/>
                  <a:gd name="connsiteY6" fmla="*/ 16444 h 334571"/>
                  <a:gd name="connsiteX7" fmla="*/ 17076 w 529369"/>
                  <a:gd name="connsiteY7" fmla="*/ 166969 h 334571"/>
                  <a:gd name="connsiteX8" fmla="*/ 167602 w 529369"/>
                  <a:gd name="connsiteY8" fmla="*/ 317495 h 334571"/>
                  <a:gd name="connsiteX9" fmla="*/ 167602 w 529369"/>
                  <a:gd name="connsiteY9" fmla="*/ 317495 h 334571"/>
                  <a:gd name="connsiteX10" fmla="*/ 287769 w 529369"/>
                  <a:gd name="connsiteY10" fmla="*/ 264368 h 334571"/>
                  <a:gd name="connsiteX11" fmla="*/ 326349 w 529369"/>
                  <a:gd name="connsiteY11" fmla="*/ 178986 h 334571"/>
                  <a:gd name="connsiteX12" fmla="*/ 343426 w 529369"/>
                  <a:gd name="connsiteY12" fmla="*/ 129654 h 334571"/>
                  <a:gd name="connsiteX13" fmla="*/ 432603 w 529369"/>
                  <a:gd name="connsiteY13" fmla="*/ 70203 h 334571"/>
                  <a:gd name="connsiteX14" fmla="*/ 529369 w 529369"/>
                  <a:gd name="connsiteY14" fmla="*/ 166969 h 334571"/>
                  <a:gd name="connsiteX15" fmla="*/ 432603 w 529369"/>
                  <a:gd name="connsiteY15" fmla="*/ 263736 h 334571"/>
                  <a:gd name="connsiteX16" fmla="*/ 361767 w 529369"/>
                  <a:gd name="connsiteY16" fmla="*/ 232745 h 334571"/>
                  <a:gd name="connsiteX17" fmla="*/ 349118 w 529369"/>
                  <a:gd name="connsiteY17" fmla="*/ 220096 h 334571"/>
                  <a:gd name="connsiteX18" fmla="*/ 361135 w 529369"/>
                  <a:gd name="connsiteY18" fmla="*/ 208712 h 334571"/>
                  <a:gd name="connsiteX19" fmla="*/ 373784 w 529369"/>
                  <a:gd name="connsiteY19" fmla="*/ 221993 h 334571"/>
                  <a:gd name="connsiteX20" fmla="*/ 432603 w 529369"/>
                  <a:gd name="connsiteY20" fmla="*/ 247924 h 334571"/>
                  <a:gd name="connsiteX21" fmla="*/ 512925 w 529369"/>
                  <a:gd name="connsiteY21" fmla="*/ 167602 h 334571"/>
                  <a:gd name="connsiteX22" fmla="*/ 432603 w 529369"/>
                  <a:gd name="connsiteY22" fmla="*/ 87280 h 334571"/>
                  <a:gd name="connsiteX23" fmla="*/ 358605 w 529369"/>
                  <a:gd name="connsiteY23" fmla="*/ 136611 h 334571"/>
                  <a:gd name="connsiteX24" fmla="*/ 342161 w 529369"/>
                  <a:gd name="connsiteY24" fmla="*/ 184678 h 334571"/>
                  <a:gd name="connsiteX25" fmla="*/ 300419 w 529369"/>
                  <a:gd name="connsiteY25" fmla="*/ 275753 h 334571"/>
                  <a:gd name="connsiteX26" fmla="*/ 166969 w 529369"/>
                  <a:gd name="connsiteY26" fmla="*/ 334571 h 33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9369" h="334571">
                    <a:moveTo>
                      <a:pt x="166969" y="334571"/>
                    </a:moveTo>
                    <a:cubicBezTo>
                      <a:pt x="166969" y="334571"/>
                      <a:pt x="166969" y="334571"/>
                      <a:pt x="166969" y="334571"/>
                    </a:cubicBezTo>
                    <a:cubicBezTo>
                      <a:pt x="75263" y="334571"/>
                      <a:pt x="0" y="259309"/>
                      <a:pt x="0" y="166969"/>
                    </a:cubicBezTo>
                    <a:cubicBezTo>
                      <a:pt x="0" y="74630"/>
                      <a:pt x="74630" y="0"/>
                      <a:pt x="166969" y="0"/>
                    </a:cubicBezTo>
                    <a:cubicBezTo>
                      <a:pt x="213139" y="0"/>
                      <a:pt x="244762" y="7590"/>
                      <a:pt x="289034" y="50597"/>
                    </a:cubicBezTo>
                    <a:lnTo>
                      <a:pt x="277650" y="62614"/>
                    </a:lnTo>
                    <a:cubicBezTo>
                      <a:pt x="237805" y="23401"/>
                      <a:pt x="209977" y="16444"/>
                      <a:pt x="167602" y="16444"/>
                    </a:cubicBezTo>
                    <a:cubicBezTo>
                      <a:pt x="84750" y="16444"/>
                      <a:pt x="17076" y="84117"/>
                      <a:pt x="17076" y="166969"/>
                    </a:cubicBezTo>
                    <a:cubicBezTo>
                      <a:pt x="17076" y="249822"/>
                      <a:pt x="84750" y="317495"/>
                      <a:pt x="167602" y="317495"/>
                    </a:cubicBezTo>
                    <a:cubicBezTo>
                      <a:pt x="167602" y="317495"/>
                      <a:pt x="167602" y="317495"/>
                      <a:pt x="167602" y="317495"/>
                    </a:cubicBezTo>
                    <a:cubicBezTo>
                      <a:pt x="214404" y="317495"/>
                      <a:pt x="260574" y="297256"/>
                      <a:pt x="287769" y="264368"/>
                    </a:cubicBezTo>
                    <a:cubicBezTo>
                      <a:pt x="308640" y="239070"/>
                      <a:pt x="317495" y="209977"/>
                      <a:pt x="326349" y="178986"/>
                    </a:cubicBezTo>
                    <a:cubicBezTo>
                      <a:pt x="331409" y="162542"/>
                      <a:pt x="336469" y="146098"/>
                      <a:pt x="343426" y="129654"/>
                    </a:cubicBezTo>
                    <a:cubicBezTo>
                      <a:pt x="358605" y="94237"/>
                      <a:pt x="394023" y="70203"/>
                      <a:pt x="432603" y="70203"/>
                    </a:cubicBezTo>
                    <a:cubicBezTo>
                      <a:pt x="485729" y="70203"/>
                      <a:pt x="529369" y="113843"/>
                      <a:pt x="529369" y="166969"/>
                    </a:cubicBezTo>
                    <a:cubicBezTo>
                      <a:pt x="529369" y="220096"/>
                      <a:pt x="485729" y="263736"/>
                      <a:pt x="432603" y="263736"/>
                    </a:cubicBezTo>
                    <a:cubicBezTo>
                      <a:pt x="406039" y="263736"/>
                      <a:pt x="380108" y="252352"/>
                      <a:pt x="361767" y="232745"/>
                    </a:cubicBezTo>
                    <a:lnTo>
                      <a:pt x="349118" y="220096"/>
                    </a:lnTo>
                    <a:lnTo>
                      <a:pt x="361135" y="208712"/>
                    </a:lnTo>
                    <a:lnTo>
                      <a:pt x="373784" y="221993"/>
                    </a:lnTo>
                    <a:cubicBezTo>
                      <a:pt x="388963" y="238437"/>
                      <a:pt x="410467" y="247924"/>
                      <a:pt x="432603" y="247924"/>
                    </a:cubicBezTo>
                    <a:cubicBezTo>
                      <a:pt x="476875" y="247924"/>
                      <a:pt x="512925" y="211874"/>
                      <a:pt x="512925" y="167602"/>
                    </a:cubicBezTo>
                    <a:cubicBezTo>
                      <a:pt x="512925" y="123330"/>
                      <a:pt x="476875" y="87280"/>
                      <a:pt x="432603" y="87280"/>
                    </a:cubicBezTo>
                    <a:cubicBezTo>
                      <a:pt x="400347" y="87280"/>
                      <a:pt x="370622" y="106886"/>
                      <a:pt x="358605" y="136611"/>
                    </a:cubicBezTo>
                    <a:cubicBezTo>
                      <a:pt x="352280" y="152423"/>
                      <a:pt x="347221" y="168867"/>
                      <a:pt x="342161" y="184678"/>
                    </a:cubicBezTo>
                    <a:cubicBezTo>
                      <a:pt x="332674" y="215669"/>
                      <a:pt x="323187" y="247924"/>
                      <a:pt x="300419" y="275753"/>
                    </a:cubicBezTo>
                    <a:cubicBezTo>
                      <a:pt x="269428" y="311803"/>
                      <a:pt x="218831" y="334571"/>
                      <a:pt x="166969" y="33457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76" name="Picture Placeholder 77">
                <a:extLst>
                  <a:ext uri="{FF2B5EF4-FFF2-40B4-BE49-F238E27FC236}">
                    <a16:creationId xmlns:a16="http://schemas.microsoft.com/office/drawing/2014/main" id="{E648CA5E-7B75-471D-880F-3D55E246B484}"/>
                  </a:ext>
                </a:extLst>
              </p:cNvPr>
              <p:cNvSpPr/>
              <p:nvPr/>
            </p:nvSpPr>
            <p:spPr>
              <a:xfrm>
                <a:off x="4784226" y="4287084"/>
                <a:ext cx="74288" cy="50836"/>
              </a:xfrm>
              <a:custGeom>
                <a:avLst/>
                <a:gdLst>
                  <a:gd name="connsiteX0" fmla="*/ 66648 w 74288"/>
                  <a:gd name="connsiteY0" fmla="*/ 50836 h 50836"/>
                  <a:gd name="connsiteX1" fmla="*/ 59690 w 74288"/>
                  <a:gd name="connsiteY1" fmla="*/ 47041 h 50836"/>
                  <a:gd name="connsiteX2" fmla="*/ 41982 w 74288"/>
                  <a:gd name="connsiteY2" fmla="*/ 19213 h 50836"/>
                  <a:gd name="connsiteX3" fmla="*/ 12256 w 74288"/>
                  <a:gd name="connsiteY3" fmla="*/ 35025 h 50836"/>
                  <a:gd name="connsiteX4" fmla="*/ 872 w 74288"/>
                  <a:gd name="connsiteY4" fmla="*/ 31862 h 50836"/>
                  <a:gd name="connsiteX5" fmla="*/ 4034 w 74288"/>
                  <a:gd name="connsiteY5" fmla="*/ 20478 h 50836"/>
                  <a:gd name="connsiteX6" fmla="*/ 40717 w 74288"/>
                  <a:gd name="connsiteY6" fmla="*/ 872 h 50836"/>
                  <a:gd name="connsiteX7" fmla="*/ 51469 w 74288"/>
                  <a:gd name="connsiteY7" fmla="*/ 4034 h 50836"/>
                  <a:gd name="connsiteX8" fmla="*/ 72972 w 74288"/>
                  <a:gd name="connsiteY8" fmla="*/ 38187 h 50836"/>
                  <a:gd name="connsiteX9" fmla="*/ 70442 w 74288"/>
                  <a:gd name="connsiteY9" fmla="*/ 49571 h 50836"/>
                  <a:gd name="connsiteX10" fmla="*/ 66648 w 74288"/>
                  <a:gd name="connsiteY10" fmla="*/ 50836 h 5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288" h="50836">
                    <a:moveTo>
                      <a:pt x="66648" y="50836"/>
                    </a:moveTo>
                    <a:cubicBezTo>
                      <a:pt x="64118" y="50836"/>
                      <a:pt x="60955" y="49571"/>
                      <a:pt x="59690" y="47041"/>
                    </a:cubicBezTo>
                    <a:lnTo>
                      <a:pt x="41982" y="19213"/>
                    </a:lnTo>
                    <a:lnTo>
                      <a:pt x="12256" y="35025"/>
                    </a:lnTo>
                    <a:cubicBezTo>
                      <a:pt x="8461" y="36922"/>
                      <a:pt x="3402" y="35657"/>
                      <a:pt x="872" y="31862"/>
                    </a:cubicBezTo>
                    <a:cubicBezTo>
                      <a:pt x="-1026" y="28068"/>
                      <a:pt x="239" y="23008"/>
                      <a:pt x="4034" y="20478"/>
                    </a:cubicBezTo>
                    <a:lnTo>
                      <a:pt x="40717" y="872"/>
                    </a:lnTo>
                    <a:cubicBezTo>
                      <a:pt x="44511" y="-1026"/>
                      <a:pt x="48939" y="239"/>
                      <a:pt x="51469" y="4034"/>
                    </a:cubicBezTo>
                    <a:lnTo>
                      <a:pt x="72972" y="38187"/>
                    </a:lnTo>
                    <a:cubicBezTo>
                      <a:pt x="75502" y="41982"/>
                      <a:pt x="74237" y="47041"/>
                      <a:pt x="70442" y="49571"/>
                    </a:cubicBezTo>
                    <a:cubicBezTo>
                      <a:pt x="69810" y="50204"/>
                      <a:pt x="67912" y="50836"/>
                      <a:pt x="66648" y="5083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77" name="Picture Placeholder 77">
                <a:extLst>
                  <a:ext uri="{FF2B5EF4-FFF2-40B4-BE49-F238E27FC236}">
                    <a16:creationId xmlns:a16="http://schemas.microsoft.com/office/drawing/2014/main" id="{8BB664F5-C34C-4446-A324-650EC8053F9B}"/>
                  </a:ext>
                </a:extLst>
              </p:cNvPr>
              <p:cNvSpPr/>
              <p:nvPr/>
            </p:nvSpPr>
            <p:spPr>
              <a:xfrm>
                <a:off x="4899522" y="4184813"/>
                <a:ext cx="52784" cy="74049"/>
              </a:xfrm>
              <a:custGeom>
                <a:avLst/>
                <a:gdLst>
                  <a:gd name="connsiteX0" fmla="*/ 25982 w 52784"/>
                  <a:gd name="connsiteY0" fmla="*/ 74049 h 74049"/>
                  <a:gd name="connsiteX1" fmla="*/ 22187 w 52784"/>
                  <a:gd name="connsiteY1" fmla="*/ 73417 h 74049"/>
                  <a:gd name="connsiteX2" fmla="*/ 18393 w 52784"/>
                  <a:gd name="connsiteY2" fmla="*/ 62665 h 74049"/>
                  <a:gd name="connsiteX3" fmla="*/ 33572 w 52784"/>
                  <a:gd name="connsiteY3" fmla="*/ 33572 h 74049"/>
                  <a:gd name="connsiteX4" fmla="*/ 3846 w 52784"/>
                  <a:gd name="connsiteY4" fmla="*/ 15230 h 74049"/>
                  <a:gd name="connsiteX5" fmla="*/ 1316 w 52784"/>
                  <a:gd name="connsiteY5" fmla="*/ 3846 h 74049"/>
                  <a:gd name="connsiteX6" fmla="*/ 12700 w 52784"/>
                  <a:gd name="connsiteY6" fmla="*/ 1316 h 74049"/>
                  <a:gd name="connsiteX7" fmla="*/ 48751 w 52784"/>
                  <a:gd name="connsiteY7" fmla="*/ 22820 h 74049"/>
                  <a:gd name="connsiteX8" fmla="*/ 51913 w 52784"/>
                  <a:gd name="connsiteY8" fmla="*/ 33572 h 74049"/>
                  <a:gd name="connsiteX9" fmla="*/ 33572 w 52784"/>
                  <a:gd name="connsiteY9" fmla="*/ 69622 h 74049"/>
                  <a:gd name="connsiteX10" fmla="*/ 25982 w 52784"/>
                  <a:gd name="connsiteY10" fmla="*/ 74049 h 7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784" h="74049">
                    <a:moveTo>
                      <a:pt x="25982" y="74049"/>
                    </a:moveTo>
                    <a:cubicBezTo>
                      <a:pt x="24717" y="74049"/>
                      <a:pt x="23452" y="74049"/>
                      <a:pt x="22187" y="73417"/>
                    </a:cubicBezTo>
                    <a:cubicBezTo>
                      <a:pt x="18393" y="71519"/>
                      <a:pt x="16495" y="66460"/>
                      <a:pt x="18393" y="62665"/>
                    </a:cubicBezTo>
                    <a:lnTo>
                      <a:pt x="33572" y="33572"/>
                    </a:lnTo>
                    <a:lnTo>
                      <a:pt x="3846" y="15230"/>
                    </a:lnTo>
                    <a:cubicBezTo>
                      <a:pt x="51" y="12700"/>
                      <a:pt x="-1214" y="7641"/>
                      <a:pt x="1316" y="3846"/>
                    </a:cubicBezTo>
                    <a:cubicBezTo>
                      <a:pt x="3846" y="51"/>
                      <a:pt x="8906" y="-1214"/>
                      <a:pt x="12700" y="1316"/>
                    </a:cubicBezTo>
                    <a:lnTo>
                      <a:pt x="48751" y="22820"/>
                    </a:lnTo>
                    <a:cubicBezTo>
                      <a:pt x="52545" y="25350"/>
                      <a:pt x="53810" y="29777"/>
                      <a:pt x="51913" y="33572"/>
                    </a:cubicBezTo>
                    <a:lnTo>
                      <a:pt x="33572" y="69622"/>
                    </a:lnTo>
                    <a:cubicBezTo>
                      <a:pt x="31674" y="72784"/>
                      <a:pt x="28512" y="74049"/>
                      <a:pt x="25982" y="7404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78" name="Picture Placeholder 77">
                <a:extLst>
                  <a:ext uri="{FF2B5EF4-FFF2-40B4-BE49-F238E27FC236}">
                    <a16:creationId xmlns:a16="http://schemas.microsoft.com/office/drawing/2014/main" id="{A4CDD2FC-221F-4D3C-8D5B-71C040C2FC39}"/>
                  </a:ext>
                </a:extLst>
              </p:cNvPr>
              <p:cNvSpPr/>
              <p:nvPr/>
            </p:nvSpPr>
            <p:spPr>
              <a:xfrm>
                <a:off x="5011438" y="4242137"/>
                <a:ext cx="64872" cy="56569"/>
              </a:xfrm>
              <a:custGeom>
                <a:avLst/>
                <a:gdLst>
                  <a:gd name="connsiteX0" fmla="*/ 48148 w 64872"/>
                  <a:gd name="connsiteY0" fmla="*/ 56570 h 56569"/>
                  <a:gd name="connsiteX1" fmla="*/ 46883 w 64872"/>
                  <a:gd name="connsiteY1" fmla="*/ 56570 h 56569"/>
                  <a:gd name="connsiteX2" fmla="*/ 7038 w 64872"/>
                  <a:gd name="connsiteY2" fmla="*/ 51510 h 56569"/>
                  <a:gd name="connsiteX3" fmla="*/ 81 w 64872"/>
                  <a:gd name="connsiteY3" fmla="*/ 42656 h 56569"/>
                  <a:gd name="connsiteX4" fmla="*/ 9567 w 64872"/>
                  <a:gd name="connsiteY4" fmla="*/ 35699 h 56569"/>
                  <a:gd name="connsiteX5" fmla="*/ 41823 w 64872"/>
                  <a:gd name="connsiteY5" fmla="*/ 40126 h 56569"/>
                  <a:gd name="connsiteX6" fmla="*/ 48780 w 64872"/>
                  <a:gd name="connsiteY6" fmla="*/ 6606 h 56569"/>
                  <a:gd name="connsiteX7" fmla="*/ 58267 w 64872"/>
                  <a:gd name="connsiteY7" fmla="*/ 281 h 56569"/>
                  <a:gd name="connsiteX8" fmla="*/ 64592 w 64872"/>
                  <a:gd name="connsiteY8" fmla="*/ 9768 h 56569"/>
                  <a:gd name="connsiteX9" fmla="*/ 56370 w 64872"/>
                  <a:gd name="connsiteY9" fmla="*/ 50878 h 56569"/>
                  <a:gd name="connsiteX10" fmla="*/ 48148 w 64872"/>
                  <a:gd name="connsiteY10" fmla="*/ 56570 h 56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872" h="56569">
                    <a:moveTo>
                      <a:pt x="48148" y="56570"/>
                    </a:moveTo>
                    <a:cubicBezTo>
                      <a:pt x="47515" y="56570"/>
                      <a:pt x="47515" y="56570"/>
                      <a:pt x="46883" y="56570"/>
                    </a:cubicBezTo>
                    <a:lnTo>
                      <a:pt x="7038" y="51510"/>
                    </a:lnTo>
                    <a:cubicBezTo>
                      <a:pt x="2610" y="50878"/>
                      <a:pt x="-552" y="47083"/>
                      <a:pt x="81" y="42656"/>
                    </a:cubicBezTo>
                    <a:cubicBezTo>
                      <a:pt x="713" y="38229"/>
                      <a:pt x="4508" y="35066"/>
                      <a:pt x="9567" y="35699"/>
                    </a:cubicBezTo>
                    <a:lnTo>
                      <a:pt x="41823" y="40126"/>
                    </a:lnTo>
                    <a:lnTo>
                      <a:pt x="48780" y="6606"/>
                    </a:lnTo>
                    <a:cubicBezTo>
                      <a:pt x="49412" y="2178"/>
                      <a:pt x="53840" y="-984"/>
                      <a:pt x="58267" y="281"/>
                    </a:cubicBezTo>
                    <a:cubicBezTo>
                      <a:pt x="62694" y="914"/>
                      <a:pt x="65856" y="5341"/>
                      <a:pt x="64592" y="9768"/>
                    </a:cubicBezTo>
                    <a:lnTo>
                      <a:pt x="56370" y="50878"/>
                    </a:lnTo>
                    <a:cubicBezTo>
                      <a:pt x="55105" y="53408"/>
                      <a:pt x="51942" y="56570"/>
                      <a:pt x="48148" y="5657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79" name="Picture Placeholder 77">
                <a:extLst>
                  <a:ext uri="{FF2B5EF4-FFF2-40B4-BE49-F238E27FC236}">
                    <a16:creationId xmlns:a16="http://schemas.microsoft.com/office/drawing/2014/main" id="{F5FCCAED-341D-4DED-B0EE-14F76DC00216}"/>
                  </a:ext>
                </a:extLst>
              </p:cNvPr>
              <p:cNvSpPr/>
              <p:nvPr/>
            </p:nvSpPr>
            <p:spPr>
              <a:xfrm>
                <a:off x="5001751" y="4393928"/>
                <a:ext cx="67402" cy="56570"/>
              </a:xfrm>
              <a:custGeom>
                <a:avLst/>
                <a:gdLst>
                  <a:gd name="connsiteX0" fmla="*/ 17358 w 67402"/>
                  <a:gd name="connsiteY0" fmla="*/ 56570 h 56570"/>
                  <a:gd name="connsiteX1" fmla="*/ 9136 w 67402"/>
                  <a:gd name="connsiteY1" fmla="*/ 50245 h 56570"/>
                  <a:gd name="connsiteX2" fmla="*/ 281 w 67402"/>
                  <a:gd name="connsiteY2" fmla="*/ 10400 h 56570"/>
                  <a:gd name="connsiteX3" fmla="*/ 6606 w 67402"/>
                  <a:gd name="connsiteY3" fmla="*/ 281 h 56570"/>
                  <a:gd name="connsiteX4" fmla="*/ 16725 w 67402"/>
                  <a:gd name="connsiteY4" fmla="*/ 6606 h 56570"/>
                  <a:gd name="connsiteX5" fmla="*/ 24315 w 67402"/>
                  <a:gd name="connsiteY5" fmla="*/ 38861 h 56570"/>
                  <a:gd name="connsiteX6" fmla="*/ 57835 w 67402"/>
                  <a:gd name="connsiteY6" fmla="*/ 33169 h 56570"/>
                  <a:gd name="connsiteX7" fmla="*/ 67322 w 67402"/>
                  <a:gd name="connsiteY7" fmla="*/ 40126 h 56570"/>
                  <a:gd name="connsiteX8" fmla="*/ 60365 w 67402"/>
                  <a:gd name="connsiteY8" fmla="*/ 49613 h 56570"/>
                  <a:gd name="connsiteX9" fmla="*/ 19255 w 67402"/>
                  <a:gd name="connsiteY9" fmla="*/ 56570 h 56570"/>
                  <a:gd name="connsiteX10" fmla="*/ 17358 w 67402"/>
                  <a:gd name="connsiteY10" fmla="*/ 56570 h 56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02" h="56570">
                    <a:moveTo>
                      <a:pt x="17358" y="56570"/>
                    </a:moveTo>
                    <a:cubicBezTo>
                      <a:pt x="13563" y="56570"/>
                      <a:pt x="10400" y="54040"/>
                      <a:pt x="9136" y="50245"/>
                    </a:cubicBezTo>
                    <a:lnTo>
                      <a:pt x="281" y="10400"/>
                    </a:lnTo>
                    <a:cubicBezTo>
                      <a:pt x="-984" y="5973"/>
                      <a:pt x="2178" y="1546"/>
                      <a:pt x="6606" y="281"/>
                    </a:cubicBezTo>
                    <a:cubicBezTo>
                      <a:pt x="11033" y="-984"/>
                      <a:pt x="15460" y="2178"/>
                      <a:pt x="16725" y="6606"/>
                    </a:cubicBezTo>
                    <a:lnTo>
                      <a:pt x="24315" y="38861"/>
                    </a:lnTo>
                    <a:lnTo>
                      <a:pt x="57835" y="33169"/>
                    </a:lnTo>
                    <a:cubicBezTo>
                      <a:pt x="62262" y="32537"/>
                      <a:pt x="66689" y="35699"/>
                      <a:pt x="67322" y="40126"/>
                    </a:cubicBezTo>
                    <a:cubicBezTo>
                      <a:pt x="67954" y="44553"/>
                      <a:pt x="64792" y="48980"/>
                      <a:pt x="60365" y="49613"/>
                    </a:cubicBezTo>
                    <a:lnTo>
                      <a:pt x="19255" y="56570"/>
                    </a:lnTo>
                    <a:cubicBezTo>
                      <a:pt x="18622" y="56570"/>
                      <a:pt x="17990" y="56570"/>
                      <a:pt x="17358" y="5657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80" name="Picture Placeholder 77">
                <a:extLst>
                  <a:ext uri="{FF2B5EF4-FFF2-40B4-BE49-F238E27FC236}">
                    <a16:creationId xmlns:a16="http://schemas.microsoft.com/office/drawing/2014/main" id="{97B31A05-751B-4042-907F-1502BFB9423B}"/>
                  </a:ext>
                </a:extLst>
              </p:cNvPr>
              <p:cNvSpPr/>
              <p:nvPr/>
            </p:nvSpPr>
            <p:spPr>
              <a:xfrm>
                <a:off x="4860896" y="4416019"/>
                <a:ext cx="54814" cy="68631"/>
              </a:xfrm>
              <a:custGeom>
                <a:avLst/>
                <a:gdLst>
                  <a:gd name="connsiteX0" fmla="*/ 17173 w 54814"/>
                  <a:gd name="connsiteY0" fmla="*/ 68631 h 68631"/>
                  <a:gd name="connsiteX1" fmla="*/ 8951 w 54814"/>
                  <a:gd name="connsiteY1" fmla="*/ 62307 h 68631"/>
                  <a:gd name="connsiteX2" fmla="*/ 97 w 54814"/>
                  <a:gd name="connsiteY2" fmla="*/ 21197 h 68631"/>
                  <a:gd name="connsiteX3" fmla="*/ 5789 w 54814"/>
                  <a:gd name="connsiteY3" fmla="*/ 11710 h 68631"/>
                  <a:gd name="connsiteX4" fmla="*/ 44369 w 54814"/>
                  <a:gd name="connsiteY4" fmla="*/ 326 h 68631"/>
                  <a:gd name="connsiteX5" fmla="*/ 54488 w 54814"/>
                  <a:gd name="connsiteY5" fmla="*/ 6018 h 68631"/>
                  <a:gd name="connsiteX6" fmla="*/ 48796 w 54814"/>
                  <a:gd name="connsiteY6" fmla="*/ 16137 h 68631"/>
                  <a:gd name="connsiteX7" fmla="*/ 17173 w 54814"/>
                  <a:gd name="connsiteY7" fmla="*/ 24992 h 68631"/>
                  <a:gd name="connsiteX8" fmla="*/ 24130 w 54814"/>
                  <a:gd name="connsiteY8" fmla="*/ 58512 h 68631"/>
                  <a:gd name="connsiteX9" fmla="*/ 17806 w 54814"/>
                  <a:gd name="connsiteY9" fmla="*/ 67999 h 68631"/>
                  <a:gd name="connsiteX10" fmla="*/ 17173 w 54814"/>
                  <a:gd name="connsiteY10" fmla="*/ 68631 h 68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14" h="68631">
                    <a:moveTo>
                      <a:pt x="17173" y="68631"/>
                    </a:moveTo>
                    <a:cubicBezTo>
                      <a:pt x="13379" y="68631"/>
                      <a:pt x="10216" y="66101"/>
                      <a:pt x="8951" y="62307"/>
                    </a:cubicBezTo>
                    <a:lnTo>
                      <a:pt x="97" y="21197"/>
                    </a:lnTo>
                    <a:cubicBezTo>
                      <a:pt x="-536" y="16770"/>
                      <a:pt x="1994" y="12975"/>
                      <a:pt x="5789" y="11710"/>
                    </a:cubicBezTo>
                    <a:lnTo>
                      <a:pt x="44369" y="326"/>
                    </a:lnTo>
                    <a:cubicBezTo>
                      <a:pt x="48796" y="-939"/>
                      <a:pt x="53223" y="1591"/>
                      <a:pt x="54488" y="6018"/>
                    </a:cubicBezTo>
                    <a:cubicBezTo>
                      <a:pt x="55753" y="10445"/>
                      <a:pt x="53223" y="14872"/>
                      <a:pt x="48796" y="16137"/>
                    </a:cubicBezTo>
                    <a:lnTo>
                      <a:pt x="17173" y="24992"/>
                    </a:lnTo>
                    <a:lnTo>
                      <a:pt x="24130" y="58512"/>
                    </a:lnTo>
                    <a:cubicBezTo>
                      <a:pt x="24763" y="62939"/>
                      <a:pt x="22233" y="67366"/>
                      <a:pt x="17806" y="67999"/>
                    </a:cubicBezTo>
                    <a:cubicBezTo>
                      <a:pt x="18438" y="68631"/>
                      <a:pt x="17806" y="68631"/>
                      <a:pt x="17173" y="68631"/>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281" name="Picture Placeholder 77">
                <a:extLst>
                  <a:ext uri="{FF2B5EF4-FFF2-40B4-BE49-F238E27FC236}">
                    <a16:creationId xmlns:a16="http://schemas.microsoft.com/office/drawing/2014/main" id="{046CA95E-4120-46EC-BC0A-FE5033FB8593}"/>
                  </a:ext>
                </a:extLst>
              </p:cNvPr>
              <p:cNvGrpSpPr/>
              <p:nvPr/>
            </p:nvGrpSpPr>
            <p:grpSpPr>
              <a:xfrm>
                <a:off x="4515037" y="4323373"/>
                <a:ext cx="84749" cy="84117"/>
                <a:chOff x="4515037" y="4323373"/>
                <a:chExt cx="84749" cy="84117"/>
              </a:xfrm>
              <a:grpFill/>
            </p:grpSpPr>
            <p:sp>
              <p:nvSpPr>
                <p:cNvPr id="294" name="Picture Placeholder 77">
                  <a:extLst>
                    <a:ext uri="{FF2B5EF4-FFF2-40B4-BE49-F238E27FC236}">
                      <a16:creationId xmlns:a16="http://schemas.microsoft.com/office/drawing/2014/main" id="{87108E74-CF77-455B-8665-57378AAF5789}"/>
                    </a:ext>
                  </a:extLst>
                </p:cNvPr>
                <p:cNvSpPr/>
                <p:nvPr/>
              </p:nvSpPr>
              <p:spPr>
                <a:xfrm>
                  <a:off x="4518200" y="4359423"/>
                  <a:ext cx="81587" cy="48066"/>
                </a:xfrm>
                <a:custGeom>
                  <a:avLst/>
                  <a:gdLst>
                    <a:gd name="connsiteX0" fmla="*/ 51229 w 81587"/>
                    <a:gd name="connsiteY0" fmla="*/ 48067 h 48066"/>
                    <a:gd name="connsiteX1" fmla="*/ 47435 w 81587"/>
                    <a:gd name="connsiteY1" fmla="*/ 46802 h 48066"/>
                    <a:gd name="connsiteX2" fmla="*/ 0 w 81587"/>
                    <a:gd name="connsiteY2" fmla="*/ 20239 h 48066"/>
                    <a:gd name="connsiteX3" fmla="*/ 8222 w 81587"/>
                    <a:gd name="connsiteY3" fmla="*/ 5692 h 48066"/>
                    <a:gd name="connsiteX4" fmla="*/ 48699 w 81587"/>
                    <a:gd name="connsiteY4" fmla="*/ 28461 h 48066"/>
                    <a:gd name="connsiteX5" fmla="*/ 67673 w 81587"/>
                    <a:gd name="connsiteY5" fmla="*/ 0 h 48066"/>
                    <a:gd name="connsiteX6" fmla="*/ 81587 w 81587"/>
                    <a:gd name="connsiteY6" fmla="*/ 8854 h 48066"/>
                    <a:gd name="connsiteX7" fmla="*/ 58186 w 81587"/>
                    <a:gd name="connsiteY7" fmla="*/ 43640 h 48066"/>
                    <a:gd name="connsiteX8" fmla="*/ 51229 w 81587"/>
                    <a:gd name="connsiteY8" fmla="*/ 48067 h 48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87" h="48066">
                      <a:moveTo>
                        <a:pt x="51229" y="48067"/>
                      </a:moveTo>
                      <a:cubicBezTo>
                        <a:pt x="49964" y="48067"/>
                        <a:pt x="48699" y="47435"/>
                        <a:pt x="47435" y="46802"/>
                      </a:cubicBezTo>
                      <a:lnTo>
                        <a:pt x="0" y="20239"/>
                      </a:lnTo>
                      <a:lnTo>
                        <a:pt x="8222" y="5692"/>
                      </a:lnTo>
                      <a:lnTo>
                        <a:pt x="48699" y="28461"/>
                      </a:lnTo>
                      <a:lnTo>
                        <a:pt x="67673" y="0"/>
                      </a:lnTo>
                      <a:lnTo>
                        <a:pt x="81587" y="8854"/>
                      </a:lnTo>
                      <a:lnTo>
                        <a:pt x="58186" y="43640"/>
                      </a:lnTo>
                      <a:cubicBezTo>
                        <a:pt x="56921" y="46802"/>
                        <a:pt x="53759" y="48067"/>
                        <a:pt x="51229" y="4806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95" name="Picture Placeholder 77">
                  <a:extLst>
                    <a:ext uri="{FF2B5EF4-FFF2-40B4-BE49-F238E27FC236}">
                      <a16:creationId xmlns:a16="http://schemas.microsoft.com/office/drawing/2014/main" id="{DBB72692-3567-4814-94E7-52AC16F69DB0}"/>
                    </a:ext>
                  </a:extLst>
                </p:cNvPr>
                <p:cNvSpPr/>
                <p:nvPr/>
              </p:nvSpPr>
              <p:spPr>
                <a:xfrm>
                  <a:off x="4515037" y="4323373"/>
                  <a:ext cx="82852" cy="55656"/>
                </a:xfrm>
                <a:custGeom>
                  <a:avLst/>
                  <a:gdLst>
                    <a:gd name="connsiteX0" fmla="*/ 48067 w 82852"/>
                    <a:gd name="connsiteY0" fmla="*/ 55656 h 55656"/>
                    <a:gd name="connsiteX1" fmla="*/ 44272 w 82852"/>
                    <a:gd name="connsiteY1" fmla="*/ 54392 h 55656"/>
                    <a:gd name="connsiteX2" fmla="*/ 0 w 82852"/>
                    <a:gd name="connsiteY2" fmla="*/ 29726 h 55656"/>
                    <a:gd name="connsiteX3" fmla="*/ 8222 w 82852"/>
                    <a:gd name="connsiteY3" fmla="*/ 15179 h 55656"/>
                    <a:gd name="connsiteX4" fmla="*/ 45537 w 82852"/>
                    <a:gd name="connsiteY4" fmla="*/ 36050 h 55656"/>
                    <a:gd name="connsiteX5" fmla="*/ 68938 w 82852"/>
                    <a:gd name="connsiteY5" fmla="*/ 0 h 55656"/>
                    <a:gd name="connsiteX6" fmla="*/ 82852 w 82852"/>
                    <a:gd name="connsiteY6" fmla="*/ 8854 h 55656"/>
                    <a:gd name="connsiteX7" fmla="*/ 55024 w 82852"/>
                    <a:gd name="connsiteY7" fmla="*/ 51229 h 55656"/>
                    <a:gd name="connsiteX8" fmla="*/ 48067 w 82852"/>
                    <a:gd name="connsiteY8" fmla="*/ 55656 h 5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52" h="55656">
                      <a:moveTo>
                        <a:pt x="48067" y="55656"/>
                      </a:moveTo>
                      <a:cubicBezTo>
                        <a:pt x="46802" y="55656"/>
                        <a:pt x="45537" y="55024"/>
                        <a:pt x="44272" y="54392"/>
                      </a:cubicBezTo>
                      <a:lnTo>
                        <a:pt x="0" y="29726"/>
                      </a:lnTo>
                      <a:lnTo>
                        <a:pt x="8222" y="15179"/>
                      </a:lnTo>
                      <a:lnTo>
                        <a:pt x="45537" y="36050"/>
                      </a:lnTo>
                      <a:lnTo>
                        <a:pt x="68938" y="0"/>
                      </a:lnTo>
                      <a:lnTo>
                        <a:pt x="82852" y="8854"/>
                      </a:lnTo>
                      <a:lnTo>
                        <a:pt x="55024" y="51229"/>
                      </a:lnTo>
                      <a:cubicBezTo>
                        <a:pt x="53127" y="54392"/>
                        <a:pt x="50597" y="55656"/>
                        <a:pt x="48067" y="5565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282" name="Picture Placeholder 77">
                <a:extLst>
                  <a:ext uri="{FF2B5EF4-FFF2-40B4-BE49-F238E27FC236}">
                    <a16:creationId xmlns:a16="http://schemas.microsoft.com/office/drawing/2014/main" id="{B722DA8B-8120-44AE-91C8-20A79882E4FA}"/>
                  </a:ext>
                </a:extLst>
              </p:cNvPr>
              <p:cNvGrpSpPr/>
              <p:nvPr/>
            </p:nvGrpSpPr>
            <p:grpSpPr>
              <a:xfrm>
                <a:off x="4712917" y="4200676"/>
                <a:ext cx="74710" cy="80322"/>
                <a:chOff x="4712917" y="4200676"/>
                <a:chExt cx="74710" cy="80322"/>
              </a:xfrm>
              <a:grpFill/>
            </p:grpSpPr>
            <p:sp>
              <p:nvSpPr>
                <p:cNvPr id="292" name="Picture Placeholder 77">
                  <a:extLst>
                    <a:ext uri="{FF2B5EF4-FFF2-40B4-BE49-F238E27FC236}">
                      <a16:creationId xmlns:a16="http://schemas.microsoft.com/office/drawing/2014/main" id="{67E71C40-A741-4DF3-B716-3E35E552821A}"/>
                    </a:ext>
                  </a:extLst>
                </p:cNvPr>
                <p:cNvSpPr/>
                <p:nvPr/>
              </p:nvSpPr>
              <p:spPr>
                <a:xfrm>
                  <a:off x="4712917" y="4200676"/>
                  <a:ext cx="57634" cy="61981"/>
                </a:xfrm>
                <a:custGeom>
                  <a:avLst/>
                  <a:gdLst>
                    <a:gd name="connsiteX0" fmla="*/ 5140 w 57634"/>
                    <a:gd name="connsiteY0" fmla="*/ 61981 h 61981"/>
                    <a:gd name="connsiteX1" fmla="*/ 81 w 57634"/>
                    <a:gd name="connsiteY1" fmla="*/ 17709 h 61981"/>
                    <a:gd name="connsiteX2" fmla="*/ 7038 w 57634"/>
                    <a:gd name="connsiteY2" fmla="*/ 8854 h 61981"/>
                    <a:gd name="connsiteX3" fmla="*/ 54472 w 57634"/>
                    <a:gd name="connsiteY3" fmla="*/ 0 h 61981"/>
                    <a:gd name="connsiteX4" fmla="*/ 57634 w 57634"/>
                    <a:gd name="connsiteY4" fmla="*/ 15812 h 61981"/>
                    <a:gd name="connsiteX5" fmla="*/ 17157 w 57634"/>
                    <a:gd name="connsiteY5" fmla="*/ 23401 h 61981"/>
                    <a:gd name="connsiteX6" fmla="*/ 20952 w 57634"/>
                    <a:gd name="connsiteY6" fmla="*/ 60084 h 61981"/>
                    <a:gd name="connsiteX7" fmla="*/ 5140 w 57634"/>
                    <a:gd name="connsiteY7" fmla="*/ 61981 h 6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634" h="61981">
                      <a:moveTo>
                        <a:pt x="5140" y="61981"/>
                      </a:moveTo>
                      <a:lnTo>
                        <a:pt x="81" y="17709"/>
                      </a:lnTo>
                      <a:cubicBezTo>
                        <a:pt x="-552" y="13282"/>
                        <a:pt x="2610" y="9487"/>
                        <a:pt x="7038" y="8854"/>
                      </a:cubicBezTo>
                      <a:lnTo>
                        <a:pt x="54472" y="0"/>
                      </a:lnTo>
                      <a:lnTo>
                        <a:pt x="57634" y="15812"/>
                      </a:lnTo>
                      <a:lnTo>
                        <a:pt x="17157" y="23401"/>
                      </a:lnTo>
                      <a:lnTo>
                        <a:pt x="20952" y="60084"/>
                      </a:lnTo>
                      <a:lnTo>
                        <a:pt x="5140" y="6198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93" name="Picture Placeholder 77">
                  <a:extLst>
                    <a:ext uri="{FF2B5EF4-FFF2-40B4-BE49-F238E27FC236}">
                      <a16:creationId xmlns:a16="http://schemas.microsoft.com/office/drawing/2014/main" id="{1A725FEE-9EAB-4585-9453-3A677E9C7077}"/>
                    </a:ext>
                  </a:extLst>
                </p:cNvPr>
                <p:cNvSpPr/>
                <p:nvPr/>
              </p:nvSpPr>
              <p:spPr>
                <a:xfrm>
                  <a:off x="4736950" y="4220282"/>
                  <a:ext cx="50677" cy="60716"/>
                </a:xfrm>
                <a:custGeom>
                  <a:avLst/>
                  <a:gdLst>
                    <a:gd name="connsiteX0" fmla="*/ 5141 w 50677"/>
                    <a:gd name="connsiteY0" fmla="*/ 60716 h 60716"/>
                    <a:gd name="connsiteX1" fmla="*/ 81 w 50677"/>
                    <a:gd name="connsiteY1" fmla="*/ 16444 h 60716"/>
                    <a:gd name="connsiteX2" fmla="*/ 6406 w 50677"/>
                    <a:gd name="connsiteY2" fmla="*/ 7590 h 60716"/>
                    <a:gd name="connsiteX3" fmla="*/ 47515 w 50677"/>
                    <a:gd name="connsiteY3" fmla="*/ 0 h 60716"/>
                    <a:gd name="connsiteX4" fmla="*/ 50678 w 50677"/>
                    <a:gd name="connsiteY4" fmla="*/ 15812 h 60716"/>
                    <a:gd name="connsiteX5" fmla="*/ 16525 w 50677"/>
                    <a:gd name="connsiteY5" fmla="*/ 22136 h 60716"/>
                    <a:gd name="connsiteX6" fmla="*/ 20952 w 50677"/>
                    <a:gd name="connsiteY6" fmla="*/ 58819 h 60716"/>
                    <a:gd name="connsiteX7" fmla="*/ 5141 w 50677"/>
                    <a:gd name="connsiteY7" fmla="*/ 60716 h 6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677" h="60716">
                      <a:moveTo>
                        <a:pt x="5141" y="60716"/>
                      </a:moveTo>
                      <a:lnTo>
                        <a:pt x="81" y="16444"/>
                      </a:lnTo>
                      <a:cubicBezTo>
                        <a:pt x="-551" y="12017"/>
                        <a:pt x="2611" y="8222"/>
                        <a:pt x="6406" y="7590"/>
                      </a:cubicBezTo>
                      <a:lnTo>
                        <a:pt x="47515" y="0"/>
                      </a:lnTo>
                      <a:lnTo>
                        <a:pt x="50678" y="15812"/>
                      </a:lnTo>
                      <a:lnTo>
                        <a:pt x="16525" y="22136"/>
                      </a:lnTo>
                      <a:lnTo>
                        <a:pt x="20952" y="58819"/>
                      </a:lnTo>
                      <a:lnTo>
                        <a:pt x="5141" y="60716"/>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283" name="Picture Placeholder 77">
                <a:extLst>
                  <a:ext uri="{FF2B5EF4-FFF2-40B4-BE49-F238E27FC236}">
                    <a16:creationId xmlns:a16="http://schemas.microsoft.com/office/drawing/2014/main" id="{E84CD161-51B6-4273-BF43-54A214B46AC9}"/>
                  </a:ext>
                </a:extLst>
              </p:cNvPr>
              <p:cNvGrpSpPr/>
              <p:nvPr/>
            </p:nvGrpSpPr>
            <p:grpSpPr>
              <a:xfrm>
                <a:off x="4632043" y="4414447"/>
                <a:ext cx="82463" cy="91074"/>
                <a:chOff x="4632043" y="4414447"/>
                <a:chExt cx="82463" cy="91074"/>
              </a:xfrm>
              <a:grpFill/>
            </p:grpSpPr>
            <p:sp>
              <p:nvSpPr>
                <p:cNvPr id="290" name="Picture Placeholder 77">
                  <a:extLst>
                    <a:ext uri="{FF2B5EF4-FFF2-40B4-BE49-F238E27FC236}">
                      <a16:creationId xmlns:a16="http://schemas.microsoft.com/office/drawing/2014/main" id="{83C62B3A-B2DE-4326-A16B-21A515B91CC9}"/>
                    </a:ext>
                  </a:extLst>
                </p:cNvPr>
                <p:cNvSpPr/>
                <p:nvPr/>
              </p:nvSpPr>
              <p:spPr>
                <a:xfrm>
                  <a:off x="4664930" y="4425199"/>
                  <a:ext cx="49575" cy="80322"/>
                </a:xfrm>
                <a:custGeom>
                  <a:avLst/>
                  <a:gdLst>
                    <a:gd name="connsiteX0" fmla="*/ 12017 w 49575"/>
                    <a:gd name="connsiteY0" fmla="*/ 80322 h 80322"/>
                    <a:gd name="connsiteX1" fmla="*/ 0 w 49575"/>
                    <a:gd name="connsiteY1" fmla="*/ 68938 h 80322"/>
                    <a:gd name="connsiteX2" fmla="*/ 29726 w 49575"/>
                    <a:gd name="connsiteY2" fmla="*/ 37948 h 80322"/>
                    <a:gd name="connsiteX3" fmla="*/ 5692 w 49575"/>
                    <a:gd name="connsiteY3" fmla="*/ 10752 h 80322"/>
                    <a:gd name="connsiteX4" fmla="*/ 17709 w 49575"/>
                    <a:gd name="connsiteY4" fmla="*/ 0 h 80322"/>
                    <a:gd name="connsiteX5" fmla="*/ 47435 w 49575"/>
                    <a:gd name="connsiteY5" fmla="*/ 32888 h 80322"/>
                    <a:gd name="connsiteX6" fmla="*/ 47435 w 49575"/>
                    <a:gd name="connsiteY6" fmla="*/ 44272 h 80322"/>
                    <a:gd name="connsiteX7" fmla="*/ 12017 w 49575"/>
                    <a:gd name="connsiteY7" fmla="*/ 80322 h 8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5" h="80322">
                      <a:moveTo>
                        <a:pt x="12017" y="80322"/>
                      </a:moveTo>
                      <a:lnTo>
                        <a:pt x="0" y="68938"/>
                      </a:lnTo>
                      <a:lnTo>
                        <a:pt x="29726" y="37948"/>
                      </a:lnTo>
                      <a:lnTo>
                        <a:pt x="5692" y="10752"/>
                      </a:lnTo>
                      <a:lnTo>
                        <a:pt x="17709" y="0"/>
                      </a:lnTo>
                      <a:lnTo>
                        <a:pt x="47435" y="32888"/>
                      </a:lnTo>
                      <a:cubicBezTo>
                        <a:pt x="50597" y="36050"/>
                        <a:pt x="49964" y="41110"/>
                        <a:pt x="47435" y="44272"/>
                      </a:cubicBezTo>
                      <a:lnTo>
                        <a:pt x="12017" y="8032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91" name="Picture Placeholder 77">
                  <a:extLst>
                    <a:ext uri="{FF2B5EF4-FFF2-40B4-BE49-F238E27FC236}">
                      <a16:creationId xmlns:a16="http://schemas.microsoft.com/office/drawing/2014/main" id="{CA3E8DC1-9D05-4523-8DC3-328E069DADB7}"/>
                    </a:ext>
                  </a:extLst>
                </p:cNvPr>
                <p:cNvSpPr/>
                <p:nvPr/>
              </p:nvSpPr>
              <p:spPr>
                <a:xfrm>
                  <a:off x="4632043" y="4414447"/>
                  <a:ext cx="53600" cy="87911"/>
                </a:xfrm>
                <a:custGeom>
                  <a:avLst/>
                  <a:gdLst>
                    <a:gd name="connsiteX0" fmla="*/ 18974 w 53600"/>
                    <a:gd name="connsiteY0" fmla="*/ 87912 h 87911"/>
                    <a:gd name="connsiteX1" fmla="*/ 6957 w 53600"/>
                    <a:gd name="connsiteY1" fmla="*/ 76528 h 87911"/>
                    <a:gd name="connsiteX2" fmla="*/ 34153 w 53600"/>
                    <a:gd name="connsiteY2" fmla="*/ 48067 h 87911"/>
                    <a:gd name="connsiteX3" fmla="*/ 0 w 53600"/>
                    <a:gd name="connsiteY3" fmla="*/ 11384 h 87911"/>
                    <a:gd name="connsiteX4" fmla="*/ 12017 w 53600"/>
                    <a:gd name="connsiteY4" fmla="*/ 0 h 87911"/>
                    <a:gd name="connsiteX5" fmla="*/ 51229 w 53600"/>
                    <a:gd name="connsiteY5" fmla="*/ 42375 h 87911"/>
                    <a:gd name="connsiteX6" fmla="*/ 51229 w 53600"/>
                    <a:gd name="connsiteY6" fmla="*/ 53759 h 87911"/>
                    <a:gd name="connsiteX7" fmla="*/ 18974 w 53600"/>
                    <a:gd name="connsiteY7" fmla="*/ 87912 h 8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00" h="87911">
                      <a:moveTo>
                        <a:pt x="18974" y="87912"/>
                      </a:moveTo>
                      <a:lnTo>
                        <a:pt x="6957" y="76528"/>
                      </a:lnTo>
                      <a:lnTo>
                        <a:pt x="34153" y="48067"/>
                      </a:lnTo>
                      <a:lnTo>
                        <a:pt x="0" y="11384"/>
                      </a:lnTo>
                      <a:lnTo>
                        <a:pt x="12017" y="0"/>
                      </a:lnTo>
                      <a:lnTo>
                        <a:pt x="51229" y="42375"/>
                      </a:lnTo>
                      <a:cubicBezTo>
                        <a:pt x="54392" y="45537"/>
                        <a:pt x="54392" y="50597"/>
                        <a:pt x="51229" y="53759"/>
                      </a:cubicBezTo>
                      <a:lnTo>
                        <a:pt x="18974" y="8791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284" name="Picture Placeholder 77">
                <a:extLst>
                  <a:ext uri="{FF2B5EF4-FFF2-40B4-BE49-F238E27FC236}">
                    <a16:creationId xmlns:a16="http://schemas.microsoft.com/office/drawing/2014/main" id="{5A3C32C2-55D9-4D5F-A460-4FD81979A5AC}"/>
                  </a:ext>
                </a:extLst>
              </p:cNvPr>
              <p:cNvGrpSpPr/>
              <p:nvPr/>
            </p:nvGrpSpPr>
            <p:grpSpPr>
              <a:xfrm>
                <a:off x="4741458" y="4375154"/>
                <a:ext cx="79057" cy="82300"/>
                <a:chOff x="4741458" y="4375154"/>
                <a:chExt cx="79057" cy="82300"/>
              </a:xfrm>
              <a:grpFill/>
            </p:grpSpPr>
            <p:sp>
              <p:nvSpPr>
                <p:cNvPr id="288" name="Picture Placeholder 77">
                  <a:extLst>
                    <a:ext uri="{FF2B5EF4-FFF2-40B4-BE49-F238E27FC236}">
                      <a16:creationId xmlns:a16="http://schemas.microsoft.com/office/drawing/2014/main" id="{AEFF7015-8E49-46A7-8115-7B4221BA2B63}"/>
                    </a:ext>
                  </a:extLst>
                </p:cNvPr>
                <p:cNvSpPr/>
                <p:nvPr/>
              </p:nvSpPr>
              <p:spPr>
                <a:xfrm>
                  <a:off x="4764227" y="4375154"/>
                  <a:ext cx="56288" cy="58899"/>
                </a:xfrm>
                <a:custGeom>
                  <a:avLst/>
                  <a:gdLst>
                    <a:gd name="connsiteX0" fmla="*/ 40477 w 56288"/>
                    <a:gd name="connsiteY0" fmla="*/ 58899 h 58899"/>
                    <a:gd name="connsiteX1" fmla="*/ 32888 w 56288"/>
                    <a:gd name="connsiteY1" fmla="*/ 16525 h 58899"/>
                    <a:gd name="connsiteX2" fmla="*/ 1897 w 56288"/>
                    <a:gd name="connsiteY2" fmla="*/ 19687 h 58899"/>
                    <a:gd name="connsiteX3" fmla="*/ 0 w 56288"/>
                    <a:gd name="connsiteY3" fmla="*/ 3875 h 58899"/>
                    <a:gd name="connsiteX4" fmla="*/ 38580 w 56288"/>
                    <a:gd name="connsiteY4" fmla="*/ 81 h 58899"/>
                    <a:gd name="connsiteX5" fmla="*/ 47435 w 56288"/>
                    <a:gd name="connsiteY5" fmla="*/ 7038 h 58899"/>
                    <a:gd name="connsiteX6" fmla="*/ 56289 w 56288"/>
                    <a:gd name="connsiteY6" fmla="*/ 56370 h 58899"/>
                    <a:gd name="connsiteX7" fmla="*/ 40477 w 56288"/>
                    <a:gd name="connsiteY7" fmla="*/ 5889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288" h="58899">
                      <a:moveTo>
                        <a:pt x="40477" y="58899"/>
                      </a:moveTo>
                      <a:lnTo>
                        <a:pt x="32888" y="16525"/>
                      </a:lnTo>
                      <a:lnTo>
                        <a:pt x="1897" y="19687"/>
                      </a:lnTo>
                      <a:lnTo>
                        <a:pt x="0" y="3875"/>
                      </a:lnTo>
                      <a:lnTo>
                        <a:pt x="38580" y="81"/>
                      </a:lnTo>
                      <a:cubicBezTo>
                        <a:pt x="43007" y="-552"/>
                        <a:pt x="46802" y="2610"/>
                        <a:pt x="47435" y="7038"/>
                      </a:cubicBezTo>
                      <a:lnTo>
                        <a:pt x="56289" y="56370"/>
                      </a:lnTo>
                      <a:lnTo>
                        <a:pt x="40477" y="58899"/>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89" name="Picture Placeholder 77">
                  <a:extLst>
                    <a:ext uri="{FF2B5EF4-FFF2-40B4-BE49-F238E27FC236}">
                      <a16:creationId xmlns:a16="http://schemas.microsoft.com/office/drawing/2014/main" id="{5C5484F9-33AA-4F9C-B57A-93FF5E6B8966}"/>
                    </a:ext>
                  </a:extLst>
                </p:cNvPr>
                <p:cNvSpPr/>
                <p:nvPr/>
              </p:nvSpPr>
              <p:spPr>
                <a:xfrm>
                  <a:off x="4741458" y="4397923"/>
                  <a:ext cx="62613" cy="59531"/>
                </a:xfrm>
                <a:custGeom>
                  <a:avLst/>
                  <a:gdLst>
                    <a:gd name="connsiteX0" fmla="*/ 46170 w 62613"/>
                    <a:gd name="connsiteY0" fmla="*/ 59532 h 59531"/>
                    <a:gd name="connsiteX1" fmla="*/ 38580 w 62613"/>
                    <a:gd name="connsiteY1" fmla="*/ 17157 h 59531"/>
                    <a:gd name="connsiteX2" fmla="*/ 1897 w 62613"/>
                    <a:gd name="connsiteY2" fmla="*/ 21584 h 59531"/>
                    <a:gd name="connsiteX3" fmla="*/ 0 w 62613"/>
                    <a:gd name="connsiteY3" fmla="*/ 5140 h 59531"/>
                    <a:gd name="connsiteX4" fmla="*/ 44272 w 62613"/>
                    <a:gd name="connsiteY4" fmla="*/ 81 h 59531"/>
                    <a:gd name="connsiteX5" fmla="*/ 53127 w 62613"/>
                    <a:gd name="connsiteY5" fmla="*/ 7038 h 59531"/>
                    <a:gd name="connsiteX6" fmla="*/ 62614 w 62613"/>
                    <a:gd name="connsiteY6" fmla="*/ 57002 h 59531"/>
                    <a:gd name="connsiteX7" fmla="*/ 46170 w 62613"/>
                    <a:gd name="connsiteY7" fmla="*/ 59532 h 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13" h="59531">
                      <a:moveTo>
                        <a:pt x="46170" y="59532"/>
                      </a:moveTo>
                      <a:lnTo>
                        <a:pt x="38580" y="17157"/>
                      </a:lnTo>
                      <a:lnTo>
                        <a:pt x="1897" y="21584"/>
                      </a:lnTo>
                      <a:lnTo>
                        <a:pt x="0" y="5140"/>
                      </a:lnTo>
                      <a:lnTo>
                        <a:pt x="44272" y="81"/>
                      </a:lnTo>
                      <a:cubicBezTo>
                        <a:pt x="48699" y="-552"/>
                        <a:pt x="52494" y="2610"/>
                        <a:pt x="53127" y="7038"/>
                      </a:cubicBezTo>
                      <a:lnTo>
                        <a:pt x="62614" y="57002"/>
                      </a:lnTo>
                      <a:lnTo>
                        <a:pt x="46170" y="5953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285" name="Picture Placeholder 77">
                <a:extLst>
                  <a:ext uri="{FF2B5EF4-FFF2-40B4-BE49-F238E27FC236}">
                    <a16:creationId xmlns:a16="http://schemas.microsoft.com/office/drawing/2014/main" id="{9A7869E8-6D53-4D3C-8944-A5AF4320F545}"/>
                  </a:ext>
                </a:extLst>
              </p:cNvPr>
              <p:cNvGrpSpPr/>
              <p:nvPr/>
            </p:nvGrpSpPr>
            <p:grpSpPr>
              <a:xfrm>
                <a:off x="4574392" y="4191822"/>
                <a:ext cx="82316" cy="86647"/>
                <a:chOff x="4574392" y="4191822"/>
                <a:chExt cx="82316" cy="86647"/>
              </a:xfrm>
              <a:grpFill/>
            </p:grpSpPr>
            <p:sp>
              <p:nvSpPr>
                <p:cNvPr id="286" name="Picture Placeholder 77">
                  <a:extLst>
                    <a:ext uri="{FF2B5EF4-FFF2-40B4-BE49-F238E27FC236}">
                      <a16:creationId xmlns:a16="http://schemas.microsoft.com/office/drawing/2014/main" id="{36D7D2C0-1665-4761-83AB-809064041D67}"/>
                    </a:ext>
                  </a:extLst>
                </p:cNvPr>
                <p:cNvSpPr/>
                <p:nvPr/>
              </p:nvSpPr>
              <p:spPr>
                <a:xfrm>
                  <a:off x="4574392" y="4205103"/>
                  <a:ext cx="53223" cy="73365"/>
                </a:xfrm>
                <a:custGeom>
                  <a:avLst/>
                  <a:gdLst>
                    <a:gd name="connsiteX0" fmla="*/ 48796 w 53223"/>
                    <a:gd name="connsiteY0" fmla="*/ 73365 h 73365"/>
                    <a:gd name="connsiteX1" fmla="*/ 5789 w 53223"/>
                    <a:gd name="connsiteY1" fmla="*/ 59451 h 73365"/>
                    <a:gd name="connsiteX2" fmla="*/ 97 w 53223"/>
                    <a:gd name="connsiteY2" fmla="*/ 49964 h 73365"/>
                    <a:gd name="connsiteX3" fmla="*/ 12746 w 53223"/>
                    <a:gd name="connsiteY3" fmla="*/ 0 h 73365"/>
                    <a:gd name="connsiteX4" fmla="*/ 28558 w 53223"/>
                    <a:gd name="connsiteY4" fmla="*/ 3795 h 73365"/>
                    <a:gd name="connsiteX5" fmla="*/ 17806 w 53223"/>
                    <a:gd name="connsiteY5" fmla="*/ 46802 h 73365"/>
                    <a:gd name="connsiteX6" fmla="*/ 53223 w 53223"/>
                    <a:gd name="connsiteY6" fmla="*/ 58186 h 73365"/>
                    <a:gd name="connsiteX7" fmla="*/ 48796 w 53223"/>
                    <a:gd name="connsiteY7" fmla="*/ 73365 h 7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23" h="73365">
                      <a:moveTo>
                        <a:pt x="48796" y="73365"/>
                      </a:moveTo>
                      <a:lnTo>
                        <a:pt x="5789" y="59451"/>
                      </a:lnTo>
                      <a:cubicBezTo>
                        <a:pt x="1994" y="58186"/>
                        <a:pt x="-536" y="53759"/>
                        <a:pt x="97" y="49964"/>
                      </a:cubicBezTo>
                      <a:lnTo>
                        <a:pt x="12746" y="0"/>
                      </a:lnTo>
                      <a:lnTo>
                        <a:pt x="28558" y="3795"/>
                      </a:lnTo>
                      <a:lnTo>
                        <a:pt x="17806" y="46802"/>
                      </a:lnTo>
                      <a:lnTo>
                        <a:pt x="53223" y="58186"/>
                      </a:lnTo>
                      <a:lnTo>
                        <a:pt x="48796" y="73365"/>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87" name="Picture Placeholder 77">
                  <a:extLst>
                    <a:ext uri="{FF2B5EF4-FFF2-40B4-BE49-F238E27FC236}">
                      <a16:creationId xmlns:a16="http://schemas.microsoft.com/office/drawing/2014/main" id="{71281B81-ED5A-4009-996A-93B9019D0575}"/>
                    </a:ext>
                  </a:extLst>
                </p:cNvPr>
                <p:cNvSpPr/>
                <p:nvPr/>
              </p:nvSpPr>
              <p:spPr>
                <a:xfrm>
                  <a:off x="4600323" y="4191822"/>
                  <a:ext cx="56385" cy="72100"/>
                </a:xfrm>
                <a:custGeom>
                  <a:avLst/>
                  <a:gdLst>
                    <a:gd name="connsiteX0" fmla="*/ 51326 w 56385"/>
                    <a:gd name="connsiteY0" fmla="*/ 72100 h 72100"/>
                    <a:gd name="connsiteX1" fmla="*/ 5789 w 56385"/>
                    <a:gd name="connsiteY1" fmla="*/ 57554 h 72100"/>
                    <a:gd name="connsiteX2" fmla="*/ 97 w 56385"/>
                    <a:gd name="connsiteY2" fmla="*/ 48067 h 72100"/>
                    <a:gd name="connsiteX3" fmla="*/ 12114 w 56385"/>
                    <a:gd name="connsiteY3" fmla="*/ 0 h 72100"/>
                    <a:gd name="connsiteX4" fmla="*/ 27925 w 56385"/>
                    <a:gd name="connsiteY4" fmla="*/ 3795 h 72100"/>
                    <a:gd name="connsiteX5" fmla="*/ 17806 w 56385"/>
                    <a:gd name="connsiteY5" fmla="*/ 44272 h 72100"/>
                    <a:gd name="connsiteX6" fmla="*/ 56386 w 56385"/>
                    <a:gd name="connsiteY6" fmla="*/ 56921 h 72100"/>
                    <a:gd name="connsiteX7" fmla="*/ 51326 w 56385"/>
                    <a:gd name="connsiteY7" fmla="*/ 72100 h 7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385" h="72100">
                      <a:moveTo>
                        <a:pt x="51326" y="72100"/>
                      </a:moveTo>
                      <a:lnTo>
                        <a:pt x="5789" y="57554"/>
                      </a:lnTo>
                      <a:cubicBezTo>
                        <a:pt x="1994" y="56289"/>
                        <a:pt x="-536" y="51862"/>
                        <a:pt x="97" y="48067"/>
                      </a:cubicBezTo>
                      <a:lnTo>
                        <a:pt x="12114" y="0"/>
                      </a:lnTo>
                      <a:lnTo>
                        <a:pt x="27925" y="3795"/>
                      </a:lnTo>
                      <a:lnTo>
                        <a:pt x="17806" y="44272"/>
                      </a:lnTo>
                      <a:lnTo>
                        <a:pt x="56386" y="56921"/>
                      </a:lnTo>
                      <a:lnTo>
                        <a:pt x="51326" y="7210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18" name="Group 17">
            <a:extLst>
              <a:ext uri="{FF2B5EF4-FFF2-40B4-BE49-F238E27FC236}">
                <a16:creationId xmlns:a16="http://schemas.microsoft.com/office/drawing/2014/main" id="{95667FE4-9B4C-4D57-A3EF-1D89C2E0D95B}"/>
              </a:ext>
            </a:extLst>
          </p:cNvPr>
          <p:cNvGrpSpPr/>
          <p:nvPr/>
        </p:nvGrpSpPr>
        <p:grpSpPr>
          <a:xfrm>
            <a:off x="8146291" y="1266557"/>
            <a:ext cx="758008" cy="1317802"/>
            <a:chOff x="8233691" y="1436575"/>
            <a:chExt cx="758008" cy="1317802"/>
          </a:xfrm>
        </p:grpSpPr>
        <p:cxnSp>
          <p:nvCxnSpPr>
            <p:cNvPr id="238" name="Straight Connector 237">
              <a:extLst>
                <a:ext uri="{FF2B5EF4-FFF2-40B4-BE49-F238E27FC236}">
                  <a16:creationId xmlns:a16="http://schemas.microsoft.com/office/drawing/2014/main" id="{FBDEBFCB-BC09-4D62-A8A4-A816265CE2D0}"/>
                </a:ext>
              </a:extLst>
            </p:cNvPr>
            <p:cNvCxnSpPr>
              <a:cxnSpLocks/>
            </p:cNvCxnSpPr>
            <p:nvPr/>
          </p:nvCxnSpPr>
          <p:spPr bwMode="gray">
            <a:xfrm flipV="1">
              <a:off x="8612692" y="2388712"/>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39" name="Oval 238">
              <a:extLst>
                <a:ext uri="{FF2B5EF4-FFF2-40B4-BE49-F238E27FC236}">
                  <a16:creationId xmlns:a16="http://schemas.microsoft.com/office/drawing/2014/main" id="{4F37F6F5-15D2-47F0-8F7B-59CBE55DC096}"/>
                </a:ext>
              </a:extLst>
            </p:cNvPr>
            <p:cNvSpPr/>
            <p:nvPr/>
          </p:nvSpPr>
          <p:spPr>
            <a:xfrm>
              <a:off x="8372632"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240" name="Rounded Rectangle 37">
              <a:extLst>
                <a:ext uri="{FF2B5EF4-FFF2-40B4-BE49-F238E27FC236}">
                  <a16:creationId xmlns:a16="http://schemas.microsoft.com/office/drawing/2014/main" id="{A4DE08E7-56D0-4820-80D6-501452429FA4}"/>
                </a:ext>
              </a:extLst>
            </p:cNvPr>
            <p:cNvSpPr/>
            <p:nvPr/>
          </p:nvSpPr>
          <p:spPr>
            <a:xfrm>
              <a:off x="8233691"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High</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Availability</a:t>
              </a:r>
            </a:p>
          </p:txBody>
        </p:sp>
        <p:grpSp>
          <p:nvGrpSpPr>
            <p:cNvPr id="341" name="Picture Placeholder 76" descr="vSAN HCI Mesh&#10;">
              <a:extLst>
                <a:ext uri="{FF2B5EF4-FFF2-40B4-BE49-F238E27FC236}">
                  <a16:creationId xmlns:a16="http://schemas.microsoft.com/office/drawing/2014/main" id="{5874C21B-B535-4BDD-9C11-C56EABA6BC2A}"/>
                </a:ext>
              </a:extLst>
            </p:cNvPr>
            <p:cNvGrpSpPr>
              <a:grpSpLocks noChangeAspect="1"/>
            </p:cNvGrpSpPr>
            <p:nvPr/>
          </p:nvGrpSpPr>
          <p:grpSpPr>
            <a:xfrm>
              <a:off x="8475798" y="2006160"/>
              <a:ext cx="274320" cy="254154"/>
              <a:chOff x="3176259" y="5196894"/>
              <a:chExt cx="585025" cy="542018"/>
            </a:xfrm>
            <a:solidFill>
              <a:schemeClr val="tx1"/>
            </a:solidFill>
          </p:grpSpPr>
          <p:sp>
            <p:nvSpPr>
              <p:cNvPr id="342" name="Picture Placeholder 76">
                <a:extLst>
                  <a:ext uri="{FF2B5EF4-FFF2-40B4-BE49-F238E27FC236}">
                    <a16:creationId xmlns:a16="http://schemas.microsoft.com/office/drawing/2014/main" id="{EB2E0C9C-C028-48BF-AA3C-07AAE4842764}"/>
                  </a:ext>
                </a:extLst>
              </p:cNvPr>
              <p:cNvSpPr/>
              <p:nvPr/>
            </p:nvSpPr>
            <p:spPr>
              <a:xfrm>
                <a:off x="3178157" y="5197527"/>
                <a:ext cx="166336" cy="99928"/>
              </a:xfrm>
              <a:custGeom>
                <a:avLst/>
                <a:gdLst>
                  <a:gd name="connsiteX0" fmla="*/ 82852 w 166336"/>
                  <a:gd name="connsiteY0" fmla="*/ 53127 h 99928"/>
                  <a:gd name="connsiteX1" fmla="*/ 150525 w 166336"/>
                  <a:gd name="connsiteY1" fmla="*/ 43007 h 99928"/>
                  <a:gd name="connsiteX2" fmla="*/ 150525 w 166336"/>
                  <a:gd name="connsiteY2" fmla="*/ 70203 h 99928"/>
                  <a:gd name="connsiteX3" fmla="*/ 83485 w 166336"/>
                  <a:gd name="connsiteY3" fmla="*/ 82220 h 99928"/>
                  <a:gd name="connsiteX4" fmla="*/ 16444 w 166336"/>
                  <a:gd name="connsiteY4" fmla="*/ 70203 h 99928"/>
                  <a:gd name="connsiteX5" fmla="*/ 16444 w 166336"/>
                  <a:gd name="connsiteY5" fmla="*/ 52494 h 99928"/>
                  <a:gd name="connsiteX6" fmla="*/ 632 w 166336"/>
                  <a:gd name="connsiteY6" fmla="*/ 52494 h 99928"/>
                  <a:gd name="connsiteX7" fmla="*/ 632 w 166336"/>
                  <a:gd name="connsiteY7" fmla="*/ 71468 h 99928"/>
                  <a:gd name="connsiteX8" fmla="*/ 83485 w 166336"/>
                  <a:gd name="connsiteY8" fmla="*/ 98031 h 99928"/>
                  <a:gd name="connsiteX9" fmla="*/ 150525 w 166336"/>
                  <a:gd name="connsiteY9" fmla="*/ 88544 h 99928"/>
                  <a:gd name="connsiteX10" fmla="*/ 150525 w 166336"/>
                  <a:gd name="connsiteY10" fmla="*/ 99929 h 99928"/>
                  <a:gd name="connsiteX11" fmla="*/ 166337 w 166336"/>
                  <a:gd name="connsiteY11" fmla="*/ 99929 h 99928"/>
                  <a:gd name="connsiteX12" fmla="*/ 166337 w 166336"/>
                  <a:gd name="connsiteY12" fmla="*/ 80322 h 99928"/>
                  <a:gd name="connsiteX13" fmla="*/ 162542 w 166336"/>
                  <a:gd name="connsiteY13" fmla="*/ 80322 h 99928"/>
                  <a:gd name="connsiteX14" fmla="*/ 166337 w 166336"/>
                  <a:gd name="connsiteY14" fmla="*/ 71468 h 99928"/>
                  <a:gd name="connsiteX15" fmla="*/ 166337 w 166336"/>
                  <a:gd name="connsiteY15" fmla="*/ 36683 h 99928"/>
                  <a:gd name="connsiteX16" fmla="*/ 166337 w 166336"/>
                  <a:gd name="connsiteY16" fmla="*/ 27828 h 99928"/>
                  <a:gd name="connsiteX17" fmla="*/ 165705 w 166336"/>
                  <a:gd name="connsiteY17" fmla="*/ 27828 h 99928"/>
                  <a:gd name="connsiteX18" fmla="*/ 165705 w 166336"/>
                  <a:gd name="connsiteY18" fmla="*/ 26563 h 99928"/>
                  <a:gd name="connsiteX19" fmla="*/ 82852 w 166336"/>
                  <a:gd name="connsiteY19" fmla="*/ 0 h 99928"/>
                  <a:gd name="connsiteX20" fmla="*/ 0 w 166336"/>
                  <a:gd name="connsiteY20" fmla="*/ 26563 h 99928"/>
                  <a:gd name="connsiteX21" fmla="*/ 82852 w 166336"/>
                  <a:gd name="connsiteY21" fmla="*/ 53127 h 99928"/>
                  <a:gd name="connsiteX22" fmla="*/ 82852 w 166336"/>
                  <a:gd name="connsiteY22" fmla="*/ 15812 h 99928"/>
                  <a:gd name="connsiteX23" fmla="*/ 149261 w 166336"/>
                  <a:gd name="connsiteY23" fmla="*/ 26563 h 99928"/>
                  <a:gd name="connsiteX24" fmla="*/ 82852 w 166336"/>
                  <a:gd name="connsiteY24" fmla="*/ 37315 h 99928"/>
                  <a:gd name="connsiteX25" fmla="*/ 16444 w 166336"/>
                  <a:gd name="connsiteY25" fmla="*/ 26563 h 99928"/>
                  <a:gd name="connsiteX26" fmla="*/ 82852 w 166336"/>
                  <a:gd name="connsiteY26" fmla="*/ 15812 h 9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336" h="99928">
                    <a:moveTo>
                      <a:pt x="82852" y="53127"/>
                    </a:moveTo>
                    <a:cubicBezTo>
                      <a:pt x="89177" y="53127"/>
                      <a:pt x="127757" y="52494"/>
                      <a:pt x="150525" y="43007"/>
                    </a:cubicBezTo>
                    <a:cubicBezTo>
                      <a:pt x="150525" y="53127"/>
                      <a:pt x="150525" y="65143"/>
                      <a:pt x="150525" y="70203"/>
                    </a:cubicBezTo>
                    <a:cubicBezTo>
                      <a:pt x="146731" y="74630"/>
                      <a:pt x="123330" y="82220"/>
                      <a:pt x="83485" y="82220"/>
                    </a:cubicBezTo>
                    <a:cubicBezTo>
                      <a:pt x="43007" y="82220"/>
                      <a:pt x="20239" y="74630"/>
                      <a:pt x="16444" y="70203"/>
                    </a:cubicBezTo>
                    <a:lnTo>
                      <a:pt x="16444" y="52494"/>
                    </a:lnTo>
                    <a:lnTo>
                      <a:pt x="632" y="52494"/>
                    </a:lnTo>
                    <a:lnTo>
                      <a:pt x="632" y="71468"/>
                    </a:lnTo>
                    <a:cubicBezTo>
                      <a:pt x="632" y="97399"/>
                      <a:pt x="75263" y="98031"/>
                      <a:pt x="83485" y="98031"/>
                    </a:cubicBezTo>
                    <a:cubicBezTo>
                      <a:pt x="89177" y="98031"/>
                      <a:pt x="128389" y="97399"/>
                      <a:pt x="150525" y="88544"/>
                    </a:cubicBezTo>
                    <a:lnTo>
                      <a:pt x="150525" y="99929"/>
                    </a:lnTo>
                    <a:lnTo>
                      <a:pt x="166337" y="99929"/>
                    </a:lnTo>
                    <a:lnTo>
                      <a:pt x="166337" y="80322"/>
                    </a:lnTo>
                    <a:lnTo>
                      <a:pt x="162542" y="80322"/>
                    </a:lnTo>
                    <a:cubicBezTo>
                      <a:pt x="165072" y="77793"/>
                      <a:pt x="166337" y="74630"/>
                      <a:pt x="166337" y="71468"/>
                    </a:cubicBezTo>
                    <a:cubicBezTo>
                      <a:pt x="166337" y="67041"/>
                      <a:pt x="166337" y="48067"/>
                      <a:pt x="166337" y="36683"/>
                    </a:cubicBezTo>
                    <a:lnTo>
                      <a:pt x="166337" y="27828"/>
                    </a:lnTo>
                    <a:lnTo>
                      <a:pt x="165705" y="27828"/>
                    </a:lnTo>
                    <a:cubicBezTo>
                      <a:pt x="165705" y="27196"/>
                      <a:pt x="165705" y="27196"/>
                      <a:pt x="165705" y="26563"/>
                    </a:cubicBezTo>
                    <a:cubicBezTo>
                      <a:pt x="165705" y="632"/>
                      <a:pt x="91074" y="0"/>
                      <a:pt x="82852" y="0"/>
                    </a:cubicBezTo>
                    <a:cubicBezTo>
                      <a:pt x="74630" y="0"/>
                      <a:pt x="0" y="632"/>
                      <a:pt x="0" y="26563"/>
                    </a:cubicBezTo>
                    <a:cubicBezTo>
                      <a:pt x="0" y="52494"/>
                      <a:pt x="73998" y="53127"/>
                      <a:pt x="82852" y="53127"/>
                    </a:cubicBezTo>
                    <a:close/>
                    <a:moveTo>
                      <a:pt x="82852" y="15812"/>
                    </a:moveTo>
                    <a:cubicBezTo>
                      <a:pt x="120800" y="15812"/>
                      <a:pt x="142936" y="22769"/>
                      <a:pt x="149261" y="26563"/>
                    </a:cubicBezTo>
                    <a:cubicBezTo>
                      <a:pt x="143568" y="30991"/>
                      <a:pt x="120800" y="37315"/>
                      <a:pt x="82852" y="37315"/>
                    </a:cubicBezTo>
                    <a:cubicBezTo>
                      <a:pt x="44905" y="37315"/>
                      <a:pt x="22769" y="30358"/>
                      <a:pt x="16444" y="26563"/>
                    </a:cubicBezTo>
                    <a:cubicBezTo>
                      <a:pt x="22136" y="22136"/>
                      <a:pt x="44905" y="15812"/>
                      <a:pt x="82852" y="1581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3" name="Picture Placeholder 76">
                <a:extLst>
                  <a:ext uri="{FF2B5EF4-FFF2-40B4-BE49-F238E27FC236}">
                    <a16:creationId xmlns:a16="http://schemas.microsoft.com/office/drawing/2014/main" id="{C9EDA778-49FE-4139-9962-F1F537A379D4}"/>
                  </a:ext>
                </a:extLst>
              </p:cNvPr>
              <p:cNvSpPr/>
              <p:nvPr/>
            </p:nvSpPr>
            <p:spPr>
              <a:xfrm>
                <a:off x="3178157" y="5296823"/>
                <a:ext cx="39212" cy="42374"/>
              </a:xfrm>
              <a:custGeom>
                <a:avLst/>
                <a:gdLst>
                  <a:gd name="connsiteX0" fmla="*/ 15812 w 39212"/>
                  <a:gd name="connsiteY0" fmla="*/ 18974 h 42374"/>
                  <a:gd name="connsiteX1" fmla="*/ 15812 w 39212"/>
                  <a:gd name="connsiteY1" fmla="*/ 0 h 42374"/>
                  <a:gd name="connsiteX2" fmla="*/ 0 w 39212"/>
                  <a:gd name="connsiteY2" fmla="*/ 0 h 42374"/>
                  <a:gd name="connsiteX3" fmla="*/ 0 w 39212"/>
                  <a:gd name="connsiteY3" fmla="*/ 19606 h 42374"/>
                  <a:gd name="connsiteX4" fmla="*/ 36050 w 39212"/>
                  <a:gd name="connsiteY4" fmla="*/ 42375 h 42374"/>
                  <a:gd name="connsiteX5" fmla="*/ 39213 w 39212"/>
                  <a:gd name="connsiteY5" fmla="*/ 26563 h 42374"/>
                  <a:gd name="connsiteX6" fmla="*/ 15812 w 39212"/>
                  <a:gd name="connsiteY6" fmla="*/ 18974 h 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12" h="42374">
                    <a:moveTo>
                      <a:pt x="15812" y="18974"/>
                    </a:moveTo>
                    <a:lnTo>
                      <a:pt x="15812" y="0"/>
                    </a:lnTo>
                    <a:lnTo>
                      <a:pt x="0" y="0"/>
                    </a:lnTo>
                    <a:lnTo>
                      <a:pt x="0" y="19606"/>
                    </a:lnTo>
                    <a:cubicBezTo>
                      <a:pt x="0" y="30358"/>
                      <a:pt x="12017" y="37948"/>
                      <a:pt x="36050" y="42375"/>
                    </a:cubicBezTo>
                    <a:lnTo>
                      <a:pt x="39213" y="26563"/>
                    </a:lnTo>
                    <a:cubicBezTo>
                      <a:pt x="23401" y="24033"/>
                      <a:pt x="17076" y="20239"/>
                      <a:pt x="15812" y="1897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4" name="Picture Placeholder 76">
                <a:extLst>
                  <a:ext uri="{FF2B5EF4-FFF2-40B4-BE49-F238E27FC236}">
                    <a16:creationId xmlns:a16="http://schemas.microsoft.com/office/drawing/2014/main" id="{D029DED5-B34C-4053-A72F-4573CAA63812}"/>
                  </a:ext>
                </a:extLst>
              </p:cNvPr>
              <p:cNvSpPr/>
              <p:nvPr/>
            </p:nvSpPr>
            <p:spPr>
              <a:xfrm>
                <a:off x="3178157" y="5344258"/>
                <a:ext cx="37947" cy="42374"/>
              </a:xfrm>
              <a:custGeom>
                <a:avLst/>
                <a:gdLst>
                  <a:gd name="connsiteX0" fmla="*/ 0 w 37947"/>
                  <a:gd name="connsiteY0" fmla="*/ 0 h 42374"/>
                  <a:gd name="connsiteX1" fmla="*/ 0 w 37947"/>
                  <a:gd name="connsiteY1" fmla="*/ 19606 h 42374"/>
                  <a:gd name="connsiteX2" fmla="*/ 34785 w 37947"/>
                  <a:gd name="connsiteY2" fmla="*/ 42375 h 42374"/>
                  <a:gd name="connsiteX3" fmla="*/ 37948 w 37947"/>
                  <a:gd name="connsiteY3" fmla="*/ 26563 h 42374"/>
                  <a:gd name="connsiteX4" fmla="*/ 15812 w 37947"/>
                  <a:gd name="connsiteY4" fmla="*/ 18974 h 42374"/>
                  <a:gd name="connsiteX5" fmla="*/ 15812 w 37947"/>
                  <a:gd name="connsiteY5" fmla="*/ 0 h 42374"/>
                  <a:gd name="connsiteX6" fmla="*/ 0 w 37947"/>
                  <a:gd name="connsiteY6" fmla="*/ 0 h 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947" h="42374">
                    <a:moveTo>
                      <a:pt x="0" y="0"/>
                    </a:moveTo>
                    <a:lnTo>
                      <a:pt x="0" y="19606"/>
                    </a:lnTo>
                    <a:cubicBezTo>
                      <a:pt x="0" y="30358"/>
                      <a:pt x="11384" y="37315"/>
                      <a:pt x="34785" y="42375"/>
                    </a:cubicBezTo>
                    <a:lnTo>
                      <a:pt x="37948" y="26563"/>
                    </a:lnTo>
                    <a:cubicBezTo>
                      <a:pt x="23401" y="23401"/>
                      <a:pt x="17709" y="20239"/>
                      <a:pt x="15812" y="18974"/>
                    </a:cubicBezTo>
                    <a:lnTo>
                      <a:pt x="15812" y="0"/>
                    </a:lnTo>
                    <a:lnTo>
                      <a:pt x="0"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5" name="Picture Placeholder 76">
                <a:extLst>
                  <a:ext uri="{FF2B5EF4-FFF2-40B4-BE49-F238E27FC236}">
                    <a16:creationId xmlns:a16="http://schemas.microsoft.com/office/drawing/2014/main" id="{C168B8DF-2EF7-4A81-86BA-A492236B8DD2}"/>
                  </a:ext>
                </a:extLst>
              </p:cNvPr>
              <p:cNvSpPr/>
              <p:nvPr/>
            </p:nvSpPr>
            <p:spPr>
              <a:xfrm>
                <a:off x="3412799" y="5341095"/>
                <a:ext cx="36682" cy="36682"/>
              </a:xfrm>
              <a:custGeom>
                <a:avLst/>
                <a:gdLst>
                  <a:gd name="connsiteX0" fmla="*/ 18341 w 36682"/>
                  <a:gd name="connsiteY0" fmla="*/ 0 h 36682"/>
                  <a:gd name="connsiteX1" fmla="*/ 0 w 36682"/>
                  <a:gd name="connsiteY1" fmla="*/ 18341 h 36682"/>
                  <a:gd name="connsiteX2" fmla="*/ 18341 w 36682"/>
                  <a:gd name="connsiteY2" fmla="*/ 36683 h 36682"/>
                  <a:gd name="connsiteX3" fmla="*/ 36683 w 36682"/>
                  <a:gd name="connsiteY3" fmla="*/ 18341 h 36682"/>
                  <a:gd name="connsiteX4" fmla="*/ 18341 w 36682"/>
                  <a:gd name="connsiteY4" fmla="*/ 0 h 36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82" h="36682">
                    <a:moveTo>
                      <a:pt x="18341" y="0"/>
                    </a:moveTo>
                    <a:cubicBezTo>
                      <a:pt x="8222" y="0"/>
                      <a:pt x="0" y="8222"/>
                      <a:pt x="0" y="18341"/>
                    </a:cubicBezTo>
                    <a:cubicBezTo>
                      <a:pt x="0" y="28461"/>
                      <a:pt x="8222" y="36683"/>
                      <a:pt x="18341" y="36683"/>
                    </a:cubicBezTo>
                    <a:cubicBezTo>
                      <a:pt x="28461" y="36683"/>
                      <a:pt x="36683" y="28461"/>
                      <a:pt x="36683" y="18341"/>
                    </a:cubicBezTo>
                    <a:cubicBezTo>
                      <a:pt x="36683" y="8222"/>
                      <a:pt x="27828" y="0"/>
                      <a:pt x="18341"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6" name="Picture Placeholder 76">
                <a:extLst>
                  <a:ext uri="{FF2B5EF4-FFF2-40B4-BE49-F238E27FC236}">
                    <a16:creationId xmlns:a16="http://schemas.microsoft.com/office/drawing/2014/main" id="{1E8BA1C5-BC6A-43CD-BB85-83B684466D9A}"/>
                  </a:ext>
                </a:extLst>
              </p:cNvPr>
              <p:cNvSpPr/>
              <p:nvPr/>
            </p:nvSpPr>
            <p:spPr>
              <a:xfrm>
                <a:off x="3261641" y="5340463"/>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7" name="Picture Placeholder 76">
                <a:extLst>
                  <a:ext uri="{FF2B5EF4-FFF2-40B4-BE49-F238E27FC236}">
                    <a16:creationId xmlns:a16="http://schemas.microsoft.com/office/drawing/2014/main" id="{10364E3A-763A-4AE5-89AA-6746897000BE}"/>
                  </a:ext>
                </a:extLst>
              </p:cNvPr>
              <p:cNvSpPr/>
              <p:nvPr/>
            </p:nvSpPr>
            <p:spPr>
              <a:xfrm>
                <a:off x="3286940" y="5340463"/>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8" name="Picture Placeholder 76">
                <a:extLst>
                  <a:ext uri="{FF2B5EF4-FFF2-40B4-BE49-F238E27FC236}">
                    <a16:creationId xmlns:a16="http://schemas.microsoft.com/office/drawing/2014/main" id="{D9AC8942-361E-47FC-8BAF-23FB07D3DFE2}"/>
                  </a:ext>
                </a:extLst>
              </p:cNvPr>
              <p:cNvSpPr/>
              <p:nvPr/>
            </p:nvSpPr>
            <p:spPr>
              <a:xfrm>
                <a:off x="3312238" y="5340463"/>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9" name="Picture Placeholder 76">
                <a:extLst>
                  <a:ext uri="{FF2B5EF4-FFF2-40B4-BE49-F238E27FC236}">
                    <a16:creationId xmlns:a16="http://schemas.microsoft.com/office/drawing/2014/main" id="{DE94B5D8-8A32-4AB7-BB1C-62B533C6BAF5}"/>
                  </a:ext>
                </a:extLst>
              </p:cNvPr>
              <p:cNvSpPr/>
              <p:nvPr/>
            </p:nvSpPr>
            <p:spPr>
              <a:xfrm>
                <a:off x="3336904" y="5340463"/>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0" name="Picture Placeholder 76">
                <a:extLst>
                  <a:ext uri="{FF2B5EF4-FFF2-40B4-BE49-F238E27FC236}">
                    <a16:creationId xmlns:a16="http://schemas.microsoft.com/office/drawing/2014/main" id="{C138BF64-5C8B-42E3-B980-851732196B4F}"/>
                  </a:ext>
                </a:extLst>
              </p:cNvPr>
              <p:cNvSpPr/>
              <p:nvPr/>
            </p:nvSpPr>
            <p:spPr>
              <a:xfrm>
                <a:off x="3362202" y="5340463"/>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1" name="Picture Placeholder 76">
                <a:extLst>
                  <a:ext uri="{FF2B5EF4-FFF2-40B4-BE49-F238E27FC236}">
                    <a16:creationId xmlns:a16="http://schemas.microsoft.com/office/drawing/2014/main" id="{FE24E81D-5BC4-4A35-B42E-ACA36CFBB50D}"/>
                  </a:ext>
                </a:extLst>
              </p:cNvPr>
              <p:cNvSpPr/>
              <p:nvPr/>
            </p:nvSpPr>
            <p:spPr>
              <a:xfrm>
                <a:off x="3594948" y="5404341"/>
                <a:ext cx="165710" cy="314965"/>
              </a:xfrm>
              <a:custGeom>
                <a:avLst/>
                <a:gdLst>
                  <a:gd name="connsiteX0" fmla="*/ 94237 w 165710"/>
                  <a:gd name="connsiteY0" fmla="*/ 122065 h 314965"/>
                  <a:gd name="connsiteX1" fmla="*/ 94237 w 165710"/>
                  <a:gd name="connsiteY1" fmla="*/ 0 h 314965"/>
                  <a:gd name="connsiteX2" fmla="*/ 78425 w 165710"/>
                  <a:gd name="connsiteY2" fmla="*/ 0 h 314965"/>
                  <a:gd name="connsiteX3" fmla="*/ 78425 w 165710"/>
                  <a:gd name="connsiteY3" fmla="*/ 122065 h 314965"/>
                  <a:gd name="connsiteX4" fmla="*/ 0 w 165710"/>
                  <a:gd name="connsiteY4" fmla="*/ 148628 h 314965"/>
                  <a:gd name="connsiteX5" fmla="*/ 82852 w 165710"/>
                  <a:gd name="connsiteY5" fmla="*/ 175191 h 314965"/>
                  <a:gd name="connsiteX6" fmla="*/ 149893 w 165710"/>
                  <a:gd name="connsiteY6" fmla="*/ 165705 h 314965"/>
                  <a:gd name="connsiteX7" fmla="*/ 149893 w 165710"/>
                  <a:gd name="connsiteY7" fmla="*/ 192900 h 314965"/>
                  <a:gd name="connsiteX8" fmla="*/ 82852 w 165710"/>
                  <a:gd name="connsiteY8" fmla="*/ 204917 h 314965"/>
                  <a:gd name="connsiteX9" fmla="*/ 15812 w 165710"/>
                  <a:gd name="connsiteY9" fmla="*/ 192900 h 314965"/>
                  <a:gd name="connsiteX10" fmla="*/ 16444 w 165710"/>
                  <a:gd name="connsiteY10" fmla="*/ 174559 h 314965"/>
                  <a:gd name="connsiteX11" fmla="*/ 632 w 165710"/>
                  <a:gd name="connsiteY11" fmla="*/ 173927 h 314965"/>
                  <a:gd name="connsiteX12" fmla="*/ 0 w 165710"/>
                  <a:gd name="connsiteY12" fmla="*/ 193533 h 314965"/>
                  <a:gd name="connsiteX13" fmla="*/ 82852 w 165710"/>
                  <a:gd name="connsiteY13" fmla="*/ 220096 h 314965"/>
                  <a:gd name="connsiteX14" fmla="*/ 149893 w 165710"/>
                  <a:gd name="connsiteY14" fmla="*/ 210609 h 314965"/>
                  <a:gd name="connsiteX15" fmla="*/ 149893 w 165710"/>
                  <a:gd name="connsiteY15" fmla="*/ 240335 h 314965"/>
                  <a:gd name="connsiteX16" fmla="*/ 99296 w 165710"/>
                  <a:gd name="connsiteY16" fmla="*/ 251719 h 314965"/>
                  <a:gd name="connsiteX17" fmla="*/ 99929 w 165710"/>
                  <a:gd name="connsiteY17" fmla="*/ 267531 h 314965"/>
                  <a:gd name="connsiteX18" fmla="*/ 149893 w 165710"/>
                  <a:gd name="connsiteY18" fmla="*/ 258044 h 314965"/>
                  <a:gd name="connsiteX19" fmla="*/ 149893 w 165710"/>
                  <a:gd name="connsiteY19" fmla="*/ 287769 h 314965"/>
                  <a:gd name="connsiteX20" fmla="*/ 99296 w 165710"/>
                  <a:gd name="connsiteY20" fmla="*/ 299154 h 314965"/>
                  <a:gd name="connsiteX21" fmla="*/ 99929 w 165710"/>
                  <a:gd name="connsiteY21" fmla="*/ 314965 h 314965"/>
                  <a:gd name="connsiteX22" fmla="*/ 165705 w 165710"/>
                  <a:gd name="connsiteY22" fmla="*/ 288402 h 314965"/>
                  <a:gd name="connsiteX23" fmla="*/ 165705 w 165710"/>
                  <a:gd name="connsiteY23" fmla="*/ 249822 h 314965"/>
                  <a:gd name="connsiteX24" fmla="*/ 161910 w 165710"/>
                  <a:gd name="connsiteY24" fmla="*/ 249822 h 314965"/>
                  <a:gd name="connsiteX25" fmla="*/ 165705 w 165710"/>
                  <a:gd name="connsiteY25" fmla="*/ 240967 h 314965"/>
                  <a:gd name="connsiteX26" fmla="*/ 165705 w 165710"/>
                  <a:gd name="connsiteY26" fmla="*/ 202387 h 314965"/>
                  <a:gd name="connsiteX27" fmla="*/ 161910 w 165710"/>
                  <a:gd name="connsiteY27" fmla="*/ 202387 h 314965"/>
                  <a:gd name="connsiteX28" fmla="*/ 165705 w 165710"/>
                  <a:gd name="connsiteY28" fmla="*/ 193533 h 314965"/>
                  <a:gd name="connsiteX29" fmla="*/ 165705 w 165710"/>
                  <a:gd name="connsiteY29" fmla="*/ 154953 h 314965"/>
                  <a:gd name="connsiteX30" fmla="*/ 163807 w 165710"/>
                  <a:gd name="connsiteY30" fmla="*/ 154953 h 314965"/>
                  <a:gd name="connsiteX31" fmla="*/ 165705 w 165710"/>
                  <a:gd name="connsiteY31" fmla="*/ 148628 h 314965"/>
                  <a:gd name="connsiteX32" fmla="*/ 94237 w 165710"/>
                  <a:gd name="connsiteY32" fmla="*/ 122065 h 314965"/>
                  <a:gd name="connsiteX33" fmla="*/ 82852 w 165710"/>
                  <a:gd name="connsiteY33" fmla="*/ 159380 h 314965"/>
                  <a:gd name="connsiteX34" fmla="*/ 16444 w 165710"/>
                  <a:gd name="connsiteY34" fmla="*/ 148628 h 314965"/>
                  <a:gd name="connsiteX35" fmla="*/ 82852 w 165710"/>
                  <a:gd name="connsiteY35" fmla="*/ 137876 h 314965"/>
                  <a:gd name="connsiteX36" fmla="*/ 149261 w 165710"/>
                  <a:gd name="connsiteY36" fmla="*/ 148628 h 314965"/>
                  <a:gd name="connsiteX37" fmla="*/ 82852 w 165710"/>
                  <a:gd name="connsiteY37" fmla="*/ 159380 h 31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5710" h="314965">
                    <a:moveTo>
                      <a:pt x="94237" y="122065"/>
                    </a:moveTo>
                    <a:lnTo>
                      <a:pt x="94237" y="0"/>
                    </a:lnTo>
                    <a:lnTo>
                      <a:pt x="78425" y="0"/>
                    </a:lnTo>
                    <a:lnTo>
                      <a:pt x="78425" y="122065"/>
                    </a:lnTo>
                    <a:cubicBezTo>
                      <a:pt x="60084" y="122697"/>
                      <a:pt x="0" y="125227"/>
                      <a:pt x="0" y="148628"/>
                    </a:cubicBezTo>
                    <a:cubicBezTo>
                      <a:pt x="0" y="174559"/>
                      <a:pt x="74630" y="175191"/>
                      <a:pt x="82852" y="175191"/>
                    </a:cubicBezTo>
                    <a:cubicBezTo>
                      <a:pt x="88544" y="175191"/>
                      <a:pt x="127757" y="174559"/>
                      <a:pt x="149893" y="165705"/>
                    </a:cubicBezTo>
                    <a:lnTo>
                      <a:pt x="149893" y="192900"/>
                    </a:lnTo>
                    <a:cubicBezTo>
                      <a:pt x="146098" y="197328"/>
                      <a:pt x="122697" y="204917"/>
                      <a:pt x="82852" y="204917"/>
                    </a:cubicBezTo>
                    <a:cubicBezTo>
                      <a:pt x="42375" y="204917"/>
                      <a:pt x="19606" y="197328"/>
                      <a:pt x="15812" y="192900"/>
                    </a:cubicBezTo>
                    <a:cubicBezTo>
                      <a:pt x="15812" y="187841"/>
                      <a:pt x="16444" y="174559"/>
                      <a:pt x="16444" y="174559"/>
                    </a:cubicBezTo>
                    <a:lnTo>
                      <a:pt x="632" y="173927"/>
                    </a:lnTo>
                    <a:cubicBezTo>
                      <a:pt x="632" y="173927"/>
                      <a:pt x="0" y="188473"/>
                      <a:pt x="0" y="193533"/>
                    </a:cubicBezTo>
                    <a:cubicBezTo>
                      <a:pt x="0" y="219464"/>
                      <a:pt x="74630" y="220096"/>
                      <a:pt x="82852" y="220096"/>
                    </a:cubicBezTo>
                    <a:cubicBezTo>
                      <a:pt x="88544" y="220096"/>
                      <a:pt x="127757" y="219464"/>
                      <a:pt x="149893" y="210609"/>
                    </a:cubicBezTo>
                    <a:lnTo>
                      <a:pt x="149893" y="240335"/>
                    </a:lnTo>
                    <a:cubicBezTo>
                      <a:pt x="146731" y="243497"/>
                      <a:pt x="131552" y="249822"/>
                      <a:pt x="99296" y="251719"/>
                    </a:cubicBezTo>
                    <a:lnTo>
                      <a:pt x="99929" y="267531"/>
                    </a:lnTo>
                    <a:cubicBezTo>
                      <a:pt x="111945" y="266898"/>
                      <a:pt x="134714" y="264368"/>
                      <a:pt x="149893" y="258044"/>
                    </a:cubicBezTo>
                    <a:lnTo>
                      <a:pt x="149893" y="287769"/>
                    </a:lnTo>
                    <a:cubicBezTo>
                      <a:pt x="146731" y="290932"/>
                      <a:pt x="131552" y="297256"/>
                      <a:pt x="99296" y="299154"/>
                    </a:cubicBezTo>
                    <a:lnTo>
                      <a:pt x="99929" y="314965"/>
                    </a:lnTo>
                    <a:cubicBezTo>
                      <a:pt x="119535" y="313700"/>
                      <a:pt x="165705" y="308640"/>
                      <a:pt x="165705" y="288402"/>
                    </a:cubicBezTo>
                    <a:lnTo>
                      <a:pt x="165705" y="249822"/>
                    </a:lnTo>
                    <a:lnTo>
                      <a:pt x="161910" y="249822"/>
                    </a:lnTo>
                    <a:cubicBezTo>
                      <a:pt x="164440" y="247292"/>
                      <a:pt x="165705" y="244130"/>
                      <a:pt x="165705" y="240967"/>
                    </a:cubicBezTo>
                    <a:lnTo>
                      <a:pt x="165705" y="202387"/>
                    </a:lnTo>
                    <a:lnTo>
                      <a:pt x="161910" y="202387"/>
                    </a:lnTo>
                    <a:cubicBezTo>
                      <a:pt x="164440" y="199857"/>
                      <a:pt x="165705" y="196695"/>
                      <a:pt x="165705" y="193533"/>
                    </a:cubicBezTo>
                    <a:lnTo>
                      <a:pt x="165705" y="154953"/>
                    </a:lnTo>
                    <a:lnTo>
                      <a:pt x="163807" y="154953"/>
                    </a:lnTo>
                    <a:cubicBezTo>
                      <a:pt x="165072" y="153055"/>
                      <a:pt x="165705" y="150525"/>
                      <a:pt x="165705" y="148628"/>
                    </a:cubicBezTo>
                    <a:cubicBezTo>
                      <a:pt x="166337" y="127757"/>
                      <a:pt x="117638" y="122697"/>
                      <a:pt x="94237" y="122065"/>
                    </a:cubicBezTo>
                    <a:close/>
                    <a:moveTo>
                      <a:pt x="82852" y="159380"/>
                    </a:moveTo>
                    <a:cubicBezTo>
                      <a:pt x="44905" y="159380"/>
                      <a:pt x="22769" y="152423"/>
                      <a:pt x="16444" y="148628"/>
                    </a:cubicBezTo>
                    <a:cubicBezTo>
                      <a:pt x="22136" y="144201"/>
                      <a:pt x="44905" y="137876"/>
                      <a:pt x="82852" y="137876"/>
                    </a:cubicBezTo>
                    <a:cubicBezTo>
                      <a:pt x="120800" y="137876"/>
                      <a:pt x="142936" y="144833"/>
                      <a:pt x="149261" y="148628"/>
                    </a:cubicBezTo>
                    <a:cubicBezTo>
                      <a:pt x="143568" y="153055"/>
                      <a:pt x="120800" y="159380"/>
                      <a:pt x="82852" y="15938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2" name="Picture Placeholder 76">
                <a:extLst>
                  <a:ext uri="{FF2B5EF4-FFF2-40B4-BE49-F238E27FC236}">
                    <a16:creationId xmlns:a16="http://schemas.microsoft.com/office/drawing/2014/main" id="{D5BAF6F1-A3FD-41CC-8187-4F4E372775AF}"/>
                  </a:ext>
                </a:extLst>
              </p:cNvPr>
              <p:cNvSpPr/>
              <p:nvPr/>
            </p:nvSpPr>
            <p:spPr>
              <a:xfrm>
                <a:off x="3429876" y="5640881"/>
                <a:ext cx="252351" cy="93604"/>
              </a:xfrm>
              <a:custGeom>
                <a:avLst/>
                <a:gdLst>
                  <a:gd name="connsiteX0" fmla="*/ 0 w 252351"/>
                  <a:gd name="connsiteY0" fmla="*/ 93604 h 93604"/>
                  <a:gd name="connsiteX1" fmla="*/ 252352 w 252351"/>
                  <a:gd name="connsiteY1" fmla="*/ 93604 h 93604"/>
                  <a:gd name="connsiteX2" fmla="*/ 252352 w 252351"/>
                  <a:gd name="connsiteY2" fmla="*/ 0 h 93604"/>
                  <a:gd name="connsiteX3" fmla="*/ 0 w 252351"/>
                  <a:gd name="connsiteY3" fmla="*/ 0 h 93604"/>
                  <a:gd name="connsiteX4" fmla="*/ 0 w 252351"/>
                  <a:gd name="connsiteY4" fmla="*/ 93604 h 93604"/>
                  <a:gd name="connsiteX5" fmla="*/ 15812 w 252351"/>
                  <a:gd name="connsiteY5" fmla="*/ 15812 h 93604"/>
                  <a:gd name="connsiteX6" fmla="*/ 236540 w 252351"/>
                  <a:gd name="connsiteY6" fmla="*/ 15812 h 93604"/>
                  <a:gd name="connsiteX7" fmla="*/ 236540 w 252351"/>
                  <a:gd name="connsiteY7" fmla="*/ 77793 h 93604"/>
                  <a:gd name="connsiteX8" fmla="*/ 15812 w 252351"/>
                  <a:gd name="connsiteY8" fmla="*/ 77793 h 93604"/>
                  <a:gd name="connsiteX9" fmla="*/ 15812 w 252351"/>
                  <a:gd name="connsiteY9" fmla="*/ 15812 h 93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351" h="93604">
                    <a:moveTo>
                      <a:pt x="0" y="93604"/>
                    </a:moveTo>
                    <a:lnTo>
                      <a:pt x="252352" y="93604"/>
                    </a:lnTo>
                    <a:lnTo>
                      <a:pt x="252352" y="0"/>
                    </a:lnTo>
                    <a:lnTo>
                      <a:pt x="0" y="0"/>
                    </a:lnTo>
                    <a:lnTo>
                      <a:pt x="0" y="93604"/>
                    </a:lnTo>
                    <a:close/>
                    <a:moveTo>
                      <a:pt x="15812" y="15812"/>
                    </a:moveTo>
                    <a:lnTo>
                      <a:pt x="236540" y="15812"/>
                    </a:lnTo>
                    <a:lnTo>
                      <a:pt x="236540" y="77793"/>
                    </a:lnTo>
                    <a:lnTo>
                      <a:pt x="15812" y="77793"/>
                    </a:lnTo>
                    <a:lnTo>
                      <a:pt x="15812" y="1581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3" name="Picture Placeholder 76">
                <a:extLst>
                  <a:ext uri="{FF2B5EF4-FFF2-40B4-BE49-F238E27FC236}">
                    <a16:creationId xmlns:a16="http://schemas.microsoft.com/office/drawing/2014/main" id="{58644F80-4B77-4894-A3DA-45607155F29D}"/>
                  </a:ext>
                </a:extLst>
              </p:cNvPr>
              <p:cNvSpPr/>
              <p:nvPr/>
            </p:nvSpPr>
            <p:spPr>
              <a:xfrm>
                <a:off x="3607597" y="5669975"/>
                <a:ext cx="36682" cy="36682"/>
              </a:xfrm>
              <a:custGeom>
                <a:avLst/>
                <a:gdLst>
                  <a:gd name="connsiteX0" fmla="*/ 18341 w 36682"/>
                  <a:gd name="connsiteY0" fmla="*/ 0 h 36682"/>
                  <a:gd name="connsiteX1" fmla="*/ 0 w 36682"/>
                  <a:gd name="connsiteY1" fmla="*/ 18341 h 36682"/>
                  <a:gd name="connsiteX2" fmla="*/ 18341 w 36682"/>
                  <a:gd name="connsiteY2" fmla="*/ 36683 h 36682"/>
                  <a:gd name="connsiteX3" fmla="*/ 36683 w 36682"/>
                  <a:gd name="connsiteY3" fmla="*/ 18341 h 36682"/>
                  <a:gd name="connsiteX4" fmla="*/ 18341 w 36682"/>
                  <a:gd name="connsiteY4" fmla="*/ 0 h 36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82" h="36682">
                    <a:moveTo>
                      <a:pt x="18341" y="0"/>
                    </a:moveTo>
                    <a:cubicBezTo>
                      <a:pt x="8222" y="0"/>
                      <a:pt x="0" y="8222"/>
                      <a:pt x="0" y="18341"/>
                    </a:cubicBezTo>
                    <a:cubicBezTo>
                      <a:pt x="0" y="28461"/>
                      <a:pt x="8222" y="36683"/>
                      <a:pt x="18341" y="36683"/>
                    </a:cubicBezTo>
                    <a:cubicBezTo>
                      <a:pt x="28461" y="36683"/>
                      <a:pt x="36683" y="28461"/>
                      <a:pt x="36683" y="18341"/>
                    </a:cubicBezTo>
                    <a:cubicBezTo>
                      <a:pt x="36683" y="8222"/>
                      <a:pt x="27828" y="0"/>
                      <a:pt x="18341"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4" name="Picture Placeholder 76">
                <a:extLst>
                  <a:ext uri="{FF2B5EF4-FFF2-40B4-BE49-F238E27FC236}">
                    <a16:creationId xmlns:a16="http://schemas.microsoft.com/office/drawing/2014/main" id="{4E41626D-CE31-4E2C-B3C8-DD163E4C4D19}"/>
                  </a:ext>
                </a:extLst>
              </p:cNvPr>
              <p:cNvSpPr/>
              <p:nvPr/>
            </p:nvSpPr>
            <p:spPr>
              <a:xfrm>
                <a:off x="3461499" y="5669342"/>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5" name="Picture Placeholder 76">
                <a:extLst>
                  <a:ext uri="{FF2B5EF4-FFF2-40B4-BE49-F238E27FC236}">
                    <a16:creationId xmlns:a16="http://schemas.microsoft.com/office/drawing/2014/main" id="{BEA52E58-B39E-42B4-B1BF-620CBC7A77AC}"/>
                  </a:ext>
                </a:extLst>
              </p:cNvPr>
              <p:cNvSpPr/>
              <p:nvPr/>
            </p:nvSpPr>
            <p:spPr>
              <a:xfrm>
                <a:off x="3486797" y="5669342"/>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6" name="Picture Placeholder 76">
                <a:extLst>
                  <a:ext uri="{FF2B5EF4-FFF2-40B4-BE49-F238E27FC236}">
                    <a16:creationId xmlns:a16="http://schemas.microsoft.com/office/drawing/2014/main" id="{E25EA74E-4E39-4F9D-9FB0-7F57B1C8744A}"/>
                  </a:ext>
                </a:extLst>
              </p:cNvPr>
              <p:cNvSpPr/>
              <p:nvPr/>
            </p:nvSpPr>
            <p:spPr>
              <a:xfrm>
                <a:off x="3512095" y="5669342"/>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7" name="Picture Placeholder 76">
                <a:extLst>
                  <a:ext uri="{FF2B5EF4-FFF2-40B4-BE49-F238E27FC236}">
                    <a16:creationId xmlns:a16="http://schemas.microsoft.com/office/drawing/2014/main" id="{CA7F20F5-6C8A-40C6-A68E-CE3A9F552559}"/>
                  </a:ext>
                </a:extLst>
              </p:cNvPr>
              <p:cNvSpPr/>
              <p:nvPr/>
            </p:nvSpPr>
            <p:spPr>
              <a:xfrm>
                <a:off x="3537394" y="5669342"/>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8" name="Picture Placeholder 76">
                <a:extLst>
                  <a:ext uri="{FF2B5EF4-FFF2-40B4-BE49-F238E27FC236}">
                    <a16:creationId xmlns:a16="http://schemas.microsoft.com/office/drawing/2014/main" id="{7F256F3B-AFE9-4148-B622-9E837A20787F}"/>
                  </a:ext>
                </a:extLst>
              </p:cNvPr>
              <p:cNvSpPr/>
              <p:nvPr/>
            </p:nvSpPr>
            <p:spPr>
              <a:xfrm>
                <a:off x="3562692" y="5669342"/>
                <a:ext cx="7589" cy="36682"/>
              </a:xfrm>
              <a:custGeom>
                <a:avLst/>
                <a:gdLst>
                  <a:gd name="connsiteX0" fmla="*/ 0 w 7589"/>
                  <a:gd name="connsiteY0" fmla="*/ 0 h 36682"/>
                  <a:gd name="connsiteX1" fmla="*/ 7590 w 7589"/>
                  <a:gd name="connsiteY1" fmla="*/ 0 h 36682"/>
                  <a:gd name="connsiteX2" fmla="*/ 7590 w 7589"/>
                  <a:gd name="connsiteY2" fmla="*/ 36683 h 36682"/>
                  <a:gd name="connsiteX3" fmla="*/ 0 w 7589"/>
                  <a:gd name="connsiteY3" fmla="*/ 36683 h 36682"/>
                </a:gdLst>
                <a:ahLst/>
                <a:cxnLst>
                  <a:cxn ang="0">
                    <a:pos x="connsiteX0" y="connsiteY0"/>
                  </a:cxn>
                  <a:cxn ang="0">
                    <a:pos x="connsiteX1" y="connsiteY1"/>
                  </a:cxn>
                  <a:cxn ang="0">
                    <a:pos x="connsiteX2" y="connsiteY2"/>
                  </a:cxn>
                  <a:cxn ang="0">
                    <a:pos x="connsiteX3" y="connsiteY3"/>
                  </a:cxn>
                </a:cxnLst>
                <a:rect l="l" t="t" r="r" b="b"/>
                <a:pathLst>
                  <a:path w="7589" h="36682">
                    <a:moveTo>
                      <a:pt x="0" y="0"/>
                    </a:moveTo>
                    <a:lnTo>
                      <a:pt x="7590" y="0"/>
                    </a:lnTo>
                    <a:lnTo>
                      <a:pt x="7590" y="36683"/>
                    </a:lnTo>
                    <a:lnTo>
                      <a:pt x="0" y="36683"/>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59" name="Picture Placeholder 76">
                <a:extLst>
                  <a:ext uri="{FF2B5EF4-FFF2-40B4-BE49-F238E27FC236}">
                    <a16:creationId xmlns:a16="http://schemas.microsoft.com/office/drawing/2014/main" id="{56A14552-1DB3-4AC7-A9F8-42A584F91F5B}"/>
                  </a:ext>
                </a:extLst>
              </p:cNvPr>
              <p:cNvSpPr/>
              <p:nvPr/>
            </p:nvSpPr>
            <p:spPr>
              <a:xfrm>
                <a:off x="3176259" y="5541585"/>
                <a:ext cx="237804" cy="197327"/>
              </a:xfrm>
              <a:custGeom>
                <a:avLst/>
                <a:gdLst>
                  <a:gd name="connsiteX0" fmla="*/ 172662 w 237804"/>
                  <a:gd name="connsiteY0" fmla="*/ 131552 h 197327"/>
                  <a:gd name="connsiteX1" fmla="*/ 168867 w 237804"/>
                  <a:gd name="connsiteY1" fmla="*/ 131552 h 197327"/>
                  <a:gd name="connsiteX2" fmla="*/ 172662 w 237804"/>
                  <a:gd name="connsiteY2" fmla="*/ 122065 h 197327"/>
                  <a:gd name="connsiteX3" fmla="*/ 172662 w 237804"/>
                  <a:gd name="connsiteY3" fmla="*/ 82852 h 197327"/>
                  <a:gd name="connsiteX4" fmla="*/ 168867 w 237804"/>
                  <a:gd name="connsiteY4" fmla="*/ 82852 h 197327"/>
                  <a:gd name="connsiteX5" fmla="*/ 172662 w 237804"/>
                  <a:gd name="connsiteY5" fmla="*/ 73365 h 197327"/>
                  <a:gd name="connsiteX6" fmla="*/ 172662 w 237804"/>
                  <a:gd name="connsiteY6" fmla="*/ 34153 h 197327"/>
                  <a:gd name="connsiteX7" fmla="*/ 170764 w 237804"/>
                  <a:gd name="connsiteY7" fmla="*/ 34153 h 197327"/>
                  <a:gd name="connsiteX8" fmla="*/ 172662 w 237804"/>
                  <a:gd name="connsiteY8" fmla="*/ 27196 h 197327"/>
                  <a:gd name="connsiteX9" fmla="*/ 86647 w 237804"/>
                  <a:gd name="connsiteY9" fmla="*/ 0 h 197327"/>
                  <a:gd name="connsiteX10" fmla="*/ 632 w 237804"/>
                  <a:gd name="connsiteY10" fmla="*/ 27196 h 197327"/>
                  <a:gd name="connsiteX11" fmla="*/ 86647 w 237804"/>
                  <a:gd name="connsiteY11" fmla="*/ 54392 h 197327"/>
                  <a:gd name="connsiteX12" fmla="*/ 156850 w 237804"/>
                  <a:gd name="connsiteY12" fmla="*/ 44272 h 197327"/>
                  <a:gd name="connsiteX13" fmla="*/ 156850 w 237804"/>
                  <a:gd name="connsiteY13" fmla="*/ 72100 h 197327"/>
                  <a:gd name="connsiteX14" fmla="*/ 86647 w 237804"/>
                  <a:gd name="connsiteY14" fmla="*/ 84117 h 197327"/>
                  <a:gd name="connsiteX15" fmla="*/ 15812 w 237804"/>
                  <a:gd name="connsiteY15" fmla="*/ 71468 h 197327"/>
                  <a:gd name="connsiteX16" fmla="*/ 15812 w 237804"/>
                  <a:gd name="connsiteY16" fmla="*/ 53127 h 197327"/>
                  <a:gd name="connsiteX17" fmla="*/ 0 w 237804"/>
                  <a:gd name="connsiteY17" fmla="*/ 53127 h 197327"/>
                  <a:gd name="connsiteX18" fmla="*/ 0 w 237804"/>
                  <a:gd name="connsiteY18" fmla="*/ 72100 h 197327"/>
                  <a:gd name="connsiteX19" fmla="*/ 86647 w 237804"/>
                  <a:gd name="connsiteY19" fmla="*/ 99296 h 197327"/>
                  <a:gd name="connsiteX20" fmla="*/ 156850 w 237804"/>
                  <a:gd name="connsiteY20" fmla="*/ 89177 h 197327"/>
                  <a:gd name="connsiteX21" fmla="*/ 156850 w 237804"/>
                  <a:gd name="connsiteY21" fmla="*/ 120167 h 197327"/>
                  <a:gd name="connsiteX22" fmla="*/ 86647 w 237804"/>
                  <a:gd name="connsiteY22" fmla="*/ 132184 h 197327"/>
                  <a:gd name="connsiteX23" fmla="*/ 15812 w 237804"/>
                  <a:gd name="connsiteY23" fmla="*/ 119535 h 197327"/>
                  <a:gd name="connsiteX24" fmla="*/ 15812 w 237804"/>
                  <a:gd name="connsiteY24" fmla="*/ 101194 h 197327"/>
                  <a:gd name="connsiteX25" fmla="*/ 0 w 237804"/>
                  <a:gd name="connsiteY25" fmla="*/ 101194 h 197327"/>
                  <a:gd name="connsiteX26" fmla="*/ 0 w 237804"/>
                  <a:gd name="connsiteY26" fmla="*/ 120167 h 197327"/>
                  <a:gd name="connsiteX27" fmla="*/ 86647 w 237804"/>
                  <a:gd name="connsiteY27" fmla="*/ 147363 h 197327"/>
                  <a:gd name="connsiteX28" fmla="*/ 156850 w 237804"/>
                  <a:gd name="connsiteY28" fmla="*/ 137244 h 197327"/>
                  <a:gd name="connsiteX29" fmla="*/ 156850 w 237804"/>
                  <a:gd name="connsiteY29" fmla="*/ 170132 h 197327"/>
                  <a:gd name="connsiteX30" fmla="*/ 86647 w 237804"/>
                  <a:gd name="connsiteY30" fmla="*/ 182149 h 197327"/>
                  <a:gd name="connsiteX31" fmla="*/ 15812 w 237804"/>
                  <a:gd name="connsiteY31" fmla="*/ 169499 h 197327"/>
                  <a:gd name="connsiteX32" fmla="*/ 15812 w 237804"/>
                  <a:gd name="connsiteY32" fmla="*/ 151158 h 197327"/>
                  <a:gd name="connsiteX33" fmla="*/ 0 w 237804"/>
                  <a:gd name="connsiteY33" fmla="*/ 151158 h 197327"/>
                  <a:gd name="connsiteX34" fmla="*/ 0 w 237804"/>
                  <a:gd name="connsiteY34" fmla="*/ 170132 h 197327"/>
                  <a:gd name="connsiteX35" fmla="*/ 86647 w 237804"/>
                  <a:gd name="connsiteY35" fmla="*/ 197328 h 197327"/>
                  <a:gd name="connsiteX36" fmla="*/ 172662 w 237804"/>
                  <a:gd name="connsiteY36" fmla="*/ 170132 h 197327"/>
                  <a:gd name="connsiteX37" fmla="*/ 172662 w 237804"/>
                  <a:gd name="connsiteY37" fmla="*/ 155585 h 197327"/>
                  <a:gd name="connsiteX38" fmla="*/ 237805 w 237804"/>
                  <a:gd name="connsiteY38" fmla="*/ 155585 h 197327"/>
                  <a:gd name="connsiteX39" fmla="*/ 237805 w 237804"/>
                  <a:gd name="connsiteY39" fmla="*/ 139774 h 197327"/>
                  <a:gd name="connsiteX40" fmla="*/ 172662 w 237804"/>
                  <a:gd name="connsiteY40" fmla="*/ 139774 h 197327"/>
                  <a:gd name="connsiteX41" fmla="*/ 172662 w 237804"/>
                  <a:gd name="connsiteY41" fmla="*/ 131552 h 197327"/>
                  <a:gd name="connsiteX42" fmla="*/ 86647 w 237804"/>
                  <a:gd name="connsiteY42" fmla="*/ 39213 h 197327"/>
                  <a:gd name="connsiteX43" fmla="*/ 17709 w 237804"/>
                  <a:gd name="connsiteY43" fmla="*/ 27828 h 197327"/>
                  <a:gd name="connsiteX44" fmla="*/ 86647 w 237804"/>
                  <a:gd name="connsiteY44" fmla="*/ 16444 h 197327"/>
                  <a:gd name="connsiteX45" fmla="*/ 155585 w 237804"/>
                  <a:gd name="connsiteY45" fmla="*/ 27828 h 197327"/>
                  <a:gd name="connsiteX46" fmla="*/ 86647 w 237804"/>
                  <a:gd name="connsiteY46" fmla="*/ 39213 h 19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7804" h="197327">
                    <a:moveTo>
                      <a:pt x="172662" y="131552"/>
                    </a:moveTo>
                    <a:lnTo>
                      <a:pt x="168867" y="131552"/>
                    </a:lnTo>
                    <a:cubicBezTo>
                      <a:pt x="171397" y="129022"/>
                      <a:pt x="172662" y="125860"/>
                      <a:pt x="172662" y="122065"/>
                    </a:cubicBezTo>
                    <a:lnTo>
                      <a:pt x="172662" y="82852"/>
                    </a:lnTo>
                    <a:lnTo>
                      <a:pt x="168867" y="82852"/>
                    </a:lnTo>
                    <a:cubicBezTo>
                      <a:pt x="171397" y="80322"/>
                      <a:pt x="172662" y="77160"/>
                      <a:pt x="172662" y="73365"/>
                    </a:cubicBezTo>
                    <a:lnTo>
                      <a:pt x="172662" y="34153"/>
                    </a:lnTo>
                    <a:lnTo>
                      <a:pt x="170764" y="34153"/>
                    </a:lnTo>
                    <a:cubicBezTo>
                      <a:pt x="172029" y="32255"/>
                      <a:pt x="172662" y="29726"/>
                      <a:pt x="172662" y="27196"/>
                    </a:cubicBezTo>
                    <a:cubicBezTo>
                      <a:pt x="172662" y="632"/>
                      <a:pt x="95501" y="0"/>
                      <a:pt x="86647" y="0"/>
                    </a:cubicBezTo>
                    <a:cubicBezTo>
                      <a:pt x="77793" y="0"/>
                      <a:pt x="632" y="632"/>
                      <a:pt x="632" y="27196"/>
                    </a:cubicBezTo>
                    <a:cubicBezTo>
                      <a:pt x="632" y="53759"/>
                      <a:pt x="77793" y="54392"/>
                      <a:pt x="86647" y="54392"/>
                    </a:cubicBezTo>
                    <a:cubicBezTo>
                      <a:pt x="92972" y="54392"/>
                      <a:pt x="133449" y="53759"/>
                      <a:pt x="156850" y="44272"/>
                    </a:cubicBezTo>
                    <a:lnTo>
                      <a:pt x="156850" y="72100"/>
                    </a:lnTo>
                    <a:cubicBezTo>
                      <a:pt x="153055" y="76528"/>
                      <a:pt x="129022" y="84117"/>
                      <a:pt x="86647" y="84117"/>
                    </a:cubicBezTo>
                    <a:cubicBezTo>
                      <a:pt x="46170" y="84117"/>
                      <a:pt x="20239" y="76528"/>
                      <a:pt x="15812" y="71468"/>
                    </a:cubicBezTo>
                    <a:lnTo>
                      <a:pt x="15812" y="53127"/>
                    </a:lnTo>
                    <a:lnTo>
                      <a:pt x="0" y="53127"/>
                    </a:lnTo>
                    <a:lnTo>
                      <a:pt x="0" y="72100"/>
                    </a:lnTo>
                    <a:cubicBezTo>
                      <a:pt x="0" y="98664"/>
                      <a:pt x="77793" y="99296"/>
                      <a:pt x="86647" y="99296"/>
                    </a:cubicBezTo>
                    <a:cubicBezTo>
                      <a:pt x="92972" y="99296"/>
                      <a:pt x="133449" y="98664"/>
                      <a:pt x="156850" y="89177"/>
                    </a:cubicBezTo>
                    <a:lnTo>
                      <a:pt x="156850" y="120167"/>
                    </a:lnTo>
                    <a:cubicBezTo>
                      <a:pt x="153055" y="124595"/>
                      <a:pt x="129022" y="132184"/>
                      <a:pt x="86647" y="132184"/>
                    </a:cubicBezTo>
                    <a:cubicBezTo>
                      <a:pt x="46170" y="132184"/>
                      <a:pt x="20239" y="124595"/>
                      <a:pt x="15812" y="119535"/>
                    </a:cubicBezTo>
                    <a:lnTo>
                      <a:pt x="15812" y="101194"/>
                    </a:lnTo>
                    <a:lnTo>
                      <a:pt x="0" y="101194"/>
                    </a:lnTo>
                    <a:lnTo>
                      <a:pt x="0" y="120167"/>
                    </a:lnTo>
                    <a:cubicBezTo>
                      <a:pt x="0" y="146731"/>
                      <a:pt x="77793" y="147363"/>
                      <a:pt x="86647" y="147363"/>
                    </a:cubicBezTo>
                    <a:cubicBezTo>
                      <a:pt x="92972" y="147363"/>
                      <a:pt x="133449" y="146731"/>
                      <a:pt x="156850" y="137244"/>
                    </a:cubicBezTo>
                    <a:lnTo>
                      <a:pt x="156850" y="170132"/>
                    </a:lnTo>
                    <a:cubicBezTo>
                      <a:pt x="153055" y="174559"/>
                      <a:pt x="129022" y="182149"/>
                      <a:pt x="86647" y="182149"/>
                    </a:cubicBezTo>
                    <a:cubicBezTo>
                      <a:pt x="46170" y="182149"/>
                      <a:pt x="20239" y="174559"/>
                      <a:pt x="15812" y="169499"/>
                    </a:cubicBezTo>
                    <a:lnTo>
                      <a:pt x="15812" y="151158"/>
                    </a:lnTo>
                    <a:lnTo>
                      <a:pt x="0" y="151158"/>
                    </a:lnTo>
                    <a:lnTo>
                      <a:pt x="0" y="170132"/>
                    </a:lnTo>
                    <a:cubicBezTo>
                      <a:pt x="0" y="196695"/>
                      <a:pt x="77793" y="197328"/>
                      <a:pt x="86647" y="197328"/>
                    </a:cubicBezTo>
                    <a:cubicBezTo>
                      <a:pt x="95501" y="197328"/>
                      <a:pt x="172662" y="196695"/>
                      <a:pt x="172662" y="170132"/>
                    </a:cubicBezTo>
                    <a:lnTo>
                      <a:pt x="172662" y="155585"/>
                    </a:lnTo>
                    <a:lnTo>
                      <a:pt x="237805" y="155585"/>
                    </a:lnTo>
                    <a:lnTo>
                      <a:pt x="237805" y="139774"/>
                    </a:lnTo>
                    <a:lnTo>
                      <a:pt x="172662" y="139774"/>
                    </a:lnTo>
                    <a:lnTo>
                      <a:pt x="172662" y="131552"/>
                    </a:lnTo>
                    <a:close/>
                    <a:moveTo>
                      <a:pt x="86647" y="39213"/>
                    </a:moveTo>
                    <a:cubicBezTo>
                      <a:pt x="46802" y="39213"/>
                      <a:pt x="23401" y="32255"/>
                      <a:pt x="17709" y="27828"/>
                    </a:cubicBezTo>
                    <a:cubicBezTo>
                      <a:pt x="23401" y="23401"/>
                      <a:pt x="47435" y="16444"/>
                      <a:pt x="86647" y="16444"/>
                    </a:cubicBezTo>
                    <a:cubicBezTo>
                      <a:pt x="125860" y="16444"/>
                      <a:pt x="149893" y="23401"/>
                      <a:pt x="155585" y="27828"/>
                    </a:cubicBezTo>
                    <a:cubicBezTo>
                      <a:pt x="149893" y="32255"/>
                      <a:pt x="126492" y="39213"/>
                      <a:pt x="86647" y="3921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0" name="Picture Placeholder 76">
                <a:extLst>
                  <a:ext uri="{FF2B5EF4-FFF2-40B4-BE49-F238E27FC236}">
                    <a16:creationId xmlns:a16="http://schemas.microsoft.com/office/drawing/2014/main" id="{DBC73C7B-CB28-4998-8EC2-EB26B04FF6AE}"/>
                  </a:ext>
                </a:extLst>
              </p:cNvPr>
              <p:cNvSpPr/>
              <p:nvPr/>
            </p:nvSpPr>
            <p:spPr>
              <a:xfrm>
                <a:off x="3494387" y="5196894"/>
                <a:ext cx="266898" cy="197327"/>
              </a:xfrm>
              <a:custGeom>
                <a:avLst/>
                <a:gdLst>
                  <a:gd name="connsiteX0" fmla="*/ 266898 w 266898"/>
                  <a:gd name="connsiteY0" fmla="*/ 27196 h 197327"/>
                  <a:gd name="connsiteX1" fmla="*/ 180884 w 266898"/>
                  <a:gd name="connsiteY1" fmla="*/ 0 h 197327"/>
                  <a:gd name="connsiteX2" fmla="*/ 94869 w 266898"/>
                  <a:gd name="connsiteY2" fmla="*/ 27196 h 197327"/>
                  <a:gd name="connsiteX3" fmla="*/ 180884 w 266898"/>
                  <a:gd name="connsiteY3" fmla="*/ 54392 h 197327"/>
                  <a:gd name="connsiteX4" fmla="*/ 251087 w 266898"/>
                  <a:gd name="connsiteY4" fmla="*/ 44272 h 197327"/>
                  <a:gd name="connsiteX5" fmla="*/ 251087 w 266898"/>
                  <a:gd name="connsiteY5" fmla="*/ 72100 h 197327"/>
                  <a:gd name="connsiteX6" fmla="*/ 180884 w 266898"/>
                  <a:gd name="connsiteY6" fmla="*/ 84117 h 197327"/>
                  <a:gd name="connsiteX7" fmla="*/ 110680 w 266898"/>
                  <a:gd name="connsiteY7" fmla="*/ 72100 h 197327"/>
                  <a:gd name="connsiteX8" fmla="*/ 110680 w 266898"/>
                  <a:gd name="connsiteY8" fmla="*/ 53759 h 197327"/>
                  <a:gd name="connsiteX9" fmla="*/ 94869 w 266898"/>
                  <a:gd name="connsiteY9" fmla="*/ 53759 h 197327"/>
                  <a:gd name="connsiteX10" fmla="*/ 94869 w 266898"/>
                  <a:gd name="connsiteY10" fmla="*/ 72733 h 197327"/>
                  <a:gd name="connsiteX11" fmla="*/ 180884 w 266898"/>
                  <a:gd name="connsiteY11" fmla="*/ 99929 h 197327"/>
                  <a:gd name="connsiteX12" fmla="*/ 251087 w 266898"/>
                  <a:gd name="connsiteY12" fmla="*/ 89809 h 197327"/>
                  <a:gd name="connsiteX13" fmla="*/ 251087 w 266898"/>
                  <a:gd name="connsiteY13" fmla="*/ 120800 h 197327"/>
                  <a:gd name="connsiteX14" fmla="*/ 180884 w 266898"/>
                  <a:gd name="connsiteY14" fmla="*/ 132817 h 197327"/>
                  <a:gd name="connsiteX15" fmla="*/ 110680 w 266898"/>
                  <a:gd name="connsiteY15" fmla="*/ 120800 h 197327"/>
                  <a:gd name="connsiteX16" fmla="*/ 110680 w 266898"/>
                  <a:gd name="connsiteY16" fmla="*/ 101826 h 197327"/>
                  <a:gd name="connsiteX17" fmla="*/ 94869 w 266898"/>
                  <a:gd name="connsiteY17" fmla="*/ 101826 h 197327"/>
                  <a:gd name="connsiteX18" fmla="*/ 94869 w 266898"/>
                  <a:gd name="connsiteY18" fmla="*/ 121432 h 197327"/>
                  <a:gd name="connsiteX19" fmla="*/ 180884 w 266898"/>
                  <a:gd name="connsiteY19" fmla="*/ 148628 h 197327"/>
                  <a:gd name="connsiteX20" fmla="*/ 251087 w 266898"/>
                  <a:gd name="connsiteY20" fmla="*/ 138509 h 197327"/>
                  <a:gd name="connsiteX21" fmla="*/ 251087 w 266898"/>
                  <a:gd name="connsiteY21" fmla="*/ 169499 h 197327"/>
                  <a:gd name="connsiteX22" fmla="*/ 180884 w 266898"/>
                  <a:gd name="connsiteY22" fmla="*/ 181516 h 197327"/>
                  <a:gd name="connsiteX23" fmla="*/ 110680 w 266898"/>
                  <a:gd name="connsiteY23" fmla="*/ 169499 h 197327"/>
                  <a:gd name="connsiteX24" fmla="*/ 110680 w 266898"/>
                  <a:gd name="connsiteY24" fmla="*/ 149893 h 197327"/>
                  <a:gd name="connsiteX25" fmla="*/ 104356 w 266898"/>
                  <a:gd name="connsiteY25" fmla="*/ 149893 h 197327"/>
                  <a:gd name="connsiteX26" fmla="*/ 104356 w 266898"/>
                  <a:gd name="connsiteY26" fmla="*/ 149893 h 197327"/>
                  <a:gd name="connsiteX27" fmla="*/ 0 w 266898"/>
                  <a:gd name="connsiteY27" fmla="*/ 149893 h 197327"/>
                  <a:gd name="connsiteX28" fmla="*/ 0 w 266898"/>
                  <a:gd name="connsiteY28" fmla="*/ 165705 h 197327"/>
                  <a:gd name="connsiteX29" fmla="*/ 94869 w 266898"/>
                  <a:gd name="connsiteY29" fmla="*/ 165705 h 197327"/>
                  <a:gd name="connsiteX30" fmla="*/ 94869 w 266898"/>
                  <a:gd name="connsiteY30" fmla="*/ 170132 h 197327"/>
                  <a:gd name="connsiteX31" fmla="*/ 180884 w 266898"/>
                  <a:gd name="connsiteY31" fmla="*/ 197328 h 197327"/>
                  <a:gd name="connsiteX32" fmla="*/ 266898 w 266898"/>
                  <a:gd name="connsiteY32" fmla="*/ 170132 h 197327"/>
                  <a:gd name="connsiteX33" fmla="*/ 266898 w 266898"/>
                  <a:gd name="connsiteY33" fmla="*/ 130919 h 197327"/>
                  <a:gd name="connsiteX34" fmla="*/ 263103 w 266898"/>
                  <a:gd name="connsiteY34" fmla="*/ 130919 h 197327"/>
                  <a:gd name="connsiteX35" fmla="*/ 266898 w 266898"/>
                  <a:gd name="connsiteY35" fmla="*/ 121432 h 197327"/>
                  <a:gd name="connsiteX36" fmla="*/ 266898 w 266898"/>
                  <a:gd name="connsiteY36" fmla="*/ 82220 h 197327"/>
                  <a:gd name="connsiteX37" fmla="*/ 263103 w 266898"/>
                  <a:gd name="connsiteY37" fmla="*/ 82220 h 197327"/>
                  <a:gd name="connsiteX38" fmla="*/ 266898 w 266898"/>
                  <a:gd name="connsiteY38" fmla="*/ 72733 h 197327"/>
                  <a:gd name="connsiteX39" fmla="*/ 266898 w 266898"/>
                  <a:gd name="connsiteY39" fmla="*/ 34153 h 197327"/>
                  <a:gd name="connsiteX40" fmla="*/ 265001 w 266898"/>
                  <a:gd name="connsiteY40" fmla="*/ 34153 h 197327"/>
                  <a:gd name="connsiteX41" fmla="*/ 266898 w 266898"/>
                  <a:gd name="connsiteY41" fmla="*/ 27196 h 197327"/>
                  <a:gd name="connsiteX42" fmla="*/ 180884 w 266898"/>
                  <a:gd name="connsiteY42" fmla="*/ 39213 h 197327"/>
                  <a:gd name="connsiteX43" fmla="*/ 111945 w 266898"/>
                  <a:gd name="connsiteY43" fmla="*/ 27828 h 197327"/>
                  <a:gd name="connsiteX44" fmla="*/ 180884 w 266898"/>
                  <a:gd name="connsiteY44" fmla="*/ 16444 h 197327"/>
                  <a:gd name="connsiteX45" fmla="*/ 249822 w 266898"/>
                  <a:gd name="connsiteY45" fmla="*/ 27828 h 197327"/>
                  <a:gd name="connsiteX46" fmla="*/ 180884 w 266898"/>
                  <a:gd name="connsiteY46" fmla="*/ 39213 h 19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66898" h="197327">
                    <a:moveTo>
                      <a:pt x="266898" y="27196"/>
                    </a:moveTo>
                    <a:cubicBezTo>
                      <a:pt x="266898" y="632"/>
                      <a:pt x="189738" y="0"/>
                      <a:pt x="180884" y="0"/>
                    </a:cubicBezTo>
                    <a:cubicBezTo>
                      <a:pt x="172029" y="0"/>
                      <a:pt x="94869" y="632"/>
                      <a:pt x="94869" y="27196"/>
                    </a:cubicBezTo>
                    <a:cubicBezTo>
                      <a:pt x="94869" y="53759"/>
                      <a:pt x="172029" y="54392"/>
                      <a:pt x="180884" y="54392"/>
                    </a:cubicBezTo>
                    <a:cubicBezTo>
                      <a:pt x="187208" y="54392"/>
                      <a:pt x="227686" y="53759"/>
                      <a:pt x="251087" y="44272"/>
                    </a:cubicBezTo>
                    <a:lnTo>
                      <a:pt x="251087" y="72100"/>
                    </a:lnTo>
                    <a:cubicBezTo>
                      <a:pt x="247292" y="76528"/>
                      <a:pt x="223258" y="84117"/>
                      <a:pt x="180884" y="84117"/>
                    </a:cubicBezTo>
                    <a:cubicBezTo>
                      <a:pt x="138509" y="84117"/>
                      <a:pt x="114475" y="75895"/>
                      <a:pt x="110680" y="72100"/>
                    </a:cubicBezTo>
                    <a:cubicBezTo>
                      <a:pt x="110680" y="66408"/>
                      <a:pt x="110680" y="53759"/>
                      <a:pt x="110680" y="53759"/>
                    </a:cubicBezTo>
                    <a:lnTo>
                      <a:pt x="94869" y="53759"/>
                    </a:lnTo>
                    <a:cubicBezTo>
                      <a:pt x="94869" y="53759"/>
                      <a:pt x="94869" y="68306"/>
                      <a:pt x="94869" y="72733"/>
                    </a:cubicBezTo>
                    <a:cubicBezTo>
                      <a:pt x="94869" y="99296"/>
                      <a:pt x="172029" y="99929"/>
                      <a:pt x="180884" y="99929"/>
                    </a:cubicBezTo>
                    <a:cubicBezTo>
                      <a:pt x="187208" y="99929"/>
                      <a:pt x="227686" y="99296"/>
                      <a:pt x="251087" y="89809"/>
                    </a:cubicBezTo>
                    <a:lnTo>
                      <a:pt x="251087" y="120800"/>
                    </a:lnTo>
                    <a:cubicBezTo>
                      <a:pt x="247292" y="125227"/>
                      <a:pt x="223258" y="132817"/>
                      <a:pt x="180884" y="132817"/>
                    </a:cubicBezTo>
                    <a:cubicBezTo>
                      <a:pt x="138509" y="132817"/>
                      <a:pt x="114475" y="124595"/>
                      <a:pt x="110680" y="120800"/>
                    </a:cubicBezTo>
                    <a:cubicBezTo>
                      <a:pt x="110680" y="115108"/>
                      <a:pt x="110680" y="101826"/>
                      <a:pt x="110680" y="101826"/>
                    </a:cubicBezTo>
                    <a:lnTo>
                      <a:pt x="94869" y="101826"/>
                    </a:lnTo>
                    <a:cubicBezTo>
                      <a:pt x="94869" y="101826"/>
                      <a:pt x="94869" y="116373"/>
                      <a:pt x="94869" y="121432"/>
                    </a:cubicBezTo>
                    <a:cubicBezTo>
                      <a:pt x="94869" y="147996"/>
                      <a:pt x="172029" y="148628"/>
                      <a:pt x="180884" y="148628"/>
                    </a:cubicBezTo>
                    <a:cubicBezTo>
                      <a:pt x="187208" y="148628"/>
                      <a:pt x="227686" y="147996"/>
                      <a:pt x="251087" y="138509"/>
                    </a:cubicBezTo>
                    <a:lnTo>
                      <a:pt x="251087" y="169499"/>
                    </a:lnTo>
                    <a:cubicBezTo>
                      <a:pt x="247292" y="173926"/>
                      <a:pt x="223258" y="181516"/>
                      <a:pt x="180884" y="181516"/>
                    </a:cubicBezTo>
                    <a:cubicBezTo>
                      <a:pt x="138509" y="181516"/>
                      <a:pt x="114475" y="173294"/>
                      <a:pt x="110680" y="169499"/>
                    </a:cubicBezTo>
                    <a:cubicBezTo>
                      <a:pt x="110680" y="163807"/>
                      <a:pt x="110680" y="149893"/>
                      <a:pt x="110680" y="149893"/>
                    </a:cubicBezTo>
                    <a:lnTo>
                      <a:pt x="104356" y="149893"/>
                    </a:lnTo>
                    <a:lnTo>
                      <a:pt x="104356" y="149893"/>
                    </a:lnTo>
                    <a:lnTo>
                      <a:pt x="0" y="149893"/>
                    </a:lnTo>
                    <a:lnTo>
                      <a:pt x="0" y="165705"/>
                    </a:lnTo>
                    <a:lnTo>
                      <a:pt x="94869" y="165705"/>
                    </a:lnTo>
                    <a:cubicBezTo>
                      <a:pt x="94869" y="167602"/>
                      <a:pt x="94869" y="169499"/>
                      <a:pt x="94869" y="170132"/>
                    </a:cubicBezTo>
                    <a:cubicBezTo>
                      <a:pt x="94869" y="196695"/>
                      <a:pt x="172029" y="197328"/>
                      <a:pt x="180884" y="197328"/>
                    </a:cubicBezTo>
                    <a:cubicBezTo>
                      <a:pt x="189738" y="197328"/>
                      <a:pt x="266898" y="196695"/>
                      <a:pt x="266898" y="170132"/>
                    </a:cubicBezTo>
                    <a:lnTo>
                      <a:pt x="266898" y="130919"/>
                    </a:lnTo>
                    <a:lnTo>
                      <a:pt x="263103" y="130919"/>
                    </a:lnTo>
                    <a:cubicBezTo>
                      <a:pt x="265633" y="128389"/>
                      <a:pt x="266898" y="125227"/>
                      <a:pt x="266898" y="121432"/>
                    </a:cubicBezTo>
                    <a:lnTo>
                      <a:pt x="266898" y="82220"/>
                    </a:lnTo>
                    <a:lnTo>
                      <a:pt x="263103" y="82220"/>
                    </a:lnTo>
                    <a:cubicBezTo>
                      <a:pt x="265633" y="79690"/>
                      <a:pt x="266898" y="76528"/>
                      <a:pt x="266898" y="72733"/>
                    </a:cubicBezTo>
                    <a:lnTo>
                      <a:pt x="266898" y="34153"/>
                    </a:lnTo>
                    <a:lnTo>
                      <a:pt x="265001" y="34153"/>
                    </a:lnTo>
                    <a:cubicBezTo>
                      <a:pt x="266266" y="32255"/>
                      <a:pt x="266898" y="29726"/>
                      <a:pt x="266898" y="27196"/>
                    </a:cubicBezTo>
                    <a:close/>
                    <a:moveTo>
                      <a:pt x="180884" y="39213"/>
                    </a:moveTo>
                    <a:cubicBezTo>
                      <a:pt x="141039" y="39213"/>
                      <a:pt x="117638" y="32255"/>
                      <a:pt x="111945" y="27828"/>
                    </a:cubicBezTo>
                    <a:cubicBezTo>
                      <a:pt x="117638" y="23401"/>
                      <a:pt x="141671" y="16444"/>
                      <a:pt x="180884" y="16444"/>
                    </a:cubicBezTo>
                    <a:cubicBezTo>
                      <a:pt x="220096" y="16444"/>
                      <a:pt x="244130" y="23401"/>
                      <a:pt x="249822" y="27828"/>
                    </a:cubicBezTo>
                    <a:cubicBezTo>
                      <a:pt x="244130" y="32255"/>
                      <a:pt x="220096" y="39213"/>
                      <a:pt x="180884" y="39213"/>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1" name="Picture Placeholder 76">
                <a:extLst>
                  <a:ext uri="{FF2B5EF4-FFF2-40B4-BE49-F238E27FC236}">
                    <a16:creationId xmlns:a16="http://schemas.microsoft.com/office/drawing/2014/main" id="{DD3F98A5-A746-48CF-8156-3145B1458D6E}"/>
                  </a:ext>
                </a:extLst>
              </p:cNvPr>
              <p:cNvSpPr/>
              <p:nvPr/>
            </p:nvSpPr>
            <p:spPr>
              <a:xfrm>
                <a:off x="3229386" y="5312002"/>
                <a:ext cx="252984" cy="216933"/>
              </a:xfrm>
              <a:custGeom>
                <a:avLst/>
                <a:gdLst>
                  <a:gd name="connsiteX0" fmla="*/ 40477 w 252984"/>
                  <a:gd name="connsiteY0" fmla="*/ 216934 h 216933"/>
                  <a:gd name="connsiteX1" fmla="*/ 40477 w 252984"/>
                  <a:gd name="connsiteY1" fmla="*/ 93604 h 216933"/>
                  <a:gd name="connsiteX2" fmla="*/ 252984 w 252984"/>
                  <a:gd name="connsiteY2" fmla="*/ 93604 h 216933"/>
                  <a:gd name="connsiteX3" fmla="*/ 252984 w 252984"/>
                  <a:gd name="connsiteY3" fmla="*/ 0 h 216933"/>
                  <a:gd name="connsiteX4" fmla="*/ 0 w 252984"/>
                  <a:gd name="connsiteY4" fmla="*/ 0 h 216933"/>
                  <a:gd name="connsiteX5" fmla="*/ 0 w 252984"/>
                  <a:gd name="connsiteY5" fmla="*/ 93604 h 216933"/>
                  <a:gd name="connsiteX6" fmla="*/ 24033 w 252984"/>
                  <a:gd name="connsiteY6" fmla="*/ 93604 h 216933"/>
                  <a:gd name="connsiteX7" fmla="*/ 24033 w 252984"/>
                  <a:gd name="connsiteY7" fmla="*/ 216934 h 216933"/>
                  <a:gd name="connsiteX8" fmla="*/ 40477 w 252984"/>
                  <a:gd name="connsiteY8" fmla="*/ 216934 h 216933"/>
                  <a:gd name="connsiteX9" fmla="*/ 15812 w 252984"/>
                  <a:gd name="connsiteY9" fmla="*/ 15812 h 216933"/>
                  <a:gd name="connsiteX10" fmla="*/ 236540 w 252984"/>
                  <a:gd name="connsiteY10" fmla="*/ 15812 h 216933"/>
                  <a:gd name="connsiteX11" fmla="*/ 236540 w 252984"/>
                  <a:gd name="connsiteY11" fmla="*/ 77793 h 216933"/>
                  <a:gd name="connsiteX12" fmla="*/ 15812 w 252984"/>
                  <a:gd name="connsiteY12" fmla="*/ 77793 h 216933"/>
                  <a:gd name="connsiteX13" fmla="*/ 15812 w 252984"/>
                  <a:gd name="connsiteY13" fmla="*/ 15812 h 21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984" h="216933">
                    <a:moveTo>
                      <a:pt x="40477" y="216934"/>
                    </a:moveTo>
                    <a:lnTo>
                      <a:pt x="40477" y="93604"/>
                    </a:lnTo>
                    <a:lnTo>
                      <a:pt x="252984" y="93604"/>
                    </a:lnTo>
                    <a:lnTo>
                      <a:pt x="252984" y="0"/>
                    </a:lnTo>
                    <a:lnTo>
                      <a:pt x="0" y="0"/>
                    </a:lnTo>
                    <a:lnTo>
                      <a:pt x="0" y="93604"/>
                    </a:lnTo>
                    <a:lnTo>
                      <a:pt x="24033" y="93604"/>
                    </a:lnTo>
                    <a:lnTo>
                      <a:pt x="24033" y="216934"/>
                    </a:lnTo>
                    <a:lnTo>
                      <a:pt x="40477" y="216934"/>
                    </a:lnTo>
                    <a:close/>
                    <a:moveTo>
                      <a:pt x="15812" y="15812"/>
                    </a:moveTo>
                    <a:lnTo>
                      <a:pt x="236540" y="15812"/>
                    </a:lnTo>
                    <a:lnTo>
                      <a:pt x="236540" y="77793"/>
                    </a:lnTo>
                    <a:lnTo>
                      <a:pt x="15812" y="77793"/>
                    </a:lnTo>
                    <a:lnTo>
                      <a:pt x="15812" y="1581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17" name="Group 16">
            <a:extLst>
              <a:ext uri="{FF2B5EF4-FFF2-40B4-BE49-F238E27FC236}">
                <a16:creationId xmlns:a16="http://schemas.microsoft.com/office/drawing/2014/main" id="{D69B5998-AB5B-47EE-B6B9-3C61259178C8}"/>
              </a:ext>
            </a:extLst>
          </p:cNvPr>
          <p:cNvGrpSpPr/>
          <p:nvPr/>
        </p:nvGrpSpPr>
        <p:grpSpPr>
          <a:xfrm>
            <a:off x="7092013" y="1266557"/>
            <a:ext cx="758008" cy="1317802"/>
            <a:chOff x="7319291" y="1436575"/>
            <a:chExt cx="758008" cy="1317802"/>
          </a:xfrm>
        </p:grpSpPr>
        <p:cxnSp>
          <p:nvCxnSpPr>
            <p:cNvPr id="135" name="Straight Connector 134">
              <a:extLst>
                <a:ext uri="{FF2B5EF4-FFF2-40B4-BE49-F238E27FC236}">
                  <a16:creationId xmlns:a16="http://schemas.microsoft.com/office/drawing/2014/main" id="{CFF84FC6-FB70-4FAB-BE81-A6F5FF9A7353}"/>
                </a:ext>
              </a:extLst>
            </p:cNvPr>
            <p:cNvCxnSpPr>
              <a:cxnSpLocks/>
            </p:cNvCxnSpPr>
            <p:nvPr/>
          </p:nvCxnSpPr>
          <p:spPr bwMode="gray">
            <a:xfrm flipV="1">
              <a:off x="7698292" y="2388712"/>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36" name="Oval 135">
              <a:extLst>
                <a:ext uri="{FF2B5EF4-FFF2-40B4-BE49-F238E27FC236}">
                  <a16:creationId xmlns:a16="http://schemas.microsoft.com/office/drawing/2014/main" id="{A550CAE0-7E36-494C-9E65-297FCB693FD1}"/>
                </a:ext>
              </a:extLst>
            </p:cNvPr>
            <p:cNvSpPr/>
            <p:nvPr/>
          </p:nvSpPr>
          <p:spPr>
            <a:xfrm>
              <a:off x="7458232"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37" name="Rounded Rectangle 37">
              <a:extLst>
                <a:ext uri="{FF2B5EF4-FFF2-40B4-BE49-F238E27FC236}">
                  <a16:creationId xmlns:a16="http://schemas.microsoft.com/office/drawing/2014/main" id="{6333FD56-40A0-41E0-A6A5-446A721B51A5}"/>
                </a:ext>
              </a:extLst>
            </p:cNvPr>
            <p:cNvSpPr/>
            <p:nvPr/>
          </p:nvSpPr>
          <p:spPr>
            <a:xfrm>
              <a:off x="7319291" y="143657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Workload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Mobility</a:t>
              </a:r>
            </a:p>
          </p:txBody>
        </p:sp>
        <p:grpSp>
          <p:nvGrpSpPr>
            <p:cNvPr id="413" name="Group 412" descr="Multiple apps&#10;">
              <a:extLst>
                <a:ext uri="{FF2B5EF4-FFF2-40B4-BE49-F238E27FC236}">
                  <a16:creationId xmlns:a16="http://schemas.microsoft.com/office/drawing/2014/main" id="{186C8234-8A3C-4160-B5C6-CFDCD9649E0B}"/>
                </a:ext>
              </a:extLst>
            </p:cNvPr>
            <p:cNvGrpSpPr>
              <a:grpSpLocks noChangeAspect="1"/>
            </p:cNvGrpSpPr>
            <p:nvPr/>
          </p:nvGrpSpPr>
          <p:grpSpPr>
            <a:xfrm>
              <a:off x="7561230" y="2002791"/>
              <a:ext cx="274320" cy="271874"/>
              <a:chOff x="5805990" y="720881"/>
              <a:chExt cx="597274" cy="591950"/>
            </a:xfrm>
            <a:solidFill>
              <a:schemeClr val="tx1"/>
            </a:solidFill>
          </p:grpSpPr>
          <p:sp>
            <p:nvSpPr>
              <p:cNvPr id="414" name="Picture Placeholder 78">
                <a:extLst>
                  <a:ext uri="{FF2B5EF4-FFF2-40B4-BE49-F238E27FC236}">
                    <a16:creationId xmlns:a16="http://schemas.microsoft.com/office/drawing/2014/main" id="{DE97760C-C048-4FC2-B3A9-7CDBA9196765}"/>
                  </a:ext>
                </a:extLst>
              </p:cNvPr>
              <p:cNvSpPr/>
              <p:nvPr/>
            </p:nvSpPr>
            <p:spPr>
              <a:xfrm>
                <a:off x="5906361" y="1003801"/>
                <a:ext cx="96132" cy="95827"/>
              </a:xfrm>
              <a:custGeom>
                <a:avLst/>
                <a:gdLst>
                  <a:gd name="connsiteX0" fmla="*/ 75010 w 96133"/>
                  <a:gd name="connsiteY0" fmla="*/ 74089 h 95827"/>
                  <a:gd name="connsiteX1" fmla="*/ 21440 w 96133"/>
                  <a:gd name="connsiteY1" fmla="*/ 74089 h 95827"/>
                  <a:gd name="connsiteX2" fmla="*/ 11764 w 96133"/>
                  <a:gd name="connsiteY2" fmla="*/ 95827 h 95827"/>
                  <a:gd name="connsiteX3" fmla="*/ 0 w 96133"/>
                  <a:gd name="connsiteY3" fmla="*/ 95827 h 95827"/>
                  <a:gd name="connsiteX4" fmla="*/ 42122 w 96133"/>
                  <a:gd name="connsiteY4" fmla="*/ 0 h 95827"/>
                  <a:gd name="connsiteX5" fmla="*/ 54012 w 96133"/>
                  <a:gd name="connsiteY5" fmla="*/ 0 h 95827"/>
                  <a:gd name="connsiteX6" fmla="*/ 96134 w 96133"/>
                  <a:gd name="connsiteY6" fmla="*/ 95827 h 95827"/>
                  <a:gd name="connsiteX7" fmla="*/ 84307 w 96133"/>
                  <a:gd name="connsiteY7" fmla="*/ 95827 h 95827"/>
                  <a:gd name="connsiteX8" fmla="*/ 70583 w 96133"/>
                  <a:gd name="connsiteY8" fmla="*/ 63758 h 95827"/>
                  <a:gd name="connsiteX9" fmla="*/ 48446 w 96133"/>
                  <a:gd name="connsiteY9" fmla="*/ 13056 h 95827"/>
                  <a:gd name="connsiteX10" fmla="*/ 26184 w 96133"/>
                  <a:gd name="connsiteY10" fmla="*/ 63758 h 9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133" h="95827">
                    <a:moveTo>
                      <a:pt x="75010" y="74089"/>
                    </a:moveTo>
                    <a:lnTo>
                      <a:pt x="21440" y="74089"/>
                    </a:lnTo>
                    <a:lnTo>
                      <a:pt x="11764" y="95827"/>
                    </a:lnTo>
                    <a:lnTo>
                      <a:pt x="0" y="95827"/>
                    </a:lnTo>
                    <a:lnTo>
                      <a:pt x="42122" y="0"/>
                    </a:lnTo>
                    <a:lnTo>
                      <a:pt x="54012" y="0"/>
                    </a:lnTo>
                    <a:lnTo>
                      <a:pt x="96134" y="95827"/>
                    </a:lnTo>
                    <a:lnTo>
                      <a:pt x="84307" y="95827"/>
                    </a:lnTo>
                    <a:close/>
                    <a:moveTo>
                      <a:pt x="70583" y="63758"/>
                    </a:moveTo>
                    <a:lnTo>
                      <a:pt x="48446" y="13056"/>
                    </a:lnTo>
                    <a:lnTo>
                      <a:pt x="26184" y="6375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5" name="Picture Placeholder 78">
                <a:extLst>
                  <a:ext uri="{FF2B5EF4-FFF2-40B4-BE49-F238E27FC236}">
                    <a16:creationId xmlns:a16="http://schemas.microsoft.com/office/drawing/2014/main" id="{D72466C5-4A26-46F1-9744-91BB5A88BFEC}"/>
                  </a:ext>
                </a:extLst>
              </p:cNvPr>
              <p:cNvSpPr/>
              <p:nvPr/>
            </p:nvSpPr>
            <p:spPr>
              <a:xfrm>
                <a:off x="6022102" y="1003801"/>
                <a:ext cx="74061" cy="95890"/>
              </a:xfrm>
              <a:custGeom>
                <a:avLst/>
                <a:gdLst>
                  <a:gd name="connsiteX0" fmla="*/ 0 w 74061"/>
                  <a:gd name="connsiteY0" fmla="*/ 0 h 95890"/>
                  <a:gd name="connsiteX1" fmla="*/ 38833 w 74061"/>
                  <a:gd name="connsiteY1" fmla="*/ 0 h 95890"/>
                  <a:gd name="connsiteX2" fmla="*/ 74061 w 74061"/>
                  <a:gd name="connsiteY2" fmla="*/ 30675 h 95890"/>
                  <a:gd name="connsiteX3" fmla="*/ 38833 w 74061"/>
                  <a:gd name="connsiteY3" fmla="*/ 61413 h 95890"/>
                  <a:gd name="connsiteX4" fmla="*/ 10878 w 74061"/>
                  <a:gd name="connsiteY4" fmla="*/ 61413 h 95890"/>
                  <a:gd name="connsiteX5" fmla="*/ 10878 w 74061"/>
                  <a:gd name="connsiteY5" fmla="*/ 95891 h 95890"/>
                  <a:gd name="connsiteX6" fmla="*/ 0 w 74061"/>
                  <a:gd name="connsiteY6" fmla="*/ 95891 h 95890"/>
                  <a:gd name="connsiteX7" fmla="*/ 36872 w 74061"/>
                  <a:gd name="connsiteY7" fmla="*/ 50702 h 95890"/>
                  <a:gd name="connsiteX8" fmla="*/ 63056 w 74061"/>
                  <a:gd name="connsiteY8" fmla="*/ 30358 h 95890"/>
                  <a:gd name="connsiteX9" fmla="*/ 36872 w 74061"/>
                  <a:gd name="connsiteY9" fmla="*/ 10014 h 95890"/>
                  <a:gd name="connsiteX10" fmla="*/ 10878 w 74061"/>
                  <a:gd name="connsiteY10" fmla="*/ 10014 h 95890"/>
                  <a:gd name="connsiteX11" fmla="*/ 10878 w 74061"/>
                  <a:gd name="connsiteY11" fmla="*/ 50702 h 9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061" h="95890">
                    <a:moveTo>
                      <a:pt x="0" y="0"/>
                    </a:moveTo>
                    <a:lnTo>
                      <a:pt x="38833" y="0"/>
                    </a:lnTo>
                    <a:cubicBezTo>
                      <a:pt x="58629" y="0"/>
                      <a:pt x="74061" y="12676"/>
                      <a:pt x="74061" y="30675"/>
                    </a:cubicBezTo>
                    <a:cubicBezTo>
                      <a:pt x="74061" y="48674"/>
                      <a:pt x="58629" y="61413"/>
                      <a:pt x="38833" y="61413"/>
                    </a:cubicBezTo>
                    <a:lnTo>
                      <a:pt x="10878" y="61413"/>
                    </a:lnTo>
                    <a:lnTo>
                      <a:pt x="10878" y="95891"/>
                    </a:lnTo>
                    <a:lnTo>
                      <a:pt x="0" y="95891"/>
                    </a:lnTo>
                    <a:close/>
                    <a:moveTo>
                      <a:pt x="36872" y="50702"/>
                    </a:moveTo>
                    <a:cubicBezTo>
                      <a:pt x="52494" y="50702"/>
                      <a:pt x="63056" y="43224"/>
                      <a:pt x="63056" y="30358"/>
                    </a:cubicBezTo>
                    <a:cubicBezTo>
                      <a:pt x="63056" y="17492"/>
                      <a:pt x="52494" y="10014"/>
                      <a:pt x="36872" y="10014"/>
                    </a:cubicBezTo>
                    <a:lnTo>
                      <a:pt x="10878" y="10014"/>
                    </a:lnTo>
                    <a:lnTo>
                      <a:pt x="10878" y="5070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6" name="Picture Placeholder 78">
                <a:extLst>
                  <a:ext uri="{FF2B5EF4-FFF2-40B4-BE49-F238E27FC236}">
                    <a16:creationId xmlns:a16="http://schemas.microsoft.com/office/drawing/2014/main" id="{29361A32-35C9-4DD7-A959-D4A8564284A9}"/>
                  </a:ext>
                </a:extLst>
              </p:cNvPr>
              <p:cNvSpPr/>
              <p:nvPr/>
            </p:nvSpPr>
            <p:spPr>
              <a:xfrm>
                <a:off x="6115896" y="1003801"/>
                <a:ext cx="74061" cy="95890"/>
              </a:xfrm>
              <a:custGeom>
                <a:avLst/>
                <a:gdLst>
                  <a:gd name="connsiteX0" fmla="*/ 0 w 74061"/>
                  <a:gd name="connsiteY0" fmla="*/ 0 h 95890"/>
                  <a:gd name="connsiteX1" fmla="*/ 38833 w 74061"/>
                  <a:gd name="connsiteY1" fmla="*/ 0 h 95890"/>
                  <a:gd name="connsiteX2" fmla="*/ 74061 w 74061"/>
                  <a:gd name="connsiteY2" fmla="*/ 30675 h 95890"/>
                  <a:gd name="connsiteX3" fmla="*/ 38833 w 74061"/>
                  <a:gd name="connsiteY3" fmla="*/ 61413 h 95890"/>
                  <a:gd name="connsiteX4" fmla="*/ 10942 w 74061"/>
                  <a:gd name="connsiteY4" fmla="*/ 61413 h 95890"/>
                  <a:gd name="connsiteX5" fmla="*/ 10942 w 74061"/>
                  <a:gd name="connsiteY5" fmla="*/ 95891 h 95890"/>
                  <a:gd name="connsiteX6" fmla="*/ 0 w 74061"/>
                  <a:gd name="connsiteY6" fmla="*/ 95891 h 95890"/>
                  <a:gd name="connsiteX7" fmla="*/ 36872 w 74061"/>
                  <a:gd name="connsiteY7" fmla="*/ 50702 h 95890"/>
                  <a:gd name="connsiteX8" fmla="*/ 63056 w 74061"/>
                  <a:gd name="connsiteY8" fmla="*/ 30358 h 95890"/>
                  <a:gd name="connsiteX9" fmla="*/ 36872 w 74061"/>
                  <a:gd name="connsiteY9" fmla="*/ 10014 h 95890"/>
                  <a:gd name="connsiteX10" fmla="*/ 10942 w 74061"/>
                  <a:gd name="connsiteY10" fmla="*/ 10014 h 95890"/>
                  <a:gd name="connsiteX11" fmla="*/ 10942 w 74061"/>
                  <a:gd name="connsiteY11" fmla="*/ 50702 h 9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061" h="95890">
                    <a:moveTo>
                      <a:pt x="0" y="0"/>
                    </a:moveTo>
                    <a:lnTo>
                      <a:pt x="38833" y="0"/>
                    </a:lnTo>
                    <a:cubicBezTo>
                      <a:pt x="58566" y="0"/>
                      <a:pt x="74061" y="12676"/>
                      <a:pt x="74061" y="30675"/>
                    </a:cubicBezTo>
                    <a:cubicBezTo>
                      <a:pt x="74061" y="48674"/>
                      <a:pt x="58566" y="61413"/>
                      <a:pt x="38833" y="61413"/>
                    </a:cubicBezTo>
                    <a:lnTo>
                      <a:pt x="10942" y="61413"/>
                    </a:lnTo>
                    <a:lnTo>
                      <a:pt x="10942" y="95891"/>
                    </a:lnTo>
                    <a:lnTo>
                      <a:pt x="0" y="95891"/>
                    </a:lnTo>
                    <a:close/>
                    <a:moveTo>
                      <a:pt x="36872" y="50702"/>
                    </a:moveTo>
                    <a:cubicBezTo>
                      <a:pt x="52431" y="50702"/>
                      <a:pt x="63056" y="43224"/>
                      <a:pt x="63056" y="30358"/>
                    </a:cubicBezTo>
                    <a:cubicBezTo>
                      <a:pt x="63056" y="17492"/>
                      <a:pt x="52431" y="10014"/>
                      <a:pt x="36872" y="10014"/>
                    </a:cubicBezTo>
                    <a:lnTo>
                      <a:pt x="10942" y="10014"/>
                    </a:lnTo>
                    <a:lnTo>
                      <a:pt x="10942" y="50702"/>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7" name="Picture Placeholder 78">
                <a:extLst>
                  <a:ext uri="{FF2B5EF4-FFF2-40B4-BE49-F238E27FC236}">
                    <a16:creationId xmlns:a16="http://schemas.microsoft.com/office/drawing/2014/main" id="{94291142-52CE-4933-AE49-3EFD8D6228FA}"/>
                  </a:ext>
                </a:extLst>
              </p:cNvPr>
              <p:cNvSpPr/>
              <p:nvPr/>
            </p:nvSpPr>
            <p:spPr>
              <a:xfrm>
                <a:off x="5805990" y="821653"/>
                <a:ext cx="490155" cy="491178"/>
              </a:xfrm>
              <a:custGeom>
                <a:avLst/>
                <a:gdLst>
                  <a:gd name="connsiteX0" fmla="*/ 452715 w 490156"/>
                  <a:gd name="connsiteY0" fmla="*/ 15844 h 491178"/>
                  <a:gd name="connsiteX1" fmla="*/ 474345 w 490156"/>
                  <a:gd name="connsiteY1" fmla="*/ 37520 h 491178"/>
                  <a:gd name="connsiteX2" fmla="*/ 474345 w 490156"/>
                  <a:gd name="connsiteY2" fmla="*/ 453659 h 491178"/>
                  <a:gd name="connsiteX3" fmla="*/ 452715 w 490156"/>
                  <a:gd name="connsiteY3" fmla="*/ 475334 h 491178"/>
                  <a:gd name="connsiteX4" fmla="*/ 37442 w 490156"/>
                  <a:gd name="connsiteY4" fmla="*/ 475334 h 491178"/>
                  <a:gd name="connsiteX5" fmla="*/ 15812 w 490156"/>
                  <a:gd name="connsiteY5" fmla="*/ 453659 h 491178"/>
                  <a:gd name="connsiteX6" fmla="*/ 15812 w 490156"/>
                  <a:gd name="connsiteY6" fmla="*/ 37520 h 491178"/>
                  <a:gd name="connsiteX7" fmla="*/ 37442 w 490156"/>
                  <a:gd name="connsiteY7" fmla="*/ 15844 h 491178"/>
                  <a:gd name="connsiteX8" fmla="*/ 452715 w 490156"/>
                  <a:gd name="connsiteY8" fmla="*/ 15844 h 491178"/>
                  <a:gd name="connsiteX9" fmla="*/ 452715 w 490156"/>
                  <a:gd name="connsiteY9" fmla="*/ 0 h 491178"/>
                  <a:gd name="connsiteX10" fmla="*/ 37442 w 490156"/>
                  <a:gd name="connsiteY10" fmla="*/ 0 h 491178"/>
                  <a:gd name="connsiteX11" fmla="*/ 0 w 490156"/>
                  <a:gd name="connsiteY11" fmla="*/ 37520 h 491178"/>
                  <a:gd name="connsiteX12" fmla="*/ 0 w 490156"/>
                  <a:gd name="connsiteY12" fmla="*/ 453659 h 491178"/>
                  <a:gd name="connsiteX13" fmla="*/ 37442 w 490156"/>
                  <a:gd name="connsiteY13" fmla="*/ 491178 h 491178"/>
                  <a:gd name="connsiteX14" fmla="*/ 452715 w 490156"/>
                  <a:gd name="connsiteY14" fmla="*/ 491178 h 491178"/>
                  <a:gd name="connsiteX15" fmla="*/ 490156 w 490156"/>
                  <a:gd name="connsiteY15" fmla="*/ 453659 h 491178"/>
                  <a:gd name="connsiteX16" fmla="*/ 490156 w 490156"/>
                  <a:gd name="connsiteY16" fmla="*/ 37520 h 491178"/>
                  <a:gd name="connsiteX17" fmla="*/ 452715 w 490156"/>
                  <a:gd name="connsiteY17" fmla="*/ 0 h 49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0156" h="491178">
                    <a:moveTo>
                      <a:pt x="452715" y="15844"/>
                    </a:moveTo>
                    <a:cubicBezTo>
                      <a:pt x="464661" y="15844"/>
                      <a:pt x="474345" y="25549"/>
                      <a:pt x="474345" y="37520"/>
                    </a:cubicBezTo>
                    <a:lnTo>
                      <a:pt x="474345" y="453659"/>
                    </a:lnTo>
                    <a:cubicBezTo>
                      <a:pt x="474345" y="465631"/>
                      <a:pt x="464661" y="475334"/>
                      <a:pt x="452715" y="475334"/>
                    </a:cubicBezTo>
                    <a:lnTo>
                      <a:pt x="37442" y="475334"/>
                    </a:lnTo>
                    <a:cubicBezTo>
                      <a:pt x="25496" y="475334"/>
                      <a:pt x="15812" y="465631"/>
                      <a:pt x="15812" y="453659"/>
                    </a:cubicBezTo>
                    <a:lnTo>
                      <a:pt x="15812" y="37520"/>
                    </a:lnTo>
                    <a:cubicBezTo>
                      <a:pt x="15812" y="25549"/>
                      <a:pt x="25496" y="15844"/>
                      <a:pt x="37442" y="15844"/>
                    </a:cubicBezTo>
                    <a:lnTo>
                      <a:pt x="452715" y="15844"/>
                    </a:lnTo>
                    <a:moveTo>
                      <a:pt x="452715" y="0"/>
                    </a:moveTo>
                    <a:lnTo>
                      <a:pt x="37442" y="0"/>
                    </a:lnTo>
                    <a:cubicBezTo>
                      <a:pt x="16763" y="0"/>
                      <a:pt x="0" y="16798"/>
                      <a:pt x="0" y="37520"/>
                    </a:cubicBezTo>
                    <a:lnTo>
                      <a:pt x="0" y="453659"/>
                    </a:lnTo>
                    <a:cubicBezTo>
                      <a:pt x="0" y="474383"/>
                      <a:pt x="16763" y="491178"/>
                      <a:pt x="37442" y="491178"/>
                    </a:cubicBezTo>
                    <a:lnTo>
                      <a:pt x="452715" y="491178"/>
                    </a:lnTo>
                    <a:cubicBezTo>
                      <a:pt x="473393" y="491178"/>
                      <a:pt x="490156" y="474383"/>
                      <a:pt x="490156" y="453659"/>
                    </a:cubicBezTo>
                    <a:lnTo>
                      <a:pt x="490156" y="37520"/>
                    </a:lnTo>
                    <a:cubicBezTo>
                      <a:pt x="490156" y="16798"/>
                      <a:pt x="473393" y="0"/>
                      <a:pt x="452715"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8" name="Picture Placeholder 78">
                <a:extLst>
                  <a:ext uri="{FF2B5EF4-FFF2-40B4-BE49-F238E27FC236}">
                    <a16:creationId xmlns:a16="http://schemas.microsoft.com/office/drawing/2014/main" id="{3D49ED3C-577D-453C-BCDA-9532F0695AC8}"/>
                  </a:ext>
                </a:extLst>
              </p:cNvPr>
              <p:cNvSpPr/>
              <p:nvPr/>
            </p:nvSpPr>
            <p:spPr>
              <a:xfrm>
                <a:off x="5862210" y="771268"/>
                <a:ext cx="486595" cy="491241"/>
              </a:xfrm>
              <a:custGeom>
                <a:avLst/>
                <a:gdLst>
                  <a:gd name="connsiteX0" fmla="*/ 461696 w 486595"/>
                  <a:gd name="connsiteY0" fmla="*/ 491242 h 491241"/>
                  <a:gd name="connsiteX1" fmla="*/ 454739 w 486595"/>
                  <a:gd name="connsiteY1" fmla="*/ 477045 h 491241"/>
                  <a:gd name="connsiteX2" fmla="*/ 470740 w 486595"/>
                  <a:gd name="connsiteY2" fmla="*/ 451187 h 491241"/>
                  <a:gd name="connsiteX3" fmla="*/ 470740 w 486595"/>
                  <a:gd name="connsiteY3" fmla="*/ 44555 h 491241"/>
                  <a:gd name="connsiteX4" fmla="*/ 441900 w 486595"/>
                  <a:gd name="connsiteY4" fmla="*/ 15844 h 491241"/>
                  <a:gd name="connsiteX5" fmla="*/ 39023 w 486595"/>
                  <a:gd name="connsiteY5" fmla="*/ 15844 h 491241"/>
                  <a:gd name="connsiteX6" fmla="*/ 15242 w 486595"/>
                  <a:gd name="connsiteY6" fmla="*/ 30548 h 491241"/>
                  <a:gd name="connsiteX7" fmla="*/ 0 w 486595"/>
                  <a:gd name="connsiteY7" fmla="*/ 26429 h 491241"/>
                  <a:gd name="connsiteX8" fmla="*/ 39023 w 486595"/>
                  <a:gd name="connsiteY8" fmla="*/ 0 h 491241"/>
                  <a:gd name="connsiteX9" fmla="*/ 442279 w 486595"/>
                  <a:gd name="connsiteY9" fmla="*/ 0 h 491241"/>
                  <a:gd name="connsiteX10" fmla="*/ 486551 w 486595"/>
                  <a:gd name="connsiteY10" fmla="*/ 44808 h 491241"/>
                  <a:gd name="connsiteX11" fmla="*/ 486551 w 486595"/>
                  <a:gd name="connsiteY11" fmla="*/ 451187 h 491241"/>
                  <a:gd name="connsiteX12" fmla="*/ 461696 w 486595"/>
                  <a:gd name="connsiteY12" fmla="*/ 491242 h 49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6595" h="491241">
                    <a:moveTo>
                      <a:pt x="461696" y="491242"/>
                    </a:moveTo>
                    <a:lnTo>
                      <a:pt x="454739" y="477045"/>
                    </a:lnTo>
                    <a:cubicBezTo>
                      <a:pt x="464577" y="472211"/>
                      <a:pt x="470792" y="462167"/>
                      <a:pt x="470740" y="451187"/>
                    </a:cubicBezTo>
                    <a:lnTo>
                      <a:pt x="470740" y="44555"/>
                    </a:lnTo>
                    <a:cubicBezTo>
                      <a:pt x="471309" y="24020"/>
                      <a:pt x="467261" y="17049"/>
                      <a:pt x="441900" y="15844"/>
                    </a:cubicBezTo>
                    <a:lnTo>
                      <a:pt x="39023" y="15844"/>
                    </a:lnTo>
                    <a:cubicBezTo>
                      <a:pt x="22516" y="15844"/>
                      <a:pt x="17772" y="21232"/>
                      <a:pt x="15242" y="30548"/>
                    </a:cubicBezTo>
                    <a:lnTo>
                      <a:pt x="0" y="26429"/>
                    </a:lnTo>
                    <a:cubicBezTo>
                      <a:pt x="6325" y="2725"/>
                      <a:pt x="25298" y="0"/>
                      <a:pt x="39023" y="0"/>
                    </a:cubicBezTo>
                    <a:lnTo>
                      <a:pt x="442279" y="0"/>
                    </a:lnTo>
                    <a:cubicBezTo>
                      <a:pt x="475167" y="1521"/>
                      <a:pt x="487437" y="14133"/>
                      <a:pt x="486551" y="44808"/>
                    </a:cubicBezTo>
                    <a:lnTo>
                      <a:pt x="486551" y="451187"/>
                    </a:lnTo>
                    <a:cubicBezTo>
                      <a:pt x="486622" y="468211"/>
                      <a:pt x="476964" y="483775"/>
                      <a:pt x="461696" y="49124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9" name="Picture Placeholder 78">
                <a:extLst>
                  <a:ext uri="{FF2B5EF4-FFF2-40B4-BE49-F238E27FC236}">
                    <a16:creationId xmlns:a16="http://schemas.microsoft.com/office/drawing/2014/main" id="{C5C27582-8F41-4DD2-B100-1D86749C9730}"/>
                  </a:ext>
                </a:extLst>
              </p:cNvPr>
              <p:cNvSpPr/>
              <p:nvPr/>
            </p:nvSpPr>
            <p:spPr>
              <a:xfrm>
                <a:off x="5916669" y="720881"/>
                <a:ext cx="486595" cy="491304"/>
              </a:xfrm>
              <a:custGeom>
                <a:avLst/>
                <a:gdLst>
                  <a:gd name="connsiteX0" fmla="*/ 461696 w 486595"/>
                  <a:gd name="connsiteY0" fmla="*/ 491305 h 491304"/>
                  <a:gd name="connsiteX1" fmla="*/ 454739 w 486595"/>
                  <a:gd name="connsiteY1" fmla="*/ 477425 h 491304"/>
                  <a:gd name="connsiteX2" fmla="*/ 470677 w 486595"/>
                  <a:gd name="connsiteY2" fmla="*/ 451567 h 491304"/>
                  <a:gd name="connsiteX3" fmla="*/ 470677 w 486595"/>
                  <a:gd name="connsiteY3" fmla="*/ 44618 h 491304"/>
                  <a:gd name="connsiteX4" fmla="*/ 441900 w 486595"/>
                  <a:gd name="connsiteY4" fmla="*/ 15844 h 491304"/>
                  <a:gd name="connsiteX5" fmla="*/ 39023 w 486595"/>
                  <a:gd name="connsiteY5" fmla="*/ 15844 h 491304"/>
                  <a:gd name="connsiteX6" fmla="*/ 15242 w 486595"/>
                  <a:gd name="connsiteY6" fmla="*/ 30548 h 491304"/>
                  <a:gd name="connsiteX7" fmla="*/ 0 w 486595"/>
                  <a:gd name="connsiteY7" fmla="*/ 26365 h 491304"/>
                  <a:gd name="connsiteX8" fmla="*/ 39023 w 486595"/>
                  <a:gd name="connsiteY8" fmla="*/ 0 h 491304"/>
                  <a:gd name="connsiteX9" fmla="*/ 442279 w 486595"/>
                  <a:gd name="connsiteY9" fmla="*/ 0 h 491304"/>
                  <a:gd name="connsiteX10" fmla="*/ 486551 w 486595"/>
                  <a:gd name="connsiteY10" fmla="*/ 44808 h 491304"/>
                  <a:gd name="connsiteX11" fmla="*/ 486551 w 486595"/>
                  <a:gd name="connsiteY11" fmla="*/ 451250 h 491304"/>
                  <a:gd name="connsiteX12" fmla="*/ 461696 w 486595"/>
                  <a:gd name="connsiteY12" fmla="*/ 491305 h 491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6595" h="491304">
                    <a:moveTo>
                      <a:pt x="461696" y="491305"/>
                    </a:moveTo>
                    <a:lnTo>
                      <a:pt x="454739" y="477425"/>
                    </a:lnTo>
                    <a:cubicBezTo>
                      <a:pt x="464561" y="472585"/>
                      <a:pt x="470759" y="462537"/>
                      <a:pt x="470677" y="451567"/>
                    </a:cubicBezTo>
                    <a:lnTo>
                      <a:pt x="470677" y="44618"/>
                    </a:lnTo>
                    <a:cubicBezTo>
                      <a:pt x="471309" y="24020"/>
                      <a:pt x="467261" y="17112"/>
                      <a:pt x="441900" y="15844"/>
                    </a:cubicBezTo>
                    <a:lnTo>
                      <a:pt x="39023" y="15844"/>
                    </a:lnTo>
                    <a:cubicBezTo>
                      <a:pt x="22516" y="15844"/>
                      <a:pt x="17772" y="21232"/>
                      <a:pt x="15242" y="30548"/>
                    </a:cubicBezTo>
                    <a:lnTo>
                      <a:pt x="0" y="26365"/>
                    </a:lnTo>
                    <a:cubicBezTo>
                      <a:pt x="6325" y="2725"/>
                      <a:pt x="25298" y="0"/>
                      <a:pt x="39023" y="0"/>
                    </a:cubicBezTo>
                    <a:lnTo>
                      <a:pt x="442279" y="0"/>
                    </a:lnTo>
                    <a:cubicBezTo>
                      <a:pt x="475167" y="1521"/>
                      <a:pt x="487437" y="14070"/>
                      <a:pt x="486551" y="44808"/>
                    </a:cubicBezTo>
                    <a:lnTo>
                      <a:pt x="486551" y="451250"/>
                    </a:lnTo>
                    <a:cubicBezTo>
                      <a:pt x="486621" y="468275"/>
                      <a:pt x="476963" y="483838"/>
                      <a:pt x="461696" y="49130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sp>
        <p:nvSpPr>
          <p:cNvPr id="3" name="Title 2">
            <a:extLst>
              <a:ext uri="{FF2B5EF4-FFF2-40B4-BE49-F238E27FC236}">
                <a16:creationId xmlns:a16="http://schemas.microsoft.com/office/drawing/2014/main" id="{1AF0A58C-DE8F-5D47-8669-61D7CA98B23A}"/>
              </a:ext>
            </a:extLst>
          </p:cNvPr>
          <p:cNvSpPr>
            <a:spLocks noGrp="1"/>
          </p:cNvSpPr>
          <p:nvPr>
            <p:ph type="title"/>
          </p:nvPr>
        </p:nvSpPr>
        <p:spPr>
          <a:xfrm>
            <a:off x="579809" y="412751"/>
            <a:ext cx="11001004" cy="381000"/>
          </a:xfrm>
        </p:spPr>
        <p:txBody>
          <a:bodyPr/>
          <a:lstStyle/>
          <a:p>
            <a:pPr algn="ctr"/>
            <a:r>
              <a:rPr lang="en-US" dirty="0"/>
              <a:t>End-to-End Resilience in VMware Cloud Foundation</a:t>
            </a:r>
          </a:p>
        </p:txBody>
      </p:sp>
      <p:grpSp>
        <p:nvGrpSpPr>
          <p:cNvPr id="66" name="Group 65">
            <a:extLst>
              <a:ext uri="{FF2B5EF4-FFF2-40B4-BE49-F238E27FC236}">
                <a16:creationId xmlns:a16="http://schemas.microsoft.com/office/drawing/2014/main" id="{502A182C-F2C1-4D3B-87AF-5B0CDCA43058}"/>
              </a:ext>
            </a:extLst>
          </p:cNvPr>
          <p:cNvGrpSpPr/>
          <p:nvPr/>
        </p:nvGrpSpPr>
        <p:grpSpPr>
          <a:xfrm>
            <a:off x="8987564" y="2568572"/>
            <a:ext cx="2782072" cy="959120"/>
            <a:chOff x="195550" y="2178715"/>
            <a:chExt cx="2782797" cy="2030264"/>
          </a:xfrm>
          <a:solidFill>
            <a:schemeClr val="accent4"/>
          </a:solidFill>
        </p:grpSpPr>
        <p:sp>
          <p:nvSpPr>
            <p:cNvPr id="67" name="Rectangle 66">
              <a:extLst>
                <a:ext uri="{FF2B5EF4-FFF2-40B4-BE49-F238E27FC236}">
                  <a16:creationId xmlns:a16="http://schemas.microsoft.com/office/drawing/2014/main" id="{A97BF3B9-CC6D-4D8F-A846-3624BFFF7AD8}"/>
                </a:ext>
              </a:extLst>
            </p:cNvPr>
            <p:cNvSpPr/>
            <p:nvPr/>
          </p:nvSpPr>
          <p:spPr>
            <a:xfrm>
              <a:off x="195550" y="2178715"/>
              <a:ext cx="2179732" cy="2030264"/>
            </a:xfrm>
            <a:prstGeom prst="rect">
              <a:avLst/>
            </a:prstGeom>
            <a:grp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68" name="Isosceles Triangle 67">
              <a:extLst>
                <a:ext uri="{FF2B5EF4-FFF2-40B4-BE49-F238E27FC236}">
                  <a16:creationId xmlns:a16="http://schemas.microsoft.com/office/drawing/2014/main" id="{3AD644D1-CA24-4AC9-9DCB-F53CF4D42B5B}"/>
                </a:ext>
              </a:extLst>
            </p:cNvPr>
            <p:cNvSpPr/>
            <p:nvPr/>
          </p:nvSpPr>
          <p:spPr>
            <a:xfrm rot="5400000">
              <a:off x="1661767" y="2892252"/>
              <a:ext cx="2029968" cy="603193"/>
            </a:xfrm>
            <a:prstGeom prst="triangle">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grpSp>
        <p:nvGrpSpPr>
          <p:cNvPr id="63" name="Group 62">
            <a:extLst>
              <a:ext uri="{FF2B5EF4-FFF2-40B4-BE49-F238E27FC236}">
                <a16:creationId xmlns:a16="http://schemas.microsoft.com/office/drawing/2014/main" id="{70D0FE0B-7EE9-4E2C-9520-5F0EC00FFA31}"/>
              </a:ext>
            </a:extLst>
          </p:cNvPr>
          <p:cNvGrpSpPr/>
          <p:nvPr/>
        </p:nvGrpSpPr>
        <p:grpSpPr>
          <a:xfrm>
            <a:off x="6709964" y="2568572"/>
            <a:ext cx="2909945" cy="959120"/>
            <a:chOff x="67644" y="2178715"/>
            <a:chExt cx="2910703" cy="2030264"/>
          </a:xfrm>
          <a:solidFill>
            <a:schemeClr val="accent3"/>
          </a:solidFill>
        </p:grpSpPr>
        <p:sp>
          <p:nvSpPr>
            <p:cNvPr id="64" name="Rectangle 63">
              <a:extLst>
                <a:ext uri="{FF2B5EF4-FFF2-40B4-BE49-F238E27FC236}">
                  <a16:creationId xmlns:a16="http://schemas.microsoft.com/office/drawing/2014/main" id="{C4DE2B1A-147C-491F-ABED-F9FFFE5C48FB}"/>
                </a:ext>
              </a:extLst>
            </p:cNvPr>
            <p:cNvSpPr/>
            <p:nvPr/>
          </p:nvSpPr>
          <p:spPr>
            <a:xfrm>
              <a:off x="67644" y="2178715"/>
              <a:ext cx="2307638" cy="2030264"/>
            </a:xfrm>
            <a:prstGeom prst="rect">
              <a:avLst/>
            </a:prstGeom>
            <a:grp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65" name="Isosceles Triangle 64">
              <a:extLst>
                <a:ext uri="{FF2B5EF4-FFF2-40B4-BE49-F238E27FC236}">
                  <a16:creationId xmlns:a16="http://schemas.microsoft.com/office/drawing/2014/main" id="{3D111464-39ED-4A3C-BD4A-DA82543B63A8}"/>
                </a:ext>
              </a:extLst>
            </p:cNvPr>
            <p:cNvSpPr/>
            <p:nvPr/>
          </p:nvSpPr>
          <p:spPr>
            <a:xfrm rot="5400000">
              <a:off x="1661767" y="2892252"/>
              <a:ext cx="2029968" cy="603193"/>
            </a:xfrm>
            <a:prstGeom prst="triangle">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grpSp>
        <p:nvGrpSpPr>
          <p:cNvPr id="60" name="Group 59">
            <a:extLst>
              <a:ext uri="{FF2B5EF4-FFF2-40B4-BE49-F238E27FC236}">
                <a16:creationId xmlns:a16="http://schemas.microsoft.com/office/drawing/2014/main" id="{87133EDC-F0CF-444A-9D95-0B34A9CA6D19}"/>
              </a:ext>
            </a:extLst>
          </p:cNvPr>
          <p:cNvGrpSpPr/>
          <p:nvPr/>
        </p:nvGrpSpPr>
        <p:grpSpPr>
          <a:xfrm>
            <a:off x="4615560" y="2568572"/>
            <a:ext cx="2752764" cy="959120"/>
            <a:chOff x="224866" y="2178715"/>
            <a:chExt cx="2753481" cy="2030264"/>
          </a:xfrm>
          <a:solidFill>
            <a:schemeClr val="accent2"/>
          </a:solidFill>
        </p:grpSpPr>
        <p:sp>
          <p:nvSpPr>
            <p:cNvPr id="61" name="Rectangle 60">
              <a:extLst>
                <a:ext uri="{FF2B5EF4-FFF2-40B4-BE49-F238E27FC236}">
                  <a16:creationId xmlns:a16="http://schemas.microsoft.com/office/drawing/2014/main" id="{323E438E-F723-4600-A68E-65DB03277EE9}"/>
                </a:ext>
              </a:extLst>
            </p:cNvPr>
            <p:cNvSpPr/>
            <p:nvPr/>
          </p:nvSpPr>
          <p:spPr>
            <a:xfrm>
              <a:off x="224866" y="2178715"/>
              <a:ext cx="2150415" cy="2030264"/>
            </a:xfrm>
            <a:prstGeom prst="rect">
              <a:avLst/>
            </a:prstGeom>
            <a:grp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62" name="Isosceles Triangle 61">
              <a:extLst>
                <a:ext uri="{FF2B5EF4-FFF2-40B4-BE49-F238E27FC236}">
                  <a16:creationId xmlns:a16="http://schemas.microsoft.com/office/drawing/2014/main" id="{EAC944F5-EE10-4EB1-B7E7-7B0E25574734}"/>
                </a:ext>
              </a:extLst>
            </p:cNvPr>
            <p:cNvSpPr/>
            <p:nvPr/>
          </p:nvSpPr>
          <p:spPr>
            <a:xfrm rot="5400000">
              <a:off x="1661767" y="2892252"/>
              <a:ext cx="2029968" cy="603193"/>
            </a:xfrm>
            <a:prstGeom prst="triangle">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grpSp>
        <p:nvGrpSpPr>
          <p:cNvPr id="57" name="Group 56">
            <a:extLst>
              <a:ext uri="{FF2B5EF4-FFF2-40B4-BE49-F238E27FC236}">
                <a16:creationId xmlns:a16="http://schemas.microsoft.com/office/drawing/2014/main" id="{9F5C0259-F132-49B3-9664-8B78D31A3202}"/>
              </a:ext>
            </a:extLst>
          </p:cNvPr>
          <p:cNvGrpSpPr/>
          <p:nvPr/>
        </p:nvGrpSpPr>
        <p:grpSpPr>
          <a:xfrm>
            <a:off x="2220811" y="2568572"/>
            <a:ext cx="3046429" cy="959120"/>
            <a:chOff x="-68876" y="2178715"/>
            <a:chExt cx="3047223" cy="2030264"/>
          </a:xfrm>
          <a:solidFill>
            <a:schemeClr val="accent1"/>
          </a:solidFill>
        </p:grpSpPr>
        <p:sp>
          <p:nvSpPr>
            <p:cNvPr id="58" name="Rectangle 57">
              <a:extLst>
                <a:ext uri="{FF2B5EF4-FFF2-40B4-BE49-F238E27FC236}">
                  <a16:creationId xmlns:a16="http://schemas.microsoft.com/office/drawing/2014/main" id="{A05D8027-26AA-40D2-9065-2CA627C183E9}"/>
                </a:ext>
              </a:extLst>
            </p:cNvPr>
            <p:cNvSpPr/>
            <p:nvPr/>
          </p:nvSpPr>
          <p:spPr>
            <a:xfrm>
              <a:off x="-68876" y="2178715"/>
              <a:ext cx="2444158" cy="2030264"/>
            </a:xfrm>
            <a:prstGeom prst="rect">
              <a:avLst/>
            </a:prstGeom>
            <a:grp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59" name="Isosceles Triangle 58">
              <a:extLst>
                <a:ext uri="{FF2B5EF4-FFF2-40B4-BE49-F238E27FC236}">
                  <a16:creationId xmlns:a16="http://schemas.microsoft.com/office/drawing/2014/main" id="{B58AF81C-0BE7-42C2-B27F-419A7654FF59}"/>
                </a:ext>
              </a:extLst>
            </p:cNvPr>
            <p:cNvSpPr/>
            <p:nvPr/>
          </p:nvSpPr>
          <p:spPr>
            <a:xfrm rot="5400000">
              <a:off x="1661767" y="2892252"/>
              <a:ext cx="2029968" cy="603193"/>
            </a:xfrm>
            <a:prstGeom prst="triangle">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grpSp>
        <p:nvGrpSpPr>
          <p:cNvPr id="56" name="Group 55">
            <a:extLst>
              <a:ext uri="{FF2B5EF4-FFF2-40B4-BE49-F238E27FC236}">
                <a16:creationId xmlns:a16="http://schemas.microsoft.com/office/drawing/2014/main" id="{E804CCB8-56D2-4B38-BC37-49EAE3775167}"/>
              </a:ext>
            </a:extLst>
          </p:cNvPr>
          <p:cNvGrpSpPr/>
          <p:nvPr/>
        </p:nvGrpSpPr>
        <p:grpSpPr>
          <a:xfrm>
            <a:off x="653251" y="2568572"/>
            <a:ext cx="2568630" cy="959120"/>
            <a:chOff x="409048" y="2178715"/>
            <a:chExt cx="2569299" cy="2030264"/>
          </a:xfrm>
          <a:solidFill>
            <a:schemeClr val="tx1"/>
          </a:solidFill>
        </p:grpSpPr>
        <p:sp>
          <p:nvSpPr>
            <p:cNvPr id="26" name="Rectangle 25">
              <a:extLst>
                <a:ext uri="{FF2B5EF4-FFF2-40B4-BE49-F238E27FC236}">
                  <a16:creationId xmlns:a16="http://schemas.microsoft.com/office/drawing/2014/main" id="{E26CEFEB-1D4A-4B00-88EF-BEB1E66636A2}"/>
                </a:ext>
              </a:extLst>
            </p:cNvPr>
            <p:cNvSpPr/>
            <p:nvPr/>
          </p:nvSpPr>
          <p:spPr>
            <a:xfrm>
              <a:off x="409048" y="2178715"/>
              <a:ext cx="1966234" cy="2030264"/>
            </a:xfrm>
            <a:prstGeom prst="rect">
              <a:avLst/>
            </a:prstGeom>
            <a:grpFill/>
            <a:ln w="190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55" name="Isosceles Triangle 54">
              <a:extLst>
                <a:ext uri="{FF2B5EF4-FFF2-40B4-BE49-F238E27FC236}">
                  <a16:creationId xmlns:a16="http://schemas.microsoft.com/office/drawing/2014/main" id="{A79BC258-3080-4B81-90E5-EA35ED1D7BA5}"/>
                </a:ext>
              </a:extLst>
            </p:cNvPr>
            <p:cNvSpPr/>
            <p:nvPr/>
          </p:nvSpPr>
          <p:spPr>
            <a:xfrm rot="5400000">
              <a:off x="1661767" y="2892252"/>
              <a:ext cx="2029968" cy="603193"/>
            </a:xfrm>
            <a:prstGeom prst="triangle">
              <a:avLst/>
            </a:prstGeom>
            <a:grp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sp>
        <p:nvSpPr>
          <p:cNvPr id="45" name="TextBox 44">
            <a:extLst>
              <a:ext uri="{FF2B5EF4-FFF2-40B4-BE49-F238E27FC236}">
                <a16:creationId xmlns:a16="http://schemas.microsoft.com/office/drawing/2014/main" id="{8389DF42-4B47-49BA-98DE-DD75CD2F8727}"/>
              </a:ext>
            </a:extLst>
          </p:cNvPr>
          <p:cNvSpPr txBox="1"/>
          <p:nvPr/>
        </p:nvSpPr>
        <p:spPr>
          <a:xfrm>
            <a:off x="9839880" y="2858699"/>
            <a:ext cx="1297698" cy="400006"/>
          </a:xfrm>
          <a:prstGeom prst="rect">
            <a:avLst/>
          </a:prstGeom>
          <a:noFill/>
        </p:spPr>
        <p:txBody>
          <a:bodyPr wrap="square">
            <a:sp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r>
              <a:rPr kumimoji="0" lang="en-US" sz="19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Recover</a:t>
            </a:r>
          </a:p>
        </p:txBody>
      </p:sp>
      <p:sp>
        <p:nvSpPr>
          <p:cNvPr id="43" name="TextBox 42">
            <a:extLst>
              <a:ext uri="{FF2B5EF4-FFF2-40B4-BE49-F238E27FC236}">
                <a16:creationId xmlns:a16="http://schemas.microsoft.com/office/drawing/2014/main" id="{46F178AC-F45A-4E59-A5E1-0CADB05027D4}"/>
              </a:ext>
            </a:extLst>
          </p:cNvPr>
          <p:cNvSpPr txBox="1"/>
          <p:nvPr/>
        </p:nvSpPr>
        <p:spPr>
          <a:xfrm>
            <a:off x="7565219" y="2858699"/>
            <a:ext cx="1297698" cy="400006"/>
          </a:xfrm>
          <a:prstGeom prst="rect">
            <a:avLst/>
          </a:prstGeom>
          <a:noFill/>
        </p:spPr>
        <p:txBody>
          <a:bodyPr wrap="square">
            <a:sp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r>
              <a:rPr kumimoji="0" lang="en-US" sz="19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Respond</a:t>
            </a:r>
          </a:p>
        </p:txBody>
      </p:sp>
      <p:sp>
        <p:nvSpPr>
          <p:cNvPr id="40" name="TextBox 39">
            <a:extLst>
              <a:ext uri="{FF2B5EF4-FFF2-40B4-BE49-F238E27FC236}">
                <a16:creationId xmlns:a16="http://schemas.microsoft.com/office/drawing/2014/main" id="{BA86998D-5E4E-4018-85D0-95220EFAFDCF}"/>
              </a:ext>
            </a:extLst>
          </p:cNvPr>
          <p:cNvSpPr txBox="1"/>
          <p:nvPr/>
        </p:nvSpPr>
        <p:spPr>
          <a:xfrm>
            <a:off x="5344043" y="2858699"/>
            <a:ext cx="1297698" cy="400006"/>
          </a:xfrm>
          <a:prstGeom prst="rect">
            <a:avLst/>
          </a:prstGeom>
          <a:noFill/>
        </p:spPr>
        <p:txBody>
          <a:bodyPr wrap="square">
            <a:sp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r>
              <a:rPr kumimoji="0" lang="en-US" sz="19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Detect</a:t>
            </a:r>
          </a:p>
        </p:txBody>
      </p:sp>
      <p:sp>
        <p:nvSpPr>
          <p:cNvPr id="35" name="TextBox 34">
            <a:extLst>
              <a:ext uri="{FF2B5EF4-FFF2-40B4-BE49-F238E27FC236}">
                <a16:creationId xmlns:a16="http://schemas.microsoft.com/office/drawing/2014/main" id="{88930466-8970-4BDD-B7DC-2D9C7FC28C6E}"/>
              </a:ext>
            </a:extLst>
          </p:cNvPr>
          <p:cNvSpPr txBox="1"/>
          <p:nvPr/>
        </p:nvSpPr>
        <p:spPr>
          <a:xfrm>
            <a:off x="3349653" y="2858699"/>
            <a:ext cx="1297698" cy="400006"/>
          </a:xfrm>
          <a:prstGeom prst="rect">
            <a:avLst/>
          </a:prstGeom>
          <a:noFill/>
        </p:spPr>
        <p:txBody>
          <a:bodyPr wrap="square">
            <a:sp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r>
              <a:rPr kumimoji="0" lang="en-US" sz="19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Protect</a:t>
            </a:r>
          </a:p>
        </p:txBody>
      </p:sp>
      <p:sp>
        <p:nvSpPr>
          <p:cNvPr id="31" name="TextBox 30">
            <a:extLst>
              <a:ext uri="{FF2B5EF4-FFF2-40B4-BE49-F238E27FC236}">
                <a16:creationId xmlns:a16="http://schemas.microsoft.com/office/drawing/2014/main" id="{8F75E1B3-294B-4A6C-85C9-331FC10FA45D}"/>
              </a:ext>
            </a:extLst>
          </p:cNvPr>
          <p:cNvSpPr txBox="1"/>
          <p:nvPr/>
        </p:nvSpPr>
        <p:spPr>
          <a:xfrm>
            <a:off x="1020459" y="2858699"/>
            <a:ext cx="1391346" cy="400006"/>
          </a:xfrm>
          <a:prstGeom prst="rect">
            <a:avLst/>
          </a:prstGeom>
          <a:noFill/>
        </p:spPr>
        <p:txBody>
          <a:bodyPr wrap="square">
            <a:spAutoFit/>
          </a:bodyPr>
          <a:lstStyle/>
          <a:p>
            <a:pPr marL="0" marR="0" lvl="0" indent="0" algn="ctr" defTabSz="914126" rtl="0" eaLnBrk="1" fontAlgn="auto" latinLnBrk="0" hangingPunct="1">
              <a:lnSpc>
                <a:spcPct val="100000"/>
              </a:lnSpc>
              <a:spcBef>
                <a:spcPts val="0"/>
              </a:spcBef>
              <a:spcAft>
                <a:spcPts val="600"/>
              </a:spcAft>
              <a:buClrTx/>
              <a:buSzTx/>
              <a:buFontTx/>
              <a:buNone/>
              <a:tabLst/>
              <a:defRPr/>
            </a:pPr>
            <a:r>
              <a:rPr kumimoji="0" lang="en-US" sz="1999" b="0"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Identify</a:t>
            </a:r>
          </a:p>
        </p:txBody>
      </p:sp>
      <p:grpSp>
        <p:nvGrpSpPr>
          <p:cNvPr id="27" name="Group 26">
            <a:extLst>
              <a:ext uri="{FF2B5EF4-FFF2-40B4-BE49-F238E27FC236}">
                <a16:creationId xmlns:a16="http://schemas.microsoft.com/office/drawing/2014/main" id="{E75E7E09-B0E2-4B3C-BA8B-F33612EE51FE}"/>
              </a:ext>
            </a:extLst>
          </p:cNvPr>
          <p:cNvGrpSpPr/>
          <p:nvPr/>
        </p:nvGrpSpPr>
        <p:grpSpPr>
          <a:xfrm>
            <a:off x="3759381" y="3521597"/>
            <a:ext cx="941094" cy="1305479"/>
            <a:chOff x="3363585" y="3695593"/>
            <a:chExt cx="941094" cy="1305479"/>
          </a:xfrm>
        </p:grpSpPr>
        <p:cxnSp>
          <p:nvCxnSpPr>
            <p:cNvPr id="84" name="Straight Connector 83">
              <a:extLst>
                <a:ext uri="{FF2B5EF4-FFF2-40B4-BE49-F238E27FC236}">
                  <a16:creationId xmlns:a16="http://schemas.microsoft.com/office/drawing/2014/main" id="{1C6598FF-2B1A-0949-A83C-BD317EB00B72}"/>
                </a:ext>
              </a:extLst>
            </p:cNvPr>
            <p:cNvCxnSpPr>
              <a:cxnSpLocks/>
            </p:cNvCxnSpPr>
            <p:nvPr/>
          </p:nvCxnSpPr>
          <p:spPr bwMode="gray">
            <a:xfrm rot="10800000" flipV="1">
              <a:off x="3846074" y="369559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85" name="Oval 84">
              <a:extLst>
                <a:ext uri="{FF2B5EF4-FFF2-40B4-BE49-F238E27FC236}">
                  <a16:creationId xmlns:a16="http://schemas.microsoft.com/office/drawing/2014/main" id="{F7BC4369-2E1B-FE40-BFBF-9EEAE4234156}"/>
                </a:ext>
              </a:extLst>
            </p:cNvPr>
            <p:cNvSpPr/>
            <p:nvPr/>
          </p:nvSpPr>
          <p:spPr>
            <a:xfrm rot="10800000">
              <a:off x="3606014" y="406125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pic>
          <p:nvPicPr>
            <p:cNvPr id="94" name="Graphic 93">
              <a:extLst>
                <a:ext uri="{FF2B5EF4-FFF2-40B4-BE49-F238E27FC236}">
                  <a16:creationId xmlns:a16="http://schemas.microsoft.com/office/drawing/2014/main" id="{45A6A677-26B0-5D4E-A334-C2F713BE17E9}"/>
                </a:ext>
              </a:extLst>
            </p:cNvPr>
            <p:cNvPicPr>
              <a:picLocks noChangeAspect="1"/>
            </p:cNvPicPr>
            <p:nvPr/>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3715600" y="4167511"/>
              <a:ext cx="293337" cy="293337"/>
            </a:xfrm>
            <a:prstGeom prst="rect">
              <a:avLst/>
            </a:prstGeom>
          </p:spPr>
        </p:pic>
        <p:sp>
          <p:nvSpPr>
            <p:cNvPr id="97" name="Rounded Rectangle 37">
              <a:extLst>
                <a:ext uri="{FF2B5EF4-FFF2-40B4-BE49-F238E27FC236}">
                  <a16:creationId xmlns:a16="http://schemas.microsoft.com/office/drawing/2014/main" id="{105AF6F4-9CE5-8546-84E2-623CC5521162}"/>
                </a:ext>
              </a:extLst>
            </p:cNvPr>
            <p:cNvSpPr/>
            <p:nvPr/>
          </p:nvSpPr>
          <p:spPr>
            <a:xfrm>
              <a:off x="3363585" y="4622068"/>
              <a:ext cx="941094"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vMotion &amp;</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DRS</a:t>
              </a:r>
            </a:p>
          </p:txBody>
        </p:sp>
      </p:grpSp>
      <p:grpSp>
        <p:nvGrpSpPr>
          <p:cNvPr id="32" name="Group 31">
            <a:extLst>
              <a:ext uri="{FF2B5EF4-FFF2-40B4-BE49-F238E27FC236}">
                <a16:creationId xmlns:a16="http://schemas.microsoft.com/office/drawing/2014/main" id="{2F9CF05E-95D1-4883-A0CC-5C9C05AC728F}"/>
              </a:ext>
            </a:extLst>
          </p:cNvPr>
          <p:cNvGrpSpPr/>
          <p:nvPr/>
        </p:nvGrpSpPr>
        <p:grpSpPr>
          <a:xfrm>
            <a:off x="8182391" y="3521597"/>
            <a:ext cx="941094" cy="1305479"/>
            <a:chOff x="7798650" y="3695593"/>
            <a:chExt cx="941094" cy="1305479"/>
          </a:xfrm>
        </p:grpSpPr>
        <p:cxnSp>
          <p:nvCxnSpPr>
            <p:cNvPr id="126" name="Straight Connector 125">
              <a:extLst>
                <a:ext uri="{FF2B5EF4-FFF2-40B4-BE49-F238E27FC236}">
                  <a16:creationId xmlns:a16="http://schemas.microsoft.com/office/drawing/2014/main" id="{7E2258C4-CDC9-B74F-B48F-12CEAE67D8E1}"/>
                </a:ext>
              </a:extLst>
            </p:cNvPr>
            <p:cNvCxnSpPr>
              <a:cxnSpLocks/>
            </p:cNvCxnSpPr>
            <p:nvPr/>
          </p:nvCxnSpPr>
          <p:spPr bwMode="gray">
            <a:xfrm rot="10800000" flipV="1">
              <a:off x="8281138" y="369559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27" name="Oval 126">
              <a:extLst>
                <a:ext uri="{FF2B5EF4-FFF2-40B4-BE49-F238E27FC236}">
                  <a16:creationId xmlns:a16="http://schemas.microsoft.com/office/drawing/2014/main" id="{34311A7C-486E-7743-8DCE-9F49E566F756}"/>
                </a:ext>
              </a:extLst>
            </p:cNvPr>
            <p:cNvSpPr/>
            <p:nvPr/>
          </p:nvSpPr>
          <p:spPr>
            <a:xfrm rot="10800000">
              <a:off x="8041078" y="406125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38" name="Rounded Rectangle 37">
              <a:extLst>
                <a:ext uri="{FF2B5EF4-FFF2-40B4-BE49-F238E27FC236}">
                  <a16:creationId xmlns:a16="http://schemas.microsoft.com/office/drawing/2014/main" id="{A387746B-C931-3F4D-AF6B-C7C3A70DB899}"/>
                </a:ext>
              </a:extLst>
            </p:cNvPr>
            <p:cNvSpPr/>
            <p:nvPr/>
          </p:nvSpPr>
          <p:spPr>
            <a:xfrm>
              <a:off x="7798650" y="4622068"/>
              <a:ext cx="941094"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Snapshots &amp;</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Data Protection</a:t>
              </a:r>
            </a:p>
          </p:txBody>
        </p:sp>
        <p:pic>
          <p:nvPicPr>
            <p:cNvPr id="143" name="Graphic 142">
              <a:extLst>
                <a:ext uri="{FF2B5EF4-FFF2-40B4-BE49-F238E27FC236}">
                  <a16:creationId xmlns:a16="http://schemas.microsoft.com/office/drawing/2014/main" id="{0F2D6866-6269-1C43-B615-E92B9E08C74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148261" y="4162716"/>
              <a:ext cx="271582" cy="271582"/>
            </a:xfrm>
            <a:prstGeom prst="rect">
              <a:avLst/>
            </a:prstGeom>
          </p:spPr>
        </p:pic>
      </p:grpSp>
      <p:grpSp>
        <p:nvGrpSpPr>
          <p:cNvPr id="33" name="Group 32">
            <a:extLst>
              <a:ext uri="{FF2B5EF4-FFF2-40B4-BE49-F238E27FC236}">
                <a16:creationId xmlns:a16="http://schemas.microsoft.com/office/drawing/2014/main" id="{B98D2FB3-4B57-422E-B94F-92E92C9CC772}"/>
              </a:ext>
            </a:extLst>
          </p:cNvPr>
          <p:cNvGrpSpPr/>
          <p:nvPr/>
        </p:nvGrpSpPr>
        <p:grpSpPr>
          <a:xfrm>
            <a:off x="9425458" y="3532960"/>
            <a:ext cx="758008" cy="1294116"/>
            <a:chOff x="9200771" y="3703188"/>
            <a:chExt cx="758008" cy="1294116"/>
          </a:xfrm>
        </p:grpSpPr>
        <p:sp>
          <p:nvSpPr>
            <p:cNvPr id="139" name="Rounded Rectangle 37">
              <a:extLst>
                <a:ext uri="{FF2B5EF4-FFF2-40B4-BE49-F238E27FC236}">
                  <a16:creationId xmlns:a16="http://schemas.microsoft.com/office/drawing/2014/main" id="{A028D8CF-FA5E-AC46-9A0B-8850EB42B3FA}"/>
                </a:ext>
              </a:extLst>
            </p:cNvPr>
            <p:cNvSpPr/>
            <p:nvPr/>
          </p:nvSpPr>
          <p:spPr>
            <a:xfrm>
              <a:off x="9200771" y="46183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Isolated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Environment</a:t>
              </a:r>
            </a:p>
          </p:txBody>
        </p:sp>
        <p:cxnSp>
          <p:nvCxnSpPr>
            <p:cNvPr id="140" name="Straight Connector 139">
              <a:extLst>
                <a:ext uri="{FF2B5EF4-FFF2-40B4-BE49-F238E27FC236}">
                  <a16:creationId xmlns:a16="http://schemas.microsoft.com/office/drawing/2014/main" id="{21B74C86-2664-BC44-A6FD-68EEACDB360E}"/>
                </a:ext>
              </a:extLst>
            </p:cNvPr>
            <p:cNvCxnSpPr>
              <a:cxnSpLocks/>
            </p:cNvCxnSpPr>
            <p:nvPr/>
          </p:nvCxnSpPr>
          <p:spPr bwMode="gray">
            <a:xfrm>
              <a:off x="9572154" y="3703188"/>
              <a:ext cx="0" cy="365379"/>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41" name="Oval 140">
              <a:extLst>
                <a:ext uri="{FF2B5EF4-FFF2-40B4-BE49-F238E27FC236}">
                  <a16:creationId xmlns:a16="http://schemas.microsoft.com/office/drawing/2014/main" id="{5B9A74F0-E0B3-224A-BDF5-137A4EF38DCA}"/>
                </a:ext>
              </a:extLst>
            </p:cNvPr>
            <p:cNvSpPr/>
            <p:nvPr/>
          </p:nvSpPr>
          <p:spPr>
            <a:xfrm rot="10800000">
              <a:off x="9339713" y="40685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pic>
          <p:nvPicPr>
            <p:cNvPr id="144" name="Graphic 143">
              <a:extLst>
                <a:ext uri="{FF2B5EF4-FFF2-40B4-BE49-F238E27FC236}">
                  <a16:creationId xmlns:a16="http://schemas.microsoft.com/office/drawing/2014/main" id="{D776CD0F-210E-AB42-AB7B-1EB60E68A29B}"/>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416546" y="4169032"/>
              <a:ext cx="317777" cy="294713"/>
            </a:xfrm>
            <a:prstGeom prst="rect">
              <a:avLst/>
            </a:prstGeom>
          </p:spPr>
        </p:pic>
      </p:grpSp>
      <p:grpSp>
        <p:nvGrpSpPr>
          <p:cNvPr id="23" name="Group 22">
            <a:extLst>
              <a:ext uri="{FF2B5EF4-FFF2-40B4-BE49-F238E27FC236}">
                <a16:creationId xmlns:a16="http://schemas.microsoft.com/office/drawing/2014/main" id="{107C6E52-4FF3-4179-B64D-F329993F2EB5}"/>
              </a:ext>
            </a:extLst>
          </p:cNvPr>
          <p:cNvGrpSpPr/>
          <p:nvPr/>
        </p:nvGrpSpPr>
        <p:grpSpPr>
          <a:xfrm>
            <a:off x="2699400" y="3521596"/>
            <a:ext cx="758008" cy="1305480"/>
            <a:chOff x="2397242" y="3695593"/>
            <a:chExt cx="758008" cy="1305480"/>
          </a:xfrm>
        </p:grpSpPr>
        <p:cxnSp>
          <p:nvCxnSpPr>
            <p:cNvPr id="51" name="Straight Connector 50">
              <a:extLst>
                <a:ext uri="{FF2B5EF4-FFF2-40B4-BE49-F238E27FC236}">
                  <a16:creationId xmlns:a16="http://schemas.microsoft.com/office/drawing/2014/main" id="{DE886FC1-2D19-BB4C-ABFD-C6368BDE32C1}"/>
                </a:ext>
              </a:extLst>
            </p:cNvPr>
            <p:cNvCxnSpPr>
              <a:cxnSpLocks/>
            </p:cNvCxnSpPr>
            <p:nvPr/>
          </p:nvCxnSpPr>
          <p:spPr bwMode="gray">
            <a:xfrm rot="10800000" flipV="1">
              <a:off x="2776944" y="369559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D1B978F9-2BF4-E24C-9EEF-8DD09DB4A360}"/>
                </a:ext>
              </a:extLst>
            </p:cNvPr>
            <p:cNvSpPr/>
            <p:nvPr/>
          </p:nvSpPr>
          <p:spPr>
            <a:xfrm rot="10800000">
              <a:off x="2536884" y="406125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95" name="Rounded Rectangle 31">
              <a:extLst>
                <a:ext uri="{FF2B5EF4-FFF2-40B4-BE49-F238E27FC236}">
                  <a16:creationId xmlns:a16="http://schemas.microsoft.com/office/drawing/2014/main" id="{D2D9C7D5-1FB2-3843-B9B0-381BDE57E1E7}"/>
                </a:ext>
              </a:extLst>
            </p:cNvPr>
            <p:cNvSpPr/>
            <p:nvPr/>
          </p:nvSpPr>
          <p:spPr>
            <a:xfrm>
              <a:off x="2397242" y="4622069"/>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Identity</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Federation</a:t>
              </a:r>
            </a:p>
          </p:txBody>
        </p:sp>
        <p:sp>
          <p:nvSpPr>
            <p:cNvPr id="159" name="Picture Placeholder 74" descr="Security 1&#10;">
              <a:extLst>
                <a:ext uri="{FF2B5EF4-FFF2-40B4-BE49-F238E27FC236}">
                  <a16:creationId xmlns:a16="http://schemas.microsoft.com/office/drawing/2014/main" id="{B826446C-CA20-984F-A6E7-96642D661536}"/>
                </a:ext>
              </a:extLst>
            </p:cNvPr>
            <p:cNvSpPr/>
            <p:nvPr/>
          </p:nvSpPr>
          <p:spPr>
            <a:xfrm>
              <a:off x="2640142" y="4150019"/>
              <a:ext cx="263705" cy="310319"/>
            </a:xfrm>
            <a:custGeom>
              <a:avLst/>
              <a:gdLst>
                <a:gd name="connsiteX0" fmla="*/ 254818 w 509509"/>
                <a:gd name="connsiteY0" fmla="*/ 599572 h 599572"/>
                <a:gd name="connsiteX1" fmla="*/ 246217 w 509509"/>
                <a:gd name="connsiteY1" fmla="*/ 596536 h 599572"/>
                <a:gd name="connsiteX2" fmla="*/ 0 w 509509"/>
                <a:gd name="connsiteY2" fmla="*/ 263609 h 599572"/>
                <a:gd name="connsiteX3" fmla="*/ 0 w 509509"/>
                <a:gd name="connsiteY3" fmla="*/ 110364 h 599572"/>
                <a:gd name="connsiteX4" fmla="*/ 18974 w 509509"/>
                <a:gd name="connsiteY4" fmla="*/ 105494 h 599572"/>
                <a:gd name="connsiteX5" fmla="*/ 134651 w 509509"/>
                <a:gd name="connsiteY5" fmla="*/ 64637 h 599572"/>
                <a:gd name="connsiteX6" fmla="*/ 241094 w 509509"/>
                <a:gd name="connsiteY6" fmla="*/ 8854 h 599572"/>
                <a:gd name="connsiteX7" fmla="*/ 254692 w 509509"/>
                <a:gd name="connsiteY7" fmla="*/ 0 h 599572"/>
                <a:gd name="connsiteX8" fmla="*/ 268669 w 509509"/>
                <a:gd name="connsiteY8" fmla="*/ 8665 h 599572"/>
                <a:gd name="connsiteX9" fmla="*/ 374922 w 509509"/>
                <a:gd name="connsiteY9" fmla="*/ 64764 h 599572"/>
                <a:gd name="connsiteX10" fmla="*/ 490536 w 509509"/>
                <a:gd name="connsiteY10" fmla="*/ 105811 h 599572"/>
                <a:gd name="connsiteX11" fmla="*/ 509510 w 509509"/>
                <a:gd name="connsiteY11" fmla="*/ 110681 h 599572"/>
                <a:gd name="connsiteX12" fmla="*/ 509510 w 509509"/>
                <a:gd name="connsiteY12" fmla="*/ 263609 h 599572"/>
                <a:gd name="connsiteX13" fmla="*/ 262850 w 509509"/>
                <a:gd name="connsiteY13" fmla="*/ 596220 h 599572"/>
                <a:gd name="connsiteX14" fmla="*/ 262850 w 509509"/>
                <a:gd name="connsiteY14" fmla="*/ 596220 h 599572"/>
                <a:gd name="connsiteX15" fmla="*/ 15748 w 509509"/>
                <a:gd name="connsiteY15" fmla="*/ 122697 h 599572"/>
                <a:gd name="connsiteX16" fmla="*/ 15748 w 509509"/>
                <a:gd name="connsiteY16" fmla="*/ 263609 h 599572"/>
                <a:gd name="connsiteX17" fmla="*/ 251529 w 509509"/>
                <a:gd name="connsiteY17" fmla="*/ 581673 h 599572"/>
                <a:gd name="connsiteX18" fmla="*/ 254818 w 509509"/>
                <a:gd name="connsiteY18" fmla="*/ 582812 h 599572"/>
                <a:gd name="connsiteX19" fmla="*/ 259562 w 509509"/>
                <a:gd name="connsiteY19" fmla="*/ 581168 h 599572"/>
                <a:gd name="connsiteX20" fmla="*/ 493888 w 509509"/>
                <a:gd name="connsiteY20" fmla="*/ 263609 h 599572"/>
                <a:gd name="connsiteX21" fmla="*/ 493888 w 509509"/>
                <a:gd name="connsiteY21" fmla="*/ 122697 h 599572"/>
                <a:gd name="connsiteX22" fmla="*/ 486551 w 509509"/>
                <a:gd name="connsiteY22" fmla="*/ 120800 h 599572"/>
                <a:gd name="connsiteX23" fmla="*/ 368598 w 509509"/>
                <a:gd name="connsiteY23" fmla="*/ 78931 h 599572"/>
                <a:gd name="connsiteX24" fmla="*/ 260384 w 509509"/>
                <a:gd name="connsiteY24" fmla="*/ 22010 h 599572"/>
                <a:gd name="connsiteX25" fmla="*/ 254945 w 509509"/>
                <a:gd name="connsiteY25" fmla="*/ 18658 h 599572"/>
                <a:gd name="connsiteX26" fmla="*/ 249632 w 509509"/>
                <a:gd name="connsiteY26" fmla="*/ 22136 h 599572"/>
                <a:gd name="connsiteX27" fmla="*/ 141228 w 509509"/>
                <a:gd name="connsiteY27" fmla="*/ 79058 h 599572"/>
                <a:gd name="connsiteX28" fmla="*/ 23085 w 509509"/>
                <a:gd name="connsiteY28" fmla="*/ 120800 h 59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9509" h="599572">
                  <a:moveTo>
                    <a:pt x="254818" y="599572"/>
                  </a:moveTo>
                  <a:lnTo>
                    <a:pt x="246217" y="596536"/>
                  </a:lnTo>
                  <a:cubicBezTo>
                    <a:pt x="235908" y="592678"/>
                    <a:pt x="0" y="500655"/>
                    <a:pt x="0" y="263609"/>
                  </a:cubicBezTo>
                  <a:lnTo>
                    <a:pt x="0" y="110364"/>
                  </a:lnTo>
                  <a:lnTo>
                    <a:pt x="18974" y="105494"/>
                  </a:lnTo>
                  <a:cubicBezTo>
                    <a:pt x="58566" y="95001"/>
                    <a:pt x="97250" y="81337"/>
                    <a:pt x="134651" y="64637"/>
                  </a:cubicBezTo>
                  <a:cubicBezTo>
                    <a:pt x="171498" y="48775"/>
                    <a:pt x="207082" y="30127"/>
                    <a:pt x="241094" y="8854"/>
                  </a:cubicBezTo>
                  <a:lnTo>
                    <a:pt x="254692" y="0"/>
                  </a:lnTo>
                  <a:lnTo>
                    <a:pt x="268669" y="8665"/>
                  </a:lnTo>
                  <a:cubicBezTo>
                    <a:pt x="302616" y="30027"/>
                    <a:pt x="338136" y="48780"/>
                    <a:pt x="374922" y="64764"/>
                  </a:cubicBezTo>
                  <a:cubicBezTo>
                    <a:pt x="412304" y="81506"/>
                    <a:pt x="450965" y="95231"/>
                    <a:pt x="490536" y="105811"/>
                  </a:cubicBezTo>
                  <a:lnTo>
                    <a:pt x="509510" y="110681"/>
                  </a:lnTo>
                  <a:lnTo>
                    <a:pt x="509510" y="263609"/>
                  </a:lnTo>
                  <a:cubicBezTo>
                    <a:pt x="509510" y="495659"/>
                    <a:pt x="289287" y="586923"/>
                    <a:pt x="262850" y="596220"/>
                  </a:cubicBezTo>
                  <a:lnTo>
                    <a:pt x="262850" y="596220"/>
                  </a:lnTo>
                  <a:close/>
                  <a:moveTo>
                    <a:pt x="15748" y="122697"/>
                  </a:moveTo>
                  <a:lnTo>
                    <a:pt x="15748" y="263609"/>
                  </a:lnTo>
                  <a:cubicBezTo>
                    <a:pt x="15748" y="489904"/>
                    <a:pt x="241853" y="578005"/>
                    <a:pt x="251529" y="581673"/>
                  </a:cubicBezTo>
                  <a:lnTo>
                    <a:pt x="254818" y="582812"/>
                  </a:lnTo>
                  <a:lnTo>
                    <a:pt x="259562" y="581168"/>
                  </a:lnTo>
                  <a:cubicBezTo>
                    <a:pt x="273602" y="575981"/>
                    <a:pt x="493888" y="487627"/>
                    <a:pt x="493888" y="263609"/>
                  </a:cubicBezTo>
                  <a:lnTo>
                    <a:pt x="493888" y="122697"/>
                  </a:lnTo>
                  <a:lnTo>
                    <a:pt x="486551" y="120800"/>
                  </a:lnTo>
                  <a:cubicBezTo>
                    <a:pt x="446185" y="109995"/>
                    <a:pt x="406743" y="95995"/>
                    <a:pt x="368598" y="78931"/>
                  </a:cubicBezTo>
                  <a:cubicBezTo>
                    <a:pt x="331139" y="62720"/>
                    <a:pt x="294964" y="43692"/>
                    <a:pt x="260384" y="22010"/>
                  </a:cubicBezTo>
                  <a:lnTo>
                    <a:pt x="254945" y="18658"/>
                  </a:lnTo>
                  <a:lnTo>
                    <a:pt x="249632" y="22136"/>
                  </a:lnTo>
                  <a:cubicBezTo>
                    <a:pt x="214986" y="43819"/>
                    <a:pt x="178748" y="62848"/>
                    <a:pt x="141228" y="79058"/>
                  </a:cubicBezTo>
                  <a:cubicBezTo>
                    <a:pt x="103025" y="96104"/>
                    <a:pt x="63517" y="110063"/>
                    <a:pt x="23085" y="120800"/>
                  </a:cubicBezTo>
                  <a:close/>
                </a:path>
              </a:pathLst>
            </a:custGeom>
            <a:solidFill>
              <a:schemeClr val="tx1"/>
            </a:solid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37" name="Group 36">
            <a:extLst>
              <a:ext uri="{FF2B5EF4-FFF2-40B4-BE49-F238E27FC236}">
                <a16:creationId xmlns:a16="http://schemas.microsoft.com/office/drawing/2014/main" id="{E1003D7A-15C9-4049-8821-416C99725189}"/>
              </a:ext>
            </a:extLst>
          </p:cNvPr>
          <p:cNvGrpSpPr/>
          <p:nvPr/>
        </p:nvGrpSpPr>
        <p:grpSpPr>
          <a:xfrm>
            <a:off x="7700951" y="3517925"/>
            <a:ext cx="758008" cy="2475217"/>
            <a:chOff x="7258991" y="3703187"/>
            <a:chExt cx="758008" cy="2475217"/>
          </a:xfrm>
        </p:grpSpPr>
        <p:cxnSp>
          <p:nvCxnSpPr>
            <p:cNvPr id="121" name="Straight Connector 120">
              <a:extLst>
                <a:ext uri="{FF2B5EF4-FFF2-40B4-BE49-F238E27FC236}">
                  <a16:creationId xmlns:a16="http://schemas.microsoft.com/office/drawing/2014/main" id="{A412821E-50F6-2F43-AEA2-5F74BD5BBD76}"/>
                </a:ext>
              </a:extLst>
            </p:cNvPr>
            <p:cNvCxnSpPr>
              <a:cxnSpLocks/>
            </p:cNvCxnSpPr>
            <p:nvPr/>
          </p:nvCxnSpPr>
          <p:spPr bwMode="gray">
            <a:xfrm>
              <a:off x="7639226"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22" name="Oval 121">
              <a:extLst>
                <a:ext uri="{FF2B5EF4-FFF2-40B4-BE49-F238E27FC236}">
                  <a16:creationId xmlns:a16="http://schemas.microsoft.com/office/drawing/2014/main" id="{5841B18E-1AB5-0246-95B3-33EEAB5DC164}"/>
                </a:ext>
              </a:extLst>
            </p:cNvPr>
            <p:cNvSpPr/>
            <p:nvPr/>
          </p:nvSpPr>
          <p:spPr>
            <a:xfrm rot="10800000">
              <a:off x="7399165"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33" name="Rounded Rectangle 38">
              <a:extLst>
                <a:ext uri="{FF2B5EF4-FFF2-40B4-BE49-F238E27FC236}">
                  <a16:creationId xmlns:a16="http://schemas.microsoft.com/office/drawing/2014/main" id="{2293FB2A-140E-7A41-B6F9-1A32FD4C951B}"/>
                </a:ext>
              </a:extLst>
            </p:cNvPr>
            <p:cNvSpPr/>
            <p:nvPr/>
          </p:nvSpPr>
          <p:spPr>
            <a:xfrm>
              <a:off x="7258991"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Workload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Clustering</a:t>
              </a:r>
            </a:p>
          </p:txBody>
        </p:sp>
        <p:pic>
          <p:nvPicPr>
            <p:cNvPr id="195" name="Picture Placeholder 88">
              <a:extLst>
                <a:ext uri="{FF2B5EF4-FFF2-40B4-BE49-F238E27FC236}">
                  <a16:creationId xmlns:a16="http://schemas.microsoft.com/office/drawing/2014/main" id="{D0ABC2BF-50B9-FD4B-BB1C-547547359FFE}"/>
                </a:ext>
              </a:extLst>
            </p:cNvPr>
            <p:cNvPicPr>
              <a:picLocks noChangeAspect="1"/>
            </p:cNvPicPr>
            <p:nvPr/>
          </p:nvPicPr>
          <p:blipFill>
            <a:blip>
              <a:extLst>
                <a:ext uri="{96DAC541-7B7A-43D3-8B79-37D633B846F1}">
                  <asvg:svgBlip xmlns:asvg="http://schemas.microsoft.com/office/drawing/2016/SVG/main" r:embed="rId8"/>
                </a:ext>
              </a:extLst>
            </a:blip>
            <a:srcRect t="104" b="104"/>
            <a:stretch>
              <a:fillRect/>
            </a:stretch>
          </p:blipFill>
          <p:spPr>
            <a:xfrm>
              <a:off x="7448781" y="5286952"/>
              <a:ext cx="422800" cy="421921"/>
            </a:xfrm>
            <a:prstGeom prst="rect">
              <a:avLst/>
            </a:prstGeom>
          </p:spPr>
        </p:pic>
      </p:grpSp>
      <p:grpSp>
        <p:nvGrpSpPr>
          <p:cNvPr id="11" name="Group 10">
            <a:extLst>
              <a:ext uri="{FF2B5EF4-FFF2-40B4-BE49-F238E27FC236}">
                <a16:creationId xmlns:a16="http://schemas.microsoft.com/office/drawing/2014/main" id="{CA7E1A42-78DF-4B8B-BF1E-4EE2E723D76C}"/>
              </a:ext>
            </a:extLst>
          </p:cNvPr>
          <p:cNvGrpSpPr/>
          <p:nvPr/>
        </p:nvGrpSpPr>
        <p:grpSpPr>
          <a:xfrm>
            <a:off x="766345" y="1266032"/>
            <a:ext cx="758008" cy="1315087"/>
            <a:chOff x="766345" y="1433284"/>
            <a:chExt cx="758008" cy="1315087"/>
          </a:xfrm>
        </p:grpSpPr>
        <p:cxnSp>
          <p:nvCxnSpPr>
            <p:cNvPr id="50" name="Straight Connector 49">
              <a:extLst>
                <a:ext uri="{FF2B5EF4-FFF2-40B4-BE49-F238E27FC236}">
                  <a16:creationId xmlns:a16="http://schemas.microsoft.com/office/drawing/2014/main" id="{A0E94F8C-10BB-8C48-BF17-12BE975B3A2B}"/>
                </a:ext>
              </a:extLst>
            </p:cNvPr>
            <p:cNvCxnSpPr>
              <a:cxnSpLocks/>
            </p:cNvCxnSpPr>
            <p:nvPr/>
          </p:nvCxnSpPr>
          <p:spPr bwMode="gray">
            <a:xfrm flipV="1">
              <a:off x="1145346" y="2382706"/>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8607EC25-A243-5841-8409-9050FF5E09CD}"/>
                </a:ext>
              </a:extLst>
            </p:cNvPr>
            <p:cNvSpPr/>
            <p:nvPr/>
          </p:nvSpPr>
          <p:spPr>
            <a:xfrm>
              <a:off x="905286" y="1900043"/>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54" name="Rounded Rectangle 37">
              <a:extLst>
                <a:ext uri="{FF2B5EF4-FFF2-40B4-BE49-F238E27FC236}">
                  <a16:creationId xmlns:a16="http://schemas.microsoft.com/office/drawing/2014/main" id="{FA6C039C-44D4-7A40-9CA2-7A737FC8D398}"/>
                </a:ext>
              </a:extLst>
            </p:cNvPr>
            <p:cNvSpPr/>
            <p:nvPr/>
          </p:nvSpPr>
          <p:spPr>
            <a:xfrm>
              <a:off x="766345" y="1433284"/>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Dependency</a:t>
              </a:r>
            </a:p>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Mapping</a:t>
              </a:r>
            </a:p>
          </p:txBody>
        </p:sp>
        <p:pic>
          <p:nvPicPr>
            <p:cNvPr id="196" name="Picture Placeholder 93">
              <a:extLst>
                <a:ext uri="{FF2B5EF4-FFF2-40B4-BE49-F238E27FC236}">
                  <a16:creationId xmlns:a16="http://schemas.microsoft.com/office/drawing/2014/main" id="{2B34344A-04DD-0147-B005-208C80337AB9}"/>
                </a:ext>
              </a:extLst>
            </p:cNvPr>
            <p:cNvPicPr>
              <a:picLocks noChangeAspect="1"/>
            </p:cNvPicPr>
            <p:nvPr/>
          </p:nvPicPr>
          <p:blipFill>
            <a:blip>
              <a:extLst>
                <a:ext uri="{96DAC541-7B7A-43D3-8B79-37D633B846F1}">
                  <asvg:svgBlip xmlns:asvg="http://schemas.microsoft.com/office/drawing/2016/SVG/main" r:embed="rId9"/>
                </a:ext>
              </a:extLst>
            </a:blip>
            <a:srcRect l="104" r="104"/>
            <a:stretch>
              <a:fillRect/>
            </a:stretch>
          </p:blipFill>
          <p:spPr>
            <a:xfrm>
              <a:off x="952411" y="1941655"/>
              <a:ext cx="396896" cy="396896"/>
            </a:xfrm>
            <a:prstGeom prst="rect">
              <a:avLst/>
            </a:prstGeom>
          </p:spPr>
        </p:pic>
      </p:grpSp>
      <p:grpSp>
        <p:nvGrpSpPr>
          <p:cNvPr id="25" name="Group 24">
            <a:extLst>
              <a:ext uri="{FF2B5EF4-FFF2-40B4-BE49-F238E27FC236}">
                <a16:creationId xmlns:a16="http://schemas.microsoft.com/office/drawing/2014/main" id="{D71FA243-7D9F-4A7A-BB99-FF0561AEF6BF}"/>
              </a:ext>
            </a:extLst>
          </p:cNvPr>
          <p:cNvGrpSpPr/>
          <p:nvPr/>
        </p:nvGrpSpPr>
        <p:grpSpPr>
          <a:xfrm>
            <a:off x="3291393" y="3517925"/>
            <a:ext cx="758008" cy="2475217"/>
            <a:chOff x="3961953" y="3703187"/>
            <a:chExt cx="758008" cy="2475217"/>
          </a:xfrm>
        </p:grpSpPr>
        <p:sp>
          <p:nvSpPr>
            <p:cNvPr id="98" name="Rounded Rectangle 37">
              <a:extLst>
                <a:ext uri="{FF2B5EF4-FFF2-40B4-BE49-F238E27FC236}">
                  <a16:creationId xmlns:a16="http://schemas.microsoft.com/office/drawing/2014/main" id="{8B4F2232-8AD9-6242-A7A7-A40BBF930283}"/>
                </a:ext>
              </a:extLst>
            </p:cNvPr>
            <p:cNvSpPr/>
            <p:nvPr/>
          </p:nvSpPr>
          <p:spPr>
            <a:xfrm>
              <a:off x="3961953"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TPM &amp;</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Secure Boot</a:t>
              </a:r>
            </a:p>
          </p:txBody>
        </p:sp>
        <p:cxnSp>
          <p:nvCxnSpPr>
            <p:cNvPr id="99" name="Straight Connector 98">
              <a:extLst>
                <a:ext uri="{FF2B5EF4-FFF2-40B4-BE49-F238E27FC236}">
                  <a16:creationId xmlns:a16="http://schemas.microsoft.com/office/drawing/2014/main" id="{C83BC69A-03D2-8344-8553-8DD724BE9068}"/>
                </a:ext>
              </a:extLst>
            </p:cNvPr>
            <p:cNvCxnSpPr>
              <a:cxnSpLocks/>
            </p:cNvCxnSpPr>
            <p:nvPr/>
          </p:nvCxnSpPr>
          <p:spPr bwMode="gray">
            <a:xfrm>
              <a:off x="4340956"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01" name="Oval 100">
              <a:extLst>
                <a:ext uri="{FF2B5EF4-FFF2-40B4-BE49-F238E27FC236}">
                  <a16:creationId xmlns:a16="http://schemas.microsoft.com/office/drawing/2014/main" id="{2A3C96D7-E48D-A24C-956C-4F3EA68E6D17}"/>
                </a:ext>
              </a:extLst>
            </p:cNvPr>
            <p:cNvSpPr/>
            <p:nvPr/>
          </p:nvSpPr>
          <p:spPr>
            <a:xfrm rot="10800000">
              <a:off x="4100896"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grpSp>
          <p:nvGrpSpPr>
            <p:cNvPr id="217" name="Picture Placeholder 98" descr="Dashboard&#10;">
              <a:extLst>
                <a:ext uri="{FF2B5EF4-FFF2-40B4-BE49-F238E27FC236}">
                  <a16:creationId xmlns:a16="http://schemas.microsoft.com/office/drawing/2014/main" id="{BE480A5A-8E40-6245-A88D-ABBE06D6BF86}"/>
                </a:ext>
              </a:extLst>
            </p:cNvPr>
            <p:cNvGrpSpPr>
              <a:grpSpLocks noChangeAspect="1"/>
            </p:cNvGrpSpPr>
            <p:nvPr/>
          </p:nvGrpSpPr>
          <p:grpSpPr>
            <a:xfrm>
              <a:off x="4220310" y="5369590"/>
              <a:ext cx="244612" cy="244612"/>
              <a:chOff x="7127146" y="720904"/>
              <a:chExt cx="598307" cy="598307"/>
            </a:xfrm>
            <a:solidFill>
              <a:schemeClr val="tx1"/>
            </a:solidFill>
          </p:grpSpPr>
          <p:sp>
            <p:nvSpPr>
              <p:cNvPr id="218" name="Picture Placeholder 98">
                <a:extLst>
                  <a:ext uri="{FF2B5EF4-FFF2-40B4-BE49-F238E27FC236}">
                    <a16:creationId xmlns:a16="http://schemas.microsoft.com/office/drawing/2014/main" id="{79B94CFC-87D5-0745-9DA1-DC2C8B913BD5}"/>
                  </a:ext>
                </a:extLst>
              </p:cNvPr>
              <p:cNvSpPr/>
              <p:nvPr/>
            </p:nvSpPr>
            <p:spPr>
              <a:xfrm>
                <a:off x="7196084" y="912539"/>
                <a:ext cx="132816" cy="343425"/>
              </a:xfrm>
              <a:custGeom>
                <a:avLst/>
                <a:gdLst>
                  <a:gd name="connsiteX0" fmla="*/ 132817 w 132816"/>
                  <a:gd name="connsiteY0" fmla="*/ 343426 h 343425"/>
                  <a:gd name="connsiteX1" fmla="*/ 0 w 132816"/>
                  <a:gd name="connsiteY1" fmla="*/ 343426 h 343425"/>
                  <a:gd name="connsiteX2" fmla="*/ 0 w 132816"/>
                  <a:gd name="connsiteY2" fmla="*/ 0 h 343425"/>
                  <a:gd name="connsiteX3" fmla="*/ 132817 w 132816"/>
                  <a:gd name="connsiteY3" fmla="*/ 0 h 343425"/>
                  <a:gd name="connsiteX4" fmla="*/ 132817 w 132816"/>
                  <a:gd name="connsiteY4" fmla="*/ 343426 h 343425"/>
                  <a:gd name="connsiteX5" fmla="*/ 15812 w 132816"/>
                  <a:gd name="connsiteY5" fmla="*/ 327614 h 343425"/>
                  <a:gd name="connsiteX6" fmla="*/ 117005 w 132816"/>
                  <a:gd name="connsiteY6" fmla="*/ 327614 h 343425"/>
                  <a:gd name="connsiteX7" fmla="*/ 117005 w 132816"/>
                  <a:gd name="connsiteY7" fmla="*/ 15812 h 343425"/>
                  <a:gd name="connsiteX8" fmla="*/ 15812 w 132816"/>
                  <a:gd name="connsiteY8" fmla="*/ 15812 h 343425"/>
                  <a:gd name="connsiteX9" fmla="*/ 15812 w 132816"/>
                  <a:gd name="connsiteY9" fmla="*/ 327614 h 34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816" h="343425">
                    <a:moveTo>
                      <a:pt x="132817" y="343426"/>
                    </a:moveTo>
                    <a:lnTo>
                      <a:pt x="0" y="343426"/>
                    </a:lnTo>
                    <a:lnTo>
                      <a:pt x="0" y="0"/>
                    </a:lnTo>
                    <a:lnTo>
                      <a:pt x="132817" y="0"/>
                    </a:lnTo>
                    <a:lnTo>
                      <a:pt x="132817" y="343426"/>
                    </a:lnTo>
                    <a:close/>
                    <a:moveTo>
                      <a:pt x="15812" y="327614"/>
                    </a:moveTo>
                    <a:lnTo>
                      <a:pt x="117005" y="327614"/>
                    </a:lnTo>
                    <a:lnTo>
                      <a:pt x="117005" y="15812"/>
                    </a:lnTo>
                    <a:lnTo>
                      <a:pt x="15812" y="15812"/>
                    </a:lnTo>
                    <a:lnTo>
                      <a:pt x="15812" y="327614"/>
                    </a:ln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19" name="Picture Placeholder 98">
                <a:extLst>
                  <a:ext uri="{FF2B5EF4-FFF2-40B4-BE49-F238E27FC236}">
                    <a16:creationId xmlns:a16="http://schemas.microsoft.com/office/drawing/2014/main" id="{3E6B4CD1-B23E-6B4B-BF47-21D1A5A1299B}"/>
                  </a:ext>
                </a:extLst>
              </p:cNvPr>
              <p:cNvSpPr/>
              <p:nvPr/>
            </p:nvSpPr>
            <p:spPr>
              <a:xfrm>
                <a:off x="7359891" y="784782"/>
                <a:ext cx="132816" cy="471182"/>
              </a:xfrm>
              <a:custGeom>
                <a:avLst/>
                <a:gdLst>
                  <a:gd name="connsiteX0" fmla="*/ 132817 w 132816"/>
                  <a:gd name="connsiteY0" fmla="*/ 471183 h 471182"/>
                  <a:gd name="connsiteX1" fmla="*/ 0 w 132816"/>
                  <a:gd name="connsiteY1" fmla="*/ 471183 h 471182"/>
                  <a:gd name="connsiteX2" fmla="*/ 0 w 132816"/>
                  <a:gd name="connsiteY2" fmla="*/ 0 h 471182"/>
                  <a:gd name="connsiteX3" fmla="*/ 132817 w 132816"/>
                  <a:gd name="connsiteY3" fmla="*/ 0 h 471182"/>
                  <a:gd name="connsiteX4" fmla="*/ 132817 w 132816"/>
                  <a:gd name="connsiteY4" fmla="*/ 471183 h 471182"/>
                  <a:gd name="connsiteX5" fmla="*/ 15812 w 132816"/>
                  <a:gd name="connsiteY5" fmla="*/ 455371 h 471182"/>
                  <a:gd name="connsiteX6" fmla="*/ 117005 w 132816"/>
                  <a:gd name="connsiteY6" fmla="*/ 455371 h 471182"/>
                  <a:gd name="connsiteX7" fmla="*/ 117005 w 132816"/>
                  <a:gd name="connsiteY7" fmla="*/ 15812 h 471182"/>
                  <a:gd name="connsiteX8" fmla="*/ 15812 w 132816"/>
                  <a:gd name="connsiteY8" fmla="*/ 15812 h 471182"/>
                  <a:gd name="connsiteX9" fmla="*/ 15812 w 132816"/>
                  <a:gd name="connsiteY9" fmla="*/ 455371 h 47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816" h="471182">
                    <a:moveTo>
                      <a:pt x="132817" y="471183"/>
                    </a:moveTo>
                    <a:lnTo>
                      <a:pt x="0" y="471183"/>
                    </a:lnTo>
                    <a:lnTo>
                      <a:pt x="0" y="0"/>
                    </a:lnTo>
                    <a:lnTo>
                      <a:pt x="132817" y="0"/>
                    </a:lnTo>
                    <a:lnTo>
                      <a:pt x="132817" y="471183"/>
                    </a:lnTo>
                    <a:close/>
                    <a:moveTo>
                      <a:pt x="15812" y="455371"/>
                    </a:moveTo>
                    <a:lnTo>
                      <a:pt x="117005" y="455371"/>
                    </a:lnTo>
                    <a:lnTo>
                      <a:pt x="117005" y="15812"/>
                    </a:lnTo>
                    <a:lnTo>
                      <a:pt x="15812" y="15812"/>
                    </a:lnTo>
                    <a:lnTo>
                      <a:pt x="15812" y="455371"/>
                    </a:ln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20" name="Picture Placeholder 98">
                <a:extLst>
                  <a:ext uri="{FF2B5EF4-FFF2-40B4-BE49-F238E27FC236}">
                    <a16:creationId xmlns:a16="http://schemas.microsoft.com/office/drawing/2014/main" id="{C6336EAB-330C-D048-87FA-A07363973E76}"/>
                  </a:ext>
                </a:extLst>
              </p:cNvPr>
              <p:cNvSpPr/>
              <p:nvPr/>
            </p:nvSpPr>
            <p:spPr>
              <a:xfrm>
                <a:off x="7523066" y="1018160"/>
                <a:ext cx="132816" cy="237804"/>
              </a:xfrm>
              <a:custGeom>
                <a:avLst/>
                <a:gdLst>
                  <a:gd name="connsiteX0" fmla="*/ 132817 w 132816"/>
                  <a:gd name="connsiteY0" fmla="*/ 237805 h 237804"/>
                  <a:gd name="connsiteX1" fmla="*/ 0 w 132816"/>
                  <a:gd name="connsiteY1" fmla="*/ 237805 h 237804"/>
                  <a:gd name="connsiteX2" fmla="*/ 0 w 132816"/>
                  <a:gd name="connsiteY2" fmla="*/ 0 h 237804"/>
                  <a:gd name="connsiteX3" fmla="*/ 132817 w 132816"/>
                  <a:gd name="connsiteY3" fmla="*/ 0 h 237804"/>
                  <a:gd name="connsiteX4" fmla="*/ 132817 w 132816"/>
                  <a:gd name="connsiteY4" fmla="*/ 237805 h 237804"/>
                  <a:gd name="connsiteX5" fmla="*/ 16444 w 132816"/>
                  <a:gd name="connsiteY5" fmla="*/ 221993 h 237804"/>
                  <a:gd name="connsiteX6" fmla="*/ 117638 w 132816"/>
                  <a:gd name="connsiteY6" fmla="*/ 221993 h 237804"/>
                  <a:gd name="connsiteX7" fmla="*/ 117638 w 132816"/>
                  <a:gd name="connsiteY7" fmla="*/ 15812 h 237804"/>
                  <a:gd name="connsiteX8" fmla="*/ 16444 w 132816"/>
                  <a:gd name="connsiteY8" fmla="*/ 15812 h 237804"/>
                  <a:gd name="connsiteX9" fmla="*/ 16444 w 132816"/>
                  <a:gd name="connsiteY9" fmla="*/ 221993 h 23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816" h="237804">
                    <a:moveTo>
                      <a:pt x="132817" y="237805"/>
                    </a:moveTo>
                    <a:lnTo>
                      <a:pt x="0" y="237805"/>
                    </a:lnTo>
                    <a:lnTo>
                      <a:pt x="0" y="0"/>
                    </a:lnTo>
                    <a:lnTo>
                      <a:pt x="132817" y="0"/>
                    </a:lnTo>
                    <a:lnTo>
                      <a:pt x="132817" y="237805"/>
                    </a:lnTo>
                    <a:close/>
                    <a:moveTo>
                      <a:pt x="16444" y="221993"/>
                    </a:moveTo>
                    <a:lnTo>
                      <a:pt x="117638" y="221993"/>
                    </a:lnTo>
                    <a:lnTo>
                      <a:pt x="117638" y="15812"/>
                    </a:lnTo>
                    <a:lnTo>
                      <a:pt x="16444" y="15812"/>
                    </a:lnTo>
                    <a:lnTo>
                      <a:pt x="16444" y="221993"/>
                    </a:ln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21" name="Picture Placeholder 98">
                <a:extLst>
                  <a:ext uri="{FF2B5EF4-FFF2-40B4-BE49-F238E27FC236}">
                    <a16:creationId xmlns:a16="http://schemas.microsoft.com/office/drawing/2014/main" id="{2FE2EC4A-4C68-6B4F-9AEE-F36CA7BB0523}"/>
                  </a:ext>
                </a:extLst>
              </p:cNvPr>
              <p:cNvSpPr/>
              <p:nvPr/>
            </p:nvSpPr>
            <p:spPr>
              <a:xfrm>
                <a:off x="7127146" y="720904"/>
                <a:ext cx="598307" cy="598307"/>
              </a:xfrm>
              <a:custGeom>
                <a:avLst/>
                <a:gdLst>
                  <a:gd name="connsiteX0" fmla="*/ 598307 w 598307"/>
                  <a:gd name="connsiteY0" fmla="*/ 598307 h 598307"/>
                  <a:gd name="connsiteX1" fmla="*/ 0 w 598307"/>
                  <a:gd name="connsiteY1" fmla="*/ 598307 h 598307"/>
                  <a:gd name="connsiteX2" fmla="*/ 0 w 598307"/>
                  <a:gd name="connsiteY2" fmla="*/ 0 h 598307"/>
                  <a:gd name="connsiteX3" fmla="*/ 598307 w 598307"/>
                  <a:gd name="connsiteY3" fmla="*/ 0 h 598307"/>
                  <a:gd name="connsiteX4" fmla="*/ 598307 w 598307"/>
                  <a:gd name="connsiteY4" fmla="*/ 598307 h 598307"/>
                  <a:gd name="connsiteX5" fmla="*/ 15812 w 598307"/>
                  <a:gd name="connsiteY5" fmla="*/ 582496 h 598307"/>
                  <a:gd name="connsiteX6" fmla="*/ 582496 w 598307"/>
                  <a:gd name="connsiteY6" fmla="*/ 582496 h 598307"/>
                  <a:gd name="connsiteX7" fmla="*/ 582496 w 598307"/>
                  <a:gd name="connsiteY7" fmla="*/ 15812 h 598307"/>
                  <a:gd name="connsiteX8" fmla="*/ 15812 w 598307"/>
                  <a:gd name="connsiteY8" fmla="*/ 15812 h 598307"/>
                  <a:gd name="connsiteX9" fmla="*/ 15812 w 598307"/>
                  <a:gd name="connsiteY9" fmla="*/ 582496 h 59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8307" h="598307">
                    <a:moveTo>
                      <a:pt x="598307" y="598307"/>
                    </a:moveTo>
                    <a:lnTo>
                      <a:pt x="0" y="598307"/>
                    </a:lnTo>
                    <a:lnTo>
                      <a:pt x="0" y="0"/>
                    </a:lnTo>
                    <a:lnTo>
                      <a:pt x="598307" y="0"/>
                    </a:lnTo>
                    <a:lnTo>
                      <a:pt x="598307" y="598307"/>
                    </a:lnTo>
                    <a:close/>
                    <a:moveTo>
                      <a:pt x="15812" y="582496"/>
                    </a:moveTo>
                    <a:lnTo>
                      <a:pt x="582496" y="582496"/>
                    </a:lnTo>
                    <a:lnTo>
                      <a:pt x="582496" y="15812"/>
                    </a:lnTo>
                    <a:lnTo>
                      <a:pt x="15812" y="15812"/>
                    </a:lnTo>
                    <a:lnTo>
                      <a:pt x="15812" y="582496"/>
                    </a:lnTo>
                    <a:close/>
                  </a:path>
                </a:pathLst>
              </a:custGeom>
              <a:grp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28" name="Group 27">
            <a:extLst>
              <a:ext uri="{FF2B5EF4-FFF2-40B4-BE49-F238E27FC236}">
                <a16:creationId xmlns:a16="http://schemas.microsoft.com/office/drawing/2014/main" id="{7B604666-7851-4B02-904D-1CD0F1F8DAB2}"/>
              </a:ext>
            </a:extLst>
          </p:cNvPr>
          <p:cNvGrpSpPr/>
          <p:nvPr/>
        </p:nvGrpSpPr>
        <p:grpSpPr>
          <a:xfrm>
            <a:off x="5002448" y="3522385"/>
            <a:ext cx="758008" cy="1271439"/>
            <a:chOff x="4427566" y="3703188"/>
            <a:chExt cx="758008" cy="1271439"/>
          </a:xfrm>
        </p:grpSpPr>
        <p:sp>
          <p:nvSpPr>
            <p:cNvPr id="149" name="Rounded Rectangle 37">
              <a:extLst>
                <a:ext uri="{FF2B5EF4-FFF2-40B4-BE49-F238E27FC236}">
                  <a16:creationId xmlns:a16="http://schemas.microsoft.com/office/drawing/2014/main" id="{FE0EA1C0-2C90-5C44-BBBC-C541FD147C0C}"/>
                </a:ext>
              </a:extLst>
            </p:cNvPr>
            <p:cNvSpPr/>
            <p:nvPr/>
          </p:nvSpPr>
          <p:spPr>
            <a:xfrm>
              <a:off x="4427566" y="4595623"/>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Continuous</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Health Checks</a:t>
              </a:r>
            </a:p>
          </p:txBody>
        </p:sp>
        <p:cxnSp>
          <p:nvCxnSpPr>
            <p:cNvPr id="125" name="Straight Connector 124">
              <a:extLst>
                <a:ext uri="{FF2B5EF4-FFF2-40B4-BE49-F238E27FC236}">
                  <a16:creationId xmlns:a16="http://schemas.microsoft.com/office/drawing/2014/main" id="{3B53DE98-9670-404C-9953-209DA6A27A72}"/>
                </a:ext>
              </a:extLst>
            </p:cNvPr>
            <p:cNvCxnSpPr>
              <a:cxnSpLocks/>
            </p:cNvCxnSpPr>
            <p:nvPr/>
          </p:nvCxnSpPr>
          <p:spPr bwMode="gray">
            <a:xfrm flipV="1">
              <a:off x="4804663" y="3703188"/>
              <a:ext cx="0" cy="361499"/>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28" name="Oval 127">
              <a:extLst>
                <a:ext uri="{FF2B5EF4-FFF2-40B4-BE49-F238E27FC236}">
                  <a16:creationId xmlns:a16="http://schemas.microsoft.com/office/drawing/2014/main" id="{6BDDDC31-539B-1142-A323-E9B18D97E54A}"/>
                </a:ext>
              </a:extLst>
            </p:cNvPr>
            <p:cNvSpPr/>
            <p:nvPr/>
          </p:nvSpPr>
          <p:spPr>
            <a:xfrm>
              <a:off x="4566510" y="4057739"/>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29" name="Picture Placeholder 85" descr="Health Services&#10;">
              <a:extLst>
                <a:ext uri="{FF2B5EF4-FFF2-40B4-BE49-F238E27FC236}">
                  <a16:creationId xmlns:a16="http://schemas.microsoft.com/office/drawing/2014/main" id="{37665F9B-40D4-DB4E-8AF8-82C853CD8169}"/>
                </a:ext>
              </a:extLst>
            </p:cNvPr>
            <p:cNvSpPr/>
            <p:nvPr/>
          </p:nvSpPr>
          <p:spPr>
            <a:xfrm>
              <a:off x="4675376" y="4173916"/>
              <a:ext cx="262393" cy="262393"/>
            </a:xfrm>
            <a:custGeom>
              <a:avLst/>
              <a:gdLst>
                <a:gd name="connsiteX0" fmla="*/ 384789 w 600837"/>
                <a:gd name="connsiteY0" fmla="*/ 15812 h 600836"/>
                <a:gd name="connsiteX1" fmla="*/ 384789 w 600837"/>
                <a:gd name="connsiteY1" fmla="*/ 216112 h 600836"/>
                <a:gd name="connsiteX2" fmla="*/ 585026 w 600837"/>
                <a:gd name="connsiteY2" fmla="*/ 216112 h 600836"/>
                <a:gd name="connsiteX3" fmla="*/ 585026 w 600837"/>
                <a:gd name="connsiteY3" fmla="*/ 384789 h 600836"/>
                <a:gd name="connsiteX4" fmla="*/ 384789 w 600837"/>
                <a:gd name="connsiteY4" fmla="*/ 384789 h 600836"/>
                <a:gd name="connsiteX5" fmla="*/ 384789 w 600837"/>
                <a:gd name="connsiteY5" fmla="*/ 585026 h 600836"/>
                <a:gd name="connsiteX6" fmla="*/ 216112 w 600837"/>
                <a:gd name="connsiteY6" fmla="*/ 585026 h 600836"/>
                <a:gd name="connsiteX7" fmla="*/ 216112 w 600837"/>
                <a:gd name="connsiteY7" fmla="*/ 384789 h 600836"/>
                <a:gd name="connsiteX8" fmla="*/ 15812 w 600837"/>
                <a:gd name="connsiteY8" fmla="*/ 384789 h 600836"/>
                <a:gd name="connsiteX9" fmla="*/ 15812 w 600837"/>
                <a:gd name="connsiteY9" fmla="*/ 216112 h 600836"/>
                <a:gd name="connsiteX10" fmla="*/ 216112 w 600837"/>
                <a:gd name="connsiteY10" fmla="*/ 216112 h 600836"/>
                <a:gd name="connsiteX11" fmla="*/ 216112 w 600837"/>
                <a:gd name="connsiteY11" fmla="*/ 15812 h 600836"/>
                <a:gd name="connsiteX12" fmla="*/ 384789 w 600837"/>
                <a:gd name="connsiteY12" fmla="*/ 15812 h 600836"/>
                <a:gd name="connsiteX13" fmla="*/ 400600 w 600837"/>
                <a:gd name="connsiteY13" fmla="*/ 0 h 600836"/>
                <a:gd name="connsiteX14" fmla="*/ 200300 w 600837"/>
                <a:gd name="connsiteY14" fmla="*/ 0 h 600836"/>
                <a:gd name="connsiteX15" fmla="*/ 200300 w 600837"/>
                <a:gd name="connsiteY15" fmla="*/ 200300 h 600836"/>
                <a:gd name="connsiteX16" fmla="*/ 0 w 600837"/>
                <a:gd name="connsiteY16" fmla="*/ 200300 h 600836"/>
                <a:gd name="connsiteX17" fmla="*/ 0 w 600837"/>
                <a:gd name="connsiteY17" fmla="*/ 400600 h 600836"/>
                <a:gd name="connsiteX18" fmla="*/ 200300 w 600837"/>
                <a:gd name="connsiteY18" fmla="*/ 400600 h 600836"/>
                <a:gd name="connsiteX19" fmla="*/ 200300 w 600837"/>
                <a:gd name="connsiteY19" fmla="*/ 600837 h 600836"/>
                <a:gd name="connsiteX20" fmla="*/ 400600 w 600837"/>
                <a:gd name="connsiteY20" fmla="*/ 600837 h 600836"/>
                <a:gd name="connsiteX21" fmla="*/ 400600 w 600837"/>
                <a:gd name="connsiteY21" fmla="*/ 400600 h 600836"/>
                <a:gd name="connsiteX22" fmla="*/ 600837 w 600837"/>
                <a:gd name="connsiteY22" fmla="*/ 400600 h 600836"/>
                <a:gd name="connsiteX23" fmla="*/ 600837 w 600837"/>
                <a:gd name="connsiteY23" fmla="*/ 200300 h 600836"/>
                <a:gd name="connsiteX24" fmla="*/ 400600 w 600837"/>
                <a:gd name="connsiteY24" fmla="*/ 200300 h 600836"/>
                <a:gd name="connsiteX25" fmla="*/ 400600 w 600837"/>
                <a:gd name="connsiteY25" fmla="*/ 0 h 60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0837" h="600836">
                  <a:moveTo>
                    <a:pt x="384789" y="15812"/>
                  </a:moveTo>
                  <a:lnTo>
                    <a:pt x="384789" y="216112"/>
                  </a:lnTo>
                  <a:lnTo>
                    <a:pt x="585026" y="216112"/>
                  </a:lnTo>
                  <a:lnTo>
                    <a:pt x="585026" y="384789"/>
                  </a:lnTo>
                  <a:lnTo>
                    <a:pt x="384789" y="384789"/>
                  </a:lnTo>
                  <a:lnTo>
                    <a:pt x="384789" y="585026"/>
                  </a:lnTo>
                  <a:lnTo>
                    <a:pt x="216112" y="585026"/>
                  </a:lnTo>
                  <a:lnTo>
                    <a:pt x="216112" y="384789"/>
                  </a:lnTo>
                  <a:lnTo>
                    <a:pt x="15812" y="384789"/>
                  </a:lnTo>
                  <a:lnTo>
                    <a:pt x="15812" y="216112"/>
                  </a:lnTo>
                  <a:lnTo>
                    <a:pt x="216112" y="216112"/>
                  </a:lnTo>
                  <a:lnTo>
                    <a:pt x="216112" y="15812"/>
                  </a:lnTo>
                  <a:lnTo>
                    <a:pt x="384789" y="15812"/>
                  </a:lnTo>
                  <a:moveTo>
                    <a:pt x="400600" y="0"/>
                  </a:moveTo>
                  <a:lnTo>
                    <a:pt x="200300" y="0"/>
                  </a:lnTo>
                  <a:lnTo>
                    <a:pt x="200300" y="200300"/>
                  </a:lnTo>
                  <a:lnTo>
                    <a:pt x="0" y="200300"/>
                  </a:lnTo>
                  <a:lnTo>
                    <a:pt x="0" y="400600"/>
                  </a:lnTo>
                  <a:lnTo>
                    <a:pt x="200300" y="400600"/>
                  </a:lnTo>
                  <a:lnTo>
                    <a:pt x="200300" y="600837"/>
                  </a:lnTo>
                  <a:lnTo>
                    <a:pt x="400600" y="600837"/>
                  </a:lnTo>
                  <a:lnTo>
                    <a:pt x="400600" y="400600"/>
                  </a:lnTo>
                  <a:lnTo>
                    <a:pt x="600837" y="400600"/>
                  </a:lnTo>
                  <a:lnTo>
                    <a:pt x="600837" y="200300"/>
                  </a:lnTo>
                  <a:lnTo>
                    <a:pt x="400600" y="200300"/>
                  </a:lnTo>
                  <a:lnTo>
                    <a:pt x="400600" y="0"/>
                  </a:lnTo>
                  <a:close/>
                </a:path>
              </a:pathLst>
            </a:custGeom>
            <a:solidFill>
              <a:schemeClr val="tx1"/>
            </a:solidFill>
            <a:ln w="6271" cap="flat">
              <a:noFill/>
              <a:prstDash val="solid"/>
              <a:miter/>
            </a:ln>
          </p:spPr>
          <p:txBody>
            <a:bodyPr rtlCol="0"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34" name="Group 33">
            <a:extLst>
              <a:ext uri="{FF2B5EF4-FFF2-40B4-BE49-F238E27FC236}">
                <a16:creationId xmlns:a16="http://schemas.microsoft.com/office/drawing/2014/main" id="{A5570543-2446-4297-B824-08BD964B3961}"/>
              </a:ext>
            </a:extLst>
          </p:cNvPr>
          <p:cNvGrpSpPr/>
          <p:nvPr/>
        </p:nvGrpSpPr>
        <p:grpSpPr>
          <a:xfrm>
            <a:off x="10485438" y="3523164"/>
            <a:ext cx="758008" cy="1303912"/>
            <a:chOff x="10485438" y="3698729"/>
            <a:chExt cx="758008" cy="1303912"/>
          </a:xfrm>
        </p:grpSpPr>
        <p:cxnSp>
          <p:nvCxnSpPr>
            <p:cNvPr id="244" name="Straight Connector 243">
              <a:extLst>
                <a:ext uri="{FF2B5EF4-FFF2-40B4-BE49-F238E27FC236}">
                  <a16:creationId xmlns:a16="http://schemas.microsoft.com/office/drawing/2014/main" id="{BBA865B5-7CDD-4E59-80A8-A733A49F8D29}"/>
                </a:ext>
              </a:extLst>
            </p:cNvPr>
            <p:cNvCxnSpPr>
              <a:cxnSpLocks/>
            </p:cNvCxnSpPr>
            <p:nvPr/>
          </p:nvCxnSpPr>
          <p:spPr bwMode="gray">
            <a:xfrm rot="10800000" flipV="1">
              <a:off x="10859094" y="3698729"/>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45" name="Oval 244">
              <a:extLst>
                <a:ext uri="{FF2B5EF4-FFF2-40B4-BE49-F238E27FC236}">
                  <a16:creationId xmlns:a16="http://schemas.microsoft.com/office/drawing/2014/main" id="{3D37D313-31CA-453B-9BCD-432F0937B6B6}"/>
                </a:ext>
              </a:extLst>
            </p:cNvPr>
            <p:cNvSpPr/>
            <p:nvPr/>
          </p:nvSpPr>
          <p:spPr>
            <a:xfrm rot="10800000">
              <a:off x="10625080" y="4062825"/>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246" name="Rounded Rectangle 31">
              <a:extLst>
                <a:ext uri="{FF2B5EF4-FFF2-40B4-BE49-F238E27FC236}">
                  <a16:creationId xmlns:a16="http://schemas.microsoft.com/office/drawing/2014/main" id="{E9B606E5-402C-4A2E-A071-E295524C3A4B}"/>
                </a:ext>
              </a:extLst>
            </p:cNvPr>
            <p:cNvSpPr/>
            <p:nvPr/>
          </p:nvSpPr>
          <p:spPr>
            <a:xfrm>
              <a:off x="10485438" y="4623637"/>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Audit &amp; Change</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Tracking</a:t>
              </a:r>
            </a:p>
          </p:txBody>
        </p:sp>
        <p:pic>
          <p:nvPicPr>
            <p:cNvPr id="247" name="Graphic 246">
              <a:extLst>
                <a:ext uri="{FF2B5EF4-FFF2-40B4-BE49-F238E27FC236}">
                  <a16:creationId xmlns:a16="http://schemas.microsoft.com/office/drawing/2014/main" id="{0A2807C5-9D73-4C01-87FA-98D53544070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10737142" y="4162716"/>
              <a:ext cx="255993" cy="302925"/>
            </a:xfrm>
            <a:prstGeom prst="rect">
              <a:avLst/>
            </a:prstGeom>
          </p:spPr>
        </p:pic>
      </p:grpSp>
      <p:grpSp>
        <p:nvGrpSpPr>
          <p:cNvPr id="22" name="Group 21">
            <a:extLst>
              <a:ext uri="{FF2B5EF4-FFF2-40B4-BE49-F238E27FC236}">
                <a16:creationId xmlns:a16="http://schemas.microsoft.com/office/drawing/2014/main" id="{8B032D61-58CE-4ECB-AB1F-7245C13214E9}"/>
              </a:ext>
            </a:extLst>
          </p:cNvPr>
          <p:cNvGrpSpPr/>
          <p:nvPr/>
        </p:nvGrpSpPr>
        <p:grpSpPr>
          <a:xfrm>
            <a:off x="1623789" y="3523164"/>
            <a:ext cx="758008" cy="1303912"/>
            <a:chOff x="1501458" y="3698729"/>
            <a:chExt cx="758008" cy="1303912"/>
          </a:xfrm>
        </p:grpSpPr>
        <p:cxnSp>
          <p:nvCxnSpPr>
            <p:cNvPr id="156" name="Straight Connector 155">
              <a:extLst>
                <a:ext uri="{FF2B5EF4-FFF2-40B4-BE49-F238E27FC236}">
                  <a16:creationId xmlns:a16="http://schemas.microsoft.com/office/drawing/2014/main" id="{A76821C1-22F0-4301-B17C-BDA352599A6A}"/>
                </a:ext>
              </a:extLst>
            </p:cNvPr>
            <p:cNvCxnSpPr>
              <a:cxnSpLocks/>
            </p:cNvCxnSpPr>
            <p:nvPr/>
          </p:nvCxnSpPr>
          <p:spPr bwMode="gray">
            <a:xfrm rot="10800000" flipV="1">
              <a:off x="1875114" y="3698729"/>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00" name="Oval 199">
              <a:extLst>
                <a:ext uri="{FF2B5EF4-FFF2-40B4-BE49-F238E27FC236}">
                  <a16:creationId xmlns:a16="http://schemas.microsoft.com/office/drawing/2014/main" id="{4507A491-DCA2-40D8-94C0-D1CD1AD371DC}"/>
                </a:ext>
              </a:extLst>
            </p:cNvPr>
            <p:cNvSpPr/>
            <p:nvPr/>
          </p:nvSpPr>
          <p:spPr>
            <a:xfrm rot="10800000">
              <a:off x="1641100" y="4062825"/>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201" name="Rounded Rectangle 31">
              <a:extLst>
                <a:ext uri="{FF2B5EF4-FFF2-40B4-BE49-F238E27FC236}">
                  <a16:creationId xmlns:a16="http://schemas.microsoft.com/office/drawing/2014/main" id="{56D4F053-C9FD-4222-8B20-52C177E9C2C1}"/>
                </a:ext>
              </a:extLst>
            </p:cNvPr>
            <p:cNvSpPr/>
            <p:nvPr/>
          </p:nvSpPr>
          <p:spPr>
            <a:xfrm>
              <a:off x="1501458" y="4623637"/>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Application</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Load Balancing</a:t>
              </a:r>
            </a:p>
          </p:txBody>
        </p:sp>
        <p:grpSp>
          <p:nvGrpSpPr>
            <p:cNvPr id="270" name="Picture Placeholder 101" descr="Visibility&#10;">
              <a:extLst>
                <a:ext uri="{FF2B5EF4-FFF2-40B4-BE49-F238E27FC236}">
                  <a16:creationId xmlns:a16="http://schemas.microsoft.com/office/drawing/2014/main" id="{1F88B282-92EE-4599-BF9A-42C7E6AACBC4}"/>
                </a:ext>
              </a:extLst>
            </p:cNvPr>
            <p:cNvGrpSpPr>
              <a:grpSpLocks noChangeAspect="1"/>
            </p:cNvGrpSpPr>
            <p:nvPr/>
          </p:nvGrpSpPr>
          <p:grpSpPr>
            <a:xfrm>
              <a:off x="1700949" y="4199234"/>
              <a:ext cx="365760" cy="211756"/>
              <a:chOff x="530529" y="4527708"/>
              <a:chExt cx="600837" cy="347853"/>
            </a:xfrm>
            <a:solidFill>
              <a:schemeClr val="tx1"/>
            </a:solidFill>
          </p:grpSpPr>
          <p:sp>
            <p:nvSpPr>
              <p:cNvPr id="271" name="Picture Placeholder 101">
                <a:extLst>
                  <a:ext uri="{FF2B5EF4-FFF2-40B4-BE49-F238E27FC236}">
                    <a16:creationId xmlns:a16="http://schemas.microsoft.com/office/drawing/2014/main" id="{E69CF689-04B0-48FC-992B-5A86E9472DC3}"/>
                  </a:ext>
                </a:extLst>
              </p:cNvPr>
              <p:cNvSpPr/>
              <p:nvPr/>
            </p:nvSpPr>
            <p:spPr>
              <a:xfrm>
                <a:off x="734181" y="4606766"/>
                <a:ext cx="193532" cy="189738"/>
              </a:xfrm>
              <a:custGeom>
                <a:avLst/>
                <a:gdLst>
                  <a:gd name="connsiteX0" fmla="*/ 96766 w 193532"/>
                  <a:gd name="connsiteY0" fmla="*/ 189738 h 189738"/>
                  <a:gd name="connsiteX1" fmla="*/ 0 w 193532"/>
                  <a:gd name="connsiteY1" fmla="*/ 94869 h 189738"/>
                  <a:gd name="connsiteX2" fmla="*/ 96766 w 193532"/>
                  <a:gd name="connsiteY2" fmla="*/ 0 h 189738"/>
                  <a:gd name="connsiteX3" fmla="*/ 193533 w 193532"/>
                  <a:gd name="connsiteY3" fmla="*/ 94869 h 189738"/>
                  <a:gd name="connsiteX4" fmla="*/ 96766 w 193532"/>
                  <a:gd name="connsiteY4" fmla="*/ 189738 h 189738"/>
                  <a:gd name="connsiteX5" fmla="*/ 96766 w 193532"/>
                  <a:gd name="connsiteY5" fmla="*/ 15812 h 189738"/>
                  <a:gd name="connsiteX6" fmla="*/ 15812 w 193532"/>
                  <a:gd name="connsiteY6" fmla="*/ 94869 h 189738"/>
                  <a:gd name="connsiteX7" fmla="*/ 96766 w 193532"/>
                  <a:gd name="connsiteY7" fmla="*/ 173927 h 189738"/>
                  <a:gd name="connsiteX8" fmla="*/ 177721 w 193532"/>
                  <a:gd name="connsiteY8" fmla="*/ 94869 h 189738"/>
                  <a:gd name="connsiteX9" fmla="*/ 96766 w 193532"/>
                  <a:gd name="connsiteY9" fmla="*/ 15812 h 18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532" h="189738">
                    <a:moveTo>
                      <a:pt x="96766" y="189738"/>
                    </a:moveTo>
                    <a:cubicBezTo>
                      <a:pt x="43640" y="189738"/>
                      <a:pt x="0" y="147363"/>
                      <a:pt x="0" y="94869"/>
                    </a:cubicBezTo>
                    <a:cubicBezTo>
                      <a:pt x="0" y="42375"/>
                      <a:pt x="43007" y="0"/>
                      <a:pt x="96766" y="0"/>
                    </a:cubicBezTo>
                    <a:cubicBezTo>
                      <a:pt x="149893" y="0"/>
                      <a:pt x="193533" y="42375"/>
                      <a:pt x="193533" y="94869"/>
                    </a:cubicBezTo>
                    <a:cubicBezTo>
                      <a:pt x="193533" y="147363"/>
                      <a:pt x="149893" y="189738"/>
                      <a:pt x="96766" y="189738"/>
                    </a:cubicBezTo>
                    <a:close/>
                    <a:moveTo>
                      <a:pt x="96766" y="15812"/>
                    </a:moveTo>
                    <a:cubicBezTo>
                      <a:pt x="51862" y="15812"/>
                      <a:pt x="15812" y="51229"/>
                      <a:pt x="15812" y="94869"/>
                    </a:cubicBezTo>
                    <a:cubicBezTo>
                      <a:pt x="15812" y="138509"/>
                      <a:pt x="51862" y="173927"/>
                      <a:pt x="96766" y="173927"/>
                    </a:cubicBezTo>
                    <a:cubicBezTo>
                      <a:pt x="141671" y="173927"/>
                      <a:pt x="177721" y="138509"/>
                      <a:pt x="177721" y="94869"/>
                    </a:cubicBezTo>
                    <a:cubicBezTo>
                      <a:pt x="177721" y="51229"/>
                      <a:pt x="141039" y="15812"/>
                      <a:pt x="96766" y="1581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272" name="Picture Placeholder 101">
                <a:extLst>
                  <a:ext uri="{FF2B5EF4-FFF2-40B4-BE49-F238E27FC236}">
                    <a16:creationId xmlns:a16="http://schemas.microsoft.com/office/drawing/2014/main" id="{1C31268D-E92C-4E23-B13E-3D31BBF8E949}"/>
                  </a:ext>
                </a:extLst>
              </p:cNvPr>
              <p:cNvSpPr/>
              <p:nvPr/>
            </p:nvSpPr>
            <p:spPr>
              <a:xfrm>
                <a:off x="530529" y="4527708"/>
                <a:ext cx="600837" cy="347853"/>
              </a:xfrm>
              <a:custGeom>
                <a:avLst/>
                <a:gdLst>
                  <a:gd name="connsiteX0" fmla="*/ 597042 w 600837"/>
                  <a:gd name="connsiteY0" fmla="*/ 169499 h 347853"/>
                  <a:gd name="connsiteX1" fmla="*/ 510395 w 600837"/>
                  <a:gd name="connsiteY1" fmla="*/ 85382 h 347853"/>
                  <a:gd name="connsiteX2" fmla="*/ 300419 w 600837"/>
                  <a:gd name="connsiteY2" fmla="*/ 0 h 347853"/>
                  <a:gd name="connsiteX3" fmla="*/ 89809 w 600837"/>
                  <a:gd name="connsiteY3" fmla="*/ 84750 h 347853"/>
                  <a:gd name="connsiteX4" fmla="*/ 3795 w 600837"/>
                  <a:gd name="connsiteY4" fmla="*/ 169499 h 347853"/>
                  <a:gd name="connsiteX5" fmla="*/ 0 w 600837"/>
                  <a:gd name="connsiteY5" fmla="*/ 173927 h 347853"/>
                  <a:gd name="connsiteX6" fmla="*/ 3795 w 600837"/>
                  <a:gd name="connsiteY6" fmla="*/ 178986 h 347853"/>
                  <a:gd name="connsiteX7" fmla="*/ 10119 w 600837"/>
                  <a:gd name="connsiteY7" fmla="*/ 186576 h 347853"/>
                  <a:gd name="connsiteX8" fmla="*/ 20871 w 600837"/>
                  <a:gd name="connsiteY8" fmla="*/ 174559 h 347853"/>
                  <a:gd name="connsiteX9" fmla="*/ 20871 w 600837"/>
                  <a:gd name="connsiteY9" fmla="*/ 173927 h 347853"/>
                  <a:gd name="connsiteX10" fmla="*/ 301051 w 600837"/>
                  <a:gd name="connsiteY10" fmla="*/ 15812 h 347853"/>
                  <a:gd name="connsiteX11" fmla="*/ 581231 w 600837"/>
                  <a:gd name="connsiteY11" fmla="*/ 173927 h 347853"/>
                  <a:gd name="connsiteX12" fmla="*/ 301051 w 600837"/>
                  <a:gd name="connsiteY12" fmla="*/ 332042 h 347853"/>
                  <a:gd name="connsiteX13" fmla="*/ 41742 w 600837"/>
                  <a:gd name="connsiteY13" fmla="*/ 196695 h 347853"/>
                  <a:gd name="connsiteX14" fmla="*/ 30358 w 600837"/>
                  <a:gd name="connsiteY14" fmla="*/ 208079 h 347853"/>
                  <a:gd name="connsiteX15" fmla="*/ 90442 w 600837"/>
                  <a:gd name="connsiteY15" fmla="*/ 263103 h 347853"/>
                  <a:gd name="connsiteX16" fmla="*/ 300419 w 600837"/>
                  <a:gd name="connsiteY16" fmla="*/ 347853 h 347853"/>
                  <a:gd name="connsiteX17" fmla="*/ 510395 w 600837"/>
                  <a:gd name="connsiteY17" fmla="*/ 263103 h 347853"/>
                  <a:gd name="connsiteX18" fmla="*/ 597042 w 600837"/>
                  <a:gd name="connsiteY18" fmla="*/ 178986 h 347853"/>
                  <a:gd name="connsiteX19" fmla="*/ 600837 w 600837"/>
                  <a:gd name="connsiteY19" fmla="*/ 173927 h 347853"/>
                  <a:gd name="connsiteX20" fmla="*/ 597042 w 600837"/>
                  <a:gd name="connsiteY20" fmla="*/ 169499 h 34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0837" h="347853">
                    <a:moveTo>
                      <a:pt x="597042" y="169499"/>
                    </a:moveTo>
                    <a:cubicBezTo>
                      <a:pt x="595777" y="167602"/>
                      <a:pt x="563522" y="126492"/>
                      <a:pt x="510395" y="85382"/>
                    </a:cubicBezTo>
                    <a:cubicBezTo>
                      <a:pt x="461696" y="46170"/>
                      <a:pt x="385168" y="0"/>
                      <a:pt x="300419" y="0"/>
                    </a:cubicBezTo>
                    <a:cubicBezTo>
                      <a:pt x="215669" y="0"/>
                      <a:pt x="139141" y="46170"/>
                      <a:pt x="89809" y="84750"/>
                    </a:cubicBezTo>
                    <a:cubicBezTo>
                      <a:pt x="37315" y="126492"/>
                      <a:pt x="5060" y="167602"/>
                      <a:pt x="3795" y="169499"/>
                    </a:cubicBezTo>
                    <a:lnTo>
                      <a:pt x="0" y="173927"/>
                    </a:lnTo>
                    <a:lnTo>
                      <a:pt x="3795" y="178986"/>
                    </a:lnTo>
                    <a:cubicBezTo>
                      <a:pt x="4427" y="179619"/>
                      <a:pt x="6325" y="182148"/>
                      <a:pt x="10119" y="186576"/>
                    </a:cubicBezTo>
                    <a:lnTo>
                      <a:pt x="20871" y="174559"/>
                    </a:lnTo>
                    <a:cubicBezTo>
                      <a:pt x="20871" y="174559"/>
                      <a:pt x="20871" y="174559"/>
                      <a:pt x="20871" y="173927"/>
                    </a:cubicBezTo>
                    <a:cubicBezTo>
                      <a:pt x="43640" y="146731"/>
                      <a:pt x="161910" y="15812"/>
                      <a:pt x="301051" y="15812"/>
                    </a:cubicBezTo>
                    <a:cubicBezTo>
                      <a:pt x="440192" y="15812"/>
                      <a:pt x="558462" y="146731"/>
                      <a:pt x="581231" y="173927"/>
                    </a:cubicBezTo>
                    <a:cubicBezTo>
                      <a:pt x="558462" y="201122"/>
                      <a:pt x="440192" y="332042"/>
                      <a:pt x="301051" y="332042"/>
                    </a:cubicBezTo>
                    <a:cubicBezTo>
                      <a:pt x="186576" y="332042"/>
                      <a:pt x="86647" y="243497"/>
                      <a:pt x="41742" y="196695"/>
                    </a:cubicBezTo>
                    <a:lnTo>
                      <a:pt x="30358" y="208079"/>
                    </a:lnTo>
                    <a:cubicBezTo>
                      <a:pt x="44905" y="223258"/>
                      <a:pt x="65776" y="242865"/>
                      <a:pt x="90442" y="263103"/>
                    </a:cubicBezTo>
                    <a:cubicBezTo>
                      <a:pt x="139141" y="301683"/>
                      <a:pt x="215036" y="347853"/>
                      <a:pt x="300419" y="347853"/>
                    </a:cubicBezTo>
                    <a:cubicBezTo>
                      <a:pt x="385801" y="347853"/>
                      <a:pt x="461696" y="301683"/>
                      <a:pt x="510395" y="263103"/>
                    </a:cubicBezTo>
                    <a:cubicBezTo>
                      <a:pt x="562889" y="221361"/>
                      <a:pt x="595145" y="180251"/>
                      <a:pt x="597042" y="178986"/>
                    </a:cubicBezTo>
                    <a:lnTo>
                      <a:pt x="600837" y="173927"/>
                    </a:lnTo>
                    <a:lnTo>
                      <a:pt x="597042" y="169499"/>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39" name="Group 38">
            <a:extLst>
              <a:ext uri="{FF2B5EF4-FFF2-40B4-BE49-F238E27FC236}">
                <a16:creationId xmlns:a16="http://schemas.microsoft.com/office/drawing/2014/main" id="{9E9982EC-34C8-4F60-816A-C4A39E886099}"/>
              </a:ext>
            </a:extLst>
          </p:cNvPr>
          <p:cNvGrpSpPr/>
          <p:nvPr/>
        </p:nvGrpSpPr>
        <p:grpSpPr>
          <a:xfrm>
            <a:off x="5463093" y="3517925"/>
            <a:ext cx="758008" cy="2475217"/>
            <a:chOff x="4922073" y="3703187"/>
            <a:chExt cx="758008" cy="2475217"/>
          </a:xfrm>
        </p:grpSpPr>
        <p:sp>
          <p:nvSpPr>
            <p:cNvPr id="222" name="Rounded Rectangle 37">
              <a:extLst>
                <a:ext uri="{FF2B5EF4-FFF2-40B4-BE49-F238E27FC236}">
                  <a16:creationId xmlns:a16="http://schemas.microsoft.com/office/drawing/2014/main" id="{F942D06B-AD3B-4B8C-935B-9E54A6562D7D}"/>
                </a:ext>
              </a:extLst>
            </p:cNvPr>
            <p:cNvSpPr/>
            <p:nvPr/>
          </p:nvSpPr>
          <p:spPr>
            <a:xfrm>
              <a:off x="4922073"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Log</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Monitoring</a:t>
              </a:r>
            </a:p>
          </p:txBody>
        </p:sp>
        <p:cxnSp>
          <p:nvCxnSpPr>
            <p:cNvPr id="223" name="Straight Connector 222">
              <a:extLst>
                <a:ext uri="{FF2B5EF4-FFF2-40B4-BE49-F238E27FC236}">
                  <a16:creationId xmlns:a16="http://schemas.microsoft.com/office/drawing/2014/main" id="{07FEA3D0-13BD-4223-B063-BAF026EB384F}"/>
                </a:ext>
              </a:extLst>
            </p:cNvPr>
            <p:cNvCxnSpPr>
              <a:cxnSpLocks/>
            </p:cNvCxnSpPr>
            <p:nvPr/>
          </p:nvCxnSpPr>
          <p:spPr bwMode="gray">
            <a:xfrm>
              <a:off x="5301076"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24" name="Oval 223">
              <a:extLst>
                <a:ext uri="{FF2B5EF4-FFF2-40B4-BE49-F238E27FC236}">
                  <a16:creationId xmlns:a16="http://schemas.microsoft.com/office/drawing/2014/main" id="{7CA7A697-78B9-4EC1-8BA5-798F2570CB93}"/>
                </a:ext>
              </a:extLst>
            </p:cNvPr>
            <p:cNvSpPr/>
            <p:nvPr/>
          </p:nvSpPr>
          <p:spPr>
            <a:xfrm rot="10800000">
              <a:off x="5061016"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grpSp>
          <p:nvGrpSpPr>
            <p:cNvPr id="296" name="Picture Placeholder 89" descr="Filtered Data&#10;">
              <a:extLst>
                <a:ext uri="{FF2B5EF4-FFF2-40B4-BE49-F238E27FC236}">
                  <a16:creationId xmlns:a16="http://schemas.microsoft.com/office/drawing/2014/main" id="{52AFA1DD-FE7C-4922-A3B5-6AB2A58481C1}"/>
                </a:ext>
              </a:extLst>
            </p:cNvPr>
            <p:cNvGrpSpPr>
              <a:grpSpLocks noChangeAspect="1"/>
            </p:cNvGrpSpPr>
            <p:nvPr/>
          </p:nvGrpSpPr>
          <p:grpSpPr>
            <a:xfrm>
              <a:off x="5163916" y="5354825"/>
              <a:ext cx="274320" cy="273180"/>
              <a:chOff x="7128581" y="1952373"/>
              <a:chExt cx="598263" cy="595777"/>
            </a:xfrm>
            <a:solidFill>
              <a:schemeClr val="tx1"/>
            </a:solidFill>
          </p:grpSpPr>
          <p:sp>
            <p:nvSpPr>
              <p:cNvPr id="297" name="Picture Placeholder 89">
                <a:extLst>
                  <a:ext uri="{FF2B5EF4-FFF2-40B4-BE49-F238E27FC236}">
                    <a16:creationId xmlns:a16="http://schemas.microsoft.com/office/drawing/2014/main" id="{F9C2B044-F36C-47C1-9A34-372E3FD1730A}"/>
                  </a:ext>
                </a:extLst>
              </p:cNvPr>
              <p:cNvSpPr/>
              <p:nvPr/>
            </p:nvSpPr>
            <p:spPr>
              <a:xfrm>
                <a:off x="7314912" y="1952373"/>
                <a:ext cx="229427" cy="595777"/>
              </a:xfrm>
              <a:custGeom>
                <a:avLst/>
                <a:gdLst>
                  <a:gd name="connsiteX0" fmla="*/ 58941 w 229427"/>
                  <a:gd name="connsiteY0" fmla="*/ 595777 h 595777"/>
                  <a:gd name="connsiteX1" fmla="*/ 0 w 229427"/>
                  <a:gd name="connsiteY1" fmla="*/ 595777 h 595777"/>
                  <a:gd name="connsiteX2" fmla="*/ 0 w 229427"/>
                  <a:gd name="connsiteY2" fmla="*/ 576804 h 595777"/>
                  <a:gd name="connsiteX3" fmla="*/ 48167 w 229427"/>
                  <a:gd name="connsiteY3" fmla="*/ 576804 h 595777"/>
                  <a:gd name="connsiteX4" fmla="*/ 207879 w 229427"/>
                  <a:gd name="connsiteY4" fmla="*/ 297889 h 595777"/>
                  <a:gd name="connsiteX5" fmla="*/ 48167 w 229427"/>
                  <a:gd name="connsiteY5" fmla="*/ 18974 h 595777"/>
                  <a:gd name="connsiteX6" fmla="*/ 0 w 229427"/>
                  <a:gd name="connsiteY6" fmla="*/ 18974 h 595777"/>
                  <a:gd name="connsiteX7" fmla="*/ 0 w 229427"/>
                  <a:gd name="connsiteY7" fmla="*/ 0 h 595777"/>
                  <a:gd name="connsiteX8" fmla="*/ 58941 w 229427"/>
                  <a:gd name="connsiteY8" fmla="*/ 0 h 595777"/>
                  <a:gd name="connsiteX9" fmla="*/ 229428 w 229427"/>
                  <a:gd name="connsiteY9" fmla="*/ 297889 h 59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427" h="595777">
                    <a:moveTo>
                      <a:pt x="58941" y="595777"/>
                    </a:moveTo>
                    <a:lnTo>
                      <a:pt x="0" y="595777"/>
                    </a:lnTo>
                    <a:lnTo>
                      <a:pt x="0" y="576804"/>
                    </a:lnTo>
                    <a:lnTo>
                      <a:pt x="48167" y="576804"/>
                    </a:lnTo>
                    <a:lnTo>
                      <a:pt x="207879" y="297889"/>
                    </a:lnTo>
                    <a:lnTo>
                      <a:pt x="48167" y="18974"/>
                    </a:lnTo>
                    <a:lnTo>
                      <a:pt x="0" y="18974"/>
                    </a:lnTo>
                    <a:lnTo>
                      <a:pt x="0" y="0"/>
                    </a:lnTo>
                    <a:lnTo>
                      <a:pt x="58941" y="0"/>
                    </a:lnTo>
                    <a:lnTo>
                      <a:pt x="229428" y="297889"/>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298" name="Picture Placeholder 89">
                <a:extLst>
                  <a:ext uri="{FF2B5EF4-FFF2-40B4-BE49-F238E27FC236}">
                    <a16:creationId xmlns:a16="http://schemas.microsoft.com/office/drawing/2014/main" id="{EFF174B1-9BCD-4261-9BC0-59A9F7B8573E}"/>
                  </a:ext>
                </a:extLst>
              </p:cNvPr>
              <p:cNvGrpSpPr/>
              <p:nvPr/>
            </p:nvGrpSpPr>
            <p:grpSpPr>
              <a:xfrm>
                <a:off x="7253435" y="2016251"/>
                <a:ext cx="348033" cy="35417"/>
                <a:chOff x="7253435" y="2016251"/>
                <a:chExt cx="348033" cy="35417"/>
              </a:xfrm>
              <a:grpFill/>
            </p:grpSpPr>
            <p:sp>
              <p:nvSpPr>
                <p:cNvPr id="335" name="Picture Placeholder 89">
                  <a:extLst>
                    <a:ext uri="{FF2B5EF4-FFF2-40B4-BE49-F238E27FC236}">
                      <a16:creationId xmlns:a16="http://schemas.microsoft.com/office/drawing/2014/main" id="{1891BAA0-9E20-434A-AE8B-F8D8BCE199DB}"/>
                    </a:ext>
                  </a:extLst>
                </p:cNvPr>
                <p:cNvSpPr/>
                <p:nvPr/>
              </p:nvSpPr>
              <p:spPr>
                <a:xfrm>
                  <a:off x="7253435"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6" name="Picture Placeholder 89">
                  <a:extLst>
                    <a:ext uri="{FF2B5EF4-FFF2-40B4-BE49-F238E27FC236}">
                      <a16:creationId xmlns:a16="http://schemas.microsoft.com/office/drawing/2014/main" id="{D8B17F51-E5C0-4739-B7D0-BB777D7D4390}"/>
                    </a:ext>
                  </a:extLst>
                </p:cNvPr>
                <p:cNvSpPr/>
                <p:nvPr/>
              </p:nvSpPr>
              <p:spPr>
                <a:xfrm>
                  <a:off x="7315545"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7" name="Picture Placeholder 89">
                  <a:extLst>
                    <a:ext uri="{FF2B5EF4-FFF2-40B4-BE49-F238E27FC236}">
                      <a16:creationId xmlns:a16="http://schemas.microsoft.com/office/drawing/2014/main" id="{6EBB41C5-E411-46A7-8454-547A671831FB}"/>
                    </a:ext>
                  </a:extLst>
                </p:cNvPr>
                <p:cNvSpPr/>
                <p:nvPr/>
              </p:nvSpPr>
              <p:spPr>
                <a:xfrm>
                  <a:off x="7378290"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8" name="Picture Placeholder 89">
                  <a:extLst>
                    <a:ext uri="{FF2B5EF4-FFF2-40B4-BE49-F238E27FC236}">
                      <a16:creationId xmlns:a16="http://schemas.microsoft.com/office/drawing/2014/main" id="{F343DBFA-E8A0-4D65-B28E-B481D4970C91}"/>
                    </a:ext>
                  </a:extLst>
                </p:cNvPr>
                <p:cNvSpPr/>
                <p:nvPr/>
              </p:nvSpPr>
              <p:spPr>
                <a:xfrm>
                  <a:off x="7503144"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9" name="Picture Placeholder 89">
                  <a:extLst>
                    <a:ext uri="{FF2B5EF4-FFF2-40B4-BE49-F238E27FC236}">
                      <a16:creationId xmlns:a16="http://schemas.microsoft.com/office/drawing/2014/main" id="{B91553CF-6DB6-4BA0-8EED-03CEFE150BBF}"/>
                    </a:ext>
                  </a:extLst>
                </p:cNvPr>
                <p:cNvSpPr/>
                <p:nvPr/>
              </p:nvSpPr>
              <p:spPr>
                <a:xfrm>
                  <a:off x="7565254"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299" name="Picture Placeholder 89">
                <a:extLst>
                  <a:ext uri="{FF2B5EF4-FFF2-40B4-BE49-F238E27FC236}">
                    <a16:creationId xmlns:a16="http://schemas.microsoft.com/office/drawing/2014/main" id="{C4362ED3-41CD-4C17-9117-02113D8EE1AF}"/>
                  </a:ext>
                </a:extLst>
              </p:cNvPr>
              <p:cNvGrpSpPr/>
              <p:nvPr/>
            </p:nvGrpSpPr>
            <p:grpSpPr>
              <a:xfrm>
                <a:off x="7315545" y="2102898"/>
                <a:ext cx="348033" cy="35417"/>
                <a:chOff x="7315545" y="2102898"/>
                <a:chExt cx="348033" cy="35417"/>
              </a:xfrm>
              <a:grpFill/>
            </p:grpSpPr>
            <p:sp>
              <p:nvSpPr>
                <p:cNvPr id="332" name="Picture Placeholder 89">
                  <a:extLst>
                    <a:ext uri="{FF2B5EF4-FFF2-40B4-BE49-F238E27FC236}">
                      <a16:creationId xmlns:a16="http://schemas.microsoft.com/office/drawing/2014/main" id="{626F258A-2B3E-4443-8737-FA4075B5F4A5}"/>
                    </a:ext>
                  </a:extLst>
                </p:cNvPr>
                <p:cNvSpPr/>
                <p:nvPr/>
              </p:nvSpPr>
              <p:spPr>
                <a:xfrm>
                  <a:off x="7315545" y="2102898"/>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3" name="Picture Placeholder 89">
                  <a:extLst>
                    <a:ext uri="{FF2B5EF4-FFF2-40B4-BE49-F238E27FC236}">
                      <a16:creationId xmlns:a16="http://schemas.microsoft.com/office/drawing/2014/main" id="{C923F183-5471-4900-A785-D65A44F82249}"/>
                    </a:ext>
                  </a:extLst>
                </p:cNvPr>
                <p:cNvSpPr/>
                <p:nvPr/>
              </p:nvSpPr>
              <p:spPr>
                <a:xfrm>
                  <a:off x="7378290" y="2102898"/>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4" name="Picture Placeholder 89">
                  <a:extLst>
                    <a:ext uri="{FF2B5EF4-FFF2-40B4-BE49-F238E27FC236}">
                      <a16:creationId xmlns:a16="http://schemas.microsoft.com/office/drawing/2014/main" id="{61903FB3-22F5-4AFA-B292-82D544DD70B6}"/>
                    </a:ext>
                  </a:extLst>
                </p:cNvPr>
                <p:cNvSpPr/>
                <p:nvPr/>
              </p:nvSpPr>
              <p:spPr>
                <a:xfrm>
                  <a:off x="7627364" y="2102898"/>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300" name="Picture Placeholder 89">
                <a:extLst>
                  <a:ext uri="{FF2B5EF4-FFF2-40B4-BE49-F238E27FC236}">
                    <a16:creationId xmlns:a16="http://schemas.microsoft.com/office/drawing/2014/main" id="{19BE9330-3C8F-4314-A858-5EC9458C8CAB}"/>
                  </a:ext>
                </a:extLst>
              </p:cNvPr>
              <p:cNvGrpSpPr/>
              <p:nvPr/>
            </p:nvGrpSpPr>
            <p:grpSpPr>
              <a:xfrm>
                <a:off x="7191959" y="2189545"/>
                <a:ext cx="534753" cy="35417"/>
                <a:chOff x="7191959" y="2189545"/>
                <a:chExt cx="534753" cy="35417"/>
              </a:xfrm>
              <a:grpFill/>
            </p:grpSpPr>
            <p:sp>
              <p:nvSpPr>
                <p:cNvPr id="325" name="Picture Placeholder 89">
                  <a:extLst>
                    <a:ext uri="{FF2B5EF4-FFF2-40B4-BE49-F238E27FC236}">
                      <a16:creationId xmlns:a16="http://schemas.microsoft.com/office/drawing/2014/main" id="{312CA598-9371-4FF0-A826-91FFA9B0F731}"/>
                    </a:ext>
                  </a:extLst>
                </p:cNvPr>
                <p:cNvSpPr/>
                <p:nvPr/>
              </p:nvSpPr>
              <p:spPr>
                <a:xfrm>
                  <a:off x="7253435"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6" name="Picture Placeholder 89">
                  <a:extLst>
                    <a:ext uri="{FF2B5EF4-FFF2-40B4-BE49-F238E27FC236}">
                      <a16:creationId xmlns:a16="http://schemas.microsoft.com/office/drawing/2014/main" id="{606415EE-B65A-40EC-A23D-1D13E0C5CA41}"/>
                    </a:ext>
                  </a:extLst>
                </p:cNvPr>
                <p:cNvSpPr/>
                <p:nvPr/>
              </p:nvSpPr>
              <p:spPr>
                <a:xfrm>
                  <a:off x="7191959"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7" name="Picture Placeholder 89">
                  <a:extLst>
                    <a:ext uri="{FF2B5EF4-FFF2-40B4-BE49-F238E27FC236}">
                      <a16:creationId xmlns:a16="http://schemas.microsoft.com/office/drawing/2014/main" id="{D35DEB1C-9F72-4B3C-843F-0ADD2D5FE53F}"/>
                    </a:ext>
                  </a:extLst>
                </p:cNvPr>
                <p:cNvSpPr/>
                <p:nvPr/>
              </p:nvSpPr>
              <p:spPr>
                <a:xfrm>
                  <a:off x="7315545"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8" name="Picture Placeholder 89">
                  <a:extLst>
                    <a:ext uri="{FF2B5EF4-FFF2-40B4-BE49-F238E27FC236}">
                      <a16:creationId xmlns:a16="http://schemas.microsoft.com/office/drawing/2014/main" id="{61AB677B-2D27-4C93-98C6-193F9C28B7A9}"/>
                    </a:ext>
                  </a:extLst>
                </p:cNvPr>
                <p:cNvSpPr/>
                <p:nvPr/>
              </p:nvSpPr>
              <p:spPr>
                <a:xfrm>
                  <a:off x="7378290"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9" name="Picture Placeholder 89">
                  <a:extLst>
                    <a:ext uri="{FF2B5EF4-FFF2-40B4-BE49-F238E27FC236}">
                      <a16:creationId xmlns:a16="http://schemas.microsoft.com/office/drawing/2014/main" id="{EA3D1878-56FE-4454-997D-70A8AFA88751}"/>
                    </a:ext>
                  </a:extLst>
                </p:cNvPr>
                <p:cNvSpPr/>
                <p:nvPr/>
              </p:nvSpPr>
              <p:spPr>
                <a:xfrm>
                  <a:off x="7440400"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0" name="Picture Placeholder 89">
                  <a:extLst>
                    <a:ext uri="{FF2B5EF4-FFF2-40B4-BE49-F238E27FC236}">
                      <a16:creationId xmlns:a16="http://schemas.microsoft.com/office/drawing/2014/main" id="{8432DA26-5DB4-4B6E-A20F-11FCE1D22590}"/>
                    </a:ext>
                  </a:extLst>
                </p:cNvPr>
                <p:cNvSpPr/>
                <p:nvPr/>
              </p:nvSpPr>
              <p:spPr>
                <a:xfrm>
                  <a:off x="7627364"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31" name="Picture Placeholder 89">
                  <a:extLst>
                    <a:ext uri="{FF2B5EF4-FFF2-40B4-BE49-F238E27FC236}">
                      <a16:creationId xmlns:a16="http://schemas.microsoft.com/office/drawing/2014/main" id="{0BD7AB13-4709-4803-9F71-12365CF3AAE7}"/>
                    </a:ext>
                  </a:extLst>
                </p:cNvPr>
                <p:cNvSpPr/>
                <p:nvPr/>
              </p:nvSpPr>
              <p:spPr>
                <a:xfrm>
                  <a:off x="7690108"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301" name="Picture Placeholder 89">
                <a:extLst>
                  <a:ext uri="{FF2B5EF4-FFF2-40B4-BE49-F238E27FC236}">
                    <a16:creationId xmlns:a16="http://schemas.microsoft.com/office/drawing/2014/main" id="{24C3032B-FCD3-43ED-A991-72F0F623C5A2}"/>
                  </a:ext>
                </a:extLst>
              </p:cNvPr>
              <p:cNvGrpSpPr/>
              <p:nvPr/>
            </p:nvGrpSpPr>
            <p:grpSpPr>
              <a:xfrm>
                <a:off x="7128581" y="2275560"/>
                <a:ext cx="473148" cy="35417"/>
                <a:chOff x="7128581" y="2275560"/>
                <a:chExt cx="473148" cy="35417"/>
              </a:xfrm>
              <a:grpFill/>
            </p:grpSpPr>
            <p:sp>
              <p:nvSpPr>
                <p:cNvPr id="317" name="Picture Placeholder 89">
                  <a:extLst>
                    <a:ext uri="{FF2B5EF4-FFF2-40B4-BE49-F238E27FC236}">
                      <a16:creationId xmlns:a16="http://schemas.microsoft.com/office/drawing/2014/main" id="{79D54625-1E03-4BB4-A3B0-EDB6F23D232F}"/>
                    </a:ext>
                  </a:extLst>
                </p:cNvPr>
                <p:cNvSpPr/>
                <p:nvPr/>
              </p:nvSpPr>
              <p:spPr>
                <a:xfrm>
                  <a:off x="7253435"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8" name="Picture Placeholder 89">
                  <a:extLst>
                    <a:ext uri="{FF2B5EF4-FFF2-40B4-BE49-F238E27FC236}">
                      <a16:creationId xmlns:a16="http://schemas.microsoft.com/office/drawing/2014/main" id="{F5A86BA6-1AF3-46DE-BA87-AEBC08071D70}"/>
                    </a:ext>
                  </a:extLst>
                </p:cNvPr>
                <p:cNvSpPr/>
                <p:nvPr/>
              </p:nvSpPr>
              <p:spPr>
                <a:xfrm>
                  <a:off x="7191325"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9" name="Picture Placeholder 89">
                  <a:extLst>
                    <a:ext uri="{FF2B5EF4-FFF2-40B4-BE49-F238E27FC236}">
                      <a16:creationId xmlns:a16="http://schemas.microsoft.com/office/drawing/2014/main" id="{CD354873-AC0B-4412-A2FC-6A050E21CE55}"/>
                    </a:ext>
                  </a:extLst>
                </p:cNvPr>
                <p:cNvSpPr/>
                <p:nvPr/>
              </p:nvSpPr>
              <p:spPr>
                <a:xfrm>
                  <a:off x="7128581"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0" name="Picture Placeholder 89">
                  <a:extLst>
                    <a:ext uri="{FF2B5EF4-FFF2-40B4-BE49-F238E27FC236}">
                      <a16:creationId xmlns:a16="http://schemas.microsoft.com/office/drawing/2014/main" id="{0E6C507A-9129-44EF-8633-930F73F3B2DB}"/>
                    </a:ext>
                  </a:extLst>
                </p:cNvPr>
                <p:cNvSpPr/>
                <p:nvPr/>
              </p:nvSpPr>
              <p:spPr>
                <a:xfrm>
                  <a:off x="7315545"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1" name="Picture Placeholder 89">
                  <a:extLst>
                    <a:ext uri="{FF2B5EF4-FFF2-40B4-BE49-F238E27FC236}">
                      <a16:creationId xmlns:a16="http://schemas.microsoft.com/office/drawing/2014/main" id="{06F486B1-012E-4489-9C48-22957E25648A}"/>
                    </a:ext>
                  </a:extLst>
                </p:cNvPr>
                <p:cNvSpPr/>
                <p:nvPr/>
              </p:nvSpPr>
              <p:spPr>
                <a:xfrm>
                  <a:off x="7378290"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2" name="Picture Placeholder 89">
                  <a:extLst>
                    <a:ext uri="{FF2B5EF4-FFF2-40B4-BE49-F238E27FC236}">
                      <a16:creationId xmlns:a16="http://schemas.microsoft.com/office/drawing/2014/main" id="{CC570EC1-AE80-4933-B0A5-7E11E324616F}"/>
                    </a:ext>
                  </a:extLst>
                </p:cNvPr>
                <p:cNvSpPr/>
                <p:nvPr/>
              </p:nvSpPr>
              <p:spPr>
                <a:xfrm>
                  <a:off x="7440400"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3" name="Picture Placeholder 89">
                  <a:extLst>
                    <a:ext uri="{FF2B5EF4-FFF2-40B4-BE49-F238E27FC236}">
                      <a16:creationId xmlns:a16="http://schemas.microsoft.com/office/drawing/2014/main" id="{1C7ED8BA-36B8-4B5B-A65C-6DD1655CFD65}"/>
                    </a:ext>
                  </a:extLst>
                </p:cNvPr>
                <p:cNvSpPr/>
                <p:nvPr/>
              </p:nvSpPr>
              <p:spPr>
                <a:xfrm>
                  <a:off x="7503144"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24" name="Picture Placeholder 89">
                  <a:extLst>
                    <a:ext uri="{FF2B5EF4-FFF2-40B4-BE49-F238E27FC236}">
                      <a16:creationId xmlns:a16="http://schemas.microsoft.com/office/drawing/2014/main" id="{D3A162EB-C016-4850-92B5-1EBD3792B441}"/>
                    </a:ext>
                  </a:extLst>
                </p:cNvPr>
                <p:cNvSpPr/>
                <p:nvPr/>
              </p:nvSpPr>
              <p:spPr>
                <a:xfrm>
                  <a:off x="7565254"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302" name="Picture Placeholder 89">
                <a:extLst>
                  <a:ext uri="{FF2B5EF4-FFF2-40B4-BE49-F238E27FC236}">
                    <a16:creationId xmlns:a16="http://schemas.microsoft.com/office/drawing/2014/main" id="{089863D8-14EE-4ED3-A8FF-49AE80EE7F13}"/>
                  </a:ext>
                </a:extLst>
              </p:cNvPr>
              <p:cNvGrpSpPr/>
              <p:nvPr/>
            </p:nvGrpSpPr>
            <p:grpSpPr>
              <a:xfrm>
                <a:off x="7191325" y="2362207"/>
                <a:ext cx="535388" cy="35417"/>
                <a:chOff x="7191325" y="2362207"/>
                <a:chExt cx="535388" cy="35417"/>
              </a:xfrm>
              <a:grpFill/>
            </p:grpSpPr>
            <p:sp>
              <p:nvSpPr>
                <p:cNvPr id="310" name="Picture Placeholder 89">
                  <a:extLst>
                    <a:ext uri="{FF2B5EF4-FFF2-40B4-BE49-F238E27FC236}">
                      <a16:creationId xmlns:a16="http://schemas.microsoft.com/office/drawing/2014/main" id="{E93E5577-70E3-4E5C-B928-C810F3E5F8B6}"/>
                    </a:ext>
                  </a:extLst>
                </p:cNvPr>
                <p:cNvSpPr/>
                <p:nvPr/>
              </p:nvSpPr>
              <p:spPr>
                <a:xfrm>
                  <a:off x="7253435"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1" name="Picture Placeholder 89">
                  <a:extLst>
                    <a:ext uri="{FF2B5EF4-FFF2-40B4-BE49-F238E27FC236}">
                      <a16:creationId xmlns:a16="http://schemas.microsoft.com/office/drawing/2014/main" id="{2BED8447-6BDF-4817-851A-A02EFCE5631B}"/>
                    </a:ext>
                  </a:extLst>
                </p:cNvPr>
                <p:cNvSpPr/>
                <p:nvPr/>
              </p:nvSpPr>
              <p:spPr>
                <a:xfrm>
                  <a:off x="7191325"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2" name="Picture Placeholder 89">
                  <a:extLst>
                    <a:ext uri="{FF2B5EF4-FFF2-40B4-BE49-F238E27FC236}">
                      <a16:creationId xmlns:a16="http://schemas.microsoft.com/office/drawing/2014/main" id="{1CA4A340-B941-485B-8228-B167BC09FCF4}"/>
                    </a:ext>
                  </a:extLst>
                </p:cNvPr>
                <p:cNvSpPr/>
                <p:nvPr/>
              </p:nvSpPr>
              <p:spPr>
                <a:xfrm>
                  <a:off x="7315545"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3" name="Picture Placeholder 89">
                  <a:extLst>
                    <a:ext uri="{FF2B5EF4-FFF2-40B4-BE49-F238E27FC236}">
                      <a16:creationId xmlns:a16="http://schemas.microsoft.com/office/drawing/2014/main" id="{38F31B82-5513-4411-95BA-AB50DB58BE9A}"/>
                    </a:ext>
                  </a:extLst>
                </p:cNvPr>
                <p:cNvSpPr/>
                <p:nvPr/>
              </p:nvSpPr>
              <p:spPr>
                <a:xfrm>
                  <a:off x="7378290"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4" name="Picture Placeholder 89">
                  <a:extLst>
                    <a:ext uri="{FF2B5EF4-FFF2-40B4-BE49-F238E27FC236}">
                      <a16:creationId xmlns:a16="http://schemas.microsoft.com/office/drawing/2014/main" id="{8BF8FBE8-54A4-4BE2-8424-D6EA1270F944}"/>
                    </a:ext>
                  </a:extLst>
                </p:cNvPr>
                <p:cNvSpPr/>
                <p:nvPr/>
              </p:nvSpPr>
              <p:spPr>
                <a:xfrm>
                  <a:off x="7503144"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5" name="Picture Placeholder 89">
                  <a:extLst>
                    <a:ext uri="{FF2B5EF4-FFF2-40B4-BE49-F238E27FC236}">
                      <a16:creationId xmlns:a16="http://schemas.microsoft.com/office/drawing/2014/main" id="{AAA5866A-38ED-48C1-9FD3-C83A0B4B5E06}"/>
                    </a:ext>
                  </a:extLst>
                </p:cNvPr>
                <p:cNvSpPr/>
                <p:nvPr/>
              </p:nvSpPr>
              <p:spPr>
                <a:xfrm>
                  <a:off x="7565254"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16" name="Picture Placeholder 89">
                  <a:extLst>
                    <a:ext uri="{FF2B5EF4-FFF2-40B4-BE49-F238E27FC236}">
                      <a16:creationId xmlns:a16="http://schemas.microsoft.com/office/drawing/2014/main" id="{8ADC0B4F-CB73-4164-921D-AD454ADD3979}"/>
                    </a:ext>
                  </a:extLst>
                </p:cNvPr>
                <p:cNvSpPr/>
                <p:nvPr/>
              </p:nvSpPr>
              <p:spPr>
                <a:xfrm>
                  <a:off x="7690108"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303" name="Picture Placeholder 89">
                <a:extLst>
                  <a:ext uri="{FF2B5EF4-FFF2-40B4-BE49-F238E27FC236}">
                    <a16:creationId xmlns:a16="http://schemas.microsoft.com/office/drawing/2014/main" id="{EC539271-5924-4382-BA1B-758A9E21EF4B}"/>
                  </a:ext>
                </a:extLst>
              </p:cNvPr>
              <p:cNvGrpSpPr/>
              <p:nvPr/>
            </p:nvGrpSpPr>
            <p:grpSpPr>
              <a:xfrm>
                <a:off x="7253435" y="2448854"/>
                <a:ext cx="410273" cy="35417"/>
                <a:chOff x="7253435" y="2448854"/>
                <a:chExt cx="410273" cy="35417"/>
              </a:xfrm>
              <a:grpFill/>
            </p:grpSpPr>
            <p:sp>
              <p:nvSpPr>
                <p:cNvPr id="304" name="Picture Placeholder 89">
                  <a:extLst>
                    <a:ext uri="{FF2B5EF4-FFF2-40B4-BE49-F238E27FC236}">
                      <a16:creationId xmlns:a16="http://schemas.microsoft.com/office/drawing/2014/main" id="{36EB4CF0-822E-434C-8936-54CCB53E8338}"/>
                    </a:ext>
                  </a:extLst>
                </p:cNvPr>
                <p:cNvSpPr/>
                <p:nvPr/>
              </p:nvSpPr>
              <p:spPr>
                <a:xfrm>
                  <a:off x="7253435"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05" name="Picture Placeholder 89">
                  <a:extLst>
                    <a:ext uri="{FF2B5EF4-FFF2-40B4-BE49-F238E27FC236}">
                      <a16:creationId xmlns:a16="http://schemas.microsoft.com/office/drawing/2014/main" id="{97ABC2F2-217E-40B3-8AA3-3CB9C6ED44D0}"/>
                    </a:ext>
                  </a:extLst>
                </p:cNvPr>
                <p:cNvSpPr/>
                <p:nvPr/>
              </p:nvSpPr>
              <p:spPr>
                <a:xfrm>
                  <a:off x="7315545"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06" name="Picture Placeholder 89">
                  <a:extLst>
                    <a:ext uri="{FF2B5EF4-FFF2-40B4-BE49-F238E27FC236}">
                      <a16:creationId xmlns:a16="http://schemas.microsoft.com/office/drawing/2014/main" id="{157F5D1A-D853-4155-BEBE-377438085CEE}"/>
                    </a:ext>
                  </a:extLst>
                </p:cNvPr>
                <p:cNvSpPr/>
                <p:nvPr/>
              </p:nvSpPr>
              <p:spPr>
                <a:xfrm>
                  <a:off x="7378290"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07" name="Picture Placeholder 89">
                  <a:extLst>
                    <a:ext uri="{FF2B5EF4-FFF2-40B4-BE49-F238E27FC236}">
                      <a16:creationId xmlns:a16="http://schemas.microsoft.com/office/drawing/2014/main" id="{D4BA70F0-02C9-4742-AE32-593B1FE7896F}"/>
                    </a:ext>
                  </a:extLst>
                </p:cNvPr>
                <p:cNvSpPr/>
                <p:nvPr/>
              </p:nvSpPr>
              <p:spPr>
                <a:xfrm>
                  <a:off x="7503144"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08" name="Picture Placeholder 89">
                  <a:extLst>
                    <a:ext uri="{FF2B5EF4-FFF2-40B4-BE49-F238E27FC236}">
                      <a16:creationId xmlns:a16="http://schemas.microsoft.com/office/drawing/2014/main" id="{0092328D-B07A-43BF-B6A4-AD4C9F93D185}"/>
                    </a:ext>
                  </a:extLst>
                </p:cNvPr>
                <p:cNvSpPr/>
                <p:nvPr/>
              </p:nvSpPr>
              <p:spPr>
                <a:xfrm>
                  <a:off x="7565254"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09" name="Picture Placeholder 89">
                  <a:extLst>
                    <a:ext uri="{FF2B5EF4-FFF2-40B4-BE49-F238E27FC236}">
                      <a16:creationId xmlns:a16="http://schemas.microsoft.com/office/drawing/2014/main" id="{7B74B25F-451D-43B3-AC47-2EABA0CC7C5C}"/>
                    </a:ext>
                  </a:extLst>
                </p:cNvPr>
                <p:cNvSpPr/>
                <p:nvPr/>
              </p:nvSpPr>
              <p:spPr>
                <a:xfrm>
                  <a:off x="7627364"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24" name="Group 23">
            <a:extLst>
              <a:ext uri="{FF2B5EF4-FFF2-40B4-BE49-F238E27FC236}">
                <a16:creationId xmlns:a16="http://schemas.microsoft.com/office/drawing/2014/main" id="{3CED9DB8-F0EA-4C9C-B73A-A13D9F85C632}"/>
              </a:ext>
            </a:extLst>
          </p:cNvPr>
          <p:cNvGrpSpPr/>
          <p:nvPr/>
        </p:nvGrpSpPr>
        <p:grpSpPr>
          <a:xfrm>
            <a:off x="2171258" y="3517925"/>
            <a:ext cx="758008" cy="2475217"/>
            <a:chOff x="2879918" y="3703187"/>
            <a:chExt cx="758008" cy="2475217"/>
          </a:xfrm>
        </p:grpSpPr>
        <p:cxnSp>
          <p:nvCxnSpPr>
            <p:cNvPr id="81" name="Straight Connector 80">
              <a:extLst>
                <a:ext uri="{FF2B5EF4-FFF2-40B4-BE49-F238E27FC236}">
                  <a16:creationId xmlns:a16="http://schemas.microsoft.com/office/drawing/2014/main" id="{63D7B52C-DEDD-D944-9517-A76FD4701057}"/>
                </a:ext>
              </a:extLst>
            </p:cNvPr>
            <p:cNvCxnSpPr>
              <a:cxnSpLocks/>
            </p:cNvCxnSpPr>
            <p:nvPr/>
          </p:nvCxnSpPr>
          <p:spPr bwMode="gray">
            <a:xfrm>
              <a:off x="3260152"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D9C4D265-B1EF-F542-A661-5958C3DF7D9F}"/>
                </a:ext>
              </a:extLst>
            </p:cNvPr>
            <p:cNvSpPr/>
            <p:nvPr/>
          </p:nvSpPr>
          <p:spPr>
            <a:xfrm rot="10800000">
              <a:off x="3020093"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96" name="Rounded Rectangle 38">
              <a:extLst>
                <a:ext uri="{FF2B5EF4-FFF2-40B4-BE49-F238E27FC236}">
                  <a16:creationId xmlns:a16="http://schemas.microsoft.com/office/drawing/2014/main" id="{7E19578D-A1DC-F345-84A1-F33560040E87}"/>
                </a:ext>
              </a:extLst>
            </p:cNvPr>
            <p:cNvSpPr/>
            <p:nvPr/>
          </p:nvSpPr>
          <p:spPr>
            <a:xfrm>
              <a:off x="2879918"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sym typeface="Arial" panose="020B0604020202020204" pitchFamily="34" charset="0"/>
                </a:rPr>
                <a:t>Data-in-Transit</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sym typeface="Arial" panose="020B0604020202020204" pitchFamily="34" charset="0"/>
                </a:rPr>
                <a:t>Encryption</a:t>
              </a:r>
              <a:endPar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endParaRPr>
            </a:p>
          </p:txBody>
        </p:sp>
        <p:grpSp>
          <p:nvGrpSpPr>
            <p:cNvPr id="362" name="Group 361" descr="NSX/SDN Controller&#10;">
              <a:extLst>
                <a:ext uri="{FF2B5EF4-FFF2-40B4-BE49-F238E27FC236}">
                  <a16:creationId xmlns:a16="http://schemas.microsoft.com/office/drawing/2014/main" id="{4C78E345-80B2-4442-9B5E-822C078559A9}"/>
                </a:ext>
              </a:extLst>
            </p:cNvPr>
            <p:cNvGrpSpPr>
              <a:grpSpLocks noChangeAspect="1"/>
            </p:cNvGrpSpPr>
            <p:nvPr/>
          </p:nvGrpSpPr>
          <p:grpSpPr>
            <a:xfrm>
              <a:off x="3125618" y="5353132"/>
              <a:ext cx="274320" cy="274320"/>
              <a:chOff x="4485843" y="1946681"/>
              <a:chExt cx="600837" cy="600837"/>
            </a:xfrm>
            <a:solidFill>
              <a:schemeClr val="tx1"/>
            </a:solidFill>
          </p:grpSpPr>
          <p:sp>
            <p:nvSpPr>
              <p:cNvPr id="363" name="Picture Placeholder 91">
                <a:extLst>
                  <a:ext uri="{FF2B5EF4-FFF2-40B4-BE49-F238E27FC236}">
                    <a16:creationId xmlns:a16="http://schemas.microsoft.com/office/drawing/2014/main" id="{D9578990-8EBC-4AB9-BB87-2A00DE3983E1}"/>
                  </a:ext>
                </a:extLst>
              </p:cNvPr>
              <p:cNvSpPr/>
              <p:nvPr/>
            </p:nvSpPr>
            <p:spPr>
              <a:xfrm>
                <a:off x="4485843" y="1946681"/>
                <a:ext cx="600837" cy="600837"/>
              </a:xfrm>
              <a:custGeom>
                <a:avLst/>
                <a:gdLst>
                  <a:gd name="connsiteX0" fmla="*/ 300419 w 600837"/>
                  <a:gd name="connsiteY0" fmla="*/ 15812 h 600837"/>
                  <a:gd name="connsiteX1" fmla="*/ 585026 w 600837"/>
                  <a:gd name="connsiteY1" fmla="*/ 300419 h 600837"/>
                  <a:gd name="connsiteX2" fmla="*/ 300419 w 600837"/>
                  <a:gd name="connsiteY2" fmla="*/ 585026 h 600837"/>
                  <a:gd name="connsiteX3" fmla="*/ 15812 w 600837"/>
                  <a:gd name="connsiteY3" fmla="*/ 300419 h 600837"/>
                  <a:gd name="connsiteX4" fmla="*/ 300419 w 600837"/>
                  <a:gd name="connsiteY4" fmla="*/ 15812 h 600837"/>
                  <a:gd name="connsiteX5" fmla="*/ 300419 w 600837"/>
                  <a:gd name="connsiteY5" fmla="*/ 0 h 600837"/>
                  <a:gd name="connsiteX6" fmla="*/ 0 w 600837"/>
                  <a:gd name="connsiteY6" fmla="*/ 300419 h 600837"/>
                  <a:gd name="connsiteX7" fmla="*/ 300419 w 600837"/>
                  <a:gd name="connsiteY7" fmla="*/ 600837 h 600837"/>
                  <a:gd name="connsiteX8" fmla="*/ 600837 w 600837"/>
                  <a:gd name="connsiteY8" fmla="*/ 300419 h 600837"/>
                  <a:gd name="connsiteX9" fmla="*/ 300419 w 600837"/>
                  <a:gd name="connsiteY9" fmla="*/ 0 h 60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0837" h="600837">
                    <a:moveTo>
                      <a:pt x="300419" y="15812"/>
                    </a:moveTo>
                    <a:cubicBezTo>
                      <a:pt x="457603" y="15812"/>
                      <a:pt x="585026" y="143234"/>
                      <a:pt x="585026" y="300419"/>
                    </a:cubicBezTo>
                    <a:cubicBezTo>
                      <a:pt x="585026" y="457603"/>
                      <a:pt x="457603" y="585026"/>
                      <a:pt x="300419" y="585026"/>
                    </a:cubicBezTo>
                    <a:cubicBezTo>
                      <a:pt x="143234" y="585026"/>
                      <a:pt x="15812" y="457603"/>
                      <a:pt x="15812" y="300419"/>
                    </a:cubicBezTo>
                    <a:cubicBezTo>
                      <a:pt x="15986" y="143307"/>
                      <a:pt x="143307" y="15986"/>
                      <a:pt x="300419" y="15812"/>
                    </a:cubicBezTo>
                    <a:moveTo>
                      <a:pt x="300419" y="0"/>
                    </a:moveTo>
                    <a:cubicBezTo>
                      <a:pt x="134502" y="0"/>
                      <a:pt x="0" y="134502"/>
                      <a:pt x="0" y="300419"/>
                    </a:cubicBezTo>
                    <a:cubicBezTo>
                      <a:pt x="0" y="466335"/>
                      <a:pt x="134502" y="600837"/>
                      <a:pt x="300419" y="600837"/>
                    </a:cubicBezTo>
                    <a:cubicBezTo>
                      <a:pt x="466335" y="600837"/>
                      <a:pt x="600837" y="466335"/>
                      <a:pt x="600837" y="300419"/>
                    </a:cubicBezTo>
                    <a:cubicBezTo>
                      <a:pt x="600837" y="134502"/>
                      <a:pt x="466335" y="0"/>
                      <a:pt x="300419"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4" name="Picture Placeholder 91">
                <a:extLst>
                  <a:ext uri="{FF2B5EF4-FFF2-40B4-BE49-F238E27FC236}">
                    <a16:creationId xmlns:a16="http://schemas.microsoft.com/office/drawing/2014/main" id="{364B7ADD-21E1-4C79-B62B-948E35380BCD}"/>
                  </a:ext>
                </a:extLst>
              </p:cNvPr>
              <p:cNvSpPr/>
              <p:nvPr/>
            </p:nvSpPr>
            <p:spPr>
              <a:xfrm>
                <a:off x="4816872" y="2261456"/>
                <a:ext cx="94869" cy="94869"/>
              </a:xfrm>
              <a:custGeom>
                <a:avLst/>
                <a:gdLst>
                  <a:gd name="connsiteX0" fmla="*/ 94869 w 94869"/>
                  <a:gd name="connsiteY0" fmla="*/ 47434 h 94869"/>
                  <a:gd name="connsiteX1" fmla="*/ 47434 w 94869"/>
                  <a:gd name="connsiteY1" fmla="*/ 94869 h 94869"/>
                  <a:gd name="connsiteX2" fmla="*/ 0 w 94869"/>
                  <a:gd name="connsiteY2" fmla="*/ 47434 h 94869"/>
                  <a:gd name="connsiteX3" fmla="*/ 47434 w 94869"/>
                  <a:gd name="connsiteY3" fmla="*/ 0 h 94869"/>
                  <a:gd name="connsiteX4" fmla="*/ 94869 w 94869"/>
                  <a:gd name="connsiteY4" fmla="*/ 47434 h 94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69" h="94869">
                    <a:moveTo>
                      <a:pt x="94869" y="47434"/>
                    </a:moveTo>
                    <a:cubicBezTo>
                      <a:pt x="94869" y="73632"/>
                      <a:pt x="73632" y="94869"/>
                      <a:pt x="47434" y="94869"/>
                    </a:cubicBezTo>
                    <a:cubicBezTo>
                      <a:pt x="21237" y="94869"/>
                      <a:pt x="0" y="73632"/>
                      <a:pt x="0" y="47434"/>
                    </a:cubicBezTo>
                    <a:cubicBezTo>
                      <a:pt x="0" y="21237"/>
                      <a:pt x="21237" y="0"/>
                      <a:pt x="47434" y="0"/>
                    </a:cubicBezTo>
                    <a:cubicBezTo>
                      <a:pt x="73632" y="0"/>
                      <a:pt x="94869" y="21237"/>
                      <a:pt x="94869" y="4743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5" name="Picture Placeholder 91">
                <a:extLst>
                  <a:ext uri="{FF2B5EF4-FFF2-40B4-BE49-F238E27FC236}">
                    <a16:creationId xmlns:a16="http://schemas.microsoft.com/office/drawing/2014/main" id="{B7538D02-0193-45E8-B983-27FC17AC801E}"/>
                  </a:ext>
                </a:extLst>
              </p:cNvPr>
              <p:cNvSpPr/>
              <p:nvPr/>
            </p:nvSpPr>
            <p:spPr>
              <a:xfrm>
                <a:off x="4643894" y="2330015"/>
                <a:ext cx="94869" cy="94869"/>
              </a:xfrm>
              <a:custGeom>
                <a:avLst/>
                <a:gdLst>
                  <a:gd name="connsiteX0" fmla="*/ 94869 w 94869"/>
                  <a:gd name="connsiteY0" fmla="*/ 47435 h 94869"/>
                  <a:gd name="connsiteX1" fmla="*/ 47435 w 94869"/>
                  <a:gd name="connsiteY1" fmla="*/ 94869 h 94869"/>
                  <a:gd name="connsiteX2" fmla="*/ 0 w 94869"/>
                  <a:gd name="connsiteY2" fmla="*/ 47435 h 94869"/>
                  <a:gd name="connsiteX3" fmla="*/ 47435 w 94869"/>
                  <a:gd name="connsiteY3" fmla="*/ 0 h 94869"/>
                  <a:gd name="connsiteX4" fmla="*/ 94869 w 94869"/>
                  <a:gd name="connsiteY4" fmla="*/ 47435 h 94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69" h="94869">
                    <a:moveTo>
                      <a:pt x="94869" y="47435"/>
                    </a:moveTo>
                    <a:cubicBezTo>
                      <a:pt x="94869" y="73632"/>
                      <a:pt x="73632" y="94869"/>
                      <a:pt x="47435" y="94869"/>
                    </a:cubicBezTo>
                    <a:cubicBezTo>
                      <a:pt x="21237" y="94869"/>
                      <a:pt x="0" y="73632"/>
                      <a:pt x="0" y="47435"/>
                    </a:cubicBezTo>
                    <a:cubicBezTo>
                      <a:pt x="0" y="21237"/>
                      <a:pt x="21237" y="0"/>
                      <a:pt x="47435" y="0"/>
                    </a:cubicBezTo>
                    <a:cubicBezTo>
                      <a:pt x="73632" y="0"/>
                      <a:pt x="94869" y="21237"/>
                      <a:pt x="94869" y="47435"/>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6" name="Picture Placeholder 91">
                <a:extLst>
                  <a:ext uri="{FF2B5EF4-FFF2-40B4-BE49-F238E27FC236}">
                    <a16:creationId xmlns:a16="http://schemas.microsoft.com/office/drawing/2014/main" id="{E012BEF2-4E80-4B3E-8F6A-0609188CFFB6}"/>
                  </a:ext>
                </a:extLst>
              </p:cNvPr>
              <p:cNvSpPr/>
              <p:nvPr/>
            </p:nvSpPr>
            <p:spPr>
              <a:xfrm>
                <a:off x="4880751" y="2094044"/>
                <a:ext cx="94869" cy="94869"/>
              </a:xfrm>
              <a:custGeom>
                <a:avLst/>
                <a:gdLst>
                  <a:gd name="connsiteX0" fmla="*/ 94869 w 94869"/>
                  <a:gd name="connsiteY0" fmla="*/ 47434 h 94869"/>
                  <a:gd name="connsiteX1" fmla="*/ 47435 w 94869"/>
                  <a:gd name="connsiteY1" fmla="*/ 94869 h 94869"/>
                  <a:gd name="connsiteX2" fmla="*/ 0 w 94869"/>
                  <a:gd name="connsiteY2" fmla="*/ 47434 h 94869"/>
                  <a:gd name="connsiteX3" fmla="*/ 47435 w 94869"/>
                  <a:gd name="connsiteY3" fmla="*/ 0 h 94869"/>
                  <a:gd name="connsiteX4" fmla="*/ 94869 w 94869"/>
                  <a:gd name="connsiteY4" fmla="*/ 47434 h 94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69" h="94869">
                    <a:moveTo>
                      <a:pt x="94869" y="47434"/>
                    </a:moveTo>
                    <a:cubicBezTo>
                      <a:pt x="94869" y="73632"/>
                      <a:pt x="73632" y="94869"/>
                      <a:pt x="47435" y="94869"/>
                    </a:cubicBezTo>
                    <a:cubicBezTo>
                      <a:pt x="21237" y="94869"/>
                      <a:pt x="0" y="73632"/>
                      <a:pt x="0" y="47434"/>
                    </a:cubicBezTo>
                    <a:cubicBezTo>
                      <a:pt x="0" y="21237"/>
                      <a:pt x="21237" y="0"/>
                      <a:pt x="47435" y="0"/>
                    </a:cubicBezTo>
                    <a:cubicBezTo>
                      <a:pt x="73632" y="0"/>
                      <a:pt x="94869" y="21237"/>
                      <a:pt x="94869" y="4743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7" name="Picture Placeholder 91">
                <a:extLst>
                  <a:ext uri="{FF2B5EF4-FFF2-40B4-BE49-F238E27FC236}">
                    <a16:creationId xmlns:a16="http://schemas.microsoft.com/office/drawing/2014/main" id="{75321A79-8566-4D0E-A1D5-C8B37DC344E6}"/>
                  </a:ext>
                </a:extLst>
              </p:cNvPr>
              <p:cNvSpPr/>
              <p:nvPr/>
            </p:nvSpPr>
            <p:spPr>
              <a:xfrm>
                <a:off x="4635230" y="2086328"/>
                <a:ext cx="110680" cy="110680"/>
              </a:xfrm>
              <a:custGeom>
                <a:avLst/>
                <a:gdLst>
                  <a:gd name="connsiteX0" fmla="*/ 55340 w 110680"/>
                  <a:gd name="connsiteY0" fmla="*/ 15812 h 110680"/>
                  <a:gd name="connsiteX1" fmla="*/ 94869 w 110680"/>
                  <a:gd name="connsiteY1" fmla="*/ 55340 h 110680"/>
                  <a:gd name="connsiteX2" fmla="*/ 55340 w 110680"/>
                  <a:gd name="connsiteY2" fmla="*/ 94869 h 110680"/>
                  <a:gd name="connsiteX3" fmla="*/ 15812 w 110680"/>
                  <a:gd name="connsiteY3" fmla="*/ 55340 h 110680"/>
                  <a:gd name="connsiteX4" fmla="*/ 55340 w 110680"/>
                  <a:gd name="connsiteY4" fmla="*/ 15812 h 110680"/>
                  <a:gd name="connsiteX5" fmla="*/ 55340 w 110680"/>
                  <a:gd name="connsiteY5" fmla="*/ 0 h 110680"/>
                  <a:gd name="connsiteX6" fmla="*/ 0 w 110680"/>
                  <a:gd name="connsiteY6" fmla="*/ 55340 h 110680"/>
                  <a:gd name="connsiteX7" fmla="*/ 55340 w 110680"/>
                  <a:gd name="connsiteY7" fmla="*/ 110681 h 110680"/>
                  <a:gd name="connsiteX8" fmla="*/ 110681 w 110680"/>
                  <a:gd name="connsiteY8" fmla="*/ 55340 h 110680"/>
                  <a:gd name="connsiteX9" fmla="*/ 55340 w 110680"/>
                  <a:gd name="connsiteY9" fmla="*/ 0 h 11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680" h="110680">
                    <a:moveTo>
                      <a:pt x="55340" y="15812"/>
                    </a:moveTo>
                    <a:cubicBezTo>
                      <a:pt x="77172" y="15812"/>
                      <a:pt x="94869" y="33509"/>
                      <a:pt x="94869" y="55340"/>
                    </a:cubicBezTo>
                    <a:cubicBezTo>
                      <a:pt x="94869" y="77171"/>
                      <a:pt x="77172" y="94869"/>
                      <a:pt x="55340" y="94869"/>
                    </a:cubicBezTo>
                    <a:cubicBezTo>
                      <a:pt x="33509" y="94869"/>
                      <a:pt x="15812" y="77171"/>
                      <a:pt x="15812" y="55340"/>
                    </a:cubicBezTo>
                    <a:cubicBezTo>
                      <a:pt x="15812" y="33509"/>
                      <a:pt x="33509" y="15812"/>
                      <a:pt x="55340" y="15812"/>
                    </a:cubicBezTo>
                    <a:moveTo>
                      <a:pt x="55340" y="0"/>
                    </a:moveTo>
                    <a:cubicBezTo>
                      <a:pt x="24777" y="0"/>
                      <a:pt x="0" y="24777"/>
                      <a:pt x="0" y="55340"/>
                    </a:cubicBezTo>
                    <a:cubicBezTo>
                      <a:pt x="0" y="85904"/>
                      <a:pt x="24777" y="110681"/>
                      <a:pt x="55340" y="110681"/>
                    </a:cubicBezTo>
                    <a:cubicBezTo>
                      <a:pt x="85904" y="110681"/>
                      <a:pt x="110681" y="85904"/>
                      <a:pt x="110681" y="55340"/>
                    </a:cubicBezTo>
                    <a:cubicBezTo>
                      <a:pt x="110681" y="24777"/>
                      <a:pt x="85904" y="0"/>
                      <a:pt x="55340"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8" name="Picture Placeholder 91">
                <a:extLst>
                  <a:ext uri="{FF2B5EF4-FFF2-40B4-BE49-F238E27FC236}">
                    <a16:creationId xmlns:a16="http://schemas.microsoft.com/office/drawing/2014/main" id="{118A47CD-0374-44CF-869E-FEC16048440E}"/>
                  </a:ext>
                </a:extLst>
              </p:cNvPr>
              <p:cNvSpPr/>
              <p:nvPr/>
            </p:nvSpPr>
            <p:spPr>
              <a:xfrm>
                <a:off x="4685004" y="2214717"/>
                <a:ext cx="15811" cy="102648"/>
              </a:xfrm>
              <a:custGeom>
                <a:avLst/>
                <a:gdLst>
                  <a:gd name="connsiteX0" fmla="*/ 0 w 15811"/>
                  <a:gd name="connsiteY0" fmla="*/ 0 h 102648"/>
                  <a:gd name="connsiteX1" fmla="*/ 15812 w 15811"/>
                  <a:gd name="connsiteY1" fmla="*/ 0 h 102648"/>
                  <a:gd name="connsiteX2" fmla="*/ 15812 w 15811"/>
                  <a:gd name="connsiteY2" fmla="*/ 102648 h 102648"/>
                  <a:gd name="connsiteX3" fmla="*/ 0 w 15811"/>
                  <a:gd name="connsiteY3" fmla="*/ 102648 h 102648"/>
                </a:gdLst>
                <a:ahLst/>
                <a:cxnLst>
                  <a:cxn ang="0">
                    <a:pos x="connsiteX0" y="connsiteY0"/>
                  </a:cxn>
                  <a:cxn ang="0">
                    <a:pos x="connsiteX1" y="connsiteY1"/>
                  </a:cxn>
                  <a:cxn ang="0">
                    <a:pos x="connsiteX2" y="connsiteY2"/>
                  </a:cxn>
                  <a:cxn ang="0">
                    <a:pos x="connsiteX3" y="connsiteY3"/>
                  </a:cxn>
                </a:cxnLst>
                <a:rect l="l" t="t" r="r" b="b"/>
                <a:pathLst>
                  <a:path w="15811" h="102648">
                    <a:moveTo>
                      <a:pt x="0" y="0"/>
                    </a:moveTo>
                    <a:lnTo>
                      <a:pt x="15812" y="0"/>
                    </a:lnTo>
                    <a:lnTo>
                      <a:pt x="15812" y="102648"/>
                    </a:lnTo>
                    <a:lnTo>
                      <a:pt x="0" y="10264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69" name="Picture Placeholder 91">
                <a:extLst>
                  <a:ext uri="{FF2B5EF4-FFF2-40B4-BE49-F238E27FC236}">
                    <a16:creationId xmlns:a16="http://schemas.microsoft.com/office/drawing/2014/main" id="{69212696-B1B3-48D0-95B2-29529877F366}"/>
                  </a:ext>
                </a:extLst>
              </p:cNvPr>
              <p:cNvSpPr/>
              <p:nvPr/>
            </p:nvSpPr>
            <p:spPr>
              <a:xfrm>
                <a:off x="4763429" y="2135154"/>
                <a:ext cx="102648" cy="15811"/>
              </a:xfrm>
              <a:custGeom>
                <a:avLst/>
                <a:gdLst>
                  <a:gd name="connsiteX0" fmla="*/ 0 w 102648"/>
                  <a:gd name="connsiteY0" fmla="*/ 0 h 15811"/>
                  <a:gd name="connsiteX1" fmla="*/ 102648 w 102648"/>
                  <a:gd name="connsiteY1" fmla="*/ 0 h 15811"/>
                  <a:gd name="connsiteX2" fmla="*/ 102648 w 102648"/>
                  <a:gd name="connsiteY2" fmla="*/ 15811 h 15811"/>
                  <a:gd name="connsiteX3" fmla="*/ 0 w 102648"/>
                  <a:gd name="connsiteY3" fmla="*/ 15811 h 15811"/>
                </a:gdLst>
                <a:ahLst/>
                <a:cxnLst>
                  <a:cxn ang="0">
                    <a:pos x="connsiteX0" y="connsiteY0"/>
                  </a:cxn>
                  <a:cxn ang="0">
                    <a:pos x="connsiteX1" y="connsiteY1"/>
                  </a:cxn>
                  <a:cxn ang="0">
                    <a:pos x="connsiteX2" y="connsiteY2"/>
                  </a:cxn>
                  <a:cxn ang="0">
                    <a:pos x="connsiteX3" y="connsiteY3"/>
                  </a:cxn>
                </a:cxnLst>
                <a:rect l="l" t="t" r="r" b="b"/>
                <a:pathLst>
                  <a:path w="102648" h="15811">
                    <a:moveTo>
                      <a:pt x="0" y="0"/>
                    </a:moveTo>
                    <a:lnTo>
                      <a:pt x="102648" y="0"/>
                    </a:lnTo>
                    <a:lnTo>
                      <a:pt x="102648" y="15811"/>
                    </a:lnTo>
                    <a:lnTo>
                      <a:pt x="0" y="15811"/>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70" name="Picture Placeholder 91">
                <a:extLst>
                  <a:ext uri="{FF2B5EF4-FFF2-40B4-BE49-F238E27FC236}">
                    <a16:creationId xmlns:a16="http://schemas.microsoft.com/office/drawing/2014/main" id="{140F1C72-1C45-4006-87BE-29AC314EBCA6}"/>
                  </a:ext>
                </a:extLst>
              </p:cNvPr>
              <p:cNvSpPr/>
              <p:nvPr/>
            </p:nvSpPr>
            <p:spPr>
              <a:xfrm rot="-2700000">
                <a:off x="4776000" y="2177112"/>
                <a:ext cx="15811" cy="102648"/>
              </a:xfrm>
              <a:custGeom>
                <a:avLst/>
                <a:gdLst>
                  <a:gd name="connsiteX0" fmla="*/ 0 w 15811"/>
                  <a:gd name="connsiteY0" fmla="*/ 0 h 102648"/>
                  <a:gd name="connsiteX1" fmla="*/ 15812 w 15811"/>
                  <a:gd name="connsiteY1" fmla="*/ 0 h 102648"/>
                  <a:gd name="connsiteX2" fmla="*/ 15812 w 15811"/>
                  <a:gd name="connsiteY2" fmla="*/ 102648 h 102648"/>
                  <a:gd name="connsiteX3" fmla="*/ 0 w 15811"/>
                  <a:gd name="connsiteY3" fmla="*/ 102648 h 102648"/>
                </a:gdLst>
                <a:ahLst/>
                <a:cxnLst>
                  <a:cxn ang="0">
                    <a:pos x="connsiteX0" y="connsiteY0"/>
                  </a:cxn>
                  <a:cxn ang="0">
                    <a:pos x="connsiteX1" y="connsiteY1"/>
                  </a:cxn>
                  <a:cxn ang="0">
                    <a:pos x="connsiteX2" y="connsiteY2"/>
                  </a:cxn>
                  <a:cxn ang="0">
                    <a:pos x="connsiteX3" y="connsiteY3"/>
                  </a:cxn>
                </a:cxnLst>
                <a:rect l="l" t="t" r="r" b="b"/>
                <a:pathLst>
                  <a:path w="15811" h="102648">
                    <a:moveTo>
                      <a:pt x="0" y="0"/>
                    </a:moveTo>
                    <a:lnTo>
                      <a:pt x="15812" y="0"/>
                    </a:lnTo>
                    <a:lnTo>
                      <a:pt x="15812" y="102648"/>
                    </a:lnTo>
                    <a:lnTo>
                      <a:pt x="0" y="10264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38" name="Group 37">
            <a:extLst>
              <a:ext uri="{FF2B5EF4-FFF2-40B4-BE49-F238E27FC236}">
                <a16:creationId xmlns:a16="http://schemas.microsoft.com/office/drawing/2014/main" id="{41134C1F-D7B0-418F-9CB3-01F4FE1DCE3D}"/>
              </a:ext>
            </a:extLst>
          </p:cNvPr>
          <p:cNvGrpSpPr/>
          <p:nvPr/>
        </p:nvGrpSpPr>
        <p:grpSpPr>
          <a:xfrm>
            <a:off x="6588431" y="3517925"/>
            <a:ext cx="758008" cy="2475217"/>
            <a:chOff x="6055031" y="3703187"/>
            <a:chExt cx="758008" cy="2475217"/>
          </a:xfrm>
        </p:grpSpPr>
        <p:cxnSp>
          <p:nvCxnSpPr>
            <p:cNvPr id="371" name="Straight Connector 370">
              <a:extLst>
                <a:ext uri="{FF2B5EF4-FFF2-40B4-BE49-F238E27FC236}">
                  <a16:creationId xmlns:a16="http://schemas.microsoft.com/office/drawing/2014/main" id="{2B357730-66EE-4D05-9D42-5E9C15DB8882}"/>
                </a:ext>
              </a:extLst>
            </p:cNvPr>
            <p:cNvCxnSpPr>
              <a:cxnSpLocks/>
            </p:cNvCxnSpPr>
            <p:nvPr/>
          </p:nvCxnSpPr>
          <p:spPr bwMode="gray">
            <a:xfrm>
              <a:off x="6435266"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372" name="Oval 371">
              <a:extLst>
                <a:ext uri="{FF2B5EF4-FFF2-40B4-BE49-F238E27FC236}">
                  <a16:creationId xmlns:a16="http://schemas.microsoft.com/office/drawing/2014/main" id="{B7148998-8299-41F1-902E-51CFDF76B44B}"/>
                </a:ext>
              </a:extLst>
            </p:cNvPr>
            <p:cNvSpPr/>
            <p:nvPr/>
          </p:nvSpPr>
          <p:spPr>
            <a:xfrm rot="10800000">
              <a:off x="6195205"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373" name="Rounded Rectangle 38">
              <a:extLst>
                <a:ext uri="{FF2B5EF4-FFF2-40B4-BE49-F238E27FC236}">
                  <a16:creationId xmlns:a16="http://schemas.microsoft.com/office/drawing/2014/main" id="{373EF4DE-DB47-4129-8EA9-6EB0B85C7A4D}"/>
                </a:ext>
              </a:extLst>
            </p:cNvPr>
            <p:cNvSpPr/>
            <p:nvPr/>
          </p:nvSpPr>
          <p:spPr>
            <a:xfrm>
              <a:off x="6055031"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Code</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Signing</a:t>
              </a:r>
            </a:p>
          </p:txBody>
        </p:sp>
        <p:pic>
          <p:nvPicPr>
            <p:cNvPr id="375" name="Graphic 374">
              <a:extLst>
                <a:ext uri="{FF2B5EF4-FFF2-40B4-BE49-F238E27FC236}">
                  <a16:creationId xmlns:a16="http://schemas.microsoft.com/office/drawing/2014/main" id="{201DD3BF-E24E-43FA-BB73-773491515021}"/>
                </a:ext>
              </a:extLst>
            </p:cNvPr>
            <p:cNvPicPr>
              <a:picLocks noChangeAspect="1"/>
            </p:cNvPicPr>
            <p:nvPr/>
          </p:nvPicPr>
          <p:blipFill>
            <a:blip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81929" y="5338153"/>
              <a:ext cx="302147" cy="302147"/>
            </a:xfrm>
            <a:prstGeom prst="rect">
              <a:avLst/>
            </a:prstGeom>
          </p:spPr>
        </p:pic>
      </p:grpSp>
      <p:grpSp>
        <p:nvGrpSpPr>
          <p:cNvPr id="425" name="Group 424">
            <a:extLst>
              <a:ext uri="{FF2B5EF4-FFF2-40B4-BE49-F238E27FC236}">
                <a16:creationId xmlns:a16="http://schemas.microsoft.com/office/drawing/2014/main" id="{8ADED495-DFD1-B871-9E7A-95797ADDAA19}"/>
              </a:ext>
            </a:extLst>
          </p:cNvPr>
          <p:cNvGrpSpPr/>
          <p:nvPr/>
        </p:nvGrpSpPr>
        <p:grpSpPr>
          <a:xfrm>
            <a:off x="6062429" y="3523164"/>
            <a:ext cx="758008" cy="1303912"/>
            <a:chOff x="6062429" y="3523164"/>
            <a:chExt cx="758008" cy="1303912"/>
          </a:xfrm>
        </p:grpSpPr>
        <p:cxnSp>
          <p:nvCxnSpPr>
            <p:cNvPr id="202" name="Straight Connector 201">
              <a:extLst>
                <a:ext uri="{FF2B5EF4-FFF2-40B4-BE49-F238E27FC236}">
                  <a16:creationId xmlns:a16="http://schemas.microsoft.com/office/drawing/2014/main" id="{DCA3FBC8-2853-4807-87E8-853CD8F2D24B}"/>
                </a:ext>
              </a:extLst>
            </p:cNvPr>
            <p:cNvCxnSpPr>
              <a:cxnSpLocks/>
            </p:cNvCxnSpPr>
            <p:nvPr/>
          </p:nvCxnSpPr>
          <p:spPr bwMode="gray">
            <a:xfrm rot="10800000" flipV="1">
              <a:off x="6436085" y="3523164"/>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661637F9-4DB4-4EA6-A9AD-F69B7E84F73C}"/>
                </a:ext>
              </a:extLst>
            </p:cNvPr>
            <p:cNvSpPr/>
            <p:nvPr/>
          </p:nvSpPr>
          <p:spPr>
            <a:xfrm rot="10800000">
              <a:off x="6202071" y="3887260"/>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204" name="Rounded Rectangle 31">
              <a:extLst>
                <a:ext uri="{FF2B5EF4-FFF2-40B4-BE49-F238E27FC236}">
                  <a16:creationId xmlns:a16="http://schemas.microsoft.com/office/drawing/2014/main" id="{D7C2D375-0129-46F1-9C35-04F1149BC948}"/>
                </a:ext>
              </a:extLst>
            </p:cNvPr>
            <p:cNvSpPr/>
            <p:nvPr/>
          </p:nvSpPr>
          <p:spPr>
            <a:xfrm>
              <a:off x="6062429" y="4448072"/>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Distributed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Firewall</a:t>
              </a:r>
            </a:p>
          </p:txBody>
        </p:sp>
        <p:grpSp>
          <p:nvGrpSpPr>
            <p:cNvPr id="376" name="Picture Placeholder 95" descr="Detections 3&#10;">
              <a:extLst>
                <a:ext uri="{FF2B5EF4-FFF2-40B4-BE49-F238E27FC236}">
                  <a16:creationId xmlns:a16="http://schemas.microsoft.com/office/drawing/2014/main" id="{5EDF3549-7B0A-44EF-9020-4B229CAB05BB}"/>
                </a:ext>
              </a:extLst>
            </p:cNvPr>
            <p:cNvGrpSpPr>
              <a:grpSpLocks noChangeAspect="1"/>
            </p:cNvGrpSpPr>
            <p:nvPr/>
          </p:nvGrpSpPr>
          <p:grpSpPr>
            <a:xfrm>
              <a:off x="6255780" y="3949239"/>
              <a:ext cx="365760" cy="366898"/>
              <a:chOff x="11081827" y="720438"/>
              <a:chExt cx="600204" cy="602073"/>
            </a:xfrm>
            <a:solidFill>
              <a:schemeClr val="tx1"/>
            </a:solidFill>
          </p:grpSpPr>
          <p:sp>
            <p:nvSpPr>
              <p:cNvPr id="377" name="Picture Placeholder 95">
                <a:extLst>
                  <a:ext uri="{FF2B5EF4-FFF2-40B4-BE49-F238E27FC236}">
                    <a16:creationId xmlns:a16="http://schemas.microsoft.com/office/drawing/2014/main" id="{9531753A-FF39-4D54-9BE7-FAAAF10B9F7D}"/>
                  </a:ext>
                </a:extLst>
              </p:cNvPr>
              <p:cNvSpPr/>
              <p:nvPr/>
            </p:nvSpPr>
            <p:spPr>
              <a:xfrm>
                <a:off x="11373392" y="1258515"/>
                <a:ext cx="15811" cy="62744"/>
              </a:xfrm>
              <a:custGeom>
                <a:avLst/>
                <a:gdLst>
                  <a:gd name="connsiteX0" fmla="*/ 0 w 15811"/>
                  <a:gd name="connsiteY0" fmla="*/ 0 h 62744"/>
                  <a:gd name="connsiteX1" fmla="*/ 15812 w 15811"/>
                  <a:gd name="connsiteY1" fmla="*/ 0 h 62744"/>
                  <a:gd name="connsiteX2" fmla="*/ 15812 w 15811"/>
                  <a:gd name="connsiteY2" fmla="*/ 62744 h 62744"/>
                  <a:gd name="connsiteX3" fmla="*/ 0 w 15811"/>
                  <a:gd name="connsiteY3" fmla="*/ 62744 h 62744"/>
                </a:gdLst>
                <a:ahLst/>
                <a:cxnLst>
                  <a:cxn ang="0">
                    <a:pos x="connsiteX0" y="connsiteY0"/>
                  </a:cxn>
                  <a:cxn ang="0">
                    <a:pos x="connsiteX1" y="connsiteY1"/>
                  </a:cxn>
                  <a:cxn ang="0">
                    <a:pos x="connsiteX2" y="connsiteY2"/>
                  </a:cxn>
                  <a:cxn ang="0">
                    <a:pos x="connsiteX3" y="connsiteY3"/>
                  </a:cxn>
                </a:cxnLst>
                <a:rect l="l" t="t" r="r" b="b"/>
                <a:pathLst>
                  <a:path w="15811" h="62744">
                    <a:moveTo>
                      <a:pt x="0" y="0"/>
                    </a:moveTo>
                    <a:lnTo>
                      <a:pt x="15812" y="0"/>
                    </a:lnTo>
                    <a:lnTo>
                      <a:pt x="15812" y="62744"/>
                    </a:lnTo>
                    <a:lnTo>
                      <a:pt x="0" y="627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378" name="Picture Placeholder 95">
                <a:extLst>
                  <a:ext uri="{FF2B5EF4-FFF2-40B4-BE49-F238E27FC236}">
                    <a16:creationId xmlns:a16="http://schemas.microsoft.com/office/drawing/2014/main" id="{98E5D8D7-105C-42EC-A6A5-2EB8F0C3E2A1}"/>
                  </a:ext>
                </a:extLst>
              </p:cNvPr>
              <p:cNvGrpSpPr/>
              <p:nvPr/>
            </p:nvGrpSpPr>
            <p:grpSpPr>
              <a:xfrm>
                <a:off x="11081827" y="720438"/>
                <a:ext cx="600204" cy="553805"/>
                <a:chOff x="11081827" y="720438"/>
                <a:chExt cx="600204" cy="553805"/>
              </a:xfrm>
              <a:grpFill/>
            </p:grpSpPr>
            <p:grpSp>
              <p:nvGrpSpPr>
                <p:cNvPr id="379" name="Picture Placeholder 95">
                  <a:extLst>
                    <a:ext uri="{FF2B5EF4-FFF2-40B4-BE49-F238E27FC236}">
                      <a16:creationId xmlns:a16="http://schemas.microsoft.com/office/drawing/2014/main" id="{1DAD3A0F-445D-4918-931F-E7E62A4182AA}"/>
                    </a:ext>
                  </a:extLst>
                </p:cNvPr>
                <p:cNvGrpSpPr/>
                <p:nvPr/>
              </p:nvGrpSpPr>
              <p:grpSpPr>
                <a:xfrm>
                  <a:off x="11252592" y="851999"/>
                  <a:ext cx="263103" cy="338137"/>
                  <a:chOff x="11252592" y="851999"/>
                  <a:chExt cx="263103" cy="338137"/>
                </a:xfrm>
                <a:grpFill/>
              </p:grpSpPr>
              <p:sp>
                <p:nvSpPr>
                  <p:cNvPr id="387" name="Picture Placeholder 95">
                    <a:extLst>
                      <a:ext uri="{FF2B5EF4-FFF2-40B4-BE49-F238E27FC236}">
                        <a16:creationId xmlns:a16="http://schemas.microsoft.com/office/drawing/2014/main" id="{7CB1153D-7EC8-4679-A820-0926CBDF52D7}"/>
                      </a:ext>
                    </a:extLst>
                  </p:cNvPr>
                  <p:cNvSpPr/>
                  <p:nvPr/>
                </p:nvSpPr>
                <p:spPr>
                  <a:xfrm>
                    <a:off x="11326589" y="1114014"/>
                    <a:ext cx="125859" cy="61476"/>
                  </a:xfrm>
                  <a:custGeom>
                    <a:avLst/>
                    <a:gdLst>
                      <a:gd name="connsiteX0" fmla="*/ 4427 w 125859"/>
                      <a:gd name="connsiteY0" fmla="*/ 61477 h 61476"/>
                      <a:gd name="connsiteX1" fmla="*/ 0 w 125859"/>
                      <a:gd name="connsiteY1" fmla="*/ 46266 h 61476"/>
                      <a:gd name="connsiteX2" fmla="*/ 67673 w 125859"/>
                      <a:gd name="connsiteY2" fmla="*/ 0 h 61476"/>
                      <a:gd name="connsiteX3" fmla="*/ 80955 w 125859"/>
                      <a:gd name="connsiteY3" fmla="*/ 0 h 61476"/>
                      <a:gd name="connsiteX4" fmla="*/ 125860 w 125859"/>
                      <a:gd name="connsiteY4" fmla="*/ 34858 h 61476"/>
                      <a:gd name="connsiteX5" fmla="*/ 120800 w 125859"/>
                      <a:gd name="connsiteY5" fmla="*/ 50068 h 61476"/>
                      <a:gd name="connsiteX6" fmla="*/ 73998 w 125859"/>
                      <a:gd name="connsiteY6" fmla="*/ 17746 h 61476"/>
                      <a:gd name="connsiteX7" fmla="*/ 4427 w 125859"/>
                      <a:gd name="connsiteY7" fmla="*/ 61477 h 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59" h="61476">
                        <a:moveTo>
                          <a:pt x="4427" y="61477"/>
                        </a:moveTo>
                        <a:lnTo>
                          <a:pt x="0" y="46266"/>
                        </a:lnTo>
                        <a:cubicBezTo>
                          <a:pt x="632" y="46266"/>
                          <a:pt x="45537" y="32957"/>
                          <a:pt x="67673" y="0"/>
                        </a:cubicBezTo>
                        <a:lnTo>
                          <a:pt x="80955" y="0"/>
                        </a:lnTo>
                        <a:cubicBezTo>
                          <a:pt x="80955" y="0"/>
                          <a:pt x="97399" y="25351"/>
                          <a:pt x="125860" y="34858"/>
                        </a:cubicBezTo>
                        <a:lnTo>
                          <a:pt x="120800" y="50068"/>
                        </a:lnTo>
                        <a:cubicBezTo>
                          <a:pt x="98031" y="42463"/>
                          <a:pt x="82220" y="27252"/>
                          <a:pt x="73998" y="17746"/>
                        </a:cubicBezTo>
                        <a:cubicBezTo>
                          <a:pt x="47435" y="48801"/>
                          <a:pt x="6325" y="60843"/>
                          <a:pt x="4427" y="6147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8" name="Picture Placeholder 95">
                    <a:extLst>
                      <a:ext uri="{FF2B5EF4-FFF2-40B4-BE49-F238E27FC236}">
                        <a16:creationId xmlns:a16="http://schemas.microsoft.com/office/drawing/2014/main" id="{391AEFE5-5BE6-4254-8DE9-D1C01B86DF5E}"/>
                      </a:ext>
                    </a:extLst>
                  </p:cNvPr>
                  <p:cNvSpPr/>
                  <p:nvPr/>
                </p:nvSpPr>
                <p:spPr>
                  <a:xfrm>
                    <a:off x="11367067" y="1148872"/>
                    <a:ext cx="46169" cy="40561"/>
                  </a:xfrm>
                  <a:custGeom>
                    <a:avLst/>
                    <a:gdLst>
                      <a:gd name="connsiteX0" fmla="*/ 3795 w 46169"/>
                      <a:gd name="connsiteY0" fmla="*/ 40562 h 40561"/>
                      <a:gd name="connsiteX1" fmla="*/ 0 w 46169"/>
                      <a:gd name="connsiteY1" fmla="*/ 25351 h 40561"/>
                      <a:gd name="connsiteX2" fmla="*/ 32255 w 46169"/>
                      <a:gd name="connsiteY2" fmla="*/ 0 h 40561"/>
                      <a:gd name="connsiteX3" fmla="*/ 46170 w 46169"/>
                      <a:gd name="connsiteY3" fmla="*/ 7605 h 40561"/>
                      <a:gd name="connsiteX4" fmla="*/ 3795 w 46169"/>
                      <a:gd name="connsiteY4" fmla="*/ 40562 h 40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9" h="40561">
                        <a:moveTo>
                          <a:pt x="3795" y="40562"/>
                        </a:moveTo>
                        <a:lnTo>
                          <a:pt x="0" y="25351"/>
                        </a:lnTo>
                        <a:cubicBezTo>
                          <a:pt x="0" y="25351"/>
                          <a:pt x="20871" y="20281"/>
                          <a:pt x="32255" y="0"/>
                        </a:cubicBezTo>
                        <a:lnTo>
                          <a:pt x="46170" y="7605"/>
                        </a:lnTo>
                        <a:cubicBezTo>
                          <a:pt x="31623" y="34224"/>
                          <a:pt x="5060" y="40562"/>
                          <a:pt x="3795" y="4056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9" name="Picture Placeholder 95">
                    <a:extLst>
                      <a:ext uri="{FF2B5EF4-FFF2-40B4-BE49-F238E27FC236}">
                        <a16:creationId xmlns:a16="http://schemas.microsoft.com/office/drawing/2014/main" id="{B7FB7508-EAB7-47D8-987F-46E11A09B1FF}"/>
                      </a:ext>
                    </a:extLst>
                  </p:cNvPr>
                  <p:cNvSpPr/>
                  <p:nvPr/>
                </p:nvSpPr>
                <p:spPr>
                  <a:xfrm>
                    <a:off x="11413237" y="1082959"/>
                    <a:ext cx="67040" cy="51969"/>
                  </a:xfrm>
                  <a:custGeom>
                    <a:avLst/>
                    <a:gdLst>
                      <a:gd name="connsiteX0" fmla="*/ 63878 w 67040"/>
                      <a:gd name="connsiteY0" fmla="*/ 51970 h 51969"/>
                      <a:gd name="connsiteX1" fmla="*/ 0 w 67040"/>
                      <a:gd name="connsiteY1" fmla="*/ 5070 h 51969"/>
                      <a:gd name="connsiteX2" fmla="*/ 15179 w 67040"/>
                      <a:gd name="connsiteY2" fmla="*/ 0 h 51969"/>
                      <a:gd name="connsiteX3" fmla="*/ 67041 w 67040"/>
                      <a:gd name="connsiteY3" fmla="*/ 36759 h 51969"/>
                      <a:gd name="connsiteX4" fmla="*/ 63878 w 67040"/>
                      <a:gd name="connsiteY4" fmla="*/ 51970 h 51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40" h="51969">
                        <a:moveTo>
                          <a:pt x="63878" y="51970"/>
                        </a:moveTo>
                        <a:cubicBezTo>
                          <a:pt x="61981" y="51336"/>
                          <a:pt x="13282" y="43097"/>
                          <a:pt x="0" y="5070"/>
                        </a:cubicBezTo>
                        <a:lnTo>
                          <a:pt x="15179" y="0"/>
                        </a:lnTo>
                        <a:cubicBezTo>
                          <a:pt x="25931" y="29788"/>
                          <a:pt x="66408" y="36759"/>
                          <a:pt x="67041" y="36759"/>
                        </a:cubicBezTo>
                        <a:lnTo>
                          <a:pt x="63878" y="5197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0" name="Picture Placeholder 95">
                    <a:extLst>
                      <a:ext uri="{FF2B5EF4-FFF2-40B4-BE49-F238E27FC236}">
                        <a16:creationId xmlns:a16="http://schemas.microsoft.com/office/drawing/2014/main" id="{F22FE6D6-8E7A-4CF2-92A9-14D8A3791C9F}"/>
                      </a:ext>
                    </a:extLst>
                  </p:cNvPr>
                  <p:cNvSpPr/>
                  <p:nvPr/>
                </p:nvSpPr>
                <p:spPr>
                  <a:xfrm>
                    <a:off x="11258916" y="920426"/>
                    <a:ext cx="234010" cy="187883"/>
                  </a:xfrm>
                  <a:custGeom>
                    <a:avLst/>
                    <a:gdLst>
                      <a:gd name="connsiteX0" fmla="*/ 230848 w 234010"/>
                      <a:gd name="connsiteY0" fmla="*/ 187884 h 187883"/>
                      <a:gd name="connsiteX1" fmla="*/ 184678 w 234010"/>
                      <a:gd name="connsiteY1" fmla="*/ 139716 h 187883"/>
                      <a:gd name="connsiteX2" fmla="*/ 194165 w 234010"/>
                      <a:gd name="connsiteY2" fmla="*/ 112464 h 187883"/>
                      <a:gd name="connsiteX3" fmla="*/ 199857 w 234010"/>
                      <a:gd name="connsiteY3" fmla="*/ 51621 h 187883"/>
                      <a:gd name="connsiteX4" fmla="*/ 161910 w 234010"/>
                      <a:gd name="connsiteY4" fmla="*/ 19932 h 187883"/>
                      <a:gd name="connsiteX5" fmla="*/ 108151 w 234010"/>
                      <a:gd name="connsiteY5" fmla="*/ 22467 h 187883"/>
                      <a:gd name="connsiteX6" fmla="*/ 78425 w 234010"/>
                      <a:gd name="connsiteY6" fmla="*/ 68733 h 187883"/>
                      <a:gd name="connsiteX7" fmla="*/ 5060 w 234010"/>
                      <a:gd name="connsiteY7" fmla="*/ 147322 h 187883"/>
                      <a:gd name="connsiteX8" fmla="*/ 0 w 234010"/>
                      <a:gd name="connsiteY8" fmla="*/ 132111 h 187883"/>
                      <a:gd name="connsiteX9" fmla="*/ 63246 w 234010"/>
                      <a:gd name="connsiteY9" fmla="*/ 64297 h 187883"/>
                      <a:gd name="connsiteX10" fmla="*/ 100561 w 234010"/>
                      <a:gd name="connsiteY10" fmla="*/ 9158 h 187883"/>
                      <a:gd name="connsiteX11" fmla="*/ 166969 w 234010"/>
                      <a:gd name="connsiteY11" fmla="*/ 5355 h 187883"/>
                      <a:gd name="connsiteX12" fmla="*/ 214404 w 234010"/>
                      <a:gd name="connsiteY12" fmla="*/ 45917 h 187883"/>
                      <a:gd name="connsiteX13" fmla="*/ 208712 w 234010"/>
                      <a:gd name="connsiteY13" fmla="*/ 119436 h 187883"/>
                      <a:gd name="connsiteX14" fmla="*/ 200490 w 234010"/>
                      <a:gd name="connsiteY14" fmla="*/ 143519 h 187883"/>
                      <a:gd name="connsiteX15" fmla="*/ 234010 w 234010"/>
                      <a:gd name="connsiteY15" fmla="*/ 173307 h 187883"/>
                      <a:gd name="connsiteX16" fmla="*/ 230848 w 234010"/>
                      <a:gd name="connsiteY16" fmla="*/ 187884 h 18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010" h="187883">
                        <a:moveTo>
                          <a:pt x="230848" y="187884"/>
                        </a:moveTo>
                        <a:cubicBezTo>
                          <a:pt x="212507" y="184081"/>
                          <a:pt x="178986" y="170138"/>
                          <a:pt x="184678" y="139716"/>
                        </a:cubicBezTo>
                        <a:cubicBezTo>
                          <a:pt x="186576" y="130210"/>
                          <a:pt x="190370" y="121337"/>
                          <a:pt x="194165" y="112464"/>
                        </a:cubicBezTo>
                        <a:cubicBezTo>
                          <a:pt x="202387" y="93451"/>
                          <a:pt x="209977" y="75071"/>
                          <a:pt x="199857" y="51621"/>
                        </a:cubicBezTo>
                        <a:cubicBezTo>
                          <a:pt x="194165" y="38312"/>
                          <a:pt x="179619" y="26270"/>
                          <a:pt x="161910" y="19932"/>
                        </a:cubicBezTo>
                        <a:cubicBezTo>
                          <a:pt x="142936" y="13595"/>
                          <a:pt x="123962" y="14228"/>
                          <a:pt x="108151" y="22467"/>
                        </a:cubicBezTo>
                        <a:cubicBezTo>
                          <a:pt x="87912" y="33242"/>
                          <a:pt x="83485" y="49720"/>
                          <a:pt x="78425" y="68733"/>
                        </a:cubicBezTo>
                        <a:cubicBezTo>
                          <a:pt x="70836" y="96620"/>
                          <a:pt x="61981" y="127675"/>
                          <a:pt x="5060" y="147322"/>
                        </a:cubicBezTo>
                        <a:lnTo>
                          <a:pt x="0" y="132111"/>
                        </a:lnTo>
                        <a:cubicBezTo>
                          <a:pt x="48699" y="115633"/>
                          <a:pt x="55657" y="90915"/>
                          <a:pt x="63246" y="64297"/>
                        </a:cubicBezTo>
                        <a:cubicBezTo>
                          <a:pt x="68938" y="44016"/>
                          <a:pt x="75263" y="23101"/>
                          <a:pt x="100561" y="9158"/>
                        </a:cubicBezTo>
                        <a:cubicBezTo>
                          <a:pt x="120167" y="-1616"/>
                          <a:pt x="143568" y="-2884"/>
                          <a:pt x="166969" y="5355"/>
                        </a:cubicBezTo>
                        <a:cubicBezTo>
                          <a:pt x="189106" y="12961"/>
                          <a:pt x="206814" y="28171"/>
                          <a:pt x="214404" y="45917"/>
                        </a:cubicBezTo>
                        <a:cubicBezTo>
                          <a:pt x="227053" y="75705"/>
                          <a:pt x="217566" y="98521"/>
                          <a:pt x="208712" y="119436"/>
                        </a:cubicBezTo>
                        <a:cubicBezTo>
                          <a:pt x="204917" y="127675"/>
                          <a:pt x="201755" y="135914"/>
                          <a:pt x="200490" y="143519"/>
                        </a:cubicBezTo>
                        <a:cubicBezTo>
                          <a:pt x="196695" y="165701"/>
                          <a:pt x="234010" y="173307"/>
                          <a:pt x="234010" y="173307"/>
                        </a:cubicBezTo>
                        <a:lnTo>
                          <a:pt x="230848" y="18788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1" name="Picture Placeholder 95">
                    <a:extLst>
                      <a:ext uri="{FF2B5EF4-FFF2-40B4-BE49-F238E27FC236}">
                        <a16:creationId xmlns:a16="http://schemas.microsoft.com/office/drawing/2014/main" id="{D21F653C-3323-4FEB-BDD2-9E74C5B4E55F}"/>
                      </a:ext>
                    </a:extLst>
                  </p:cNvPr>
                  <p:cNvSpPr/>
                  <p:nvPr/>
                </p:nvSpPr>
                <p:spPr>
                  <a:xfrm>
                    <a:off x="11266506" y="955461"/>
                    <a:ext cx="173239" cy="201015"/>
                  </a:xfrm>
                  <a:custGeom>
                    <a:avLst/>
                    <a:gdLst>
                      <a:gd name="connsiteX0" fmla="*/ 38580 w 173239"/>
                      <a:gd name="connsiteY0" fmla="*/ 201016 h 201015"/>
                      <a:gd name="connsiteX1" fmla="*/ 32255 w 173239"/>
                      <a:gd name="connsiteY1" fmla="*/ 186439 h 201015"/>
                      <a:gd name="connsiteX2" fmla="*/ 139774 w 173239"/>
                      <a:gd name="connsiteY2" fmla="*/ 97710 h 201015"/>
                      <a:gd name="connsiteX3" fmla="*/ 152423 w 173239"/>
                      <a:gd name="connsiteY3" fmla="*/ 27994 h 201015"/>
                      <a:gd name="connsiteX4" fmla="*/ 135346 w 173239"/>
                      <a:gd name="connsiteY4" fmla="*/ 16586 h 201015"/>
                      <a:gd name="connsiteX5" fmla="*/ 101194 w 173239"/>
                      <a:gd name="connsiteY5" fmla="*/ 52712 h 201015"/>
                      <a:gd name="connsiteX6" fmla="*/ 86647 w 173239"/>
                      <a:gd name="connsiteY6" fmla="*/ 85668 h 201015"/>
                      <a:gd name="connsiteX7" fmla="*/ 5060 w 173239"/>
                      <a:gd name="connsiteY7" fmla="*/ 146511 h 201015"/>
                      <a:gd name="connsiteX8" fmla="*/ 0 w 173239"/>
                      <a:gd name="connsiteY8" fmla="*/ 131300 h 201015"/>
                      <a:gd name="connsiteX9" fmla="*/ 73365 w 173239"/>
                      <a:gd name="connsiteY9" fmla="*/ 77429 h 201015"/>
                      <a:gd name="connsiteX10" fmla="*/ 87279 w 173239"/>
                      <a:gd name="connsiteY10" fmla="*/ 46374 h 201015"/>
                      <a:gd name="connsiteX11" fmla="*/ 137244 w 173239"/>
                      <a:gd name="connsiteY11" fmla="*/ 108 h 201015"/>
                      <a:gd name="connsiteX12" fmla="*/ 168234 w 173239"/>
                      <a:gd name="connsiteY12" fmla="*/ 20389 h 201015"/>
                      <a:gd name="connsiteX13" fmla="*/ 154320 w 173239"/>
                      <a:gd name="connsiteY13" fmla="*/ 105949 h 201015"/>
                      <a:gd name="connsiteX14" fmla="*/ 38580 w 173239"/>
                      <a:gd name="connsiteY14" fmla="*/ 201016 h 20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239" h="201015">
                        <a:moveTo>
                          <a:pt x="38580" y="201016"/>
                        </a:moveTo>
                        <a:lnTo>
                          <a:pt x="32255" y="186439"/>
                        </a:lnTo>
                        <a:cubicBezTo>
                          <a:pt x="84117" y="163623"/>
                          <a:pt x="118902" y="125596"/>
                          <a:pt x="139774" y="97710"/>
                        </a:cubicBezTo>
                        <a:cubicBezTo>
                          <a:pt x="153055" y="79964"/>
                          <a:pt x="160645" y="46374"/>
                          <a:pt x="152423" y="27994"/>
                        </a:cubicBezTo>
                        <a:cubicBezTo>
                          <a:pt x="149261" y="21023"/>
                          <a:pt x="143568" y="17220"/>
                          <a:pt x="135346" y="16586"/>
                        </a:cubicBezTo>
                        <a:cubicBezTo>
                          <a:pt x="116373" y="15319"/>
                          <a:pt x="111313" y="26727"/>
                          <a:pt x="101194" y="52712"/>
                        </a:cubicBezTo>
                        <a:cubicBezTo>
                          <a:pt x="97399" y="62852"/>
                          <a:pt x="92972" y="74260"/>
                          <a:pt x="86647" y="85668"/>
                        </a:cubicBezTo>
                        <a:cubicBezTo>
                          <a:pt x="63878" y="126230"/>
                          <a:pt x="6957" y="145877"/>
                          <a:pt x="5060" y="146511"/>
                        </a:cubicBezTo>
                        <a:lnTo>
                          <a:pt x="0" y="131300"/>
                        </a:lnTo>
                        <a:cubicBezTo>
                          <a:pt x="632" y="131300"/>
                          <a:pt x="53127" y="112921"/>
                          <a:pt x="73365" y="77429"/>
                        </a:cubicBezTo>
                        <a:cubicBezTo>
                          <a:pt x="79058" y="67289"/>
                          <a:pt x="83485" y="56515"/>
                          <a:pt x="87279" y="46374"/>
                        </a:cubicBezTo>
                        <a:cubicBezTo>
                          <a:pt x="96766" y="21657"/>
                          <a:pt x="106253" y="-1793"/>
                          <a:pt x="137244" y="108"/>
                        </a:cubicBezTo>
                        <a:cubicBezTo>
                          <a:pt x="151158" y="742"/>
                          <a:pt x="161910" y="8347"/>
                          <a:pt x="168234" y="20389"/>
                        </a:cubicBezTo>
                        <a:cubicBezTo>
                          <a:pt x="179619" y="44473"/>
                          <a:pt x="170132" y="84401"/>
                          <a:pt x="154320" y="105949"/>
                        </a:cubicBezTo>
                        <a:cubicBezTo>
                          <a:pt x="130919" y="136371"/>
                          <a:pt x="93604" y="176932"/>
                          <a:pt x="38580" y="20101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2" name="Picture Placeholder 95">
                    <a:extLst>
                      <a:ext uri="{FF2B5EF4-FFF2-40B4-BE49-F238E27FC236}">
                        <a16:creationId xmlns:a16="http://schemas.microsoft.com/office/drawing/2014/main" id="{A8B7C22C-C94E-4EA0-8C41-5B962862BC45}"/>
                      </a:ext>
                    </a:extLst>
                  </p:cNvPr>
                  <p:cNvSpPr/>
                  <p:nvPr/>
                </p:nvSpPr>
                <p:spPr>
                  <a:xfrm>
                    <a:off x="11279155" y="998032"/>
                    <a:ext cx="125227" cy="131192"/>
                  </a:xfrm>
                  <a:custGeom>
                    <a:avLst/>
                    <a:gdLst>
                      <a:gd name="connsiteX0" fmla="*/ 5060 w 125227"/>
                      <a:gd name="connsiteY0" fmla="*/ 131192 h 131192"/>
                      <a:gd name="connsiteX1" fmla="*/ 0 w 125227"/>
                      <a:gd name="connsiteY1" fmla="*/ 115981 h 131192"/>
                      <a:gd name="connsiteX2" fmla="*/ 109416 w 125227"/>
                      <a:gd name="connsiteY2" fmla="*/ 0 h 131192"/>
                      <a:gd name="connsiteX3" fmla="*/ 125227 w 125227"/>
                      <a:gd name="connsiteY3" fmla="*/ 634 h 131192"/>
                      <a:gd name="connsiteX4" fmla="*/ 5060 w 125227"/>
                      <a:gd name="connsiteY4" fmla="*/ 131192 h 131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27" h="131192">
                        <a:moveTo>
                          <a:pt x="5060" y="131192"/>
                        </a:moveTo>
                        <a:lnTo>
                          <a:pt x="0" y="115981"/>
                        </a:lnTo>
                        <a:cubicBezTo>
                          <a:pt x="1265" y="115348"/>
                          <a:pt x="104988" y="77955"/>
                          <a:pt x="109416" y="0"/>
                        </a:cubicBezTo>
                        <a:lnTo>
                          <a:pt x="125227" y="634"/>
                        </a:lnTo>
                        <a:cubicBezTo>
                          <a:pt x="120167" y="89363"/>
                          <a:pt x="10119" y="129291"/>
                          <a:pt x="5060" y="13119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3" name="Picture Placeholder 95">
                    <a:extLst>
                      <a:ext uri="{FF2B5EF4-FFF2-40B4-BE49-F238E27FC236}">
                        <a16:creationId xmlns:a16="http://schemas.microsoft.com/office/drawing/2014/main" id="{B0CC83C3-5B78-42D7-8DF3-C2FACE64C745}"/>
                      </a:ext>
                    </a:extLst>
                  </p:cNvPr>
                  <p:cNvSpPr/>
                  <p:nvPr/>
                </p:nvSpPr>
                <p:spPr>
                  <a:xfrm>
                    <a:off x="11254489" y="886878"/>
                    <a:ext cx="260481" cy="187842"/>
                  </a:xfrm>
                  <a:custGeom>
                    <a:avLst/>
                    <a:gdLst>
                      <a:gd name="connsiteX0" fmla="*/ 240335 w 260481"/>
                      <a:gd name="connsiteY0" fmla="*/ 187842 h 187842"/>
                      <a:gd name="connsiteX1" fmla="*/ 226421 w 260481"/>
                      <a:gd name="connsiteY1" fmla="*/ 180871 h 187842"/>
                      <a:gd name="connsiteX2" fmla="*/ 239070 w 260481"/>
                      <a:gd name="connsiteY2" fmla="*/ 81367 h 187842"/>
                      <a:gd name="connsiteX3" fmla="*/ 187841 w 260481"/>
                      <a:gd name="connsiteY3" fmla="*/ 28130 h 187842"/>
                      <a:gd name="connsiteX4" fmla="*/ 73365 w 260481"/>
                      <a:gd name="connsiteY4" fmla="*/ 40806 h 187842"/>
                      <a:gd name="connsiteX5" fmla="*/ 47435 w 260481"/>
                      <a:gd name="connsiteY5" fmla="*/ 90240 h 187842"/>
                      <a:gd name="connsiteX6" fmla="*/ 0 w 260481"/>
                      <a:gd name="connsiteY6" fmla="*/ 138407 h 187842"/>
                      <a:gd name="connsiteX7" fmla="*/ 0 w 260481"/>
                      <a:gd name="connsiteY7" fmla="*/ 122563 h 187842"/>
                      <a:gd name="connsiteX8" fmla="*/ 32255 w 260481"/>
                      <a:gd name="connsiteY8" fmla="*/ 85170 h 187842"/>
                      <a:gd name="connsiteX9" fmla="*/ 61981 w 260481"/>
                      <a:gd name="connsiteY9" fmla="*/ 29398 h 187842"/>
                      <a:gd name="connsiteX10" fmla="*/ 193533 w 260481"/>
                      <a:gd name="connsiteY10" fmla="*/ 12919 h 187842"/>
                      <a:gd name="connsiteX11" fmla="*/ 253616 w 260481"/>
                      <a:gd name="connsiteY11" fmla="*/ 75663 h 187842"/>
                      <a:gd name="connsiteX12" fmla="*/ 240335 w 260481"/>
                      <a:gd name="connsiteY12" fmla="*/ 187842 h 18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0481" h="187842">
                        <a:moveTo>
                          <a:pt x="240335" y="187842"/>
                        </a:moveTo>
                        <a:lnTo>
                          <a:pt x="226421" y="180871"/>
                        </a:lnTo>
                        <a:cubicBezTo>
                          <a:pt x="245394" y="143478"/>
                          <a:pt x="249822" y="110521"/>
                          <a:pt x="239070" y="81367"/>
                        </a:cubicBezTo>
                        <a:cubicBezTo>
                          <a:pt x="228951" y="53481"/>
                          <a:pt x="205550" y="35102"/>
                          <a:pt x="187841" y="28130"/>
                        </a:cubicBezTo>
                        <a:cubicBezTo>
                          <a:pt x="161277" y="16722"/>
                          <a:pt x="110048" y="4046"/>
                          <a:pt x="73365" y="40806"/>
                        </a:cubicBezTo>
                        <a:cubicBezTo>
                          <a:pt x="59451" y="54749"/>
                          <a:pt x="53127" y="73128"/>
                          <a:pt x="47435" y="90240"/>
                        </a:cubicBezTo>
                        <a:cubicBezTo>
                          <a:pt x="39845" y="113690"/>
                          <a:pt x="31623" y="138407"/>
                          <a:pt x="0" y="138407"/>
                        </a:cubicBezTo>
                        <a:lnTo>
                          <a:pt x="0" y="122563"/>
                        </a:lnTo>
                        <a:cubicBezTo>
                          <a:pt x="18974" y="122563"/>
                          <a:pt x="24033" y="110521"/>
                          <a:pt x="32255" y="85170"/>
                        </a:cubicBezTo>
                        <a:cubicBezTo>
                          <a:pt x="38580" y="66790"/>
                          <a:pt x="44905" y="46510"/>
                          <a:pt x="61981" y="29398"/>
                        </a:cubicBezTo>
                        <a:cubicBezTo>
                          <a:pt x="105621" y="-14333"/>
                          <a:pt x="163175" y="244"/>
                          <a:pt x="193533" y="12919"/>
                        </a:cubicBezTo>
                        <a:cubicBezTo>
                          <a:pt x="203652" y="17356"/>
                          <a:pt x="238437" y="34468"/>
                          <a:pt x="253616" y="75663"/>
                        </a:cubicBezTo>
                        <a:cubicBezTo>
                          <a:pt x="266266" y="109254"/>
                          <a:pt x="261206" y="146646"/>
                          <a:pt x="240335" y="18784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4" name="Picture Placeholder 95">
                    <a:extLst>
                      <a:ext uri="{FF2B5EF4-FFF2-40B4-BE49-F238E27FC236}">
                        <a16:creationId xmlns:a16="http://schemas.microsoft.com/office/drawing/2014/main" id="{C9C1BABD-64B9-43B0-BEEF-12CC23CC9E9A}"/>
                      </a:ext>
                    </a:extLst>
                  </p:cNvPr>
                  <p:cNvSpPr/>
                  <p:nvPr/>
                </p:nvSpPr>
                <p:spPr>
                  <a:xfrm>
                    <a:off x="11252592" y="851999"/>
                    <a:ext cx="263103" cy="132723"/>
                  </a:xfrm>
                  <a:custGeom>
                    <a:avLst/>
                    <a:gdLst>
                      <a:gd name="connsiteX0" fmla="*/ 15812 w 263103"/>
                      <a:gd name="connsiteY0" fmla="*/ 132724 h 132723"/>
                      <a:gd name="connsiteX1" fmla="*/ 0 w 263103"/>
                      <a:gd name="connsiteY1" fmla="*/ 132724 h 132723"/>
                      <a:gd name="connsiteX2" fmla="*/ 91074 w 263103"/>
                      <a:gd name="connsiteY2" fmla="*/ 5968 h 132723"/>
                      <a:gd name="connsiteX3" fmla="*/ 263103 w 263103"/>
                      <a:gd name="connsiteY3" fmla="*/ 58572 h 132723"/>
                      <a:gd name="connsiteX4" fmla="*/ 250454 w 263103"/>
                      <a:gd name="connsiteY4" fmla="*/ 68079 h 132723"/>
                      <a:gd name="connsiteX5" fmla="*/ 94869 w 263103"/>
                      <a:gd name="connsiteY5" fmla="*/ 21179 h 132723"/>
                      <a:gd name="connsiteX6" fmla="*/ 15812 w 263103"/>
                      <a:gd name="connsiteY6" fmla="*/ 132724 h 13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103" h="132723">
                        <a:moveTo>
                          <a:pt x="15812" y="132724"/>
                        </a:moveTo>
                        <a:lnTo>
                          <a:pt x="0" y="132724"/>
                        </a:lnTo>
                        <a:cubicBezTo>
                          <a:pt x="0" y="131456"/>
                          <a:pt x="2530" y="24982"/>
                          <a:pt x="91074" y="5968"/>
                        </a:cubicBezTo>
                        <a:cubicBezTo>
                          <a:pt x="185943" y="-14946"/>
                          <a:pt x="237173" y="23080"/>
                          <a:pt x="263103" y="58572"/>
                        </a:cubicBezTo>
                        <a:lnTo>
                          <a:pt x="250454" y="68079"/>
                        </a:lnTo>
                        <a:cubicBezTo>
                          <a:pt x="227686" y="36390"/>
                          <a:pt x="181516" y="2799"/>
                          <a:pt x="94869" y="21179"/>
                        </a:cubicBezTo>
                        <a:cubicBezTo>
                          <a:pt x="18341" y="37657"/>
                          <a:pt x="15812" y="128921"/>
                          <a:pt x="15812" y="13272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sp>
              <p:nvSpPr>
                <p:cNvPr id="380" name="Picture Placeholder 95">
                  <a:extLst>
                    <a:ext uri="{FF2B5EF4-FFF2-40B4-BE49-F238E27FC236}">
                      <a16:creationId xmlns:a16="http://schemas.microsoft.com/office/drawing/2014/main" id="{3D317DA8-3840-42FC-B3E8-B2D7ADA061D2}"/>
                    </a:ext>
                  </a:extLst>
                </p:cNvPr>
                <p:cNvSpPr/>
                <p:nvPr/>
              </p:nvSpPr>
              <p:spPr>
                <a:xfrm>
                  <a:off x="11406912" y="768605"/>
                  <a:ext cx="227685" cy="228793"/>
                </a:xfrm>
                <a:custGeom>
                  <a:avLst/>
                  <a:gdLst>
                    <a:gd name="connsiteX0" fmla="*/ 227686 w 227685"/>
                    <a:gd name="connsiteY0" fmla="*/ 228794 h 228793"/>
                    <a:gd name="connsiteX1" fmla="*/ 0 w 227685"/>
                    <a:gd name="connsiteY1" fmla="*/ 0 h 228793"/>
                    <a:gd name="connsiteX2" fmla="*/ 0 w 227685"/>
                    <a:gd name="connsiteY2" fmla="*/ 15844 h 228793"/>
                    <a:gd name="connsiteX3" fmla="*/ 211874 w 227685"/>
                    <a:gd name="connsiteY3" fmla="*/ 228794 h 228793"/>
                    <a:gd name="connsiteX4" fmla="*/ 227686 w 227685"/>
                    <a:gd name="connsiteY4" fmla="*/ 228794 h 2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85" h="228793">
                      <a:moveTo>
                        <a:pt x="227686" y="228794"/>
                      </a:moveTo>
                      <a:cubicBezTo>
                        <a:pt x="216301" y="107742"/>
                        <a:pt x="120167" y="11408"/>
                        <a:pt x="0" y="0"/>
                      </a:cubicBezTo>
                      <a:lnTo>
                        <a:pt x="0" y="15844"/>
                      </a:lnTo>
                      <a:cubicBezTo>
                        <a:pt x="111945" y="27252"/>
                        <a:pt x="201122" y="116615"/>
                        <a:pt x="211874" y="228794"/>
                      </a:cubicBezTo>
                      <a:lnTo>
                        <a:pt x="227686" y="22879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1" name="Picture Placeholder 95">
                  <a:extLst>
                    <a:ext uri="{FF2B5EF4-FFF2-40B4-BE49-F238E27FC236}">
                      <a16:creationId xmlns:a16="http://schemas.microsoft.com/office/drawing/2014/main" id="{C383FA5A-C00A-4644-91BF-597B741BD9A1}"/>
                    </a:ext>
                  </a:extLst>
                </p:cNvPr>
                <p:cNvSpPr/>
                <p:nvPr/>
              </p:nvSpPr>
              <p:spPr>
                <a:xfrm>
                  <a:off x="11081827" y="1013243"/>
                  <a:ext cx="63878" cy="15844"/>
                </a:xfrm>
                <a:custGeom>
                  <a:avLst/>
                  <a:gdLst>
                    <a:gd name="connsiteX0" fmla="*/ 0 w 63878"/>
                    <a:gd name="connsiteY0" fmla="*/ 0 h 15844"/>
                    <a:gd name="connsiteX1" fmla="*/ 63878 w 63878"/>
                    <a:gd name="connsiteY1" fmla="*/ 0 h 15844"/>
                    <a:gd name="connsiteX2" fmla="*/ 63878 w 63878"/>
                    <a:gd name="connsiteY2" fmla="*/ 15844 h 15844"/>
                    <a:gd name="connsiteX3" fmla="*/ 0 w 63878"/>
                    <a:gd name="connsiteY3" fmla="*/ 15844 h 15844"/>
                  </a:gdLst>
                  <a:ahLst/>
                  <a:cxnLst>
                    <a:cxn ang="0">
                      <a:pos x="connsiteX0" y="connsiteY0"/>
                    </a:cxn>
                    <a:cxn ang="0">
                      <a:pos x="connsiteX1" y="connsiteY1"/>
                    </a:cxn>
                    <a:cxn ang="0">
                      <a:pos x="connsiteX2" y="connsiteY2"/>
                    </a:cxn>
                    <a:cxn ang="0">
                      <a:pos x="connsiteX3" y="connsiteY3"/>
                    </a:cxn>
                  </a:cxnLst>
                  <a:rect l="l" t="t" r="r" b="b"/>
                  <a:pathLst>
                    <a:path w="63878" h="15844">
                      <a:moveTo>
                        <a:pt x="0" y="0"/>
                      </a:moveTo>
                      <a:lnTo>
                        <a:pt x="63878" y="0"/>
                      </a:lnTo>
                      <a:lnTo>
                        <a:pt x="63878"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2" name="Picture Placeholder 95">
                  <a:extLst>
                    <a:ext uri="{FF2B5EF4-FFF2-40B4-BE49-F238E27FC236}">
                      <a16:creationId xmlns:a16="http://schemas.microsoft.com/office/drawing/2014/main" id="{8EFF5777-6C41-41F2-8AFB-56DBB89F472D}"/>
                    </a:ext>
                  </a:extLst>
                </p:cNvPr>
                <p:cNvSpPr/>
                <p:nvPr/>
              </p:nvSpPr>
              <p:spPr>
                <a:xfrm>
                  <a:off x="11373392" y="720438"/>
                  <a:ext cx="15811" cy="63377"/>
                </a:xfrm>
                <a:custGeom>
                  <a:avLst/>
                  <a:gdLst>
                    <a:gd name="connsiteX0" fmla="*/ 0 w 15811"/>
                    <a:gd name="connsiteY0" fmla="*/ 0 h 63377"/>
                    <a:gd name="connsiteX1" fmla="*/ 15812 w 15811"/>
                    <a:gd name="connsiteY1" fmla="*/ 0 h 63377"/>
                    <a:gd name="connsiteX2" fmla="*/ 15812 w 15811"/>
                    <a:gd name="connsiteY2" fmla="*/ 63378 h 63377"/>
                    <a:gd name="connsiteX3" fmla="*/ 0 w 15811"/>
                    <a:gd name="connsiteY3" fmla="*/ 63378 h 63377"/>
                  </a:gdLst>
                  <a:ahLst/>
                  <a:cxnLst>
                    <a:cxn ang="0">
                      <a:pos x="connsiteX0" y="connsiteY0"/>
                    </a:cxn>
                    <a:cxn ang="0">
                      <a:pos x="connsiteX1" y="connsiteY1"/>
                    </a:cxn>
                    <a:cxn ang="0">
                      <a:pos x="connsiteX2" y="connsiteY2"/>
                    </a:cxn>
                    <a:cxn ang="0">
                      <a:pos x="connsiteX3" y="connsiteY3"/>
                    </a:cxn>
                  </a:cxnLst>
                  <a:rect l="l" t="t" r="r" b="b"/>
                  <a:pathLst>
                    <a:path w="15811" h="63377">
                      <a:moveTo>
                        <a:pt x="0" y="0"/>
                      </a:moveTo>
                      <a:lnTo>
                        <a:pt x="15812" y="0"/>
                      </a:lnTo>
                      <a:lnTo>
                        <a:pt x="15812" y="63378"/>
                      </a:lnTo>
                      <a:lnTo>
                        <a:pt x="0" y="6337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3" name="Picture Placeholder 95">
                  <a:extLst>
                    <a:ext uri="{FF2B5EF4-FFF2-40B4-BE49-F238E27FC236}">
                      <a16:creationId xmlns:a16="http://schemas.microsoft.com/office/drawing/2014/main" id="{08115888-F720-46C5-AAC4-8C2CC2C8259F}"/>
                    </a:ext>
                  </a:extLst>
                </p:cNvPr>
                <p:cNvSpPr/>
                <p:nvPr/>
              </p:nvSpPr>
              <p:spPr>
                <a:xfrm>
                  <a:off x="11619418" y="1013243"/>
                  <a:ext cx="62613" cy="15844"/>
                </a:xfrm>
                <a:custGeom>
                  <a:avLst/>
                  <a:gdLst>
                    <a:gd name="connsiteX0" fmla="*/ 0 w 62613"/>
                    <a:gd name="connsiteY0" fmla="*/ 0 h 15844"/>
                    <a:gd name="connsiteX1" fmla="*/ 62614 w 62613"/>
                    <a:gd name="connsiteY1" fmla="*/ 0 h 15844"/>
                    <a:gd name="connsiteX2" fmla="*/ 62614 w 62613"/>
                    <a:gd name="connsiteY2" fmla="*/ 15844 h 15844"/>
                    <a:gd name="connsiteX3" fmla="*/ 0 w 6261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62613" h="15844">
                      <a:moveTo>
                        <a:pt x="0" y="0"/>
                      </a:moveTo>
                      <a:lnTo>
                        <a:pt x="62614" y="0"/>
                      </a:lnTo>
                      <a:lnTo>
                        <a:pt x="62614"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4" name="Picture Placeholder 95">
                  <a:extLst>
                    <a:ext uri="{FF2B5EF4-FFF2-40B4-BE49-F238E27FC236}">
                      <a16:creationId xmlns:a16="http://schemas.microsoft.com/office/drawing/2014/main" id="{F50F6095-1383-4C69-96AA-10AF35A6AF85}"/>
                    </a:ext>
                  </a:extLst>
                </p:cNvPr>
                <p:cNvSpPr/>
                <p:nvPr/>
              </p:nvSpPr>
              <p:spPr>
                <a:xfrm>
                  <a:off x="11405015" y="1043664"/>
                  <a:ext cx="229582" cy="229427"/>
                </a:xfrm>
                <a:custGeom>
                  <a:avLst/>
                  <a:gdLst>
                    <a:gd name="connsiteX0" fmla="*/ 213771 w 229582"/>
                    <a:gd name="connsiteY0" fmla="*/ 634 h 229427"/>
                    <a:gd name="connsiteX1" fmla="*/ 0 w 229582"/>
                    <a:gd name="connsiteY1" fmla="*/ 213583 h 229427"/>
                    <a:gd name="connsiteX2" fmla="*/ 0 w 229582"/>
                    <a:gd name="connsiteY2" fmla="*/ 229428 h 229427"/>
                    <a:gd name="connsiteX3" fmla="*/ 229583 w 229582"/>
                    <a:gd name="connsiteY3" fmla="*/ 0 h 229427"/>
                    <a:gd name="connsiteX4" fmla="*/ 213771 w 229582"/>
                    <a:gd name="connsiteY4" fmla="*/ 0 h 229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82" h="229427">
                      <a:moveTo>
                        <a:pt x="213771" y="634"/>
                      </a:moveTo>
                      <a:cubicBezTo>
                        <a:pt x="203020" y="113446"/>
                        <a:pt x="113210" y="203443"/>
                        <a:pt x="0" y="213583"/>
                      </a:cubicBezTo>
                      <a:lnTo>
                        <a:pt x="0" y="229428"/>
                      </a:lnTo>
                      <a:cubicBezTo>
                        <a:pt x="121432" y="218654"/>
                        <a:pt x="218199" y="121685"/>
                        <a:pt x="229583" y="0"/>
                      </a:cubicBezTo>
                      <a:lnTo>
                        <a:pt x="213771"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5" name="Picture Placeholder 95">
                  <a:extLst>
                    <a:ext uri="{FF2B5EF4-FFF2-40B4-BE49-F238E27FC236}">
                      <a16:creationId xmlns:a16="http://schemas.microsoft.com/office/drawing/2014/main" id="{047F626C-0EC2-4D61-ACE9-91F59A3DD6EE}"/>
                    </a:ext>
                  </a:extLst>
                </p:cNvPr>
                <p:cNvSpPr/>
                <p:nvPr/>
              </p:nvSpPr>
              <p:spPr>
                <a:xfrm>
                  <a:off x="11130527" y="769238"/>
                  <a:ext cx="225788" cy="228160"/>
                </a:xfrm>
                <a:custGeom>
                  <a:avLst/>
                  <a:gdLst>
                    <a:gd name="connsiteX0" fmla="*/ 0 w 225788"/>
                    <a:gd name="connsiteY0" fmla="*/ 228160 h 228160"/>
                    <a:gd name="connsiteX1" fmla="*/ 15812 w 225788"/>
                    <a:gd name="connsiteY1" fmla="*/ 228160 h 228160"/>
                    <a:gd name="connsiteX2" fmla="*/ 225788 w 225788"/>
                    <a:gd name="connsiteY2" fmla="*/ 15844 h 228160"/>
                    <a:gd name="connsiteX3" fmla="*/ 225788 w 225788"/>
                    <a:gd name="connsiteY3" fmla="*/ 0 h 228160"/>
                    <a:gd name="connsiteX4" fmla="*/ 0 w 225788"/>
                    <a:gd name="connsiteY4" fmla="*/ 228160 h 228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788" h="228160">
                      <a:moveTo>
                        <a:pt x="0" y="228160"/>
                      </a:moveTo>
                      <a:lnTo>
                        <a:pt x="15812" y="228160"/>
                      </a:lnTo>
                      <a:cubicBezTo>
                        <a:pt x="26563" y="116615"/>
                        <a:pt x="115108" y="27886"/>
                        <a:pt x="225788" y="15844"/>
                      </a:cubicBezTo>
                      <a:lnTo>
                        <a:pt x="225788" y="0"/>
                      </a:lnTo>
                      <a:cubicBezTo>
                        <a:pt x="106886" y="12042"/>
                        <a:pt x="11384" y="108376"/>
                        <a:pt x="0" y="22816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86" name="Picture Placeholder 95">
                  <a:extLst>
                    <a:ext uri="{FF2B5EF4-FFF2-40B4-BE49-F238E27FC236}">
                      <a16:creationId xmlns:a16="http://schemas.microsoft.com/office/drawing/2014/main" id="{E015ED5D-A1D1-4AD0-A47A-AC7980D27A65}"/>
                    </a:ext>
                  </a:extLst>
                </p:cNvPr>
                <p:cNvSpPr/>
                <p:nvPr/>
              </p:nvSpPr>
              <p:spPr>
                <a:xfrm>
                  <a:off x="11130527" y="1044298"/>
                  <a:ext cx="227685" cy="228793"/>
                </a:xfrm>
                <a:custGeom>
                  <a:avLst/>
                  <a:gdLst>
                    <a:gd name="connsiteX0" fmla="*/ 15812 w 227685"/>
                    <a:gd name="connsiteY0" fmla="*/ 0 h 228793"/>
                    <a:gd name="connsiteX1" fmla="*/ 0 w 227685"/>
                    <a:gd name="connsiteY1" fmla="*/ 0 h 228793"/>
                    <a:gd name="connsiteX2" fmla="*/ 227686 w 227685"/>
                    <a:gd name="connsiteY2" fmla="*/ 228794 h 228793"/>
                    <a:gd name="connsiteX3" fmla="*/ 227686 w 227685"/>
                    <a:gd name="connsiteY3" fmla="*/ 212950 h 228793"/>
                    <a:gd name="connsiteX4" fmla="*/ 15812 w 227685"/>
                    <a:gd name="connsiteY4" fmla="*/ 0 h 2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85" h="228793">
                      <a:moveTo>
                        <a:pt x="15812" y="0"/>
                      </a:moveTo>
                      <a:lnTo>
                        <a:pt x="0" y="0"/>
                      </a:lnTo>
                      <a:cubicBezTo>
                        <a:pt x="11384" y="120418"/>
                        <a:pt x="106886" y="217386"/>
                        <a:pt x="227686" y="228794"/>
                      </a:cubicBezTo>
                      <a:lnTo>
                        <a:pt x="227686" y="212950"/>
                      </a:lnTo>
                      <a:cubicBezTo>
                        <a:pt x="115740" y="201541"/>
                        <a:pt x="27196" y="111545"/>
                        <a:pt x="15812"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30" name="Group 29">
            <a:extLst>
              <a:ext uri="{FF2B5EF4-FFF2-40B4-BE49-F238E27FC236}">
                <a16:creationId xmlns:a16="http://schemas.microsoft.com/office/drawing/2014/main" id="{757BEE99-1A78-48D7-A13F-01FCF9DBB7E6}"/>
              </a:ext>
            </a:extLst>
          </p:cNvPr>
          <p:cNvGrpSpPr/>
          <p:nvPr/>
        </p:nvGrpSpPr>
        <p:grpSpPr>
          <a:xfrm>
            <a:off x="7122410" y="3521596"/>
            <a:ext cx="758008" cy="1305480"/>
            <a:chOff x="6640471" y="3695593"/>
            <a:chExt cx="758008" cy="1305480"/>
          </a:xfrm>
        </p:grpSpPr>
        <p:cxnSp>
          <p:nvCxnSpPr>
            <p:cNvPr id="119" name="Straight Connector 118">
              <a:extLst>
                <a:ext uri="{FF2B5EF4-FFF2-40B4-BE49-F238E27FC236}">
                  <a16:creationId xmlns:a16="http://schemas.microsoft.com/office/drawing/2014/main" id="{FF399BF3-9474-B847-AB36-6BE4F843D26F}"/>
                </a:ext>
              </a:extLst>
            </p:cNvPr>
            <p:cNvCxnSpPr>
              <a:cxnSpLocks/>
            </p:cNvCxnSpPr>
            <p:nvPr/>
          </p:nvCxnSpPr>
          <p:spPr bwMode="gray">
            <a:xfrm rot="10800000" flipV="1">
              <a:off x="7020173" y="3695593"/>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20" name="Oval 119">
              <a:extLst>
                <a:ext uri="{FF2B5EF4-FFF2-40B4-BE49-F238E27FC236}">
                  <a16:creationId xmlns:a16="http://schemas.microsoft.com/office/drawing/2014/main" id="{50A6BF1B-1C4A-884E-8E7C-EC5DB6885206}"/>
                </a:ext>
              </a:extLst>
            </p:cNvPr>
            <p:cNvSpPr/>
            <p:nvPr/>
          </p:nvSpPr>
          <p:spPr>
            <a:xfrm rot="10800000">
              <a:off x="6780113" y="406125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32" name="Rounded Rectangle 31">
              <a:extLst>
                <a:ext uri="{FF2B5EF4-FFF2-40B4-BE49-F238E27FC236}">
                  <a16:creationId xmlns:a16="http://schemas.microsoft.com/office/drawing/2014/main" id="{58E35201-52F3-374C-8129-5B38B9BFE232}"/>
                </a:ext>
              </a:extLst>
            </p:cNvPr>
            <p:cNvSpPr/>
            <p:nvPr/>
          </p:nvSpPr>
          <p:spPr>
            <a:xfrm>
              <a:off x="6640471" y="4622069"/>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Behavioral</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Analysis</a:t>
              </a:r>
            </a:p>
          </p:txBody>
        </p:sp>
        <p:grpSp>
          <p:nvGrpSpPr>
            <p:cNvPr id="395" name="Picture Placeholder 81" descr="Defense Secure&#10;">
              <a:extLst>
                <a:ext uri="{FF2B5EF4-FFF2-40B4-BE49-F238E27FC236}">
                  <a16:creationId xmlns:a16="http://schemas.microsoft.com/office/drawing/2014/main" id="{A83897B1-A31E-4CE8-A13B-E6CE2D01079B}"/>
                </a:ext>
              </a:extLst>
            </p:cNvPr>
            <p:cNvGrpSpPr>
              <a:grpSpLocks noChangeAspect="1"/>
            </p:cNvGrpSpPr>
            <p:nvPr/>
          </p:nvGrpSpPr>
          <p:grpSpPr>
            <a:xfrm>
              <a:off x="6907343" y="4179228"/>
              <a:ext cx="232985" cy="274320"/>
              <a:chOff x="9808294" y="719639"/>
              <a:chExt cx="509762" cy="600204"/>
            </a:xfrm>
            <a:solidFill>
              <a:schemeClr val="tx1"/>
            </a:solidFill>
          </p:grpSpPr>
          <p:sp>
            <p:nvSpPr>
              <p:cNvPr id="396" name="Picture Placeholder 81">
                <a:extLst>
                  <a:ext uri="{FF2B5EF4-FFF2-40B4-BE49-F238E27FC236}">
                    <a16:creationId xmlns:a16="http://schemas.microsoft.com/office/drawing/2014/main" id="{18E4D0A4-634C-4ADA-BDBC-C48A46F8CEE0}"/>
                  </a:ext>
                </a:extLst>
              </p:cNvPr>
              <p:cNvSpPr/>
              <p:nvPr/>
            </p:nvSpPr>
            <p:spPr>
              <a:xfrm>
                <a:off x="9970836" y="882814"/>
                <a:ext cx="184678" cy="274487"/>
              </a:xfrm>
              <a:custGeom>
                <a:avLst/>
                <a:gdLst>
                  <a:gd name="connsiteX0" fmla="*/ 146731 w 184678"/>
                  <a:gd name="connsiteY0" fmla="*/ 107518 h 274487"/>
                  <a:gd name="connsiteX1" fmla="*/ 146731 w 184678"/>
                  <a:gd name="connsiteY1" fmla="*/ 55024 h 274487"/>
                  <a:gd name="connsiteX2" fmla="*/ 96766 w 184678"/>
                  <a:gd name="connsiteY2" fmla="*/ 0 h 274487"/>
                  <a:gd name="connsiteX3" fmla="*/ 88544 w 184678"/>
                  <a:gd name="connsiteY3" fmla="*/ 0 h 274487"/>
                  <a:gd name="connsiteX4" fmla="*/ 38580 w 184678"/>
                  <a:gd name="connsiteY4" fmla="*/ 55024 h 274487"/>
                  <a:gd name="connsiteX5" fmla="*/ 38580 w 184678"/>
                  <a:gd name="connsiteY5" fmla="*/ 107518 h 274487"/>
                  <a:gd name="connsiteX6" fmla="*/ 0 w 184678"/>
                  <a:gd name="connsiteY6" fmla="*/ 182148 h 274487"/>
                  <a:gd name="connsiteX7" fmla="*/ 92339 w 184678"/>
                  <a:gd name="connsiteY7" fmla="*/ 274488 h 274487"/>
                  <a:gd name="connsiteX8" fmla="*/ 184678 w 184678"/>
                  <a:gd name="connsiteY8" fmla="*/ 182148 h 274487"/>
                  <a:gd name="connsiteX9" fmla="*/ 146731 w 184678"/>
                  <a:gd name="connsiteY9" fmla="*/ 107518 h 274487"/>
                  <a:gd name="connsiteX10" fmla="*/ 53759 w 184678"/>
                  <a:gd name="connsiteY10" fmla="*/ 55024 h 274487"/>
                  <a:gd name="connsiteX11" fmla="*/ 87912 w 184678"/>
                  <a:gd name="connsiteY11" fmla="*/ 15812 h 274487"/>
                  <a:gd name="connsiteX12" fmla="*/ 96134 w 184678"/>
                  <a:gd name="connsiteY12" fmla="*/ 15812 h 274487"/>
                  <a:gd name="connsiteX13" fmla="*/ 130287 w 184678"/>
                  <a:gd name="connsiteY13" fmla="*/ 55024 h 274487"/>
                  <a:gd name="connsiteX14" fmla="*/ 130287 w 184678"/>
                  <a:gd name="connsiteY14" fmla="*/ 98031 h 274487"/>
                  <a:gd name="connsiteX15" fmla="*/ 91707 w 184678"/>
                  <a:gd name="connsiteY15" fmla="*/ 89809 h 274487"/>
                  <a:gd name="connsiteX16" fmla="*/ 53127 w 184678"/>
                  <a:gd name="connsiteY16" fmla="*/ 98031 h 274487"/>
                  <a:gd name="connsiteX17" fmla="*/ 53127 w 184678"/>
                  <a:gd name="connsiteY17" fmla="*/ 55024 h 274487"/>
                  <a:gd name="connsiteX18" fmla="*/ 92339 w 184678"/>
                  <a:gd name="connsiteY18" fmla="*/ 258676 h 274487"/>
                  <a:gd name="connsiteX19" fmla="*/ 15812 w 184678"/>
                  <a:gd name="connsiteY19" fmla="*/ 182148 h 274487"/>
                  <a:gd name="connsiteX20" fmla="*/ 92339 w 184678"/>
                  <a:gd name="connsiteY20" fmla="*/ 105621 h 274487"/>
                  <a:gd name="connsiteX21" fmla="*/ 168867 w 184678"/>
                  <a:gd name="connsiteY21" fmla="*/ 182148 h 274487"/>
                  <a:gd name="connsiteX22" fmla="*/ 92339 w 184678"/>
                  <a:gd name="connsiteY22" fmla="*/ 258676 h 27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678" h="274487">
                    <a:moveTo>
                      <a:pt x="146731" y="107518"/>
                    </a:moveTo>
                    <a:lnTo>
                      <a:pt x="146731" y="55024"/>
                    </a:lnTo>
                    <a:cubicBezTo>
                      <a:pt x="146731" y="24666"/>
                      <a:pt x="124595" y="0"/>
                      <a:pt x="96766" y="0"/>
                    </a:cubicBezTo>
                    <a:lnTo>
                      <a:pt x="88544" y="0"/>
                    </a:lnTo>
                    <a:cubicBezTo>
                      <a:pt x="61349" y="0"/>
                      <a:pt x="38580" y="24666"/>
                      <a:pt x="38580" y="55024"/>
                    </a:cubicBezTo>
                    <a:lnTo>
                      <a:pt x="38580" y="107518"/>
                    </a:lnTo>
                    <a:cubicBezTo>
                      <a:pt x="15179" y="124595"/>
                      <a:pt x="0" y="151790"/>
                      <a:pt x="0" y="182148"/>
                    </a:cubicBezTo>
                    <a:cubicBezTo>
                      <a:pt x="0" y="233378"/>
                      <a:pt x="41110" y="274488"/>
                      <a:pt x="92339" y="274488"/>
                    </a:cubicBezTo>
                    <a:cubicBezTo>
                      <a:pt x="143568" y="274488"/>
                      <a:pt x="184678" y="233378"/>
                      <a:pt x="184678" y="182148"/>
                    </a:cubicBezTo>
                    <a:cubicBezTo>
                      <a:pt x="184678" y="151158"/>
                      <a:pt x="169499" y="123962"/>
                      <a:pt x="146731" y="107518"/>
                    </a:cubicBezTo>
                    <a:close/>
                    <a:moveTo>
                      <a:pt x="53759" y="55024"/>
                    </a:moveTo>
                    <a:cubicBezTo>
                      <a:pt x="53759" y="33520"/>
                      <a:pt x="68938" y="15812"/>
                      <a:pt x="87912" y="15812"/>
                    </a:cubicBezTo>
                    <a:lnTo>
                      <a:pt x="96134" y="15812"/>
                    </a:lnTo>
                    <a:cubicBezTo>
                      <a:pt x="115108" y="15812"/>
                      <a:pt x="130287" y="33520"/>
                      <a:pt x="130287" y="55024"/>
                    </a:cubicBezTo>
                    <a:lnTo>
                      <a:pt x="130287" y="98031"/>
                    </a:lnTo>
                    <a:cubicBezTo>
                      <a:pt x="118902" y="92972"/>
                      <a:pt x="105621" y="89809"/>
                      <a:pt x="91707" y="89809"/>
                    </a:cubicBezTo>
                    <a:cubicBezTo>
                      <a:pt x="77793" y="89809"/>
                      <a:pt x="65143" y="92972"/>
                      <a:pt x="53127" y="98031"/>
                    </a:cubicBezTo>
                    <a:lnTo>
                      <a:pt x="53127" y="55024"/>
                    </a:lnTo>
                    <a:close/>
                    <a:moveTo>
                      <a:pt x="92339" y="258676"/>
                    </a:moveTo>
                    <a:cubicBezTo>
                      <a:pt x="49964" y="258676"/>
                      <a:pt x="15812" y="224523"/>
                      <a:pt x="15812" y="182148"/>
                    </a:cubicBezTo>
                    <a:cubicBezTo>
                      <a:pt x="15812" y="139774"/>
                      <a:pt x="49964" y="105621"/>
                      <a:pt x="92339" y="105621"/>
                    </a:cubicBezTo>
                    <a:cubicBezTo>
                      <a:pt x="134714" y="105621"/>
                      <a:pt x="168867" y="139774"/>
                      <a:pt x="168867" y="182148"/>
                    </a:cubicBezTo>
                    <a:cubicBezTo>
                      <a:pt x="168867" y="224523"/>
                      <a:pt x="134714" y="258676"/>
                      <a:pt x="92339" y="25867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7" name="Picture Placeholder 81">
                <a:extLst>
                  <a:ext uri="{FF2B5EF4-FFF2-40B4-BE49-F238E27FC236}">
                    <a16:creationId xmlns:a16="http://schemas.microsoft.com/office/drawing/2014/main" id="{C590845A-AA66-4E81-8DA5-326590A79632}"/>
                  </a:ext>
                </a:extLst>
              </p:cNvPr>
              <p:cNvSpPr/>
              <p:nvPr/>
            </p:nvSpPr>
            <p:spPr>
              <a:xfrm>
                <a:off x="10047996" y="1040929"/>
                <a:ext cx="29765" cy="48066"/>
              </a:xfrm>
              <a:custGeom>
                <a:avLst/>
                <a:gdLst>
                  <a:gd name="connsiteX0" fmla="*/ 15179 w 29765"/>
                  <a:gd name="connsiteY0" fmla="*/ 0 h 48066"/>
                  <a:gd name="connsiteX1" fmla="*/ 0 w 29765"/>
                  <a:gd name="connsiteY1" fmla="*/ 15179 h 48066"/>
                  <a:gd name="connsiteX2" fmla="*/ 7590 w 29765"/>
                  <a:gd name="connsiteY2" fmla="*/ 28461 h 48066"/>
                  <a:gd name="connsiteX3" fmla="*/ 7590 w 29765"/>
                  <a:gd name="connsiteY3" fmla="*/ 44272 h 48066"/>
                  <a:gd name="connsiteX4" fmla="*/ 11384 w 29765"/>
                  <a:gd name="connsiteY4" fmla="*/ 48067 h 48066"/>
                  <a:gd name="connsiteX5" fmla="*/ 18341 w 29765"/>
                  <a:gd name="connsiteY5" fmla="*/ 48067 h 48066"/>
                  <a:gd name="connsiteX6" fmla="*/ 22136 w 29765"/>
                  <a:gd name="connsiteY6" fmla="*/ 44272 h 48066"/>
                  <a:gd name="connsiteX7" fmla="*/ 22136 w 29765"/>
                  <a:gd name="connsiteY7" fmla="*/ 28461 h 48066"/>
                  <a:gd name="connsiteX8" fmla="*/ 29726 w 29765"/>
                  <a:gd name="connsiteY8" fmla="*/ 15179 h 48066"/>
                  <a:gd name="connsiteX9" fmla="*/ 15179 w 29765"/>
                  <a:gd name="connsiteY9" fmla="*/ 0 h 48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5" h="48066">
                    <a:moveTo>
                      <a:pt x="15179" y="0"/>
                    </a:moveTo>
                    <a:cubicBezTo>
                      <a:pt x="6957" y="0"/>
                      <a:pt x="0" y="6957"/>
                      <a:pt x="0" y="15179"/>
                    </a:cubicBezTo>
                    <a:cubicBezTo>
                      <a:pt x="0" y="20871"/>
                      <a:pt x="3162" y="25931"/>
                      <a:pt x="7590" y="28461"/>
                    </a:cubicBezTo>
                    <a:lnTo>
                      <a:pt x="7590" y="44272"/>
                    </a:lnTo>
                    <a:cubicBezTo>
                      <a:pt x="7590" y="46802"/>
                      <a:pt x="9487" y="48067"/>
                      <a:pt x="11384" y="48067"/>
                    </a:cubicBezTo>
                    <a:lnTo>
                      <a:pt x="18341" y="48067"/>
                    </a:lnTo>
                    <a:cubicBezTo>
                      <a:pt x="20871" y="48067"/>
                      <a:pt x="22136" y="46170"/>
                      <a:pt x="22136" y="44272"/>
                    </a:cubicBezTo>
                    <a:lnTo>
                      <a:pt x="22136" y="28461"/>
                    </a:lnTo>
                    <a:cubicBezTo>
                      <a:pt x="26563" y="25931"/>
                      <a:pt x="29726" y="20871"/>
                      <a:pt x="29726" y="15179"/>
                    </a:cubicBezTo>
                    <a:cubicBezTo>
                      <a:pt x="30358" y="6957"/>
                      <a:pt x="23401" y="0"/>
                      <a:pt x="15179"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98" name="Picture Placeholder 81">
                <a:extLst>
                  <a:ext uri="{FF2B5EF4-FFF2-40B4-BE49-F238E27FC236}">
                    <a16:creationId xmlns:a16="http://schemas.microsoft.com/office/drawing/2014/main" id="{01C906C8-55AC-4447-B030-17038DD9382D}"/>
                  </a:ext>
                </a:extLst>
              </p:cNvPr>
              <p:cNvSpPr/>
              <p:nvPr/>
            </p:nvSpPr>
            <p:spPr>
              <a:xfrm>
                <a:off x="9808294" y="719639"/>
                <a:ext cx="509762" cy="600204"/>
              </a:xfrm>
              <a:custGeom>
                <a:avLst/>
                <a:gdLst>
                  <a:gd name="connsiteX0" fmla="*/ 254881 w 509762"/>
                  <a:gd name="connsiteY0" fmla="*/ 600205 h 600204"/>
                  <a:gd name="connsiteX1" fmla="*/ 246027 w 509762"/>
                  <a:gd name="connsiteY1" fmla="*/ 597042 h 600204"/>
                  <a:gd name="connsiteX2" fmla="*/ 0 w 509762"/>
                  <a:gd name="connsiteY2" fmla="*/ 264368 h 600204"/>
                  <a:gd name="connsiteX3" fmla="*/ 0 w 509762"/>
                  <a:gd name="connsiteY3" fmla="*/ 111313 h 600204"/>
                  <a:gd name="connsiteX4" fmla="*/ 18974 w 509762"/>
                  <a:gd name="connsiteY4" fmla="*/ 106253 h 600204"/>
                  <a:gd name="connsiteX5" fmla="*/ 134714 w 509762"/>
                  <a:gd name="connsiteY5" fmla="*/ 65143 h 600204"/>
                  <a:gd name="connsiteX6" fmla="*/ 240967 w 509762"/>
                  <a:gd name="connsiteY6" fmla="*/ 8854 h 600204"/>
                  <a:gd name="connsiteX7" fmla="*/ 254881 w 509762"/>
                  <a:gd name="connsiteY7" fmla="*/ 0 h 600204"/>
                  <a:gd name="connsiteX8" fmla="*/ 268796 w 509762"/>
                  <a:gd name="connsiteY8" fmla="*/ 8854 h 600204"/>
                  <a:gd name="connsiteX9" fmla="*/ 375049 w 509762"/>
                  <a:gd name="connsiteY9" fmla="*/ 65143 h 600204"/>
                  <a:gd name="connsiteX10" fmla="*/ 490789 w 509762"/>
                  <a:gd name="connsiteY10" fmla="*/ 106253 h 600204"/>
                  <a:gd name="connsiteX11" fmla="*/ 509763 w 509762"/>
                  <a:gd name="connsiteY11" fmla="*/ 111313 h 600204"/>
                  <a:gd name="connsiteX12" fmla="*/ 509763 w 509762"/>
                  <a:gd name="connsiteY12" fmla="*/ 264368 h 600204"/>
                  <a:gd name="connsiteX13" fmla="*/ 263103 w 509762"/>
                  <a:gd name="connsiteY13" fmla="*/ 597042 h 600204"/>
                  <a:gd name="connsiteX14" fmla="*/ 263103 w 509762"/>
                  <a:gd name="connsiteY14" fmla="*/ 597675 h 600204"/>
                  <a:gd name="connsiteX15" fmla="*/ 254881 w 509762"/>
                  <a:gd name="connsiteY15" fmla="*/ 600205 h 600204"/>
                  <a:gd name="connsiteX16" fmla="*/ 15812 w 509762"/>
                  <a:gd name="connsiteY16" fmla="*/ 123330 h 600204"/>
                  <a:gd name="connsiteX17" fmla="*/ 15812 w 509762"/>
                  <a:gd name="connsiteY17" fmla="*/ 264368 h 600204"/>
                  <a:gd name="connsiteX18" fmla="*/ 251719 w 509762"/>
                  <a:gd name="connsiteY18" fmla="*/ 582496 h 600204"/>
                  <a:gd name="connsiteX19" fmla="*/ 254881 w 509762"/>
                  <a:gd name="connsiteY19" fmla="*/ 583761 h 600204"/>
                  <a:gd name="connsiteX20" fmla="*/ 259941 w 509762"/>
                  <a:gd name="connsiteY20" fmla="*/ 581863 h 600204"/>
                  <a:gd name="connsiteX21" fmla="*/ 493951 w 509762"/>
                  <a:gd name="connsiteY21" fmla="*/ 264368 h 600204"/>
                  <a:gd name="connsiteX22" fmla="*/ 493951 w 509762"/>
                  <a:gd name="connsiteY22" fmla="*/ 123330 h 600204"/>
                  <a:gd name="connsiteX23" fmla="*/ 486362 w 509762"/>
                  <a:gd name="connsiteY23" fmla="*/ 121432 h 600204"/>
                  <a:gd name="connsiteX24" fmla="*/ 368724 w 509762"/>
                  <a:gd name="connsiteY24" fmla="*/ 79690 h 600204"/>
                  <a:gd name="connsiteX25" fmla="*/ 260574 w 509762"/>
                  <a:gd name="connsiteY25" fmla="*/ 22769 h 600204"/>
                  <a:gd name="connsiteX26" fmla="*/ 254881 w 509762"/>
                  <a:gd name="connsiteY26" fmla="*/ 18974 h 600204"/>
                  <a:gd name="connsiteX27" fmla="*/ 249822 w 509762"/>
                  <a:gd name="connsiteY27" fmla="*/ 22136 h 600204"/>
                  <a:gd name="connsiteX28" fmla="*/ 141671 w 509762"/>
                  <a:gd name="connsiteY28" fmla="*/ 79690 h 600204"/>
                  <a:gd name="connsiteX29" fmla="*/ 23401 w 509762"/>
                  <a:gd name="connsiteY29" fmla="*/ 121432 h 600204"/>
                  <a:gd name="connsiteX30" fmla="*/ 15812 w 509762"/>
                  <a:gd name="connsiteY30" fmla="*/ 123330 h 60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09762" h="600204">
                    <a:moveTo>
                      <a:pt x="254881" y="600205"/>
                    </a:moveTo>
                    <a:lnTo>
                      <a:pt x="246027" y="597042"/>
                    </a:lnTo>
                    <a:cubicBezTo>
                      <a:pt x="235908" y="593248"/>
                      <a:pt x="0" y="500908"/>
                      <a:pt x="0" y="264368"/>
                    </a:cubicBezTo>
                    <a:lnTo>
                      <a:pt x="0" y="111313"/>
                    </a:lnTo>
                    <a:lnTo>
                      <a:pt x="18974" y="106253"/>
                    </a:lnTo>
                    <a:cubicBezTo>
                      <a:pt x="58186" y="95501"/>
                      <a:pt x="97399" y="82220"/>
                      <a:pt x="134714" y="65143"/>
                    </a:cubicBezTo>
                    <a:cubicBezTo>
                      <a:pt x="171397" y="49332"/>
                      <a:pt x="207447" y="30358"/>
                      <a:pt x="240967" y="8854"/>
                    </a:cubicBezTo>
                    <a:lnTo>
                      <a:pt x="254881" y="0"/>
                    </a:lnTo>
                    <a:lnTo>
                      <a:pt x="268796" y="8854"/>
                    </a:lnTo>
                    <a:cubicBezTo>
                      <a:pt x="302948" y="30358"/>
                      <a:pt x="338366" y="49332"/>
                      <a:pt x="375049" y="65143"/>
                    </a:cubicBezTo>
                    <a:cubicBezTo>
                      <a:pt x="412364" y="81587"/>
                      <a:pt x="450944" y="95501"/>
                      <a:pt x="490789" y="106253"/>
                    </a:cubicBezTo>
                    <a:lnTo>
                      <a:pt x="509763" y="111313"/>
                    </a:lnTo>
                    <a:lnTo>
                      <a:pt x="509763" y="264368"/>
                    </a:lnTo>
                    <a:cubicBezTo>
                      <a:pt x="509763" y="496481"/>
                      <a:pt x="289667" y="587555"/>
                      <a:pt x="263103" y="597042"/>
                    </a:cubicBezTo>
                    <a:lnTo>
                      <a:pt x="263103" y="597675"/>
                    </a:lnTo>
                    <a:lnTo>
                      <a:pt x="254881" y="600205"/>
                    </a:lnTo>
                    <a:close/>
                    <a:moveTo>
                      <a:pt x="15812" y="123330"/>
                    </a:moveTo>
                    <a:lnTo>
                      <a:pt x="15812" y="264368"/>
                    </a:lnTo>
                    <a:cubicBezTo>
                      <a:pt x="15812" y="490789"/>
                      <a:pt x="242232" y="578701"/>
                      <a:pt x="251719" y="582496"/>
                    </a:cubicBezTo>
                    <a:lnTo>
                      <a:pt x="254881" y="583761"/>
                    </a:lnTo>
                    <a:lnTo>
                      <a:pt x="259941" y="581863"/>
                    </a:lnTo>
                    <a:cubicBezTo>
                      <a:pt x="273855" y="576804"/>
                      <a:pt x="493951" y="488259"/>
                      <a:pt x="493951" y="264368"/>
                    </a:cubicBezTo>
                    <a:lnTo>
                      <a:pt x="493951" y="123330"/>
                    </a:lnTo>
                    <a:lnTo>
                      <a:pt x="486362" y="121432"/>
                    </a:lnTo>
                    <a:cubicBezTo>
                      <a:pt x="446517" y="110681"/>
                      <a:pt x="406672" y="96766"/>
                      <a:pt x="368724" y="79690"/>
                    </a:cubicBezTo>
                    <a:cubicBezTo>
                      <a:pt x="331409" y="63246"/>
                      <a:pt x="294726" y="44272"/>
                      <a:pt x="260574" y="22769"/>
                    </a:cubicBezTo>
                    <a:lnTo>
                      <a:pt x="254881" y="18974"/>
                    </a:lnTo>
                    <a:lnTo>
                      <a:pt x="249822" y="22136"/>
                    </a:lnTo>
                    <a:cubicBezTo>
                      <a:pt x="215036" y="43640"/>
                      <a:pt x="178986" y="63246"/>
                      <a:pt x="141671" y="79690"/>
                    </a:cubicBezTo>
                    <a:cubicBezTo>
                      <a:pt x="103723" y="96766"/>
                      <a:pt x="63878" y="110681"/>
                      <a:pt x="23401" y="121432"/>
                    </a:cubicBezTo>
                    <a:lnTo>
                      <a:pt x="15812" y="12333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21" name="Group 20">
            <a:extLst>
              <a:ext uri="{FF2B5EF4-FFF2-40B4-BE49-F238E27FC236}">
                <a16:creationId xmlns:a16="http://schemas.microsoft.com/office/drawing/2014/main" id="{5E909D67-9C74-4BB4-80E1-44E051E8AFF7}"/>
              </a:ext>
            </a:extLst>
          </p:cNvPr>
          <p:cNvGrpSpPr/>
          <p:nvPr/>
        </p:nvGrpSpPr>
        <p:grpSpPr>
          <a:xfrm>
            <a:off x="579438" y="3521596"/>
            <a:ext cx="758008" cy="1305480"/>
            <a:chOff x="579438" y="3697161"/>
            <a:chExt cx="758008" cy="1305480"/>
          </a:xfrm>
        </p:grpSpPr>
        <p:cxnSp>
          <p:nvCxnSpPr>
            <p:cNvPr id="147" name="Straight Connector 146">
              <a:extLst>
                <a:ext uri="{FF2B5EF4-FFF2-40B4-BE49-F238E27FC236}">
                  <a16:creationId xmlns:a16="http://schemas.microsoft.com/office/drawing/2014/main" id="{2EF78CCA-E921-4E98-BFF5-F0823D9B8A90}"/>
                </a:ext>
              </a:extLst>
            </p:cNvPr>
            <p:cNvCxnSpPr>
              <a:cxnSpLocks/>
            </p:cNvCxnSpPr>
            <p:nvPr/>
          </p:nvCxnSpPr>
          <p:spPr bwMode="gray">
            <a:xfrm rot="10800000" flipV="1">
              <a:off x="959140" y="3697161"/>
              <a:ext cx="0" cy="365665"/>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148" name="Oval 147">
              <a:extLst>
                <a:ext uri="{FF2B5EF4-FFF2-40B4-BE49-F238E27FC236}">
                  <a16:creationId xmlns:a16="http://schemas.microsoft.com/office/drawing/2014/main" id="{621AF12C-7757-417F-962A-CF5986084FB3}"/>
                </a:ext>
              </a:extLst>
            </p:cNvPr>
            <p:cNvSpPr/>
            <p:nvPr/>
          </p:nvSpPr>
          <p:spPr>
            <a:xfrm rot="10800000">
              <a:off x="719080" y="4062825"/>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151" name="Rounded Rectangle 31">
              <a:extLst>
                <a:ext uri="{FF2B5EF4-FFF2-40B4-BE49-F238E27FC236}">
                  <a16:creationId xmlns:a16="http://schemas.microsoft.com/office/drawing/2014/main" id="{D6F68619-4FDA-4A83-B881-66499A7B1598}"/>
                </a:ext>
              </a:extLst>
            </p:cNvPr>
            <p:cNvSpPr/>
            <p:nvPr/>
          </p:nvSpPr>
          <p:spPr>
            <a:xfrm>
              <a:off x="579438" y="4623637"/>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Trusted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Execution</a:t>
              </a:r>
            </a:p>
          </p:txBody>
        </p:sp>
        <p:grpSp>
          <p:nvGrpSpPr>
            <p:cNvPr id="399" name="Picture Placeholder 103" descr="Reliability&#10;">
              <a:extLst>
                <a:ext uri="{FF2B5EF4-FFF2-40B4-BE49-F238E27FC236}">
                  <a16:creationId xmlns:a16="http://schemas.microsoft.com/office/drawing/2014/main" id="{5EA58FE7-1AEC-4267-B1A0-5F4FB1FE441B}"/>
                </a:ext>
              </a:extLst>
            </p:cNvPr>
            <p:cNvGrpSpPr>
              <a:grpSpLocks noChangeAspect="1"/>
            </p:cNvGrpSpPr>
            <p:nvPr/>
          </p:nvGrpSpPr>
          <p:grpSpPr>
            <a:xfrm>
              <a:off x="846355" y="4118271"/>
              <a:ext cx="227829" cy="365761"/>
              <a:chOff x="3280734" y="4422087"/>
              <a:chExt cx="373862" cy="600205"/>
            </a:xfrm>
            <a:solidFill>
              <a:schemeClr val="tx1"/>
            </a:solidFill>
          </p:grpSpPr>
          <p:grpSp>
            <p:nvGrpSpPr>
              <p:cNvPr id="400" name="Picture Placeholder 103">
                <a:extLst>
                  <a:ext uri="{FF2B5EF4-FFF2-40B4-BE49-F238E27FC236}">
                    <a16:creationId xmlns:a16="http://schemas.microsoft.com/office/drawing/2014/main" id="{75879E17-9761-4D00-948B-0CE8344331B1}"/>
                  </a:ext>
                </a:extLst>
              </p:cNvPr>
              <p:cNvGrpSpPr/>
              <p:nvPr/>
            </p:nvGrpSpPr>
            <p:grpSpPr>
              <a:xfrm>
                <a:off x="3280734" y="4771838"/>
                <a:ext cx="373862" cy="250454"/>
                <a:chOff x="3280734" y="4771838"/>
                <a:chExt cx="373862" cy="250454"/>
              </a:xfrm>
              <a:grpFill/>
            </p:grpSpPr>
            <p:sp>
              <p:nvSpPr>
                <p:cNvPr id="403" name="Picture Placeholder 103">
                  <a:extLst>
                    <a:ext uri="{FF2B5EF4-FFF2-40B4-BE49-F238E27FC236}">
                      <a16:creationId xmlns:a16="http://schemas.microsoft.com/office/drawing/2014/main" id="{9F7438B3-BA9F-46BC-86B3-06E094B7F793}"/>
                    </a:ext>
                  </a:extLst>
                </p:cNvPr>
                <p:cNvSpPr/>
                <p:nvPr/>
              </p:nvSpPr>
              <p:spPr>
                <a:xfrm>
                  <a:off x="3280734" y="4774368"/>
                  <a:ext cx="178234" cy="247924"/>
                </a:xfrm>
                <a:custGeom>
                  <a:avLst/>
                  <a:gdLst>
                    <a:gd name="connsiteX0" fmla="*/ 122578 w 178234"/>
                    <a:gd name="connsiteY0" fmla="*/ 220729 h 247924"/>
                    <a:gd name="connsiteX1" fmla="*/ 101707 w 178234"/>
                    <a:gd name="connsiteY1" fmla="*/ 168867 h 247924"/>
                    <a:gd name="connsiteX2" fmla="*/ 97280 w 178234"/>
                    <a:gd name="connsiteY2" fmla="*/ 164440 h 247924"/>
                    <a:gd name="connsiteX3" fmla="*/ 94750 w 178234"/>
                    <a:gd name="connsiteY3" fmla="*/ 163807 h 247924"/>
                    <a:gd name="connsiteX4" fmla="*/ 90955 w 178234"/>
                    <a:gd name="connsiteY4" fmla="*/ 164440 h 247924"/>
                    <a:gd name="connsiteX5" fmla="*/ 28341 w 178234"/>
                    <a:gd name="connsiteY5" fmla="*/ 196695 h 247924"/>
                    <a:gd name="connsiteX6" fmla="*/ 101707 w 178234"/>
                    <a:gd name="connsiteY6" fmla="*/ 0 h 247924"/>
                    <a:gd name="connsiteX7" fmla="*/ 93485 w 178234"/>
                    <a:gd name="connsiteY7" fmla="*/ 1265 h 247924"/>
                    <a:gd name="connsiteX8" fmla="*/ 85263 w 178234"/>
                    <a:gd name="connsiteY8" fmla="*/ 2530 h 247924"/>
                    <a:gd name="connsiteX9" fmla="*/ 1146 w 178234"/>
                    <a:gd name="connsiteY9" fmla="*/ 212507 h 247924"/>
                    <a:gd name="connsiteX10" fmla="*/ 1778 w 178234"/>
                    <a:gd name="connsiteY10" fmla="*/ 221993 h 247924"/>
                    <a:gd name="connsiteX11" fmla="*/ 11265 w 178234"/>
                    <a:gd name="connsiteY11" fmla="*/ 223891 h 247924"/>
                    <a:gd name="connsiteX12" fmla="*/ 90323 w 178234"/>
                    <a:gd name="connsiteY12" fmla="*/ 183413 h 247924"/>
                    <a:gd name="connsiteX13" fmla="*/ 113091 w 178234"/>
                    <a:gd name="connsiteY13" fmla="*/ 242865 h 247924"/>
                    <a:gd name="connsiteX14" fmla="*/ 120048 w 178234"/>
                    <a:gd name="connsiteY14" fmla="*/ 247924 h 247924"/>
                    <a:gd name="connsiteX15" fmla="*/ 120681 w 178234"/>
                    <a:gd name="connsiteY15" fmla="*/ 247924 h 247924"/>
                    <a:gd name="connsiteX16" fmla="*/ 127638 w 178234"/>
                    <a:gd name="connsiteY16" fmla="*/ 244130 h 247924"/>
                    <a:gd name="connsiteX17" fmla="*/ 178234 w 178234"/>
                    <a:gd name="connsiteY17" fmla="*/ 133449 h 247924"/>
                    <a:gd name="connsiteX18" fmla="*/ 170012 w 178234"/>
                    <a:gd name="connsiteY18" fmla="*/ 107518 h 247924"/>
                    <a:gd name="connsiteX19" fmla="*/ 122578 w 178234"/>
                    <a:gd name="connsiteY19" fmla="*/ 220729 h 24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8234" h="247924">
                      <a:moveTo>
                        <a:pt x="122578" y="220729"/>
                      </a:moveTo>
                      <a:cubicBezTo>
                        <a:pt x="116253" y="203652"/>
                        <a:pt x="109296" y="185943"/>
                        <a:pt x="101707" y="168867"/>
                      </a:cubicBezTo>
                      <a:cubicBezTo>
                        <a:pt x="101074" y="166969"/>
                        <a:pt x="99177" y="165072"/>
                        <a:pt x="97280" y="164440"/>
                      </a:cubicBezTo>
                      <a:cubicBezTo>
                        <a:pt x="96647" y="164440"/>
                        <a:pt x="95382" y="163807"/>
                        <a:pt x="94750" y="163807"/>
                      </a:cubicBezTo>
                      <a:cubicBezTo>
                        <a:pt x="93485" y="163807"/>
                        <a:pt x="92220" y="163807"/>
                        <a:pt x="90955" y="164440"/>
                      </a:cubicBezTo>
                      <a:cubicBezTo>
                        <a:pt x="70084" y="175191"/>
                        <a:pt x="49213" y="185943"/>
                        <a:pt x="28341" y="196695"/>
                      </a:cubicBezTo>
                      <a:cubicBezTo>
                        <a:pt x="63759" y="134082"/>
                        <a:pt x="88425" y="67041"/>
                        <a:pt x="101707" y="0"/>
                      </a:cubicBezTo>
                      <a:cubicBezTo>
                        <a:pt x="99177" y="0"/>
                        <a:pt x="96015" y="632"/>
                        <a:pt x="93485" y="1265"/>
                      </a:cubicBezTo>
                      <a:cubicBezTo>
                        <a:pt x="90955" y="1897"/>
                        <a:pt x="87793" y="2530"/>
                        <a:pt x="85263" y="2530"/>
                      </a:cubicBezTo>
                      <a:cubicBezTo>
                        <a:pt x="70084" y="73998"/>
                        <a:pt x="41623" y="145466"/>
                        <a:pt x="1146" y="212507"/>
                      </a:cubicBezTo>
                      <a:cubicBezTo>
                        <a:pt x="-752" y="215669"/>
                        <a:pt x="-119" y="219464"/>
                        <a:pt x="1778" y="221993"/>
                      </a:cubicBezTo>
                      <a:cubicBezTo>
                        <a:pt x="4308" y="224523"/>
                        <a:pt x="8103" y="225156"/>
                        <a:pt x="11265" y="223891"/>
                      </a:cubicBezTo>
                      <a:cubicBezTo>
                        <a:pt x="37828" y="210609"/>
                        <a:pt x="64392" y="197328"/>
                        <a:pt x="90323" y="183413"/>
                      </a:cubicBezTo>
                      <a:cubicBezTo>
                        <a:pt x="99177" y="203020"/>
                        <a:pt x="106766" y="223258"/>
                        <a:pt x="113091" y="242865"/>
                      </a:cubicBezTo>
                      <a:cubicBezTo>
                        <a:pt x="114356" y="246027"/>
                        <a:pt x="116886" y="247924"/>
                        <a:pt x="120048" y="247924"/>
                      </a:cubicBezTo>
                      <a:cubicBezTo>
                        <a:pt x="120048" y="247924"/>
                        <a:pt x="120681" y="247924"/>
                        <a:pt x="120681" y="247924"/>
                      </a:cubicBezTo>
                      <a:cubicBezTo>
                        <a:pt x="123210" y="247924"/>
                        <a:pt x="126373" y="246659"/>
                        <a:pt x="127638" y="244130"/>
                      </a:cubicBezTo>
                      <a:cubicBezTo>
                        <a:pt x="147876" y="208712"/>
                        <a:pt x="164953" y="171397"/>
                        <a:pt x="178234" y="133449"/>
                      </a:cubicBezTo>
                      <a:cubicBezTo>
                        <a:pt x="175705" y="125227"/>
                        <a:pt x="172542" y="116373"/>
                        <a:pt x="170012" y="107518"/>
                      </a:cubicBezTo>
                      <a:cubicBezTo>
                        <a:pt x="157996" y="146098"/>
                        <a:pt x="142184" y="184046"/>
                        <a:pt x="122578" y="22072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04" name="Picture Placeholder 103">
                  <a:extLst>
                    <a:ext uri="{FF2B5EF4-FFF2-40B4-BE49-F238E27FC236}">
                      <a16:creationId xmlns:a16="http://schemas.microsoft.com/office/drawing/2014/main" id="{00B3CF7F-8EFC-43E6-82C7-44FD95323B06}"/>
                    </a:ext>
                  </a:extLst>
                </p:cNvPr>
                <p:cNvSpPr/>
                <p:nvPr/>
              </p:nvSpPr>
              <p:spPr>
                <a:xfrm>
                  <a:off x="3454542" y="4771838"/>
                  <a:ext cx="200055" cy="242864"/>
                </a:xfrm>
                <a:custGeom>
                  <a:avLst/>
                  <a:gdLst>
                    <a:gd name="connsiteX0" fmla="*/ 115740 w 200055"/>
                    <a:gd name="connsiteY0" fmla="*/ 632 h 242864"/>
                    <a:gd name="connsiteX1" fmla="*/ 99296 w 200055"/>
                    <a:gd name="connsiteY1" fmla="*/ 0 h 242864"/>
                    <a:gd name="connsiteX2" fmla="*/ 171397 w 200055"/>
                    <a:gd name="connsiteY2" fmla="*/ 194798 h 242864"/>
                    <a:gd name="connsiteX3" fmla="*/ 111313 w 200055"/>
                    <a:gd name="connsiteY3" fmla="*/ 164440 h 242864"/>
                    <a:gd name="connsiteX4" fmla="*/ 104988 w 200055"/>
                    <a:gd name="connsiteY4" fmla="*/ 163807 h 242864"/>
                    <a:gd name="connsiteX5" fmla="*/ 100561 w 200055"/>
                    <a:gd name="connsiteY5" fmla="*/ 168234 h 242864"/>
                    <a:gd name="connsiteX6" fmla="*/ 82852 w 200055"/>
                    <a:gd name="connsiteY6" fmla="*/ 215036 h 242864"/>
                    <a:gd name="connsiteX7" fmla="*/ 15812 w 200055"/>
                    <a:gd name="connsiteY7" fmla="*/ 17709 h 242864"/>
                    <a:gd name="connsiteX8" fmla="*/ 8854 w 200055"/>
                    <a:gd name="connsiteY8" fmla="*/ 15179 h 242864"/>
                    <a:gd name="connsiteX9" fmla="*/ 0 w 200055"/>
                    <a:gd name="connsiteY9" fmla="*/ 18974 h 242864"/>
                    <a:gd name="connsiteX10" fmla="*/ 78425 w 200055"/>
                    <a:gd name="connsiteY10" fmla="*/ 239070 h 242864"/>
                    <a:gd name="connsiteX11" fmla="*/ 85382 w 200055"/>
                    <a:gd name="connsiteY11" fmla="*/ 242865 h 242864"/>
                    <a:gd name="connsiteX12" fmla="*/ 86015 w 200055"/>
                    <a:gd name="connsiteY12" fmla="*/ 242865 h 242864"/>
                    <a:gd name="connsiteX13" fmla="*/ 92972 w 200055"/>
                    <a:gd name="connsiteY13" fmla="*/ 237173 h 242864"/>
                    <a:gd name="connsiteX14" fmla="*/ 112578 w 200055"/>
                    <a:gd name="connsiteY14" fmla="*/ 182149 h 242864"/>
                    <a:gd name="connsiteX15" fmla="*/ 188473 w 200055"/>
                    <a:gd name="connsiteY15" fmla="*/ 220096 h 242864"/>
                    <a:gd name="connsiteX16" fmla="*/ 197960 w 200055"/>
                    <a:gd name="connsiteY16" fmla="*/ 218199 h 242864"/>
                    <a:gd name="connsiteX17" fmla="*/ 199225 w 200055"/>
                    <a:gd name="connsiteY17" fmla="*/ 208712 h 242864"/>
                    <a:gd name="connsiteX18" fmla="*/ 115740 w 200055"/>
                    <a:gd name="connsiteY18" fmla="*/ 632 h 24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055" h="242864">
                      <a:moveTo>
                        <a:pt x="115740" y="632"/>
                      </a:moveTo>
                      <a:cubicBezTo>
                        <a:pt x="110681" y="1265"/>
                        <a:pt x="104988" y="632"/>
                        <a:pt x="99296" y="0"/>
                      </a:cubicBezTo>
                      <a:cubicBezTo>
                        <a:pt x="112578" y="66408"/>
                        <a:pt x="137244" y="132184"/>
                        <a:pt x="171397" y="194798"/>
                      </a:cubicBezTo>
                      <a:cubicBezTo>
                        <a:pt x="151158" y="184678"/>
                        <a:pt x="130919" y="174559"/>
                        <a:pt x="111313" y="164440"/>
                      </a:cubicBezTo>
                      <a:cubicBezTo>
                        <a:pt x="109416" y="163175"/>
                        <a:pt x="106886" y="163175"/>
                        <a:pt x="104988" y="163807"/>
                      </a:cubicBezTo>
                      <a:cubicBezTo>
                        <a:pt x="103091" y="164440"/>
                        <a:pt x="101194" y="166337"/>
                        <a:pt x="100561" y="168234"/>
                      </a:cubicBezTo>
                      <a:cubicBezTo>
                        <a:pt x="94237" y="184046"/>
                        <a:pt x="88544" y="199857"/>
                        <a:pt x="82852" y="215036"/>
                      </a:cubicBezTo>
                      <a:cubicBezTo>
                        <a:pt x="49332" y="151790"/>
                        <a:pt x="26563" y="84750"/>
                        <a:pt x="15812" y="17709"/>
                      </a:cubicBezTo>
                      <a:cubicBezTo>
                        <a:pt x="13282" y="16444"/>
                        <a:pt x="10752" y="15179"/>
                        <a:pt x="8854" y="15179"/>
                      </a:cubicBezTo>
                      <a:cubicBezTo>
                        <a:pt x="6957" y="15179"/>
                        <a:pt x="3795" y="17076"/>
                        <a:pt x="0" y="18974"/>
                      </a:cubicBezTo>
                      <a:cubicBezTo>
                        <a:pt x="12017" y="94237"/>
                        <a:pt x="38580" y="168867"/>
                        <a:pt x="78425" y="239070"/>
                      </a:cubicBezTo>
                      <a:cubicBezTo>
                        <a:pt x="79690" y="241600"/>
                        <a:pt x="82220" y="242865"/>
                        <a:pt x="85382" y="242865"/>
                      </a:cubicBezTo>
                      <a:cubicBezTo>
                        <a:pt x="85382" y="242865"/>
                        <a:pt x="86015" y="242865"/>
                        <a:pt x="86015" y="242865"/>
                      </a:cubicBezTo>
                      <a:cubicBezTo>
                        <a:pt x="89177" y="242232"/>
                        <a:pt x="91707" y="240335"/>
                        <a:pt x="92972" y="237173"/>
                      </a:cubicBezTo>
                      <a:cubicBezTo>
                        <a:pt x="98664" y="218831"/>
                        <a:pt x="104988" y="200490"/>
                        <a:pt x="112578" y="182149"/>
                      </a:cubicBezTo>
                      <a:cubicBezTo>
                        <a:pt x="137876" y="194798"/>
                        <a:pt x="163175" y="208079"/>
                        <a:pt x="188473" y="220096"/>
                      </a:cubicBezTo>
                      <a:cubicBezTo>
                        <a:pt x="191635" y="221361"/>
                        <a:pt x="195430" y="220729"/>
                        <a:pt x="197960" y="218199"/>
                      </a:cubicBezTo>
                      <a:cubicBezTo>
                        <a:pt x="200490" y="215669"/>
                        <a:pt x="200490" y="211874"/>
                        <a:pt x="199225" y="208712"/>
                      </a:cubicBezTo>
                      <a:cubicBezTo>
                        <a:pt x="158747" y="142936"/>
                        <a:pt x="130919" y="71468"/>
                        <a:pt x="115740" y="63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sp>
            <p:nvSpPr>
              <p:cNvPr id="401" name="Picture Placeholder 103">
                <a:extLst>
                  <a:ext uri="{FF2B5EF4-FFF2-40B4-BE49-F238E27FC236}">
                    <a16:creationId xmlns:a16="http://schemas.microsoft.com/office/drawing/2014/main" id="{135F7370-BE34-47B4-B0CF-2801E6F0A69C}"/>
                  </a:ext>
                </a:extLst>
              </p:cNvPr>
              <p:cNvSpPr/>
              <p:nvPr/>
            </p:nvSpPr>
            <p:spPr>
              <a:xfrm>
                <a:off x="3286307" y="4422087"/>
                <a:ext cx="346587" cy="349116"/>
              </a:xfrm>
              <a:custGeom>
                <a:avLst/>
                <a:gdLst>
                  <a:gd name="connsiteX0" fmla="*/ 137876 w 346588"/>
                  <a:gd name="connsiteY0" fmla="*/ 15812 h 349117"/>
                  <a:gd name="connsiteX1" fmla="*/ 148628 w 346588"/>
                  <a:gd name="connsiteY1" fmla="*/ 20239 h 349117"/>
                  <a:gd name="connsiteX2" fmla="*/ 173927 w 346588"/>
                  <a:gd name="connsiteY2" fmla="*/ 27828 h 349117"/>
                  <a:gd name="connsiteX3" fmla="*/ 199225 w 346588"/>
                  <a:gd name="connsiteY3" fmla="*/ 20239 h 349117"/>
                  <a:gd name="connsiteX4" fmla="*/ 209977 w 346588"/>
                  <a:gd name="connsiteY4" fmla="*/ 15812 h 349117"/>
                  <a:gd name="connsiteX5" fmla="*/ 218199 w 346588"/>
                  <a:gd name="connsiteY5" fmla="*/ 24666 h 349117"/>
                  <a:gd name="connsiteX6" fmla="*/ 236540 w 346588"/>
                  <a:gd name="connsiteY6" fmla="*/ 42375 h 349117"/>
                  <a:gd name="connsiteX7" fmla="*/ 261838 w 346588"/>
                  <a:gd name="connsiteY7" fmla="*/ 46802 h 349117"/>
                  <a:gd name="connsiteX8" fmla="*/ 273223 w 346588"/>
                  <a:gd name="connsiteY8" fmla="*/ 48067 h 349117"/>
                  <a:gd name="connsiteX9" fmla="*/ 276385 w 346588"/>
                  <a:gd name="connsiteY9" fmla="*/ 59451 h 349117"/>
                  <a:gd name="connsiteX10" fmla="*/ 285872 w 346588"/>
                  <a:gd name="connsiteY10" fmla="*/ 83485 h 349117"/>
                  <a:gd name="connsiteX11" fmla="*/ 306743 w 346588"/>
                  <a:gd name="connsiteY11" fmla="*/ 98664 h 349117"/>
                  <a:gd name="connsiteX12" fmla="*/ 316862 w 346588"/>
                  <a:gd name="connsiteY12" fmla="*/ 104988 h 349117"/>
                  <a:gd name="connsiteX13" fmla="*/ 314965 w 346588"/>
                  <a:gd name="connsiteY13" fmla="*/ 116373 h 349117"/>
                  <a:gd name="connsiteX14" fmla="*/ 313068 w 346588"/>
                  <a:gd name="connsiteY14" fmla="*/ 142304 h 349117"/>
                  <a:gd name="connsiteX15" fmla="*/ 325717 w 346588"/>
                  <a:gd name="connsiteY15" fmla="*/ 164440 h 349117"/>
                  <a:gd name="connsiteX16" fmla="*/ 332674 w 346588"/>
                  <a:gd name="connsiteY16" fmla="*/ 174559 h 349117"/>
                  <a:gd name="connsiteX17" fmla="*/ 325717 w 346588"/>
                  <a:gd name="connsiteY17" fmla="*/ 184678 h 349117"/>
                  <a:gd name="connsiteX18" fmla="*/ 313068 w 346588"/>
                  <a:gd name="connsiteY18" fmla="*/ 206814 h 349117"/>
                  <a:gd name="connsiteX19" fmla="*/ 314965 w 346588"/>
                  <a:gd name="connsiteY19" fmla="*/ 232745 h 349117"/>
                  <a:gd name="connsiteX20" fmla="*/ 316862 w 346588"/>
                  <a:gd name="connsiteY20" fmla="*/ 244130 h 349117"/>
                  <a:gd name="connsiteX21" fmla="*/ 306743 w 346588"/>
                  <a:gd name="connsiteY21" fmla="*/ 250454 h 349117"/>
                  <a:gd name="connsiteX22" fmla="*/ 285872 w 346588"/>
                  <a:gd name="connsiteY22" fmla="*/ 265633 h 349117"/>
                  <a:gd name="connsiteX23" fmla="*/ 276385 w 346588"/>
                  <a:gd name="connsiteY23" fmla="*/ 289667 h 349117"/>
                  <a:gd name="connsiteX24" fmla="*/ 273223 w 346588"/>
                  <a:gd name="connsiteY24" fmla="*/ 301051 h 349117"/>
                  <a:gd name="connsiteX25" fmla="*/ 261838 w 346588"/>
                  <a:gd name="connsiteY25" fmla="*/ 302316 h 349117"/>
                  <a:gd name="connsiteX26" fmla="*/ 236540 w 346588"/>
                  <a:gd name="connsiteY26" fmla="*/ 306743 h 349117"/>
                  <a:gd name="connsiteX27" fmla="*/ 218199 w 346588"/>
                  <a:gd name="connsiteY27" fmla="*/ 324452 h 349117"/>
                  <a:gd name="connsiteX28" fmla="*/ 209977 w 346588"/>
                  <a:gd name="connsiteY28" fmla="*/ 333306 h 349117"/>
                  <a:gd name="connsiteX29" fmla="*/ 199225 w 346588"/>
                  <a:gd name="connsiteY29" fmla="*/ 328879 h 349117"/>
                  <a:gd name="connsiteX30" fmla="*/ 173927 w 346588"/>
                  <a:gd name="connsiteY30" fmla="*/ 321290 h 349117"/>
                  <a:gd name="connsiteX31" fmla="*/ 148628 w 346588"/>
                  <a:gd name="connsiteY31" fmla="*/ 328879 h 349117"/>
                  <a:gd name="connsiteX32" fmla="*/ 137876 w 346588"/>
                  <a:gd name="connsiteY32" fmla="*/ 333306 h 349117"/>
                  <a:gd name="connsiteX33" fmla="*/ 129654 w 346588"/>
                  <a:gd name="connsiteY33" fmla="*/ 324452 h 349117"/>
                  <a:gd name="connsiteX34" fmla="*/ 111313 w 346588"/>
                  <a:gd name="connsiteY34" fmla="*/ 306743 h 349117"/>
                  <a:gd name="connsiteX35" fmla="*/ 86015 w 346588"/>
                  <a:gd name="connsiteY35" fmla="*/ 302316 h 349117"/>
                  <a:gd name="connsiteX36" fmla="*/ 74630 w 346588"/>
                  <a:gd name="connsiteY36" fmla="*/ 301051 h 349117"/>
                  <a:gd name="connsiteX37" fmla="*/ 71468 w 346588"/>
                  <a:gd name="connsiteY37" fmla="*/ 289667 h 349117"/>
                  <a:gd name="connsiteX38" fmla="*/ 61981 w 346588"/>
                  <a:gd name="connsiteY38" fmla="*/ 265633 h 349117"/>
                  <a:gd name="connsiteX39" fmla="*/ 41110 w 346588"/>
                  <a:gd name="connsiteY39" fmla="*/ 250454 h 349117"/>
                  <a:gd name="connsiteX40" fmla="*/ 30991 w 346588"/>
                  <a:gd name="connsiteY40" fmla="*/ 244130 h 349117"/>
                  <a:gd name="connsiteX41" fmla="*/ 32888 w 346588"/>
                  <a:gd name="connsiteY41" fmla="*/ 232745 h 349117"/>
                  <a:gd name="connsiteX42" fmla="*/ 34785 w 346588"/>
                  <a:gd name="connsiteY42" fmla="*/ 206814 h 349117"/>
                  <a:gd name="connsiteX43" fmla="*/ 22136 w 346588"/>
                  <a:gd name="connsiteY43" fmla="*/ 184678 h 349117"/>
                  <a:gd name="connsiteX44" fmla="*/ 15179 w 346588"/>
                  <a:gd name="connsiteY44" fmla="*/ 174559 h 349117"/>
                  <a:gd name="connsiteX45" fmla="*/ 22136 w 346588"/>
                  <a:gd name="connsiteY45" fmla="*/ 164440 h 349117"/>
                  <a:gd name="connsiteX46" fmla="*/ 34785 w 346588"/>
                  <a:gd name="connsiteY46" fmla="*/ 142304 h 349117"/>
                  <a:gd name="connsiteX47" fmla="*/ 32888 w 346588"/>
                  <a:gd name="connsiteY47" fmla="*/ 116373 h 349117"/>
                  <a:gd name="connsiteX48" fmla="*/ 30991 w 346588"/>
                  <a:gd name="connsiteY48" fmla="*/ 104988 h 349117"/>
                  <a:gd name="connsiteX49" fmla="*/ 41110 w 346588"/>
                  <a:gd name="connsiteY49" fmla="*/ 98664 h 349117"/>
                  <a:gd name="connsiteX50" fmla="*/ 61981 w 346588"/>
                  <a:gd name="connsiteY50" fmla="*/ 83485 h 349117"/>
                  <a:gd name="connsiteX51" fmla="*/ 71468 w 346588"/>
                  <a:gd name="connsiteY51" fmla="*/ 59451 h 349117"/>
                  <a:gd name="connsiteX52" fmla="*/ 74630 w 346588"/>
                  <a:gd name="connsiteY52" fmla="*/ 48067 h 349117"/>
                  <a:gd name="connsiteX53" fmla="*/ 86015 w 346588"/>
                  <a:gd name="connsiteY53" fmla="*/ 46802 h 349117"/>
                  <a:gd name="connsiteX54" fmla="*/ 111313 w 346588"/>
                  <a:gd name="connsiteY54" fmla="*/ 42375 h 349117"/>
                  <a:gd name="connsiteX55" fmla="*/ 129654 w 346588"/>
                  <a:gd name="connsiteY55" fmla="*/ 24666 h 349117"/>
                  <a:gd name="connsiteX56" fmla="*/ 137876 w 346588"/>
                  <a:gd name="connsiteY56" fmla="*/ 15812 h 349117"/>
                  <a:gd name="connsiteX57" fmla="*/ 209344 w 346588"/>
                  <a:gd name="connsiteY57" fmla="*/ 0 h 349117"/>
                  <a:gd name="connsiteX58" fmla="*/ 173294 w 346588"/>
                  <a:gd name="connsiteY58" fmla="*/ 11384 h 349117"/>
                  <a:gd name="connsiteX59" fmla="*/ 137244 w 346588"/>
                  <a:gd name="connsiteY59" fmla="*/ 0 h 349117"/>
                  <a:gd name="connsiteX60" fmla="*/ 134082 w 346588"/>
                  <a:gd name="connsiteY60" fmla="*/ 632 h 349117"/>
                  <a:gd name="connsiteX61" fmla="*/ 103723 w 346588"/>
                  <a:gd name="connsiteY61" fmla="*/ 28461 h 349117"/>
                  <a:gd name="connsiteX62" fmla="*/ 63878 w 346588"/>
                  <a:gd name="connsiteY62" fmla="*/ 36050 h 349117"/>
                  <a:gd name="connsiteX63" fmla="*/ 49332 w 346588"/>
                  <a:gd name="connsiteY63" fmla="*/ 73998 h 349117"/>
                  <a:gd name="connsiteX64" fmla="*/ 16444 w 346588"/>
                  <a:gd name="connsiteY64" fmla="*/ 98031 h 349117"/>
                  <a:gd name="connsiteX65" fmla="*/ 19606 w 346588"/>
                  <a:gd name="connsiteY65" fmla="*/ 138509 h 349117"/>
                  <a:gd name="connsiteX66" fmla="*/ 0 w 346588"/>
                  <a:gd name="connsiteY66" fmla="*/ 174559 h 349117"/>
                  <a:gd name="connsiteX67" fmla="*/ 19606 w 346588"/>
                  <a:gd name="connsiteY67" fmla="*/ 210609 h 349117"/>
                  <a:gd name="connsiteX68" fmla="*/ 16444 w 346588"/>
                  <a:gd name="connsiteY68" fmla="*/ 251087 h 349117"/>
                  <a:gd name="connsiteX69" fmla="*/ 49332 w 346588"/>
                  <a:gd name="connsiteY69" fmla="*/ 275120 h 349117"/>
                  <a:gd name="connsiteX70" fmla="*/ 63878 w 346588"/>
                  <a:gd name="connsiteY70" fmla="*/ 313068 h 349117"/>
                  <a:gd name="connsiteX71" fmla="*/ 103723 w 346588"/>
                  <a:gd name="connsiteY71" fmla="*/ 320657 h 349117"/>
                  <a:gd name="connsiteX72" fmla="*/ 134082 w 346588"/>
                  <a:gd name="connsiteY72" fmla="*/ 348485 h 349117"/>
                  <a:gd name="connsiteX73" fmla="*/ 137244 w 346588"/>
                  <a:gd name="connsiteY73" fmla="*/ 349118 h 349117"/>
                  <a:gd name="connsiteX74" fmla="*/ 173294 w 346588"/>
                  <a:gd name="connsiteY74" fmla="*/ 337734 h 349117"/>
                  <a:gd name="connsiteX75" fmla="*/ 209344 w 346588"/>
                  <a:gd name="connsiteY75" fmla="*/ 349118 h 349117"/>
                  <a:gd name="connsiteX76" fmla="*/ 212507 w 346588"/>
                  <a:gd name="connsiteY76" fmla="*/ 348485 h 349117"/>
                  <a:gd name="connsiteX77" fmla="*/ 242865 w 346588"/>
                  <a:gd name="connsiteY77" fmla="*/ 320657 h 349117"/>
                  <a:gd name="connsiteX78" fmla="*/ 282710 w 346588"/>
                  <a:gd name="connsiteY78" fmla="*/ 313068 h 349117"/>
                  <a:gd name="connsiteX79" fmla="*/ 297256 w 346588"/>
                  <a:gd name="connsiteY79" fmla="*/ 275120 h 349117"/>
                  <a:gd name="connsiteX80" fmla="*/ 330144 w 346588"/>
                  <a:gd name="connsiteY80" fmla="*/ 251087 h 349117"/>
                  <a:gd name="connsiteX81" fmla="*/ 326982 w 346588"/>
                  <a:gd name="connsiteY81" fmla="*/ 210609 h 349117"/>
                  <a:gd name="connsiteX82" fmla="*/ 346588 w 346588"/>
                  <a:gd name="connsiteY82" fmla="*/ 174559 h 349117"/>
                  <a:gd name="connsiteX83" fmla="*/ 326982 w 346588"/>
                  <a:gd name="connsiteY83" fmla="*/ 138509 h 349117"/>
                  <a:gd name="connsiteX84" fmla="*/ 330144 w 346588"/>
                  <a:gd name="connsiteY84" fmla="*/ 98031 h 349117"/>
                  <a:gd name="connsiteX85" fmla="*/ 297256 w 346588"/>
                  <a:gd name="connsiteY85" fmla="*/ 73998 h 349117"/>
                  <a:gd name="connsiteX86" fmla="*/ 282710 w 346588"/>
                  <a:gd name="connsiteY86" fmla="*/ 36050 h 349117"/>
                  <a:gd name="connsiteX87" fmla="*/ 242865 w 346588"/>
                  <a:gd name="connsiteY87" fmla="*/ 28461 h 349117"/>
                  <a:gd name="connsiteX88" fmla="*/ 212507 w 346588"/>
                  <a:gd name="connsiteY88" fmla="*/ 632 h 349117"/>
                  <a:gd name="connsiteX89" fmla="*/ 209344 w 346588"/>
                  <a:gd name="connsiteY89" fmla="*/ 0 h 349117"/>
                  <a:gd name="connsiteX90" fmla="*/ 209344 w 346588"/>
                  <a:gd name="connsiteY90" fmla="*/ 0 h 34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6588" h="349117">
                    <a:moveTo>
                      <a:pt x="137876" y="15812"/>
                    </a:moveTo>
                    <a:cubicBezTo>
                      <a:pt x="139774" y="15812"/>
                      <a:pt x="144833" y="18341"/>
                      <a:pt x="148628" y="20239"/>
                    </a:cubicBezTo>
                    <a:cubicBezTo>
                      <a:pt x="156218" y="23401"/>
                      <a:pt x="164440" y="27828"/>
                      <a:pt x="173927" y="27828"/>
                    </a:cubicBezTo>
                    <a:cubicBezTo>
                      <a:pt x="183413" y="27828"/>
                      <a:pt x="191635" y="24033"/>
                      <a:pt x="199225" y="20239"/>
                    </a:cubicBezTo>
                    <a:cubicBezTo>
                      <a:pt x="202387" y="18341"/>
                      <a:pt x="207447" y="16444"/>
                      <a:pt x="209977" y="15812"/>
                    </a:cubicBezTo>
                    <a:cubicBezTo>
                      <a:pt x="211874" y="17076"/>
                      <a:pt x="215669" y="21504"/>
                      <a:pt x="218199" y="24666"/>
                    </a:cubicBezTo>
                    <a:cubicBezTo>
                      <a:pt x="223258" y="30991"/>
                      <a:pt x="228318" y="37948"/>
                      <a:pt x="236540" y="42375"/>
                    </a:cubicBezTo>
                    <a:cubicBezTo>
                      <a:pt x="244762" y="46802"/>
                      <a:pt x="254249" y="46802"/>
                      <a:pt x="261838" y="46802"/>
                    </a:cubicBezTo>
                    <a:cubicBezTo>
                      <a:pt x="265633" y="46802"/>
                      <a:pt x="271325" y="46802"/>
                      <a:pt x="273223" y="48067"/>
                    </a:cubicBezTo>
                    <a:cubicBezTo>
                      <a:pt x="274488" y="49964"/>
                      <a:pt x="275753" y="55656"/>
                      <a:pt x="276385" y="59451"/>
                    </a:cubicBezTo>
                    <a:cubicBezTo>
                      <a:pt x="278282" y="67041"/>
                      <a:pt x="279547" y="76528"/>
                      <a:pt x="285872" y="83485"/>
                    </a:cubicBezTo>
                    <a:cubicBezTo>
                      <a:pt x="291564" y="91074"/>
                      <a:pt x="299786" y="94869"/>
                      <a:pt x="306743" y="98664"/>
                    </a:cubicBezTo>
                    <a:cubicBezTo>
                      <a:pt x="309905" y="100561"/>
                      <a:pt x="315598" y="103091"/>
                      <a:pt x="316862" y="104988"/>
                    </a:cubicBezTo>
                    <a:cubicBezTo>
                      <a:pt x="317495" y="106886"/>
                      <a:pt x="315598" y="112578"/>
                      <a:pt x="314965" y="116373"/>
                    </a:cubicBezTo>
                    <a:cubicBezTo>
                      <a:pt x="313068" y="123962"/>
                      <a:pt x="311170" y="133449"/>
                      <a:pt x="313068" y="142304"/>
                    </a:cubicBezTo>
                    <a:cubicBezTo>
                      <a:pt x="314965" y="151158"/>
                      <a:pt x="320657" y="158115"/>
                      <a:pt x="325717" y="164440"/>
                    </a:cubicBezTo>
                    <a:cubicBezTo>
                      <a:pt x="328247" y="167602"/>
                      <a:pt x="332042" y="172662"/>
                      <a:pt x="332674" y="174559"/>
                    </a:cubicBezTo>
                    <a:cubicBezTo>
                      <a:pt x="332674" y="176456"/>
                      <a:pt x="328247" y="181516"/>
                      <a:pt x="325717" y="184678"/>
                    </a:cubicBezTo>
                    <a:cubicBezTo>
                      <a:pt x="320657" y="191003"/>
                      <a:pt x="314965" y="197960"/>
                      <a:pt x="313068" y="206814"/>
                    </a:cubicBezTo>
                    <a:cubicBezTo>
                      <a:pt x="311170" y="216301"/>
                      <a:pt x="313068" y="225156"/>
                      <a:pt x="314965" y="232745"/>
                    </a:cubicBezTo>
                    <a:cubicBezTo>
                      <a:pt x="315598" y="236540"/>
                      <a:pt x="317495" y="242232"/>
                      <a:pt x="316862" y="244130"/>
                    </a:cubicBezTo>
                    <a:cubicBezTo>
                      <a:pt x="315598" y="246027"/>
                      <a:pt x="309905" y="248557"/>
                      <a:pt x="306743" y="250454"/>
                    </a:cubicBezTo>
                    <a:cubicBezTo>
                      <a:pt x="299786" y="254249"/>
                      <a:pt x="291564" y="258044"/>
                      <a:pt x="285872" y="265633"/>
                    </a:cubicBezTo>
                    <a:cubicBezTo>
                      <a:pt x="280180" y="273223"/>
                      <a:pt x="278282" y="282077"/>
                      <a:pt x="276385" y="289667"/>
                    </a:cubicBezTo>
                    <a:cubicBezTo>
                      <a:pt x="275753" y="293461"/>
                      <a:pt x="274488" y="299154"/>
                      <a:pt x="273223" y="301051"/>
                    </a:cubicBezTo>
                    <a:cubicBezTo>
                      <a:pt x="271325" y="301683"/>
                      <a:pt x="265001" y="302316"/>
                      <a:pt x="261838" y="302316"/>
                    </a:cubicBezTo>
                    <a:cubicBezTo>
                      <a:pt x="253616" y="302316"/>
                      <a:pt x="244762" y="302948"/>
                      <a:pt x="236540" y="306743"/>
                    </a:cubicBezTo>
                    <a:cubicBezTo>
                      <a:pt x="228318" y="311170"/>
                      <a:pt x="222626" y="318127"/>
                      <a:pt x="218199" y="324452"/>
                    </a:cubicBezTo>
                    <a:cubicBezTo>
                      <a:pt x="215669" y="327614"/>
                      <a:pt x="211874" y="332042"/>
                      <a:pt x="209977" y="333306"/>
                    </a:cubicBezTo>
                    <a:cubicBezTo>
                      <a:pt x="208079" y="333306"/>
                      <a:pt x="203020" y="330777"/>
                      <a:pt x="199225" y="328879"/>
                    </a:cubicBezTo>
                    <a:cubicBezTo>
                      <a:pt x="191635" y="325717"/>
                      <a:pt x="183413" y="321290"/>
                      <a:pt x="173927" y="321290"/>
                    </a:cubicBezTo>
                    <a:cubicBezTo>
                      <a:pt x="164440" y="321290"/>
                      <a:pt x="156218" y="325084"/>
                      <a:pt x="148628" y="328879"/>
                    </a:cubicBezTo>
                    <a:cubicBezTo>
                      <a:pt x="145466" y="330777"/>
                      <a:pt x="140406" y="332674"/>
                      <a:pt x="137876" y="333306"/>
                    </a:cubicBezTo>
                    <a:cubicBezTo>
                      <a:pt x="135979" y="332042"/>
                      <a:pt x="132184" y="327614"/>
                      <a:pt x="129654" y="324452"/>
                    </a:cubicBezTo>
                    <a:cubicBezTo>
                      <a:pt x="124595" y="318127"/>
                      <a:pt x="119535" y="311170"/>
                      <a:pt x="111313" y="306743"/>
                    </a:cubicBezTo>
                    <a:cubicBezTo>
                      <a:pt x="103091" y="302316"/>
                      <a:pt x="93604" y="302316"/>
                      <a:pt x="86015" y="302316"/>
                    </a:cubicBezTo>
                    <a:cubicBezTo>
                      <a:pt x="82220" y="302316"/>
                      <a:pt x="76528" y="302316"/>
                      <a:pt x="74630" y="301051"/>
                    </a:cubicBezTo>
                    <a:cubicBezTo>
                      <a:pt x="73365" y="299154"/>
                      <a:pt x="72100" y="293461"/>
                      <a:pt x="71468" y="289667"/>
                    </a:cubicBezTo>
                    <a:cubicBezTo>
                      <a:pt x="69571" y="282077"/>
                      <a:pt x="68306" y="272590"/>
                      <a:pt x="61981" y="265633"/>
                    </a:cubicBezTo>
                    <a:cubicBezTo>
                      <a:pt x="56289" y="258044"/>
                      <a:pt x="48067" y="254249"/>
                      <a:pt x="41110" y="250454"/>
                    </a:cubicBezTo>
                    <a:cubicBezTo>
                      <a:pt x="37948" y="248557"/>
                      <a:pt x="32255" y="246027"/>
                      <a:pt x="30991" y="244130"/>
                    </a:cubicBezTo>
                    <a:cubicBezTo>
                      <a:pt x="30358" y="242232"/>
                      <a:pt x="32255" y="236540"/>
                      <a:pt x="32888" y="232745"/>
                    </a:cubicBezTo>
                    <a:cubicBezTo>
                      <a:pt x="34785" y="225156"/>
                      <a:pt x="36683" y="215669"/>
                      <a:pt x="34785" y="206814"/>
                    </a:cubicBezTo>
                    <a:cubicBezTo>
                      <a:pt x="32888" y="197960"/>
                      <a:pt x="27196" y="191003"/>
                      <a:pt x="22136" y="184678"/>
                    </a:cubicBezTo>
                    <a:cubicBezTo>
                      <a:pt x="19606" y="181516"/>
                      <a:pt x="15812" y="176456"/>
                      <a:pt x="15179" y="174559"/>
                    </a:cubicBezTo>
                    <a:cubicBezTo>
                      <a:pt x="15179" y="172662"/>
                      <a:pt x="19606" y="167602"/>
                      <a:pt x="22136" y="164440"/>
                    </a:cubicBezTo>
                    <a:cubicBezTo>
                      <a:pt x="27196" y="158115"/>
                      <a:pt x="32888" y="151158"/>
                      <a:pt x="34785" y="142304"/>
                    </a:cubicBezTo>
                    <a:cubicBezTo>
                      <a:pt x="36683" y="132817"/>
                      <a:pt x="34785" y="123962"/>
                      <a:pt x="32888" y="116373"/>
                    </a:cubicBezTo>
                    <a:cubicBezTo>
                      <a:pt x="32255" y="112578"/>
                      <a:pt x="30358" y="106886"/>
                      <a:pt x="30991" y="104988"/>
                    </a:cubicBezTo>
                    <a:cubicBezTo>
                      <a:pt x="32255" y="103091"/>
                      <a:pt x="37948" y="100561"/>
                      <a:pt x="41110" y="98664"/>
                    </a:cubicBezTo>
                    <a:cubicBezTo>
                      <a:pt x="48067" y="94869"/>
                      <a:pt x="56289" y="91074"/>
                      <a:pt x="61981" y="83485"/>
                    </a:cubicBezTo>
                    <a:cubicBezTo>
                      <a:pt x="67673" y="75895"/>
                      <a:pt x="69571" y="67041"/>
                      <a:pt x="71468" y="59451"/>
                    </a:cubicBezTo>
                    <a:cubicBezTo>
                      <a:pt x="72100" y="55656"/>
                      <a:pt x="73365" y="49964"/>
                      <a:pt x="74630" y="48067"/>
                    </a:cubicBezTo>
                    <a:cubicBezTo>
                      <a:pt x="76528" y="47434"/>
                      <a:pt x="82852" y="46802"/>
                      <a:pt x="86015" y="46802"/>
                    </a:cubicBezTo>
                    <a:cubicBezTo>
                      <a:pt x="94237" y="46802"/>
                      <a:pt x="103091" y="46170"/>
                      <a:pt x="111313" y="42375"/>
                    </a:cubicBezTo>
                    <a:cubicBezTo>
                      <a:pt x="119535" y="37948"/>
                      <a:pt x="125227" y="30991"/>
                      <a:pt x="129654" y="24666"/>
                    </a:cubicBezTo>
                    <a:cubicBezTo>
                      <a:pt x="132184" y="22136"/>
                      <a:pt x="135979" y="17076"/>
                      <a:pt x="137876" y="15812"/>
                    </a:cubicBezTo>
                    <a:moveTo>
                      <a:pt x="209344" y="0"/>
                    </a:moveTo>
                    <a:cubicBezTo>
                      <a:pt x="197960" y="0"/>
                      <a:pt x="185311" y="11384"/>
                      <a:pt x="173294" y="11384"/>
                    </a:cubicBezTo>
                    <a:cubicBezTo>
                      <a:pt x="161910" y="11384"/>
                      <a:pt x="148628" y="0"/>
                      <a:pt x="137244" y="0"/>
                    </a:cubicBezTo>
                    <a:cubicBezTo>
                      <a:pt x="135979" y="0"/>
                      <a:pt x="134714" y="0"/>
                      <a:pt x="134082" y="632"/>
                    </a:cubicBezTo>
                    <a:cubicBezTo>
                      <a:pt x="121432" y="3795"/>
                      <a:pt x="115108" y="22769"/>
                      <a:pt x="103723" y="28461"/>
                    </a:cubicBezTo>
                    <a:cubicBezTo>
                      <a:pt x="92339" y="34153"/>
                      <a:pt x="73365" y="27828"/>
                      <a:pt x="63878" y="36050"/>
                    </a:cubicBezTo>
                    <a:cubicBezTo>
                      <a:pt x="54392" y="44272"/>
                      <a:pt x="56921" y="63878"/>
                      <a:pt x="49332" y="73998"/>
                    </a:cubicBezTo>
                    <a:cubicBezTo>
                      <a:pt x="41742" y="84117"/>
                      <a:pt x="21504" y="86647"/>
                      <a:pt x="16444" y="98031"/>
                    </a:cubicBezTo>
                    <a:cubicBezTo>
                      <a:pt x="11384" y="109416"/>
                      <a:pt x="22136" y="126492"/>
                      <a:pt x="19606" y="138509"/>
                    </a:cubicBezTo>
                    <a:cubicBezTo>
                      <a:pt x="17076" y="150525"/>
                      <a:pt x="0" y="161277"/>
                      <a:pt x="0" y="174559"/>
                    </a:cubicBezTo>
                    <a:cubicBezTo>
                      <a:pt x="0" y="187208"/>
                      <a:pt x="17076" y="198592"/>
                      <a:pt x="19606" y="210609"/>
                    </a:cubicBezTo>
                    <a:cubicBezTo>
                      <a:pt x="22136" y="223258"/>
                      <a:pt x="11384" y="240335"/>
                      <a:pt x="16444" y="251087"/>
                    </a:cubicBezTo>
                    <a:cubicBezTo>
                      <a:pt x="21504" y="262471"/>
                      <a:pt x="41742" y="265001"/>
                      <a:pt x="49332" y="275120"/>
                    </a:cubicBezTo>
                    <a:cubicBezTo>
                      <a:pt x="56921" y="285239"/>
                      <a:pt x="54392" y="305478"/>
                      <a:pt x="63878" y="313068"/>
                    </a:cubicBezTo>
                    <a:cubicBezTo>
                      <a:pt x="73365" y="321290"/>
                      <a:pt x="92972" y="314965"/>
                      <a:pt x="103723" y="320657"/>
                    </a:cubicBezTo>
                    <a:cubicBezTo>
                      <a:pt x="115108" y="326349"/>
                      <a:pt x="121432" y="345323"/>
                      <a:pt x="134082" y="348485"/>
                    </a:cubicBezTo>
                    <a:cubicBezTo>
                      <a:pt x="135346" y="348485"/>
                      <a:pt x="136611" y="349118"/>
                      <a:pt x="137244" y="349118"/>
                    </a:cubicBezTo>
                    <a:cubicBezTo>
                      <a:pt x="148628" y="349118"/>
                      <a:pt x="161277" y="337734"/>
                      <a:pt x="173294" y="337734"/>
                    </a:cubicBezTo>
                    <a:cubicBezTo>
                      <a:pt x="184678" y="337734"/>
                      <a:pt x="197960" y="349118"/>
                      <a:pt x="209344" y="349118"/>
                    </a:cubicBezTo>
                    <a:cubicBezTo>
                      <a:pt x="210609" y="349118"/>
                      <a:pt x="211874" y="349118"/>
                      <a:pt x="212507" y="348485"/>
                    </a:cubicBezTo>
                    <a:cubicBezTo>
                      <a:pt x="225156" y="345323"/>
                      <a:pt x="231480" y="326349"/>
                      <a:pt x="242865" y="320657"/>
                    </a:cubicBezTo>
                    <a:cubicBezTo>
                      <a:pt x="254249" y="314965"/>
                      <a:pt x="273223" y="321290"/>
                      <a:pt x="282710" y="313068"/>
                    </a:cubicBezTo>
                    <a:cubicBezTo>
                      <a:pt x="292197" y="304846"/>
                      <a:pt x="289667" y="285239"/>
                      <a:pt x="297256" y="275120"/>
                    </a:cubicBezTo>
                    <a:cubicBezTo>
                      <a:pt x="304846" y="265001"/>
                      <a:pt x="325084" y="262471"/>
                      <a:pt x="330144" y="251087"/>
                    </a:cubicBezTo>
                    <a:cubicBezTo>
                      <a:pt x="335204" y="239702"/>
                      <a:pt x="324452" y="222626"/>
                      <a:pt x="326982" y="210609"/>
                    </a:cubicBezTo>
                    <a:cubicBezTo>
                      <a:pt x="329512" y="198592"/>
                      <a:pt x="346588" y="187841"/>
                      <a:pt x="346588" y="174559"/>
                    </a:cubicBezTo>
                    <a:cubicBezTo>
                      <a:pt x="346588" y="161910"/>
                      <a:pt x="329512" y="150525"/>
                      <a:pt x="326982" y="138509"/>
                    </a:cubicBezTo>
                    <a:cubicBezTo>
                      <a:pt x="324452" y="125860"/>
                      <a:pt x="335204" y="108783"/>
                      <a:pt x="330144" y="98031"/>
                    </a:cubicBezTo>
                    <a:cubicBezTo>
                      <a:pt x="325084" y="86647"/>
                      <a:pt x="304846" y="84117"/>
                      <a:pt x="297256" y="73998"/>
                    </a:cubicBezTo>
                    <a:cubicBezTo>
                      <a:pt x="289667" y="63878"/>
                      <a:pt x="292197" y="43640"/>
                      <a:pt x="282710" y="36050"/>
                    </a:cubicBezTo>
                    <a:cubicBezTo>
                      <a:pt x="273223" y="27828"/>
                      <a:pt x="253616" y="34153"/>
                      <a:pt x="242865" y="28461"/>
                    </a:cubicBezTo>
                    <a:cubicBezTo>
                      <a:pt x="231480" y="22769"/>
                      <a:pt x="225156" y="3795"/>
                      <a:pt x="212507" y="632"/>
                    </a:cubicBezTo>
                    <a:cubicBezTo>
                      <a:pt x="211874" y="632"/>
                      <a:pt x="210609" y="0"/>
                      <a:pt x="209344" y="0"/>
                    </a:cubicBezTo>
                    <a:lnTo>
                      <a:pt x="209344"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02" name="Picture Placeholder 103">
                <a:extLst>
                  <a:ext uri="{FF2B5EF4-FFF2-40B4-BE49-F238E27FC236}">
                    <a16:creationId xmlns:a16="http://schemas.microsoft.com/office/drawing/2014/main" id="{C67C57FA-4905-4275-AD16-B9E3EC97B240}"/>
                  </a:ext>
                </a:extLst>
              </p:cNvPr>
              <p:cNvSpPr/>
              <p:nvPr/>
            </p:nvSpPr>
            <p:spPr>
              <a:xfrm>
                <a:off x="3347656" y="4488496"/>
                <a:ext cx="221361" cy="220728"/>
              </a:xfrm>
              <a:custGeom>
                <a:avLst/>
                <a:gdLst>
                  <a:gd name="connsiteX0" fmla="*/ 110048 w 221361"/>
                  <a:gd name="connsiteY0" fmla="*/ 220729 h 220728"/>
                  <a:gd name="connsiteX1" fmla="*/ 102459 w 221361"/>
                  <a:gd name="connsiteY1" fmla="*/ 213139 h 220728"/>
                  <a:gd name="connsiteX2" fmla="*/ 110048 w 221361"/>
                  <a:gd name="connsiteY2" fmla="*/ 205550 h 220728"/>
                  <a:gd name="connsiteX3" fmla="*/ 204917 w 221361"/>
                  <a:gd name="connsiteY3" fmla="*/ 110681 h 220728"/>
                  <a:gd name="connsiteX4" fmla="*/ 110048 w 221361"/>
                  <a:gd name="connsiteY4" fmla="*/ 15812 h 220728"/>
                  <a:gd name="connsiteX5" fmla="*/ 15179 w 221361"/>
                  <a:gd name="connsiteY5" fmla="*/ 110681 h 220728"/>
                  <a:gd name="connsiteX6" fmla="*/ 7590 w 221361"/>
                  <a:gd name="connsiteY6" fmla="*/ 118270 h 220728"/>
                  <a:gd name="connsiteX7" fmla="*/ 0 w 221361"/>
                  <a:gd name="connsiteY7" fmla="*/ 110681 h 220728"/>
                  <a:gd name="connsiteX8" fmla="*/ 110681 w 221361"/>
                  <a:gd name="connsiteY8" fmla="*/ 0 h 220728"/>
                  <a:gd name="connsiteX9" fmla="*/ 221361 w 221361"/>
                  <a:gd name="connsiteY9" fmla="*/ 110681 h 220728"/>
                  <a:gd name="connsiteX10" fmla="*/ 110048 w 221361"/>
                  <a:gd name="connsiteY10" fmla="*/ 220729 h 220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361" h="220728">
                    <a:moveTo>
                      <a:pt x="110048" y="220729"/>
                    </a:moveTo>
                    <a:cubicBezTo>
                      <a:pt x="105621" y="220729"/>
                      <a:pt x="102459" y="216934"/>
                      <a:pt x="102459" y="213139"/>
                    </a:cubicBezTo>
                    <a:cubicBezTo>
                      <a:pt x="102459" y="209344"/>
                      <a:pt x="106253" y="205550"/>
                      <a:pt x="110048" y="205550"/>
                    </a:cubicBezTo>
                    <a:cubicBezTo>
                      <a:pt x="162542" y="205550"/>
                      <a:pt x="204917" y="163175"/>
                      <a:pt x="204917" y="110681"/>
                    </a:cubicBezTo>
                    <a:cubicBezTo>
                      <a:pt x="204917" y="58186"/>
                      <a:pt x="162542" y="15812"/>
                      <a:pt x="110048" y="15812"/>
                    </a:cubicBezTo>
                    <a:cubicBezTo>
                      <a:pt x="57554" y="15812"/>
                      <a:pt x="15179" y="58186"/>
                      <a:pt x="15179" y="110681"/>
                    </a:cubicBezTo>
                    <a:cubicBezTo>
                      <a:pt x="15179" y="115108"/>
                      <a:pt x="11384" y="118270"/>
                      <a:pt x="7590" y="118270"/>
                    </a:cubicBezTo>
                    <a:cubicBezTo>
                      <a:pt x="3795" y="118270"/>
                      <a:pt x="0" y="114475"/>
                      <a:pt x="0" y="110681"/>
                    </a:cubicBezTo>
                    <a:cubicBezTo>
                      <a:pt x="0" y="49964"/>
                      <a:pt x="49964" y="0"/>
                      <a:pt x="110681" y="0"/>
                    </a:cubicBezTo>
                    <a:cubicBezTo>
                      <a:pt x="171397" y="0"/>
                      <a:pt x="221361" y="49964"/>
                      <a:pt x="221361" y="110681"/>
                    </a:cubicBezTo>
                    <a:cubicBezTo>
                      <a:pt x="221361" y="171397"/>
                      <a:pt x="171397" y="220729"/>
                      <a:pt x="110048" y="22072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nvGrpSpPr>
          <p:cNvPr id="36" name="Group 35">
            <a:extLst>
              <a:ext uri="{FF2B5EF4-FFF2-40B4-BE49-F238E27FC236}">
                <a16:creationId xmlns:a16="http://schemas.microsoft.com/office/drawing/2014/main" id="{71B35372-16D3-473F-A124-CE921398AB9A}"/>
              </a:ext>
            </a:extLst>
          </p:cNvPr>
          <p:cNvGrpSpPr/>
          <p:nvPr/>
        </p:nvGrpSpPr>
        <p:grpSpPr>
          <a:xfrm>
            <a:off x="8854379" y="3517925"/>
            <a:ext cx="758008" cy="2475217"/>
            <a:chOff x="8549193" y="3703187"/>
            <a:chExt cx="758008" cy="2475217"/>
          </a:xfrm>
        </p:grpSpPr>
        <p:sp>
          <p:nvSpPr>
            <p:cNvPr id="255" name="Rounded Rectangle 37">
              <a:extLst>
                <a:ext uri="{FF2B5EF4-FFF2-40B4-BE49-F238E27FC236}">
                  <a16:creationId xmlns:a16="http://schemas.microsoft.com/office/drawing/2014/main" id="{BF0156AA-7F56-45C5-A2A5-68E778B2FD19}"/>
                </a:ext>
              </a:extLst>
            </p:cNvPr>
            <p:cNvSpPr/>
            <p:nvPr/>
          </p:nvSpPr>
          <p:spPr>
            <a:xfrm>
              <a:off x="8549193"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Stretched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Cluster</a:t>
              </a:r>
            </a:p>
          </p:txBody>
        </p:sp>
        <p:cxnSp>
          <p:nvCxnSpPr>
            <p:cNvPr id="256" name="Straight Connector 255">
              <a:extLst>
                <a:ext uri="{FF2B5EF4-FFF2-40B4-BE49-F238E27FC236}">
                  <a16:creationId xmlns:a16="http://schemas.microsoft.com/office/drawing/2014/main" id="{55C27944-3AE3-455C-BAAB-BC536154A3F2}"/>
                </a:ext>
              </a:extLst>
            </p:cNvPr>
            <p:cNvCxnSpPr>
              <a:cxnSpLocks/>
            </p:cNvCxnSpPr>
            <p:nvPr/>
          </p:nvCxnSpPr>
          <p:spPr bwMode="gray">
            <a:xfrm>
              <a:off x="8928196"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57" name="Oval 256">
              <a:extLst>
                <a:ext uri="{FF2B5EF4-FFF2-40B4-BE49-F238E27FC236}">
                  <a16:creationId xmlns:a16="http://schemas.microsoft.com/office/drawing/2014/main" id="{44BA4A56-91F1-4A56-8576-365BD3B3F8B5}"/>
                </a:ext>
              </a:extLst>
            </p:cNvPr>
            <p:cNvSpPr/>
            <p:nvPr/>
          </p:nvSpPr>
          <p:spPr>
            <a:xfrm rot="10800000">
              <a:off x="8688136"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pic>
          <p:nvPicPr>
            <p:cNvPr id="405" name="Picture Placeholder 104" descr="Agile Storage Ops&#10;">
              <a:extLst>
                <a:ext uri="{FF2B5EF4-FFF2-40B4-BE49-F238E27FC236}">
                  <a16:creationId xmlns:a16="http://schemas.microsoft.com/office/drawing/2014/main" id="{8D78A9DB-9D01-4E20-82E4-9112F9CEECC4}"/>
                </a:ext>
              </a:extLst>
            </p:cNvPr>
            <p:cNvPicPr>
              <a:picLocks noChangeAspect="1"/>
            </p:cNvPicPr>
            <p:nvPr/>
          </p:nvPicPr>
          <p:blipFill rotWithShape="1">
            <a:blip>
              <a:extLst>
                <a:ext uri="{96DAC541-7B7A-43D3-8B79-37D633B846F1}">
                  <asvg:svgBlip xmlns:asvg="http://schemas.microsoft.com/office/drawing/2016/SVG/main" r:embed="rId12"/>
                </a:ext>
              </a:extLst>
            </a:blip>
            <a:srcRect/>
            <a:stretch/>
          </p:blipFill>
          <p:spPr>
            <a:xfrm>
              <a:off x="8752936" y="5296935"/>
              <a:ext cx="365760" cy="365760"/>
            </a:xfrm>
            <a:prstGeom prst="rect">
              <a:avLst/>
            </a:prstGeom>
          </p:spPr>
        </p:pic>
      </p:grpSp>
      <p:grpSp>
        <p:nvGrpSpPr>
          <p:cNvPr id="2" name="Group 1">
            <a:extLst>
              <a:ext uri="{FF2B5EF4-FFF2-40B4-BE49-F238E27FC236}">
                <a16:creationId xmlns:a16="http://schemas.microsoft.com/office/drawing/2014/main" id="{D4C469C8-BD7B-6F20-DB05-532D959C5D33}"/>
              </a:ext>
            </a:extLst>
          </p:cNvPr>
          <p:cNvGrpSpPr/>
          <p:nvPr/>
        </p:nvGrpSpPr>
        <p:grpSpPr>
          <a:xfrm>
            <a:off x="4438837" y="3517925"/>
            <a:ext cx="758008" cy="2475217"/>
            <a:chOff x="4922073" y="3703187"/>
            <a:chExt cx="758008" cy="2475217"/>
          </a:xfrm>
        </p:grpSpPr>
        <p:sp>
          <p:nvSpPr>
            <p:cNvPr id="4" name="Rounded Rectangle 37">
              <a:extLst>
                <a:ext uri="{FF2B5EF4-FFF2-40B4-BE49-F238E27FC236}">
                  <a16:creationId xmlns:a16="http://schemas.microsoft.com/office/drawing/2014/main" id="{07E7C173-C0F2-7F57-A3B2-0AAB1B4416A4}"/>
                </a:ext>
              </a:extLst>
            </p:cNvPr>
            <p:cNvSpPr/>
            <p:nvPr/>
          </p:nvSpPr>
          <p:spPr>
            <a:xfrm>
              <a:off x="4922073" y="5799400"/>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Network</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Arial" panose="020B0604020202020204" pitchFamily="34" charset="0"/>
                </a:rPr>
                <a:t>Monitoring</a:t>
              </a:r>
            </a:p>
          </p:txBody>
        </p:sp>
        <p:cxnSp>
          <p:nvCxnSpPr>
            <p:cNvPr id="5" name="Straight Connector 4">
              <a:extLst>
                <a:ext uri="{FF2B5EF4-FFF2-40B4-BE49-F238E27FC236}">
                  <a16:creationId xmlns:a16="http://schemas.microsoft.com/office/drawing/2014/main" id="{12002B94-A21B-AAB2-EB73-1783F50ED3D5}"/>
                </a:ext>
              </a:extLst>
            </p:cNvPr>
            <p:cNvCxnSpPr>
              <a:cxnSpLocks/>
            </p:cNvCxnSpPr>
            <p:nvPr/>
          </p:nvCxnSpPr>
          <p:spPr bwMode="gray">
            <a:xfrm>
              <a:off x="5301076" y="3703187"/>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F1865FF7-02DE-E82E-CAD8-A30CF1FAC193}"/>
                </a:ext>
              </a:extLst>
            </p:cNvPr>
            <p:cNvSpPr/>
            <p:nvPr/>
          </p:nvSpPr>
          <p:spPr>
            <a:xfrm rot="10800000">
              <a:off x="5061016" y="5249667"/>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grpSp>
          <p:nvGrpSpPr>
            <p:cNvPr id="7" name="Picture Placeholder 89" descr="Filtered Data&#10;">
              <a:extLst>
                <a:ext uri="{FF2B5EF4-FFF2-40B4-BE49-F238E27FC236}">
                  <a16:creationId xmlns:a16="http://schemas.microsoft.com/office/drawing/2014/main" id="{FC3771C5-9622-5EDD-BAB2-4C3CD3C05ECC}"/>
                </a:ext>
              </a:extLst>
            </p:cNvPr>
            <p:cNvGrpSpPr>
              <a:grpSpLocks noChangeAspect="1"/>
            </p:cNvGrpSpPr>
            <p:nvPr/>
          </p:nvGrpSpPr>
          <p:grpSpPr>
            <a:xfrm>
              <a:off x="5163916" y="5354825"/>
              <a:ext cx="274320" cy="273180"/>
              <a:chOff x="7128581" y="1952373"/>
              <a:chExt cx="598263" cy="595777"/>
            </a:xfrm>
            <a:solidFill>
              <a:schemeClr val="tx1"/>
            </a:solidFill>
          </p:grpSpPr>
          <p:sp>
            <p:nvSpPr>
              <p:cNvPr id="8" name="Picture Placeholder 89">
                <a:extLst>
                  <a:ext uri="{FF2B5EF4-FFF2-40B4-BE49-F238E27FC236}">
                    <a16:creationId xmlns:a16="http://schemas.microsoft.com/office/drawing/2014/main" id="{A76F6A8B-75BD-8B76-BAD6-307FC8DEB7C2}"/>
                  </a:ext>
                </a:extLst>
              </p:cNvPr>
              <p:cNvSpPr/>
              <p:nvPr/>
            </p:nvSpPr>
            <p:spPr>
              <a:xfrm>
                <a:off x="7314912" y="1952373"/>
                <a:ext cx="229427" cy="595777"/>
              </a:xfrm>
              <a:custGeom>
                <a:avLst/>
                <a:gdLst>
                  <a:gd name="connsiteX0" fmla="*/ 58941 w 229427"/>
                  <a:gd name="connsiteY0" fmla="*/ 595777 h 595777"/>
                  <a:gd name="connsiteX1" fmla="*/ 0 w 229427"/>
                  <a:gd name="connsiteY1" fmla="*/ 595777 h 595777"/>
                  <a:gd name="connsiteX2" fmla="*/ 0 w 229427"/>
                  <a:gd name="connsiteY2" fmla="*/ 576804 h 595777"/>
                  <a:gd name="connsiteX3" fmla="*/ 48167 w 229427"/>
                  <a:gd name="connsiteY3" fmla="*/ 576804 h 595777"/>
                  <a:gd name="connsiteX4" fmla="*/ 207879 w 229427"/>
                  <a:gd name="connsiteY4" fmla="*/ 297889 h 595777"/>
                  <a:gd name="connsiteX5" fmla="*/ 48167 w 229427"/>
                  <a:gd name="connsiteY5" fmla="*/ 18974 h 595777"/>
                  <a:gd name="connsiteX6" fmla="*/ 0 w 229427"/>
                  <a:gd name="connsiteY6" fmla="*/ 18974 h 595777"/>
                  <a:gd name="connsiteX7" fmla="*/ 0 w 229427"/>
                  <a:gd name="connsiteY7" fmla="*/ 0 h 595777"/>
                  <a:gd name="connsiteX8" fmla="*/ 58941 w 229427"/>
                  <a:gd name="connsiteY8" fmla="*/ 0 h 595777"/>
                  <a:gd name="connsiteX9" fmla="*/ 229428 w 229427"/>
                  <a:gd name="connsiteY9" fmla="*/ 297889 h 59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427" h="595777">
                    <a:moveTo>
                      <a:pt x="58941" y="595777"/>
                    </a:moveTo>
                    <a:lnTo>
                      <a:pt x="0" y="595777"/>
                    </a:lnTo>
                    <a:lnTo>
                      <a:pt x="0" y="576804"/>
                    </a:lnTo>
                    <a:lnTo>
                      <a:pt x="48167" y="576804"/>
                    </a:lnTo>
                    <a:lnTo>
                      <a:pt x="207879" y="297889"/>
                    </a:lnTo>
                    <a:lnTo>
                      <a:pt x="48167" y="18974"/>
                    </a:lnTo>
                    <a:lnTo>
                      <a:pt x="0" y="18974"/>
                    </a:lnTo>
                    <a:lnTo>
                      <a:pt x="0" y="0"/>
                    </a:lnTo>
                    <a:lnTo>
                      <a:pt x="58941" y="0"/>
                    </a:lnTo>
                    <a:lnTo>
                      <a:pt x="229428" y="297889"/>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9" name="Picture Placeholder 89">
                <a:extLst>
                  <a:ext uri="{FF2B5EF4-FFF2-40B4-BE49-F238E27FC236}">
                    <a16:creationId xmlns:a16="http://schemas.microsoft.com/office/drawing/2014/main" id="{B0716079-BE0E-E257-43CC-2E5A8A82A893}"/>
                  </a:ext>
                </a:extLst>
              </p:cNvPr>
              <p:cNvGrpSpPr/>
              <p:nvPr/>
            </p:nvGrpSpPr>
            <p:grpSpPr>
              <a:xfrm>
                <a:off x="7253435" y="2016251"/>
                <a:ext cx="348033" cy="35417"/>
                <a:chOff x="7253435" y="2016251"/>
                <a:chExt cx="348033" cy="35417"/>
              </a:xfrm>
              <a:grpFill/>
            </p:grpSpPr>
            <p:sp>
              <p:nvSpPr>
                <p:cNvPr id="123" name="Picture Placeholder 89">
                  <a:extLst>
                    <a:ext uri="{FF2B5EF4-FFF2-40B4-BE49-F238E27FC236}">
                      <a16:creationId xmlns:a16="http://schemas.microsoft.com/office/drawing/2014/main" id="{D9DEC41E-E723-1FF9-433C-3CBEFEECBBD5}"/>
                    </a:ext>
                  </a:extLst>
                </p:cNvPr>
                <p:cNvSpPr/>
                <p:nvPr/>
              </p:nvSpPr>
              <p:spPr>
                <a:xfrm>
                  <a:off x="7253435"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42" name="Picture Placeholder 89">
                  <a:extLst>
                    <a:ext uri="{FF2B5EF4-FFF2-40B4-BE49-F238E27FC236}">
                      <a16:creationId xmlns:a16="http://schemas.microsoft.com/office/drawing/2014/main" id="{DFA59C45-619F-EF5A-C6CA-7B56471747D3}"/>
                    </a:ext>
                  </a:extLst>
                </p:cNvPr>
                <p:cNvSpPr/>
                <p:nvPr/>
              </p:nvSpPr>
              <p:spPr>
                <a:xfrm>
                  <a:off x="7315545"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45" name="Picture Placeholder 89">
                  <a:extLst>
                    <a:ext uri="{FF2B5EF4-FFF2-40B4-BE49-F238E27FC236}">
                      <a16:creationId xmlns:a16="http://schemas.microsoft.com/office/drawing/2014/main" id="{59FEA1BA-408A-3659-95DA-52662B08100A}"/>
                    </a:ext>
                  </a:extLst>
                </p:cNvPr>
                <p:cNvSpPr/>
                <p:nvPr/>
              </p:nvSpPr>
              <p:spPr>
                <a:xfrm>
                  <a:off x="7378290"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46" name="Picture Placeholder 89">
                  <a:extLst>
                    <a:ext uri="{FF2B5EF4-FFF2-40B4-BE49-F238E27FC236}">
                      <a16:creationId xmlns:a16="http://schemas.microsoft.com/office/drawing/2014/main" id="{26B22EBE-E2F0-1350-B8FB-ED9D9E0C330C}"/>
                    </a:ext>
                  </a:extLst>
                </p:cNvPr>
                <p:cNvSpPr/>
                <p:nvPr/>
              </p:nvSpPr>
              <p:spPr>
                <a:xfrm>
                  <a:off x="7503144"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50" name="Picture Placeholder 89">
                  <a:extLst>
                    <a:ext uri="{FF2B5EF4-FFF2-40B4-BE49-F238E27FC236}">
                      <a16:creationId xmlns:a16="http://schemas.microsoft.com/office/drawing/2014/main" id="{E35BFB9C-CEB8-FD44-FEBD-A80A9F3C07A6}"/>
                    </a:ext>
                  </a:extLst>
                </p:cNvPr>
                <p:cNvSpPr/>
                <p:nvPr/>
              </p:nvSpPr>
              <p:spPr>
                <a:xfrm>
                  <a:off x="7565254" y="2016251"/>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10" name="Picture Placeholder 89">
                <a:extLst>
                  <a:ext uri="{FF2B5EF4-FFF2-40B4-BE49-F238E27FC236}">
                    <a16:creationId xmlns:a16="http://schemas.microsoft.com/office/drawing/2014/main" id="{EDB673E4-86E1-B770-9700-B100F60718A6}"/>
                  </a:ext>
                </a:extLst>
              </p:cNvPr>
              <p:cNvGrpSpPr/>
              <p:nvPr/>
            </p:nvGrpSpPr>
            <p:grpSpPr>
              <a:xfrm>
                <a:off x="7315545" y="2102898"/>
                <a:ext cx="348033" cy="35417"/>
                <a:chOff x="7315545" y="2102898"/>
                <a:chExt cx="348033" cy="35417"/>
              </a:xfrm>
              <a:grpFill/>
            </p:grpSpPr>
            <p:sp>
              <p:nvSpPr>
                <p:cNvPr id="115" name="Picture Placeholder 89">
                  <a:extLst>
                    <a:ext uri="{FF2B5EF4-FFF2-40B4-BE49-F238E27FC236}">
                      <a16:creationId xmlns:a16="http://schemas.microsoft.com/office/drawing/2014/main" id="{D1009DCA-E213-D3BE-35F6-2FCFE09F0214}"/>
                    </a:ext>
                  </a:extLst>
                </p:cNvPr>
                <p:cNvSpPr/>
                <p:nvPr/>
              </p:nvSpPr>
              <p:spPr>
                <a:xfrm>
                  <a:off x="7315545" y="2102898"/>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6" name="Picture Placeholder 89">
                  <a:extLst>
                    <a:ext uri="{FF2B5EF4-FFF2-40B4-BE49-F238E27FC236}">
                      <a16:creationId xmlns:a16="http://schemas.microsoft.com/office/drawing/2014/main" id="{D35A2DD1-9162-DE56-6DBA-D6AD4ECC4CA8}"/>
                    </a:ext>
                  </a:extLst>
                </p:cNvPr>
                <p:cNvSpPr/>
                <p:nvPr/>
              </p:nvSpPr>
              <p:spPr>
                <a:xfrm>
                  <a:off x="7378290" y="2102898"/>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7" name="Picture Placeholder 89">
                  <a:extLst>
                    <a:ext uri="{FF2B5EF4-FFF2-40B4-BE49-F238E27FC236}">
                      <a16:creationId xmlns:a16="http://schemas.microsoft.com/office/drawing/2014/main" id="{6F29DE0D-9873-E7FA-7EAA-20C6608936D3}"/>
                    </a:ext>
                  </a:extLst>
                </p:cNvPr>
                <p:cNvSpPr/>
                <p:nvPr/>
              </p:nvSpPr>
              <p:spPr>
                <a:xfrm>
                  <a:off x="7627364" y="2102898"/>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41" name="Picture Placeholder 89">
                <a:extLst>
                  <a:ext uri="{FF2B5EF4-FFF2-40B4-BE49-F238E27FC236}">
                    <a16:creationId xmlns:a16="http://schemas.microsoft.com/office/drawing/2014/main" id="{5B59C08E-5808-552E-87FB-F791BBA2DC56}"/>
                  </a:ext>
                </a:extLst>
              </p:cNvPr>
              <p:cNvGrpSpPr/>
              <p:nvPr/>
            </p:nvGrpSpPr>
            <p:grpSpPr>
              <a:xfrm>
                <a:off x="7191959" y="2189545"/>
                <a:ext cx="534753" cy="35417"/>
                <a:chOff x="7191959" y="2189545"/>
                <a:chExt cx="534753" cy="35417"/>
              </a:xfrm>
              <a:grpFill/>
            </p:grpSpPr>
            <p:sp>
              <p:nvSpPr>
                <p:cNvPr id="107" name="Picture Placeholder 89">
                  <a:extLst>
                    <a:ext uri="{FF2B5EF4-FFF2-40B4-BE49-F238E27FC236}">
                      <a16:creationId xmlns:a16="http://schemas.microsoft.com/office/drawing/2014/main" id="{CAED774B-AD4D-4291-C410-D4444A696273}"/>
                    </a:ext>
                  </a:extLst>
                </p:cNvPr>
                <p:cNvSpPr/>
                <p:nvPr/>
              </p:nvSpPr>
              <p:spPr>
                <a:xfrm>
                  <a:off x="7253435"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09" name="Picture Placeholder 89">
                  <a:extLst>
                    <a:ext uri="{FF2B5EF4-FFF2-40B4-BE49-F238E27FC236}">
                      <a16:creationId xmlns:a16="http://schemas.microsoft.com/office/drawing/2014/main" id="{DACD70DA-12A7-CB69-DB4A-39FE248A2E11}"/>
                    </a:ext>
                  </a:extLst>
                </p:cNvPr>
                <p:cNvSpPr/>
                <p:nvPr/>
              </p:nvSpPr>
              <p:spPr>
                <a:xfrm>
                  <a:off x="7191959"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0" name="Picture Placeholder 89">
                  <a:extLst>
                    <a:ext uri="{FF2B5EF4-FFF2-40B4-BE49-F238E27FC236}">
                      <a16:creationId xmlns:a16="http://schemas.microsoft.com/office/drawing/2014/main" id="{852BCF33-7537-2D08-3635-B6B390A81118}"/>
                    </a:ext>
                  </a:extLst>
                </p:cNvPr>
                <p:cNvSpPr/>
                <p:nvPr/>
              </p:nvSpPr>
              <p:spPr>
                <a:xfrm>
                  <a:off x="7315545"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1" name="Picture Placeholder 89">
                  <a:extLst>
                    <a:ext uri="{FF2B5EF4-FFF2-40B4-BE49-F238E27FC236}">
                      <a16:creationId xmlns:a16="http://schemas.microsoft.com/office/drawing/2014/main" id="{885E376C-8500-CA28-C5DC-DD72FA1A229C}"/>
                    </a:ext>
                  </a:extLst>
                </p:cNvPr>
                <p:cNvSpPr/>
                <p:nvPr/>
              </p:nvSpPr>
              <p:spPr>
                <a:xfrm>
                  <a:off x="7378290"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2" name="Picture Placeholder 89">
                  <a:extLst>
                    <a:ext uri="{FF2B5EF4-FFF2-40B4-BE49-F238E27FC236}">
                      <a16:creationId xmlns:a16="http://schemas.microsoft.com/office/drawing/2014/main" id="{47707490-8B73-2B1B-F9BE-1E8A29563615}"/>
                    </a:ext>
                  </a:extLst>
                </p:cNvPr>
                <p:cNvSpPr/>
                <p:nvPr/>
              </p:nvSpPr>
              <p:spPr>
                <a:xfrm>
                  <a:off x="7440400"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3" name="Picture Placeholder 89">
                  <a:extLst>
                    <a:ext uri="{FF2B5EF4-FFF2-40B4-BE49-F238E27FC236}">
                      <a16:creationId xmlns:a16="http://schemas.microsoft.com/office/drawing/2014/main" id="{F0B3A87E-B9BB-EB35-B9B3-42B2163348E7}"/>
                    </a:ext>
                  </a:extLst>
                </p:cNvPr>
                <p:cNvSpPr/>
                <p:nvPr/>
              </p:nvSpPr>
              <p:spPr>
                <a:xfrm>
                  <a:off x="7627364"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14" name="Picture Placeholder 89">
                  <a:extLst>
                    <a:ext uri="{FF2B5EF4-FFF2-40B4-BE49-F238E27FC236}">
                      <a16:creationId xmlns:a16="http://schemas.microsoft.com/office/drawing/2014/main" id="{72C49B63-59CB-29B8-F48E-F6013C776E4E}"/>
                    </a:ext>
                  </a:extLst>
                </p:cNvPr>
                <p:cNvSpPr/>
                <p:nvPr/>
              </p:nvSpPr>
              <p:spPr>
                <a:xfrm>
                  <a:off x="7690108" y="2189545"/>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42" name="Picture Placeholder 89">
                <a:extLst>
                  <a:ext uri="{FF2B5EF4-FFF2-40B4-BE49-F238E27FC236}">
                    <a16:creationId xmlns:a16="http://schemas.microsoft.com/office/drawing/2014/main" id="{7C6D3DC2-D19D-4BC7-28CB-285A3EE0678A}"/>
                  </a:ext>
                </a:extLst>
              </p:cNvPr>
              <p:cNvGrpSpPr/>
              <p:nvPr/>
            </p:nvGrpSpPr>
            <p:grpSpPr>
              <a:xfrm>
                <a:off x="7128581" y="2275560"/>
                <a:ext cx="473148" cy="35417"/>
                <a:chOff x="7128581" y="2275560"/>
                <a:chExt cx="473148" cy="35417"/>
              </a:xfrm>
              <a:grpFill/>
            </p:grpSpPr>
            <p:sp>
              <p:nvSpPr>
                <p:cNvPr id="83" name="Picture Placeholder 89">
                  <a:extLst>
                    <a:ext uri="{FF2B5EF4-FFF2-40B4-BE49-F238E27FC236}">
                      <a16:creationId xmlns:a16="http://schemas.microsoft.com/office/drawing/2014/main" id="{AFC4EC05-DDFC-350C-0431-552679F73C23}"/>
                    </a:ext>
                  </a:extLst>
                </p:cNvPr>
                <p:cNvSpPr/>
                <p:nvPr/>
              </p:nvSpPr>
              <p:spPr>
                <a:xfrm>
                  <a:off x="7253435"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86" name="Picture Placeholder 89">
                  <a:extLst>
                    <a:ext uri="{FF2B5EF4-FFF2-40B4-BE49-F238E27FC236}">
                      <a16:creationId xmlns:a16="http://schemas.microsoft.com/office/drawing/2014/main" id="{C0FD0B37-06A7-E9F3-6FE0-8B3F5463F150}"/>
                    </a:ext>
                  </a:extLst>
                </p:cNvPr>
                <p:cNvSpPr/>
                <p:nvPr/>
              </p:nvSpPr>
              <p:spPr>
                <a:xfrm>
                  <a:off x="7191325"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87" name="Picture Placeholder 89">
                  <a:extLst>
                    <a:ext uri="{FF2B5EF4-FFF2-40B4-BE49-F238E27FC236}">
                      <a16:creationId xmlns:a16="http://schemas.microsoft.com/office/drawing/2014/main" id="{CC6B8443-0BCE-EE01-943E-6D9B32731F1A}"/>
                    </a:ext>
                  </a:extLst>
                </p:cNvPr>
                <p:cNvSpPr/>
                <p:nvPr/>
              </p:nvSpPr>
              <p:spPr>
                <a:xfrm>
                  <a:off x="7128581"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88" name="Picture Placeholder 89">
                  <a:extLst>
                    <a:ext uri="{FF2B5EF4-FFF2-40B4-BE49-F238E27FC236}">
                      <a16:creationId xmlns:a16="http://schemas.microsoft.com/office/drawing/2014/main" id="{2471D0DB-31CC-9748-99BA-AEA0ABB6782D}"/>
                    </a:ext>
                  </a:extLst>
                </p:cNvPr>
                <p:cNvSpPr/>
                <p:nvPr/>
              </p:nvSpPr>
              <p:spPr>
                <a:xfrm>
                  <a:off x="7315545"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89" name="Picture Placeholder 89">
                  <a:extLst>
                    <a:ext uri="{FF2B5EF4-FFF2-40B4-BE49-F238E27FC236}">
                      <a16:creationId xmlns:a16="http://schemas.microsoft.com/office/drawing/2014/main" id="{95644BA5-2EBB-54B2-5579-C8099C7710EB}"/>
                    </a:ext>
                  </a:extLst>
                </p:cNvPr>
                <p:cNvSpPr/>
                <p:nvPr/>
              </p:nvSpPr>
              <p:spPr>
                <a:xfrm>
                  <a:off x="7378290"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92" name="Picture Placeholder 89">
                  <a:extLst>
                    <a:ext uri="{FF2B5EF4-FFF2-40B4-BE49-F238E27FC236}">
                      <a16:creationId xmlns:a16="http://schemas.microsoft.com/office/drawing/2014/main" id="{8B14871F-0B91-5A04-A512-338AEF7E395E}"/>
                    </a:ext>
                  </a:extLst>
                </p:cNvPr>
                <p:cNvSpPr/>
                <p:nvPr/>
              </p:nvSpPr>
              <p:spPr>
                <a:xfrm>
                  <a:off x="7440400"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93" name="Picture Placeholder 89">
                  <a:extLst>
                    <a:ext uri="{FF2B5EF4-FFF2-40B4-BE49-F238E27FC236}">
                      <a16:creationId xmlns:a16="http://schemas.microsoft.com/office/drawing/2014/main" id="{32D82D9C-C427-90A3-B2C2-24AD2C9A36BA}"/>
                    </a:ext>
                  </a:extLst>
                </p:cNvPr>
                <p:cNvSpPr/>
                <p:nvPr/>
              </p:nvSpPr>
              <p:spPr>
                <a:xfrm>
                  <a:off x="7503144"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100" name="Picture Placeholder 89">
                  <a:extLst>
                    <a:ext uri="{FF2B5EF4-FFF2-40B4-BE49-F238E27FC236}">
                      <a16:creationId xmlns:a16="http://schemas.microsoft.com/office/drawing/2014/main" id="{A8D826CF-B674-4D6E-2248-D24A0908486F}"/>
                    </a:ext>
                  </a:extLst>
                </p:cNvPr>
                <p:cNvSpPr/>
                <p:nvPr/>
              </p:nvSpPr>
              <p:spPr>
                <a:xfrm>
                  <a:off x="7565254" y="2275560"/>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44" name="Picture Placeholder 89">
                <a:extLst>
                  <a:ext uri="{FF2B5EF4-FFF2-40B4-BE49-F238E27FC236}">
                    <a16:creationId xmlns:a16="http://schemas.microsoft.com/office/drawing/2014/main" id="{B3DB5FD8-57DF-FD2B-226F-89AA3B57A34E}"/>
                  </a:ext>
                </a:extLst>
              </p:cNvPr>
              <p:cNvGrpSpPr/>
              <p:nvPr/>
            </p:nvGrpSpPr>
            <p:grpSpPr>
              <a:xfrm>
                <a:off x="7191325" y="2362207"/>
                <a:ext cx="535388" cy="35417"/>
                <a:chOff x="7191325" y="2362207"/>
                <a:chExt cx="535388" cy="35417"/>
              </a:xfrm>
              <a:grpFill/>
            </p:grpSpPr>
            <p:sp>
              <p:nvSpPr>
                <p:cNvPr id="74" name="Picture Placeholder 89">
                  <a:extLst>
                    <a:ext uri="{FF2B5EF4-FFF2-40B4-BE49-F238E27FC236}">
                      <a16:creationId xmlns:a16="http://schemas.microsoft.com/office/drawing/2014/main" id="{D557A106-1B50-D17A-3002-DB9AD98462F9}"/>
                    </a:ext>
                  </a:extLst>
                </p:cNvPr>
                <p:cNvSpPr/>
                <p:nvPr/>
              </p:nvSpPr>
              <p:spPr>
                <a:xfrm>
                  <a:off x="7253435"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5" name="Picture Placeholder 89">
                  <a:extLst>
                    <a:ext uri="{FF2B5EF4-FFF2-40B4-BE49-F238E27FC236}">
                      <a16:creationId xmlns:a16="http://schemas.microsoft.com/office/drawing/2014/main" id="{BDBFE9F0-E5A3-212A-3715-098C03487208}"/>
                    </a:ext>
                  </a:extLst>
                </p:cNvPr>
                <p:cNvSpPr/>
                <p:nvPr/>
              </p:nvSpPr>
              <p:spPr>
                <a:xfrm>
                  <a:off x="7191325"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6" name="Picture Placeholder 89">
                  <a:extLst>
                    <a:ext uri="{FF2B5EF4-FFF2-40B4-BE49-F238E27FC236}">
                      <a16:creationId xmlns:a16="http://schemas.microsoft.com/office/drawing/2014/main" id="{8813612F-82F4-8D5F-DE31-68FF9C585C09}"/>
                    </a:ext>
                  </a:extLst>
                </p:cNvPr>
                <p:cNvSpPr/>
                <p:nvPr/>
              </p:nvSpPr>
              <p:spPr>
                <a:xfrm>
                  <a:off x="7315545"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7" name="Picture Placeholder 89">
                  <a:extLst>
                    <a:ext uri="{FF2B5EF4-FFF2-40B4-BE49-F238E27FC236}">
                      <a16:creationId xmlns:a16="http://schemas.microsoft.com/office/drawing/2014/main" id="{C73E60C3-2BEC-675B-3550-46AA7D645CDE}"/>
                    </a:ext>
                  </a:extLst>
                </p:cNvPr>
                <p:cNvSpPr/>
                <p:nvPr/>
              </p:nvSpPr>
              <p:spPr>
                <a:xfrm>
                  <a:off x="7378290"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8" name="Picture Placeholder 89">
                  <a:extLst>
                    <a:ext uri="{FF2B5EF4-FFF2-40B4-BE49-F238E27FC236}">
                      <a16:creationId xmlns:a16="http://schemas.microsoft.com/office/drawing/2014/main" id="{A8CC79D6-FF67-E485-1010-857F46C2E8AE}"/>
                    </a:ext>
                  </a:extLst>
                </p:cNvPr>
                <p:cNvSpPr/>
                <p:nvPr/>
              </p:nvSpPr>
              <p:spPr>
                <a:xfrm>
                  <a:off x="7503144"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9" name="Picture Placeholder 89">
                  <a:extLst>
                    <a:ext uri="{FF2B5EF4-FFF2-40B4-BE49-F238E27FC236}">
                      <a16:creationId xmlns:a16="http://schemas.microsoft.com/office/drawing/2014/main" id="{0A92FB16-A983-4278-8F97-243DBD291E19}"/>
                    </a:ext>
                  </a:extLst>
                </p:cNvPr>
                <p:cNvSpPr/>
                <p:nvPr/>
              </p:nvSpPr>
              <p:spPr>
                <a:xfrm>
                  <a:off x="7565254"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80" name="Picture Placeholder 89">
                  <a:extLst>
                    <a:ext uri="{FF2B5EF4-FFF2-40B4-BE49-F238E27FC236}">
                      <a16:creationId xmlns:a16="http://schemas.microsoft.com/office/drawing/2014/main" id="{68E4157F-878E-F2DD-7FFD-5DCA803A207A}"/>
                    </a:ext>
                  </a:extLst>
                </p:cNvPr>
                <p:cNvSpPr/>
                <p:nvPr/>
              </p:nvSpPr>
              <p:spPr>
                <a:xfrm>
                  <a:off x="7690108" y="2362207"/>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9"/>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nvGrpSpPr>
              <p:cNvPr id="46" name="Picture Placeholder 89">
                <a:extLst>
                  <a:ext uri="{FF2B5EF4-FFF2-40B4-BE49-F238E27FC236}">
                    <a16:creationId xmlns:a16="http://schemas.microsoft.com/office/drawing/2014/main" id="{3281E1BD-704F-1F12-58F4-166E26EEB8A6}"/>
                  </a:ext>
                </a:extLst>
              </p:cNvPr>
              <p:cNvGrpSpPr/>
              <p:nvPr/>
            </p:nvGrpSpPr>
            <p:grpSpPr>
              <a:xfrm>
                <a:off x="7253435" y="2448854"/>
                <a:ext cx="410273" cy="35417"/>
                <a:chOff x="7253435" y="2448854"/>
                <a:chExt cx="410273" cy="35417"/>
              </a:xfrm>
              <a:grpFill/>
            </p:grpSpPr>
            <p:sp>
              <p:nvSpPr>
                <p:cNvPr id="47" name="Picture Placeholder 89">
                  <a:extLst>
                    <a:ext uri="{FF2B5EF4-FFF2-40B4-BE49-F238E27FC236}">
                      <a16:creationId xmlns:a16="http://schemas.microsoft.com/office/drawing/2014/main" id="{E49AB167-9202-0CF2-7F4D-65FFBA13B2E8}"/>
                    </a:ext>
                  </a:extLst>
                </p:cNvPr>
                <p:cNvSpPr/>
                <p:nvPr/>
              </p:nvSpPr>
              <p:spPr>
                <a:xfrm>
                  <a:off x="7253435"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8" name="Picture Placeholder 89">
                  <a:extLst>
                    <a:ext uri="{FF2B5EF4-FFF2-40B4-BE49-F238E27FC236}">
                      <a16:creationId xmlns:a16="http://schemas.microsoft.com/office/drawing/2014/main" id="{B271E19B-FAFE-FB59-22F9-A1B2ADE79C42}"/>
                    </a:ext>
                  </a:extLst>
                </p:cNvPr>
                <p:cNvSpPr/>
                <p:nvPr/>
              </p:nvSpPr>
              <p:spPr>
                <a:xfrm>
                  <a:off x="7315545"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9" name="Picture Placeholder 89">
                  <a:extLst>
                    <a:ext uri="{FF2B5EF4-FFF2-40B4-BE49-F238E27FC236}">
                      <a16:creationId xmlns:a16="http://schemas.microsoft.com/office/drawing/2014/main" id="{6B8F25A1-65E2-49DE-7EFD-93D0295D4E5D}"/>
                    </a:ext>
                  </a:extLst>
                </p:cNvPr>
                <p:cNvSpPr/>
                <p:nvPr/>
              </p:nvSpPr>
              <p:spPr>
                <a:xfrm>
                  <a:off x="7378290"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7"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0" name="Picture Placeholder 89">
                  <a:extLst>
                    <a:ext uri="{FF2B5EF4-FFF2-40B4-BE49-F238E27FC236}">
                      <a16:creationId xmlns:a16="http://schemas.microsoft.com/office/drawing/2014/main" id="{2842C6A6-B1B0-1353-75E3-265747D25E31}"/>
                    </a:ext>
                  </a:extLst>
                </p:cNvPr>
                <p:cNvSpPr/>
                <p:nvPr/>
              </p:nvSpPr>
              <p:spPr>
                <a:xfrm>
                  <a:off x="7503144"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1" name="Picture Placeholder 89">
                  <a:extLst>
                    <a:ext uri="{FF2B5EF4-FFF2-40B4-BE49-F238E27FC236}">
                      <a16:creationId xmlns:a16="http://schemas.microsoft.com/office/drawing/2014/main" id="{9FB8034F-0973-F46C-478C-9D050DC32C2A}"/>
                    </a:ext>
                  </a:extLst>
                </p:cNvPr>
                <p:cNvSpPr/>
                <p:nvPr/>
              </p:nvSpPr>
              <p:spPr>
                <a:xfrm>
                  <a:off x="7565254"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73" name="Picture Placeholder 89">
                  <a:extLst>
                    <a:ext uri="{FF2B5EF4-FFF2-40B4-BE49-F238E27FC236}">
                      <a16:creationId xmlns:a16="http://schemas.microsoft.com/office/drawing/2014/main" id="{3B1B73DA-7ABB-CA79-6662-7B9432843DEA}"/>
                    </a:ext>
                  </a:extLst>
                </p:cNvPr>
                <p:cNvSpPr/>
                <p:nvPr/>
              </p:nvSpPr>
              <p:spPr>
                <a:xfrm>
                  <a:off x="7627364" y="2448854"/>
                  <a:ext cx="35491" cy="35417"/>
                </a:xfrm>
                <a:custGeom>
                  <a:avLst/>
                  <a:gdLst>
                    <a:gd name="connsiteX0" fmla="*/ 35492 w 35491"/>
                    <a:gd name="connsiteY0" fmla="*/ 17709 h 35417"/>
                    <a:gd name="connsiteX1" fmla="*/ 17746 w 35491"/>
                    <a:gd name="connsiteY1" fmla="*/ 35418 h 35417"/>
                    <a:gd name="connsiteX2" fmla="*/ 0 w 35491"/>
                    <a:gd name="connsiteY2" fmla="*/ 17709 h 35417"/>
                    <a:gd name="connsiteX3" fmla="*/ 17746 w 35491"/>
                    <a:gd name="connsiteY3" fmla="*/ 0 h 35417"/>
                    <a:gd name="connsiteX4" fmla="*/ 35492 w 35491"/>
                    <a:gd name="connsiteY4" fmla="*/ 17709 h 35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1" h="35417">
                      <a:moveTo>
                        <a:pt x="35492" y="17709"/>
                      </a:moveTo>
                      <a:cubicBezTo>
                        <a:pt x="35492" y="27489"/>
                        <a:pt x="27547" y="35418"/>
                        <a:pt x="17746" y="35418"/>
                      </a:cubicBezTo>
                      <a:cubicBezTo>
                        <a:pt x="7945" y="35418"/>
                        <a:pt x="0" y="27489"/>
                        <a:pt x="0" y="17709"/>
                      </a:cubicBezTo>
                      <a:cubicBezTo>
                        <a:pt x="0" y="7929"/>
                        <a:pt x="7945" y="0"/>
                        <a:pt x="17746" y="0"/>
                      </a:cubicBezTo>
                      <a:cubicBezTo>
                        <a:pt x="27546" y="0"/>
                        <a:pt x="35492" y="7928"/>
                        <a:pt x="35492" y="17709"/>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426" name="Group 425">
            <a:extLst>
              <a:ext uri="{FF2B5EF4-FFF2-40B4-BE49-F238E27FC236}">
                <a16:creationId xmlns:a16="http://schemas.microsoft.com/office/drawing/2014/main" id="{2252F21E-2B41-9E7F-991F-3F4B857DB158}"/>
              </a:ext>
            </a:extLst>
          </p:cNvPr>
          <p:cNvGrpSpPr/>
          <p:nvPr/>
        </p:nvGrpSpPr>
        <p:grpSpPr>
          <a:xfrm>
            <a:off x="9932209" y="3517925"/>
            <a:ext cx="758008" cy="2475217"/>
            <a:chOff x="9973774" y="3527622"/>
            <a:chExt cx="758008" cy="2475217"/>
          </a:xfrm>
        </p:grpSpPr>
        <p:cxnSp>
          <p:nvCxnSpPr>
            <p:cNvPr id="236" name="Straight Connector 235">
              <a:extLst>
                <a:ext uri="{FF2B5EF4-FFF2-40B4-BE49-F238E27FC236}">
                  <a16:creationId xmlns:a16="http://schemas.microsoft.com/office/drawing/2014/main" id="{CE3C15A7-1F82-31AF-DB28-FADB58B4E112}"/>
                </a:ext>
              </a:extLst>
            </p:cNvPr>
            <p:cNvCxnSpPr>
              <a:cxnSpLocks/>
            </p:cNvCxnSpPr>
            <p:nvPr/>
          </p:nvCxnSpPr>
          <p:spPr bwMode="gray">
            <a:xfrm>
              <a:off x="10354009" y="3527622"/>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237" name="Oval 236">
              <a:extLst>
                <a:ext uri="{FF2B5EF4-FFF2-40B4-BE49-F238E27FC236}">
                  <a16:creationId xmlns:a16="http://schemas.microsoft.com/office/drawing/2014/main" id="{7786D45F-DDE5-E56E-6310-39CE876ACE23}"/>
                </a:ext>
              </a:extLst>
            </p:cNvPr>
            <p:cNvSpPr/>
            <p:nvPr/>
          </p:nvSpPr>
          <p:spPr>
            <a:xfrm rot="10800000">
              <a:off x="10113948" y="5074102"/>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241" name="Rounded Rectangle 38">
              <a:extLst>
                <a:ext uri="{FF2B5EF4-FFF2-40B4-BE49-F238E27FC236}">
                  <a16:creationId xmlns:a16="http://schemas.microsoft.com/office/drawing/2014/main" id="{6BF3CDBF-274F-9CFC-1DF7-C05303EDA524}"/>
                </a:ext>
              </a:extLst>
            </p:cNvPr>
            <p:cNvSpPr/>
            <p:nvPr/>
          </p:nvSpPr>
          <p:spPr>
            <a:xfrm>
              <a:off x="9973774" y="562383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Isolated</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Recovery</a:t>
              </a:r>
            </a:p>
          </p:txBody>
        </p:sp>
        <p:grpSp>
          <p:nvGrpSpPr>
            <p:cNvPr id="243" name="Picture Placeholder 95" descr="Detections 3&#10;">
              <a:extLst>
                <a:ext uri="{FF2B5EF4-FFF2-40B4-BE49-F238E27FC236}">
                  <a16:creationId xmlns:a16="http://schemas.microsoft.com/office/drawing/2014/main" id="{57E582D9-1505-8F12-66E8-DAE9717A2812}"/>
                </a:ext>
              </a:extLst>
            </p:cNvPr>
            <p:cNvGrpSpPr>
              <a:grpSpLocks noChangeAspect="1"/>
            </p:cNvGrpSpPr>
            <p:nvPr/>
          </p:nvGrpSpPr>
          <p:grpSpPr>
            <a:xfrm>
              <a:off x="10173073" y="5134714"/>
              <a:ext cx="365760" cy="366898"/>
              <a:chOff x="11081827" y="720438"/>
              <a:chExt cx="600204" cy="602073"/>
            </a:xfrm>
            <a:solidFill>
              <a:schemeClr val="tx1"/>
            </a:solidFill>
          </p:grpSpPr>
          <p:sp>
            <p:nvSpPr>
              <p:cNvPr id="251" name="Picture Placeholder 95">
                <a:extLst>
                  <a:ext uri="{FF2B5EF4-FFF2-40B4-BE49-F238E27FC236}">
                    <a16:creationId xmlns:a16="http://schemas.microsoft.com/office/drawing/2014/main" id="{F2090ECB-EA23-0963-4177-1A9B4B91D06C}"/>
                  </a:ext>
                </a:extLst>
              </p:cNvPr>
              <p:cNvSpPr/>
              <p:nvPr/>
            </p:nvSpPr>
            <p:spPr>
              <a:xfrm>
                <a:off x="11373392" y="1258515"/>
                <a:ext cx="15811" cy="62744"/>
              </a:xfrm>
              <a:custGeom>
                <a:avLst/>
                <a:gdLst>
                  <a:gd name="connsiteX0" fmla="*/ 0 w 15811"/>
                  <a:gd name="connsiteY0" fmla="*/ 0 h 62744"/>
                  <a:gd name="connsiteX1" fmla="*/ 15812 w 15811"/>
                  <a:gd name="connsiteY1" fmla="*/ 0 h 62744"/>
                  <a:gd name="connsiteX2" fmla="*/ 15812 w 15811"/>
                  <a:gd name="connsiteY2" fmla="*/ 62744 h 62744"/>
                  <a:gd name="connsiteX3" fmla="*/ 0 w 15811"/>
                  <a:gd name="connsiteY3" fmla="*/ 62744 h 62744"/>
                </a:gdLst>
                <a:ahLst/>
                <a:cxnLst>
                  <a:cxn ang="0">
                    <a:pos x="connsiteX0" y="connsiteY0"/>
                  </a:cxn>
                  <a:cxn ang="0">
                    <a:pos x="connsiteX1" y="connsiteY1"/>
                  </a:cxn>
                  <a:cxn ang="0">
                    <a:pos x="connsiteX2" y="connsiteY2"/>
                  </a:cxn>
                  <a:cxn ang="0">
                    <a:pos x="connsiteX3" y="connsiteY3"/>
                  </a:cxn>
                </a:cxnLst>
                <a:rect l="l" t="t" r="r" b="b"/>
                <a:pathLst>
                  <a:path w="15811" h="62744">
                    <a:moveTo>
                      <a:pt x="0" y="0"/>
                    </a:moveTo>
                    <a:lnTo>
                      <a:pt x="15812" y="0"/>
                    </a:lnTo>
                    <a:lnTo>
                      <a:pt x="15812" y="62744"/>
                    </a:lnTo>
                    <a:lnTo>
                      <a:pt x="0" y="627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252" name="Picture Placeholder 95">
                <a:extLst>
                  <a:ext uri="{FF2B5EF4-FFF2-40B4-BE49-F238E27FC236}">
                    <a16:creationId xmlns:a16="http://schemas.microsoft.com/office/drawing/2014/main" id="{2E8541D2-DF9C-1C7F-6E78-3BB957E09F15}"/>
                  </a:ext>
                </a:extLst>
              </p:cNvPr>
              <p:cNvGrpSpPr/>
              <p:nvPr/>
            </p:nvGrpSpPr>
            <p:grpSpPr>
              <a:xfrm>
                <a:off x="11081827" y="720438"/>
                <a:ext cx="600204" cy="553805"/>
                <a:chOff x="11081827" y="720438"/>
                <a:chExt cx="600204" cy="553805"/>
              </a:xfrm>
              <a:grpFill/>
            </p:grpSpPr>
            <p:grpSp>
              <p:nvGrpSpPr>
                <p:cNvPr id="253" name="Picture Placeholder 95">
                  <a:extLst>
                    <a:ext uri="{FF2B5EF4-FFF2-40B4-BE49-F238E27FC236}">
                      <a16:creationId xmlns:a16="http://schemas.microsoft.com/office/drawing/2014/main" id="{5F78E296-68F8-184B-FFD1-09CA260D109A}"/>
                    </a:ext>
                  </a:extLst>
                </p:cNvPr>
                <p:cNvGrpSpPr/>
                <p:nvPr/>
              </p:nvGrpSpPr>
              <p:grpSpPr>
                <a:xfrm>
                  <a:off x="11252592" y="851999"/>
                  <a:ext cx="263103" cy="338137"/>
                  <a:chOff x="11252592" y="851999"/>
                  <a:chExt cx="263103" cy="338137"/>
                </a:xfrm>
                <a:grpFill/>
              </p:grpSpPr>
              <p:sp>
                <p:nvSpPr>
                  <p:cNvPr id="410" name="Picture Placeholder 95">
                    <a:extLst>
                      <a:ext uri="{FF2B5EF4-FFF2-40B4-BE49-F238E27FC236}">
                        <a16:creationId xmlns:a16="http://schemas.microsoft.com/office/drawing/2014/main" id="{FEF62AC3-E314-B9D8-0FD7-77629252ED3B}"/>
                      </a:ext>
                    </a:extLst>
                  </p:cNvPr>
                  <p:cNvSpPr/>
                  <p:nvPr/>
                </p:nvSpPr>
                <p:spPr>
                  <a:xfrm>
                    <a:off x="11326589" y="1114014"/>
                    <a:ext cx="125859" cy="61476"/>
                  </a:xfrm>
                  <a:custGeom>
                    <a:avLst/>
                    <a:gdLst>
                      <a:gd name="connsiteX0" fmla="*/ 4427 w 125859"/>
                      <a:gd name="connsiteY0" fmla="*/ 61477 h 61476"/>
                      <a:gd name="connsiteX1" fmla="*/ 0 w 125859"/>
                      <a:gd name="connsiteY1" fmla="*/ 46266 h 61476"/>
                      <a:gd name="connsiteX2" fmla="*/ 67673 w 125859"/>
                      <a:gd name="connsiteY2" fmla="*/ 0 h 61476"/>
                      <a:gd name="connsiteX3" fmla="*/ 80955 w 125859"/>
                      <a:gd name="connsiteY3" fmla="*/ 0 h 61476"/>
                      <a:gd name="connsiteX4" fmla="*/ 125860 w 125859"/>
                      <a:gd name="connsiteY4" fmla="*/ 34858 h 61476"/>
                      <a:gd name="connsiteX5" fmla="*/ 120800 w 125859"/>
                      <a:gd name="connsiteY5" fmla="*/ 50068 h 61476"/>
                      <a:gd name="connsiteX6" fmla="*/ 73998 w 125859"/>
                      <a:gd name="connsiteY6" fmla="*/ 17746 h 61476"/>
                      <a:gd name="connsiteX7" fmla="*/ 4427 w 125859"/>
                      <a:gd name="connsiteY7" fmla="*/ 61477 h 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59" h="61476">
                        <a:moveTo>
                          <a:pt x="4427" y="61477"/>
                        </a:moveTo>
                        <a:lnTo>
                          <a:pt x="0" y="46266"/>
                        </a:lnTo>
                        <a:cubicBezTo>
                          <a:pt x="632" y="46266"/>
                          <a:pt x="45537" y="32957"/>
                          <a:pt x="67673" y="0"/>
                        </a:cubicBezTo>
                        <a:lnTo>
                          <a:pt x="80955" y="0"/>
                        </a:lnTo>
                        <a:cubicBezTo>
                          <a:pt x="80955" y="0"/>
                          <a:pt x="97399" y="25351"/>
                          <a:pt x="125860" y="34858"/>
                        </a:cubicBezTo>
                        <a:lnTo>
                          <a:pt x="120800" y="50068"/>
                        </a:lnTo>
                        <a:cubicBezTo>
                          <a:pt x="98031" y="42463"/>
                          <a:pt x="82220" y="27252"/>
                          <a:pt x="73998" y="17746"/>
                        </a:cubicBezTo>
                        <a:cubicBezTo>
                          <a:pt x="47435" y="48801"/>
                          <a:pt x="6325" y="60843"/>
                          <a:pt x="4427" y="6147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1" name="Picture Placeholder 95">
                    <a:extLst>
                      <a:ext uri="{FF2B5EF4-FFF2-40B4-BE49-F238E27FC236}">
                        <a16:creationId xmlns:a16="http://schemas.microsoft.com/office/drawing/2014/main" id="{BBB7E9A6-7E5A-1E31-F2CF-6F7EEE3D9332}"/>
                      </a:ext>
                    </a:extLst>
                  </p:cNvPr>
                  <p:cNvSpPr/>
                  <p:nvPr/>
                </p:nvSpPr>
                <p:spPr>
                  <a:xfrm>
                    <a:off x="11367067" y="1148872"/>
                    <a:ext cx="46169" cy="40561"/>
                  </a:xfrm>
                  <a:custGeom>
                    <a:avLst/>
                    <a:gdLst>
                      <a:gd name="connsiteX0" fmla="*/ 3795 w 46169"/>
                      <a:gd name="connsiteY0" fmla="*/ 40562 h 40561"/>
                      <a:gd name="connsiteX1" fmla="*/ 0 w 46169"/>
                      <a:gd name="connsiteY1" fmla="*/ 25351 h 40561"/>
                      <a:gd name="connsiteX2" fmla="*/ 32255 w 46169"/>
                      <a:gd name="connsiteY2" fmla="*/ 0 h 40561"/>
                      <a:gd name="connsiteX3" fmla="*/ 46170 w 46169"/>
                      <a:gd name="connsiteY3" fmla="*/ 7605 h 40561"/>
                      <a:gd name="connsiteX4" fmla="*/ 3795 w 46169"/>
                      <a:gd name="connsiteY4" fmla="*/ 40562 h 40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9" h="40561">
                        <a:moveTo>
                          <a:pt x="3795" y="40562"/>
                        </a:moveTo>
                        <a:lnTo>
                          <a:pt x="0" y="25351"/>
                        </a:lnTo>
                        <a:cubicBezTo>
                          <a:pt x="0" y="25351"/>
                          <a:pt x="20871" y="20281"/>
                          <a:pt x="32255" y="0"/>
                        </a:cubicBezTo>
                        <a:lnTo>
                          <a:pt x="46170" y="7605"/>
                        </a:lnTo>
                        <a:cubicBezTo>
                          <a:pt x="31623" y="34224"/>
                          <a:pt x="5060" y="40562"/>
                          <a:pt x="3795" y="4056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12" name="Picture Placeholder 95">
                    <a:extLst>
                      <a:ext uri="{FF2B5EF4-FFF2-40B4-BE49-F238E27FC236}">
                        <a16:creationId xmlns:a16="http://schemas.microsoft.com/office/drawing/2014/main" id="{7201EF8F-37BC-5037-4BE3-E2AFACA8DF64}"/>
                      </a:ext>
                    </a:extLst>
                  </p:cNvPr>
                  <p:cNvSpPr/>
                  <p:nvPr/>
                </p:nvSpPr>
                <p:spPr>
                  <a:xfrm>
                    <a:off x="11413237" y="1082959"/>
                    <a:ext cx="67040" cy="51969"/>
                  </a:xfrm>
                  <a:custGeom>
                    <a:avLst/>
                    <a:gdLst>
                      <a:gd name="connsiteX0" fmla="*/ 63878 w 67040"/>
                      <a:gd name="connsiteY0" fmla="*/ 51970 h 51969"/>
                      <a:gd name="connsiteX1" fmla="*/ 0 w 67040"/>
                      <a:gd name="connsiteY1" fmla="*/ 5070 h 51969"/>
                      <a:gd name="connsiteX2" fmla="*/ 15179 w 67040"/>
                      <a:gd name="connsiteY2" fmla="*/ 0 h 51969"/>
                      <a:gd name="connsiteX3" fmla="*/ 67041 w 67040"/>
                      <a:gd name="connsiteY3" fmla="*/ 36759 h 51969"/>
                      <a:gd name="connsiteX4" fmla="*/ 63878 w 67040"/>
                      <a:gd name="connsiteY4" fmla="*/ 51970 h 51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40" h="51969">
                        <a:moveTo>
                          <a:pt x="63878" y="51970"/>
                        </a:moveTo>
                        <a:cubicBezTo>
                          <a:pt x="61981" y="51336"/>
                          <a:pt x="13282" y="43097"/>
                          <a:pt x="0" y="5070"/>
                        </a:cubicBezTo>
                        <a:lnTo>
                          <a:pt x="15179" y="0"/>
                        </a:lnTo>
                        <a:cubicBezTo>
                          <a:pt x="25931" y="29788"/>
                          <a:pt x="66408" y="36759"/>
                          <a:pt x="67041" y="36759"/>
                        </a:cubicBezTo>
                        <a:lnTo>
                          <a:pt x="63878" y="5197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20" name="Picture Placeholder 95">
                    <a:extLst>
                      <a:ext uri="{FF2B5EF4-FFF2-40B4-BE49-F238E27FC236}">
                        <a16:creationId xmlns:a16="http://schemas.microsoft.com/office/drawing/2014/main" id="{DD7568EC-2E25-C08C-FFE1-8CA971B5A3AD}"/>
                      </a:ext>
                    </a:extLst>
                  </p:cNvPr>
                  <p:cNvSpPr/>
                  <p:nvPr/>
                </p:nvSpPr>
                <p:spPr>
                  <a:xfrm>
                    <a:off x="11258916" y="920426"/>
                    <a:ext cx="234010" cy="187883"/>
                  </a:xfrm>
                  <a:custGeom>
                    <a:avLst/>
                    <a:gdLst>
                      <a:gd name="connsiteX0" fmla="*/ 230848 w 234010"/>
                      <a:gd name="connsiteY0" fmla="*/ 187884 h 187883"/>
                      <a:gd name="connsiteX1" fmla="*/ 184678 w 234010"/>
                      <a:gd name="connsiteY1" fmla="*/ 139716 h 187883"/>
                      <a:gd name="connsiteX2" fmla="*/ 194165 w 234010"/>
                      <a:gd name="connsiteY2" fmla="*/ 112464 h 187883"/>
                      <a:gd name="connsiteX3" fmla="*/ 199857 w 234010"/>
                      <a:gd name="connsiteY3" fmla="*/ 51621 h 187883"/>
                      <a:gd name="connsiteX4" fmla="*/ 161910 w 234010"/>
                      <a:gd name="connsiteY4" fmla="*/ 19932 h 187883"/>
                      <a:gd name="connsiteX5" fmla="*/ 108151 w 234010"/>
                      <a:gd name="connsiteY5" fmla="*/ 22467 h 187883"/>
                      <a:gd name="connsiteX6" fmla="*/ 78425 w 234010"/>
                      <a:gd name="connsiteY6" fmla="*/ 68733 h 187883"/>
                      <a:gd name="connsiteX7" fmla="*/ 5060 w 234010"/>
                      <a:gd name="connsiteY7" fmla="*/ 147322 h 187883"/>
                      <a:gd name="connsiteX8" fmla="*/ 0 w 234010"/>
                      <a:gd name="connsiteY8" fmla="*/ 132111 h 187883"/>
                      <a:gd name="connsiteX9" fmla="*/ 63246 w 234010"/>
                      <a:gd name="connsiteY9" fmla="*/ 64297 h 187883"/>
                      <a:gd name="connsiteX10" fmla="*/ 100561 w 234010"/>
                      <a:gd name="connsiteY10" fmla="*/ 9158 h 187883"/>
                      <a:gd name="connsiteX11" fmla="*/ 166969 w 234010"/>
                      <a:gd name="connsiteY11" fmla="*/ 5355 h 187883"/>
                      <a:gd name="connsiteX12" fmla="*/ 214404 w 234010"/>
                      <a:gd name="connsiteY12" fmla="*/ 45917 h 187883"/>
                      <a:gd name="connsiteX13" fmla="*/ 208712 w 234010"/>
                      <a:gd name="connsiteY13" fmla="*/ 119436 h 187883"/>
                      <a:gd name="connsiteX14" fmla="*/ 200490 w 234010"/>
                      <a:gd name="connsiteY14" fmla="*/ 143519 h 187883"/>
                      <a:gd name="connsiteX15" fmla="*/ 234010 w 234010"/>
                      <a:gd name="connsiteY15" fmla="*/ 173307 h 187883"/>
                      <a:gd name="connsiteX16" fmla="*/ 230848 w 234010"/>
                      <a:gd name="connsiteY16" fmla="*/ 187884 h 18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010" h="187883">
                        <a:moveTo>
                          <a:pt x="230848" y="187884"/>
                        </a:moveTo>
                        <a:cubicBezTo>
                          <a:pt x="212507" y="184081"/>
                          <a:pt x="178986" y="170138"/>
                          <a:pt x="184678" y="139716"/>
                        </a:cubicBezTo>
                        <a:cubicBezTo>
                          <a:pt x="186576" y="130210"/>
                          <a:pt x="190370" y="121337"/>
                          <a:pt x="194165" y="112464"/>
                        </a:cubicBezTo>
                        <a:cubicBezTo>
                          <a:pt x="202387" y="93451"/>
                          <a:pt x="209977" y="75071"/>
                          <a:pt x="199857" y="51621"/>
                        </a:cubicBezTo>
                        <a:cubicBezTo>
                          <a:pt x="194165" y="38312"/>
                          <a:pt x="179619" y="26270"/>
                          <a:pt x="161910" y="19932"/>
                        </a:cubicBezTo>
                        <a:cubicBezTo>
                          <a:pt x="142936" y="13595"/>
                          <a:pt x="123962" y="14228"/>
                          <a:pt x="108151" y="22467"/>
                        </a:cubicBezTo>
                        <a:cubicBezTo>
                          <a:pt x="87912" y="33242"/>
                          <a:pt x="83485" y="49720"/>
                          <a:pt x="78425" y="68733"/>
                        </a:cubicBezTo>
                        <a:cubicBezTo>
                          <a:pt x="70836" y="96620"/>
                          <a:pt x="61981" y="127675"/>
                          <a:pt x="5060" y="147322"/>
                        </a:cubicBezTo>
                        <a:lnTo>
                          <a:pt x="0" y="132111"/>
                        </a:lnTo>
                        <a:cubicBezTo>
                          <a:pt x="48699" y="115633"/>
                          <a:pt x="55657" y="90915"/>
                          <a:pt x="63246" y="64297"/>
                        </a:cubicBezTo>
                        <a:cubicBezTo>
                          <a:pt x="68938" y="44016"/>
                          <a:pt x="75263" y="23101"/>
                          <a:pt x="100561" y="9158"/>
                        </a:cubicBezTo>
                        <a:cubicBezTo>
                          <a:pt x="120167" y="-1616"/>
                          <a:pt x="143568" y="-2884"/>
                          <a:pt x="166969" y="5355"/>
                        </a:cubicBezTo>
                        <a:cubicBezTo>
                          <a:pt x="189106" y="12961"/>
                          <a:pt x="206814" y="28171"/>
                          <a:pt x="214404" y="45917"/>
                        </a:cubicBezTo>
                        <a:cubicBezTo>
                          <a:pt x="227053" y="75705"/>
                          <a:pt x="217566" y="98521"/>
                          <a:pt x="208712" y="119436"/>
                        </a:cubicBezTo>
                        <a:cubicBezTo>
                          <a:pt x="204917" y="127675"/>
                          <a:pt x="201755" y="135914"/>
                          <a:pt x="200490" y="143519"/>
                        </a:cubicBezTo>
                        <a:cubicBezTo>
                          <a:pt x="196695" y="165701"/>
                          <a:pt x="234010" y="173307"/>
                          <a:pt x="234010" y="173307"/>
                        </a:cubicBezTo>
                        <a:lnTo>
                          <a:pt x="230848" y="18788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21" name="Picture Placeholder 95">
                    <a:extLst>
                      <a:ext uri="{FF2B5EF4-FFF2-40B4-BE49-F238E27FC236}">
                        <a16:creationId xmlns:a16="http://schemas.microsoft.com/office/drawing/2014/main" id="{31207D80-1A28-D96E-6FBD-6158C3680EDB}"/>
                      </a:ext>
                    </a:extLst>
                  </p:cNvPr>
                  <p:cNvSpPr/>
                  <p:nvPr/>
                </p:nvSpPr>
                <p:spPr>
                  <a:xfrm>
                    <a:off x="11266506" y="955461"/>
                    <a:ext cx="173239" cy="201015"/>
                  </a:xfrm>
                  <a:custGeom>
                    <a:avLst/>
                    <a:gdLst>
                      <a:gd name="connsiteX0" fmla="*/ 38580 w 173239"/>
                      <a:gd name="connsiteY0" fmla="*/ 201016 h 201015"/>
                      <a:gd name="connsiteX1" fmla="*/ 32255 w 173239"/>
                      <a:gd name="connsiteY1" fmla="*/ 186439 h 201015"/>
                      <a:gd name="connsiteX2" fmla="*/ 139774 w 173239"/>
                      <a:gd name="connsiteY2" fmla="*/ 97710 h 201015"/>
                      <a:gd name="connsiteX3" fmla="*/ 152423 w 173239"/>
                      <a:gd name="connsiteY3" fmla="*/ 27994 h 201015"/>
                      <a:gd name="connsiteX4" fmla="*/ 135346 w 173239"/>
                      <a:gd name="connsiteY4" fmla="*/ 16586 h 201015"/>
                      <a:gd name="connsiteX5" fmla="*/ 101194 w 173239"/>
                      <a:gd name="connsiteY5" fmla="*/ 52712 h 201015"/>
                      <a:gd name="connsiteX6" fmla="*/ 86647 w 173239"/>
                      <a:gd name="connsiteY6" fmla="*/ 85668 h 201015"/>
                      <a:gd name="connsiteX7" fmla="*/ 5060 w 173239"/>
                      <a:gd name="connsiteY7" fmla="*/ 146511 h 201015"/>
                      <a:gd name="connsiteX8" fmla="*/ 0 w 173239"/>
                      <a:gd name="connsiteY8" fmla="*/ 131300 h 201015"/>
                      <a:gd name="connsiteX9" fmla="*/ 73365 w 173239"/>
                      <a:gd name="connsiteY9" fmla="*/ 77429 h 201015"/>
                      <a:gd name="connsiteX10" fmla="*/ 87279 w 173239"/>
                      <a:gd name="connsiteY10" fmla="*/ 46374 h 201015"/>
                      <a:gd name="connsiteX11" fmla="*/ 137244 w 173239"/>
                      <a:gd name="connsiteY11" fmla="*/ 108 h 201015"/>
                      <a:gd name="connsiteX12" fmla="*/ 168234 w 173239"/>
                      <a:gd name="connsiteY12" fmla="*/ 20389 h 201015"/>
                      <a:gd name="connsiteX13" fmla="*/ 154320 w 173239"/>
                      <a:gd name="connsiteY13" fmla="*/ 105949 h 201015"/>
                      <a:gd name="connsiteX14" fmla="*/ 38580 w 173239"/>
                      <a:gd name="connsiteY14" fmla="*/ 201016 h 20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239" h="201015">
                        <a:moveTo>
                          <a:pt x="38580" y="201016"/>
                        </a:moveTo>
                        <a:lnTo>
                          <a:pt x="32255" y="186439"/>
                        </a:lnTo>
                        <a:cubicBezTo>
                          <a:pt x="84117" y="163623"/>
                          <a:pt x="118902" y="125596"/>
                          <a:pt x="139774" y="97710"/>
                        </a:cubicBezTo>
                        <a:cubicBezTo>
                          <a:pt x="153055" y="79964"/>
                          <a:pt x="160645" y="46374"/>
                          <a:pt x="152423" y="27994"/>
                        </a:cubicBezTo>
                        <a:cubicBezTo>
                          <a:pt x="149261" y="21023"/>
                          <a:pt x="143568" y="17220"/>
                          <a:pt x="135346" y="16586"/>
                        </a:cubicBezTo>
                        <a:cubicBezTo>
                          <a:pt x="116373" y="15319"/>
                          <a:pt x="111313" y="26727"/>
                          <a:pt x="101194" y="52712"/>
                        </a:cubicBezTo>
                        <a:cubicBezTo>
                          <a:pt x="97399" y="62852"/>
                          <a:pt x="92972" y="74260"/>
                          <a:pt x="86647" y="85668"/>
                        </a:cubicBezTo>
                        <a:cubicBezTo>
                          <a:pt x="63878" y="126230"/>
                          <a:pt x="6957" y="145877"/>
                          <a:pt x="5060" y="146511"/>
                        </a:cubicBezTo>
                        <a:lnTo>
                          <a:pt x="0" y="131300"/>
                        </a:lnTo>
                        <a:cubicBezTo>
                          <a:pt x="632" y="131300"/>
                          <a:pt x="53127" y="112921"/>
                          <a:pt x="73365" y="77429"/>
                        </a:cubicBezTo>
                        <a:cubicBezTo>
                          <a:pt x="79058" y="67289"/>
                          <a:pt x="83485" y="56515"/>
                          <a:pt x="87279" y="46374"/>
                        </a:cubicBezTo>
                        <a:cubicBezTo>
                          <a:pt x="96766" y="21657"/>
                          <a:pt x="106253" y="-1793"/>
                          <a:pt x="137244" y="108"/>
                        </a:cubicBezTo>
                        <a:cubicBezTo>
                          <a:pt x="151158" y="742"/>
                          <a:pt x="161910" y="8347"/>
                          <a:pt x="168234" y="20389"/>
                        </a:cubicBezTo>
                        <a:cubicBezTo>
                          <a:pt x="179619" y="44473"/>
                          <a:pt x="170132" y="84401"/>
                          <a:pt x="154320" y="105949"/>
                        </a:cubicBezTo>
                        <a:cubicBezTo>
                          <a:pt x="130919" y="136371"/>
                          <a:pt x="93604" y="176932"/>
                          <a:pt x="38580" y="20101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22" name="Picture Placeholder 95">
                    <a:extLst>
                      <a:ext uri="{FF2B5EF4-FFF2-40B4-BE49-F238E27FC236}">
                        <a16:creationId xmlns:a16="http://schemas.microsoft.com/office/drawing/2014/main" id="{CE1BC0AE-20E8-3CF2-4981-BC3F0E1EC3F9}"/>
                      </a:ext>
                    </a:extLst>
                  </p:cNvPr>
                  <p:cNvSpPr/>
                  <p:nvPr/>
                </p:nvSpPr>
                <p:spPr>
                  <a:xfrm>
                    <a:off x="11279155" y="998032"/>
                    <a:ext cx="125227" cy="131192"/>
                  </a:xfrm>
                  <a:custGeom>
                    <a:avLst/>
                    <a:gdLst>
                      <a:gd name="connsiteX0" fmla="*/ 5060 w 125227"/>
                      <a:gd name="connsiteY0" fmla="*/ 131192 h 131192"/>
                      <a:gd name="connsiteX1" fmla="*/ 0 w 125227"/>
                      <a:gd name="connsiteY1" fmla="*/ 115981 h 131192"/>
                      <a:gd name="connsiteX2" fmla="*/ 109416 w 125227"/>
                      <a:gd name="connsiteY2" fmla="*/ 0 h 131192"/>
                      <a:gd name="connsiteX3" fmla="*/ 125227 w 125227"/>
                      <a:gd name="connsiteY3" fmla="*/ 634 h 131192"/>
                      <a:gd name="connsiteX4" fmla="*/ 5060 w 125227"/>
                      <a:gd name="connsiteY4" fmla="*/ 131192 h 131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27" h="131192">
                        <a:moveTo>
                          <a:pt x="5060" y="131192"/>
                        </a:moveTo>
                        <a:lnTo>
                          <a:pt x="0" y="115981"/>
                        </a:lnTo>
                        <a:cubicBezTo>
                          <a:pt x="1265" y="115348"/>
                          <a:pt x="104988" y="77955"/>
                          <a:pt x="109416" y="0"/>
                        </a:cubicBezTo>
                        <a:lnTo>
                          <a:pt x="125227" y="634"/>
                        </a:lnTo>
                        <a:cubicBezTo>
                          <a:pt x="120167" y="89363"/>
                          <a:pt x="10119" y="129291"/>
                          <a:pt x="5060" y="13119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23" name="Picture Placeholder 95">
                    <a:extLst>
                      <a:ext uri="{FF2B5EF4-FFF2-40B4-BE49-F238E27FC236}">
                        <a16:creationId xmlns:a16="http://schemas.microsoft.com/office/drawing/2014/main" id="{33764010-7472-AD83-CCAB-D1F28AEEFCF2}"/>
                      </a:ext>
                    </a:extLst>
                  </p:cNvPr>
                  <p:cNvSpPr/>
                  <p:nvPr/>
                </p:nvSpPr>
                <p:spPr>
                  <a:xfrm>
                    <a:off x="11254489" y="886878"/>
                    <a:ext cx="260481" cy="187842"/>
                  </a:xfrm>
                  <a:custGeom>
                    <a:avLst/>
                    <a:gdLst>
                      <a:gd name="connsiteX0" fmla="*/ 240335 w 260481"/>
                      <a:gd name="connsiteY0" fmla="*/ 187842 h 187842"/>
                      <a:gd name="connsiteX1" fmla="*/ 226421 w 260481"/>
                      <a:gd name="connsiteY1" fmla="*/ 180871 h 187842"/>
                      <a:gd name="connsiteX2" fmla="*/ 239070 w 260481"/>
                      <a:gd name="connsiteY2" fmla="*/ 81367 h 187842"/>
                      <a:gd name="connsiteX3" fmla="*/ 187841 w 260481"/>
                      <a:gd name="connsiteY3" fmla="*/ 28130 h 187842"/>
                      <a:gd name="connsiteX4" fmla="*/ 73365 w 260481"/>
                      <a:gd name="connsiteY4" fmla="*/ 40806 h 187842"/>
                      <a:gd name="connsiteX5" fmla="*/ 47435 w 260481"/>
                      <a:gd name="connsiteY5" fmla="*/ 90240 h 187842"/>
                      <a:gd name="connsiteX6" fmla="*/ 0 w 260481"/>
                      <a:gd name="connsiteY6" fmla="*/ 138407 h 187842"/>
                      <a:gd name="connsiteX7" fmla="*/ 0 w 260481"/>
                      <a:gd name="connsiteY7" fmla="*/ 122563 h 187842"/>
                      <a:gd name="connsiteX8" fmla="*/ 32255 w 260481"/>
                      <a:gd name="connsiteY8" fmla="*/ 85170 h 187842"/>
                      <a:gd name="connsiteX9" fmla="*/ 61981 w 260481"/>
                      <a:gd name="connsiteY9" fmla="*/ 29398 h 187842"/>
                      <a:gd name="connsiteX10" fmla="*/ 193533 w 260481"/>
                      <a:gd name="connsiteY10" fmla="*/ 12919 h 187842"/>
                      <a:gd name="connsiteX11" fmla="*/ 253616 w 260481"/>
                      <a:gd name="connsiteY11" fmla="*/ 75663 h 187842"/>
                      <a:gd name="connsiteX12" fmla="*/ 240335 w 260481"/>
                      <a:gd name="connsiteY12" fmla="*/ 187842 h 18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0481" h="187842">
                        <a:moveTo>
                          <a:pt x="240335" y="187842"/>
                        </a:moveTo>
                        <a:lnTo>
                          <a:pt x="226421" y="180871"/>
                        </a:lnTo>
                        <a:cubicBezTo>
                          <a:pt x="245394" y="143478"/>
                          <a:pt x="249822" y="110521"/>
                          <a:pt x="239070" y="81367"/>
                        </a:cubicBezTo>
                        <a:cubicBezTo>
                          <a:pt x="228951" y="53481"/>
                          <a:pt x="205550" y="35102"/>
                          <a:pt x="187841" y="28130"/>
                        </a:cubicBezTo>
                        <a:cubicBezTo>
                          <a:pt x="161277" y="16722"/>
                          <a:pt x="110048" y="4046"/>
                          <a:pt x="73365" y="40806"/>
                        </a:cubicBezTo>
                        <a:cubicBezTo>
                          <a:pt x="59451" y="54749"/>
                          <a:pt x="53127" y="73128"/>
                          <a:pt x="47435" y="90240"/>
                        </a:cubicBezTo>
                        <a:cubicBezTo>
                          <a:pt x="39845" y="113690"/>
                          <a:pt x="31623" y="138407"/>
                          <a:pt x="0" y="138407"/>
                        </a:cubicBezTo>
                        <a:lnTo>
                          <a:pt x="0" y="122563"/>
                        </a:lnTo>
                        <a:cubicBezTo>
                          <a:pt x="18974" y="122563"/>
                          <a:pt x="24033" y="110521"/>
                          <a:pt x="32255" y="85170"/>
                        </a:cubicBezTo>
                        <a:cubicBezTo>
                          <a:pt x="38580" y="66790"/>
                          <a:pt x="44905" y="46510"/>
                          <a:pt x="61981" y="29398"/>
                        </a:cubicBezTo>
                        <a:cubicBezTo>
                          <a:pt x="105621" y="-14333"/>
                          <a:pt x="163175" y="244"/>
                          <a:pt x="193533" y="12919"/>
                        </a:cubicBezTo>
                        <a:cubicBezTo>
                          <a:pt x="203652" y="17356"/>
                          <a:pt x="238437" y="34468"/>
                          <a:pt x="253616" y="75663"/>
                        </a:cubicBezTo>
                        <a:cubicBezTo>
                          <a:pt x="266266" y="109254"/>
                          <a:pt x="261206" y="146646"/>
                          <a:pt x="240335" y="18784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24" name="Picture Placeholder 95">
                    <a:extLst>
                      <a:ext uri="{FF2B5EF4-FFF2-40B4-BE49-F238E27FC236}">
                        <a16:creationId xmlns:a16="http://schemas.microsoft.com/office/drawing/2014/main" id="{41A2CF52-8481-F0EB-58DA-93F6C8936483}"/>
                      </a:ext>
                    </a:extLst>
                  </p:cNvPr>
                  <p:cNvSpPr/>
                  <p:nvPr/>
                </p:nvSpPr>
                <p:spPr>
                  <a:xfrm>
                    <a:off x="11252592" y="851999"/>
                    <a:ext cx="263103" cy="132723"/>
                  </a:xfrm>
                  <a:custGeom>
                    <a:avLst/>
                    <a:gdLst>
                      <a:gd name="connsiteX0" fmla="*/ 15812 w 263103"/>
                      <a:gd name="connsiteY0" fmla="*/ 132724 h 132723"/>
                      <a:gd name="connsiteX1" fmla="*/ 0 w 263103"/>
                      <a:gd name="connsiteY1" fmla="*/ 132724 h 132723"/>
                      <a:gd name="connsiteX2" fmla="*/ 91074 w 263103"/>
                      <a:gd name="connsiteY2" fmla="*/ 5968 h 132723"/>
                      <a:gd name="connsiteX3" fmla="*/ 263103 w 263103"/>
                      <a:gd name="connsiteY3" fmla="*/ 58572 h 132723"/>
                      <a:gd name="connsiteX4" fmla="*/ 250454 w 263103"/>
                      <a:gd name="connsiteY4" fmla="*/ 68079 h 132723"/>
                      <a:gd name="connsiteX5" fmla="*/ 94869 w 263103"/>
                      <a:gd name="connsiteY5" fmla="*/ 21179 h 132723"/>
                      <a:gd name="connsiteX6" fmla="*/ 15812 w 263103"/>
                      <a:gd name="connsiteY6" fmla="*/ 132724 h 13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103" h="132723">
                        <a:moveTo>
                          <a:pt x="15812" y="132724"/>
                        </a:moveTo>
                        <a:lnTo>
                          <a:pt x="0" y="132724"/>
                        </a:lnTo>
                        <a:cubicBezTo>
                          <a:pt x="0" y="131456"/>
                          <a:pt x="2530" y="24982"/>
                          <a:pt x="91074" y="5968"/>
                        </a:cubicBezTo>
                        <a:cubicBezTo>
                          <a:pt x="185943" y="-14946"/>
                          <a:pt x="237173" y="23080"/>
                          <a:pt x="263103" y="58572"/>
                        </a:cubicBezTo>
                        <a:lnTo>
                          <a:pt x="250454" y="68079"/>
                        </a:lnTo>
                        <a:cubicBezTo>
                          <a:pt x="227686" y="36390"/>
                          <a:pt x="181516" y="2799"/>
                          <a:pt x="94869" y="21179"/>
                        </a:cubicBezTo>
                        <a:cubicBezTo>
                          <a:pt x="18341" y="37657"/>
                          <a:pt x="15812" y="128921"/>
                          <a:pt x="15812" y="13272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sp>
              <p:nvSpPr>
                <p:cNvPr id="254" name="Picture Placeholder 95">
                  <a:extLst>
                    <a:ext uri="{FF2B5EF4-FFF2-40B4-BE49-F238E27FC236}">
                      <a16:creationId xmlns:a16="http://schemas.microsoft.com/office/drawing/2014/main" id="{CC298B88-A8E4-2998-BE34-EF19F3E8933C}"/>
                    </a:ext>
                  </a:extLst>
                </p:cNvPr>
                <p:cNvSpPr/>
                <p:nvPr/>
              </p:nvSpPr>
              <p:spPr>
                <a:xfrm>
                  <a:off x="11406912" y="768605"/>
                  <a:ext cx="227685" cy="228793"/>
                </a:xfrm>
                <a:custGeom>
                  <a:avLst/>
                  <a:gdLst>
                    <a:gd name="connsiteX0" fmla="*/ 227686 w 227685"/>
                    <a:gd name="connsiteY0" fmla="*/ 228794 h 228793"/>
                    <a:gd name="connsiteX1" fmla="*/ 0 w 227685"/>
                    <a:gd name="connsiteY1" fmla="*/ 0 h 228793"/>
                    <a:gd name="connsiteX2" fmla="*/ 0 w 227685"/>
                    <a:gd name="connsiteY2" fmla="*/ 15844 h 228793"/>
                    <a:gd name="connsiteX3" fmla="*/ 211874 w 227685"/>
                    <a:gd name="connsiteY3" fmla="*/ 228794 h 228793"/>
                    <a:gd name="connsiteX4" fmla="*/ 227686 w 227685"/>
                    <a:gd name="connsiteY4" fmla="*/ 228794 h 2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85" h="228793">
                      <a:moveTo>
                        <a:pt x="227686" y="228794"/>
                      </a:moveTo>
                      <a:cubicBezTo>
                        <a:pt x="216301" y="107742"/>
                        <a:pt x="120167" y="11408"/>
                        <a:pt x="0" y="0"/>
                      </a:cubicBezTo>
                      <a:lnTo>
                        <a:pt x="0" y="15844"/>
                      </a:lnTo>
                      <a:cubicBezTo>
                        <a:pt x="111945" y="27252"/>
                        <a:pt x="201122" y="116615"/>
                        <a:pt x="211874" y="228794"/>
                      </a:cubicBezTo>
                      <a:lnTo>
                        <a:pt x="227686" y="22879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40" name="Picture Placeholder 95">
                  <a:extLst>
                    <a:ext uri="{FF2B5EF4-FFF2-40B4-BE49-F238E27FC236}">
                      <a16:creationId xmlns:a16="http://schemas.microsoft.com/office/drawing/2014/main" id="{8D7B606D-B698-8EFD-3F68-63AA0AACE966}"/>
                    </a:ext>
                  </a:extLst>
                </p:cNvPr>
                <p:cNvSpPr/>
                <p:nvPr/>
              </p:nvSpPr>
              <p:spPr>
                <a:xfrm>
                  <a:off x="11081827" y="1013243"/>
                  <a:ext cx="63878" cy="15844"/>
                </a:xfrm>
                <a:custGeom>
                  <a:avLst/>
                  <a:gdLst>
                    <a:gd name="connsiteX0" fmla="*/ 0 w 63878"/>
                    <a:gd name="connsiteY0" fmla="*/ 0 h 15844"/>
                    <a:gd name="connsiteX1" fmla="*/ 63878 w 63878"/>
                    <a:gd name="connsiteY1" fmla="*/ 0 h 15844"/>
                    <a:gd name="connsiteX2" fmla="*/ 63878 w 63878"/>
                    <a:gd name="connsiteY2" fmla="*/ 15844 h 15844"/>
                    <a:gd name="connsiteX3" fmla="*/ 0 w 63878"/>
                    <a:gd name="connsiteY3" fmla="*/ 15844 h 15844"/>
                  </a:gdLst>
                  <a:ahLst/>
                  <a:cxnLst>
                    <a:cxn ang="0">
                      <a:pos x="connsiteX0" y="connsiteY0"/>
                    </a:cxn>
                    <a:cxn ang="0">
                      <a:pos x="connsiteX1" y="connsiteY1"/>
                    </a:cxn>
                    <a:cxn ang="0">
                      <a:pos x="connsiteX2" y="connsiteY2"/>
                    </a:cxn>
                    <a:cxn ang="0">
                      <a:pos x="connsiteX3" y="connsiteY3"/>
                    </a:cxn>
                  </a:cxnLst>
                  <a:rect l="l" t="t" r="r" b="b"/>
                  <a:pathLst>
                    <a:path w="63878" h="15844">
                      <a:moveTo>
                        <a:pt x="0" y="0"/>
                      </a:moveTo>
                      <a:lnTo>
                        <a:pt x="63878" y="0"/>
                      </a:lnTo>
                      <a:lnTo>
                        <a:pt x="63878"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374" name="Picture Placeholder 95">
                  <a:extLst>
                    <a:ext uri="{FF2B5EF4-FFF2-40B4-BE49-F238E27FC236}">
                      <a16:creationId xmlns:a16="http://schemas.microsoft.com/office/drawing/2014/main" id="{8B3D0311-3067-13AE-54E9-9E62010BE822}"/>
                    </a:ext>
                  </a:extLst>
                </p:cNvPr>
                <p:cNvSpPr/>
                <p:nvPr/>
              </p:nvSpPr>
              <p:spPr>
                <a:xfrm>
                  <a:off x="11373392" y="720438"/>
                  <a:ext cx="15811" cy="63377"/>
                </a:xfrm>
                <a:custGeom>
                  <a:avLst/>
                  <a:gdLst>
                    <a:gd name="connsiteX0" fmla="*/ 0 w 15811"/>
                    <a:gd name="connsiteY0" fmla="*/ 0 h 63377"/>
                    <a:gd name="connsiteX1" fmla="*/ 15812 w 15811"/>
                    <a:gd name="connsiteY1" fmla="*/ 0 h 63377"/>
                    <a:gd name="connsiteX2" fmla="*/ 15812 w 15811"/>
                    <a:gd name="connsiteY2" fmla="*/ 63378 h 63377"/>
                    <a:gd name="connsiteX3" fmla="*/ 0 w 15811"/>
                    <a:gd name="connsiteY3" fmla="*/ 63378 h 63377"/>
                  </a:gdLst>
                  <a:ahLst/>
                  <a:cxnLst>
                    <a:cxn ang="0">
                      <a:pos x="connsiteX0" y="connsiteY0"/>
                    </a:cxn>
                    <a:cxn ang="0">
                      <a:pos x="connsiteX1" y="connsiteY1"/>
                    </a:cxn>
                    <a:cxn ang="0">
                      <a:pos x="connsiteX2" y="connsiteY2"/>
                    </a:cxn>
                    <a:cxn ang="0">
                      <a:pos x="connsiteX3" y="connsiteY3"/>
                    </a:cxn>
                  </a:cxnLst>
                  <a:rect l="l" t="t" r="r" b="b"/>
                  <a:pathLst>
                    <a:path w="15811" h="63377">
                      <a:moveTo>
                        <a:pt x="0" y="0"/>
                      </a:moveTo>
                      <a:lnTo>
                        <a:pt x="15812" y="0"/>
                      </a:lnTo>
                      <a:lnTo>
                        <a:pt x="15812" y="63378"/>
                      </a:lnTo>
                      <a:lnTo>
                        <a:pt x="0" y="6337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06" name="Picture Placeholder 95">
                  <a:extLst>
                    <a:ext uri="{FF2B5EF4-FFF2-40B4-BE49-F238E27FC236}">
                      <a16:creationId xmlns:a16="http://schemas.microsoft.com/office/drawing/2014/main" id="{69B5BF8D-4A3C-BA68-9B21-AA120CB2CBDA}"/>
                    </a:ext>
                  </a:extLst>
                </p:cNvPr>
                <p:cNvSpPr/>
                <p:nvPr/>
              </p:nvSpPr>
              <p:spPr>
                <a:xfrm>
                  <a:off x="11619418" y="1013243"/>
                  <a:ext cx="62613" cy="15844"/>
                </a:xfrm>
                <a:custGeom>
                  <a:avLst/>
                  <a:gdLst>
                    <a:gd name="connsiteX0" fmla="*/ 0 w 62613"/>
                    <a:gd name="connsiteY0" fmla="*/ 0 h 15844"/>
                    <a:gd name="connsiteX1" fmla="*/ 62614 w 62613"/>
                    <a:gd name="connsiteY1" fmla="*/ 0 h 15844"/>
                    <a:gd name="connsiteX2" fmla="*/ 62614 w 62613"/>
                    <a:gd name="connsiteY2" fmla="*/ 15844 h 15844"/>
                    <a:gd name="connsiteX3" fmla="*/ 0 w 6261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62613" h="15844">
                      <a:moveTo>
                        <a:pt x="0" y="0"/>
                      </a:moveTo>
                      <a:lnTo>
                        <a:pt x="62614" y="0"/>
                      </a:lnTo>
                      <a:lnTo>
                        <a:pt x="62614"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07" name="Picture Placeholder 95">
                  <a:extLst>
                    <a:ext uri="{FF2B5EF4-FFF2-40B4-BE49-F238E27FC236}">
                      <a16:creationId xmlns:a16="http://schemas.microsoft.com/office/drawing/2014/main" id="{365ECA44-F14E-DBDD-2CA3-DC4C5B1F0E0A}"/>
                    </a:ext>
                  </a:extLst>
                </p:cNvPr>
                <p:cNvSpPr/>
                <p:nvPr/>
              </p:nvSpPr>
              <p:spPr>
                <a:xfrm>
                  <a:off x="11405015" y="1043664"/>
                  <a:ext cx="229582" cy="229427"/>
                </a:xfrm>
                <a:custGeom>
                  <a:avLst/>
                  <a:gdLst>
                    <a:gd name="connsiteX0" fmla="*/ 213771 w 229582"/>
                    <a:gd name="connsiteY0" fmla="*/ 634 h 229427"/>
                    <a:gd name="connsiteX1" fmla="*/ 0 w 229582"/>
                    <a:gd name="connsiteY1" fmla="*/ 213583 h 229427"/>
                    <a:gd name="connsiteX2" fmla="*/ 0 w 229582"/>
                    <a:gd name="connsiteY2" fmla="*/ 229428 h 229427"/>
                    <a:gd name="connsiteX3" fmla="*/ 229583 w 229582"/>
                    <a:gd name="connsiteY3" fmla="*/ 0 h 229427"/>
                    <a:gd name="connsiteX4" fmla="*/ 213771 w 229582"/>
                    <a:gd name="connsiteY4" fmla="*/ 0 h 229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82" h="229427">
                      <a:moveTo>
                        <a:pt x="213771" y="634"/>
                      </a:moveTo>
                      <a:cubicBezTo>
                        <a:pt x="203020" y="113446"/>
                        <a:pt x="113210" y="203443"/>
                        <a:pt x="0" y="213583"/>
                      </a:cubicBezTo>
                      <a:lnTo>
                        <a:pt x="0" y="229428"/>
                      </a:lnTo>
                      <a:cubicBezTo>
                        <a:pt x="121432" y="218654"/>
                        <a:pt x="218199" y="121685"/>
                        <a:pt x="229583" y="0"/>
                      </a:cubicBezTo>
                      <a:lnTo>
                        <a:pt x="213771"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08" name="Picture Placeholder 95">
                  <a:extLst>
                    <a:ext uri="{FF2B5EF4-FFF2-40B4-BE49-F238E27FC236}">
                      <a16:creationId xmlns:a16="http://schemas.microsoft.com/office/drawing/2014/main" id="{824AEAB9-8A53-0170-132E-E78561B0FC78}"/>
                    </a:ext>
                  </a:extLst>
                </p:cNvPr>
                <p:cNvSpPr/>
                <p:nvPr/>
              </p:nvSpPr>
              <p:spPr>
                <a:xfrm>
                  <a:off x="11130527" y="769238"/>
                  <a:ext cx="225788" cy="228160"/>
                </a:xfrm>
                <a:custGeom>
                  <a:avLst/>
                  <a:gdLst>
                    <a:gd name="connsiteX0" fmla="*/ 0 w 225788"/>
                    <a:gd name="connsiteY0" fmla="*/ 228160 h 228160"/>
                    <a:gd name="connsiteX1" fmla="*/ 15812 w 225788"/>
                    <a:gd name="connsiteY1" fmla="*/ 228160 h 228160"/>
                    <a:gd name="connsiteX2" fmla="*/ 225788 w 225788"/>
                    <a:gd name="connsiteY2" fmla="*/ 15844 h 228160"/>
                    <a:gd name="connsiteX3" fmla="*/ 225788 w 225788"/>
                    <a:gd name="connsiteY3" fmla="*/ 0 h 228160"/>
                    <a:gd name="connsiteX4" fmla="*/ 0 w 225788"/>
                    <a:gd name="connsiteY4" fmla="*/ 228160 h 228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788" h="228160">
                      <a:moveTo>
                        <a:pt x="0" y="228160"/>
                      </a:moveTo>
                      <a:lnTo>
                        <a:pt x="15812" y="228160"/>
                      </a:lnTo>
                      <a:cubicBezTo>
                        <a:pt x="26563" y="116615"/>
                        <a:pt x="115108" y="27886"/>
                        <a:pt x="225788" y="15844"/>
                      </a:cubicBezTo>
                      <a:lnTo>
                        <a:pt x="225788" y="0"/>
                      </a:lnTo>
                      <a:cubicBezTo>
                        <a:pt x="106886" y="12042"/>
                        <a:pt x="11384" y="108376"/>
                        <a:pt x="0" y="22816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09" name="Picture Placeholder 95">
                  <a:extLst>
                    <a:ext uri="{FF2B5EF4-FFF2-40B4-BE49-F238E27FC236}">
                      <a16:creationId xmlns:a16="http://schemas.microsoft.com/office/drawing/2014/main" id="{7D300D95-9D64-330D-0E20-A125E9D017B7}"/>
                    </a:ext>
                  </a:extLst>
                </p:cNvPr>
                <p:cNvSpPr/>
                <p:nvPr/>
              </p:nvSpPr>
              <p:spPr>
                <a:xfrm>
                  <a:off x="11130527" y="1044298"/>
                  <a:ext cx="227685" cy="228793"/>
                </a:xfrm>
                <a:custGeom>
                  <a:avLst/>
                  <a:gdLst>
                    <a:gd name="connsiteX0" fmla="*/ 15812 w 227685"/>
                    <a:gd name="connsiteY0" fmla="*/ 0 h 228793"/>
                    <a:gd name="connsiteX1" fmla="*/ 0 w 227685"/>
                    <a:gd name="connsiteY1" fmla="*/ 0 h 228793"/>
                    <a:gd name="connsiteX2" fmla="*/ 227686 w 227685"/>
                    <a:gd name="connsiteY2" fmla="*/ 228794 h 228793"/>
                    <a:gd name="connsiteX3" fmla="*/ 227686 w 227685"/>
                    <a:gd name="connsiteY3" fmla="*/ 212950 h 228793"/>
                    <a:gd name="connsiteX4" fmla="*/ 15812 w 227685"/>
                    <a:gd name="connsiteY4" fmla="*/ 0 h 2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85" h="228793">
                      <a:moveTo>
                        <a:pt x="15812" y="0"/>
                      </a:moveTo>
                      <a:lnTo>
                        <a:pt x="0" y="0"/>
                      </a:lnTo>
                      <a:cubicBezTo>
                        <a:pt x="11384" y="120418"/>
                        <a:pt x="106886" y="217386"/>
                        <a:pt x="227686" y="228794"/>
                      </a:cubicBezTo>
                      <a:lnTo>
                        <a:pt x="227686" y="212950"/>
                      </a:lnTo>
                      <a:cubicBezTo>
                        <a:pt x="115740" y="201541"/>
                        <a:pt x="27196" y="111545"/>
                        <a:pt x="15812"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grpSp>
        <p:nvGrpSpPr>
          <p:cNvPr id="427" name="Group 426">
            <a:extLst>
              <a:ext uri="{FF2B5EF4-FFF2-40B4-BE49-F238E27FC236}">
                <a16:creationId xmlns:a16="http://schemas.microsoft.com/office/drawing/2014/main" id="{722951C2-6884-1DA0-B84D-C01E606999E3}"/>
              </a:ext>
            </a:extLst>
          </p:cNvPr>
          <p:cNvGrpSpPr/>
          <p:nvPr/>
        </p:nvGrpSpPr>
        <p:grpSpPr>
          <a:xfrm>
            <a:off x="1075047" y="3517925"/>
            <a:ext cx="758008" cy="2475217"/>
            <a:chOff x="9973774" y="3527622"/>
            <a:chExt cx="758008" cy="2475217"/>
          </a:xfrm>
        </p:grpSpPr>
        <p:cxnSp>
          <p:nvCxnSpPr>
            <p:cNvPr id="428" name="Straight Connector 427">
              <a:extLst>
                <a:ext uri="{FF2B5EF4-FFF2-40B4-BE49-F238E27FC236}">
                  <a16:creationId xmlns:a16="http://schemas.microsoft.com/office/drawing/2014/main" id="{AD894713-B1CD-F8CC-8DB6-CC2FE704EA61}"/>
                </a:ext>
              </a:extLst>
            </p:cNvPr>
            <p:cNvCxnSpPr>
              <a:cxnSpLocks/>
            </p:cNvCxnSpPr>
            <p:nvPr/>
          </p:nvCxnSpPr>
          <p:spPr bwMode="gray">
            <a:xfrm>
              <a:off x="10354009" y="3527622"/>
              <a:ext cx="0" cy="1554480"/>
            </a:xfrm>
            <a:prstGeom prst="line">
              <a:avLst/>
            </a:prstGeom>
            <a:ln w="12700">
              <a:solidFill>
                <a:schemeClr val="tx1"/>
              </a:solidFill>
              <a:prstDash val="solid"/>
              <a:miter lim="800000"/>
              <a:tailEnd type="none"/>
            </a:ln>
          </p:spPr>
          <p:style>
            <a:lnRef idx="1">
              <a:schemeClr val="accent1"/>
            </a:lnRef>
            <a:fillRef idx="0">
              <a:schemeClr val="accent1"/>
            </a:fillRef>
            <a:effectRef idx="0">
              <a:schemeClr val="accent1"/>
            </a:effectRef>
            <a:fontRef idx="minor">
              <a:schemeClr val="tx1"/>
            </a:fontRef>
          </p:style>
        </p:cxnSp>
        <p:sp>
          <p:nvSpPr>
            <p:cNvPr id="429" name="Oval 428">
              <a:extLst>
                <a:ext uri="{FF2B5EF4-FFF2-40B4-BE49-F238E27FC236}">
                  <a16:creationId xmlns:a16="http://schemas.microsoft.com/office/drawing/2014/main" id="{1BC6DDBC-FFFF-6043-A7DB-6264CF1934C7}"/>
                </a:ext>
              </a:extLst>
            </p:cNvPr>
            <p:cNvSpPr/>
            <p:nvPr/>
          </p:nvSpPr>
          <p:spPr>
            <a:xfrm rot="10800000">
              <a:off x="10113948" y="5074102"/>
              <a:ext cx="480121" cy="480121"/>
            </a:xfrm>
            <a:prstGeom prst="ellipse">
              <a:avLst/>
            </a:prstGeom>
            <a:solidFill>
              <a:schemeClr val="bg1"/>
            </a:solidFill>
            <a:ln w="12700">
              <a:solidFill>
                <a:schemeClr val="tx1"/>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296" tIns="45648" rIns="91296" bIns="45648" numCol="1" spcCol="0" rtlCol="0" fromWordArt="0" anchor="ctr" anchorCtr="0" forceAA="0" compatLnSpc="1">
              <a:prstTxWarp prst="textNoShape">
                <a:avLst/>
              </a:prstTxWarp>
              <a:noAutofit/>
            </a:bodyPr>
            <a:lstStyle/>
            <a:p>
              <a:pPr marL="0" marR="0" lvl="0" indent="0" algn="ctr" defTabSz="913030" rtl="0" eaLnBrk="1" fontAlgn="auto" latinLnBrk="0" hangingPunct="1">
                <a:lnSpc>
                  <a:spcPct val="100000"/>
                </a:lnSpc>
                <a:spcBef>
                  <a:spcPts val="0"/>
                </a:spcBef>
                <a:spcAft>
                  <a:spcPts val="600"/>
                </a:spcAft>
                <a:buClr>
                  <a:srgbClr val="000000"/>
                </a:buClr>
                <a:buSzTx/>
                <a:buFontTx/>
                <a:buNone/>
                <a:tabLst/>
                <a:defRPr/>
              </a:pPr>
              <a:endParaRPr kumimoji="0" lang="en-US" sz="105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endParaRPr>
            </a:p>
          </p:txBody>
        </p:sp>
        <p:sp>
          <p:nvSpPr>
            <p:cNvPr id="430" name="Rounded Rectangle 38">
              <a:extLst>
                <a:ext uri="{FF2B5EF4-FFF2-40B4-BE49-F238E27FC236}">
                  <a16:creationId xmlns:a16="http://schemas.microsoft.com/office/drawing/2014/main" id="{3807C1A5-8B35-12D8-8D73-FDC0AE85D49C}"/>
                </a:ext>
              </a:extLst>
            </p:cNvPr>
            <p:cNvSpPr/>
            <p:nvPr/>
          </p:nvSpPr>
          <p:spPr>
            <a:xfrm>
              <a:off x="9973774" y="5623835"/>
              <a:ext cx="758008" cy="379004"/>
            </a:xfrm>
            <a:prstGeom prst="rect">
              <a:avLst/>
            </a:prstGeom>
            <a:noFill/>
            <a:ln w="25400">
              <a:no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marR="0" lvl="0" indent="0" algn="ctr" defTabSz="912756" rtl="0" eaLnBrk="1" fontAlgn="auto" latinLnBrk="0" hangingPunct="1">
                <a:lnSpc>
                  <a:spcPct val="100000"/>
                </a:lnSpc>
                <a:spcBef>
                  <a:spcPts val="0"/>
                </a:spcBef>
                <a:spcAft>
                  <a:spcPts val="0"/>
                </a:spcAft>
                <a:buClr>
                  <a:srgbClr val="000000"/>
                </a:buClr>
                <a:buSzTx/>
                <a:buFontTx/>
                <a:buNone/>
                <a:tabLst/>
                <a:defRPr/>
              </a:pP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Host</a:t>
              </a:r>
              <a:b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br>
              <a:r>
                <a:rPr kumimoji="0" lang="en-US" sz="1100" b="0" i="0" u="none" strike="noStrike" kern="0" cap="none" spc="0" normalizeH="0" baseline="0" noProof="0" dirty="0">
                  <a:ln>
                    <a:noFill/>
                  </a:ln>
                  <a:solidFill>
                    <a:srgbClr val="000001"/>
                  </a:solidFill>
                  <a:effectLst/>
                  <a:uLnTx/>
                  <a:uFillTx/>
                  <a:latin typeface="Arial" panose="020B0604020202020204" pitchFamily="34" charset="0"/>
                  <a:ea typeface="+mn-ea"/>
                  <a:cs typeface="+mn-cs"/>
                  <a:sym typeface="Arial" panose="020B0604020202020204" pitchFamily="34" charset="0"/>
                </a:rPr>
                <a:t>Attestation</a:t>
              </a:r>
            </a:p>
          </p:txBody>
        </p:sp>
        <p:grpSp>
          <p:nvGrpSpPr>
            <p:cNvPr id="431" name="Picture Placeholder 95" descr="Detections 3&#10;">
              <a:extLst>
                <a:ext uri="{FF2B5EF4-FFF2-40B4-BE49-F238E27FC236}">
                  <a16:creationId xmlns:a16="http://schemas.microsoft.com/office/drawing/2014/main" id="{E1C9178D-0DC8-3ED9-7AED-2C3AA7B336C3}"/>
                </a:ext>
              </a:extLst>
            </p:cNvPr>
            <p:cNvGrpSpPr>
              <a:grpSpLocks noChangeAspect="1"/>
            </p:cNvGrpSpPr>
            <p:nvPr/>
          </p:nvGrpSpPr>
          <p:grpSpPr>
            <a:xfrm>
              <a:off x="10173073" y="5134714"/>
              <a:ext cx="365760" cy="366898"/>
              <a:chOff x="11081827" y="720438"/>
              <a:chExt cx="600204" cy="602073"/>
            </a:xfrm>
            <a:solidFill>
              <a:schemeClr val="tx1"/>
            </a:solidFill>
          </p:grpSpPr>
          <p:sp>
            <p:nvSpPr>
              <p:cNvPr id="432" name="Picture Placeholder 95">
                <a:extLst>
                  <a:ext uri="{FF2B5EF4-FFF2-40B4-BE49-F238E27FC236}">
                    <a16:creationId xmlns:a16="http://schemas.microsoft.com/office/drawing/2014/main" id="{657F1B18-8B02-9100-8A0F-77E6A95ECEC4}"/>
                  </a:ext>
                </a:extLst>
              </p:cNvPr>
              <p:cNvSpPr/>
              <p:nvPr/>
            </p:nvSpPr>
            <p:spPr>
              <a:xfrm>
                <a:off x="11373392" y="1258515"/>
                <a:ext cx="15811" cy="62744"/>
              </a:xfrm>
              <a:custGeom>
                <a:avLst/>
                <a:gdLst>
                  <a:gd name="connsiteX0" fmla="*/ 0 w 15811"/>
                  <a:gd name="connsiteY0" fmla="*/ 0 h 62744"/>
                  <a:gd name="connsiteX1" fmla="*/ 15812 w 15811"/>
                  <a:gd name="connsiteY1" fmla="*/ 0 h 62744"/>
                  <a:gd name="connsiteX2" fmla="*/ 15812 w 15811"/>
                  <a:gd name="connsiteY2" fmla="*/ 62744 h 62744"/>
                  <a:gd name="connsiteX3" fmla="*/ 0 w 15811"/>
                  <a:gd name="connsiteY3" fmla="*/ 62744 h 62744"/>
                </a:gdLst>
                <a:ahLst/>
                <a:cxnLst>
                  <a:cxn ang="0">
                    <a:pos x="connsiteX0" y="connsiteY0"/>
                  </a:cxn>
                  <a:cxn ang="0">
                    <a:pos x="connsiteX1" y="connsiteY1"/>
                  </a:cxn>
                  <a:cxn ang="0">
                    <a:pos x="connsiteX2" y="connsiteY2"/>
                  </a:cxn>
                  <a:cxn ang="0">
                    <a:pos x="connsiteX3" y="connsiteY3"/>
                  </a:cxn>
                </a:cxnLst>
                <a:rect l="l" t="t" r="r" b="b"/>
                <a:pathLst>
                  <a:path w="15811" h="62744">
                    <a:moveTo>
                      <a:pt x="0" y="0"/>
                    </a:moveTo>
                    <a:lnTo>
                      <a:pt x="15812" y="0"/>
                    </a:lnTo>
                    <a:lnTo>
                      <a:pt x="15812" y="62744"/>
                    </a:lnTo>
                    <a:lnTo>
                      <a:pt x="0" y="627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nvGrpSpPr>
              <p:cNvPr id="433" name="Picture Placeholder 95">
                <a:extLst>
                  <a:ext uri="{FF2B5EF4-FFF2-40B4-BE49-F238E27FC236}">
                    <a16:creationId xmlns:a16="http://schemas.microsoft.com/office/drawing/2014/main" id="{7007EB63-2E5D-0FE3-2353-4E8C13FEF6C8}"/>
                  </a:ext>
                </a:extLst>
              </p:cNvPr>
              <p:cNvGrpSpPr/>
              <p:nvPr/>
            </p:nvGrpSpPr>
            <p:grpSpPr>
              <a:xfrm>
                <a:off x="11081827" y="720438"/>
                <a:ext cx="600204" cy="553805"/>
                <a:chOff x="11081827" y="720438"/>
                <a:chExt cx="600204" cy="553805"/>
              </a:xfrm>
              <a:grpFill/>
            </p:grpSpPr>
            <p:grpSp>
              <p:nvGrpSpPr>
                <p:cNvPr id="434" name="Picture Placeholder 95">
                  <a:extLst>
                    <a:ext uri="{FF2B5EF4-FFF2-40B4-BE49-F238E27FC236}">
                      <a16:creationId xmlns:a16="http://schemas.microsoft.com/office/drawing/2014/main" id="{B19DAACB-8B48-BF70-9E89-4F50F153B33C}"/>
                    </a:ext>
                  </a:extLst>
                </p:cNvPr>
                <p:cNvGrpSpPr/>
                <p:nvPr/>
              </p:nvGrpSpPr>
              <p:grpSpPr>
                <a:xfrm>
                  <a:off x="11252592" y="851999"/>
                  <a:ext cx="263103" cy="338137"/>
                  <a:chOff x="11252592" y="851999"/>
                  <a:chExt cx="263103" cy="338137"/>
                </a:xfrm>
                <a:grpFill/>
              </p:grpSpPr>
              <p:sp>
                <p:nvSpPr>
                  <p:cNvPr id="442" name="Picture Placeholder 95">
                    <a:extLst>
                      <a:ext uri="{FF2B5EF4-FFF2-40B4-BE49-F238E27FC236}">
                        <a16:creationId xmlns:a16="http://schemas.microsoft.com/office/drawing/2014/main" id="{EEA480FA-DCA8-DC9A-9205-B0959AB4C2C6}"/>
                      </a:ext>
                    </a:extLst>
                  </p:cNvPr>
                  <p:cNvSpPr/>
                  <p:nvPr/>
                </p:nvSpPr>
                <p:spPr>
                  <a:xfrm>
                    <a:off x="11326589" y="1114014"/>
                    <a:ext cx="125859" cy="61476"/>
                  </a:xfrm>
                  <a:custGeom>
                    <a:avLst/>
                    <a:gdLst>
                      <a:gd name="connsiteX0" fmla="*/ 4427 w 125859"/>
                      <a:gd name="connsiteY0" fmla="*/ 61477 h 61476"/>
                      <a:gd name="connsiteX1" fmla="*/ 0 w 125859"/>
                      <a:gd name="connsiteY1" fmla="*/ 46266 h 61476"/>
                      <a:gd name="connsiteX2" fmla="*/ 67673 w 125859"/>
                      <a:gd name="connsiteY2" fmla="*/ 0 h 61476"/>
                      <a:gd name="connsiteX3" fmla="*/ 80955 w 125859"/>
                      <a:gd name="connsiteY3" fmla="*/ 0 h 61476"/>
                      <a:gd name="connsiteX4" fmla="*/ 125860 w 125859"/>
                      <a:gd name="connsiteY4" fmla="*/ 34858 h 61476"/>
                      <a:gd name="connsiteX5" fmla="*/ 120800 w 125859"/>
                      <a:gd name="connsiteY5" fmla="*/ 50068 h 61476"/>
                      <a:gd name="connsiteX6" fmla="*/ 73998 w 125859"/>
                      <a:gd name="connsiteY6" fmla="*/ 17746 h 61476"/>
                      <a:gd name="connsiteX7" fmla="*/ 4427 w 125859"/>
                      <a:gd name="connsiteY7" fmla="*/ 61477 h 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59" h="61476">
                        <a:moveTo>
                          <a:pt x="4427" y="61477"/>
                        </a:moveTo>
                        <a:lnTo>
                          <a:pt x="0" y="46266"/>
                        </a:lnTo>
                        <a:cubicBezTo>
                          <a:pt x="632" y="46266"/>
                          <a:pt x="45537" y="32957"/>
                          <a:pt x="67673" y="0"/>
                        </a:cubicBezTo>
                        <a:lnTo>
                          <a:pt x="80955" y="0"/>
                        </a:lnTo>
                        <a:cubicBezTo>
                          <a:pt x="80955" y="0"/>
                          <a:pt x="97399" y="25351"/>
                          <a:pt x="125860" y="34858"/>
                        </a:cubicBezTo>
                        <a:lnTo>
                          <a:pt x="120800" y="50068"/>
                        </a:lnTo>
                        <a:cubicBezTo>
                          <a:pt x="98031" y="42463"/>
                          <a:pt x="82220" y="27252"/>
                          <a:pt x="73998" y="17746"/>
                        </a:cubicBezTo>
                        <a:cubicBezTo>
                          <a:pt x="47435" y="48801"/>
                          <a:pt x="6325" y="60843"/>
                          <a:pt x="4427" y="61477"/>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3" name="Picture Placeholder 95">
                    <a:extLst>
                      <a:ext uri="{FF2B5EF4-FFF2-40B4-BE49-F238E27FC236}">
                        <a16:creationId xmlns:a16="http://schemas.microsoft.com/office/drawing/2014/main" id="{D3107DB1-B2B1-8D0D-F3EE-032A94C5C899}"/>
                      </a:ext>
                    </a:extLst>
                  </p:cNvPr>
                  <p:cNvSpPr/>
                  <p:nvPr/>
                </p:nvSpPr>
                <p:spPr>
                  <a:xfrm>
                    <a:off x="11367067" y="1148872"/>
                    <a:ext cx="46169" cy="40561"/>
                  </a:xfrm>
                  <a:custGeom>
                    <a:avLst/>
                    <a:gdLst>
                      <a:gd name="connsiteX0" fmla="*/ 3795 w 46169"/>
                      <a:gd name="connsiteY0" fmla="*/ 40562 h 40561"/>
                      <a:gd name="connsiteX1" fmla="*/ 0 w 46169"/>
                      <a:gd name="connsiteY1" fmla="*/ 25351 h 40561"/>
                      <a:gd name="connsiteX2" fmla="*/ 32255 w 46169"/>
                      <a:gd name="connsiteY2" fmla="*/ 0 h 40561"/>
                      <a:gd name="connsiteX3" fmla="*/ 46170 w 46169"/>
                      <a:gd name="connsiteY3" fmla="*/ 7605 h 40561"/>
                      <a:gd name="connsiteX4" fmla="*/ 3795 w 46169"/>
                      <a:gd name="connsiteY4" fmla="*/ 40562 h 40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9" h="40561">
                        <a:moveTo>
                          <a:pt x="3795" y="40562"/>
                        </a:moveTo>
                        <a:lnTo>
                          <a:pt x="0" y="25351"/>
                        </a:lnTo>
                        <a:cubicBezTo>
                          <a:pt x="0" y="25351"/>
                          <a:pt x="20871" y="20281"/>
                          <a:pt x="32255" y="0"/>
                        </a:cubicBezTo>
                        <a:lnTo>
                          <a:pt x="46170" y="7605"/>
                        </a:lnTo>
                        <a:cubicBezTo>
                          <a:pt x="31623" y="34224"/>
                          <a:pt x="5060" y="40562"/>
                          <a:pt x="3795" y="4056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4" name="Picture Placeholder 95">
                    <a:extLst>
                      <a:ext uri="{FF2B5EF4-FFF2-40B4-BE49-F238E27FC236}">
                        <a16:creationId xmlns:a16="http://schemas.microsoft.com/office/drawing/2014/main" id="{1A74D2D6-BFF4-CABE-F70A-279C001C5522}"/>
                      </a:ext>
                    </a:extLst>
                  </p:cNvPr>
                  <p:cNvSpPr/>
                  <p:nvPr/>
                </p:nvSpPr>
                <p:spPr>
                  <a:xfrm>
                    <a:off x="11413237" y="1082959"/>
                    <a:ext cx="67040" cy="51969"/>
                  </a:xfrm>
                  <a:custGeom>
                    <a:avLst/>
                    <a:gdLst>
                      <a:gd name="connsiteX0" fmla="*/ 63878 w 67040"/>
                      <a:gd name="connsiteY0" fmla="*/ 51970 h 51969"/>
                      <a:gd name="connsiteX1" fmla="*/ 0 w 67040"/>
                      <a:gd name="connsiteY1" fmla="*/ 5070 h 51969"/>
                      <a:gd name="connsiteX2" fmla="*/ 15179 w 67040"/>
                      <a:gd name="connsiteY2" fmla="*/ 0 h 51969"/>
                      <a:gd name="connsiteX3" fmla="*/ 67041 w 67040"/>
                      <a:gd name="connsiteY3" fmla="*/ 36759 h 51969"/>
                      <a:gd name="connsiteX4" fmla="*/ 63878 w 67040"/>
                      <a:gd name="connsiteY4" fmla="*/ 51970 h 51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40" h="51969">
                        <a:moveTo>
                          <a:pt x="63878" y="51970"/>
                        </a:moveTo>
                        <a:cubicBezTo>
                          <a:pt x="61981" y="51336"/>
                          <a:pt x="13282" y="43097"/>
                          <a:pt x="0" y="5070"/>
                        </a:cubicBezTo>
                        <a:lnTo>
                          <a:pt x="15179" y="0"/>
                        </a:lnTo>
                        <a:cubicBezTo>
                          <a:pt x="25931" y="29788"/>
                          <a:pt x="66408" y="36759"/>
                          <a:pt x="67041" y="36759"/>
                        </a:cubicBezTo>
                        <a:lnTo>
                          <a:pt x="63878" y="5197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5" name="Picture Placeholder 95">
                    <a:extLst>
                      <a:ext uri="{FF2B5EF4-FFF2-40B4-BE49-F238E27FC236}">
                        <a16:creationId xmlns:a16="http://schemas.microsoft.com/office/drawing/2014/main" id="{511DA5F9-5E8C-2603-3CFE-C357D2D0D1A8}"/>
                      </a:ext>
                    </a:extLst>
                  </p:cNvPr>
                  <p:cNvSpPr/>
                  <p:nvPr/>
                </p:nvSpPr>
                <p:spPr>
                  <a:xfrm>
                    <a:off x="11258916" y="920426"/>
                    <a:ext cx="234010" cy="187883"/>
                  </a:xfrm>
                  <a:custGeom>
                    <a:avLst/>
                    <a:gdLst>
                      <a:gd name="connsiteX0" fmla="*/ 230848 w 234010"/>
                      <a:gd name="connsiteY0" fmla="*/ 187884 h 187883"/>
                      <a:gd name="connsiteX1" fmla="*/ 184678 w 234010"/>
                      <a:gd name="connsiteY1" fmla="*/ 139716 h 187883"/>
                      <a:gd name="connsiteX2" fmla="*/ 194165 w 234010"/>
                      <a:gd name="connsiteY2" fmla="*/ 112464 h 187883"/>
                      <a:gd name="connsiteX3" fmla="*/ 199857 w 234010"/>
                      <a:gd name="connsiteY3" fmla="*/ 51621 h 187883"/>
                      <a:gd name="connsiteX4" fmla="*/ 161910 w 234010"/>
                      <a:gd name="connsiteY4" fmla="*/ 19932 h 187883"/>
                      <a:gd name="connsiteX5" fmla="*/ 108151 w 234010"/>
                      <a:gd name="connsiteY5" fmla="*/ 22467 h 187883"/>
                      <a:gd name="connsiteX6" fmla="*/ 78425 w 234010"/>
                      <a:gd name="connsiteY6" fmla="*/ 68733 h 187883"/>
                      <a:gd name="connsiteX7" fmla="*/ 5060 w 234010"/>
                      <a:gd name="connsiteY7" fmla="*/ 147322 h 187883"/>
                      <a:gd name="connsiteX8" fmla="*/ 0 w 234010"/>
                      <a:gd name="connsiteY8" fmla="*/ 132111 h 187883"/>
                      <a:gd name="connsiteX9" fmla="*/ 63246 w 234010"/>
                      <a:gd name="connsiteY9" fmla="*/ 64297 h 187883"/>
                      <a:gd name="connsiteX10" fmla="*/ 100561 w 234010"/>
                      <a:gd name="connsiteY10" fmla="*/ 9158 h 187883"/>
                      <a:gd name="connsiteX11" fmla="*/ 166969 w 234010"/>
                      <a:gd name="connsiteY11" fmla="*/ 5355 h 187883"/>
                      <a:gd name="connsiteX12" fmla="*/ 214404 w 234010"/>
                      <a:gd name="connsiteY12" fmla="*/ 45917 h 187883"/>
                      <a:gd name="connsiteX13" fmla="*/ 208712 w 234010"/>
                      <a:gd name="connsiteY13" fmla="*/ 119436 h 187883"/>
                      <a:gd name="connsiteX14" fmla="*/ 200490 w 234010"/>
                      <a:gd name="connsiteY14" fmla="*/ 143519 h 187883"/>
                      <a:gd name="connsiteX15" fmla="*/ 234010 w 234010"/>
                      <a:gd name="connsiteY15" fmla="*/ 173307 h 187883"/>
                      <a:gd name="connsiteX16" fmla="*/ 230848 w 234010"/>
                      <a:gd name="connsiteY16" fmla="*/ 187884 h 18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4010" h="187883">
                        <a:moveTo>
                          <a:pt x="230848" y="187884"/>
                        </a:moveTo>
                        <a:cubicBezTo>
                          <a:pt x="212507" y="184081"/>
                          <a:pt x="178986" y="170138"/>
                          <a:pt x="184678" y="139716"/>
                        </a:cubicBezTo>
                        <a:cubicBezTo>
                          <a:pt x="186576" y="130210"/>
                          <a:pt x="190370" y="121337"/>
                          <a:pt x="194165" y="112464"/>
                        </a:cubicBezTo>
                        <a:cubicBezTo>
                          <a:pt x="202387" y="93451"/>
                          <a:pt x="209977" y="75071"/>
                          <a:pt x="199857" y="51621"/>
                        </a:cubicBezTo>
                        <a:cubicBezTo>
                          <a:pt x="194165" y="38312"/>
                          <a:pt x="179619" y="26270"/>
                          <a:pt x="161910" y="19932"/>
                        </a:cubicBezTo>
                        <a:cubicBezTo>
                          <a:pt x="142936" y="13595"/>
                          <a:pt x="123962" y="14228"/>
                          <a:pt x="108151" y="22467"/>
                        </a:cubicBezTo>
                        <a:cubicBezTo>
                          <a:pt x="87912" y="33242"/>
                          <a:pt x="83485" y="49720"/>
                          <a:pt x="78425" y="68733"/>
                        </a:cubicBezTo>
                        <a:cubicBezTo>
                          <a:pt x="70836" y="96620"/>
                          <a:pt x="61981" y="127675"/>
                          <a:pt x="5060" y="147322"/>
                        </a:cubicBezTo>
                        <a:lnTo>
                          <a:pt x="0" y="132111"/>
                        </a:lnTo>
                        <a:cubicBezTo>
                          <a:pt x="48699" y="115633"/>
                          <a:pt x="55657" y="90915"/>
                          <a:pt x="63246" y="64297"/>
                        </a:cubicBezTo>
                        <a:cubicBezTo>
                          <a:pt x="68938" y="44016"/>
                          <a:pt x="75263" y="23101"/>
                          <a:pt x="100561" y="9158"/>
                        </a:cubicBezTo>
                        <a:cubicBezTo>
                          <a:pt x="120167" y="-1616"/>
                          <a:pt x="143568" y="-2884"/>
                          <a:pt x="166969" y="5355"/>
                        </a:cubicBezTo>
                        <a:cubicBezTo>
                          <a:pt x="189106" y="12961"/>
                          <a:pt x="206814" y="28171"/>
                          <a:pt x="214404" y="45917"/>
                        </a:cubicBezTo>
                        <a:cubicBezTo>
                          <a:pt x="227053" y="75705"/>
                          <a:pt x="217566" y="98521"/>
                          <a:pt x="208712" y="119436"/>
                        </a:cubicBezTo>
                        <a:cubicBezTo>
                          <a:pt x="204917" y="127675"/>
                          <a:pt x="201755" y="135914"/>
                          <a:pt x="200490" y="143519"/>
                        </a:cubicBezTo>
                        <a:cubicBezTo>
                          <a:pt x="196695" y="165701"/>
                          <a:pt x="234010" y="173307"/>
                          <a:pt x="234010" y="173307"/>
                        </a:cubicBezTo>
                        <a:lnTo>
                          <a:pt x="230848" y="18788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6" name="Picture Placeholder 95">
                    <a:extLst>
                      <a:ext uri="{FF2B5EF4-FFF2-40B4-BE49-F238E27FC236}">
                        <a16:creationId xmlns:a16="http://schemas.microsoft.com/office/drawing/2014/main" id="{FE5069AA-357E-D1AE-F9CD-9A2F77F55AF3}"/>
                      </a:ext>
                    </a:extLst>
                  </p:cNvPr>
                  <p:cNvSpPr/>
                  <p:nvPr/>
                </p:nvSpPr>
                <p:spPr>
                  <a:xfrm>
                    <a:off x="11266506" y="955461"/>
                    <a:ext cx="173239" cy="201015"/>
                  </a:xfrm>
                  <a:custGeom>
                    <a:avLst/>
                    <a:gdLst>
                      <a:gd name="connsiteX0" fmla="*/ 38580 w 173239"/>
                      <a:gd name="connsiteY0" fmla="*/ 201016 h 201015"/>
                      <a:gd name="connsiteX1" fmla="*/ 32255 w 173239"/>
                      <a:gd name="connsiteY1" fmla="*/ 186439 h 201015"/>
                      <a:gd name="connsiteX2" fmla="*/ 139774 w 173239"/>
                      <a:gd name="connsiteY2" fmla="*/ 97710 h 201015"/>
                      <a:gd name="connsiteX3" fmla="*/ 152423 w 173239"/>
                      <a:gd name="connsiteY3" fmla="*/ 27994 h 201015"/>
                      <a:gd name="connsiteX4" fmla="*/ 135346 w 173239"/>
                      <a:gd name="connsiteY4" fmla="*/ 16586 h 201015"/>
                      <a:gd name="connsiteX5" fmla="*/ 101194 w 173239"/>
                      <a:gd name="connsiteY5" fmla="*/ 52712 h 201015"/>
                      <a:gd name="connsiteX6" fmla="*/ 86647 w 173239"/>
                      <a:gd name="connsiteY6" fmla="*/ 85668 h 201015"/>
                      <a:gd name="connsiteX7" fmla="*/ 5060 w 173239"/>
                      <a:gd name="connsiteY7" fmla="*/ 146511 h 201015"/>
                      <a:gd name="connsiteX8" fmla="*/ 0 w 173239"/>
                      <a:gd name="connsiteY8" fmla="*/ 131300 h 201015"/>
                      <a:gd name="connsiteX9" fmla="*/ 73365 w 173239"/>
                      <a:gd name="connsiteY9" fmla="*/ 77429 h 201015"/>
                      <a:gd name="connsiteX10" fmla="*/ 87279 w 173239"/>
                      <a:gd name="connsiteY10" fmla="*/ 46374 h 201015"/>
                      <a:gd name="connsiteX11" fmla="*/ 137244 w 173239"/>
                      <a:gd name="connsiteY11" fmla="*/ 108 h 201015"/>
                      <a:gd name="connsiteX12" fmla="*/ 168234 w 173239"/>
                      <a:gd name="connsiteY12" fmla="*/ 20389 h 201015"/>
                      <a:gd name="connsiteX13" fmla="*/ 154320 w 173239"/>
                      <a:gd name="connsiteY13" fmla="*/ 105949 h 201015"/>
                      <a:gd name="connsiteX14" fmla="*/ 38580 w 173239"/>
                      <a:gd name="connsiteY14" fmla="*/ 201016 h 20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239" h="201015">
                        <a:moveTo>
                          <a:pt x="38580" y="201016"/>
                        </a:moveTo>
                        <a:lnTo>
                          <a:pt x="32255" y="186439"/>
                        </a:lnTo>
                        <a:cubicBezTo>
                          <a:pt x="84117" y="163623"/>
                          <a:pt x="118902" y="125596"/>
                          <a:pt x="139774" y="97710"/>
                        </a:cubicBezTo>
                        <a:cubicBezTo>
                          <a:pt x="153055" y="79964"/>
                          <a:pt x="160645" y="46374"/>
                          <a:pt x="152423" y="27994"/>
                        </a:cubicBezTo>
                        <a:cubicBezTo>
                          <a:pt x="149261" y="21023"/>
                          <a:pt x="143568" y="17220"/>
                          <a:pt x="135346" y="16586"/>
                        </a:cubicBezTo>
                        <a:cubicBezTo>
                          <a:pt x="116373" y="15319"/>
                          <a:pt x="111313" y="26727"/>
                          <a:pt x="101194" y="52712"/>
                        </a:cubicBezTo>
                        <a:cubicBezTo>
                          <a:pt x="97399" y="62852"/>
                          <a:pt x="92972" y="74260"/>
                          <a:pt x="86647" y="85668"/>
                        </a:cubicBezTo>
                        <a:cubicBezTo>
                          <a:pt x="63878" y="126230"/>
                          <a:pt x="6957" y="145877"/>
                          <a:pt x="5060" y="146511"/>
                        </a:cubicBezTo>
                        <a:lnTo>
                          <a:pt x="0" y="131300"/>
                        </a:lnTo>
                        <a:cubicBezTo>
                          <a:pt x="632" y="131300"/>
                          <a:pt x="53127" y="112921"/>
                          <a:pt x="73365" y="77429"/>
                        </a:cubicBezTo>
                        <a:cubicBezTo>
                          <a:pt x="79058" y="67289"/>
                          <a:pt x="83485" y="56515"/>
                          <a:pt x="87279" y="46374"/>
                        </a:cubicBezTo>
                        <a:cubicBezTo>
                          <a:pt x="96766" y="21657"/>
                          <a:pt x="106253" y="-1793"/>
                          <a:pt x="137244" y="108"/>
                        </a:cubicBezTo>
                        <a:cubicBezTo>
                          <a:pt x="151158" y="742"/>
                          <a:pt x="161910" y="8347"/>
                          <a:pt x="168234" y="20389"/>
                        </a:cubicBezTo>
                        <a:cubicBezTo>
                          <a:pt x="179619" y="44473"/>
                          <a:pt x="170132" y="84401"/>
                          <a:pt x="154320" y="105949"/>
                        </a:cubicBezTo>
                        <a:cubicBezTo>
                          <a:pt x="130919" y="136371"/>
                          <a:pt x="93604" y="176932"/>
                          <a:pt x="38580" y="201016"/>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7" name="Picture Placeholder 95">
                    <a:extLst>
                      <a:ext uri="{FF2B5EF4-FFF2-40B4-BE49-F238E27FC236}">
                        <a16:creationId xmlns:a16="http://schemas.microsoft.com/office/drawing/2014/main" id="{612E4463-9524-CF9F-B1DA-65C11960F1E1}"/>
                      </a:ext>
                    </a:extLst>
                  </p:cNvPr>
                  <p:cNvSpPr/>
                  <p:nvPr/>
                </p:nvSpPr>
                <p:spPr>
                  <a:xfrm>
                    <a:off x="11279155" y="998032"/>
                    <a:ext cx="125227" cy="131192"/>
                  </a:xfrm>
                  <a:custGeom>
                    <a:avLst/>
                    <a:gdLst>
                      <a:gd name="connsiteX0" fmla="*/ 5060 w 125227"/>
                      <a:gd name="connsiteY0" fmla="*/ 131192 h 131192"/>
                      <a:gd name="connsiteX1" fmla="*/ 0 w 125227"/>
                      <a:gd name="connsiteY1" fmla="*/ 115981 h 131192"/>
                      <a:gd name="connsiteX2" fmla="*/ 109416 w 125227"/>
                      <a:gd name="connsiteY2" fmla="*/ 0 h 131192"/>
                      <a:gd name="connsiteX3" fmla="*/ 125227 w 125227"/>
                      <a:gd name="connsiteY3" fmla="*/ 634 h 131192"/>
                      <a:gd name="connsiteX4" fmla="*/ 5060 w 125227"/>
                      <a:gd name="connsiteY4" fmla="*/ 131192 h 131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27" h="131192">
                        <a:moveTo>
                          <a:pt x="5060" y="131192"/>
                        </a:moveTo>
                        <a:lnTo>
                          <a:pt x="0" y="115981"/>
                        </a:lnTo>
                        <a:cubicBezTo>
                          <a:pt x="1265" y="115348"/>
                          <a:pt x="104988" y="77955"/>
                          <a:pt x="109416" y="0"/>
                        </a:cubicBezTo>
                        <a:lnTo>
                          <a:pt x="125227" y="634"/>
                        </a:lnTo>
                        <a:cubicBezTo>
                          <a:pt x="120167" y="89363"/>
                          <a:pt x="10119" y="129291"/>
                          <a:pt x="5060" y="13119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8" name="Picture Placeholder 95">
                    <a:extLst>
                      <a:ext uri="{FF2B5EF4-FFF2-40B4-BE49-F238E27FC236}">
                        <a16:creationId xmlns:a16="http://schemas.microsoft.com/office/drawing/2014/main" id="{DE8C4CFF-1216-BF1D-CE47-3B907DB410A8}"/>
                      </a:ext>
                    </a:extLst>
                  </p:cNvPr>
                  <p:cNvSpPr/>
                  <p:nvPr/>
                </p:nvSpPr>
                <p:spPr>
                  <a:xfrm>
                    <a:off x="11254489" y="886878"/>
                    <a:ext cx="260481" cy="187842"/>
                  </a:xfrm>
                  <a:custGeom>
                    <a:avLst/>
                    <a:gdLst>
                      <a:gd name="connsiteX0" fmla="*/ 240335 w 260481"/>
                      <a:gd name="connsiteY0" fmla="*/ 187842 h 187842"/>
                      <a:gd name="connsiteX1" fmla="*/ 226421 w 260481"/>
                      <a:gd name="connsiteY1" fmla="*/ 180871 h 187842"/>
                      <a:gd name="connsiteX2" fmla="*/ 239070 w 260481"/>
                      <a:gd name="connsiteY2" fmla="*/ 81367 h 187842"/>
                      <a:gd name="connsiteX3" fmla="*/ 187841 w 260481"/>
                      <a:gd name="connsiteY3" fmla="*/ 28130 h 187842"/>
                      <a:gd name="connsiteX4" fmla="*/ 73365 w 260481"/>
                      <a:gd name="connsiteY4" fmla="*/ 40806 h 187842"/>
                      <a:gd name="connsiteX5" fmla="*/ 47435 w 260481"/>
                      <a:gd name="connsiteY5" fmla="*/ 90240 h 187842"/>
                      <a:gd name="connsiteX6" fmla="*/ 0 w 260481"/>
                      <a:gd name="connsiteY6" fmla="*/ 138407 h 187842"/>
                      <a:gd name="connsiteX7" fmla="*/ 0 w 260481"/>
                      <a:gd name="connsiteY7" fmla="*/ 122563 h 187842"/>
                      <a:gd name="connsiteX8" fmla="*/ 32255 w 260481"/>
                      <a:gd name="connsiteY8" fmla="*/ 85170 h 187842"/>
                      <a:gd name="connsiteX9" fmla="*/ 61981 w 260481"/>
                      <a:gd name="connsiteY9" fmla="*/ 29398 h 187842"/>
                      <a:gd name="connsiteX10" fmla="*/ 193533 w 260481"/>
                      <a:gd name="connsiteY10" fmla="*/ 12919 h 187842"/>
                      <a:gd name="connsiteX11" fmla="*/ 253616 w 260481"/>
                      <a:gd name="connsiteY11" fmla="*/ 75663 h 187842"/>
                      <a:gd name="connsiteX12" fmla="*/ 240335 w 260481"/>
                      <a:gd name="connsiteY12" fmla="*/ 187842 h 18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0481" h="187842">
                        <a:moveTo>
                          <a:pt x="240335" y="187842"/>
                        </a:moveTo>
                        <a:lnTo>
                          <a:pt x="226421" y="180871"/>
                        </a:lnTo>
                        <a:cubicBezTo>
                          <a:pt x="245394" y="143478"/>
                          <a:pt x="249822" y="110521"/>
                          <a:pt x="239070" y="81367"/>
                        </a:cubicBezTo>
                        <a:cubicBezTo>
                          <a:pt x="228951" y="53481"/>
                          <a:pt x="205550" y="35102"/>
                          <a:pt x="187841" y="28130"/>
                        </a:cubicBezTo>
                        <a:cubicBezTo>
                          <a:pt x="161277" y="16722"/>
                          <a:pt x="110048" y="4046"/>
                          <a:pt x="73365" y="40806"/>
                        </a:cubicBezTo>
                        <a:cubicBezTo>
                          <a:pt x="59451" y="54749"/>
                          <a:pt x="53127" y="73128"/>
                          <a:pt x="47435" y="90240"/>
                        </a:cubicBezTo>
                        <a:cubicBezTo>
                          <a:pt x="39845" y="113690"/>
                          <a:pt x="31623" y="138407"/>
                          <a:pt x="0" y="138407"/>
                        </a:cubicBezTo>
                        <a:lnTo>
                          <a:pt x="0" y="122563"/>
                        </a:lnTo>
                        <a:cubicBezTo>
                          <a:pt x="18974" y="122563"/>
                          <a:pt x="24033" y="110521"/>
                          <a:pt x="32255" y="85170"/>
                        </a:cubicBezTo>
                        <a:cubicBezTo>
                          <a:pt x="38580" y="66790"/>
                          <a:pt x="44905" y="46510"/>
                          <a:pt x="61981" y="29398"/>
                        </a:cubicBezTo>
                        <a:cubicBezTo>
                          <a:pt x="105621" y="-14333"/>
                          <a:pt x="163175" y="244"/>
                          <a:pt x="193533" y="12919"/>
                        </a:cubicBezTo>
                        <a:cubicBezTo>
                          <a:pt x="203652" y="17356"/>
                          <a:pt x="238437" y="34468"/>
                          <a:pt x="253616" y="75663"/>
                        </a:cubicBezTo>
                        <a:cubicBezTo>
                          <a:pt x="266266" y="109254"/>
                          <a:pt x="261206" y="146646"/>
                          <a:pt x="240335" y="187842"/>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9" name="Picture Placeholder 95">
                    <a:extLst>
                      <a:ext uri="{FF2B5EF4-FFF2-40B4-BE49-F238E27FC236}">
                        <a16:creationId xmlns:a16="http://schemas.microsoft.com/office/drawing/2014/main" id="{73E0D1B3-B8FB-1ACF-EDCB-09D006264719}"/>
                      </a:ext>
                    </a:extLst>
                  </p:cNvPr>
                  <p:cNvSpPr/>
                  <p:nvPr/>
                </p:nvSpPr>
                <p:spPr>
                  <a:xfrm>
                    <a:off x="11252592" y="851999"/>
                    <a:ext cx="263103" cy="132723"/>
                  </a:xfrm>
                  <a:custGeom>
                    <a:avLst/>
                    <a:gdLst>
                      <a:gd name="connsiteX0" fmla="*/ 15812 w 263103"/>
                      <a:gd name="connsiteY0" fmla="*/ 132724 h 132723"/>
                      <a:gd name="connsiteX1" fmla="*/ 0 w 263103"/>
                      <a:gd name="connsiteY1" fmla="*/ 132724 h 132723"/>
                      <a:gd name="connsiteX2" fmla="*/ 91074 w 263103"/>
                      <a:gd name="connsiteY2" fmla="*/ 5968 h 132723"/>
                      <a:gd name="connsiteX3" fmla="*/ 263103 w 263103"/>
                      <a:gd name="connsiteY3" fmla="*/ 58572 h 132723"/>
                      <a:gd name="connsiteX4" fmla="*/ 250454 w 263103"/>
                      <a:gd name="connsiteY4" fmla="*/ 68079 h 132723"/>
                      <a:gd name="connsiteX5" fmla="*/ 94869 w 263103"/>
                      <a:gd name="connsiteY5" fmla="*/ 21179 h 132723"/>
                      <a:gd name="connsiteX6" fmla="*/ 15812 w 263103"/>
                      <a:gd name="connsiteY6" fmla="*/ 132724 h 13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103" h="132723">
                        <a:moveTo>
                          <a:pt x="15812" y="132724"/>
                        </a:moveTo>
                        <a:lnTo>
                          <a:pt x="0" y="132724"/>
                        </a:lnTo>
                        <a:cubicBezTo>
                          <a:pt x="0" y="131456"/>
                          <a:pt x="2530" y="24982"/>
                          <a:pt x="91074" y="5968"/>
                        </a:cubicBezTo>
                        <a:cubicBezTo>
                          <a:pt x="185943" y="-14946"/>
                          <a:pt x="237173" y="23080"/>
                          <a:pt x="263103" y="58572"/>
                        </a:cubicBezTo>
                        <a:lnTo>
                          <a:pt x="250454" y="68079"/>
                        </a:lnTo>
                        <a:cubicBezTo>
                          <a:pt x="227686" y="36390"/>
                          <a:pt x="181516" y="2799"/>
                          <a:pt x="94869" y="21179"/>
                        </a:cubicBezTo>
                        <a:cubicBezTo>
                          <a:pt x="18341" y="37657"/>
                          <a:pt x="15812" y="128921"/>
                          <a:pt x="15812" y="132724"/>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sp>
              <p:nvSpPr>
                <p:cNvPr id="435" name="Picture Placeholder 95">
                  <a:extLst>
                    <a:ext uri="{FF2B5EF4-FFF2-40B4-BE49-F238E27FC236}">
                      <a16:creationId xmlns:a16="http://schemas.microsoft.com/office/drawing/2014/main" id="{B6DF4C51-B986-F78B-6343-5A5B5EA036D4}"/>
                    </a:ext>
                  </a:extLst>
                </p:cNvPr>
                <p:cNvSpPr/>
                <p:nvPr/>
              </p:nvSpPr>
              <p:spPr>
                <a:xfrm>
                  <a:off x="11406912" y="768605"/>
                  <a:ext cx="227685" cy="228793"/>
                </a:xfrm>
                <a:custGeom>
                  <a:avLst/>
                  <a:gdLst>
                    <a:gd name="connsiteX0" fmla="*/ 227686 w 227685"/>
                    <a:gd name="connsiteY0" fmla="*/ 228794 h 228793"/>
                    <a:gd name="connsiteX1" fmla="*/ 0 w 227685"/>
                    <a:gd name="connsiteY1" fmla="*/ 0 h 228793"/>
                    <a:gd name="connsiteX2" fmla="*/ 0 w 227685"/>
                    <a:gd name="connsiteY2" fmla="*/ 15844 h 228793"/>
                    <a:gd name="connsiteX3" fmla="*/ 211874 w 227685"/>
                    <a:gd name="connsiteY3" fmla="*/ 228794 h 228793"/>
                    <a:gd name="connsiteX4" fmla="*/ 227686 w 227685"/>
                    <a:gd name="connsiteY4" fmla="*/ 228794 h 2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85" h="228793">
                      <a:moveTo>
                        <a:pt x="227686" y="228794"/>
                      </a:moveTo>
                      <a:cubicBezTo>
                        <a:pt x="216301" y="107742"/>
                        <a:pt x="120167" y="11408"/>
                        <a:pt x="0" y="0"/>
                      </a:cubicBezTo>
                      <a:lnTo>
                        <a:pt x="0" y="15844"/>
                      </a:lnTo>
                      <a:cubicBezTo>
                        <a:pt x="111945" y="27252"/>
                        <a:pt x="201122" y="116615"/>
                        <a:pt x="211874" y="228794"/>
                      </a:cubicBezTo>
                      <a:lnTo>
                        <a:pt x="227686" y="22879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36" name="Picture Placeholder 95">
                  <a:extLst>
                    <a:ext uri="{FF2B5EF4-FFF2-40B4-BE49-F238E27FC236}">
                      <a16:creationId xmlns:a16="http://schemas.microsoft.com/office/drawing/2014/main" id="{0B0224D9-E8B0-B942-2C5D-7B585EB0E831}"/>
                    </a:ext>
                  </a:extLst>
                </p:cNvPr>
                <p:cNvSpPr/>
                <p:nvPr/>
              </p:nvSpPr>
              <p:spPr>
                <a:xfrm>
                  <a:off x="11081827" y="1013243"/>
                  <a:ext cx="63878" cy="15844"/>
                </a:xfrm>
                <a:custGeom>
                  <a:avLst/>
                  <a:gdLst>
                    <a:gd name="connsiteX0" fmla="*/ 0 w 63878"/>
                    <a:gd name="connsiteY0" fmla="*/ 0 h 15844"/>
                    <a:gd name="connsiteX1" fmla="*/ 63878 w 63878"/>
                    <a:gd name="connsiteY1" fmla="*/ 0 h 15844"/>
                    <a:gd name="connsiteX2" fmla="*/ 63878 w 63878"/>
                    <a:gd name="connsiteY2" fmla="*/ 15844 h 15844"/>
                    <a:gd name="connsiteX3" fmla="*/ 0 w 63878"/>
                    <a:gd name="connsiteY3" fmla="*/ 15844 h 15844"/>
                  </a:gdLst>
                  <a:ahLst/>
                  <a:cxnLst>
                    <a:cxn ang="0">
                      <a:pos x="connsiteX0" y="connsiteY0"/>
                    </a:cxn>
                    <a:cxn ang="0">
                      <a:pos x="connsiteX1" y="connsiteY1"/>
                    </a:cxn>
                    <a:cxn ang="0">
                      <a:pos x="connsiteX2" y="connsiteY2"/>
                    </a:cxn>
                    <a:cxn ang="0">
                      <a:pos x="connsiteX3" y="connsiteY3"/>
                    </a:cxn>
                  </a:cxnLst>
                  <a:rect l="l" t="t" r="r" b="b"/>
                  <a:pathLst>
                    <a:path w="63878" h="15844">
                      <a:moveTo>
                        <a:pt x="0" y="0"/>
                      </a:moveTo>
                      <a:lnTo>
                        <a:pt x="63878" y="0"/>
                      </a:lnTo>
                      <a:lnTo>
                        <a:pt x="63878"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37" name="Picture Placeholder 95">
                  <a:extLst>
                    <a:ext uri="{FF2B5EF4-FFF2-40B4-BE49-F238E27FC236}">
                      <a16:creationId xmlns:a16="http://schemas.microsoft.com/office/drawing/2014/main" id="{9A1BFDB5-3A6C-332E-B7DD-C30C149FE8C3}"/>
                    </a:ext>
                  </a:extLst>
                </p:cNvPr>
                <p:cNvSpPr/>
                <p:nvPr/>
              </p:nvSpPr>
              <p:spPr>
                <a:xfrm>
                  <a:off x="11373392" y="720438"/>
                  <a:ext cx="15811" cy="63377"/>
                </a:xfrm>
                <a:custGeom>
                  <a:avLst/>
                  <a:gdLst>
                    <a:gd name="connsiteX0" fmla="*/ 0 w 15811"/>
                    <a:gd name="connsiteY0" fmla="*/ 0 h 63377"/>
                    <a:gd name="connsiteX1" fmla="*/ 15812 w 15811"/>
                    <a:gd name="connsiteY1" fmla="*/ 0 h 63377"/>
                    <a:gd name="connsiteX2" fmla="*/ 15812 w 15811"/>
                    <a:gd name="connsiteY2" fmla="*/ 63378 h 63377"/>
                    <a:gd name="connsiteX3" fmla="*/ 0 w 15811"/>
                    <a:gd name="connsiteY3" fmla="*/ 63378 h 63377"/>
                  </a:gdLst>
                  <a:ahLst/>
                  <a:cxnLst>
                    <a:cxn ang="0">
                      <a:pos x="connsiteX0" y="connsiteY0"/>
                    </a:cxn>
                    <a:cxn ang="0">
                      <a:pos x="connsiteX1" y="connsiteY1"/>
                    </a:cxn>
                    <a:cxn ang="0">
                      <a:pos x="connsiteX2" y="connsiteY2"/>
                    </a:cxn>
                    <a:cxn ang="0">
                      <a:pos x="connsiteX3" y="connsiteY3"/>
                    </a:cxn>
                  </a:cxnLst>
                  <a:rect l="l" t="t" r="r" b="b"/>
                  <a:pathLst>
                    <a:path w="15811" h="63377">
                      <a:moveTo>
                        <a:pt x="0" y="0"/>
                      </a:moveTo>
                      <a:lnTo>
                        <a:pt x="15812" y="0"/>
                      </a:lnTo>
                      <a:lnTo>
                        <a:pt x="15812" y="63378"/>
                      </a:lnTo>
                      <a:lnTo>
                        <a:pt x="0" y="63378"/>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38" name="Picture Placeholder 95">
                  <a:extLst>
                    <a:ext uri="{FF2B5EF4-FFF2-40B4-BE49-F238E27FC236}">
                      <a16:creationId xmlns:a16="http://schemas.microsoft.com/office/drawing/2014/main" id="{778F0C03-64AD-E2AA-8B3B-6327B6ABC659}"/>
                    </a:ext>
                  </a:extLst>
                </p:cNvPr>
                <p:cNvSpPr/>
                <p:nvPr/>
              </p:nvSpPr>
              <p:spPr>
                <a:xfrm>
                  <a:off x="11619418" y="1013243"/>
                  <a:ext cx="62613" cy="15844"/>
                </a:xfrm>
                <a:custGeom>
                  <a:avLst/>
                  <a:gdLst>
                    <a:gd name="connsiteX0" fmla="*/ 0 w 62613"/>
                    <a:gd name="connsiteY0" fmla="*/ 0 h 15844"/>
                    <a:gd name="connsiteX1" fmla="*/ 62614 w 62613"/>
                    <a:gd name="connsiteY1" fmla="*/ 0 h 15844"/>
                    <a:gd name="connsiteX2" fmla="*/ 62614 w 62613"/>
                    <a:gd name="connsiteY2" fmla="*/ 15844 h 15844"/>
                    <a:gd name="connsiteX3" fmla="*/ 0 w 62613"/>
                    <a:gd name="connsiteY3" fmla="*/ 15844 h 15844"/>
                  </a:gdLst>
                  <a:ahLst/>
                  <a:cxnLst>
                    <a:cxn ang="0">
                      <a:pos x="connsiteX0" y="connsiteY0"/>
                    </a:cxn>
                    <a:cxn ang="0">
                      <a:pos x="connsiteX1" y="connsiteY1"/>
                    </a:cxn>
                    <a:cxn ang="0">
                      <a:pos x="connsiteX2" y="connsiteY2"/>
                    </a:cxn>
                    <a:cxn ang="0">
                      <a:pos x="connsiteX3" y="connsiteY3"/>
                    </a:cxn>
                  </a:cxnLst>
                  <a:rect l="l" t="t" r="r" b="b"/>
                  <a:pathLst>
                    <a:path w="62613" h="15844">
                      <a:moveTo>
                        <a:pt x="0" y="0"/>
                      </a:moveTo>
                      <a:lnTo>
                        <a:pt x="62614" y="0"/>
                      </a:lnTo>
                      <a:lnTo>
                        <a:pt x="62614" y="15844"/>
                      </a:lnTo>
                      <a:lnTo>
                        <a:pt x="0" y="15844"/>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39" name="Picture Placeholder 95">
                  <a:extLst>
                    <a:ext uri="{FF2B5EF4-FFF2-40B4-BE49-F238E27FC236}">
                      <a16:creationId xmlns:a16="http://schemas.microsoft.com/office/drawing/2014/main" id="{FC15C515-18AE-DB7E-FABE-EDD86894DFF7}"/>
                    </a:ext>
                  </a:extLst>
                </p:cNvPr>
                <p:cNvSpPr/>
                <p:nvPr/>
              </p:nvSpPr>
              <p:spPr>
                <a:xfrm>
                  <a:off x="11405015" y="1043664"/>
                  <a:ext cx="229582" cy="229427"/>
                </a:xfrm>
                <a:custGeom>
                  <a:avLst/>
                  <a:gdLst>
                    <a:gd name="connsiteX0" fmla="*/ 213771 w 229582"/>
                    <a:gd name="connsiteY0" fmla="*/ 634 h 229427"/>
                    <a:gd name="connsiteX1" fmla="*/ 0 w 229582"/>
                    <a:gd name="connsiteY1" fmla="*/ 213583 h 229427"/>
                    <a:gd name="connsiteX2" fmla="*/ 0 w 229582"/>
                    <a:gd name="connsiteY2" fmla="*/ 229428 h 229427"/>
                    <a:gd name="connsiteX3" fmla="*/ 229583 w 229582"/>
                    <a:gd name="connsiteY3" fmla="*/ 0 h 229427"/>
                    <a:gd name="connsiteX4" fmla="*/ 213771 w 229582"/>
                    <a:gd name="connsiteY4" fmla="*/ 0 h 229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82" h="229427">
                      <a:moveTo>
                        <a:pt x="213771" y="634"/>
                      </a:moveTo>
                      <a:cubicBezTo>
                        <a:pt x="203020" y="113446"/>
                        <a:pt x="113210" y="203443"/>
                        <a:pt x="0" y="213583"/>
                      </a:cubicBezTo>
                      <a:lnTo>
                        <a:pt x="0" y="229428"/>
                      </a:lnTo>
                      <a:cubicBezTo>
                        <a:pt x="121432" y="218654"/>
                        <a:pt x="218199" y="121685"/>
                        <a:pt x="229583" y="0"/>
                      </a:cubicBezTo>
                      <a:lnTo>
                        <a:pt x="213771" y="0"/>
                      </a:ln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0" name="Picture Placeholder 95">
                  <a:extLst>
                    <a:ext uri="{FF2B5EF4-FFF2-40B4-BE49-F238E27FC236}">
                      <a16:creationId xmlns:a16="http://schemas.microsoft.com/office/drawing/2014/main" id="{5B77C7AE-C7E7-FFA7-3D26-D678F04E9819}"/>
                    </a:ext>
                  </a:extLst>
                </p:cNvPr>
                <p:cNvSpPr/>
                <p:nvPr/>
              </p:nvSpPr>
              <p:spPr>
                <a:xfrm>
                  <a:off x="11130527" y="769238"/>
                  <a:ext cx="225788" cy="228160"/>
                </a:xfrm>
                <a:custGeom>
                  <a:avLst/>
                  <a:gdLst>
                    <a:gd name="connsiteX0" fmla="*/ 0 w 225788"/>
                    <a:gd name="connsiteY0" fmla="*/ 228160 h 228160"/>
                    <a:gd name="connsiteX1" fmla="*/ 15812 w 225788"/>
                    <a:gd name="connsiteY1" fmla="*/ 228160 h 228160"/>
                    <a:gd name="connsiteX2" fmla="*/ 225788 w 225788"/>
                    <a:gd name="connsiteY2" fmla="*/ 15844 h 228160"/>
                    <a:gd name="connsiteX3" fmla="*/ 225788 w 225788"/>
                    <a:gd name="connsiteY3" fmla="*/ 0 h 228160"/>
                    <a:gd name="connsiteX4" fmla="*/ 0 w 225788"/>
                    <a:gd name="connsiteY4" fmla="*/ 228160 h 228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788" h="228160">
                      <a:moveTo>
                        <a:pt x="0" y="228160"/>
                      </a:moveTo>
                      <a:lnTo>
                        <a:pt x="15812" y="228160"/>
                      </a:lnTo>
                      <a:cubicBezTo>
                        <a:pt x="26563" y="116615"/>
                        <a:pt x="115108" y="27886"/>
                        <a:pt x="225788" y="15844"/>
                      </a:cubicBezTo>
                      <a:lnTo>
                        <a:pt x="225788" y="0"/>
                      </a:lnTo>
                      <a:cubicBezTo>
                        <a:pt x="106886" y="12042"/>
                        <a:pt x="11384" y="108376"/>
                        <a:pt x="0" y="22816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sp>
              <p:nvSpPr>
                <p:cNvPr id="441" name="Picture Placeholder 95">
                  <a:extLst>
                    <a:ext uri="{FF2B5EF4-FFF2-40B4-BE49-F238E27FC236}">
                      <a16:creationId xmlns:a16="http://schemas.microsoft.com/office/drawing/2014/main" id="{D621251F-F818-BDD1-FAB4-A994CD079E8B}"/>
                    </a:ext>
                  </a:extLst>
                </p:cNvPr>
                <p:cNvSpPr/>
                <p:nvPr/>
              </p:nvSpPr>
              <p:spPr>
                <a:xfrm>
                  <a:off x="11130527" y="1044298"/>
                  <a:ext cx="227685" cy="228793"/>
                </a:xfrm>
                <a:custGeom>
                  <a:avLst/>
                  <a:gdLst>
                    <a:gd name="connsiteX0" fmla="*/ 15812 w 227685"/>
                    <a:gd name="connsiteY0" fmla="*/ 0 h 228793"/>
                    <a:gd name="connsiteX1" fmla="*/ 0 w 227685"/>
                    <a:gd name="connsiteY1" fmla="*/ 0 h 228793"/>
                    <a:gd name="connsiteX2" fmla="*/ 227686 w 227685"/>
                    <a:gd name="connsiteY2" fmla="*/ 228794 h 228793"/>
                    <a:gd name="connsiteX3" fmla="*/ 227686 w 227685"/>
                    <a:gd name="connsiteY3" fmla="*/ 212950 h 228793"/>
                    <a:gd name="connsiteX4" fmla="*/ 15812 w 227685"/>
                    <a:gd name="connsiteY4" fmla="*/ 0 h 2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85" h="228793">
                      <a:moveTo>
                        <a:pt x="15812" y="0"/>
                      </a:moveTo>
                      <a:lnTo>
                        <a:pt x="0" y="0"/>
                      </a:lnTo>
                      <a:cubicBezTo>
                        <a:pt x="11384" y="120418"/>
                        <a:pt x="106886" y="217386"/>
                        <a:pt x="227686" y="228794"/>
                      </a:cubicBezTo>
                      <a:lnTo>
                        <a:pt x="227686" y="212950"/>
                      </a:lnTo>
                      <a:cubicBezTo>
                        <a:pt x="115740" y="201541"/>
                        <a:pt x="27196" y="111545"/>
                        <a:pt x="15812" y="0"/>
                      </a:cubicBezTo>
                      <a:close/>
                    </a:path>
                  </a:pathLst>
                </a:custGeom>
                <a:grpFill/>
                <a:ln w="6271"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1"/>
                    </a:solidFill>
                    <a:effectLst/>
                    <a:uLnTx/>
                    <a:uFillTx/>
                    <a:latin typeface="Arial" panose="020B0604020202020204" pitchFamily="34" charset="0"/>
                    <a:ea typeface="+mn-ea"/>
                    <a:cs typeface="+mn-cs"/>
                  </a:endParaRPr>
                </a:p>
              </p:txBody>
            </p:sp>
          </p:grpSp>
        </p:grpSp>
      </p:grpSp>
    </p:spTree>
    <p:extLst>
      <p:ext uri="{BB962C8B-B14F-4D97-AF65-F5344CB8AC3E}">
        <p14:creationId xmlns:p14="http://schemas.microsoft.com/office/powerpoint/2010/main" val="791875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asvg="http://schemas.microsoft.com/office/drawing/2016/SVG/main" xmlns:a14="http://schemas.microsoft.com/office/drawing/2010/main" xmlns:a16="http://schemas.microsoft.com/office/drawing/2014/main">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60000"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 fill="hold"/>
                                        <p:tgtEl>
                                          <p:spTgt spid="21"/>
                                        </p:tgtEl>
                                        <p:attrNameLst>
                                          <p:attrName>ppt_x</p:attrName>
                                        </p:attrNameLst>
                                      </p:cBhvr>
                                      <p:tavLst>
                                        <p:tav tm="0">
                                          <p:val>
                                            <p:strVal val="#ppt_x"/>
                                          </p:val>
                                        </p:tav>
                                        <p:tav tm="100000">
                                          <p:val>
                                            <p:strVal val="#ppt_x"/>
                                          </p:val>
                                        </p:tav>
                                      </p:tavLst>
                                    </p:anim>
                                    <p:anim calcmode="lin" valueType="num">
                                      <p:cBhvr additive="base">
                                        <p:cTn id="8" dur="200" fill="hold"/>
                                        <p:tgtEl>
                                          <p:spTgt spid="21"/>
                                        </p:tgtEl>
                                        <p:attrNameLst>
                                          <p:attrName>ppt_y</p:attrName>
                                        </p:attrNameLst>
                                      </p:cBhvr>
                                      <p:tavLst>
                                        <p:tav tm="0">
                                          <p:val>
                                            <p:strVal val="1+#ppt_h/2"/>
                                          </p:val>
                                        </p:tav>
                                        <p:tav tm="100000">
                                          <p:val>
                                            <p:strVal val="#ppt_y"/>
                                          </p:val>
                                        </p:tav>
                                      </p:tavLst>
                                    </p:anim>
                                  </p:childTnLst>
                                </p:cTn>
                              </p:par>
                            </p:childTnLst>
                          </p:cTn>
                        </p:par>
                        <p:par>
                          <p:cTn id="9" fill="hold">
                            <p:stCondLst>
                              <p:cond delay="200"/>
                            </p:stCondLst>
                            <p:childTnLst>
                              <p:par>
                                <p:cTn id="10" presetID="2" presetClass="entr" presetSubtype="1" decel="60000"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200" fill="hold"/>
                                        <p:tgtEl>
                                          <p:spTgt spid="11"/>
                                        </p:tgtEl>
                                        <p:attrNameLst>
                                          <p:attrName>ppt_x</p:attrName>
                                        </p:attrNameLst>
                                      </p:cBhvr>
                                      <p:tavLst>
                                        <p:tav tm="0">
                                          <p:val>
                                            <p:strVal val="#ppt_x"/>
                                          </p:val>
                                        </p:tav>
                                        <p:tav tm="100000">
                                          <p:val>
                                            <p:strVal val="#ppt_x"/>
                                          </p:val>
                                        </p:tav>
                                      </p:tavLst>
                                    </p:anim>
                                    <p:anim calcmode="lin" valueType="num">
                                      <p:cBhvr additive="base">
                                        <p:cTn id="13" dur="200" fill="hold"/>
                                        <p:tgtEl>
                                          <p:spTgt spid="11"/>
                                        </p:tgtEl>
                                        <p:attrNameLst>
                                          <p:attrName>ppt_y</p:attrName>
                                        </p:attrNameLst>
                                      </p:cBhvr>
                                      <p:tavLst>
                                        <p:tav tm="0">
                                          <p:val>
                                            <p:strVal val="0-#ppt_h/2"/>
                                          </p:val>
                                        </p:tav>
                                        <p:tav tm="100000">
                                          <p:val>
                                            <p:strVal val="#ppt_y"/>
                                          </p:val>
                                        </p:tav>
                                      </p:tavLst>
                                    </p:anim>
                                  </p:childTnLst>
                                </p:cTn>
                              </p:par>
                            </p:childTnLst>
                          </p:cTn>
                        </p:par>
                        <p:par>
                          <p:cTn id="14" fill="hold">
                            <p:stCondLst>
                              <p:cond delay="400"/>
                            </p:stCondLst>
                            <p:childTnLst>
                              <p:par>
                                <p:cTn id="15" presetID="2" presetClass="entr" presetSubtype="4" decel="25000" fill="hold" nodeType="afterEffect">
                                  <p:stCondLst>
                                    <p:cond delay="0"/>
                                  </p:stCondLst>
                                  <p:childTnLst>
                                    <p:set>
                                      <p:cBhvr>
                                        <p:cTn id="16" dur="1" fill="hold">
                                          <p:stCondLst>
                                            <p:cond delay="0"/>
                                          </p:stCondLst>
                                        </p:cTn>
                                        <p:tgtEl>
                                          <p:spTgt spid="427"/>
                                        </p:tgtEl>
                                        <p:attrNameLst>
                                          <p:attrName>style.visibility</p:attrName>
                                        </p:attrNameLst>
                                      </p:cBhvr>
                                      <p:to>
                                        <p:strVal val="visible"/>
                                      </p:to>
                                    </p:set>
                                    <p:anim calcmode="lin" valueType="num">
                                      <p:cBhvr additive="base">
                                        <p:cTn id="17" dur="200" fill="hold"/>
                                        <p:tgtEl>
                                          <p:spTgt spid="427"/>
                                        </p:tgtEl>
                                        <p:attrNameLst>
                                          <p:attrName>ppt_x</p:attrName>
                                        </p:attrNameLst>
                                      </p:cBhvr>
                                      <p:tavLst>
                                        <p:tav tm="0">
                                          <p:val>
                                            <p:strVal val="#ppt_x"/>
                                          </p:val>
                                        </p:tav>
                                        <p:tav tm="100000">
                                          <p:val>
                                            <p:strVal val="#ppt_x"/>
                                          </p:val>
                                        </p:tav>
                                      </p:tavLst>
                                    </p:anim>
                                    <p:anim calcmode="lin" valueType="num">
                                      <p:cBhvr additive="base">
                                        <p:cTn id="18" dur="200" fill="hold"/>
                                        <p:tgtEl>
                                          <p:spTgt spid="427"/>
                                        </p:tgtEl>
                                        <p:attrNameLst>
                                          <p:attrName>ppt_y</p:attrName>
                                        </p:attrNameLst>
                                      </p:cBhvr>
                                      <p:tavLst>
                                        <p:tav tm="0">
                                          <p:val>
                                            <p:strVal val="1+#ppt_h/2"/>
                                          </p:val>
                                        </p:tav>
                                        <p:tav tm="100000">
                                          <p:val>
                                            <p:strVal val="#ppt_y"/>
                                          </p:val>
                                        </p:tav>
                                      </p:tavLst>
                                    </p:anim>
                                  </p:childTnLst>
                                </p:cTn>
                              </p:par>
                            </p:childTnLst>
                          </p:cTn>
                        </p:par>
                        <p:par>
                          <p:cTn id="19" fill="hold">
                            <p:stCondLst>
                              <p:cond delay="600"/>
                            </p:stCondLst>
                            <p:childTnLst>
                              <p:par>
                                <p:cTn id="20" presetID="2" presetClass="entr" presetSubtype="4" decel="60000"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200" fill="hold"/>
                                        <p:tgtEl>
                                          <p:spTgt spid="22"/>
                                        </p:tgtEl>
                                        <p:attrNameLst>
                                          <p:attrName>ppt_x</p:attrName>
                                        </p:attrNameLst>
                                      </p:cBhvr>
                                      <p:tavLst>
                                        <p:tav tm="0">
                                          <p:val>
                                            <p:strVal val="#ppt_x"/>
                                          </p:val>
                                        </p:tav>
                                        <p:tav tm="100000">
                                          <p:val>
                                            <p:strVal val="#ppt_x"/>
                                          </p:val>
                                        </p:tav>
                                      </p:tavLst>
                                    </p:anim>
                                    <p:anim calcmode="lin" valueType="num">
                                      <p:cBhvr additive="base">
                                        <p:cTn id="23" dur="200" fill="hold"/>
                                        <p:tgtEl>
                                          <p:spTgt spid="22"/>
                                        </p:tgtEl>
                                        <p:attrNameLst>
                                          <p:attrName>ppt_y</p:attrName>
                                        </p:attrNameLst>
                                      </p:cBhvr>
                                      <p:tavLst>
                                        <p:tav tm="0">
                                          <p:val>
                                            <p:strVal val="1+#ppt_h/2"/>
                                          </p:val>
                                        </p:tav>
                                        <p:tav tm="100000">
                                          <p:val>
                                            <p:strVal val="#ppt_y"/>
                                          </p:val>
                                        </p:tav>
                                      </p:tavLst>
                                    </p:anim>
                                  </p:childTnLst>
                                </p:cTn>
                              </p:par>
                            </p:childTnLst>
                          </p:cTn>
                        </p:par>
                        <p:par>
                          <p:cTn id="24" fill="hold">
                            <p:stCondLst>
                              <p:cond delay="800"/>
                            </p:stCondLst>
                            <p:childTnLst>
                              <p:par>
                                <p:cTn id="25" presetID="2" presetClass="entr" presetSubtype="1" decel="60000" fill="hold" nodeType="after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00" fill="hold"/>
                                        <p:tgtEl>
                                          <p:spTgt spid="12"/>
                                        </p:tgtEl>
                                        <p:attrNameLst>
                                          <p:attrName>ppt_x</p:attrName>
                                        </p:attrNameLst>
                                      </p:cBhvr>
                                      <p:tavLst>
                                        <p:tav tm="0">
                                          <p:val>
                                            <p:strVal val="#ppt_x"/>
                                          </p:val>
                                        </p:tav>
                                        <p:tav tm="100000">
                                          <p:val>
                                            <p:strVal val="#ppt_x"/>
                                          </p:val>
                                        </p:tav>
                                      </p:tavLst>
                                    </p:anim>
                                    <p:anim calcmode="lin" valueType="num">
                                      <p:cBhvr additive="base">
                                        <p:cTn id="28" dur="200" fill="hold"/>
                                        <p:tgtEl>
                                          <p:spTgt spid="12"/>
                                        </p:tgtEl>
                                        <p:attrNameLst>
                                          <p:attrName>ppt_y</p:attrName>
                                        </p:attrNameLst>
                                      </p:cBhvr>
                                      <p:tavLst>
                                        <p:tav tm="0">
                                          <p:val>
                                            <p:strVal val="0-#ppt_h/2"/>
                                          </p:val>
                                        </p:tav>
                                        <p:tav tm="100000">
                                          <p:val>
                                            <p:strVal val="#ppt_y"/>
                                          </p:val>
                                        </p:tav>
                                      </p:tavLst>
                                    </p:anim>
                                  </p:childTnLst>
                                </p:cTn>
                              </p:par>
                            </p:childTnLst>
                          </p:cTn>
                        </p:par>
                        <p:par>
                          <p:cTn id="29" fill="hold">
                            <p:stCondLst>
                              <p:cond delay="1000"/>
                            </p:stCondLst>
                            <p:childTnLst>
                              <p:par>
                                <p:cTn id="30" presetID="2" presetClass="entr" presetSubtype="4" decel="60000" fill="hold" nodeType="afterEffect">
                                  <p:stCondLst>
                                    <p:cond delay="0"/>
                                  </p:stCondLst>
                                  <p:childTnLst>
                                    <p:set>
                                      <p:cBhvr>
                                        <p:cTn id="31" dur="1" fill="hold">
                                          <p:stCondLst>
                                            <p:cond delay="0"/>
                                          </p:stCondLst>
                                        </p:cTn>
                                        <p:tgtEl>
                                          <p:spTgt spid="24"/>
                                        </p:tgtEl>
                                        <p:attrNameLst>
                                          <p:attrName>style.visibility</p:attrName>
                                        </p:attrNameLst>
                                      </p:cBhvr>
                                      <p:to>
                                        <p:strVal val="visible"/>
                                      </p:to>
                                    </p:set>
                                    <p:anim calcmode="lin" valueType="num">
                                      <p:cBhvr additive="base">
                                        <p:cTn id="32" dur="200" fill="hold"/>
                                        <p:tgtEl>
                                          <p:spTgt spid="24"/>
                                        </p:tgtEl>
                                        <p:attrNameLst>
                                          <p:attrName>ppt_x</p:attrName>
                                        </p:attrNameLst>
                                      </p:cBhvr>
                                      <p:tavLst>
                                        <p:tav tm="0">
                                          <p:val>
                                            <p:strVal val="#ppt_x"/>
                                          </p:val>
                                        </p:tav>
                                        <p:tav tm="100000">
                                          <p:val>
                                            <p:strVal val="#ppt_x"/>
                                          </p:val>
                                        </p:tav>
                                      </p:tavLst>
                                    </p:anim>
                                    <p:anim calcmode="lin" valueType="num">
                                      <p:cBhvr additive="base">
                                        <p:cTn id="33" dur="200" fill="hold"/>
                                        <p:tgtEl>
                                          <p:spTgt spid="24"/>
                                        </p:tgtEl>
                                        <p:attrNameLst>
                                          <p:attrName>ppt_y</p:attrName>
                                        </p:attrNameLst>
                                      </p:cBhvr>
                                      <p:tavLst>
                                        <p:tav tm="0">
                                          <p:val>
                                            <p:strVal val="1+#ppt_h/2"/>
                                          </p:val>
                                        </p:tav>
                                        <p:tav tm="100000">
                                          <p:val>
                                            <p:strVal val="#ppt_y"/>
                                          </p:val>
                                        </p:tav>
                                      </p:tavLst>
                                    </p:anim>
                                  </p:childTnLst>
                                </p:cTn>
                              </p:par>
                            </p:childTnLst>
                          </p:cTn>
                        </p:par>
                        <p:par>
                          <p:cTn id="34" fill="hold">
                            <p:stCondLst>
                              <p:cond delay="1200"/>
                            </p:stCondLst>
                            <p:childTnLst>
                              <p:par>
                                <p:cTn id="35" presetID="2" presetClass="entr" presetSubtype="4" decel="60000" fill="hold" nodeType="after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200" fill="hold"/>
                                        <p:tgtEl>
                                          <p:spTgt spid="23"/>
                                        </p:tgtEl>
                                        <p:attrNameLst>
                                          <p:attrName>ppt_x</p:attrName>
                                        </p:attrNameLst>
                                      </p:cBhvr>
                                      <p:tavLst>
                                        <p:tav tm="0">
                                          <p:val>
                                            <p:strVal val="#ppt_x"/>
                                          </p:val>
                                        </p:tav>
                                        <p:tav tm="100000">
                                          <p:val>
                                            <p:strVal val="#ppt_x"/>
                                          </p:val>
                                        </p:tav>
                                      </p:tavLst>
                                    </p:anim>
                                    <p:anim calcmode="lin" valueType="num">
                                      <p:cBhvr additive="base">
                                        <p:cTn id="38" dur="200" fill="hold"/>
                                        <p:tgtEl>
                                          <p:spTgt spid="23"/>
                                        </p:tgtEl>
                                        <p:attrNameLst>
                                          <p:attrName>ppt_y</p:attrName>
                                        </p:attrNameLst>
                                      </p:cBhvr>
                                      <p:tavLst>
                                        <p:tav tm="0">
                                          <p:val>
                                            <p:strVal val="1+#ppt_h/2"/>
                                          </p:val>
                                        </p:tav>
                                        <p:tav tm="100000">
                                          <p:val>
                                            <p:strVal val="#ppt_y"/>
                                          </p:val>
                                        </p:tav>
                                      </p:tavLst>
                                    </p:anim>
                                  </p:childTnLst>
                                </p:cTn>
                              </p:par>
                            </p:childTnLst>
                          </p:cTn>
                        </p:par>
                        <p:par>
                          <p:cTn id="39" fill="hold">
                            <p:stCondLst>
                              <p:cond delay="1400"/>
                            </p:stCondLst>
                            <p:childTnLst>
                              <p:par>
                                <p:cTn id="40" presetID="2" presetClass="entr" presetSubtype="1" decel="60000" fill="hold" nodeType="after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200" fill="hold"/>
                                        <p:tgtEl>
                                          <p:spTgt spid="13"/>
                                        </p:tgtEl>
                                        <p:attrNameLst>
                                          <p:attrName>ppt_x</p:attrName>
                                        </p:attrNameLst>
                                      </p:cBhvr>
                                      <p:tavLst>
                                        <p:tav tm="0">
                                          <p:val>
                                            <p:strVal val="#ppt_x"/>
                                          </p:val>
                                        </p:tav>
                                        <p:tav tm="100000">
                                          <p:val>
                                            <p:strVal val="#ppt_x"/>
                                          </p:val>
                                        </p:tav>
                                      </p:tavLst>
                                    </p:anim>
                                    <p:anim calcmode="lin" valueType="num">
                                      <p:cBhvr additive="base">
                                        <p:cTn id="43" dur="200" fill="hold"/>
                                        <p:tgtEl>
                                          <p:spTgt spid="13"/>
                                        </p:tgtEl>
                                        <p:attrNameLst>
                                          <p:attrName>ppt_y</p:attrName>
                                        </p:attrNameLst>
                                      </p:cBhvr>
                                      <p:tavLst>
                                        <p:tav tm="0">
                                          <p:val>
                                            <p:strVal val="0-#ppt_h/2"/>
                                          </p:val>
                                        </p:tav>
                                        <p:tav tm="100000">
                                          <p:val>
                                            <p:strVal val="#ppt_y"/>
                                          </p:val>
                                        </p:tav>
                                      </p:tavLst>
                                    </p:anim>
                                  </p:childTnLst>
                                </p:cTn>
                              </p:par>
                            </p:childTnLst>
                          </p:cTn>
                        </p:par>
                        <p:par>
                          <p:cTn id="44" fill="hold">
                            <p:stCondLst>
                              <p:cond delay="1600"/>
                            </p:stCondLst>
                            <p:childTnLst>
                              <p:par>
                                <p:cTn id="45" presetID="2" presetClass="entr" presetSubtype="4" decel="60000" fill="hold" nodeType="afterEffect">
                                  <p:stCondLst>
                                    <p:cond delay="0"/>
                                  </p:stCondLst>
                                  <p:childTnLst>
                                    <p:set>
                                      <p:cBhvr>
                                        <p:cTn id="46" dur="1" fill="hold">
                                          <p:stCondLst>
                                            <p:cond delay="0"/>
                                          </p:stCondLst>
                                        </p:cTn>
                                        <p:tgtEl>
                                          <p:spTgt spid="25"/>
                                        </p:tgtEl>
                                        <p:attrNameLst>
                                          <p:attrName>style.visibility</p:attrName>
                                        </p:attrNameLst>
                                      </p:cBhvr>
                                      <p:to>
                                        <p:strVal val="visible"/>
                                      </p:to>
                                    </p:set>
                                    <p:anim calcmode="lin" valueType="num">
                                      <p:cBhvr additive="base">
                                        <p:cTn id="47" dur="200" fill="hold"/>
                                        <p:tgtEl>
                                          <p:spTgt spid="25"/>
                                        </p:tgtEl>
                                        <p:attrNameLst>
                                          <p:attrName>ppt_x</p:attrName>
                                        </p:attrNameLst>
                                      </p:cBhvr>
                                      <p:tavLst>
                                        <p:tav tm="0">
                                          <p:val>
                                            <p:strVal val="#ppt_x"/>
                                          </p:val>
                                        </p:tav>
                                        <p:tav tm="100000">
                                          <p:val>
                                            <p:strVal val="#ppt_x"/>
                                          </p:val>
                                        </p:tav>
                                      </p:tavLst>
                                    </p:anim>
                                    <p:anim calcmode="lin" valueType="num">
                                      <p:cBhvr additive="base">
                                        <p:cTn id="48" dur="200" fill="hold"/>
                                        <p:tgtEl>
                                          <p:spTgt spid="25"/>
                                        </p:tgtEl>
                                        <p:attrNameLst>
                                          <p:attrName>ppt_y</p:attrName>
                                        </p:attrNameLst>
                                      </p:cBhvr>
                                      <p:tavLst>
                                        <p:tav tm="0">
                                          <p:val>
                                            <p:strVal val="1+#ppt_h/2"/>
                                          </p:val>
                                        </p:tav>
                                        <p:tav tm="100000">
                                          <p:val>
                                            <p:strVal val="#ppt_y"/>
                                          </p:val>
                                        </p:tav>
                                      </p:tavLst>
                                    </p:anim>
                                  </p:childTnLst>
                                </p:cTn>
                              </p:par>
                            </p:childTnLst>
                          </p:cTn>
                        </p:par>
                        <p:par>
                          <p:cTn id="49" fill="hold">
                            <p:stCondLst>
                              <p:cond delay="1800"/>
                            </p:stCondLst>
                            <p:childTnLst>
                              <p:par>
                                <p:cTn id="50" presetID="2" presetClass="entr" presetSubtype="4" decel="60000" fill="hold" nodeType="afterEffect">
                                  <p:stCondLst>
                                    <p:cond delay="0"/>
                                  </p:stCondLst>
                                  <p:childTnLst>
                                    <p:set>
                                      <p:cBhvr>
                                        <p:cTn id="51" dur="1" fill="hold">
                                          <p:stCondLst>
                                            <p:cond delay="0"/>
                                          </p:stCondLst>
                                        </p:cTn>
                                        <p:tgtEl>
                                          <p:spTgt spid="27"/>
                                        </p:tgtEl>
                                        <p:attrNameLst>
                                          <p:attrName>style.visibility</p:attrName>
                                        </p:attrNameLst>
                                      </p:cBhvr>
                                      <p:to>
                                        <p:strVal val="visible"/>
                                      </p:to>
                                    </p:set>
                                    <p:anim calcmode="lin" valueType="num">
                                      <p:cBhvr additive="base">
                                        <p:cTn id="52" dur="200" fill="hold"/>
                                        <p:tgtEl>
                                          <p:spTgt spid="27"/>
                                        </p:tgtEl>
                                        <p:attrNameLst>
                                          <p:attrName>ppt_x</p:attrName>
                                        </p:attrNameLst>
                                      </p:cBhvr>
                                      <p:tavLst>
                                        <p:tav tm="0">
                                          <p:val>
                                            <p:strVal val="#ppt_x"/>
                                          </p:val>
                                        </p:tav>
                                        <p:tav tm="100000">
                                          <p:val>
                                            <p:strVal val="#ppt_x"/>
                                          </p:val>
                                        </p:tav>
                                      </p:tavLst>
                                    </p:anim>
                                    <p:anim calcmode="lin" valueType="num">
                                      <p:cBhvr additive="base">
                                        <p:cTn id="53" dur="200" fill="hold"/>
                                        <p:tgtEl>
                                          <p:spTgt spid="27"/>
                                        </p:tgtEl>
                                        <p:attrNameLst>
                                          <p:attrName>ppt_y</p:attrName>
                                        </p:attrNameLst>
                                      </p:cBhvr>
                                      <p:tavLst>
                                        <p:tav tm="0">
                                          <p:val>
                                            <p:strVal val="1+#ppt_h/2"/>
                                          </p:val>
                                        </p:tav>
                                        <p:tav tm="100000">
                                          <p:val>
                                            <p:strVal val="#ppt_y"/>
                                          </p:val>
                                        </p:tav>
                                      </p:tavLst>
                                    </p:anim>
                                  </p:childTnLst>
                                </p:cTn>
                              </p:par>
                            </p:childTnLst>
                          </p:cTn>
                        </p:par>
                        <p:par>
                          <p:cTn id="54" fill="hold">
                            <p:stCondLst>
                              <p:cond delay="2000"/>
                            </p:stCondLst>
                            <p:childTnLst>
                              <p:par>
                                <p:cTn id="55" presetID="2" presetClass="entr" presetSubtype="1" decel="60000" fill="hold" nodeType="after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200" fill="hold"/>
                                        <p:tgtEl>
                                          <p:spTgt spid="14"/>
                                        </p:tgtEl>
                                        <p:attrNameLst>
                                          <p:attrName>ppt_x</p:attrName>
                                        </p:attrNameLst>
                                      </p:cBhvr>
                                      <p:tavLst>
                                        <p:tav tm="0">
                                          <p:val>
                                            <p:strVal val="#ppt_x"/>
                                          </p:val>
                                        </p:tav>
                                        <p:tav tm="100000">
                                          <p:val>
                                            <p:strVal val="#ppt_x"/>
                                          </p:val>
                                        </p:tav>
                                      </p:tavLst>
                                    </p:anim>
                                    <p:anim calcmode="lin" valueType="num">
                                      <p:cBhvr additive="base">
                                        <p:cTn id="58" dur="200" fill="hold"/>
                                        <p:tgtEl>
                                          <p:spTgt spid="14"/>
                                        </p:tgtEl>
                                        <p:attrNameLst>
                                          <p:attrName>ppt_y</p:attrName>
                                        </p:attrNameLst>
                                      </p:cBhvr>
                                      <p:tavLst>
                                        <p:tav tm="0">
                                          <p:val>
                                            <p:strVal val="0-#ppt_h/2"/>
                                          </p:val>
                                        </p:tav>
                                        <p:tav tm="100000">
                                          <p:val>
                                            <p:strVal val="#ppt_y"/>
                                          </p:val>
                                        </p:tav>
                                      </p:tavLst>
                                    </p:anim>
                                  </p:childTnLst>
                                </p:cTn>
                              </p:par>
                            </p:childTnLst>
                          </p:cTn>
                        </p:par>
                        <p:par>
                          <p:cTn id="59" fill="hold">
                            <p:stCondLst>
                              <p:cond delay="2200"/>
                            </p:stCondLst>
                            <p:childTnLst>
                              <p:par>
                                <p:cTn id="60" presetID="2" presetClass="entr" presetSubtype="4" decel="60000" fill="hold" nodeType="afterEffect">
                                  <p:stCondLst>
                                    <p:cond delay="0"/>
                                  </p:stCondLst>
                                  <p:childTnLst>
                                    <p:set>
                                      <p:cBhvr>
                                        <p:cTn id="61" dur="1" fill="hold">
                                          <p:stCondLst>
                                            <p:cond delay="0"/>
                                          </p:stCondLst>
                                        </p:cTn>
                                        <p:tgtEl>
                                          <p:spTgt spid="2"/>
                                        </p:tgtEl>
                                        <p:attrNameLst>
                                          <p:attrName>style.visibility</p:attrName>
                                        </p:attrNameLst>
                                      </p:cBhvr>
                                      <p:to>
                                        <p:strVal val="visible"/>
                                      </p:to>
                                    </p:set>
                                    <p:anim calcmode="lin" valueType="num">
                                      <p:cBhvr additive="base">
                                        <p:cTn id="62" dur="200" fill="hold"/>
                                        <p:tgtEl>
                                          <p:spTgt spid="2"/>
                                        </p:tgtEl>
                                        <p:attrNameLst>
                                          <p:attrName>ppt_x</p:attrName>
                                        </p:attrNameLst>
                                      </p:cBhvr>
                                      <p:tavLst>
                                        <p:tav tm="0">
                                          <p:val>
                                            <p:strVal val="#ppt_x"/>
                                          </p:val>
                                        </p:tav>
                                        <p:tav tm="100000">
                                          <p:val>
                                            <p:strVal val="#ppt_x"/>
                                          </p:val>
                                        </p:tav>
                                      </p:tavLst>
                                    </p:anim>
                                    <p:anim calcmode="lin" valueType="num">
                                      <p:cBhvr additive="base">
                                        <p:cTn id="63" dur="200" fill="hold"/>
                                        <p:tgtEl>
                                          <p:spTgt spid="2"/>
                                        </p:tgtEl>
                                        <p:attrNameLst>
                                          <p:attrName>ppt_y</p:attrName>
                                        </p:attrNameLst>
                                      </p:cBhvr>
                                      <p:tavLst>
                                        <p:tav tm="0">
                                          <p:val>
                                            <p:strVal val="1+#ppt_h/2"/>
                                          </p:val>
                                        </p:tav>
                                        <p:tav tm="100000">
                                          <p:val>
                                            <p:strVal val="#ppt_y"/>
                                          </p:val>
                                        </p:tav>
                                      </p:tavLst>
                                    </p:anim>
                                  </p:childTnLst>
                                </p:cTn>
                              </p:par>
                            </p:childTnLst>
                          </p:cTn>
                        </p:par>
                        <p:par>
                          <p:cTn id="64" fill="hold">
                            <p:stCondLst>
                              <p:cond delay="2400"/>
                            </p:stCondLst>
                            <p:childTnLst>
                              <p:par>
                                <p:cTn id="65" presetID="2" presetClass="entr" presetSubtype="1" decel="60000" fill="hold"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additive="base">
                                        <p:cTn id="67" dur="200" fill="hold"/>
                                        <p:tgtEl>
                                          <p:spTgt spid="15"/>
                                        </p:tgtEl>
                                        <p:attrNameLst>
                                          <p:attrName>ppt_x</p:attrName>
                                        </p:attrNameLst>
                                      </p:cBhvr>
                                      <p:tavLst>
                                        <p:tav tm="0">
                                          <p:val>
                                            <p:strVal val="#ppt_x"/>
                                          </p:val>
                                        </p:tav>
                                        <p:tav tm="100000">
                                          <p:val>
                                            <p:strVal val="#ppt_x"/>
                                          </p:val>
                                        </p:tav>
                                      </p:tavLst>
                                    </p:anim>
                                    <p:anim calcmode="lin" valueType="num">
                                      <p:cBhvr additive="base">
                                        <p:cTn id="68" dur="200" fill="hold"/>
                                        <p:tgtEl>
                                          <p:spTgt spid="15"/>
                                        </p:tgtEl>
                                        <p:attrNameLst>
                                          <p:attrName>ppt_y</p:attrName>
                                        </p:attrNameLst>
                                      </p:cBhvr>
                                      <p:tavLst>
                                        <p:tav tm="0">
                                          <p:val>
                                            <p:strVal val="0-#ppt_h/2"/>
                                          </p:val>
                                        </p:tav>
                                        <p:tav tm="100000">
                                          <p:val>
                                            <p:strVal val="#ppt_y"/>
                                          </p:val>
                                        </p:tav>
                                      </p:tavLst>
                                    </p:anim>
                                  </p:childTnLst>
                                </p:cTn>
                              </p:par>
                            </p:childTnLst>
                          </p:cTn>
                        </p:par>
                        <p:par>
                          <p:cTn id="69" fill="hold">
                            <p:stCondLst>
                              <p:cond delay="2600"/>
                            </p:stCondLst>
                            <p:childTnLst>
                              <p:par>
                                <p:cTn id="70" presetID="2" presetClass="entr" presetSubtype="4" decel="60000" fill="hold" nodeType="afterEffect">
                                  <p:stCondLst>
                                    <p:cond delay="0"/>
                                  </p:stCondLst>
                                  <p:childTnLst>
                                    <p:set>
                                      <p:cBhvr>
                                        <p:cTn id="71" dur="1" fill="hold">
                                          <p:stCondLst>
                                            <p:cond delay="0"/>
                                          </p:stCondLst>
                                        </p:cTn>
                                        <p:tgtEl>
                                          <p:spTgt spid="28"/>
                                        </p:tgtEl>
                                        <p:attrNameLst>
                                          <p:attrName>style.visibility</p:attrName>
                                        </p:attrNameLst>
                                      </p:cBhvr>
                                      <p:to>
                                        <p:strVal val="visible"/>
                                      </p:to>
                                    </p:set>
                                    <p:anim calcmode="lin" valueType="num">
                                      <p:cBhvr additive="base">
                                        <p:cTn id="72" dur="200" fill="hold"/>
                                        <p:tgtEl>
                                          <p:spTgt spid="28"/>
                                        </p:tgtEl>
                                        <p:attrNameLst>
                                          <p:attrName>ppt_x</p:attrName>
                                        </p:attrNameLst>
                                      </p:cBhvr>
                                      <p:tavLst>
                                        <p:tav tm="0">
                                          <p:val>
                                            <p:strVal val="#ppt_x"/>
                                          </p:val>
                                        </p:tav>
                                        <p:tav tm="100000">
                                          <p:val>
                                            <p:strVal val="#ppt_x"/>
                                          </p:val>
                                        </p:tav>
                                      </p:tavLst>
                                    </p:anim>
                                    <p:anim calcmode="lin" valueType="num">
                                      <p:cBhvr additive="base">
                                        <p:cTn id="73" dur="200" fill="hold"/>
                                        <p:tgtEl>
                                          <p:spTgt spid="28"/>
                                        </p:tgtEl>
                                        <p:attrNameLst>
                                          <p:attrName>ppt_y</p:attrName>
                                        </p:attrNameLst>
                                      </p:cBhvr>
                                      <p:tavLst>
                                        <p:tav tm="0">
                                          <p:val>
                                            <p:strVal val="1+#ppt_h/2"/>
                                          </p:val>
                                        </p:tav>
                                        <p:tav tm="100000">
                                          <p:val>
                                            <p:strVal val="#ppt_y"/>
                                          </p:val>
                                        </p:tav>
                                      </p:tavLst>
                                    </p:anim>
                                  </p:childTnLst>
                                </p:cTn>
                              </p:par>
                            </p:childTnLst>
                          </p:cTn>
                        </p:par>
                        <p:par>
                          <p:cTn id="74" fill="hold">
                            <p:stCondLst>
                              <p:cond delay="2800"/>
                            </p:stCondLst>
                            <p:childTnLst>
                              <p:par>
                                <p:cTn id="75" presetID="2" presetClass="entr" presetSubtype="4" decel="60000" fill="hold" nodeType="afterEffect">
                                  <p:stCondLst>
                                    <p:cond delay="0"/>
                                  </p:stCondLst>
                                  <p:childTnLst>
                                    <p:set>
                                      <p:cBhvr>
                                        <p:cTn id="76" dur="1" fill="hold">
                                          <p:stCondLst>
                                            <p:cond delay="0"/>
                                          </p:stCondLst>
                                        </p:cTn>
                                        <p:tgtEl>
                                          <p:spTgt spid="39"/>
                                        </p:tgtEl>
                                        <p:attrNameLst>
                                          <p:attrName>style.visibility</p:attrName>
                                        </p:attrNameLst>
                                      </p:cBhvr>
                                      <p:to>
                                        <p:strVal val="visible"/>
                                      </p:to>
                                    </p:set>
                                    <p:anim calcmode="lin" valueType="num">
                                      <p:cBhvr additive="base">
                                        <p:cTn id="77" dur="200" fill="hold"/>
                                        <p:tgtEl>
                                          <p:spTgt spid="39"/>
                                        </p:tgtEl>
                                        <p:attrNameLst>
                                          <p:attrName>ppt_x</p:attrName>
                                        </p:attrNameLst>
                                      </p:cBhvr>
                                      <p:tavLst>
                                        <p:tav tm="0">
                                          <p:val>
                                            <p:strVal val="#ppt_x"/>
                                          </p:val>
                                        </p:tav>
                                        <p:tav tm="100000">
                                          <p:val>
                                            <p:strVal val="#ppt_x"/>
                                          </p:val>
                                        </p:tav>
                                      </p:tavLst>
                                    </p:anim>
                                    <p:anim calcmode="lin" valueType="num">
                                      <p:cBhvr additive="base">
                                        <p:cTn id="78" dur="200" fill="hold"/>
                                        <p:tgtEl>
                                          <p:spTgt spid="39"/>
                                        </p:tgtEl>
                                        <p:attrNameLst>
                                          <p:attrName>ppt_y</p:attrName>
                                        </p:attrNameLst>
                                      </p:cBhvr>
                                      <p:tavLst>
                                        <p:tav tm="0">
                                          <p:val>
                                            <p:strVal val="1+#ppt_h/2"/>
                                          </p:val>
                                        </p:tav>
                                        <p:tav tm="100000">
                                          <p:val>
                                            <p:strVal val="#ppt_y"/>
                                          </p:val>
                                        </p:tav>
                                      </p:tavLst>
                                    </p:anim>
                                  </p:childTnLst>
                                </p:cTn>
                              </p:par>
                            </p:childTnLst>
                          </p:cTn>
                        </p:par>
                        <p:par>
                          <p:cTn id="79" fill="hold">
                            <p:stCondLst>
                              <p:cond delay="3000"/>
                            </p:stCondLst>
                            <p:childTnLst>
                              <p:par>
                                <p:cTn id="80" presetID="2" presetClass="entr" presetSubtype="1" decel="60000" fill="hold" nodeType="after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 fill="hold"/>
                                        <p:tgtEl>
                                          <p:spTgt spid="16"/>
                                        </p:tgtEl>
                                        <p:attrNameLst>
                                          <p:attrName>ppt_x</p:attrName>
                                        </p:attrNameLst>
                                      </p:cBhvr>
                                      <p:tavLst>
                                        <p:tav tm="0">
                                          <p:val>
                                            <p:strVal val="#ppt_x"/>
                                          </p:val>
                                        </p:tav>
                                        <p:tav tm="100000">
                                          <p:val>
                                            <p:strVal val="#ppt_x"/>
                                          </p:val>
                                        </p:tav>
                                      </p:tavLst>
                                    </p:anim>
                                    <p:anim calcmode="lin" valueType="num">
                                      <p:cBhvr additive="base">
                                        <p:cTn id="83" dur="200" fill="hold"/>
                                        <p:tgtEl>
                                          <p:spTgt spid="16"/>
                                        </p:tgtEl>
                                        <p:attrNameLst>
                                          <p:attrName>ppt_y</p:attrName>
                                        </p:attrNameLst>
                                      </p:cBhvr>
                                      <p:tavLst>
                                        <p:tav tm="0">
                                          <p:val>
                                            <p:strVal val="0-#ppt_h/2"/>
                                          </p:val>
                                        </p:tav>
                                        <p:tav tm="100000">
                                          <p:val>
                                            <p:strVal val="#ppt_y"/>
                                          </p:val>
                                        </p:tav>
                                      </p:tavLst>
                                    </p:anim>
                                  </p:childTnLst>
                                </p:cTn>
                              </p:par>
                            </p:childTnLst>
                          </p:cTn>
                        </p:par>
                        <p:par>
                          <p:cTn id="84" fill="hold">
                            <p:stCondLst>
                              <p:cond delay="3200"/>
                            </p:stCondLst>
                            <p:childTnLst>
                              <p:par>
                                <p:cTn id="85" presetID="2" presetClass="entr" presetSubtype="4" decel="25000" fill="hold" nodeType="afterEffect">
                                  <p:stCondLst>
                                    <p:cond delay="0"/>
                                  </p:stCondLst>
                                  <p:childTnLst>
                                    <p:set>
                                      <p:cBhvr>
                                        <p:cTn id="86" dur="1" fill="hold">
                                          <p:stCondLst>
                                            <p:cond delay="0"/>
                                          </p:stCondLst>
                                        </p:cTn>
                                        <p:tgtEl>
                                          <p:spTgt spid="425"/>
                                        </p:tgtEl>
                                        <p:attrNameLst>
                                          <p:attrName>style.visibility</p:attrName>
                                        </p:attrNameLst>
                                      </p:cBhvr>
                                      <p:to>
                                        <p:strVal val="visible"/>
                                      </p:to>
                                    </p:set>
                                    <p:anim calcmode="lin" valueType="num">
                                      <p:cBhvr additive="base">
                                        <p:cTn id="87" dur="200" fill="hold"/>
                                        <p:tgtEl>
                                          <p:spTgt spid="425"/>
                                        </p:tgtEl>
                                        <p:attrNameLst>
                                          <p:attrName>ppt_x</p:attrName>
                                        </p:attrNameLst>
                                      </p:cBhvr>
                                      <p:tavLst>
                                        <p:tav tm="0">
                                          <p:val>
                                            <p:strVal val="#ppt_x"/>
                                          </p:val>
                                        </p:tav>
                                        <p:tav tm="100000">
                                          <p:val>
                                            <p:strVal val="#ppt_x"/>
                                          </p:val>
                                        </p:tav>
                                      </p:tavLst>
                                    </p:anim>
                                    <p:anim calcmode="lin" valueType="num">
                                      <p:cBhvr additive="base">
                                        <p:cTn id="88" dur="200" fill="hold"/>
                                        <p:tgtEl>
                                          <p:spTgt spid="425"/>
                                        </p:tgtEl>
                                        <p:attrNameLst>
                                          <p:attrName>ppt_y</p:attrName>
                                        </p:attrNameLst>
                                      </p:cBhvr>
                                      <p:tavLst>
                                        <p:tav tm="0">
                                          <p:val>
                                            <p:strVal val="1+#ppt_h/2"/>
                                          </p:val>
                                        </p:tav>
                                        <p:tav tm="100000">
                                          <p:val>
                                            <p:strVal val="#ppt_y"/>
                                          </p:val>
                                        </p:tav>
                                      </p:tavLst>
                                    </p:anim>
                                  </p:childTnLst>
                                </p:cTn>
                              </p:par>
                            </p:childTnLst>
                          </p:cTn>
                        </p:par>
                        <p:par>
                          <p:cTn id="89" fill="hold">
                            <p:stCondLst>
                              <p:cond delay="3400"/>
                            </p:stCondLst>
                            <p:childTnLst>
                              <p:par>
                                <p:cTn id="90" presetID="2" presetClass="entr" presetSubtype="4" decel="60000" fill="hold" nodeType="afterEffect">
                                  <p:stCondLst>
                                    <p:cond delay="0"/>
                                  </p:stCondLst>
                                  <p:childTnLst>
                                    <p:set>
                                      <p:cBhvr>
                                        <p:cTn id="91" dur="1" fill="hold">
                                          <p:stCondLst>
                                            <p:cond delay="0"/>
                                          </p:stCondLst>
                                        </p:cTn>
                                        <p:tgtEl>
                                          <p:spTgt spid="38"/>
                                        </p:tgtEl>
                                        <p:attrNameLst>
                                          <p:attrName>style.visibility</p:attrName>
                                        </p:attrNameLst>
                                      </p:cBhvr>
                                      <p:to>
                                        <p:strVal val="visible"/>
                                      </p:to>
                                    </p:set>
                                    <p:anim calcmode="lin" valueType="num">
                                      <p:cBhvr additive="base">
                                        <p:cTn id="92" dur="200" fill="hold"/>
                                        <p:tgtEl>
                                          <p:spTgt spid="38"/>
                                        </p:tgtEl>
                                        <p:attrNameLst>
                                          <p:attrName>ppt_x</p:attrName>
                                        </p:attrNameLst>
                                      </p:cBhvr>
                                      <p:tavLst>
                                        <p:tav tm="0">
                                          <p:val>
                                            <p:strVal val="#ppt_x"/>
                                          </p:val>
                                        </p:tav>
                                        <p:tav tm="100000">
                                          <p:val>
                                            <p:strVal val="#ppt_x"/>
                                          </p:val>
                                        </p:tav>
                                      </p:tavLst>
                                    </p:anim>
                                    <p:anim calcmode="lin" valueType="num">
                                      <p:cBhvr additive="base">
                                        <p:cTn id="93" dur="200" fill="hold"/>
                                        <p:tgtEl>
                                          <p:spTgt spid="38"/>
                                        </p:tgtEl>
                                        <p:attrNameLst>
                                          <p:attrName>ppt_y</p:attrName>
                                        </p:attrNameLst>
                                      </p:cBhvr>
                                      <p:tavLst>
                                        <p:tav tm="0">
                                          <p:val>
                                            <p:strVal val="1+#ppt_h/2"/>
                                          </p:val>
                                        </p:tav>
                                        <p:tav tm="100000">
                                          <p:val>
                                            <p:strVal val="#ppt_y"/>
                                          </p:val>
                                        </p:tav>
                                      </p:tavLst>
                                    </p:anim>
                                  </p:childTnLst>
                                </p:cTn>
                              </p:par>
                            </p:childTnLst>
                          </p:cTn>
                        </p:par>
                        <p:par>
                          <p:cTn id="94" fill="hold">
                            <p:stCondLst>
                              <p:cond delay="3600"/>
                            </p:stCondLst>
                            <p:childTnLst>
                              <p:par>
                                <p:cTn id="95" presetID="2" presetClass="entr" presetSubtype="1" decel="60000" fill="hold" nodeType="after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 fill="hold"/>
                                        <p:tgtEl>
                                          <p:spTgt spid="17"/>
                                        </p:tgtEl>
                                        <p:attrNameLst>
                                          <p:attrName>ppt_x</p:attrName>
                                        </p:attrNameLst>
                                      </p:cBhvr>
                                      <p:tavLst>
                                        <p:tav tm="0">
                                          <p:val>
                                            <p:strVal val="#ppt_x"/>
                                          </p:val>
                                        </p:tav>
                                        <p:tav tm="100000">
                                          <p:val>
                                            <p:strVal val="#ppt_x"/>
                                          </p:val>
                                        </p:tav>
                                      </p:tavLst>
                                    </p:anim>
                                    <p:anim calcmode="lin" valueType="num">
                                      <p:cBhvr additive="base">
                                        <p:cTn id="98" dur="200" fill="hold"/>
                                        <p:tgtEl>
                                          <p:spTgt spid="17"/>
                                        </p:tgtEl>
                                        <p:attrNameLst>
                                          <p:attrName>ppt_y</p:attrName>
                                        </p:attrNameLst>
                                      </p:cBhvr>
                                      <p:tavLst>
                                        <p:tav tm="0">
                                          <p:val>
                                            <p:strVal val="0-#ppt_h/2"/>
                                          </p:val>
                                        </p:tav>
                                        <p:tav tm="100000">
                                          <p:val>
                                            <p:strVal val="#ppt_y"/>
                                          </p:val>
                                        </p:tav>
                                      </p:tavLst>
                                    </p:anim>
                                  </p:childTnLst>
                                </p:cTn>
                              </p:par>
                            </p:childTnLst>
                          </p:cTn>
                        </p:par>
                        <p:par>
                          <p:cTn id="99" fill="hold">
                            <p:stCondLst>
                              <p:cond delay="3800"/>
                            </p:stCondLst>
                            <p:childTnLst>
                              <p:par>
                                <p:cTn id="100" presetID="2" presetClass="entr" presetSubtype="4" decel="60000" fill="hold" nodeType="afterEffect">
                                  <p:stCondLst>
                                    <p:cond delay="0"/>
                                  </p:stCondLst>
                                  <p:childTnLst>
                                    <p:set>
                                      <p:cBhvr>
                                        <p:cTn id="101" dur="1" fill="hold">
                                          <p:stCondLst>
                                            <p:cond delay="0"/>
                                          </p:stCondLst>
                                        </p:cTn>
                                        <p:tgtEl>
                                          <p:spTgt spid="30"/>
                                        </p:tgtEl>
                                        <p:attrNameLst>
                                          <p:attrName>style.visibility</p:attrName>
                                        </p:attrNameLst>
                                      </p:cBhvr>
                                      <p:to>
                                        <p:strVal val="visible"/>
                                      </p:to>
                                    </p:set>
                                    <p:anim calcmode="lin" valueType="num">
                                      <p:cBhvr additive="base">
                                        <p:cTn id="102" dur="200" fill="hold"/>
                                        <p:tgtEl>
                                          <p:spTgt spid="30"/>
                                        </p:tgtEl>
                                        <p:attrNameLst>
                                          <p:attrName>ppt_x</p:attrName>
                                        </p:attrNameLst>
                                      </p:cBhvr>
                                      <p:tavLst>
                                        <p:tav tm="0">
                                          <p:val>
                                            <p:strVal val="#ppt_x"/>
                                          </p:val>
                                        </p:tav>
                                        <p:tav tm="100000">
                                          <p:val>
                                            <p:strVal val="#ppt_x"/>
                                          </p:val>
                                        </p:tav>
                                      </p:tavLst>
                                    </p:anim>
                                    <p:anim calcmode="lin" valueType="num">
                                      <p:cBhvr additive="base">
                                        <p:cTn id="103" dur="200" fill="hold"/>
                                        <p:tgtEl>
                                          <p:spTgt spid="30"/>
                                        </p:tgtEl>
                                        <p:attrNameLst>
                                          <p:attrName>ppt_y</p:attrName>
                                        </p:attrNameLst>
                                      </p:cBhvr>
                                      <p:tavLst>
                                        <p:tav tm="0">
                                          <p:val>
                                            <p:strVal val="1+#ppt_h/2"/>
                                          </p:val>
                                        </p:tav>
                                        <p:tav tm="100000">
                                          <p:val>
                                            <p:strVal val="#ppt_y"/>
                                          </p:val>
                                        </p:tav>
                                      </p:tavLst>
                                    </p:anim>
                                  </p:childTnLst>
                                </p:cTn>
                              </p:par>
                            </p:childTnLst>
                          </p:cTn>
                        </p:par>
                        <p:par>
                          <p:cTn id="104" fill="hold">
                            <p:stCondLst>
                              <p:cond delay="4000"/>
                            </p:stCondLst>
                            <p:childTnLst>
                              <p:par>
                                <p:cTn id="105" presetID="2" presetClass="entr" presetSubtype="4" decel="60000" fill="hold" nodeType="after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additive="base">
                                        <p:cTn id="107" dur="200" fill="hold"/>
                                        <p:tgtEl>
                                          <p:spTgt spid="37"/>
                                        </p:tgtEl>
                                        <p:attrNameLst>
                                          <p:attrName>ppt_x</p:attrName>
                                        </p:attrNameLst>
                                      </p:cBhvr>
                                      <p:tavLst>
                                        <p:tav tm="0">
                                          <p:val>
                                            <p:strVal val="#ppt_x"/>
                                          </p:val>
                                        </p:tav>
                                        <p:tav tm="100000">
                                          <p:val>
                                            <p:strVal val="#ppt_x"/>
                                          </p:val>
                                        </p:tav>
                                      </p:tavLst>
                                    </p:anim>
                                    <p:anim calcmode="lin" valueType="num">
                                      <p:cBhvr additive="base">
                                        <p:cTn id="108" dur="200" fill="hold"/>
                                        <p:tgtEl>
                                          <p:spTgt spid="37"/>
                                        </p:tgtEl>
                                        <p:attrNameLst>
                                          <p:attrName>ppt_y</p:attrName>
                                        </p:attrNameLst>
                                      </p:cBhvr>
                                      <p:tavLst>
                                        <p:tav tm="0">
                                          <p:val>
                                            <p:strVal val="1+#ppt_h/2"/>
                                          </p:val>
                                        </p:tav>
                                        <p:tav tm="100000">
                                          <p:val>
                                            <p:strVal val="#ppt_y"/>
                                          </p:val>
                                        </p:tav>
                                      </p:tavLst>
                                    </p:anim>
                                  </p:childTnLst>
                                </p:cTn>
                              </p:par>
                            </p:childTnLst>
                          </p:cTn>
                        </p:par>
                        <p:par>
                          <p:cTn id="109" fill="hold">
                            <p:stCondLst>
                              <p:cond delay="4200"/>
                            </p:stCondLst>
                            <p:childTnLst>
                              <p:par>
                                <p:cTn id="110" presetID="2" presetClass="entr" presetSubtype="1" decel="60000" fill="hold" nodeType="afterEffect">
                                  <p:stCondLst>
                                    <p:cond delay="0"/>
                                  </p:stCondLst>
                                  <p:childTnLst>
                                    <p:set>
                                      <p:cBhvr>
                                        <p:cTn id="111" dur="1" fill="hold">
                                          <p:stCondLst>
                                            <p:cond delay="0"/>
                                          </p:stCondLst>
                                        </p:cTn>
                                        <p:tgtEl>
                                          <p:spTgt spid="18"/>
                                        </p:tgtEl>
                                        <p:attrNameLst>
                                          <p:attrName>style.visibility</p:attrName>
                                        </p:attrNameLst>
                                      </p:cBhvr>
                                      <p:to>
                                        <p:strVal val="visible"/>
                                      </p:to>
                                    </p:set>
                                    <p:anim calcmode="lin" valueType="num">
                                      <p:cBhvr additive="base">
                                        <p:cTn id="112" dur="200" fill="hold"/>
                                        <p:tgtEl>
                                          <p:spTgt spid="18"/>
                                        </p:tgtEl>
                                        <p:attrNameLst>
                                          <p:attrName>ppt_x</p:attrName>
                                        </p:attrNameLst>
                                      </p:cBhvr>
                                      <p:tavLst>
                                        <p:tav tm="0">
                                          <p:val>
                                            <p:strVal val="#ppt_x"/>
                                          </p:val>
                                        </p:tav>
                                        <p:tav tm="100000">
                                          <p:val>
                                            <p:strVal val="#ppt_x"/>
                                          </p:val>
                                        </p:tav>
                                      </p:tavLst>
                                    </p:anim>
                                    <p:anim calcmode="lin" valueType="num">
                                      <p:cBhvr additive="base">
                                        <p:cTn id="113" dur="200" fill="hold"/>
                                        <p:tgtEl>
                                          <p:spTgt spid="18"/>
                                        </p:tgtEl>
                                        <p:attrNameLst>
                                          <p:attrName>ppt_y</p:attrName>
                                        </p:attrNameLst>
                                      </p:cBhvr>
                                      <p:tavLst>
                                        <p:tav tm="0">
                                          <p:val>
                                            <p:strVal val="0-#ppt_h/2"/>
                                          </p:val>
                                        </p:tav>
                                        <p:tav tm="100000">
                                          <p:val>
                                            <p:strVal val="#ppt_y"/>
                                          </p:val>
                                        </p:tav>
                                      </p:tavLst>
                                    </p:anim>
                                  </p:childTnLst>
                                </p:cTn>
                              </p:par>
                            </p:childTnLst>
                          </p:cTn>
                        </p:par>
                        <p:par>
                          <p:cTn id="114" fill="hold">
                            <p:stCondLst>
                              <p:cond delay="4400"/>
                            </p:stCondLst>
                            <p:childTnLst>
                              <p:par>
                                <p:cTn id="115" presetID="2" presetClass="entr" presetSubtype="4" decel="60000" fill="hold" nodeType="afterEffect">
                                  <p:stCondLst>
                                    <p:cond delay="0"/>
                                  </p:stCondLst>
                                  <p:childTnLst>
                                    <p:set>
                                      <p:cBhvr>
                                        <p:cTn id="116" dur="1" fill="hold">
                                          <p:stCondLst>
                                            <p:cond delay="0"/>
                                          </p:stCondLst>
                                        </p:cTn>
                                        <p:tgtEl>
                                          <p:spTgt spid="32"/>
                                        </p:tgtEl>
                                        <p:attrNameLst>
                                          <p:attrName>style.visibility</p:attrName>
                                        </p:attrNameLst>
                                      </p:cBhvr>
                                      <p:to>
                                        <p:strVal val="visible"/>
                                      </p:to>
                                    </p:set>
                                    <p:anim calcmode="lin" valueType="num">
                                      <p:cBhvr additive="base">
                                        <p:cTn id="117" dur="200" fill="hold"/>
                                        <p:tgtEl>
                                          <p:spTgt spid="32"/>
                                        </p:tgtEl>
                                        <p:attrNameLst>
                                          <p:attrName>ppt_x</p:attrName>
                                        </p:attrNameLst>
                                      </p:cBhvr>
                                      <p:tavLst>
                                        <p:tav tm="0">
                                          <p:val>
                                            <p:strVal val="#ppt_x"/>
                                          </p:val>
                                        </p:tav>
                                        <p:tav tm="100000">
                                          <p:val>
                                            <p:strVal val="#ppt_x"/>
                                          </p:val>
                                        </p:tav>
                                      </p:tavLst>
                                    </p:anim>
                                    <p:anim calcmode="lin" valueType="num">
                                      <p:cBhvr additive="base">
                                        <p:cTn id="118" dur="200" fill="hold"/>
                                        <p:tgtEl>
                                          <p:spTgt spid="32"/>
                                        </p:tgtEl>
                                        <p:attrNameLst>
                                          <p:attrName>ppt_y</p:attrName>
                                        </p:attrNameLst>
                                      </p:cBhvr>
                                      <p:tavLst>
                                        <p:tav tm="0">
                                          <p:val>
                                            <p:strVal val="1+#ppt_h/2"/>
                                          </p:val>
                                        </p:tav>
                                        <p:tav tm="100000">
                                          <p:val>
                                            <p:strVal val="#ppt_y"/>
                                          </p:val>
                                        </p:tav>
                                      </p:tavLst>
                                    </p:anim>
                                  </p:childTnLst>
                                </p:cTn>
                              </p:par>
                            </p:childTnLst>
                          </p:cTn>
                        </p:par>
                        <p:par>
                          <p:cTn id="119" fill="hold">
                            <p:stCondLst>
                              <p:cond delay="4600"/>
                            </p:stCondLst>
                            <p:childTnLst>
                              <p:par>
                                <p:cTn id="120" presetID="2" presetClass="entr" presetSubtype="4" decel="60000" fill="hold" nodeType="afterEffect">
                                  <p:stCondLst>
                                    <p:cond delay="0"/>
                                  </p:stCondLst>
                                  <p:childTnLst>
                                    <p:set>
                                      <p:cBhvr>
                                        <p:cTn id="121" dur="1" fill="hold">
                                          <p:stCondLst>
                                            <p:cond delay="0"/>
                                          </p:stCondLst>
                                        </p:cTn>
                                        <p:tgtEl>
                                          <p:spTgt spid="36"/>
                                        </p:tgtEl>
                                        <p:attrNameLst>
                                          <p:attrName>style.visibility</p:attrName>
                                        </p:attrNameLst>
                                      </p:cBhvr>
                                      <p:to>
                                        <p:strVal val="visible"/>
                                      </p:to>
                                    </p:set>
                                    <p:anim calcmode="lin" valueType="num">
                                      <p:cBhvr additive="base">
                                        <p:cTn id="122" dur="200" fill="hold"/>
                                        <p:tgtEl>
                                          <p:spTgt spid="36"/>
                                        </p:tgtEl>
                                        <p:attrNameLst>
                                          <p:attrName>ppt_x</p:attrName>
                                        </p:attrNameLst>
                                      </p:cBhvr>
                                      <p:tavLst>
                                        <p:tav tm="0">
                                          <p:val>
                                            <p:strVal val="#ppt_x"/>
                                          </p:val>
                                        </p:tav>
                                        <p:tav tm="100000">
                                          <p:val>
                                            <p:strVal val="#ppt_x"/>
                                          </p:val>
                                        </p:tav>
                                      </p:tavLst>
                                    </p:anim>
                                    <p:anim calcmode="lin" valueType="num">
                                      <p:cBhvr additive="base">
                                        <p:cTn id="123" dur="200" fill="hold"/>
                                        <p:tgtEl>
                                          <p:spTgt spid="36"/>
                                        </p:tgtEl>
                                        <p:attrNameLst>
                                          <p:attrName>ppt_y</p:attrName>
                                        </p:attrNameLst>
                                      </p:cBhvr>
                                      <p:tavLst>
                                        <p:tav tm="0">
                                          <p:val>
                                            <p:strVal val="1+#ppt_h/2"/>
                                          </p:val>
                                        </p:tav>
                                        <p:tav tm="100000">
                                          <p:val>
                                            <p:strVal val="#ppt_y"/>
                                          </p:val>
                                        </p:tav>
                                      </p:tavLst>
                                    </p:anim>
                                  </p:childTnLst>
                                </p:cTn>
                              </p:par>
                            </p:childTnLst>
                          </p:cTn>
                        </p:par>
                        <p:par>
                          <p:cTn id="124" fill="hold">
                            <p:stCondLst>
                              <p:cond delay="4800"/>
                            </p:stCondLst>
                            <p:childTnLst>
                              <p:par>
                                <p:cTn id="125" presetID="2" presetClass="entr" presetSubtype="1" decel="60000" fill="hold" nodeType="afterEffect">
                                  <p:stCondLst>
                                    <p:cond delay="0"/>
                                  </p:stCondLst>
                                  <p:childTnLst>
                                    <p:set>
                                      <p:cBhvr>
                                        <p:cTn id="126" dur="1" fill="hold">
                                          <p:stCondLst>
                                            <p:cond delay="0"/>
                                          </p:stCondLst>
                                        </p:cTn>
                                        <p:tgtEl>
                                          <p:spTgt spid="19"/>
                                        </p:tgtEl>
                                        <p:attrNameLst>
                                          <p:attrName>style.visibility</p:attrName>
                                        </p:attrNameLst>
                                      </p:cBhvr>
                                      <p:to>
                                        <p:strVal val="visible"/>
                                      </p:to>
                                    </p:set>
                                    <p:anim calcmode="lin" valueType="num">
                                      <p:cBhvr additive="base">
                                        <p:cTn id="127" dur="200" fill="hold"/>
                                        <p:tgtEl>
                                          <p:spTgt spid="19"/>
                                        </p:tgtEl>
                                        <p:attrNameLst>
                                          <p:attrName>ppt_x</p:attrName>
                                        </p:attrNameLst>
                                      </p:cBhvr>
                                      <p:tavLst>
                                        <p:tav tm="0">
                                          <p:val>
                                            <p:strVal val="#ppt_x"/>
                                          </p:val>
                                        </p:tav>
                                        <p:tav tm="100000">
                                          <p:val>
                                            <p:strVal val="#ppt_x"/>
                                          </p:val>
                                        </p:tav>
                                      </p:tavLst>
                                    </p:anim>
                                    <p:anim calcmode="lin" valueType="num">
                                      <p:cBhvr additive="base">
                                        <p:cTn id="128" dur="200" fill="hold"/>
                                        <p:tgtEl>
                                          <p:spTgt spid="19"/>
                                        </p:tgtEl>
                                        <p:attrNameLst>
                                          <p:attrName>ppt_y</p:attrName>
                                        </p:attrNameLst>
                                      </p:cBhvr>
                                      <p:tavLst>
                                        <p:tav tm="0">
                                          <p:val>
                                            <p:strVal val="0-#ppt_h/2"/>
                                          </p:val>
                                        </p:tav>
                                        <p:tav tm="100000">
                                          <p:val>
                                            <p:strVal val="#ppt_y"/>
                                          </p:val>
                                        </p:tav>
                                      </p:tavLst>
                                    </p:anim>
                                  </p:childTnLst>
                                </p:cTn>
                              </p:par>
                            </p:childTnLst>
                          </p:cTn>
                        </p:par>
                        <p:par>
                          <p:cTn id="129" fill="hold">
                            <p:stCondLst>
                              <p:cond delay="5000"/>
                            </p:stCondLst>
                            <p:childTnLst>
                              <p:par>
                                <p:cTn id="130" presetID="2" presetClass="entr" presetSubtype="4" decel="60000" fill="hold" nodeType="afterEffect">
                                  <p:stCondLst>
                                    <p:cond delay="0"/>
                                  </p:stCondLst>
                                  <p:childTnLst>
                                    <p:set>
                                      <p:cBhvr>
                                        <p:cTn id="131" dur="1" fill="hold">
                                          <p:stCondLst>
                                            <p:cond delay="0"/>
                                          </p:stCondLst>
                                        </p:cTn>
                                        <p:tgtEl>
                                          <p:spTgt spid="33"/>
                                        </p:tgtEl>
                                        <p:attrNameLst>
                                          <p:attrName>style.visibility</p:attrName>
                                        </p:attrNameLst>
                                      </p:cBhvr>
                                      <p:to>
                                        <p:strVal val="visible"/>
                                      </p:to>
                                    </p:set>
                                    <p:anim calcmode="lin" valueType="num">
                                      <p:cBhvr additive="base">
                                        <p:cTn id="132" dur="200" fill="hold"/>
                                        <p:tgtEl>
                                          <p:spTgt spid="33"/>
                                        </p:tgtEl>
                                        <p:attrNameLst>
                                          <p:attrName>ppt_x</p:attrName>
                                        </p:attrNameLst>
                                      </p:cBhvr>
                                      <p:tavLst>
                                        <p:tav tm="0">
                                          <p:val>
                                            <p:strVal val="#ppt_x"/>
                                          </p:val>
                                        </p:tav>
                                        <p:tav tm="100000">
                                          <p:val>
                                            <p:strVal val="#ppt_x"/>
                                          </p:val>
                                        </p:tav>
                                      </p:tavLst>
                                    </p:anim>
                                    <p:anim calcmode="lin" valueType="num">
                                      <p:cBhvr additive="base">
                                        <p:cTn id="133" dur="200" fill="hold"/>
                                        <p:tgtEl>
                                          <p:spTgt spid="33"/>
                                        </p:tgtEl>
                                        <p:attrNameLst>
                                          <p:attrName>ppt_y</p:attrName>
                                        </p:attrNameLst>
                                      </p:cBhvr>
                                      <p:tavLst>
                                        <p:tav tm="0">
                                          <p:val>
                                            <p:strVal val="1+#ppt_h/2"/>
                                          </p:val>
                                        </p:tav>
                                        <p:tav tm="100000">
                                          <p:val>
                                            <p:strVal val="#ppt_y"/>
                                          </p:val>
                                        </p:tav>
                                      </p:tavLst>
                                    </p:anim>
                                  </p:childTnLst>
                                </p:cTn>
                              </p:par>
                            </p:childTnLst>
                          </p:cTn>
                        </p:par>
                        <p:par>
                          <p:cTn id="134" fill="hold">
                            <p:stCondLst>
                              <p:cond delay="5200"/>
                            </p:stCondLst>
                            <p:childTnLst>
                              <p:par>
                                <p:cTn id="135" presetID="2" presetClass="entr" presetSubtype="4" decel="25000" fill="hold" nodeType="afterEffect">
                                  <p:stCondLst>
                                    <p:cond delay="0"/>
                                  </p:stCondLst>
                                  <p:childTnLst>
                                    <p:set>
                                      <p:cBhvr>
                                        <p:cTn id="136" dur="1" fill="hold">
                                          <p:stCondLst>
                                            <p:cond delay="0"/>
                                          </p:stCondLst>
                                        </p:cTn>
                                        <p:tgtEl>
                                          <p:spTgt spid="426"/>
                                        </p:tgtEl>
                                        <p:attrNameLst>
                                          <p:attrName>style.visibility</p:attrName>
                                        </p:attrNameLst>
                                      </p:cBhvr>
                                      <p:to>
                                        <p:strVal val="visible"/>
                                      </p:to>
                                    </p:set>
                                    <p:anim calcmode="lin" valueType="num">
                                      <p:cBhvr additive="base">
                                        <p:cTn id="137" dur="200" fill="hold"/>
                                        <p:tgtEl>
                                          <p:spTgt spid="426"/>
                                        </p:tgtEl>
                                        <p:attrNameLst>
                                          <p:attrName>ppt_x</p:attrName>
                                        </p:attrNameLst>
                                      </p:cBhvr>
                                      <p:tavLst>
                                        <p:tav tm="0">
                                          <p:val>
                                            <p:strVal val="#ppt_x"/>
                                          </p:val>
                                        </p:tav>
                                        <p:tav tm="100000">
                                          <p:val>
                                            <p:strVal val="#ppt_x"/>
                                          </p:val>
                                        </p:tav>
                                      </p:tavLst>
                                    </p:anim>
                                    <p:anim calcmode="lin" valueType="num">
                                      <p:cBhvr additive="base">
                                        <p:cTn id="138" dur="200" fill="hold"/>
                                        <p:tgtEl>
                                          <p:spTgt spid="426"/>
                                        </p:tgtEl>
                                        <p:attrNameLst>
                                          <p:attrName>ppt_y</p:attrName>
                                        </p:attrNameLst>
                                      </p:cBhvr>
                                      <p:tavLst>
                                        <p:tav tm="0">
                                          <p:val>
                                            <p:strVal val="1+#ppt_h/2"/>
                                          </p:val>
                                        </p:tav>
                                        <p:tav tm="100000">
                                          <p:val>
                                            <p:strVal val="#ppt_y"/>
                                          </p:val>
                                        </p:tav>
                                      </p:tavLst>
                                    </p:anim>
                                  </p:childTnLst>
                                </p:cTn>
                              </p:par>
                            </p:childTnLst>
                          </p:cTn>
                        </p:par>
                        <p:par>
                          <p:cTn id="139" fill="hold">
                            <p:stCondLst>
                              <p:cond delay="5400"/>
                            </p:stCondLst>
                            <p:childTnLst>
                              <p:par>
                                <p:cTn id="140" presetID="2" presetClass="entr" presetSubtype="1" decel="60000" fill="hold" nodeType="afterEffect">
                                  <p:stCondLst>
                                    <p:cond delay="0"/>
                                  </p:stCondLst>
                                  <p:childTnLst>
                                    <p:set>
                                      <p:cBhvr>
                                        <p:cTn id="141" dur="1" fill="hold">
                                          <p:stCondLst>
                                            <p:cond delay="0"/>
                                          </p:stCondLst>
                                        </p:cTn>
                                        <p:tgtEl>
                                          <p:spTgt spid="20"/>
                                        </p:tgtEl>
                                        <p:attrNameLst>
                                          <p:attrName>style.visibility</p:attrName>
                                        </p:attrNameLst>
                                      </p:cBhvr>
                                      <p:to>
                                        <p:strVal val="visible"/>
                                      </p:to>
                                    </p:set>
                                    <p:anim calcmode="lin" valueType="num">
                                      <p:cBhvr additive="base">
                                        <p:cTn id="142" dur="200" fill="hold"/>
                                        <p:tgtEl>
                                          <p:spTgt spid="20"/>
                                        </p:tgtEl>
                                        <p:attrNameLst>
                                          <p:attrName>ppt_x</p:attrName>
                                        </p:attrNameLst>
                                      </p:cBhvr>
                                      <p:tavLst>
                                        <p:tav tm="0">
                                          <p:val>
                                            <p:strVal val="#ppt_x"/>
                                          </p:val>
                                        </p:tav>
                                        <p:tav tm="100000">
                                          <p:val>
                                            <p:strVal val="#ppt_x"/>
                                          </p:val>
                                        </p:tav>
                                      </p:tavLst>
                                    </p:anim>
                                    <p:anim calcmode="lin" valueType="num">
                                      <p:cBhvr additive="base">
                                        <p:cTn id="143" dur="200" fill="hold"/>
                                        <p:tgtEl>
                                          <p:spTgt spid="20"/>
                                        </p:tgtEl>
                                        <p:attrNameLst>
                                          <p:attrName>ppt_y</p:attrName>
                                        </p:attrNameLst>
                                      </p:cBhvr>
                                      <p:tavLst>
                                        <p:tav tm="0">
                                          <p:val>
                                            <p:strVal val="0-#ppt_h/2"/>
                                          </p:val>
                                        </p:tav>
                                        <p:tav tm="100000">
                                          <p:val>
                                            <p:strVal val="#ppt_y"/>
                                          </p:val>
                                        </p:tav>
                                      </p:tavLst>
                                    </p:anim>
                                  </p:childTnLst>
                                </p:cTn>
                              </p:par>
                            </p:childTnLst>
                          </p:cTn>
                        </p:par>
                        <p:par>
                          <p:cTn id="144" fill="hold">
                            <p:stCondLst>
                              <p:cond delay="5600"/>
                            </p:stCondLst>
                            <p:childTnLst>
                              <p:par>
                                <p:cTn id="145" presetID="2" presetClass="entr" presetSubtype="4" decel="60000" fill="hold" nodeType="afterEffect">
                                  <p:stCondLst>
                                    <p:cond delay="0"/>
                                  </p:stCondLst>
                                  <p:childTnLst>
                                    <p:set>
                                      <p:cBhvr>
                                        <p:cTn id="146" dur="1" fill="hold">
                                          <p:stCondLst>
                                            <p:cond delay="0"/>
                                          </p:stCondLst>
                                        </p:cTn>
                                        <p:tgtEl>
                                          <p:spTgt spid="34"/>
                                        </p:tgtEl>
                                        <p:attrNameLst>
                                          <p:attrName>style.visibility</p:attrName>
                                        </p:attrNameLst>
                                      </p:cBhvr>
                                      <p:to>
                                        <p:strVal val="visible"/>
                                      </p:to>
                                    </p:set>
                                    <p:anim calcmode="lin" valueType="num">
                                      <p:cBhvr additive="base">
                                        <p:cTn id="147" dur="200" fill="hold"/>
                                        <p:tgtEl>
                                          <p:spTgt spid="34"/>
                                        </p:tgtEl>
                                        <p:attrNameLst>
                                          <p:attrName>ppt_x</p:attrName>
                                        </p:attrNameLst>
                                      </p:cBhvr>
                                      <p:tavLst>
                                        <p:tav tm="0">
                                          <p:val>
                                            <p:strVal val="#ppt_x"/>
                                          </p:val>
                                        </p:tav>
                                        <p:tav tm="100000">
                                          <p:val>
                                            <p:strVal val="#ppt_x"/>
                                          </p:val>
                                        </p:tav>
                                      </p:tavLst>
                                    </p:anim>
                                    <p:anim calcmode="lin" valueType="num">
                                      <p:cBhvr additive="base">
                                        <p:cTn id="148" dur="2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a:extLst>
              <a:ext uri="{FF2B5EF4-FFF2-40B4-BE49-F238E27FC236}">
                <a16:creationId xmlns:a16="http://schemas.microsoft.com/office/drawing/2014/main" id="{6E8CA7AE-6598-45BF-A02B-08F669BA6BE1}"/>
              </a:ext>
            </a:extLst>
          </p:cNvPr>
          <p:cNvSpPr>
            <a:spLocks noGrp="1"/>
          </p:cNvSpPr>
          <p:nvPr>
            <p:ph type="body" sz="quarter" idx="13"/>
          </p:nvPr>
        </p:nvSpPr>
        <p:spPr/>
        <p:txBody>
          <a:bodyPr/>
          <a:lstStyle/>
          <a:p>
            <a:r>
              <a:rPr lang="en-US" sz="3600" dirty="0">
                <a:solidFill>
                  <a:schemeClr val="tx1"/>
                </a:solidFill>
              </a:rPr>
              <a:t>Security Hardening &amp; Compliance Resources</a:t>
            </a:r>
          </a:p>
        </p:txBody>
      </p:sp>
      <p:sp>
        <p:nvSpPr>
          <p:cNvPr id="2" name="Text Placeholder 1">
            <a:extLst>
              <a:ext uri="{FF2B5EF4-FFF2-40B4-BE49-F238E27FC236}">
                <a16:creationId xmlns:a16="http://schemas.microsoft.com/office/drawing/2014/main" id="{9000B02F-928C-4D64-AB6F-0027419BB82F}"/>
              </a:ext>
            </a:extLst>
          </p:cNvPr>
          <p:cNvSpPr>
            <a:spLocks noGrp="1"/>
          </p:cNvSpPr>
          <p:nvPr>
            <p:ph type="body" sz="quarter" idx="14"/>
          </p:nvPr>
        </p:nvSpPr>
        <p:spPr>
          <a:xfrm>
            <a:off x="506413" y="3787775"/>
            <a:ext cx="5499100" cy="669925"/>
          </a:xfrm>
        </p:spPr>
        <p:txBody>
          <a:bodyPr/>
          <a:lstStyle/>
          <a:p>
            <a:pPr marL="114300" indent="0">
              <a:buNone/>
            </a:pPr>
            <a:r>
              <a:rPr lang="en-US" sz="2800" dirty="0">
                <a:solidFill>
                  <a:schemeClr val="tx1">
                    <a:lumMod val="85000"/>
                    <a:lumOff val="15000"/>
                  </a:schemeClr>
                </a:solidFill>
              </a:rPr>
              <a:t>https://brcm.tech/vcf-security</a:t>
            </a:r>
            <a:endParaRPr lang="en-US" dirty="0">
              <a:solidFill>
                <a:schemeClr val="tx1">
                  <a:lumMod val="85000"/>
                  <a:lumOff val="15000"/>
                </a:schemeClr>
              </a:solidFill>
            </a:endParaRPr>
          </a:p>
        </p:txBody>
      </p:sp>
      <p:sp>
        <p:nvSpPr>
          <p:cNvPr id="6" name="Picture Placeholder 5">
            <a:extLst>
              <a:ext uri="{FF2B5EF4-FFF2-40B4-BE49-F238E27FC236}">
                <a16:creationId xmlns:a16="http://schemas.microsoft.com/office/drawing/2014/main" id="{C5F29E16-ED10-9F75-2D09-42BCAF313A46}"/>
              </a:ext>
            </a:extLst>
          </p:cNvPr>
          <p:cNvSpPr>
            <a:spLocks noGrp="1"/>
          </p:cNvSpPr>
          <p:nvPr>
            <p:ph type="pic" sz="quarter" idx="15"/>
          </p:nvPr>
        </p:nvSpPr>
        <p:spPr/>
        <p:txBody>
          <a:bodyPr/>
          <a:lstStyle/>
          <a:p>
            <a:endParaRPr lang="en-US"/>
          </a:p>
        </p:txBody>
      </p:sp>
      <p:sp>
        <p:nvSpPr>
          <p:cNvPr id="3" name="Text Placeholder 1">
            <a:extLst>
              <a:ext uri="{FF2B5EF4-FFF2-40B4-BE49-F238E27FC236}">
                <a16:creationId xmlns:a16="http://schemas.microsoft.com/office/drawing/2014/main" id="{AA93359B-88CA-6624-1D08-1CA830687AB2}"/>
              </a:ext>
            </a:extLst>
          </p:cNvPr>
          <p:cNvSpPr txBox="1">
            <a:spLocks/>
          </p:cNvSpPr>
          <p:nvPr/>
        </p:nvSpPr>
        <p:spPr>
          <a:xfrm>
            <a:off x="612247" y="4280344"/>
            <a:ext cx="5499100" cy="669925"/>
          </a:xfrm>
          <a:prstGeom prst="rect">
            <a:avLst/>
          </a:prstGeom>
        </p:spPr>
        <p:txBody>
          <a:bodyPr vert="horz" lIns="0" tIns="0" rIns="0" bIns="0" rtlCol="0">
            <a:noAutofit/>
          </a:bodyPr>
          <a:lstStyle>
            <a:lvl1pPr marL="0" indent="0" algn="l" defTabSz="914400" rtl="0" eaLnBrk="1" latinLnBrk="0" hangingPunct="1">
              <a:lnSpc>
                <a:spcPct val="100000"/>
              </a:lnSpc>
              <a:spcBef>
                <a:spcPts val="0"/>
              </a:spcBef>
              <a:spcAft>
                <a:spcPts val="1200"/>
              </a:spcAft>
              <a:buClr>
                <a:schemeClr val="tx1">
                  <a:lumMod val="60000"/>
                  <a:lumOff val="40000"/>
                </a:schemeClr>
              </a:buClr>
              <a:buSzPct val="90000"/>
              <a:buFont typeface="Arial" pitchFamily="2" charset="0"/>
              <a:buChar char="​"/>
              <a:defRPr sz="2000" kern="1200">
                <a:solidFill>
                  <a:schemeClr val="tx1"/>
                </a:solidFill>
                <a:latin typeface="+mn-lt"/>
                <a:ea typeface="+mn-ea"/>
                <a:cs typeface="+mn-cs"/>
              </a:defRPr>
            </a:lvl1pPr>
            <a:lvl2pPr marL="273050" indent="0"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None/>
              <a:defRPr sz="1800" kern="1200">
                <a:solidFill>
                  <a:schemeClr val="tx1"/>
                </a:solidFill>
                <a:latin typeface="+mn-lt"/>
                <a:ea typeface="+mn-ea"/>
                <a:cs typeface="+mn-cs"/>
              </a:defRPr>
            </a:lvl2pPr>
            <a:lvl3pPr marL="744538" indent="-169863"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defRPr sz="1600" kern="1200">
                <a:solidFill>
                  <a:schemeClr val="tx1"/>
                </a:solidFill>
                <a:latin typeface="+mn-lt"/>
                <a:ea typeface="+mn-ea"/>
                <a:cs typeface="+mn-cs"/>
              </a:defRPr>
            </a:lvl3pPr>
            <a:lvl4pPr marL="969963" indent="-166688"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defRPr sz="1400" kern="1200">
                <a:solidFill>
                  <a:schemeClr val="tx1"/>
                </a:solidFill>
                <a:latin typeface="+mn-lt"/>
                <a:ea typeface="+mn-ea"/>
                <a:cs typeface="+mn-cs"/>
              </a:defRPr>
            </a:lvl4pPr>
            <a:lvl5pPr marL="1143000" indent="-138113"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tabLst/>
              <a:defRPr sz="1400" kern="1200">
                <a:solidFill>
                  <a:schemeClr val="tx1"/>
                </a:solidFill>
                <a:latin typeface="+mn-lt"/>
                <a:ea typeface="+mn-ea"/>
                <a:cs typeface="+mn-cs"/>
              </a:defRPr>
            </a:lvl5pPr>
            <a:lvl6pPr marL="1258888" indent="-111125"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tabLst/>
              <a:defRPr sz="1400" kern="1200">
                <a:solidFill>
                  <a:schemeClr val="tx1"/>
                </a:solidFill>
                <a:latin typeface="+mn-lt"/>
                <a:ea typeface="+mn-ea"/>
                <a:cs typeface="+mn-cs"/>
              </a:defRPr>
            </a:lvl6pPr>
            <a:lvl7pPr marL="1379538" indent="-120650"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tabLst/>
              <a:defRPr sz="1400" kern="1200">
                <a:solidFill>
                  <a:schemeClr val="tx1"/>
                </a:solidFill>
                <a:latin typeface="+mn-lt"/>
                <a:ea typeface="+mn-ea"/>
                <a:cs typeface="+mn-cs"/>
              </a:defRPr>
            </a:lvl7pPr>
            <a:lvl8pPr marL="1550988" indent="-120650"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tabLst/>
              <a:defRPr sz="1400" kern="1200">
                <a:solidFill>
                  <a:schemeClr val="tx1"/>
                </a:solidFill>
                <a:latin typeface="+mn-lt"/>
                <a:ea typeface="+mn-ea"/>
                <a:cs typeface="+mn-cs"/>
              </a:defRPr>
            </a:lvl8pPr>
            <a:lvl9pPr marL="1722438" indent="-120650" algn="l" defTabSz="914400" rtl="0" eaLnBrk="1" latinLnBrk="0" hangingPunct="1">
              <a:lnSpc>
                <a:spcPct val="100000"/>
              </a:lnSpc>
              <a:spcBef>
                <a:spcPts val="0"/>
              </a:spcBef>
              <a:spcAft>
                <a:spcPts val="1200"/>
              </a:spcAft>
              <a:buClr>
                <a:schemeClr val="bg2">
                  <a:lumMod val="25000"/>
                </a:schemeClr>
              </a:buClr>
              <a:buSzPct val="90000"/>
              <a:buFont typeface="Arial" pitchFamily="2" charset="0"/>
              <a:buChar char="-"/>
              <a:tabLst/>
              <a:defRPr sz="14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1200"/>
              </a:spcAft>
              <a:buClr>
                <a:srgbClr val="000000">
                  <a:lumMod val="60000"/>
                  <a:lumOff val="40000"/>
                </a:srgbClr>
              </a:buClr>
              <a:buSzPct val="90000"/>
              <a:buFont typeface="Arial" pitchFamily="2" charset="0"/>
              <a:buChar char="​"/>
              <a:tabLst/>
              <a:defRPr/>
            </a:pPr>
            <a:r>
              <a:rPr kumimoji="0" lang="en-US" sz="1200" b="0" i="0" u="none" strike="noStrike" kern="1200" cap="none" spc="0" normalizeH="0" baseline="0" noProof="0" dirty="0">
                <a:ln>
                  <a:noFill/>
                </a:ln>
                <a:solidFill>
                  <a:srgbClr val="000000">
                    <a:lumMod val="85000"/>
                    <a:lumOff val="15000"/>
                  </a:srgbClr>
                </a:solidFill>
                <a:effectLst/>
                <a:uLnTx/>
                <a:uFillTx/>
                <a:latin typeface="Arial" pitchFamily="2" charset="0"/>
                <a:ea typeface="+mn-ea"/>
                <a:cs typeface="+mn-cs"/>
              </a:rPr>
              <a:t>https://github.com/vmware/vcf-security-and-compliance-guidelines/</a:t>
            </a:r>
            <a:endParaRPr kumimoji="0" lang="en-US" sz="1050" b="0" i="0" u="none" strike="noStrike" kern="1200" cap="none" spc="0" normalizeH="0" baseline="0" noProof="0" dirty="0">
              <a:ln>
                <a:noFill/>
              </a:ln>
              <a:solidFill>
                <a:srgbClr val="000000">
                  <a:lumMod val="85000"/>
                  <a:lumOff val="15000"/>
                </a:srgbClr>
              </a:solidFill>
              <a:effectLst/>
              <a:uLnTx/>
              <a:uFillTx/>
              <a:latin typeface="Arial" pitchFamily="2" charset="0"/>
              <a:ea typeface="+mn-ea"/>
              <a:cs typeface="+mn-cs"/>
            </a:endParaRPr>
          </a:p>
        </p:txBody>
      </p:sp>
      <p:pic>
        <p:nvPicPr>
          <p:cNvPr id="10" name="Graphic 9">
            <a:extLst>
              <a:ext uri="{FF2B5EF4-FFF2-40B4-BE49-F238E27FC236}">
                <a16:creationId xmlns:a16="http://schemas.microsoft.com/office/drawing/2014/main" id="{D7C27CC3-6851-6B46-CAA5-F427B099A1C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327948" y="1600200"/>
            <a:ext cx="3657600" cy="3657600"/>
          </a:xfrm>
          <a:prstGeom prst="rect">
            <a:avLst/>
          </a:prstGeom>
        </p:spPr>
      </p:pic>
    </p:spTree>
    <p:extLst>
      <p:ext uri="{BB962C8B-B14F-4D97-AF65-F5344CB8AC3E}">
        <p14:creationId xmlns:p14="http://schemas.microsoft.com/office/powerpoint/2010/main" val="2304145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Shape 2944"/>
        <p:cNvGrpSpPr/>
        <p:nvPr/>
      </p:nvGrpSpPr>
      <p:grpSpPr>
        <a:xfrm>
          <a:off x="0" y="0"/>
          <a:ext cx="0" cy="0"/>
          <a:chOff x="0" y="0"/>
          <a:chExt cx="0" cy="0"/>
        </a:xfrm>
      </p:grpSpPr>
      <p:sp>
        <p:nvSpPr>
          <p:cNvPr id="2945" name="Google Shape;2945;p145"/>
          <p:cNvSpPr txBox="1">
            <a:spLocks noGrp="1"/>
          </p:cNvSpPr>
          <p:nvPr>
            <p:ph type="title"/>
          </p:nvPr>
        </p:nvSpPr>
        <p:spPr>
          <a:xfrm>
            <a:off x="589107" y="938794"/>
            <a:ext cx="7821246" cy="122936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3600"/>
              <a:buFont typeface="Arial"/>
              <a:buNone/>
            </a:pPr>
            <a:r>
              <a:rPr lang="en-US" dirty="0"/>
              <a:t>Accelerate Recovery from Ransomware and Other Disasters</a:t>
            </a:r>
            <a:endParaRPr dirty="0"/>
          </a:p>
        </p:txBody>
      </p:sp>
      <p:sp>
        <p:nvSpPr>
          <p:cNvPr id="2946" name="Google Shape;2946;p145"/>
          <p:cNvSpPr txBox="1">
            <a:spLocks noGrp="1"/>
          </p:cNvSpPr>
          <p:nvPr>
            <p:ph type="subTitle" idx="1"/>
          </p:nvPr>
        </p:nvSpPr>
        <p:spPr>
          <a:xfrm>
            <a:off x="602966" y="2267712"/>
            <a:ext cx="6542112" cy="700882"/>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2160"/>
              <a:buNone/>
            </a:pPr>
            <a:endParaRPr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Shape 2951"/>
        <p:cNvGrpSpPr/>
        <p:nvPr/>
      </p:nvGrpSpPr>
      <p:grpSpPr>
        <a:xfrm>
          <a:off x="0" y="0"/>
          <a:ext cx="0" cy="0"/>
          <a:chOff x="0" y="0"/>
          <a:chExt cx="0" cy="0"/>
        </a:xfrm>
      </p:grpSpPr>
      <p:grpSp>
        <p:nvGrpSpPr>
          <p:cNvPr id="2952" name="Google Shape;2952;p146"/>
          <p:cNvGrpSpPr/>
          <p:nvPr/>
        </p:nvGrpSpPr>
        <p:grpSpPr>
          <a:xfrm>
            <a:off x="2631055" y="2194796"/>
            <a:ext cx="6926717" cy="3705254"/>
            <a:chOff x="2475853" y="2194473"/>
            <a:chExt cx="6928522" cy="3706219"/>
          </a:xfrm>
        </p:grpSpPr>
        <p:sp>
          <p:nvSpPr>
            <p:cNvPr id="2953" name="Google Shape;2953;p146"/>
            <p:cNvSpPr/>
            <p:nvPr/>
          </p:nvSpPr>
          <p:spPr>
            <a:xfrm>
              <a:off x="2680703" y="5337688"/>
              <a:ext cx="6518700" cy="519300"/>
            </a:xfrm>
            <a:prstGeom prst="round2SameRect">
              <a:avLst>
                <a:gd name="adj1" fmla="val 47157"/>
                <a:gd name="adj2" fmla="val 0"/>
              </a:avLst>
            </a:prstGeom>
            <a:gradFill>
              <a:gsLst>
                <a:gs pos="0">
                  <a:srgbClr val="6C4B8F"/>
                </a:gs>
                <a:gs pos="100000">
                  <a:srgbClr val="005B84"/>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2954" name="Google Shape;2954;p146"/>
            <p:cNvSpPr/>
            <p:nvPr/>
          </p:nvSpPr>
          <p:spPr>
            <a:xfrm>
              <a:off x="2680703" y="3912163"/>
              <a:ext cx="6518700" cy="1377000"/>
            </a:xfrm>
            <a:prstGeom prst="round2SameRect">
              <a:avLst>
                <a:gd name="adj1" fmla="val 0"/>
                <a:gd name="adj2" fmla="val 16384"/>
              </a:avLst>
            </a:prstGeom>
            <a:gradFill>
              <a:gsLst>
                <a:gs pos="0">
                  <a:schemeClr val="accent5"/>
                </a:gs>
                <a:gs pos="21000">
                  <a:schemeClr val="accent5"/>
                </a:gs>
                <a:gs pos="100000">
                  <a:schemeClr val="accent2"/>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2955" name="Google Shape;2955;p146"/>
            <p:cNvSpPr/>
            <p:nvPr/>
          </p:nvSpPr>
          <p:spPr>
            <a:xfrm>
              <a:off x="2680703" y="2475778"/>
              <a:ext cx="6518700" cy="1377000"/>
            </a:xfrm>
            <a:prstGeom prst="round2SameRect">
              <a:avLst>
                <a:gd name="adj1" fmla="val 16667"/>
                <a:gd name="adj2" fmla="val 0"/>
              </a:avLst>
            </a:prstGeom>
            <a:gradFill>
              <a:gsLst>
                <a:gs pos="0">
                  <a:srgbClr val="002060"/>
                </a:gs>
                <a:gs pos="100000">
                  <a:schemeClr val="accent3"/>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2956" name="Google Shape;2956;p146"/>
            <p:cNvSpPr/>
            <p:nvPr/>
          </p:nvSpPr>
          <p:spPr>
            <a:xfrm>
              <a:off x="2632419" y="5298892"/>
              <a:ext cx="6615300" cy="601800"/>
            </a:xfrm>
            <a:prstGeom prst="rect">
              <a:avLst/>
            </a:prstGeom>
            <a:gradFill>
              <a:gsLst>
                <a:gs pos="0">
                  <a:srgbClr val="FFFFFF">
                    <a:alpha val="76862"/>
                  </a:srgbClr>
                </a:gs>
                <a:gs pos="85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2957" name="Google Shape;2957;p146"/>
            <p:cNvSpPr/>
            <p:nvPr/>
          </p:nvSpPr>
          <p:spPr>
            <a:xfrm>
              <a:off x="4012633" y="3934671"/>
              <a:ext cx="3855000" cy="351900"/>
            </a:xfrm>
            <a:prstGeom prst="rect">
              <a:avLst/>
            </a:prstGeom>
            <a:noFill/>
            <a:ln>
              <a:noFill/>
            </a:ln>
          </p:spPr>
          <p:txBody>
            <a:bodyPr spcFirstLastPara="1" wrap="square" lIns="91325" tIns="91325" rIns="91325" bIns="913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1200" b="0" i="0" u="none" strike="noStrike" kern="0" cap="none" spc="0" normalizeH="0" baseline="0" noProof="0" dirty="0">
                  <a:ln>
                    <a:noFill/>
                  </a:ln>
                  <a:solidFill>
                    <a:srgbClr val="F2F2F2"/>
                  </a:solidFill>
                  <a:effectLst/>
                  <a:uLnTx/>
                  <a:uFillTx/>
                  <a:latin typeface="Arial"/>
                  <a:ea typeface="Arial"/>
                  <a:cs typeface="Arial"/>
                  <a:sym typeface="Arial"/>
                </a:rPr>
                <a:t>Automation and Operations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958" name="Google Shape;2958;p146"/>
            <p:cNvSpPr/>
            <p:nvPr/>
          </p:nvSpPr>
          <p:spPr>
            <a:xfrm>
              <a:off x="3291775" y="2618021"/>
              <a:ext cx="5296800" cy="0"/>
            </a:xfrm>
            <a:prstGeom prst="roundRect">
              <a:avLst>
                <a:gd name="adj" fmla="val 8857"/>
              </a:avLst>
            </a:prstGeom>
            <a:gradFill>
              <a:gsLst>
                <a:gs pos="0">
                  <a:srgbClr val="021A58"/>
                </a:gs>
                <a:gs pos="99000">
                  <a:srgbClr val="02246C"/>
                </a:gs>
                <a:gs pos="100000">
                  <a:srgbClr val="02246C"/>
                </a:gs>
              </a:gsLst>
              <a:lin ang="2700006" scaled="0"/>
            </a:gradFill>
            <a:ln>
              <a:noFill/>
            </a:ln>
          </p:spPr>
          <p:txBody>
            <a:bodyPr spcFirstLastPara="1" wrap="square" lIns="91375" tIns="45650" rIns="9137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2959" name="Google Shape;2959;p146"/>
            <p:cNvSpPr/>
            <p:nvPr/>
          </p:nvSpPr>
          <p:spPr>
            <a:xfrm>
              <a:off x="3847252" y="2525796"/>
              <a:ext cx="4185600" cy="351900"/>
            </a:xfrm>
            <a:prstGeom prst="rect">
              <a:avLst/>
            </a:prstGeom>
            <a:noFill/>
            <a:ln>
              <a:noFill/>
            </a:ln>
          </p:spPr>
          <p:txBody>
            <a:bodyPr spcFirstLastPara="1" wrap="square" lIns="91325" tIns="91325" rIns="91325" bIns="913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1200" b="0" i="0" u="none" strike="noStrike" kern="0" cap="none" spc="0" normalizeH="0" baseline="0" noProof="0" dirty="0">
                  <a:ln>
                    <a:noFill/>
                  </a:ln>
                  <a:solidFill>
                    <a:srgbClr val="F2F2F2"/>
                  </a:solidFill>
                  <a:effectLst/>
                  <a:uLnTx/>
                  <a:uFillTx/>
                  <a:latin typeface="Arial"/>
                  <a:ea typeface="Arial"/>
                  <a:cs typeface="Arial"/>
                  <a:sym typeface="Arial"/>
                </a:rPr>
                <a:t>Modern Cloud Interface</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2960" name="Google Shape;2960;p146"/>
            <p:cNvGrpSpPr/>
            <p:nvPr/>
          </p:nvGrpSpPr>
          <p:grpSpPr>
            <a:xfrm>
              <a:off x="2745476" y="2956505"/>
              <a:ext cx="6389397" cy="1879314"/>
              <a:chOff x="3325785" y="2956505"/>
              <a:chExt cx="5280493" cy="1879314"/>
            </a:xfrm>
          </p:grpSpPr>
          <p:sp>
            <p:nvSpPr>
              <p:cNvPr id="2961" name="Google Shape;2961;p146"/>
              <p:cNvSpPr txBox="1"/>
              <p:nvPr/>
            </p:nvSpPr>
            <p:spPr>
              <a:xfrm>
                <a:off x="3325785" y="4392890"/>
                <a:ext cx="1112400" cy="44292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Capacity,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Configuration,</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Tenancy</a:t>
                </a:r>
                <a:endParaRPr kumimoji="0" sz="1066" b="0" i="0" u="none" strike="noStrike" kern="0" cap="none" spc="0" normalizeH="0" baseline="0" noProof="0" dirty="0">
                  <a:ln>
                    <a:noFill/>
                  </a:ln>
                  <a:solidFill>
                    <a:srgbClr val="F2F2F2"/>
                  </a:solidFill>
                  <a:effectLst/>
                  <a:uLnTx/>
                  <a:uFillTx/>
                  <a:latin typeface="Arial"/>
                  <a:ea typeface="Arial"/>
                  <a:cs typeface="Arial"/>
                  <a:sym typeface="Arial"/>
                </a:endParaRPr>
              </a:p>
            </p:txBody>
          </p:sp>
          <p:sp>
            <p:nvSpPr>
              <p:cNvPr id="2962" name="Google Shape;2962;p146"/>
              <p:cNvSpPr txBox="1"/>
              <p:nvPr/>
            </p:nvSpPr>
            <p:spPr>
              <a:xfrm>
                <a:off x="7496512" y="4392890"/>
                <a:ext cx="987900" cy="44292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SRE Ops, Fleet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and Security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Management,</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963" name="Google Shape;2963;p146"/>
              <p:cNvSpPr txBox="1"/>
              <p:nvPr/>
            </p:nvSpPr>
            <p:spPr>
              <a:xfrm>
                <a:off x="3464097" y="2956505"/>
                <a:ext cx="835800" cy="44292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Tenant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Management,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Content</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964" name="Google Shape;2964;p146"/>
              <p:cNvSpPr txBox="1"/>
              <p:nvPr/>
            </p:nvSpPr>
            <p:spPr>
              <a:xfrm>
                <a:off x="7382578" y="2956505"/>
                <a:ext cx="1223700" cy="44292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Service Catalog, Orchestration,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Apps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2965" name="Google Shape;2965;p146"/>
            <p:cNvSpPr txBox="1"/>
            <p:nvPr/>
          </p:nvSpPr>
          <p:spPr>
            <a:xfrm>
              <a:off x="4022120" y="2194473"/>
              <a:ext cx="3836100" cy="184714"/>
            </a:xfrm>
            <a:prstGeom prst="rect">
              <a:avLst/>
            </a:prstGeom>
            <a:noFill/>
            <a:ln>
              <a:noFill/>
            </a:ln>
          </p:spPr>
          <p:txBody>
            <a:bodyPr spcFirstLastPara="1" wrap="square" lIns="0" tIns="0" rIns="0" bIns="0" anchor="b"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r>
                <a:rPr kumimoji="0" lang="en-US" sz="1200" b="1" i="0" u="none" strike="noStrike" kern="0" cap="none" spc="0" normalizeH="0" baseline="0" noProof="0" dirty="0">
                  <a:ln>
                    <a:noFill/>
                  </a:ln>
                  <a:solidFill>
                    <a:srgbClr val="0098C7"/>
                  </a:solidFill>
                  <a:effectLst/>
                  <a:uLnTx/>
                  <a:uFillTx/>
                  <a:latin typeface="Arial"/>
                  <a:ea typeface="Arial"/>
                  <a:cs typeface="Arial"/>
                  <a:sym typeface="Arial"/>
                </a:rPr>
                <a:t>VMware Cloud Foundation 9.0</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2966" name="Google Shape;2966;p146"/>
            <p:cNvGrpSpPr/>
            <p:nvPr/>
          </p:nvGrpSpPr>
          <p:grpSpPr>
            <a:xfrm>
              <a:off x="3977592" y="3734175"/>
              <a:ext cx="3924943" cy="326215"/>
              <a:chOff x="3970286" y="3734175"/>
              <a:chExt cx="3924943" cy="326215"/>
            </a:xfrm>
          </p:grpSpPr>
          <p:grpSp>
            <p:nvGrpSpPr>
              <p:cNvPr id="2967" name="Google Shape;2967;p146"/>
              <p:cNvGrpSpPr/>
              <p:nvPr/>
            </p:nvGrpSpPr>
            <p:grpSpPr>
              <a:xfrm>
                <a:off x="3970286" y="3734175"/>
                <a:ext cx="313500" cy="313500"/>
                <a:chOff x="4202510" y="3734175"/>
                <a:chExt cx="313500" cy="313500"/>
              </a:xfrm>
            </p:grpSpPr>
            <p:sp>
              <p:nvSpPr>
                <p:cNvPr id="2968" name="Google Shape;2968;p146"/>
                <p:cNvSpPr/>
                <p:nvPr/>
              </p:nvSpPr>
              <p:spPr>
                <a:xfrm>
                  <a:off x="4202510" y="3734175"/>
                  <a:ext cx="313500" cy="313500"/>
                </a:xfrm>
                <a:prstGeom prst="ellipse">
                  <a:avLst/>
                </a:prstGeom>
                <a:solidFill>
                  <a:srgbClr val="FFFFFF"/>
                </a:solidFill>
                <a:ln>
                  <a:noFill/>
                </a:ln>
              </p:spPr>
              <p:txBody>
                <a:bodyPr spcFirstLastPara="1" wrap="square" lIns="91375" tIns="91375" rIns="91375" bIns="913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grpSp>
              <p:nvGrpSpPr>
                <p:cNvPr id="2969" name="Google Shape;2969;p146"/>
                <p:cNvGrpSpPr/>
                <p:nvPr/>
              </p:nvGrpSpPr>
              <p:grpSpPr>
                <a:xfrm>
                  <a:off x="4288402" y="3792600"/>
                  <a:ext cx="140081" cy="191773"/>
                  <a:chOff x="5000233" y="3506447"/>
                  <a:chExt cx="283795" cy="388519"/>
                </a:xfrm>
              </p:grpSpPr>
              <p:sp>
                <p:nvSpPr>
                  <p:cNvPr id="2970" name="Google Shape;2970;p146"/>
                  <p:cNvSpPr/>
                  <p:nvPr/>
                </p:nvSpPr>
                <p:spPr>
                  <a:xfrm rot="-5400000">
                    <a:off x="5060499" y="367143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0000"/>
                    </a:schemeClr>
                  </a:soli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sp>
                <p:nvSpPr>
                  <p:cNvPr id="2971" name="Google Shape;2971;p146"/>
                  <p:cNvSpPr/>
                  <p:nvPr/>
                </p:nvSpPr>
                <p:spPr>
                  <a:xfrm rot="-5400000">
                    <a:off x="5060499" y="355880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5098"/>
                    </a:schemeClr>
                  </a:soli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sp>
                <p:nvSpPr>
                  <p:cNvPr id="2972" name="Google Shape;2972;p146"/>
                  <p:cNvSpPr/>
                  <p:nvPr/>
                </p:nvSpPr>
                <p:spPr>
                  <a:xfrm rot="-5400000">
                    <a:off x="5060499" y="3446180"/>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grpSp>
          </p:grpSp>
          <p:grpSp>
            <p:nvGrpSpPr>
              <p:cNvPr id="2973" name="Google Shape;2973;p146"/>
              <p:cNvGrpSpPr/>
              <p:nvPr/>
            </p:nvGrpSpPr>
            <p:grpSpPr>
              <a:xfrm>
                <a:off x="7581729" y="3746890"/>
                <a:ext cx="313500" cy="313500"/>
                <a:chOff x="7352926" y="3734175"/>
                <a:chExt cx="313500" cy="313500"/>
              </a:xfrm>
            </p:grpSpPr>
            <p:sp>
              <p:nvSpPr>
                <p:cNvPr id="2974" name="Google Shape;2974;p146"/>
                <p:cNvSpPr/>
                <p:nvPr/>
              </p:nvSpPr>
              <p:spPr>
                <a:xfrm>
                  <a:off x="7352926" y="3734175"/>
                  <a:ext cx="313500" cy="313500"/>
                </a:xfrm>
                <a:prstGeom prst="ellipse">
                  <a:avLst/>
                </a:prstGeom>
                <a:solidFill>
                  <a:srgbClr val="FFFFFF"/>
                </a:solidFill>
                <a:ln>
                  <a:noFill/>
                </a:ln>
              </p:spPr>
              <p:txBody>
                <a:bodyPr spcFirstLastPara="1" wrap="square" lIns="91375" tIns="91375" rIns="91375" bIns="913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grpSp>
              <p:nvGrpSpPr>
                <p:cNvPr id="2975" name="Google Shape;2975;p146"/>
                <p:cNvGrpSpPr/>
                <p:nvPr/>
              </p:nvGrpSpPr>
              <p:grpSpPr>
                <a:xfrm>
                  <a:off x="7437496" y="3792600"/>
                  <a:ext cx="140081" cy="191773"/>
                  <a:chOff x="5000233" y="3506447"/>
                  <a:chExt cx="283795" cy="388519"/>
                </a:xfrm>
              </p:grpSpPr>
              <p:sp>
                <p:nvSpPr>
                  <p:cNvPr id="2976" name="Google Shape;2976;p146"/>
                  <p:cNvSpPr/>
                  <p:nvPr/>
                </p:nvSpPr>
                <p:spPr>
                  <a:xfrm rot="-5400000">
                    <a:off x="5060499" y="367143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20000"/>
                    </a:schemeClr>
                  </a:soli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sp>
                <p:nvSpPr>
                  <p:cNvPr id="2977" name="Google Shape;2977;p146"/>
                  <p:cNvSpPr/>
                  <p:nvPr/>
                </p:nvSpPr>
                <p:spPr>
                  <a:xfrm rot="-5400000">
                    <a:off x="5060499" y="3558807"/>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45098"/>
                    </a:schemeClr>
                  </a:soli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sp>
                <p:nvSpPr>
                  <p:cNvPr id="2978" name="Google Shape;2978;p146"/>
                  <p:cNvSpPr/>
                  <p:nvPr/>
                </p:nvSpPr>
                <p:spPr>
                  <a:xfrm rot="-5400000">
                    <a:off x="5060499" y="3446180"/>
                    <a:ext cx="163262" cy="283795"/>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solidFill>
                  <a:ln>
                    <a:noFill/>
                  </a:ln>
                </p:spPr>
                <p:txBody>
                  <a:bodyPr spcFirstLastPara="1" wrap="square" lIns="91325" tIns="45650" rIns="9132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grpSp>
          </p:grpSp>
        </p:grpSp>
        <p:sp>
          <p:nvSpPr>
            <p:cNvPr id="2979" name="Google Shape;2979;p146"/>
            <p:cNvSpPr/>
            <p:nvPr/>
          </p:nvSpPr>
          <p:spPr>
            <a:xfrm>
              <a:off x="2475853" y="2286720"/>
              <a:ext cx="6928522" cy="3180328"/>
            </a:xfrm>
            <a:custGeom>
              <a:avLst/>
              <a:gdLst/>
              <a:ahLst/>
              <a:cxnLst/>
              <a:rect l="l" t="t" r="r" b="b"/>
              <a:pathLst>
                <a:path w="6928522" h="3180328" extrusionOk="0">
                  <a:moveTo>
                    <a:pt x="326874" y="0"/>
                  </a:moveTo>
                  <a:lnTo>
                    <a:pt x="2315619" y="0"/>
                  </a:lnTo>
                  <a:lnTo>
                    <a:pt x="2315619" y="26610"/>
                  </a:lnTo>
                  <a:lnTo>
                    <a:pt x="337328" y="26610"/>
                  </a:lnTo>
                  <a:cubicBezTo>
                    <a:pt x="165158" y="26610"/>
                    <a:pt x="25587" y="166181"/>
                    <a:pt x="25587" y="338351"/>
                  </a:cubicBezTo>
                  <a:lnTo>
                    <a:pt x="25587" y="2841978"/>
                  </a:lnTo>
                  <a:cubicBezTo>
                    <a:pt x="25587" y="3014148"/>
                    <a:pt x="165158" y="3153719"/>
                    <a:pt x="337328" y="3153719"/>
                  </a:cubicBezTo>
                  <a:lnTo>
                    <a:pt x="6591194" y="3153719"/>
                  </a:lnTo>
                  <a:cubicBezTo>
                    <a:pt x="6763364" y="3153719"/>
                    <a:pt x="6902935" y="3014148"/>
                    <a:pt x="6902935" y="2841978"/>
                  </a:cubicBezTo>
                  <a:lnTo>
                    <a:pt x="6902935" y="338351"/>
                  </a:lnTo>
                  <a:cubicBezTo>
                    <a:pt x="6902935" y="166181"/>
                    <a:pt x="6763364" y="26610"/>
                    <a:pt x="6591194" y="26610"/>
                  </a:cubicBezTo>
                  <a:lnTo>
                    <a:pt x="4612903" y="26610"/>
                  </a:lnTo>
                  <a:lnTo>
                    <a:pt x="4612903" y="0"/>
                  </a:lnTo>
                  <a:lnTo>
                    <a:pt x="6601648" y="0"/>
                  </a:lnTo>
                  <a:cubicBezTo>
                    <a:pt x="6782176" y="0"/>
                    <a:pt x="6928522" y="146346"/>
                    <a:pt x="6928522" y="326874"/>
                  </a:cubicBezTo>
                  <a:lnTo>
                    <a:pt x="6928522" y="2853454"/>
                  </a:lnTo>
                  <a:cubicBezTo>
                    <a:pt x="6928522" y="3033982"/>
                    <a:pt x="6782176" y="3180328"/>
                    <a:pt x="6601648" y="3180328"/>
                  </a:cubicBezTo>
                  <a:lnTo>
                    <a:pt x="326874" y="3180328"/>
                  </a:lnTo>
                  <a:cubicBezTo>
                    <a:pt x="146346" y="3180328"/>
                    <a:pt x="0" y="3033982"/>
                    <a:pt x="0" y="2853454"/>
                  </a:cubicBezTo>
                  <a:lnTo>
                    <a:pt x="0" y="326874"/>
                  </a:lnTo>
                  <a:cubicBezTo>
                    <a:pt x="0" y="146346"/>
                    <a:pt x="146346" y="0"/>
                    <a:pt x="326874" y="0"/>
                  </a:cubicBezTo>
                  <a:close/>
                </a:path>
              </a:pathLst>
            </a:custGeom>
            <a:gradFill>
              <a:gsLst>
                <a:gs pos="0">
                  <a:schemeClr val="accent3"/>
                </a:gs>
                <a:gs pos="23000">
                  <a:schemeClr val="accent3"/>
                </a:gs>
                <a:gs pos="81000">
                  <a:schemeClr val="accent5"/>
                </a:gs>
                <a:gs pos="100000">
                  <a:schemeClr val="accent5"/>
                </a:gs>
              </a:gsLst>
              <a:lin ang="5400012" scaled="0"/>
            </a:gra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2980" name="Google Shape;2980;p146"/>
            <p:cNvGrpSpPr/>
            <p:nvPr/>
          </p:nvGrpSpPr>
          <p:grpSpPr>
            <a:xfrm>
              <a:off x="4191551" y="2949296"/>
              <a:ext cx="3497226" cy="2255992"/>
              <a:chOff x="4195572" y="2949296"/>
              <a:chExt cx="3497226" cy="2255992"/>
            </a:xfrm>
          </p:grpSpPr>
          <p:sp>
            <p:nvSpPr>
              <p:cNvPr id="2981" name="Google Shape;2981;p146"/>
              <p:cNvSpPr txBox="1"/>
              <p:nvPr/>
            </p:nvSpPr>
            <p:spPr>
              <a:xfrm>
                <a:off x="6469098" y="4928409"/>
                <a:ext cx="1223700" cy="27687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Networking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F2F2F2"/>
                    </a:solidFill>
                    <a:effectLst/>
                    <a:uLnTx/>
                    <a:uFillTx/>
                    <a:latin typeface="Arial"/>
                    <a:ea typeface="Arial"/>
                    <a:cs typeface="Arial"/>
                    <a:sym typeface="Arial"/>
                  </a:rPr>
                  <a:t>(VMware NSX)</a:t>
                </a:r>
                <a:endParaRPr kumimoji="0" sz="1066" b="0" i="0" u="none" strike="noStrike" kern="0" cap="none" spc="0" normalizeH="0" baseline="0" noProof="0" dirty="0">
                  <a:ln>
                    <a:noFill/>
                  </a:ln>
                  <a:solidFill>
                    <a:srgbClr val="F2F2F2"/>
                  </a:solidFill>
                  <a:effectLst/>
                  <a:uLnTx/>
                  <a:uFillTx/>
                  <a:latin typeface="Arial"/>
                  <a:ea typeface="Arial"/>
                  <a:cs typeface="Arial"/>
                  <a:sym typeface="Arial"/>
                </a:endParaRPr>
              </a:p>
            </p:txBody>
          </p:sp>
          <p:sp>
            <p:nvSpPr>
              <p:cNvPr id="2982" name="Google Shape;2982;p146"/>
              <p:cNvSpPr txBox="1"/>
              <p:nvPr/>
            </p:nvSpPr>
            <p:spPr>
              <a:xfrm>
                <a:off x="6469096" y="3493942"/>
                <a:ext cx="1223700" cy="16406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K8s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983" name="Google Shape;2983;p146"/>
              <p:cNvSpPr/>
              <p:nvPr/>
            </p:nvSpPr>
            <p:spPr>
              <a:xfrm>
                <a:off x="4310653" y="4275153"/>
                <a:ext cx="3237900" cy="381300"/>
              </a:xfrm>
              <a:prstGeom prst="roundRect">
                <a:avLst>
                  <a:gd name="adj" fmla="val 9132"/>
                </a:avLst>
              </a:prstGeom>
              <a:noFill/>
              <a:ln w="22225" cap="rnd" cmpd="sng">
                <a:solidFill>
                  <a:schemeClr val="lt1"/>
                </a:solidFill>
                <a:prstDash val="dot"/>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2984" name="Google Shape;2984;p146"/>
              <p:cNvGrpSpPr/>
              <p:nvPr/>
            </p:nvGrpSpPr>
            <p:grpSpPr>
              <a:xfrm>
                <a:off x="6829886" y="4395695"/>
                <a:ext cx="490500" cy="490500"/>
                <a:chOff x="6675070" y="4381181"/>
                <a:chExt cx="490500" cy="490500"/>
              </a:xfrm>
            </p:grpSpPr>
            <p:sp>
              <p:nvSpPr>
                <p:cNvPr id="2985" name="Google Shape;2985;p146"/>
                <p:cNvSpPr/>
                <p:nvPr/>
              </p:nvSpPr>
              <p:spPr>
                <a:xfrm>
                  <a:off x="6675070" y="4381181"/>
                  <a:ext cx="490500" cy="490500"/>
                </a:xfrm>
                <a:prstGeom prst="ellipse">
                  <a:avLst/>
                </a:prstGeom>
                <a:solidFill>
                  <a:srgbClr val="1C345E"/>
                </a:solidFill>
                <a:ln>
                  <a:noFill/>
                </a:ln>
              </p:spPr>
              <p:txBody>
                <a:bodyPr spcFirstLastPara="1" wrap="square" lIns="58475" tIns="58475" rIns="58475" bIns="584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sp>
              <p:nvSpPr>
                <p:cNvPr id="2986" name="Google Shape;2986;p146"/>
                <p:cNvSpPr/>
                <p:nvPr/>
              </p:nvSpPr>
              <p:spPr>
                <a:xfrm>
                  <a:off x="6783315" y="4489426"/>
                  <a:ext cx="274670" cy="274670"/>
                </a:xfrm>
                <a:custGeom>
                  <a:avLst/>
                  <a:gdLst/>
                  <a:ahLst/>
                  <a:cxnLst/>
                  <a:rect l="l" t="t" r="r" b="b"/>
                  <a:pathLst>
                    <a:path w="686675" h="686675" extrusionOk="0">
                      <a:moveTo>
                        <a:pt x="343338" y="0"/>
                      </a:moveTo>
                      <a:cubicBezTo>
                        <a:pt x="153736" y="0"/>
                        <a:pt x="0" y="153736"/>
                        <a:pt x="0" y="343338"/>
                      </a:cubicBezTo>
                      <a:cubicBezTo>
                        <a:pt x="0" y="532939"/>
                        <a:pt x="153736" y="686676"/>
                        <a:pt x="343338" y="686676"/>
                      </a:cubicBezTo>
                      <a:cubicBezTo>
                        <a:pt x="532939" y="686676"/>
                        <a:pt x="686676" y="532939"/>
                        <a:pt x="686676" y="343338"/>
                      </a:cubicBezTo>
                      <a:cubicBezTo>
                        <a:pt x="686676" y="153736"/>
                        <a:pt x="532939" y="0"/>
                        <a:pt x="343338" y="0"/>
                      </a:cubicBezTo>
                      <a:close/>
                      <a:moveTo>
                        <a:pt x="431519" y="150822"/>
                      </a:moveTo>
                      <a:lnTo>
                        <a:pt x="545981" y="265284"/>
                      </a:lnTo>
                      <a:lnTo>
                        <a:pt x="521528" y="289738"/>
                      </a:lnTo>
                      <a:lnTo>
                        <a:pt x="407065" y="175275"/>
                      </a:lnTo>
                      <a:lnTo>
                        <a:pt x="431519" y="150822"/>
                      </a:lnTo>
                      <a:close/>
                      <a:moveTo>
                        <a:pt x="502805" y="332173"/>
                      </a:moveTo>
                      <a:lnTo>
                        <a:pt x="502805" y="366754"/>
                      </a:lnTo>
                      <a:lnTo>
                        <a:pt x="429296" y="366754"/>
                      </a:lnTo>
                      <a:lnTo>
                        <a:pt x="429296" y="332173"/>
                      </a:lnTo>
                      <a:lnTo>
                        <a:pt x="502805" y="332173"/>
                      </a:lnTo>
                      <a:close/>
                      <a:moveTo>
                        <a:pt x="59627" y="347685"/>
                      </a:moveTo>
                      <a:cubicBezTo>
                        <a:pt x="59627" y="317748"/>
                        <a:pt x="83883" y="293492"/>
                        <a:pt x="113820" y="293492"/>
                      </a:cubicBezTo>
                      <a:cubicBezTo>
                        <a:pt x="143757" y="293492"/>
                        <a:pt x="168013" y="317748"/>
                        <a:pt x="168013" y="347685"/>
                      </a:cubicBezTo>
                      <a:cubicBezTo>
                        <a:pt x="168013" y="377622"/>
                        <a:pt x="143757" y="401878"/>
                        <a:pt x="113820" y="401878"/>
                      </a:cubicBezTo>
                      <a:cubicBezTo>
                        <a:pt x="83883" y="401878"/>
                        <a:pt x="59627" y="377622"/>
                        <a:pt x="59627" y="347685"/>
                      </a:cubicBezTo>
                      <a:close/>
                      <a:moveTo>
                        <a:pt x="265679" y="537583"/>
                      </a:moveTo>
                      <a:lnTo>
                        <a:pt x="151217" y="423121"/>
                      </a:lnTo>
                      <a:lnTo>
                        <a:pt x="175670" y="398667"/>
                      </a:lnTo>
                      <a:lnTo>
                        <a:pt x="290133" y="513130"/>
                      </a:lnTo>
                      <a:lnTo>
                        <a:pt x="265679" y="537583"/>
                      </a:lnTo>
                      <a:close/>
                      <a:moveTo>
                        <a:pt x="191182" y="366754"/>
                      </a:moveTo>
                      <a:lnTo>
                        <a:pt x="191182" y="332173"/>
                      </a:lnTo>
                      <a:lnTo>
                        <a:pt x="264691" y="332173"/>
                      </a:lnTo>
                      <a:lnTo>
                        <a:pt x="264691" y="366754"/>
                      </a:lnTo>
                      <a:lnTo>
                        <a:pt x="191182" y="366754"/>
                      </a:lnTo>
                      <a:close/>
                      <a:moveTo>
                        <a:pt x="175670" y="289787"/>
                      </a:moveTo>
                      <a:lnTo>
                        <a:pt x="151217" y="265334"/>
                      </a:lnTo>
                      <a:lnTo>
                        <a:pt x="265679" y="150871"/>
                      </a:lnTo>
                      <a:lnTo>
                        <a:pt x="290133" y="175325"/>
                      </a:lnTo>
                      <a:lnTo>
                        <a:pt x="175670" y="289787"/>
                      </a:lnTo>
                      <a:close/>
                      <a:moveTo>
                        <a:pt x="345116" y="626802"/>
                      </a:moveTo>
                      <a:cubicBezTo>
                        <a:pt x="315179" y="626802"/>
                        <a:pt x="290923" y="602546"/>
                        <a:pt x="290923" y="572609"/>
                      </a:cubicBezTo>
                      <a:cubicBezTo>
                        <a:pt x="290923" y="542671"/>
                        <a:pt x="315179" y="518415"/>
                        <a:pt x="345116" y="518415"/>
                      </a:cubicBezTo>
                      <a:cubicBezTo>
                        <a:pt x="375053" y="518415"/>
                        <a:pt x="399309" y="542671"/>
                        <a:pt x="399309" y="572609"/>
                      </a:cubicBezTo>
                      <a:cubicBezTo>
                        <a:pt x="399309" y="602546"/>
                        <a:pt x="375053" y="626802"/>
                        <a:pt x="345116" y="626802"/>
                      </a:cubicBezTo>
                      <a:close/>
                      <a:moveTo>
                        <a:pt x="345116" y="400594"/>
                      </a:moveTo>
                      <a:cubicBezTo>
                        <a:pt x="315179" y="400594"/>
                        <a:pt x="290923" y="376338"/>
                        <a:pt x="290923" y="346401"/>
                      </a:cubicBezTo>
                      <a:cubicBezTo>
                        <a:pt x="290923" y="316464"/>
                        <a:pt x="315179" y="292208"/>
                        <a:pt x="345116" y="292208"/>
                      </a:cubicBezTo>
                      <a:cubicBezTo>
                        <a:pt x="375053" y="292208"/>
                        <a:pt x="399309" y="316464"/>
                        <a:pt x="399309" y="346401"/>
                      </a:cubicBezTo>
                      <a:cubicBezTo>
                        <a:pt x="399309" y="376338"/>
                        <a:pt x="375053" y="400594"/>
                        <a:pt x="345116" y="400594"/>
                      </a:cubicBezTo>
                      <a:close/>
                      <a:moveTo>
                        <a:pt x="345116" y="168063"/>
                      </a:moveTo>
                      <a:cubicBezTo>
                        <a:pt x="315179" y="168063"/>
                        <a:pt x="290923" y="143807"/>
                        <a:pt x="290923" y="113870"/>
                      </a:cubicBezTo>
                      <a:cubicBezTo>
                        <a:pt x="290923" y="83933"/>
                        <a:pt x="315179" y="59677"/>
                        <a:pt x="345116" y="59677"/>
                      </a:cubicBezTo>
                      <a:cubicBezTo>
                        <a:pt x="375053" y="59677"/>
                        <a:pt x="399309" y="83933"/>
                        <a:pt x="399309" y="113870"/>
                      </a:cubicBezTo>
                      <a:cubicBezTo>
                        <a:pt x="399309" y="143807"/>
                        <a:pt x="375053" y="168063"/>
                        <a:pt x="345116" y="168063"/>
                      </a:cubicBezTo>
                      <a:close/>
                      <a:moveTo>
                        <a:pt x="431519" y="537583"/>
                      </a:moveTo>
                      <a:lnTo>
                        <a:pt x="407065" y="513130"/>
                      </a:lnTo>
                      <a:lnTo>
                        <a:pt x="521528" y="398667"/>
                      </a:lnTo>
                      <a:lnTo>
                        <a:pt x="545981" y="423121"/>
                      </a:lnTo>
                      <a:lnTo>
                        <a:pt x="431519" y="537583"/>
                      </a:lnTo>
                      <a:close/>
                      <a:moveTo>
                        <a:pt x="576412" y="401878"/>
                      </a:moveTo>
                      <a:cubicBezTo>
                        <a:pt x="546475" y="401878"/>
                        <a:pt x="522219" y="377622"/>
                        <a:pt x="522219" y="347685"/>
                      </a:cubicBezTo>
                      <a:cubicBezTo>
                        <a:pt x="522219" y="317748"/>
                        <a:pt x="546475" y="293492"/>
                        <a:pt x="576412" y="293492"/>
                      </a:cubicBezTo>
                      <a:cubicBezTo>
                        <a:pt x="606350" y="293492"/>
                        <a:pt x="630605" y="317748"/>
                        <a:pt x="630605" y="347685"/>
                      </a:cubicBezTo>
                      <a:cubicBezTo>
                        <a:pt x="630605" y="377622"/>
                        <a:pt x="606350" y="401878"/>
                        <a:pt x="576412" y="401878"/>
                      </a:cubicBezTo>
                      <a:close/>
                    </a:path>
                  </a:pathLst>
                </a:custGeom>
                <a:solidFill>
                  <a:srgbClr val="FFFFF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2987" name="Google Shape;2987;p146"/>
              <p:cNvGrpSpPr/>
              <p:nvPr/>
            </p:nvGrpSpPr>
            <p:grpSpPr>
              <a:xfrm>
                <a:off x="6829599" y="2949296"/>
                <a:ext cx="490534" cy="490534"/>
                <a:chOff x="7043420" y="2378119"/>
                <a:chExt cx="626400" cy="626400"/>
              </a:xfrm>
            </p:grpSpPr>
            <p:sp>
              <p:nvSpPr>
                <p:cNvPr id="2988" name="Google Shape;2988;p146"/>
                <p:cNvSpPr/>
                <p:nvPr/>
              </p:nvSpPr>
              <p:spPr>
                <a:xfrm>
                  <a:off x="7043420" y="2378119"/>
                  <a:ext cx="626400" cy="626400"/>
                </a:xfrm>
                <a:prstGeom prst="ellipse">
                  <a:avLst/>
                </a:prstGeom>
                <a:solidFill>
                  <a:srgbClr val="041032">
                    <a:alpha val="49019"/>
                  </a:srgbClr>
                </a:solidFill>
                <a:ln>
                  <a:noFill/>
                </a:ln>
              </p:spPr>
              <p:txBody>
                <a:bodyPr spcFirstLastPara="1" wrap="square" lIns="58475" tIns="58475" rIns="58475" bIns="584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pic>
              <p:nvPicPr>
                <p:cNvPr id="2989" name="Google Shape;2989;p146"/>
                <p:cNvPicPr preferRelativeResize="0"/>
                <p:nvPr/>
              </p:nvPicPr>
              <p:blipFill rotWithShape="1">
                <a:blip r:embed="rId3">
                  <a:alphaModFix/>
                </a:blip>
                <a:srcRect/>
                <a:stretch/>
              </p:blipFill>
              <p:spPr>
                <a:xfrm>
                  <a:off x="7168838" y="2503538"/>
                  <a:ext cx="375651" cy="363292"/>
                </a:xfrm>
                <a:prstGeom prst="rect">
                  <a:avLst/>
                </a:prstGeom>
                <a:noFill/>
                <a:ln>
                  <a:noFill/>
                </a:ln>
              </p:spPr>
            </p:pic>
          </p:grpSp>
          <p:sp>
            <p:nvSpPr>
              <p:cNvPr id="2990" name="Google Shape;2990;p146"/>
              <p:cNvSpPr txBox="1"/>
              <p:nvPr/>
            </p:nvSpPr>
            <p:spPr>
              <a:xfrm>
                <a:off x="5324539" y="4928409"/>
                <a:ext cx="1223700" cy="27687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Storage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F2F2F2"/>
                    </a:solidFill>
                    <a:effectLst/>
                    <a:uLnTx/>
                    <a:uFillTx/>
                    <a:latin typeface="Arial"/>
                    <a:ea typeface="Arial"/>
                    <a:cs typeface="Arial"/>
                    <a:sym typeface="Arial"/>
                  </a:rPr>
                  <a:t>(VMware vSAN)</a:t>
                </a:r>
                <a:endParaRPr kumimoji="0" sz="1066" b="0" i="0" u="none" strike="noStrike" kern="0" cap="none" spc="0" normalizeH="0" baseline="0" noProof="0" dirty="0">
                  <a:ln>
                    <a:noFill/>
                  </a:ln>
                  <a:solidFill>
                    <a:srgbClr val="F2F2F2"/>
                  </a:solidFill>
                  <a:effectLst/>
                  <a:uLnTx/>
                  <a:uFillTx/>
                  <a:latin typeface="Arial"/>
                  <a:ea typeface="Arial"/>
                  <a:cs typeface="Arial"/>
                  <a:sym typeface="Arial"/>
                </a:endParaRPr>
              </a:p>
            </p:txBody>
          </p:sp>
          <p:grpSp>
            <p:nvGrpSpPr>
              <p:cNvPr id="2991" name="Google Shape;2991;p146"/>
              <p:cNvGrpSpPr/>
              <p:nvPr/>
            </p:nvGrpSpPr>
            <p:grpSpPr>
              <a:xfrm>
                <a:off x="5692804" y="4395695"/>
                <a:ext cx="490500" cy="490500"/>
                <a:chOff x="5692804" y="4381181"/>
                <a:chExt cx="490500" cy="490500"/>
              </a:xfrm>
            </p:grpSpPr>
            <p:sp>
              <p:nvSpPr>
                <p:cNvPr id="2992" name="Google Shape;2992;p146"/>
                <p:cNvSpPr/>
                <p:nvPr/>
              </p:nvSpPr>
              <p:spPr>
                <a:xfrm>
                  <a:off x="5692804" y="4381181"/>
                  <a:ext cx="490500" cy="490500"/>
                </a:xfrm>
                <a:prstGeom prst="ellipse">
                  <a:avLst/>
                </a:prstGeom>
                <a:solidFill>
                  <a:srgbClr val="27335F"/>
                </a:solidFill>
                <a:ln>
                  <a:noFill/>
                </a:ln>
              </p:spPr>
              <p:txBody>
                <a:bodyPr spcFirstLastPara="1" wrap="square" lIns="58475" tIns="58475" rIns="58475" bIns="584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sp>
              <p:nvSpPr>
                <p:cNvPr id="2993" name="Google Shape;2993;p146"/>
                <p:cNvSpPr/>
                <p:nvPr/>
              </p:nvSpPr>
              <p:spPr>
                <a:xfrm>
                  <a:off x="5829353" y="4504933"/>
                  <a:ext cx="217540" cy="243133"/>
                </a:xfrm>
                <a:custGeom>
                  <a:avLst/>
                  <a:gdLst/>
                  <a:ahLst/>
                  <a:cxnLst/>
                  <a:rect l="l" t="t" r="r" b="b"/>
                  <a:pathLst>
                    <a:path w="271078" h="302969" extrusionOk="0">
                      <a:moveTo>
                        <a:pt x="135539" y="0"/>
                      </a:moveTo>
                      <a:cubicBezTo>
                        <a:pt x="210386" y="0"/>
                        <a:pt x="271079" y="16074"/>
                        <a:pt x="271079" y="35918"/>
                      </a:cubicBezTo>
                      <a:lnTo>
                        <a:pt x="271079" y="51827"/>
                      </a:lnTo>
                      <a:cubicBezTo>
                        <a:pt x="271079" y="71647"/>
                        <a:pt x="210386" y="87697"/>
                        <a:pt x="135539" y="87697"/>
                      </a:cubicBezTo>
                      <a:cubicBezTo>
                        <a:pt x="60693" y="87697"/>
                        <a:pt x="0" y="71623"/>
                        <a:pt x="0" y="51827"/>
                      </a:cubicBezTo>
                      <a:lnTo>
                        <a:pt x="0" y="35871"/>
                      </a:lnTo>
                      <a:cubicBezTo>
                        <a:pt x="0" y="16051"/>
                        <a:pt x="60693" y="0"/>
                        <a:pt x="135539" y="0"/>
                      </a:cubicBezTo>
                      <a:close/>
                      <a:moveTo>
                        <a:pt x="271079" y="267099"/>
                      </a:moveTo>
                      <a:cubicBezTo>
                        <a:pt x="271079" y="286919"/>
                        <a:pt x="210386" y="302970"/>
                        <a:pt x="135539" y="302970"/>
                      </a:cubicBezTo>
                      <a:cubicBezTo>
                        <a:pt x="60693" y="302970"/>
                        <a:pt x="0" y="286895"/>
                        <a:pt x="0" y="267099"/>
                      </a:cubicBezTo>
                      <a:lnTo>
                        <a:pt x="0" y="219255"/>
                      </a:lnTo>
                      <a:cubicBezTo>
                        <a:pt x="0" y="239076"/>
                        <a:pt x="60693" y="255126"/>
                        <a:pt x="135539" y="255126"/>
                      </a:cubicBezTo>
                      <a:cubicBezTo>
                        <a:pt x="210386" y="255126"/>
                        <a:pt x="271079" y="239076"/>
                        <a:pt x="271079" y="219279"/>
                      </a:cubicBezTo>
                      <a:lnTo>
                        <a:pt x="271079" y="267075"/>
                      </a:lnTo>
                      <a:close/>
                      <a:moveTo>
                        <a:pt x="271079" y="195334"/>
                      </a:moveTo>
                      <a:cubicBezTo>
                        <a:pt x="271079" y="215154"/>
                        <a:pt x="210386" y="231204"/>
                        <a:pt x="135539" y="231204"/>
                      </a:cubicBezTo>
                      <a:cubicBezTo>
                        <a:pt x="60693" y="231204"/>
                        <a:pt x="0" y="215130"/>
                        <a:pt x="0" y="195334"/>
                      </a:cubicBezTo>
                      <a:lnTo>
                        <a:pt x="0" y="147490"/>
                      </a:lnTo>
                      <a:cubicBezTo>
                        <a:pt x="0" y="167310"/>
                        <a:pt x="60693" y="183361"/>
                        <a:pt x="135539" y="183361"/>
                      </a:cubicBezTo>
                      <a:cubicBezTo>
                        <a:pt x="210386" y="183361"/>
                        <a:pt x="271079" y="167310"/>
                        <a:pt x="271079" y="147514"/>
                      </a:cubicBezTo>
                      <a:lnTo>
                        <a:pt x="271079" y="195334"/>
                      </a:lnTo>
                      <a:close/>
                      <a:moveTo>
                        <a:pt x="271079" y="123568"/>
                      </a:moveTo>
                      <a:cubicBezTo>
                        <a:pt x="271079" y="143388"/>
                        <a:pt x="210386" y="159439"/>
                        <a:pt x="135539" y="159439"/>
                      </a:cubicBezTo>
                      <a:cubicBezTo>
                        <a:pt x="60693" y="159439"/>
                        <a:pt x="0" y="143365"/>
                        <a:pt x="0" y="123568"/>
                      </a:cubicBezTo>
                      <a:lnTo>
                        <a:pt x="0" y="75725"/>
                      </a:lnTo>
                      <a:cubicBezTo>
                        <a:pt x="0" y="95545"/>
                        <a:pt x="60693" y="111595"/>
                        <a:pt x="135539" y="111595"/>
                      </a:cubicBezTo>
                      <a:cubicBezTo>
                        <a:pt x="210386" y="111595"/>
                        <a:pt x="271079" y="95545"/>
                        <a:pt x="271079" y="75748"/>
                      </a:cubicBezTo>
                      <a:lnTo>
                        <a:pt x="271079" y="123568"/>
                      </a:lnTo>
                      <a:close/>
                    </a:path>
                  </a:pathLst>
                </a:custGeom>
                <a:solidFill>
                  <a:srgbClr val="FFFFFF"/>
                </a:solidFill>
                <a:ln>
                  <a:noFill/>
                </a:ln>
              </p:spPr>
              <p:txBody>
                <a:bodyPr spcFirstLastPara="1" wrap="square" lIns="91375" tIns="45675" rIns="91375"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2994" name="Google Shape;2994;p146"/>
              <p:cNvSpPr txBox="1"/>
              <p:nvPr/>
            </p:nvSpPr>
            <p:spPr>
              <a:xfrm>
                <a:off x="5324538" y="3493938"/>
                <a:ext cx="1223700" cy="16406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Traditional VMs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2995" name="Google Shape;2995;p146"/>
              <p:cNvGrpSpPr/>
              <p:nvPr/>
            </p:nvGrpSpPr>
            <p:grpSpPr>
              <a:xfrm>
                <a:off x="5691412" y="2949296"/>
                <a:ext cx="490534" cy="490534"/>
                <a:chOff x="5787677" y="2378119"/>
                <a:chExt cx="626400" cy="626400"/>
              </a:xfrm>
            </p:grpSpPr>
            <p:sp>
              <p:nvSpPr>
                <p:cNvPr id="2996" name="Google Shape;2996;p146"/>
                <p:cNvSpPr/>
                <p:nvPr/>
              </p:nvSpPr>
              <p:spPr>
                <a:xfrm>
                  <a:off x="5787677" y="2378119"/>
                  <a:ext cx="626400" cy="626400"/>
                </a:xfrm>
                <a:prstGeom prst="ellipse">
                  <a:avLst/>
                </a:prstGeom>
                <a:solidFill>
                  <a:srgbClr val="041032">
                    <a:alpha val="49019"/>
                  </a:srgbClr>
                </a:solidFill>
                <a:ln>
                  <a:noFill/>
                </a:ln>
              </p:spPr>
              <p:txBody>
                <a:bodyPr spcFirstLastPara="1" wrap="square" lIns="58475" tIns="58475" rIns="58475" bIns="584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sp>
              <p:nvSpPr>
                <p:cNvPr id="2997" name="Google Shape;2997;p146"/>
                <p:cNvSpPr/>
                <p:nvPr/>
              </p:nvSpPr>
              <p:spPr>
                <a:xfrm>
                  <a:off x="5931763" y="2522087"/>
                  <a:ext cx="337885" cy="338122"/>
                </a:xfrm>
                <a:custGeom>
                  <a:avLst/>
                  <a:gdLst/>
                  <a:ahLst/>
                  <a:cxnLst/>
                  <a:rect l="l" t="t" r="r" b="b"/>
                  <a:pathLst>
                    <a:path w="682595" h="683075" extrusionOk="0">
                      <a:moveTo>
                        <a:pt x="205196" y="288762"/>
                      </a:moveTo>
                      <a:lnTo>
                        <a:pt x="229961" y="288762"/>
                      </a:lnTo>
                      <a:lnTo>
                        <a:pt x="258536" y="360390"/>
                      </a:lnTo>
                      <a:lnTo>
                        <a:pt x="286539" y="288762"/>
                      </a:lnTo>
                      <a:lnTo>
                        <a:pt x="311114" y="288762"/>
                      </a:lnTo>
                      <a:lnTo>
                        <a:pt x="269394" y="387250"/>
                      </a:lnTo>
                      <a:lnTo>
                        <a:pt x="247677" y="387250"/>
                      </a:lnTo>
                      <a:close/>
                      <a:moveTo>
                        <a:pt x="379376" y="286476"/>
                      </a:moveTo>
                      <a:cubicBezTo>
                        <a:pt x="394997" y="286476"/>
                        <a:pt x="407570" y="295620"/>
                        <a:pt x="412714" y="309907"/>
                      </a:cubicBezTo>
                      <a:cubicBezTo>
                        <a:pt x="415381" y="295810"/>
                        <a:pt x="427192" y="286476"/>
                        <a:pt x="442622" y="286476"/>
                      </a:cubicBezTo>
                      <a:cubicBezTo>
                        <a:pt x="463196" y="286476"/>
                        <a:pt x="478627" y="302287"/>
                        <a:pt x="478627" y="324576"/>
                      </a:cubicBezTo>
                      <a:lnTo>
                        <a:pt x="478627" y="387250"/>
                      </a:lnTo>
                      <a:lnTo>
                        <a:pt x="455957" y="387250"/>
                      </a:lnTo>
                      <a:lnTo>
                        <a:pt x="455957" y="328386"/>
                      </a:lnTo>
                      <a:cubicBezTo>
                        <a:pt x="455957" y="315432"/>
                        <a:pt x="448147" y="306288"/>
                        <a:pt x="436907" y="306288"/>
                      </a:cubicBezTo>
                      <a:cubicBezTo>
                        <a:pt x="424144" y="306288"/>
                        <a:pt x="415190" y="314860"/>
                        <a:pt x="415190" y="326862"/>
                      </a:cubicBezTo>
                      <a:lnTo>
                        <a:pt x="415190" y="387250"/>
                      </a:lnTo>
                      <a:lnTo>
                        <a:pt x="392711" y="387250"/>
                      </a:lnTo>
                      <a:lnTo>
                        <a:pt x="392711" y="328386"/>
                      </a:lnTo>
                      <a:cubicBezTo>
                        <a:pt x="392711" y="315432"/>
                        <a:pt x="384710" y="306288"/>
                        <a:pt x="373471" y="306288"/>
                      </a:cubicBezTo>
                      <a:cubicBezTo>
                        <a:pt x="360898" y="306288"/>
                        <a:pt x="351944" y="314860"/>
                        <a:pt x="351944" y="326862"/>
                      </a:cubicBezTo>
                      <a:lnTo>
                        <a:pt x="351944" y="387250"/>
                      </a:lnTo>
                      <a:lnTo>
                        <a:pt x="328703" y="387250"/>
                      </a:lnTo>
                      <a:lnTo>
                        <a:pt x="328703" y="288762"/>
                      </a:lnTo>
                      <a:lnTo>
                        <a:pt x="351944" y="288762"/>
                      </a:lnTo>
                      <a:lnTo>
                        <a:pt x="351944" y="302097"/>
                      </a:lnTo>
                      <a:cubicBezTo>
                        <a:pt x="356897" y="292572"/>
                        <a:pt x="366994" y="286476"/>
                        <a:pt x="379376" y="286476"/>
                      </a:cubicBezTo>
                      <a:close/>
                      <a:moveTo>
                        <a:pt x="0" y="0"/>
                      </a:moveTo>
                      <a:lnTo>
                        <a:pt x="682595" y="0"/>
                      </a:lnTo>
                      <a:lnTo>
                        <a:pt x="682595" y="661954"/>
                      </a:lnTo>
                      <a:lnTo>
                        <a:pt x="634593" y="661954"/>
                      </a:lnTo>
                      <a:lnTo>
                        <a:pt x="634593" y="48002"/>
                      </a:lnTo>
                      <a:lnTo>
                        <a:pt x="48002" y="48002"/>
                      </a:lnTo>
                      <a:lnTo>
                        <a:pt x="48002" y="635073"/>
                      </a:lnTo>
                      <a:lnTo>
                        <a:pt x="574590" y="635073"/>
                      </a:lnTo>
                      <a:lnTo>
                        <a:pt x="574590" y="683075"/>
                      </a:lnTo>
                      <a:lnTo>
                        <a:pt x="0" y="683075"/>
                      </a:lnTo>
                      <a:close/>
                    </a:path>
                  </a:pathLst>
                </a:custGeom>
                <a:solidFill>
                  <a:srgbClr val="FFFFFF"/>
                </a:solidFill>
                <a:ln>
                  <a:noFill/>
                </a:ln>
              </p:spPr>
              <p:txBody>
                <a:bodyPr spcFirstLastPara="1" wrap="square" lIns="91375" tIns="45675" rIns="91375"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sp>
            <p:nvSpPr>
              <p:cNvPr id="2998" name="Google Shape;2998;p146"/>
              <p:cNvSpPr txBox="1"/>
              <p:nvPr/>
            </p:nvSpPr>
            <p:spPr>
              <a:xfrm>
                <a:off x="4195573" y="4928409"/>
                <a:ext cx="1223700" cy="276879"/>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Compute </a:t>
                </a:r>
                <a:b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F2F2F2"/>
                    </a:solidFill>
                    <a:effectLst/>
                    <a:uLnTx/>
                    <a:uFillTx/>
                    <a:latin typeface="Arial"/>
                    <a:ea typeface="Arial"/>
                    <a:cs typeface="Arial"/>
                    <a:sym typeface="Arial"/>
                  </a:rPr>
                  <a:t>(VMware vSphere)</a:t>
                </a:r>
                <a:endParaRPr kumimoji="0" sz="1066" b="0" i="0" u="none" strike="noStrike" kern="0" cap="none" spc="0" normalizeH="0" baseline="0" noProof="0" dirty="0">
                  <a:ln>
                    <a:noFill/>
                  </a:ln>
                  <a:solidFill>
                    <a:srgbClr val="F2F2F2"/>
                  </a:solidFill>
                  <a:effectLst/>
                  <a:uLnTx/>
                  <a:uFillTx/>
                  <a:latin typeface="Arial"/>
                  <a:ea typeface="Arial"/>
                  <a:cs typeface="Arial"/>
                  <a:sym typeface="Arial"/>
                </a:endParaRPr>
              </a:p>
            </p:txBody>
          </p:sp>
          <p:sp>
            <p:nvSpPr>
              <p:cNvPr id="2999" name="Google Shape;2999;p146"/>
              <p:cNvSpPr txBox="1"/>
              <p:nvPr/>
            </p:nvSpPr>
            <p:spPr>
              <a:xfrm>
                <a:off x="4195572" y="3493940"/>
                <a:ext cx="1223700" cy="16406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F2F2F2"/>
                    </a:solidFill>
                    <a:effectLst/>
                    <a:uLnTx/>
                    <a:uFillTx/>
                    <a:latin typeface="Arial"/>
                    <a:ea typeface="Arial"/>
                    <a:cs typeface="Arial"/>
                    <a:sym typeface="Arial"/>
                  </a:rPr>
                  <a:t>AI / ML</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000" name="Google Shape;3000;p146"/>
              <p:cNvGrpSpPr/>
              <p:nvPr/>
            </p:nvGrpSpPr>
            <p:grpSpPr>
              <a:xfrm>
                <a:off x="4561873" y="2950987"/>
                <a:ext cx="490534" cy="490534"/>
                <a:chOff x="4542981" y="2380278"/>
                <a:chExt cx="626400" cy="626400"/>
              </a:xfrm>
            </p:grpSpPr>
            <p:sp>
              <p:nvSpPr>
                <p:cNvPr id="3001" name="Google Shape;3001;p146"/>
                <p:cNvSpPr/>
                <p:nvPr/>
              </p:nvSpPr>
              <p:spPr>
                <a:xfrm>
                  <a:off x="4542981" y="2380278"/>
                  <a:ext cx="626400" cy="626400"/>
                </a:xfrm>
                <a:prstGeom prst="ellipse">
                  <a:avLst/>
                </a:prstGeom>
                <a:solidFill>
                  <a:srgbClr val="041032">
                    <a:alpha val="49019"/>
                  </a:srgbClr>
                </a:solidFill>
                <a:ln>
                  <a:noFill/>
                </a:ln>
              </p:spPr>
              <p:txBody>
                <a:bodyPr spcFirstLastPara="1" wrap="square" lIns="58475" tIns="58475" rIns="58475" bIns="584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sp>
              <p:nvSpPr>
                <p:cNvPr id="3002" name="Google Shape;3002;p146"/>
                <p:cNvSpPr/>
                <p:nvPr/>
              </p:nvSpPr>
              <p:spPr>
                <a:xfrm>
                  <a:off x="4655463" y="2511875"/>
                  <a:ext cx="400684" cy="362532"/>
                </a:xfrm>
                <a:custGeom>
                  <a:avLst/>
                  <a:gdLst/>
                  <a:ahLst/>
                  <a:cxnLst/>
                  <a:rect l="l" t="t" r="r" b="b"/>
                  <a:pathLst>
                    <a:path w="690834" h="625055" extrusionOk="0">
                      <a:moveTo>
                        <a:pt x="526283" y="456636"/>
                      </a:moveTo>
                      <a:cubicBezTo>
                        <a:pt x="515286" y="456636"/>
                        <a:pt x="506326" y="465596"/>
                        <a:pt x="506326" y="476593"/>
                      </a:cubicBezTo>
                      <a:cubicBezTo>
                        <a:pt x="506326" y="487590"/>
                        <a:pt x="515286" y="496551"/>
                        <a:pt x="526283" y="496551"/>
                      </a:cubicBezTo>
                      <a:cubicBezTo>
                        <a:pt x="537281" y="496551"/>
                        <a:pt x="546241" y="487590"/>
                        <a:pt x="546241" y="476593"/>
                      </a:cubicBezTo>
                      <a:cubicBezTo>
                        <a:pt x="546241" y="465596"/>
                        <a:pt x="537281" y="456636"/>
                        <a:pt x="526283" y="456636"/>
                      </a:cubicBezTo>
                      <a:close/>
                      <a:moveTo>
                        <a:pt x="602347" y="336736"/>
                      </a:moveTo>
                      <a:cubicBezTo>
                        <a:pt x="591350" y="336736"/>
                        <a:pt x="582390" y="345697"/>
                        <a:pt x="582390" y="356694"/>
                      </a:cubicBezTo>
                      <a:cubicBezTo>
                        <a:pt x="582390" y="367691"/>
                        <a:pt x="591350" y="376652"/>
                        <a:pt x="602347" y="376652"/>
                      </a:cubicBezTo>
                      <a:cubicBezTo>
                        <a:pt x="613344" y="376652"/>
                        <a:pt x="622305" y="367691"/>
                        <a:pt x="622305" y="356694"/>
                      </a:cubicBezTo>
                      <a:cubicBezTo>
                        <a:pt x="622305" y="345697"/>
                        <a:pt x="613344" y="336736"/>
                        <a:pt x="602347" y="336736"/>
                      </a:cubicBezTo>
                      <a:close/>
                      <a:moveTo>
                        <a:pt x="50505" y="290558"/>
                      </a:moveTo>
                      <a:cubicBezTo>
                        <a:pt x="39508" y="290558"/>
                        <a:pt x="30548" y="299519"/>
                        <a:pt x="30548" y="310516"/>
                      </a:cubicBezTo>
                      <a:cubicBezTo>
                        <a:pt x="30548" y="321513"/>
                        <a:pt x="39508" y="330474"/>
                        <a:pt x="50505" y="330474"/>
                      </a:cubicBezTo>
                      <a:cubicBezTo>
                        <a:pt x="61503" y="330474"/>
                        <a:pt x="70463" y="321513"/>
                        <a:pt x="70463" y="310516"/>
                      </a:cubicBezTo>
                      <a:cubicBezTo>
                        <a:pt x="70463" y="299519"/>
                        <a:pt x="61503" y="290558"/>
                        <a:pt x="50505" y="290558"/>
                      </a:cubicBezTo>
                      <a:close/>
                      <a:moveTo>
                        <a:pt x="640328" y="216837"/>
                      </a:moveTo>
                      <a:cubicBezTo>
                        <a:pt x="629331" y="216837"/>
                        <a:pt x="620371" y="225797"/>
                        <a:pt x="620371" y="236794"/>
                      </a:cubicBezTo>
                      <a:cubicBezTo>
                        <a:pt x="620371" y="247791"/>
                        <a:pt x="629331" y="256752"/>
                        <a:pt x="640328" y="256752"/>
                      </a:cubicBezTo>
                      <a:cubicBezTo>
                        <a:pt x="651326" y="256752"/>
                        <a:pt x="660286" y="247791"/>
                        <a:pt x="660286" y="236794"/>
                      </a:cubicBezTo>
                      <a:cubicBezTo>
                        <a:pt x="660286" y="225797"/>
                        <a:pt x="651326" y="216837"/>
                        <a:pt x="640328" y="216837"/>
                      </a:cubicBezTo>
                      <a:close/>
                      <a:moveTo>
                        <a:pt x="570628" y="96938"/>
                      </a:moveTo>
                      <a:cubicBezTo>
                        <a:pt x="559631" y="96938"/>
                        <a:pt x="550671" y="105898"/>
                        <a:pt x="550671" y="116895"/>
                      </a:cubicBezTo>
                      <a:cubicBezTo>
                        <a:pt x="550671" y="127892"/>
                        <a:pt x="559631" y="136853"/>
                        <a:pt x="570628" y="136853"/>
                      </a:cubicBezTo>
                      <a:cubicBezTo>
                        <a:pt x="581626" y="136853"/>
                        <a:pt x="590586" y="127892"/>
                        <a:pt x="590586" y="116895"/>
                      </a:cubicBezTo>
                      <a:cubicBezTo>
                        <a:pt x="590586" y="105898"/>
                        <a:pt x="581626" y="96938"/>
                        <a:pt x="570628" y="96938"/>
                      </a:cubicBezTo>
                      <a:close/>
                      <a:moveTo>
                        <a:pt x="354352" y="30548"/>
                      </a:moveTo>
                      <a:cubicBezTo>
                        <a:pt x="314831" y="30548"/>
                        <a:pt x="279147" y="51569"/>
                        <a:pt x="259329" y="83815"/>
                      </a:cubicBezTo>
                      <a:lnTo>
                        <a:pt x="252360" y="101446"/>
                      </a:lnTo>
                      <a:lnTo>
                        <a:pt x="273553" y="98974"/>
                      </a:lnTo>
                      <a:cubicBezTo>
                        <a:pt x="283125" y="99788"/>
                        <a:pt x="292646" y="101570"/>
                        <a:pt x="301810" y="104269"/>
                      </a:cubicBezTo>
                      <a:lnTo>
                        <a:pt x="293206" y="133595"/>
                      </a:lnTo>
                      <a:cubicBezTo>
                        <a:pt x="286027" y="131456"/>
                        <a:pt x="278543" y="130082"/>
                        <a:pt x="271008" y="129471"/>
                      </a:cubicBezTo>
                      <a:cubicBezTo>
                        <a:pt x="209862" y="124430"/>
                        <a:pt x="155843" y="169946"/>
                        <a:pt x="150701" y="231092"/>
                      </a:cubicBezTo>
                      <a:cubicBezTo>
                        <a:pt x="149581" y="244457"/>
                        <a:pt x="150879" y="257796"/>
                        <a:pt x="154437" y="270499"/>
                      </a:cubicBezTo>
                      <a:lnTo>
                        <a:pt x="160642" y="283270"/>
                      </a:lnTo>
                      <a:lnTo>
                        <a:pt x="186646" y="259094"/>
                      </a:lnTo>
                      <a:cubicBezTo>
                        <a:pt x="194842" y="254054"/>
                        <a:pt x="203498" y="249777"/>
                        <a:pt x="212458" y="246519"/>
                      </a:cubicBezTo>
                      <a:lnTo>
                        <a:pt x="222997" y="275183"/>
                      </a:lnTo>
                      <a:cubicBezTo>
                        <a:pt x="215971" y="277779"/>
                        <a:pt x="209149" y="281089"/>
                        <a:pt x="202683" y="285060"/>
                      </a:cubicBezTo>
                      <a:cubicBezTo>
                        <a:pt x="150447" y="317389"/>
                        <a:pt x="134256" y="386172"/>
                        <a:pt x="166586" y="438358"/>
                      </a:cubicBezTo>
                      <a:cubicBezTo>
                        <a:pt x="173637" y="449763"/>
                        <a:pt x="182623" y="459703"/>
                        <a:pt x="193048" y="467786"/>
                      </a:cubicBezTo>
                      <a:lnTo>
                        <a:pt x="222567" y="483161"/>
                      </a:lnTo>
                      <a:lnTo>
                        <a:pt x="243006" y="483161"/>
                      </a:lnTo>
                      <a:cubicBezTo>
                        <a:pt x="243006" y="544562"/>
                        <a:pt x="292951" y="594507"/>
                        <a:pt x="354352" y="594507"/>
                      </a:cubicBezTo>
                      <a:cubicBezTo>
                        <a:pt x="376397" y="594507"/>
                        <a:pt x="397526" y="588092"/>
                        <a:pt x="415803" y="575873"/>
                      </a:cubicBezTo>
                      <a:lnTo>
                        <a:pt x="415803" y="491817"/>
                      </a:lnTo>
                      <a:lnTo>
                        <a:pt x="367487" y="491817"/>
                      </a:lnTo>
                      <a:cubicBezTo>
                        <a:pt x="351654" y="491817"/>
                        <a:pt x="338773" y="506632"/>
                        <a:pt x="338773" y="524808"/>
                      </a:cubicBezTo>
                      <a:lnTo>
                        <a:pt x="308225" y="524808"/>
                      </a:lnTo>
                      <a:cubicBezTo>
                        <a:pt x="308225" y="489780"/>
                        <a:pt x="334801" y="461269"/>
                        <a:pt x="367487" y="461269"/>
                      </a:cubicBezTo>
                      <a:lnTo>
                        <a:pt x="415803" y="461269"/>
                      </a:lnTo>
                      <a:lnTo>
                        <a:pt x="415803" y="371306"/>
                      </a:lnTo>
                      <a:lnTo>
                        <a:pt x="270193" y="371306"/>
                      </a:lnTo>
                      <a:cubicBezTo>
                        <a:pt x="254360" y="371306"/>
                        <a:pt x="241479" y="386121"/>
                        <a:pt x="241479" y="404297"/>
                      </a:cubicBezTo>
                      <a:lnTo>
                        <a:pt x="210931" y="404297"/>
                      </a:lnTo>
                      <a:cubicBezTo>
                        <a:pt x="210931" y="369269"/>
                        <a:pt x="237507" y="340758"/>
                        <a:pt x="270193" y="340758"/>
                      </a:cubicBezTo>
                      <a:lnTo>
                        <a:pt x="415803" y="340758"/>
                      </a:lnTo>
                      <a:lnTo>
                        <a:pt x="415803" y="251712"/>
                      </a:lnTo>
                      <a:lnTo>
                        <a:pt x="303082" y="251712"/>
                      </a:lnTo>
                      <a:cubicBezTo>
                        <a:pt x="270396" y="251712"/>
                        <a:pt x="243820" y="225136"/>
                        <a:pt x="243820" y="192450"/>
                      </a:cubicBezTo>
                      <a:lnTo>
                        <a:pt x="274368" y="192450"/>
                      </a:lnTo>
                      <a:cubicBezTo>
                        <a:pt x="274368" y="208284"/>
                        <a:pt x="287249" y="221165"/>
                        <a:pt x="303082" y="221165"/>
                      </a:cubicBezTo>
                      <a:lnTo>
                        <a:pt x="415803" y="221165"/>
                      </a:lnTo>
                      <a:lnTo>
                        <a:pt x="415803" y="132119"/>
                      </a:lnTo>
                      <a:lnTo>
                        <a:pt x="375633" y="132119"/>
                      </a:lnTo>
                      <a:lnTo>
                        <a:pt x="375633" y="101571"/>
                      </a:lnTo>
                      <a:lnTo>
                        <a:pt x="415803" y="101571"/>
                      </a:lnTo>
                      <a:lnTo>
                        <a:pt x="415803" y="49182"/>
                      </a:lnTo>
                      <a:cubicBezTo>
                        <a:pt x="397475" y="36963"/>
                        <a:pt x="376397" y="30548"/>
                        <a:pt x="354352" y="30548"/>
                      </a:cubicBezTo>
                      <a:close/>
                      <a:moveTo>
                        <a:pt x="354352" y="0"/>
                      </a:moveTo>
                      <a:cubicBezTo>
                        <a:pt x="385612" y="0"/>
                        <a:pt x="415345" y="10081"/>
                        <a:pt x="440343" y="29173"/>
                      </a:cubicBezTo>
                      <a:lnTo>
                        <a:pt x="446351" y="33755"/>
                      </a:lnTo>
                      <a:lnTo>
                        <a:pt x="446351" y="101571"/>
                      </a:lnTo>
                      <a:lnTo>
                        <a:pt x="523214" y="101571"/>
                      </a:lnTo>
                      <a:lnTo>
                        <a:pt x="524098" y="97204"/>
                      </a:lnTo>
                      <a:cubicBezTo>
                        <a:pt x="531775" y="79083"/>
                        <a:pt x="549741" y="66339"/>
                        <a:pt x="570628" y="66339"/>
                      </a:cubicBezTo>
                      <a:cubicBezTo>
                        <a:pt x="598478" y="66339"/>
                        <a:pt x="621134" y="88995"/>
                        <a:pt x="621134" y="116844"/>
                      </a:cubicBezTo>
                      <a:cubicBezTo>
                        <a:pt x="621134" y="144694"/>
                        <a:pt x="598478" y="167350"/>
                        <a:pt x="570628" y="167350"/>
                      </a:cubicBezTo>
                      <a:cubicBezTo>
                        <a:pt x="549741" y="167350"/>
                        <a:pt x="531775" y="154606"/>
                        <a:pt x="524098" y="136485"/>
                      </a:cubicBezTo>
                      <a:lnTo>
                        <a:pt x="523214" y="132119"/>
                      </a:lnTo>
                      <a:lnTo>
                        <a:pt x="446351" y="132119"/>
                      </a:lnTo>
                      <a:lnTo>
                        <a:pt x="446351" y="221470"/>
                      </a:lnTo>
                      <a:lnTo>
                        <a:pt x="592914" y="221470"/>
                      </a:lnTo>
                      <a:lnTo>
                        <a:pt x="593798" y="217103"/>
                      </a:lnTo>
                      <a:cubicBezTo>
                        <a:pt x="601476" y="198982"/>
                        <a:pt x="619442" y="186238"/>
                        <a:pt x="640328" y="186238"/>
                      </a:cubicBezTo>
                      <a:cubicBezTo>
                        <a:pt x="668178" y="186238"/>
                        <a:pt x="690834" y="208894"/>
                        <a:pt x="690834" y="236743"/>
                      </a:cubicBezTo>
                      <a:cubicBezTo>
                        <a:pt x="690834" y="264593"/>
                        <a:pt x="668178" y="287249"/>
                        <a:pt x="640328" y="287249"/>
                      </a:cubicBezTo>
                      <a:cubicBezTo>
                        <a:pt x="619442" y="287249"/>
                        <a:pt x="601476" y="274505"/>
                        <a:pt x="593798" y="256384"/>
                      </a:cubicBezTo>
                      <a:lnTo>
                        <a:pt x="592915" y="252018"/>
                      </a:lnTo>
                      <a:lnTo>
                        <a:pt x="446351" y="252018"/>
                      </a:lnTo>
                      <a:lnTo>
                        <a:pt x="446351" y="341369"/>
                      </a:lnTo>
                      <a:lnTo>
                        <a:pt x="554933" y="341369"/>
                      </a:lnTo>
                      <a:lnTo>
                        <a:pt x="555817" y="337003"/>
                      </a:lnTo>
                      <a:cubicBezTo>
                        <a:pt x="563494" y="318882"/>
                        <a:pt x="581460" y="306138"/>
                        <a:pt x="602347" y="306138"/>
                      </a:cubicBezTo>
                      <a:cubicBezTo>
                        <a:pt x="630197" y="306138"/>
                        <a:pt x="652853" y="328794"/>
                        <a:pt x="652853" y="356643"/>
                      </a:cubicBezTo>
                      <a:cubicBezTo>
                        <a:pt x="652853" y="384493"/>
                        <a:pt x="630197" y="407149"/>
                        <a:pt x="602347" y="407149"/>
                      </a:cubicBezTo>
                      <a:cubicBezTo>
                        <a:pt x="581460" y="407149"/>
                        <a:pt x="563494" y="394405"/>
                        <a:pt x="555817" y="376284"/>
                      </a:cubicBezTo>
                      <a:lnTo>
                        <a:pt x="554933" y="371917"/>
                      </a:lnTo>
                      <a:lnTo>
                        <a:pt x="446351" y="371917"/>
                      </a:lnTo>
                      <a:lnTo>
                        <a:pt x="446351" y="461269"/>
                      </a:lnTo>
                      <a:lnTo>
                        <a:pt x="478869" y="461269"/>
                      </a:lnTo>
                      <a:lnTo>
                        <a:pt x="479753" y="456902"/>
                      </a:lnTo>
                      <a:cubicBezTo>
                        <a:pt x="487430" y="438781"/>
                        <a:pt x="505396" y="426037"/>
                        <a:pt x="526283" y="426037"/>
                      </a:cubicBezTo>
                      <a:cubicBezTo>
                        <a:pt x="554133" y="426037"/>
                        <a:pt x="576789" y="448693"/>
                        <a:pt x="576789" y="476542"/>
                      </a:cubicBezTo>
                      <a:cubicBezTo>
                        <a:pt x="576789" y="504392"/>
                        <a:pt x="554133" y="527048"/>
                        <a:pt x="526283" y="527048"/>
                      </a:cubicBezTo>
                      <a:cubicBezTo>
                        <a:pt x="505396" y="527048"/>
                        <a:pt x="487430" y="514304"/>
                        <a:pt x="479753" y="496183"/>
                      </a:cubicBezTo>
                      <a:lnTo>
                        <a:pt x="478869" y="491817"/>
                      </a:lnTo>
                      <a:lnTo>
                        <a:pt x="446351" y="491817"/>
                      </a:lnTo>
                      <a:lnTo>
                        <a:pt x="446351" y="591249"/>
                      </a:lnTo>
                      <a:lnTo>
                        <a:pt x="440343" y="595831"/>
                      </a:lnTo>
                      <a:cubicBezTo>
                        <a:pt x="415345" y="614923"/>
                        <a:pt x="385612" y="625055"/>
                        <a:pt x="354352" y="625055"/>
                      </a:cubicBezTo>
                      <a:cubicBezTo>
                        <a:pt x="295662" y="625055"/>
                        <a:pt x="245192" y="589257"/>
                        <a:pt x="223624" y="538345"/>
                      </a:cubicBezTo>
                      <a:lnTo>
                        <a:pt x="218933" y="515161"/>
                      </a:lnTo>
                      <a:lnTo>
                        <a:pt x="174395" y="491924"/>
                      </a:lnTo>
                      <a:cubicBezTo>
                        <a:pt x="161113" y="481621"/>
                        <a:pt x="149657" y="468957"/>
                        <a:pt x="140671" y="454446"/>
                      </a:cubicBezTo>
                      <a:cubicBezTo>
                        <a:pt x="120714" y="422219"/>
                        <a:pt x="114502" y="384136"/>
                        <a:pt x="123208" y="347224"/>
                      </a:cubicBezTo>
                      <a:lnTo>
                        <a:pt x="132938" y="325790"/>
                      </a:lnTo>
                      <a:lnTo>
                        <a:pt x="97909" y="325790"/>
                      </a:lnTo>
                      <a:lnTo>
                        <a:pt x="97036" y="330106"/>
                      </a:lnTo>
                      <a:cubicBezTo>
                        <a:pt x="89358" y="348227"/>
                        <a:pt x="71392" y="360971"/>
                        <a:pt x="50505" y="360971"/>
                      </a:cubicBezTo>
                      <a:cubicBezTo>
                        <a:pt x="22656" y="360971"/>
                        <a:pt x="0" y="338315"/>
                        <a:pt x="0" y="310465"/>
                      </a:cubicBezTo>
                      <a:cubicBezTo>
                        <a:pt x="0" y="282616"/>
                        <a:pt x="22656" y="259960"/>
                        <a:pt x="50505" y="259960"/>
                      </a:cubicBezTo>
                      <a:cubicBezTo>
                        <a:pt x="71392" y="259960"/>
                        <a:pt x="89358" y="272704"/>
                        <a:pt x="97036" y="290825"/>
                      </a:cubicBezTo>
                      <a:lnTo>
                        <a:pt x="97930" y="295242"/>
                      </a:lnTo>
                      <a:lnTo>
                        <a:pt x="133039" y="295242"/>
                      </a:lnTo>
                      <a:lnTo>
                        <a:pt x="125015" y="278721"/>
                      </a:lnTo>
                      <a:cubicBezTo>
                        <a:pt x="120484" y="262531"/>
                        <a:pt x="118829" y="245526"/>
                        <a:pt x="120255" y="228496"/>
                      </a:cubicBezTo>
                      <a:cubicBezTo>
                        <a:pt x="125181" y="170035"/>
                        <a:pt x="165045" y="122743"/>
                        <a:pt x="217597" y="105501"/>
                      </a:cubicBezTo>
                      <a:lnTo>
                        <a:pt x="218443" y="105402"/>
                      </a:lnTo>
                      <a:lnTo>
                        <a:pt x="233261" y="67916"/>
                      </a:lnTo>
                      <a:cubicBezTo>
                        <a:pt x="258518" y="26805"/>
                        <a:pt x="303986" y="0"/>
                        <a:pt x="354352" y="0"/>
                      </a:cubicBezTo>
                      <a:close/>
                    </a:path>
                  </a:pathLst>
                </a:custGeom>
                <a:solidFill>
                  <a:srgbClr val="FFFFF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003" name="Google Shape;3003;p146"/>
              <p:cNvGrpSpPr/>
              <p:nvPr/>
            </p:nvGrpSpPr>
            <p:grpSpPr>
              <a:xfrm>
                <a:off x="4562059" y="4395695"/>
                <a:ext cx="490500" cy="490500"/>
                <a:chOff x="4716875" y="4381181"/>
                <a:chExt cx="490500" cy="490500"/>
              </a:xfrm>
            </p:grpSpPr>
            <p:sp>
              <p:nvSpPr>
                <p:cNvPr id="3004" name="Google Shape;3004;p146"/>
                <p:cNvSpPr/>
                <p:nvPr/>
              </p:nvSpPr>
              <p:spPr>
                <a:xfrm>
                  <a:off x="4716875" y="4381181"/>
                  <a:ext cx="490500" cy="490500"/>
                </a:xfrm>
                <a:prstGeom prst="ellipse">
                  <a:avLst/>
                </a:prstGeom>
                <a:solidFill>
                  <a:srgbClr val="323160"/>
                </a:solidFill>
                <a:ln>
                  <a:noFill/>
                </a:ln>
              </p:spPr>
              <p:txBody>
                <a:bodyPr spcFirstLastPara="1" wrap="square" lIns="58475" tIns="58475" rIns="58475" bIns="584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grpSp>
              <p:nvGrpSpPr>
                <p:cNvPr id="3005" name="Google Shape;3005;p146"/>
                <p:cNvGrpSpPr/>
                <p:nvPr/>
              </p:nvGrpSpPr>
              <p:grpSpPr>
                <a:xfrm>
                  <a:off x="4840675" y="4511642"/>
                  <a:ext cx="243130" cy="243138"/>
                  <a:chOff x="3822556" y="5087301"/>
                  <a:chExt cx="611339" cy="557273"/>
                </a:xfrm>
              </p:grpSpPr>
              <p:sp>
                <p:nvSpPr>
                  <p:cNvPr id="3006" name="Google Shape;3006;p146"/>
                  <p:cNvSpPr/>
                  <p:nvPr/>
                </p:nvSpPr>
                <p:spPr>
                  <a:xfrm>
                    <a:off x="3822556" y="5087301"/>
                    <a:ext cx="611339" cy="161801"/>
                  </a:xfrm>
                  <a:custGeom>
                    <a:avLst/>
                    <a:gdLst/>
                    <a:ahLst/>
                    <a:cxnLst/>
                    <a:rect l="l" t="t" r="r" b="b"/>
                    <a:pathLst>
                      <a:path w="611339" h="161801" extrusionOk="0">
                        <a:moveTo>
                          <a:pt x="0" y="0"/>
                        </a:moveTo>
                        <a:lnTo>
                          <a:pt x="0" y="161802"/>
                        </a:lnTo>
                        <a:lnTo>
                          <a:pt x="611339" y="161802"/>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rgbClr val="FFFFF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07" name="Google Shape;3007;p146"/>
                  <p:cNvSpPr/>
                  <p:nvPr/>
                </p:nvSpPr>
                <p:spPr>
                  <a:xfrm>
                    <a:off x="3822556" y="5284403"/>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857"/>
                        </a:moveTo>
                        <a:cubicBezTo>
                          <a:pt x="62114" y="98857"/>
                          <a:pt x="54065" y="90809"/>
                          <a:pt x="54065" y="80879"/>
                        </a:cubicBezTo>
                        <a:cubicBezTo>
                          <a:pt x="54065" y="70950"/>
                          <a:pt x="62114" y="62901"/>
                          <a:pt x="72043" y="62901"/>
                        </a:cubicBezTo>
                        <a:cubicBezTo>
                          <a:pt x="81973" y="62901"/>
                          <a:pt x="90021" y="70950"/>
                          <a:pt x="90021" y="80879"/>
                        </a:cubicBezTo>
                        <a:cubicBezTo>
                          <a:pt x="90021" y="90809"/>
                          <a:pt x="81973" y="98857"/>
                          <a:pt x="72043" y="98857"/>
                        </a:cubicBezTo>
                        <a:close/>
                        <a:moveTo>
                          <a:pt x="299283" y="108524"/>
                        </a:moveTo>
                        <a:lnTo>
                          <a:pt x="286161" y="108524"/>
                        </a:lnTo>
                        <a:lnTo>
                          <a:pt x="286161" y="54590"/>
                        </a:lnTo>
                        <a:lnTo>
                          <a:pt x="299283" y="54590"/>
                        </a:lnTo>
                        <a:lnTo>
                          <a:pt x="299283" y="108524"/>
                        </a:lnTo>
                        <a:close/>
                        <a:moveTo>
                          <a:pt x="335370" y="108524"/>
                        </a:moveTo>
                        <a:lnTo>
                          <a:pt x="322248" y="108524"/>
                        </a:lnTo>
                        <a:lnTo>
                          <a:pt x="322248" y="54590"/>
                        </a:lnTo>
                        <a:lnTo>
                          <a:pt x="335370" y="54590"/>
                        </a:lnTo>
                        <a:lnTo>
                          <a:pt x="335370" y="108524"/>
                        </a:lnTo>
                        <a:close/>
                        <a:moveTo>
                          <a:pt x="371414" y="108524"/>
                        </a:moveTo>
                        <a:lnTo>
                          <a:pt x="358291" y="108524"/>
                        </a:lnTo>
                        <a:lnTo>
                          <a:pt x="358291" y="54590"/>
                        </a:lnTo>
                        <a:lnTo>
                          <a:pt x="371414" y="54590"/>
                        </a:lnTo>
                        <a:lnTo>
                          <a:pt x="371414" y="108524"/>
                        </a:lnTo>
                        <a:close/>
                        <a:moveTo>
                          <a:pt x="407501" y="108524"/>
                        </a:moveTo>
                        <a:lnTo>
                          <a:pt x="394378" y="108524"/>
                        </a:lnTo>
                        <a:lnTo>
                          <a:pt x="394378" y="54590"/>
                        </a:lnTo>
                        <a:lnTo>
                          <a:pt x="407501" y="54590"/>
                        </a:lnTo>
                        <a:lnTo>
                          <a:pt x="407501" y="108524"/>
                        </a:lnTo>
                        <a:close/>
                        <a:moveTo>
                          <a:pt x="443588" y="108524"/>
                        </a:moveTo>
                        <a:lnTo>
                          <a:pt x="430466" y="108524"/>
                        </a:lnTo>
                        <a:lnTo>
                          <a:pt x="430466" y="54590"/>
                        </a:lnTo>
                        <a:lnTo>
                          <a:pt x="443588" y="54590"/>
                        </a:lnTo>
                        <a:lnTo>
                          <a:pt x="443588" y="108524"/>
                        </a:lnTo>
                        <a:close/>
                        <a:moveTo>
                          <a:pt x="479632" y="108524"/>
                        </a:moveTo>
                        <a:lnTo>
                          <a:pt x="466509" y="108524"/>
                        </a:lnTo>
                        <a:lnTo>
                          <a:pt x="466509" y="54590"/>
                        </a:lnTo>
                        <a:lnTo>
                          <a:pt x="479632" y="54590"/>
                        </a:lnTo>
                        <a:lnTo>
                          <a:pt x="479632" y="108524"/>
                        </a:lnTo>
                        <a:close/>
                        <a:moveTo>
                          <a:pt x="515719" y="108524"/>
                        </a:moveTo>
                        <a:lnTo>
                          <a:pt x="502596" y="108524"/>
                        </a:lnTo>
                        <a:lnTo>
                          <a:pt x="502596" y="54590"/>
                        </a:lnTo>
                        <a:lnTo>
                          <a:pt x="515719" y="54590"/>
                        </a:lnTo>
                        <a:lnTo>
                          <a:pt x="515719" y="108524"/>
                        </a:lnTo>
                        <a:close/>
                        <a:moveTo>
                          <a:pt x="551762" y="108524"/>
                        </a:moveTo>
                        <a:lnTo>
                          <a:pt x="538640" y="108524"/>
                        </a:lnTo>
                        <a:lnTo>
                          <a:pt x="538640" y="54590"/>
                        </a:lnTo>
                        <a:lnTo>
                          <a:pt x="551762" y="54590"/>
                        </a:lnTo>
                        <a:lnTo>
                          <a:pt x="551762" y="108524"/>
                        </a:lnTo>
                        <a:close/>
                      </a:path>
                    </a:pathLst>
                  </a:custGeom>
                  <a:solidFill>
                    <a:srgbClr val="FFFFF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08" name="Google Shape;3008;p146"/>
                  <p:cNvSpPr/>
                  <p:nvPr/>
                </p:nvSpPr>
                <p:spPr>
                  <a:xfrm>
                    <a:off x="3822556" y="5482729"/>
                    <a:ext cx="611339" cy="161845"/>
                  </a:xfrm>
                  <a:custGeom>
                    <a:avLst/>
                    <a:gdLst/>
                    <a:ahLst/>
                    <a:cxnLst/>
                    <a:rect l="l" t="t" r="r" b="b"/>
                    <a:pathLst>
                      <a:path w="611339" h="161845" extrusionOk="0">
                        <a:moveTo>
                          <a:pt x="0" y="0"/>
                        </a:moveTo>
                        <a:lnTo>
                          <a:pt x="0" y="161846"/>
                        </a:lnTo>
                        <a:lnTo>
                          <a:pt x="611339" y="161846"/>
                        </a:lnTo>
                        <a:lnTo>
                          <a:pt x="611339" y="0"/>
                        </a:lnTo>
                        <a:lnTo>
                          <a:pt x="0" y="0"/>
                        </a:lnTo>
                        <a:close/>
                        <a:moveTo>
                          <a:pt x="72043" y="98901"/>
                        </a:moveTo>
                        <a:cubicBezTo>
                          <a:pt x="62114" y="98901"/>
                          <a:pt x="54065" y="90852"/>
                          <a:pt x="54065" y="80923"/>
                        </a:cubicBezTo>
                        <a:cubicBezTo>
                          <a:pt x="54065" y="70993"/>
                          <a:pt x="62114" y="62945"/>
                          <a:pt x="72043" y="62945"/>
                        </a:cubicBezTo>
                        <a:cubicBezTo>
                          <a:pt x="81973" y="62945"/>
                          <a:pt x="90021" y="70993"/>
                          <a:pt x="90021" y="80923"/>
                        </a:cubicBezTo>
                        <a:cubicBezTo>
                          <a:pt x="90021" y="90852"/>
                          <a:pt x="81973" y="98901"/>
                          <a:pt x="72043" y="98901"/>
                        </a:cubicBezTo>
                        <a:close/>
                        <a:moveTo>
                          <a:pt x="299283" y="108568"/>
                        </a:moveTo>
                        <a:lnTo>
                          <a:pt x="286161" y="108568"/>
                        </a:lnTo>
                        <a:lnTo>
                          <a:pt x="286161" y="54634"/>
                        </a:lnTo>
                        <a:lnTo>
                          <a:pt x="299283" y="54634"/>
                        </a:lnTo>
                        <a:lnTo>
                          <a:pt x="299283" y="108568"/>
                        </a:lnTo>
                        <a:close/>
                        <a:moveTo>
                          <a:pt x="335370" y="108568"/>
                        </a:moveTo>
                        <a:lnTo>
                          <a:pt x="322248" y="108568"/>
                        </a:lnTo>
                        <a:lnTo>
                          <a:pt x="322248" y="54634"/>
                        </a:lnTo>
                        <a:lnTo>
                          <a:pt x="335370" y="54634"/>
                        </a:lnTo>
                        <a:lnTo>
                          <a:pt x="335370" y="108568"/>
                        </a:lnTo>
                        <a:close/>
                        <a:moveTo>
                          <a:pt x="371414" y="108568"/>
                        </a:moveTo>
                        <a:lnTo>
                          <a:pt x="358291" y="108568"/>
                        </a:lnTo>
                        <a:lnTo>
                          <a:pt x="358291" y="54634"/>
                        </a:lnTo>
                        <a:lnTo>
                          <a:pt x="371414" y="54634"/>
                        </a:lnTo>
                        <a:lnTo>
                          <a:pt x="371414" y="108568"/>
                        </a:lnTo>
                        <a:close/>
                        <a:moveTo>
                          <a:pt x="407501" y="108568"/>
                        </a:moveTo>
                        <a:lnTo>
                          <a:pt x="394378" y="108568"/>
                        </a:lnTo>
                        <a:lnTo>
                          <a:pt x="394378" y="54634"/>
                        </a:lnTo>
                        <a:lnTo>
                          <a:pt x="407501" y="54634"/>
                        </a:lnTo>
                        <a:lnTo>
                          <a:pt x="407501" y="108568"/>
                        </a:lnTo>
                        <a:close/>
                        <a:moveTo>
                          <a:pt x="443588" y="108568"/>
                        </a:moveTo>
                        <a:lnTo>
                          <a:pt x="430466" y="108568"/>
                        </a:lnTo>
                        <a:lnTo>
                          <a:pt x="430466" y="54634"/>
                        </a:lnTo>
                        <a:lnTo>
                          <a:pt x="443588" y="54634"/>
                        </a:lnTo>
                        <a:lnTo>
                          <a:pt x="443588" y="108568"/>
                        </a:lnTo>
                        <a:close/>
                        <a:moveTo>
                          <a:pt x="479632" y="108568"/>
                        </a:moveTo>
                        <a:lnTo>
                          <a:pt x="466509" y="108568"/>
                        </a:lnTo>
                        <a:lnTo>
                          <a:pt x="466509" y="54634"/>
                        </a:lnTo>
                        <a:lnTo>
                          <a:pt x="479632" y="54634"/>
                        </a:lnTo>
                        <a:lnTo>
                          <a:pt x="479632" y="108568"/>
                        </a:lnTo>
                        <a:close/>
                        <a:moveTo>
                          <a:pt x="515719" y="108568"/>
                        </a:moveTo>
                        <a:lnTo>
                          <a:pt x="502596" y="108568"/>
                        </a:lnTo>
                        <a:lnTo>
                          <a:pt x="502596" y="54634"/>
                        </a:lnTo>
                        <a:lnTo>
                          <a:pt x="515719" y="54634"/>
                        </a:lnTo>
                        <a:lnTo>
                          <a:pt x="515719" y="108568"/>
                        </a:lnTo>
                        <a:close/>
                        <a:moveTo>
                          <a:pt x="551762" y="108568"/>
                        </a:moveTo>
                        <a:lnTo>
                          <a:pt x="538640" y="108568"/>
                        </a:lnTo>
                        <a:lnTo>
                          <a:pt x="538640" y="54634"/>
                        </a:lnTo>
                        <a:lnTo>
                          <a:pt x="551762" y="54634"/>
                        </a:lnTo>
                        <a:lnTo>
                          <a:pt x="551762" y="108568"/>
                        </a:lnTo>
                        <a:close/>
                      </a:path>
                    </a:pathLst>
                  </a:custGeom>
                  <a:solidFill>
                    <a:srgbClr val="FFFFF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grpSp>
      </p:grpSp>
      <p:sp>
        <p:nvSpPr>
          <p:cNvPr id="3009" name="Google Shape;3009;p146"/>
          <p:cNvSpPr txBox="1">
            <a:spLocks noGrp="1"/>
          </p:cNvSpPr>
          <p:nvPr>
            <p:ph type="title"/>
          </p:nvPr>
        </p:nvSpPr>
        <p:spPr>
          <a:xfrm>
            <a:off x="581246" y="413536"/>
            <a:ext cx="10997935" cy="381101"/>
          </a:xfrm>
          <a:prstGeom prst="rect">
            <a:avLst/>
          </a:prstGeom>
          <a:noFill/>
          <a:ln>
            <a:noFill/>
          </a:ln>
        </p:spPr>
        <p:txBody>
          <a:bodyPr spcFirstLastPara="1" wrap="square" lIns="0" tIns="0" rIns="0" bIns="0" anchor="b" anchorCtr="0">
            <a:noAutofit/>
          </a:bodyPr>
          <a:lstStyle/>
          <a:p>
            <a:pPr marL="0" lvl="0" indent="0" algn="ctr" rtl="0">
              <a:lnSpc>
                <a:spcPct val="90000"/>
              </a:lnSpc>
              <a:spcBef>
                <a:spcPts val="0"/>
              </a:spcBef>
              <a:spcAft>
                <a:spcPts val="0"/>
              </a:spcAft>
              <a:buSzPts val="2100"/>
              <a:buNone/>
            </a:pPr>
            <a:r>
              <a:rPr lang="en-US" dirty="0">
                <a:solidFill>
                  <a:schemeClr val="accent2"/>
                </a:solidFill>
              </a:rPr>
              <a:t>Delivering the Modern Private Cloud</a:t>
            </a:r>
            <a:endParaRPr dirty="0">
              <a:solidFill>
                <a:schemeClr val="accent2"/>
              </a:solidFill>
              <a:latin typeface="Arial"/>
              <a:ea typeface="Arial"/>
              <a:cs typeface="Arial"/>
              <a:sym typeface="Arial"/>
            </a:endParaRPr>
          </a:p>
        </p:txBody>
      </p:sp>
      <p:grpSp>
        <p:nvGrpSpPr>
          <p:cNvPr id="3010" name="Google Shape;3010;p146"/>
          <p:cNvGrpSpPr/>
          <p:nvPr/>
        </p:nvGrpSpPr>
        <p:grpSpPr>
          <a:xfrm>
            <a:off x="9749896" y="2760078"/>
            <a:ext cx="1147557" cy="1087054"/>
            <a:chOff x="8869328" y="2759901"/>
            <a:chExt cx="1147856" cy="1087337"/>
          </a:xfrm>
        </p:grpSpPr>
        <p:sp>
          <p:nvSpPr>
            <p:cNvPr id="3011" name="Google Shape;3011;p146"/>
            <p:cNvSpPr txBox="1"/>
            <p:nvPr/>
          </p:nvSpPr>
          <p:spPr>
            <a:xfrm>
              <a:off x="9128884" y="3623138"/>
              <a:ext cx="888300" cy="224100"/>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90000"/>
                </a:lnSpc>
                <a:spcBef>
                  <a:spcPts val="0"/>
                </a:spcBef>
                <a:spcAft>
                  <a:spcPts val="667"/>
                </a:spcAft>
                <a:buClr>
                  <a:srgbClr val="000000"/>
                </a:buClr>
                <a:buSzPts val="800"/>
                <a:buFont typeface="Arial"/>
                <a:buNone/>
                <a:tabLst/>
                <a:defRPr/>
              </a:pPr>
              <a:r>
                <a:rPr kumimoji="0" lang="en-US" sz="1066" b="0" i="0" u="none" strike="noStrike" kern="0" cap="none" spc="0" normalizeH="0" baseline="0" noProof="0" dirty="0">
                  <a:ln>
                    <a:noFill/>
                  </a:ln>
                  <a:solidFill>
                    <a:srgbClr val="0098C7"/>
                  </a:solidFill>
                  <a:effectLst/>
                  <a:uLnTx/>
                  <a:uFillTx/>
                  <a:latin typeface="Arial"/>
                  <a:ea typeface="Arial"/>
                  <a:cs typeface="Arial"/>
                  <a:sym typeface="Arial"/>
                </a:rPr>
                <a:t>CONSUMER</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12" name="Google Shape;3012;p146"/>
            <p:cNvSpPr/>
            <p:nvPr/>
          </p:nvSpPr>
          <p:spPr>
            <a:xfrm rot="10800000">
              <a:off x="8869328" y="3006226"/>
              <a:ext cx="224339" cy="322648"/>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3">
                <a:alpha val="83529"/>
              </a:schemeClr>
            </a:solidFill>
            <a:ln>
              <a:noFill/>
            </a:ln>
          </p:spPr>
          <p:txBody>
            <a:bodyPr spcFirstLastPara="1" wrap="square" lIns="91300" tIns="45600" rIns="91300" bIns="456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5B84"/>
                </a:solidFill>
                <a:effectLst/>
                <a:uLnTx/>
                <a:uFillTx/>
                <a:latin typeface="Arial"/>
                <a:ea typeface="Arial"/>
                <a:cs typeface="Arial"/>
                <a:sym typeface="Arial"/>
              </a:endParaRPr>
            </a:p>
          </p:txBody>
        </p:sp>
        <p:sp>
          <p:nvSpPr>
            <p:cNvPr id="3013" name="Google Shape;3013;p146"/>
            <p:cNvSpPr/>
            <p:nvPr/>
          </p:nvSpPr>
          <p:spPr>
            <a:xfrm>
              <a:off x="9228840" y="2837684"/>
              <a:ext cx="684600" cy="684600"/>
            </a:xfrm>
            <a:prstGeom prst="ellipse">
              <a:avLst/>
            </a:prstGeom>
            <a:solidFill>
              <a:schemeClr val="accent3">
                <a:alpha val="83529"/>
              </a:schemeClr>
            </a:solidFill>
            <a:ln>
              <a:noFill/>
            </a:ln>
          </p:spPr>
          <p:txBody>
            <a:bodyPr spcFirstLastPara="1" wrap="square" lIns="91375" tIns="45650" rIns="91375" bIns="456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014" name="Google Shape;3014;p146"/>
            <p:cNvSpPr/>
            <p:nvPr/>
          </p:nvSpPr>
          <p:spPr>
            <a:xfrm>
              <a:off x="9508224" y="2807656"/>
              <a:ext cx="115997" cy="285451"/>
            </a:xfrm>
            <a:custGeom>
              <a:avLst/>
              <a:gdLst/>
              <a:ahLst/>
              <a:cxnLst/>
              <a:rect l="l" t="t" r="r" b="b"/>
              <a:pathLst>
                <a:path w="129245" h="318051" extrusionOk="0">
                  <a:moveTo>
                    <a:pt x="19948" y="23405"/>
                  </a:moveTo>
                  <a:cubicBezTo>
                    <a:pt x="19948" y="23405"/>
                    <a:pt x="528" y="31598"/>
                    <a:pt x="9" y="50716"/>
                  </a:cubicBezTo>
                  <a:cubicBezTo>
                    <a:pt x="-509" y="69799"/>
                    <a:pt x="21019" y="84180"/>
                    <a:pt x="17667" y="101604"/>
                  </a:cubicBezTo>
                  <a:cubicBezTo>
                    <a:pt x="14350" y="119028"/>
                    <a:pt x="-7938" y="148724"/>
                    <a:pt x="9961" y="172578"/>
                  </a:cubicBezTo>
                  <a:cubicBezTo>
                    <a:pt x="27861" y="196467"/>
                    <a:pt x="44654" y="202275"/>
                    <a:pt x="37536" y="234530"/>
                  </a:cubicBezTo>
                  <a:cubicBezTo>
                    <a:pt x="30452" y="266784"/>
                    <a:pt x="24647" y="279057"/>
                    <a:pt x="43341" y="300353"/>
                  </a:cubicBezTo>
                  <a:cubicBezTo>
                    <a:pt x="62036" y="321649"/>
                    <a:pt x="129245" y="317777"/>
                    <a:pt x="129245" y="317777"/>
                  </a:cubicBezTo>
                  <a:lnTo>
                    <a:pt x="106888" y="0"/>
                  </a:lnTo>
                  <a:lnTo>
                    <a:pt x="19913" y="23405"/>
                  </a:lnTo>
                  <a:close/>
                </a:path>
              </a:pathLst>
            </a:custGeom>
            <a:solidFill>
              <a:srgbClr val="041032"/>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15" name="Google Shape;3015;p146"/>
            <p:cNvSpPr/>
            <p:nvPr/>
          </p:nvSpPr>
          <p:spPr>
            <a:xfrm>
              <a:off x="9593604" y="2911352"/>
              <a:ext cx="98064" cy="169286"/>
            </a:xfrm>
            <a:custGeom>
              <a:avLst/>
              <a:gdLst/>
              <a:ahLst/>
              <a:cxnLst/>
              <a:rect l="l" t="t" r="r" b="b"/>
              <a:pathLst>
                <a:path w="109263" h="188619" extrusionOk="0">
                  <a:moveTo>
                    <a:pt x="109263" y="188619"/>
                  </a:moveTo>
                  <a:lnTo>
                    <a:pt x="63409" y="0"/>
                  </a:lnTo>
                  <a:lnTo>
                    <a:pt x="0" y="88778"/>
                  </a:lnTo>
                  <a:lnTo>
                    <a:pt x="0" y="188619"/>
                  </a:lnTo>
                  <a:lnTo>
                    <a:pt x="109263" y="188619"/>
                  </a:lnTo>
                  <a:close/>
                </a:path>
              </a:pathLst>
            </a:custGeom>
            <a:solidFill>
              <a:srgbClr val="775339"/>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16" name="Google Shape;3016;p146"/>
            <p:cNvSpPr/>
            <p:nvPr/>
          </p:nvSpPr>
          <p:spPr>
            <a:xfrm>
              <a:off x="9532035" y="2814791"/>
              <a:ext cx="154551" cy="198188"/>
            </a:xfrm>
            <a:custGeom>
              <a:avLst/>
              <a:gdLst/>
              <a:ahLst/>
              <a:cxnLst/>
              <a:rect l="l" t="t" r="r" b="b"/>
              <a:pathLst>
                <a:path w="172202" h="220822" extrusionOk="0">
                  <a:moveTo>
                    <a:pt x="101302" y="216788"/>
                  </a:moveTo>
                  <a:lnTo>
                    <a:pt x="73589" y="220798"/>
                  </a:lnTo>
                  <a:cubicBezTo>
                    <a:pt x="32952" y="221455"/>
                    <a:pt x="21238" y="209009"/>
                    <a:pt x="12979" y="179209"/>
                  </a:cubicBezTo>
                  <a:cubicBezTo>
                    <a:pt x="4720" y="149409"/>
                    <a:pt x="21" y="94649"/>
                    <a:pt x="21" y="94649"/>
                  </a:cubicBezTo>
                  <a:cubicBezTo>
                    <a:pt x="-843" y="45247"/>
                    <a:pt x="25004" y="7357"/>
                    <a:pt x="70064" y="857"/>
                  </a:cubicBezTo>
                  <a:lnTo>
                    <a:pt x="70064" y="857"/>
                  </a:lnTo>
                  <a:cubicBezTo>
                    <a:pt x="115124" y="-5677"/>
                    <a:pt x="157316" y="25852"/>
                    <a:pt x="163812" y="70933"/>
                  </a:cubicBezTo>
                  <a:lnTo>
                    <a:pt x="171345" y="122997"/>
                  </a:lnTo>
                  <a:cubicBezTo>
                    <a:pt x="177876" y="168077"/>
                    <a:pt x="146362" y="210288"/>
                    <a:pt x="101302" y="216788"/>
                  </a:cubicBezTo>
                  <a:close/>
                </a:path>
              </a:pathLst>
            </a:custGeom>
            <a:solidFill>
              <a:srgbClr val="775339"/>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17" name="Google Shape;3017;p146"/>
            <p:cNvSpPr/>
            <p:nvPr/>
          </p:nvSpPr>
          <p:spPr>
            <a:xfrm>
              <a:off x="9293536" y="3071056"/>
              <a:ext cx="338725" cy="283085"/>
            </a:xfrm>
            <a:custGeom>
              <a:avLst/>
              <a:gdLst/>
              <a:ahLst/>
              <a:cxnLst/>
              <a:rect l="l" t="t" r="r" b="b"/>
              <a:pathLst>
                <a:path w="377410" h="315415" extrusionOk="0">
                  <a:moveTo>
                    <a:pt x="0" y="315415"/>
                  </a:moveTo>
                  <a:lnTo>
                    <a:pt x="245894" y="24639"/>
                  </a:lnTo>
                  <a:cubicBezTo>
                    <a:pt x="274955" y="-7201"/>
                    <a:pt x="324714" y="-8342"/>
                    <a:pt x="355192" y="22150"/>
                  </a:cubicBezTo>
                  <a:lnTo>
                    <a:pt x="355192" y="22150"/>
                  </a:lnTo>
                  <a:cubicBezTo>
                    <a:pt x="383700" y="50671"/>
                    <a:pt x="385013" y="96685"/>
                    <a:pt x="357749" y="126416"/>
                  </a:cubicBezTo>
                  <a:cubicBezTo>
                    <a:pt x="295792" y="193933"/>
                    <a:pt x="188705" y="315415"/>
                    <a:pt x="0" y="315415"/>
                  </a:cubicBezTo>
                  <a:close/>
                </a:path>
              </a:pathLst>
            </a:custGeom>
            <a:solidFill>
              <a:srgbClr val="654A4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18" name="Google Shape;3018;p146"/>
            <p:cNvSpPr/>
            <p:nvPr/>
          </p:nvSpPr>
          <p:spPr>
            <a:xfrm>
              <a:off x="9183693" y="3081954"/>
              <a:ext cx="189211" cy="272172"/>
            </a:xfrm>
            <a:custGeom>
              <a:avLst/>
              <a:gdLst/>
              <a:ahLst/>
              <a:cxnLst/>
              <a:rect l="l" t="t" r="r" b="b"/>
              <a:pathLst>
                <a:path w="210820" h="303256" extrusionOk="0">
                  <a:moveTo>
                    <a:pt x="122532" y="303257"/>
                  </a:moveTo>
                  <a:lnTo>
                    <a:pt x="0" y="34329"/>
                  </a:lnTo>
                  <a:lnTo>
                    <a:pt x="17450" y="0"/>
                  </a:lnTo>
                  <a:lnTo>
                    <a:pt x="210821" y="248877"/>
                  </a:lnTo>
                  <a:lnTo>
                    <a:pt x="122532" y="303257"/>
                  </a:lnTo>
                  <a:close/>
                </a:path>
              </a:pathLst>
            </a:custGeom>
            <a:solidFill>
              <a:srgbClr val="654A4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19" name="Google Shape;3019;p146"/>
            <p:cNvSpPr/>
            <p:nvPr/>
          </p:nvSpPr>
          <p:spPr>
            <a:xfrm>
              <a:off x="9484988" y="3064879"/>
              <a:ext cx="297670" cy="456892"/>
            </a:xfrm>
            <a:custGeom>
              <a:avLst/>
              <a:gdLst/>
              <a:ahLst/>
              <a:cxnLst/>
              <a:rect l="l" t="t" r="r" b="b"/>
              <a:pathLst>
                <a:path w="380409" h="583888" extrusionOk="0">
                  <a:moveTo>
                    <a:pt x="152301" y="0"/>
                  </a:moveTo>
                  <a:lnTo>
                    <a:pt x="335952" y="0"/>
                  </a:lnTo>
                  <a:cubicBezTo>
                    <a:pt x="428124" y="152904"/>
                    <a:pt x="350230" y="363947"/>
                    <a:pt x="338730" y="502630"/>
                  </a:cubicBezTo>
                  <a:lnTo>
                    <a:pt x="338939" y="517566"/>
                  </a:lnTo>
                  <a:lnTo>
                    <a:pt x="280019" y="549547"/>
                  </a:lnTo>
                  <a:cubicBezTo>
                    <a:pt x="227737" y="571660"/>
                    <a:pt x="170257" y="583888"/>
                    <a:pt x="109920" y="583888"/>
                  </a:cubicBezTo>
                  <a:cubicBezTo>
                    <a:pt x="79752" y="583888"/>
                    <a:pt x="50297" y="580831"/>
                    <a:pt x="21850" y="575010"/>
                  </a:cubicBezTo>
                  <a:lnTo>
                    <a:pt x="0" y="568227"/>
                  </a:lnTo>
                  <a:lnTo>
                    <a:pt x="3539" y="189543"/>
                  </a:lnTo>
                  <a:cubicBezTo>
                    <a:pt x="4131" y="84655"/>
                    <a:pt x="60259" y="0"/>
                    <a:pt x="152301" y="0"/>
                  </a:cubicBezTo>
                  <a:close/>
                </a:path>
              </a:pathLst>
            </a:custGeom>
            <a:solidFill>
              <a:srgbClr val="CCF3F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20" name="Google Shape;3020;p146"/>
            <p:cNvSpPr/>
            <p:nvPr/>
          </p:nvSpPr>
          <p:spPr>
            <a:xfrm>
              <a:off x="9529080" y="2773515"/>
              <a:ext cx="298400" cy="313509"/>
            </a:xfrm>
            <a:custGeom>
              <a:avLst/>
              <a:gdLst/>
              <a:ahLst/>
              <a:cxnLst/>
              <a:rect l="l" t="t" r="r" b="b"/>
              <a:pathLst>
                <a:path w="332479" h="349314" extrusionOk="0">
                  <a:moveTo>
                    <a:pt x="324334" y="248070"/>
                  </a:moveTo>
                  <a:cubicBezTo>
                    <a:pt x="292405" y="181659"/>
                    <a:pt x="234180" y="193967"/>
                    <a:pt x="198830" y="83478"/>
                  </a:cubicBezTo>
                  <a:cubicBezTo>
                    <a:pt x="178684" y="20489"/>
                    <a:pt x="117107" y="3515"/>
                    <a:pt x="117107" y="3515"/>
                  </a:cubicBezTo>
                  <a:cubicBezTo>
                    <a:pt x="24016" y="-16432"/>
                    <a:pt x="0" y="54404"/>
                    <a:pt x="0" y="68474"/>
                  </a:cubicBezTo>
                  <a:lnTo>
                    <a:pt x="0" y="68474"/>
                  </a:lnTo>
                  <a:cubicBezTo>
                    <a:pt x="7015" y="85206"/>
                    <a:pt x="30685" y="128213"/>
                    <a:pt x="92919" y="142387"/>
                  </a:cubicBezTo>
                  <a:cubicBezTo>
                    <a:pt x="112097" y="146743"/>
                    <a:pt x="128130" y="160364"/>
                    <a:pt x="134074" y="179101"/>
                  </a:cubicBezTo>
                  <a:cubicBezTo>
                    <a:pt x="141157" y="201399"/>
                    <a:pt x="145788" y="228434"/>
                    <a:pt x="146686" y="261207"/>
                  </a:cubicBezTo>
                  <a:cubicBezTo>
                    <a:pt x="148414" y="322536"/>
                    <a:pt x="181207" y="342380"/>
                    <a:pt x="260373" y="342380"/>
                  </a:cubicBezTo>
                  <a:cubicBezTo>
                    <a:pt x="285045" y="342380"/>
                    <a:pt x="295850" y="349314"/>
                    <a:pt x="320522" y="349314"/>
                  </a:cubicBezTo>
                  <a:cubicBezTo>
                    <a:pt x="325912" y="325875"/>
                    <a:pt x="342234" y="285407"/>
                    <a:pt x="324265" y="248070"/>
                  </a:cubicBezTo>
                  <a:lnTo>
                    <a:pt x="324334" y="248070"/>
                  </a:lnTo>
                  <a:close/>
                </a:path>
              </a:pathLst>
            </a:custGeom>
            <a:solidFill>
              <a:srgbClr val="002D45"/>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21" name="Google Shape;3021;p146"/>
            <p:cNvSpPr/>
            <p:nvPr/>
          </p:nvSpPr>
          <p:spPr>
            <a:xfrm>
              <a:off x="9090583" y="2895081"/>
              <a:ext cx="276984" cy="231682"/>
            </a:xfrm>
            <a:custGeom>
              <a:avLst/>
              <a:gdLst/>
              <a:ahLst/>
              <a:cxnLst/>
              <a:rect l="l" t="t" r="r" b="b"/>
              <a:pathLst>
                <a:path w="308617" h="258141" extrusionOk="0">
                  <a:moveTo>
                    <a:pt x="298065" y="258142"/>
                  </a:moveTo>
                  <a:lnTo>
                    <a:pt x="129436" y="258142"/>
                  </a:lnTo>
                  <a:cubicBezTo>
                    <a:pt x="122076" y="258142"/>
                    <a:pt x="115372" y="253889"/>
                    <a:pt x="112262" y="247217"/>
                  </a:cubicBezTo>
                  <a:lnTo>
                    <a:pt x="684" y="10095"/>
                  </a:lnTo>
                  <a:cubicBezTo>
                    <a:pt x="-1528" y="5393"/>
                    <a:pt x="1893" y="0"/>
                    <a:pt x="7077" y="0"/>
                  </a:cubicBezTo>
                  <a:lnTo>
                    <a:pt x="182859" y="0"/>
                  </a:lnTo>
                  <a:cubicBezTo>
                    <a:pt x="189182" y="0"/>
                    <a:pt x="194918" y="3665"/>
                    <a:pt x="197614" y="9369"/>
                  </a:cubicBezTo>
                  <a:lnTo>
                    <a:pt x="307603" y="243103"/>
                  </a:lnTo>
                  <a:cubicBezTo>
                    <a:pt x="310885" y="250087"/>
                    <a:pt x="305806" y="258142"/>
                    <a:pt x="298065" y="258142"/>
                  </a:cubicBezTo>
                  <a:close/>
                </a:path>
              </a:pathLst>
            </a:custGeom>
            <a:solidFill>
              <a:srgbClr val="B5B5B5"/>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22" name="Google Shape;3022;p146"/>
            <p:cNvSpPr/>
            <p:nvPr/>
          </p:nvSpPr>
          <p:spPr>
            <a:xfrm>
              <a:off x="9339039" y="3107493"/>
              <a:ext cx="193367" cy="246606"/>
            </a:xfrm>
            <a:custGeom>
              <a:avLst/>
              <a:gdLst/>
              <a:ahLst/>
              <a:cxnLst/>
              <a:rect l="l" t="t" r="r" b="b"/>
              <a:pathLst>
                <a:path w="215451" h="274770" extrusionOk="0">
                  <a:moveTo>
                    <a:pt x="125228" y="274770"/>
                  </a:moveTo>
                  <a:lnTo>
                    <a:pt x="0" y="0"/>
                  </a:lnTo>
                  <a:lnTo>
                    <a:pt x="53526" y="5842"/>
                  </a:lnTo>
                  <a:lnTo>
                    <a:pt x="215451" y="219215"/>
                  </a:lnTo>
                  <a:lnTo>
                    <a:pt x="125228" y="274770"/>
                  </a:lnTo>
                  <a:close/>
                </a:path>
              </a:pathLst>
            </a:custGeom>
            <a:solidFill>
              <a:srgbClr val="775339"/>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23" name="Google Shape;3023;p146"/>
            <p:cNvSpPr/>
            <p:nvPr/>
          </p:nvSpPr>
          <p:spPr>
            <a:xfrm>
              <a:off x="9250848" y="3037452"/>
              <a:ext cx="137704" cy="89141"/>
            </a:xfrm>
            <a:custGeom>
              <a:avLst/>
              <a:gdLst/>
              <a:ahLst/>
              <a:cxnLst/>
              <a:rect l="l" t="t" r="r" b="b"/>
              <a:pathLst>
                <a:path w="153431" h="99322" extrusionOk="0">
                  <a:moveTo>
                    <a:pt x="23532" y="0"/>
                  </a:moveTo>
                  <a:lnTo>
                    <a:pt x="103596" y="30630"/>
                  </a:lnTo>
                  <a:lnTo>
                    <a:pt x="89187" y="0"/>
                  </a:lnTo>
                  <a:lnTo>
                    <a:pt x="102076" y="0"/>
                  </a:lnTo>
                  <a:lnTo>
                    <a:pt x="138290" y="31183"/>
                  </a:lnTo>
                  <a:cubicBezTo>
                    <a:pt x="149624" y="42868"/>
                    <a:pt x="155049" y="59047"/>
                    <a:pt x="153010" y="75226"/>
                  </a:cubicBezTo>
                  <a:lnTo>
                    <a:pt x="151904" y="83973"/>
                  </a:lnTo>
                  <a:lnTo>
                    <a:pt x="108054" y="99322"/>
                  </a:lnTo>
                  <a:lnTo>
                    <a:pt x="50416" y="62228"/>
                  </a:lnTo>
                  <a:cubicBezTo>
                    <a:pt x="27402" y="47397"/>
                    <a:pt x="9745" y="25617"/>
                    <a:pt x="0" y="0"/>
                  </a:cubicBezTo>
                  <a:lnTo>
                    <a:pt x="0" y="0"/>
                  </a:lnTo>
                  <a:cubicBezTo>
                    <a:pt x="0" y="0"/>
                    <a:pt x="23532" y="0"/>
                    <a:pt x="23532" y="0"/>
                  </a:cubicBezTo>
                  <a:close/>
                </a:path>
              </a:pathLst>
            </a:custGeom>
            <a:solidFill>
              <a:srgbClr val="775339"/>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24" name="Google Shape;3024;p146"/>
            <p:cNvSpPr/>
            <p:nvPr/>
          </p:nvSpPr>
          <p:spPr>
            <a:xfrm>
              <a:off x="9520620" y="2759901"/>
              <a:ext cx="326576" cy="442274"/>
            </a:xfrm>
            <a:custGeom>
              <a:avLst/>
              <a:gdLst/>
              <a:ahLst/>
              <a:cxnLst/>
              <a:rect l="l" t="t" r="r" b="b"/>
              <a:pathLst>
                <a:path w="363873" h="492784" extrusionOk="0">
                  <a:moveTo>
                    <a:pt x="12893" y="91025"/>
                  </a:moveTo>
                  <a:cubicBezTo>
                    <a:pt x="12893" y="91025"/>
                    <a:pt x="-4626" y="77439"/>
                    <a:pt x="1179" y="53274"/>
                  </a:cubicBezTo>
                  <a:cubicBezTo>
                    <a:pt x="6535" y="30941"/>
                    <a:pt x="28650" y="24926"/>
                    <a:pt x="43751" y="21918"/>
                  </a:cubicBezTo>
                  <a:cubicBezTo>
                    <a:pt x="58852" y="18945"/>
                    <a:pt x="62445" y="0"/>
                    <a:pt x="91472" y="0"/>
                  </a:cubicBezTo>
                  <a:cubicBezTo>
                    <a:pt x="124092" y="0"/>
                    <a:pt x="126234" y="23923"/>
                    <a:pt x="149524" y="21953"/>
                  </a:cubicBezTo>
                  <a:cubicBezTo>
                    <a:pt x="172296" y="20017"/>
                    <a:pt x="211516" y="28728"/>
                    <a:pt x="217978" y="65581"/>
                  </a:cubicBezTo>
                  <a:cubicBezTo>
                    <a:pt x="224440" y="102434"/>
                    <a:pt x="232076" y="118095"/>
                    <a:pt x="257232" y="127118"/>
                  </a:cubicBezTo>
                  <a:cubicBezTo>
                    <a:pt x="282389" y="136141"/>
                    <a:pt x="286057" y="171501"/>
                    <a:pt x="303674" y="196813"/>
                  </a:cubicBezTo>
                  <a:cubicBezTo>
                    <a:pt x="321291" y="222125"/>
                    <a:pt x="357348" y="251242"/>
                    <a:pt x="362932" y="278990"/>
                  </a:cubicBezTo>
                  <a:cubicBezTo>
                    <a:pt x="368516" y="306738"/>
                    <a:pt x="347890" y="336916"/>
                    <a:pt x="337178" y="363302"/>
                  </a:cubicBezTo>
                  <a:cubicBezTo>
                    <a:pt x="340334" y="450711"/>
                    <a:pt x="308925" y="488770"/>
                    <a:pt x="293115" y="492784"/>
                  </a:cubicBezTo>
                  <a:lnTo>
                    <a:pt x="240931" y="394318"/>
                  </a:lnTo>
                  <a:lnTo>
                    <a:pt x="115487" y="98078"/>
                  </a:lnTo>
                  <a:lnTo>
                    <a:pt x="12893" y="91025"/>
                  </a:lnTo>
                  <a:close/>
                </a:path>
              </a:pathLst>
            </a:custGeom>
            <a:solidFill>
              <a:srgbClr val="002D45"/>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25" name="Google Shape;3025;p146"/>
            <p:cNvSpPr/>
            <p:nvPr/>
          </p:nvSpPr>
          <p:spPr>
            <a:xfrm>
              <a:off x="9451298" y="3064899"/>
              <a:ext cx="346080" cy="289248"/>
            </a:xfrm>
            <a:custGeom>
              <a:avLst/>
              <a:gdLst/>
              <a:ahLst/>
              <a:cxnLst/>
              <a:rect l="l" t="t" r="r" b="b"/>
              <a:pathLst>
                <a:path w="385604" h="322282" extrusionOk="0">
                  <a:moveTo>
                    <a:pt x="0" y="322283"/>
                  </a:moveTo>
                  <a:lnTo>
                    <a:pt x="251250" y="25180"/>
                  </a:lnTo>
                  <a:cubicBezTo>
                    <a:pt x="280933" y="-7352"/>
                    <a:pt x="331764" y="-8527"/>
                    <a:pt x="362898" y="22621"/>
                  </a:cubicBezTo>
                  <a:lnTo>
                    <a:pt x="362898" y="22621"/>
                  </a:lnTo>
                  <a:cubicBezTo>
                    <a:pt x="392028" y="51765"/>
                    <a:pt x="393375" y="98781"/>
                    <a:pt x="365524" y="129135"/>
                  </a:cubicBezTo>
                  <a:cubicBezTo>
                    <a:pt x="302219" y="198138"/>
                    <a:pt x="192783" y="322248"/>
                    <a:pt x="0" y="322248"/>
                  </a:cubicBezTo>
                  <a:close/>
                </a:path>
              </a:pathLst>
            </a:custGeom>
            <a:solidFill>
              <a:srgbClr val="775339"/>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026" name="Google Shape;3026;p146"/>
          <p:cNvGrpSpPr/>
          <p:nvPr/>
        </p:nvGrpSpPr>
        <p:grpSpPr>
          <a:xfrm>
            <a:off x="1276894" y="3577479"/>
            <a:ext cx="1162694" cy="2072342"/>
            <a:chOff x="1838651" y="3577517"/>
            <a:chExt cx="1162998" cy="2072881"/>
          </a:xfrm>
        </p:grpSpPr>
        <p:sp>
          <p:nvSpPr>
            <p:cNvPr id="3027" name="Google Shape;3027;p146"/>
            <p:cNvSpPr/>
            <p:nvPr/>
          </p:nvSpPr>
          <p:spPr>
            <a:xfrm>
              <a:off x="2776135" y="4411191"/>
              <a:ext cx="225514" cy="324337"/>
            </a:xfrm>
            <a:custGeom>
              <a:avLst/>
              <a:gdLst/>
              <a:ahLst/>
              <a:cxnLst/>
              <a:rect l="l" t="t" r="r" b="b"/>
              <a:pathLst>
                <a:path w="469820" h="675703" extrusionOk="0">
                  <a:moveTo>
                    <a:pt x="0" y="675704"/>
                  </a:moveTo>
                  <a:lnTo>
                    <a:pt x="210503" y="675704"/>
                  </a:lnTo>
                  <a:cubicBezTo>
                    <a:pt x="229648" y="675704"/>
                    <a:pt x="247555" y="666464"/>
                    <a:pt x="258699" y="650843"/>
                  </a:cubicBezTo>
                  <a:lnTo>
                    <a:pt x="459962" y="368713"/>
                  </a:lnTo>
                  <a:cubicBezTo>
                    <a:pt x="473107" y="350234"/>
                    <a:pt x="473107" y="325374"/>
                    <a:pt x="459962" y="306896"/>
                  </a:cubicBezTo>
                  <a:lnTo>
                    <a:pt x="260033" y="26670"/>
                  </a:lnTo>
                  <a:cubicBezTo>
                    <a:pt x="248126" y="9906"/>
                    <a:pt x="228791" y="0"/>
                    <a:pt x="208217" y="0"/>
                  </a:cubicBezTo>
                  <a:lnTo>
                    <a:pt x="0" y="0"/>
                  </a:lnTo>
                  <a:lnTo>
                    <a:pt x="223266" y="312992"/>
                  </a:lnTo>
                  <a:cubicBezTo>
                    <a:pt x="233839" y="327850"/>
                    <a:pt x="233839" y="347853"/>
                    <a:pt x="223266" y="362712"/>
                  </a:cubicBezTo>
                  <a:lnTo>
                    <a:pt x="0" y="675704"/>
                  </a:lnTo>
                  <a:lnTo>
                    <a:pt x="0" y="675704"/>
                  </a:lnTo>
                  <a:close/>
                </a:path>
              </a:pathLst>
            </a:custGeom>
            <a:solidFill>
              <a:schemeClr val="accent5">
                <a:alpha val="83529"/>
              </a:schemeClr>
            </a:solidFill>
            <a:ln>
              <a:noFill/>
            </a:ln>
          </p:spPr>
          <p:txBody>
            <a:bodyPr spcFirstLastPara="1" wrap="square" lIns="182575" tIns="91275" rIns="182575" bIns="91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3C3C3C"/>
                </a:solidFill>
                <a:effectLst/>
                <a:uLnTx/>
                <a:uFillTx/>
                <a:latin typeface="Arial"/>
                <a:ea typeface="Arial"/>
                <a:cs typeface="Arial"/>
                <a:sym typeface="Arial"/>
              </a:endParaRPr>
            </a:p>
          </p:txBody>
        </p:sp>
        <p:sp>
          <p:nvSpPr>
            <p:cNvPr id="3028" name="Google Shape;3028;p146"/>
            <p:cNvSpPr/>
            <p:nvPr/>
          </p:nvSpPr>
          <p:spPr>
            <a:xfrm>
              <a:off x="2029073" y="4198025"/>
              <a:ext cx="684600" cy="684600"/>
            </a:xfrm>
            <a:prstGeom prst="ellipse">
              <a:avLst/>
            </a:prstGeom>
            <a:solidFill>
              <a:srgbClr val="C3B2D7">
                <a:alpha val="83529"/>
              </a:srgbClr>
            </a:solidFill>
            <a:ln>
              <a:noFill/>
            </a:ln>
          </p:spPr>
          <p:txBody>
            <a:bodyPr spcFirstLastPara="1" wrap="square" lIns="91375" tIns="91375" rIns="91375" bIns="913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41032"/>
                </a:solidFill>
                <a:effectLst/>
                <a:uLnTx/>
                <a:uFillTx/>
                <a:latin typeface="Arial"/>
                <a:ea typeface="Arial"/>
                <a:cs typeface="Arial"/>
                <a:sym typeface="Arial"/>
              </a:endParaRPr>
            </a:p>
          </p:txBody>
        </p:sp>
        <p:grpSp>
          <p:nvGrpSpPr>
            <p:cNvPr id="3029" name="Google Shape;3029;p146"/>
            <p:cNvGrpSpPr/>
            <p:nvPr/>
          </p:nvGrpSpPr>
          <p:grpSpPr>
            <a:xfrm>
              <a:off x="2197732" y="3839426"/>
              <a:ext cx="706955" cy="1329674"/>
              <a:chOff x="1273766" y="3865466"/>
              <a:chExt cx="932535" cy="1753956"/>
            </a:xfrm>
          </p:grpSpPr>
          <p:sp>
            <p:nvSpPr>
              <p:cNvPr id="3030" name="Google Shape;3030;p146"/>
              <p:cNvSpPr/>
              <p:nvPr/>
            </p:nvSpPr>
            <p:spPr>
              <a:xfrm flipH="1">
                <a:off x="1594702" y="3865466"/>
                <a:ext cx="253502" cy="253502"/>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B37CD8">
                  <a:alpha val="67058"/>
                </a:srgbClr>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1" name="Google Shape;3031;p146"/>
              <p:cNvSpPr/>
              <p:nvPr/>
            </p:nvSpPr>
            <p:spPr>
              <a:xfrm rot="1535207" flipH="1">
                <a:off x="1886778" y="5299899"/>
                <a:ext cx="273821" cy="273821"/>
              </a:xfrm>
              <a:custGeom>
                <a:avLst/>
                <a:gdLst/>
                <a:ahLst/>
                <a:cxnLst/>
                <a:rect l="l" t="t" r="r" b="b"/>
                <a:pathLst>
                  <a:path w="261342" h="261342" extrusionOk="0">
                    <a:moveTo>
                      <a:pt x="201362" y="-1"/>
                    </a:moveTo>
                    <a:cubicBezTo>
                      <a:pt x="234488" y="-1"/>
                      <a:pt x="261343" y="26854"/>
                      <a:pt x="261343" y="59980"/>
                    </a:cubicBezTo>
                    <a:lnTo>
                      <a:pt x="261343" y="201362"/>
                    </a:lnTo>
                    <a:cubicBezTo>
                      <a:pt x="261343" y="234488"/>
                      <a:pt x="234488" y="261342"/>
                      <a:pt x="201362" y="261342"/>
                    </a:cubicBezTo>
                    <a:lnTo>
                      <a:pt x="59980" y="261342"/>
                    </a:lnTo>
                    <a:cubicBezTo>
                      <a:pt x="26854" y="261342"/>
                      <a:pt x="0" y="234488"/>
                      <a:pt x="0" y="201362"/>
                    </a:cubicBezTo>
                    <a:lnTo>
                      <a:pt x="0" y="59980"/>
                    </a:lnTo>
                    <a:cubicBezTo>
                      <a:pt x="0" y="26854"/>
                      <a:pt x="26854" y="-1"/>
                      <a:pt x="59980" y="-1"/>
                    </a:cubicBezTo>
                    <a:close/>
                  </a:path>
                </a:pathLst>
              </a:custGeom>
              <a:solidFill>
                <a:srgbClr val="1D4287">
                  <a:alpha val="67058"/>
                </a:srgbClr>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2" name="Google Shape;3032;p146"/>
              <p:cNvSpPr/>
              <p:nvPr/>
            </p:nvSpPr>
            <p:spPr>
              <a:xfrm flipH="1">
                <a:off x="1322804" y="4129469"/>
                <a:ext cx="331166" cy="597777"/>
              </a:xfrm>
              <a:custGeom>
                <a:avLst/>
                <a:gdLst/>
                <a:ahLst/>
                <a:cxnLst/>
                <a:rect l="l" t="t" r="r" b="b"/>
                <a:pathLst>
                  <a:path w="245763" h="443619" extrusionOk="0">
                    <a:moveTo>
                      <a:pt x="245763" y="425314"/>
                    </a:moveTo>
                    <a:lnTo>
                      <a:pt x="89970" y="236805"/>
                    </a:lnTo>
                    <a:lnTo>
                      <a:pt x="66991" y="2726"/>
                    </a:lnTo>
                    <a:lnTo>
                      <a:pt x="0" y="0"/>
                    </a:lnTo>
                    <a:lnTo>
                      <a:pt x="3116" y="264458"/>
                    </a:lnTo>
                    <a:lnTo>
                      <a:pt x="110613" y="443620"/>
                    </a:lnTo>
                    <a:lnTo>
                      <a:pt x="245763" y="425314"/>
                    </a:lnTo>
                    <a:close/>
                  </a:path>
                </a:pathLst>
              </a:custGeom>
              <a:gradFill>
                <a:gsLst>
                  <a:gs pos="0">
                    <a:srgbClr val="5F2785"/>
                  </a:gs>
                  <a:gs pos="100000">
                    <a:srgbClr val="3F1A59"/>
                  </a:gs>
                </a:gsLst>
                <a:lin ang="5400012" scaled="0"/>
              </a:gra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3" name="Google Shape;3033;p146"/>
              <p:cNvSpPr/>
              <p:nvPr/>
            </p:nvSpPr>
            <p:spPr>
              <a:xfrm flipH="1">
                <a:off x="1499807" y="4641503"/>
                <a:ext cx="372101" cy="712181"/>
              </a:xfrm>
              <a:custGeom>
                <a:avLst/>
                <a:gdLst/>
                <a:ahLst/>
                <a:cxnLst/>
                <a:rect l="l" t="t" r="r" b="b"/>
                <a:pathLst>
                  <a:path w="276142" h="528520" extrusionOk="0">
                    <a:moveTo>
                      <a:pt x="0" y="495414"/>
                    </a:moveTo>
                    <a:lnTo>
                      <a:pt x="92697" y="284704"/>
                    </a:lnTo>
                    <a:lnTo>
                      <a:pt x="131645" y="56858"/>
                    </a:lnTo>
                    <a:cubicBezTo>
                      <a:pt x="139824" y="13625"/>
                      <a:pt x="185394" y="-11302"/>
                      <a:pt x="226289" y="5057"/>
                    </a:cubicBezTo>
                    <a:lnTo>
                      <a:pt x="276143" y="25310"/>
                    </a:lnTo>
                    <a:cubicBezTo>
                      <a:pt x="276143" y="25310"/>
                      <a:pt x="201362" y="289768"/>
                      <a:pt x="182277" y="328327"/>
                    </a:cubicBezTo>
                    <a:cubicBezTo>
                      <a:pt x="132813" y="408949"/>
                      <a:pt x="66602" y="528520"/>
                      <a:pt x="66602" y="528520"/>
                    </a:cubicBezTo>
                    <a:lnTo>
                      <a:pt x="0" y="495025"/>
                    </a:lnTo>
                    <a:close/>
                  </a:path>
                </a:pathLst>
              </a:custGeom>
              <a:solidFill>
                <a:srgbClr val="6C4B8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4" name="Google Shape;3034;p146"/>
              <p:cNvSpPr/>
              <p:nvPr/>
            </p:nvSpPr>
            <p:spPr>
              <a:xfrm flipH="1">
                <a:off x="1551626" y="3954594"/>
                <a:ext cx="97343" cy="177390"/>
              </a:xfrm>
              <a:custGeom>
                <a:avLst/>
                <a:gdLst/>
                <a:ahLst/>
                <a:cxnLst/>
                <a:rect l="l" t="t" r="r" b="b"/>
                <a:pathLst>
                  <a:path w="72240" h="131644" extrusionOk="0">
                    <a:moveTo>
                      <a:pt x="2523" y="130087"/>
                    </a:moveTo>
                    <a:lnTo>
                      <a:pt x="2523" y="130087"/>
                    </a:lnTo>
                    <a:cubicBezTo>
                      <a:pt x="-3709" y="108276"/>
                      <a:pt x="1744" y="84518"/>
                      <a:pt x="17323" y="67770"/>
                    </a:cubicBezTo>
                    <a:lnTo>
                      <a:pt x="28618" y="55696"/>
                    </a:lnTo>
                    <a:lnTo>
                      <a:pt x="18492" y="12853"/>
                    </a:lnTo>
                    <a:lnTo>
                      <a:pt x="35239" y="0"/>
                    </a:lnTo>
                    <a:lnTo>
                      <a:pt x="72240" y="63096"/>
                    </a:lnTo>
                    <a:lnTo>
                      <a:pt x="63672" y="131645"/>
                    </a:lnTo>
                    <a:lnTo>
                      <a:pt x="2523" y="129308"/>
                    </a:lnTo>
                    <a:close/>
                  </a:path>
                </a:pathLst>
              </a:custGeom>
              <a:solidFill>
                <a:srgbClr val="DAA87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035" name="Google Shape;3035;p146"/>
              <p:cNvGrpSpPr/>
              <p:nvPr/>
            </p:nvGrpSpPr>
            <p:grpSpPr>
              <a:xfrm flipH="1">
                <a:off x="1337842" y="4274040"/>
                <a:ext cx="254180" cy="384634"/>
                <a:chOff x="1935946" y="3808057"/>
                <a:chExt cx="188519" cy="285273"/>
              </a:xfrm>
            </p:grpSpPr>
            <p:sp>
              <p:nvSpPr>
                <p:cNvPr id="3036" name="Google Shape;3036;p146"/>
                <p:cNvSpPr/>
                <p:nvPr/>
              </p:nvSpPr>
              <p:spPr>
                <a:xfrm>
                  <a:off x="1981085" y="3943196"/>
                  <a:ext cx="124370" cy="150134"/>
                </a:xfrm>
                <a:custGeom>
                  <a:avLst/>
                  <a:gdLst/>
                  <a:ahLst/>
                  <a:cxnLst/>
                  <a:rect l="l" t="t" r="r" b="b"/>
                  <a:pathLst>
                    <a:path w="124370" h="150134" extrusionOk="0">
                      <a:moveTo>
                        <a:pt x="102044" y="149745"/>
                      </a:moveTo>
                      <a:cubicBezTo>
                        <a:pt x="102044" y="149745"/>
                        <a:pt x="83739" y="99891"/>
                        <a:pt x="118013" y="34069"/>
                      </a:cubicBezTo>
                      <a:cubicBezTo>
                        <a:pt x="155793" y="-38764"/>
                        <a:pt x="12853" y="27837"/>
                        <a:pt x="12853" y="27837"/>
                      </a:cubicBezTo>
                      <a:lnTo>
                        <a:pt x="0" y="140008"/>
                      </a:lnTo>
                      <a:lnTo>
                        <a:pt x="101655" y="150134"/>
                      </a:lnTo>
                      <a:close/>
                    </a:path>
                  </a:pathLst>
                </a:custGeom>
                <a:solidFill>
                  <a:srgbClr val="DAA87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7" name="Google Shape;3037;p146"/>
                <p:cNvSpPr/>
                <p:nvPr/>
              </p:nvSpPr>
              <p:spPr>
                <a:xfrm>
                  <a:off x="1935946" y="3817192"/>
                  <a:ext cx="177451" cy="206460"/>
                </a:xfrm>
                <a:custGeom>
                  <a:avLst/>
                  <a:gdLst/>
                  <a:ahLst/>
                  <a:cxnLst/>
                  <a:rect l="l" t="t" r="r" b="b"/>
                  <a:pathLst>
                    <a:path w="177451" h="206460" extrusionOk="0">
                      <a:moveTo>
                        <a:pt x="66171" y="205253"/>
                      </a:moveTo>
                      <a:lnTo>
                        <a:pt x="66171" y="205253"/>
                      </a:lnTo>
                      <a:cubicBezTo>
                        <a:pt x="19823" y="195516"/>
                        <a:pt x="-3157" y="177600"/>
                        <a:pt x="349" y="126967"/>
                      </a:cubicBezTo>
                      <a:lnTo>
                        <a:pt x="6580" y="74387"/>
                      </a:lnTo>
                      <a:cubicBezTo>
                        <a:pt x="16318" y="19470"/>
                        <a:pt x="62666" y="-7793"/>
                        <a:pt x="109014" y="1944"/>
                      </a:cubicBezTo>
                      <a:lnTo>
                        <a:pt x="109014" y="1944"/>
                      </a:lnTo>
                      <a:cubicBezTo>
                        <a:pt x="155363" y="11681"/>
                        <a:pt x="185353" y="57250"/>
                        <a:pt x="175616" y="103598"/>
                      </a:cubicBezTo>
                      <a:lnTo>
                        <a:pt x="164321" y="156957"/>
                      </a:lnTo>
                      <a:cubicBezTo>
                        <a:pt x="163152" y="162800"/>
                        <a:pt x="112909" y="214990"/>
                        <a:pt x="66561" y="205253"/>
                      </a:cubicBezTo>
                      <a:close/>
                    </a:path>
                  </a:pathLst>
                </a:custGeom>
                <a:solidFill>
                  <a:srgbClr val="DAA87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8" name="Google Shape;3038;p146"/>
                <p:cNvSpPr/>
                <p:nvPr/>
              </p:nvSpPr>
              <p:spPr>
                <a:xfrm>
                  <a:off x="1950389" y="3808057"/>
                  <a:ext cx="174076" cy="184787"/>
                </a:xfrm>
                <a:custGeom>
                  <a:avLst/>
                  <a:gdLst/>
                  <a:ahLst/>
                  <a:cxnLst/>
                  <a:rect l="l" t="t" r="r" b="b"/>
                  <a:pathLst>
                    <a:path w="174076" h="184787" extrusionOk="0">
                      <a:moveTo>
                        <a:pt x="3822" y="49637"/>
                      </a:moveTo>
                      <a:cubicBezTo>
                        <a:pt x="-6694" y="32111"/>
                        <a:pt x="5769" y="14584"/>
                        <a:pt x="25633" y="10300"/>
                      </a:cubicBezTo>
                      <a:cubicBezTo>
                        <a:pt x="48612" y="4847"/>
                        <a:pt x="75097" y="-4111"/>
                        <a:pt x="105087" y="2121"/>
                      </a:cubicBezTo>
                      <a:cubicBezTo>
                        <a:pt x="164288" y="14584"/>
                        <a:pt x="176752" y="67943"/>
                        <a:pt x="173636" y="95596"/>
                      </a:cubicBezTo>
                      <a:cubicBezTo>
                        <a:pt x="169741" y="131428"/>
                        <a:pt x="140919" y="184787"/>
                        <a:pt x="140919" y="184787"/>
                      </a:cubicBezTo>
                      <a:lnTo>
                        <a:pt x="100413" y="176219"/>
                      </a:lnTo>
                      <a:cubicBezTo>
                        <a:pt x="89897" y="173882"/>
                        <a:pt x="82497" y="164145"/>
                        <a:pt x="82887" y="153629"/>
                      </a:cubicBezTo>
                      <a:lnTo>
                        <a:pt x="84055" y="131428"/>
                      </a:lnTo>
                      <a:lnTo>
                        <a:pt x="47054" y="110396"/>
                      </a:lnTo>
                      <a:lnTo>
                        <a:pt x="51728" y="84691"/>
                      </a:lnTo>
                      <a:cubicBezTo>
                        <a:pt x="54065" y="73006"/>
                        <a:pt x="53286" y="53143"/>
                        <a:pt x="30307" y="52364"/>
                      </a:cubicBezTo>
                      <a:lnTo>
                        <a:pt x="4211" y="50027"/>
                      </a:lnTo>
                      <a:lnTo>
                        <a:pt x="4211" y="50027"/>
                      </a:lnTo>
                      <a:close/>
                    </a:path>
                  </a:pathLst>
                </a:custGeom>
                <a:solidFill>
                  <a:srgbClr val="002D45"/>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39" name="Google Shape;3039;p146"/>
                <p:cNvSpPr/>
                <p:nvPr/>
              </p:nvSpPr>
              <p:spPr>
                <a:xfrm rot="-4691101">
                  <a:off x="1989861" y="3920746"/>
                  <a:ext cx="56153" cy="41335"/>
                </a:xfrm>
                <a:custGeom>
                  <a:avLst/>
                  <a:gdLst/>
                  <a:ahLst/>
                  <a:cxnLst/>
                  <a:rect l="l" t="t" r="r" b="b"/>
                  <a:pathLst>
                    <a:path w="56085" h="41285" extrusionOk="0">
                      <a:moveTo>
                        <a:pt x="56085" y="20642"/>
                      </a:moveTo>
                      <a:cubicBezTo>
                        <a:pt x="56085" y="32043"/>
                        <a:pt x="43530" y="41285"/>
                        <a:pt x="28042" y="41285"/>
                      </a:cubicBezTo>
                      <a:cubicBezTo>
                        <a:pt x="12555" y="41285"/>
                        <a:pt x="0" y="32043"/>
                        <a:pt x="0" y="20642"/>
                      </a:cubicBezTo>
                      <a:cubicBezTo>
                        <a:pt x="0" y="9242"/>
                        <a:pt x="12555" y="0"/>
                        <a:pt x="28042" y="0"/>
                      </a:cubicBezTo>
                      <a:cubicBezTo>
                        <a:pt x="43530" y="0"/>
                        <a:pt x="56085" y="9242"/>
                        <a:pt x="56085" y="20642"/>
                      </a:cubicBezTo>
                      <a:close/>
                    </a:path>
                  </a:pathLst>
                </a:custGeom>
                <a:solidFill>
                  <a:srgbClr val="DAA87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3040" name="Google Shape;3040;p146"/>
              <p:cNvSpPr/>
              <p:nvPr/>
            </p:nvSpPr>
            <p:spPr>
              <a:xfrm flipH="1">
                <a:off x="1373682" y="4268254"/>
                <a:ext cx="232262" cy="145755"/>
              </a:xfrm>
              <a:custGeom>
                <a:avLst/>
                <a:gdLst/>
                <a:ahLst/>
                <a:cxnLst/>
                <a:rect l="l" t="t" r="r" b="b"/>
                <a:pathLst>
                  <a:path w="172365" h="108167" extrusionOk="0">
                    <a:moveTo>
                      <a:pt x="172366" y="33777"/>
                    </a:moveTo>
                    <a:cubicBezTo>
                      <a:pt x="172366" y="33777"/>
                      <a:pt x="150165" y="3787"/>
                      <a:pt x="129912" y="1450"/>
                    </a:cubicBezTo>
                    <a:cubicBezTo>
                      <a:pt x="78890" y="-4003"/>
                      <a:pt x="994" y="7682"/>
                      <a:pt x="994" y="7682"/>
                    </a:cubicBezTo>
                    <a:cubicBezTo>
                      <a:pt x="994" y="7682"/>
                      <a:pt x="-9133" y="64156"/>
                      <a:pt x="35268" y="86357"/>
                    </a:cubicBezTo>
                    <a:cubicBezTo>
                      <a:pt x="63311" y="86746"/>
                      <a:pt x="78890" y="108168"/>
                      <a:pt x="78890" y="108168"/>
                    </a:cubicBezTo>
                    <a:lnTo>
                      <a:pt x="172366" y="33387"/>
                    </a:lnTo>
                    <a:close/>
                  </a:path>
                </a:pathLst>
              </a:custGeom>
              <a:solidFill>
                <a:srgbClr val="002D45"/>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41" name="Google Shape;3041;p146"/>
              <p:cNvSpPr/>
              <p:nvPr/>
            </p:nvSpPr>
            <p:spPr>
              <a:xfrm flipH="1">
                <a:off x="1799541" y="5311588"/>
                <a:ext cx="167944" cy="183689"/>
              </a:xfrm>
              <a:custGeom>
                <a:avLst/>
                <a:gdLst/>
                <a:ahLst/>
                <a:cxnLst/>
                <a:rect l="l" t="t" r="r" b="b"/>
                <a:pathLst>
                  <a:path w="124634" h="136318" extrusionOk="0">
                    <a:moveTo>
                      <a:pt x="124634" y="25316"/>
                    </a:moveTo>
                    <a:lnTo>
                      <a:pt x="98149" y="103992"/>
                    </a:lnTo>
                    <a:lnTo>
                      <a:pt x="42843" y="136319"/>
                    </a:lnTo>
                    <a:lnTo>
                      <a:pt x="29211" y="126971"/>
                    </a:lnTo>
                    <a:lnTo>
                      <a:pt x="19085" y="128919"/>
                    </a:lnTo>
                    <a:lnTo>
                      <a:pt x="10906" y="123466"/>
                    </a:lnTo>
                    <a:lnTo>
                      <a:pt x="42843" y="79844"/>
                    </a:lnTo>
                    <a:lnTo>
                      <a:pt x="8958" y="112171"/>
                    </a:lnTo>
                    <a:lnTo>
                      <a:pt x="0" y="102823"/>
                    </a:lnTo>
                    <a:lnTo>
                      <a:pt x="47517" y="46348"/>
                    </a:lnTo>
                    <a:lnTo>
                      <a:pt x="32327" y="14800"/>
                    </a:lnTo>
                    <a:lnTo>
                      <a:pt x="50633" y="3116"/>
                    </a:lnTo>
                    <a:lnTo>
                      <a:pt x="74002" y="0"/>
                    </a:lnTo>
                    <a:lnTo>
                      <a:pt x="124634" y="25316"/>
                    </a:lnTo>
                    <a:close/>
                  </a:path>
                </a:pathLst>
              </a:custGeom>
              <a:solidFill>
                <a:srgbClr val="DAA874"/>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42" name="Google Shape;3042;p146"/>
              <p:cNvSpPr/>
              <p:nvPr/>
            </p:nvSpPr>
            <p:spPr>
              <a:xfrm flipH="1">
                <a:off x="1358429" y="4594228"/>
                <a:ext cx="193660" cy="71376"/>
              </a:xfrm>
              <a:custGeom>
                <a:avLst/>
                <a:gdLst/>
                <a:ahLst/>
                <a:cxnLst/>
                <a:rect l="l" t="t" r="r" b="b"/>
                <a:pathLst>
                  <a:path w="143718" h="52969" extrusionOk="0">
                    <a:moveTo>
                      <a:pt x="143719" y="52970"/>
                    </a:moveTo>
                    <a:lnTo>
                      <a:pt x="136319" y="3895"/>
                    </a:lnTo>
                    <a:lnTo>
                      <a:pt x="8179" y="0"/>
                    </a:lnTo>
                    <a:lnTo>
                      <a:pt x="0" y="44790"/>
                    </a:lnTo>
                    <a:lnTo>
                      <a:pt x="143719" y="52970"/>
                    </a:lnTo>
                    <a:close/>
                  </a:path>
                </a:pathLst>
              </a:custGeom>
              <a:solidFill>
                <a:srgbClr val="E5D2F2"/>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43" name="Google Shape;3043;p146"/>
              <p:cNvSpPr/>
              <p:nvPr/>
            </p:nvSpPr>
            <p:spPr>
              <a:xfrm>
                <a:off x="1273766" y="4615235"/>
                <a:ext cx="395954" cy="632618"/>
              </a:xfrm>
              <a:custGeom>
                <a:avLst/>
                <a:gdLst/>
                <a:ahLst/>
                <a:cxnLst/>
                <a:rect l="l" t="t" r="r" b="b"/>
                <a:pathLst>
                  <a:path w="437518" h="699025" extrusionOk="0">
                    <a:moveTo>
                      <a:pt x="249835" y="0"/>
                    </a:moveTo>
                    <a:lnTo>
                      <a:pt x="386378" y="31376"/>
                    </a:lnTo>
                    <a:cubicBezTo>
                      <a:pt x="386378" y="31376"/>
                      <a:pt x="412623" y="346778"/>
                      <a:pt x="434366" y="616748"/>
                    </a:cubicBezTo>
                    <a:lnTo>
                      <a:pt x="437518" y="656137"/>
                    </a:lnTo>
                    <a:lnTo>
                      <a:pt x="423858" y="663551"/>
                    </a:lnTo>
                    <a:cubicBezTo>
                      <a:pt x="369851" y="686394"/>
                      <a:pt x="310474" y="699025"/>
                      <a:pt x="248147" y="699025"/>
                    </a:cubicBezTo>
                    <a:cubicBezTo>
                      <a:pt x="185820" y="699025"/>
                      <a:pt x="126443" y="686394"/>
                      <a:pt x="72437" y="663551"/>
                    </a:cubicBezTo>
                    <a:lnTo>
                      <a:pt x="31994" y="641600"/>
                    </a:lnTo>
                    <a:lnTo>
                      <a:pt x="570" y="194066"/>
                    </a:lnTo>
                    <a:cubicBezTo>
                      <a:pt x="-5820" y="104587"/>
                      <a:pt x="42404" y="32538"/>
                      <a:pt x="101671" y="17430"/>
                    </a:cubicBezTo>
                    <a:lnTo>
                      <a:pt x="101089" y="18013"/>
                    </a:lnTo>
                    <a:lnTo>
                      <a:pt x="132465" y="47064"/>
                    </a:lnTo>
                    <a:close/>
                  </a:path>
                </a:pathLst>
              </a:custGeom>
              <a:solidFill>
                <a:srgbClr val="6C4B8F"/>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044" name="Google Shape;3044;p146"/>
            <p:cNvGrpSpPr/>
            <p:nvPr/>
          </p:nvGrpSpPr>
          <p:grpSpPr>
            <a:xfrm>
              <a:off x="1838651" y="3577517"/>
              <a:ext cx="732749" cy="181872"/>
              <a:chOff x="-1988762" y="2025033"/>
              <a:chExt cx="991810" cy="246172"/>
            </a:xfrm>
          </p:grpSpPr>
          <p:sp>
            <p:nvSpPr>
              <p:cNvPr id="3045" name="Google Shape;3045;p146"/>
              <p:cNvSpPr/>
              <p:nvPr/>
            </p:nvSpPr>
            <p:spPr>
              <a:xfrm flipH="1">
                <a:off x="-1988762" y="2028810"/>
                <a:ext cx="242395" cy="242395"/>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2453AA">
                  <a:alpha val="67058"/>
                </a:srgbClr>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46" name="Google Shape;3046;p146"/>
              <p:cNvSpPr/>
              <p:nvPr/>
            </p:nvSpPr>
            <p:spPr>
              <a:xfrm flipH="1">
                <a:off x="-1632331" y="2025033"/>
                <a:ext cx="242395" cy="242395"/>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BC9EDC">
                  <a:alpha val="26666"/>
                </a:srgbClr>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47" name="Google Shape;3047;p146"/>
              <p:cNvSpPr/>
              <p:nvPr/>
            </p:nvSpPr>
            <p:spPr>
              <a:xfrm flipH="1">
                <a:off x="-1239347" y="2025033"/>
                <a:ext cx="242395" cy="242395"/>
              </a:xfrm>
              <a:custGeom>
                <a:avLst/>
                <a:gdLst/>
                <a:ahLst/>
                <a:cxnLst/>
                <a:rect l="l" t="t" r="r" b="b"/>
                <a:pathLst>
                  <a:path w="261342" h="261342" extrusionOk="0">
                    <a:moveTo>
                      <a:pt x="201362" y="0"/>
                    </a:moveTo>
                    <a:cubicBezTo>
                      <a:pt x="234488" y="0"/>
                      <a:pt x="261342" y="26854"/>
                      <a:pt x="261342" y="59980"/>
                    </a:cubicBezTo>
                    <a:lnTo>
                      <a:pt x="261342" y="201362"/>
                    </a:lnTo>
                    <a:cubicBezTo>
                      <a:pt x="261342" y="234488"/>
                      <a:pt x="234488" y="261342"/>
                      <a:pt x="201362" y="261342"/>
                    </a:cubicBezTo>
                    <a:lnTo>
                      <a:pt x="59980" y="261342"/>
                    </a:lnTo>
                    <a:cubicBezTo>
                      <a:pt x="26854" y="261342"/>
                      <a:pt x="0" y="234488"/>
                      <a:pt x="0" y="201362"/>
                    </a:cubicBezTo>
                    <a:lnTo>
                      <a:pt x="0" y="59980"/>
                    </a:lnTo>
                    <a:cubicBezTo>
                      <a:pt x="0" y="26854"/>
                      <a:pt x="26854" y="0"/>
                      <a:pt x="59980" y="0"/>
                    </a:cubicBezTo>
                    <a:close/>
                  </a:path>
                </a:pathLst>
              </a:custGeom>
              <a:solidFill>
                <a:srgbClr val="9165C0">
                  <a:alpha val="26666"/>
                </a:srgbClr>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3048" name="Google Shape;3048;p146"/>
            <p:cNvSpPr txBox="1"/>
            <p:nvPr/>
          </p:nvSpPr>
          <p:spPr>
            <a:xfrm>
              <a:off x="2015242" y="4975398"/>
              <a:ext cx="710400" cy="675000"/>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1066" b="0" i="0" u="none" strike="noStrike" kern="0" cap="none" spc="0" normalizeH="0" baseline="0" noProof="0" dirty="0">
                  <a:ln>
                    <a:noFill/>
                  </a:ln>
                  <a:solidFill>
                    <a:srgbClr val="6C4B93"/>
                  </a:solidFill>
                  <a:effectLst/>
                  <a:uLnTx/>
                  <a:uFillTx/>
                  <a:latin typeface="Arial"/>
                  <a:ea typeface="Arial"/>
                  <a:cs typeface="Arial"/>
                  <a:sym typeface="Arial"/>
                </a:rPr>
                <a:t>CLOUD ADMIN</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3049" name="Google Shape;3049;p146"/>
          <p:cNvSpPr txBox="1"/>
          <p:nvPr/>
        </p:nvSpPr>
        <p:spPr>
          <a:xfrm>
            <a:off x="7108841" y="6440943"/>
            <a:ext cx="4400854" cy="297514"/>
          </a:xfrm>
          <a:prstGeom prst="rect">
            <a:avLst/>
          </a:prstGeom>
          <a:noFill/>
          <a:ln>
            <a:noFill/>
          </a:ln>
        </p:spPr>
        <p:txBody>
          <a:bodyPr spcFirstLastPara="1" wrap="square" lIns="91375" tIns="45650" rIns="91375" bIns="45650" anchor="t" anchorCtr="0">
            <a:sp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667" b="0" i="0" u="none" strike="noStrike" kern="0" cap="none" spc="0" normalizeH="0" baseline="0" noProof="0" dirty="0">
                <a:ln>
                  <a:noFill/>
                </a:ln>
                <a:solidFill>
                  <a:srgbClr val="000001"/>
                </a:solidFill>
                <a:effectLst/>
                <a:uLnTx/>
                <a:uFillTx/>
                <a:latin typeface="Arial"/>
                <a:ea typeface="Arial"/>
                <a:cs typeface="Arial"/>
                <a:sym typeface="Arial"/>
              </a:rPr>
              <a:t>The information in this presentation is for informational purposes only and may not be incorporated</a:t>
            </a:r>
            <a:endParaRPr kumimoji="0" sz="1866" b="0" i="0" u="none" strike="noStrike" kern="0" cap="none" spc="0" normalizeH="0" baseline="0" noProof="0" dirty="0">
              <a:ln>
                <a:noFill/>
              </a:ln>
              <a:solidFill>
                <a:srgbClr val="000001"/>
              </a:solidFill>
              <a:effectLst/>
              <a:uLnTx/>
              <a:uFillTx/>
              <a:latin typeface="Arial"/>
              <a:ea typeface="Arial"/>
              <a:cs typeface="Arial"/>
              <a:sym typeface="Arial"/>
            </a:endParaRPr>
          </a:p>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667" b="0" i="0" u="none" strike="noStrike" kern="0" cap="none" spc="0" normalizeH="0" baseline="0" noProof="0" dirty="0">
                <a:ln>
                  <a:noFill/>
                </a:ln>
                <a:solidFill>
                  <a:srgbClr val="000001"/>
                </a:solidFill>
                <a:effectLst/>
                <a:uLnTx/>
                <a:uFillTx/>
                <a:latin typeface="Arial"/>
                <a:ea typeface="Arial"/>
                <a:cs typeface="Arial"/>
                <a:sym typeface="Arial"/>
              </a:rPr>
              <a:t>into any contract. There is no commitment or obligation to deliver any items presented herein.</a:t>
            </a:r>
            <a:endParaRPr kumimoji="0" sz="1866" b="0" i="0" u="none" strike="noStrike" kern="0" cap="none" spc="0" normalizeH="0" baseline="0" noProof="0" dirty="0">
              <a:ln>
                <a:noFill/>
              </a:ln>
              <a:solidFill>
                <a:srgbClr val="000001"/>
              </a:solidFill>
              <a:effectLst/>
              <a:uLnTx/>
              <a:uFillTx/>
              <a:latin typeface="Arial"/>
              <a:ea typeface="Arial"/>
              <a:cs typeface="Arial"/>
              <a:sym typeface="Arial"/>
            </a:endParaRPr>
          </a:p>
        </p:txBody>
      </p:sp>
      <p:grpSp>
        <p:nvGrpSpPr>
          <p:cNvPr id="3050" name="Google Shape;3050;p146"/>
          <p:cNvGrpSpPr/>
          <p:nvPr/>
        </p:nvGrpSpPr>
        <p:grpSpPr>
          <a:xfrm>
            <a:off x="2156872" y="1175906"/>
            <a:ext cx="7875052" cy="828000"/>
            <a:chOff x="1994229" y="1233375"/>
            <a:chExt cx="7877100" cy="828215"/>
          </a:xfrm>
        </p:grpSpPr>
        <p:sp>
          <p:nvSpPr>
            <p:cNvPr id="3051" name="Google Shape;3051;p146"/>
            <p:cNvSpPr/>
            <p:nvPr/>
          </p:nvSpPr>
          <p:spPr>
            <a:xfrm>
              <a:off x="1994229" y="1233375"/>
              <a:ext cx="7877100" cy="828215"/>
            </a:xfrm>
            <a:prstGeom prst="roundRect">
              <a:avLst>
                <a:gd name="adj" fmla="val 14530"/>
              </a:avLst>
            </a:prstGeom>
            <a:gradFill>
              <a:gsLst>
                <a:gs pos="0">
                  <a:srgbClr val="002060"/>
                </a:gs>
                <a:gs pos="100000">
                  <a:srgbClr val="00A5DD"/>
                </a:gs>
              </a:gsLst>
              <a:lin ang="0" scaled="0"/>
            </a:gra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052" name="Google Shape;3052;p146"/>
            <p:cNvSpPr/>
            <p:nvPr/>
          </p:nvSpPr>
          <p:spPr>
            <a:xfrm>
              <a:off x="2027093" y="1269030"/>
              <a:ext cx="7814032" cy="756197"/>
            </a:xfrm>
            <a:prstGeom prst="roundRect">
              <a:avLst>
                <a:gd name="adj" fmla="val 10245"/>
              </a:avLst>
            </a:prstGeom>
            <a:solidFill>
              <a:schemeClr val="lt1">
                <a:alpha val="94117"/>
              </a:schemeClr>
            </a:solidFill>
            <a:ln>
              <a:noFill/>
            </a:ln>
          </p:spPr>
          <p:txBody>
            <a:bodyPr spcFirstLastPara="1" wrap="square" lIns="91375" tIns="91375" rIns="91375" bIns="913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1066" b="0" i="0" u="none" strike="noStrike" kern="0" cap="none" spc="0" normalizeH="0" baseline="0" noProof="0" dirty="0">
                <a:ln>
                  <a:noFill/>
                </a:ln>
                <a:solidFill>
                  <a:srgbClr val="0098C7"/>
                </a:solidFill>
                <a:effectLst/>
                <a:uLnTx/>
                <a:uFillTx/>
                <a:latin typeface="Arial"/>
                <a:ea typeface="Arial"/>
                <a:cs typeface="Arial"/>
                <a:sym typeface="Arial"/>
              </a:endParaRPr>
            </a:p>
          </p:txBody>
        </p:sp>
      </p:grpSp>
      <p:sp>
        <p:nvSpPr>
          <p:cNvPr id="3053" name="Google Shape;3053;p146"/>
          <p:cNvSpPr/>
          <p:nvPr/>
        </p:nvSpPr>
        <p:spPr>
          <a:xfrm>
            <a:off x="5008878" y="1082044"/>
            <a:ext cx="2171034" cy="274728"/>
          </a:xfrm>
          <a:prstGeom prst="roundRect">
            <a:avLst>
              <a:gd name="adj" fmla="val 50000"/>
            </a:avLst>
          </a:prstGeom>
          <a:gradFill>
            <a:gsLst>
              <a:gs pos="0">
                <a:schemeClr val="accent3"/>
              </a:gs>
              <a:gs pos="35000">
                <a:schemeClr val="accent3"/>
              </a:gs>
              <a:gs pos="100000">
                <a:schemeClr val="accent2"/>
              </a:gs>
            </a:gsLst>
            <a:lin ang="18900044" scaled="0"/>
          </a:gra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800"/>
              <a:buFont typeface="Arial"/>
              <a:buNone/>
              <a:tabLst/>
              <a:defRPr/>
            </a:pPr>
            <a:r>
              <a:rPr kumimoji="0" lang="en-US" sz="1066" b="1" i="0" u="none" strike="noStrike" kern="0" cap="none" spc="0" normalizeH="0" baseline="0" noProof="0" dirty="0">
                <a:ln>
                  <a:noFill/>
                </a:ln>
                <a:solidFill>
                  <a:srgbClr val="FFFFFF"/>
                </a:solidFill>
                <a:effectLst/>
                <a:uLnTx/>
                <a:uFillTx/>
                <a:latin typeface="Arial"/>
                <a:ea typeface="Arial"/>
                <a:cs typeface="Arial"/>
                <a:sym typeface="Arial"/>
              </a:rPr>
              <a:t>VCF Advanced Services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054" name="Google Shape;3054;p146"/>
          <p:cNvGrpSpPr/>
          <p:nvPr/>
        </p:nvGrpSpPr>
        <p:grpSpPr>
          <a:xfrm>
            <a:off x="2339687" y="1425459"/>
            <a:ext cx="7410191" cy="449914"/>
            <a:chOff x="2717473" y="1424949"/>
            <a:chExt cx="6753026" cy="450031"/>
          </a:xfrm>
        </p:grpSpPr>
        <p:sp>
          <p:nvSpPr>
            <p:cNvPr id="3055" name="Google Shape;3055;p146"/>
            <p:cNvSpPr txBox="1"/>
            <p:nvPr/>
          </p:nvSpPr>
          <p:spPr>
            <a:xfrm>
              <a:off x="2717473" y="1487241"/>
              <a:ext cx="359100"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Private</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AI</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56" name="Google Shape;3056;p146"/>
            <p:cNvSpPr txBox="1"/>
            <p:nvPr/>
          </p:nvSpPr>
          <p:spPr>
            <a:xfrm>
              <a:off x="3345207" y="1424949"/>
              <a:ext cx="679800" cy="387707"/>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DR and </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Ransomware</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Recovery</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57" name="Google Shape;3057;p146"/>
            <p:cNvSpPr txBox="1"/>
            <p:nvPr/>
          </p:nvSpPr>
          <p:spPr>
            <a:xfrm>
              <a:off x="4198738" y="1487241"/>
              <a:ext cx="545100"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Advanced </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Security</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58" name="Google Shape;3058;p146"/>
            <p:cNvSpPr txBox="1"/>
            <p:nvPr/>
          </p:nvSpPr>
          <p:spPr>
            <a:xfrm>
              <a:off x="6623452" y="1487241"/>
              <a:ext cx="442500"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Data </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Services</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59" name="Google Shape;3059;p146"/>
            <p:cNvSpPr txBox="1"/>
            <p:nvPr/>
          </p:nvSpPr>
          <p:spPr>
            <a:xfrm>
              <a:off x="7324396" y="1487241"/>
              <a:ext cx="666900"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Network </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Observability</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60" name="Google Shape;3060;p146"/>
            <p:cNvSpPr txBox="1"/>
            <p:nvPr/>
          </p:nvSpPr>
          <p:spPr>
            <a:xfrm>
              <a:off x="8216287" y="1487241"/>
              <a:ext cx="564300"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Business </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Operations</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61" name="Google Shape;3061;p146"/>
            <p:cNvSpPr txBox="1"/>
            <p:nvPr/>
          </p:nvSpPr>
          <p:spPr>
            <a:xfrm>
              <a:off x="5718881" y="1487242"/>
              <a:ext cx="596399"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Application </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Services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62" name="Google Shape;3062;p146"/>
            <p:cNvSpPr txBox="1"/>
            <p:nvPr/>
          </p:nvSpPr>
          <p:spPr>
            <a:xfrm>
              <a:off x="4979520" y="1487242"/>
              <a:ext cx="538500" cy="258471"/>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Load </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Balancing </a:t>
              </a: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sp>
          <p:nvSpPr>
            <p:cNvPr id="3063" name="Google Shape;3063;p146"/>
            <p:cNvSpPr txBox="1"/>
            <p:nvPr/>
          </p:nvSpPr>
          <p:spPr>
            <a:xfrm>
              <a:off x="9072999" y="1487273"/>
              <a:ext cx="397500" cy="387707"/>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Secure </a:t>
              </a:r>
              <a:b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br>
              <a:r>
                <a:rPr kumimoji="0" lang="en-US" sz="933" b="0" i="0" u="none" strike="noStrike" kern="0" cap="none" spc="0" normalizeH="0" baseline="0" noProof="0" dirty="0">
                  <a:ln>
                    <a:noFill/>
                  </a:ln>
                  <a:solidFill>
                    <a:srgbClr val="005C8A"/>
                  </a:solidFill>
                  <a:effectLst/>
                  <a:uLnTx/>
                  <a:uFillTx/>
                  <a:latin typeface="Arial"/>
                  <a:ea typeface="Arial"/>
                  <a:cs typeface="Arial"/>
                  <a:sym typeface="Arial"/>
                </a:rPr>
                <a:t>Access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90000"/>
                </a:lnSpc>
                <a:spcBef>
                  <a:spcPts val="0"/>
                </a:spcBef>
                <a:spcAft>
                  <a:spcPts val="0"/>
                </a:spcAft>
                <a:buClr>
                  <a:srgbClr val="000000"/>
                </a:buClr>
                <a:buSzPts val="700"/>
                <a:buFont typeface="Arial"/>
                <a:buNone/>
                <a:tabLst/>
                <a:defRPr/>
              </a:pPr>
              <a:endParaRPr kumimoji="0" sz="933" b="0" i="0" u="none" strike="noStrike" kern="0" cap="none" spc="0" normalizeH="0" baseline="0" noProof="0" dirty="0">
                <a:ln>
                  <a:noFill/>
                </a:ln>
                <a:solidFill>
                  <a:srgbClr val="005C8A"/>
                </a:solidFill>
                <a:effectLst/>
                <a:uLnTx/>
                <a:uFillTx/>
                <a:latin typeface="Arial"/>
                <a:ea typeface="Arial"/>
                <a:cs typeface="Arial"/>
                <a:sym typeface="Arial"/>
              </a:endParaRPr>
            </a:p>
          </p:txBody>
        </p:sp>
      </p:grpSp>
      <p:grpSp>
        <p:nvGrpSpPr>
          <p:cNvPr id="3064" name="Google Shape;3064;p146"/>
          <p:cNvGrpSpPr/>
          <p:nvPr/>
        </p:nvGrpSpPr>
        <p:grpSpPr>
          <a:xfrm>
            <a:off x="1356124" y="5688746"/>
            <a:ext cx="9476730" cy="337112"/>
            <a:chOff x="1331100" y="5834475"/>
            <a:chExt cx="9479199" cy="337200"/>
          </a:xfrm>
        </p:grpSpPr>
        <p:sp>
          <p:nvSpPr>
            <p:cNvPr id="3065" name="Google Shape;3065;p146"/>
            <p:cNvSpPr txBox="1"/>
            <p:nvPr/>
          </p:nvSpPr>
          <p:spPr>
            <a:xfrm>
              <a:off x="2696786" y="5859933"/>
              <a:ext cx="1022100" cy="2862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30000"/>
                </a:lnSpc>
                <a:spcBef>
                  <a:spcPts val="0"/>
                </a:spcBef>
                <a:spcAft>
                  <a:spcPts val="0"/>
                </a:spcAft>
                <a:buClr>
                  <a:srgbClr val="000000"/>
                </a:buClr>
                <a:buSzPts val="800"/>
                <a:buFont typeface="Arial"/>
                <a:buNone/>
                <a:tabLst/>
                <a:defRPr/>
              </a:pPr>
              <a:r>
                <a:rPr kumimoji="0" lang="en-US" sz="1066" b="1" i="0" u="none" strike="noStrike" kern="0" cap="none" spc="0" normalizeH="0" baseline="0" noProof="0" dirty="0">
                  <a:ln>
                    <a:noFill/>
                  </a:ln>
                  <a:solidFill>
                    <a:srgbClr val="000000"/>
                  </a:solidFill>
                  <a:effectLst/>
                  <a:uLnTx/>
                  <a:uFillTx/>
                  <a:latin typeface="Arial"/>
                  <a:ea typeface="Arial"/>
                  <a:cs typeface="Arial"/>
                  <a:sym typeface="Arial"/>
                </a:rPr>
                <a:t>On Prem</a:t>
              </a:r>
              <a:endParaRPr kumimoji="0" sz="18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66" name="Google Shape;3066;p146"/>
            <p:cNvSpPr txBox="1"/>
            <p:nvPr/>
          </p:nvSpPr>
          <p:spPr>
            <a:xfrm>
              <a:off x="4320423" y="5859933"/>
              <a:ext cx="1006200" cy="2862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30000"/>
                </a:lnSpc>
                <a:spcBef>
                  <a:spcPts val="0"/>
                </a:spcBef>
                <a:spcAft>
                  <a:spcPts val="0"/>
                </a:spcAft>
                <a:buClr>
                  <a:srgbClr val="000000"/>
                </a:buClr>
                <a:buSzPts val="800"/>
                <a:buFont typeface="Arial"/>
                <a:buNone/>
                <a:tabLst/>
                <a:defRPr/>
              </a:pPr>
              <a:r>
                <a:rPr kumimoji="0" lang="en-US" sz="1066" b="1" i="0" u="none" strike="noStrike" kern="0" cap="none" spc="0" normalizeH="0" baseline="0" noProof="0" dirty="0">
                  <a:ln>
                    <a:noFill/>
                  </a:ln>
                  <a:solidFill>
                    <a:srgbClr val="000000"/>
                  </a:solidFill>
                  <a:effectLst/>
                  <a:uLnTx/>
                  <a:uFillTx/>
                  <a:latin typeface="Arial"/>
                  <a:ea typeface="Arial"/>
                  <a:cs typeface="Arial"/>
                  <a:sym typeface="Arial"/>
                </a:rPr>
                <a:t>Public Cloud</a:t>
              </a:r>
              <a:endParaRPr kumimoji="0" sz="18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67" name="Google Shape;3067;p146"/>
            <p:cNvSpPr txBox="1"/>
            <p:nvPr/>
          </p:nvSpPr>
          <p:spPr>
            <a:xfrm>
              <a:off x="5976665" y="5859933"/>
              <a:ext cx="1319400" cy="2862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30000"/>
                </a:lnSpc>
                <a:spcBef>
                  <a:spcPts val="0"/>
                </a:spcBef>
                <a:spcAft>
                  <a:spcPts val="0"/>
                </a:spcAft>
                <a:buClr>
                  <a:srgbClr val="000000"/>
                </a:buClr>
                <a:buSzPts val="800"/>
                <a:buFont typeface="Arial"/>
                <a:buNone/>
                <a:tabLst/>
                <a:defRPr/>
              </a:pPr>
              <a:r>
                <a:rPr kumimoji="0" lang="en-US" sz="1066" b="1" i="0" u="none" strike="noStrike" kern="0" cap="none" spc="0" normalizeH="0" baseline="0" noProof="0" dirty="0">
                  <a:ln>
                    <a:noFill/>
                  </a:ln>
                  <a:solidFill>
                    <a:srgbClr val="000000"/>
                  </a:solidFill>
                  <a:effectLst/>
                  <a:uLnTx/>
                  <a:uFillTx/>
                  <a:latin typeface="Arial"/>
                  <a:ea typeface="Arial"/>
                  <a:cs typeface="Arial"/>
                  <a:sym typeface="Arial"/>
                </a:rPr>
                <a:t>Sovereign Cloud</a:t>
              </a:r>
              <a:endParaRPr kumimoji="0" sz="18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68" name="Google Shape;3068;p146"/>
            <p:cNvSpPr txBox="1"/>
            <p:nvPr/>
          </p:nvSpPr>
          <p:spPr>
            <a:xfrm>
              <a:off x="7891538" y="5859933"/>
              <a:ext cx="496200" cy="2862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30000"/>
                </a:lnSpc>
                <a:spcBef>
                  <a:spcPts val="0"/>
                </a:spcBef>
                <a:spcAft>
                  <a:spcPts val="0"/>
                </a:spcAft>
                <a:buClr>
                  <a:srgbClr val="000000"/>
                </a:buClr>
                <a:buSzPts val="800"/>
                <a:buFont typeface="Arial"/>
                <a:buNone/>
                <a:tabLst/>
                <a:defRPr/>
              </a:pPr>
              <a:r>
                <a:rPr kumimoji="0" lang="en-US" sz="1066" b="1" i="0" u="none" strike="noStrike" kern="0" cap="none" spc="0" normalizeH="0" baseline="0" noProof="0" dirty="0">
                  <a:ln>
                    <a:noFill/>
                  </a:ln>
                  <a:solidFill>
                    <a:srgbClr val="000000"/>
                  </a:solidFill>
                  <a:effectLst/>
                  <a:uLnTx/>
                  <a:uFillTx/>
                  <a:latin typeface="Arial"/>
                  <a:ea typeface="Arial"/>
                  <a:cs typeface="Arial"/>
                  <a:sym typeface="Arial"/>
                </a:rPr>
                <a:t>Edge</a:t>
              </a:r>
              <a:endParaRPr kumimoji="0" sz="18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69" name="Google Shape;3069;p146"/>
            <p:cNvSpPr txBox="1"/>
            <p:nvPr/>
          </p:nvSpPr>
          <p:spPr>
            <a:xfrm>
              <a:off x="8963199" y="5859933"/>
              <a:ext cx="491100" cy="286200"/>
            </a:xfrm>
            <a:prstGeom prst="rect">
              <a:avLst/>
            </a:prstGeom>
            <a:noFill/>
            <a:ln>
              <a:noFill/>
            </a:ln>
          </p:spPr>
          <p:txBody>
            <a:bodyPr spcFirstLastPara="1" wrap="square" lIns="0" tIns="0" rIns="0" bIns="0" anchor="ctr" anchorCtr="0">
              <a:noAutofit/>
            </a:bodyPr>
            <a:lstStyle/>
            <a:p>
              <a:pPr marL="0" marR="0" lvl="0" indent="0" algn="ctr" defTabSz="914400" rtl="0" eaLnBrk="1" fontAlgn="auto" latinLnBrk="0" hangingPunct="1">
                <a:lnSpc>
                  <a:spcPct val="130000"/>
                </a:lnSpc>
                <a:spcBef>
                  <a:spcPts val="0"/>
                </a:spcBef>
                <a:spcAft>
                  <a:spcPts val="0"/>
                </a:spcAft>
                <a:buClr>
                  <a:srgbClr val="000000"/>
                </a:buClr>
                <a:buSzPts val="800"/>
                <a:buFont typeface="Arial"/>
                <a:buNone/>
                <a:tabLst/>
                <a:defRPr/>
              </a:pPr>
              <a:r>
                <a:rPr kumimoji="0" lang="en-US" sz="1066" b="1" i="0" u="none" strike="noStrike" kern="0" cap="none" spc="0" normalizeH="0" baseline="0" noProof="0" dirty="0">
                  <a:ln>
                    <a:noFill/>
                  </a:ln>
                  <a:solidFill>
                    <a:srgbClr val="000000"/>
                  </a:solidFill>
                  <a:effectLst/>
                  <a:uLnTx/>
                  <a:uFillTx/>
                  <a:latin typeface="Arial"/>
                  <a:ea typeface="Arial"/>
                  <a:cs typeface="Arial"/>
                  <a:sym typeface="Arial"/>
                </a:rPr>
                <a:t>Telco</a:t>
              </a:r>
              <a:endParaRPr kumimoji="0" sz="1866" b="0" i="0" u="none" strike="noStrike" kern="0" cap="none" spc="0" normalizeH="0" baseline="0" noProof="0" dirty="0">
                <a:ln>
                  <a:noFill/>
                </a:ln>
                <a:solidFill>
                  <a:srgbClr val="000000"/>
                </a:solidFill>
                <a:effectLst/>
                <a:uLnTx/>
                <a:uFillTx/>
                <a:latin typeface="Arial"/>
                <a:ea typeface="Arial"/>
                <a:cs typeface="Arial"/>
                <a:sym typeface="Arial"/>
              </a:endParaRPr>
            </a:p>
          </p:txBody>
        </p:sp>
        <p:cxnSp>
          <p:nvCxnSpPr>
            <p:cNvPr id="3070" name="Google Shape;3070;p146"/>
            <p:cNvCxnSpPr>
              <a:stCxn id="3065" idx="3"/>
              <a:endCxn id="3066" idx="1"/>
            </p:cNvCxnSpPr>
            <p:nvPr/>
          </p:nvCxnSpPr>
          <p:spPr>
            <a:xfrm>
              <a:off x="3718886" y="6003033"/>
              <a:ext cx="601500" cy="0"/>
            </a:xfrm>
            <a:prstGeom prst="straightConnector1">
              <a:avLst/>
            </a:prstGeom>
            <a:noFill/>
            <a:ln w="12700" cap="flat" cmpd="sng">
              <a:solidFill>
                <a:schemeClr val="dk1"/>
              </a:solidFill>
              <a:prstDash val="solid"/>
              <a:miter lim="800000"/>
              <a:headEnd type="none" w="sm" len="sm"/>
              <a:tailEnd type="none" w="sm" len="sm"/>
            </a:ln>
          </p:spPr>
        </p:cxnSp>
        <p:cxnSp>
          <p:nvCxnSpPr>
            <p:cNvPr id="3071" name="Google Shape;3071;p146"/>
            <p:cNvCxnSpPr>
              <a:stCxn id="3066" idx="3"/>
              <a:endCxn id="3067" idx="1"/>
            </p:cNvCxnSpPr>
            <p:nvPr/>
          </p:nvCxnSpPr>
          <p:spPr>
            <a:xfrm>
              <a:off x="5326623" y="6003033"/>
              <a:ext cx="650100" cy="0"/>
            </a:xfrm>
            <a:prstGeom prst="straightConnector1">
              <a:avLst/>
            </a:prstGeom>
            <a:noFill/>
            <a:ln w="12700" cap="flat" cmpd="sng">
              <a:solidFill>
                <a:schemeClr val="dk1"/>
              </a:solidFill>
              <a:prstDash val="solid"/>
              <a:miter lim="800000"/>
              <a:headEnd type="none" w="sm" len="sm"/>
              <a:tailEnd type="none" w="sm" len="sm"/>
            </a:ln>
          </p:spPr>
        </p:cxnSp>
        <p:cxnSp>
          <p:nvCxnSpPr>
            <p:cNvPr id="3072" name="Google Shape;3072;p146"/>
            <p:cNvCxnSpPr>
              <a:stCxn id="3067" idx="3"/>
              <a:endCxn id="3068" idx="1"/>
            </p:cNvCxnSpPr>
            <p:nvPr/>
          </p:nvCxnSpPr>
          <p:spPr>
            <a:xfrm>
              <a:off x="7296065" y="6003033"/>
              <a:ext cx="595500" cy="0"/>
            </a:xfrm>
            <a:prstGeom prst="straightConnector1">
              <a:avLst/>
            </a:prstGeom>
            <a:noFill/>
            <a:ln w="12700" cap="flat" cmpd="sng">
              <a:solidFill>
                <a:schemeClr val="dk1"/>
              </a:solidFill>
              <a:prstDash val="solid"/>
              <a:miter lim="800000"/>
              <a:headEnd type="none" w="sm" len="sm"/>
              <a:tailEnd type="none" w="sm" len="sm"/>
            </a:ln>
          </p:spPr>
        </p:cxnSp>
        <p:cxnSp>
          <p:nvCxnSpPr>
            <p:cNvPr id="3073" name="Google Shape;3073;p146"/>
            <p:cNvCxnSpPr/>
            <p:nvPr/>
          </p:nvCxnSpPr>
          <p:spPr>
            <a:xfrm>
              <a:off x="8387748" y="6000291"/>
              <a:ext cx="575400" cy="0"/>
            </a:xfrm>
            <a:prstGeom prst="straightConnector1">
              <a:avLst/>
            </a:prstGeom>
            <a:noFill/>
            <a:ln w="12700" cap="flat" cmpd="sng">
              <a:solidFill>
                <a:schemeClr val="dk1"/>
              </a:solidFill>
              <a:prstDash val="solid"/>
              <a:miter lim="800000"/>
              <a:headEnd type="none" w="sm" len="sm"/>
              <a:tailEnd type="none" w="sm" len="sm"/>
            </a:ln>
          </p:spPr>
        </p:cxnSp>
        <p:cxnSp>
          <p:nvCxnSpPr>
            <p:cNvPr id="3074" name="Google Shape;3074;p146"/>
            <p:cNvCxnSpPr>
              <a:stCxn id="3069" idx="3"/>
              <a:endCxn id="3075" idx="3"/>
            </p:cNvCxnSpPr>
            <p:nvPr/>
          </p:nvCxnSpPr>
          <p:spPr>
            <a:xfrm>
              <a:off x="9454299" y="6003033"/>
              <a:ext cx="1356000" cy="0"/>
            </a:xfrm>
            <a:prstGeom prst="straightConnector1">
              <a:avLst/>
            </a:prstGeom>
            <a:noFill/>
            <a:ln w="12700" cap="flat" cmpd="sng">
              <a:solidFill>
                <a:schemeClr val="dk1"/>
              </a:solidFill>
              <a:prstDash val="solid"/>
              <a:miter lim="800000"/>
              <a:headEnd type="none" w="sm" len="sm"/>
              <a:tailEnd type="none" w="sm" len="sm"/>
            </a:ln>
          </p:spPr>
        </p:cxnSp>
        <p:sp>
          <p:nvSpPr>
            <p:cNvPr id="3075" name="Google Shape;3075;p146"/>
            <p:cNvSpPr/>
            <p:nvPr/>
          </p:nvSpPr>
          <p:spPr>
            <a:xfrm>
              <a:off x="9406811" y="5834475"/>
              <a:ext cx="1403400" cy="337200"/>
            </a:xfrm>
            <a:prstGeom prst="rect">
              <a:avLst/>
            </a:prstGeom>
            <a:gradFill>
              <a:gsLst>
                <a:gs pos="0">
                  <a:srgbClr val="FFFFFF">
                    <a:alpha val="66666"/>
                  </a:srgbClr>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cxnSp>
          <p:nvCxnSpPr>
            <p:cNvPr id="3076" name="Google Shape;3076;p146"/>
            <p:cNvCxnSpPr>
              <a:stCxn id="3077" idx="1"/>
              <a:endCxn id="3065" idx="1"/>
            </p:cNvCxnSpPr>
            <p:nvPr/>
          </p:nvCxnSpPr>
          <p:spPr>
            <a:xfrm>
              <a:off x="1331100" y="6003075"/>
              <a:ext cx="1365600" cy="0"/>
            </a:xfrm>
            <a:prstGeom prst="straightConnector1">
              <a:avLst/>
            </a:prstGeom>
            <a:noFill/>
            <a:ln w="12700" cap="flat" cmpd="sng">
              <a:solidFill>
                <a:schemeClr val="dk1"/>
              </a:solidFill>
              <a:prstDash val="solid"/>
              <a:miter lim="800000"/>
              <a:headEnd type="none" w="sm" len="sm"/>
              <a:tailEnd type="none" w="sm" len="sm"/>
            </a:ln>
          </p:spPr>
        </p:cxnSp>
        <p:sp>
          <p:nvSpPr>
            <p:cNvPr id="3077" name="Google Shape;3077;p146"/>
            <p:cNvSpPr/>
            <p:nvPr/>
          </p:nvSpPr>
          <p:spPr>
            <a:xfrm>
              <a:off x="1331100" y="5834475"/>
              <a:ext cx="1403400" cy="337200"/>
            </a:xfrm>
            <a:prstGeom prst="rect">
              <a:avLst/>
            </a:prstGeom>
            <a:gradFill>
              <a:gsLst>
                <a:gs pos="0">
                  <a:srgbClr val="FFFFFF">
                    <a:alpha val="66666"/>
                  </a:srgbClr>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9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sp>
        <p:nvSpPr>
          <p:cNvPr id="2" name="Rounded Rectangle 1">
            <a:extLst>
              <a:ext uri="{FF2B5EF4-FFF2-40B4-BE49-F238E27FC236}">
                <a16:creationId xmlns:a16="http://schemas.microsoft.com/office/drawing/2014/main" id="{91016855-3789-C9B1-6723-912FE51822A7}"/>
              </a:ext>
            </a:extLst>
          </p:cNvPr>
          <p:cNvSpPr/>
          <p:nvPr/>
        </p:nvSpPr>
        <p:spPr>
          <a:xfrm>
            <a:off x="2911494" y="1071158"/>
            <a:ext cx="952935" cy="1018899"/>
          </a:xfrm>
          <a:prstGeom prst="roundRect">
            <a:avLst>
              <a:gd name="adj" fmla="val 4101"/>
            </a:avLst>
          </a:prstGeom>
          <a:no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Shape 3082"/>
        <p:cNvGrpSpPr/>
        <p:nvPr/>
      </p:nvGrpSpPr>
      <p:grpSpPr>
        <a:xfrm>
          <a:off x="0" y="0"/>
          <a:ext cx="0" cy="0"/>
          <a:chOff x="0" y="0"/>
          <a:chExt cx="0" cy="0"/>
        </a:xfrm>
      </p:grpSpPr>
      <p:sp>
        <p:nvSpPr>
          <p:cNvPr id="3083" name="Google Shape;3083;p147"/>
          <p:cNvSpPr/>
          <p:nvPr/>
        </p:nvSpPr>
        <p:spPr>
          <a:xfrm flipH="1">
            <a:off x="4146197" y="753749"/>
            <a:ext cx="3919379" cy="653430"/>
          </a:xfrm>
          <a:prstGeom prst="roundRect">
            <a:avLst>
              <a:gd name="adj" fmla="val 50000"/>
            </a:avLst>
          </a:prstGeom>
          <a:blipFill rotWithShape="1">
            <a:blip r:embed="rId3">
              <a:alphaModFix amt="0"/>
            </a:blip>
            <a:stretch>
              <a:fillRect l="-131329" t="-92819" r="-131318" b="-92839"/>
            </a:stretch>
          </a:blip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2799"/>
              <a:buFont typeface="Arial"/>
              <a:buNone/>
              <a:tabLst/>
              <a:defRPr/>
            </a:pPr>
            <a:r>
              <a:rPr kumimoji="0" lang="en-US" sz="2799" b="0" i="0" u="none" strike="noStrike" kern="0" cap="none" spc="0" normalizeH="0" baseline="0" noProof="0" dirty="0">
                <a:ln>
                  <a:noFill/>
                </a:ln>
                <a:solidFill>
                  <a:srgbClr val="1B1D36"/>
                </a:solidFill>
                <a:effectLst/>
                <a:uLnTx/>
                <a:uFillTx/>
                <a:latin typeface="Arial"/>
                <a:ea typeface="Arial"/>
                <a:cs typeface="Arial"/>
                <a:sym typeface="Arial"/>
              </a:rPr>
              <a:t>Advanced Services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84" name="Google Shape;3084;p147"/>
          <p:cNvSpPr txBox="1"/>
          <p:nvPr/>
        </p:nvSpPr>
        <p:spPr>
          <a:xfrm>
            <a:off x="4507064" y="488591"/>
            <a:ext cx="3197567" cy="38767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90000"/>
              </a:lnSpc>
              <a:spcBef>
                <a:spcPts val="0"/>
              </a:spcBef>
              <a:spcAft>
                <a:spcPts val="0"/>
              </a:spcAft>
              <a:buClr>
                <a:srgbClr val="000000"/>
              </a:buClr>
              <a:buSzPts val="2799"/>
              <a:buFont typeface="Arial"/>
              <a:buNone/>
              <a:tabLst/>
              <a:defRPr/>
            </a:pPr>
            <a:r>
              <a:rPr kumimoji="0" lang="en-US" sz="2799" b="0" i="0" u="none" strike="noStrike" kern="0" cap="none" spc="0" normalizeH="0" baseline="0" noProof="0" dirty="0">
                <a:ln>
                  <a:noFill/>
                </a:ln>
                <a:solidFill>
                  <a:srgbClr val="000000"/>
                </a:solidFill>
                <a:effectLst/>
                <a:uLnTx/>
                <a:uFillTx/>
                <a:latin typeface="Arial"/>
                <a:ea typeface="Arial"/>
                <a:cs typeface="Arial"/>
                <a:sym typeface="Arial"/>
              </a:rPr>
              <a:t>A Robust Catalog of</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085" name="Google Shape;3085;p147"/>
          <p:cNvGrpSpPr/>
          <p:nvPr/>
        </p:nvGrpSpPr>
        <p:grpSpPr>
          <a:xfrm>
            <a:off x="5154815" y="3109187"/>
            <a:ext cx="1902271" cy="524958"/>
            <a:chOff x="5136844" y="3008291"/>
            <a:chExt cx="1902260" cy="525094"/>
          </a:xfrm>
        </p:grpSpPr>
        <p:sp>
          <p:nvSpPr>
            <p:cNvPr id="3086" name="Google Shape;3086;p147"/>
            <p:cNvSpPr/>
            <p:nvPr/>
          </p:nvSpPr>
          <p:spPr>
            <a:xfrm>
              <a:off x="5136844" y="3011725"/>
              <a:ext cx="197129" cy="195945"/>
            </a:xfrm>
            <a:custGeom>
              <a:avLst/>
              <a:gdLst/>
              <a:ahLst/>
              <a:cxnLst/>
              <a:rect l="l" t="t" r="r" b="b"/>
              <a:pathLst>
                <a:path w="348900" h="346805" extrusionOk="0">
                  <a:moveTo>
                    <a:pt x="348901" y="0"/>
                  </a:moveTo>
                  <a:lnTo>
                    <a:pt x="195929" y="346805"/>
                  </a:lnTo>
                  <a:lnTo>
                    <a:pt x="152971" y="346805"/>
                  </a:lnTo>
                  <a:lnTo>
                    <a:pt x="0" y="0"/>
                  </a:lnTo>
                  <a:lnTo>
                    <a:pt x="42863" y="0"/>
                  </a:lnTo>
                  <a:lnTo>
                    <a:pt x="174593" y="298323"/>
                  </a:lnTo>
                  <a:lnTo>
                    <a:pt x="305848" y="0"/>
                  </a:lnTo>
                  <a:lnTo>
                    <a:pt x="348805" y="0"/>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87" name="Google Shape;3087;p147"/>
            <p:cNvSpPr/>
            <p:nvPr/>
          </p:nvSpPr>
          <p:spPr>
            <a:xfrm>
              <a:off x="5364198" y="3011725"/>
              <a:ext cx="189917" cy="195945"/>
            </a:xfrm>
            <a:custGeom>
              <a:avLst/>
              <a:gdLst/>
              <a:ahLst/>
              <a:cxnLst/>
              <a:rect l="l" t="t" r="r" b="b"/>
              <a:pathLst>
                <a:path w="336137" h="346805" extrusionOk="0">
                  <a:moveTo>
                    <a:pt x="0" y="0"/>
                  </a:moveTo>
                  <a:lnTo>
                    <a:pt x="39338" y="0"/>
                  </a:lnTo>
                  <a:lnTo>
                    <a:pt x="168021" y="241840"/>
                  </a:lnTo>
                  <a:lnTo>
                    <a:pt x="296799" y="0"/>
                  </a:lnTo>
                  <a:lnTo>
                    <a:pt x="336137" y="0"/>
                  </a:lnTo>
                  <a:lnTo>
                    <a:pt x="336137" y="346805"/>
                  </a:lnTo>
                  <a:lnTo>
                    <a:pt x="296799" y="346805"/>
                  </a:lnTo>
                  <a:lnTo>
                    <a:pt x="296799" y="84772"/>
                  </a:lnTo>
                  <a:lnTo>
                    <a:pt x="168021" y="326612"/>
                  </a:lnTo>
                  <a:lnTo>
                    <a:pt x="39338" y="84772"/>
                  </a:lnTo>
                  <a:lnTo>
                    <a:pt x="39338" y="346805"/>
                  </a:lnTo>
                  <a:lnTo>
                    <a:pt x="0" y="346805"/>
                  </a:lnTo>
                  <a:lnTo>
                    <a:pt x="0" y="0"/>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88" name="Google Shape;3088;p147"/>
            <p:cNvSpPr/>
            <p:nvPr/>
          </p:nvSpPr>
          <p:spPr>
            <a:xfrm>
              <a:off x="5581992" y="3060119"/>
              <a:ext cx="218171" cy="147457"/>
            </a:xfrm>
            <a:custGeom>
              <a:avLst/>
              <a:gdLst/>
              <a:ahLst/>
              <a:cxnLst/>
              <a:rect l="l" t="t" r="r" b="b"/>
              <a:pathLst>
                <a:path w="386143" h="260985" extrusionOk="0">
                  <a:moveTo>
                    <a:pt x="0" y="0"/>
                  </a:moveTo>
                  <a:lnTo>
                    <a:pt x="40386" y="0"/>
                  </a:lnTo>
                  <a:lnTo>
                    <a:pt x="105537" y="210503"/>
                  </a:lnTo>
                  <a:lnTo>
                    <a:pt x="176689" y="0"/>
                  </a:lnTo>
                  <a:lnTo>
                    <a:pt x="209455" y="0"/>
                  </a:lnTo>
                  <a:lnTo>
                    <a:pt x="280607" y="210503"/>
                  </a:lnTo>
                  <a:lnTo>
                    <a:pt x="345758" y="0"/>
                  </a:lnTo>
                  <a:lnTo>
                    <a:pt x="386144" y="0"/>
                  </a:lnTo>
                  <a:lnTo>
                    <a:pt x="298323" y="260985"/>
                  </a:lnTo>
                  <a:lnTo>
                    <a:pt x="262509" y="260985"/>
                  </a:lnTo>
                  <a:lnTo>
                    <a:pt x="193358" y="52483"/>
                  </a:lnTo>
                  <a:lnTo>
                    <a:pt x="123158" y="260985"/>
                  </a:lnTo>
                  <a:lnTo>
                    <a:pt x="87344" y="260985"/>
                  </a:lnTo>
                  <a:lnTo>
                    <a:pt x="0" y="0"/>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89" name="Google Shape;3089;p147"/>
            <p:cNvSpPr/>
            <p:nvPr/>
          </p:nvSpPr>
          <p:spPr>
            <a:xfrm>
              <a:off x="5807143" y="3056678"/>
              <a:ext cx="127275" cy="154291"/>
            </a:xfrm>
            <a:custGeom>
              <a:avLst/>
              <a:gdLst/>
              <a:ahLst/>
              <a:cxnLst/>
              <a:rect l="l" t="t" r="r" b="b"/>
              <a:pathLst>
                <a:path w="225266" h="273081" extrusionOk="0">
                  <a:moveTo>
                    <a:pt x="198215" y="29528"/>
                  </a:moveTo>
                  <a:cubicBezTo>
                    <a:pt x="216217" y="49244"/>
                    <a:pt x="225266" y="75343"/>
                    <a:pt x="225266" y="108013"/>
                  </a:cubicBezTo>
                  <a:lnTo>
                    <a:pt x="225266" y="266986"/>
                  </a:lnTo>
                  <a:lnTo>
                    <a:pt x="187357" y="266986"/>
                  </a:lnTo>
                  <a:lnTo>
                    <a:pt x="187357" y="226124"/>
                  </a:lnTo>
                  <a:cubicBezTo>
                    <a:pt x="178308" y="240983"/>
                    <a:pt x="165259" y="252508"/>
                    <a:pt x="148209" y="260699"/>
                  </a:cubicBezTo>
                  <a:cubicBezTo>
                    <a:pt x="131254" y="268986"/>
                    <a:pt x="113633" y="273082"/>
                    <a:pt x="95441" y="273082"/>
                  </a:cubicBezTo>
                  <a:cubicBezTo>
                    <a:pt x="67532" y="273082"/>
                    <a:pt x="44577" y="265462"/>
                    <a:pt x="26765" y="250317"/>
                  </a:cubicBezTo>
                  <a:cubicBezTo>
                    <a:pt x="8954" y="235172"/>
                    <a:pt x="0" y="214979"/>
                    <a:pt x="0" y="189738"/>
                  </a:cubicBezTo>
                  <a:cubicBezTo>
                    <a:pt x="0" y="172879"/>
                    <a:pt x="4572" y="157829"/>
                    <a:pt x="13907" y="144590"/>
                  </a:cubicBezTo>
                  <a:cubicBezTo>
                    <a:pt x="23146" y="131254"/>
                    <a:pt x="35624" y="121063"/>
                    <a:pt x="51245" y="113824"/>
                  </a:cubicBezTo>
                  <a:cubicBezTo>
                    <a:pt x="66866" y="106585"/>
                    <a:pt x="84011" y="102965"/>
                    <a:pt x="102489" y="102965"/>
                  </a:cubicBezTo>
                  <a:cubicBezTo>
                    <a:pt x="128778" y="102965"/>
                    <a:pt x="156972" y="107823"/>
                    <a:pt x="187262" y="117634"/>
                  </a:cubicBezTo>
                  <a:lnTo>
                    <a:pt x="187262" y="108013"/>
                  </a:lnTo>
                  <a:cubicBezTo>
                    <a:pt x="187262" y="86773"/>
                    <a:pt x="181832" y="68866"/>
                    <a:pt x="171069" y="54292"/>
                  </a:cubicBezTo>
                  <a:cubicBezTo>
                    <a:pt x="160306" y="39624"/>
                    <a:pt x="142113" y="32290"/>
                    <a:pt x="116586" y="32290"/>
                  </a:cubicBezTo>
                  <a:cubicBezTo>
                    <a:pt x="104775" y="32290"/>
                    <a:pt x="92774" y="34385"/>
                    <a:pt x="80486" y="38576"/>
                  </a:cubicBezTo>
                  <a:cubicBezTo>
                    <a:pt x="68199" y="42767"/>
                    <a:pt x="54864" y="48578"/>
                    <a:pt x="40386" y="56007"/>
                  </a:cubicBezTo>
                  <a:lnTo>
                    <a:pt x="25241" y="25241"/>
                  </a:lnTo>
                  <a:cubicBezTo>
                    <a:pt x="58865" y="8382"/>
                    <a:pt x="90202" y="0"/>
                    <a:pt x="119158" y="0"/>
                  </a:cubicBezTo>
                  <a:cubicBezTo>
                    <a:pt x="153829" y="0"/>
                    <a:pt x="180118" y="9811"/>
                    <a:pt x="198120" y="29528"/>
                  </a:cubicBezTo>
                  <a:close/>
                  <a:moveTo>
                    <a:pt x="155353" y="225362"/>
                  </a:moveTo>
                  <a:cubicBezTo>
                    <a:pt x="172021" y="215741"/>
                    <a:pt x="182690" y="202406"/>
                    <a:pt x="187452" y="185261"/>
                  </a:cubicBezTo>
                  <a:lnTo>
                    <a:pt x="187452" y="145352"/>
                  </a:lnTo>
                  <a:cubicBezTo>
                    <a:pt x="161830" y="138303"/>
                    <a:pt x="135636" y="134779"/>
                    <a:pt x="108680" y="134779"/>
                  </a:cubicBezTo>
                  <a:cubicBezTo>
                    <a:pt x="88773" y="134779"/>
                    <a:pt x="71914" y="139827"/>
                    <a:pt x="57912" y="149924"/>
                  </a:cubicBezTo>
                  <a:cubicBezTo>
                    <a:pt x="43910" y="160020"/>
                    <a:pt x="36957" y="172784"/>
                    <a:pt x="36957" y="188309"/>
                  </a:cubicBezTo>
                  <a:cubicBezTo>
                    <a:pt x="36957" y="203835"/>
                    <a:pt x="43053" y="216694"/>
                    <a:pt x="55340" y="225933"/>
                  </a:cubicBezTo>
                  <a:cubicBezTo>
                    <a:pt x="67628" y="235172"/>
                    <a:pt x="83153" y="239840"/>
                    <a:pt x="102013" y="239840"/>
                  </a:cubicBezTo>
                  <a:cubicBezTo>
                    <a:pt x="120872" y="239840"/>
                    <a:pt x="138589" y="235077"/>
                    <a:pt x="155258" y="225457"/>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0" name="Google Shape;3090;p147"/>
            <p:cNvSpPr/>
            <p:nvPr/>
          </p:nvSpPr>
          <p:spPr>
            <a:xfrm>
              <a:off x="5973913" y="3056681"/>
              <a:ext cx="78464" cy="150901"/>
            </a:xfrm>
            <a:custGeom>
              <a:avLst/>
              <a:gdLst/>
              <a:ahLst/>
              <a:cxnLst/>
              <a:rect l="l" t="t" r="r" b="b"/>
              <a:pathLst>
                <a:path w="138874" h="267081" extrusionOk="0">
                  <a:moveTo>
                    <a:pt x="76295" y="15431"/>
                  </a:moveTo>
                  <a:cubicBezTo>
                    <a:pt x="94107" y="5144"/>
                    <a:pt x="114967" y="0"/>
                    <a:pt x="138875" y="0"/>
                  </a:cubicBezTo>
                  <a:lnTo>
                    <a:pt x="138875" y="33814"/>
                  </a:lnTo>
                  <a:cubicBezTo>
                    <a:pt x="119348" y="33814"/>
                    <a:pt x="101917" y="37529"/>
                    <a:pt x="86582" y="44958"/>
                  </a:cubicBezTo>
                  <a:cubicBezTo>
                    <a:pt x="71247" y="52388"/>
                    <a:pt x="59341" y="62675"/>
                    <a:pt x="50768" y="76009"/>
                  </a:cubicBezTo>
                  <a:cubicBezTo>
                    <a:pt x="42196" y="89345"/>
                    <a:pt x="37909" y="104394"/>
                    <a:pt x="37909" y="121158"/>
                  </a:cubicBezTo>
                  <a:lnTo>
                    <a:pt x="37909" y="267081"/>
                  </a:lnTo>
                  <a:lnTo>
                    <a:pt x="0" y="267081"/>
                  </a:lnTo>
                  <a:lnTo>
                    <a:pt x="0" y="6096"/>
                  </a:lnTo>
                  <a:lnTo>
                    <a:pt x="37909" y="6096"/>
                  </a:lnTo>
                  <a:lnTo>
                    <a:pt x="37909" y="57055"/>
                  </a:lnTo>
                  <a:cubicBezTo>
                    <a:pt x="45625" y="39529"/>
                    <a:pt x="58388" y="25717"/>
                    <a:pt x="76295" y="15431"/>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1" name="Google Shape;3091;p147"/>
            <p:cNvSpPr/>
            <p:nvPr/>
          </p:nvSpPr>
          <p:spPr>
            <a:xfrm>
              <a:off x="6060923" y="3056735"/>
              <a:ext cx="142666" cy="154291"/>
            </a:xfrm>
            <a:custGeom>
              <a:avLst/>
              <a:gdLst/>
              <a:ahLst/>
              <a:cxnLst/>
              <a:rect l="l" t="t" r="r" b="b"/>
              <a:pathLst>
                <a:path w="252507" h="273081" extrusionOk="0">
                  <a:moveTo>
                    <a:pt x="178308" y="230124"/>
                  </a:moveTo>
                  <a:cubicBezTo>
                    <a:pt x="193929" y="224028"/>
                    <a:pt x="205835" y="216694"/>
                    <a:pt x="213932" y="207931"/>
                  </a:cubicBezTo>
                  <a:lnTo>
                    <a:pt x="237173" y="232696"/>
                  </a:lnTo>
                  <a:cubicBezTo>
                    <a:pt x="226028" y="244792"/>
                    <a:pt x="210503" y="254603"/>
                    <a:pt x="190500" y="261938"/>
                  </a:cubicBezTo>
                  <a:cubicBezTo>
                    <a:pt x="170498" y="269367"/>
                    <a:pt x="151067" y="273082"/>
                    <a:pt x="132207" y="273082"/>
                  </a:cubicBezTo>
                  <a:cubicBezTo>
                    <a:pt x="108966" y="273082"/>
                    <a:pt x="87249" y="267176"/>
                    <a:pt x="67056" y="255365"/>
                  </a:cubicBezTo>
                  <a:cubicBezTo>
                    <a:pt x="46863" y="243554"/>
                    <a:pt x="30575" y="227171"/>
                    <a:pt x="18383" y="206121"/>
                  </a:cubicBezTo>
                  <a:cubicBezTo>
                    <a:pt x="6096" y="185071"/>
                    <a:pt x="0" y="161639"/>
                    <a:pt x="0" y="135731"/>
                  </a:cubicBezTo>
                  <a:cubicBezTo>
                    <a:pt x="0" y="109823"/>
                    <a:pt x="5810" y="87439"/>
                    <a:pt x="17431" y="66580"/>
                  </a:cubicBezTo>
                  <a:cubicBezTo>
                    <a:pt x="29051" y="45720"/>
                    <a:pt x="44672" y="29432"/>
                    <a:pt x="64389" y="17621"/>
                  </a:cubicBezTo>
                  <a:cubicBezTo>
                    <a:pt x="84106" y="5810"/>
                    <a:pt x="105537" y="0"/>
                    <a:pt x="128778" y="0"/>
                  </a:cubicBezTo>
                  <a:cubicBezTo>
                    <a:pt x="167831" y="0"/>
                    <a:pt x="198215" y="13621"/>
                    <a:pt x="219932" y="40862"/>
                  </a:cubicBezTo>
                  <a:cubicBezTo>
                    <a:pt x="241649" y="68104"/>
                    <a:pt x="252508" y="104775"/>
                    <a:pt x="252508" y="150876"/>
                  </a:cubicBezTo>
                  <a:lnTo>
                    <a:pt x="38957" y="150876"/>
                  </a:lnTo>
                  <a:cubicBezTo>
                    <a:pt x="41624" y="176784"/>
                    <a:pt x="51530" y="198025"/>
                    <a:pt x="68485" y="214503"/>
                  </a:cubicBezTo>
                  <a:cubicBezTo>
                    <a:pt x="85439" y="230981"/>
                    <a:pt x="106585" y="239268"/>
                    <a:pt x="131826" y="239268"/>
                  </a:cubicBezTo>
                  <a:cubicBezTo>
                    <a:pt x="147257" y="239268"/>
                    <a:pt x="162878" y="236220"/>
                    <a:pt x="178499" y="230219"/>
                  </a:cubicBezTo>
                  <a:close/>
                  <a:moveTo>
                    <a:pt x="69437" y="56674"/>
                  </a:moveTo>
                  <a:cubicBezTo>
                    <a:pt x="52578" y="72009"/>
                    <a:pt x="42482" y="92107"/>
                    <a:pt x="39148" y="116967"/>
                  </a:cubicBezTo>
                  <a:lnTo>
                    <a:pt x="214789" y="116967"/>
                  </a:lnTo>
                  <a:cubicBezTo>
                    <a:pt x="212122" y="92107"/>
                    <a:pt x="203549" y="71914"/>
                    <a:pt x="189071" y="56674"/>
                  </a:cubicBezTo>
                  <a:cubicBezTo>
                    <a:pt x="174593" y="41338"/>
                    <a:pt x="154877" y="33718"/>
                    <a:pt x="130016" y="33718"/>
                  </a:cubicBezTo>
                  <a:cubicBezTo>
                    <a:pt x="106490" y="33718"/>
                    <a:pt x="86296" y="41338"/>
                    <a:pt x="69437" y="56674"/>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2" name="Google Shape;3092;p147"/>
            <p:cNvSpPr/>
            <p:nvPr/>
          </p:nvSpPr>
          <p:spPr>
            <a:xfrm>
              <a:off x="6308526" y="3008291"/>
              <a:ext cx="170812" cy="202779"/>
            </a:xfrm>
            <a:custGeom>
              <a:avLst/>
              <a:gdLst/>
              <a:ahLst/>
              <a:cxnLst/>
              <a:rect l="l" t="t" r="r" b="b"/>
              <a:pathLst>
                <a:path w="302323" h="358901" extrusionOk="0">
                  <a:moveTo>
                    <a:pt x="89535" y="334423"/>
                  </a:moveTo>
                  <a:cubicBezTo>
                    <a:pt x="62103" y="318135"/>
                    <a:pt x="40291" y="296132"/>
                    <a:pt x="24193" y="268510"/>
                  </a:cubicBezTo>
                  <a:cubicBezTo>
                    <a:pt x="8001" y="240887"/>
                    <a:pt x="0" y="211169"/>
                    <a:pt x="0" y="179165"/>
                  </a:cubicBezTo>
                  <a:cubicBezTo>
                    <a:pt x="0" y="147161"/>
                    <a:pt x="8096" y="117538"/>
                    <a:pt x="24193" y="90106"/>
                  </a:cubicBezTo>
                  <a:cubicBezTo>
                    <a:pt x="40386" y="62675"/>
                    <a:pt x="62103" y="40767"/>
                    <a:pt x="89535" y="24479"/>
                  </a:cubicBezTo>
                  <a:cubicBezTo>
                    <a:pt x="116967" y="8192"/>
                    <a:pt x="146304" y="0"/>
                    <a:pt x="177641" y="0"/>
                  </a:cubicBezTo>
                  <a:cubicBezTo>
                    <a:pt x="201168" y="0"/>
                    <a:pt x="223742" y="4667"/>
                    <a:pt x="245269" y="13906"/>
                  </a:cubicBezTo>
                  <a:cubicBezTo>
                    <a:pt x="266795" y="23146"/>
                    <a:pt x="285845" y="36195"/>
                    <a:pt x="302324" y="53054"/>
                  </a:cubicBezTo>
                  <a:lnTo>
                    <a:pt x="275558" y="80296"/>
                  </a:lnTo>
                  <a:cubicBezTo>
                    <a:pt x="262795" y="66484"/>
                    <a:pt x="247841" y="55721"/>
                    <a:pt x="230886" y="48006"/>
                  </a:cubicBezTo>
                  <a:cubicBezTo>
                    <a:pt x="213932" y="40291"/>
                    <a:pt x="196120" y="36385"/>
                    <a:pt x="177641" y="36385"/>
                  </a:cubicBezTo>
                  <a:cubicBezTo>
                    <a:pt x="153067" y="36385"/>
                    <a:pt x="130302" y="42863"/>
                    <a:pt x="109252" y="55817"/>
                  </a:cubicBezTo>
                  <a:cubicBezTo>
                    <a:pt x="88201" y="68771"/>
                    <a:pt x="71342" y="86296"/>
                    <a:pt x="58769" y="108299"/>
                  </a:cubicBezTo>
                  <a:cubicBezTo>
                    <a:pt x="46101" y="130302"/>
                    <a:pt x="39815" y="154019"/>
                    <a:pt x="39815" y="179260"/>
                  </a:cubicBezTo>
                  <a:cubicBezTo>
                    <a:pt x="39815" y="204502"/>
                    <a:pt x="46101" y="228600"/>
                    <a:pt x="58769" y="250412"/>
                  </a:cubicBezTo>
                  <a:cubicBezTo>
                    <a:pt x="71342" y="272320"/>
                    <a:pt x="88201" y="289750"/>
                    <a:pt x="109252" y="302895"/>
                  </a:cubicBezTo>
                  <a:cubicBezTo>
                    <a:pt x="130302" y="316039"/>
                    <a:pt x="153067" y="322612"/>
                    <a:pt x="177641" y="322612"/>
                  </a:cubicBezTo>
                  <a:cubicBezTo>
                    <a:pt x="196120" y="322612"/>
                    <a:pt x="213932" y="318706"/>
                    <a:pt x="230886" y="310991"/>
                  </a:cubicBezTo>
                  <a:cubicBezTo>
                    <a:pt x="247841" y="303276"/>
                    <a:pt x="262795" y="292513"/>
                    <a:pt x="275558" y="278701"/>
                  </a:cubicBezTo>
                  <a:lnTo>
                    <a:pt x="302324" y="305943"/>
                  </a:lnTo>
                  <a:cubicBezTo>
                    <a:pt x="285845" y="322421"/>
                    <a:pt x="266795" y="335375"/>
                    <a:pt x="245269" y="344805"/>
                  </a:cubicBezTo>
                  <a:cubicBezTo>
                    <a:pt x="223742" y="354235"/>
                    <a:pt x="201168" y="358902"/>
                    <a:pt x="177641" y="358902"/>
                  </a:cubicBezTo>
                  <a:cubicBezTo>
                    <a:pt x="146304" y="358902"/>
                    <a:pt x="116967" y="350710"/>
                    <a:pt x="89535" y="334423"/>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3" name="Google Shape;3093;p147"/>
            <p:cNvSpPr/>
            <p:nvPr/>
          </p:nvSpPr>
          <p:spPr>
            <a:xfrm>
              <a:off x="6506555" y="3008294"/>
              <a:ext cx="21419" cy="199389"/>
            </a:xfrm>
            <a:custGeom>
              <a:avLst/>
              <a:gdLst/>
              <a:ahLst/>
              <a:cxnLst/>
              <a:rect l="l" t="t" r="r" b="b"/>
              <a:pathLst>
                <a:path w="37909" h="352901" extrusionOk="0">
                  <a:moveTo>
                    <a:pt x="0" y="0"/>
                  </a:moveTo>
                  <a:lnTo>
                    <a:pt x="37909" y="0"/>
                  </a:lnTo>
                  <a:lnTo>
                    <a:pt x="37909" y="352901"/>
                  </a:lnTo>
                  <a:lnTo>
                    <a:pt x="0" y="352901"/>
                  </a:lnTo>
                  <a:lnTo>
                    <a:pt x="0" y="0"/>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4" name="Google Shape;3094;p147"/>
            <p:cNvSpPr/>
            <p:nvPr/>
          </p:nvSpPr>
          <p:spPr>
            <a:xfrm>
              <a:off x="6558924" y="3056740"/>
              <a:ext cx="152084" cy="154237"/>
            </a:xfrm>
            <a:custGeom>
              <a:avLst/>
              <a:gdLst/>
              <a:ahLst/>
              <a:cxnLst/>
              <a:rect l="l" t="t" r="r" b="b"/>
              <a:pathLst>
                <a:path w="269176" h="272986" extrusionOk="0">
                  <a:moveTo>
                    <a:pt x="67437" y="254603"/>
                  </a:moveTo>
                  <a:cubicBezTo>
                    <a:pt x="46767" y="242316"/>
                    <a:pt x="30289" y="225647"/>
                    <a:pt x="18192" y="204597"/>
                  </a:cubicBezTo>
                  <a:cubicBezTo>
                    <a:pt x="6096" y="183547"/>
                    <a:pt x="0" y="160782"/>
                    <a:pt x="0" y="136207"/>
                  </a:cubicBezTo>
                  <a:cubicBezTo>
                    <a:pt x="0" y="111633"/>
                    <a:pt x="6096" y="88963"/>
                    <a:pt x="18192" y="68104"/>
                  </a:cubicBezTo>
                  <a:cubicBezTo>
                    <a:pt x="30289" y="47244"/>
                    <a:pt x="46672" y="30670"/>
                    <a:pt x="67437" y="18383"/>
                  </a:cubicBezTo>
                  <a:cubicBezTo>
                    <a:pt x="88106" y="6096"/>
                    <a:pt x="110585" y="0"/>
                    <a:pt x="134874" y="0"/>
                  </a:cubicBezTo>
                  <a:cubicBezTo>
                    <a:pt x="159163" y="0"/>
                    <a:pt x="181451" y="6191"/>
                    <a:pt x="202025" y="18383"/>
                  </a:cubicBezTo>
                  <a:cubicBezTo>
                    <a:pt x="222504" y="30670"/>
                    <a:pt x="238887" y="47244"/>
                    <a:pt x="250984" y="68104"/>
                  </a:cubicBezTo>
                  <a:cubicBezTo>
                    <a:pt x="263080" y="88963"/>
                    <a:pt x="269176" y="111728"/>
                    <a:pt x="269176" y="136207"/>
                  </a:cubicBezTo>
                  <a:cubicBezTo>
                    <a:pt x="269176" y="160687"/>
                    <a:pt x="263080" y="183547"/>
                    <a:pt x="250984" y="204597"/>
                  </a:cubicBezTo>
                  <a:cubicBezTo>
                    <a:pt x="238887" y="225647"/>
                    <a:pt x="222504" y="242316"/>
                    <a:pt x="202025" y="254603"/>
                  </a:cubicBezTo>
                  <a:cubicBezTo>
                    <a:pt x="181451" y="266890"/>
                    <a:pt x="159163" y="272986"/>
                    <a:pt x="134874" y="272986"/>
                  </a:cubicBezTo>
                  <a:cubicBezTo>
                    <a:pt x="110585" y="272986"/>
                    <a:pt x="88201" y="266890"/>
                    <a:pt x="67437" y="254603"/>
                  </a:cubicBezTo>
                  <a:close/>
                  <a:moveTo>
                    <a:pt x="182308" y="225266"/>
                  </a:moveTo>
                  <a:cubicBezTo>
                    <a:pt x="196786" y="216027"/>
                    <a:pt x="208312" y="203454"/>
                    <a:pt x="216884" y="187642"/>
                  </a:cubicBezTo>
                  <a:cubicBezTo>
                    <a:pt x="225457" y="171831"/>
                    <a:pt x="229743" y="154686"/>
                    <a:pt x="229743" y="136112"/>
                  </a:cubicBezTo>
                  <a:cubicBezTo>
                    <a:pt x="229743" y="117538"/>
                    <a:pt x="225457" y="100489"/>
                    <a:pt x="216884" y="84868"/>
                  </a:cubicBezTo>
                  <a:cubicBezTo>
                    <a:pt x="208312" y="69247"/>
                    <a:pt x="196786" y="56769"/>
                    <a:pt x="182308" y="47530"/>
                  </a:cubicBezTo>
                  <a:cubicBezTo>
                    <a:pt x="167830" y="38290"/>
                    <a:pt x="152019" y="33623"/>
                    <a:pt x="134874" y="33623"/>
                  </a:cubicBezTo>
                  <a:cubicBezTo>
                    <a:pt x="117729" y="33623"/>
                    <a:pt x="101822" y="38290"/>
                    <a:pt x="87154" y="47530"/>
                  </a:cubicBezTo>
                  <a:cubicBezTo>
                    <a:pt x="72485" y="56769"/>
                    <a:pt x="60865" y="69247"/>
                    <a:pt x="52292" y="84868"/>
                  </a:cubicBezTo>
                  <a:cubicBezTo>
                    <a:pt x="43720" y="100489"/>
                    <a:pt x="39433" y="117634"/>
                    <a:pt x="39433" y="136112"/>
                  </a:cubicBezTo>
                  <a:cubicBezTo>
                    <a:pt x="39433" y="154591"/>
                    <a:pt x="43720" y="171831"/>
                    <a:pt x="52292" y="187642"/>
                  </a:cubicBezTo>
                  <a:cubicBezTo>
                    <a:pt x="60865" y="203454"/>
                    <a:pt x="72485" y="216027"/>
                    <a:pt x="87154" y="225266"/>
                  </a:cubicBezTo>
                  <a:cubicBezTo>
                    <a:pt x="101822" y="234505"/>
                    <a:pt x="117729" y="239173"/>
                    <a:pt x="134874" y="239173"/>
                  </a:cubicBezTo>
                  <a:cubicBezTo>
                    <a:pt x="152019" y="239173"/>
                    <a:pt x="167830" y="234505"/>
                    <a:pt x="182308" y="225266"/>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5" name="Google Shape;3095;p147"/>
            <p:cNvSpPr/>
            <p:nvPr/>
          </p:nvSpPr>
          <p:spPr>
            <a:xfrm>
              <a:off x="6738798" y="3060016"/>
              <a:ext cx="125284" cy="150954"/>
            </a:xfrm>
            <a:custGeom>
              <a:avLst/>
              <a:gdLst/>
              <a:ahLst/>
              <a:cxnLst/>
              <a:rect l="l" t="t" r="r" b="b"/>
              <a:pathLst>
                <a:path w="221741" h="267176" extrusionOk="0">
                  <a:moveTo>
                    <a:pt x="221647" y="190"/>
                  </a:moveTo>
                  <a:lnTo>
                    <a:pt x="221647" y="261175"/>
                  </a:lnTo>
                  <a:lnTo>
                    <a:pt x="183737" y="261175"/>
                  </a:lnTo>
                  <a:lnTo>
                    <a:pt x="183737" y="219742"/>
                  </a:lnTo>
                  <a:cubicBezTo>
                    <a:pt x="176022" y="233839"/>
                    <a:pt x="164402" y="245364"/>
                    <a:pt x="148876" y="254032"/>
                  </a:cubicBezTo>
                  <a:cubicBezTo>
                    <a:pt x="133350" y="262795"/>
                    <a:pt x="116396" y="267176"/>
                    <a:pt x="97917" y="267176"/>
                  </a:cubicBezTo>
                  <a:cubicBezTo>
                    <a:pt x="79438" y="267176"/>
                    <a:pt x="61722" y="262985"/>
                    <a:pt x="46958" y="254508"/>
                  </a:cubicBezTo>
                  <a:cubicBezTo>
                    <a:pt x="32099" y="246126"/>
                    <a:pt x="20574" y="234220"/>
                    <a:pt x="12382" y="218884"/>
                  </a:cubicBezTo>
                  <a:cubicBezTo>
                    <a:pt x="4096" y="203549"/>
                    <a:pt x="0" y="186023"/>
                    <a:pt x="0" y="166116"/>
                  </a:cubicBezTo>
                  <a:lnTo>
                    <a:pt x="0" y="0"/>
                  </a:lnTo>
                  <a:lnTo>
                    <a:pt x="37910" y="0"/>
                  </a:lnTo>
                  <a:lnTo>
                    <a:pt x="37910" y="161068"/>
                  </a:lnTo>
                  <a:cubicBezTo>
                    <a:pt x="37910" y="182594"/>
                    <a:pt x="44005" y="200025"/>
                    <a:pt x="56102" y="213360"/>
                  </a:cubicBezTo>
                  <a:cubicBezTo>
                    <a:pt x="68199" y="226695"/>
                    <a:pt x="83915" y="233267"/>
                    <a:pt x="103061" y="233267"/>
                  </a:cubicBezTo>
                  <a:cubicBezTo>
                    <a:pt x="117538" y="233267"/>
                    <a:pt x="130969" y="230219"/>
                    <a:pt x="143446" y="224218"/>
                  </a:cubicBezTo>
                  <a:cubicBezTo>
                    <a:pt x="155924" y="218122"/>
                    <a:pt x="165735" y="210026"/>
                    <a:pt x="172974" y="199739"/>
                  </a:cubicBezTo>
                  <a:cubicBezTo>
                    <a:pt x="180213" y="189452"/>
                    <a:pt x="183832" y="178308"/>
                    <a:pt x="183832" y="166211"/>
                  </a:cubicBezTo>
                  <a:lnTo>
                    <a:pt x="183832" y="95"/>
                  </a:lnTo>
                  <a:lnTo>
                    <a:pt x="221742" y="95"/>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6" name="Google Shape;3096;p147"/>
            <p:cNvSpPr/>
            <p:nvPr/>
          </p:nvSpPr>
          <p:spPr>
            <a:xfrm>
              <a:off x="6896222" y="3008294"/>
              <a:ext cx="142882" cy="202833"/>
            </a:xfrm>
            <a:custGeom>
              <a:avLst/>
              <a:gdLst/>
              <a:ahLst/>
              <a:cxnLst/>
              <a:rect l="l" t="t" r="r" b="b"/>
              <a:pathLst>
                <a:path w="252888" h="358997" extrusionOk="0">
                  <a:moveTo>
                    <a:pt x="252889" y="0"/>
                  </a:moveTo>
                  <a:lnTo>
                    <a:pt x="252889" y="352901"/>
                  </a:lnTo>
                  <a:lnTo>
                    <a:pt x="214979" y="352901"/>
                  </a:lnTo>
                  <a:lnTo>
                    <a:pt x="214979" y="303943"/>
                  </a:lnTo>
                  <a:cubicBezTo>
                    <a:pt x="204883" y="321469"/>
                    <a:pt x="191643" y="334994"/>
                    <a:pt x="175355" y="344614"/>
                  </a:cubicBezTo>
                  <a:cubicBezTo>
                    <a:pt x="159068" y="354235"/>
                    <a:pt x="140589" y="358997"/>
                    <a:pt x="120110" y="358997"/>
                  </a:cubicBezTo>
                  <a:cubicBezTo>
                    <a:pt x="97536" y="358997"/>
                    <a:pt x="77153" y="353187"/>
                    <a:pt x="58769" y="341567"/>
                  </a:cubicBezTo>
                  <a:cubicBezTo>
                    <a:pt x="40386" y="329946"/>
                    <a:pt x="26003" y="313754"/>
                    <a:pt x="15621" y="292894"/>
                  </a:cubicBezTo>
                  <a:cubicBezTo>
                    <a:pt x="5144" y="272034"/>
                    <a:pt x="0" y="248507"/>
                    <a:pt x="0" y="222218"/>
                  </a:cubicBezTo>
                  <a:cubicBezTo>
                    <a:pt x="0" y="195929"/>
                    <a:pt x="5239" y="172498"/>
                    <a:pt x="15621" y="151829"/>
                  </a:cubicBezTo>
                  <a:cubicBezTo>
                    <a:pt x="26098" y="131159"/>
                    <a:pt x="40481" y="114967"/>
                    <a:pt x="58769" y="103346"/>
                  </a:cubicBezTo>
                  <a:cubicBezTo>
                    <a:pt x="77153" y="91726"/>
                    <a:pt x="97536" y="85916"/>
                    <a:pt x="120110" y="85916"/>
                  </a:cubicBezTo>
                  <a:cubicBezTo>
                    <a:pt x="140589" y="85916"/>
                    <a:pt x="159068" y="90678"/>
                    <a:pt x="175355" y="100298"/>
                  </a:cubicBezTo>
                  <a:cubicBezTo>
                    <a:pt x="191643" y="109918"/>
                    <a:pt x="204883" y="123444"/>
                    <a:pt x="214979" y="140970"/>
                  </a:cubicBezTo>
                  <a:lnTo>
                    <a:pt x="214979" y="95"/>
                  </a:lnTo>
                  <a:lnTo>
                    <a:pt x="252889" y="95"/>
                  </a:lnTo>
                  <a:close/>
                  <a:moveTo>
                    <a:pt x="172593" y="311944"/>
                  </a:moveTo>
                  <a:cubicBezTo>
                    <a:pt x="186023" y="303181"/>
                    <a:pt x="196501" y="290989"/>
                    <a:pt x="203930" y="275368"/>
                  </a:cubicBezTo>
                  <a:cubicBezTo>
                    <a:pt x="211360" y="259747"/>
                    <a:pt x="215074" y="241935"/>
                    <a:pt x="215074" y="222123"/>
                  </a:cubicBezTo>
                  <a:cubicBezTo>
                    <a:pt x="215074" y="202311"/>
                    <a:pt x="211360" y="184595"/>
                    <a:pt x="203930" y="169164"/>
                  </a:cubicBezTo>
                  <a:cubicBezTo>
                    <a:pt x="196501" y="153734"/>
                    <a:pt x="186119" y="141542"/>
                    <a:pt x="172593" y="132779"/>
                  </a:cubicBezTo>
                  <a:cubicBezTo>
                    <a:pt x="159163" y="124016"/>
                    <a:pt x="144018" y="119634"/>
                    <a:pt x="127159" y="119634"/>
                  </a:cubicBezTo>
                  <a:cubicBezTo>
                    <a:pt x="110299" y="119634"/>
                    <a:pt x="95250" y="124016"/>
                    <a:pt x="82010" y="132779"/>
                  </a:cubicBezTo>
                  <a:cubicBezTo>
                    <a:pt x="68675" y="141542"/>
                    <a:pt x="58388" y="153638"/>
                    <a:pt x="50959" y="169164"/>
                  </a:cubicBezTo>
                  <a:cubicBezTo>
                    <a:pt x="43529" y="184690"/>
                    <a:pt x="39814" y="202311"/>
                    <a:pt x="39814" y="222123"/>
                  </a:cubicBezTo>
                  <a:cubicBezTo>
                    <a:pt x="39814" y="241935"/>
                    <a:pt x="43529" y="259747"/>
                    <a:pt x="50959" y="275368"/>
                  </a:cubicBezTo>
                  <a:cubicBezTo>
                    <a:pt x="58388" y="290989"/>
                    <a:pt x="68675" y="303181"/>
                    <a:pt x="82010" y="311944"/>
                  </a:cubicBezTo>
                  <a:cubicBezTo>
                    <a:pt x="95345" y="320707"/>
                    <a:pt x="110395" y="325088"/>
                    <a:pt x="127159" y="325088"/>
                  </a:cubicBezTo>
                  <a:cubicBezTo>
                    <a:pt x="143923" y="325088"/>
                    <a:pt x="159163" y="320707"/>
                    <a:pt x="172593" y="311944"/>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7" name="Google Shape;3097;p147"/>
            <p:cNvSpPr/>
            <p:nvPr/>
          </p:nvSpPr>
          <p:spPr>
            <a:xfrm>
              <a:off x="5366031" y="3333983"/>
              <a:ext cx="140622" cy="195945"/>
            </a:xfrm>
            <a:custGeom>
              <a:avLst/>
              <a:gdLst/>
              <a:ahLst/>
              <a:cxnLst/>
              <a:rect l="l" t="t" r="r" b="b"/>
              <a:pathLst>
                <a:path w="248888" h="346805" extrusionOk="0">
                  <a:moveTo>
                    <a:pt x="39910" y="37338"/>
                  </a:moveTo>
                  <a:lnTo>
                    <a:pt x="39910" y="151447"/>
                  </a:lnTo>
                  <a:lnTo>
                    <a:pt x="228219" y="151447"/>
                  </a:lnTo>
                  <a:lnTo>
                    <a:pt x="228219" y="188785"/>
                  </a:lnTo>
                  <a:lnTo>
                    <a:pt x="39910" y="188785"/>
                  </a:lnTo>
                  <a:lnTo>
                    <a:pt x="39910" y="346805"/>
                  </a:lnTo>
                  <a:lnTo>
                    <a:pt x="0" y="346805"/>
                  </a:lnTo>
                  <a:lnTo>
                    <a:pt x="0" y="0"/>
                  </a:lnTo>
                  <a:lnTo>
                    <a:pt x="248888" y="0"/>
                  </a:lnTo>
                  <a:lnTo>
                    <a:pt x="248888" y="37338"/>
                  </a:lnTo>
                  <a:lnTo>
                    <a:pt x="39910" y="37338"/>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8" name="Google Shape;3098;p147"/>
            <p:cNvSpPr/>
            <p:nvPr/>
          </p:nvSpPr>
          <p:spPr>
            <a:xfrm>
              <a:off x="5521357" y="3378995"/>
              <a:ext cx="152084" cy="154237"/>
            </a:xfrm>
            <a:custGeom>
              <a:avLst/>
              <a:gdLst/>
              <a:ahLst/>
              <a:cxnLst/>
              <a:rect l="l" t="t" r="r" b="b"/>
              <a:pathLst>
                <a:path w="269176" h="272986" extrusionOk="0">
                  <a:moveTo>
                    <a:pt x="67437" y="254603"/>
                  </a:moveTo>
                  <a:cubicBezTo>
                    <a:pt x="46768" y="242316"/>
                    <a:pt x="30290" y="225647"/>
                    <a:pt x="18193" y="204597"/>
                  </a:cubicBezTo>
                  <a:cubicBezTo>
                    <a:pt x="6096" y="183547"/>
                    <a:pt x="0" y="160782"/>
                    <a:pt x="0" y="136207"/>
                  </a:cubicBezTo>
                  <a:cubicBezTo>
                    <a:pt x="0" y="111633"/>
                    <a:pt x="6096" y="88963"/>
                    <a:pt x="18193" y="68104"/>
                  </a:cubicBezTo>
                  <a:cubicBezTo>
                    <a:pt x="30290" y="47244"/>
                    <a:pt x="46673" y="30670"/>
                    <a:pt x="67437" y="18383"/>
                  </a:cubicBezTo>
                  <a:cubicBezTo>
                    <a:pt x="88106" y="6096"/>
                    <a:pt x="110585" y="0"/>
                    <a:pt x="134874" y="0"/>
                  </a:cubicBezTo>
                  <a:cubicBezTo>
                    <a:pt x="159163" y="0"/>
                    <a:pt x="181451" y="6191"/>
                    <a:pt x="202025" y="18383"/>
                  </a:cubicBezTo>
                  <a:cubicBezTo>
                    <a:pt x="222504" y="30670"/>
                    <a:pt x="238887" y="47244"/>
                    <a:pt x="250984" y="68104"/>
                  </a:cubicBezTo>
                  <a:cubicBezTo>
                    <a:pt x="263081" y="88963"/>
                    <a:pt x="269177" y="111728"/>
                    <a:pt x="269177" y="136207"/>
                  </a:cubicBezTo>
                  <a:cubicBezTo>
                    <a:pt x="269177" y="160687"/>
                    <a:pt x="263081" y="183547"/>
                    <a:pt x="250984" y="204597"/>
                  </a:cubicBezTo>
                  <a:cubicBezTo>
                    <a:pt x="238887" y="225647"/>
                    <a:pt x="222504" y="242316"/>
                    <a:pt x="202025" y="254603"/>
                  </a:cubicBezTo>
                  <a:cubicBezTo>
                    <a:pt x="181451" y="266890"/>
                    <a:pt x="159163" y="272986"/>
                    <a:pt x="134874" y="272986"/>
                  </a:cubicBezTo>
                  <a:cubicBezTo>
                    <a:pt x="110585" y="272986"/>
                    <a:pt x="88202" y="266890"/>
                    <a:pt x="67437" y="254603"/>
                  </a:cubicBezTo>
                  <a:close/>
                  <a:moveTo>
                    <a:pt x="182309" y="225266"/>
                  </a:moveTo>
                  <a:cubicBezTo>
                    <a:pt x="196787" y="216027"/>
                    <a:pt x="208312" y="203454"/>
                    <a:pt x="216884" y="187642"/>
                  </a:cubicBezTo>
                  <a:cubicBezTo>
                    <a:pt x="225457" y="171831"/>
                    <a:pt x="229743" y="154686"/>
                    <a:pt x="229743" y="136112"/>
                  </a:cubicBezTo>
                  <a:cubicBezTo>
                    <a:pt x="229743" y="117538"/>
                    <a:pt x="225457" y="100489"/>
                    <a:pt x="216884" y="84868"/>
                  </a:cubicBezTo>
                  <a:cubicBezTo>
                    <a:pt x="208312" y="69247"/>
                    <a:pt x="196787" y="56769"/>
                    <a:pt x="182309" y="47530"/>
                  </a:cubicBezTo>
                  <a:cubicBezTo>
                    <a:pt x="167831" y="38290"/>
                    <a:pt x="152019" y="33623"/>
                    <a:pt x="134874" y="33623"/>
                  </a:cubicBezTo>
                  <a:cubicBezTo>
                    <a:pt x="117729" y="33623"/>
                    <a:pt x="101822" y="38290"/>
                    <a:pt x="87154" y="47530"/>
                  </a:cubicBezTo>
                  <a:cubicBezTo>
                    <a:pt x="72485" y="56769"/>
                    <a:pt x="60865" y="69247"/>
                    <a:pt x="52292" y="84868"/>
                  </a:cubicBezTo>
                  <a:cubicBezTo>
                    <a:pt x="43720" y="100489"/>
                    <a:pt x="39433" y="117634"/>
                    <a:pt x="39433" y="136112"/>
                  </a:cubicBezTo>
                  <a:cubicBezTo>
                    <a:pt x="39433" y="154591"/>
                    <a:pt x="43720" y="171831"/>
                    <a:pt x="52292" y="187642"/>
                  </a:cubicBezTo>
                  <a:cubicBezTo>
                    <a:pt x="60865" y="203454"/>
                    <a:pt x="72485" y="216027"/>
                    <a:pt x="87154" y="225266"/>
                  </a:cubicBezTo>
                  <a:cubicBezTo>
                    <a:pt x="101822" y="234505"/>
                    <a:pt x="117729" y="239173"/>
                    <a:pt x="134874" y="239173"/>
                  </a:cubicBezTo>
                  <a:cubicBezTo>
                    <a:pt x="152019" y="239173"/>
                    <a:pt x="167831" y="234505"/>
                    <a:pt x="182309" y="225266"/>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99" name="Google Shape;3099;p147"/>
            <p:cNvSpPr/>
            <p:nvPr/>
          </p:nvSpPr>
          <p:spPr>
            <a:xfrm>
              <a:off x="5701231" y="3382271"/>
              <a:ext cx="125284" cy="150954"/>
            </a:xfrm>
            <a:custGeom>
              <a:avLst/>
              <a:gdLst/>
              <a:ahLst/>
              <a:cxnLst/>
              <a:rect l="l" t="t" r="r" b="b"/>
              <a:pathLst>
                <a:path w="221741" h="267176" extrusionOk="0">
                  <a:moveTo>
                    <a:pt x="221647" y="190"/>
                  </a:moveTo>
                  <a:lnTo>
                    <a:pt x="221647" y="261175"/>
                  </a:lnTo>
                  <a:lnTo>
                    <a:pt x="183737" y="261175"/>
                  </a:lnTo>
                  <a:lnTo>
                    <a:pt x="183737" y="219742"/>
                  </a:lnTo>
                  <a:cubicBezTo>
                    <a:pt x="176022" y="233839"/>
                    <a:pt x="164401" y="245364"/>
                    <a:pt x="148876" y="254032"/>
                  </a:cubicBezTo>
                  <a:cubicBezTo>
                    <a:pt x="133350" y="262795"/>
                    <a:pt x="116396" y="267176"/>
                    <a:pt x="97917" y="267176"/>
                  </a:cubicBezTo>
                  <a:cubicBezTo>
                    <a:pt x="79438" y="267176"/>
                    <a:pt x="61722" y="262985"/>
                    <a:pt x="46958" y="254508"/>
                  </a:cubicBezTo>
                  <a:cubicBezTo>
                    <a:pt x="32099" y="246126"/>
                    <a:pt x="20574" y="234220"/>
                    <a:pt x="12383" y="218884"/>
                  </a:cubicBezTo>
                  <a:cubicBezTo>
                    <a:pt x="4096" y="203549"/>
                    <a:pt x="0" y="186023"/>
                    <a:pt x="0" y="166116"/>
                  </a:cubicBezTo>
                  <a:lnTo>
                    <a:pt x="0" y="0"/>
                  </a:lnTo>
                  <a:lnTo>
                    <a:pt x="37909" y="0"/>
                  </a:lnTo>
                  <a:lnTo>
                    <a:pt x="37909" y="161068"/>
                  </a:lnTo>
                  <a:cubicBezTo>
                    <a:pt x="37909" y="182594"/>
                    <a:pt x="44005" y="200025"/>
                    <a:pt x="56102" y="213360"/>
                  </a:cubicBezTo>
                  <a:cubicBezTo>
                    <a:pt x="68199" y="226695"/>
                    <a:pt x="83915" y="233267"/>
                    <a:pt x="103060" y="233267"/>
                  </a:cubicBezTo>
                  <a:cubicBezTo>
                    <a:pt x="117538" y="233267"/>
                    <a:pt x="130969" y="230219"/>
                    <a:pt x="143446" y="224218"/>
                  </a:cubicBezTo>
                  <a:cubicBezTo>
                    <a:pt x="155924" y="218122"/>
                    <a:pt x="165735" y="210026"/>
                    <a:pt x="172974" y="199739"/>
                  </a:cubicBezTo>
                  <a:cubicBezTo>
                    <a:pt x="180213" y="189452"/>
                    <a:pt x="183833" y="178308"/>
                    <a:pt x="183833" y="166211"/>
                  </a:cubicBezTo>
                  <a:lnTo>
                    <a:pt x="183833" y="95"/>
                  </a:lnTo>
                  <a:lnTo>
                    <a:pt x="221742" y="95"/>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0" name="Google Shape;3100;p147"/>
            <p:cNvSpPr/>
            <p:nvPr/>
          </p:nvSpPr>
          <p:spPr>
            <a:xfrm>
              <a:off x="5867786" y="3378944"/>
              <a:ext cx="125284" cy="150901"/>
            </a:xfrm>
            <a:custGeom>
              <a:avLst/>
              <a:gdLst/>
              <a:ahLst/>
              <a:cxnLst/>
              <a:rect l="l" t="t" r="r" b="b"/>
              <a:pathLst>
                <a:path w="221741" h="267081" extrusionOk="0">
                  <a:moveTo>
                    <a:pt x="174784" y="12573"/>
                  </a:moveTo>
                  <a:cubicBezTo>
                    <a:pt x="189548" y="20955"/>
                    <a:pt x="201073" y="32861"/>
                    <a:pt x="209359" y="48196"/>
                  </a:cubicBezTo>
                  <a:cubicBezTo>
                    <a:pt x="217646" y="63532"/>
                    <a:pt x="221742" y="81058"/>
                    <a:pt x="221742" y="100965"/>
                  </a:cubicBezTo>
                  <a:lnTo>
                    <a:pt x="221742" y="267081"/>
                  </a:lnTo>
                  <a:lnTo>
                    <a:pt x="183833" y="267081"/>
                  </a:lnTo>
                  <a:lnTo>
                    <a:pt x="183833" y="106013"/>
                  </a:lnTo>
                  <a:cubicBezTo>
                    <a:pt x="183833" y="84487"/>
                    <a:pt x="177737" y="67056"/>
                    <a:pt x="165640" y="53721"/>
                  </a:cubicBezTo>
                  <a:cubicBezTo>
                    <a:pt x="153543" y="40386"/>
                    <a:pt x="137827" y="33814"/>
                    <a:pt x="118682" y="33814"/>
                  </a:cubicBezTo>
                  <a:cubicBezTo>
                    <a:pt x="104204" y="33814"/>
                    <a:pt x="90773" y="36862"/>
                    <a:pt x="78296" y="42863"/>
                  </a:cubicBezTo>
                  <a:cubicBezTo>
                    <a:pt x="65818" y="48958"/>
                    <a:pt x="56007" y="57055"/>
                    <a:pt x="48768" y="67342"/>
                  </a:cubicBezTo>
                  <a:cubicBezTo>
                    <a:pt x="41529" y="77629"/>
                    <a:pt x="37909" y="88773"/>
                    <a:pt x="37909" y="100870"/>
                  </a:cubicBezTo>
                  <a:lnTo>
                    <a:pt x="37909" y="266986"/>
                  </a:lnTo>
                  <a:lnTo>
                    <a:pt x="0" y="266986"/>
                  </a:lnTo>
                  <a:lnTo>
                    <a:pt x="0" y="6001"/>
                  </a:lnTo>
                  <a:lnTo>
                    <a:pt x="37909" y="6001"/>
                  </a:lnTo>
                  <a:lnTo>
                    <a:pt x="37909" y="47434"/>
                  </a:lnTo>
                  <a:cubicBezTo>
                    <a:pt x="45625" y="33338"/>
                    <a:pt x="57245" y="21908"/>
                    <a:pt x="72771" y="13145"/>
                  </a:cubicBezTo>
                  <a:cubicBezTo>
                    <a:pt x="88202" y="4382"/>
                    <a:pt x="105251" y="0"/>
                    <a:pt x="123730" y="0"/>
                  </a:cubicBezTo>
                  <a:cubicBezTo>
                    <a:pt x="142208" y="0"/>
                    <a:pt x="159925" y="4191"/>
                    <a:pt x="174688" y="12668"/>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1" name="Google Shape;3101;p147"/>
            <p:cNvSpPr/>
            <p:nvPr/>
          </p:nvSpPr>
          <p:spPr>
            <a:xfrm>
              <a:off x="6023115" y="3330552"/>
              <a:ext cx="142882" cy="202833"/>
            </a:xfrm>
            <a:custGeom>
              <a:avLst/>
              <a:gdLst/>
              <a:ahLst/>
              <a:cxnLst/>
              <a:rect l="l" t="t" r="r" b="b"/>
              <a:pathLst>
                <a:path w="252888" h="358997" extrusionOk="0">
                  <a:moveTo>
                    <a:pt x="252889" y="0"/>
                  </a:moveTo>
                  <a:lnTo>
                    <a:pt x="252889" y="352901"/>
                  </a:lnTo>
                  <a:lnTo>
                    <a:pt x="214979" y="352901"/>
                  </a:lnTo>
                  <a:lnTo>
                    <a:pt x="214979" y="303943"/>
                  </a:lnTo>
                  <a:cubicBezTo>
                    <a:pt x="204883" y="321469"/>
                    <a:pt x="191643" y="334994"/>
                    <a:pt x="175355" y="344614"/>
                  </a:cubicBezTo>
                  <a:cubicBezTo>
                    <a:pt x="159068" y="354235"/>
                    <a:pt x="140589" y="358997"/>
                    <a:pt x="120110" y="358997"/>
                  </a:cubicBezTo>
                  <a:cubicBezTo>
                    <a:pt x="97536" y="358997"/>
                    <a:pt x="77153" y="353187"/>
                    <a:pt x="58769" y="341567"/>
                  </a:cubicBezTo>
                  <a:cubicBezTo>
                    <a:pt x="40386" y="329946"/>
                    <a:pt x="26003" y="313754"/>
                    <a:pt x="15621" y="292894"/>
                  </a:cubicBezTo>
                  <a:cubicBezTo>
                    <a:pt x="5144" y="272034"/>
                    <a:pt x="0" y="248507"/>
                    <a:pt x="0" y="222218"/>
                  </a:cubicBezTo>
                  <a:cubicBezTo>
                    <a:pt x="0" y="195929"/>
                    <a:pt x="5239" y="172498"/>
                    <a:pt x="15621" y="151829"/>
                  </a:cubicBezTo>
                  <a:cubicBezTo>
                    <a:pt x="26099" y="131159"/>
                    <a:pt x="40481" y="114967"/>
                    <a:pt x="58769" y="103346"/>
                  </a:cubicBezTo>
                  <a:cubicBezTo>
                    <a:pt x="77153" y="91726"/>
                    <a:pt x="97536" y="85916"/>
                    <a:pt x="120110" y="85916"/>
                  </a:cubicBezTo>
                  <a:cubicBezTo>
                    <a:pt x="140589" y="85916"/>
                    <a:pt x="159068" y="90678"/>
                    <a:pt x="175355" y="100298"/>
                  </a:cubicBezTo>
                  <a:cubicBezTo>
                    <a:pt x="191643" y="109918"/>
                    <a:pt x="204883" y="123444"/>
                    <a:pt x="214979" y="140970"/>
                  </a:cubicBezTo>
                  <a:lnTo>
                    <a:pt x="214979" y="95"/>
                  </a:lnTo>
                  <a:lnTo>
                    <a:pt x="252889" y="95"/>
                  </a:lnTo>
                  <a:close/>
                  <a:moveTo>
                    <a:pt x="172688" y="311944"/>
                  </a:moveTo>
                  <a:cubicBezTo>
                    <a:pt x="186119" y="303181"/>
                    <a:pt x="196596" y="290989"/>
                    <a:pt x="204025" y="275368"/>
                  </a:cubicBezTo>
                  <a:cubicBezTo>
                    <a:pt x="211455" y="259747"/>
                    <a:pt x="215170" y="241935"/>
                    <a:pt x="215170" y="222123"/>
                  </a:cubicBezTo>
                  <a:cubicBezTo>
                    <a:pt x="215170" y="202311"/>
                    <a:pt x="211455" y="184595"/>
                    <a:pt x="204025" y="169164"/>
                  </a:cubicBezTo>
                  <a:cubicBezTo>
                    <a:pt x="196596" y="153734"/>
                    <a:pt x="186214" y="141542"/>
                    <a:pt x="172688" y="132779"/>
                  </a:cubicBezTo>
                  <a:cubicBezTo>
                    <a:pt x="159258" y="124016"/>
                    <a:pt x="144113" y="119634"/>
                    <a:pt x="127254" y="119634"/>
                  </a:cubicBezTo>
                  <a:cubicBezTo>
                    <a:pt x="110395" y="119634"/>
                    <a:pt x="95345" y="124016"/>
                    <a:pt x="82106" y="132779"/>
                  </a:cubicBezTo>
                  <a:cubicBezTo>
                    <a:pt x="68771" y="141542"/>
                    <a:pt x="58483" y="153638"/>
                    <a:pt x="51054" y="169164"/>
                  </a:cubicBezTo>
                  <a:cubicBezTo>
                    <a:pt x="43625" y="184690"/>
                    <a:pt x="39910" y="202311"/>
                    <a:pt x="39910" y="222123"/>
                  </a:cubicBezTo>
                  <a:cubicBezTo>
                    <a:pt x="39910" y="241935"/>
                    <a:pt x="43625" y="259747"/>
                    <a:pt x="51054" y="275368"/>
                  </a:cubicBezTo>
                  <a:cubicBezTo>
                    <a:pt x="58483" y="290989"/>
                    <a:pt x="68771" y="303181"/>
                    <a:pt x="82106" y="311944"/>
                  </a:cubicBezTo>
                  <a:cubicBezTo>
                    <a:pt x="95441" y="320707"/>
                    <a:pt x="110490" y="325088"/>
                    <a:pt x="127254" y="325088"/>
                  </a:cubicBezTo>
                  <a:cubicBezTo>
                    <a:pt x="144018" y="325088"/>
                    <a:pt x="159258" y="320707"/>
                    <a:pt x="172688" y="311944"/>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2" name="Google Shape;3102;p147"/>
            <p:cNvSpPr/>
            <p:nvPr/>
          </p:nvSpPr>
          <p:spPr>
            <a:xfrm>
              <a:off x="6195202" y="3378944"/>
              <a:ext cx="127275" cy="154291"/>
            </a:xfrm>
            <a:custGeom>
              <a:avLst/>
              <a:gdLst/>
              <a:ahLst/>
              <a:cxnLst/>
              <a:rect l="l" t="t" r="r" b="b"/>
              <a:pathLst>
                <a:path w="225266" h="273081" extrusionOk="0">
                  <a:moveTo>
                    <a:pt x="198215" y="29528"/>
                  </a:moveTo>
                  <a:cubicBezTo>
                    <a:pt x="216217" y="49244"/>
                    <a:pt x="225266" y="75343"/>
                    <a:pt x="225266" y="108013"/>
                  </a:cubicBezTo>
                  <a:lnTo>
                    <a:pt x="225266" y="266986"/>
                  </a:lnTo>
                  <a:lnTo>
                    <a:pt x="187357" y="266986"/>
                  </a:lnTo>
                  <a:lnTo>
                    <a:pt x="187357" y="226124"/>
                  </a:lnTo>
                  <a:cubicBezTo>
                    <a:pt x="178308" y="240983"/>
                    <a:pt x="165259" y="252508"/>
                    <a:pt x="148209" y="260699"/>
                  </a:cubicBezTo>
                  <a:cubicBezTo>
                    <a:pt x="131254" y="268986"/>
                    <a:pt x="113633" y="273082"/>
                    <a:pt x="95440" y="273082"/>
                  </a:cubicBezTo>
                  <a:cubicBezTo>
                    <a:pt x="67532" y="273082"/>
                    <a:pt x="44577" y="265462"/>
                    <a:pt x="26765" y="250317"/>
                  </a:cubicBezTo>
                  <a:cubicBezTo>
                    <a:pt x="8954" y="235172"/>
                    <a:pt x="0" y="214979"/>
                    <a:pt x="0" y="189738"/>
                  </a:cubicBezTo>
                  <a:cubicBezTo>
                    <a:pt x="0" y="172879"/>
                    <a:pt x="4572" y="157829"/>
                    <a:pt x="13906" y="144590"/>
                  </a:cubicBezTo>
                  <a:cubicBezTo>
                    <a:pt x="23146" y="131254"/>
                    <a:pt x="35623" y="121063"/>
                    <a:pt x="51244" y="113824"/>
                  </a:cubicBezTo>
                  <a:cubicBezTo>
                    <a:pt x="66865" y="106585"/>
                    <a:pt x="84010" y="102965"/>
                    <a:pt x="102489" y="102965"/>
                  </a:cubicBezTo>
                  <a:cubicBezTo>
                    <a:pt x="128778" y="102965"/>
                    <a:pt x="156972" y="107823"/>
                    <a:pt x="187262" y="117634"/>
                  </a:cubicBezTo>
                  <a:lnTo>
                    <a:pt x="187262" y="108013"/>
                  </a:lnTo>
                  <a:cubicBezTo>
                    <a:pt x="187262" y="86773"/>
                    <a:pt x="181832" y="68866"/>
                    <a:pt x="171069" y="54292"/>
                  </a:cubicBezTo>
                  <a:cubicBezTo>
                    <a:pt x="160306" y="39624"/>
                    <a:pt x="142113" y="32290"/>
                    <a:pt x="116586" y="32290"/>
                  </a:cubicBezTo>
                  <a:cubicBezTo>
                    <a:pt x="104775" y="32290"/>
                    <a:pt x="92773" y="34385"/>
                    <a:pt x="80486" y="38576"/>
                  </a:cubicBezTo>
                  <a:cubicBezTo>
                    <a:pt x="68199" y="42767"/>
                    <a:pt x="54864" y="48578"/>
                    <a:pt x="40386" y="56007"/>
                  </a:cubicBezTo>
                  <a:lnTo>
                    <a:pt x="25241" y="25241"/>
                  </a:lnTo>
                  <a:cubicBezTo>
                    <a:pt x="58864" y="8382"/>
                    <a:pt x="90202" y="0"/>
                    <a:pt x="119158" y="0"/>
                  </a:cubicBezTo>
                  <a:cubicBezTo>
                    <a:pt x="153829" y="0"/>
                    <a:pt x="180118" y="9811"/>
                    <a:pt x="198120" y="29528"/>
                  </a:cubicBezTo>
                  <a:close/>
                  <a:moveTo>
                    <a:pt x="155353" y="225362"/>
                  </a:moveTo>
                  <a:cubicBezTo>
                    <a:pt x="172021" y="215741"/>
                    <a:pt x="182689" y="202406"/>
                    <a:pt x="187452" y="185261"/>
                  </a:cubicBezTo>
                  <a:lnTo>
                    <a:pt x="187452" y="145352"/>
                  </a:lnTo>
                  <a:cubicBezTo>
                    <a:pt x="161830" y="138303"/>
                    <a:pt x="135636" y="134779"/>
                    <a:pt x="108680" y="134779"/>
                  </a:cubicBezTo>
                  <a:cubicBezTo>
                    <a:pt x="88773" y="134779"/>
                    <a:pt x="71914" y="139827"/>
                    <a:pt x="57912" y="149924"/>
                  </a:cubicBezTo>
                  <a:cubicBezTo>
                    <a:pt x="43910" y="160020"/>
                    <a:pt x="36957" y="172784"/>
                    <a:pt x="36957" y="188309"/>
                  </a:cubicBezTo>
                  <a:cubicBezTo>
                    <a:pt x="36957" y="203835"/>
                    <a:pt x="43053" y="216694"/>
                    <a:pt x="55340" y="225933"/>
                  </a:cubicBezTo>
                  <a:cubicBezTo>
                    <a:pt x="67627" y="235172"/>
                    <a:pt x="83153" y="239840"/>
                    <a:pt x="102013" y="239840"/>
                  </a:cubicBezTo>
                  <a:cubicBezTo>
                    <a:pt x="120872" y="239840"/>
                    <a:pt x="138589" y="235077"/>
                    <a:pt x="155258" y="225457"/>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3" name="Google Shape;3103;p147"/>
            <p:cNvSpPr/>
            <p:nvPr/>
          </p:nvSpPr>
          <p:spPr>
            <a:xfrm>
              <a:off x="6340809" y="3341938"/>
              <a:ext cx="86429" cy="191370"/>
            </a:xfrm>
            <a:custGeom>
              <a:avLst/>
              <a:gdLst/>
              <a:ahLst/>
              <a:cxnLst/>
              <a:rect l="l" t="t" r="r" b="b"/>
              <a:pathLst>
                <a:path w="152971" h="338708" extrusionOk="0">
                  <a:moveTo>
                    <a:pt x="152971" y="322040"/>
                  </a:moveTo>
                  <a:cubicBezTo>
                    <a:pt x="138875" y="333184"/>
                    <a:pt x="122682" y="338709"/>
                    <a:pt x="104489" y="338709"/>
                  </a:cubicBezTo>
                  <a:cubicBezTo>
                    <a:pt x="86296" y="338709"/>
                    <a:pt x="70771" y="332518"/>
                    <a:pt x="58769" y="320040"/>
                  </a:cubicBezTo>
                  <a:cubicBezTo>
                    <a:pt x="46863" y="307562"/>
                    <a:pt x="40862" y="291560"/>
                    <a:pt x="40862" y="272129"/>
                  </a:cubicBezTo>
                  <a:lnTo>
                    <a:pt x="40862" y="105537"/>
                  </a:lnTo>
                  <a:lnTo>
                    <a:pt x="0" y="105537"/>
                  </a:lnTo>
                  <a:lnTo>
                    <a:pt x="0" y="71723"/>
                  </a:lnTo>
                  <a:lnTo>
                    <a:pt x="40862" y="71723"/>
                  </a:lnTo>
                  <a:lnTo>
                    <a:pt x="40862" y="0"/>
                  </a:lnTo>
                  <a:lnTo>
                    <a:pt x="78772" y="0"/>
                  </a:lnTo>
                  <a:lnTo>
                    <a:pt x="78772" y="71723"/>
                  </a:lnTo>
                  <a:lnTo>
                    <a:pt x="142875" y="71723"/>
                  </a:lnTo>
                  <a:lnTo>
                    <a:pt x="142875" y="105537"/>
                  </a:lnTo>
                  <a:lnTo>
                    <a:pt x="78772" y="105537"/>
                  </a:lnTo>
                  <a:lnTo>
                    <a:pt x="78772" y="272129"/>
                  </a:lnTo>
                  <a:cubicBezTo>
                    <a:pt x="78772" y="281559"/>
                    <a:pt x="81534" y="289370"/>
                    <a:pt x="87058" y="295561"/>
                  </a:cubicBezTo>
                  <a:cubicBezTo>
                    <a:pt x="92583" y="301752"/>
                    <a:pt x="99250" y="304895"/>
                    <a:pt x="106966" y="304895"/>
                  </a:cubicBezTo>
                  <a:cubicBezTo>
                    <a:pt x="112681" y="304895"/>
                    <a:pt x="117919" y="303848"/>
                    <a:pt x="122587" y="301847"/>
                  </a:cubicBezTo>
                  <a:cubicBezTo>
                    <a:pt x="127254" y="299847"/>
                    <a:pt x="131159" y="297275"/>
                    <a:pt x="134207" y="294323"/>
                  </a:cubicBezTo>
                  <a:lnTo>
                    <a:pt x="152876" y="322136"/>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4" name="Google Shape;3104;p147"/>
            <p:cNvSpPr/>
            <p:nvPr/>
          </p:nvSpPr>
          <p:spPr>
            <a:xfrm>
              <a:off x="6446993" y="3327437"/>
              <a:ext cx="28253" cy="202510"/>
            </a:xfrm>
            <a:custGeom>
              <a:avLst/>
              <a:gdLst/>
              <a:ahLst/>
              <a:cxnLst/>
              <a:rect l="l" t="t" r="r" b="b"/>
              <a:pathLst>
                <a:path w="50006" h="358425" extrusionOk="0">
                  <a:moveTo>
                    <a:pt x="7334" y="42386"/>
                  </a:moveTo>
                  <a:cubicBezTo>
                    <a:pt x="2476" y="37338"/>
                    <a:pt x="0" y="31433"/>
                    <a:pt x="0" y="24765"/>
                  </a:cubicBezTo>
                  <a:cubicBezTo>
                    <a:pt x="0" y="18097"/>
                    <a:pt x="2476" y="12192"/>
                    <a:pt x="7334" y="7334"/>
                  </a:cubicBezTo>
                  <a:cubicBezTo>
                    <a:pt x="12192" y="2476"/>
                    <a:pt x="18193" y="0"/>
                    <a:pt x="25241" y="0"/>
                  </a:cubicBezTo>
                  <a:cubicBezTo>
                    <a:pt x="32290" y="0"/>
                    <a:pt x="37814" y="2476"/>
                    <a:pt x="42672" y="7334"/>
                  </a:cubicBezTo>
                  <a:cubicBezTo>
                    <a:pt x="47530" y="12192"/>
                    <a:pt x="50006" y="18002"/>
                    <a:pt x="50006" y="24765"/>
                  </a:cubicBezTo>
                  <a:cubicBezTo>
                    <a:pt x="50006" y="31528"/>
                    <a:pt x="47530" y="37433"/>
                    <a:pt x="42672" y="42386"/>
                  </a:cubicBezTo>
                  <a:cubicBezTo>
                    <a:pt x="37814" y="47434"/>
                    <a:pt x="32004" y="50006"/>
                    <a:pt x="25241" y="50006"/>
                  </a:cubicBezTo>
                  <a:cubicBezTo>
                    <a:pt x="18193" y="50006"/>
                    <a:pt x="12192" y="47434"/>
                    <a:pt x="7334" y="42386"/>
                  </a:cubicBezTo>
                  <a:close/>
                  <a:moveTo>
                    <a:pt x="6096" y="97441"/>
                  </a:moveTo>
                  <a:lnTo>
                    <a:pt x="44005" y="97441"/>
                  </a:lnTo>
                  <a:lnTo>
                    <a:pt x="44005" y="358426"/>
                  </a:lnTo>
                  <a:lnTo>
                    <a:pt x="6096" y="358426"/>
                  </a:lnTo>
                  <a:lnTo>
                    <a:pt x="6096" y="97441"/>
                  </a:ln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5" name="Google Shape;3105;p147"/>
            <p:cNvSpPr/>
            <p:nvPr/>
          </p:nvSpPr>
          <p:spPr>
            <a:xfrm>
              <a:off x="6502045" y="3379000"/>
              <a:ext cx="152084" cy="154237"/>
            </a:xfrm>
            <a:custGeom>
              <a:avLst/>
              <a:gdLst/>
              <a:ahLst/>
              <a:cxnLst/>
              <a:rect l="l" t="t" r="r" b="b"/>
              <a:pathLst>
                <a:path w="269176" h="272986" extrusionOk="0">
                  <a:moveTo>
                    <a:pt x="67437" y="254603"/>
                  </a:moveTo>
                  <a:cubicBezTo>
                    <a:pt x="46768" y="242316"/>
                    <a:pt x="30289" y="225647"/>
                    <a:pt x="18193" y="204597"/>
                  </a:cubicBezTo>
                  <a:cubicBezTo>
                    <a:pt x="6096" y="183547"/>
                    <a:pt x="0" y="160782"/>
                    <a:pt x="0" y="136207"/>
                  </a:cubicBezTo>
                  <a:cubicBezTo>
                    <a:pt x="0" y="111633"/>
                    <a:pt x="6096" y="88963"/>
                    <a:pt x="18193" y="68104"/>
                  </a:cubicBezTo>
                  <a:cubicBezTo>
                    <a:pt x="30289" y="47244"/>
                    <a:pt x="46672" y="30670"/>
                    <a:pt x="67437" y="18383"/>
                  </a:cubicBezTo>
                  <a:cubicBezTo>
                    <a:pt x="88106" y="6096"/>
                    <a:pt x="110585" y="0"/>
                    <a:pt x="134874" y="0"/>
                  </a:cubicBezTo>
                  <a:cubicBezTo>
                    <a:pt x="159163" y="0"/>
                    <a:pt x="181451" y="6191"/>
                    <a:pt x="202025" y="18383"/>
                  </a:cubicBezTo>
                  <a:cubicBezTo>
                    <a:pt x="222504" y="30670"/>
                    <a:pt x="238887" y="47244"/>
                    <a:pt x="250984" y="68104"/>
                  </a:cubicBezTo>
                  <a:cubicBezTo>
                    <a:pt x="263080" y="88963"/>
                    <a:pt x="269176" y="111728"/>
                    <a:pt x="269176" y="136207"/>
                  </a:cubicBezTo>
                  <a:cubicBezTo>
                    <a:pt x="269176" y="160687"/>
                    <a:pt x="263080" y="183547"/>
                    <a:pt x="250984" y="204597"/>
                  </a:cubicBezTo>
                  <a:cubicBezTo>
                    <a:pt x="238887" y="225647"/>
                    <a:pt x="222504" y="242316"/>
                    <a:pt x="202025" y="254603"/>
                  </a:cubicBezTo>
                  <a:cubicBezTo>
                    <a:pt x="181451" y="266890"/>
                    <a:pt x="159163" y="272986"/>
                    <a:pt x="134874" y="272986"/>
                  </a:cubicBezTo>
                  <a:cubicBezTo>
                    <a:pt x="110585" y="272986"/>
                    <a:pt x="88201" y="266890"/>
                    <a:pt x="67437" y="254603"/>
                  </a:cubicBezTo>
                  <a:close/>
                  <a:moveTo>
                    <a:pt x="182213" y="225266"/>
                  </a:moveTo>
                  <a:cubicBezTo>
                    <a:pt x="196691" y="216027"/>
                    <a:pt x="208216" y="203454"/>
                    <a:pt x="216789" y="187642"/>
                  </a:cubicBezTo>
                  <a:cubicBezTo>
                    <a:pt x="225362" y="171831"/>
                    <a:pt x="229648" y="154686"/>
                    <a:pt x="229648" y="136112"/>
                  </a:cubicBezTo>
                  <a:cubicBezTo>
                    <a:pt x="229648" y="117538"/>
                    <a:pt x="225362" y="100489"/>
                    <a:pt x="216789" y="84868"/>
                  </a:cubicBezTo>
                  <a:cubicBezTo>
                    <a:pt x="208216" y="69247"/>
                    <a:pt x="196691" y="56769"/>
                    <a:pt x="182213" y="47530"/>
                  </a:cubicBezTo>
                  <a:cubicBezTo>
                    <a:pt x="167735" y="38290"/>
                    <a:pt x="151924" y="33623"/>
                    <a:pt x="134779" y="33623"/>
                  </a:cubicBezTo>
                  <a:cubicBezTo>
                    <a:pt x="117634" y="33623"/>
                    <a:pt x="101727" y="38290"/>
                    <a:pt x="87058" y="47530"/>
                  </a:cubicBezTo>
                  <a:cubicBezTo>
                    <a:pt x="72390" y="56769"/>
                    <a:pt x="60770" y="69247"/>
                    <a:pt x="52197" y="84868"/>
                  </a:cubicBezTo>
                  <a:cubicBezTo>
                    <a:pt x="43624" y="100489"/>
                    <a:pt x="39338" y="117634"/>
                    <a:pt x="39338" y="136112"/>
                  </a:cubicBezTo>
                  <a:cubicBezTo>
                    <a:pt x="39338" y="154591"/>
                    <a:pt x="43624" y="171831"/>
                    <a:pt x="52197" y="187642"/>
                  </a:cubicBezTo>
                  <a:cubicBezTo>
                    <a:pt x="60770" y="203454"/>
                    <a:pt x="72390" y="216027"/>
                    <a:pt x="87058" y="225266"/>
                  </a:cubicBezTo>
                  <a:cubicBezTo>
                    <a:pt x="101727" y="234505"/>
                    <a:pt x="117634" y="239173"/>
                    <a:pt x="134779" y="239173"/>
                  </a:cubicBezTo>
                  <a:cubicBezTo>
                    <a:pt x="151924" y="239173"/>
                    <a:pt x="167735" y="234505"/>
                    <a:pt x="182213" y="225266"/>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6" name="Google Shape;3106;p147"/>
            <p:cNvSpPr/>
            <p:nvPr/>
          </p:nvSpPr>
          <p:spPr>
            <a:xfrm>
              <a:off x="6684606" y="3378946"/>
              <a:ext cx="125284" cy="150901"/>
            </a:xfrm>
            <a:custGeom>
              <a:avLst/>
              <a:gdLst/>
              <a:ahLst/>
              <a:cxnLst/>
              <a:rect l="l" t="t" r="r" b="b"/>
              <a:pathLst>
                <a:path w="221741" h="267081" extrusionOk="0">
                  <a:moveTo>
                    <a:pt x="174784" y="12573"/>
                  </a:moveTo>
                  <a:cubicBezTo>
                    <a:pt x="189547" y="20955"/>
                    <a:pt x="201073" y="32861"/>
                    <a:pt x="209360" y="48196"/>
                  </a:cubicBezTo>
                  <a:cubicBezTo>
                    <a:pt x="217646" y="63532"/>
                    <a:pt x="221742" y="81058"/>
                    <a:pt x="221742" y="100965"/>
                  </a:cubicBezTo>
                  <a:lnTo>
                    <a:pt x="221742" y="267081"/>
                  </a:lnTo>
                  <a:lnTo>
                    <a:pt x="183832" y="267081"/>
                  </a:lnTo>
                  <a:lnTo>
                    <a:pt x="183832" y="106013"/>
                  </a:lnTo>
                  <a:cubicBezTo>
                    <a:pt x="183832" y="84487"/>
                    <a:pt x="177737" y="67056"/>
                    <a:pt x="165640" y="53721"/>
                  </a:cubicBezTo>
                  <a:cubicBezTo>
                    <a:pt x="153543" y="40386"/>
                    <a:pt x="137827" y="33814"/>
                    <a:pt x="118681" y="33814"/>
                  </a:cubicBezTo>
                  <a:cubicBezTo>
                    <a:pt x="104204" y="33814"/>
                    <a:pt x="90773" y="36862"/>
                    <a:pt x="78296" y="42863"/>
                  </a:cubicBezTo>
                  <a:cubicBezTo>
                    <a:pt x="65818" y="48958"/>
                    <a:pt x="56007" y="57055"/>
                    <a:pt x="48768" y="67342"/>
                  </a:cubicBezTo>
                  <a:cubicBezTo>
                    <a:pt x="41529" y="77629"/>
                    <a:pt x="37910" y="88773"/>
                    <a:pt x="37910" y="100870"/>
                  </a:cubicBezTo>
                  <a:lnTo>
                    <a:pt x="37910" y="266986"/>
                  </a:lnTo>
                  <a:lnTo>
                    <a:pt x="0" y="266986"/>
                  </a:lnTo>
                  <a:lnTo>
                    <a:pt x="0" y="6001"/>
                  </a:lnTo>
                  <a:lnTo>
                    <a:pt x="37910" y="6001"/>
                  </a:lnTo>
                  <a:lnTo>
                    <a:pt x="37910" y="47434"/>
                  </a:lnTo>
                  <a:cubicBezTo>
                    <a:pt x="45625" y="33338"/>
                    <a:pt x="57245" y="21908"/>
                    <a:pt x="72771" y="13145"/>
                  </a:cubicBezTo>
                  <a:cubicBezTo>
                    <a:pt x="88202" y="4382"/>
                    <a:pt x="105251" y="0"/>
                    <a:pt x="123730" y="0"/>
                  </a:cubicBezTo>
                  <a:cubicBezTo>
                    <a:pt x="142208" y="0"/>
                    <a:pt x="159925" y="4191"/>
                    <a:pt x="174688" y="12668"/>
                  </a:cubicBezTo>
                  <a:close/>
                </a:path>
              </a:pathLst>
            </a:custGeom>
            <a:solidFill>
              <a:schemeClr val="dk1"/>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107" name="Google Shape;3107;p147"/>
          <p:cNvGrpSpPr/>
          <p:nvPr/>
        </p:nvGrpSpPr>
        <p:grpSpPr>
          <a:xfrm>
            <a:off x="5739871" y="2308236"/>
            <a:ext cx="732447" cy="580198"/>
            <a:chOff x="5814796" y="2412598"/>
            <a:chExt cx="550303" cy="436003"/>
          </a:xfrm>
        </p:grpSpPr>
        <p:sp>
          <p:nvSpPr>
            <p:cNvPr id="3108" name="Google Shape;3108;p147"/>
            <p:cNvSpPr/>
            <p:nvPr/>
          </p:nvSpPr>
          <p:spPr>
            <a:xfrm>
              <a:off x="5814796" y="2412598"/>
              <a:ext cx="550303" cy="436003"/>
            </a:xfrm>
            <a:custGeom>
              <a:avLst/>
              <a:gdLst/>
              <a:ahLst/>
              <a:cxnLst/>
              <a:rect l="l" t="t" r="r" b="b"/>
              <a:pathLst>
                <a:path w="1028604" h="814959" extrusionOk="0">
                  <a:moveTo>
                    <a:pt x="933069" y="257747"/>
                  </a:moveTo>
                  <a:cubicBezTo>
                    <a:pt x="893540" y="218218"/>
                    <a:pt x="844868" y="189548"/>
                    <a:pt x="791718" y="174498"/>
                  </a:cubicBezTo>
                  <a:cubicBezTo>
                    <a:pt x="727901" y="66580"/>
                    <a:pt x="611410" y="0"/>
                    <a:pt x="485584" y="0"/>
                  </a:cubicBezTo>
                  <a:cubicBezTo>
                    <a:pt x="390620" y="0"/>
                    <a:pt x="301276" y="36957"/>
                    <a:pt x="234124" y="104108"/>
                  </a:cubicBezTo>
                  <a:cubicBezTo>
                    <a:pt x="190690" y="147542"/>
                    <a:pt x="159258" y="201263"/>
                    <a:pt x="142970" y="259747"/>
                  </a:cubicBezTo>
                  <a:cubicBezTo>
                    <a:pt x="54578" y="314135"/>
                    <a:pt x="0" y="411194"/>
                    <a:pt x="0" y="515207"/>
                  </a:cubicBezTo>
                  <a:cubicBezTo>
                    <a:pt x="0" y="595313"/>
                    <a:pt x="31147" y="670560"/>
                    <a:pt x="87820" y="727139"/>
                  </a:cubicBezTo>
                  <a:cubicBezTo>
                    <a:pt x="114967" y="754285"/>
                    <a:pt x="146399" y="775526"/>
                    <a:pt x="180594" y="790385"/>
                  </a:cubicBezTo>
                  <a:cubicBezTo>
                    <a:pt x="193357" y="795909"/>
                    <a:pt x="206502" y="800576"/>
                    <a:pt x="220027" y="804291"/>
                  </a:cubicBezTo>
                  <a:cubicBezTo>
                    <a:pt x="220027" y="804291"/>
                    <a:pt x="220027" y="804291"/>
                    <a:pt x="220027" y="804291"/>
                  </a:cubicBezTo>
                  <a:lnTo>
                    <a:pt x="254413" y="769906"/>
                  </a:lnTo>
                  <a:cubicBezTo>
                    <a:pt x="254413" y="769906"/>
                    <a:pt x="254413" y="769906"/>
                    <a:pt x="254413" y="769906"/>
                  </a:cubicBezTo>
                  <a:lnTo>
                    <a:pt x="558546" y="465773"/>
                  </a:lnTo>
                  <a:lnTo>
                    <a:pt x="558546" y="581787"/>
                  </a:lnTo>
                  <a:cubicBezTo>
                    <a:pt x="558546" y="593122"/>
                    <a:pt x="567785" y="602361"/>
                    <a:pt x="579120" y="602361"/>
                  </a:cubicBezTo>
                  <a:cubicBezTo>
                    <a:pt x="590455" y="602361"/>
                    <a:pt x="599694" y="593122"/>
                    <a:pt x="599694" y="581787"/>
                  </a:cubicBezTo>
                  <a:lnTo>
                    <a:pt x="599694" y="416147"/>
                  </a:lnTo>
                  <a:lnTo>
                    <a:pt x="599694" y="416147"/>
                  </a:lnTo>
                  <a:lnTo>
                    <a:pt x="599694" y="395573"/>
                  </a:lnTo>
                  <a:lnTo>
                    <a:pt x="413480" y="395573"/>
                  </a:lnTo>
                  <a:cubicBezTo>
                    <a:pt x="402145" y="395573"/>
                    <a:pt x="392906" y="404813"/>
                    <a:pt x="392906" y="416147"/>
                  </a:cubicBezTo>
                  <a:cubicBezTo>
                    <a:pt x="392906" y="427482"/>
                    <a:pt x="402145" y="436721"/>
                    <a:pt x="413480" y="436721"/>
                  </a:cubicBezTo>
                  <a:lnTo>
                    <a:pt x="529495" y="436721"/>
                  </a:lnTo>
                  <a:lnTo>
                    <a:pt x="208788" y="757428"/>
                  </a:lnTo>
                  <a:cubicBezTo>
                    <a:pt x="174688" y="744665"/>
                    <a:pt x="143446" y="724662"/>
                    <a:pt x="116967" y="698087"/>
                  </a:cubicBezTo>
                  <a:cubicBezTo>
                    <a:pt x="68104" y="649224"/>
                    <a:pt x="41243" y="584264"/>
                    <a:pt x="41243" y="515207"/>
                  </a:cubicBezTo>
                  <a:cubicBezTo>
                    <a:pt x="41243" y="423005"/>
                    <a:pt x="90964" y="337090"/>
                    <a:pt x="171069" y="290989"/>
                  </a:cubicBezTo>
                  <a:lnTo>
                    <a:pt x="178594" y="286607"/>
                  </a:lnTo>
                  <a:lnTo>
                    <a:pt x="180689" y="278130"/>
                  </a:lnTo>
                  <a:cubicBezTo>
                    <a:pt x="194405" y="223552"/>
                    <a:pt x="222980" y="173450"/>
                    <a:pt x="263271" y="133160"/>
                  </a:cubicBezTo>
                  <a:cubicBezTo>
                    <a:pt x="322707" y="73724"/>
                    <a:pt x="401669" y="41053"/>
                    <a:pt x="485584" y="41053"/>
                  </a:cubicBezTo>
                  <a:cubicBezTo>
                    <a:pt x="599503" y="41053"/>
                    <a:pt x="704755" y="102775"/>
                    <a:pt x="760190" y="202121"/>
                  </a:cubicBezTo>
                  <a:lnTo>
                    <a:pt x="764476" y="209836"/>
                  </a:lnTo>
                  <a:lnTo>
                    <a:pt x="773049" y="212027"/>
                  </a:lnTo>
                  <a:cubicBezTo>
                    <a:pt x="822293" y="224504"/>
                    <a:pt x="867537" y="250412"/>
                    <a:pt x="903922" y="286798"/>
                  </a:cubicBezTo>
                  <a:cubicBezTo>
                    <a:pt x="957834" y="340709"/>
                    <a:pt x="987457" y="412337"/>
                    <a:pt x="987457" y="488537"/>
                  </a:cubicBezTo>
                  <a:cubicBezTo>
                    <a:pt x="987457" y="564737"/>
                    <a:pt x="957739" y="636365"/>
                    <a:pt x="903922" y="690277"/>
                  </a:cubicBezTo>
                  <a:cubicBezTo>
                    <a:pt x="850011" y="744188"/>
                    <a:pt x="778383" y="773811"/>
                    <a:pt x="702183" y="773811"/>
                  </a:cubicBezTo>
                  <a:lnTo>
                    <a:pt x="341281" y="773811"/>
                  </a:lnTo>
                  <a:lnTo>
                    <a:pt x="300133" y="814959"/>
                  </a:lnTo>
                  <a:lnTo>
                    <a:pt x="702183" y="814959"/>
                  </a:lnTo>
                  <a:cubicBezTo>
                    <a:pt x="789337" y="814959"/>
                    <a:pt x="871347" y="781050"/>
                    <a:pt x="932974" y="719328"/>
                  </a:cubicBezTo>
                  <a:cubicBezTo>
                    <a:pt x="994600" y="657701"/>
                    <a:pt x="1028605" y="575691"/>
                    <a:pt x="1028605" y="488537"/>
                  </a:cubicBezTo>
                  <a:cubicBezTo>
                    <a:pt x="1028605" y="401384"/>
                    <a:pt x="994696" y="319373"/>
                    <a:pt x="932974" y="257747"/>
                  </a:cubicBezTo>
                  <a:close/>
                </a:path>
              </a:pathLst>
            </a:custGeom>
            <a:solidFill>
              <a:srgbClr val="0098C7"/>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09" name="Google Shape;3109;p147"/>
            <p:cNvSpPr/>
            <p:nvPr/>
          </p:nvSpPr>
          <p:spPr>
            <a:xfrm>
              <a:off x="5877965" y="2475767"/>
              <a:ext cx="423722" cy="309422"/>
            </a:xfrm>
            <a:custGeom>
              <a:avLst/>
              <a:gdLst/>
              <a:ahLst/>
              <a:cxnLst/>
              <a:rect l="l" t="t" r="r" b="b"/>
              <a:pathLst>
                <a:path w="792003" h="578358" extrusionOk="0">
                  <a:moveTo>
                    <a:pt x="592550" y="162401"/>
                  </a:moveTo>
                  <a:cubicBezTo>
                    <a:pt x="560546" y="66008"/>
                    <a:pt x="470154" y="0"/>
                    <a:pt x="367284" y="0"/>
                  </a:cubicBezTo>
                  <a:cubicBezTo>
                    <a:pt x="241268" y="0"/>
                    <a:pt x="137922" y="98679"/>
                    <a:pt x="130397" y="222790"/>
                  </a:cubicBezTo>
                  <a:cubicBezTo>
                    <a:pt x="53912" y="245174"/>
                    <a:pt x="0" y="315849"/>
                    <a:pt x="0" y="396907"/>
                  </a:cubicBezTo>
                  <a:cubicBezTo>
                    <a:pt x="0" y="462248"/>
                    <a:pt x="34766" y="519684"/>
                    <a:pt x="86773" y="551593"/>
                  </a:cubicBezTo>
                  <a:lnTo>
                    <a:pt x="116967" y="521399"/>
                  </a:lnTo>
                  <a:cubicBezTo>
                    <a:pt x="72009" y="497967"/>
                    <a:pt x="41148" y="451009"/>
                    <a:pt x="41148" y="396907"/>
                  </a:cubicBezTo>
                  <a:cubicBezTo>
                    <a:pt x="41148" y="329851"/>
                    <a:pt x="88868" y="272034"/>
                    <a:pt x="154496" y="259175"/>
                  </a:cubicBezTo>
                  <a:lnTo>
                    <a:pt x="171260" y="255937"/>
                  </a:lnTo>
                  <a:lnTo>
                    <a:pt x="171069" y="238792"/>
                  </a:lnTo>
                  <a:cubicBezTo>
                    <a:pt x="171069" y="238792"/>
                    <a:pt x="171069" y="237839"/>
                    <a:pt x="171069" y="237363"/>
                  </a:cubicBezTo>
                  <a:lnTo>
                    <a:pt x="171069" y="237173"/>
                  </a:lnTo>
                  <a:cubicBezTo>
                    <a:pt x="171069" y="128969"/>
                    <a:pt x="259080" y="41053"/>
                    <a:pt x="367189" y="41053"/>
                  </a:cubicBezTo>
                  <a:cubicBezTo>
                    <a:pt x="456629" y="41053"/>
                    <a:pt x="534734" y="101441"/>
                    <a:pt x="557117" y="188024"/>
                  </a:cubicBezTo>
                  <a:lnTo>
                    <a:pt x="561213" y="204026"/>
                  </a:lnTo>
                  <a:lnTo>
                    <a:pt x="578358" y="203359"/>
                  </a:lnTo>
                  <a:cubicBezTo>
                    <a:pt x="580168" y="203359"/>
                    <a:pt x="582073" y="203264"/>
                    <a:pt x="583883" y="203264"/>
                  </a:cubicBezTo>
                  <a:cubicBezTo>
                    <a:pt x="675894" y="203264"/>
                    <a:pt x="750856" y="278130"/>
                    <a:pt x="750856" y="370237"/>
                  </a:cubicBezTo>
                  <a:cubicBezTo>
                    <a:pt x="750856" y="462344"/>
                    <a:pt x="675989" y="537210"/>
                    <a:pt x="583883" y="537210"/>
                  </a:cubicBezTo>
                  <a:lnTo>
                    <a:pt x="341281" y="537210"/>
                  </a:lnTo>
                  <a:lnTo>
                    <a:pt x="300133" y="578358"/>
                  </a:lnTo>
                  <a:lnTo>
                    <a:pt x="583883" y="578358"/>
                  </a:lnTo>
                  <a:cubicBezTo>
                    <a:pt x="698659" y="578358"/>
                    <a:pt x="792004" y="485013"/>
                    <a:pt x="792004" y="370237"/>
                  </a:cubicBezTo>
                  <a:cubicBezTo>
                    <a:pt x="792004" y="255461"/>
                    <a:pt x="703231" y="166783"/>
                    <a:pt x="592360" y="162306"/>
                  </a:cubicBezTo>
                  <a:close/>
                </a:path>
              </a:pathLst>
            </a:custGeom>
            <a:solidFill>
              <a:srgbClr val="005C8A"/>
            </a:solidFill>
            <a:ln>
              <a:noFill/>
            </a:ln>
          </p:spPr>
          <p:txBody>
            <a:bodyPr spcFirstLastPara="1" wrap="square" lIns="91400" tIns="45675" rIns="91400" bIns="4567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066"/>
                <a:buFont typeface="Arial"/>
                <a:buNone/>
                <a:tabLst/>
                <a:defRPr/>
              </a:pP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3110" name="Google Shape;3110;p147"/>
          <p:cNvSpPr/>
          <p:nvPr/>
        </p:nvSpPr>
        <p:spPr>
          <a:xfrm>
            <a:off x="4751856" y="1527043"/>
            <a:ext cx="2718036" cy="2783314"/>
          </a:xfrm>
          <a:custGeom>
            <a:avLst/>
            <a:gdLst/>
            <a:ahLst/>
            <a:cxnLst/>
            <a:rect l="l" t="t" r="r" b="b"/>
            <a:pathLst>
              <a:path w="3172286" h="3248472" extrusionOk="0">
                <a:moveTo>
                  <a:pt x="1586144" y="78900"/>
                </a:moveTo>
                <a:cubicBezTo>
                  <a:pt x="1431299" y="78900"/>
                  <a:pt x="1281951" y="102436"/>
                  <a:pt x="1141482" y="146127"/>
                </a:cubicBezTo>
                <a:lnTo>
                  <a:pt x="1104280" y="159743"/>
                </a:lnTo>
                <a:lnTo>
                  <a:pt x="1098012" y="190792"/>
                </a:lnTo>
                <a:cubicBezTo>
                  <a:pt x="1081345" y="230197"/>
                  <a:pt x="1042327" y="257846"/>
                  <a:pt x="996850" y="257846"/>
                </a:cubicBezTo>
                <a:cubicBezTo>
                  <a:pt x="981692" y="257846"/>
                  <a:pt x="967250" y="254774"/>
                  <a:pt x="954115" y="249218"/>
                </a:cubicBezTo>
                <a:lnTo>
                  <a:pt x="929261" y="232461"/>
                </a:lnTo>
                <a:lnTo>
                  <a:pt x="873386" y="259377"/>
                </a:lnTo>
                <a:cubicBezTo>
                  <a:pt x="661509" y="374475"/>
                  <a:pt x="480562" y="539293"/>
                  <a:pt x="346202" y="738172"/>
                </a:cubicBezTo>
                <a:lnTo>
                  <a:pt x="305609" y="804990"/>
                </a:lnTo>
                <a:lnTo>
                  <a:pt x="323459" y="831465"/>
                </a:lnTo>
                <a:cubicBezTo>
                  <a:pt x="329015" y="844600"/>
                  <a:pt x="332087" y="859041"/>
                  <a:pt x="332087" y="874200"/>
                </a:cubicBezTo>
                <a:cubicBezTo>
                  <a:pt x="332087" y="934835"/>
                  <a:pt x="282933" y="983989"/>
                  <a:pt x="222298" y="983989"/>
                </a:cubicBezTo>
                <a:lnTo>
                  <a:pt x="213165" y="982145"/>
                </a:lnTo>
                <a:lnTo>
                  <a:pt x="208334" y="992173"/>
                </a:lnTo>
                <a:cubicBezTo>
                  <a:pt x="132667" y="1171071"/>
                  <a:pt x="90825" y="1367759"/>
                  <a:pt x="90825" y="1574219"/>
                </a:cubicBezTo>
                <a:cubicBezTo>
                  <a:pt x="90825" y="1625834"/>
                  <a:pt x="93440" y="1676839"/>
                  <a:pt x="98545" y="1727107"/>
                </a:cubicBezTo>
                <a:lnTo>
                  <a:pt x="120436" y="1870546"/>
                </a:lnTo>
                <a:lnTo>
                  <a:pt x="152524" y="1877024"/>
                </a:lnTo>
                <a:cubicBezTo>
                  <a:pt x="191929" y="1893691"/>
                  <a:pt x="219578" y="1932709"/>
                  <a:pt x="219578" y="1978185"/>
                </a:cubicBezTo>
                <a:cubicBezTo>
                  <a:pt x="219578" y="2008503"/>
                  <a:pt x="207289" y="2035950"/>
                  <a:pt x="187421" y="2055818"/>
                </a:cubicBezTo>
                <a:lnTo>
                  <a:pt x="174708" y="2064390"/>
                </a:lnTo>
                <a:lnTo>
                  <a:pt x="208334" y="2156265"/>
                </a:lnTo>
                <a:cubicBezTo>
                  <a:pt x="284002" y="2335162"/>
                  <a:pt x="393494" y="2496270"/>
                  <a:pt x="528794" y="2631569"/>
                </a:cubicBezTo>
                <a:lnTo>
                  <a:pt x="561300" y="2661113"/>
                </a:lnTo>
                <a:lnTo>
                  <a:pt x="561461" y="2661005"/>
                </a:lnTo>
                <a:cubicBezTo>
                  <a:pt x="574596" y="2655449"/>
                  <a:pt x="589037" y="2652377"/>
                  <a:pt x="604196" y="2652377"/>
                </a:cubicBezTo>
                <a:cubicBezTo>
                  <a:pt x="664831" y="2652377"/>
                  <a:pt x="713985" y="2701531"/>
                  <a:pt x="713985" y="2762166"/>
                </a:cubicBezTo>
                <a:lnTo>
                  <a:pt x="709601" y="2783879"/>
                </a:lnTo>
                <a:lnTo>
                  <a:pt x="750097" y="2814161"/>
                </a:lnTo>
                <a:cubicBezTo>
                  <a:pt x="948976" y="2948521"/>
                  <a:pt x="1181915" y="3036293"/>
                  <a:pt x="1433257" y="3061818"/>
                </a:cubicBezTo>
                <a:lnTo>
                  <a:pt x="1512801" y="3065835"/>
                </a:lnTo>
                <a:lnTo>
                  <a:pt x="1516027" y="3061051"/>
                </a:lnTo>
                <a:cubicBezTo>
                  <a:pt x="1535895" y="3041183"/>
                  <a:pt x="1563342" y="3028894"/>
                  <a:pt x="1593659" y="3028894"/>
                </a:cubicBezTo>
                <a:cubicBezTo>
                  <a:pt x="1623977" y="3028894"/>
                  <a:pt x="1651424" y="3041183"/>
                  <a:pt x="1671292" y="3061051"/>
                </a:cubicBezTo>
                <a:lnTo>
                  <a:pt x="1674023" y="3065101"/>
                </a:lnTo>
                <a:lnTo>
                  <a:pt x="1739032" y="3061818"/>
                </a:lnTo>
                <a:cubicBezTo>
                  <a:pt x="1990373" y="3036293"/>
                  <a:pt x="2223313" y="2948521"/>
                  <a:pt x="2422191" y="2814161"/>
                </a:cubicBezTo>
                <a:lnTo>
                  <a:pt x="2462685" y="2783881"/>
                </a:lnTo>
                <a:lnTo>
                  <a:pt x="2458301" y="2762166"/>
                </a:lnTo>
                <a:cubicBezTo>
                  <a:pt x="2458301" y="2701531"/>
                  <a:pt x="2507455" y="2652377"/>
                  <a:pt x="2568090" y="2652377"/>
                </a:cubicBezTo>
                <a:cubicBezTo>
                  <a:pt x="2583249" y="2652377"/>
                  <a:pt x="2597690" y="2655449"/>
                  <a:pt x="2610825" y="2661005"/>
                </a:cubicBezTo>
                <a:lnTo>
                  <a:pt x="2610987" y="2661114"/>
                </a:lnTo>
                <a:lnTo>
                  <a:pt x="2643494" y="2631569"/>
                </a:lnTo>
                <a:cubicBezTo>
                  <a:pt x="2778794" y="2496270"/>
                  <a:pt x="2888286" y="2335162"/>
                  <a:pt x="2963954" y="2156265"/>
                </a:cubicBezTo>
                <a:lnTo>
                  <a:pt x="2997580" y="2064391"/>
                </a:lnTo>
                <a:lnTo>
                  <a:pt x="2984865" y="2055818"/>
                </a:lnTo>
                <a:cubicBezTo>
                  <a:pt x="2964997" y="2035950"/>
                  <a:pt x="2952708" y="2008503"/>
                  <a:pt x="2952708" y="1978185"/>
                </a:cubicBezTo>
                <a:cubicBezTo>
                  <a:pt x="2952708" y="1932709"/>
                  <a:pt x="2980357" y="1893691"/>
                  <a:pt x="3019762" y="1877024"/>
                </a:cubicBezTo>
                <a:lnTo>
                  <a:pt x="3051852" y="1870545"/>
                </a:lnTo>
                <a:lnTo>
                  <a:pt x="3073743" y="1727107"/>
                </a:lnTo>
                <a:cubicBezTo>
                  <a:pt x="3078848" y="1676839"/>
                  <a:pt x="3081463" y="1625834"/>
                  <a:pt x="3081463" y="1574219"/>
                </a:cubicBezTo>
                <a:cubicBezTo>
                  <a:pt x="3081463" y="1367759"/>
                  <a:pt x="3039621" y="1171071"/>
                  <a:pt x="2963954" y="992173"/>
                </a:cubicBezTo>
                <a:lnTo>
                  <a:pt x="2959123" y="982145"/>
                </a:lnTo>
                <a:lnTo>
                  <a:pt x="2949988" y="983989"/>
                </a:lnTo>
                <a:cubicBezTo>
                  <a:pt x="2889353" y="983989"/>
                  <a:pt x="2840199" y="934835"/>
                  <a:pt x="2840199" y="874200"/>
                </a:cubicBezTo>
                <a:cubicBezTo>
                  <a:pt x="2840199" y="859041"/>
                  <a:pt x="2843271" y="844600"/>
                  <a:pt x="2848827" y="831465"/>
                </a:cubicBezTo>
                <a:lnTo>
                  <a:pt x="2866678" y="804988"/>
                </a:lnTo>
                <a:lnTo>
                  <a:pt x="2826086" y="738172"/>
                </a:lnTo>
                <a:cubicBezTo>
                  <a:pt x="2691726" y="539293"/>
                  <a:pt x="2510779" y="374475"/>
                  <a:pt x="2298902" y="259377"/>
                </a:cubicBezTo>
                <a:lnTo>
                  <a:pt x="2243027" y="232460"/>
                </a:lnTo>
                <a:lnTo>
                  <a:pt x="2218171" y="249218"/>
                </a:lnTo>
                <a:cubicBezTo>
                  <a:pt x="2205036" y="254774"/>
                  <a:pt x="2190595" y="257846"/>
                  <a:pt x="2175436" y="257846"/>
                </a:cubicBezTo>
                <a:cubicBezTo>
                  <a:pt x="2129960" y="257846"/>
                  <a:pt x="2090942" y="230197"/>
                  <a:pt x="2074275" y="190792"/>
                </a:cubicBezTo>
                <a:lnTo>
                  <a:pt x="2068006" y="159742"/>
                </a:lnTo>
                <a:lnTo>
                  <a:pt x="2030806" y="146127"/>
                </a:lnTo>
                <a:cubicBezTo>
                  <a:pt x="1890338" y="102436"/>
                  <a:pt x="1740990" y="78900"/>
                  <a:pt x="1586144" y="78900"/>
                </a:cubicBezTo>
                <a:close/>
                <a:moveTo>
                  <a:pt x="1586144" y="0"/>
                </a:moveTo>
                <a:cubicBezTo>
                  <a:pt x="1749160" y="0"/>
                  <a:pt x="1906388" y="24778"/>
                  <a:pt x="2054269" y="70774"/>
                </a:cubicBezTo>
                <a:lnTo>
                  <a:pt x="2088998" y="83485"/>
                </a:lnTo>
                <a:lnTo>
                  <a:pt x="2097804" y="70424"/>
                </a:lnTo>
                <a:cubicBezTo>
                  <a:pt x="2117672" y="50557"/>
                  <a:pt x="2145119" y="38268"/>
                  <a:pt x="2175436" y="38268"/>
                </a:cubicBezTo>
                <a:cubicBezTo>
                  <a:pt x="2236071" y="38268"/>
                  <a:pt x="2285225" y="87422"/>
                  <a:pt x="2285225" y="148057"/>
                </a:cubicBezTo>
                <a:lnTo>
                  <a:pt x="2282054" y="163767"/>
                </a:lnTo>
                <a:lnTo>
                  <a:pt x="2336510" y="190000"/>
                </a:lnTo>
                <a:cubicBezTo>
                  <a:pt x="2559567" y="311171"/>
                  <a:pt x="2750062" y="484686"/>
                  <a:pt x="2891511" y="694058"/>
                </a:cubicBezTo>
                <a:lnTo>
                  <a:pt x="2935971" y="767241"/>
                </a:lnTo>
                <a:lnTo>
                  <a:pt x="2949988" y="764411"/>
                </a:lnTo>
                <a:cubicBezTo>
                  <a:pt x="3010623" y="764411"/>
                  <a:pt x="3059777" y="813565"/>
                  <a:pt x="3059777" y="874200"/>
                </a:cubicBezTo>
                <a:cubicBezTo>
                  <a:pt x="3059777" y="889359"/>
                  <a:pt x="3056705" y="903800"/>
                  <a:pt x="3051150" y="916935"/>
                </a:cubicBezTo>
                <a:lnTo>
                  <a:pt x="3030184" y="948032"/>
                </a:lnTo>
                <a:lnTo>
                  <a:pt x="3036653" y="961462"/>
                </a:lnTo>
                <a:cubicBezTo>
                  <a:pt x="3116313" y="1149799"/>
                  <a:pt x="3160363" y="1356865"/>
                  <a:pt x="3160363" y="1574219"/>
                </a:cubicBezTo>
                <a:cubicBezTo>
                  <a:pt x="3160363" y="1682896"/>
                  <a:pt x="3149351" y="1789001"/>
                  <a:pt x="3128381" y="1891479"/>
                </a:cubicBezTo>
                <a:lnTo>
                  <a:pt x="3128128" y="1892461"/>
                </a:lnTo>
                <a:lnTo>
                  <a:pt x="3140130" y="1900552"/>
                </a:lnTo>
                <a:cubicBezTo>
                  <a:pt x="3159998" y="1920420"/>
                  <a:pt x="3172286" y="1947868"/>
                  <a:pt x="3172286" y="1978185"/>
                </a:cubicBezTo>
                <a:cubicBezTo>
                  <a:pt x="3172286" y="2023661"/>
                  <a:pt x="3144637" y="2062680"/>
                  <a:pt x="3105232" y="2079346"/>
                </a:cubicBezTo>
                <a:lnTo>
                  <a:pt x="3073718" y="2085709"/>
                </a:lnTo>
                <a:lnTo>
                  <a:pt x="3036653" y="2186976"/>
                </a:lnTo>
                <a:cubicBezTo>
                  <a:pt x="2956993" y="2375313"/>
                  <a:pt x="2841724" y="2544921"/>
                  <a:pt x="2699285" y="2687360"/>
                </a:cubicBezTo>
                <a:lnTo>
                  <a:pt x="2667255" y="2716471"/>
                </a:lnTo>
                <a:lnTo>
                  <a:pt x="2669252" y="2719431"/>
                </a:lnTo>
                <a:cubicBezTo>
                  <a:pt x="2674807" y="2732566"/>
                  <a:pt x="2677879" y="2747007"/>
                  <a:pt x="2677879" y="2762166"/>
                </a:cubicBezTo>
                <a:cubicBezTo>
                  <a:pt x="2677879" y="2822801"/>
                  <a:pt x="2628725" y="2871955"/>
                  <a:pt x="2568090" y="2871955"/>
                </a:cubicBezTo>
                <a:cubicBezTo>
                  <a:pt x="2552932" y="2871955"/>
                  <a:pt x="2538490" y="2868883"/>
                  <a:pt x="2525355" y="2863327"/>
                </a:cubicBezTo>
                <a:lnTo>
                  <a:pt x="2505736" y="2850100"/>
                </a:lnTo>
                <a:lnTo>
                  <a:pt x="2466305" y="2879586"/>
                </a:lnTo>
                <a:cubicBezTo>
                  <a:pt x="2256933" y="3021036"/>
                  <a:pt x="2011702" y="3113439"/>
                  <a:pt x="1747099" y="3140311"/>
                </a:cubicBezTo>
                <a:lnTo>
                  <a:pt x="1702667" y="3142554"/>
                </a:lnTo>
                <a:lnTo>
                  <a:pt x="1694821" y="3181418"/>
                </a:lnTo>
                <a:cubicBezTo>
                  <a:pt x="1678154" y="3220823"/>
                  <a:pt x="1639136" y="3248472"/>
                  <a:pt x="1593659" y="3248472"/>
                </a:cubicBezTo>
                <a:cubicBezTo>
                  <a:pt x="1548183" y="3248472"/>
                  <a:pt x="1509165" y="3220823"/>
                  <a:pt x="1492498" y="3181418"/>
                </a:cubicBezTo>
                <a:lnTo>
                  <a:pt x="1484807" y="3143321"/>
                </a:lnTo>
                <a:lnTo>
                  <a:pt x="1425190" y="3140311"/>
                </a:lnTo>
                <a:cubicBezTo>
                  <a:pt x="1160586" y="3113439"/>
                  <a:pt x="915356" y="3021036"/>
                  <a:pt x="705983" y="2879586"/>
                </a:cubicBezTo>
                <a:lnTo>
                  <a:pt x="666551" y="2850099"/>
                </a:lnTo>
                <a:lnTo>
                  <a:pt x="646931" y="2863327"/>
                </a:lnTo>
                <a:cubicBezTo>
                  <a:pt x="633796" y="2868883"/>
                  <a:pt x="619355" y="2871955"/>
                  <a:pt x="604196" y="2871955"/>
                </a:cubicBezTo>
                <a:cubicBezTo>
                  <a:pt x="543561" y="2871955"/>
                  <a:pt x="494407" y="2822801"/>
                  <a:pt x="494407" y="2762166"/>
                </a:cubicBezTo>
                <a:cubicBezTo>
                  <a:pt x="494407" y="2747007"/>
                  <a:pt x="497479" y="2732566"/>
                  <a:pt x="503035" y="2719431"/>
                </a:cubicBezTo>
                <a:lnTo>
                  <a:pt x="505031" y="2716470"/>
                </a:lnTo>
                <a:lnTo>
                  <a:pt x="473003" y="2687360"/>
                </a:lnTo>
                <a:cubicBezTo>
                  <a:pt x="330564" y="2544921"/>
                  <a:pt x="215295" y="2375313"/>
                  <a:pt x="135635" y="2186976"/>
                </a:cubicBezTo>
                <a:lnTo>
                  <a:pt x="98571" y="2085709"/>
                </a:lnTo>
                <a:lnTo>
                  <a:pt x="67054" y="2079346"/>
                </a:lnTo>
                <a:cubicBezTo>
                  <a:pt x="27649" y="2062680"/>
                  <a:pt x="0" y="2023661"/>
                  <a:pt x="0" y="1978185"/>
                </a:cubicBezTo>
                <a:cubicBezTo>
                  <a:pt x="0" y="1947868"/>
                  <a:pt x="12288" y="1920420"/>
                  <a:pt x="32156" y="1900552"/>
                </a:cubicBezTo>
                <a:lnTo>
                  <a:pt x="44159" y="1892460"/>
                </a:lnTo>
                <a:lnTo>
                  <a:pt x="43907" y="1891479"/>
                </a:lnTo>
                <a:cubicBezTo>
                  <a:pt x="22937" y="1789001"/>
                  <a:pt x="11925" y="1682896"/>
                  <a:pt x="11925" y="1574219"/>
                </a:cubicBezTo>
                <a:cubicBezTo>
                  <a:pt x="11925" y="1356865"/>
                  <a:pt x="55975" y="1149799"/>
                  <a:pt x="135635" y="961462"/>
                </a:cubicBezTo>
                <a:lnTo>
                  <a:pt x="142104" y="948034"/>
                </a:lnTo>
                <a:lnTo>
                  <a:pt x="121137" y="916935"/>
                </a:lnTo>
                <a:cubicBezTo>
                  <a:pt x="115581" y="903800"/>
                  <a:pt x="112509" y="889359"/>
                  <a:pt x="112509" y="874200"/>
                </a:cubicBezTo>
                <a:cubicBezTo>
                  <a:pt x="112509" y="813565"/>
                  <a:pt x="161663" y="764411"/>
                  <a:pt x="222298" y="764411"/>
                </a:cubicBezTo>
                <a:lnTo>
                  <a:pt x="236317" y="767241"/>
                </a:lnTo>
                <a:lnTo>
                  <a:pt x="280777" y="694058"/>
                </a:lnTo>
                <a:cubicBezTo>
                  <a:pt x="422226" y="484686"/>
                  <a:pt x="612721" y="311171"/>
                  <a:pt x="835778" y="190000"/>
                </a:cubicBezTo>
                <a:lnTo>
                  <a:pt x="890233" y="163768"/>
                </a:lnTo>
                <a:lnTo>
                  <a:pt x="887061" y="148057"/>
                </a:lnTo>
                <a:cubicBezTo>
                  <a:pt x="887061" y="87422"/>
                  <a:pt x="936215" y="38268"/>
                  <a:pt x="996850" y="38268"/>
                </a:cubicBezTo>
                <a:cubicBezTo>
                  <a:pt x="1027168" y="38268"/>
                  <a:pt x="1054615" y="50557"/>
                  <a:pt x="1074483" y="70424"/>
                </a:cubicBezTo>
                <a:lnTo>
                  <a:pt x="1083289" y="83486"/>
                </a:lnTo>
                <a:lnTo>
                  <a:pt x="1118020" y="70774"/>
                </a:lnTo>
                <a:cubicBezTo>
                  <a:pt x="1265900" y="24778"/>
                  <a:pt x="1423129" y="0"/>
                  <a:pt x="1586144" y="0"/>
                </a:cubicBezTo>
                <a:close/>
              </a:path>
            </a:pathLst>
          </a:custGeom>
          <a:gradFill>
            <a:gsLst>
              <a:gs pos="0">
                <a:srgbClr val="0C88BA"/>
              </a:gs>
              <a:gs pos="8000">
                <a:srgbClr val="0C88BA"/>
              </a:gs>
              <a:gs pos="87000">
                <a:srgbClr val="585999"/>
              </a:gs>
              <a:gs pos="100000">
                <a:srgbClr val="585999"/>
              </a:gs>
            </a:gsLst>
            <a:lin ang="2700006" scaled="0"/>
          </a:gradFill>
          <a:ln>
            <a:noFill/>
          </a:ln>
        </p:spPr>
        <p:txBody>
          <a:bodyPr spcFirstLastPara="1" wrap="square" lIns="91375" tIns="91375" rIns="91375" bIns="913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1"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3111" name="Google Shape;3111;p147"/>
          <p:cNvGrpSpPr/>
          <p:nvPr/>
        </p:nvGrpSpPr>
        <p:grpSpPr>
          <a:xfrm>
            <a:off x="7912000" y="3353335"/>
            <a:ext cx="3799411" cy="1093871"/>
            <a:chOff x="6033540" y="2210186"/>
            <a:chExt cx="2850300" cy="820617"/>
          </a:xfrm>
        </p:grpSpPr>
        <p:sp>
          <p:nvSpPr>
            <p:cNvPr id="3112" name="Google Shape;3112;p147"/>
            <p:cNvSpPr/>
            <p:nvPr/>
          </p:nvSpPr>
          <p:spPr>
            <a:xfrm>
              <a:off x="6033540" y="2406861"/>
              <a:ext cx="2850300" cy="553500"/>
            </a:xfrm>
            <a:prstGeom prst="roundRect">
              <a:avLst>
                <a:gd name="adj" fmla="val 0"/>
              </a:avLst>
            </a:prstGeom>
            <a:solidFill>
              <a:schemeClr val="lt1"/>
            </a:solid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Network Observability </a:t>
              </a:r>
              <a:b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by Broadcom</a:t>
              </a:r>
              <a:r>
                <a:rPr kumimoji="0" lang="en-US" sz="933"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13" name="Google Shape;3113;p147"/>
            <p:cNvSpPr/>
            <p:nvPr/>
          </p:nvSpPr>
          <p:spPr>
            <a:xfrm>
              <a:off x="6093804" y="2240903"/>
              <a:ext cx="2769000" cy="789900"/>
            </a:xfrm>
            <a:prstGeom prst="round2SameRect">
              <a:avLst>
                <a:gd name="adj1" fmla="val 8679"/>
                <a:gd name="adj2" fmla="val 0"/>
              </a:avLst>
            </a:prstGeom>
            <a:noFill/>
            <a:ln w="9525" cap="flat" cmpd="sng">
              <a:solidFill>
                <a:srgbClr val="505E9C"/>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3114" name="Google Shape;3114;p147"/>
            <p:cNvGrpSpPr/>
            <p:nvPr/>
          </p:nvGrpSpPr>
          <p:grpSpPr>
            <a:xfrm>
              <a:off x="6233718" y="2210186"/>
              <a:ext cx="2489389" cy="308475"/>
              <a:chOff x="8266376" y="2302414"/>
              <a:chExt cx="3318300" cy="411300"/>
            </a:xfrm>
          </p:grpSpPr>
          <p:sp>
            <p:nvSpPr>
              <p:cNvPr id="3115" name="Google Shape;3115;p147"/>
              <p:cNvSpPr/>
              <p:nvPr/>
            </p:nvSpPr>
            <p:spPr>
              <a:xfrm>
                <a:off x="8266376" y="2302414"/>
                <a:ext cx="3318300" cy="411300"/>
              </a:xfrm>
              <a:prstGeom prst="roundRect">
                <a:avLst>
                  <a:gd name="adj" fmla="val 50000"/>
                </a:avLst>
              </a:prstGeom>
              <a:solidFill>
                <a:srgbClr val="505E9C"/>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Network Observability</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16" name="Google Shape;3116;p147"/>
              <p:cNvSpPr/>
              <p:nvPr/>
            </p:nvSpPr>
            <p:spPr>
              <a:xfrm>
                <a:off x="11187626" y="2321064"/>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17" name="Google Shape;3117;p147"/>
              <p:cNvSpPr/>
              <p:nvPr/>
            </p:nvSpPr>
            <p:spPr>
              <a:xfrm>
                <a:off x="11245851" y="2358970"/>
                <a:ext cx="264826" cy="283549"/>
              </a:xfrm>
              <a:custGeom>
                <a:avLst/>
                <a:gdLst/>
                <a:ahLst/>
                <a:cxnLst/>
                <a:rect l="l" t="t" r="r" b="b"/>
                <a:pathLst>
                  <a:path w="615874" h="659417" extrusionOk="0">
                    <a:moveTo>
                      <a:pt x="241372" y="551717"/>
                    </a:moveTo>
                    <a:cubicBezTo>
                      <a:pt x="271113" y="551717"/>
                      <a:pt x="295222" y="575826"/>
                      <a:pt x="295222" y="605567"/>
                    </a:cubicBezTo>
                    <a:cubicBezTo>
                      <a:pt x="295222" y="635308"/>
                      <a:pt x="271113" y="659417"/>
                      <a:pt x="241372" y="659417"/>
                    </a:cubicBezTo>
                    <a:cubicBezTo>
                      <a:pt x="211631" y="659417"/>
                      <a:pt x="187522" y="635308"/>
                      <a:pt x="187522" y="605567"/>
                    </a:cubicBezTo>
                    <a:cubicBezTo>
                      <a:pt x="187522" y="575826"/>
                      <a:pt x="211631" y="551717"/>
                      <a:pt x="241372" y="551717"/>
                    </a:cubicBezTo>
                    <a:close/>
                    <a:moveTo>
                      <a:pt x="422014" y="464089"/>
                    </a:moveTo>
                    <a:cubicBezTo>
                      <a:pt x="451876" y="464089"/>
                      <a:pt x="475864" y="488077"/>
                      <a:pt x="475864" y="517939"/>
                    </a:cubicBezTo>
                    <a:cubicBezTo>
                      <a:pt x="475864" y="547801"/>
                      <a:pt x="451876" y="571789"/>
                      <a:pt x="422014" y="571789"/>
                    </a:cubicBezTo>
                    <a:cubicBezTo>
                      <a:pt x="392152" y="571789"/>
                      <a:pt x="368164" y="547801"/>
                      <a:pt x="368164" y="517939"/>
                    </a:cubicBezTo>
                    <a:cubicBezTo>
                      <a:pt x="368164" y="488077"/>
                      <a:pt x="392152" y="464089"/>
                      <a:pt x="422014" y="464089"/>
                    </a:cubicBezTo>
                    <a:close/>
                    <a:moveTo>
                      <a:pt x="52752" y="378403"/>
                    </a:moveTo>
                    <a:cubicBezTo>
                      <a:pt x="59781" y="378265"/>
                      <a:pt x="66971" y="379520"/>
                      <a:pt x="73947" y="382335"/>
                    </a:cubicBezTo>
                    <a:cubicBezTo>
                      <a:pt x="101851" y="393105"/>
                      <a:pt x="115558" y="424436"/>
                      <a:pt x="104299" y="452340"/>
                    </a:cubicBezTo>
                    <a:cubicBezTo>
                      <a:pt x="93529" y="480244"/>
                      <a:pt x="62198" y="493951"/>
                      <a:pt x="34294" y="482692"/>
                    </a:cubicBezTo>
                    <a:cubicBezTo>
                      <a:pt x="6390" y="471922"/>
                      <a:pt x="-7318" y="440591"/>
                      <a:pt x="3942" y="412687"/>
                    </a:cubicBezTo>
                    <a:cubicBezTo>
                      <a:pt x="12020" y="391759"/>
                      <a:pt x="31663" y="378817"/>
                      <a:pt x="52752" y="378403"/>
                    </a:cubicBezTo>
                    <a:close/>
                    <a:moveTo>
                      <a:pt x="249450" y="303884"/>
                    </a:moveTo>
                    <a:cubicBezTo>
                      <a:pt x="239536" y="307066"/>
                      <a:pt x="230847" y="314042"/>
                      <a:pt x="225706" y="324078"/>
                    </a:cubicBezTo>
                    <a:cubicBezTo>
                      <a:pt x="215426" y="344150"/>
                      <a:pt x="223258" y="368627"/>
                      <a:pt x="243330" y="378907"/>
                    </a:cubicBezTo>
                    <a:cubicBezTo>
                      <a:pt x="244309" y="379397"/>
                      <a:pt x="245288" y="379397"/>
                      <a:pt x="246267" y="379397"/>
                    </a:cubicBezTo>
                    <a:cubicBezTo>
                      <a:pt x="248225" y="379397"/>
                      <a:pt x="250673" y="377928"/>
                      <a:pt x="251652" y="375970"/>
                    </a:cubicBezTo>
                    <a:cubicBezTo>
                      <a:pt x="253610" y="373033"/>
                      <a:pt x="252142" y="369117"/>
                      <a:pt x="249204" y="367648"/>
                    </a:cubicBezTo>
                    <a:cubicBezTo>
                      <a:pt x="235008" y="360305"/>
                      <a:pt x="229623" y="343171"/>
                      <a:pt x="236966" y="328974"/>
                    </a:cubicBezTo>
                    <a:cubicBezTo>
                      <a:pt x="244309" y="314777"/>
                      <a:pt x="261933" y="309392"/>
                      <a:pt x="275640" y="316735"/>
                    </a:cubicBezTo>
                    <a:cubicBezTo>
                      <a:pt x="282493" y="320162"/>
                      <a:pt x="287389" y="326037"/>
                      <a:pt x="289837" y="333380"/>
                    </a:cubicBezTo>
                    <a:cubicBezTo>
                      <a:pt x="292284" y="340233"/>
                      <a:pt x="291305" y="348066"/>
                      <a:pt x="287878" y="354920"/>
                    </a:cubicBezTo>
                    <a:cubicBezTo>
                      <a:pt x="285920" y="357857"/>
                      <a:pt x="287389" y="361773"/>
                      <a:pt x="290326" y="363242"/>
                    </a:cubicBezTo>
                    <a:lnTo>
                      <a:pt x="298226" y="360918"/>
                    </a:lnTo>
                    <a:lnTo>
                      <a:pt x="298159" y="361773"/>
                    </a:lnTo>
                    <a:lnTo>
                      <a:pt x="298648" y="360794"/>
                    </a:lnTo>
                    <a:lnTo>
                      <a:pt x="298226" y="360918"/>
                    </a:lnTo>
                    <a:lnTo>
                      <a:pt x="300607" y="330442"/>
                    </a:lnTo>
                    <a:cubicBezTo>
                      <a:pt x="297180" y="320162"/>
                      <a:pt x="290326" y="311350"/>
                      <a:pt x="280535" y="306455"/>
                    </a:cubicBezTo>
                    <a:cubicBezTo>
                      <a:pt x="270500" y="301314"/>
                      <a:pt x="259363" y="300702"/>
                      <a:pt x="249450" y="303884"/>
                    </a:cubicBezTo>
                    <a:close/>
                    <a:moveTo>
                      <a:pt x="562024" y="285405"/>
                    </a:moveTo>
                    <a:cubicBezTo>
                      <a:pt x="591886" y="285405"/>
                      <a:pt x="615874" y="309393"/>
                      <a:pt x="615874" y="339255"/>
                    </a:cubicBezTo>
                    <a:cubicBezTo>
                      <a:pt x="615874" y="369117"/>
                      <a:pt x="591886" y="393105"/>
                      <a:pt x="562024" y="393105"/>
                    </a:cubicBezTo>
                    <a:cubicBezTo>
                      <a:pt x="532162" y="393105"/>
                      <a:pt x="508174" y="369117"/>
                      <a:pt x="508174" y="339255"/>
                    </a:cubicBezTo>
                    <a:cubicBezTo>
                      <a:pt x="508174" y="309393"/>
                      <a:pt x="532162" y="285405"/>
                      <a:pt x="562024" y="285405"/>
                    </a:cubicBezTo>
                    <a:close/>
                    <a:moveTo>
                      <a:pt x="392641" y="201692"/>
                    </a:moveTo>
                    <a:lnTo>
                      <a:pt x="402432" y="212462"/>
                    </a:lnTo>
                    <a:lnTo>
                      <a:pt x="314803" y="289810"/>
                    </a:lnTo>
                    <a:cubicBezTo>
                      <a:pt x="329000" y="303517"/>
                      <a:pt x="337812" y="322120"/>
                      <a:pt x="337812" y="343171"/>
                    </a:cubicBezTo>
                    <a:cubicBezTo>
                      <a:pt x="337812" y="363242"/>
                      <a:pt x="329979" y="381355"/>
                      <a:pt x="317251" y="394573"/>
                    </a:cubicBezTo>
                    <a:lnTo>
                      <a:pt x="370122" y="448912"/>
                    </a:lnTo>
                    <a:lnTo>
                      <a:pt x="368653" y="448423"/>
                    </a:lnTo>
                    <a:lnTo>
                      <a:pt x="358373" y="458703"/>
                    </a:lnTo>
                    <a:lnTo>
                      <a:pt x="305013" y="403874"/>
                    </a:lnTo>
                    <a:cubicBezTo>
                      <a:pt x="292774" y="412686"/>
                      <a:pt x="278087" y="417581"/>
                      <a:pt x="262422" y="417581"/>
                    </a:cubicBezTo>
                    <a:cubicBezTo>
                      <a:pt x="261933" y="417581"/>
                      <a:pt x="260464" y="417581"/>
                      <a:pt x="260464" y="417581"/>
                    </a:cubicBezTo>
                    <a:lnTo>
                      <a:pt x="252631" y="531156"/>
                    </a:lnTo>
                    <a:lnTo>
                      <a:pt x="237945" y="530177"/>
                    </a:lnTo>
                    <a:lnTo>
                      <a:pt x="245778" y="415623"/>
                    </a:lnTo>
                    <a:cubicBezTo>
                      <a:pt x="224238" y="410728"/>
                      <a:pt x="206124" y="396042"/>
                      <a:pt x="196333" y="376460"/>
                    </a:cubicBezTo>
                    <a:lnTo>
                      <a:pt x="133672" y="411217"/>
                    </a:lnTo>
                    <a:lnTo>
                      <a:pt x="126818" y="398489"/>
                    </a:lnTo>
                    <a:lnTo>
                      <a:pt x="191438" y="363242"/>
                    </a:lnTo>
                    <a:cubicBezTo>
                      <a:pt x="189480" y="356878"/>
                      <a:pt x="188501" y="350514"/>
                      <a:pt x="188501" y="343660"/>
                    </a:cubicBezTo>
                    <a:cubicBezTo>
                      <a:pt x="188501" y="324078"/>
                      <a:pt x="196333" y="305965"/>
                      <a:pt x="209062" y="292747"/>
                    </a:cubicBezTo>
                    <a:lnTo>
                      <a:pt x="172346" y="251136"/>
                    </a:lnTo>
                    <a:lnTo>
                      <a:pt x="183116" y="241345"/>
                    </a:lnTo>
                    <a:lnTo>
                      <a:pt x="219832" y="282957"/>
                    </a:lnTo>
                    <a:cubicBezTo>
                      <a:pt x="232070" y="274634"/>
                      <a:pt x="246757" y="269249"/>
                      <a:pt x="262912" y="269249"/>
                    </a:cubicBezTo>
                    <a:cubicBezTo>
                      <a:pt x="278087" y="269249"/>
                      <a:pt x="291305" y="273655"/>
                      <a:pt x="303054" y="280998"/>
                    </a:cubicBezTo>
                    <a:close/>
                    <a:moveTo>
                      <a:pt x="463625" y="103294"/>
                    </a:moveTo>
                    <a:cubicBezTo>
                      <a:pt x="493487" y="103294"/>
                      <a:pt x="517475" y="127282"/>
                      <a:pt x="517475" y="157144"/>
                    </a:cubicBezTo>
                    <a:cubicBezTo>
                      <a:pt x="517475" y="175257"/>
                      <a:pt x="507684" y="190433"/>
                      <a:pt x="493977" y="200224"/>
                    </a:cubicBezTo>
                    <a:lnTo>
                      <a:pt x="534120" y="269739"/>
                    </a:lnTo>
                    <a:lnTo>
                      <a:pt x="521391" y="277083"/>
                    </a:lnTo>
                    <a:lnTo>
                      <a:pt x="481249" y="207078"/>
                    </a:lnTo>
                    <a:cubicBezTo>
                      <a:pt x="475864" y="209036"/>
                      <a:pt x="469989" y="210504"/>
                      <a:pt x="463625" y="210504"/>
                    </a:cubicBezTo>
                    <a:lnTo>
                      <a:pt x="463625" y="210994"/>
                    </a:lnTo>
                    <a:cubicBezTo>
                      <a:pt x="433763" y="210994"/>
                      <a:pt x="409775" y="187006"/>
                      <a:pt x="409775" y="157144"/>
                    </a:cubicBezTo>
                    <a:cubicBezTo>
                      <a:pt x="409775" y="127282"/>
                      <a:pt x="433763" y="103294"/>
                      <a:pt x="463625" y="103294"/>
                    </a:cubicBezTo>
                    <a:close/>
                    <a:moveTo>
                      <a:pt x="217384" y="103294"/>
                    </a:moveTo>
                    <a:lnTo>
                      <a:pt x="227175" y="114554"/>
                    </a:lnTo>
                    <a:lnTo>
                      <a:pt x="176262" y="158613"/>
                    </a:lnTo>
                    <a:cubicBezTo>
                      <a:pt x="180668" y="166445"/>
                      <a:pt x="184095" y="175257"/>
                      <a:pt x="184095" y="185048"/>
                    </a:cubicBezTo>
                    <a:cubicBezTo>
                      <a:pt x="184095" y="214910"/>
                      <a:pt x="160107" y="238898"/>
                      <a:pt x="130245" y="238898"/>
                    </a:cubicBezTo>
                    <a:lnTo>
                      <a:pt x="129755" y="238409"/>
                    </a:lnTo>
                    <a:cubicBezTo>
                      <a:pt x="99893" y="238409"/>
                      <a:pt x="75905" y="214421"/>
                      <a:pt x="75905" y="184559"/>
                    </a:cubicBezTo>
                    <a:cubicBezTo>
                      <a:pt x="75905" y="154696"/>
                      <a:pt x="99893" y="130709"/>
                      <a:pt x="129755" y="130709"/>
                    </a:cubicBezTo>
                    <a:cubicBezTo>
                      <a:pt x="144441" y="130709"/>
                      <a:pt x="157659" y="136583"/>
                      <a:pt x="167450" y="146374"/>
                    </a:cubicBezTo>
                    <a:close/>
                    <a:moveTo>
                      <a:pt x="287389" y="0"/>
                    </a:moveTo>
                    <a:cubicBezTo>
                      <a:pt x="317251" y="0"/>
                      <a:pt x="341239" y="23988"/>
                      <a:pt x="341239" y="53850"/>
                    </a:cubicBezTo>
                    <a:cubicBezTo>
                      <a:pt x="341239" y="83712"/>
                      <a:pt x="317251" y="107700"/>
                      <a:pt x="287389" y="107700"/>
                    </a:cubicBezTo>
                    <a:cubicBezTo>
                      <a:pt x="257527" y="107700"/>
                      <a:pt x="233539" y="83712"/>
                      <a:pt x="233539" y="53850"/>
                    </a:cubicBezTo>
                    <a:cubicBezTo>
                      <a:pt x="233539" y="23988"/>
                      <a:pt x="257527" y="0"/>
                      <a:pt x="287389" y="0"/>
                    </a:cubicBezTo>
                    <a:close/>
                  </a:path>
                </a:pathLst>
              </a:custGeom>
              <a:solidFill>
                <a:srgbClr val="505E9C"/>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nvGrpSpPr>
            <p:cNvPr id="3118" name="Google Shape;3118;p147"/>
            <p:cNvGrpSpPr/>
            <p:nvPr/>
          </p:nvGrpSpPr>
          <p:grpSpPr>
            <a:xfrm>
              <a:off x="6190570" y="2835690"/>
              <a:ext cx="2479116" cy="141975"/>
              <a:chOff x="4441917" y="5666198"/>
              <a:chExt cx="3304607" cy="189300"/>
            </a:xfrm>
          </p:grpSpPr>
          <p:cxnSp>
            <p:nvCxnSpPr>
              <p:cNvPr id="3119" name="Google Shape;3119;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120" name="Google Shape;3120;p147"/>
              <p:cNvGrpSpPr/>
              <p:nvPr/>
            </p:nvGrpSpPr>
            <p:grpSpPr>
              <a:xfrm>
                <a:off x="4441917" y="5666198"/>
                <a:ext cx="3304607" cy="189300"/>
                <a:chOff x="908260" y="5666198"/>
                <a:chExt cx="10372275" cy="189300"/>
              </a:xfrm>
            </p:grpSpPr>
            <p:sp>
              <p:nvSpPr>
                <p:cNvPr id="3121" name="Google Shape;3121;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22" name="Google Shape;3122;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grpSp>
        <p:nvGrpSpPr>
          <p:cNvPr id="3123" name="Google Shape;3123;p147"/>
          <p:cNvGrpSpPr/>
          <p:nvPr/>
        </p:nvGrpSpPr>
        <p:grpSpPr>
          <a:xfrm>
            <a:off x="398995" y="3314461"/>
            <a:ext cx="3914214" cy="1496633"/>
            <a:chOff x="134015" y="2210186"/>
            <a:chExt cx="2936425" cy="1122767"/>
          </a:xfrm>
        </p:grpSpPr>
        <p:sp>
          <p:nvSpPr>
            <p:cNvPr id="3124" name="Google Shape;3124;p147"/>
            <p:cNvSpPr/>
            <p:nvPr/>
          </p:nvSpPr>
          <p:spPr>
            <a:xfrm>
              <a:off x="260688" y="2249357"/>
              <a:ext cx="2769000" cy="977700"/>
            </a:xfrm>
            <a:prstGeom prst="roundRect">
              <a:avLst>
                <a:gd name="adj" fmla="val 7011"/>
              </a:avLst>
            </a:prstGeom>
            <a:noFill/>
            <a:ln w="9525" cap="flat" cmpd="sng">
              <a:solidFill>
                <a:srgbClr val="2479AF"/>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25" name="Google Shape;3125;p147"/>
            <p:cNvSpPr/>
            <p:nvPr/>
          </p:nvSpPr>
          <p:spPr>
            <a:xfrm>
              <a:off x="220140" y="2355253"/>
              <a:ext cx="2850300" cy="977700"/>
            </a:xfrm>
            <a:prstGeom prst="rect">
              <a:avLst/>
            </a:prstGeom>
            <a:gradFill>
              <a:gsLst>
                <a:gs pos="0">
                  <a:srgbClr val="FFFFFF">
                    <a:alpha val="0"/>
                  </a:srgbClr>
                </a:gs>
                <a:gs pos="72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3126" name="Google Shape;3126;p147"/>
            <p:cNvGrpSpPr/>
            <p:nvPr/>
          </p:nvGrpSpPr>
          <p:grpSpPr>
            <a:xfrm>
              <a:off x="400566" y="2210186"/>
              <a:ext cx="2489389" cy="308475"/>
              <a:chOff x="576977" y="2302414"/>
              <a:chExt cx="3318300" cy="411300"/>
            </a:xfrm>
          </p:grpSpPr>
          <p:sp>
            <p:nvSpPr>
              <p:cNvPr id="3127" name="Google Shape;3127;p147"/>
              <p:cNvSpPr/>
              <p:nvPr/>
            </p:nvSpPr>
            <p:spPr>
              <a:xfrm>
                <a:off x="576977" y="2302414"/>
                <a:ext cx="3318300" cy="411300"/>
              </a:xfrm>
              <a:prstGeom prst="roundRect">
                <a:avLst>
                  <a:gd name="adj" fmla="val 50000"/>
                </a:avLst>
              </a:prstGeom>
              <a:solidFill>
                <a:srgbClr val="2479A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Advanced Security</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28" name="Google Shape;3128;p147"/>
              <p:cNvSpPr/>
              <p:nvPr/>
            </p:nvSpPr>
            <p:spPr>
              <a:xfrm>
                <a:off x="595681" y="2321064"/>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29" name="Google Shape;3129;p147"/>
              <p:cNvSpPr/>
              <p:nvPr/>
            </p:nvSpPr>
            <p:spPr>
              <a:xfrm>
                <a:off x="656856" y="2359265"/>
                <a:ext cx="251246" cy="296891"/>
              </a:xfrm>
              <a:custGeom>
                <a:avLst/>
                <a:gdLst/>
                <a:ahLst/>
                <a:cxnLst/>
                <a:rect l="l" t="t" r="r" b="b"/>
                <a:pathLst>
                  <a:path w="591167" h="698566" extrusionOk="0">
                    <a:moveTo>
                      <a:pt x="295583" y="370656"/>
                    </a:moveTo>
                    <a:cubicBezTo>
                      <a:pt x="282790" y="370656"/>
                      <a:pt x="272405" y="381041"/>
                      <a:pt x="272405" y="393835"/>
                    </a:cubicBezTo>
                    <a:cubicBezTo>
                      <a:pt x="272405" y="401711"/>
                      <a:pt x="276318" y="408635"/>
                      <a:pt x="282339" y="412849"/>
                    </a:cubicBezTo>
                    <a:lnTo>
                      <a:pt x="282339" y="433569"/>
                    </a:lnTo>
                    <a:cubicBezTo>
                      <a:pt x="282339" y="440894"/>
                      <a:pt x="288259" y="446814"/>
                      <a:pt x="295583" y="446814"/>
                    </a:cubicBezTo>
                    <a:cubicBezTo>
                      <a:pt x="302908" y="446814"/>
                      <a:pt x="308828" y="440894"/>
                      <a:pt x="308828" y="433569"/>
                    </a:cubicBezTo>
                    <a:lnTo>
                      <a:pt x="308828" y="412849"/>
                    </a:lnTo>
                    <a:cubicBezTo>
                      <a:pt x="314849" y="408685"/>
                      <a:pt x="318762" y="401711"/>
                      <a:pt x="318762" y="393835"/>
                    </a:cubicBezTo>
                    <a:cubicBezTo>
                      <a:pt x="318762" y="381041"/>
                      <a:pt x="308377" y="370656"/>
                      <a:pt x="295583" y="370656"/>
                    </a:cubicBezTo>
                    <a:close/>
                    <a:moveTo>
                      <a:pt x="295583" y="327560"/>
                    </a:moveTo>
                    <a:cubicBezTo>
                      <a:pt x="341288" y="327560"/>
                      <a:pt x="378364" y="364636"/>
                      <a:pt x="378364" y="410340"/>
                    </a:cubicBezTo>
                    <a:cubicBezTo>
                      <a:pt x="378364" y="456045"/>
                      <a:pt x="341288" y="493121"/>
                      <a:pt x="295583" y="493121"/>
                    </a:cubicBezTo>
                    <a:cubicBezTo>
                      <a:pt x="249879" y="493121"/>
                      <a:pt x="212803" y="456045"/>
                      <a:pt x="212803" y="410340"/>
                    </a:cubicBezTo>
                    <a:cubicBezTo>
                      <a:pt x="212803" y="364636"/>
                      <a:pt x="249828" y="327560"/>
                      <a:pt x="295583" y="327560"/>
                    </a:cubicBezTo>
                    <a:close/>
                    <a:moveTo>
                      <a:pt x="295584" y="208557"/>
                    </a:moveTo>
                    <a:cubicBezTo>
                      <a:pt x="319364" y="208557"/>
                      <a:pt x="338630" y="227822"/>
                      <a:pt x="338630" y="251603"/>
                    </a:cubicBezTo>
                    <a:lnTo>
                      <a:pt x="338630" y="302676"/>
                    </a:lnTo>
                    <a:cubicBezTo>
                      <a:pt x="325335" y="297308"/>
                      <a:pt x="310785" y="294398"/>
                      <a:pt x="295584" y="294398"/>
                    </a:cubicBezTo>
                    <a:cubicBezTo>
                      <a:pt x="280382" y="294398"/>
                      <a:pt x="265833" y="297358"/>
                      <a:pt x="252538" y="302676"/>
                    </a:cubicBezTo>
                    <a:lnTo>
                      <a:pt x="252538" y="251603"/>
                    </a:lnTo>
                    <a:cubicBezTo>
                      <a:pt x="252538" y="227822"/>
                      <a:pt x="271803" y="208557"/>
                      <a:pt x="295584" y="208557"/>
                    </a:cubicBezTo>
                    <a:close/>
                    <a:moveTo>
                      <a:pt x="295533" y="175444"/>
                    </a:moveTo>
                    <a:cubicBezTo>
                      <a:pt x="253491" y="175444"/>
                      <a:pt x="219375" y="209510"/>
                      <a:pt x="219375" y="251602"/>
                    </a:cubicBezTo>
                    <a:lnTo>
                      <a:pt x="219375" y="322944"/>
                    </a:lnTo>
                    <a:cubicBezTo>
                      <a:pt x="195043" y="344216"/>
                      <a:pt x="179641" y="375472"/>
                      <a:pt x="179641" y="410340"/>
                    </a:cubicBezTo>
                    <a:cubicBezTo>
                      <a:pt x="179641" y="458390"/>
                      <a:pt x="208849" y="499583"/>
                      <a:pt x="250460" y="517176"/>
                    </a:cubicBezTo>
                    <a:lnTo>
                      <a:pt x="295533" y="526273"/>
                    </a:lnTo>
                    <a:lnTo>
                      <a:pt x="295483" y="526283"/>
                    </a:lnTo>
                    <a:lnTo>
                      <a:pt x="295583" y="526283"/>
                    </a:lnTo>
                    <a:lnTo>
                      <a:pt x="295533" y="526273"/>
                    </a:lnTo>
                    <a:lnTo>
                      <a:pt x="340628" y="517169"/>
                    </a:lnTo>
                    <a:cubicBezTo>
                      <a:pt x="382246" y="499564"/>
                      <a:pt x="411426" y="458353"/>
                      <a:pt x="411426" y="410340"/>
                    </a:cubicBezTo>
                    <a:cubicBezTo>
                      <a:pt x="411426" y="375472"/>
                      <a:pt x="396024" y="344216"/>
                      <a:pt x="371691" y="322944"/>
                    </a:cubicBezTo>
                    <a:lnTo>
                      <a:pt x="371691" y="251602"/>
                    </a:lnTo>
                    <a:cubicBezTo>
                      <a:pt x="371691" y="209560"/>
                      <a:pt x="337576" y="175444"/>
                      <a:pt x="295533" y="175444"/>
                    </a:cubicBezTo>
                    <a:close/>
                    <a:moveTo>
                      <a:pt x="295583" y="0"/>
                    </a:moveTo>
                    <a:cubicBezTo>
                      <a:pt x="295583" y="0"/>
                      <a:pt x="406459" y="77613"/>
                      <a:pt x="581602" y="77613"/>
                    </a:cubicBezTo>
                    <a:cubicBezTo>
                      <a:pt x="653596" y="566619"/>
                      <a:pt x="295583" y="698566"/>
                      <a:pt x="295583" y="698566"/>
                    </a:cubicBezTo>
                    <a:cubicBezTo>
                      <a:pt x="295583" y="698566"/>
                      <a:pt x="-62429" y="566619"/>
                      <a:pt x="9565" y="77613"/>
                    </a:cubicBezTo>
                    <a:cubicBezTo>
                      <a:pt x="184658" y="77613"/>
                      <a:pt x="295583" y="0"/>
                      <a:pt x="295583" y="0"/>
                    </a:cubicBezTo>
                    <a:close/>
                  </a:path>
                </a:pathLst>
              </a:custGeom>
              <a:solidFill>
                <a:srgbClr val="2479A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nvGrpSpPr>
            <p:cNvPr id="3130" name="Google Shape;3130;p147"/>
            <p:cNvGrpSpPr/>
            <p:nvPr/>
          </p:nvGrpSpPr>
          <p:grpSpPr>
            <a:xfrm>
              <a:off x="416917" y="2835690"/>
              <a:ext cx="2479116" cy="141975"/>
              <a:chOff x="4441917" y="5666198"/>
              <a:chExt cx="3304607" cy="189300"/>
            </a:xfrm>
          </p:grpSpPr>
          <p:cxnSp>
            <p:nvCxnSpPr>
              <p:cNvPr id="3131" name="Google Shape;3131;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132" name="Google Shape;3132;p147"/>
              <p:cNvGrpSpPr/>
              <p:nvPr/>
            </p:nvGrpSpPr>
            <p:grpSpPr>
              <a:xfrm>
                <a:off x="4441917" y="5666198"/>
                <a:ext cx="3304607" cy="189300"/>
                <a:chOff x="908260" y="5666198"/>
                <a:chExt cx="10372275" cy="189300"/>
              </a:xfrm>
            </p:grpSpPr>
            <p:sp>
              <p:nvSpPr>
                <p:cNvPr id="3133" name="Google Shape;3133;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34" name="Google Shape;3134;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sp>
          <p:nvSpPr>
            <p:cNvPr id="3135" name="Google Shape;3135;p147"/>
            <p:cNvSpPr/>
            <p:nvPr/>
          </p:nvSpPr>
          <p:spPr>
            <a:xfrm>
              <a:off x="134015" y="247756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vDefend</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Firewall</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36" name="Google Shape;3136;p147"/>
            <p:cNvSpPr/>
            <p:nvPr/>
          </p:nvSpPr>
          <p:spPr>
            <a:xfrm>
              <a:off x="1391642" y="247756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vDefend</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Firewall w/ATP</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137" name="Google Shape;3137;p147"/>
          <p:cNvGrpSpPr/>
          <p:nvPr/>
        </p:nvGrpSpPr>
        <p:grpSpPr>
          <a:xfrm>
            <a:off x="3988830" y="5122657"/>
            <a:ext cx="4210903" cy="1605156"/>
            <a:chOff x="2992402" y="3842323"/>
            <a:chExt cx="3159000" cy="1204180"/>
          </a:xfrm>
        </p:grpSpPr>
        <p:sp>
          <p:nvSpPr>
            <p:cNvPr id="3138" name="Google Shape;3138;p147"/>
            <p:cNvSpPr/>
            <p:nvPr/>
          </p:nvSpPr>
          <p:spPr>
            <a:xfrm>
              <a:off x="3187399" y="4010909"/>
              <a:ext cx="2769000" cy="929100"/>
            </a:xfrm>
            <a:prstGeom prst="roundRect">
              <a:avLst>
                <a:gd name="adj" fmla="val 11051"/>
              </a:avLst>
            </a:prstGeom>
            <a:noFill/>
            <a:ln w="9525" cap="flat" cmpd="sng">
              <a:solidFill>
                <a:srgbClr val="4B619F"/>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39" name="Google Shape;3139;p147"/>
            <p:cNvSpPr/>
            <p:nvPr/>
          </p:nvSpPr>
          <p:spPr>
            <a:xfrm>
              <a:off x="2992402" y="4044803"/>
              <a:ext cx="3159000" cy="1001700"/>
            </a:xfrm>
            <a:prstGeom prst="rect">
              <a:avLst/>
            </a:prstGeom>
            <a:gradFill>
              <a:gsLst>
                <a:gs pos="0">
                  <a:srgbClr val="FFFFFF">
                    <a:alpha val="0"/>
                  </a:srgbClr>
                </a:gs>
                <a:gs pos="72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140" name="Google Shape;3140;p147"/>
            <p:cNvGrpSpPr/>
            <p:nvPr/>
          </p:nvGrpSpPr>
          <p:grpSpPr>
            <a:xfrm>
              <a:off x="3326970" y="3842323"/>
              <a:ext cx="2490064" cy="308475"/>
              <a:chOff x="4665350" y="5123097"/>
              <a:chExt cx="3319200" cy="411300"/>
            </a:xfrm>
          </p:grpSpPr>
          <p:sp>
            <p:nvSpPr>
              <p:cNvPr id="3141" name="Google Shape;3141;p147"/>
              <p:cNvSpPr/>
              <p:nvPr/>
            </p:nvSpPr>
            <p:spPr>
              <a:xfrm>
                <a:off x="4665350" y="5123097"/>
                <a:ext cx="3319200" cy="411300"/>
              </a:xfrm>
              <a:prstGeom prst="roundRect">
                <a:avLst>
                  <a:gd name="adj" fmla="val 50000"/>
                </a:avLst>
              </a:prstGeom>
              <a:solidFill>
                <a:srgbClr val="4B619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Application Services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42" name="Google Shape;3142;p147"/>
              <p:cNvSpPr/>
              <p:nvPr/>
            </p:nvSpPr>
            <p:spPr>
              <a:xfrm>
                <a:off x="4684055" y="5141747"/>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43" name="Google Shape;3143;p147"/>
              <p:cNvSpPr/>
              <p:nvPr/>
            </p:nvSpPr>
            <p:spPr>
              <a:xfrm>
                <a:off x="4744386" y="5201618"/>
                <a:ext cx="255224" cy="255043"/>
              </a:xfrm>
              <a:custGeom>
                <a:avLst/>
                <a:gdLst/>
                <a:ahLst/>
                <a:cxnLst/>
                <a:rect l="l" t="t" r="r" b="b"/>
                <a:pathLst>
                  <a:path w="308428" h="308209" extrusionOk="0">
                    <a:moveTo>
                      <a:pt x="67832" y="113712"/>
                    </a:moveTo>
                    <a:lnTo>
                      <a:pt x="77711" y="137201"/>
                    </a:lnTo>
                    <a:lnTo>
                      <a:pt x="57954" y="137201"/>
                    </a:lnTo>
                    <a:close/>
                    <a:moveTo>
                      <a:pt x="185277" y="109761"/>
                    </a:moveTo>
                    <a:lnTo>
                      <a:pt x="198229" y="109761"/>
                    </a:lnTo>
                    <a:cubicBezTo>
                      <a:pt x="201741" y="109761"/>
                      <a:pt x="204595" y="110639"/>
                      <a:pt x="206790" y="112176"/>
                    </a:cubicBezTo>
                    <a:cubicBezTo>
                      <a:pt x="208985" y="113712"/>
                      <a:pt x="210083" y="116127"/>
                      <a:pt x="210083" y="118761"/>
                    </a:cubicBezTo>
                    <a:cubicBezTo>
                      <a:pt x="210083" y="121396"/>
                      <a:pt x="208985" y="123591"/>
                      <a:pt x="206790" y="125347"/>
                    </a:cubicBezTo>
                    <a:lnTo>
                      <a:pt x="206790" y="125567"/>
                    </a:lnTo>
                    <a:cubicBezTo>
                      <a:pt x="204595" y="127103"/>
                      <a:pt x="201741" y="127981"/>
                      <a:pt x="198229" y="127981"/>
                    </a:cubicBezTo>
                    <a:lnTo>
                      <a:pt x="185277" y="127981"/>
                    </a:lnTo>
                    <a:close/>
                    <a:moveTo>
                      <a:pt x="122713" y="109761"/>
                    </a:moveTo>
                    <a:lnTo>
                      <a:pt x="135665" y="109761"/>
                    </a:lnTo>
                    <a:cubicBezTo>
                      <a:pt x="139177" y="109761"/>
                      <a:pt x="142031" y="110639"/>
                      <a:pt x="144226" y="112176"/>
                    </a:cubicBezTo>
                    <a:cubicBezTo>
                      <a:pt x="146421" y="113712"/>
                      <a:pt x="147519" y="116127"/>
                      <a:pt x="147519" y="118761"/>
                    </a:cubicBezTo>
                    <a:cubicBezTo>
                      <a:pt x="147519" y="121396"/>
                      <a:pt x="146421" y="123591"/>
                      <a:pt x="144226" y="125347"/>
                    </a:cubicBezTo>
                    <a:lnTo>
                      <a:pt x="144226" y="125567"/>
                    </a:lnTo>
                    <a:cubicBezTo>
                      <a:pt x="142031" y="127103"/>
                      <a:pt x="139177" y="127981"/>
                      <a:pt x="135665" y="127981"/>
                    </a:cubicBezTo>
                    <a:lnTo>
                      <a:pt x="122713" y="127981"/>
                    </a:lnTo>
                    <a:close/>
                    <a:moveTo>
                      <a:pt x="175398" y="100322"/>
                    </a:moveTo>
                    <a:lnTo>
                      <a:pt x="175179" y="100541"/>
                    </a:lnTo>
                    <a:lnTo>
                      <a:pt x="175179" y="156300"/>
                    </a:lnTo>
                    <a:lnTo>
                      <a:pt x="185277" y="156300"/>
                    </a:lnTo>
                    <a:lnTo>
                      <a:pt x="185277" y="137640"/>
                    </a:lnTo>
                    <a:lnTo>
                      <a:pt x="199546" y="137640"/>
                    </a:lnTo>
                    <a:cubicBezTo>
                      <a:pt x="203277" y="137640"/>
                      <a:pt x="206790" y="136762"/>
                      <a:pt x="210083" y="135226"/>
                    </a:cubicBezTo>
                    <a:cubicBezTo>
                      <a:pt x="213156" y="133689"/>
                      <a:pt x="215790" y="131494"/>
                      <a:pt x="217546" y="128640"/>
                    </a:cubicBezTo>
                    <a:cubicBezTo>
                      <a:pt x="219302" y="125786"/>
                      <a:pt x="220181" y="122713"/>
                      <a:pt x="220181" y="118981"/>
                    </a:cubicBezTo>
                    <a:cubicBezTo>
                      <a:pt x="220181" y="115249"/>
                      <a:pt x="219302" y="112176"/>
                      <a:pt x="217546" y="109322"/>
                    </a:cubicBezTo>
                    <a:cubicBezTo>
                      <a:pt x="215790" y="106468"/>
                      <a:pt x="213375" y="104273"/>
                      <a:pt x="210083" y="102736"/>
                    </a:cubicBezTo>
                    <a:cubicBezTo>
                      <a:pt x="207009" y="101200"/>
                      <a:pt x="203497" y="100322"/>
                      <a:pt x="199546" y="100322"/>
                    </a:cubicBezTo>
                    <a:close/>
                    <a:moveTo>
                      <a:pt x="112834" y="100322"/>
                    </a:moveTo>
                    <a:lnTo>
                      <a:pt x="112615" y="100541"/>
                    </a:lnTo>
                    <a:lnTo>
                      <a:pt x="112615" y="156300"/>
                    </a:lnTo>
                    <a:lnTo>
                      <a:pt x="122713" y="156300"/>
                    </a:lnTo>
                    <a:lnTo>
                      <a:pt x="122713" y="137640"/>
                    </a:lnTo>
                    <a:lnTo>
                      <a:pt x="136982" y="137640"/>
                    </a:lnTo>
                    <a:cubicBezTo>
                      <a:pt x="140714" y="137640"/>
                      <a:pt x="144226" y="136762"/>
                      <a:pt x="147519" y="135226"/>
                    </a:cubicBezTo>
                    <a:cubicBezTo>
                      <a:pt x="150592" y="133689"/>
                      <a:pt x="153226" y="131494"/>
                      <a:pt x="154983" y="128640"/>
                    </a:cubicBezTo>
                    <a:cubicBezTo>
                      <a:pt x="156739" y="125786"/>
                      <a:pt x="157617" y="122713"/>
                      <a:pt x="157617" y="118981"/>
                    </a:cubicBezTo>
                    <a:cubicBezTo>
                      <a:pt x="157617" y="115249"/>
                      <a:pt x="156739" y="112176"/>
                      <a:pt x="154983" y="109322"/>
                    </a:cubicBezTo>
                    <a:cubicBezTo>
                      <a:pt x="153226" y="106468"/>
                      <a:pt x="150812" y="104273"/>
                      <a:pt x="147519" y="102736"/>
                    </a:cubicBezTo>
                    <a:cubicBezTo>
                      <a:pt x="144445" y="101200"/>
                      <a:pt x="140933" y="100322"/>
                      <a:pt x="136982" y="100322"/>
                    </a:cubicBezTo>
                    <a:close/>
                    <a:moveTo>
                      <a:pt x="62125" y="100102"/>
                    </a:moveTo>
                    <a:lnTo>
                      <a:pt x="38855" y="155861"/>
                    </a:lnTo>
                    <a:lnTo>
                      <a:pt x="50051" y="155861"/>
                    </a:lnTo>
                    <a:lnTo>
                      <a:pt x="54441" y="145324"/>
                    </a:lnTo>
                    <a:lnTo>
                      <a:pt x="81004" y="145324"/>
                    </a:lnTo>
                    <a:lnTo>
                      <a:pt x="85394" y="155861"/>
                    </a:lnTo>
                    <a:lnTo>
                      <a:pt x="96590" y="155861"/>
                    </a:lnTo>
                    <a:lnTo>
                      <a:pt x="73320" y="100102"/>
                    </a:lnTo>
                    <a:close/>
                    <a:moveTo>
                      <a:pt x="265402" y="48734"/>
                    </a:moveTo>
                    <a:lnTo>
                      <a:pt x="265402" y="245206"/>
                    </a:lnTo>
                    <a:cubicBezTo>
                      <a:pt x="265402" y="256402"/>
                      <a:pt x="256402" y="265402"/>
                      <a:pt x="245206" y="265402"/>
                    </a:cubicBezTo>
                    <a:lnTo>
                      <a:pt x="48734" y="265402"/>
                    </a:lnTo>
                    <a:lnTo>
                      <a:pt x="48734" y="279891"/>
                    </a:lnTo>
                    <a:cubicBezTo>
                      <a:pt x="48734" y="285818"/>
                      <a:pt x="53563" y="290867"/>
                      <a:pt x="59710" y="290867"/>
                    </a:cubicBezTo>
                    <a:lnTo>
                      <a:pt x="279891" y="290867"/>
                    </a:lnTo>
                    <a:cubicBezTo>
                      <a:pt x="285818" y="290867"/>
                      <a:pt x="290867" y="286037"/>
                      <a:pt x="290867" y="279891"/>
                    </a:cubicBezTo>
                    <a:lnTo>
                      <a:pt x="290867" y="59710"/>
                    </a:lnTo>
                    <a:cubicBezTo>
                      <a:pt x="290867" y="53783"/>
                      <a:pt x="286037" y="48734"/>
                      <a:pt x="279891" y="48734"/>
                    </a:cubicBezTo>
                    <a:close/>
                    <a:moveTo>
                      <a:pt x="20196" y="0"/>
                    </a:moveTo>
                    <a:lnTo>
                      <a:pt x="245206" y="0"/>
                    </a:lnTo>
                    <a:cubicBezTo>
                      <a:pt x="256402" y="0"/>
                      <a:pt x="265402" y="9000"/>
                      <a:pt x="265402" y="20196"/>
                    </a:cubicBezTo>
                    <a:lnTo>
                      <a:pt x="265402" y="31172"/>
                    </a:lnTo>
                    <a:lnTo>
                      <a:pt x="279891" y="31172"/>
                    </a:lnTo>
                    <a:lnTo>
                      <a:pt x="279891" y="31392"/>
                    </a:lnTo>
                    <a:cubicBezTo>
                      <a:pt x="295696" y="31392"/>
                      <a:pt x="308428" y="44124"/>
                      <a:pt x="308428" y="59930"/>
                    </a:cubicBezTo>
                    <a:lnTo>
                      <a:pt x="308428" y="279671"/>
                    </a:lnTo>
                    <a:cubicBezTo>
                      <a:pt x="308428" y="295477"/>
                      <a:pt x="295696" y="308209"/>
                      <a:pt x="279891" y="308209"/>
                    </a:cubicBezTo>
                    <a:lnTo>
                      <a:pt x="59710" y="308209"/>
                    </a:lnTo>
                    <a:cubicBezTo>
                      <a:pt x="43904" y="308209"/>
                      <a:pt x="31172" y="295477"/>
                      <a:pt x="31172" y="279671"/>
                    </a:cubicBezTo>
                    <a:lnTo>
                      <a:pt x="31172" y="265183"/>
                    </a:lnTo>
                    <a:lnTo>
                      <a:pt x="20196" y="265183"/>
                    </a:lnTo>
                    <a:cubicBezTo>
                      <a:pt x="9000" y="265183"/>
                      <a:pt x="0" y="256182"/>
                      <a:pt x="0" y="244987"/>
                    </a:cubicBezTo>
                    <a:lnTo>
                      <a:pt x="0" y="20196"/>
                    </a:lnTo>
                    <a:cubicBezTo>
                      <a:pt x="0" y="9000"/>
                      <a:pt x="9000" y="0"/>
                      <a:pt x="20196" y="0"/>
                    </a:cubicBezTo>
                    <a:close/>
                  </a:path>
                </a:pathLst>
              </a:custGeom>
              <a:solidFill>
                <a:srgbClr val="4B619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sp>
          <p:nvSpPr>
            <p:cNvPr id="3144" name="Google Shape;3144;p147"/>
            <p:cNvSpPr/>
            <p:nvPr/>
          </p:nvSpPr>
          <p:spPr>
            <a:xfrm>
              <a:off x="3278084" y="413491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Tanzu </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Platform</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145" name="Google Shape;3145;p147"/>
            <p:cNvGrpSpPr/>
            <p:nvPr/>
          </p:nvGrpSpPr>
          <p:grpSpPr>
            <a:xfrm>
              <a:off x="3332326" y="4778790"/>
              <a:ext cx="2479116" cy="141975"/>
              <a:chOff x="4441917" y="5666198"/>
              <a:chExt cx="3304607" cy="189300"/>
            </a:xfrm>
          </p:grpSpPr>
          <p:cxnSp>
            <p:nvCxnSpPr>
              <p:cNvPr id="3146" name="Google Shape;3146;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147" name="Google Shape;3147;p147"/>
              <p:cNvGrpSpPr/>
              <p:nvPr/>
            </p:nvGrpSpPr>
            <p:grpSpPr>
              <a:xfrm>
                <a:off x="4441917" y="5666198"/>
                <a:ext cx="3304607" cy="189300"/>
                <a:chOff x="908260" y="5666198"/>
                <a:chExt cx="10372275" cy="189300"/>
              </a:xfrm>
            </p:grpSpPr>
            <p:sp>
              <p:nvSpPr>
                <p:cNvPr id="3148" name="Google Shape;3148;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49" name="Google Shape;3149;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sp>
          <p:nvSpPr>
            <p:cNvPr id="3150" name="Google Shape;3150;p147"/>
            <p:cNvSpPr/>
            <p:nvPr/>
          </p:nvSpPr>
          <p:spPr>
            <a:xfrm>
              <a:off x="4392799" y="413491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Tanzu </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Spring Essentials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51" name="Google Shape;3151;p147"/>
            <p:cNvSpPr/>
            <p:nvPr/>
          </p:nvSpPr>
          <p:spPr>
            <a:xfrm>
              <a:off x="3783199" y="442066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Tanzu </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App Catalog</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152" name="Google Shape;3152;p147"/>
          <p:cNvGrpSpPr/>
          <p:nvPr/>
        </p:nvGrpSpPr>
        <p:grpSpPr>
          <a:xfrm>
            <a:off x="492634" y="1038376"/>
            <a:ext cx="3831042" cy="976412"/>
            <a:chOff x="260688" y="702115"/>
            <a:chExt cx="2874030" cy="732500"/>
          </a:xfrm>
        </p:grpSpPr>
        <p:sp>
          <p:nvSpPr>
            <p:cNvPr id="3153" name="Google Shape;3153;p147"/>
            <p:cNvSpPr/>
            <p:nvPr/>
          </p:nvSpPr>
          <p:spPr>
            <a:xfrm>
              <a:off x="298128" y="864918"/>
              <a:ext cx="2769000" cy="434700"/>
            </a:xfrm>
            <a:prstGeom prst="roundRect">
              <a:avLst>
                <a:gd name="adj" fmla="val 13379"/>
              </a:avLst>
            </a:prstGeom>
            <a:noFill/>
            <a:ln w="9525" cap="flat" cmpd="sng">
              <a:solidFill>
                <a:srgbClr val="1582B6"/>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54" name="Google Shape;3154;p147"/>
            <p:cNvSpPr/>
            <p:nvPr/>
          </p:nvSpPr>
          <p:spPr>
            <a:xfrm>
              <a:off x="260688" y="833387"/>
              <a:ext cx="2769000" cy="512700"/>
            </a:xfrm>
            <a:prstGeom prst="round2SameRect">
              <a:avLst>
                <a:gd name="adj1" fmla="val 13379"/>
                <a:gd name="adj2" fmla="val 0"/>
              </a:avLst>
            </a:prstGeom>
            <a:noFill/>
            <a:ln>
              <a:noFill/>
            </a:ln>
          </p:spPr>
          <p:txBody>
            <a:bodyPr spcFirstLastPara="1" wrap="square" lIns="91400" tIns="45675" rIns="91400" bIns="45675"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sp>
          <p:nvSpPr>
            <p:cNvPr id="3155" name="Google Shape;3155;p147"/>
            <p:cNvSpPr/>
            <p:nvPr/>
          </p:nvSpPr>
          <p:spPr>
            <a:xfrm>
              <a:off x="284418" y="912007"/>
              <a:ext cx="2850300" cy="434700"/>
            </a:xfrm>
            <a:prstGeom prst="roundRect">
              <a:avLst>
                <a:gd name="adj" fmla="val 0"/>
              </a:avLst>
            </a:prstGeom>
            <a:solidFill>
              <a:schemeClr val="lt1"/>
            </a:solid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VMware Private AI Foundation </a:t>
              </a:r>
              <a:b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with NVIDIA</a:t>
              </a: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grpSp>
          <p:nvGrpSpPr>
            <p:cNvPr id="3156" name="Google Shape;3156;p147"/>
            <p:cNvGrpSpPr/>
            <p:nvPr/>
          </p:nvGrpSpPr>
          <p:grpSpPr>
            <a:xfrm>
              <a:off x="400566" y="702115"/>
              <a:ext cx="2489389" cy="308475"/>
              <a:chOff x="576977" y="480838"/>
              <a:chExt cx="3318300" cy="411300"/>
            </a:xfrm>
          </p:grpSpPr>
          <p:sp>
            <p:nvSpPr>
              <p:cNvPr id="3157" name="Google Shape;3157;p147"/>
              <p:cNvSpPr/>
              <p:nvPr/>
            </p:nvSpPr>
            <p:spPr>
              <a:xfrm>
                <a:off x="576977" y="480838"/>
                <a:ext cx="3318300" cy="411300"/>
              </a:xfrm>
              <a:prstGeom prst="roundRect">
                <a:avLst>
                  <a:gd name="adj" fmla="val 50000"/>
                </a:avLst>
              </a:prstGeom>
              <a:solidFill>
                <a:srgbClr val="1582B6"/>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Private AI</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58" name="Google Shape;3158;p147"/>
              <p:cNvSpPr/>
              <p:nvPr/>
            </p:nvSpPr>
            <p:spPr>
              <a:xfrm>
                <a:off x="595681" y="499488"/>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59" name="Google Shape;3159;p147"/>
              <p:cNvSpPr/>
              <p:nvPr/>
            </p:nvSpPr>
            <p:spPr>
              <a:xfrm>
                <a:off x="651218" y="556538"/>
                <a:ext cx="267049" cy="268779"/>
              </a:xfrm>
              <a:custGeom>
                <a:avLst/>
                <a:gdLst/>
                <a:ahLst/>
                <a:cxnLst/>
                <a:rect l="l" t="t" r="r" b="b"/>
                <a:pathLst>
                  <a:path w="628350" h="632420" extrusionOk="0">
                    <a:moveTo>
                      <a:pt x="217619" y="486558"/>
                    </a:moveTo>
                    <a:cubicBezTo>
                      <a:pt x="206298" y="486558"/>
                      <a:pt x="197346" y="495510"/>
                      <a:pt x="197346" y="506832"/>
                    </a:cubicBezTo>
                    <a:cubicBezTo>
                      <a:pt x="197346" y="518153"/>
                      <a:pt x="206561" y="527105"/>
                      <a:pt x="217619" y="527105"/>
                    </a:cubicBezTo>
                    <a:cubicBezTo>
                      <a:pt x="228940" y="527105"/>
                      <a:pt x="237893" y="518153"/>
                      <a:pt x="237893" y="506832"/>
                    </a:cubicBezTo>
                    <a:cubicBezTo>
                      <a:pt x="237893" y="495510"/>
                      <a:pt x="228940" y="486558"/>
                      <a:pt x="217619" y="486558"/>
                    </a:cubicBezTo>
                    <a:close/>
                    <a:moveTo>
                      <a:pt x="182075" y="362549"/>
                    </a:moveTo>
                    <a:cubicBezTo>
                      <a:pt x="170754" y="362549"/>
                      <a:pt x="161802" y="371501"/>
                      <a:pt x="161802" y="382822"/>
                    </a:cubicBezTo>
                    <a:cubicBezTo>
                      <a:pt x="161802" y="394144"/>
                      <a:pt x="171017" y="403095"/>
                      <a:pt x="182075" y="403095"/>
                    </a:cubicBezTo>
                    <a:cubicBezTo>
                      <a:pt x="193397" y="403095"/>
                      <a:pt x="202349" y="394144"/>
                      <a:pt x="202349" y="382822"/>
                    </a:cubicBezTo>
                    <a:cubicBezTo>
                      <a:pt x="202349" y="371501"/>
                      <a:pt x="193397" y="362549"/>
                      <a:pt x="182075" y="362549"/>
                    </a:cubicBezTo>
                    <a:close/>
                    <a:moveTo>
                      <a:pt x="466691" y="325162"/>
                    </a:moveTo>
                    <a:cubicBezTo>
                      <a:pt x="473537" y="325162"/>
                      <a:pt x="479065" y="330691"/>
                      <a:pt x="479065" y="337273"/>
                    </a:cubicBezTo>
                    <a:cubicBezTo>
                      <a:pt x="479065" y="340960"/>
                      <a:pt x="477486" y="344382"/>
                      <a:pt x="474590" y="346752"/>
                    </a:cubicBezTo>
                    <a:lnTo>
                      <a:pt x="474590" y="354124"/>
                    </a:lnTo>
                    <a:cubicBezTo>
                      <a:pt x="474590" y="357284"/>
                      <a:pt x="471957" y="359653"/>
                      <a:pt x="468797" y="359653"/>
                    </a:cubicBezTo>
                    <a:lnTo>
                      <a:pt x="464585" y="359653"/>
                    </a:lnTo>
                    <a:cubicBezTo>
                      <a:pt x="461425" y="359653"/>
                      <a:pt x="458792" y="357284"/>
                      <a:pt x="458792" y="354124"/>
                    </a:cubicBezTo>
                    <a:lnTo>
                      <a:pt x="458792" y="346752"/>
                    </a:lnTo>
                    <a:cubicBezTo>
                      <a:pt x="455896" y="344382"/>
                      <a:pt x="454316" y="343856"/>
                      <a:pt x="454316" y="337273"/>
                    </a:cubicBezTo>
                    <a:cubicBezTo>
                      <a:pt x="454316" y="330691"/>
                      <a:pt x="459845" y="325162"/>
                      <a:pt x="466691" y="325162"/>
                    </a:cubicBezTo>
                    <a:close/>
                    <a:moveTo>
                      <a:pt x="466691" y="301466"/>
                    </a:moveTo>
                    <a:cubicBezTo>
                      <a:pt x="442995" y="301466"/>
                      <a:pt x="423774" y="319896"/>
                      <a:pt x="423774" y="342539"/>
                    </a:cubicBezTo>
                    <a:cubicBezTo>
                      <a:pt x="423774" y="365182"/>
                      <a:pt x="442995" y="383612"/>
                      <a:pt x="466691" y="383612"/>
                    </a:cubicBezTo>
                    <a:cubicBezTo>
                      <a:pt x="490387" y="383612"/>
                      <a:pt x="509607" y="365182"/>
                      <a:pt x="509607" y="342539"/>
                    </a:cubicBezTo>
                    <a:cubicBezTo>
                      <a:pt x="509607" y="319896"/>
                      <a:pt x="490387" y="301466"/>
                      <a:pt x="466691" y="301466"/>
                    </a:cubicBezTo>
                    <a:close/>
                    <a:moveTo>
                      <a:pt x="464322" y="249335"/>
                    </a:moveTo>
                    <a:cubicBezTo>
                      <a:pt x="454579" y="249335"/>
                      <a:pt x="446944" y="258023"/>
                      <a:pt x="446944" y="268818"/>
                    </a:cubicBezTo>
                    <a:lnTo>
                      <a:pt x="447208" y="268818"/>
                    </a:lnTo>
                    <a:lnTo>
                      <a:pt x="447208" y="289091"/>
                    </a:lnTo>
                    <a:cubicBezTo>
                      <a:pt x="453526" y="286722"/>
                      <a:pt x="460109" y="285669"/>
                      <a:pt x="466954" y="285669"/>
                    </a:cubicBezTo>
                    <a:cubicBezTo>
                      <a:pt x="473800" y="285669"/>
                      <a:pt x="480382" y="286722"/>
                      <a:pt x="486701" y="289091"/>
                    </a:cubicBezTo>
                    <a:lnTo>
                      <a:pt x="486701" y="268818"/>
                    </a:lnTo>
                    <a:cubicBezTo>
                      <a:pt x="486701" y="258023"/>
                      <a:pt x="478802" y="249335"/>
                      <a:pt x="469324" y="249335"/>
                    </a:cubicBezTo>
                    <a:close/>
                    <a:moveTo>
                      <a:pt x="464058" y="233274"/>
                    </a:moveTo>
                    <a:lnTo>
                      <a:pt x="469060" y="233274"/>
                    </a:lnTo>
                    <a:cubicBezTo>
                      <a:pt x="487491" y="233274"/>
                      <a:pt x="502235" y="249072"/>
                      <a:pt x="502235" y="268555"/>
                    </a:cubicBezTo>
                    <a:lnTo>
                      <a:pt x="502235" y="297253"/>
                    </a:lnTo>
                    <a:lnTo>
                      <a:pt x="501972" y="297253"/>
                    </a:lnTo>
                    <a:cubicBezTo>
                      <a:pt x="516452" y="308049"/>
                      <a:pt x="525141" y="311208"/>
                      <a:pt x="525141" y="342539"/>
                    </a:cubicBezTo>
                    <a:cubicBezTo>
                      <a:pt x="525141" y="373871"/>
                      <a:pt x="498812" y="399410"/>
                      <a:pt x="466427" y="399410"/>
                    </a:cubicBezTo>
                    <a:cubicBezTo>
                      <a:pt x="434043" y="399410"/>
                      <a:pt x="407714" y="373871"/>
                      <a:pt x="407714" y="342539"/>
                    </a:cubicBezTo>
                    <a:cubicBezTo>
                      <a:pt x="407714" y="324899"/>
                      <a:pt x="416403" y="308049"/>
                      <a:pt x="430883" y="297253"/>
                    </a:cubicBezTo>
                    <a:lnTo>
                      <a:pt x="430883" y="268555"/>
                    </a:lnTo>
                    <a:cubicBezTo>
                      <a:pt x="430883" y="249072"/>
                      <a:pt x="445628" y="233274"/>
                      <a:pt x="464058" y="233274"/>
                    </a:cubicBezTo>
                    <a:close/>
                    <a:moveTo>
                      <a:pt x="466954" y="189568"/>
                    </a:moveTo>
                    <a:cubicBezTo>
                      <a:pt x="395866" y="189568"/>
                      <a:pt x="337942" y="247491"/>
                      <a:pt x="337942" y="318842"/>
                    </a:cubicBezTo>
                    <a:cubicBezTo>
                      <a:pt x="337942" y="390194"/>
                      <a:pt x="395866" y="448118"/>
                      <a:pt x="466954" y="448118"/>
                    </a:cubicBezTo>
                    <a:cubicBezTo>
                      <a:pt x="538042" y="448118"/>
                      <a:pt x="595965" y="390194"/>
                      <a:pt x="595965" y="318842"/>
                    </a:cubicBezTo>
                    <a:cubicBezTo>
                      <a:pt x="595965" y="247491"/>
                      <a:pt x="538042" y="189568"/>
                      <a:pt x="466954" y="189568"/>
                    </a:cubicBezTo>
                    <a:close/>
                    <a:moveTo>
                      <a:pt x="144688" y="173770"/>
                    </a:moveTo>
                    <a:cubicBezTo>
                      <a:pt x="133367" y="173770"/>
                      <a:pt x="124415" y="182722"/>
                      <a:pt x="124415" y="194043"/>
                    </a:cubicBezTo>
                    <a:cubicBezTo>
                      <a:pt x="124415" y="205365"/>
                      <a:pt x="133367" y="214317"/>
                      <a:pt x="144688" y="214317"/>
                    </a:cubicBezTo>
                    <a:cubicBezTo>
                      <a:pt x="156010" y="214317"/>
                      <a:pt x="164961" y="205365"/>
                      <a:pt x="164961" y="194043"/>
                    </a:cubicBezTo>
                    <a:cubicBezTo>
                      <a:pt x="164961" y="182722"/>
                      <a:pt x="155746" y="173770"/>
                      <a:pt x="144688" y="173770"/>
                    </a:cubicBezTo>
                    <a:close/>
                    <a:moveTo>
                      <a:pt x="144688" y="142702"/>
                    </a:moveTo>
                    <a:cubicBezTo>
                      <a:pt x="172860" y="142702"/>
                      <a:pt x="195766" y="171138"/>
                      <a:pt x="195766" y="193781"/>
                    </a:cubicBezTo>
                    <a:cubicBezTo>
                      <a:pt x="195766" y="216423"/>
                      <a:pt x="181022" y="235380"/>
                      <a:pt x="160749" y="242225"/>
                    </a:cubicBezTo>
                    <a:lnTo>
                      <a:pt x="160749" y="246438"/>
                    </a:lnTo>
                    <a:lnTo>
                      <a:pt x="322935" y="246438"/>
                    </a:lnTo>
                    <a:cubicBezTo>
                      <a:pt x="350317" y="192464"/>
                      <a:pt x="406135" y="157709"/>
                      <a:pt x="466954" y="157709"/>
                    </a:cubicBezTo>
                    <a:lnTo>
                      <a:pt x="467217" y="157709"/>
                    </a:lnTo>
                    <a:cubicBezTo>
                      <a:pt x="555946" y="157709"/>
                      <a:pt x="628350" y="230114"/>
                      <a:pt x="628350" y="319106"/>
                    </a:cubicBezTo>
                    <a:cubicBezTo>
                      <a:pt x="628350" y="408098"/>
                      <a:pt x="556209" y="480502"/>
                      <a:pt x="467217" y="480502"/>
                    </a:cubicBezTo>
                    <a:cubicBezTo>
                      <a:pt x="436412" y="480502"/>
                      <a:pt x="406397" y="471814"/>
                      <a:pt x="380595" y="455226"/>
                    </a:cubicBezTo>
                    <a:cubicBezTo>
                      <a:pt x="358479" y="441009"/>
                      <a:pt x="340048" y="421789"/>
                      <a:pt x="327148" y="399146"/>
                    </a:cubicBezTo>
                    <a:cubicBezTo>
                      <a:pt x="327148" y="399146"/>
                      <a:pt x="231047" y="399146"/>
                      <a:pt x="231047" y="399146"/>
                    </a:cubicBezTo>
                    <a:lnTo>
                      <a:pt x="230521" y="399146"/>
                    </a:lnTo>
                    <a:cubicBezTo>
                      <a:pt x="223675" y="419156"/>
                      <a:pt x="210247" y="433901"/>
                      <a:pt x="182075" y="433901"/>
                    </a:cubicBezTo>
                    <a:cubicBezTo>
                      <a:pt x="153903" y="433901"/>
                      <a:pt x="130997" y="410994"/>
                      <a:pt x="130997" y="382822"/>
                    </a:cubicBezTo>
                    <a:cubicBezTo>
                      <a:pt x="130997" y="354650"/>
                      <a:pt x="159432" y="331744"/>
                      <a:pt x="182075" y="331744"/>
                    </a:cubicBezTo>
                    <a:cubicBezTo>
                      <a:pt x="204718" y="331744"/>
                      <a:pt x="223675" y="346488"/>
                      <a:pt x="230521" y="366761"/>
                    </a:cubicBezTo>
                    <a:lnTo>
                      <a:pt x="312930" y="366761"/>
                    </a:lnTo>
                    <a:cubicBezTo>
                      <a:pt x="307927" y="351491"/>
                      <a:pt x="305558" y="333060"/>
                      <a:pt x="305558" y="319106"/>
                    </a:cubicBezTo>
                    <a:cubicBezTo>
                      <a:pt x="305558" y="305152"/>
                      <a:pt x="307401" y="291724"/>
                      <a:pt x="310823" y="278559"/>
                    </a:cubicBezTo>
                    <a:lnTo>
                      <a:pt x="128627" y="278559"/>
                    </a:lnTo>
                    <a:lnTo>
                      <a:pt x="128627" y="242225"/>
                    </a:lnTo>
                    <a:cubicBezTo>
                      <a:pt x="108354" y="235380"/>
                      <a:pt x="93610" y="221953"/>
                      <a:pt x="93610" y="193781"/>
                    </a:cubicBezTo>
                    <a:cubicBezTo>
                      <a:pt x="93610" y="165609"/>
                      <a:pt x="116516" y="142702"/>
                      <a:pt x="144688" y="142702"/>
                    </a:cubicBezTo>
                    <a:close/>
                    <a:moveTo>
                      <a:pt x="142319" y="94257"/>
                    </a:moveTo>
                    <a:cubicBezTo>
                      <a:pt x="142319" y="94257"/>
                      <a:pt x="143767" y="94422"/>
                      <a:pt x="145939" y="94669"/>
                    </a:cubicBezTo>
                    <a:lnTo>
                      <a:pt x="147846" y="94885"/>
                    </a:lnTo>
                    <a:lnTo>
                      <a:pt x="153904" y="95574"/>
                    </a:lnTo>
                    <a:cubicBezTo>
                      <a:pt x="159696" y="96232"/>
                      <a:pt x="165488" y="96890"/>
                      <a:pt x="165488" y="96890"/>
                    </a:cubicBezTo>
                    <a:lnTo>
                      <a:pt x="147846" y="94885"/>
                    </a:lnTo>
                    <a:close/>
                    <a:moveTo>
                      <a:pt x="517769" y="81620"/>
                    </a:moveTo>
                    <a:cubicBezTo>
                      <a:pt x="506447" y="81620"/>
                      <a:pt x="497495" y="90571"/>
                      <a:pt x="497495" y="101892"/>
                    </a:cubicBezTo>
                    <a:cubicBezTo>
                      <a:pt x="497495" y="113214"/>
                      <a:pt x="506447" y="122166"/>
                      <a:pt x="517769" y="122166"/>
                    </a:cubicBezTo>
                    <a:cubicBezTo>
                      <a:pt x="529090" y="122166"/>
                      <a:pt x="538042" y="113214"/>
                      <a:pt x="538042" y="101892"/>
                    </a:cubicBezTo>
                    <a:cubicBezTo>
                      <a:pt x="538042" y="90571"/>
                      <a:pt x="528827" y="81620"/>
                      <a:pt x="517769" y="81620"/>
                    </a:cubicBezTo>
                    <a:close/>
                    <a:moveTo>
                      <a:pt x="238156" y="0"/>
                    </a:moveTo>
                    <a:cubicBezTo>
                      <a:pt x="240263" y="0"/>
                      <a:pt x="242105" y="0"/>
                      <a:pt x="244212" y="0"/>
                    </a:cubicBezTo>
                    <a:cubicBezTo>
                      <a:pt x="277123" y="0"/>
                      <a:pt x="308981" y="12374"/>
                      <a:pt x="333466" y="35017"/>
                    </a:cubicBezTo>
                    <a:cubicBezTo>
                      <a:pt x="333466" y="35017"/>
                      <a:pt x="333466" y="35281"/>
                      <a:pt x="333466" y="35281"/>
                    </a:cubicBezTo>
                    <a:lnTo>
                      <a:pt x="336363" y="38177"/>
                    </a:lnTo>
                    <a:lnTo>
                      <a:pt x="338732" y="40546"/>
                    </a:lnTo>
                    <a:lnTo>
                      <a:pt x="338732" y="87149"/>
                    </a:lnTo>
                    <a:lnTo>
                      <a:pt x="468797" y="87149"/>
                    </a:lnTo>
                    <a:cubicBezTo>
                      <a:pt x="475116" y="66349"/>
                      <a:pt x="489333" y="51078"/>
                      <a:pt x="517505" y="51078"/>
                    </a:cubicBezTo>
                    <a:cubicBezTo>
                      <a:pt x="545677" y="51078"/>
                      <a:pt x="568584" y="73984"/>
                      <a:pt x="568584" y="102156"/>
                    </a:cubicBezTo>
                    <a:cubicBezTo>
                      <a:pt x="568584" y="130328"/>
                      <a:pt x="539621" y="153234"/>
                      <a:pt x="517505" y="153234"/>
                    </a:cubicBezTo>
                    <a:cubicBezTo>
                      <a:pt x="495389" y="153234"/>
                      <a:pt x="476696" y="139017"/>
                      <a:pt x="469587" y="119533"/>
                    </a:cubicBezTo>
                    <a:lnTo>
                      <a:pt x="338469" y="119533"/>
                    </a:lnTo>
                    <a:lnTo>
                      <a:pt x="338469" y="193254"/>
                    </a:lnTo>
                    <a:lnTo>
                      <a:pt x="306347" y="193254"/>
                    </a:lnTo>
                    <a:lnTo>
                      <a:pt x="306347" y="54764"/>
                    </a:lnTo>
                    <a:cubicBezTo>
                      <a:pt x="288444" y="40020"/>
                      <a:pt x="266591" y="32384"/>
                      <a:pt x="243158" y="32384"/>
                    </a:cubicBezTo>
                    <a:cubicBezTo>
                      <a:pt x="241842" y="32384"/>
                      <a:pt x="240263" y="32384"/>
                      <a:pt x="238946" y="32384"/>
                    </a:cubicBezTo>
                    <a:cubicBezTo>
                      <a:pt x="212090" y="33437"/>
                      <a:pt x="187341" y="45022"/>
                      <a:pt x="169174" y="64769"/>
                    </a:cubicBezTo>
                    <a:cubicBezTo>
                      <a:pt x="162856" y="71878"/>
                      <a:pt x="157589" y="79513"/>
                      <a:pt x="153377" y="87938"/>
                    </a:cubicBezTo>
                    <a:lnTo>
                      <a:pt x="166015" y="89255"/>
                    </a:lnTo>
                    <a:lnTo>
                      <a:pt x="173914" y="90045"/>
                    </a:lnTo>
                    <a:lnTo>
                      <a:pt x="173123" y="97943"/>
                    </a:lnTo>
                    <a:lnTo>
                      <a:pt x="171280" y="114268"/>
                    </a:lnTo>
                    <a:lnTo>
                      <a:pt x="170491" y="122166"/>
                    </a:lnTo>
                    <a:lnTo>
                      <a:pt x="162592" y="121376"/>
                    </a:lnTo>
                    <a:lnTo>
                      <a:pt x="130470" y="117690"/>
                    </a:lnTo>
                    <a:cubicBezTo>
                      <a:pt x="103089" y="117953"/>
                      <a:pt x="76496" y="129802"/>
                      <a:pt x="58066" y="150075"/>
                    </a:cubicBezTo>
                    <a:cubicBezTo>
                      <a:pt x="39899" y="169822"/>
                      <a:pt x="30684" y="195624"/>
                      <a:pt x="31737" y="222479"/>
                    </a:cubicBezTo>
                    <a:cubicBezTo>
                      <a:pt x="32790" y="249335"/>
                      <a:pt x="44375" y="274084"/>
                      <a:pt x="64122" y="292515"/>
                    </a:cubicBezTo>
                    <a:lnTo>
                      <a:pt x="64385" y="292515"/>
                    </a:lnTo>
                    <a:lnTo>
                      <a:pt x="100983" y="313314"/>
                    </a:lnTo>
                    <a:lnTo>
                      <a:pt x="107828" y="317264"/>
                    </a:lnTo>
                    <a:lnTo>
                      <a:pt x="103879" y="324109"/>
                    </a:lnTo>
                    <a:lnTo>
                      <a:pt x="95716" y="338327"/>
                    </a:lnTo>
                    <a:lnTo>
                      <a:pt x="91767" y="345172"/>
                    </a:lnTo>
                    <a:lnTo>
                      <a:pt x="84922" y="341223"/>
                    </a:lnTo>
                    <a:lnTo>
                      <a:pt x="57540" y="325689"/>
                    </a:lnTo>
                    <a:cubicBezTo>
                      <a:pt x="39899" y="345172"/>
                      <a:pt x="30684" y="370711"/>
                      <a:pt x="31737" y="397303"/>
                    </a:cubicBezTo>
                    <a:cubicBezTo>
                      <a:pt x="32790" y="424159"/>
                      <a:pt x="44375" y="448908"/>
                      <a:pt x="64122" y="467075"/>
                    </a:cubicBezTo>
                    <a:cubicBezTo>
                      <a:pt x="78340" y="479976"/>
                      <a:pt x="96507" y="488928"/>
                      <a:pt x="115726" y="492087"/>
                    </a:cubicBezTo>
                    <a:lnTo>
                      <a:pt x="121519" y="472867"/>
                    </a:lnTo>
                    <a:lnTo>
                      <a:pt x="123625" y="465232"/>
                    </a:lnTo>
                    <a:lnTo>
                      <a:pt x="131261" y="467338"/>
                    </a:lnTo>
                    <a:lnTo>
                      <a:pt x="147058" y="472078"/>
                    </a:lnTo>
                    <a:lnTo>
                      <a:pt x="154694" y="474184"/>
                    </a:lnTo>
                    <a:lnTo>
                      <a:pt x="152587" y="481819"/>
                    </a:lnTo>
                    <a:lnTo>
                      <a:pt x="143898" y="511044"/>
                    </a:lnTo>
                    <a:cubicBezTo>
                      <a:pt x="146268" y="535530"/>
                      <a:pt x="157589" y="558173"/>
                      <a:pt x="175757" y="574761"/>
                    </a:cubicBezTo>
                    <a:cubicBezTo>
                      <a:pt x="194186" y="591610"/>
                      <a:pt x="220516" y="601089"/>
                      <a:pt x="243685" y="601089"/>
                    </a:cubicBezTo>
                    <a:cubicBezTo>
                      <a:pt x="266855" y="601089"/>
                      <a:pt x="289234" y="593190"/>
                      <a:pt x="306874" y="578972"/>
                    </a:cubicBezTo>
                    <a:lnTo>
                      <a:pt x="306874" y="523682"/>
                    </a:lnTo>
                    <a:lnTo>
                      <a:pt x="265801" y="523682"/>
                    </a:lnTo>
                    <a:cubicBezTo>
                      <a:pt x="258956" y="543692"/>
                      <a:pt x="245792" y="558173"/>
                      <a:pt x="217619" y="558173"/>
                    </a:cubicBezTo>
                    <a:cubicBezTo>
                      <a:pt x="189448" y="558173"/>
                      <a:pt x="166541" y="535267"/>
                      <a:pt x="166541" y="507095"/>
                    </a:cubicBezTo>
                    <a:cubicBezTo>
                      <a:pt x="166541" y="478923"/>
                      <a:pt x="194977" y="456017"/>
                      <a:pt x="217619" y="456017"/>
                    </a:cubicBezTo>
                    <a:cubicBezTo>
                      <a:pt x="240263" y="456017"/>
                      <a:pt x="259482" y="470761"/>
                      <a:pt x="266064" y="491298"/>
                    </a:cubicBezTo>
                    <a:lnTo>
                      <a:pt x="306874" y="491298"/>
                    </a:lnTo>
                    <a:lnTo>
                      <a:pt x="306874" y="450488"/>
                    </a:lnTo>
                    <a:lnTo>
                      <a:pt x="314773" y="450488"/>
                    </a:lnTo>
                    <a:lnTo>
                      <a:pt x="315036" y="449961"/>
                    </a:lnTo>
                    <a:lnTo>
                      <a:pt x="339259" y="449961"/>
                    </a:lnTo>
                    <a:lnTo>
                      <a:pt x="339259" y="592401"/>
                    </a:lnTo>
                    <a:lnTo>
                      <a:pt x="336626" y="594770"/>
                    </a:lnTo>
                    <a:lnTo>
                      <a:pt x="333993" y="597140"/>
                    </a:lnTo>
                    <a:cubicBezTo>
                      <a:pt x="309770" y="619782"/>
                      <a:pt x="277386" y="632420"/>
                      <a:pt x="243948" y="632420"/>
                    </a:cubicBezTo>
                    <a:cubicBezTo>
                      <a:pt x="210511" y="632420"/>
                      <a:pt x="178652" y="620046"/>
                      <a:pt x="154167" y="597666"/>
                    </a:cubicBezTo>
                    <a:cubicBezTo>
                      <a:pt x="132840" y="578183"/>
                      <a:pt x="118359" y="552118"/>
                      <a:pt x="113357" y="523682"/>
                    </a:cubicBezTo>
                    <a:cubicBezTo>
                      <a:pt x="87028" y="519733"/>
                      <a:pt x="62279" y="507885"/>
                      <a:pt x="42795" y="489981"/>
                    </a:cubicBezTo>
                    <a:cubicBezTo>
                      <a:pt x="16730" y="466022"/>
                      <a:pt x="1722" y="433374"/>
                      <a:pt x="142" y="397830"/>
                    </a:cubicBezTo>
                    <a:cubicBezTo>
                      <a:pt x="-1437" y="363602"/>
                      <a:pt x="10147" y="330691"/>
                      <a:pt x="32790" y="304889"/>
                    </a:cubicBezTo>
                    <a:cubicBezTo>
                      <a:pt x="13044" y="282246"/>
                      <a:pt x="1459" y="253547"/>
                      <a:pt x="142" y="223006"/>
                    </a:cubicBezTo>
                    <a:cubicBezTo>
                      <a:pt x="-1437" y="187725"/>
                      <a:pt x="10938" y="153761"/>
                      <a:pt x="34897" y="127695"/>
                    </a:cubicBezTo>
                    <a:cubicBezTo>
                      <a:pt x="56750" y="103999"/>
                      <a:pt x="87555" y="88728"/>
                      <a:pt x="119676" y="85569"/>
                    </a:cubicBezTo>
                    <a:cubicBezTo>
                      <a:pt x="125732" y="69771"/>
                      <a:pt x="134683" y="55291"/>
                      <a:pt x="146268" y="42653"/>
                    </a:cubicBezTo>
                    <a:cubicBezTo>
                      <a:pt x="169964" y="16587"/>
                      <a:pt x="202875" y="1580"/>
                      <a:pt x="238156" y="0"/>
                    </a:cubicBezTo>
                    <a:close/>
                  </a:path>
                </a:pathLst>
              </a:custGeom>
              <a:solidFill>
                <a:srgbClr val="1582B6"/>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nvGrpSpPr>
            <p:cNvPr id="3160" name="Google Shape;3160;p147"/>
            <p:cNvGrpSpPr/>
            <p:nvPr/>
          </p:nvGrpSpPr>
          <p:grpSpPr>
            <a:xfrm>
              <a:off x="474082" y="1292640"/>
              <a:ext cx="2479116" cy="141975"/>
              <a:chOff x="4441917" y="5666198"/>
              <a:chExt cx="3304607" cy="189300"/>
            </a:xfrm>
          </p:grpSpPr>
          <p:cxnSp>
            <p:nvCxnSpPr>
              <p:cNvPr id="3161" name="Google Shape;3161;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162" name="Google Shape;3162;p147"/>
              <p:cNvGrpSpPr/>
              <p:nvPr/>
            </p:nvGrpSpPr>
            <p:grpSpPr>
              <a:xfrm>
                <a:off x="4441917" y="5666198"/>
                <a:ext cx="3304607" cy="189300"/>
                <a:chOff x="908260" y="5666198"/>
                <a:chExt cx="10372275" cy="189300"/>
              </a:xfrm>
            </p:grpSpPr>
            <p:sp>
              <p:nvSpPr>
                <p:cNvPr id="3163" name="Google Shape;3163;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64" name="Google Shape;3164;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grpSp>
        <p:nvGrpSpPr>
          <p:cNvPr id="3165" name="Google Shape;3165;p147"/>
          <p:cNvGrpSpPr/>
          <p:nvPr/>
        </p:nvGrpSpPr>
        <p:grpSpPr>
          <a:xfrm>
            <a:off x="438584" y="2162392"/>
            <a:ext cx="3799410" cy="969705"/>
            <a:chOff x="220140" y="1469147"/>
            <a:chExt cx="2850300" cy="727468"/>
          </a:xfrm>
        </p:grpSpPr>
        <p:sp>
          <p:nvSpPr>
            <p:cNvPr id="3166" name="Google Shape;3166;p147"/>
            <p:cNvSpPr/>
            <p:nvPr/>
          </p:nvSpPr>
          <p:spPr>
            <a:xfrm>
              <a:off x="260688" y="1562226"/>
              <a:ext cx="2769000" cy="512700"/>
            </a:xfrm>
            <a:prstGeom prst="roundRect">
              <a:avLst>
                <a:gd name="adj" fmla="val 13379"/>
              </a:avLst>
            </a:prstGeom>
            <a:noFill/>
            <a:ln w="9525" cap="flat" cmpd="sng">
              <a:solidFill>
                <a:srgbClr val="1582B6"/>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67" name="Google Shape;3167;p147"/>
            <p:cNvSpPr/>
            <p:nvPr/>
          </p:nvSpPr>
          <p:spPr>
            <a:xfrm>
              <a:off x="220140" y="1610972"/>
              <a:ext cx="2850300" cy="512700"/>
            </a:xfrm>
            <a:prstGeom prst="rect">
              <a:avLst/>
            </a:prstGeom>
            <a:gradFill>
              <a:gsLst>
                <a:gs pos="0">
                  <a:srgbClr val="FFFFFF">
                    <a:alpha val="0"/>
                  </a:srgbClr>
                </a:gs>
                <a:gs pos="47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3168" name="Google Shape;3168;p147"/>
            <p:cNvGrpSpPr/>
            <p:nvPr/>
          </p:nvGrpSpPr>
          <p:grpSpPr>
            <a:xfrm>
              <a:off x="400566" y="1469147"/>
              <a:ext cx="2489389" cy="308475"/>
              <a:chOff x="576977" y="1351148"/>
              <a:chExt cx="3318300" cy="411300"/>
            </a:xfrm>
          </p:grpSpPr>
          <p:sp>
            <p:nvSpPr>
              <p:cNvPr id="3169" name="Google Shape;3169;p147"/>
              <p:cNvSpPr/>
              <p:nvPr/>
            </p:nvSpPr>
            <p:spPr>
              <a:xfrm>
                <a:off x="576977" y="1351148"/>
                <a:ext cx="3318300" cy="411300"/>
              </a:xfrm>
              <a:prstGeom prst="roundRect">
                <a:avLst>
                  <a:gd name="adj" fmla="val 50000"/>
                </a:avLst>
              </a:prstGeom>
              <a:solidFill>
                <a:srgbClr val="1582B6"/>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     DR and Ransomware Recovery</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70" name="Google Shape;3170;p147"/>
              <p:cNvSpPr/>
              <p:nvPr/>
            </p:nvSpPr>
            <p:spPr>
              <a:xfrm>
                <a:off x="595681" y="1369798"/>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71" name="Google Shape;3171;p147"/>
              <p:cNvSpPr/>
              <p:nvPr/>
            </p:nvSpPr>
            <p:spPr>
              <a:xfrm>
                <a:off x="666456" y="1439731"/>
                <a:ext cx="232818" cy="234506"/>
              </a:xfrm>
              <a:custGeom>
                <a:avLst/>
                <a:gdLst/>
                <a:ahLst/>
                <a:cxnLst/>
                <a:rect l="l" t="t" r="r" b="b"/>
                <a:pathLst>
                  <a:path w="281351" h="283391" extrusionOk="0">
                    <a:moveTo>
                      <a:pt x="179133" y="60686"/>
                    </a:moveTo>
                    <a:lnTo>
                      <a:pt x="143623" y="121084"/>
                    </a:lnTo>
                    <a:lnTo>
                      <a:pt x="186964" y="136705"/>
                    </a:lnTo>
                    <a:lnTo>
                      <a:pt x="104041" y="223646"/>
                    </a:lnTo>
                    <a:lnTo>
                      <a:pt x="150294" y="146202"/>
                    </a:lnTo>
                    <a:lnTo>
                      <a:pt x="105274" y="129187"/>
                    </a:lnTo>
                    <a:close/>
                    <a:moveTo>
                      <a:pt x="16796" y="11531"/>
                    </a:moveTo>
                    <a:lnTo>
                      <a:pt x="33568" y="40582"/>
                    </a:lnTo>
                    <a:lnTo>
                      <a:pt x="25206" y="40582"/>
                    </a:lnTo>
                    <a:lnTo>
                      <a:pt x="25206" y="266571"/>
                    </a:lnTo>
                    <a:lnTo>
                      <a:pt x="241248" y="266571"/>
                    </a:lnTo>
                    <a:lnTo>
                      <a:pt x="241248" y="283391"/>
                    </a:lnTo>
                    <a:lnTo>
                      <a:pt x="8386" y="283391"/>
                    </a:lnTo>
                    <a:lnTo>
                      <a:pt x="8386" y="40582"/>
                    </a:lnTo>
                    <a:lnTo>
                      <a:pt x="0" y="40582"/>
                    </a:lnTo>
                    <a:close/>
                    <a:moveTo>
                      <a:pt x="48391" y="0"/>
                    </a:moveTo>
                    <a:lnTo>
                      <a:pt x="272989" y="0"/>
                    </a:lnTo>
                    <a:lnTo>
                      <a:pt x="272989" y="227717"/>
                    </a:lnTo>
                    <a:lnTo>
                      <a:pt x="281351" y="227717"/>
                    </a:lnTo>
                    <a:lnTo>
                      <a:pt x="264579" y="256768"/>
                    </a:lnTo>
                    <a:lnTo>
                      <a:pt x="247783" y="227717"/>
                    </a:lnTo>
                    <a:lnTo>
                      <a:pt x="256169" y="227717"/>
                    </a:lnTo>
                    <a:lnTo>
                      <a:pt x="256169" y="16820"/>
                    </a:lnTo>
                    <a:lnTo>
                      <a:pt x="48391" y="16820"/>
                    </a:lnTo>
                    <a:close/>
                  </a:path>
                </a:pathLst>
              </a:custGeom>
              <a:solidFill>
                <a:srgbClr val="1582B6"/>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sp>
          <p:nvSpPr>
            <p:cNvPr id="3172" name="Google Shape;3172;p147"/>
            <p:cNvSpPr/>
            <p:nvPr/>
          </p:nvSpPr>
          <p:spPr>
            <a:xfrm>
              <a:off x="855541" y="1769287"/>
              <a:ext cx="1751033" cy="178593"/>
            </a:xfrm>
            <a:prstGeom prst="roundRect">
              <a:avLst>
                <a:gd name="adj" fmla="val 0"/>
              </a:avLst>
            </a:prstGeom>
            <a:noFill/>
            <a:ln>
              <a:noFill/>
            </a:ln>
          </p:spPr>
          <p:txBody>
            <a:bodyPr spcFirstLastPara="1" wrap="square" lIns="91375" tIns="91375"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Advanced Cyber Compliance</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Protection and Recovery</a:t>
              </a: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grpSp>
          <p:nvGrpSpPr>
            <p:cNvPr id="3173" name="Google Shape;3173;p147"/>
            <p:cNvGrpSpPr/>
            <p:nvPr/>
          </p:nvGrpSpPr>
          <p:grpSpPr>
            <a:xfrm>
              <a:off x="416917" y="2054640"/>
              <a:ext cx="2479116" cy="141975"/>
              <a:chOff x="4441917" y="5666198"/>
              <a:chExt cx="3304607" cy="189300"/>
            </a:xfrm>
          </p:grpSpPr>
          <p:cxnSp>
            <p:nvCxnSpPr>
              <p:cNvPr id="3174" name="Google Shape;3174;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175" name="Google Shape;3175;p147"/>
              <p:cNvGrpSpPr/>
              <p:nvPr/>
            </p:nvGrpSpPr>
            <p:grpSpPr>
              <a:xfrm>
                <a:off x="4441917" y="5666198"/>
                <a:ext cx="3304607" cy="189300"/>
                <a:chOff x="908260" y="5666198"/>
                <a:chExt cx="10372275" cy="189300"/>
              </a:xfrm>
            </p:grpSpPr>
            <p:sp>
              <p:nvSpPr>
                <p:cNvPr id="3176" name="Google Shape;3176;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77" name="Google Shape;3177;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grpSp>
        <p:nvGrpSpPr>
          <p:cNvPr id="3178" name="Google Shape;3178;p147"/>
          <p:cNvGrpSpPr/>
          <p:nvPr/>
        </p:nvGrpSpPr>
        <p:grpSpPr>
          <a:xfrm>
            <a:off x="7938281" y="1038377"/>
            <a:ext cx="3799410" cy="999562"/>
            <a:chOff x="6053257" y="702115"/>
            <a:chExt cx="2850300" cy="749867"/>
          </a:xfrm>
        </p:grpSpPr>
        <p:sp>
          <p:nvSpPr>
            <p:cNvPr id="3179" name="Google Shape;3179;p147"/>
            <p:cNvSpPr/>
            <p:nvPr/>
          </p:nvSpPr>
          <p:spPr>
            <a:xfrm>
              <a:off x="6071781" y="864918"/>
              <a:ext cx="2769000" cy="434700"/>
            </a:xfrm>
            <a:prstGeom prst="roundRect">
              <a:avLst>
                <a:gd name="adj" fmla="val 13379"/>
              </a:avLst>
            </a:prstGeom>
            <a:noFill/>
            <a:ln w="9525" cap="flat" cmpd="sng">
              <a:solidFill>
                <a:srgbClr val="1582B6"/>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80" name="Google Shape;3180;p147"/>
            <p:cNvSpPr/>
            <p:nvPr/>
          </p:nvSpPr>
          <p:spPr>
            <a:xfrm>
              <a:off x="6093804" y="833387"/>
              <a:ext cx="2769000" cy="512700"/>
            </a:xfrm>
            <a:prstGeom prst="round2SameRect">
              <a:avLst>
                <a:gd name="adj1" fmla="val 13379"/>
                <a:gd name="adj2" fmla="val 0"/>
              </a:avLst>
            </a:prstGeom>
            <a:noFill/>
            <a:ln>
              <a:noFill/>
            </a:ln>
          </p:spPr>
          <p:txBody>
            <a:bodyPr spcFirstLastPara="1" wrap="square" lIns="91400" tIns="45675" rIns="91400" bIns="45675"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sp>
          <p:nvSpPr>
            <p:cNvPr id="3181" name="Google Shape;3181;p147"/>
            <p:cNvSpPr/>
            <p:nvPr/>
          </p:nvSpPr>
          <p:spPr>
            <a:xfrm>
              <a:off x="6053257" y="939282"/>
              <a:ext cx="2850300" cy="512700"/>
            </a:xfrm>
            <a:prstGeom prst="rect">
              <a:avLst/>
            </a:prstGeom>
            <a:solidFill>
              <a:schemeClr val="lt1"/>
            </a:solidFill>
            <a:ln>
              <a:noFill/>
            </a:ln>
          </p:spPr>
          <p:txBody>
            <a:bodyPr spcFirstLastPara="1" wrap="square" lIns="91400" tIns="45675" rIns="91400" bIns="45675"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grpSp>
          <p:nvGrpSpPr>
            <p:cNvPr id="3182" name="Google Shape;3182;p147"/>
            <p:cNvGrpSpPr/>
            <p:nvPr/>
          </p:nvGrpSpPr>
          <p:grpSpPr>
            <a:xfrm>
              <a:off x="6233718" y="702115"/>
              <a:ext cx="2489389" cy="308475"/>
              <a:chOff x="8266376" y="480838"/>
              <a:chExt cx="3318300" cy="411300"/>
            </a:xfrm>
          </p:grpSpPr>
          <p:sp>
            <p:nvSpPr>
              <p:cNvPr id="3183" name="Google Shape;3183;p147"/>
              <p:cNvSpPr/>
              <p:nvPr/>
            </p:nvSpPr>
            <p:spPr>
              <a:xfrm>
                <a:off x="8266376" y="480838"/>
                <a:ext cx="3318300" cy="411300"/>
              </a:xfrm>
              <a:prstGeom prst="roundRect">
                <a:avLst>
                  <a:gd name="adj" fmla="val 50000"/>
                </a:avLst>
              </a:prstGeom>
              <a:solidFill>
                <a:srgbClr val="2877AE"/>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Secure Access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184" name="Google Shape;3184;p147"/>
              <p:cNvGrpSpPr/>
              <p:nvPr/>
            </p:nvGrpSpPr>
            <p:grpSpPr>
              <a:xfrm>
                <a:off x="11187626" y="499488"/>
                <a:ext cx="374100" cy="374100"/>
                <a:chOff x="11187626" y="499488"/>
                <a:chExt cx="374100" cy="374100"/>
              </a:xfrm>
            </p:grpSpPr>
            <p:sp>
              <p:nvSpPr>
                <p:cNvPr id="3185" name="Google Shape;3185;p147"/>
                <p:cNvSpPr/>
                <p:nvPr/>
              </p:nvSpPr>
              <p:spPr>
                <a:xfrm>
                  <a:off x="11187626" y="499488"/>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86" name="Google Shape;3186;p147"/>
                <p:cNvSpPr/>
                <p:nvPr/>
              </p:nvSpPr>
              <p:spPr>
                <a:xfrm>
                  <a:off x="11251758" y="553670"/>
                  <a:ext cx="246122" cy="266048"/>
                </a:xfrm>
                <a:custGeom>
                  <a:avLst/>
                  <a:gdLst/>
                  <a:ahLst/>
                  <a:cxnLst/>
                  <a:rect l="l" t="t" r="r" b="b"/>
                  <a:pathLst>
                    <a:path w="297428" h="321508" extrusionOk="0">
                      <a:moveTo>
                        <a:pt x="140700" y="240342"/>
                      </a:moveTo>
                      <a:lnTo>
                        <a:pt x="156704" y="240342"/>
                      </a:lnTo>
                      <a:lnTo>
                        <a:pt x="156704" y="321508"/>
                      </a:lnTo>
                      <a:lnTo>
                        <a:pt x="140700" y="321508"/>
                      </a:lnTo>
                      <a:close/>
                      <a:moveTo>
                        <a:pt x="47167" y="234535"/>
                      </a:moveTo>
                      <a:lnTo>
                        <a:pt x="63171" y="234535"/>
                      </a:lnTo>
                      <a:lnTo>
                        <a:pt x="63171" y="286641"/>
                      </a:lnTo>
                      <a:lnTo>
                        <a:pt x="47167" y="286641"/>
                      </a:lnTo>
                      <a:close/>
                      <a:moveTo>
                        <a:pt x="94311" y="176576"/>
                      </a:moveTo>
                      <a:lnTo>
                        <a:pt x="110315" y="176576"/>
                      </a:lnTo>
                      <a:lnTo>
                        <a:pt x="110315" y="308476"/>
                      </a:lnTo>
                      <a:lnTo>
                        <a:pt x="94311" y="308476"/>
                      </a:lnTo>
                      <a:close/>
                      <a:moveTo>
                        <a:pt x="187067" y="159176"/>
                      </a:moveTo>
                      <a:lnTo>
                        <a:pt x="203071" y="159176"/>
                      </a:lnTo>
                      <a:lnTo>
                        <a:pt x="203071" y="308475"/>
                      </a:lnTo>
                      <a:lnTo>
                        <a:pt x="187067" y="308475"/>
                      </a:lnTo>
                      <a:close/>
                      <a:moveTo>
                        <a:pt x="0" y="148705"/>
                      </a:moveTo>
                      <a:lnTo>
                        <a:pt x="16004" y="148705"/>
                      </a:lnTo>
                      <a:lnTo>
                        <a:pt x="16004" y="234306"/>
                      </a:lnTo>
                      <a:lnTo>
                        <a:pt x="0" y="234306"/>
                      </a:lnTo>
                      <a:close/>
                      <a:moveTo>
                        <a:pt x="140700" y="144681"/>
                      </a:moveTo>
                      <a:lnTo>
                        <a:pt x="156704" y="144681"/>
                      </a:lnTo>
                      <a:lnTo>
                        <a:pt x="156704" y="225847"/>
                      </a:lnTo>
                      <a:lnTo>
                        <a:pt x="140700" y="225847"/>
                      </a:lnTo>
                      <a:close/>
                      <a:moveTo>
                        <a:pt x="148703" y="94312"/>
                      </a:moveTo>
                      <a:cubicBezTo>
                        <a:pt x="174150" y="94312"/>
                        <a:pt x="195916" y="111597"/>
                        <a:pt x="201677" y="136336"/>
                      </a:cubicBezTo>
                      <a:lnTo>
                        <a:pt x="186084" y="139971"/>
                      </a:lnTo>
                      <a:cubicBezTo>
                        <a:pt x="182015" y="122526"/>
                        <a:pt x="166650" y="110340"/>
                        <a:pt x="148703" y="110340"/>
                      </a:cubicBezTo>
                      <a:cubicBezTo>
                        <a:pt x="127531" y="110340"/>
                        <a:pt x="110315" y="127579"/>
                        <a:pt x="110315" y="148728"/>
                      </a:cubicBezTo>
                      <a:lnTo>
                        <a:pt x="110315" y="154558"/>
                      </a:lnTo>
                      <a:lnTo>
                        <a:pt x="94311" y="154558"/>
                      </a:lnTo>
                      <a:lnTo>
                        <a:pt x="94311" y="148728"/>
                      </a:lnTo>
                      <a:cubicBezTo>
                        <a:pt x="94311" y="118730"/>
                        <a:pt x="118706" y="94335"/>
                        <a:pt x="148703" y="94335"/>
                      </a:cubicBezTo>
                      <a:close/>
                      <a:moveTo>
                        <a:pt x="196945" y="59354"/>
                      </a:moveTo>
                      <a:cubicBezTo>
                        <a:pt x="229845" y="77188"/>
                        <a:pt x="250261" y="111414"/>
                        <a:pt x="250261" y="148705"/>
                      </a:cubicBezTo>
                      <a:lnTo>
                        <a:pt x="250261" y="286709"/>
                      </a:lnTo>
                      <a:lnTo>
                        <a:pt x="234257" y="286709"/>
                      </a:lnTo>
                      <a:lnTo>
                        <a:pt x="234257" y="148705"/>
                      </a:lnTo>
                      <a:cubicBezTo>
                        <a:pt x="234257" y="117290"/>
                        <a:pt x="217041" y="88459"/>
                        <a:pt x="189331" y="73438"/>
                      </a:cubicBezTo>
                      <a:lnTo>
                        <a:pt x="196945" y="59377"/>
                      </a:lnTo>
                      <a:close/>
                      <a:moveTo>
                        <a:pt x="148703" y="47168"/>
                      </a:moveTo>
                      <a:cubicBezTo>
                        <a:pt x="157482" y="47168"/>
                        <a:pt x="166216" y="48288"/>
                        <a:pt x="174652" y="50529"/>
                      </a:cubicBezTo>
                      <a:lnTo>
                        <a:pt x="170560" y="66008"/>
                      </a:lnTo>
                      <a:cubicBezTo>
                        <a:pt x="163472" y="64133"/>
                        <a:pt x="156110" y="63172"/>
                        <a:pt x="148703" y="63172"/>
                      </a:cubicBezTo>
                      <a:cubicBezTo>
                        <a:pt x="101536" y="63172"/>
                        <a:pt x="63171" y="101538"/>
                        <a:pt x="63171" y="148705"/>
                      </a:cubicBezTo>
                      <a:lnTo>
                        <a:pt x="63171" y="212563"/>
                      </a:lnTo>
                      <a:lnTo>
                        <a:pt x="47167" y="212563"/>
                      </a:lnTo>
                      <a:lnTo>
                        <a:pt x="47167" y="148705"/>
                      </a:lnTo>
                      <a:cubicBezTo>
                        <a:pt x="47167" y="92712"/>
                        <a:pt x="92710" y="47168"/>
                        <a:pt x="148703" y="47168"/>
                      </a:cubicBezTo>
                      <a:close/>
                      <a:moveTo>
                        <a:pt x="216126" y="16187"/>
                      </a:moveTo>
                      <a:lnTo>
                        <a:pt x="216149" y="16187"/>
                      </a:lnTo>
                      <a:cubicBezTo>
                        <a:pt x="266289" y="41771"/>
                        <a:pt x="297428" y="92551"/>
                        <a:pt x="297428" y="148704"/>
                      </a:cubicBezTo>
                      <a:lnTo>
                        <a:pt x="297428" y="234534"/>
                      </a:lnTo>
                      <a:lnTo>
                        <a:pt x="281424" y="234534"/>
                      </a:lnTo>
                      <a:lnTo>
                        <a:pt x="281424" y="148704"/>
                      </a:lnTo>
                      <a:cubicBezTo>
                        <a:pt x="281424" y="98610"/>
                        <a:pt x="253622" y="53294"/>
                        <a:pt x="208856" y="30431"/>
                      </a:cubicBezTo>
                      <a:close/>
                      <a:moveTo>
                        <a:pt x="148703" y="0"/>
                      </a:moveTo>
                      <a:cubicBezTo>
                        <a:pt x="162832" y="0"/>
                        <a:pt x="176825" y="1989"/>
                        <a:pt x="190291" y="5922"/>
                      </a:cubicBezTo>
                      <a:lnTo>
                        <a:pt x="185810" y="21286"/>
                      </a:lnTo>
                      <a:cubicBezTo>
                        <a:pt x="173807" y="17788"/>
                        <a:pt x="161323" y="16004"/>
                        <a:pt x="148703" y="16004"/>
                      </a:cubicBezTo>
                      <a:lnTo>
                        <a:pt x="148726" y="16027"/>
                      </a:lnTo>
                      <a:cubicBezTo>
                        <a:pt x="83451" y="16027"/>
                        <a:pt x="28373" y="62738"/>
                        <a:pt x="17788" y="127099"/>
                      </a:cubicBezTo>
                      <a:lnTo>
                        <a:pt x="1989" y="124493"/>
                      </a:lnTo>
                      <a:cubicBezTo>
                        <a:pt x="7636" y="90129"/>
                        <a:pt x="25424" y="58622"/>
                        <a:pt x="52037" y="35804"/>
                      </a:cubicBezTo>
                      <a:cubicBezTo>
                        <a:pt x="78947" y="12712"/>
                        <a:pt x="113288" y="0"/>
                        <a:pt x="148703" y="0"/>
                      </a:cubicBezTo>
                      <a:close/>
                    </a:path>
                  </a:pathLst>
                </a:custGeom>
                <a:solidFill>
                  <a:srgbClr val="2877AE"/>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sp>
          <p:nvSpPr>
            <p:cNvPr id="3187" name="Google Shape;3187;p147"/>
            <p:cNvSpPr/>
            <p:nvPr/>
          </p:nvSpPr>
          <p:spPr>
            <a:xfrm>
              <a:off x="6325197" y="889284"/>
              <a:ext cx="1134300" cy="2319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Identity Access Management </a:t>
              </a: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sp>
          <p:nvSpPr>
            <p:cNvPr id="3188" name="Google Shape;3188;p147"/>
            <p:cNvSpPr/>
            <p:nvPr/>
          </p:nvSpPr>
          <p:spPr>
            <a:xfrm>
              <a:off x="7612607" y="940031"/>
              <a:ext cx="1134300" cy="2319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Privileged Access Management</a:t>
              </a:r>
              <a:r>
                <a:rPr kumimoji="0" lang="en-US" sz="933"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189" name="Google Shape;3189;p147"/>
            <p:cNvGrpSpPr/>
            <p:nvPr/>
          </p:nvGrpSpPr>
          <p:grpSpPr>
            <a:xfrm>
              <a:off x="6247735" y="1292640"/>
              <a:ext cx="2479116" cy="141975"/>
              <a:chOff x="4441917" y="5666198"/>
              <a:chExt cx="3304607" cy="189300"/>
            </a:xfrm>
          </p:grpSpPr>
          <p:cxnSp>
            <p:nvCxnSpPr>
              <p:cNvPr id="3190" name="Google Shape;3190;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191" name="Google Shape;3191;p147"/>
              <p:cNvGrpSpPr/>
              <p:nvPr/>
            </p:nvGrpSpPr>
            <p:grpSpPr>
              <a:xfrm>
                <a:off x="4441917" y="5666198"/>
                <a:ext cx="3304607" cy="189300"/>
                <a:chOff x="908260" y="5666198"/>
                <a:chExt cx="10372275" cy="189300"/>
              </a:xfrm>
            </p:grpSpPr>
            <p:sp>
              <p:nvSpPr>
                <p:cNvPr id="3192" name="Google Shape;3192;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93" name="Google Shape;3193;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grpSp>
        <p:nvGrpSpPr>
          <p:cNvPr id="3194" name="Google Shape;3194;p147"/>
          <p:cNvGrpSpPr/>
          <p:nvPr/>
        </p:nvGrpSpPr>
        <p:grpSpPr>
          <a:xfrm>
            <a:off x="7934949" y="4401536"/>
            <a:ext cx="3961368" cy="1702393"/>
            <a:chOff x="6050757" y="3377542"/>
            <a:chExt cx="2971800" cy="1277127"/>
          </a:xfrm>
        </p:grpSpPr>
        <p:sp>
          <p:nvSpPr>
            <p:cNvPr id="3195" name="Google Shape;3195;p147"/>
            <p:cNvSpPr/>
            <p:nvPr/>
          </p:nvSpPr>
          <p:spPr>
            <a:xfrm>
              <a:off x="6107378" y="3614546"/>
              <a:ext cx="2769000" cy="877500"/>
            </a:xfrm>
            <a:prstGeom prst="roundRect">
              <a:avLst>
                <a:gd name="adj" fmla="val 7814"/>
              </a:avLst>
            </a:prstGeom>
            <a:noFill/>
            <a:ln w="9525" cap="flat" cmpd="sng">
              <a:solidFill>
                <a:srgbClr val="535B9A"/>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196" name="Google Shape;3196;p147"/>
            <p:cNvSpPr/>
            <p:nvPr/>
          </p:nvSpPr>
          <p:spPr>
            <a:xfrm>
              <a:off x="6066830" y="3377542"/>
              <a:ext cx="2850300" cy="877500"/>
            </a:xfrm>
            <a:prstGeom prst="rect">
              <a:avLst/>
            </a:prstGeom>
            <a:gradFill>
              <a:gsLst>
                <a:gs pos="0">
                  <a:srgbClr val="FFFFFF">
                    <a:alpha val="0"/>
                  </a:srgbClr>
                </a:gs>
                <a:gs pos="72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cxnSp>
          <p:nvCxnSpPr>
            <p:cNvPr id="3197" name="Google Shape;3197;p147"/>
            <p:cNvCxnSpPr/>
            <p:nvPr/>
          </p:nvCxnSpPr>
          <p:spPr>
            <a:xfrm rot="10800000">
              <a:off x="6362548" y="3681819"/>
              <a:ext cx="2253900" cy="0"/>
            </a:xfrm>
            <a:prstGeom prst="straightConnector1">
              <a:avLst/>
            </a:prstGeom>
            <a:noFill/>
            <a:ln w="9525" cap="rnd" cmpd="sng">
              <a:solidFill>
                <a:srgbClr val="195787"/>
              </a:solidFill>
              <a:prstDash val="solid"/>
              <a:miter lim="800000"/>
              <a:headEnd type="none" w="sm" len="sm"/>
              <a:tailEnd type="none" w="sm" len="sm"/>
            </a:ln>
          </p:spPr>
        </p:cxnSp>
        <p:sp>
          <p:nvSpPr>
            <p:cNvPr id="3198" name="Google Shape;3198;p147"/>
            <p:cNvSpPr/>
            <p:nvPr/>
          </p:nvSpPr>
          <p:spPr>
            <a:xfrm>
              <a:off x="6050757" y="4261669"/>
              <a:ext cx="2971800" cy="3930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00" tIns="91400" rIns="91400" bIns="91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199" name="Google Shape;3199;p147"/>
            <p:cNvGrpSpPr/>
            <p:nvPr/>
          </p:nvGrpSpPr>
          <p:grpSpPr>
            <a:xfrm>
              <a:off x="6133406" y="4321590"/>
              <a:ext cx="2479116" cy="141975"/>
              <a:chOff x="4441917" y="5666198"/>
              <a:chExt cx="3304607" cy="189300"/>
            </a:xfrm>
          </p:grpSpPr>
          <p:cxnSp>
            <p:nvCxnSpPr>
              <p:cNvPr id="3200" name="Google Shape;3200;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201" name="Google Shape;3201;p147"/>
              <p:cNvGrpSpPr/>
              <p:nvPr/>
            </p:nvGrpSpPr>
            <p:grpSpPr>
              <a:xfrm>
                <a:off x="4441917" y="5666198"/>
                <a:ext cx="3304607" cy="189300"/>
                <a:chOff x="908260" y="5666198"/>
                <a:chExt cx="10372275" cy="189300"/>
              </a:xfrm>
            </p:grpSpPr>
            <p:sp>
              <p:nvSpPr>
                <p:cNvPr id="3202" name="Google Shape;3202;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03" name="Google Shape;3203;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sp>
          <p:nvSpPr>
            <p:cNvPr id="3204" name="Google Shape;3204;p147"/>
            <p:cNvSpPr/>
            <p:nvPr/>
          </p:nvSpPr>
          <p:spPr>
            <a:xfrm>
              <a:off x="7511219" y="3696002"/>
              <a:ext cx="1211100" cy="3255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VMware Tanzu </a:t>
              </a:r>
              <a:b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Data Suite</a:t>
              </a:r>
              <a:endParaRPr kumimoji="0" sz="10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05" name="Google Shape;3205;p147"/>
            <p:cNvSpPr/>
            <p:nvPr/>
          </p:nvSpPr>
          <p:spPr>
            <a:xfrm>
              <a:off x="6151058" y="3696002"/>
              <a:ext cx="1321800" cy="3084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VMware Data Services Manager </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206" name="Google Shape;3206;p147"/>
            <p:cNvGrpSpPr/>
            <p:nvPr/>
          </p:nvGrpSpPr>
          <p:grpSpPr>
            <a:xfrm>
              <a:off x="6247290" y="3462935"/>
              <a:ext cx="2490064" cy="308475"/>
              <a:chOff x="8284468" y="3704731"/>
              <a:chExt cx="3319200" cy="411300"/>
            </a:xfrm>
          </p:grpSpPr>
          <p:sp>
            <p:nvSpPr>
              <p:cNvPr id="3207" name="Google Shape;3207;p147"/>
              <p:cNvSpPr/>
              <p:nvPr/>
            </p:nvSpPr>
            <p:spPr>
              <a:xfrm>
                <a:off x="8284468" y="3704731"/>
                <a:ext cx="3319200" cy="411300"/>
              </a:xfrm>
              <a:prstGeom prst="roundRect">
                <a:avLst>
                  <a:gd name="adj" fmla="val 50000"/>
                </a:avLst>
              </a:prstGeom>
              <a:solidFill>
                <a:srgbClr val="545B9A"/>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Data Services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08" name="Google Shape;3208;p147"/>
              <p:cNvSpPr/>
              <p:nvPr/>
            </p:nvSpPr>
            <p:spPr>
              <a:xfrm>
                <a:off x="11205719" y="3723381"/>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09" name="Google Shape;3209;p147"/>
              <p:cNvSpPr/>
              <p:nvPr/>
            </p:nvSpPr>
            <p:spPr>
              <a:xfrm>
                <a:off x="11272209" y="3789862"/>
                <a:ext cx="241679" cy="241696"/>
              </a:xfrm>
              <a:custGeom>
                <a:avLst/>
                <a:gdLst/>
                <a:ahLst/>
                <a:cxnLst/>
                <a:rect l="l" t="t" r="r" b="b"/>
                <a:pathLst>
                  <a:path w="558795" h="558835" extrusionOk="0">
                    <a:moveTo>
                      <a:pt x="420277" y="382946"/>
                    </a:moveTo>
                    <a:cubicBezTo>
                      <a:pt x="424918" y="382946"/>
                      <a:pt x="429119" y="384386"/>
                      <a:pt x="432800" y="387227"/>
                    </a:cubicBezTo>
                    <a:cubicBezTo>
                      <a:pt x="436481" y="390068"/>
                      <a:pt x="439362" y="394069"/>
                      <a:pt x="441403" y="399191"/>
                    </a:cubicBezTo>
                    <a:cubicBezTo>
                      <a:pt x="443443" y="404352"/>
                      <a:pt x="444483" y="410154"/>
                      <a:pt x="444483" y="416715"/>
                    </a:cubicBezTo>
                    <a:cubicBezTo>
                      <a:pt x="444483" y="423277"/>
                      <a:pt x="443443" y="429119"/>
                      <a:pt x="441403" y="434240"/>
                    </a:cubicBezTo>
                    <a:cubicBezTo>
                      <a:pt x="439362" y="439362"/>
                      <a:pt x="436481" y="443403"/>
                      <a:pt x="432800" y="446284"/>
                    </a:cubicBezTo>
                    <a:cubicBezTo>
                      <a:pt x="429119" y="449204"/>
                      <a:pt x="424958" y="450645"/>
                      <a:pt x="420277" y="450645"/>
                    </a:cubicBezTo>
                    <a:cubicBezTo>
                      <a:pt x="415595" y="450645"/>
                      <a:pt x="411394" y="449164"/>
                      <a:pt x="407673" y="446284"/>
                    </a:cubicBezTo>
                    <a:cubicBezTo>
                      <a:pt x="403952" y="443403"/>
                      <a:pt x="401031" y="439402"/>
                      <a:pt x="398991" y="434240"/>
                    </a:cubicBezTo>
                    <a:cubicBezTo>
                      <a:pt x="396950" y="429079"/>
                      <a:pt x="395910" y="423277"/>
                      <a:pt x="395910" y="416715"/>
                    </a:cubicBezTo>
                    <a:cubicBezTo>
                      <a:pt x="395910" y="410154"/>
                      <a:pt x="396950" y="404312"/>
                      <a:pt x="398991" y="399191"/>
                    </a:cubicBezTo>
                    <a:cubicBezTo>
                      <a:pt x="401031" y="394069"/>
                      <a:pt x="403952" y="390068"/>
                      <a:pt x="407673" y="387227"/>
                    </a:cubicBezTo>
                    <a:cubicBezTo>
                      <a:pt x="411394" y="384386"/>
                      <a:pt x="415635" y="382946"/>
                      <a:pt x="420277" y="382946"/>
                    </a:cubicBezTo>
                    <a:close/>
                    <a:moveTo>
                      <a:pt x="247709" y="382946"/>
                    </a:moveTo>
                    <a:cubicBezTo>
                      <a:pt x="252350" y="382946"/>
                      <a:pt x="256551" y="384386"/>
                      <a:pt x="260232" y="387227"/>
                    </a:cubicBezTo>
                    <a:cubicBezTo>
                      <a:pt x="263913" y="390068"/>
                      <a:pt x="266794" y="394069"/>
                      <a:pt x="268835" y="399191"/>
                    </a:cubicBezTo>
                    <a:cubicBezTo>
                      <a:pt x="270875" y="404352"/>
                      <a:pt x="271915" y="410154"/>
                      <a:pt x="271915" y="416715"/>
                    </a:cubicBezTo>
                    <a:cubicBezTo>
                      <a:pt x="271915" y="423277"/>
                      <a:pt x="270875" y="429119"/>
                      <a:pt x="268835" y="434240"/>
                    </a:cubicBezTo>
                    <a:cubicBezTo>
                      <a:pt x="266794" y="439362"/>
                      <a:pt x="263913" y="443403"/>
                      <a:pt x="260232" y="446284"/>
                    </a:cubicBezTo>
                    <a:cubicBezTo>
                      <a:pt x="256551" y="449204"/>
                      <a:pt x="252390" y="450645"/>
                      <a:pt x="247709" y="450645"/>
                    </a:cubicBezTo>
                    <a:cubicBezTo>
                      <a:pt x="243027" y="450645"/>
                      <a:pt x="238826" y="449164"/>
                      <a:pt x="235105" y="446284"/>
                    </a:cubicBezTo>
                    <a:cubicBezTo>
                      <a:pt x="231384" y="443403"/>
                      <a:pt x="228463" y="439402"/>
                      <a:pt x="226423" y="434240"/>
                    </a:cubicBezTo>
                    <a:cubicBezTo>
                      <a:pt x="224382" y="429079"/>
                      <a:pt x="223342" y="423277"/>
                      <a:pt x="223342" y="416715"/>
                    </a:cubicBezTo>
                    <a:cubicBezTo>
                      <a:pt x="223342" y="410154"/>
                      <a:pt x="224382" y="404312"/>
                      <a:pt x="226423" y="399191"/>
                    </a:cubicBezTo>
                    <a:cubicBezTo>
                      <a:pt x="228463" y="394069"/>
                      <a:pt x="231384" y="390068"/>
                      <a:pt x="235105" y="387227"/>
                    </a:cubicBezTo>
                    <a:cubicBezTo>
                      <a:pt x="238826" y="384386"/>
                      <a:pt x="243067" y="382946"/>
                      <a:pt x="247709" y="382946"/>
                    </a:cubicBezTo>
                    <a:close/>
                    <a:moveTo>
                      <a:pt x="140359" y="382946"/>
                    </a:moveTo>
                    <a:cubicBezTo>
                      <a:pt x="145000" y="382946"/>
                      <a:pt x="149201" y="384386"/>
                      <a:pt x="152882" y="387227"/>
                    </a:cubicBezTo>
                    <a:cubicBezTo>
                      <a:pt x="156563" y="390068"/>
                      <a:pt x="159444" y="394029"/>
                      <a:pt x="161485" y="399191"/>
                    </a:cubicBezTo>
                    <a:cubicBezTo>
                      <a:pt x="163525" y="404352"/>
                      <a:pt x="164565" y="410154"/>
                      <a:pt x="164565" y="416715"/>
                    </a:cubicBezTo>
                    <a:cubicBezTo>
                      <a:pt x="164565" y="423277"/>
                      <a:pt x="163525" y="429119"/>
                      <a:pt x="161485" y="434240"/>
                    </a:cubicBezTo>
                    <a:cubicBezTo>
                      <a:pt x="159444" y="439362"/>
                      <a:pt x="156563" y="443403"/>
                      <a:pt x="152882" y="446284"/>
                    </a:cubicBezTo>
                    <a:cubicBezTo>
                      <a:pt x="149201" y="449204"/>
                      <a:pt x="145040" y="450645"/>
                      <a:pt x="140359" y="450645"/>
                    </a:cubicBezTo>
                    <a:cubicBezTo>
                      <a:pt x="135677" y="450645"/>
                      <a:pt x="131476" y="449164"/>
                      <a:pt x="127755" y="446284"/>
                    </a:cubicBezTo>
                    <a:cubicBezTo>
                      <a:pt x="124034" y="443403"/>
                      <a:pt x="121113" y="439362"/>
                      <a:pt x="119073" y="434240"/>
                    </a:cubicBezTo>
                    <a:cubicBezTo>
                      <a:pt x="117032" y="429079"/>
                      <a:pt x="115992" y="423277"/>
                      <a:pt x="115992" y="416715"/>
                    </a:cubicBezTo>
                    <a:cubicBezTo>
                      <a:pt x="115992" y="410154"/>
                      <a:pt x="117032" y="404312"/>
                      <a:pt x="119073" y="399191"/>
                    </a:cubicBezTo>
                    <a:cubicBezTo>
                      <a:pt x="121113" y="394069"/>
                      <a:pt x="124034" y="390068"/>
                      <a:pt x="127755" y="387227"/>
                    </a:cubicBezTo>
                    <a:cubicBezTo>
                      <a:pt x="131476" y="384386"/>
                      <a:pt x="135717" y="382946"/>
                      <a:pt x="140359" y="382946"/>
                    </a:cubicBezTo>
                    <a:close/>
                    <a:moveTo>
                      <a:pt x="335653" y="368662"/>
                    </a:moveTo>
                    <a:lnTo>
                      <a:pt x="308605" y="387027"/>
                    </a:lnTo>
                    <a:lnTo>
                      <a:pt x="315607" y="399350"/>
                    </a:lnTo>
                    <a:lnTo>
                      <a:pt x="332132" y="388828"/>
                    </a:lnTo>
                    <a:lnTo>
                      <a:pt x="332132" y="464889"/>
                    </a:lnTo>
                    <a:lnTo>
                      <a:pt x="349657" y="464889"/>
                    </a:lnTo>
                    <a:lnTo>
                      <a:pt x="349657" y="368662"/>
                    </a:lnTo>
                    <a:close/>
                    <a:moveTo>
                      <a:pt x="420236" y="366982"/>
                    </a:moveTo>
                    <a:cubicBezTo>
                      <a:pt x="412114" y="366982"/>
                      <a:pt x="404872" y="369102"/>
                      <a:pt x="398470" y="373343"/>
                    </a:cubicBezTo>
                    <a:cubicBezTo>
                      <a:pt x="392068" y="377584"/>
                      <a:pt x="387067" y="383466"/>
                      <a:pt x="383466" y="390988"/>
                    </a:cubicBezTo>
                    <a:cubicBezTo>
                      <a:pt x="379865" y="398510"/>
                      <a:pt x="378065" y="407113"/>
                      <a:pt x="378065" y="416715"/>
                    </a:cubicBezTo>
                    <a:cubicBezTo>
                      <a:pt x="378065" y="426318"/>
                      <a:pt x="379865" y="434920"/>
                      <a:pt x="383466" y="442482"/>
                    </a:cubicBezTo>
                    <a:cubicBezTo>
                      <a:pt x="387067" y="450044"/>
                      <a:pt x="392068" y="455966"/>
                      <a:pt x="398470" y="460207"/>
                    </a:cubicBezTo>
                    <a:cubicBezTo>
                      <a:pt x="404832" y="464448"/>
                      <a:pt x="412074" y="466569"/>
                      <a:pt x="420236" y="466569"/>
                    </a:cubicBezTo>
                    <a:cubicBezTo>
                      <a:pt x="428398" y="466569"/>
                      <a:pt x="435641" y="464448"/>
                      <a:pt x="442042" y="460207"/>
                    </a:cubicBezTo>
                    <a:cubicBezTo>
                      <a:pt x="448444" y="455966"/>
                      <a:pt x="453445" y="450044"/>
                      <a:pt x="457046" y="442482"/>
                    </a:cubicBezTo>
                    <a:cubicBezTo>
                      <a:pt x="460647" y="434920"/>
                      <a:pt x="462448" y="426358"/>
                      <a:pt x="462448" y="416715"/>
                    </a:cubicBezTo>
                    <a:cubicBezTo>
                      <a:pt x="462448" y="407073"/>
                      <a:pt x="460647" y="398510"/>
                      <a:pt x="457046" y="390988"/>
                    </a:cubicBezTo>
                    <a:cubicBezTo>
                      <a:pt x="453445" y="383466"/>
                      <a:pt x="448444" y="377584"/>
                      <a:pt x="442042" y="373343"/>
                    </a:cubicBezTo>
                    <a:cubicBezTo>
                      <a:pt x="435641" y="369102"/>
                      <a:pt x="428359" y="366982"/>
                      <a:pt x="420236" y="366982"/>
                    </a:cubicBezTo>
                    <a:close/>
                    <a:moveTo>
                      <a:pt x="247628" y="366982"/>
                    </a:moveTo>
                    <a:cubicBezTo>
                      <a:pt x="239506" y="366982"/>
                      <a:pt x="232264" y="369102"/>
                      <a:pt x="225862" y="373343"/>
                    </a:cubicBezTo>
                    <a:cubicBezTo>
                      <a:pt x="219461" y="377584"/>
                      <a:pt x="214459" y="383466"/>
                      <a:pt x="210858" y="390988"/>
                    </a:cubicBezTo>
                    <a:cubicBezTo>
                      <a:pt x="207257" y="398510"/>
                      <a:pt x="205457" y="407113"/>
                      <a:pt x="205457" y="416715"/>
                    </a:cubicBezTo>
                    <a:cubicBezTo>
                      <a:pt x="205457" y="426318"/>
                      <a:pt x="207257" y="434920"/>
                      <a:pt x="210858" y="442482"/>
                    </a:cubicBezTo>
                    <a:cubicBezTo>
                      <a:pt x="214459" y="450044"/>
                      <a:pt x="219461" y="455966"/>
                      <a:pt x="225862" y="460207"/>
                    </a:cubicBezTo>
                    <a:cubicBezTo>
                      <a:pt x="232224" y="464448"/>
                      <a:pt x="239466" y="466569"/>
                      <a:pt x="247628" y="466569"/>
                    </a:cubicBezTo>
                    <a:cubicBezTo>
                      <a:pt x="255791" y="466569"/>
                      <a:pt x="263033" y="464448"/>
                      <a:pt x="269435" y="460207"/>
                    </a:cubicBezTo>
                    <a:cubicBezTo>
                      <a:pt x="275836" y="455966"/>
                      <a:pt x="280838" y="450044"/>
                      <a:pt x="284439" y="442482"/>
                    </a:cubicBezTo>
                    <a:cubicBezTo>
                      <a:pt x="288040" y="434920"/>
                      <a:pt x="289840" y="426358"/>
                      <a:pt x="289840" y="416715"/>
                    </a:cubicBezTo>
                    <a:cubicBezTo>
                      <a:pt x="289840" y="407073"/>
                      <a:pt x="288040" y="398510"/>
                      <a:pt x="284439" y="390988"/>
                    </a:cubicBezTo>
                    <a:cubicBezTo>
                      <a:pt x="280838" y="383466"/>
                      <a:pt x="275836" y="377584"/>
                      <a:pt x="269435" y="373343"/>
                    </a:cubicBezTo>
                    <a:cubicBezTo>
                      <a:pt x="263033" y="369102"/>
                      <a:pt x="255751" y="366982"/>
                      <a:pt x="247628" y="366982"/>
                    </a:cubicBezTo>
                    <a:close/>
                    <a:moveTo>
                      <a:pt x="140319" y="366982"/>
                    </a:moveTo>
                    <a:cubicBezTo>
                      <a:pt x="132157" y="366982"/>
                      <a:pt x="124915" y="369102"/>
                      <a:pt x="118513" y="373343"/>
                    </a:cubicBezTo>
                    <a:cubicBezTo>
                      <a:pt x="112111" y="377584"/>
                      <a:pt x="107110" y="383466"/>
                      <a:pt x="103509" y="390988"/>
                    </a:cubicBezTo>
                    <a:cubicBezTo>
                      <a:pt x="99908" y="398510"/>
                      <a:pt x="98107" y="407113"/>
                      <a:pt x="98107" y="416715"/>
                    </a:cubicBezTo>
                    <a:cubicBezTo>
                      <a:pt x="98107" y="426318"/>
                      <a:pt x="99908" y="434920"/>
                      <a:pt x="103509" y="442482"/>
                    </a:cubicBezTo>
                    <a:cubicBezTo>
                      <a:pt x="107110" y="450044"/>
                      <a:pt x="112111" y="455966"/>
                      <a:pt x="118513" y="460207"/>
                    </a:cubicBezTo>
                    <a:cubicBezTo>
                      <a:pt x="124915" y="464448"/>
                      <a:pt x="132157" y="466569"/>
                      <a:pt x="140319" y="466569"/>
                    </a:cubicBezTo>
                    <a:cubicBezTo>
                      <a:pt x="148481" y="466569"/>
                      <a:pt x="155723" y="464448"/>
                      <a:pt x="162125" y="460207"/>
                    </a:cubicBezTo>
                    <a:cubicBezTo>
                      <a:pt x="168527" y="455966"/>
                      <a:pt x="173528" y="450044"/>
                      <a:pt x="177129" y="442482"/>
                    </a:cubicBezTo>
                    <a:cubicBezTo>
                      <a:pt x="180730" y="434920"/>
                      <a:pt x="182530" y="426358"/>
                      <a:pt x="182530" y="416715"/>
                    </a:cubicBezTo>
                    <a:cubicBezTo>
                      <a:pt x="182530" y="407073"/>
                      <a:pt x="180730" y="398510"/>
                      <a:pt x="177129" y="390988"/>
                    </a:cubicBezTo>
                    <a:cubicBezTo>
                      <a:pt x="173528" y="383466"/>
                      <a:pt x="168527" y="377584"/>
                      <a:pt x="162125" y="373343"/>
                    </a:cubicBezTo>
                    <a:cubicBezTo>
                      <a:pt x="155723" y="369102"/>
                      <a:pt x="148481" y="366982"/>
                      <a:pt x="140319" y="366982"/>
                    </a:cubicBezTo>
                    <a:close/>
                    <a:moveTo>
                      <a:pt x="345536" y="247669"/>
                    </a:moveTo>
                    <a:cubicBezTo>
                      <a:pt x="350177" y="247669"/>
                      <a:pt x="354378" y="249109"/>
                      <a:pt x="358059" y="251950"/>
                    </a:cubicBezTo>
                    <a:cubicBezTo>
                      <a:pt x="361740" y="254791"/>
                      <a:pt x="364621" y="258792"/>
                      <a:pt x="366662" y="263913"/>
                    </a:cubicBezTo>
                    <a:cubicBezTo>
                      <a:pt x="368702" y="269075"/>
                      <a:pt x="369742" y="274877"/>
                      <a:pt x="369742" y="281438"/>
                    </a:cubicBezTo>
                    <a:cubicBezTo>
                      <a:pt x="369742" y="288000"/>
                      <a:pt x="368702" y="293842"/>
                      <a:pt x="366662" y="298963"/>
                    </a:cubicBezTo>
                    <a:cubicBezTo>
                      <a:pt x="364621" y="304085"/>
                      <a:pt x="361740" y="308126"/>
                      <a:pt x="358059" y="311007"/>
                    </a:cubicBezTo>
                    <a:cubicBezTo>
                      <a:pt x="354378" y="313927"/>
                      <a:pt x="350217" y="315368"/>
                      <a:pt x="345536" y="315368"/>
                    </a:cubicBezTo>
                    <a:cubicBezTo>
                      <a:pt x="340854" y="315368"/>
                      <a:pt x="336653" y="313887"/>
                      <a:pt x="332932" y="311007"/>
                    </a:cubicBezTo>
                    <a:cubicBezTo>
                      <a:pt x="329211" y="308126"/>
                      <a:pt x="326290" y="304125"/>
                      <a:pt x="324250" y="298963"/>
                    </a:cubicBezTo>
                    <a:cubicBezTo>
                      <a:pt x="322209" y="293802"/>
                      <a:pt x="321169" y="288000"/>
                      <a:pt x="321169" y="281438"/>
                    </a:cubicBezTo>
                    <a:cubicBezTo>
                      <a:pt x="321169" y="274877"/>
                      <a:pt x="322209" y="269035"/>
                      <a:pt x="324250" y="263913"/>
                    </a:cubicBezTo>
                    <a:cubicBezTo>
                      <a:pt x="326290" y="258792"/>
                      <a:pt x="329211" y="254791"/>
                      <a:pt x="332932" y="251950"/>
                    </a:cubicBezTo>
                    <a:cubicBezTo>
                      <a:pt x="336653" y="249109"/>
                      <a:pt x="340894" y="247669"/>
                      <a:pt x="345536" y="247669"/>
                    </a:cubicBezTo>
                    <a:close/>
                    <a:moveTo>
                      <a:pt x="221422" y="247669"/>
                    </a:moveTo>
                    <a:cubicBezTo>
                      <a:pt x="226063" y="247669"/>
                      <a:pt x="230264" y="249109"/>
                      <a:pt x="233945" y="251950"/>
                    </a:cubicBezTo>
                    <a:cubicBezTo>
                      <a:pt x="237626" y="254791"/>
                      <a:pt x="240507" y="258792"/>
                      <a:pt x="242548" y="263913"/>
                    </a:cubicBezTo>
                    <a:cubicBezTo>
                      <a:pt x="244588" y="269075"/>
                      <a:pt x="245628" y="274877"/>
                      <a:pt x="245628" y="281438"/>
                    </a:cubicBezTo>
                    <a:cubicBezTo>
                      <a:pt x="245628" y="288000"/>
                      <a:pt x="244588" y="293842"/>
                      <a:pt x="242548" y="298963"/>
                    </a:cubicBezTo>
                    <a:cubicBezTo>
                      <a:pt x="240507" y="304085"/>
                      <a:pt x="237626" y="308126"/>
                      <a:pt x="233945" y="311007"/>
                    </a:cubicBezTo>
                    <a:cubicBezTo>
                      <a:pt x="230264" y="313927"/>
                      <a:pt x="226103" y="315368"/>
                      <a:pt x="221422" y="315368"/>
                    </a:cubicBezTo>
                    <a:cubicBezTo>
                      <a:pt x="216740" y="315368"/>
                      <a:pt x="212539" y="313887"/>
                      <a:pt x="208818" y="311007"/>
                    </a:cubicBezTo>
                    <a:cubicBezTo>
                      <a:pt x="205097" y="308126"/>
                      <a:pt x="202176" y="304125"/>
                      <a:pt x="200136" y="298963"/>
                    </a:cubicBezTo>
                    <a:cubicBezTo>
                      <a:pt x="198095" y="293802"/>
                      <a:pt x="197055" y="288000"/>
                      <a:pt x="197055" y="281438"/>
                    </a:cubicBezTo>
                    <a:cubicBezTo>
                      <a:pt x="197055" y="274877"/>
                      <a:pt x="198095" y="269035"/>
                      <a:pt x="200136" y="263913"/>
                    </a:cubicBezTo>
                    <a:cubicBezTo>
                      <a:pt x="202176" y="258792"/>
                      <a:pt x="205097" y="254791"/>
                      <a:pt x="208818" y="251950"/>
                    </a:cubicBezTo>
                    <a:cubicBezTo>
                      <a:pt x="212539" y="249109"/>
                      <a:pt x="216780" y="247669"/>
                      <a:pt x="221422" y="247669"/>
                    </a:cubicBezTo>
                    <a:close/>
                    <a:moveTo>
                      <a:pt x="449644" y="233385"/>
                    </a:moveTo>
                    <a:lnTo>
                      <a:pt x="422597" y="251750"/>
                    </a:lnTo>
                    <a:lnTo>
                      <a:pt x="429599" y="264073"/>
                    </a:lnTo>
                    <a:lnTo>
                      <a:pt x="446123" y="253550"/>
                    </a:lnTo>
                    <a:lnTo>
                      <a:pt x="446123" y="329611"/>
                    </a:lnTo>
                    <a:lnTo>
                      <a:pt x="463648" y="329611"/>
                    </a:lnTo>
                    <a:lnTo>
                      <a:pt x="463648" y="233385"/>
                    </a:lnTo>
                    <a:close/>
                    <a:moveTo>
                      <a:pt x="119953" y="233385"/>
                    </a:moveTo>
                    <a:lnTo>
                      <a:pt x="92906" y="251750"/>
                    </a:lnTo>
                    <a:lnTo>
                      <a:pt x="99908" y="264073"/>
                    </a:lnTo>
                    <a:lnTo>
                      <a:pt x="116432" y="253550"/>
                    </a:lnTo>
                    <a:lnTo>
                      <a:pt x="116432" y="329611"/>
                    </a:lnTo>
                    <a:lnTo>
                      <a:pt x="133957" y="329611"/>
                    </a:lnTo>
                    <a:lnTo>
                      <a:pt x="133957" y="233385"/>
                    </a:lnTo>
                    <a:close/>
                    <a:moveTo>
                      <a:pt x="345496" y="231704"/>
                    </a:moveTo>
                    <a:cubicBezTo>
                      <a:pt x="337373" y="231704"/>
                      <a:pt x="330131" y="233825"/>
                      <a:pt x="323730" y="238066"/>
                    </a:cubicBezTo>
                    <a:cubicBezTo>
                      <a:pt x="317328" y="242307"/>
                      <a:pt x="312326" y="248189"/>
                      <a:pt x="308725" y="255711"/>
                    </a:cubicBezTo>
                    <a:cubicBezTo>
                      <a:pt x="305124" y="263233"/>
                      <a:pt x="303324" y="271835"/>
                      <a:pt x="303324" y="281438"/>
                    </a:cubicBezTo>
                    <a:cubicBezTo>
                      <a:pt x="303324" y="291041"/>
                      <a:pt x="305124" y="299643"/>
                      <a:pt x="308725" y="307205"/>
                    </a:cubicBezTo>
                    <a:cubicBezTo>
                      <a:pt x="312326" y="314767"/>
                      <a:pt x="317328" y="320689"/>
                      <a:pt x="323730" y="324930"/>
                    </a:cubicBezTo>
                    <a:cubicBezTo>
                      <a:pt x="330091" y="329171"/>
                      <a:pt x="337333" y="331292"/>
                      <a:pt x="345496" y="331292"/>
                    </a:cubicBezTo>
                    <a:cubicBezTo>
                      <a:pt x="353658" y="331292"/>
                      <a:pt x="360900" y="329171"/>
                      <a:pt x="367302" y="324930"/>
                    </a:cubicBezTo>
                    <a:cubicBezTo>
                      <a:pt x="373703" y="320689"/>
                      <a:pt x="378705" y="314767"/>
                      <a:pt x="382306" y="307205"/>
                    </a:cubicBezTo>
                    <a:cubicBezTo>
                      <a:pt x="385907" y="299643"/>
                      <a:pt x="387707" y="291081"/>
                      <a:pt x="387707" y="281438"/>
                    </a:cubicBezTo>
                    <a:cubicBezTo>
                      <a:pt x="387707" y="271795"/>
                      <a:pt x="385907" y="263233"/>
                      <a:pt x="382306" y="255711"/>
                    </a:cubicBezTo>
                    <a:cubicBezTo>
                      <a:pt x="378705" y="248189"/>
                      <a:pt x="373703" y="242307"/>
                      <a:pt x="367302" y="238066"/>
                    </a:cubicBezTo>
                    <a:cubicBezTo>
                      <a:pt x="360900" y="233825"/>
                      <a:pt x="353618" y="231704"/>
                      <a:pt x="345496" y="231704"/>
                    </a:cubicBezTo>
                    <a:close/>
                    <a:moveTo>
                      <a:pt x="221381" y="231704"/>
                    </a:moveTo>
                    <a:cubicBezTo>
                      <a:pt x="213259" y="231704"/>
                      <a:pt x="206017" y="233825"/>
                      <a:pt x="199615" y="238066"/>
                    </a:cubicBezTo>
                    <a:cubicBezTo>
                      <a:pt x="193213" y="242307"/>
                      <a:pt x="188212" y="248189"/>
                      <a:pt x="184611" y="255711"/>
                    </a:cubicBezTo>
                    <a:cubicBezTo>
                      <a:pt x="181010" y="263233"/>
                      <a:pt x="179210" y="271835"/>
                      <a:pt x="179210" y="281438"/>
                    </a:cubicBezTo>
                    <a:cubicBezTo>
                      <a:pt x="179210" y="291041"/>
                      <a:pt x="181010" y="299643"/>
                      <a:pt x="184611" y="307205"/>
                    </a:cubicBezTo>
                    <a:cubicBezTo>
                      <a:pt x="188212" y="314767"/>
                      <a:pt x="193213" y="320689"/>
                      <a:pt x="199615" y="324930"/>
                    </a:cubicBezTo>
                    <a:cubicBezTo>
                      <a:pt x="205977" y="329171"/>
                      <a:pt x="213219" y="331292"/>
                      <a:pt x="221381" y="331292"/>
                    </a:cubicBezTo>
                    <a:cubicBezTo>
                      <a:pt x="229544" y="331292"/>
                      <a:pt x="236785" y="329171"/>
                      <a:pt x="243187" y="324930"/>
                    </a:cubicBezTo>
                    <a:cubicBezTo>
                      <a:pt x="249589" y="320689"/>
                      <a:pt x="254590" y="314767"/>
                      <a:pt x="258191" y="307205"/>
                    </a:cubicBezTo>
                    <a:cubicBezTo>
                      <a:pt x="261792" y="299643"/>
                      <a:pt x="263593" y="291081"/>
                      <a:pt x="263593" y="281438"/>
                    </a:cubicBezTo>
                    <a:cubicBezTo>
                      <a:pt x="263593" y="271795"/>
                      <a:pt x="261792" y="263233"/>
                      <a:pt x="258191" y="255711"/>
                    </a:cubicBezTo>
                    <a:cubicBezTo>
                      <a:pt x="254590" y="248189"/>
                      <a:pt x="249589" y="242307"/>
                      <a:pt x="243187" y="238066"/>
                    </a:cubicBezTo>
                    <a:cubicBezTo>
                      <a:pt x="236785" y="233825"/>
                      <a:pt x="229503" y="231704"/>
                      <a:pt x="221381" y="231704"/>
                    </a:cubicBezTo>
                    <a:close/>
                    <a:moveTo>
                      <a:pt x="343776" y="112391"/>
                    </a:moveTo>
                    <a:cubicBezTo>
                      <a:pt x="348417" y="112391"/>
                      <a:pt x="352618" y="113831"/>
                      <a:pt x="356299" y="116672"/>
                    </a:cubicBezTo>
                    <a:cubicBezTo>
                      <a:pt x="359980" y="119513"/>
                      <a:pt x="362861" y="123514"/>
                      <a:pt x="364902" y="128635"/>
                    </a:cubicBezTo>
                    <a:cubicBezTo>
                      <a:pt x="366942" y="133797"/>
                      <a:pt x="367982" y="139599"/>
                      <a:pt x="367982" y="146160"/>
                    </a:cubicBezTo>
                    <a:cubicBezTo>
                      <a:pt x="367982" y="152722"/>
                      <a:pt x="366942" y="158524"/>
                      <a:pt x="364902" y="163685"/>
                    </a:cubicBezTo>
                    <a:cubicBezTo>
                      <a:pt x="362861" y="168807"/>
                      <a:pt x="359980" y="172848"/>
                      <a:pt x="356299" y="175729"/>
                    </a:cubicBezTo>
                    <a:cubicBezTo>
                      <a:pt x="352618" y="178649"/>
                      <a:pt x="348457" y="180090"/>
                      <a:pt x="343776" y="180090"/>
                    </a:cubicBezTo>
                    <a:cubicBezTo>
                      <a:pt x="339094" y="180090"/>
                      <a:pt x="334893" y="178609"/>
                      <a:pt x="331172" y="175729"/>
                    </a:cubicBezTo>
                    <a:cubicBezTo>
                      <a:pt x="327451" y="172848"/>
                      <a:pt x="324530" y="168807"/>
                      <a:pt x="322490" y="163685"/>
                    </a:cubicBezTo>
                    <a:cubicBezTo>
                      <a:pt x="320449" y="158524"/>
                      <a:pt x="319409" y="152722"/>
                      <a:pt x="319409" y="146160"/>
                    </a:cubicBezTo>
                    <a:cubicBezTo>
                      <a:pt x="319409" y="139599"/>
                      <a:pt x="320449" y="133797"/>
                      <a:pt x="322490" y="128635"/>
                    </a:cubicBezTo>
                    <a:cubicBezTo>
                      <a:pt x="324530" y="123514"/>
                      <a:pt x="327451" y="119513"/>
                      <a:pt x="331172" y="116672"/>
                    </a:cubicBezTo>
                    <a:cubicBezTo>
                      <a:pt x="334893" y="113831"/>
                      <a:pt x="339134" y="112391"/>
                      <a:pt x="343776" y="112391"/>
                    </a:cubicBezTo>
                    <a:close/>
                    <a:moveTo>
                      <a:pt x="131957" y="112391"/>
                    </a:moveTo>
                    <a:cubicBezTo>
                      <a:pt x="136598" y="112391"/>
                      <a:pt x="140799" y="113831"/>
                      <a:pt x="144480" y="116672"/>
                    </a:cubicBezTo>
                    <a:cubicBezTo>
                      <a:pt x="148161" y="119513"/>
                      <a:pt x="151042" y="123514"/>
                      <a:pt x="153083" y="128635"/>
                    </a:cubicBezTo>
                    <a:cubicBezTo>
                      <a:pt x="155123" y="133797"/>
                      <a:pt x="156163" y="139599"/>
                      <a:pt x="156163" y="146160"/>
                    </a:cubicBezTo>
                    <a:cubicBezTo>
                      <a:pt x="156163" y="152722"/>
                      <a:pt x="155123" y="158524"/>
                      <a:pt x="153083" y="163685"/>
                    </a:cubicBezTo>
                    <a:cubicBezTo>
                      <a:pt x="151042" y="168807"/>
                      <a:pt x="148161" y="172848"/>
                      <a:pt x="144480" y="175729"/>
                    </a:cubicBezTo>
                    <a:cubicBezTo>
                      <a:pt x="140799" y="178649"/>
                      <a:pt x="136638" y="180090"/>
                      <a:pt x="131957" y="180090"/>
                    </a:cubicBezTo>
                    <a:cubicBezTo>
                      <a:pt x="127275" y="180090"/>
                      <a:pt x="123074" y="178609"/>
                      <a:pt x="119353" y="175729"/>
                    </a:cubicBezTo>
                    <a:cubicBezTo>
                      <a:pt x="115632" y="172848"/>
                      <a:pt x="112711" y="168807"/>
                      <a:pt x="110671" y="163685"/>
                    </a:cubicBezTo>
                    <a:cubicBezTo>
                      <a:pt x="108630" y="158524"/>
                      <a:pt x="107590" y="152722"/>
                      <a:pt x="107590" y="146160"/>
                    </a:cubicBezTo>
                    <a:cubicBezTo>
                      <a:pt x="107590" y="139599"/>
                      <a:pt x="108630" y="133797"/>
                      <a:pt x="110671" y="128635"/>
                    </a:cubicBezTo>
                    <a:cubicBezTo>
                      <a:pt x="112711" y="123514"/>
                      <a:pt x="115632" y="119513"/>
                      <a:pt x="119353" y="116672"/>
                    </a:cubicBezTo>
                    <a:cubicBezTo>
                      <a:pt x="123074" y="113831"/>
                      <a:pt x="127315" y="112391"/>
                      <a:pt x="131957" y="112391"/>
                    </a:cubicBezTo>
                    <a:close/>
                    <a:moveTo>
                      <a:pt x="451405" y="98107"/>
                    </a:moveTo>
                    <a:lnTo>
                      <a:pt x="424357" y="116472"/>
                    </a:lnTo>
                    <a:lnTo>
                      <a:pt x="431359" y="128796"/>
                    </a:lnTo>
                    <a:lnTo>
                      <a:pt x="447884" y="118313"/>
                    </a:lnTo>
                    <a:lnTo>
                      <a:pt x="447884" y="194374"/>
                    </a:lnTo>
                    <a:lnTo>
                      <a:pt x="465409" y="194374"/>
                    </a:lnTo>
                    <a:lnTo>
                      <a:pt x="465409" y="98107"/>
                    </a:lnTo>
                    <a:close/>
                    <a:moveTo>
                      <a:pt x="239546" y="98107"/>
                    </a:moveTo>
                    <a:lnTo>
                      <a:pt x="212499" y="116472"/>
                    </a:lnTo>
                    <a:lnTo>
                      <a:pt x="219501" y="128796"/>
                    </a:lnTo>
                    <a:lnTo>
                      <a:pt x="236025" y="118313"/>
                    </a:lnTo>
                    <a:lnTo>
                      <a:pt x="236025" y="194374"/>
                    </a:lnTo>
                    <a:lnTo>
                      <a:pt x="253550" y="194374"/>
                    </a:lnTo>
                    <a:lnTo>
                      <a:pt x="253550" y="98107"/>
                    </a:lnTo>
                    <a:close/>
                    <a:moveTo>
                      <a:pt x="343815" y="96427"/>
                    </a:moveTo>
                    <a:cubicBezTo>
                      <a:pt x="335653" y="96427"/>
                      <a:pt x="328411" y="98547"/>
                      <a:pt x="322009" y="102788"/>
                    </a:cubicBezTo>
                    <a:cubicBezTo>
                      <a:pt x="315607" y="107030"/>
                      <a:pt x="310606" y="112911"/>
                      <a:pt x="307005" y="120433"/>
                    </a:cubicBezTo>
                    <a:cubicBezTo>
                      <a:pt x="303404" y="127955"/>
                      <a:pt x="301603" y="136558"/>
                      <a:pt x="301603" y="146160"/>
                    </a:cubicBezTo>
                    <a:cubicBezTo>
                      <a:pt x="301603" y="155763"/>
                      <a:pt x="303404" y="164365"/>
                      <a:pt x="307005" y="171928"/>
                    </a:cubicBezTo>
                    <a:cubicBezTo>
                      <a:pt x="310606" y="179490"/>
                      <a:pt x="315607" y="185411"/>
                      <a:pt x="322009" y="189652"/>
                    </a:cubicBezTo>
                    <a:cubicBezTo>
                      <a:pt x="328411" y="193894"/>
                      <a:pt x="335653" y="196014"/>
                      <a:pt x="343815" y="196014"/>
                    </a:cubicBezTo>
                    <a:cubicBezTo>
                      <a:pt x="351977" y="196014"/>
                      <a:pt x="359219" y="193894"/>
                      <a:pt x="365621" y="189652"/>
                    </a:cubicBezTo>
                    <a:cubicBezTo>
                      <a:pt x="372023" y="185411"/>
                      <a:pt x="377024" y="179490"/>
                      <a:pt x="380625" y="171928"/>
                    </a:cubicBezTo>
                    <a:cubicBezTo>
                      <a:pt x="384226" y="164365"/>
                      <a:pt x="386027" y="155803"/>
                      <a:pt x="386027" y="146160"/>
                    </a:cubicBezTo>
                    <a:cubicBezTo>
                      <a:pt x="386027" y="136518"/>
                      <a:pt x="384226" y="127955"/>
                      <a:pt x="380625" y="120433"/>
                    </a:cubicBezTo>
                    <a:cubicBezTo>
                      <a:pt x="377024" y="112911"/>
                      <a:pt x="372023" y="107030"/>
                      <a:pt x="365621" y="102788"/>
                    </a:cubicBezTo>
                    <a:cubicBezTo>
                      <a:pt x="359219" y="98547"/>
                      <a:pt x="351977" y="96427"/>
                      <a:pt x="343815" y="96427"/>
                    </a:cubicBezTo>
                    <a:close/>
                    <a:moveTo>
                      <a:pt x="131997" y="96427"/>
                    </a:moveTo>
                    <a:cubicBezTo>
                      <a:pt x="123834" y="96427"/>
                      <a:pt x="116592" y="98547"/>
                      <a:pt x="110190" y="102788"/>
                    </a:cubicBezTo>
                    <a:cubicBezTo>
                      <a:pt x="103789" y="107030"/>
                      <a:pt x="98787" y="112911"/>
                      <a:pt x="95186" y="120433"/>
                    </a:cubicBezTo>
                    <a:cubicBezTo>
                      <a:pt x="91585" y="127955"/>
                      <a:pt x="89785" y="136558"/>
                      <a:pt x="89785" y="146160"/>
                    </a:cubicBezTo>
                    <a:cubicBezTo>
                      <a:pt x="89785" y="155763"/>
                      <a:pt x="91585" y="164365"/>
                      <a:pt x="95186" y="171928"/>
                    </a:cubicBezTo>
                    <a:cubicBezTo>
                      <a:pt x="98787" y="179490"/>
                      <a:pt x="103789" y="185411"/>
                      <a:pt x="110190" y="189652"/>
                    </a:cubicBezTo>
                    <a:cubicBezTo>
                      <a:pt x="116592" y="193894"/>
                      <a:pt x="123834" y="196014"/>
                      <a:pt x="131997" y="196014"/>
                    </a:cubicBezTo>
                    <a:cubicBezTo>
                      <a:pt x="140159" y="196014"/>
                      <a:pt x="147401" y="193894"/>
                      <a:pt x="153803" y="189652"/>
                    </a:cubicBezTo>
                    <a:cubicBezTo>
                      <a:pt x="160204" y="185411"/>
                      <a:pt x="165206" y="179490"/>
                      <a:pt x="168807" y="171928"/>
                    </a:cubicBezTo>
                    <a:cubicBezTo>
                      <a:pt x="172408" y="164365"/>
                      <a:pt x="174208" y="155803"/>
                      <a:pt x="174208" y="146160"/>
                    </a:cubicBezTo>
                    <a:cubicBezTo>
                      <a:pt x="174208" y="136518"/>
                      <a:pt x="172408" y="127955"/>
                      <a:pt x="168807" y="120433"/>
                    </a:cubicBezTo>
                    <a:cubicBezTo>
                      <a:pt x="165206" y="112911"/>
                      <a:pt x="160204" y="107030"/>
                      <a:pt x="153803" y="102788"/>
                    </a:cubicBezTo>
                    <a:cubicBezTo>
                      <a:pt x="147401" y="98547"/>
                      <a:pt x="140159" y="96427"/>
                      <a:pt x="131997" y="96427"/>
                    </a:cubicBezTo>
                    <a:close/>
                    <a:moveTo>
                      <a:pt x="516103" y="0"/>
                    </a:moveTo>
                    <a:cubicBezTo>
                      <a:pt x="539709" y="0"/>
                      <a:pt x="558795" y="19125"/>
                      <a:pt x="558795" y="42692"/>
                    </a:cubicBezTo>
                    <a:lnTo>
                      <a:pt x="558795" y="516143"/>
                    </a:lnTo>
                    <a:cubicBezTo>
                      <a:pt x="558795" y="539749"/>
                      <a:pt x="539669" y="558835"/>
                      <a:pt x="516103" y="558835"/>
                    </a:cubicBezTo>
                    <a:lnTo>
                      <a:pt x="42692" y="558835"/>
                    </a:lnTo>
                    <a:cubicBezTo>
                      <a:pt x="19085" y="558835"/>
                      <a:pt x="0" y="539709"/>
                      <a:pt x="0" y="516143"/>
                    </a:cubicBezTo>
                    <a:lnTo>
                      <a:pt x="0" y="42732"/>
                    </a:lnTo>
                    <a:cubicBezTo>
                      <a:pt x="0" y="19125"/>
                      <a:pt x="19125" y="40"/>
                      <a:pt x="42692" y="40"/>
                    </a:cubicBezTo>
                    <a:lnTo>
                      <a:pt x="516103" y="40"/>
                    </a:lnTo>
                    <a:close/>
                  </a:path>
                </a:pathLst>
              </a:custGeom>
              <a:solidFill>
                <a:srgbClr val="545B9A"/>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sp>
          <p:nvSpPr>
            <p:cNvPr id="3210" name="Google Shape;3210;p147"/>
            <p:cNvSpPr/>
            <p:nvPr/>
          </p:nvSpPr>
          <p:spPr>
            <a:xfrm>
              <a:off x="6173684" y="396346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Data </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Services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11" name="Google Shape;3211;p147"/>
            <p:cNvSpPr/>
            <p:nvPr/>
          </p:nvSpPr>
          <p:spPr>
            <a:xfrm>
              <a:off x="7469084" y="3963463"/>
              <a:ext cx="13302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Tanzu </a:t>
              </a:r>
              <a:b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Rabbit MQ</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grpSp>
        <p:nvGrpSpPr>
          <p:cNvPr id="3212" name="Google Shape;3212;p147"/>
          <p:cNvGrpSpPr/>
          <p:nvPr/>
        </p:nvGrpSpPr>
        <p:grpSpPr>
          <a:xfrm>
            <a:off x="7938273" y="2162392"/>
            <a:ext cx="3799410" cy="969705"/>
            <a:chOff x="6053251" y="1469147"/>
            <a:chExt cx="2850300" cy="727468"/>
          </a:xfrm>
        </p:grpSpPr>
        <p:sp>
          <p:nvSpPr>
            <p:cNvPr id="3213" name="Google Shape;3213;p147"/>
            <p:cNvSpPr/>
            <p:nvPr/>
          </p:nvSpPr>
          <p:spPr>
            <a:xfrm>
              <a:off x="6093804" y="1618069"/>
              <a:ext cx="2769000" cy="512700"/>
            </a:xfrm>
            <a:prstGeom prst="round2SameRect">
              <a:avLst>
                <a:gd name="adj1" fmla="val 13379"/>
                <a:gd name="adj2" fmla="val 0"/>
              </a:avLst>
            </a:prstGeom>
            <a:noFill/>
            <a:ln w="9525" cap="flat" cmpd="sng">
              <a:solidFill>
                <a:srgbClr val="3D6AA5"/>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14" name="Google Shape;3214;p147"/>
            <p:cNvSpPr/>
            <p:nvPr/>
          </p:nvSpPr>
          <p:spPr>
            <a:xfrm>
              <a:off x="6053251" y="1609670"/>
              <a:ext cx="2850300" cy="570300"/>
            </a:xfrm>
            <a:prstGeom prst="rect">
              <a:avLst/>
            </a:prstGeom>
            <a:gradFill>
              <a:gsLst>
                <a:gs pos="0">
                  <a:srgbClr val="FFFFFF">
                    <a:alpha val="0"/>
                  </a:srgbClr>
                </a:gs>
                <a:gs pos="72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3215" name="Google Shape;3215;p147"/>
            <p:cNvGrpSpPr/>
            <p:nvPr/>
          </p:nvGrpSpPr>
          <p:grpSpPr>
            <a:xfrm>
              <a:off x="6233718" y="1469147"/>
              <a:ext cx="2489389" cy="308475"/>
              <a:chOff x="8266376" y="1351148"/>
              <a:chExt cx="3318300" cy="411300"/>
            </a:xfrm>
          </p:grpSpPr>
          <p:sp>
            <p:nvSpPr>
              <p:cNvPr id="3216" name="Google Shape;3216;p147"/>
              <p:cNvSpPr/>
              <p:nvPr/>
            </p:nvSpPr>
            <p:spPr>
              <a:xfrm>
                <a:off x="8266376" y="1351148"/>
                <a:ext cx="3318300" cy="411300"/>
              </a:xfrm>
              <a:prstGeom prst="roundRect">
                <a:avLst>
                  <a:gd name="adj" fmla="val 50000"/>
                </a:avLst>
              </a:prstGeom>
              <a:solidFill>
                <a:srgbClr val="3D6AA5"/>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85000"/>
                  </a:lnSpc>
                  <a:spcBef>
                    <a:spcPts val="0"/>
                  </a:spcBef>
                  <a:spcAft>
                    <a:spcPts val="0"/>
                  </a:spcAft>
                  <a:buClr>
                    <a:srgbClr val="000000"/>
                  </a:buClr>
                  <a:buSzPts val="1333"/>
                  <a:buFont typeface="Arial"/>
                  <a:buNone/>
                  <a:tabLst/>
                  <a:defRPr/>
                </a:pPr>
                <a:r>
                  <a:rPr kumimoji="0" lang="en-US" sz="1333" b="0" i="0" u="none" strike="noStrike" kern="0" cap="none" spc="0" normalizeH="0" baseline="0" noProof="0" dirty="0">
                    <a:ln>
                      <a:noFill/>
                    </a:ln>
                    <a:solidFill>
                      <a:srgbClr val="FFFFFF"/>
                    </a:solidFill>
                    <a:effectLst/>
                    <a:uLnTx/>
                    <a:uFillTx/>
                    <a:latin typeface="Arial"/>
                    <a:ea typeface="Arial"/>
                    <a:cs typeface="Arial"/>
                    <a:sym typeface="Arial"/>
                  </a:rPr>
                  <a:t>Business Operations</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17" name="Google Shape;3217;p147"/>
              <p:cNvSpPr/>
              <p:nvPr/>
            </p:nvSpPr>
            <p:spPr>
              <a:xfrm>
                <a:off x="11187626" y="1369798"/>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85000"/>
                  </a:lnSpc>
                  <a:spcBef>
                    <a:spcPts val="0"/>
                  </a:spcBef>
                  <a:spcAft>
                    <a:spcPts val="0"/>
                  </a:spcAft>
                  <a:buClr>
                    <a:srgbClr val="000000"/>
                  </a:buClr>
                  <a:buSzPts val="1333"/>
                  <a:buFont typeface="Arial"/>
                  <a:buNone/>
                  <a:tabLst/>
                  <a:defRPr/>
                </a:pPr>
                <a:endParaRPr kumimoji="0" sz="1333"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18" name="Google Shape;3218;p147"/>
              <p:cNvSpPr/>
              <p:nvPr/>
            </p:nvSpPr>
            <p:spPr>
              <a:xfrm>
                <a:off x="11225247" y="1415469"/>
                <a:ext cx="318180" cy="300157"/>
              </a:xfrm>
              <a:custGeom>
                <a:avLst/>
                <a:gdLst/>
                <a:ahLst/>
                <a:cxnLst/>
                <a:rect l="l" t="t" r="r" b="b"/>
                <a:pathLst>
                  <a:path w="384508" h="362727" extrusionOk="0">
                    <a:moveTo>
                      <a:pt x="175227" y="254349"/>
                    </a:moveTo>
                    <a:cubicBezTo>
                      <a:pt x="154627" y="262316"/>
                      <a:pt x="144422" y="285645"/>
                      <a:pt x="152471" y="306464"/>
                    </a:cubicBezTo>
                    <a:cubicBezTo>
                      <a:pt x="160521" y="327282"/>
                      <a:pt x="183741" y="337733"/>
                      <a:pt x="204341" y="329766"/>
                    </a:cubicBezTo>
                    <a:cubicBezTo>
                      <a:pt x="224969" y="321798"/>
                      <a:pt x="235147" y="298469"/>
                      <a:pt x="227097" y="277650"/>
                    </a:cubicBezTo>
                    <a:cubicBezTo>
                      <a:pt x="219075" y="256804"/>
                      <a:pt x="195828" y="246381"/>
                      <a:pt x="175227" y="254349"/>
                    </a:cubicBezTo>
                    <a:close/>
                    <a:moveTo>
                      <a:pt x="200249" y="221333"/>
                    </a:moveTo>
                    <a:lnTo>
                      <a:pt x="201121" y="221470"/>
                    </a:lnTo>
                    <a:cubicBezTo>
                      <a:pt x="205596" y="222206"/>
                      <a:pt x="210016" y="223407"/>
                      <a:pt x="214273" y="225016"/>
                    </a:cubicBezTo>
                    <a:lnTo>
                      <a:pt x="215119" y="225317"/>
                    </a:lnTo>
                    <a:lnTo>
                      <a:pt x="215610" y="241961"/>
                    </a:lnTo>
                    <a:cubicBezTo>
                      <a:pt x="218721" y="243598"/>
                      <a:pt x="221668" y="245508"/>
                      <a:pt x="224369" y="247664"/>
                    </a:cubicBezTo>
                    <a:lnTo>
                      <a:pt x="239567" y="241306"/>
                    </a:lnTo>
                    <a:lnTo>
                      <a:pt x="240194" y="241961"/>
                    </a:lnTo>
                    <a:cubicBezTo>
                      <a:pt x="241805" y="243598"/>
                      <a:pt x="243332" y="245344"/>
                      <a:pt x="244751" y="247090"/>
                    </a:cubicBezTo>
                    <a:cubicBezTo>
                      <a:pt x="246170" y="248837"/>
                      <a:pt x="247534" y="250719"/>
                      <a:pt x="248817" y="252629"/>
                    </a:cubicBezTo>
                    <a:lnTo>
                      <a:pt x="249308" y="253366"/>
                    </a:lnTo>
                    <a:lnTo>
                      <a:pt x="240010" y="267026"/>
                    </a:lnTo>
                    <a:lnTo>
                      <a:pt x="240003" y="267009"/>
                    </a:lnTo>
                    <a:lnTo>
                      <a:pt x="240003" y="267036"/>
                    </a:lnTo>
                    <a:lnTo>
                      <a:pt x="240010" y="267026"/>
                    </a:lnTo>
                    <a:lnTo>
                      <a:pt x="243769" y="276804"/>
                    </a:lnTo>
                    <a:lnTo>
                      <a:pt x="259867" y="280679"/>
                    </a:lnTo>
                    <a:lnTo>
                      <a:pt x="260004" y="281579"/>
                    </a:lnTo>
                    <a:cubicBezTo>
                      <a:pt x="260686" y="286082"/>
                      <a:pt x="260959" y="290693"/>
                      <a:pt x="260741" y="295250"/>
                    </a:cubicBezTo>
                    <a:lnTo>
                      <a:pt x="260741" y="296150"/>
                    </a:lnTo>
                    <a:lnTo>
                      <a:pt x="245188" y="301662"/>
                    </a:lnTo>
                    <a:cubicBezTo>
                      <a:pt x="244615" y="305072"/>
                      <a:pt x="243742" y="308456"/>
                      <a:pt x="242541" y="311757"/>
                    </a:cubicBezTo>
                    <a:lnTo>
                      <a:pt x="253373" y="324417"/>
                    </a:lnTo>
                    <a:lnTo>
                      <a:pt x="252964" y="325209"/>
                    </a:lnTo>
                    <a:cubicBezTo>
                      <a:pt x="250891" y="329247"/>
                      <a:pt x="248435" y="333094"/>
                      <a:pt x="245625" y="336669"/>
                    </a:cubicBezTo>
                    <a:lnTo>
                      <a:pt x="245079" y="337351"/>
                    </a:lnTo>
                    <a:lnTo>
                      <a:pt x="229226" y="332576"/>
                    </a:lnTo>
                    <a:cubicBezTo>
                      <a:pt x="227970" y="333776"/>
                      <a:pt x="226688" y="334950"/>
                      <a:pt x="225351" y="336041"/>
                    </a:cubicBezTo>
                    <a:cubicBezTo>
                      <a:pt x="224014" y="337105"/>
                      <a:pt x="222623" y="338142"/>
                      <a:pt x="221177" y="339124"/>
                    </a:cubicBezTo>
                    <a:lnTo>
                      <a:pt x="222596" y="355742"/>
                    </a:lnTo>
                    <a:lnTo>
                      <a:pt x="221804" y="356123"/>
                    </a:lnTo>
                    <a:cubicBezTo>
                      <a:pt x="217766" y="358143"/>
                      <a:pt x="213509" y="359807"/>
                      <a:pt x="209144" y="361008"/>
                    </a:cubicBezTo>
                    <a:lnTo>
                      <a:pt x="208297" y="361253"/>
                    </a:lnTo>
                    <a:lnTo>
                      <a:pt x="198175" y="347992"/>
                    </a:lnTo>
                    <a:cubicBezTo>
                      <a:pt x="194709" y="348511"/>
                      <a:pt x="191244" y="348674"/>
                      <a:pt x="187806" y="348538"/>
                    </a:cubicBezTo>
                    <a:lnTo>
                      <a:pt x="179266" y="362727"/>
                    </a:lnTo>
                    <a:lnTo>
                      <a:pt x="178393" y="362590"/>
                    </a:lnTo>
                    <a:cubicBezTo>
                      <a:pt x="173918" y="361826"/>
                      <a:pt x="169498" y="360653"/>
                      <a:pt x="165241" y="359043"/>
                    </a:cubicBezTo>
                    <a:lnTo>
                      <a:pt x="164395" y="358715"/>
                    </a:lnTo>
                    <a:lnTo>
                      <a:pt x="163904" y="342072"/>
                    </a:lnTo>
                    <a:cubicBezTo>
                      <a:pt x="160793" y="340461"/>
                      <a:pt x="157847" y="338524"/>
                      <a:pt x="155146" y="336369"/>
                    </a:cubicBezTo>
                    <a:lnTo>
                      <a:pt x="139948" y="342754"/>
                    </a:lnTo>
                    <a:lnTo>
                      <a:pt x="139320" y="342099"/>
                    </a:lnTo>
                    <a:cubicBezTo>
                      <a:pt x="137710" y="340461"/>
                      <a:pt x="136182" y="338715"/>
                      <a:pt x="134763" y="336969"/>
                    </a:cubicBezTo>
                    <a:cubicBezTo>
                      <a:pt x="133317" y="335195"/>
                      <a:pt x="131953" y="333340"/>
                      <a:pt x="130698" y="331430"/>
                    </a:cubicBezTo>
                    <a:lnTo>
                      <a:pt x="130207" y="330693"/>
                    </a:lnTo>
                    <a:lnTo>
                      <a:pt x="139511" y="317023"/>
                    </a:lnTo>
                    <a:cubicBezTo>
                      <a:pt x="137983" y="313913"/>
                      <a:pt x="136701" y="310639"/>
                      <a:pt x="135746" y="307255"/>
                    </a:cubicBezTo>
                    <a:lnTo>
                      <a:pt x="119647" y="303353"/>
                    </a:lnTo>
                    <a:lnTo>
                      <a:pt x="119511" y="302480"/>
                    </a:lnTo>
                    <a:cubicBezTo>
                      <a:pt x="118829" y="297978"/>
                      <a:pt x="118555" y="293367"/>
                      <a:pt x="118774" y="288810"/>
                    </a:cubicBezTo>
                    <a:lnTo>
                      <a:pt x="118774" y="287937"/>
                    </a:lnTo>
                    <a:lnTo>
                      <a:pt x="134327" y="282425"/>
                    </a:lnTo>
                    <a:cubicBezTo>
                      <a:pt x="134900" y="279014"/>
                      <a:pt x="135773" y="275631"/>
                      <a:pt x="136973" y="272329"/>
                    </a:cubicBezTo>
                    <a:lnTo>
                      <a:pt x="126141" y="259669"/>
                    </a:lnTo>
                    <a:lnTo>
                      <a:pt x="126551" y="258878"/>
                    </a:lnTo>
                    <a:cubicBezTo>
                      <a:pt x="128624" y="254840"/>
                      <a:pt x="131080" y="250965"/>
                      <a:pt x="133890" y="247418"/>
                    </a:cubicBezTo>
                    <a:lnTo>
                      <a:pt x="134436" y="246709"/>
                    </a:lnTo>
                    <a:lnTo>
                      <a:pt x="150289" y="251484"/>
                    </a:lnTo>
                    <a:cubicBezTo>
                      <a:pt x="151544" y="250256"/>
                      <a:pt x="152853" y="249110"/>
                      <a:pt x="154163" y="248018"/>
                    </a:cubicBezTo>
                    <a:cubicBezTo>
                      <a:pt x="155473" y="246954"/>
                      <a:pt x="156892" y="245917"/>
                      <a:pt x="158338" y="244935"/>
                    </a:cubicBezTo>
                    <a:lnTo>
                      <a:pt x="156919" y="228318"/>
                    </a:lnTo>
                    <a:lnTo>
                      <a:pt x="157710" y="227936"/>
                    </a:lnTo>
                    <a:cubicBezTo>
                      <a:pt x="161748" y="225890"/>
                      <a:pt x="166005" y="224225"/>
                      <a:pt x="170371" y="223025"/>
                    </a:cubicBezTo>
                    <a:lnTo>
                      <a:pt x="171217" y="222806"/>
                    </a:lnTo>
                    <a:lnTo>
                      <a:pt x="181340" y="236067"/>
                    </a:lnTo>
                    <a:cubicBezTo>
                      <a:pt x="184805" y="235549"/>
                      <a:pt x="188270" y="235385"/>
                      <a:pt x="191708" y="235521"/>
                    </a:cubicBezTo>
                    <a:close/>
                    <a:moveTo>
                      <a:pt x="300283" y="122158"/>
                    </a:moveTo>
                    <a:cubicBezTo>
                      <a:pt x="294022" y="121936"/>
                      <a:pt x="287624" y="122948"/>
                      <a:pt x="281423" y="125342"/>
                    </a:cubicBezTo>
                    <a:cubicBezTo>
                      <a:pt x="256620" y="134947"/>
                      <a:pt x="244342" y="163023"/>
                      <a:pt x="254028" y="188099"/>
                    </a:cubicBezTo>
                    <a:cubicBezTo>
                      <a:pt x="263715" y="213174"/>
                      <a:pt x="291682" y="225726"/>
                      <a:pt x="316484" y="216148"/>
                    </a:cubicBezTo>
                    <a:cubicBezTo>
                      <a:pt x="341287" y="206571"/>
                      <a:pt x="353566" y="178467"/>
                      <a:pt x="343879" y="153391"/>
                    </a:cubicBezTo>
                    <a:cubicBezTo>
                      <a:pt x="336615" y="134585"/>
                      <a:pt x="319066" y="122823"/>
                      <a:pt x="300283" y="122158"/>
                    </a:cubicBezTo>
                    <a:close/>
                    <a:moveTo>
                      <a:pt x="311573" y="85587"/>
                    </a:moveTo>
                    <a:lnTo>
                      <a:pt x="312637" y="85751"/>
                    </a:lnTo>
                    <a:cubicBezTo>
                      <a:pt x="318013" y="86678"/>
                      <a:pt x="323333" y="88097"/>
                      <a:pt x="328463" y="90034"/>
                    </a:cubicBezTo>
                    <a:lnTo>
                      <a:pt x="329472" y="90416"/>
                    </a:lnTo>
                    <a:lnTo>
                      <a:pt x="330073" y="110471"/>
                    </a:lnTo>
                    <a:cubicBezTo>
                      <a:pt x="333811" y="112436"/>
                      <a:pt x="337331" y="114755"/>
                      <a:pt x="340605" y="117347"/>
                    </a:cubicBezTo>
                    <a:lnTo>
                      <a:pt x="358914" y="109680"/>
                    </a:lnTo>
                    <a:lnTo>
                      <a:pt x="359650" y="110444"/>
                    </a:lnTo>
                    <a:cubicBezTo>
                      <a:pt x="361587" y="112409"/>
                      <a:pt x="363416" y="114510"/>
                      <a:pt x="365135" y="116610"/>
                    </a:cubicBezTo>
                    <a:cubicBezTo>
                      <a:pt x="366854" y="118712"/>
                      <a:pt x="368491" y="120949"/>
                      <a:pt x="370019" y="123268"/>
                    </a:cubicBezTo>
                    <a:lnTo>
                      <a:pt x="370619" y="124169"/>
                    </a:lnTo>
                    <a:lnTo>
                      <a:pt x="359432" y="140649"/>
                    </a:lnTo>
                    <a:lnTo>
                      <a:pt x="359459" y="140622"/>
                    </a:lnTo>
                    <a:cubicBezTo>
                      <a:pt x="361315" y="144360"/>
                      <a:pt x="362843" y="148316"/>
                      <a:pt x="363988" y="152409"/>
                    </a:cubicBezTo>
                    <a:lnTo>
                      <a:pt x="383362" y="157075"/>
                    </a:lnTo>
                    <a:lnTo>
                      <a:pt x="383525" y="158139"/>
                    </a:lnTo>
                    <a:cubicBezTo>
                      <a:pt x="384371" y="163596"/>
                      <a:pt x="384671" y="169135"/>
                      <a:pt x="384425" y="174620"/>
                    </a:cubicBezTo>
                    <a:lnTo>
                      <a:pt x="384425" y="175684"/>
                    </a:lnTo>
                    <a:lnTo>
                      <a:pt x="365707" y="182314"/>
                    </a:lnTo>
                    <a:cubicBezTo>
                      <a:pt x="365026" y="186434"/>
                      <a:pt x="363988" y="190500"/>
                      <a:pt x="362542" y="194484"/>
                    </a:cubicBezTo>
                    <a:lnTo>
                      <a:pt x="375585" y="209736"/>
                    </a:lnTo>
                    <a:lnTo>
                      <a:pt x="375094" y="210691"/>
                    </a:lnTo>
                    <a:cubicBezTo>
                      <a:pt x="372611" y="215548"/>
                      <a:pt x="369637" y="220214"/>
                      <a:pt x="366253" y="224498"/>
                    </a:cubicBezTo>
                    <a:lnTo>
                      <a:pt x="365599" y="225344"/>
                    </a:lnTo>
                    <a:lnTo>
                      <a:pt x="346498" y="219586"/>
                    </a:lnTo>
                    <a:cubicBezTo>
                      <a:pt x="344998" y="221060"/>
                      <a:pt x="343415" y="222451"/>
                      <a:pt x="341833" y="223761"/>
                    </a:cubicBezTo>
                    <a:cubicBezTo>
                      <a:pt x="340250" y="225043"/>
                      <a:pt x="338558" y="226298"/>
                      <a:pt x="336812" y="227472"/>
                    </a:cubicBezTo>
                    <a:lnTo>
                      <a:pt x="338504" y="247472"/>
                    </a:lnTo>
                    <a:lnTo>
                      <a:pt x="337549" y="247936"/>
                    </a:lnTo>
                    <a:cubicBezTo>
                      <a:pt x="332692" y="250392"/>
                      <a:pt x="327563" y="252356"/>
                      <a:pt x="322324" y="253830"/>
                    </a:cubicBezTo>
                    <a:lnTo>
                      <a:pt x="321287" y="254130"/>
                    </a:lnTo>
                    <a:lnTo>
                      <a:pt x="309090" y="238168"/>
                    </a:lnTo>
                    <a:cubicBezTo>
                      <a:pt x="304943" y="238768"/>
                      <a:pt x="300768" y="238986"/>
                      <a:pt x="296621" y="238823"/>
                    </a:cubicBezTo>
                    <a:lnTo>
                      <a:pt x="286362" y="255904"/>
                    </a:lnTo>
                    <a:lnTo>
                      <a:pt x="285297" y="255740"/>
                    </a:lnTo>
                    <a:cubicBezTo>
                      <a:pt x="279922" y="254812"/>
                      <a:pt x="274574" y="253366"/>
                      <a:pt x="269472" y="251456"/>
                    </a:cubicBezTo>
                    <a:lnTo>
                      <a:pt x="268462" y="251074"/>
                    </a:lnTo>
                    <a:lnTo>
                      <a:pt x="267862" y="231019"/>
                    </a:lnTo>
                    <a:cubicBezTo>
                      <a:pt x="264124" y="229055"/>
                      <a:pt x="260604" y="226735"/>
                      <a:pt x="257330" y="224143"/>
                    </a:cubicBezTo>
                    <a:lnTo>
                      <a:pt x="239021" y="231810"/>
                    </a:lnTo>
                    <a:lnTo>
                      <a:pt x="238257" y="231046"/>
                    </a:lnTo>
                    <a:cubicBezTo>
                      <a:pt x="236320" y="229082"/>
                      <a:pt x="234492" y="226981"/>
                      <a:pt x="232773" y="224880"/>
                    </a:cubicBezTo>
                    <a:cubicBezTo>
                      <a:pt x="231054" y="222752"/>
                      <a:pt x="229417" y="220541"/>
                      <a:pt x="227889" y="218222"/>
                    </a:cubicBezTo>
                    <a:lnTo>
                      <a:pt x="227288" y="217322"/>
                    </a:lnTo>
                    <a:lnTo>
                      <a:pt x="238475" y="200841"/>
                    </a:lnTo>
                    <a:cubicBezTo>
                      <a:pt x="236620" y="197103"/>
                      <a:pt x="235092" y="193146"/>
                      <a:pt x="233946" y="189081"/>
                    </a:cubicBezTo>
                    <a:lnTo>
                      <a:pt x="214573" y="184388"/>
                    </a:lnTo>
                    <a:lnTo>
                      <a:pt x="214409" y="183324"/>
                    </a:lnTo>
                    <a:cubicBezTo>
                      <a:pt x="213591" y="177894"/>
                      <a:pt x="213264" y="172328"/>
                      <a:pt x="213482" y="166843"/>
                    </a:cubicBezTo>
                    <a:lnTo>
                      <a:pt x="213537" y="165779"/>
                    </a:lnTo>
                    <a:lnTo>
                      <a:pt x="232254" y="159149"/>
                    </a:lnTo>
                    <a:cubicBezTo>
                      <a:pt x="232936" y="155028"/>
                      <a:pt x="233974" y="150936"/>
                      <a:pt x="235420" y="146980"/>
                    </a:cubicBezTo>
                    <a:lnTo>
                      <a:pt x="222377" y="131727"/>
                    </a:lnTo>
                    <a:lnTo>
                      <a:pt x="222868" y="130772"/>
                    </a:lnTo>
                    <a:cubicBezTo>
                      <a:pt x="225351" y="125888"/>
                      <a:pt x="228325" y="121249"/>
                      <a:pt x="231708" y="116966"/>
                    </a:cubicBezTo>
                    <a:lnTo>
                      <a:pt x="232363" y="116119"/>
                    </a:lnTo>
                    <a:lnTo>
                      <a:pt x="251463" y="121877"/>
                    </a:lnTo>
                    <a:cubicBezTo>
                      <a:pt x="252937" y="120403"/>
                      <a:pt x="254519" y="119012"/>
                      <a:pt x="256102" y="117702"/>
                    </a:cubicBezTo>
                    <a:cubicBezTo>
                      <a:pt x="257684" y="116420"/>
                      <a:pt x="259376" y="115164"/>
                      <a:pt x="261123" y="113991"/>
                    </a:cubicBezTo>
                    <a:lnTo>
                      <a:pt x="259431" y="93991"/>
                    </a:lnTo>
                    <a:lnTo>
                      <a:pt x="260386" y="93527"/>
                    </a:lnTo>
                    <a:cubicBezTo>
                      <a:pt x="265270" y="91072"/>
                      <a:pt x="270399" y="89107"/>
                      <a:pt x="275638" y="87633"/>
                    </a:cubicBezTo>
                    <a:lnTo>
                      <a:pt x="276675" y="87360"/>
                    </a:lnTo>
                    <a:lnTo>
                      <a:pt x="288844" y="103323"/>
                    </a:lnTo>
                    <a:cubicBezTo>
                      <a:pt x="292992" y="102722"/>
                      <a:pt x="297194" y="102504"/>
                      <a:pt x="301314" y="102668"/>
                    </a:cubicBezTo>
                    <a:close/>
                    <a:moveTo>
                      <a:pt x="106604" y="48042"/>
                    </a:moveTo>
                    <a:cubicBezTo>
                      <a:pt x="72689" y="48042"/>
                      <a:pt x="45185" y="75791"/>
                      <a:pt x="45185" y="110089"/>
                    </a:cubicBezTo>
                    <a:cubicBezTo>
                      <a:pt x="45185" y="144387"/>
                      <a:pt x="72689" y="172164"/>
                      <a:pt x="106604" y="172164"/>
                    </a:cubicBezTo>
                    <a:cubicBezTo>
                      <a:pt x="140521" y="172164"/>
                      <a:pt x="168024" y="144360"/>
                      <a:pt x="168024" y="110089"/>
                    </a:cubicBezTo>
                    <a:cubicBezTo>
                      <a:pt x="168024" y="75819"/>
                      <a:pt x="140521" y="48042"/>
                      <a:pt x="106604" y="48042"/>
                    </a:cubicBezTo>
                    <a:close/>
                    <a:moveTo>
                      <a:pt x="96263" y="511"/>
                    </a:moveTo>
                    <a:cubicBezTo>
                      <a:pt x="103194" y="-171"/>
                      <a:pt x="110206" y="-171"/>
                      <a:pt x="117110" y="511"/>
                    </a:cubicBezTo>
                    <a:lnTo>
                      <a:pt x="118474" y="647"/>
                    </a:lnTo>
                    <a:lnTo>
                      <a:pt x="125623" y="25231"/>
                    </a:lnTo>
                    <a:cubicBezTo>
                      <a:pt x="130834" y="26432"/>
                      <a:pt x="135910" y="28096"/>
                      <a:pt x="140739" y="30197"/>
                    </a:cubicBezTo>
                    <a:lnTo>
                      <a:pt x="160794" y="14617"/>
                    </a:lnTo>
                    <a:lnTo>
                      <a:pt x="161967" y="15299"/>
                    </a:lnTo>
                    <a:cubicBezTo>
                      <a:pt x="167943" y="18846"/>
                      <a:pt x="173618" y="23021"/>
                      <a:pt x="178829" y="27660"/>
                    </a:cubicBezTo>
                    <a:lnTo>
                      <a:pt x="179839" y="28560"/>
                    </a:lnTo>
                    <a:lnTo>
                      <a:pt x="171326" y="52681"/>
                    </a:lnTo>
                    <a:cubicBezTo>
                      <a:pt x="174846" y="56746"/>
                      <a:pt x="178011" y="61112"/>
                      <a:pt x="180685" y="65696"/>
                    </a:cubicBezTo>
                    <a:lnTo>
                      <a:pt x="205978" y="64986"/>
                    </a:lnTo>
                    <a:lnTo>
                      <a:pt x="206497" y="66242"/>
                    </a:lnTo>
                    <a:cubicBezTo>
                      <a:pt x="207916" y="69488"/>
                      <a:pt x="209144" y="72790"/>
                      <a:pt x="210208" y="76092"/>
                    </a:cubicBezTo>
                    <a:cubicBezTo>
                      <a:pt x="211245" y="79393"/>
                      <a:pt x="212172" y="82804"/>
                      <a:pt x="212936" y="86269"/>
                    </a:cubicBezTo>
                    <a:lnTo>
                      <a:pt x="213237" y="87606"/>
                    </a:lnTo>
                    <a:lnTo>
                      <a:pt x="192391" y="102048"/>
                    </a:lnTo>
                    <a:lnTo>
                      <a:pt x="192391" y="102040"/>
                    </a:lnTo>
                    <a:lnTo>
                      <a:pt x="192363" y="102068"/>
                    </a:lnTo>
                    <a:lnTo>
                      <a:pt x="192391" y="102048"/>
                    </a:lnTo>
                    <a:lnTo>
                      <a:pt x="192391" y="118139"/>
                    </a:lnTo>
                    <a:lnTo>
                      <a:pt x="213291" y="132600"/>
                    </a:lnTo>
                    <a:lnTo>
                      <a:pt x="212991" y="133937"/>
                    </a:lnTo>
                    <a:cubicBezTo>
                      <a:pt x="211463" y="140786"/>
                      <a:pt x="209307" y="147525"/>
                      <a:pt x="206524" y="153965"/>
                    </a:cubicBezTo>
                    <a:lnTo>
                      <a:pt x="205978" y="155220"/>
                    </a:lnTo>
                    <a:lnTo>
                      <a:pt x="180685" y="154510"/>
                    </a:lnTo>
                    <a:cubicBezTo>
                      <a:pt x="177984" y="159094"/>
                      <a:pt x="174873" y="163460"/>
                      <a:pt x="171326" y="167526"/>
                    </a:cubicBezTo>
                    <a:lnTo>
                      <a:pt x="179812" y="191673"/>
                    </a:lnTo>
                    <a:lnTo>
                      <a:pt x="178802" y="192601"/>
                    </a:lnTo>
                    <a:cubicBezTo>
                      <a:pt x="173591" y="197240"/>
                      <a:pt x="167916" y="201414"/>
                      <a:pt x="161940" y="204962"/>
                    </a:cubicBezTo>
                    <a:lnTo>
                      <a:pt x="160767" y="205643"/>
                    </a:lnTo>
                    <a:lnTo>
                      <a:pt x="140685" y="190036"/>
                    </a:lnTo>
                    <a:cubicBezTo>
                      <a:pt x="138229" y="191100"/>
                      <a:pt x="135746" y="192056"/>
                      <a:pt x="133236" y="192874"/>
                    </a:cubicBezTo>
                    <a:cubicBezTo>
                      <a:pt x="130725" y="193693"/>
                      <a:pt x="128160" y="194402"/>
                      <a:pt x="125541" y="195002"/>
                    </a:cubicBezTo>
                    <a:lnTo>
                      <a:pt x="118365" y="219559"/>
                    </a:lnTo>
                    <a:lnTo>
                      <a:pt x="117027" y="219696"/>
                    </a:lnTo>
                    <a:cubicBezTo>
                      <a:pt x="110124" y="220378"/>
                      <a:pt x="103112" y="220378"/>
                      <a:pt x="96209" y="219696"/>
                    </a:cubicBezTo>
                    <a:lnTo>
                      <a:pt x="94844" y="219559"/>
                    </a:lnTo>
                    <a:lnTo>
                      <a:pt x="87668" y="194975"/>
                    </a:lnTo>
                    <a:cubicBezTo>
                      <a:pt x="82457" y="193774"/>
                      <a:pt x="77354" y="192110"/>
                      <a:pt x="72525" y="190009"/>
                    </a:cubicBezTo>
                    <a:lnTo>
                      <a:pt x="52470" y="205616"/>
                    </a:lnTo>
                    <a:lnTo>
                      <a:pt x="51297" y="204934"/>
                    </a:lnTo>
                    <a:cubicBezTo>
                      <a:pt x="45321" y="201360"/>
                      <a:pt x="39619" y="197212"/>
                      <a:pt x="34434" y="192574"/>
                    </a:cubicBezTo>
                    <a:lnTo>
                      <a:pt x="33425" y="191646"/>
                    </a:lnTo>
                    <a:lnTo>
                      <a:pt x="41938" y="167526"/>
                    </a:lnTo>
                    <a:cubicBezTo>
                      <a:pt x="38418" y="163488"/>
                      <a:pt x="35280" y="159094"/>
                      <a:pt x="32579" y="154510"/>
                    </a:cubicBezTo>
                    <a:lnTo>
                      <a:pt x="7285" y="155220"/>
                    </a:lnTo>
                    <a:lnTo>
                      <a:pt x="6739" y="153965"/>
                    </a:lnTo>
                    <a:cubicBezTo>
                      <a:pt x="5348" y="150718"/>
                      <a:pt x="4120" y="147416"/>
                      <a:pt x="3056" y="144115"/>
                    </a:cubicBezTo>
                    <a:cubicBezTo>
                      <a:pt x="1992" y="140786"/>
                      <a:pt x="1064" y="137375"/>
                      <a:pt x="300" y="133937"/>
                    </a:cubicBezTo>
                    <a:lnTo>
                      <a:pt x="0" y="132600"/>
                    </a:lnTo>
                    <a:lnTo>
                      <a:pt x="20901" y="118139"/>
                    </a:lnTo>
                    <a:cubicBezTo>
                      <a:pt x="20410" y="112846"/>
                      <a:pt x="20410" y="107443"/>
                      <a:pt x="20901" y="102068"/>
                    </a:cubicBezTo>
                    <a:lnTo>
                      <a:pt x="0" y="87579"/>
                    </a:lnTo>
                    <a:lnTo>
                      <a:pt x="300" y="86242"/>
                    </a:lnTo>
                    <a:cubicBezTo>
                      <a:pt x="1828" y="79393"/>
                      <a:pt x="3983" y="72653"/>
                      <a:pt x="6767" y="66214"/>
                    </a:cubicBezTo>
                    <a:lnTo>
                      <a:pt x="7312" y="64959"/>
                    </a:lnTo>
                    <a:lnTo>
                      <a:pt x="32606" y="65668"/>
                    </a:lnTo>
                    <a:cubicBezTo>
                      <a:pt x="35307" y="61085"/>
                      <a:pt x="38445" y="56719"/>
                      <a:pt x="41965" y="52653"/>
                    </a:cubicBezTo>
                    <a:lnTo>
                      <a:pt x="33479" y="28505"/>
                    </a:lnTo>
                    <a:lnTo>
                      <a:pt x="34489" y="27605"/>
                    </a:lnTo>
                    <a:cubicBezTo>
                      <a:pt x="39700" y="22939"/>
                      <a:pt x="45376" y="18792"/>
                      <a:pt x="51351" y="15245"/>
                    </a:cubicBezTo>
                    <a:lnTo>
                      <a:pt x="52525" y="14535"/>
                    </a:lnTo>
                    <a:lnTo>
                      <a:pt x="72606" y="30170"/>
                    </a:lnTo>
                    <a:cubicBezTo>
                      <a:pt x="75062" y="29106"/>
                      <a:pt x="77573" y="28151"/>
                      <a:pt x="80055" y="27332"/>
                    </a:cubicBezTo>
                    <a:cubicBezTo>
                      <a:pt x="82566" y="26514"/>
                      <a:pt x="85131" y="25804"/>
                      <a:pt x="87750" y="25204"/>
                    </a:cubicBezTo>
                    <a:lnTo>
                      <a:pt x="94926" y="647"/>
                    </a:lnTo>
                    <a:close/>
                  </a:path>
                </a:pathLst>
              </a:custGeom>
              <a:solidFill>
                <a:srgbClr val="3D6AA5"/>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85000"/>
                  </a:lnSpc>
                  <a:spcBef>
                    <a:spcPts val="0"/>
                  </a:spcBef>
                  <a:spcAft>
                    <a:spcPts val="0"/>
                  </a:spcAft>
                  <a:buClr>
                    <a:srgbClr val="000000"/>
                  </a:buClr>
                  <a:buSzPts val="1333"/>
                  <a:buFont typeface="Arial"/>
                  <a:buNone/>
                  <a:tabLst/>
                  <a:defRPr/>
                </a:pPr>
                <a:endParaRPr kumimoji="0" sz="1333"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nvGrpSpPr>
            <p:cNvPr id="3219" name="Google Shape;3219;p147"/>
            <p:cNvGrpSpPr/>
            <p:nvPr/>
          </p:nvGrpSpPr>
          <p:grpSpPr>
            <a:xfrm>
              <a:off x="6304900" y="2054640"/>
              <a:ext cx="2479116" cy="141975"/>
              <a:chOff x="4441917" y="5666198"/>
              <a:chExt cx="3304607" cy="189300"/>
            </a:xfrm>
          </p:grpSpPr>
          <p:cxnSp>
            <p:nvCxnSpPr>
              <p:cNvPr id="3220" name="Google Shape;3220;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221" name="Google Shape;3221;p147"/>
              <p:cNvGrpSpPr/>
              <p:nvPr/>
            </p:nvGrpSpPr>
            <p:grpSpPr>
              <a:xfrm>
                <a:off x="4441917" y="5666198"/>
                <a:ext cx="3304607" cy="189300"/>
                <a:chOff x="908260" y="5666198"/>
                <a:chExt cx="10372275" cy="189300"/>
              </a:xfrm>
            </p:grpSpPr>
            <p:sp>
              <p:nvSpPr>
                <p:cNvPr id="3222" name="Google Shape;3222;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23" name="Google Shape;3223;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sp>
          <p:nvSpPr>
            <p:cNvPr id="3224" name="Google Shape;3224;p147"/>
            <p:cNvSpPr/>
            <p:nvPr/>
          </p:nvSpPr>
          <p:spPr>
            <a:xfrm>
              <a:off x="6281948" y="1649737"/>
              <a:ext cx="1377000" cy="3255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Automic Automation</a:t>
              </a:r>
              <a:b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by Broadcom </a:t>
              </a: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sp>
          <p:nvSpPr>
            <p:cNvPr id="3225" name="Google Shape;3225;p147"/>
            <p:cNvSpPr/>
            <p:nvPr/>
          </p:nvSpPr>
          <p:spPr>
            <a:xfrm>
              <a:off x="7499148" y="1649737"/>
              <a:ext cx="1211100" cy="3255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667"/>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ValueOps </a:t>
              </a:r>
              <a:b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br>
              <a:r>
                <a:rPr kumimoji="0" lang="en-US" sz="1066" b="1" i="0" u="none" strike="noStrike" kern="0" cap="none" spc="0" normalizeH="0" baseline="0" noProof="0" dirty="0">
                  <a:ln>
                    <a:noFill/>
                  </a:ln>
                  <a:solidFill>
                    <a:srgbClr val="535B9A"/>
                  </a:solidFill>
                  <a:effectLst/>
                  <a:uLnTx/>
                  <a:uFillTx/>
                  <a:latin typeface="Arial"/>
                  <a:ea typeface="Arial"/>
                  <a:cs typeface="Arial"/>
                  <a:sym typeface="Arial"/>
                </a:rPr>
                <a:t>by Broadcom</a:t>
              </a:r>
              <a:endParaRPr kumimoji="0" sz="1066" b="1" i="0" u="none" strike="noStrike" kern="0" cap="none" spc="0" normalizeH="0" baseline="0" noProof="0" dirty="0">
                <a:ln>
                  <a:noFill/>
                </a:ln>
                <a:solidFill>
                  <a:srgbClr val="535B9A"/>
                </a:solidFill>
                <a:effectLst/>
                <a:uLnTx/>
                <a:uFillTx/>
                <a:latin typeface="Arial"/>
                <a:ea typeface="Arial"/>
                <a:cs typeface="Arial"/>
                <a:sym typeface="Arial"/>
              </a:endParaRPr>
            </a:p>
          </p:txBody>
        </p:sp>
      </p:grpSp>
      <p:grpSp>
        <p:nvGrpSpPr>
          <p:cNvPr id="3226" name="Google Shape;3226;p147"/>
          <p:cNvGrpSpPr/>
          <p:nvPr/>
        </p:nvGrpSpPr>
        <p:grpSpPr>
          <a:xfrm>
            <a:off x="438584" y="4485542"/>
            <a:ext cx="3799410" cy="1058927"/>
            <a:chOff x="220140" y="3440563"/>
            <a:chExt cx="2850300" cy="794402"/>
          </a:xfrm>
        </p:grpSpPr>
        <p:sp>
          <p:nvSpPr>
            <p:cNvPr id="3227" name="Google Shape;3227;p147"/>
            <p:cNvSpPr/>
            <p:nvPr/>
          </p:nvSpPr>
          <p:spPr>
            <a:xfrm>
              <a:off x="260688" y="3593857"/>
              <a:ext cx="2769000" cy="512700"/>
            </a:xfrm>
            <a:prstGeom prst="round2SameRect">
              <a:avLst>
                <a:gd name="adj1" fmla="val 13379"/>
                <a:gd name="adj2" fmla="val 0"/>
              </a:avLst>
            </a:prstGeom>
            <a:noFill/>
            <a:ln w="9525" cap="flat" cmpd="sng">
              <a:solidFill>
                <a:srgbClr val="366DA7"/>
              </a:solidFill>
              <a:prstDash val="solid"/>
              <a:round/>
              <a:headEnd type="none" w="sm" len="sm"/>
              <a:tailEnd type="none" w="sm" len="sm"/>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28" name="Google Shape;3228;p147"/>
            <p:cNvSpPr/>
            <p:nvPr/>
          </p:nvSpPr>
          <p:spPr>
            <a:xfrm>
              <a:off x="220140" y="3699754"/>
              <a:ext cx="2850300" cy="512700"/>
            </a:xfrm>
            <a:prstGeom prst="rect">
              <a:avLst/>
            </a:prstGeom>
            <a:gradFill>
              <a:gsLst>
                <a:gs pos="0">
                  <a:srgbClr val="FFFFFF">
                    <a:alpha val="0"/>
                  </a:srgbClr>
                </a:gs>
                <a:gs pos="72000">
                  <a:schemeClr val="lt1"/>
                </a:gs>
                <a:gs pos="100000">
                  <a:schemeClr val="lt1"/>
                </a:gs>
              </a:gsLst>
              <a:lin ang="5400012"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3229" name="Google Shape;3229;p147"/>
            <p:cNvGrpSpPr/>
            <p:nvPr/>
          </p:nvGrpSpPr>
          <p:grpSpPr>
            <a:xfrm>
              <a:off x="400566" y="3440563"/>
              <a:ext cx="2489389" cy="308475"/>
              <a:chOff x="576977" y="4132102"/>
              <a:chExt cx="3318300" cy="411300"/>
            </a:xfrm>
          </p:grpSpPr>
          <p:sp>
            <p:nvSpPr>
              <p:cNvPr id="3230" name="Google Shape;3230;p147"/>
              <p:cNvSpPr/>
              <p:nvPr/>
            </p:nvSpPr>
            <p:spPr>
              <a:xfrm>
                <a:off x="576977" y="4132102"/>
                <a:ext cx="3318300" cy="411300"/>
              </a:xfrm>
              <a:prstGeom prst="roundRect">
                <a:avLst>
                  <a:gd name="adj" fmla="val 50000"/>
                </a:avLst>
              </a:prstGeom>
              <a:solidFill>
                <a:srgbClr val="366DA7"/>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r>
                  <a:rPr kumimoji="0" lang="en-US" sz="1466" b="0" i="0" u="none" strike="noStrike" kern="0" cap="none" spc="0" normalizeH="0" baseline="0" noProof="0" dirty="0">
                    <a:ln>
                      <a:noFill/>
                    </a:ln>
                    <a:solidFill>
                      <a:srgbClr val="FFFFFF"/>
                    </a:solidFill>
                    <a:effectLst/>
                    <a:uLnTx/>
                    <a:uFillTx/>
                    <a:latin typeface="Arial"/>
                    <a:ea typeface="Arial"/>
                    <a:cs typeface="Arial"/>
                    <a:sym typeface="Arial"/>
                  </a:rPr>
                  <a:t>Load Balancing</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31" name="Google Shape;3231;p147"/>
              <p:cNvSpPr/>
              <p:nvPr/>
            </p:nvSpPr>
            <p:spPr>
              <a:xfrm>
                <a:off x="595681" y="4150752"/>
                <a:ext cx="374100" cy="37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32" name="Google Shape;3232;p147"/>
              <p:cNvSpPr/>
              <p:nvPr/>
            </p:nvSpPr>
            <p:spPr>
              <a:xfrm>
                <a:off x="637709" y="4221166"/>
                <a:ext cx="298549" cy="225767"/>
              </a:xfrm>
              <a:custGeom>
                <a:avLst/>
                <a:gdLst/>
                <a:ahLst/>
                <a:cxnLst/>
                <a:rect l="l" t="t" r="r" b="b"/>
                <a:pathLst>
                  <a:path w="840984" h="635964" extrusionOk="0">
                    <a:moveTo>
                      <a:pt x="91667" y="224303"/>
                    </a:moveTo>
                    <a:cubicBezTo>
                      <a:pt x="103741" y="224303"/>
                      <a:pt x="113353" y="226706"/>
                      <a:pt x="123024" y="229109"/>
                    </a:cubicBezTo>
                    <a:cubicBezTo>
                      <a:pt x="149515" y="238780"/>
                      <a:pt x="171260" y="260465"/>
                      <a:pt x="178469" y="287016"/>
                    </a:cubicBezTo>
                    <a:cubicBezTo>
                      <a:pt x="183274" y="296688"/>
                      <a:pt x="185677" y="306299"/>
                      <a:pt x="185677" y="318373"/>
                    </a:cubicBezTo>
                    <a:cubicBezTo>
                      <a:pt x="185677" y="328044"/>
                      <a:pt x="183274" y="340058"/>
                      <a:pt x="178469" y="349730"/>
                    </a:cubicBezTo>
                    <a:cubicBezTo>
                      <a:pt x="171260" y="376221"/>
                      <a:pt x="149575" y="395503"/>
                      <a:pt x="123024" y="405175"/>
                    </a:cubicBezTo>
                    <a:cubicBezTo>
                      <a:pt x="113353" y="407577"/>
                      <a:pt x="103741" y="409980"/>
                      <a:pt x="91667" y="409980"/>
                    </a:cubicBezTo>
                    <a:cubicBezTo>
                      <a:pt x="81996" y="409980"/>
                      <a:pt x="69982" y="407577"/>
                      <a:pt x="60311" y="405175"/>
                    </a:cubicBezTo>
                    <a:cubicBezTo>
                      <a:pt x="24148" y="393161"/>
                      <a:pt x="0" y="356938"/>
                      <a:pt x="0" y="318373"/>
                    </a:cubicBezTo>
                    <a:cubicBezTo>
                      <a:pt x="0" y="277345"/>
                      <a:pt x="24148" y="243586"/>
                      <a:pt x="60311" y="229109"/>
                    </a:cubicBezTo>
                    <a:cubicBezTo>
                      <a:pt x="69982" y="226706"/>
                      <a:pt x="81996" y="224303"/>
                      <a:pt x="91667" y="224303"/>
                    </a:cubicBezTo>
                    <a:close/>
                    <a:moveTo>
                      <a:pt x="468848" y="223401"/>
                    </a:moveTo>
                    <a:cubicBezTo>
                      <a:pt x="417728" y="223401"/>
                      <a:pt x="376400" y="267072"/>
                      <a:pt x="376400" y="318072"/>
                    </a:cubicBezTo>
                    <a:cubicBezTo>
                      <a:pt x="376400" y="369072"/>
                      <a:pt x="417789" y="410340"/>
                      <a:pt x="468848" y="410340"/>
                    </a:cubicBezTo>
                    <a:cubicBezTo>
                      <a:pt x="519908" y="410340"/>
                      <a:pt x="563699" y="369072"/>
                      <a:pt x="563699" y="318072"/>
                    </a:cubicBezTo>
                    <a:cubicBezTo>
                      <a:pt x="563699" y="264670"/>
                      <a:pt x="519968" y="223401"/>
                      <a:pt x="468848" y="223401"/>
                    </a:cubicBezTo>
                    <a:close/>
                    <a:moveTo>
                      <a:pt x="661013" y="0"/>
                    </a:moveTo>
                    <a:lnTo>
                      <a:pt x="661013" y="118939"/>
                    </a:lnTo>
                    <a:lnTo>
                      <a:pt x="626953" y="97074"/>
                    </a:lnTo>
                    <a:lnTo>
                      <a:pt x="558833" y="218476"/>
                    </a:lnTo>
                    <a:cubicBezTo>
                      <a:pt x="580699" y="237878"/>
                      <a:pt x="595296" y="267012"/>
                      <a:pt x="600162" y="296146"/>
                    </a:cubicBezTo>
                    <a:lnTo>
                      <a:pt x="738804" y="296146"/>
                    </a:lnTo>
                    <a:lnTo>
                      <a:pt x="738804" y="257281"/>
                    </a:lnTo>
                    <a:lnTo>
                      <a:pt x="840984" y="317952"/>
                    </a:lnTo>
                    <a:lnTo>
                      <a:pt x="738804" y="376220"/>
                    </a:lnTo>
                    <a:lnTo>
                      <a:pt x="738804" y="337355"/>
                    </a:lnTo>
                    <a:lnTo>
                      <a:pt x="600162" y="337355"/>
                    </a:lnTo>
                    <a:cubicBezTo>
                      <a:pt x="595296" y="368952"/>
                      <a:pt x="580699" y="395623"/>
                      <a:pt x="558833" y="417488"/>
                    </a:cubicBezTo>
                    <a:lnTo>
                      <a:pt x="626953" y="536428"/>
                    </a:lnTo>
                    <a:lnTo>
                      <a:pt x="661013" y="517025"/>
                    </a:lnTo>
                    <a:lnTo>
                      <a:pt x="661013" y="635964"/>
                    </a:lnTo>
                    <a:lnTo>
                      <a:pt x="558833" y="575293"/>
                    </a:lnTo>
                    <a:lnTo>
                      <a:pt x="592893" y="555890"/>
                    </a:lnTo>
                    <a:lnTo>
                      <a:pt x="524774" y="439354"/>
                    </a:lnTo>
                    <a:cubicBezTo>
                      <a:pt x="507774" y="446622"/>
                      <a:pt x="488311" y="451488"/>
                      <a:pt x="468848" y="451488"/>
                    </a:cubicBezTo>
                    <a:cubicBezTo>
                      <a:pt x="405594" y="451488"/>
                      <a:pt x="354534" y="407817"/>
                      <a:pt x="339937" y="349549"/>
                    </a:cubicBezTo>
                    <a:lnTo>
                      <a:pt x="220758" y="349549"/>
                    </a:lnTo>
                    <a:cubicBezTo>
                      <a:pt x="225624" y="339878"/>
                      <a:pt x="225624" y="327743"/>
                      <a:pt x="225624" y="318012"/>
                    </a:cubicBezTo>
                    <a:cubicBezTo>
                      <a:pt x="225624" y="305878"/>
                      <a:pt x="225624" y="296207"/>
                      <a:pt x="220758" y="286475"/>
                    </a:cubicBezTo>
                    <a:lnTo>
                      <a:pt x="339937" y="286475"/>
                    </a:lnTo>
                    <a:cubicBezTo>
                      <a:pt x="354534" y="228207"/>
                      <a:pt x="405594" y="184536"/>
                      <a:pt x="468848" y="184536"/>
                    </a:cubicBezTo>
                    <a:cubicBezTo>
                      <a:pt x="488311" y="184536"/>
                      <a:pt x="507774" y="189402"/>
                      <a:pt x="524774" y="196670"/>
                    </a:cubicBezTo>
                    <a:lnTo>
                      <a:pt x="592893" y="77731"/>
                    </a:lnTo>
                    <a:lnTo>
                      <a:pt x="592893" y="77671"/>
                    </a:lnTo>
                    <a:lnTo>
                      <a:pt x="558833" y="58268"/>
                    </a:lnTo>
                    <a:close/>
                  </a:path>
                </a:pathLst>
              </a:custGeom>
              <a:solidFill>
                <a:srgbClr val="366DA7"/>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466"/>
                  <a:buFont typeface="Arial"/>
                  <a:buNone/>
                  <a:tabLst/>
                  <a:defRPr/>
                </a:pPr>
                <a:endParaRPr kumimoji="0" sz="1466"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sp>
          <p:nvSpPr>
            <p:cNvPr id="3233" name="Google Shape;3233;p147"/>
            <p:cNvSpPr/>
            <p:nvPr/>
          </p:nvSpPr>
          <p:spPr>
            <a:xfrm>
              <a:off x="760267" y="3677719"/>
              <a:ext cx="1802700" cy="252600"/>
            </a:xfrm>
            <a:prstGeom prst="roundRect">
              <a:avLst>
                <a:gd name="adj" fmla="val 0"/>
              </a:avLst>
            </a:prstGeom>
            <a:noFill/>
            <a:ln>
              <a:noFill/>
            </a:ln>
          </p:spPr>
          <p:txBody>
            <a:bodyPr spcFirstLastPara="1" wrap="square" lIns="91375" tIns="182800" rIns="91375" bIns="0" anchor="t" anchorCtr="0">
              <a:noAutofit/>
            </a:bodyPr>
            <a:lstStyle/>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VMware Avi </a:t>
              </a:r>
              <a:endParaRPr kumimoji="0" sz="1066" b="1" i="0" u="none" strike="noStrike" kern="0" cap="none" spc="0" normalizeH="0" baseline="0" noProof="0" dirty="0">
                <a:ln>
                  <a:noFill/>
                </a:ln>
                <a:solidFill>
                  <a:srgbClr val="4B619F"/>
                </a:solidFill>
                <a:effectLst/>
                <a:uLnTx/>
                <a:uFillTx/>
                <a:latin typeface="Arial"/>
                <a:ea typeface="Arial"/>
                <a:cs typeface="Arial"/>
                <a:sym typeface="Arial"/>
              </a:endParaRPr>
            </a:p>
            <a:p>
              <a:pPr marL="0" marR="0" lvl="0" indent="0" algn="ctr" defTabSz="914400" rtl="0" eaLnBrk="1" fontAlgn="auto" latinLnBrk="0" hangingPunct="1">
                <a:lnSpc>
                  <a:spcPct val="90000"/>
                </a:lnSpc>
                <a:spcBef>
                  <a:spcPts val="0"/>
                </a:spcBef>
                <a:spcAft>
                  <a:spcPts val="0"/>
                </a:spcAft>
                <a:buClr>
                  <a:srgbClr val="000000"/>
                </a:buClr>
                <a:buSzPts val="1066"/>
                <a:buFont typeface="Arial"/>
                <a:buNone/>
                <a:tabLst/>
                <a:defRPr/>
              </a:pPr>
              <a:r>
                <a:rPr kumimoji="0" lang="en-US" sz="1066" b="1" i="0" u="none" strike="noStrike" kern="0" cap="none" spc="0" normalizeH="0" baseline="0" noProof="0" dirty="0">
                  <a:ln>
                    <a:noFill/>
                  </a:ln>
                  <a:solidFill>
                    <a:srgbClr val="4B619F"/>
                  </a:solidFill>
                  <a:effectLst/>
                  <a:uLnTx/>
                  <a:uFillTx/>
                  <a:latin typeface="Arial"/>
                  <a:ea typeface="Arial"/>
                  <a:cs typeface="Arial"/>
                  <a:sym typeface="Arial"/>
                </a:rPr>
                <a:t>Load Balancer</a:t>
              </a:r>
              <a:endParaRPr kumimoji="0" sz="1466"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234" name="Google Shape;3234;p147"/>
            <p:cNvGrpSpPr/>
            <p:nvPr/>
          </p:nvGrpSpPr>
          <p:grpSpPr>
            <a:xfrm>
              <a:off x="474082" y="4092990"/>
              <a:ext cx="2479116" cy="141975"/>
              <a:chOff x="4441917" y="5666198"/>
              <a:chExt cx="3304607" cy="189300"/>
            </a:xfrm>
          </p:grpSpPr>
          <p:cxnSp>
            <p:nvCxnSpPr>
              <p:cNvPr id="3235" name="Google Shape;3235;p147"/>
              <p:cNvCxnSpPr/>
              <p:nvPr/>
            </p:nvCxnSpPr>
            <p:spPr>
              <a:xfrm>
                <a:off x="4475294" y="5760557"/>
                <a:ext cx="3184200" cy="0"/>
              </a:xfrm>
              <a:prstGeom prst="straightConnector1">
                <a:avLst/>
              </a:prstGeom>
              <a:noFill/>
              <a:ln w="9525" cap="rnd" cmpd="sng">
                <a:solidFill>
                  <a:schemeClr val="accent5"/>
                </a:solidFill>
                <a:prstDash val="solid"/>
                <a:miter lim="800000"/>
                <a:headEnd type="none" w="sm" len="sm"/>
                <a:tailEnd type="none" w="sm" len="sm"/>
              </a:ln>
            </p:spPr>
          </p:cxnSp>
          <p:grpSp>
            <p:nvGrpSpPr>
              <p:cNvPr id="3236" name="Google Shape;3236;p147"/>
              <p:cNvGrpSpPr/>
              <p:nvPr/>
            </p:nvGrpSpPr>
            <p:grpSpPr>
              <a:xfrm>
                <a:off x="4441917" y="5666198"/>
                <a:ext cx="3304607" cy="189300"/>
                <a:chOff x="908260" y="5666198"/>
                <a:chExt cx="10372275" cy="189300"/>
              </a:xfrm>
            </p:grpSpPr>
            <p:sp>
              <p:nvSpPr>
                <p:cNvPr id="3237" name="Google Shape;3237;p147"/>
                <p:cNvSpPr/>
                <p:nvPr/>
              </p:nvSpPr>
              <p:spPr>
                <a:xfrm>
                  <a:off x="908260" y="5666198"/>
                  <a:ext cx="3428400" cy="189300"/>
                </a:xfrm>
                <a:prstGeom prst="rect">
                  <a:avLst/>
                </a:prstGeom>
                <a:gradFill>
                  <a:gsLst>
                    <a:gs pos="0">
                      <a:srgbClr val="FFFFFF">
                        <a:alpha val="0"/>
                      </a:srgbClr>
                    </a:gs>
                    <a:gs pos="99000">
                      <a:schemeClr val="lt1"/>
                    </a:gs>
                    <a:gs pos="100000">
                      <a:schemeClr val="lt1"/>
                    </a:gs>
                  </a:gsLst>
                  <a:lin ang="10800025"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38" name="Google Shape;3238;p147"/>
                <p:cNvSpPr/>
                <p:nvPr/>
              </p:nvSpPr>
              <p:spPr>
                <a:xfrm>
                  <a:off x="7852135" y="5666198"/>
                  <a:ext cx="3428400" cy="189300"/>
                </a:xfrm>
                <a:prstGeom prst="rect">
                  <a:avLst/>
                </a:prstGeom>
                <a:gradFill>
                  <a:gsLst>
                    <a:gs pos="0">
                      <a:srgbClr val="FFFFFF">
                        <a:alpha val="0"/>
                      </a:srgbClr>
                    </a:gs>
                    <a:gs pos="99000">
                      <a:schemeClr val="lt1"/>
                    </a:gs>
                    <a:gs pos="100000">
                      <a:schemeClr val="lt1"/>
                    </a:gs>
                  </a:gsLst>
                  <a:lin ang="0" scaled="0"/>
                </a:gradFill>
                <a:ln>
                  <a:noFill/>
                </a:ln>
              </p:spPr>
              <p:txBody>
                <a:bodyPr spcFirstLastPara="1" wrap="square" lIns="91400" tIns="45675" rIns="91400" bIns="456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sp>
        <p:nvSpPr>
          <p:cNvPr id="2" name="Rounded Rectangle 1">
            <a:extLst>
              <a:ext uri="{FF2B5EF4-FFF2-40B4-BE49-F238E27FC236}">
                <a16:creationId xmlns:a16="http://schemas.microsoft.com/office/drawing/2014/main" id="{8DD6B919-A811-4A92-CAF2-F6F51E3BBFCB}"/>
              </a:ext>
            </a:extLst>
          </p:cNvPr>
          <p:cNvSpPr/>
          <p:nvPr/>
        </p:nvSpPr>
        <p:spPr>
          <a:xfrm>
            <a:off x="386461" y="2029773"/>
            <a:ext cx="3901515" cy="1127788"/>
          </a:xfrm>
          <a:prstGeom prst="roundRect">
            <a:avLst>
              <a:gd name="adj" fmla="val 4101"/>
            </a:avLst>
          </a:prstGeom>
          <a:no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083"/>
                                        </p:tgtEl>
                                        <p:attrNameLst>
                                          <p:attrName>style.visibility</p:attrName>
                                        </p:attrNameLst>
                                      </p:cBhvr>
                                      <p:to>
                                        <p:strVal val="visible"/>
                                      </p:to>
                                    </p:set>
                                    <p:animEffect transition="in" filter="fade">
                                      <p:cBhvr>
                                        <p:cTn id="7" dur="500"/>
                                        <p:tgtEl>
                                          <p:spTgt spid="3083"/>
                                        </p:tgtEl>
                                      </p:cBhvr>
                                    </p:animEffect>
                                  </p:childTnLst>
                                </p:cTn>
                              </p:par>
                              <p:par>
                                <p:cTn id="8" presetID="10" presetClass="entr" presetSubtype="0" fill="hold" nodeType="withEffect">
                                  <p:stCondLst>
                                    <p:cond delay="0"/>
                                  </p:stCondLst>
                                  <p:childTnLst>
                                    <p:set>
                                      <p:cBhvr>
                                        <p:cTn id="9" dur="1" fill="hold">
                                          <p:stCondLst>
                                            <p:cond delay="0"/>
                                          </p:stCondLst>
                                        </p:cTn>
                                        <p:tgtEl>
                                          <p:spTgt spid="3084"/>
                                        </p:tgtEl>
                                        <p:attrNameLst>
                                          <p:attrName>style.visibility</p:attrName>
                                        </p:attrNameLst>
                                      </p:cBhvr>
                                      <p:to>
                                        <p:strVal val="visible"/>
                                      </p:to>
                                    </p:set>
                                    <p:animEffect transition="in" filter="fade">
                                      <p:cBhvr>
                                        <p:cTn id="10" dur="500"/>
                                        <p:tgtEl>
                                          <p:spTgt spid="308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dissolve">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1"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Shape 3243"/>
        <p:cNvGrpSpPr/>
        <p:nvPr/>
      </p:nvGrpSpPr>
      <p:grpSpPr>
        <a:xfrm>
          <a:off x="0" y="0"/>
          <a:ext cx="0" cy="0"/>
          <a:chOff x="0" y="0"/>
          <a:chExt cx="0" cy="0"/>
        </a:xfrm>
      </p:grpSpPr>
      <p:sp>
        <p:nvSpPr>
          <p:cNvPr id="3244" name="Google Shape;3244;p25"/>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SzPts val="2800"/>
              <a:buNone/>
            </a:pPr>
            <a:r>
              <a:rPr lang="en-US" dirty="0"/>
              <a:t>VCF Protection &amp; Recovery</a:t>
            </a:r>
            <a:endParaRPr dirty="0"/>
          </a:p>
        </p:txBody>
      </p:sp>
      <p:sp>
        <p:nvSpPr>
          <p:cNvPr id="3245" name="Google Shape;3245;p25"/>
          <p:cNvSpPr txBox="1">
            <a:spLocks noGrp="1"/>
          </p:cNvSpPr>
          <p:nvPr>
            <p:ph type="subTitle" idx="1"/>
          </p:nvPr>
        </p:nvSpPr>
        <p:spPr>
          <a:xfrm>
            <a:off x="592866" y="811830"/>
            <a:ext cx="1098794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dirty="0"/>
              <a:t>What’s New in 9.1 – Highlight! </a:t>
            </a:r>
            <a:endParaRPr dirty="0"/>
          </a:p>
          <a:p>
            <a:pPr marL="0" lvl="0" indent="0" algn="l" rtl="0">
              <a:lnSpc>
                <a:spcPct val="100000"/>
              </a:lnSpc>
              <a:spcBef>
                <a:spcPts val="0"/>
              </a:spcBef>
              <a:spcAft>
                <a:spcPts val="0"/>
              </a:spcAft>
              <a:buSzPts val="1800"/>
              <a:buNone/>
            </a:pPr>
            <a:endParaRPr dirty="0"/>
          </a:p>
        </p:txBody>
      </p:sp>
      <p:sp>
        <p:nvSpPr>
          <p:cNvPr id="3246" name="Google Shape;3246;p25"/>
          <p:cNvSpPr txBox="1">
            <a:spLocks noGrp="1"/>
          </p:cNvSpPr>
          <p:nvPr>
            <p:ph type="body" idx="2"/>
          </p:nvPr>
        </p:nvSpPr>
        <p:spPr>
          <a:xfrm>
            <a:off x="608012" y="1474170"/>
            <a:ext cx="10972800" cy="4572000"/>
          </a:xfrm>
          <a:prstGeom prst="rect">
            <a:avLst/>
          </a:prstGeom>
          <a:noFill/>
          <a:ln>
            <a:noFill/>
          </a:ln>
        </p:spPr>
        <p:txBody>
          <a:bodyPr spcFirstLastPara="1" wrap="square" lIns="0" tIns="0" rIns="0" bIns="0" anchor="t" anchorCtr="0">
            <a:noAutofit/>
          </a:bodyPr>
          <a:lstStyle/>
          <a:p>
            <a:pPr marL="0" lvl="0" indent="-114300" algn="l" rtl="0">
              <a:lnSpc>
                <a:spcPct val="100000"/>
              </a:lnSpc>
              <a:spcBef>
                <a:spcPts val="0"/>
              </a:spcBef>
              <a:spcAft>
                <a:spcPts val="0"/>
              </a:spcAft>
              <a:buSzPts val="1800"/>
              <a:buChar char="​"/>
            </a:pPr>
            <a:r>
              <a:rPr lang="en-US" sz="2400" dirty="0"/>
              <a:t>The name has changed!</a:t>
            </a:r>
            <a:endParaRPr dirty="0"/>
          </a:p>
          <a:p>
            <a:pPr marL="0" lvl="0" indent="0" algn="l" rtl="0">
              <a:lnSpc>
                <a:spcPct val="100000"/>
              </a:lnSpc>
              <a:spcBef>
                <a:spcPts val="600"/>
              </a:spcBef>
              <a:spcAft>
                <a:spcPts val="0"/>
              </a:spcAft>
              <a:buSzPts val="1800"/>
              <a:buNone/>
            </a:pPr>
            <a:endParaRPr sz="2400" dirty="0"/>
          </a:p>
          <a:p>
            <a:pPr marL="0" lvl="0" indent="-114300" algn="l" rtl="0">
              <a:lnSpc>
                <a:spcPct val="100000"/>
              </a:lnSpc>
              <a:spcBef>
                <a:spcPts val="600"/>
              </a:spcBef>
              <a:spcAft>
                <a:spcPts val="0"/>
              </a:spcAft>
              <a:buSzPts val="1800"/>
              <a:buChar char="​"/>
            </a:pPr>
            <a:r>
              <a:rPr lang="en-US" sz="2400" dirty="0"/>
              <a:t>VMware Live Recovery is now VCF Protection and Recovery</a:t>
            </a:r>
            <a:endParaRPr dirty="0"/>
          </a:p>
          <a:p>
            <a:pPr marL="0" lvl="0" indent="0" algn="l" rtl="0">
              <a:lnSpc>
                <a:spcPct val="100000"/>
              </a:lnSpc>
              <a:spcBef>
                <a:spcPts val="600"/>
              </a:spcBef>
              <a:spcAft>
                <a:spcPts val="0"/>
              </a:spcAft>
              <a:buSzPts val="1800"/>
              <a:buNone/>
            </a:pPr>
            <a:endParaRPr sz="2400" dirty="0"/>
          </a:p>
          <a:p>
            <a:pPr marL="0" lvl="0" indent="-114300" algn="l" rtl="0">
              <a:lnSpc>
                <a:spcPct val="100000"/>
              </a:lnSpc>
              <a:spcBef>
                <a:spcPts val="600"/>
              </a:spcBef>
              <a:spcAft>
                <a:spcPts val="0"/>
              </a:spcAft>
              <a:buSzPts val="1800"/>
              <a:buChar char="​"/>
            </a:pPr>
            <a:r>
              <a:rPr lang="en-US" sz="2400" dirty="0"/>
              <a:t>This solution now provides: </a:t>
            </a:r>
            <a:endParaRPr dirty="0"/>
          </a:p>
          <a:p>
            <a:pPr marL="914400" lvl="1" indent="-331470" algn="l" rtl="0">
              <a:lnSpc>
                <a:spcPct val="100000"/>
              </a:lnSpc>
              <a:spcBef>
                <a:spcPts val="600"/>
              </a:spcBef>
              <a:spcAft>
                <a:spcPts val="0"/>
              </a:spcAft>
              <a:buSzPts val="1620"/>
              <a:buChar char="•"/>
            </a:pPr>
            <a:r>
              <a:rPr lang="en-US" sz="2000" dirty="0"/>
              <a:t>Local operational recovery with vSAN snapshots,</a:t>
            </a:r>
            <a:endParaRPr dirty="0"/>
          </a:p>
          <a:p>
            <a:pPr marL="914400" lvl="1" indent="-331470" algn="l" rtl="0">
              <a:lnSpc>
                <a:spcPct val="100000"/>
              </a:lnSpc>
              <a:spcBef>
                <a:spcPts val="600"/>
              </a:spcBef>
              <a:spcAft>
                <a:spcPts val="0"/>
              </a:spcAft>
              <a:buSzPts val="1620"/>
              <a:buChar char="•"/>
            </a:pPr>
            <a:r>
              <a:rPr lang="en-US" sz="2000" dirty="0"/>
              <a:t>Remote disaster recovery with orchestrated failover / failback,</a:t>
            </a:r>
            <a:endParaRPr dirty="0"/>
          </a:p>
          <a:p>
            <a:pPr marL="914400" lvl="1" indent="-331470" algn="l" rtl="0">
              <a:lnSpc>
                <a:spcPct val="100000"/>
              </a:lnSpc>
              <a:spcBef>
                <a:spcPts val="600"/>
              </a:spcBef>
              <a:spcAft>
                <a:spcPts val="0"/>
              </a:spcAft>
              <a:buSzPts val="1620"/>
              <a:buChar char="•"/>
            </a:pPr>
            <a:r>
              <a:rPr lang="en-US" sz="2000" dirty="0"/>
              <a:t>Isolated cyber recovery with on-prem clean room capabilities, and</a:t>
            </a:r>
            <a:endParaRPr dirty="0"/>
          </a:p>
          <a:p>
            <a:pPr marL="914400" lvl="1" indent="-331470" algn="l" rtl="0">
              <a:lnSpc>
                <a:spcPct val="100000"/>
              </a:lnSpc>
              <a:spcBef>
                <a:spcPts val="600"/>
              </a:spcBef>
              <a:spcAft>
                <a:spcPts val="0"/>
              </a:spcAft>
              <a:buSzPts val="1620"/>
              <a:buChar char="•"/>
            </a:pPr>
            <a:r>
              <a:rPr lang="en-US" sz="2000" dirty="0"/>
              <a:t>Support for multi-tenant deployed VM self-service disaster recovery </a:t>
            </a:r>
            <a:endParaRPr dirty="0"/>
          </a:p>
          <a:p>
            <a:pPr marL="0" lvl="0" indent="0" algn="l" rtl="0">
              <a:lnSpc>
                <a:spcPct val="100000"/>
              </a:lnSpc>
              <a:spcBef>
                <a:spcPts val="600"/>
              </a:spcBef>
              <a:spcAft>
                <a:spcPts val="600"/>
              </a:spcAft>
              <a:buSzPts val="1800"/>
              <a:buNone/>
            </a:pPr>
            <a:endParaRPr sz="2400"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Shape 3251"/>
        <p:cNvGrpSpPr/>
        <p:nvPr/>
      </p:nvGrpSpPr>
      <p:grpSpPr>
        <a:xfrm>
          <a:off x="0" y="0"/>
          <a:ext cx="0" cy="0"/>
          <a:chOff x="0" y="0"/>
          <a:chExt cx="0" cy="0"/>
        </a:xfrm>
      </p:grpSpPr>
      <p:sp>
        <p:nvSpPr>
          <p:cNvPr id="3252" name="Google Shape;3252;p609"/>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SzPts val="2800"/>
              <a:buNone/>
            </a:pPr>
            <a:r>
              <a:rPr lang="en-US" dirty="0"/>
              <a:t>VCF Protection &amp; Recovery</a:t>
            </a:r>
            <a:endParaRPr dirty="0"/>
          </a:p>
        </p:txBody>
      </p:sp>
      <p:sp>
        <p:nvSpPr>
          <p:cNvPr id="3253" name="Google Shape;3253;p609"/>
          <p:cNvSpPr txBox="1">
            <a:spLocks noGrp="1"/>
          </p:cNvSpPr>
          <p:nvPr>
            <p:ph type="subTitle" idx="1"/>
          </p:nvPr>
        </p:nvSpPr>
        <p:spPr>
          <a:xfrm>
            <a:off x="592866" y="811830"/>
            <a:ext cx="10987947" cy="247743"/>
          </a:xfrm>
          <a:prstGeom prst="rect">
            <a:avLst/>
          </a:prstGeom>
          <a:noFill/>
          <a:ln>
            <a:noFill/>
          </a:ln>
        </p:spPr>
        <p:txBody>
          <a:bodyPr spcFirstLastPara="1" wrap="square" lIns="0" tIns="0" rIns="0" bIns="0" anchor="t" anchorCtr="0">
            <a:noAutofit/>
          </a:bodyPr>
          <a:lstStyle/>
          <a:p>
            <a:pPr marL="0" lvl="0" indent="0" algn="l" rtl="0">
              <a:lnSpc>
                <a:spcPct val="100000"/>
              </a:lnSpc>
              <a:spcBef>
                <a:spcPts val="0"/>
              </a:spcBef>
              <a:spcAft>
                <a:spcPts val="0"/>
              </a:spcAft>
              <a:buSzPts val="1800"/>
              <a:buNone/>
            </a:pPr>
            <a:r>
              <a:rPr lang="en-US" dirty="0"/>
              <a:t>What’s New in 9.1 – Summary </a:t>
            </a:r>
            <a:endParaRPr dirty="0"/>
          </a:p>
          <a:p>
            <a:pPr marL="0" lvl="0" indent="0" algn="l" rtl="0">
              <a:lnSpc>
                <a:spcPct val="100000"/>
              </a:lnSpc>
              <a:spcBef>
                <a:spcPts val="0"/>
              </a:spcBef>
              <a:spcAft>
                <a:spcPts val="0"/>
              </a:spcAft>
              <a:buSzPts val="1800"/>
              <a:buNone/>
            </a:pPr>
            <a:endParaRPr dirty="0"/>
          </a:p>
        </p:txBody>
      </p:sp>
      <p:sp>
        <p:nvSpPr>
          <p:cNvPr id="3254" name="Google Shape;3254;p609"/>
          <p:cNvSpPr txBox="1">
            <a:spLocks noGrp="1"/>
          </p:cNvSpPr>
          <p:nvPr>
            <p:ph type="body" idx="2"/>
          </p:nvPr>
        </p:nvSpPr>
        <p:spPr>
          <a:xfrm>
            <a:off x="608012" y="1258957"/>
            <a:ext cx="10972800" cy="4787213"/>
          </a:xfrm>
          <a:prstGeom prst="rect">
            <a:avLst/>
          </a:prstGeom>
          <a:noFill/>
          <a:ln>
            <a:noFill/>
          </a:ln>
        </p:spPr>
        <p:txBody>
          <a:bodyPr spcFirstLastPara="1" wrap="square" lIns="0" tIns="0" rIns="0" bIns="0" anchor="t" anchorCtr="0">
            <a:noAutofit/>
          </a:bodyPr>
          <a:lstStyle/>
          <a:p>
            <a:pPr marL="0" lvl="0" indent="-114300" algn="l" rtl="0">
              <a:lnSpc>
                <a:spcPct val="100000"/>
              </a:lnSpc>
              <a:spcBef>
                <a:spcPts val="0"/>
              </a:spcBef>
              <a:spcAft>
                <a:spcPts val="0"/>
              </a:spcAft>
              <a:buSzPts val="1800"/>
              <a:buChar char="​"/>
            </a:pPr>
            <a:r>
              <a:rPr lang="en-US" sz="1800" dirty="0"/>
              <a:t>General</a:t>
            </a:r>
            <a:endParaRPr dirty="0"/>
          </a:p>
          <a:p>
            <a:pPr marL="914400" lvl="1" indent="-331470" algn="l" rtl="0">
              <a:lnSpc>
                <a:spcPct val="100000"/>
              </a:lnSpc>
              <a:spcBef>
                <a:spcPts val="600"/>
              </a:spcBef>
              <a:spcAft>
                <a:spcPts val="0"/>
              </a:spcAft>
              <a:buSzPts val="1620"/>
              <a:buChar char="•"/>
            </a:pPr>
            <a:r>
              <a:rPr lang="en-US" dirty="0"/>
              <a:t>Elevation of solution functionality into the various UIs – specific Protection and Recovery views</a:t>
            </a:r>
            <a:endParaRPr dirty="0"/>
          </a:p>
          <a:p>
            <a:pPr marL="914400" lvl="1" indent="-331470" algn="l" rtl="0">
              <a:lnSpc>
                <a:spcPct val="100000"/>
              </a:lnSpc>
              <a:spcBef>
                <a:spcPts val="600"/>
              </a:spcBef>
              <a:spcAft>
                <a:spcPts val="0"/>
              </a:spcAft>
              <a:buSzPts val="1620"/>
              <a:buChar char="•"/>
            </a:pPr>
            <a:r>
              <a:rPr lang="en-US" sz="1600" dirty="0"/>
              <a:t>Protection Groups policy enhancements – membership &amp; scheduling</a:t>
            </a:r>
            <a:endParaRPr dirty="0"/>
          </a:p>
          <a:p>
            <a:pPr marL="914400" lvl="1" indent="-331470" algn="l" rtl="0">
              <a:lnSpc>
                <a:spcPct val="100000"/>
              </a:lnSpc>
              <a:spcBef>
                <a:spcPts val="600"/>
              </a:spcBef>
              <a:spcAft>
                <a:spcPts val="0"/>
              </a:spcAft>
              <a:buSzPts val="1620"/>
              <a:buChar char="•"/>
            </a:pPr>
            <a:r>
              <a:rPr lang="en-US" sz="1600" dirty="0"/>
              <a:t>Improved VCF Ops integration with management packs for key components (VR, vSAN DP, Cyber Recovery)</a:t>
            </a:r>
            <a:endParaRPr dirty="0"/>
          </a:p>
          <a:p>
            <a:pPr marL="914400" lvl="1" indent="-331470" algn="l" rtl="0">
              <a:lnSpc>
                <a:spcPct val="100000"/>
              </a:lnSpc>
              <a:spcBef>
                <a:spcPts val="600"/>
              </a:spcBef>
              <a:spcAft>
                <a:spcPts val="0"/>
              </a:spcAft>
              <a:buSzPts val="1620"/>
              <a:buChar char="•"/>
            </a:pPr>
            <a:r>
              <a:rPr lang="en-US" sz="1600" dirty="0"/>
              <a:t>Better vSAN (ESA) and VCF clean room workload domain hardware options</a:t>
            </a:r>
            <a:endParaRPr dirty="0"/>
          </a:p>
          <a:p>
            <a:pPr marL="0" lvl="0" indent="-114300" algn="l" rtl="0">
              <a:lnSpc>
                <a:spcPct val="100000"/>
              </a:lnSpc>
              <a:spcBef>
                <a:spcPts val="600"/>
              </a:spcBef>
              <a:spcAft>
                <a:spcPts val="0"/>
              </a:spcAft>
              <a:buSzPts val="1800"/>
              <a:buChar char="​"/>
            </a:pPr>
            <a:r>
              <a:rPr lang="en-US" sz="1800" dirty="0"/>
              <a:t>Operational Recovery</a:t>
            </a:r>
            <a:endParaRPr dirty="0"/>
          </a:p>
          <a:p>
            <a:pPr marL="914400" lvl="1" indent="-331470" algn="l" rtl="0">
              <a:lnSpc>
                <a:spcPct val="100000"/>
              </a:lnSpc>
              <a:spcBef>
                <a:spcPts val="600"/>
              </a:spcBef>
              <a:spcAft>
                <a:spcPts val="0"/>
              </a:spcAft>
              <a:buSzPts val="1620"/>
              <a:buChar char="•"/>
            </a:pPr>
            <a:r>
              <a:rPr lang="en-US" sz="1600" dirty="0"/>
              <a:t>Deeper UI integration with vSAN (ESA) local snapshots and Protection Groups</a:t>
            </a:r>
            <a:endParaRPr dirty="0"/>
          </a:p>
          <a:p>
            <a:pPr marL="0" lvl="0" indent="-114300" algn="l" rtl="0">
              <a:lnSpc>
                <a:spcPct val="100000"/>
              </a:lnSpc>
              <a:spcBef>
                <a:spcPts val="600"/>
              </a:spcBef>
              <a:spcAft>
                <a:spcPts val="0"/>
              </a:spcAft>
              <a:buSzPts val="1800"/>
              <a:buChar char="​"/>
            </a:pPr>
            <a:r>
              <a:rPr lang="en-US" sz="1800" dirty="0"/>
              <a:t>Disaster Recovery</a:t>
            </a:r>
            <a:endParaRPr dirty="0"/>
          </a:p>
          <a:p>
            <a:pPr marL="914400" lvl="1" indent="-331470" algn="l" rtl="0">
              <a:lnSpc>
                <a:spcPct val="100000"/>
              </a:lnSpc>
              <a:spcBef>
                <a:spcPts val="600"/>
              </a:spcBef>
              <a:spcAft>
                <a:spcPts val="0"/>
              </a:spcAft>
              <a:buSzPts val="1620"/>
              <a:buChar char="•"/>
            </a:pPr>
            <a:r>
              <a:rPr lang="en-US" sz="1600" dirty="0"/>
              <a:t>Support for “any” to vSAN replication and target snapshots – plus target seeding enhancements</a:t>
            </a:r>
            <a:endParaRPr dirty="0"/>
          </a:p>
          <a:p>
            <a:pPr marL="914400" lvl="1" indent="-331470" algn="l" rtl="0">
              <a:lnSpc>
                <a:spcPct val="100000"/>
              </a:lnSpc>
              <a:spcBef>
                <a:spcPts val="600"/>
              </a:spcBef>
              <a:spcAft>
                <a:spcPts val="0"/>
              </a:spcAft>
              <a:buSzPts val="1620"/>
              <a:buChar char="•"/>
            </a:pPr>
            <a:r>
              <a:rPr lang="en-US" sz="1600" dirty="0"/>
              <a:t>Support for VPCs in site-to-site network mappings</a:t>
            </a:r>
            <a:endParaRPr dirty="0"/>
          </a:p>
          <a:p>
            <a:pPr marL="0" lvl="0" indent="-114300" algn="l" rtl="0">
              <a:lnSpc>
                <a:spcPct val="100000"/>
              </a:lnSpc>
              <a:spcBef>
                <a:spcPts val="600"/>
              </a:spcBef>
              <a:spcAft>
                <a:spcPts val="0"/>
              </a:spcAft>
              <a:buSzPts val="1800"/>
              <a:buChar char="​"/>
            </a:pPr>
            <a:r>
              <a:rPr lang="en-US" sz="1800" dirty="0"/>
              <a:t>Cyber Recovery</a:t>
            </a:r>
            <a:endParaRPr dirty="0"/>
          </a:p>
          <a:p>
            <a:pPr marL="914400" lvl="1" indent="-331470" algn="l" rtl="0">
              <a:lnSpc>
                <a:spcPct val="100000"/>
              </a:lnSpc>
              <a:spcBef>
                <a:spcPts val="600"/>
              </a:spcBef>
              <a:spcAft>
                <a:spcPts val="0"/>
              </a:spcAft>
              <a:buSzPts val="1620"/>
              <a:buChar char="•"/>
            </a:pPr>
            <a:r>
              <a:rPr lang="en-US" sz="1600" dirty="0"/>
              <a:t>Construction of on-prem clean room instrumented with cyber recovery workflow enhancements</a:t>
            </a:r>
            <a:endParaRPr dirty="0"/>
          </a:p>
          <a:p>
            <a:pPr marL="914400" lvl="1" indent="-331470" algn="l" rtl="0">
              <a:lnSpc>
                <a:spcPct val="100000"/>
              </a:lnSpc>
              <a:spcBef>
                <a:spcPts val="600"/>
              </a:spcBef>
              <a:spcAft>
                <a:spcPts val="0"/>
              </a:spcAft>
              <a:buSzPts val="1620"/>
              <a:buChar char="•"/>
            </a:pPr>
            <a:r>
              <a:rPr lang="en-US" sz="1600" dirty="0"/>
              <a:t>Support for CrowdStrike BYOL EDR solution (Carbon Black default is “included”)</a:t>
            </a:r>
            <a:endParaRPr dirty="0"/>
          </a:p>
          <a:p>
            <a:pPr marL="914400" lvl="1" indent="-331470" algn="l" rtl="0">
              <a:lnSpc>
                <a:spcPct val="100000"/>
              </a:lnSpc>
              <a:spcBef>
                <a:spcPts val="600"/>
              </a:spcBef>
              <a:spcAft>
                <a:spcPts val="600"/>
              </a:spcAft>
              <a:buSzPts val="1620"/>
              <a:buChar char="•"/>
            </a:pPr>
            <a:r>
              <a:rPr lang="en-US" dirty="0"/>
              <a:t>vDefend enabled push-button network isolation control</a:t>
            </a:r>
            <a:endParaRPr sz="1600" dirty="0"/>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Shape 3259"/>
        <p:cNvGrpSpPr/>
        <p:nvPr/>
      </p:nvGrpSpPr>
      <p:grpSpPr>
        <a:xfrm>
          <a:off x="0" y="0"/>
          <a:ext cx="0" cy="0"/>
          <a:chOff x="0" y="0"/>
          <a:chExt cx="0" cy="0"/>
        </a:xfrm>
      </p:grpSpPr>
      <p:sp>
        <p:nvSpPr>
          <p:cNvPr id="3260" name="Google Shape;3260;p148"/>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dirty="0"/>
              <a:t>Operational Recovery	</a:t>
            </a:r>
            <a:endParaRPr dirty="0"/>
          </a:p>
        </p:txBody>
      </p:sp>
      <p:sp>
        <p:nvSpPr>
          <p:cNvPr id="3261" name="Google Shape;3261;p148"/>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p>
            <a:pPr marL="0" lvl="0" indent="-342900" algn="l" rtl="0">
              <a:lnSpc>
                <a:spcPct val="100000"/>
              </a:lnSpc>
              <a:spcBef>
                <a:spcPts val="0"/>
              </a:spcBef>
              <a:spcAft>
                <a:spcPts val="0"/>
              </a:spcAft>
              <a:buSzPts val="1800"/>
              <a:buNone/>
            </a:pPr>
            <a:r>
              <a:rPr lang="en-US" dirty="0"/>
              <a:t>Local Site – Protection and Recovery Capabilities</a:t>
            </a:r>
            <a:endParaRPr dirty="0"/>
          </a:p>
        </p:txBody>
      </p:sp>
      <p:sp>
        <p:nvSpPr>
          <p:cNvPr id="3262" name="Google Shape;3262;p148"/>
          <p:cNvSpPr txBox="1">
            <a:spLocks noGrp="1"/>
          </p:cNvSpPr>
          <p:nvPr>
            <p:ph type="body" idx="2"/>
          </p:nvPr>
        </p:nvSpPr>
        <p:spPr>
          <a:xfrm>
            <a:off x="8380413" y="1600200"/>
            <a:ext cx="3808412" cy="4572000"/>
          </a:xfrm>
          <a:prstGeom prst="rect">
            <a:avLst/>
          </a:prstGeom>
          <a:noFill/>
          <a:ln>
            <a:noFill/>
          </a:ln>
        </p:spPr>
        <p:txBody>
          <a:bodyPr spcFirstLastPara="1" wrap="square" lIns="0" tIns="457200" rIns="594350" bIns="457200" anchor="t" anchorCtr="0">
            <a:noAutofit/>
          </a:bodyPr>
          <a:lstStyle/>
          <a:p>
            <a:pPr marL="457200" lvl="0" indent="-320040" algn="l" rtl="0">
              <a:lnSpc>
                <a:spcPct val="100000"/>
              </a:lnSpc>
              <a:spcBef>
                <a:spcPts val="0"/>
              </a:spcBef>
              <a:spcAft>
                <a:spcPts val="0"/>
              </a:spcAft>
              <a:buClr>
                <a:schemeClr val="accent2"/>
              </a:buClr>
              <a:buSzPts val="1440"/>
              <a:buFont typeface="Arial"/>
              <a:buChar char="•"/>
            </a:pPr>
            <a:r>
              <a:rPr lang="en-US" dirty="0"/>
              <a:t>Local vSAN snapshots provide recovery point inventory for local VM restore or clone operations</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Snapshots are enabled through Protection and Recovery Combined Appliance service</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Local snapshot protection included in VCF core licensing and vSAN ESA deployments</a:t>
            </a:r>
            <a:endParaRPr dirty="0"/>
          </a:p>
          <a:p>
            <a:pPr marL="457200" lvl="0" indent="-320040" algn="l" rtl="0">
              <a:lnSpc>
                <a:spcPct val="100000"/>
              </a:lnSpc>
              <a:spcBef>
                <a:spcPts val="1200"/>
              </a:spcBef>
              <a:spcAft>
                <a:spcPts val="1200"/>
              </a:spcAft>
              <a:buClr>
                <a:schemeClr val="accent2"/>
              </a:buClr>
              <a:buSzPts val="1440"/>
              <a:buFont typeface="Arial"/>
              <a:buChar char="•"/>
            </a:pPr>
            <a:r>
              <a:rPr lang="en-US" dirty="0"/>
              <a:t>Protection Groups with replication are integrated into the Disaster Recovery orchestration UI</a:t>
            </a:r>
            <a:endParaRPr dirty="0"/>
          </a:p>
        </p:txBody>
      </p:sp>
      <p:pic>
        <p:nvPicPr>
          <p:cNvPr id="3263" name="Google Shape;3263;p148"/>
          <p:cNvPicPr preferRelativeResize="0"/>
          <p:nvPr/>
        </p:nvPicPr>
        <p:blipFill rotWithShape="1">
          <a:blip r:embed="rId3">
            <a:alphaModFix/>
          </a:blip>
          <a:srcRect/>
          <a:stretch/>
        </p:blipFill>
        <p:spPr>
          <a:xfrm>
            <a:off x="579438" y="2241818"/>
            <a:ext cx="7426877" cy="2959069"/>
          </a:xfrm>
          <a:prstGeom prst="rect">
            <a:avLst/>
          </a:prstGeom>
          <a:noFill/>
          <a:ln w="9525" cap="flat" cmpd="sng">
            <a:solidFill>
              <a:schemeClr val="accent2"/>
            </a:solidFill>
            <a:prstDash val="solid"/>
            <a:round/>
            <a:headEnd type="none" w="sm" len="sm"/>
            <a:tailEnd type="none" w="sm" len="sm"/>
          </a:ln>
        </p:spPr>
      </p:pic>
      <p:sp>
        <p:nvSpPr>
          <p:cNvPr id="3264" name="Google Shape;3264;p148"/>
          <p:cNvSpPr/>
          <p:nvPr/>
        </p:nvSpPr>
        <p:spPr>
          <a:xfrm>
            <a:off x="1621706" y="3214425"/>
            <a:ext cx="1536620" cy="406774"/>
          </a:xfrm>
          <a:prstGeom prst="rect">
            <a:avLst/>
          </a:prstGeom>
          <a:noFill/>
          <a:ln w="19050" cap="flat" cmpd="sng">
            <a:solidFill>
              <a:srgbClr val="FF000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Shape 3269"/>
        <p:cNvGrpSpPr/>
        <p:nvPr/>
      </p:nvGrpSpPr>
      <p:grpSpPr>
        <a:xfrm>
          <a:off x="0" y="0"/>
          <a:ext cx="0" cy="0"/>
          <a:chOff x="0" y="0"/>
          <a:chExt cx="0" cy="0"/>
        </a:xfrm>
      </p:grpSpPr>
      <p:sp>
        <p:nvSpPr>
          <p:cNvPr id="3270" name="Google Shape;3270;p610"/>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dirty="0"/>
              <a:t>Disaster Recovery</a:t>
            </a:r>
            <a:endParaRPr dirty="0"/>
          </a:p>
        </p:txBody>
      </p:sp>
      <p:sp>
        <p:nvSpPr>
          <p:cNvPr id="3271" name="Google Shape;3271;p610"/>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p>
            <a:pPr marL="0" lvl="0" indent="-342900" algn="l" rtl="0">
              <a:lnSpc>
                <a:spcPct val="100000"/>
              </a:lnSpc>
              <a:spcBef>
                <a:spcPts val="0"/>
              </a:spcBef>
              <a:spcAft>
                <a:spcPts val="0"/>
              </a:spcAft>
              <a:buSzPts val="1800"/>
              <a:buNone/>
            </a:pPr>
            <a:r>
              <a:rPr lang="en-US" dirty="0"/>
              <a:t>Remote Site Failover – Protection and Recovery Capabilities</a:t>
            </a:r>
            <a:endParaRPr dirty="0"/>
          </a:p>
        </p:txBody>
      </p:sp>
      <p:sp>
        <p:nvSpPr>
          <p:cNvPr id="3272" name="Google Shape;3272;p610"/>
          <p:cNvSpPr txBox="1">
            <a:spLocks noGrp="1"/>
          </p:cNvSpPr>
          <p:nvPr>
            <p:ph type="body" idx="2"/>
          </p:nvPr>
        </p:nvSpPr>
        <p:spPr>
          <a:xfrm>
            <a:off x="8380413" y="1600200"/>
            <a:ext cx="3808412" cy="4572000"/>
          </a:xfrm>
          <a:prstGeom prst="rect">
            <a:avLst/>
          </a:prstGeom>
          <a:noFill/>
          <a:ln>
            <a:noFill/>
          </a:ln>
        </p:spPr>
        <p:txBody>
          <a:bodyPr spcFirstLastPara="1" wrap="square" lIns="0" tIns="457200" rIns="594350" bIns="457200" anchor="t" anchorCtr="0">
            <a:noAutofit/>
          </a:bodyPr>
          <a:lstStyle/>
          <a:p>
            <a:pPr marL="457200" lvl="0" indent="-320040" algn="l" rtl="0">
              <a:lnSpc>
                <a:spcPct val="100000"/>
              </a:lnSpc>
              <a:spcBef>
                <a:spcPts val="0"/>
              </a:spcBef>
              <a:spcAft>
                <a:spcPts val="0"/>
              </a:spcAft>
              <a:buClr>
                <a:schemeClr val="accent2"/>
              </a:buClr>
              <a:buSzPts val="1440"/>
              <a:buFont typeface="Arial"/>
              <a:buChar char="•"/>
            </a:pPr>
            <a:r>
              <a:rPr lang="en-US" dirty="0"/>
              <a:t>Remote vSAN snapshots provide recovery point inventory for disaster recovery failover scenarios</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Replication is enabled through Protection and Recovery Combined Appliance service</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VM based replication through enhanced vSphere Replication is included in VCF core licensing</a:t>
            </a:r>
            <a:endParaRPr dirty="0"/>
          </a:p>
          <a:p>
            <a:pPr marL="457200" lvl="0" indent="-320040" algn="l" rtl="0">
              <a:lnSpc>
                <a:spcPct val="100000"/>
              </a:lnSpc>
              <a:spcBef>
                <a:spcPts val="1200"/>
              </a:spcBef>
              <a:spcAft>
                <a:spcPts val="1200"/>
              </a:spcAft>
              <a:buClr>
                <a:schemeClr val="accent2"/>
              </a:buClr>
              <a:buSzPts val="1440"/>
              <a:buFont typeface="Arial"/>
              <a:buChar char="•"/>
            </a:pPr>
            <a:r>
              <a:rPr lang="en-US" dirty="0"/>
              <a:t>Familiar Disaster Recovery orchestration UI</a:t>
            </a:r>
            <a:endParaRPr dirty="0"/>
          </a:p>
        </p:txBody>
      </p:sp>
      <p:pic>
        <p:nvPicPr>
          <p:cNvPr id="3273" name="Google Shape;3273;p610"/>
          <p:cNvPicPr preferRelativeResize="0"/>
          <p:nvPr/>
        </p:nvPicPr>
        <p:blipFill rotWithShape="1">
          <a:blip r:embed="rId3">
            <a:alphaModFix/>
          </a:blip>
          <a:srcRect/>
          <a:stretch/>
        </p:blipFill>
        <p:spPr>
          <a:xfrm>
            <a:off x="592866" y="2584592"/>
            <a:ext cx="7413449" cy="2145897"/>
          </a:xfrm>
          <a:prstGeom prst="rect">
            <a:avLst/>
          </a:prstGeom>
          <a:noFill/>
          <a:ln w="9525" cap="flat" cmpd="sng">
            <a:solidFill>
              <a:schemeClr val="accent2"/>
            </a:solidFill>
            <a:prstDash val="solid"/>
            <a:round/>
            <a:headEnd type="none" w="sm" len="sm"/>
            <a:tailEnd type="none" w="sm" len="sm"/>
          </a:ln>
        </p:spPr>
      </p:pic>
      <p:sp>
        <p:nvSpPr>
          <p:cNvPr id="3274" name="Google Shape;3274;p610"/>
          <p:cNvSpPr/>
          <p:nvPr/>
        </p:nvSpPr>
        <p:spPr>
          <a:xfrm>
            <a:off x="2104149" y="2928324"/>
            <a:ext cx="1940527" cy="224393"/>
          </a:xfrm>
          <a:prstGeom prst="rect">
            <a:avLst/>
          </a:prstGeom>
          <a:noFill/>
          <a:ln w="19050" cap="flat" cmpd="sng">
            <a:solidFill>
              <a:srgbClr val="FF000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75" name="Google Shape;3275;p610"/>
          <p:cNvSpPr/>
          <p:nvPr/>
        </p:nvSpPr>
        <p:spPr>
          <a:xfrm>
            <a:off x="5194689" y="3601503"/>
            <a:ext cx="1093915" cy="482444"/>
          </a:xfrm>
          <a:prstGeom prst="rect">
            <a:avLst/>
          </a:prstGeom>
          <a:noFill/>
          <a:ln w="19050" cap="flat" cmpd="sng">
            <a:solidFill>
              <a:srgbClr val="FF000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Shape 3280"/>
        <p:cNvGrpSpPr/>
        <p:nvPr/>
      </p:nvGrpSpPr>
      <p:grpSpPr>
        <a:xfrm>
          <a:off x="0" y="0"/>
          <a:ext cx="0" cy="0"/>
          <a:chOff x="0" y="0"/>
          <a:chExt cx="0" cy="0"/>
        </a:xfrm>
      </p:grpSpPr>
      <p:sp>
        <p:nvSpPr>
          <p:cNvPr id="3281" name="Google Shape;3281;p611"/>
          <p:cNvSpPr txBox="1">
            <a:spLocks noGrp="1"/>
          </p:cNvSpPr>
          <p:nvPr>
            <p:ph type="title"/>
          </p:nvPr>
        </p:nvSpPr>
        <p:spPr>
          <a:xfrm>
            <a:off x="579809" y="412751"/>
            <a:ext cx="11001004" cy="381000"/>
          </a:xfrm>
          <a:prstGeom prst="rect">
            <a:avLst/>
          </a:prstGeom>
          <a:noFill/>
          <a:ln>
            <a:noFill/>
          </a:ln>
        </p:spPr>
        <p:txBody>
          <a:bodyPr spcFirstLastPara="1" wrap="square" lIns="0" tIns="0" rIns="0" bIns="0" anchor="b" anchorCtr="0">
            <a:noAutofit/>
          </a:bodyPr>
          <a:lstStyle/>
          <a:p>
            <a:pPr marL="0" lvl="0" indent="0" algn="l" rtl="0">
              <a:lnSpc>
                <a:spcPct val="90000"/>
              </a:lnSpc>
              <a:spcBef>
                <a:spcPts val="0"/>
              </a:spcBef>
              <a:spcAft>
                <a:spcPts val="0"/>
              </a:spcAft>
              <a:buClr>
                <a:schemeClr val="accent2"/>
              </a:buClr>
              <a:buSzPts val="2800"/>
              <a:buFont typeface="Arial"/>
              <a:buNone/>
            </a:pPr>
            <a:r>
              <a:rPr lang="en-US" dirty="0"/>
              <a:t>Cyber Recovery</a:t>
            </a:r>
            <a:endParaRPr dirty="0"/>
          </a:p>
        </p:txBody>
      </p:sp>
      <p:sp>
        <p:nvSpPr>
          <p:cNvPr id="3282" name="Google Shape;3282;p611"/>
          <p:cNvSpPr txBox="1">
            <a:spLocks noGrp="1"/>
          </p:cNvSpPr>
          <p:nvPr>
            <p:ph type="subTitle" idx="1"/>
          </p:nvPr>
        </p:nvSpPr>
        <p:spPr>
          <a:xfrm>
            <a:off x="592866" y="811830"/>
            <a:ext cx="10962687" cy="247743"/>
          </a:xfrm>
          <a:prstGeom prst="rect">
            <a:avLst/>
          </a:prstGeom>
          <a:noFill/>
          <a:ln>
            <a:noFill/>
          </a:ln>
        </p:spPr>
        <p:txBody>
          <a:bodyPr spcFirstLastPara="1" wrap="square" lIns="0" tIns="0" rIns="0" bIns="0" anchor="t" anchorCtr="0">
            <a:noAutofit/>
          </a:bodyPr>
          <a:lstStyle/>
          <a:p>
            <a:pPr marL="0" lvl="0" indent="-342900" algn="l" rtl="0">
              <a:lnSpc>
                <a:spcPct val="100000"/>
              </a:lnSpc>
              <a:spcBef>
                <a:spcPts val="0"/>
              </a:spcBef>
              <a:spcAft>
                <a:spcPts val="0"/>
              </a:spcAft>
              <a:buSzPts val="1800"/>
              <a:buNone/>
            </a:pPr>
            <a:r>
              <a:rPr lang="en-US" dirty="0"/>
              <a:t>Isolated On-Prem Clean Room – Protection and Recovery Capabilities</a:t>
            </a:r>
            <a:endParaRPr dirty="0"/>
          </a:p>
        </p:txBody>
      </p:sp>
      <p:sp>
        <p:nvSpPr>
          <p:cNvPr id="3283" name="Google Shape;3283;p611"/>
          <p:cNvSpPr txBox="1">
            <a:spLocks noGrp="1"/>
          </p:cNvSpPr>
          <p:nvPr>
            <p:ph type="body" idx="2"/>
          </p:nvPr>
        </p:nvSpPr>
        <p:spPr>
          <a:xfrm>
            <a:off x="8380413" y="1600200"/>
            <a:ext cx="3808412" cy="4572000"/>
          </a:xfrm>
          <a:prstGeom prst="rect">
            <a:avLst/>
          </a:prstGeom>
          <a:noFill/>
          <a:ln>
            <a:noFill/>
          </a:ln>
        </p:spPr>
        <p:txBody>
          <a:bodyPr spcFirstLastPara="1" wrap="square" lIns="0" tIns="457200" rIns="594350" bIns="457200" anchor="t" anchorCtr="0">
            <a:noAutofit/>
          </a:bodyPr>
          <a:lstStyle/>
          <a:p>
            <a:pPr marL="457200" lvl="0" indent="-320040" algn="l" rtl="0">
              <a:lnSpc>
                <a:spcPct val="100000"/>
              </a:lnSpc>
              <a:spcBef>
                <a:spcPts val="0"/>
              </a:spcBef>
              <a:spcAft>
                <a:spcPts val="0"/>
              </a:spcAft>
              <a:buClr>
                <a:schemeClr val="accent2"/>
              </a:buClr>
              <a:buSzPts val="1440"/>
              <a:buFont typeface="Arial"/>
              <a:buChar char="•"/>
            </a:pPr>
            <a:r>
              <a:rPr lang="en-US" dirty="0"/>
              <a:t>Remote vSAN snapshots provide deeper recovery point inventory for cyber recovery</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Clean room provides controlled environment for proper validation</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Guided workflow integrated into Disaster Recovery orchestration UI</a:t>
            </a:r>
            <a:endParaRPr dirty="0"/>
          </a:p>
          <a:p>
            <a:pPr marL="457200" lvl="0" indent="-320040" algn="l" rtl="0">
              <a:lnSpc>
                <a:spcPct val="100000"/>
              </a:lnSpc>
              <a:spcBef>
                <a:spcPts val="1200"/>
              </a:spcBef>
              <a:spcAft>
                <a:spcPts val="0"/>
              </a:spcAft>
              <a:buClr>
                <a:schemeClr val="accent2"/>
              </a:buClr>
              <a:buSzPts val="1440"/>
              <a:buFont typeface="Arial"/>
              <a:buChar char="•"/>
            </a:pPr>
            <a:r>
              <a:rPr lang="en-US" dirty="0"/>
              <a:t>Network isolation control with vDefend firewalls</a:t>
            </a:r>
            <a:endParaRPr dirty="0"/>
          </a:p>
          <a:p>
            <a:pPr marL="457200" lvl="0" indent="-320040" algn="l" rtl="0">
              <a:lnSpc>
                <a:spcPct val="100000"/>
              </a:lnSpc>
              <a:spcBef>
                <a:spcPts val="1200"/>
              </a:spcBef>
              <a:spcAft>
                <a:spcPts val="1200"/>
              </a:spcAft>
              <a:buClr>
                <a:schemeClr val="accent2"/>
              </a:buClr>
              <a:buSzPts val="1440"/>
              <a:buFont typeface="Arial"/>
              <a:buChar char="•"/>
            </a:pPr>
            <a:r>
              <a:rPr lang="en-US" dirty="0"/>
              <a:t>EDR integrated into the workflow UI – CrowdStrike or Carbon Black</a:t>
            </a:r>
            <a:endParaRPr dirty="0"/>
          </a:p>
        </p:txBody>
      </p:sp>
      <p:pic>
        <p:nvPicPr>
          <p:cNvPr id="3284" name="Google Shape;3284;p611"/>
          <p:cNvPicPr preferRelativeResize="0"/>
          <p:nvPr/>
        </p:nvPicPr>
        <p:blipFill rotWithShape="1">
          <a:blip r:embed="rId3">
            <a:alphaModFix/>
          </a:blip>
          <a:srcRect/>
          <a:stretch/>
        </p:blipFill>
        <p:spPr>
          <a:xfrm>
            <a:off x="608013" y="2330337"/>
            <a:ext cx="7398302" cy="3106100"/>
          </a:xfrm>
          <a:prstGeom prst="rect">
            <a:avLst/>
          </a:prstGeom>
          <a:noFill/>
          <a:ln w="9525" cap="flat" cmpd="sng">
            <a:solidFill>
              <a:schemeClr val="accent2"/>
            </a:solidFill>
            <a:prstDash val="solid"/>
            <a:round/>
            <a:headEnd type="none" w="sm" len="sm"/>
            <a:tailEnd type="none" w="sm" len="sm"/>
          </a:ln>
        </p:spPr>
      </p:pic>
      <p:sp>
        <p:nvSpPr>
          <p:cNvPr id="3285" name="Google Shape;3285;p611"/>
          <p:cNvSpPr/>
          <p:nvPr/>
        </p:nvSpPr>
        <p:spPr>
          <a:xfrm>
            <a:off x="4847350" y="3866557"/>
            <a:ext cx="1519792" cy="224393"/>
          </a:xfrm>
          <a:prstGeom prst="rect">
            <a:avLst/>
          </a:prstGeom>
          <a:noFill/>
          <a:ln w="19050" cap="flat" cmpd="sng">
            <a:solidFill>
              <a:srgbClr val="FF000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3286" name="Google Shape;3286;p611"/>
          <p:cNvSpPr/>
          <p:nvPr/>
        </p:nvSpPr>
        <p:spPr>
          <a:xfrm>
            <a:off x="3966141" y="3462661"/>
            <a:ext cx="2457098" cy="290308"/>
          </a:xfrm>
          <a:prstGeom prst="rect">
            <a:avLst/>
          </a:prstGeom>
          <a:noFill/>
          <a:ln w="19050" cap="flat" cmpd="sng">
            <a:solidFill>
              <a:srgbClr val="FF0000"/>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Shape 18493"/>
        <p:cNvGrpSpPr/>
        <p:nvPr/>
      </p:nvGrpSpPr>
      <p:grpSpPr>
        <a:xfrm>
          <a:off x="0" y="0"/>
          <a:ext cx="0" cy="0"/>
          <a:chOff x="0" y="0"/>
          <a:chExt cx="0" cy="0"/>
        </a:xfrm>
      </p:grpSpPr>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ARTICULATE_PROJECT_OPEN" val="0"/>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VMware 2025 Light">
  <a:themeElements>
    <a:clrScheme name="VMware-Light">
      <a:dk1>
        <a:srgbClr val="000000"/>
      </a:dk1>
      <a:lt1>
        <a:srgbClr val="FFFFFF"/>
      </a:lt1>
      <a:dk2>
        <a:srgbClr val="1B1D36"/>
      </a:dk2>
      <a:lt2>
        <a:srgbClr val="EEEEEE"/>
      </a:lt2>
      <a:accent1>
        <a:srgbClr val="007B8C"/>
      </a:accent1>
      <a:accent2>
        <a:srgbClr val="005C8A"/>
      </a:accent2>
      <a:accent3>
        <a:srgbClr val="0098C7"/>
      </a:accent3>
      <a:accent4>
        <a:srgbClr val="61A60E"/>
      </a:accent4>
      <a:accent5>
        <a:srgbClr val="6C4B94"/>
      </a:accent5>
      <a:accent6>
        <a:srgbClr val="F3BA16"/>
      </a:accent6>
      <a:hlink>
        <a:srgbClr val="0098C7"/>
      </a:hlink>
      <a:folHlink>
        <a:srgbClr val="6C4B94"/>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2"/>
        </a:solidFill>
        <a:ln w="12700">
          <a:noFill/>
          <a:miter lim="800000"/>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8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bwMode="gray">
        <a:ln w="12700">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800" dirty="0" smtClean="0">
            <a:solidFill>
              <a:schemeClr val="tx2"/>
            </a:solidFill>
          </a:defRPr>
        </a:defPPr>
      </a:lstStyle>
    </a:txDef>
  </a:objectDefaults>
  <a:extraClrSchemeLst/>
  <a:custClrLst>
    <a:custClr name="Orange">
      <a:srgbClr val="E68C28"/>
    </a:custClr>
    <a:custClr name="Red">
      <a:srgbClr val="CC092F"/>
    </a:custClr>
    <a:custClr name="Light Grey">
      <a:srgbClr val="E2E3E4"/>
    </a:custClr>
    <a:custClr name="Cool Grey 7">
      <a:srgbClr val="97999B"/>
    </a:custClr>
    <a:custClr name="Dark Grey">
      <a:srgbClr val="53565A"/>
    </a:custClr>
    <a:custClr name="2nd Green">
      <a:srgbClr val="23800A"/>
    </a:custClr>
    <a:custClr name="2nd Blue">
      <a:srgbClr val="007DA3"/>
    </a:custClr>
    <a:custClr name="187 Red">
      <a:srgbClr val="A6192E"/>
    </a:custClr>
  </a:custClrLst>
  <a:extLst>
    <a:ext uri="{05A4C25C-085E-4340-85A3-A5531E510DB2}">
      <thm15:themeFamily xmlns:thm15="http://schemas.microsoft.com/office/thememl/2012/main" name="bc-vmw-ppt-template-light-arial-2025.potx" id="{270C1632-0D73-4249-9EC5-826DF1073C3F}" vid="{79868998-EA69-428A-BEAC-731B6D11D92C}"/>
    </a:ext>
  </a:extLst>
</a:theme>
</file>

<file path=ppt/theme/theme2.xml><?xml version="1.0" encoding="utf-8"?>
<a:theme xmlns:a="http://schemas.openxmlformats.org/drawingml/2006/main" name="Office Theme">
  <a:themeElements>
    <a:clrScheme name="VMware">
      <a:dk1>
        <a:srgbClr val="717074"/>
      </a:dk1>
      <a:lt1>
        <a:sysClr val="window" lastClr="FFFFFF"/>
      </a:lt1>
      <a:dk2>
        <a:srgbClr val="000000"/>
      </a:dk2>
      <a:lt2>
        <a:srgbClr val="C6C6C8"/>
      </a:lt2>
      <a:accent1>
        <a:srgbClr val="0095D3"/>
      </a:accent1>
      <a:accent2>
        <a:srgbClr val="89CBDF"/>
      </a:accent2>
      <a:accent3>
        <a:srgbClr val="006990"/>
      </a:accent3>
      <a:accent4>
        <a:srgbClr val="6DB33F"/>
      </a:accent4>
      <a:accent5>
        <a:srgbClr val="C2CD23"/>
      </a:accent5>
      <a:accent6>
        <a:srgbClr val="387C2C"/>
      </a:accent6>
      <a:hlink>
        <a:srgbClr val="0095D3"/>
      </a:hlink>
      <a:folHlink>
        <a:srgbClr val="89CBDF"/>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VMware">
      <a:dk1>
        <a:srgbClr val="717074"/>
      </a:dk1>
      <a:lt1>
        <a:sysClr val="window" lastClr="FFFFFF"/>
      </a:lt1>
      <a:dk2>
        <a:srgbClr val="000000"/>
      </a:dk2>
      <a:lt2>
        <a:srgbClr val="C6C6C8"/>
      </a:lt2>
      <a:accent1>
        <a:srgbClr val="0095D3"/>
      </a:accent1>
      <a:accent2>
        <a:srgbClr val="89CBDF"/>
      </a:accent2>
      <a:accent3>
        <a:srgbClr val="006990"/>
      </a:accent3>
      <a:accent4>
        <a:srgbClr val="6DB33F"/>
      </a:accent4>
      <a:accent5>
        <a:srgbClr val="C2CD23"/>
      </a:accent5>
      <a:accent6>
        <a:srgbClr val="387C2C"/>
      </a:accent6>
      <a:hlink>
        <a:srgbClr val="0095D3"/>
      </a:hlink>
      <a:folHlink>
        <a:srgbClr val="89CBDF"/>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8B3F91C0C4ECEE479555FEA4A4EB2B48" ma:contentTypeVersion="15" ma:contentTypeDescription="Create a new document." ma:contentTypeScope="" ma:versionID="c6a87b1e4bc033b72f454e04dac54d88">
  <xsd:schema xmlns:xsd="http://www.w3.org/2001/XMLSchema" xmlns:xs="http://www.w3.org/2001/XMLSchema" xmlns:p="http://schemas.microsoft.com/office/2006/metadata/properties" xmlns:ns2="34d4d772-b3f2-47fc-9a2d-2126f9957ae8" xmlns:ns3="d345b56e-75a0-4ca8-9b4b-110cb999efd5" targetNamespace="http://schemas.microsoft.com/office/2006/metadata/properties" ma:root="true" ma:fieldsID="6eb14a52ad1190b1f78ecaeae027f828" ns2:_="" ns3:_="">
    <xsd:import namespace="34d4d772-b3f2-47fc-9a2d-2126f9957ae8"/>
    <xsd:import namespace="d345b56e-75a0-4ca8-9b4b-110cb999efd5"/>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DateTaken" minOccurs="0"/>
                <xsd:element ref="ns3:SharedWithUsers" minOccurs="0"/>
                <xsd:element ref="ns3:SharedWithDetails" minOccurs="0"/>
                <xsd:element ref="ns2:MediaServiceLocation"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4d4d772-b3f2-47fc-9a2d-2126f9957ae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42db59af-f8a6-47a7-a7a2-8d3f5d7884b9"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dexed="true" ma:internalName="MediaServiceDateTaken" ma:readOnly="true">
      <xsd:simpleType>
        <xsd:restriction base="dms:Text"/>
      </xsd:simpleType>
    </xsd:element>
    <xsd:element name="MediaServiceLocation" ma:index="21" nillable="true" ma:displayName="Location" ma:indexed="true" ma:internalName="MediaServiceLocation" ma:readOnly="true">
      <xsd:simpleType>
        <xsd:restriction base="dms:Text"/>
      </xsd:simpleType>
    </xsd:element>
    <xsd:element name="MediaLengthInSeconds" ma:index="22"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d345b56e-75a0-4ca8-9b4b-110cb999efd5"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3e60bf06-978e-4056-b583-56563198eef8}" ma:internalName="TaxCatchAll" ma:showField="CatchAllData" ma:web="d345b56e-75a0-4ca8-9b4b-110cb999efd5">
      <xsd:complexType>
        <xsd:complexContent>
          <xsd:extension base="dms:MultiChoiceLookup">
            <xsd:sequence>
              <xsd:element name="Value" type="dms:Lookup" maxOccurs="unbounded" minOccurs="0" nillable="true"/>
            </xsd:sequence>
          </xsd:extension>
        </xsd:complexContent>
      </xsd:complexType>
    </xsd:element>
    <xsd:element name="SharedWithUsers" ma:index="1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0"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34d4d772-b3f2-47fc-9a2d-2126f9957ae8">
      <Terms xmlns="http://schemas.microsoft.com/office/infopath/2007/PartnerControls"/>
    </lcf76f155ced4ddcb4097134ff3c332f>
    <TaxCatchAll xmlns="d345b56e-75a0-4ca8-9b4b-110cb999efd5" xsi:nil="true"/>
    <SharedWithUsers xmlns="d345b56e-75a0-4ca8-9b4b-110cb999efd5">
      <UserInfo>
        <DisplayName>Juanly Cabrera</DisplayName>
        <AccountId>17</AccountId>
        <AccountType/>
      </UserInfo>
      <UserInfo>
        <DisplayName>Andre Fernandes</DisplayName>
        <AccountId>20</AccountId>
        <AccountType/>
      </UserInfo>
    </SharedWithUsers>
  </documentManagement>
</p:properties>
</file>

<file path=customXml/itemProps1.xml><?xml version="1.0" encoding="utf-8"?>
<ds:datastoreItem xmlns:ds="http://schemas.openxmlformats.org/officeDocument/2006/customXml" ds:itemID="{BAD99180-4DF7-4231-B572-5E5D5B192DA4}">
  <ds:schemaRefs>
    <ds:schemaRef ds:uri="http://schemas.microsoft.com/sharepoint/v3/contenttype/forms"/>
  </ds:schemaRefs>
</ds:datastoreItem>
</file>

<file path=customXml/itemProps2.xml><?xml version="1.0" encoding="utf-8"?>
<ds:datastoreItem xmlns:ds="http://schemas.openxmlformats.org/officeDocument/2006/customXml" ds:itemID="{28FF4D8F-9B19-4DA8-8A71-562BBA95DCB6}">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34d4d772-b3f2-47fc-9a2d-2126f9957ae8"/>
    <ds:schemaRef ds:uri="d345b56e-75a0-4ca8-9b4b-110cb999efd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51634573-F7D8-4ECC-B5FF-91D1E5D2E650}">
  <ds:schemaRefs>
    <ds:schemaRef ds:uri="http://schemas.openxmlformats.org/package/2006/metadata/core-properties"/>
    <ds:schemaRef ds:uri="http://schemas.microsoft.com/office/2006/documentManagement/types"/>
    <ds:schemaRef ds:uri="34d4d772-b3f2-47fc-9a2d-2126f9957ae8"/>
    <ds:schemaRef ds:uri="http://purl.org/dc/terms/"/>
    <ds:schemaRef ds:uri="http://purl.org/dc/elements/1.1/"/>
    <ds:schemaRef ds:uri="d345b56e-75a0-4ca8-9b4b-110cb999efd5"/>
    <ds:schemaRef ds:uri="http://schemas.microsoft.com/office/infopath/2007/PartnerControls"/>
    <ds:schemaRef ds:uri="http://schemas.microsoft.com/office/2006/metadata/properties"/>
    <ds:schemaRef ds:uri="http://www.w3.org/XML/1998/namespac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bc-vmw-ppt-template-light-arial-2026</Template>
  <TotalTime>13</TotalTime>
  <Words>53766</Words>
  <Application>Microsoft Office PowerPoint</Application>
  <PresentationFormat>Custom</PresentationFormat>
  <Paragraphs>5149</Paragraphs>
  <Slides>150</Slides>
  <Notes>150</Notes>
  <HiddenSlides>1</HiddenSlides>
  <MMClips>0</MMClips>
  <ScaleCrop>false</ScaleCrop>
  <HeadingPairs>
    <vt:vector size="6" baseType="variant">
      <vt:variant>
        <vt:lpstr>Fonts Used</vt:lpstr>
      </vt:variant>
      <vt:variant>
        <vt:i4>21</vt:i4>
      </vt:variant>
      <vt:variant>
        <vt:lpstr>Theme</vt:lpstr>
      </vt:variant>
      <vt:variant>
        <vt:i4>1</vt:i4>
      </vt:variant>
      <vt:variant>
        <vt:lpstr>Slide Titles</vt:lpstr>
      </vt:variant>
      <vt:variant>
        <vt:i4>150</vt:i4>
      </vt:variant>
    </vt:vector>
  </HeadingPairs>
  <TitlesOfParts>
    <vt:vector size="172" baseType="lpstr">
      <vt:lpstr>Arial</vt:lpstr>
      <vt:lpstr>Arial Rounded MT Bold</vt:lpstr>
      <vt:lpstr>Calibri</vt:lpstr>
      <vt:lpstr>Camphor Std</vt:lpstr>
      <vt:lpstr>Cascadia Code</vt:lpstr>
      <vt:lpstr>Consolas</vt:lpstr>
      <vt:lpstr>Courier New</vt:lpstr>
      <vt:lpstr>Helvetica Neue</vt:lpstr>
      <vt:lpstr>Inter</vt:lpstr>
      <vt:lpstr>Metropolis</vt:lpstr>
      <vt:lpstr>Metropolis Light</vt:lpstr>
      <vt:lpstr>Metropolis Semi Bold</vt:lpstr>
      <vt:lpstr>Metropolis-Regular</vt:lpstr>
      <vt:lpstr>Montserrat</vt:lpstr>
      <vt:lpstr>Open Sans</vt:lpstr>
      <vt:lpstr>Open Sans Light</vt:lpstr>
      <vt:lpstr>Play</vt:lpstr>
      <vt:lpstr>Quattrocento Sans</vt:lpstr>
      <vt:lpstr>Roboto</vt:lpstr>
      <vt:lpstr>System Font Regular</vt:lpstr>
      <vt:lpstr>Wingdings</vt:lpstr>
      <vt:lpstr>VMware 2025 Light</vt:lpstr>
      <vt:lpstr>VMware Cloud Foundation</vt:lpstr>
      <vt:lpstr>PowerPoint Presentation</vt:lpstr>
      <vt:lpstr>PowerPoint Presentation</vt:lpstr>
      <vt:lpstr>Build and Deploy Private Cloud Infrastructure On-Premises</vt:lpstr>
      <vt:lpstr>Private Cloud Constructs within VMware Cloud Foundation</vt:lpstr>
      <vt:lpstr>Private Cloud Constructs within VMware Cloud Foundation</vt:lpstr>
      <vt:lpstr>Build and Deploy Private Cloud Infrastructure On-Premises</vt:lpstr>
      <vt:lpstr>VCF Installer Overview</vt:lpstr>
      <vt:lpstr>Choice of Online or Offline Software Depot</vt:lpstr>
      <vt:lpstr>Intuitive Wizard-driven UI with Support for JSON</vt:lpstr>
      <vt:lpstr>Deploy New Fleets and Expand Existing Fleets</vt:lpstr>
      <vt:lpstr>Deploy VCF Using Existing Components</vt:lpstr>
      <vt:lpstr>Integrated Planning &amp; Preparation with VCF Installer</vt:lpstr>
      <vt:lpstr>Build and Deploy Private Cloud Infrastructure On-Premises</vt:lpstr>
      <vt:lpstr>Centralized Lifecycle Management</vt:lpstr>
      <vt:lpstr>Centralized Lifecycle Management</vt:lpstr>
      <vt:lpstr>Simplified Binary Management with a Central Software Depot</vt:lpstr>
      <vt:lpstr>VCF Download Tool</vt:lpstr>
      <vt:lpstr>Upgrade &amp; Patch Planning</vt:lpstr>
      <vt:lpstr>VCF Lifecycle Prechecks</vt:lpstr>
      <vt:lpstr>Optimize Infrastructure and Operations </vt:lpstr>
      <vt:lpstr>VMware Cloud Foundation Storage</vt:lpstr>
      <vt:lpstr>Cloud Foundation Storage Options</vt:lpstr>
      <vt:lpstr>Evolving your Platform for the Demands of Today and Tomorrow</vt:lpstr>
      <vt:lpstr>Next Generation Architecture built into vSAN</vt:lpstr>
      <vt:lpstr>The vSAN Difference</vt:lpstr>
      <vt:lpstr>Additional Data Services to Meet your Business Requirements</vt:lpstr>
      <vt:lpstr>Simple, Insightful Cluster Health Status and Troubleshooting</vt:lpstr>
      <vt:lpstr>Run Multiple Workloads and Topologies Simultaneously</vt:lpstr>
      <vt:lpstr>One Solution – Multiple Deployment Options</vt:lpstr>
      <vt:lpstr>A New Way to Process and Store Data Efficiently</vt:lpstr>
      <vt:lpstr>Do More with What You Already Have to Reduce TCO</vt:lpstr>
      <vt:lpstr>PowerPoint Presentation</vt:lpstr>
      <vt:lpstr>Optimize Infrastructure and Operations </vt:lpstr>
      <vt:lpstr>Network Virtualization is Required to Deliver a Modern Private Cloud</vt:lpstr>
      <vt:lpstr>Virtual Networking in VMware Cloud Foundation</vt:lpstr>
      <vt:lpstr>VCF with Physical Networking</vt:lpstr>
      <vt:lpstr>VCF with NSX Virtual Networking</vt:lpstr>
      <vt:lpstr>VCF with NSX Networking</vt:lpstr>
      <vt:lpstr>Some Additional Uses Cases for VCF with NSX</vt:lpstr>
      <vt:lpstr>NSX Components</vt:lpstr>
      <vt:lpstr>Major NSX features</vt:lpstr>
      <vt:lpstr>Simple Networking with Virtual Private Clouds (VPCs)</vt:lpstr>
      <vt:lpstr>Consume VPCs in vCenter and VCF Automation</vt:lpstr>
      <vt:lpstr>Virtual Network Infrastructure Supporting Each VPC Tier</vt:lpstr>
      <vt:lpstr>Centralized External Connection</vt:lpstr>
      <vt:lpstr>Distributed External Connection</vt:lpstr>
      <vt:lpstr>Distributed VXLAN External Connection</vt:lpstr>
      <vt:lpstr>Modernize Infrastructure</vt:lpstr>
      <vt:lpstr>HCX Capabilities in VCF</vt:lpstr>
      <vt:lpstr>VCF Mobility Use Case – Workload Migration to VCF</vt:lpstr>
      <vt:lpstr>VCF Mobility Use Case – Workload Migration to VCF</vt:lpstr>
      <vt:lpstr>Best-In-Class: HCX Migration Options</vt:lpstr>
      <vt:lpstr>Migrate Workloads Non-disruptively to VCF</vt:lpstr>
      <vt:lpstr>End-to end Process - Plan, Schedule and Migrate Workloads at Scale</vt:lpstr>
      <vt:lpstr>Optimize Infrastructure and Operations </vt:lpstr>
      <vt:lpstr>VCF Operations: Efficient Infrastructure &amp; Operations at Scale</vt:lpstr>
      <vt:lpstr>Fleet Management – Consolidating Related Activities</vt:lpstr>
      <vt:lpstr>Consistent, Secure and Compliant Management of VCF Components</vt:lpstr>
      <vt:lpstr>Centralized Certificate Management</vt:lpstr>
      <vt:lpstr>Centralized Password Management</vt:lpstr>
      <vt:lpstr>Enhanced Fleet-level Configuration Management</vt:lpstr>
      <vt:lpstr>Maximize Your Infrastructure Utilization</vt:lpstr>
      <vt:lpstr>Reduce Costs and Run a More Efficient Cloud</vt:lpstr>
      <vt:lpstr>Optimize Infrastructure and Operations </vt:lpstr>
      <vt:lpstr>VCF Operations: Efficient Infrastructure &amp; Operations at Scale</vt:lpstr>
      <vt:lpstr>Ensure VCF is Running at Optimal Health </vt:lpstr>
      <vt:lpstr>Know When There is a Problem and Solve it Quickly</vt:lpstr>
      <vt:lpstr>Network Monitoring and Troubleshooting</vt:lpstr>
      <vt:lpstr>Achieve Higher MTTR to identify vSAN Health issues</vt:lpstr>
      <vt:lpstr>Faster and Simplified Troubleshooting with Logs</vt:lpstr>
      <vt:lpstr>Monitoring Traditional Applications</vt:lpstr>
      <vt:lpstr>Monitoring Modern Applications</vt:lpstr>
      <vt:lpstr>Optimize Infrastructure and Operations</vt:lpstr>
      <vt:lpstr>Driving Automation Excellence through an API-First Strategy</vt:lpstr>
      <vt:lpstr>PowerPoint Presentation</vt:lpstr>
      <vt:lpstr>PowerPoint Presentation</vt:lpstr>
      <vt:lpstr>PowerPoint Presentation</vt:lpstr>
      <vt:lpstr>Extend Data Center to the Edge</vt:lpstr>
      <vt:lpstr>VMware Cloud Foundation Edge: Overview </vt:lpstr>
      <vt:lpstr>Right-Size Every Edge Location (1, 2, or 3+ Nodes)</vt:lpstr>
      <vt:lpstr>Zero Touch Provisioning of Edge Site</vt:lpstr>
      <vt:lpstr>PowerPoint Presentation</vt:lpstr>
      <vt:lpstr>Industrial vSwitch - EDP Dedicated Low Latency Support</vt:lpstr>
      <vt:lpstr>PowerPoint Presentation</vt:lpstr>
      <vt:lpstr>Current Edge Hardware Support</vt:lpstr>
      <vt:lpstr>PowerPoint Presentation</vt:lpstr>
      <vt:lpstr>PowerPoint Presentation</vt:lpstr>
      <vt:lpstr>PowerPoint Presentation</vt:lpstr>
      <vt:lpstr>Enable Self-Service Infrastructure </vt:lpstr>
      <vt:lpstr>The VCF Automation Solution Overview</vt:lpstr>
      <vt:lpstr>Comprehensive set of Cloud Services for your Cloud Native Applications</vt:lpstr>
      <vt:lpstr>A view into the VCF Private Cloud Experience for each Persona</vt:lpstr>
      <vt:lpstr>VCF Automation Governance &amp; Consumption Models</vt:lpstr>
      <vt:lpstr>Modern Service Provider Experience</vt:lpstr>
      <vt:lpstr>Built-in Guidance for Creating Your Modern Private Cloud</vt:lpstr>
      <vt:lpstr>Streamline Organizational Resource Management and Operations</vt:lpstr>
      <vt:lpstr>Manage and Configure Organizations</vt:lpstr>
      <vt:lpstr>Modern Infrastructure and Multi-tenancy Enables More Use Cases</vt:lpstr>
      <vt:lpstr>Provide Out-of-the-Box VCF Services </vt:lpstr>
      <vt:lpstr>Declare Infrastructure in a Blueprint</vt:lpstr>
      <vt:lpstr>Enforce Best Practices for Resource and Security Configurations</vt:lpstr>
      <vt:lpstr>Balancing Access and Efficiency for Optimal Resource Management</vt:lpstr>
      <vt:lpstr>Simplify the Content Management Experience</vt:lpstr>
      <vt:lpstr>Support Network Governance and Enable Self-service Networking</vt:lpstr>
      <vt:lpstr>PowerPoint Presentation</vt:lpstr>
      <vt:lpstr>VMware Cloud Foundation with Data Services Manager</vt:lpstr>
      <vt:lpstr>Build, Run and Manage Kubernetes</vt:lpstr>
      <vt:lpstr>vSphere Kubernetes Service (VKS)</vt:lpstr>
      <vt:lpstr>PowerPoint Presentation</vt:lpstr>
      <vt:lpstr>Flexibility and Scalability On Demand</vt:lpstr>
      <vt:lpstr>Comprehensive Set of Packages with VKS</vt:lpstr>
      <vt:lpstr>Kubernetes Multi-Cluster Management</vt:lpstr>
      <vt:lpstr>VKS is a service enabled by Supervisor</vt:lpstr>
      <vt:lpstr>Introducing Container Service</vt:lpstr>
      <vt:lpstr>VM Service</vt:lpstr>
      <vt:lpstr>Enable GitOps with ArgoCD Service</vt:lpstr>
      <vt:lpstr>Simplify VKS Secret Injection</vt:lpstr>
      <vt:lpstr>Unified Management and Operations Across VMs and Containers  </vt:lpstr>
      <vt:lpstr>Build, Run and Manage Private AI Apps</vt:lpstr>
      <vt:lpstr>PowerPoint Presentation</vt:lpstr>
      <vt:lpstr>VMware Private AI Foundation with NVIDIA</vt:lpstr>
      <vt:lpstr>Orchestrated Private AI Deployment Steps</vt:lpstr>
      <vt:lpstr>VCF Private AI Services</vt:lpstr>
      <vt:lpstr>Expanded Collaboration with AMD on AI</vt:lpstr>
      <vt:lpstr>VCF Private AI Services</vt:lpstr>
      <vt:lpstr>Model Runtime supports Model Endpoints</vt:lpstr>
      <vt:lpstr>Data Indexing &amp; Retrieval</vt:lpstr>
      <vt:lpstr>PowerPoint Presentation</vt:lpstr>
      <vt:lpstr>PowerPoint Presentation</vt:lpstr>
      <vt:lpstr>PowerPoint Presentation</vt:lpstr>
      <vt:lpstr>PowerPoint Presentation</vt:lpstr>
      <vt:lpstr>Strengthen Compliance and Harden Infrastructure</vt:lpstr>
      <vt:lpstr>Defense in Depth with VMware Cloud Foundation</vt:lpstr>
      <vt:lpstr>Unified Identity: One Broker for All VCF Components</vt:lpstr>
      <vt:lpstr>One-Stop Dashboard for Baseline Security Operations</vt:lpstr>
      <vt:lpstr>Know Where Your Security Stands</vt:lpstr>
      <vt:lpstr>Trusted Execution Environments Create Strong Boundaries</vt:lpstr>
      <vt:lpstr>Confidential Computing Helps Reduce The Need For Trust</vt:lpstr>
      <vt:lpstr>End-to-End Resilience in VMware Cloud Foundation</vt:lpstr>
      <vt:lpstr>PowerPoint Presentation</vt:lpstr>
      <vt:lpstr>Accelerate Recovery from Ransomware and Other Disasters</vt:lpstr>
      <vt:lpstr>Delivering the Modern Private Cloud</vt:lpstr>
      <vt:lpstr>PowerPoint Presentation</vt:lpstr>
      <vt:lpstr>VCF Protection &amp; Recovery</vt:lpstr>
      <vt:lpstr>VCF Protection &amp; Recovery</vt:lpstr>
      <vt:lpstr>Operational Recovery </vt:lpstr>
      <vt:lpstr>Disaster Recovery</vt:lpstr>
      <vt:lpstr>Cyber Recovery</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Dave Overbeek</dc:creator>
  <cp:keywords>VMware</cp:keywords>
  <cp:lastModifiedBy>Dave Overbeek</cp:lastModifiedBy>
  <cp:revision>5</cp:revision>
  <dcterms:created xsi:type="dcterms:W3CDTF">2026-05-04T18:32:17Z</dcterms:created>
  <dcterms:modified xsi:type="dcterms:W3CDTF">2026-05-29T19:54:57Z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0x0101008B3F91C0C4ECEE479555FEA4A4EB2B48</vt:lpwstr>
  </property>
  <property fmtid="{D5CDD505-2E9C-101B-9397-08002B2CF9AE}" pid="3" name="MediaServiceImageTags">
    <vt:lpwstr/>
  </property>
</Properties>
</file>